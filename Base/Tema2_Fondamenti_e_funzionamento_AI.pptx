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A8FB935F-1E89-E04B-0B62-91CDBE27A7B3}">
          <p14:sldIdLst>
            <p14:sldId id="256"/>
            <p14:sldId id="257"/>
            <p14:sldId id="258"/>
            <p14:sldId id="259"/>
            <p14:sldId id="260"/>
          </p14:sldIdLst>
        </p14:section>
        <p14:section name="2.1 Che cos'è l'AI" id="{1FCDB373-5456-2F82-9BCE-241445321BBF}">
          <p14:sldIdLst>
            <p14:sldId id="261"/>
            <p14:sldId id="262"/>
            <p14:sldId id="263"/>
            <p14:sldId id="264"/>
            <p14:sldId id="265"/>
            <p14:sldId id="266"/>
            <p14:sldId id="267"/>
          </p14:sldIdLst>
        </p14:section>
        <p14:section name="2.2 Categorie di AI" id="{ECBD4A86-85F9-E5AB-4E87-EBA1A82DD1DA}">
          <p14:sldIdLst>
            <p14:sldId id="268"/>
            <p14:sldId id="269"/>
            <p14:sldId id="270"/>
            <p14:sldId id="271"/>
            <p14:sldId id="272"/>
            <p14:sldId id="273"/>
            <p14:sldId id="274"/>
            <p14:sldId id="275"/>
          </p14:sldIdLst>
        </p14:section>
        <p14:section name="2.3 Come apprende un sistema AI" id="{B6CBFD61-CF35-0E89-ABD7-D9FCDDF7DC84}">
          <p14:sldIdLst>
            <p14:sldId id="276"/>
            <p14:sldId id="277"/>
            <p14:sldId id="278"/>
            <p14:sldId id="279"/>
            <p14:sldId id="280"/>
            <p14:sldId id="281"/>
            <p14:sldId id="282"/>
            <p14:sldId id="283"/>
            <p14:sldId id="284"/>
          </p14:sldIdLst>
        </p14:section>
        <p14:section name="2.4 Large Language Models" id="{105DD4CC-32CA-551F-BC7D-118E1A0CAB22}">
          <p14:sldIdLst>
            <p14:sldId id="285"/>
            <p14:sldId id="286"/>
            <p14:sldId id="287"/>
            <p14:sldId id="288"/>
            <p14:sldId id="289"/>
            <p14:sldId id="290"/>
            <p14:sldId id="291"/>
            <p14:sldId id="292"/>
            <p14:sldId id="293"/>
            <p14:sldId id="294"/>
          </p14:sldIdLst>
        </p14:section>
        <p14:section name="2.5 Come funziona un'interazione" id="{340C3D93-34EF-694B-771C-98678CCC9C9A}">
          <p14:sldIdLst>
            <p14:sldId id="295"/>
            <p14:sldId id="296"/>
            <p14:sldId id="297"/>
            <p14:sldId id="298"/>
            <p14:sldId id="299"/>
            <p14:sldId id="300"/>
            <p14:sldId id="301"/>
            <p14:sldId id="302"/>
          </p14:sldIdLst>
        </p14:section>
        <p14:section name="2.6 Conoscenza e fonti" id="{B31CA1CB-9086-DD61-CF35-F383E8361D2B}">
          <p14:sldIdLst>
            <p14:sldId id="303"/>
            <p14:sldId id="304"/>
            <p14:sldId id="305"/>
            <p14:sldId id="306"/>
            <p14:sldId id="307"/>
            <p14:sldId id="308"/>
            <p14:sldId id="309"/>
            <p14:sldId id="310"/>
            <p14:sldId id="311"/>
          </p14:sldIdLst>
        </p14:section>
        <p14:section name="2.7 Variabilità dei risultati" id="{E1C98786-8637-2697-446A-7853828C94A4}">
          <p14:sldIdLst>
            <p14:sldId id="312"/>
            <p14:sldId id="313"/>
            <p14:sldId id="314"/>
            <p14:sldId id="315"/>
            <p14:sldId id="316"/>
            <p14:sldId id="317"/>
            <p14:sldId id="318"/>
            <p14:sldId id="319"/>
          </p14:sldIdLst>
        </p14:section>
        <p14:section name="Conclusioni" id="{AACC7509-8889-6A34-BCAA-A560E7454DB9}">
          <p14:sldIdLst>
            <p14:sldId id="320"/>
            <p14:sldId id="321"/>
            <p14:sldId id="322"/>
            <p14:sldId id="323"/>
            <p14:sldId id="324"/>
            <p14:sldId id="325"/>
            <p14:sldId id="326"/>
            <p14:sldId id="3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74690"/>
  </p:normalViewPr>
  <p:slideViewPr>
    <p:cSldViewPr snapToGrid="0" snapToObjects="1">
      <p:cViewPr varScale="1">
        <p:scale>
          <a:sx n="138" d="100"/>
          <a:sy n="138" d="100"/>
        </p:scale>
        <p:origin x="1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Foglio_di_lavoro_di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Foglio_di_lavoro_di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Foglio_di_lavoro_di_Microsoft_Excel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bar"/>
        <c:grouping val="clustered"/>
        <c:varyColors val="0"/>
        <c:ser>
          <c:idx val="0"/>
          <c:order val="0"/>
          <c:tx>
            <c:strRef>
              <c:f>Sheet1!$B$1</c:f>
              <c:strCache>
                <c:ptCount val="1"/>
                <c:pt idx="0">
                  <c:v>Probabilità</c:v>
                </c:pt>
              </c:strCache>
            </c:strRef>
          </c:tx>
          <c:spPr>
            <a:solidFill>
              <a:srgbClr val="2E7D7A"/>
            </a:solidFill>
            <a:effectLst/>
          </c:spPr>
          <c:invertIfNegative val="0"/>
          <c:dLbls>
            <c:numFmt formatCode="0%" sourceLinked="0"/>
            <c:spPr>
              <a:noFill/>
              <a:ln>
                <a:noFill/>
              </a:ln>
              <a:effectLst/>
            </c:spPr>
            <c:txPr>
              <a:bodyPr/>
              <a:lstStyle/>
              <a:p>
                <a:pPr>
                  <a:defRPr sz="12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sereno</c:v>
                </c:pt>
                <c:pt idx="1">
                  <c:v>nuvoloso</c:v>
                </c:pt>
                <c:pt idx="2">
                  <c:v>azzurro</c:v>
                </c:pt>
                <c:pt idx="3">
                  <c:v>coperto</c:v>
                </c:pt>
                <c:pt idx="4">
                  <c:v>limpido</c:v>
                </c:pt>
                <c:pt idx="5">
                  <c:v>frigorifero</c:v>
                </c:pt>
              </c:strCache>
            </c:strRef>
          </c:cat>
          <c:val>
            <c:numRef>
              <c:f>Sheet1!$B$2:$B$7</c:f>
              <c:numCache>
                <c:formatCode>General</c:formatCode>
                <c:ptCount val="6"/>
                <c:pt idx="0">
                  <c:v>0.38</c:v>
                </c:pt>
                <c:pt idx="1">
                  <c:v>0.27</c:v>
                </c:pt>
                <c:pt idx="2">
                  <c:v>0.17</c:v>
                </c:pt>
                <c:pt idx="3">
                  <c:v>0.1</c:v>
                </c:pt>
                <c:pt idx="4">
                  <c:v>7.0000000000000007E-2</c:v>
                </c:pt>
                <c:pt idx="5">
                  <c:v>1E-3</c:v>
                </c:pt>
              </c:numCache>
            </c:numRef>
          </c:val>
          <c:extLst>
            <c:ext xmlns:c16="http://schemas.microsoft.com/office/drawing/2014/chart" uri="{C3380CC4-5D6E-409C-BE32-E72D297353CC}">
              <c16:uniqueId val="{00000000-0DBD-9A42-99D3-28B7013E27FA}"/>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0.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300" b="0" i="0" u="none" strike="noStrike">
                <a:solidFill>
                  <a:srgbClr val="4A515C"/>
                </a:solidFill>
                <a:latin typeface="+mn-lt"/>
              </a:defRPr>
            </a:pPr>
            <a:r>
              <a:rPr lang="it-IT" sz="1300" b="0" i="0" u="none" strike="noStrike" noProof="0" dirty="0">
                <a:solidFill>
                  <a:srgbClr val="4A515C"/>
                </a:solidFill>
                <a:latin typeface="+mn-lt"/>
              </a:rPr>
              <a:t>Temperatura bassa</a:t>
            </a:r>
          </a:p>
        </c:rich>
      </c:tx>
      <c:overlay val="0"/>
    </c:title>
    <c:autoTitleDeleted val="0"/>
    <c:plotArea>
      <c:layout/>
      <c:barChart>
        <c:barDir val="bar"/>
        <c:grouping val="clustered"/>
        <c:varyColors val="0"/>
        <c:ser>
          <c:idx val="0"/>
          <c:order val="0"/>
          <c:tx>
            <c:strRef>
              <c:f>Sheet1!$B$1</c:f>
              <c:strCache>
                <c:ptCount val="1"/>
                <c:pt idx="0">
                  <c:v>Probabilità</c:v>
                </c:pt>
              </c:strCache>
            </c:strRef>
          </c:tx>
          <c:spPr>
            <a:solidFill>
              <a:srgbClr val="2E7D7A"/>
            </a:solidFill>
            <a:effectLst/>
          </c:spPr>
          <c:invertIfNegative val="0"/>
          <c:dLbls>
            <c:numFmt formatCode="0%" sourceLinked="0"/>
            <c:spPr>
              <a:noFill/>
              <a:ln>
                <a:noFill/>
              </a:ln>
              <a:effectLst/>
            </c:spPr>
            <c:txPr>
              <a:bodyPr/>
              <a:lstStyle/>
              <a:p>
                <a:pPr>
                  <a:defRPr sz="12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sereno</c:v>
                </c:pt>
                <c:pt idx="1">
                  <c:v>nuvoloso</c:v>
                </c:pt>
                <c:pt idx="2">
                  <c:v>azzurro</c:v>
                </c:pt>
                <c:pt idx="3">
                  <c:v>coperto</c:v>
                </c:pt>
                <c:pt idx="4">
                  <c:v>limpido</c:v>
                </c:pt>
              </c:strCache>
            </c:strRef>
          </c:cat>
          <c:val>
            <c:numRef>
              <c:f>Sheet1!$B$2:$B$6</c:f>
              <c:numCache>
                <c:formatCode>General</c:formatCode>
                <c:ptCount val="5"/>
                <c:pt idx="0">
                  <c:v>0.78</c:v>
                </c:pt>
                <c:pt idx="1">
                  <c:v>0.13</c:v>
                </c:pt>
                <c:pt idx="2">
                  <c:v>0.06</c:v>
                </c:pt>
                <c:pt idx="3">
                  <c:v>0.02</c:v>
                </c:pt>
                <c:pt idx="4">
                  <c:v>0.01</c:v>
                </c:pt>
              </c:numCache>
            </c:numRef>
          </c:val>
          <c:extLst>
            <c:ext xmlns:c16="http://schemas.microsoft.com/office/drawing/2014/chart" uri="{C3380CC4-5D6E-409C-BE32-E72D297353CC}">
              <c16:uniqueId val="{00000000-BDFD-EE4D-AE01-697DEFA86B63}"/>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300" b="0" i="0" u="none" strike="noStrike">
                <a:solidFill>
                  <a:srgbClr val="4A515C"/>
                </a:solidFill>
                <a:latin typeface="+mn-lt"/>
              </a:defRPr>
            </a:pPr>
            <a:r>
              <a:rPr lang="it-IT" sz="1300" b="0" i="0" u="none" strike="noStrike" noProof="0" dirty="0">
                <a:solidFill>
                  <a:srgbClr val="4A515C"/>
                </a:solidFill>
                <a:latin typeface="+mn-lt"/>
              </a:rPr>
              <a:t>Temperatura alta</a:t>
            </a:r>
          </a:p>
        </c:rich>
      </c:tx>
      <c:overlay val="0"/>
    </c:title>
    <c:autoTitleDeleted val="0"/>
    <c:plotArea>
      <c:layout/>
      <c:barChart>
        <c:barDir val="bar"/>
        <c:grouping val="clustered"/>
        <c:varyColors val="0"/>
        <c:ser>
          <c:idx val="0"/>
          <c:order val="0"/>
          <c:tx>
            <c:strRef>
              <c:f>Sheet1!$B$1</c:f>
              <c:strCache>
                <c:ptCount val="1"/>
                <c:pt idx="0">
                  <c:v>Probabilità</c:v>
                </c:pt>
              </c:strCache>
            </c:strRef>
          </c:tx>
          <c:spPr>
            <a:solidFill>
              <a:srgbClr val="5B6573"/>
            </a:solidFill>
            <a:effectLst/>
          </c:spPr>
          <c:invertIfNegative val="0"/>
          <c:dLbls>
            <c:numFmt formatCode="0%" sourceLinked="0"/>
            <c:spPr>
              <a:noFill/>
              <a:ln>
                <a:noFill/>
              </a:ln>
              <a:effectLst/>
            </c:spPr>
            <c:txPr>
              <a:bodyPr/>
              <a:lstStyle/>
              <a:p>
                <a:pPr>
                  <a:defRPr sz="12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sereno</c:v>
                </c:pt>
                <c:pt idx="1">
                  <c:v>nuvoloso</c:v>
                </c:pt>
                <c:pt idx="2">
                  <c:v>azzurro</c:v>
                </c:pt>
                <c:pt idx="3">
                  <c:v>coperto</c:v>
                </c:pt>
                <c:pt idx="4">
                  <c:v>limpido</c:v>
                </c:pt>
              </c:strCache>
            </c:strRef>
          </c:cat>
          <c:val>
            <c:numRef>
              <c:f>Sheet1!$B$2:$B$6</c:f>
              <c:numCache>
                <c:formatCode>General</c:formatCode>
                <c:ptCount val="5"/>
                <c:pt idx="0">
                  <c:v>0.3</c:v>
                </c:pt>
                <c:pt idx="1">
                  <c:v>0.25</c:v>
                </c:pt>
                <c:pt idx="2">
                  <c:v>0.2</c:v>
                </c:pt>
                <c:pt idx="3">
                  <c:v>0.14000000000000001</c:v>
                </c:pt>
                <c:pt idx="4">
                  <c:v>0.11</c:v>
                </c:pt>
              </c:numCache>
            </c:numRef>
          </c:val>
          <c:extLst>
            <c:ext xmlns:c16="http://schemas.microsoft.com/office/drawing/2014/chart" uri="{C3380CC4-5D6E-409C-BE32-E72D297353CC}">
              <c16:uniqueId val="{00000000-8146-624A-BAD8-2CF81823A669}"/>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688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secondo tema del percorso di AI Literacy. Nel Tema 1 abbiamo costruito il contesto: da dove arriva l'Intelligenza Artificiale, perché è diventata centrale e perché riguarda le aziende. In questo tema apriamo il cofano, ma senza trasformarci in ingegneri. L'obiettivo è capire i meccanismi quanto basta per usare e valutare l'AI con consapevolezza: che cosa è davvero l'AI, quali tipi esistono, come un sistema apprende dai dati, come funziona un modello linguistico, che cosa succede quando scriviamo una richiesta, da dove arrivano le informazioni usate per rispondere e perché le risposte possono cambiare. Useremo spiegazioni intuitive ma rigorose: niente formule, ma anche niente semplificazioni fuorvianti. Suggerimento per l'apertura: chiedere ai partecipanti di completare la frase 'Quando scrivo una domanda a un assistente AI, secondo me succede che...'. Le risposte sono un ottimo indicatore delle idee di partenza, spesso molto diverse tra loro, e possono essere riprese durante la sessione. Nota per il relatore: i contenuti sono aggiornati a ottobre 2026. Alcuni elementi cambiano rapidamente, in particolare le dimensioni delle finestre di contesto, le funzioni di memoria dei prodotti e le caratteristiche dei modelli più recenti: prima di ogni edizione conviene ricontrollarli.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fornire una comprensione concettuale dei principali sistemi di Intelligenza Artificiale: come apprendono dai dati, come generano risultati, come avviene l'interazione e quali fonti informative possono essere utilizzate. Accanto a questo c'è un obiettivo di consapevolezza, che riassume lo spirito del modulo. L'AI non è una forma di intelligenza umana digitale: non pensa, non sente e non capisce come una persona, anche quando ne imita molto bene il linguaggio. Ma non è nemmeno un semplice archivio di informazioni, una specie di enciclopedia che restituisce frasi memorizzate. È un insieme di sistemi con meccanismi differenti, e il comportamento che osserviamo dipende da quattro elementi: il modello, i dati con cui è stato addestrato, il contesto che gli forniamo e il modo in cui lo usiamo. Questi quattro elementi torneranno in tutti i sottotemi.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Queste otto domande guidano l'intero modulo e corrispondono, più o meno, ai sette sottotemi. Le prime due riguardano la definizione e la classificazione dell'AI. La terza e la quarta il modo in cui i modelli vengono addestrati e, in particolare, i modelli linguistici. La quinta riguarda ciò che accade durante un'interazione. La sesta e la settima, forse le più utili nella pratica quotidiana, riguardano la provenienza delle informazioni e la differenza tra concetti che spesso vengono confusi: addestramento, contesto, memoria, recupero documentale e fine-tuning. L'ultima riguarda la variabilità delle risposte. Suggerimento: chiedere ai partecipanti quale domanda li incuriosisce di più; alla fine del modulo torneremo su tutte con una risposta sintetica.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di entrare nei sottotemi, fissiamo il filo conduttore. Il documento di perimetro indica la consapevolezza da sviluppare: l'AI non è un'intelligenza umana digitale né un semplice archivio, e il suo comportamento dipende da quattro elementi. Il modello, cioè che tipo di sistema è e come genera i risultati: sottotemi 2.1, 2.2 e 2.4. I dati, cioè gli esempi da cui il modello ha appreso e le informazioni che può consultare: sottotemi 2.3 e 2.6. Il contesto, cioè tutto ciò che il modello riceve durante l'interazione, dalle istruzioni ai documenti: sottotemi 2.5 e 2.6. Le modalità d'uso, cioè l'applicazione che integra il modello, i suoi strumenti e il modo in cui la usiamo: sottotemi 2.5 e 2.7. Nel modulo torneranno anche tre distinzioni che conviene avere presenti fin da ora: addestramento e inferenza, modello e applicazione, variabilità e correttezza. Suggerimento: ogni volta che emerge una domanda sul comportamento di un assistente, chiedere al gruppo da quale dei quattro elementi dipende.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organizzato in sette sottotemi, tutti confermati. Non hanno però la stessa profondità. Alcuni concetti vanno compresi bene, perché servono ogni giorno: la differenza tra AI e software tradizionale, tra addestramento e inferenza, il funzionamento generale degli LLM, il contesto, le fonti informative e la variabilità delle risposte. Altri vanno conosciuti, cioè saperli riconoscere e collocare: Machine Learning, Deep Learning, token, Transformer, parametri, fine-tuning, grounding e RAG. Altri ancora vanno solo accennati: la matematica delle reti neurali, l'ottimizzazione, i dettagli delle architetture e le procedure avanzate di addestramento. Confini con gli altri temi: non ripeteremo la storia dell'AI (Tema 1); rimanderemo al Tema 3 allucinazioni, bias, accuratezza e valutazione dell'affidabilità; al Tema 4 il confronto tra modelli e prodotti commerciali; ai Temi 5 e 6 il dialogo con l'AI e le tecniche di prompting; e al Tema 14 la realizzazione pratica di basi documentali e integrazioni.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Iniziamo dalla domanda più semplice e più difficile: che cosa intendiamo per Intelligenza Artificiale? Il termine è usato in modi molto diversi, a volte per indicare un software qualsiasi con qualche funzione 'intelligente', a volte per evocare macchine pensanti da film di fantascienza. In questo sottotema cerchiamo una definizione operativa, confrontiamo l'AI con l'intelligenza umana, distinguiamo i sistemi specializzati dall'idea di intelligenza artificiale generale e affrontiamo un tema molto concreto: la tendenza ad attribuire all'AI caratteristiche umane che le sue prestazioni non giustificano.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esiste una definizione di AI universalmente condivisa, ma oggi ne abbiamo una molto autorevole e rilevante per le aziende europee: quella del Regolamento europeo sull'Intelligenza Artificiale, l'AI Act (Regolamento UE 2024/1689, articolo 3), che riprende in larga parte la definizione dell'OCSE. In sintesi, un sistema di AI è un sistema automatizzato, progettato per funzionare con livelli di autonomia variabili, che può adattarsi dopo la messa in funzione e che, per obiettivi espliciti o impliciti, deduce dagli input che riceve come generare output quali previsioni, contenuti, raccomandazioni o decisioni, in grado di influenzare ambienti fisici o virtuali. La parola chiave è 'deduce': a differenza del software tradizionale, che esegue istruzioni scritte riga per riga, un sistema AI ricava come produrre il risultato a partire da ciò che ha appreso o da una base di conoscenza. Non è necessario memorizzare la definizione: basta coglierne gli elementi. La definizione non è stata modificata dal Digital Omnibus del 2026 (Regolamento UE 2026/1744), che ha cambiato altre parti dell'AI Act. Il quadro normativo è approfondito nel Tema 18; qui ci interessa come definizione di riferimento.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termine 'intelligenza' può trarre in inganno, perché ci porta a immaginare qualcosa di simile alla mente umana. Il confronto aiuta a capire le differenze. Apprendimento: un sistema AI di norma ha bisogno di enormi quantità di esempi, mentre una persona impara spesso da pochi casi e dall'esperienza diretta. Ambito: le persone vivono in un corpo e in un mondo fisico e sociale, da cui ricavano buon senso e comprensione delle situazioni; i sistemi AI lavorano su rappresentazioni dei dati. Velocità e scala: qui l'AI ha un vantaggio enorme, perché può elaborare in pochi secondi quantità di testo che una persona leggerebbe in mesi. Coerenza: una persona esperta tende ad avere prestazioni relativamente uniformi nel proprio campo, mentre un sistema AI può essere eccellente in un compito e fallire in uno apparentemente più semplice. Consapevolezza e intenzioni: le persone hanno esperienze, scopi propri e responsabilità; per i sistemi AI attuali non esiste evidenza scientifica condivisa di coscienza o intenzioni. Il messaggio non è che uno sia migliore dell'altro, ma che sono diversi, e per questo possono essere complementari.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Possiamo collocare i sistemi AI lungo uno spettro. Da un lato ci sono i sistemi specializzati, detti anche AI ristretta: progettati e addestrati per un compito preciso, come riconoscere difetti su una linea di produzione o prevedere la domanda. Sono la grande maggioranza dei sistemi AI in uso da decenni. In mezzo ci sono i modelli generalisti, come i grandi modelli linguistici: possono svolgere molti compiti diversi, ma restano limitati a ciò che si può fare elaborando testo, immagini e altri dati, e con prestazioni irregolari. All'altro estremo c'è l'AGI, l'intelligenza artificiale generale: un sistema ipotetico capace di svolgere la maggior parte dei compiti cognitivi umani con un livello paragonabile o superiore a quello di una persona, e di adattarsi a situazioni nuove con la stessa flessibilità. Non esiste una definizione condivisa di AGI, né accordo sui tempi o sulla possibilità di realizzarla; alcuni esperti la ritengono vicina, altri lontana o mal definita. Per il nostro lavoro quotidiano conta una cosa: i sistemi che usiamo oggi sono molto versatili, ma non sono intelligenze generali, e vanno usati di conseguenza.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riguarda un fenomeno psicologico più che tecnico. Nel 1966 Joseph Weizenbaum, ricercatore al MIT, creò ELIZA, un programma molto semplice che simulava uno psicoterapeuta riformulando le frasi dell'utente come domande, sulla base di poche regole. Se l'utente scriveva 'sono triste per mio padre', ELIZA poteva rispondere 'parlami della tua famiglia'. Nonostante la semplicità del meccanismo, molte persone attribuivano al programma comprensione ed empatia, e alcune gli confidavano questioni personali. Weizenbaum ne rimase colpito e preoccupato. Da allora si parla di 'effetto ELIZA': la tendenza ad attribuire comprensione e qualità umane a un sistema che produce linguaggio in modo convincente. Con gli assistenti AI di oggi l'effetto è molto più forte, perché il linguaggio è molto più fluente, il tono è naturale e i sistemi usano espressioni come 'penso', 'mi dispiace', 'capisco'. Queste formule sono il risultato dell'addestramento su testi umani e di scelte di progettazione: non sono, di per sé, prova di pensieri o emozioni. Riconoscere questa tendenza in noi stessi è il primo passo per usare l'AI in modo lucido.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evitare l'antropomorfizzazione è utile distinguere tre livelli. Primo, le capacità osservabili: il sistema produce un testo fluente, risponde in modo pertinente, risolve un problema, riassume correttamente un documento. Sono fatti che possiamo verificare, e su cui possiamo basare il nostro uso dello strumento. Secondo, il ragionamento: molti sistemi attuali sono in grado di scomporre un problema in passaggi e di arrivare a conclusioni che sembrano frutto di un ragionamento, e alcuni modelli sono progettati proprio per elaborare più passaggi prima di rispondere. È una capacità reale e utile, misurabile sui risultati, ma non infallibile, e quanto somigli al ragionamento umano è oggetto di ricerca e dibattito. Terzo, le caratteristiche mentali: comprensione nel senso umano, intenzioni, emozioni, coscienza, volontà. Le prestazioni osservabili non autorizzano ad attribuirle ai sistemi. Una conseguenza pratica importante: la sicurezza con cui un sistema si esprime non è un indicatore della correttezza di ciò che dice, e il fatto che 'sembri capire' non significa che abbia colto il nostro contesto. L'affidabilità degli output è approfondita nel Tema 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Due messaggi. Primo: 'AI' è un termine ombrello che copre sistemi molto diversi, dai sistemi a regole ai grandi modelli linguistici; quando sentiamo dire 'l'AI fa questo', è sempre utile chiedersi di quale sistema si stia parlando. Secondo: ciò che un sistema sa fare va valutato sulle prestazioni verificabili, senza proiettare su di esso caratteristiche umane come comprensione, intenzioni o emozioni. Domanda di verifica: vi è mai capitato di ringraziare un assistente AI o di arrabbiarvi con lui? È del tutto normale: è proprio l'effetto ELIZA. L'importante è esserne consapevoli quando valutiamo le sue risposte.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1 abbiamo visto come si sono succeduti storicamente diversi approcci all'AI. Ora li riprendiamo da un altro punto di vista: non la storia, ma la classificazione. Vedremo l'AI simbolica, il Machine Learning, il Deep Learning, la distinzione tra AI predittiva, discriminativa e generativa e l'AI multimodale. Un'avvertenza importante fin dall'inizio: queste categorie non sono caselle mutuamente esclusive, perché rispondono a criteri di classificazione diversi.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etichette che si sentono più spesso rispondono a domande diverse. Prima domanda: come viene costruita la conoscenza del sistema? Con regole scritte da persone (AI simbolica) oppure apprendendo dai dati (Machine Learning). Seconda domanda: con quale tecnica si apprende? Con metodi di Machine Learning 'classico' oppure con reti neurali profonde (Deep Learning). Terza domanda: che cosa produce il sistema? Una previsione, una classificazione o un contenuto nuovo (AI predittiva, discriminativa, generativa). Quarta domanda: quali tipi di dati tratta? Un solo tipo oppure più tipi insieme (unimodale o multimodale). Ne segue che uno stesso sistema appartiene contemporaneamente a più categorie. Un grande modello linguistico come quelli degli assistenti AI, per esempio, è un sistema di Machine Learning, basato sul Deep Learning, generativo e spesso multimodale. Per questo chiedersi se un sistema sia 'Deep Learning o AI generativa' è come chiedersi se un'auto sia 'diesel o station wagon': sono due aspetti diversi.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Nell'AI</a:t>
            </a:r>
            <a:r>
              <a:rPr lang="en-US" dirty="0"/>
              <a:t> simbolica la conoscenza è scritta esplicitamente da persone, sotto forma di regole, alberi decisionali o basi di conoscenza. Il sistema applica queste regole ai casi che riceve. È trasparente, perché possiamo sempre leggere la regola applicata, e prevedibile, ma fatica con i casi non previsti e con le attività in cui le regole sono difficili da formulare. Nel Machine Learning nessuno scrive le regole: il sistema le ricava dagli esempi, individuando regolarità nei dati. È adatto a problemi complessi e sfumati, ma il suo comportamento dipende dalla qualità dei dati e può essere meno facile da spiegare. Nella pratica aziendale i due approcci convivono spesso nello stesso sistema: per esempio un modello di Machine Learning stima il rischio di una transazione, e una regola esplicita stabilisce che sopra una certa soglia serve sempre un controllo umano.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Deep Learning è la famiglia di tecniche di Machine Learning basata sulle reti neurali artificiali con molti strati. Il nome 'rete neurale' deriva da una lontana ispirazione al cervello, ma è bene chiarire che una rete neurale artificiale non è un cervello in miniatura: è una struttura matematica. Funziona così, a livello intuitivo. L'input, per esempio i pixel di un'immagine, entra nel primo strato. Ogni 'neurone' artificiale riceve valori dai neuroni dello strato precedente, li combina pesandoli in modo diverso e passa il risultato allo strato successivo. Strato dopo strato, la rete costruisce rappresentazioni sempre più astratte: nel caso delle immagini, i primi strati reagiscono a bordi e linee, quelli intermedi a forme e parti di oggetti, gli ultimi a concetti come 'volto' o 'auto'. I pesi delle connessioni sono i parametri che vengono regolati durante l'addestramento, come vedremo nel sottotema 2.3. Il vantaggio del Deep Learning è che impara da solo quali caratteristiche dei dati sono utili, senza che qualcuno debba indicarle. Non entriamo nella matematica: per i nostri scopi basta questa immagine di strati che trasformano progressivamente l'informazione.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classificazione guarda a che cosa produce il sistema. L'AI predittiva stima un valore o un evento futuro a partire dai dati storici: quante unità venderemo il mese prossimo, quando una macchina avrà probabilmente bisogno di manutenzione, quale cliente rischia di abbandonarci. L'AI discriminativa assegna un input a una categoria, distinguendo tra classi: questa email è spam o no, questo pezzo è conforme o difettoso, questa recensione è positiva o negativa. Nella pratica predittiva e discriminativa si sovrappongono molto, e spesso si parla genericamente di 'AI analitica' o 'tradizionale'. L'AI generativa, infine, produce contenuti nuovi, come testi, immagini, codice o audio, coerenti con ciò che ha appreso. Anche qui i confini non sono rigidi: un modello generativo può essere usato per classificare (basta chiedergli 'questa recensione è positiva o negativa?'), e le tre funzioni possono combinarsi nello stesso processo. Domanda per il gruppo: nei processi della nostra azienda, quali esempi riconoscete per ciascuna delle tre categorie?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modalità è un tipo di dato: testo, immagini, audio, video, ma anche dati tabellari o segnali di sensori. I primi sistemi AI erano quasi sempre unimodali, cioè lavoravano su un solo tipo di dato. I sistemi multimodali possono ricevere in input e, in alcuni casi, produrre in output tipi di dati diversi, mettendoli in relazione tra loro. Esempi concreti: fotografare un documento cartaceo e chiedere di estrarne i dati principali; caricare un grafico e chiedere di commentarlo; trasformare la registrazione di una riunione in un verbale; descrivere a parole un'immagine da generare; porre una domanda a voce e ricevere una risposta parlata. La multimodalità amplia molto i casi d'uso, perché gran parte delle informazioni aziendali non è solo testo: pensiamo a disegni tecnici, foto di prodotti, moduli scansionati, registrazioni di chiamate. Come sempre, le prestazioni non sono uniformi: un sistema può leggere molto bene un testo stampato e meno bene una tabella complessa o una scrittura a mano.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concetto chiave del sottotema dice che approcci diversi sono adatti a problemi diversi. Questa tabella lo rende concreto, con alcuni esempi indicativi. Se le regole sono chiare, stabili e verificabili, come il calcolo di uno sconto contrattuale, un sistema a regole o un normale software deterministico è spesso la scelta migliore: è più economico, prevedibile e verificabile. Se dobbiamo stimare un valore a partire da dati storici strutturati, come la domanda futura, il Machine Learning predittivo è lo strumento naturale. Se dobbiamo riconoscere difetti in immagini, il Deep Learning discriminativo è oggi lo standard. Se dobbiamo scrivere bozze, riassumere o riformulare testi, l'AI generativa è la più adatta. Se le informazioni arrivano in forme diverse, come foto, documenti scansionati e testo, serve un sistema multimodale. Il messaggio pratico: davanti a un problema, la domanda giusta non è 'come possiamo usare l'AI generativa?', ma 'qual è l'approccio più adatto a questo problema?'. A volte la risposta non è nemmeno l'AI.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Le categorie dell'AI non sono un albero genealogico con rami separati, ma descrivono aspetti diversi dello stesso sistema: come costruisce la conoscenza, con quale tecnica apprende, che cosa produce, quali dati tratta. Saperle distinguere ci permette di leggere con più precisione le descrizioni di prodotti e progetti e di scegliere l'approccio adatto al problema. Domanda di verifica: un sistema che riconosce dalla foto se un pezzo è difettoso, in quali categorie rientra? Risposta: Machine Learning, probabilmente Deep Learning, discriminativo, unimodale (immagini).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nel meccanismo dell'apprendimento automatico. È uno dei sottotemi in cui due concetti vanno compresi bene: la differenza tra addestramento e inferenza, che chiarisce molti equivoci sull'uso quotidiano dell'AI. Vedremo che cosa significa apprendere dai dati, che ruolo hanno gli esempi, che cosa sono i parametri e perché la vera prova di un modello è la capacità di generalizzare a casi nuovi. Ricordiamo che non tutti i sistemi AI apprendono dai dati: i sistemi a regole, per esempio, no. Qui parliamo dei sistemi di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 un esempio familiare: stimare il prezzo di un appartamento. Un agente immobiliare esperto lo fa in base all'esperienza: ha visto centinaia di vendite e sa, più o meno, quanto incidono la zona, la superficie, il piano, lo stato dell'immobile. Nessuno gli ha dato una formula: l'ha ricavata dagli esempi. Un sistema di Machine Learning fa qualcosa di simile, in modo matematico e su scala molto più ampia. Riceve migliaia di esempi di vendite passate, ciascuno con le caratteristiche dell'immobile e il prezzo effettivo, e cerca la relazione che collega le caratteristiche al prezzo. Alla fine dell'addestramento ottiene un modello: una sorta di formula, molto complessa, che può applicare a un appartamento nuovo per stimarne il prezzo. Il sistema non 'sa' che cos'è un appartamento: ha individuato regolarità numeriche nei dati. Ed è proprio per questo che la qualità e la rappresentatività degli esempi sono così importanti: se nei dati mancano certi tipi di immobili, il modello non saprà valutarli bene.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esempi da cui un sistema apprende possono essere di tipo diverso, e questo dà origine a tre modalità principali di apprendimento. Basta conoscerle a grandi linee. Nell'apprendimento supervisionato ogni esempio è accompagnato dalla risposta corretta, detta etichetta: email marcate come spam o non spam, immagini di pezzi marcate come conformi o difettosi, vendite passate con il prezzo effettivo. È la modalità più diffusa nelle applicazioni aziendali. Nell'apprendimento non supervisionato non ci sono etichette: il sistema cerca da solo strutture nei dati, per esempio gruppi di clienti con comportamenti d'acquisto simili, utili per la segmentazione. Nell'apprendimento per rinforzo il sistema impara per tentativi, ricevendo un segnale positivo o negativo in base al risultato delle sue azioni; è usato per esempio nei giochi, nella robotica e, come vedremo, anche per affinare i modelli linguistici sulla base delle preferenze umane. In tutti i casi vale lo stesso principio: il modello può essere buono solo quanto gli esempi da cui ha imparato. Dati scarsi, sbagliati o non rappresentativi producono modelli scarsi, sbagliati o distorti; il tema dei bias sarà approfondito nel Tema 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significa, concretamente, 'individuare regolarità'? Prendiamo il filtro antispam. Analizzando migliaia di email etichettate, il sistema scopre che certe combinazioni di elementi compaiono molto più spesso nello spam: parole come 'gratis' o 'urgente' insieme a link verso domini sconosciuti, mittenti mai visti, molti punti esclamativi, richieste di dati personali. Nessun elemento, da solo, è decisivo: anche un'email legittima può contenere la parola 'urgente'. È la combinazione, pesata in base all'esperienza accumulata, a rendere un messaggio più o meno probabilmente spam. Questo esempio illustra tre caratteristiche importanti dell'apprendimento automatico. Le regolarità sono statistiche, non assolute: indicano probabilità, non certezze. Il sistema può cogliere combinazioni troppo numerose o sottili per essere scritte a mano. E può anche cogliere regolarità indesiderate o casuali presenti nei dati, che non hanno un vero rapporto con il fenomeno: se per caso nei dati di addestramento tutte le email di un certo fornitore erano spam, il sistema potrebbe imparare a bloccare quel fornitore anche quando scrive messaggi legittimi.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Dove 'vive' ciò che un modello ha appreso? Nei suoi parametri. I parametri sono valori numerici interni al modello, come i pesi delle connessioni di una rete neurale che abbiamo visto prima. Un'immagine utile è quella di un enorme mixer audio con moltissime manopole: ogni manopola regola quanto conta un certo segnale nel produrre il risultato. All'inizio dell'addestramento le manopole sono in posizioni casuali e il modello produce risultati senza senso. L'addestramento consiste nel regolarle, poco alla volta, finché il modello produce risultati corretti sugli esempi. I modelli semplici hanno poche decine o centinaia di parametri. I grandi modelli linguistici ne hanno miliardi: GPT-3, presentato nel 2020, ne aveva 175 miliardi, e molti modelli recenti sono più grandi, anche se spesso le dimensioni non vengono rese pubbliche. Due precisazioni importanti. Primo: i parametri non contengono una copia ordinata dei dati di addestramento, come un archivio, ma una rappresentazione distribuita delle regolarità apprese. Secondo: una volta terminato l'addestramento, i parametri restano fissi durante l'uso normale; quando parliamo con un assistente, non stiamo modificando i suoi parametri.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il meccanismo dell'addestramento in quattro passaggi, ripetuti moltissime volte. Primo: il modello riceve un esempio e produce una previsione, usando i parametri attuali. Secondo: la previsione viene confrontata con la risposta corretta. Terzo: si misura l'errore, cioè quanto la previsione si discosta dalla risposta corretta. Quarto: i parametri vengono aggiustati leggermente, nella direzione che riduce l'errore. Poi si passa all'esempio successivo, e così via, per milioni o miliardi di volte. Il procedimento matematico che calcola in che direzione aggiustare ogni parametro si chiama ottimizzazione, e nelle reti neurali usa la retropropagazione dell'errore che abbiamo citato nel Tema 1: non serve conoscerne i dettagli. Per i grandi modelli questo processo richiede settimane o mesi di calcolo su migliaia di processori specializzati, con costi molto elevati. È per questo che l'addestramento di un grande modello è un'attività svolta da pochi grandi sviluppatori, e non qualcosa che avviene mentre lo usiamo.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dell'addestramento non è che il modello dia risposte corrette sugli esempi che ha già visto, ma che sappia rispondere bene su casi nuovi. Questa capacità si chiama generalizzazione. Pensiamo a due studenti che preparano un esame di matematica. Il primo impara a memoria le soluzioni degli esercizi del libro: se all'esame trova gli stessi esercizi va benissimo, ma se i numeri cambiano è in difficoltà. Il secondo capisce il metodo, e sa applicarlo anche a esercizi mai visti. Un modello che si comporta come il primo studente soffre di quello che in gergo si chiama overfitting, o sovradattamento: si adatta troppo ai dati di addestramento, compresi i loro dettagli casuali, e generalizza male. Per verificare la generalizzazione, una parte dei dati viene tenuta da parte e non usata nell'addestramento: il modello viene poi valutato su questi dati 'nuovi'. Un'implicazione pratica: un modello generalizza bene verso casi simili a quelli da cui ha imparato; quando i casi reali si allontanano molto, per esempio un nuovo prodotto, un nuovo mercato o un cambiamento nei comportamenti dei clienti, le sue prestazioni possono peggiorare.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una delle distinzioni da comprendere bene. L'addestramento è la fase in cui il modello apprende: si usano grandi quantità di dati, i parametri vengono modificati, servono enormi risorse di calcolo e il processo avviene una volta, o comunque raramente, prima che il modello venga messo a disposizione. L'inferenza è la fase in cui il modello viene usato: riceve un input nuovo, per esempio la nostra domanda, e produce un output applicando i parametri già appresi, che restano invariati. Avviene ogni volta che qualcuno usa il sistema, richiede risorse molto minori per singola richiesta e tempi brevi. Perché è importante saperlo? Perché chiarisce molti equivoci. Quando usiamo un assistente AI, siamo in fase di inferenza: correggere una risposta o fornire un'informazione non 'insegna' al modello in modo permanente. Un fornitore può eventualmente usare le conversazioni per addestrare versioni future, ma si tratta di un processo separato, regolato dalle condizioni d'uso del servizio: un aspetto importante da verificare quando si condividono dati aziendali, che riprenderemo nei Temi 14 e 17.</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Riassumiamo: un sistema di Machine Learning apprende individuando regolarità negli esempi; ciò che apprende è memorizzato nei parametri; l'addestramento regola i parametri, l'inferenza li usa; e la vera prova di un modello è la capacità di generalizzare a casi nuovi. Ricordiamo anche che non tutti i sistemi AI apprendono: i sistemi a regole applicano conoscenza scritta da persone. Domanda di verifica: se oggi correggo un errore dell'assistente AI, domani il modello lo avrà imparato? Risposta: in generale no, perché l'uso è inferenza e non modifica i parametri. L'applicazione potrebbe però ricordare l'informazione tramite funzioni di memoria, come vedremo nel sottotema 2.5.</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Arriviamo ai Large Language Models, i modelli linguistici di grandi dimensioni che stanno alla base degli assistenti AI che usiamo ogni giorno. È uno dei concetti da comprendere bene. Vedremo che cosa sono, come rappresentano il linguaggio attraverso i token, l'idea dell'architettura Transformer e del meccanismo di attenzione, come generano le risposte, quali capacità mostrano e perché uno stesso modello può affrontare compiti molto diversi. Un'avvertenza: spesso si sente dire che un LLM è 'solo un completamento automatico evoluto'. C'è del vero, ma è una semplificazione che rischia di essere fuorviante, e vedremo perché.</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Large Language Model, o LLM, è un modello di Deep Learning addestrato su enormi quantità di testo per elaborare e generare linguaggio. Scomponiamo il nome. 'Language Model', modello linguistico: un modello che ha appreso le regolarità del linguaggio, cioè come le parole e le frasi si combinano, e che in questo modo ha catturato anche molte informazioni sul mondo e molte strutture di ragionamento presenti nei testi. 'Large', di grandi dimensioni: grande per numero di parametri, che sono miliardi, per quantità di testo di addestramento, che include libri, siti web, articoli, codice e molto altro, e per potenza di calcolo usata. L'addestramento di un LLM moderno avviene tipicamente in due grandi fasi. La prima è il pre-addestramento, in cui il modello impara dal testo prevedendo, miliardi di volte, quale parte di testo viene dopo. La seconda è l'affinamento, in cui il modello viene ulteriormente addestrato con esempi di istruzioni e risposte di qualità e con il feedback umano, per diventare un assistente che segue le istruzioni, risponde in modo utile e rispetta regole di sicurezza. È questa seconda fase a trasformare un modello che 'continua testi' in un assistente conversazionale.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LLM non legge il testo lettera per lettera né parola per parola, ma in unità chiamate token. Un token può essere una parola intera, una parte di parola, un segno di punteggiatura o uno spazio seguito da una parola. Le parole comuni sono spesso un solo token; quelle lunghe o rare vengono spezzate in più pezzi. L'esempio in slide è illustrativo: la suddivisione effettiva dipende dal modello. Ogni token corrisponde a un numero in un vocabolario di decine o centinaia di migliaia di elementi, e il modello lavora su sequenze di questi numeri. Perché i token sono importanti per chi usa l'AI? Per tre ragioni pratiche. Primo: i limiti dei modelli, come la lunghezza massima di testo che possono considerare, sono misurati in token, e anche i costi dei servizi a consumo sono spesso calcolati in token. Secondo: a parità di contenuto, lingue diverse richiedono un numero diverso di token; l'italiano di solito ne richiede un po' più dell'inglese, perché i vocabolari dei modelli sono costruiti su testi in gran parte inglesi. Terzo: alcuni comportamenti curiosi dei modelli, come le difficoltà a contare le lettere di una parola, si spiegano proprio con il fatto che il modello non vede le singole lettere ma i token.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volta suddiviso il testo in token, il modello trasforma ciascun token in una rappresentazione numerica chiamata embedding: una lunga lista di numeri che si può immaginare come una posizione in uno spazio con moltissime dimensioni. La proprietà fondamentale di questo spazio è che token e concetti con significati simili si trovano in posizioni vicine. Nella slide lo rappresentiamo in due dimensioni, a scopo puramente illustrativo: i documenti commerciali come fattura, preventivo e ordine stanno vicini tra loro; gli animali domestici formano un altro gruppo; le città un altro ancora. Queste posizioni non sono decise da qualcuno, ma emergono durante l'addestramento, perché parole usate in contesti simili finiscono per avere rappresentazioni simili. E, cosa ancora più importante, durante l'elaborazione la rappresentazione di ogni token viene arricchita dal contesto in cui si trova, come vedremo tra poco con il meccanismo di attenzione. È questa capacità di rappresentare il significato, e non solo la forma delle parole, che permette a un LLM di capire che 'fattura' e 'documento contabile' sono collegati, anche se non condividono nessuna lettera. Gli embedding sono anche alla base della ricerca semantica usata nei sistemi RAG, di cui parleremo nel sottotema 2.6.</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Quasi tutti i grandi modelli linguistici attuali si basano sull'architettura Transformer, introdotta nel 2017 da ricercatori di Google nell'articolo 'Attention Is All You Need'. L'idea centrale è il meccanismo di attenzione. Per interpretare ogni parola, il modello considera tutte le altre parole del testo e stabilisce quanto ciascuna sia rilevante, cioè quanta 'attenzione' dedicarle. Prendiamo la parola 'pesca'. Nella frase 'Ho mangiato una pesca matura' il suo significato è determinato da 'mangiato' e 'matura': è un frutto. Nella frase 'Domenica andiamo a pesca sul lago' è determinato da 'andiamo' e 'lago': è un'attività. Il meccanismo di attenzione permette al modello di collegare ogni parola a quelle che ne chiariscono il significato, anche se sono lontane nel testo, per esempio un pronome che si riferisce a un nome citato tre frasi prima. Nei modelli reali questo avviene in molti strati successivi e con molte 'teste' di attenzione in parallelo, ciascuna sensibile a relazioni diverse. Un vantaggio pratico del Transformer è che elabora i token in parallelo anziché uno alla volta, e per questo si presta molto bene all'addestramento su larga scala con le GPU. Non serve approfondire oltre: il concetto da ricordare è che il modello interpreta ogni parola alla luce del contesto.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genera il testo un LLM? Un token alla volta. Il modello riceve l'intero testo disponibile, cioè le istruzioni, la nostra richiesta e quanto ha già scritto, e calcola, per ogni token del suo vocabolario, la probabilità che sia quello giusto per continuare. Poi ne sceglie uno, lo aggiunge al testo e ripete l'intero processo per il token successivo, considerando anche quello appena aggiunto. Una risposta di qualche paragrafo richiede quindi centinaia di questi cicli, ed è per questo che negli assistenti vediamo spesso la risposta comparire progressivamente. Nell'esempio, dopo 'Oggi il cielo è', il modello assegna probabilità più alte a parole come 'sereno', 'nuvoloso' o 'azzurro' e molto basse a parole incoerenti. Le percentuali in slide sono illustrative. Due conseguenze importanti. Primo: il modello non scrive prima la risposta completa per poi mostrarla; la costruisce passo dopo passo, e ogni scelta condiziona le successive. Secondo: la scelta del token non è sempre quella più probabile, ma avviene con un certo grado di casualità controllata. Questo spiega la variabilità delle risposte, che approfondiremo nel sottotema 2.7.</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È vero che il meccanismo di base di un LLM consiste nel prevedere il token successivo, ed è per questo che talvolta lo si descrive come un 'completamento automatico evoluto', simile ai suggerimenti della tastiera dello smartphone. Ma fermarsi qui sarebbe fuorviante, per almeno tre ragioni. Primo, la scala e la ricchezza delle rappresentazioni: per prevedere bene il testo successivo in miliardi di casi diversi, il modello deve sviluppare rappresentazioni interne di grammatica, significato, fatti, relazioni logiche e stili, molto al di là della semplice frequenza delle parole. Il suggeritore della tastiera guarda poche parole; un LLM considera l'intero contesto. Secondo, l'affinamento: i modelli usati negli assistenti sono addestrati a seguire istruzioni, a dialogare e a rispondere in modo utile, non solo a continuare un testo. Terzo, il contesto: un LLM produce la risposta tenendo conto delle istruzioni, dei documenti forniti e della conversazione, e spesso è integrato con strumenti esterni come la ricerca. All'estremo opposto, va evitato anche l'errore inverso: il fatto che queste capacità siano notevoli non significa che il modello capisca nel senso umano o che non sbagli. La descrizione più corretta è quella del concetto chiave: un LLM genera output usando regolarità apprese e il contesto disponibile.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sanno fare, in termini generali, gli LLM? Possiamo raggruppare le loro capacità in tre famiglie. Le capacità linguistiche: scrivere, riformulare, adattare lo stile e il registro, tradurre, correggere, sintetizzare. Sono le più mature e quelle su cui gli LLM sono più affidabili. Le capacità di analisi: estrarre informazioni da un testo, classificare, confrontare documenti, individuare temi ricorrenti, strutturare informazioni disordinate in tabelle o elenchi. Le capacità di ragionamento: scomporre un problema in passaggi, seguire una catena logica, pianificare, risolvere problemi matematici o di programmazione. Negli ultimi anni sono comparsi modelli progettati per dedicare più elaborazione al ragionamento, generando passaggi intermedi prima della risposta finale, con miglioramenti significativi su problemi complessi. Queste capacità sono reali e misurabili, ma con due avvertenze già incontrate: sono irregolari, cioè un modello può risolvere un problema difficile e sbagliarne uno apparentemente facile, e non sono infallibili. Per questo il livello di verifica deve crescere con l'importanza del risultato. L'analisi dei limiti e degli errori è oggetto del Tema 3.</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caratteristica sorprendente degli LLM è la versatilità: lo stesso modello scrive email, riassume contratti, traduce, genera codice, analizza dati e risponde a domande. Fino a pochi anni fa ognuno di questi compiti avrebbe richiesto un modello specifico, addestrato su dati specifici. Perché oggi ne basta uno? La ragione principale è che moltissimi compiti possono essere espressi nella stessa forma: un testo in ingresso e un testo in uscita. Tradurre significa ricevere un testo e produrne un altro; riassumere, classificare, rispondere, perfino scrivere codice, sono tutte trasformazioni di testo in testo. Dato che il modello è stato addestrato su una varietà enorme di testi, che contengono esempi di tutte queste attività, ha appreso le regolarità necessarie per svolgerle. Ed è stato poi affinato per seguire istruzioni, per cui basta descrivere il compito a parole per indirizzarlo. È il motivo per cui, come abbiamo visto nel Tema 1, il linguaggio naturale è diventato l'interfaccia. Precisazione: versatile non significa ugualmente bravo in tutto, e per alcuni compiti specifici un modello specializzato resta la soluzione migliore.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Riassumiamo il percorso: un LLM rappresenta il testo come token, trasforma i token in rappresentazioni del significato, li interpreta alla luce del contesto grazie al meccanismo di attenzione, e genera la risposta un token alla volta, scegliendo tra i token più probabili. Tutto questo si basa su regolarità apprese da enormi quantità di testo e su un affinamento per seguire istruzioni. Non è magia e non è comprensione umana, ma nemmeno un semplice completamento automatico. Domanda di verifica: perché un LLM può avere difficoltà a contare quante lettere 'r' ci sono in una parola, pur scrivendo testi complessi? Risposta: perché non vede le singole lettere, ma i token.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aver visto come funziona un modello, guardiamo che cosa succede quando lo usiamo. Seguiremo il percorso di una richiesta, dall'input all'output, e chiariremo alcuni concetti molto pratici: la finestra di contesto, la cronologia della conversazione, la differenza tra contesto temporaneo e memoria persistente e la differenza tra il modello e l'applicazione che lo integra. È uno dei sottotemi con le ricadute più dirette sull'uso quotidiano. Ricordiamo che il dialogo con l'AI e le tecniche per scrivere prompt efficaci sono oggetto dei Temi 5 e 6: qui ci interessa capire il meccanismo.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prompt è il testo che inviamo al sistema: la nostra domanda o richiesta. Ma il modello, in realtà, riceve molto di più del solo messaggio che scriviamo. Riceve un insieme di informazioni che l'applicazione compone e gli passa a ogni richiesta. Le istruzioni di sistema, impostate dall'applicazione o dall'azienda, che definiscono il comportamento dell'assistente, il tono, le regole da rispettare, e che di solito l'utente non vede. La cronologia della conversazione, cioè i messaggi precedenti. Eventuali documenti, file o risultati di ricerche aggiunti al contesto. E infine il nostro messaggio. Tutto questo insieme costituisce l'input effettivo del modello. L'output è la risposta generata, che può essere testo ma anche, nei sistemi multimodali, un'immagine, un file o un'azione eseguita tramite uno strumento. Il messaggio pratico è che la risposta non dipende solo da ciò che scriviamo, ma da tutto ciò che il modello riceve: per questo due persone che fanno la stessa domanda in applicazioni diverse, o in conversazioni diverse, possono ottenere risposte diverse.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Mettiamo in fila i passaggi di una singola richiesta, collegando i concetti visti finora. Primo: scriviamo il prompt. Secondo: l'applicazione compone il contesto completo, aggiungendo istruzioni di sistema, cronologia ed eventuali documenti. Terzo: il testo viene suddiviso in token, la cosiddetta tokenizzazione. Quarto: il modello esegue l'inferenza, elaborando l'intera sequenza di token con i parametri appresi durante l'addestramento, che non cambiano. Quinto: genera la risposta un token alla volta, come abbiamo visto. Sesto: i token generati vengono riconvertiti in testo leggibile e mostrati, spesso progressivamente, man mano che vengono prodotti. In alcune applicazioni, tra il quarto e il quinto passaggio, il modello può decidere di usare uno strumento, per esempio una ricerca sul web o un calcolo, e i risultati vengono aggiunti al contesto prima di proseguire. Tutto questo avviene in pochi secondi. Dopo la risposta, il modello non conserva nulla: alla richiesta successiva il processo ricomincia da capo, come vedremo parlando di cronologia.</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finestra di contesto è la quantità massima di testo, misurata in token, che il modello può considerare in una singola elaborazione. Comprende tutto: istruzioni di sistema, cronologia, documenti, il nostro messaggio e anche la risposta che sta generando. Un'immagine utile è quella di una scrivania: il modello può lavorare solo con i fogli che ci stanno sopra; ciò che non è sulla scrivania, per lui, non esiste. Le dimensioni variano molto da modello a modello e sono cresciute rapidamente negli ultimi anni: da poche migliaia di token dei primi assistenti a centinaia di migliaia o più nei modelli recenti, sufficienti per interi libri o raccolte di documenti. Che cosa succede quando la scrivania è piena? Dipende dall'applicazione: le parti più vecchie della conversazione possono essere escluse o riassunte, oppure il sistema segnala che il limite è stato raggiunto. Inoltre, una finestra più grande non significa attenzione uniforme su tutto: alcune ricerche, come lo studio 'Lost in the Middle' di Liu e colleghi (pubblicato nel 2024), hanno mostrato che i modelli possono trascurare informazioni collocate nel mezzo di contesti molto lunghi. Il messaggio pratico: fornire il contesto giusto conta più che fornirne tanto.</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un aspetto che sorprende molti: il modello non ricorda la conversazione. Ogni volta che inviamo un messaggio, il modello parte da zero. Come fa allora a 'ricordare' quello che ci siamo detti? È l'applicazione che, a ogni turno, rimanda al modello l'intera cronologia della conversazione insieme al nuovo messaggio. Il modello rilegge tutto e risponde. Lo schema in slide lo mostra: al primo turno il modello riceve istruzioni e prima domanda; al secondo, istruzioni, prima domanda, prima risposta e seconda domanda; e così via. Il contesto cresce a ogni turno. Questo ha tre conseguenze pratiche. Primo: in una conversazione molto lunga il contesto può avvicinarsi al limite della finestra, e le informazioni iniziali possono essere trascurate, riassunte o escluse. Secondo: avviando una nuova conversazione il modello non sa nulla di quella precedente, salvo funzioni di memoria specifiche dell'applicazione. Terzo: un errore o un'impostazione sbagliata all'inizio della conversazione continua a influenzare le risposte successive, perché resta nel contesto; a volte ricominciare una conversazione pulita è la soluzione migliore.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Distinguiamo due modi in cui un sistema può 'tenere a mente' le informazioni. Il contesto temporaneo è tutto ciò che si trova nella finestra di contesto durante una conversazione: vale solo per quella conversazione e scompare quando ne iniziamo una nuova. È il meccanismo di base, sempre presente. La memoria persistente è una funzione che alcune applicazioni offrono: il sistema salva certe informazioni, come preferenze, dati sul nostro ruolo o progetti in corso, e le reinserisce automaticamente nel contesto delle conversazioni future. È importante capire che anche la memoria persistente non modifica il modello: è l'applicazione che archivia le informazioni e le ripresenta al modello come parte del contesto. Le funzioni di memoria variano molto tra i prodotti: alcune sono automatiche, altre si attivano su richiesta, quasi sempre l'utente può vederle, modificarle o disattivarle. Dal punto di vista aziendale questo ha implicazioni rilevanti: è bene sapere che cosa viene memorizzato, dove e per quanto tempo, soprattutto quando si lavora con informazioni riservate. Questi aspetti sono ripresi nei Temi 14 e 17, per la protezione dei dati, e nel Tema 4, per il confronto tra strumenti.</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 distinzione del sottotema, molto importante: il modello e l'applicazione che lo integra non sono la stessa cosa. Il modello è il motore: il sistema addestrato che elabora token e genera risposte. L'applicazione, o prodotto, è tutto ciò che sta intorno: l'interfaccia con cui interagiamo, le istruzioni di sistema, le funzioni di ricerca sul web, la possibilità di caricare file, i collegamenti ad altri strumenti e servizi aziendali, la memoria, i filtri di sicurezza, le regole su come vengono trattati i dati. Un paragone utile è quello dell'automobile: il motore è fondamentale, ma l'esperienza di guida dipende anche dal resto della vettura. Per questo lo stesso modello può comportarsi in modo diverso in prodotti diversi, e due prodotti con modelli diversi possono offrire funzioni simili. Alcuni comportamenti che attribuiamo 'all'AI' sono in realtà dovuti all'applicazione: per esempio la capacità di citare fonti aggiornate dipende dalla presenza di una funzione di ricerca, non dal modello in sé. Quando valutiamo uno strumento, quindi, conviene chiedersi sia quale modello usa sia quali componenti offre. Il confronto tra prodotti e piattaforme è oggetto del Tema 4.</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Riassumiamo: il modello riceve molto più del nostro messaggio; lavora entro una finestra di contesto limitata; non ricorda nulla tra un turno e l'altro, ed è l'applicazione a rimandargli la cronologia; la memoria persistente è una funzione dell'applicazione e non modifica il modello; e molte caratteristiche che attribuiamo all'AI dipendono in realtà dal prodotto che la integra. Domanda di verifica: perché la stessa domanda posta in due assistenti diversi, basati sullo stesso modello, può ricevere risposte diverse? Possibili risposte: istruzioni di sistema diverse, funzioni di ricerca diverse, documenti o memoria diversi, oltre alla normale variabilità che vedremo nel sottotema 2.7.</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sottotema risponde a una domanda fondamentale per l'uso professionale dell'AI: da dove provengono le informazioni contenute in una risposta? Distingueremo le informazioni apprese durante l'addestramento, quelle fornite durante l'interazione e quelle recuperate da fonti e strumenti esterni. Vedremo i limiti temporali della conoscenza dei modelli, il concetto di grounding e, a livello introduttivo, la Retrieval-Augmented Generation, o RAG. Infine metteremo a confronto le diverse modalità per adattare un sistema AI a un contesto specifico. Non insegneremo a costruire una soluzione RAG: ci interessa capire il concetto.</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informazioni che un sistema AI usa per rispondere possono avere tre origini. La prima è l'addestramento: tutto ciò che il modello ha appreso dagli enormi corpus di testo, incorporato nei parametri. È una conoscenza ampia, ma generale, ferma a una certa data e non verificabile direttamente: il modello non sa indicare con certezza da quale testo abbia appreso una certa informazione. La seconda è l'interazione: ciò che forniamo noi durante la conversazione, come istruzioni, testi incollati, documenti allegati. È specifica e aggiornata quanto lo è il materiale che forniamo, e resta nel contesto temporaneo. La terza sono le fonti e gli strumenti esterni: ricerche sul web, basi documentali aziendali, database, altri software collegati, interrogati dall'applicazione al momento della richiesta. Permettono di accedere a informazioni aggiornate o riservate che il modello non ha mai visto in addestramento. In una stessa risposta possono convivere tutte e tre le fonti: per esempio il modello usa la conoscenza generale per capire la domanda e formulare la risposta, ma prende i dati specifici da un documento allegato o da una ricerca. Saper riconoscere da quale fonte proviene un'informazione è essenziale per valutarne l'affidabilità.</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Un'analogia efficace è quella dell'esame. La conoscenza incorporata nel modello somiglia a un esame a libro chiuso: lo studente risponde basandosi su ciò che ricorda, che può essere molto, ma è impreciso sui dettagli, non è aggiornato su ciò che è successo dopo lo studio e, quando non ricorda bene, rischia di ricostruire una risposta plausibile ma sbagliata. Il recupero di informazioni somiglia invece a un esame a libro aperto: lo studente può consultare i testi pertinenti e basare la risposta su di essi, con dettagli precisi e la possibilità di indicare la fonte. Nella pratica, quando chiediamo a un assistente un dato preciso, come il valore di un indicatore, un riferimento normativo o una citazione, e il sistema risponde solo dalla conoscenza incorporata, il rischio di imprecisione è più alto. Quando invece la risposta si basa su documenti forniti o recuperati, è più facile che sia precisa e verificabile, anche se non è garantito: il modello può comunque interpretare male un documento o recuperare quello sbagliato. Le cause degli errori, comprese le cosiddette allucinazioni, sono approfondite nel Tema 3.</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modello ha una data limite della conoscenza, chiamata in inglese knowledge cutoff: il momento fino al quale arrivano i dati di addestramento. Di ciò che è accaduto dopo, il modello non sa nulla, a meno che l'informazione non gli venga fornita nel contesto o recuperata con una ricerca. Inoltre, tra la data limite e il momento in cui il modello viene messo a disposizione passano spesso diversi mesi, e il modello può poi restare in uso per mesi o anni. Il risultato è che il divario tra ciò che il modello sa e la realtà attuale tende a crescere nel tempo. Esempi tipici di informazioni soggette a questo limite: normative modificate di recente, prezzi e listini, organigrammi, versioni di software, notizie di attualità, risultati sportivi, cariche pubbliche. Un aspetto delicato è che il modello non sempre segnala di non essere aggiornato: può rispondere con sicurezza fornendo un'informazione che era corretta in passato ma non lo è più. Indicazioni pratiche: per tutto ciò che può essere cambiato di recente, usare strumenti con ricerca abilitata o fornire documenti aggiornati, e verificare le informazioni sensibili al tempo. Molti fornitori indicano pubblicamente la data limite dei propri modelli.</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che possiamo tradurre come ancoraggio, indica la pratica di basare le risposte di un sistema AI su fonti specifiche e verificabili, invece che solo sulla conoscenza generale incorporata nel modello. Un sistema 'ancorato' riceve nel contesto i documenti o i dati pertinenti, viene istruito a rispondere sulla base di quelli e, idealmente, indica da quale fonte proviene ciascuna informazione, permettendo all'utente di verificarla. Il grounding porta tre benefici principali: risposte più precise e pertinenti al nostro contesto, aggiornamento, perché le fonti possono essere più recenti della data limite del modello, e verificabilità, grazie ai riferimenti alle fonti. Esempi comuni sono l'assistente che risponde citando i risultati di una ricerca web, oppure quello che risponde alle domande dei dipendenti sulla base delle procedure interne, indicando il documento di riferimento. Attenzione però: il grounding riduce gli errori ma non li elimina. Il sistema può interpretare male una fonte, combinare informazioni in modo scorretto, o la fonte stessa può essere sbagliata o non aggiornata. Per questo la possibilità di controllare le fonti citate è preziosa: va usata.</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Retrieval-Augmented Generation, abbreviata in RAG e traducibile come 'generazione aumentata dal recupero', è la tecnica più diffusa per realizzare il grounding su grandi raccolte di documenti. Il termine è stato introdotto nel 2020 da un gruppo di ricercatori di Facebook AI Research (oggi Meta), University College London e New York University, con primo autore Patrick Lewis. Il problema che risolve è questo: un'azienda può avere migliaia di documenti, troppi per inserirli tutti nella finestra di contesto a ogni domanda. Il funzionamento, a livello concettuale, avviene in quattro passaggi. Primo: l'utente pone una domanda. Secondo, il recupero: il sistema cerca nella base documentale, preparata in precedenza, i passaggi più pertinenti alla domanda, spesso usando la ricerca semantica basata sugli embedding che abbiamo visto, che trova i testi simili per significato e non solo per parole uguali. Terzo, l'aumento: i passaggi trovati vengono inseriti nel contesto insieme alla domanda. Quarto, la generazione: il modello formula la risposta sulla base di quei passaggi, idealmente citandoli. Il punto chiave: il modello non viene riaddestrato. I documenti restano fuori dal modello, possono essere aggiornati in qualsiasi momento, e l'accesso può essere limitato in base ai permessi degli utenti. La qualità del risultato dipende molto dalla qualità dei documenti e del recupero. Le condizioni per usare la RAG sui documenti aziendali sono trattate nel Tema 14.</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mette a confronto quattro modi per adattare un sistema AI alle esigenze di un'azienda o di un'attività. Sono spesso confusi, ma funzionano in modo molto diverso. Le istruzioni: indicazioni su ruolo, tono, formato, regole da seguire, fornite nel prompt o nelle istruzioni di sistema. Sono il modo più semplice e immediato, non modificano il modello e funzionano bene per orientarne il comportamento. I documenti nel contesto: allegare o incollare i materiali pertinenti alla conversazione. Ideale per lavorare su contenuti specifici e limitati, nei limiti della finestra di contesto. Il recupero da basi informative, cioè la RAG: adatto quando i documenti sono molti, cambiano spesso o devono essere accessibili a molte persone con permessi diversi. Neppure questo modifica il modello. Il fine-tuning, o affinamento: un addestramento aggiuntivo del modello su esempi specifici, che modifica effettivamente una parte dei parametri. È utile soprattutto per insegnare uno stile, un formato o un comportamento ricorrente, ma richiede dati di qualità, competenze e costi, ed è meno adatto per aggiungere conoscenze che cambiano spesso, perché ogni aggiornamento richiederebbe un nuovo addestramento. Nella pratica, la maggior parte delle esigenze aziendali si risolve con le prime tre modalità, spesso combinate.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il sottotema con tre equivoci molto diffusi, che conviene smontare esplicitamente. Primo equivoco: 'se carico un documento, il modello lo impara'. In realtà il documento entra nel contesto temporaneo della conversazione: il modello lo legge e lo usa per rispondere, ma i suoi parametri non cambiano. In una nuova conversazione il documento non sarà più disponibile, salvo funzioni specifiche dell'applicazione, come progetti o memorie. Secondo equivoco: 'se collego l'AI ai documenti aziendali, il modello viene addestrato sui nostri dati'. Con la RAG il modello consulta i documenti al momento della domanda, ma non viene riaddestrato. Questo non significa che la questione dei dati sia irrilevante: le condizioni contrattuali del servizio stabiliscono se e come i dati possono essere usati dal fornitore, ed è un aspetto da verificare sempre. Terzo equivoco: 'il modello sa tutto ciò che è su internet ed è sempre aggiornato'. La conoscenza incorporata è ferma alla data limite e non è un archivio completo; l'accesso a informazioni aggiornate dipende dalla presenza di strumenti di ricerca. Domanda per il gruppo: avevate qualcuno di questi dubbi?</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Le informazioni di una risposta possono provenire dall'addestramento, dall'interazione o da fonti esterne; la conoscenza incorporata è generale e datata, quella recuperata è più precisa e verificabile; il grounding e la RAG permettono di ancorare le risposte ai documenti senza riaddestrare il modello; e il fine-tuning è solo una delle modalità di adattamento, spesso non la più adatta. Domanda di verifica: un collega dice 'ho caricato il nostro regolamento interno nell'assistente, adesso lo conosce'. Che cosa gli rispondereste? Risposta: lo conosce per quella conversazione, perché il documento è nel contesto; il modello non è stato riaddestrato.</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Chiunque abbia usato un assistente AI si è accorto che, ponendo due volte la stessa domanda, si ottengono risposte diverse. Per chi è abituato al software tradizionale, questo può sembrare un difetto o un malfunzionamento. In realtà è una conseguenza diretta del modo in cui i modelli generano il testo. In questo sottotema vediamo perché succede, quali fattori influenzano la variabilità, come si può ridurre quando serve e, soprattutto, perché variabilità e correttezza sono due questioni distinte.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un esempio concreto. La stessa richiesta, 'Proponi un titolo per la newsletter che annuncia il nuovo orario estivo degli uffici', inviata tre volte allo stesso assistente, può produrre tre risposte diverse, come quelle in slide. Sono tutte ragionevoli, con sfumature diverse di tono e formulazione. Questo è il comportamento normale di un modello generativo. Perché accade? Ricordiamo come viene generata una risposta: a ogni passaggio il modello calcola una distribuzione di probabilità sui possibili token successivi e poi ne sceglie uno. Se scegliesse sempre il più probabile, le risposte sarebbero sempre uguali, ma tenderebbero anche a essere ripetitive e poco naturali. Per questo, di norma, la scelta avviene tramite campionamento: il token viene estratto in proporzione alla sua probabilità, per cui di solito vince un token molto probabile, ma talvolta ne viene scelto un altro. Basta una scelta diversa nelle prime parole perché tutta la risposta prenda una strada diversa, dato che ogni token condiziona i successivi. Suggerimento: se possibile, mostrare dal vivo l'esempio rigenerando più volte la stessa risposta in un assistente.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campionamento è la causa principale della variabilità, ma non l'unica. Possiamo individuare almeno cinque fattori. Primo, il campionamento stesso, che abbiamo appena visto. Secondo, le istruzioni: una richiesta vaga lascia al modello molte strade possibili, mentre una richiesta precisa, con indicazioni su formato, tono, lunghezza ed eventuali esempi, restringe le possibilità e rende le risposte più simili tra loro. Terzo, il contesto: la cronologia della conversazione, i documenti allegati, la memoria e i risultati di ricerca cambiano da una sessione all'altra, e con essi le risposte. Quarto, i parametri di generazione, come la temperatura, che vedremo nella prossima slide. Quinto, la versione del modello e dell'applicazione: i fornitori aggiornano periodicamente modelli e istruzioni di sistema, per cui la stessa richiesta può dare risultati diversi nel corso dei mesi. Questo è un punto importante per chi costruisce procedure di lavoro basate sull'AI: un risultato ottenuto oggi non è garantito per sempre, e conviene riverificare periodicamente.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parametro di generazione più noto è la temperatura, che regola quanto il campionamento è 'audace'. Con una temperatura bassa, la distribuzione delle probabilità si concentra sui token più probabili: le risposte diventano più prevedibili, conservative e simili tra loro. Con una temperatura alta, la distribuzione si appiattisce e anche i token meno probabili hanno più possibilità di essere scelti: le risposte diventano più varie e creative, ma anche più esposte a scelte poco appropriate. I due grafici mostrano, con valori illustrativi, la stessa scelta tra cinque parole con temperatura bassa e alta. Esistono anche altri parametri simili, che limitano la scelta ai token più probabili. Nella pratica, chi usa un assistente tramite interfaccia conversazionale spesso non vede né controlla questi parametri, che sono impostati dal fornitore; sono invece regolabili da chi usa i modelli tramite API, per esempio quando si integra l'AI in un'applicazione aziendale. Una indicazione generale: valori bassi sono adatti a compiti in cui serve coerenza, come estrazione di dati o classificazione; valori più alti a compiti creativi come la generazione di idee. Attenzione: anche con temperatura minima, i risultati possono non essere perfettamente identici in ogni caso, per ragioni tecniche legate all'esecuzione dei calcoli.</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la distinzione introdotta nel Tema 1, ora che ne conosciamo il meccanismo. Il software deterministico produce sempre lo stesso output a parità di input: è ciò che ci aspettiamo da una calcolatrice, da un gestionale, da una formula in un foglio di calcolo. Un modello generativo è invece probabilistico: produce output plausibili estratti da una distribuzione di probabilità, e quindi può variare. Nessuno dei due comportamenti è migliore in assoluto: sono adatti a esigenze diverse. La variabilità è una risorsa quando cerchiamo alternative, idee, formulazioni diverse, o quando vogliamo rigenerare una risposta che non ci soddisfa. È invece un problema quando serve coerenza: estrarre gli stessi campi da centinaia di fatture, classificare richieste secondo criteri uniformi, produrre testi che devono rispettare formule fisse. In questi casi bisogna ridurre la variabilità, o combinare l'AI con componenti deterministici, per esempio facendo calcolare i totali a un software tradizionale invece che al modello. Il messaggio pratico: conoscere la natura probabilistica dei modelli aiuta a decidere dove usarli e con quali accorgimenti.</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un risultato deve essere riproducibile, cioè ottenibile di nuovo in modo coerente, esistono diversi accorgimenti che riducono la variabilità. Formulare istruzioni precise: specificare formato, lunghezza, struttura, tono, criteri. Fornire esempi del risultato atteso: il modello tende a imitarli. Chiedere output strutturati, come tabelle o elenchi con campi fissi, invece di testo libero. Ridurre la temperatura, quando lo strumento lo consente. Salvare e riutilizzare i prompt che funzionano, invece di riscriverli ogni volta, e documentarli se fanno parte di un processo aziendale. Fornire sempre lo stesso contesto, per esempio gli stessi documenti di riferimento. Annotare la versione del modello o dello strumento usato e riverificare dopo gli aggiornamenti. Nessuno di questi accorgimenti garantisce una riproducibilità assoluta, che con i modelli generativi non è di norma ottenibile, ma insieme rendono i risultati molto più coerenti. Le tecniche operative di prompting sono approfondite nel Tema 6.</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chiarisce una distinzione su cui il documento di perimetro insiste: variabilità e correttezza sono due questioni separate. Lo schema incrocia le due dimensioni, e ogni quadrante ha un esempio fittizio in corsivo. In alto a sinistra, risposte che variano ma sono tutte corrette: tre titoli diversi per la stessa newsletter, come quelli visti poco fa nella slide 58, formulazioni diverse ugualmente valide. In alto a destra, risposte stabili e corrette: la situazione ideale per i compiti che richiedono coerenza, come assegnare sempre la stessa categoria allo stesso ticket di assistenza. In basso a destra, risposte stabili ma sbagliate: è il caso più insidioso, perché la ripetizione della stessa risposta può darci un falso senso di sicurezza. Un modello può ripetere con coerenza un'informazione errata, per esempio un prezzo di listino superato, indicato ogni volta allo stesso modo. In basso a sinistra, risposte che variano e sono sbagliate: chiedendo tre volte la stessa scadenza si ottengono tre date diverse. Qui la variabilità può essere un segnale utile, perché risposte molto diverse alla stessa domanda fattuale indicano spesso che il modello non ha un'informazione solida, e che serve verificare. Il messaggio: non dobbiamo considerare la variabilità come un errore, né la stabilità come una garanzia. La correttezza va valutata con altri strumenti, che sono l'oggetto del Tema 3.</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La variabilità deriva dalla natura probabilistica della generazione: a ogni passaggio il modello sceglie tra token possibili, con un grado di casualità regolato da parametri come la temperatura. Istruzioni, contesto e versioni influiscono ulteriormente. La variabilità può essere ridotta con accorgimenti pratici, ma non eliminata del tutto; è una risorsa per i compiti creativi e un aspetto da gestire per quelli che richiedono coerenza. Soprattutto, non va confusa con l'errore: risposte diverse possono essere tutte corrette, e risposte identiche possono essere tutte sbagliate. Domanda di verifica: se chiedo tre volte lo stesso dato e ottengo sempre lo stesso numero, posso considerarlo corretto? Risposta: no, la stabilità non garantisce la correttezza; va verificato su una fonte affidabile. Correttezza e affidabilità sono approfondite nel Tema 3.</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otto domande guida dell'inizio. Che cosa intendiamo per AI? Sistemi che deducono dagli input come generare output, con autonomia variabile; non un'intelligenza umana digitale. Come si distinguono AI, Machine Learning, Deep Learning e AI generativa? Rispondono a criteri diversi: l'AI è il campo, il ML apprende dai dati, il DL usa reti neurali profonde, la generativa produce contenuti. Che cos'è un modello e come viene addestrato? Un insieme di parametri regolati sugli esempi riducendo l'errore. Che cos'è un LLM? Un modello di Deep Learning che genera testo token per token da regolarità apprese e dal contesto. Che cosa accade quando inviamo un prompt? L'applicazione compone il contesto, il modello lo elabora in inferenza e genera la risposta. Da dove provengono le informazioni? Da addestramento, interazione e fonti esterne. Che differenza c'è tra addestramento, contesto, memoria, recupero e fine-tuning? Solo addestramento e fine-tuning modificano il modello; gli altri forniscono informazioni nel contesto. Perché le risposte variano? Per il campionamento probabilistico, e la variabilità non è un errore. Suggerimento: chiedere ai partecipanti di rispondere prima con parole proprie.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sei risultati attesi del modulo. Il partecipante dovrebbe essere in grado di: distinguere le principali famiglie e capacità dei sistemi AI; descrivere a grandi linee come avvengono addestramento e inferenza; spiegare il funzionamento generale di un LLM e di una conversazione con esso; distinguere ciò che un modello ha appreso dalle informazioni fornite o recuperate durante l'uso; comprendere che il comportamento dipende dal modello, dall'applicazione e dal contesto; interpretare la variabilità degli output senza confonderla automaticamente con un errore. Se questi sei punti sono chiari, i partecipanti hanno gli strumenti concettuali per affrontare il Tema 3, dedicato all'affidabilità, e i temi pratici sull'uso dell'AI, dal Tema 5 al Tema 11.</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e la slide successiva raccolgono i termini principali introdotti nel modulo, con una definizione sintetica. Possono essere distribuite ai partecipanti come materiale di riferimento. Suggerimento: usarle come ripasso veloce, chiedendo ai partecipanti di spiegare un termine con parole proprie prima di mostrare la definizione.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del glossario. Anche questi termini compaiono spesso nella documentazione dei prodotti e nelle notizie sull'AI: riconoscerli aiuta a leggerle con maggiore consapevolezza.</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sei domande da porsi quando una risposta dell'AI conta davvero, per esempio prima di usarla in un documento o in una decisione. Primo: quale sistema sto usando? Non solo quale modello, ma quale applicazione, con quali funzioni di ricerca, file e memoria: sottotema 2.5. Secondo: da dove viene questa informazione? Dalla conoscenza appresa in addestramento, dal contesto che ho fornito o da una fonte esterna recuperata? Sottotema 2.6. Terzo: può essere cambiata di recente? Se sì, la data limite del modello conta, e servono ricerca o documenti aggiornati: ancora 2.6. Quarto: il contesto è quello giusto? Pertinente, completo, e non sepolto nel mezzo di testi molto lunghi: sottotema 2.5. Quinto: che cosa resta dopo la conversazione? Memoria dell'applicazione, uso dei dati da parte del fornitore, condizioni del servizio: sottotemi 2.3 e 2.5. Sesto: se la rigenero, cambia? Risposte molto diverse a una domanda fattuale sono un segnale da verificare, ma una risposta stabile non è una prova: sottotema 2.7. Suggerimento: applicare la scheda insieme ai partecipanti a una risposta reale di un assistente.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semplificazioni da evitare, che riassumono in negativo i messaggi del modulo. Gli equivoci sulle fonti, come 'se carico un documento il modello lo impara', li abbiamo già visti nel sottotema 2.6; qui guardiamo le altre aree. Primo: pensare che l'AI capisca come una persona. Valutiamo le prestazioni osservabili, senza attribuire comprensione, intenzioni o emozioni. Secondo: trattare AI, Machine Learning e AI generativa come sinonimi o come caselle separate. Rispondono a criteri diversi, e uno stesso sistema appartiene a più categorie. Terzo: credere che correggendo un assistente lo si addestri. Durante l'uso siamo in inferenza: i parametri non cambiano. Quarto: liquidare un LLM come un semplice completamento automatico, o all'opposto come una mente. Genera output da regolarità apprese e dal contesto. Quinto: confondere il modello con il prodotto. Molte funzioni, come la ricerca, i file e la memoria, dipendono dall'applicazione. Sesto: pensare che una risposta stabile sia per questo corretta. La stabilità non è una garanzia, e la variabilità non è un errore. Suggerimento: chiedere ai partecipanti quale di queste idee avevano all'inizio del modulo, collegandosi alle risposte raccolte in apertura.</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uno sguardo al prossimo modulo. In questo tema abbiamo capito come funzionano i sistemi AI: come apprendono, come generano le risposte, da dove arrivano le informazioni e perché le risposte variano. Abbiamo più volte rimandato una domanda fondamentale: quanto possiamo fidarci di ciò che l'AI produce? Il Tema 3 sarà dedicato proprio a questo: perché i modelli possono produrre informazioni false ma plausibili, le cosiddette allucinazioni; da dove nascono i bias; come valutare l'accuratezza e l'affidabilità di un output; e come impostare una verifica proporzionata all'importanza del risultato. I concetti di questo modulo, come la generazione probabilistica, la conoscenza incorporata e datata, il contesto e il grounding, saranno la base per capire le cause degli errori e i modi per gestirli. Lasciare spazio alle domande finali. Slide facoltativa: se il modulo è presentato da solo o in una selezione di slide, può essere nascosta o tolta senza perdere nulla del contenuto.</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raccoglie le principali fonti citate nel modulo. Le fonti sono state verificate a ottobre 2026; in particolare, la definizione di sistema di AI dell'articolo 3 non è stata modificata dal Digital Omnibus del 2026. Alcune informazioni, come le dimensioni delle finestre di contesto, le funzioni di memoria dei prodotti e le caratteristiche dei modelli più recenti, cambiano rapidamente: prima di ogni edizione del corso è consigliabile verificarne l'attualità.</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rtlCol="0"/>
          <a:lstStyle>
            <a:lvl1pPr marL="0" indent="0">
              <a:buNone/>
              <a:defRPr lang="en-US" sz="6000" b="1" dirty="0">
                <a:solidFill>
                  <a:schemeClr val="accent1"/>
                </a:solidFill>
              </a:defRPr>
            </a:lvl1pPr>
          </a:lstStyle>
          <a:p>
            <a:pPr marL="0" indent="0">
              <a:buNone/>
            </a:pP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2  ·  Fondamenti e funzionamento dell'AI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marL="0" indent="0">
              <a:buNone/>
            </a:pPr>
            <a:r>
              <a:rPr lang="en-US" sz="900" dirty="0">
                <a:solidFill>
                  <a:schemeClr val="accent2"/>
                </a:solidFill>
              </a:rPr>
              <a:t>AI Literacy  ·  Tema 2  ·  Fondamenti e funzionamento dell'AI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marL="0" indent="0">
              <a:buNone/>
            </a:pPr>
            <a:r>
              <a:rPr lang="en-US" sz="1300" b="1" kern="0" spc="300" dirty="0">
                <a:solidFill>
                  <a:schemeClr val="accent1"/>
                </a:solidFill>
              </a:rPr>
              <a:t>CONCETTO CHIAVE</a:t>
            </a:r>
            <a:endParaRPr lang="en-US" sz="1300" dirty="0"/>
          </a:p>
        </p:txBody>
      </p:sp>
      <p:sp>
        <p:nvSpPr>
          <p:cNvPr id="3" name="Text 1"/>
          <p:cNvSpPr>
            <a:spLocks noGrp="1"/>
          </p:cNvSpPr>
          <p:nvPr>
            <p:ph type="body" idx="101" hasCustomPrompt="1"/>
          </p:nvPr>
        </p:nvSpPr>
        <p:spPr>
          <a:xfrm>
            <a:off x="822960" y="1600200"/>
            <a:ext cx="7498080" cy="2011680"/>
          </a:xfrm>
          <a:prstGeom prst="rect">
            <a:avLst/>
          </a:prstGeom>
          <a:noFill/>
          <a:ln/>
        </p:spPr>
        <p:txBody>
          <a:bodyPr wrap="square" rtlCol="0"/>
          <a:lstStyle>
            <a:lvl1pPr marL="0" indent="0">
              <a:buNone/>
              <a:defRPr lang="en-US" sz="2600" dirty="0">
                <a:solidFill>
                  <a:schemeClr val="bg1"/>
                </a:solidFill>
              </a:defRPr>
            </a:lvl1pPr>
          </a:lstStyle>
          <a:p>
            <a:pPr marL="0" indent="0">
              <a:buNone/>
            </a:pPr>
            <a:endParaRPr lang="en-US" sz="2600" dirty="0"/>
          </a:p>
        </p:txBody>
      </p:sp>
      <p:sp>
        <p:nvSpPr>
          <p:cNvPr id="4" name="Text 1"/>
          <p:cNvSpPr>
            <a:spLocks noGrp="1"/>
          </p:cNvSpPr>
          <p:nvPr>
            <p:ph type="body" idx="102" hasCustomPrompt="1"/>
          </p:nvPr>
        </p:nvSpPr>
        <p:spPr>
          <a:xfrm>
            <a:off x="822960" y="3794760"/>
            <a:ext cx="7498080" cy="365760"/>
          </a:xfrm>
          <a:prstGeom prst="rect">
            <a:avLst/>
          </a:prstGeom>
          <a:noFill/>
          <a:ln/>
        </p:spPr>
        <p:txBody>
          <a:bodyPr wrap="square" rtlCol="0"/>
          <a:lstStyle>
            <a:lvl1pPr marL="0" indent="0">
              <a:buNone/>
              <a:defRPr lang="en-US" sz="1300" dirty="0">
                <a:solidFill>
                  <a:schemeClr val="accent3"/>
                </a:solidFill>
              </a:defRPr>
            </a:lvl1pPr>
          </a:lstStyle>
          <a:p>
            <a:pPr marL="0" indent="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2  ·  Fondamenti e funzionamento dell'AI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41.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21.png"/><Relationship Id="rId7"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49.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7.png"/><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59.png"/><Relationship Id="rId4" Type="http://schemas.openxmlformats.org/officeDocument/2006/relationships/image" Target="../media/image48.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61.png"/><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png"/><Relationship Id="rId4" Type="http://schemas.openxmlformats.org/officeDocument/2006/relationships/image" Target="../media/image21.png"/></Relationships>
</file>

<file path=ppt/slides/_rels/slide6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1.png"/><Relationship Id="rId7" Type="http://schemas.openxmlformats.org/officeDocument/2006/relationships/image" Target="../media/image54.png"/><Relationship Id="rId2" Type="http://schemas.openxmlformats.org/officeDocument/2006/relationships/notesSlide" Target="../notesSlides/notesSlide62.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26.png"/><Relationship Id="rId4" Type="http://schemas.openxmlformats.org/officeDocument/2006/relationships/image" Target="../media/image6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5.png"/><Relationship Id="rId2" Type="http://schemas.openxmlformats.org/officeDocument/2006/relationships/notesSlide" Target="../notesSlides/notesSlide66.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50.png"/><Relationship Id="rId4" Type="http://schemas.openxmlformats.org/officeDocument/2006/relationships/image" Target="../media/image9.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4.png"/><Relationship Id="rId7" Type="http://schemas.openxmlformats.org/officeDocument/2006/relationships/image" Target="../media/image64.png"/><Relationship Id="rId2" Type="http://schemas.openxmlformats.org/officeDocument/2006/relationships/notesSlide" Target="../notesSlides/notesSlide70.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21.png"/><Relationship Id="rId4" Type="http://schemas.openxmlformats.org/officeDocument/2006/relationships/image" Target="../media/image26.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it-IT" sz="1300" b="1" kern="0" spc="200" noProof="0" dirty="0">
                <a:solidFill>
                  <a:schemeClr val="accent1"/>
                </a:solidFill>
              </a:rPr>
              <a:t>PERCORSO AI LITERACY  ·  TEMA 2</a:t>
            </a:r>
            <a:endParaRPr lang="it-IT" sz="1300" noProof="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it-IT" sz="3600" b="1" noProof="0" dirty="0">
                <a:solidFill>
                  <a:schemeClr val="bg1"/>
                </a:solidFill>
              </a:rPr>
              <a:t>Fondamenti e funzionamento dell'Intelligenza Artificiale</a:t>
            </a:r>
            <a:endParaRPr lang="it-IT" sz="3600" noProof="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it-IT" sz="1600" noProof="0" dirty="0">
                <a:solidFill>
                  <a:schemeClr val="accent3"/>
                </a:solidFill>
              </a:rPr>
              <a:t>Area: Comprendere l'AI</a:t>
            </a:r>
            <a:endParaRPr lang="it-IT" sz="1600" noProof="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marL="0" indent="0">
              <a:buNone/>
            </a:pPr>
            <a:r>
              <a:rPr lang="it-IT" sz="1100" noProof="0" dirty="0">
                <a:solidFill>
                  <a:schemeClr val="accent2"/>
                </a:solidFill>
              </a:rPr>
              <a:t>Contenuti aggiornati a ottobre 2026</a:t>
            </a:r>
            <a:endParaRPr lang="it-IT" sz="11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Obiettivo del modulo</a:t>
            </a:r>
            <a:endParaRPr lang="it-IT" sz="2600" noProof="0" dirty="0"/>
          </a:p>
        </p:txBody>
      </p:sp>
      <p:sp>
        <p:nvSpPr>
          <p:cNvPr id="4" name="scheda Che cosa vogliamo comprendere"/>
          <p:cNvSpPr/>
          <p:nvPr/>
        </p:nvSpPr>
        <p:spPr>
          <a:xfrm>
            <a:off x="457200" y="1097280"/>
            <a:ext cx="3977640" cy="3429000"/>
          </a:xfrm>
          <a:prstGeom prst="roundRect">
            <a:avLst>
              <a:gd name="adj" fmla="val 2133"/>
            </a:avLst>
          </a:prstGeom>
          <a:solidFill>
            <a:schemeClr val="bg2"/>
          </a:solidFill>
          <a:ln/>
        </p:spPr>
        <p:txBody>
          <a:bodyPr/>
          <a:lstStyle/>
          <a:p>
            <a:endParaRPr lang="it-IT" noProof="0" dirty="0"/>
          </a:p>
        </p:txBody>
      </p:sp>
      <p:sp>
        <p:nvSpPr>
          <p:cNvPr id="5" name="cerchio FiTarget"/>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Targe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Che cosa vogliamo comprendere</a:t>
            </a:r>
            <a:endParaRPr lang="it-IT" sz="1600" noProof="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400"/>
              </a:spcAft>
              <a:buSzPct val="100000"/>
              <a:buChar char="•"/>
            </a:pPr>
            <a:r>
              <a:rPr lang="it-IT" sz="1400" noProof="0" dirty="0">
                <a:solidFill>
                  <a:schemeClr val="tx2"/>
                </a:solidFill>
              </a:rPr>
              <a:t>Le principali famiglie di sistemi AI</a:t>
            </a:r>
            <a:endParaRPr lang="it-IT" sz="1400" noProof="0" dirty="0"/>
          </a:p>
          <a:p>
            <a:pPr marL="177800" indent="-177800">
              <a:spcAft>
                <a:spcPts val="400"/>
              </a:spcAft>
              <a:buSzPct val="100000"/>
              <a:buChar char="•"/>
            </a:pPr>
            <a:r>
              <a:rPr lang="it-IT" sz="1400" noProof="0" dirty="0">
                <a:solidFill>
                  <a:schemeClr val="tx2"/>
                </a:solidFill>
              </a:rPr>
              <a:t>Come apprendono dai dati e generano risultati</a:t>
            </a:r>
            <a:endParaRPr lang="it-IT" sz="1400" noProof="0" dirty="0"/>
          </a:p>
          <a:p>
            <a:pPr marL="177800" indent="-177800">
              <a:spcAft>
                <a:spcPts val="400"/>
              </a:spcAft>
              <a:buSzPct val="100000"/>
              <a:buChar char="•"/>
            </a:pPr>
            <a:r>
              <a:rPr lang="it-IT" sz="1400" noProof="0" dirty="0">
                <a:solidFill>
                  <a:schemeClr val="tx2"/>
                </a:solidFill>
              </a:rPr>
              <a:t>Come funziona un'interazione</a:t>
            </a:r>
            <a:endParaRPr lang="it-IT" sz="1400" noProof="0" dirty="0"/>
          </a:p>
          <a:p>
            <a:pPr marL="177800" indent="-177800">
              <a:spcAft>
                <a:spcPts val="400"/>
              </a:spcAft>
              <a:buSzPct val="100000"/>
              <a:buChar char="•"/>
            </a:pPr>
            <a:r>
              <a:rPr lang="it-IT" sz="1400" noProof="0" dirty="0">
                <a:solidFill>
                  <a:schemeClr val="tx2"/>
                </a:solidFill>
              </a:rPr>
              <a:t>Da quali fonti arrivano le informazioni</a:t>
            </a:r>
            <a:endParaRPr lang="it-IT" sz="1400" noProof="0" dirty="0"/>
          </a:p>
        </p:txBody>
      </p:sp>
      <p:sp>
        <p:nvSpPr>
          <p:cNvPr id="9" name="scheda Quale consapevolezza sviluppare"/>
          <p:cNvSpPr/>
          <p:nvPr/>
        </p:nvSpPr>
        <p:spPr>
          <a:xfrm>
            <a:off x="4709160" y="1097280"/>
            <a:ext cx="3977640" cy="3429000"/>
          </a:xfrm>
          <a:prstGeom prst="roundRect">
            <a:avLst>
              <a:gd name="adj" fmla="val 2133"/>
            </a:avLst>
          </a:prstGeom>
          <a:solidFill>
            <a:schemeClr val="accent6"/>
          </a:solidFill>
          <a:ln/>
        </p:spPr>
        <p:txBody>
          <a:bodyPr/>
          <a:lstStyle/>
          <a:p>
            <a:endParaRPr lang="it-IT" noProof="0" dirty="0"/>
          </a:p>
        </p:txBody>
      </p:sp>
      <p:sp>
        <p:nvSpPr>
          <p:cNvPr id="10" name="cerchio FiCompass"/>
          <p:cNvSpPr/>
          <p:nvPr/>
        </p:nvSpPr>
        <p:spPr>
          <a:xfrm>
            <a:off x="4892040" y="1280160"/>
            <a:ext cx="457200" cy="457200"/>
          </a:xfrm>
          <a:prstGeom prst="ellipse">
            <a:avLst/>
          </a:prstGeom>
          <a:solidFill>
            <a:schemeClr val="accent1"/>
          </a:solidFill>
          <a:ln/>
        </p:spPr>
        <p:txBody>
          <a:bodyPr/>
          <a:lstStyle/>
          <a:p>
            <a:endParaRPr lang="it-IT" noProof="0" dirty="0"/>
          </a:p>
        </p:txBody>
      </p:sp>
      <p:pic>
        <p:nvPicPr>
          <p:cNvPr id="11" name="Image 1" descr="FiCompas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Quale consapevolezza sviluppare</a:t>
            </a:r>
            <a:endParaRPr lang="it-IT" sz="1600" noProof="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buNone/>
            </a:pPr>
            <a:r>
              <a:rPr lang="it-IT" sz="1400" noProof="0" dirty="0">
                <a:solidFill>
                  <a:schemeClr val="tx2"/>
                </a:solidFill>
              </a:rPr>
              <a:t>I sistemi di Intelligenza Artificiale utilizzano approcci differenti per apprendere dai dati, elaborare informazioni e produrre risultati.</a:t>
            </a:r>
          </a:p>
          <a:p>
            <a:pPr marL="0" indent="0">
              <a:buNone/>
            </a:pPr>
            <a:endParaRPr lang="it-IT" sz="1400" noProof="0" dirty="0">
              <a:solidFill>
                <a:schemeClr val="tx2"/>
              </a:solidFill>
            </a:endParaRPr>
          </a:p>
          <a:p>
            <a:pPr marL="0" indent="0">
              <a:buNone/>
            </a:pPr>
            <a:r>
              <a:rPr lang="it-IT" sz="1400" noProof="0" dirty="0">
                <a:solidFill>
                  <a:schemeClr val="tx2"/>
                </a:solidFill>
              </a:rPr>
              <a:t> Comprendere come funzionano permette di sfruttarne meglio le capacità, scegliere gli strumenti appropriati e valutarne i risultati.</a:t>
            </a:r>
            <a:endParaRPr lang="it-IT" sz="14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a:t>
            </a:fld>
            <a:endParaRPr lang="it-IT"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Otto domande guida per questo modulo</a:t>
            </a:r>
            <a:endParaRPr lang="it-IT" sz="2600" noProof="0" dirty="0"/>
          </a:p>
        </p:txBody>
      </p:sp>
      <p:sp>
        <p:nvSpPr>
          <p:cNvPr id="4" name="domanda 1"/>
          <p:cNvSpPr/>
          <p:nvPr/>
        </p:nvSpPr>
        <p:spPr>
          <a:xfrm>
            <a:off x="457200" y="1097280"/>
            <a:ext cx="1965960" cy="1600200"/>
          </a:xfrm>
          <a:prstGeom prst="roundRect">
            <a:avLst>
              <a:gd name="adj" fmla="val 4571"/>
            </a:avLst>
          </a:prstGeom>
          <a:solidFill>
            <a:schemeClr val="bg2"/>
          </a:solidFill>
          <a:ln/>
        </p:spPr>
        <p:txBody>
          <a:bodyPr/>
          <a:lstStyle/>
          <a:p>
            <a:endParaRPr lang="it-IT" noProof="0" dirty="0"/>
          </a:p>
        </p:txBody>
      </p:sp>
      <p:sp>
        <p:nvSpPr>
          <p:cNvPr id="5" name="Text 2"/>
          <p:cNvSpPr txBox="1"/>
          <p:nvPr/>
        </p:nvSpPr>
        <p:spPr>
          <a:xfrm>
            <a:off x="621792" y="1207008"/>
            <a:ext cx="457200" cy="411480"/>
          </a:xfrm>
          <a:prstGeom prst="rect">
            <a:avLst/>
          </a:prstGeom>
          <a:noFill/>
          <a:ln/>
        </p:spPr>
        <p:txBody>
          <a:bodyPr wrap="square" lIns="0" tIns="0" rIns="0" bIns="0" rtlCol="0" anchor="t"/>
          <a:lstStyle/>
          <a:p>
            <a:pPr marL="0" indent="0">
              <a:buNone/>
            </a:pPr>
            <a:r>
              <a:rPr lang="it-IT" sz="2200" b="1" noProof="0" dirty="0">
                <a:solidFill>
                  <a:schemeClr val="accent1"/>
                </a:solidFill>
              </a:rPr>
              <a:t>1</a:t>
            </a:r>
            <a:endParaRPr lang="it-IT" sz="2200" noProof="0" dirty="0"/>
          </a:p>
        </p:txBody>
      </p:sp>
      <p:sp>
        <p:nvSpPr>
          <p:cNvPr id="6" name="Text 3"/>
          <p:cNvSpPr txBox="1"/>
          <p:nvPr/>
        </p:nvSpPr>
        <p:spPr>
          <a:xfrm>
            <a:off x="621792" y="1645920"/>
            <a:ext cx="1691640" cy="1005840"/>
          </a:xfrm>
          <a:prstGeom prst="rect">
            <a:avLst/>
          </a:prstGeom>
          <a:noFill/>
          <a:ln/>
        </p:spPr>
        <p:txBody>
          <a:bodyPr wrap="square" lIns="0" tIns="0" rIns="0" bIns="0" rtlCol="0" anchor="t"/>
          <a:lstStyle/>
          <a:p>
            <a:pPr marL="0" indent="0">
              <a:buNone/>
            </a:pPr>
            <a:r>
              <a:rPr lang="it-IT" sz="1300" noProof="0" dirty="0">
                <a:solidFill>
                  <a:schemeClr val="tx1"/>
                </a:solidFill>
              </a:rPr>
              <a:t>Che cosa intendiamo per Intelligenza Artificiale?</a:t>
            </a:r>
            <a:endParaRPr lang="it-IT" sz="1300" noProof="0" dirty="0"/>
          </a:p>
        </p:txBody>
      </p:sp>
      <p:sp>
        <p:nvSpPr>
          <p:cNvPr id="7" name="domanda 2"/>
          <p:cNvSpPr/>
          <p:nvPr/>
        </p:nvSpPr>
        <p:spPr>
          <a:xfrm>
            <a:off x="2560320" y="1097280"/>
            <a:ext cx="1965960" cy="1600200"/>
          </a:xfrm>
          <a:prstGeom prst="roundRect">
            <a:avLst>
              <a:gd name="adj" fmla="val 4571"/>
            </a:avLst>
          </a:prstGeom>
          <a:solidFill>
            <a:schemeClr val="bg2"/>
          </a:solidFill>
          <a:ln/>
        </p:spPr>
        <p:txBody>
          <a:bodyPr/>
          <a:lstStyle/>
          <a:p>
            <a:endParaRPr lang="it-IT" noProof="0" dirty="0"/>
          </a:p>
        </p:txBody>
      </p:sp>
      <p:sp>
        <p:nvSpPr>
          <p:cNvPr id="8" name="Text 5"/>
          <p:cNvSpPr txBox="1"/>
          <p:nvPr/>
        </p:nvSpPr>
        <p:spPr>
          <a:xfrm>
            <a:off x="2724912" y="1207008"/>
            <a:ext cx="457200" cy="411480"/>
          </a:xfrm>
          <a:prstGeom prst="rect">
            <a:avLst/>
          </a:prstGeom>
          <a:noFill/>
          <a:ln/>
        </p:spPr>
        <p:txBody>
          <a:bodyPr wrap="square" lIns="0" tIns="0" rIns="0" bIns="0" rtlCol="0" anchor="t"/>
          <a:lstStyle/>
          <a:p>
            <a:pPr marL="0" indent="0">
              <a:buNone/>
            </a:pPr>
            <a:r>
              <a:rPr lang="it-IT" sz="2200" b="1" noProof="0" dirty="0">
                <a:solidFill>
                  <a:schemeClr val="accent1"/>
                </a:solidFill>
              </a:rPr>
              <a:t>2</a:t>
            </a:r>
            <a:endParaRPr lang="it-IT" sz="2200" noProof="0" dirty="0"/>
          </a:p>
        </p:txBody>
      </p:sp>
      <p:sp>
        <p:nvSpPr>
          <p:cNvPr id="9" name="Text 6"/>
          <p:cNvSpPr txBox="1"/>
          <p:nvPr/>
        </p:nvSpPr>
        <p:spPr>
          <a:xfrm>
            <a:off x="2724912" y="1645920"/>
            <a:ext cx="1691640" cy="1005840"/>
          </a:xfrm>
          <a:prstGeom prst="rect">
            <a:avLst/>
          </a:prstGeom>
          <a:noFill/>
          <a:ln/>
        </p:spPr>
        <p:txBody>
          <a:bodyPr wrap="square" lIns="0" tIns="0" rIns="0" bIns="0" rtlCol="0" anchor="t"/>
          <a:lstStyle/>
          <a:p>
            <a:pPr marL="0" indent="0">
              <a:buNone/>
            </a:pPr>
            <a:r>
              <a:rPr lang="it-IT" sz="1300" noProof="0" dirty="0">
                <a:solidFill>
                  <a:schemeClr val="tx1"/>
                </a:solidFill>
              </a:rPr>
              <a:t>Come si distinguono AI, ML, Deep Learning e AI generativa?</a:t>
            </a:r>
            <a:endParaRPr lang="it-IT" sz="1300" noProof="0" dirty="0"/>
          </a:p>
        </p:txBody>
      </p:sp>
      <p:sp>
        <p:nvSpPr>
          <p:cNvPr id="10" name="domanda 3"/>
          <p:cNvSpPr/>
          <p:nvPr/>
        </p:nvSpPr>
        <p:spPr>
          <a:xfrm>
            <a:off x="4663440" y="1097280"/>
            <a:ext cx="1965960" cy="1600200"/>
          </a:xfrm>
          <a:prstGeom prst="roundRect">
            <a:avLst>
              <a:gd name="adj" fmla="val 4571"/>
            </a:avLst>
          </a:prstGeom>
          <a:solidFill>
            <a:schemeClr val="bg2"/>
          </a:solidFill>
          <a:ln/>
        </p:spPr>
        <p:txBody>
          <a:bodyPr/>
          <a:lstStyle/>
          <a:p>
            <a:endParaRPr lang="it-IT" noProof="0" dirty="0"/>
          </a:p>
        </p:txBody>
      </p:sp>
      <p:sp>
        <p:nvSpPr>
          <p:cNvPr id="11" name="Text 8"/>
          <p:cNvSpPr txBox="1"/>
          <p:nvPr/>
        </p:nvSpPr>
        <p:spPr>
          <a:xfrm>
            <a:off x="4828032" y="1207008"/>
            <a:ext cx="457200" cy="411480"/>
          </a:xfrm>
          <a:prstGeom prst="rect">
            <a:avLst/>
          </a:prstGeom>
          <a:noFill/>
          <a:ln/>
        </p:spPr>
        <p:txBody>
          <a:bodyPr wrap="square" lIns="0" tIns="0" rIns="0" bIns="0" rtlCol="0" anchor="t"/>
          <a:lstStyle/>
          <a:p>
            <a:pPr marL="0" indent="0">
              <a:buNone/>
            </a:pPr>
            <a:r>
              <a:rPr lang="it-IT" sz="2200" b="1" noProof="0" dirty="0">
                <a:solidFill>
                  <a:schemeClr val="accent1"/>
                </a:solidFill>
              </a:rPr>
              <a:t>3</a:t>
            </a:r>
            <a:endParaRPr lang="it-IT" sz="2200" noProof="0" dirty="0"/>
          </a:p>
        </p:txBody>
      </p:sp>
      <p:sp>
        <p:nvSpPr>
          <p:cNvPr id="12" name="Text 9"/>
          <p:cNvSpPr txBox="1"/>
          <p:nvPr/>
        </p:nvSpPr>
        <p:spPr>
          <a:xfrm>
            <a:off x="4828032" y="1645920"/>
            <a:ext cx="1691640" cy="1005840"/>
          </a:xfrm>
          <a:prstGeom prst="rect">
            <a:avLst/>
          </a:prstGeom>
          <a:noFill/>
          <a:ln/>
        </p:spPr>
        <p:txBody>
          <a:bodyPr wrap="square" lIns="0" tIns="0" rIns="0" bIns="0" rtlCol="0" anchor="t"/>
          <a:lstStyle/>
          <a:p>
            <a:pPr marL="0" indent="0">
              <a:buNone/>
            </a:pPr>
            <a:r>
              <a:rPr lang="it-IT" sz="1300" noProof="0" dirty="0">
                <a:solidFill>
                  <a:schemeClr val="tx1"/>
                </a:solidFill>
              </a:rPr>
              <a:t>Che cos'è un modello AI e come viene addestrato?</a:t>
            </a:r>
            <a:endParaRPr lang="it-IT" sz="1300" noProof="0" dirty="0"/>
          </a:p>
        </p:txBody>
      </p:sp>
      <p:sp>
        <p:nvSpPr>
          <p:cNvPr id="13" name="domanda 4"/>
          <p:cNvSpPr/>
          <p:nvPr/>
        </p:nvSpPr>
        <p:spPr>
          <a:xfrm>
            <a:off x="6766560" y="1097280"/>
            <a:ext cx="1965960" cy="1600200"/>
          </a:xfrm>
          <a:prstGeom prst="roundRect">
            <a:avLst>
              <a:gd name="adj" fmla="val 4571"/>
            </a:avLst>
          </a:prstGeom>
          <a:solidFill>
            <a:schemeClr val="bg2"/>
          </a:solidFill>
          <a:ln/>
        </p:spPr>
        <p:txBody>
          <a:bodyPr/>
          <a:lstStyle/>
          <a:p>
            <a:endParaRPr lang="it-IT" noProof="0" dirty="0"/>
          </a:p>
        </p:txBody>
      </p:sp>
      <p:sp>
        <p:nvSpPr>
          <p:cNvPr id="14" name="Text 11"/>
          <p:cNvSpPr txBox="1"/>
          <p:nvPr/>
        </p:nvSpPr>
        <p:spPr>
          <a:xfrm>
            <a:off x="6931152" y="1207008"/>
            <a:ext cx="457200" cy="411480"/>
          </a:xfrm>
          <a:prstGeom prst="rect">
            <a:avLst/>
          </a:prstGeom>
          <a:noFill/>
          <a:ln/>
        </p:spPr>
        <p:txBody>
          <a:bodyPr wrap="square" lIns="0" tIns="0" rIns="0" bIns="0" rtlCol="0" anchor="t"/>
          <a:lstStyle/>
          <a:p>
            <a:pPr marL="0" indent="0">
              <a:buNone/>
            </a:pPr>
            <a:r>
              <a:rPr lang="it-IT" sz="2200" b="1" noProof="0" dirty="0">
                <a:solidFill>
                  <a:schemeClr val="accent1"/>
                </a:solidFill>
              </a:rPr>
              <a:t>4</a:t>
            </a:r>
            <a:endParaRPr lang="it-IT" sz="2200" noProof="0" dirty="0"/>
          </a:p>
        </p:txBody>
      </p:sp>
      <p:sp>
        <p:nvSpPr>
          <p:cNvPr id="15" name="Text 12"/>
          <p:cNvSpPr txBox="1"/>
          <p:nvPr/>
        </p:nvSpPr>
        <p:spPr>
          <a:xfrm>
            <a:off x="6931152" y="1645920"/>
            <a:ext cx="1691640" cy="1005840"/>
          </a:xfrm>
          <a:prstGeom prst="rect">
            <a:avLst/>
          </a:prstGeom>
          <a:noFill/>
          <a:ln/>
        </p:spPr>
        <p:txBody>
          <a:bodyPr wrap="square" lIns="0" tIns="0" rIns="0" bIns="0" rtlCol="0" anchor="t"/>
          <a:lstStyle/>
          <a:p>
            <a:pPr marL="0" indent="0">
              <a:buNone/>
            </a:pPr>
            <a:r>
              <a:rPr lang="it-IT" sz="1300" noProof="0" dirty="0">
                <a:solidFill>
                  <a:schemeClr val="tx1"/>
                </a:solidFill>
              </a:rPr>
              <a:t>Che cos'è un Large Language Model?</a:t>
            </a:r>
            <a:endParaRPr lang="it-IT" sz="1300" noProof="0" dirty="0"/>
          </a:p>
        </p:txBody>
      </p:sp>
      <p:sp>
        <p:nvSpPr>
          <p:cNvPr id="16" name="domanda 5"/>
          <p:cNvSpPr/>
          <p:nvPr/>
        </p:nvSpPr>
        <p:spPr>
          <a:xfrm>
            <a:off x="457200" y="2834640"/>
            <a:ext cx="1965960" cy="1600200"/>
          </a:xfrm>
          <a:prstGeom prst="roundRect">
            <a:avLst>
              <a:gd name="adj" fmla="val 4571"/>
            </a:avLst>
          </a:prstGeom>
          <a:solidFill>
            <a:schemeClr val="bg2"/>
          </a:solidFill>
          <a:ln/>
        </p:spPr>
        <p:txBody>
          <a:bodyPr/>
          <a:lstStyle/>
          <a:p>
            <a:endParaRPr lang="it-IT" noProof="0" dirty="0"/>
          </a:p>
        </p:txBody>
      </p:sp>
      <p:sp>
        <p:nvSpPr>
          <p:cNvPr id="17" name="Text 14"/>
          <p:cNvSpPr txBox="1"/>
          <p:nvPr/>
        </p:nvSpPr>
        <p:spPr>
          <a:xfrm>
            <a:off x="621792" y="2944368"/>
            <a:ext cx="457200" cy="411480"/>
          </a:xfrm>
          <a:prstGeom prst="rect">
            <a:avLst/>
          </a:prstGeom>
          <a:noFill/>
          <a:ln/>
        </p:spPr>
        <p:txBody>
          <a:bodyPr wrap="square" lIns="0" tIns="0" rIns="0" bIns="0" rtlCol="0" anchor="t"/>
          <a:lstStyle/>
          <a:p>
            <a:pPr marL="0" indent="0">
              <a:buNone/>
            </a:pPr>
            <a:r>
              <a:rPr lang="it-IT" sz="2200" b="1" noProof="0" dirty="0">
                <a:solidFill>
                  <a:schemeClr val="accent1"/>
                </a:solidFill>
              </a:rPr>
              <a:t>5</a:t>
            </a:r>
            <a:endParaRPr lang="it-IT" sz="2200" noProof="0" dirty="0"/>
          </a:p>
        </p:txBody>
      </p:sp>
      <p:sp>
        <p:nvSpPr>
          <p:cNvPr id="18" name="Text 15"/>
          <p:cNvSpPr txBox="1"/>
          <p:nvPr/>
        </p:nvSpPr>
        <p:spPr>
          <a:xfrm>
            <a:off x="621792" y="3383280"/>
            <a:ext cx="1691640" cy="1005840"/>
          </a:xfrm>
          <a:prstGeom prst="rect">
            <a:avLst/>
          </a:prstGeom>
          <a:noFill/>
          <a:ln/>
        </p:spPr>
        <p:txBody>
          <a:bodyPr wrap="square" lIns="0" tIns="0" rIns="0" bIns="0" rtlCol="0" anchor="t"/>
          <a:lstStyle/>
          <a:p>
            <a:pPr marL="0" indent="0">
              <a:buNone/>
            </a:pPr>
            <a:r>
              <a:rPr lang="it-IT" sz="1300" noProof="0" dirty="0">
                <a:solidFill>
                  <a:schemeClr val="tx1"/>
                </a:solidFill>
              </a:rPr>
              <a:t>Che cosa accade quando inviamo un prompt?</a:t>
            </a:r>
            <a:endParaRPr lang="it-IT" sz="1300" noProof="0" dirty="0"/>
          </a:p>
        </p:txBody>
      </p:sp>
      <p:sp>
        <p:nvSpPr>
          <p:cNvPr id="19" name="domanda 6"/>
          <p:cNvSpPr/>
          <p:nvPr/>
        </p:nvSpPr>
        <p:spPr>
          <a:xfrm>
            <a:off x="2560320" y="2834640"/>
            <a:ext cx="1965960" cy="1600200"/>
          </a:xfrm>
          <a:prstGeom prst="roundRect">
            <a:avLst>
              <a:gd name="adj" fmla="val 4571"/>
            </a:avLst>
          </a:prstGeom>
          <a:solidFill>
            <a:schemeClr val="bg2"/>
          </a:solidFill>
          <a:ln/>
        </p:spPr>
        <p:txBody>
          <a:bodyPr/>
          <a:lstStyle/>
          <a:p>
            <a:endParaRPr lang="it-IT" noProof="0" dirty="0"/>
          </a:p>
        </p:txBody>
      </p:sp>
      <p:sp>
        <p:nvSpPr>
          <p:cNvPr id="20" name="Text 17"/>
          <p:cNvSpPr txBox="1"/>
          <p:nvPr/>
        </p:nvSpPr>
        <p:spPr>
          <a:xfrm>
            <a:off x="2724912" y="2944368"/>
            <a:ext cx="457200" cy="411480"/>
          </a:xfrm>
          <a:prstGeom prst="rect">
            <a:avLst/>
          </a:prstGeom>
          <a:noFill/>
          <a:ln/>
        </p:spPr>
        <p:txBody>
          <a:bodyPr wrap="square" lIns="0" tIns="0" rIns="0" bIns="0" rtlCol="0" anchor="t"/>
          <a:lstStyle/>
          <a:p>
            <a:pPr marL="0" indent="0">
              <a:buNone/>
            </a:pPr>
            <a:r>
              <a:rPr lang="it-IT" sz="2200" b="1" noProof="0" dirty="0">
                <a:solidFill>
                  <a:schemeClr val="accent1"/>
                </a:solidFill>
              </a:rPr>
              <a:t>6</a:t>
            </a:r>
            <a:endParaRPr lang="it-IT" sz="2200" noProof="0" dirty="0"/>
          </a:p>
        </p:txBody>
      </p:sp>
      <p:sp>
        <p:nvSpPr>
          <p:cNvPr id="21" name="Text 18"/>
          <p:cNvSpPr txBox="1"/>
          <p:nvPr/>
        </p:nvSpPr>
        <p:spPr>
          <a:xfrm>
            <a:off x="2724912" y="3383280"/>
            <a:ext cx="1691640" cy="1005840"/>
          </a:xfrm>
          <a:prstGeom prst="rect">
            <a:avLst/>
          </a:prstGeom>
          <a:noFill/>
          <a:ln/>
        </p:spPr>
        <p:txBody>
          <a:bodyPr wrap="square" lIns="0" tIns="0" rIns="0" bIns="0" rtlCol="0" anchor="t"/>
          <a:lstStyle/>
          <a:p>
            <a:pPr marL="0" indent="0">
              <a:buNone/>
            </a:pPr>
            <a:r>
              <a:rPr lang="it-IT" sz="1300" noProof="0" dirty="0">
                <a:solidFill>
                  <a:schemeClr val="tx1"/>
                </a:solidFill>
              </a:rPr>
              <a:t>Da dove provengono le informazioni di una risposta?</a:t>
            </a:r>
            <a:endParaRPr lang="it-IT" sz="1300" noProof="0" dirty="0"/>
          </a:p>
        </p:txBody>
      </p:sp>
      <p:sp>
        <p:nvSpPr>
          <p:cNvPr id="22" name="domanda 7"/>
          <p:cNvSpPr/>
          <p:nvPr/>
        </p:nvSpPr>
        <p:spPr>
          <a:xfrm>
            <a:off x="4663440" y="2834640"/>
            <a:ext cx="1965960" cy="1600200"/>
          </a:xfrm>
          <a:prstGeom prst="roundRect">
            <a:avLst>
              <a:gd name="adj" fmla="val 4571"/>
            </a:avLst>
          </a:prstGeom>
          <a:solidFill>
            <a:schemeClr val="bg2"/>
          </a:solidFill>
          <a:ln/>
        </p:spPr>
        <p:txBody>
          <a:bodyPr/>
          <a:lstStyle/>
          <a:p>
            <a:endParaRPr lang="it-IT" noProof="0" dirty="0"/>
          </a:p>
        </p:txBody>
      </p:sp>
      <p:sp>
        <p:nvSpPr>
          <p:cNvPr id="23" name="Text 20"/>
          <p:cNvSpPr txBox="1"/>
          <p:nvPr/>
        </p:nvSpPr>
        <p:spPr>
          <a:xfrm>
            <a:off x="4828032" y="2944368"/>
            <a:ext cx="457200" cy="411480"/>
          </a:xfrm>
          <a:prstGeom prst="rect">
            <a:avLst/>
          </a:prstGeom>
          <a:noFill/>
          <a:ln/>
        </p:spPr>
        <p:txBody>
          <a:bodyPr wrap="square" lIns="0" tIns="0" rIns="0" bIns="0" rtlCol="0" anchor="t"/>
          <a:lstStyle/>
          <a:p>
            <a:pPr marL="0" indent="0">
              <a:buNone/>
            </a:pPr>
            <a:r>
              <a:rPr lang="it-IT" sz="2200" b="1" noProof="0" dirty="0">
                <a:solidFill>
                  <a:schemeClr val="accent1"/>
                </a:solidFill>
              </a:rPr>
              <a:t>7</a:t>
            </a:r>
            <a:endParaRPr lang="it-IT" sz="2200" noProof="0" dirty="0"/>
          </a:p>
        </p:txBody>
      </p:sp>
      <p:sp>
        <p:nvSpPr>
          <p:cNvPr id="24" name="Text 21"/>
          <p:cNvSpPr txBox="1"/>
          <p:nvPr/>
        </p:nvSpPr>
        <p:spPr>
          <a:xfrm>
            <a:off x="4828032" y="3383280"/>
            <a:ext cx="1691640" cy="1005840"/>
          </a:xfrm>
          <a:prstGeom prst="rect">
            <a:avLst/>
          </a:prstGeom>
          <a:noFill/>
          <a:ln/>
        </p:spPr>
        <p:txBody>
          <a:bodyPr wrap="square" lIns="0" tIns="0" rIns="0" bIns="0" rtlCol="0" anchor="t"/>
          <a:lstStyle/>
          <a:p>
            <a:pPr marL="0" indent="0">
              <a:buNone/>
            </a:pPr>
            <a:r>
              <a:rPr lang="it-IT" sz="1300" noProof="0" dirty="0">
                <a:solidFill>
                  <a:schemeClr val="tx1"/>
                </a:solidFill>
              </a:rPr>
              <a:t>Addestramento, contesto, memoria, recupero, fine-tuning: che differenza c'è?</a:t>
            </a:r>
            <a:endParaRPr lang="it-IT" sz="1300" noProof="0" dirty="0"/>
          </a:p>
        </p:txBody>
      </p:sp>
      <p:sp>
        <p:nvSpPr>
          <p:cNvPr id="25" name="domanda 8"/>
          <p:cNvSpPr/>
          <p:nvPr/>
        </p:nvSpPr>
        <p:spPr>
          <a:xfrm>
            <a:off x="6766560" y="2834640"/>
            <a:ext cx="1965960" cy="1600200"/>
          </a:xfrm>
          <a:prstGeom prst="roundRect">
            <a:avLst>
              <a:gd name="adj" fmla="val 4571"/>
            </a:avLst>
          </a:prstGeom>
          <a:solidFill>
            <a:schemeClr val="bg2"/>
          </a:solidFill>
          <a:ln/>
        </p:spPr>
        <p:txBody>
          <a:bodyPr/>
          <a:lstStyle/>
          <a:p>
            <a:endParaRPr lang="it-IT" noProof="0" dirty="0"/>
          </a:p>
        </p:txBody>
      </p:sp>
      <p:sp>
        <p:nvSpPr>
          <p:cNvPr id="26" name="Text 23"/>
          <p:cNvSpPr txBox="1"/>
          <p:nvPr/>
        </p:nvSpPr>
        <p:spPr>
          <a:xfrm>
            <a:off x="6931152" y="2944368"/>
            <a:ext cx="457200" cy="411480"/>
          </a:xfrm>
          <a:prstGeom prst="rect">
            <a:avLst/>
          </a:prstGeom>
          <a:noFill/>
          <a:ln/>
        </p:spPr>
        <p:txBody>
          <a:bodyPr wrap="square" lIns="0" tIns="0" rIns="0" bIns="0" rtlCol="0" anchor="t"/>
          <a:lstStyle/>
          <a:p>
            <a:pPr marL="0" indent="0">
              <a:buNone/>
            </a:pPr>
            <a:r>
              <a:rPr lang="it-IT" sz="2200" b="1" noProof="0" dirty="0">
                <a:solidFill>
                  <a:schemeClr val="accent1"/>
                </a:solidFill>
              </a:rPr>
              <a:t>8</a:t>
            </a:r>
            <a:endParaRPr lang="it-IT" sz="2200" noProof="0" dirty="0"/>
          </a:p>
        </p:txBody>
      </p:sp>
      <p:sp>
        <p:nvSpPr>
          <p:cNvPr id="27" name="Text 24"/>
          <p:cNvSpPr txBox="1"/>
          <p:nvPr/>
        </p:nvSpPr>
        <p:spPr>
          <a:xfrm>
            <a:off x="6931152" y="3383280"/>
            <a:ext cx="1691640" cy="1005840"/>
          </a:xfrm>
          <a:prstGeom prst="rect">
            <a:avLst/>
          </a:prstGeom>
          <a:noFill/>
          <a:ln/>
        </p:spPr>
        <p:txBody>
          <a:bodyPr wrap="square" lIns="0" tIns="0" rIns="0" bIns="0" rtlCol="0" anchor="t"/>
          <a:lstStyle/>
          <a:p>
            <a:pPr marL="0" indent="0">
              <a:buNone/>
            </a:pPr>
            <a:r>
              <a:rPr lang="it-IT" sz="1300" noProof="0" dirty="0">
                <a:solidFill>
                  <a:schemeClr val="tx1"/>
                </a:solidFill>
              </a:rPr>
              <a:t>Perché le risposte possono variare a parità di richiesta?</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a:t>
            </a:fld>
            <a:endParaRPr lang="it-IT"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filo conduttore</a:t>
            </a:r>
            <a:endParaRPr lang="it-IT" sz="2600" noProof="0" dirty="0"/>
          </a:p>
        </p:txBody>
      </p:sp>
      <p:sp>
        <p:nvSpPr>
          <p:cNvPr id="4" name="Modello"/>
          <p:cNvSpPr/>
          <p:nvPr/>
        </p:nvSpPr>
        <p:spPr>
          <a:xfrm>
            <a:off x="457200" y="1051560"/>
            <a:ext cx="1920240" cy="1965960"/>
          </a:xfrm>
          <a:prstGeom prst="roundRect">
            <a:avLst>
              <a:gd name="adj" fmla="val 3810"/>
            </a:avLst>
          </a:prstGeom>
          <a:solidFill>
            <a:schemeClr val="bg2"/>
          </a:solidFill>
          <a:ln/>
        </p:spPr>
        <p:txBody>
          <a:bodyPr/>
          <a:lstStyle/>
          <a:p>
            <a:endParaRPr lang="it-IT" noProof="0" dirty="0"/>
          </a:p>
        </p:txBody>
      </p:sp>
      <p:sp>
        <p:nvSpPr>
          <p:cNvPr id="5" name="cerchio FiCpu"/>
          <p:cNvSpPr/>
          <p:nvPr/>
        </p:nvSpPr>
        <p:spPr>
          <a:xfrm>
            <a:off x="1097280" y="1161288"/>
            <a:ext cx="640080" cy="640080"/>
          </a:xfrm>
          <a:prstGeom prst="ellipse">
            <a:avLst/>
          </a:prstGeom>
          <a:solidFill>
            <a:schemeClr val="accent1"/>
          </a:solidFill>
          <a:ln/>
        </p:spPr>
        <p:txBody>
          <a:bodyPr/>
          <a:lstStyle/>
          <a:p>
            <a:endParaRPr lang="it-IT" noProof="0" dirty="0"/>
          </a:p>
        </p:txBody>
      </p:sp>
      <p:pic>
        <p:nvPicPr>
          <p:cNvPr id="6" name="Image 0" descr="FiCpu"/>
          <p:cNvPicPr>
            <a:picLocks noChangeAspect="1"/>
          </p:cNvPicPr>
          <p:nvPr/>
        </p:nvPicPr>
        <p:blipFill>
          <a:blip r:embed="rId3"/>
          <a:stretch>
            <a:fillRect/>
          </a:stretch>
        </p:blipFill>
        <p:spPr>
          <a:xfrm>
            <a:off x="1257300" y="1321308"/>
            <a:ext cx="320040" cy="320040"/>
          </a:xfrm>
          <a:prstGeom prst="rect">
            <a:avLst/>
          </a:prstGeom>
        </p:spPr>
      </p:pic>
      <p:sp>
        <p:nvSpPr>
          <p:cNvPr id="7" name="Text 3"/>
          <p:cNvSpPr txBox="1"/>
          <p:nvPr/>
        </p:nvSpPr>
        <p:spPr>
          <a:xfrm>
            <a:off x="548640" y="1874520"/>
            <a:ext cx="173736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Modello</a:t>
            </a:r>
            <a:endParaRPr lang="it-IT" sz="1500" noProof="0" dirty="0"/>
          </a:p>
        </p:txBody>
      </p:sp>
      <p:sp>
        <p:nvSpPr>
          <p:cNvPr id="8" name="Text 4"/>
          <p:cNvSpPr txBox="1"/>
          <p:nvPr/>
        </p:nvSpPr>
        <p:spPr>
          <a:xfrm>
            <a:off x="548640" y="2221992"/>
            <a:ext cx="1737360" cy="457200"/>
          </a:xfrm>
          <a:prstGeom prst="rect">
            <a:avLst/>
          </a:prstGeom>
          <a:noFill/>
          <a:ln/>
        </p:spPr>
        <p:txBody>
          <a:bodyPr wrap="square" lIns="0" tIns="0" rIns="0" bIns="0" rtlCol="0" anchor="t"/>
          <a:lstStyle/>
          <a:p>
            <a:pPr marL="0" indent="0" algn="ctr">
              <a:buNone/>
            </a:pPr>
            <a:r>
              <a:rPr lang="it-IT" sz="1200" noProof="0" dirty="0">
                <a:solidFill>
                  <a:schemeClr val="tx2"/>
                </a:solidFill>
              </a:rPr>
              <a:t>Che tipo di sistema è e come genera</a:t>
            </a:r>
            <a:endParaRPr lang="it-IT" sz="1200" noProof="0" dirty="0"/>
          </a:p>
        </p:txBody>
      </p:sp>
      <p:sp>
        <p:nvSpPr>
          <p:cNvPr id="9" name="Text 5"/>
          <p:cNvSpPr txBox="1"/>
          <p:nvPr/>
        </p:nvSpPr>
        <p:spPr>
          <a:xfrm>
            <a:off x="548640" y="2697480"/>
            <a:ext cx="1737360" cy="274320"/>
          </a:xfrm>
          <a:prstGeom prst="rect">
            <a:avLst/>
          </a:prstGeom>
          <a:noFill/>
          <a:ln/>
        </p:spPr>
        <p:txBody>
          <a:bodyPr wrap="square" lIns="0" tIns="0" rIns="0" bIns="0" rtlCol="0" anchor="t"/>
          <a:lstStyle/>
          <a:p>
            <a:pPr marL="0" indent="0" algn="ctr">
              <a:buNone/>
            </a:pPr>
            <a:r>
              <a:rPr lang="it-IT" sz="1200" b="1" noProof="0" dirty="0">
                <a:solidFill>
                  <a:schemeClr val="accent1"/>
                </a:solidFill>
              </a:rPr>
              <a:t>2.1  2.2  2.4</a:t>
            </a:r>
            <a:endParaRPr lang="it-IT" sz="1200" noProof="0" dirty="0"/>
          </a:p>
        </p:txBody>
      </p:sp>
      <p:sp>
        <p:nvSpPr>
          <p:cNvPr id="10" name="Dati"/>
          <p:cNvSpPr/>
          <p:nvPr/>
        </p:nvSpPr>
        <p:spPr>
          <a:xfrm>
            <a:off x="2560320" y="1051560"/>
            <a:ext cx="1920240" cy="1965960"/>
          </a:xfrm>
          <a:prstGeom prst="roundRect">
            <a:avLst>
              <a:gd name="adj" fmla="val 3810"/>
            </a:avLst>
          </a:prstGeom>
          <a:solidFill>
            <a:schemeClr val="bg2"/>
          </a:solidFill>
          <a:ln/>
        </p:spPr>
        <p:txBody>
          <a:bodyPr/>
          <a:lstStyle/>
          <a:p>
            <a:endParaRPr lang="it-IT" noProof="0" dirty="0"/>
          </a:p>
        </p:txBody>
      </p:sp>
      <p:sp>
        <p:nvSpPr>
          <p:cNvPr id="11" name="cerchio FiDatabase"/>
          <p:cNvSpPr/>
          <p:nvPr/>
        </p:nvSpPr>
        <p:spPr>
          <a:xfrm>
            <a:off x="3200400" y="1161288"/>
            <a:ext cx="640080" cy="640080"/>
          </a:xfrm>
          <a:prstGeom prst="ellipse">
            <a:avLst/>
          </a:prstGeom>
          <a:solidFill>
            <a:schemeClr val="accent1"/>
          </a:solidFill>
          <a:ln/>
        </p:spPr>
        <p:txBody>
          <a:bodyPr/>
          <a:lstStyle/>
          <a:p>
            <a:endParaRPr lang="it-IT" noProof="0" dirty="0"/>
          </a:p>
        </p:txBody>
      </p:sp>
      <p:pic>
        <p:nvPicPr>
          <p:cNvPr id="12" name="Image 1" descr="FiDatabase"/>
          <p:cNvPicPr>
            <a:picLocks noChangeAspect="1"/>
          </p:cNvPicPr>
          <p:nvPr/>
        </p:nvPicPr>
        <p:blipFill>
          <a:blip r:embed="rId4"/>
          <a:stretch>
            <a:fillRect/>
          </a:stretch>
        </p:blipFill>
        <p:spPr>
          <a:xfrm>
            <a:off x="3360420" y="1321308"/>
            <a:ext cx="320040" cy="320040"/>
          </a:xfrm>
          <a:prstGeom prst="rect">
            <a:avLst/>
          </a:prstGeom>
        </p:spPr>
      </p:pic>
      <p:sp>
        <p:nvSpPr>
          <p:cNvPr id="13" name="Text 8"/>
          <p:cNvSpPr txBox="1"/>
          <p:nvPr/>
        </p:nvSpPr>
        <p:spPr>
          <a:xfrm>
            <a:off x="2651760" y="1874520"/>
            <a:ext cx="173736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Dati</a:t>
            </a:r>
            <a:endParaRPr lang="it-IT" sz="1500" noProof="0" dirty="0"/>
          </a:p>
        </p:txBody>
      </p:sp>
      <p:sp>
        <p:nvSpPr>
          <p:cNvPr id="14" name="Text 9"/>
          <p:cNvSpPr txBox="1"/>
          <p:nvPr/>
        </p:nvSpPr>
        <p:spPr>
          <a:xfrm>
            <a:off x="2651760" y="2221992"/>
            <a:ext cx="1737360" cy="457200"/>
          </a:xfrm>
          <a:prstGeom prst="rect">
            <a:avLst/>
          </a:prstGeom>
          <a:noFill/>
          <a:ln/>
        </p:spPr>
        <p:txBody>
          <a:bodyPr wrap="square" lIns="0" tIns="0" rIns="0" bIns="0" rtlCol="0" anchor="t"/>
          <a:lstStyle/>
          <a:p>
            <a:pPr marL="0" indent="0" algn="ctr">
              <a:buNone/>
            </a:pPr>
            <a:r>
              <a:rPr lang="it-IT" sz="1200" noProof="0" dirty="0">
                <a:solidFill>
                  <a:schemeClr val="tx2"/>
                </a:solidFill>
              </a:rPr>
              <a:t>Da che cosa ha appreso, che cosa consulta</a:t>
            </a:r>
            <a:endParaRPr lang="it-IT" sz="1200" noProof="0" dirty="0"/>
          </a:p>
        </p:txBody>
      </p:sp>
      <p:sp>
        <p:nvSpPr>
          <p:cNvPr id="15" name="Text 10"/>
          <p:cNvSpPr txBox="1"/>
          <p:nvPr/>
        </p:nvSpPr>
        <p:spPr>
          <a:xfrm>
            <a:off x="2651760" y="2697480"/>
            <a:ext cx="1737360" cy="274320"/>
          </a:xfrm>
          <a:prstGeom prst="rect">
            <a:avLst/>
          </a:prstGeom>
          <a:noFill/>
          <a:ln/>
        </p:spPr>
        <p:txBody>
          <a:bodyPr wrap="square" lIns="0" tIns="0" rIns="0" bIns="0" rtlCol="0" anchor="t"/>
          <a:lstStyle/>
          <a:p>
            <a:pPr marL="0" indent="0" algn="ctr">
              <a:buNone/>
            </a:pPr>
            <a:r>
              <a:rPr lang="it-IT" sz="1200" b="1" noProof="0" dirty="0">
                <a:solidFill>
                  <a:schemeClr val="accent1"/>
                </a:solidFill>
              </a:rPr>
              <a:t>2.3  2.6</a:t>
            </a:r>
            <a:endParaRPr lang="it-IT" sz="1200" noProof="0" dirty="0"/>
          </a:p>
        </p:txBody>
      </p:sp>
      <p:sp>
        <p:nvSpPr>
          <p:cNvPr id="16" name="Contesto"/>
          <p:cNvSpPr/>
          <p:nvPr/>
        </p:nvSpPr>
        <p:spPr>
          <a:xfrm>
            <a:off x="4663440" y="1051560"/>
            <a:ext cx="1920240" cy="1965960"/>
          </a:xfrm>
          <a:prstGeom prst="roundRect">
            <a:avLst>
              <a:gd name="adj" fmla="val 3810"/>
            </a:avLst>
          </a:prstGeom>
          <a:solidFill>
            <a:schemeClr val="bg2"/>
          </a:solidFill>
          <a:ln/>
        </p:spPr>
        <p:txBody>
          <a:bodyPr/>
          <a:lstStyle/>
          <a:p>
            <a:endParaRPr lang="it-IT" noProof="0" dirty="0"/>
          </a:p>
        </p:txBody>
      </p:sp>
      <p:sp>
        <p:nvSpPr>
          <p:cNvPr id="17" name="cerchio FiLayers"/>
          <p:cNvSpPr/>
          <p:nvPr/>
        </p:nvSpPr>
        <p:spPr>
          <a:xfrm>
            <a:off x="5303520" y="1161288"/>
            <a:ext cx="640080" cy="640080"/>
          </a:xfrm>
          <a:prstGeom prst="ellipse">
            <a:avLst/>
          </a:prstGeom>
          <a:solidFill>
            <a:schemeClr val="accent1"/>
          </a:solidFill>
          <a:ln/>
        </p:spPr>
        <p:txBody>
          <a:bodyPr/>
          <a:lstStyle/>
          <a:p>
            <a:endParaRPr lang="it-IT" noProof="0" dirty="0"/>
          </a:p>
        </p:txBody>
      </p:sp>
      <p:pic>
        <p:nvPicPr>
          <p:cNvPr id="18" name="Image 2" descr="FiLayers"/>
          <p:cNvPicPr>
            <a:picLocks noChangeAspect="1"/>
          </p:cNvPicPr>
          <p:nvPr/>
        </p:nvPicPr>
        <p:blipFill>
          <a:blip r:embed="rId5"/>
          <a:stretch>
            <a:fillRect/>
          </a:stretch>
        </p:blipFill>
        <p:spPr>
          <a:xfrm>
            <a:off x="5463540" y="1321308"/>
            <a:ext cx="320040" cy="320040"/>
          </a:xfrm>
          <a:prstGeom prst="rect">
            <a:avLst/>
          </a:prstGeom>
        </p:spPr>
      </p:pic>
      <p:sp>
        <p:nvSpPr>
          <p:cNvPr id="19" name="Text 13"/>
          <p:cNvSpPr txBox="1"/>
          <p:nvPr/>
        </p:nvSpPr>
        <p:spPr>
          <a:xfrm>
            <a:off x="4754880" y="1874520"/>
            <a:ext cx="173736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Contesto</a:t>
            </a:r>
            <a:endParaRPr lang="it-IT" sz="1500" noProof="0" dirty="0"/>
          </a:p>
        </p:txBody>
      </p:sp>
      <p:sp>
        <p:nvSpPr>
          <p:cNvPr id="20" name="Text 14"/>
          <p:cNvSpPr txBox="1"/>
          <p:nvPr/>
        </p:nvSpPr>
        <p:spPr>
          <a:xfrm>
            <a:off x="4754880" y="2221992"/>
            <a:ext cx="1737360" cy="457200"/>
          </a:xfrm>
          <a:prstGeom prst="rect">
            <a:avLst/>
          </a:prstGeom>
          <a:noFill/>
          <a:ln/>
        </p:spPr>
        <p:txBody>
          <a:bodyPr wrap="square" lIns="0" tIns="0" rIns="0" bIns="0" rtlCol="0" anchor="t"/>
          <a:lstStyle/>
          <a:p>
            <a:pPr marL="0" indent="0" algn="ctr">
              <a:buNone/>
            </a:pPr>
            <a:r>
              <a:rPr lang="it-IT" sz="1200" noProof="0" dirty="0">
                <a:solidFill>
                  <a:schemeClr val="tx2"/>
                </a:solidFill>
              </a:rPr>
              <a:t>Ciò che riceve durante l'interazione</a:t>
            </a:r>
            <a:endParaRPr lang="it-IT" sz="1200" noProof="0" dirty="0"/>
          </a:p>
        </p:txBody>
      </p:sp>
      <p:sp>
        <p:nvSpPr>
          <p:cNvPr id="21" name="Text 15"/>
          <p:cNvSpPr txBox="1"/>
          <p:nvPr/>
        </p:nvSpPr>
        <p:spPr>
          <a:xfrm>
            <a:off x="4754880" y="2697480"/>
            <a:ext cx="1737360" cy="274320"/>
          </a:xfrm>
          <a:prstGeom prst="rect">
            <a:avLst/>
          </a:prstGeom>
          <a:noFill/>
          <a:ln/>
        </p:spPr>
        <p:txBody>
          <a:bodyPr wrap="square" lIns="0" tIns="0" rIns="0" bIns="0" rtlCol="0" anchor="t"/>
          <a:lstStyle/>
          <a:p>
            <a:pPr marL="0" indent="0" algn="ctr">
              <a:buNone/>
            </a:pPr>
            <a:r>
              <a:rPr lang="it-IT" sz="1200" b="1" noProof="0" dirty="0">
                <a:solidFill>
                  <a:schemeClr val="accent1"/>
                </a:solidFill>
              </a:rPr>
              <a:t>2.5  2.6</a:t>
            </a:r>
            <a:endParaRPr lang="it-IT" sz="1200" noProof="0" dirty="0"/>
          </a:p>
        </p:txBody>
      </p:sp>
      <p:sp>
        <p:nvSpPr>
          <p:cNvPr id="22" name="Modalità d'uso"/>
          <p:cNvSpPr/>
          <p:nvPr/>
        </p:nvSpPr>
        <p:spPr>
          <a:xfrm>
            <a:off x="6766560" y="1051560"/>
            <a:ext cx="1920240" cy="1965960"/>
          </a:xfrm>
          <a:prstGeom prst="roundRect">
            <a:avLst>
              <a:gd name="adj" fmla="val 3810"/>
            </a:avLst>
          </a:prstGeom>
          <a:solidFill>
            <a:schemeClr val="accent1"/>
          </a:solidFill>
          <a:ln/>
        </p:spPr>
        <p:txBody>
          <a:bodyPr/>
          <a:lstStyle/>
          <a:p>
            <a:endParaRPr lang="it-IT" noProof="0" dirty="0"/>
          </a:p>
        </p:txBody>
      </p:sp>
      <p:sp>
        <p:nvSpPr>
          <p:cNvPr id="23" name="cerchio FiSliders"/>
          <p:cNvSpPr/>
          <p:nvPr/>
        </p:nvSpPr>
        <p:spPr>
          <a:xfrm>
            <a:off x="7406640" y="1161288"/>
            <a:ext cx="640080" cy="640080"/>
          </a:xfrm>
          <a:prstGeom prst="ellipse">
            <a:avLst/>
          </a:prstGeom>
          <a:solidFill>
            <a:schemeClr val="bg1"/>
          </a:solidFill>
          <a:ln/>
        </p:spPr>
        <p:txBody>
          <a:bodyPr/>
          <a:lstStyle/>
          <a:p>
            <a:endParaRPr lang="it-IT" noProof="0" dirty="0"/>
          </a:p>
        </p:txBody>
      </p:sp>
      <p:pic>
        <p:nvPicPr>
          <p:cNvPr id="24" name="Image 3" descr="FiSliders"/>
          <p:cNvPicPr>
            <a:picLocks noChangeAspect="1"/>
          </p:cNvPicPr>
          <p:nvPr/>
        </p:nvPicPr>
        <p:blipFill>
          <a:blip r:embed="rId6"/>
          <a:stretch>
            <a:fillRect/>
          </a:stretch>
        </p:blipFill>
        <p:spPr>
          <a:xfrm>
            <a:off x="7566660" y="1321308"/>
            <a:ext cx="320040" cy="320040"/>
          </a:xfrm>
          <a:prstGeom prst="rect">
            <a:avLst/>
          </a:prstGeom>
        </p:spPr>
      </p:pic>
      <p:sp>
        <p:nvSpPr>
          <p:cNvPr id="25" name="Text 18"/>
          <p:cNvSpPr txBox="1"/>
          <p:nvPr/>
        </p:nvSpPr>
        <p:spPr>
          <a:xfrm>
            <a:off x="6858000" y="1874520"/>
            <a:ext cx="1737360" cy="347472"/>
          </a:xfrm>
          <a:prstGeom prst="rect">
            <a:avLst/>
          </a:prstGeom>
          <a:noFill/>
          <a:ln/>
        </p:spPr>
        <p:txBody>
          <a:bodyPr wrap="square" lIns="0" tIns="0" rIns="0" bIns="0" rtlCol="0" anchor="t"/>
          <a:lstStyle/>
          <a:p>
            <a:pPr marL="0" indent="0" algn="ctr">
              <a:buNone/>
            </a:pPr>
            <a:r>
              <a:rPr lang="it-IT" sz="1500" b="1" noProof="0" dirty="0">
                <a:solidFill>
                  <a:schemeClr val="bg1"/>
                </a:solidFill>
              </a:rPr>
              <a:t>Modalità d'uso</a:t>
            </a:r>
            <a:endParaRPr lang="it-IT" sz="1500" noProof="0" dirty="0"/>
          </a:p>
        </p:txBody>
      </p:sp>
      <p:sp>
        <p:nvSpPr>
          <p:cNvPr id="26" name="Text 19"/>
          <p:cNvSpPr txBox="1"/>
          <p:nvPr/>
        </p:nvSpPr>
        <p:spPr>
          <a:xfrm>
            <a:off x="6858000" y="2221992"/>
            <a:ext cx="1737360" cy="457200"/>
          </a:xfrm>
          <a:prstGeom prst="rect">
            <a:avLst/>
          </a:prstGeom>
          <a:noFill/>
          <a:ln/>
        </p:spPr>
        <p:txBody>
          <a:bodyPr wrap="square" lIns="0" tIns="0" rIns="0" bIns="0" rtlCol="0" anchor="t"/>
          <a:lstStyle/>
          <a:p>
            <a:pPr marL="0" indent="0" algn="ctr">
              <a:buNone/>
            </a:pPr>
            <a:r>
              <a:rPr lang="it-IT" sz="1200" noProof="0" dirty="0">
                <a:solidFill>
                  <a:schemeClr val="bg1"/>
                </a:solidFill>
              </a:rPr>
              <a:t>Applicazione, strumenti, uso</a:t>
            </a:r>
            <a:endParaRPr lang="it-IT" sz="1200" noProof="0" dirty="0"/>
          </a:p>
        </p:txBody>
      </p:sp>
      <p:sp>
        <p:nvSpPr>
          <p:cNvPr id="27" name="Text 20"/>
          <p:cNvSpPr txBox="1"/>
          <p:nvPr/>
        </p:nvSpPr>
        <p:spPr>
          <a:xfrm>
            <a:off x="6858000" y="2697480"/>
            <a:ext cx="1737360" cy="274320"/>
          </a:xfrm>
          <a:prstGeom prst="rect">
            <a:avLst/>
          </a:prstGeom>
          <a:noFill/>
          <a:ln/>
        </p:spPr>
        <p:txBody>
          <a:bodyPr wrap="square" lIns="0" tIns="0" rIns="0" bIns="0" rtlCol="0" anchor="t"/>
          <a:lstStyle/>
          <a:p>
            <a:pPr marL="0" indent="0" algn="ctr">
              <a:buNone/>
            </a:pPr>
            <a:r>
              <a:rPr lang="it-IT" sz="1200" b="1" noProof="0" dirty="0">
                <a:solidFill>
                  <a:schemeClr val="accent6"/>
                </a:solidFill>
              </a:rPr>
              <a:t>2.5  2.7</a:t>
            </a:r>
            <a:endParaRPr lang="it-IT" sz="1200" noProof="0" dirty="0"/>
          </a:p>
        </p:txBody>
      </p:sp>
      <p:sp>
        <p:nvSpPr>
          <p:cNvPr id="28" name="Text 21"/>
          <p:cNvSpPr txBox="1"/>
          <p:nvPr/>
        </p:nvSpPr>
        <p:spPr>
          <a:xfrm>
            <a:off x="457200" y="3154680"/>
            <a:ext cx="8229600" cy="301752"/>
          </a:xfrm>
          <a:prstGeom prst="rect">
            <a:avLst/>
          </a:prstGeom>
          <a:noFill/>
          <a:ln/>
        </p:spPr>
        <p:txBody>
          <a:bodyPr wrap="square" lIns="0" tIns="0" rIns="0" bIns="0" rtlCol="0" anchor="t"/>
          <a:lstStyle/>
          <a:p>
            <a:pPr marL="0" indent="0">
              <a:buNone/>
            </a:pPr>
            <a:r>
              <a:rPr lang="it-IT" sz="1300" b="1" noProof="0" dirty="0">
                <a:solidFill>
                  <a:schemeClr val="tx1"/>
                </a:solidFill>
              </a:rPr>
              <a:t>Tre distinzioni che tornano in tutto il modulo</a:t>
            </a:r>
            <a:endParaRPr lang="it-IT" sz="1300" noProof="0" dirty="0"/>
          </a:p>
        </p:txBody>
      </p:sp>
      <p:sp>
        <p:nvSpPr>
          <p:cNvPr id="29" name="blocco Addestramento e inferenza"/>
          <p:cNvSpPr/>
          <p:nvPr/>
        </p:nvSpPr>
        <p:spPr>
          <a:xfrm>
            <a:off x="457200" y="3520440"/>
            <a:ext cx="2615184" cy="868680"/>
          </a:xfrm>
          <a:prstGeom prst="roundRect">
            <a:avLst>
              <a:gd name="adj" fmla="val 12632"/>
            </a:avLst>
          </a:prstGeom>
          <a:solidFill>
            <a:schemeClr val="accent6"/>
          </a:solidFill>
          <a:ln/>
        </p:spPr>
        <p:txBody>
          <a:bodyPr/>
          <a:lstStyle/>
          <a:p>
            <a:endParaRPr lang="it-IT" noProof="0" dirty="0"/>
          </a:p>
        </p:txBody>
      </p:sp>
      <p:sp>
        <p:nvSpPr>
          <p:cNvPr id="30" name="Text 23"/>
          <p:cNvSpPr txBox="1"/>
          <p:nvPr/>
        </p:nvSpPr>
        <p:spPr>
          <a:xfrm>
            <a:off x="502920" y="3520440"/>
            <a:ext cx="2523744" cy="868680"/>
          </a:xfrm>
          <a:prstGeom prst="rect">
            <a:avLst/>
          </a:prstGeom>
          <a:noFill/>
          <a:ln/>
        </p:spPr>
        <p:txBody>
          <a:bodyPr wrap="square" lIns="0" tIns="0" rIns="0" bIns="0" rtlCol="0" anchor="ctr"/>
          <a:lstStyle/>
          <a:p>
            <a:pPr marL="0" indent="0" algn="ctr">
              <a:buNone/>
            </a:pPr>
            <a:r>
              <a:rPr lang="it-IT" sz="1400" b="1" noProof="0" dirty="0">
                <a:solidFill>
                  <a:schemeClr val="tx1"/>
                </a:solidFill>
              </a:rPr>
              <a:t>Addestramento e inferenza</a:t>
            </a:r>
            <a:endParaRPr lang="it-IT" sz="1400" noProof="0" dirty="0"/>
          </a:p>
        </p:txBody>
      </p:sp>
      <p:sp>
        <p:nvSpPr>
          <p:cNvPr id="31" name="blocco Modello e applicazione"/>
          <p:cNvSpPr/>
          <p:nvPr/>
        </p:nvSpPr>
        <p:spPr>
          <a:xfrm>
            <a:off x="3264408" y="3520440"/>
            <a:ext cx="2615184" cy="868680"/>
          </a:xfrm>
          <a:prstGeom prst="roundRect">
            <a:avLst>
              <a:gd name="adj" fmla="val 12632"/>
            </a:avLst>
          </a:prstGeom>
          <a:solidFill>
            <a:schemeClr val="accent6"/>
          </a:solidFill>
          <a:ln/>
        </p:spPr>
        <p:txBody>
          <a:bodyPr/>
          <a:lstStyle/>
          <a:p>
            <a:endParaRPr lang="it-IT" noProof="0" dirty="0"/>
          </a:p>
        </p:txBody>
      </p:sp>
      <p:sp>
        <p:nvSpPr>
          <p:cNvPr id="32" name="Text 25"/>
          <p:cNvSpPr txBox="1"/>
          <p:nvPr/>
        </p:nvSpPr>
        <p:spPr>
          <a:xfrm>
            <a:off x="3310128" y="3520440"/>
            <a:ext cx="2523744" cy="868680"/>
          </a:xfrm>
          <a:prstGeom prst="rect">
            <a:avLst/>
          </a:prstGeom>
          <a:noFill/>
          <a:ln/>
        </p:spPr>
        <p:txBody>
          <a:bodyPr wrap="square" lIns="0" tIns="0" rIns="0" bIns="0" rtlCol="0" anchor="ctr"/>
          <a:lstStyle/>
          <a:p>
            <a:pPr marL="0" indent="0" algn="ctr">
              <a:buNone/>
            </a:pPr>
            <a:r>
              <a:rPr lang="it-IT" sz="1400" b="1" noProof="0" dirty="0">
                <a:solidFill>
                  <a:schemeClr val="tx1"/>
                </a:solidFill>
              </a:rPr>
              <a:t>Modello e applicazione</a:t>
            </a:r>
            <a:endParaRPr lang="it-IT" sz="1400" noProof="0" dirty="0"/>
          </a:p>
        </p:txBody>
      </p:sp>
      <p:sp>
        <p:nvSpPr>
          <p:cNvPr id="33" name="blocco Variabilità e correttezza"/>
          <p:cNvSpPr/>
          <p:nvPr/>
        </p:nvSpPr>
        <p:spPr>
          <a:xfrm>
            <a:off x="6071616" y="3520440"/>
            <a:ext cx="2615184" cy="868680"/>
          </a:xfrm>
          <a:prstGeom prst="roundRect">
            <a:avLst>
              <a:gd name="adj" fmla="val 12632"/>
            </a:avLst>
          </a:prstGeom>
          <a:solidFill>
            <a:schemeClr val="accent6"/>
          </a:solidFill>
          <a:ln/>
        </p:spPr>
        <p:txBody>
          <a:bodyPr/>
          <a:lstStyle/>
          <a:p>
            <a:endParaRPr lang="it-IT" noProof="0" dirty="0"/>
          </a:p>
        </p:txBody>
      </p:sp>
      <p:sp>
        <p:nvSpPr>
          <p:cNvPr id="34" name="Text 27"/>
          <p:cNvSpPr txBox="1"/>
          <p:nvPr/>
        </p:nvSpPr>
        <p:spPr>
          <a:xfrm>
            <a:off x="6117336" y="3520440"/>
            <a:ext cx="2523744" cy="868680"/>
          </a:xfrm>
          <a:prstGeom prst="rect">
            <a:avLst/>
          </a:prstGeom>
          <a:noFill/>
          <a:ln/>
        </p:spPr>
        <p:txBody>
          <a:bodyPr wrap="square" lIns="0" tIns="0" rIns="0" bIns="0" rtlCol="0" anchor="ctr"/>
          <a:lstStyle/>
          <a:p>
            <a:pPr marL="0" indent="0" algn="ctr">
              <a:buNone/>
            </a:pPr>
            <a:r>
              <a:rPr lang="it-IT" sz="1400" b="1" noProof="0" dirty="0">
                <a:solidFill>
                  <a:schemeClr val="tx1"/>
                </a:solidFill>
              </a:rPr>
              <a:t>Variabilità e correttezza</a:t>
            </a:r>
            <a:endParaRPr lang="it-IT" sz="14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a:t>
            </a:fld>
            <a:endParaRPr lang="it-IT"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percorso del modulo</a:t>
            </a:r>
            <a:endParaRPr lang="it-IT" sz="2600" noProof="0" dirty="0"/>
          </a:p>
        </p:txBody>
      </p:sp>
      <p:sp>
        <p:nvSpPr>
          <p:cNvPr id="4" name="riga 2.1"/>
          <p:cNvSpPr/>
          <p:nvPr/>
        </p:nvSpPr>
        <p:spPr>
          <a:xfrm>
            <a:off x="457200" y="1051560"/>
            <a:ext cx="4754880" cy="384048"/>
          </a:xfrm>
          <a:prstGeom prst="roundRect">
            <a:avLst>
              <a:gd name="adj" fmla="val 19048"/>
            </a:avLst>
          </a:prstGeom>
          <a:solidFill>
            <a:schemeClr val="bg2"/>
          </a:solidFill>
          <a:ln/>
        </p:spPr>
        <p:txBody>
          <a:bodyPr/>
          <a:lstStyle/>
          <a:p>
            <a:endParaRPr lang="it-IT" noProof="0" dirty="0"/>
          </a:p>
        </p:txBody>
      </p:sp>
      <p:sp>
        <p:nvSpPr>
          <p:cNvPr id="5" name="Text 2"/>
          <p:cNvSpPr txBox="1"/>
          <p:nvPr/>
        </p:nvSpPr>
        <p:spPr>
          <a:xfrm>
            <a:off x="594360" y="1051560"/>
            <a:ext cx="548640" cy="384048"/>
          </a:xfrm>
          <a:prstGeom prst="rect">
            <a:avLst/>
          </a:prstGeom>
          <a:noFill/>
          <a:ln/>
        </p:spPr>
        <p:txBody>
          <a:bodyPr wrap="square" lIns="0" tIns="0" rIns="0" bIns="0" rtlCol="0" anchor="ctr"/>
          <a:lstStyle/>
          <a:p>
            <a:pPr marL="0" indent="0">
              <a:buNone/>
            </a:pPr>
            <a:r>
              <a:rPr lang="it-IT" sz="1400" b="1" noProof="0" dirty="0">
                <a:solidFill>
                  <a:schemeClr val="accent1"/>
                </a:solidFill>
              </a:rPr>
              <a:t>2.1</a:t>
            </a:r>
            <a:endParaRPr lang="it-IT" sz="1400" noProof="0" dirty="0"/>
          </a:p>
        </p:txBody>
      </p:sp>
      <p:sp>
        <p:nvSpPr>
          <p:cNvPr id="6" name="Text 3"/>
          <p:cNvSpPr txBox="1"/>
          <p:nvPr/>
        </p:nvSpPr>
        <p:spPr>
          <a:xfrm>
            <a:off x="1188720" y="1051560"/>
            <a:ext cx="3931920" cy="384048"/>
          </a:xfrm>
          <a:prstGeom prst="rect">
            <a:avLst/>
          </a:prstGeom>
          <a:noFill/>
          <a:ln/>
        </p:spPr>
        <p:txBody>
          <a:bodyPr wrap="square" lIns="0" tIns="0" rIns="0" bIns="0" rtlCol="0" anchor="ctr"/>
          <a:lstStyle/>
          <a:p>
            <a:pPr marL="0" indent="0">
              <a:buNone/>
            </a:pPr>
            <a:r>
              <a:rPr lang="it-IT" sz="1400" noProof="0" dirty="0">
                <a:solidFill>
                  <a:schemeClr val="tx1"/>
                </a:solidFill>
              </a:rPr>
              <a:t>Che cos'è l'Intelligenza Artificiale</a:t>
            </a:r>
            <a:endParaRPr lang="it-IT" sz="1400" noProof="0" dirty="0"/>
          </a:p>
        </p:txBody>
      </p:sp>
      <p:sp>
        <p:nvSpPr>
          <p:cNvPr id="7" name="riga 2.2"/>
          <p:cNvSpPr/>
          <p:nvPr/>
        </p:nvSpPr>
        <p:spPr>
          <a:xfrm>
            <a:off x="457200" y="1508760"/>
            <a:ext cx="4754880" cy="384048"/>
          </a:xfrm>
          <a:prstGeom prst="roundRect">
            <a:avLst>
              <a:gd name="adj" fmla="val 19048"/>
            </a:avLst>
          </a:prstGeom>
          <a:solidFill>
            <a:schemeClr val="bg1"/>
          </a:solidFill>
          <a:ln/>
        </p:spPr>
        <p:txBody>
          <a:bodyPr/>
          <a:lstStyle/>
          <a:p>
            <a:endParaRPr lang="it-IT" noProof="0" dirty="0"/>
          </a:p>
        </p:txBody>
      </p:sp>
      <p:sp>
        <p:nvSpPr>
          <p:cNvPr id="8" name="Text 5"/>
          <p:cNvSpPr txBox="1"/>
          <p:nvPr/>
        </p:nvSpPr>
        <p:spPr>
          <a:xfrm>
            <a:off x="594360" y="1508760"/>
            <a:ext cx="548640" cy="384048"/>
          </a:xfrm>
          <a:prstGeom prst="rect">
            <a:avLst/>
          </a:prstGeom>
          <a:noFill/>
          <a:ln/>
        </p:spPr>
        <p:txBody>
          <a:bodyPr wrap="square" lIns="0" tIns="0" rIns="0" bIns="0" rtlCol="0" anchor="ctr"/>
          <a:lstStyle/>
          <a:p>
            <a:pPr marL="0" indent="0">
              <a:buNone/>
            </a:pPr>
            <a:r>
              <a:rPr lang="it-IT" sz="1400" b="1" noProof="0" dirty="0">
                <a:solidFill>
                  <a:schemeClr val="accent1"/>
                </a:solidFill>
              </a:rPr>
              <a:t>2.2</a:t>
            </a:r>
            <a:endParaRPr lang="it-IT" sz="1400" noProof="0" dirty="0"/>
          </a:p>
        </p:txBody>
      </p:sp>
      <p:sp>
        <p:nvSpPr>
          <p:cNvPr id="9" name="Text 6"/>
          <p:cNvSpPr txBox="1"/>
          <p:nvPr/>
        </p:nvSpPr>
        <p:spPr>
          <a:xfrm>
            <a:off x="1188720" y="1508760"/>
            <a:ext cx="3931920" cy="384048"/>
          </a:xfrm>
          <a:prstGeom prst="rect">
            <a:avLst/>
          </a:prstGeom>
          <a:noFill/>
          <a:ln/>
        </p:spPr>
        <p:txBody>
          <a:bodyPr wrap="square" lIns="0" tIns="0" rIns="0" bIns="0" rtlCol="0" anchor="ctr"/>
          <a:lstStyle/>
          <a:p>
            <a:pPr marL="0" indent="0">
              <a:buNone/>
            </a:pPr>
            <a:r>
              <a:rPr lang="it-IT" sz="1400" noProof="0" dirty="0">
                <a:solidFill>
                  <a:schemeClr val="tx1"/>
                </a:solidFill>
              </a:rPr>
              <a:t>Le principali categorie di AI</a:t>
            </a:r>
            <a:endParaRPr lang="it-IT" sz="1400" noProof="0" dirty="0"/>
          </a:p>
        </p:txBody>
      </p:sp>
      <p:sp>
        <p:nvSpPr>
          <p:cNvPr id="10" name="riga 2.3"/>
          <p:cNvSpPr/>
          <p:nvPr/>
        </p:nvSpPr>
        <p:spPr>
          <a:xfrm>
            <a:off x="457200" y="1965960"/>
            <a:ext cx="4754880" cy="384048"/>
          </a:xfrm>
          <a:prstGeom prst="roundRect">
            <a:avLst>
              <a:gd name="adj" fmla="val 19048"/>
            </a:avLst>
          </a:prstGeom>
          <a:solidFill>
            <a:schemeClr val="bg2"/>
          </a:solidFill>
          <a:ln/>
        </p:spPr>
        <p:txBody>
          <a:bodyPr/>
          <a:lstStyle/>
          <a:p>
            <a:endParaRPr lang="it-IT" noProof="0" dirty="0"/>
          </a:p>
        </p:txBody>
      </p:sp>
      <p:sp>
        <p:nvSpPr>
          <p:cNvPr id="11" name="Text 8"/>
          <p:cNvSpPr txBox="1"/>
          <p:nvPr/>
        </p:nvSpPr>
        <p:spPr>
          <a:xfrm>
            <a:off x="594360" y="1965960"/>
            <a:ext cx="548640" cy="384048"/>
          </a:xfrm>
          <a:prstGeom prst="rect">
            <a:avLst/>
          </a:prstGeom>
          <a:noFill/>
          <a:ln/>
        </p:spPr>
        <p:txBody>
          <a:bodyPr wrap="square" lIns="0" tIns="0" rIns="0" bIns="0" rtlCol="0" anchor="ctr"/>
          <a:lstStyle/>
          <a:p>
            <a:pPr marL="0" indent="0">
              <a:buNone/>
            </a:pPr>
            <a:r>
              <a:rPr lang="it-IT" sz="1400" b="1" noProof="0" dirty="0">
                <a:solidFill>
                  <a:schemeClr val="accent1"/>
                </a:solidFill>
              </a:rPr>
              <a:t>2.3</a:t>
            </a:r>
            <a:endParaRPr lang="it-IT" sz="1400" noProof="0" dirty="0"/>
          </a:p>
        </p:txBody>
      </p:sp>
      <p:sp>
        <p:nvSpPr>
          <p:cNvPr id="12" name="Text 9"/>
          <p:cNvSpPr txBox="1"/>
          <p:nvPr/>
        </p:nvSpPr>
        <p:spPr>
          <a:xfrm>
            <a:off x="1188720" y="1965960"/>
            <a:ext cx="3931920" cy="384048"/>
          </a:xfrm>
          <a:prstGeom prst="rect">
            <a:avLst/>
          </a:prstGeom>
          <a:noFill/>
          <a:ln/>
        </p:spPr>
        <p:txBody>
          <a:bodyPr wrap="square" lIns="0" tIns="0" rIns="0" bIns="0" rtlCol="0" anchor="ctr"/>
          <a:lstStyle/>
          <a:p>
            <a:pPr marL="0" indent="0">
              <a:buNone/>
            </a:pPr>
            <a:r>
              <a:rPr lang="it-IT" sz="1400" noProof="0" dirty="0">
                <a:solidFill>
                  <a:schemeClr val="tx1"/>
                </a:solidFill>
              </a:rPr>
              <a:t>Come un sistema AI apprende dai dati</a:t>
            </a:r>
            <a:endParaRPr lang="it-IT" sz="1400" noProof="0" dirty="0"/>
          </a:p>
        </p:txBody>
      </p:sp>
      <p:sp>
        <p:nvSpPr>
          <p:cNvPr id="13" name="riga 2.4"/>
          <p:cNvSpPr/>
          <p:nvPr/>
        </p:nvSpPr>
        <p:spPr>
          <a:xfrm>
            <a:off x="457200" y="2423160"/>
            <a:ext cx="4754880" cy="384048"/>
          </a:xfrm>
          <a:prstGeom prst="roundRect">
            <a:avLst>
              <a:gd name="adj" fmla="val 19048"/>
            </a:avLst>
          </a:prstGeom>
          <a:solidFill>
            <a:schemeClr val="bg1"/>
          </a:solidFill>
          <a:ln/>
        </p:spPr>
        <p:txBody>
          <a:bodyPr/>
          <a:lstStyle/>
          <a:p>
            <a:endParaRPr lang="it-IT" noProof="0" dirty="0"/>
          </a:p>
        </p:txBody>
      </p:sp>
      <p:sp>
        <p:nvSpPr>
          <p:cNvPr id="14" name="Text 11"/>
          <p:cNvSpPr txBox="1"/>
          <p:nvPr/>
        </p:nvSpPr>
        <p:spPr>
          <a:xfrm>
            <a:off x="594360" y="2423160"/>
            <a:ext cx="548640" cy="384048"/>
          </a:xfrm>
          <a:prstGeom prst="rect">
            <a:avLst/>
          </a:prstGeom>
          <a:noFill/>
          <a:ln/>
        </p:spPr>
        <p:txBody>
          <a:bodyPr wrap="square" lIns="0" tIns="0" rIns="0" bIns="0" rtlCol="0" anchor="ctr"/>
          <a:lstStyle/>
          <a:p>
            <a:pPr marL="0" indent="0">
              <a:buNone/>
            </a:pPr>
            <a:r>
              <a:rPr lang="it-IT" sz="1400" b="1" noProof="0" dirty="0">
                <a:solidFill>
                  <a:schemeClr val="accent1"/>
                </a:solidFill>
              </a:rPr>
              <a:t>2.4</a:t>
            </a:r>
            <a:endParaRPr lang="it-IT" sz="1400" noProof="0" dirty="0"/>
          </a:p>
        </p:txBody>
      </p:sp>
      <p:sp>
        <p:nvSpPr>
          <p:cNvPr id="15" name="Text 12"/>
          <p:cNvSpPr txBox="1"/>
          <p:nvPr/>
        </p:nvSpPr>
        <p:spPr>
          <a:xfrm>
            <a:off x="1188720" y="2423160"/>
            <a:ext cx="3931920" cy="384048"/>
          </a:xfrm>
          <a:prstGeom prst="rect">
            <a:avLst/>
          </a:prstGeom>
          <a:noFill/>
          <a:ln/>
        </p:spPr>
        <p:txBody>
          <a:bodyPr wrap="square" lIns="0" tIns="0" rIns="0" bIns="0" rtlCol="0" anchor="ctr"/>
          <a:lstStyle/>
          <a:p>
            <a:pPr marL="0" indent="0">
              <a:buNone/>
            </a:pPr>
            <a:r>
              <a:rPr lang="it-IT" sz="1400" noProof="0" dirty="0">
                <a:solidFill>
                  <a:schemeClr val="tx1"/>
                </a:solidFill>
              </a:rPr>
              <a:t>Che cosa sono i Large Language Models</a:t>
            </a:r>
            <a:endParaRPr lang="it-IT" sz="1400" noProof="0" dirty="0"/>
          </a:p>
        </p:txBody>
      </p:sp>
      <p:sp>
        <p:nvSpPr>
          <p:cNvPr id="16" name="riga 2.5"/>
          <p:cNvSpPr/>
          <p:nvPr/>
        </p:nvSpPr>
        <p:spPr>
          <a:xfrm>
            <a:off x="457200" y="2880360"/>
            <a:ext cx="4754880" cy="384048"/>
          </a:xfrm>
          <a:prstGeom prst="roundRect">
            <a:avLst>
              <a:gd name="adj" fmla="val 19048"/>
            </a:avLst>
          </a:prstGeom>
          <a:solidFill>
            <a:schemeClr val="bg2"/>
          </a:solidFill>
          <a:ln/>
        </p:spPr>
        <p:txBody>
          <a:bodyPr/>
          <a:lstStyle/>
          <a:p>
            <a:endParaRPr lang="it-IT" noProof="0" dirty="0"/>
          </a:p>
        </p:txBody>
      </p:sp>
      <p:sp>
        <p:nvSpPr>
          <p:cNvPr id="17" name="Text 14"/>
          <p:cNvSpPr txBox="1"/>
          <p:nvPr/>
        </p:nvSpPr>
        <p:spPr>
          <a:xfrm>
            <a:off x="594360" y="2880360"/>
            <a:ext cx="548640" cy="384048"/>
          </a:xfrm>
          <a:prstGeom prst="rect">
            <a:avLst/>
          </a:prstGeom>
          <a:noFill/>
          <a:ln/>
        </p:spPr>
        <p:txBody>
          <a:bodyPr wrap="square" lIns="0" tIns="0" rIns="0" bIns="0" rtlCol="0" anchor="ctr"/>
          <a:lstStyle/>
          <a:p>
            <a:pPr marL="0" indent="0">
              <a:buNone/>
            </a:pPr>
            <a:r>
              <a:rPr lang="it-IT" sz="1400" b="1" noProof="0" dirty="0">
                <a:solidFill>
                  <a:schemeClr val="accent1"/>
                </a:solidFill>
              </a:rPr>
              <a:t>2.5</a:t>
            </a:r>
            <a:endParaRPr lang="it-IT" sz="1400" noProof="0" dirty="0"/>
          </a:p>
        </p:txBody>
      </p:sp>
      <p:sp>
        <p:nvSpPr>
          <p:cNvPr id="18" name="Text 15"/>
          <p:cNvSpPr txBox="1"/>
          <p:nvPr/>
        </p:nvSpPr>
        <p:spPr>
          <a:xfrm>
            <a:off x="1188720" y="2880360"/>
            <a:ext cx="3931920" cy="384048"/>
          </a:xfrm>
          <a:prstGeom prst="rect">
            <a:avLst/>
          </a:prstGeom>
          <a:noFill/>
          <a:ln/>
        </p:spPr>
        <p:txBody>
          <a:bodyPr wrap="square" lIns="0" tIns="0" rIns="0" bIns="0" rtlCol="0" anchor="ctr"/>
          <a:lstStyle/>
          <a:p>
            <a:pPr marL="0" indent="0">
              <a:buNone/>
            </a:pPr>
            <a:r>
              <a:rPr lang="it-IT" sz="1400" noProof="0" dirty="0">
                <a:solidFill>
                  <a:schemeClr val="tx1"/>
                </a:solidFill>
              </a:rPr>
              <a:t>Come funziona un'interazione con l'AI</a:t>
            </a:r>
            <a:endParaRPr lang="it-IT" sz="1400" noProof="0" dirty="0"/>
          </a:p>
        </p:txBody>
      </p:sp>
      <p:sp>
        <p:nvSpPr>
          <p:cNvPr id="19" name="riga 2.6"/>
          <p:cNvSpPr/>
          <p:nvPr/>
        </p:nvSpPr>
        <p:spPr>
          <a:xfrm>
            <a:off x="457200" y="3337560"/>
            <a:ext cx="4754880" cy="384048"/>
          </a:xfrm>
          <a:prstGeom prst="roundRect">
            <a:avLst>
              <a:gd name="adj" fmla="val 19048"/>
            </a:avLst>
          </a:prstGeom>
          <a:solidFill>
            <a:schemeClr val="bg1"/>
          </a:solidFill>
          <a:ln/>
        </p:spPr>
        <p:txBody>
          <a:bodyPr/>
          <a:lstStyle/>
          <a:p>
            <a:endParaRPr lang="it-IT" noProof="0" dirty="0"/>
          </a:p>
        </p:txBody>
      </p:sp>
      <p:sp>
        <p:nvSpPr>
          <p:cNvPr id="20" name="Text 17"/>
          <p:cNvSpPr txBox="1"/>
          <p:nvPr/>
        </p:nvSpPr>
        <p:spPr>
          <a:xfrm>
            <a:off x="594360" y="3337560"/>
            <a:ext cx="548640" cy="384048"/>
          </a:xfrm>
          <a:prstGeom prst="rect">
            <a:avLst/>
          </a:prstGeom>
          <a:noFill/>
          <a:ln/>
        </p:spPr>
        <p:txBody>
          <a:bodyPr wrap="square" lIns="0" tIns="0" rIns="0" bIns="0" rtlCol="0" anchor="ctr"/>
          <a:lstStyle/>
          <a:p>
            <a:pPr marL="0" indent="0">
              <a:buNone/>
            </a:pPr>
            <a:r>
              <a:rPr lang="it-IT" sz="1400" b="1" noProof="0" dirty="0">
                <a:solidFill>
                  <a:schemeClr val="accent1"/>
                </a:solidFill>
              </a:rPr>
              <a:t>2.6</a:t>
            </a:r>
            <a:endParaRPr lang="it-IT" sz="1400" noProof="0" dirty="0"/>
          </a:p>
        </p:txBody>
      </p:sp>
      <p:sp>
        <p:nvSpPr>
          <p:cNvPr id="21" name="Text 18"/>
          <p:cNvSpPr txBox="1"/>
          <p:nvPr/>
        </p:nvSpPr>
        <p:spPr>
          <a:xfrm>
            <a:off x="1188720" y="3337560"/>
            <a:ext cx="3931920" cy="384048"/>
          </a:xfrm>
          <a:prstGeom prst="rect">
            <a:avLst/>
          </a:prstGeom>
          <a:noFill/>
          <a:ln/>
        </p:spPr>
        <p:txBody>
          <a:bodyPr wrap="square" lIns="0" tIns="0" rIns="0" bIns="0" rtlCol="0" anchor="ctr"/>
          <a:lstStyle/>
          <a:p>
            <a:pPr marL="0" indent="0">
              <a:buNone/>
            </a:pPr>
            <a:r>
              <a:rPr lang="it-IT" sz="1400" noProof="0" dirty="0">
                <a:solidFill>
                  <a:schemeClr val="tx1"/>
                </a:solidFill>
              </a:rPr>
              <a:t>Conoscenza e fonti informative</a:t>
            </a:r>
            <a:endParaRPr lang="it-IT" sz="1400" noProof="0" dirty="0"/>
          </a:p>
        </p:txBody>
      </p:sp>
      <p:sp>
        <p:nvSpPr>
          <p:cNvPr id="22" name="riga 2.7"/>
          <p:cNvSpPr/>
          <p:nvPr/>
        </p:nvSpPr>
        <p:spPr>
          <a:xfrm>
            <a:off x="457200" y="3794760"/>
            <a:ext cx="4754880" cy="384048"/>
          </a:xfrm>
          <a:prstGeom prst="roundRect">
            <a:avLst>
              <a:gd name="adj" fmla="val 19048"/>
            </a:avLst>
          </a:prstGeom>
          <a:solidFill>
            <a:schemeClr val="bg2"/>
          </a:solidFill>
          <a:ln/>
        </p:spPr>
        <p:txBody>
          <a:bodyPr/>
          <a:lstStyle/>
          <a:p>
            <a:endParaRPr lang="it-IT" noProof="0" dirty="0"/>
          </a:p>
        </p:txBody>
      </p:sp>
      <p:sp>
        <p:nvSpPr>
          <p:cNvPr id="23" name="Text 20"/>
          <p:cNvSpPr txBox="1"/>
          <p:nvPr/>
        </p:nvSpPr>
        <p:spPr>
          <a:xfrm>
            <a:off x="594360" y="3794760"/>
            <a:ext cx="548640" cy="384048"/>
          </a:xfrm>
          <a:prstGeom prst="rect">
            <a:avLst/>
          </a:prstGeom>
          <a:noFill/>
          <a:ln/>
        </p:spPr>
        <p:txBody>
          <a:bodyPr wrap="square" lIns="0" tIns="0" rIns="0" bIns="0" rtlCol="0" anchor="ctr"/>
          <a:lstStyle/>
          <a:p>
            <a:pPr marL="0" indent="0">
              <a:buNone/>
            </a:pPr>
            <a:r>
              <a:rPr lang="it-IT" sz="1400" b="1" noProof="0" dirty="0">
                <a:solidFill>
                  <a:schemeClr val="accent1"/>
                </a:solidFill>
              </a:rPr>
              <a:t>2.7</a:t>
            </a:r>
            <a:endParaRPr lang="it-IT" sz="1400" noProof="0" dirty="0"/>
          </a:p>
        </p:txBody>
      </p:sp>
      <p:sp>
        <p:nvSpPr>
          <p:cNvPr id="24" name="Text 21"/>
          <p:cNvSpPr txBox="1"/>
          <p:nvPr/>
        </p:nvSpPr>
        <p:spPr>
          <a:xfrm>
            <a:off x="1188720" y="3794760"/>
            <a:ext cx="3931920" cy="384048"/>
          </a:xfrm>
          <a:prstGeom prst="rect">
            <a:avLst/>
          </a:prstGeom>
          <a:noFill/>
          <a:ln/>
        </p:spPr>
        <p:txBody>
          <a:bodyPr wrap="square" lIns="0" tIns="0" rIns="0" bIns="0" rtlCol="0" anchor="ctr"/>
          <a:lstStyle/>
          <a:p>
            <a:pPr marL="0" indent="0">
              <a:buNone/>
            </a:pPr>
            <a:r>
              <a:rPr lang="it-IT" sz="1400" noProof="0" dirty="0">
                <a:solidFill>
                  <a:schemeClr val="tx1"/>
                </a:solidFill>
              </a:rPr>
              <a:t>Variabilità dei risultati</a:t>
            </a:r>
            <a:endParaRPr lang="it-IT" sz="1400" noProof="0" dirty="0"/>
          </a:p>
        </p:txBody>
      </p:sp>
      <p:sp>
        <p:nvSpPr>
          <p:cNvPr id="25" name="livello Comprendere bene"/>
          <p:cNvSpPr/>
          <p:nvPr/>
        </p:nvSpPr>
        <p:spPr>
          <a:xfrm>
            <a:off x="5486400" y="1051560"/>
            <a:ext cx="3200400" cy="960120"/>
          </a:xfrm>
          <a:prstGeom prst="roundRect">
            <a:avLst>
              <a:gd name="adj" fmla="val 7619"/>
            </a:avLst>
          </a:prstGeom>
          <a:solidFill>
            <a:schemeClr val="accent1"/>
          </a:solidFill>
          <a:ln/>
        </p:spPr>
        <p:txBody>
          <a:bodyPr/>
          <a:lstStyle/>
          <a:p>
            <a:endParaRPr lang="it-IT" noProof="0" dirty="0"/>
          </a:p>
        </p:txBody>
      </p:sp>
      <p:sp>
        <p:nvSpPr>
          <p:cNvPr id="26" name="Text 23"/>
          <p:cNvSpPr txBox="1"/>
          <p:nvPr/>
        </p:nvSpPr>
        <p:spPr>
          <a:xfrm>
            <a:off x="5623560" y="1143000"/>
            <a:ext cx="2926080" cy="274320"/>
          </a:xfrm>
          <a:prstGeom prst="rect">
            <a:avLst/>
          </a:prstGeom>
          <a:noFill/>
          <a:ln/>
        </p:spPr>
        <p:txBody>
          <a:bodyPr wrap="square" lIns="0" tIns="0" rIns="0" bIns="0" rtlCol="0" anchor="t"/>
          <a:lstStyle/>
          <a:p>
            <a:pPr marL="0" indent="0">
              <a:buNone/>
            </a:pPr>
            <a:r>
              <a:rPr lang="it-IT" sz="1400" b="1" noProof="0" dirty="0">
                <a:solidFill>
                  <a:schemeClr val="bg1"/>
                </a:solidFill>
              </a:rPr>
              <a:t>Comprendere bene</a:t>
            </a:r>
            <a:endParaRPr lang="it-IT" sz="1400" noProof="0" dirty="0"/>
          </a:p>
        </p:txBody>
      </p:sp>
      <p:sp>
        <p:nvSpPr>
          <p:cNvPr id="27" name="Text 24"/>
          <p:cNvSpPr txBox="1"/>
          <p:nvPr/>
        </p:nvSpPr>
        <p:spPr>
          <a:xfrm>
            <a:off x="5623560" y="1435608"/>
            <a:ext cx="2926080" cy="548640"/>
          </a:xfrm>
          <a:prstGeom prst="rect">
            <a:avLst/>
          </a:prstGeom>
          <a:noFill/>
          <a:ln/>
        </p:spPr>
        <p:txBody>
          <a:bodyPr wrap="square" lIns="0" tIns="0" rIns="0" bIns="0" rtlCol="0" anchor="t"/>
          <a:lstStyle/>
          <a:p>
            <a:pPr marL="0" indent="0">
              <a:buNone/>
            </a:pPr>
            <a:r>
              <a:rPr lang="it-IT" sz="1100" noProof="0" dirty="0">
                <a:solidFill>
                  <a:schemeClr val="bg1"/>
                </a:solidFill>
              </a:rPr>
              <a:t>AI e software tradizionale, addestramento e inferenza, LLM, contesto, fonti, variabilità</a:t>
            </a:r>
            <a:endParaRPr lang="it-IT" sz="1100" noProof="0" dirty="0"/>
          </a:p>
        </p:txBody>
      </p:sp>
      <p:sp>
        <p:nvSpPr>
          <p:cNvPr id="28" name="livello Conoscere"/>
          <p:cNvSpPr/>
          <p:nvPr/>
        </p:nvSpPr>
        <p:spPr>
          <a:xfrm>
            <a:off x="5486400" y="2148840"/>
            <a:ext cx="3200400" cy="960120"/>
          </a:xfrm>
          <a:prstGeom prst="roundRect">
            <a:avLst>
              <a:gd name="adj" fmla="val 7619"/>
            </a:avLst>
          </a:prstGeom>
          <a:solidFill>
            <a:schemeClr val="accent6"/>
          </a:solidFill>
          <a:ln/>
        </p:spPr>
        <p:txBody>
          <a:bodyPr/>
          <a:lstStyle/>
          <a:p>
            <a:endParaRPr lang="it-IT" noProof="0" dirty="0"/>
          </a:p>
        </p:txBody>
      </p:sp>
      <p:sp>
        <p:nvSpPr>
          <p:cNvPr id="29" name="Text 26"/>
          <p:cNvSpPr txBox="1"/>
          <p:nvPr/>
        </p:nvSpPr>
        <p:spPr>
          <a:xfrm>
            <a:off x="5623560" y="2240280"/>
            <a:ext cx="2926080" cy="274320"/>
          </a:xfrm>
          <a:prstGeom prst="rect">
            <a:avLst/>
          </a:prstGeom>
          <a:noFill/>
          <a:ln/>
        </p:spPr>
        <p:txBody>
          <a:bodyPr wrap="square" lIns="0" tIns="0" rIns="0" bIns="0" rtlCol="0" anchor="t"/>
          <a:lstStyle/>
          <a:p>
            <a:pPr marL="0" indent="0">
              <a:buNone/>
            </a:pPr>
            <a:r>
              <a:rPr lang="it-IT" sz="1400" b="1" noProof="0" dirty="0">
                <a:solidFill>
                  <a:schemeClr val="tx1"/>
                </a:solidFill>
              </a:rPr>
              <a:t>Conoscere</a:t>
            </a:r>
            <a:endParaRPr lang="it-IT" sz="1400" noProof="0" dirty="0"/>
          </a:p>
        </p:txBody>
      </p:sp>
      <p:sp>
        <p:nvSpPr>
          <p:cNvPr id="30" name="Text 27"/>
          <p:cNvSpPr txBox="1"/>
          <p:nvPr/>
        </p:nvSpPr>
        <p:spPr>
          <a:xfrm>
            <a:off x="5623560" y="2532888"/>
            <a:ext cx="2926080" cy="548640"/>
          </a:xfrm>
          <a:prstGeom prst="rect">
            <a:avLst/>
          </a:prstGeom>
          <a:noFill/>
          <a:ln/>
        </p:spPr>
        <p:txBody>
          <a:bodyPr wrap="square" lIns="0" tIns="0" rIns="0" bIns="0" rtlCol="0" anchor="t"/>
          <a:lstStyle/>
          <a:p>
            <a:pPr marL="0" indent="0">
              <a:buNone/>
            </a:pPr>
            <a:r>
              <a:rPr lang="it-IT" sz="1100" noProof="0" dirty="0">
                <a:solidFill>
                  <a:schemeClr val="tx1"/>
                </a:solidFill>
              </a:rPr>
              <a:t>ML, Deep Learning, token, Transformer, parametri, fine-tuning, grounding, RAG</a:t>
            </a:r>
            <a:endParaRPr lang="it-IT" sz="1100" noProof="0" dirty="0"/>
          </a:p>
        </p:txBody>
      </p:sp>
      <p:sp>
        <p:nvSpPr>
          <p:cNvPr id="31" name="livello Solo accennare"/>
          <p:cNvSpPr/>
          <p:nvPr/>
        </p:nvSpPr>
        <p:spPr>
          <a:xfrm>
            <a:off x="5486400" y="3246120"/>
            <a:ext cx="3200400" cy="960120"/>
          </a:xfrm>
          <a:prstGeom prst="roundRect">
            <a:avLst>
              <a:gd name="adj" fmla="val 7619"/>
            </a:avLst>
          </a:prstGeom>
          <a:solidFill>
            <a:schemeClr val="bg2"/>
          </a:solidFill>
          <a:ln/>
        </p:spPr>
        <p:txBody>
          <a:bodyPr/>
          <a:lstStyle/>
          <a:p>
            <a:endParaRPr lang="it-IT" noProof="0" dirty="0"/>
          </a:p>
        </p:txBody>
      </p:sp>
      <p:sp>
        <p:nvSpPr>
          <p:cNvPr id="32" name="Text 29"/>
          <p:cNvSpPr txBox="1"/>
          <p:nvPr/>
        </p:nvSpPr>
        <p:spPr>
          <a:xfrm>
            <a:off x="5623560" y="3337560"/>
            <a:ext cx="2926080" cy="274320"/>
          </a:xfrm>
          <a:prstGeom prst="rect">
            <a:avLst/>
          </a:prstGeom>
          <a:noFill/>
          <a:ln/>
        </p:spPr>
        <p:txBody>
          <a:bodyPr wrap="square" lIns="0" tIns="0" rIns="0" bIns="0" rtlCol="0" anchor="t"/>
          <a:lstStyle/>
          <a:p>
            <a:pPr marL="0" indent="0">
              <a:buNone/>
            </a:pPr>
            <a:r>
              <a:rPr lang="it-IT" sz="1400" b="1" noProof="0" dirty="0">
                <a:solidFill>
                  <a:schemeClr val="tx1"/>
                </a:solidFill>
              </a:rPr>
              <a:t>Solo accennare</a:t>
            </a:r>
            <a:endParaRPr lang="it-IT" sz="1400" noProof="0" dirty="0"/>
          </a:p>
        </p:txBody>
      </p:sp>
      <p:sp>
        <p:nvSpPr>
          <p:cNvPr id="33" name="Text 30"/>
          <p:cNvSpPr txBox="1"/>
          <p:nvPr/>
        </p:nvSpPr>
        <p:spPr>
          <a:xfrm>
            <a:off x="5623560" y="3630168"/>
            <a:ext cx="2926080" cy="548640"/>
          </a:xfrm>
          <a:prstGeom prst="rect">
            <a:avLst/>
          </a:prstGeom>
          <a:noFill/>
          <a:ln/>
        </p:spPr>
        <p:txBody>
          <a:bodyPr wrap="square" lIns="0" tIns="0" rIns="0" bIns="0" rtlCol="0" anchor="t"/>
          <a:lstStyle/>
          <a:p>
            <a:pPr marL="0" indent="0">
              <a:buNone/>
            </a:pPr>
            <a:r>
              <a:rPr lang="it-IT" sz="1100" noProof="0" dirty="0">
                <a:solidFill>
                  <a:schemeClr val="tx1"/>
                </a:solidFill>
              </a:rPr>
              <a:t>Matematica delle reti, ottimizzazione, dettagli delle architetture</a:t>
            </a:r>
            <a:endParaRPr lang="it-IT" sz="11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a:t>
            </a:fld>
            <a:endParaRPr lang="it-IT"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2.1</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Che cos'è l'Intelligenza Artificiale</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t>Sistemi che elaborano informazioni, riconoscono regolarità e producono previsioni, contenuti, raccomandazioni o decisioni.</a:t>
            </a:r>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a:t>
            </a:fld>
            <a:endParaRPr lang="it-IT"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Una definizione operativa</a:t>
            </a:r>
            <a:endParaRPr lang="it-IT" sz="2600" noProof="0" dirty="0"/>
          </a:p>
        </p:txBody>
      </p:sp>
      <p:sp>
        <p:nvSpPr>
          <p:cNvPr id="4" name="definizione"/>
          <p:cNvSpPr/>
          <p:nvPr/>
        </p:nvSpPr>
        <p:spPr>
          <a:xfrm>
            <a:off x="457200" y="1097280"/>
            <a:ext cx="4206240" cy="3429000"/>
          </a:xfrm>
          <a:prstGeom prst="roundRect">
            <a:avLst>
              <a:gd name="adj" fmla="val 2133"/>
            </a:avLst>
          </a:prstGeom>
          <a:solidFill>
            <a:schemeClr val="tx1"/>
          </a:solidFill>
          <a:ln/>
        </p:spPr>
        <p:txBody>
          <a:bodyPr/>
          <a:lstStyle/>
          <a:p>
            <a:endParaRPr lang="it-IT" noProof="0" dirty="0"/>
          </a:p>
        </p:txBody>
      </p:sp>
      <p:sp>
        <p:nvSpPr>
          <p:cNvPr id="5" name="Text 2"/>
          <p:cNvSpPr txBox="1"/>
          <p:nvPr/>
        </p:nvSpPr>
        <p:spPr>
          <a:xfrm>
            <a:off x="685800" y="1261872"/>
            <a:ext cx="3749040" cy="274320"/>
          </a:xfrm>
          <a:prstGeom prst="rect">
            <a:avLst/>
          </a:prstGeom>
          <a:noFill/>
          <a:ln/>
        </p:spPr>
        <p:txBody>
          <a:bodyPr wrap="square" lIns="0" tIns="0" rIns="0" bIns="0" rtlCol="0" anchor="t"/>
          <a:lstStyle/>
          <a:p>
            <a:pPr marL="0" indent="0">
              <a:buNone/>
            </a:pPr>
            <a:r>
              <a:rPr lang="it-IT" sz="1100" b="1" kern="0" spc="200" noProof="0" dirty="0">
                <a:solidFill>
                  <a:schemeClr val="accent1"/>
                </a:solidFill>
              </a:rPr>
              <a:t>LA DEFINIZIONE DELL'AI ACT, IN SINTESI</a:t>
            </a:r>
            <a:endParaRPr lang="it-IT" sz="1100" noProof="0" dirty="0"/>
          </a:p>
        </p:txBody>
      </p:sp>
      <p:sp>
        <p:nvSpPr>
          <p:cNvPr id="6" name="Text 3"/>
          <p:cNvSpPr txBox="1"/>
          <p:nvPr/>
        </p:nvSpPr>
        <p:spPr>
          <a:xfrm>
            <a:off x="685800" y="1645920"/>
            <a:ext cx="3749040" cy="2194560"/>
          </a:xfrm>
          <a:prstGeom prst="rect">
            <a:avLst/>
          </a:prstGeom>
          <a:noFill/>
          <a:ln/>
        </p:spPr>
        <p:txBody>
          <a:bodyPr wrap="square" lIns="0" tIns="0" rIns="0" bIns="0" rtlCol="0" anchor="t"/>
          <a:lstStyle/>
          <a:p>
            <a:pPr marL="0" indent="0">
              <a:buNone/>
            </a:pPr>
            <a:r>
              <a:rPr lang="it-IT" sz="1500" noProof="0" dirty="0">
                <a:solidFill>
                  <a:schemeClr val="bg1"/>
                </a:solidFill>
              </a:rPr>
              <a:t>Un sistema automatizzato che, con livelli di autonomia variabili, deduce dagli input che riceve come generare output (previsioni, contenuti, raccomandazioni, decisioni) in grado di influenzare ambienti fisici o virtuali.</a:t>
            </a:r>
            <a:endParaRPr lang="it-IT" sz="1500" noProof="0" dirty="0"/>
          </a:p>
        </p:txBody>
      </p:sp>
      <p:sp>
        <p:nvSpPr>
          <p:cNvPr id="7" name="Text 4"/>
          <p:cNvSpPr txBox="1"/>
          <p:nvPr/>
        </p:nvSpPr>
        <p:spPr>
          <a:xfrm>
            <a:off x="685800" y="4114800"/>
            <a:ext cx="3749040" cy="274320"/>
          </a:xfrm>
          <a:prstGeom prst="rect">
            <a:avLst/>
          </a:prstGeom>
          <a:noFill/>
          <a:ln/>
        </p:spPr>
        <p:txBody>
          <a:bodyPr wrap="square" lIns="0" tIns="0" rIns="0" bIns="0" rtlCol="0" anchor="t"/>
          <a:lstStyle/>
          <a:p>
            <a:pPr marL="0" indent="0">
              <a:buNone/>
            </a:pPr>
            <a:r>
              <a:rPr lang="it-IT" sz="1000" noProof="0" dirty="0">
                <a:solidFill>
                  <a:schemeClr val="accent3"/>
                </a:solidFill>
              </a:rPr>
              <a:t>Fonte: Regolamento UE 2024/1689, art. 3</a:t>
            </a:r>
            <a:endParaRPr lang="it-IT" sz="1000" noProof="0" dirty="0"/>
          </a:p>
        </p:txBody>
      </p:sp>
      <p:sp>
        <p:nvSpPr>
          <p:cNvPr id="8" name="cerchio FiInbox"/>
          <p:cNvSpPr/>
          <p:nvPr/>
        </p:nvSpPr>
        <p:spPr>
          <a:xfrm>
            <a:off x="4937760" y="1097280"/>
            <a:ext cx="457200" cy="457200"/>
          </a:xfrm>
          <a:prstGeom prst="ellipse">
            <a:avLst/>
          </a:prstGeom>
          <a:solidFill>
            <a:schemeClr val="accent1"/>
          </a:solidFill>
          <a:ln/>
        </p:spPr>
        <p:txBody>
          <a:bodyPr/>
          <a:lstStyle/>
          <a:p>
            <a:endParaRPr lang="it-IT" noProof="0" dirty="0"/>
          </a:p>
        </p:txBody>
      </p:sp>
      <p:pic>
        <p:nvPicPr>
          <p:cNvPr id="9" name="Image 0" descr="FiInbox"/>
          <p:cNvPicPr>
            <a:picLocks noChangeAspect="1"/>
          </p:cNvPicPr>
          <p:nvPr/>
        </p:nvPicPr>
        <p:blipFill>
          <a:blip r:embed="rId3"/>
          <a:stretch>
            <a:fillRect/>
          </a:stretch>
        </p:blipFill>
        <p:spPr>
          <a:xfrm>
            <a:off x="5052060" y="1211580"/>
            <a:ext cx="228600" cy="228600"/>
          </a:xfrm>
          <a:prstGeom prst="rect">
            <a:avLst/>
          </a:prstGeom>
        </p:spPr>
      </p:pic>
      <p:sp>
        <p:nvSpPr>
          <p:cNvPr id="10" name="Text 6"/>
          <p:cNvSpPr txBox="1"/>
          <p:nvPr/>
        </p:nvSpPr>
        <p:spPr>
          <a:xfrm>
            <a:off x="5532120" y="1060704"/>
            <a:ext cx="3154680" cy="274320"/>
          </a:xfrm>
          <a:prstGeom prst="rect">
            <a:avLst/>
          </a:prstGeom>
          <a:noFill/>
          <a:ln/>
        </p:spPr>
        <p:txBody>
          <a:bodyPr wrap="square" lIns="0" tIns="0" rIns="0" bIns="0" rtlCol="0" anchor="t"/>
          <a:lstStyle/>
          <a:p>
            <a:pPr marL="0" indent="0">
              <a:buNone/>
            </a:pPr>
            <a:r>
              <a:rPr lang="it-IT" sz="1400" b="1" noProof="0" dirty="0">
                <a:solidFill>
                  <a:schemeClr val="tx1"/>
                </a:solidFill>
              </a:rPr>
              <a:t>Riceve input</a:t>
            </a:r>
            <a:endParaRPr lang="it-IT" sz="1400" noProof="0" dirty="0"/>
          </a:p>
        </p:txBody>
      </p:sp>
      <p:sp>
        <p:nvSpPr>
          <p:cNvPr id="11" name="Text 7"/>
          <p:cNvSpPr txBox="1"/>
          <p:nvPr/>
        </p:nvSpPr>
        <p:spPr>
          <a:xfrm>
            <a:off x="5532120" y="1344168"/>
            <a:ext cx="3154680" cy="457200"/>
          </a:xfrm>
          <a:prstGeom prst="rect">
            <a:avLst/>
          </a:prstGeom>
          <a:noFill/>
          <a:ln/>
        </p:spPr>
        <p:txBody>
          <a:bodyPr wrap="square" lIns="0" tIns="0" rIns="0" bIns="0" rtlCol="0" anchor="t"/>
          <a:lstStyle/>
          <a:p>
            <a:pPr marL="0" indent="0">
              <a:buNone/>
            </a:pPr>
            <a:r>
              <a:rPr lang="it-IT" sz="1200" noProof="0" dirty="0">
                <a:solidFill>
                  <a:schemeClr val="tx2"/>
                </a:solidFill>
              </a:rPr>
              <a:t>Dati, testi, immagini, segnali</a:t>
            </a:r>
            <a:endParaRPr lang="it-IT" sz="1200" noProof="0" dirty="0"/>
          </a:p>
        </p:txBody>
      </p:sp>
      <p:sp>
        <p:nvSpPr>
          <p:cNvPr id="12" name="cerchio FiCpu"/>
          <p:cNvSpPr/>
          <p:nvPr/>
        </p:nvSpPr>
        <p:spPr>
          <a:xfrm>
            <a:off x="4937760" y="1965960"/>
            <a:ext cx="457200" cy="457200"/>
          </a:xfrm>
          <a:prstGeom prst="ellipse">
            <a:avLst/>
          </a:prstGeom>
          <a:solidFill>
            <a:schemeClr val="accent1"/>
          </a:solidFill>
          <a:ln/>
        </p:spPr>
        <p:txBody>
          <a:bodyPr/>
          <a:lstStyle/>
          <a:p>
            <a:endParaRPr lang="it-IT" noProof="0" dirty="0"/>
          </a:p>
        </p:txBody>
      </p:sp>
      <p:pic>
        <p:nvPicPr>
          <p:cNvPr id="13" name="Image 1" descr="FiCpu"/>
          <p:cNvPicPr>
            <a:picLocks noChangeAspect="1"/>
          </p:cNvPicPr>
          <p:nvPr/>
        </p:nvPicPr>
        <p:blipFill>
          <a:blip r:embed="rId4"/>
          <a:stretch>
            <a:fillRect/>
          </a:stretch>
        </p:blipFill>
        <p:spPr>
          <a:xfrm>
            <a:off x="5052060" y="2080260"/>
            <a:ext cx="228600" cy="228600"/>
          </a:xfrm>
          <a:prstGeom prst="rect">
            <a:avLst/>
          </a:prstGeom>
        </p:spPr>
      </p:pic>
      <p:sp>
        <p:nvSpPr>
          <p:cNvPr id="14" name="Text 9"/>
          <p:cNvSpPr txBox="1"/>
          <p:nvPr/>
        </p:nvSpPr>
        <p:spPr>
          <a:xfrm>
            <a:off x="5532120" y="1929384"/>
            <a:ext cx="3154680" cy="274320"/>
          </a:xfrm>
          <a:prstGeom prst="rect">
            <a:avLst/>
          </a:prstGeom>
          <a:noFill/>
          <a:ln/>
        </p:spPr>
        <p:txBody>
          <a:bodyPr wrap="square" lIns="0" tIns="0" rIns="0" bIns="0" rtlCol="0" anchor="t"/>
          <a:lstStyle/>
          <a:p>
            <a:pPr marL="0" indent="0">
              <a:buNone/>
            </a:pPr>
            <a:r>
              <a:rPr lang="it-IT" sz="1400" b="1" noProof="0" dirty="0">
                <a:solidFill>
                  <a:schemeClr val="tx1"/>
                </a:solidFill>
              </a:rPr>
              <a:t>Deduce come rispondere</a:t>
            </a:r>
            <a:endParaRPr lang="it-IT" sz="1400" noProof="0" dirty="0"/>
          </a:p>
        </p:txBody>
      </p:sp>
      <p:sp>
        <p:nvSpPr>
          <p:cNvPr id="15" name="Text 10"/>
          <p:cNvSpPr txBox="1"/>
          <p:nvPr/>
        </p:nvSpPr>
        <p:spPr>
          <a:xfrm>
            <a:off x="5532120" y="2212848"/>
            <a:ext cx="3154680" cy="457200"/>
          </a:xfrm>
          <a:prstGeom prst="rect">
            <a:avLst/>
          </a:prstGeom>
          <a:noFill/>
          <a:ln/>
        </p:spPr>
        <p:txBody>
          <a:bodyPr wrap="square" lIns="0" tIns="0" rIns="0" bIns="0" rtlCol="0" anchor="t"/>
          <a:lstStyle/>
          <a:p>
            <a:pPr marL="0" indent="0">
              <a:buNone/>
            </a:pPr>
            <a:r>
              <a:rPr lang="it-IT" sz="1200" noProof="0" dirty="0">
                <a:solidFill>
                  <a:schemeClr val="tx2"/>
                </a:solidFill>
              </a:rPr>
              <a:t>Non esegue solo istruzioni scritte riga per riga</a:t>
            </a:r>
            <a:endParaRPr lang="it-IT" sz="1200" noProof="0" dirty="0"/>
          </a:p>
        </p:txBody>
      </p:sp>
      <p:sp>
        <p:nvSpPr>
          <p:cNvPr id="16" name="cerchio FiSend"/>
          <p:cNvSpPr/>
          <p:nvPr/>
        </p:nvSpPr>
        <p:spPr>
          <a:xfrm>
            <a:off x="4937760" y="2834640"/>
            <a:ext cx="457200" cy="457200"/>
          </a:xfrm>
          <a:prstGeom prst="ellipse">
            <a:avLst/>
          </a:prstGeom>
          <a:solidFill>
            <a:schemeClr val="accent1"/>
          </a:solidFill>
          <a:ln/>
        </p:spPr>
        <p:txBody>
          <a:bodyPr/>
          <a:lstStyle/>
          <a:p>
            <a:endParaRPr lang="it-IT" noProof="0" dirty="0"/>
          </a:p>
        </p:txBody>
      </p:sp>
      <p:pic>
        <p:nvPicPr>
          <p:cNvPr id="17" name="Image 2" descr="FiSend"/>
          <p:cNvPicPr>
            <a:picLocks noChangeAspect="1"/>
          </p:cNvPicPr>
          <p:nvPr/>
        </p:nvPicPr>
        <p:blipFill>
          <a:blip r:embed="rId5"/>
          <a:stretch>
            <a:fillRect/>
          </a:stretch>
        </p:blipFill>
        <p:spPr>
          <a:xfrm>
            <a:off x="5052060" y="2948940"/>
            <a:ext cx="228600" cy="228600"/>
          </a:xfrm>
          <a:prstGeom prst="rect">
            <a:avLst/>
          </a:prstGeom>
        </p:spPr>
      </p:pic>
      <p:sp>
        <p:nvSpPr>
          <p:cNvPr id="18" name="Text 12"/>
          <p:cNvSpPr txBox="1"/>
          <p:nvPr/>
        </p:nvSpPr>
        <p:spPr>
          <a:xfrm>
            <a:off x="5532120" y="2798064"/>
            <a:ext cx="3154680" cy="274320"/>
          </a:xfrm>
          <a:prstGeom prst="rect">
            <a:avLst/>
          </a:prstGeom>
          <a:noFill/>
          <a:ln/>
        </p:spPr>
        <p:txBody>
          <a:bodyPr wrap="square" lIns="0" tIns="0" rIns="0" bIns="0" rtlCol="0" anchor="t"/>
          <a:lstStyle/>
          <a:p>
            <a:pPr marL="0" indent="0">
              <a:buNone/>
            </a:pPr>
            <a:r>
              <a:rPr lang="it-IT" sz="1400" b="1" noProof="0" dirty="0">
                <a:solidFill>
                  <a:schemeClr val="tx1"/>
                </a:solidFill>
              </a:rPr>
              <a:t>Produce output</a:t>
            </a:r>
            <a:endParaRPr lang="it-IT" sz="1400" noProof="0" dirty="0"/>
          </a:p>
        </p:txBody>
      </p:sp>
      <p:sp>
        <p:nvSpPr>
          <p:cNvPr id="19" name="Text 13"/>
          <p:cNvSpPr txBox="1"/>
          <p:nvPr/>
        </p:nvSpPr>
        <p:spPr>
          <a:xfrm>
            <a:off x="5532120" y="3081528"/>
            <a:ext cx="3154680" cy="457200"/>
          </a:xfrm>
          <a:prstGeom prst="rect">
            <a:avLst/>
          </a:prstGeom>
          <a:noFill/>
          <a:ln/>
        </p:spPr>
        <p:txBody>
          <a:bodyPr wrap="square" lIns="0" tIns="0" rIns="0" bIns="0" rtlCol="0" anchor="t"/>
          <a:lstStyle/>
          <a:p>
            <a:pPr marL="0" indent="0">
              <a:buNone/>
            </a:pPr>
            <a:r>
              <a:rPr lang="it-IT" sz="1200" noProof="0" dirty="0">
                <a:solidFill>
                  <a:schemeClr val="tx2"/>
                </a:solidFill>
              </a:rPr>
              <a:t>Previsioni, contenuti, raccomandazioni, decisioni</a:t>
            </a:r>
            <a:endParaRPr lang="it-IT" sz="1200" noProof="0" dirty="0"/>
          </a:p>
        </p:txBody>
      </p:sp>
      <p:sp>
        <p:nvSpPr>
          <p:cNvPr id="20" name="cerchio FiSliders"/>
          <p:cNvSpPr/>
          <p:nvPr/>
        </p:nvSpPr>
        <p:spPr>
          <a:xfrm>
            <a:off x="4937760" y="3703320"/>
            <a:ext cx="457200" cy="457200"/>
          </a:xfrm>
          <a:prstGeom prst="ellipse">
            <a:avLst/>
          </a:prstGeom>
          <a:solidFill>
            <a:schemeClr val="accent1"/>
          </a:solidFill>
          <a:ln/>
        </p:spPr>
        <p:txBody>
          <a:bodyPr/>
          <a:lstStyle/>
          <a:p>
            <a:endParaRPr lang="it-IT" noProof="0" dirty="0"/>
          </a:p>
        </p:txBody>
      </p:sp>
      <p:pic>
        <p:nvPicPr>
          <p:cNvPr id="21" name="Image 3" descr="FiSliders"/>
          <p:cNvPicPr>
            <a:picLocks noChangeAspect="1"/>
          </p:cNvPicPr>
          <p:nvPr/>
        </p:nvPicPr>
        <p:blipFill>
          <a:blip r:embed="rId6"/>
          <a:stretch>
            <a:fillRect/>
          </a:stretch>
        </p:blipFill>
        <p:spPr>
          <a:xfrm>
            <a:off x="5052060" y="3817620"/>
            <a:ext cx="228600" cy="228600"/>
          </a:xfrm>
          <a:prstGeom prst="rect">
            <a:avLst/>
          </a:prstGeom>
        </p:spPr>
      </p:pic>
      <p:sp>
        <p:nvSpPr>
          <p:cNvPr id="22" name="Text 15"/>
          <p:cNvSpPr txBox="1"/>
          <p:nvPr/>
        </p:nvSpPr>
        <p:spPr>
          <a:xfrm>
            <a:off x="5532120" y="3666744"/>
            <a:ext cx="3154680" cy="274320"/>
          </a:xfrm>
          <a:prstGeom prst="rect">
            <a:avLst/>
          </a:prstGeom>
          <a:noFill/>
          <a:ln/>
        </p:spPr>
        <p:txBody>
          <a:bodyPr wrap="square" lIns="0" tIns="0" rIns="0" bIns="0" rtlCol="0" anchor="t"/>
          <a:lstStyle/>
          <a:p>
            <a:pPr marL="0" indent="0">
              <a:buNone/>
            </a:pPr>
            <a:r>
              <a:rPr lang="it-IT" sz="1400" b="1" noProof="0" dirty="0">
                <a:solidFill>
                  <a:schemeClr val="tx1"/>
                </a:solidFill>
              </a:rPr>
              <a:t>Autonomia variabile</a:t>
            </a:r>
            <a:endParaRPr lang="it-IT" sz="1400" noProof="0" dirty="0"/>
          </a:p>
        </p:txBody>
      </p:sp>
      <p:sp>
        <p:nvSpPr>
          <p:cNvPr id="23" name="Text 16"/>
          <p:cNvSpPr txBox="1"/>
          <p:nvPr/>
        </p:nvSpPr>
        <p:spPr>
          <a:xfrm>
            <a:off x="5532120" y="3950208"/>
            <a:ext cx="3154680" cy="457200"/>
          </a:xfrm>
          <a:prstGeom prst="rect">
            <a:avLst/>
          </a:prstGeom>
          <a:noFill/>
          <a:ln/>
        </p:spPr>
        <p:txBody>
          <a:bodyPr wrap="square" lIns="0" tIns="0" rIns="0" bIns="0" rtlCol="0" anchor="t"/>
          <a:lstStyle/>
          <a:p>
            <a:pPr marL="0" indent="0">
              <a:buNone/>
            </a:pPr>
            <a:r>
              <a:rPr lang="it-IT" sz="1200" noProof="0" dirty="0">
                <a:solidFill>
                  <a:schemeClr val="tx2"/>
                </a:solidFill>
              </a:rPr>
              <a:t>Da semplice supporto ad azione autonoma</a:t>
            </a:r>
            <a:endParaRPr lang="it-IT" sz="12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7</a:t>
            </a:fld>
            <a:endParaRPr lang="it-IT"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Intelligenza artificiale e intelligenza umana</a:t>
            </a:r>
            <a:endParaRPr lang="it-IT" sz="2600" noProof="0" dirty="0"/>
          </a:p>
        </p:txBody>
      </p:sp>
      <p:graphicFrame>
        <p:nvGraphicFramePr>
          <p:cNvPr id="9" name="Table 0"/>
          <p:cNvGraphicFramePr>
            <a:graphicFrameLocks noGrp="1"/>
          </p:cNvGraphicFramePr>
          <p:nvPr>
            <p:extLst>
              <p:ext uri="{D42A27DB-BD31-4B8C-83A1-F6EECF244321}">
                <p14:modId xmlns:p14="http://schemas.microsoft.com/office/powerpoint/2010/main" val="1432360078"/>
              </p:ext>
            </p:extLst>
          </p:nvPr>
        </p:nvGraphicFramePr>
        <p:xfrm>
          <a:off x="457200" y="1097280"/>
          <a:ext cx="8229600" cy="3291840"/>
        </p:xfrm>
        <a:graphic>
          <a:graphicData uri="http://schemas.openxmlformats.org/drawingml/2006/table">
            <a:tbl>
              <a:tblPr/>
              <a:tblGrid>
                <a:gridCol w="1645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548640">
                <a:tc>
                  <a:txBody>
                    <a:bodyPr/>
                    <a:lstStyle/>
                    <a:p>
                      <a:pPr marL="0" indent="0">
                        <a:buNone/>
                      </a:pP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noProof="0" dirty="0">
                          <a:solidFill>
                            <a:schemeClr val="bg1"/>
                          </a:solidFill>
                        </a:rPr>
                        <a:t>Sistemi AI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it-IT" sz="1300" b="1" noProof="0" dirty="0">
                          <a:solidFill>
                            <a:schemeClr val="bg1"/>
                          </a:solidFill>
                        </a:rPr>
                        <a:t>Intelligenza umana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buNone/>
                      </a:pPr>
                      <a:r>
                        <a:rPr lang="it-IT" sz="1300" b="1" noProof="0" dirty="0">
                          <a:solidFill>
                            <a:schemeClr val="tx1"/>
                          </a:solidFill>
                        </a:rPr>
                        <a:t>Apprendimento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Da grandi quantità di esempi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Anche da pochi casi e dall'esperienza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buNone/>
                      </a:pPr>
                      <a:r>
                        <a:rPr lang="it-IT" sz="1300" b="1" noProof="0" dirty="0">
                          <a:solidFill>
                            <a:schemeClr val="tx1"/>
                          </a:solidFill>
                        </a:rPr>
                        <a:t>Ambito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Rappresentazioni dei dati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Corpo, mondo fisico e sociale, buon senso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buNone/>
                      </a:pPr>
                      <a:r>
                        <a:rPr lang="it-IT" sz="1300" b="1" noProof="0" dirty="0">
                          <a:solidFill>
                            <a:schemeClr val="tx1"/>
                          </a:solidFill>
                        </a:rPr>
                        <a:t>Velocità e scala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Enormi quantità di informazioni in pochi secondi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Limitate, ma con giudizio sul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buNone/>
                      </a:pPr>
                      <a:r>
                        <a:rPr lang="it-IT" sz="1300" b="1" noProof="0" dirty="0">
                          <a:solidFill>
                            <a:schemeClr val="tx1"/>
                          </a:solidFill>
                        </a:rPr>
                        <a:t>Coerenza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Eccellente in un compito, fragile in uno simile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Prestazioni più uniformi nel proprio campo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48640">
                <a:tc>
                  <a:txBody>
                    <a:bodyPr/>
                    <a:lstStyle/>
                    <a:p>
                      <a:pPr marL="0" indent="0">
                        <a:buNone/>
                      </a:pPr>
                      <a:r>
                        <a:rPr lang="it-IT" sz="1300" b="1" noProof="0" dirty="0">
                          <a:solidFill>
                            <a:schemeClr val="tx1"/>
                          </a:solidFill>
                        </a:rPr>
                        <a:t>Consapevolezza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Nessuna evidenza scientifica condivisa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Esperienze, scopi propri, responsabilità</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8</a:t>
            </a:fld>
            <a:endParaRPr lang="it-IT"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Sistemi specializzati e intelligenza artificiale generale</a:t>
            </a:r>
            <a:endParaRPr lang="it-IT" sz="2600" noProof="0" dirty="0"/>
          </a:p>
        </p:txBody>
      </p:sp>
      <p:sp>
        <p:nvSpPr>
          <p:cNvPr id="4" name="spettro"/>
          <p:cNvSpPr/>
          <p:nvPr/>
        </p:nvSpPr>
        <p:spPr>
          <a:xfrm>
            <a:off x="731520" y="2423160"/>
            <a:ext cx="7680960" cy="0"/>
          </a:xfrm>
          <a:prstGeom prst="line">
            <a:avLst/>
          </a:prstGeom>
          <a:noFill/>
          <a:ln w="38100">
            <a:solidFill>
              <a:schemeClr val="accent3"/>
            </a:solidFill>
            <a:prstDash val="solid"/>
            <a:tailEnd type="triangle"/>
          </a:ln>
        </p:spPr>
        <p:txBody>
          <a:bodyPr/>
          <a:lstStyle/>
          <a:p>
            <a:endParaRPr lang="it-IT" noProof="0" dirty="0"/>
          </a:p>
        </p:txBody>
      </p:sp>
      <p:sp>
        <p:nvSpPr>
          <p:cNvPr id="5" name="cerchio FiCrosshair"/>
          <p:cNvSpPr/>
          <p:nvPr/>
        </p:nvSpPr>
        <p:spPr>
          <a:xfrm>
            <a:off x="1481328" y="2011680"/>
            <a:ext cx="822960" cy="822960"/>
          </a:xfrm>
          <a:prstGeom prst="ellipse">
            <a:avLst/>
          </a:prstGeom>
          <a:solidFill>
            <a:schemeClr val="accent1"/>
          </a:solidFill>
          <a:ln/>
        </p:spPr>
        <p:txBody>
          <a:bodyPr/>
          <a:lstStyle/>
          <a:p>
            <a:endParaRPr lang="it-IT" noProof="0" dirty="0"/>
          </a:p>
        </p:txBody>
      </p:sp>
      <p:pic>
        <p:nvPicPr>
          <p:cNvPr id="6" name="Image 0" descr="FiCrosshair"/>
          <p:cNvPicPr>
            <a:picLocks noChangeAspect="1"/>
          </p:cNvPicPr>
          <p:nvPr/>
        </p:nvPicPr>
        <p:blipFill>
          <a:blip r:embed="rId3"/>
          <a:stretch>
            <a:fillRect/>
          </a:stretch>
        </p:blipFill>
        <p:spPr>
          <a:xfrm>
            <a:off x="1687068" y="2217420"/>
            <a:ext cx="411480" cy="411480"/>
          </a:xfrm>
          <a:prstGeom prst="rect">
            <a:avLst/>
          </a:prstGeom>
        </p:spPr>
      </p:pic>
      <p:sp>
        <p:nvSpPr>
          <p:cNvPr id="7" name="AI specializzata"/>
          <p:cNvSpPr/>
          <p:nvPr/>
        </p:nvSpPr>
        <p:spPr>
          <a:xfrm>
            <a:off x="457200" y="3017520"/>
            <a:ext cx="2606040" cy="1508760"/>
          </a:xfrm>
          <a:prstGeom prst="roundRect">
            <a:avLst>
              <a:gd name="adj" fmla="val 4848"/>
            </a:avLst>
          </a:prstGeom>
          <a:solidFill>
            <a:schemeClr val="bg2"/>
          </a:solidFill>
          <a:ln/>
        </p:spPr>
        <p:txBody>
          <a:bodyPr/>
          <a:lstStyle/>
          <a:p>
            <a:endParaRPr lang="it-IT" noProof="0" dirty="0"/>
          </a:p>
        </p:txBody>
      </p:sp>
      <p:sp>
        <p:nvSpPr>
          <p:cNvPr id="8" name="Text 4"/>
          <p:cNvSpPr txBox="1"/>
          <p:nvPr/>
        </p:nvSpPr>
        <p:spPr>
          <a:xfrm>
            <a:off x="621792" y="3127248"/>
            <a:ext cx="2286000" cy="320040"/>
          </a:xfrm>
          <a:prstGeom prst="rect">
            <a:avLst/>
          </a:prstGeom>
          <a:noFill/>
          <a:ln/>
        </p:spPr>
        <p:txBody>
          <a:bodyPr wrap="square" lIns="0" tIns="0" rIns="0" bIns="0" rtlCol="0" anchor="t"/>
          <a:lstStyle/>
          <a:p>
            <a:pPr marL="0" indent="0">
              <a:buNone/>
            </a:pPr>
            <a:r>
              <a:rPr lang="it-IT" sz="1600" b="1" noProof="0" dirty="0">
                <a:solidFill>
                  <a:schemeClr val="tx1"/>
                </a:solidFill>
              </a:rPr>
              <a:t>AI specializzata</a:t>
            </a:r>
            <a:endParaRPr lang="it-IT" sz="1600" noProof="0" dirty="0"/>
          </a:p>
        </p:txBody>
      </p:sp>
      <p:sp>
        <p:nvSpPr>
          <p:cNvPr id="9" name="Text 5"/>
          <p:cNvSpPr txBox="1"/>
          <p:nvPr/>
        </p:nvSpPr>
        <p:spPr>
          <a:xfrm>
            <a:off x="621792" y="3474720"/>
            <a:ext cx="2286000" cy="274320"/>
          </a:xfrm>
          <a:prstGeom prst="rect">
            <a:avLst/>
          </a:prstGeom>
          <a:noFill/>
          <a:ln/>
        </p:spPr>
        <p:txBody>
          <a:bodyPr wrap="square" lIns="0" tIns="0" rIns="0" bIns="0" rtlCol="0" anchor="t"/>
          <a:lstStyle/>
          <a:p>
            <a:pPr marL="0" indent="0">
              <a:buNone/>
            </a:pPr>
            <a:r>
              <a:rPr lang="it-IT" sz="1300" b="1" noProof="0" dirty="0">
                <a:solidFill>
                  <a:schemeClr val="accent1"/>
                </a:solidFill>
              </a:rPr>
              <a:t>Un compito preciso</a:t>
            </a:r>
            <a:endParaRPr lang="it-IT" sz="1300" noProof="0" dirty="0"/>
          </a:p>
        </p:txBody>
      </p:sp>
      <p:sp>
        <p:nvSpPr>
          <p:cNvPr id="10" name="Text 6"/>
          <p:cNvSpPr txBox="1"/>
          <p:nvPr/>
        </p:nvSpPr>
        <p:spPr>
          <a:xfrm>
            <a:off x="621792" y="3794760"/>
            <a:ext cx="2286000" cy="640080"/>
          </a:xfrm>
          <a:prstGeom prst="rect">
            <a:avLst/>
          </a:prstGeom>
          <a:noFill/>
          <a:ln/>
        </p:spPr>
        <p:txBody>
          <a:bodyPr wrap="square" lIns="0" tIns="0" rIns="0" bIns="0" rtlCol="0" anchor="t"/>
          <a:lstStyle/>
          <a:p>
            <a:pPr marL="0" indent="0">
              <a:buNone/>
            </a:pPr>
            <a:r>
              <a:rPr lang="it-IT" sz="1200" noProof="0" dirty="0">
                <a:solidFill>
                  <a:schemeClr val="tx1"/>
                </a:solidFill>
              </a:rPr>
              <a:t>Controllo qualità, previsione della domanda, antispam</a:t>
            </a:r>
            <a:endParaRPr lang="it-IT" sz="1200" noProof="0" dirty="0"/>
          </a:p>
        </p:txBody>
      </p:sp>
      <p:sp>
        <p:nvSpPr>
          <p:cNvPr id="11" name="cerchio FiLayers"/>
          <p:cNvSpPr/>
          <p:nvPr/>
        </p:nvSpPr>
        <p:spPr>
          <a:xfrm>
            <a:off x="4315968" y="2011680"/>
            <a:ext cx="822960" cy="822960"/>
          </a:xfrm>
          <a:prstGeom prst="ellipse">
            <a:avLst/>
          </a:prstGeom>
          <a:solidFill>
            <a:schemeClr val="accent1"/>
          </a:solidFill>
          <a:ln/>
        </p:spPr>
        <p:txBody>
          <a:bodyPr/>
          <a:lstStyle/>
          <a:p>
            <a:endParaRPr lang="it-IT" noProof="0" dirty="0"/>
          </a:p>
        </p:txBody>
      </p:sp>
      <p:pic>
        <p:nvPicPr>
          <p:cNvPr id="12" name="Image 1" descr="FiLayers"/>
          <p:cNvPicPr>
            <a:picLocks noChangeAspect="1"/>
          </p:cNvPicPr>
          <p:nvPr/>
        </p:nvPicPr>
        <p:blipFill>
          <a:blip r:embed="rId4"/>
          <a:stretch>
            <a:fillRect/>
          </a:stretch>
        </p:blipFill>
        <p:spPr>
          <a:xfrm>
            <a:off x="4521708" y="2217420"/>
            <a:ext cx="411480" cy="411480"/>
          </a:xfrm>
          <a:prstGeom prst="rect">
            <a:avLst/>
          </a:prstGeom>
        </p:spPr>
      </p:pic>
      <p:sp>
        <p:nvSpPr>
          <p:cNvPr id="13" name="Modelli generalisti"/>
          <p:cNvSpPr/>
          <p:nvPr/>
        </p:nvSpPr>
        <p:spPr>
          <a:xfrm>
            <a:off x="3291840" y="3017520"/>
            <a:ext cx="2606040" cy="1508760"/>
          </a:xfrm>
          <a:prstGeom prst="roundRect">
            <a:avLst>
              <a:gd name="adj" fmla="val 4848"/>
            </a:avLst>
          </a:prstGeom>
          <a:solidFill>
            <a:schemeClr val="accent6"/>
          </a:solidFill>
          <a:ln/>
        </p:spPr>
        <p:txBody>
          <a:bodyPr/>
          <a:lstStyle/>
          <a:p>
            <a:endParaRPr lang="it-IT" noProof="0" dirty="0"/>
          </a:p>
        </p:txBody>
      </p:sp>
      <p:sp>
        <p:nvSpPr>
          <p:cNvPr id="14" name="Text 9"/>
          <p:cNvSpPr txBox="1"/>
          <p:nvPr/>
        </p:nvSpPr>
        <p:spPr>
          <a:xfrm>
            <a:off x="3456432" y="3127248"/>
            <a:ext cx="2286000" cy="320040"/>
          </a:xfrm>
          <a:prstGeom prst="rect">
            <a:avLst/>
          </a:prstGeom>
          <a:noFill/>
          <a:ln/>
        </p:spPr>
        <p:txBody>
          <a:bodyPr wrap="square" lIns="0" tIns="0" rIns="0" bIns="0" rtlCol="0" anchor="t"/>
          <a:lstStyle/>
          <a:p>
            <a:pPr marL="0" indent="0">
              <a:buNone/>
            </a:pPr>
            <a:r>
              <a:rPr lang="it-IT" sz="1600" b="1" noProof="0" dirty="0">
                <a:solidFill>
                  <a:schemeClr val="tx1"/>
                </a:solidFill>
              </a:rPr>
              <a:t>Modelli generalisti</a:t>
            </a:r>
            <a:endParaRPr lang="it-IT" sz="1600" noProof="0" dirty="0"/>
          </a:p>
        </p:txBody>
      </p:sp>
      <p:sp>
        <p:nvSpPr>
          <p:cNvPr id="15" name="Text 10"/>
          <p:cNvSpPr txBox="1"/>
          <p:nvPr/>
        </p:nvSpPr>
        <p:spPr>
          <a:xfrm>
            <a:off x="3456432" y="3474720"/>
            <a:ext cx="2286000" cy="274320"/>
          </a:xfrm>
          <a:prstGeom prst="rect">
            <a:avLst/>
          </a:prstGeom>
          <a:noFill/>
          <a:ln/>
        </p:spPr>
        <p:txBody>
          <a:bodyPr wrap="square" lIns="0" tIns="0" rIns="0" bIns="0" rtlCol="0" anchor="t"/>
          <a:lstStyle/>
          <a:p>
            <a:pPr marL="0" indent="0">
              <a:buNone/>
            </a:pPr>
            <a:r>
              <a:rPr lang="it-IT" sz="1300" b="1" noProof="0" dirty="0">
                <a:solidFill>
                  <a:schemeClr val="accent1"/>
                </a:solidFill>
              </a:rPr>
              <a:t>Molti compiti diversi</a:t>
            </a:r>
            <a:endParaRPr lang="it-IT" sz="1300" noProof="0" dirty="0"/>
          </a:p>
        </p:txBody>
      </p:sp>
      <p:sp>
        <p:nvSpPr>
          <p:cNvPr id="16" name="Text 11"/>
          <p:cNvSpPr txBox="1"/>
          <p:nvPr/>
        </p:nvSpPr>
        <p:spPr>
          <a:xfrm>
            <a:off x="3456432" y="3794760"/>
            <a:ext cx="2286000" cy="640080"/>
          </a:xfrm>
          <a:prstGeom prst="rect">
            <a:avLst/>
          </a:prstGeom>
          <a:noFill/>
          <a:ln/>
        </p:spPr>
        <p:txBody>
          <a:bodyPr wrap="square" lIns="0" tIns="0" rIns="0" bIns="0" rtlCol="0" anchor="t"/>
          <a:lstStyle/>
          <a:p>
            <a:pPr marL="0" indent="0">
              <a:buNone/>
            </a:pPr>
            <a:r>
              <a:rPr lang="it-IT" sz="1200" noProof="0" dirty="0">
                <a:solidFill>
                  <a:schemeClr val="tx1"/>
                </a:solidFill>
              </a:rPr>
              <a:t>Grandi modelli linguistici e multimodali</a:t>
            </a:r>
            <a:endParaRPr lang="it-IT" sz="1200" noProof="0" dirty="0"/>
          </a:p>
        </p:txBody>
      </p:sp>
      <p:sp>
        <p:nvSpPr>
          <p:cNvPr id="17" name="cerchio FiHelpCircle"/>
          <p:cNvSpPr/>
          <p:nvPr/>
        </p:nvSpPr>
        <p:spPr>
          <a:xfrm>
            <a:off x="7150608" y="2011680"/>
            <a:ext cx="822960" cy="822960"/>
          </a:xfrm>
          <a:prstGeom prst="ellipse">
            <a:avLst/>
          </a:prstGeom>
          <a:solidFill>
            <a:schemeClr val="accent2"/>
          </a:solidFill>
          <a:ln/>
        </p:spPr>
        <p:txBody>
          <a:bodyPr/>
          <a:lstStyle/>
          <a:p>
            <a:endParaRPr lang="it-IT" noProof="0" dirty="0"/>
          </a:p>
        </p:txBody>
      </p:sp>
      <p:pic>
        <p:nvPicPr>
          <p:cNvPr id="18" name="Image 2" descr="FiHelpCircle"/>
          <p:cNvPicPr>
            <a:picLocks noChangeAspect="1"/>
          </p:cNvPicPr>
          <p:nvPr/>
        </p:nvPicPr>
        <p:blipFill>
          <a:blip r:embed="rId5"/>
          <a:stretch>
            <a:fillRect/>
          </a:stretch>
        </p:blipFill>
        <p:spPr>
          <a:xfrm>
            <a:off x="7356348" y="2217420"/>
            <a:ext cx="411480" cy="411480"/>
          </a:xfrm>
          <a:prstGeom prst="rect">
            <a:avLst/>
          </a:prstGeom>
        </p:spPr>
      </p:pic>
      <p:sp>
        <p:nvSpPr>
          <p:cNvPr id="19" name="AGI"/>
          <p:cNvSpPr/>
          <p:nvPr/>
        </p:nvSpPr>
        <p:spPr>
          <a:xfrm>
            <a:off x="6126480" y="3017520"/>
            <a:ext cx="2606040" cy="1508760"/>
          </a:xfrm>
          <a:prstGeom prst="roundRect">
            <a:avLst>
              <a:gd name="adj" fmla="val 4848"/>
            </a:avLst>
          </a:prstGeom>
          <a:solidFill>
            <a:schemeClr val="tx1"/>
          </a:solidFill>
          <a:ln/>
        </p:spPr>
        <p:txBody>
          <a:bodyPr/>
          <a:lstStyle/>
          <a:p>
            <a:endParaRPr lang="it-IT" noProof="0" dirty="0"/>
          </a:p>
        </p:txBody>
      </p:sp>
      <p:sp>
        <p:nvSpPr>
          <p:cNvPr id="20" name="Text 14"/>
          <p:cNvSpPr txBox="1"/>
          <p:nvPr/>
        </p:nvSpPr>
        <p:spPr>
          <a:xfrm>
            <a:off x="6291072" y="3127248"/>
            <a:ext cx="2286000" cy="320040"/>
          </a:xfrm>
          <a:prstGeom prst="rect">
            <a:avLst/>
          </a:prstGeom>
          <a:noFill/>
          <a:ln/>
        </p:spPr>
        <p:txBody>
          <a:bodyPr wrap="square" lIns="0" tIns="0" rIns="0" bIns="0" rtlCol="0" anchor="t"/>
          <a:lstStyle/>
          <a:p>
            <a:pPr marL="0" indent="0">
              <a:buNone/>
            </a:pPr>
            <a:r>
              <a:rPr lang="it-IT" sz="1600" b="1" noProof="0" dirty="0">
                <a:solidFill>
                  <a:schemeClr val="bg1"/>
                </a:solidFill>
              </a:rPr>
              <a:t>AGI</a:t>
            </a:r>
            <a:endParaRPr lang="it-IT" sz="1600" noProof="0" dirty="0"/>
          </a:p>
        </p:txBody>
      </p:sp>
      <p:sp>
        <p:nvSpPr>
          <p:cNvPr id="21" name="Text 15"/>
          <p:cNvSpPr txBox="1"/>
          <p:nvPr/>
        </p:nvSpPr>
        <p:spPr>
          <a:xfrm>
            <a:off x="6291072" y="3474720"/>
            <a:ext cx="2286000" cy="274320"/>
          </a:xfrm>
          <a:prstGeom prst="rect">
            <a:avLst/>
          </a:prstGeom>
          <a:noFill/>
          <a:ln/>
        </p:spPr>
        <p:txBody>
          <a:bodyPr wrap="square" lIns="0" tIns="0" rIns="0" bIns="0" rtlCol="0" anchor="t"/>
          <a:lstStyle/>
          <a:p>
            <a:pPr marL="0" indent="0">
              <a:buNone/>
            </a:pPr>
            <a:r>
              <a:rPr lang="it-IT" sz="1300" b="1" noProof="0" dirty="0">
                <a:solidFill>
                  <a:schemeClr val="accent3"/>
                </a:solidFill>
              </a:rPr>
              <a:t>Ipotetica e dibattuta</a:t>
            </a:r>
            <a:endParaRPr lang="it-IT" sz="1300" noProof="0" dirty="0"/>
          </a:p>
        </p:txBody>
      </p:sp>
      <p:sp>
        <p:nvSpPr>
          <p:cNvPr id="22" name="Text 16"/>
          <p:cNvSpPr txBox="1"/>
          <p:nvPr/>
        </p:nvSpPr>
        <p:spPr>
          <a:xfrm>
            <a:off x="6291072" y="3794760"/>
            <a:ext cx="2286000" cy="640080"/>
          </a:xfrm>
          <a:prstGeom prst="rect">
            <a:avLst/>
          </a:prstGeom>
          <a:noFill/>
          <a:ln/>
        </p:spPr>
        <p:txBody>
          <a:bodyPr wrap="square" lIns="0" tIns="0" rIns="0" bIns="0" rtlCol="0" anchor="t"/>
          <a:lstStyle/>
          <a:p>
            <a:pPr marL="0" indent="0">
              <a:buNone/>
            </a:pPr>
            <a:r>
              <a:rPr lang="it-IT" sz="1200" noProof="0" dirty="0">
                <a:solidFill>
                  <a:schemeClr val="bg1"/>
                </a:solidFill>
              </a:rPr>
              <a:t>La maggior parte dei compiti cognitivi umani</a:t>
            </a:r>
            <a:endParaRPr lang="it-IT" sz="1200" noProof="0" dirty="0"/>
          </a:p>
        </p:txBody>
      </p:sp>
      <p:sp>
        <p:nvSpPr>
          <p:cNvPr id="23" name="Text 17"/>
          <p:cNvSpPr txBox="1"/>
          <p:nvPr/>
        </p:nvSpPr>
        <p:spPr>
          <a:xfrm>
            <a:off x="457200" y="1143000"/>
            <a:ext cx="5394960" cy="274320"/>
          </a:xfrm>
          <a:prstGeom prst="rect">
            <a:avLst/>
          </a:prstGeom>
          <a:noFill/>
          <a:ln/>
        </p:spPr>
        <p:txBody>
          <a:bodyPr wrap="square" lIns="0" tIns="0" rIns="0" bIns="0" rtlCol="0" anchor="t"/>
          <a:lstStyle/>
          <a:p>
            <a:pPr marL="0" indent="0" algn="ctr">
              <a:buNone/>
            </a:pPr>
            <a:r>
              <a:rPr lang="it-IT" sz="1300" b="1" noProof="0" dirty="0">
                <a:solidFill>
                  <a:schemeClr val="accent1"/>
                </a:solidFill>
              </a:rPr>
              <a:t>Oggi in uso</a:t>
            </a:r>
            <a:endParaRPr lang="it-IT" sz="1300" noProof="0" dirty="0"/>
          </a:p>
        </p:txBody>
      </p:sp>
      <p:sp>
        <p:nvSpPr>
          <p:cNvPr id="24" name="Text 18"/>
          <p:cNvSpPr txBox="1"/>
          <p:nvPr/>
        </p:nvSpPr>
        <p:spPr>
          <a:xfrm>
            <a:off x="6126480" y="1143000"/>
            <a:ext cx="2377440" cy="274320"/>
          </a:xfrm>
          <a:prstGeom prst="rect">
            <a:avLst/>
          </a:prstGeom>
          <a:noFill/>
          <a:ln/>
        </p:spPr>
        <p:txBody>
          <a:bodyPr wrap="square" lIns="0" tIns="0" rIns="0" bIns="0" rtlCol="0" anchor="t"/>
          <a:lstStyle/>
          <a:p>
            <a:pPr marL="0" indent="0" algn="ctr">
              <a:buNone/>
            </a:pPr>
            <a:r>
              <a:rPr lang="it-IT" sz="1300" b="1" noProof="0" dirty="0">
                <a:solidFill>
                  <a:schemeClr val="accent2"/>
                </a:solidFill>
              </a:rPr>
              <a:t>Oggetto di dibattito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9</a:t>
            </a:fld>
            <a:endParaRPr lang="it-IT"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Comprensione apparente: l'effetto ELIZA</a:t>
            </a:r>
            <a:endParaRPr lang="it-IT" sz="2600" noProof="0" dirty="0"/>
          </a:p>
        </p:txBody>
      </p:sp>
      <p:sp>
        <p:nvSpPr>
          <p:cNvPr id="4" name="ELIZA"/>
          <p:cNvSpPr/>
          <p:nvPr/>
        </p:nvSpPr>
        <p:spPr>
          <a:xfrm>
            <a:off x="457200" y="1097280"/>
            <a:ext cx="3657600" cy="3429000"/>
          </a:xfrm>
          <a:prstGeom prst="roundRect">
            <a:avLst>
              <a:gd name="adj" fmla="val 2133"/>
            </a:avLst>
          </a:prstGeom>
          <a:solidFill>
            <a:schemeClr val="bg2"/>
          </a:solidFill>
          <a:ln/>
        </p:spPr>
        <p:txBody>
          <a:bodyPr/>
          <a:lstStyle/>
          <a:p>
            <a:endParaRPr lang="it-IT" noProof="0" dirty="0"/>
          </a:p>
        </p:txBody>
      </p:sp>
      <p:sp>
        <p:nvSpPr>
          <p:cNvPr id="5" name="Text 2"/>
          <p:cNvSpPr txBox="1"/>
          <p:nvPr/>
        </p:nvSpPr>
        <p:spPr>
          <a:xfrm>
            <a:off x="640080" y="1234440"/>
            <a:ext cx="3291840" cy="365760"/>
          </a:xfrm>
          <a:prstGeom prst="rect">
            <a:avLst/>
          </a:prstGeom>
          <a:noFill/>
          <a:ln/>
        </p:spPr>
        <p:txBody>
          <a:bodyPr wrap="square" lIns="0" tIns="0" rIns="0" bIns="0" rtlCol="0" anchor="t"/>
          <a:lstStyle/>
          <a:p>
            <a:pPr marL="0" indent="0">
              <a:buNone/>
            </a:pPr>
            <a:r>
              <a:rPr lang="it-IT" sz="1800" b="1" noProof="0" dirty="0">
                <a:solidFill>
                  <a:schemeClr val="accent1"/>
                </a:solidFill>
              </a:rPr>
              <a:t>1966: ELIZA</a:t>
            </a:r>
            <a:endParaRPr lang="it-IT" sz="1800" noProof="0" dirty="0"/>
          </a:p>
        </p:txBody>
      </p:sp>
      <p:sp>
        <p:nvSpPr>
          <p:cNvPr id="6" name="Text 3"/>
          <p:cNvSpPr txBox="1"/>
          <p:nvPr/>
        </p:nvSpPr>
        <p:spPr>
          <a:xfrm>
            <a:off x="640080" y="1627632"/>
            <a:ext cx="3291840" cy="502920"/>
          </a:xfrm>
          <a:prstGeom prst="rect">
            <a:avLst/>
          </a:prstGeom>
          <a:noFill/>
          <a:ln/>
        </p:spPr>
        <p:txBody>
          <a:bodyPr wrap="square" lIns="0" tIns="0" rIns="0" bIns="0" rtlCol="0" anchor="t"/>
          <a:lstStyle/>
          <a:p>
            <a:pPr marL="0" indent="0">
              <a:buNone/>
            </a:pPr>
            <a:r>
              <a:rPr lang="it-IT" sz="1300" noProof="0" dirty="0">
                <a:solidFill>
                  <a:schemeClr val="tx2"/>
                </a:solidFill>
              </a:rPr>
              <a:t>Un programma di poche regole che simulava uno psicoterapeuta</a:t>
            </a:r>
            <a:endParaRPr lang="it-IT" sz="1300" noProof="0" dirty="0"/>
          </a:p>
        </p:txBody>
      </p:sp>
      <p:sp>
        <p:nvSpPr>
          <p:cNvPr id="7" name="blocco Sono triste per mio padre"/>
          <p:cNvSpPr/>
          <p:nvPr/>
        </p:nvSpPr>
        <p:spPr>
          <a:xfrm>
            <a:off x="640080" y="2240280"/>
            <a:ext cx="2743200" cy="457200"/>
          </a:xfrm>
          <a:prstGeom prst="roundRect">
            <a:avLst>
              <a:gd name="adj" fmla="val 24000"/>
            </a:avLst>
          </a:prstGeom>
          <a:solidFill>
            <a:schemeClr val="bg1"/>
          </a:solidFill>
          <a:ln/>
        </p:spPr>
        <p:txBody>
          <a:bodyPr/>
          <a:lstStyle/>
          <a:p>
            <a:endParaRPr lang="it-IT" noProof="0" dirty="0"/>
          </a:p>
        </p:txBody>
      </p:sp>
      <p:sp>
        <p:nvSpPr>
          <p:cNvPr id="8" name="Text 5"/>
          <p:cNvSpPr txBox="1"/>
          <p:nvPr/>
        </p:nvSpPr>
        <p:spPr>
          <a:xfrm>
            <a:off x="685800" y="2240280"/>
            <a:ext cx="2651760" cy="457200"/>
          </a:xfrm>
          <a:prstGeom prst="rect">
            <a:avLst/>
          </a:prstGeom>
          <a:noFill/>
          <a:ln/>
        </p:spPr>
        <p:txBody>
          <a:bodyPr wrap="square" lIns="0" tIns="0" rIns="0" bIns="0" rtlCol="0" anchor="ctr"/>
          <a:lstStyle/>
          <a:p>
            <a:pPr marL="0" indent="0" algn="ctr">
              <a:buNone/>
            </a:pPr>
            <a:r>
              <a:rPr lang="it-IT" sz="1200" noProof="0" dirty="0">
                <a:solidFill>
                  <a:schemeClr val="tx1"/>
                </a:solidFill>
              </a:rPr>
              <a:t>Sono triste per mio padre</a:t>
            </a:r>
            <a:endParaRPr lang="it-IT" sz="1200" noProof="0" dirty="0"/>
          </a:p>
        </p:txBody>
      </p:sp>
      <p:sp>
        <p:nvSpPr>
          <p:cNvPr id="9" name="blocco Parlami della tua famiglia"/>
          <p:cNvSpPr/>
          <p:nvPr/>
        </p:nvSpPr>
        <p:spPr>
          <a:xfrm>
            <a:off x="1188720" y="2788920"/>
            <a:ext cx="2743200" cy="457200"/>
          </a:xfrm>
          <a:prstGeom prst="roundRect">
            <a:avLst>
              <a:gd name="adj" fmla="val 24000"/>
            </a:avLst>
          </a:prstGeom>
          <a:solidFill>
            <a:schemeClr val="accent1"/>
          </a:solidFill>
          <a:ln/>
        </p:spPr>
        <p:txBody>
          <a:bodyPr/>
          <a:lstStyle/>
          <a:p>
            <a:endParaRPr lang="it-IT" noProof="0" dirty="0"/>
          </a:p>
        </p:txBody>
      </p:sp>
      <p:sp>
        <p:nvSpPr>
          <p:cNvPr id="10" name="Text 7"/>
          <p:cNvSpPr txBox="1"/>
          <p:nvPr/>
        </p:nvSpPr>
        <p:spPr>
          <a:xfrm>
            <a:off x="1234440" y="2788920"/>
            <a:ext cx="2651760" cy="457200"/>
          </a:xfrm>
          <a:prstGeom prst="rect">
            <a:avLst/>
          </a:prstGeom>
          <a:noFill/>
          <a:ln/>
        </p:spPr>
        <p:txBody>
          <a:bodyPr wrap="square" lIns="0" tIns="0" rIns="0" bIns="0" rtlCol="0" anchor="ctr"/>
          <a:lstStyle/>
          <a:p>
            <a:pPr marL="0" indent="0" algn="ctr">
              <a:buNone/>
            </a:pPr>
            <a:r>
              <a:rPr lang="it-IT" sz="1200" noProof="0" dirty="0">
                <a:solidFill>
                  <a:schemeClr val="bg1"/>
                </a:solidFill>
              </a:rPr>
              <a:t>Parlami della tua famiglia</a:t>
            </a:r>
            <a:endParaRPr lang="it-IT" sz="1200" noProof="0" dirty="0"/>
          </a:p>
        </p:txBody>
      </p:sp>
      <p:sp>
        <p:nvSpPr>
          <p:cNvPr id="11" name="Text 8"/>
          <p:cNvSpPr txBox="1"/>
          <p:nvPr/>
        </p:nvSpPr>
        <p:spPr>
          <a:xfrm>
            <a:off x="640080" y="3429000"/>
            <a:ext cx="3291840" cy="548640"/>
          </a:xfrm>
          <a:prstGeom prst="rect">
            <a:avLst/>
          </a:prstGeom>
          <a:noFill/>
          <a:ln/>
        </p:spPr>
        <p:txBody>
          <a:bodyPr wrap="square" lIns="0" tIns="0" rIns="0" bIns="0" rtlCol="0" anchor="t"/>
          <a:lstStyle/>
          <a:p>
            <a:pPr marL="0" indent="0">
              <a:buNone/>
            </a:pPr>
            <a:r>
              <a:rPr lang="it-IT" sz="1300" i="1" noProof="0" dirty="0">
                <a:solidFill>
                  <a:schemeClr val="tx1"/>
                </a:solidFill>
              </a:rPr>
              <a:t>Molti utenti gli attribuivano comprensione ed empatia.</a:t>
            </a:r>
            <a:endParaRPr lang="it-IT" sz="1300" noProof="0" dirty="0"/>
          </a:p>
        </p:txBody>
      </p:sp>
      <p:sp>
        <p:nvSpPr>
          <p:cNvPr id="12" name="Text 9"/>
          <p:cNvSpPr txBox="1"/>
          <p:nvPr/>
        </p:nvSpPr>
        <p:spPr>
          <a:xfrm>
            <a:off x="640080" y="4160520"/>
            <a:ext cx="3291840" cy="274320"/>
          </a:xfrm>
          <a:prstGeom prst="rect">
            <a:avLst/>
          </a:prstGeom>
          <a:noFill/>
          <a:ln/>
        </p:spPr>
        <p:txBody>
          <a:bodyPr wrap="square" lIns="0" tIns="0" rIns="0" bIns="0" rtlCol="0" anchor="t"/>
          <a:lstStyle/>
          <a:p>
            <a:pPr marL="0" indent="0">
              <a:buNone/>
            </a:pPr>
            <a:r>
              <a:rPr lang="it-IT" sz="1000" noProof="0" dirty="0">
                <a:solidFill>
                  <a:schemeClr val="accent2"/>
                </a:solidFill>
              </a:rPr>
              <a:t>Fonte: </a:t>
            </a:r>
            <a:r>
              <a:rPr lang="it-IT" sz="1000" noProof="0" dirty="0" err="1">
                <a:solidFill>
                  <a:schemeClr val="accent2"/>
                </a:solidFill>
              </a:rPr>
              <a:t>Weizenbaum</a:t>
            </a:r>
            <a:r>
              <a:rPr lang="it-IT" sz="1000" noProof="0" dirty="0">
                <a:solidFill>
                  <a:schemeClr val="accent2"/>
                </a:solidFill>
              </a:rPr>
              <a:t>, 1966</a:t>
            </a:r>
            <a:endParaRPr lang="it-IT" sz="1000" noProof="0" dirty="0"/>
          </a:p>
        </p:txBody>
      </p:sp>
      <p:sp>
        <p:nvSpPr>
          <p:cNvPr id="13" name="Text 10"/>
          <p:cNvSpPr txBox="1"/>
          <p:nvPr/>
        </p:nvSpPr>
        <p:spPr>
          <a:xfrm>
            <a:off x="4434840" y="1097280"/>
            <a:ext cx="4206240" cy="320040"/>
          </a:xfrm>
          <a:prstGeom prst="rect">
            <a:avLst/>
          </a:prstGeom>
          <a:noFill/>
          <a:ln/>
        </p:spPr>
        <p:txBody>
          <a:bodyPr wrap="square" lIns="0" tIns="0" rIns="0" bIns="0" rtlCol="0" anchor="t"/>
          <a:lstStyle/>
          <a:p>
            <a:pPr marL="0" indent="0">
              <a:buNone/>
            </a:pPr>
            <a:r>
              <a:rPr lang="it-IT" sz="1600" b="1" noProof="0" dirty="0">
                <a:solidFill>
                  <a:schemeClr val="tx1"/>
                </a:solidFill>
              </a:rPr>
              <a:t>L'effetto ELIZA oggi</a:t>
            </a:r>
            <a:endParaRPr lang="it-IT" sz="1600" noProof="0" dirty="0"/>
          </a:p>
        </p:txBody>
      </p:sp>
      <p:sp>
        <p:nvSpPr>
          <p:cNvPr id="14" name="cerchio FiMessageCircle"/>
          <p:cNvSpPr/>
          <p:nvPr/>
        </p:nvSpPr>
        <p:spPr>
          <a:xfrm>
            <a:off x="4434840" y="1554480"/>
            <a:ext cx="457200" cy="457200"/>
          </a:xfrm>
          <a:prstGeom prst="ellipse">
            <a:avLst/>
          </a:prstGeom>
          <a:solidFill>
            <a:schemeClr val="accent1"/>
          </a:solidFill>
          <a:ln/>
        </p:spPr>
        <p:txBody>
          <a:bodyPr/>
          <a:lstStyle/>
          <a:p>
            <a:endParaRPr lang="it-IT" noProof="0" dirty="0"/>
          </a:p>
        </p:txBody>
      </p:sp>
      <p:pic>
        <p:nvPicPr>
          <p:cNvPr id="15" name="Image 0" descr="FiMessageCircle"/>
          <p:cNvPicPr>
            <a:picLocks noChangeAspect="1"/>
          </p:cNvPicPr>
          <p:nvPr/>
        </p:nvPicPr>
        <p:blipFill>
          <a:blip r:embed="rId3"/>
          <a:stretch>
            <a:fillRect/>
          </a:stretch>
        </p:blipFill>
        <p:spPr>
          <a:xfrm>
            <a:off x="4549140" y="1668780"/>
            <a:ext cx="228600" cy="228600"/>
          </a:xfrm>
          <a:prstGeom prst="rect">
            <a:avLst/>
          </a:prstGeom>
        </p:spPr>
      </p:pic>
      <p:sp>
        <p:nvSpPr>
          <p:cNvPr id="16" name="Text 12"/>
          <p:cNvSpPr txBox="1"/>
          <p:nvPr/>
        </p:nvSpPr>
        <p:spPr>
          <a:xfrm>
            <a:off x="5029200" y="1554480"/>
            <a:ext cx="3657600" cy="457200"/>
          </a:xfrm>
          <a:prstGeom prst="rect">
            <a:avLst/>
          </a:prstGeom>
          <a:noFill/>
          <a:ln/>
        </p:spPr>
        <p:txBody>
          <a:bodyPr wrap="square" lIns="0" tIns="0" rIns="0" bIns="0" rtlCol="0" anchor="ctr"/>
          <a:lstStyle/>
          <a:p>
            <a:pPr marL="0" indent="0">
              <a:buNone/>
            </a:pPr>
            <a:r>
              <a:rPr lang="it-IT" sz="1400" noProof="0" dirty="0">
                <a:solidFill>
                  <a:schemeClr val="tx1"/>
                </a:solidFill>
              </a:rPr>
              <a:t>Linguaggio molto più fluente e naturale</a:t>
            </a:r>
            <a:endParaRPr lang="it-IT" sz="1400" noProof="0" dirty="0"/>
          </a:p>
        </p:txBody>
      </p:sp>
      <p:sp>
        <p:nvSpPr>
          <p:cNvPr id="17" name="cerchio FiSmile"/>
          <p:cNvSpPr/>
          <p:nvPr/>
        </p:nvSpPr>
        <p:spPr>
          <a:xfrm>
            <a:off x="4434840" y="2286000"/>
            <a:ext cx="457200" cy="457200"/>
          </a:xfrm>
          <a:prstGeom prst="ellipse">
            <a:avLst/>
          </a:prstGeom>
          <a:solidFill>
            <a:schemeClr val="accent1"/>
          </a:solidFill>
          <a:ln/>
        </p:spPr>
        <p:txBody>
          <a:bodyPr/>
          <a:lstStyle/>
          <a:p>
            <a:endParaRPr lang="it-IT" noProof="0" dirty="0"/>
          </a:p>
        </p:txBody>
      </p:sp>
      <p:pic>
        <p:nvPicPr>
          <p:cNvPr id="18" name="Image 1" descr="FiSmile"/>
          <p:cNvPicPr>
            <a:picLocks noChangeAspect="1"/>
          </p:cNvPicPr>
          <p:nvPr/>
        </p:nvPicPr>
        <p:blipFill>
          <a:blip r:embed="rId4"/>
          <a:stretch>
            <a:fillRect/>
          </a:stretch>
        </p:blipFill>
        <p:spPr>
          <a:xfrm>
            <a:off x="4549140" y="2400300"/>
            <a:ext cx="228600" cy="228600"/>
          </a:xfrm>
          <a:prstGeom prst="rect">
            <a:avLst/>
          </a:prstGeom>
        </p:spPr>
      </p:pic>
      <p:sp>
        <p:nvSpPr>
          <p:cNvPr id="19" name="Text 14"/>
          <p:cNvSpPr txBox="1"/>
          <p:nvPr/>
        </p:nvSpPr>
        <p:spPr>
          <a:xfrm>
            <a:off x="5029200" y="2286000"/>
            <a:ext cx="3657600" cy="457200"/>
          </a:xfrm>
          <a:prstGeom prst="rect">
            <a:avLst/>
          </a:prstGeom>
          <a:noFill/>
          <a:ln/>
        </p:spPr>
        <p:txBody>
          <a:bodyPr wrap="square" lIns="0" tIns="0" rIns="0" bIns="0" rtlCol="0" anchor="ctr"/>
          <a:lstStyle/>
          <a:p>
            <a:pPr marL="0" indent="0">
              <a:buNone/>
            </a:pPr>
            <a:r>
              <a:rPr lang="it-IT" sz="1400" noProof="0" dirty="0">
                <a:solidFill>
                  <a:schemeClr val="tx1"/>
                </a:solidFill>
              </a:rPr>
              <a:t>Espressioni come "penso", "mi dispiace", "capisco"</a:t>
            </a:r>
            <a:endParaRPr lang="it-IT" sz="1400" noProof="0" dirty="0"/>
          </a:p>
        </p:txBody>
      </p:sp>
      <p:sp>
        <p:nvSpPr>
          <p:cNvPr id="20" name="cerchio FiUser"/>
          <p:cNvSpPr/>
          <p:nvPr/>
        </p:nvSpPr>
        <p:spPr>
          <a:xfrm>
            <a:off x="4434840" y="3017520"/>
            <a:ext cx="457200" cy="457200"/>
          </a:xfrm>
          <a:prstGeom prst="ellipse">
            <a:avLst/>
          </a:prstGeom>
          <a:solidFill>
            <a:schemeClr val="accent1"/>
          </a:solidFill>
          <a:ln/>
        </p:spPr>
        <p:txBody>
          <a:bodyPr/>
          <a:lstStyle/>
          <a:p>
            <a:endParaRPr lang="it-IT" noProof="0" dirty="0"/>
          </a:p>
        </p:txBody>
      </p:sp>
      <p:pic>
        <p:nvPicPr>
          <p:cNvPr id="21" name="Image 2" descr="FiUser"/>
          <p:cNvPicPr>
            <a:picLocks noChangeAspect="1"/>
          </p:cNvPicPr>
          <p:nvPr/>
        </p:nvPicPr>
        <p:blipFill>
          <a:blip r:embed="rId5"/>
          <a:stretch>
            <a:fillRect/>
          </a:stretch>
        </p:blipFill>
        <p:spPr>
          <a:xfrm>
            <a:off x="4549140" y="3131820"/>
            <a:ext cx="228600" cy="228600"/>
          </a:xfrm>
          <a:prstGeom prst="rect">
            <a:avLst/>
          </a:prstGeom>
        </p:spPr>
      </p:pic>
      <p:sp>
        <p:nvSpPr>
          <p:cNvPr id="22" name="Text 16"/>
          <p:cNvSpPr txBox="1"/>
          <p:nvPr/>
        </p:nvSpPr>
        <p:spPr>
          <a:xfrm>
            <a:off x="5029200" y="3017520"/>
            <a:ext cx="3657600" cy="457200"/>
          </a:xfrm>
          <a:prstGeom prst="rect">
            <a:avLst/>
          </a:prstGeom>
          <a:noFill/>
          <a:ln/>
        </p:spPr>
        <p:txBody>
          <a:bodyPr wrap="square" lIns="0" tIns="0" rIns="0" bIns="0" rtlCol="0" anchor="ctr"/>
          <a:lstStyle/>
          <a:p>
            <a:pPr marL="0" indent="0">
              <a:buNone/>
            </a:pPr>
            <a:r>
              <a:rPr lang="it-IT" sz="1400" noProof="0" dirty="0">
                <a:solidFill>
                  <a:schemeClr val="tx1"/>
                </a:solidFill>
              </a:rPr>
              <a:t>Interfacce conversazionali che invitano al dialogo</a:t>
            </a:r>
            <a:endParaRPr lang="it-IT" sz="1400" noProof="0" dirty="0"/>
          </a:p>
        </p:txBody>
      </p:sp>
      <p:sp>
        <p:nvSpPr>
          <p:cNvPr id="23" name="cerchio FiEye"/>
          <p:cNvSpPr/>
          <p:nvPr/>
        </p:nvSpPr>
        <p:spPr>
          <a:xfrm>
            <a:off x="4434840" y="3749040"/>
            <a:ext cx="457200" cy="457200"/>
          </a:xfrm>
          <a:prstGeom prst="ellipse">
            <a:avLst/>
          </a:prstGeom>
          <a:solidFill>
            <a:schemeClr val="accent5"/>
          </a:solidFill>
          <a:ln/>
        </p:spPr>
        <p:txBody>
          <a:bodyPr/>
          <a:lstStyle/>
          <a:p>
            <a:endParaRPr lang="it-IT" noProof="0" dirty="0"/>
          </a:p>
        </p:txBody>
      </p:sp>
      <p:pic>
        <p:nvPicPr>
          <p:cNvPr id="24" name="Image 3" descr="FiEye"/>
          <p:cNvPicPr>
            <a:picLocks noChangeAspect="1"/>
          </p:cNvPicPr>
          <p:nvPr/>
        </p:nvPicPr>
        <p:blipFill>
          <a:blip r:embed="rId6"/>
          <a:stretch>
            <a:fillRect/>
          </a:stretch>
        </p:blipFill>
        <p:spPr>
          <a:xfrm>
            <a:off x="4549140" y="3863340"/>
            <a:ext cx="228600" cy="228600"/>
          </a:xfrm>
          <a:prstGeom prst="rect">
            <a:avLst/>
          </a:prstGeom>
        </p:spPr>
      </p:pic>
      <p:sp>
        <p:nvSpPr>
          <p:cNvPr id="25" name="Text 18"/>
          <p:cNvSpPr txBox="1"/>
          <p:nvPr/>
        </p:nvSpPr>
        <p:spPr>
          <a:xfrm>
            <a:off x="5029200" y="3749040"/>
            <a:ext cx="3657600" cy="457200"/>
          </a:xfrm>
          <a:prstGeom prst="rect">
            <a:avLst/>
          </a:prstGeom>
          <a:noFill/>
          <a:ln/>
        </p:spPr>
        <p:txBody>
          <a:bodyPr wrap="square" lIns="0" tIns="0" rIns="0" bIns="0" rtlCol="0" anchor="ctr"/>
          <a:lstStyle/>
          <a:p>
            <a:pPr marL="0" indent="0">
              <a:buNone/>
            </a:pPr>
            <a:r>
              <a:rPr lang="it-IT" sz="1400" b="1" noProof="0" dirty="0">
                <a:solidFill>
                  <a:schemeClr val="tx1"/>
                </a:solidFill>
              </a:rPr>
              <a:t>Formule apprese da testi umani: non provano pensieri o emozioni</a:t>
            </a:r>
            <a:endParaRPr lang="it-IT" sz="14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10</a:t>
            </a:fld>
            <a:endParaRPr lang="it-IT"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Che cosa osserviamo e che cosa possiamo concludere</a:t>
            </a:r>
            <a:endParaRPr lang="it-IT" sz="2600" noProof="0" dirty="0"/>
          </a:p>
        </p:txBody>
      </p:sp>
      <p:sp>
        <p:nvSpPr>
          <p:cNvPr id="4" name="Text 1"/>
          <p:cNvSpPr txBox="1"/>
          <p:nvPr/>
        </p:nvSpPr>
        <p:spPr>
          <a:xfrm>
            <a:off x="1097280" y="1051560"/>
            <a:ext cx="3291840" cy="274320"/>
          </a:xfrm>
          <a:prstGeom prst="rect">
            <a:avLst/>
          </a:prstGeom>
          <a:noFill/>
          <a:ln/>
        </p:spPr>
        <p:txBody>
          <a:bodyPr wrap="square" lIns="0" tIns="0" rIns="0" bIns="0" rtlCol="0" anchor="t"/>
          <a:lstStyle/>
          <a:p>
            <a:pPr marL="0" indent="0">
              <a:buNone/>
            </a:pPr>
            <a:r>
              <a:rPr lang="it-IT" sz="1200" b="1" noProof="0" dirty="0">
                <a:solidFill>
                  <a:schemeClr val="accent2"/>
                </a:solidFill>
              </a:rPr>
              <a:t>Che cosa vediamo</a:t>
            </a:r>
            <a:endParaRPr lang="it-IT" sz="1200" noProof="0" dirty="0"/>
          </a:p>
        </p:txBody>
      </p:sp>
      <p:sp>
        <p:nvSpPr>
          <p:cNvPr id="5" name="Text 2"/>
          <p:cNvSpPr txBox="1"/>
          <p:nvPr/>
        </p:nvSpPr>
        <p:spPr>
          <a:xfrm>
            <a:off x="4937760" y="1051560"/>
            <a:ext cx="3657600" cy="274320"/>
          </a:xfrm>
          <a:prstGeom prst="rect">
            <a:avLst/>
          </a:prstGeom>
          <a:noFill/>
          <a:ln/>
        </p:spPr>
        <p:txBody>
          <a:bodyPr wrap="square" lIns="0" tIns="0" rIns="0" bIns="0" rtlCol="0" anchor="t"/>
          <a:lstStyle/>
          <a:p>
            <a:pPr marL="0" indent="0">
              <a:buNone/>
            </a:pPr>
            <a:r>
              <a:rPr lang="it-IT" sz="1200" b="1" noProof="0" dirty="0">
                <a:solidFill>
                  <a:schemeClr val="accent2"/>
                </a:solidFill>
              </a:rPr>
              <a:t>Che cosa possiamo concludere</a:t>
            </a:r>
            <a:endParaRPr lang="it-IT" sz="1200" noProof="0" dirty="0"/>
          </a:p>
        </p:txBody>
      </p:sp>
      <p:sp>
        <p:nvSpPr>
          <p:cNvPr id="6" name="Capacità osservabili"/>
          <p:cNvSpPr/>
          <p:nvPr/>
        </p:nvSpPr>
        <p:spPr>
          <a:xfrm>
            <a:off x="457200" y="1371600"/>
            <a:ext cx="8229600" cy="914400"/>
          </a:xfrm>
          <a:prstGeom prst="roundRect">
            <a:avLst>
              <a:gd name="adj" fmla="val 8000"/>
            </a:avLst>
          </a:prstGeom>
          <a:solidFill>
            <a:schemeClr val="accent6"/>
          </a:solidFill>
          <a:ln/>
        </p:spPr>
        <p:txBody>
          <a:bodyPr/>
          <a:lstStyle/>
          <a:p>
            <a:endParaRPr lang="it-IT" noProof="0" dirty="0"/>
          </a:p>
        </p:txBody>
      </p:sp>
      <p:sp>
        <p:nvSpPr>
          <p:cNvPr id="7" name="cerchio FiCheckCircle"/>
          <p:cNvSpPr/>
          <p:nvPr/>
        </p:nvSpPr>
        <p:spPr>
          <a:xfrm>
            <a:off x="594360" y="1600200"/>
            <a:ext cx="502920" cy="502920"/>
          </a:xfrm>
          <a:prstGeom prst="ellipse">
            <a:avLst/>
          </a:prstGeom>
          <a:solidFill>
            <a:schemeClr val="accent1"/>
          </a:solidFill>
          <a:ln/>
        </p:spPr>
        <p:txBody>
          <a:bodyPr/>
          <a:lstStyle/>
          <a:p>
            <a:endParaRPr lang="it-IT" noProof="0" dirty="0"/>
          </a:p>
        </p:txBody>
      </p:sp>
      <p:pic>
        <p:nvPicPr>
          <p:cNvPr id="8" name="Image 0" descr="FiCheckCircle"/>
          <p:cNvPicPr>
            <a:picLocks noChangeAspect="1"/>
          </p:cNvPicPr>
          <p:nvPr/>
        </p:nvPicPr>
        <p:blipFill>
          <a:blip r:embed="rId3"/>
          <a:stretch>
            <a:fillRect/>
          </a:stretch>
        </p:blipFill>
        <p:spPr>
          <a:xfrm>
            <a:off x="720090" y="1725930"/>
            <a:ext cx="251460" cy="251460"/>
          </a:xfrm>
          <a:prstGeom prst="rect">
            <a:avLst/>
          </a:prstGeom>
        </p:spPr>
      </p:pic>
      <p:sp>
        <p:nvSpPr>
          <p:cNvPr id="9" name="Text 5"/>
          <p:cNvSpPr txBox="1"/>
          <p:nvPr/>
        </p:nvSpPr>
        <p:spPr>
          <a:xfrm>
            <a:off x="1280160" y="1481328"/>
            <a:ext cx="3383280" cy="320040"/>
          </a:xfrm>
          <a:prstGeom prst="rect">
            <a:avLst/>
          </a:prstGeom>
          <a:noFill/>
          <a:ln/>
        </p:spPr>
        <p:txBody>
          <a:bodyPr wrap="square" lIns="0" tIns="0" rIns="0" bIns="0" rtlCol="0" anchor="t"/>
          <a:lstStyle/>
          <a:p>
            <a:pPr marL="0" indent="0">
              <a:buNone/>
            </a:pPr>
            <a:r>
              <a:rPr lang="it-IT" sz="1500" b="1" noProof="0" dirty="0">
                <a:solidFill>
                  <a:schemeClr val="tx1"/>
                </a:solidFill>
              </a:rPr>
              <a:t>Capacità osservabili</a:t>
            </a:r>
            <a:endParaRPr lang="it-IT" sz="1500" noProof="0" dirty="0"/>
          </a:p>
        </p:txBody>
      </p:sp>
      <p:sp>
        <p:nvSpPr>
          <p:cNvPr id="10" name="Text 6"/>
          <p:cNvSpPr txBox="1"/>
          <p:nvPr/>
        </p:nvSpPr>
        <p:spPr>
          <a:xfrm>
            <a:off x="1280160" y="1828800"/>
            <a:ext cx="3383280" cy="457200"/>
          </a:xfrm>
          <a:prstGeom prst="rect">
            <a:avLst/>
          </a:prstGeom>
          <a:noFill/>
          <a:ln/>
        </p:spPr>
        <p:txBody>
          <a:bodyPr wrap="square" lIns="0" tIns="0" rIns="0" bIns="0" rtlCol="0" anchor="t"/>
          <a:lstStyle/>
          <a:p>
            <a:pPr marL="0" indent="0">
              <a:buNone/>
            </a:pPr>
            <a:r>
              <a:rPr lang="it-IT" sz="1200" noProof="0" dirty="0">
                <a:solidFill>
                  <a:schemeClr val="tx2"/>
                </a:solidFill>
              </a:rPr>
              <a:t>Testo fluente, risposte pertinenti, problemi risolti</a:t>
            </a:r>
            <a:endParaRPr lang="it-IT" sz="1200" noProof="0" dirty="0"/>
          </a:p>
        </p:txBody>
      </p:sp>
      <p:sp>
        <p:nvSpPr>
          <p:cNvPr id="11" name="Text 7"/>
          <p:cNvSpPr txBox="1"/>
          <p:nvPr/>
        </p:nvSpPr>
        <p:spPr>
          <a:xfrm>
            <a:off x="4937760" y="1463040"/>
            <a:ext cx="3611880" cy="777240"/>
          </a:xfrm>
          <a:prstGeom prst="rect">
            <a:avLst/>
          </a:prstGeom>
          <a:noFill/>
          <a:ln/>
        </p:spPr>
        <p:txBody>
          <a:bodyPr wrap="square" lIns="0" tIns="0" rIns="0" bIns="0" rtlCol="0" anchor="ctr"/>
          <a:lstStyle/>
          <a:p>
            <a:pPr marL="0" indent="0">
              <a:buNone/>
            </a:pPr>
            <a:r>
              <a:rPr lang="it-IT" sz="1300" noProof="0" dirty="0">
                <a:solidFill>
                  <a:schemeClr val="tx1"/>
                </a:solidFill>
              </a:rPr>
              <a:t>Prestazioni verificabili su compiti linguistici, analitici e operativi</a:t>
            </a:r>
            <a:endParaRPr lang="it-IT" sz="1300" noProof="0" dirty="0"/>
          </a:p>
        </p:txBody>
      </p:sp>
      <p:sp>
        <p:nvSpPr>
          <p:cNvPr id="12" name="Ragionamento"/>
          <p:cNvSpPr/>
          <p:nvPr/>
        </p:nvSpPr>
        <p:spPr>
          <a:xfrm>
            <a:off x="457200" y="2395728"/>
            <a:ext cx="8229600" cy="914400"/>
          </a:xfrm>
          <a:prstGeom prst="roundRect">
            <a:avLst>
              <a:gd name="adj" fmla="val 8000"/>
            </a:avLst>
          </a:prstGeom>
          <a:solidFill>
            <a:schemeClr val="bg2"/>
          </a:solidFill>
          <a:ln/>
        </p:spPr>
        <p:txBody>
          <a:bodyPr/>
          <a:lstStyle/>
          <a:p>
            <a:endParaRPr lang="it-IT" noProof="0" dirty="0"/>
          </a:p>
        </p:txBody>
      </p:sp>
      <p:sp>
        <p:nvSpPr>
          <p:cNvPr id="13" name="cerchio FiGitBranch"/>
          <p:cNvSpPr/>
          <p:nvPr/>
        </p:nvSpPr>
        <p:spPr>
          <a:xfrm>
            <a:off x="594360" y="2624328"/>
            <a:ext cx="502920" cy="502920"/>
          </a:xfrm>
          <a:prstGeom prst="ellipse">
            <a:avLst/>
          </a:prstGeom>
          <a:solidFill>
            <a:schemeClr val="accent1"/>
          </a:solidFill>
          <a:ln/>
        </p:spPr>
        <p:txBody>
          <a:bodyPr/>
          <a:lstStyle/>
          <a:p>
            <a:endParaRPr lang="it-IT" noProof="0" dirty="0"/>
          </a:p>
        </p:txBody>
      </p:sp>
      <p:pic>
        <p:nvPicPr>
          <p:cNvPr id="14" name="Image 1" descr="FiGitBranch"/>
          <p:cNvPicPr>
            <a:picLocks noChangeAspect="1"/>
          </p:cNvPicPr>
          <p:nvPr/>
        </p:nvPicPr>
        <p:blipFill>
          <a:blip r:embed="rId4"/>
          <a:stretch>
            <a:fillRect/>
          </a:stretch>
        </p:blipFill>
        <p:spPr>
          <a:xfrm>
            <a:off x="720090" y="2750058"/>
            <a:ext cx="251460" cy="251460"/>
          </a:xfrm>
          <a:prstGeom prst="rect">
            <a:avLst/>
          </a:prstGeom>
        </p:spPr>
      </p:pic>
      <p:sp>
        <p:nvSpPr>
          <p:cNvPr id="15" name="Text 10"/>
          <p:cNvSpPr txBox="1"/>
          <p:nvPr/>
        </p:nvSpPr>
        <p:spPr>
          <a:xfrm>
            <a:off x="1280160" y="2505456"/>
            <a:ext cx="3383280" cy="320040"/>
          </a:xfrm>
          <a:prstGeom prst="rect">
            <a:avLst/>
          </a:prstGeom>
          <a:noFill/>
          <a:ln/>
        </p:spPr>
        <p:txBody>
          <a:bodyPr wrap="square" lIns="0" tIns="0" rIns="0" bIns="0" rtlCol="0" anchor="t"/>
          <a:lstStyle/>
          <a:p>
            <a:pPr marL="0" indent="0">
              <a:buNone/>
            </a:pPr>
            <a:r>
              <a:rPr lang="it-IT" sz="1500" b="1" noProof="0" dirty="0">
                <a:solidFill>
                  <a:schemeClr val="tx1"/>
                </a:solidFill>
              </a:rPr>
              <a:t>Ragionamento</a:t>
            </a:r>
            <a:endParaRPr lang="it-IT" sz="1500" noProof="0" dirty="0"/>
          </a:p>
        </p:txBody>
      </p:sp>
      <p:sp>
        <p:nvSpPr>
          <p:cNvPr id="16" name="Text 11"/>
          <p:cNvSpPr txBox="1"/>
          <p:nvPr/>
        </p:nvSpPr>
        <p:spPr>
          <a:xfrm>
            <a:off x="1280160" y="2852928"/>
            <a:ext cx="3383280" cy="457200"/>
          </a:xfrm>
          <a:prstGeom prst="rect">
            <a:avLst/>
          </a:prstGeom>
          <a:noFill/>
          <a:ln/>
        </p:spPr>
        <p:txBody>
          <a:bodyPr wrap="square" lIns="0" tIns="0" rIns="0" bIns="0" rtlCol="0" anchor="t"/>
          <a:lstStyle/>
          <a:p>
            <a:pPr marL="0" indent="0">
              <a:buNone/>
            </a:pPr>
            <a:r>
              <a:rPr lang="it-IT" sz="1200" noProof="0" dirty="0">
                <a:solidFill>
                  <a:schemeClr val="tx2"/>
                </a:solidFill>
              </a:rPr>
              <a:t>Scomposizione in passaggi, conclusioni plausibili</a:t>
            </a:r>
            <a:endParaRPr lang="it-IT" sz="1200" noProof="0" dirty="0"/>
          </a:p>
        </p:txBody>
      </p:sp>
      <p:sp>
        <p:nvSpPr>
          <p:cNvPr id="17" name="Text 12"/>
          <p:cNvSpPr txBox="1"/>
          <p:nvPr/>
        </p:nvSpPr>
        <p:spPr>
          <a:xfrm>
            <a:off x="4937760" y="2487168"/>
            <a:ext cx="3611880" cy="777240"/>
          </a:xfrm>
          <a:prstGeom prst="rect">
            <a:avLst/>
          </a:prstGeom>
          <a:noFill/>
          <a:ln/>
        </p:spPr>
        <p:txBody>
          <a:bodyPr wrap="square" lIns="0" tIns="0" rIns="0" bIns="0" rtlCol="0" anchor="ctr"/>
          <a:lstStyle/>
          <a:p>
            <a:pPr marL="0" indent="0">
              <a:buNone/>
            </a:pPr>
            <a:r>
              <a:rPr lang="it-IT" sz="1300" noProof="0" dirty="0">
                <a:solidFill>
                  <a:schemeClr val="tx1"/>
                </a:solidFill>
              </a:rPr>
              <a:t>Capacità di risolvere problemi e sviluppare passaggi logici, con prestazioni variabili</a:t>
            </a:r>
            <a:endParaRPr lang="it-IT" sz="1300" noProof="0" dirty="0"/>
          </a:p>
        </p:txBody>
      </p:sp>
      <p:sp>
        <p:nvSpPr>
          <p:cNvPr id="18" name="Caratteristiche mentali"/>
          <p:cNvSpPr/>
          <p:nvPr/>
        </p:nvSpPr>
        <p:spPr>
          <a:xfrm>
            <a:off x="457200" y="3419856"/>
            <a:ext cx="8229600" cy="914400"/>
          </a:xfrm>
          <a:prstGeom prst="roundRect">
            <a:avLst>
              <a:gd name="adj" fmla="val 8000"/>
            </a:avLst>
          </a:prstGeom>
          <a:solidFill>
            <a:schemeClr val="bg2"/>
          </a:solidFill>
          <a:ln/>
        </p:spPr>
        <p:txBody>
          <a:bodyPr/>
          <a:lstStyle/>
          <a:p>
            <a:endParaRPr lang="it-IT" noProof="0" dirty="0"/>
          </a:p>
        </p:txBody>
      </p:sp>
      <p:sp>
        <p:nvSpPr>
          <p:cNvPr id="19" name="cerchio FiHelpCircle"/>
          <p:cNvSpPr/>
          <p:nvPr/>
        </p:nvSpPr>
        <p:spPr>
          <a:xfrm>
            <a:off x="594360" y="3648456"/>
            <a:ext cx="502920" cy="502920"/>
          </a:xfrm>
          <a:prstGeom prst="ellipse">
            <a:avLst/>
          </a:prstGeom>
          <a:solidFill>
            <a:schemeClr val="accent2"/>
          </a:solidFill>
          <a:ln/>
        </p:spPr>
        <p:txBody>
          <a:bodyPr/>
          <a:lstStyle/>
          <a:p>
            <a:endParaRPr lang="it-IT" noProof="0" dirty="0"/>
          </a:p>
        </p:txBody>
      </p:sp>
      <p:pic>
        <p:nvPicPr>
          <p:cNvPr id="20" name="Image 2" descr="FiHelpCircle"/>
          <p:cNvPicPr>
            <a:picLocks noChangeAspect="1"/>
          </p:cNvPicPr>
          <p:nvPr/>
        </p:nvPicPr>
        <p:blipFill>
          <a:blip r:embed="rId5"/>
          <a:stretch>
            <a:fillRect/>
          </a:stretch>
        </p:blipFill>
        <p:spPr>
          <a:xfrm>
            <a:off x="720090" y="3774186"/>
            <a:ext cx="251460" cy="251460"/>
          </a:xfrm>
          <a:prstGeom prst="rect">
            <a:avLst/>
          </a:prstGeom>
        </p:spPr>
      </p:pic>
      <p:sp>
        <p:nvSpPr>
          <p:cNvPr id="21" name="Text 15"/>
          <p:cNvSpPr txBox="1"/>
          <p:nvPr/>
        </p:nvSpPr>
        <p:spPr>
          <a:xfrm>
            <a:off x="1280160" y="3529584"/>
            <a:ext cx="3383280" cy="320040"/>
          </a:xfrm>
          <a:prstGeom prst="rect">
            <a:avLst/>
          </a:prstGeom>
          <a:noFill/>
          <a:ln/>
        </p:spPr>
        <p:txBody>
          <a:bodyPr wrap="square" lIns="0" tIns="0" rIns="0" bIns="0" rtlCol="0" anchor="t"/>
          <a:lstStyle/>
          <a:p>
            <a:pPr marL="0" indent="0">
              <a:buNone/>
            </a:pPr>
            <a:r>
              <a:rPr lang="it-IT" sz="1500" b="1" noProof="0" dirty="0">
                <a:solidFill>
                  <a:schemeClr val="tx1"/>
                </a:solidFill>
              </a:rPr>
              <a:t>Caratteristiche mentali</a:t>
            </a:r>
            <a:endParaRPr lang="it-IT" sz="1500" noProof="0" dirty="0"/>
          </a:p>
        </p:txBody>
      </p:sp>
      <p:sp>
        <p:nvSpPr>
          <p:cNvPr id="22" name="Text 16"/>
          <p:cNvSpPr txBox="1"/>
          <p:nvPr/>
        </p:nvSpPr>
        <p:spPr>
          <a:xfrm>
            <a:off x="1280160" y="3877056"/>
            <a:ext cx="3383280" cy="457200"/>
          </a:xfrm>
          <a:prstGeom prst="rect">
            <a:avLst/>
          </a:prstGeom>
          <a:noFill/>
          <a:ln/>
        </p:spPr>
        <p:txBody>
          <a:bodyPr wrap="square" lIns="0" tIns="0" rIns="0" bIns="0" rtlCol="0" anchor="t"/>
          <a:lstStyle/>
          <a:p>
            <a:pPr marL="0" indent="0">
              <a:buNone/>
            </a:pPr>
            <a:r>
              <a:rPr lang="it-IT" sz="1200" noProof="0" dirty="0">
                <a:solidFill>
                  <a:schemeClr val="tx2"/>
                </a:solidFill>
              </a:rPr>
              <a:t>Comprensione umana, intenzioni, emozioni, coscienza</a:t>
            </a:r>
            <a:endParaRPr lang="it-IT" sz="1200" noProof="0" dirty="0"/>
          </a:p>
        </p:txBody>
      </p:sp>
      <p:sp>
        <p:nvSpPr>
          <p:cNvPr id="23" name="Text 17"/>
          <p:cNvSpPr txBox="1"/>
          <p:nvPr/>
        </p:nvSpPr>
        <p:spPr>
          <a:xfrm>
            <a:off x="4937760" y="3511296"/>
            <a:ext cx="3611880" cy="777240"/>
          </a:xfrm>
          <a:prstGeom prst="rect">
            <a:avLst/>
          </a:prstGeom>
          <a:noFill/>
          <a:ln/>
        </p:spPr>
        <p:txBody>
          <a:bodyPr wrap="square" lIns="0" tIns="0" rIns="0" bIns="0" rtlCol="0" anchor="ctr"/>
          <a:lstStyle/>
          <a:p>
            <a:pPr marL="0" indent="0">
              <a:buNone/>
            </a:pPr>
            <a:r>
              <a:rPr lang="it-IT" sz="1300" noProof="0" dirty="0">
                <a:solidFill>
                  <a:schemeClr val="tx1"/>
                </a:solidFill>
              </a:rPr>
              <a:t>Le prestazioni non dimostrano da sole coscienza, intenzioni o </a:t>
            </a:r>
            <a:r>
              <a:rPr lang="it-IT" sz="1300" dirty="0"/>
              <a:t>esperienze soggettive</a:t>
            </a:r>
            <a:endParaRPr lang="it-IT" sz="1300" noProof="0" dirty="0"/>
          </a:p>
        </p:txBody>
      </p:sp>
      <p:sp>
        <p:nvSpPr>
          <p:cNvPr id="24" name="Text 18"/>
          <p:cNvSpPr txBox="1"/>
          <p:nvPr/>
        </p:nvSpPr>
        <p:spPr>
          <a:xfrm>
            <a:off x="457200" y="4434840"/>
            <a:ext cx="8229600" cy="228600"/>
          </a:xfrm>
          <a:prstGeom prst="rect">
            <a:avLst/>
          </a:prstGeom>
          <a:noFill/>
          <a:ln/>
        </p:spPr>
        <p:txBody>
          <a:bodyPr wrap="square" lIns="0" tIns="0" rIns="0" bIns="0" rtlCol="0" anchor="t"/>
          <a:lstStyle/>
          <a:p>
            <a:pPr marL="0" indent="0">
              <a:buNone/>
            </a:pPr>
            <a:r>
              <a:rPr lang="it-IT" sz="1100" i="1" noProof="0" dirty="0">
                <a:solidFill>
                  <a:schemeClr val="accent5"/>
                </a:solidFill>
              </a:rPr>
              <a:t>Le capacità dell’AI si valutano attraverso i risultati ottenuti nei compiti reali, non attraverso la sola fluidità della conversazione.</a:t>
            </a:r>
            <a:endParaRPr lang="it-IT" sz="11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11</a:t>
            </a:fld>
            <a:endParaRPr lang="it-IT"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noProof="0" dirty="0">
                <a:solidFill>
                  <a:schemeClr val="bg1"/>
                </a:solidFill>
              </a:rPr>
              <a:t>L'AI non è un'unica tecnologia e le prestazioni osservabili non autorizzano automaticamente ad attribuirle caratteristiche umane.</a:t>
            </a:r>
            <a:endParaRPr lang="it-IT" sz="2600" noProof="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noProof="0" dirty="0">
                <a:solidFill>
                  <a:schemeClr val="accent3"/>
                </a:solidFill>
              </a:rPr>
              <a:t>Sottotema 2.1  ·  Che cos'è l'Intelligenza Artificiale</a:t>
            </a:r>
            <a:endParaRPr lang="it-IT" sz="13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12</a:t>
            </a:fld>
            <a:endParaRPr lang="it-IT"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2.2</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Le principali categorie di AI</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Approcci e capacità differenti, adatti a problemi differenti</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13</a:t>
            </a:fld>
            <a:endParaRPr lang="it-IT"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Quattro criteri di classificazione diversi</a:t>
            </a:r>
            <a:endParaRPr lang="it-IT" sz="2600" noProof="0" dirty="0"/>
          </a:p>
        </p:txBody>
      </p:sp>
      <p:graphicFrame>
        <p:nvGraphicFramePr>
          <p:cNvPr id="15" name="Table 0"/>
          <p:cNvGraphicFramePr>
            <a:graphicFrameLocks noGrp="1"/>
          </p:cNvGraphicFramePr>
          <p:nvPr>
            <p:extLst>
              <p:ext uri="{D42A27DB-BD31-4B8C-83A1-F6EECF244321}">
                <p14:modId xmlns:p14="http://schemas.microsoft.com/office/powerpoint/2010/main" val="2552480361"/>
              </p:ext>
            </p:extLst>
          </p:nvPr>
        </p:nvGraphicFramePr>
        <p:xfrm>
          <a:off x="457200" y="1097280"/>
          <a:ext cx="8229600" cy="2377440"/>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75488">
                <a:tc>
                  <a:txBody>
                    <a:bodyPr/>
                    <a:lstStyle/>
                    <a:p>
                      <a:pPr marL="0" indent="0">
                        <a:buNone/>
                      </a:pPr>
                      <a:r>
                        <a:rPr lang="it-IT" sz="1300" b="1" noProof="0" dirty="0">
                          <a:solidFill>
                            <a:schemeClr val="bg1"/>
                          </a:solidFill>
                        </a:rPr>
                        <a:t>Domanda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Criterio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Categorie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5488">
                <a:tc>
                  <a:txBody>
                    <a:bodyPr/>
                    <a:lstStyle/>
                    <a:p>
                      <a:pPr marL="0" indent="0">
                        <a:buNone/>
                      </a:pPr>
                      <a:r>
                        <a:rPr lang="it-IT" sz="1300" b="1" noProof="0" dirty="0">
                          <a:solidFill>
                            <a:schemeClr val="tx1"/>
                          </a:solidFill>
                        </a:rPr>
                        <a:t>Come costruisce la conoscenza?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Approccio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AI simbolica a regole  /  Machine Learning</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75488">
                <a:tc>
                  <a:txBody>
                    <a:bodyPr/>
                    <a:lstStyle/>
                    <a:p>
                      <a:pPr marL="0" indent="0">
                        <a:buNone/>
                      </a:pPr>
                      <a:r>
                        <a:rPr lang="it-IT" sz="1300" b="1" noProof="0" dirty="0">
                          <a:solidFill>
                            <a:schemeClr val="tx1"/>
                          </a:solidFill>
                        </a:rPr>
                        <a:t>Con quale tecnica apprende?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Tecnica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ML classico  /  Deep Learning</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75488">
                <a:tc>
                  <a:txBody>
                    <a:bodyPr/>
                    <a:lstStyle/>
                    <a:p>
                      <a:pPr marL="0" indent="0">
                        <a:buNone/>
                      </a:pPr>
                      <a:r>
                        <a:rPr lang="it-IT" sz="1300" b="1" noProof="0" dirty="0">
                          <a:solidFill>
                            <a:schemeClr val="tx1"/>
                          </a:solidFill>
                        </a:rPr>
                        <a:t>Che cosa produce?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Funzione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Predittiva  /  Discriminativa  /  Generativa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75488">
                <a:tc>
                  <a:txBody>
                    <a:bodyPr/>
                    <a:lstStyle/>
                    <a:p>
                      <a:pPr marL="0" indent="0">
                        <a:buNone/>
                      </a:pPr>
                      <a:r>
                        <a:rPr lang="it-IT" sz="1300" b="1" noProof="0" dirty="0">
                          <a:solidFill>
                            <a:schemeClr val="tx1"/>
                          </a:solidFill>
                        </a:rPr>
                        <a:t>Quali dati tratta?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Modalità</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Unimodale  /  Multimodale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
        <p:nvSpPr>
          <p:cNvPr id="5" name="esempio LLM"/>
          <p:cNvSpPr/>
          <p:nvPr/>
        </p:nvSpPr>
        <p:spPr>
          <a:xfrm>
            <a:off x="457200" y="3611880"/>
            <a:ext cx="8229600" cy="914400"/>
          </a:xfrm>
          <a:prstGeom prst="roundRect">
            <a:avLst>
              <a:gd name="adj" fmla="val 8000"/>
            </a:avLst>
          </a:prstGeom>
          <a:solidFill>
            <a:schemeClr val="tx1"/>
          </a:solidFill>
          <a:ln/>
        </p:spPr>
        <p:txBody>
          <a:bodyPr/>
          <a:lstStyle/>
          <a:p>
            <a:endParaRPr lang="it-IT" noProof="0" dirty="0"/>
          </a:p>
        </p:txBody>
      </p:sp>
      <p:sp>
        <p:nvSpPr>
          <p:cNvPr id="6" name="cerchio FiLayers"/>
          <p:cNvSpPr/>
          <p:nvPr/>
        </p:nvSpPr>
        <p:spPr>
          <a:xfrm>
            <a:off x="640080" y="3813048"/>
            <a:ext cx="512064" cy="512064"/>
          </a:xfrm>
          <a:prstGeom prst="ellipse">
            <a:avLst/>
          </a:prstGeom>
          <a:solidFill>
            <a:schemeClr val="accent1"/>
          </a:solidFill>
          <a:ln/>
        </p:spPr>
        <p:txBody>
          <a:bodyPr/>
          <a:lstStyle/>
          <a:p>
            <a:endParaRPr lang="it-IT" noProof="0" dirty="0"/>
          </a:p>
        </p:txBody>
      </p:sp>
      <p:pic>
        <p:nvPicPr>
          <p:cNvPr id="7" name="Image 0" descr="FiLayers"/>
          <p:cNvPicPr>
            <a:picLocks noChangeAspect="1"/>
          </p:cNvPicPr>
          <p:nvPr/>
        </p:nvPicPr>
        <p:blipFill>
          <a:blip r:embed="rId3"/>
          <a:stretch>
            <a:fillRect/>
          </a:stretch>
        </p:blipFill>
        <p:spPr>
          <a:xfrm>
            <a:off x="768096" y="3941064"/>
            <a:ext cx="256032" cy="256032"/>
          </a:xfrm>
          <a:prstGeom prst="rect">
            <a:avLst/>
          </a:prstGeom>
        </p:spPr>
      </p:pic>
      <p:sp>
        <p:nvSpPr>
          <p:cNvPr id="8" name="Text 3"/>
          <p:cNvSpPr txBox="1"/>
          <p:nvPr/>
        </p:nvSpPr>
        <p:spPr>
          <a:xfrm>
            <a:off x="1325880" y="3611880"/>
            <a:ext cx="7223760" cy="914400"/>
          </a:xfrm>
          <a:prstGeom prst="rect">
            <a:avLst/>
          </a:prstGeom>
          <a:noFill/>
          <a:ln/>
        </p:spPr>
        <p:txBody>
          <a:bodyPr wrap="square" lIns="0" tIns="0" rIns="0" bIns="0" rtlCol="0" anchor="ctr"/>
          <a:lstStyle/>
          <a:p>
            <a:pPr marL="0" indent="0">
              <a:buNone/>
            </a:pPr>
            <a:r>
              <a:rPr lang="it-IT" sz="1500" noProof="0" dirty="0">
                <a:solidFill>
                  <a:schemeClr val="accent3"/>
                </a:solidFill>
              </a:rPr>
              <a:t>Un grande modello linguistico è insieme: </a:t>
            </a:r>
            <a:r>
              <a:rPr lang="it-IT" sz="1500" b="1" noProof="0" dirty="0">
                <a:solidFill>
                  <a:schemeClr val="bg1"/>
                </a:solidFill>
              </a:rPr>
              <a:t>Machine Learning, Deep Learning, generativo e spesso multimodale.</a:t>
            </a:r>
            <a:endParaRPr lang="it-IT" sz="15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14</a:t>
            </a:fld>
            <a:endParaRPr lang="it-IT"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AI simbolica e Machine Learning</a:t>
            </a:r>
            <a:endParaRPr lang="it-IT" sz="2600" noProof="0" dirty="0"/>
          </a:p>
        </p:txBody>
      </p:sp>
      <p:sp>
        <p:nvSpPr>
          <p:cNvPr id="4" name="scheda AI simbolica a regole"/>
          <p:cNvSpPr/>
          <p:nvPr/>
        </p:nvSpPr>
        <p:spPr>
          <a:xfrm>
            <a:off x="457200" y="1097280"/>
            <a:ext cx="3977640" cy="3429000"/>
          </a:xfrm>
          <a:prstGeom prst="roundRect">
            <a:avLst>
              <a:gd name="adj" fmla="val 2133"/>
            </a:avLst>
          </a:prstGeom>
          <a:solidFill>
            <a:schemeClr val="bg2"/>
          </a:solidFill>
          <a:ln/>
        </p:spPr>
        <p:txBody>
          <a:bodyPr/>
          <a:lstStyle/>
          <a:p>
            <a:endParaRPr lang="it-IT" noProof="0" dirty="0"/>
          </a:p>
        </p:txBody>
      </p:sp>
      <p:sp>
        <p:nvSpPr>
          <p:cNvPr id="5" name="cerchio FiList"/>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Lis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AI simbolica a regole</a:t>
            </a:r>
            <a:endParaRPr lang="it-IT" sz="1600" noProof="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Le persone scrivono le regole</a:t>
            </a:r>
            <a:endParaRPr lang="it-IT" sz="1300" noProof="0" dirty="0"/>
          </a:p>
          <a:p>
            <a:pPr marL="177800" indent="-177800">
              <a:spcAft>
                <a:spcPts val="300"/>
              </a:spcAft>
              <a:buSzPct val="100000"/>
              <a:buChar char="•"/>
            </a:pPr>
            <a:r>
              <a:rPr lang="it-IT" sz="1300" noProof="0" dirty="0">
                <a:solidFill>
                  <a:schemeClr val="tx2"/>
                </a:solidFill>
              </a:rPr>
              <a:t>Trasparente: si legge la regola applicata</a:t>
            </a:r>
            <a:endParaRPr lang="it-IT" sz="1300" noProof="0" dirty="0"/>
          </a:p>
          <a:p>
            <a:pPr marL="177800" indent="-177800">
              <a:spcAft>
                <a:spcPts val="300"/>
              </a:spcAft>
              <a:buSzPct val="100000"/>
              <a:buChar char="•"/>
            </a:pPr>
            <a:r>
              <a:rPr lang="it-IT" sz="1300" noProof="0" dirty="0">
                <a:solidFill>
                  <a:schemeClr val="tx2"/>
                </a:solidFill>
              </a:rPr>
              <a:t>Prevedibile e controllabile</a:t>
            </a:r>
            <a:endParaRPr lang="it-IT" sz="1300" noProof="0" dirty="0"/>
          </a:p>
          <a:p>
            <a:pPr marL="177800" indent="-177800">
              <a:spcAft>
                <a:spcPts val="300"/>
              </a:spcAft>
              <a:buSzPct val="100000"/>
              <a:buChar char="•"/>
            </a:pPr>
            <a:r>
              <a:rPr lang="it-IT" sz="1300" noProof="0" dirty="0">
                <a:solidFill>
                  <a:schemeClr val="tx2"/>
                </a:solidFill>
              </a:rPr>
              <a:t>Fragile con i casi non previsti</a:t>
            </a:r>
            <a:endParaRPr lang="it-IT" sz="1300" noProof="0" dirty="0"/>
          </a:p>
          <a:p>
            <a:pPr marL="177800" indent="-177800">
              <a:spcAft>
                <a:spcPts val="300"/>
              </a:spcAft>
              <a:buSzPct val="100000"/>
              <a:buChar char="•"/>
            </a:pPr>
            <a:r>
              <a:rPr lang="it-IT" sz="1300" noProof="0" dirty="0">
                <a:solidFill>
                  <a:schemeClr val="tx2"/>
                </a:solidFill>
              </a:rPr>
              <a:t>Difficile per conoscenze intuitive</a:t>
            </a:r>
            <a:endParaRPr lang="it-IT" sz="1300" noProof="0" dirty="0"/>
          </a:p>
        </p:txBody>
      </p:sp>
      <p:sp>
        <p:nvSpPr>
          <p:cNvPr id="9" name="scheda Machine Learning"/>
          <p:cNvSpPr/>
          <p:nvPr/>
        </p:nvSpPr>
        <p:spPr>
          <a:xfrm>
            <a:off x="4709160" y="1097280"/>
            <a:ext cx="3977640" cy="3429000"/>
          </a:xfrm>
          <a:prstGeom prst="roundRect">
            <a:avLst>
              <a:gd name="adj" fmla="val 2133"/>
            </a:avLst>
          </a:prstGeom>
          <a:solidFill>
            <a:schemeClr val="accent6"/>
          </a:solidFill>
          <a:ln/>
        </p:spPr>
        <p:txBody>
          <a:bodyPr/>
          <a:lstStyle/>
          <a:p>
            <a:endParaRPr lang="it-IT" noProof="0" dirty="0"/>
          </a:p>
        </p:txBody>
      </p:sp>
      <p:sp>
        <p:nvSpPr>
          <p:cNvPr id="10" name="cerchio FiTrendingUp"/>
          <p:cNvSpPr/>
          <p:nvPr/>
        </p:nvSpPr>
        <p:spPr>
          <a:xfrm>
            <a:off x="4892040" y="1280160"/>
            <a:ext cx="457200" cy="457200"/>
          </a:xfrm>
          <a:prstGeom prst="ellipse">
            <a:avLst/>
          </a:prstGeom>
          <a:solidFill>
            <a:schemeClr val="accent1"/>
          </a:solidFill>
          <a:ln/>
        </p:spPr>
        <p:txBody>
          <a:bodyPr/>
          <a:lstStyle/>
          <a:p>
            <a:endParaRPr lang="it-IT" noProof="0" dirty="0"/>
          </a:p>
        </p:txBody>
      </p:sp>
      <p:pic>
        <p:nvPicPr>
          <p:cNvPr id="11" name="Image 1" descr="FiTrendingUp"/>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Machine Learning</a:t>
            </a:r>
            <a:endParaRPr lang="it-IT" sz="1600" noProof="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Il sistema ricava le regole dagli esempi</a:t>
            </a:r>
            <a:endParaRPr lang="it-IT" sz="1300" noProof="0" dirty="0"/>
          </a:p>
          <a:p>
            <a:pPr marL="177800" indent="-177800">
              <a:spcAft>
                <a:spcPts val="300"/>
              </a:spcAft>
              <a:buSzPct val="100000"/>
              <a:buChar char="•"/>
            </a:pPr>
            <a:r>
              <a:rPr lang="it-IT" sz="1300" noProof="0" dirty="0">
                <a:solidFill>
                  <a:schemeClr val="tx2"/>
                </a:solidFill>
              </a:rPr>
              <a:t>Adatto a problemi complessi e sfumati</a:t>
            </a:r>
            <a:endParaRPr lang="it-IT" sz="1300" noProof="0" dirty="0"/>
          </a:p>
          <a:p>
            <a:pPr marL="177800" indent="-177800">
              <a:spcAft>
                <a:spcPts val="300"/>
              </a:spcAft>
              <a:buSzPct val="100000"/>
              <a:buChar char="•"/>
            </a:pPr>
            <a:r>
              <a:rPr lang="it-IT" sz="1300" noProof="0" dirty="0">
                <a:solidFill>
                  <a:schemeClr val="tx2"/>
                </a:solidFill>
              </a:rPr>
              <a:t>Dipende dalla qualità dei dati</a:t>
            </a:r>
            <a:endParaRPr lang="it-IT" sz="1300" noProof="0" dirty="0"/>
          </a:p>
          <a:p>
            <a:pPr marL="177800" indent="-177800">
              <a:spcAft>
                <a:spcPts val="300"/>
              </a:spcAft>
              <a:buSzPct val="100000"/>
              <a:buChar char="•"/>
            </a:pPr>
            <a:r>
              <a:rPr lang="it-IT" sz="1300" noProof="0" dirty="0">
                <a:solidFill>
                  <a:schemeClr val="tx2"/>
                </a:solidFill>
              </a:rPr>
              <a:t>Talvolta meno facile da spiegare</a:t>
            </a:r>
            <a:endParaRPr lang="it-IT" sz="1300" noProof="0" dirty="0"/>
          </a:p>
          <a:p>
            <a:pPr marL="177800" indent="-177800">
              <a:spcAft>
                <a:spcPts val="300"/>
              </a:spcAft>
              <a:buSzPct val="100000"/>
              <a:buChar char="•"/>
            </a:pPr>
            <a:r>
              <a:rPr lang="it-IT" sz="1300" noProof="0" dirty="0">
                <a:solidFill>
                  <a:schemeClr val="tx2"/>
                </a:solidFill>
              </a:rPr>
              <a:t>Spesso combinato con regole esplicite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15</a:t>
            </a:fld>
            <a:endParaRPr lang="it-IT"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Deep Learning e reti neurali</a:t>
            </a:r>
            <a:endParaRPr lang="it-IT" sz="2600" noProof="0" dirty="0"/>
          </a:p>
        </p:txBody>
      </p:sp>
      <p:sp>
        <p:nvSpPr>
          <p:cNvPr id="4" name="connessione"/>
          <p:cNvSpPr/>
          <p:nvPr/>
        </p:nvSpPr>
        <p:spPr>
          <a:xfrm flipV="1">
            <a:off x="960120" y="2080260"/>
            <a:ext cx="1188720" cy="342900"/>
          </a:xfrm>
          <a:prstGeom prst="line">
            <a:avLst/>
          </a:prstGeom>
          <a:noFill/>
          <a:ln w="9525">
            <a:solidFill>
              <a:schemeClr val="accent3"/>
            </a:solidFill>
            <a:prstDash val="solid"/>
          </a:ln>
        </p:spPr>
        <p:txBody>
          <a:bodyPr/>
          <a:lstStyle/>
          <a:p>
            <a:endParaRPr lang="it-IT" noProof="0" dirty="0"/>
          </a:p>
        </p:txBody>
      </p:sp>
      <p:sp>
        <p:nvSpPr>
          <p:cNvPr id="5" name="connessione"/>
          <p:cNvSpPr/>
          <p:nvPr/>
        </p:nvSpPr>
        <p:spPr>
          <a:xfrm>
            <a:off x="960120" y="2423160"/>
            <a:ext cx="1188720" cy="342900"/>
          </a:xfrm>
          <a:prstGeom prst="line">
            <a:avLst/>
          </a:prstGeom>
          <a:noFill/>
          <a:ln w="9525">
            <a:solidFill>
              <a:schemeClr val="accent3"/>
            </a:solidFill>
            <a:prstDash val="solid"/>
          </a:ln>
        </p:spPr>
        <p:txBody>
          <a:bodyPr/>
          <a:lstStyle/>
          <a:p>
            <a:endParaRPr lang="it-IT" noProof="0" dirty="0"/>
          </a:p>
        </p:txBody>
      </p:sp>
      <p:sp>
        <p:nvSpPr>
          <p:cNvPr id="6" name="connessione"/>
          <p:cNvSpPr/>
          <p:nvPr/>
        </p:nvSpPr>
        <p:spPr>
          <a:xfrm>
            <a:off x="960120" y="2423160"/>
            <a:ext cx="1188720" cy="1028700"/>
          </a:xfrm>
          <a:prstGeom prst="line">
            <a:avLst/>
          </a:prstGeom>
          <a:noFill/>
          <a:ln w="9525">
            <a:solidFill>
              <a:schemeClr val="accent3"/>
            </a:solidFill>
            <a:prstDash val="solid"/>
          </a:ln>
        </p:spPr>
        <p:txBody>
          <a:bodyPr/>
          <a:lstStyle/>
          <a:p>
            <a:endParaRPr lang="it-IT" noProof="0" dirty="0"/>
          </a:p>
        </p:txBody>
      </p:sp>
      <p:sp>
        <p:nvSpPr>
          <p:cNvPr id="7" name="connessione"/>
          <p:cNvSpPr/>
          <p:nvPr/>
        </p:nvSpPr>
        <p:spPr>
          <a:xfrm>
            <a:off x="960120" y="2423160"/>
            <a:ext cx="1188720" cy="1714500"/>
          </a:xfrm>
          <a:prstGeom prst="line">
            <a:avLst/>
          </a:prstGeom>
          <a:noFill/>
          <a:ln w="9525">
            <a:solidFill>
              <a:schemeClr val="accent3"/>
            </a:solidFill>
            <a:prstDash val="solid"/>
          </a:ln>
        </p:spPr>
        <p:txBody>
          <a:bodyPr/>
          <a:lstStyle/>
          <a:p>
            <a:endParaRPr lang="it-IT" noProof="0" dirty="0"/>
          </a:p>
        </p:txBody>
      </p:sp>
      <p:sp>
        <p:nvSpPr>
          <p:cNvPr id="8" name="connessione"/>
          <p:cNvSpPr/>
          <p:nvPr/>
        </p:nvSpPr>
        <p:spPr>
          <a:xfrm flipV="1">
            <a:off x="960120" y="2080260"/>
            <a:ext cx="1188720" cy="1028700"/>
          </a:xfrm>
          <a:prstGeom prst="line">
            <a:avLst/>
          </a:prstGeom>
          <a:noFill/>
          <a:ln w="9525">
            <a:solidFill>
              <a:schemeClr val="accent3"/>
            </a:solidFill>
            <a:prstDash val="solid"/>
          </a:ln>
        </p:spPr>
        <p:txBody>
          <a:bodyPr/>
          <a:lstStyle/>
          <a:p>
            <a:endParaRPr lang="it-IT" noProof="0" dirty="0"/>
          </a:p>
        </p:txBody>
      </p:sp>
      <p:sp>
        <p:nvSpPr>
          <p:cNvPr id="9" name="connessione"/>
          <p:cNvSpPr/>
          <p:nvPr/>
        </p:nvSpPr>
        <p:spPr>
          <a:xfrm flipV="1">
            <a:off x="960120" y="2766060"/>
            <a:ext cx="1188720" cy="342900"/>
          </a:xfrm>
          <a:prstGeom prst="line">
            <a:avLst/>
          </a:prstGeom>
          <a:noFill/>
          <a:ln w="9525">
            <a:solidFill>
              <a:schemeClr val="accent3"/>
            </a:solidFill>
            <a:prstDash val="solid"/>
          </a:ln>
        </p:spPr>
        <p:txBody>
          <a:bodyPr/>
          <a:lstStyle/>
          <a:p>
            <a:endParaRPr lang="it-IT" noProof="0" dirty="0"/>
          </a:p>
        </p:txBody>
      </p:sp>
      <p:sp>
        <p:nvSpPr>
          <p:cNvPr id="10" name="connessione"/>
          <p:cNvSpPr/>
          <p:nvPr/>
        </p:nvSpPr>
        <p:spPr>
          <a:xfrm>
            <a:off x="960120" y="3108960"/>
            <a:ext cx="1188720" cy="342900"/>
          </a:xfrm>
          <a:prstGeom prst="line">
            <a:avLst/>
          </a:prstGeom>
          <a:noFill/>
          <a:ln w="9525">
            <a:solidFill>
              <a:schemeClr val="accent3"/>
            </a:solidFill>
            <a:prstDash val="solid"/>
          </a:ln>
        </p:spPr>
        <p:txBody>
          <a:bodyPr/>
          <a:lstStyle/>
          <a:p>
            <a:endParaRPr lang="it-IT" noProof="0" dirty="0"/>
          </a:p>
        </p:txBody>
      </p:sp>
      <p:sp>
        <p:nvSpPr>
          <p:cNvPr id="11" name="connessione"/>
          <p:cNvSpPr/>
          <p:nvPr/>
        </p:nvSpPr>
        <p:spPr>
          <a:xfrm>
            <a:off x="960120" y="3108960"/>
            <a:ext cx="1188720" cy="1028700"/>
          </a:xfrm>
          <a:prstGeom prst="line">
            <a:avLst/>
          </a:prstGeom>
          <a:noFill/>
          <a:ln w="9525">
            <a:solidFill>
              <a:schemeClr val="accent3"/>
            </a:solidFill>
            <a:prstDash val="solid"/>
          </a:ln>
        </p:spPr>
        <p:txBody>
          <a:bodyPr/>
          <a:lstStyle/>
          <a:p>
            <a:endParaRPr lang="it-IT" noProof="0" dirty="0"/>
          </a:p>
        </p:txBody>
      </p:sp>
      <p:sp>
        <p:nvSpPr>
          <p:cNvPr id="12" name="connessione"/>
          <p:cNvSpPr/>
          <p:nvPr/>
        </p:nvSpPr>
        <p:spPr>
          <a:xfrm flipV="1">
            <a:off x="960120" y="2080260"/>
            <a:ext cx="1188720" cy="1714500"/>
          </a:xfrm>
          <a:prstGeom prst="line">
            <a:avLst/>
          </a:prstGeom>
          <a:noFill/>
          <a:ln w="9525">
            <a:solidFill>
              <a:schemeClr val="accent3"/>
            </a:solidFill>
            <a:prstDash val="solid"/>
          </a:ln>
        </p:spPr>
        <p:txBody>
          <a:bodyPr/>
          <a:lstStyle/>
          <a:p>
            <a:endParaRPr lang="it-IT" noProof="0" dirty="0"/>
          </a:p>
        </p:txBody>
      </p:sp>
      <p:sp>
        <p:nvSpPr>
          <p:cNvPr id="13" name="connessione"/>
          <p:cNvSpPr/>
          <p:nvPr/>
        </p:nvSpPr>
        <p:spPr>
          <a:xfrm flipV="1">
            <a:off x="960120" y="2766060"/>
            <a:ext cx="1188720" cy="1028700"/>
          </a:xfrm>
          <a:prstGeom prst="line">
            <a:avLst/>
          </a:prstGeom>
          <a:noFill/>
          <a:ln w="9525">
            <a:solidFill>
              <a:schemeClr val="accent3"/>
            </a:solidFill>
            <a:prstDash val="solid"/>
          </a:ln>
        </p:spPr>
        <p:txBody>
          <a:bodyPr/>
          <a:lstStyle/>
          <a:p>
            <a:endParaRPr lang="it-IT" noProof="0" dirty="0"/>
          </a:p>
        </p:txBody>
      </p:sp>
      <p:sp>
        <p:nvSpPr>
          <p:cNvPr id="14" name="connessione"/>
          <p:cNvSpPr/>
          <p:nvPr/>
        </p:nvSpPr>
        <p:spPr>
          <a:xfrm flipV="1">
            <a:off x="960120" y="3451860"/>
            <a:ext cx="1188720" cy="342900"/>
          </a:xfrm>
          <a:prstGeom prst="line">
            <a:avLst/>
          </a:prstGeom>
          <a:noFill/>
          <a:ln w="9525">
            <a:solidFill>
              <a:schemeClr val="accent3"/>
            </a:solidFill>
            <a:prstDash val="solid"/>
          </a:ln>
        </p:spPr>
        <p:txBody>
          <a:bodyPr/>
          <a:lstStyle/>
          <a:p>
            <a:endParaRPr lang="it-IT" noProof="0" dirty="0"/>
          </a:p>
        </p:txBody>
      </p:sp>
      <p:sp>
        <p:nvSpPr>
          <p:cNvPr id="15" name="connessione"/>
          <p:cNvSpPr/>
          <p:nvPr/>
        </p:nvSpPr>
        <p:spPr>
          <a:xfrm>
            <a:off x="960120" y="3794760"/>
            <a:ext cx="1188720" cy="342900"/>
          </a:xfrm>
          <a:prstGeom prst="line">
            <a:avLst/>
          </a:prstGeom>
          <a:noFill/>
          <a:ln w="9525">
            <a:solidFill>
              <a:schemeClr val="accent3"/>
            </a:solidFill>
            <a:prstDash val="solid"/>
          </a:ln>
        </p:spPr>
        <p:txBody>
          <a:bodyPr/>
          <a:lstStyle/>
          <a:p>
            <a:endParaRPr lang="it-IT" noProof="0" dirty="0"/>
          </a:p>
        </p:txBody>
      </p:sp>
      <p:sp>
        <p:nvSpPr>
          <p:cNvPr id="16" name="connessione"/>
          <p:cNvSpPr/>
          <p:nvPr/>
        </p:nvSpPr>
        <p:spPr>
          <a:xfrm>
            <a:off x="2148840" y="2080260"/>
            <a:ext cx="1188720" cy="0"/>
          </a:xfrm>
          <a:prstGeom prst="line">
            <a:avLst/>
          </a:prstGeom>
          <a:noFill/>
          <a:ln w="9525">
            <a:solidFill>
              <a:schemeClr val="accent3"/>
            </a:solidFill>
            <a:prstDash val="solid"/>
          </a:ln>
        </p:spPr>
        <p:txBody>
          <a:bodyPr/>
          <a:lstStyle/>
          <a:p>
            <a:endParaRPr lang="it-IT" noProof="0" dirty="0"/>
          </a:p>
        </p:txBody>
      </p:sp>
      <p:sp>
        <p:nvSpPr>
          <p:cNvPr id="17" name="connessione"/>
          <p:cNvSpPr/>
          <p:nvPr/>
        </p:nvSpPr>
        <p:spPr>
          <a:xfrm>
            <a:off x="2148840" y="2080260"/>
            <a:ext cx="1188720" cy="685800"/>
          </a:xfrm>
          <a:prstGeom prst="line">
            <a:avLst/>
          </a:prstGeom>
          <a:noFill/>
          <a:ln w="9525">
            <a:solidFill>
              <a:schemeClr val="accent3"/>
            </a:solidFill>
            <a:prstDash val="solid"/>
          </a:ln>
        </p:spPr>
        <p:txBody>
          <a:bodyPr/>
          <a:lstStyle/>
          <a:p>
            <a:endParaRPr lang="it-IT" noProof="0" dirty="0"/>
          </a:p>
        </p:txBody>
      </p:sp>
      <p:sp>
        <p:nvSpPr>
          <p:cNvPr id="18" name="connessione"/>
          <p:cNvSpPr/>
          <p:nvPr/>
        </p:nvSpPr>
        <p:spPr>
          <a:xfrm>
            <a:off x="2148840" y="2080260"/>
            <a:ext cx="1188720" cy="1371600"/>
          </a:xfrm>
          <a:prstGeom prst="line">
            <a:avLst/>
          </a:prstGeom>
          <a:noFill/>
          <a:ln w="9525">
            <a:solidFill>
              <a:schemeClr val="accent3"/>
            </a:solidFill>
            <a:prstDash val="solid"/>
          </a:ln>
        </p:spPr>
        <p:txBody>
          <a:bodyPr/>
          <a:lstStyle/>
          <a:p>
            <a:endParaRPr lang="it-IT" noProof="0" dirty="0"/>
          </a:p>
        </p:txBody>
      </p:sp>
      <p:sp>
        <p:nvSpPr>
          <p:cNvPr id="19" name="connessione"/>
          <p:cNvSpPr/>
          <p:nvPr/>
        </p:nvSpPr>
        <p:spPr>
          <a:xfrm>
            <a:off x="2148840" y="2080260"/>
            <a:ext cx="1188720" cy="2057400"/>
          </a:xfrm>
          <a:prstGeom prst="line">
            <a:avLst/>
          </a:prstGeom>
          <a:noFill/>
          <a:ln w="9525">
            <a:solidFill>
              <a:schemeClr val="accent3"/>
            </a:solidFill>
            <a:prstDash val="solid"/>
          </a:ln>
        </p:spPr>
        <p:txBody>
          <a:bodyPr/>
          <a:lstStyle/>
          <a:p>
            <a:endParaRPr lang="it-IT" noProof="0" dirty="0"/>
          </a:p>
        </p:txBody>
      </p:sp>
      <p:sp>
        <p:nvSpPr>
          <p:cNvPr id="20" name="connessione"/>
          <p:cNvSpPr/>
          <p:nvPr/>
        </p:nvSpPr>
        <p:spPr>
          <a:xfrm flipV="1">
            <a:off x="2148840" y="2080260"/>
            <a:ext cx="1188720" cy="685800"/>
          </a:xfrm>
          <a:prstGeom prst="line">
            <a:avLst/>
          </a:prstGeom>
          <a:noFill/>
          <a:ln w="9525">
            <a:solidFill>
              <a:schemeClr val="accent3"/>
            </a:solidFill>
            <a:prstDash val="solid"/>
          </a:ln>
        </p:spPr>
        <p:txBody>
          <a:bodyPr/>
          <a:lstStyle/>
          <a:p>
            <a:endParaRPr lang="it-IT" noProof="0" dirty="0"/>
          </a:p>
        </p:txBody>
      </p:sp>
      <p:sp>
        <p:nvSpPr>
          <p:cNvPr id="21" name="connessione"/>
          <p:cNvSpPr/>
          <p:nvPr/>
        </p:nvSpPr>
        <p:spPr>
          <a:xfrm>
            <a:off x="2148840" y="2766060"/>
            <a:ext cx="1188720" cy="0"/>
          </a:xfrm>
          <a:prstGeom prst="line">
            <a:avLst/>
          </a:prstGeom>
          <a:noFill/>
          <a:ln w="9525">
            <a:solidFill>
              <a:schemeClr val="accent3"/>
            </a:solidFill>
            <a:prstDash val="solid"/>
          </a:ln>
        </p:spPr>
        <p:txBody>
          <a:bodyPr/>
          <a:lstStyle/>
          <a:p>
            <a:endParaRPr lang="it-IT" noProof="0" dirty="0"/>
          </a:p>
        </p:txBody>
      </p:sp>
      <p:sp>
        <p:nvSpPr>
          <p:cNvPr id="22" name="connessione"/>
          <p:cNvSpPr/>
          <p:nvPr/>
        </p:nvSpPr>
        <p:spPr>
          <a:xfrm>
            <a:off x="2148840" y="2766060"/>
            <a:ext cx="1188720" cy="685800"/>
          </a:xfrm>
          <a:prstGeom prst="line">
            <a:avLst/>
          </a:prstGeom>
          <a:noFill/>
          <a:ln w="9525">
            <a:solidFill>
              <a:schemeClr val="accent3"/>
            </a:solidFill>
            <a:prstDash val="solid"/>
          </a:ln>
        </p:spPr>
        <p:txBody>
          <a:bodyPr/>
          <a:lstStyle/>
          <a:p>
            <a:endParaRPr lang="it-IT" noProof="0" dirty="0"/>
          </a:p>
        </p:txBody>
      </p:sp>
      <p:sp>
        <p:nvSpPr>
          <p:cNvPr id="23" name="connessione"/>
          <p:cNvSpPr/>
          <p:nvPr/>
        </p:nvSpPr>
        <p:spPr>
          <a:xfrm>
            <a:off x="2148840" y="2766060"/>
            <a:ext cx="1188720" cy="1371600"/>
          </a:xfrm>
          <a:prstGeom prst="line">
            <a:avLst/>
          </a:prstGeom>
          <a:noFill/>
          <a:ln w="9525">
            <a:solidFill>
              <a:schemeClr val="accent3"/>
            </a:solidFill>
            <a:prstDash val="solid"/>
          </a:ln>
        </p:spPr>
        <p:txBody>
          <a:bodyPr/>
          <a:lstStyle/>
          <a:p>
            <a:endParaRPr lang="it-IT" noProof="0" dirty="0"/>
          </a:p>
        </p:txBody>
      </p:sp>
      <p:sp>
        <p:nvSpPr>
          <p:cNvPr id="24" name="connessione"/>
          <p:cNvSpPr/>
          <p:nvPr/>
        </p:nvSpPr>
        <p:spPr>
          <a:xfrm flipV="1">
            <a:off x="2148840" y="2080260"/>
            <a:ext cx="1188720" cy="1371600"/>
          </a:xfrm>
          <a:prstGeom prst="line">
            <a:avLst/>
          </a:prstGeom>
          <a:noFill/>
          <a:ln w="9525">
            <a:solidFill>
              <a:schemeClr val="accent3"/>
            </a:solidFill>
            <a:prstDash val="solid"/>
          </a:ln>
        </p:spPr>
        <p:txBody>
          <a:bodyPr/>
          <a:lstStyle/>
          <a:p>
            <a:endParaRPr lang="it-IT" noProof="0" dirty="0"/>
          </a:p>
        </p:txBody>
      </p:sp>
      <p:sp>
        <p:nvSpPr>
          <p:cNvPr id="25" name="connessione"/>
          <p:cNvSpPr/>
          <p:nvPr/>
        </p:nvSpPr>
        <p:spPr>
          <a:xfrm flipV="1">
            <a:off x="2148840" y="2766060"/>
            <a:ext cx="1188720" cy="685800"/>
          </a:xfrm>
          <a:prstGeom prst="line">
            <a:avLst/>
          </a:prstGeom>
          <a:noFill/>
          <a:ln w="9525">
            <a:solidFill>
              <a:schemeClr val="accent3"/>
            </a:solidFill>
            <a:prstDash val="solid"/>
          </a:ln>
        </p:spPr>
        <p:txBody>
          <a:bodyPr/>
          <a:lstStyle/>
          <a:p>
            <a:endParaRPr lang="it-IT" noProof="0" dirty="0"/>
          </a:p>
        </p:txBody>
      </p:sp>
      <p:sp>
        <p:nvSpPr>
          <p:cNvPr id="26" name="connessione"/>
          <p:cNvSpPr/>
          <p:nvPr/>
        </p:nvSpPr>
        <p:spPr>
          <a:xfrm>
            <a:off x="2148840" y="3451860"/>
            <a:ext cx="1188720" cy="0"/>
          </a:xfrm>
          <a:prstGeom prst="line">
            <a:avLst/>
          </a:prstGeom>
          <a:noFill/>
          <a:ln w="9525">
            <a:solidFill>
              <a:schemeClr val="accent3"/>
            </a:solidFill>
            <a:prstDash val="solid"/>
          </a:ln>
        </p:spPr>
        <p:txBody>
          <a:bodyPr/>
          <a:lstStyle/>
          <a:p>
            <a:endParaRPr lang="it-IT" noProof="0" dirty="0"/>
          </a:p>
        </p:txBody>
      </p:sp>
      <p:sp>
        <p:nvSpPr>
          <p:cNvPr id="27" name="connessione"/>
          <p:cNvSpPr/>
          <p:nvPr/>
        </p:nvSpPr>
        <p:spPr>
          <a:xfrm>
            <a:off x="2148840" y="3451860"/>
            <a:ext cx="1188720" cy="685800"/>
          </a:xfrm>
          <a:prstGeom prst="line">
            <a:avLst/>
          </a:prstGeom>
          <a:noFill/>
          <a:ln w="9525">
            <a:solidFill>
              <a:schemeClr val="accent3"/>
            </a:solidFill>
            <a:prstDash val="solid"/>
          </a:ln>
        </p:spPr>
        <p:txBody>
          <a:bodyPr/>
          <a:lstStyle/>
          <a:p>
            <a:endParaRPr lang="it-IT" noProof="0" dirty="0"/>
          </a:p>
        </p:txBody>
      </p:sp>
      <p:sp>
        <p:nvSpPr>
          <p:cNvPr id="28" name="connessione"/>
          <p:cNvSpPr/>
          <p:nvPr/>
        </p:nvSpPr>
        <p:spPr>
          <a:xfrm flipV="1">
            <a:off x="2148840" y="2080260"/>
            <a:ext cx="1188720" cy="2057400"/>
          </a:xfrm>
          <a:prstGeom prst="line">
            <a:avLst/>
          </a:prstGeom>
          <a:noFill/>
          <a:ln w="9525">
            <a:solidFill>
              <a:schemeClr val="accent3"/>
            </a:solidFill>
            <a:prstDash val="solid"/>
          </a:ln>
        </p:spPr>
        <p:txBody>
          <a:bodyPr/>
          <a:lstStyle/>
          <a:p>
            <a:endParaRPr lang="it-IT" noProof="0" dirty="0"/>
          </a:p>
        </p:txBody>
      </p:sp>
      <p:sp>
        <p:nvSpPr>
          <p:cNvPr id="29" name="connessione"/>
          <p:cNvSpPr/>
          <p:nvPr/>
        </p:nvSpPr>
        <p:spPr>
          <a:xfrm flipV="1">
            <a:off x="2148840" y="2766060"/>
            <a:ext cx="1188720" cy="1371600"/>
          </a:xfrm>
          <a:prstGeom prst="line">
            <a:avLst/>
          </a:prstGeom>
          <a:noFill/>
          <a:ln w="9525">
            <a:solidFill>
              <a:schemeClr val="accent3"/>
            </a:solidFill>
            <a:prstDash val="solid"/>
          </a:ln>
        </p:spPr>
        <p:txBody>
          <a:bodyPr/>
          <a:lstStyle/>
          <a:p>
            <a:endParaRPr lang="it-IT" noProof="0" dirty="0"/>
          </a:p>
        </p:txBody>
      </p:sp>
      <p:sp>
        <p:nvSpPr>
          <p:cNvPr id="30" name="connessione"/>
          <p:cNvSpPr/>
          <p:nvPr/>
        </p:nvSpPr>
        <p:spPr>
          <a:xfrm flipV="1">
            <a:off x="2148840" y="3451860"/>
            <a:ext cx="1188720" cy="685800"/>
          </a:xfrm>
          <a:prstGeom prst="line">
            <a:avLst/>
          </a:prstGeom>
          <a:noFill/>
          <a:ln w="9525">
            <a:solidFill>
              <a:schemeClr val="accent3"/>
            </a:solidFill>
            <a:prstDash val="solid"/>
          </a:ln>
        </p:spPr>
        <p:txBody>
          <a:bodyPr/>
          <a:lstStyle/>
          <a:p>
            <a:endParaRPr lang="it-IT" noProof="0" dirty="0"/>
          </a:p>
        </p:txBody>
      </p:sp>
      <p:sp>
        <p:nvSpPr>
          <p:cNvPr id="31" name="connessione"/>
          <p:cNvSpPr/>
          <p:nvPr/>
        </p:nvSpPr>
        <p:spPr>
          <a:xfrm>
            <a:off x="2148840" y="4137660"/>
            <a:ext cx="1188720" cy="0"/>
          </a:xfrm>
          <a:prstGeom prst="line">
            <a:avLst/>
          </a:prstGeom>
          <a:noFill/>
          <a:ln w="9525">
            <a:solidFill>
              <a:schemeClr val="accent3"/>
            </a:solidFill>
            <a:prstDash val="solid"/>
          </a:ln>
        </p:spPr>
        <p:txBody>
          <a:bodyPr/>
          <a:lstStyle/>
          <a:p>
            <a:endParaRPr lang="it-IT" noProof="0" dirty="0"/>
          </a:p>
        </p:txBody>
      </p:sp>
      <p:sp>
        <p:nvSpPr>
          <p:cNvPr id="32" name="connessione"/>
          <p:cNvSpPr/>
          <p:nvPr/>
        </p:nvSpPr>
        <p:spPr>
          <a:xfrm>
            <a:off x="3337560" y="2080260"/>
            <a:ext cx="1188720" cy="685800"/>
          </a:xfrm>
          <a:prstGeom prst="line">
            <a:avLst/>
          </a:prstGeom>
          <a:noFill/>
          <a:ln w="9525">
            <a:solidFill>
              <a:schemeClr val="accent3"/>
            </a:solidFill>
            <a:prstDash val="solid"/>
          </a:ln>
        </p:spPr>
        <p:txBody>
          <a:bodyPr/>
          <a:lstStyle/>
          <a:p>
            <a:endParaRPr lang="it-IT" noProof="0" dirty="0"/>
          </a:p>
        </p:txBody>
      </p:sp>
      <p:sp>
        <p:nvSpPr>
          <p:cNvPr id="33" name="connessione"/>
          <p:cNvSpPr/>
          <p:nvPr/>
        </p:nvSpPr>
        <p:spPr>
          <a:xfrm>
            <a:off x="3337560" y="2080260"/>
            <a:ext cx="1188720" cy="1371600"/>
          </a:xfrm>
          <a:prstGeom prst="line">
            <a:avLst/>
          </a:prstGeom>
          <a:noFill/>
          <a:ln w="9525">
            <a:solidFill>
              <a:schemeClr val="accent3"/>
            </a:solidFill>
            <a:prstDash val="solid"/>
          </a:ln>
        </p:spPr>
        <p:txBody>
          <a:bodyPr/>
          <a:lstStyle/>
          <a:p>
            <a:endParaRPr lang="it-IT" noProof="0" dirty="0"/>
          </a:p>
        </p:txBody>
      </p:sp>
      <p:sp>
        <p:nvSpPr>
          <p:cNvPr id="34" name="connessione"/>
          <p:cNvSpPr/>
          <p:nvPr/>
        </p:nvSpPr>
        <p:spPr>
          <a:xfrm>
            <a:off x="3337560" y="2766060"/>
            <a:ext cx="1188720" cy="0"/>
          </a:xfrm>
          <a:prstGeom prst="line">
            <a:avLst/>
          </a:prstGeom>
          <a:noFill/>
          <a:ln w="9525">
            <a:solidFill>
              <a:schemeClr val="accent3"/>
            </a:solidFill>
            <a:prstDash val="solid"/>
          </a:ln>
        </p:spPr>
        <p:txBody>
          <a:bodyPr/>
          <a:lstStyle/>
          <a:p>
            <a:endParaRPr lang="it-IT" noProof="0" dirty="0"/>
          </a:p>
        </p:txBody>
      </p:sp>
      <p:sp>
        <p:nvSpPr>
          <p:cNvPr id="35" name="connessione"/>
          <p:cNvSpPr/>
          <p:nvPr/>
        </p:nvSpPr>
        <p:spPr>
          <a:xfrm>
            <a:off x="3337560" y="2766060"/>
            <a:ext cx="1188720" cy="685800"/>
          </a:xfrm>
          <a:prstGeom prst="line">
            <a:avLst/>
          </a:prstGeom>
          <a:noFill/>
          <a:ln w="9525">
            <a:solidFill>
              <a:schemeClr val="accent3"/>
            </a:solidFill>
            <a:prstDash val="solid"/>
          </a:ln>
        </p:spPr>
        <p:txBody>
          <a:bodyPr/>
          <a:lstStyle/>
          <a:p>
            <a:endParaRPr lang="it-IT" noProof="0" dirty="0"/>
          </a:p>
        </p:txBody>
      </p:sp>
      <p:sp>
        <p:nvSpPr>
          <p:cNvPr id="36" name="connessione"/>
          <p:cNvSpPr/>
          <p:nvPr/>
        </p:nvSpPr>
        <p:spPr>
          <a:xfrm flipV="1">
            <a:off x="3337560" y="2766060"/>
            <a:ext cx="1188720" cy="685800"/>
          </a:xfrm>
          <a:prstGeom prst="line">
            <a:avLst/>
          </a:prstGeom>
          <a:noFill/>
          <a:ln w="9525">
            <a:solidFill>
              <a:schemeClr val="accent3"/>
            </a:solidFill>
            <a:prstDash val="solid"/>
          </a:ln>
        </p:spPr>
        <p:txBody>
          <a:bodyPr/>
          <a:lstStyle/>
          <a:p>
            <a:endParaRPr lang="it-IT" noProof="0" dirty="0"/>
          </a:p>
        </p:txBody>
      </p:sp>
      <p:sp>
        <p:nvSpPr>
          <p:cNvPr id="37" name="connessione"/>
          <p:cNvSpPr/>
          <p:nvPr/>
        </p:nvSpPr>
        <p:spPr>
          <a:xfrm>
            <a:off x="3337560" y="3451860"/>
            <a:ext cx="1188720" cy="0"/>
          </a:xfrm>
          <a:prstGeom prst="line">
            <a:avLst/>
          </a:prstGeom>
          <a:noFill/>
          <a:ln w="9525">
            <a:solidFill>
              <a:schemeClr val="accent3"/>
            </a:solidFill>
            <a:prstDash val="solid"/>
          </a:ln>
        </p:spPr>
        <p:txBody>
          <a:bodyPr/>
          <a:lstStyle/>
          <a:p>
            <a:endParaRPr lang="it-IT" noProof="0" dirty="0"/>
          </a:p>
        </p:txBody>
      </p:sp>
      <p:sp>
        <p:nvSpPr>
          <p:cNvPr id="38" name="connessione"/>
          <p:cNvSpPr/>
          <p:nvPr/>
        </p:nvSpPr>
        <p:spPr>
          <a:xfrm flipV="1">
            <a:off x="3337560" y="2766060"/>
            <a:ext cx="1188720" cy="1371600"/>
          </a:xfrm>
          <a:prstGeom prst="line">
            <a:avLst/>
          </a:prstGeom>
          <a:noFill/>
          <a:ln w="9525">
            <a:solidFill>
              <a:schemeClr val="accent3"/>
            </a:solidFill>
            <a:prstDash val="solid"/>
          </a:ln>
        </p:spPr>
        <p:txBody>
          <a:bodyPr/>
          <a:lstStyle/>
          <a:p>
            <a:endParaRPr lang="it-IT" noProof="0" dirty="0"/>
          </a:p>
        </p:txBody>
      </p:sp>
      <p:sp>
        <p:nvSpPr>
          <p:cNvPr id="39" name="connessione"/>
          <p:cNvSpPr/>
          <p:nvPr/>
        </p:nvSpPr>
        <p:spPr>
          <a:xfrm flipV="1">
            <a:off x="3337560" y="3451860"/>
            <a:ext cx="1188720" cy="685800"/>
          </a:xfrm>
          <a:prstGeom prst="line">
            <a:avLst/>
          </a:prstGeom>
          <a:noFill/>
          <a:ln w="9525">
            <a:solidFill>
              <a:schemeClr val="accent3"/>
            </a:solidFill>
            <a:prstDash val="solid"/>
          </a:ln>
        </p:spPr>
        <p:txBody>
          <a:bodyPr/>
          <a:lstStyle/>
          <a:p>
            <a:endParaRPr lang="it-IT" noProof="0" dirty="0"/>
          </a:p>
        </p:txBody>
      </p:sp>
      <p:sp>
        <p:nvSpPr>
          <p:cNvPr id="40" name="neurone"/>
          <p:cNvSpPr/>
          <p:nvPr/>
        </p:nvSpPr>
        <p:spPr>
          <a:xfrm>
            <a:off x="822960" y="2286000"/>
            <a:ext cx="274320" cy="274320"/>
          </a:xfrm>
          <a:prstGeom prst="ellipse">
            <a:avLst/>
          </a:prstGeom>
          <a:solidFill>
            <a:schemeClr val="tx2"/>
          </a:solidFill>
          <a:ln/>
        </p:spPr>
        <p:txBody>
          <a:bodyPr/>
          <a:lstStyle/>
          <a:p>
            <a:endParaRPr lang="it-IT" noProof="0" dirty="0"/>
          </a:p>
        </p:txBody>
      </p:sp>
      <p:sp>
        <p:nvSpPr>
          <p:cNvPr id="41" name="neurone"/>
          <p:cNvSpPr/>
          <p:nvPr/>
        </p:nvSpPr>
        <p:spPr>
          <a:xfrm>
            <a:off x="822960" y="2971800"/>
            <a:ext cx="274320" cy="274320"/>
          </a:xfrm>
          <a:prstGeom prst="ellipse">
            <a:avLst/>
          </a:prstGeom>
          <a:solidFill>
            <a:schemeClr val="tx2"/>
          </a:solidFill>
          <a:ln/>
        </p:spPr>
        <p:txBody>
          <a:bodyPr/>
          <a:lstStyle/>
          <a:p>
            <a:endParaRPr lang="it-IT" noProof="0" dirty="0"/>
          </a:p>
        </p:txBody>
      </p:sp>
      <p:sp>
        <p:nvSpPr>
          <p:cNvPr id="42" name="neurone"/>
          <p:cNvSpPr/>
          <p:nvPr/>
        </p:nvSpPr>
        <p:spPr>
          <a:xfrm>
            <a:off x="822960" y="3657600"/>
            <a:ext cx="274320" cy="274320"/>
          </a:xfrm>
          <a:prstGeom prst="ellipse">
            <a:avLst/>
          </a:prstGeom>
          <a:solidFill>
            <a:schemeClr val="tx2"/>
          </a:solidFill>
          <a:ln/>
        </p:spPr>
        <p:txBody>
          <a:bodyPr/>
          <a:lstStyle/>
          <a:p>
            <a:endParaRPr lang="it-IT" noProof="0" dirty="0"/>
          </a:p>
        </p:txBody>
      </p:sp>
      <p:sp>
        <p:nvSpPr>
          <p:cNvPr id="43" name="neurone"/>
          <p:cNvSpPr/>
          <p:nvPr/>
        </p:nvSpPr>
        <p:spPr>
          <a:xfrm>
            <a:off x="2011680" y="1943100"/>
            <a:ext cx="274320" cy="274320"/>
          </a:xfrm>
          <a:prstGeom prst="ellipse">
            <a:avLst/>
          </a:prstGeom>
          <a:solidFill>
            <a:schemeClr val="accent1"/>
          </a:solidFill>
          <a:ln/>
        </p:spPr>
        <p:txBody>
          <a:bodyPr/>
          <a:lstStyle/>
          <a:p>
            <a:endParaRPr lang="it-IT" noProof="0" dirty="0"/>
          </a:p>
        </p:txBody>
      </p:sp>
      <p:sp>
        <p:nvSpPr>
          <p:cNvPr id="44" name="neurone"/>
          <p:cNvSpPr/>
          <p:nvPr/>
        </p:nvSpPr>
        <p:spPr>
          <a:xfrm>
            <a:off x="2011680" y="2628900"/>
            <a:ext cx="274320" cy="274320"/>
          </a:xfrm>
          <a:prstGeom prst="ellipse">
            <a:avLst/>
          </a:prstGeom>
          <a:solidFill>
            <a:schemeClr val="accent1"/>
          </a:solidFill>
          <a:ln/>
        </p:spPr>
        <p:txBody>
          <a:bodyPr/>
          <a:lstStyle/>
          <a:p>
            <a:endParaRPr lang="it-IT" noProof="0" dirty="0"/>
          </a:p>
        </p:txBody>
      </p:sp>
      <p:sp>
        <p:nvSpPr>
          <p:cNvPr id="45" name="neurone"/>
          <p:cNvSpPr/>
          <p:nvPr/>
        </p:nvSpPr>
        <p:spPr>
          <a:xfrm>
            <a:off x="2011680" y="3314700"/>
            <a:ext cx="274320" cy="274320"/>
          </a:xfrm>
          <a:prstGeom prst="ellipse">
            <a:avLst/>
          </a:prstGeom>
          <a:solidFill>
            <a:schemeClr val="accent1"/>
          </a:solidFill>
          <a:ln/>
        </p:spPr>
        <p:txBody>
          <a:bodyPr/>
          <a:lstStyle/>
          <a:p>
            <a:endParaRPr lang="it-IT" noProof="0" dirty="0"/>
          </a:p>
        </p:txBody>
      </p:sp>
      <p:sp>
        <p:nvSpPr>
          <p:cNvPr id="46" name="neurone"/>
          <p:cNvSpPr/>
          <p:nvPr/>
        </p:nvSpPr>
        <p:spPr>
          <a:xfrm>
            <a:off x="2011680" y="4000500"/>
            <a:ext cx="274320" cy="274320"/>
          </a:xfrm>
          <a:prstGeom prst="ellipse">
            <a:avLst/>
          </a:prstGeom>
          <a:solidFill>
            <a:schemeClr val="accent1"/>
          </a:solidFill>
          <a:ln/>
        </p:spPr>
        <p:txBody>
          <a:bodyPr/>
          <a:lstStyle/>
          <a:p>
            <a:endParaRPr lang="it-IT" noProof="0" dirty="0"/>
          </a:p>
        </p:txBody>
      </p:sp>
      <p:sp>
        <p:nvSpPr>
          <p:cNvPr id="47" name="neurone"/>
          <p:cNvSpPr/>
          <p:nvPr/>
        </p:nvSpPr>
        <p:spPr>
          <a:xfrm>
            <a:off x="3200400" y="1943100"/>
            <a:ext cx="274320" cy="274320"/>
          </a:xfrm>
          <a:prstGeom prst="ellipse">
            <a:avLst/>
          </a:prstGeom>
          <a:solidFill>
            <a:schemeClr val="accent1"/>
          </a:solidFill>
          <a:ln/>
        </p:spPr>
        <p:txBody>
          <a:bodyPr/>
          <a:lstStyle/>
          <a:p>
            <a:endParaRPr lang="it-IT" noProof="0" dirty="0"/>
          </a:p>
        </p:txBody>
      </p:sp>
      <p:sp>
        <p:nvSpPr>
          <p:cNvPr id="48" name="neurone"/>
          <p:cNvSpPr/>
          <p:nvPr/>
        </p:nvSpPr>
        <p:spPr>
          <a:xfrm>
            <a:off x="3200400" y="2628900"/>
            <a:ext cx="274320" cy="274320"/>
          </a:xfrm>
          <a:prstGeom prst="ellipse">
            <a:avLst/>
          </a:prstGeom>
          <a:solidFill>
            <a:schemeClr val="accent1"/>
          </a:solidFill>
          <a:ln/>
        </p:spPr>
        <p:txBody>
          <a:bodyPr/>
          <a:lstStyle/>
          <a:p>
            <a:endParaRPr lang="it-IT" noProof="0" dirty="0"/>
          </a:p>
        </p:txBody>
      </p:sp>
      <p:sp>
        <p:nvSpPr>
          <p:cNvPr id="49" name="neurone"/>
          <p:cNvSpPr/>
          <p:nvPr/>
        </p:nvSpPr>
        <p:spPr>
          <a:xfrm>
            <a:off x="3200400" y="3314700"/>
            <a:ext cx="274320" cy="274320"/>
          </a:xfrm>
          <a:prstGeom prst="ellipse">
            <a:avLst/>
          </a:prstGeom>
          <a:solidFill>
            <a:schemeClr val="accent1"/>
          </a:solidFill>
          <a:ln/>
        </p:spPr>
        <p:txBody>
          <a:bodyPr/>
          <a:lstStyle/>
          <a:p>
            <a:endParaRPr lang="it-IT" noProof="0" dirty="0"/>
          </a:p>
        </p:txBody>
      </p:sp>
      <p:sp>
        <p:nvSpPr>
          <p:cNvPr id="50" name="neurone"/>
          <p:cNvSpPr/>
          <p:nvPr/>
        </p:nvSpPr>
        <p:spPr>
          <a:xfrm>
            <a:off x="3200400" y="4000500"/>
            <a:ext cx="274320" cy="274320"/>
          </a:xfrm>
          <a:prstGeom prst="ellipse">
            <a:avLst/>
          </a:prstGeom>
          <a:solidFill>
            <a:schemeClr val="accent1"/>
          </a:solidFill>
          <a:ln/>
        </p:spPr>
        <p:txBody>
          <a:bodyPr/>
          <a:lstStyle/>
          <a:p>
            <a:endParaRPr lang="it-IT" noProof="0" dirty="0"/>
          </a:p>
        </p:txBody>
      </p:sp>
      <p:sp>
        <p:nvSpPr>
          <p:cNvPr id="51" name="neurone"/>
          <p:cNvSpPr/>
          <p:nvPr/>
        </p:nvSpPr>
        <p:spPr>
          <a:xfrm>
            <a:off x="4389120" y="2628900"/>
            <a:ext cx="274320" cy="274320"/>
          </a:xfrm>
          <a:prstGeom prst="ellipse">
            <a:avLst/>
          </a:prstGeom>
          <a:solidFill>
            <a:schemeClr val="tx2"/>
          </a:solidFill>
          <a:ln/>
        </p:spPr>
        <p:txBody>
          <a:bodyPr/>
          <a:lstStyle/>
          <a:p>
            <a:endParaRPr lang="it-IT" noProof="0" dirty="0"/>
          </a:p>
        </p:txBody>
      </p:sp>
      <p:sp>
        <p:nvSpPr>
          <p:cNvPr id="52" name="neurone"/>
          <p:cNvSpPr/>
          <p:nvPr/>
        </p:nvSpPr>
        <p:spPr>
          <a:xfrm>
            <a:off x="4389120" y="3314700"/>
            <a:ext cx="274320" cy="274320"/>
          </a:xfrm>
          <a:prstGeom prst="ellipse">
            <a:avLst/>
          </a:prstGeom>
          <a:solidFill>
            <a:schemeClr val="tx2"/>
          </a:solidFill>
          <a:ln/>
        </p:spPr>
        <p:txBody>
          <a:bodyPr/>
          <a:lstStyle/>
          <a:p>
            <a:endParaRPr lang="it-IT" noProof="0" dirty="0"/>
          </a:p>
        </p:txBody>
      </p:sp>
      <p:sp>
        <p:nvSpPr>
          <p:cNvPr id="53" name="Text 50"/>
          <p:cNvSpPr txBox="1"/>
          <p:nvPr/>
        </p:nvSpPr>
        <p:spPr>
          <a:xfrm>
            <a:off x="411480" y="1143000"/>
            <a:ext cx="1097280" cy="320040"/>
          </a:xfrm>
          <a:prstGeom prst="rect">
            <a:avLst/>
          </a:prstGeom>
          <a:noFill/>
          <a:ln/>
        </p:spPr>
        <p:txBody>
          <a:bodyPr wrap="square" lIns="0" tIns="0" rIns="0" bIns="0" rtlCol="0" anchor="t"/>
          <a:lstStyle/>
          <a:p>
            <a:pPr marL="0" indent="0" algn="ctr">
              <a:buNone/>
            </a:pPr>
            <a:r>
              <a:rPr lang="it-IT" sz="1100" b="1" noProof="0" dirty="0">
                <a:solidFill>
                  <a:schemeClr val="tx2"/>
                </a:solidFill>
              </a:rPr>
              <a:t>Input</a:t>
            </a:r>
            <a:endParaRPr lang="it-IT" sz="1100" noProof="0" dirty="0"/>
          </a:p>
        </p:txBody>
      </p:sp>
      <p:sp>
        <p:nvSpPr>
          <p:cNvPr id="54" name="Text 51"/>
          <p:cNvSpPr txBox="1"/>
          <p:nvPr/>
        </p:nvSpPr>
        <p:spPr>
          <a:xfrm>
            <a:off x="1600200" y="1143000"/>
            <a:ext cx="1097280" cy="320040"/>
          </a:xfrm>
          <a:prstGeom prst="rect">
            <a:avLst/>
          </a:prstGeom>
          <a:noFill/>
          <a:ln/>
        </p:spPr>
        <p:txBody>
          <a:bodyPr wrap="square" lIns="0" tIns="0" rIns="0" bIns="0" rtlCol="0" anchor="t"/>
          <a:lstStyle/>
          <a:p>
            <a:pPr marL="0" indent="0" algn="ctr">
              <a:buNone/>
            </a:pPr>
            <a:r>
              <a:rPr lang="it-IT" sz="1100" b="1" noProof="0" dirty="0">
                <a:solidFill>
                  <a:schemeClr val="tx2"/>
                </a:solidFill>
              </a:rPr>
              <a:t>Strato nascosto</a:t>
            </a:r>
            <a:endParaRPr lang="it-IT" sz="1100" noProof="0" dirty="0"/>
          </a:p>
        </p:txBody>
      </p:sp>
      <p:sp>
        <p:nvSpPr>
          <p:cNvPr id="55" name="Text 52"/>
          <p:cNvSpPr txBox="1"/>
          <p:nvPr/>
        </p:nvSpPr>
        <p:spPr>
          <a:xfrm>
            <a:off x="2788920" y="1143000"/>
            <a:ext cx="1097280" cy="320040"/>
          </a:xfrm>
          <a:prstGeom prst="rect">
            <a:avLst/>
          </a:prstGeom>
          <a:noFill/>
          <a:ln/>
        </p:spPr>
        <p:txBody>
          <a:bodyPr wrap="square" lIns="0" tIns="0" rIns="0" bIns="0" rtlCol="0" anchor="t"/>
          <a:lstStyle/>
          <a:p>
            <a:pPr marL="0" indent="0" algn="ctr">
              <a:buNone/>
            </a:pPr>
            <a:r>
              <a:rPr lang="it-IT" sz="1100" b="1" noProof="0" dirty="0">
                <a:solidFill>
                  <a:schemeClr val="tx2"/>
                </a:solidFill>
              </a:rPr>
              <a:t>Strato nascosto</a:t>
            </a:r>
            <a:endParaRPr lang="it-IT" sz="1100" noProof="0" dirty="0"/>
          </a:p>
        </p:txBody>
      </p:sp>
      <p:sp>
        <p:nvSpPr>
          <p:cNvPr id="56" name="Text 53"/>
          <p:cNvSpPr txBox="1"/>
          <p:nvPr/>
        </p:nvSpPr>
        <p:spPr>
          <a:xfrm>
            <a:off x="3977640" y="1143000"/>
            <a:ext cx="1097280" cy="320040"/>
          </a:xfrm>
          <a:prstGeom prst="rect">
            <a:avLst/>
          </a:prstGeom>
          <a:noFill/>
          <a:ln/>
        </p:spPr>
        <p:txBody>
          <a:bodyPr wrap="square" lIns="0" tIns="0" rIns="0" bIns="0" rtlCol="0" anchor="t"/>
          <a:lstStyle/>
          <a:p>
            <a:pPr marL="0" indent="0" algn="ctr">
              <a:buNone/>
            </a:pPr>
            <a:r>
              <a:rPr lang="it-IT" sz="1100" b="1" noProof="0" dirty="0">
                <a:solidFill>
                  <a:schemeClr val="tx2"/>
                </a:solidFill>
              </a:rPr>
              <a:t>Output</a:t>
            </a:r>
            <a:endParaRPr lang="it-IT" sz="1100" noProof="0" dirty="0"/>
          </a:p>
        </p:txBody>
      </p:sp>
      <p:sp>
        <p:nvSpPr>
          <p:cNvPr id="57" name="Text 54"/>
          <p:cNvSpPr txBox="1"/>
          <p:nvPr/>
        </p:nvSpPr>
        <p:spPr>
          <a:xfrm>
            <a:off x="457200" y="4434840"/>
            <a:ext cx="4572000" cy="274320"/>
          </a:xfrm>
          <a:prstGeom prst="rect">
            <a:avLst/>
          </a:prstGeom>
          <a:noFill/>
          <a:ln/>
        </p:spPr>
        <p:txBody>
          <a:bodyPr wrap="square" lIns="0" tIns="0" rIns="0" bIns="0" rtlCol="0" anchor="t"/>
          <a:lstStyle/>
          <a:p>
            <a:pPr marL="0" indent="0" algn="ctr">
              <a:buNone/>
            </a:pPr>
            <a:r>
              <a:rPr lang="it-IT" sz="1100" i="1" noProof="0" dirty="0">
                <a:solidFill>
                  <a:schemeClr val="accent2"/>
                </a:solidFill>
              </a:rPr>
              <a:t>Dai pixel ai concetti</a:t>
            </a:r>
            <a:endParaRPr lang="it-IT" sz="1100" noProof="0" dirty="0"/>
          </a:p>
        </p:txBody>
      </p:sp>
      <p:sp>
        <p:nvSpPr>
          <p:cNvPr id="58" name="Text 55"/>
          <p:cNvSpPr txBox="1"/>
          <p:nvPr/>
        </p:nvSpPr>
        <p:spPr>
          <a:xfrm>
            <a:off x="5303520" y="1097280"/>
            <a:ext cx="3383280" cy="320040"/>
          </a:xfrm>
          <a:prstGeom prst="rect">
            <a:avLst/>
          </a:prstGeom>
          <a:noFill/>
          <a:ln/>
        </p:spPr>
        <p:txBody>
          <a:bodyPr wrap="square" lIns="0" tIns="0" rIns="0" bIns="0" rtlCol="0" anchor="t"/>
          <a:lstStyle/>
          <a:p>
            <a:pPr marL="0" indent="0">
              <a:buNone/>
            </a:pPr>
            <a:r>
              <a:rPr lang="it-IT" sz="1500" b="1" noProof="0" dirty="0">
                <a:solidFill>
                  <a:schemeClr val="tx1"/>
                </a:solidFill>
              </a:rPr>
              <a:t>Rappresentazioni sempre più astratte</a:t>
            </a:r>
            <a:endParaRPr lang="it-IT" sz="1500" noProof="0" dirty="0"/>
          </a:p>
        </p:txBody>
      </p:sp>
      <p:sp>
        <p:nvSpPr>
          <p:cNvPr id="59" name="Bordi e linee"/>
          <p:cNvSpPr/>
          <p:nvPr/>
        </p:nvSpPr>
        <p:spPr>
          <a:xfrm>
            <a:off x="5303520" y="1554480"/>
            <a:ext cx="3383280" cy="658368"/>
          </a:xfrm>
          <a:prstGeom prst="roundRect">
            <a:avLst>
              <a:gd name="adj" fmla="val 11111"/>
            </a:avLst>
          </a:prstGeom>
          <a:solidFill>
            <a:schemeClr val="bg2"/>
          </a:solidFill>
          <a:ln/>
        </p:spPr>
        <p:txBody>
          <a:bodyPr/>
          <a:lstStyle/>
          <a:p>
            <a:endParaRPr lang="it-IT" noProof="0" dirty="0"/>
          </a:p>
        </p:txBody>
      </p:sp>
      <p:sp>
        <p:nvSpPr>
          <p:cNvPr id="60" name="Text 57"/>
          <p:cNvSpPr txBox="1"/>
          <p:nvPr/>
        </p:nvSpPr>
        <p:spPr>
          <a:xfrm>
            <a:off x="5486400" y="1609344"/>
            <a:ext cx="3108960" cy="292608"/>
          </a:xfrm>
          <a:prstGeom prst="rect">
            <a:avLst/>
          </a:prstGeom>
          <a:noFill/>
          <a:ln/>
        </p:spPr>
        <p:txBody>
          <a:bodyPr wrap="square" lIns="0" tIns="0" rIns="0" bIns="0" rtlCol="0" anchor="t"/>
          <a:lstStyle/>
          <a:p>
            <a:pPr marL="0" indent="0">
              <a:buNone/>
            </a:pPr>
            <a:r>
              <a:rPr lang="it-IT" sz="1400" b="1" noProof="0" dirty="0">
                <a:solidFill>
                  <a:schemeClr val="tx1"/>
                </a:solidFill>
              </a:rPr>
              <a:t>Bordi e linee</a:t>
            </a:r>
            <a:endParaRPr lang="it-IT" sz="1400" noProof="0" dirty="0"/>
          </a:p>
        </p:txBody>
      </p:sp>
      <p:sp>
        <p:nvSpPr>
          <p:cNvPr id="61" name="Text 58"/>
          <p:cNvSpPr txBox="1"/>
          <p:nvPr/>
        </p:nvSpPr>
        <p:spPr>
          <a:xfrm>
            <a:off x="5486400" y="1901952"/>
            <a:ext cx="3108960" cy="256032"/>
          </a:xfrm>
          <a:prstGeom prst="rect">
            <a:avLst/>
          </a:prstGeom>
          <a:noFill/>
          <a:ln/>
        </p:spPr>
        <p:txBody>
          <a:bodyPr wrap="square" lIns="0" tIns="0" rIns="0" bIns="0" rtlCol="0" anchor="t"/>
          <a:lstStyle/>
          <a:p>
            <a:pPr marL="0" indent="0">
              <a:buNone/>
            </a:pPr>
            <a:r>
              <a:rPr lang="it-IT" sz="1200" noProof="0" dirty="0">
                <a:solidFill>
                  <a:schemeClr val="tx2"/>
                </a:solidFill>
              </a:rPr>
              <a:t>I primi strati</a:t>
            </a:r>
            <a:endParaRPr lang="it-IT" sz="1200" noProof="0" dirty="0"/>
          </a:p>
        </p:txBody>
      </p:sp>
      <p:sp>
        <p:nvSpPr>
          <p:cNvPr id="62" name="Forme e parti di oggetti"/>
          <p:cNvSpPr/>
          <p:nvPr/>
        </p:nvSpPr>
        <p:spPr>
          <a:xfrm>
            <a:off x="5303520" y="2331720"/>
            <a:ext cx="3383280" cy="658368"/>
          </a:xfrm>
          <a:prstGeom prst="roundRect">
            <a:avLst>
              <a:gd name="adj" fmla="val 11111"/>
            </a:avLst>
          </a:prstGeom>
          <a:solidFill>
            <a:schemeClr val="bg2"/>
          </a:solidFill>
          <a:ln/>
        </p:spPr>
        <p:txBody>
          <a:bodyPr/>
          <a:lstStyle/>
          <a:p>
            <a:endParaRPr lang="it-IT" noProof="0" dirty="0"/>
          </a:p>
        </p:txBody>
      </p:sp>
      <p:sp>
        <p:nvSpPr>
          <p:cNvPr id="63" name="Text 60"/>
          <p:cNvSpPr txBox="1"/>
          <p:nvPr/>
        </p:nvSpPr>
        <p:spPr>
          <a:xfrm>
            <a:off x="5486400" y="2386584"/>
            <a:ext cx="3108960" cy="292608"/>
          </a:xfrm>
          <a:prstGeom prst="rect">
            <a:avLst/>
          </a:prstGeom>
          <a:noFill/>
          <a:ln/>
        </p:spPr>
        <p:txBody>
          <a:bodyPr wrap="square" lIns="0" tIns="0" rIns="0" bIns="0" rtlCol="0" anchor="t"/>
          <a:lstStyle/>
          <a:p>
            <a:pPr marL="0" indent="0">
              <a:buNone/>
            </a:pPr>
            <a:r>
              <a:rPr lang="it-IT" sz="1400" b="1" noProof="0" dirty="0">
                <a:solidFill>
                  <a:schemeClr val="tx1"/>
                </a:solidFill>
              </a:rPr>
              <a:t>Forme e parti di oggetti</a:t>
            </a:r>
            <a:endParaRPr lang="it-IT" sz="1400" noProof="0" dirty="0"/>
          </a:p>
        </p:txBody>
      </p:sp>
      <p:sp>
        <p:nvSpPr>
          <p:cNvPr id="64" name="Text 61"/>
          <p:cNvSpPr txBox="1"/>
          <p:nvPr/>
        </p:nvSpPr>
        <p:spPr>
          <a:xfrm>
            <a:off x="5486400" y="2679192"/>
            <a:ext cx="3108960" cy="256032"/>
          </a:xfrm>
          <a:prstGeom prst="rect">
            <a:avLst/>
          </a:prstGeom>
          <a:noFill/>
          <a:ln/>
        </p:spPr>
        <p:txBody>
          <a:bodyPr wrap="square" lIns="0" tIns="0" rIns="0" bIns="0" rtlCol="0" anchor="t"/>
          <a:lstStyle/>
          <a:p>
            <a:pPr marL="0" indent="0">
              <a:buNone/>
            </a:pPr>
            <a:r>
              <a:rPr lang="it-IT" sz="1200" noProof="0" dirty="0">
                <a:solidFill>
                  <a:schemeClr val="tx2"/>
                </a:solidFill>
              </a:rPr>
              <a:t>Gli strati intermedi</a:t>
            </a:r>
            <a:endParaRPr lang="it-IT" sz="1200" noProof="0" dirty="0"/>
          </a:p>
        </p:txBody>
      </p:sp>
      <p:sp>
        <p:nvSpPr>
          <p:cNvPr id="65" name="Concetti: &quot;volto&quot;, &quot;auto&quot;"/>
          <p:cNvSpPr/>
          <p:nvPr/>
        </p:nvSpPr>
        <p:spPr>
          <a:xfrm>
            <a:off x="5303520" y="3108960"/>
            <a:ext cx="3383280" cy="658368"/>
          </a:xfrm>
          <a:prstGeom prst="roundRect">
            <a:avLst>
              <a:gd name="adj" fmla="val 11111"/>
            </a:avLst>
          </a:prstGeom>
          <a:solidFill>
            <a:schemeClr val="accent6"/>
          </a:solidFill>
          <a:ln/>
        </p:spPr>
        <p:txBody>
          <a:bodyPr/>
          <a:lstStyle/>
          <a:p>
            <a:endParaRPr lang="it-IT" noProof="0" dirty="0"/>
          </a:p>
        </p:txBody>
      </p:sp>
      <p:sp>
        <p:nvSpPr>
          <p:cNvPr id="66" name="Text 63"/>
          <p:cNvSpPr txBox="1"/>
          <p:nvPr/>
        </p:nvSpPr>
        <p:spPr>
          <a:xfrm>
            <a:off x="5486400" y="3163824"/>
            <a:ext cx="3108960" cy="292608"/>
          </a:xfrm>
          <a:prstGeom prst="rect">
            <a:avLst/>
          </a:prstGeom>
          <a:noFill/>
          <a:ln/>
        </p:spPr>
        <p:txBody>
          <a:bodyPr wrap="square" lIns="0" tIns="0" rIns="0" bIns="0" rtlCol="0" anchor="t"/>
          <a:lstStyle/>
          <a:p>
            <a:pPr marL="0" indent="0">
              <a:buNone/>
            </a:pPr>
            <a:r>
              <a:rPr lang="it-IT" sz="1400" b="1" noProof="0" dirty="0">
                <a:solidFill>
                  <a:schemeClr val="tx1"/>
                </a:solidFill>
              </a:rPr>
              <a:t>Concetti: "volto", "auto"</a:t>
            </a:r>
            <a:endParaRPr lang="it-IT" sz="1400" noProof="0" dirty="0"/>
          </a:p>
        </p:txBody>
      </p:sp>
      <p:sp>
        <p:nvSpPr>
          <p:cNvPr id="67" name="Text 64"/>
          <p:cNvSpPr txBox="1"/>
          <p:nvPr/>
        </p:nvSpPr>
        <p:spPr>
          <a:xfrm>
            <a:off x="5486400" y="3456432"/>
            <a:ext cx="3108960" cy="256032"/>
          </a:xfrm>
          <a:prstGeom prst="rect">
            <a:avLst/>
          </a:prstGeom>
          <a:noFill/>
          <a:ln/>
        </p:spPr>
        <p:txBody>
          <a:bodyPr wrap="square" lIns="0" tIns="0" rIns="0" bIns="0" rtlCol="0" anchor="t"/>
          <a:lstStyle/>
          <a:p>
            <a:pPr marL="0" indent="0">
              <a:buNone/>
            </a:pPr>
            <a:r>
              <a:rPr lang="it-IT" sz="1200" noProof="0" dirty="0">
                <a:solidFill>
                  <a:schemeClr val="tx2"/>
                </a:solidFill>
              </a:rPr>
              <a:t>Gli ultimi strati</a:t>
            </a:r>
            <a:endParaRPr lang="it-IT" sz="1200" noProof="0" dirty="0"/>
          </a:p>
        </p:txBody>
      </p:sp>
      <p:sp>
        <p:nvSpPr>
          <p:cNvPr id="68" name="Text 65"/>
          <p:cNvSpPr txBox="1"/>
          <p:nvPr/>
        </p:nvSpPr>
        <p:spPr>
          <a:xfrm>
            <a:off x="5303520" y="3977640"/>
            <a:ext cx="3383280" cy="548640"/>
          </a:xfrm>
          <a:prstGeom prst="rect">
            <a:avLst/>
          </a:prstGeom>
          <a:noFill/>
          <a:ln/>
        </p:spPr>
        <p:txBody>
          <a:bodyPr wrap="square" lIns="0" tIns="0" rIns="0" bIns="0" rtlCol="0" anchor="t"/>
          <a:lstStyle/>
          <a:p>
            <a:pPr marL="0" indent="0">
              <a:buNone/>
            </a:pPr>
            <a:r>
              <a:rPr lang="it-IT" sz="1200" i="1" noProof="0" dirty="0">
                <a:solidFill>
                  <a:schemeClr val="tx2"/>
                </a:solidFill>
              </a:rPr>
              <a:t>Una struttura matematica ispirata al cervello, non un cervello in miniatura.</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16</a:t>
            </a:fld>
            <a:endParaRPr lang="it-IT"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AI predittiva, discriminativa e generativa</a:t>
            </a:r>
            <a:endParaRPr lang="it-IT" sz="2600" noProof="0" dirty="0"/>
          </a:p>
        </p:txBody>
      </p:sp>
      <p:sp>
        <p:nvSpPr>
          <p:cNvPr id="4" name="scheda Predittiva"/>
          <p:cNvSpPr/>
          <p:nvPr/>
        </p:nvSpPr>
        <p:spPr>
          <a:xfrm>
            <a:off x="457200" y="1097280"/>
            <a:ext cx="2615184" cy="3154680"/>
          </a:xfrm>
          <a:prstGeom prst="roundRect">
            <a:avLst>
              <a:gd name="adj" fmla="val 2797"/>
            </a:avLst>
          </a:prstGeom>
          <a:solidFill>
            <a:schemeClr val="bg2"/>
          </a:solidFill>
          <a:ln/>
        </p:spPr>
        <p:txBody>
          <a:bodyPr/>
          <a:lstStyle/>
          <a:p>
            <a:endParaRPr lang="it-IT" noProof="0" dirty="0"/>
          </a:p>
        </p:txBody>
      </p:sp>
      <p:sp>
        <p:nvSpPr>
          <p:cNvPr id="5" name="cerchio FiTrendingUp"/>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TrendingUp"/>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Predittiva</a:t>
            </a:r>
            <a:endParaRPr lang="it-IT" sz="1600" noProof="0" dirty="0"/>
          </a:p>
        </p:txBody>
      </p:sp>
      <p:sp>
        <p:nvSpPr>
          <p:cNvPr id="8" name="Text 4"/>
          <p:cNvSpPr txBox="1"/>
          <p:nvPr/>
        </p:nvSpPr>
        <p:spPr>
          <a:xfrm>
            <a:off x="640080" y="2231136"/>
            <a:ext cx="2249424" cy="191109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Stima un valore o un evento futuro</a:t>
            </a:r>
            <a:endParaRPr lang="it-IT" sz="1300" noProof="0" dirty="0"/>
          </a:p>
          <a:p>
            <a:pPr marL="177800" indent="-177800">
              <a:spcAft>
                <a:spcPts val="300"/>
              </a:spcAft>
              <a:buSzPct val="100000"/>
              <a:buChar char="•"/>
            </a:pPr>
            <a:r>
              <a:rPr lang="it-IT" sz="1300" noProof="0" dirty="0">
                <a:solidFill>
                  <a:schemeClr val="tx2"/>
                </a:solidFill>
              </a:rPr>
              <a:t>Vendite del prossimo mese</a:t>
            </a:r>
            <a:endParaRPr lang="it-IT" sz="1300" noProof="0" dirty="0"/>
          </a:p>
          <a:p>
            <a:pPr marL="177800" indent="-177800">
              <a:spcAft>
                <a:spcPts val="300"/>
              </a:spcAft>
              <a:buSzPct val="100000"/>
              <a:buChar char="•"/>
            </a:pPr>
            <a:r>
              <a:rPr lang="it-IT" sz="1300" noProof="0" dirty="0">
                <a:solidFill>
                  <a:schemeClr val="tx2"/>
                </a:solidFill>
              </a:rPr>
              <a:t>Manutenzione di un macchinario</a:t>
            </a:r>
            <a:endParaRPr lang="it-IT" sz="1300" noProof="0" dirty="0"/>
          </a:p>
          <a:p>
            <a:pPr marL="177800" indent="-177800">
              <a:spcAft>
                <a:spcPts val="300"/>
              </a:spcAft>
              <a:buSzPct val="100000"/>
              <a:buChar char="•"/>
            </a:pPr>
            <a:r>
              <a:rPr lang="it-IT" sz="1300" noProof="0" dirty="0">
                <a:solidFill>
                  <a:schemeClr val="tx2"/>
                </a:solidFill>
              </a:rPr>
              <a:t>Rischio di abbandono di un cliente</a:t>
            </a:r>
            <a:endParaRPr lang="it-IT" sz="1300" noProof="0" dirty="0"/>
          </a:p>
        </p:txBody>
      </p:sp>
      <p:sp>
        <p:nvSpPr>
          <p:cNvPr id="9" name="scheda Discriminativa"/>
          <p:cNvSpPr/>
          <p:nvPr/>
        </p:nvSpPr>
        <p:spPr>
          <a:xfrm>
            <a:off x="3264408" y="1097280"/>
            <a:ext cx="2615184" cy="3154680"/>
          </a:xfrm>
          <a:prstGeom prst="roundRect">
            <a:avLst>
              <a:gd name="adj" fmla="val 2797"/>
            </a:avLst>
          </a:prstGeom>
          <a:solidFill>
            <a:schemeClr val="bg2"/>
          </a:solidFill>
          <a:ln/>
        </p:spPr>
        <p:txBody>
          <a:bodyPr/>
          <a:lstStyle/>
          <a:p>
            <a:endParaRPr lang="it-IT" noProof="0" dirty="0"/>
          </a:p>
        </p:txBody>
      </p:sp>
      <p:sp>
        <p:nvSpPr>
          <p:cNvPr id="10" name="cerchio FiFilter"/>
          <p:cNvSpPr/>
          <p:nvPr/>
        </p:nvSpPr>
        <p:spPr>
          <a:xfrm>
            <a:off x="3447288" y="1280160"/>
            <a:ext cx="457200" cy="457200"/>
          </a:xfrm>
          <a:prstGeom prst="ellipse">
            <a:avLst/>
          </a:prstGeom>
          <a:solidFill>
            <a:schemeClr val="accent1"/>
          </a:solidFill>
          <a:ln/>
        </p:spPr>
        <p:txBody>
          <a:bodyPr/>
          <a:lstStyle/>
          <a:p>
            <a:endParaRPr lang="it-IT" noProof="0" dirty="0"/>
          </a:p>
        </p:txBody>
      </p:sp>
      <p:pic>
        <p:nvPicPr>
          <p:cNvPr id="11" name="Image 1" descr="FiFilter"/>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Discriminativa</a:t>
            </a:r>
            <a:endParaRPr lang="it-IT" sz="1600" noProof="0" dirty="0"/>
          </a:p>
        </p:txBody>
      </p:sp>
      <p:sp>
        <p:nvSpPr>
          <p:cNvPr id="13" name="Text 8"/>
          <p:cNvSpPr txBox="1"/>
          <p:nvPr/>
        </p:nvSpPr>
        <p:spPr>
          <a:xfrm>
            <a:off x="3447288" y="2231136"/>
            <a:ext cx="2249424" cy="191109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Assegna un input a una categoria</a:t>
            </a:r>
            <a:endParaRPr lang="it-IT" sz="1300" noProof="0" dirty="0"/>
          </a:p>
          <a:p>
            <a:pPr marL="177800" indent="-177800">
              <a:spcAft>
                <a:spcPts val="300"/>
              </a:spcAft>
              <a:buSzPct val="100000"/>
              <a:buChar char="•"/>
            </a:pPr>
            <a:r>
              <a:rPr lang="it-IT" sz="1300" noProof="0" dirty="0">
                <a:solidFill>
                  <a:schemeClr val="tx2"/>
                </a:solidFill>
              </a:rPr>
              <a:t>Spam o non spam</a:t>
            </a:r>
            <a:endParaRPr lang="it-IT" sz="1300" noProof="0" dirty="0"/>
          </a:p>
          <a:p>
            <a:pPr marL="177800" indent="-177800">
              <a:spcAft>
                <a:spcPts val="300"/>
              </a:spcAft>
              <a:buSzPct val="100000"/>
              <a:buChar char="•"/>
            </a:pPr>
            <a:r>
              <a:rPr lang="it-IT" sz="1300" noProof="0" dirty="0">
                <a:solidFill>
                  <a:schemeClr val="tx2"/>
                </a:solidFill>
              </a:rPr>
              <a:t>Pezzo conforme o difettoso</a:t>
            </a:r>
            <a:endParaRPr lang="it-IT" sz="1300" noProof="0" dirty="0"/>
          </a:p>
          <a:p>
            <a:pPr marL="177800" indent="-177800">
              <a:spcAft>
                <a:spcPts val="300"/>
              </a:spcAft>
              <a:buSzPct val="100000"/>
              <a:buChar char="•"/>
            </a:pPr>
            <a:r>
              <a:rPr lang="it-IT" sz="1300" noProof="0" dirty="0">
                <a:solidFill>
                  <a:schemeClr val="tx2"/>
                </a:solidFill>
              </a:rPr>
              <a:t>Recensione positiva o negativa</a:t>
            </a:r>
            <a:endParaRPr lang="it-IT" sz="1300" noProof="0" dirty="0"/>
          </a:p>
        </p:txBody>
      </p:sp>
      <p:sp>
        <p:nvSpPr>
          <p:cNvPr id="14" name="scheda Generativa"/>
          <p:cNvSpPr/>
          <p:nvPr/>
        </p:nvSpPr>
        <p:spPr>
          <a:xfrm>
            <a:off x="6071616" y="1097280"/>
            <a:ext cx="2615184" cy="3154680"/>
          </a:xfrm>
          <a:prstGeom prst="roundRect">
            <a:avLst>
              <a:gd name="adj" fmla="val 2797"/>
            </a:avLst>
          </a:prstGeom>
          <a:solidFill>
            <a:schemeClr val="accent6"/>
          </a:solidFill>
          <a:ln/>
        </p:spPr>
        <p:txBody>
          <a:bodyPr/>
          <a:lstStyle/>
          <a:p>
            <a:endParaRPr lang="it-IT" noProof="0" dirty="0"/>
          </a:p>
        </p:txBody>
      </p:sp>
      <p:sp>
        <p:nvSpPr>
          <p:cNvPr id="15" name="cerchio FiEdit3"/>
          <p:cNvSpPr/>
          <p:nvPr/>
        </p:nvSpPr>
        <p:spPr>
          <a:xfrm>
            <a:off x="6254496" y="1280160"/>
            <a:ext cx="457200" cy="457200"/>
          </a:xfrm>
          <a:prstGeom prst="ellipse">
            <a:avLst/>
          </a:prstGeom>
          <a:solidFill>
            <a:schemeClr val="accent1"/>
          </a:solidFill>
          <a:ln/>
        </p:spPr>
        <p:txBody>
          <a:bodyPr/>
          <a:lstStyle/>
          <a:p>
            <a:endParaRPr lang="it-IT" noProof="0" dirty="0"/>
          </a:p>
        </p:txBody>
      </p:sp>
      <p:pic>
        <p:nvPicPr>
          <p:cNvPr id="16" name="Image 2" descr="FiEdit3"/>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Generativa</a:t>
            </a:r>
            <a:endParaRPr lang="it-IT" sz="1600" noProof="0" dirty="0"/>
          </a:p>
        </p:txBody>
      </p:sp>
      <p:sp>
        <p:nvSpPr>
          <p:cNvPr id="18" name="Text 12"/>
          <p:cNvSpPr txBox="1"/>
          <p:nvPr/>
        </p:nvSpPr>
        <p:spPr>
          <a:xfrm>
            <a:off x="6254496" y="2231136"/>
            <a:ext cx="2249424" cy="191109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Produce contenuti nuovi</a:t>
            </a:r>
            <a:endParaRPr lang="it-IT" sz="1300" noProof="0" dirty="0"/>
          </a:p>
          <a:p>
            <a:pPr marL="177800" indent="-177800">
              <a:spcAft>
                <a:spcPts val="300"/>
              </a:spcAft>
              <a:buSzPct val="100000"/>
              <a:buChar char="•"/>
            </a:pPr>
            <a:r>
              <a:rPr lang="it-IT" sz="1300" noProof="0" dirty="0">
                <a:solidFill>
                  <a:schemeClr val="tx2"/>
                </a:solidFill>
              </a:rPr>
              <a:t>Bozza di una email</a:t>
            </a:r>
            <a:endParaRPr lang="it-IT" sz="1300" noProof="0" dirty="0"/>
          </a:p>
          <a:p>
            <a:pPr marL="177800" indent="-177800">
              <a:spcAft>
                <a:spcPts val="300"/>
              </a:spcAft>
              <a:buSzPct val="100000"/>
              <a:buChar char="•"/>
            </a:pPr>
            <a:r>
              <a:rPr lang="it-IT" sz="1300" noProof="0" dirty="0">
                <a:solidFill>
                  <a:schemeClr val="tx2"/>
                </a:solidFill>
              </a:rPr>
              <a:t>Sintesi di un documento</a:t>
            </a:r>
            <a:endParaRPr lang="it-IT" sz="1300" noProof="0" dirty="0"/>
          </a:p>
          <a:p>
            <a:pPr marL="177800" indent="-177800">
              <a:spcAft>
                <a:spcPts val="300"/>
              </a:spcAft>
              <a:buSzPct val="100000"/>
              <a:buChar char="•"/>
            </a:pPr>
            <a:r>
              <a:rPr lang="it-IT" sz="1300" noProof="0" dirty="0">
                <a:solidFill>
                  <a:schemeClr val="tx2"/>
                </a:solidFill>
              </a:rPr>
              <a:t>Immagine da una descrizione</a:t>
            </a:r>
            <a:endParaRPr lang="it-IT" sz="1300" noProof="0" dirty="0"/>
          </a:p>
        </p:txBody>
      </p:sp>
      <p:sp>
        <p:nvSpPr>
          <p:cNvPr id="19" name="Text 13"/>
          <p:cNvSpPr txBox="1"/>
          <p:nvPr/>
        </p:nvSpPr>
        <p:spPr>
          <a:xfrm>
            <a:off x="457200" y="434340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I confini non sono rigidi: le tre funzioni si combinano spesso nello stesso processo.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17</a:t>
            </a:fld>
            <a:endParaRPr lang="it-IT"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AI multimodale</a:t>
            </a:r>
            <a:endParaRPr lang="it-IT" sz="2600" noProof="0" dirty="0"/>
          </a:p>
        </p:txBody>
      </p:sp>
      <p:sp>
        <p:nvSpPr>
          <p:cNvPr id="4" name="modello multimodale"/>
          <p:cNvSpPr/>
          <p:nvPr/>
        </p:nvSpPr>
        <p:spPr>
          <a:xfrm>
            <a:off x="3246120" y="2148840"/>
            <a:ext cx="2651760" cy="1188720"/>
          </a:xfrm>
          <a:prstGeom prst="roundRect">
            <a:avLst>
              <a:gd name="adj" fmla="val 6154"/>
            </a:avLst>
          </a:prstGeom>
          <a:solidFill>
            <a:schemeClr val="accent1"/>
          </a:solidFill>
          <a:ln/>
        </p:spPr>
        <p:txBody>
          <a:bodyPr/>
          <a:lstStyle/>
          <a:p>
            <a:endParaRPr lang="it-IT" noProof="0" dirty="0"/>
          </a:p>
        </p:txBody>
      </p:sp>
      <p:sp>
        <p:nvSpPr>
          <p:cNvPr id="5" name="Text 2"/>
          <p:cNvSpPr txBox="1"/>
          <p:nvPr/>
        </p:nvSpPr>
        <p:spPr>
          <a:xfrm>
            <a:off x="3291840" y="2148840"/>
            <a:ext cx="2560320" cy="1188720"/>
          </a:xfrm>
          <a:prstGeom prst="rect">
            <a:avLst/>
          </a:prstGeom>
          <a:noFill/>
          <a:ln/>
        </p:spPr>
        <p:txBody>
          <a:bodyPr wrap="square" lIns="0" tIns="0" rIns="0" bIns="0" rtlCol="0" anchor="ctr"/>
          <a:lstStyle/>
          <a:p>
            <a:pPr marL="0" indent="0" algn="ctr">
              <a:buNone/>
            </a:pPr>
            <a:r>
              <a:rPr lang="it-IT" sz="1600" b="1" noProof="0" dirty="0">
                <a:solidFill>
                  <a:schemeClr val="bg1"/>
                </a:solidFill>
              </a:rPr>
              <a:t>Modello multimodale</a:t>
            </a:r>
            <a:endParaRPr lang="it-IT" sz="1600" noProof="0" dirty="0"/>
          </a:p>
        </p:txBody>
      </p:sp>
      <p:sp>
        <p:nvSpPr>
          <p:cNvPr id="6" name="cerchio FiFileText"/>
          <p:cNvSpPr/>
          <p:nvPr/>
        </p:nvSpPr>
        <p:spPr>
          <a:xfrm>
            <a:off x="457200" y="1097280"/>
            <a:ext cx="502920" cy="502920"/>
          </a:xfrm>
          <a:prstGeom prst="ellipse">
            <a:avLst/>
          </a:prstGeom>
          <a:solidFill>
            <a:schemeClr val="accent1"/>
          </a:solidFill>
          <a:ln/>
        </p:spPr>
        <p:txBody>
          <a:bodyPr/>
          <a:lstStyle/>
          <a:p>
            <a:endParaRPr lang="it-IT" noProof="0" dirty="0"/>
          </a:p>
        </p:txBody>
      </p:sp>
      <p:pic>
        <p:nvPicPr>
          <p:cNvPr id="7" name="Image 0" descr="FiFileText"/>
          <p:cNvPicPr>
            <a:picLocks noChangeAspect="1"/>
          </p:cNvPicPr>
          <p:nvPr/>
        </p:nvPicPr>
        <p:blipFill>
          <a:blip r:embed="rId3"/>
          <a:stretch>
            <a:fillRect/>
          </a:stretch>
        </p:blipFill>
        <p:spPr>
          <a:xfrm>
            <a:off x="582930" y="1223010"/>
            <a:ext cx="251460" cy="251460"/>
          </a:xfrm>
          <a:prstGeom prst="rect">
            <a:avLst/>
          </a:prstGeom>
        </p:spPr>
      </p:pic>
      <p:sp>
        <p:nvSpPr>
          <p:cNvPr id="8" name="Text 4"/>
          <p:cNvSpPr txBox="1"/>
          <p:nvPr/>
        </p:nvSpPr>
        <p:spPr>
          <a:xfrm>
            <a:off x="1051560" y="10972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Testo</a:t>
            </a:r>
            <a:endParaRPr lang="it-IT" sz="1400" noProof="0" dirty="0"/>
          </a:p>
        </p:txBody>
      </p:sp>
      <p:sp>
        <p:nvSpPr>
          <p:cNvPr id="9" name="cerchio FiImage"/>
          <p:cNvSpPr/>
          <p:nvPr/>
        </p:nvSpPr>
        <p:spPr>
          <a:xfrm>
            <a:off x="457200" y="1783080"/>
            <a:ext cx="502920" cy="502920"/>
          </a:xfrm>
          <a:prstGeom prst="ellipse">
            <a:avLst/>
          </a:prstGeom>
          <a:solidFill>
            <a:schemeClr val="accent1"/>
          </a:solidFill>
          <a:ln/>
        </p:spPr>
        <p:txBody>
          <a:bodyPr/>
          <a:lstStyle/>
          <a:p>
            <a:endParaRPr lang="it-IT" noProof="0" dirty="0"/>
          </a:p>
        </p:txBody>
      </p:sp>
      <p:pic>
        <p:nvPicPr>
          <p:cNvPr id="10" name="Image 1" descr="FiImage"/>
          <p:cNvPicPr>
            <a:picLocks noChangeAspect="1"/>
          </p:cNvPicPr>
          <p:nvPr/>
        </p:nvPicPr>
        <p:blipFill>
          <a:blip r:embed="rId4"/>
          <a:stretch>
            <a:fillRect/>
          </a:stretch>
        </p:blipFill>
        <p:spPr>
          <a:xfrm>
            <a:off x="582930" y="1908810"/>
            <a:ext cx="251460" cy="251460"/>
          </a:xfrm>
          <a:prstGeom prst="rect">
            <a:avLst/>
          </a:prstGeom>
        </p:spPr>
      </p:pic>
      <p:sp>
        <p:nvSpPr>
          <p:cNvPr id="11" name="Text 6"/>
          <p:cNvSpPr txBox="1"/>
          <p:nvPr/>
        </p:nvSpPr>
        <p:spPr>
          <a:xfrm>
            <a:off x="1051560" y="17830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Immagini</a:t>
            </a:r>
            <a:endParaRPr lang="it-IT" sz="1400" noProof="0" dirty="0"/>
          </a:p>
        </p:txBody>
      </p:sp>
      <p:sp>
        <p:nvSpPr>
          <p:cNvPr id="12" name="cerchio FiMic"/>
          <p:cNvSpPr/>
          <p:nvPr/>
        </p:nvSpPr>
        <p:spPr>
          <a:xfrm>
            <a:off x="457200" y="2468880"/>
            <a:ext cx="502920" cy="502920"/>
          </a:xfrm>
          <a:prstGeom prst="ellipse">
            <a:avLst/>
          </a:prstGeom>
          <a:solidFill>
            <a:schemeClr val="accent1"/>
          </a:solidFill>
          <a:ln/>
        </p:spPr>
        <p:txBody>
          <a:bodyPr/>
          <a:lstStyle/>
          <a:p>
            <a:endParaRPr lang="it-IT" noProof="0" dirty="0"/>
          </a:p>
        </p:txBody>
      </p:sp>
      <p:pic>
        <p:nvPicPr>
          <p:cNvPr id="13" name="Image 2" descr="FiMic"/>
          <p:cNvPicPr>
            <a:picLocks noChangeAspect="1"/>
          </p:cNvPicPr>
          <p:nvPr/>
        </p:nvPicPr>
        <p:blipFill>
          <a:blip r:embed="rId5"/>
          <a:stretch>
            <a:fillRect/>
          </a:stretch>
        </p:blipFill>
        <p:spPr>
          <a:xfrm>
            <a:off x="582930" y="2594610"/>
            <a:ext cx="251460" cy="251460"/>
          </a:xfrm>
          <a:prstGeom prst="rect">
            <a:avLst/>
          </a:prstGeom>
        </p:spPr>
      </p:pic>
      <p:sp>
        <p:nvSpPr>
          <p:cNvPr id="14" name="Text 8"/>
          <p:cNvSpPr txBox="1"/>
          <p:nvPr/>
        </p:nvSpPr>
        <p:spPr>
          <a:xfrm>
            <a:off x="1051560" y="24688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Audio</a:t>
            </a:r>
            <a:endParaRPr lang="it-IT" sz="1400" noProof="0" dirty="0"/>
          </a:p>
        </p:txBody>
      </p:sp>
      <p:sp>
        <p:nvSpPr>
          <p:cNvPr id="15" name="cerchio FiFilm"/>
          <p:cNvSpPr/>
          <p:nvPr/>
        </p:nvSpPr>
        <p:spPr>
          <a:xfrm>
            <a:off x="457200" y="3154680"/>
            <a:ext cx="502920" cy="502920"/>
          </a:xfrm>
          <a:prstGeom prst="ellipse">
            <a:avLst/>
          </a:prstGeom>
          <a:solidFill>
            <a:schemeClr val="accent1"/>
          </a:solidFill>
          <a:ln/>
        </p:spPr>
        <p:txBody>
          <a:bodyPr/>
          <a:lstStyle/>
          <a:p>
            <a:endParaRPr lang="it-IT" noProof="0" dirty="0"/>
          </a:p>
        </p:txBody>
      </p:sp>
      <p:pic>
        <p:nvPicPr>
          <p:cNvPr id="16" name="Image 3" descr="FiFilm"/>
          <p:cNvPicPr>
            <a:picLocks noChangeAspect="1"/>
          </p:cNvPicPr>
          <p:nvPr/>
        </p:nvPicPr>
        <p:blipFill>
          <a:blip r:embed="rId6"/>
          <a:stretch>
            <a:fillRect/>
          </a:stretch>
        </p:blipFill>
        <p:spPr>
          <a:xfrm>
            <a:off x="582930" y="3280410"/>
            <a:ext cx="251460" cy="251460"/>
          </a:xfrm>
          <a:prstGeom prst="rect">
            <a:avLst/>
          </a:prstGeom>
        </p:spPr>
      </p:pic>
      <p:sp>
        <p:nvSpPr>
          <p:cNvPr id="17" name="Text 10"/>
          <p:cNvSpPr txBox="1"/>
          <p:nvPr/>
        </p:nvSpPr>
        <p:spPr>
          <a:xfrm>
            <a:off x="1051560" y="31546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Video</a:t>
            </a:r>
            <a:endParaRPr lang="it-IT" sz="1400" noProof="0" dirty="0"/>
          </a:p>
        </p:txBody>
      </p:sp>
      <p:sp>
        <p:nvSpPr>
          <p:cNvPr id="18" name="cerchio FiGrid"/>
          <p:cNvSpPr/>
          <p:nvPr/>
        </p:nvSpPr>
        <p:spPr>
          <a:xfrm>
            <a:off x="457200" y="3840480"/>
            <a:ext cx="502920" cy="502920"/>
          </a:xfrm>
          <a:prstGeom prst="ellipse">
            <a:avLst/>
          </a:prstGeom>
          <a:solidFill>
            <a:schemeClr val="accent1"/>
          </a:solidFill>
          <a:ln/>
        </p:spPr>
        <p:txBody>
          <a:bodyPr/>
          <a:lstStyle/>
          <a:p>
            <a:endParaRPr lang="it-IT" noProof="0" dirty="0"/>
          </a:p>
        </p:txBody>
      </p:sp>
      <p:pic>
        <p:nvPicPr>
          <p:cNvPr id="19" name="Image 4" descr="FiGrid"/>
          <p:cNvPicPr>
            <a:picLocks noChangeAspect="1"/>
          </p:cNvPicPr>
          <p:nvPr/>
        </p:nvPicPr>
        <p:blipFill>
          <a:blip r:embed="rId7"/>
          <a:stretch>
            <a:fillRect/>
          </a:stretch>
        </p:blipFill>
        <p:spPr>
          <a:xfrm>
            <a:off x="582930" y="3966210"/>
            <a:ext cx="251460" cy="251460"/>
          </a:xfrm>
          <a:prstGeom prst="rect">
            <a:avLst/>
          </a:prstGeom>
        </p:spPr>
      </p:pic>
      <p:sp>
        <p:nvSpPr>
          <p:cNvPr id="20" name="Text 12"/>
          <p:cNvSpPr txBox="1"/>
          <p:nvPr/>
        </p:nvSpPr>
        <p:spPr>
          <a:xfrm>
            <a:off x="1051560" y="38404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Tabelle</a:t>
            </a:r>
            <a:endParaRPr lang="it-IT" sz="1400" noProof="0" dirty="0"/>
          </a:p>
        </p:txBody>
      </p:sp>
      <p:sp>
        <p:nvSpPr>
          <p:cNvPr id="21" name="freccia"/>
          <p:cNvSpPr/>
          <p:nvPr/>
        </p:nvSpPr>
        <p:spPr>
          <a:xfrm>
            <a:off x="2377440" y="2596896"/>
            <a:ext cx="731520" cy="292608"/>
          </a:xfrm>
          <a:prstGeom prst="rightArrow">
            <a:avLst/>
          </a:prstGeom>
          <a:solidFill>
            <a:schemeClr val="accent2"/>
          </a:solidFill>
          <a:ln/>
        </p:spPr>
        <p:txBody>
          <a:bodyPr/>
          <a:lstStyle/>
          <a:p>
            <a:endParaRPr lang="it-IT" noProof="0" dirty="0"/>
          </a:p>
        </p:txBody>
      </p:sp>
      <p:sp>
        <p:nvSpPr>
          <p:cNvPr id="22" name="freccia"/>
          <p:cNvSpPr/>
          <p:nvPr/>
        </p:nvSpPr>
        <p:spPr>
          <a:xfrm>
            <a:off x="6035040" y="2596896"/>
            <a:ext cx="548640" cy="292608"/>
          </a:xfrm>
          <a:prstGeom prst="rightArrow">
            <a:avLst/>
          </a:prstGeom>
          <a:solidFill>
            <a:schemeClr val="accent2"/>
          </a:solidFill>
          <a:ln/>
        </p:spPr>
        <p:txBody>
          <a:bodyPr/>
          <a:lstStyle/>
          <a:p>
            <a:endParaRPr lang="it-IT" noProof="0" dirty="0"/>
          </a:p>
        </p:txBody>
      </p:sp>
      <p:sp>
        <p:nvSpPr>
          <p:cNvPr id="23" name="Text 15"/>
          <p:cNvSpPr txBox="1"/>
          <p:nvPr/>
        </p:nvSpPr>
        <p:spPr>
          <a:xfrm>
            <a:off x="6720840" y="1097280"/>
            <a:ext cx="1965960" cy="274320"/>
          </a:xfrm>
          <a:prstGeom prst="rect">
            <a:avLst/>
          </a:prstGeom>
          <a:noFill/>
          <a:ln/>
        </p:spPr>
        <p:txBody>
          <a:bodyPr wrap="square" lIns="0" tIns="0" rIns="0" bIns="0" rtlCol="0" anchor="t"/>
          <a:lstStyle/>
          <a:p>
            <a:pPr marL="0" indent="0">
              <a:buNone/>
            </a:pPr>
            <a:r>
              <a:rPr lang="it-IT" sz="1400" b="1" noProof="0" dirty="0">
                <a:solidFill>
                  <a:schemeClr val="tx1"/>
                </a:solidFill>
              </a:rPr>
              <a:t>Esempi</a:t>
            </a:r>
            <a:endParaRPr lang="it-IT" sz="1400" noProof="0" dirty="0"/>
          </a:p>
        </p:txBody>
      </p:sp>
      <p:sp>
        <p:nvSpPr>
          <p:cNvPr id="24" name="Estrarre i dati da un documento fotografato"/>
          <p:cNvSpPr/>
          <p:nvPr/>
        </p:nvSpPr>
        <p:spPr>
          <a:xfrm>
            <a:off x="6720840" y="1463040"/>
            <a:ext cx="1965960" cy="685800"/>
          </a:xfrm>
          <a:prstGeom prst="roundRect">
            <a:avLst>
              <a:gd name="adj" fmla="val 10667"/>
            </a:avLst>
          </a:prstGeom>
          <a:solidFill>
            <a:schemeClr val="bg2"/>
          </a:solidFill>
          <a:ln/>
        </p:spPr>
        <p:txBody>
          <a:bodyPr/>
          <a:lstStyle/>
          <a:p>
            <a:endParaRPr lang="it-IT" noProof="0" dirty="0"/>
          </a:p>
        </p:txBody>
      </p:sp>
      <p:sp>
        <p:nvSpPr>
          <p:cNvPr id="25" name="Text 17"/>
          <p:cNvSpPr txBox="1"/>
          <p:nvPr/>
        </p:nvSpPr>
        <p:spPr>
          <a:xfrm>
            <a:off x="6812280" y="1463040"/>
            <a:ext cx="1783080" cy="685800"/>
          </a:xfrm>
          <a:prstGeom prst="rect">
            <a:avLst/>
          </a:prstGeom>
          <a:noFill/>
          <a:ln/>
        </p:spPr>
        <p:txBody>
          <a:bodyPr wrap="square" lIns="0" tIns="0" rIns="0" bIns="0" rtlCol="0" anchor="ctr"/>
          <a:lstStyle/>
          <a:p>
            <a:pPr marL="0" indent="0">
              <a:buNone/>
            </a:pPr>
            <a:r>
              <a:rPr lang="it-IT" sz="1200" noProof="0" dirty="0">
                <a:solidFill>
                  <a:schemeClr val="tx1"/>
                </a:solidFill>
              </a:rPr>
              <a:t>Estrarre i dati da un documento fotografato</a:t>
            </a:r>
            <a:endParaRPr lang="it-IT" sz="1200" noProof="0" dirty="0"/>
          </a:p>
        </p:txBody>
      </p:sp>
      <p:sp>
        <p:nvSpPr>
          <p:cNvPr id="26" name="Commentare un grafico"/>
          <p:cNvSpPr/>
          <p:nvPr/>
        </p:nvSpPr>
        <p:spPr>
          <a:xfrm>
            <a:off x="6720840" y="2240280"/>
            <a:ext cx="1965960" cy="685800"/>
          </a:xfrm>
          <a:prstGeom prst="roundRect">
            <a:avLst>
              <a:gd name="adj" fmla="val 10667"/>
            </a:avLst>
          </a:prstGeom>
          <a:solidFill>
            <a:schemeClr val="bg2"/>
          </a:solidFill>
          <a:ln/>
        </p:spPr>
        <p:txBody>
          <a:bodyPr/>
          <a:lstStyle/>
          <a:p>
            <a:endParaRPr lang="it-IT" noProof="0" dirty="0"/>
          </a:p>
        </p:txBody>
      </p:sp>
      <p:sp>
        <p:nvSpPr>
          <p:cNvPr id="27" name="Text 19"/>
          <p:cNvSpPr txBox="1"/>
          <p:nvPr/>
        </p:nvSpPr>
        <p:spPr>
          <a:xfrm>
            <a:off x="6812280" y="2240280"/>
            <a:ext cx="1783080" cy="685800"/>
          </a:xfrm>
          <a:prstGeom prst="rect">
            <a:avLst/>
          </a:prstGeom>
          <a:noFill/>
          <a:ln/>
        </p:spPr>
        <p:txBody>
          <a:bodyPr wrap="square" lIns="0" tIns="0" rIns="0" bIns="0" rtlCol="0" anchor="ctr"/>
          <a:lstStyle/>
          <a:p>
            <a:pPr marL="0" indent="0">
              <a:buNone/>
            </a:pPr>
            <a:r>
              <a:rPr lang="it-IT" sz="1200" noProof="0" dirty="0">
                <a:solidFill>
                  <a:schemeClr val="tx1"/>
                </a:solidFill>
              </a:rPr>
              <a:t>Commentare un grafico</a:t>
            </a:r>
            <a:endParaRPr lang="it-IT" sz="1200" noProof="0" dirty="0"/>
          </a:p>
        </p:txBody>
      </p:sp>
      <p:sp>
        <p:nvSpPr>
          <p:cNvPr id="28" name="Dalla registrazione al verbale"/>
          <p:cNvSpPr/>
          <p:nvPr/>
        </p:nvSpPr>
        <p:spPr>
          <a:xfrm>
            <a:off x="6720840" y="3017520"/>
            <a:ext cx="1965960" cy="685800"/>
          </a:xfrm>
          <a:prstGeom prst="roundRect">
            <a:avLst>
              <a:gd name="adj" fmla="val 10667"/>
            </a:avLst>
          </a:prstGeom>
          <a:solidFill>
            <a:schemeClr val="bg2"/>
          </a:solidFill>
          <a:ln/>
        </p:spPr>
        <p:txBody>
          <a:bodyPr/>
          <a:lstStyle/>
          <a:p>
            <a:endParaRPr lang="it-IT" noProof="0" dirty="0"/>
          </a:p>
        </p:txBody>
      </p:sp>
      <p:sp>
        <p:nvSpPr>
          <p:cNvPr id="29" name="Text 21"/>
          <p:cNvSpPr txBox="1"/>
          <p:nvPr/>
        </p:nvSpPr>
        <p:spPr>
          <a:xfrm>
            <a:off x="6812280" y="3017520"/>
            <a:ext cx="1783080" cy="685800"/>
          </a:xfrm>
          <a:prstGeom prst="rect">
            <a:avLst/>
          </a:prstGeom>
          <a:noFill/>
          <a:ln/>
        </p:spPr>
        <p:txBody>
          <a:bodyPr wrap="square" lIns="0" tIns="0" rIns="0" bIns="0" rtlCol="0" anchor="ctr"/>
          <a:lstStyle/>
          <a:p>
            <a:pPr marL="0" indent="0">
              <a:buNone/>
            </a:pPr>
            <a:r>
              <a:rPr lang="it-IT" sz="1200" noProof="0" dirty="0">
                <a:solidFill>
                  <a:schemeClr val="tx1"/>
                </a:solidFill>
              </a:rPr>
              <a:t>Dalla registrazione al verbale</a:t>
            </a:r>
            <a:endParaRPr lang="it-IT" sz="1200" noProof="0" dirty="0"/>
          </a:p>
        </p:txBody>
      </p:sp>
      <p:sp>
        <p:nvSpPr>
          <p:cNvPr id="30" name="Domanda a voce, risposta parlata"/>
          <p:cNvSpPr/>
          <p:nvPr/>
        </p:nvSpPr>
        <p:spPr>
          <a:xfrm>
            <a:off x="6720840" y="3794760"/>
            <a:ext cx="1965960" cy="685800"/>
          </a:xfrm>
          <a:prstGeom prst="roundRect">
            <a:avLst>
              <a:gd name="adj" fmla="val 10667"/>
            </a:avLst>
          </a:prstGeom>
          <a:solidFill>
            <a:schemeClr val="bg2"/>
          </a:solidFill>
          <a:ln/>
        </p:spPr>
        <p:txBody>
          <a:bodyPr/>
          <a:lstStyle/>
          <a:p>
            <a:endParaRPr lang="it-IT" noProof="0" dirty="0"/>
          </a:p>
        </p:txBody>
      </p:sp>
      <p:sp>
        <p:nvSpPr>
          <p:cNvPr id="31" name="Text 23"/>
          <p:cNvSpPr txBox="1"/>
          <p:nvPr/>
        </p:nvSpPr>
        <p:spPr>
          <a:xfrm>
            <a:off x="6812280" y="3794760"/>
            <a:ext cx="1783080" cy="685800"/>
          </a:xfrm>
          <a:prstGeom prst="rect">
            <a:avLst/>
          </a:prstGeom>
          <a:noFill/>
          <a:ln/>
        </p:spPr>
        <p:txBody>
          <a:bodyPr wrap="square" lIns="0" tIns="0" rIns="0" bIns="0" rtlCol="0" anchor="ctr"/>
          <a:lstStyle/>
          <a:p>
            <a:pPr marL="0" indent="0">
              <a:buNone/>
            </a:pPr>
            <a:r>
              <a:rPr lang="it-IT" sz="1200" noProof="0" dirty="0">
                <a:solidFill>
                  <a:schemeClr val="tx1"/>
                </a:solidFill>
              </a:rPr>
              <a:t>Domanda a voce, risposta parlata</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18</a:t>
            </a:fld>
            <a:endParaRPr lang="it-IT"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Quale approccio per quale problema</a:t>
            </a:r>
            <a:endParaRPr lang="it-IT" sz="2600" noProof="0" dirty="0"/>
          </a:p>
        </p:txBody>
      </p:sp>
      <p:graphicFrame>
        <p:nvGraphicFramePr>
          <p:cNvPr id="20" name="Table 0"/>
          <p:cNvGraphicFramePr>
            <a:graphicFrameLocks noGrp="1"/>
          </p:cNvGraphicFramePr>
          <p:nvPr>
            <p:extLst>
              <p:ext uri="{D42A27DB-BD31-4B8C-83A1-F6EECF244321}">
                <p14:modId xmlns:p14="http://schemas.microsoft.com/office/powerpoint/2010/main" val="992021227"/>
              </p:ext>
            </p:extLst>
          </p:nvPr>
        </p:nvGraphicFramePr>
        <p:xfrm>
          <a:off x="457200" y="1097280"/>
          <a:ext cx="8229600" cy="3072384"/>
        </p:xfrm>
        <a:graphic>
          <a:graphicData uri="http://schemas.openxmlformats.org/drawingml/2006/table">
            <a:tbl>
              <a:tblPr/>
              <a:tblGrid>
                <a:gridCol w="4937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12064">
                <a:tc>
                  <a:txBody>
                    <a:bodyPr/>
                    <a:lstStyle/>
                    <a:p>
                      <a:pPr marL="0" indent="0">
                        <a:buNone/>
                      </a:pPr>
                      <a:r>
                        <a:rPr lang="it-IT" sz="1300" b="1" noProof="0" dirty="0">
                          <a:solidFill>
                            <a:schemeClr val="bg1"/>
                          </a:solidFill>
                        </a:rPr>
                        <a:t>Problema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Approccio più adatto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12064">
                <a:tc>
                  <a:txBody>
                    <a:bodyPr/>
                    <a:lstStyle/>
                    <a:p>
                      <a:pPr marL="0" indent="0">
                        <a:buNone/>
                      </a:pPr>
                      <a:r>
                        <a:rPr lang="it-IT" sz="1300" b="1" noProof="0" dirty="0">
                          <a:solidFill>
                            <a:schemeClr val="tx1"/>
                          </a:solidFill>
                        </a:rPr>
                        <a:t>Regole chiare e stabili (calcolo di uno sconto contrattuale)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Regole o software tradizionale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12064">
                <a:tc>
                  <a:txBody>
                    <a:bodyPr/>
                    <a:lstStyle/>
                    <a:p>
                      <a:pPr marL="0" indent="0">
                        <a:buNone/>
                      </a:pPr>
                      <a:r>
                        <a:rPr lang="it-IT" sz="1300" b="1" noProof="0" dirty="0">
                          <a:solidFill>
                            <a:schemeClr val="tx1"/>
                          </a:solidFill>
                        </a:rPr>
                        <a:t>Stimare un valore da dati storici (domanda futura)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Machine Learning predittivo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12064">
                <a:tc>
                  <a:txBody>
                    <a:bodyPr/>
                    <a:lstStyle/>
                    <a:p>
                      <a:pPr marL="0" indent="0">
                        <a:buNone/>
                      </a:pPr>
                      <a:r>
                        <a:rPr lang="it-IT" sz="1300" b="1" noProof="0" dirty="0">
                          <a:solidFill>
                            <a:schemeClr val="tx1"/>
                          </a:solidFill>
                        </a:rPr>
                        <a:t>Riconoscere difetti in immagini di prodotti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Deep Learning discriminativo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12064">
                <a:tc>
                  <a:txBody>
                    <a:bodyPr/>
                    <a:lstStyle/>
                    <a:p>
                      <a:pPr marL="0" indent="0">
                        <a:buNone/>
                      </a:pPr>
                      <a:r>
                        <a:rPr lang="it-IT" sz="1300" b="1" noProof="0" dirty="0">
                          <a:solidFill>
                            <a:schemeClr val="tx1"/>
                          </a:solidFill>
                        </a:rPr>
                        <a:t>Scrivere bozze, riassumere, riformulare testi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AI generativa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512064">
                <a:tc>
                  <a:txBody>
                    <a:bodyPr/>
                    <a:lstStyle/>
                    <a:p>
                      <a:pPr marL="0" indent="0">
                        <a:buNone/>
                      </a:pPr>
                      <a:r>
                        <a:rPr lang="it-IT" sz="1300" b="1" noProof="0" dirty="0">
                          <a:solidFill>
                            <a:schemeClr val="tx1"/>
                          </a:solidFill>
                        </a:rPr>
                        <a:t>Informazioni in forme diverse (foto, scansioni, 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AI multimodale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457200" y="429768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La domanda giusta: qual è l'approccio più adatto a questo problema? A volte non è l'AI.</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19</a:t>
            </a:fld>
            <a:endParaRPr lang="it-IT"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noProof="0" dirty="0">
                <a:solidFill>
                  <a:schemeClr val="bg1"/>
                </a:solidFill>
              </a:rPr>
              <a:t>Esistono approcci e capacità differenti, adatti a problemi differenti. Le categorie rispondono a criteri diversi e non sono tutte mutuamente esclusive.</a:t>
            </a:r>
            <a:endParaRPr lang="it-IT" sz="2600" noProof="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noProof="0" dirty="0">
                <a:solidFill>
                  <a:schemeClr val="accent3"/>
                </a:solidFill>
              </a:rPr>
              <a:t>Sottotema 2.2  ·  Le principali categorie di AI</a:t>
            </a:r>
            <a:endParaRPr lang="it-IT" sz="13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20</a:t>
            </a:fld>
            <a:endParaRPr lang="it-IT"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2.3</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Come un sistema AI apprende dai dati</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L'addestramento modifica i parametri del modello; l'inferenza usa il modello per elaborare nuovi input</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21</a:t>
            </a:fld>
            <a:endParaRPr lang="it-IT"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Che cosa significa apprendere dai dati</a:t>
            </a:r>
            <a:endParaRPr lang="it-IT" sz="2600" noProof="0" dirty="0"/>
          </a:p>
        </p:txBody>
      </p:sp>
      <p:sp>
        <p:nvSpPr>
          <p:cNvPr id="4" name="Text 1"/>
          <p:cNvSpPr txBox="1"/>
          <p:nvPr/>
        </p:nvSpPr>
        <p:spPr>
          <a:xfrm>
            <a:off x="457200" y="1051560"/>
            <a:ext cx="3291840" cy="274320"/>
          </a:xfrm>
          <a:prstGeom prst="rect">
            <a:avLst/>
          </a:prstGeom>
          <a:noFill/>
          <a:ln/>
        </p:spPr>
        <p:txBody>
          <a:bodyPr wrap="square" lIns="0" tIns="0" rIns="0" bIns="0" rtlCol="0" anchor="t"/>
          <a:lstStyle/>
          <a:p>
            <a:pPr marL="0" indent="0">
              <a:buNone/>
            </a:pPr>
            <a:r>
              <a:rPr lang="it-IT" sz="1300" b="1" noProof="0" dirty="0">
                <a:solidFill>
                  <a:schemeClr val="tx2"/>
                </a:solidFill>
              </a:rPr>
              <a:t>Migliaia di esempi</a:t>
            </a:r>
            <a:endParaRPr lang="it-IT" sz="1300" noProof="0" dirty="0"/>
          </a:p>
        </p:txBody>
      </p:sp>
      <p:graphicFrame>
        <p:nvGraphicFramePr>
          <p:cNvPr id="23" name="Table 0"/>
          <p:cNvGraphicFramePr>
            <a:graphicFrameLocks noGrp="1"/>
          </p:cNvGraphicFramePr>
          <p:nvPr>
            <p:extLst>
              <p:ext uri="{D42A27DB-BD31-4B8C-83A1-F6EECF244321}">
                <p14:modId xmlns:p14="http://schemas.microsoft.com/office/powerpoint/2010/main" val="765161026"/>
              </p:ext>
            </p:extLst>
          </p:nvPr>
        </p:nvGraphicFramePr>
        <p:xfrm>
          <a:off x="457200" y="1371600"/>
          <a:ext cx="3291840" cy="2057400"/>
        </p:xfrm>
        <a:graphic>
          <a:graphicData uri="http://schemas.openxmlformats.org/drawingml/2006/table">
            <a:tbl>
              <a:tblPr/>
              <a:tblGrid>
                <a:gridCol w="9144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411480">
                <a:tc>
                  <a:txBody>
                    <a:bodyPr/>
                    <a:lstStyle/>
                    <a:p>
                      <a:pPr marL="0" indent="0">
                        <a:buNone/>
                      </a:pPr>
                      <a:r>
                        <a:rPr lang="it-IT" sz="1100" b="1" noProof="0" dirty="0">
                          <a:solidFill>
                            <a:schemeClr val="bg1"/>
                          </a:solidFill>
                        </a:rPr>
                        <a:t>Zona</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100" b="1" noProof="0" dirty="0">
                          <a:solidFill>
                            <a:schemeClr val="bg1"/>
                          </a:solidFill>
                        </a:rPr>
                        <a:t>Superficie</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100" b="1" noProof="0" dirty="0">
                          <a:solidFill>
                            <a:schemeClr val="bg1"/>
                          </a:solidFill>
                        </a:rPr>
                        <a:t>Piano</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100" b="1" noProof="0" dirty="0">
                          <a:solidFill>
                            <a:schemeClr val="bg1"/>
                          </a:solidFill>
                        </a:rPr>
                        <a:t>Prezzo</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11480">
                <a:tc>
                  <a:txBody>
                    <a:bodyPr/>
                    <a:lstStyle/>
                    <a:p>
                      <a:pPr marL="0" indent="0">
                        <a:buNone/>
                      </a:pPr>
                      <a:r>
                        <a:rPr lang="it-IT" sz="1100" b="1" noProof="0" dirty="0">
                          <a:solidFill>
                            <a:schemeClr val="tx1"/>
                          </a:solidFill>
                        </a:rPr>
                        <a:t>Centro</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100" noProof="0" dirty="0">
                          <a:solidFill>
                            <a:schemeClr val="tx1"/>
                          </a:solidFill>
                        </a:rPr>
                        <a:t>80 m²</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3</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320.000 €</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11480">
                <a:tc>
                  <a:txBody>
                    <a:bodyPr/>
                    <a:lstStyle/>
                    <a:p>
                      <a:pPr marL="0" indent="0">
                        <a:buNone/>
                      </a:pPr>
                      <a:r>
                        <a:rPr lang="it-IT" sz="1100" b="1" noProof="0" dirty="0">
                          <a:solidFill>
                            <a:schemeClr val="tx1"/>
                          </a:solidFill>
                        </a:rPr>
                        <a:t>Periferia</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100" noProof="0" dirty="0">
                          <a:solidFill>
                            <a:schemeClr val="tx1"/>
                          </a:solidFill>
                        </a:rPr>
                        <a:t>95 m²</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1</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210.000 €</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11480">
                <a:tc>
                  <a:txBody>
                    <a:bodyPr/>
                    <a:lstStyle/>
                    <a:p>
                      <a:pPr marL="0" indent="0">
                        <a:buNone/>
                      </a:pPr>
                      <a:r>
                        <a:rPr lang="it-IT" sz="1100" b="1" noProof="0" dirty="0">
                          <a:solidFill>
                            <a:schemeClr val="tx1"/>
                          </a:solidFill>
                        </a:rPr>
                        <a:t>Semicentro</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100" noProof="0" dirty="0">
                          <a:solidFill>
                            <a:schemeClr val="tx1"/>
                          </a:solidFill>
                        </a:rPr>
                        <a:t>60 m²</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5</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195.000 €</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11480">
                <a:tc>
                  <a:txBody>
                    <a:bodyPr/>
                    <a:lstStyle/>
                    <a:p>
                      <a:pPr marL="0" indent="0">
                        <a:buNone/>
                      </a:pPr>
                      <a:r>
                        <a:rPr lang="it-IT" sz="1100" b="1" noProof="0" dirty="0">
                          <a:solidFill>
                            <a:schemeClr val="tx1"/>
                          </a:solidFill>
                        </a:rPr>
                        <a:t>...</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100" noProof="0" dirty="0">
                          <a:solidFill>
                            <a:schemeClr val="tx1"/>
                          </a:solidFill>
                        </a:rPr>
                        <a:t>...</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
        <p:nvSpPr>
          <p:cNvPr id="6" name="freccia"/>
          <p:cNvSpPr/>
          <p:nvPr/>
        </p:nvSpPr>
        <p:spPr>
          <a:xfrm>
            <a:off x="3886200" y="2240280"/>
            <a:ext cx="457200" cy="292608"/>
          </a:xfrm>
          <a:prstGeom prst="rightArrow">
            <a:avLst/>
          </a:prstGeom>
          <a:solidFill>
            <a:schemeClr val="accent1"/>
          </a:solidFill>
          <a:ln/>
        </p:spPr>
        <p:txBody>
          <a:bodyPr/>
          <a:lstStyle/>
          <a:p>
            <a:endParaRPr lang="it-IT" noProof="0" dirty="0"/>
          </a:p>
        </p:txBody>
      </p:sp>
      <p:sp>
        <p:nvSpPr>
          <p:cNvPr id="7" name="addestramento"/>
          <p:cNvSpPr/>
          <p:nvPr/>
        </p:nvSpPr>
        <p:spPr>
          <a:xfrm>
            <a:off x="4480560" y="1783080"/>
            <a:ext cx="1737360" cy="1234440"/>
          </a:xfrm>
          <a:prstGeom prst="roundRect">
            <a:avLst>
              <a:gd name="adj" fmla="val 5926"/>
            </a:avLst>
          </a:prstGeom>
          <a:solidFill>
            <a:schemeClr val="accent1"/>
          </a:solidFill>
          <a:ln/>
        </p:spPr>
        <p:txBody>
          <a:bodyPr/>
          <a:lstStyle/>
          <a:p>
            <a:endParaRPr lang="it-IT" noProof="0" dirty="0"/>
          </a:p>
        </p:txBody>
      </p:sp>
      <p:sp>
        <p:nvSpPr>
          <p:cNvPr id="8" name="Text 4"/>
          <p:cNvSpPr txBox="1"/>
          <p:nvPr/>
        </p:nvSpPr>
        <p:spPr>
          <a:xfrm>
            <a:off x="4526280" y="1783080"/>
            <a:ext cx="1645920" cy="548640"/>
          </a:xfrm>
          <a:prstGeom prst="rect">
            <a:avLst/>
          </a:prstGeom>
          <a:noFill/>
          <a:ln/>
        </p:spPr>
        <p:txBody>
          <a:bodyPr wrap="square" lIns="0" tIns="0" rIns="0" bIns="0" rtlCol="0" anchor="b"/>
          <a:lstStyle/>
          <a:p>
            <a:pPr marL="0" indent="0" algn="ctr">
              <a:buNone/>
            </a:pPr>
            <a:r>
              <a:rPr lang="it-IT" sz="1400" b="1" noProof="0" dirty="0">
                <a:solidFill>
                  <a:schemeClr val="bg1"/>
                </a:solidFill>
              </a:rPr>
              <a:t>Addestramento</a:t>
            </a:r>
            <a:endParaRPr lang="it-IT" sz="1400" noProof="0" dirty="0"/>
          </a:p>
        </p:txBody>
      </p:sp>
      <p:sp>
        <p:nvSpPr>
          <p:cNvPr id="9" name="Text 5"/>
          <p:cNvSpPr txBox="1"/>
          <p:nvPr/>
        </p:nvSpPr>
        <p:spPr>
          <a:xfrm>
            <a:off x="4572000" y="2331720"/>
            <a:ext cx="1554480" cy="640080"/>
          </a:xfrm>
          <a:prstGeom prst="rect">
            <a:avLst/>
          </a:prstGeom>
          <a:noFill/>
          <a:ln/>
        </p:spPr>
        <p:txBody>
          <a:bodyPr wrap="square" lIns="0" tIns="0" rIns="0" bIns="0" rtlCol="0" anchor="t"/>
          <a:lstStyle/>
          <a:p>
            <a:pPr marL="0" indent="0" algn="ctr">
              <a:buNone/>
            </a:pPr>
            <a:r>
              <a:rPr lang="it-IT" sz="1100" noProof="0" dirty="0">
                <a:solidFill>
                  <a:schemeClr val="bg1"/>
                </a:solidFill>
              </a:rPr>
              <a:t>cerca la relazione tra caratteristiche e prezzo</a:t>
            </a:r>
            <a:endParaRPr lang="it-IT" sz="1100" noProof="0" dirty="0"/>
          </a:p>
        </p:txBody>
      </p:sp>
      <p:sp>
        <p:nvSpPr>
          <p:cNvPr id="10" name="freccia"/>
          <p:cNvSpPr/>
          <p:nvPr/>
        </p:nvSpPr>
        <p:spPr>
          <a:xfrm>
            <a:off x="6355080" y="2240280"/>
            <a:ext cx="457200" cy="292608"/>
          </a:xfrm>
          <a:prstGeom prst="rightArrow">
            <a:avLst/>
          </a:prstGeom>
          <a:solidFill>
            <a:schemeClr val="accent1"/>
          </a:solidFill>
          <a:ln/>
        </p:spPr>
        <p:txBody>
          <a:bodyPr/>
          <a:lstStyle/>
          <a:p>
            <a:endParaRPr lang="it-IT" noProof="0" dirty="0"/>
          </a:p>
        </p:txBody>
      </p:sp>
      <p:sp>
        <p:nvSpPr>
          <p:cNvPr id="11" name="modello"/>
          <p:cNvSpPr/>
          <p:nvPr/>
        </p:nvSpPr>
        <p:spPr>
          <a:xfrm>
            <a:off x="6949440" y="1783080"/>
            <a:ext cx="1737360" cy="1234440"/>
          </a:xfrm>
          <a:prstGeom prst="roundRect">
            <a:avLst>
              <a:gd name="adj" fmla="val 5926"/>
            </a:avLst>
          </a:prstGeom>
          <a:solidFill>
            <a:schemeClr val="accent6"/>
          </a:solidFill>
          <a:ln/>
        </p:spPr>
        <p:txBody>
          <a:bodyPr/>
          <a:lstStyle/>
          <a:p>
            <a:endParaRPr lang="it-IT" noProof="0" dirty="0"/>
          </a:p>
        </p:txBody>
      </p:sp>
      <p:sp>
        <p:nvSpPr>
          <p:cNvPr id="12" name="Text 8"/>
          <p:cNvSpPr txBox="1"/>
          <p:nvPr/>
        </p:nvSpPr>
        <p:spPr>
          <a:xfrm>
            <a:off x="6995160" y="1783080"/>
            <a:ext cx="1645920" cy="548640"/>
          </a:xfrm>
          <a:prstGeom prst="rect">
            <a:avLst/>
          </a:prstGeom>
          <a:noFill/>
          <a:ln/>
        </p:spPr>
        <p:txBody>
          <a:bodyPr wrap="square" lIns="0" tIns="0" rIns="0" bIns="0" rtlCol="0" anchor="b"/>
          <a:lstStyle/>
          <a:p>
            <a:pPr marL="0" indent="0" algn="ctr">
              <a:buNone/>
            </a:pPr>
            <a:r>
              <a:rPr lang="it-IT" sz="1400" b="1" noProof="0" dirty="0">
                <a:solidFill>
                  <a:schemeClr val="tx1"/>
                </a:solidFill>
              </a:rPr>
              <a:t>Modello</a:t>
            </a:r>
            <a:endParaRPr lang="it-IT" sz="1400" noProof="0" dirty="0"/>
          </a:p>
        </p:txBody>
      </p:sp>
      <p:sp>
        <p:nvSpPr>
          <p:cNvPr id="13" name="Text 9"/>
          <p:cNvSpPr txBox="1"/>
          <p:nvPr/>
        </p:nvSpPr>
        <p:spPr>
          <a:xfrm>
            <a:off x="7040880" y="2331720"/>
            <a:ext cx="1554480" cy="640080"/>
          </a:xfrm>
          <a:prstGeom prst="rect">
            <a:avLst/>
          </a:prstGeom>
          <a:noFill/>
          <a:ln/>
        </p:spPr>
        <p:txBody>
          <a:bodyPr wrap="square" lIns="0" tIns="0" rIns="0" bIns="0" rtlCol="0" anchor="t"/>
          <a:lstStyle/>
          <a:p>
            <a:pPr marL="0" indent="0" algn="ctr">
              <a:buNone/>
            </a:pPr>
            <a:r>
              <a:rPr lang="it-IT" sz="1100" noProof="0" dirty="0">
                <a:solidFill>
                  <a:schemeClr val="tx2"/>
                </a:solidFill>
              </a:rPr>
              <a:t>applicabile a un appartamento nuovo</a:t>
            </a:r>
            <a:endParaRPr lang="it-IT" sz="1100" noProof="0" dirty="0"/>
          </a:p>
        </p:txBody>
      </p:sp>
      <p:sp>
        <p:nvSpPr>
          <p:cNvPr id="14" name="nota"/>
          <p:cNvSpPr/>
          <p:nvPr/>
        </p:nvSpPr>
        <p:spPr>
          <a:xfrm>
            <a:off x="4480560" y="3429000"/>
            <a:ext cx="4206240" cy="1097280"/>
          </a:xfrm>
          <a:prstGeom prst="roundRect">
            <a:avLst>
              <a:gd name="adj" fmla="val 6667"/>
            </a:avLst>
          </a:prstGeom>
          <a:solidFill>
            <a:schemeClr val="bg2"/>
          </a:solidFill>
          <a:ln/>
        </p:spPr>
        <p:txBody>
          <a:bodyPr/>
          <a:lstStyle/>
          <a:p>
            <a:endParaRPr lang="it-IT" noProof="0" dirty="0"/>
          </a:p>
        </p:txBody>
      </p:sp>
      <p:sp>
        <p:nvSpPr>
          <p:cNvPr id="15" name="cerchio FiAlertCircle"/>
          <p:cNvSpPr/>
          <p:nvPr/>
        </p:nvSpPr>
        <p:spPr>
          <a:xfrm>
            <a:off x="4663440" y="3721608"/>
            <a:ext cx="502920" cy="502920"/>
          </a:xfrm>
          <a:prstGeom prst="ellipse">
            <a:avLst/>
          </a:prstGeom>
          <a:solidFill>
            <a:schemeClr val="accent2"/>
          </a:solidFill>
          <a:ln/>
        </p:spPr>
        <p:txBody>
          <a:bodyPr/>
          <a:lstStyle/>
          <a:p>
            <a:endParaRPr lang="it-IT" noProof="0" dirty="0"/>
          </a:p>
        </p:txBody>
      </p:sp>
      <p:pic>
        <p:nvPicPr>
          <p:cNvPr id="16" name="Image 0" descr="FiAlertCircle"/>
          <p:cNvPicPr>
            <a:picLocks noChangeAspect="1"/>
          </p:cNvPicPr>
          <p:nvPr/>
        </p:nvPicPr>
        <p:blipFill>
          <a:blip r:embed="rId3"/>
          <a:stretch>
            <a:fillRect/>
          </a:stretch>
        </p:blipFill>
        <p:spPr>
          <a:xfrm>
            <a:off x="4789170" y="3847338"/>
            <a:ext cx="251460" cy="251460"/>
          </a:xfrm>
          <a:prstGeom prst="rect">
            <a:avLst/>
          </a:prstGeom>
        </p:spPr>
      </p:pic>
      <p:sp>
        <p:nvSpPr>
          <p:cNvPr id="17" name="Text 12"/>
          <p:cNvSpPr txBox="1"/>
          <p:nvPr/>
        </p:nvSpPr>
        <p:spPr>
          <a:xfrm>
            <a:off x="5303520" y="3429000"/>
            <a:ext cx="3291840" cy="1097280"/>
          </a:xfrm>
          <a:prstGeom prst="rect">
            <a:avLst/>
          </a:prstGeom>
          <a:noFill/>
          <a:ln/>
        </p:spPr>
        <p:txBody>
          <a:bodyPr wrap="square" lIns="0" tIns="0" rIns="0" bIns="0" rtlCol="0" anchor="ctr"/>
          <a:lstStyle/>
          <a:p>
            <a:pPr marL="0" indent="0">
              <a:buNone/>
            </a:pPr>
            <a:r>
              <a:rPr lang="it-IT" sz="1300" noProof="0" dirty="0">
                <a:solidFill>
                  <a:schemeClr val="tx1"/>
                </a:solidFill>
              </a:rPr>
              <a:t>Il modello individua regolarità numeriche: se nei dati mancano certi casi, non saprà valutarli bene.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22</a:t>
            </a:fld>
            <a:endParaRPr lang="it-IT"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Dati di addestramento ed esempi</a:t>
            </a:r>
            <a:endParaRPr lang="it-IT" sz="2600" noProof="0" dirty="0"/>
          </a:p>
        </p:txBody>
      </p:sp>
      <p:sp>
        <p:nvSpPr>
          <p:cNvPr id="4" name="scheda Supervisionato"/>
          <p:cNvSpPr/>
          <p:nvPr/>
        </p:nvSpPr>
        <p:spPr>
          <a:xfrm>
            <a:off x="457200" y="1097280"/>
            <a:ext cx="2615184" cy="2514600"/>
          </a:xfrm>
          <a:prstGeom prst="roundRect">
            <a:avLst>
              <a:gd name="adj" fmla="val 2909"/>
            </a:avLst>
          </a:prstGeom>
          <a:solidFill>
            <a:schemeClr val="accent6"/>
          </a:solidFill>
          <a:ln/>
        </p:spPr>
        <p:txBody>
          <a:bodyPr/>
          <a:lstStyle/>
          <a:p>
            <a:endParaRPr lang="it-IT" noProof="0" dirty="0"/>
          </a:p>
        </p:txBody>
      </p:sp>
      <p:sp>
        <p:nvSpPr>
          <p:cNvPr id="5" name="cerchio FiTag"/>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Tag"/>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Supervisionato</a:t>
            </a:r>
            <a:endParaRPr lang="it-IT" sz="1600" noProof="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Esempi con la risposta corretta (etichetta)</a:t>
            </a:r>
            <a:endParaRPr lang="it-IT" sz="1300" noProof="0" dirty="0"/>
          </a:p>
          <a:p>
            <a:pPr marL="0" indent="0">
              <a:buNone/>
            </a:pPr>
            <a:r>
              <a:rPr lang="it-IT" sz="1300" noProof="0" dirty="0">
                <a:solidFill>
                  <a:schemeClr val="tx2"/>
                </a:solidFill>
              </a:rPr>
              <a:t>Esempio: Email spam o non spam, pezzi conformi o difettosi</a:t>
            </a:r>
            <a:endParaRPr lang="it-IT" sz="1300" noProof="0" dirty="0"/>
          </a:p>
        </p:txBody>
      </p:sp>
      <p:sp>
        <p:nvSpPr>
          <p:cNvPr id="9" name="scheda Non supervisionato"/>
          <p:cNvSpPr/>
          <p:nvPr/>
        </p:nvSpPr>
        <p:spPr>
          <a:xfrm>
            <a:off x="3264408" y="1097280"/>
            <a:ext cx="2615184" cy="2514600"/>
          </a:xfrm>
          <a:prstGeom prst="roundRect">
            <a:avLst>
              <a:gd name="adj" fmla="val 2909"/>
            </a:avLst>
          </a:prstGeom>
          <a:solidFill>
            <a:schemeClr val="bg2"/>
          </a:solidFill>
          <a:ln/>
        </p:spPr>
        <p:txBody>
          <a:bodyPr/>
          <a:lstStyle/>
          <a:p>
            <a:endParaRPr lang="it-IT" noProof="0" dirty="0"/>
          </a:p>
        </p:txBody>
      </p:sp>
      <p:sp>
        <p:nvSpPr>
          <p:cNvPr id="10" name="cerchio FiShuffle"/>
          <p:cNvSpPr/>
          <p:nvPr/>
        </p:nvSpPr>
        <p:spPr>
          <a:xfrm>
            <a:off x="3447288" y="1280160"/>
            <a:ext cx="457200" cy="457200"/>
          </a:xfrm>
          <a:prstGeom prst="ellipse">
            <a:avLst/>
          </a:prstGeom>
          <a:solidFill>
            <a:schemeClr val="accent1"/>
          </a:solidFill>
          <a:ln/>
        </p:spPr>
        <p:txBody>
          <a:bodyPr/>
          <a:lstStyle/>
          <a:p>
            <a:endParaRPr lang="it-IT" noProof="0" dirty="0"/>
          </a:p>
        </p:txBody>
      </p:sp>
      <p:pic>
        <p:nvPicPr>
          <p:cNvPr id="11" name="Image 1" descr="FiShuffle"/>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Non supervisionato</a:t>
            </a:r>
            <a:endParaRPr lang="it-IT" sz="1600" noProof="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Nessuna etichetta: il sistema cerca strutture</a:t>
            </a:r>
            <a:endParaRPr lang="it-IT" sz="1300" noProof="0" dirty="0"/>
          </a:p>
          <a:p>
            <a:pPr marL="0" indent="0">
              <a:buNone/>
            </a:pPr>
            <a:r>
              <a:rPr lang="it-IT" sz="1300" noProof="0" dirty="0">
                <a:solidFill>
                  <a:schemeClr val="tx2"/>
                </a:solidFill>
              </a:rPr>
              <a:t>Esempio: Gruppi di clienti con comportamenti simili</a:t>
            </a:r>
            <a:endParaRPr lang="it-IT" sz="1300" noProof="0" dirty="0"/>
          </a:p>
        </p:txBody>
      </p:sp>
      <p:sp>
        <p:nvSpPr>
          <p:cNvPr id="14" name="scheda Per rinforzo"/>
          <p:cNvSpPr/>
          <p:nvPr/>
        </p:nvSpPr>
        <p:spPr>
          <a:xfrm>
            <a:off x="6071616" y="1097280"/>
            <a:ext cx="2615184" cy="2514600"/>
          </a:xfrm>
          <a:prstGeom prst="roundRect">
            <a:avLst>
              <a:gd name="adj" fmla="val 2909"/>
            </a:avLst>
          </a:prstGeom>
          <a:solidFill>
            <a:schemeClr val="bg2"/>
          </a:solidFill>
          <a:ln/>
        </p:spPr>
        <p:txBody>
          <a:bodyPr/>
          <a:lstStyle/>
          <a:p>
            <a:endParaRPr lang="it-IT" noProof="0" dirty="0"/>
          </a:p>
        </p:txBody>
      </p:sp>
      <p:sp>
        <p:nvSpPr>
          <p:cNvPr id="15" name="cerchio FiAward"/>
          <p:cNvSpPr/>
          <p:nvPr/>
        </p:nvSpPr>
        <p:spPr>
          <a:xfrm>
            <a:off x="6254496" y="1280160"/>
            <a:ext cx="457200" cy="457200"/>
          </a:xfrm>
          <a:prstGeom prst="ellipse">
            <a:avLst/>
          </a:prstGeom>
          <a:solidFill>
            <a:schemeClr val="accent1"/>
          </a:solidFill>
          <a:ln/>
        </p:spPr>
        <p:txBody>
          <a:bodyPr/>
          <a:lstStyle/>
          <a:p>
            <a:endParaRPr lang="it-IT" noProof="0" dirty="0"/>
          </a:p>
        </p:txBody>
      </p:sp>
      <p:pic>
        <p:nvPicPr>
          <p:cNvPr id="16" name="Image 2" descr="FiAward"/>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Per rinforzo</a:t>
            </a:r>
            <a:endParaRPr lang="it-IT" sz="1600" noProof="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Impara per tentativi, con segnali positivi o negativi</a:t>
            </a:r>
            <a:endParaRPr lang="it-IT" sz="1300" noProof="0" dirty="0"/>
          </a:p>
          <a:p>
            <a:pPr marL="0" indent="0">
              <a:buNone/>
            </a:pPr>
            <a:r>
              <a:rPr lang="it-IT" sz="1300" noProof="0" dirty="0">
                <a:solidFill>
                  <a:schemeClr val="tx2"/>
                </a:solidFill>
              </a:rPr>
              <a:t>Esempio: Giochi, robotica, affinamento dei modelli linguistici</a:t>
            </a:r>
            <a:endParaRPr lang="it-IT" sz="1300" noProof="0" dirty="0"/>
          </a:p>
        </p:txBody>
      </p:sp>
      <p:sp>
        <p:nvSpPr>
          <p:cNvPr id="19" name="principio dati"/>
          <p:cNvSpPr/>
          <p:nvPr/>
        </p:nvSpPr>
        <p:spPr>
          <a:xfrm>
            <a:off x="457200" y="3749040"/>
            <a:ext cx="8229600" cy="777240"/>
          </a:xfrm>
          <a:prstGeom prst="roundRect">
            <a:avLst>
              <a:gd name="adj" fmla="val 9412"/>
            </a:avLst>
          </a:prstGeom>
          <a:solidFill>
            <a:schemeClr val="tx1"/>
          </a:solidFill>
          <a:ln/>
        </p:spPr>
        <p:txBody>
          <a:bodyPr/>
          <a:lstStyle/>
          <a:p>
            <a:endParaRPr lang="it-IT" noProof="0" dirty="0"/>
          </a:p>
        </p:txBody>
      </p:sp>
      <p:sp>
        <p:nvSpPr>
          <p:cNvPr id="20" name="cerchio FiDatabase"/>
          <p:cNvSpPr/>
          <p:nvPr/>
        </p:nvSpPr>
        <p:spPr>
          <a:xfrm>
            <a:off x="640080" y="3877056"/>
            <a:ext cx="512064" cy="512064"/>
          </a:xfrm>
          <a:prstGeom prst="ellipse">
            <a:avLst/>
          </a:prstGeom>
          <a:solidFill>
            <a:schemeClr val="accent1"/>
          </a:solidFill>
          <a:ln/>
        </p:spPr>
        <p:txBody>
          <a:bodyPr/>
          <a:lstStyle/>
          <a:p>
            <a:endParaRPr lang="it-IT" noProof="0" dirty="0"/>
          </a:p>
        </p:txBody>
      </p:sp>
      <p:pic>
        <p:nvPicPr>
          <p:cNvPr id="21" name="Image 3" descr="FiDatabase"/>
          <p:cNvPicPr>
            <a:picLocks noChangeAspect="1"/>
          </p:cNvPicPr>
          <p:nvPr/>
        </p:nvPicPr>
        <p:blipFill>
          <a:blip r:embed="rId6"/>
          <a:stretch>
            <a:fillRect/>
          </a:stretch>
        </p:blipFill>
        <p:spPr>
          <a:xfrm>
            <a:off x="768096" y="4005072"/>
            <a:ext cx="256032" cy="256032"/>
          </a:xfrm>
          <a:prstGeom prst="rect">
            <a:avLst/>
          </a:prstGeom>
        </p:spPr>
      </p:pic>
      <p:sp>
        <p:nvSpPr>
          <p:cNvPr id="22" name="Text 15"/>
          <p:cNvSpPr txBox="1"/>
          <p:nvPr/>
        </p:nvSpPr>
        <p:spPr>
          <a:xfrm>
            <a:off x="1325880" y="3749040"/>
            <a:ext cx="7223760" cy="777240"/>
          </a:xfrm>
          <a:prstGeom prst="rect">
            <a:avLst/>
          </a:prstGeom>
          <a:noFill/>
          <a:ln/>
        </p:spPr>
        <p:txBody>
          <a:bodyPr wrap="square" lIns="0" tIns="0" rIns="0" bIns="0" rtlCol="0" anchor="ctr"/>
          <a:lstStyle/>
          <a:p>
            <a:pPr marL="0" indent="0">
              <a:buNone/>
            </a:pPr>
            <a:r>
              <a:rPr lang="it-IT" sz="1500" noProof="0" dirty="0">
                <a:solidFill>
                  <a:schemeClr val="bg1"/>
                </a:solidFill>
              </a:rPr>
              <a:t>La qualità e la rappresentatività dei dati di addestramento influenzano le capacità del modello. Metodi e obiettivi di apprendimento contribuiscono a determinarne le prestazioni</a:t>
            </a:r>
            <a:endParaRPr lang="it-IT" sz="15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23</a:t>
            </a:fld>
            <a:endParaRPr lang="it-IT"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Individuare schemi e regolarità (es. Spam)</a:t>
            </a:r>
            <a:endParaRPr lang="it-IT" sz="2600" noProof="0" dirty="0"/>
          </a:p>
        </p:txBody>
      </p:sp>
      <p:sp>
        <p:nvSpPr>
          <p:cNvPr id="4" name="Text 1"/>
          <p:cNvSpPr txBox="1"/>
          <p:nvPr/>
        </p:nvSpPr>
        <p:spPr>
          <a:xfrm>
            <a:off x="457200" y="1051560"/>
            <a:ext cx="4206240" cy="320040"/>
          </a:xfrm>
          <a:prstGeom prst="rect">
            <a:avLst/>
          </a:prstGeom>
          <a:noFill/>
          <a:ln/>
        </p:spPr>
        <p:txBody>
          <a:bodyPr wrap="square" lIns="0" tIns="0" rIns="0" bIns="0" rtlCol="0" anchor="t"/>
          <a:lstStyle/>
          <a:p>
            <a:pPr marL="0" indent="0">
              <a:buNone/>
            </a:pPr>
            <a:r>
              <a:rPr lang="it-IT" sz="1400" b="1" noProof="0" dirty="0">
                <a:solidFill>
                  <a:schemeClr val="tx1"/>
                </a:solidFill>
              </a:rPr>
              <a:t>Segnali che il sistema impara a pesare</a:t>
            </a:r>
            <a:endParaRPr lang="it-IT" sz="1400" noProof="0" dirty="0"/>
          </a:p>
        </p:txBody>
      </p:sp>
      <p:sp>
        <p:nvSpPr>
          <p:cNvPr id="5" name="Text 2"/>
          <p:cNvSpPr txBox="1"/>
          <p:nvPr/>
        </p:nvSpPr>
        <p:spPr>
          <a:xfrm>
            <a:off x="457200" y="1463040"/>
            <a:ext cx="2194560" cy="411480"/>
          </a:xfrm>
          <a:prstGeom prst="rect">
            <a:avLst/>
          </a:prstGeom>
          <a:noFill/>
          <a:ln/>
        </p:spPr>
        <p:txBody>
          <a:bodyPr wrap="square" lIns="0" tIns="0" rIns="0" bIns="0" rtlCol="0" anchor="ctr"/>
          <a:lstStyle/>
          <a:p>
            <a:pPr marL="0" indent="0">
              <a:buNone/>
            </a:pPr>
            <a:r>
              <a:rPr lang="it-IT" sz="1300" noProof="0" dirty="0">
                <a:solidFill>
                  <a:schemeClr val="tx1"/>
                </a:solidFill>
              </a:rPr>
              <a:t>"gratis", "urgente"</a:t>
            </a:r>
            <a:endParaRPr lang="it-IT" sz="1300" noProof="0" dirty="0"/>
          </a:p>
        </p:txBody>
      </p:sp>
      <p:sp>
        <p:nvSpPr>
          <p:cNvPr id="6" name="barra base"/>
          <p:cNvSpPr/>
          <p:nvPr/>
        </p:nvSpPr>
        <p:spPr>
          <a:xfrm>
            <a:off x="2743200" y="1572768"/>
            <a:ext cx="1828800" cy="201168"/>
          </a:xfrm>
          <a:prstGeom prst="rect">
            <a:avLst/>
          </a:prstGeom>
          <a:solidFill>
            <a:schemeClr val="bg2"/>
          </a:solidFill>
          <a:ln/>
        </p:spPr>
        <p:txBody>
          <a:bodyPr/>
          <a:lstStyle/>
          <a:p>
            <a:endParaRPr lang="it-IT" noProof="0" dirty="0"/>
          </a:p>
        </p:txBody>
      </p:sp>
      <p:sp>
        <p:nvSpPr>
          <p:cNvPr id="7" name="barra peso"/>
          <p:cNvSpPr/>
          <p:nvPr/>
        </p:nvSpPr>
        <p:spPr>
          <a:xfrm>
            <a:off x="2743200" y="1572768"/>
            <a:ext cx="1133856" cy="201168"/>
          </a:xfrm>
          <a:prstGeom prst="rect">
            <a:avLst/>
          </a:prstGeom>
          <a:solidFill>
            <a:schemeClr val="accent1"/>
          </a:solidFill>
          <a:ln/>
        </p:spPr>
        <p:txBody>
          <a:bodyPr/>
          <a:lstStyle/>
          <a:p>
            <a:endParaRPr lang="it-IT" noProof="0" dirty="0"/>
          </a:p>
        </p:txBody>
      </p:sp>
      <p:sp>
        <p:nvSpPr>
          <p:cNvPr id="8" name="Text 5"/>
          <p:cNvSpPr txBox="1"/>
          <p:nvPr/>
        </p:nvSpPr>
        <p:spPr>
          <a:xfrm>
            <a:off x="457200" y="2011680"/>
            <a:ext cx="2194560" cy="411480"/>
          </a:xfrm>
          <a:prstGeom prst="rect">
            <a:avLst/>
          </a:prstGeom>
          <a:noFill/>
          <a:ln/>
        </p:spPr>
        <p:txBody>
          <a:bodyPr wrap="square" lIns="0" tIns="0" rIns="0" bIns="0" rtlCol="0" anchor="ctr"/>
          <a:lstStyle/>
          <a:p>
            <a:pPr marL="0" indent="0">
              <a:buNone/>
            </a:pPr>
            <a:r>
              <a:rPr lang="it-IT" sz="1300" noProof="0" dirty="0">
                <a:solidFill>
                  <a:schemeClr val="tx1"/>
                </a:solidFill>
              </a:rPr>
              <a:t>Link a domini sconosciuti</a:t>
            </a:r>
            <a:endParaRPr lang="it-IT" sz="1300" noProof="0" dirty="0"/>
          </a:p>
        </p:txBody>
      </p:sp>
      <p:sp>
        <p:nvSpPr>
          <p:cNvPr id="9" name="barra base"/>
          <p:cNvSpPr/>
          <p:nvPr/>
        </p:nvSpPr>
        <p:spPr>
          <a:xfrm>
            <a:off x="2743200" y="2121408"/>
            <a:ext cx="1828800" cy="201168"/>
          </a:xfrm>
          <a:prstGeom prst="rect">
            <a:avLst/>
          </a:prstGeom>
          <a:solidFill>
            <a:schemeClr val="bg2"/>
          </a:solidFill>
          <a:ln/>
        </p:spPr>
        <p:txBody>
          <a:bodyPr/>
          <a:lstStyle/>
          <a:p>
            <a:endParaRPr lang="it-IT" noProof="0" dirty="0"/>
          </a:p>
        </p:txBody>
      </p:sp>
      <p:sp>
        <p:nvSpPr>
          <p:cNvPr id="10" name="barra peso"/>
          <p:cNvSpPr/>
          <p:nvPr/>
        </p:nvSpPr>
        <p:spPr>
          <a:xfrm>
            <a:off x="2743200" y="2121408"/>
            <a:ext cx="1463040" cy="201168"/>
          </a:xfrm>
          <a:prstGeom prst="rect">
            <a:avLst/>
          </a:prstGeom>
          <a:solidFill>
            <a:schemeClr val="accent1"/>
          </a:solidFill>
          <a:ln/>
        </p:spPr>
        <p:txBody>
          <a:bodyPr/>
          <a:lstStyle/>
          <a:p>
            <a:endParaRPr lang="it-IT" noProof="0" dirty="0"/>
          </a:p>
        </p:txBody>
      </p:sp>
      <p:sp>
        <p:nvSpPr>
          <p:cNvPr id="11" name="Text 8"/>
          <p:cNvSpPr txBox="1"/>
          <p:nvPr/>
        </p:nvSpPr>
        <p:spPr>
          <a:xfrm>
            <a:off x="457200" y="2560320"/>
            <a:ext cx="2194560" cy="411480"/>
          </a:xfrm>
          <a:prstGeom prst="rect">
            <a:avLst/>
          </a:prstGeom>
          <a:noFill/>
          <a:ln/>
        </p:spPr>
        <p:txBody>
          <a:bodyPr wrap="square" lIns="0" tIns="0" rIns="0" bIns="0" rtlCol="0" anchor="ctr"/>
          <a:lstStyle/>
          <a:p>
            <a:pPr marL="0" indent="0">
              <a:buNone/>
            </a:pPr>
            <a:r>
              <a:rPr lang="it-IT" sz="1300" noProof="0" dirty="0">
                <a:solidFill>
                  <a:schemeClr val="tx1"/>
                </a:solidFill>
              </a:rPr>
              <a:t>Mittente mai visto</a:t>
            </a:r>
            <a:endParaRPr lang="it-IT" sz="1300" noProof="0" dirty="0"/>
          </a:p>
        </p:txBody>
      </p:sp>
      <p:sp>
        <p:nvSpPr>
          <p:cNvPr id="12" name="barra base"/>
          <p:cNvSpPr/>
          <p:nvPr/>
        </p:nvSpPr>
        <p:spPr>
          <a:xfrm>
            <a:off x="2743200" y="2670048"/>
            <a:ext cx="1828800" cy="201168"/>
          </a:xfrm>
          <a:prstGeom prst="rect">
            <a:avLst/>
          </a:prstGeom>
          <a:solidFill>
            <a:schemeClr val="bg2"/>
          </a:solidFill>
          <a:ln/>
        </p:spPr>
        <p:txBody>
          <a:bodyPr/>
          <a:lstStyle/>
          <a:p>
            <a:endParaRPr lang="it-IT" noProof="0" dirty="0"/>
          </a:p>
        </p:txBody>
      </p:sp>
      <p:sp>
        <p:nvSpPr>
          <p:cNvPr id="13" name="barra peso"/>
          <p:cNvSpPr/>
          <p:nvPr/>
        </p:nvSpPr>
        <p:spPr>
          <a:xfrm>
            <a:off x="2743200" y="2670048"/>
            <a:ext cx="1005840" cy="201168"/>
          </a:xfrm>
          <a:prstGeom prst="rect">
            <a:avLst/>
          </a:prstGeom>
          <a:solidFill>
            <a:schemeClr val="accent1"/>
          </a:solidFill>
          <a:ln/>
        </p:spPr>
        <p:txBody>
          <a:bodyPr/>
          <a:lstStyle/>
          <a:p>
            <a:endParaRPr lang="it-IT" noProof="0" dirty="0"/>
          </a:p>
        </p:txBody>
      </p:sp>
      <p:sp>
        <p:nvSpPr>
          <p:cNvPr id="14" name="Text 11"/>
          <p:cNvSpPr txBox="1"/>
          <p:nvPr/>
        </p:nvSpPr>
        <p:spPr>
          <a:xfrm>
            <a:off x="457200" y="3108960"/>
            <a:ext cx="2194560" cy="411480"/>
          </a:xfrm>
          <a:prstGeom prst="rect">
            <a:avLst/>
          </a:prstGeom>
          <a:noFill/>
          <a:ln/>
        </p:spPr>
        <p:txBody>
          <a:bodyPr wrap="square" lIns="0" tIns="0" rIns="0" bIns="0" rtlCol="0" anchor="ctr"/>
          <a:lstStyle/>
          <a:p>
            <a:pPr marL="0" indent="0">
              <a:buNone/>
            </a:pPr>
            <a:r>
              <a:rPr lang="it-IT" sz="1300" noProof="0" dirty="0">
                <a:solidFill>
                  <a:schemeClr val="tx1"/>
                </a:solidFill>
              </a:rPr>
              <a:t>Molti punti esclamativi</a:t>
            </a:r>
            <a:endParaRPr lang="it-IT" sz="1300" noProof="0" dirty="0"/>
          </a:p>
        </p:txBody>
      </p:sp>
      <p:sp>
        <p:nvSpPr>
          <p:cNvPr id="15" name="barra base"/>
          <p:cNvSpPr/>
          <p:nvPr/>
        </p:nvSpPr>
        <p:spPr>
          <a:xfrm>
            <a:off x="2743200" y="3218688"/>
            <a:ext cx="1828800" cy="201168"/>
          </a:xfrm>
          <a:prstGeom prst="rect">
            <a:avLst/>
          </a:prstGeom>
          <a:solidFill>
            <a:schemeClr val="bg2"/>
          </a:solidFill>
          <a:ln/>
        </p:spPr>
        <p:txBody>
          <a:bodyPr/>
          <a:lstStyle/>
          <a:p>
            <a:endParaRPr lang="it-IT" noProof="0" dirty="0"/>
          </a:p>
        </p:txBody>
      </p:sp>
      <p:sp>
        <p:nvSpPr>
          <p:cNvPr id="16" name="barra peso"/>
          <p:cNvSpPr/>
          <p:nvPr/>
        </p:nvSpPr>
        <p:spPr>
          <a:xfrm>
            <a:off x="2743200" y="3218688"/>
            <a:ext cx="731520" cy="201168"/>
          </a:xfrm>
          <a:prstGeom prst="rect">
            <a:avLst/>
          </a:prstGeom>
          <a:solidFill>
            <a:schemeClr val="accent1"/>
          </a:solidFill>
          <a:ln/>
        </p:spPr>
        <p:txBody>
          <a:bodyPr/>
          <a:lstStyle/>
          <a:p>
            <a:endParaRPr lang="it-IT" noProof="0" dirty="0"/>
          </a:p>
        </p:txBody>
      </p:sp>
      <p:sp>
        <p:nvSpPr>
          <p:cNvPr id="17" name="Text 14"/>
          <p:cNvSpPr txBox="1"/>
          <p:nvPr/>
        </p:nvSpPr>
        <p:spPr>
          <a:xfrm>
            <a:off x="457200" y="3657600"/>
            <a:ext cx="2194560" cy="411480"/>
          </a:xfrm>
          <a:prstGeom prst="rect">
            <a:avLst/>
          </a:prstGeom>
          <a:noFill/>
          <a:ln/>
        </p:spPr>
        <p:txBody>
          <a:bodyPr wrap="square" lIns="0" tIns="0" rIns="0" bIns="0" rtlCol="0" anchor="ctr"/>
          <a:lstStyle/>
          <a:p>
            <a:pPr marL="0" indent="0">
              <a:buNone/>
            </a:pPr>
            <a:r>
              <a:rPr lang="it-IT" sz="1300" noProof="0" dirty="0">
                <a:solidFill>
                  <a:schemeClr val="tx1"/>
                </a:solidFill>
              </a:rPr>
              <a:t>Richiesta di dati personali</a:t>
            </a:r>
            <a:endParaRPr lang="it-IT" sz="1300" noProof="0" dirty="0"/>
          </a:p>
        </p:txBody>
      </p:sp>
      <p:sp>
        <p:nvSpPr>
          <p:cNvPr id="18" name="barra base"/>
          <p:cNvSpPr/>
          <p:nvPr/>
        </p:nvSpPr>
        <p:spPr>
          <a:xfrm>
            <a:off x="2743200" y="3767328"/>
            <a:ext cx="1828800" cy="201168"/>
          </a:xfrm>
          <a:prstGeom prst="rect">
            <a:avLst/>
          </a:prstGeom>
          <a:solidFill>
            <a:schemeClr val="bg2"/>
          </a:solidFill>
          <a:ln/>
        </p:spPr>
        <p:txBody>
          <a:bodyPr/>
          <a:lstStyle/>
          <a:p>
            <a:endParaRPr lang="it-IT" noProof="0" dirty="0"/>
          </a:p>
        </p:txBody>
      </p:sp>
      <p:sp>
        <p:nvSpPr>
          <p:cNvPr id="19" name="barra peso"/>
          <p:cNvSpPr/>
          <p:nvPr/>
        </p:nvSpPr>
        <p:spPr>
          <a:xfrm>
            <a:off x="2743200" y="3767328"/>
            <a:ext cx="1645920" cy="201168"/>
          </a:xfrm>
          <a:prstGeom prst="rect">
            <a:avLst/>
          </a:prstGeom>
          <a:solidFill>
            <a:schemeClr val="accent1"/>
          </a:solidFill>
          <a:ln/>
        </p:spPr>
        <p:txBody>
          <a:bodyPr/>
          <a:lstStyle/>
          <a:p>
            <a:endParaRPr lang="it-IT" noProof="0" dirty="0"/>
          </a:p>
        </p:txBody>
      </p:sp>
      <p:sp>
        <p:nvSpPr>
          <p:cNvPr id="20" name="Text 17"/>
          <p:cNvSpPr txBox="1"/>
          <p:nvPr/>
        </p:nvSpPr>
        <p:spPr>
          <a:xfrm>
            <a:off x="2743200" y="4206240"/>
            <a:ext cx="1828800" cy="274320"/>
          </a:xfrm>
          <a:prstGeom prst="rect">
            <a:avLst/>
          </a:prstGeom>
          <a:noFill/>
          <a:ln/>
        </p:spPr>
        <p:txBody>
          <a:bodyPr wrap="square" lIns="0" tIns="0" rIns="0" bIns="0" rtlCol="0" anchor="t"/>
          <a:lstStyle/>
          <a:p>
            <a:pPr marL="0" indent="0">
              <a:buNone/>
            </a:pPr>
            <a:r>
              <a:rPr lang="it-IT" sz="1000" i="1" noProof="0" dirty="0">
                <a:solidFill>
                  <a:schemeClr val="accent2"/>
                </a:solidFill>
              </a:rPr>
              <a:t>Pesi illustrativi</a:t>
            </a:r>
            <a:endParaRPr lang="it-IT" sz="1000" noProof="0" dirty="0"/>
          </a:p>
        </p:txBody>
      </p:sp>
      <p:sp>
        <p:nvSpPr>
          <p:cNvPr id="21" name="cerchio FiPercent"/>
          <p:cNvSpPr/>
          <p:nvPr/>
        </p:nvSpPr>
        <p:spPr>
          <a:xfrm>
            <a:off x="5029200" y="1143000"/>
            <a:ext cx="457200" cy="457200"/>
          </a:xfrm>
          <a:prstGeom prst="ellipse">
            <a:avLst/>
          </a:prstGeom>
          <a:solidFill>
            <a:schemeClr val="accent1"/>
          </a:solidFill>
          <a:ln/>
        </p:spPr>
        <p:txBody>
          <a:bodyPr/>
          <a:lstStyle/>
          <a:p>
            <a:endParaRPr lang="it-IT" noProof="0" dirty="0"/>
          </a:p>
        </p:txBody>
      </p:sp>
      <p:pic>
        <p:nvPicPr>
          <p:cNvPr id="22" name="Image 0" descr="FiPercent"/>
          <p:cNvPicPr>
            <a:picLocks noChangeAspect="1"/>
          </p:cNvPicPr>
          <p:nvPr/>
        </p:nvPicPr>
        <p:blipFill>
          <a:blip r:embed="rId3"/>
          <a:stretch>
            <a:fillRect/>
          </a:stretch>
        </p:blipFill>
        <p:spPr>
          <a:xfrm>
            <a:off x="5143500" y="1257300"/>
            <a:ext cx="228600" cy="228600"/>
          </a:xfrm>
          <a:prstGeom prst="rect">
            <a:avLst/>
          </a:prstGeom>
        </p:spPr>
      </p:pic>
      <p:sp>
        <p:nvSpPr>
          <p:cNvPr id="23" name="Text 19"/>
          <p:cNvSpPr txBox="1"/>
          <p:nvPr/>
        </p:nvSpPr>
        <p:spPr>
          <a:xfrm>
            <a:off x="5623560" y="1115568"/>
            <a:ext cx="3063240" cy="292608"/>
          </a:xfrm>
          <a:prstGeom prst="rect">
            <a:avLst/>
          </a:prstGeom>
          <a:noFill/>
          <a:ln/>
        </p:spPr>
        <p:txBody>
          <a:bodyPr wrap="square" lIns="0" tIns="0" rIns="0" bIns="0" rtlCol="0" anchor="t"/>
          <a:lstStyle/>
          <a:p>
            <a:pPr marL="0" indent="0">
              <a:buNone/>
            </a:pPr>
            <a:r>
              <a:rPr lang="it-IT" sz="1400" b="1" noProof="0" dirty="0">
                <a:solidFill>
                  <a:schemeClr val="tx1"/>
                </a:solidFill>
              </a:rPr>
              <a:t>Statistiche, non assolute</a:t>
            </a:r>
            <a:endParaRPr lang="it-IT" sz="1400" noProof="0" dirty="0"/>
          </a:p>
        </p:txBody>
      </p:sp>
      <p:sp>
        <p:nvSpPr>
          <p:cNvPr id="24" name="Text 20"/>
          <p:cNvSpPr txBox="1"/>
          <p:nvPr/>
        </p:nvSpPr>
        <p:spPr>
          <a:xfrm>
            <a:off x="5623560" y="1417320"/>
            <a:ext cx="3063240" cy="548640"/>
          </a:xfrm>
          <a:prstGeom prst="rect">
            <a:avLst/>
          </a:prstGeom>
          <a:noFill/>
          <a:ln/>
        </p:spPr>
        <p:txBody>
          <a:bodyPr wrap="square" lIns="0" tIns="0" rIns="0" bIns="0" rtlCol="0" anchor="t"/>
          <a:lstStyle/>
          <a:p>
            <a:pPr marL="0" indent="0">
              <a:buNone/>
            </a:pPr>
            <a:r>
              <a:rPr lang="it-IT" sz="1200" noProof="0" dirty="0">
                <a:solidFill>
                  <a:schemeClr val="tx2"/>
                </a:solidFill>
              </a:rPr>
              <a:t>Indicano probabilità, non certezze</a:t>
            </a:r>
            <a:endParaRPr lang="it-IT" sz="1200" noProof="0" dirty="0"/>
          </a:p>
        </p:txBody>
      </p:sp>
      <p:sp>
        <p:nvSpPr>
          <p:cNvPr id="25" name="cerchio FiLayers"/>
          <p:cNvSpPr/>
          <p:nvPr/>
        </p:nvSpPr>
        <p:spPr>
          <a:xfrm>
            <a:off x="5029200" y="2258568"/>
            <a:ext cx="457200" cy="457200"/>
          </a:xfrm>
          <a:prstGeom prst="ellipse">
            <a:avLst/>
          </a:prstGeom>
          <a:solidFill>
            <a:schemeClr val="accent1"/>
          </a:solidFill>
          <a:ln/>
        </p:spPr>
        <p:txBody>
          <a:bodyPr/>
          <a:lstStyle/>
          <a:p>
            <a:endParaRPr lang="it-IT" noProof="0" dirty="0"/>
          </a:p>
        </p:txBody>
      </p:sp>
      <p:pic>
        <p:nvPicPr>
          <p:cNvPr id="26" name="Image 1" descr="FiLayers"/>
          <p:cNvPicPr>
            <a:picLocks noChangeAspect="1"/>
          </p:cNvPicPr>
          <p:nvPr/>
        </p:nvPicPr>
        <p:blipFill>
          <a:blip r:embed="rId4"/>
          <a:stretch>
            <a:fillRect/>
          </a:stretch>
        </p:blipFill>
        <p:spPr>
          <a:xfrm>
            <a:off x="5143500" y="2372868"/>
            <a:ext cx="228600" cy="228600"/>
          </a:xfrm>
          <a:prstGeom prst="rect">
            <a:avLst/>
          </a:prstGeom>
        </p:spPr>
      </p:pic>
      <p:sp>
        <p:nvSpPr>
          <p:cNvPr id="27" name="Text 22"/>
          <p:cNvSpPr txBox="1"/>
          <p:nvPr/>
        </p:nvSpPr>
        <p:spPr>
          <a:xfrm>
            <a:off x="5623560" y="2231136"/>
            <a:ext cx="3063240" cy="292608"/>
          </a:xfrm>
          <a:prstGeom prst="rect">
            <a:avLst/>
          </a:prstGeom>
          <a:noFill/>
          <a:ln/>
        </p:spPr>
        <p:txBody>
          <a:bodyPr wrap="square" lIns="0" tIns="0" rIns="0" bIns="0" rtlCol="0" anchor="t"/>
          <a:lstStyle/>
          <a:p>
            <a:pPr marL="0" indent="0">
              <a:buNone/>
            </a:pPr>
            <a:r>
              <a:rPr lang="it-IT" sz="1400" b="1" noProof="0" dirty="0">
                <a:solidFill>
                  <a:schemeClr val="tx1"/>
                </a:solidFill>
              </a:rPr>
              <a:t>Combinazioni complesse</a:t>
            </a:r>
            <a:endParaRPr lang="it-IT" sz="1400" noProof="0" dirty="0"/>
          </a:p>
        </p:txBody>
      </p:sp>
      <p:sp>
        <p:nvSpPr>
          <p:cNvPr id="28" name="Text 23"/>
          <p:cNvSpPr txBox="1"/>
          <p:nvPr/>
        </p:nvSpPr>
        <p:spPr>
          <a:xfrm>
            <a:off x="5623560" y="2532888"/>
            <a:ext cx="3063240" cy="548640"/>
          </a:xfrm>
          <a:prstGeom prst="rect">
            <a:avLst/>
          </a:prstGeom>
          <a:noFill/>
          <a:ln/>
        </p:spPr>
        <p:txBody>
          <a:bodyPr wrap="square" lIns="0" tIns="0" rIns="0" bIns="0" rtlCol="0" anchor="t"/>
          <a:lstStyle/>
          <a:p>
            <a:pPr marL="0" indent="0">
              <a:buNone/>
            </a:pPr>
            <a:r>
              <a:rPr lang="it-IT" sz="1200" noProof="0" dirty="0">
                <a:solidFill>
                  <a:schemeClr val="tx2"/>
                </a:solidFill>
              </a:rPr>
              <a:t>Troppe o troppo sottili per scriverle a mano</a:t>
            </a:r>
            <a:endParaRPr lang="it-IT" sz="1200" noProof="0" dirty="0"/>
          </a:p>
        </p:txBody>
      </p:sp>
      <p:sp>
        <p:nvSpPr>
          <p:cNvPr id="29" name="cerchio FiAlertTriangle"/>
          <p:cNvSpPr/>
          <p:nvPr/>
        </p:nvSpPr>
        <p:spPr>
          <a:xfrm>
            <a:off x="5029200" y="3374136"/>
            <a:ext cx="457200" cy="457200"/>
          </a:xfrm>
          <a:prstGeom prst="ellipse">
            <a:avLst/>
          </a:prstGeom>
          <a:solidFill>
            <a:schemeClr val="accent5"/>
          </a:solidFill>
          <a:ln/>
        </p:spPr>
        <p:txBody>
          <a:bodyPr/>
          <a:lstStyle/>
          <a:p>
            <a:endParaRPr lang="it-IT" noProof="0" dirty="0"/>
          </a:p>
        </p:txBody>
      </p:sp>
      <p:pic>
        <p:nvPicPr>
          <p:cNvPr id="30" name="Image 2" descr="FiAlertTriangle"/>
          <p:cNvPicPr>
            <a:picLocks noChangeAspect="1"/>
          </p:cNvPicPr>
          <p:nvPr/>
        </p:nvPicPr>
        <p:blipFill>
          <a:blip r:embed="rId5"/>
          <a:stretch>
            <a:fillRect/>
          </a:stretch>
        </p:blipFill>
        <p:spPr>
          <a:xfrm>
            <a:off x="5143500" y="3488436"/>
            <a:ext cx="228600" cy="228600"/>
          </a:xfrm>
          <a:prstGeom prst="rect">
            <a:avLst/>
          </a:prstGeom>
        </p:spPr>
      </p:pic>
      <p:sp>
        <p:nvSpPr>
          <p:cNvPr id="31" name="Text 25"/>
          <p:cNvSpPr txBox="1"/>
          <p:nvPr/>
        </p:nvSpPr>
        <p:spPr>
          <a:xfrm>
            <a:off x="5623560" y="3346704"/>
            <a:ext cx="3063240" cy="292608"/>
          </a:xfrm>
          <a:prstGeom prst="rect">
            <a:avLst/>
          </a:prstGeom>
          <a:noFill/>
          <a:ln/>
        </p:spPr>
        <p:txBody>
          <a:bodyPr wrap="square" lIns="0" tIns="0" rIns="0" bIns="0" rtlCol="0" anchor="t"/>
          <a:lstStyle/>
          <a:p>
            <a:pPr marL="0" indent="0">
              <a:buNone/>
            </a:pPr>
            <a:r>
              <a:rPr lang="it-IT" sz="1400" b="1" noProof="0" dirty="0">
                <a:solidFill>
                  <a:schemeClr val="tx1"/>
                </a:solidFill>
              </a:rPr>
              <a:t>Anche regolarità indesiderate</a:t>
            </a:r>
            <a:endParaRPr lang="it-IT" sz="1400" noProof="0" dirty="0"/>
          </a:p>
        </p:txBody>
      </p:sp>
      <p:sp>
        <p:nvSpPr>
          <p:cNvPr id="32" name="Text 26"/>
          <p:cNvSpPr txBox="1"/>
          <p:nvPr/>
        </p:nvSpPr>
        <p:spPr>
          <a:xfrm>
            <a:off x="5623560" y="3648456"/>
            <a:ext cx="3063240" cy="548640"/>
          </a:xfrm>
          <a:prstGeom prst="rect">
            <a:avLst/>
          </a:prstGeom>
          <a:noFill/>
          <a:ln/>
        </p:spPr>
        <p:txBody>
          <a:bodyPr wrap="square" lIns="0" tIns="0" rIns="0" bIns="0" rtlCol="0" anchor="t"/>
          <a:lstStyle/>
          <a:p>
            <a:pPr marL="0" indent="0">
              <a:buNone/>
            </a:pPr>
            <a:r>
              <a:rPr lang="it-IT" sz="1200" noProof="0" dirty="0">
                <a:solidFill>
                  <a:schemeClr val="tx2"/>
                </a:solidFill>
              </a:rPr>
              <a:t>Il sistema può imparare coincidenze presenti nei dati</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24</a:t>
            </a:fld>
            <a:endParaRPr lang="it-IT"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 parametri del modello</a:t>
            </a:r>
            <a:endParaRPr lang="it-IT" sz="2600" noProof="0" dirty="0"/>
          </a:p>
        </p:txBody>
      </p:sp>
      <p:sp>
        <p:nvSpPr>
          <p:cNvPr id="4" name="analogia manopole"/>
          <p:cNvSpPr/>
          <p:nvPr/>
        </p:nvSpPr>
        <p:spPr>
          <a:xfrm>
            <a:off x="457200" y="1097280"/>
            <a:ext cx="4206240" cy="3429000"/>
          </a:xfrm>
          <a:prstGeom prst="roundRect">
            <a:avLst>
              <a:gd name="adj" fmla="val 2133"/>
            </a:avLst>
          </a:prstGeom>
          <a:solidFill>
            <a:schemeClr val="bg2"/>
          </a:solidFill>
          <a:ln/>
        </p:spPr>
        <p:txBody>
          <a:bodyPr/>
          <a:lstStyle/>
          <a:p>
            <a:endParaRPr lang="it-IT" noProof="0" dirty="0"/>
          </a:p>
        </p:txBody>
      </p:sp>
      <p:sp>
        <p:nvSpPr>
          <p:cNvPr id="5" name="Text 2"/>
          <p:cNvSpPr txBox="1"/>
          <p:nvPr/>
        </p:nvSpPr>
        <p:spPr>
          <a:xfrm>
            <a:off x="640080" y="1234440"/>
            <a:ext cx="3840480" cy="320040"/>
          </a:xfrm>
          <a:prstGeom prst="rect">
            <a:avLst/>
          </a:prstGeom>
          <a:noFill/>
          <a:ln/>
        </p:spPr>
        <p:txBody>
          <a:bodyPr wrap="square" lIns="0" tIns="0" rIns="0" bIns="0" rtlCol="0" anchor="t"/>
          <a:lstStyle/>
          <a:p>
            <a:pPr marL="0" indent="0">
              <a:buNone/>
            </a:pPr>
            <a:r>
              <a:rPr lang="it-IT" sz="1400" b="1" noProof="0" dirty="0">
                <a:solidFill>
                  <a:schemeClr val="tx1"/>
                </a:solidFill>
              </a:rPr>
              <a:t>Un'analogia: un mixer con moltissime manopole</a:t>
            </a:r>
            <a:endParaRPr lang="it-IT" sz="1400" noProof="0" dirty="0"/>
          </a:p>
        </p:txBody>
      </p:sp>
      <p:sp>
        <p:nvSpPr>
          <p:cNvPr id="6" name="manopola"/>
          <p:cNvSpPr/>
          <p:nvPr/>
        </p:nvSpPr>
        <p:spPr>
          <a:xfrm>
            <a:off x="777240" y="178308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7" name="manopola"/>
          <p:cNvSpPr/>
          <p:nvPr/>
        </p:nvSpPr>
        <p:spPr>
          <a:xfrm>
            <a:off x="12344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8" name="manopola"/>
          <p:cNvSpPr/>
          <p:nvPr/>
        </p:nvSpPr>
        <p:spPr>
          <a:xfrm>
            <a:off x="16916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9" name="manopola"/>
          <p:cNvSpPr/>
          <p:nvPr/>
        </p:nvSpPr>
        <p:spPr>
          <a:xfrm>
            <a:off x="21488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0" name="manopola"/>
          <p:cNvSpPr/>
          <p:nvPr/>
        </p:nvSpPr>
        <p:spPr>
          <a:xfrm>
            <a:off x="26060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1" name="manopola"/>
          <p:cNvSpPr/>
          <p:nvPr/>
        </p:nvSpPr>
        <p:spPr>
          <a:xfrm>
            <a:off x="3063240" y="178308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12" name="manopola"/>
          <p:cNvSpPr/>
          <p:nvPr/>
        </p:nvSpPr>
        <p:spPr>
          <a:xfrm>
            <a:off x="35204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3" name="manopola"/>
          <p:cNvSpPr/>
          <p:nvPr/>
        </p:nvSpPr>
        <p:spPr>
          <a:xfrm>
            <a:off x="39776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4" name="manopola"/>
          <p:cNvSpPr/>
          <p:nvPr/>
        </p:nvSpPr>
        <p:spPr>
          <a:xfrm>
            <a:off x="7772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5" name="manopola"/>
          <p:cNvSpPr/>
          <p:nvPr/>
        </p:nvSpPr>
        <p:spPr>
          <a:xfrm>
            <a:off x="12344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6" name="manopola"/>
          <p:cNvSpPr/>
          <p:nvPr/>
        </p:nvSpPr>
        <p:spPr>
          <a:xfrm>
            <a:off x="1691640" y="228600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17" name="manopola"/>
          <p:cNvSpPr/>
          <p:nvPr/>
        </p:nvSpPr>
        <p:spPr>
          <a:xfrm>
            <a:off x="21488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8" name="manopola"/>
          <p:cNvSpPr/>
          <p:nvPr/>
        </p:nvSpPr>
        <p:spPr>
          <a:xfrm>
            <a:off x="26060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9" name="manopola"/>
          <p:cNvSpPr/>
          <p:nvPr/>
        </p:nvSpPr>
        <p:spPr>
          <a:xfrm>
            <a:off x="30632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0" name="manopola"/>
          <p:cNvSpPr/>
          <p:nvPr/>
        </p:nvSpPr>
        <p:spPr>
          <a:xfrm>
            <a:off x="35204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1" name="manopola"/>
          <p:cNvSpPr/>
          <p:nvPr/>
        </p:nvSpPr>
        <p:spPr>
          <a:xfrm>
            <a:off x="3977640" y="228600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22" name="manopola"/>
          <p:cNvSpPr/>
          <p:nvPr/>
        </p:nvSpPr>
        <p:spPr>
          <a:xfrm>
            <a:off x="7772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3" name="manopola"/>
          <p:cNvSpPr/>
          <p:nvPr/>
        </p:nvSpPr>
        <p:spPr>
          <a:xfrm>
            <a:off x="12344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4" name="manopola"/>
          <p:cNvSpPr/>
          <p:nvPr/>
        </p:nvSpPr>
        <p:spPr>
          <a:xfrm>
            <a:off x="16916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5" name="manopola"/>
          <p:cNvSpPr/>
          <p:nvPr/>
        </p:nvSpPr>
        <p:spPr>
          <a:xfrm>
            <a:off x="21488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6" name="manopola"/>
          <p:cNvSpPr/>
          <p:nvPr/>
        </p:nvSpPr>
        <p:spPr>
          <a:xfrm>
            <a:off x="2606040" y="278892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27" name="manopola"/>
          <p:cNvSpPr/>
          <p:nvPr/>
        </p:nvSpPr>
        <p:spPr>
          <a:xfrm>
            <a:off x="30632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8" name="manopola"/>
          <p:cNvSpPr/>
          <p:nvPr/>
        </p:nvSpPr>
        <p:spPr>
          <a:xfrm>
            <a:off x="35204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9" name="manopola"/>
          <p:cNvSpPr/>
          <p:nvPr/>
        </p:nvSpPr>
        <p:spPr>
          <a:xfrm>
            <a:off x="39776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30" name="Text 27"/>
          <p:cNvSpPr txBox="1"/>
          <p:nvPr/>
        </p:nvSpPr>
        <p:spPr>
          <a:xfrm>
            <a:off x="640080" y="3383280"/>
            <a:ext cx="3840480" cy="1005840"/>
          </a:xfrm>
          <a:prstGeom prst="rect">
            <a:avLst/>
          </a:prstGeom>
          <a:noFill/>
          <a:ln/>
        </p:spPr>
        <p:txBody>
          <a:bodyPr wrap="square" lIns="0" tIns="0" rIns="0" bIns="0" rtlCol="0" anchor="t"/>
          <a:lstStyle/>
          <a:p>
            <a:pPr marL="0" indent="0">
              <a:buNone/>
            </a:pPr>
            <a:r>
              <a:rPr lang="it-IT" sz="1300" noProof="0" dirty="0">
                <a:solidFill>
                  <a:schemeClr val="tx2"/>
                </a:solidFill>
              </a:rPr>
              <a:t>Ogni parametro regola quanto conta un segnale. L'addestramento le regola poco alla volta, finché i risultati sono corretti sugli esempi.</a:t>
            </a:r>
            <a:endParaRPr lang="it-IT" sz="1300" noProof="0" dirty="0"/>
          </a:p>
        </p:txBody>
      </p:sp>
      <p:sp>
        <p:nvSpPr>
          <p:cNvPr id="31" name="callout parametri"/>
          <p:cNvSpPr/>
          <p:nvPr/>
        </p:nvSpPr>
        <p:spPr>
          <a:xfrm>
            <a:off x="4937760" y="1097280"/>
            <a:ext cx="3749040" cy="1600200"/>
          </a:xfrm>
          <a:prstGeom prst="roundRect">
            <a:avLst>
              <a:gd name="adj" fmla="val 4571"/>
            </a:avLst>
          </a:prstGeom>
          <a:solidFill>
            <a:schemeClr val="tx1"/>
          </a:solidFill>
          <a:ln/>
        </p:spPr>
        <p:txBody>
          <a:bodyPr/>
          <a:lstStyle/>
          <a:p>
            <a:endParaRPr lang="it-IT" noProof="0" dirty="0"/>
          </a:p>
        </p:txBody>
      </p:sp>
      <p:sp>
        <p:nvSpPr>
          <p:cNvPr id="32" name="Text 29"/>
          <p:cNvSpPr txBox="1"/>
          <p:nvPr/>
        </p:nvSpPr>
        <p:spPr>
          <a:xfrm>
            <a:off x="5120640" y="1188720"/>
            <a:ext cx="3383280" cy="685800"/>
          </a:xfrm>
          <a:prstGeom prst="rect">
            <a:avLst/>
          </a:prstGeom>
          <a:noFill/>
          <a:ln/>
        </p:spPr>
        <p:txBody>
          <a:bodyPr wrap="square" lIns="0" tIns="0" rIns="0" bIns="0" rtlCol="0" anchor="t"/>
          <a:lstStyle/>
          <a:p>
            <a:pPr marL="0" indent="0">
              <a:buNone/>
            </a:pPr>
            <a:r>
              <a:rPr lang="it-IT" sz="3400" b="1" noProof="0" dirty="0">
                <a:solidFill>
                  <a:schemeClr val="accent1"/>
                </a:solidFill>
              </a:rPr>
              <a:t>175 miliardi</a:t>
            </a:r>
            <a:endParaRPr lang="it-IT" sz="3400" noProof="0" dirty="0"/>
          </a:p>
        </p:txBody>
      </p:sp>
      <p:sp>
        <p:nvSpPr>
          <p:cNvPr id="33" name="Text 30"/>
          <p:cNvSpPr txBox="1"/>
          <p:nvPr/>
        </p:nvSpPr>
        <p:spPr>
          <a:xfrm>
            <a:off x="5120640" y="1920240"/>
            <a:ext cx="3383280" cy="640080"/>
          </a:xfrm>
          <a:prstGeom prst="rect">
            <a:avLst/>
          </a:prstGeom>
          <a:noFill/>
          <a:ln/>
        </p:spPr>
        <p:txBody>
          <a:bodyPr wrap="square" lIns="0" tIns="0" rIns="0" bIns="0" rtlCol="0" anchor="t"/>
          <a:lstStyle/>
          <a:p>
            <a:pPr marL="0" indent="0">
              <a:buNone/>
            </a:pPr>
            <a:r>
              <a:rPr lang="it-IT" sz="1300" noProof="0" dirty="0">
                <a:solidFill>
                  <a:schemeClr val="bg1"/>
                </a:solidFill>
              </a:rPr>
              <a:t>i parametri di GPT-3 (2020). Molti modelli recenti sono più grandi.</a:t>
            </a:r>
            <a:endParaRPr lang="it-IT" sz="1300" noProof="0" dirty="0"/>
          </a:p>
        </p:txBody>
      </p:sp>
      <p:sp>
        <p:nvSpPr>
          <p:cNvPr id="34" name="scheda Fissi durante l'uso"/>
          <p:cNvSpPr/>
          <p:nvPr/>
        </p:nvSpPr>
        <p:spPr>
          <a:xfrm>
            <a:off x="4937760" y="2834640"/>
            <a:ext cx="3749040" cy="1691640"/>
          </a:xfrm>
          <a:prstGeom prst="roundRect">
            <a:avLst>
              <a:gd name="adj" fmla="val 4324"/>
            </a:avLst>
          </a:prstGeom>
          <a:solidFill>
            <a:schemeClr val="bg2"/>
          </a:solidFill>
          <a:ln/>
        </p:spPr>
        <p:txBody>
          <a:bodyPr/>
          <a:lstStyle/>
          <a:p>
            <a:endParaRPr lang="it-IT" noProof="0" dirty="0"/>
          </a:p>
        </p:txBody>
      </p:sp>
      <p:sp>
        <p:nvSpPr>
          <p:cNvPr id="35" name="cerchio FiLock"/>
          <p:cNvSpPr/>
          <p:nvPr/>
        </p:nvSpPr>
        <p:spPr>
          <a:xfrm>
            <a:off x="5120640" y="3017520"/>
            <a:ext cx="457200" cy="457200"/>
          </a:xfrm>
          <a:prstGeom prst="ellipse">
            <a:avLst/>
          </a:prstGeom>
          <a:solidFill>
            <a:schemeClr val="accent1"/>
          </a:solidFill>
          <a:ln/>
        </p:spPr>
        <p:txBody>
          <a:bodyPr/>
          <a:lstStyle/>
          <a:p>
            <a:endParaRPr lang="it-IT" noProof="0" dirty="0"/>
          </a:p>
        </p:txBody>
      </p:sp>
      <p:pic>
        <p:nvPicPr>
          <p:cNvPr id="36" name="Image 0" descr="FiLock"/>
          <p:cNvPicPr>
            <a:picLocks noChangeAspect="1"/>
          </p:cNvPicPr>
          <p:nvPr/>
        </p:nvPicPr>
        <p:blipFill>
          <a:blip r:embed="rId3"/>
          <a:stretch>
            <a:fillRect/>
          </a:stretch>
        </p:blipFill>
        <p:spPr>
          <a:xfrm>
            <a:off x="5234940" y="3131820"/>
            <a:ext cx="228600" cy="228600"/>
          </a:xfrm>
          <a:prstGeom prst="rect">
            <a:avLst/>
          </a:prstGeom>
        </p:spPr>
      </p:pic>
      <p:sp>
        <p:nvSpPr>
          <p:cNvPr id="37" name="Text 33"/>
          <p:cNvSpPr txBox="1"/>
          <p:nvPr/>
        </p:nvSpPr>
        <p:spPr>
          <a:xfrm>
            <a:off x="5715000" y="3017520"/>
            <a:ext cx="2788920" cy="457200"/>
          </a:xfrm>
          <a:prstGeom prst="rect">
            <a:avLst/>
          </a:prstGeom>
          <a:noFill/>
          <a:ln/>
        </p:spPr>
        <p:txBody>
          <a:bodyPr wrap="square" lIns="0" tIns="0" rIns="0" bIns="0" rtlCol="0" anchor="ctr"/>
          <a:lstStyle/>
          <a:p>
            <a:pPr marL="0" indent="0">
              <a:buNone/>
            </a:pPr>
            <a:r>
              <a:rPr lang="it-IT" sz="1500" b="1" noProof="0" dirty="0">
                <a:solidFill>
                  <a:schemeClr val="tx1"/>
                </a:solidFill>
              </a:rPr>
              <a:t>Fissi durante l'uso</a:t>
            </a:r>
            <a:endParaRPr lang="it-IT" sz="1500" noProof="0" dirty="0"/>
          </a:p>
        </p:txBody>
      </p:sp>
      <p:sp>
        <p:nvSpPr>
          <p:cNvPr id="38" name="Text 34"/>
          <p:cNvSpPr txBox="1"/>
          <p:nvPr/>
        </p:nvSpPr>
        <p:spPr>
          <a:xfrm>
            <a:off x="5120640" y="3611880"/>
            <a:ext cx="3383280" cy="804672"/>
          </a:xfrm>
          <a:prstGeom prst="rect">
            <a:avLst/>
          </a:prstGeom>
          <a:noFill/>
          <a:ln/>
        </p:spPr>
        <p:txBody>
          <a:bodyPr wrap="square" lIns="0" tIns="0" rIns="0" bIns="0" rtlCol="0" anchor="t"/>
          <a:lstStyle/>
          <a:p>
            <a:pPr marL="0" indent="0">
              <a:buNone/>
            </a:pPr>
            <a:r>
              <a:rPr lang="it-IT" sz="1300" noProof="0" dirty="0">
                <a:solidFill>
                  <a:schemeClr val="tx2"/>
                </a:solidFill>
              </a:rPr>
              <a:t>Non sono un archivio dei dati ma una rappresentazione delle regolarità. Usando l'assistente non li modifichiamo.</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25</a:t>
            </a:fld>
            <a:endParaRPr lang="it-IT"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ciclo di addestramento</a:t>
            </a:r>
            <a:endParaRPr lang="it-IT" sz="2600" noProof="0" dirty="0"/>
          </a:p>
        </p:txBody>
      </p:sp>
      <p:sp>
        <p:nvSpPr>
          <p:cNvPr id="4" name="Previsione"/>
          <p:cNvSpPr/>
          <p:nvPr/>
        </p:nvSpPr>
        <p:spPr>
          <a:xfrm>
            <a:off x="457200" y="1188720"/>
            <a:ext cx="1874520" cy="2331720"/>
          </a:xfrm>
          <a:prstGeom prst="roundRect">
            <a:avLst>
              <a:gd name="adj" fmla="val 3902"/>
            </a:avLst>
          </a:prstGeom>
          <a:solidFill>
            <a:schemeClr val="bg2"/>
          </a:solidFill>
          <a:ln/>
        </p:spPr>
        <p:txBody>
          <a:bodyPr/>
          <a:lstStyle/>
          <a:p>
            <a:endParaRPr lang="it-IT" noProof="0" dirty="0"/>
          </a:p>
        </p:txBody>
      </p:sp>
      <p:sp>
        <p:nvSpPr>
          <p:cNvPr id="5" name="cerchio FiPlayCircle"/>
          <p:cNvSpPr/>
          <p:nvPr/>
        </p:nvSpPr>
        <p:spPr>
          <a:xfrm>
            <a:off x="1115568" y="1371600"/>
            <a:ext cx="548640" cy="548640"/>
          </a:xfrm>
          <a:prstGeom prst="ellipse">
            <a:avLst/>
          </a:prstGeom>
          <a:solidFill>
            <a:schemeClr val="accent1"/>
          </a:solidFill>
          <a:ln/>
        </p:spPr>
        <p:txBody>
          <a:bodyPr/>
          <a:lstStyle/>
          <a:p>
            <a:endParaRPr lang="it-IT" noProof="0" dirty="0"/>
          </a:p>
        </p:txBody>
      </p:sp>
      <p:pic>
        <p:nvPicPr>
          <p:cNvPr id="6" name="Image 0" descr="FiPlayCircle"/>
          <p:cNvPicPr>
            <a:picLocks noChangeAspect="1"/>
          </p:cNvPicPr>
          <p:nvPr/>
        </p:nvPicPr>
        <p:blipFill>
          <a:blip r:embed="rId3"/>
          <a:stretch>
            <a:fillRect/>
          </a:stretch>
        </p:blipFill>
        <p:spPr>
          <a:xfrm>
            <a:off x="1252728" y="1508760"/>
            <a:ext cx="274320" cy="274320"/>
          </a:xfrm>
          <a:prstGeom prst="rect">
            <a:avLst/>
          </a:prstGeom>
        </p:spPr>
      </p:pic>
      <p:sp>
        <p:nvSpPr>
          <p:cNvPr id="7" name="Text 3"/>
          <p:cNvSpPr txBox="1"/>
          <p:nvPr/>
        </p:nvSpPr>
        <p:spPr>
          <a:xfrm>
            <a:off x="566928" y="2011680"/>
            <a:ext cx="1655064" cy="365760"/>
          </a:xfrm>
          <a:prstGeom prst="rect">
            <a:avLst/>
          </a:prstGeom>
          <a:noFill/>
          <a:ln/>
        </p:spPr>
        <p:txBody>
          <a:bodyPr wrap="square" lIns="0" tIns="0" rIns="0" bIns="0" rtlCol="0" anchor="t"/>
          <a:lstStyle/>
          <a:p>
            <a:pPr marL="0" indent="0" algn="ctr">
              <a:buNone/>
            </a:pPr>
            <a:r>
              <a:rPr lang="it-IT" sz="1500" b="1" noProof="0" dirty="0">
                <a:solidFill>
                  <a:schemeClr val="tx1"/>
                </a:solidFill>
              </a:rPr>
              <a:t>1. Previsione</a:t>
            </a:r>
            <a:endParaRPr lang="it-IT" sz="1500" noProof="0" dirty="0"/>
          </a:p>
        </p:txBody>
      </p:sp>
      <p:sp>
        <p:nvSpPr>
          <p:cNvPr id="8" name="Text 4"/>
          <p:cNvSpPr txBox="1"/>
          <p:nvPr/>
        </p:nvSpPr>
        <p:spPr>
          <a:xfrm>
            <a:off x="594360" y="2423160"/>
            <a:ext cx="1600200" cy="1005840"/>
          </a:xfrm>
          <a:prstGeom prst="rect">
            <a:avLst/>
          </a:prstGeom>
          <a:noFill/>
          <a:ln/>
        </p:spPr>
        <p:txBody>
          <a:bodyPr wrap="square" lIns="0" tIns="0" rIns="0" bIns="0" rtlCol="0" anchor="t"/>
          <a:lstStyle/>
          <a:p>
            <a:pPr marL="0" indent="0" algn="ctr">
              <a:buNone/>
            </a:pPr>
            <a:r>
              <a:rPr lang="it-IT" sz="1200" noProof="0" dirty="0">
                <a:solidFill>
                  <a:schemeClr val="tx2"/>
                </a:solidFill>
              </a:rPr>
              <a:t>Il modello elabora un esempio con i parametri attuali</a:t>
            </a:r>
            <a:endParaRPr lang="it-IT" sz="1200" noProof="0" dirty="0"/>
          </a:p>
        </p:txBody>
      </p:sp>
      <p:sp>
        <p:nvSpPr>
          <p:cNvPr id="9" name="freccia"/>
          <p:cNvSpPr/>
          <p:nvPr/>
        </p:nvSpPr>
        <p:spPr>
          <a:xfrm>
            <a:off x="2350008" y="2194560"/>
            <a:ext cx="219456" cy="292608"/>
          </a:xfrm>
          <a:prstGeom prst="rightArrow">
            <a:avLst/>
          </a:prstGeom>
          <a:solidFill>
            <a:schemeClr val="accent2"/>
          </a:solidFill>
          <a:ln/>
        </p:spPr>
        <p:txBody>
          <a:bodyPr/>
          <a:lstStyle/>
          <a:p>
            <a:endParaRPr lang="it-IT" noProof="0" dirty="0"/>
          </a:p>
        </p:txBody>
      </p:sp>
      <p:sp>
        <p:nvSpPr>
          <p:cNvPr id="10" name="Confronto"/>
          <p:cNvSpPr/>
          <p:nvPr/>
        </p:nvSpPr>
        <p:spPr>
          <a:xfrm>
            <a:off x="2587752" y="1188720"/>
            <a:ext cx="1874520" cy="2331720"/>
          </a:xfrm>
          <a:prstGeom prst="roundRect">
            <a:avLst>
              <a:gd name="adj" fmla="val 3902"/>
            </a:avLst>
          </a:prstGeom>
          <a:solidFill>
            <a:schemeClr val="bg2"/>
          </a:solidFill>
          <a:ln/>
        </p:spPr>
        <p:txBody>
          <a:bodyPr/>
          <a:lstStyle/>
          <a:p>
            <a:endParaRPr lang="it-IT" noProof="0" dirty="0"/>
          </a:p>
        </p:txBody>
      </p:sp>
      <p:sp>
        <p:nvSpPr>
          <p:cNvPr id="11" name="cerchio FiColumns"/>
          <p:cNvSpPr/>
          <p:nvPr/>
        </p:nvSpPr>
        <p:spPr>
          <a:xfrm>
            <a:off x="3246120" y="1371600"/>
            <a:ext cx="548640" cy="548640"/>
          </a:xfrm>
          <a:prstGeom prst="ellipse">
            <a:avLst/>
          </a:prstGeom>
          <a:solidFill>
            <a:schemeClr val="accent1"/>
          </a:solidFill>
          <a:ln/>
        </p:spPr>
        <p:txBody>
          <a:bodyPr/>
          <a:lstStyle/>
          <a:p>
            <a:endParaRPr lang="it-IT" noProof="0" dirty="0"/>
          </a:p>
        </p:txBody>
      </p:sp>
      <p:pic>
        <p:nvPicPr>
          <p:cNvPr id="12" name="Image 1" descr="FiColumns"/>
          <p:cNvPicPr>
            <a:picLocks noChangeAspect="1"/>
          </p:cNvPicPr>
          <p:nvPr/>
        </p:nvPicPr>
        <p:blipFill>
          <a:blip r:embed="rId4"/>
          <a:stretch>
            <a:fillRect/>
          </a:stretch>
        </p:blipFill>
        <p:spPr>
          <a:xfrm>
            <a:off x="3383280" y="1508760"/>
            <a:ext cx="274320" cy="274320"/>
          </a:xfrm>
          <a:prstGeom prst="rect">
            <a:avLst/>
          </a:prstGeom>
        </p:spPr>
      </p:pic>
      <p:sp>
        <p:nvSpPr>
          <p:cNvPr id="13" name="Text 8"/>
          <p:cNvSpPr txBox="1"/>
          <p:nvPr/>
        </p:nvSpPr>
        <p:spPr>
          <a:xfrm>
            <a:off x="2697480" y="2011680"/>
            <a:ext cx="1655064" cy="365760"/>
          </a:xfrm>
          <a:prstGeom prst="rect">
            <a:avLst/>
          </a:prstGeom>
          <a:noFill/>
          <a:ln/>
        </p:spPr>
        <p:txBody>
          <a:bodyPr wrap="square" lIns="0" tIns="0" rIns="0" bIns="0" rtlCol="0" anchor="t"/>
          <a:lstStyle/>
          <a:p>
            <a:pPr marL="0" indent="0" algn="ctr">
              <a:buNone/>
            </a:pPr>
            <a:r>
              <a:rPr lang="it-IT" sz="1500" b="1" noProof="0" dirty="0">
                <a:solidFill>
                  <a:schemeClr val="tx1"/>
                </a:solidFill>
              </a:rPr>
              <a:t>2. Confronto</a:t>
            </a:r>
            <a:endParaRPr lang="it-IT" sz="1500" noProof="0" dirty="0"/>
          </a:p>
        </p:txBody>
      </p:sp>
      <p:sp>
        <p:nvSpPr>
          <p:cNvPr id="14" name="Text 9"/>
          <p:cNvSpPr txBox="1"/>
          <p:nvPr/>
        </p:nvSpPr>
        <p:spPr>
          <a:xfrm>
            <a:off x="2724912" y="2423160"/>
            <a:ext cx="1600200" cy="1005840"/>
          </a:xfrm>
          <a:prstGeom prst="rect">
            <a:avLst/>
          </a:prstGeom>
          <a:noFill/>
          <a:ln/>
        </p:spPr>
        <p:txBody>
          <a:bodyPr wrap="square" lIns="0" tIns="0" rIns="0" bIns="0" rtlCol="0" anchor="t"/>
          <a:lstStyle/>
          <a:p>
            <a:pPr marL="0" indent="0" algn="ctr">
              <a:buNone/>
            </a:pPr>
            <a:r>
              <a:rPr lang="it-IT" sz="1200" noProof="0" dirty="0">
                <a:solidFill>
                  <a:schemeClr val="tx2"/>
                </a:solidFill>
              </a:rPr>
              <a:t>La previsione è confrontata con la risposta corretta</a:t>
            </a:r>
            <a:endParaRPr lang="it-IT" sz="1200" noProof="0" dirty="0"/>
          </a:p>
        </p:txBody>
      </p:sp>
      <p:sp>
        <p:nvSpPr>
          <p:cNvPr id="15" name="freccia"/>
          <p:cNvSpPr/>
          <p:nvPr/>
        </p:nvSpPr>
        <p:spPr>
          <a:xfrm>
            <a:off x="4480560" y="2194560"/>
            <a:ext cx="219456" cy="292608"/>
          </a:xfrm>
          <a:prstGeom prst="rightArrow">
            <a:avLst/>
          </a:prstGeom>
          <a:solidFill>
            <a:schemeClr val="accent2"/>
          </a:solidFill>
          <a:ln/>
        </p:spPr>
        <p:txBody>
          <a:bodyPr/>
          <a:lstStyle/>
          <a:p>
            <a:endParaRPr lang="it-IT" noProof="0" dirty="0"/>
          </a:p>
        </p:txBody>
      </p:sp>
      <p:sp>
        <p:nvSpPr>
          <p:cNvPr id="16" name="Errore"/>
          <p:cNvSpPr/>
          <p:nvPr/>
        </p:nvSpPr>
        <p:spPr>
          <a:xfrm>
            <a:off x="4718304" y="1188720"/>
            <a:ext cx="1874520" cy="2331720"/>
          </a:xfrm>
          <a:prstGeom prst="roundRect">
            <a:avLst>
              <a:gd name="adj" fmla="val 3902"/>
            </a:avLst>
          </a:prstGeom>
          <a:solidFill>
            <a:schemeClr val="bg2"/>
          </a:solidFill>
          <a:ln/>
        </p:spPr>
        <p:txBody>
          <a:bodyPr/>
          <a:lstStyle/>
          <a:p>
            <a:endParaRPr lang="it-IT" noProof="0" dirty="0"/>
          </a:p>
        </p:txBody>
      </p:sp>
      <p:sp>
        <p:nvSpPr>
          <p:cNvPr id="17" name="cerchio FiActivity"/>
          <p:cNvSpPr/>
          <p:nvPr/>
        </p:nvSpPr>
        <p:spPr>
          <a:xfrm>
            <a:off x="5376672" y="1371600"/>
            <a:ext cx="548640" cy="548640"/>
          </a:xfrm>
          <a:prstGeom prst="ellipse">
            <a:avLst/>
          </a:prstGeom>
          <a:solidFill>
            <a:schemeClr val="accent1"/>
          </a:solidFill>
          <a:ln/>
        </p:spPr>
        <p:txBody>
          <a:bodyPr/>
          <a:lstStyle/>
          <a:p>
            <a:endParaRPr lang="it-IT" noProof="0" dirty="0"/>
          </a:p>
        </p:txBody>
      </p:sp>
      <p:pic>
        <p:nvPicPr>
          <p:cNvPr id="18" name="Image 2" descr="FiActivity"/>
          <p:cNvPicPr>
            <a:picLocks noChangeAspect="1"/>
          </p:cNvPicPr>
          <p:nvPr/>
        </p:nvPicPr>
        <p:blipFill>
          <a:blip r:embed="rId5"/>
          <a:stretch>
            <a:fillRect/>
          </a:stretch>
        </p:blipFill>
        <p:spPr>
          <a:xfrm>
            <a:off x="5513832" y="1508760"/>
            <a:ext cx="274320" cy="274320"/>
          </a:xfrm>
          <a:prstGeom prst="rect">
            <a:avLst/>
          </a:prstGeom>
        </p:spPr>
      </p:pic>
      <p:sp>
        <p:nvSpPr>
          <p:cNvPr id="19" name="Text 13"/>
          <p:cNvSpPr txBox="1"/>
          <p:nvPr/>
        </p:nvSpPr>
        <p:spPr>
          <a:xfrm>
            <a:off x="4828032" y="2011680"/>
            <a:ext cx="1655064" cy="365760"/>
          </a:xfrm>
          <a:prstGeom prst="rect">
            <a:avLst/>
          </a:prstGeom>
          <a:noFill/>
          <a:ln/>
        </p:spPr>
        <p:txBody>
          <a:bodyPr wrap="square" lIns="0" tIns="0" rIns="0" bIns="0" rtlCol="0" anchor="t"/>
          <a:lstStyle/>
          <a:p>
            <a:pPr marL="0" indent="0" algn="ctr">
              <a:buNone/>
            </a:pPr>
            <a:r>
              <a:rPr lang="it-IT" sz="1500" b="1" noProof="0" dirty="0">
                <a:solidFill>
                  <a:schemeClr val="tx1"/>
                </a:solidFill>
              </a:rPr>
              <a:t>3. Errore</a:t>
            </a:r>
            <a:endParaRPr lang="it-IT" sz="1500" noProof="0" dirty="0"/>
          </a:p>
        </p:txBody>
      </p:sp>
      <p:sp>
        <p:nvSpPr>
          <p:cNvPr id="20" name="Text 14"/>
          <p:cNvSpPr txBox="1"/>
          <p:nvPr/>
        </p:nvSpPr>
        <p:spPr>
          <a:xfrm>
            <a:off x="4855464" y="2423160"/>
            <a:ext cx="1600200" cy="1005840"/>
          </a:xfrm>
          <a:prstGeom prst="rect">
            <a:avLst/>
          </a:prstGeom>
          <a:noFill/>
          <a:ln/>
        </p:spPr>
        <p:txBody>
          <a:bodyPr wrap="square" lIns="0" tIns="0" rIns="0" bIns="0" rtlCol="0" anchor="t"/>
          <a:lstStyle/>
          <a:p>
            <a:pPr marL="0" indent="0" algn="ctr">
              <a:buNone/>
            </a:pPr>
            <a:r>
              <a:rPr lang="it-IT" sz="1200" noProof="0" dirty="0">
                <a:solidFill>
                  <a:schemeClr val="tx2"/>
                </a:solidFill>
              </a:rPr>
              <a:t>Si misura quanto la previsione si discosta</a:t>
            </a:r>
            <a:endParaRPr lang="it-IT" sz="1200" noProof="0" dirty="0"/>
          </a:p>
        </p:txBody>
      </p:sp>
      <p:sp>
        <p:nvSpPr>
          <p:cNvPr id="21" name="freccia"/>
          <p:cNvSpPr/>
          <p:nvPr/>
        </p:nvSpPr>
        <p:spPr>
          <a:xfrm>
            <a:off x="6611112" y="2194560"/>
            <a:ext cx="219456" cy="292608"/>
          </a:xfrm>
          <a:prstGeom prst="rightArrow">
            <a:avLst/>
          </a:prstGeom>
          <a:solidFill>
            <a:schemeClr val="accent2"/>
          </a:solidFill>
          <a:ln/>
        </p:spPr>
        <p:txBody>
          <a:bodyPr/>
          <a:lstStyle/>
          <a:p>
            <a:endParaRPr lang="it-IT" noProof="0" dirty="0"/>
          </a:p>
        </p:txBody>
      </p:sp>
      <p:sp>
        <p:nvSpPr>
          <p:cNvPr id="22" name="Aggiustamento"/>
          <p:cNvSpPr/>
          <p:nvPr/>
        </p:nvSpPr>
        <p:spPr>
          <a:xfrm>
            <a:off x="6848856" y="1188720"/>
            <a:ext cx="1874520" cy="2331720"/>
          </a:xfrm>
          <a:prstGeom prst="roundRect">
            <a:avLst>
              <a:gd name="adj" fmla="val 3902"/>
            </a:avLst>
          </a:prstGeom>
          <a:solidFill>
            <a:schemeClr val="accent6"/>
          </a:solidFill>
          <a:ln/>
        </p:spPr>
        <p:txBody>
          <a:bodyPr/>
          <a:lstStyle/>
          <a:p>
            <a:endParaRPr lang="it-IT" noProof="0" dirty="0"/>
          </a:p>
        </p:txBody>
      </p:sp>
      <p:sp>
        <p:nvSpPr>
          <p:cNvPr id="23" name="cerchio FiSliders"/>
          <p:cNvSpPr/>
          <p:nvPr/>
        </p:nvSpPr>
        <p:spPr>
          <a:xfrm>
            <a:off x="7507224" y="1371600"/>
            <a:ext cx="548640" cy="548640"/>
          </a:xfrm>
          <a:prstGeom prst="ellipse">
            <a:avLst/>
          </a:prstGeom>
          <a:solidFill>
            <a:schemeClr val="accent1"/>
          </a:solidFill>
          <a:ln/>
        </p:spPr>
        <p:txBody>
          <a:bodyPr/>
          <a:lstStyle/>
          <a:p>
            <a:endParaRPr lang="it-IT" noProof="0" dirty="0"/>
          </a:p>
        </p:txBody>
      </p:sp>
      <p:pic>
        <p:nvPicPr>
          <p:cNvPr id="24" name="Image 3" descr="FiSliders"/>
          <p:cNvPicPr>
            <a:picLocks noChangeAspect="1"/>
          </p:cNvPicPr>
          <p:nvPr/>
        </p:nvPicPr>
        <p:blipFill>
          <a:blip r:embed="rId6"/>
          <a:stretch>
            <a:fillRect/>
          </a:stretch>
        </p:blipFill>
        <p:spPr>
          <a:xfrm>
            <a:off x="7644384" y="1508760"/>
            <a:ext cx="274320" cy="274320"/>
          </a:xfrm>
          <a:prstGeom prst="rect">
            <a:avLst/>
          </a:prstGeom>
        </p:spPr>
      </p:pic>
      <p:sp>
        <p:nvSpPr>
          <p:cNvPr id="25" name="Text 18"/>
          <p:cNvSpPr txBox="1"/>
          <p:nvPr/>
        </p:nvSpPr>
        <p:spPr>
          <a:xfrm>
            <a:off x="6958584" y="2011680"/>
            <a:ext cx="1655064" cy="365760"/>
          </a:xfrm>
          <a:prstGeom prst="rect">
            <a:avLst/>
          </a:prstGeom>
          <a:noFill/>
          <a:ln/>
        </p:spPr>
        <p:txBody>
          <a:bodyPr wrap="square" lIns="0" tIns="0" rIns="0" bIns="0" rtlCol="0" anchor="t"/>
          <a:lstStyle/>
          <a:p>
            <a:pPr marL="0" indent="0" algn="ctr">
              <a:buNone/>
            </a:pPr>
            <a:r>
              <a:rPr lang="it-IT" sz="1500" b="1" noProof="0" dirty="0">
                <a:solidFill>
                  <a:schemeClr val="tx1"/>
                </a:solidFill>
              </a:rPr>
              <a:t>4. Aggiustamento</a:t>
            </a:r>
            <a:endParaRPr lang="it-IT" sz="1500" noProof="0" dirty="0"/>
          </a:p>
        </p:txBody>
      </p:sp>
      <p:sp>
        <p:nvSpPr>
          <p:cNvPr id="26" name="Text 19"/>
          <p:cNvSpPr txBox="1"/>
          <p:nvPr/>
        </p:nvSpPr>
        <p:spPr>
          <a:xfrm>
            <a:off x="6986016" y="2423160"/>
            <a:ext cx="1600200" cy="1005840"/>
          </a:xfrm>
          <a:prstGeom prst="rect">
            <a:avLst/>
          </a:prstGeom>
          <a:noFill/>
          <a:ln/>
        </p:spPr>
        <p:txBody>
          <a:bodyPr wrap="square" lIns="0" tIns="0" rIns="0" bIns="0" rtlCol="0" anchor="t"/>
          <a:lstStyle/>
          <a:p>
            <a:pPr marL="0" indent="0" algn="ctr">
              <a:buNone/>
            </a:pPr>
            <a:r>
              <a:rPr lang="it-IT" sz="1200" noProof="0" dirty="0">
                <a:solidFill>
                  <a:schemeClr val="tx2"/>
                </a:solidFill>
              </a:rPr>
              <a:t>I parametri si modificano per ridurre l'errore</a:t>
            </a:r>
            <a:endParaRPr lang="it-IT" sz="1200" noProof="0" dirty="0"/>
          </a:p>
        </p:txBody>
      </p:sp>
      <p:sp>
        <p:nvSpPr>
          <p:cNvPr id="27" name="ripetizione"/>
          <p:cNvSpPr/>
          <p:nvPr/>
        </p:nvSpPr>
        <p:spPr>
          <a:xfrm>
            <a:off x="457200" y="3703320"/>
            <a:ext cx="8229600" cy="822960"/>
          </a:xfrm>
          <a:prstGeom prst="roundRect">
            <a:avLst>
              <a:gd name="adj" fmla="val 8889"/>
            </a:avLst>
          </a:prstGeom>
          <a:solidFill>
            <a:schemeClr val="tx1"/>
          </a:solidFill>
          <a:ln/>
        </p:spPr>
        <p:txBody>
          <a:bodyPr/>
          <a:lstStyle/>
          <a:p>
            <a:endParaRPr lang="it-IT" noProof="0" dirty="0"/>
          </a:p>
        </p:txBody>
      </p:sp>
      <p:sp>
        <p:nvSpPr>
          <p:cNvPr id="28" name="cerchio FiRepeat"/>
          <p:cNvSpPr/>
          <p:nvPr/>
        </p:nvSpPr>
        <p:spPr>
          <a:xfrm>
            <a:off x="640080" y="3840480"/>
            <a:ext cx="548640" cy="548640"/>
          </a:xfrm>
          <a:prstGeom prst="ellipse">
            <a:avLst/>
          </a:prstGeom>
          <a:solidFill>
            <a:schemeClr val="accent1"/>
          </a:solidFill>
          <a:ln/>
        </p:spPr>
        <p:txBody>
          <a:bodyPr/>
          <a:lstStyle/>
          <a:p>
            <a:endParaRPr lang="it-IT" noProof="0" dirty="0"/>
          </a:p>
        </p:txBody>
      </p:sp>
      <p:pic>
        <p:nvPicPr>
          <p:cNvPr id="29" name="Image 4" descr="FiRepeat"/>
          <p:cNvPicPr>
            <a:picLocks noChangeAspect="1"/>
          </p:cNvPicPr>
          <p:nvPr/>
        </p:nvPicPr>
        <p:blipFill>
          <a:blip r:embed="rId7"/>
          <a:stretch>
            <a:fillRect/>
          </a:stretch>
        </p:blipFill>
        <p:spPr>
          <a:xfrm>
            <a:off x="777240" y="3977640"/>
            <a:ext cx="274320" cy="274320"/>
          </a:xfrm>
          <a:prstGeom prst="rect">
            <a:avLst/>
          </a:prstGeom>
        </p:spPr>
      </p:pic>
      <p:sp>
        <p:nvSpPr>
          <p:cNvPr id="30" name="Text 22"/>
          <p:cNvSpPr txBox="1"/>
          <p:nvPr/>
        </p:nvSpPr>
        <p:spPr>
          <a:xfrm>
            <a:off x="1371600" y="3703320"/>
            <a:ext cx="7178040" cy="822960"/>
          </a:xfrm>
          <a:prstGeom prst="rect">
            <a:avLst/>
          </a:prstGeom>
          <a:noFill/>
          <a:ln/>
        </p:spPr>
        <p:txBody>
          <a:bodyPr wrap="square" lIns="0" tIns="0" rIns="0" bIns="0" rtlCol="0" anchor="ctr"/>
          <a:lstStyle/>
          <a:p>
            <a:pPr marL="0" indent="0">
              <a:buNone/>
            </a:pPr>
            <a:r>
              <a:rPr lang="it-IT" sz="1400" noProof="0" dirty="0">
                <a:solidFill>
                  <a:schemeClr val="bg1"/>
                </a:solidFill>
              </a:rPr>
              <a:t>Ripetuto milioni o miliardi di volte. Per i grandi modelli servono settimane o mesi di calcolo: non avviene mentre li usiamo.</a:t>
            </a:r>
            <a:endParaRPr lang="it-IT" sz="14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26</a:t>
            </a:fld>
            <a:endParaRPr lang="it-IT"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Generalizzare verso nuovi input</a:t>
            </a:r>
            <a:endParaRPr lang="it-IT" sz="2600" noProof="0" dirty="0"/>
          </a:p>
        </p:txBody>
      </p:sp>
      <p:sp>
        <p:nvSpPr>
          <p:cNvPr id="4" name="scheda Memorizzare (overfitting)"/>
          <p:cNvSpPr/>
          <p:nvPr/>
        </p:nvSpPr>
        <p:spPr>
          <a:xfrm>
            <a:off x="457200" y="1097280"/>
            <a:ext cx="3977640" cy="2377440"/>
          </a:xfrm>
          <a:prstGeom prst="roundRect">
            <a:avLst>
              <a:gd name="adj" fmla="val 3077"/>
            </a:avLst>
          </a:prstGeom>
          <a:solidFill>
            <a:schemeClr val="bg2"/>
          </a:solidFill>
          <a:ln/>
        </p:spPr>
        <p:txBody>
          <a:bodyPr/>
          <a:lstStyle/>
          <a:p>
            <a:endParaRPr lang="it-IT" noProof="0" dirty="0"/>
          </a:p>
        </p:txBody>
      </p:sp>
      <p:sp>
        <p:nvSpPr>
          <p:cNvPr id="5" name="cerchio FiArchive"/>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Archiv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Memorizzare (</a:t>
            </a:r>
            <a:r>
              <a:rPr lang="it-IT" sz="1600" b="1" noProof="0" dirty="0" err="1">
                <a:solidFill>
                  <a:schemeClr val="tx1"/>
                </a:solidFill>
              </a:rPr>
              <a:t>overfitting</a:t>
            </a:r>
            <a:r>
              <a:rPr lang="it-IT" sz="1600" b="1" noProof="0" dirty="0">
                <a:solidFill>
                  <a:schemeClr val="tx1"/>
                </a:solidFill>
              </a:rPr>
              <a:t>)</a:t>
            </a:r>
            <a:endParaRPr lang="it-IT" sz="1600" noProof="0" dirty="0"/>
          </a:p>
        </p:txBody>
      </p:sp>
      <p:sp>
        <p:nvSpPr>
          <p:cNvPr id="8" name="Text 4"/>
          <p:cNvSpPr txBox="1"/>
          <p:nvPr/>
        </p:nvSpPr>
        <p:spPr>
          <a:xfrm>
            <a:off x="640080" y="2231136"/>
            <a:ext cx="3611880" cy="1133856"/>
          </a:xfrm>
          <a:prstGeom prst="rect">
            <a:avLst/>
          </a:prstGeom>
          <a:noFill/>
          <a:ln/>
        </p:spPr>
        <p:txBody>
          <a:bodyPr wrap="square" lIns="0" tIns="0" rIns="0" bIns="0" rtlCol="0" anchor="t"/>
          <a:lstStyle/>
          <a:p>
            <a:pPr marL="0" indent="0">
              <a:buNone/>
            </a:pPr>
            <a:r>
              <a:rPr lang="it-IT" sz="1300" noProof="0" dirty="0">
                <a:solidFill>
                  <a:schemeClr val="tx2"/>
                </a:solidFill>
              </a:rPr>
              <a:t>Come lo studente che impara a memoria le soluzioni: perfetto sugli esercizi già visti, in difficoltà se cambiano i numeri.</a:t>
            </a:r>
            <a:endParaRPr lang="it-IT" sz="1300" noProof="0" dirty="0"/>
          </a:p>
        </p:txBody>
      </p:sp>
      <p:sp>
        <p:nvSpPr>
          <p:cNvPr id="9" name="scheda Generalizzare"/>
          <p:cNvSpPr/>
          <p:nvPr/>
        </p:nvSpPr>
        <p:spPr>
          <a:xfrm>
            <a:off x="4709160" y="1097280"/>
            <a:ext cx="3977640" cy="2377440"/>
          </a:xfrm>
          <a:prstGeom prst="roundRect">
            <a:avLst>
              <a:gd name="adj" fmla="val 3077"/>
            </a:avLst>
          </a:prstGeom>
          <a:solidFill>
            <a:schemeClr val="accent6"/>
          </a:solidFill>
          <a:ln/>
        </p:spPr>
        <p:txBody>
          <a:bodyPr/>
          <a:lstStyle/>
          <a:p>
            <a:endParaRPr lang="it-IT" noProof="0" dirty="0"/>
          </a:p>
        </p:txBody>
      </p:sp>
      <p:sp>
        <p:nvSpPr>
          <p:cNvPr id="10" name="cerchio FiAward"/>
          <p:cNvSpPr/>
          <p:nvPr/>
        </p:nvSpPr>
        <p:spPr>
          <a:xfrm>
            <a:off x="4892040" y="1280160"/>
            <a:ext cx="457200" cy="457200"/>
          </a:xfrm>
          <a:prstGeom prst="ellipse">
            <a:avLst/>
          </a:prstGeom>
          <a:solidFill>
            <a:schemeClr val="accent1"/>
          </a:solidFill>
          <a:ln/>
        </p:spPr>
        <p:txBody>
          <a:bodyPr/>
          <a:lstStyle/>
          <a:p>
            <a:endParaRPr lang="it-IT" noProof="0" dirty="0"/>
          </a:p>
        </p:txBody>
      </p:sp>
      <p:pic>
        <p:nvPicPr>
          <p:cNvPr id="11" name="Image 1" descr="FiAward"/>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Generalizzare</a:t>
            </a:r>
            <a:endParaRPr lang="it-IT" sz="1600" noProof="0" dirty="0"/>
          </a:p>
        </p:txBody>
      </p:sp>
      <p:sp>
        <p:nvSpPr>
          <p:cNvPr id="13" name="Text 8"/>
          <p:cNvSpPr txBox="1"/>
          <p:nvPr/>
        </p:nvSpPr>
        <p:spPr>
          <a:xfrm>
            <a:off x="4892040" y="2231136"/>
            <a:ext cx="3611880" cy="1133856"/>
          </a:xfrm>
          <a:prstGeom prst="rect">
            <a:avLst/>
          </a:prstGeom>
          <a:noFill/>
          <a:ln/>
        </p:spPr>
        <p:txBody>
          <a:bodyPr wrap="square" lIns="0" tIns="0" rIns="0" bIns="0" rtlCol="0" anchor="t"/>
          <a:lstStyle/>
          <a:p>
            <a:pPr marL="0" indent="0">
              <a:buNone/>
            </a:pPr>
            <a:r>
              <a:rPr lang="it-IT" sz="1300" noProof="0" dirty="0">
                <a:solidFill>
                  <a:schemeClr val="tx2"/>
                </a:solidFill>
              </a:rPr>
              <a:t>Come lo studente che ha capito il metodo: sa risolvere anche esercizi mai visti prima.</a:t>
            </a:r>
            <a:endParaRPr lang="it-IT" sz="1300" noProof="0" dirty="0"/>
          </a:p>
        </p:txBody>
      </p:sp>
      <p:sp>
        <p:nvSpPr>
          <p:cNvPr id="14" name="implicazione"/>
          <p:cNvSpPr/>
          <p:nvPr/>
        </p:nvSpPr>
        <p:spPr>
          <a:xfrm>
            <a:off x="457200" y="3657600"/>
            <a:ext cx="8229600" cy="868680"/>
          </a:xfrm>
          <a:prstGeom prst="roundRect">
            <a:avLst>
              <a:gd name="adj" fmla="val 8421"/>
            </a:avLst>
          </a:prstGeom>
          <a:solidFill>
            <a:schemeClr val="bg2"/>
          </a:solidFill>
          <a:ln/>
        </p:spPr>
        <p:txBody>
          <a:bodyPr/>
          <a:lstStyle/>
          <a:p>
            <a:endParaRPr lang="it-IT" noProof="0" dirty="0"/>
          </a:p>
        </p:txBody>
      </p:sp>
      <p:sp>
        <p:nvSpPr>
          <p:cNvPr id="15" name="cerchio FiMap"/>
          <p:cNvSpPr/>
          <p:nvPr/>
        </p:nvSpPr>
        <p:spPr>
          <a:xfrm>
            <a:off x="640080" y="3840480"/>
            <a:ext cx="502920" cy="502920"/>
          </a:xfrm>
          <a:prstGeom prst="ellipse">
            <a:avLst/>
          </a:prstGeom>
          <a:solidFill>
            <a:schemeClr val="accent1"/>
          </a:solidFill>
          <a:ln/>
        </p:spPr>
        <p:txBody>
          <a:bodyPr/>
          <a:lstStyle/>
          <a:p>
            <a:endParaRPr lang="it-IT" noProof="0" dirty="0"/>
          </a:p>
        </p:txBody>
      </p:sp>
      <p:pic>
        <p:nvPicPr>
          <p:cNvPr id="16" name="Image 2" descr="FiMap"/>
          <p:cNvPicPr>
            <a:picLocks noChangeAspect="1"/>
          </p:cNvPicPr>
          <p:nvPr/>
        </p:nvPicPr>
        <p:blipFill>
          <a:blip r:embed="rId5"/>
          <a:stretch>
            <a:fillRect/>
          </a:stretch>
        </p:blipFill>
        <p:spPr>
          <a:xfrm>
            <a:off x="765810" y="3966210"/>
            <a:ext cx="251460" cy="251460"/>
          </a:xfrm>
          <a:prstGeom prst="rect">
            <a:avLst/>
          </a:prstGeom>
        </p:spPr>
      </p:pic>
      <p:sp>
        <p:nvSpPr>
          <p:cNvPr id="17" name="Text 11"/>
          <p:cNvSpPr txBox="1"/>
          <p:nvPr/>
        </p:nvSpPr>
        <p:spPr>
          <a:xfrm>
            <a:off x="1325880" y="3657600"/>
            <a:ext cx="7223760" cy="868680"/>
          </a:xfrm>
          <a:prstGeom prst="rect">
            <a:avLst/>
          </a:prstGeom>
          <a:noFill/>
          <a:ln/>
        </p:spPr>
        <p:txBody>
          <a:bodyPr wrap="square" lIns="0" tIns="0" rIns="0" bIns="0" rtlCol="0" anchor="ctr"/>
          <a:lstStyle/>
          <a:p>
            <a:pPr marL="0" indent="0">
              <a:buNone/>
            </a:pPr>
            <a:r>
              <a:rPr lang="it-IT" sz="1300" noProof="0" dirty="0">
                <a:solidFill>
                  <a:schemeClr val="tx1"/>
                </a:solidFill>
              </a:rPr>
              <a:t>La capacità di generalizzare permette all’AI di affrontare situazioni nuove, riconoscendo regolarità apprese durante l’addestramento. Le prestazioni vanno valutate anche quando i nuovi casi differiscono da quelli conosciuti</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27</a:t>
            </a:fld>
            <a:endParaRPr lang="it-IT"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Addestramento e inferenza</a:t>
            </a:r>
            <a:endParaRPr lang="it-IT" sz="2600" noProof="0" dirty="0"/>
          </a:p>
        </p:txBody>
      </p:sp>
      <p:graphicFrame>
        <p:nvGraphicFramePr>
          <p:cNvPr id="29" name="Table 0"/>
          <p:cNvGraphicFramePr>
            <a:graphicFrameLocks noGrp="1"/>
          </p:cNvGraphicFramePr>
          <p:nvPr>
            <p:extLst>
              <p:ext uri="{D42A27DB-BD31-4B8C-83A1-F6EECF244321}">
                <p14:modId xmlns:p14="http://schemas.microsoft.com/office/powerpoint/2010/main" val="3286172269"/>
              </p:ext>
            </p:extLst>
          </p:nvPr>
        </p:nvGraphicFramePr>
        <p:xfrm>
          <a:off x="457200" y="1097280"/>
          <a:ext cx="8229600" cy="3008376"/>
        </p:xfrm>
        <a:graphic>
          <a:graphicData uri="http://schemas.openxmlformats.org/drawingml/2006/table">
            <a:tbl>
              <a:tblPr/>
              <a:tblGrid>
                <a:gridCol w="17373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429768">
                <a:tc>
                  <a:txBody>
                    <a:bodyPr/>
                    <a:lstStyle/>
                    <a:p>
                      <a:pPr marL="0" indent="0">
                        <a:buNone/>
                      </a:pP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noProof="0" dirty="0">
                          <a:solidFill>
                            <a:schemeClr val="bg1"/>
                          </a:solidFill>
                        </a:rPr>
                        <a:t>Addestramento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Inferenza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9768">
                <a:tc>
                  <a:txBody>
                    <a:bodyPr/>
                    <a:lstStyle/>
                    <a:p>
                      <a:pPr marL="0" indent="0">
                        <a:buNone/>
                      </a:pPr>
                      <a:r>
                        <a:rPr lang="it-IT" sz="1300" b="1" noProof="0" dirty="0">
                          <a:solidFill>
                            <a:schemeClr val="tx1"/>
                          </a:solidFill>
                        </a:rPr>
                        <a:t>Che cosa avviene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Il modello apprende dagli esempi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Il modello elabora un nuovo input</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29768">
                <a:tc>
                  <a:txBody>
                    <a:bodyPr/>
                    <a:lstStyle/>
                    <a:p>
                      <a:pPr marL="0" indent="0">
                        <a:buNone/>
                      </a:pPr>
                      <a:r>
                        <a:rPr lang="it-IT" sz="1300" b="1" noProof="0" dirty="0">
                          <a:solidFill>
                            <a:schemeClr val="tx1"/>
                          </a:solidFill>
                        </a:rPr>
                        <a:t>Parametri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Vengono modificati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Restano invariati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29768">
                <a:tc>
                  <a:txBody>
                    <a:bodyPr/>
                    <a:lstStyle/>
                    <a:p>
                      <a:pPr marL="0" indent="0">
                        <a:buNone/>
                      </a:pPr>
                      <a:r>
                        <a:rPr lang="it-IT" sz="1300" b="1" noProof="0" dirty="0">
                          <a:solidFill>
                            <a:schemeClr val="tx1"/>
                          </a:solidFill>
                        </a:rPr>
                        <a:t>Dati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Grandi quantità di esempi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La singola richiesta e il suo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29768">
                <a:tc>
                  <a:txBody>
                    <a:bodyPr/>
                    <a:lstStyle/>
                    <a:p>
                      <a:pPr marL="0" indent="0">
                        <a:buNone/>
                      </a:pPr>
                      <a:r>
                        <a:rPr lang="it-IT" sz="1300" b="1" noProof="0" dirty="0">
                          <a:solidFill>
                            <a:schemeClr val="tx1"/>
                          </a:solidFill>
                        </a:rPr>
                        <a:t>Quando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Prima della messa a disposizione, raramente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Ogni volta che il sistema viene usato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429768">
                <a:tc>
                  <a:txBody>
                    <a:bodyPr/>
                    <a:lstStyle/>
                    <a:p>
                      <a:pPr marL="0" indent="0">
                        <a:buNone/>
                      </a:pPr>
                      <a:r>
                        <a:rPr lang="it-IT" sz="1300" b="1" noProof="0" dirty="0">
                          <a:solidFill>
                            <a:schemeClr val="tx1"/>
                          </a:solidFill>
                        </a:rPr>
                        <a:t>Risorse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Enormi: settimane o mesi di calcolo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Molto minori, tempi brevi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r h="429768">
                <a:tc>
                  <a:txBody>
                    <a:bodyPr/>
                    <a:lstStyle/>
                    <a:p>
                      <a:pPr marL="0" indent="0">
                        <a:buNone/>
                      </a:pPr>
                      <a:r>
                        <a:rPr lang="it-IT" sz="1300" b="1" noProof="0" dirty="0">
                          <a:solidFill>
                            <a:schemeClr val="tx1"/>
                          </a:solidFill>
                        </a:rPr>
                        <a:t>Chi lo fa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Lo sviluppatore del modello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Chiunque usi il sistema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457200" y="425196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Quando usiamo un assistente siamo in inferenza: correggerlo non lo riaddestra.</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28</a:t>
            </a:fld>
            <a:endParaRPr lang="it-IT"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noProof="0" dirty="0">
                <a:solidFill>
                  <a:schemeClr val="bg1"/>
                </a:solidFill>
              </a:rPr>
              <a:t>Nei sistemi di Machine Learning l'addestramento modifica i parametri del modello, mentre l'inferenza lo utilizza per elaborare nuovi input. Non tutti i sistemi AI apprendono dai dati.</a:t>
            </a:r>
            <a:endParaRPr lang="it-IT" sz="2600" noProof="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noProof="0" dirty="0">
                <a:solidFill>
                  <a:schemeClr val="accent3"/>
                </a:solidFill>
              </a:rPr>
              <a:t>Sottotema 2.3  ·  Come un sistema AI apprende dai dati</a:t>
            </a:r>
            <a:endParaRPr lang="it-IT" sz="13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29</a:t>
            </a:fld>
            <a:endParaRPr lang="it-IT" noProof="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2.4</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Che cosa sono i Large Language Models</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Generano output usando regolarità apprese e il contesto disponibile: non sono solo un completamento automatico</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30</a:t>
            </a:fld>
            <a:endParaRPr lang="it-IT" noProof="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Un modello linguistico di grandi dimensioni</a:t>
            </a:r>
            <a:endParaRPr lang="it-IT" sz="2600" noProof="0" dirty="0"/>
          </a:p>
        </p:txBody>
      </p:sp>
      <p:sp>
        <p:nvSpPr>
          <p:cNvPr id="4" name="definizione LLM"/>
          <p:cNvSpPr/>
          <p:nvPr/>
        </p:nvSpPr>
        <p:spPr>
          <a:xfrm>
            <a:off x="457200" y="1097280"/>
            <a:ext cx="3657600" cy="3429000"/>
          </a:xfrm>
          <a:prstGeom prst="roundRect">
            <a:avLst>
              <a:gd name="adj" fmla="val 2133"/>
            </a:avLst>
          </a:prstGeom>
          <a:solidFill>
            <a:schemeClr val="tx1"/>
          </a:solidFill>
          <a:ln/>
        </p:spPr>
        <p:txBody>
          <a:bodyPr/>
          <a:lstStyle/>
          <a:p>
            <a:endParaRPr lang="it-IT" noProof="0" dirty="0"/>
          </a:p>
        </p:txBody>
      </p:sp>
      <p:sp>
        <p:nvSpPr>
          <p:cNvPr id="5" name="Text 2"/>
          <p:cNvSpPr txBox="1"/>
          <p:nvPr/>
        </p:nvSpPr>
        <p:spPr>
          <a:xfrm>
            <a:off x="685800" y="1261872"/>
            <a:ext cx="3200400" cy="274320"/>
          </a:xfrm>
          <a:prstGeom prst="rect">
            <a:avLst/>
          </a:prstGeom>
          <a:noFill/>
          <a:ln/>
        </p:spPr>
        <p:txBody>
          <a:bodyPr wrap="square" lIns="0" tIns="0" rIns="0" bIns="0" rtlCol="0" anchor="t"/>
          <a:lstStyle/>
          <a:p>
            <a:pPr marL="0" indent="0">
              <a:buNone/>
            </a:pPr>
            <a:r>
              <a:rPr lang="it-IT" sz="1100" b="1" kern="0" spc="200" noProof="0" dirty="0">
                <a:solidFill>
                  <a:schemeClr val="accent1"/>
                </a:solidFill>
              </a:rPr>
              <a:t>LARGE LANGUAGE MODEL</a:t>
            </a:r>
            <a:endParaRPr lang="it-IT" sz="1100" noProof="0" dirty="0"/>
          </a:p>
        </p:txBody>
      </p:sp>
      <p:sp>
        <p:nvSpPr>
          <p:cNvPr id="6" name="Text 3"/>
          <p:cNvSpPr txBox="1"/>
          <p:nvPr/>
        </p:nvSpPr>
        <p:spPr>
          <a:xfrm>
            <a:off x="685800" y="1645920"/>
            <a:ext cx="3200400" cy="1280160"/>
          </a:xfrm>
          <a:prstGeom prst="rect">
            <a:avLst/>
          </a:prstGeom>
          <a:noFill/>
          <a:ln/>
        </p:spPr>
        <p:txBody>
          <a:bodyPr wrap="square" lIns="0" tIns="0" rIns="0" bIns="0" rtlCol="0" anchor="t"/>
          <a:lstStyle/>
          <a:p>
            <a:pPr marL="0" indent="0">
              <a:buNone/>
            </a:pPr>
            <a:r>
              <a:rPr lang="it-IT" sz="1600" noProof="0" dirty="0">
                <a:solidFill>
                  <a:schemeClr val="bg1"/>
                </a:solidFill>
              </a:rPr>
              <a:t>Un modello di Deep Learning addestrato su enormi quantità di testo per elaborare e generare linguaggio.</a:t>
            </a:r>
            <a:endParaRPr lang="it-IT" sz="1600" noProof="0" dirty="0"/>
          </a:p>
        </p:txBody>
      </p:sp>
      <p:sp>
        <p:nvSpPr>
          <p:cNvPr id="7" name="Text 4"/>
          <p:cNvSpPr txBox="1"/>
          <p:nvPr/>
        </p:nvSpPr>
        <p:spPr>
          <a:xfrm>
            <a:off x="685800" y="2971800"/>
            <a:ext cx="3200400" cy="274320"/>
          </a:xfrm>
          <a:prstGeom prst="rect">
            <a:avLst/>
          </a:prstGeom>
          <a:noFill/>
          <a:ln/>
        </p:spPr>
        <p:txBody>
          <a:bodyPr wrap="square" lIns="0" tIns="0" rIns="0" bIns="0" rtlCol="0" anchor="t"/>
          <a:lstStyle/>
          <a:p>
            <a:pPr marL="0" indent="0">
              <a:buNone/>
            </a:pPr>
            <a:r>
              <a:rPr lang="it-IT" sz="1300" b="1" noProof="0" dirty="0">
                <a:solidFill>
                  <a:schemeClr val="accent1"/>
                </a:solidFill>
              </a:rPr>
              <a:t>Large</a:t>
            </a:r>
            <a:endParaRPr lang="it-IT" sz="1300" noProof="0" dirty="0"/>
          </a:p>
        </p:txBody>
      </p:sp>
      <p:sp>
        <p:nvSpPr>
          <p:cNvPr id="8" name="Text 5"/>
          <p:cNvSpPr txBox="1"/>
          <p:nvPr/>
        </p:nvSpPr>
        <p:spPr>
          <a:xfrm>
            <a:off x="685800" y="3227832"/>
            <a:ext cx="3200400" cy="457200"/>
          </a:xfrm>
          <a:prstGeom prst="rect">
            <a:avLst/>
          </a:prstGeom>
          <a:noFill/>
          <a:ln/>
        </p:spPr>
        <p:txBody>
          <a:bodyPr wrap="square" lIns="0" tIns="0" rIns="0" bIns="0" rtlCol="0" anchor="t"/>
          <a:lstStyle/>
          <a:p>
            <a:pPr marL="0" indent="0">
              <a:buNone/>
            </a:pPr>
            <a:r>
              <a:rPr lang="it-IT" sz="1100" noProof="0" dirty="0">
                <a:solidFill>
                  <a:schemeClr val="accent3"/>
                </a:solidFill>
              </a:rPr>
              <a:t>Miliardi di parametri, enormi quantità di testo e di calcolo</a:t>
            </a:r>
            <a:endParaRPr lang="it-IT" sz="1100" noProof="0" dirty="0"/>
          </a:p>
        </p:txBody>
      </p:sp>
      <p:sp>
        <p:nvSpPr>
          <p:cNvPr id="9" name="Text 6"/>
          <p:cNvSpPr txBox="1"/>
          <p:nvPr/>
        </p:nvSpPr>
        <p:spPr>
          <a:xfrm>
            <a:off x="685800" y="3703320"/>
            <a:ext cx="3200400" cy="274320"/>
          </a:xfrm>
          <a:prstGeom prst="rect">
            <a:avLst/>
          </a:prstGeom>
          <a:noFill/>
          <a:ln/>
        </p:spPr>
        <p:txBody>
          <a:bodyPr wrap="square" lIns="0" tIns="0" rIns="0" bIns="0" rtlCol="0" anchor="t"/>
          <a:lstStyle/>
          <a:p>
            <a:pPr marL="0" indent="0">
              <a:buNone/>
            </a:pPr>
            <a:r>
              <a:rPr lang="it-IT" sz="1300" b="1" noProof="0" dirty="0">
                <a:solidFill>
                  <a:schemeClr val="accent1"/>
                </a:solidFill>
              </a:rPr>
              <a:t>Language Model</a:t>
            </a:r>
            <a:endParaRPr lang="it-IT" sz="1300" noProof="0" dirty="0"/>
          </a:p>
        </p:txBody>
      </p:sp>
      <p:sp>
        <p:nvSpPr>
          <p:cNvPr id="10" name="Text 7"/>
          <p:cNvSpPr txBox="1"/>
          <p:nvPr/>
        </p:nvSpPr>
        <p:spPr>
          <a:xfrm>
            <a:off x="685800" y="3959352"/>
            <a:ext cx="3200400" cy="457200"/>
          </a:xfrm>
          <a:prstGeom prst="rect">
            <a:avLst/>
          </a:prstGeom>
          <a:noFill/>
          <a:ln/>
        </p:spPr>
        <p:txBody>
          <a:bodyPr wrap="square" lIns="0" tIns="0" rIns="0" bIns="0" rtlCol="0" anchor="t"/>
          <a:lstStyle/>
          <a:p>
            <a:pPr marL="0" indent="0">
              <a:buNone/>
            </a:pPr>
            <a:r>
              <a:rPr lang="it-IT" sz="1100" noProof="0" dirty="0">
                <a:solidFill>
                  <a:schemeClr val="accent3"/>
                </a:solidFill>
              </a:rPr>
              <a:t>Ha appreso le regolarità del linguaggio e, con esse, molte informazioni e strutture di ragionamento</a:t>
            </a:r>
            <a:endParaRPr lang="it-IT" sz="1100" noProof="0" dirty="0"/>
          </a:p>
        </p:txBody>
      </p:sp>
      <p:sp>
        <p:nvSpPr>
          <p:cNvPr id="11" name="Text 8"/>
          <p:cNvSpPr txBox="1"/>
          <p:nvPr/>
        </p:nvSpPr>
        <p:spPr>
          <a:xfrm>
            <a:off x="4434840" y="1097280"/>
            <a:ext cx="4206240" cy="320040"/>
          </a:xfrm>
          <a:prstGeom prst="rect">
            <a:avLst/>
          </a:prstGeom>
          <a:noFill/>
          <a:ln/>
        </p:spPr>
        <p:txBody>
          <a:bodyPr wrap="square" lIns="0" tIns="0" rIns="0" bIns="0" rtlCol="0" anchor="t"/>
          <a:lstStyle/>
          <a:p>
            <a:pPr marL="0" indent="0">
              <a:buNone/>
            </a:pPr>
            <a:r>
              <a:rPr lang="it-IT" sz="1500" b="1" noProof="0" dirty="0">
                <a:solidFill>
                  <a:schemeClr val="tx1"/>
                </a:solidFill>
              </a:rPr>
              <a:t>Due fasi di addestramento</a:t>
            </a:r>
            <a:endParaRPr lang="it-IT" sz="1500" noProof="0" dirty="0"/>
          </a:p>
        </p:txBody>
      </p:sp>
      <p:sp>
        <p:nvSpPr>
          <p:cNvPr id="12" name="scheda 1. Pre-addestramento"/>
          <p:cNvSpPr/>
          <p:nvPr/>
        </p:nvSpPr>
        <p:spPr>
          <a:xfrm>
            <a:off x="4434840" y="1508760"/>
            <a:ext cx="4251960" cy="1417320"/>
          </a:xfrm>
          <a:prstGeom prst="roundRect">
            <a:avLst>
              <a:gd name="adj" fmla="val 5161"/>
            </a:avLst>
          </a:prstGeom>
          <a:solidFill>
            <a:schemeClr val="bg2"/>
          </a:solidFill>
          <a:ln/>
        </p:spPr>
        <p:txBody>
          <a:bodyPr/>
          <a:lstStyle/>
          <a:p>
            <a:endParaRPr lang="it-IT" noProof="0" dirty="0"/>
          </a:p>
        </p:txBody>
      </p:sp>
      <p:sp>
        <p:nvSpPr>
          <p:cNvPr id="13" name="cerchio FiBookOpen"/>
          <p:cNvSpPr/>
          <p:nvPr/>
        </p:nvSpPr>
        <p:spPr>
          <a:xfrm>
            <a:off x="4617720" y="1691640"/>
            <a:ext cx="457200" cy="457200"/>
          </a:xfrm>
          <a:prstGeom prst="ellipse">
            <a:avLst/>
          </a:prstGeom>
          <a:solidFill>
            <a:schemeClr val="accent1"/>
          </a:solidFill>
          <a:ln/>
        </p:spPr>
        <p:txBody>
          <a:bodyPr/>
          <a:lstStyle/>
          <a:p>
            <a:endParaRPr lang="it-IT" noProof="0" dirty="0"/>
          </a:p>
        </p:txBody>
      </p:sp>
      <p:pic>
        <p:nvPicPr>
          <p:cNvPr id="14" name="Image 0" descr="FiBookOpen"/>
          <p:cNvPicPr>
            <a:picLocks noChangeAspect="1"/>
          </p:cNvPicPr>
          <p:nvPr/>
        </p:nvPicPr>
        <p:blipFill>
          <a:blip r:embed="rId3"/>
          <a:stretch>
            <a:fillRect/>
          </a:stretch>
        </p:blipFill>
        <p:spPr>
          <a:xfrm>
            <a:off x="4732020" y="1805940"/>
            <a:ext cx="228600" cy="228600"/>
          </a:xfrm>
          <a:prstGeom prst="rect">
            <a:avLst/>
          </a:prstGeom>
        </p:spPr>
      </p:pic>
      <p:sp>
        <p:nvSpPr>
          <p:cNvPr id="15" name="Text 11"/>
          <p:cNvSpPr txBox="1"/>
          <p:nvPr/>
        </p:nvSpPr>
        <p:spPr>
          <a:xfrm>
            <a:off x="5212080" y="1691640"/>
            <a:ext cx="3291840" cy="457200"/>
          </a:xfrm>
          <a:prstGeom prst="rect">
            <a:avLst/>
          </a:prstGeom>
          <a:noFill/>
          <a:ln/>
        </p:spPr>
        <p:txBody>
          <a:bodyPr wrap="square" lIns="0" tIns="0" rIns="0" bIns="0" rtlCol="0" anchor="ctr"/>
          <a:lstStyle/>
          <a:p>
            <a:pPr marL="0" indent="0">
              <a:buNone/>
            </a:pPr>
            <a:r>
              <a:rPr lang="it-IT" sz="1500" b="1" noProof="0" dirty="0">
                <a:solidFill>
                  <a:schemeClr val="tx1"/>
                </a:solidFill>
              </a:rPr>
              <a:t>1. Pre-addestramento</a:t>
            </a:r>
            <a:endParaRPr lang="it-IT" sz="1500" noProof="0" dirty="0"/>
          </a:p>
        </p:txBody>
      </p:sp>
      <p:sp>
        <p:nvSpPr>
          <p:cNvPr id="16" name="Text 12"/>
          <p:cNvSpPr txBox="1"/>
          <p:nvPr/>
        </p:nvSpPr>
        <p:spPr>
          <a:xfrm>
            <a:off x="4617720" y="2286000"/>
            <a:ext cx="3886200" cy="530352"/>
          </a:xfrm>
          <a:prstGeom prst="rect">
            <a:avLst/>
          </a:prstGeom>
          <a:noFill/>
          <a:ln/>
        </p:spPr>
        <p:txBody>
          <a:bodyPr wrap="square" lIns="0" tIns="0" rIns="0" bIns="0" rtlCol="0" anchor="t"/>
          <a:lstStyle/>
          <a:p>
            <a:pPr marL="0" indent="0">
              <a:buNone/>
            </a:pPr>
            <a:r>
              <a:rPr lang="it-IT" sz="1300" noProof="0" dirty="0">
                <a:solidFill>
                  <a:schemeClr val="tx2"/>
                </a:solidFill>
              </a:rPr>
              <a:t>Impara dal testo prevedendo, miliardi di volte, quale parte viene dopo.</a:t>
            </a:r>
            <a:endParaRPr lang="it-IT" sz="1300" noProof="0" dirty="0"/>
          </a:p>
        </p:txBody>
      </p:sp>
      <p:sp>
        <p:nvSpPr>
          <p:cNvPr id="17" name="scheda 2. Affinamento"/>
          <p:cNvSpPr/>
          <p:nvPr/>
        </p:nvSpPr>
        <p:spPr>
          <a:xfrm>
            <a:off x="4434840" y="3063240"/>
            <a:ext cx="4251960" cy="1463040"/>
          </a:xfrm>
          <a:prstGeom prst="roundRect">
            <a:avLst>
              <a:gd name="adj" fmla="val 5000"/>
            </a:avLst>
          </a:prstGeom>
          <a:solidFill>
            <a:schemeClr val="accent6"/>
          </a:solidFill>
          <a:ln/>
        </p:spPr>
        <p:txBody>
          <a:bodyPr/>
          <a:lstStyle/>
          <a:p>
            <a:endParaRPr lang="it-IT" noProof="0" dirty="0"/>
          </a:p>
        </p:txBody>
      </p:sp>
      <p:sp>
        <p:nvSpPr>
          <p:cNvPr id="18" name="cerchio FiUserCheck"/>
          <p:cNvSpPr/>
          <p:nvPr/>
        </p:nvSpPr>
        <p:spPr>
          <a:xfrm>
            <a:off x="4617720" y="3246120"/>
            <a:ext cx="457200" cy="457200"/>
          </a:xfrm>
          <a:prstGeom prst="ellipse">
            <a:avLst/>
          </a:prstGeom>
          <a:solidFill>
            <a:schemeClr val="accent1"/>
          </a:solidFill>
          <a:ln/>
        </p:spPr>
        <p:txBody>
          <a:bodyPr/>
          <a:lstStyle/>
          <a:p>
            <a:endParaRPr lang="it-IT" noProof="0" dirty="0"/>
          </a:p>
        </p:txBody>
      </p:sp>
      <p:pic>
        <p:nvPicPr>
          <p:cNvPr id="19" name="Image 1" descr="FiUserCheck"/>
          <p:cNvPicPr>
            <a:picLocks noChangeAspect="1"/>
          </p:cNvPicPr>
          <p:nvPr/>
        </p:nvPicPr>
        <p:blipFill>
          <a:blip r:embed="rId4"/>
          <a:stretch>
            <a:fillRect/>
          </a:stretch>
        </p:blipFill>
        <p:spPr>
          <a:xfrm>
            <a:off x="4732020" y="3360420"/>
            <a:ext cx="228600" cy="228600"/>
          </a:xfrm>
          <a:prstGeom prst="rect">
            <a:avLst/>
          </a:prstGeom>
        </p:spPr>
      </p:pic>
      <p:sp>
        <p:nvSpPr>
          <p:cNvPr id="20" name="Text 15"/>
          <p:cNvSpPr txBox="1"/>
          <p:nvPr/>
        </p:nvSpPr>
        <p:spPr>
          <a:xfrm>
            <a:off x="5212080" y="3246120"/>
            <a:ext cx="3291840" cy="457200"/>
          </a:xfrm>
          <a:prstGeom prst="rect">
            <a:avLst/>
          </a:prstGeom>
          <a:noFill/>
          <a:ln/>
        </p:spPr>
        <p:txBody>
          <a:bodyPr wrap="square" lIns="0" tIns="0" rIns="0" bIns="0" rtlCol="0" anchor="ctr"/>
          <a:lstStyle/>
          <a:p>
            <a:pPr marL="0" indent="0">
              <a:buNone/>
            </a:pPr>
            <a:r>
              <a:rPr lang="it-IT" sz="1500" b="1" noProof="0" dirty="0">
                <a:solidFill>
                  <a:schemeClr val="tx1"/>
                </a:solidFill>
              </a:rPr>
              <a:t>2. Affinamento</a:t>
            </a:r>
            <a:endParaRPr lang="it-IT" sz="1500" noProof="0" dirty="0"/>
          </a:p>
        </p:txBody>
      </p:sp>
      <p:sp>
        <p:nvSpPr>
          <p:cNvPr id="21" name="Text 16"/>
          <p:cNvSpPr txBox="1"/>
          <p:nvPr/>
        </p:nvSpPr>
        <p:spPr>
          <a:xfrm>
            <a:off x="4617720" y="3840480"/>
            <a:ext cx="3886200" cy="576072"/>
          </a:xfrm>
          <a:prstGeom prst="rect">
            <a:avLst/>
          </a:prstGeom>
          <a:noFill/>
          <a:ln/>
        </p:spPr>
        <p:txBody>
          <a:bodyPr wrap="square" lIns="0" tIns="0" rIns="0" bIns="0" rtlCol="0" anchor="t"/>
          <a:lstStyle/>
          <a:p>
            <a:pPr marL="0" indent="0">
              <a:buNone/>
            </a:pPr>
            <a:r>
              <a:rPr lang="it-IT" sz="1300" noProof="0" dirty="0">
                <a:solidFill>
                  <a:schemeClr val="tx2"/>
                </a:solidFill>
              </a:rPr>
              <a:t>Esempi di istruzioni e feedback umano: diventa un assistente utile e sicuro.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31</a:t>
            </a:fld>
            <a:endParaRPr lang="it-IT" noProof="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 token: come il modello vede il testo</a:t>
            </a:r>
            <a:endParaRPr lang="it-IT" sz="2600" noProof="0" dirty="0"/>
          </a:p>
        </p:txBody>
      </p:sp>
      <p:sp>
        <p:nvSpPr>
          <p:cNvPr id="4" name="Text 1"/>
          <p:cNvSpPr txBox="1"/>
          <p:nvPr/>
        </p:nvSpPr>
        <p:spPr>
          <a:xfrm>
            <a:off x="457200" y="1097280"/>
            <a:ext cx="1828800" cy="274320"/>
          </a:xfrm>
          <a:prstGeom prst="rect">
            <a:avLst/>
          </a:prstGeom>
          <a:noFill/>
          <a:ln/>
        </p:spPr>
        <p:txBody>
          <a:bodyPr wrap="square" lIns="0" tIns="0" rIns="0" bIns="0" rtlCol="0" anchor="t"/>
          <a:lstStyle/>
          <a:p>
            <a:pPr marL="0" indent="0">
              <a:buNone/>
            </a:pPr>
            <a:r>
              <a:rPr lang="it-IT" sz="1200" b="1" noProof="0" dirty="0">
                <a:solidFill>
                  <a:schemeClr val="accent2"/>
                </a:solidFill>
              </a:rPr>
              <a:t>Testo</a:t>
            </a:r>
            <a:endParaRPr lang="it-IT" sz="1200" noProof="0" dirty="0"/>
          </a:p>
        </p:txBody>
      </p:sp>
      <p:sp>
        <p:nvSpPr>
          <p:cNvPr id="5" name="frase"/>
          <p:cNvSpPr/>
          <p:nvPr/>
        </p:nvSpPr>
        <p:spPr>
          <a:xfrm>
            <a:off x="457200" y="1371600"/>
            <a:ext cx="8229600" cy="548640"/>
          </a:xfrm>
          <a:prstGeom prst="roundRect">
            <a:avLst>
              <a:gd name="adj" fmla="val 13333"/>
            </a:avLst>
          </a:prstGeom>
          <a:solidFill>
            <a:schemeClr val="bg2"/>
          </a:solidFill>
          <a:ln/>
        </p:spPr>
        <p:txBody>
          <a:bodyPr/>
          <a:lstStyle/>
          <a:p>
            <a:endParaRPr lang="it-IT" noProof="0" dirty="0"/>
          </a:p>
        </p:txBody>
      </p:sp>
      <p:sp>
        <p:nvSpPr>
          <p:cNvPr id="6" name="Text 3"/>
          <p:cNvSpPr txBox="1"/>
          <p:nvPr/>
        </p:nvSpPr>
        <p:spPr>
          <a:xfrm>
            <a:off x="640080" y="1371600"/>
            <a:ext cx="7863840" cy="548640"/>
          </a:xfrm>
          <a:prstGeom prst="rect">
            <a:avLst/>
          </a:prstGeom>
          <a:noFill/>
          <a:ln/>
        </p:spPr>
        <p:txBody>
          <a:bodyPr wrap="square" lIns="0" tIns="0" rIns="0" bIns="0" rtlCol="0" anchor="ctr"/>
          <a:lstStyle/>
          <a:p>
            <a:pPr marL="0" indent="0">
              <a:buNone/>
            </a:pPr>
            <a:r>
              <a:rPr lang="it-IT" sz="1800" noProof="0" dirty="0">
                <a:solidFill>
                  <a:schemeClr val="tx1"/>
                </a:solidFill>
              </a:rPr>
              <a:t>L'intelligenza artificiale cambia il lavoro.</a:t>
            </a:r>
            <a:endParaRPr lang="it-IT" sz="1800" noProof="0" dirty="0"/>
          </a:p>
        </p:txBody>
      </p:sp>
      <p:sp>
        <p:nvSpPr>
          <p:cNvPr id="7" name="Text 4"/>
          <p:cNvSpPr txBox="1"/>
          <p:nvPr/>
        </p:nvSpPr>
        <p:spPr>
          <a:xfrm>
            <a:off x="457200" y="2103120"/>
            <a:ext cx="3657600" cy="274320"/>
          </a:xfrm>
          <a:prstGeom prst="rect">
            <a:avLst/>
          </a:prstGeom>
          <a:noFill/>
          <a:ln/>
        </p:spPr>
        <p:txBody>
          <a:bodyPr wrap="square" lIns="0" tIns="0" rIns="0" bIns="0" rtlCol="0" anchor="t"/>
          <a:lstStyle/>
          <a:p>
            <a:pPr marL="0" indent="0">
              <a:buNone/>
            </a:pPr>
            <a:r>
              <a:rPr lang="it-IT" sz="1200" b="1" noProof="0" dirty="0">
                <a:solidFill>
                  <a:schemeClr val="accent2"/>
                </a:solidFill>
              </a:rPr>
              <a:t>Token (esempio illustrativo)</a:t>
            </a:r>
            <a:endParaRPr lang="it-IT" sz="1200" noProof="0" dirty="0"/>
          </a:p>
        </p:txBody>
      </p:sp>
      <p:sp>
        <p:nvSpPr>
          <p:cNvPr id="8" name="token 0"/>
          <p:cNvSpPr/>
          <p:nvPr/>
        </p:nvSpPr>
        <p:spPr>
          <a:xfrm>
            <a:off x="457200" y="2423160"/>
            <a:ext cx="502920" cy="502920"/>
          </a:xfrm>
          <a:prstGeom prst="roundRect">
            <a:avLst>
              <a:gd name="adj" fmla="val 10909"/>
            </a:avLst>
          </a:prstGeom>
          <a:solidFill>
            <a:schemeClr val="accent1"/>
          </a:solidFill>
          <a:ln/>
        </p:spPr>
        <p:txBody>
          <a:bodyPr/>
          <a:lstStyle/>
          <a:p>
            <a:endParaRPr lang="it-IT" noProof="0" dirty="0"/>
          </a:p>
        </p:txBody>
      </p:sp>
      <p:sp>
        <p:nvSpPr>
          <p:cNvPr id="9" name="Text 6"/>
          <p:cNvSpPr txBox="1"/>
          <p:nvPr/>
        </p:nvSpPr>
        <p:spPr>
          <a:xfrm>
            <a:off x="457200" y="2423160"/>
            <a:ext cx="502920"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L'</a:t>
            </a:r>
            <a:endParaRPr lang="it-IT" sz="1400" noProof="0" dirty="0"/>
          </a:p>
        </p:txBody>
      </p:sp>
      <p:sp>
        <p:nvSpPr>
          <p:cNvPr id="10" name="token 1"/>
          <p:cNvSpPr/>
          <p:nvPr/>
        </p:nvSpPr>
        <p:spPr>
          <a:xfrm>
            <a:off x="1014984" y="2423160"/>
            <a:ext cx="777240" cy="502920"/>
          </a:xfrm>
          <a:prstGeom prst="roundRect">
            <a:avLst>
              <a:gd name="adj" fmla="val 10909"/>
            </a:avLst>
          </a:prstGeom>
          <a:solidFill>
            <a:schemeClr val="accent6"/>
          </a:solidFill>
          <a:ln/>
        </p:spPr>
        <p:txBody>
          <a:bodyPr/>
          <a:lstStyle/>
          <a:p>
            <a:endParaRPr lang="it-IT" noProof="0" dirty="0"/>
          </a:p>
        </p:txBody>
      </p:sp>
      <p:sp>
        <p:nvSpPr>
          <p:cNvPr id="11" name="Text 8"/>
          <p:cNvSpPr txBox="1"/>
          <p:nvPr/>
        </p:nvSpPr>
        <p:spPr>
          <a:xfrm>
            <a:off x="1014984" y="2423160"/>
            <a:ext cx="777240" cy="502920"/>
          </a:xfrm>
          <a:prstGeom prst="rect">
            <a:avLst/>
          </a:prstGeom>
          <a:noFill/>
          <a:ln/>
        </p:spPr>
        <p:txBody>
          <a:bodyPr wrap="square" lIns="0" tIns="0" rIns="0" bIns="0" rtlCol="0" anchor="ctr"/>
          <a:lstStyle/>
          <a:p>
            <a:pPr marL="0" indent="0" algn="ctr">
              <a:buNone/>
            </a:pPr>
            <a:r>
              <a:rPr lang="it-IT" sz="1400" b="1" noProof="0" dirty="0" err="1">
                <a:solidFill>
                  <a:schemeClr val="tx1"/>
                </a:solidFill>
              </a:rPr>
              <a:t>intel</a:t>
            </a:r>
            <a:endParaRPr lang="it-IT" sz="1400" noProof="0" dirty="0"/>
          </a:p>
        </p:txBody>
      </p:sp>
      <p:sp>
        <p:nvSpPr>
          <p:cNvPr id="12" name="token 2"/>
          <p:cNvSpPr/>
          <p:nvPr/>
        </p:nvSpPr>
        <p:spPr>
          <a:xfrm>
            <a:off x="1847088" y="2423160"/>
            <a:ext cx="960120" cy="502920"/>
          </a:xfrm>
          <a:prstGeom prst="roundRect">
            <a:avLst>
              <a:gd name="adj" fmla="val 10909"/>
            </a:avLst>
          </a:prstGeom>
          <a:solidFill>
            <a:schemeClr val="accent1"/>
          </a:solidFill>
          <a:ln/>
        </p:spPr>
        <p:txBody>
          <a:bodyPr/>
          <a:lstStyle/>
          <a:p>
            <a:endParaRPr lang="it-IT" noProof="0" dirty="0"/>
          </a:p>
        </p:txBody>
      </p:sp>
      <p:sp>
        <p:nvSpPr>
          <p:cNvPr id="13" name="Text 10"/>
          <p:cNvSpPr txBox="1"/>
          <p:nvPr/>
        </p:nvSpPr>
        <p:spPr>
          <a:xfrm>
            <a:off x="1847088" y="2423160"/>
            <a:ext cx="960120" cy="502920"/>
          </a:xfrm>
          <a:prstGeom prst="rect">
            <a:avLst/>
          </a:prstGeom>
          <a:noFill/>
          <a:ln/>
        </p:spPr>
        <p:txBody>
          <a:bodyPr wrap="square" lIns="0" tIns="0" rIns="0" bIns="0" rtlCol="0" anchor="ctr"/>
          <a:lstStyle/>
          <a:p>
            <a:pPr marL="0" indent="0" algn="ctr">
              <a:buNone/>
            </a:pPr>
            <a:r>
              <a:rPr lang="it-IT" sz="1400" b="1" noProof="0" dirty="0" err="1">
                <a:solidFill>
                  <a:schemeClr val="bg1"/>
                </a:solidFill>
              </a:rPr>
              <a:t>ligenza</a:t>
            </a:r>
            <a:endParaRPr lang="it-IT" sz="1400" noProof="0" dirty="0"/>
          </a:p>
        </p:txBody>
      </p:sp>
      <p:sp>
        <p:nvSpPr>
          <p:cNvPr id="14" name="token 3"/>
          <p:cNvSpPr/>
          <p:nvPr/>
        </p:nvSpPr>
        <p:spPr>
          <a:xfrm>
            <a:off x="2862072" y="2423160"/>
            <a:ext cx="960120" cy="502920"/>
          </a:xfrm>
          <a:prstGeom prst="roundRect">
            <a:avLst>
              <a:gd name="adj" fmla="val 10909"/>
            </a:avLst>
          </a:prstGeom>
          <a:solidFill>
            <a:schemeClr val="accent6"/>
          </a:solidFill>
          <a:ln/>
        </p:spPr>
        <p:txBody>
          <a:bodyPr/>
          <a:lstStyle/>
          <a:p>
            <a:endParaRPr lang="it-IT" noProof="0" dirty="0"/>
          </a:p>
        </p:txBody>
      </p:sp>
      <p:sp>
        <p:nvSpPr>
          <p:cNvPr id="15" name="Text 12"/>
          <p:cNvSpPr txBox="1"/>
          <p:nvPr/>
        </p:nvSpPr>
        <p:spPr>
          <a:xfrm>
            <a:off x="2862072" y="2423160"/>
            <a:ext cx="960120"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a:t>
            </a:r>
            <a:r>
              <a:rPr lang="it-IT" sz="1400" b="1" noProof="0" dirty="0" err="1">
                <a:solidFill>
                  <a:schemeClr val="tx1"/>
                </a:solidFill>
              </a:rPr>
              <a:t>artific</a:t>
            </a:r>
            <a:endParaRPr lang="it-IT" sz="1400" noProof="0" dirty="0"/>
          </a:p>
        </p:txBody>
      </p:sp>
      <p:sp>
        <p:nvSpPr>
          <p:cNvPr id="16" name="token 4"/>
          <p:cNvSpPr/>
          <p:nvPr/>
        </p:nvSpPr>
        <p:spPr>
          <a:xfrm>
            <a:off x="3877056" y="2423160"/>
            <a:ext cx="640080" cy="502920"/>
          </a:xfrm>
          <a:prstGeom prst="roundRect">
            <a:avLst>
              <a:gd name="adj" fmla="val 10909"/>
            </a:avLst>
          </a:prstGeom>
          <a:solidFill>
            <a:schemeClr val="accent1"/>
          </a:solidFill>
          <a:ln/>
        </p:spPr>
        <p:txBody>
          <a:bodyPr/>
          <a:lstStyle/>
          <a:p>
            <a:endParaRPr lang="it-IT" noProof="0" dirty="0"/>
          </a:p>
        </p:txBody>
      </p:sp>
      <p:sp>
        <p:nvSpPr>
          <p:cNvPr id="17" name="Text 14"/>
          <p:cNvSpPr txBox="1"/>
          <p:nvPr/>
        </p:nvSpPr>
        <p:spPr>
          <a:xfrm>
            <a:off x="3877056" y="2423160"/>
            <a:ext cx="640080" cy="502920"/>
          </a:xfrm>
          <a:prstGeom prst="rect">
            <a:avLst/>
          </a:prstGeom>
          <a:noFill/>
          <a:ln/>
        </p:spPr>
        <p:txBody>
          <a:bodyPr wrap="square" lIns="0" tIns="0" rIns="0" bIns="0" rtlCol="0" anchor="ctr"/>
          <a:lstStyle/>
          <a:p>
            <a:pPr marL="0" indent="0" algn="ctr">
              <a:buNone/>
            </a:pPr>
            <a:r>
              <a:rPr lang="it-IT" sz="1400" b="1" noProof="0" dirty="0" err="1">
                <a:solidFill>
                  <a:schemeClr val="bg1"/>
                </a:solidFill>
              </a:rPr>
              <a:t>iale</a:t>
            </a:r>
            <a:endParaRPr lang="it-IT" sz="1400" noProof="0" dirty="0"/>
          </a:p>
        </p:txBody>
      </p:sp>
      <p:sp>
        <p:nvSpPr>
          <p:cNvPr id="18" name="token 5"/>
          <p:cNvSpPr/>
          <p:nvPr/>
        </p:nvSpPr>
        <p:spPr>
          <a:xfrm>
            <a:off x="4572000" y="2423160"/>
            <a:ext cx="1005840" cy="502920"/>
          </a:xfrm>
          <a:prstGeom prst="roundRect">
            <a:avLst>
              <a:gd name="adj" fmla="val 10909"/>
            </a:avLst>
          </a:prstGeom>
          <a:solidFill>
            <a:schemeClr val="accent6"/>
          </a:solidFill>
          <a:ln/>
        </p:spPr>
        <p:txBody>
          <a:bodyPr/>
          <a:lstStyle/>
          <a:p>
            <a:endParaRPr lang="it-IT" noProof="0" dirty="0"/>
          </a:p>
        </p:txBody>
      </p:sp>
      <p:sp>
        <p:nvSpPr>
          <p:cNvPr id="19" name="Text 16"/>
          <p:cNvSpPr txBox="1"/>
          <p:nvPr/>
        </p:nvSpPr>
        <p:spPr>
          <a:xfrm>
            <a:off x="4572000" y="2423160"/>
            <a:ext cx="1005840"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·cambia</a:t>
            </a:r>
            <a:endParaRPr lang="it-IT" sz="1400" noProof="0" dirty="0"/>
          </a:p>
        </p:txBody>
      </p:sp>
      <p:sp>
        <p:nvSpPr>
          <p:cNvPr id="20" name="token 6"/>
          <p:cNvSpPr/>
          <p:nvPr/>
        </p:nvSpPr>
        <p:spPr>
          <a:xfrm>
            <a:off x="5632704" y="2423160"/>
            <a:ext cx="502920" cy="502920"/>
          </a:xfrm>
          <a:prstGeom prst="roundRect">
            <a:avLst>
              <a:gd name="adj" fmla="val 10909"/>
            </a:avLst>
          </a:prstGeom>
          <a:solidFill>
            <a:schemeClr val="accent1"/>
          </a:solidFill>
          <a:ln/>
        </p:spPr>
        <p:txBody>
          <a:bodyPr/>
          <a:lstStyle/>
          <a:p>
            <a:endParaRPr lang="it-IT" noProof="0" dirty="0"/>
          </a:p>
        </p:txBody>
      </p:sp>
      <p:sp>
        <p:nvSpPr>
          <p:cNvPr id="21" name="Text 18"/>
          <p:cNvSpPr txBox="1"/>
          <p:nvPr/>
        </p:nvSpPr>
        <p:spPr>
          <a:xfrm>
            <a:off x="5632704" y="2423160"/>
            <a:ext cx="502920"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·il</a:t>
            </a:r>
            <a:endParaRPr lang="it-IT" sz="1400" noProof="0" dirty="0"/>
          </a:p>
        </p:txBody>
      </p:sp>
      <p:sp>
        <p:nvSpPr>
          <p:cNvPr id="22" name="token 7"/>
          <p:cNvSpPr/>
          <p:nvPr/>
        </p:nvSpPr>
        <p:spPr>
          <a:xfrm>
            <a:off x="6190488" y="2423160"/>
            <a:ext cx="960120" cy="502920"/>
          </a:xfrm>
          <a:prstGeom prst="roundRect">
            <a:avLst>
              <a:gd name="adj" fmla="val 10909"/>
            </a:avLst>
          </a:prstGeom>
          <a:solidFill>
            <a:schemeClr val="accent6"/>
          </a:solidFill>
          <a:ln/>
        </p:spPr>
        <p:txBody>
          <a:bodyPr/>
          <a:lstStyle/>
          <a:p>
            <a:endParaRPr lang="it-IT" noProof="0" dirty="0"/>
          </a:p>
        </p:txBody>
      </p:sp>
      <p:sp>
        <p:nvSpPr>
          <p:cNvPr id="23" name="Text 20"/>
          <p:cNvSpPr txBox="1"/>
          <p:nvPr/>
        </p:nvSpPr>
        <p:spPr>
          <a:xfrm>
            <a:off x="6190488" y="2423160"/>
            <a:ext cx="960120"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·lavoro</a:t>
            </a:r>
            <a:endParaRPr lang="it-IT" sz="1400" noProof="0" dirty="0"/>
          </a:p>
        </p:txBody>
      </p:sp>
      <p:sp>
        <p:nvSpPr>
          <p:cNvPr id="24" name="token 8"/>
          <p:cNvSpPr/>
          <p:nvPr/>
        </p:nvSpPr>
        <p:spPr>
          <a:xfrm>
            <a:off x="7205472" y="2423160"/>
            <a:ext cx="365760" cy="502920"/>
          </a:xfrm>
          <a:prstGeom prst="roundRect">
            <a:avLst>
              <a:gd name="adj" fmla="val 15000"/>
            </a:avLst>
          </a:prstGeom>
          <a:solidFill>
            <a:schemeClr val="accent1"/>
          </a:solidFill>
          <a:ln/>
        </p:spPr>
        <p:txBody>
          <a:bodyPr/>
          <a:lstStyle/>
          <a:p>
            <a:endParaRPr lang="it-IT" noProof="0" dirty="0"/>
          </a:p>
        </p:txBody>
      </p:sp>
      <p:sp>
        <p:nvSpPr>
          <p:cNvPr id="25" name="Text 22"/>
          <p:cNvSpPr txBox="1"/>
          <p:nvPr/>
        </p:nvSpPr>
        <p:spPr>
          <a:xfrm>
            <a:off x="7205472" y="2423160"/>
            <a:ext cx="365760"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a:t>
            </a:r>
            <a:endParaRPr lang="it-IT" sz="1400" noProof="0" dirty="0"/>
          </a:p>
        </p:txBody>
      </p:sp>
      <p:sp>
        <p:nvSpPr>
          <p:cNvPr id="26" name="Text 23"/>
          <p:cNvSpPr txBox="1"/>
          <p:nvPr/>
        </p:nvSpPr>
        <p:spPr>
          <a:xfrm>
            <a:off x="457200" y="2971800"/>
            <a:ext cx="5486400" cy="274320"/>
          </a:xfrm>
          <a:prstGeom prst="rect">
            <a:avLst/>
          </a:prstGeom>
          <a:noFill/>
          <a:ln/>
        </p:spPr>
        <p:txBody>
          <a:bodyPr wrap="square" lIns="0" tIns="0" rIns="0" bIns="0" rtlCol="0" anchor="t"/>
          <a:lstStyle/>
          <a:p>
            <a:pPr marL="0" indent="0">
              <a:buNone/>
            </a:pPr>
            <a:r>
              <a:rPr lang="it-IT" sz="1000" i="1" noProof="0" dirty="0">
                <a:solidFill>
                  <a:schemeClr val="accent2"/>
                </a:solidFill>
              </a:rPr>
              <a:t>· indica uno spazio. La suddivisione reale dipende dal modello.</a:t>
            </a:r>
            <a:endParaRPr lang="it-IT" sz="1000" noProof="0" dirty="0"/>
          </a:p>
        </p:txBody>
      </p:sp>
      <p:sp>
        <p:nvSpPr>
          <p:cNvPr id="27" name="Limiti e costi in token"/>
          <p:cNvSpPr/>
          <p:nvPr/>
        </p:nvSpPr>
        <p:spPr>
          <a:xfrm>
            <a:off x="457200" y="3429000"/>
            <a:ext cx="2615184" cy="1097280"/>
          </a:xfrm>
          <a:prstGeom prst="roundRect">
            <a:avLst>
              <a:gd name="adj" fmla="val 6667"/>
            </a:avLst>
          </a:prstGeom>
          <a:solidFill>
            <a:schemeClr val="bg2"/>
          </a:solidFill>
          <a:ln/>
        </p:spPr>
        <p:txBody>
          <a:bodyPr/>
          <a:lstStyle/>
          <a:p>
            <a:endParaRPr lang="it-IT" noProof="0" dirty="0"/>
          </a:p>
        </p:txBody>
      </p:sp>
      <p:sp>
        <p:nvSpPr>
          <p:cNvPr id="28" name="cerchio FiMaximize"/>
          <p:cNvSpPr/>
          <p:nvPr/>
        </p:nvSpPr>
        <p:spPr>
          <a:xfrm>
            <a:off x="621792" y="3721608"/>
            <a:ext cx="502920" cy="502920"/>
          </a:xfrm>
          <a:prstGeom prst="ellipse">
            <a:avLst/>
          </a:prstGeom>
          <a:solidFill>
            <a:schemeClr val="accent1"/>
          </a:solidFill>
          <a:ln/>
        </p:spPr>
        <p:txBody>
          <a:bodyPr/>
          <a:lstStyle/>
          <a:p>
            <a:endParaRPr lang="it-IT" noProof="0" dirty="0"/>
          </a:p>
        </p:txBody>
      </p:sp>
      <p:pic>
        <p:nvPicPr>
          <p:cNvPr id="29" name="Image 0" descr="FiMaximize"/>
          <p:cNvPicPr>
            <a:picLocks noChangeAspect="1"/>
          </p:cNvPicPr>
          <p:nvPr/>
        </p:nvPicPr>
        <p:blipFill>
          <a:blip r:embed="rId3"/>
          <a:stretch>
            <a:fillRect/>
          </a:stretch>
        </p:blipFill>
        <p:spPr>
          <a:xfrm>
            <a:off x="747522" y="3847338"/>
            <a:ext cx="251460" cy="251460"/>
          </a:xfrm>
          <a:prstGeom prst="rect">
            <a:avLst/>
          </a:prstGeom>
        </p:spPr>
      </p:pic>
      <p:sp>
        <p:nvSpPr>
          <p:cNvPr id="30" name="Text 26"/>
          <p:cNvSpPr txBox="1"/>
          <p:nvPr/>
        </p:nvSpPr>
        <p:spPr>
          <a:xfrm>
            <a:off x="1234440" y="3429000"/>
            <a:ext cx="1737360" cy="1097280"/>
          </a:xfrm>
          <a:prstGeom prst="rect">
            <a:avLst/>
          </a:prstGeom>
          <a:noFill/>
          <a:ln/>
        </p:spPr>
        <p:txBody>
          <a:bodyPr wrap="square" lIns="0" tIns="0" rIns="0" bIns="0" rtlCol="0" anchor="ctr"/>
          <a:lstStyle/>
          <a:p>
            <a:pPr marL="0" indent="0">
              <a:buNone/>
            </a:pPr>
            <a:r>
              <a:rPr lang="it-IT" sz="1300" b="1" noProof="0" dirty="0">
                <a:solidFill>
                  <a:schemeClr val="tx1"/>
                </a:solidFill>
              </a:rPr>
              <a:t>Limiti e costi in token</a:t>
            </a:r>
            <a:endParaRPr lang="it-IT" sz="1300" noProof="0" dirty="0"/>
          </a:p>
        </p:txBody>
      </p:sp>
      <p:sp>
        <p:nvSpPr>
          <p:cNvPr id="31" name="L'italiano usa più token dell'inglese"/>
          <p:cNvSpPr/>
          <p:nvPr/>
        </p:nvSpPr>
        <p:spPr>
          <a:xfrm>
            <a:off x="3264408" y="3429000"/>
            <a:ext cx="2615184" cy="1097280"/>
          </a:xfrm>
          <a:prstGeom prst="roundRect">
            <a:avLst>
              <a:gd name="adj" fmla="val 6667"/>
            </a:avLst>
          </a:prstGeom>
          <a:solidFill>
            <a:schemeClr val="bg2"/>
          </a:solidFill>
          <a:ln/>
        </p:spPr>
        <p:txBody>
          <a:bodyPr/>
          <a:lstStyle/>
          <a:p>
            <a:endParaRPr lang="it-IT" noProof="0" dirty="0"/>
          </a:p>
        </p:txBody>
      </p:sp>
      <p:sp>
        <p:nvSpPr>
          <p:cNvPr id="32" name="cerchio FiGlobe"/>
          <p:cNvSpPr/>
          <p:nvPr/>
        </p:nvSpPr>
        <p:spPr>
          <a:xfrm>
            <a:off x="3429000" y="3721608"/>
            <a:ext cx="502920" cy="502920"/>
          </a:xfrm>
          <a:prstGeom prst="ellipse">
            <a:avLst/>
          </a:prstGeom>
          <a:solidFill>
            <a:schemeClr val="accent1"/>
          </a:solidFill>
          <a:ln/>
        </p:spPr>
        <p:txBody>
          <a:bodyPr/>
          <a:lstStyle/>
          <a:p>
            <a:endParaRPr lang="it-IT" noProof="0" dirty="0"/>
          </a:p>
        </p:txBody>
      </p:sp>
      <p:pic>
        <p:nvPicPr>
          <p:cNvPr id="33" name="Image 1" descr="FiGlobe"/>
          <p:cNvPicPr>
            <a:picLocks noChangeAspect="1"/>
          </p:cNvPicPr>
          <p:nvPr/>
        </p:nvPicPr>
        <p:blipFill>
          <a:blip r:embed="rId4"/>
          <a:stretch>
            <a:fillRect/>
          </a:stretch>
        </p:blipFill>
        <p:spPr>
          <a:xfrm>
            <a:off x="3554730" y="3847338"/>
            <a:ext cx="251460" cy="251460"/>
          </a:xfrm>
          <a:prstGeom prst="rect">
            <a:avLst/>
          </a:prstGeom>
        </p:spPr>
      </p:pic>
      <p:sp>
        <p:nvSpPr>
          <p:cNvPr id="34" name="Text 29"/>
          <p:cNvSpPr txBox="1"/>
          <p:nvPr/>
        </p:nvSpPr>
        <p:spPr>
          <a:xfrm>
            <a:off x="4041648" y="3429000"/>
            <a:ext cx="1737360" cy="1097280"/>
          </a:xfrm>
          <a:prstGeom prst="rect">
            <a:avLst/>
          </a:prstGeom>
          <a:noFill/>
          <a:ln/>
        </p:spPr>
        <p:txBody>
          <a:bodyPr wrap="square" lIns="0" tIns="0" rIns="0" bIns="0" rtlCol="0" anchor="ctr"/>
          <a:lstStyle/>
          <a:p>
            <a:pPr marL="0" indent="0">
              <a:buNone/>
            </a:pPr>
            <a:r>
              <a:rPr lang="it-IT" sz="1300" b="1" noProof="0" dirty="0">
                <a:solidFill>
                  <a:schemeClr val="tx1"/>
                </a:solidFill>
              </a:rPr>
              <a:t>Numero di token dipende dalla lingua</a:t>
            </a:r>
            <a:endParaRPr lang="it-IT" sz="1300" noProof="0" dirty="0"/>
          </a:p>
        </p:txBody>
      </p:sp>
      <p:sp>
        <p:nvSpPr>
          <p:cNvPr id="35" name="Il modello non vede le singole lettere"/>
          <p:cNvSpPr/>
          <p:nvPr/>
        </p:nvSpPr>
        <p:spPr>
          <a:xfrm>
            <a:off x="6071616" y="3429000"/>
            <a:ext cx="2615184" cy="1097280"/>
          </a:xfrm>
          <a:prstGeom prst="roundRect">
            <a:avLst>
              <a:gd name="adj" fmla="val 6667"/>
            </a:avLst>
          </a:prstGeom>
          <a:solidFill>
            <a:schemeClr val="bg2"/>
          </a:solidFill>
          <a:ln/>
        </p:spPr>
        <p:txBody>
          <a:bodyPr/>
          <a:lstStyle/>
          <a:p>
            <a:endParaRPr lang="it-IT" noProof="0" dirty="0"/>
          </a:p>
        </p:txBody>
      </p:sp>
      <p:sp>
        <p:nvSpPr>
          <p:cNvPr id="36" name="cerchio FiType"/>
          <p:cNvSpPr/>
          <p:nvPr/>
        </p:nvSpPr>
        <p:spPr>
          <a:xfrm>
            <a:off x="6236208" y="3721608"/>
            <a:ext cx="502920" cy="502920"/>
          </a:xfrm>
          <a:prstGeom prst="ellipse">
            <a:avLst/>
          </a:prstGeom>
          <a:solidFill>
            <a:schemeClr val="accent1"/>
          </a:solidFill>
          <a:ln/>
        </p:spPr>
        <p:txBody>
          <a:bodyPr/>
          <a:lstStyle/>
          <a:p>
            <a:endParaRPr lang="it-IT" noProof="0" dirty="0"/>
          </a:p>
        </p:txBody>
      </p:sp>
      <p:pic>
        <p:nvPicPr>
          <p:cNvPr id="37" name="Image 2" descr="FiType"/>
          <p:cNvPicPr>
            <a:picLocks noChangeAspect="1"/>
          </p:cNvPicPr>
          <p:nvPr/>
        </p:nvPicPr>
        <p:blipFill>
          <a:blip r:embed="rId5"/>
          <a:stretch>
            <a:fillRect/>
          </a:stretch>
        </p:blipFill>
        <p:spPr>
          <a:xfrm>
            <a:off x="6361938" y="3847338"/>
            <a:ext cx="251460" cy="251460"/>
          </a:xfrm>
          <a:prstGeom prst="rect">
            <a:avLst/>
          </a:prstGeom>
        </p:spPr>
      </p:pic>
      <p:sp>
        <p:nvSpPr>
          <p:cNvPr id="38" name="Text 32"/>
          <p:cNvSpPr txBox="1"/>
          <p:nvPr/>
        </p:nvSpPr>
        <p:spPr>
          <a:xfrm>
            <a:off x="6848856" y="3429000"/>
            <a:ext cx="1737360" cy="1097280"/>
          </a:xfrm>
          <a:prstGeom prst="rect">
            <a:avLst/>
          </a:prstGeom>
          <a:noFill/>
          <a:ln/>
        </p:spPr>
        <p:txBody>
          <a:bodyPr wrap="square" lIns="0" tIns="0" rIns="0" bIns="0" rtlCol="0" anchor="ctr"/>
          <a:lstStyle/>
          <a:p>
            <a:pPr marL="0" indent="0">
              <a:buNone/>
            </a:pPr>
            <a:r>
              <a:rPr lang="it-IT" sz="1300" b="1" noProof="0" dirty="0">
                <a:solidFill>
                  <a:schemeClr val="tx1"/>
                </a:solidFill>
              </a:rPr>
              <a:t>Alcuni token possono rappresentare singoli caratteri.</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32</a:t>
            </a:fld>
            <a:endParaRPr lang="it-IT"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Rappresentare il significato</a:t>
            </a:r>
            <a:endParaRPr lang="it-IT" sz="2600" noProof="0" dirty="0"/>
          </a:p>
        </p:txBody>
      </p:sp>
      <p:sp>
        <p:nvSpPr>
          <p:cNvPr id="4" name="spazio semantico"/>
          <p:cNvSpPr/>
          <p:nvPr/>
        </p:nvSpPr>
        <p:spPr>
          <a:xfrm>
            <a:off x="457200" y="1097280"/>
            <a:ext cx="4937760" cy="3429000"/>
          </a:xfrm>
          <a:prstGeom prst="roundRect">
            <a:avLst>
              <a:gd name="adj" fmla="val 2133"/>
            </a:avLst>
          </a:prstGeom>
          <a:solidFill>
            <a:schemeClr val="bg2"/>
          </a:solidFill>
          <a:ln/>
        </p:spPr>
        <p:txBody>
          <a:bodyPr/>
          <a:lstStyle/>
          <a:p>
            <a:endParaRPr lang="it-IT" noProof="0" dirty="0"/>
          </a:p>
        </p:txBody>
      </p:sp>
      <p:sp>
        <p:nvSpPr>
          <p:cNvPr id="5" name="punto fattura"/>
          <p:cNvSpPr/>
          <p:nvPr/>
        </p:nvSpPr>
        <p:spPr>
          <a:xfrm>
            <a:off x="914400" y="1554480"/>
            <a:ext cx="164592" cy="164592"/>
          </a:xfrm>
          <a:prstGeom prst="ellipse">
            <a:avLst/>
          </a:prstGeom>
          <a:solidFill>
            <a:schemeClr val="accent1"/>
          </a:solidFill>
          <a:ln/>
        </p:spPr>
        <p:txBody>
          <a:bodyPr/>
          <a:lstStyle/>
          <a:p>
            <a:endParaRPr lang="it-IT" noProof="0" dirty="0"/>
          </a:p>
        </p:txBody>
      </p:sp>
      <p:sp>
        <p:nvSpPr>
          <p:cNvPr id="6" name="Text 3"/>
          <p:cNvSpPr txBox="1"/>
          <p:nvPr/>
        </p:nvSpPr>
        <p:spPr>
          <a:xfrm>
            <a:off x="1133856" y="149047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fattura</a:t>
            </a:r>
            <a:endParaRPr lang="it-IT" sz="1300" noProof="0" dirty="0"/>
          </a:p>
        </p:txBody>
      </p:sp>
      <p:sp>
        <p:nvSpPr>
          <p:cNvPr id="7" name="punto preventivo"/>
          <p:cNvSpPr/>
          <p:nvPr/>
        </p:nvSpPr>
        <p:spPr>
          <a:xfrm>
            <a:off x="1463040" y="1965960"/>
            <a:ext cx="164592" cy="164592"/>
          </a:xfrm>
          <a:prstGeom prst="ellipse">
            <a:avLst/>
          </a:prstGeom>
          <a:solidFill>
            <a:schemeClr val="accent1"/>
          </a:solidFill>
          <a:ln/>
        </p:spPr>
        <p:txBody>
          <a:bodyPr/>
          <a:lstStyle/>
          <a:p>
            <a:endParaRPr lang="it-IT" noProof="0" dirty="0"/>
          </a:p>
        </p:txBody>
      </p:sp>
      <p:sp>
        <p:nvSpPr>
          <p:cNvPr id="8" name="Text 5"/>
          <p:cNvSpPr txBox="1"/>
          <p:nvPr/>
        </p:nvSpPr>
        <p:spPr>
          <a:xfrm>
            <a:off x="1682496" y="190195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preventivo</a:t>
            </a:r>
            <a:endParaRPr lang="it-IT" sz="1300" noProof="0" dirty="0"/>
          </a:p>
        </p:txBody>
      </p:sp>
      <p:sp>
        <p:nvSpPr>
          <p:cNvPr id="9" name="punto ordine"/>
          <p:cNvSpPr/>
          <p:nvPr/>
        </p:nvSpPr>
        <p:spPr>
          <a:xfrm>
            <a:off x="777240" y="2240280"/>
            <a:ext cx="164592" cy="164592"/>
          </a:xfrm>
          <a:prstGeom prst="ellipse">
            <a:avLst/>
          </a:prstGeom>
          <a:solidFill>
            <a:schemeClr val="accent1"/>
          </a:solidFill>
          <a:ln/>
        </p:spPr>
        <p:txBody>
          <a:bodyPr/>
          <a:lstStyle/>
          <a:p>
            <a:endParaRPr lang="it-IT" noProof="0" dirty="0"/>
          </a:p>
        </p:txBody>
      </p:sp>
      <p:sp>
        <p:nvSpPr>
          <p:cNvPr id="10" name="Text 7"/>
          <p:cNvSpPr txBox="1"/>
          <p:nvPr/>
        </p:nvSpPr>
        <p:spPr>
          <a:xfrm>
            <a:off x="996696" y="217627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ordine</a:t>
            </a:r>
            <a:endParaRPr lang="it-IT" sz="1300" noProof="0" dirty="0"/>
          </a:p>
        </p:txBody>
      </p:sp>
      <p:sp>
        <p:nvSpPr>
          <p:cNvPr id="11" name="punto cane"/>
          <p:cNvSpPr/>
          <p:nvPr/>
        </p:nvSpPr>
        <p:spPr>
          <a:xfrm>
            <a:off x="3474720" y="1508760"/>
            <a:ext cx="164592" cy="164592"/>
          </a:xfrm>
          <a:prstGeom prst="ellipse">
            <a:avLst/>
          </a:prstGeom>
          <a:solidFill>
            <a:schemeClr val="accent5"/>
          </a:solidFill>
          <a:ln/>
        </p:spPr>
        <p:txBody>
          <a:bodyPr/>
          <a:lstStyle/>
          <a:p>
            <a:endParaRPr lang="it-IT" noProof="0" dirty="0"/>
          </a:p>
        </p:txBody>
      </p:sp>
      <p:sp>
        <p:nvSpPr>
          <p:cNvPr id="12" name="Text 9"/>
          <p:cNvSpPr txBox="1"/>
          <p:nvPr/>
        </p:nvSpPr>
        <p:spPr>
          <a:xfrm>
            <a:off x="3694176" y="144475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cane</a:t>
            </a:r>
            <a:endParaRPr lang="it-IT" sz="1300" noProof="0" dirty="0"/>
          </a:p>
        </p:txBody>
      </p:sp>
      <p:sp>
        <p:nvSpPr>
          <p:cNvPr id="13" name="punto gatto"/>
          <p:cNvSpPr/>
          <p:nvPr/>
        </p:nvSpPr>
        <p:spPr>
          <a:xfrm>
            <a:off x="4069080" y="1783080"/>
            <a:ext cx="164592" cy="164592"/>
          </a:xfrm>
          <a:prstGeom prst="ellipse">
            <a:avLst/>
          </a:prstGeom>
          <a:solidFill>
            <a:schemeClr val="accent5"/>
          </a:solidFill>
          <a:ln/>
        </p:spPr>
        <p:txBody>
          <a:bodyPr/>
          <a:lstStyle/>
          <a:p>
            <a:endParaRPr lang="it-IT" noProof="0" dirty="0"/>
          </a:p>
        </p:txBody>
      </p:sp>
      <p:sp>
        <p:nvSpPr>
          <p:cNvPr id="14" name="Text 11"/>
          <p:cNvSpPr txBox="1"/>
          <p:nvPr/>
        </p:nvSpPr>
        <p:spPr>
          <a:xfrm>
            <a:off x="4288536" y="171907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gatto</a:t>
            </a:r>
            <a:endParaRPr lang="it-IT" sz="1300" noProof="0" dirty="0"/>
          </a:p>
        </p:txBody>
      </p:sp>
      <p:sp>
        <p:nvSpPr>
          <p:cNvPr id="15" name="punto criceto"/>
          <p:cNvSpPr/>
          <p:nvPr/>
        </p:nvSpPr>
        <p:spPr>
          <a:xfrm>
            <a:off x="3611880" y="2194560"/>
            <a:ext cx="164592" cy="164592"/>
          </a:xfrm>
          <a:prstGeom prst="ellipse">
            <a:avLst/>
          </a:prstGeom>
          <a:solidFill>
            <a:schemeClr val="accent5"/>
          </a:solidFill>
          <a:ln/>
        </p:spPr>
        <p:txBody>
          <a:bodyPr/>
          <a:lstStyle/>
          <a:p>
            <a:endParaRPr lang="it-IT" noProof="0" dirty="0"/>
          </a:p>
        </p:txBody>
      </p:sp>
      <p:sp>
        <p:nvSpPr>
          <p:cNvPr id="16" name="Text 13"/>
          <p:cNvSpPr txBox="1"/>
          <p:nvPr/>
        </p:nvSpPr>
        <p:spPr>
          <a:xfrm>
            <a:off x="3831336" y="213055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criceto</a:t>
            </a:r>
            <a:endParaRPr lang="it-IT" sz="1300" noProof="0" dirty="0"/>
          </a:p>
        </p:txBody>
      </p:sp>
      <p:sp>
        <p:nvSpPr>
          <p:cNvPr id="17" name="punto Roma"/>
          <p:cNvSpPr/>
          <p:nvPr/>
        </p:nvSpPr>
        <p:spPr>
          <a:xfrm>
            <a:off x="2103120" y="3291840"/>
            <a:ext cx="164592" cy="164592"/>
          </a:xfrm>
          <a:prstGeom prst="ellipse">
            <a:avLst/>
          </a:prstGeom>
          <a:solidFill>
            <a:schemeClr val="tx2"/>
          </a:solidFill>
          <a:ln/>
        </p:spPr>
        <p:txBody>
          <a:bodyPr/>
          <a:lstStyle/>
          <a:p>
            <a:endParaRPr lang="it-IT" noProof="0" dirty="0"/>
          </a:p>
        </p:txBody>
      </p:sp>
      <p:sp>
        <p:nvSpPr>
          <p:cNvPr id="18" name="Text 15"/>
          <p:cNvSpPr txBox="1"/>
          <p:nvPr/>
        </p:nvSpPr>
        <p:spPr>
          <a:xfrm>
            <a:off x="2322576" y="322783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Roma</a:t>
            </a:r>
            <a:endParaRPr lang="it-IT" sz="1300" noProof="0" dirty="0"/>
          </a:p>
        </p:txBody>
      </p:sp>
      <p:sp>
        <p:nvSpPr>
          <p:cNvPr id="19" name="punto Milano"/>
          <p:cNvSpPr/>
          <p:nvPr/>
        </p:nvSpPr>
        <p:spPr>
          <a:xfrm>
            <a:off x="2788920" y="3611880"/>
            <a:ext cx="164592" cy="164592"/>
          </a:xfrm>
          <a:prstGeom prst="ellipse">
            <a:avLst/>
          </a:prstGeom>
          <a:solidFill>
            <a:schemeClr val="tx2"/>
          </a:solidFill>
          <a:ln/>
        </p:spPr>
        <p:txBody>
          <a:bodyPr/>
          <a:lstStyle/>
          <a:p>
            <a:endParaRPr lang="it-IT" noProof="0" dirty="0"/>
          </a:p>
        </p:txBody>
      </p:sp>
      <p:sp>
        <p:nvSpPr>
          <p:cNvPr id="20" name="Text 17"/>
          <p:cNvSpPr txBox="1"/>
          <p:nvPr/>
        </p:nvSpPr>
        <p:spPr>
          <a:xfrm>
            <a:off x="3008376" y="354787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Milano</a:t>
            </a:r>
            <a:endParaRPr lang="it-IT" sz="1300" noProof="0" dirty="0"/>
          </a:p>
        </p:txBody>
      </p:sp>
      <p:sp>
        <p:nvSpPr>
          <p:cNvPr id="21" name="punto Napoli"/>
          <p:cNvSpPr/>
          <p:nvPr/>
        </p:nvSpPr>
        <p:spPr>
          <a:xfrm>
            <a:off x="2011680" y="3886200"/>
            <a:ext cx="164592" cy="164592"/>
          </a:xfrm>
          <a:prstGeom prst="ellipse">
            <a:avLst/>
          </a:prstGeom>
          <a:solidFill>
            <a:schemeClr val="tx2"/>
          </a:solidFill>
          <a:ln/>
        </p:spPr>
        <p:txBody>
          <a:bodyPr/>
          <a:lstStyle/>
          <a:p>
            <a:endParaRPr lang="it-IT" noProof="0" dirty="0"/>
          </a:p>
        </p:txBody>
      </p:sp>
      <p:sp>
        <p:nvSpPr>
          <p:cNvPr id="22" name="Text 19"/>
          <p:cNvSpPr txBox="1"/>
          <p:nvPr/>
        </p:nvSpPr>
        <p:spPr>
          <a:xfrm>
            <a:off x="2231136" y="382219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Napoli</a:t>
            </a:r>
            <a:endParaRPr lang="it-IT" sz="1300" noProof="0" dirty="0"/>
          </a:p>
        </p:txBody>
      </p:sp>
      <p:sp>
        <p:nvSpPr>
          <p:cNvPr id="23" name="Text 20"/>
          <p:cNvSpPr txBox="1"/>
          <p:nvPr/>
        </p:nvSpPr>
        <p:spPr>
          <a:xfrm>
            <a:off x="640080" y="4206240"/>
            <a:ext cx="4572000" cy="274320"/>
          </a:xfrm>
          <a:prstGeom prst="rect">
            <a:avLst/>
          </a:prstGeom>
          <a:noFill/>
          <a:ln/>
        </p:spPr>
        <p:txBody>
          <a:bodyPr wrap="square" lIns="0" tIns="0" rIns="0" bIns="0" rtlCol="0" anchor="t"/>
          <a:lstStyle/>
          <a:p>
            <a:pPr marL="0" indent="0">
              <a:buNone/>
            </a:pPr>
            <a:r>
              <a:rPr lang="it-IT" sz="1000" i="1" noProof="0" dirty="0">
                <a:solidFill>
                  <a:schemeClr val="accent2"/>
                </a:solidFill>
              </a:rPr>
              <a:t>Rappresentazione illustrativa in due dimensioni</a:t>
            </a:r>
            <a:endParaRPr lang="it-IT" sz="1000" noProof="0" dirty="0"/>
          </a:p>
        </p:txBody>
      </p:sp>
      <p:sp>
        <p:nvSpPr>
          <p:cNvPr id="24" name="cerchio FiTarget"/>
          <p:cNvSpPr/>
          <p:nvPr/>
        </p:nvSpPr>
        <p:spPr>
          <a:xfrm>
            <a:off x="5669280" y="1143000"/>
            <a:ext cx="457200" cy="457200"/>
          </a:xfrm>
          <a:prstGeom prst="ellipse">
            <a:avLst/>
          </a:prstGeom>
          <a:solidFill>
            <a:schemeClr val="accent1"/>
          </a:solidFill>
          <a:ln/>
        </p:spPr>
        <p:txBody>
          <a:bodyPr/>
          <a:lstStyle/>
          <a:p>
            <a:endParaRPr lang="it-IT" noProof="0" dirty="0"/>
          </a:p>
        </p:txBody>
      </p:sp>
      <p:pic>
        <p:nvPicPr>
          <p:cNvPr id="25" name="Image 0" descr="FiTarget"/>
          <p:cNvPicPr>
            <a:picLocks noChangeAspect="1"/>
          </p:cNvPicPr>
          <p:nvPr/>
        </p:nvPicPr>
        <p:blipFill>
          <a:blip r:embed="rId3"/>
          <a:stretch>
            <a:fillRect/>
          </a:stretch>
        </p:blipFill>
        <p:spPr>
          <a:xfrm>
            <a:off x="5783580" y="1257300"/>
            <a:ext cx="228600" cy="228600"/>
          </a:xfrm>
          <a:prstGeom prst="rect">
            <a:avLst/>
          </a:prstGeom>
        </p:spPr>
      </p:pic>
      <p:sp>
        <p:nvSpPr>
          <p:cNvPr id="26" name="Text 22"/>
          <p:cNvSpPr txBox="1"/>
          <p:nvPr/>
        </p:nvSpPr>
        <p:spPr>
          <a:xfrm>
            <a:off x="6263640" y="1115568"/>
            <a:ext cx="2423160" cy="502920"/>
          </a:xfrm>
          <a:prstGeom prst="rect">
            <a:avLst/>
          </a:prstGeom>
          <a:noFill/>
          <a:ln/>
        </p:spPr>
        <p:txBody>
          <a:bodyPr wrap="square" lIns="0" tIns="0" rIns="0" bIns="0" rtlCol="0" anchor="t"/>
          <a:lstStyle/>
          <a:p>
            <a:pPr marL="0" indent="0">
              <a:buNone/>
            </a:pPr>
            <a:r>
              <a:rPr lang="it-IT" sz="1300" b="1" noProof="0" dirty="0">
                <a:solidFill>
                  <a:schemeClr val="tx1"/>
                </a:solidFill>
              </a:rPr>
              <a:t>Significati simili, posizioni vicine</a:t>
            </a:r>
            <a:endParaRPr lang="it-IT" sz="1300" noProof="0" dirty="0"/>
          </a:p>
        </p:txBody>
      </p:sp>
      <p:sp>
        <p:nvSpPr>
          <p:cNvPr id="27" name="Text 23"/>
          <p:cNvSpPr txBox="1"/>
          <p:nvPr/>
        </p:nvSpPr>
        <p:spPr>
          <a:xfrm>
            <a:off x="6263640" y="1600200"/>
            <a:ext cx="2423160" cy="548640"/>
          </a:xfrm>
          <a:prstGeom prst="rect">
            <a:avLst/>
          </a:prstGeom>
          <a:noFill/>
          <a:ln/>
        </p:spPr>
        <p:txBody>
          <a:bodyPr wrap="square" lIns="0" tIns="0" rIns="0" bIns="0" rtlCol="0" anchor="t"/>
          <a:lstStyle/>
          <a:p>
            <a:pPr marL="0" indent="0">
              <a:buNone/>
            </a:pPr>
            <a:r>
              <a:rPr lang="it-IT" sz="1100" noProof="0" dirty="0">
                <a:solidFill>
                  <a:schemeClr val="tx2"/>
                </a:solidFill>
              </a:rPr>
              <a:t>Ogni token diventa una lista di numeri: una posizione in uno spazio</a:t>
            </a:r>
            <a:endParaRPr lang="it-IT" sz="1100" noProof="0" dirty="0"/>
          </a:p>
        </p:txBody>
      </p:sp>
      <p:sp>
        <p:nvSpPr>
          <p:cNvPr id="28" name="cerchio FiTrendingUp"/>
          <p:cNvSpPr/>
          <p:nvPr/>
        </p:nvSpPr>
        <p:spPr>
          <a:xfrm>
            <a:off x="5669280" y="2258568"/>
            <a:ext cx="457200" cy="457200"/>
          </a:xfrm>
          <a:prstGeom prst="ellipse">
            <a:avLst/>
          </a:prstGeom>
          <a:solidFill>
            <a:schemeClr val="accent1"/>
          </a:solidFill>
          <a:ln/>
        </p:spPr>
        <p:txBody>
          <a:bodyPr/>
          <a:lstStyle/>
          <a:p>
            <a:endParaRPr lang="it-IT" noProof="0" dirty="0"/>
          </a:p>
        </p:txBody>
      </p:sp>
      <p:pic>
        <p:nvPicPr>
          <p:cNvPr id="29" name="Image 1" descr="FiTrendingUp"/>
          <p:cNvPicPr>
            <a:picLocks noChangeAspect="1"/>
          </p:cNvPicPr>
          <p:nvPr/>
        </p:nvPicPr>
        <p:blipFill>
          <a:blip r:embed="rId4"/>
          <a:stretch>
            <a:fillRect/>
          </a:stretch>
        </p:blipFill>
        <p:spPr>
          <a:xfrm>
            <a:off x="5783580" y="2372868"/>
            <a:ext cx="228600" cy="228600"/>
          </a:xfrm>
          <a:prstGeom prst="rect">
            <a:avLst/>
          </a:prstGeom>
        </p:spPr>
      </p:pic>
      <p:sp>
        <p:nvSpPr>
          <p:cNvPr id="30" name="Text 25"/>
          <p:cNvSpPr txBox="1"/>
          <p:nvPr/>
        </p:nvSpPr>
        <p:spPr>
          <a:xfrm>
            <a:off x="6263640" y="2231136"/>
            <a:ext cx="2423160" cy="502920"/>
          </a:xfrm>
          <a:prstGeom prst="rect">
            <a:avLst/>
          </a:prstGeom>
          <a:noFill/>
          <a:ln/>
        </p:spPr>
        <p:txBody>
          <a:bodyPr wrap="square" lIns="0" tIns="0" rIns="0" bIns="0" rtlCol="0" anchor="t"/>
          <a:lstStyle/>
          <a:p>
            <a:pPr marL="0" indent="0">
              <a:buNone/>
            </a:pPr>
            <a:r>
              <a:rPr lang="it-IT" sz="1300" b="1" noProof="0" dirty="0">
                <a:solidFill>
                  <a:schemeClr val="tx1"/>
                </a:solidFill>
              </a:rPr>
              <a:t>Emergono dall'addestramento</a:t>
            </a:r>
            <a:endParaRPr lang="it-IT" sz="1300" noProof="0" dirty="0"/>
          </a:p>
        </p:txBody>
      </p:sp>
      <p:sp>
        <p:nvSpPr>
          <p:cNvPr id="31" name="Text 26"/>
          <p:cNvSpPr txBox="1"/>
          <p:nvPr/>
        </p:nvSpPr>
        <p:spPr>
          <a:xfrm>
            <a:off x="6263640" y="2715768"/>
            <a:ext cx="2423160" cy="548640"/>
          </a:xfrm>
          <a:prstGeom prst="rect">
            <a:avLst/>
          </a:prstGeom>
          <a:noFill/>
          <a:ln/>
        </p:spPr>
        <p:txBody>
          <a:bodyPr wrap="square" lIns="0" tIns="0" rIns="0" bIns="0" rtlCol="0" anchor="t"/>
          <a:lstStyle/>
          <a:p>
            <a:pPr marL="0" indent="0">
              <a:buNone/>
            </a:pPr>
            <a:r>
              <a:rPr lang="it-IT" sz="1100" noProof="0" dirty="0">
                <a:solidFill>
                  <a:schemeClr val="tx2"/>
                </a:solidFill>
              </a:rPr>
              <a:t>Parole usate in contesti simili hanno rappresentazioni simili</a:t>
            </a:r>
            <a:endParaRPr lang="it-IT" sz="1100" noProof="0" dirty="0"/>
          </a:p>
        </p:txBody>
      </p:sp>
      <p:sp>
        <p:nvSpPr>
          <p:cNvPr id="32" name="cerchio FiLink"/>
          <p:cNvSpPr/>
          <p:nvPr/>
        </p:nvSpPr>
        <p:spPr>
          <a:xfrm>
            <a:off x="5669280" y="3374136"/>
            <a:ext cx="457200" cy="457200"/>
          </a:xfrm>
          <a:prstGeom prst="ellipse">
            <a:avLst/>
          </a:prstGeom>
          <a:solidFill>
            <a:schemeClr val="accent1"/>
          </a:solidFill>
          <a:ln/>
        </p:spPr>
        <p:txBody>
          <a:bodyPr/>
          <a:lstStyle/>
          <a:p>
            <a:endParaRPr lang="it-IT" noProof="0" dirty="0"/>
          </a:p>
        </p:txBody>
      </p:sp>
      <p:pic>
        <p:nvPicPr>
          <p:cNvPr id="33" name="Image 2" descr="FiLink"/>
          <p:cNvPicPr>
            <a:picLocks noChangeAspect="1"/>
          </p:cNvPicPr>
          <p:nvPr/>
        </p:nvPicPr>
        <p:blipFill>
          <a:blip r:embed="rId5"/>
          <a:stretch>
            <a:fillRect/>
          </a:stretch>
        </p:blipFill>
        <p:spPr>
          <a:xfrm>
            <a:off x="5783580" y="3488436"/>
            <a:ext cx="228600" cy="228600"/>
          </a:xfrm>
          <a:prstGeom prst="rect">
            <a:avLst/>
          </a:prstGeom>
        </p:spPr>
      </p:pic>
      <p:sp>
        <p:nvSpPr>
          <p:cNvPr id="34" name="Text 28"/>
          <p:cNvSpPr txBox="1"/>
          <p:nvPr/>
        </p:nvSpPr>
        <p:spPr>
          <a:xfrm>
            <a:off x="6263640" y="3346704"/>
            <a:ext cx="2423160" cy="502920"/>
          </a:xfrm>
          <a:prstGeom prst="rect">
            <a:avLst/>
          </a:prstGeom>
          <a:noFill/>
          <a:ln/>
        </p:spPr>
        <p:txBody>
          <a:bodyPr wrap="square" lIns="0" tIns="0" rIns="0" bIns="0" rtlCol="0" anchor="t"/>
          <a:lstStyle/>
          <a:p>
            <a:pPr marL="0" indent="0">
              <a:buNone/>
            </a:pPr>
            <a:r>
              <a:rPr lang="it-IT" sz="1300" b="1" noProof="0" dirty="0">
                <a:solidFill>
                  <a:schemeClr val="tx1"/>
                </a:solidFill>
              </a:rPr>
              <a:t>Arricchite dal contesto</a:t>
            </a:r>
            <a:endParaRPr lang="it-IT" sz="1300" noProof="0" dirty="0"/>
          </a:p>
        </p:txBody>
      </p:sp>
      <p:sp>
        <p:nvSpPr>
          <p:cNvPr id="35" name="Text 29"/>
          <p:cNvSpPr txBox="1"/>
          <p:nvPr/>
        </p:nvSpPr>
        <p:spPr>
          <a:xfrm>
            <a:off x="6263640" y="3831336"/>
            <a:ext cx="2423160" cy="548640"/>
          </a:xfrm>
          <a:prstGeom prst="rect">
            <a:avLst/>
          </a:prstGeom>
          <a:noFill/>
          <a:ln/>
        </p:spPr>
        <p:txBody>
          <a:bodyPr wrap="square" lIns="0" tIns="0" rIns="0" bIns="0" rtlCol="0" anchor="t"/>
          <a:lstStyle/>
          <a:p>
            <a:pPr marL="0" indent="0">
              <a:buNone/>
            </a:pPr>
            <a:r>
              <a:rPr lang="it-IT" sz="1100" noProof="0" dirty="0">
                <a:solidFill>
                  <a:schemeClr val="tx2"/>
                </a:solidFill>
              </a:rPr>
              <a:t>Il significato di ogni token si precisa in base alla frase</a:t>
            </a:r>
            <a:endParaRPr lang="it-IT" sz="11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33</a:t>
            </a:fld>
            <a:endParaRPr lang="it-IT"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Transformer e il meccanismo di attenzione</a:t>
            </a:r>
            <a:endParaRPr lang="it-IT" sz="2600" noProof="0" dirty="0"/>
          </a:p>
        </p:txBody>
      </p:sp>
      <p:sp>
        <p:nvSpPr>
          <p:cNvPr id="4" name="blocco Ho"/>
          <p:cNvSpPr/>
          <p:nvPr/>
        </p:nvSpPr>
        <p:spPr>
          <a:xfrm>
            <a:off x="457200" y="1645920"/>
            <a:ext cx="512064" cy="502920"/>
          </a:xfrm>
          <a:prstGeom prst="roundRect">
            <a:avLst>
              <a:gd name="adj" fmla="val 21818"/>
            </a:avLst>
          </a:prstGeom>
          <a:solidFill>
            <a:schemeClr val="bg2"/>
          </a:solidFill>
          <a:ln/>
        </p:spPr>
        <p:txBody>
          <a:bodyPr/>
          <a:lstStyle/>
          <a:p>
            <a:endParaRPr lang="it-IT" noProof="0" dirty="0"/>
          </a:p>
        </p:txBody>
      </p:sp>
      <p:sp>
        <p:nvSpPr>
          <p:cNvPr id="5" name="Text 2"/>
          <p:cNvSpPr txBox="1"/>
          <p:nvPr/>
        </p:nvSpPr>
        <p:spPr>
          <a:xfrm>
            <a:off x="502920" y="1645920"/>
            <a:ext cx="420624" cy="502920"/>
          </a:xfrm>
          <a:prstGeom prst="rect">
            <a:avLst/>
          </a:prstGeom>
          <a:noFill/>
          <a:ln/>
        </p:spPr>
        <p:txBody>
          <a:bodyPr wrap="square" lIns="0" tIns="0" rIns="0" bIns="0" rtlCol="0" anchor="ctr"/>
          <a:lstStyle/>
          <a:p>
            <a:pPr marL="0" indent="0" algn="ctr">
              <a:buNone/>
            </a:pPr>
            <a:r>
              <a:rPr lang="it-IT" sz="1400" noProof="0" dirty="0">
                <a:solidFill>
                  <a:schemeClr val="tx1"/>
                </a:solidFill>
              </a:rPr>
              <a:t>Ho</a:t>
            </a:r>
            <a:endParaRPr lang="it-IT" sz="1400" noProof="0" dirty="0"/>
          </a:p>
        </p:txBody>
      </p:sp>
      <p:sp>
        <p:nvSpPr>
          <p:cNvPr id="6" name="blocco mangiato"/>
          <p:cNvSpPr/>
          <p:nvPr/>
        </p:nvSpPr>
        <p:spPr>
          <a:xfrm>
            <a:off x="1060704" y="1645920"/>
            <a:ext cx="1170432" cy="502920"/>
          </a:xfrm>
          <a:prstGeom prst="roundRect">
            <a:avLst>
              <a:gd name="adj" fmla="val 21818"/>
            </a:avLst>
          </a:prstGeom>
          <a:solidFill>
            <a:schemeClr val="accent6"/>
          </a:solidFill>
          <a:ln w="12700">
            <a:solidFill>
              <a:schemeClr val="accent1"/>
            </a:solidFill>
            <a:prstDash val="solid"/>
          </a:ln>
        </p:spPr>
        <p:txBody>
          <a:bodyPr/>
          <a:lstStyle/>
          <a:p>
            <a:endParaRPr lang="it-IT" noProof="0" dirty="0"/>
          </a:p>
        </p:txBody>
      </p:sp>
      <p:sp>
        <p:nvSpPr>
          <p:cNvPr id="7" name="Text 4"/>
          <p:cNvSpPr txBox="1"/>
          <p:nvPr/>
        </p:nvSpPr>
        <p:spPr>
          <a:xfrm>
            <a:off x="1106424" y="1645920"/>
            <a:ext cx="1078992"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mangiato</a:t>
            </a:r>
            <a:endParaRPr lang="it-IT" sz="1400" noProof="0" dirty="0"/>
          </a:p>
        </p:txBody>
      </p:sp>
      <p:sp>
        <p:nvSpPr>
          <p:cNvPr id="8" name="blocco una"/>
          <p:cNvSpPr/>
          <p:nvPr/>
        </p:nvSpPr>
        <p:spPr>
          <a:xfrm>
            <a:off x="2322576" y="1645920"/>
            <a:ext cx="621792" cy="502920"/>
          </a:xfrm>
          <a:prstGeom prst="roundRect">
            <a:avLst>
              <a:gd name="adj" fmla="val 21818"/>
            </a:avLst>
          </a:prstGeom>
          <a:solidFill>
            <a:schemeClr val="bg2"/>
          </a:solidFill>
          <a:ln/>
        </p:spPr>
        <p:txBody>
          <a:bodyPr/>
          <a:lstStyle/>
          <a:p>
            <a:endParaRPr lang="it-IT" noProof="0" dirty="0"/>
          </a:p>
        </p:txBody>
      </p:sp>
      <p:sp>
        <p:nvSpPr>
          <p:cNvPr id="9" name="Text 6"/>
          <p:cNvSpPr txBox="1"/>
          <p:nvPr/>
        </p:nvSpPr>
        <p:spPr>
          <a:xfrm>
            <a:off x="2368296" y="1645920"/>
            <a:ext cx="530352" cy="502920"/>
          </a:xfrm>
          <a:prstGeom prst="rect">
            <a:avLst/>
          </a:prstGeom>
          <a:noFill/>
          <a:ln/>
        </p:spPr>
        <p:txBody>
          <a:bodyPr wrap="square" lIns="0" tIns="0" rIns="0" bIns="0" rtlCol="0" anchor="ctr"/>
          <a:lstStyle/>
          <a:p>
            <a:pPr marL="0" indent="0" algn="ctr">
              <a:buNone/>
            </a:pPr>
            <a:r>
              <a:rPr lang="it-IT" sz="1400" noProof="0" dirty="0">
                <a:solidFill>
                  <a:schemeClr val="tx1"/>
                </a:solidFill>
              </a:rPr>
              <a:t>una</a:t>
            </a:r>
            <a:endParaRPr lang="it-IT" sz="1400" noProof="0" dirty="0"/>
          </a:p>
        </p:txBody>
      </p:sp>
      <p:sp>
        <p:nvSpPr>
          <p:cNvPr id="10" name="blocco pesca"/>
          <p:cNvSpPr/>
          <p:nvPr/>
        </p:nvSpPr>
        <p:spPr>
          <a:xfrm>
            <a:off x="3035808" y="1645920"/>
            <a:ext cx="841248" cy="502920"/>
          </a:xfrm>
          <a:prstGeom prst="roundRect">
            <a:avLst>
              <a:gd name="adj" fmla="val 21818"/>
            </a:avLst>
          </a:prstGeom>
          <a:solidFill>
            <a:schemeClr val="accent1"/>
          </a:solidFill>
          <a:ln/>
        </p:spPr>
        <p:txBody>
          <a:bodyPr/>
          <a:lstStyle/>
          <a:p>
            <a:endParaRPr lang="it-IT" noProof="0" dirty="0"/>
          </a:p>
        </p:txBody>
      </p:sp>
      <p:sp>
        <p:nvSpPr>
          <p:cNvPr id="11" name="Text 8"/>
          <p:cNvSpPr txBox="1"/>
          <p:nvPr/>
        </p:nvSpPr>
        <p:spPr>
          <a:xfrm>
            <a:off x="3081528" y="1645920"/>
            <a:ext cx="749808"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pesca</a:t>
            </a:r>
            <a:endParaRPr lang="it-IT" sz="1400" noProof="0" dirty="0"/>
          </a:p>
        </p:txBody>
      </p:sp>
      <p:sp>
        <p:nvSpPr>
          <p:cNvPr id="12" name="blocco matura"/>
          <p:cNvSpPr/>
          <p:nvPr/>
        </p:nvSpPr>
        <p:spPr>
          <a:xfrm>
            <a:off x="3968496" y="1645920"/>
            <a:ext cx="950976" cy="502920"/>
          </a:xfrm>
          <a:prstGeom prst="roundRect">
            <a:avLst>
              <a:gd name="adj" fmla="val 21818"/>
            </a:avLst>
          </a:prstGeom>
          <a:solidFill>
            <a:schemeClr val="accent6"/>
          </a:solidFill>
          <a:ln w="12700">
            <a:solidFill>
              <a:schemeClr val="accent1"/>
            </a:solidFill>
            <a:prstDash val="solid"/>
          </a:ln>
        </p:spPr>
        <p:txBody>
          <a:bodyPr/>
          <a:lstStyle/>
          <a:p>
            <a:endParaRPr lang="it-IT" noProof="0" dirty="0"/>
          </a:p>
        </p:txBody>
      </p:sp>
      <p:sp>
        <p:nvSpPr>
          <p:cNvPr id="13" name="Text 10"/>
          <p:cNvSpPr txBox="1"/>
          <p:nvPr/>
        </p:nvSpPr>
        <p:spPr>
          <a:xfrm>
            <a:off x="4014216" y="1645920"/>
            <a:ext cx="859536"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matura</a:t>
            </a:r>
            <a:endParaRPr lang="it-IT" sz="1400" noProof="0" dirty="0"/>
          </a:p>
        </p:txBody>
      </p:sp>
      <p:sp>
        <p:nvSpPr>
          <p:cNvPr id="14" name="attenzione"/>
          <p:cNvSpPr/>
          <p:nvPr/>
        </p:nvSpPr>
        <p:spPr>
          <a:xfrm>
            <a:off x="1645920" y="1280160"/>
            <a:ext cx="1810512" cy="731520"/>
          </a:xfrm>
          <a:prstGeom prst="arc">
            <a:avLst>
              <a:gd name="adj1" fmla="val 10800000"/>
              <a:gd name="adj2" fmla="val 0"/>
            </a:avLst>
          </a:prstGeom>
          <a:ln w="19050">
            <a:solidFill>
              <a:schemeClr val="accent1"/>
            </a:solidFill>
            <a:prstDash val="solid"/>
          </a:ln>
        </p:spPr>
        <p:txBody>
          <a:bodyPr/>
          <a:lstStyle/>
          <a:p>
            <a:endParaRPr lang="it-IT" noProof="0" dirty="0"/>
          </a:p>
        </p:txBody>
      </p:sp>
      <p:sp>
        <p:nvSpPr>
          <p:cNvPr id="15" name="attenzione"/>
          <p:cNvSpPr/>
          <p:nvPr/>
        </p:nvSpPr>
        <p:spPr>
          <a:xfrm>
            <a:off x="3456432" y="1280160"/>
            <a:ext cx="987552" cy="731520"/>
          </a:xfrm>
          <a:prstGeom prst="arc">
            <a:avLst>
              <a:gd name="adj1" fmla="val 10800000"/>
              <a:gd name="adj2" fmla="val 0"/>
            </a:avLst>
          </a:prstGeom>
          <a:ln w="19050">
            <a:solidFill>
              <a:schemeClr val="accent1"/>
            </a:solidFill>
            <a:prstDash val="solid"/>
          </a:ln>
        </p:spPr>
        <p:txBody>
          <a:bodyPr/>
          <a:lstStyle/>
          <a:p>
            <a:endParaRPr lang="it-IT" noProof="0" dirty="0"/>
          </a:p>
        </p:txBody>
      </p:sp>
      <p:sp>
        <p:nvSpPr>
          <p:cNvPr id="16" name="Text 13"/>
          <p:cNvSpPr txBox="1"/>
          <p:nvPr/>
        </p:nvSpPr>
        <p:spPr>
          <a:xfrm>
            <a:off x="6126480" y="1645920"/>
            <a:ext cx="2926080" cy="502920"/>
          </a:xfrm>
          <a:prstGeom prst="rect">
            <a:avLst/>
          </a:prstGeom>
          <a:noFill/>
          <a:ln/>
        </p:spPr>
        <p:txBody>
          <a:bodyPr wrap="square" lIns="0" tIns="0" rIns="0" bIns="0" rtlCol="0" anchor="ctr"/>
          <a:lstStyle/>
          <a:p>
            <a:pPr marL="0" indent="0">
              <a:buNone/>
            </a:pPr>
            <a:r>
              <a:rPr lang="it-IT" sz="1500" b="1" noProof="0" dirty="0">
                <a:solidFill>
                  <a:schemeClr val="accent1"/>
                </a:solidFill>
              </a:rPr>
              <a:t>"pesca" = un frutto</a:t>
            </a:r>
            <a:endParaRPr lang="it-IT" sz="1500" noProof="0" dirty="0"/>
          </a:p>
        </p:txBody>
      </p:sp>
      <p:sp>
        <p:nvSpPr>
          <p:cNvPr id="17" name="blocco Domenica"/>
          <p:cNvSpPr/>
          <p:nvPr/>
        </p:nvSpPr>
        <p:spPr>
          <a:xfrm>
            <a:off x="457200" y="3063240"/>
            <a:ext cx="1170432" cy="502920"/>
          </a:xfrm>
          <a:prstGeom prst="roundRect">
            <a:avLst>
              <a:gd name="adj" fmla="val 21818"/>
            </a:avLst>
          </a:prstGeom>
          <a:solidFill>
            <a:schemeClr val="bg2"/>
          </a:solidFill>
          <a:ln/>
        </p:spPr>
        <p:txBody>
          <a:bodyPr/>
          <a:lstStyle/>
          <a:p>
            <a:endParaRPr lang="it-IT" noProof="0" dirty="0"/>
          </a:p>
        </p:txBody>
      </p:sp>
      <p:sp>
        <p:nvSpPr>
          <p:cNvPr id="18" name="Text 15"/>
          <p:cNvSpPr txBox="1"/>
          <p:nvPr/>
        </p:nvSpPr>
        <p:spPr>
          <a:xfrm>
            <a:off x="502920" y="3063240"/>
            <a:ext cx="1078992" cy="502920"/>
          </a:xfrm>
          <a:prstGeom prst="rect">
            <a:avLst/>
          </a:prstGeom>
          <a:noFill/>
          <a:ln/>
        </p:spPr>
        <p:txBody>
          <a:bodyPr wrap="square" lIns="0" tIns="0" rIns="0" bIns="0" rtlCol="0" anchor="ctr"/>
          <a:lstStyle/>
          <a:p>
            <a:pPr marL="0" indent="0" algn="ctr">
              <a:buNone/>
            </a:pPr>
            <a:r>
              <a:rPr lang="it-IT" sz="1400" noProof="0" dirty="0">
                <a:solidFill>
                  <a:schemeClr val="tx1"/>
                </a:solidFill>
              </a:rPr>
              <a:t>Domenica</a:t>
            </a:r>
            <a:endParaRPr lang="it-IT" sz="1400" noProof="0" dirty="0"/>
          </a:p>
        </p:txBody>
      </p:sp>
      <p:sp>
        <p:nvSpPr>
          <p:cNvPr id="19" name="blocco andiamo"/>
          <p:cNvSpPr/>
          <p:nvPr/>
        </p:nvSpPr>
        <p:spPr>
          <a:xfrm>
            <a:off x="1719072" y="3063240"/>
            <a:ext cx="1060704" cy="502920"/>
          </a:xfrm>
          <a:prstGeom prst="roundRect">
            <a:avLst>
              <a:gd name="adj" fmla="val 21818"/>
            </a:avLst>
          </a:prstGeom>
          <a:solidFill>
            <a:schemeClr val="accent6"/>
          </a:solidFill>
          <a:ln w="12700">
            <a:solidFill>
              <a:schemeClr val="accent1"/>
            </a:solidFill>
            <a:prstDash val="solid"/>
          </a:ln>
        </p:spPr>
        <p:txBody>
          <a:bodyPr/>
          <a:lstStyle/>
          <a:p>
            <a:endParaRPr lang="it-IT" noProof="0" dirty="0"/>
          </a:p>
        </p:txBody>
      </p:sp>
      <p:sp>
        <p:nvSpPr>
          <p:cNvPr id="20" name="Text 17"/>
          <p:cNvSpPr txBox="1"/>
          <p:nvPr/>
        </p:nvSpPr>
        <p:spPr>
          <a:xfrm>
            <a:off x="1764792" y="3063240"/>
            <a:ext cx="969264"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andiamo</a:t>
            </a:r>
            <a:endParaRPr lang="it-IT" sz="1400" noProof="0" dirty="0"/>
          </a:p>
        </p:txBody>
      </p:sp>
      <p:sp>
        <p:nvSpPr>
          <p:cNvPr id="21" name="blocco a"/>
          <p:cNvSpPr/>
          <p:nvPr/>
        </p:nvSpPr>
        <p:spPr>
          <a:xfrm>
            <a:off x="2871216" y="3063240"/>
            <a:ext cx="402336" cy="502920"/>
          </a:xfrm>
          <a:prstGeom prst="roundRect">
            <a:avLst>
              <a:gd name="adj" fmla="val 27273"/>
            </a:avLst>
          </a:prstGeom>
          <a:solidFill>
            <a:schemeClr val="bg2"/>
          </a:solidFill>
          <a:ln/>
        </p:spPr>
        <p:txBody>
          <a:bodyPr/>
          <a:lstStyle/>
          <a:p>
            <a:endParaRPr lang="it-IT" noProof="0" dirty="0"/>
          </a:p>
        </p:txBody>
      </p:sp>
      <p:sp>
        <p:nvSpPr>
          <p:cNvPr id="22" name="Text 19"/>
          <p:cNvSpPr txBox="1"/>
          <p:nvPr/>
        </p:nvSpPr>
        <p:spPr>
          <a:xfrm>
            <a:off x="2916936" y="3063240"/>
            <a:ext cx="310896" cy="502920"/>
          </a:xfrm>
          <a:prstGeom prst="rect">
            <a:avLst/>
          </a:prstGeom>
          <a:noFill/>
          <a:ln/>
        </p:spPr>
        <p:txBody>
          <a:bodyPr wrap="square" lIns="0" tIns="0" rIns="0" bIns="0" rtlCol="0" anchor="ctr"/>
          <a:lstStyle/>
          <a:p>
            <a:pPr marL="0" indent="0" algn="ctr">
              <a:buNone/>
            </a:pPr>
            <a:r>
              <a:rPr lang="it-IT" sz="1400" noProof="0" dirty="0">
                <a:solidFill>
                  <a:schemeClr val="tx1"/>
                </a:solidFill>
              </a:rPr>
              <a:t>a</a:t>
            </a:r>
            <a:endParaRPr lang="it-IT" sz="1400" noProof="0" dirty="0"/>
          </a:p>
        </p:txBody>
      </p:sp>
      <p:sp>
        <p:nvSpPr>
          <p:cNvPr id="23" name="blocco pesca"/>
          <p:cNvSpPr/>
          <p:nvPr/>
        </p:nvSpPr>
        <p:spPr>
          <a:xfrm>
            <a:off x="3364992" y="3063240"/>
            <a:ext cx="841248" cy="502920"/>
          </a:xfrm>
          <a:prstGeom prst="roundRect">
            <a:avLst>
              <a:gd name="adj" fmla="val 21818"/>
            </a:avLst>
          </a:prstGeom>
          <a:solidFill>
            <a:schemeClr val="accent1"/>
          </a:solidFill>
          <a:ln/>
        </p:spPr>
        <p:txBody>
          <a:bodyPr/>
          <a:lstStyle/>
          <a:p>
            <a:endParaRPr lang="it-IT" noProof="0" dirty="0"/>
          </a:p>
        </p:txBody>
      </p:sp>
      <p:sp>
        <p:nvSpPr>
          <p:cNvPr id="24" name="Text 21"/>
          <p:cNvSpPr txBox="1"/>
          <p:nvPr/>
        </p:nvSpPr>
        <p:spPr>
          <a:xfrm>
            <a:off x="3410712" y="3063240"/>
            <a:ext cx="749808"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pesca</a:t>
            </a:r>
            <a:endParaRPr lang="it-IT" sz="1400" noProof="0" dirty="0"/>
          </a:p>
        </p:txBody>
      </p:sp>
      <p:sp>
        <p:nvSpPr>
          <p:cNvPr id="25" name="blocco sul"/>
          <p:cNvSpPr/>
          <p:nvPr/>
        </p:nvSpPr>
        <p:spPr>
          <a:xfrm>
            <a:off x="4297680" y="3063240"/>
            <a:ext cx="621792" cy="502920"/>
          </a:xfrm>
          <a:prstGeom prst="roundRect">
            <a:avLst>
              <a:gd name="adj" fmla="val 21818"/>
            </a:avLst>
          </a:prstGeom>
          <a:solidFill>
            <a:schemeClr val="bg2"/>
          </a:solidFill>
          <a:ln/>
        </p:spPr>
        <p:txBody>
          <a:bodyPr/>
          <a:lstStyle/>
          <a:p>
            <a:endParaRPr lang="it-IT" noProof="0" dirty="0"/>
          </a:p>
        </p:txBody>
      </p:sp>
      <p:sp>
        <p:nvSpPr>
          <p:cNvPr id="26" name="Text 23"/>
          <p:cNvSpPr txBox="1"/>
          <p:nvPr/>
        </p:nvSpPr>
        <p:spPr>
          <a:xfrm>
            <a:off x="4343400" y="3063240"/>
            <a:ext cx="530352" cy="502920"/>
          </a:xfrm>
          <a:prstGeom prst="rect">
            <a:avLst/>
          </a:prstGeom>
          <a:noFill/>
          <a:ln/>
        </p:spPr>
        <p:txBody>
          <a:bodyPr wrap="square" lIns="0" tIns="0" rIns="0" bIns="0" rtlCol="0" anchor="ctr"/>
          <a:lstStyle/>
          <a:p>
            <a:pPr marL="0" indent="0" algn="ctr">
              <a:buNone/>
            </a:pPr>
            <a:r>
              <a:rPr lang="it-IT" sz="1400" noProof="0" dirty="0">
                <a:solidFill>
                  <a:schemeClr val="tx1"/>
                </a:solidFill>
              </a:rPr>
              <a:t>sul</a:t>
            </a:r>
            <a:endParaRPr lang="it-IT" sz="1400" noProof="0" dirty="0"/>
          </a:p>
        </p:txBody>
      </p:sp>
      <p:sp>
        <p:nvSpPr>
          <p:cNvPr id="27" name="blocco lago"/>
          <p:cNvSpPr/>
          <p:nvPr/>
        </p:nvSpPr>
        <p:spPr>
          <a:xfrm>
            <a:off x="5010912" y="3063240"/>
            <a:ext cx="731520" cy="502920"/>
          </a:xfrm>
          <a:prstGeom prst="roundRect">
            <a:avLst>
              <a:gd name="adj" fmla="val 21818"/>
            </a:avLst>
          </a:prstGeom>
          <a:solidFill>
            <a:schemeClr val="accent6"/>
          </a:solidFill>
          <a:ln w="12700">
            <a:solidFill>
              <a:schemeClr val="accent1"/>
            </a:solidFill>
            <a:prstDash val="solid"/>
          </a:ln>
        </p:spPr>
        <p:txBody>
          <a:bodyPr/>
          <a:lstStyle/>
          <a:p>
            <a:endParaRPr lang="it-IT" noProof="0" dirty="0"/>
          </a:p>
        </p:txBody>
      </p:sp>
      <p:sp>
        <p:nvSpPr>
          <p:cNvPr id="28" name="Text 25"/>
          <p:cNvSpPr txBox="1"/>
          <p:nvPr/>
        </p:nvSpPr>
        <p:spPr>
          <a:xfrm>
            <a:off x="5056632" y="3063240"/>
            <a:ext cx="640080"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lago</a:t>
            </a:r>
            <a:endParaRPr lang="it-IT" sz="1400" noProof="0" dirty="0"/>
          </a:p>
        </p:txBody>
      </p:sp>
      <p:sp>
        <p:nvSpPr>
          <p:cNvPr id="29" name="attenzione"/>
          <p:cNvSpPr/>
          <p:nvPr/>
        </p:nvSpPr>
        <p:spPr>
          <a:xfrm>
            <a:off x="2249424" y="2697480"/>
            <a:ext cx="1536192" cy="731520"/>
          </a:xfrm>
          <a:prstGeom prst="arc">
            <a:avLst>
              <a:gd name="adj1" fmla="val 10800000"/>
              <a:gd name="adj2" fmla="val 0"/>
            </a:avLst>
          </a:prstGeom>
          <a:ln w="19050">
            <a:solidFill>
              <a:schemeClr val="accent1"/>
            </a:solidFill>
            <a:prstDash val="solid"/>
          </a:ln>
        </p:spPr>
        <p:txBody>
          <a:bodyPr/>
          <a:lstStyle/>
          <a:p>
            <a:endParaRPr lang="it-IT" noProof="0" dirty="0"/>
          </a:p>
        </p:txBody>
      </p:sp>
      <p:sp>
        <p:nvSpPr>
          <p:cNvPr id="30" name="attenzione"/>
          <p:cNvSpPr/>
          <p:nvPr/>
        </p:nvSpPr>
        <p:spPr>
          <a:xfrm>
            <a:off x="3785616" y="2697480"/>
            <a:ext cx="1591056" cy="731520"/>
          </a:xfrm>
          <a:prstGeom prst="arc">
            <a:avLst>
              <a:gd name="adj1" fmla="val 10800000"/>
              <a:gd name="adj2" fmla="val 0"/>
            </a:avLst>
          </a:prstGeom>
          <a:ln w="19050">
            <a:solidFill>
              <a:schemeClr val="accent1"/>
            </a:solidFill>
            <a:prstDash val="solid"/>
          </a:ln>
        </p:spPr>
        <p:txBody>
          <a:bodyPr/>
          <a:lstStyle/>
          <a:p>
            <a:endParaRPr lang="it-IT" noProof="0" dirty="0"/>
          </a:p>
        </p:txBody>
      </p:sp>
      <p:sp>
        <p:nvSpPr>
          <p:cNvPr id="31" name="Text 28"/>
          <p:cNvSpPr txBox="1"/>
          <p:nvPr/>
        </p:nvSpPr>
        <p:spPr>
          <a:xfrm>
            <a:off x="6126480" y="3063240"/>
            <a:ext cx="2926080" cy="502920"/>
          </a:xfrm>
          <a:prstGeom prst="rect">
            <a:avLst/>
          </a:prstGeom>
          <a:noFill/>
          <a:ln/>
        </p:spPr>
        <p:txBody>
          <a:bodyPr wrap="square" lIns="0" tIns="0" rIns="0" bIns="0" rtlCol="0" anchor="ctr"/>
          <a:lstStyle/>
          <a:p>
            <a:pPr marL="0" indent="0">
              <a:buNone/>
            </a:pPr>
            <a:r>
              <a:rPr lang="it-IT" sz="1500" b="1" noProof="0" dirty="0">
                <a:solidFill>
                  <a:schemeClr val="accent1"/>
                </a:solidFill>
              </a:rPr>
              <a:t>"pesca" = un'attività</a:t>
            </a:r>
            <a:endParaRPr lang="it-IT" sz="1500" noProof="0" dirty="0"/>
          </a:p>
        </p:txBody>
      </p:sp>
      <p:sp>
        <p:nvSpPr>
          <p:cNvPr id="32" name="messaggio attenzione"/>
          <p:cNvSpPr/>
          <p:nvPr/>
        </p:nvSpPr>
        <p:spPr>
          <a:xfrm>
            <a:off x="457200" y="3840480"/>
            <a:ext cx="8229600" cy="685800"/>
          </a:xfrm>
          <a:prstGeom prst="roundRect">
            <a:avLst>
              <a:gd name="adj" fmla="val 10667"/>
            </a:avLst>
          </a:prstGeom>
          <a:solidFill>
            <a:schemeClr val="tx1"/>
          </a:solidFill>
          <a:ln/>
        </p:spPr>
        <p:txBody>
          <a:bodyPr/>
          <a:lstStyle/>
          <a:p>
            <a:endParaRPr lang="it-IT" noProof="0" dirty="0"/>
          </a:p>
        </p:txBody>
      </p:sp>
      <p:sp>
        <p:nvSpPr>
          <p:cNvPr id="33" name="Text 30"/>
          <p:cNvSpPr txBox="1"/>
          <p:nvPr/>
        </p:nvSpPr>
        <p:spPr>
          <a:xfrm>
            <a:off x="640080" y="3840480"/>
            <a:ext cx="7863840" cy="685800"/>
          </a:xfrm>
          <a:prstGeom prst="rect">
            <a:avLst/>
          </a:prstGeom>
          <a:noFill/>
          <a:ln/>
        </p:spPr>
        <p:txBody>
          <a:bodyPr wrap="square" lIns="0" tIns="0" rIns="0" bIns="0" rtlCol="0" anchor="ctr"/>
          <a:lstStyle/>
          <a:p>
            <a:pPr marL="0" indent="0">
              <a:buNone/>
            </a:pPr>
            <a:r>
              <a:rPr lang="it-IT" sz="1500" noProof="0" dirty="0">
                <a:solidFill>
                  <a:schemeClr val="bg1"/>
                </a:solidFill>
              </a:rPr>
              <a:t>Il modello interpreta ogni parola alla luce di tutte le altre, anche lontane nel testo.</a:t>
            </a:r>
            <a:endParaRPr lang="it-IT" sz="15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34</a:t>
            </a:fld>
            <a:endParaRPr lang="it-IT" noProof="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Come viene generata una risposta</a:t>
            </a:r>
            <a:endParaRPr lang="it-IT" sz="2600" noProof="0" dirty="0"/>
          </a:p>
        </p:txBody>
      </p:sp>
      <p:sp>
        <p:nvSpPr>
          <p:cNvPr id="4" name="blocco 1. Testo disponibile"/>
          <p:cNvSpPr/>
          <p:nvPr/>
        </p:nvSpPr>
        <p:spPr>
          <a:xfrm>
            <a:off x="457200" y="1143000"/>
            <a:ext cx="2926080" cy="566928"/>
          </a:xfrm>
          <a:prstGeom prst="roundRect">
            <a:avLst>
              <a:gd name="adj" fmla="val 19355"/>
            </a:avLst>
          </a:prstGeom>
          <a:solidFill>
            <a:schemeClr val="bg2"/>
          </a:solidFill>
          <a:ln/>
        </p:spPr>
        <p:txBody>
          <a:bodyPr/>
          <a:lstStyle/>
          <a:p>
            <a:endParaRPr lang="it-IT" noProof="0" dirty="0"/>
          </a:p>
        </p:txBody>
      </p:sp>
      <p:sp>
        <p:nvSpPr>
          <p:cNvPr id="5" name="Text 2"/>
          <p:cNvSpPr txBox="1"/>
          <p:nvPr/>
        </p:nvSpPr>
        <p:spPr>
          <a:xfrm>
            <a:off x="502920" y="1143000"/>
            <a:ext cx="2834640" cy="566928"/>
          </a:xfrm>
          <a:prstGeom prst="rect">
            <a:avLst/>
          </a:prstGeom>
          <a:noFill/>
          <a:ln/>
        </p:spPr>
        <p:txBody>
          <a:bodyPr wrap="square" lIns="0" tIns="0" rIns="0" bIns="0" rtlCol="0" anchor="ctr"/>
          <a:lstStyle/>
          <a:p>
            <a:pPr marL="0" indent="0" algn="ctr">
              <a:buNone/>
            </a:pPr>
            <a:r>
              <a:rPr lang="it-IT" sz="1400" b="1" noProof="0" dirty="0">
                <a:solidFill>
                  <a:schemeClr val="tx1"/>
                </a:solidFill>
              </a:rPr>
              <a:t>1. Testo disponibile</a:t>
            </a:r>
            <a:endParaRPr lang="it-IT" sz="1400" noProof="0" dirty="0"/>
          </a:p>
        </p:txBody>
      </p:sp>
      <p:sp>
        <p:nvSpPr>
          <p:cNvPr id="6" name="freccia giù"/>
          <p:cNvSpPr/>
          <p:nvPr/>
        </p:nvSpPr>
        <p:spPr>
          <a:xfrm>
            <a:off x="1783080" y="1728216"/>
            <a:ext cx="274320" cy="182880"/>
          </a:xfrm>
          <a:prstGeom prst="downArrow">
            <a:avLst/>
          </a:prstGeom>
          <a:solidFill>
            <a:schemeClr val="accent2"/>
          </a:solidFill>
          <a:ln/>
        </p:spPr>
        <p:txBody>
          <a:bodyPr/>
          <a:lstStyle/>
          <a:p>
            <a:endParaRPr lang="it-IT" noProof="0" dirty="0"/>
          </a:p>
        </p:txBody>
      </p:sp>
      <p:sp>
        <p:nvSpPr>
          <p:cNvPr id="7" name="blocco 2. Probabilità per ogni token"/>
          <p:cNvSpPr/>
          <p:nvPr/>
        </p:nvSpPr>
        <p:spPr>
          <a:xfrm>
            <a:off x="457200" y="1920240"/>
            <a:ext cx="2926080" cy="566928"/>
          </a:xfrm>
          <a:prstGeom prst="roundRect">
            <a:avLst>
              <a:gd name="adj" fmla="val 19355"/>
            </a:avLst>
          </a:prstGeom>
          <a:solidFill>
            <a:schemeClr val="bg2"/>
          </a:solidFill>
          <a:ln/>
        </p:spPr>
        <p:txBody>
          <a:bodyPr/>
          <a:lstStyle/>
          <a:p>
            <a:endParaRPr lang="it-IT" noProof="0" dirty="0"/>
          </a:p>
        </p:txBody>
      </p:sp>
      <p:sp>
        <p:nvSpPr>
          <p:cNvPr id="8" name="Text 5"/>
          <p:cNvSpPr txBox="1"/>
          <p:nvPr/>
        </p:nvSpPr>
        <p:spPr>
          <a:xfrm>
            <a:off x="502920" y="1920240"/>
            <a:ext cx="2834640" cy="566928"/>
          </a:xfrm>
          <a:prstGeom prst="rect">
            <a:avLst/>
          </a:prstGeom>
          <a:noFill/>
          <a:ln/>
        </p:spPr>
        <p:txBody>
          <a:bodyPr wrap="square" lIns="0" tIns="0" rIns="0" bIns="0" rtlCol="0" anchor="ctr"/>
          <a:lstStyle/>
          <a:p>
            <a:pPr marL="0" indent="0" algn="ctr">
              <a:buNone/>
            </a:pPr>
            <a:r>
              <a:rPr lang="it-IT" sz="1400" b="1" noProof="0" dirty="0">
                <a:solidFill>
                  <a:schemeClr val="tx1"/>
                </a:solidFill>
              </a:rPr>
              <a:t>2. Probabilità per ogni token</a:t>
            </a:r>
            <a:endParaRPr lang="it-IT" sz="1400" noProof="0" dirty="0"/>
          </a:p>
        </p:txBody>
      </p:sp>
      <p:sp>
        <p:nvSpPr>
          <p:cNvPr id="9" name="freccia giù"/>
          <p:cNvSpPr/>
          <p:nvPr/>
        </p:nvSpPr>
        <p:spPr>
          <a:xfrm>
            <a:off x="1783080" y="2505456"/>
            <a:ext cx="274320" cy="182880"/>
          </a:xfrm>
          <a:prstGeom prst="downArrow">
            <a:avLst/>
          </a:prstGeom>
          <a:solidFill>
            <a:schemeClr val="accent2"/>
          </a:solidFill>
          <a:ln/>
        </p:spPr>
        <p:txBody>
          <a:bodyPr/>
          <a:lstStyle/>
          <a:p>
            <a:endParaRPr lang="it-IT" noProof="0" dirty="0"/>
          </a:p>
        </p:txBody>
      </p:sp>
      <p:sp>
        <p:nvSpPr>
          <p:cNvPr id="10" name="blocco 3. Scelta di un token"/>
          <p:cNvSpPr/>
          <p:nvPr/>
        </p:nvSpPr>
        <p:spPr>
          <a:xfrm>
            <a:off x="457200" y="2697480"/>
            <a:ext cx="2926080" cy="566928"/>
          </a:xfrm>
          <a:prstGeom prst="roundRect">
            <a:avLst>
              <a:gd name="adj" fmla="val 19355"/>
            </a:avLst>
          </a:prstGeom>
          <a:solidFill>
            <a:schemeClr val="accent1"/>
          </a:solidFill>
          <a:ln/>
        </p:spPr>
        <p:txBody>
          <a:bodyPr/>
          <a:lstStyle/>
          <a:p>
            <a:endParaRPr lang="it-IT" noProof="0" dirty="0"/>
          </a:p>
        </p:txBody>
      </p:sp>
      <p:sp>
        <p:nvSpPr>
          <p:cNvPr id="11" name="Text 8"/>
          <p:cNvSpPr txBox="1"/>
          <p:nvPr/>
        </p:nvSpPr>
        <p:spPr>
          <a:xfrm>
            <a:off x="502920" y="2697480"/>
            <a:ext cx="2834640" cy="566928"/>
          </a:xfrm>
          <a:prstGeom prst="rect">
            <a:avLst/>
          </a:prstGeom>
          <a:noFill/>
          <a:ln/>
        </p:spPr>
        <p:txBody>
          <a:bodyPr wrap="square" lIns="0" tIns="0" rIns="0" bIns="0" rtlCol="0" anchor="ctr"/>
          <a:lstStyle/>
          <a:p>
            <a:pPr marL="0" indent="0" algn="ctr">
              <a:buNone/>
            </a:pPr>
            <a:r>
              <a:rPr lang="it-IT" sz="1400" b="1" noProof="0" dirty="0">
                <a:solidFill>
                  <a:schemeClr val="bg1"/>
                </a:solidFill>
              </a:rPr>
              <a:t>3. Scelta di un token</a:t>
            </a:r>
            <a:endParaRPr lang="it-IT" sz="1400" noProof="0" dirty="0"/>
          </a:p>
        </p:txBody>
      </p:sp>
      <p:sp>
        <p:nvSpPr>
          <p:cNvPr id="12" name="freccia giù"/>
          <p:cNvSpPr/>
          <p:nvPr/>
        </p:nvSpPr>
        <p:spPr>
          <a:xfrm>
            <a:off x="1783080" y="3282696"/>
            <a:ext cx="274320" cy="182880"/>
          </a:xfrm>
          <a:prstGeom prst="downArrow">
            <a:avLst/>
          </a:prstGeom>
          <a:solidFill>
            <a:schemeClr val="accent2"/>
          </a:solidFill>
          <a:ln/>
        </p:spPr>
        <p:txBody>
          <a:bodyPr/>
          <a:lstStyle/>
          <a:p>
            <a:endParaRPr lang="it-IT" noProof="0" dirty="0"/>
          </a:p>
        </p:txBody>
      </p:sp>
      <p:sp>
        <p:nvSpPr>
          <p:cNvPr id="13" name="blocco 4. Aggiunta al testo"/>
          <p:cNvSpPr/>
          <p:nvPr/>
        </p:nvSpPr>
        <p:spPr>
          <a:xfrm>
            <a:off x="457200" y="3474720"/>
            <a:ext cx="2926080" cy="566928"/>
          </a:xfrm>
          <a:prstGeom prst="roundRect">
            <a:avLst>
              <a:gd name="adj" fmla="val 19355"/>
            </a:avLst>
          </a:prstGeom>
          <a:solidFill>
            <a:schemeClr val="bg2"/>
          </a:solidFill>
          <a:ln/>
        </p:spPr>
        <p:txBody>
          <a:bodyPr/>
          <a:lstStyle/>
          <a:p>
            <a:endParaRPr lang="it-IT" noProof="0" dirty="0"/>
          </a:p>
        </p:txBody>
      </p:sp>
      <p:sp>
        <p:nvSpPr>
          <p:cNvPr id="14" name="Text 11"/>
          <p:cNvSpPr txBox="1"/>
          <p:nvPr/>
        </p:nvSpPr>
        <p:spPr>
          <a:xfrm>
            <a:off x="502920" y="3474720"/>
            <a:ext cx="2834640" cy="566928"/>
          </a:xfrm>
          <a:prstGeom prst="rect">
            <a:avLst/>
          </a:prstGeom>
          <a:noFill/>
          <a:ln/>
        </p:spPr>
        <p:txBody>
          <a:bodyPr wrap="square" lIns="0" tIns="0" rIns="0" bIns="0" rtlCol="0" anchor="ctr"/>
          <a:lstStyle/>
          <a:p>
            <a:pPr marL="0" indent="0" algn="ctr">
              <a:buNone/>
            </a:pPr>
            <a:r>
              <a:rPr lang="it-IT" sz="1400" b="1" noProof="0" dirty="0">
                <a:solidFill>
                  <a:schemeClr val="tx1"/>
                </a:solidFill>
              </a:rPr>
              <a:t>4. Aggiunta al testo</a:t>
            </a:r>
            <a:endParaRPr lang="it-IT" sz="1400" noProof="0" dirty="0"/>
          </a:p>
        </p:txBody>
      </p:sp>
      <p:sp>
        <p:nvSpPr>
          <p:cNvPr id="15" name="Text 12"/>
          <p:cNvSpPr txBox="1"/>
          <p:nvPr/>
        </p:nvSpPr>
        <p:spPr>
          <a:xfrm>
            <a:off x="457200" y="4251960"/>
            <a:ext cx="3108960" cy="411480"/>
          </a:xfrm>
          <a:prstGeom prst="rect">
            <a:avLst/>
          </a:prstGeom>
          <a:noFill/>
          <a:ln/>
        </p:spPr>
        <p:txBody>
          <a:bodyPr wrap="square" lIns="0" tIns="0" rIns="0" bIns="0" rtlCol="0" anchor="t"/>
          <a:lstStyle/>
          <a:p>
            <a:pPr marL="0" indent="0">
              <a:buNone/>
            </a:pPr>
            <a:r>
              <a:rPr lang="it-IT" sz="1200" i="1" noProof="0" dirty="0">
                <a:solidFill>
                  <a:schemeClr val="tx2"/>
                </a:solidFill>
              </a:rPr>
              <a:t>Si ripete per ogni token: centinaia di cicli per una risposta.</a:t>
            </a:r>
            <a:endParaRPr lang="it-IT" sz="1200" noProof="0" dirty="0"/>
          </a:p>
        </p:txBody>
      </p:sp>
      <p:sp>
        <p:nvSpPr>
          <p:cNvPr id="16" name="prompt esempio"/>
          <p:cNvSpPr/>
          <p:nvPr/>
        </p:nvSpPr>
        <p:spPr>
          <a:xfrm>
            <a:off x="3749040" y="1097280"/>
            <a:ext cx="4937760" cy="502920"/>
          </a:xfrm>
          <a:prstGeom prst="roundRect">
            <a:avLst>
              <a:gd name="adj" fmla="val 14545"/>
            </a:avLst>
          </a:prstGeom>
          <a:solidFill>
            <a:schemeClr val="bg2"/>
          </a:solidFill>
          <a:ln/>
        </p:spPr>
        <p:txBody>
          <a:bodyPr/>
          <a:lstStyle/>
          <a:p>
            <a:endParaRPr lang="it-IT" noProof="0" dirty="0"/>
          </a:p>
        </p:txBody>
      </p:sp>
      <p:sp>
        <p:nvSpPr>
          <p:cNvPr id="17" name="Text 14"/>
          <p:cNvSpPr txBox="1"/>
          <p:nvPr/>
        </p:nvSpPr>
        <p:spPr>
          <a:xfrm>
            <a:off x="3931920" y="1097280"/>
            <a:ext cx="4572000" cy="502920"/>
          </a:xfrm>
          <a:prstGeom prst="rect">
            <a:avLst/>
          </a:prstGeom>
          <a:noFill/>
          <a:ln/>
        </p:spPr>
        <p:txBody>
          <a:bodyPr wrap="square" lIns="0" tIns="0" rIns="0" bIns="0" rtlCol="0" anchor="ctr"/>
          <a:lstStyle/>
          <a:p>
            <a:pPr marL="0" indent="0">
              <a:buNone/>
            </a:pPr>
            <a:r>
              <a:rPr lang="it-IT" sz="1600" noProof="0" dirty="0">
                <a:solidFill>
                  <a:schemeClr val="tx1"/>
                </a:solidFill>
              </a:rPr>
              <a:t>Oggi il cielo è </a:t>
            </a:r>
            <a:r>
              <a:rPr lang="it-IT" sz="1600" b="1" noProof="0" dirty="0">
                <a:solidFill>
                  <a:schemeClr val="accent1"/>
                </a:solidFill>
              </a:rPr>
              <a:t>...</a:t>
            </a:r>
            <a:endParaRPr lang="it-IT" sz="1600" noProof="0" dirty="0"/>
          </a:p>
        </p:txBody>
      </p:sp>
      <p:graphicFrame>
        <p:nvGraphicFramePr>
          <p:cNvPr id="18" name="Chart 0"/>
          <p:cNvGraphicFramePr/>
          <p:nvPr/>
        </p:nvGraphicFramePr>
        <p:xfrm>
          <a:off x="3749040" y="1691640"/>
          <a:ext cx="493776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5"/>
          <p:cNvSpPr txBox="1"/>
          <p:nvPr/>
        </p:nvSpPr>
        <p:spPr>
          <a:xfrm>
            <a:off x="3749040" y="4389120"/>
            <a:ext cx="4937760" cy="274320"/>
          </a:xfrm>
          <a:prstGeom prst="rect">
            <a:avLst/>
          </a:prstGeom>
          <a:noFill/>
          <a:ln/>
        </p:spPr>
        <p:txBody>
          <a:bodyPr wrap="square" lIns="0" tIns="0" rIns="0" bIns="0" rtlCol="0" anchor="t"/>
          <a:lstStyle/>
          <a:p>
            <a:pPr marL="0" indent="0">
              <a:buNone/>
            </a:pPr>
            <a:r>
              <a:rPr lang="it-IT" sz="1000" i="1" noProof="0" dirty="0">
                <a:solidFill>
                  <a:schemeClr val="accent2"/>
                </a:solidFill>
              </a:rPr>
              <a:t>Probabilità del token successivo, valori illustrativi</a:t>
            </a:r>
            <a:endParaRPr lang="it-IT" sz="10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35</a:t>
            </a:fld>
            <a:endParaRPr lang="it-IT" noProof="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Più di un completamento automatico</a:t>
            </a:r>
            <a:endParaRPr lang="it-IT" sz="2600" noProof="0" dirty="0"/>
          </a:p>
        </p:txBody>
      </p:sp>
      <p:sp>
        <p:nvSpPr>
          <p:cNvPr id="4" name="scheda Il suggeritore della tastiera"/>
          <p:cNvSpPr/>
          <p:nvPr/>
        </p:nvSpPr>
        <p:spPr>
          <a:xfrm>
            <a:off x="457200" y="1097280"/>
            <a:ext cx="2615184" cy="2468880"/>
          </a:xfrm>
          <a:prstGeom prst="roundRect">
            <a:avLst>
              <a:gd name="adj" fmla="val 2963"/>
            </a:avLst>
          </a:prstGeom>
          <a:solidFill>
            <a:schemeClr val="bg2"/>
          </a:solidFill>
          <a:ln/>
        </p:spPr>
        <p:txBody>
          <a:bodyPr/>
          <a:lstStyle/>
          <a:p>
            <a:endParaRPr lang="it-IT" noProof="0" dirty="0"/>
          </a:p>
        </p:txBody>
      </p:sp>
      <p:sp>
        <p:nvSpPr>
          <p:cNvPr id="5" name="cerchio FiSmartphone"/>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Smartphon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500" b="1" noProof="0" dirty="0">
                <a:solidFill>
                  <a:schemeClr val="tx1"/>
                </a:solidFill>
              </a:rPr>
              <a:t>Il suggeritore della tastiera</a:t>
            </a:r>
            <a:endParaRPr lang="it-IT" sz="1500" noProof="0" dirty="0"/>
          </a:p>
        </p:txBody>
      </p:sp>
      <p:sp>
        <p:nvSpPr>
          <p:cNvPr id="8" name="Text 4"/>
          <p:cNvSpPr txBox="1"/>
          <p:nvPr/>
        </p:nvSpPr>
        <p:spPr>
          <a:xfrm>
            <a:off x="640080" y="2231136"/>
            <a:ext cx="2249424" cy="1225296"/>
          </a:xfrm>
          <a:prstGeom prst="rect">
            <a:avLst/>
          </a:prstGeom>
          <a:noFill/>
          <a:ln/>
        </p:spPr>
        <p:txBody>
          <a:bodyPr wrap="square" lIns="0" tIns="0" rIns="0" bIns="0" rtlCol="0" anchor="t"/>
          <a:lstStyle/>
          <a:p>
            <a:pPr marL="0" indent="0">
              <a:buNone/>
            </a:pPr>
            <a:r>
              <a:rPr lang="it-IT" sz="1300" noProof="0" dirty="0">
                <a:solidFill>
                  <a:schemeClr val="tx2"/>
                </a:solidFill>
              </a:rPr>
              <a:t>Guarda poche parole precedenti e propone la più frequente.</a:t>
            </a:r>
            <a:endParaRPr lang="it-IT" sz="1300" noProof="0" dirty="0"/>
          </a:p>
        </p:txBody>
      </p:sp>
      <p:sp>
        <p:nvSpPr>
          <p:cNvPr id="9" name="freccia"/>
          <p:cNvSpPr/>
          <p:nvPr/>
        </p:nvSpPr>
        <p:spPr>
          <a:xfrm>
            <a:off x="3154680" y="2194560"/>
            <a:ext cx="457200" cy="292608"/>
          </a:xfrm>
          <a:prstGeom prst="rightArrow">
            <a:avLst/>
          </a:prstGeom>
          <a:solidFill>
            <a:schemeClr val="accent1"/>
          </a:solidFill>
          <a:ln/>
        </p:spPr>
        <p:txBody>
          <a:bodyPr/>
          <a:lstStyle/>
          <a:p>
            <a:endParaRPr lang="it-IT" noProof="0" dirty="0"/>
          </a:p>
        </p:txBody>
      </p:sp>
      <p:sp>
        <p:nvSpPr>
          <p:cNvPr id="10" name="LLM"/>
          <p:cNvSpPr/>
          <p:nvPr/>
        </p:nvSpPr>
        <p:spPr>
          <a:xfrm>
            <a:off x="3703320" y="1097280"/>
            <a:ext cx="4983480" cy="2468880"/>
          </a:xfrm>
          <a:prstGeom prst="roundRect">
            <a:avLst>
              <a:gd name="adj" fmla="val 2963"/>
            </a:avLst>
          </a:prstGeom>
          <a:solidFill>
            <a:schemeClr val="accent6"/>
          </a:solidFill>
          <a:ln/>
        </p:spPr>
        <p:txBody>
          <a:bodyPr/>
          <a:lstStyle/>
          <a:p>
            <a:endParaRPr lang="it-IT" noProof="0" dirty="0"/>
          </a:p>
        </p:txBody>
      </p:sp>
      <p:sp>
        <p:nvSpPr>
          <p:cNvPr id="11" name="Text 7"/>
          <p:cNvSpPr txBox="1"/>
          <p:nvPr/>
        </p:nvSpPr>
        <p:spPr>
          <a:xfrm>
            <a:off x="3886200" y="1207008"/>
            <a:ext cx="4572000" cy="320040"/>
          </a:xfrm>
          <a:prstGeom prst="rect">
            <a:avLst/>
          </a:prstGeom>
          <a:noFill/>
          <a:ln/>
        </p:spPr>
        <p:txBody>
          <a:bodyPr wrap="square" lIns="0" tIns="0" rIns="0" bIns="0" rtlCol="0" anchor="t"/>
          <a:lstStyle/>
          <a:p>
            <a:pPr marL="0" indent="0">
              <a:buNone/>
            </a:pPr>
            <a:r>
              <a:rPr lang="it-IT" sz="1600" b="1" noProof="0" dirty="0">
                <a:solidFill>
                  <a:schemeClr val="tx1"/>
                </a:solidFill>
              </a:rPr>
              <a:t>Un LLM</a:t>
            </a:r>
            <a:endParaRPr lang="it-IT" sz="1600" noProof="0" dirty="0"/>
          </a:p>
        </p:txBody>
      </p:sp>
      <p:sp>
        <p:nvSpPr>
          <p:cNvPr id="12" name="cerchio FiLayers"/>
          <p:cNvSpPr/>
          <p:nvPr/>
        </p:nvSpPr>
        <p:spPr>
          <a:xfrm>
            <a:off x="3886200" y="1627632"/>
            <a:ext cx="411480" cy="411480"/>
          </a:xfrm>
          <a:prstGeom prst="ellipse">
            <a:avLst/>
          </a:prstGeom>
          <a:solidFill>
            <a:schemeClr val="accent1"/>
          </a:solidFill>
          <a:ln/>
        </p:spPr>
        <p:txBody>
          <a:bodyPr/>
          <a:lstStyle/>
          <a:p>
            <a:endParaRPr lang="it-IT" noProof="0" dirty="0"/>
          </a:p>
        </p:txBody>
      </p:sp>
      <p:pic>
        <p:nvPicPr>
          <p:cNvPr id="13" name="Image 1" descr="FiLayers"/>
          <p:cNvPicPr>
            <a:picLocks noChangeAspect="1"/>
          </p:cNvPicPr>
          <p:nvPr/>
        </p:nvPicPr>
        <p:blipFill>
          <a:blip r:embed="rId4"/>
          <a:stretch>
            <a:fillRect/>
          </a:stretch>
        </p:blipFill>
        <p:spPr>
          <a:xfrm>
            <a:off x="3989070" y="1730502"/>
            <a:ext cx="205740" cy="205740"/>
          </a:xfrm>
          <a:prstGeom prst="rect">
            <a:avLst/>
          </a:prstGeom>
        </p:spPr>
      </p:pic>
      <p:sp>
        <p:nvSpPr>
          <p:cNvPr id="14" name="Text 9"/>
          <p:cNvSpPr txBox="1"/>
          <p:nvPr/>
        </p:nvSpPr>
        <p:spPr>
          <a:xfrm>
            <a:off x="4434840" y="1627632"/>
            <a:ext cx="4114800" cy="502920"/>
          </a:xfrm>
          <a:prstGeom prst="rect">
            <a:avLst/>
          </a:prstGeom>
          <a:noFill/>
          <a:ln/>
        </p:spPr>
        <p:txBody>
          <a:bodyPr wrap="square" lIns="0" tIns="0" rIns="0" bIns="0" rtlCol="0" anchor="ctr"/>
          <a:lstStyle/>
          <a:p>
            <a:pPr marL="0" indent="0">
              <a:buNone/>
            </a:pPr>
            <a:r>
              <a:rPr lang="it-IT" sz="1200" b="1" noProof="0" dirty="0">
                <a:solidFill>
                  <a:schemeClr val="tx1"/>
                </a:solidFill>
              </a:rPr>
              <a:t>Rappresentazioni ricche: </a:t>
            </a:r>
            <a:r>
              <a:rPr lang="it-IT" sz="1200" noProof="0" dirty="0">
                <a:solidFill>
                  <a:schemeClr val="tx2"/>
                </a:solidFill>
              </a:rPr>
              <a:t>Grammatica, significato, fatti, relazioni logiche</a:t>
            </a:r>
            <a:endParaRPr lang="it-IT" sz="1200" noProof="0" dirty="0"/>
          </a:p>
        </p:txBody>
      </p:sp>
      <p:sp>
        <p:nvSpPr>
          <p:cNvPr id="15" name="cerchio FiUserCheck"/>
          <p:cNvSpPr/>
          <p:nvPr/>
        </p:nvSpPr>
        <p:spPr>
          <a:xfrm>
            <a:off x="3886200" y="2267712"/>
            <a:ext cx="411480" cy="411480"/>
          </a:xfrm>
          <a:prstGeom prst="ellipse">
            <a:avLst/>
          </a:prstGeom>
          <a:solidFill>
            <a:schemeClr val="accent1"/>
          </a:solidFill>
          <a:ln/>
        </p:spPr>
        <p:txBody>
          <a:bodyPr/>
          <a:lstStyle/>
          <a:p>
            <a:endParaRPr lang="it-IT" noProof="0" dirty="0"/>
          </a:p>
        </p:txBody>
      </p:sp>
      <p:pic>
        <p:nvPicPr>
          <p:cNvPr id="16" name="Image 2" descr="FiUserCheck"/>
          <p:cNvPicPr>
            <a:picLocks noChangeAspect="1"/>
          </p:cNvPicPr>
          <p:nvPr/>
        </p:nvPicPr>
        <p:blipFill>
          <a:blip r:embed="rId5"/>
          <a:stretch>
            <a:fillRect/>
          </a:stretch>
        </p:blipFill>
        <p:spPr>
          <a:xfrm>
            <a:off x="3989070" y="2370582"/>
            <a:ext cx="205740" cy="205740"/>
          </a:xfrm>
          <a:prstGeom prst="rect">
            <a:avLst/>
          </a:prstGeom>
        </p:spPr>
      </p:pic>
      <p:sp>
        <p:nvSpPr>
          <p:cNvPr id="17" name="Text 11"/>
          <p:cNvSpPr txBox="1"/>
          <p:nvPr/>
        </p:nvSpPr>
        <p:spPr>
          <a:xfrm>
            <a:off x="4434840" y="2267712"/>
            <a:ext cx="4114800" cy="502920"/>
          </a:xfrm>
          <a:prstGeom prst="rect">
            <a:avLst/>
          </a:prstGeom>
          <a:noFill/>
          <a:ln/>
        </p:spPr>
        <p:txBody>
          <a:bodyPr wrap="square" lIns="0" tIns="0" rIns="0" bIns="0" rtlCol="0" anchor="ctr"/>
          <a:lstStyle/>
          <a:p>
            <a:pPr marL="0" indent="0">
              <a:buNone/>
            </a:pPr>
            <a:r>
              <a:rPr lang="it-IT" sz="1200" b="1" noProof="0" dirty="0">
                <a:solidFill>
                  <a:schemeClr val="tx1"/>
                </a:solidFill>
              </a:rPr>
              <a:t>Affinato per seguire istruzioni: </a:t>
            </a:r>
            <a:r>
              <a:rPr lang="it-IT" sz="1200" noProof="0" dirty="0">
                <a:solidFill>
                  <a:schemeClr val="tx2"/>
                </a:solidFill>
              </a:rPr>
              <a:t>Dialoga e risponde in modo utile</a:t>
            </a:r>
            <a:endParaRPr lang="it-IT" sz="1200" noProof="0" dirty="0"/>
          </a:p>
        </p:txBody>
      </p:sp>
      <p:sp>
        <p:nvSpPr>
          <p:cNvPr id="18" name="cerchio FiPaperclip"/>
          <p:cNvSpPr/>
          <p:nvPr/>
        </p:nvSpPr>
        <p:spPr>
          <a:xfrm>
            <a:off x="3886200" y="2907792"/>
            <a:ext cx="411480" cy="411480"/>
          </a:xfrm>
          <a:prstGeom prst="ellipse">
            <a:avLst/>
          </a:prstGeom>
          <a:solidFill>
            <a:schemeClr val="accent1"/>
          </a:solidFill>
          <a:ln/>
        </p:spPr>
        <p:txBody>
          <a:bodyPr/>
          <a:lstStyle/>
          <a:p>
            <a:endParaRPr lang="it-IT" noProof="0" dirty="0"/>
          </a:p>
        </p:txBody>
      </p:sp>
      <p:pic>
        <p:nvPicPr>
          <p:cNvPr id="19" name="Image 3" descr="FiPaperclip"/>
          <p:cNvPicPr>
            <a:picLocks noChangeAspect="1"/>
          </p:cNvPicPr>
          <p:nvPr/>
        </p:nvPicPr>
        <p:blipFill>
          <a:blip r:embed="rId6"/>
          <a:stretch>
            <a:fillRect/>
          </a:stretch>
        </p:blipFill>
        <p:spPr>
          <a:xfrm>
            <a:off x="3989070" y="3010662"/>
            <a:ext cx="205740" cy="205740"/>
          </a:xfrm>
          <a:prstGeom prst="rect">
            <a:avLst/>
          </a:prstGeom>
        </p:spPr>
      </p:pic>
      <p:sp>
        <p:nvSpPr>
          <p:cNvPr id="20" name="Text 13"/>
          <p:cNvSpPr txBox="1"/>
          <p:nvPr/>
        </p:nvSpPr>
        <p:spPr>
          <a:xfrm>
            <a:off x="4434840" y="2907792"/>
            <a:ext cx="4114800" cy="502920"/>
          </a:xfrm>
          <a:prstGeom prst="rect">
            <a:avLst/>
          </a:prstGeom>
          <a:noFill/>
          <a:ln/>
        </p:spPr>
        <p:txBody>
          <a:bodyPr wrap="square" lIns="0" tIns="0" rIns="0" bIns="0" rtlCol="0" anchor="ctr"/>
          <a:lstStyle/>
          <a:p>
            <a:pPr marL="0" indent="0">
              <a:buNone/>
            </a:pPr>
            <a:r>
              <a:rPr lang="it-IT" sz="1200" b="1" noProof="0" dirty="0">
                <a:solidFill>
                  <a:schemeClr val="tx1"/>
                </a:solidFill>
              </a:rPr>
              <a:t>Può utilizzare le informazioni disponibili nel contesto: </a:t>
            </a:r>
            <a:r>
              <a:rPr lang="it-IT" sz="1200" noProof="0" dirty="0">
                <a:solidFill>
                  <a:schemeClr val="tx2"/>
                </a:solidFill>
              </a:rPr>
              <a:t>Istruzioni, documenti, conversazione, strumenti</a:t>
            </a:r>
            <a:endParaRPr lang="it-IT" sz="1200" noProof="0" dirty="0"/>
          </a:p>
        </p:txBody>
      </p:sp>
      <p:sp>
        <p:nvSpPr>
          <p:cNvPr id="21" name="equilibrio"/>
          <p:cNvSpPr/>
          <p:nvPr/>
        </p:nvSpPr>
        <p:spPr>
          <a:xfrm>
            <a:off x="457200" y="3749040"/>
            <a:ext cx="8229600" cy="777240"/>
          </a:xfrm>
          <a:prstGeom prst="roundRect">
            <a:avLst>
              <a:gd name="adj" fmla="val 9412"/>
            </a:avLst>
          </a:prstGeom>
          <a:solidFill>
            <a:schemeClr val="bg2"/>
          </a:solidFill>
          <a:ln/>
        </p:spPr>
        <p:txBody>
          <a:bodyPr/>
          <a:lstStyle/>
          <a:p>
            <a:endParaRPr lang="it-IT" noProof="0" dirty="0"/>
          </a:p>
        </p:txBody>
      </p:sp>
      <p:sp>
        <p:nvSpPr>
          <p:cNvPr id="22" name="cerchio FiSliders"/>
          <p:cNvSpPr/>
          <p:nvPr/>
        </p:nvSpPr>
        <p:spPr>
          <a:xfrm>
            <a:off x="640080" y="3867912"/>
            <a:ext cx="512064" cy="512064"/>
          </a:xfrm>
          <a:prstGeom prst="ellipse">
            <a:avLst/>
          </a:prstGeom>
          <a:solidFill>
            <a:schemeClr val="accent2"/>
          </a:solidFill>
          <a:ln/>
        </p:spPr>
        <p:txBody>
          <a:bodyPr/>
          <a:lstStyle/>
          <a:p>
            <a:endParaRPr lang="it-IT" noProof="0" dirty="0"/>
          </a:p>
        </p:txBody>
      </p:sp>
      <p:pic>
        <p:nvPicPr>
          <p:cNvPr id="23" name="Image 4" descr="FiSliders"/>
          <p:cNvPicPr>
            <a:picLocks noChangeAspect="1"/>
          </p:cNvPicPr>
          <p:nvPr/>
        </p:nvPicPr>
        <p:blipFill>
          <a:blip r:embed="rId7"/>
          <a:stretch>
            <a:fillRect/>
          </a:stretch>
        </p:blipFill>
        <p:spPr>
          <a:xfrm>
            <a:off x="768096" y="3995928"/>
            <a:ext cx="256032" cy="256032"/>
          </a:xfrm>
          <a:prstGeom prst="rect">
            <a:avLst/>
          </a:prstGeom>
        </p:spPr>
      </p:pic>
      <p:sp>
        <p:nvSpPr>
          <p:cNvPr id="24" name="Text 16"/>
          <p:cNvSpPr txBox="1"/>
          <p:nvPr/>
        </p:nvSpPr>
        <p:spPr>
          <a:xfrm>
            <a:off x="1325880" y="3749040"/>
            <a:ext cx="7223760" cy="777240"/>
          </a:xfrm>
          <a:prstGeom prst="rect">
            <a:avLst/>
          </a:prstGeom>
          <a:noFill/>
          <a:ln/>
        </p:spPr>
        <p:txBody>
          <a:bodyPr wrap="square" lIns="0" tIns="0" rIns="0" bIns="0" rtlCol="0" anchor="ctr"/>
          <a:lstStyle/>
          <a:p>
            <a:pPr marL="0" indent="0">
              <a:buNone/>
            </a:pPr>
            <a:r>
              <a:rPr lang="it-IT" sz="1300" noProof="0" dirty="0">
                <a:solidFill>
                  <a:schemeClr val="tx1"/>
                </a:solidFill>
              </a:rPr>
              <a:t>I Large Language Models apprendono rappresentazioni complesse del linguaggio e delle relazioni presenti nei dati. Questo consente loro di affrontare numerosi compiti attraverso istruzioni e contesto, con prestazioni da valutare in funzione dell'utilizzo.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36</a:t>
            </a:fld>
            <a:endParaRPr lang="it-IT" noProof="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Capacità linguistiche, di analisi e di ragionamento</a:t>
            </a:r>
            <a:endParaRPr lang="it-IT" sz="2600" noProof="0" dirty="0"/>
          </a:p>
        </p:txBody>
      </p:sp>
      <p:sp>
        <p:nvSpPr>
          <p:cNvPr id="4" name="scheda Linguistiche"/>
          <p:cNvSpPr/>
          <p:nvPr/>
        </p:nvSpPr>
        <p:spPr>
          <a:xfrm>
            <a:off x="457200" y="1097280"/>
            <a:ext cx="2615184" cy="2697480"/>
          </a:xfrm>
          <a:prstGeom prst="roundRect">
            <a:avLst>
              <a:gd name="adj" fmla="val 2797"/>
            </a:avLst>
          </a:prstGeom>
          <a:solidFill>
            <a:schemeClr val="accent6"/>
          </a:solidFill>
          <a:ln/>
        </p:spPr>
        <p:txBody>
          <a:bodyPr/>
          <a:lstStyle/>
          <a:p>
            <a:endParaRPr lang="it-IT" noProof="0" dirty="0"/>
          </a:p>
        </p:txBody>
      </p:sp>
      <p:sp>
        <p:nvSpPr>
          <p:cNvPr id="5" name="cerchio FiEdit3"/>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Edit3"/>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Linguistiche</a:t>
            </a:r>
            <a:endParaRPr lang="it-IT" sz="1600" noProof="0" dirty="0"/>
          </a:p>
        </p:txBody>
      </p:sp>
      <p:sp>
        <p:nvSpPr>
          <p:cNvPr id="8" name="Text 4"/>
          <p:cNvSpPr txBox="1"/>
          <p:nvPr/>
        </p:nvSpPr>
        <p:spPr>
          <a:xfrm>
            <a:off x="640080" y="2231136"/>
            <a:ext cx="2249424" cy="1453896"/>
          </a:xfrm>
          <a:prstGeom prst="rect">
            <a:avLst/>
          </a:prstGeom>
          <a:noFill/>
          <a:ln/>
        </p:spPr>
        <p:txBody>
          <a:bodyPr wrap="square" lIns="0" tIns="0" rIns="0" bIns="0" rtlCol="0" anchor="t"/>
          <a:lstStyle/>
          <a:p>
            <a:pPr marL="177800" indent="-177800">
              <a:spcAft>
                <a:spcPts val="300"/>
              </a:spcAft>
              <a:buSzPct val="100000"/>
              <a:buChar char="•"/>
            </a:pPr>
            <a:r>
              <a:rPr lang="it-IT" sz="1300" noProof="0" dirty="0">
                <a:solidFill>
                  <a:schemeClr val="tx2"/>
                </a:solidFill>
              </a:rPr>
              <a:t>Scrivere e riformulare</a:t>
            </a:r>
            <a:endParaRPr lang="it-IT" sz="1300" noProof="0" dirty="0"/>
          </a:p>
          <a:p>
            <a:pPr marL="177800" indent="-177800">
              <a:spcAft>
                <a:spcPts val="300"/>
              </a:spcAft>
              <a:buSzPct val="100000"/>
              <a:buChar char="•"/>
            </a:pPr>
            <a:r>
              <a:rPr lang="it-IT" sz="1300" noProof="0" dirty="0">
                <a:solidFill>
                  <a:schemeClr val="tx2"/>
                </a:solidFill>
              </a:rPr>
              <a:t>Adattare stile e registro</a:t>
            </a:r>
            <a:endParaRPr lang="it-IT" sz="1300" noProof="0" dirty="0"/>
          </a:p>
          <a:p>
            <a:pPr marL="177800" indent="-177800">
              <a:spcAft>
                <a:spcPts val="300"/>
              </a:spcAft>
              <a:buSzPct val="100000"/>
              <a:buChar char="•"/>
            </a:pPr>
            <a:r>
              <a:rPr lang="it-IT" sz="1300" noProof="0" dirty="0">
                <a:solidFill>
                  <a:schemeClr val="tx2"/>
                </a:solidFill>
              </a:rPr>
              <a:t>Tradurre e correggere</a:t>
            </a:r>
            <a:endParaRPr lang="it-IT" sz="1300" noProof="0" dirty="0"/>
          </a:p>
          <a:p>
            <a:pPr marL="177800" indent="-177800">
              <a:spcAft>
                <a:spcPts val="300"/>
              </a:spcAft>
              <a:buSzPct val="100000"/>
              <a:buChar char="•"/>
            </a:pPr>
            <a:r>
              <a:rPr lang="it-IT" sz="1300" noProof="0" dirty="0">
                <a:solidFill>
                  <a:schemeClr val="tx2"/>
                </a:solidFill>
              </a:rPr>
              <a:t>Sintetizzare</a:t>
            </a:r>
            <a:endParaRPr lang="it-IT" sz="1300" noProof="0" dirty="0"/>
          </a:p>
        </p:txBody>
      </p:sp>
      <p:sp>
        <p:nvSpPr>
          <p:cNvPr id="9" name="scheda Di analisi"/>
          <p:cNvSpPr/>
          <p:nvPr/>
        </p:nvSpPr>
        <p:spPr>
          <a:xfrm>
            <a:off x="3264408" y="1097280"/>
            <a:ext cx="2615184" cy="2697480"/>
          </a:xfrm>
          <a:prstGeom prst="roundRect">
            <a:avLst>
              <a:gd name="adj" fmla="val 2797"/>
            </a:avLst>
          </a:prstGeom>
          <a:solidFill>
            <a:schemeClr val="bg2"/>
          </a:solidFill>
          <a:ln/>
        </p:spPr>
        <p:txBody>
          <a:bodyPr/>
          <a:lstStyle/>
          <a:p>
            <a:endParaRPr lang="it-IT" noProof="0" dirty="0"/>
          </a:p>
        </p:txBody>
      </p:sp>
      <p:sp>
        <p:nvSpPr>
          <p:cNvPr id="10" name="cerchio FiSearch"/>
          <p:cNvSpPr/>
          <p:nvPr/>
        </p:nvSpPr>
        <p:spPr>
          <a:xfrm>
            <a:off x="3447288" y="1280160"/>
            <a:ext cx="457200" cy="457200"/>
          </a:xfrm>
          <a:prstGeom prst="ellipse">
            <a:avLst/>
          </a:prstGeom>
          <a:solidFill>
            <a:schemeClr val="accent1"/>
          </a:solidFill>
          <a:ln/>
        </p:spPr>
        <p:txBody>
          <a:bodyPr/>
          <a:lstStyle/>
          <a:p>
            <a:endParaRPr lang="it-IT" noProof="0" dirty="0"/>
          </a:p>
        </p:txBody>
      </p:sp>
      <p:pic>
        <p:nvPicPr>
          <p:cNvPr id="11" name="Image 1" descr="FiSearch"/>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Di analisi</a:t>
            </a:r>
            <a:endParaRPr lang="it-IT" sz="1600" noProof="0" dirty="0"/>
          </a:p>
        </p:txBody>
      </p:sp>
      <p:sp>
        <p:nvSpPr>
          <p:cNvPr id="13" name="Text 8"/>
          <p:cNvSpPr txBox="1"/>
          <p:nvPr/>
        </p:nvSpPr>
        <p:spPr>
          <a:xfrm>
            <a:off x="3447288" y="2231136"/>
            <a:ext cx="2249424" cy="1453896"/>
          </a:xfrm>
          <a:prstGeom prst="rect">
            <a:avLst/>
          </a:prstGeom>
          <a:noFill/>
          <a:ln/>
        </p:spPr>
        <p:txBody>
          <a:bodyPr wrap="square" lIns="0" tIns="0" rIns="0" bIns="0" rtlCol="0" anchor="t"/>
          <a:lstStyle/>
          <a:p>
            <a:pPr marL="177800" indent="-177800">
              <a:spcAft>
                <a:spcPts val="300"/>
              </a:spcAft>
              <a:buSzPct val="100000"/>
              <a:buChar char="•"/>
            </a:pPr>
            <a:r>
              <a:rPr lang="it-IT" sz="1300" noProof="0" dirty="0">
                <a:solidFill>
                  <a:schemeClr val="tx2"/>
                </a:solidFill>
              </a:rPr>
              <a:t>Estrarre informazioni</a:t>
            </a:r>
            <a:endParaRPr lang="it-IT" sz="1300" noProof="0" dirty="0"/>
          </a:p>
          <a:p>
            <a:pPr marL="177800" indent="-177800">
              <a:spcAft>
                <a:spcPts val="300"/>
              </a:spcAft>
              <a:buSzPct val="100000"/>
              <a:buChar char="•"/>
            </a:pPr>
            <a:r>
              <a:rPr lang="it-IT" sz="1300" noProof="0" dirty="0">
                <a:solidFill>
                  <a:schemeClr val="tx2"/>
                </a:solidFill>
              </a:rPr>
              <a:t>Classificare e confrontare</a:t>
            </a:r>
            <a:endParaRPr lang="it-IT" sz="1300" noProof="0" dirty="0"/>
          </a:p>
          <a:p>
            <a:pPr marL="177800" indent="-177800">
              <a:spcAft>
                <a:spcPts val="300"/>
              </a:spcAft>
              <a:buSzPct val="100000"/>
              <a:buChar char="•"/>
            </a:pPr>
            <a:r>
              <a:rPr lang="it-IT" sz="1300" noProof="0" dirty="0">
                <a:solidFill>
                  <a:schemeClr val="tx2"/>
                </a:solidFill>
              </a:rPr>
              <a:t>Individuare temi ricorrenti</a:t>
            </a:r>
            <a:endParaRPr lang="it-IT" sz="1300" noProof="0" dirty="0"/>
          </a:p>
          <a:p>
            <a:pPr marL="177800" indent="-177800">
              <a:spcAft>
                <a:spcPts val="300"/>
              </a:spcAft>
              <a:buSzPct val="100000"/>
              <a:buChar char="•"/>
            </a:pPr>
            <a:r>
              <a:rPr lang="it-IT" sz="1300" noProof="0" dirty="0">
                <a:solidFill>
                  <a:schemeClr val="tx2"/>
                </a:solidFill>
              </a:rPr>
              <a:t>Strutturare dati disordinati</a:t>
            </a:r>
            <a:endParaRPr lang="it-IT" sz="1300" noProof="0" dirty="0"/>
          </a:p>
        </p:txBody>
      </p:sp>
      <p:sp>
        <p:nvSpPr>
          <p:cNvPr id="14" name="scheda Di ragionamento"/>
          <p:cNvSpPr/>
          <p:nvPr/>
        </p:nvSpPr>
        <p:spPr>
          <a:xfrm>
            <a:off x="6071616" y="1097280"/>
            <a:ext cx="2615184" cy="2697480"/>
          </a:xfrm>
          <a:prstGeom prst="roundRect">
            <a:avLst>
              <a:gd name="adj" fmla="val 2797"/>
            </a:avLst>
          </a:prstGeom>
          <a:solidFill>
            <a:schemeClr val="bg2"/>
          </a:solidFill>
          <a:ln/>
        </p:spPr>
        <p:txBody>
          <a:bodyPr/>
          <a:lstStyle/>
          <a:p>
            <a:endParaRPr lang="it-IT" noProof="0" dirty="0"/>
          </a:p>
        </p:txBody>
      </p:sp>
      <p:sp>
        <p:nvSpPr>
          <p:cNvPr id="15" name="cerchio FiGitBranch"/>
          <p:cNvSpPr/>
          <p:nvPr/>
        </p:nvSpPr>
        <p:spPr>
          <a:xfrm>
            <a:off x="6254496" y="1280160"/>
            <a:ext cx="457200" cy="457200"/>
          </a:xfrm>
          <a:prstGeom prst="ellipse">
            <a:avLst/>
          </a:prstGeom>
          <a:solidFill>
            <a:schemeClr val="accent1"/>
          </a:solidFill>
          <a:ln/>
        </p:spPr>
        <p:txBody>
          <a:bodyPr/>
          <a:lstStyle/>
          <a:p>
            <a:endParaRPr lang="it-IT" noProof="0" dirty="0"/>
          </a:p>
        </p:txBody>
      </p:sp>
      <p:pic>
        <p:nvPicPr>
          <p:cNvPr id="16" name="Image 2" descr="FiGitBranch"/>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Di ragionamento</a:t>
            </a:r>
            <a:endParaRPr lang="it-IT" sz="1600" noProof="0" dirty="0"/>
          </a:p>
        </p:txBody>
      </p:sp>
      <p:sp>
        <p:nvSpPr>
          <p:cNvPr id="18" name="Text 12"/>
          <p:cNvSpPr txBox="1"/>
          <p:nvPr/>
        </p:nvSpPr>
        <p:spPr>
          <a:xfrm>
            <a:off x="6254496" y="2231136"/>
            <a:ext cx="2249424" cy="1453896"/>
          </a:xfrm>
          <a:prstGeom prst="rect">
            <a:avLst/>
          </a:prstGeom>
          <a:noFill/>
          <a:ln/>
        </p:spPr>
        <p:txBody>
          <a:bodyPr wrap="square" lIns="0" tIns="0" rIns="0" bIns="0" rtlCol="0" anchor="t"/>
          <a:lstStyle/>
          <a:p>
            <a:pPr marL="177800" indent="-177800">
              <a:spcAft>
                <a:spcPts val="300"/>
              </a:spcAft>
              <a:buSzPct val="100000"/>
              <a:buChar char="•"/>
            </a:pPr>
            <a:r>
              <a:rPr lang="it-IT" sz="1300" noProof="0" dirty="0">
                <a:solidFill>
                  <a:schemeClr val="tx2"/>
                </a:solidFill>
              </a:rPr>
              <a:t>Scomporre problemi</a:t>
            </a:r>
            <a:endParaRPr lang="it-IT" sz="1300" noProof="0" dirty="0"/>
          </a:p>
          <a:p>
            <a:pPr marL="177800" indent="-177800">
              <a:spcAft>
                <a:spcPts val="300"/>
              </a:spcAft>
              <a:buSzPct val="100000"/>
              <a:buChar char="•"/>
            </a:pPr>
            <a:r>
              <a:rPr lang="it-IT" sz="1300" noProof="0" dirty="0">
                <a:solidFill>
                  <a:schemeClr val="tx2"/>
                </a:solidFill>
              </a:rPr>
              <a:t>Seguire catene logiche</a:t>
            </a:r>
            <a:endParaRPr lang="it-IT" sz="1300" noProof="0" dirty="0"/>
          </a:p>
          <a:p>
            <a:pPr marL="177800" indent="-177800">
              <a:spcAft>
                <a:spcPts val="300"/>
              </a:spcAft>
              <a:buSzPct val="100000"/>
              <a:buChar char="•"/>
            </a:pPr>
            <a:r>
              <a:rPr lang="it-IT" sz="1300" noProof="0" dirty="0">
                <a:solidFill>
                  <a:schemeClr val="tx2"/>
                </a:solidFill>
              </a:rPr>
              <a:t>Pianificare</a:t>
            </a:r>
            <a:endParaRPr lang="it-IT" sz="1300" noProof="0" dirty="0"/>
          </a:p>
          <a:p>
            <a:pPr marL="177800" indent="-177800">
              <a:spcAft>
                <a:spcPts val="300"/>
              </a:spcAft>
              <a:buSzPct val="100000"/>
              <a:buChar char="•"/>
            </a:pPr>
            <a:r>
              <a:rPr lang="it-IT" sz="1300" noProof="0" dirty="0">
                <a:solidFill>
                  <a:schemeClr val="tx2"/>
                </a:solidFill>
              </a:rPr>
              <a:t>Matematica e codice</a:t>
            </a:r>
            <a:endParaRPr lang="it-IT" sz="1300" noProof="0" dirty="0"/>
          </a:p>
        </p:txBody>
      </p:sp>
      <p:sp>
        <p:nvSpPr>
          <p:cNvPr id="19" name="avvertenza"/>
          <p:cNvSpPr/>
          <p:nvPr/>
        </p:nvSpPr>
        <p:spPr>
          <a:xfrm>
            <a:off x="457200" y="3931920"/>
            <a:ext cx="8229600" cy="594360"/>
          </a:xfrm>
          <a:prstGeom prst="roundRect">
            <a:avLst>
              <a:gd name="adj" fmla="val 12308"/>
            </a:avLst>
          </a:prstGeom>
          <a:solidFill>
            <a:schemeClr val="tx1"/>
          </a:solidFill>
          <a:ln/>
        </p:spPr>
        <p:txBody>
          <a:bodyPr/>
          <a:lstStyle/>
          <a:p>
            <a:endParaRPr lang="it-IT" noProof="0" dirty="0"/>
          </a:p>
        </p:txBody>
      </p:sp>
      <p:sp>
        <p:nvSpPr>
          <p:cNvPr id="20" name="Text 14"/>
          <p:cNvSpPr txBox="1"/>
          <p:nvPr/>
        </p:nvSpPr>
        <p:spPr>
          <a:xfrm>
            <a:off x="640080" y="3931920"/>
            <a:ext cx="7863840" cy="594360"/>
          </a:xfrm>
          <a:prstGeom prst="rect">
            <a:avLst/>
          </a:prstGeom>
          <a:noFill/>
          <a:ln/>
        </p:spPr>
        <p:txBody>
          <a:bodyPr wrap="square" lIns="0" tIns="0" rIns="0" bIns="0" rtlCol="0" anchor="ctr"/>
          <a:lstStyle/>
          <a:p>
            <a:pPr marL="0" indent="0">
              <a:buNone/>
            </a:pPr>
            <a:r>
              <a:rPr lang="it-IT" sz="1400" noProof="0" dirty="0">
                <a:solidFill>
                  <a:schemeClr val="bg1"/>
                </a:solidFill>
              </a:rPr>
              <a:t>Reali e misurabili, ma irregolari e non infallibili: la verifica cresce con l'importanza del risultato.</a:t>
            </a:r>
            <a:endParaRPr lang="it-IT" sz="14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37</a:t>
            </a:fld>
            <a:endParaRPr lang="it-IT"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Perché un modello può affrontare compiti diversi</a:t>
            </a:r>
            <a:endParaRPr lang="it-IT" sz="2600" noProof="0" dirty="0"/>
          </a:p>
        </p:txBody>
      </p:sp>
      <p:sp>
        <p:nvSpPr>
          <p:cNvPr id="4" name="testo input"/>
          <p:cNvSpPr/>
          <p:nvPr/>
        </p:nvSpPr>
        <p:spPr>
          <a:xfrm>
            <a:off x="457200" y="2103120"/>
            <a:ext cx="1828800" cy="1097280"/>
          </a:xfrm>
          <a:prstGeom prst="roundRect">
            <a:avLst>
              <a:gd name="adj" fmla="val 6667"/>
            </a:avLst>
          </a:prstGeom>
          <a:solidFill>
            <a:schemeClr val="bg2"/>
          </a:solidFill>
          <a:ln/>
        </p:spPr>
        <p:txBody>
          <a:bodyPr/>
          <a:lstStyle/>
          <a:p>
            <a:endParaRPr lang="it-IT" noProof="0" dirty="0"/>
          </a:p>
        </p:txBody>
      </p:sp>
      <p:sp>
        <p:nvSpPr>
          <p:cNvPr id="5" name="Text 2"/>
          <p:cNvSpPr txBox="1"/>
          <p:nvPr/>
        </p:nvSpPr>
        <p:spPr>
          <a:xfrm>
            <a:off x="548640" y="2103120"/>
            <a:ext cx="1645920" cy="1097280"/>
          </a:xfrm>
          <a:prstGeom prst="rect">
            <a:avLst/>
          </a:prstGeom>
          <a:noFill/>
          <a:ln/>
        </p:spPr>
        <p:txBody>
          <a:bodyPr wrap="square" lIns="0" tIns="0" rIns="0" bIns="0" rtlCol="0" anchor="ctr"/>
          <a:lstStyle/>
          <a:p>
            <a:pPr marL="0" indent="0" algn="ctr">
              <a:buNone/>
            </a:pPr>
            <a:r>
              <a:rPr lang="it-IT" sz="1400" b="1" noProof="0" dirty="0">
                <a:solidFill>
                  <a:schemeClr val="tx1"/>
                </a:solidFill>
              </a:rPr>
              <a:t>Testo in ingresso + istruzione</a:t>
            </a:r>
            <a:endParaRPr lang="it-IT" sz="1400" noProof="0" dirty="0"/>
          </a:p>
        </p:txBody>
      </p:sp>
      <p:sp>
        <p:nvSpPr>
          <p:cNvPr id="6" name="freccia"/>
          <p:cNvSpPr/>
          <p:nvPr/>
        </p:nvSpPr>
        <p:spPr>
          <a:xfrm>
            <a:off x="2377440" y="2505456"/>
            <a:ext cx="457200" cy="292608"/>
          </a:xfrm>
          <a:prstGeom prst="rightArrow">
            <a:avLst/>
          </a:prstGeom>
          <a:solidFill>
            <a:schemeClr val="accent1"/>
          </a:solidFill>
          <a:ln/>
        </p:spPr>
        <p:txBody>
          <a:bodyPr/>
          <a:lstStyle/>
          <a:p>
            <a:endParaRPr lang="it-IT" noProof="0" dirty="0"/>
          </a:p>
        </p:txBody>
      </p:sp>
      <p:sp>
        <p:nvSpPr>
          <p:cNvPr id="7" name="stesso modello"/>
          <p:cNvSpPr/>
          <p:nvPr/>
        </p:nvSpPr>
        <p:spPr>
          <a:xfrm>
            <a:off x="2971800" y="1188720"/>
            <a:ext cx="2743200" cy="2926080"/>
          </a:xfrm>
          <a:prstGeom prst="roundRect">
            <a:avLst>
              <a:gd name="adj" fmla="val 2667"/>
            </a:avLst>
          </a:prstGeom>
          <a:solidFill>
            <a:schemeClr val="accent1"/>
          </a:solidFill>
          <a:ln/>
        </p:spPr>
        <p:txBody>
          <a:bodyPr/>
          <a:lstStyle/>
          <a:p>
            <a:endParaRPr lang="it-IT" noProof="0" dirty="0"/>
          </a:p>
        </p:txBody>
      </p:sp>
      <p:sp>
        <p:nvSpPr>
          <p:cNvPr id="8" name="Text 5"/>
          <p:cNvSpPr txBox="1"/>
          <p:nvPr/>
        </p:nvSpPr>
        <p:spPr>
          <a:xfrm>
            <a:off x="3017520" y="1280160"/>
            <a:ext cx="2651760" cy="365760"/>
          </a:xfrm>
          <a:prstGeom prst="rect">
            <a:avLst/>
          </a:prstGeom>
          <a:noFill/>
          <a:ln/>
        </p:spPr>
        <p:txBody>
          <a:bodyPr wrap="square" lIns="0" tIns="0" rIns="0" bIns="0" rtlCol="0" anchor="t"/>
          <a:lstStyle/>
          <a:p>
            <a:pPr marL="0" indent="0" algn="ctr">
              <a:buNone/>
            </a:pPr>
            <a:r>
              <a:rPr lang="it-IT" sz="1500" b="1" noProof="0" dirty="0">
                <a:solidFill>
                  <a:schemeClr val="bg1"/>
                </a:solidFill>
              </a:rPr>
              <a:t>Lo stesso modello</a:t>
            </a:r>
            <a:endParaRPr lang="it-IT" sz="1500" noProof="0" dirty="0"/>
          </a:p>
        </p:txBody>
      </p:sp>
      <p:sp>
        <p:nvSpPr>
          <p:cNvPr id="9" name="blocco Tradurre"/>
          <p:cNvSpPr/>
          <p:nvPr/>
        </p:nvSpPr>
        <p:spPr>
          <a:xfrm>
            <a:off x="3200400" y="1737360"/>
            <a:ext cx="2286000" cy="310896"/>
          </a:xfrm>
          <a:prstGeom prst="roundRect">
            <a:avLst>
              <a:gd name="adj" fmla="val 35294"/>
            </a:avLst>
          </a:prstGeom>
          <a:solidFill>
            <a:schemeClr val="bg1"/>
          </a:solidFill>
          <a:ln/>
        </p:spPr>
        <p:txBody>
          <a:bodyPr/>
          <a:lstStyle/>
          <a:p>
            <a:endParaRPr lang="it-IT" noProof="0" dirty="0"/>
          </a:p>
        </p:txBody>
      </p:sp>
      <p:sp>
        <p:nvSpPr>
          <p:cNvPr id="10" name="Text 7"/>
          <p:cNvSpPr txBox="1"/>
          <p:nvPr/>
        </p:nvSpPr>
        <p:spPr>
          <a:xfrm>
            <a:off x="3246120" y="1737360"/>
            <a:ext cx="2194560" cy="310896"/>
          </a:xfrm>
          <a:prstGeom prst="rect">
            <a:avLst/>
          </a:prstGeom>
          <a:noFill/>
          <a:ln/>
        </p:spPr>
        <p:txBody>
          <a:bodyPr wrap="square" lIns="0" tIns="0" rIns="0" bIns="0" rtlCol="0" anchor="ctr"/>
          <a:lstStyle/>
          <a:p>
            <a:pPr marL="0" indent="0" algn="ctr">
              <a:buNone/>
            </a:pPr>
            <a:r>
              <a:rPr lang="it-IT" sz="1200" b="1" noProof="0" dirty="0">
                <a:solidFill>
                  <a:schemeClr val="accent1"/>
                </a:solidFill>
              </a:rPr>
              <a:t>Tradurre</a:t>
            </a:r>
            <a:endParaRPr lang="it-IT" sz="1200" noProof="0" dirty="0"/>
          </a:p>
        </p:txBody>
      </p:sp>
      <p:sp>
        <p:nvSpPr>
          <p:cNvPr id="11" name="blocco Riassumere"/>
          <p:cNvSpPr/>
          <p:nvPr/>
        </p:nvSpPr>
        <p:spPr>
          <a:xfrm>
            <a:off x="3200400" y="2121408"/>
            <a:ext cx="2286000" cy="310896"/>
          </a:xfrm>
          <a:prstGeom prst="roundRect">
            <a:avLst>
              <a:gd name="adj" fmla="val 35294"/>
            </a:avLst>
          </a:prstGeom>
          <a:solidFill>
            <a:schemeClr val="bg1"/>
          </a:solidFill>
          <a:ln/>
        </p:spPr>
        <p:txBody>
          <a:bodyPr/>
          <a:lstStyle/>
          <a:p>
            <a:endParaRPr lang="it-IT" noProof="0" dirty="0"/>
          </a:p>
        </p:txBody>
      </p:sp>
      <p:sp>
        <p:nvSpPr>
          <p:cNvPr id="12" name="Text 9"/>
          <p:cNvSpPr txBox="1"/>
          <p:nvPr/>
        </p:nvSpPr>
        <p:spPr>
          <a:xfrm>
            <a:off x="3246120" y="2121408"/>
            <a:ext cx="2194560" cy="310896"/>
          </a:xfrm>
          <a:prstGeom prst="rect">
            <a:avLst/>
          </a:prstGeom>
          <a:noFill/>
          <a:ln/>
        </p:spPr>
        <p:txBody>
          <a:bodyPr wrap="square" lIns="0" tIns="0" rIns="0" bIns="0" rtlCol="0" anchor="ctr"/>
          <a:lstStyle/>
          <a:p>
            <a:pPr marL="0" indent="0" algn="ctr">
              <a:buNone/>
            </a:pPr>
            <a:r>
              <a:rPr lang="it-IT" sz="1200" b="1" noProof="0" dirty="0">
                <a:solidFill>
                  <a:schemeClr val="accent1"/>
                </a:solidFill>
              </a:rPr>
              <a:t>Riassumere</a:t>
            </a:r>
            <a:endParaRPr lang="it-IT" sz="1200" noProof="0" dirty="0"/>
          </a:p>
        </p:txBody>
      </p:sp>
      <p:sp>
        <p:nvSpPr>
          <p:cNvPr id="13" name="blocco Classificare"/>
          <p:cNvSpPr/>
          <p:nvPr/>
        </p:nvSpPr>
        <p:spPr>
          <a:xfrm>
            <a:off x="3200400" y="2505456"/>
            <a:ext cx="2286000" cy="310896"/>
          </a:xfrm>
          <a:prstGeom prst="roundRect">
            <a:avLst>
              <a:gd name="adj" fmla="val 35294"/>
            </a:avLst>
          </a:prstGeom>
          <a:solidFill>
            <a:schemeClr val="bg1"/>
          </a:solidFill>
          <a:ln/>
        </p:spPr>
        <p:txBody>
          <a:bodyPr/>
          <a:lstStyle/>
          <a:p>
            <a:endParaRPr lang="it-IT" noProof="0" dirty="0"/>
          </a:p>
        </p:txBody>
      </p:sp>
      <p:sp>
        <p:nvSpPr>
          <p:cNvPr id="14" name="Text 11"/>
          <p:cNvSpPr txBox="1"/>
          <p:nvPr/>
        </p:nvSpPr>
        <p:spPr>
          <a:xfrm>
            <a:off x="3246120" y="2505456"/>
            <a:ext cx="2194560" cy="310896"/>
          </a:xfrm>
          <a:prstGeom prst="rect">
            <a:avLst/>
          </a:prstGeom>
          <a:noFill/>
          <a:ln/>
        </p:spPr>
        <p:txBody>
          <a:bodyPr wrap="square" lIns="0" tIns="0" rIns="0" bIns="0" rtlCol="0" anchor="ctr"/>
          <a:lstStyle/>
          <a:p>
            <a:pPr marL="0" indent="0" algn="ctr">
              <a:buNone/>
            </a:pPr>
            <a:r>
              <a:rPr lang="it-IT" sz="1200" b="1" noProof="0" dirty="0">
                <a:solidFill>
                  <a:schemeClr val="accent1"/>
                </a:solidFill>
              </a:rPr>
              <a:t>Classificare</a:t>
            </a:r>
            <a:endParaRPr lang="it-IT" sz="1200" noProof="0" dirty="0"/>
          </a:p>
        </p:txBody>
      </p:sp>
      <p:sp>
        <p:nvSpPr>
          <p:cNvPr id="15" name="blocco Rispondere"/>
          <p:cNvSpPr/>
          <p:nvPr/>
        </p:nvSpPr>
        <p:spPr>
          <a:xfrm>
            <a:off x="3200400" y="2889504"/>
            <a:ext cx="2286000" cy="310896"/>
          </a:xfrm>
          <a:prstGeom prst="roundRect">
            <a:avLst>
              <a:gd name="adj" fmla="val 35294"/>
            </a:avLst>
          </a:prstGeom>
          <a:solidFill>
            <a:schemeClr val="bg1"/>
          </a:solidFill>
          <a:ln/>
        </p:spPr>
        <p:txBody>
          <a:bodyPr/>
          <a:lstStyle/>
          <a:p>
            <a:endParaRPr lang="it-IT" noProof="0" dirty="0"/>
          </a:p>
        </p:txBody>
      </p:sp>
      <p:sp>
        <p:nvSpPr>
          <p:cNvPr id="16" name="Text 13"/>
          <p:cNvSpPr txBox="1"/>
          <p:nvPr/>
        </p:nvSpPr>
        <p:spPr>
          <a:xfrm>
            <a:off x="3246120" y="2889504"/>
            <a:ext cx="2194560" cy="310896"/>
          </a:xfrm>
          <a:prstGeom prst="rect">
            <a:avLst/>
          </a:prstGeom>
          <a:noFill/>
          <a:ln/>
        </p:spPr>
        <p:txBody>
          <a:bodyPr wrap="square" lIns="0" tIns="0" rIns="0" bIns="0" rtlCol="0" anchor="ctr"/>
          <a:lstStyle/>
          <a:p>
            <a:pPr marL="0" indent="0" algn="ctr">
              <a:buNone/>
            </a:pPr>
            <a:r>
              <a:rPr lang="it-IT" sz="1200" b="1" noProof="0" dirty="0">
                <a:solidFill>
                  <a:schemeClr val="accent1"/>
                </a:solidFill>
              </a:rPr>
              <a:t>Rispondere</a:t>
            </a:r>
            <a:endParaRPr lang="it-IT" sz="1200" noProof="0" dirty="0"/>
          </a:p>
        </p:txBody>
      </p:sp>
      <p:sp>
        <p:nvSpPr>
          <p:cNvPr id="17" name="blocco Scrivere codice"/>
          <p:cNvSpPr/>
          <p:nvPr/>
        </p:nvSpPr>
        <p:spPr>
          <a:xfrm>
            <a:off x="3200400" y="3273552"/>
            <a:ext cx="2286000" cy="310896"/>
          </a:xfrm>
          <a:prstGeom prst="roundRect">
            <a:avLst>
              <a:gd name="adj" fmla="val 35294"/>
            </a:avLst>
          </a:prstGeom>
          <a:solidFill>
            <a:schemeClr val="bg1"/>
          </a:solidFill>
          <a:ln/>
        </p:spPr>
        <p:txBody>
          <a:bodyPr/>
          <a:lstStyle/>
          <a:p>
            <a:endParaRPr lang="it-IT" noProof="0" dirty="0"/>
          </a:p>
        </p:txBody>
      </p:sp>
      <p:sp>
        <p:nvSpPr>
          <p:cNvPr id="18" name="Text 15"/>
          <p:cNvSpPr txBox="1"/>
          <p:nvPr/>
        </p:nvSpPr>
        <p:spPr>
          <a:xfrm>
            <a:off x="3246120" y="3273552"/>
            <a:ext cx="2194560" cy="310896"/>
          </a:xfrm>
          <a:prstGeom prst="rect">
            <a:avLst/>
          </a:prstGeom>
          <a:noFill/>
          <a:ln/>
        </p:spPr>
        <p:txBody>
          <a:bodyPr wrap="square" lIns="0" tIns="0" rIns="0" bIns="0" rtlCol="0" anchor="ctr"/>
          <a:lstStyle/>
          <a:p>
            <a:pPr marL="0" indent="0" algn="ctr">
              <a:buNone/>
            </a:pPr>
            <a:r>
              <a:rPr lang="it-IT" sz="1200" b="1" noProof="0" dirty="0">
                <a:solidFill>
                  <a:schemeClr val="accent1"/>
                </a:solidFill>
              </a:rPr>
              <a:t>Scrivere codice</a:t>
            </a:r>
            <a:endParaRPr lang="it-IT" sz="1200" noProof="0" dirty="0"/>
          </a:p>
        </p:txBody>
      </p:sp>
      <p:sp>
        <p:nvSpPr>
          <p:cNvPr id="19" name="blocco Estrarre dati"/>
          <p:cNvSpPr/>
          <p:nvPr/>
        </p:nvSpPr>
        <p:spPr>
          <a:xfrm>
            <a:off x="3200400" y="3657600"/>
            <a:ext cx="2286000" cy="310896"/>
          </a:xfrm>
          <a:prstGeom prst="roundRect">
            <a:avLst>
              <a:gd name="adj" fmla="val 35294"/>
            </a:avLst>
          </a:prstGeom>
          <a:solidFill>
            <a:schemeClr val="bg1"/>
          </a:solidFill>
          <a:ln/>
        </p:spPr>
        <p:txBody>
          <a:bodyPr/>
          <a:lstStyle/>
          <a:p>
            <a:endParaRPr lang="it-IT" noProof="0" dirty="0"/>
          </a:p>
        </p:txBody>
      </p:sp>
      <p:sp>
        <p:nvSpPr>
          <p:cNvPr id="20" name="Text 17"/>
          <p:cNvSpPr txBox="1"/>
          <p:nvPr/>
        </p:nvSpPr>
        <p:spPr>
          <a:xfrm>
            <a:off x="3246120" y="3657600"/>
            <a:ext cx="2194560" cy="310896"/>
          </a:xfrm>
          <a:prstGeom prst="rect">
            <a:avLst/>
          </a:prstGeom>
          <a:noFill/>
          <a:ln/>
        </p:spPr>
        <p:txBody>
          <a:bodyPr wrap="square" lIns="0" tIns="0" rIns="0" bIns="0" rtlCol="0" anchor="ctr"/>
          <a:lstStyle/>
          <a:p>
            <a:pPr marL="0" indent="0" algn="ctr">
              <a:buNone/>
            </a:pPr>
            <a:r>
              <a:rPr lang="it-IT" sz="1200" b="1" noProof="0" dirty="0">
                <a:solidFill>
                  <a:schemeClr val="accent1"/>
                </a:solidFill>
              </a:rPr>
              <a:t>Estrarre dati</a:t>
            </a:r>
            <a:endParaRPr lang="it-IT" sz="1200" noProof="0" dirty="0"/>
          </a:p>
        </p:txBody>
      </p:sp>
      <p:sp>
        <p:nvSpPr>
          <p:cNvPr id="21" name="freccia"/>
          <p:cNvSpPr/>
          <p:nvPr/>
        </p:nvSpPr>
        <p:spPr>
          <a:xfrm>
            <a:off x="5806440" y="2505456"/>
            <a:ext cx="457200" cy="292608"/>
          </a:xfrm>
          <a:prstGeom prst="rightArrow">
            <a:avLst/>
          </a:prstGeom>
          <a:solidFill>
            <a:schemeClr val="accent1"/>
          </a:solidFill>
          <a:ln/>
        </p:spPr>
        <p:txBody>
          <a:bodyPr/>
          <a:lstStyle/>
          <a:p>
            <a:endParaRPr lang="it-IT" noProof="0" dirty="0"/>
          </a:p>
        </p:txBody>
      </p:sp>
      <p:sp>
        <p:nvSpPr>
          <p:cNvPr id="22" name="testo output"/>
          <p:cNvSpPr/>
          <p:nvPr/>
        </p:nvSpPr>
        <p:spPr>
          <a:xfrm>
            <a:off x="6400800" y="2103120"/>
            <a:ext cx="2286000" cy="1097280"/>
          </a:xfrm>
          <a:prstGeom prst="roundRect">
            <a:avLst>
              <a:gd name="adj" fmla="val 6667"/>
            </a:avLst>
          </a:prstGeom>
          <a:solidFill>
            <a:schemeClr val="accent6"/>
          </a:solidFill>
          <a:ln/>
        </p:spPr>
        <p:txBody>
          <a:bodyPr/>
          <a:lstStyle/>
          <a:p>
            <a:endParaRPr lang="it-IT" noProof="0" dirty="0"/>
          </a:p>
        </p:txBody>
      </p:sp>
      <p:sp>
        <p:nvSpPr>
          <p:cNvPr id="23" name="Text 20"/>
          <p:cNvSpPr txBox="1"/>
          <p:nvPr/>
        </p:nvSpPr>
        <p:spPr>
          <a:xfrm>
            <a:off x="6492240" y="2103120"/>
            <a:ext cx="2103120" cy="1097280"/>
          </a:xfrm>
          <a:prstGeom prst="rect">
            <a:avLst/>
          </a:prstGeom>
          <a:noFill/>
          <a:ln/>
        </p:spPr>
        <p:txBody>
          <a:bodyPr wrap="square" lIns="0" tIns="0" rIns="0" bIns="0" rtlCol="0" anchor="ctr"/>
          <a:lstStyle/>
          <a:p>
            <a:pPr marL="0" indent="0" algn="ctr">
              <a:buNone/>
            </a:pPr>
            <a:r>
              <a:rPr lang="it-IT" sz="1400" b="1" noProof="0" dirty="0">
                <a:solidFill>
                  <a:schemeClr val="tx1"/>
                </a:solidFill>
              </a:rPr>
              <a:t>Testo in uscita</a:t>
            </a:r>
            <a:endParaRPr lang="it-IT" sz="1400" noProof="0" dirty="0"/>
          </a:p>
        </p:txBody>
      </p:sp>
      <p:sp>
        <p:nvSpPr>
          <p:cNvPr id="24" name="Text 21"/>
          <p:cNvSpPr txBox="1"/>
          <p:nvPr/>
        </p:nvSpPr>
        <p:spPr>
          <a:xfrm>
            <a:off x="457200" y="4251960"/>
            <a:ext cx="8229600" cy="365760"/>
          </a:xfrm>
          <a:prstGeom prst="rect">
            <a:avLst/>
          </a:prstGeom>
          <a:noFill/>
          <a:ln/>
        </p:spPr>
        <p:txBody>
          <a:bodyPr wrap="square" lIns="0" tIns="0" rIns="0" bIns="0" rtlCol="0" anchor="t"/>
          <a:lstStyle/>
          <a:p>
            <a:pPr marL="0" indent="0">
              <a:buNone/>
            </a:pPr>
            <a:r>
              <a:rPr lang="it-IT" sz="1300" i="1" noProof="0" dirty="0">
                <a:solidFill>
                  <a:schemeClr val="tx1"/>
                </a:solidFill>
              </a:rPr>
              <a:t>Molti compiti sono trasformazioni di testo in testo. Versatile non significa ugualmente bravo in tutto.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38</a:t>
            </a:fld>
            <a:endParaRPr lang="it-IT" noProof="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3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noProof="0" dirty="0">
                <a:solidFill>
                  <a:schemeClr val="bg1"/>
                </a:solidFill>
              </a:rPr>
              <a:t>Gli LLM generano output usando regolarità apprese e il contesto disponibile; la spiegazione non va ridotta alla sola metafora del completamento automatico.</a:t>
            </a:r>
            <a:endParaRPr lang="it-IT" sz="2600" noProof="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noProof="0" dirty="0">
                <a:solidFill>
                  <a:schemeClr val="accent3"/>
                </a:solidFill>
              </a:rPr>
              <a:t>Sottotema 2.4  ·  Che cosa sono i Large Language Models</a:t>
            </a:r>
            <a:endParaRPr lang="it-IT" sz="13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39</a:t>
            </a:fld>
            <a:endParaRPr lang="it-IT" noProof="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2.5</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Come funziona un'interazione con l'AI</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Il risultato dipende dalle informazioni rese disponibili; modello e prodotto non coincidono sempre</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40</a:t>
            </a:fld>
            <a:endParaRPr lang="it-IT" noProof="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Input, prompt e output</a:t>
            </a:r>
            <a:endParaRPr lang="it-IT" sz="2600" noProof="0" dirty="0"/>
          </a:p>
        </p:txBody>
      </p:sp>
      <p:sp>
        <p:nvSpPr>
          <p:cNvPr id="4" name="Text 1"/>
          <p:cNvSpPr txBox="1"/>
          <p:nvPr/>
        </p:nvSpPr>
        <p:spPr>
          <a:xfrm>
            <a:off x="457200" y="1051560"/>
            <a:ext cx="3657600" cy="274320"/>
          </a:xfrm>
          <a:prstGeom prst="rect">
            <a:avLst/>
          </a:prstGeom>
          <a:noFill/>
          <a:ln/>
        </p:spPr>
        <p:txBody>
          <a:bodyPr wrap="square" lIns="0" tIns="0" rIns="0" bIns="0" rtlCol="0" anchor="t"/>
          <a:lstStyle/>
          <a:p>
            <a:pPr marL="0" indent="0">
              <a:buNone/>
            </a:pPr>
            <a:r>
              <a:rPr lang="it-IT" sz="1300" b="1" noProof="0" dirty="0">
                <a:solidFill>
                  <a:schemeClr val="accent2"/>
                </a:solidFill>
              </a:rPr>
              <a:t>Ciò che il modello riceve</a:t>
            </a:r>
            <a:endParaRPr lang="it-IT" sz="1300" noProof="0" dirty="0"/>
          </a:p>
        </p:txBody>
      </p:sp>
      <p:sp>
        <p:nvSpPr>
          <p:cNvPr id="5" name="Istruzioni di sistema"/>
          <p:cNvSpPr/>
          <p:nvPr/>
        </p:nvSpPr>
        <p:spPr>
          <a:xfrm>
            <a:off x="457200" y="1371600"/>
            <a:ext cx="3840480" cy="676656"/>
          </a:xfrm>
          <a:prstGeom prst="roundRect">
            <a:avLst>
              <a:gd name="adj" fmla="val 10811"/>
            </a:avLst>
          </a:prstGeom>
          <a:solidFill>
            <a:schemeClr val="bg2"/>
          </a:solidFill>
          <a:ln/>
        </p:spPr>
        <p:txBody>
          <a:bodyPr/>
          <a:lstStyle/>
          <a:p>
            <a:endParaRPr lang="it-IT" noProof="0" dirty="0"/>
          </a:p>
        </p:txBody>
      </p:sp>
      <p:sp>
        <p:nvSpPr>
          <p:cNvPr id="6" name="Text 3"/>
          <p:cNvSpPr txBox="1"/>
          <p:nvPr/>
        </p:nvSpPr>
        <p:spPr>
          <a:xfrm>
            <a:off x="640080" y="1426464"/>
            <a:ext cx="3566160" cy="292608"/>
          </a:xfrm>
          <a:prstGeom prst="rect">
            <a:avLst/>
          </a:prstGeom>
          <a:noFill/>
          <a:ln/>
        </p:spPr>
        <p:txBody>
          <a:bodyPr wrap="square" lIns="0" tIns="0" rIns="0" bIns="0" rtlCol="0" anchor="t"/>
          <a:lstStyle/>
          <a:p>
            <a:pPr marL="0" indent="0">
              <a:buNone/>
            </a:pPr>
            <a:r>
              <a:rPr lang="it-IT" sz="1400" b="1" noProof="0" dirty="0">
                <a:solidFill>
                  <a:schemeClr val="tx1"/>
                </a:solidFill>
              </a:rPr>
              <a:t>Istruzioni di sistema</a:t>
            </a:r>
            <a:endParaRPr lang="it-IT" sz="1400" noProof="0" dirty="0"/>
          </a:p>
        </p:txBody>
      </p:sp>
      <p:sp>
        <p:nvSpPr>
          <p:cNvPr id="7" name="Text 4"/>
          <p:cNvSpPr txBox="1"/>
          <p:nvPr/>
        </p:nvSpPr>
        <p:spPr>
          <a:xfrm>
            <a:off x="640080" y="1719072"/>
            <a:ext cx="3566160" cy="274320"/>
          </a:xfrm>
          <a:prstGeom prst="rect">
            <a:avLst/>
          </a:prstGeom>
          <a:noFill/>
          <a:ln/>
        </p:spPr>
        <p:txBody>
          <a:bodyPr wrap="square" lIns="0" tIns="0" rIns="0" bIns="0" rtlCol="0" anchor="t"/>
          <a:lstStyle/>
          <a:p>
            <a:pPr marL="0" indent="0">
              <a:buNone/>
            </a:pPr>
            <a:r>
              <a:rPr lang="it-IT" sz="1200" noProof="0" dirty="0">
                <a:solidFill>
                  <a:schemeClr val="tx2"/>
                </a:solidFill>
              </a:rPr>
              <a:t>Impostate dall'applicazione, di solito invisibili</a:t>
            </a:r>
            <a:endParaRPr lang="it-IT" sz="1200" noProof="0" dirty="0"/>
          </a:p>
        </p:txBody>
      </p:sp>
      <p:sp>
        <p:nvSpPr>
          <p:cNvPr id="8" name="Cronologia della conversazione"/>
          <p:cNvSpPr/>
          <p:nvPr/>
        </p:nvSpPr>
        <p:spPr>
          <a:xfrm>
            <a:off x="457200" y="2157984"/>
            <a:ext cx="3840480" cy="676656"/>
          </a:xfrm>
          <a:prstGeom prst="roundRect">
            <a:avLst>
              <a:gd name="adj" fmla="val 10811"/>
            </a:avLst>
          </a:prstGeom>
          <a:solidFill>
            <a:schemeClr val="bg2"/>
          </a:solidFill>
          <a:ln/>
        </p:spPr>
        <p:txBody>
          <a:bodyPr/>
          <a:lstStyle/>
          <a:p>
            <a:endParaRPr lang="it-IT" noProof="0" dirty="0"/>
          </a:p>
        </p:txBody>
      </p:sp>
      <p:sp>
        <p:nvSpPr>
          <p:cNvPr id="9" name="Text 6"/>
          <p:cNvSpPr txBox="1"/>
          <p:nvPr/>
        </p:nvSpPr>
        <p:spPr>
          <a:xfrm>
            <a:off x="640080" y="2212848"/>
            <a:ext cx="3566160" cy="292608"/>
          </a:xfrm>
          <a:prstGeom prst="rect">
            <a:avLst/>
          </a:prstGeom>
          <a:noFill/>
          <a:ln/>
        </p:spPr>
        <p:txBody>
          <a:bodyPr wrap="square" lIns="0" tIns="0" rIns="0" bIns="0" rtlCol="0" anchor="t"/>
          <a:lstStyle/>
          <a:p>
            <a:pPr marL="0" indent="0">
              <a:buNone/>
            </a:pPr>
            <a:r>
              <a:rPr lang="it-IT" sz="1400" b="1" noProof="0" dirty="0">
                <a:solidFill>
                  <a:schemeClr val="tx1"/>
                </a:solidFill>
              </a:rPr>
              <a:t>Cronologia della conversazione</a:t>
            </a:r>
            <a:endParaRPr lang="it-IT" sz="1400" noProof="0" dirty="0"/>
          </a:p>
        </p:txBody>
      </p:sp>
      <p:sp>
        <p:nvSpPr>
          <p:cNvPr id="10" name="Text 7"/>
          <p:cNvSpPr txBox="1"/>
          <p:nvPr/>
        </p:nvSpPr>
        <p:spPr>
          <a:xfrm>
            <a:off x="640080" y="2505456"/>
            <a:ext cx="3566160" cy="274320"/>
          </a:xfrm>
          <a:prstGeom prst="rect">
            <a:avLst/>
          </a:prstGeom>
          <a:noFill/>
          <a:ln/>
        </p:spPr>
        <p:txBody>
          <a:bodyPr wrap="square" lIns="0" tIns="0" rIns="0" bIns="0" rtlCol="0" anchor="t"/>
          <a:lstStyle/>
          <a:p>
            <a:pPr marL="0" indent="0">
              <a:buNone/>
            </a:pPr>
            <a:r>
              <a:rPr lang="it-IT" sz="1200" noProof="0" dirty="0">
                <a:solidFill>
                  <a:schemeClr val="tx2"/>
                </a:solidFill>
              </a:rPr>
              <a:t>I messaggi precedenti</a:t>
            </a:r>
            <a:endParaRPr lang="it-IT" sz="1200" noProof="0" dirty="0"/>
          </a:p>
        </p:txBody>
      </p:sp>
      <p:sp>
        <p:nvSpPr>
          <p:cNvPr id="11" name="Documenti e risultati di ricerca"/>
          <p:cNvSpPr/>
          <p:nvPr/>
        </p:nvSpPr>
        <p:spPr>
          <a:xfrm>
            <a:off x="457200" y="2944368"/>
            <a:ext cx="3840480" cy="676656"/>
          </a:xfrm>
          <a:prstGeom prst="roundRect">
            <a:avLst>
              <a:gd name="adj" fmla="val 10811"/>
            </a:avLst>
          </a:prstGeom>
          <a:solidFill>
            <a:schemeClr val="bg2"/>
          </a:solidFill>
          <a:ln/>
        </p:spPr>
        <p:txBody>
          <a:bodyPr/>
          <a:lstStyle/>
          <a:p>
            <a:endParaRPr lang="it-IT" noProof="0" dirty="0"/>
          </a:p>
        </p:txBody>
      </p:sp>
      <p:sp>
        <p:nvSpPr>
          <p:cNvPr id="12" name="Text 9"/>
          <p:cNvSpPr txBox="1"/>
          <p:nvPr/>
        </p:nvSpPr>
        <p:spPr>
          <a:xfrm>
            <a:off x="640080" y="2999232"/>
            <a:ext cx="3566160" cy="292608"/>
          </a:xfrm>
          <a:prstGeom prst="rect">
            <a:avLst/>
          </a:prstGeom>
          <a:noFill/>
          <a:ln/>
        </p:spPr>
        <p:txBody>
          <a:bodyPr wrap="square" lIns="0" tIns="0" rIns="0" bIns="0" rtlCol="0" anchor="t"/>
          <a:lstStyle/>
          <a:p>
            <a:pPr marL="0" indent="0">
              <a:buNone/>
            </a:pPr>
            <a:r>
              <a:rPr lang="it-IT" sz="1400" b="1" noProof="0" dirty="0">
                <a:solidFill>
                  <a:schemeClr val="tx1"/>
                </a:solidFill>
              </a:rPr>
              <a:t>Documenti e risultati di ricerca</a:t>
            </a:r>
            <a:endParaRPr lang="it-IT" sz="1400" noProof="0" dirty="0"/>
          </a:p>
        </p:txBody>
      </p:sp>
      <p:sp>
        <p:nvSpPr>
          <p:cNvPr id="13" name="Text 10"/>
          <p:cNvSpPr txBox="1"/>
          <p:nvPr/>
        </p:nvSpPr>
        <p:spPr>
          <a:xfrm>
            <a:off x="640080" y="3291840"/>
            <a:ext cx="3566160" cy="274320"/>
          </a:xfrm>
          <a:prstGeom prst="rect">
            <a:avLst/>
          </a:prstGeom>
          <a:noFill/>
          <a:ln/>
        </p:spPr>
        <p:txBody>
          <a:bodyPr wrap="square" lIns="0" tIns="0" rIns="0" bIns="0" rtlCol="0" anchor="t"/>
          <a:lstStyle/>
          <a:p>
            <a:pPr marL="0" indent="0">
              <a:buNone/>
            </a:pPr>
            <a:r>
              <a:rPr lang="it-IT" sz="1200" noProof="0" dirty="0">
                <a:solidFill>
                  <a:schemeClr val="tx2"/>
                </a:solidFill>
              </a:rPr>
              <a:t>File allegati, fonti recuperate</a:t>
            </a:r>
            <a:endParaRPr lang="it-IT" sz="1200" noProof="0" dirty="0"/>
          </a:p>
        </p:txBody>
      </p:sp>
      <p:sp>
        <p:nvSpPr>
          <p:cNvPr id="14" name="Il nostro messaggio"/>
          <p:cNvSpPr/>
          <p:nvPr/>
        </p:nvSpPr>
        <p:spPr>
          <a:xfrm>
            <a:off x="457200" y="3730752"/>
            <a:ext cx="3840480" cy="676656"/>
          </a:xfrm>
          <a:prstGeom prst="roundRect">
            <a:avLst>
              <a:gd name="adj" fmla="val 10811"/>
            </a:avLst>
          </a:prstGeom>
          <a:solidFill>
            <a:schemeClr val="accent6"/>
          </a:solidFill>
          <a:ln/>
        </p:spPr>
        <p:txBody>
          <a:bodyPr/>
          <a:lstStyle/>
          <a:p>
            <a:endParaRPr lang="it-IT" noProof="0" dirty="0"/>
          </a:p>
        </p:txBody>
      </p:sp>
      <p:sp>
        <p:nvSpPr>
          <p:cNvPr id="15" name="Text 12"/>
          <p:cNvSpPr txBox="1"/>
          <p:nvPr/>
        </p:nvSpPr>
        <p:spPr>
          <a:xfrm>
            <a:off x="640080" y="3785616"/>
            <a:ext cx="3566160" cy="292608"/>
          </a:xfrm>
          <a:prstGeom prst="rect">
            <a:avLst/>
          </a:prstGeom>
          <a:noFill/>
          <a:ln/>
        </p:spPr>
        <p:txBody>
          <a:bodyPr wrap="square" lIns="0" tIns="0" rIns="0" bIns="0" rtlCol="0" anchor="t"/>
          <a:lstStyle/>
          <a:p>
            <a:pPr marL="0" indent="0">
              <a:buNone/>
            </a:pPr>
            <a:r>
              <a:rPr lang="it-IT" sz="1400" b="1" noProof="0" dirty="0">
                <a:solidFill>
                  <a:schemeClr val="tx1"/>
                </a:solidFill>
              </a:rPr>
              <a:t>Il nostro messaggio</a:t>
            </a:r>
            <a:endParaRPr lang="it-IT" sz="1400" noProof="0" dirty="0"/>
          </a:p>
        </p:txBody>
      </p:sp>
      <p:sp>
        <p:nvSpPr>
          <p:cNvPr id="16" name="Text 13"/>
          <p:cNvSpPr txBox="1"/>
          <p:nvPr/>
        </p:nvSpPr>
        <p:spPr>
          <a:xfrm>
            <a:off x="640080" y="4078224"/>
            <a:ext cx="3566160" cy="274320"/>
          </a:xfrm>
          <a:prstGeom prst="rect">
            <a:avLst/>
          </a:prstGeom>
          <a:noFill/>
          <a:ln/>
        </p:spPr>
        <p:txBody>
          <a:bodyPr wrap="square" lIns="0" tIns="0" rIns="0" bIns="0" rtlCol="0" anchor="t"/>
          <a:lstStyle/>
          <a:p>
            <a:pPr marL="0" indent="0">
              <a:buNone/>
            </a:pPr>
            <a:r>
              <a:rPr lang="it-IT" sz="1200" noProof="0" dirty="0">
                <a:solidFill>
                  <a:schemeClr val="tx2"/>
                </a:solidFill>
              </a:rPr>
              <a:t>La richiesta che scriviamo: il prompt</a:t>
            </a:r>
            <a:endParaRPr lang="it-IT" sz="1200" noProof="0" dirty="0"/>
          </a:p>
        </p:txBody>
      </p:sp>
      <p:sp>
        <p:nvSpPr>
          <p:cNvPr id="17" name="freccia"/>
          <p:cNvSpPr/>
          <p:nvPr/>
        </p:nvSpPr>
        <p:spPr>
          <a:xfrm>
            <a:off x="4434840" y="2606040"/>
            <a:ext cx="457200" cy="292608"/>
          </a:xfrm>
          <a:prstGeom prst="rightArrow">
            <a:avLst/>
          </a:prstGeom>
          <a:solidFill>
            <a:schemeClr val="accent1"/>
          </a:solidFill>
          <a:ln/>
        </p:spPr>
        <p:txBody>
          <a:bodyPr/>
          <a:lstStyle/>
          <a:p>
            <a:endParaRPr lang="it-IT" noProof="0" dirty="0"/>
          </a:p>
        </p:txBody>
      </p:sp>
      <p:sp>
        <p:nvSpPr>
          <p:cNvPr id="18" name="modello"/>
          <p:cNvSpPr/>
          <p:nvPr/>
        </p:nvSpPr>
        <p:spPr>
          <a:xfrm>
            <a:off x="5029200" y="2103120"/>
            <a:ext cx="1463040" cy="1280160"/>
          </a:xfrm>
          <a:prstGeom prst="roundRect">
            <a:avLst>
              <a:gd name="adj" fmla="val 5714"/>
            </a:avLst>
          </a:prstGeom>
          <a:solidFill>
            <a:schemeClr val="accent1"/>
          </a:solidFill>
          <a:ln/>
        </p:spPr>
        <p:txBody>
          <a:bodyPr/>
          <a:lstStyle/>
          <a:p>
            <a:endParaRPr lang="it-IT" noProof="0" dirty="0"/>
          </a:p>
        </p:txBody>
      </p:sp>
      <p:sp>
        <p:nvSpPr>
          <p:cNvPr id="19" name="Text 16"/>
          <p:cNvSpPr txBox="1"/>
          <p:nvPr/>
        </p:nvSpPr>
        <p:spPr>
          <a:xfrm>
            <a:off x="5029200" y="2103120"/>
            <a:ext cx="1463040" cy="1280160"/>
          </a:xfrm>
          <a:prstGeom prst="rect">
            <a:avLst/>
          </a:prstGeom>
          <a:noFill/>
          <a:ln/>
        </p:spPr>
        <p:txBody>
          <a:bodyPr wrap="square" lIns="0" tIns="0" rIns="0" bIns="0" rtlCol="0" anchor="ctr"/>
          <a:lstStyle/>
          <a:p>
            <a:pPr marL="0" indent="0" algn="ctr">
              <a:buNone/>
            </a:pPr>
            <a:r>
              <a:rPr lang="it-IT" sz="1600" b="1" noProof="0" dirty="0">
                <a:solidFill>
                  <a:schemeClr val="bg1"/>
                </a:solidFill>
              </a:rPr>
              <a:t>Modello</a:t>
            </a:r>
            <a:endParaRPr lang="it-IT" sz="1600" noProof="0" dirty="0"/>
          </a:p>
        </p:txBody>
      </p:sp>
      <p:sp>
        <p:nvSpPr>
          <p:cNvPr id="20" name="freccia"/>
          <p:cNvSpPr/>
          <p:nvPr/>
        </p:nvSpPr>
        <p:spPr>
          <a:xfrm>
            <a:off x="6583680" y="2606040"/>
            <a:ext cx="411480" cy="292608"/>
          </a:xfrm>
          <a:prstGeom prst="rightArrow">
            <a:avLst/>
          </a:prstGeom>
          <a:solidFill>
            <a:schemeClr val="accent1"/>
          </a:solidFill>
          <a:ln/>
        </p:spPr>
        <p:txBody>
          <a:bodyPr/>
          <a:lstStyle/>
          <a:p>
            <a:endParaRPr lang="it-IT" noProof="0" dirty="0"/>
          </a:p>
        </p:txBody>
      </p:sp>
      <p:sp>
        <p:nvSpPr>
          <p:cNvPr id="21" name="output"/>
          <p:cNvSpPr/>
          <p:nvPr/>
        </p:nvSpPr>
        <p:spPr>
          <a:xfrm>
            <a:off x="7086600" y="2103120"/>
            <a:ext cx="1600200" cy="1280160"/>
          </a:xfrm>
          <a:prstGeom prst="roundRect">
            <a:avLst>
              <a:gd name="adj" fmla="val 5714"/>
            </a:avLst>
          </a:prstGeom>
          <a:solidFill>
            <a:schemeClr val="tx1"/>
          </a:solidFill>
          <a:ln/>
        </p:spPr>
        <p:txBody>
          <a:bodyPr/>
          <a:lstStyle/>
          <a:p>
            <a:endParaRPr lang="it-IT" noProof="0" dirty="0"/>
          </a:p>
        </p:txBody>
      </p:sp>
      <p:sp>
        <p:nvSpPr>
          <p:cNvPr id="22" name="Text 19"/>
          <p:cNvSpPr txBox="1"/>
          <p:nvPr/>
        </p:nvSpPr>
        <p:spPr>
          <a:xfrm>
            <a:off x="7132320" y="2194560"/>
            <a:ext cx="1508760" cy="365760"/>
          </a:xfrm>
          <a:prstGeom prst="rect">
            <a:avLst/>
          </a:prstGeom>
          <a:noFill/>
          <a:ln/>
        </p:spPr>
        <p:txBody>
          <a:bodyPr wrap="square" lIns="0" tIns="0" rIns="0" bIns="0" rtlCol="0" anchor="t"/>
          <a:lstStyle/>
          <a:p>
            <a:pPr marL="0" indent="0" algn="ctr">
              <a:buNone/>
            </a:pPr>
            <a:r>
              <a:rPr lang="it-IT" sz="1600" b="1" noProof="0" dirty="0">
                <a:solidFill>
                  <a:schemeClr val="bg1"/>
                </a:solidFill>
              </a:rPr>
              <a:t>Output</a:t>
            </a:r>
            <a:endParaRPr lang="it-IT" sz="1600" noProof="0" dirty="0"/>
          </a:p>
        </p:txBody>
      </p:sp>
      <p:sp>
        <p:nvSpPr>
          <p:cNvPr id="23" name="Text 20"/>
          <p:cNvSpPr txBox="1"/>
          <p:nvPr/>
        </p:nvSpPr>
        <p:spPr>
          <a:xfrm>
            <a:off x="7178040" y="2606040"/>
            <a:ext cx="1417320" cy="685800"/>
          </a:xfrm>
          <a:prstGeom prst="rect">
            <a:avLst/>
          </a:prstGeom>
          <a:noFill/>
          <a:ln/>
        </p:spPr>
        <p:txBody>
          <a:bodyPr wrap="square" lIns="0" tIns="0" rIns="0" bIns="0" rtlCol="0" anchor="t"/>
          <a:lstStyle/>
          <a:p>
            <a:pPr marL="0" indent="0" algn="ctr">
              <a:buNone/>
            </a:pPr>
            <a:r>
              <a:rPr lang="it-IT" sz="1200" noProof="0" dirty="0">
                <a:solidFill>
                  <a:schemeClr val="accent3"/>
                </a:solidFill>
              </a:rPr>
              <a:t>Testo, immagine, file, azione</a:t>
            </a:r>
            <a:endParaRPr lang="it-IT" sz="12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41</a:t>
            </a:fld>
            <a:endParaRPr lang="it-IT"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percorso di una richiesta</a:t>
            </a:r>
            <a:endParaRPr lang="it-IT" sz="2600" noProof="0" dirty="0"/>
          </a:p>
        </p:txBody>
      </p:sp>
      <p:sp>
        <p:nvSpPr>
          <p:cNvPr id="4" name="Prompt"/>
          <p:cNvSpPr/>
          <p:nvPr/>
        </p:nvSpPr>
        <p:spPr>
          <a:xfrm>
            <a:off x="457200" y="1234440"/>
            <a:ext cx="1261872" cy="2514600"/>
          </a:xfrm>
          <a:prstGeom prst="roundRect">
            <a:avLst>
              <a:gd name="adj" fmla="val 5797"/>
            </a:avLst>
          </a:prstGeom>
          <a:solidFill>
            <a:schemeClr val="bg2"/>
          </a:solidFill>
          <a:ln/>
        </p:spPr>
        <p:txBody>
          <a:bodyPr/>
          <a:lstStyle/>
          <a:p>
            <a:endParaRPr lang="it-IT" noProof="0" dirty="0"/>
          </a:p>
        </p:txBody>
      </p:sp>
      <p:sp>
        <p:nvSpPr>
          <p:cNvPr id="5" name="cerchio FiEdit3"/>
          <p:cNvSpPr/>
          <p:nvPr/>
        </p:nvSpPr>
        <p:spPr>
          <a:xfrm>
            <a:off x="841248" y="1417320"/>
            <a:ext cx="502920" cy="502920"/>
          </a:xfrm>
          <a:prstGeom prst="ellipse">
            <a:avLst/>
          </a:prstGeom>
          <a:solidFill>
            <a:schemeClr val="accent1"/>
          </a:solidFill>
          <a:ln/>
        </p:spPr>
        <p:txBody>
          <a:bodyPr/>
          <a:lstStyle/>
          <a:p>
            <a:endParaRPr lang="it-IT" noProof="0" dirty="0"/>
          </a:p>
        </p:txBody>
      </p:sp>
      <p:pic>
        <p:nvPicPr>
          <p:cNvPr id="6" name="Image 0" descr="FiEdit3"/>
          <p:cNvPicPr>
            <a:picLocks noChangeAspect="1"/>
          </p:cNvPicPr>
          <p:nvPr/>
        </p:nvPicPr>
        <p:blipFill>
          <a:blip r:embed="rId3"/>
          <a:stretch>
            <a:fillRect/>
          </a:stretch>
        </p:blipFill>
        <p:spPr>
          <a:xfrm>
            <a:off x="966978" y="1543050"/>
            <a:ext cx="251460" cy="251460"/>
          </a:xfrm>
          <a:prstGeom prst="rect">
            <a:avLst/>
          </a:prstGeom>
        </p:spPr>
      </p:pic>
      <p:sp>
        <p:nvSpPr>
          <p:cNvPr id="7" name="Text 3"/>
          <p:cNvSpPr txBox="1"/>
          <p:nvPr/>
        </p:nvSpPr>
        <p:spPr>
          <a:xfrm>
            <a:off x="502920" y="2011680"/>
            <a:ext cx="1170432" cy="365760"/>
          </a:xfrm>
          <a:prstGeom prst="rect">
            <a:avLst/>
          </a:prstGeom>
          <a:noFill/>
          <a:ln/>
        </p:spPr>
        <p:txBody>
          <a:bodyPr wrap="square" lIns="0" tIns="0" rIns="0" bIns="0" rtlCol="0" anchor="t"/>
          <a:lstStyle/>
          <a:p>
            <a:pPr marL="0" indent="0" algn="ctr">
              <a:buNone/>
            </a:pPr>
            <a:r>
              <a:rPr lang="it-IT" sz="1300" b="1" noProof="0" dirty="0">
                <a:solidFill>
                  <a:schemeClr val="tx1"/>
                </a:solidFill>
              </a:rPr>
              <a:t>1. Prompt</a:t>
            </a:r>
            <a:endParaRPr lang="it-IT" sz="1300" noProof="0" dirty="0"/>
          </a:p>
        </p:txBody>
      </p:sp>
      <p:sp>
        <p:nvSpPr>
          <p:cNvPr id="8" name="Text 4"/>
          <p:cNvSpPr txBox="1"/>
          <p:nvPr/>
        </p:nvSpPr>
        <p:spPr>
          <a:xfrm>
            <a:off x="548640" y="2423160"/>
            <a:ext cx="1078992" cy="1234440"/>
          </a:xfrm>
          <a:prstGeom prst="rect">
            <a:avLst/>
          </a:prstGeom>
          <a:noFill/>
          <a:ln/>
        </p:spPr>
        <p:txBody>
          <a:bodyPr wrap="square" lIns="0" tIns="0" rIns="0" bIns="0" rtlCol="0" anchor="t"/>
          <a:lstStyle/>
          <a:p>
            <a:pPr marL="0" indent="0" algn="ctr">
              <a:buNone/>
            </a:pPr>
            <a:r>
              <a:rPr lang="it-IT" sz="1100" noProof="0" dirty="0">
                <a:solidFill>
                  <a:schemeClr val="tx2"/>
                </a:solidFill>
              </a:rPr>
              <a:t>Scriviamo la richiesta</a:t>
            </a:r>
            <a:endParaRPr lang="it-IT" sz="1100" noProof="0" dirty="0"/>
          </a:p>
        </p:txBody>
      </p:sp>
      <p:sp>
        <p:nvSpPr>
          <p:cNvPr id="9" name="Contesto"/>
          <p:cNvSpPr/>
          <p:nvPr/>
        </p:nvSpPr>
        <p:spPr>
          <a:xfrm>
            <a:off x="1874520" y="1234440"/>
            <a:ext cx="1261872" cy="2514600"/>
          </a:xfrm>
          <a:prstGeom prst="roundRect">
            <a:avLst>
              <a:gd name="adj" fmla="val 5797"/>
            </a:avLst>
          </a:prstGeom>
          <a:solidFill>
            <a:schemeClr val="bg2"/>
          </a:solidFill>
          <a:ln/>
        </p:spPr>
        <p:txBody>
          <a:bodyPr/>
          <a:lstStyle/>
          <a:p>
            <a:endParaRPr lang="it-IT" noProof="0" dirty="0"/>
          </a:p>
        </p:txBody>
      </p:sp>
      <p:sp>
        <p:nvSpPr>
          <p:cNvPr id="10" name="cerchio FiLayers"/>
          <p:cNvSpPr/>
          <p:nvPr/>
        </p:nvSpPr>
        <p:spPr>
          <a:xfrm>
            <a:off x="2258568" y="1417320"/>
            <a:ext cx="502920" cy="502920"/>
          </a:xfrm>
          <a:prstGeom prst="ellipse">
            <a:avLst/>
          </a:prstGeom>
          <a:solidFill>
            <a:schemeClr val="accent1"/>
          </a:solidFill>
          <a:ln/>
        </p:spPr>
        <p:txBody>
          <a:bodyPr/>
          <a:lstStyle/>
          <a:p>
            <a:endParaRPr lang="it-IT" noProof="0" dirty="0"/>
          </a:p>
        </p:txBody>
      </p:sp>
      <p:pic>
        <p:nvPicPr>
          <p:cNvPr id="11" name="Image 1" descr="FiLayers"/>
          <p:cNvPicPr>
            <a:picLocks noChangeAspect="1"/>
          </p:cNvPicPr>
          <p:nvPr/>
        </p:nvPicPr>
        <p:blipFill>
          <a:blip r:embed="rId4"/>
          <a:stretch>
            <a:fillRect/>
          </a:stretch>
        </p:blipFill>
        <p:spPr>
          <a:xfrm>
            <a:off x="2384298" y="1543050"/>
            <a:ext cx="251460" cy="251460"/>
          </a:xfrm>
          <a:prstGeom prst="rect">
            <a:avLst/>
          </a:prstGeom>
        </p:spPr>
      </p:pic>
      <p:sp>
        <p:nvSpPr>
          <p:cNvPr id="12" name="Text 7"/>
          <p:cNvSpPr txBox="1"/>
          <p:nvPr/>
        </p:nvSpPr>
        <p:spPr>
          <a:xfrm>
            <a:off x="1920240" y="2011680"/>
            <a:ext cx="1170432" cy="365760"/>
          </a:xfrm>
          <a:prstGeom prst="rect">
            <a:avLst/>
          </a:prstGeom>
          <a:noFill/>
          <a:ln/>
        </p:spPr>
        <p:txBody>
          <a:bodyPr wrap="square" lIns="0" tIns="0" rIns="0" bIns="0" rtlCol="0" anchor="t"/>
          <a:lstStyle/>
          <a:p>
            <a:pPr marL="0" indent="0" algn="ctr">
              <a:buNone/>
            </a:pPr>
            <a:r>
              <a:rPr lang="it-IT" sz="1300" b="1" noProof="0" dirty="0">
                <a:solidFill>
                  <a:schemeClr val="tx1"/>
                </a:solidFill>
              </a:rPr>
              <a:t>2. Contesto</a:t>
            </a:r>
            <a:endParaRPr lang="it-IT" sz="1300" noProof="0" dirty="0"/>
          </a:p>
        </p:txBody>
      </p:sp>
      <p:sp>
        <p:nvSpPr>
          <p:cNvPr id="13" name="Text 8"/>
          <p:cNvSpPr txBox="1"/>
          <p:nvPr/>
        </p:nvSpPr>
        <p:spPr>
          <a:xfrm>
            <a:off x="1965960" y="2423160"/>
            <a:ext cx="1078992" cy="1234440"/>
          </a:xfrm>
          <a:prstGeom prst="rect">
            <a:avLst/>
          </a:prstGeom>
          <a:noFill/>
          <a:ln/>
        </p:spPr>
        <p:txBody>
          <a:bodyPr wrap="square" lIns="0" tIns="0" rIns="0" bIns="0" rtlCol="0" anchor="t"/>
          <a:lstStyle/>
          <a:p>
            <a:pPr marL="0" indent="0" algn="ctr">
              <a:buNone/>
            </a:pPr>
            <a:r>
              <a:rPr lang="it-IT" sz="1100" noProof="0" dirty="0">
                <a:solidFill>
                  <a:schemeClr val="tx2"/>
                </a:solidFill>
              </a:rPr>
              <a:t>L'applicazione aggiunge istruzioni, cronologia, documenti</a:t>
            </a:r>
            <a:endParaRPr lang="it-IT" sz="1100" noProof="0" dirty="0"/>
          </a:p>
        </p:txBody>
      </p:sp>
      <p:sp>
        <p:nvSpPr>
          <p:cNvPr id="14" name="Tokenizzazione"/>
          <p:cNvSpPr/>
          <p:nvPr/>
        </p:nvSpPr>
        <p:spPr>
          <a:xfrm>
            <a:off x="3291840" y="1234440"/>
            <a:ext cx="1261872" cy="2514600"/>
          </a:xfrm>
          <a:prstGeom prst="roundRect">
            <a:avLst>
              <a:gd name="adj" fmla="val 5797"/>
            </a:avLst>
          </a:prstGeom>
          <a:solidFill>
            <a:schemeClr val="bg2"/>
          </a:solidFill>
          <a:ln/>
        </p:spPr>
        <p:txBody>
          <a:bodyPr/>
          <a:lstStyle/>
          <a:p>
            <a:endParaRPr lang="it-IT" noProof="0" dirty="0"/>
          </a:p>
        </p:txBody>
      </p:sp>
      <p:sp>
        <p:nvSpPr>
          <p:cNvPr id="15" name="cerchio FiHash"/>
          <p:cNvSpPr/>
          <p:nvPr/>
        </p:nvSpPr>
        <p:spPr>
          <a:xfrm>
            <a:off x="3675888" y="1417320"/>
            <a:ext cx="502920" cy="502920"/>
          </a:xfrm>
          <a:prstGeom prst="ellipse">
            <a:avLst/>
          </a:prstGeom>
          <a:solidFill>
            <a:schemeClr val="accent1"/>
          </a:solidFill>
          <a:ln/>
        </p:spPr>
        <p:txBody>
          <a:bodyPr/>
          <a:lstStyle/>
          <a:p>
            <a:endParaRPr lang="it-IT" noProof="0" dirty="0"/>
          </a:p>
        </p:txBody>
      </p:sp>
      <p:pic>
        <p:nvPicPr>
          <p:cNvPr id="16" name="Image 2" descr="FiHash"/>
          <p:cNvPicPr>
            <a:picLocks noChangeAspect="1"/>
          </p:cNvPicPr>
          <p:nvPr/>
        </p:nvPicPr>
        <p:blipFill>
          <a:blip r:embed="rId5"/>
          <a:stretch>
            <a:fillRect/>
          </a:stretch>
        </p:blipFill>
        <p:spPr>
          <a:xfrm>
            <a:off x="3801618" y="1543050"/>
            <a:ext cx="251460" cy="251460"/>
          </a:xfrm>
          <a:prstGeom prst="rect">
            <a:avLst/>
          </a:prstGeom>
        </p:spPr>
      </p:pic>
      <p:sp>
        <p:nvSpPr>
          <p:cNvPr id="17" name="Text 11"/>
          <p:cNvSpPr txBox="1"/>
          <p:nvPr/>
        </p:nvSpPr>
        <p:spPr>
          <a:xfrm>
            <a:off x="3337560" y="2011680"/>
            <a:ext cx="1170432" cy="365760"/>
          </a:xfrm>
          <a:prstGeom prst="rect">
            <a:avLst/>
          </a:prstGeom>
          <a:noFill/>
          <a:ln/>
        </p:spPr>
        <p:txBody>
          <a:bodyPr wrap="square" lIns="0" tIns="0" rIns="0" bIns="0" rtlCol="0" anchor="t"/>
          <a:lstStyle/>
          <a:p>
            <a:pPr marL="0" indent="0" algn="ctr">
              <a:buNone/>
            </a:pPr>
            <a:r>
              <a:rPr lang="it-IT" sz="1300" b="1" noProof="0" dirty="0">
                <a:solidFill>
                  <a:schemeClr val="tx1"/>
                </a:solidFill>
              </a:rPr>
              <a:t>3. Tokenizzazione</a:t>
            </a:r>
            <a:endParaRPr lang="it-IT" sz="1300" noProof="0" dirty="0"/>
          </a:p>
        </p:txBody>
      </p:sp>
      <p:sp>
        <p:nvSpPr>
          <p:cNvPr id="18" name="Text 12"/>
          <p:cNvSpPr txBox="1"/>
          <p:nvPr/>
        </p:nvSpPr>
        <p:spPr>
          <a:xfrm>
            <a:off x="3383280" y="2423160"/>
            <a:ext cx="1078992" cy="1234440"/>
          </a:xfrm>
          <a:prstGeom prst="rect">
            <a:avLst/>
          </a:prstGeom>
          <a:noFill/>
          <a:ln/>
        </p:spPr>
        <p:txBody>
          <a:bodyPr wrap="square" lIns="0" tIns="0" rIns="0" bIns="0" rtlCol="0" anchor="t"/>
          <a:lstStyle/>
          <a:p>
            <a:pPr marL="0" indent="0" algn="ctr">
              <a:buNone/>
            </a:pPr>
            <a:r>
              <a:rPr lang="it-IT" sz="1100" noProof="0" dirty="0">
                <a:solidFill>
                  <a:schemeClr val="tx2"/>
                </a:solidFill>
              </a:rPr>
              <a:t>Il testo diventa una sequenza di token</a:t>
            </a:r>
            <a:endParaRPr lang="it-IT" sz="1100" noProof="0" dirty="0"/>
          </a:p>
        </p:txBody>
      </p:sp>
      <p:sp>
        <p:nvSpPr>
          <p:cNvPr id="19" name="Inferenza"/>
          <p:cNvSpPr/>
          <p:nvPr/>
        </p:nvSpPr>
        <p:spPr>
          <a:xfrm>
            <a:off x="4709160" y="1234440"/>
            <a:ext cx="1261872" cy="2514600"/>
          </a:xfrm>
          <a:prstGeom prst="roundRect">
            <a:avLst>
              <a:gd name="adj" fmla="val 5797"/>
            </a:avLst>
          </a:prstGeom>
          <a:solidFill>
            <a:schemeClr val="accent6"/>
          </a:solidFill>
          <a:ln/>
        </p:spPr>
        <p:txBody>
          <a:bodyPr/>
          <a:lstStyle/>
          <a:p>
            <a:endParaRPr lang="it-IT" noProof="0" dirty="0"/>
          </a:p>
        </p:txBody>
      </p:sp>
      <p:sp>
        <p:nvSpPr>
          <p:cNvPr id="20" name="cerchio FiCpu"/>
          <p:cNvSpPr/>
          <p:nvPr/>
        </p:nvSpPr>
        <p:spPr>
          <a:xfrm>
            <a:off x="5093208" y="1417320"/>
            <a:ext cx="502920" cy="502920"/>
          </a:xfrm>
          <a:prstGeom prst="ellipse">
            <a:avLst/>
          </a:prstGeom>
          <a:solidFill>
            <a:schemeClr val="accent1"/>
          </a:solidFill>
          <a:ln/>
        </p:spPr>
        <p:txBody>
          <a:bodyPr/>
          <a:lstStyle/>
          <a:p>
            <a:endParaRPr lang="it-IT" noProof="0" dirty="0"/>
          </a:p>
        </p:txBody>
      </p:sp>
      <p:pic>
        <p:nvPicPr>
          <p:cNvPr id="21" name="Image 3" descr="FiCpu"/>
          <p:cNvPicPr>
            <a:picLocks noChangeAspect="1"/>
          </p:cNvPicPr>
          <p:nvPr/>
        </p:nvPicPr>
        <p:blipFill>
          <a:blip r:embed="rId6"/>
          <a:stretch>
            <a:fillRect/>
          </a:stretch>
        </p:blipFill>
        <p:spPr>
          <a:xfrm>
            <a:off x="5218938" y="1543050"/>
            <a:ext cx="251460" cy="251460"/>
          </a:xfrm>
          <a:prstGeom prst="rect">
            <a:avLst/>
          </a:prstGeom>
        </p:spPr>
      </p:pic>
      <p:sp>
        <p:nvSpPr>
          <p:cNvPr id="22" name="Text 15"/>
          <p:cNvSpPr txBox="1"/>
          <p:nvPr/>
        </p:nvSpPr>
        <p:spPr>
          <a:xfrm>
            <a:off x="4754880" y="2011680"/>
            <a:ext cx="1170432" cy="365760"/>
          </a:xfrm>
          <a:prstGeom prst="rect">
            <a:avLst/>
          </a:prstGeom>
          <a:noFill/>
          <a:ln/>
        </p:spPr>
        <p:txBody>
          <a:bodyPr wrap="square" lIns="0" tIns="0" rIns="0" bIns="0" rtlCol="0" anchor="t"/>
          <a:lstStyle/>
          <a:p>
            <a:pPr marL="0" indent="0" algn="ctr">
              <a:buNone/>
            </a:pPr>
            <a:r>
              <a:rPr lang="it-IT" sz="1300" b="1" noProof="0" dirty="0">
                <a:solidFill>
                  <a:schemeClr val="tx1"/>
                </a:solidFill>
              </a:rPr>
              <a:t>4. Inferenza</a:t>
            </a:r>
            <a:endParaRPr lang="it-IT" sz="1300" noProof="0" dirty="0"/>
          </a:p>
        </p:txBody>
      </p:sp>
      <p:sp>
        <p:nvSpPr>
          <p:cNvPr id="23" name="Text 16"/>
          <p:cNvSpPr txBox="1"/>
          <p:nvPr/>
        </p:nvSpPr>
        <p:spPr>
          <a:xfrm>
            <a:off x="4800600" y="2423160"/>
            <a:ext cx="1078992" cy="1234440"/>
          </a:xfrm>
          <a:prstGeom prst="rect">
            <a:avLst/>
          </a:prstGeom>
          <a:noFill/>
          <a:ln/>
        </p:spPr>
        <p:txBody>
          <a:bodyPr wrap="square" lIns="0" tIns="0" rIns="0" bIns="0" rtlCol="0" anchor="t"/>
          <a:lstStyle/>
          <a:p>
            <a:pPr marL="0" indent="0" algn="ctr">
              <a:buNone/>
            </a:pPr>
            <a:r>
              <a:rPr lang="it-IT" sz="1100" noProof="0" dirty="0">
                <a:solidFill>
                  <a:schemeClr val="tx2"/>
                </a:solidFill>
              </a:rPr>
              <a:t>Il modello elabora con parametri fissi</a:t>
            </a:r>
            <a:endParaRPr lang="it-IT" sz="1100" noProof="0" dirty="0"/>
          </a:p>
        </p:txBody>
      </p:sp>
      <p:sp>
        <p:nvSpPr>
          <p:cNvPr id="24" name="Generazione"/>
          <p:cNvSpPr/>
          <p:nvPr/>
        </p:nvSpPr>
        <p:spPr>
          <a:xfrm>
            <a:off x="6126480" y="1234440"/>
            <a:ext cx="1261872" cy="2514600"/>
          </a:xfrm>
          <a:prstGeom prst="roundRect">
            <a:avLst>
              <a:gd name="adj" fmla="val 5797"/>
            </a:avLst>
          </a:prstGeom>
          <a:solidFill>
            <a:schemeClr val="bg2"/>
          </a:solidFill>
          <a:ln/>
        </p:spPr>
        <p:txBody>
          <a:bodyPr/>
          <a:lstStyle/>
          <a:p>
            <a:endParaRPr lang="it-IT" noProof="0" dirty="0"/>
          </a:p>
        </p:txBody>
      </p:sp>
      <p:sp>
        <p:nvSpPr>
          <p:cNvPr id="25" name="cerchio FiRepeat"/>
          <p:cNvSpPr/>
          <p:nvPr/>
        </p:nvSpPr>
        <p:spPr>
          <a:xfrm>
            <a:off x="6510528" y="1417320"/>
            <a:ext cx="502920" cy="502920"/>
          </a:xfrm>
          <a:prstGeom prst="ellipse">
            <a:avLst/>
          </a:prstGeom>
          <a:solidFill>
            <a:schemeClr val="accent1"/>
          </a:solidFill>
          <a:ln/>
        </p:spPr>
        <p:txBody>
          <a:bodyPr/>
          <a:lstStyle/>
          <a:p>
            <a:endParaRPr lang="it-IT" noProof="0" dirty="0"/>
          </a:p>
        </p:txBody>
      </p:sp>
      <p:pic>
        <p:nvPicPr>
          <p:cNvPr id="26" name="Image 4" descr="FiRepeat"/>
          <p:cNvPicPr>
            <a:picLocks noChangeAspect="1"/>
          </p:cNvPicPr>
          <p:nvPr/>
        </p:nvPicPr>
        <p:blipFill>
          <a:blip r:embed="rId7"/>
          <a:stretch>
            <a:fillRect/>
          </a:stretch>
        </p:blipFill>
        <p:spPr>
          <a:xfrm>
            <a:off x="6636258" y="1543050"/>
            <a:ext cx="251460" cy="251460"/>
          </a:xfrm>
          <a:prstGeom prst="rect">
            <a:avLst/>
          </a:prstGeom>
        </p:spPr>
      </p:pic>
      <p:sp>
        <p:nvSpPr>
          <p:cNvPr id="27" name="Text 19"/>
          <p:cNvSpPr txBox="1"/>
          <p:nvPr/>
        </p:nvSpPr>
        <p:spPr>
          <a:xfrm>
            <a:off x="6172200" y="2011680"/>
            <a:ext cx="1170432" cy="365760"/>
          </a:xfrm>
          <a:prstGeom prst="rect">
            <a:avLst/>
          </a:prstGeom>
          <a:noFill/>
          <a:ln/>
        </p:spPr>
        <p:txBody>
          <a:bodyPr wrap="square" lIns="0" tIns="0" rIns="0" bIns="0" rtlCol="0" anchor="t"/>
          <a:lstStyle/>
          <a:p>
            <a:pPr marL="0" indent="0" algn="ctr">
              <a:buNone/>
            </a:pPr>
            <a:r>
              <a:rPr lang="it-IT" sz="1300" b="1" noProof="0" dirty="0">
                <a:solidFill>
                  <a:schemeClr val="tx1"/>
                </a:solidFill>
              </a:rPr>
              <a:t>5. Generazione</a:t>
            </a:r>
            <a:endParaRPr lang="it-IT" sz="1300" noProof="0" dirty="0"/>
          </a:p>
        </p:txBody>
      </p:sp>
      <p:sp>
        <p:nvSpPr>
          <p:cNvPr id="28" name="Text 20"/>
          <p:cNvSpPr txBox="1"/>
          <p:nvPr/>
        </p:nvSpPr>
        <p:spPr>
          <a:xfrm>
            <a:off x="6217920" y="2423160"/>
            <a:ext cx="1078992" cy="1234440"/>
          </a:xfrm>
          <a:prstGeom prst="rect">
            <a:avLst/>
          </a:prstGeom>
          <a:noFill/>
          <a:ln/>
        </p:spPr>
        <p:txBody>
          <a:bodyPr wrap="square" lIns="0" tIns="0" rIns="0" bIns="0" rtlCol="0" anchor="t"/>
          <a:lstStyle/>
          <a:p>
            <a:pPr marL="0" indent="0" algn="ctr">
              <a:buNone/>
            </a:pPr>
            <a:r>
              <a:rPr lang="it-IT" sz="1100" noProof="0" dirty="0">
                <a:solidFill>
                  <a:schemeClr val="tx2"/>
                </a:solidFill>
              </a:rPr>
              <a:t>Un token alla volta</a:t>
            </a:r>
            <a:endParaRPr lang="it-IT" sz="1100" noProof="0" dirty="0"/>
          </a:p>
        </p:txBody>
      </p:sp>
      <p:sp>
        <p:nvSpPr>
          <p:cNvPr id="29" name="Output"/>
          <p:cNvSpPr/>
          <p:nvPr/>
        </p:nvSpPr>
        <p:spPr>
          <a:xfrm>
            <a:off x="7543800" y="1234440"/>
            <a:ext cx="1261872" cy="2514600"/>
          </a:xfrm>
          <a:prstGeom prst="roundRect">
            <a:avLst>
              <a:gd name="adj" fmla="val 5797"/>
            </a:avLst>
          </a:prstGeom>
          <a:solidFill>
            <a:schemeClr val="bg2"/>
          </a:solidFill>
          <a:ln/>
        </p:spPr>
        <p:txBody>
          <a:bodyPr/>
          <a:lstStyle/>
          <a:p>
            <a:endParaRPr lang="it-IT" noProof="0" dirty="0"/>
          </a:p>
        </p:txBody>
      </p:sp>
      <p:sp>
        <p:nvSpPr>
          <p:cNvPr id="30" name="cerchio FiMessageSquare"/>
          <p:cNvSpPr/>
          <p:nvPr/>
        </p:nvSpPr>
        <p:spPr>
          <a:xfrm>
            <a:off x="7927848" y="1417320"/>
            <a:ext cx="502920" cy="502920"/>
          </a:xfrm>
          <a:prstGeom prst="ellipse">
            <a:avLst/>
          </a:prstGeom>
          <a:solidFill>
            <a:schemeClr val="accent1"/>
          </a:solidFill>
          <a:ln/>
        </p:spPr>
        <p:txBody>
          <a:bodyPr/>
          <a:lstStyle/>
          <a:p>
            <a:endParaRPr lang="it-IT" noProof="0" dirty="0"/>
          </a:p>
        </p:txBody>
      </p:sp>
      <p:pic>
        <p:nvPicPr>
          <p:cNvPr id="31" name="Image 5" descr="FiMessageSquare"/>
          <p:cNvPicPr>
            <a:picLocks noChangeAspect="1"/>
          </p:cNvPicPr>
          <p:nvPr/>
        </p:nvPicPr>
        <p:blipFill>
          <a:blip r:embed="rId8"/>
          <a:stretch>
            <a:fillRect/>
          </a:stretch>
        </p:blipFill>
        <p:spPr>
          <a:xfrm>
            <a:off x="8053578" y="1543050"/>
            <a:ext cx="251460" cy="251460"/>
          </a:xfrm>
          <a:prstGeom prst="rect">
            <a:avLst/>
          </a:prstGeom>
        </p:spPr>
      </p:pic>
      <p:sp>
        <p:nvSpPr>
          <p:cNvPr id="32" name="Text 23"/>
          <p:cNvSpPr txBox="1"/>
          <p:nvPr/>
        </p:nvSpPr>
        <p:spPr>
          <a:xfrm>
            <a:off x="7589520" y="2011680"/>
            <a:ext cx="1170432" cy="365760"/>
          </a:xfrm>
          <a:prstGeom prst="rect">
            <a:avLst/>
          </a:prstGeom>
          <a:noFill/>
          <a:ln/>
        </p:spPr>
        <p:txBody>
          <a:bodyPr wrap="square" lIns="0" tIns="0" rIns="0" bIns="0" rtlCol="0" anchor="t"/>
          <a:lstStyle/>
          <a:p>
            <a:pPr marL="0" indent="0" algn="ctr">
              <a:buNone/>
            </a:pPr>
            <a:r>
              <a:rPr lang="it-IT" sz="1300" b="1" noProof="0" dirty="0">
                <a:solidFill>
                  <a:schemeClr val="tx1"/>
                </a:solidFill>
              </a:rPr>
              <a:t>6. Output</a:t>
            </a:r>
            <a:endParaRPr lang="it-IT" sz="1300" noProof="0" dirty="0"/>
          </a:p>
        </p:txBody>
      </p:sp>
      <p:sp>
        <p:nvSpPr>
          <p:cNvPr id="33" name="Text 24"/>
          <p:cNvSpPr txBox="1"/>
          <p:nvPr/>
        </p:nvSpPr>
        <p:spPr>
          <a:xfrm>
            <a:off x="7635240" y="2423160"/>
            <a:ext cx="1078992" cy="1234440"/>
          </a:xfrm>
          <a:prstGeom prst="rect">
            <a:avLst/>
          </a:prstGeom>
          <a:noFill/>
          <a:ln/>
        </p:spPr>
        <p:txBody>
          <a:bodyPr wrap="square" lIns="0" tIns="0" rIns="0" bIns="0" rtlCol="0" anchor="t"/>
          <a:lstStyle/>
          <a:p>
            <a:pPr marL="0" indent="0" algn="ctr">
              <a:buNone/>
            </a:pPr>
            <a:r>
              <a:rPr lang="it-IT" sz="1100" noProof="0" dirty="0">
                <a:solidFill>
                  <a:schemeClr val="tx2"/>
                </a:solidFill>
              </a:rPr>
              <a:t>I token tornano testo leggibile</a:t>
            </a:r>
            <a:endParaRPr lang="it-IT" sz="1100" noProof="0" dirty="0"/>
          </a:p>
        </p:txBody>
      </p:sp>
      <p:sp>
        <p:nvSpPr>
          <p:cNvPr id="34" name="nota strumenti"/>
          <p:cNvSpPr/>
          <p:nvPr/>
        </p:nvSpPr>
        <p:spPr>
          <a:xfrm>
            <a:off x="457200" y="3931920"/>
            <a:ext cx="8229600" cy="594360"/>
          </a:xfrm>
          <a:prstGeom prst="roundRect">
            <a:avLst>
              <a:gd name="adj" fmla="val 12308"/>
            </a:avLst>
          </a:prstGeom>
          <a:solidFill>
            <a:schemeClr val="tx1"/>
          </a:solidFill>
          <a:ln/>
        </p:spPr>
        <p:txBody>
          <a:bodyPr/>
          <a:lstStyle/>
          <a:p>
            <a:endParaRPr lang="it-IT" noProof="0" dirty="0"/>
          </a:p>
        </p:txBody>
      </p:sp>
      <p:sp>
        <p:nvSpPr>
          <p:cNvPr id="35" name="Text 26"/>
          <p:cNvSpPr txBox="1"/>
          <p:nvPr/>
        </p:nvSpPr>
        <p:spPr>
          <a:xfrm>
            <a:off x="640080" y="3931920"/>
            <a:ext cx="7863840" cy="594360"/>
          </a:xfrm>
          <a:prstGeom prst="rect">
            <a:avLst/>
          </a:prstGeom>
          <a:noFill/>
          <a:ln/>
        </p:spPr>
        <p:txBody>
          <a:bodyPr wrap="square" lIns="0" tIns="0" rIns="0" bIns="0" rtlCol="0" anchor="ctr"/>
          <a:lstStyle/>
          <a:p>
            <a:pPr marL="0" indent="0">
              <a:buNone/>
            </a:pPr>
            <a:r>
              <a:rPr lang="it-IT" sz="1300" noProof="0" dirty="0">
                <a:solidFill>
                  <a:schemeClr val="bg1"/>
                </a:solidFill>
              </a:rPr>
              <a:t>In alcune applicazioni il modello può usare strumenti (ricerca, calcolo) e aggiungerne i risultati al contesto.</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42</a:t>
            </a:fld>
            <a:endParaRPr lang="it-IT" noProof="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La finestra di contesto</a:t>
            </a:r>
            <a:endParaRPr lang="it-IT" sz="2600" noProof="0" dirty="0"/>
          </a:p>
        </p:txBody>
      </p:sp>
      <p:sp>
        <p:nvSpPr>
          <p:cNvPr id="4" name="finestra"/>
          <p:cNvSpPr/>
          <p:nvPr/>
        </p:nvSpPr>
        <p:spPr>
          <a:xfrm>
            <a:off x="457200" y="1097280"/>
            <a:ext cx="4754880" cy="3429000"/>
          </a:xfrm>
          <a:prstGeom prst="roundRect">
            <a:avLst>
              <a:gd name="adj" fmla="val 2133"/>
            </a:avLst>
          </a:prstGeom>
          <a:solidFill>
            <a:schemeClr val="bg2"/>
          </a:solidFill>
          <a:ln w="25400">
            <a:solidFill>
              <a:schemeClr val="accent1"/>
            </a:solidFill>
            <a:prstDash val="dash"/>
          </a:ln>
        </p:spPr>
        <p:txBody>
          <a:bodyPr/>
          <a:lstStyle/>
          <a:p>
            <a:endParaRPr lang="it-IT" noProof="0" dirty="0"/>
          </a:p>
        </p:txBody>
      </p:sp>
      <p:sp>
        <p:nvSpPr>
          <p:cNvPr id="5" name="Text 2"/>
          <p:cNvSpPr txBox="1"/>
          <p:nvPr/>
        </p:nvSpPr>
        <p:spPr>
          <a:xfrm>
            <a:off x="640080" y="1188720"/>
            <a:ext cx="4389120" cy="320040"/>
          </a:xfrm>
          <a:prstGeom prst="rect">
            <a:avLst/>
          </a:prstGeom>
          <a:noFill/>
          <a:ln/>
        </p:spPr>
        <p:txBody>
          <a:bodyPr wrap="square" lIns="0" tIns="0" rIns="0" bIns="0" rtlCol="0" anchor="t"/>
          <a:lstStyle/>
          <a:p>
            <a:pPr marL="0" indent="0">
              <a:buNone/>
            </a:pPr>
            <a:r>
              <a:rPr lang="it-IT" sz="1400" b="1" noProof="0" dirty="0">
                <a:solidFill>
                  <a:schemeClr val="accent1"/>
                </a:solidFill>
              </a:rPr>
              <a:t>Finestra di contesto</a:t>
            </a:r>
            <a:endParaRPr lang="it-IT" sz="1400" noProof="0" dirty="0"/>
          </a:p>
        </p:txBody>
      </p:sp>
      <p:sp>
        <p:nvSpPr>
          <p:cNvPr id="6" name="blocco Istruzioni di sistema"/>
          <p:cNvSpPr/>
          <p:nvPr/>
        </p:nvSpPr>
        <p:spPr>
          <a:xfrm>
            <a:off x="685800" y="1600200"/>
            <a:ext cx="4297680" cy="420624"/>
          </a:xfrm>
          <a:prstGeom prst="roundRect">
            <a:avLst>
              <a:gd name="adj" fmla="val 26087"/>
            </a:avLst>
          </a:prstGeom>
          <a:solidFill>
            <a:schemeClr val="bg1"/>
          </a:solidFill>
          <a:ln/>
        </p:spPr>
        <p:txBody>
          <a:bodyPr/>
          <a:lstStyle/>
          <a:p>
            <a:endParaRPr lang="it-IT" noProof="0" dirty="0"/>
          </a:p>
        </p:txBody>
      </p:sp>
      <p:sp>
        <p:nvSpPr>
          <p:cNvPr id="7" name="Text 4"/>
          <p:cNvSpPr txBox="1"/>
          <p:nvPr/>
        </p:nvSpPr>
        <p:spPr>
          <a:xfrm>
            <a:off x="731520" y="1600200"/>
            <a:ext cx="4206240" cy="420624"/>
          </a:xfrm>
          <a:prstGeom prst="rect">
            <a:avLst/>
          </a:prstGeom>
          <a:noFill/>
          <a:ln/>
        </p:spPr>
        <p:txBody>
          <a:bodyPr wrap="square" lIns="0" tIns="0" rIns="0" bIns="0" rtlCol="0" anchor="ctr"/>
          <a:lstStyle/>
          <a:p>
            <a:pPr marL="0" indent="0" algn="ctr">
              <a:buNone/>
            </a:pPr>
            <a:r>
              <a:rPr lang="it-IT" sz="1300" b="1" noProof="0" dirty="0">
                <a:solidFill>
                  <a:schemeClr val="tx1"/>
                </a:solidFill>
              </a:rPr>
              <a:t>Istruzioni di sistema</a:t>
            </a:r>
            <a:endParaRPr lang="it-IT" sz="1300" noProof="0" dirty="0"/>
          </a:p>
        </p:txBody>
      </p:sp>
      <p:sp>
        <p:nvSpPr>
          <p:cNvPr id="8" name="blocco Cronologia della conversazione"/>
          <p:cNvSpPr/>
          <p:nvPr/>
        </p:nvSpPr>
        <p:spPr>
          <a:xfrm>
            <a:off x="685800" y="2121408"/>
            <a:ext cx="4297680" cy="420624"/>
          </a:xfrm>
          <a:prstGeom prst="roundRect">
            <a:avLst>
              <a:gd name="adj" fmla="val 26087"/>
            </a:avLst>
          </a:prstGeom>
          <a:solidFill>
            <a:schemeClr val="bg1"/>
          </a:solidFill>
          <a:ln/>
        </p:spPr>
        <p:txBody>
          <a:bodyPr/>
          <a:lstStyle/>
          <a:p>
            <a:endParaRPr lang="it-IT" noProof="0" dirty="0"/>
          </a:p>
        </p:txBody>
      </p:sp>
      <p:sp>
        <p:nvSpPr>
          <p:cNvPr id="9" name="Text 6"/>
          <p:cNvSpPr txBox="1"/>
          <p:nvPr/>
        </p:nvSpPr>
        <p:spPr>
          <a:xfrm>
            <a:off x="731520" y="2121408"/>
            <a:ext cx="4206240" cy="420624"/>
          </a:xfrm>
          <a:prstGeom prst="rect">
            <a:avLst/>
          </a:prstGeom>
          <a:noFill/>
          <a:ln/>
        </p:spPr>
        <p:txBody>
          <a:bodyPr wrap="square" lIns="0" tIns="0" rIns="0" bIns="0" rtlCol="0" anchor="ctr"/>
          <a:lstStyle/>
          <a:p>
            <a:pPr marL="0" indent="0" algn="ctr">
              <a:buNone/>
            </a:pPr>
            <a:r>
              <a:rPr lang="it-IT" sz="1300" b="1" noProof="0" dirty="0">
                <a:solidFill>
                  <a:schemeClr val="tx1"/>
                </a:solidFill>
              </a:rPr>
              <a:t>Cronologia della conversazione</a:t>
            </a:r>
            <a:endParaRPr lang="it-IT" sz="1300" noProof="0" dirty="0"/>
          </a:p>
        </p:txBody>
      </p:sp>
      <p:sp>
        <p:nvSpPr>
          <p:cNvPr id="10" name="blocco Documenti allegati"/>
          <p:cNvSpPr/>
          <p:nvPr/>
        </p:nvSpPr>
        <p:spPr>
          <a:xfrm>
            <a:off x="685800" y="2642616"/>
            <a:ext cx="4297680" cy="420624"/>
          </a:xfrm>
          <a:prstGeom prst="roundRect">
            <a:avLst>
              <a:gd name="adj" fmla="val 26087"/>
            </a:avLst>
          </a:prstGeom>
          <a:solidFill>
            <a:schemeClr val="bg1"/>
          </a:solidFill>
          <a:ln/>
        </p:spPr>
        <p:txBody>
          <a:bodyPr/>
          <a:lstStyle/>
          <a:p>
            <a:endParaRPr lang="it-IT" noProof="0" dirty="0"/>
          </a:p>
        </p:txBody>
      </p:sp>
      <p:sp>
        <p:nvSpPr>
          <p:cNvPr id="11" name="Text 8"/>
          <p:cNvSpPr txBox="1"/>
          <p:nvPr/>
        </p:nvSpPr>
        <p:spPr>
          <a:xfrm>
            <a:off x="731520" y="2642616"/>
            <a:ext cx="4206240" cy="420624"/>
          </a:xfrm>
          <a:prstGeom prst="rect">
            <a:avLst/>
          </a:prstGeom>
          <a:noFill/>
          <a:ln/>
        </p:spPr>
        <p:txBody>
          <a:bodyPr wrap="square" lIns="0" tIns="0" rIns="0" bIns="0" rtlCol="0" anchor="ctr"/>
          <a:lstStyle/>
          <a:p>
            <a:pPr marL="0" indent="0" algn="ctr">
              <a:buNone/>
            </a:pPr>
            <a:r>
              <a:rPr lang="it-IT" sz="1300" b="1" noProof="0" dirty="0">
                <a:solidFill>
                  <a:schemeClr val="tx1"/>
                </a:solidFill>
              </a:rPr>
              <a:t>Documenti allegati</a:t>
            </a:r>
            <a:endParaRPr lang="it-IT" sz="1300" noProof="0" dirty="0"/>
          </a:p>
        </p:txBody>
      </p:sp>
      <p:sp>
        <p:nvSpPr>
          <p:cNvPr id="12" name="blocco Il nostro messaggio"/>
          <p:cNvSpPr/>
          <p:nvPr/>
        </p:nvSpPr>
        <p:spPr>
          <a:xfrm>
            <a:off x="685800" y="3163824"/>
            <a:ext cx="4297680" cy="420624"/>
          </a:xfrm>
          <a:prstGeom prst="roundRect">
            <a:avLst>
              <a:gd name="adj" fmla="val 26087"/>
            </a:avLst>
          </a:prstGeom>
          <a:solidFill>
            <a:schemeClr val="accent6"/>
          </a:solidFill>
          <a:ln/>
        </p:spPr>
        <p:txBody>
          <a:bodyPr/>
          <a:lstStyle/>
          <a:p>
            <a:endParaRPr lang="it-IT" noProof="0" dirty="0"/>
          </a:p>
        </p:txBody>
      </p:sp>
      <p:sp>
        <p:nvSpPr>
          <p:cNvPr id="13" name="Text 10"/>
          <p:cNvSpPr txBox="1"/>
          <p:nvPr/>
        </p:nvSpPr>
        <p:spPr>
          <a:xfrm>
            <a:off x="731520" y="3163824"/>
            <a:ext cx="4206240" cy="420624"/>
          </a:xfrm>
          <a:prstGeom prst="rect">
            <a:avLst/>
          </a:prstGeom>
          <a:noFill/>
          <a:ln/>
        </p:spPr>
        <p:txBody>
          <a:bodyPr wrap="square" lIns="0" tIns="0" rIns="0" bIns="0" rtlCol="0" anchor="ctr"/>
          <a:lstStyle/>
          <a:p>
            <a:pPr marL="0" indent="0" algn="ctr">
              <a:buNone/>
            </a:pPr>
            <a:r>
              <a:rPr lang="it-IT" sz="1300" b="1" noProof="0" dirty="0">
                <a:solidFill>
                  <a:schemeClr val="tx1"/>
                </a:solidFill>
              </a:rPr>
              <a:t>Il nostro messaggio</a:t>
            </a:r>
            <a:endParaRPr lang="it-IT" sz="1300" noProof="0" dirty="0"/>
          </a:p>
        </p:txBody>
      </p:sp>
      <p:sp>
        <p:nvSpPr>
          <p:cNvPr id="14" name="blocco Risposta in generazione"/>
          <p:cNvSpPr/>
          <p:nvPr/>
        </p:nvSpPr>
        <p:spPr>
          <a:xfrm>
            <a:off x="685800" y="3685032"/>
            <a:ext cx="4297680" cy="420624"/>
          </a:xfrm>
          <a:prstGeom prst="roundRect">
            <a:avLst>
              <a:gd name="adj" fmla="val 26087"/>
            </a:avLst>
          </a:prstGeom>
          <a:solidFill>
            <a:schemeClr val="accent1"/>
          </a:solidFill>
          <a:ln/>
        </p:spPr>
        <p:txBody>
          <a:bodyPr/>
          <a:lstStyle/>
          <a:p>
            <a:endParaRPr lang="it-IT" noProof="0" dirty="0"/>
          </a:p>
        </p:txBody>
      </p:sp>
      <p:sp>
        <p:nvSpPr>
          <p:cNvPr id="15" name="Text 12"/>
          <p:cNvSpPr txBox="1"/>
          <p:nvPr/>
        </p:nvSpPr>
        <p:spPr>
          <a:xfrm>
            <a:off x="731520" y="3685032"/>
            <a:ext cx="4206240" cy="420624"/>
          </a:xfrm>
          <a:prstGeom prst="rect">
            <a:avLst/>
          </a:prstGeom>
          <a:noFill/>
          <a:ln/>
        </p:spPr>
        <p:txBody>
          <a:bodyPr wrap="square" lIns="0" tIns="0" rIns="0" bIns="0" rtlCol="0" anchor="ctr"/>
          <a:lstStyle/>
          <a:p>
            <a:pPr marL="0" indent="0" algn="ctr">
              <a:buNone/>
            </a:pPr>
            <a:r>
              <a:rPr lang="it-IT" sz="1300" b="1" noProof="0" dirty="0">
                <a:solidFill>
                  <a:schemeClr val="bg1"/>
                </a:solidFill>
              </a:rPr>
              <a:t>Risposta in generazione</a:t>
            </a:r>
            <a:endParaRPr lang="it-IT" sz="1300" noProof="0" dirty="0"/>
          </a:p>
        </p:txBody>
      </p:sp>
      <p:sp>
        <p:nvSpPr>
          <p:cNvPr id="16" name="Text 13"/>
          <p:cNvSpPr txBox="1"/>
          <p:nvPr/>
        </p:nvSpPr>
        <p:spPr>
          <a:xfrm>
            <a:off x="640080" y="4187952"/>
            <a:ext cx="4389120" cy="228600"/>
          </a:xfrm>
          <a:prstGeom prst="rect">
            <a:avLst/>
          </a:prstGeom>
          <a:noFill/>
          <a:ln/>
        </p:spPr>
        <p:txBody>
          <a:bodyPr wrap="square" lIns="0" tIns="0" rIns="0" bIns="0" rtlCol="0" anchor="t"/>
          <a:lstStyle/>
          <a:p>
            <a:pPr marL="0" indent="0">
              <a:buNone/>
            </a:pPr>
            <a:r>
              <a:rPr lang="it-IT" sz="1000" i="1" noProof="0" dirty="0">
                <a:solidFill>
                  <a:schemeClr val="accent2"/>
                </a:solidFill>
              </a:rPr>
              <a:t>Ciò che non entra nella finestra, per il modello non esiste.</a:t>
            </a:r>
            <a:endParaRPr lang="it-IT" sz="1000" noProof="0" dirty="0"/>
          </a:p>
        </p:txBody>
      </p:sp>
      <p:sp>
        <p:nvSpPr>
          <p:cNvPr id="17" name="cerchio FiMaximize2"/>
          <p:cNvSpPr/>
          <p:nvPr/>
        </p:nvSpPr>
        <p:spPr>
          <a:xfrm>
            <a:off x="5486400" y="1143000"/>
            <a:ext cx="457200" cy="457200"/>
          </a:xfrm>
          <a:prstGeom prst="ellipse">
            <a:avLst/>
          </a:prstGeom>
          <a:solidFill>
            <a:schemeClr val="accent1"/>
          </a:solidFill>
          <a:ln/>
        </p:spPr>
        <p:txBody>
          <a:bodyPr/>
          <a:lstStyle/>
          <a:p>
            <a:endParaRPr lang="it-IT" noProof="0" dirty="0"/>
          </a:p>
        </p:txBody>
      </p:sp>
      <p:pic>
        <p:nvPicPr>
          <p:cNvPr id="18" name="Image 0" descr="FiMaximize2"/>
          <p:cNvPicPr>
            <a:picLocks noChangeAspect="1"/>
          </p:cNvPicPr>
          <p:nvPr/>
        </p:nvPicPr>
        <p:blipFill>
          <a:blip r:embed="rId3"/>
          <a:stretch>
            <a:fillRect/>
          </a:stretch>
        </p:blipFill>
        <p:spPr>
          <a:xfrm>
            <a:off x="5600700" y="1257300"/>
            <a:ext cx="228600" cy="228600"/>
          </a:xfrm>
          <a:prstGeom prst="rect">
            <a:avLst/>
          </a:prstGeom>
        </p:spPr>
      </p:pic>
      <p:sp>
        <p:nvSpPr>
          <p:cNvPr id="19" name="Text 15"/>
          <p:cNvSpPr txBox="1"/>
          <p:nvPr/>
        </p:nvSpPr>
        <p:spPr>
          <a:xfrm>
            <a:off x="6080760" y="1115568"/>
            <a:ext cx="2606040" cy="502920"/>
          </a:xfrm>
          <a:prstGeom prst="rect">
            <a:avLst/>
          </a:prstGeom>
          <a:noFill/>
          <a:ln/>
        </p:spPr>
        <p:txBody>
          <a:bodyPr wrap="square" lIns="0" tIns="0" rIns="0" bIns="0" rtlCol="0" anchor="t"/>
          <a:lstStyle/>
          <a:p>
            <a:pPr marL="0" indent="0">
              <a:buNone/>
            </a:pPr>
            <a:r>
              <a:rPr lang="it-IT" sz="1300" b="1" noProof="0" dirty="0">
                <a:solidFill>
                  <a:schemeClr val="tx1"/>
                </a:solidFill>
              </a:rPr>
              <a:t>Misurata in token</a:t>
            </a:r>
            <a:endParaRPr lang="it-IT" sz="1300" noProof="0" dirty="0"/>
          </a:p>
        </p:txBody>
      </p:sp>
      <p:sp>
        <p:nvSpPr>
          <p:cNvPr id="20" name="Text 16"/>
          <p:cNvSpPr txBox="1"/>
          <p:nvPr/>
        </p:nvSpPr>
        <p:spPr>
          <a:xfrm>
            <a:off x="6080760" y="1600200"/>
            <a:ext cx="2606040" cy="548640"/>
          </a:xfrm>
          <a:prstGeom prst="rect">
            <a:avLst/>
          </a:prstGeom>
          <a:noFill/>
          <a:ln/>
        </p:spPr>
        <p:txBody>
          <a:bodyPr wrap="square" lIns="0" tIns="0" rIns="0" bIns="0" rtlCol="0" anchor="t"/>
          <a:lstStyle/>
          <a:p>
            <a:pPr marL="0" indent="0">
              <a:buNone/>
            </a:pPr>
            <a:r>
              <a:rPr lang="it-IT" sz="1100" noProof="0" dirty="0">
                <a:solidFill>
                  <a:schemeClr val="tx2"/>
                </a:solidFill>
              </a:rPr>
              <a:t>Da poche migliaia a centinaia di migliaia o più, secondo il modello</a:t>
            </a:r>
            <a:endParaRPr lang="it-IT" sz="1100" noProof="0" dirty="0"/>
          </a:p>
        </p:txBody>
      </p:sp>
      <p:sp>
        <p:nvSpPr>
          <p:cNvPr id="21" name="cerchio FiScissors"/>
          <p:cNvSpPr/>
          <p:nvPr/>
        </p:nvSpPr>
        <p:spPr>
          <a:xfrm>
            <a:off x="5486400" y="2258568"/>
            <a:ext cx="457200" cy="457200"/>
          </a:xfrm>
          <a:prstGeom prst="ellipse">
            <a:avLst/>
          </a:prstGeom>
          <a:solidFill>
            <a:schemeClr val="accent1"/>
          </a:solidFill>
          <a:ln/>
        </p:spPr>
        <p:txBody>
          <a:bodyPr/>
          <a:lstStyle/>
          <a:p>
            <a:endParaRPr lang="it-IT" noProof="0" dirty="0"/>
          </a:p>
        </p:txBody>
      </p:sp>
      <p:pic>
        <p:nvPicPr>
          <p:cNvPr id="22" name="Image 1" descr="FiScissors"/>
          <p:cNvPicPr>
            <a:picLocks noChangeAspect="1"/>
          </p:cNvPicPr>
          <p:nvPr/>
        </p:nvPicPr>
        <p:blipFill>
          <a:blip r:embed="rId4"/>
          <a:stretch>
            <a:fillRect/>
          </a:stretch>
        </p:blipFill>
        <p:spPr>
          <a:xfrm>
            <a:off x="5600700" y="2372868"/>
            <a:ext cx="228600" cy="228600"/>
          </a:xfrm>
          <a:prstGeom prst="rect">
            <a:avLst/>
          </a:prstGeom>
        </p:spPr>
      </p:pic>
      <p:sp>
        <p:nvSpPr>
          <p:cNvPr id="23" name="Text 18"/>
          <p:cNvSpPr txBox="1"/>
          <p:nvPr/>
        </p:nvSpPr>
        <p:spPr>
          <a:xfrm>
            <a:off x="6080760" y="2231136"/>
            <a:ext cx="2606040" cy="502920"/>
          </a:xfrm>
          <a:prstGeom prst="rect">
            <a:avLst/>
          </a:prstGeom>
          <a:noFill/>
          <a:ln/>
        </p:spPr>
        <p:txBody>
          <a:bodyPr wrap="square" lIns="0" tIns="0" rIns="0" bIns="0" rtlCol="0" anchor="t"/>
          <a:lstStyle/>
          <a:p>
            <a:pPr marL="0" indent="0">
              <a:buNone/>
            </a:pPr>
            <a:r>
              <a:rPr lang="it-IT" sz="1300" b="1" noProof="0" dirty="0">
                <a:solidFill>
                  <a:schemeClr val="tx1"/>
                </a:solidFill>
              </a:rPr>
              <a:t>Quando è piena</a:t>
            </a:r>
            <a:endParaRPr lang="it-IT" sz="1300" noProof="0" dirty="0"/>
          </a:p>
        </p:txBody>
      </p:sp>
      <p:sp>
        <p:nvSpPr>
          <p:cNvPr id="24" name="Text 19"/>
          <p:cNvSpPr txBox="1"/>
          <p:nvPr/>
        </p:nvSpPr>
        <p:spPr>
          <a:xfrm>
            <a:off x="6080760" y="2715768"/>
            <a:ext cx="2606040" cy="548640"/>
          </a:xfrm>
          <a:prstGeom prst="rect">
            <a:avLst/>
          </a:prstGeom>
          <a:noFill/>
          <a:ln/>
        </p:spPr>
        <p:txBody>
          <a:bodyPr wrap="square" lIns="0" tIns="0" rIns="0" bIns="0" rtlCol="0" anchor="t"/>
          <a:lstStyle/>
          <a:p>
            <a:pPr marL="0" indent="0">
              <a:buNone/>
            </a:pPr>
            <a:r>
              <a:rPr lang="it-IT" sz="1100" noProof="0" dirty="0">
                <a:solidFill>
                  <a:schemeClr val="tx2"/>
                </a:solidFill>
              </a:rPr>
              <a:t>Le parti più vecchie possono essere escluse o riassunte</a:t>
            </a:r>
            <a:endParaRPr lang="it-IT" sz="1100" noProof="0" dirty="0"/>
          </a:p>
        </p:txBody>
      </p:sp>
      <p:sp>
        <p:nvSpPr>
          <p:cNvPr id="25" name="cerchio FiTarget"/>
          <p:cNvSpPr/>
          <p:nvPr/>
        </p:nvSpPr>
        <p:spPr>
          <a:xfrm>
            <a:off x="5486400" y="3374136"/>
            <a:ext cx="457200" cy="457200"/>
          </a:xfrm>
          <a:prstGeom prst="ellipse">
            <a:avLst/>
          </a:prstGeom>
          <a:solidFill>
            <a:schemeClr val="accent1"/>
          </a:solidFill>
          <a:ln/>
        </p:spPr>
        <p:txBody>
          <a:bodyPr/>
          <a:lstStyle/>
          <a:p>
            <a:endParaRPr lang="it-IT" noProof="0" dirty="0"/>
          </a:p>
        </p:txBody>
      </p:sp>
      <p:pic>
        <p:nvPicPr>
          <p:cNvPr id="26" name="Image 2" descr="FiTarget"/>
          <p:cNvPicPr>
            <a:picLocks noChangeAspect="1"/>
          </p:cNvPicPr>
          <p:nvPr/>
        </p:nvPicPr>
        <p:blipFill>
          <a:blip r:embed="rId5"/>
          <a:stretch>
            <a:fillRect/>
          </a:stretch>
        </p:blipFill>
        <p:spPr>
          <a:xfrm>
            <a:off x="5600700" y="3488436"/>
            <a:ext cx="228600" cy="228600"/>
          </a:xfrm>
          <a:prstGeom prst="rect">
            <a:avLst/>
          </a:prstGeom>
        </p:spPr>
      </p:pic>
      <p:sp>
        <p:nvSpPr>
          <p:cNvPr id="27" name="Text 21"/>
          <p:cNvSpPr txBox="1"/>
          <p:nvPr/>
        </p:nvSpPr>
        <p:spPr>
          <a:xfrm>
            <a:off x="6080760" y="3346704"/>
            <a:ext cx="2606040" cy="502920"/>
          </a:xfrm>
          <a:prstGeom prst="rect">
            <a:avLst/>
          </a:prstGeom>
          <a:noFill/>
          <a:ln/>
        </p:spPr>
        <p:txBody>
          <a:bodyPr wrap="square" lIns="0" tIns="0" rIns="0" bIns="0" rtlCol="0" anchor="t"/>
          <a:lstStyle/>
          <a:p>
            <a:pPr marL="0" indent="0">
              <a:buNone/>
            </a:pPr>
            <a:r>
              <a:rPr lang="it-IT" sz="1300" b="1" noProof="0" dirty="0">
                <a:solidFill>
                  <a:schemeClr val="tx1"/>
                </a:solidFill>
              </a:rPr>
              <a:t>Il contesto giusto conta più della quantità</a:t>
            </a:r>
            <a:endParaRPr lang="it-IT" sz="1300" noProof="0" dirty="0"/>
          </a:p>
        </p:txBody>
      </p:sp>
      <p:sp>
        <p:nvSpPr>
          <p:cNvPr id="28" name="Text 22"/>
          <p:cNvSpPr txBox="1"/>
          <p:nvPr/>
        </p:nvSpPr>
        <p:spPr>
          <a:xfrm>
            <a:off x="6080760" y="3831336"/>
            <a:ext cx="2606040" cy="548640"/>
          </a:xfrm>
          <a:prstGeom prst="rect">
            <a:avLst/>
          </a:prstGeom>
          <a:noFill/>
          <a:ln/>
        </p:spPr>
        <p:txBody>
          <a:bodyPr wrap="square" lIns="0" tIns="0" rIns="0" bIns="0" rtlCol="0" anchor="t"/>
          <a:lstStyle/>
          <a:p>
            <a:pPr marL="0" indent="0">
              <a:buNone/>
            </a:pPr>
            <a:r>
              <a:rPr lang="it-IT" sz="1100" noProof="0" dirty="0">
                <a:solidFill>
                  <a:schemeClr val="tx2"/>
                </a:solidFill>
              </a:rPr>
              <a:t>Informazioni nel mezzo di testi lunghi possono essere trascurate</a:t>
            </a:r>
            <a:endParaRPr lang="it-IT" sz="11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43</a:t>
            </a:fld>
            <a:endParaRPr lang="it-IT" noProof="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La cronologia conversazionale</a:t>
            </a:r>
            <a:endParaRPr lang="it-IT" sz="2600" noProof="0" dirty="0"/>
          </a:p>
        </p:txBody>
      </p:sp>
      <p:sp>
        <p:nvSpPr>
          <p:cNvPr id="4" name="Text 1"/>
          <p:cNvSpPr txBox="1"/>
          <p:nvPr/>
        </p:nvSpPr>
        <p:spPr>
          <a:xfrm>
            <a:off x="457200" y="1234440"/>
            <a:ext cx="822960" cy="502920"/>
          </a:xfrm>
          <a:prstGeom prst="rect">
            <a:avLst/>
          </a:prstGeom>
          <a:noFill/>
          <a:ln/>
        </p:spPr>
        <p:txBody>
          <a:bodyPr wrap="square" lIns="0" tIns="0" rIns="0" bIns="0" rtlCol="0" anchor="ctr"/>
          <a:lstStyle/>
          <a:p>
            <a:pPr marL="0" indent="0">
              <a:buNone/>
            </a:pPr>
            <a:r>
              <a:rPr lang="it-IT" sz="1300" b="1" noProof="0" dirty="0">
                <a:solidFill>
                  <a:schemeClr val="tx1"/>
                </a:solidFill>
              </a:rPr>
              <a:t>Turno 1</a:t>
            </a:r>
            <a:endParaRPr lang="it-IT" sz="1300" noProof="0" dirty="0"/>
          </a:p>
        </p:txBody>
      </p:sp>
      <p:sp>
        <p:nvSpPr>
          <p:cNvPr id="5" name="blocco Istruzioni"/>
          <p:cNvSpPr/>
          <p:nvPr/>
        </p:nvSpPr>
        <p:spPr>
          <a:xfrm>
            <a:off x="1280160" y="1234440"/>
            <a:ext cx="1051560" cy="502920"/>
          </a:xfrm>
          <a:prstGeom prst="roundRect">
            <a:avLst>
              <a:gd name="adj" fmla="val 21818"/>
            </a:avLst>
          </a:prstGeom>
          <a:solidFill>
            <a:schemeClr val="bg2"/>
          </a:solidFill>
          <a:ln/>
        </p:spPr>
        <p:txBody>
          <a:bodyPr/>
          <a:lstStyle/>
          <a:p>
            <a:endParaRPr lang="it-IT" noProof="0" dirty="0"/>
          </a:p>
        </p:txBody>
      </p:sp>
      <p:sp>
        <p:nvSpPr>
          <p:cNvPr id="6" name="Text 3"/>
          <p:cNvSpPr txBox="1"/>
          <p:nvPr/>
        </p:nvSpPr>
        <p:spPr>
          <a:xfrm>
            <a:off x="1325880" y="1234440"/>
            <a:ext cx="96012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Istruzioni</a:t>
            </a:r>
            <a:endParaRPr lang="it-IT" sz="1100" noProof="0" dirty="0"/>
          </a:p>
        </p:txBody>
      </p:sp>
      <p:sp>
        <p:nvSpPr>
          <p:cNvPr id="7" name="blocco Domanda 1"/>
          <p:cNvSpPr/>
          <p:nvPr/>
        </p:nvSpPr>
        <p:spPr>
          <a:xfrm>
            <a:off x="2377440" y="1234440"/>
            <a:ext cx="960120" cy="502920"/>
          </a:xfrm>
          <a:prstGeom prst="roundRect">
            <a:avLst>
              <a:gd name="adj" fmla="val 21818"/>
            </a:avLst>
          </a:prstGeom>
          <a:solidFill>
            <a:schemeClr val="accent6"/>
          </a:solidFill>
          <a:ln/>
        </p:spPr>
        <p:txBody>
          <a:bodyPr/>
          <a:lstStyle/>
          <a:p>
            <a:endParaRPr lang="it-IT" noProof="0" dirty="0"/>
          </a:p>
        </p:txBody>
      </p:sp>
      <p:sp>
        <p:nvSpPr>
          <p:cNvPr id="8" name="Text 5"/>
          <p:cNvSpPr txBox="1"/>
          <p:nvPr/>
        </p:nvSpPr>
        <p:spPr>
          <a:xfrm>
            <a:off x="2423160" y="1234440"/>
            <a:ext cx="868680" cy="502920"/>
          </a:xfrm>
          <a:prstGeom prst="rect">
            <a:avLst/>
          </a:prstGeom>
          <a:noFill/>
          <a:ln/>
        </p:spPr>
        <p:txBody>
          <a:bodyPr wrap="square" lIns="0" tIns="0" rIns="0" bIns="0" rtlCol="0" anchor="ctr"/>
          <a:lstStyle/>
          <a:p>
            <a:pPr marL="0" indent="0" algn="ctr">
              <a:buNone/>
            </a:pPr>
            <a:r>
              <a:rPr lang="it-IT" sz="1100" b="1" noProof="0" dirty="0">
                <a:solidFill>
                  <a:schemeClr val="tx1"/>
                </a:solidFill>
              </a:rPr>
              <a:t>Domanda 1</a:t>
            </a:r>
            <a:endParaRPr lang="it-IT" sz="1100" noProof="0" dirty="0"/>
          </a:p>
        </p:txBody>
      </p:sp>
      <p:sp>
        <p:nvSpPr>
          <p:cNvPr id="9" name="Text 6"/>
          <p:cNvSpPr txBox="1"/>
          <p:nvPr/>
        </p:nvSpPr>
        <p:spPr>
          <a:xfrm>
            <a:off x="457200" y="2011680"/>
            <a:ext cx="822960" cy="502920"/>
          </a:xfrm>
          <a:prstGeom prst="rect">
            <a:avLst/>
          </a:prstGeom>
          <a:noFill/>
          <a:ln/>
        </p:spPr>
        <p:txBody>
          <a:bodyPr wrap="square" lIns="0" tIns="0" rIns="0" bIns="0" rtlCol="0" anchor="ctr"/>
          <a:lstStyle/>
          <a:p>
            <a:pPr marL="0" indent="0">
              <a:buNone/>
            </a:pPr>
            <a:r>
              <a:rPr lang="it-IT" sz="1300" b="1" noProof="0" dirty="0">
                <a:solidFill>
                  <a:schemeClr val="tx1"/>
                </a:solidFill>
              </a:rPr>
              <a:t>Turno 2</a:t>
            </a:r>
            <a:endParaRPr lang="it-IT" sz="1300" noProof="0" dirty="0"/>
          </a:p>
        </p:txBody>
      </p:sp>
      <p:sp>
        <p:nvSpPr>
          <p:cNvPr id="10" name="blocco Istruzioni"/>
          <p:cNvSpPr/>
          <p:nvPr/>
        </p:nvSpPr>
        <p:spPr>
          <a:xfrm>
            <a:off x="1280160" y="2011680"/>
            <a:ext cx="1051560" cy="502920"/>
          </a:xfrm>
          <a:prstGeom prst="roundRect">
            <a:avLst>
              <a:gd name="adj" fmla="val 21818"/>
            </a:avLst>
          </a:prstGeom>
          <a:solidFill>
            <a:schemeClr val="bg2"/>
          </a:solidFill>
          <a:ln/>
        </p:spPr>
        <p:txBody>
          <a:bodyPr/>
          <a:lstStyle/>
          <a:p>
            <a:endParaRPr lang="it-IT" noProof="0" dirty="0"/>
          </a:p>
        </p:txBody>
      </p:sp>
      <p:sp>
        <p:nvSpPr>
          <p:cNvPr id="11" name="Text 8"/>
          <p:cNvSpPr txBox="1"/>
          <p:nvPr/>
        </p:nvSpPr>
        <p:spPr>
          <a:xfrm>
            <a:off x="1325880" y="2011680"/>
            <a:ext cx="96012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Istruzioni</a:t>
            </a:r>
            <a:endParaRPr lang="it-IT" sz="1100" noProof="0" dirty="0"/>
          </a:p>
        </p:txBody>
      </p:sp>
      <p:sp>
        <p:nvSpPr>
          <p:cNvPr id="12" name="blocco Domanda 1"/>
          <p:cNvSpPr/>
          <p:nvPr/>
        </p:nvSpPr>
        <p:spPr>
          <a:xfrm>
            <a:off x="2377440" y="2011680"/>
            <a:ext cx="960120" cy="502920"/>
          </a:xfrm>
          <a:prstGeom prst="roundRect">
            <a:avLst>
              <a:gd name="adj" fmla="val 21818"/>
            </a:avLst>
          </a:prstGeom>
          <a:solidFill>
            <a:schemeClr val="bg2"/>
          </a:solidFill>
          <a:ln/>
        </p:spPr>
        <p:txBody>
          <a:bodyPr/>
          <a:lstStyle/>
          <a:p>
            <a:endParaRPr lang="it-IT" noProof="0" dirty="0"/>
          </a:p>
        </p:txBody>
      </p:sp>
      <p:sp>
        <p:nvSpPr>
          <p:cNvPr id="13" name="Text 10"/>
          <p:cNvSpPr txBox="1"/>
          <p:nvPr/>
        </p:nvSpPr>
        <p:spPr>
          <a:xfrm>
            <a:off x="2423160" y="2011680"/>
            <a:ext cx="86868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Domanda 1</a:t>
            </a:r>
            <a:endParaRPr lang="it-IT" sz="1100" noProof="0" dirty="0"/>
          </a:p>
        </p:txBody>
      </p:sp>
      <p:sp>
        <p:nvSpPr>
          <p:cNvPr id="14" name="blocco Risposta 1"/>
          <p:cNvSpPr/>
          <p:nvPr/>
        </p:nvSpPr>
        <p:spPr>
          <a:xfrm>
            <a:off x="3383280" y="2011680"/>
            <a:ext cx="1325880" cy="502920"/>
          </a:xfrm>
          <a:prstGeom prst="roundRect">
            <a:avLst>
              <a:gd name="adj" fmla="val 21818"/>
            </a:avLst>
          </a:prstGeom>
          <a:solidFill>
            <a:schemeClr val="bg2"/>
          </a:solidFill>
          <a:ln/>
        </p:spPr>
        <p:txBody>
          <a:bodyPr/>
          <a:lstStyle/>
          <a:p>
            <a:endParaRPr lang="it-IT" noProof="0" dirty="0"/>
          </a:p>
        </p:txBody>
      </p:sp>
      <p:sp>
        <p:nvSpPr>
          <p:cNvPr id="15" name="Text 12"/>
          <p:cNvSpPr txBox="1"/>
          <p:nvPr/>
        </p:nvSpPr>
        <p:spPr>
          <a:xfrm>
            <a:off x="3429000" y="2011680"/>
            <a:ext cx="123444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Risposta 1</a:t>
            </a:r>
            <a:endParaRPr lang="it-IT" sz="1100" noProof="0" dirty="0"/>
          </a:p>
        </p:txBody>
      </p:sp>
      <p:sp>
        <p:nvSpPr>
          <p:cNvPr id="16" name="blocco Domanda 2"/>
          <p:cNvSpPr/>
          <p:nvPr/>
        </p:nvSpPr>
        <p:spPr>
          <a:xfrm>
            <a:off x="4754880" y="2011680"/>
            <a:ext cx="960120" cy="502920"/>
          </a:xfrm>
          <a:prstGeom prst="roundRect">
            <a:avLst>
              <a:gd name="adj" fmla="val 21818"/>
            </a:avLst>
          </a:prstGeom>
          <a:solidFill>
            <a:schemeClr val="accent6"/>
          </a:solidFill>
          <a:ln/>
        </p:spPr>
        <p:txBody>
          <a:bodyPr/>
          <a:lstStyle/>
          <a:p>
            <a:endParaRPr lang="it-IT" noProof="0" dirty="0"/>
          </a:p>
        </p:txBody>
      </p:sp>
      <p:sp>
        <p:nvSpPr>
          <p:cNvPr id="17" name="Text 14"/>
          <p:cNvSpPr txBox="1"/>
          <p:nvPr/>
        </p:nvSpPr>
        <p:spPr>
          <a:xfrm>
            <a:off x="4800600" y="2011680"/>
            <a:ext cx="868680" cy="502920"/>
          </a:xfrm>
          <a:prstGeom prst="rect">
            <a:avLst/>
          </a:prstGeom>
          <a:noFill/>
          <a:ln/>
        </p:spPr>
        <p:txBody>
          <a:bodyPr wrap="square" lIns="0" tIns="0" rIns="0" bIns="0" rtlCol="0" anchor="ctr"/>
          <a:lstStyle/>
          <a:p>
            <a:pPr marL="0" indent="0" algn="ctr">
              <a:buNone/>
            </a:pPr>
            <a:r>
              <a:rPr lang="it-IT" sz="1100" b="1" noProof="0" dirty="0">
                <a:solidFill>
                  <a:schemeClr val="tx1"/>
                </a:solidFill>
              </a:rPr>
              <a:t>Domanda 2</a:t>
            </a:r>
            <a:endParaRPr lang="it-IT" sz="1100" noProof="0" dirty="0"/>
          </a:p>
        </p:txBody>
      </p:sp>
      <p:sp>
        <p:nvSpPr>
          <p:cNvPr id="18" name="Text 15"/>
          <p:cNvSpPr txBox="1"/>
          <p:nvPr/>
        </p:nvSpPr>
        <p:spPr>
          <a:xfrm>
            <a:off x="457200" y="2788920"/>
            <a:ext cx="822960" cy="502920"/>
          </a:xfrm>
          <a:prstGeom prst="rect">
            <a:avLst/>
          </a:prstGeom>
          <a:noFill/>
          <a:ln/>
        </p:spPr>
        <p:txBody>
          <a:bodyPr wrap="square" lIns="0" tIns="0" rIns="0" bIns="0" rtlCol="0" anchor="ctr"/>
          <a:lstStyle/>
          <a:p>
            <a:pPr marL="0" indent="0">
              <a:buNone/>
            </a:pPr>
            <a:r>
              <a:rPr lang="it-IT" sz="1300" b="1" noProof="0" dirty="0">
                <a:solidFill>
                  <a:schemeClr val="tx1"/>
                </a:solidFill>
              </a:rPr>
              <a:t>Turno 3</a:t>
            </a:r>
            <a:endParaRPr lang="it-IT" sz="1300" noProof="0" dirty="0"/>
          </a:p>
        </p:txBody>
      </p:sp>
      <p:sp>
        <p:nvSpPr>
          <p:cNvPr id="19" name="blocco Istruzioni"/>
          <p:cNvSpPr/>
          <p:nvPr/>
        </p:nvSpPr>
        <p:spPr>
          <a:xfrm>
            <a:off x="1280160" y="2788920"/>
            <a:ext cx="1051560" cy="502920"/>
          </a:xfrm>
          <a:prstGeom prst="roundRect">
            <a:avLst>
              <a:gd name="adj" fmla="val 21818"/>
            </a:avLst>
          </a:prstGeom>
          <a:solidFill>
            <a:schemeClr val="bg2"/>
          </a:solidFill>
          <a:ln/>
        </p:spPr>
        <p:txBody>
          <a:bodyPr/>
          <a:lstStyle/>
          <a:p>
            <a:endParaRPr lang="it-IT" noProof="0" dirty="0"/>
          </a:p>
        </p:txBody>
      </p:sp>
      <p:sp>
        <p:nvSpPr>
          <p:cNvPr id="20" name="Text 17"/>
          <p:cNvSpPr txBox="1"/>
          <p:nvPr/>
        </p:nvSpPr>
        <p:spPr>
          <a:xfrm>
            <a:off x="1325880" y="2788920"/>
            <a:ext cx="96012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Istruzioni</a:t>
            </a:r>
            <a:endParaRPr lang="it-IT" sz="1100" noProof="0" dirty="0"/>
          </a:p>
        </p:txBody>
      </p:sp>
      <p:sp>
        <p:nvSpPr>
          <p:cNvPr id="21" name="blocco Domanda 1"/>
          <p:cNvSpPr/>
          <p:nvPr/>
        </p:nvSpPr>
        <p:spPr>
          <a:xfrm>
            <a:off x="2377440" y="2788920"/>
            <a:ext cx="960120" cy="502920"/>
          </a:xfrm>
          <a:prstGeom prst="roundRect">
            <a:avLst>
              <a:gd name="adj" fmla="val 21818"/>
            </a:avLst>
          </a:prstGeom>
          <a:solidFill>
            <a:schemeClr val="bg2"/>
          </a:solidFill>
          <a:ln/>
        </p:spPr>
        <p:txBody>
          <a:bodyPr/>
          <a:lstStyle/>
          <a:p>
            <a:endParaRPr lang="it-IT" noProof="0" dirty="0"/>
          </a:p>
        </p:txBody>
      </p:sp>
      <p:sp>
        <p:nvSpPr>
          <p:cNvPr id="22" name="Text 19"/>
          <p:cNvSpPr txBox="1"/>
          <p:nvPr/>
        </p:nvSpPr>
        <p:spPr>
          <a:xfrm>
            <a:off x="2423160" y="2788920"/>
            <a:ext cx="86868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Domanda 1</a:t>
            </a:r>
            <a:endParaRPr lang="it-IT" sz="1100" noProof="0" dirty="0"/>
          </a:p>
        </p:txBody>
      </p:sp>
      <p:sp>
        <p:nvSpPr>
          <p:cNvPr id="23" name="blocco Risposta 1"/>
          <p:cNvSpPr/>
          <p:nvPr/>
        </p:nvSpPr>
        <p:spPr>
          <a:xfrm>
            <a:off x="3383280" y="2788920"/>
            <a:ext cx="1325880" cy="502920"/>
          </a:xfrm>
          <a:prstGeom prst="roundRect">
            <a:avLst>
              <a:gd name="adj" fmla="val 21818"/>
            </a:avLst>
          </a:prstGeom>
          <a:solidFill>
            <a:schemeClr val="bg2"/>
          </a:solidFill>
          <a:ln/>
        </p:spPr>
        <p:txBody>
          <a:bodyPr/>
          <a:lstStyle/>
          <a:p>
            <a:endParaRPr lang="it-IT" noProof="0" dirty="0"/>
          </a:p>
        </p:txBody>
      </p:sp>
      <p:sp>
        <p:nvSpPr>
          <p:cNvPr id="24" name="Text 21"/>
          <p:cNvSpPr txBox="1"/>
          <p:nvPr/>
        </p:nvSpPr>
        <p:spPr>
          <a:xfrm>
            <a:off x="3429000" y="2788920"/>
            <a:ext cx="123444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Risposta 1</a:t>
            </a:r>
            <a:endParaRPr lang="it-IT" sz="1100" noProof="0" dirty="0"/>
          </a:p>
        </p:txBody>
      </p:sp>
      <p:sp>
        <p:nvSpPr>
          <p:cNvPr id="25" name="blocco Domanda 2"/>
          <p:cNvSpPr/>
          <p:nvPr/>
        </p:nvSpPr>
        <p:spPr>
          <a:xfrm>
            <a:off x="4754880" y="2788920"/>
            <a:ext cx="960120" cy="502920"/>
          </a:xfrm>
          <a:prstGeom prst="roundRect">
            <a:avLst>
              <a:gd name="adj" fmla="val 21818"/>
            </a:avLst>
          </a:prstGeom>
          <a:solidFill>
            <a:schemeClr val="bg2"/>
          </a:solidFill>
          <a:ln/>
        </p:spPr>
        <p:txBody>
          <a:bodyPr/>
          <a:lstStyle/>
          <a:p>
            <a:endParaRPr lang="it-IT" noProof="0" dirty="0"/>
          </a:p>
        </p:txBody>
      </p:sp>
      <p:sp>
        <p:nvSpPr>
          <p:cNvPr id="26" name="Text 23"/>
          <p:cNvSpPr txBox="1"/>
          <p:nvPr/>
        </p:nvSpPr>
        <p:spPr>
          <a:xfrm>
            <a:off x="4800600" y="2788920"/>
            <a:ext cx="86868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Domanda 2</a:t>
            </a:r>
            <a:endParaRPr lang="it-IT" sz="1100" noProof="0" dirty="0"/>
          </a:p>
        </p:txBody>
      </p:sp>
      <p:sp>
        <p:nvSpPr>
          <p:cNvPr id="27" name="blocco Risposta 2"/>
          <p:cNvSpPr/>
          <p:nvPr/>
        </p:nvSpPr>
        <p:spPr>
          <a:xfrm>
            <a:off x="5760720" y="2788920"/>
            <a:ext cx="1325880" cy="502920"/>
          </a:xfrm>
          <a:prstGeom prst="roundRect">
            <a:avLst>
              <a:gd name="adj" fmla="val 21818"/>
            </a:avLst>
          </a:prstGeom>
          <a:solidFill>
            <a:schemeClr val="bg2"/>
          </a:solidFill>
          <a:ln/>
        </p:spPr>
        <p:txBody>
          <a:bodyPr/>
          <a:lstStyle/>
          <a:p>
            <a:endParaRPr lang="it-IT" noProof="0" dirty="0"/>
          </a:p>
        </p:txBody>
      </p:sp>
      <p:sp>
        <p:nvSpPr>
          <p:cNvPr id="28" name="Text 25"/>
          <p:cNvSpPr txBox="1"/>
          <p:nvPr/>
        </p:nvSpPr>
        <p:spPr>
          <a:xfrm>
            <a:off x="5806440" y="2788920"/>
            <a:ext cx="1234440" cy="502920"/>
          </a:xfrm>
          <a:prstGeom prst="rect">
            <a:avLst/>
          </a:prstGeom>
          <a:noFill/>
          <a:ln/>
        </p:spPr>
        <p:txBody>
          <a:bodyPr wrap="square" lIns="0" tIns="0" rIns="0" bIns="0" rtlCol="0" anchor="ctr"/>
          <a:lstStyle/>
          <a:p>
            <a:pPr marL="0" indent="0" algn="ctr">
              <a:buNone/>
            </a:pPr>
            <a:r>
              <a:rPr lang="it-IT" sz="1100" noProof="0" dirty="0">
                <a:solidFill>
                  <a:schemeClr val="tx1"/>
                </a:solidFill>
              </a:rPr>
              <a:t>Risposta 2</a:t>
            </a:r>
            <a:endParaRPr lang="it-IT" sz="1100" noProof="0" dirty="0"/>
          </a:p>
        </p:txBody>
      </p:sp>
      <p:sp>
        <p:nvSpPr>
          <p:cNvPr id="29" name="blocco Domanda 3"/>
          <p:cNvSpPr/>
          <p:nvPr/>
        </p:nvSpPr>
        <p:spPr>
          <a:xfrm>
            <a:off x="7132320" y="2788920"/>
            <a:ext cx="960120" cy="502920"/>
          </a:xfrm>
          <a:prstGeom prst="roundRect">
            <a:avLst>
              <a:gd name="adj" fmla="val 21818"/>
            </a:avLst>
          </a:prstGeom>
          <a:solidFill>
            <a:schemeClr val="accent6"/>
          </a:solidFill>
          <a:ln/>
        </p:spPr>
        <p:txBody>
          <a:bodyPr/>
          <a:lstStyle/>
          <a:p>
            <a:endParaRPr lang="it-IT" noProof="0" dirty="0"/>
          </a:p>
        </p:txBody>
      </p:sp>
      <p:sp>
        <p:nvSpPr>
          <p:cNvPr id="30" name="Text 27"/>
          <p:cNvSpPr txBox="1"/>
          <p:nvPr/>
        </p:nvSpPr>
        <p:spPr>
          <a:xfrm>
            <a:off x="7178040" y="2788920"/>
            <a:ext cx="868680" cy="502920"/>
          </a:xfrm>
          <a:prstGeom prst="rect">
            <a:avLst/>
          </a:prstGeom>
          <a:noFill/>
          <a:ln/>
        </p:spPr>
        <p:txBody>
          <a:bodyPr wrap="square" lIns="0" tIns="0" rIns="0" bIns="0" rtlCol="0" anchor="ctr"/>
          <a:lstStyle/>
          <a:p>
            <a:pPr marL="0" indent="0" algn="ctr">
              <a:buNone/>
            </a:pPr>
            <a:r>
              <a:rPr lang="it-IT" sz="1100" b="1" noProof="0" dirty="0">
                <a:solidFill>
                  <a:schemeClr val="tx1"/>
                </a:solidFill>
              </a:rPr>
              <a:t>Domanda 3</a:t>
            </a:r>
            <a:endParaRPr lang="it-IT" sz="1100" noProof="0" dirty="0"/>
          </a:p>
        </p:txBody>
      </p:sp>
      <p:sp>
        <p:nvSpPr>
          <p:cNvPr id="31" name="limite"/>
          <p:cNvSpPr/>
          <p:nvPr/>
        </p:nvSpPr>
        <p:spPr>
          <a:xfrm>
            <a:off x="8503920" y="1097280"/>
            <a:ext cx="0" cy="2423160"/>
          </a:xfrm>
          <a:prstGeom prst="line">
            <a:avLst/>
          </a:prstGeom>
          <a:noFill/>
          <a:ln w="25400">
            <a:solidFill>
              <a:schemeClr val="accent5"/>
            </a:solidFill>
            <a:prstDash val="dash"/>
          </a:ln>
        </p:spPr>
        <p:txBody>
          <a:bodyPr/>
          <a:lstStyle/>
          <a:p>
            <a:endParaRPr lang="it-IT" noProof="0" dirty="0"/>
          </a:p>
        </p:txBody>
      </p:sp>
      <p:sp>
        <p:nvSpPr>
          <p:cNvPr id="32" name="Text 29"/>
          <p:cNvSpPr txBox="1"/>
          <p:nvPr/>
        </p:nvSpPr>
        <p:spPr>
          <a:xfrm>
            <a:off x="7863840" y="3520440"/>
            <a:ext cx="822960" cy="228600"/>
          </a:xfrm>
          <a:prstGeom prst="rect">
            <a:avLst/>
          </a:prstGeom>
          <a:noFill/>
          <a:ln/>
        </p:spPr>
        <p:txBody>
          <a:bodyPr wrap="square" lIns="0" tIns="0" rIns="0" bIns="0" rtlCol="0" anchor="t"/>
          <a:lstStyle/>
          <a:p>
            <a:pPr marL="0" indent="0" algn="r">
              <a:buNone/>
            </a:pPr>
            <a:r>
              <a:rPr lang="it-IT" sz="1000" b="1" noProof="0" dirty="0">
                <a:solidFill>
                  <a:schemeClr val="accent5"/>
                </a:solidFill>
              </a:rPr>
              <a:t>Limite</a:t>
            </a:r>
            <a:endParaRPr lang="it-IT" sz="1000" noProof="0" dirty="0"/>
          </a:p>
        </p:txBody>
      </p:sp>
      <p:sp>
        <p:nvSpPr>
          <p:cNvPr id="33" name="Conversazioni lunghe"/>
          <p:cNvSpPr/>
          <p:nvPr/>
        </p:nvSpPr>
        <p:spPr>
          <a:xfrm>
            <a:off x="457200" y="3794760"/>
            <a:ext cx="2615184" cy="777240"/>
          </a:xfrm>
          <a:prstGeom prst="roundRect">
            <a:avLst>
              <a:gd name="adj" fmla="val 9412"/>
            </a:avLst>
          </a:prstGeom>
          <a:solidFill>
            <a:schemeClr val="bg2"/>
          </a:solidFill>
          <a:ln/>
        </p:spPr>
        <p:txBody>
          <a:bodyPr/>
          <a:lstStyle/>
          <a:p>
            <a:endParaRPr lang="it-IT" noProof="0" dirty="0"/>
          </a:p>
        </p:txBody>
      </p:sp>
      <p:sp>
        <p:nvSpPr>
          <p:cNvPr id="34" name="Text 31"/>
          <p:cNvSpPr txBox="1"/>
          <p:nvPr/>
        </p:nvSpPr>
        <p:spPr>
          <a:xfrm>
            <a:off x="594360" y="3840480"/>
            <a:ext cx="2377440" cy="274320"/>
          </a:xfrm>
          <a:prstGeom prst="rect">
            <a:avLst/>
          </a:prstGeom>
          <a:noFill/>
          <a:ln/>
        </p:spPr>
        <p:txBody>
          <a:bodyPr wrap="square" lIns="0" tIns="0" rIns="0" bIns="0" rtlCol="0" anchor="t"/>
          <a:lstStyle/>
          <a:p>
            <a:pPr marL="0" indent="0">
              <a:buNone/>
            </a:pPr>
            <a:r>
              <a:rPr lang="it-IT" sz="1300" b="1" noProof="0" dirty="0">
                <a:solidFill>
                  <a:schemeClr val="tx1"/>
                </a:solidFill>
              </a:rPr>
              <a:t>Conversazioni lunghe</a:t>
            </a:r>
            <a:endParaRPr lang="it-IT" sz="1300" noProof="0" dirty="0"/>
          </a:p>
        </p:txBody>
      </p:sp>
      <p:sp>
        <p:nvSpPr>
          <p:cNvPr id="35" name="Text 32"/>
          <p:cNvSpPr txBox="1"/>
          <p:nvPr/>
        </p:nvSpPr>
        <p:spPr>
          <a:xfrm>
            <a:off x="594360" y="4114800"/>
            <a:ext cx="2377440" cy="411480"/>
          </a:xfrm>
          <a:prstGeom prst="rect">
            <a:avLst/>
          </a:prstGeom>
          <a:noFill/>
          <a:ln/>
        </p:spPr>
        <p:txBody>
          <a:bodyPr wrap="square" lIns="0" tIns="0" rIns="0" bIns="0" rtlCol="0" anchor="t"/>
          <a:lstStyle/>
          <a:p>
            <a:pPr marL="0" indent="0">
              <a:buNone/>
            </a:pPr>
            <a:r>
              <a:rPr lang="it-IT" sz="1100" noProof="0" dirty="0">
                <a:solidFill>
                  <a:schemeClr val="tx2"/>
                </a:solidFill>
              </a:rPr>
              <a:t>Le parti iniziali possono essere trascurate o escluse</a:t>
            </a:r>
            <a:endParaRPr lang="it-IT" sz="1100" noProof="0" dirty="0"/>
          </a:p>
        </p:txBody>
      </p:sp>
      <p:sp>
        <p:nvSpPr>
          <p:cNvPr id="36" name="Nuova conversazione"/>
          <p:cNvSpPr/>
          <p:nvPr/>
        </p:nvSpPr>
        <p:spPr>
          <a:xfrm>
            <a:off x="3264408" y="3794760"/>
            <a:ext cx="2615184" cy="777240"/>
          </a:xfrm>
          <a:prstGeom prst="roundRect">
            <a:avLst>
              <a:gd name="adj" fmla="val 9412"/>
            </a:avLst>
          </a:prstGeom>
          <a:solidFill>
            <a:schemeClr val="bg2"/>
          </a:solidFill>
          <a:ln/>
        </p:spPr>
        <p:txBody>
          <a:bodyPr/>
          <a:lstStyle/>
          <a:p>
            <a:endParaRPr lang="it-IT" noProof="0" dirty="0"/>
          </a:p>
        </p:txBody>
      </p:sp>
      <p:sp>
        <p:nvSpPr>
          <p:cNvPr id="37" name="Text 34"/>
          <p:cNvSpPr txBox="1"/>
          <p:nvPr/>
        </p:nvSpPr>
        <p:spPr>
          <a:xfrm>
            <a:off x="3401568" y="3840480"/>
            <a:ext cx="2377440" cy="274320"/>
          </a:xfrm>
          <a:prstGeom prst="rect">
            <a:avLst/>
          </a:prstGeom>
          <a:noFill/>
          <a:ln/>
        </p:spPr>
        <p:txBody>
          <a:bodyPr wrap="square" lIns="0" tIns="0" rIns="0" bIns="0" rtlCol="0" anchor="t"/>
          <a:lstStyle/>
          <a:p>
            <a:pPr marL="0" indent="0">
              <a:buNone/>
            </a:pPr>
            <a:r>
              <a:rPr lang="it-IT" sz="1300" b="1" noProof="0" dirty="0">
                <a:solidFill>
                  <a:schemeClr val="tx1"/>
                </a:solidFill>
              </a:rPr>
              <a:t>Nuova conversazione</a:t>
            </a:r>
            <a:endParaRPr lang="it-IT" sz="1300" noProof="0" dirty="0"/>
          </a:p>
        </p:txBody>
      </p:sp>
      <p:sp>
        <p:nvSpPr>
          <p:cNvPr id="38" name="Text 35"/>
          <p:cNvSpPr txBox="1"/>
          <p:nvPr/>
        </p:nvSpPr>
        <p:spPr>
          <a:xfrm>
            <a:off x="3401568" y="4114800"/>
            <a:ext cx="2377440" cy="411480"/>
          </a:xfrm>
          <a:prstGeom prst="rect">
            <a:avLst/>
          </a:prstGeom>
          <a:noFill/>
          <a:ln/>
        </p:spPr>
        <p:txBody>
          <a:bodyPr wrap="square" lIns="0" tIns="0" rIns="0" bIns="0" rtlCol="0" anchor="t"/>
          <a:lstStyle/>
          <a:p>
            <a:pPr marL="0" indent="0">
              <a:buNone/>
            </a:pPr>
            <a:r>
              <a:rPr lang="it-IT" sz="1100" noProof="0" dirty="0">
                <a:solidFill>
                  <a:schemeClr val="tx2"/>
                </a:solidFill>
              </a:rPr>
              <a:t>Il modello non sa nulla della precedente</a:t>
            </a:r>
            <a:endParaRPr lang="it-IT" sz="1100" noProof="0" dirty="0"/>
          </a:p>
        </p:txBody>
      </p:sp>
      <p:sp>
        <p:nvSpPr>
          <p:cNvPr id="39" name="Errori iniziali"/>
          <p:cNvSpPr/>
          <p:nvPr/>
        </p:nvSpPr>
        <p:spPr>
          <a:xfrm>
            <a:off x="6071616" y="3794760"/>
            <a:ext cx="2615184" cy="777240"/>
          </a:xfrm>
          <a:prstGeom prst="roundRect">
            <a:avLst>
              <a:gd name="adj" fmla="val 9412"/>
            </a:avLst>
          </a:prstGeom>
          <a:solidFill>
            <a:schemeClr val="bg2"/>
          </a:solidFill>
          <a:ln/>
        </p:spPr>
        <p:txBody>
          <a:bodyPr/>
          <a:lstStyle/>
          <a:p>
            <a:endParaRPr lang="it-IT" noProof="0" dirty="0"/>
          </a:p>
        </p:txBody>
      </p:sp>
      <p:sp>
        <p:nvSpPr>
          <p:cNvPr id="40" name="Text 37"/>
          <p:cNvSpPr txBox="1"/>
          <p:nvPr/>
        </p:nvSpPr>
        <p:spPr>
          <a:xfrm>
            <a:off x="6208776" y="3840480"/>
            <a:ext cx="2377440" cy="274320"/>
          </a:xfrm>
          <a:prstGeom prst="rect">
            <a:avLst/>
          </a:prstGeom>
          <a:noFill/>
          <a:ln/>
        </p:spPr>
        <p:txBody>
          <a:bodyPr wrap="square" lIns="0" tIns="0" rIns="0" bIns="0" rtlCol="0" anchor="t"/>
          <a:lstStyle/>
          <a:p>
            <a:pPr marL="0" indent="0">
              <a:buNone/>
            </a:pPr>
            <a:r>
              <a:rPr lang="it-IT" sz="1300" b="1" noProof="0" dirty="0">
                <a:solidFill>
                  <a:schemeClr val="tx1"/>
                </a:solidFill>
              </a:rPr>
              <a:t>Errori iniziali</a:t>
            </a:r>
            <a:endParaRPr lang="it-IT" sz="1300" noProof="0" dirty="0"/>
          </a:p>
        </p:txBody>
      </p:sp>
      <p:sp>
        <p:nvSpPr>
          <p:cNvPr id="41" name="Text 38"/>
          <p:cNvSpPr txBox="1"/>
          <p:nvPr/>
        </p:nvSpPr>
        <p:spPr>
          <a:xfrm>
            <a:off x="6208776" y="4114800"/>
            <a:ext cx="2377440" cy="411480"/>
          </a:xfrm>
          <a:prstGeom prst="rect">
            <a:avLst/>
          </a:prstGeom>
          <a:noFill/>
          <a:ln/>
        </p:spPr>
        <p:txBody>
          <a:bodyPr wrap="square" lIns="0" tIns="0" rIns="0" bIns="0" rtlCol="0" anchor="t"/>
          <a:lstStyle/>
          <a:p>
            <a:pPr marL="0" indent="0">
              <a:buNone/>
            </a:pPr>
            <a:r>
              <a:rPr lang="it-IT" sz="1100" noProof="0" dirty="0">
                <a:solidFill>
                  <a:schemeClr val="tx2"/>
                </a:solidFill>
              </a:rPr>
              <a:t>Restano nel contesto: talvolta conviene ricominciare</a:t>
            </a:r>
            <a:endParaRPr lang="it-IT" sz="11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44</a:t>
            </a:fld>
            <a:endParaRPr lang="it-IT"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Contesto temporaneo e memoria persistente</a:t>
            </a:r>
            <a:endParaRPr lang="it-IT" sz="2600" noProof="0" dirty="0"/>
          </a:p>
        </p:txBody>
      </p:sp>
      <p:graphicFrame>
        <p:nvGraphicFramePr>
          <p:cNvPr id="46" name="Table 0"/>
          <p:cNvGraphicFramePr>
            <a:graphicFrameLocks noGrp="1"/>
          </p:cNvGraphicFramePr>
          <p:nvPr>
            <p:extLst>
              <p:ext uri="{D42A27DB-BD31-4B8C-83A1-F6EECF244321}">
                <p14:modId xmlns:p14="http://schemas.microsoft.com/office/powerpoint/2010/main" val="1603489583"/>
              </p:ext>
            </p:extLst>
          </p:nvPr>
        </p:nvGraphicFramePr>
        <p:xfrm>
          <a:off x="457200" y="1097280"/>
          <a:ext cx="8229600" cy="3017520"/>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02920">
                <a:tc>
                  <a:txBody>
                    <a:bodyPr/>
                    <a:lstStyle/>
                    <a:p>
                      <a:pPr marL="0" indent="0">
                        <a:buNone/>
                      </a:pP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noProof="0" dirty="0">
                          <a:solidFill>
                            <a:schemeClr val="bg1"/>
                          </a:solidFill>
                        </a:rPr>
                        <a:t>Contesto temporaneo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Memoria persistente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02920">
                <a:tc>
                  <a:txBody>
                    <a:bodyPr/>
                    <a:lstStyle/>
                    <a:p>
                      <a:pPr marL="0" indent="0">
                        <a:buNone/>
                      </a:pPr>
                      <a:r>
                        <a:rPr lang="it-IT" sz="1300" b="1" noProof="0" dirty="0">
                          <a:solidFill>
                            <a:schemeClr val="tx1"/>
                          </a:solidFill>
                        </a:rPr>
                        <a:t>Che cos'è</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Ciò che è nella finestra di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Informazioni salvate dall'applicazione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02920">
                <a:tc>
                  <a:txBody>
                    <a:bodyPr/>
                    <a:lstStyle/>
                    <a:p>
                      <a:pPr marL="0" indent="0">
                        <a:buNone/>
                      </a:pPr>
                      <a:r>
                        <a:rPr lang="it-IT" sz="1300" b="1" noProof="0" dirty="0">
                          <a:solidFill>
                            <a:schemeClr val="tx1"/>
                          </a:solidFill>
                        </a:rPr>
                        <a:t>Durata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Una conversazione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Tra più conversazioni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02920">
                <a:tc>
                  <a:txBody>
                    <a:bodyPr/>
                    <a:lstStyle/>
                    <a:p>
                      <a:pPr marL="0" indent="0">
                        <a:buNone/>
                      </a:pPr>
                      <a:r>
                        <a:rPr lang="it-IT" sz="1300" b="1" noProof="0" dirty="0">
                          <a:solidFill>
                            <a:schemeClr val="tx1"/>
                          </a:solidFill>
                        </a:rPr>
                        <a:t>Chi la gestisce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Meccanismo di base del sistema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Funzione specifica di alcune applicazioni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02920">
                <a:tc>
                  <a:txBody>
                    <a:bodyPr/>
                    <a:lstStyle/>
                    <a:p>
                      <a:pPr marL="0" indent="0">
                        <a:buNone/>
                      </a:pPr>
                      <a:r>
                        <a:rPr lang="it-IT" sz="1300" b="1" noProof="0" dirty="0">
                          <a:solidFill>
                            <a:schemeClr val="tx1"/>
                          </a:solidFill>
                        </a:rPr>
                        <a:t>Esempio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Il documento allegato a questa chat</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"Lavoro nell'ufficio acquisti" ricordato in futuro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502920">
                <a:tc>
                  <a:txBody>
                    <a:bodyPr/>
                    <a:lstStyle/>
                    <a:p>
                      <a:pPr marL="0" indent="0">
                        <a:buNone/>
                      </a:pPr>
                      <a:r>
                        <a:rPr lang="it-IT" sz="1300" b="1" noProof="0" dirty="0">
                          <a:solidFill>
                            <a:schemeClr val="tx1"/>
                          </a:solidFill>
                        </a:rPr>
                        <a:t>Modifica il modello?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No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No: viene reinserita nel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457200" y="425196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In azienda: sapere che cosa viene memorizzato, dove e per quanto tempo.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45</a:t>
            </a:fld>
            <a:endParaRPr lang="it-IT"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modello e l'applicazione</a:t>
            </a:r>
            <a:endParaRPr lang="it-IT" sz="2600" noProof="0" dirty="0"/>
          </a:p>
        </p:txBody>
      </p:sp>
      <p:sp>
        <p:nvSpPr>
          <p:cNvPr id="4" name="applicazione"/>
          <p:cNvSpPr/>
          <p:nvPr/>
        </p:nvSpPr>
        <p:spPr>
          <a:xfrm>
            <a:off x="457200" y="1097280"/>
            <a:ext cx="5486400" cy="3429000"/>
          </a:xfrm>
          <a:prstGeom prst="roundRect">
            <a:avLst>
              <a:gd name="adj" fmla="val 2133"/>
            </a:avLst>
          </a:prstGeom>
          <a:solidFill>
            <a:schemeClr val="bg2"/>
          </a:solidFill>
          <a:ln/>
        </p:spPr>
        <p:txBody>
          <a:bodyPr/>
          <a:lstStyle/>
          <a:p>
            <a:endParaRPr lang="it-IT" noProof="0" dirty="0"/>
          </a:p>
        </p:txBody>
      </p:sp>
      <p:sp>
        <p:nvSpPr>
          <p:cNvPr id="5" name="Text 2"/>
          <p:cNvSpPr txBox="1"/>
          <p:nvPr/>
        </p:nvSpPr>
        <p:spPr>
          <a:xfrm>
            <a:off x="640080" y="1188720"/>
            <a:ext cx="5120640" cy="320040"/>
          </a:xfrm>
          <a:prstGeom prst="rect">
            <a:avLst/>
          </a:prstGeom>
          <a:noFill/>
          <a:ln/>
        </p:spPr>
        <p:txBody>
          <a:bodyPr wrap="square" lIns="0" tIns="0" rIns="0" bIns="0" rtlCol="0" anchor="t"/>
          <a:lstStyle/>
          <a:p>
            <a:pPr marL="0" indent="0">
              <a:buNone/>
            </a:pPr>
            <a:r>
              <a:rPr lang="it-IT" sz="1500" b="1" noProof="0" dirty="0">
                <a:solidFill>
                  <a:schemeClr val="tx1"/>
                </a:solidFill>
              </a:rPr>
              <a:t>Applicazione</a:t>
            </a:r>
            <a:endParaRPr lang="it-IT" sz="1500" noProof="0" dirty="0"/>
          </a:p>
        </p:txBody>
      </p:sp>
      <p:sp>
        <p:nvSpPr>
          <p:cNvPr id="6" name="modello centro"/>
          <p:cNvSpPr/>
          <p:nvPr/>
        </p:nvSpPr>
        <p:spPr>
          <a:xfrm>
            <a:off x="2331720" y="2240280"/>
            <a:ext cx="1737360" cy="1188720"/>
          </a:xfrm>
          <a:prstGeom prst="roundRect">
            <a:avLst>
              <a:gd name="adj" fmla="val 6154"/>
            </a:avLst>
          </a:prstGeom>
          <a:solidFill>
            <a:schemeClr val="accent1"/>
          </a:solidFill>
          <a:ln/>
        </p:spPr>
        <p:txBody>
          <a:bodyPr/>
          <a:lstStyle/>
          <a:p>
            <a:endParaRPr lang="it-IT" noProof="0" dirty="0"/>
          </a:p>
        </p:txBody>
      </p:sp>
      <p:sp>
        <p:nvSpPr>
          <p:cNvPr id="7" name="Text 4"/>
          <p:cNvSpPr txBox="1"/>
          <p:nvPr/>
        </p:nvSpPr>
        <p:spPr>
          <a:xfrm>
            <a:off x="2331720" y="2240280"/>
            <a:ext cx="1737360" cy="1188720"/>
          </a:xfrm>
          <a:prstGeom prst="rect">
            <a:avLst/>
          </a:prstGeom>
          <a:noFill/>
          <a:ln/>
        </p:spPr>
        <p:txBody>
          <a:bodyPr wrap="square" lIns="0" tIns="0" rIns="0" bIns="0" rtlCol="0" anchor="ctr"/>
          <a:lstStyle/>
          <a:p>
            <a:pPr marL="0" indent="0" algn="ctr">
              <a:buNone/>
            </a:pPr>
            <a:r>
              <a:rPr lang="it-IT" sz="1700" b="1" noProof="0" dirty="0">
                <a:solidFill>
                  <a:schemeClr val="bg1"/>
                </a:solidFill>
              </a:rPr>
              <a:t>Modello</a:t>
            </a:r>
            <a:endParaRPr lang="it-IT" sz="1700" noProof="0" dirty="0"/>
          </a:p>
        </p:txBody>
      </p:sp>
      <p:sp>
        <p:nvSpPr>
          <p:cNvPr id="8" name="cerchio FiSettings"/>
          <p:cNvSpPr/>
          <p:nvPr/>
        </p:nvSpPr>
        <p:spPr>
          <a:xfrm>
            <a:off x="640080" y="1737360"/>
            <a:ext cx="384048" cy="384048"/>
          </a:xfrm>
          <a:prstGeom prst="ellipse">
            <a:avLst/>
          </a:prstGeom>
          <a:solidFill>
            <a:schemeClr val="accent1"/>
          </a:solidFill>
          <a:ln/>
        </p:spPr>
        <p:txBody>
          <a:bodyPr/>
          <a:lstStyle/>
          <a:p>
            <a:endParaRPr lang="it-IT" noProof="0" dirty="0"/>
          </a:p>
        </p:txBody>
      </p:sp>
      <p:pic>
        <p:nvPicPr>
          <p:cNvPr id="9" name="Image 0" descr="FiSettings"/>
          <p:cNvPicPr>
            <a:picLocks noChangeAspect="1"/>
          </p:cNvPicPr>
          <p:nvPr/>
        </p:nvPicPr>
        <p:blipFill>
          <a:blip r:embed="rId3"/>
          <a:stretch>
            <a:fillRect/>
          </a:stretch>
        </p:blipFill>
        <p:spPr>
          <a:xfrm>
            <a:off x="736092" y="1833372"/>
            <a:ext cx="192024" cy="192024"/>
          </a:xfrm>
          <a:prstGeom prst="rect">
            <a:avLst/>
          </a:prstGeom>
        </p:spPr>
      </p:pic>
      <p:sp>
        <p:nvSpPr>
          <p:cNvPr id="10" name="Text 6"/>
          <p:cNvSpPr txBox="1"/>
          <p:nvPr/>
        </p:nvSpPr>
        <p:spPr>
          <a:xfrm>
            <a:off x="1097280" y="164592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Istruzioni di sistema</a:t>
            </a:r>
            <a:endParaRPr lang="it-IT" sz="1200" noProof="0" dirty="0"/>
          </a:p>
        </p:txBody>
      </p:sp>
      <p:sp>
        <p:nvSpPr>
          <p:cNvPr id="11" name="cerchio FiGlobe"/>
          <p:cNvSpPr/>
          <p:nvPr/>
        </p:nvSpPr>
        <p:spPr>
          <a:xfrm>
            <a:off x="640080" y="2606040"/>
            <a:ext cx="384048" cy="384048"/>
          </a:xfrm>
          <a:prstGeom prst="ellipse">
            <a:avLst/>
          </a:prstGeom>
          <a:solidFill>
            <a:schemeClr val="accent1"/>
          </a:solidFill>
          <a:ln/>
        </p:spPr>
        <p:txBody>
          <a:bodyPr/>
          <a:lstStyle/>
          <a:p>
            <a:endParaRPr lang="it-IT" noProof="0" dirty="0"/>
          </a:p>
        </p:txBody>
      </p:sp>
      <p:pic>
        <p:nvPicPr>
          <p:cNvPr id="12" name="Image 1" descr="FiGlobe"/>
          <p:cNvPicPr>
            <a:picLocks noChangeAspect="1"/>
          </p:cNvPicPr>
          <p:nvPr/>
        </p:nvPicPr>
        <p:blipFill>
          <a:blip r:embed="rId4"/>
          <a:stretch>
            <a:fillRect/>
          </a:stretch>
        </p:blipFill>
        <p:spPr>
          <a:xfrm>
            <a:off x="736092" y="2702052"/>
            <a:ext cx="192024" cy="192024"/>
          </a:xfrm>
          <a:prstGeom prst="rect">
            <a:avLst/>
          </a:prstGeom>
        </p:spPr>
      </p:pic>
      <p:sp>
        <p:nvSpPr>
          <p:cNvPr id="13" name="Text 8"/>
          <p:cNvSpPr txBox="1"/>
          <p:nvPr/>
        </p:nvSpPr>
        <p:spPr>
          <a:xfrm>
            <a:off x="1097280" y="251460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Ricerca sul web</a:t>
            </a:r>
            <a:endParaRPr lang="it-IT" sz="1200" noProof="0" dirty="0"/>
          </a:p>
        </p:txBody>
      </p:sp>
      <p:sp>
        <p:nvSpPr>
          <p:cNvPr id="14" name="cerchio FiPaperclip"/>
          <p:cNvSpPr/>
          <p:nvPr/>
        </p:nvSpPr>
        <p:spPr>
          <a:xfrm>
            <a:off x="640080" y="3474720"/>
            <a:ext cx="384048" cy="384048"/>
          </a:xfrm>
          <a:prstGeom prst="ellipse">
            <a:avLst/>
          </a:prstGeom>
          <a:solidFill>
            <a:schemeClr val="accent1"/>
          </a:solidFill>
          <a:ln/>
        </p:spPr>
        <p:txBody>
          <a:bodyPr/>
          <a:lstStyle/>
          <a:p>
            <a:endParaRPr lang="it-IT" noProof="0" dirty="0"/>
          </a:p>
        </p:txBody>
      </p:sp>
      <p:pic>
        <p:nvPicPr>
          <p:cNvPr id="15" name="Image 2" descr="FiPaperclip"/>
          <p:cNvPicPr>
            <a:picLocks noChangeAspect="1"/>
          </p:cNvPicPr>
          <p:nvPr/>
        </p:nvPicPr>
        <p:blipFill>
          <a:blip r:embed="rId5"/>
          <a:stretch>
            <a:fillRect/>
          </a:stretch>
        </p:blipFill>
        <p:spPr>
          <a:xfrm>
            <a:off x="736092" y="3570732"/>
            <a:ext cx="192024" cy="192024"/>
          </a:xfrm>
          <a:prstGeom prst="rect">
            <a:avLst/>
          </a:prstGeom>
        </p:spPr>
      </p:pic>
      <p:sp>
        <p:nvSpPr>
          <p:cNvPr id="16" name="Text 10"/>
          <p:cNvSpPr txBox="1"/>
          <p:nvPr/>
        </p:nvSpPr>
        <p:spPr>
          <a:xfrm>
            <a:off x="1097280" y="338328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Caricamento di file</a:t>
            </a:r>
            <a:endParaRPr lang="it-IT" sz="1200" noProof="0" dirty="0"/>
          </a:p>
        </p:txBody>
      </p:sp>
      <p:sp>
        <p:nvSpPr>
          <p:cNvPr id="17" name="cerchio FiLink"/>
          <p:cNvSpPr/>
          <p:nvPr/>
        </p:nvSpPr>
        <p:spPr>
          <a:xfrm>
            <a:off x="4251960" y="1737360"/>
            <a:ext cx="384048" cy="384048"/>
          </a:xfrm>
          <a:prstGeom prst="ellipse">
            <a:avLst/>
          </a:prstGeom>
          <a:solidFill>
            <a:schemeClr val="accent1"/>
          </a:solidFill>
          <a:ln/>
        </p:spPr>
        <p:txBody>
          <a:bodyPr/>
          <a:lstStyle/>
          <a:p>
            <a:endParaRPr lang="it-IT" noProof="0" dirty="0"/>
          </a:p>
        </p:txBody>
      </p:sp>
      <p:pic>
        <p:nvPicPr>
          <p:cNvPr id="18" name="Image 3" descr="FiLink"/>
          <p:cNvPicPr>
            <a:picLocks noChangeAspect="1"/>
          </p:cNvPicPr>
          <p:nvPr/>
        </p:nvPicPr>
        <p:blipFill>
          <a:blip r:embed="rId6"/>
          <a:stretch>
            <a:fillRect/>
          </a:stretch>
        </p:blipFill>
        <p:spPr>
          <a:xfrm>
            <a:off x="4347972" y="1833372"/>
            <a:ext cx="192024" cy="192024"/>
          </a:xfrm>
          <a:prstGeom prst="rect">
            <a:avLst/>
          </a:prstGeom>
        </p:spPr>
      </p:pic>
      <p:sp>
        <p:nvSpPr>
          <p:cNvPr id="19" name="Text 12"/>
          <p:cNvSpPr txBox="1"/>
          <p:nvPr/>
        </p:nvSpPr>
        <p:spPr>
          <a:xfrm>
            <a:off x="4709160" y="164592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Collegamenti a strumenti</a:t>
            </a:r>
            <a:endParaRPr lang="it-IT" sz="1200" noProof="0" dirty="0"/>
          </a:p>
        </p:txBody>
      </p:sp>
      <p:sp>
        <p:nvSpPr>
          <p:cNvPr id="20" name="cerchio FiSave"/>
          <p:cNvSpPr/>
          <p:nvPr/>
        </p:nvSpPr>
        <p:spPr>
          <a:xfrm>
            <a:off x="4251960" y="2606040"/>
            <a:ext cx="384048" cy="384048"/>
          </a:xfrm>
          <a:prstGeom prst="ellipse">
            <a:avLst/>
          </a:prstGeom>
          <a:solidFill>
            <a:schemeClr val="accent1"/>
          </a:solidFill>
          <a:ln/>
        </p:spPr>
        <p:txBody>
          <a:bodyPr/>
          <a:lstStyle/>
          <a:p>
            <a:endParaRPr lang="it-IT" noProof="0" dirty="0"/>
          </a:p>
        </p:txBody>
      </p:sp>
      <p:pic>
        <p:nvPicPr>
          <p:cNvPr id="21" name="Image 4" descr="FiSave"/>
          <p:cNvPicPr>
            <a:picLocks noChangeAspect="1"/>
          </p:cNvPicPr>
          <p:nvPr/>
        </p:nvPicPr>
        <p:blipFill>
          <a:blip r:embed="rId7"/>
          <a:stretch>
            <a:fillRect/>
          </a:stretch>
        </p:blipFill>
        <p:spPr>
          <a:xfrm>
            <a:off x="4347972" y="2702052"/>
            <a:ext cx="192024" cy="192024"/>
          </a:xfrm>
          <a:prstGeom prst="rect">
            <a:avLst/>
          </a:prstGeom>
        </p:spPr>
      </p:pic>
      <p:sp>
        <p:nvSpPr>
          <p:cNvPr id="22" name="Text 14"/>
          <p:cNvSpPr txBox="1"/>
          <p:nvPr/>
        </p:nvSpPr>
        <p:spPr>
          <a:xfrm>
            <a:off x="4709160" y="251460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Memoria</a:t>
            </a:r>
            <a:endParaRPr lang="it-IT" sz="1200" noProof="0" dirty="0"/>
          </a:p>
        </p:txBody>
      </p:sp>
      <p:sp>
        <p:nvSpPr>
          <p:cNvPr id="23" name="cerchio FiShield"/>
          <p:cNvSpPr/>
          <p:nvPr/>
        </p:nvSpPr>
        <p:spPr>
          <a:xfrm>
            <a:off x="4251960" y="3474720"/>
            <a:ext cx="384048" cy="384048"/>
          </a:xfrm>
          <a:prstGeom prst="ellipse">
            <a:avLst/>
          </a:prstGeom>
          <a:solidFill>
            <a:schemeClr val="accent1"/>
          </a:solidFill>
          <a:ln/>
        </p:spPr>
        <p:txBody>
          <a:bodyPr/>
          <a:lstStyle/>
          <a:p>
            <a:endParaRPr lang="it-IT" noProof="0" dirty="0"/>
          </a:p>
        </p:txBody>
      </p:sp>
      <p:pic>
        <p:nvPicPr>
          <p:cNvPr id="24" name="Image 5" descr="FiShield"/>
          <p:cNvPicPr>
            <a:picLocks noChangeAspect="1"/>
          </p:cNvPicPr>
          <p:nvPr/>
        </p:nvPicPr>
        <p:blipFill>
          <a:blip r:embed="rId8"/>
          <a:stretch>
            <a:fillRect/>
          </a:stretch>
        </p:blipFill>
        <p:spPr>
          <a:xfrm>
            <a:off x="4347972" y="3570732"/>
            <a:ext cx="192024" cy="192024"/>
          </a:xfrm>
          <a:prstGeom prst="rect">
            <a:avLst/>
          </a:prstGeom>
        </p:spPr>
      </p:pic>
      <p:sp>
        <p:nvSpPr>
          <p:cNvPr id="25" name="Text 16"/>
          <p:cNvSpPr txBox="1"/>
          <p:nvPr/>
        </p:nvSpPr>
        <p:spPr>
          <a:xfrm>
            <a:off x="4709160" y="338328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Filtri e regole sui dati</a:t>
            </a:r>
            <a:endParaRPr lang="it-IT" sz="1200" noProof="0" dirty="0"/>
          </a:p>
        </p:txBody>
      </p:sp>
      <p:sp>
        <p:nvSpPr>
          <p:cNvPr id="26" name="Text 17"/>
          <p:cNvSpPr txBox="1"/>
          <p:nvPr/>
        </p:nvSpPr>
        <p:spPr>
          <a:xfrm>
            <a:off x="640080" y="4206240"/>
            <a:ext cx="5120640" cy="274320"/>
          </a:xfrm>
          <a:prstGeom prst="rect">
            <a:avLst/>
          </a:prstGeom>
          <a:noFill/>
          <a:ln/>
        </p:spPr>
        <p:txBody>
          <a:bodyPr wrap="square" lIns="0" tIns="0" rIns="0" bIns="0" rtlCol="0" anchor="t"/>
          <a:lstStyle/>
          <a:p>
            <a:pPr marL="0" indent="0">
              <a:buNone/>
            </a:pPr>
            <a:r>
              <a:rPr lang="it-IT" sz="1000" i="1" noProof="0" dirty="0">
                <a:solidFill>
                  <a:schemeClr val="accent2"/>
                </a:solidFill>
              </a:rPr>
              <a:t>Più interfaccia, ovviamente</a:t>
            </a:r>
            <a:endParaRPr lang="it-IT" sz="1000" noProof="0" dirty="0"/>
          </a:p>
        </p:txBody>
      </p:sp>
      <p:sp>
        <p:nvSpPr>
          <p:cNvPr id="27" name="scheda Lo stesso modello"/>
          <p:cNvSpPr/>
          <p:nvPr/>
        </p:nvSpPr>
        <p:spPr>
          <a:xfrm>
            <a:off x="6217920" y="1097280"/>
            <a:ext cx="2468880" cy="1600200"/>
          </a:xfrm>
          <a:prstGeom prst="roundRect">
            <a:avLst>
              <a:gd name="adj" fmla="val 4571"/>
            </a:avLst>
          </a:prstGeom>
          <a:solidFill>
            <a:schemeClr val="bg2"/>
          </a:solidFill>
          <a:ln/>
        </p:spPr>
        <p:txBody>
          <a:bodyPr/>
          <a:lstStyle/>
          <a:p>
            <a:endParaRPr lang="it-IT" noProof="0" dirty="0"/>
          </a:p>
        </p:txBody>
      </p:sp>
      <p:sp>
        <p:nvSpPr>
          <p:cNvPr id="28" name="Text 19"/>
          <p:cNvSpPr txBox="1"/>
          <p:nvPr/>
        </p:nvSpPr>
        <p:spPr>
          <a:xfrm>
            <a:off x="6400800" y="1280160"/>
            <a:ext cx="2103120" cy="347472"/>
          </a:xfrm>
          <a:prstGeom prst="rect">
            <a:avLst/>
          </a:prstGeom>
          <a:noFill/>
          <a:ln/>
        </p:spPr>
        <p:txBody>
          <a:bodyPr wrap="square" lIns="0" tIns="0" rIns="0" bIns="0" rtlCol="0" anchor="t"/>
          <a:lstStyle/>
          <a:p>
            <a:pPr marL="0" indent="0">
              <a:buNone/>
            </a:pPr>
            <a:r>
              <a:rPr lang="it-IT" sz="1400" b="1" noProof="0" dirty="0">
                <a:solidFill>
                  <a:schemeClr val="tx1"/>
                </a:solidFill>
              </a:rPr>
              <a:t>Lo stesso modello</a:t>
            </a:r>
            <a:endParaRPr lang="it-IT" sz="1400" noProof="0" dirty="0"/>
          </a:p>
        </p:txBody>
      </p:sp>
      <p:sp>
        <p:nvSpPr>
          <p:cNvPr id="29" name="Text 20"/>
          <p:cNvSpPr txBox="1"/>
          <p:nvPr/>
        </p:nvSpPr>
        <p:spPr>
          <a:xfrm>
            <a:off x="6400800" y="1664208"/>
            <a:ext cx="2103120" cy="923544"/>
          </a:xfrm>
          <a:prstGeom prst="rect">
            <a:avLst/>
          </a:prstGeom>
          <a:noFill/>
          <a:ln/>
        </p:spPr>
        <p:txBody>
          <a:bodyPr wrap="square" lIns="0" tIns="0" rIns="0" bIns="0" rtlCol="0" anchor="t"/>
          <a:lstStyle/>
          <a:p>
            <a:pPr marL="0" indent="0">
              <a:buNone/>
            </a:pPr>
            <a:r>
              <a:rPr lang="it-IT" sz="1200" noProof="0" dirty="0">
                <a:solidFill>
                  <a:schemeClr val="tx2"/>
                </a:solidFill>
              </a:rPr>
              <a:t>può comportarsi in modo diverso in prodotti diversi.</a:t>
            </a:r>
            <a:endParaRPr lang="it-IT" sz="1200" noProof="0" dirty="0"/>
          </a:p>
        </p:txBody>
      </p:sp>
      <p:sp>
        <p:nvSpPr>
          <p:cNvPr id="30" name="scheda Fonti aggiornate"/>
          <p:cNvSpPr/>
          <p:nvPr/>
        </p:nvSpPr>
        <p:spPr>
          <a:xfrm>
            <a:off x="6217920" y="2880360"/>
            <a:ext cx="2468880" cy="1645920"/>
          </a:xfrm>
          <a:prstGeom prst="roundRect">
            <a:avLst>
              <a:gd name="adj" fmla="val 4444"/>
            </a:avLst>
          </a:prstGeom>
          <a:solidFill>
            <a:schemeClr val="accent6"/>
          </a:solidFill>
          <a:ln/>
        </p:spPr>
        <p:txBody>
          <a:bodyPr/>
          <a:lstStyle/>
          <a:p>
            <a:endParaRPr lang="it-IT" noProof="0" dirty="0"/>
          </a:p>
        </p:txBody>
      </p:sp>
      <p:sp>
        <p:nvSpPr>
          <p:cNvPr id="31" name="Text 22"/>
          <p:cNvSpPr txBox="1"/>
          <p:nvPr/>
        </p:nvSpPr>
        <p:spPr>
          <a:xfrm>
            <a:off x="6400800" y="3063240"/>
            <a:ext cx="2103120" cy="347472"/>
          </a:xfrm>
          <a:prstGeom prst="rect">
            <a:avLst/>
          </a:prstGeom>
          <a:noFill/>
          <a:ln/>
        </p:spPr>
        <p:txBody>
          <a:bodyPr wrap="square" lIns="0" tIns="0" rIns="0" bIns="0" rtlCol="0" anchor="t"/>
          <a:lstStyle/>
          <a:p>
            <a:pPr marL="0" indent="0">
              <a:buNone/>
            </a:pPr>
            <a:r>
              <a:rPr lang="it-IT" sz="1400" b="1" noProof="0" dirty="0">
                <a:solidFill>
                  <a:schemeClr val="tx1"/>
                </a:solidFill>
              </a:rPr>
              <a:t>Fonti aggiornate</a:t>
            </a:r>
            <a:endParaRPr lang="it-IT" sz="1400" noProof="0" dirty="0"/>
          </a:p>
        </p:txBody>
      </p:sp>
      <p:sp>
        <p:nvSpPr>
          <p:cNvPr id="32" name="Text 23"/>
          <p:cNvSpPr txBox="1"/>
          <p:nvPr/>
        </p:nvSpPr>
        <p:spPr>
          <a:xfrm>
            <a:off x="6400800" y="3447288"/>
            <a:ext cx="2103120" cy="969264"/>
          </a:xfrm>
          <a:prstGeom prst="rect">
            <a:avLst/>
          </a:prstGeom>
          <a:noFill/>
          <a:ln/>
        </p:spPr>
        <p:txBody>
          <a:bodyPr wrap="square" lIns="0" tIns="0" rIns="0" bIns="0" rtlCol="0" anchor="t"/>
          <a:lstStyle/>
          <a:p>
            <a:pPr marL="0" indent="0">
              <a:buNone/>
            </a:pPr>
            <a:r>
              <a:rPr lang="it-IT" sz="1200" noProof="0" dirty="0">
                <a:solidFill>
                  <a:schemeClr val="tx2"/>
                </a:solidFill>
              </a:rPr>
              <a:t>dipendono da una funzione di ricerca dell'applicazione, non dal modello in sé.</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46</a:t>
            </a:fld>
            <a:endParaRPr lang="it-IT"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Slide 4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noProof="0" dirty="0">
                <a:solidFill>
                  <a:schemeClr val="bg1"/>
                </a:solidFill>
              </a:rPr>
              <a:t>Il risultato dipende anche dalle informazioni rese disponibili durante l'interazione; il funzionamento del modello e quello del prodotto che lo utilizza non coincidono sempre.</a:t>
            </a:r>
            <a:endParaRPr lang="it-IT" sz="2600" noProof="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noProof="0" dirty="0">
                <a:solidFill>
                  <a:schemeClr val="accent3"/>
                </a:solidFill>
              </a:rPr>
              <a:t>Sottotema 2.5  ·  Come funziona un'interazione con l'AI</a:t>
            </a:r>
            <a:endParaRPr lang="it-IT" sz="13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47</a:t>
            </a:fld>
            <a:endParaRPr lang="it-IT" noProof="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2.6</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Conoscenza e fonti informative</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Fornire un documento o collegare una fonte non significa necessariamente riaddestrare il modello</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48</a:t>
            </a:fld>
            <a:endParaRPr lang="it-IT" noProof="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Tre fonti di informazione</a:t>
            </a:r>
            <a:endParaRPr lang="it-IT" sz="2600" noProof="0" dirty="0"/>
          </a:p>
        </p:txBody>
      </p:sp>
      <p:sp>
        <p:nvSpPr>
          <p:cNvPr id="4" name="scheda Addestramento"/>
          <p:cNvSpPr/>
          <p:nvPr/>
        </p:nvSpPr>
        <p:spPr>
          <a:xfrm>
            <a:off x="457200" y="1097280"/>
            <a:ext cx="2615184" cy="3429000"/>
          </a:xfrm>
          <a:prstGeom prst="roundRect">
            <a:avLst>
              <a:gd name="adj" fmla="val 2797"/>
            </a:avLst>
          </a:prstGeom>
          <a:solidFill>
            <a:schemeClr val="bg2"/>
          </a:solidFill>
          <a:ln/>
        </p:spPr>
        <p:txBody>
          <a:bodyPr/>
          <a:lstStyle/>
          <a:p>
            <a:endParaRPr lang="it-IT" noProof="0" dirty="0"/>
          </a:p>
        </p:txBody>
      </p:sp>
      <p:sp>
        <p:nvSpPr>
          <p:cNvPr id="5" name="cerchio FiDatabase"/>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Databas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Addestramento</a:t>
            </a:r>
            <a:endParaRPr lang="it-IT" sz="1600" noProof="0" dirty="0"/>
          </a:p>
        </p:txBody>
      </p:sp>
      <p:sp>
        <p:nvSpPr>
          <p:cNvPr id="8" name="Text 4"/>
          <p:cNvSpPr txBox="1"/>
          <p:nvPr/>
        </p:nvSpPr>
        <p:spPr>
          <a:xfrm>
            <a:off x="640080" y="2231136"/>
            <a:ext cx="2249424"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Appresa dai testi di addestramento e incorporata nei parametri</a:t>
            </a:r>
            <a:endParaRPr lang="it-IT" sz="1300" noProof="0" dirty="0"/>
          </a:p>
          <a:p>
            <a:pPr marL="177800" indent="-177800">
              <a:spcAft>
                <a:spcPts val="300"/>
              </a:spcAft>
              <a:buSzPct val="100000"/>
              <a:buChar char="•"/>
            </a:pPr>
            <a:r>
              <a:rPr lang="it-IT" sz="1300" noProof="0" dirty="0">
                <a:solidFill>
                  <a:schemeClr val="tx2"/>
                </a:solidFill>
              </a:rPr>
              <a:t>Ampia e generale</a:t>
            </a:r>
            <a:endParaRPr lang="it-IT" sz="1300" noProof="0" dirty="0"/>
          </a:p>
          <a:p>
            <a:pPr marL="177800" indent="-177800">
              <a:spcAft>
                <a:spcPts val="300"/>
              </a:spcAft>
              <a:buSzPct val="100000"/>
              <a:buChar char="•"/>
            </a:pPr>
            <a:r>
              <a:rPr lang="it-IT" sz="1300" noProof="0" dirty="0">
                <a:solidFill>
                  <a:schemeClr val="tx2"/>
                </a:solidFill>
              </a:rPr>
              <a:t>Ferma a una certa data</a:t>
            </a:r>
            <a:endParaRPr lang="it-IT" sz="1300" noProof="0" dirty="0"/>
          </a:p>
          <a:p>
            <a:pPr marL="177800" indent="-177800">
              <a:spcAft>
                <a:spcPts val="300"/>
              </a:spcAft>
              <a:buSzPct val="100000"/>
              <a:buChar char="•"/>
            </a:pPr>
            <a:r>
              <a:rPr lang="it-IT" sz="1300" noProof="0" dirty="0">
                <a:solidFill>
                  <a:schemeClr val="tx2"/>
                </a:solidFill>
              </a:rPr>
              <a:t>Non verificabile direttamente</a:t>
            </a:r>
            <a:endParaRPr lang="it-IT" sz="1300" noProof="0" dirty="0"/>
          </a:p>
        </p:txBody>
      </p:sp>
      <p:sp>
        <p:nvSpPr>
          <p:cNvPr id="9" name="scheda Interazione"/>
          <p:cNvSpPr/>
          <p:nvPr/>
        </p:nvSpPr>
        <p:spPr>
          <a:xfrm>
            <a:off x="3264408" y="1097280"/>
            <a:ext cx="2615184" cy="3429000"/>
          </a:xfrm>
          <a:prstGeom prst="roundRect">
            <a:avLst>
              <a:gd name="adj" fmla="val 2797"/>
            </a:avLst>
          </a:prstGeom>
          <a:solidFill>
            <a:schemeClr val="accent6"/>
          </a:solidFill>
          <a:ln/>
        </p:spPr>
        <p:txBody>
          <a:bodyPr/>
          <a:lstStyle/>
          <a:p>
            <a:endParaRPr lang="it-IT" noProof="0" dirty="0"/>
          </a:p>
        </p:txBody>
      </p:sp>
      <p:sp>
        <p:nvSpPr>
          <p:cNvPr id="10" name="cerchio FiPaperclip"/>
          <p:cNvSpPr/>
          <p:nvPr/>
        </p:nvSpPr>
        <p:spPr>
          <a:xfrm>
            <a:off x="3447288" y="1280160"/>
            <a:ext cx="457200" cy="457200"/>
          </a:xfrm>
          <a:prstGeom prst="ellipse">
            <a:avLst/>
          </a:prstGeom>
          <a:solidFill>
            <a:schemeClr val="accent1"/>
          </a:solidFill>
          <a:ln/>
        </p:spPr>
        <p:txBody>
          <a:bodyPr/>
          <a:lstStyle/>
          <a:p>
            <a:endParaRPr lang="it-IT" noProof="0" dirty="0"/>
          </a:p>
        </p:txBody>
      </p:sp>
      <p:pic>
        <p:nvPicPr>
          <p:cNvPr id="11" name="Image 1" descr="FiPaperclip"/>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Interazione</a:t>
            </a:r>
            <a:endParaRPr lang="it-IT" sz="1600" noProof="0" dirty="0"/>
          </a:p>
        </p:txBody>
      </p:sp>
      <p:sp>
        <p:nvSpPr>
          <p:cNvPr id="13" name="Text 8"/>
          <p:cNvSpPr txBox="1"/>
          <p:nvPr/>
        </p:nvSpPr>
        <p:spPr>
          <a:xfrm>
            <a:off x="3447288" y="2231136"/>
            <a:ext cx="2249424"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Fornita da noi durante la conversazione</a:t>
            </a:r>
            <a:endParaRPr lang="it-IT" sz="1300" noProof="0" dirty="0"/>
          </a:p>
          <a:p>
            <a:pPr marL="177800" indent="-177800">
              <a:spcAft>
                <a:spcPts val="300"/>
              </a:spcAft>
              <a:buSzPct val="100000"/>
              <a:buChar char="•"/>
            </a:pPr>
            <a:r>
              <a:rPr lang="it-IT" sz="1300" noProof="0" dirty="0">
                <a:solidFill>
                  <a:schemeClr val="tx2"/>
                </a:solidFill>
              </a:rPr>
              <a:t>Istruzioni, testi, documenti</a:t>
            </a:r>
            <a:endParaRPr lang="it-IT" sz="1300" noProof="0" dirty="0"/>
          </a:p>
          <a:p>
            <a:pPr marL="177800" indent="-177800">
              <a:spcAft>
                <a:spcPts val="300"/>
              </a:spcAft>
              <a:buSzPct val="100000"/>
              <a:buChar char="•"/>
            </a:pPr>
            <a:r>
              <a:rPr lang="it-IT" sz="1300" noProof="0" dirty="0">
                <a:solidFill>
                  <a:schemeClr val="tx2"/>
                </a:solidFill>
              </a:rPr>
              <a:t>Specifica e controllabile</a:t>
            </a:r>
            <a:endParaRPr lang="it-IT" sz="1300" noProof="0" dirty="0"/>
          </a:p>
          <a:p>
            <a:pPr marL="177800" indent="-177800">
              <a:spcAft>
                <a:spcPts val="300"/>
              </a:spcAft>
              <a:buSzPct val="100000"/>
              <a:buChar char="•"/>
            </a:pPr>
            <a:r>
              <a:rPr lang="it-IT" sz="1300" noProof="0" dirty="0">
                <a:solidFill>
                  <a:schemeClr val="tx2"/>
                </a:solidFill>
              </a:rPr>
              <a:t>Vale nel contesto temporaneo</a:t>
            </a:r>
            <a:endParaRPr lang="it-IT" sz="1300" noProof="0" dirty="0"/>
          </a:p>
        </p:txBody>
      </p:sp>
      <p:sp>
        <p:nvSpPr>
          <p:cNvPr id="14" name="scheda Fonti esterne"/>
          <p:cNvSpPr/>
          <p:nvPr/>
        </p:nvSpPr>
        <p:spPr>
          <a:xfrm>
            <a:off x="6071616" y="1097280"/>
            <a:ext cx="2615184" cy="3429000"/>
          </a:xfrm>
          <a:prstGeom prst="roundRect">
            <a:avLst>
              <a:gd name="adj" fmla="val 2797"/>
            </a:avLst>
          </a:prstGeom>
          <a:solidFill>
            <a:schemeClr val="bg2"/>
          </a:solidFill>
          <a:ln/>
        </p:spPr>
        <p:txBody>
          <a:bodyPr/>
          <a:lstStyle/>
          <a:p>
            <a:endParaRPr lang="it-IT" noProof="0" dirty="0"/>
          </a:p>
        </p:txBody>
      </p:sp>
      <p:sp>
        <p:nvSpPr>
          <p:cNvPr id="15" name="cerchio FiGlobe"/>
          <p:cNvSpPr/>
          <p:nvPr/>
        </p:nvSpPr>
        <p:spPr>
          <a:xfrm>
            <a:off x="6254496" y="1280160"/>
            <a:ext cx="457200" cy="457200"/>
          </a:xfrm>
          <a:prstGeom prst="ellipse">
            <a:avLst/>
          </a:prstGeom>
          <a:solidFill>
            <a:schemeClr val="accent1"/>
          </a:solidFill>
          <a:ln/>
        </p:spPr>
        <p:txBody>
          <a:bodyPr/>
          <a:lstStyle/>
          <a:p>
            <a:endParaRPr lang="it-IT" noProof="0" dirty="0"/>
          </a:p>
        </p:txBody>
      </p:sp>
      <p:pic>
        <p:nvPicPr>
          <p:cNvPr id="16" name="Image 2" descr="FiGlobe"/>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Fonti esterne</a:t>
            </a:r>
            <a:endParaRPr lang="it-IT" sz="1600" noProof="0" dirty="0"/>
          </a:p>
        </p:txBody>
      </p:sp>
      <p:sp>
        <p:nvSpPr>
          <p:cNvPr id="18" name="Text 12"/>
          <p:cNvSpPr txBox="1"/>
          <p:nvPr/>
        </p:nvSpPr>
        <p:spPr>
          <a:xfrm>
            <a:off x="6254496" y="2231136"/>
            <a:ext cx="2249424"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Recuperata dall'applicazione al momento della richiesta</a:t>
            </a:r>
            <a:endParaRPr lang="it-IT" sz="1300" noProof="0" dirty="0"/>
          </a:p>
          <a:p>
            <a:pPr marL="177800" indent="-177800">
              <a:spcAft>
                <a:spcPts val="300"/>
              </a:spcAft>
              <a:buSzPct val="100000"/>
              <a:buChar char="•"/>
            </a:pPr>
            <a:r>
              <a:rPr lang="it-IT" sz="1300" noProof="0" dirty="0">
                <a:solidFill>
                  <a:schemeClr val="tx2"/>
                </a:solidFill>
              </a:rPr>
              <a:t>Web, basi documentali, database</a:t>
            </a:r>
            <a:endParaRPr lang="it-IT" sz="1300" noProof="0" dirty="0"/>
          </a:p>
          <a:p>
            <a:pPr marL="177800" indent="-177800">
              <a:spcAft>
                <a:spcPts val="300"/>
              </a:spcAft>
              <a:buSzPct val="100000"/>
              <a:buChar char="•"/>
            </a:pPr>
            <a:r>
              <a:rPr lang="it-IT" sz="1300" noProof="0" dirty="0">
                <a:solidFill>
                  <a:schemeClr val="tx2"/>
                </a:solidFill>
              </a:rPr>
              <a:t>Aggiornata o riservata</a:t>
            </a:r>
            <a:endParaRPr lang="it-IT" sz="1300" noProof="0" dirty="0"/>
          </a:p>
          <a:p>
            <a:pPr marL="177800" indent="-177800">
              <a:spcAft>
                <a:spcPts val="300"/>
              </a:spcAft>
              <a:buSzPct val="100000"/>
              <a:buChar char="•"/>
            </a:pPr>
            <a:r>
              <a:rPr lang="it-IT" sz="1300" noProof="0" dirty="0">
                <a:solidFill>
                  <a:schemeClr val="tx2"/>
                </a:solidFill>
              </a:rPr>
              <a:t>Dipende dalla qualità della fonte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49</a:t>
            </a:fld>
            <a:endParaRPr lang="it-IT"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Conoscenza incorporata e recupero di informazioni</a:t>
            </a:r>
            <a:endParaRPr lang="it-IT" sz="2600" noProof="0" dirty="0"/>
          </a:p>
        </p:txBody>
      </p:sp>
      <p:sp>
        <p:nvSpPr>
          <p:cNvPr id="4" name="scheda Libro chiuso: conoscenza incorporata"/>
          <p:cNvSpPr/>
          <p:nvPr/>
        </p:nvSpPr>
        <p:spPr>
          <a:xfrm>
            <a:off x="457200" y="1097280"/>
            <a:ext cx="3977640" cy="2743200"/>
          </a:xfrm>
          <a:prstGeom prst="roundRect">
            <a:avLst>
              <a:gd name="adj" fmla="val 2667"/>
            </a:avLst>
          </a:prstGeom>
          <a:solidFill>
            <a:schemeClr val="bg2"/>
          </a:solidFill>
          <a:ln/>
        </p:spPr>
        <p:txBody>
          <a:bodyPr/>
          <a:lstStyle/>
          <a:p>
            <a:endParaRPr lang="it-IT" noProof="0" dirty="0"/>
          </a:p>
        </p:txBody>
      </p:sp>
      <p:sp>
        <p:nvSpPr>
          <p:cNvPr id="5" name="cerchio FiBook"/>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Book"/>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noProof="0" dirty="0">
                <a:solidFill>
                  <a:schemeClr val="tx1"/>
                </a:solidFill>
              </a:rPr>
              <a:t>Libro chiuso: conoscenza incorporata</a:t>
            </a:r>
            <a:endParaRPr lang="it-IT" sz="1500" noProof="0" dirty="0"/>
          </a:p>
        </p:txBody>
      </p:sp>
      <p:sp>
        <p:nvSpPr>
          <p:cNvPr id="8" name="Text 4"/>
          <p:cNvSpPr txBox="1"/>
          <p:nvPr/>
        </p:nvSpPr>
        <p:spPr>
          <a:xfrm>
            <a:off x="640080" y="2231136"/>
            <a:ext cx="3611880" cy="1499616"/>
          </a:xfrm>
          <a:prstGeom prst="rect">
            <a:avLst/>
          </a:prstGeom>
          <a:noFill/>
          <a:ln/>
        </p:spPr>
        <p:txBody>
          <a:bodyPr wrap="square" lIns="0" tIns="0" rIns="0" bIns="0" rtlCol="0" anchor="t"/>
          <a:lstStyle/>
          <a:p>
            <a:pPr marL="177800" indent="-177800">
              <a:spcAft>
                <a:spcPts val="300"/>
              </a:spcAft>
              <a:buSzPct val="100000"/>
              <a:buChar char="•"/>
            </a:pPr>
            <a:r>
              <a:rPr lang="it-IT" sz="1300" noProof="0" dirty="0">
                <a:solidFill>
                  <a:schemeClr val="tx2"/>
                </a:solidFill>
              </a:rPr>
              <a:t>Risponde da ciò che ha appreso</a:t>
            </a:r>
            <a:endParaRPr lang="it-IT" sz="1300" noProof="0" dirty="0"/>
          </a:p>
          <a:p>
            <a:pPr marL="177800" indent="-177800">
              <a:spcAft>
                <a:spcPts val="300"/>
              </a:spcAft>
              <a:buSzPct val="100000"/>
              <a:buChar char="•"/>
            </a:pPr>
            <a:r>
              <a:rPr lang="it-IT" sz="1300" noProof="0" dirty="0">
                <a:solidFill>
                  <a:schemeClr val="tx2"/>
                </a:solidFill>
              </a:rPr>
              <a:t>Ampia, ma imprecisa sui dettagli</a:t>
            </a:r>
            <a:endParaRPr lang="it-IT" sz="1300" noProof="0" dirty="0"/>
          </a:p>
          <a:p>
            <a:pPr marL="177800" indent="-177800">
              <a:spcAft>
                <a:spcPts val="300"/>
              </a:spcAft>
              <a:buSzPct val="100000"/>
              <a:buChar char="•"/>
            </a:pPr>
            <a:r>
              <a:rPr lang="it-IT" sz="1300" noProof="0" dirty="0">
                <a:solidFill>
                  <a:schemeClr val="tx2"/>
                </a:solidFill>
              </a:rPr>
              <a:t>Non aggiornata dopo l'addestramento</a:t>
            </a:r>
            <a:endParaRPr lang="it-IT" sz="1300" noProof="0" dirty="0"/>
          </a:p>
          <a:p>
            <a:pPr marL="177800" indent="-177800">
              <a:spcAft>
                <a:spcPts val="300"/>
              </a:spcAft>
              <a:buSzPct val="100000"/>
              <a:buChar char="•"/>
            </a:pPr>
            <a:r>
              <a:rPr lang="it-IT" sz="1300" noProof="0" dirty="0">
                <a:solidFill>
                  <a:schemeClr val="tx2"/>
                </a:solidFill>
              </a:rPr>
              <a:t>Può ricostruire risposte plausibili ma errate</a:t>
            </a:r>
            <a:endParaRPr lang="it-IT" sz="1300" noProof="0" dirty="0"/>
          </a:p>
        </p:txBody>
      </p:sp>
      <p:sp>
        <p:nvSpPr>
          <p:cNvPr id="9" name="scheda Libro aperto: recupero di informazioni"/>
          <p:cNvSpPr/>
          <p:nvPr/>
        </p:nvSpPr>
        <p:spPr>
          <a:xfrm>
            <a:off x="4709160" y="1097280"/>
            <a:ext cx="3977640" cy="2743200"/>
          </a:xfrm>
          <a:prstGeom prst="roundRect">
            <a:avLst>
              <a:gd name="adj" fmla="val 2667"/>
            </a:avLst>
          </a:prstGeom>
          <a:solidFill>
            <a:schemeClr val="accent6"/>
          </a:solidFill>
          <a:ln/>
        </p:spPr>
        <p:txBody>
          <a:bodyPr/>
          <a:lstStyle/>
          <a:p>
            <a:endParaRPr lang="it-IT" noProof="0" dirty="0"/>
          </a:p>
        </p:txBody>
      </p:sp>
      <p:sp>
        <p:nvSpPr>
          <p:cNvPr id="10" name="cerchio FiBookOpen"/>
          <p:cNvSpPr/>
          <p:nvPr/>
        </p:nvSpPr>
        <p:spPr>
          <a:xfrm>
            <a:off x="4892040" y="1280160"/>
            <a:ext cx="457200" cy="457200"/>
          </a:xfrm>
          <a:prstGeom prst="ellipse">
            <a:avLst/>
          </a:prstGeom>
          <a:solidFill>
            <a:schemeClr val="accent1"/>
          </a:solidFill>
          <a:ln/>
        </p:spPr>
        <p:txBody>
          <a:bodyPr/>
          <a:lstStyle/>
          <a:p>
            <a:endParaRPr lang="it-IT" noProof="0" dirty="0"/>
          </a:p>
        </p:txBody>
      </p:sp>
      <p:pic>
        <p:nvPicPr>
          <p:cNvPr id="11" name="Image 1" descr="FiBookOpen"/>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noProof="0" dirty="0">
                <a:solidFill>
                  <a:schemeClr val="tx1"/>
                </a:solidFill>
              </a:rPr>
              <a:t>Libro aperto: recupero di informazioni</a:t>
            </a:r>
            <a:endParaRPr lang="it-IT" sz="1500" noProof="0" dirty="0"/>
          </a:p>
        </p:txBody>
      </p:sp>
      <p:sp>
        <p:nvSpPr>
          <p:cNvPr id="13" name="Text 8"/>
          <p:cNvSpPr txBox="1"/>
          <p:nvPr/>
        </p:nvSpPr>
        <p:spPr>
          <a:xfrm>
            <a:off x="4892040" y="2231136"/>
            <a:ext cx="3611880" cy="1499616"/>
          </a:xfrm>
          <a:prstGeom prst="rect">
            <a:avLst/>
          </a:prstGeom>
          <a:noFill/>
          <a:ln/>
        </p:spPr>
        <p:txBody>
          <a:bodyPr wrap="square" lIns="0" tIns="0" rIns="0" bIns="0" rtlCol="0" anchor="t"/>
          <a:lstStyle/>
          <a:p>
            <a:pPr marL="177800" indent="-177800">
              <a:spcAft>
                <a:spcPts val="300"/>
              </a:spcAft>
              <a:buSzPct val="100000"/>
              <a:buChar char="•"/>
            </a:pPr>
            <a:r>
              <a:rPr lang="it-IT" sz="1300" noProof="0" dirty="0">
                <a:solidFill>
                  <a:schemeClr val="tx2"/>
                </a:solidFill>
              </a:rPr>
              <a:t>Consulta documenti pertinenti</a:t>
            </a:r>
            <a:endParaRPr lang="it-IT" sz="1300" noProof="0" dirty="0"/>
          </a:p>
          <a:p>
            <a:pPr marL="177800" indent="-177800">
              <a:spcAft>
                <a:spcPts val="300"/>
              </a:spcAft>
              <a:buSzPct val="100000"/>
              <a:buChar char="•"/>
            </a:pPr>
            <a:r>
              <a:rPr lang="it-IT" sz="1300" noProof="0" dirty="0">
                <a:solidFill>
                  <a:schemeClr val="tx2"/>
                </a:solidFill>
              </a:rPr>
              <a:t>Dettagli più precisi</a:t>
            </a:r>
            <a:endParaRPr lang="it-IT" sz="1300" noProof="0" dirty="0"/>
          </a:p>
          <a:p>
            <a:pPr marL="177800" indent="-177800">
              <a:spcAft>
                <a:spcPts val="300"/>
              </a:spcAft>
              <a:buSzPct val="100000"/>
              <a:buChar char="•"/>
            </a:pPr>
            <a:r>
              <a:rPr lang="it-IT" sz="1300" noProof="0" dirty="0">
                <a:solidFill>
                  <a:schemeClr val="tx2"/>
                </a:solidFill>
              </a:rPr>
              <a:t>Fonti indicabili e verificabili</a:t>
            </a:r>
            <a:endParaRPr lang="it-IT" sz="1300" noProof="0" dirty="0"/>
          </a:p>
          <a:p>
            <a:pPr marL="177800" indent="-177800">
              <a:spcAft>
                <a:spcPts val="300"/>
              </a:spcAft>
              <a:buSzPct val="100000"/>
              <a:buChar char="•"/>
            </a:pPr>
            <a:r>
              <a:rPr lang="it-IT" sz="1300" noProof="0" dirty="0">
                <a:solidFill>
                  <a:schemeClr val="tx2"/>
                </a:solidFill>
              </a:rPr>
              <a:t>Non infallibile: può leggere male o recuperare il testo sbagliato</a:t>
            </a:r>
            <a:endParaRPr lang="it-IT" sz="1300" noProof="0" dirty="0"/>
          </a:p>
        </p:txBody>
      </p:sp>
      <p:sp>
        <p:nvSpPr>
          <p:cNvPr id="14" name="dati precisi"/>
          <p:cNvSpPr/>
          <p:nvPr/>
        </p:nvSpPr>
        <p:spPr>
          <a:xfrm>
            <a:off x="457200" y="3977640"/>
            <a:ext cx="8229600" cy="548640"/>
          </a:xfrm>
          <a:prstGeom prst="roundRect">
            <a:avLst>
              <a:gd name="adj" fmla="val 13333"/>
            </a:avLst>
          </a:prstGeom>
          <a:solidFill>
            <a:schemeClr val="tx1"/>
          </a:solidFill>
          <a:ln/>
        </p:spPr>
        <p:txBody>
          <a:bodyPr/>
          <a:lstStyle/>
          <a:p>
            <a:endParaRPr lang="it-IT" noProof="0" dirty="0"/>
          </a:p>
        </p:txBody>
      </p:sp>
      <p:sp>
        <p:nvSpPr>
          <p:cNvPr id="15" name="Text 10"/>
          <p:cNvSpPr txBox="1"/>
          <p:nvPr/>
        </p:nvSpPr>
        <p:spPr>
          <a:xfrm>
            <a:off x="640080" y="3977640"/>
            <a:ext cx="7863840" cy="548640"/>
          </a:xfrm>
          <a:prstGeom prst="rect">
            <a:avLst/>
          </a:prstGeom>
          <a:noFill/>
          <a:ln/>
        </p:spPr>
        <p:txBody>
          <a:bodyPr wrap="square" lIns="0" tIns="0" rIns="0" bIns="0" rtlCol="0" anchor="ctr"/>
          <a:lstStyle/>
          <a:p>
            <a:pPr marL="0" indent="0">
              <a:buNone/>
            </a:pPr>
            <a:r>
              <a:rPr lang="it-IT" sz="1400" noProof="0" dirty="0">
                <a:solidFill>
                  <a:schemeClr val="bg1"/>
                </a:solidFill>
              </a:rPr>
              <a:t>Per dati precisi (numeri, norme, citazioni) conviene basarsi su fonti fornite o recuperate.</a:t>
            </a:r>
            <a:endParaRPr lang="it-IT" sz="14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50</a:t>
            </a:fld>
            <a:endParaRPr lang="it-IT" noProof="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Aggiornamento dei dati e limiti temporali</a:t>
            </a:r>
            <a:endParaRPr lang="it-IT" sz="2600" noProof="0" dirty="0"/>
          </a:p>
        </p:txBody>
      </p:sp>
      <p:sp>
        <p:nvSpPr>
          <p:cNvPr id="4" name="periodo addestramento"/>
          <p:cNvSpPr/>
          <p:nvPr/>
        </p:nvSpPr>
        <p:spPr>
          <a:xfrm>
            <a:off x="457200" y="1600200"/>
            <a:ext cx="4754880" cy="640080"/>
          </a:xfrm>
          <a:prstGeom prst="rect">
            <a:avLst/>
          </a:prstGeom>
          <a:solidFill>
            <a:schemeClr val="accent1"/>
          </a:solidFill>
          <a:ln/>
        </p:spPr>
        <p:txBody>
          <a:bodyPr/>
          <a:lstStyle/>
          <a:p>
            <a:endParaRPr lang="it-IT" noProof="0" dirty="0"/>
          </a:p>
        </p:txBody>
      </p:sp>
      <p:sp>
        <p:nvSpPr>
          <p:cNvPr id="5" name="Text 2"/>
          <p:cNvSpPr txBox="1"/>
          <p:nvPr/>
        </p:nvSpPr>
        <p:spPr>
          <a:xfrm>
            <a:off x="548640" y="1600200"/>
            <a:ext cx="4572000" cy="640080"/>
          </a:xfrm>
          <a:prstGeom prst="rect">
            <a:avLst/>
          </a:prstGeom>
          <a:noFill/>
          <a:ln/>
        </p:spPr>
        <p:txBody>
          <a:bodyPr wrap="square" lIns="0" tIns="0" rIns="0" bIns="0" rtlCol="0" anchor="ctr"/>
          <a:lstStyle/>
          <a:p>
            <a:pPr marL="0" indent="0">
              <a:buNone/>
            </a:pPr>
            <a:r>
              <a:rPr lang="it-IT" sz="1500" b="1" noProof="0" dirty="0">
                <a:solidFill>
                  <a:schemeClr val="bg1"/>
                </a:solidFill>
              </a:rPr>
              <a:t>Dati di addestramento</a:t>
            </a:r>
            <a:endParaRPr lang="it-IT" sz="1500" noProof="0" dirty="0"/>
          </a:p>
        </p:txBody>
      </p:sp>
      <p:sp>
        <p:nvSpPr>
          <p:cNvPr id="6" name="periodo sconosciuto"/>
          <p:cNvSpPr/>
          <p:nvPr/>
        </p:nvSpPr>
        <p:spPr>
          <a:xfrm>
            <a:off x="5212080" y="1600200"/>
            <a:ext cx="3474720" cy="640080"/>
          </a:xfrm>
          <a:prstGeom prst="rect">
            <a:avLst/>
          </a:prstGeom>
          <a:solidFill>
            <a:schemeClr val="bg2"/>
          </a:solidFill>
          <a:ln w="12700">
            <a:solidFill>
              <a:schemeClr val="accent3"/>
            </a:solidFill>
            <a:prstDash val="dash"/>
          </a:ln>
        </p:spPr>
        <p:txBody>
          <a:bodyPr/>
          <a:lstStyle/>
          <a:p>
            <a:endParaRPr lang="it-IT" noProof="0" dirty="0"/>
          </a:p>
        </p:txBody>
      </p:sp>
      <p:sp>
        <p:nvSpPr>
          <p:cNvPr id="7" name="Text 4"/>
          <p:cNvSpPr txBox="1"/>
          <p:nvPr/>
        </p:nvSpPr>
        <p:spPr>
          <a:xfrm>
            <a:off x="5303520" y="1600200"/>
            <a:ext cx="3291840" cy="640080"/>
          </a:xfrm>
          <a:prstGeom prst="rect">
            <a:avLst/>
          </a:prstGeom>
          <a:noFill/>
          <a:ln/>
        </p:spPr>
        <p:txBody>
          <a:bodyPr wrap="square" lIns="0" tIns="0" rIns="0" bIns="0" rtlCol="0" anchor="ctr"/>
          <a:lstStyle/>
          <a:p>
            <a:pPr marL="0" indent="0">
              <a:buNone/>
            </a:pPr>
            <a:r>
              <a:rPr lang="it-IT" sz="1300" b="1" noProof="0" dirty="0">
                <a:solidFill>
                  <a:schemeClr val="tx2"/>
                </a:solidFill>
              </a:rPr>
              <a:t>Eventi successivi: sconosciuti al modello</a:t>
            </a:r>
            <a:endParaRPr lang="it-IT" sz="1300" noProof="0" dirty="0"/>
          </a:p>
        </p:txBody>
      </p:sp>
      <p:sp>
        <p:nvSpPr>
          <p:cNvPr id="8" name="cutoff"/>
          <p:cNvSpPr/>
          <p:nvPr/>
        </p:nvSpPr>
        <p:spPr>
          <a:xfrm>
            <a:off x="5212080" y="1325880"/>
            <a:ext cx="0" cy="1188720"/>
          </a:xfrm>
          <a:prstGeom prst="line">
            <a:avLst/>
          </a:prstGeom>
          <a:noFill/>
          <a:ln w="31750">
            <a:solidFill>
              <a:schemeClr val="accent5"/>
            </a:solidFill>
            <a:prstDash val="solid"/>
          </a:ln>
        </p:spPr>
        <p:txBody>
          <a:bodyPr/>
          <a:lstStyle/>
          <a:p>
            <a:endParaRPr lang="it-IT" noProof="0" dirty="0"/>
          </a:p>
        </p:txBody>
      </p:sp>
      <p:sp>
        <p:nvSpPr>
          <p:cNvPr id="9" name="Text 6"/>
          <p:cNvSpPr txBox="1"/>
          <p:nvPr/>
        </p:nvSpPr>
        <p:spPr>
          <a:xfrm>
            <a:off x="4297680" y="2560320"/>
            <a:ext cx="1828800" cy="274320"/>
          </a:xfrm>
          <a:prstGeom prst="rect">
            <a:avLst/>
          </a:prstGeom>
          <a:noFill/>
          <a:ln/>
        </p:spPr>
        <p:txBody>
          <a:bodyPr wrap="square" lIns="0" tIns="0" rIns="0" bIns="0" rtlCol="0" anchor="t"/>
          <a:lstStyle/>
          <a:p>
            <a:pPr marL="0" indent="0" algn="ctr">
              <a:buNone/>
            </a:pPr>
            <a:r>
              <a:rPr lang="it-IT" sz="1200" b="1" noProof="0" dirty="0">
                <a:solidFill>
                  <a:schemeClr val="accent5"/>
                </a:solidFill>
              </a:rPr>
              <a:t>Data limite (cutoff)</a:t>
            </a:r>
            <a:endParaRPr lang="it-IT" sz="1200" noProof="0" dirty="0"/>
          </a:p>
        </p:txBody>
      </p:sp>
      <p:sp>
        <p:nvSpPr>
          <p:cNvPr id="10" name="Text 7"/>
          <p:cNvSpPr txBox="1"/>
          <p:nvPr/>
        </p:nvSpPr>
        <p:spPr>
          <a:xfrm>
            <a:off x="8046720" y="2560320"/>
            <a:ext cx="640080" cy="274320"/>
          </a:xfrm>
          <a:prstGeom prst="rect">
            <a:avLst/>
          </a:prstGeom>
          <a:noFill/>
          <a:ln/>
        </p:spPr>
        <p:txBody>
          <a:bodyPr wrap="square" lIns="0" tIns="0" rIns="0" bIns="0" rtlCol="0" anchor="t"/>
          <a:lstStyle/>
          <a:p>
            <a:pPr marL="0" indent="0" algn="r">
              <a:buNone/>
            </a:pPr>
            <a:r>
              <a:rPr lang="it-IT" sz="1200" b="1" noProof="0" dirty="0">
                <a:solidFill>
                  <a:schemeClr val="tx1"/>
                </a:solidFill>
              </a:rPr>
              <a:t>Oggi</a:t>
            </a:r>
            <a:endParaRPr lang="it-IT" sz="1200" noProof="0" dirty="0"/>
          </a:p>
        </p:txBody>
      </p:sp>
      <p:sp>
        <p:nvSpPr>
          <p:cNvPr id="11" name="Text 8"/>
          <p:cNvSpPr txBox="1"/>
          <p:nvPr/>
        </p:nvSpPr>
        <p:spPr>
          <a:xfrm>
            <a:off x="457200" y="3017520"/>
            <a:ext cx="8229600" cy="274320"/>
          </a:xfrm>
          <a:prstGeom prst="rect">
            <a:avLst/>
          </a:prstGeom>
          <a:noFill/>
          <a:ln/>
        </p:spPr>
        <p:txBody>
          <a:bodyPr wrap="square" lIns="0" tIns="0" rIns="0" bIns="0" rtlCol="0" anchor="t"/>
          <a:lstStyle/>
          <a:p>
            <a:pPr marL="0" indent="0">
              <a:buNone/>
            </a:pPr>
            <a:r>
              <a:rPr lang="it-IT" sz="1300" b="1" noProof="0" dirty="0">
                <a:solidFill>
                  <a:schemeClr val="tx1"/>
                </a:solidFill>
              </a:rPr>
              <a:t>Informazioni a rischio di essere superate</a:t>
            </a:r>
            <a:endParaRPr lang="it-IT" sz="1300" noProof="0" dirty="0"/>
          </a:p>
        </p:txBody>
      </p:sp>
      <p:sp>
        <p:nvSpPr>
          <p:cNvPr id="12" name="blocco Normative recenti"/>
          <p:cNvSpPr/>
          <p:nvPr/>
        </p:nvSpPr>
        <p:spPr>
          <a:xfrm>
            <a:off x="45720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13" name="Text 10"/>
          <p:cNvSpPr txBox="1"/>
          <p:nvPr/>
        </p:nvSpPr>
        <p:spPr>
          <a:xfrm>
            <a:off x="50292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Normative recenti</a:t>
            </a:r>
            <a:endParaRPr lang="it-IT" sz="1200" noProof="0" dirty="0"/>
          </a:p>
        </p:txBody>
      </p:sp>
      <p:sp>
        <p:nvSpPr>
          <p:cNvPr id="14" name="blocco Prezzi e listini"/>
          <p:cNvSpPr/>
          <p:nvPr/>
        </p:nvSpPr>
        <p:spPr>
          <a:xfrm>
            <a:off x="210312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15" name="Text 12"/>
          <p:cNvSpPr txBox="1"/>
          <p:nvPr/>
        </p:nvSpPr>
        <p:spPr>
          <a:xfrm>
            <a:off x="214884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Prezzi e listini</a:t>
            </a:r>
            <a:endParaRPr lang="it-IT" sz="1200" noProof="0" dirty="0"/>
          </a:p>
        </p:txBody>
      </p:sp>
      <p:sp>
        <p:nvSpPr>
          <p:cNvPr id="16" name="blocco Organigrammi"/>
          <p:cNvSpPr/>
          <p:nvPr/>
        </p:nvSpPr>
        <p:spPr>
          <a:xfrm>
            <a:off x="374904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17" name="Text 14"/>
          <p:cNvSpPr txBox="1"/>
          <p:nvPr/>
        </p:nvSpPr>
        <p:spPr>
          <a:xfrm>
            <a:off x="379476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Organigrammi</a:t>
            </a:r>
            <a:endParaRPr lang="it-IT" sz="1200" noProof="0" dirty="0"/>
          </a:p>
        </p:txBody>
      </p:sp>
      <p:sp>
        <p:nvSpPr>
          <p:cNvPr id="18" name="blocco Versioni software"/>
          <p:cNvSpPr/>
          <p:nvPr/>
        </p:nvSpPr>
        <p:spPr>
          <a:xfrm>
            <a:off x="539496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19" name="Text 16"/>
          <p:cNvSpPr txBox="1"/>
          <p:nvPr/>
        </p:nvSpPr>
        <p:spPr>
          <a:xfrm>
            <a:off x="544068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Versioni software</a:t>
            </a:r>
            <a:endParaRPr lang="it-IT" sz="1200" noProof="0" dirty="0"/>
          </a:p>
        </p:txBody>
      </p:sp>
      <p:sp>
        <p:nvSpPr>
          <p:cNvPr id="20" name="blocco Notizie e attualità"/>
          <p:cNvSpPr/>
          <p:nvPr/>
        </p:nvSpPr>
        <p:spPr>
          <a:xfrm>
            <a:off x="704088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21" name="Text 18"/>
          <p:cNvSpPr txBox="1"/>
          <p:nvPr/>
        </p:nvSpPr>
        <p:spPr>
          <a:xfrm>
            <a:off x="708660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Notizie e attualità</a:t>
            </a:r>
            <a:endParaRPr lang="it-IT" sz="1200" noProof="0" dirty="0"/>
          </a:p>
        </p:txBody>
      </p:sp>
      <p:sp>
        <p:nvSpPr>
          <p:cNvPr id="22" name="Text 19"/>
          <p:cNvSpPr txBox="1"/>
          <p:nvPr/>
        </p:nvSpPr>
        <p:spPr>
          <a:xfrm>
            <a:off x="457200" y="4069080"/>
            <a:ext cx="8229600" cy="457200"/>
          </a:xfrm>
          <a:prstGeom prst="rect">
            <a:avLst/>
          </a:prstGeom>
          <a:noFill/>
          <a:ln/>
        </p:spPr>
        <p:txBody>
          <a:bodyPr wrap="square" lIns="0" tIns="0" rIns="0" bIns="0" rtlCol="0" anchor="t"/>
          <a:lstStyle/>
          <a:p>
            <a:pPr marL="0" indent="0">
              <a:buNone/>
            </a:pPr>
            <a:r>
              <a:rPr lang="it-IT" sz="1300" i="1" noProof="0" dirty="0">
                <a:solidFill>
                  <a:schemeClr val="tx1"/>
                </a:solidFill>
              </a:rPr>
              <a:t>Il modello non sempre segnala di non essere aggiornato: usare la ricerca o documenti recenti e verificare.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51</a:t>
            </a:fld>
            <a:endParaRPr lang="it-IT" noProof="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Grounding: ancorare le risposte alle fonti</a:t>
            </a:r>
            <a:endParaRPr lang="it-IT" sz="2600" noProof="0" dirty="0"/>
          </a:p>
        </p:txBody>
      </p:sp>
      <p:sp>
        <p:nvSpPr>
          <p:cNvPr id="4" name="Procedura acquisti"/>
          <p:cNvSpPr/>
          <p:nvPr/>
        </p:nvSpPr>
        <p:spPr>
          <a:xfrm>
            <a:off x="457200" y="1143000"/>
            <a:ext cx="2194560" cy="658368"/>
          </a:xfrm>
          <a:prstGeom prst="roundRect">
            <a:avLst>
              <a:gd name="adj" fmla="val 11111"/>
            </a:avLst>
          </a:prstGeom>
          <a:solidFill>
            <a:schemeClr val="bg2"/>
          </a:solidFill>
          <a:ln/>
        </p:spPr>
        <p:txBody>
          <a:bodyPr/>
          <a:lstStyle/>
          <a:p>
            <a:endParaRPr lang="it-IT" noProof="0" dirty="0"/>
          </a:p>
        </p:txBody>
      </p:sp>
      <p:sp>
        <p:nvSpPr>
          <p:cNvPr id="5" name="cerchio FiFileText"/>
          <p:cNvSpPr/>
          <p:nvPr/>
        </p:nvSpPr>
        <p:spPr>
          <a:xfrm>
            <a:off x="594360" y="1261872"/>
            <a:ext cx="420624" cy="420624"/>
          </a:xfrm>
          <a:prstGeom prst="ellipse">
            <a:avLst/>
          </a:prstGeom>
          <a:solidFill>
            <a:schemeClr val="accent1"/>
          </a:solidFill>
          <a:ln/>
        </p:spPr>
        <p:txBody>
          <a:bodyPr/>
          <a:lstStyle/>
          <a:p>
            <a:endParaRPr lang="it-IT" noProof="0" dirty="0"/>
          </a:p>
        </p:txBody>
      </p:sp>
      <p:pic>
        <p:nvPicPr>
          <p:cNvPr id="6" name="Image 0" descr="FiFileText"/>
          <p:cNvPicPr>
            <a:picLocks noChangeAspect="1"/>
          </p:cNvPicPr>
          <p:nvPr/>
        </p:nvPicPr>
        <p:blipFill>
          <a:blip r:embed="rId3"/>
          <a:stretch>
            <a:fillRect/>
          </a:stretch>
        </p:blipFill>
        <p:spPr>
          <a:xfrm>
            <a:off x="699516" y="1367028"/>
            <a:ext cx="210312" cy="210312"/>
          </a:xfrm>
          <a:prstGeom prst="rect">
            <a:avLst/>
          </a:prstGeom>
        </p:spPr>
      </p:pic>
      <p:sp>
        <p:nvSpPr>
          <p:cNvPr id="7" name="Text 3"/>
          <p:cNvSpPr txBox="1"/>
          <p:nvPr/>
        </p:nvSpPr>
        <p:spPr>
          <a:xfrm>
            <a:off x="1097280" y="1143000"/>
            <a:ext cx="1508760" cy="658368"/>
          </a:xfrm>
          <a:prstGeom prst="rect">
            <a:avLst/>
          </a:prstGeom>
          <a:noFill/>
          <a:ln/>
        </p:spPr>
        <p:txBody>
          <a:bodyPr wrap="square" lIns="0" tIns="0" rIns="0" bIns="0" rtlCol="0" anchor="ctr"/>
          <a:lstStyle/>
          <a:p>
            <a:pPr marL="0" indent="0">
              <a:buNone/>
            </a:pPr>
            <a:r>
              <a:rPr lang="it-IT" sz="1200" b="1" noProof="0" dirty="0">
                <a:solidFill>
                  <a:schemeClr val="tx1"/>
                </a:solidFill>
              </a:rPr>
              <a:t>Procedura acquisti</a:t>
            </a:r>
            <a:endParaRPr lang="it-IT" sz="1200" noProof="0" dirty="0"/>
          </a:p>
        </p:txBody>
      </p:sp>
      <p:sp>
        <p:nvSpPr>
          <p:cNvPr id="8" name="collegamento fonte"/>
          <p:cNvSpPr/>
          <p:nvPr/>
        </p:nvSpPr>
        <p:spPr>
          <a:xfrm>
            <a:off x="2651760" y="1472184"/>
            <a:ext cx="822960" cy="630936"/>
          </a:xfrm>
          <a:prstGeom prst="line">
            <a:avLst/>
          </a:prstGeom>
          <a:noFill/>
          <a:ln w="19050">
            <a:solidFill>
              <a:schemeClr val="accent1"/>
            </a:solidFill>
            <a:prstDash val="solid"/>
          </a:ln>
        </p:spPr>
        <p:txBody>
          <a:bodyPr/>
          <a:lstStyle/>
          <a:p>
            <a:endParaRPr lang="it-IT" noProof="0" dirty="0"/>
          </a:p>
        </p:txBody>
      </p:sp>
      <p:sp>
        <p:nvSpPr>
          <p:cNvPr id="9" name="Listino 2026"/>
          <p:cNvSpPr/>
          <p:nvPr/>
        </p:nvSpPr>
        <p:spPr>
          <a:xfrm>
            <a:off x="457200" y="1965960"/>
            <a:ext cx="2194560" cy="658368"/>
          </a:xfrm>
          <a:prstGeom prst="roundRect">
            <a:avLst>
              <a:gd name="adj" fmla="val 11111"/>
            </a:avLst>
          </a:prstGeom>
          <a:solidFill>
            <a:schemeClr val="bg2"/>
          </a:solidFill>
          <a:ln/>
        </p:spPr>
        <p:txBody>
          <a:bodyPr/>
          <a:lstStyle/>
          <a:p>
            <a:endParaRPr lang="it-IT" noProof="0" dirty="0"/>
          </a:p>
        </p:txBody>
      </p:sp>
      <p:sp>
        <p:nvSpPr>
          <p:cNvPr id="10" name="cerchio FiFileText"/>
          <p:cNvSpPr/>
          <p:nvPr/>
        </p:nvSpPr>
        <p:spPr>
          <a:xfrm>
            <a:off x="594360" y="2084832"/>
            <a:ext cx="420624" cy="420624"/>
          </a:xfrm>
          <a:prstGeom prst="ellipse">
            <a:avLst/>
          </a:prstGeom>
          <a:solidFill>
            <a:schemeClr val="accent1"/>
          </a:solidFill>
          <a:ln/>
        </p:spPr>
        <p:txBody>
          <a:bodyPr/>
          <a:lstStyle/>
          <a:p>
            <a:endParaRPr lang="it-IT" noProof="0" dirty="0"/>
          </a:p>
        </p:txBody>
      </p:sp>
      <p:pic>
        <p:nvPicPr>
          <p:cNvPr id="11" name="Image 1" descr="FiFileText"/>
          <p:cNvPicPr>
            <a:picLocks noChangeAspect="1"/>
          </p:cNvPicPr>
          <p:nvPr/>
        </p:nvPicPr>
        <p:blipFill>
          <a:blip r:embed="rId3"/>
          <a:stretch>
            <a:fillRect/>
          </a:stretch>
        </p:blipFill>
        <p:spPr>
          <a:xfrm>
            <a:off x="699516" y="2189988"/>
            <a:ext cx="210312" cy="210312"/>
          </a:xfrm>
          <a:prstGeom prst="rect">
            <a:avLst/>
          </a:prstGeom>
        </p:spPr>
      </p:pic>
      <p:sp>
        <p:nvSpPr>
          <p:cNvPr id="12" name="Text 7"/>
          <p:cNvSpPr txBox="1"/>
          <p:nvPr/>
        </p:nvSpPr>
        <p:spPr>
          <a:xfrm>
            <a:off x="1097280" y="1965960"/>
            <a:ext cx="1508760" cy="658368"/>
          </a:xfrm>
          <a:prstGeom prst="rect">
            <a:avLst/>
          </a:prstGeom>
          <a:noFill/>
          <a:ln/>
        </p:spPr>
        <p:txBody>
          <a:bodyPr wrap="square" lIns="0" tIns="0" rIns="0" bIns="0" rtlCol="0" anchor="ctr"/>
          <a:lstStyle/>
          <a:p>
            <a:pPr marL="0" indent="0">
              <a:buNone/>
            </a:pPr>
            <a:r>
              <a:rPr lang="it-IT" sz="1200" b="1" noProof="0" dirty="0">
                <a:solidFill>
                  <a:schemeClr val="tx1"/>
                </a:solidFill>
              </a:rPr>
              <a:t>Listino 2026</a:t>
            </a:r>
            <a:endParaRPr lang="it-IT" sz="1200" noProof="0" dirty="0"/>
          </a:p>
        </p:txBody>
      </p:sp>
      <p:sp>
        <p:nvSpPr>
          <p:cNvPr id="13" name="collegamento fonte"/>
          <p:cNvSpPr/>
          <p:nvPr/>
        </p:nvSpPr>
        <p:spPr>
          <a:xfrm flipV="1">
            <a:off x="2651760" y="2103120"/>
            <a:ext cx="822960" cy="192024"/>
          </a:xfrm>
          <a:prstGeom prst="line">
            <a:avLst/>
          </a:prstGeom>
          <a:noFill/>
          <a:ln w="19050">
            <a:solidFill>
              <a:schemeClr val="accent1"/>
            </a:solidFill>
            <a:prstDash val="solid"/>
          </a:ln>
        </p:spPr>
        <p:txBody>
          <a:bodyPr/>
          <a:lstStyle/>
          <a:p>
            <a:endParaRPr lang="it-IT" noProof="0" dirty="0"/>
          </a:p>
        </p:txBody>
      </p:sp>
      <p:sp>
        <p:nvSpPr>
          <p:cNvPr id="14" name="Contratto quadro"/>
          <p:cNvSpPr/>
          <p:nvPr/>
        </p:nvSpPr>
        <p:spPr>
          <a:xfrm>
            <a:off x="457200" y="2788920"/>
            <a:ext cx="2194560" cy="658368"/>
          </a:xfrm>
          <a:prstGeom prst="roundRect">
            <a:avLst>
              <a:gd name="adj" fmla="val 11111"/>
            </a:avLst>
          </a:prstGeom>
          <a:solidFill>
            <a:schemeClr val="bg2"/>
          </a:solidFill>
          <a:ln/>
        </p:spPr>
        <p:txBody>
          <a:bodyPr/>
          <a:lstStyle/>
          <a:p>
            <a:endParaRPr lang="it-IT" noProof="0" dirty="0"/>
          </a:p>
        </p:txBody>
      </p:sp>
      <p:sp>
        <p:nvSpPr>
          <p:cNvPr id="15" name="cerchio FiFileText"/>
          <p:cNvSpPr/>
          <p:nvPr/>
        </p:nvSpPr>
        <p:spPr>
          <a:xfrm>
            <a:off x="594360" y="2907792"/>
            <a:ext cx="420624" cy="420624"/>
          </a:xfrm>
          <a:prstGeom prst="ellipse">
            <a:avLst/>
          </a:prstGeom>
          <a:solidFill>
            <a:schemeClr val="accent1"/>
          </a:solidFill>
          <a:ln/>
        </p:spPr>
        <p:txBody>
          <a:bodyPr/>
          <a:lstStyle/>
          <a:p>
            <a:endParaRPr lang="it-IT" noProof="0" dirty="0"/>
          </a:p>
        </p:txBody>
      </p:sp>
      <p:pic>
        <p:nvPicPr>
          <p:cNvPr id="16" name="Image 2" descr="FiFileText"/>
          <p:cNvPicPr>
            <a:picLocks noChangeAspect="1"/>
          </p:cNvPicPr>
          <p:nvPr/>
        </p:nvPicPr>
        <p:blipFill>
          <a:blip r:embed="rId3"/>
          <a:stretch>
            <a:fillRect/>
          </a:stretch>
        </p:blipFill>
        <p:spPr>
          <a:xfrm>
            <a:off x="699516" y="3012948"/>
            <a:ext cx="210312" cy="210312"/>
          </a:xfrm>
          <a:prstGeom prst="rect">
            <a:avLst/>
          </a:prstGeom>
        </p:spPr>
      </p:pic>
      <p:sp>
        <p:nvSpPr>
          <p:cNvPr id="17" name="Text 11"/>
          <p:cNvSpPr txBox="1"/>
          <p:nvPr/>
        </p:nvSpPr>
        <p:spPr>
          <a:xfrm>
            <a:off x="1097280" y="2788920"/>
            <a:ext cx="1508760" cy="658368"/>
          </a:xfrm>
          <a:prstGeom prst="rect">
            <a:avLst/>
          </a:prstGeom>
          <a:noFill/>
          <a:ln/>
        </p:spPr>
        <p:txBody>
          <a:bodyPr wrap="square" lIns="0" tIns="0" rIns="0" bIns="0" rtlCol="0" anchor="ctr"/>
          <a:lstStyle/>
          <a:p>
            <a:pPr marL="0" indent="0">
              <a:buNone/>
            </a:pPr>
            <a:r>
              <a:rPr lang="it-IT" sz="1200" b="1" noProof="0" dirty="0">
                <a:solidFill>
                  <a:schemeClr val="tx1"/>
                </a:solidFill>
              </a:rPr>
              <a:t>Contratto quadro</a:t>
            </a:r>
            <a:endParaRPr lang="it-IT" sz="1200" noProof="0" dirty="0"/>
          </a:p>
        </p:txBody>
      </p:sp>
      <p:sp>
        <p:nvSpPr>
          <p:cNvPr id="18" name="collegamento fonte"/>
          <p:cNvSpPr/>
          <p:nvPr/>
        </p:nvSpPr>
        <p:spPr>
          <a:xfrm flipV="1">
            <a:off x="2651760" y="2103120"/>
            <a:ext cx="822960" cy="1014984"/>
          </a:xfrm>
          <a:prstGeom prst="line">
            <a:avLst/>
          </a:prstGeom>
          <a:noFill/>
          <a:ln w="19050">
            <a:solidFill>
              <a:schemeClr val="accent1"/>
            </a:solidFill>
            <a:prstDash val="solid"/>
          </a:ln>
        </p:spPr>
        <p:txBody>
          <a:bodyPr/>
          <a:lstStyle/>
          <a:p>
            <a:endParaRPr lang="it-IT" noProof="0" dirty="0"/>
          </a:p>
        </p:txBody>
      </p:sp>
      <p:sp>
        <p:nvSpPr>
          <p:cNvPr id="19" name="risposta ancorata"/>
          <p:cNvSpPr/>
          <p:nvPr/>
        </p:nvSpPr>
        <p:spPr>
          <a:xfrm>
            <a:off x="3474720" y="1645920"/>
            <a:ext cx="1920240" cy="914400"/>
          </a:xfrm>
          <a:prstGeom prst="roundRect">
            <a:avLst>
              <a:gd name="adj" fmla="val 8000"/>
            </a:avLst>
          </a:prstGeom>
          <a:solidFill>
            <a:schemeClr val="accent1"/>
          </a:solidFill>
          <a:ln/>
        </p:spPr>
        <p:txBody>
          <a:bodyPr/>
          <a:lstStyle/>
          <a:p>
            <a:endParaRPr lang="it-IT" noProof="0" dirty="0"/>
          </a:p>
        </p:txBody>
      </p:sp>
      <p:sp>
        <p:nvSpPr>
          <p:cNvPr id="20" name="Text 14"/>
          <p:cNvSpPr txBox="1"/>
          <p:nvPr/>
        </p:nvSpPr>
        <p:spPr>
          <a:xfrm>
            <a:off x="3520440" y="1645920"/>
            <a:ext cx="1828800" cy="914400"/>
          </a:xfrm>
          <a:prstGeom prst="rect">
            <a:avLst/>
          </a:prstGeom>
          <a:noFill/>
          <a:ln/>
        </p:spPr>
        <p:txBody>
          <a:bodyPr wrap="square" lIns="0" tIns="0" rIns="0" bIns="0" rtlCol="0" anchor="ctr"/>
          <a:lstStyle/>
          <a:p>
            <a:pPr marL="0" indent="0" algn="ctr">
              <a:buNone/>
            </a:pPr>
            <a:r>
              <a:rPr lang="it-IT" sz="1300" b="1" noProof="0" dirty="0">
                <a:solidFill>
                  <a:schemeClr val="bg1"/>
                </a:solidFill>
              </a:rPr>
              <a:t>Risposta ancorata alle fonti</a:t>
            </a:r>
            <a:endParaRPr lang="it-IT" sz="1300" noProof="0" dirty="0"/>
          </a:p>
        </p:txBody>
      </p:sp>
      <p:sp>
        <p:nvSpPr>
          <p:cNvPr id="21" name="Text 15"/>
          <p:cNvSpPr txBox="1"/>
          <p:nvPr/>
        </p:nvSpPr>
        <p:spPr>
          <a:xfrm>
            <a:off x="3291840" y="2606040"/>
            <a:ext cx="2286000" cy="365760"/>
          </a:xfrm>
          <a:prstGeom prst="rect">
            <a:avLst/>
          </a:prstGeom>
          <a:noFill/>
          <a:ln/>
        </p:spPr>
        <p:txBody>
          <a:bodyPr wrap="square" lIns="0" tIns="0" rIns="0" bIns="0" rtlCol="0" anchor="t"/>
          <a:lstStyle/>
          <a:p>
            <a:pPr marL="0" indent="0" algn="ctr">
              <a:buNone/>
            </a:pPr>
            <a:r>
              <a:rPr lang="it-IT" sz="1100" i="1" noProof="0" dirty="0">
                <a:solidFill>
                  <a:schemeClr val="tx2"/>
                </a:solidFill>
              </a:rPr>
              <a:t>con riferimenti verificabili [1] [2] [3]</a:t>
            </a:r>
            <a:endParaRPr lang="it-IT" sz="1100" noProof="0" dirty="0"/>
          </a:p>
        </p:txBody>
      </p:sp>
      <p:sp>
        <p:nvSpPr>
          <p:cNvPr id="22" name="Text 16"/>
          <p:cNvSpPr txBox="1"/>
          <p:nvPr/>
        </p:nvSpPr>
        <p:spPr>
          <a:xfrm>
            <a:off x="5760720" y="1097280"/>
            <a:ext cx="2926080" cy="274320"/>
          </a:xfrm>
          <a:prstGeom prst="rect">
            <a:avLst/>
          </a:prstGeom>
          <a:noFill/>
          <a:ln/>
        </p:spPr>
        <p:txBody>
          <a:bodyPr wrap="square" lIns="0" tIns="0" rIns="0" bIns="0" rtlCol="0" anchor="t"/>
          <a:lstStyle/>
          <a:p>
            <a:pPr marL="0" indent="0">
              <a:buNone/>
            </a:pPr>
            <a:r>
              <a:rPr lang="it-IT" sz="1400" b="1" noProof="0" dirty="0">
                <a:solidFill>
                  <a:schemeClr val="tx1"/>
                </a:solidFill>
              </a:rPr>
              <a:t>Benefici</a:t>
            </a:r>
            <a:endParaRPr lang="it-IT" sz="1400" noProof="0" dirty="0"/>
          </a:p>
        </p:txBody>
      </p:sp>
      <p:sp>
        <p:nvSpPr>
          <p:cNvPr id="23" name="cerchio FiTarget"/>
          <p:cNvSpPr/>
          <p:nvPr/>
        </p:nvSpPr>
        <p:spPr>
          <a:xfrm>
            <a:off x="5760720" y="1463040"/>
            <a:ext cx="411480" cy="411480"/>
          </a:xfrm>
          <a:prstGeom prst="ellipse">
            <a:avLst/>
          </a:prstGeom>
          <a:solidFill>
            <a:schemeClr val="accent1"/>
          </a:solidFill>
          <a:ln/>
        </p:spPr>
        <p:txBody>
          <a:bodyPr/>
          <a:lstStyle/>
          <a:p>
            <a:endParaRPr lang="it-IT" noProof="0" dirty="0"/>
          </a:p>
        </p:txBody>
      </p:sp>
      <p:pic>
        <p:nvPicPr>
          <p:cNvPr id="24" name="Image 3" descr="FiTarget"/>
          <p:cNvPicPr>
            <a:picLocks noChangeAspect="1"/>
          </p:cNvPicPr>
          <p:nvPr/>
        </p:nvPicPr>
        <p:blipFill>
          <a:blip r:embed="rId4"/>
          <a:stretch>
            <a:fillRect/>
          </a:stretch>
        </p:blipFill>
        <p:spPr>
          <a:xfrm>
            <a:off x="5863590" y="1565910"/>
            <a:ext cx="205740" cy="205740"/>
          </a:xfrm>
          <a:prstGeom prst="rect">
            <a:avLst/>
          </a:prstGeom>
        </p:spPr>
      </p:pic>
      <p:sp>
        <p:nvSpPr>
          <p:cNvPr id="25" name="Text 18"/>
          <p:cNvSpPr txBox="1"/>
          <p:nvPr/>
        </p:nvSpPr>
        <p:spPr>
          <a:xfrm>
            <a:off x="6309360" y="1463040"/>
            <a:ext cx="2377440" cy="411480"/>
          </a:xfrm>
          <a:prstGeom prst="rect">
            <a:avLst/>
          </a:prstGeom>
          <a:noFill/>
          <a:ln/>
        </p:spPr>
        <p:txBody>
          <a:bodyPr wrap="square" lIns="0" tIns="0" rIns="0" bIns="0" rtlCol="0" anchor="ctr"/>
          <a:lstStyle/>
          <a:p>
            <a:pPr marL="0" indent="0">
              <a:buNone/>
            </a:pPr>
            <a:r>
              <a:rPr lang="it-IT" sz="1300" noProof="0" dirty="0">
                <a:solidFill>
                  <a:schemeClr val="tx1"/>
                </a:solidFill>
              </a:rPr>
              <a:t>Più precise e pertinenti</a:t>
            </a:r>
            <a:endParaRPr lang="it-IT" sz="1300" noProof="0" dirty="0"/>
          </a:p>
        </p:txBody>
      </p:sp>
      <p:sp>
        <p:nvSpPr>
          <p:cNvPr id="26" name="cerchio FiClock"/>
          <p:cNvSpPr/>
          <p:nvPr/>
        </p:nvSpPr>
        <p:spPr>
          <a:xfrm>
            <a:off x="5760720" y="2057400"/>
            <a:ext cx="411480" cy="411480"/>
          </a:xfrm>
          <a:prstGeom prst="ellipse">
            <a:avLst/>
          </a:prstGeom>
          <a:solidFill>
            <a:schemeClr val="accent1"/>
          </a:solidFill>
          <a:ln/>
        </p:spPr>
        <p:txBody>
          <a:bodyPr/>
          <a:lstStyle/>
          <a:p>
            <a:endParaRPr lang="it-IT" noProof="0" dirty="0"/>
          </a:p>
        </p:txBody>
      </p:sp>
      <p:pic>
        <p:nvPicPr>
          <p:cNvPr id="27" name="Image 4" descr="FiClock"/>
          <p:cNvPicPr>
            <a:picLocks noChangeAspect="1"/>
          </p:cNvPicPr>
          <p:nvPr/>
        </p:nvPicPr>
        <p:blipFill>
          <a:blip r:embed="rId5"/>
          <a:stretch>
            <a:fillRect/>
          </a:stretch>
        </p:blipFill>
        <p:spPr>
          <a:xfrm>
            <a:off x="5863590" y="2160270"/>
            <a:ext cx="205740" cy="205740"/>
          </a:xfrm>
          <a:prstGeom prst="rect">
            <a:avLst/>
          </a:prstGeom>
        </p:spPr>
      </p:pic>
      <p:sp>
        <p:nvSpPr>
          <p:cNvPr id="28" name="Text 20"/>
          <p:cNvSpPr txBox="1"/>
          <p:nvPr/>
        </p:nvSpPr>
        <p:spPr>
          <a:xfrm>
            <a:off x="6309360" y="2057400"/>
            <a:ext cx="2377440" cy="411480"/>
          </a:xfrm>
          <a:prstGeom prst="rect">
            <a:avLst/>
          </a:prstGeom>
          <a:noFill/>
          <a:ln/>
        </p:spPr>
        <p:txBody>
          <a:bodyPr wrap="square" lIns="0" tIns="0" rIns="0" bIns="0" rtlCol="0" anchor="ctr"/>
          <a:lstStyle/>
          <a:p>
            <a:pPr marL="0" indent="0">
              <a:buNone/>
            </a:pPr>
            <a:r>
              <a:rPr lang="it-IT" sz="1300" noProof="0" dirty="0">
                <a:solidFill>
                  <a:schemeClr val="tx1"/>
                </a:solidFill>
              </a:rPr>
              <a:t>Più aggiornate del modello</a:t>
            </a:r>
            <a:endParaRPr lang="it-IT" sz="1300" noProof="0" dirty="0"/>
          </a:p>
        </p:txBody>
      </p:sp>
      <p:sp>
        <p:nvSpPr>
          <p:cNvPr id="29" name="cerchio FiCheckSquare"/>
          <p:cNvSpPr/>
          <p:nvPr/>
        </p:nvSpPr>
        <p:spPr>
          <a:xfrm>
            <a:off x="5760720" y="2651760"/>
            <a:ext cx="411480" cy="411480"/>
          </a:xfrm>
          <a:prstGeom prst="ellipse">
            <a:avLst/>
          </a:prstGeom>
          <a:solidFill>
            <a:schemeClr val="accent1"/>
          </a:solidFill>
          <a:ln/>
        </p:spPr>
        <p:txBody>
          <a:bodyPr/>
          <a:lstStyle/>
          <a:p>
            <a:endParaRPr lang="it-IT" noProof="0" dirty="0"/>
          </a:p>
        </p:txBody>
      </p:sp>
      <p:pic>
        <p:nvPicPr>
          <p:cNvPr id="30" name="Image 5" descr="FiCheckSquare"/>
          <p:cNvPicPr>
            <a:picLocks noChangeAspect="1"/>
          </p:cNvPicPr>
          <p:nvPr/>
        </p:nvPicPr>
        <p:blipFill>
          <a:blip r:embed="rId6"/>
          <a:stretch>
            <a:fillRect/>
          </a:stretch>
        </p:blipFill>
        <p:spPr>
          <a:xfrm>
            <a:off x="5863590" y="2754630"/>
            <a:ext cx="205740" cy="205740"/>
          </a:xfrm>
          <a:prstGeom prst="rect">
            <a:avLst/>
          </a:prstGeom>
        </p:spPr>
      </p:pic>
      <p:sp>
        <p:nvSpPr>
          <p:cNvPr id="31" name="Text 22"/>
          <p:cNvSpPr txBox="1"/>
          <p:nvPr/>
        </p:nvSpPr>
        <p:spPr>
          <a:xfrm>
            <a:off x="6309360" y="2651760"/>
            <a:ext cx="2377440" cy="411480"/>
          </a:xfrm>
          <a:prstGeom prst="rect">
            <a:avLst/>
          </a:prstGeom>
          <a:noFill/>
          <a:ln/>
        </p:spPr>
        <p:txBody>
          <a:bodyPr wrap="square" lIns="0" tIns="0" rIns="0" bIns="0" rtlCol="0" anchor="ctr"/>
          <a:lstStyle/>
          <a:p>
            <a:pPr marL="0" indent="0">
              <a:buNone/>
            </a:pPr>
            <a:r>
              <a:rPr lang="it-IT" sz="1300" noProof="0" dirty="0">
                <a:solidFill>
                  <a:schemeClr val="tx1"/>
                </a:solidFill>
              </a:rPr>
              <a:t>Verificabili tramite le fonti</a:t>
            </a:r>
            <a:endParaRPr lang="it-IT" sz="1300" noProof="0" dirty="0"/>
          </a:p>
        </p:txBody>
      </p:sp>
      <p:sp>
        <p:nvSpPr>
          <p:cNvPr id="32" name="limite grounding"/>
          <p:cNvSpPr/>
          <p:nvPr/>
        </p:nvSpPr>
        <p:spPr>
          <a:xfrm>
            <a:off x="457200" y="3703320"/>
            <a:ext cx="8229600" cy="822960"/>
          </a:xfrm>
          <a:prstGeom prst="roundRect">
            <a:avLst>
              <a:gd name="adj" fmla="val 8889"/>
            </a:avLst>
          </a:prstGeom>
          <a:solidFill>
            <a:schemeClr val="tx1"/>
          </a:solidFill>
          <a:ln/>
        </p:spPr>
        <p:txBody>
          <a:bodyPr/>
          <a:lstStyle/>
          <a:p>
            <a:endParaRPr lang="it-IT" noProof="0" dirty="0"/>
          </a:p>
        </p:txBody>
      </p:sp>
      <p:sp>
        <p:nvSpPr>
          <p:cNvPr id="33" name="cerchio FiAlertTriangle"/>
          <p:cNvSpPr/>
          <p:nvPr/>
        </p:nvSpPr>
        <p:spPr>
          <a:xfrm>
            <a:off x="640080" y="3858768"/>
            <a:ext cx="512064" cy="512064"/>
          </a:xfrm>
          <a:prstGeom prst="ellipse">
            <a:avLst/>
          </a:prstGeom>
          <a:solidFill>
            <a:schemeClr val="accent5"/>
          </a:solidFill>
          <a:ln/>
        </p:spPr>
        <p:txBody>
          <a:bodyPr/>
          <a:lstStyle/>
          <a:p>
            <a:endParaRPr lang="it-IT" noProof="0" dirty="0"/>
          </a:p>
        </p:txBody>
      </p:sp>
      <p:pic>
        <p:nvPicPr>
          <p:cNvPr id="34" name="Image 6" descr="FiAlertTriangle"/>
          <p:cNvPicPr>
            <a:picLocks noChangeAspect="1"/>
          </p:cNvPicPr>
          <p:nvPr/>
        </p:nvPicPr>
        <p:blipFill>
          <a:blip r:embed="rId7"/>
          <a:stretch>
            <a:fillRect/>
          </a:stretch>
        </p:blipFill>
        <p:spPr>
          <a:xfrm>
            <a:off x="768096" y="3986784"/>
            <a:ext cx="256032" cy="256032"/>
          </a:xfrm>
          <a:prstGeom prst="rect">
            <a:avLst/>
          </a:prstGeom>
        </p:spPr>
      </p:pic>
      <p:sp>
        <p:nvSpPr>
          <p:cNvPr id="35" name="Text 25"/>
          <p:cNvSpPr txBox="1"/>
          <p:nvPr/>
        </p:nvSpPr>
        <p:spPr>
          <a:xfrm>
            <a:off x="1325880" y="3703320"/>
            <a:ext cx="7223760" cy="822960"/>
          </a:xfrm>
          <a:prstGeom prst="rect">
            <a:avLst/>
          </a:prstGeom>
          <a:noFill/>
          <a:ln/>
        </p:spPr>
        <p:txBody>
          <a:bodyPr wrap="square" lIns="0" tIns="0" rIns="0" bIns="0" rtlCol="0" anchor="ctr"/>
          <a:lstStyle/>
          <a:p>
            <a:pPr marL="0" indent="0">
              <a:buNone/>
            </a:pPr>
            <a:r>
              <a:rPr lang="it-IT" sz="1300" noProof="0" dirty="0">
                <a:solidFill>
                  <a:schemeClr val="bg1"/>
                </a:solidFill>
              </a:rPr>
              <a:t>L'utilizzo di fonti pertinenti e verificabili può migliorare precisione, aggiornamento e tracciabilità delle risposte. La qualità delle fonti e la correttezza del loro utilizzo restano elementi da verificare.</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52</a:t>
            </a:fld>
            <a:endParaRPr lang="it-IT" noProof="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Introduzione alla </a:t>
            </a:r>
            <a:r>
              <a:rPr lang="it-IT" sz="2600" b="1" noProof="0" dirty="0" err="1">
                <a:solidFill>
                  <a:schemeClr val="tx1"/>
                </a:solidFill>
              </a:rPr>
              <a:t>Retrieval-Augmented</a:t>
            </a:r>
            <a:r>
              <a:rPr lang="it-IT" sz="2600" b="1" noProof="0" dirty="0">
                <a:solidFill>
                  <a:schemeClr val="tx1"/>
                </a:solidFill>
              </a:rPr>
              <a:t> Generation</a:t>
            </a:r>
            <a:endParaRPr lang="it-IT" sz="2600" noProof="0" dirty="0"/>
          </a:p>
        </p:txBody>
      </p:sp>
      <p:sp>
        <p:nvSpPr>
          <p:cNvPr id="4" name="Domanda"/>
          <p:cNvSpPr/>
          <p:nvPr/>
        </p:nvSpPr>
        <p:spPr>
          <a:xfrm>
            <a:off x="457200" y="1143000"/>
            <a:ext cx="1874520" cy="1783080"/>
          </a:xfrm>
          <a:prstGeom prst="roundRect">
            <a:avLst>
              <a:gd name="adj" fmla="val 4103"/>
            </a:avLst>
          </a:prstGeom>
          <a:solidFill>
            <a:schemeClr val="bg2"/>
          </a:solidFill>
          <a:ln/>
        </p:spPr>
        <p:txBody>
          <a:bodyPr/>
          <a:lstStyle/>
          <a:p>
            <a:endParaRPr lang="it-IT" noProof="0" dirty="0"/>
          </a:p>
        </p:txBody>
      </p:sp>
      <p:sp>
        <p:nvSpPr>
          <p:cNvPr id="5" name="cerchio FiHelpCircle"/>
          <p:cNvSpPr/>
          <p:nvPr/>
        </p:nvSpPr>
        <p:spPr>
          <a:xfrm>
            <a:off x="1115568" y="1280160"/>
            <a:ext cx="548640" cy="548640"/>
          </a:xfrm>
          <a:prstGeom prst="ellipse">
            <a:avLst/>
          </a:prstGeom>
          <a:solidFill>
            <a:schemeClr val="accent1"/>
          </a:solidFill>
          <a:ln/>
        </p:spPr>
        <p:txBody>
          <a:bodyPr/>
          <a:lstStyle/>
          <a:p>
            <a:endParaRPr lang="it-IT" noProof="0" dirty="0"/>
          </a:p>
        </p:txBody>
      </p:sp>
      <p:pic>
        <p:nvPicPr>
          <p:cNvPr id="6" name="Image 0" descr="FiHelpCircle"/>
          <p:cNvPicPr>
            <a:picLocks noChangeAspect="1"/>
          </p:cNvPicPr>
          <p:nvPr/>
        </p:nvPicPr>
        <p:blipFill>
          <a:blip r:embed="rId3"/>
          <a:stretch>
            <a:fillRect/>
          </a:stretch>
        </p:blipFill>
        <p:spPr>
          <a:xfrm>
            <a:off x="1252728" y="1417320"/>
            <a:ext cx="274320" cy="274320"/>
          </a:xfrm>
          <a:prstGeom prst="rect">
            <a:avLst/>
          </a:prstGeom>
        </p:spPr>
      </p:pic>
      <p:sp>
        <p:nvSpPr>
          <p:cNvPr id="7" name="Text 3"/>
          <p:cNvSpPr txBox="1"/>
          <p:nvPr/>
        </p:nvSpPr>
        <p:spPr>
          <a:xfrm>
            <a:off x="548640" y="1901952"/>
            <a:ext cx="169164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1. Domanda</a:t>
            </a:r>
            <a:endParaRPr lang="it-IT" sz="1500" noProof="0" dirty="0"/>
          </a:p>
        </p:txBody>
      </p:sp>
      <p:sp>
        <p:nvSpPr>
          <p:cNvPr id="8" name="Text 4"/>
          <p:cNvSpPr txBox="1"/>
          <p:nvPr/>
        </p:nvSpPr>
        <p:spPr>
          <a:xfrm>
            <a:off x="594360" y="2267712"/>
            <a:ext cx="1600200" cy="594360"/>
          </a:xfrm>
          <a:prstGeom prst="rect">
            <a:avLst/>
          </a:prstGeom>
          <a:noFill/>
          <a:ln/>
        </p:spPr>
        <p:txBody>
          <a:bodyPr wrap="square" lIns="0" tIns="0" rIns="0" bIns="0" rtlCol="0" anchor="t"/>
          <a:lstStyle/>
          <a:p>
            <a:pPr marL="0" indent="0" algn="ctr">
              <a:buNone/>
            </a:pPr>
            <a:r>
              <a:rPr lang="it-IT" sz="1200" noProof="0" dirty="0">
                <a:solidFill>
                  <a:schemeClr val="tx2"/>
                </a:solidFill>
              </a:rPr>
              <a:t>L'utente chiede</a:t>
            </a:r>
            <a:endParaRPr lang="it-IT" sz="1200" noProof="0" dirty="0"/>
          </a:p>
        </p:txBody>
      </p:sp>
      <p:sp>
        <p:nvSpPr>
          <p:cNvPr id="9" name="freccia"/>
          <p:cNvSpPr/>
          <p:nvPr/>
        </p:nvSpPr>
        <p:spPr>
          <a:xfrm>
            <a:off x="2350008" y="1901952"/>
            <a:ext cx="219456" cy="292608"/>
          </a:xfrm>
          <a:prstGeom prst="rightArrow">
            <a:avLst/>
          </a:prstGeom>
          <a:solidFill>
            <a:schemeClr val="accent2"/>
          </a:solidFill>
          <a:ln/>
        </p:spPr>
        <p:txBody>
          <a:bodyPr/>
          <a:lstStyle/>
          <a:p>
            <a:endParaRPr lang="it-IT" noProof="0" dirty="0"/>
          </a:p>
        </p:txBody>
      </p:sp>
      <p:sp>
        <p:nvSpPr>
          <p:cNvPr id="10" name="Recupero"/>
          <p:cNvSpPr/>
          <p:nvPr/>
        </p:nvSpPr>
        <p:spPr>
          <a:xfrm>
            <a:off x="2587752" y="1143000"/>
            <a:ext cx="1874520" cy="1783080"/>
          </a:xfrm>
          <a:prstGeom prst="roundRect">
            <a:avLst>
              <a:gd name="adj" fmla="val 4103"/>
            </a:avLst>
          </a:prstGeom>
          <a:solidFill>
            <a:schemeClr val="bg2"/>
          </a:solidFill>
          <a:ln/>
        </p:spPr>
        <p:txBody>
          <a:bodyPr/>
          <a:lstStyle/>
          <a:p>
            <a:endParaRPr lang="it-IT" noProof="0" dirty="0"/>
          </a:p>
        </p:txBody>
      </p:sp>
      <p:sp>
        <p:nvSpPr>
          <p:cNvPr id="11" name="cerchio FiSearch"/>
          <p:cNvSpPr/>
          <p:nvPr/>
        </p:nvSpPr>
        <p:spPr>
          <a:xfrm>
            <a:off x="3246120" y="1280160"/>
            <a:ext cx="548640" cy="548640"/>
          </a:xfrm>
          <a:prstGeom prst="ellipse">
            <a:avLst/>
          </a:prstGeom>
          <a:solidFill>
            <a:schemeClr val="accent1"/>
          </a:solidFill>
          <a:ln/>
        </p:spPr>
        <p:txBody>
          <a:bodyPr/>
          <a:lstStyle/>
          <a:p>
            <a:endParaRPr lang="it-IT" noProof="0" dirty="0"/>
          </a:p>
        </p:txBody>
      </p:sp>
      <p:pic>
        <p:nvPicPr>
          <p:cNvPr id="12" name="Image 1" descr="FiSearch"/>
          <p:cNvPicPr>
            <a:picLocks noChangeAspect="1"/>
          </p:cNvPicPr>
          <p:nvPr/>
        </p:nvPicPr>
        <p:blipFill>
          <a:blip r:embed="rId4"/>
          <a:stretch>
            <a:fillRect/>
          </a:stretch>
        </p:blipFill>
        <p:spPr>
          <a:xfrm>
            <a:off x="3383280" y="1417320"/>
            <a:ext cx="274320" cy="274320"/>
          </a:xfrm>
          <a:prstGeom prst="rect">
            <a:avLst/>
          </a:prstGeom>
        </p:spPr>
      </p:pic>
      <p:sp>
        <p:nvSpPr>
          <p:cNvPr id="13" name="Text 8"/>
          <p:cNvSpPr txBox="1"/>
          <p:nvPr/>
        </p:nvSpPr>
        <p:spPr>
          <a:xfrm>
            <a:off x="2679192" y="1901952"/>
            <a:ext cx="169164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2. Recupero</a:t>
            </a:r>
            <a:endParaRPr lang="it-IT" sz="1500" noProof="0" dirty="0"/>
          </a:p>
        </p:txBody>
      </p:sp>
      <p:sp>
        <p:nvSpPr>
          <p:cNvPr id="14" name="Text 9"/>
          <p:cNvSpPr txBox="1"/>
          <p:nvPr/>
        </p:nvSpPr>
        <p:spPr>
          <a:xfrm>
            <a:off x="2724912" y="2267712"/>
            <a:ext cx="1600200" cy="594360"/>
          </a:xfrm>
          <a:prstGeom prst="rect">
            <a:avLst/>
          </a:prstGeom>
          <a:noFill/>
          <a:ln/>
        </p:spPr>
        <p:txBody>
          <a:bodyPr wrap="square" lIns="0" tIns="0" rIns="0" bIns="0" rtlCol="0" anchor="t"/>
          <a:lstStyle/>
          <a:p>
            <a:pPr marL="0" indent="0" algn="ctr">
              <a:buNone/>
            </a:pPr>
            <a:r>
              <a:rPr lang="it-IT" sz="1200" noProof="0" dirty="0">
                <a:solidFill>
                  <a:schemeClr val="tx2"/>
                </a:solidFill>
              </a:rPr>
              <a:t>Si cercano i passaggi pertinenti</a:t>
            </a:r>
            <a:endParaRPr lang="it-IT" sz="1200" noProof="0" dirty="0"/>
          </a:p>
        </p:txBody>
      </p:sp>
      <p:sp>
        <p:nvSpPr>
          <p:cNvPr id="15" name="freccia"/>
          <p:cNvSpPr/>
          <p:nvPr/>
        </p:nvSpPr>
        <p:spPr>
          <a:xfrm>
            <a:off x="4480560" y="1901952"/>
            <a:ext cx="219456" cy="292608"/>
          </a:xfrm>
          <a:prstGeom prst="rightArrow">
            <a:avLst/>
          </a:prstGeom>
          <a:solidFill>
            <a:schemeClr val="accent2"/>
          </a:solidFill>
          <a:ln/>
        </p:spPr>
        <p:txBody>
          <a:bodyPr/>
          <a:lstStyle/>
          <a:p>
            <a:endParaRPr lang="it-IT" noProof="0" dirty="0"/>
          </a:p>
        </p:txBody>
      </p:sp>
      <p:sp>
        <p:nvSpPr>
          <p:cNvPr id="16" name="Aumento"/>
          <p:cNvSpPr/>
          <p:nvPr/>
        </p:nvSpPr>
        <p:spPr>
          <a:xfrm>
            <a:off x="4718304" y="1143000"/>
            <a:ext cx="1874520" cy="1783080"/>
          </a:xfrm>
          <a:prstGeom prst="roundRect">
            <a:avLst>
              <a:gd name="adj" fmla="val 4103"/>
            </a:avLst>
          </a:prstGeom>
          <a:solidFill>
            <a:schemeClr val="bg2"/>
          </a:solidFill>
          <a:ln/>
        </p:spPr>
        <p:txBody>
          <a:bodyPr/>
          <a:lstStyle/>
          <a:p>
            <a:endParaRPr lang="it-IT" noProof="0" dirty="0"/>
          </a:p>
        </p:txBody>
      </p:sp>
      <p:sp>
        <p:nvSpPr>
          <p:cNvPr id="17" name="cerchio FiPlusSquare"/>
          <p:cNvSpPr/>
          <p:nvPr/>
        </p:nvSpPr>
        <p:spPr>
          <a:xfrm>
            <a:off x="5376672" y="1280160"/>
            <a:ext cx="548640" cy="548640"/>
          </a:xfrm>
          <a:prstGeom prst="ellipse">
            <a:avLst/>
          </a:prstGeom>
          <a:solidFill>
            <a:schemeClr val="accent1"/>
          </a:solidFill>
          <a:ln/>
        </p:spPr>
        <p:txBody>
          <a:bodyPr/>
          <a:lstStyle/>
          <a:p>
            <a:endParaRPr lang="it-IT" noProof="0" dirty="0"/>
          </a:p>
        </p:txBody>
      </p:sp>
      <p:pic>
        <p:nvPicPr>
          <p:cNvPr id="18" name="Image 2" descr="FiPlusSquare"/>
          <p:cNvPicPr>
            <a:picLocks noChangeAspect="1"/>
          </p:cNvPicPr>
          <p:nvPr/>
        </p:nvPicPr>
        <p:blipFill>
          <a:blip r:embed="rId5"/>
          <a:stretch>
            <a:fillRect/>
          </a:stretch>
        </p:blipFill>
        <p:spPr>
          <a:xfrm>
            <a:off x="5513832" y="1417320"/>
            <a:ext cx="274320" cy="274320"/>
          </a:xfrm>
          <a:prstGeom prst="rect">
            <a:avLst/>
          </a:prstGeom>
        </p:spPr>
      </p:pic>
      <p:sp>
        <p:nvSpPr>
          <p:cNvPr id="19" name="Text 13"/>
          <p:cNvSpPr txBox="1"/>
          <p:nvPr/>
        </p:nvSpPr>
        <p:spPr>
          <a:xfrm>
            <a:off x="4809744" y="1901952"/>
            <a:ext cx="169164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3. Aumento</a:t>
            </a:r>
            <a:endParaRPr lang="it-IT" sz="1500" noProof="0" dirty="0"/>
          </a:p>
        </p:txBody>
      </p:sp>
      <p:sp>
        <p:nvSpPr>
          <p:cNvPr id="20" name="Text 14"/>
          <p:cNvSpPr txBox="1"/>
          <p:nvPr/>
        </p:nvSpPr>
        <p:spPr>
          <a:xfrm>
            <a:off x="4855464" y="2267712"/>
            <a:ext cx="1600200" cy="594360"/>
          </a:xfrm>
          <a:prstGeom prst="rect">
            <a:avLst/>
          </a:prstGeom>
          <a:noFill/>
          <a:ln/>
        </p:spPr>
        <p:txBody>
          <a:bodyPr wrap="square" lIns="0" tIns="0" rIns="0" bIns="0" rtlCol="0" anchor="t"/>
          <a:lstStyle/>
          <a:p>
            <a:pPr marL="0" indent="0" algn="ctr">
              <a:buNone/>
            </a:pPr>
            <a:r>
              <a:rPr lang="it-IT" sz="1200" noProof="0" dirty="0">
                <a:solidFill>
                  <a:schemeClr val="tx2"/>
                </a:solidFill>
              </a:rPr>
              <a:t>I passaggi entrano nel contesto</a:t>
            </a:r>
            <a:endParaRPr lang="it-IT" sz="1200" noProof="0" dirty="0"/>
          </a:p>
        </p:txBody>
      </p:sp>
      <p:sp>
        <p:nvSpPr>
          <p:cNvPr id="21" name="freccia"/>
          <p:cNvSpPr/>
          <p:nvPr/>
        </p:nvSpPr>
        <p:spPr>
          <a:xfrm>
            <a:off x="6611112" y="1901952"/>
            <a:ext cx="219456" cy="292608"/>
          </a:xfrm>
          <a:prstGeom prst="rightArrow">
            <a:avLst/>
          </a:prstGeom>
          <a:solidFill>
            <a:schemeClr val="accent2"/>
          </a:solidFill>
          <a:ln/>
        </p:spPr>
        <p:txBody>
          <a:bodyPr/>
          <a:lstStyle/>
          <a:p>
            <a:endParaRPr lang="it-IT" noProof="0" dirty="0"/>
          </a:p>
        </p:txBody>
      </p:sp>
      <p:sp>
        <p:nvSpPr>
          <p:cNvPr id="22" name="Generazione"/>
          <p:cNvSpPr/>
          <p:nvPr/>
        </p:nvSpPr>
        <p:spPr>
          <a:xfrm>
            <a:off x="6848856" y="1143000"/>
            <a:ext cx="1874520" cy="1783080"/>
          </a:xfrm>
          <a:prstGeom prst="roundRect">
            <a:avLst>
              <a:gd name="adj" fmla="val 4103"/>
            </a:avLst>
          </a:prstGeom>
          <a:solidFill>
            <a:schemeClr val="accent6"/>
          </a:solidFill>
          <a:ln/>
        </p:spPr>
        <p:txBody>
          <a:bodyPr/>
          <a:lstStyle/>
          <a:p>
            <a:endParaRPr lang="it-IT" noProof="0" dirty="0"/>
          </a:p>
        </p:txBody>
      </p:sp>
      <p:sp>
        <p:nvSpPr>
          <p:cNvPr id="23" name="cerchio FiMessageSquare"/>
          <p:cNvSpPr/>
          <p:nvPr/>
        </p:nvSpPr>
        <p:spPr>
          <a:xfrm>
            <a:off x="7507224" y="1280160"/>
            <a:ext cx="548640" cy="548640"/>
          </a:xfrm>
          <a:prstGeom prst="ellipse">
            <a:avLst/>
          </a:prstGeom>
          <a:solidFill>
            <a:schemeClr val="accent1"/>
          </a:solidFill>
          <a:ln/>
        </p:spPr>
        <p:txBody>
          <a:bodyPr/>
          <a:lstStyle/>
          <a:p>
            <a:endParaRPr lang="it-IT" noProof="0" dirty="0"/>
          </a:p>
        </p:txBody>
      </p:sp>
      <p:pic>
        <p:nvPicPr>
          <p:cNvPr id="24" name="Image 3" descr="FiMessageSquare"/>
          <p:cNvPicPr>
            <a:picLocks noChangeAspect="1"/>
          </p:cNvPicPr>
          <p:nvPr/>
        </p:nvPicPr>
        <p:blipFill>
          <a:blip r:embed="rId6"/>
          <a:stretch>
            <a:fillRect/>
          </a:stretch>
        </p:blipFill>
        <p:spPr>
          <a:xfrm>
            <a:off x="7644384" y="1417320"/>
            <a:ext cx="274320" cy="274320"/>
          </a:xfrm>
          <a:prstGeom prst="rect">
            <a:avLst/>
          </a:prstGeom>
        </p:spPr>
      </p:pic>
      <p:sp>
        <p:nvSpPr>
          <p:cNvPr id="25" name="Text 18"/>
          <p:cNvSpPr txBox="1"/>
          <p:nvPr/>
        </p:nvSpPr>
        <p:spPr>
          <a:xfrm>
            <a:off x="6940296" y="1901952"/>
            <a:ext cx="169164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4. Generazione</a:t>
            </a:r>
            <a:endParaRPr lang="it-IT" sz="1500" noProof="0" dirty="0"/>
          </a:p>
        </p:txBody>
      </p:sp>
      <p:sp>
        <p:nvSpPr>
          <p:cNvPr id="26" name="Text 19"/>
          <p:cNvSpPr txBox="1"/>
          <p:nvPr/>
        </p:nvSpPr>
        <p:spPr>
          <a:xfrm>
            <a:off x="6986016" y="2267712"/>
            <a:ext cx="1600200" cy="594360"/>
          </a:xfrm>
          <a:prstGeom prst="rect">
            <a:avLst/>
          </a:prstGeom>
          <a:noFill/>
          <a:ln/>
        </p:spPr>
        <p:txBody>
          <a:bodyPr wrap="square" lIns="0" tIns="0" rIns="0" bIns="0" rtlCol="0" anchor="t"/>
          <a:lstStyle/>
          <a:p>
            <a:pPr marL="0" indent="0" algn="ctr">
              <a:buNone/>
            </a:pPr>
            <a:r>
              <a:rPr lang="it-IT" sz="1200" noProof="0" dirty="0">
                <a:solidFill>
                  <a:schemeClr val="tx2"/>
                </a:solidFill>
              </a:rPr>
              <a:t>Il modello risponde citando le fonti</a:t>
            </a:r>
            <a:endParaRPr lang="it-IT" sz="1200" noProof="0" dirty="0"/>
          </a:p>
        </p:txBody>
      </p:sp>
      <p:sp>
        <p:nvSpPr>
          <p:cNvPr id="27" name="base documentale"/>
          <p:cNvSpPr/>
          <p:nvPr/>
        </p:nvSpPr>
        <p:spPr>
          <a:xfrm>
            <a:off x="2587752" y="3108960"/>
            <a:ext cx="1874520" cy="685800"/>
          </a:xfrm>
          <a:prstGeom prst="roundRect">
            <a:avLst>
              <a:gd name="adj" fmla="val 10667"/>
            </a:avLst>
          </a:prstGeom>
          <a:solidFill>
            <a:schemeClr val="tx1"/>
          </a:solidFill>
          <a:ln/>
        </p:spPr>
        <p:txBody>
          <a:bodyPr/>
          <a:lstStyle/>
          <a:p>
            <a:endParaRPr lang="it-IT" noProof="0" dirty="0"/>
          </a:p>
        </p:txBody>
      </p:sp>
      <p:sp>
        <p:nvSpPr>
          <p:cNvPr id="28" name="Text 21"/>
          <p:cNvSpPr txBox="1"/>
          <p:nvPr/>
        </p:nvSpPr>
        <p:spPr>
          <a:xfrm>
            <a:off x="2606040" y="3108960"/>
            <a:ext cx="1828800" cy="685800"/>
          </a:xfrm>
          <a:prstGeom prst="rect">
            <a:avLst/>
          </a:prstGeom>
          <a:noFill/>
          <a:ln/>
        </p:spPr>
        <p:txBody>
          <a:bodyPr wrap="square" lIns="0" tIns="0" rIns="0" bIns="0" rtlCol="0" anchor="ctr"/>
          <a:lstStyle/>
          <a:p>
            <a:pPr marL="0" indent="0" algn="ctr">
              <a:buNone/>
            </a:pPr>
            <a:r>
              <a:rPr lang="it-IT" sz="1300" b="1" noProof="0" dirty="0">
                <a:solidFill>
                  <a:schemeClr val="bg1"/>
                </a:solidFill>
              </a:rPr>
              <a:t>Base documentale</a:t>
            </a:r>
            <a:endParaRPr lang="it-IT" sz="1300" noProof="0" dirty="0"/>
          </a:p>
        </p:txBody>
      </p:sp>
      <p:sp>
        <p:nvSpPr>
          <p:cNvPr id="29" name="freccia su"/>
          <p:cNvSpPr/>
          <p:nvPr/>
        </p:nvSpPr>
        <p:spPr>
          <a:xfrm>
            <a:off x="3383280" y="2926080"/>
            <a:ext cx="320040" cy="182880"/>
          </a:xfrm>
          <a:prstGeom prst="upArrow">
            <a:avLst/>
          </a:prstGeom>
          <a:solidFill>
            <a:schemeClr val="accent2"/>
          </a:solidFill>
          <a:ln/>
        </p:spPr>
        <p:txBody>
          <a:bodyPr/>
          <a:lstStyle/>
          <a:p>
            <a:endParaRPr lang="it-IT" noProof="0" dirty="0"/>
          </a:p>
        </p:txBody>
      </p:sp>
      <p:sp>
        <p:nvSpPr>
          <p:cNvPr id="30" name="blocco Il modello non viene riaddestrato"/>
          <p:cNvSpPr/>
          <p:nvPr/>
        </p:nvSpPr>
        <p:spPr>
          <a:xfrm>
            <a:off x="457200" y="3977640"/>
            <a:ext cx="2615184" cy="548640"/>
          </a:xfrm>
          <a:prstGeom prst="roundRect">
            <a:avLst>
              <a:gd name="adj" fmla="val 20000"/>
            </a:avLst>
          </a:prstGeom>
          <a:solidFill>
            <a:schemeClr val="accent6"/>
          </a:solidFill>
          <a:ln/>
        </p:spPr>
        <p:txBody>
          <a:bodyPr/>
          <a:lstStyle/>
          <a:p>
            <a:endParaRPr lang="it-IT" noProof="0" dirty="0"/>
          </a:p>
        </p:txBody>
      </p:sp>
      <p:sp>
        <p:nvSpPr>
          <p:cNvPr id="31" name="Text 24"/>
          <p:cNvSpPr txBox="1"/>
          <p:nvPr/>
        </p:nvSpPr>
        <p:spPr>
          <a:xfrm>
            <a:off x="502920" y="3977640"/>
            <a:ext cx="2523744" cy="548640"/>
          </a:xfrm>
          <a:prstGeom prst="rect">
            <a:avLst/>
          </a:prstGeom>
          <a:noFill/>
          <a:ln/>
        </p:spPr>
        <p:txBody>
          <a:bodyPr wrap="square" lIns="0" tIns="0" rIns="0" bIns="0" rtlCol="0" anchor="ctr"/>
          <a:lstStyle/>
          <a:p>
            <a:pPr marL="0" indent="0" algn="ctr">
              <a:buNone/>
            </a:pPr>
            <a:r>
              <a:rPr lang="it-IT" sz="1200" b="1" noProof="0" dirty="0">
                <a:solidFill>
                  <a:schemeClr val="tx1"/>
                </a:solidFill>
              </a:rPr>
              <a:t>Il modello non viene riaddestrato</a:t>
            </a:r>
            <a:endParaRPr lang="it-IT" sz="1200" noProof="0" dirty="0"/>
          </a:p>
        </p:txBody>
      </p:sp>
      <p:sp>
        <p:nvSpPr>
          <p:cNvPr id="32" name="blocco I documenti si aggiornano in qualsiasi momento"/>
          <p:cNvSpPr/>
          <p:nvPr/>
        </p:nvSpPr>
        <p:spPr>
          <a:xfrm>
            <a:off x="3264408" y="3977640"/>
            <a:ext cx="2615184" cy="548640"/>
          </a:xfrm>
          <a:prstGeom prst="roundRect">
            <a:avLst>
              <a:gd name="adj" fmla="val 20000"/>
            </a:avLst>
          </a:prstGeom>
          <a:solidFill>
            <a:schemeClr val="accent6"/>
          </a:solidFill>
          <a:ln/>
        </p:spPr>
        <p:txBody>
          <a:bodyPr/>
          <a:lstStyle/>
          <a:p>
            <a:endParaRPr lang="it-IT" noProof="0" dirty="0"/>
          </a:p>
        </p:txBody>
      </p:sp>
      <p:sp>
        <p:nvSpPr>
          <p:cNvPr id="33" name="Text 26"/>
          <p:cNvSpPr txBox="1"/>
          <p:nvPr/>
        </p:nvSpPr>
        <p:spPr>
          <a:xfrm>
            <a:off x="3310128" y="3977640"/>
            <a:ext cx="2523744" cy="548640"/>
          </a:xfrm>
          <a:prstGeom prst="rect">
            <a:avLst/>
          </a:prstGeom>
          <a:noFill/>
          <a:ln/>
        </p:spPr>
        <p:txBody>
          <a:bodyPr wrap="square" lIns="0" tIns="0" rIns="0" bIns="0" rtlCol="0" anchor="ctr"/>
          <a:lstStyle/>
          <a:p>
            <a:pPr marL="0" indent="0" algn="ctr">
              <a:buNone/>
            </a:pPr>
            <a:r>
              <a:rPr lang="it-IT" sz="1200" b="1" noProof="0" dirty="0">
                <a:solidFill>
                  <a:schemeClr val="tx1"/>
                </a:solidFill>
              </a:rPr>
              <a:t>I documenti si aggiornano in qualsiasi momento</a:t>
            </a:r>
            <a:endParaRPr lang="it-IT" sz="1200" noProof="0" dirty="0"/>
          </a:p>
        </p:txBody>
      </p:sp>
      <p:sp>
        <p:nvSpPr>
          <p:cNvPr id="34" name="blocco L'accesso può seguire i permessi degli utenti"/>
          <p:cNvSpPr/>
          <p:nvPr/>
        </p:nvSpPr>
        <p:spPr>
          <a:xfrm>
            <a:off x="6071616" y="3977640"/>
            <a:ext cx="2615184" cy="548640"/>
          </a:xfrm>
          <a:prstGeom prst="roundRect">
            <a:avLst>
              <a:gd name="adj" fmla="val 20000"/>
            </a:avLst>
          </a:prstGeom>
          <a:solidFill>
            <a:schemeClr val="accent6"/>
          </a:solidFill>
          <a:ln/>
        </p:spPr>
        <p:txBody>
          <a:bodyPr/>
          <a:lstStyle/>
          <a:p>
            <a:endParaRPr lang="it-IT" noProof="0" dirty="0"/>
          </a:p>
        </p:txBody>
      </p:sp>
      <p:sp>
        <p:nvSpPr>
          <p:cNvPr id="35" name="Text 28"/>
          <p:cNvSpPr txBox="1"/>
          <p:nvPr/>
        </p:nvSpPr>
        <p:spPr>
          <a:xfrm>
            <a:off x="6117336" y="3977640"/>
            <a:ext cx="2523744" cy="548640"/>
          </a:xfrm>
          <a:prstGeom prst="rect">
            <a:avLst/>
          </a:prstGeom>
          <a:noFill/>
          <a:ln/>
        </p:spPr>
        <p:txBody>
          <a:bodyPr wrap="square" lIns="0" tIns="0" rIns="0" bIns="0" rtlCol="0" anchor="ctr"/>
          <a:lstStyle/>
          <a:p>
            <a:pPr marL="0" indent="0" algn="ctr">
              <a:buNone/>
            </a:pPr>
            <a:r>
              <a:rPr lang="it-IT" sz="1200" b="1" noProof="0" dirty="0">
                <a:solidFill>
                  <a:schemeClr val="tx1"/>
                </a:solidFill>
              </a:rPr>
              <a:t>L'accesso può seguire i permessi degli utenti</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53</a:t>
            </a:fld>
            <a:endParaRPr lang="it-IT" noProof="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Adattare un sistema AI a un contesto specifico</a:t>
            </a:r>
            <a:endParaRPr lang="it-IT" sz="2600" noProof="0" dirty="0"/>
          </a:p>
        </p:txBody>
      </p:sp>
      <p:graphicFrame>
        <p:nvGraphicFramePr>
          <p:cNvPr id="55" name="Table 0"/>
          <p:cNvGraphicFramePr>
            <a:graphicFrameLocks noGrp="1"/>
          </p:cNvGraphicFramePr>
          <p:nvPr>
            <p:extLst>
              <p:ext uri="{D42A27DB-BD31-4B8C-83A1-F6EECF244321}">
                <p14:modId xmlns:p14="http://schemas.microsoft.com/office/powerpoint/2010/main" val="135298254"/>
              </p:ext>
            </p:extLst>
          </p:nvPr>
        </p:nvGraphicFramePr>
        <p:xfrm>
          <a:off x="457200" y="1097280"/>
          <a:ext cx="8229600" cy="2834640"/>
        </p:xfrm>
        <a:graphic>
          <a:graphicData uri="http://schemas.openxmlformats.org/drawingml/2006/table">
            <a:tbl>
              <a:tblPr/>
              <a:tblGrid>
                <a:gridCol w="2011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566928">
                <a:tc>
                  <a:txBody>
                    <a:bodyPr/>
                    <a:lstStyle/>
                    <a:p>
                      <a:pPr marL="0" indent="0">
                        <a:buNone/>
                      </a:pPr>
                      <a:r>
                        <a:rPr lang="it-IT" sz="1300" b="1" noProof="0" dirty="0">
                          <a:solidFill>
                            <a:schemeClr val="bg1"/>
                          </a:solidFill>
                        </a:rPr>
                        <a:t>Modalità</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Che cosa fa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Modifica il modello?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it-IT" sz="1300" b="1" noProof="0" dirty="0">
                          <a:solidFill>
                            <a:schemeClr val="bg1"/>
                          </a:solidFill>
                        </a:rPr>
                        <a:t>Quando è utile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it-IT" sz="1300" b="1" noProof="0" dirty="0">
                          <a:solidFill>
                            <a:schemeClr val="tx1"/>
                          </a:solidFill>
                        </a:rPr>
                        <a:t>Istruzioni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Indica ruolo, tono, formato, regole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No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Orientare il comportamento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it-IT" sz="1300" b="1" noProof="0" dirty="0">
                          <a:solidFill>
                            <a:schemeClr val="tx1"/>
                          </a:solidFill>
                        </a:rPr>
                        <a:t>Documenti nel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Fornisce i materiali nella conversazione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No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Contenuti specifici e limitati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it-IT" sz="1300" b="1" noProof="0" dirty="0">
                          <a:solidFill>
                            <a:schemeClr val="tx1"/>
                          </a:solidFill>
                        </a:rPr>
                        <a:t>Recupero da basi informative (RAG)</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Cerca i passaggi pertinenti in molti documenti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No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Molti documenti, aggiornati spesso, con permessi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it-IT" sz="1300" b="1" noProof="0" dirty="0">
                          <a:solidFill>
                            <a:schemeClr val="tx1"/>
                          </a:solidFill>
                        </a:rPr>
                        <a:t>Fine-tuning</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Addestramento aggiuntivo su esempi specifici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Sì, in parte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Stile, formato, comportamenti ricorrenti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Text 1"/>
          <p:cNvSpPr txBox="1"/>
          <p:nvPr/>
        </p:nvSpPr>
        <p:spPr>
          <a:xfrm>
            <a:off x="457200" y="425196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La maggior parte delle esigenze aziendali si risolve con le prime tre modalità, spesso combinate.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54</a:t>
            </a:fld>
            <a:endParaRPr lang="it-IT"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Tre equivoci frequenti</a:t>
            </a:r>
            <a:endParaRPr lang="it-IT" sz="2600" noProof="0" dirty="0"/>
          </a:p>
        </p:txBody>
      </p:sp>
      <p:sp>
        <p:nvSpPr>
          <p:cNvPr id="4" name="equivoco 1"/>
          <p:cNvSpPr/>
          <p:nvPr/>
        </p:nvSpPr>
        <p:spPr>
          <a:xfrm>
            <a:off x="457200" y="1097280"/>
            <a:ext cx="3657600" cy="1005840"/>
          </a:xfrm>
          <a:prstGeom prst="roundRect">
            <a:avLst>
              <a:gd name="adj" fmla="val 7273"/>
            </a:avLst>
          </a:prstGeom>
          <a:solidFill>
            <a:schemeClr val="bg2"/>
          </a:solidFill>
          <a:ln/>
        </p:spPr>
        <p:txBody>
          <a:bodyPr/>
          <a:lstStyle/>
          <a:p>
            <a:endParaRPr lang="it-IT" noProof="0" dirty="0"/>
          </a:p>
        </p:txBody>
      </p:sp>
      <p:sp>
        <p:nvSpPr>
          <p:cNvPr id="5" name="Text 2"/>
          <p:cNvSpPr txBox="1"/>
          <p:nvPr/>
        </p:nvSpPr>
        <p:spPr>
          <a:xfrm>
            <a:off x="640080" y="1097280"/>
            <a:ext cx="3337560" cy="1005840"/>
          </a:xfrm>
          <a:prstGeom prst="rect">
            <a:avLst/>
          </a:prstGeom>
          <a:noFill/>
          <a:ln/>
        </p:spPr>
        <p:txBody>
          <a:bodyPr wrap="square" lIns="0" tIns="0" rIns="0" bIns="0" rtlCol="0" anchor="ctr"/>
          <a:lstStyle/>
          <a:p>
            <a:pPr marL="0" indent="0">
              <a:buNone/>
            </a:pPr>
            <a:r>
              <a:rPr lang="it-IT" sz="1300" b="1" noProof="0" dirty="0">
                <a:solidFill>
                  <a:schemeClr val="accent5"/>
                </a:solidFill>
              </a:rPr>
              <a:t>Equivoco: </a:t>
            </a:r>
            <a:r>
              <a:rPr lang="it-IT" sz="1300" noProof="0" dirty="0">
                <a:solidFill>
                  <a:schemeClr val="tx1"/>
                </a:solidFill>
              </a:rPr>
              <a:t>Se carico un documento, il modello lo impara</a:t>
            </a:r>
            <a:endParaRPr lang="it-IT" sz="1300" noProof="0" dirty="0"/>
          </a:p>
        </p:txBody>
      </p:sp>
      <p:sp>
        <p:nvSpPr>
          <p:cNvPr id="6" name="freccia"/>
          <p:cNvSpPr/>
          <p:nvPr/>
        </p:nvSpPr>
        <p:spPr>
          <a:xfrm>
            <a:off x="4206240" y="1453896"/>
            <a:ext cx="320040" cy="292608"/>
          </a:xfrm>
          <a:prstGeom prst="rightArrow">
            <a:avLst/>
          </a:prstGeom>
          <a:solidFill>
            <a:schemeClr val="accent1"/>
          </a:solidFill>
          <a:ln/>
        </p:spPr>
        <p:txBody>
          <a:bodyPr/>
          <a:lstStyle/>
          <a:p>
            <a:endParaRPr lang="it-IT" noProof="0" dirty="0"/>
          </a:p>
        </p:txBody>
      </p:sp>
      <p:sp>
        <p:nvSpPr>
          <p:cNvPr id="7" name="realtà 1"/>
          <p:cNvSpPr/>
          <p:nvPr/>
        </p:nvSpPr>
        <p:spPr>
          <a:xfrm>
            <a:off x="4617720" y="1097280"/>
            <a:ext cx="4069080" cy="1005840"/>
          </a:xfrm>
          <a:prstGeom prst="roundRect">
            <a:avLst>
              <a:gd name="adj" fmla="val 7273"/>
            </a:avLst>
          </a:prstGeom>
          <a:solidFill>
            <a:schemeClr val="accent6"/>
          </a:solidFill>
          <a:ln/>
        </p:spPr>
        <p:txBody>
          <a:bodyPr/>
          <a:lstStyle/>
          <a:p>
            <a:endParaRPr lang="it-IT" noProof="0" dirty="0"/>
          </a:p>
        </p:txBody>
      </p:sp>
      <p:sp>
        <p:nvSpPr>
          <p:cNvPr id="8" name="Text 5"/>
          <p:cNvSpPr txBox="1"/>
          <p:nvPr/>
        </p:nvSpPr>
        <p:spPr>
          <a:xfrm>
            <a:off x="4800600" y="1097280"/>
            <a:ext cx="3749040" cy="1005840"/>
          </a:xfrm>
          <a:prstGeom prst="rect">
            <a:avLst/>
          </a:prstGeom>
          <a:noFill/>
          <a:ln/>
        </p:spPr>
        <p:txBody>
          <a:bodyPr wrap="square" lIns="0" tIns="0" rIns="0" bIns="0" rtlCol="0" anchor="ctr"/>
          <a:lstStyle/>
          <a:p>
            <a:pPr marL="0" indent="0">
              <a:buNone/>
            </a:pPr>
            <a:r>
              <a:rPr lang="it-IT" sz="1200" noProof="0" dirty="0">
                <a:solidFill>
                  <a:schemeClr val="tx1"/>
                </a:solidFill>
              </a:rPr>
              <a:t>Il documento entra nel contesto temporaneo: il modello lo usa, ma i parametri non cambiano</a:t>
            </a:r>
            <a:endParaRPr lang="it-IT" sz="1200" noProof="0" dirty="0"/>
          </a:p>
        </p:txBody>
      </p:sp>
      <p:sp>
        <p:nvSpPr>
          <p:cNvPr id="9" name="equivoco 2"/>
          <p:cNvSpPr/>
          <p:nvPr/>
        </p:nvSpPr>
        <p:spPr>
          <a:xfrm>
            <a:off x="457200" y="2240280"/>
            <a:ext cx="3657600" cy="1005840"/>
          </a:xfrm>
          <a:prstGeom prst="roundRect">
            <a:avLst>
              <a:gd name="adj" fmla="val 7273"/>
            </a:avLst>
          </a:prstGeom>
          <a:solidFill>
            <a:schemeClr val="bg2"/>
          </a:solidFill>
          <a:ln/>
        </p:spPr>
        <p:txBody>
          <a:bodyPr/>
          <a:lstStyle/>
          <a:p>
            <a:endParaRPr lang="it-IT" noProof="0" dirty="0"/>
          </a:p>
        </p:txBody>
      </p:sp>
      <p:sp>
        <p:nvSpPr>
          <p:cNvPr id="10" name="Text 7"/>
          <p:cNvSpPr txBox="1"/>
          <p:nvPr/>
        </p:nvSpPr>
        <p:spPr>
          <a:xfrm>
            <a:off x="640080" y="2240280"/>
            <a:ext cx="3337560" cy="1005840"/>
          </a:xfrm>
          <a:prstGeom prst="rect">
            <a:avLst/>
          </a:prstGeom>
          <a:noFill/>
          <a:ln/>
        </p:spPr>
        <p:txBody>
          <a:bodyPr wrap="square" lIns="0" tIns="0" rIns="0" bIns="0" rtlCol="0" anchor="ctr"/>
          <a:lstStyle/>
          <a:p>
            <a:pPr marL="0" indent="0">
              <a:buNone/>
            </a:pPr>
            <a:r>
              <a:rPr lang="it-IT" sz="1300" b="1" noProof="0" dirty="0">
                <a:solidFill>
                  <a:schemeClr val="accent5"/>
                </a:solidFill>
              </a:rPr>
              <a:t>Equivoco: </a:t>
            </a:r>
            <a:r>
              <a:rPr lang="it-IT" sz="1300" noProof="0" dirty="0">
                <a:solidFill>
                  <a:schemeClr val="tx1"/>
                </a:solidFill>
              </a:rPr>
              <a:t>Se collego i documenti aziendali, il modello si addestra sui nostri dati</a:t>
            </a:r>
            <a:endParaRPr lang="it-IT" sz="1300" noProof="0" dirty="0"/>
          </a:p>
        </p:txBody>
      </p:sp>
      <p:sp>
        <p:nvSpPr>
          <p:cNvPr id="11" name="freccia"/>
          <p:cNvSpPr/>
          <p:nvPr/>
        </p:nvSpPr>
        <p:spPr>
          <a:xfrm>
            <a:off x="4206240" y="2596896"/>
            <a:ext cx="320040" cy="292608"/>
          </a:xfrm>
          <a:prstGeom prst="rightArrow">
            <a:avLst/>
          </a:prstGeom>
          <a:solidFill>
            <a:schemeClr val="accent1"/>
          </a:solidFill>
          <a:ln/>
        </p:spPr>
        <p:txBody>
          <a:bodyPr/>
          <a:lstStyle/>
          <a:p>
            <a:endParaRPr lang="it-IT" noProof="0" dirty="0"/>
          </a:p>
        </p:txBody>
      </p:sp>
      <p:sp>
        <p:nvSpPr>
          <p:cNvPr id="12" name="realtà 2"/>
          <p:cNvSpPr/>
          <p:nvPr/>
        </p:nvSpPr>
        <p:spPr>
          <a:xfrm>
            <a:off x="4617720" y="2240280"/>
            <a:ext cx="4069080" cy="1005840"/>
          </a:xfrm>
          <a:prstGeom prst="roundRect">
            <a:avLst>
              <a:gd name="adj" fmla="val 7273"/>
            </a:avLst>
          </a:prstGeom>
          <a:solidFill>
            <a:schemeClr val="accent6"/>
          </a:solidFill>
          <a:ln/>
        </p:spPr>
        <p:txBody>
          <a:bodyPr/>
          <a:lstStyle/>
          <a:p>
            <a:endParaRPr lang="it-IT" noProof="0" dirty="0"/>
          </a:p>
        </p:txBody>
      </p:sp>
      <p:sp>
        <p:nvSpPr>
          <p:cNvPr id="13" name="Text 10"/>
          <p:cNvSpPr txBox="1"/>
          <p:nvPr/>
        </p:nvSpPr>
        <p:spPr>
          <a:xfrm>
            <a:off x="4800600" y="2240280"/>
            <a:ext cx="3749040" cy="1005840"/>
          </a:xfrm>
          <a:prstGeom prst="rect">
            <a:avLst/>
          </a:prstGeom>
          <a:noFill/>
          <a:ln/>
        </p:spPr>
        <p:txBody>
          <a:bodyPr wrap="square" lIns="0" tIns="0" rIns="0" bIns="0" rtlCol="0" anchor="ctr"/>
          <a:lstStyle/>
          <a:p>
            <a:pPr marL="0" indent="0">
              <a:buNone/>
            </a:pPr>
            <a:r>
              <a:rPr lang="it-IT" sz="1200" noProof="0" dirty="0">
                <a:solidFill>
                  <a:schemeClr val="tx1"/>
                </a:solidFill>
              </a:rPr>
              <a:t>Con la RAG il modello consulta i documenti, non si riaddestra. L'uso dei dati da parte del fornitore dipende dalle condizioni contrattuali</a:t>
            </a:r>
            <a:endParaRPr lang="it-IT" sz="1200" noProof="0" dirty="0"/>
          </a:p>
        </p:txBody>
      </p:sp>
      <p:sp>
        <p:nvSpPr>
          <p:cNvPr id="14" name="equivoco 3"/>
          <p:cNvSpPr/>
          <p:nvPr/>
        </p:nvSpPr>
        <p:spPr>
          <a:xfrm>
            <a:off x="457200" y="3383280"/>
            <a:ext cx="3657600" cy="1005840"/>
          </a:xfrm>
          <a:prstGeom prst="roundRect">
            <a:avLst>
              <a:gd name="adj" fmla="val 7273"/>
            </a:avLst>
          </a:prstGeom>
          <a:solidFill>
            <a:schemeClr val="bg2"/>
          </a:solidFill>
          <a:ln/>
        </p:spPr>
        <p:txBody>
          <a:bodyPr/>
          <a:lstStyle/>
          <a:p>
            <a:endParaRPr lang="it-IT" noProof="0" dirty="0"/>
          </a:p>
        </p:txBody>
      </p:sp>
      <p:sp>
        <p:nvSpPr>
          <p:cNvPr id="15" name="Text 12"/>
          <p:cNvSpPr txBox="1"/>
          <p:nvPr/>
        </p:nvSpPr>
        <p:spPr>
          <a:xfrm>
            <a:off x="640080" y="3383280"/>
            <a:ext cx="3337560" cy="1005840"/>
          </a:xfrm>
          <a:prstGeom prst="rect">
            <a:avLst/>
          </a:prstGeom>
          <a:noFill/>
          <a:ln/>
        </p:spPr>
        <p:txBody>
          <a:bodyPr wrap="square" lIns="0" tIns="0" rIns="0" bIns="0" rtlCol="0" anchor="ctr"/>
          <a:lstStyle/>
          <a:p>
            <a:pPr marL="0" indent="0">
              <a:buNone/>
            </a:pPr>
            <a:r>
              <a:rPr lang="it-IT" sz="1300" b="1" noProof="0" dirty="0">
                <a:solidFill>
                  <a:schemeClr val="accent5"/>
                </a:solidFill>
              </a:rPr>
              <a:t>Equivoco: </a:t>
            </a:r>
            <a:r>
              <a:rPr lang="it-IT" sz="1300" noProof="0" dirty="0">
                <a:solidFill>
                  <a:schemeClr val="tx1"/>
                </a:solidFill>
              </a:rPr>
              <a:t>Il modello sa tutto ciò che è su internet ed è aggiornato</a:t>
            </a:r>
            <a:endParaRPr lang="it-IT" sz="1300" noProof="0" dirty="0"/>
          </a:p>
        </p:txBody>
      </p:sp>
      <p:sp>
        <p:nvSpPr>
          <p:cNvPr id="16" name="freccia"/>
          <p:cNvSpPr/>
          <p:nvPr/>
        </p:nvSpPr>
        <p:spPr>
          <a:xfrm>
            <a:off x="4206240" y="3739896"/>
            <a:ext cx="320040" cy="292608"/>
          </a:xfrm>
          <a:prstGeom prst="rightArrow">
            <a:avLst/>
          </a:prstGeom>
          <a:solidFill>
            <a:schemeClr val="accent1"/>
          </a:solidFill>
          <a:ln/>
        </p:spPr>
        <p:txBody>
          <a:bodyPr/>
          <a:lstStyle/>
          <a:p>
            <a:endParaRPr lang="it-IT" noProof="0" dirty="0"/>
          </a:p>
        </p:txBody>
      </p:sp>
      <p:sp>
        <p:nvSpPr>
          <p:cNvPr id="17" name="realtà 3"/>
          <p:cNvSpPr/>
          <p:nvPr/>
        </p:nvSpPr>
        <p:spPr>
          <a:xfrm>
            <a:off x="4617720" y="3383280"/>
            <a:ext cx="4069080" cy="1005840"/>
          </a:xfrm>
          <a:prstGeom prst="roundRect">
            <a:avLst>
              <a:gd name="adj" fmla="val 7273"/>
            </a:avLst>
          </a:prstGeom>
          <a:solidFill>
            <a:schemeClr val="accent6"/>
          </a:solidFill>
          <a:ln/>
        </p:spPr>
        <p:txBody>
          <a:bodyPr/>
          <a:lstStyle/>
          <a:p>
            <a:endParaRPr lang="it-IT" noProof="0" dirty="0"/>
          </a:p>
        </p:txBody>
      </p:sp>
      <p:sp>
        <p:nvSpPr>
          <p:cNvPr id="18" name="Text 15"/>
          <p:cNvSpPr txBox="1"/>
          <p:nvPr/>
        </p:nvSpPr>
        <p:spPr>
          <a:xfrm>
            <a:off x="4800600" y="3383280"/>
            <a:ext cx="3749040" cy="1005840"/>
          </a:xfrm>
          <a:prstGeom prst="rect">
            <a:avLst/>
          </a:prstGeom>
          <a:noFill/>
          <a:ln/>
        </p:spPr>
        <p:txBody>
          <a:bodyPr wrap="square" lIns="0" tIns="0" rIns="0" bIns="0" rtlCol="0" anchor="ctr"/>
          <a:lstStyle/>
          <a:p>
            <a:pPr marL="0" indent="0">
              <a:buNone/>
            </a:pPr>
            <a:r>
              <a:rPr lang="it-IT" sz="1200" noProof="0" dirty="0">
                <a:solidFill>
                  <a:schemeClr val="tx1"/>
                </a:solidFill>
              </a:rPr>
              <a:t>La conoscenza è ferma alla data limite; l'aggiornamento dipende dagli strumenti di ricerca</a:t>
            </a:r>
            <a:endParaRPr lang="it-IT" sz="12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55</a:t>
            </a:fld>
            <a:endParaRPr lang="it-IT" noProof="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name="Slide 5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noProof="0" dirty="0">
                <a:solidFill>
                  <a:schemeClr val="bg1"/>
                </a:solidFill>
              </a:rPr>
              <a:t>Fornire un documento o collegare una fonte a un sistema AI non significa necessariamente riaddestrare il modello.</a:t>
            </a:r>
            <a:endParaRPr lang="it-IT" sz="2600" noProof="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noProof="0" dirty="0">
                <a:solidFill>
                  <a:schemeClr val="accent3"/>
                </a:solidFill>
              </a:rPr>
              <a:t>Sottotema 2.6  ·  Conoscenza e fonti informative</a:t>
            </a:r>
            <a:endParaRPr lang="it-IT" sz="13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56</a:t>
            </a:fld>
            <a:endParaRPr lang="it-IT" noProof="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2.7</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Variabilità dei risultati</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Una stessa richiesta può produrre risposte differenti: la variabilità è distinta dalla correttezza</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57</a:t>
            </a:fld>
            <a:endParaRPr lang="it-IT" noProof="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Stessa richiesta, risposte diverse</a:t>
            </a:r>
            <a:endParaRPr lang="it-IT" sz="2600" noProof="0" dirty="0"/>
          </a:p>
        </p:txBody>
      </p:sp>
      <p:sp>
        <p:nvSpPr>
          <p:cNvPr id="4" name="richiesta"/>
          <p:cNvSpPr/>
          <p:nvPr/>
        </p:nvSpPr>
        <p:spPr>
          <a:xfrm>
            <a:off x="457200" y="1097280"/>
            <a:ext cx="8229600" cy="685800"/>
          </a:xfrm>
          <a:prstGeom prst="roundRect">
            <a:avLst>
              <a:gd name="adj" fmla="val 10667"/>
            </a:avLst>
          </a:prstGeom>
          <a:solidFill>
            <a:schemeClr val="tx1"/>
          </a:solidFill>
          <a:ln/>
        </p:spPr>
        <p:txBody>
          <a:bodyPr/>
          <a:lstStyle/>
          <a:p>
            <a:endParaRPr lang="it-IT" noProof="0" dirty="0"/>
          </a:p>
        </p:txBody>
      </p:sp>
      <p:sp>
        <p:nvSpPr>
          <p:cNvPr id="5" name="Text 2"/>
          <p:cNvSpPr txBox="1"/>
          <p:nvPr/>
        </p:nvSpPr>
        <p:spPr>
          <a:xfrm>
            <a:off x="640080" y="1097280"/>
            <a:ext cx="7863840" cy="685800"/>
          </a:xfrm>
          <a:prstGeom prst="rect">
            <a:avLst/>
          </a:prstGeom>
          <a:noFill/>
          <a:ln/>
        </p:spPr>
        <p:txBody>
          <a:bodyPr wrap="square" lIns="0" tIns="0" rIns="0" bIns="0" rtlCol="0" anchor="ctr"/>
          <a:lstStyle/>
          <a:p>
            <a:pPr marL="0" indent="0">
              <a:buNone/>
            </a:pPr>
            <a:r>
              <a:rPr lang="it-IT" sz="1400" b="1" noProof="0" dirty="0">
                <a:solidFill>
                  <a:schemeClr val="accent1"/>
                </a:solidFill>
              </a:rPr>
              <a:t>Richiesta: </a:t>
            </a:r>
            <a:r>
              <a:rPr lang="it-IT" sz="1400" noProof="0" dirty="0">
                <a:solidFill>
                  <a:schemeClr val="bg1"/>
                </a:solidFill>
              </a:rPr>
              <a:t>Proponi un titolo per la newsletter che annuncia il nuovo orario estivo degli uffici</a:t>
            </a:r>
            <a:endParaRPr lang="it-IT" sz="1400" noProof="0" dirty="0"/>
          </a:p>
        </p:txBody>
      </p:sp>
      <p:sp>
        <p:nvSpPr>
          <p:cNvPr id="6" name="risposta 1"/>
          <p:cNvSpPr/>
          <p:nvPr/>
        </p:nvSpPr>
        <p:spPr>
          <a:xfrm>
            <a:off x="457200" y="2057400"/>
            <a:ext cx="2615184" cy="1554480"/>
          </a:xfrm>
          <a:prstGeom prst="roundRect">
            <a:avLst>
              <a:gd name="adj" fmla="val 4706"/>
            </a:avLst>
          </a:prstGeom>
          <a:solidFill>
            <a:schemeClr val="bg2"/>
          </a:solidFill>
          <a:ln/>
        </p:spPr>
        <p:txBody>
          <a:bodyPr/>
          <a:lstStyle/>
          <a:p>
            <a:endParaRPr lang="it-IT" noProof="0" dirty="0"/>
          </a:p>
        </p:txBody>
      </p:sp>
      <p:sp>
        <p:nvSpPr>
          <p:cNvPr id="7" name="Text 4"/>
          <p:cNvSpPr txBox="1"/>
          <p:nvPr/>
        </p:nvSpPr>
        <p:spPr>
          <a:xfrm>
            <a:off x="640080" y="2176272"/>
            <a:ext cx="2194560" cy="274320"/>
          </a:xfrm>
          <a:prstGeom prst="rect">
            <a:avLst/>
          </a:prstGeom>
          <a:noFill/>
          <a:ln/>
        </p:spPr>
        <p:txBody>
          <a:bodyPr wrap="square" lIns="0" tIns="0" rIns="0" bIns="0" rtlCol="0" anchor="t"/>
          <a:lstStyle/>
          <a:p>
            <a:pPr marL="0" indent="0">
              <a:buNone/>
            </a:pPr>
            <a:r>
              <a:rPr lang="it-IT" sz="1200" b="1" noProof="0" dirty="0">
                <a:solidFill>
                  <a:schemeClr val="accent1"/>
                </a:solidFill>
              </a:rPr>
              <a:t>Tentativo 1</a:t>
            </a:r>
            <a:endParaRPr lang="it-IT" sz="1200" noProof="0" dirty="0"/>
          </a:p>
        </p:txBody>
      </p:sp>
      <p:sp>
        <p:nvSpPr>
          <p:cNvPr id="8" name="Text 5"/>
          <p:cNvSpPr txBox="1"/>
          <p:nvPr/>
        </p:nvSpPr>
        <p:spPr>
          <a:xfrm>
            <a:off x="640080" y="2487168"/>
            <a:ext cx="2286000" cy="1005840"/>
          </a:xfrm>
          <a:prstGeom prst="rect">
            <a:avLst/>
          </a:prstGeom>
          <a:noFill/>
          <a:ln/>
        </p:spPr>
        <p:txBody>
          <a:bodyPr wrap="square" lIns="0" tIns="0" rIns="0" bIns="0" rtlCol="0" anchor="t"/>
          <a:lstStyle/>
          <a:p>
            <a:pPr marL="0" indent="0">
              <a:buNone/>
            </a:pPr>
            <a:r>
              <a:rPr lang="it-IT" sz="1400" i="1" noProof="0" dirty="0">
                <a:solidFill>
                  <a:schemeClr val="tx1"/>
                </a:solidFill>
              </a:rPr>
              <a:t>"Estate in ufficio: ecco i nuovi orari"</a:t>
            </a:r>
            <a:endParaRPr lang="it-IT" sz="1400" noProof="0" dirty="0"/>
          </a:p>
        </p:txBody>
      </p:sp>
      <p:sp>
        <p:nvSpPr>
          <p:cNvPr id="9" name="risposta 2"/>
          <p:cNvSpPr/>
          <p:nvPr/>
        </p:nvSpPr>
        <p:spPr>
          <a:xfrm>
            <a:off x="3264408" y="2057400"/>
            <a:ext cx="2615184" cy="1554480"/>
          </a:xfrm>
          <a:prstGeom prst="roundRect">
            <a:avLst>
              <a:gd name="adj" fmla="val 4706"/>
            </a:avLst>
          </a:prstGeom>
          <a:solidFill>
            <a:schemeClr val="bg2"/>
          </a:solidFill>
          <a:ln/>
        </p:spPr>
        <p:txBody>
          <a:bodyPr/>
          <a:lstStyle/>
          <a:p>
            <a:endParaRPr lang="it-IT" noProof="0" dirty="0"/>
          </a:p>
        </p:txBody>
      </p:sp>
      <p:sp>
        <p:nvSpPr>
          <p:cNvPr id="10" name="Text 7"/>
          <p:cNvSpPr txBox="1"/>
          <p:nvPr/>
        </p:nvSpPr>
        <p:spPr>
          <a:xfrm>
            <a:off x="3447288" y="2176272"/>
            <a:ext cx="2194560" cy="274320"/>
          </a:xfrm>
          <a:prstGeom prst="rect">
            <a:avLst/>
          </a:prstGeom>
          <a:noFill/>
          <a:ln/>
        </p:spPr>
        <p:txBody>
          <a:bodyPr wrap="square" lIns="0" tIns="0" rIns="0" bIns="0" rtlCol="0" anchor="t"/>
          <a:lstStyle/>
          <a:p>
            <a:pPr marL="0" indent="0">
              <a:buNone/>
            </a:pPr>
            <a:r>
              <a:rPr lang="it-IT" sz="1200" b="1" noProof="0" dirty="0">
                <a:solidFill>
                  <a:schemeClr val="accent1"/>
                </a:solidFill>
              </a:rPr>
              <a:t>Tentativo 2</a:t>
            </a:r>
            <a:endParaRPr lang="it-IT" sz="1200" noProof="0" dirty="0"/>
          </a:p>
        </p:txBody>
      </p:sp>
      <p:sp>
        <p:nvSpPr>
          <p:cNvPr id="11" name="Text 8"/>
          <p:cNvSpPr txBox="1"/>
          <p:nvPr/>
        </p:nvSpPr>
        <p:spPr>
          <a:xfrm>
            <a:off x="3447288" y="2487168"/>
            <a:ext cx="2286000" cy="1005840"/>
          </a:xfrm>
          <a:prstGeom prst="rect">
            <a:avLst/>
          </a:prstGeom>
          <a:noFill/>
          <a:ln/>
        </p:spPr>
        <p:txBody>
          <a:bodyPr wrap="square" lIns="0" tIns="0" rIns="0" bIns="0" rtlCol="0" anchor="t"/>
          <a:lstStyle/>
          <a:p>
            <a:pPr marL="0" indent="0">
              <a:buNone/>
            </a:pPr>
            <a:r>
              <a:rPr lang="it-IT" sz="1400" i="1" noProof="0" dirty="0">
                <a:solidFill>
                  <a:schemeClr val="tx1"/>
                </a:solidFill>
              </a:rPr>
              <a:t>"Cambiano gli orari: tutto quello che serve sapere per l'estate"</a:t>
            </a:r>
            <a:endParaRPr lang="it-IT" sz="1400" noProof="0" dirty="0"/>
          </a:p>
        </p:txBody>
      </p:sp>
      <p:sp>
        <p:nvSpPr>
          <p:cNvPr id="12" name="risposta 3"/>
          <p:cNvSpPr/>
          <p:nvPr/>
        </p:nvSpPr>
        <p:spPr>
          <a:xfrm>
            <a:off x="6071616" y="2057400"/>
            <a:ext cx="2615184" cy="1554480"/>
          </a:xfrm>
          <a:prstGeom prst="roundRect">
            <a:avLst>
              <a:gd name="adj" fmla="val 4706"/>
            </a:avLst>
          </a:prstGeom>
          <a:solidFill>
            <a:schemeClr val="bg2"/>
          </a:solidFill>
          <a:ln/>
        </p:spPr>
        <p:txBody>
          <a:bodyPr/>
          <a:lstStyle/>
          <a:p>
            <a:endParaRPr lang="it-IT" noProof="0" dirty="0"/>
          </a:p>
        </p:txBody>
      </p:sp>
      <p:sp>
        <p:nvSpPr>
          <p:cNvPr id="13" name="Text 10"/>
          <p:cNvSpPr txBox="1"/>
          <p:nvPr/>
        </p:nvSpPr>
        <p:spPr>
          <a:xfrm>
            <a:off x="6254496" y="2176272"/>
            <a:ext cx="2194560" cy="274320"/>
          </a:xfrm>
          <a:prstGeom prst="rect">
            <a:avLst/>
          </a:prstGeom>
          <a:noFill/>
          <a:ln/>
        </p:spPr>
        <p:txBody>
          <a:bodyPr wrap="square" lIns="0" tIns="0" rIns="0" bIns="0" rtlCol="0" anchor="t"/>
          <a:lstStyle/>
          <a:p>
            <a:pPr marL="0" indent="0">
              <a:buNone/>
            </a:pPr>
            <a:r>
              <a:rPr lang="it-IT" sz="1200" b="1" noProof="0" dirty="0">
                <a:solidFill>
                  <a:schemeClr val="accent1"/>
                </a:solidFill>
              </a:rPr>
              <a:t>Tentativo 3</a:t>
            </a:r>
            <a:endParaRPr lang="it-IT" sz="1200" noProof="0" dirty="0"/>
          </a:p>
        </p:txBody>
      </p:sp>
      <p:sp>
        <p:nvSpPr>
          <p:cNvPr id="14" name="Text 11"/>
          <p:cNvSpPr txBox="1"/>
          <p:nvPr/>
        </p:nvSpPr>
        <p:spPr>
          <a:xfrm>
            <a:off x="6254496" y="2487168"/>
            <a:ext cx="2286000" cy="1005840"/>
          </a:xfrm>
          <a:prstGeom prst="rect">
            <a:avLst/>
          </a:prstGeom>
          <a:noFill/>
          <a:ln/>
        </p:spPr>
        <p:txBody>
          <a:bodyPr wrap="square" lIns="0" tIns="0" rIns="0" bIns="0" rtlCol="0" anchor="t"/>
          <a:lstStyle/>
          <a:p>
            <a:pPr marL="0" indent="0">
              <a:buNone/>
            </a:pPr>
            <a:r>
              <a:rPr lang="it-IT" sz="1400" i="1" noProof="0" dirty="0">
                <a:solidFill>
                  <a:schemeClr val="tx1"/>
                </a:solidFill>
              </a:rPr>
              <a:t>"Orario estivo al via: organizziamoci al meglio"</a:t>
            </a:r>
            <a:endParaRPr lang="it-IT" sz="1400" noProof="0" dirty="0"/>
          </a:p>
        </p:txBody>
      </p:sp>
      <p:sp>
        <p:nvSpPr>
          <p:cNvPr id="15" name="spiegazione"/>
          <p:cNvSpPr/>
          <p:nvPr/>
        </p:nvSpPr>
        <p:spPr>
          <a:xfrm>
            <a:off x="457200" y="3794760"/>
            <a:ext cx="8229600" cy="731520"/>
          </a:xfrm>
          <a:prstGeom prst="roundRect">
            <a:avLst>
              <a:gd name="adj" fmla="val 10000"/>
            </a:avLst>
          </a:prstGeom>
          <a:solidFill>
            <a:schemeClr val="accent6"/>
          </a:solidFill>
          <a:ln/>
        </p:spPr>
        <p:txBody>
          <a:bodyPr/>
          <a:lstStyle/>
          <a:p>
            <a:endParaRPr lang="it-IT" noProof="0" dirty="0"/>
          </a:p>
        </p:txBody>
      </p:sp>
      <p:sp>
        <p:nvSpPr>
          <p:cNvPr id="16" name="cerchio FiShuffle"/>
          <p:cNvSpPr/>
          <p:nvPr/>
        </p:nvSpPr>
        <p:spPr>
          <a:xfrm>
            <a:off x="640080" y="3904488"/>
            <a:ext cx="512064" cy="512064"/>
          </a:xfrm>
          <a:prstGeom prst="ellipse">
            <a:avLst/>
          </a:prstGeom>
          <a:solidFill>
            <a:schemeClr val="accent1"/>
          </a:solidFill>
          <a:ln/>
        </p:spPr>
        <p:txBody>
          <a:bodyPr/>
          <a:lstStyle/>
          <a:p>
            <a:endParaRPr lang="it-IT" noProof="0" dirty="0"/>
          </a:p>
        </p:txBody>
      </p:sp>
      <p:pic>
        <p:nvPicPr>
          <p:cNvPr id="17" name="Image 0" descr="FiShuffle"/>
          <p:cNvPicPr>
            <a:picLocks noChangeAspect="1"/>
          </p:cNvPicPr>
          <p:nvPr/>
        </p:nvPicPr>
        <p:blipFill>
          <a:blip r:embed="rId3"/>
          <a:stretch>
            <a:fillRect/>
          </a:stretch>
        </p:blipFill>
        <p:spPr>
          <a:xfrm>
            <a:off x="768096" y="4032504"/>
            <a:ext cx="256032" cy="256032"/>
          </a:xfrm>
          <a:prstGeom prst="rect">
            <a:avLst/>
          </a:prstGeom>
        </p:spPr>
      </p:pic>
      <p:sp>
        <p:nvSpPr>
          <p:cNvPr id="18" name="Text 14"/>
          <p:cNvSpPr txBox="1"/>
          <p:nvPr/>
        </p:nvSpPr>
        <p:spPr>
          <a:xfrm>
            <a:off x="1325880" y="3794760"/>
            <a:ext cx="7223760" cy="731520"/>
          </a:xfrm>
          <a:prstGeom prst="rect">
            <a:avLst/>
          </a:prstGeom>
          <a:noFill/>
          <a:ln/>
        </p:spPr>
        <p:txBody>
          <a:bodyPr wrap="square" lIns="0" tIns="0" rIns="0" bIns="0" rtlCol="0" anchor="ctr"/>
          <a:lstStyle/>
          <a:p>
            <a:pPr marL="0" indent="0">
              <a:buNone/>
            </a:pPr>
            <a:r>
              <a:rPr lang="it-IT" sz="1300" noProof="0" dirty="0">
                <a:solidFill>
                  <a:schemeClr val="tx1"/>
                </a:solidFill>
              </a:rPr>
              <a:t>A ogni passaggio il token viene estratto in proporzione alla sua probabilità: una scelta diversa all'inizio cambia tutta la risposta.</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58</a:t>
            </a:fld>
            <a:endParaRPr lang="it-IT" noProof="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Che cosa influenza la variabilità</a:t>
            </a:r>
            <a:endParaRPr lang="it-IT" sz="2600" noProof="0" dirty="0"/>
          </a:p>
        </p:txBody>
      </p:sp>
      <p:sp>
        <p:nvSpPr>
          <p:cNvPr id="4" name="scheda Campionamento"/>
          <p:cNvSpPr/>
          <p:nvPr/>
        </p:nvSpPr>
        <p:spPr>
          <a:xfrm>
            <a:off x="457200" y="1097280"/>
            <a:ext cx="2615184" cy="1600200"/>
          </a:xfrm>
          <a:prstGeom prst="roundRect">
            <a:avLst>
              <a:gd name="adj" fmla="val 4571"/>
            </a:avLst>
          </a:prstGeom>
          <a:solidFill>
            <a:schemeClr val="accent6"/>
          </a:solidFill>
          <a:ln/>
        </p:spPr>
        <p:txBody>
          <a:bodyPr/>
          <a:lstStyle/>
          <a:p>
            <a:endParaRPr lang="it-IT" noProof="0" dirty="0"/>
          </a:p>
        </p:txBody>
      </p:sp>
      <p:sp>
        <p:nvSpPr>
          <p:cNvPr id="5" name="cerchio FiShuffle"/>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Shuff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1655064" cy="457200"/>
          </a:xfrm>
          <a:prstGeom prst="rect">
            <a:avLst/>
          </a:prstGeom>
          <a:noFill/>
          <a:ln/>
        </p:spPr>
        <p:txBody>
          <a:bodyPr wrap="square" lIns="0" tIns="0" rIns="0" bIns="0" rtlCol="0" anchor="ctr"/>
          <a:lstStyle/>
          <a:p>
            <a:pPr marL="0" indent="0">
              <a:buNone/>
            </a:pPr>
            <a:r>
              <a:rPr lang="it-IT" sz="1400" b="1" noProof="0" dirty="0">
                <a:solidFill>
                  <a:schemeClr val="tx1"/>
                </a:solidFill>
              </a:rPr>
              <a:t>Campionamento</a:t>
            </a:r>
            <a:endParaRPr lang="it-IT" sz="1400" noProof="0" dirty="0"/>
          </a:p>
        </p:txBody>
      </p:sp>
      <p:sp>
        <p:nvSpPr>
          <p:cNvPr id="8" name="Text 4"/>
          <p:cNvSpPr txBox="1"/>
          <p:nvPr/>
        </p:nvSpPr>
        <p:spPr>
          <a:xfrm>
            <a:off x="640080" y="1874520"/>
            <a:ext cx="2249424" cy="713232"/>
          </a:xfrm>
          <a:prstGeom prst="rect">
            <a:avLst/>
          </a:prstGeom>
          <a:noFill/>
          <a:ln/>
        </p:spPr>
        <p:txBody>
          <a:bodyPr wrap="square" lIns="0" tIns="0" rIns="0" bIns="0" rtlCol="0" anchor="t"/>
          <a:lstStyle/>
          <a:p>
            <a:pPr marL="0" indent="0">
              <a:buNone/>
            </a:pPr>
            <a:r>
              <a:rPr lang="it-IT" sz="1200" noProof="0" dirty="0">
                <a:solidFill>
                  <a:schemeClr val="tx2"/>
                </a:solidFill>
              </a:rPr>
              <a:t>La scelta dei token avviene con una casualità controllata</a:t>
            </a:r>
            <a:endParaRPr lang="it-IT" sz="1200" noProof="0" dirty="0"/>
          </a:p>
        </p:txBody>
      </p:sp>
      <p:sp>
        <p:nvSpPr>
          <p:cNvPr id="9" name="scheda Istruzioni"/>
          <p:cNvSpPr/>
          <p:nvPr/>
        </p:nvSpPr>
        <p:spPr>
          <a:xfrm>
            <a:off x="3264408" y="1097280"/>
            <a:ext cx="2615184" cy="1600200"/>
          </a:xfrm>
          <a:prstGeom prst="roundRect">
            <a:avLst>
              <a:gd name="adj" fmla="val 4571"/>
            </a:avLst>
          </a:prstGeom>
          <a:solidFill>
            <a:schemeClr val="bg2"/>
          </a:solidFill>
          <a:ln/>
        </p:spPr>
        <p:txBody>
          <a:bodyPr/>
          <a:lstStyle/>
          <a:p>
            <a:endParaRPr lang="it-IT" noProof="0" dirty="0"/>
          </a:p>
        </p:txBody>
      </p:sp>
      <p:sp>
        <p:nvSpPr>
          <p:cNvPr id="10" name="cerchio FiEdit3"/>
          <p:cNvSpPr/>
          <p:nvPr/>
        </p:nvSpPr>
        <p:spPr>
          <a:xfrm>
            <a:off x="3447288" y="1280160"/>
            <a:ext cx="457200" cy="457200"/>
          </a:xfrm>
          <a:prstGeom prst="ellipse">
            <a:avLst/>
          </a:prstGeom>
          <a:solidFill>
            <a:schemeClr val="accent1"/>
          </a:solidFill>
          <a:ln/>
        </p:spPr>
        <p:txBody>
          <a:bodyPr/>
          <a:lstStyle/>
          <a:p>
            <a:endParaRPr lang="it-IT" noProof="0" dirty="0"/>
          </a:p>
        </p:txBody>
      </p:sp>
      <p:pic>
        <p:nvPicPr>
          <p:cNvPr id="11" name="Image 1" descr="FiEdit3"/>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4041648" y="1280160"/>
            <a:ext cx="1655064" cy="457200"/>
          </a:xfrm>
          <a:prstGeom prst="rect">
            <a:avLst/>
          </a:prstGeom>
          <a:noFill/>
          <a:ln/>
        </p:spPr>
        <p:txBody>
          <a:bodyPr wrap="square" lIns="0" tIns="0" rIns="0" bIns="0" rtlCol="0" anchor="ctr"/>
          <a:lstStyle/>
          <a:p>
            <a:pPr marL="0" indent="0">
              <a:buNone/>
            </a:pPr>
            <a:r>
              <a:rPr lang="it-IT" sz="1400" b="1" noProof="0" dirty="0">
                <a:solidFill>
                  <a:schemeClr val="tx1"/>
                </a:solidFill>
              </a:rPr>
              <a:t>Istruzioni</a:t>
            </a:r>
            <a:endParaRPr lang="it-IT" sz="1400" noProof="0" dirty="0"/>
          </a:p>
        </p:txBody>
      </p:sp>
      <p:sp>
        <p:nvSpPr>
          <p:cNvPr id="13" name="Text 8"/>
          <p:cNvSpPr txBox="1"/>
          <p:nvPr/>
        </p:nvSpPr>
        <p:spPr>
          <a:xfrm>
            <a:off x="3447288" y="1874520"/>
            <a:ext cx="2249424" cy="713232"/>
          </a:xfrm>
          <a:prstGeom prst="rect">
            <a:avLst/>
          </a:prstGeom>
          <a:noFill/>
          <a:ln/>
        </p:spPr>
        <p:txBody>
          <a:bodyPr wrap="square" lIns="0" tIns="0" rIns="0" bIns="0" rtlCol="0" anchor="t"/>
          <a:lstStyle/>
          <a:p>
            <a:pPr marL="0" indent="0">
              <a:buNone/>
            </a:pPr>
            <a:r>
              <a:rPr lang="it-IT" sz="1200" noProof="0" dirty="0">
                <a:solidFill>
                  <a:schemeClr val="tx2"/>
                </a:solidFill>
              </a:rPr>
              <a:t>Richieste vaghe lasciano più strade possibili di quelle precise</a:t>
            </a:r>
            <a:endParaRPr lang="it-IT" sz="1200" noProof="0" dirty="0"/>
          </a:p>
        </p:txBody>
      </p:sp>
      <p:sp>
        <p:nvSpPr>
          <p:cNvPr id="14" name="scheda Contesto"/>
          <p:cNvSpPr/>
          <p:nvPr/>
        </p:nvSpPr>
        <p:spPr>
          <a:xfrm>
            <a:off x="6071616" y="1097280"/>
            <a:ext cx="2615184" cy="1600200"/>
          </a:xfrm>
          <a:prstGeom prst="roundRect">
            <a:avLst>
              <a:gd name="adj" fmla="val 4571"/>
            </a:avLst>
          </a:prstGeom>
          <a:solidFill>
            <a:schemeClr val="bg2"/>
          </a:solidFill>
          <a:ln/>
        </p:spPr>
        <p:txBody>
          <a:bodyPr/>
          <a:lstStyle/>
          <a:p>
            <a:endParaRPr lang="it-IT" noProof="0" dirty="0"/>
          </a:p>
        </p:txBody>
      </p:sp>
      <p:sp>
        <p:nvSpPr>
          <p:cNvPr id="15" name="cerchio FiLayers"/>
          <p:cNvSpPr/>
          <p:nvPr/>
        </p:nvSpPr>
        <p:spPr>
          <a:xfrm>
            <a:off x="6254496" y="1280160"/>
            <a:ext cx="457200" cy="457200"/>
          </a:xfrm>
          <a:prstGeom prst="ellipse">
            <a:avLst/>
          </a:prstGeom>
          <a:solidFill>
            <a:schemeClr val="accent1"/>
          </a:solidFill>
          <a:ln/>
        </p:spPr>
        <p:txBody>
          <a:bodyPr/>
          <a:lstStyle/>
          <a:p>
            <a:endParaRPr lang="it-IT" noProof="0" dirty="0"/>
          </a:p>
        </p:txBody>
      </p:sp>
      <p:pic>
        <p:nvPicPr>
          <p:cNvPr id="16" name="Image 2" descr="FiLayers"/>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848856" y="1280160"/>
            <a:ext cx="1655064" cy="457200"/>
          </a:xfrm>
          <a:prstGeom prst="rect">
            <a:avLst/>
          </a:prstGeom>
          <a:noFill/>
          <a:ln/>
        </p:spPr>
        <p:txBody>
          <a:bodyPr wrap="square" lIns="0" tIns="0" rIns="0" bIns="0" rtlCol="0" anchor="ctr"/>
          <a:lstStyle/>
          <a:p>
            <a:pPr marL="0" indent="0">
              <a:buNone/>
            </a:pPr>
            <a:r>
              <a:rPr lang="it-IT" sz="1400" b="1" noProof="0" dirty="0">
                <a:solidFill>
                  <a:schemeClr val="tx1"/>
                </a:solidFill>
              </a:rPr>
              <a:t>Contesto</a:t>
            </a:r>
            <a:endParaRPr lang="it-IT" sz="1400" noProof="0" dirty="0"/>
          </a:p>
        </p:txBody>
      </p:sp>
      <p:sp>
        <p:nvSpPr>
          <p:cNvPr id="18" name="Text 12"/>
          <p:cNvSpPr txBox="1"/>
          <p:nvPr/>
        </p:nvSpPr>
        <p:spPr>
          <a:xfrm>
            <a:off x="6254496" y="1874520"/>
            <a:ext cx="2249424" cy="713232"/>
          </a:xfrm>
          <a:prstGeom prst="rect">
            <a:avLst/>
          </a:prstGeom>
          <a:noFill/>
          <a:ln/>
        </p:spPr>
        <p:txBody>
          <a:bodyPr wrap="square" lIns="0" tIns="0" rIns="0" bIns="0" rtlCol="0" anchor="t"/>
          <a:lstStyle/>
          <a:p>
            <a:pPr marL="0" indent="0">
              <a:buNone/>
            </a:pPr>
            <a:r>
              <a:rPr lang="it-IT" sz="1200" noProof="0" dirty="0">
                <a:solidFill>
                  <a:schemeClr val="tx2"/>
                </a:solidFill>
              </a:rPr>
              <a:t>Cronologia, documenti, memoria e ricerche cambiano tra sessioni</a:t>
            </a:r>
            <a:endParaRPr lang="it-IT" sz="1200" noProof="0" dirty="0"/>
          </a:p>
        </p:txBody>
      </p:sp>
      <p:sp>
        <p:nvSpPr>
          <p:cNvPr id="19" name="scheda Parametri di generazione"/>
          <p:cNvSpPr/>
          <p:nvPr/>
        </p:nvSpPr>
        <p:spPr>
          <a:xfrm>
            <a:off x="1860804" y="2834640"/>
            <a:ext cx="2615184" cy="1600200"/>
          </a:xfrm>
          <a:prstGeom prst="roundRect">
            <a:avLst>
              <a:gd name="adj" fmla="val 4571"/>
            </a:avLst>
          </a:prstGeom>
          <a:solidFill>
            <a:schemeClr val="bg2"/>
          </a:solidFill>
          <a:ln/>
        </p:spPr>
        <p:txBody>
          <a:bodyPr/>
          <a:lstStyle/>
          <a:p>
            <a:endParaRPr lang="it-IT" noProof="0" dirty="0"/>
          </a:p>
        </p:txBody>
      </p:sp>
      <p:sp>
        <p:nvSpPr>
          <p:cNvPr id="20" name="cerchio FiThermometer"/>
          <p:cNvSpPr/>
          <p:nvPr/>
        </p:nvSpPr>
        <p:spPr>
          <a:xfrm>
            <a:off x="2043684" y="3017520"/>
            <a:ext cx="457200" cy="457200"/>
          </a:xfrm>
          <a:prstGeom prst="ellipse">
            <a:avLst/>
          </a:prstGeom>
          <a:solidFill>
            <a:schemeClr val="accent1"/>
          </a:solidFill>
          <a:ln/>
        </p:spPr>
        <p:txBody>
          <a:bodyPr/>
          <a:lstStyle/>
          <a:p>
            <a:endParaRPr lang="it-IT" noProof="0" dirty="0"/>
          </a:p>
        </p:txBody>
      </p:sp>
      <p:pic>
        <p:nvPicPr>
          <p:cNvPr id="21" name="Image 3" descr="FiThermometer"/>
          <p:cNvPicPr>
            <a:picLocks noChangeAspect="1"/>
          </p:cNvPicPr>
          <p:nvPr/>
        </p:nvPicPr>
        <p:blipFill>
          <a:blip r:embed="rId6"/>
          <a:stretch>
            <a:fillRect/>
          </a:stretch>
        </p:blipFill>
        <p:spPr>
          <a:xfrm>
            <a:off x="2157984" y="3131820"/>
            <a:ext cx="228600" cy="228600"/>
          </a:xfrm>
          <a:prstGeom prst="rect">
            <a:avLst/>
          </a:prstGeom>
        </p:spPr>
      </p:pic>
      <p:sp>
        <p:nvSpPr>
          <p:cNvPr id="22" name="Text 15"/>
          <p:cNvSpPr txBox="1"/>
          <p:nvPr/>
        </p:nvSpPr>
        <p:spPr>
          <a:xfrm>
            <a:off x="2638044" y="3017520"/>
            <a:ext cx="1655064" cy="457200"/>
          </a:xfrm>
          <a:prstGeom prst="rect">
            <a:avLst/>
          </a:prstGeom>
          <a:noFill/>
          <a:ln/>
        </p:spPr>
        <p:txBody>
          <a:bodyPr wrap="square" lIns="0" tIns="0" rIns="0" bIns="0" rtlCol="0" anchor="ctr"/>
          <a:lstStyle/>
          <a:p>
            <a:pPr marL="0" indent="0">
              <a:buNone/>
            </a:pPr>
            <a:r>
              <a:rPr lang="it-IT" sz="1400" b="1" noProof="0" dirty="0">
                <a:solidFill>
                  <a:schemeClr val="tx1"/>
                </a:solidFill>
              </a:rPr>
              <a:t>Parametri di generazione</a:t>
            </a:r>
            <a:endParaRPr lang="it-IT" sz="1400" noProof="0" dirty="0"/>
          </a:p>
        </p:txBody>
      </p:sp>
      <p:sp>
        <p:nvSpPr>
          <p:cNvPr id="23" name="Text 16"/>
          <p:cNvSpPr txBox="1"/>
          <p:nvPr/>
        </p:nvSpPr>
        <p:spPr>
          <a:xfrm>
            <a:off x="2043684" y="3611880"/>
            <a:ext cx="2249424" cy="713232"/>
          </a:xfrm>
          <a:prstGeom prst="rect">
            <a:avLst/>
          </a:prstGeom>
          <a:noFill/>
          <a:ln/>
        </p:spPr>
        <p:txBody>
          <a:bodyPr wrap="square" lIns="0" tIns="0" rIns="0" bIns="0" rtlCol="0" anchor="t"/>
          <a:lstStyle/>
          <a:p>
            <a:pPr marL="0" indent="0">
              <a:buNone/>
            </a:pPr>
            <a:r>
              <a:rPr lang="it-IT" sz="1200" noProof="0" dirty="0">
                <a:solidFill>
                  <a:schemeClr val="tx2"/>
                </a:solidFill>
              </a:rPr>
              <a:t>Per esempio la temperatura</a:t>
            </a:r>
            <a:endParaRPr lang="it-IT" sz="1200" noProof="0" dirty="0"/>
          </a:p>
        </p:txBody>
      </p:sp>
      <p:sp>
        <p:nvSpPr>
          <p:cNvPr id="24" name="scheda Versioni"/>
          <p:cNvSpPr/>
          <p:nvPr/>
        </p:nvSpPr>
        <p:spPr>
          <a:xfrm>
            <a:off x="4668012" y="2834640"/>
            <a:ext cx="2615184" cy="1600200"/>
          </a:xfrm>
          <a:prstGeom prst="roundRect">
            <a:avLst>
              <a:gd name="adj" fmla="val 4571"/>
            </a:avLst>
          </a:prstGeom>
          <a:solidFill>
            <a:schemeClr val="bg2"/>
          </a:solidFill>
          <a:ln/>
        </p:spPr>
        <p:txBody>
          <a:bodyPr/>
          <a:lstStyle/>
          <a:p>
            <a:endParaRPr lang="it-IT" noProof="0" dirty="0"/>
          </a:p>
        </p:txBody>
      </p:sp>
      <p:sp>
        <p:nvSpPr>
          <p:cNvPr id="25" name="cerchio FiRefreshCw"/>
          <p:cNvSpPr/>
          <p:nvPr/>
        </p:nvSpPr>
        <p:spPr>
          <a:xfrm>
            <a:off x="4850892" y="3017520"/>
            <a:ext cx="457200" cy="457200"/>
          </a:xfrm>
          <a:prstGeom prst="ellipse">
            <a:avLst/>
          </a:prstGeom>
          <a:solidFill>
            <a:schemeClr val="accent1"/>
          </a:solidFill>
          <a:ln/>
        </p:spPr>
        <p:txBody>
          <a:bodyPr/>
          <a:lstStyle/>
          <a:p>
            <a:endParaRPr lang="it-IT" noProof="0" dirty="0"/>
          </a:p>
        </p:txBody>
      </p:sp>
      <p:pic>
        <p:nvPicPr>
          <p:cNvPr id="26" name="Image 4" descr="FiRefreshCw"/>
          <p:cNvPicPr>
            <a:picLocks noChangeAspect="1"/>
          </p:cNvPicPr>
          <p:nvPr/>
        </p:nvPicPr>
        <p:blipFill>
          <a:blip r:embed="rId7"/>
          <a:stretch>
            <a:fillRect/>
          </a:stretch>
        </p:blipFill>
        <p:spPr>
          <a:xfrm>
            <a:off x="4965192" y="3131820"/>
            <a:ext cx="228600" cy="228600"/>
          </a:xfrm>
          <a:prstGeom prst="rect">
            <a:avLst/>
          </a:prstGeom>
        </p:spPr>
      </p:pic>
      <p:sp>
        <p:nvSpPr>
          <p:cNvPr id="27" name="Text 19"/>
          <p:cNvSpPr txBox="1"/>
          <p:nvPr/>
        </p:nvSpPr>
        <p:spPr>
          <a:xfrm>
            <a:off x="5445252" y="3017520"/>
            <a:ext cx="1655064" cy="457200"/>
          </a:xfrm>
          <a:prstGeom prst="rect">
            <a:avLst/>
          </a:prstGeom>
          <a:noFill/>
          <a:ln/>
        </p:spPr>
        <p:txBody>
          <a:bodyPr wrap="square" lIns="0" tIns="0" rIns="0" bIns="0" rtlCol="0" anchor="ctr"/>
          <a:lstStyle/>
          <a:p>
            <a:pPr marL="0" indent="0">
              <a:buNone/>
            </a:pPr>
            <a:r>
              <a:rPr lang="it-IT" sz="1400" b="1" noProof="0" dirty="0">
                <a:solidFill>
                  <a:schemeClr val="tx1"/>
                </a:solidFill>
              </a:rPr>
              <a:t>Versioni</a:t>
            </a:r>
            <a:endParaRPr lang="it-IT" sz="1400" noProof="0" dirty="0"/>
          </a:p>
        </p:txBody>
      </p:sp>
      <p:sp>
        <p:nvSpPr>
          <p:cNvPr id="28" name="Text 20"/>
          <p:cNvSpPr txBox="1"/>
          <p:nvPr/>
        </p:nvSpPr>
        <p:spPr>
          <a:xfrm>
            <a:off x="4850892" y="3611880"/>
            <a:ext cx="2249424" cy="713232"/>
          </a:xfrm>
          <a:prstGeom prst="rect">
            <a:avLst/>
          </a:prstGeom>
          <a:noFill/>
          <a:ln/>
        </p:spPr>
        <p:txBody>
          <a:bodyPr wrap="square" lIns="0" tIns="0" rIns="0" bIns="0" rtlCol="0" anchor="t"/>
          <a:lstStyle/>
          <a:p>
            <a:pPr marL="0" indent="0">
              <a:buNone/>
            </a:pPr>
            <a:r>
              <a:rPr lang="it-IT" sz="1200" noProof="0" dirty="0">
                <a:solidFill>
                  <a:schemeClr val="tx2"/>
                </a:solidFill>
              </a:rPr>
              <a:t>Modelli e applicazioni vengono aggiornati nel tempo</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59</a:t>
            </a:fld>
            <a:endParaRPr lang="it-IT" noProof="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 parametri di generazione: la temperatura</a:t>
            </a:r>
            <a:endParaRPr lang="it-IT" sz="2600" noProof="0" dirty="0"/>
          </a:p>
        </p:txBody>
      </p:sp>
      <p:graphicFrame>
        <p:nvGraphicFramePr>
          <p:cNvPr id="4" name="Chart 0"/>
          <p:cNvGraphicFramePr/>
          <p:nvPr>
            <p:extLst>
              <p:ext uri="{D42A27DB-BD31-4B8C-83A1-F6EECF244321}">
                <p14:modId xmlns:p14="http://schemas.microsoft.com/office/powerpoint/2010/main" val="2791806855"/>
              </p:ext>
            </p:extLst>
          </p:nvPr>
        </p:nvGraphicFramePr>
        <p:xfrm>
          <a:off x="457200" y="1097280"/>
          <a:ext cx="397764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1818931202"/>
              </p:ext>
            </p:extLst>
          </p:nvPr>
        </p:nvGraphicFramePr>
        <p:xfrm>
          <a:off x="4709160" y="1097280"/>
          <a:ext cx="3977640" cy="2468880"/>
        </p:xfrm>
        <a:graphic>
          <a:graphicData uri="http://schemas.openxmlformats.org/drawingml/2006/chart">
            <c:chart xmlns:c="http://schemas.openxmlformats.org/drawingml/2006/chart" xmlns:r="http://schemas.openxmlformats.org/officeDocument/2006/relationships" r:id="rId4"/>
          </a:graphicData>
        </a:graphic>
      </p:graphicFrame>
      <p:sp>
        <p:nvSpPr>
          <p:cNvPr id="6" name="blocco Più coerenza: estrazione dati, classificazione"/>
          <p:cNvSpPr/>
          <p:nvPr/>
        </p:nvSpPr>
        <p:spPr>
          <a:xfrm>
            <a:off x="457200" y="3703320"/>
            <a:ext cx="3977640" cy="457200"/>
          </a:xfrm>
          <a:prstGeom prst="roundRect">
            <a:avLst>
              <a:gd name="adj" fmla="val 24000"/>
            </a:avLst>
          </a:prstGeom>
          <a:solidFill>
            <a:schemeClr val="accent6"/>
          </a:solidFill>
          <a:ln/>
        </p:spPr>
        <p:txBody>
          <a:bodyPr/>
          <a:lstStyle/>
          <a:p>
            <a:endParaRPr lang="it-IT" noProof="0" dirty="0"/>
          </a:p>
        </p:txBody>
      </p:sp>
      <p:sp>
        <p:nvSpPr>
          <p:cNvPr id="7" name="Text 2"/>
          <p:cNvSpPr txBox="1"/>
          <p:nvPr/>
        </p:nvSpPr>
        <p:spPr>
          <a:xfrm>
            <a:off x="502920" y="3703320"/>
            <a:ext cx="3886200"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Più coerenza: estrazione dati, classificazione</a:t>
            </a:r>
            <a:endParaRPr lang="it-IT" sz="1200" noProof="0" dirty="0"/>
          </a:p>
        </p:txBody>
      </p:sp>
      <p:sp>
        <p:nvSpPr>
          <p:cNvPr id="8" name="blocco Più varietà: idee, testi creativi"/>
          <p:cNvSpPr/>
          <p:nvPr/>
        </p:nvSpPr>
        <p:spPr>
          <a:xfrm>
            <a:off x="4709160" y="3703320"/>
            <a:ext cx="3977640" cy="457200"/>
          </a:xfrm>
          <a:prstGeom prst="roundRect">
            <a:avLst>
              <a:gd name="adj" fmla="val 24000"/>
            </a:avLst>
          </a:prstGeom>
          <a:solidFill>
            <a:schemeClr val="bg2"/>
          </a:solidFill>
          <a:ln/>
        </p:spPr>
        <p:txBody>
          <a:bodyPr/>
          <a:lstStyle/>
          <a:p>
            <a:endParaRPr lang="it-IT" noProof="0" dirty="0"/>
          </a:p>
        </p:txBody>
      </p:sp>
      <p:sp>
        <p:nvSpPr>
          <p:cNvPr id="9" name="Text 4"/>
          <p:cNvSpPr txBox="1"/>
          <p:nvPr/>
        </p:nvSpPr>
        <p:spPr>
          <a:xfrm>
            <a:off x="4754880" y="3703320"/>
            <a:ext cx="3886200"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Più varietà: idee, testi creativi</a:t>
            </a:r>
            <a:endParaRPr lang="it-IT" sz="1200" noProof="0" dirty="0"/>
          </a:p>
        </p:txBody>
      </p:sp>
      <p:sp>
        <p:nvSpPr>
          <p:cNvPr id="10" name="Text 5"/>
          <p:cNvSpPr txBox="1"/>
          <p:nvPr/>
        </p:nvSpPr>
        <p:spPr>
          <a:xfrm>
            <a:off x="457200" y="4297680"/>
            <a:ext cx="8229600" cy="320040"/>
          </a:xfrm>
          <a:prstGeom prst="rect">
            <a:avLst/>
          </a:prstGeom>
          <a:noFill/>
          <a:ln/>
        </p:spPr>
        <p:txBody>
          <a:bodyPr wrap="square" lIns="0" tIns="0" rIns="0" bIns="0" rtlCol="0" anchor="t"/>
          <a:lstStyle/>
          <a:p>
            <a:pPr marL="0" indent="0">
              <a:buNone/>
            </a:pPr>
            <a:r>
              <a:rPr lang="it-IT" sz="1100" i="1" noProof="0" dirty="0">
                <a:solidFill>
                  <a:schemeClr val="accent2"/>
                </a:solidFill>
              </a:rPr>
              <a:t>Valori illustrativi. Negli assistenti la temperatura è spesso impostata dal fornitore; via API è regolabile.</a:t>
            </a:r>
            <a:endParaRPr lang="it-IT" sz="11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60</a:t>
            </a:fld>
            <a:endParaRPr lang="it-IT" noProof="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Comportamento deterministico e probabilistico</a:t>
            </a:r>
            <a:endParaRPr lang="it-IT" sz="2600" noProof="0" dirty="0"/>
          </a:p>
        </p:txBody>
      </p:sp>
      <p:sp>
        <p:nvSpPr>
          <p:cNvPr id="4" name="scheda Una risorsa quando cerchiamo"/>
          <p:cNvSpPr/>
          <p:nvPr/>
        </p:nvSpPr>
        <p:spPr>
          <a:xfrm>
            <a:off x="457200" y="1097280"/>
            <a:ext cx="3977640" cy="3429000"/>
          </a:xfrm>
          <a:prstGeom prst="roundRect">
            <a:avLst>
              <a:gd name="adj" fmla="val 2133"/>
            </a:avLst>
          </a:prstGeom>
          <a:solidFill>
            <a:schemeClr val="accent6"/>
          </a:solidFill>
          <a:ln/>
        </p:spPr>
        <p:txBody>
          <a:bodyPr/>
          <a:lstStyle/>
          <a:p>
            <a:endParaRPr lang="it-IT" noProof="0" dirty="0"/>
          </a:p>
        </p:txBody>
      </p:sp>
      <p:sp>
        <p:nvSpPr>
          <p:cNvPr id="5" name="cerchio FiStar"/>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Star"/>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Una risorsa quando cerchiamo</a:t>
            </a:r>
            <a:endParaRPr lang="it-IT" sz="1600" noProof="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400"/>
              </a:spcAft>
              <a:buSzPct val="100000"/>
              <a:buChar char="•"/>
            </a:pPr>
            <a:r>
              <a:rPr lang="it-IT" sz="1300" noProof="0" dirty="0">
                <a:solidFill>
                  <a:schemeClr val="tx2"/>
                </a:solidFill>
              </a:rPr>
              <a:t>Alternative e idee diverse</a:t>
            </a:r>
            <a:endParaRPr lang="it-IT" sz="1300" noProof="0" dirty="0"/>
          </a:p>
          <a:p>
            <a:pPr marL="177800" indent="-177800">
              <a:spcAft>
                <a:spcPts val="400"/>
              </a:spcAft>
              <a:buSzPct val="100000"/>
              <a:buChar char="•"/>
            </a:pPr>
            <a:r>
              <a:rPr lang="it-IT" sz="1300" noProof="0" dirty="0">
                <a:solidFill>
                  <a:schemeClr val="tx2"/>
                </a:solidFill>
              </a:rPr>
              <a:t>Formulazioni e toni differenti</a:t>
            </a:r>
            <a:endParaRPr lang="it-IT" sz="1300" noProof="0" dirty="0"/>
          </a:p>
          <a:p>
            <a:pPr marL="177800" indent="-177800">
              <a:spcAft>
                <a:spcPts val="400"/>
              </a:spcAft>
              <a:buSzPct val="100000"/>
              <a:buChar char="•"/>
            </a:pPr>
            <a:r>
              <a:rPr lang="it-IT" sz="1300" noProof="0" dirty="0">
                <a:solidFill>
                  <a:schemeClr val="tx2"/>
                </a:solidFill>
              </a:rPr>
              <a:t>Una nuova versione di una risposta insoddisfacente</a:t>
            </a:r>
            <a:endParaRPr lang="it-IT" sz="1300" noProof="0" dirty="0"/>
          </a:p>
          <a:p>
            <a:pPr marL="177800" indent="-177800">
              <a:spcAft>
                <a:spcPts val="400"/>
              </a:spcAft>
              <a:buSzPct val="100000"/>
              <a:buChar char="•"/>
            </a:pPr>
            <a:r>
              <a:rPr lang="it-IT" sz="1300" noProof="0" dirty="0">
                <a:solidFill>
                  <a:schemeClr val="tx2"/>
                </a:solidFill>
              </a:rPr>
              <a:t>Spunti creativi e brainstorming</a:t>
            </a:r>
            <a:endParaRPr lang="it-IT" sz="1300" noProof="0" dirty="0"/>
          </a:p>
        </p:txBody>
      </p:sp>
      <p:sp>
        <p:nvSpPr>
          <p:cNvPr id="9" name="scheda Un problema quando serve coerenza"/>
          <p:cNvSpPr/>
          <p:nvPr/>
        </p:nvSpPr>
        <p:spPr>
          <a:xfrm>
            <a:off x="4709160" y="1097280"/>
            <a:ext cx="3977640" cy="3429000"/>
          </a:xfrm>
          <a:prstGeom prst="roundRect">
            <a:avLst>
              <a:gd name="adj" fmla="val 2133"/>
            </a:avLst>
          </a:prstGeom>
          <a:solidFill>
            <a:schemeClr val="bg2"/>
          </a:solidFill>
          <a:ln/>
        </p:spPr>
        <p:txBody>
          <a:bodyPr/>
          <a:lstStyle/>
          <a:p>
            <a:endParaRPr lang="it-IT" noProof="0" dirty="0"/>
          </a:p>
        </p:txBody>
      </p:sp>
      <p:sp>
        <p:nvSpPr>
          <p:cNvPr id="10" name="cerchio FiAlertTriangle"/>
          <p:cNvSpPr/>
          <p:nvPr/>
        </p:nvSpPr>
        <p:spPr>
          <a:xfrm>
            <a:off x="4892040" y="1280160"/>
            <a:ext cx="457200" cy="457200"/>
          </a:xfrm>
          <a:prstGeom prst="ellipse">
            <a:avLst/>
          </a:prstGeom>
          <a:solidFill>
            <a:schemeClr val="accent5"/>
          </a:solidFill>
          <a:ln/>
        </p:spPr>
        <p:txBody>
          <a:bodyPr/>
          <a:lstStyle/>
          <a:p>
            <a:endParaRPr lang="it-IT" noProof="0" dirty="0"/>
          </a:p>
        </p:txBody>
      </p:sp>
      <p:pic>
        <p:nvPicPr>
          <p:cNvPr id="11" name="Image 1" descr="FiAlertTriang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Un problema quando serve coerenza</a:t>
            </a:r>
            <a:endParaRPr lang="it-IT" sz="1600" noProof="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177800" indent="-177800">
              <a:spcAft>
                <a:spcPts val="400"/>
              </a:spcAft>
              <a:buSzPct val="100000"/>
              <a:buChar char="•"/>
            </a:pPr>
            <a:r>
              <a:rPr lang="it-IT" sz="1300" noProof="0" dirty="0">
                <a:solidFill>
                  <a:schemeClr val="tx2"/>
                </a:solidFill>
              </a:rPr>
              <a:t>Estrarre gli stessi campi da molti documenti</a:t>
            </a:r>
            <a:endParaRPr lang="it-IT" sz="1300" noProof="0" dirty="0"/>
          </a:p>
          <a:p>
            <a:pPr marL="177800" indent="-177800">
              <a:spcAft>
                <a:spcPts val="400"/>
              </a:spcAft>
              <a:buSzPct val="100000"/>
              <a:buChar char="•"/>
            </a:pPr>
            <a:r>
              <a:rPr lang="it-IT" sz="1300" noProof="0" dirty="0">
                <a:solidFill>
                  <a:schemeClr val="tx2"/>
                </a:solidFill>
              </a:rPr>
              <a:t>Classificare con criteri uniformi</a:t>
            </a:r>
            <a:endParaRPr lang="it-IT" sz="1300" noProof="0" dirty="0"/>
          </a:p>
          <a:p>
            <a:pPr marL="177800" indent="-177800">
              <a:spcAft>
                <a:spcPts val="400"/>
              </a:spcAft>
              <a:buSzPct val="100000"/>
              <a:buChar char="•"/>
            </a:pPr>
            <a:r>
              <a:rPr lang="it-IT" sz="1300" noProof="0" dirty="0">
                <a:solidFill>
                  <a:schemeClr val="tx2"/>
                </a:solidFill>
              </a:rPr>
              <a:t>Rispettare formule e testi fissi</a:t>
            </a:r>
            <a:endParaRPr lang="it-IT" sz="1300" noProof="0" dirty="0"/>
          </a:p>
          <a:p>
            <a:pPr marL="177800" indent="-177800">
              <a:spcAft>
                <a:spcPts val="400"/>
              </a:spcAft>
              <a:buSzPct val="100000"/>
              <a:buChar char="•"/>
            </a:pPr>
            <a:r>
              <a:rPr lang="it-IT" sz="1300" noProof="0" dirty="0">
                <a:solidFill>
                  <a:schemeClr val="tx2"/>
                </a:solidFill>
              </a:rPr>
              <a:t>Calcoli: meglio affidarli a software deterministico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61</a:t>
            </a:fld>
            <a:endParaRPr lang="it-IT" noProof="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Riproducibilità dei risultati</a:t>
            </a:r>
            <a:endParaRPr lang="it-IT" sz="2600" noProof="0" dirty="0"/>
          </a:p>
        </p:txBody>
      </p:sp>
      <p:sp>
        <p:nvSpPr>
          <p:cNvPr id="4" name="Istruzioni precise"/>
          <p:cNvSpPr/>
          <p:nvPr/>
        </p:nvSpPr>
        <p:spPr>
          <a:xfrm>
            <a:off x="457200" y="1097280"/>
            <a:ext cx="2615184" cy="1325880"/>
          </a:xfrm>
          <a:prstGeom prst="roundRect">
            <a:avLst>
              <a:gd name="adj" fmla="val 5517"/>
            </a:avLst>
          </a:prstGeom>
          <a:solidFill>
            <a:schemeClr val="bg2"/>
          </a:solidFill>
          <a:ln/>
        </p:spPr>
        <p:txBody>
          <a:bodyPr/>
          <a:lstStyle/>
          <a:p>
            <a:endParaRPr lang="it-IT" noProof="0" dirty="0"/>
          </a:p>
        </p:txBody>
      </p:sp>
      <p:sp>
        <p:nvSpPr>
          <p:cNvPr id="5" name="cerchio FiEdit3"/>
          <p:cNvSpPr/>
          <p:nvPr/>
        </p:nvSpPr>
        <p:spPr>
          <a:xfrm>
            <a:off x="621792" y="1280160"/>
            <a:ext cx="457200" cy="457200"/>
          </a:xfrm>
          <a:prstGeom prst="ellipse">
            <a:avLst/>
          </a:prstGeom>
          <a:solidFill>
            <a:schemeClr val="accent1"/>
          </a:solidFill>
          <a:ln/>
        </p:spPr>
        <p:txBody>
          <a:bodyPr/>
          <a:lstStyle/>
          <a:p>
            <a:endParaRPr lang="it-IT" noProof="0" dirty="0"/>
          </a:p>
        </p:txBody>
      </p:sp>
      <p:pic>
        <p:nvPicPr>
          <p:cNvPr id="6" name="Image 0" descr="FiEdit3"/>
          <p:cNvPicPr>
            <a:picLocks noChangeAspect="1"/>
          </p:cNvPicPr>
          <p:nvPr/>
        </p:nvPicPr>
        <p:blipFill>
          <a:blip r:embed="rId3"/>
          <a:stretch>
            <a:fillRect/>
          </a:stretch>
        </p:blipFill>
        <p:spPr>
          <a:xfrm>
            <a:off x="736092" y="1394460"/>
            <a:ext cx="228600" cy="228600"/>
          </a:xfrm>
          <a:prstGeom prst="rect">
            <a:avLst/>
          </a:prstGeom>
        </p:spPr>
      </p:pic>
      <p:sp>
        <p:nvSpPr>
          <p:cNvPr id="7" name="Text 3"/>
          <p:cNvSpPr txBox="1"/>
          <p:nvPr/>
        </p:nvSpPr>
        <p:spPr>
          <a:xfrm>
            <a:off x="1207008" y="1234440"/>
            <a:ext cx="1783080" cy="548640"/>
          </a:xfrm>
          <a:prstGeom prst="rect">
            <a:avLst/>
          </a:prstGeom>
          <a:noFill/>
          <a:ln/>
        </p:spPr>
        <p:txBody>
          <a:bodyPr wrap="square" lIns="0" tIns="0" rIns="0" bIns="0" rtlCol="0" anchor="ctr"/>
          <a:lstStyle/>
          <a:p>
            <a:pPr marL="0" indent="0">
              <a:buNone/>
            </a:pPr>
            <a:r>
              <a:rPr lang="it-IT" sz="1300" b="1" noProof="0" dirty="0">
                <a:solidFill>
                  <a:schemeClr val="tx1"/>
                </a:solidFill>
              </a:rPr>
              <a:t>Istruzioni precise</a:t>
            </a:r>
            <a:endParaRPr lang="it-IT" sz="1300" noProof="0" dirty="0"/>
          </a:p>
        </p:txBody>
      </p:sp>
      <p:sp>
        <p:nvSpPr>
          <p:cNvPr id="8" name="Text 4"/>
          <p:cNvSpPr txBox="1"/>
          <p:nvPr/>
        </p:nvSpPr>
        <p:spPr>
          <a:xfrm>
            <a:off x="621792" y="1847088"/>
            <a:ext cx="2286000" cy="502920"/>
          </a:xfrm>
          <a:prstGeom prst="rect">
            <a:avLst/>
          </a:prstGeom>
          <a:noFill/>
          <a:ln/>
        </p:spPr>
        <p:txBody>
          <a:bodyPr wrap="square" lIns="0" tIns="0" rIns="0" bIns="0" rtlCol="0" anchor="t"/>
          <a:lstStyle/>
          <a:p>
            <a:pPr marL="0" indent="0">
              <a:buNone/>
            </a:pPr>
            <a:r>
              <a:rPr lang="it-IT" sz="1200" noProof="0" dirty="0">
                <a:solidFill>
                  <a:schemeClr val="tx2"/>
                </a:solidFill>
              </a:rPr>
              <a:t>Formato, lunghezza, struttura, criteri</a:t>
            </a:r>
            <a:endParaRPr lang="it-IT" sz="1200" noProof="0" dirty="0"/>
          </a:p>
        </p:txBody>
      </p:sp>
      <p:sp>
        <p:nvSpPr>
          <p:cNvPr id="9" name="Esempi del risultato atteso"/>
          <p:cNvSpPr/>
          <p:nvPr/>
        </p:nvSpPr>
        <p:spPr>
          <a:xfrm>
            <a:off x="3264408" y="1097280"/>
            <a:ext cx="2615184" cy="1325880"/>
          </a:xfrm>
          <a:prstGeom prst="roundRect">
            <a:avLst>
              <a:gd name="adj" fmla="val 5517"/>
            </a:avLst>
          </a:prstGeom>
          <a:solidFill>
            <a:schemeClr val="bg2"/>
          </a:solidFill>
          <a:ln/>
        </p:spPr>
        <p:txBody>
          <a:bodyPr/>
          <a:lstStyle/>
          <a:p>
            <a:endParaRPr lang="it-IT" noProof="0" dirty="0"/>
          </a:p>
        </p:txBody>
      </p:sp>
      <p:sp>
        <p:nvSpPr>
          <p:cNvPr id="10" name="cerchio FiCopy"/>
          <p:cNvSpPr/>
          <p:nvPr/>
        </p:nvSpPr>
        <p:spPr>
          <a:xfrm>
            <a:off x="3429000" y="1280160"/>
            <a:ext cx="457200" cy="457200"/>
          </a:xfrm>
          <a:prstGeom prst="ellipse">
            <a:avLst/>
          </a:prstGeom>
          <a:solidFill>
            <a:schemeClr val="accent1"/>
          </a:solidFill>
          <a:ln/>
        </p:spPr>
        <p:txBody>
          <a:bodyPr/>
          <a:lstStyle/>
          <a:p>
            <a:endParaRPr lang="it-IT" noProof="0" dirty="0"/>
          </a:p>
        </p:txBody>
      </p:sp>
      <p:pic>
        <p:nvPicPr>
          <p:cNvPr id="11" name="Image 1" descr="FiCopy"/>
          <p:cNvPicPr>
            <a:picLocks noChangeAspect="1"/>
          </p:cNvPicPr>
          <p:nvPr/>
        </p:nvPicPr>
        <p:blipFill>
          <a:blip r:embed="rId4"/>
          <a:stretch>
            <a:fillRect/>
          </a:stretch>
        </p:blipFill>
        <p:spPr>
          <a:xfrm>
            <a:off x="3543300" y="1394460"/>
            <a:ext cx="228600" cy="228600"/>
          </a:xfrm>
          <a:prstGeom prst="rect">
            <a:avLst/>
          </a:prstGeom>
        </p:spPr>
      </p:pic>
      <p:sp>
        <p:nvSpPr>
          <p:cNvPr id="12" name="Text 7"/>
          <p:cNvSpPr txBox="1"/>
          <p:nvPr/>
        </p:nvSpPr>
        <p:spPr>
          <a:xfrm>
            <a:off x="4014216" y="1234440"/>
            <a:ext cx="1783080" cy="548640"/>
          </a:xfrm>
          <a:prstGeom prst="rect">
            <a:avLst/>
          </a:prstGeom>
          <a:noFill/>
          <a:ln/>
        </p:spPr>
        <p:txBody>
          <a:bodyPr wrap="square" lIns="0" tIns="0" rIns="0" bIns="0" rtlCol="0" anchor="ctr"/>
          <a:lstStyle/>
          <a:p>
            <a:pPr marL="0" indent="0">
              <a:buNone/>
            </a:pPr>
            <a:r>
              <a:rPr lang="it-IT" sz="1300" b="1" noProof="0" dirty="0">
                <a:solidFill>
                  <a:schemeClr val="tx1"/>
                </a:solidFill>
              </a:rPr>
              <a:t>Esempi del risultato atteso</a:t>
            </a:r>
            <a:endParaRPr lang="it-IT" sz="1300" noProof="0" dirty="0"/>
          </a:p>
        </p:txBody>
      </p:sp>
      <p:sp>
        <p:nvSpPr>
          <p:cNvPr id="13" name="Text 8"/>
          <p:cNvSpPr txBox="1"/>
          <p:nvPr/>
        </p:nvSpPr>
        <p:spPr>
          <a:xfrm>
            <a:off x="3429000" y="1847088"/>
            <a:ext cx="2286000" cy="502920"/>
          </a:xfrm>
          <a:prstGeom prst="rect">
            <a:avLst/>
          </a:prstGeom>
          <a:noFill/>
          <a:ln/>
        </p:spPr>
        <p:txBody>
          <a:bodyPr wrap="square" lIns="0" tIns="0" rIns="0" bIns="0" rtlCol="0" anchor="t"/>
          <a:lstStyle/>
          <a:p>
            <a:pPr marL="0" indent="0">
              <a:buNone/>
            </a:pPr>
            <a:r>
              <a:rPr lang="it-IT" sz="1200" noProof="0" dirty="0">
                <a:solidFill>
                  <a:schemeClr val="tx2"/>
                </a:solidFill>
              </a:rPr>
              <a:t>Il modello tende a imitarli</a:t>
            </a:r>
            <a:endParaRPr lang="it-IT" sz="1200" noProof="0" dirty="0"/>
          </a:p>
        </p:txBody>
      </p:sp>
      <p:sp>
        <p:nvSpPr>
          <p:cNvPr id="14" name="Output strutturati"/>
          <p:cNvSpPr/>
          <p:nvPr/>
        </p:nvSpPr>
        <p:spPr>
          <a:xfrm>
            <a:off x="6071616" y="1097280"/>
            <a:ext cx="2615184" cy="1325880"/>
          </a:xfrm>
          <a:prstGeom prst="roundRect">
            <a:avLst>
              <a:gd name="adj" fmla="val 5517"/>
            </a:avLst>
          </a:prstGeom>
          <a:solidFill>
            <a:schemeClr val="bg2"/>
          </a:solidFill>
          <a:ln/>
        </p:spPr>
        <p:txBody>
          <a:bodyPr/>
          <a:lstStyle/>
          <a:p>
            <a:endParaRPr lang="it-IT" noProof="0" dirty="0"/>
          </a:p>
        </p:txBody>
      </p:sp>
      <p:sp>
        <p:nvSpPr>
          <p:cNvPr id="15" name="cerchio FiGrid"/>
          <p:cNvSpPr/>
          <p:nvPr/>
        </p:nvSpPr>
        <p:spPr>
          <a:xfrm>
            <a:off x="6236208" y="1280160"/>
            <a:ext cx="457200" cy="457200"/>
          </a:xfrm>
          <a:prstGeom prst="ellipse">
            <a:avLst/>
          </a:prstGeom>
          <a:solidFill>
            <a:schemeClr val="accent1"/>
          </a:solidFill>
          <a:ln/>
        </p:spPr>
        <p:txBody>
          <a:bodyPr/>
          <a:lstStyle/>
          <a:p>
            <a:endParaRPr lang="it-IT" noProof="0" dirty="0"/>
          </a:p>
        </p:txBody>
      </p:sp>
      <p:pic>
        <p:nvPicPr>
          <p:cNvPr id="16" name="Image 2" descr="FiGrid"/>
          <p:cNvPicPr>
            <a:picLocks noChangeAspect="1"/>
          </p:cNvPicPr>
          <p:nvPr/>
        </p:nvPicPr>
        <p:blipFill>
          <a:blip r:embed="rId5"/>
          <a:stretch>
            <a:fillRect/>
          </a:stretch>
        </p:blipFill>
        <p:spPr>
          <a:xfrm>
            <a:off x="6350508" y="1394460"/>
            <a:ext cx="228600" cy="228600"/>
          </a:xfrm>
          <a:prstGeom prst="rect">
            <a:avLst/>
          </a:prstGeom>
        </p:spPr>
      </p:pic>
      <p:sp>
        <p:nvSpPr>
          <p:cNvPr id="17" name="Text 11"/>
          <p:cNvSpPr txBox="1"/>
          <p:nvPr/>
        </p:nvSpPr>
        <p:spPr>
          <a:xfrm>
            <a:off x="6821424" y="1234440"/>
            <a:ext cx="1783080" cy="548640"/>
          </a:xfrm>
          <a:prstGeom prst="rect">
            <a:avLst/>
          </a:prstGeom>
          <a:noFill/>
          <a:ln/>
        </p:spPr>
        <p:txBody>
          <a:bodyPr wrap="square" lIns="0" tIns="0" rIns="0" bIns="0" rtlCol="0" anchor="ctr"/>
          <a:lstStyle/>
          <a:p>
            <a:pPr marL="0" indent="0">
              <a:buNone/>
            </a:pPr>
            <a:r>
              <a:rPr lang="it-IT" sz="1300" b="1" noProof="0" dirty="0">
                <a:solidFill>
                  <a:schemeClr val="tx1"/>
                </a:solidFill>
              </a:rPr>
              <a:t>Output strutturati</a:t>
            </a:r>
            <a:endParaRPr lang="it-IT" sz="1300" noProof="0" dirty="0"/>
          </a:p>
        </p:txBody>
      </p:sp>
      <p:sp>
        <p:nvSpPr>
          <p:cNvPr id="18" name="Text 12"/>
          <p:cNvSpPr txBox="1"/>
          <p:nvPr/>
        </p:nvSpPr>
        <p:spPr>
          <a:xfrm>
            <a:off x="6236208" y="1847088"/>
            <a:ext cx="2286000" cy="502920"/>
          </a:xfrm>
          <a:prstGeom prst="rect">
            <a:avLst/>
          </a:prstGeom>
          <a:noFill/>
          <a:ln/>
        </p:spPr>
        <p:txBody>
          <a:bodyPr wrap="square" lIns="0" tIns="0" rIns="0" bIns="0" rtlCol="0" anchor="t"/>
          <a:lstStyle/>
          <a:p>
            <a:pPr marL="0" indent="0">
              <a:buNone/>
            </a:pPr>
            <a:r>
              <a:rPr lang="it-IT" sz="1200" noProof="0" dirty="0">
                <a:solidFill>
                  <a:schemeClr val="tx2"/>
                </a:solidFill>
              </a:rPr>
              <a:t>Tabelle o campi fissi invece di testo libero</a:t>
            </a:r>
            <a:endParaRPr lang="it-IT" sz="1200" noProof="0" dirty="0"/>
          </a:p>
        </p:txBody>
      </p:sp>
      <p:sp>
        <p:nvSpPr>
          <p:cNvPr id="19" name="Temperatura bassa"/>
          <p:cNvSpPr/>
          <p:nvPr/>
        </p:nvSpPr>
        <p:spPr>
          <a:xfrm>
            <a:off x="457200" y="2560320"/>
            <a:ext cx="2615184" cy="1325880"/>
          </a:xfrm>
          <a:prstGeom prst="roundRect">
            <a:avLst>
              <a:gd name="adj" fmla="val 5517"/>
            </a:avLst>
          </a:prstGeom>
          <a:solidFill>
            <a:schemeClr val="bg2"/>
          </a:solidFill>
          <a:ln/>
        </p:spPr>
        <p:txBody>
          <a:bodyPr/>
          <a:lstStyle/>
          <a:p>
            <a:endParaRPr lang="it-IT" noProof="0" dirty="0"/>
          </a:p>
        </p:txBody>
      </p:sp>
      <p:sp>
        <p:nvSpPr>
          <p:cNvPr id="20" name="cerchio FiThermometer"/>
          <p:cNvSpPr/>
          <p:nvPr/>
        </p:nvSpPr>
        <p:spPr>
          <a:xfrm>
            <a:off x="621792" y="2743200"/>
            <a:ext cx="457200" cy="457200"/>
          </a:xfrm>
          <a:prstGeom prst="ellipse">
            <a:avLst/>
          </a:prstGeom>
          <a:solidFill>
            <a:schemeClr val="accent1"/>
          </a:solidFill>
          <a:ln/>
        </p:spPr>
        <p:txBody>
          <a:bodyPr/>
          <a:lstStyle/>
          <a:p>
            <a:endParaRPr lang="it-IT" noProof="0" dirty="0"/>
          </a:p>
        </p:txBody>
      </p:sp>
      <p:pic>
        <p:nvPicPr>
          <p:cNvPr id="21" name="Image 3" descr="FiThermometer"/>
          <p:cNvPicPr>
            <a:picLocks noChangeAspect="1"/>
          </p:cNvPicPr>
          <p:nvPr/>
        </p:nvPicPr>
        <p:blipFill>
          <a:blip r:embed="rId6"/>
          <a:stretch>
            <a:fillRect/>
          </a:stretch>
        </p:blipFill>
        <p:spPr>
          <a:xfrm>
            <a:off x="736092" y="2857500"/>
            <a:ext cx="228600" cy="228600"/>
          </a:xfrm>
          <a:prstGeom prst="rect">
            <a:avLst/>
          </a:prstGeom>
        </p:spPr>
      </p:pic>
      <p:sp>
        <p:nvSpPr>
          <p:cNvPr id="22" name="Text 15"/>
          <p:cNvSpPr txBox="1"/>
          <p:nvPr/>
        </p:nvSpPr>
        <p:spPr>
          <a:xfrm>
            <a:off x="1207008" y="2697480"/>
            <a:ext cx="1783080" cy="548640"/>
          </a:xfrm>
          <a:prstGeom prst="rect">
            <a:avLst/>
          </a:prstGeom>
          <a:noFill/>
          <a:ln/>
        </p:spPr>
        <p:txBody>
          <a:bodyPr wrap="square" lIns="0" tIns="0" rIns="0" bIns="0" rtlCol="0" anchor="ctr"/>
          <a:lstStyle/>
          <a:p>
            <a:pPr marL="0" indent="0">
              <a:buNone/>
            </a:pPr>
            <a:r>
              <a:rPr lang="it-IT" sz="1300" b="1" noProof="0" dirty="0">
                <a:solidFill>
                  <a:schemeClr val="tx1"/>
                </a:solidFill>
              </a:rPr>
              <a:t>Temperatura bassa</a:t>
            </a:r>
            <a:endParaRPr lang="it-IT" sz="1300" noProof="0" dirty="0"/>
          </a:p>
        </p:txBody>
      </p:sp>
      <p:sp>
        <p:nvSpPr>
          <p:cNvPr id="23" name="Text 16"/>
          <p:cNvSpPr txBox="1"/>
          <p:nvPr/>
        </p:nvSpPr>
        <p:spPr>
          <a:xfrm>
            <a:off x="621792" y="3310128"/>
            <a:ext cx="2286000" cy="502920"/>
          </a:xfrm>
          <a:prstGeom prst="rect">
            <a:avLst/>
          </a:prstGeom>
          <a:noFill/>
          <a:ln/>
        </p:spPr>
        <p:txBody>
          <a:bodyPr wrap="square" lIns="0" tIns="0" rIns="0" bIns="0" rtlCol="0" anchor="t"/>
          <a:lstStyle/>
          <a:p>
            <a:pPr marL="0" indent="0">
              <a:buNone/>
            </a:pPr>
            <a:r>
              <a:rPr lang="it-IT" sz="1200" noProof="0" dirty="0">
                <a:solidFill>
                  <a:schemeClr val="tx2"/>
                </a:solidFill>
              </a:rPr>
              <a:t>Quando lo strumento lo consente</a:t>
            </a:r>
            <a:endParaRPr lang="it-IT" sz="1200" noProof="0" dirty="0"/>
          </a:p>
        </p:txBody>
      </p:sp>
      <p:sp>
        <p:nvSpPr>
          <p:cNvPr id="24" name="Prompt salvati e documentati"/>
          <p:cNvSpPr/>
          <p:nvPr/>
        </p:nvSpPr>
        <p:spPr>
          <a:xfrm>
            <a:off x="3264408" y="2560320"/>
            <a:ext cx="2615184" cy="1325880"/>
          </a:xfrm>
          <a:prstGeom prst="roundRect">
            <a:avLst>
              <a:gd name="adj" fmla="val 5517"/>
            </a:avLst>
          </a:prstGeom>
          <a:solidFill>
            <a:schemeClr val="bg2"/>
          </a:solidFill>
          <a:ln/>
        </p:spPr>
        <p:txBody>
          <a:bodyPr/>
          <a:lstStyle/>
          <a:p>
            <a:endParaRPr lang="it-IT" noProof="0" dirty="0"/>
          </a:p>
        </p:txBody>
      </p:sp>
      <p:sp>
        <p:nvSpPr>
          <p:cNvPr id="25" name="cerchio FiSave"/>
          <p:cNvSpPr/>
          <p:nvPr/>
        </p:nvSpPr>
        <p:spPr>
          <a:xfrm>
            <a:off x="3429000" y="2743200"/>
            <a:ext cx="457200" cy="457200"/>
          </a:xfrm>
          <a:prstGeom prst="ellipse">
            <a:avLst/>
          </a:prstGeom>
          <a:solidFill>
            <a:schemeClr val="accent1"/>
          </a:solidFill>
          <a:ln/>
        </p:spPr>
        <p:txBody>
          <a:bodyPr/>
          <a:lstStyle/>
          <a:p>
            <a:endParaRPr lang="it-IT" noProof="0" dirty="0"/>
          </a:p>
        </p:txBody>
      </p:sp>
      <p:pic>
        <p:nvPicPr>
          <p:cNvPr id="26" name="Image 4" descr="FiSave"/>
          <p:cNvPicPr>
            <a:picLocks noChangeAspect="1"/>
          </p:cNvPicPr>
          <p:nvPr/>
        </p:nvPicPr>
        <p:blipFill>
          <a:blip r:embed="rId7"/>
          <a:stretch>
            <a:fillRect/>
          </a:stretch>
        </p:blipFill>
        <p:spPr>
          <a:xfrm>
            <a:off x="3543300" y="2857500"/>
            <a:ext cx="228600" cy="228600"/>
          </a:xfrm>
          <a:prstGeom prst="rect">
            <a:avLst/>
          </a:prstGeom>
        </p:spPr>
      </p:pic>
      <p:sp>
        <p:nvSpPr>
          <p:cNvPr id="27" name="Text 19"/>
          <p:cNvSpPr txBox="1"/>
          <p:nvPr/>
        </p:nvSpPr>
        <p:spPr>
          <a:xfrm>
            <a:off x="4014216" y="2697480"/>
            <a:ext cx="1783080" cy="548640"/>
          </a:xfrm>
          <a:prstGeom prst="rect">
            <a:avLst/>
          </a:prstGeom>
          <a:noFill/>
          <a:ln/>
        </p:spPr>
        <p:txBody>
          <a:bodyPr wrap="square" lIns="0" tIns="0" rIns="0" bIns="0" rtlCol="0" anchor="ctr"/>
          <a:lstStyle/>
          <a:p>
            <a:pPr marL="0" indent="0">
              <a:buNone/>
            </a:pPr>
            <a:r>
              <a:rPr lang="it-IT" sz="1300" b="1" noProof="0" dirty="0">
                <a:solidFill>
                  <a:schemeClr val="tx1"/>
                </a:solidFill>
              </a:rPr>
              <a:t>Prompt salvati e documentati</a:t>
            </a:r>
            <a:endParaRPr lang="it-IT" sz="1300" noProof="0" dirty="0"/>
          </a:p>
        </p:txBody>
      </p:sp>
      <p:sp>
        <p:nvSpPr>
          <p:cNvPr id="28" name="Text 20"/>
          <p:cNvSpPr txBox="1"/>
          <p:nvPr/>
        </p:nvSpPr>
        <p:spPr>
          <a:xfrm>
            <a:off x="3429000" y="3310128"/>
            <a:ext cx="2286000" cy="502920"/>
          </a:xfrm>
          <a:prstGeom prst="rect">
            <a:avLst/>
          </a:prstGeom>
          <a:noFill/>
          <a:ln/>
        </p:spPr>
        <p:txBody>
          <a:bodyPr wrap="square" lIns="0" tIns="0" rIns="0" bIns="0" rtlCol="0" anchor="t"/>
          <a:lstStyle/>
          <a:p>
            <a:pPr marL="0" indent="0">
              <a:buNone/>
            </a:pPr>
            <a:r>
              <a:rPr lang="it-IT" sz="1200" noProof="0" dirty="0">
                <a:solidFill>
                  <a:schemeClr val="tx2"/>
                </a:solidFill>
              </a:rPr>
              <a:t>Riutilizzare ciò che funziona</a:t>
            </a:r>
            <a:endParaRPr lang="it-IT" sz="1200" noProof="0" dirty="0"/>
          </a:p>
        </p:txBody>
      </p:sp>
      <p:sp>
        <p:nvSpPr>
          <p:cNvPr id="29" name="Versioni annotate"/>
          <p:cNvSpPr/>
          <p:nvPr/>
        </p:nvSpPr>
        <p:spPr>
          <a:xfrm>
            <a:off x="6071616" y="2560320"/>
            <a:ext cx="2615184" cy="1325880"/>
          </a:xfrm>
          <a:prstGeom prst="roundRect">
            <a:avLst>
              <a:gd name="adj" fmla="val 5517"/>
            </a:avLst>
          </a:prstGeom>
          <a:solidFill>
            <a:schemeClr val="bg2"/>
          </a:solidFill>
          <a:ln/>
        </p:spPr>
        <p:txBody>
          <a:bodyPr/>
          <a:lstStyle/>
          <a:p>
            <a:endParaRPr lang="it-IT" noProof="0" dirty="0"/>
          </a:p>
        </p:txBody>
      </p:sp>
      <p:sp>
        <p:nvSpPr>
          <p:cNvPr id="30" name="cerchio FiTag"/>
          <p:cNvSpPr/>
          <p:nvPr/>
        </p:nvSpPr>
        <p:spPr>
          <a:xfrm>
            <a:off x="6236208" y="2743200"/>
            <a:ext cx="457200" cy="457200"/>
          </a:xfrm>
          <a:prstGeom prst="ellipse">
            <a:avLst/>
          </a:prstGeom>
          <a:solidFill>
            <a:schemeClr val="accent1"/>
          </a:solidFill>
          <a:ln/>
        </p:spPr>
        <p:txBody>
          <a:bodyPr/>
          <a:lstStyle/>
          <a:p>
            <a:endParaRPr lang="it-IT" noProof="0" dirty="0"/>
          </a:p>
        </p:txBody>
      </p:sp>
      <p:pic>
        <p:nvPicPr>
          <p:cNvPr id="31" name="Image 5" descr="FiTag"/>
          <p:cNvPicPr>
            <a:picLocks noChangeAspect="1"/>
          </p:cNvPicPr>
          <p:nvPr/>
        </p:nvPicPr>
        <p:blipFill>
          <a:blip r:embed="rId8"/>
          <a:stretch>
            <a:fillRect/>
          </a:stretch>
        </p:blipFill>
        <p:spPr>
          <a:xfrm>
            <a:off x="6350508" y="2857500"/>
            <a:ext cx="228600" cy="228600"/>
          </a:xfrm>
          <a:prstGeom prst="rect">
            <a:avLst/>
          </a:prstGeom>
        </p:spPr>
      </p:pic>
      <p:sp>
        <p:nvSpPr>
          <p:cNvPr id="32" name="Text 23"/>
          <p:cNvSpPr txBox="1"/>
          <p:nvPr/>
        </p:nvSpPr>
        <p:spPr>
          <a:xfrm>
            <a:off x="6821424" y="2697480"/>
            <a:ext cx="1783080" cy="548640"/>
          </a:xfrm>
          <a:prstGeom prst="rect">
            <a:avLst/>
          </a:prstGeom>
          <a:noFill/>
          <a:ln/>
        </p:spPr>
        <p:txBody>
          <a:bodyPr wrap="square" lIns="0" tIns="0" rIns="0" bIns="0" rtlCol="0" anchor="ctr"/>
          <a:lstStyle/>
          <a:p>
            <a:pPr marL="0" indent="0">
              <a:buNone/>
            </a:pPr>
            <a:r>
              <a:rPr lang="it-IT" sz="1300" b="1" noProof="0" dirty="0">
                <a:solidFill>
                  <a:schemeClr val="tx1"/>
                </a:solidFill>
              </a:rPr>
              <a:t>Versioni annotate</a:t>
            </a:r>
            <a:endParaRPr lang="it-IT" sz="1300" noProof="0" dirty="0"/>
          </a:p>
        </p:txBody>
      </p:sp>
      <p:sp>
        <p:nvSpPr>
          <p:cNvPr id="33" name="Text 24"/>
          <p:cNvSpPr txBox="1"/>
          <p:nvPr/>
        </p:nvSpPr>
        <p:spPr>
          <a:xfrm>
            <a:off x="6236208" y="3310128"/>
            <a:ext cx="2286000" cy="502920"/>
          </a:xfrm>
          <a:prstGeom prst="rect">
            <a:avLst/>
          </a:prstGeom>
          <a:noFill/>
          <a:ln/>
        </p:spPr>
        <p:txBody>
          <a:bodyPr wrap="square" lIns="0" tIns="0" rIns="0" bIns="0" rtlCol="0" anchor="t"/>
          <a:lstStyle/>
          <a:p>
            <a:pPr marL="0" indent="0">
              <a:buNone/>
            </a:pPr>
            <a:r>
              <a:rPr lang="it-IT" sz="1200" noProof="0" dirty="0">
                <a:solidFill>
                  <a:schemeClr val="tx2"/>
                </a:solidFill>
              </a:rPr>
              <a:t>Riverificare dopo gli aggiornamenti</a:t>
            </a:r>
            <a:endParaRPr lang="it-IT" sz="1200" noProof="0" dirty="0"/>
          </a:p>
        </p:txBody>
      </p:sp>
      <p:sp>
        <p:nvSpPr>
          <p:cNvPr id="34" name="Text 25"/>
          <p:cNvSpPr txBox="1"/>
          <p:nvPr/>
        </p:nvSpPr>
        <p:spPr>
          <a:xfrm>
            <a:off x="457200" y="4114800"/>
            <a:ext cx="8229600" cy="411480"/>
          </a:xfrm>
          <a:prstGeom prst="rect">
            <a:avLst/>
          </a:prstGeom>
          <a:noFill/>
          <a:ln/>
        </p:spPr>
        <p:txBody>
          <a:bodyPr wrap="square" lIns="0" tIns="0" rIns="0" bIns="0" rtlCol="0" anchor="t"/>
          <a:lstStyle/>
          <a:p>
            <a:pPr marL="0" indent="0">
              <a:buNone/>
            </a:pPr>
            <a:r>
              <a:rPr lang="it-IT" sz="1300" i="1" noProof="0" dirty="0">
                <a:solidFill>
                  <a:schemeClr val="tx1"/>
                </a:solidFill>
              </a:rPr>
              <a:t>Insieme rendono i risultati molto più coerenti, anche se una riproducibilità assoluta non è di norma ottenibile.</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62</a:t>
            </a:fld>
            <a:endParaRPr lang="it-IT" noProof="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Variabilità non significa errore</a:t>
            </a:r>
            <a:endParaRPr lang="it-IT" sz="2600" noProof="0" dirty="0"/>
          </a:p>
        </p:txBody>
      </p:sp>
      <p:sp>
        <p:nvSpPr>
          <p:cNvPr id="4" name="Text 1"/>
          <p:cNvSpPr txBox="1"/>
          <p:nvPr/>
        </p:nvSpPr>
        <p:spPr>
          <a:xfrm>
            <a:off x="1463040" y="1051560"/>
            <a:ext cx="3291840" cy="274320"/>
          </a:xfrm>
          <a:prstGeom prst="rect">
            <a:avLst/>
          </a:prstGeom>
          <a:noFill/>
          <a:ln/>
        </p:spPr>
        <p:txBody>
          <a:bodyPr wrap="square" lIns="0" tIns="0" rIns="0" bIns="0" rtlCol="0" anchor="t"/>
          <a:lstStyle/>
          <a:p>
            <a:pPr marL="0" indent="0" algn="ctr">
              <a:buNone/>
            </a:pPr>
            <a:r>
              <a:rPr lang="it-IT" sz="1200" b="1" noProof="0" dirty="0">
                <a:solidFill>
                  <a:schemeClr val="accent2"/>
                </a:solidFill>
              </a:rPr>
              <a:t>La risposta varia</a:t>
            </a:r>
            <a:endParaRPr lang="it-IT" sz="1200" noProof="0" dirty="0"/>
          </a:p>
        </p:txBody>
      </p:sp>
      <p:sp>
        <p:nvSpPr>
          <p:cNvPr id="5" name="Text 2"/>
          <p:cNvSpPr txBox="1"/>
          <p:nvPr/>
        </p:nvSpPr>
        <p:spPr>
          <a:xfrm>
            <a:off x="4937760" y="1051560"/>
            <a:ext cx="3291840" cy="274320"/>
          </a:xfrm>
          <a:prstGeom prst="rect">
            <a:avLst/>
          </a:prstGeom>
          <a:noFill/>
          <a:ln/>
        </p:spPr>
        <p:txBody>
          <a:bodyPr wrap="square" lIns="0" tIns="0" rIns="0" bIns="0" rtlCol="0" anchor="t"/>
          <a:lstStyle/>
          <a:p>
            <a:pPr marL="0" indent="0" algn="ctr">
              <a:buNone/>
            </a:pPr>
            <a:r>
              <a:rPr lang="it-IT" sz="1200" b="1" noProof="0" dirty="0">
                <a:solidFill>
                  <a:schemeClr val="accent2"/>
                </a:solidFill>
              </a:rPr>
              <a:t>La risposta è stabile</a:t>
            </a:r>
            <a:endParaRPr lang="it-IT" sz="1200" noProof="0" dirty="0"/>
          </a:p>
        </p:txBody>
      </p:sp>
      <p:sp>
        <p:nvSpPr>
          <p:cNvPr id="6" name="Text 3"/>
          <p:cNvSpPr txBox="1"/>
          <p:nvPr/>
        </p:nvSpPr>
        <p:spPr>
          <a:xfrm>
            <a:off x="457200" y="1371600"/>
            <a:ext cx="914400" cy="1417320"/>
          </a:xfrm>
          <a:prstGeom prst="rect">
            <a:avLst/>
          </a:prstGeom>
          <a:noFill/>
          <a:ln/>
        </p:spPr>
        <p:txBody>
          <a:bodyPr wrap="square" lIns="0" tIns="0" rIns="0" bIns="0" rtlCol="0" anchor="ctr"/>
          <a:lstStyle/>
          <a:p>
            <a:pPr marL="0" indent="0">
              <a:buNone/>
            </a:pPr>
            <a:r>
              <a:rPr lang="it-IT" sz="1200" b="1" noProof="0" dirty="0">
                <a:solidFill>
                  <a:schemeClr val="accent2"/>
                </a:solidFill>
              </a:rPr>
              <a:t>Corretta</a:t>
            </a:r>
            <a:endParaRPr lang="it-IT" sz="1200" noProof="0" dirty="0"/>
          </a:p>
        </p:txBody>
      </p:sp>
      <p:sp>
        <p:nvSpPr>
          <p:cNvPr id="7" name="Text 4"/>
          <p:cNvSpPr txBox="1"/>
          <p:nvPr/>
        </p:nvSpPr>
        <p:spPr>
          <a:xfrm>
            <a:off x="457200" y="2926080"/>
            <a:ext cx="914400" cy="1417320"/>
          </a:xfrm>
          <a:prstGeom prst="rect">
            <a:avLst/>
          </a:prstGeom>
          <a:noFill/>
          <a:ln/>
        </p:spPr>
        <p:txBody>
          <a:bodyPr wrap="square" lIns="0" tIns="0" rIns="0" bIns="0" rtlCol="0" anchor="ctr"/>
          <a:lstStyle/>
          <a:p>
            <a:pPr marL="0" indent="0">
              <a:buNone/>
            </a:pPr>
            <a:r>
              <a:rPr lang="it-IT" sz="1200" b="1" noProof="0" dirty="0">
                <a:solidFill>
                  <a:schemeClr val="accent2"/>
                </a:solidFill>
              </a:rPr>
              <a:t>Errata</a:t>
            </a:r>
            <a:endParaRPr lang="it-IT" sz="1200" noProof="0" dirty="0"/>
          </a:p>
        </p:txBody>
      </p:sp>
      <p:sp>
        <p:nvSpPr>
          <p:cNvPr id="8" name="Varia ma corretta"/>
          <p:cNvSpPr/>
          <p:nvPr/>
        </p:nvSpPr>
        <p:spPr>
          <a:xfrm>
            <a:off x="1463040" y="1371600"/>
            <a:ext cx="3291840" cy="1417320"/>
          </a:xfrm>
          <a:prstGeom prst="roundRect">
            <a:avLst>
              <a:gd name="adj" fmla="val 5161"/>
            </a:avLst>
          </a:prstGeom>
          <a:solidFill>
            <a:schemeClr val="accent6"/>
          </a:solidFill>
          <a:ln/>
        </p:spPr>
        <p:txBody>
          <a:bodyPr/>
          <a:lstStyle/>
          <a:p>
            <a:endParaRPr lang="it-IT" noProof="0" dirty="0"/>
          </a:p>
        </p:txBody>
      </p:sp>
      <p:sp>
        <p:nvSpPr>
          <p:cNvPr id="9" name="Text 6"/>
          <p:cNvSpPr txBox="1"/>
          <p:nvPr/>
        </p:nvSpPr>
        <p:spPr>
          <a:xfrm>
            <a:off x="1645920" y="1508760"/>
            <a:ext cx="2926080" cy="365760"/>
          </a:xfrm>
          <a:prstGeom prst="rect">
            <a:avLst/>
          </a:prstGeom>
          <a:noFill/>
          <a:ln/>
        </p:spPr>
        <p:txBody>
          <a:bodyPr wrap="square" lIns="0" tIns="0" rIns="0" bIns="0" rtlCol="0" anchor="t"/>
          <a:lstStyle/>
          <a:p>
            <a:pPr marL="0" indent="0">
              <a:buNone/>
            </a:pPr>
            <a:r>
              <a:rPr lang="it-IT" sz="1600" b="1" noProof="0" dirty="0">
                <a:solidFill>
                  <a:schemeClr val="tx1"/>
                </a:solidFill>
              </a:rPr>
              <a:t>Varia ma corretta</a:t>
            </a:r>
            <a:endParaRPr lang="it-IT" sz="1600" noProof="0" dirty="0"/>
          </a:p>
        </p:txBody>
      </p:sp>
      <p:sp>
        <p:nvSpPr>
          <p:cNvPr id="10" name="Text 7"/>
          <p:cNvSpPr txBox="1"/>
          <p:nvPr/>
        </p:nvSpPr>
        <p:spPr>
          <a:xfrm>
            <a:off x="1645920" y="1847088"/>
            <a:ext cx="2926080" cy="475488"/>
          </a:xfrm>
          <a:prstGeom prst="rect">
            <a:avLst/>
          </a:prstGeom>
          <a:noFill/>
          <a:ln/>
        </p:spPr>
        <p:txBody>
          <a:bodyPr wrap="square" lIns="0" tIns="0" rIns="0" bIns="0" rtlCol="0" anchor="t"/>
          <a:lstStyle/>
          <a:p>
            <a:pPr marL="0" indent="0">
              <a:buNone/>
            </a:pPr>
            <a:r>
              <a:rPr lang="it-IT" sz="1200" noProof="0" dirty="0">
                <a:solidFill>
                  <a:schemeClr val="tx1"/>
                </a:solidFill>
              </a:rPr>
              <a:t>Formulazioni diverse, tutte valide</a:t>
            </a:r>
            <a:endParaRPr lang="it-IT" sz="1200" noProof="0" dirty="0"/>
          </a:p>
        </p:txBody>
      </p:sp>
      <p:sp>
        <p:nvSpPr>
          <p:cNvPr id="11" name="Text 8"/>
          <p:cNvSpPr txBox="1"/>
          <p:nvPr/>
        </p:nvSpPr>
        <p:spPr>
          <a:xfrm>
            <a:off x="1645920" y="2359152"/>
            <a:ext cx="2926080" cy="320040"/>
          </a:xfrm>
          <a:prstGeom prst="rect">
            <a:avLst/>
          </a:prstGeom>
          <a:noFill/>
          <a:ln/>
        </p:spPr>
        <p:txBody>
          <a:bodyPr wrap="square" lIns="0" tIns="0" rIns="0" bIns="0" rtlCol="0" anchor="t"/>
          <a:lstStyle/>
          <a:p>
            <a:pPr marL="0" indent="0">
              <a:buNone/>
            </a:pPr>
            <a:r>
              <a:rPr lang="it-IT" sz="1100" i="1" noProof="0" dirty="0">
                <a:solidFill>
                  <a:schemeClr val="tx1"/>
                </a:solidFill>
              </a:rPr>
              <a:t>Es.: tre titoli diversi per la newsletter</a:t>
            </a:r>
            <a:endParaRPr lang="it-IT" sz="1100" noProof="0" dirty="0"/>
          </a:p>
        </p:txBody>
      </p:sp>
      <p:sp>
        <p:nvSpPr>
          <p:cNvPr id="12" name="Stabile e corretta"/>
          <p:cNvSpPr/>
          <p:nvPr/>
        </p:nvSpPr>
        <p:spPr>
          <a:xfrm>
            <a:off x="4937760" y="1371600"/>
            <a:ext cx="3291840" cy="1417320"/>
          </a:xfrm>
          <a:prstGeom prst="roundRect">
            <a:avLst>
              <a:gd name="adj" fmla="val 5161"/>
            </a:avLst>
          </a:prstGeom>
          <a:solidFill>
            <a:schemeClr val="accent1"/>
          </a:solidFill>
          <a:ln/>
        </p:spPr>
        <p:txBody>
          <a:bodyPr/>
          <a:lstStyle/>
          <a:p>
            <a:endParaRPr lang="it-IT" noProof="0" dirty="0"/>
          </a:p>
        </p:txBody>
      </p:sp>
      <p:sp>
        <p:nvSpPr>
          <p:cNvPr id="13" name="Text 10"/>
          <p:cNvSpPr txBox="1"/>
          <p:nvPr/>
        </p:nvSpPr>
        <p:spPr>
          <a:xfrm>
            <a:off x="5120640" y="1508760"/>
            <a:ext cx="2926080" cy="365760"/>
          </a:xfrm>
          <a:prstGeom prst="rect">
            <a:avLst/>
          </a:prstGeom>
          <a:noFill/>
          <a:ln/>
        </p:spPr>
        <p:txBody>
          <a:bodyPr wrap="square" lIns="0" tIns="0" rIns="0" bIns="0" rtlCol="0" anchor="t"/>
          <a:lstStyle/>
          <a:p>
            <a:pPr marL="0" indent="0">
              <a:buNone/>
            </a:pPr>
            <a:r>
              <a:rPr lang="it-IT" sz="1600" b="1" noProof="0" dirty="0">
                <a:solidFill>
                  <a:schemeClr val="bg1"/>
                </a:solidFill>
              </a:rPr>
              <a:t>Stabile e corretta</a:t>
            </a:r>
            <a:endParaRPr lang="it-IT" sz="1600" noProof="0" dirty="0"/>
          </a:p>
        </p:txBody>
      </p:sp>
      <p:sp>
        <p:nvSpPr>
          <p:cNvPr id="14" name="Text 11"/>
          <p:cNvSpPr txBox="1"/>
          <p:nvPr/>
        </p:nvSpPr>
        <p:spPr>
          <a:xfrm>
            <a:off x="5120640" y="1847088"/>
            <a:ext cx="2926080" cy="475488"/>
          </a:xfrm>
          <a:prstGeom prst="rect">
            <a:avLst/>
          </a:prstGeom>
          <a:noFill/>
          <a:ln/>
        </p:spPr>
        <p:txBody>
          <a:bodyPr wrap="square" lIns="0" tIns="0" rIns="0" bIns="0" rtlCol="0" anchor="t"/>
          <a:lstStyle/>
          <a:p>
            <a:pPr marL="0" indent="0">
              <a:buNone/>
            </a:pPr>
            <a:r>
              <a:rPr lang="it-IT" sz="1200" noProof="0" dirty="0">
                <a:solidFill>
                  <a:schemeClr val="bg1"/>
                </a:solidFill>
              </a:rPr>
              <a:t>Ideale per i compiti che richiedono coerenza</a:t>
            </a:r>
            <a:endParaRPr lang="it-IT" sz="1200" noProof="0" dirty="0"/>
          </a:p>
        </p:txBody>
      </p:sp>
      <p:sp>
        <p:nvSpPr>
          <p:cNvPr id="15" name="Text 12"/>
          <p:cNvSpPr txBox="1"/>
          <p:nvPr/>
        </p:nvSpPr>
        <p:spPr>
          <a:xfrm>
            <a:off x="5120640" y="2359152"/>
            <a:ext cx="2926080" cy="320040"/>
          </a:xfrm>
          <a:prstGeom prst="rect">
            <a:avLst/>
          </a:prstGeom>
          <a:noFill/>
          <a:ln/>
        </p:spPr>
        <p:txBody>
          <a:bodyPr wrap="square" lIns="0" tIns="0" rIns="0" bIns="0" rtlCol="0" anchor="t"/>
          <a:lstStyle/>
          <a:p>
            <a:pPr marL="0" indent="0">
              <a:buNone/>
            </a:pPr>
            <a:r>
              <a:rPr lang="it-IT" sz="1100" i="1" noProof="0" dirty="0">
                <a:solidFill>
                  <a:schemeClr val="bg1"/>
                </a:solidFill>
              </a:rPr>
              <a:t>Es.: la stessa categoria per lo stesso ticket</a:t>
            </a:r>
            <a:endParaRPr lang="it-IT" sz="1100" noProof="0" dirty="0"/>
          </a:p>
        </p:txBody>
      </p:sp>
      <p:sp>
        <p:nvSpPr>
          <p:cNvPr id="16" name="Varia ed errata"/>
          <p:cNvSpPr/>
          <p:nvPr/>
        </p:nvSpPr>
        <p:spPr>
          <a:xfrm>
            <a:off x="1463040" y="2926080"/>
            <a:ext cx="3291840" cy="1417320"/>
          </a:xfrm>
          <a:prstGeom prst="roundRect">
            <a:avLst>
              <a:gd name="adj" fmla="val 5161"/>
            </a:avLst>
          </a:prstGeom>
          <a:solidFill>
            <a:schemeClr val="bg2"/>
          </a:solidFill>
          <a:ln/>
        </p:spPr>
        <p:txBody>
          <a:bodyPr/>
          <a:lstStyle/>
          <a:p>
            <a:endParaRPr lang="it-IT" noProof="0" dirty="0"/>
          </a:p>
        </p:txBody>
      </p:sp>
      <p:sp>
        <p:nvSpPr>
          <p:cNvPr id="17" name="Text 14"/>
          <p:cNvSpPr txBox="1"/>
          <p:nvPr/>
        </p:nvSpPr>
        <p:spPr>
          <a:xfrm>
            <a:off x="1645920" y="3063240"/>
            <a:ext cx="2926080" cy="365760"/>
          </a:xfrm>
          <a:prstGeom prst="rect">
            <a:avLst/>
          </a:prstGeom>
          <a:noFill/>
          <a:ln/>
        </p:spPr>
        <p:txBody>
          <a:bodyPr wrap="square" lIns="0" tIns="0" rIns="0" bIns="0" rtlCol="0" anchor="t"/>
          <a:lstStyle/>
          <a:p>
            <a:pPr marL="0" indent="0">
              <a:buNone/>
            </a:pPr>
            <a:r>
              <a:rPr lang="it-IT" sz="1600" b="1" noProof="0" dirty="0">
                <a:solidFill>
                  <a:schemeClr val="tx1"/>
                </a:solidFill>
              </a:rPr>
              <a:t>Varia ed errata</a:t>
            </a:r>
            <a:endParaRPr lang="it-IT" sz="1600" noProof="0" dirty="0"/>
          </a:p>
        </p:txBody>
      </p:sp>
      <p:sp>
        <p:nvSpPr>
          <p:cNvPr id="18" name="Text 15"/>
          <p:cNvSpPr txBox="1"/>
          <p:nvPr/>
        </p:nvSpPr>
        <p:spPr>
          <a:xfrm>
            <a:off x="1645920" y="3401568"/>
            <a:ext cx="2926080" cy="475488"/>
          </a:xfrm>
          <a:prstGeom prst="rect">
            <a:avLst/>
          </a:prstGeom>
          <a:noFill/>
          <a:ln/>
        </p:spPr>
        <p:txBody>
          <a:bodyPr wrap="square" lIns="0" tIns="0" rIns="0" bIns="0" rtlCol="0" anchor="t"/>
          <a:lstStyle/>
          <a:p>
            <a:pPr marL="0" indent="0">
              <a:buNone/>
            </a:pPr>
            <a:r>
              <a:rPr lang="it-IT" sz="1200" noProof="0" dirty="0">
                <a:solidFill>
                  <a:schemeClr val="tx1"/>
                </a:solidFill>
              </a:rPr>
              <a:t>Risposte molto diverse a una domanda fattuale: segnale da verificare</a:t>
            </a:r>
            <a:endParaRPr lang="it-IT" sz="1200" noProof="0" dirty="0"/>
          </a:p>
        </p:txBody>
      </p:sp>
      <p:sp>
        <p:nvSpPr>
          <p:cNvPr id="19" name="Text 16"/>
          <p:cNvSpPr txBox="1"/>
          <p:nvPr/>
        </p:nvSpPr>
        <p:spPr>
          <a:xfrm>
            <a:off x="1645920" y="3913632"/>
            <a:ext cx="2926080" cy="320040"/>
          </a:xfrm>
          <a:prstGeom prst="rect">
            <a:avLst/>
          </a:prstGeom>
          <a:noFill/>
          <a:ln/>
        </p:spPr>
        <p:txBody>
          <a:bodyPr wrap="square" lIns="0" tIns="0" rIns="0" bIns="0" rtlCol="0" anchor="t"/>
          <a:lstStyle/>
          <a:p>
            <a:pPr marL="0" indent="0">
              <a:buNone/>
            </a:pPr>
            <a:r>
              <a:rPr lang="it-IT" sz="1100" i="1" noProof="0" dirty="0">
                <a:solidFill>
                  <a:schemeClr val="tx1"/>
                </a:solidFill>
              </a:rPr>
              <a:t>Es.: tre date diverse per la stessa scadenza</a:t>
            </a:r>
            <a:endParaRPr lang="it-IT" sz="1100" noProof="0" dirty="0"/>
          </a:p>
        </p:txBody>
      </p:sp>
      <p:sp>
        <p:nvSpPr>
          <p:cNvPr id="20" name="Stabile ma errata"/>
          <p:cNvSpPr/>
          <p:nvPr/>
        </p:nvSpPr>
        <p:spPr>
          <a:xfrm>
            <a:off x="4937760" y="2926080"/>
            <a:ext cx="3291840" cy="1417320"/>
          </a:xfrm>
          <a:prstGeom prst="roundRect">
            <a:avLst>
              <a:gd name="adj" fmla="val 5161"/>
            </a:avLst>
          </a:prstGeom>
          <a:solidFill>
            <a:schemeClr val="tx1"/>
          </a:solidFill>
          <a:ln/>
        </p:spPr>
        <p:txBody>
          <a:bodyPr/>
          <a:lstStyle/>
          <a:p>
            <a:endParaRPr lang="it-IT" noProof="0" dirty="0"/>
          </a:p>
        </p:txBody>
      </p:sp>
      <p:sp>
        <p:nvSpPr>
          <p:cNvPr id="21" name="Text 18"/>
          <p:cNvSpPr txBox="1"/>
          <p:nvPr/>
        </p:nvSpPr>
        <p:spPr>
          <a:xfrm>
            <a:off x="5120640" y="3063240"/>
            <a:ext cx="2926080" cy="365760"/>
          </a:xfrm>
          <a:prstGeom prst="rect">
            <a:avLst/>
          </a:prstGeom>
          <a:noFill/>
          <a:ln/>
        </p:spPr>
        <p:txBody>
          <a:bodyPr wrap="square" lIns="0" tIns="0" rIns="0" bIns="0" rtlCol="0" anchor="t"/>
          <a:lstStyle/>
          <a:p>
            <a:pPr marL="0" indent="0">
              <a:buNone/>
            </a:pPr>
            <a:r>
              <a:rPr lang="it-IT" sz="1600" b="1" noProof="0" dirty="0">
                <a:solidFill>
                  <a:schemeClr val="bg1"/>
                </a:solidFill>
              </a:rPr>
              <a:t>Stabile ma errata</a:t>
            </a:r>
            <a:endParaRPr lang="it-IT" sz="1600" noProof="0" dirty="0"/>
          </a:p>
        </p:txBody>
      </p:sp>
      <p:sp>
        <p:nvSpPr>
          <p:cNvPr id="22" name="Text 19"/>
          <p:cNvSpPr txBox="1"/>
          <p:nvPr/>
        </p:nvSpPr>
        <p:spPr>
          <a:xfrm>
            <a:off x="5120640" y="3401568"/>
            <a:ext cx="2926080" cy="475488"/>
          </a:xfrm>
          <a:prstGeom prst="rect">
            <a:avLst/>
          </a:prstGeom>
          <a:noFill/>
          <a:ln/>
        </p:spPr>
        <p:txBody>
          <a:bodyPr wrap="square" lIns="0" tIns="0" rIns="0" bIns="0" rtlCol="0" anchor="t"/>
          <a:lstStyle/>
          <a:p>
            <a:pPr marL="0" indent="0">
              <a:buNone/>
            </a:pPr>
            <a:r>
              <a:rPr lang="it-IT" sz="1200" noProof="0" dirty="0">
                <a:solidFill>
                  <a:schemeClr val="bg1"/>
                </a:solidFill>
              </a:rPr>
              <a:t>Il caso più insidioso: la ripetizione dà un falso senso di sicurezza</a:t>
            </a:r>
            <a:endParaRPr lang="it-IT" sz="1200" noProof="0" dirty="0"/>
          </a:p>
        </p:txBody>
      </p:sp>
      <p:sp>
        <p:nvSpPr>
          <p:cNvPr id="23" name="Text 20"/>
          <p:cNvSpPr txBox="1"/>
          <p:nvPr/>
        </p:nvSpPr>
        <p:spPr>
          <a:xfrm>
            <a:off x="5120640" y="3913632"/>
            <a:ext cx="2926080" cy="320040"/>
          </a:xfrm>
          <a:prstGeom prst="rect">
            <a:avLst/>
          </a:prstGeom>
          <a:noFill/>
          <a:ln/>
        </p:spPr>
        <p:txBody>
          <a:bodyPr wrap="square" lIns="0" tIns="0" rIns="0" bIns="0" rtlCol="0" anchor="t"/>
          <a:lstStyle/>
          <a:p>
            <a:pPr marL="0" indent="0">
              <a:buNone/>
            </a:pPr>
            <a:r>
              <a:rPr lang="it-IT" sz="1100" i="1" noProof="0" dirty="0">
                <a:solidFill>
                  <a:schemeClr val="bg1"/>
                </a:solidFill>
              </a:rPr>
              <a:t>Es.: un prezzo superato, ripetuto ogni volta</a:t>
            </a:r>
            <a:endParaRPr lang="it-IT" sz="1100" noProof="0" dirty="0"/>
          </a:p>
        </p:txBody>
      </p:sp>
      <p:sp>
        <p:nvSpPr>
          <p:cNvPr id="24" name="Text 21"/>
          <p:cNvSpPr txBox="1"/>
          <p:nvPr/>
        </p:nvSpPr>
        <p:spPr>
          <a:xfrm>
            <a:off x="1463040" y="4434840"/>
            <a:ext cx="6766560" cy="274320"/>
          </a:xfrm>
          <a:prstGeom prst="rect">
            <a:avLst/>
          </a:prstGeom>
          <a:noFill/>
          <a:ln/>
        </p:spPr>
        <p:txBody>
          <a:bodyPr wrap="square" lIns="0" tIns="0" rIns="0" bIns="0" rtlCol="0" anchor="t"/>
          <a:lstStyle/>
          <a:p>
            <a:pPr marL="0" indent="0" algn="ctr">
              <a:buNone/>
            </a:pPr>
            <a:r>
              <a:rPr lang="it-IT" sz="1200" i="1" noProof="0" dirty="0">
                <a:solidFill>
                  <a:schemeClr val="tx1"/>
                </a:solidFill>
              </a:rPr>
              <a:t>La variabilità non è un errore; la stabilità non è una garanzia.</a:t>
            </a:r>
            <a:endParaRPr lang="it-IT" sz="12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63</a:t>
            </a:fld>
            <a:endParaRPr lang="it-IT" noProof="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name="Slide 6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noProof="0" dirty="0">
                <a:solidFill>
                  <a:schemeClr val="bg1"/>
                </a:solidFill>
              </a:rPr>
              <a:t>Una stessa richiesta può produrre risposte differenti; la variabilità è distinta dalla questione della correttezza e dell'affidabilità.</a:t>
            </a:r>
            <a:endParaRPr lang="it-IT" sz="2600" noProof="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noProof="0" dirty="0">
                <a:solidFill>
                  <a:schemeClr val="accent3"/>
                </a:solidFill>
              </a:rPr>
              <a:t>Sottotema 2.7  ·  Variabilità dei risultati</a:t>
            </a:r>
            <a:endParaRPr lang="it-IT" sz="13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64</a:t>
            </a:fld>
            <a:endParaRPr lang="it-IT" noProof="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Le domande guida: le nostre risposte</a:t>
            </a:r>
            <a:endParaRPr lang="it-IT" sz="2600" noProof="0" dirty="0"/>
          </a:p>
        </p:txBody>
      </p:sp>
      <p:sp>
        <p:nvSpPr>
          <p:cNvPr id="4" name="risposta 1"/>
          <p:cNvSpPr/>
          <p:nvPr/>
        </p:nvSpPr>
        <p:spPr>
          <a:xfrm>
            <a:off x="457200" y="1051560"/>
            <a:ext cx="4023360" cy="777240"/>
          </a:xfrm>
          <a:prstGeom prst="roundRect">
            <a:avLst>
              <a:gd name="adj" fmla="val 9412"/>
            </a:avLst>
          </a:prstGeom>
          <a:solidFill>
            <a:schemeClr val="bg2"/>
          </a:solidFill>
          <a:ln/>
        </p:spPr>
        <p:txBody>
          <a:bodyPr/>
          <a:lstStyle/>
          <a:p>
            <a:endParaRPr lang="it-IT" noProof="0" dirty="0"/>
          </a:p>
        </p:txBody>
      </p:sp>
      <p:sp>
        <p:nvSpPr>
          <p:cNvPr id="5" name="Text 2"/>
          <p:cNvSpPr txBox="1"/>
          <p:nvPr/>
        </p:nvSpPr>
        <p:spPr>
          <a:xfrm>
            <a:off x="594360" y="1124712"/>
            <a:ext cx="365760" cy="365760"/>
          </a:xfrm>
          <a:prstGeom prst="rect">
            <a:avLst/>
          </a:prstGeom>
          <a:noFill/>
          <a:ln/>
        </p:spPr>
        <p:txBody>
          <a:bodyPr wrap="square" lIns="0" tIns="0" rIns="0" bIns="0" rtlCol="0" anchor="t"/>
          <a:lstStyle/>
          <a:p>
            <a:pPr marL="0" indent="0">
              <a:buNone/>
            </a:pPr>
            <a:r>
              <a:rPr lang="it-IT" sz="1800" b="1" noProof="0" dirty="0">
                <a:solidFill>
                  <a:schemeClr val="accent1"/>
                </a:solidFill>
              </a:rPr>
              <a:t>1</a:t>
            </a:r>
            <a:endParaRPr lang="it-IT" sz="1800" noProof="0" dirty="0"/>
          </a:p>
        </p:txBody>
      </p:sp>
      <p:sp>
        <p:nvSpPr>
          <p:cNvPr id="6" name="Text 3"/>
          <p:cNvSpPr txBox="1"/>
          <p:nvPr/>
        </p:nvSpPr>
        <p:spPr>
          <a:xfrm>
            <a:off x="960120" y="1124712"/>
            <a:ext cx="3429000" cy="292608"/>
          </a:xfrm>
          <a:prstGeom prst="rect">
            <a:avLst/>
          </a:prstGeom>
          <a:noFill/>
          <a:ln/>
        </p:spPr>
        <p:txBody>
          <a:bodyPr wrap="square" lIns="0" tIns="0" rIns="0" bIns="0" rtlCol="0" anchor="t"/>
          <a:lstStyle/>
          <a:p>
            <a:pPr marL="0" indent="0">
              <a:buNone/>
            </a:pPr>
            <a:r>
              <a:rPr lang="it-IT" sz="1300" b="1" noProof="0" dirty="0">
                <a:solidFill>
                  <a:schemeClr val="tx1"/>
                </a:solidFill>
              </a:rPr>
              <a:t>Che cos'è l'AI?</a:t>
            </a:r>
            <a:endParaRPr lang="it-IT" sz="1300" noProof="0" dirty="0"/>
          </a:p>
        </p:txBody>
      </p:sp>
      <p:sp>
        <p:nvSpPr>
          <p:cNvPr id="7" name="Text 4"/>
          <p:cNvSpPr txBox="1"/>
          <p:nvPr/>
        </p:nvSpPr>
        <p:spPr>
          <a:xfrm>
            <a:off x="960120" y="1435608"/>
            <a:ext cx="3429000" cy="347472"/>
          </a:xfrm>
          <a:prstGeom prst="rect">
            <a:avLst/>
          </a:prstGeom>
          <a:noFill/>
          <a:ln/>
        </p:spPr>
        <p:txBody>
          <a:bodyPr wrap="square" lIns="0" tIns="0" rIns="0" bIns="0" rtlCol="0" anchor="t"/>
          <a:lstStyle/>
          <a:p>
            <a:pPr marL="0" indent="0">
              <a:buNone/>
            </a:pPr>
            <a:r>
              <a:rPr lang="it-IT" sz="1200" noProof="0" dirty="0">
                <a:solidFill>
                  <a:schemeClr val="tx2"/>
                </a:solidFill>
              </a:rPr>
              <a:t>Sistemi che deducono dagli input come generare output</a:t>
            </a:r>
            <a:endParaRPr lang="it-IT" sz="1200" noProof="0" dirty="0"/>
          </a:p>
        </p:txBody>
      </p:sp>
      <p:sp>
        <p:nvSpPr>
          <p:cNvPr id="8" name="risposta 2"/>
          <p:cNvSpPr/>
          <p:nvPr/>
        </p:nvSpPr>
        <p:spPr>
          <a:xfrm>
            <a:off x="4663440" y="1051560"/>
            <a:ext cx="4023360" cy="777240"/>
          </a:xfrm>
          <a:prstGeom prst="roundRect">
            <a:avLst>
              <a:gd name="adj" fmla="val 9412"/>
            </a:avLst>
          </a:prstGeom>
          <a:solidFill>
            <a:schemeClr val="bg2"/>
          </a:solidFill>
          <a:ln/>
        </p:spPr>
        <p:txBody>
          <a:bodyPr/>
          <a:lstStyle/>
          <a:p>
            <a:endParaRPr lang="it-IT" noProof="0" dirty="0"/>
          </a:p>
        </p:txBody>
      </p:sp>
      <p:sp>
        <p:nvSpPr>
          <p:cNvPr id="9" name="Text 6"/>
          <p:cNvSpPr txBox="1"/>
          <p:nvPr/>
        </p:nvSpPr>
        <p:spPr>
          <a:xfrm>
            <a:off x="4800600" y="1124712"/>
            <a:ext cx="365760" cy="365760"/>
          </a:xfrm>
          <a:prstGeom prst="rect">
            <a:avLst/>
          </a:prstGeom>
          <a:noFill/>
          <a:ln/>
        </p:spPr>
        <p:txBody>
          <a:bodyPr wrap="square" lIns="0" tIns="0" rIns="0" bIns="0" rtlCol="0" anchor="t"/>
          <a:lstStyle/>
          <a:p>
            <a:pPr marL="0" indent="0">
              <a:buNone/>
            </a:pPr>
            <a:r>
              <a:rPr lang="it-IT" sz="1800" b="1" noProof="0" dirty="0">
                <a:solidFill>
                  <a:schemeClr val="accent1"/>
                </a:solidFill>
              </a:rPr>
              <a:t>2</a:t>
            </a:r>
            <a:endParaRPr lang="it-IT" sz="1800" noProof="0" dirty="0"/>
          </a:p>
        </p:txBody>
      </p:sp>
      <p:sp>
        <p:nvSpPr>
          <p:cNvPr id="10" name="Text 7"/>
          <p:cNvSpPr txBox="1"/>
          <p:nvPr/>
        </p:nvSpPr>
        <p:spPr>
          <a:xfrm>
            <a:off x="5166360" y="1124712"/>
            <a:ext cx="3429000" cy="292608"/>
          </a:xfrm>
          <a:prstGeom prst="rect">
            <a:avLst/>
          </a:prstGeom>
          <a:noFill/>
          <a:ln/>
        </p:spPr>
        <p:txBody>
          <a:bodyPr wrap="square" lIns="0" tIns="0" rIns="0" bIns="0" rtlCol="0" anchor="t"/>
          <a:lstStyle/>
          <a:p>
            <a:pPr marL="0" indent="0">
              <a:buNone/>
            </a:pPr>
            <a:r>
              <a:rPr lang="it-IT" sz="1300" b="1" noProof="0" dirty="0">
                <a:solidFill>
                  <a:schemeClr val="tx1"/>
                </a:solidFill>
              </a:rPr>
              <a:t>AI, ML, DL, generativa?</a:t>
            </a:r>
            <a:endParaRPr lang="it-IT" sz="1300" noProof="0" dirty="0"/>
          </a:p>
        </p:txBody>
      </p:sp>
      <p:sp>
        <p:nvSpPr>
          <p:cNvPr id="11" name="Text 8"/>
          <p:cNvSpPr txBox="1"/>
          <p:nvPr/>
        </p:nvSpPr>
        <p:spPr>
          <a:xfrm>
            <a:off x="5166360" y="1435608"/>
            <a:ext cx="3429000" cy="347472"/>
          </a:xfrm>
          <a:prstGeom prst="rect">
            <a:avLst/>
          </a:prstGeom>
          <a:noFill/>
          <a:ln/>
        </p:spPr>
        <p:txBody>
          <a:bodyPr wrap="square" lIns="0" tIns="0" rIns="0" bIns="0" rtlCol="0" anchor="t"/>
          <a:lstStyle/>
          <a:p>
            <a:pPr marL="0" indent="0">
              <a:buNone/>
            </a:pPr>
            <a:r>
              <a:rPr lang="it-IT" sz="1200" noProof="0" dirty="0">
                <a:solidFill>
                  <a:schemeClr val="tx2"/>
                </a:solidFill>
              </a:rPr>
              <a:t>Criteri diversi, categorie non esclusive</a:t>
            </a:r>
            <a:endParaRPr lang="it-IT" sz="1200" noProof="0" dirty="0"/>
          </a:p>
        </p:txBody>
      </p:sp>
      <p:sp>
        <p:nvSpPr>
          <p:cNvPr id="12" name="risposta 3"/>
          <p:cNvSpPr/>
          <p:nvPr/>
        </p:nvSpPr>
        <p:spPr>
          <a:xfrm>
            <a:off x="457200" y="1920240"/>
            <a:ext cx="4023360" cy="777240"/>
          </a:xfrm>
          <a:prstGeom prst="roundRect">
            <a:avLst>
              <a:gd name="adj" fmla="val 9412"/>
            </a:avLst>
          </a:prstGeom>
          <a:solidFill>
            <a:schemeClr val="bg2"/>
          </a:solidFill>
          <a:ln/>
        </p:spPr>
        <p:txBody>
          <a:bodyPr/>
          <a:lstStyle/>
          <a:p>
            <a:endParaRPr lang="it-IT" noProof="0" dirty="0"/>
          </a:p>
        </p:txBody>
      </p:sp>
      <p:sp>
        <p:nvSpPr>
          <p:cNvPr id="13" name="Text 10"/>
          <p:cNvSpPr txBox="1"/>
          <p:nvPr/>
        </p:nvSpPr>
        <p:spPr>
          <a:xfrm>
            <a:off x="594360" y="1993392"/>
            <a:ext cx="365760" cy="365760"/>
          </a:xfrm>
          <a:prstGeom prst="rect">
            <a:avLst/>
          </a:prstGeom>
          <a:noFill/>
          <a:ln/>
        </p:spPr>
        <p:txBody>
          <a:bodyPr wrap="square" lIns="0" tIns="0" rIns="0" bIns="0" rtlCol="0" anchor="t"/>
          <a:lstStyle/>
          <a:p>
            <a:pPr marL="0" indent="0">
              <a:buNone/>
            </a:pPr>
            <a:r>
              <a:rPr lang="it-IT" sz="1800" b="1" noProof="0" dirty="0">
                <a:solidFill>
                  <a:schemeClr val="accent1"/>
                </a:solidFill>
              </a:rPr>
              <a:t>3</a:t>
            </a:r>
            <a:endParaRPr lang="it-IT" sz="1800" noProof="0" dirty="0"/>
          </a:p>
        </p:txBody>
      </p:sp>
      <p:sp>
        <p:nvSpPr>
          <p:cNvPr id="14" name="Text 11"/>
          <p:cNvSpPr txBox="1"/>
          <p:nvPr/>
        </p:nvSpPr>
        <p:spPr>
          <a:xfrm>
            <a:off x="960120" y="1993392"/>
            <a:ext cx="3429000" cy="292608"/>
          </a:xfrm>
          <a:prstGeom prst="rect">
            <a:avLst/>
          </a:prstGeom>
          <a:noFill/>
          <a:ln/>
        </p:spPr>
        <p:txBody>
          <a:bodyPr wrap="square" lIns="0" tIns="0" rIns="0" bIns="0" rtlCol="0" anchor="t"/>
          <a:lstStyle/>
          <a:p>
            <a:pPr marL="0" indent="0">
              <a:buNone/>
            </a:pPr>
            <a:r>
              <a:rPr lang="it-IT" sz="1300" b="1" noProof="0" dirty="0">
                <a:solidFill>
                  <a:schemeClr val="tx1"/>
                </a:solidFill>
              </a:rPr>
              <a:t>Come si addestra un modello?</a:t>
            </a:r>
            <a:endParaRPr lang="it-IT" sz="1300" noProof="0" dirty="0"/>
          </a:p>
        </p:txBody>
      </p:sp>
      <p:sp>
        <p:nvSpPr>
          <p:cNvPr id="15" name="Text 12"/>
          <p:cNvSpPr txBox="1"/>
          <p:nvPr/>
        </p:nvSpPr>
        <p:spPr>
          <a:xfrm>
            <a:off x="960120" y="2304288"/>
            <a:ext cx="3429000" cy="347472"/>
          </a:xfrm>
          <a:prstGeom prst="rect">
            <a:avLst/>
          </a:prstGeom>
          <a:noFill/>
          <a:ln/>
        </p:spPr>
        <p:txBody>
          <a:bodyPr wrap="square" lIns="0" tIns="0" rIns="0" bIns="0" rtlCol="0" anchor="t"/>
          <a:lstStyle/>
          <a:p>
            <a:pPr marL="0" indent="0">
              <a:buNone/>
            </a:pPr>
            <a:r>
              <a:rPr lang="it-IT" sz="1200" noProof="0" dirty="0">
                <a:solidFill>
                  <a:schemeClr val="tx2"/>
                </a:solidFill>
              </a:rPr>
              <a:t>Regolando i parametri sugli esempi</a:t>
            </a:r>
            <a:endParaRPr lang="it-IT" sz="1200" noProof="0" dirty="0"/>
          </a:p>
        </p:txBody>
      </p:sp>
      <p:sp>
        <p:nvSpPr>
          <p:cNvPr id="16" name="risposta 4"/>
          <p:cNvSpPr/>
          <p:nvPr/>
        </p:nvSpPr>
        <p:spPr>
          <a:xfrm>
            <a:off x="4663440" y="1920240"/>
            <a:ext cx="4023360" cy="777240"/>
          </a:xfrm>
          <a:prstGeom prst="roundRect">
            <a:avLst>
              <a:gd name="adj" fmla="val 9412"/>
            </a:avLst>
          </a:prstGeom>
          <a:solidFill>
            <a:schemeClr val="bg2"/>
          </a:solidFill>
          <a:ln/>
        </p:spPr>
        <p:txBody>
          <a:bodyPr/>
          <a:lstStyle/>
          <a:p>
            <a:endParaRPr lang="it-IT" noProof="0" dirty="0"/>
          </a:p>
        </p:txBody>
      </p:sp>
      <p:sp>
        <p:nvSpPr>
          <p:cNvPr id="17" name="Text 14"/>
          <p:cNvSpPr txBox="1"/>
          <p:nvPr/>
        </p:nvSpPr>
        <p:spPr>
          <a:xfrm>
            <a:off x="4800600" y="1993392"/>
            <a:ext cx="365760" cy="365760"/>
          </a:xfrm>
          <a:prstGeom prst="rect">
            <a:avLst/>
          </a:prstGeom>
          <a:noFill/>
          <a:ln/>
        </p:spPr>
        <p:txBody>
          <a:bodyPr wrap="square" lIns="0" tIns="0" rIns="0" bIns="0" rtlCol="0" anchor="t"/>
          <a:lstStyle/>
          <a:p>
            <a:pPr marL="0" indent="0">
              <a:buNone/>
            </a:pPr>
            <a:r>
              <a:rPr lang="it-IT" sz="1800" b="1" noProof="0" dirty="0">
                <a:solidFill>
                  <a:schemeClr val="accent1"/>
                </a:solidFill>
              </a:rPr>
              <a:t>4</a:t>
            </a:r>
            <a:endParaRPr lang="it-IT" sz="1800" noProof="0" dirty="0"/>
          </a:p>
        </p:txBody>
      </p:sp>
      <p:sp>
        <p:nvSpPr>
          <p:cNvPr id="18" name="Text 15"/>
          <p:cNvSpPr txBox="1"/>
          <p:nvPr/>
        </p:nvSpPr>
        <p:spPr>
          <a:xfrm>
            <a:off x="5166360" y="1993392"/>
            <a:ext cx="3429000" cy="292608"/>
          </a:xfrm>
          <a:prstGeom prst="rect">
            <a:avLst/>
          </a:prstGeom>
          <a:noFill/>
          <a:ln/>
        </p:spPr>
        <p:txBody>
          <a:bodyPr wrap="square" lIns="0" tIns="0" rIns="0" bIns="0" rtlCol="0" anchor="t"/>
          <a:lstStyle/>
          <a:p>
            <a:pPr marL="0" indent="0">
              <a:buNone/>
            </a:pPr>
            <a:r>
              <a:rPr lang="it-IT" sz="1300" b="1" noProof="0" dirty="0">
                <a:solidFill>
                  <a:schemeClr val="tx1"/>
                </a:solidFill>
              </a:rPr>
              <a:t>Che cos'è un LLM?</a:t>
            </a:r>
            <a:endParaRPr lang="it-IT" sz="1300" noProof="0" dirty="0"/>
          </a:p>
        </p:txBody>
      </p:sp>
      <p:sp>
        <p:nvSpPr>
          <p:cNvPr id="19" name="Text 16"/>
          <p:cNvSpPr txBox="1"/>
          <p:nvPr/>
        </p:nvSpPr>
        <p:spPr>
          <a:xfrm>
            <a:off x="5166360" y="2304288"/>
            <a:ext cx="3429000" cy="347472"/>
          </a:xfrm>
          <a:prstGeom prst="rect">
            <a:avLst/>
          </a:prstGeom>
          <a:noFill/>
          <a:ln/>
        </p:spPr>
        <p:txBody>
          <a:bodyPr wrap="square" lIns="0" tIns="0" rIns="0" bIns="0" rtlCol="0" anchor="t"/>
          <a:lstStyle/>
          <a:p>
            <a:pPr marL="0" indent="0">
              <a:buNone/>
            </a:pPr>
            <a:r>
              <a:rPr lang="it-IT" sz="1200" noProof="0" dirty="0">
                <a:solidFill>
                  <a:schemeClr val="tx2"/>
                </a:solidFill>
              </a:rPr>
              <a:t>Genera testo token per token da regolarità e contesto</a:t>
            </a:r>
            <a:endParaRPr lang="it-IT" sz="1200" noProof="0" dirty="0"/>
          </a:p>
        </p:txBody>
      </p:sp>
      <p:sp>
        <p:nvSpPr>
          <p:cNvPr id="20" name="risposta 5"/>
          <p:cNvSpPr/>
          <p:nvPr/>
        </p:nvSpPr>
        <p:spPr>
          <a:xfrm>
            <a:off x="457200" y="2788920"/>
            <a:ext cx="4023360" cy="777240"/>
          </a:xfrm>
          <a:prstGeom prst="roundRect">
            <a:avLst>
              <a:gd name="adj" fmla="val 9412"/>
            </a:avLst>
          </a:prstGeom>
          <a:solidFill>
            <a:schemeClr val="bg2"/>
          </a:solidFill>
          <a:ln/>
        </p:spPr>
        <p:txBody>
          <a:bodyPr/>
          <a:lstStyle/>
          <a:p>
            <a:endParaRPr lang="it-IT" noProof="0" dirty="0"/>
          </a:p>
        </p:txBody>
      </p:sp>
      <p:sp>
        <p:nvSpPr>
          <p:cNvPr id="21" name="Text 18"/>
          <p:cNvSpPr txBox="1"/>
          <p:nvPr/>
        </p:nvSpPr>
        <p:spPr>
          <a:xfrm>
            <a:off x="594360" y="2862072"/>
            <a:ext cx="365760" cy="365760"/>
          </a:xfrm>
          <a:prstGeom prst="rect">
            <a:avLst/>
          </a:prstGeom>
          <a:noFill/>
          <a:ln/>
        </p:spPr>
        <p:txBody>
          <a:bodyPr wrap="square" lIns="0" tIns="0" rIns="0" bIns="0" rtlCol="0" anchor="t"/>
          <a:lstStyle/>
          <a:p>
            <a:pPr marL="0" indent="0">
              <a:buNone/>
            </a:pPr>
            <a:r>
              <a:rPr lang="it-IT" sz="1800" b="1" noProof="0" dirty="0">
                <a:solidFill>
                  <a:schemeClr val="accent1"/>
                </a:solidFill>
              </a:rPr>
              <a:t>5</a:t>
            </a:r>
            <a:endParaRPr lang="it-IT" sz="1800" noProof="0" dirty="0"/>
          </a:p>
        </p:txBody>
      </p:sp>
      <p:sp>
        <p:nvSpPr>
          <p:cNvPr id="22" name="Text 19"/>
          <p:cNvSpPr txBox="1"/>
          <p:nvPr/>
        </p:nvSpPr>
        <p:spPr>
          <a:xfrm>
            <a:off x="960120" y="2862072"/>
            <a:ext cx="3429000" cy="292608"/>
          </a:xfrm>
          <a:prstGeom prst="rect">
            <a:avLst/>
          </a:prstGeom>
          <a:noFill/>
          <a:ln/>
        </p:spPr>
        <p:txBody>
          <a:bodyPr wrap="square" lIns="0" tIns="0" rIns="0" bIns="0" rtlCol="0" anchor="t"/>
          <a:lstStyle/>
          <a:p>
            <a:pPr marL="0" indent="0">
              <a:buNone/>
            </a:pPr>
            <a:r>
              <a:rPr lang="it-IT" sz="1300" b="1" noProof="0" dirty="0">
                <a:solidFill>
                  <a:schemeClr val="tx1"/>
                </a:solidFill>
              </a:rPr>
              <a:t>Che cosa accade con un prompt?</a:t>
            </a:r>
            <a:endParaRPr lang="it-IT" sz="1300" noProof="0" dirty="0"/>
          </a:p>
        </p:txBody>
      </p:sp>
      <p:sp>
        <p:nvSpPr>
          <p:cNvPr id="23" name="Text 20"/>
          <p:cNvSpPr txBox="1"/>
          <p:nvPr/>
        </p:nvSpPr>
        <p:spPr>
          <a:xfrm>
            <a:off x="960120" y="3172968"/>
            <a:ext cx="3429000" cy="347472"/>
          </a:xfrm>
          <a:prstGeom prst="rect">
            <a:avLst/>
          </a:prstGeom>
          <a:noFill/>
          <a:ln/>
        </p:spPr>
        <p:txBody>
          <a:bodyPr wrap="square" lIns="0" tIns="0" rIns="0" bIns="0" rtlCol="0" anchor="t"/>
          <a:lstStyle/>
          <a:p>
            <a:pPr marL="0" indent="0">
              <a:buNone/>
            </a:pPr>
            <a:r>
              <a:rPr lang="it-IT" sz="1200" noProof="0" dirty="0">
                <a:solidFill>
                  <a:schemeClr val="tx2"/>
                </a:solidFill>
              </a:rPr>
              <a:t>Contesto, inferenza, generazione</a:t>
            </a:r>
            <a:endParaRPr lang="it-IT" sz="1200" noProof="0" dirty="0"/>
          </a:p>
        </p:txBody>
      </p:sp>
      <p:sp>
        <p:nvSpPr>
          <p:cNvPr id="24" name="risposta 6"/>
          <p:cNvSpPr/>
          <p:nvPr/>
        </p:nvSpPr>
        <p:spPr>
          <a:xfrm>
            <a:off x="4663440" y="2788920"/>
            <a:ext cx="4023360" cy="777240"/>
          </a:xfrm>
          <a:prstGeom prst="roundRect">
            <a:avLst>
              <a:gd name="adj" fmla="val 9412"/>
            </a:avLst>
          </a:prstGeom>
          <a:solidFill>
            <a:schemeClr val="bg2"/>
          </a:solidFill>
          <a:ln/>
        </p:spPr>
        <p:txBody>
          <a:bodyPr/>
          <a:lstStyle/>
          <a:p>
            <a:endParaRPr lang="it-IT" noProof="0" dirty="0"/>
          </a:p>
        </p:txBody>
      </p:sp>
      <p:sp>
        <p:nvSpPr>
          <p:cNvPr id="25" name="Text 22"/>
          <p:cNvSpPr txBox="1"/>
          <p:nvPr/>
        </p:nvSpPr>
        <p:spPr>
          <a:xfrm>
            <a:off x="4800600" y="2862072"/>
            <a:ext cx="365760" cy="365760"/>
          </a:xfrm>
          <a:prstGeom prst="rect">
            <a:avLst/>
          </a:prstGeom>
          <a:noFill/>
          <a:ln/>
        </p:spPr>
        <p:txBody>
          <a:bodyPr wrap="square" lIns="0" tIns="0" rIns="0" bIns="0" rtlCol="0" anchor="t"/>
          <a:lstStyle/>
          <a:p>
            <a:pPr marL="0" indent="0">
              <a:buNone/>
            </a:pPr>
            <a:r>
              <a:rPr lang="it-IT" sz="1800" b="1" noProof="0" dirty="0">
                <a:solidFill>
                  <a:schemeClr val="accent1"/>
                </a:solidFill>
              </a:rPr>
              <a:t>6</a:t>
            </a:r>
            <a:endParaRPr lang="it-IT" sz="1800" noProof="0" dirty="0"/>
          </a:p>
        </p:txBody>
      </p:sp>
      <p:sp>
        <p:nvSpPr>
          <p:cNvPr id="26" name="Text 23"/>
          <p:cNvSpPr txBox="1"/>
          <p:nvPr/>
        </p:nvSpPr>
        <p:spPr>
          <a:xfrm>
            <a:off x="5166360" y="2862072"/>
            <a:ext cx="3429000" cy="292608"/>
          </a:xfrm>
          <a:prstGeom prst="rect">
            <a:avLst/>
          </a:prstGeom>
          <a:noFill/>
          <a:ln/>
        </p:spPr>
        <p:txBody>
          <a:bodyPr wrap="square" lIns="0" tIns="0" rIns="0" bIns="0" rtlCol="0" anchor="t"/>
          <a:lstStyle/>
          <a:p>
            <a:pPr marL="0" indent="0">
              <a:buNone/>
            </a:pPr>
            <a:r>
              <a:rPr lang="it-IT" sz="1300" b="1" noProof="0" dirty="0">
                <a:solidFill>
                  <a:schemeClr val="tx1"/>
                </a:solidFill>
              </a:rPr>
              <a:t>Da dove arrivano le informazioni?</a:t>
            </a:r>
            <a:endParaRPr lang="it-IT" sz="1300" noProof="0" dirty="0"/>
          </a:p>
        </p:txBody>
      </p:sp>
      <p:sp>
        <p:nvSpPr>
          <p:cNvPr id="27" name="Text 24"/>
          <p:cNvSpPr txBox="1"/>
          <p:nvPr/>
        </p:nvSpPr>
        <p:spPr>
          <a:xfrm>
            <a:off x="5166360" y="3172968"/>
            <a:ext cx="3429000" cy="347472"/>
          </a:xfrm>
          <a:prstGeom prst="rect">
            <a:avLst/>
          </a:prstGeom>
          <a:noFill/>
          <a:ln/>
        </p:spPr>
        <p:txBody>
          <a:bodyPr wrap="square" lIns="0" tIns="0" rIns="0" bIns="0" rtlCol="0" anchor="t"/>
          <a:lstStyle/>
          <a:p>
            <a:pPr marL="0" indent="0">
              <a:buNone/>
            </a:pPr>
            <a:r>
              <a:rPr lang="it-IT" sz="1200" noProof="0" dirty="0">
                <a:solidFill>
                  <a:schemeClr val="tx2"/>
                </a:solidFill>
              </a:rPr>
              <a:t>Addestramento, interazione, fonti esterne</a:t>
            </a:r>
            <a:endParaRPr lang="it-IT" sz="1200" noProof="0" dirty="0"/>
          </a:p>
        </p:txBody>
      </p:sp>
      <p:sp>
        <p:nvSpPr>
          <p:cNvPr id="28" name="risposta 7"/>
          <p:cNvSpPr/>
          <p:nvPr/>
        </p:nvSpPr>
        <p:spPr>
          <a:xfrm>
            <a:off x="457200" y="3657600"/>
            <a:ext cx="4023360" cy="777240"/>
          </a:xfrm>
          <a:prstGeom prst="roundRect">
            <a:avLst>
              <a:gd name="adj" fmla="val 9412"/>
            </a:avLst>
          </a:prstGeom>
          <a:solidFill>
            <a:schemeClr val="bg2"/>
          </a:solidFill>
          <a:ln/>
        </p:spPr>
        <p:txBody>
          <a:bodyPr/>
          <a:lstStyle/>
          <a:p>
            <a:endParaRPr lang="it-IT" noProof="0" dirty="0"/>
          </a:p>
        </p:txBody>
      </p:sp>
      <p:sp>
        <p:nvSpPr>
          <p:cNvPr id="29" name="Text 26"/>
          <p:cNvSpPr txBox="1"/>
          <p:nvPr/>
        </p:nvSpPr>
        <p:spPr>
          <a:xfrm>
            <a:off x="594360" y="3730752"/>
            <a:ext cx="365760" cy="365760"/>
          </a:xfrm>
          <a:prstGeom prst="rect">
            <a:avLst/>
          </a:prstGeom>
          <a:noFill/>
          <a:ln/>
        </p:spPr>
        <p:txBody>
          <a:bodyPr wrap="square" lIns="0" tIns="0" rIns="0" bIns="0" rtlCol="0" anchor="t"/>
          <a:lstStyle/>
          <a:p>
            <a:pPr marL="0" indent="0">
              <a:buNone/>
            </a:pPr>
            <a:r>
              <a:rPr lang="it-IT" sz="1800" b="1" noProof="0" dirty="0">
                <a:solidFill>
                  <a:schemeClr val="accent1"/>
                </a:solidFill>
              </a:rPr>
              <a:t>7</a:t>
            </a:r>
            <a:endParaRPr lang="it-IT" sz="1800" noProof="0" dirty="0"/>
          </a:p>
        </p:txBody>
      </p:sp>
      <p:sp>
        <p:nvSpPr>
          <p:cNvPr id="30" name="Text 27"/>
          <p:cNvSpPr txBox="1"/>
          <p:nvPr/>
        </p:nvSpPr>
        <p:spPr>
          <a:xfrm>
            <a:off x="960120" y="3730752"/>
            <a:ext cx="3429000" cy="292608"/>
          </a:xfrm>
          <a:prstGeom prst="rect">
            <a:avLst/>
          </a:prstGeom>
          <a:noFill/>
          <a:ln/>
        </p:spPr>
        <p:txBody>
          <a:bodyPr wrap="square" lIns="0" tIns="0" rIns="0" bIns="0" rtlCol="0" anchor="t"/>
          <a:lstStyle/>
          <a:p>
            <a:pPr marL="0" indent="0">
              <a:buNone/>
            </a:pPr>
            <a:r>
              <a:rPr lang="it-IT" sz="1300" b="1" noProof="0" dirty="0">
                <a:solidFill>
                  <a:schemeClr val="tx1"/>
                </a:solidFill>
              </a:rPr>
              <a:t>Addestramento, contesto, RAG, fine-tuning?</a:t>
            </a:r>
            <a:endParaRPr lang="it-IT" sz="1300" noProof="0" dirty="0"/>
          </a:p>
        </p:txBody>
      </p:sp>
      <p:sp>
        <p:nvSpPr>
          <p:cNvPr id="31" name="Text 28"/>
          <p:cNvSpPr txBox="1"/>
          <p:nvPr/>
        </p:nvSpPr>
        <p:spPr>
          <a:xfrm>
            <a:off x="960120" y="4041648"/>
            <a:ext cx="3429000" cy="347472"/>
          </a:xfrm>
          <a:prstGeom prst="rect">
            <a:avLst/>
          </a:prstGeom>
          <a:noFill/>
          <a:ln/>
        </p:spPr>
        <p:txBody>
          <a:bodyPr wrap="square" lIns="0" tIns="0" rIns="0" bIns="0" rtlCol="0" anchor="t"/>
          <a:lstStyle/>
          <a:p>
            <a:pPr marL="0" indent="0">
              <a:buNone/>
            </a:pPr>
            <a:r>
              <a:rPr lang="it-IT" sz="1200" noProof="0" dirty="0">
                <a:solidFill>
                  <a:schemeClr val="tx2"/>
                </a:solidFill>
              </a:rPr>
              <a:t>Solo addestramento e fine-tuning modificano il modello</a:t>
            </a:r>
            <a:endParaRPr lang="it-IT" sz="1200" noProof="0" dirty="0"/>
          </a:p>
        </p:txBody>
      </p:sp>
      <p:sp>
        <p:nvSpPr>
          <p:cNvPr id="32" name="risposta 8"/>
          <p:cNvSpPr/>
          <p:nvPr/>
        </p:nvSpPr>
        <p:spPr>
          <a:xfrm>
            <a:off x="4663440" y="3657600"/>
            <a:ext cx="4023360" cy="777240"/>
          </a:xfrm>
          <a:prstGeom prst="roundRect">
            <a:avLst>
              <a:gd name="adj" fmla="val 9412"/>
            </a:avLst>
          </a:prstGeom>
          <a:solidFill>
            <a:schemeClr val="bg2"/>
          </a:solidFill>
          <a:ln/>
        </p:spPr>
        <p:txBody>
          <a:bodyPr/>
          <a:lstStyle/>
          <a:p>
            <a:endParaRPr lang="it-IT" noProof="0" dirty="0"/>
          </a:p>
        </p:txBody>
      </p:sp>
      <p:sp>
        <p:nvSpPr>
          <p:cNvPr id="33" name="Text 30"/>
          <p:cNvSpPr txBox="1"/>
          <p:nvPr/>
        </p:nvSpPr>
        <p:spPr>
          <a:xfrm>
            <a:off x="4800600" y="3730752"/>
            <a:ext cx="365760" cy="365760"/>
          </a:xfrm>
          <a:prstGeom prst="rect">
            <a:avLst/>
          </a:prstGeom>
          <a:noFill/>
          <a:ln/>
        </p:spPr>
        <p:txBody>
          <a:bodyPr wrap="square" lIns="0" tIns="0" rIns="0" bIns="0" rtlCol="0" anchor="t"/>
          <a:lstStyle/>
          <a:p>
            <a:pPr marL="0" indent="0">
              <a:buNone/>
            </a:pPr>
            <a:r>
              <a:rPr lang="it-IT" sz="1800" b="1" noProof="0" dirty="0">
                <a:solidFill>
                  <a:schemeClr val="accent1"/>
                </a:solidFill>
              </a:rPr>
              <a:t>8</a:t>
            </a:r>
            <a:endParaRPr lang="it-IT" sz="1800" noProof="0" dirty="0"/>
          </a:p>
        </p:txBody>
      </p:sp>
      <p:sp>
        <p:nvSpPr>
          <p:cNvPr id="34" name="Text 31"/>
          <p:cNvSpPr txBox="1"/>
          <p:nvPr/>
        </p:nvSpPr>
        <p:spPr>
          <a:xfrm>
            <a:off x="5166360" y="3730752"/>
            <a:ext cx="3429000" cy="292608"/>
          </a:xfrm>
          <a:prstGeom prst="rect">
            <a:avLst/>
          </a:prstGeom>
          <a:noFill/>
          <a:ln/>
        </p:spPr>
        <p:txBody>
          <a:bodyPr wrap="square" lIns="0" tIns="0" rIns="0" bIns="0" rtlCol="0" anchor="t"/>
          <a:lstStyle/>
          <a:p>
            <a:pPr marL="0" indent="0">
              <a:buNone/>
            </a:pPr>
            <a:r>
              <a:rPr lang="it-IT" sz="1300" b="1" noProof="0" dirty="0">
                <a:solidFill>
                  <a:schemeClr val="tx1"/>
                </a:solidFill>
              </a:rPr>
              <a:t>Perché le risposte variano?</a:t>
            </a:r>
            <a:endParaRPr lang="it-IT" sz="1300" noProof="0" dirty="0"/>
          </a:p>
        </p:txBody>
      </p:sp>
      <p:sp>
        <p:nvSpPr>
          <p:cNvPr id="35" name="Text 32"/>
          <p:cNvSpPr txBox="1"/>
          <p:nvPr/>
        </p:nvSpPr>
        <p:spPr>
          <a:xfrm>
            <a:off x="5166360" y="4041648"/>
            <a:ext cx="3429000" cy="347472"/>
          </a:xfrm>
          <a:prstGeom prst="rect">
            <a:avLst/>
          </a:prstGeom>
          <a:noFill/>
          <a:ln/>
        </p:spPr>
        <p:txBody>
          <a:bodyPr wrap="square" lIns="0" tIns="0" rIns="0" bIns="0" rtlCol="0" anchor="t"/>
          <a:lstStyle/>
          <a:p>
            <a:pPr marL="0" indent="0">
              <a:buNone/>
            </a:pPr>
            <a:r>
              <a:rPr lang="it-IT" sz="1200" noProof="0" dirty="0">
                <a:solidFill>
                  <a:schemeClr val="tx2"/>
                </a:solidFill>
              </a:rPr>
              <a:t>Generazione probabilistica: non è un errore</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65</a:t>
            </a:fld>
            <a:endParaRPr lang="it-IT" noProof="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Che cosa portiamo a casa</a:t>
            </a:r>
            <a:endParaRPr lang="it-IT" sz="2600" noProof="0" dirty="0"/>
          </a:p>
        </p:txBody>
      </p:sp>
      <p:sp>
        <p:nvSpPr>
          <p:cNvPr id="4" name="risultato 1"/>
          <p:cNvSpPr/>
          <p:nvPr/>
        </p:nvSpPr>
        <p:spPr>
          <a:xfrm>
            <a:off x="457200" y="1051560"/>
            <a:ext cx="8229600" cy="512064"/>
          </a:xfrm>
          <a:prstGeom prst="roundRect">
            <a:avLst>
              <a:gd name="adj" fmla="val 14286"/>
            </a:avLst>
          </a:prstGeom>
          <a:solidFill>
            <a:schemeClr val="bg2"/>
          </a:solidFill>
          <a:ln/>
        </p:spPr>
        <p:txBody>
          <a:bodyPr/>
          <a:lstStyle/>
          <a:p>
            <a:endParaRPr lang="it-IT" noProof="0" dirty="0"/>
          </a:p>
        </p:txBody>
      </p:sp>
      <p:sp>
        <p:nvSpPr>
          <p:cNvPr id="5" name="cerchio FiGrid"/>
          <p:cNvSpPr/>
          <p:nvPr/>
        </p:nvSpPr>
        <p:spPr>
          <a:xfrm>
            <a:off x="594360" y="1115568"/>
            <a:ext cx="384048" cy="384048"/>
          </a:xfrm>
          <a:prstGeom prst="ellipse">
            <a:avLst/>
          </a:prstGeom>
          <a:solidFill>
            <a:schemeClr val="accent1"/>
          </a:solidFill>
          <a:ln/>
        </p:spPr>
        <p:txBody>
          <a:bodyPr/>
          <a:lstStyle/>
          <a:p>
            <a:endParaRPr lang="it-IT" noProof="0" dirty="0"/>
          </a:p>
        </p:txBody>
      </p:sp>
      <p:pic>
        <p:nvPicPr>
          <p:cNvPr id="6" name="Image 0" descr="FiGrid"/>
          <p:cNvPicPr>
            <a:picLocks noChangeAspect="1"/>
          </p:cNvPicPr>
          <p:nvPr/>
        </p:nvPicPr>
        <p:blipFill>
          <a:blip r:embed="rId3"/>
          <a:stretch>
            <a:fillRect/>
          </a:stretch>
        </p:blipFill>
        <p:spPr>
          <a:xfrm>
            <a:off x="690372" y="1211580"/>
            <a:ext cx="192024" cy="192024"/>
          </a:xfrm>
          <a:prstGeom prst="rect">
            <a:avLst/>
          </a:prstGeom>
        </p:spPr>
      </p:pic>
      <p:sp>
        <p:nvSpPr>
          <p:cNvPr id="7" name="Text 3"/>
          <p:cNvSpPr txBox="1"/>
          <p:nvPr/>
        </p:nvSpPr>
        <p:spPr>
          <a:xfrm>
            <a:off x="1143000" y="1051560"/>
            <a:ext cx="7406640" cy="512064"/>
          </a:xfrm>
          <a:prstGeom prst="rect">
            <a:avLst/>
          </a:prstGeom>
          <a:noFill/>
          <a:ln/>
        </p:spPr>
        <p:txBody>
          <a:bodyPr wrap="square" lIns="0" tIns="0" rIns="0" bIns="0" rtlCol="0" anchor="ctr"/>
          <a:lstStyle/>
          <a:p>
            <a:pPr marL="0" indent="0">
              <a:buNone/>
            </a:pPr>
            <a:r>
              <a:rPr lang="it-IT" sz="1400" noProof="0" dirty="0">
                <a:solidFill>
                  <a:schemeClr val="tx1"/>
                </a:solidFill>
              </a:rPr>
              <a:t>Riconoscere le principali famiglie di sistemi AI e i problemi per cui sono adatte.</a:t>
            </a:r>
            <a:endParaRPr lang="it-IT" sz="1400" noProof="0" dirty="0"/>
          </a:p>
        </p:txBody>
      </p:sp>
      <p:sp>
        <p:nvSpPr>
          <p:cNvPr id="8" name="risultato 2"/>
          <p:cNvSpPr/>
          <p:nvPr/>
        </p:nvSpPr>
        <p:spPr>
          <a:xfrm>
            <a:off x="457200" y="1636776"/>
            <a:ext cx="8229600" cy="512064"/>
          </a:xfrm>
          <a:prstGeom prst="roundRect">
            <a:avLst>
              <a:gd name="adj" fmla="val 14286"/>
            </a:avLst>
          </a:prstGeom>
          <a:solidFill>
            <a:schemeClr val="bg1"/>
          </a:solidFill>
          <a:ln/>
        </p:spPr>
        <p:txBody>
          <a:bodyPr/>
          <a:lstStyle/>
          <a:p>
            <a:endParaRPr lang="it-IT" noProof="0" dirty="0"/>
          </a:p>
        </p:txBody>
      </p:sp>
      <p:sp>
        <p:nvSpPr>
          <p:cNvPr id="9" name="cerchio FiSliders"/>
          <p:cNvSpPr/>
          <p:nvPr/>
        </p:nvSpPr>
        <p:spPr>
          <a:xfrm>
            <a:off x="594360" y="1700784"/>
            <a:ext cx="384048" cy="384048"/>
          </a:xfrm>
          <a:prstGeom prst="ellipse">
            <a:avLst/>
          </a:prstGeom>
          <a:solidFill>
            <a:schemeClr val="accent1"/>
          </a:solidFill>
          <a:ln/>
        </p:spPr>
        <p:txBody>
          <a:bodyPr/>
          <a:lstStyle/>
          <a:p>
            <a:endParaRPr lang="it-IT" noProof="0" dirty="0"/>
          </a:p>
        </p:txBody>
      </p:sp>
      <p:pic>
        <p:nvPicPr>
          <p:cNvPr id="10" name="Image 1" descr="FiSliders"/>
          <p:cNvPicPr>
            <a:picLocks noChangeAspect="1"/>
          </p:cNvPicPr>
          <p:nvPr/>
        </p:nvPicPr>
        <p:blipFill>
          <a:blip r:embed="rId4"/>
          <a:stretch>
            <a:fillRect/>
          </a:stretch>
        </p:blipFill>
        <p:spPr>
          <a:xfrm>
            <a:off x="690372" y="1796796"/>
            <a:ext cx="192024" cy="192024"/>
          </a:xfrm>
          <a:prstGeom prst="rect">
            <a:avLst/>
          </a:prstGeom>
        </p:spPr>
      </p:pic>
      <p:sp>
        <p:nvSpPr>
          <p:cNvPr id="11" name="Text 6"/>
          <p:cNvSpPr txBox="1"/>
          <p:nvPr/>
        </p:nvSpPr>
        <p:spPr>
          <a:xfrm>
            <a:off x="1143000" y="1636776"/>
            <a:ext cx="7406640" cy="512064"/>
          </a:xfrm>
          <a:prstGeom prst="rect">
            <a:avLst/>
          </a:prstGeom>
          <a:noFill/>
          <a:ln/>
        </p:spPr>
        <p:txBody>
          <a:bodyPr wrap="square" lIns="0" tIns="0" rIns="0" bIns="0" rtlCol="0" anchor="ctr"/>
          <a:lstStyle/>
          <a:p>
            <a:pPr marL="0" indent="0">
              <a:buNone/>
            </a:pPr>
            <a:r>
              <a:rPr lang="it-IT" sz="1400" noProof="0" dirty="0">
                <a:solidFill>
                  <a:schemeClr val="tx1"/>
                </a:solidFill>
              </a:rPr>
              <a:t>Comprendere come i modelli apprendono e utilizzano le conoscenze acquisite.</a:t>
            </a:r>
            <a:endParaRPr lang="it-IT" sz="1400" noProof="0" dirty="0"/>
          </a:p>
        </p:txBody>
      </p:sp>
      <p:sp>
        <p:nvSpPr>
          <p:cNvPr id="12" name="risultato 3"/>
          <p:cNvSpPr/>
          <p:nvPr/>
        </p:nvSpPr>
        <p:spPr>
          <a:xfrm>
            <a:off x="457200" y="2221992"/>
            <a:ext cx="8229600" cy="512064"/>
          </a:xfrm>
          <a:prstGeom prst="roundRect">
            <a:avLst>
              <a:gd name="adj" fmla="val 14286"/>
            </a:avLst>
          </a:prstGeom>
          <a:solidFill>
            <a:schemeClr val="bg2"/>
          </a:solidFill>
          <a:ln/>
        </p:spPr>
        <p:txBody>
          <a:bodyPr/>
          <a:lstStyle/>
          <a:p>
            <a:endParaRPr lang="it-IT" noProof="0" dirty="0"/>
          </a:p>
        </p:txBody>
      </p:sp>
      <p:sp>
        <p:nvSpPr>
          <p:cNvPr id="13" name="cerchio FiMessageSquare"/>
          <p:cNvSpPr/>
          <p:nvPr/>
        </p:nvSpPr>
        <p:spPr>
          <a:xfrm>
            <a:off x="594360" y="2286000"/>
            <a:ext cx="384048" cy="384048"/>
          </a:xfrm>
          <a:prstGeom prst="ellipse">
            <a:avLst/>
          </a:prstGeom>
          <a:solidFill>
            <a:schemeClr val="accent1"/>
          </a:solidFill>
          <a:ln/>
        </p:spPr>
        <p:txBody>
          <a:bodyPr/>
          <a:lstStyle/>
          <a:p>
            <a:endParaRPr lang="it-IT" noProof="0" dirty="0"/>
          </a:p>
        </p:txBody>
      </p:sp>
      <p:pic>
        <p:nvPicPr>
          <p:cNvPr id="14" name="Image 2" descr="FiMessageSquare"/>
          <p:cNvPicPr>
            <a:picLocks noChangeAspect="1"/>
          </p:cNvPicPr>
          <p:nvPr/>
        </p:nvPicPr>
        <p:blipFill>
          <a:blip r:embed="rId5"/>
          <a:stretch>
            <a:fillRect/>
          </a:stretch>
        </p:blipFill>
        <p:spPr>
          <a:xfrm>
            <a:off x="690372" y="2382012"/>
            <a:ext cx="192024" cy="192024"/>
          </a:xfrm>
          <a:prstGeom prst="rect">
            <a:avLst/>
          </a:prstGeom>
        </p:spPr>
      </p:pic>
      <p:sp>
        <p:nvSpPr>
          <p:cNvPr id="15" name="Text 9"/>
          <p:cNvSpPr txBox="1"/>
          <p:nvPr/>
        </p:nvSpPr>
        <p:spPr>
          <a:xfrm>
            <a:off x="1143000" y="2221992"/>
            <a:ext cx="7406640" cy="512064"/>
          </a:xfrm>
          <a:prstGeom prst="rect">
            <a:avLst/>
          </a:prstGeom>
          <a:noFill/>
          <a:ln/>
        </p:spPr>
        <p:txBody>
          <a:bodyPr wrap="square" lIns="0" tIns="0" rIns="0" bIns="0" rtlCol="0" anchor="ctr"/>
          <a:lstStyle/>
          <a:p>
            <a:r>
              <a:rPr lang="it-IT" sz="1400" dirty="0"/>
              <a:t>Comprendere come gli LLM elaborano richieste e generano risposte.</a:t>
            </a:r>
            <a:endParaRPr lang="it-IT" sz="1400" noProof="0" dirty="0"/>
          </a:p>
        </p:txBody>
      </p:sp>
      <p:sp>
        <p:nvSpPr>
          <p:cNvPr id="16" name="risultato 4"/>
          <p:cNvSpPr/>
          <p:nvPr/>
        </p:nvSpPr>
        <p:spPr>
          <a:xfrm>
            <a:off x="457200" y="2807208"/>
            <a:ext cx="8229600" cy="512064"/>
          </a:xfrm>
          <a:prstGeom prst="roundRect">
            <a:avLst>
              <a:gd name="adj" fmla="val 14286"/>
            </a:avLst>
          </a:prstGeom>
          <a:solidFill>
            <a:schemeClr val="bg1"/>
          </a:solidFill>
          <a:ln/>
        </p:spPr>
        <p:txBody>
          <a:bodyPr/>
          <a:lstStyle/>
          <a:p>
            <a:endParaRPr lang="it-IT" noProof="0" dirty="0"/>
          </a:p>
        </p:txBody>
      </p:sp>
      <p:sp>
        <p:nvSpPr>
          <p:cNvPr id="17" name="cerchio FiDatabase"/>
          <p:cNvSpPr/>
          <p:nvPr/>
        </p:nvSpPr>
        <p:spPr>
          <a:xfrm>
            <a:off x="594360" y="2871216"/>
            <a:ext cx="384048" cy="384048"/>
          </a:xfrm>
          <a:prstGeom prst="ellipse">
            <a:avLst/>
          </a:prstGeom>
          <a:solidFill>
            <a:schemeClr val="accent1"/>
          </a:solidFill>
          <a:ln/>
        </p:spPr>
        <p:txBody>
          <a:bodyPr/>
          <a:lstStyle/>
          <a:p>
            <a:endParaRPr lang="it-IT" noProof="0" dirty="0"/>
          </a:p>
        </p:txBody>
      </p:sp>
      <p:pic>
        <p:nvPicPr>
          <p:cNvPr id="18" name="Image 3" descr="FiDatabase"/>
          <p:cNvPicPr>
            <a:picLocks noChangeAspect="1"/>
          </p:cNvPicPr>
          <p:nvPr/>
        </p:nvPicPr>
        <p:blipFill>
          <a:blip r:embed="rId6"/>
          <a:stretch>
            <a:fillRect/>
          </a:stretch>
        </p:blipFill>
        <p:spPr>
          <a:xfrm>
            <a:off x="690372" y="2967228"/>
            <a:ext cx="192024" cy="192024"/>
          </a:xfrm>
          <a:prstGeom prst="rect">
            <a:avLst/>
          </a:prstGeom>
        </p:spPr>
      </p:pic>
      <p:sp>
        <p:nvSpPr>
          <p:cNvPr id="19" name="Text 12"/>
          <p:cNvSpPr txBox="1"/>
          <p:nvPr/>
        </p:nvSpPr>
        <p:spPr>
          <a:xfrm>
            <a:off x="1143000" y="2807208"/>
            <a:ext cx="7406640" cy="512064"/>
          </a:xfrm>
          <a:prstGeom prst="rect">
            <a:avLst/>
          </a:prstGeom>
          <a:noFill/>
          <a:ln/>
        </p:spPr>
        <p:txBody>
          <a:bodyPr wrap="square" lIns="0" tIns="0" rIns="0" bIns="0" rtlCol="0" anchor="ctr"/>
          <a:lstStyle/>
          <a:p>
            <a:pPr marL="0" indent="0">
              <a:buNone/>
            </a:pPr>
            <a:r>
              <a:rPr lang="it-IT" sz="1400" noProof="0" dirty="0">
                <a:solidFill>
                  <a:schemeClr val="tx1"/>
                </a:solidFill>
              </a:rPr>
              <a:t>Distinguere ciò che deriva dall'addestramento da ciò che viene fornito durante l'interazione.</a:t>
            </a:r>
            <a:endParaRPr lang="it-IT" sz="1400" noProof="0" dirty="0"/>
          </a:p>
        </p:txBody>
      </p:sp>
      <p:sp>
        <p:nvSpPr>
          <p:cNvPr id="20" name="risultato 5"/>
          <p:cNvSpPr/>
          <p:nvPr/>
        </p:nvSpPr>
        <p:spPr>
          <a:xfrm>
            <a:off x="457200" y="3392424"/>
            <a:ext cx="8229600" cy="512064"/>
          </a:xfrm>
          <a:prstGeom prst="roundRect">
            <a:avLst>
              <a:gd name="adj" fmla="val 14286"/>
            </a:avLst>
          </a:prstGeom>
          <a:solidFill>
            <a:schemeClr val="bg2"/>
          </a:solidFill>
          <a:ln/>
        </p:spPr>
        <p:txBody>
          <a:bodyPr/>
          <a:lstStyle/>
          <a:p>
            <a:endParaRPr lang="it-IT" noProof="0" dirty="0"/>
          </a:p>
        </p:txBody>
      </p:sp>
      <p:sp>
        <p:nvSpPr>
          <p:cNvPr id="21" name="cerchio FiLayers"/>
          <p:cNvSpPr/>
          <p:nvPr/>
        </p:nvSpPr>
        <p:spPr>
          <a:xfrm>
            <a:off x="594360" y="3456432"/>
            <a:ext cx="384048" cy="384048"/>
          </a:xfrm>
          <a:prstGeom prst="ellipse">
            <a:avLst/>
          </a:prstGeom>
          <a:solidFill>
            <a:schemeClr val="accent1"/>
          </a:solidFill>
          <a:ln/>
        </p:spPr>
        <p:txBody>
          <a:bodyPr/>
          <a:lstStyle/>
          <a:p>
            <a:endParaRPr lang="it-IT" noProof="0" dirty="0"/>
          </a:p>
        </p:txBody>
      </p:sp>
      <p:pic>
        <p:nvPicPr>
          <p:cNvPr id="22" name="Image 4" descr="FiLayers"/>
          <p:cNvPicPr>
            <a:picLocks noChangeAspect="1"/>
          </p:cNvPicPr>
          <p:nvPr/>
        </p:nvPicPr>
        <p:blipFill>
          <a:blip r:embed="rId7"/>
          <a:stretch>
            <a:fillRect/>
          </a:stretch>
        </p:blipFill>
        <p:spPr>
          <a:xfrm>
            <a:off x="690372" y="3552444"/>
            <a:ext cx="192024" cy="192024"/>
          </a:xfrm>
          <a:prstGeom prst="rect">
            <a:avLst/>
          </a:prstGeom>
        </p:spPr>
      </p:pic>
      <p:sp>
        <p:nvSpPr>
          <p:cNvPr id="23" name="Text 15"/>
          <p:cNvSpPr txBox="1"/>
          <p:nvPr/>
        </p:nvSpPr>
        <p:spPr>
          <a:xfrm>
            <a:off x="1143000" y="3392424"/>
            <a:ext cx="7406640" cy="512064"/>
          </a:xfrm>
          <a:prstGeom prst="rect">
            <a:avLst/>
          </a:prstGeom>
          <a:noFill/>
          <a:ln/>
        </p:spPr>
        <p:txBody>
          <a:bodyPr wrap="square" lIns="0" tIns="0" rIns="0" bIns="0" rtlCol="0" anchor="ctr"/>
          <a:lstStyle/>
          <a:p>
            <a:pPr marL="0" indent="0">
              <a:buNone/>
            </a:pPr>
            <a:r>
              <a:rPr lang="it-IT" sz="1400" noProof="0" dirty="0">
                <a:solidFill>
                  <a:schemeClr val="tx1"/>
                </a:solidFill>
              </a:rPr>
              <a:t>Sfruttare contesto, documenti e strumenti per ottenere risultati più pertinenti.</a:t>
            </a:r>
            <a:endParaRPr lang="it-IT" sz="1400" noProof="0" dirty="0"/>
          </a:p>
        </p:txBody>
      </p:sp>
      <p:sp>
        <p:nvSpPr>
          <p:cNvPr id="24" name="risultato 6"/>
          <p:cNvSpPr/>
          <p:nvPr/>
        </p:nvSpPr>
        <p:spPr>
          <a:xfrm>
            <a:off x="457200" y="3977640"/>
            <a:ext cx="8229600" cy="512064"/>
          </a:xfrm>
          <a:prstGeom prst="roundRect">
            <a:avLst>
              <a:gd name="adj" fmla="val 14286"/>
            </a:avLst>
          </a:prstGeom>
          <a:solidFill>
            <a:schemeClr val="bg1"/>
          </a:solidFill>
          <a:ln/>
        </p:spPr>
        <p:txBody>
          <a:bodyPr/>
          <a:lstStyle/>
          <a:p>
            <a:endParaRPr lang="it-IT" noProof="0" dirty="0"/>
          </a:p>
        </p:txBody>
      </p:sp>
      <p:sp>
        <p:nvSpPr>
          <p:cNvPr id="25" name="cerchio FiShuffle"/>
          <p:cNvSpPr/>
          <p:nvPr/>
        </p:nvSpPr>
        <p:spPr>
          <a:xfrm>
            <a:off x="594360" y="4041648"/>
            <a:ext cx="384048" cy="384048"/>
          </a:xfrm>
          <a:prstGeom prst="ellipse">
            <a:avLst/>
          </a:prstGeom>
          <a:solidFill>
            <a:schemeClr val="accent1"/>
          </a:solidFill>
          <a:ln/>
        </p:spPr>
        <p:txBody>
          <a:bodyPr/>
          <a:lstStyle/>
          <a:p>
            <a:endParaRPr lang="it-IT" noProof="0" dirty="0"/>
          </a:p>
        </p:txBody>
      </p:sp>
      <p:pic>
        <p:nvPicPr>
          <p:cNvPr id="26" name="Image 5" descr="FiShuffle"/>
          <p:cNvPicPr>
            <a:picLocks noChangeAspect="1"/>
          </p:cNvPicPr>
          <p:nvPr/>
        </p:nvPicPr>
        <p:blipFill>
          <a:blip r:embed="rId8"/>
          <a:stretch>
            <a:fillRect/>
          </a:stretch>
        </p:blipFill>
        <p:spPr>
          <a:xfrm>
            <a:off x="690372" y="4137660"/>
            <a:ext cx="192024" cy="192024"/>
          </a:xfrm>
          <a:prstGeom prst="rect">
            <a:avLst/>
          </a:prstGeom>
        </p:spPr>
      </p:pic>
      <p:sp>
        <p:nvSpPr>
          <p:cNvPr id="27" name="Text 18"/>
          <p:cNvSpPr txBox="1"/>
          <p:nvPr/>
        </p:nvSpPr>
        <p:spPr>
          <a:xfrm>
            <a:off x="1143000" y="3977640"/>
            <a:ext cx="7406640" cy="512064"/>
          </a:xfrm>
          <a:prstGeom prst="rect">
            <a:avLst/>
          </a:prstGeom>
          <a:noFill/>
          <a:ln/>
        </p:spPr>
        <p:txBody>
          <a:bodyPr wrap="square" lIns="0" tIns="0" rIns="0" bIns="0" rtlCol="0" anchor="ctr"/>
          <a:lstStyle/>
          <a:p>
            <a:pPr marL="0" indent="0">
              <a:buNone/>
            </a:pPr>
            <a:r>
              <a:rPr lang="it-IT" sz="1400" noProof="0" dirty="0">
                <a:solidFill>
                  <a:schemeClr val="tx1"/>
                </a:solidFill>
              </a:rPr>
              <a:t>Interpretare la variabilità dei risultati e migliorare la qualità delle interazioni.</a:t>
            </a:r>
            <a:endParaRPr lang="it-IT" sz="14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66</a:t>
            </a:fld>
            <a:endParaRPr lang="it-IT" noProof="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Glossario essenziale (1 di 2)</a:t>
            </a:r>
            <a:endParaRPr lang="it-IT" sz="2600" noProof="0" dirty="0"/>
          </a:p>
        </p:txBody>
      </p:sp>
      <p:graphicFrame>
        <p:nvGraphicFramePr>
          <p:cNvPr id="68" name="Table 0"/>
          <p:cNvGraphicFramePr>
            <a:graphicFrameLocks noGrp="1"/>
          </p:cNvGraphicFramePr>
          <p:nvPr>
            <p:extLst>
              <p:ext uri="{D42A27DB-BD31-4B8C-83A1-F6EECF244321}">
                <p14:modId xmlns:p14="http://schemas.microsoft.com/office/powerpoint/2010/main" val="2797803304"/>
              </p:ext>
            </p:extLst>
          </p:nvPr>
        </p:nvGraphicFramePr>
        <p:xfrm>
          <a:off x="457200" y="1097280"/>
          <a:ext cx="8229600" cy="3462528"/>
        </p:xfrm>
        <a:graphic>
          <a:graphicData uri="http://schemas.openxmlformats.org/drawingml/2006/table">
            <a:tbl>
              <a:tblPr/>
              <a:tblGrid>
                <a:gridCol w="201168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429768">
                <a:tc>
                  <a:txBody>
                    <a:bodyPr/>
                    <a:lstStyle/>
                    <a:p>
                      <a:pPr marL="0" indent="0">
                        <a:buNone/>
                      </a:pPr>
                      <a:r>
                        <a:rPr lang="it-IT" sz="1200" b="1" noProof="0" dirty="0">
                          <a:solidFill>
                            <a:schemeClr val="bg1"/>
                          </a:solidFill>
                        </a:rPr>
                        <a:t>Termine</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it-IT" sz="1200" b="1" noProof="0" dirty="0">
                          <a:solidFill>
                            <a:schemeClr val="bg1"/>
                          </a:solidFill>
                        </a:rPr>
                        <a:t>Definizione sintetica</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29768">
                <a:tc>
                  <a:txBody>
                    <a:bodyPr/>
                    <a:lstStyle/>
                    <a:p>
                      <a:pPr marL="0" indent="0">
                        <a:buNone/>
                      </a:pPr>
                      <a:r>
                        <a:rPr lang="it-IT" sz="1200" b="1" noProof="0" dirty="0">
                          <a:solidFill>
                            <a:schemeClr val="tx1"/>
                          </a:solidFill>
                        </a:rPr>
                        <a:t>Machine Learning</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Tecniche con cui un sistema apprende regolarità dai dati invece di seguire regole scritte</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768">
                <a:tc>
                  <a:txBody>
                    <a:bodyPr/>
                    <a:lstStyle/>
                    <a:p>
                      <a:pPr marL="0" indent="0">
                        <a:buNone/>
                      </a:pPr>
                      <a:r>
                        <a:rPr lang="it-IT" sz="1200" b="1" noProof="0" dirty="0">
                          <a:solidFill>
                            <a:schemeClr val="tx1"/>
                          </a:solidFill>
                        </a:rPr>
                        <a:t>Deep Learning</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Machine Learning basato su reti neurali artificiali con molti strati</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768">
                <a:tc>
                  <a:txBody>
                    <a:bodyPr/>
                    <a:lstStyle/>
                    <a:p>
                      <a:pPr marL="0" indent="0">
                        <a:buNone/>
                      </a:pPr>
                      <a:r>
                        <a:rPr lang="it-IT" sz="1200" b="1" noProof="0" dirty="0">
                          <a:solidFill>
                            <a:schemeClr val="tx1"/>
                          </a:solidFill>
                        </a:rPr>
                        <a:t>Modello</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Il risultato dell'addestramento: una struttura con parametri appresi, usata per elaborare nuovi input</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768">
                <a:tc>
                  <a:txBody>
                    <a:bodyPr/>
                    <a:lstStyle/>
                    <a:p>
                      <a:pPr marL="0" indent="0">
                        <a:buNone/>
                      </a:pPr>
                      <a:r>
                        <a:rPr lang="it-IT" sz="1200" b="1" noProof="0" dirty="0">
                          <a:solidFill>
                            <a:schemeClr val="tx1"/>
                          </a:solidFill>
                        </a:rPr>
                        <a:t>Parametri</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Valori numerici interni al modello, regolati durante l'addestramento</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768">
                <a:tc>
                  <a:txBody>
                    <a:bodyPr/>
                    <a:lstStyle/>
                    <a:p>
                      <a:pPr marL="0" indent="0">
                        <a:buNone/>
                      </a:pPr>
                      <a:r>
                        <a:rPr lang="it-IT" sz="1200" b="1" noProof="0" dirty="0">
                          <a:solidFill>
                            <a:schemeClr val="tx1"/>
                          </a:solidFill>
                        </a:rPr>
                        <a:t>Addestramento</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Fase in cui il modello apprende dagli esempi e i parametri vengono modificati</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29768">
                <a:tc>
                  <a:txBody>
                    <a:bodyPr/>
                    <a:lstStyle/>
                    <a:p>
                      <a:pPr marL="0" indent="0">
                        <a:buNone/>
                      </a:pPr>
                      <a:r>
                        <a:rPr lang="it-IT" sz="1200" b="1" noProof="0" dirty="0">
                          <a:solidFill>
                            <a:schemeClr val="tx1"/>
                          </a:solidFill>
                        </a:rPr>
                        <a:t>Inferenza</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Uso del modello per elaborare un nuovo input; i parametri restano invariati</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29768">
                <a:tc>
                  <a:txBody>
                    <a:bodyPr/>
                    <a:lstStyle/>
                    <a:p>
                      <a:pPr marL="0" indent="0">
                        <a:buNone/>
                      </a:pPr>
                      <a:r>
                        <a:rPr lang="it-IT" sz="1200" b="1" noProof="0" dirty="0">
                          <a:solidFill>
                            <a:schemeClr val="tx1"/>
                          </a:solidFill>
                        </a:rPr>
                        <a:t>LLM</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Modello di Deep Learning addestrato su enormi quantità di testo per elaborare e generare linguaggio</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67</a:t>
            </a:fld>
            <a:endParaRPr lang="it-IT" noProof="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Glossario essenziale (2 di 2)</a:t>
            </a:r>
            <a:endParaRPr lang="it-IT" sz="2600" noProof="0" dirty="0"/>
          </a:p>
        </p:txBody>
      </p:sp>
      <p:graphicFrame>
        <p:nvGraphicFramePr>
          <p:cNvPr id="69" name="Table 0"/>
          <p:cNvGraphicFramePr>
            <a:graphicFrameLocks noGrp="1"/>
          </p:cNvGraphicFramePr>
          <p:nvPr>
            <p:extLst>
              <p:ext uri="{D42A27DB-BD31-4B8C-83A1-F6EECF244321}">
                <p14:modId xmlns:p14="http://schemas.microsoft.com/office/powerpoint/2010/main" val="4125282450"/>
              </p:ext>
            </p:extLst>
          </p:nvPr>
        </p:nvGraphicFramePr>
        <p:xfrm>
          <a:off x="457200" y="1097280"/>
          <a:ext cx="8229600" cy="3538728"/>
        </p:xfrm>
        <a:graphic>
          <a:graphicData uri="http://schemas.openxmlformats.org/drawingml/2006/table">
            <a:tbl>
              <a:tblPr/>
              <a:tblGrid>
                <a:gridCol w="201168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393192">
                <a:tc>
                  <a:txBody>
                    <a:bodyPr/>
                    <a:lstStyle/>
                    <a:p>
                      <a:pPr marL="0" indent="0">
                        <a:buNone/>
                      </a:pPr>
                      <a:r>
                        <a:rPr lang="it-IT" sz="1200" b="1" noProof="0" dirty="0">
                          <a:solidFill>
                            <a:schemeClr val="bg1"/>
                          </a:solidFill>
                        </a:rPr>
                        <a:t>Termine</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it-IT" sz="1200" b="1" noProof="0" dirty="0">
                          <a:solidFill>
                            <a:schemeClr val="bg1"/>
                          </a:solidFill>
                        </a:rPr>
                        <a:t>Definizione sintetica</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93192">
                <a:tc>
                  <a:txBody>
                    <a:bodyPr/>
                    <a:lstStyle/>
                    <a:p>
                      <a:pPr marL="0" indent="0">
                        <a:buNone/>
                      </a:pPr>
                      <a:r>
                        <a:rPr lang="it-IT" sz="1200" b="1" noProof="0" dirty="0">
                          <a:solidFill>
                            <a:schemeClr val="tx1"/>
                          </a:solidFill>
                        </a:rPr>
                        <a:t>Token</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Unità di testo elaborata dal modello: una parola, una parte di parola o un segno</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93192">
                <a:tc>
                  <a:txBody>
                    <a:bodyPr/>
                    <a:lstStyle/>
                    <a:p>
                      <a:pPr marL="0" indent="0">
                        <a:buNone/>
                      </a:pPr>
                      <a:r>
                        <a:rPr lang="it-IT" sz="1200" b="1" noProof="0" dirty="0">
                          <a:solidFill>
                            <a:schemeClr val="tx1"/>
                          </a:solidFill>
                        </a:rPr>
                        <a:t>Transformer</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Architettura alla base degli LLM, fondata sul meccanismo di attenzione</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93192">
                <a:tc>
                  <a:txBody>
                    <a:bodyPr/>
                    <a:lstStyle/>
                    <a:p>
                      <a:pPr marL="0" indent="0">
                        <a:buNone/>
                      </a:pPr>
                      <a:r>
                        <a:rPr lang="it-IT" sz="1200" b="1" noProof="0" dirty="0">
                          <a:solidFill>
                            <a:schemeClr val="tx1"/>
                          </a:solidFill>
                        </a:rPr>
                        <a:t>Prompt</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Il testo con cui formuliamo una richiesta al sistema</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93192">
                <a:tc>
                  <a:txBody>
                    <a:bodyPr/>
                    <a:lstStyle/>
                    <a:p>
                      <a:pPr marL="0" indent="0">
                        <a:buNone/>
                      </a:pPr>
                      <a:r>
                        <a:rPr lang="it-IT" sz="1200" b="1" noProof="0" dirty="0">
                          <a:solidFill>
                            <a:schemeClr val="tx1"/>
                          </a:solidFill>
                        </a:rPr>
                        <a:t>Finestra di contesto</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Quantità massima di testo, in token, che il modello considera in una elaborazione</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93192">
                <a:tc>
                  <a:txBody>
                    <a:bodyPr/>
                    <a:lstStyle/>
                    <a:p>
                      <a:pPr marL="0" indent="0">
                        <a:buNone/>
                      </a:pPr>
                      <a:r>
                        <a:rPr lang="it-IT" sz="1200" b="1" noProof="0" dirty="0">
                          <a:solidFill>
                            <a:schemeClr val="tx1"/>
                          </a:solidFill>
                        </a:rPr>
                        <a:t>Grounding</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Ancoraggio delle risposte a fonti specifiche e verificabili</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93192">
                <a:tc>
                  <a:txBody>
                    <a:bodyPr/>
                    <a:lstStyle/>
                    <a:p>
                      <a:pPr marL="0" indent="0">
                        <a:buNone/>
                      </a:pPr>
                      <a:r>
                        <a:rPr lang="it-IT" sz="1200" b="1" noProof="0" dirty="0">
                          <a:solidFill>
                            <a:schemeClr val="tx1"/>
                          </a:solidFill>
                        </a:rPr>
                        <a:t>RAG</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Tecnica che recupera passaggi pertinenti da documenti e li inserisce nel contesto</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93192">
                <a:tc>
                  <a:txBody>
                    <a:bodyPr/>
                    <a:lstStyle/>
                    <a:p>
                      <a:pPr marL="0" indent="0">
                        <a:buNone/>
                      </a:pPr>
                      <a:r>
                        <a:rPr lang="it-IT" sz="1200" b="1" noProof="0" dirty="0">
                          <a:solidFill>
                            <a:schemeClr val="tx1"/>
                          </a:solidFill>
                        </a:rPr>
                        <a:t>Fine-tuning</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Addestramento aggiuntivo di un modello su esempi specifici</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393192">
                <a:tc>
                  <a:txBody>
                    <a:bodyPr/>
                    <a:lstStyle/>
                    <a:p>
                      <a:pPr marL="0" indent="0">
                        <a:buNone/>
                      </a:pPr>
                      <a:r>
                        <a:rPr lang="it-IT" sz="1200" b="1" noProof="0" dirty="0">
                          <a:solidFill>
                            <a:schemeClr val="tx1"/>
                          </a:solidFill>
                        </a:rPr>
                        <a:t>Temperatura</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200" noProof="0" dirty="0">
                          <a:solidFill>
                            <a:schemeClr val="tx1"/>
                          </a:solidFill>
                        </a:rPr>
                        <a:t>Parametro che regola quanto è variabile la scelta dei token</a:t>
                      </a:r>
                      <a:endParaRPr lang="it-IT" sz="12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68</a:t>
            </a:fld>
            <a:endParaRPr lang="it-IT" noProof="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Da dove viene questa risposta? Una scheda pratica</a:t>
            </a:r>
            <a:endParaRPr lang="it-IT" sz="2600" noProof="0" dirty="0"/>
          </a:p>
        </p:txBody>
      </p:sp>
      <p:sp>
        <p:nvSpPr>
          <p:cNvPr id="4" name="scheda 1"/>
          <p:cNvSpPr/>
          <p:nvPr/>
        </p:nvSpPr>
        <p:spPr>
          <a:xfrm>
            <a:off x="457200" y="1051560"/>
            <a:ext cx="4023360" cy="804672"/>
          </a:xfrm>
          <a:prstGeom prst="roundRect">
            <a:avLst>
              <a:gd name="adj" fmla="val 9091"/>
            </a:avLst>
          </a:prstGeom>
          <a:solidFill>
            <a:schemeClr val="bg2"/>
          </a:solidFill>
          <a:ln/>
        </p:spPr>
        <p:txBody>
          <a:bodyPr/>
          <a:lstStyle/>
          <a:p>
            <a:endParaRPr lang="it-IT" noProof="0" dirty="0"/>
          </a:p>
        </p:txBody>
      </p:sp>
      <p:sp>
        <p:nvSpPr>
          <p:cNvPr id="5" name="Text 2"/>
          <p:cNvSpPr txBox="1"/>
          <p:nvPr/>
        </p:nvSpPr>
        <p:spPr>
          <a:xfrm>
            <a:off x="594360" y="1051560"/>
            <a:ext cx="365760" cy="804672"/>
          </a:xfrm>
          <a:prstGeom prst="rect">
            <a:avLst/>
          </a:prstGeom>
          <a:noFill/>
          <a:ln/>
        </p:spPr>
        <p:txBody>
          <a:bodyPr wrap="square" lIns="0" tIns="0" rIns="0" bIns="0" rtlCol="0" anchor="ctr"/>
          <a:lstStyle/>
          <a:p>
            <a:pPr marL="0" indent="0">
              <a:buNone/>
            </a:pPr>
            <a:r>
              <a:rPr lang="it-IT" sz="2000" b="1" noProof="0" dirty="0">
                <a:solidFill>
                  <a:schemeClr val="accent1"/>
                </a:solidFill>
              </a:rPr>
              <a:t>1</a:t>
            </a:r>
            <a:endParaRPr lang="it-IT" sz="2000" noProof="0" dirty="0"/>
          </a:p>
        </p:txBody>
      </p:sp>
      <p:sp>
        <p:nvSpPr>
          <p:cNvPr id="6" name="Text 3"/>
          <p:cNvSpPr txBox="1"/>
          <p:nvPr/>
        </p:nvSpPr>
        <p:spPr>
          <a:xfrm>
            <a:off x="1005840" y="1124712"/>
            <a:ext cx="2697480" cy="347472"/>
          </a:xfrm>
          <a:prstGeom prst="rect">
            <a:avLst/>
          </a:prstGeom>
          <a:noFill/>
          <a:ln/>
        </p:spPr>
        <p:txBody>
          <a:bodyPr wrap="square" lIns="0" tIns="0" rIns="0" bIns="0" rtlCol="0" anchor="ctr"/>
          <a:lstStyle/>
          <a:p>
            <a:pPr marL="0" indent="0">
              <a:buNone/>
            </a:pPr>
            <a:r>
              <a:rPr lang="it-IT" sz="1400" b="1" noProof="0" dirty="0">
                <a:solidFill>
                  <a:schemeClr val="tx1"/>
                </a:solidFill>
              </a:rPr>
              <a:t>Quale sistema sto usando?</a:t>
            </a:r>
            <a:endParaRPr lang="it-IT" sz="1400" noProof="0" dirty="0"/>
          </a:p>
        </p:txBody>
      </p:sp>
      <p:sp>
        <p:nvSpPr>
          <p:cNvPr id="7" name="Text 4"/>
          <p:cNvSpPr txBox="1"/>
          <p:nvPr/>
        </p:nvSpPr>
        <p:spPr>
          <a:xfrm>
            <a:off x="1005840" y="1472184"/>
            <a:ext cx="2697480" cy="329184"/>
          </a:xfrm>
          <a:prstGeom prst="rect">
            <a:avLst/>
          </a:prstGeom>
          <a:noFill/>
          <a:ln/>
        </p:spPr>
        <p:txBody>
          <a:bodyPr wrap="square" lIns="0" tIns="0" rIns="0" bIns="0" rtlCol="0" anchor="t"/>
          <a:lstStyle/>
          <a:p>
            <a:pPr marL="0" indent="0">
              <a:buNone/>
            </a:pPr>
            <a:r>
              <a:rPr lang="it-IT" sz="1200" noProof="0" dirty="0">
                <a:solidFill>
                  <a:schemeClr val="tx2"/>
                </a:solidFill>
              </a:rPr>
              <a:t>Modello e applicazione, con quali funzioni</a:t>
            </a:r>
            <a:endParaRPr lang="it-IT" sz="1200" noProof="0" dirty="0"/>
          </a:p>
        </p:txBody>
      </p:sp>
      <p:sp>
        <p:nvSpPr>
          <p:cNvPr id="8" name="Text 5"/>
          <p:cNvSpPr txBox="1"/>
          <p:nvPr/>
        </p:nvSpPr>
        <p:spPr>
          <a:xfrm>
            <a:off x="3657600" y="1051560"/>
            <a:ext cx="731520" cy="804672"/>
          </a:xfrm>
          <a:prstGeom prst="rect">
            <a:avLst/>
          </a:prstGeom>
          <a:noFill/>
          <a:ln/>
        </p:spPr>
        <p:txBody>
          <a:bodyPr wrap="square" lIns="0" tIns="0" rIns="0" bIns="0" rtlCol="0" anchor="ctr"/>
          <a:lstStyle/>
          <a:p>
            <a:pPr marL="0" indent="0" algn="r">
              <a:buNone/>
            </a:pPr>
            <a:r>
              <a:rPr lang="it-IT" sz="1100" b="1" noProof="0" dirty="0">
                <a:solidFill>
                  <a:schemeClr val="accent1"/>
                </a:solidFill>
              </a:rPr>
              <a:t>2.5</a:t>
            </a:r>
            <a:endParaRPr lang="it-IT" sz="1100" noProof="0" dirty="0"/>
          </a:p>
        </p:txBody>
      </p:sp>
      <p:sp>
        <p:nvSpPr>
          <p:cNvPr id="9" name="scheda 2"/>
          <p:cNvSpPr/>
          <p:nvPr/>
        </p:nvSpPr>
        <p:spPr>
          <a:xfrm>
            <a:off x="4663440" y="1051560"/>
            <a:ext cx="4023360" cy="804672"/>
          </a:xfrm>
          <a:prstGeom prst="roundRect">
            <a:avLst>
              <a:gd name="adj" fmla="val 9091"/>
            </a:avLst>
          </a:prstGeom>
          <a:solidFill>
            <a:schemeClr val="bg2"/>
          </a:solidFill>
          <a:ln/>
        </p:spPr>
        <p:txBody>
          <a:bodyPr/>
          <a:lstStyle/>
          <a:p>
            <a:endParaRPr lang="it-IT" noProof="0" dirty="0"/>
          </a:p>
        </p:txBody>
      </p:sp>
      <p:sp>
        <p:nvSpPr>
          <p:cNvPr id="10" name="Text 7"/>
          <p:cNvSpPr txBox="1"/>
          <p:nvPr/>
        </p:nvSpPr>
        <p:spPr>
          <a:xfrm>
            <a:off x="4800600" y="1051560"/>
            <a:ext cx="365760" cy="804672"/>
          </a:xfrm>
          <a:prstGeom prst="rect">
            <a:avLst/>
          </a:prstGeom>
          <a:noFill/>
          <a:ln/>
        </p:spPr>
        <p:txBody>
          <a:bodyPr wrap="square" lIns="0" tIns="0" rIns="0" bIns="0" rtlCol="0" anchor="ctr"/>
          <a:lstStyle/>
          <a:p>
            <a:pPr marL="0" indent="0">
              <a:buNone/>
            </a:pPr>
            <a:r>
              <a:rPr lang="it-IT" sz="2000" b="1" noProof="0" dirty="0">
                <a:solidFill>
                  <a:schemeClr val="accent1"/>
                </a:solidFill>
              </a:rPr>
              <a:t>2</a:t>
            </a:r>
            <a:endParaRPr lang="it-IT" sz="2000" noProof="0" dirty="0"/>
          </a:p>
        </p:txBody>
      </p:sp>
      <p:sp>
        <p:nvSpPr>
          <p:cNvPr id="11" name="Text 8"/>
          <p:cNvSpPr txBox="1"/>
          <p:nvPr/>
        </p:nvSpPr>
        <p:spPr>
          <a:xfrm>
            <a:off x="5212080" y="1124712"/>
            <a:ext cx="2697480" cy="347472"/>
          </a:xfrm>
          <a:prstGeom prst="rect">
            <a:avLst/>
          </a:prstGeom>
          <a:noFill/>
          <a:ln/>
        </p:spPr>
        <p:txBody>
          <a:bodyPr wrap="square" lIns="0" tIns="0" rIns="0" bIns="0" rtlCol="0" anchor="ctr"/>
          <a:lstStyle/>
          <a:p>
            <a:pPr marL="0" indent="0">
              <a:buNone/>
            </a:pPr>
            <a:r>
              <a:rPr lang="it-IT" sz="1400" b="1" noProof="0" dirty="0">
                <a:solidFill>
                  <a:schemeClr val="tx1"/>
                </a:solidFill>
              </a:rPr>
              <a:t>Da dove viene l'informazione?</a:t>
            </a:r>
            <a:endParaRPr lang="it-IT" sz="1400" noProof="0" dirty="0"/>
          </a:p>
        </p:txBody>
      </p:sp>
      <p:sp>
        <p:nvSpPr>
          <p:cNvPr id="12" name="Text 9"/>
          <p:cNvSpPr txBox="1"/>
          <p:nvPr/>
        </p:nvSpPr>
        <p:spPr>
          <a:xfrm>
            <a:off x="5212080" y="1472184"/>
            <a:ext cx="2697480" cy="329184"/>
          </a:xfrm>
          <a:prstGeom prst="rect">
            <a:avLst/>
          </a:prstGeom>
          <a:noFill/>
          <a:ln/>
        </p:spPr>
        <p:txBody>
          <a:bodyPr wrap="square" lIns="0" tIns="0" rIns="0" bIns="0" rtlCol="0" anchor="t"/>
          <a:lstStyle/>
          <a:p>
            <a:pPr marL="0" indent="0">
              <a:buNone/>
            </a:pPr>
            <a:r>
              <a:rPr lang="it-IT" sz="1200" noProof="0" dirty="0">
                <a:solidFill>
                  <a:schemeClr val="tx2"/>
                </a:solidFill>
              </a:rPr>
              <a:t>Addestramento, contesto o fonte esterna</a:t>
            </a:r>
            <a:endParaRPr lang="it-IT" sz="1200" noProof="0" dirty="0"/>
          </a:p>
        </p:txBody>
      </p:sp>
      <p:sp>
        <p:nvSpPr>
          <p:cNvPr id="13" name="Text 10"/>
          <p:cNvSpPr txBox="1"/>
          <p:nvPr/>
        </p:nvSpPr>
        <p:spPr>
          <a:xfrm>
            <a:off x="7863840" y="1051560"/>
            <a:ext cx="731520" cy="804672"/>
          </a:xfrm>
          <a:prstGeom prst="rect">
            <a:avLst/>
          </a:prstGeom>
          <a:noFill/>
          <a:ln/>
        </p:spPr>
        <p:txBody>
          <a:bodyPr wrap="square" lIns="0" tIns="0" rIns="0" bIns="0" rtlCol="0" anchor="ctr"/>
          <a:lstStyle/>
          <a:p>
            <a:pPr marL="0" indent="0" algn="r">
              <a:buNone/>
            </a:pPr>
            <a:r>
              <a:rPr lang="it-IT" sz="1100" b="1" noProof="0" dirty="0">
                <a:solidFill>
                  <a:schemeClr val="accent1"/>
                </a:solidFill>
              </a:rPr>
              <a:t>2.6</a:t>
            </a:r>
            <a:endParaRPr lang="it-IT" sz="1100" noProof="0" dirty="0"/>
          </a:p>
        </p:txBody>
      </p:sp>
      <p:sp>
        <p:nvSpPr>
          <p:cNvPr id="14" name="scheda 3"/>
          <p:cNvSpPr/>
          <p:nvPr/>
        </p:nvSpPr>
        <p:spPr>
          <a:xfrm>
            <a:off x="457200" y="1965960"/>
            <a:ext cx="4023360" cy="804672"/>
          </a:xfrm>
          <a:prstGeom prst="roundRect">
            <a:avLst>
              <a:gd name="adj" fmla="val 9091"/>
            </a:avLst>
          </a:prstGeom>
          <a:solidFill>
            <a:schemeClr val="accent6"/>
          </a:solidFill>
          <a:ln/>
        </p:spPr>
        <p:txBody>
          <a:bodyPr/>
          <a:lstStyle/>
          <a:p>
            <a:endParaRPr lang="it-IT" noProof="0" dirty="0"/>
          </a:p>
        </p:txBody>
      </p:sp>
      <p:sp>
        <p:nvSpPr>
          <p:cNvPr id="15" name="Text 12"/>
          <p:cNvSpPr txBox="1"/>
          <p:nvPr/>
        </p:nvSpPr>
        <p:spPr>
          <a:xfrm>
            <a:off x="594360" y="1965960"/>
            <a:ext cx="365760" cy="804672"/>
          </a:xfrm>
          <a:prstGeom prst="rect">
            <a:avLst/>
          </a:prstGeom>
          <a:noFill/>
          <a:ln/>
        </p:spPr>
        <p:txBody>
          <a:bodyPr wrap="square" lIns="0" tIns="0" rIns="0" bIns="0" rtlCol="0" anchor="ctr"/>
          <a:lstStyle/>
          <a:p>
            <a:pPr marL="0" indent="0">
              <a:buNone/>
            </a:pPr>
            <a:r>
              <a:rPr lang="it-IT" sz="2000" b="1" noProof="0" dirty="0">
                <a:solidFill>
                  <a:schemeClr val="accent1"/>
                </a:solidFill>
              </a:rPr>
              <a:t>3</a:t>
            </a:r>
            <a:endParaRPr lang="it-IT" sz="2000" noProof="0" dirty="0"/>
          </a:p>
        </p:txBody>
      </p:sp>
      <p:sp>
        <p:nvSpPr>
          <p:cNvPr id="16" name="Text 13"/>
          <p:cNvSpPr txBox="1"/>
          <p:nvPr/>
        </p:nvSpPr>
        <p:spPr>
          <a:xfrm>
            <a:off x="1005840" y="2039112"/>
            <a:ext cx="2697480" cy="347472"/>
          </a:xfrm>
          <a:prstGeom prst="rect">
            <a:avLst/>
          </a:prstGeom>
          <a:noFill/>
          <a:ln/>
        </p:spPr>
        <p:txBody>
          <a:bodyPr wrap="square" lIns="0" tIns="0" rIns="0" bIns="0" rtlCol="0" anchor="ctr"/>
          <a:lstStyle/>
          <a:p>
            <a:pPr marL="0" indent="0">
              <a:buNone/>
            </a:pPr>
            <a:r>
              <a:rPr lang="it-IT" sz="1400" b="1" noProof="0" dirty="0">
                <a:solidFill>
                  <a:schemeClr val="tx1"/>
                </a:solidFill>
              </a:rPr>
              <a:t>Può essere cambiata di recente?</a:t>
            </a:r>
            <a:endParaRPr lang="it-IT" sz="1400" noProof="0" dirty="0"/>
          </a:p>
        </p:txBody>
      </p:sp>
      <p:sp>
        <p:nvSpPr>
          <p:cNvPr id="17" name="Text 14"/>
          <p:cNvSpPr txBox="1"/>
          <p:nvPr/>
        </p:nvSpPr>
        <p:spPr>
          <a:xfrm>
            <a:off x="1005840" y="2386584"/>
            <a:ext cx="2697480" cy="329184"/>
          </a:xfrm>
          <a:prstGeom prst="rect">
            <a:avLst/>
          </a:prstGeom>
          <a:noFill/>
          <a:ln/>
        </p:spPr>
        <p:txBody>
          <a:bodyPr wrap="square" lIns="0" tIns="0" rIns="0" bIns="0" rtlCol="0" anchor="t"/>
          <a:lstStyle/>
          <a:p>
            <a:pPr marL="0" indent="0">
              <a:buNone/>
            </a:pPr>
            <a:r>
              <a:rPr lang="it-IT" sz="1200" noProof="0" dirty="0">
                <a:solidFill>
                  <a:schemeClr val="tx2"/>
                </a:solidFill>
              </a:rPr>
              <a:t>Data limite, ricerca, documenti aggiornati</a:t>
            </a:r>
            <a:endParaRPr lang="it-IT" sz="1200" noProof="0" dirty="0"/>
          </a:p>
        </p:txBody>
      </p:sp>
      <p:sp>
        <p:nvSpPr>
          <p:cNvPr id="18" name="Text 15"/>
          <p:cNvSpPr txBox="1"/>
          <p:nvPr/>
        </p:nvSpPr>
        <p:spPr>
          <a:xfrm>
            <a:off x="3657600" y="1965960"/>
            <a:ext cx="731520" cy="804672"/>
          </a:xfrm>
          <a:prstGeom prst="rect">
            <a:avLst/>
          </a:prstGeom>
          <a:noFill/>
          <a:ln/>
        </p:spPr>
        <p:txBody>
          <a:bodyPr wrap="square" lIns="0" tIns="0" rIns="0" bIns="0" rtlCol="0" anchor="ctr"/>
          <a:lstStyle/>
          <a:p>
            <a:pPr marL="0" indent="0" algn="r">
              <a:buNone/>
            </a:pPr>
            <a:r>
              <a:rPr lang="it-IT" sz="1100" b="1" noProof="0" dirty="0">
                <a:solidFill>
                  <a:schemeClr val="accent1"/>
                </a:solidFill>
              </a:rPr>
              <a:t>2.6</a:t>
            </a:r>
            <a:endParaRPr lang="it-IT" sz="1100" noProof="0" dirty="0"/>
          </a:p>
        </p:txBody>
      </p:sp>
      <p:sp>
        <p:nvSpPr>
          <p:cNvPr id="19" name="scheda 4"/>
          <p:cNvSpPr/>
          <p:nvPr/>
        </p:nvSpPr>
        <p:spPr>
          <a:xfrm>
            <a:off x="4663440" y="1965960"/>
            <a:ext cx="4023360" cy="804672"/>
          </a:xfrm>
          <a:prstGeom prst="roundRect">
            <a:avLst>
              <a:gd name="adj" fmla="val 9091"/>
            </a:avLst>
          </a:prstGeom>
          <a:solidFill>
            <a:schemeClr val="accent6"/>
          </a:solidFill>
          <a:ln/>
        </p:spPr>
        <p:txBody>
          <a:bodyPr/>
          <a:lstStyle/>
          <a:p>
            <a:endParaRPr lang="it-IT" noProof="0" dirty="0"/>
          </a:p>
        </p:txBody>
      </p:sp>
      <p:sp>
        <p:nvSpPr>
          <p:cNvPr id="20" name="Text 17"/>
          <p:cNvSpPr txBox="1"/>
          <p:nvPr/>
        </p:nvSpPr>
        <p:spPr>
          <a:xfrm>
            <a:off x="4800600" y="1965960"/>
            <a:ext cx="365760" cy="804672"/>
          </a:xfrm>
          <a:prstGeom prst="rect">
            <a:avLst/>
          </a:prstGeom>
          <a:noFill/>
          <a:ln/>
        </p:spPr>
        <p:txBody>
          <a:bodyPr wrap="square" lIns="0" tIns="0" rIns="0" bIns="0" rtlCol="0" anchor="ctr"/>
          <a:lstStyle/>
          <a:p>
            <a:pPr marL="0" indent="0">
              <a:buNone/>
            </a:pPr>
            <a:r>
              <a:rPr lang="it-IT" sz="2000" b="1" noProof="0" dirty="0">
                <a:solidFill>
                  <a:schemeClr val="accent1"/>
                </a:solidFill>
              </a:rPr>
              <a:t>4</a:t>
            </a:r>
            <a:endParaRPr lang="it-IT" sz="2000" noProof="0" dirty="0"/>
          </a:p>
        </p:txBody>
      </p:sp>
      <p:sp>
        <p:nvSpPr>
          <p:cNvPr id="21" name="Text 18"/>
          <p:cNvSpPr txBox="1"/>
          <p:nvPr/>
        </p:nvSpPr>
        <p:spPr>
          <a:xfrm>
            <a:off x="5212080" y="2039112"/>
            <a:ext cx="2697480" cy="347472"/>
          </a:xfrm>
          <a:prstGeom prst="rect">
            <a:avLst/>
          </a:prstGeom>
          <a:noFill/>
          <a:ln/>
        </p:spPr>
        <p:txBody>
          <a:bodyPr wrap="square" lIns="0" tIns="0" rIns="0" bIns="0" rtlCol="0" anchor="ctr"/>
          <a:lstStyle/>
          <a:p>
            <a:pPr marL="0" indent="0">
              <a:buNone/>
            </a:pPr>
            <a:r>
              <a:rPr lang="it-IT" sz="1400" b="1" noProof="0" dirty="0">
                <a:solidFill>
                  <a:schemeClr val="tx1"/>
                </a:solidFill>
              </a:rPr>
              <a:t>Il contesto è quello giusto?</a:t>
            </a:r>
            <a:endParaRPr lang="it-IT" sz="1400" noProof="0" dirty="0"/>
          </a:p>
        </p:txBody>
      </p:sp>
      <p:sp>
        <p:nvSpPr>
          <p:cNvPr id="22" name="Text 19"/>
          <p:cNvSpPr txBox="1"/>
          <p:nvPr/>
        </p:nvSpPr>
        <p:spPr>
          <a:xfrm>
            <a:off x="5212080" y="2386584"/>
            <a:ext cx="2697480" cy="329184"/>
          </a:xfrm>
          <a:prstGeom prst="rect">
            <a:avLst/>
          </a:prstGeom>
          <a:noFill/>
          <a:ln/>
        </p:spPr>
        <p:txBody>
          <a:bodyPr wrap="square" lIns="0" tIns="0" rIns="0" bIns="0" rtlCol="0" anchor="t"/>
          <a:lstStyle/>
          <a:p>
            <a:pPr marL="0" indent="0">
              <a:buNone/>
            </a:pPr>
            <a:r>
              <a:rPr lang="it-IT" sz="1200" noProof="0" dirty="0">
                <a:solidFill>
                  <a:schemeClr val="tx2"/>
                </a:solidFill>
              </a:rPr>
              <a:t>Pertinente, completo, non sepolto</a:t>
            </a:r>
            <a:endParaRPr lang="it-IT" sz="1200" noProof="0" dirty="0"/>
          </a:p>
        </p:txBody>
      </p:sp>
      <p:sp>
        <p:nvSpPr>
          <p:cNvPr id="23" name="Text 20"/>
          <p:cNvSpPr txBox="1"/>
          <p:nvPr/>
        </p:nvSpPr>
        <p:spPr>
          <a:xfrm>
            <a:off x="7863840" y="1965960"/>
            <a:ext cx="731520" cy="804672"/>
          </a:xfrm>
          <a:prstGeom prst="rect">
            <a:avLst/>
          </a:prstGeom>
          <a:noFill/>
          <a:ln/>
        </p:spPr>
        <p:txBody>
          <a:bodyPr wrap="square" lIns="0" tIns="0" rIns="0" bIns="0" rtlCol="0" anchor="ctr"/>
          <a:lstStyle/>
          <a:p>
            <a:pPr marL="0" indent="0" algn="r">
              <a:buNone/>
            </a:pPr>
            <a:r>
              <a:rPr lang="it-IT" sz="1100" b="1" noProof="0" dirty="0">
                <a:solidFill>
                  <a:schemeClr val="accent1"/>
                </a:solidFill>
              </a:rPr>
              <a:t>2.5</a:t>
            </a:r>
            <a:endParaRPr lang="it-IT" sz="1100" noProof="0" dirty="0"/>
          </a:p>
        </p:txBody>
      </p:sp>
      <p:sp>
        <p:nvSpPr>
          <p:cNvPr id="24" name="scheda 5"/>
          <p:cNvSpPr/>
          <p:nvPr/>
        </p:nvSpPr>
        <p:spPr>
          <a:xfrm>
            <a:off x="457200" y="2880360"/>
            <a:ext cx="4023360" cy="804672"/>
          </a:xfrm>
          <a:prstGeom prst="roundRect">
            <a:avLst>
              <a:gd name="adj" fmla="val 9091"/>
            </a:avLst>
          </a:prstGeom>
          <a:solidFill>
            <a:schemeClr val="bg2"/>
          </a:solidFill>
          <a:ln/>
        </p:spPr>
        <p:txBody>
          <a:bodyPr/>
          <a:lstStyle/>
          <a:p>
            <a:endParaRPr lang="it-IT" noProof="0" dirty="0"/>
          </a:p>
        </p:txBody>
      </p:sp>
      <p:sp>
        <p:nvSpPr>
          <p:cNvPr id="25" name="Text 22"/>
          <p:cNvSpPr txBox="1"/>
          <p:nvPr/>
        </p:nvSpPr>
        <p:spPr>
          <a:xfrm>
            <a:off x="594360" y="2880360"/>
            <a:ext cx="365760" cy="804672"/>
          </a:xfrm>
          <a:prstGeom prst="rect">
            <a:avLst/>
          </a:prstGeom>
          <a:noFill/>
          <a:ln/>
        </p:spPr>
        <p:txBody>
          <a:bodyPr wrap="square" lIns="0" tIns="0" rIns="0" bIns="0" rtlCol="0" anchor="ctr"/>
          <a:lstStyle/>
          <a:p>
            <a:pPr marL="0" indent="0">
              <a:buNone/>
            </a:pPr>
            <a:r>
              <a:rPr lang="it-IT" sz="2000" b="1" noProof="0" dirty="0">
                <a:solidFill>
                  <a:schemeClr val="accent1"/>
                </a:solidFill>
              </a:rPr>
              <a:t>5</a:t>
            </a:r>
            <a:endParaRPr lang="it-IT" sz="2000" noProof="0" dirty="0"/>
          </a:p>
        </p:txBody>
      </p:sp>
      <p:sp>
        <p:nvSpPr>
          <p:cNvPr id="26" name="Text 23"/>
          <p:cNvSpPr txBox="1"/>
          <p:nvPr/>
        </p:nvSpPr>
        <p:spPr>
          <a:xfrm>
            <a:off x="1005840" y="2953512"/>
            <a:ext cx="2697480" cy="347472"/>
          </a:xfrm>
          <a:prstGeom prst="rect">
            <a:avLst/>
          </a:prstGeom>
          <a:noFill/>
          <a:ln/>
        </p:spPr>
        <p:txBody>
          <a:bodyPr wrap="square" lIns="0" tIns="0" rIns="0" bIns="0" rtlCol="0" anchor="ctr"/>
          <a:lstStyle/>
          <a:p>
            <a:pPr marL="0" indent="0">
              <a:buNone/>
            </a:pPr>
            <a:r>
              <a:rPr lang="it-IT" sz="1400" b="1" noProof="0" dirty="0">
                <a:solidFill>
                  <a:schemeClr val="tx1"/>
                </a:solidFill>
              </a:rPr>
              <a:t>Che cosa resta dopo?</a:t>
            </a:r>
            <a:endParaRPr lang="it-IT" sz="1400" noProof="0" dirty="0"/>
          </a:p>
        </p:txBody>
      </p:sp>
      <p:sp>
        <p:nvSpPr>
          <p:cNvPr id="27" name="Text 24"/>
          <p:cNvSpPr txBox="1"/>
          <p:nvPr/>
        </p:nvSpPr>
        <p:spPr>
          <a:xfrm>
            <a:off x="1005840" y="3300984"/>
            <a:ext cx="2697480" cy="329184"/>
          </a:xfrm>
          <a:prstGeom prst="rect">
            <a:avLst/>
          </a:prstGeom>
          <a:noFill/>
          <a:ln/>
        </p:spPr>
        <p:txBody>
          <a:bodyPr wrap="square" lIns="0" tIns="0" rIns="0" bIns="0" rtlCol="0" anchor="t"/>
          <a:lstStyle/>
          <a:p>
            <a:pPr marL="0" indent="0">
              <a:buNone/>
            </a:pPr>
            <a:r>
              <a:rPr lang="it-IT" sz="1200" noProof="0" dirty="0">
                <a:solidFill>
                  <a:schemeClr val="tx2"/>
                </a:solidFill>
              </a:rPr>
              <a:t>Memoria, dati, condizioni del servizio</a:t>
            </a:r>
            <a:endParaRPr lang="it-IT" sz="1200" noProof="0" dirty="0"/>
          </a:p>
        </p:txBody>
      </p:sp>
      <p:sp>
        <p:nvSpPr>
          <p:cNvPr id="28" name="Text 25"/>
          <p:cNvSpPr txBox="1"/>
          <p:nvPr/>
        </p:nvSpPr>
        <p:spPr>
          <a:xfrm>
            <a:off x="3657600" y="2880360"/>
            <a:ext cx="731520" cy="804672"/>
          </a:xfrm>
          <a:prstGeom prst="rect">
            <a:avLst/>
          </a:prstGeom>
          <a:noFill/>
          <a:ln/>
        </p:spPr>
        <p:txBody>
          <a:bodyPr wrap="square" lIns="0" tIns="0" rIns="0" bIns="0" rtlCol="0" anchor="ctr"/>
          <a:lstStyle/>
          <a:p>
            <a:pPr marL="0" indent="0" algn="r">
              <a:buNone/>
            </a:pPr>
            <a:r>
              <a:rPr lang="it-IT" sz="1100" b="1" noProof="0" dirty="0">
                <a:solidFill>
                  <a:schemeClr val="accent1"/>
                </a:solidFill>
              </a:rPr>
              <a:t>2.3  2.5</a:t>
            </a:r>
            <a:endParaRPr lang="it-IT" sz="1100" noProof="0" dirty="0"/>
          </a:p>
        </p:txBody>
      </p:sp>
      <p:sp>
        <p:nvSpPr>
          <p:cNvPr id="29" name="scheda 6"/>
          <p:cNvSpPr/>
          <p:nvPr/>
        </p:nvSpPr>
        <p:spPr>
          <a:xfrm>
            <a:off x="4663440" y="2880360"/>
            <a:ext cx="4023360" cy="804672"/>
          </a:xfrm>
          <a:prstGeom prst="roundRect">
            <a:avLst>
              <a:gd name="adj" fmla="val 9091"/>
            </a:avLst>
          </a:prstGeom>
          <a:solidFill>
            <a:schemeClr val="bg2"/>
          </a:solidFill>
          <a:ln/>
        </p:spPr>
        <p:txBody>
          <a:bodyPr/>
          <a:lstStyle/>
          <a:p>
            <a:endParaRPr lang="it-IT" noProof="0" dirty="0"/>
          </a:p>
        </p:txBody>
      </p:sp>
      <p:sp>
        <p:nvSpPr>
          <p:cNvPr id="30" name="Text 27"/>
          <p:cNvSpPr txBox="1"/>
          <p:nvPr/>
        </p:nvSpPr>
        <p:spPr>
          <a:xfrm>
            <a:off x="4800600" y="2880360"/>
            <a:ext cx="365760" cy="804672"/>
          </a:xfrm>
          <a:prstGeom prst="rect">
            <a:avLst/>
          </a:prstGeom>
          <a:noFill/>
          <a:ln/>
        </p:spPr>
        <p:txBody>
          <a:bodyPr wrap="square" lIns="0" tIns="0" rIns="0" bIns="0" rtlCol="0" anchor="ctr"/>
          <a:lstStyle/>
          <a:p>
            <a:pPr marL="0" indent="0">
              <a:buNone/>
            </a:pPr>
            <a:r>
              <a:rPr lang="it-IT" sz="2000" b="1" noProof="0" dirty="0">
                <a:solidFill>
                  <a:schemeClr val="accent1"/>
                </a:solidFill>
              </a:rPr>
              <a:t>6</a:t>
            </a:r>
            <a:endParaRPr lang="it-IT" sz="2000" noProof="0" dirty="0"/>
          </a:p>
        </p:txBody>
      </p:sp>
      <p:sp>
        <p:nvSpPr>
          <p:cNvPr id="31" name="Text 28"/>
          <p:cNvSpPr txBox="1"/>
          <p:nvPr/>
        </p:nvSpPr>
        <p:spPr>
          <a:xfrm>
            <a:off x="5212080" y="2953512"/>
            <a:ext cx="2697480" cy="347472"/>
          </a:xfrm>
          <a:prstGeom prst="rect">
            <a:avLst/>
          </a:prstGeom>
          <a:noFill/>
          <a:ln/>
        </p:spPr>
        <p:txBody>
          <a:bodyPr wrap="square" lIns="0" tIns="0" rIns="0" bIns="0" rtlCol="0" anchor="ctr"/>
          <a:lstStyle/>
          <a:p>
            <a:pPr marL="0" indent="0">
              <a:buNone/>
            </a:pPr>
            <a:r>
              <a:rPr lang="it-IT" sz="1400" b="1" noProof="0" dirty="0">
                <a:solidFill>
                  <a:schemeClr val="tx1"/>
                </a:solidFill>
              </a:rPr>
              <a:t>Se la rigenero, cambia?</a:t>
            </a:r>
            <a:endParaRPr lang="it-IT" sz="1400" noProof="0" dirty="0"/>
          </a:p>
        </p:txBody>
      </p:sp>
      <p:sp>
        <p:nvSpPr>
          <p:cNvPr id="32" name="Text 29"/>
          <p:cNvSpPr txBox="1"/>
          <p:nvPr/>
        </p:nvSpPr>
        <p:spPr>
          <a:xfrm>
            <a:off x="5212080" y="3300984"/>
            <a:ext cx="2697480" cy="329184"/>
          </a:xfrm>
          <a:prstGeom prst="rect">
            <a:avLst/>
          </a:prstGeom>
          <a:noFill/>
          <a:ln/>
        </p:spPr>
        <p:txBody>
          <a:bodyPr wrap="square" lIns="0" tIns="0" rIns="0" bIns="0" rtlCol="0" anchor="t"/>
          <a:lstStyle/>
          <a:p>
            <a:pPr marL="0" indent="0">
              <a:buNone/>
            </a:pPr>
            <a:r>
              <a:rPr lang="it-IT" sz="1200" noProof="0" dirty="0">
                <a:solidFill>
                  <a:schemeClr val="tx2"/>
                </a:solidFill>
              </a:rPr>
              <a:t>Un segnale, non una prova</a:t>
            </a:r>
            <a:endParaRPr lang="it-IT" sz="1200" noProof="0" dirty="0"/>
          </a:p>
        </p:txBody>
      </p:sp>
      <p:sp>
        <p:nvSpPr>
          <p:cNvPr id="33" name="Text 30"/>
          <p:cNvSpPr txBox="1"/>
          <p:nvPr/>
        </p:nvSpPr>
        <p:spPr>
          <a:xfrm>
            <a:off x="7863840" y="2880360"/>
            <a:ext cx="731520" cy="804672"/>
          </a:xfrm>
          <a:prstGeom prst="rect">
            <a:avLst/>
          </a:prstGeom>
          <a:noFill/>
          <a:ln/>
        </p:spPr>
        <p:txBody>
          <a:bodyPr wrap="square" lIns="0" tIns="0" rIns="0" bIns="0" rtlCol="0" anchor="ctr"/>
          <a:lstStyle/>
          <a:p>
            <a:pPr marL="0" indent="0" algn="r">
              <a:buNone/>
            </a:pPr>
            <a:r>
              <a:rPr lang="it-IT" sz="1100" b="1" noProof="0" dirty="0">
                <a:solidFill>
                  <a:schemeClr val="accent1"/>
                </a:solidFill>
              </a:rPr>
              <a:t>2.7</a:t>
            </a:r>
            <a:endParaRPr lang="it-IT" sz="1100" noProof="0" dirty="0"/>
          </a:p>
        </p:txBody>
      </p:sp>
      <p:sp>
        <p:nvSpPr>
          <p:cNvPr id="34" name="messaggio"/>
          <p:cNvSpPr/>
          <p:nvPr/>
        </p:nvSpPr>
        <p:spPr>
          <a:xfrm>
            <a:off x="457200" y="3886200"/>
            <a:ext cx="8229600" cy="594360"/>
          </a:xfrm>
          <a:prstGeom prst="roundRect">
            <a:avLst>
              <a:gd name="adj" fmla="val 12308"/>
            </a:avLst>
          </a:prstGeom>
          <a:solidFill>
            <a:schemeClr val="tx1"/>
          </a:solidFill>
          <a:ln/>
        </p:spPr>
        <p:txBody>
          <a:bodyPr/>
          <a:lstStyle/>
          <a:p>
            <a:endParaRPr lang="it-IT" noProof="0" dirty="0"/>
          </a:p>
        </p:txBody>
      </p:sp>
      <p:sp>
        <p:nvSpPr>
          <p:cNvPr id="35" name="Text 32"/>
          <p:cNvSpPr txBox="1"/>
          <p:nvPr/>
        </p:nvSpPr>
        <p:spPr>
          <a:xfrm>
            <a:off x="640080" y="3886200"/>
            <a:ext cx="7863840" cy="594360"/>
          </a:xfrm>
          <a:prstGeom prst="rect">
            <a:avLst/>
          </a:prstGeom>
          <a:noFill/>
          <a:ln/>
        </p:spPr>
        <p:txBody>
          <a:bodyPr wrap="square" lIns="0" tIns="0" rIns="0" bIns="0" rtlCol="0" anchor="ctr"/>
          <a:lstStyle/>
          <a:p>
            <a:pPr marL="0" indent="0">
              <a:buNone/>
            </a:pPr>
            <a:r>
              <a:rPr lang="it-IT" sz="1300" noProof="0" dirty="0">
                <a:solidFill>
                  <a:schemeClr val="bg1"/>
                </a:solidFill>
              </a:rPr>
              <a:t>Capire il meccanismo serve a sapere che cosa controllare, non a fidarsi di più.</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69</a:t>
            </a:fld>
            <a:endParaRPr lang="it-IT" noProof="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Che cosa evitare</a:t>
            </a:r>
            <a:endParaRPr lang="it-IT" sz="2600" noProof="0" dirty="0"/>
          </a:p>
        </p:txBody>
      </p:sp>
      <p:sp>
        <p:nvSpPr>
          <p:cNvPr id="4" name="evitare 1"/>
          <p:cNvSpPr/>
          <p:nvPr/>
        </p:nvSpPr>
        <p:spPr>
          <a:xfrm>
            <a:off x="457200" y="1051560"/>
            <a:ext cx="4023360" cy="1024128"/>
          </a:xfrm>
          <a:prstGeom prst="roundRect">
            <a:avLst>
              <a:gd name="adj" fmla="val 7143"/>
            </a:avLst>
          </a:prstGeom>
          <a:solidFill>
            <a:schemeClr val="bg2"/>
          </a:solidFill>
          <a:ln/>
        </p:spPr>
        <p:txBody>
          <a:bodyPr/>
          <a:lstStyle/>
          <a:p>
            <a:endParaRPr lang="it-IT" noProof="0" dirty="0"/>
          </a:p>
        </p:txBody>
      </p:sp>
      <p:sp>
        <p:nvSpPr>
          <p:cNvPr id="5" name="cerchio FiUser"/>
          <p:cNvSpPr/>
          <p:nvPr/>
        </p:nvSpPr>
        <p:spPr>
          <a:xfrm>
            <a:off x="621792" y="1216152"/>
            <a:ext cx="457200" cy="457200"/>
          </a:xfrm>
          <a:prstGeom prst="ellipse">
            <a:avLst/>
          </a:prstGeom>
          <a:solidFill>
            <a:schemeClr val="accent5"/>
          </a:solidFill>
          <a:ln/>
        </p:spPr>
        <p:txBody>
          <a:bodyPr/>
          <a:lstStyle/>
          <a:p>
            <a:endParaRPr lang="it-IT" noProof="0" dirty="0"/>
          </a:p>
        </p:txBody>
      </p:sp>
      <p:pic>
        <p:nvPicPr>
          <p:cNvPr id="6" name="Image 0" descr="FiUser"/>
          <p:cNvPicPr>
            <a:picLocks noChangeAspect="1"/>
          </p:cNvPicPr>
          <p:nvPr/>
        </p:nvPicPr>
        <p:blipFill>
          <a:blip r:embed="rId3"/>
          <a:stretch>
            <a:fillRect/>
          </a:stretch>
        </p:blipFill>
        <p:spPr>
          <a:xfrm>
            <a:off x="736092" y="1330452"/>
            <a:ext cx="228600" cy="228600"/>
          </a:xfrm>
          <a:prstGeom prst="rect">
            <a:avLst/>
          </a:prstGeom>
        </p:spPr>
      </p:pic>
      <p:sp>
        <p:nvSpPr>
          <p:cNvPr id="7" name="Text 3"/>
          <p:cNvSpPr txBox="1"/>
          <p:nvPr/>
        </p:nvSpPr>
        <p:spPr>
          <a:xfrm>
            <a:off x="1188720" y="1143000"/>
            <a:ext cx="2743200" cy="502920"/>
          </a:xfrm>
          <a:prstGeom prst="rect">
            <a:avLst/>
          </a:prstGeom>
          <a:noFill/>
          <a:ln/>
        </p:spPr>
        <p:txBody>
          <a:bodyPr wrap="square" lIns="0" tIns="0" rIns="0" bIns="0" rtlCol="0" anchor="ctr"/>
          <a:lstStyle/>
          <a:p>
            <a:pPr marL="0" indent="0">
              <a:buNone/>
            </a:pPr>
            <a:r>
              <a:rPr lang="it-IT" sz="1300" b="1" noProof="0" dirty="0">
                <a:solidFill>
                  <a:schemeClr val="tx1"/>
                </a:solidFill>
              </a:rPr>
              <a:t>"L'AI capisce come una persona"</a:t>
            </a:r>
            <a:endParaRPr lang="it-IT" sz="1300" noProof="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marL="0" indent="0">
              <a:buNone/>
            </a:pPr>
            <a:r>
              <a:rPr lang="it-IT" sz="1200" noProof="0" dirty="0">
                <a:solidFill>
                  <a:schemeClr val="tx2"/>
                </a:solidFill>
              </a:rPr>
              <a:t>Contano le prestazioni osservabili</a:t>
            </a:r>
            <a:endParaRPr lang="it-IT" sz="1200" noProof="0" dirty="0"/>
          </a:p>
        </p:txBody>
      </p:sp>
      <p:sp>
        <p:nvSpPr>
          <p:cNvPr id="9" name="Text 5"/>
          <p:cNvSpPr txBox="1"/>
          <p:nvPr/>
        </p:nvSpPr>
        <p:spPr>
          <a:xfrm>
            <a:off x="3886200" y="1143000"/>
            <a:ext cx="457200" cy="365760"/>
          </a:xfrm>
          <a:prstGeom prst="rect">
            <a:avLst/>
          </a:prstGeom>
          <a:noFill/>
          <a:ln/>
        </p:spPr>
        <p:txBody>
          <a:bodyPr wrap="square" lIns="0" tIns="0" rIns="0" bIns="0" rtlCol="0" anchor="t"/>
          <a:lstStyle/>
          <a:p>
            <a:pPr marL="0" indent="0" algn="r">
              <a:buNone/>
            </a:pPr>
            <a:r>
              <a:rPr lang="it-IT" sz="1100" b="1" noProof="0" dirty="0">
                <a:solidFill>
                  <a:schemeClr val="accent1"/>
                </a:solidFill>
              </a:rPr>
              <a:t>2.1</a:t>
            </a:r>
            <a:endParaRPr lang="it-IT" sz="1100" noProof="0" dirty="0"/>
          </a:p>
        </p:txBody>
      </p:sp>
      <p:sp>
        <p:nvSpPr>
          <p:cNvPr id="10" name="evitare 2"/>
          <p:cNvSpPr/>
          <p:nvPr/>
        </p:nvSpPr>
        <p:spPr>
          <a:xfrm>
            <a:off x="4663440" y="1051560"/>
            <a:ext cx="4023360" cy="1024128"/>
          </a:xfrm>
          <a:prstGeom prst="roundRect">
            <a:avLst>
              <a:gd name="adj" fmla="val 7143"/>
            </a:avLst>
          </a:prstGeom>
          <a:solidFill>
            <a:schemeClr val="bg2"/>
          </a:solidFill>
          <a:ln/>
        </p:spPr>
        <p:txBody>
          <a:bodyPr/>
          <a:lstStyle/>
          <a:p>
            <a:endParaRPr lang="it-IT" noProof="0" dirty="0"/>
          </a:p>
        </p:txBody>
      </p:sp>
      <p:sp>
        <p:nvSpPr>
          <p:cNvPr id="11" name="cerchio FiGrid"/>
          <p:cNvSpPr/>
          <p:nvPr/>
        </p:nvSpPr>
        <p:spPr>
          <a:xfrm>
            <a:off x="4828032" y="1216152"/>
            <a:ext cx="457200" cy="457200"/>
          </a:xfrm>
          <a:prstGeom prst="ellipse">
            <a:avLst/>
          </a:prstGeom>
          <a:solidFill>
            <a:schemeClr val="accent5"/>
          </a:solidFill>
          <a:ln/>
        </p:spPr>
        <p:txBody>
          <a:bodyPr/>
          <a:lstStyle/>
          <a:p>
            <a:endParaRPr lang="it-IT" noProof="0" dirty="0"/>
          </a:p>
        </p:txBody>
      </p:sp>
      <p:pic>
        <p:nvPicPr>
          <p:cNvPr id="12" name="Image 1" descr="FiGrid"/>
          <p:cNvPicPr>
            <a:picLocks noChangeAspect="1"/>
          </p:cNvPicPr>
          <p:nvPr/>
        </p:nvPicPr>
        <p:blipFill>
          <a:blip r:embed="rId4"/>
          <a:stretch>
            <a:fillRect/>
          </a:stretch>
        </p:blipFill>
        <p:spPr>
          <a:xfrm>
            <a:off x="4942332" y="1330452"/>
            <a:ext cx="228600" cy="228600"/>
          </a:xfrm>
          <a:prstGeom prst="rect">
            <a:avLst/>
          </a:prstGeom>
        </p:spPr>
      </p:pic>
      <p:sp>
        <p:nvSpPr>
          <p:cNvPr id="13" name="Text 8"/>
          <p:cNvSpPr txBox="1"/>
          <p:nvPr/>
        </p:nvSpPr>
        <p:spPr>
          <a:xfrm>
            <a:off x="5394960" y="1143000"/>
            <a:ext cx="2743200" cy="502920"/>
          </a:xfrm>
          <a:prstGeom prst="rect">
            <a:avLst/>
          </a:prstGeom>
          <a:noFill/>
          <a:ln/>
        </p:spPr>
        <p:txBody>
          <a:bodyPr wrap="square" lIns="0" tIns="0" rIns="0" bIns="0" rtlCol="0" anchor="ctr"/>
          <a:lstStyle/>
          <a:p>
            <a:pPr marL="0" indent="0">
              <a:buNone/>
            </a:pPr>
            <a:r>
              <a:rPr lang="it-IT" sz="1300" b="1" noProof="0" dirty="0">
                <a:solidFill>
                  <a:schemeClr val="tx1"/>
                </a:solidFill>
              </a:rPr>
              <a:t>"AI, ML e generativa sono la stessa cosa"</a:t>
            </a:r>
            <a:endParaRPr lang="it-IT" sz="1300" noProof="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marL="0" indent="0">
              <a:buNone/>
            </a:pPr>
            <a:r>
              <a:rPr lang="it-IT" sz="1200" noProof="0" dirty="0">
                <a:solidFill>
                  <a:schemeClr val="tx2"/>
                </a:solidFill>
              </a:rPr>
              <a:t>Criteri diversi, categorie non esclusive</a:t>
            </a:r>
            <a:endParaRPr lang="it-IT" sz="1200" noProof="0" dirty="0"/>
          </a:p>
        </p:txBody>
      </p:sp>
      <p:sp>
        <p:nvSpPr>
          <p:cNvPr id="15" name="Text 10"/>
          <p:cNvSpPr txBox="1"/>
          <p:nvPr/>
        </p:nvSpPr>
        <p:spPr>
          <a:xfrm>
            <a:off x="8092440" y="1143000"/>
            <a:ext cx="457200" cy="365760"/>
          </a:xfrm>
          <a:prstGeom prst="rect">
            <a:avLst/>
          </a:prstGeom>
          <a:noFill/>
          <a:ln/>
        </p:spPr>
        <p:txBody>
          <a:bodyPr wrap="square" lIns="0" tIns="0" rIns="0" bIns="0" rtlCol="0" anchor="t"/>
          <a:lstStyle/>
          <a:p>
            <a:pPr marL="0" indent="0" algn="r">
              <a:buNone/>
            </a:pPr>
            <a:r>
              <a:rPr lang="it-IT" sz="1100" b="1" noProof="0" dirty="0">
                <a:solidFill>
                  <a:schemeClr val="accent1"/>
                </a:solidFill>
              </a:rPr>
              <a:t>2.2</a:t>
            </a:r>
            <a:endParaRPr lang="it-IT" sz="1100" noProof="0" dirty="0"/>
          </a:p>
        </p:txBody>
      </p:sp>
      <p:sp>
        <p:nvSpPr>
          <p:cNvPr id="16" name="evitare 3"/>
          <p:cNvSpPr/>
          <p:nvPr/>
        </p:nvSpPr>
        <p:spPr>
          <a:xfrm>
            <a:off x="457200" y="2212848"/>
            <a:ext cx="4023360" cy="1024128"/>
          </a:xfrm>
          <a:prstGeom prst="roundRect">
            <a:avLst>
              <a:gd name="adj" fmla="val 7143"/>
            </a:avLst>
          </a:prstGeom>
          <a:solidFill>
            <a:schemeClr val="accent6"/>
          </a:solidFill>
          <a:ln/>
        </p:spPr>
        <p:txBody>
          <a:bodyPr/>
          <a:lstStyle/>
          <a:p>
            <a:endParaRPr lang="it-IT" noProof="0" dirty="0"/>
          </a:p>
        </p:txBody>
      </p:sp>
      <p:sp>
        <p:nvSpPr>
          <p:cNvPr id="17" name="cerchio FiEdit3"/>
          <p:cNvSpPr/>
          <p:nvPr/>
        </p:nvSpPr>
        <p:spPr>
          <a:xfrm>
            <a:off x="621792" y="2377440"/>
            <a:ext cx="457200" cy="457200"/>
          </a:xfrm>
          <a:prstGeom prst="ellipse">
            <a:avLst/>
          </a:prstGeom>
          <a:solidFill>
            <a:schemeClr val="accent5"/>
          </a:solidFill>
          <a:ln/>
        </p:spPr>
        <p:txBody>
          <a:bodyPr/>
          <a:lstStyle/>
          <a:p>
            <a:endParaRPr lang="it-IT" noProof="0" dirty="0"/>
          </a:p>
        </p:txBody>
      </p:sp>
      <p:pic>
        <p:nvPicPr>
          <p:cNvPr id="18" name="Image 2" descr="FiEdit3"/>
          <p:cNvPicPr>
            <a:picLocks noChangeAspect="1"/>
          </p:cNvPicPr>
          <p:nvPr/>
        </p:nvPicPr>
        <p:blipFill>
          <a:blip r:embed="rId5"/>
          <a:stretch>
            <a:fillRect/>
          </a:stretch>
        </p:blipFill>
        <p:spPr>
          <a:xfrm>
            <a:off x="736092" y="2491740"/>
            <a:ext cx="228600" cy="228600"/>
          </a:xfrm>
          <a:prstGeom prst="rect">
            <a:avLst/>
          </a:prstGeom>
        </p:spPr>
      </p:pic>
      <p:sp>
        <p:nvSpPr>
          <p:cNvPr id="19" name="Text 13"/>
          <p:cNvSpPr txBox="1"/>
          <p:nvPr/>
        </p:nvSpPr>
        <p:spPr>
          <a:xfrm>
            <a:off x="1188720" y="2304288"/>
            <a:ext cx="2743200" cy="502920"/>
          </a:xfrm>
          <a:prstGeom prst="rect">
            <a:avLst/>
          </a:prstGeom>
          <a:noFill/>
          <a:ln/>
        </p:spPr>
        <p:txBody>
          <a:bodyPr wrap="square" lIns="0" tIns="0" rIns="0" bIns="0" rtlCol="0" anchor="ctr"/>
          <a:lstStyle/>
          <a:p>
            <a:pPr marL="0" indent="0">
              <a:buNone/>
            </a:pPr>
            <a:r>
              <a:rPr lang="it-IT" sz="1300" b="1" noProof="0" dirty="0">
                <a:solidFill>
                  <a:schemeClr val="tx1"/>
                </a:solidFill>
              </a:rPr>
              <a:t>"Se lo correggo, lo addestro"</a:t>
            </a:r>
            <a:endParaRPr lang="it-IT" sz="1300" noProof="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marL="0" indent="0">
              <a:buNone/>
            </a:pPr>
            <a:r>
              <a:rPr lang="it-IT" sz="1200" noProof="0" dirty="0">
                <a:solidFill>
                  <a:schemeClr val="tx2"/>
                </a:solidFill>
              </a:rPr>
              <a:t>Nell'uso siamo in inferenza</a:t>
            </a:r>
            <a:endParaRPr lang="it-IT" sz="1200" noProof="0" dirty="0"/>
          </a:p>
        </p:txBody>
      </p:sp>
      <p:sp>
        <p:nvSpPr>
          <p:cNvPr id="21" name="Text 15"/>
          <p:cNvSpPr txBox="1"/>
          <p:nvPr/>
        </p:nvSpPr>
        <p:spPr>
          <a:xfrm>
            <a:off x="3886200" y="2304288"/>
            <a:ext cx="457200" cy="365760"/>
          </a:xfrm>
          <a:prstGeom prst="rect">
            <a:avLst/>
          </a:prstGeom>
          <a:noFill/>
          <a:ln/>
        </p:spPr>
        <p:txBody>
          <a:bodyPr wrap="square" lIns="0" tIns="0" rIns="0" bIns="0" rtlCol="0" anchor="t"/>
          <a:lstStyle/>
          <a:p>
            <a:pPr marL="0" indent="0" algn="r">
              <a:buNone/>
            </a:pPr>
            <a:r>
              <a:rPr lang="it-IT" sz="1100" b="1" noProof="0" dirty="0">
                <a:solidFill>
                  <a:schemeClr val="accent1"/>
                </a:solidFill>
              </a:rPr>
              <a:t>2.3</a:t>
            </a:r>
            <a:endParaRPr lang="it-IT" sz="1100" noProof="0" dirty="0"/>
          </a:p>
        </p:txBody>
      </p:sp>
      <p:sp>
        <p:nvSpPr>
          <p:cNvPr id="22" name="evitare 4"/>
          <p:cNvSpPr/>
          <p:nvPr/>
        </p:nvSpPr>
        <p:spPr>
          <a:xfrm>
            <a:off x="4663440" y="2212848"/>
            <a:ext cx="4023360" cy="1024128"/>
          </a:xfrm>
          <a:prstGeom prst="roundRect">
            <a:avLst>
              <a:gd name="adj" fmla="val 7143"/>
            </a:avLst>
          </a:prstGeom>
          <a:solidFill>
            <a:schemeClr val="accent6"/>
          </a:solidFill>
          <a:ln/>
        </p:spPr>
        <p:txBody>
          <a:bodyPr/>
          <a:lstStyle/>
          <a:p>
            <a:endParaRPr lang="it-IT" noProof="0" dirty="0"/>
          </a:p>
        </p:txBody>
      </p:sp>
      <p:sp>
        <p:nvSpPr>
          <p:cNvPr id="23" name="cerchio FiType"/>
          <p:cNvSpPr/>
          <p:nvPr/>
        </p:nvSpPr>
        <p:spPr>
          <a:xfrm>
            <a:off x="4828032" y="2377440"/>
            <a:ext cx="457200" cy="457200"/>
          </a:xfrm>
          <a:prstGeom prst="ellipse">
            <a:avLst/>
          </a:prstGeom>
          <a:solidFill>
            <a:schemeClr val="accent5"/>
          </a:solidFill>
          <a:ln/>
        </p:spPr>
        <p:txBody>
          <a:bodyPr/>
          <a:lstStyle/>
          <a:p>
            <a:endParaRPr lang="it-IT" noProof="0" dirty="0"/>
          </a:p>
        </p:txBody>
      </p:sp>
      <p:pic>
        <p:nvPicPr>
          <p:cNvPr id="24" name="Image 3" descr="FiType"/>
          <p:cNvPicPr>
            <a:picLocks noChangeAspect="1"/>
          </p:cNvPicPr>
          <p:nvPr/>
        </p:nvPicPr>
        <p:blipFill>
          <a:blip r:embed="rId6"/>
          <a:stretch>
            <a:fillRect/>
          </a:stretch>
        </p:blipFill>
        <p:spPr>
          <a:xfrm>
            <a:off x="4942332" y="2491740"/>
            <a:ext cx="228600" cy="228600"/>
          </a:xfrm>
          <a:prstGeom prst="rect">
            <a:avLst/>
          </a:prstGeom>
        </p:spPr>
      </p:pic>
      <p:sp>
        <p:nvSpPr>
          <p:cNvPr id="25" name="Text 18"/>
          <p:cNvSpPr txBox="1"/>
          <p:nvPr/>
        </p:nvSpPr>
        <p:spPr>
          <a:xfrm>
            <a:off x="5394960" y="2304288"/>
            <a:ext cx="2743200" cy="502920"/>
          </a:xfrm>
          <a:prstGeom prst="rect">
            <a:avLst/>
          </a:prstGeom>
          <a:noFill/>
          <a:ln/>
        </p:spPr>
        <p:txBody>
          <a:bodyPr wrap="square" lIns="0" tIns="0" rIns="0" bIns="0" rtlCol="0" anchor="ctr"/>
          <a:lstStyle/>
          <a:p>
            <a:pPr marL="0" indent="0">
              <a:buNone/>
            </a:pPr>
            <a:r>
              <a:rPr lang="it-IT" sz="1300" b="1" noProof="0" dirty="0">
                <a:solidFill>
                  <a:schemeClr val="tx1"/>
                </a:solidFill>
              </a:rPr>
              <a:t>"È solo un completamento automatico"</a:t>
            </a:r>
            <a:endParaRPr lang="it-IT" sz="1300" noProof="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marL="0" indent="0">
              <a:buNone/>
            </a:pPr>
            <a:r>
              <a:rPr lang="it-IT" sz="1200" noProof="0" dirty="0">
                <a:solidFill>
                  <a:schemeClr val="tx2"/>
                </a:solidFill>
              </a:rPr>
              <a:t>Regolarità apprese e contesto</a:t>
            </a:r>
            <a:endParaRPr lang="it-IT" sz="1200" noProof="0" dirty="0"/>
          </a:p>
        </p:txBody>
      </p:sp>
      <p:sp>
        <p:nvSpPr>
          <p:cNvPr id="27" name="Text 20"/>
          <p:cNvSpPr txBox="1"/>
          <p:nvPr/>
        </p:nvSpPr>
        <p:spPr>
          <a:xfrm>
            <a:off x="8092440" y="2304288"/>
            <a:ext cx="457200" cy="365760"/>
          </a:xfrm>
          <a:prstGeom prst="rect">
            <a:avLst/>
          </a:prstGeom>
          <a:noFill/>
          <a:ln/>
        </p:spPr>
        <p:txBody>
          <a:bodyPr wrap="square" lIns="0" tIns="0" rIns="0" bIns="0" rtlCol="0" anchor="t"/>
          <a:lstStyle/>
          <a:p>
            <a:pPr marL="0" indent="0" algn="r">
              <a:buNone/>
            </a:pPr>
            <a:r>
              <a:rPr lang="it-IT" sz="1100" b="1" noProof="0" dirty="0">
                <a:solidFill>
                  <a:schemeClr val="accent1"/>
                </a:solidFill>
              </a:rPr>
              <a:t>2.4</a:t>
            </a:r>
            <a:endParaRPr lang="it-IT" sz="1100" noProof="0" dirty="0"/>
          </a:p>
        </p:txBody>
      </p:sp>
      <p:sp>
        <p:nvSpPr>
          <p:cNvPr id="28" name="evitare 5"/>
          <p:cNvSpPr/>
          <p:nvPr/>
        </p:nvSpPr>
        <p:spPr>
          <a:xfrm>
            <a:off x="457200" y="3374136"/>
            <a:ext cx="4023360" cy="1024128"/>
          </a:xfrm>
          <a:prstGeom prst="roundRect">
            <a:avLst>
              <a:gd name="adj" fmla="val 7143"/>
            </a:avLst>
          </a:prstGeom>
          <a:solidFill>
            <a:schemeClr val="bg2"/>
          </a:solidFill>
          <a:ln/>
        </p:spPr>
        <p:txBody>
          <a:bodyPr/>
          <a:lstStyle/>
          <a:p>
            <a:endParaRPr lang="it-IT" noProof="0" dirty="0"/>
          </a:p>
        </p:txBody>
      </p:sp>
      <p:sp>
        <p:nvSpPr>
          <p:cNvPr id="29" name="cerchio FiBox"/>
          <p:cNvSpPr/>
          <p:nvPr/>
        </p:nvSpPr>
        <p:spPr>
          <a:xfrm>
            <a:off x="621792" y="3538728"/>
            <a:ext cx="457200" cy="457200"/>
          </a:xfrm>
          <a:prstGeom prst="ellipse">
            <a:avLst/>
          </a:prstGeom>
          <a:solidFill>
            <a:schemeClr val="accent5"/>
          </a:solidFill>
          <a:ln/>
        </p:spPr>
        <p:txBody>
          <a:bodyPr/>
          <a:lstStyle/>
          <a:p>
            <a:endParaRPr lang="it-IT" noProof="0" dirty="0"/>
          </a:p>
        </p:txBody>
      </p:sp>
      <p:pic>
        <p:nvPicPr>
          <p:cNvPr id="30" name="Image 4" descr="FiBox"/>
          <p:cNvPicPr>
            <a:picLocks noChangeAspect="1"/>
          </p:cNvPicPr>
          <p:nvPr/>
        </p:nvPicPr>
        <p:blipFill>
          <a:blip r:embed="rId7"/>
          <a:stretch>
            <a:fillRect/>
          </a:stretch>
        </p:blipFill>
        <p:spPr>
          <a:xfrm>
            <a:off x="736092" y="3653028"/>
            <a:ext cx="228600" cy="228600"/>
          </a:xfrm>
          <a:prstGeom prst="rect">
            <a:avLst/>
          </a:prstGeom>
        </p:spPr>
      </p:pic>
      <p:sp>
        <p:nvSpPr>
          <p:cNvPr id="31" name="Text 23"/>
          <p:cNvSpPr txBox="1"/>
          <p:nvPr/>
        </p:nvSpPr>
        <p:spPr>
          <a:xfrm>
            <a:off x="1188720" y="3465576"/>
            <a:ext cx="2743200" cy="502920"/>
          </a:xfrm>
          <a:prstGeom prst="rect">
            <a:avLst/>
          </a:prstGeom>
          <a:noFill/>
          <a:ln/>
        </p:spPr>
        <p:txBody>
          <a:bodyPr wrap="square" lIns="0" tIns="0" rIns="0" bIns="0" rtlCol="0" anchor="ctr"/>
          <a:lstStyle/>
          <a:p>
            <a:pPr marL="0" indent="0">
              <a:buNone/>
            </a:pPr>
            <a:r>
              <a:rPr lang="it-IT" sz="1300" b="1" noProof="0" dirty="0">
                <a:solidFill>
                  <a:schemeClr val="tx1"/>
                </a:solidFill>
              </a:rPr>
              <a:t>"Il modello è il prodotto"</a:t>
            </a:r>
            <a:endParaRPr lang="it-IT" sz="1300" noProof="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marL="0" indent="0">
              <a:buNone/>
            </a:pPr>
            <a:r>
              <a:rPr lang="it-IT" sz="1200" noProof="0" dirty="0">
                <a:solidFill>
                  <a:schemeClr val="tx2"/>
                </a:solidFill>
              </a:rPr>
              <a:t>Ricerca, file e memoria sono dell'applicazione</a:t>
            </a:r>
            <a:endParaRPr lang="it-IT" sz="1200" noProof="0" dirty="0"/>
          </a:p>
        </p:txBody>
      </p:sp>
      <p:sp>
        <p:nvSpPr>
          <p:cNvPr id="33" name="Text 25"/>
          <p:cNvSpPr txBox="1"/>
          <p:nvPr/>
        </p:nvSpPr>
        <p:spPr>
          <a:xfrm>
            <a:off x="3886200" y="3465576"/>
            <a:ext cx="457200" cy="365760"/>
          </a:xfrm>
          <a:prstGeom prst="rect">
            <a:avLst/>
          </a:prstGeom>
          <a:noFill/>
          <a:ln/>
        </p:spPr>
        <p:txBody>
          <a:bodyPr wrap="square" lIns="0" tIns="0" rIns="0" bIns="0" rtlCol="0" anchor="t"/>
          <a:lstStyle/>
          <a:p>
            <a:pPr marL="0" indent="0" algn="r">
              <a:buNone/>
            </a:pPr>
            <a:r>
              <a:rPr lang="it-IT" sz="1100" b="1" noProof="0" dirty="0">
                <a:solidFill>
                  <a:schemeClr val="accent1"/>
                </a:solidFill>
              </a:rPr>
              <a:t>2.5</a:t>
            </a:r>
            <a:endParaRPr lang="it-IT" sz="1100" noProof="0" dirty="0"/>
          </a:p>
        </p:txBody>
      </p:sp>
      <p:sp>
        <p:nvSpPr>
          <p:cNvPr id="34" name="evitare 6"/>
          <p:cNvSpPr/>
          <p:nvPr/>
        </p:nvSpPr>
        <p:spPr>
          <a:xfrm>
            <a:off x="4663440" y="3374136"/>
            <a:ext cx="4023360" cy="1024128"/>
          </a:xfrm>
          <a:prstGeom prst="roundRect">
            <a:avLst>
              <a:gd name="adj" fmla="val 7143"/>
            </a:avLst>
          </a:prstGeom>
          <a:solidFill>
            <a:schemeClr val="bg2"/>
          </a:solidFill>
          <a:ln/>
        </p:spPr>
        <p:txBody>
          <a:bodyPr/>
          <a:lstStyle/>
          <a:p>
            <a:endParaRPr lang="it-IT" noProof="0" dirty="0"/>
          </a:p>
        </p:txBody>
      </p:sp>
      <p:sp>
        <p:nvSpPr>
          <p:cNvPr id="35" name="cerchio FiRepeat"/>
          <p:cNvSpPr/>
          <p:nvPr/>
        </p:nvSpPr>
        <p:spPr>
          <a:xfrm>
            <a:off x="4828032" y="3538728"/>
            <a:ext cx="457200" cy="457200"/>
          </a:xfrm>
          <a:prstGeom prst="ellipse">
            <a:avLst/>
          </a:prstGeom>
          <a:solidFill>
            <a:schemeClr val="accent5"/>
          </a:solidFill>
          <a:ln/>
        </p:spPr>
        <p:txBody>
          <a:bodyPr/>
          <a:lstStyle/>
          <a:p>
            <a:endParaRPr lang="it-IT" noProof="0" dirty="0"/>
          </a:p>
        </p:txBody>
      </p:sp>
      <p:pic>
        <p:nvPicPr>
          <p:cNvPr id="36" name="Image 5" descr="FiRepeat"/>
          <p:cNvPicPr>
            <a:picLocks noChangeAspect="1"/>
          </p:cNvPicPr>
          <p:nvPr/>
        </p:nvPicPr>
        <p:blipFill>
          <a:blip r:embed="rId8"/>
          <a:stretch>
            <a:fillRect/>
          </a:stretch>
        </p:blipFill>
        <p:spPr>
          <a:xfrm>
            <a:off x="4942332" y="3653028"/>
            <a:ext cx="228600" cy="228600"/>
          </a:xfrm>
          <a:prstGeom prst="rect">
            <a:avLst/>
          </a:prstGeom>
        </p:spPr>
      </p:pic>
      <p:sp>
        <p:nvSpPr>
          <p:cNvPr id="37" name="Text 28"/>
          <p:cNvSpPr txBox="1"/>
          <p:nvPr/>
        </p:nvSpPr>
        <p:spPr>
          <a:xfrm>
            <a:off x="5394960" y="3465576"/>
            <a:ext cx="2743200" cy="502920"/>
          </a:xfrm>
          <a:prstGeom prst="rect">
            <a:avLst/>
          </a:prstGeom>
          <a:noFill/>
          <a:ln/>
        </p:spPr>
        <p:txBody>
          <a:bodyPr wrap="square" lIns="0" tIns="0" rIns="0" bIns="0" rtlCol="0" anchor="ctr"/>
          <a:lstStyle/>
          <a:p>
            <a:pPr marL="0" indent="0">
              <a:buNone/>
            </a:pPr>
            <a:r>
              <a:rPr lang="it-IT" sz="1300" b="1" noProof="0" dirty="0">
                <a:solidFill>
                  <a:schemeClr val="tx1"/>
                </a:solidFill>
              </a:rPr>
              <a:t>"Sempre la stessa risposta, quindi corretta"</a:t>
            </a:r>
            <a:endParaRPr lang="it-IT" sz="1300" noProof="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marL="0" indent="0">
              <a:buNone/>
            </a:pPr>
            <a:r>
              <a:rPr lang="it-IT" sz="1200" noProof="0" dirty="0">
                <a:solidFill>
                  <a:schemeClr val="tx2"/>
                </a:solidFill>
              </a:rPr>
              <a:t>La stabilità non è una garanzia</a:t>
            </a:r>
            <a:endParaRPr lang="it-IT" sz="1200" noProof="0" dirty="0"/>
          </a:p>
        </p:txBody>
      </p:sp>
      <p:sp>
        <p:nvSpPr>
          <p:cNvPr id="39" name="Text 30"/>
          <p:cNvSpPr txBox="1"/>
          <p:nvPr/>
        </p:nvSpPr>
        <p:spPr>
          <a:xfrm>
            <a:off x="8092440" y="3465576"/>
            <a:ext cx="457200" cy="365760"/>
          </a:xfrm>
          <a:prstGeom prst="rect">
            <a:avLst/>
          </a:prstGeom>
          <a:noFill/>
          <a:ln/>
        </p:spPr>
        <p:txBody>
          <a:bodyPr wrap="square" lIns="0" tIns="0" rIns="0" bIns="0" rtlCol="0" anchor="t"/>
          <a:lstStyle/>
          <a:p>
            <a:pPr marL="0" indent="0" algn="r">
              <a:buNone/>
            </a:pPr>
            <a:r>
              <a:rPr lang="it-IT" sz="1100" b="1" noProof="0" dirty="0">
                <a:solidFill>
                  <a:schemeClr val="accent1"/>
                </a:solidFill>
              </a:rPr>
              <a:t>2.7</a:t>
            </a:r>
            <a:endParaRPr lang="it-IT" sz="11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70</a:t>
            </a:fld>
            <a:endParaRPr lang="it-IT" noProof="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Prossimo passo: il Tema 3</a:t>
            </a:r>
            <a:endParaRPr lang="it-IT" sz="2600" noProof="0" dirty="0"/>
          </a:p>
        </p:txBody>
      </p:sp>
      <p:sp>
        <p:nvSpPr>
          <p:cNvPr id="4" name="tema 2"/>
          <p:cNvSpPr/>
          <p:nvPr/>
        </p:nvSpPr>
        <p:spPr>
          <a:xfrm>
            <a:off x="457200" y="1097280"/>
            <a:ext cx="3291840" cy="3429000"/>
          </a:xfrm>
          <a:prstGeom prst="roundRect">
            <a:avLst>
              <a:gd name="adj" fmla="val 2222"/>
            </a:avLst>
          </a:prstGeom>
          <a:solidFill>
            <a:schemeClr val="bg2"/>
          </a:solidFill>
          <a:ln/>
        </p:spPr>
        <p:txBody>
          <a:bodyPr/>
          <a:lstStyle/>
          <a:p>
            <a:endParaRPr lang="it-IT" noProof="0" dirty="0"/>
          </a:p>
        </p:txBody>
      </p:sp>
      <p:sp>
        <p:nvSpPr>
          <p:cNvPr id="5" name="Text 2"/>
          <p:cNvSpPr txBox="1"/>
          <p:nvPr/>
        </p:nvSpPr>
        <p:spPr>
          <a:xfrm>
            <a:off x="685800" y="1280160"/>
            <a:ext cx="2834640" cy="320040"/>
          </a:xfrm>
          <a:prstGeom prst="rect">
            <a:avLst/>
          </a:prstGeom>
          <a:noFill/>
          <a:ln/>
        </p:spPr>
        <p:txBody>
          <a:bodyPr wrap="square" lIns="0" tIns="0" rIns="0" bIns="0" rtlCol="0" anchor="t"/>
          <a:lstStyle/>
          <a:p>
            <a:pPr marL="0" indent="0">
              <a:buNone/>
            </a:pPr>
            <a:r>
              <a:rPr lang="it-IT" sz="1300" b="1" kern="0" spc="200" noProof="0" dirty="0">
                <a:solidFill>
                  <a:schemeClr val="accent2"/>
                </a:solidFill>
              </a:rPr>
              <a:t>TEMA 2</a:t>
            </a:r>
            <a:endParaRPr lang="it-IT" sz="1300" noProof="0" dirty="0"/>
          </a:p>
        </p:txBody>
      </p:sp>
      <p:sp>
        <p:nvSpPr>
          <p:cNvPr id="6" name="Text 3"/>
          <p:cNvSpPr txBox="1"/>
          <p:nvPr/>
        </p:nvSpPr>
        <p:spPr>
          <a:xfrm>
            <a:off x="685800" y="1645920"/>
            <a:ext cx="2834640" cy="457200"/>
          </a:xfrm>
          <a:prstGeom prst="rect">
            <a:avLst/>
          </a:prstGeom>
          <a:noFill/>
          <a:ln/>
        </p:spPr>
        <p:txBody>
          <a:bodyPr wrap="square" lIns="0" tIns="0" rIns="0" bIns="0" rtlCol="0" anchor="t"/>
          <a:lstStyle/>
          <a:p>
            <a:pPr marL="0" indent="0">
              <a:buNone/>
            </a:pPr>
            <a:r>
              <a:rPr lang="it-IT" sz="1800" b="1" noProof="0" dirty="0">
                <a:solidFill>
                  <a:schemeClr val="tx1"/>
                </a:solidFill>
              </a:rPr>
              <a:t>Fondamenti e funzionamento</a:t>
            </a:r>
            <a:endParaRPr lang="it-IT" sz="1800" noProof="0" dirty="0"/>
          </a:p>
        </p:txBody>
      </p:sp>
      <p:sp>
        <p:nvSpPr>
          <p:cNvPr id="7" name="Text 4"/>
          <p:cNvSpPr txBox="1"/>
          <p:nvPr/>
        </p:nvSpPr>
        <p:spPr>
          <a:xfrm>
            <a:off x="685800" y="2240280"/>
            <a:ext cx="2834640" cy="2011680"/>
          </a:xfrm>
          <a:prstGeom prst="rect">
            <a:avLst/>
          </a:prstGeom>
          <a:noFill/>
          <a:ln/>
        </p:spPr>
        <p:txBody>
          <a:bodyPr wrap="square" lIns="0" tIns="0" rIns="0" bIns="0" rtlCol="0" anchor="t"/>
          <a:lstStyle/>
          <a:p>
            <a:pPr marL="177800" indent="-177800">
              <a:spcAft>
                <a:spcPts val="400"/>
              </a:spcAft>
              <a:buSzPct val="100000"/>
              <a:buChar char="•"/>
            </a:pPr>
            <a:r>
              <a:rPr lang="it-IT" sz="1400" noProof="0" dirty="0">
                <a:solidFill>
                  <a:schemeClr val="tx2"/>
                </a:solidFill>
              </a:rPr>
              <a:t>Come apprende l'AI</a:t>
            </a:r>
            <a:endParaRPr lang="it-IT" sz="1400" noProof="0" dirty="0"/>
          </a:p>
          <a:p>
            <a:pPr marL="177800" indent="-177800">
              <a:spcAft>
                <a:spcPts val="400"/>
              </a:spcAft>
              <a:buSzPct val="100000"/>
              <a:buChar char="•"/>
            </a:pPr>
            <a:r>
              <a:rPr lang="it-IT" sz="1400" noProof="0" dirty="0">
                <a:solidFill>
                  <a:schemeClr val="tx2"/>
                </a:solidFill>
              </a:rPr>
              <a:t>Come genera le risposte</a:t>
            </a:r>
            <a:endParaRPr lang="it-IT" sz="1400" noProof="0" dirty="0"/>
          </a:p>
          <a:p>
            <a:pPr marL="177800" indent="-177800">
              <a:spcAft>
                <a:spcPts val="400"/>
              </a:spcAft>
              <a:buSzPct val="100000"/>
              <a:buChar char="•"/>
            </a:pPr>
            <a:r>
              <a:rPr lang="it-IT" sz="1400" noProof="0" dirty="0">
                <a:solidFill>
                  <a:schemeClr val="tx2"/>
                </a:solidFill>
              </a:rPr>
              <a:t>Da dove arrivano le informazioni</a:t>
            </a:r>
            <a:endParaRPr lang="it-IT" sz="1400" noProof="0" dirty="0"/>
          </a:p>
          <a:p>
            <a:pPr marL="177800" indent="-177800">
              <a:spcAft>
                <a:spcPts val="400"/>
              </a:spcAft>
              <a:buSzPct val="100000"/>
              <a:buChar char="•"/>
            </a:pPr>
            <a:r>
              <a:rPr lang="it-IT" sz="1400" noProof="0" dirty="0">
                <a:solidFill>
                  <a:schemeClr val="tx2"/>
                </a:solidFill>
              </a:rPr>
              <a:t>Perché le risposte variano</a:t>
            </a:r>
            <a:endParaRPr lang="it-IT" sz="1400" noProof="0" dirty="0"/>
          </a:p>
        </p:txBody>
      </p:sp>
      <p:sp>
        <p:nvSpPr>
          <p:cNvPr id="8" name="freccia"/>
          <p:cNvSpPr/>
          <p:nvPr/>
        </p:nvSpPr>
        <p:spPr>
          <a:xfrm>
            <a:off x="3886200" y="2651760"/>
            <a:ext cx="502920" cy="292608"/>
          </a:xfrm>
          <a:prstGeom prst="rightArrow">
            <a:avLst/>
          </a:prstGeom>
          <a:solidFill>
            <a:schemeClr val="accent1"/>
          </a:solidFill>
          <a:ln/>
        </p:spPr>
        <p:txBody>
          <a:bodyPr/>
          <a:lstStyle/>
          <a:p>
            <a:endParaRPr lang="it-IT" noProof="0" dirty="0"/>
          </a:p>
        </p:txBody>
      </p:sp>
      <p:sp>
        <p:nvSpPr>
          <p:cNvPr id="9" name="tema 3"/>
          <p:cNvSpPr/>
          <p:nvPr/>
        </p:nvSpPr>
        <p:spPr>
          <a:xfrm>
            <a:off x="4526280" y="1097280"/>
            <a:ext cx="4160520" cy="3429000"/>
          </a:xfrm>
          <a:prstGeom prst="roundRect">
            <a:avLst>
              <a:gd name="adj" fmla="val 2133"/>
            </a:avLst>
          </a:prstGeom>
          <a:solidFill>
            <a:schemeClr val="tx1"/>
          </a:solidFill>
          <a:ln/>
        </p:spPr>
        <p:txBody>
          <a:bodyPr/>
          <a:lstStyle/>
          <a:p>
            <a:endParaRPr lang="it-IT" noProof="0" dirty="0"/>
          </a:p>
        </p:txBody>
      </p:sp>
      <p:sp>
        <p:nvSpPr>
          <p:cNvPr id="10" name="Text 7"/>
          <p:cNvSpPr txBox="1"/>
          <p:nvPr/>
        </p:nvSpPr>
        <p:spPr>
          <a:xfrm>
            <a:off x="4754880" y="1280160"/>
            <a:ext cx="3657600" cy="320040"/>
          </a:xfrm>
          <a:prstGeom prst="rect">
            <a:avLst/>
          </a:prstGeom>
          <a:noFill/>
          <a:ln/>
        </p:spPr>
        <p:txBody>
          <a:bodyPr wrap="square" lIns="0" tIns="0" rIns="0" bIns="0" rtlCol="0" anchor="t"/>
          <a:lstStyle/>
          <a:p>
            <a:pPr marL="0" indent="0">
              <a:buNone/>
            </a:pPr>
            <a:r>
              <a:rPr lang="it-IT" sz="1300" b="1" kern="0" spc="200" noProof="0" dirty="0">
                <a:solidFill>
                  <a:schemeClr val="accent1"/>
                </a:solidFill>
              </a:rPr>
              <a:t>TEMA 3</a:t>
            </a:r>
            <a:endParaRPr lang="it-IT" sz="1300" noProof="0" dirty="0"/>
          </a:p>
        </p:txBody>
      </p:sp>
      <p:sp>
        <p:nvSpPr>
          <p:cNvPr id="11" name="Text 8"/>
          <p:cNvSpPr txBox="1"/>
          <p:nvPr/>
        </p:nvSpPr>
        <p:spPr>
          <a:xfrm>
            <a:off x="4754880" y="1645920"/>
            <a:ext cx="3749040" cy="457200"/>
          </a:xfrm>
          <a:prstGeom prst="rect">
            <a:avLst/>
          </a:prstGeom>
          <a:noFill/>
          <a:ln/>
        </p:spPr>
        <p:txBody>
          <a:bodyPr wrap="square" lIns="0" tIns="0" rIns="0" bIns="0" rtlCol="0" anchor="t"/>
          <a:lstStyle/>
          <a:p>
            <a:pPr marL="0" indent="0">
              <a:buNone/>
            </a:pPr>
            <a:r>
              <a:rPr lang="it-IT" sz="1800" b="1" noProof="0" dirty="0">
                <a:solidFill>
                  <a:schemeClr val="bg1"/>
                </a:solidFill>
              </a:rPr>
              <a:t>Capacità, limiti e affidabilità</a:t>
            </a:r>
            <a:endParaRPr lang="it-IT" sz="1800" noProof="0" dirty="0"/>
          </a:p>
        </p:txBody>
      </p:sp>
      <p:sp>
        <p:nvSpPr>
          <p:cNvPr id="12" name="Text 9"/>
          <p:cNvSpPr txBox="1"/>
          <p:nvPr/>
        </p:nvSpPr>
        <p:spPr>
          <a:xfrm>
            <a:off x="4754880" y="2240280"/>
            <a:ext cx="3749040" cy="2103120"/>
          </a:xfrm>
          <a:prstGeom prst="rect">
            <a:avLst/>
          </a:prstGeom>
          <a:noFill/>
          <a:ln/>
        </p:spPr>
        <p:txBody>
          <a:bodyPr wrap="square" lIns="0" tIns="0" rIns="0" bIns="0" rtlCol="0" anchor="t"/>
          <a:lstStyle/>
          <a:p>
            <a:pPr marL="177800" indent="-177800">
              <a:spcAft>
                <a:spcPts val="300"/>
              </a:spcAft>
              <a:buSzPct val="100000"/>
              <a:buChar char="•"/>
            </a:pPr>
            <a:r>
              <a:rPr lang="it-IT" sz="1400" noProof="0" dirty="0">
                <a:solidFill>
                  <a:schemeClr val="accent3"/>
                </a:solidFill>
              </a:rPr>
              <a:t>Perché l'AI può sbagliare</a:t>
            </a:r>
            <a:endParaRPr lang="it-IT" sz="1400" noProof="0" dirty="0"/>
          </a:p>
          <a:p>
            <a:pPr marL="177800" indent="-177800">
              <a:spcAft>
                <a:spcPts val="300"/>
              </a:spcAft>
              <a:buSzPct val="100000"/>
              <a:buChar char="•"/>
            </a:pPr>
            <a:r>
              <a:rPr lang="it-IT" sz="1400" noProof="0" dirty="0">
                <a:solidFill>
                  <a:schemeClr val="accent3"/>
                </a:solidFill>
              </a:rPr>
              <a:t>Allucinazioni</a:t>
            </a:r>
            <a:endParaRPr lang="it-IT" sz="1400" noProof="0" dirty="0"/>
          </a:p>
          <a:p>
            <a:pPr marL="177800" indent="-177800">
              <a:spcAft>
                <a:spcPts val="300"/>
              </a:spcAft>
              <a:buSzPct val="100000"/>
              <a:buChar char="•"/>
            </a:pPr>
            <a:r>
              <a:rPr lang="it-IT" sz="1400" noProof="0" dirty="0">
                <a:solidFill>
                  <a:schemeClr val="accent3"/>
                </a:solidFill>
              </a:rPr>
              <a:t>Bias</a:t>
            </a:r>
            <a:endParaRPr lang="it-IT" sz="1400" noProof="0" dirty="0"/>
          </a:p>
          <a:p>
            <a:pPr marL="177800" indent="-177800">
              <a:spcAft>
                <a:spcPts val="300"/>
              </a:spcAft>
              <a:buSzPct val="100000"/>
              <a:buChar char="•"/>
            </a:pPr>
            <a:r>
              <a:rPr lang="it-IT" sz="1400" noProof="0" dirty="0">
                <a:solidFill>
                  <a:schemeClr val="accent3"/>
                </a:solidFill>
              </a:rPr>
              <a:t>Accuratezza e affidabilità</a:t>
            </a:r>
            <a:endParaRPr lang="it-IT" sz="1400" noProof="0" dirty="0"/>
          </a:p>
          <a:p>
            <a:pPr marL="177800" indent="-177800">
              <a:spcAft>
                <a:spcPts val="300"/>
              </a:spcAft>
              <a:buSzPct val="100000"/>
              <a:buChar char="•"/>
            </a:pPr>
            <a:r>
              <a:rPr lang="it-IT" sz="1400" noProof="0" dirty="0">
                <a:solidFill>
                  <a:schemeClr val="accent3"/>
                </a:solidFill>
              </a:rPr>
              <a:t>Come verificare i risultati</a:t>
            </a:r>
            <a:endParaRPr lang="it-IT" sz="14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71</a:t>
            </a:fld>
            <a:endParaRPr lang="it-IT" noProof="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Fonti e riferimenti</a:t>
            </a:r>
            <a:endParaRPr lang="it-IT" sz="2600" noProof="0" dirty="0"/>
          </a:p>
        </p:txBody>
      </p:sp>
      <p:sp>
        <p:nvSpPr>
          <p:cNvPr id="4" name="cerchio FiBookmark"/>
          <p:cNvSpPr/>
          <p:nvPr/>
        </p:nvSpPr>
        <p:spPr>
          <a:xfrm>
            <a:off x="457200" y="1143000"/>
            <a:ext cx="502920" cy="502920"/>
          </a:xfrm>
          <a:prstGeom prst="ellipse">
            <a:avLst/>
          </a:prstGeom>
          <a:solidFill>
            <a:schemeClr val="accent1"/>
          </a:solidFill>
          <a:ln/>
        </p:spPr>
        <p:txBody>
          <a:bodyPr/>
          <a:lstStyle/>
          <a:p>
            <a:endParaRPr lang="it-IT" noProof="0" dirty="0"/>
          </a:p>
        </p:txBody>
      </p:sp>
      <p:pic>
        <p:nvPicPr>
          <p:cNvPr id="5" name="Image 0" descr="FiBookmark"/>
          <p:cNvPicPr>
            <a:picLocks noChangeAspect="1"/>
          </p:cNvPicPr>
          <p:nvPr/>
        </p:nvPicPr>
        <p:blipFill>
          <a:blip r:embed="rId3"/>
          <a:stretch>
            <a:fillRect/>
          </a:stretch>
        </p:blipFill>
        <p:spPr>
          <a:xfrm>
            <a:off x="582930" y="1268730"/>
            <a:ext cx="251460" cy="251460"/>
          </a:xfrm>
          <a:prstGeom prst="rect">
            <a:avLst/>
          </a:prstGeom>
        </p:spPr>
      </p:pic>
      <p:sp>
        <p:nvSpPr>
          <p:cNvPr id="6" name="Text 2"/>
          <p:cNvSpPr txBox="1"/>
          <p:nvPr/>
        </p:nvSpPr>
        <p:spPr>
          <a:xfrm>
            <a:off x="1188720" y="1097280"/>
            <a:ext cx="7498080" cy="3154680"/>
          </a:xfrm>
          <a:prstGeom prst="rect">
            <a:avLst/>
          </a:prstGeom>
          <a:noFill/>
          <a:ln/>
        </p:spPr>
        <p:txBody>
          <a:bodyPr wrap="square" lIns="0" tIns="0" rIns="0" bIns="0" rtlCol="0" anchor="t"/>
          <a:lstStyle/>
          <a:p>
            <a:pPr marL="177800" indent="-177800">
              <a:spcAft>
                <a:spcPts val="500"/>
              </a:spcAft>
              <a:buSzPct val="100000"/>
              <a:buChar char="•"/>
            </a:pPr>
            <a:r>
              <a:rPr lang="it-IT" sz="1300" noProof="0" dirty="0">
                <a:solidFill>
                  <a:schemeClr val="tx1"/>
                </a:solidFill>
              </a:rPr>
              <a:t>Regolamento (UE) 2024/1689 sull'intelligenza artificiale (AI Act), art. 3; articolo non modificato dal Regolamento (UE) 2026/1744.</a:t>
            </a:r>
            <a:endParaRPr lang="it-IT" sz="1300" noProof="0" dirty="0"/>
          </a:p>
          <a:p>
            <a:pPr marL="177800" indent="-177800">
              <a:spcAft>
                <a:spcPts val="500"/>
              </a:spcAft>
              <a:buSzPct val="100000"/>
              <a:buChar char="•"/>
            </a:pPr>
            <a:r>
              <a:rPr lang="it-IT" sz="1300" noProof="0" dirty="0">
                <a:solidFill>
                  <a:schemeClr val="tx1"/>
                </a:solidFill>
              </a:rPr>
              <a:t>OCSE (2023). Definizione aggiornata di sistema di intelligenza artificiale; memorandum esplicativo (2024).</a:t>
            </a:r>
            <a:endParaRPr lang="it-IT" sz="1300" noProof="0" dirty="0"/>
          </a:p>
          <a:p>
            <a:pPr marL="177800" indent="-177800">
              <a:spcAft>
                <a:spcPts val="500"/>
              </a:spcAft>
              <a:buSzPct val="100000"/>
              <a:buChar char="•"/>
            </a:pPr>
            <a:r>
              <a:rPr lang="it-IT" sz="1300" noProof="0" dirty="0" err="1">
                <a:solidFill>
                  <a:schemeClr val="tx1"/>
                </a:solidFill>
              </a:rPr>
              <a:t>Weizenbaum</a:t>
            </a:r>
            <a:r>
              <a:rPr lang="it-IT" sz="1300" noProof="0" dirty="0">
                <a:solidFill>
                  <a:schemeClr val="tx1"/>
                </a:solidFill>
              </a:rPr>
              <a:t>, </a:t>
            </a:r>
            <a:r>
              <a:rPr lang="it-IT" sz="1300" noProof="0" dirty="0" err="1">
                <a:solidFill>
                  <a:schemeClr val="tx1"/>
                </a:solidFill>
              </a:rPr>
              <a:t>J</a:t>
            </a:r>
            <a:r>
              <a:rPr lang="it-IT" sz="1300" noProof="0" dirty="0">
                <a:solidFill>
                  <a:schemeClr val="tx1"/>
                </a:solidFill>
              </a:rPr>
              <a:t>. (1966). ELIZA: A Computer Program for the Study of Natural Language </a:t>
            </a:r>
            <a:r>
              <a:rPr lang="it-IT" sz="1300" noProof="0" dirty="0" err="1">
                <a:solidFill>
                  <a:schemeClr val="tx1"/>
                </a:solidFill>
              </a:rPr>
              <a:t>Communication</a:t>
            </a:r>
            <a:r>
              <a:rPr lang="it-IT" sz="1300" noProof="0" dirty="0">
                <a:solidFill>
                  <a:schemeClr val="tx1"/>
                </a:solidFill>
              </a:rPr>
              <a:t> </a:t>
            </a:r>
            <a:r>
              <a:rPr lang="it-IT" sz="1300" noProof="0" dirty="0" err="1">
                <a:solidFill>
                  <a:schemeClr val="tx1"/>
                </a:solidFill>
              </a:rPr>
              <a:t>between</a:t>
            </a:r>
            <a:r>
              <a:rPr lang="it-IT" sz="1300" noProof="0" dirty="0">
                <a:solidFill>
                  <a:schemeClr val="tx1"/>
                </a:solidFill>
              </a:rPr>
              <a:t> Man and Machine. Communications of the ACM, 9(1), 36-45.</a:t>
            </a:r>
            <a:endParaRPr lang="it-IT" sz="1300" noProof="0" dirty="0"/>
          </a:p>
          <a:p>
            <a:pPr marL="177800" indent="-177800">
              <a:spcAft>
                <a:spcPts val="500"/>
              </a:spcAft>
              <a:buSzPct val="100000"/>
              <a:buChar char="•"/>
            </a:pPr>
            <a:r>
              <a:rPr lang="it-IT" sz="1300" noProof="0" dirty="0">
                <a:solidFill>
                  <a:schemeClr val="tx1"/>
                </a:solidFill>
              </a:rPr>
              <a:t>Vaswani, A. et al. (2017). </a:t>
            </a:r>
            <a:r>
              <a:rPr lang="it-IT" sz="1300" noProof="0" dirty="0" err="1">
                <a:solidFill>
                  <a:schemeClr val="tx1"/>
                </a:solidFill>
              </a:rPr>
              <a:t>Attention</a:t>
            </a:r>
            <a:r>
              <a:rPr lang="it-IT" sz="1300" noProof="0" dirty="0">
                <a:solidFill>
                  <a:schemeClr val="tx1"/>
                </a:solidFill>
              </a:rPr>
              <a:t> </a:t>
            </a:r>
            <a:r>
              <a:rPr lang="it-IT" sz="1300" noProof="0" dirty="0" err="1">
                <a:solidFill>
                  <a:schemeClr val="tx1"/>
                </a:solidFill>
              </a:rPr>
              <a:t>Is</a:t>
            </a:r>
            <a:r>
              <a:rPr lang="it-IT" sz="1300" noProof="0" dirty="0">
                <a:solidFill>
                  <a:schemeClr val="tx1"/>
                </a:solidFill>
              </a:rPr>
              <a:t> All You Need. </a:t>
            </a:r>
            <a:r>
              <a:rPr lang="it-IT" sz="1300" noProof="0" dirty="0" err="1">
                <a:solidFill>
                  <a:schemeClr val="tx1"/>
                </a:solidFill>
              </a:rPr>
              <a:t>NeurIPS</a:t>
            </a:r>
            <a:r>
              <a:rPr lang="it-IT" sz="1300" noProof="0" dirty="0">
                <a:solidFill>
                  <a:schemeClr val="tx1"/>
                </a:solidFill>
              </a:rPr>
              <a:t>.</a:t>
            </a:r>
            <a:endParaRPr lang="it-IT" sz="1300" noProof="0" dirty="0"/>
          </a:p>
          <a:p>
            <a:pPr marL="177800" indent="-177800">
              <a:spcAft>
                <a:spcPts val="500"/>
              </a:spcAft>
              <a:buSzPct val="100000"/>
              <a:buChar char="•"/>
            </a:pPr>
            <a:r>
              <a:rPr lang="it-IT" sz="1300" noProof="0" dirty="0">
                <a:solidFill>
                  <a:schemeClr val="tx1"/>
                </a:solidFill>
              </a:rPr>
              <a:t>Brown, T. et al. (2020). Language Models are Few-Shot </a:t>
            </a:r>
            <a:r>
              <a:rPr lang="it-IT" sz="1300" noProof="0" dirty="0" err="1">
                <a:solidFill>
                  <a:schemeClr val="tx1"/>
                </a:solidFill>
              </a:rPr>
              <a:t>Learners</a:t>
            </a:r>
            <a:r>
              <a:rPr lang="it-IT" sz="1300" noProof="0" dirty="0">
                <a:solidFill>
                  <a:schemeClr val="tx1"/>
                </a:solidFill>
              </a:rPr>
              <a:t>. </a:t>
            </a:r>
            <a:r>
              <a:rPr lang="it-IT" sz="1300" noProof="0" dirty="0" err="1">
                <a:solidFill>
                  <a:schemeClr val="tx1"/>
                </a:solidFill>
              </a:rPr>
              <a:t>NeurIPS</a:t>
            </a:r>
            <a:r>
              <a:rPr lang="it-IT" sz="1300" noProof="0" dirty="0">
                <a:solidFill>
                  <a:schemeClr val="tx1"/>
                </a:solidFill>
              </a:rPr>
              <a:t>.</a:t>
            </a:r>
            <a:endParaRPr lang="it-IT" sz="1300" noProof="0" dirty="0"/>
          </a:p>
          <a:p>
            <a:pPr marL="177800" indent="-177800">
              <a:spcAft>
                <a:spcPts val="500"/>
              </a:spcAft>
              <a:buSzPct val="100000"/>
              <a:buChar char="•"/>
            </a:pPr>
            <a:r>
              <a:rPr lang="it-IT" sz="1300" noProof="0" dirty="0">
                <a:solidFill>
                  <a:schemeClr val="tx1"/>
                </a:solidFill>
              </a:rPr>
              <a:t>Ouyang, L. et al. (2022). Training </a:t>
            </a:r>
            <a:r>
              <a:rPr lang="it-IT" sz="1300" noProof="0" dirty="0" err="1">
                <a:solidFill>
                  <a:schemeClr val="tx1"/>
                </a:solidFill>
              </a:rPr>
              <a:t>language</a:t>
            </a:r>
            <a:r>
              <a:rPr lang="it-IT" sz="1300" noProof="0" dirty="0">
                <a:solidFill>
                  <a:schemeClr val="tx1"/>
                </a:solidFill>
              </a:rPr>
              <a:t> models to follow </a:t>
            </a:r>
            <a:r>
              <a:rPr lang="it-IT" sz="1300" noProof="0" dirty="0" err="1">
                <a:solidFill>
                  <a:schemeClr val="tx1"/>
                </a:solidFill>
              </a:rPr>
              <a:t>instructions</a:t>
            </a:r>
            <a:r>
              <a:rPr lang="it-IT" sz="1300" noProof="0" dirty="0">
                <a:solidFill>
                  <a:schemeClr val="tx1"/>
                </a:solidFill>
              </a:rPr>
              <a:t> with human feedback. </a:t>
            </a:r>
            <a:r>
              <a:rPr lang="it-IT" sz="1300" noProof="0" dirty="0" err="1">
                <a:solidFill>
                  <a:schemeClr val="tx1"/>
                </a:solidFill>
              </a:rPr>
              <a:t>NeurIPS</a:t>
            </a:r>
            <a:r>
              <a:rPr lang="it-IT" sz="1300" noProof="0" dirty="0">
                <a:solidFill>
                  <a:schemeClr val="tx1"/>
                </a:solidFill>
              </a:rPr>
              <a:t>.</a:t>
            </a:r>
            <a:endParaRPr lang="it-IT" sz="1300" noProof="0" dirty="0"/>
          </a:p>
          <a:p>
            <a:pPr marL="177800" indent="-177800">
              <a:spcAft>
                <a:spcPts val="500"/>
              </a:spcAft>
              <a:buSzPct val="100000"/>
              <a:buChar char="•"/>
            </a:pPr>
            <a:r>
              <a:rPr lang="it-IT" sz="1300" noProof="0" dirty="0">
                <a:solidFill>
                  <a:schemeClr val="tx1"/>
                </a:solidFill>
              </a:rPr>
              <a:t>Lewis, P. et al. (2020). </a:t>
            </a:r>
            <a:r>
              <a:rPr lang="it-IT" sz="1300" noProof="0" dirty="0" err="1">
                <a:solidFill>
                  <a:schemeClr val="tx1"/>
                </a:solidFill>
              </a:rPr>
              <a:t>Retrieval-Augmented</a:t>
            </a:r>
            <a:r>
              <a:rPr lang="it-IT" sz="1300" noProof="0" dirty="0">
                <a:solidFill>
                  <a:schemeClr val="tx1"/>
                </a:solidFill>
              </a:rPr>
              <a:t> Generation for Knowledge-Intensive NLP Tasks. </a:t>
            </a:r>
            <a:r>
              <a:rPr lang="it-IT" sz="1300" noProof="0" dirty="0" err="1">
                <a:solidFill>
                  <a:schemeClr val="tx1"/>
                </a:solidFill>
              </a:rPr>
              <a:t>NeurIPS</a:t>
            </a:r>
            <a:r>
              <a:rPr lang="it-IT" sz="1300" noProof="0" dirty="0">
                <a:solidFill>
                  <a:schemeClr val="tx1"/>
                </a:solidFill>
              </a:rPr>
              <a:t>.</a:t>
            </a:r>
            <a:endParaRPr lang="it-IT" sz="1300" noProof="0" dirty="0"/>
          </a:p>
          <a:p>
            <a:pPr marL="177800" indent="-177800">
              <a:spcAft>
                <a:spcPts val="500"/>
              </a:spcAft>
              <a:buSzPct val="100000"/>
              <a:buChar char="•"/>
            </a:pPr>
            <a:r>
              <a:rPr lang="it-IT" sz="1300" noProof="0" dirty="0">
                <a:solidFill>
                  <a:schemeClr val="tx1"/>
                </a:solidFill>
              </a:rPr>
              <a:t>Liu, N. </a:t>
            </a:r>
            <a:r>
              <a:rPr lang="it-IT" sz="1300" noProof="0" dirty="0" err="1">
                <a:solidFill>
                  <a:schemeClr val="tx1"/>
                </a:solidFill>
              </a:rPr>
              <a:t>F</a:t>
            </a:r>
            <a:r>
              <a:rPr lang="it-IT" sz="1300" noProof="0" dirty="0">
                <a:solidFill>
                  <a:schemeClr val="tx1"/>
                </a:solidFill>
              </a:rPr>
              <a:t>. et al. (2024). Lost in the Middle: How Language Models Use Long </a:t>
            </a:r>
            <a:r>
              <a:rPr lang="it-IT" sz="1300" noProof="0" dirty="0" err="1">
                <a:solidFill>
                  <a:schemeClr val="tx1"/>
                </a:solidFill>
              </a:rPr>
              <a:t>Contexts</a:t>
            </a:r>
            <a:r>
              <a:rPr lang="it-IT" sz="1300" noProof="0" dirty="0">
                <a:solidFill>
                  <a:schemeClr val="tx1"/>
                </a:solidFill>
              </a:rPr>
              <a:t>. </a:t>
            </a:r>
            <a:r>
              <a:rPr lang="it-IT" sz="1300" noProof="0" dirty="0" err="1">
                <a:solidFill>
                  <a:schemeClr val="tx1"/>
                </a:solidFill>
              </a:rPr>
              <a:t>Transactions</a:t>
            </a:r>
            <a:r>
              <a:rPr lang="it-IT" sz="1300" noProof="0" dirty="0">
                <a:solidFill>
                  <a:schemeClr val="tx1"/>
                </a:solidFill>
              </a:rPr>
              <a:t> of the ACL, 12, 157-173.</a:t>
            </a:r>
            <a:endParaRPr lang="it-IT" sz="1300" noProof="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marL="0" indent="0">
              <a:buNone/>
            </a:pPr>
            <a:r>
              <a:rPr lang="it-IT" sz="1100" i="1" noProof="0" dirty="0">
                <a:solidFill>
                  <a:schemeClr val="accent2"/>
                </a:solidFill>
              </a:rPr>
              <a:t>Dati verificati a ottobre 2026: ricontrollarli prima di ogni edizione.</a:t>
            </a:r>
            <a:endParaRPr lang="it-IT" sz="11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noProof="0" smtClean="0"/>
              <a:t>72</a:t>
            </a:fld>
            <a:endParaRPr lang="it-IT" noProof="0" dirty="0"/>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17535</Words>
  <Application>Microsoft Macintosh PowerPoint</Application>
  <PresentationFormat>Presentazione su schermo (16:9)</PresentationFormat>
  <Paragraphs>1071</Paragraphs>
  <Slides>72</Slides>
  <Notes>72</Notes>
  <HiddenSlides>24</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72</vt:i4>
      </vt:variant>
    </vt:vector>
  </HeadingPairs>
  <TitlesOfParts>
    <vt:vector size="75" baseType="lpstr">
      <vt:lpstr>Arial</vt:lpstr>
      <vt:lpstr>Calibri</vt:lpstr>
      <vt:lpstr>AI Literacy Neutro</vt:lpstr>
      <vt:lpstr>Fondamenti e funzionamento dell'Intelligenza Artificiale</vt:lpstr>
      <vt:lpstr>Obiettivo del modulo</vt:lpstr>
      <vt:lpstr>Otto domande guida per questo modulo</vt:lpstr>
      <vt:lpstr>Il filo conduttore</vt:lpstr>
      <vt:lpstr>Il percorso del modulo</vt:lpstr>
      <vt:lpstr>Che cos'è l'Intelligenza Artificiale</vt:lpstr>
      <vt:lpstr>Una definizione operativa</vt:lpstr>
      <vt:lpstr>Intelligenza artificiale e intelligenza umana</vt:lpstr>
      <vt:lpstr>Sistemi specializzati e intelligenza artificiale generale</vt:lpstr>
      <vt:lpstr>Comprensione apparente: l'effetto ELIZA</vt:lpstr>
      <vt:lpstr>Che cosa osserviamo e che cosa possiamo concludere</vt:lpstr>
      <vt:lpstr>Presentazione standard di PowerPoint</vt:lpstr>
      <vt:lpstr>Le principali categorie di AI</vt:lpstr>
      <vt:lpstr>Quattro criteri di classificazione diversi</vt:lpstr>
      <vt:lpstr>AI simbolica e Machine Learning</vt:lpstr>
      <vt:lpstr>Deep Learning e reti neurali</vt:lpstr>
      <vt:lpstr>AI predittiva, discriminativa e generativa</vt:lpstr>
      <vt:lpstr>AI multimodale</vt:lpstr>
      <vt:lpstr>Quale approccio per quale problema</vt:lpstr>
      <vt:lpstr>Presentazione standard di PowerPoint</vt:lpstr>
      <vt:lpstr>Come un sistema AI apprende dai dati</vt:lpstr>
      <vt:lpstr>Che cosa significa apprendere dai dati</vt:lpstr>
      <vt:lpstr>Dati di addestramento ed esempi</vt:lpstr>
      <vt:lpstr>Individuare schemi e regolarità (es. Spam)</vt:lpstr>
      <vt:lpstr>I parametri del modello</vt:lpstr>
      <vt:lpstr>Il ciclo di addestramento</vt:lpstr>
      <vt:lpstr>Generalizzare verso nuovi input</vt:lpstr>
      <vt:lpstr>Addestramento e inferenza</vt:lpstr>
      <vt:lpstr>Presentazione standard di PowerPoint</vt:lpstr>
      <vt:lpstr>Che cosa sono i Large Language Models</vt:lpstr>
      <vt:lpstr>Un modello linguistico di grandi dimensioni</vt:lpstr>
      <vt:lpstr>I token: come il modello vede il testo</vt:lpstr>
      <vt:lpstr>Rappresentare il significato</vt:lpstr>
      <vt:lpstr>Il Transformer e il meccanismo di attenzione</vt:lpstr>
      <vt:lpstr>Come viene generata una risposta</vt:lpstr>
      <vt:lpstr>Più di un completamento automatico</vt:lpstr>
      <vt:lpstr>Capacità linguistiche, di analisi e di ragionamento</vt:lpstr>
      <vt:lpstr>Perché un modello può affrontare compiti diversi</vt:lpstr>
      <vt:lpstr>Presentazione standard di PowerPoint</vt:lpstr>
      <vt:lpstr>Come funziona un'interazione con l'AI</vt:lpstr>
      <vt:lpstr>Input, prompt e output</vt:lpstr>
      <vt:lpstr>Il percorso di una richiesta</vt:lpstr>
      <vt:lpstr>La finestra di contesto</vt:lpstr>
      <vt:lpstr>La cronologia conversazionale</vt:lpstr>
      <vt:lpstr>Contesto temporaneo e memoria persistente</vt:lpstr>
      <vt:lpstr>Il modello e l'applicazione</vt:lpstr>
      <vt:lpstr>Presentazione standard di PowerPoint</vt:lpstr>
      <vt:lpstr>Conoscenza e fonti informative</vt:lpstr>
      <vt:lpstr>Tre fonti di informazione</vt:lpstr>
      <vt:lpstr>Conoscenza incorporata e recupero di informazioni</vt:lpstr>
      <vt:lpstr>Aggiornamento dei dati e limiti temporali</vt:lpstr>
      <vt:lpstr>Grounding: ancorare le risposte alle fonti</vt:lpstr>
      <vt:lpstr>Introduzione alla Retrieval-Augmented Generation</vt:lpstr>
      <vt:lpstr>Adattare un sistema AI a un contesto specifico</vt:lpstr>
      <vt:lpstr>Tre equivoci frequenti</vt:lpstr>
      <vt:lpstr>Presentazione standard di PowerPoint</vt:lpstr>
      <vt:lpstr>Variabilità dei risultati</vt:lpstr>
      <vt:lpstr>Stessa richiesta, risposte diverse</vt:lpstr>
      <vt:lpstr>Che cosa influenza la variabilità</vt:lpstr>
      <vt:lpstr>I parametri di generazione: la temperatura</vt:lpstr>
      <vt:lpstr>Comportamento deterministico e probabilistico</vt:lpstr>
      <vt:lpstr>Riproducibilità dei risultati</vt:lpstr>
      <vt:lpstr>Variabilità non significa errore</vt:lpstr>
      <vt:lpstr>Presentazione standard di PowerPoint</vt:lpstr>
      <vt:lpstr>Le domande guida: le nostre risposte</vt:lpstr>
      <vt:lpstr>Che cosa portiamo a casa</vt:lpstr>
      <vt:lpstr>Glossario essenziale (1 di 2)</vt:lpstr>
      <vt:lpstr>Glossario essenziale (2 di 2)</vt:lpstr>
      <vt:lpstr>Da dove viene questa risposta? Una scheda pratica</vt:lpstr>
      <vt:lpstr>Che cosa evitare</vt:lpstr>
      <vt:lpstr>Prossimo passo: il Tema 3</vt:lpstr>
      <vt:lpstr>Fonti e riferimenti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2: Fondamenti e funzionamento dell'Intelligenza Artificiale</dc:title>
  <dc:subject>Percorso AI Literacy</dc:subject>
  <dc:creator>Percorso AI Literacy</dc:creator>
  <cp:lastModifiedBy>Michele Barchi</cp:lastModifiedBy>
  <cp:revision>17</cp:revision>
  <dcterms:created xsi:type="dcterms:W3CDTF">2026-10-09T13:34:44Z</dcterms:created>
  <dcterms:modified xsi:type="dcterms:W3CDTF">2026-10-13T13:11:57Z</dcterms:modified>
</cp:coreProperties>
</file>