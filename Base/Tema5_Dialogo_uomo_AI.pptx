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notesMasterIdLst>
    <p:notesMasterId r:id="rId6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zione" id="{008922ef-af7f-27bd-e02d-2c84c06bd58a}">
          <p14:sldIdLst>
            <p14:sldId id="256"/>
            <p14:sldId id="257"/>
            <p14:sldId id="258"/>
            <p14:sldId id="259"/>
            <p14:sldId id="260"/>
          </p14:sldIdLst>
        </p14:section>
        <p14:section name="5.1 Linguaggio naturale" id="{39898eae-e24b-abc4-5053-fae9b0e84e70}">
          <p14:sldIdLst>
            <p14:sldId id="261"/>
            <p14:sldId id="262"/>
            <p14:sldId id="263"/>
            <p14:sldId id="264"/>
            <p14:sldId id="265"/>
            <p14:sldId id="266"/>
            <p14:sldId id="267"/>
          </p14:sldIdLst>
        </p14:section>
        <p14:section name="5.2 Dalla domanda alla conversazione" id="{4a7901ff-65c0-291a-dd17-101a246b722e}">
          <p14:sldIdLst>
            <p14:sldId id="268"/>
            <p14:sldId id="269"/>
            <p14:sldId id="270"/>
            <p14:sldId id="271"/>
            <p14:sldId id="272"/>
            <p14:sldId id="273"/>
            <p14:sldId id="274"/>
            <p14:sldId id="275"/>
          </p14:sldIdLst>
        </p14:section>
        <p14:section name="5.3 I ruoli dell'AI" id="{eb690225-a3fb-024d-20df-fd29719bb8cd}">
          <p14:sldIdLst>
            <p14:sldId id="276"/>
            <p14:sldId id="277"/>
            <p14:sldId id="278"/>
            <p14:sldId id="279"/>
            <p14:sldId id="280"/>
            <p14:sldId id="281"/>
            <p14:sldId id="282"/>
          </p14:sldIdLst>
        </p14:section>
        <p14:section name="5.4 La collaborazione uomo-AI" id="{355cd609-47d4-c3c6-459d-58ee67e6bc9e}">
          <p14:sldIdLst>
            <p14:sldId id="283"/>
            <p14:sldId id="284"/>
            <p14:sldId id="285"/>
            <p14:sldId id="286"/>
            <p14:sldId id="287"/>
            <p14:sldId id="288"/>
            <p14:sldId id="289"/>
            <p14:sldId id="290"/>
          </p14:sldIdLst>
        </p14:section>
        <p14:section name="5.5 Livelli di delega" id="{759f0e99-f85a-9e3b-5f9f-de60016a815f}">
          <p14:sldIdLst>
            <p14:sldId id="291"/>
            <p14:sldId id="292"/>
            <p14:sldId id="293"/>
            <p14:sldId id="294"/>
            <p14:sldId id="295"/>
            <p14:sldId id="296"/>
            <p14:sldId id="297"/>
            <p14:sldId id="298"/>
          </p14:sldIdLst>
        </p14:section>
        <p14:section name="5.6 Il ruolo della persona" id="{796b661d-0838-0ed4-9488-404b3378480d}">
          <p14:sldIdLst>
            <p14:sldId id="299"/>
            <p14:sldId id="300"/>
            <p14:sldId id="301"/>
            <p14:sldId id="302"/>
            <p14:sldId id="303"/>
            <p14:sldId id="304"/>
            <p14:sldId id="305"/>
          </p14:sldIdLst>
        </p14:section>
        <p14:section name="5.7 Limiti e rischi" id="{dfec4573-603f-0e0e-8a7f-1f3c271cf9bb}">
          <p14:sldIdLst>
            <p14:sldId id="306"/>
            <p14:sldId id="307"/>
            <p14:sldId id="308"/>
            <p14:sldId id="309"/>
            <p14:sldId id="310"/>
            <p14:sldId id="311"/>
            <p14:sldId id="312"/>
          </p14:sldIdLst>
        </p14:section>
        <p14:section name="Conclusioni" id="{7733b0ac-03dc-f3e0-f4db-547e9e87acca}">
          <p14:sldIdLst>
            <p14:sldId id="313"/>
            <p14:sldId id="314"/>
            <p14:sldId id="315"/>
            <p14:sldId id="316"/>
            <p14:sldId id="317"/>
            <p14:sldId id="31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Benvenuti al quinto tema, che apre una nuova area del percorso: 'Interagire con l'AI'. Nei quattro temi precedenti abbiamo costruito la comprensione: perché l'AI è rilevante, come funziona, quanto possiamo fidarci dei risultati, come è organizzato l'ecosistema. Da qui in avanti ci spostiamo sulla pratica dell'interazione. Questo primo tema dell'area non è un manuale di prompting, che sarà l'oggetto del Tema 6, né un percorso tecnico sugli agenti. Riguarda la relazione operativa e cognitiva tra persona e AI: che cosa significa dialogare con un sistema in linguaggio naturale, quali ruoli può assumere, come si collabora, quanto si può delegare, quanto conta la persona e quali rischi comporta una relazione così naturale. Suggerimento per l'apertura: chiedere ai partecipanti come descriverebbero il proprio rapporto con un assistente AI, se lo usano: uno strumento, un collega, un consulente, un motore di ricerca? Le metafore che emergono saranno utili per tutto il modulo. Nota per il relatore: i contenuti e le fonti sono stati verificati a ottobre 2026; gli studi sugli effetti dell'AI generativa sul pensiero critico sono in rapida evoluzione e vanno ricontrollati prima di ogni edizione.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L'obiettivo formativo è comprendere le caratteristiche dell'interazione conversazionale con i sistemi AI e sviluppare la capacità di riconoscere modalità di collaborazione, livelli di delega e responsabilità di chi li usa. La consapevolezza da sviluppare ha due facce. La prima: l'efficacia dell'interazione non dipende solo dalle capacità del sistema, ma anche dalla persona, cioè dal suo ruolo attivo, dalla chiarezza degli obiettivi, dalle competenze e dal livello di autonomia che decide di affidare alla tecnologia. La seconda: una conversazione naturale non equivale a un rapporto con un interlocutore umano, e non garantisce l'esattezza delle risposte. Il messaggio centrale del tema lo riassume: interagire consapevolmente con l'AI significa costruire una collaborazione in cui la tecnologia amplifica le capacità umane senza sostituire automaticamente giudizio, competenze e responsabilità.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dieci domande guida accompagnano il modulo. Le prime tre riguardano il linguaggio naturale come interfaccia e il passaggio dalla domanda alla conversazione, compresa la possibilità che sia l'AI a porre domande. La quarta riguarda i ruoli dell'AI e le competenze che non è corretto presumere. La quinta e la sesta la collaborazione e i livelli di delega. La settima il contributo delle competenze personali. L'ottava l'uso dell'AI come strumento di confronto critico. Le ultime due i rischi della relazione conversazionale e la tutela dell'autonomia cognitiva e della responsabilità. Alla fine del modulo torneremo su tutte con una risposta sintetica.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filo conduttore del modulo è un percorso in quattro passi, dal modo in cui parliamo con il sistema al modo in cui restiamo responsabili di ciò che ne facciamo. Primo: l'interfaccia naturale, cioè che cosa cambia quando il linguaggio diventa il modo di usare un software, con i suoi vantaggi e la sua ambiguità, nel sottotema 5.1. Secondo: il dialogo e i ruoli, cioè il valore della conversazione progressiva rispetto alla richiesta isolata e i diversi ruoli che l'AI può assumere, nei sottotemi 5.2 e 5.3. Terzo: la collaborazione e la delega, cioè come si dividono i compiti tra persona e sistema e quanta autonomia è ragionevole affidare, nei sottotemi 5.4 e 5.5. Quarto: la persona e i rischi, cioè perché la qualità dipende dalle competenze di chi usa l'AI e quali rischi nascono da una relazione così naturale, nei sottotemi 5.6 e 5.7. Il messaggio che accompagna tutto il percorso: la tecnologia amplifica le capacità umane senza sostituire giudizio, competenze e responsabilità.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modulo è articolato in sette sottotemi, tutti con priorità alta e tutti mantenuti separati. Vanno compresi bene: il dialogo iterativo, la collaborazione uomo-AI, i livelli di delega, il ruolo delle competenze umane, l'autonomia cognitiva e la responsabilità. Vanno conosciuti: le interfacce conversazionali, i ruoli dell'AI, l'uso come interlocutore critico, le dinamiche di feedback e chiarimento. Vanno solo accennati: le teorie avanzate dell'interazione uomo-macchina, i modelli psicologici della fiducia nell'automazione e la progettazione tecnica di agenti conversazionali. Confini: non ripetiamo i meccanismi tecnici del Tema 2, né l'analisi di allucinazioni e bias del Tema 3, né il confronto tra prodotti del Tema 4. Le tecniche operative per formulare le richieste sono rimandate al Tema 6; le procedure di verifica degli output al Tema 7; la progettazione di agenti e workflow al Tema 11; la riprogettazione di processi e ruoli ai Temi 13 e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 Tema 1 abbiamo visto che il linguaggio naturale è stato uno dei fattori della svolta generativa, perché ha reso l'AI accessibile a tutti. Qui non ripercorriamo quella storia, ma guardiamo il fenomeno dal punto di vista dell'interazione: che cosa cambia, concretamente, quando parliamo con un software invece di usarne i comandi? Quali vantaggi porta, quali nuove difficoltà introduce, e come cambia il nostro rapporto con la tecnologia?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il software tradizionale interagiamo attraverso comandi predefiniti: menu, pulsanti, campi da compilare, formule, parole chiave. Ogni comando ha un significato preciso e prevedibile, ma dobbiamo conoscerlo: sapere dove si trova la funzione, come si chiama, in che ordine compilare i campi. Il software fa esattamente ciò che chiediamo, e solo quello. Con un'interfaccia conversazionale formuliamo invece richieste in linguaggio naturale, con parole nostre, esprimendo l'obiettivo più che la sequenza di operazioni: 'confronta questi due preventivi e dimmi quale conviene per un ordine di cento pezzi'. Il sistema interpreta la richiesta e decide come soddisfarla. Il confronto in slide mostra le differenze principali. Il punto è che ci spostiamo dal 'come' al 'che cosa': non dobbiamo più sapere come si fa, ma dobbiamo saper dire che cosa vogliamo. E il sistema, interpretando, può interpretare male.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comunicazione conversazionale porta vantaggi evidenti. Accessibilità: chiunque sappia esprimersi può usare capacità prima riservate agli specialisti. Flessibilità: si possono chiedere cose mai previste dai progettisti, combinare attività diverse, cambiare direzione a metà. Rapidità di apprendimento: non servono manuali per iniziare. Possibilità di precisare: se il risultato non va, si può spiegare che cosa cambiare, come si farebbe con un collega. Ma ha anche limiti specifici. L'ambiguità: il linguaggio umano è impreciso, e la stessa frase può essere interpretata in modi diversi. La scarsa visibilità delle funzioni: in un menu vediamo che cosa il software sa fare, in una chat no, e rischiamo di non scoprire possibilità utili o di chiedere cose che il sistema non può fare. La dipendenza dalla capacità di esprimersi: chi formula meglio ottiene di più. La facilità apparente: proprio perché è facile iniziare, si rischia di sottovalutare l'impegno necessario per ottenere risultati di qualità e per valutarli.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flessibilità del linguaggio umano è anche la sua debolezza. Comunichiamo bene tra persone perché condividiamo moltissimo contesto implicito: sappiamo chi è l'interlocutore, che cosa sa, a che cosa serve la richiesta. Un sistema AI conosce solo ciò che è scritto nella conversazione e nelle informazioni che gli abbiamo fornito, e riempie i vuoti con le interpretazioni più probabili. Gli esempi in slide sono richieste apparentemente chiare. 'Fammi un riassunto breve del report': breve quanto? Cinque righe o una pagina? Per chi: per la direzione o per il team tecnico? 'Rendi questa email più professionale': più formale, più sintetica, più tecnica? 'Analizza le vendite': quali aspetti, quale periodo, a quale scopo? In ciascun caso il sistema darà una risposta ragionevole, ma potrebbe non essere quella che avevamo in mente. Non è un errore del sistema: è un'ambiguità della richiesta. Due conseguenze. Primo: chiarezza degli obiettivi e contesto restano responsabilità di chi chiede, come vedremo nel 5.6. Secondo: l'ambiguità si può gestire con il dialogo, precisando dopo aver visto il primo risultato, come vedremo nel 5.2. Le tecniche per formulare richieste precise sono oggetto del Tema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L'interazione conversazionale non è solo scritta. Oltre al testo, la forma più diffusa, molti sistemi permettono di interagire con la voce, parlando e ascoltando le risposte, talvolta in conversazioni fluide quasi in tempo reale; e in modo multimodale, mostrando immagini, documenti, schermate, o condividendo la fotocamera. Ogni modalità ha caratteristiche diverse per l'interazione. Il testo è preciso, si può rileggere e modificare prima di inviare, lascia traccia ed è adatto a richieste articolate e a risultati da riutilizzare. La voce è rapida e naturale, comoda quando si hanno le mani occupate o si è in movimento, ma meno precisa, più difficile da rileggere, e accentua la sensazione di parlare con una persona, un aspetto che riprenderemo nel 5.7. L'interazione multimodale permette di mostrare invece di descrivere: una foto di un guasto, un grafico, un modulo da compilare. Riduce l'ambiguità quando le parole non bastano, ma richiede attenzione a che cosa si condivide, soprattutto in ambito aziendale. La scelta della modalità dipende dall'attività: per un brainstorming in movimento la voce può essere ideale, per un documento da consegnare il testo resta più adatto.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L'interfaccia conversazionale cambia il rapporto con il software in modo più profondo di quanto sembri. Con il software tradizionale l'utente è un operatore: conosce gli strumenti, esegue le operazioni, e il software esegue esattamente ciò che gli viene detto. La responsabilità di come si fa è dell'utente. Con un sistema conversazionale l'utente diventa piuttosto un committente: esprime un obiettivo, e il sistema decide come raggiungerlo, proponendo un risultato che va valutato. Questo spostamento ha tre conseguenze. Primo, le competenze richieste cambiano: meno conoscenza dei comandi, più capacità di definire obiettivi, fornire contesto e valutare risultati. Secondo, il controllo si sposta dal processo al risultato: non vediamo tutti i passaggi con cui il sistema arriva alla risposta, quindi dobbiamo saper valutare l'esito. Terzo, la relazione assomiglia di più a quella con un collaboratore, con tutti i vantaggi e i rischi che questo comporta, compresa la tentazione di trattarlo come una persona. Come ogni committente, chi usa l'AI resta responsabile di ciò che chiede e di ciò che decide di fare con il risultato.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Con il linguaggio naturale passiamo dai comandi alle richieste, dal 'come' al 'che cosa'. Ne guadagniamo in accessibilità e flessibilità, ma il linguaggio è ambiguo, il sistema conosce solo ciò che è scritto, e l'utente diventa un committente che deve saper definire obiettivi e valutare risultati. Domanda di verifica: pensate a una richiesta che avete fatto di recente a un assistente AI e che non ha dato il risultato sperato. Era chiara per voi, ma era chiara anche senza il contesto che avevate in testa?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Uno dei modi più comuni di usare un assistente AI è quello del motore di ricerca: si fa una domanda, si legge la risposta, si chiude. Ma un sistema conversazionale dà il meglio quando lo si usa come un dialogo. In questo sottotema, da comprendere bene, vediamo la differenza tra richiesta isolata e conversazione, il dialogo come processo iterativo, il valore dei chiarimenti e la possibilità, spesso trascurata, che sia l'AI a porre domande a noi. Le tecniche operative per formulare e perfezionare le richieste saranno sviluppate nel Tema 6; qui ci interessa il valore del dialogo.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richiesta isolata è un singolo scambio: domanda, risposta, fine. Funziona bene per bisogni semplici e ben definiti, come una traduzione, una definizione, una formula. Un dialogo articolato è una sequenza di scambi in cui la richiesta si costruisce progressivamente: si parte da un'idea, si guarda il primo risultato, si precisa, si aggiungono informazioni, si chiede un'alternativa, si approfondisce un punto. È adatto ai bisogni complessi, quelli in cui all'inizio non sappiamo ancora esattamente che cosa ci serve, o in cui il risultato ha molte dimensioni. Molte persone usano l'AI solo nel primo modo, e quando il risultato non soddisfa concludono che 'l'AI non funziona per questo'. Spesso il problema non è lo strumento, ma l'aver interrotto il dialogo troppo presto. Il concetto chiave del sottotema lo dice con chiarezza: una buona interazione può svilupparsi attraverso più scambi e non richiede una richiesta iniziale perfetta. Questo è liberatorio: non serve scrivere la richiesta ideale al primo colpo, serve saper proseguire.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Possiamo descrivere il dialogo come un ciclo. Si formula una richiesta, anche imperfetta. Si valuta il risultato: che cosa va bene, che cosa manca, che cosa non corrisponde a ciò che serviva. Si precisa: si aggiungono informazioni, si correggono le interpretazioni sbagliate, si chiede di cambiare tono, struttura, livello di dettaglio. E si ripete finché il risultato è adeguato. È lo stesso modo in cui lavoriamo con un collega su un documento: prima bozza, commenti, seconda versione. Un aspetto importante: ogni iterazione è anche un momento di apprendimento per noi. Vedere un primo risultato ci aiuta spesso a capire meglio che cosa vogliamo davvero, perché le risposte rendono esplicite scelte che non avevamo considerato. Questo è uno dei vantaggi meno evidenti del dialogo. Una cautela: il ciclo ha senso finché porta miglioramenti. Se dopo diverse iterazioni il risultato non migliora, conviene fermarsi e chiedersi se il compito è adatto all'AI, se mancano informazioni fondamentali, o se è meglio ricominciare da capo con una richiesta impostata diversamente.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un esempio di dialogo progressivo, semplificato. Una persona deve preparare una comunicazione interna sul nuovo sistema di prenotazione delle sale riunioni. Prima richiesta: 'Scrivi una comunicazione sul nuovo sistema di prenotazione delle sale'. Il sistema produce un testo generico e lungo. Seconda richiesta: la persona precisa il pubblico, tutti i dipendenti, molti dei quali non tecnici, e chiede un testo più breve. Il sistema accorcia e semplifica. Terza richiesta: la persona si accorge che manca l'informazione più importante, cioè da quando il vecchio sistema non funzionerà più, e chiede di metterla in evidenza all'inizio. Quarta: chiede tre possibili oggetti per l'email. In quattro scambi il testo è diventato adatto allo scopo, senza che la prima richiesta fosse perfetta. Notate due cose: le informazioni decisive, cioè il pubblico e la scadenza, le ha portate la persona; e il risultato finale andrà comunque riletto prima dell'invio. Suggerimento: se possibile, mostrare un dialogo simile dal vivo.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Durante un dialogo si accumulano informazioni: il pubblico, l'obiettivo, i vincoli, le correzioni, le preferenze espresse. Questo contesto conversazionale è una risorsa: non serve ripetere tutto a ogni richiesta, perché il sistema tiene conto di ciò che è già stato detto, come abbiamo visto nel Tema 2. Un buon dialogo sfrutta questa risorsa, costruendo progressivamente un quadro sempre più preciso. Ci sono però tre situazioni in cui il contesto diventa un ostacolo. Quando si cambia argomento: informazioni e impostazioni di un compito precedente possono influenzare quello nuovo in modo indesiderato. Quando la conversazione diventa molto lunga: le informazioni iniziali possono perdere peso. Quando all'inizio si è presa una strada sbagliata: un'impostazione errata continua a condizionare le risposte, anche dopo averla corretta. In questi casi, la scelta migliore è spesso aprire una nuova conversazione, riportando in modo sintetico solo le informazioni utili emerse fino a quel momento. Un'abitudine pratica: una conversazione per ogni attività.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integrazione del sottotema riguarda una possibilità spesso trascurata: non siamo solo noi a fare domande. Possiamo chiedere al sistema di porci domande prima di procedere, per chiarire le nostre esigenze. Per esempio: 'Devo preparare un piano di formazione per i nuovi assunti. Prima di proporre qualcosa, fammi le domande che ti servono per capire bene la situazione'. Il sistema chiederà, plausibilmente, quante persone, quali ruoli, quanto tempo, quali competenze di partenza, quali vincoli di budget. Molte di queste domande ci costringeranno a esplicitare assunzioni che davamo per scontate, o a scoprire informazioni che non avevamo considerato. Alcuni sistemi pongono domande di chiarimento anche spontaneamente, quando la richiesta è ambigua. Il valore è triplice: chiarire le esigenze, esplicitare le assunzioni, individuare le informazioni mancanti. Ma c'è un limite importante, sottolineato dal documento di perimetro: il sistema può aiutare a definire gli obiettivi, non sostituirsi alla persona nel deciderli. Le domande dell'AI sono un aiuto al nostro ragionamento; le risposte, e quindi le scelte, restano nostre.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Estendiamo l'idea della slide precedente. Spesso la parte più difficile di un'attività non è risolvere il problema, ma capire qual è il problema. L'AI può essere un buon supporto in questa fase, perché ci obbliga a mettere in parole ciò che è ancora confuso, e perché può proporre prospettive diverse. Alcuni modi di usarla: chiedere di riformulare il problema in modi diversi, per vedere se ne emerge uno più utile; chiedere quali potrebbero essere le cause di una situazione, prima di cercare soluzioni; chiedere di distinguere tra sintomi e problema; chiedere quali informazioni servirebbero per decidere; chiedere quali obiettivi potrebbero essere in conflitto tra loro. Per esempio, prima di chiedere 'come riduco i reclami dei clienti?', si può chiedere 'aiutami a capire quali tipi di problemi potrebbero esserci dietro l'aumento dei reclami e quali dati mi servirebbero per distinguerli'. La conversazione diventa uno strumento per pensare meglio, non solo per ottenere risposte. Anche qui vale il limite: la definizione finale del problema e degli obiettivi spetta alla persona, che conosce la situazione reale.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Il dialogo è un processo iterativo: chiedere, valutare, precisare, ripetere. Il contesto della conversazione è una risorsa, ma a volte conviene ricominciare. L'AI può anche porci domande, aiutandoci a chiarire esigenze, assunzioni e informazioni mancanti, e può supportare la definizione dei problemi, senza sostituirsi alla persona nel decidere gli obiettivi. Domanda di verifica: la prossima volta che dovete affrontare un compito poco definito, come potreste iniziare la conversazione con l'AI? Una possibile risposta: descrivere la situazione e chiedere al sistema quali domande farebbe per capirla meglio.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Uno stesso assistente AI può essere usato in modi molto diversi: come fonte di spiegazioni, come assistente operativo, come compagno di brainstorming, come revisore, come tutor, come interlocutore critico. In questo sottotema passiamo in rassegna questi ruoli, con i loro punti di forza e le loro cautele, e affrontiamo una distinzione importante: quella tra il ruolo che assegniamo al sistema e la competenza che effettivamente possiede. Non confrontiamo prodotti o architetture, che sono temi del Tema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i sette ruoli indicati dal documento di perimetro. Fonte di informazioni e spiegazioni: spiegare un concetto, chiarire un termine, dare una panoramica su un argomento. Assistente operativo: svolgere compiti concreti come scrivere bozze, riformulare, tradurre, organizzare informazioni. Supporto creativo e al brainstorming: generare idee, alternative, nomi, spunti. Analista e supporto al problem solving: analizzare dati e documenti, scomporre problemi, confrontare opzioni. Revisore di contenuti e risultati: rileggere un testo, segnalare errori, incoerenze, punti deboli. Tutor e supporto all'apprendimento: spiegare passo passo, proporre esercizi, adattare la spiegazione al livello della persona. Interlocutore critico: proporre controargomentazioni, alternative, obiezioni. Molte interazioni combinano più ruoli, e passare consapevolmente da un ruolo all'altro è una delle abilità di chi usa bene l'AI. Nelle prossime slide vediamo per ciascun ruolo un esempio e la principale cautela. Suggerimento: chiedere ai partecipanti quali ruoli usano già e quali non avevano considerato.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Vediamo i primi tre ruoli. Come fonte di informazioni e spiegazioni, l'AI è molto efficace per orientarsi su un argomento nuovo, capire un concetto, ottenere una panoramica. Esempio: 'Spiegami in termini semplici che cos'è il bilancio di sostenibilità'. Cautela: è il ruolo più esposto alle informazioni inesatte viste nel Tema 3; per fatti, dati e riferimenti precisi servono fonti verificabili. Come assistente operativo, l'AI svolge compiti concreti: 'Trasforma questi appunti in un verbale ordinato'. È il ruolo più diffuso e spesso il più immediatamente utile. Cautela: il risultato è una bozza, non un prodotto finito, e chi la usa ne è responsabile. Come supporto creativo, l'AI aiuta a generare idee e alternative: 'Proponi dieci idee per un evento interno di fine anno con budget contenuto'. Cautela: come abbiamo visto, le idee tendono al convenzionale; vanno considerate materiale grezzo da selezionare e sviluppare, preferibilmente insieme ad altre persone.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Altri tre ruoli. Come analista e supporto al problem solving, l'AI aiuta a esaminare dati e documenti, a scomporre problemi, a confrontare opzioni: 'Confronta questi tre contratti e evidenzia le differenze sulle clausole di recesso'. Cautela: le conclusioni dipendono dalle informazioni fornite e dai criteri, espliciti o impliciti; vanno verificate. Come revisore, l'AI rilegge un contenuto e segnala errori, incoerenze, punti poco chiari: 'Rileggi questa offerta e segnala i passaggi ambigui o in contraddizione'. È un ruolo prezioso, perché uno sguardo esterno aiuta a vedere ciò che chi scrive non vede più. Cautela: la revisione non è esaustiva; il sistema può non accorgersi di alcuni errori e segnalarne altri inesistenti. Come tutor, l'AI supporta l'apprendimento: spiega passo passo, adatta il livello, propone esercizi, verifica la comprensione: 'Insegnami le basi delle tabelle pivot con esempi graduali'. Cautela: se si delega tutto, si impara poco; per imparare davvero bisogna provare in prima persona, un tema che riprenderemo nel 5.7 parlando di delega cognitiva.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integrazione del sottotema merita una slide dedicata, perché è uno degli usi più preziosi e meno praticati. Come abbiamo visto nel Tema 3, i sistemi AI tendono ad assecondare l'utente. Ma possiamo chiedere esplicitamente il contrario: usare l'AI per mettere alla prova un'ipotesi, non per confermarla. Ecco alcuni modi. L'avvocato del diavolo: 'Ecco la mia proposta: costruisci gli argomenti più forti contro di essa'. Il pre-mortem: 'Immagina che questo progetto sia fallito tra un anno: quali sono le cause più probabili?'. Le prospettive diverse: 'Come valuterebbero questa decisione un cliente, un fornitore e un collega dell'amministrazione?'. Le alternative: 'Quali altre strade potrei considerare per raggiungere lo stesso obiettivo?'. Le assunzioni nascoste: 'Quali assunzioni sto dando per scontate in questo ragionamento?'. Questi usi aiutano a contrastare il nostro bias di conferma e a migliorare la qualità delle decisioni. Un'avvertenza: anche le critiche dell'AI vanno valutate. Non tutte saranno pertinenti, e il sistema può produrre obiezioni plausibili ma deboli. Il valore sta nello stimolo al ragionamento, non nell'autorità delle obiezioni.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pratica molto diffusa è assegnare un ruolo all'AI: 'Sei un avvocato esperto di diritto del lavoro', 'Agisci come un consulente finanziario', 'Sei un revisore severo'. Funziona? In parte sì: assegnare un ruolo orienta il comportamento del sistema, cioè il tono, il lessico, il livello di dettaglio, la prospettiva da cui affronta il problema, gli aspetti a cui presta attenzione. È utile e la riprenderemo nel Tema 6. Ma c'è una distinzione fondamentale: assegnare un ruolo non conferisce competenze. Dire al sistema che è un avvocato non gli dà la conoscenza aggiornata della normativa, la capacità di valutare il caso concreto, l'esperienza delle prassi dei tribunali, né la responsabilità professionale di un avvocato. Il sistema produrrà testi nello stile di un avvocato, con la stessa affidabilità, e gli stessi limiti, che avrebbe senza quel ruolo, su quell'argomento. Il rischio è che lo stile professionale aumenti la nostra fiducia, ricadendo nell'autorevolezza apparente vista nel Tema 3. Per questo, nei ruoli che richiedono competenze specialistiche, la consulenza di un professionista reale resta necessaria quando le conseguenze sono rilevanti.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L'AI può essere fonte, assistente operativo, supporto creativo, analista, revisore, tutor e interlocutore critico, ciascuno con i suoi punti di forza e le sue cautele. Il ruolo di interlocutore critico è particolarmente prezioso per mettere alla prova le nostre idee invece di confermarle. E assegnare un ruolo orienta il comportamento, non crea competenze. Domanda di verifica: avete una proposta da presentare alla direzione. Come potete usare l'AI in almeno tre ruoli diversi per migliorarla? Possibile risposta: revisore per chiarezza e coerenza, interlocutore critico per le obiezioni, supporto creativo per alternative di presentazione.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sottotema da comprendere bene. Dopo aver visto i ruoli possibili, analizziamo il processo: come si collabora con l'AI in un'attività, come si dividono i compiti, perché le capacità umane e quelle del sistema sono complementari, e perché la responsabilità sulla validazione e sull'uso del risultato resta della persona. Non anticipiamo la riprogettazione dei processi e dei ruoli organizzativi, trattata nei Temi 13 e 16: qui parliamo della collaborazione nel lavoro della singola persona.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C'è una differenza sostanziale tra ottenere una risposta e collaborare a un'attività. Nel primo caso si chiede, si riceve, si usa: l'AI è un fornitore di risultati. Nel secondo caso si lavora insieme su un obiettivo, in più passaggi, ciascuno contribuendo con ciò che sa fare meglio: la persona porta gli obiettivi, il contesto, il giudizio; il sistema porta velocità, ampiezza, capacità di generare e riorganizzare. Il risultato finale è il prodotto di questa combinazione, e spesso è migliore di ciò che ciascuno avrebbe ottenuto da solo. Due esempi sullo stesso compito, preparare un'analisi dei feedback dei clienti. Modalità 'risposta': si incollano i feedback e si chiede 'analizzali', poi si copia il risultato. Modalità 'collaborazione': la persona definisce le domande a cui l'analisi deve rispondere, il sistema propone una prima classificazione, la persona la corregge in base alla conoscenza dei prodotti, il sistema conta e sintetizza, la persona verifica alcuni casi e trae le conclusioni. Il secondo modo richiede più impegno, ma produce un'analisi più affidabile e utile, di cui la persona è davvero padrona.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Collaborare significa anche decidere chi fa che cosa. Possiamo scomporre una tipica attività di lavoro intellettuale in fasi e chiederci, per ciascuna, quale contributo può dare l'AI e quale resta alla persona. La tabella ne propone un esempio indicativo. Definire l'obiettivo e i criteri di qualità: è un compito della persona; l'AI può aiutare con domande, come abbiamo visto. Raccogliere e organizzare le informazioni: l'AI è un supporto efficace, la persona sceglie le fonti e ne verifica la pertinenza. Produrre una prima versione: qui l'AI dà spesso il contributo maggiore, su indicazione della persona. Rivedere e migliorare: lavoro congiunto, con l'AI come revisore e interlocutore critico e la persona che decide quali modifiche accettare. Validare e decidere l'uso: compito esclusivo della persona, che ne porta la responsabilità. Il messaggio è che l'AI tende a contribuire di più nelle fasi centrali, mentre l'inizio, cioè gli obiettivi, e la fine, cioè la validazione, restano saldamente umani.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Perché la collaborazione può dare risultati migliori di ciascuno dei due da solo? Perché persona e sistema hanno capacità diverse e complementari. Il sistema AI è veloce, può elaborare grandi quantità di testo in pochi secondi, ha una conoscenza ampia anche se non sempre precisa, genera molte alternative, non si stanca, è costante nello stile e disponibile in ogni momento. La persona conosce il contesto reale, l'organizzazione, le persone, la storia, i vincoli non scritti; ha competenze di dominio e esperienza; sa giudicare che cosa è rilevante e che cosa no; comprende le conseguenze delle scelte; ha valori, responsabilità e la capacità di decidere; e sa accorgersi quando qualcosa non torna. La collaborazione funziona quando ciascuno porta ciò che sa fare meglio. Funziona male quando si chiede all'AI di fare ciò che solo la persona può fare, come decidere obiettivi o giudicare l'adeguatezza al contesto, oppure quando la persona si limita a fare ciò che l'AI farebbe meglio, rinunciando al suo valore aggiunto.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Uno dei modi più comuni di collaborare con l'AI riguarda i contenuti: testi, presentazioni, analisi, piani. Possiamo vederla come un ciclo in cui persona e sistema si alternano. La persona imposta: obiettivo, pubblico, punti chiave, materiali. L'AI produce una prima versione. La persona valuta e commenta: che cosa funziona, che cosa manca, che cosa è sbagliato. L'AI rivede secondo le indicazioni, oppure propone a sua volta osservazioni critiche, nel ruolo di revisore. La persona decide e rifinisce, e alla fine valida. Il ciclo può anche partire dalla persona: si scrive una propria bozza e si chiede all'AI di rivederla, migliorarla o metterla alla prova. Questo secondo modo ha un vantaggio importante: il pensiero di partenza è della persona, e l'AI lo arricchisce invece di sostituirlo. È spesso la scelta migliore quando il contenuto deve esprimere una posizione personale o una competenza specifica, o quando conta mantenere e sviluppare le proprie capacità, come vedremo nel 5.7.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collaborazione con l'AI non serve solo a produrre più velocemente: può migliorare la qualità del ragionamento e delle decisioni. È il senso dell'integrazione C, che ritroviamo qui. Alcuni esempi concreti. Prima di una decisione, chiedere all'AI di elencare i criteri che potrebbero essere rilevanti, per verificare di non averne dimenticato qualcuno. Chiedere di confrontare le opzioni secondo quei criteri, evidenziando i compromessi. Chiedere quali informazioni potrebbero far cambiare la valutazione. Chiedere gli argomenti contrari alla scelta che si sta per fare. Chiedere di riformulare il proprio ragionamento in modo strutturato, per individuarne i punti deboli. In tutti questi casi l'AI non decide: amplia e struttura il campo di ciò che la persona considera. Le persone tendono a valutare le opzioni che vengono loro in mente per prime e a cercare conferme; un interlocutore che propone sistematicamente criteri, alternative e obiezioni aiuta a contrastare queste tendenze. Il beneficio non si vede nella velocità, ma nella qualità e nella solidità della decisione.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elementi rendono possibile una buona collaborazione, e uno la chiude. Le competenze professionali: senza conoscenza del dominio non si sa che cosa chiedere, non si riconoscono gli errori, non si sa quali suggerimenti accettare. L'AI amplifica le competenze di chi la usa, ma non le sostituisce: nelle mani di un esperto è uno strumento potente, nelle mani di chi non conosce l'argomento può diventare una fonte di errori non riconosciuti. Il contesto: obiettivi, vincoli, pubblico, storia, persone coinvolte. Il sistema lo conosce solo nella misura in cui gli viene fornito, ed è la persona a doverlo portare nella collaborazione. E infine la responsabilità: qualunque sia stato il contributo dell'AI, la validazione e l'uso del risultato finale spettano alla persona. È lei che decide se il risultato è adeguato, se va corretto, se può essere inviato, presentato, usato per decidere. Riprendiamo un principio già incontrato nel Tema 3: 'l'ha scritto l'AI' non è una giustificazione. Le procedure di verifica degli output saranno sviluppate nel Tema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Collaborare è diverso dall'ottenere una risposta: si suddividono le fasi, si combinano capacità complementari, si alternano produzione e revisione. La collaborazione può migliorare non solo la velocità, ma la qualità del ragionamento e delle decisioni. Le competenze e il contesto della persona sono la condizione per una buona collaborazione, e la responsabilità finale resta sua. Domanda di verifica: scegliete un'attività ricorrente del vostro lavoro. Quali fasi affidereste all'AI, quali terreste per voi, e perché?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sottotema da comprendere bene, il cui obiettivo è la consapevolezza decisionale. Nel 5.4 abbiamo parlato della distribuzione del lavoro; qui parliamo del grado di autonomia che affidiamo al sistema. Proponiamo una scala di livelli di delega, dal semplice uso informativo all'esecuzione con maggiore autonomia. Una nota didattica importante, indicata dal documento di perimetro: i livelli sono una classificazione illustrativa, non uno standard tecnico, e non sono una progressione obbligatoria. Non bisogna arrivare all'ultimo livello: bisogna scegliere quello adatto. La progettazione di agenti e workflow sarà trattata nel Tema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i cinque livelli. Primo, l'AI come strumento informativo: fornisce informazioni e spiegazioni, la persona le usa come vuole. Secondo, l'AI come supporto e suggeritore: propone idee, opzioni, correzioni; la persona sceglie e realizza. Terzo, l'AI come collaboratore nella produzione: produce parti significative del risultato, come bozze o analisi, che la persona rivede, integra e valida. Quarto, la delega con supervisione: l'AI svolge un'attività per intero, e la persona controlla il risultato prima che venga usato. Quinto, l'esecuzione con maggiore autonomia entro vincoli e autorizzazioni: l'AI svolge attività, anche in più passaggi e con azioni concrete, entro limiti definiti; la persona stabilisce i vincoli, monitora e interviene su eccezioni. Ripetiamo la nota didattica: è una classificazione illustrativa, utile per ragionare, non uno standard tecnico. E non è una scala di maturità: un uso al primo livello non è 'meno evoluto' di uno al quinto. Per molte attività, il livello più adatto è proprio il secondo o il terzo.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tabella dettaglia, per ciascun livello, il ruolo dell'AI, il ruolo della persona e un esempio. Al primo livello, l'AI spiega e la persona interpreta e decide come usare le informazioni: per esempio, capire le novità di una normativa prima di leggere il testo ufficiale. Al secondo, l'AI suggerisce e la persona sceglie: per esempio, alcune formulazioni alternative per un paragrafo difficile. Al terzo, l'AI produce e la persona rivede e integra: per esempio, una bozza di relazione da completare. Al quarto, l'AI esegue e la persona controlla ogni risultato: per esempio, le risposte alle richieste standard dei clienti, verificate prima dell'invio. Al quinto, l'AI agisce entro vincoli e la persona definisce i limiti, monitora e gestisce le eccezioni: per esempio, lo smistamento automatico delle richieste in arrivo, con controlli a campione. Si noti come cambia il ruolo della persona: da chi usa le informazioni, a chi sceglie, a chi rivede, a chi controlla, a chi definisce le regole e supervisiona.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documento di perimetro chiede di distinguere quattro concetti, che spesso si confondono. Assistenza: l'AI aiuta la persona a svolgere un'attività che resta sua; corrisponde ai primi due livelli. Collaborazione: persona e AI contribuiscono insieme al risultato, alternandosi; corrisponde soprattutto al terzo livello. Delega: la persona affida all'AI lo svolgimento di un'attività intera, mantenendo la responsabilità del risultato e, di norma, il controllo; corrisponde al quarto e, con più autonomia, al quinto livello. Automazione: l'attività si svolge in modo ricorrente senza l'intervento della persona per ogni singolo caso, secondo regole e vincoli definiti in anticipo; è il quinto livello applicato in modo sistematico. La differenza non riguarda solo quanto lavoro svolge l'AI, ma dove si colloca la persona: dentro l'attività, accanto, sopra, o a monte, nella definizione delle regole. Ricordiamo che nel Tema 4 abbiamo visto chatbot, assistenti, agenti e automazioni come categorie di sistemi; qui stiamo parlando del modo in cui la persona decide di usarli.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crescere dell'autonomia del sistema, il ruolo della persona non scompare: cambia. Nei livelli bassi la persona è esecutrice, e usa l'AI come uno strumento: le competenze richieste sono quelle tradizionali del proprio lavoro, più la capacità di usare bene lo strumento. Nei livelli intermedi la persona diventa revisore ed editor: deve saper valutare, correggere e integrare il lavoro dell'AI, il che richiede competenza di dominio almeno pari a quella necessaria per svolgere l'attività. Nei livelli alti la persona diventa supervisore e progettista: deve definire obiettivi, regole, vincoli e controlli, monitorare l'andamento, riconoscere le anomalie e intervenire sulle eccezioni. Due osservazioni. Primo: la supervisione è un'attività impegnativa, non un riposo; richiede attenzione proprio quando il sistema funziona bene, che è il momento in cui è più facile distrarsi, come vedremo parlando di automation bias. Secondo: per supervisionare bene un'attività bisogna saperla fare. Se delegando completamente si perdono le competenze, si perde anche la capacità di controllare; è un legame tra 5.5 e 5.7 che vale la pena sottolineare.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responsabilità del risultato resta sempre della persona e dell'organizzazione, a qualunque livello. Ciò che cambia è la forma del controllo. Ai primi livelli il controllo è diretto: la persona valuta ogni informazione o suggerimento prima di usarlo. Al terzo livello è un controllo di revisione: la persona rilegge e valida il risultato complessivo, con particolare attenzione alle parti prodotte dall'AI. Al quarto livello è un controllo sistematico: ogni risultato viene verificato prima dell'uso, e servono criteri chiari per decidere che cosa è accettabile. Al quinto livello è un controllo progettato: vincoli e autorizzazioni definiti in anticipo, per esempio quali azioni il sistema può compiere e quali richiedono conferma, controlli a campione, monitoraggio, gestione delle eccezioni, possibilità di interrompere. Più alto è il livello, più il controllo deve essere progettato prima, e non può essere improvvisato dopo. Un principio utile: deve essere sempre chiaro chi risponde del risultato, e chi ne risponde deve avere i mezzi per controllarlo. La definizione organizzativa di ruoli e responsabilità è trattata nei Temi 13, 16 e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si sceglie il livello di delega? Il concetto chiave del sottotema indica quattro fattori, che riprendono quanto visto nel Tema 3. Il compito: quanto è strutturato, ripetitivo, verificabile? Compiti ben definiti e facili da controllare si prestano a livelli più alti. Le capacità del sistema: quanto è affidabile, per quel compito specifico, nelle nostre condizioni? I rischi: quali sono le conseguenze di un errore, quanto sono gravi, reversibili, rilevabili, e chi le subisce? I controlli disponibili: possiamo verificare i risultati, con quali risorse e competenze? Il livello adeguato è quello compatibile con tutti e quattro. E c'è un messaggio da sottolineare con forza: una maggiore autonomia non determina automaticamente risultati migliori. Delegare di più può far risparmiare tempo, ma può anche moltiplicare gli errori, ridurre la qualità, far perdere competenze e controllo. Livelli maggiori di automazione non sono un traguardo da perseguire indiscriminatamente. Per molte attività di lavoro intellettuale, la collaborazione al terzo livello è la scelta che offre il miglior equilibrio tra beneficio e controllo.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Cinque livelli illustrativi: strumento informativo, suggeritore, collaboratore, delega supervisionata, autonomia entro vincoli. Assistenza, collaborazione, delega e automazione sono modalità diverse, in cui la persona si colloca in posizioni diverse. Al crescere dell'autonomia il ruolo umano si sposta dall'esecuzione alla supervisione, e il controllo deve essere progettato in anticipo. La responsabilità resta sempre umana. E più autonomia non è un traguardo in sé. Domanda di verifica: per un'attività del vostro lavoro, a quale livello di delega la affidereste oggi? Che cosa dovrebbe cambiare per salire di un livello, e ne varrebbe la pena?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Spesso, quando si parla di AI, l'attenzione è tutta sullo strumento: quale modello è il migliore, quale funzione è nuova. Questo sottotema sposta l'attenzione sull'altro protagonista: la persona. A parità di strumento, persone diverse ottengono risultati molto diversi. Vediamo quali capacità e atteggiamenti fanno la differenza, e la distinzione tra uso passivo e uso attivo dell'AI. Il sottotema descrive il contributo delle competenze; nel 5.7 vedremo il rischio che queste competenze si indeboliscano.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documento di perimetro indica otto fattori. Chiarezza degli obiettivi: sapere che cosa si vuole ottenere e a che cosa servirà il risultato. Comprensione del problema: aver capito la natura della questione, non solo la sua superficie. Conoscenza del contesto: pubblico, vincoli, storia, persone coinvolte. Competenze professionali e conoscenza del dominio: la base per chiedere bene e valutare bene. Capacità di porre domande pertinenti: sapere che cosa chiedere, e come proseguire il dialogo. Capacità di interpretare i risultati: capire che cosa il sistema ha prodotto, che cosa significa, quanto è affidabile. Feedback e correzione: saper indicare con precisione che cosa non va e come migliorarlo. Utilizzo attivo invece che passivo: partecipare alla costruzione del risultato invece di limitarsi a riceverlo. Notate che nessuno di questi fattori riguarda la conoscenza tecnica dello strumento: sono competenze professionali e cognitive generali, che valgono con qualsiasi sistema, e che la AI Literacy contribuisce a sviluppare.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primi due fattori lavorano a monte dell'interazione. Senza obiettivi chiari, il sistema produce risultati generici, e soprattutto non abbiamo un criterio per valutarli: come capire se un testo va bene, se non sappiamo a chi è destinato e che cosa deve ottenere? Senza comprensione del problema, rischiamo di chiedere la soluzione sbagliata: per esempio di chiedere come scrivere una comunicazione più persuasiva, quando il problema è che la comunicazione arriva alle persone sbagliate. L'esempio in slide mette a confronto due modi di affrontare la stessa situazione. Nel primo, l'obiettivo è vago: 'scrivimi qualcosa sul nuovo servizio'. Nel secondo, la persona sa che cosa vuole ottenere: che i clienti attuali capiscano in che cosa il nuovo servizio cambia le loro abitudini e si iscrivano alla presentazione. Con il secondo obiettivo, sia la richiesta sia la valutazione del risultato diventano molto più facili. Non si tratta di tecnica di formulazione, che vedremo nel Tema 6, ma di chiarezza di pensiero: prima di chiedere all'AI, chiedersi che cosa si vuole davvero ottenere. E, come abbiamo visto nel 5.2, quando non lo si sa ancora, il dialogo stesso può aiutare a scoprirlo.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contesto e le competenze di dominio sono probabilmente i fattori più decisivi. Il contesto è ciò che il sistema non può sapere se non glielo diciamo: chi è il cliente, che cosa è successo nell'ultimo incontro, quali sono le priorità dell'azienda in questo periodo, quali sensibilità vanno rispettate. Una persona che conosce il contesto e lo porta nella conversazione ottiene risultati pertinenti; una persona che non lo conosce, o non lo condivide, ottiene risultati generici. Le competenze di dominio agiscono in due momenti. Prima: chi conosce l'argomento sa quali aspetti sono rilevanti, quali domande porre, quali informazioni fornire. Dopo: chi conosce l'argomento riconosce un errore, un'omissione, una semplificazione eccessiva, e sa quali suggerimenti accettare e quali scartare. È per questo che lo stesso strumento, nelle mani di un esperto e di un principiante, produce risultati di qualità molto diversa, e soprattutto con un rischio molto diverso di errori non riconosciuti. Il principiante può ottenere un testo che sembra ottimo, ma non ha modo di sapere se lo è. La conclusione pratica: l'AI non rende superflua la competenza; la rende più importante, perché è la competenza a trasformare un risultato plausibile in un risultato affidabile.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capacità operano durante l'interazione. Porre domande pertinenti: non solo la richiesta iniziale, ma le domande successive che approfondiscono, chiariscono, mettono in discussione. Per esempio: 'su che cosa si basa questa conclusione?', 'quali casi non rientrano in questa regola?', 'che cosa cambierebbe se il budget fosse la metà?'. Interpretare i risultati: capire che cosa il sistema ha prodotto, distinguere ciò che è solido da ciò che è incerto, accorgersi di quando la risposta è generica o elude la domanda, riconoscere le assunzioni implicite. Dare feedback e correzioni precise: un feedback generico come 'non va bene, rifallo' produce di solito un risultato diverso ma non necessariamente migliore; un feedback specifico, come 'il secondo paragrafo è troppo tecnico per il pubblico, e manca il riferimento alla scadenza', permette al sistema di correggere davvero. È la stessa abilità che serve per guidare il lavoro di un collaboratore. Queste tre capacità si sviluppano con la pratica e con la riflessione su ciò che funziona. Le tecniche specifiche di formulazione e affinamento delle richieste saranno sviluppate nel Tema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Tutti i fattori visti convergono in una distinzione di atteggiamento: utilizzo passivo e utilizzo attivo dell'AI. Nell'utilizzo passivo, la persona fa una richiesta, riceve una risposta e la usa così com'è. Non porta contesto, non mette in discussione, non verifica, non personalizza. Il risultato è generico, e il rischio di errori non riconosciuti è alto. Nell'utilizzo attivo, la persona parte da obiettivi chiari, porta il contesto, dialoga, mette in discussione, confronta con ciò che sa, corregge, integra, verifica e decide. Il risultato è pertinente, e la persona ne è davvero padrona. Il confronto in tabella sintetizza le differenze. È importante sottolineare che l'utilizzo attivo richiede più impegno, almeno all'inizio, ma produce risultati migliori, riduce gli errori, e mantiene e sviluppa le competenze della persona, invece di eroderle. È anche ciò che distingue chi trae un vantaggio reale dall'AI da chi ottiene risultati mediocri e conclude che 'non serve'. Domanda per il gruppo: nel vostro uso quotidiano, siete più vicini all'utilizzo passivo o a quello attivo?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La qualità della collaborazione dipende da otto fattori che riguardano la persona: obiettivi, comprensione del problema, contesto, competenze di dominio, domande, interpretazione, feedback, atteggiamento attivo. Lo stesso strumento dà risultati molto diversi in mani diverse, e la competenza diventa più importante, non meno, perché è ciò che permette di riconoscere un risultato inadeguato. Domanda di verifica: in quale ambito del vostro lavoro vi sentite abbastanza competenti da riconoscere un errore dell'AI? E in quale no? Che cosa ne consegue per il modo in cui la usate in ciascun ambito?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Ultimo sottotema, il cui obiettivo è la consapevolezza critica. La naturalezza della conversazione è il grande punto di forza dei sistemi AI, ma porta con sé rischi specifici, di natura relazionale e cognitiva: attribuire al sistema qualità umane, fidarsi troppo, accettare passivamente, delegare il pensiero fino a indebolire le proprie capacità. Non ripetiamo l'analisi tecnica di allucinazioni e bias del Tema 3, né le procedure di verifica, che saranno oggetto del Tema 7: ci concentriamo sulle dinamiche dell'interazione e sui loro effetti su di noi.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 Tema 2 abbiamo incontrato l'effetto ELIZA: la tendenza ad attribuire comprensione e qualità umane a un sistema che produce linguaggio in modo convincente. Qui guardiamo le conseguenze di questa tendenza nella relazione quotidiana. I sistemi conversazionali usano un linguaggio caldo e personale, ricordano ciò che abbiamo detto, si scusano, si complimentano, esprimono comprensione; con la voce, l'effetto è ancora più forte. È facile percepire tre cose che non ci sono. La comprensione: la sensazione che il sistema abbia capito davvero la nostra situazione, quando ha elaborato le parole che abbiamo scritto. L'empatia: la sensazione che partecipi ai nostri stati d'animo, quando produce espressioni appropriate al contesto. L'intenzionalità: la sensazione che voglia aiutarci, che abbia scopi o opinioni proprie. Queste percezioni non sono stupide: sono la reazione naturale di esseri sociali a un comportamento linguistico molto simile a quello umano. Ma hanno conseguenze: aumentano la fiducia oltre il dovuto, possono portare a condividere informazioni personali o riservate con troppa leggerezza, e in alcuni casi a cercare nel sistema un sostegno emotivo che non può dare. Riconoscere queste percezioni in noi stessi è il primo passo per gestirle.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interlocutore che risponde sempre, con sicurezza, in modo fluente e competente, e che spesso ha ragione, induce fiducia. È un meccanismo comprensibile, ma porta a due rischi collegati. La fiducia eccessiva: attribuire al sistema un'affidabilità superiore a quella reale, generalizzando dalle volte in cui ha funzionato bene a tutte le situazioni. Come abbiamo visto nel Tema 3, l'affidabilità varia molto da compito a compito, e un sistema eccellente in un'attività può sbagliare in un'altra apparentemente simile. L'accettazione passiva: smettere di valutare le risposte e limitarsi a usarle, per abitudine, per mancanza di tempo, o perché metterle in discussione sembra superfluo. Accade soprattutto quando le risposte sono lunghe e ben strutturate, quando l'argomento non ci è familiare, quando abbiamo fretta. I due rischi si alimentano a vicenda: più ci fidiamo, meno controlliamo; meno controlliamo, meno ci accorgiamo degli errori; meno errori notiamo, più ci fidiamo. È un circolo da interrompere intenzionalmente. Lo schema in slide lo rappresenta.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L'automation bias, o pregiudizio di automazione, è la tendenza a privilegiare i suggerimenti di un sistema automatizzato anche senza un'adeguata verifica, talvolta anche quando contrastano con altre informazioni disponibili o con il proprio giudizio. È stato studiato per decenni, molto prima dell'AI generativa, in settori come l'aviazione, la medicina e il controllo industriale, dove si è osservato che gli operatori tendono a seguire le indicazioni dei sistemi automatici e a ridurre il proprio monitoraggio. Una sintesi nota è quella di Raja Parasuraman e Dietrich Manzey, pubblicata nel 2010. Si manifesta in due forme. Errori di commissione: seguire un suggerimento sbagliato del sistema, per esempio accettare una classificazione errata. Errori di omissione: non accorgersi di un problema perché il sistema non lo ha segnalato, per esempio dare per completo un riassunto che omette un punto importante. L'automation bias è più forte quando il sistema è generalmente affidabile, quando il carico di lavoro è alto e quando la persona ha poca esperienza. Non dipende da superficialità individuale: è una tendenza cognitiva comune, che si contrasta con la consapevolezza e con abitudini di controllo. Non approfondiamo i modelli psicologici della fiducia nell'automazione, che vanno solo accennati.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integrazione del sottotema affronta il tema forse più importante per il lungo periodo. Per delega cognitiva intendiamo affidare all'AI attività mentali: ricordare, sintetizzare, scrivere, ragionare, valutare, decidere. Di per sé non è un male: deleghiamo attività mentali agli strumenti da sempre, alla scrittura, alla calcolatrice, al navigatore, e questo ci ha liberato tempo e attenzione per altro. Anche con l'AI, delegare una sintesi o una prima bozza può liberare energie per ciò che conta di più. Diventa problematica quando riduce la capacità di comprendere, verificare e decidere autonomamente. Alcuni segnali: non riuscire più a scrivere un testo senza il supporto dell'AI; usare risultati che non si saprebbero spiegare o difendere; smettere di ragionare su un problema prima di chiedere; non essere più in grado di accorgersi degli errori del sistema. Una ricerca di Microsoft Research e Carnegie Mellon presentata nel 2025 (Lee e colleghi), basata su un'indagine tra 319 lavoratori della conoscenza, ha osservato che una maggiore fiducia nell'AI generativa si associava a un minore impegno di pensiero critico, mentre una maggiore fiducia nelle proprie capacità si associava a un pensiero critico maggiore. È un'indagine basata su autovalutazioni, non una prova definitiva, ma il segnale è coerente con quanto abbiamo visto: il rischio non è usare l'AI, ma smettere di pensare mentre la si usa.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L'ultimo rischio è la dipendenza: la difficoltà a svolgere attività, o a prendere decisioni, senza il supporto dell'AI. Una certa dipendenza dagli strumenti è normale e accettabile; diventa un problema quando ci rende vulnerabili, per esempio se lo strumento non è disponibile, cambia comportamento, o sbaglia senza che ce ne accorgiamo, oppure quando riduce le competenze di cui l'organizzazione ha bisogno. Come preservare autonomia cognitiva, giudizio e responsabilità? Alcune pratiche concrete, raccolte in slide. Pensare prima di chiedere: farsi un'idea propria, anche sommaria, prima di consultare l'AI, così da avere un termine di confronto. Usare l'AI per mettere alla prova il proprio pensiero, non solo per sostituirlo, come abbiamo visto nel ruolo di interlocutore critico. Mantenere la pratica: continuare a svolgere personalmente, almeno in parte, le attività che sono centrali per il proprio ruolo e la propria crescita. Saper spiegare: non usare risultati che non si saprebbero spiegare o difendere. Verificare con proporzione. Decidere in prima persona: l'AI propone, la persona decide. Queste pratiche non riducono il valore dell'AI: lo rendono sostenibile nel tempo.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dell'ultimo sottotema. La naturalezza della conversazione induce a percepire comprensione, empatia e intenzionalità, e a fidarsi oltre il dovuto. Fiducia eccessiva, accettazione passiva e automation bias si alimentano a vicenda. La delega cognitiva può liberare energie, ma diventa un rischio quando riduce la capacità di comprendere, verificare e decidere, e può portare a una dipendenza che indebolisce le competenze. Preservare autonomia cognitiva e responsabilità richiede pratiche intenzionali. Domanda di verifica: quale delle pratiche della slide precedente vi impegnate ad adottare da domani? Chiedere a ciascun partecipante di sceglierne una.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Torniamo alle dieci domande guida con una risposta sintetica. Il linguaggio naturale come interfaccia: dal come al che cosa, più accessibilità ma più ambiguità. Perché un dialogo: perché la qualità si costruisce in più scambi. L'AI che pone domande: aiuta a chiarire esigenze, assunzioni e informazioni mancanti. Ruoli e competenze: molti ruoli possibili, ma il ruolo assegnato non crea competenze. Collaborazione efficace: capacità complementari, fasi ben distribuite, validazione umana. Supporto, collaborazione, delega, autonomia: livelli diversi, da scegliere in base a compito, sistema, rischi e controlli. Competenze personali: obiettivi, contesto, dominio, domande, interpretazione, feedback, atteggiamento attivo. Mettere alla prova un'ipotesi: chiedere obiezioni, alternative, assunzioni nascoste. Rischi: antropomorfizzazione, fiducia eccessiva, automation bias. Autonomia e responsabilità: pensare prima di chiedere, mantenere la pratica, decidere in prima persona. Suggerimento: far rispondere i partecipanti prima di mostrare la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Riassumiamo i dieci risultati attesi. Il partecipante dovrebbe essere in grado di: comprendere caratteristiche e limiti delle interfacce conversazionali; distinguere una richiesta isolata da un dialogo progressivo; riconoscere i diversi ruoli che un sistema AI può svolgere; comprendere come distribuire le attività tra persona e AI; distinguere assistenza, collaborazione, delega ed esecuzione autonoma; riconoscere il contributo delle competenze personali alla qualità dei risultati; usare l'AI per esplorare controargomentazioni e alternative; riconoscere i rischi di antropomorfizzazione e fiducia eccessiva; comprendere opportunità e limiti della delega cognitiva; preservare il ruolo attivo della persona nella valutazione dei risultati e nelle decisioni.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per i temi precedenti, traduciamo il modulo in uno strumento pratico: otto principi per un dialogo consapevole con l'AI, da distribuire o da tenere a portata di mano. Sapere che cosa si vuole ottenere, e se non lo si sa, usare il dialogo per scoprirlo. Portare il contesto: il sistema conosce solo ciò che gli diciamo. Dialogare invece di accontentarsi della prima risposta. Scegliere il ruolo dell'AI adatto al momento, ricordando che il ruolo non crea competenze. Chiedere anche critiche e alternative, non solo conferme. Scegliere consapevolmente il livello di delega, in base al compito e ai rischi. Ricordare che la naturalezza della conversazione non rende il sistema una persona, né le sue risposte vere. Pensare con la propria testa e decidere in prima persona: l'AI amplifica, non sostituisce. È il messaggio centrale del tema: costruire una collaborazione in cui la tecnologia amplifica le capacità umane senza sostituire giudizio, competenze e responsabilità.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Chiudiamo con sei errori tipici nel rapporto con un assistente AI, uno per ciascuno dei principali messaggi del modulo. Primo: 'basta chiederlo a parole'. Il linguaggio naturale rende l'AI accessibile, ma resta ambiguo: obiettivi e contesto restano responsabilità di chi chiede. Secondo: 'la prima risposta va bene'. Il risultato migliora con il dialogo; spesso il problema è aver interrotto la conversazione troppo presto. Terzo: 'se gli dico che è un esperto, lo diventa'. Il ruolo orienta tono e prospettiva, ma non conferisce competenze. Quarto: 'più delego, meglio è'. Il livello di delega va scelto in base al compito, alle capacità del sistema, ai rischi e ai controlli disponibili. Quinto: 'lo strumento fa tutto da solo'. La qualità del risultato dipende anche da obiettivi, competenze e feedback della persona. Sesto: 'mi capisce, quindi ha ragione'. La naturalezza della conversazione non equivale a comprensione, intenzionalità o affidabilità. Suggerimento: chiedere ai partecipanti in quale di questi errori si sono riconosciuti più spesso.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percorso prosegue con il Tema 6, dedicato al prompting e alle tecniche di interazione. In questo modulo abbiamo più volte rimandato al Tema 6 le tecniche operative: come formulare una richiesta efficace, come fornire contesto ed esempi, come assegnare ruoli e formati, come perfezionare progressivamente le richieste. Ora che abbiamo chiarito il senso del dialogo, i ruoli dell'AI, la collaborazione, i livelli di delega e l'importanza del contributo della persona, possiamo passare agli strumenti pratici con le giuste premesse: il prompting non è una formula magica, ma il modo concreto di esercitare quel ruolo attivo di cui abbiamo parlato. Più avanti, il Tema 7 sarà dedicato alla verifica degli output e al pensiero critico. Lasciare spazio alle domande finali. Slide facoltativa: se il modulo è presentato da solo o in una selezione di slide, può essere nascosta o tolta senza perdere nulla del contenuto.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principali fonti citate nel modulo. La ricerca sugli effetti dell'AI generativa sul pensiero critico e sull'apprendimento è in rapida evoluzione: prima di ogni edizione è consigliabile verificare se sono disponibili studi più recenti o più solidi da citare. Lo studio di Lee e colleghi è un'indagine su 319 lavoratori della conoscenza, basata su dati autodichiarati: va presentato come indicazione, non come misura oggettiva degli effetti. DOI dello studio, da verificare: 10.1145/3706598.3713778. Fonti verificate a ottobre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OLO">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097280"/>
            <a:ext cx="7863840" cy="365760"/>
          </a:xfrm>
          <a:prstGeom prst="rect">
            <a:avLst/>
          </a:prstGeom>
          <a:noFill/>
          <a:ln/>
        </p:spPr>
        <p:txBody>
          <a:bodyPr wrap="square" rtlCol="0"/>
          <a:lstStyle>
            <a:lvl1pPr indent="0" marL="0">
              <a:buNone/>
              <a:defRPr lang="en-US" sz="1300" b="1" spc="200" kern="0" dirty="0">
                <a:solidFill>
                  <a:schemeClr val="accent1"/>
                </a:solidFill>
              </a:defRPr>
            </a:lvl1pPr>
          </a:lstStyle>
          <a:p>
            <a:pPr indent="0" marL="0">
              <a:buNone/>
            </a:pPr>
            <a:endParaRPr lang="en-US" sz="1300" dirty="0"/>
          </a:p>
        </p:txBody>
      </p:sp>
      <p:sp>
        <p:nvSpPr>
          <p:cNvPr id="3" name="Text 0"/>
          <p:cNvSpPr/>
          <p:nvPr>
            <p:ph idx="101" type="title" hasCustomPrompt="1"/>
          </p:nvPr>
        </p:nvSpPr>
        <p:spPr>
          <a:xfrm>
            <a:off x="640080" y="1554480"/>
            <a:ext cx="7863840" cy="14630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Text 0"/>
          <p:cNvSpPr/>
          <p:nvPr>
            <p:ph idx="102" type="body" hasCustomPrompt="1"/>
          </p:nvPr>
        </p:nvSpPr>
        <p:spPr>
          <a:xfrm>
            <a:off x="640080" y="3154680"/>
            <a:ext cx="7863840" cy="82296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ZIONE">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rtlCol="0"/>
          <a:lstStyle>
            <a:lvl1pPr indent="0" marL="0">
              <a:buNone/>
              <a:defRPr lang="en-US" sz="6000" b="1" dirty="0">
                <a:solidFill>
                  <a:schemeClr val="accent1"/>
                </a:solidFill>
              </a:defRPr>
            </a:lvl1pPr>
          </a:lstStyle>
          <a:p>
            <a:pPr indent="0" marL="0">
              <a:buNone/>
            </a:pP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
        <p:nvSpPr>
          <p:cNvPr id="5" name="Text 0"/>
          <p:cNvSpPr/>
          <p:nvPr/>
        </p:nvSpPr>
        <p:spPr>
          <a:xfrm>
            <a:off x="640080" y="466344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AI Literacy  ·  Tema 5  ·  Il dialogo uomo-AI</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457200" y="4754880"/>
            <a:ext cx="6400800" cy="228600"/>
          </a:xfrm>
          <a:prstGeom prst="rect">
            <a:avLst/>
          </a:prstGeom>
          <a:noFill/>
          <a:ln/>
        </p:spPr>
        <p:txBody>
          <a:bodyPr wrap="square" lIns="0" tIns="0" rIns="0" bIns="0" rtlCol="0" anchor="ctr"/>
          <a:lstStyle/>
          <a:p>
            <a:pPr indent="0" marL="0">
              <a:buNone/>
            </a:pPr>
            <a:r>
              <a:rPr lang="en-US" sz="900" dirty="0">
                <a:solidFill>
                  <a:schemeClr val="accent2"/>
                </a:solidFill>
              </a:rPr>
              <a:t>AI Literacy  ·  Tema 5  ·  Il dialogo uomo-AI</a:t>
            </a:r>
            <a:endParaRPr lang="en-US" sz="9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HIAVE">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822960" y="1143000"/>
            <a:ext cx="5486400" cy="320040"/>
          </a:xfrm>
          <a:prstGeom prst="rect">
            <a:avLst/>
          </a:prstGeom>
          <a:noFill/>
          <a:ln/>
        </p:spPr>
        <p:txBody>
          <a:bodyPr wrap="square" lIns="0" tIns="0" rIns="0" bIns="0" rtlCol="0" anchor="ctr"/>
          <a:lstStyle/>
          <a:p>
            <a:pPr indent="0" marL="0">
              <a:buNone/>
            </a:pPr>
            <a:r>
              <a:rPr lang="en-US" sz="1300" b="1" spc="300" kern="0" dirty="0">
                <a:solidFill>
                  <a:schemeClr val="accent1"/>
                </a:solidFill>
              </a:rPr>
              <a:t>CONCETTO CHIAVE</a:t>
            </a:r>
            <a:endParaRPr lang="en-US" sz="1300" dirty="0"/>
          </a:p>
        </p:txBody>
      </p:sp>
      <p:sp>
        <p:nvSpPr>
          <p:cNvPr id="3" name="Text 1"/>
          <p:cNvSpPr/>
          <p:nvPr>
            <p:ph idx="101" type="body" hasCustomPrompt="1"/>
          </p:nvPr>
        </p:nvSpPr>
        <p:spPr>
          <a:xfrm>
            <a:off x="822960" y="1600200"/>
            <a:ext cx="7498080" cy="2011680"/>
          </a:xfrm>
          <a:prstGeom prst="rect">
            <a:avLst/>
          </a:prstGeom>
          <a:noFill/>
          <a:ln/>
        </p:spPr>
        <p:txBody>
          <a:bodyPr wrap="square" rtlCol="0"/>
          <a:lstStyle>
            <a:lvl1pPr indent="0" marL="0">
              <a:buNone/>
              <a:defRPr lang="en-US" sz="2600" dirty="0">
                <a:solidFill>
                  <a:schemeClr val="bg1"/>
                </a:solidFill>
              </a:defRPr>
            </a:lvl1pPr>
          </a:lstStyle>
          <a:p>
            <a:pPr indent="0" marL="0">
              <a:buNone/>
            </a:pPr>
            <a:endParaRPr lang="en-US" sz="2600" dirty="0"/>
          </a:p>
        </p:txBody>
      </p:sp>
      <p:sp>
        <p:nvSpPr>
          <p:cNvPr id="4" name="Text 1"/>
          <p:cNvSpPr/>
          <p:nvPr>
            <p:ph idx="102" type="body" hasCustomPrompt="1"/>
          </p:nvPr>
        </p:nvSpPr>
        <p:spPr>
          <a:xfrm>
            <a:off x="822960" y="3794760"/>
            <a:ext cx="7498080" cy="365760"/>
          </a:xfrm>
          <a:prstGeom prst="rect">
            <a:avLst/>
          </a:prstGeom>
          <a:noFill/>
          <a:ln/>
        </p:spPr>
        <p:txBody>
          <a:bodyPr wrap="square" rtlCol="0"/>
          <a:lstStyle>
            <a:lvl1pPr indent="0" marL="0">
              <a:buNone/>
              <a:defRPr lang="en-US" sz="1300" dirty="0">
                <a:solidFill>
                  <a:schemeClr val="accent3"/>
                </a:solidFill>
              </a:defRPr>
            </a:lvl1pPr>
          </a:lstStyle>
          <a:p>
            <a:pPr indent="0" marL="0">
              <a:buNone/>
            </a:pPr>
            <a:endParaRPr lang="en-US" sz="1300" dirty="0"/>
          </a:p>
        </p:txBody>
      </p:sp>
      <p:sp>
        <p:nvSpPr>
          <p:cNvPr id="5" name="Text 1"/>
          <p:cNvSpPr/>
          <p:nvPr/>
        </p:nvSpPr>
        <p:spPr>
          <a:xfrm>
            <a:off x="822960" y="466344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AI Literacy  ·  Tema 5  ·  Il dialogo uomo-AI</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4.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4.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4.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4.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4.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4.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4.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4.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4.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slideLayout" Target="../slideLayouts/slideLayout4.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4.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4.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slideLayout" Target="../slideLayouts/slideLayout4.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4.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4.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4.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4.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slideLayout" Target="../slideLayouts/slideLayout4.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4.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slideLayout" Target="../slideLayouts/slideLayout4.xml"/><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image" Target="../media/image-40-5.png"/><Relationship Id="rId6" Type="http://schemas.openxmlformats.org/officeDocument/2006/relationships/slideLayout" Target="../slideLayouts/slideLayout4.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slideLayout" Target="../slideLayouts/slideLayout4.xml"/><Relationship Id="rId6"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image" Target="../media/image-45-4.png"/><Relationship Id="rId5" Type="http://schemas.openxmlformats.org/officeDocument/2006/relationships/image" Target="../media/image-45-5.png"/><Relationship Id="rId6" Type="http://schemas.openxmlformats.org/officeDocument/2006/relationships/image" Target="../media/image-45-6.png"/><Relationship Id="rId7" Type="http://schemas.openxmlformats.org/officeDocument/2006/relationships/image" Target="../media/image-45-7.png"/><Relationship Id="rId8" Type="http://schemas.openxmlformats.org/officeDocument/2006/relationships/image" Target="../media/image-45-8.png"/><Relationship Id="rId9" Type="http://schemas.openxmlformats.org/officeDocument/2006/relationships/slideLayout" Target="../slideLayouts/slideLayout4.xml"/><Relationship Id="rId10"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4.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slideLayout" Target="../slideLayouts/slideLayout4.xml"/><Relationship Id="rId5"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slideLayout" Target="../slideLayouts/slideLayout4.xml"/><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image" Target="../media/image-52-3.png"/><Relationship Id="rId4" Type="http://schemas.openxmlformats.org/officeDocument/2006/relationships/slideLayout" Target="../slideLayouts/slideLayout4.xml"/><Relationship Id="rId5"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slideLayout" Target="../slideLayouts/slideLayout4.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slideLayout" Target="../slideLayouts/slideLayout4.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4.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image" Target="../media/image-56-3.png"/><Relationship Id="rId4" Type="http://schemas.openxmlformats.org/officeDocument/2006/relationships/image" Target="../media/image-56-4.png"/><Relationship Id="rId5" Type="http://schemas.openxmlformats.org/officeDocument/2006/relationships/image" Target="../media/image-56-5.png"/><Relationship Id="rId6" Type="http://schemas.openxmlformats.org/officeDocument/2006/relationships/image" Target="../media/image-56-6.png"/><Relationship Id="rId7" Type="http://schemas.openxmlformats.org/officeDocument/2006/relationships/slideLayout" Target="../slideLayouts/slideLayout4.xml"/><Relationship Id="rId8"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image" Target="../media/image-60-3.png"/><Relationship Id="rId4" Type="http://schemas.openxmlformats.org/officeDocument/2006/relationships/image" Target="../media/image-60-4.png"/><Relationship Id="rId5" Type="http://schemas.openxmlformats.org/officeDocument/2006/relationships/image" Target="../media/image-60-5.png"/><Relationship Id="rId6" Type="http://schemas.openxmlformats.org/officeDocument/2006/relationships/image" Target="../media/image-60-6.png"/><Relationship Id="rId7" Type="http://schemas.openxmlformats.org/officeDocument/2006/relationships/image" Target="../media/image-60-7.png"/><Relationship Id="rId8" Type="http://schemas.openxmlformats.org/officeDocument/2006/relationships/image" Target="../media/image-60-8.png"/><Relationship Id="rId9" Type="http://schemas.openxmlformats.org/officeDocument/2006/relationships/slideLayout" Target="../slideLayouts/slideLayout4.xml"/><Relationship Id="rId10"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image" Target="../media/image-61-3.png"/><Relationship Id="rId4" Type="http://schemas.openxmlformats.org/officeDocument/2006/relationships/image" Target="../media/image-61-4.png"/><Relationship Id="rId5" Type="http://schemas.openxmlformats.org/officeDocument/2006/relationships/image" Target="../media/image-61-5.png"/><Relationship Id="rId6" Type="http://schemas.openxmlformats.org/officeDocument/2006/relationships/image" Target="../media/image-61-6.png"/><Relationship Id="rId7" Type="http://schemas.openxmlformats.org/officeDocument/2006/relationships/slideLayout" Target="../slideLayouts/slideLayout4.xml"/><Relationship Id="rId8"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4.xml"/><Relationship Id="rId3"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40080" y="1097280"/>
            <a:ext cx="7863840" cy="365760"/>
          </a:xfrm>
          <a:prstGeom prst="rect">
            <a:avLst/>
          </a:prstGeom>
          <a:noFill/>
          <a:ln/>
        </p:spPr>
        <p:txBody>
          <a:bodyPr wrap="square" lIns="0" tIns="0" rIns="0" bIns="0" rtlCol="0"/>
          <a:lstStyle/>
          <a:p>
            <a:pPr indent="0" marL="0">
              <a:buNone/>
            </a:pPr>
            <a:r>
              <a:rPr lang="en-US" sz="1300" b="1" spc="200" kern="0" dirty="0">
                <a:solidFill>
                  <a:schemeClr val="accent1"/>
                </a:solidFill>
              </a:rPr>
              <a:t>PERCORSO AI LITERACY  ·  TEMA 5</a:t>
            </a:r>
            <a:endParaRPr lang="en-US" sz="1300" dirty="0"/>
          </a:p>
        </p:txBody>
      </p:sp>
      <p:sp>
        <p:nvSpPr>
          <p:cNvPr id="3" name="Text 0"/>
          <p:cNvSpPr/>
          <p:nvPr>
            <p:ph idx="101" type="title" hasCustomPrompt="1"/>
          </p:nvPr>
        </p:nvSpPr>
        <p:spPr>
          <a:xfrm>
            <a:off x="640080" y="1554480"/>
            <a:ext cx="7863840" cy="1463040"/>
          </a:xfrm>
          <a:prstGeom prst="rect">
            <a:avLst/>
          </a:prstGeom>
          <a:noFill/>
          <a:ln/>
        </p:spPr>
        <p:txBody>
          <a:bodyPr wrap="square" lIns="0" tIns="0" rIns="0" bIns="0" rtlCol="0" anchor="t"/>
          <a:lstStyle/>
          <a:p>
            <a:pPr algn="l" indent="0" marL="0">
              <a:buNone/>
            </a:pPr>
            <a:r>
              <a:rPr lang="en-US" sz="3600" b="1" dirty="0">
                <a:solidFill>
                  <a:schemeClr val="bg1"/>
                </a:solidFill>
              </a:rPr>
              <a:t>Il dialogo uomo-AI</a:t>
            </a:r>
            <a:endParaRPr lang="en-US" sz="3600" dirty="0"/>
          </a:p>
        </p:txBody>
      </p:sp>
      <p:sp>
        <p:nvSpPr>
          <p:cNvPr id="4" name="Text 0"/>
          <p:cNvSpPr/>
          <p:nvPr>
            <p:ph idx="102" type="body" hasCustomPrompt="1"/>
          </p:nvPr>
        </p:nvSpPr>
        <p:spPr>
          <a:xfrm>
            <a:off x="640080" y="3154680"/>
            <a:ext cx="7863840" cy="822960"/>
          </a:xfrm>
          <a:prstGeom prst="rect">
            <a:avLst/>
          </a:prstGeom>
          <a:noFill/>
          <a:ln/>
        </p:spPr>
        <p:txBody>
          <a:bodyPr wrap="square" lIns="0" tIns="0" rIns="0" bIns="0" rtlCol="0" anchor="t"/>
          <a:lstStyle/>
          <a:p>
            <a:pPr indent="0" marL="0">
              <a:buNone/>
            </a:pPr>
            <a:r>
              <a:rPr lang="en-US" sz="1600" dirty="0">
                <a:solidFill>
                  <a:schemeClr val="accent3"/>
                </a:solidFill>
              </a:rPr>
              <a:t>Area: Interagire con l'AI</a:t>
            </a:r>
            <a:endParaRPr lang="en-US" sz="1600" dirty="0"/>
          </a:p>
        </p:txBody>
      </p:sp>
      <p:sp>
        <p:nvSpPr>
          <p:cNvPr id="5" name="Text 3"/>
          <p:cNvSpPr txBox="1"/>
          <p:nvPr/>
        </p:nvSpPr>
        <p:spPr>
          <a:xfrm>
            <a:off x="640080" y="4343400"/>
            <a:ext cx="5486400" cy="274320"/>
          </a:xfrm>
          <a:prstGeom prst="rect">
            <a:avLst/>
          </a:prstGeom>
          <a:noFill/>
          <a:ln/>
        </p:spPr>
        <p:txBody>
          <a:bodyPr wrap="square" lIns="0" tIns="0" rIns="0" bIns="0" rtlCol="0" anchor="t"/>
          <a:lstStyle/>
          <a:p>
            <a:pPr indent="0" marL="0">
              <a:buNone/>
            </a:pPr>
            <a:r>
              <a:rPr lang="en-US" sz="1100" dirty="0">
                <a:solidFill>
                  <a:schemeClr val="accent2"/>
                </a:solidFill>
              </a:rPr>
              <a:t>Contenuti aggiornati a ottobre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Obiettivo del modulo</a:t>
            </a:r>
            <a:endParaRPr lang="en-US" sz="2600" dirty="0"/>
          </a:p>
        </p:txBody>
      </p:sp>
      <p:sp>
        <p:nvSpPr>
          <p:cNvPr id="4" name="scheda Che cosa vogliamo sviluppare"/>
          <p:cNvSpPr/>
          <p:nvPr/>
        </p:nvSpPr>
        <p:spPr>
          <a:xfrm>
            <a:off x="457200" y="1097280"/>
            <a:ext cx="3977640" cy="3429000"/>
          </a:xfrm>
          <a:prstGeom prst="roundRect">
            <a:avLst>
              <a:gd name="adj" fmla="val 2133"/>
            </a:avLst>
          </a:prstGeom>
          <a:solidFill>
            <a:schemeClr val="bg2"/>
          </a:solidFill>
          <a:ln/>
        </p:spPr>
      </p:sp>
      <p:sp>
        <p:nvSpPr>
          <p:cNvPr id="5" name="cerchio FiTarget"/>
          <p:cNvSpPr/>
          <p:nvPr/>
        </p:nvSpPr>
        <p:spPr>
          <a:xfrm>
            <a:off x="640080" y="1280160"/>
            <a:ext cx="457200" cy="457200"/>
          </a:xfrm>
          <a:prstGeom prst="ellipse">
            <a:avLst/>
          </a:prstGeom>
          <a:solidFill>
            <a:schemeClr val="accent1"/>
          </a:solidFill>
          <a:ln/>
        </p:spPr>
      </p:sp>
      <p:pic>
        <p:nvPicPr>
          <p:cNvPr id="6" name="Image 0" descr="FiTarget">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Che cosa vogliamo sviluppare</a:t>
            </a:r>
            <a:endParaRPr lang="en-US" sz="160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2"/>
                </a:solidFill>
              </a:rPr>
              <a:t>Comprendere l'interazione conversazionale con l'AI</a:t>
            </a:r>
            <a:endParaRPr lang="en-US" sz="1400" dirty="0"/>
          </a:p>
          <a:p>
            <a:pPr marL="177800" indent="-177800">
              <a:spcAft>
                <a:spcPts val="600"/>
              </a:spcAft>
              <a:buSzPct val="100000"/>
              <a:buChar char="•"/>
            </a:pPr>
            <a:r>
              <a:rPr lang="en-US" sz="1400" dirty="0">
                <a:solidFill>
                  <a:schemeClr val="tx2"/>
                </a:solidFill>
              </a:rPr>
              <a:t>Riconoscere modalità di collaborazione e livelli di delega</a:t>
            </a:r>
            <a:endParaRPr lang="en-US" sz="1400" dirty="0"/>
          </a:p>
          <a:p>
            <a:pPr marL="177800" indent="-177800">
              <a:spcAft>
                <a:spcPts val="600"/>
              </a:spcAft>
              <a:buSzPct val="100000"/>
              <a:buChar char="•"/>
            </a:pPr>
            <a:r>
              <a:rPr lang="en-US" sz="1400" dirty="0">
                <a:solidFill>
                  <a:schemeClr val="tx2"/>
                </a:solidFill>
              </a:rPr>
              <a:t>Mantenere chiara la responsabilità di chi usa l'AI</a:t>
            </a:r>
            <a:endParaRPr lang="en-US" sz="1400" dirty="0"/>
          </a:p>
        </p:txBody>
      </p:sp>
      <p:sp>
        <p:nvSpPr>
          <p:cNvPr id="9" name="scheda Quale consapevolezza"/>
          <p:cNvSpPr/>
          <p:nvPr/>
        </p:nvSpPr>
        <p:spPr>
          <a:xfrm>
            <a:off x="4709160" y="1097280"/>
            <a:ext cx="3977640" cy="3429000"/>
          </a:xfrm>
          <a:prstGeom prst="roundRect">
            <a:avLst>
              <a:gd name="adj" fmla="val 2133"/>
            </a:avLst>
          </a:prstGeom>
          <a:solidFill>
            <a:schemeClr val="accent6"/>
          </a:solidFill>
          <a:ln/>
        </p:spPr>
      </p:sp>
      <p:sp>
        <p:nvSpPr>
          <p:cNvPr id="10" name="cerchio FiCompass"/>
          <p:cNvSpPr/>
          <p:nvPr/>
        </p:nvSpPr>
        <p:spPr>
          <a:xfrm>
            <a:off x="4892040" y="1280160"/>
            <a:ext cx="457200" cy="457200"/>
          </a:xfrm>
          <a:prstGeom prst="ellipse">
            <a:avLst/>
          </a:prstGeom>
          <a:solidFill>
            <a:schemeClr val="accent1"/>
          </a:solidFill>
          <a:ln/>
        </p:spPr>
      </p:sp>
      <p:pic>
        <p:nvPicPr>
          <p:cNvPr id="11" name="Image 1" descr="FiCompass">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Quale consapevolezza</a:t>
            </a:r>
            <a:endParaRPr lang="en-US" sz="160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indent="0" marL="0">
              <a:buNone/>
            </a:pPr>
            <a:r>
              <a:rPr lang="en-US" sz="1400" dirty="0">
                <a:solidFill>
                  <a:schemeClr val="tx2"/>
                </a:solidFill>
              </a:rPr>
              <a:t>L'efficacia dipende anche dalla persona: ruolo attivo, obiettivi chiari, competenze, autonomia affidata.</a:t>
            </a:r>
            <a:endParaRPr lang="en-US" sz="1400" dirty="0"/>
          </a:p>
          <a:p>
            <a:pPr indent="0" marL="0">
              <a:buNone/>
            </a:pPr>
            <a:endParaRPr lang="en-US" sz="1400" dirty="0"/>
          </a:p>
          <a:p>
            <a:pPr indent="0" marL="0">
              <a:buNone/>
            </a:pPr>
            <a:r>
              <a:rPr lang="en-US" sz="1400" dirty="0">
                <a:solidFill>
                  <a:schemeClr val="tx2"/>
                </a:solidFill>
              </a:rPr>
              <a:t>Una conversazione naturale non è un rapporto con un interlocutore umano e non garantisce risposte esatte.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Dieci domande guida per questo modulo</a:t>
            </a:r>
            <a:endParaRPr lang="en-US" sz="2600" dirty="0"/>
          </a:p>
        </p:txBody>
      </p:sp>
      <p:sp>
        <p:nvSpPr>
          <p:cNvPr id="4" name="domanda 1"/>
          <p:cNvSpPr/>
          <p:nvPr/>
        </p:nvSpPr>
        <p:spPr>
          <a:xfrm>
            <a:off x="457200" y="1097280"/>
            <a:ext cx="1554480" cy="1600200"/>
          </a:xfrm>
          <a:prstGeom prst="roundRect">
            <a:avLst>
              <a:gd name="adj" fmla="val 4706"/>
            </a:avLst>
          </a:prstGeom>
          <a:solidFill>
            <a:schemeClr val="bg2"/>
          </a:solidFill>
          <a:ln/>
        </p:spPr>
      </p:sp>
      <p:sp>
        <p:nvSpPr>
          <p:cNvPr id="5" name="Text 2"/>
          <p:cNvSpPr txBox="1"/>
          <p:nvPr/>
        </p:nvSpPr>
        <p:spPr>
          <a:xfrm>
            <a:off x="594360" y="118872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1</a:t>
            </a:r>
            <a:endParaRPr lang="en-US" sz="2000" dirty="0"/>
          </a:p>
        </p:txBody>
      </p:sp>
      <p:sp>
        <p:nvSpPr>
          <p:cNvPr id="6" name="Text 3"/>
          <p:cNvSpPr txBox="1"/>
          <p:nvPr/>
        </p:nvSpPr>
        <p:spPr>
          <a:xfrm>
            <a:off x="594360" y="1600200"/>
            <a:ext cx="1325880" cy="1051560"/>
          </a:xfrm>
          <a:prstGeom prst="rect">
            <a:avLst/>
          </a:prstGeom>
          <a:noFill/>
          <a:ln/>
        </p:spPr>
        <p:txBody>
          <a:bodyPr wrap="square" lIns="0" tIns="0" rIns="0" bIns="0" rtlCol="0" anchor="t"/>
          <a:lstStyle/>
          <a:p>
            <a:pPr indent="0" marL="0">
              <a:buNone/>
            </a:pPr>
            <a:r>
              <a:rPr lang="en-US" sz="1100" dirty="0">
                <a:solidFill>
                  <a:schemeClr val="tx1"/>
                </a:solidFill>
              </a:rPr>
              <a:t>Che cosa cambia quando il linguaggio naturale diventa interfaccia?</a:t>
            </a:r>
            <a:endParaRPr lang="en-US" sz="1100" dirty="0"/>
          </a:p>
        </p:txBody>
      </p:sp>
      <p:sp>
        <p:nvSpPr>
          <p:cNvPr id="7" name="domanda 2"/>
          <p:cNvSpPr/>
          <p:nvPr/>
        </p:nvSpPr>
        <p:spPr>
          <a:xfrm>
            <a:off x="2139696" y="1097280"/>
            <a:ext cx="1554480" cy="1600200"/>
          </a:xfrm>
          <a:prstGeom prst="roundRect">
            <a:avLst>
              <a:gd name="adj" fmla="val 4706"/>
            </a:avLst>
          </a:prstGeom>
          <a:solidFill>
            <a:schemeClr val="bg2"/>
          </a:solidFill>
          <a:ln/>
        </p:spPr>
      </p:sp>
      <p:sp>
        <p:nvSpPr>
          <p:cNvPr id="8" name="Text 5"/>
          <p:cNvSpPr txBox="1"/>
          <p:nvPr/>
        </p:nvSpPr>
        <p:spPr>
          <a:xfrm>
            <a:off x="2276856" y="118872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2</a:t>
            </a:r>
            <a:endParaRPr lang="en-US" sz="2000" dirty="0"/>
          </a:p>
        </p:txBody>
      </p:sp>
      <p:sp>
        <p:nvSpPr>
          <p:cNvPr id="9" name="Text 6"/>
          <p:cNvSpPr txBox="1"/>
          <p:nvPr/>
        </p:nvSpPr>
        <p:spPr>
          <a:xfrm>
            <a:off x="2276856" y="1600200"/>
            <a:ext cx="1325880" cy="1051560"/>
          </a:xfrm>
          <a:prstGeom prst="rect">
            <a:avLst/>
          </a:prstGeom>
          <a:noFill/>
          <a:ln/>
        </p:spPr>
        <p:txBody>
          <a:bodyPr wrap="square" lIns="0" tIns="0" rIns="0" bIns="0" rtlCol="0" anchor="t"/>
          <a:lstStyle/>
          <a:p>
            <a:pPr indent="0" marL="0">
              <a:buNone/>
            </a:pPr>
            <a:r>
              <a:rPr lang="en-US" sz="1100" dirty="0">
                <a:solidFill>
                  <a:schemeClr val="tx1"/>
                </a:solidFill>
              </a:rPr>
              <a:t>Perché il dialogo non si esaurisce in un'unica domanda?</a:t>
            </a:r>
            <a:endParaRPr lang="en-US" sz="1100" dirty="0"/>
          </a:p>
        </p:txBody>
      </p:sp>
      <p:sp>
        <p:nvSpPr>
          <p:cNvPr id="10" name="domanda 3"/>
          <p:cNvSpPr/>
          <p:nvPr/>
        </p:nvSpPr>
        <p:spPr>
          <a:xfrm>
            <a:off x="3822192" y="1097280"/>
            <a:ext cx="1554480" cy="1600200"/>
          </a:xfrm>
          <a:prstGeom prst="roundRect">
            <a:avLst>
              <a:gd name="adj" fmla="val 4706"/>
            </a:avLst>
          </a:prstGeom>
          <a:solidFill>
            <a:schemeClr val="bg2"/>
          </a:solidFill>
          <a:ln/>
        </p:spPr>
      </p:sp>
      <p:sp>
        <p:nvSpPr>
          <p:cNvPr id="11" name="Text 8"/>
          <p:cNvSpPr txBox="1"/>
          <p:nvPr/>
        </p:nvSpPr>
        <p:spPr>
          <a:xfrm>
            <a:off x="3959352" y="118872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3</a:t>
            </a:r>
            <a:endParaRPr lang="en-US" sz="2000" dirty="0"/>
          </a:p>
        </p:txBody>
      </p:sp>
      <p:sp>
        <p:nvSpPr>
          <p:cNvPr id="12" name="Text 9"/>
          <p:cNvSpPr txBox="1"/>
          <p:nvPr/>
        </p:nvSpPr>
        <p:spPr>
          <a:xfrm>
            <a:off x="3959352" y="1600200"/>
            <a:ext cx="1325880" cy="1051560"/>
          </a:xfrm>
          <a:prstGeom prst="rect">
            <a:avLst/>
          </a:prstGeom>
          <a:noFill/>
          <a:ln/>
        </p:spPr>
        <p:txBody>
          <a:bodyPr wrap="square" lIns="0" tIns="0" rIns="0" bIns="0" rtlCol="0" anchor="t"/>
          <a:lstStyle/>
          <a:p>
            <a:pPr indent="0" marL="0">
              <a:buNone/>
            </a:pPr>
            <a:r>
              <a:rPr lang="en-US" sz="1100" dirty="0">
                <a:solidFill>
                  <a:schemeClr val="tx1"/>
                </a:solidFill>
              </a:rPr>
              <a:t>Come può l'AI aiutare a chiarire un problema ponendo domande?</a:t>
            </a:r>
            <a:endParaRPr lang="en-US" sz="1100" dirty="0"/>
          </a:p>
        </p:txBody>
      </p:sp>
      <p:sp>
        <p:nvSpPr>
          <p:cNvPr id="13" name="domanda 4"/>
          <p:cNvSpPr/>
          <p:nvPr/>
        </p:nvSpPr>
        <p:spPr>
          <a:xfrm>
            <a:off x="5504688" y="1097280"/>
            <a:ext cx="1554480" cy="1600200"/>
          </a:xfrm>
          <a:prstGeom prst="roundRect">
            <a:avLst>
              <a:gd name="adj" fmla="val 4706"/>
            </a:avLst>
          </a:prstGeom>
          <a:solidFill>
            <a:schemeClr val="bg2"/>
          </a:solidFill>
          <a:ln/>
        </p:spPr>
      </p:sp>
      <p:sp>
        <p:nvSpPr>
          <p:cNvPr id="14" name="Text 11"/>
          <p:cNvSpPr txBox="1"/>
          <p:nvPr/>
        </p:nvSpPr>
        <p:spPr>
          <a:xfrm>
            <a:off x="5641848" y="118872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4</a:t>
            </a:r>
            <a:endParaRPr lang="en-US" sz="2000" dirty="0"/>
          </a:p>
        </p:txBody>
      </p:sp>
      <p:sp>
        <p:nvSpPr>
          <p:cNvPr id="15" name="Text 12"/>
          <p:cNvSpPr txBox="1"/>
          <p:nvPr/>
        </p:nvSpPr>
        <p:spPr>
          <a:xfrm>
            <a:off x="5641848" y="1600200"/>
            <a:ext cx="1325880" cy="1051560"/>
          </a:xfrm>
          <a:prstGeom prst="rect">
            <a:avLst/>
          </a:prstGeom>
          <a:noFill/>
          <a:ln/>
        </p:spPr>
        <p:txBody>
          <a:bodyPr wrap="square" lIns="0" tIns="0" rIns="0" bIns="0" rtlCol="0" anchor="t"/>
          <a:lstStyle/>
          <a:p>
            <a:pPr indent="0" marL="0">
              <a:buNone/>
            </a:pPr>
            <a:r>
              <a:rPr lang="en-US" sz="1100" dirty="0">
                <a:solidFill>
                  <a:schemeClr val="tx1"/>
                </a:solidFill>
              </a:rPr>
              <a:t>Quali ruoli può svolgere l'AI e quali competenze non presumere?</a:t>
            </a:r>
            <a:endParaRPr lang="en-US" sz="1100" dirty="0"/>
          </a:p>
        </p:txBody>
      </p:sp>
      <p:sp>
        <p:nvSpPr>
          <p:cNvPr id="16" name="domanda 5"/>
          <p:cNvSpPr/>
          <p:nvPr/>
        </p:nvSpPr>
        <p:spPr>
          <a:xfrm>
            <a:off x="7187184" y="1097280"/>
            <a:ext cx="1554480" cy="1600200"/>
          </a:xfrm>
          <a:prstGeom prst="roundRect">
            <a:avLst>
              <a:gd name="adj" fmla="val 4706"/>
            </a:avLst>
          </a:prstGeom>
          <a:solidFill>
            <a:schemeClr val="bg2"/>
          </a:solidFill>
          <a:ln/>
        </p:spPr>
      </p:sp>
      <p:sp>
        <p:nvSpPr>
          <p:cNvPr id="17" name="Text 14"/>
          <p:cNvSpPr txBox="1"/>
          <p:nvPr/>
        </p:nvSpPr>
        <p:spPr>
          <a:xfrm>
            <a:off x="7324344" y="118872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5</a:t>
            </a:r>
            <a:endParaRPr lang="en-US" sz="2000" dirty="0"/>
          </a:p>
        </p:txBody>
      </p:sp>
      <p:sp>
        <p:nvSpPr>
          <p:cNvPr id="18" name="Text 15"/>
          <p:cNvSpPr txBox="1"/>
          <p:nvPr/>
        </p:nvSpPr>
        <p:spPr>
          <a:xfrm>
            <a:off x="7324344" y="1600200"/>
            <a:ext cx="1325880" cy="1051560"/>
          </a:xfrm>
          <a:prstGeom prst="rect">
            <a:avLst/>
          </a:prstGeom>
          <a:noFill/>
          <a:ln/>
        </p:spPr>
        <p:txBody>
          <a:bodyPr wrap="square" lIns="0" tIns="0" rIns="0" bIns="0" rtlCol="0" anchor="t"/>
          <a:lstStyle/>
          <a:p>
            <a:pPr indent="0" marL="0">
              <a:buNone/>
            </a:pPr>
            <a:r>
              <a:rPr lang="en-US" sz="1100" dirty="0">
                <a:solidFill>
                  <a:schemeClr val="tx1"/>
                </a:solidFill>
              </a:rPr>
              <a:t>In cosa consiste una collaborazione efficace?</a:t>
            </a:r>
            <a:endParaRPr lang="en-US" sz="1100" dirty="0"/>
          </a:p>
        </p:txBody>
      </p:sp>
      <p:sp>
        <p:nvSpPr>
          <p:cNvPr id="19" name="domanda 6"/>
          <p:cNvSpPr/>
          <p:nvPr/>
        </p:nvSpPr>
        <p:spPr>
          <a:xfrm>
            <a:off x="457200" y="2834640"/>
            <a:ext cx="1554480" cy="1600200"/>
          </a:xfrm>
          <a:prstGeom prst="roundRect">
            <a:avLst>
              <a:gd name="adj" fmla="val 4706"/>
            </a:avLst>
          </a:prstGeom>
          <a:solidFill>
            <a:schemeClr val="bg2"/>
          </a:solidFill>
          <a:ln/>
        </p:spPr>
      </p:sp>
      <p:sp>
        <p:nvSpPr>
          <p:cNvPr id="20" name="Text 17"/>
          <p:cNvSpPr txBox="1"/>
          <p:nvPr/>
        </p:nvSpPr>
        <p:spPr>
          <a:xfrm>
            <a:off x="594360" y="292608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6</a:t>
            </a:r>
            <a:endParaRPr lang="en-US" sz="2000" dirty="0"/>
          </a:p>
        </p:txBody>
      </p:sp>
      <p:sp>
        <p:nvSpPr>
          <p:cNvPr id="21" name="Text 18"/>
          <p:cNvSpPr txBox="1"/>
          <p:nvPr/>
        </p:nvSpPr>
        <p:spPr>
          <a:xfrm>
            <a:off x="594360" y="3337560"/>
            <a:ext cx="1325880" cy="1051560"/>
          </a:xfrm>
          <a:prstGeom prst="rect">
            <a:avLst/>
          </a:prstGeom>
          <a:noFill/>
          <a:ln/>
        </p:spPr>
        <p:txBody>
          <a:bodyPr wrap="square" lIns="0" tIns="0" rIns="0" bIns="0" rtlCol="0" anchor="t"/>
          <a:lstStyle/>
          <a:p>
            <a:pPr indent="0" marL="0">
              <a:buNone/>
            </a:pPr>
            <a:r>
              <a:rPr lang="en-US" sz="1100" dirty="0">
                <a:solidFill>
                  <a:schemeClr val="tx1"/>
                </a:solidFill>
              </a:rPr>
              <a:t>Come distinguere supporto, collaborazione, delega e autonomia?</a:t>
            </a:r>
            <a:endParaRPr lang="en-US" sz="1100" dirty="0"/>
          </a:p>
        </p:txBody>
      </p:sp>
      <p:sp>
        <p:nvSpPr>
          <p:cNvPr id="22" name="domanda 7"/>
          <p:cNvSpPr/>
          <p:nvPr/>
        </p:nvSpPr>
        <p:spPr>
          <a:xfrm>
            <a:off x="2139696" y="2834640"/>
            <a:ext cx="1554480" cy="1600200"/>
          </a:xfrm>
          <a:prstGeom prst="roundRect">
            <a:avLst>
              <a:gd name="adj" fmla="val 4706"/>
            </a:avLst>
          </a:prstGeom>
          <a:solidFill>
            <a:schemeClr val="bg2"/>
          </a:solidFill>
          <a:ln/>
        </p:spPr>
      </p:sp>
      <p:sp>
        <p:nvSpPr>
          <p:cNvPr id="23" name="Text 20"/>
          <p:cNvSpPr txBox="1"/>
          <p:nvPr/>
        </p:nvSpPr>
        <p:spPr>
          <a:xfrm>
            <a:off x="2276856" y="292608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7</a:t>
            </a:r>
            <a:endParaRPr lang="en-US" sz="2000" dirty="0"/>
          </a:p>
        </p:txBody>
      </p:sp>
      <p:sp>
        <p:nvSpPr>
          <p:cNvPr id="24" name="Text 21"/>
          <p:cNvSpPr txBox="1"/>
          <p:nvPr/>
        </p:nvSpPr>
        <p:spPr>
          <a:xfrm>
            <a:off x="2276856" y="3337560"/>
            <a:ext cx="1325880" cy="1051560"/>
          </a:xfrm>
          <a:prstGeom prst="rect">
            <a:avLst/>
          </a:prstGeom>
          <a:noFill/>
          <a:ln/>
        </p:spPr>
        <p:txBody>
          <a:bodyPr wrap="square" lIns="0" tIns="0" rIns="0" bIns="0" rtlCol="0" anchor="t"/>
          <a:lstStyle/>
          <a:p>
            <a:pPr indent="0" marL="0">
              <a:buNone/>
            </a:pPr>
            <a:r>
              <a:rPr lang="en-US" sz="1100" dirty="0">
                <a:solidFill>
                  <a:schemeClr val="tx1"/>
                </a:solidFill>
              </a:rPr>
              <a:t>Quali competenze personali migliorano la collaborazione?</a:t>
            </a:r>
            <a:endParaRPr lang="en-US" sz="1100" dirty="0"/>
          </a:p>
        </p:txBody>
      </p:sp>
      <p:sp>
        <p:nvSpPr>
          <p:cNvPr id="25" name="domanda 8"/>
          <p:cNvSpPr/>
          <p:nvPr/>
        </p:nvSpPr>
        <p:spPr>
          <a:xfrm>
            <a:off x="3822192" y="2834640"/>
            <a:ext cx="1554480" cy="1600200"/>
          </a:xfrm>
          <a:prstGeom prst="roundRect">
            <a:avLst>
              <a:gd name="adj" fmla="val 4706"/>
            </a:avLst>
          </a:prstGeom>
          <a:solidFill>
            <a:schemeClr val="bg2"/>
          </a:solidFill>
          <a:ln/>
        </p:spPr>
      </p:sp>
      <p:sp>
        <p:nvSpPr>
          <p:cNvPr id="26" name="Text 23"/>
          <p:cNvSpPr txBox="1"/>
          <p:nvPr/>
        </p:nvSpPr>
        <p:spPr>
          <a:xfrm>
            <a:off x="3959352" y="292608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8</a:t>
            </a:r>
            <a:endParaRPr lang="en-US" sz="2000" dirty="0"/>
          </a:p>
        </p:txBody>
      </p:sp>
      <p:sp>
        <p:nvSpPr>
          <p:cNvPr id="27" name="Text 24"/>
          <p:cNvSpPr txBox="1"/>
          <p:nvPr/>
        </p:nvSpPr>
        <p:spPr>
          <a:xfrm>
            <a:off x="3959352" y="3337560"/>
            <a:ext cx="1325880" cy="1051560"/>
          </a:xfrm>
          <a:prstGeom prst="rect">
            <a:avLst/>
          </a:prstGeom>
          <a:noFill/>
          <a:ln/>
        </p:spPr>
        <p:txBody>
          <a:bodyPr wrap="square" lIns="0" tIns="0" rIns="0" bIns="0" rtlCol="0" anchor="t"/>
          <a:lstStyle/>
          <a:p>
            <a:pPr indent="0" marL="0">
              <a:buNone/>
            </a:pPr>
            <a:r>
              <a:rPr lang="en-US" sz="1100" dirty="0">
                <a:solidFill>
                  <a:schemeClr val="tx1"/>
                </a:solidFill>
              </a:rPr>
              <a:t>Come usare l'AI per mettere alla prova un'ipotesi?</a:t>
            </a:r>
            <a:endParaRPr lang="en-US" sz="1100" dirty="0"/>
          </a:p>
        </p:txBody>
      </p:sp>
      <p:sp>
        <p:nvSpPr>
          <p:cNvPr id="28" name="domanda 9"/>
          <p:cNvSpPr/>
          <p:nvPr/>
        </p:nvSpPr>
        <p:spPr>
          <a:xfrm>
            <a:off x="5504688" y="2834640"/>
            <a:ext cx="1554480" cy="1600200"/>
          </a:xfrm>
          <a:prstGeom prst="roundRect">
            <a:avLst>
              <a:gd name="adj" fmla="val 4706"/>
            </a:avLst>
          </a:prstGeom>
          <a:solidFill>
            <a:schemeClr val="bg2"/>
          </a:solidFill>
          <a:ln/>
        </p:spPr>
      </p:sp>
      <p:sp>
        <p:nvSpPr>
          <p:cNvPr id="29" name="Text 26"/>
          <p:cNvSpPr txBox="1"/>
          <p:nvPr/>
        </p:nvSpPr>
        <p:spPr>
          <a:xfrm>
            <a:off x="5641848" y="292608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9</a:t>
            </a:r>
            <a:endParaRPr lang="en-US" sz="2000" dirty="0"/>
          </a:p>
        </p:txBody>
      </p:sp>
      <p:sp>
        <p:nvSpPr>
          <p:cNvPr id="30" name="Text 27"/>
          <p:cNvSpPr txBox="1"/>
          <p:nvPr/>
        </p:nvSpPr>
        <p:spPr>
          <a:xfrm>
            <a:off x="5641848" y="3337560"/>
            <a:ext cx="1325880" cy="1051560"/>
          </a:xfrm>
          <a:prstGeom prst="rect">
            <a:avLst/>
          </a:prstGeom>
          <a:noFill/>
          <a:ln/>
        </p:spPr>
        <p:txBody>
          <a:bodyPr wrap="square" lIns="0" tIns="0" rIns="0" bIns="0" rtlCol="0" anchor="t"/>
          <a:lstStyle/>
          <a:p>
            <a:pPr indent="0" marL="0">
              <a:buNone/>
            </a:pPr>
            <a:r>
              <a:rPr lang="en-US" sz="1100" dirty="0">
                <a:solidFill>
                  <a:schemeClr val="tx1"/>
                </a:solidFill>
              </a:rPr>
              <a:t>Quali rischi da antropomorfizzazione e fiducia eccessiva?</a:t>
            </a:r>
            <a:endParaRPr lang="en-US" sz="1100" dirty="0"/>
          </a:p>
        </p:txBody>
      </p:sp>
      <p:sp>
        <p:nvSpPr>
          <p:cNvPr id="31" name="domanda 10"/>
          <p:cNvSpPr/>
          <p:nvPr/>
        </p:nvSpPr>
        <p:spPr>
          <a:xfrm>
            <a:off x="7187184" y="2834640"/>
            <a:ext cx="1554480" cy="1600200"/>
          </a:xfrm>
          <a:prstGeom prst="roundRect">
            <a:avLst>
              <a:gd name="adj" fmla="val 4706"/>
            </a:avLst>
          </a:prstGeom>
          <a:solidFill>
            <a:schemeClr val="bg2"/>
          </a:solidFill>
          <a:ln/>
        </p:spPr>
      </p:sp>
      <p:sp>
        <p:nvSpPr>
          <p:cNvPr id="32" name="Text 29"/>
          <p:cNvSpPr txBox="1"/>
          <p:nvPr/>
        </p:nvSpPr>
        <p:spPr>
          <a:xfrm>
            <a:off x="7324344" y="292608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10</a:t>
            </a:r>
            <a:endParaRPr lang="en-US" sz="2000" dirty="0"/>
          </a:p>
        </p:txBody>
      </p:sp>
      <p:sp>
        <p:nvSpPr>
          <p:cNvPr id="33" name="Text 30"/>
          <p:cNvSpPr txBox="1"/>
          <p:nvPr/>
        </p:nvSpPr>
        <p:spPr>
          <a:xfrm>
            <a:off x="7324344" y="3337560"/>
            <a:ext cx="1325880" cy="1051560"/>
          </a:xfrm>
          <a:prstGeom prst="rect">
            <a:avLst/>
          </a:prstGeom>
          <a:noFill/>
          <a:ln/>
        </p:spPr>
        <p:txBody>
          <a:bodyPr wrap="square" lIns="0" tIns="0" rIns="0" bIns="0" rtlCol="0" anchor="t"/>
          <a:lstStyle/>
          <a:p>
            <a:pPr indent="0" marL="0">
              <a:buNone/>
            </a:pPr>
            <a:r>
              <a:rPr lang="en-US" sz="1100" dirty="0">
                <a:solidFill>
                  <a:schemeClr val="tx1"/>
                </a:solidFill>
              </a:rPr>
              <a:t>Come preservare autonomia cognitiva e responsabilità?</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filo conduttore</a:t>
            </a:r>
            <a:endParaRPr lang="en-US" sz="2600" dirty="0"/>
          </a:p>
        </p:txBody>
      </p:sp>
      <p:sp>
        <p:nvSpPr>
          <p:cNvPr id="4" name="Interfaccia naturale"/>
          <p:cNvSpPr/>
          <p:nvPr/>
        </p:nvSpPr>
        <p:spPr>
          <a:xfrm>
            <a:off x="457200" y="1051560"/>
            <a:ext cx="1920240" cy="1965960"/>
          </a:xfrm>
          <a:prstGeom prst="roundRect">
            <a:avLst>
              <a:gd name="adj" fmla="val 3810"/>
            </a:avLst>
          </a:prstGeom>
          <a:solidFill>
            <a:schemeClr val="bg2"/>
          </a:solidFill>
          <a:ln/>
        </p:spPr>
      </p:sp>
      <p:sp>
        <p:nvSpPr>
          <p:cNvPr id="5" name="cerchio FiMessageSquare"/>
          <p:cNvSpPr/>
          <p:nvPr/>
        </p:nvSpPr>
        <p:spPr>
          <a:xfrm>
            <a:off x="1097280" y="1161288"/>
            <a:ext cx="640080" cy="640080"/>
          </a:xfrm>
          <a:prstGeom prst="ellipse">
            <a:avLst/>
          </a:prstGeom>
          <a:solidFill>
            <a:schemeClr val="accent1"/>
          </a:solidFill>
          <a:ln/>
        </p:spPr>
      </p:sp>
      <p:pic>
        <p:nvPicPr>
          <p:cNvPr id="6" name="Image 0" descr="FiMessageSquare">    </p:cNvPr>
          <p:cNvPicPr>
            <a:picLocks noChangeAspect="1"/>
          </p:cNvPicPr>
          <p:nvPr/>
        </p:nvPicPr>
        <p:blipFill>
          <a:blip r:embed="rId1"/>
          <a:stretch>
            <a:fillRect/>
          </a:stretch>
        </p:blipFill>
        <p:spPr>
          <a:xfrm>
            <a:off x="1257300" y="1321308"/>
            <a:ext cx="320040" cy="320040"/>
          </a:xfrm>
          <a:prstGeom prst="rect">
            <a:avLst/>
          </a:prstGeom>
        </p:spPr>
      </p:pic>
      <p:sp>
        <p:nvSpPr>
          <p:cNvPr id="7" name="Text 3"/>
          <p:cNvSpPr txBox="1"/>
          <p:nvPr/>
        </p:nvSpPr>
        <p:spPr>
          <a:xfrm>
            <a:off x="502920" y="1847088"/>
            <a:ext cx="1828800" cy="411480"/>
          </a:xfrm>
          <a:prstGeom prst="rect">
            <a:avLst/>
          </a:prstGeom>
          <a:noFill/>
          <a:ln/>
        </p:spPr>
        <p:txBody>
          <a:bodyPr wrap="square" lIns="0" tIns="0" rIns="0" bIns="0" rtlCol="0" anchor="ctr"/>
          <a:lstStyle/>
          <a:p>
            <a:pPr algn="ctr" indent="0" marL="0">
              <a:buNone/>
            </a:pPr>
            <a:r>
              <a:rPr lang="en-US" sz="1300" b="1" dirty="0">
                <a:solidFill>
                  <a:schemeClr val="tx1"/>
                </a:solidFill>
              </a:rPr>
              <a:t>Interfaccia naturale</a:t>
            </a:r>
            <a:endParaRPr lang="en-US" sz="1300" dirty="0"/>
          </a:p>
        </p:txBody>
      </p:sp>
      <p:sp>
        <p:nvSpPr>
          <p:cNvPr id="8" name="Text 4"/>
          <p:cNvSpPr txBox="1"/>
          <p:nvPr/>
        </p:nvSpPr>
        <p:spPr>
          <a:xfrm>
            <a:off x="548640" y="2240280"/>
            <a:ext cx="1737360" cy="457200"/>
          </a:xfrm>
          <a:prstGeom prst="rect">
            <a:avLst/>
          </a:prstGeom>
          <a:noFill/>
          <a:ln/>
        </p:spPr>
        <p:txBody>
          <a:bodyPr wrap="square" lIns="0" tIns="0" rIns="0" bIns="0" rtlCol="0" anchor="t"/>
          <a:lstStyle/>
          <a:p>
            <a:pPr algn="ctr" indent="0" marL="0">
              <a:buNone/>
            </a:pPr>
            <a:r>
              <a:rPr lang="en-US" sz="1200" dirty="0">
                <a:solidFill>
                  <a:schemeClr val="tx2"/>
                </a:solidFill>
              </a:rPr>
              <a:t>Dal comando alla richiesta</a:t>
            </a:r>
            <a:endParaRPr lang="en-US" sz="1200" dirty="0"/>
          </a:p>
        </p:txBody>
      </p:sp>
      <p:sp>
        <p:nvSpPr>
          <p:cNvPr id="9" name="Text 5"/>
          <p:cNvSpPr txBox="1"/>
          <p:nvPr/>
        </p:nvSpPr>
        <p:spPr>
          <a:xfrm>
            <a:off x="548640" y="2697480"/>
            <a:ext cx="1737360" cy="274320"/>
          </a:xfrm>
          <a:prstGeom prst="rect">
            <a:avLst/>
          </a:prstGeom>
          <a:noFill/>
          <a:ln/>
        </p:spPr>
        <p:txBody>
          <a:bodyPr wrap="square" lIns="0" tIns="0" rIns="0" bIns="0" rtlCol="0" anchor="t"/>
          <a:lstStyle/>
          <a:p>
            <a:pPr algn="ctr" indent="0" marL="0">
              <a:buNone/>
            </a:pPr>
            <a:r>
              <a:rPr lang="en-US" sz="1200" b="1" dirty="0">
                <a:solidFill>
                  <a:schemeClr val="accent1"/>
                </a:solidFill>
              </a:rPr>
              <a:t>5.1</a:t>
            </a:r>
            <a:endParaRPr lang="en-US" sz="1200" dirty="0"/>
          </a:p>
        </p:txBody>
      </p:sp>
      <p:sp>
        <p:nvSpPr>
          <p:cNvPr id="10" name="freccia"/>
          <p:cNvSpPr/>
          <p:nvPr/>
        </p:nvSpPr>
        <p:spPr>
          <a:xfrm>
            <a:off x="2386584" y="1828800"/>
            <a:ext cx="155448" cy="292608"/>
          </a:xfrm>
          <a:prstGeom prst="rightArrow">
            <a:avLst/>
          </a:prstGeom>
          <a:solidFill>
            <a:schemeClr val="accent2"/>
          </a:solidFill>
          <a:ln/>
        </p:spPr>
      </p:sp>
      <p:sp>
        <p:nvSpPr>
          <p:cNvPr id="11" name="Dialogo e ruoli"/>
          <p:cNvSpPr/>
          <p:nvPr/>
        </p:nvSpPr>
        <p:spPr>
          <a:xfrm>
            <a:off x="2560320" y="1051560"/>
            <a:ext cx="1920240" cy="1965960"/>
          </a:xfrm>
          <a:prstGeom prst="roundRect">
            <a:avLst>
              <a:gd name="adj" fmla="val 3810"/>
            </a:avLst>
          </a:prstGeom>
          <a:solidFill>
            <a:schemeClr val="bg2"/>
          </a:solidFill>
          <a:ln/>
        </p:spPr>
      </p:sp>
      <p:sp>
        <p:nvSpPr>
          <p:cNvPr id="12" name="cerchio FiRepeat"/>
          <p:cNvSpPr/>
          <p:nvPr/>
        </p:nvSpPr>
        <p:spPr>
          <a:xfrm>
            <a:off x="3200400" y="1161288"/>
            <a:ext cx="640080" cy="640080"/>
          </a:xfrm>
          <a:prstGeom prst="ellipse">
            <a:avLst/>
          </a:prstGeom>
          <a:solidFill>
            <a:schemeClr val="accent1"/>
          </a:solidFill>
          <a:ln/>
        </p:spPr>
      </p:sp>
      <p:pic>
        <p:nvPicPr>
          <p:cNvPr id="13" name="Image 1" descr="FiRepeat">    </p:cNvPr>
          <p:cNvPicPr>
            <a:picLocks noChangeAspect="1"/>
          </p:cNvPicPr>
          <p:nvPr/>
        </p:nvPicPr>
        <p:blipFill>
          <a:blip r:embed="rId2"/>
          <a:stretch>
            <a:fillRect/>
          </a:stretch>
        </p:blipFill>
        <p:spPr>
          <a:xfrm>
            <a:off x="3360420" y="1321308"/>
            <a:ext cx="320040" cy="320040"/>
          </a:xfrm>
          <a:prstGeom prst="rect">
            <a:avLst/>
          </a:prstGeom>
        </p:spPr>
      </p:pic>
      <p:sp>
        <p:nvSpPr>
          <p:cNvPr id="14" name="Text 9"/>
          <p:cNvSpPr txBox="1"/>
          <p:nvPr/>
        </p:nvSpPr>
        <p:spPr>
          <a:xfrm>
            <a:off x="2606040" y="1847088"/>
            <a:ext cx="1828800" cy="411480"/>
          </a:xfrm>
          <a:prstGeom prst="rect">
            <a:avLst/>
          </a:prstGeom>
          <a:noFill/>
          <a:ln/>
        </p:spPr>
        <p:txBody>
          <a:bodyPr wrap="square" lIns="0" tIns="0" rIns="0" bIns="0" rtlCol="0" anchor="ctr"/>
          <a:lstStyle/>
          <a:p>
            <a:pPr algn="ctr" indent="0" marL="0">
              <a:buNone/>
            </a:pPr>
            <a:r>
              <a:rPr lang="en-US" sz="1300" b="1" dirty="0">
                <a:solidFill>
                  <a:schemeClr val="tx1"/>
                </a:solidFill>
              </a:rPr>
              <a:t>Dialogo e ruoli</a:t>
            </a:r>
            <a:endParaRPr lang="en-US" sz="1300" dirty="0"/>
          </a:p>
        </p:txBody>
      </p:sp>
      <p:sp>
        <p:nvSpPr>
          <p:cNvPr id="15" name="Text 10"/>
          <p:cNvSpPr txBox="1"/>
          <p:nvPr/>
        </p:nvSpPr>
        <p:spPr>
          <a:xfrm>
            <a:off x="2651760" y="2240280"/>
            <a:ext cx="1737360" cy="457200"/>
          </a:xfrm>
          <a:prstGeom prst="rect">
            <a:avLst/>
          </a:prstGeom>
          <a:noFill/>
          <a:ln/>
        </p:spPr>
        <p:txBody>
          <a:bodyPr wrap="square" lIns="0" tIns="0" rIns="0" bIns="0" rtlCol="0" anchor="t"/>
          <a:lstStyle/>
          <a:p>
            <a:pPr algn="ctr" indent="0" marL="0">
              <a:buNone/>
            </a:pPr>
            <a:r>
              <a:rPr lang="en-US" sz="1200" dirty="0">
                <a:solidFill>
                  <a:schemeClr val="tx2"/>
                </a:solidFill>
              </a:rPr>
              <a:t>Conversare, assegnare ruoli</a:t>
            </a:r>
            <a:endParaRPr lang="en-US" sz="1200" dirty="0"/>
          </a:p>
        </p:txBody>
      </p:sp>
      <p:sp>
        <p:nvSpPr>
          <p:cNvPr id="16" name="Text 11"/>
          <p:cNvSpPr txBox="1"/>
          <p:nvPr/>
        </p:nvSpPr>
        <p:spPr>
          <a:xfrm>
            <a:off x="2651760" y="2697480"/>
            <a:ext cx="1737360" cy="274320"/>
          </a:xfrm>
          <a:prstGeom prst="rect">
            <a:avLst/>
          </a:prstGeom>
          <a:noFill/>
          <a:ln/>
        </p:spPr>
        <p:txBody>
          <a:bodyPr wrap="square" lIns="0" tIns="0" rIns="0" bIns="0" rtlCol="0" anchor="t"/>
          <a:lstStyle/>
          <a:p>
            <a:pPr algn="ctr" indent="0" marL="0">
              <a:buNone/>
            </a:pPr>
            <a:r>
              <a:rPr lang="en-US" sz="1200" b="1" dirty="0">
                <a:solidFill>
                  <a:schemeClr val="accent1"/>
                </a:solidFill>
              </a:rPr>
              <a:t>5.2  5.3</a:t>
            </a:r>
            <a:endParaRPr lang="en-US" sz="1200" dirty="0"/>
          </a:p>
        </p:txBody>
      </p:sp>
      <p:sp>
        <p:nvSpPr>
          <p:cNvPr id="17" name="freccia"/>
          <p:cNvSpPr/>
          <p:nvPr/>
        </p:nvSpPr>
        <p:spPr>
          <a:xfrm>
            <a:off x="4489704" y="1828800"/>
            <a:ext cx="155448" cy="292608"/>
          </a:xfrm>
          <a:prstGeom prst="rightArrow">
            <a:avLst/>
          </a:prstGeom>
          <a:solidFill>
            <a:schemeClr val="accent2"/>
          </a:solidFill>
          <a:ln/>
        </p:spPr>
      </p:sp>
      <p:sp>
        <p:nvSpPr>
          <p:cNvPr id="18" name="Collaborazione e delega"/>
          <p:cNvSpPr/>
          <p:nvPr/>
        </p:nvSpPr>
        <p:spPr>
          <a:xfrm>
            <a:off x="4663440" y="1051560"/>
            <a:ext cx="1920240" cy="1965960"/>
          </a:xfrm>
          <a:prstGeom prst="roundRect">
            <a:avLst>
              <a:gd name="adj" fmla="val 3810"/>
            </a:avLst>
          </a:prstGeom>
          <a:solidFill>
            <a:schemeClr val="bg2"/>
          </a:solidFill>
          <a:ln/>
        </p:spPr>
      </p:sp>
      <p:sp>
        <p:nvSpPr>
          <p:cNvPr id="19" name="cerchio FiSliders"/>
          <p:cNvSpPr/>
          <p:nvPr/>
        </p:nvSpPr>
        <p:spPr>
          <a:xfrm>
            <a:off x="5303520" y="1161288"/>
            <a:ext cx="640080" cy="640080"/>
          </a:xfrm>
          <a:prstGeom prst="ellipse">
            <a:avLst/>
          </a:prstGeom>
          <a:solidFill>
            <a:schemeClr val="accent1"/>
          </a:solidFill>
          <a:ln/>
        </p:spPr>
      </p:sp>
      <p:pic>
        <p:nvPicPr>
          <p:cNvPr id="20" name="Image 2" descr="FiSliders">    </p:cNvPr>
          <p:cNvPicPr>
            <a:picLocks noChangeAspect="1"/>
          </p:cNvPicPr>
          <p:nvPr/>
        </p:nvPicPr>
        <p:blipFill>
          <a:blip r:embed="rId3"/>
          <a:stretch>
            <a:fillRect/>
          </a:stretch>
        </p:blipFill>
        <p:spPr>
          <a:xfrm>
            <a:off x="5463540" y="1321308"/>
            <a:ext cx="320040" cy="320040"/>
          </a:xfrm>
          <a:prstGeom prst="rect">
            <a:avLst/>
          </a:prstGeom>
        </p:spPr>
      </p:pic>
      <p:sp>
        <p:nvSpPr>
          <p:cNvPr id="21" name="Text 15"/>
          <p:cNvSpPr txBox="1"/>
          <p:nvPr/>
        </p:nvSpPr>
        <p:spPr>
          <a:xfrm>
            <a:off x="4709160" y="1847088"/>
            <a:ext cx="1828800" cy="411480"/>
          </a:xfrm>
          <a:prstGeom prst="rect">
            <a:avLst/>
          </a:prstGeom>
          <a:noFill/>
          <a:ln/>
        </p:spPr>
        <p:txBody>
          <a:bodyPr wrap="square" lIns="0" tIns="0" rIns="0" bIns="0" rtlCol="0" anchor="ctr"/>
          <a:lstStyle/>
          <a:p>
            <a:pPr algn="ctr" indent="0" marL="0">
              <a:buNone/>
            </a:pPr>
            <a:r>
              <a:rPr lang="en-US" sz="1300" b="1" dirty="0">
                <a:solidFill>
                  <a:schemeClr val="tx1"/>
                </a:solidFill>
              </a:rPr>
              <a:t>Collaborazione e delega</a:t>
            </a:r>
            <a:endParaRPr lang="en-US" sz="1300" dirty="0"/>
          </a:p>
        </p:txBody>
      </p:sp>
      <p:sp>
        <p:nvSpPr>
          <p:cNvPr id="22" name="Text 16"/>
          <p:cNvSpPr txBox="1"/>
          <p:nvPr/>
        </p:nvSpPr>
        <p:spPr>
          <a:xfrm>
            <a:off x="4754880" y="2240280"/>
            <a:ext cx="1737360" cy="457200"/>
          </a:xfrm>
          <a:prstGeom prst="rect">
            <a:avLst/>
          </a:prstGeom>
          <a:noFill/>
          <a:ln/>
        </p:spPr>
        <p:txBody>
          <a:bodyPr wrap="square" lIns="0" tIns="0" rIns="0" bIns="0" rtlCol="0" anchor="t"/>
          <a:lstStyle/>
          <a:p>
            <a:pPr algn="ctr" indent="0" marL="0">
              <a:buNone/>
            </a:pPr>
            <a:r>
              <a:rPr lang="en-US" sz="1200" dirty="0">
                <a:solidFill>
                  <a:schemeClr val="tx2"/>
                </a:solidFill>
              </a:rPr>
              <a:t>Chi fa che cosa, quanta autonomia</a:t>
            </a:r>
            <a:endParaRPr lang="en-US" sz="1200" dirty="0"/>
          </a:p>
        </p:txBody>
      </p:sp>
      <p:sp>
        <p:nvSpPr>
          <p:cNvPr id="23" name="Text 17"/>
          <p:cNvSpPr txBox="1"/>
          <p:nvPr/>
        </p:nvSpPr>
        <p:spPr>
          <a:xfrm>
            <a:off x="4754880" y="2697480"/>
            <a:ext cx="1737360" cy="274320"/>
          </a:xfrm>
          <a:prstGeom prst="rect">
            <a:avLst/>
          </a:prstGeom>
          <a:noFill/>
          <a:ln/>
        </p:spPr>
        <p:txBody>
          <a:bodyPr wrap="square" lIns="0" tIns="0" rIns="0" bIns="0" rtlCol="0" anchor="t"/>
          <a:lstStyle/>
          <a:p>
            <a:pPr algn="ctr" indent="0" marL="0">
              <a:buNone/>
            </a:pPr>
            <a:r>
              <a:rPr lang="en-US" sz="1200" b="1" dirty="0">
                <a:solidFill>
                  <a:schemeClr val="accent1"/>
                </a:solidFill>
              </a:rPr>
              <a:t>5.4  5.5</a:t>
            </a:r>
            <a:endParaRPr lang="en-US" sz="1200" dirty="0"/>
          </a:p>
        </p:txBody>
      </p:sp>
      <p:sp>
        <p:nvSpPr>
          <p:cNvPr id="24" name="freccia"/>
          <p:cNvSpPr/>
          <p:nvPr/>
        </p:nvSpPr>
        <p:spPr>
          <a:xfrm>
            <a:off x="6592824" y="1828800"/>
            <a:ext cx="155448" cy="292608"/>
          </a:xfrm>
          <a:prstGeom prst="rightArrow">
            <a:avLst/>
          </a:prstGeom>
          <a:solidFill>
            <a:schemeClr val="accent2"/>
          </a:solidFill>
          <a:ln/>
        </p:spPr>
      </p:sp>
      <p:sp>
        <p:nvSpPr>
          <p:cNvPr id="25" name="Persona e rischi"/>
          <p:cNvSpPr/>
          <p:nvPr/>
        </p:nvSpPr>
        <p:spPr>
          <a:xfrm>
            <a:off x="6766560" y="1051560"/>
            <a:ext cx="1920240" cy="1965960"/>
          </a:xfrm>
          <a:prstGeom prst="roundRect">
            <a:avLst>
              <a:gd name="adj" fmla="val 3810"/>
            </a:avLst>
          </a:prstGeom>
          <a:solidFill>
            <a:schemeClr val="accent1"/>
          </a:solidFill>
          <a:ln/>
        </p:spPr>
      </p:sp>
      <p:sp>
        <p:nvSpPr>
          <p:cNvPr id="26" name="cerchio FiUserCheck"/>
          <p:cNvSpPr/>
          <p:nvPr/>
        </p:nvSpPr>
        <p:spPr>
          <a:xfrm>
            <a:off x="7406640" y="1161288"/>
            <a:ext cx="640080" cy="640080"/>
          </a:xfrm>
          <a:prstGeom prst="ellipse">
            <a:avLst/>
          </a:prstGeom>
          <a:solidFill>
            <a:schemeClr val="bg1"/>
          </a:solidFill>
          <a:ln/>
        </p:spPr>
      </p:sp>
      <p:pic>
        <p:nvPicPr>
          <p:cNvPr id="27" name="Image 3" descr="FiUserCheck">    </p:cNvPr>
          <p:cNvPicPr>
            <a:picLocks noChangeAspect="1"/>
          </p:cNvPicPr>
          <p:nvPr/>
        </p:nvPicPr>
        <p:blipFill>
          <a:blip r:embed="rId4"/>
          <a:stretch>
            <a:fillRect/>
          </a:stretch>
        </p:blipFill>
        <p:spPr>
          <a:xfrm>
            <a:off x="7566660" y="1321308"/>
            <a:ext cx="320040" cy="320040"/>
          </a:xfrm>
          <a:prstGeom prst="rect">
            <a:avLst/>
          </a:prstGeom>
        </p:spPr>
      </p:pic>
      <p:sp>
        <p:nvSpPr>
          <p:cNvPr id="28" name="Text 21"/>
          <p:cNvSpPr txBox="1"/>
          <p:nvPr/>
        </p:nvSpPr>
        <p:spPr>
          <a:xfrm>
            <a:off x="6812280" y="1847088"/>
            <a:ext cx="1828800" cy="411480"/>
          </a:xfrm>
          <a:prstGeom prst="rect">
            <a:avLst/>
          </a:prstGeom>
          <a:noFill/>
          <a:ln/>
        </p:spPr>
        <p:txBody>
          <a:bodyPr wrap="square" lIns="0" tIns="0" rIns="0" bIns="0" rtlCol="0" anchor="ctr"/>
          <a:lstStyle/>
          <a:p>
            <a:pPr algn="ctr" indent="0" marL="0">
              <a:buNone/>
            </a:pPr>
            <a:r>
              <a:rPr lang="en-US" sz="1300" b="1" dirty="0">
                <a:solidFill>
                  <a:schemeClr val="bg1"/>
                </a:solidFill>
              </a:rPr>
              <a:t>Persona e rischi</a:t>
            </a:r>
            <a:endParaRPr lang="en-US" sz="1300" dirty="0"/>
          </a:p>
        </p:txBody>
      </p:sp>
      <p:sp>
        <p:nvSpPr>
          <p:cNvPr id="29" name="Text 22"/>
          <p:cNvSpPr txBox="1"/>
          <p:nvPr/>
        </p:nvSpPr>
        <p:spPr>
          <a:xfrm>
            <a:off x="6858000" y="2240280"/>
            <a:ext cx="1737360" cy="457200"/>
          </a:xfrm>
          <a:prstGeom prst="rect">
            <a:avLst/>
          </a:prstGeom>
          <a:noFill/>
          <a:ln/>
        </p:spPr>
        <p:txBody>
          <a:bodyPr wrap="square" lIns="0" tIns="0" rIns="0" bIns="0" rtlCol="0" anchor="t"/>
          <a:lstStyle/>
          <a:p>
            <a:pPr algn="ctr" indent="0" marL="0">
              <a:buNone/>
            </a:pPr>
            <a:r>
              <a:rPr lang="en-US" sz="1200" dirty="0">
                <a:solidFill>
                  <a:schemeClr val="bg1"/>
                </a:solidFill>
              </a:rPr>
              <a:t>Competenze, autonomia, responsabilità</a:t>
            </a:r>
            <a:endParaRPr lang="en-US" sz="1200" dirty="0"/>
          </a:p>
        </p:txBody>
      </p:sp>
      <p:sp>
        <p:nvSpPr>
          <p:cNvPr id="30" name="Text 23"/>
          <p:cNvSpPr txBox="1"/>
          <p:nvPr/>
        </p:nvSpPr>
        <p:spPr>
          <a:xfrm>
            <a:off x="6858000" y="2697480"/>
            <a:ext cx="1737360" cy="274320"/>
          </a:xfrm>
          <a:prstGeom prst="rect">
            <a:avLst/>
          </a:prstGeom>
          <a:noFill/>
          <a:ln/>
        </p:spPr>
        <p:txBody>
          <a:bodyPr wrap="square" lIns="0" tIns="0" rIns="0" bIns="0" rtlCol="0" anchor="t"/>
          <a:lstStyle/>
          <a:p>
            <a:pPr algn="ctr" indent="0" marL="0">
              <a:buNone/>
            </a:pPr>
            <a:r>
              <a:rPr lang="en-US" sz="1200" b="1" dirty="0">
                <a:solidFill>
                  <a:schemeClr val="accent6"/>
                </a:solidFill>
              </a:rPr>
              <a:t>5.6  5.7</a:t>
            </a:r>
            <a:endParaRPr lang="en-US" sz="1200" dirty="0"/>
          </a:p>
        </p:txBody>
      </p:sp>
      <p:sp>
        <p:nvSpPr>
          <p:cNvPr id="31" name="messaggio"/>
          <p:cNvSpPr/>
          <p:nvPr/>
        </p:nvSpPr>
        <p:spPr>
          <a:xfrm>
            <a:off x="457200" y="3337560"/>
            <a:ext cx="8229600" cy="731520"/>
          </a:xfrm>
          <a:prstGeom prst="roundRect">
            <a:avLst>
              <a:gd name="adj" fmla="val 10000"/>
            </a:avLst>
          </a:prstGeom>
          <a:solidFill>
            <a:schemeClr val="tx1"/>
          </a:solidFill>
          <a:ln/>
        </p:spPr>
      </p:sp>
      <p:sp>
        <p:nvSpPr>
          <p:cNvPr id="32" name="Text 25"/>
          <p:cNvSpPr txBox="1"/>
          <p:nvPr/>
        </p:nvSpPr>
        <p:spPr>
          <a:xfrm>
            <a:off x="640080" y="3337560"/>
            <a:ext cx="7863840" cy="731520"/>
          </a:xfrm>
          <a:prstGeom prst="rect">
            <a:avLst/>
          </a:prstGeom>
          <a:noFill/>
          <a:ln/>
        </p:spPr>
        <p:txBody>
          <a:bodyPr wrap="square" lIns="0" tIns="0" rIns="0" bIns="0" rtlCol="0" anchor="ctr"/>
          <a:lstStyle/>
          <a:p>
            <a:pPr indent="0" marL="0">
              <a:buNone/>
            </a:pPr>
            <a:r>
              <a:rPr lang="en-US" sz="1500" dirty="0">
                <a:solidFill>
                  <a:schemeClr val="bg1"/>
                </a:solidFill>
              </a:rPr>
              <a:t>La tecnologia amplifica le capacità umane senza sostituire giudizio, competenze e responsabilità.</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percorso del modulo</a:t>
            </a:r>
            <a:endParaRPr lang="en-US" sz="2600" dirty="0"/>
          </a:p>
        </p:txBody>
      </p:sp>
      <p:sp>
        <p:nvSpPr>
          <p:cNvPr id="4" name="riga 5.1"/>
          <p:cNvSpPr/>
          <p:nvPr/>
        </p:nvSpPr>
        <p:spPr>
          <a:xfrm>
            <a:off x="457200" y="1051560"/>
            <a:ext cx="5120640" cy="402336"/>
          </a:xfrm>
          <a:prstGeom prst="roundRect">
            <a:avLst>
              <a:gd name="adj" fmla="val 18182"/>
            </a:avLst>
          </a:prstGeom>
          <a:solidFill>
            <a:schemeClr val="bg2"/>
          </a:solidFill>
          <a:ln/>
        </p:spPr>
      </p:sp>
      <p:sp>
        <p:nvSpPr>
          <p:cNvPr id="5" name="Text 2"/>
          <p:cNvSpPr txBox="1"/>
          <p:nvPr/>
        </p:nvSpPr>
        <p:spPr>
          <a:xfrm>
            <a:off x="594360" y="1051560"/>
            <a:ext cx="502920" cy="402336"/>
          </a:xfrm>
          <a:prstGeom prst="rect">
            <a:avLst/>
          </a:prstGeom>
          <a:noFill/>
          <a:ln/>
        </p:spPr>
        <p:txBody>
          <a:bodyPr wrap="square" lIns="0" tIns="0" rIns="0" bIns="0" rtlCol="0" anchor="ctr"/>
          <a:lstStyle/>
          <a:p>
            <a:pPr indent="0" marL="0">
              <a:buNone/>
            </a:pPr>
            <a:r>
              <a:rPr lang="en-US" sz="1300" b="1" dirty="0">
                <a:solidFill>
                  <a:schemeClr val="accent1"/>
                </a:solidFill>
              </a:rPr>
              <a:t>5.1</a:t>
            </a:r>
            <a:endParaRPr lang="en-US" sz="1300" dirty="0"/>
          </a:p>
        </p:txBody>
      </p:sp>
      <p:sp>
        <p:nvSpPr>
          <p:cNvPr id="6" name="Text 3"/>
          <p:cNvSpPr txBox="1"/>
          <p:nvPr/>
        </p:nvSpPr>
        <p:spPr>
          <a:xfrm>
            <a:off x="1097280" y="1051560"/>
            <a:ext cx="3566160" cy="402336"/>
          </a:xfrm>
          <a:prstGeom prst="rect">
            <a:avLst/>
          </a:prstGeom>
          <a:noFill/>
          <a:ln/>
        </p:spPr>
        <p:txBody>
          <a:bodyPr wrap="square" lIns="0" tIns="0" rIns="0" bIns="0" rtlCol="0" anchor="ctr"/>
          <a:lstStyle/>
          <a:p>
            <a:pPr indent="0" marL="0">
              <a:buNone/>
            </a:pPr>
            <a:r>
              <a:rPr lang="en-US" sz="1300" dirty="0">
                <a:solidFill>
                  <a:schemeClr val="tx1"/>
                </a:solidFill>
              </a:rPr>
              <a:t>Il linguaggio naturale come interfaccia</a:t>
            </a:r>
            <a:endParaRPr lang="en-US" sz="1300" dirty="0"/>
          </a:p>
        </p:txBody>
      </p:sp>
      <p:sp>
        <p:nvSpPr>
          <p:cNvPr id="7" name="priorità 5.1"/>
          <p:cNvSpPr/>
          <p:nvPr/>
        </p:nvSpPr>
        <p:spPr>
          <a:xfrm>
            <a:off x="4754880" y="1133856"/>
            <a:ext cx="731520" cy="237744"/>
          </a:xfrm>
          <a:prstGeom prst="roundRect">
            <a:avLst>
              <a:gd name="adj" fmla="val 50000"/>
            </a:avLst>
          </a:prstGeom>
          <a:solidFill>
            <a:schemeClr val="accent1"/>
          </a:solidFill>
          <a:ln w="12700">
            <a:solidFill>
              <a:schemeClr val="accent1"/>
            </a:solidFill>
            <a:prstDash val="solid"/>
          </a:ln>
        </p:spPr>
      </p:sp>
      <p:sp>
        <p:nvSpPr>
          <p:cNvPr id="8" name="Text 5"/>
          <p:cNvSpPr txBox="1"/>
          <p:nvPr/>
        </p:nvSpPr>
        <p:spPr>
          <a:xfrm>
            <a:off x="4754880" y="1133856"/>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9" name="riga 5.2"/>
          <p:cNvSpPr/>
          <p:nvPr/>
        </p:nvSpPr>
        <p:spPr>
          <a:xfrm>
            <a:off x="457200" y="1527048"/>
            <a:ext cx="5120640" cy="402336"/>
          </a:xfrm>
          <a:prstGeom prst="roundRect">
            <a:avLst>
              <a:gd name="adj" fmla="val 18182"/>
            </a:avLst>
          </a:prstGeom>
          <a:solidFill>
            <a:schemeClr val="bg1"/>
          </a:solidFill>
          <a:ln/>
        </p:spPr>
      </p:sp>
      <p:sp>
        <p:nvSpPr>
          <p:cNvPr id="10" name="Text 7"/>
          <p:cNvSpPr txBox="1"/>
          <p:nvPr/>
        </p:nvSpPr>
        <p:spPr>
          <a:xfrm>
            <a:off x="594360" y="1527048"/>
            <a:ext cx="502920" cy="402336"/>
          </a:xfrm>
          <a:prstGeom prst="rect">
            <a:avLst/>
          </a:prstGeom>
          <a:noFill/>
          <a:ln/>
        </p:spPr>
        <p:txBody>
          <a:bodyPr wrap="square" lIns="0" tIns="0" rIns="0" bIns="0" rtlCol="0" anchor="ctr"/>
          <a:lstStyle/>
          <a:p>
            <a:pPr indent="0" marL="0">
              <a:buNone/>
            </a:pPr>
            <a:r>
              <a:rPr lang="en-US" sz="1300" b="1" dirty="0">
                <a:solidFill>
                  <a:schemeClr val="accent1"/>
                </a:solidFill>
              </a:rPr>
              <a:t>5.2</a:t>
            </a:r>
            <a:endParaRPr lang="en-US" sz="1300" dirty="0"/>
          </a:p>
        </p:txBody>
      </p:sp>
      <p:sp>
        <p:nvSpPr>
          <p:cNvPr id="11" name="Text 8"/>
          <p:cNvSpPr txBox="1"/>
          <p:nvPr/>
        </p:nvSpPr>
        <p:spPr>
          <a:xfrm>
            <a:off x="1097280" y="1527048"/>
            <a:ext cx="3566160" cy="402336"/>
          </a:xfrm>
          <a:prstGeom prst="rect">
            <a:avLst/>
          </a:prstGeom>
          <a:noFill/>
          <a:ln/>
        </p:spPr>
        <p:txBody>
          <a:bodyPr wrap="square" lIns="0" tIns="0" rIns="0" bIns="0" rtlCol="0" anchor="ctr"/>
          <a:lstStyle/>
          <a:p>
            <a:pPr indent="0" marL="0">
              <a:buNone/>
            </a:pPr>
            <a:r>
              <a:rPr lang="en-US" sz="1300" dirty="0">
                <a:solidFill>
                  <a:schemeClr val="tx1"/>
                </a:solidFill>
              </a:rPr>
              <a:t>Dalla domanda alla conversazione</a:t>
            </a:r>
            <a:endParaRPr lang="en-US" sz="1300" dirty="0"/>
          </a:p>
        </p:txBody>
      </p:sp>
      <p:sp>
        <p:nvSpPr>
          <p:cNvPr id="12" name="priorità 5.2"/>
          <p:cNvSpPr/>
          <p:nvPr/>
        </p:nvSpPr>
        <p:spPr>
          <a:xfrm>
            <a:off x="4754880" y="1609344"/>
            <a:ext cx="731520" cy="237744"/>
          </a:xfrm>
          <a:prstGeom prst="roundRect">
            <a:avLst>
              <a:gd name="adj" fmla="val 50000"/>
            </a:avLst>
          </a:prstGeom>
          <a:solidFill>
            <a:schemeClr val="accent1"/>
          </a:solidFill>
          <a:ln w="12700">
            <a:solidFill>
              <a:schemeClr val="accent1"/>
            </a:solidFill>
            <a:prstDash val="solid"/>
          </a:ln>
        </p:spPr>
      </p:sp>
      <p:sp>
        <p:nvSpPr>
          <p:cNvPr id="13" name="Text 10"/>
          <p:cNvSpPr txBox="1"/>
          <p:nvPr/>
        </p:nvSpPr>
        <p:spPr>
          <a:xfrm>
            <a:off x="4754880" y="1609344"/>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14" name="riga 5.3"/>
          <p:cNvSpPr/>
          <p:nvPr/>
        </p:nvSpPr>
        <p:spPr>
          <a:xfrm>
            <a:off x="457200" y="2002536"/>
            <a:ext cx="5120640" cy="402336"/>
          </a:xfrm>
          <a:prstGeom prst="roundRect">
            <a:avLst>
              <a:gd name="adj" fmla="val 18182"/>
            </a:avLst>
          </a:prstGeom>
          <a:solidFill>
            <a:schemeClr val="bg2"/>
          </a:solidFill>
          <a:ln/>
        </p:spPr>
      </p:sp>
      <p:sp>
        <p:nvSpPr>
          <p:cNvPr id="15" name="Text 12"/>
          <p:cNvSpPr txBox="1"/>
          <p:nvPr/>
        </p:nvSpPr>
        <p:spPr>
          <a:xfrm>
            <a:off x="594360" y="2002536"/>
            <a:ext cx="502920" cy="402336"/>
          </a:xfrm>
          <a:prstGeom prst="rect">
            <a:avLst/>
          </a:prstGeom>
          <a:noFill/>
          <a:ln/>
        </p:spPr>
        <p:txBody>
          <a:bodyPr wrap="square" lIns="0" tIns="0" rIns="0" bIns="0" rtlCol="0" anchor="ctr"/>
          <a:lstStyle/>
          <a:p>
            <a:pPr indent="0" marL="0">
              <a:buNone/>
            </a:pPr>
            <a:r>
              <a:rPr lang="en-US" sz="1300" b="1" dirty="0">
                <a:solidFill>
                  <a:schemeClr val="accent1"/>
                </a:solidFill>
              </a:rPr>
              <a:t>5.3</a:t>
            </a:r>
            <a:endParaRPr lang="en-US" sz="1300" dirty="0"/>
          </a:p>
        </p:txBody>
      </p:sp>
      <p:sp>
        <p:nvSpPr>
          <p:cNvPr id="16" name="Text 13"/>
          <p:cNvSpPr txBox="1"/>
          <p:nvPr/>
        </p:nvSpPr>
        <p:spPr>
          <a:xfrm>
            <a:off x="1097280" y="2002536"/>
            <a:ext cx="3566160" cy="402336"/>
          </a:xfrm>
          <a:prstGeom prst="rect">
            <a:avLst/>
          </a:prstGeom>
          <a:noFill/>
          <a:ln/>
        </p:spPr>
        <p:txBody>
          <a:bodyPr wrap="square" lIns="0" tIns="0" rIns="0" bIns="0" rtlCol="0" anchor="ctr"/>
          <a:lstStyle/>
          <a:p>
            <a:pPr indent="0" marL="0">
              <a:buNone/>
            </a:pPr>
            <a:r>
              <a:rPr lang="en-US" sz="1300" dirty="0">
                <a:solidFill>
                  <a:schemeClr val="tx1"/>
                </a:solidFill>
              </a:rPr>
              <a:t>I diversi ruoli che l'AI può assumere</a:t>
            </a:r>
            <a:endParaRPr lang="en-US" sz="1300" dirty="0"/>
          </a:p>
        </p:txBody>
      </p:sp>
      <p:sp>
        <p:nvSpPr>
          <p:cNvPr id="17" name="priorità 5.3"/>
          <p:cNvSpPr/>
          <p:nvPr/>
        </p:nvSpPr>
        <p:spPr>
          <a:xfrm>
            <a:off x="4754880" y="2084832"/>
            <a:ext cx="731520" cy="237744"/>
          </a:xfrm>
          <a:prstGeom prst="roundRect">
            <a:avLst>
              <a:gd name="adj" fmla="val 50000"/>
            </a:avLst>
          </a:prstGeom>
          <a:solidFill>
            <a:schemeClr val="accent1"/>
          </a:solidFill>
          <a:ln w="12700">
            <a:solidFill>
              <a:schemeClr val="accent1"/>
            </a:solidFill>
            <a:prstDash val="solid"/>
          </a:ln>
        </p:spPr>
      </p:sp>
      <p:sp>
        <p:nvSpPr>
          <p:cNvPr id="18" name="Text 15"/>
          <p:cNvSpPr txBox="1"/>
          <p:nvPr/>
        </p:nvSpPr>
        <p:spPr>
          <a:xfrm>
            <a:off x="4754880" y="2084832"/>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19" name="riga 5.4"/>
          <p:cNvSpPr/>
          <p:nvPr/>
        </p:nvSpPr>
        <p:spPr>
          <a:xfrm>
            <a:off x="457200" y="2478024"/>
            <a:ext cx="5120640" cy="402336"/>
          </a:xfrm>
          <a:prstGeom prst="roundRect">
            <a:avLst>
              <a:gd name="adj" fmla="val 18182"/>
            </a:avLst>
          </a:prstGeom>
          <a:solidFill>
            <a:schemeClr val="bg1"/>
          </a:solidFill>
          <a:ln/>
        </p:spPr>
      </p:sp>
      <p:sp>
        <p:nvSpPr>
          <p:cNvPr id="20" name="Text 17"/>
          <p:cNvSpPr txBox="1"/>
          <p:nvPr/>
        </p:nvSpPr>
        <p:spPr>
          <a:xfrm>
            <a:off x="594360" y="2478024"/>
            <a:ext cx="502920" cy="402336"/>
          </a:xfrm>
          <a:prstGeom prst="rect">
            <a:avLst/>
          </a:prstGeom>
          <a:noFill/>
          <a:ln/>
        </p:spPr>
        <p:txBody>
          <a:bodyPr wrap="square" lIns="0" tIns="0" rIns="0" bIns="0" rtlCol="0" anchor="ctr"/>
          <a:lstStyle/>
          <a:p>
            <a:pPr indent="0" marL="0">
              <a:buNone/>
            </a:pPr>
            <a:r>
              <a:rPr lang="en-US" sz="1300" b="1" dirty="0">
                <a:solidFill>
                  <a:schemeClr val="accent1"/>
                </a:solidFill>
              </a:rPr>
              <a:t>5.4</a:t>
            </a:r>
            <a:endParaRPr lang="en-US" sz="1300" dirty="0"/>
          </a:p>
        </p:txBody>
      </p:sp>
      <p:sp>
        <p:nvSpPr>
          <p:cNvPr id="21" name="Text 18"/>
          <p:cNvSpPr txBox="1"/>
          <p:nvPr/>
        </p:nvSpPr>
        <p:spPr>
          <a:xfrm>
            <a:off x="1097280" y="2478024"/>
            <a:ext cx="3566160" cy="402336"/>
          </a:xfrm>
          <a:prstGeom prst="rect">
            <a:avLst/>
          </a:prstGeom>
          <a:noFill/>
          <a:ln/>
        </p:spPr>
        <p:txBody>
          <a:bodyPr wrap="square" lIns="0" tIns="0" rIns="0" bIns="0" rtlCol="0" anchor="ctr"/>
          <a:lstStyle/>
          <a:p>
            <a:pPr indent="0" marL="0">
              <a:buNone/>
            </a:pPr>
            <a:r>
              <a:rPr lang="en-US" sz="1300" dirty="0">
                <a:solidFill>
                  <a:schemeClr val="tx1"/>
                </a:solidFill>
              </a:rPr>
              <a:t>La collaborazione uomo-AI</a:t>
            </a:r>
            <a:endParaRPr lang="en-US" sz="1300" dirty="0"/>
          </a:p>
        </p:txBody>
      </p:sp>
      <p:sp>
        <p:nvSpPr>
          <p:cNvPr id="22" name="priorità 5.4"/>
          <p:cNvSpPr/>
          <p:nvPr/>
        </p:nvSpPr>
        <p:spPr>
          <a:xfrm>
            <a:off x="4754880" y="2560320"/>
            <a:ext cx="731520" cy="237744"/>
          </a:xfrm>
          <a:prstGeom prst="roundRect">
            <a:avLst>
              <a:gd name="adj" fmla="val 50000"/>
            </a:avLst>
          </a:prstGeom>
          <a:solidFill>
            <a:schemeClr val="accent1"/>
          </a:solidFill>
          <a:ln w="12700">
            <a:solidFill>
              <a:schemeClr val="accent1"/>
            </a:solidFill>
            <a:prstDash val="solid"/>
          </a:ln>
        </p:spPr>
      </p:sp>
      <p:sp>
        <p:nvSpPr>
          <p:cNvPr id="23" name="Text 20"/>
          <p:cNvSpPr txBox="1"/>
          <p:nvPr/>
        </p:nvSpPr>
        <p:spPr>
          <a:xfrm>
            <a:off x="4754880" y="2560320"/>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24" name="riga 5.5"/>
          <p:cNvSpPr/>
          <p:nvPr/>
        </p:nvSpPr>
        <p:spPr>
          <a:xfrm>
            <a:off x="457200" y="2953512"/>
            <a:ext cx="5120640" cy="402336"/>
          </a:xfrm>
          <a:prstGeom prst="roundRect">
            <a:avLst>
              <a:gd name="adj" fmla="val 18182"/>
            </a:avLst>
          </a:prstGeom>
          <a:solidFill>
            <a:schemeClr val="bg2"/>
          </a:solidFill>
          <a:ln/>
        </p:spPr>
      </p:sp>
      <p:sp>
        <p:nvSpPr>
          <p:cNvPr id="25" name="Text 22"/>
          <p:cNvSpPr txBox="1"/>
          <p:nvPr/>
        </p:nvSpPr>
        <p:spPr>
          <a:xfrm>
            <a:off x="594360" y="2953512"/>
            <a:ext cx="502920" cy="402336"/>
          </a:xfrm>
          <a:prstGeom prst="rect">
            <a:avLst/>
          </a:prstGeom>
          <a:noFill/>
          <a:ln/>
        </p:spPr>
        <p:txBody>
          <a:bodyPr wrap="square" lIns="0" tIns="0" rIns="0" bIns="0" rtlCol="0" anchor="ctr"/>
          <a:lstStyle/>
          <a:p>
            <a:pPr indent="0" marL="0">
              <a:buNone/>
            </a:pPr>
            <a:r>
              <a:rPr lang="en-US" sz="1300" b="1" dirty="0">
                <a:solidFill>
                  <a:schemeClr val="accent1"/>
                </a:solidFill>
              </a:rPr>
              <a:t>5.5</a:t>
            </a:r>
            <a:endParaRPr lang="en-US" sz="1300" dirty="0"/>
          </a:p>
        </p:txBody>
      </p:sp>
      <p:sp>
        <p:nvSpPr>
          <p:cNvPr id="26" name="Text 23"/>
          <p:cNvSpPr txBox="1"/>
          <p:nvPr/>
        </p:nvSpPr>
        <p:spPr>
          <a:xfrm>
            <a:off x="1097280" y="2953512"/>
            <a:ext cx="3566160" cy="402336"/>
          </a:xfrm>
          <a:prstGeom prst="rect">
            <a:avLst/>
          </a:prstGeom>
          <a:noFill/>
          <a:ln/>
        </p:spPr>
        <p:txBody>
          <a:bodyPr wrap="square" lIns="0" tIns="0" rIns="0" bIns="0" rtlCol="0" anchor="ctr"/>
          <a:lstStyle/>
          <a:p>
            <a:pPr indent="0" marL="0">
              <a:buNone/>
            </a:pPr>
            <a:r>
              <a:rPr lang="en-US" sz="1300" dirty="0">
                <a:solidFill>
                  <a:schemeClr val="tx1"/>
                </a:solidFill>
              </a:rPr>
              <a:t>I livelli di delega all'AI</a:t>
            </a:r>
            <a:endParaRPr lang="en-US" sz="1300" dirty="0"/>
          </a:p>
        </p:txBody>
      </p:sp>
      <p:sp>
        <p:nvSpPr>
          <p:cNvPr id="27" name="priorità 5.5"/>
          <p:cNvSpPr/>
          <p:nvPr/>
        </p:nvSpPr>
        <p:spPr>
          <a:xfrm>
            <a:off x="4754880" y="3035808"/>
            <a:ext cx="731520" cy="237744"/>
          </a:xfrm>
          <a:prstGeom prst="roundRect">
            <a:avLst>
              <a:gd name="adj" fmla="val 50000"/>
            </a:avLst>
          </a:prstGeom>
          <a:solidFill>
            <a:schemeClr val="accent1"/>
          </a:solidFill>
          <a:ln w="12700">
            <a:solidFill>
              <a:schemeClr val="accent1"/>
            </a:solidFill>
            <a:prstDash val="solid"/>
          </a:ln>
        </p:spPr>
      </p:sp>
      <p:sp>
        <p:nvSpPr>
          <p:cNvPr id="28" name="Text 25"/>
          <p:cNvSpPr txBox="1"/>
          <p:nvPr/>
        </p:nvSpPr>
        <p:spPr>
          <a:xfrm>
            <a:off x="4754880" y="3035808"/>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29" name="riga 5.6"/>
          <p:cNvSpPr/>
          <p:nvPr/>
        </p:nvSpPr>
        <p:spPr>
          <a:xfrm>
            <a:off x="457200" y="3429000"/>
            <a:ext cx="5120640" cy="402336"/>
          </a:xfrm>
          <a:prstGeom prst="roundRect">
            <a:avLst>
              <a:gd name="adj" fmla="val 18182"/>
            </a:avLst>
          </a:prstGeom>
          <a:solidFill>
            <a:schemeClr val="bg1"/>
          </a:solidFill>
          <a:ln/>
        </p:spPr>
      </p:sp>
      <p:sp>
        <p:nvSpPr>
          <p:cNvPr id="30" name="Text 27"/>
          <p:cNvSpPr txBox="1"/>
          <p:nvPr/>
        </p:nvSpPr>
        <p:spPr>
          <a:xfrm>
            <a:off x="594360" y="3429000"/>
            <a:ext cx="502920" cy="402336"/>
          </a:xfrm>
          <a:prstGeom prst="rect">
            <a:avLst/>
          </a:prstGeom>
          <a:noFill/>
          <a:ln/>
        </p:spPr>
        <p:txBody>
          <a:bodyPr wrap="square" lIns="0" tIns="0" rIns="0" bIns="0" rtlCol="0" anchor="ctr"/>
          <a:lstStyle/>
          <a:p>
            <a:pPr indent="0" marL="0">
              <a:buNone/>
            </a:pPr>
            <a:r>
              <a:rPr lang="en-US" sz="1300" b="1" dirty="0">
                <a:solidFill>
                  <a:schemeClr val="accent1"/>
                </a:solidFill>
              </a:rPr>
              <a:t>5.6</a:t>
            </a:r>
            <a:endParaRPr lang="en-US" sz="1300" dirty="0"/>
          </a:p>
        </p:txBody>
      </p:sp>
      <p:sp>
        <p:nvSpPr>
          <p:cNvPr id="31" name="Text 28"/>
          <p:cNvSpPr txBox="1"/>
          <p:nvPr/>
        </p:nvSpPr>
        <p:spPr>
          <a:xfrm>
            <a:off x="1097280" y="3429000"/>
            <a:ext cx="3566160" cy="402336"/>
          </a:xfrm>
          <a:prstGeom prst="rect">
            <a:avLst/>
          </a:prstGeom>
          <a:noFill/>
          <a:ln/>
        </p:spPr>
        <p:txBody>
          <a:bodyPr wrap="square" lIns="0" tIns="0" rIns="0" bIns="0" rtlCol="0" anchor="ctr"/>
          <a:lstStyle/>
          <a:p>
            <a:pPr indent="0" marL="0">
              <a:buNone/>
            </a:pPr>
            <a:r>
              <a:rPr lang="en-US" sz="1300" dirty="0">
                <a:solidFill>
                  <a:schemeClr val="tx1"/>
                </a:solidFill>
              </a:rPr>
              <a:t>La qualità dipende anche dalla persona</a:t>
            </a:r>
            <a:endParaRPr lang="en-US" sz="1300" dirty="0"/>
          </a:p>
        </p:txBody>
      </p:sp>
      <p:sp>
        <p:nvSpPr>
          <p:cNvPr id="32" name="priorità 5.6"/>
          <p:cNvSpPr/>
          <p:nvPr/>
        </p:nvSpPr>
        <p:spPr>
          <a:xfrm>
            <a:off x="4754880" y="3511296"/>
            <a:ext cx="731520" cy="237744"/>
          </a:xfrm>
          <a:prstGeom prst="roundRect">
            <a:avLst>
              <a:gd name="adj" fmla="val 50000"/>
            </a:avLst>
          </a:prstGeom>
          <a:solidFill>
            <a:schemeClr val="accent1"/>
          </a:solidFill>
          <a:ln w="12700">
            <a:solidFill>
              <a:schemeClr val="accent1"/>
            </a:solidFill>
            <a:prstDash val="solid"/>
          </a:ln>
        </p:spPr>
      </p:sp>
      <p:sp>
        <p:nvSpPr>
          <p:cNvPr id="33" name="Text 30"/>
          <p:cNvSpPr txBox="1"/>
          <p:nvPr/>
        </p:nvSpPr>
        <p:spPr>
          <a:xfrm>
            <a:off x="4754880" y="3511296"/>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34" name="riga 5.7"/>
          <p:cNvSpPr/>
          <p:nvPr/>
        </p:nvSpPr>
        <p:spPr>
          <a:xfrm>
            <a:off x="457200" y="3904488"/>
            <a:ext cx="5120640" cy="402336"/>
          </a:xfrm>
          <a:prstGeom prst="roundRect">
            <a:avLst>
              <a:gd name="adj" fmla="val 18182"/>
            </a:avLst>
          </a:prstGeom>
          <a:solidFill>
            <a:schemeClr val="bg2"/>
          </a:solidFill>
          <a:ln/>
        </p:spPr>
      </p:sp>
      <p:sp>
        <p:nvSpPr>
          <p:cNvPr id="35" name="Text 32"/>
          <p:cNvSpPr txBox="1"/>
          <p:nvPr/>
        </p:nvSpPr>
        <p:spPr>
          <a:xfrm>
            <a:off x="594360" y="3904488"/>
            <a:ext cx="502920" cy="402336"/>
          </a:xfrm>
          <a:prstGeom prst="rect">
            <a:avLst/>
          </a:prstGeom>
          <a:noFill/>
          <a:ln/>
        </p:spPr>
        <p:txBody>
          <a:bodyPr wrap="square" lIns="0" tIns="0" rIns="0" bIns="0" rtlCol="0" anchor="ctr"/>
          <a:lstStyle/>
          <a:p>
            <a:pPr indent="0" marL="0">
              <a:buNone/>
            </a:pPr>
            <a:r>
              <a:rPr lang="en-US" sz="1300" b="1" dirty="0">
                <a:solidFill>
                  <a:schemeClr val="accent1"/>
                </a:solidFill>
              </a:rPr>
              <a:t>5.7</a:t>
            </a:r>
            <a:endParaRPr lang="en-US" sz="1300" dirty="0"/>
          </a:p>
        </p:txBody>
      </p:sp>
      <p:sp>
        <p:nvSpPr>
          <p:cNvPr id="36" name="Text 33"/>
          <p:cNvSpPr txBox="1"/>
          <p:nvPr/>
        </p:nvSpPr>
        <p:spPr>
          <a:xfrm>
            <a:off x="1097280" y="3904488"/>
            <a:ext cx="3566160" cy="402336"/>
          </a:xfrm>
          <a:prstGeom prst="rect">
            <a:avLst/>
          </a:prstGeom>
          <a:noFill/>
          <a:ln/>
        </p:spPr>
        <p:txBody>
          <a:bodyPr wrap="square" lIns="0" tIns="0" rIns="0" bIns="0" rtlCol="0" anchor="ctr"/>
          <a:lstStyle/>
          <a:p>
            <a:pPr indent="0" marL="0">
              <a:buNone/>
            </a:pPr>
            <a:r>
              <a:rPr lang="en-US" sz="1300" dirty="0">
                <a:solidFill>
                  <a:schemeClr val="tx1"/>
                </a:solidFill>
              </a:rPr>
              <a:t>Limiti e rischi della relazione conversazionale</a:t>
            </a:r>
            <a:endParaRPr lang="en-US" sz="1300" dirty="0"/>
          </a:p>
        </p:txBody>
      </p:sp>
      <p:sp>
        <p:nvSpPr>
          <p:cNvPr id="37" name="priorità 5.7"/>
          <p:cNvSpPr/>
          <p:nvPr/>
        </p:nvSpPr>
        <p:spPr>
          <a:xfrm>
            <a:off x="4754880" y="3986784"/>
            <a:ext cx="731520" cy="237744"/>
          </a:xfrm>
          <a:prstGeom prst="roundRect">
            <a:avLst>
              <a:gd name="adj" fmla="val 50000"/>
            </a:avLst>
          </a:prstGeom>
          <a:solidFill>
            <a:schemeClr val="accent1"/>
          </a:solidFill>
          <a:ln w="12700">
            <a:solidFill>
              <a:schemeClr val="accent1"/>
            </a:solidFill>
            <a:prstDash val="solid"/>
          </a:ln>
        </p:spPr>
      </p:sp>
      <p:sp>
        <p:nvSpPr>
          <p:cNvPr id="38" name="Text 35"/>
          <p:cNvSpPr txBox="1"/>
          <p:nvPr/>
        </p:nvSpPr>
        <p:spPr>
          <a:xfrm>
            <a:off x="4754880" y="3986784"/>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39" name="livello Comprendere bene"/>
          <p:cNvSpPr/>
          <p:nvPr/>
        </p:nvSpPr>
        <p:spPr>
          <a:xfrm>
            <a:off x="5806440" y="1051560"/>
            <a:ext cx="2880360" cy="1005840"/>
          </a:xfrm>
          <a:prstGeom prst="roundRect">
            <a:avLst>
              <a:gd name="adj" fmla="val 7273"/>
            </a:avLst>
          </a:prstGeom>
          <a:solidFill>
            <a:schemeClr val="accent1"/>
          </a:solidFill>
          <a:ln/>
        </p:spPr>
      </p:sp>
      <p:sp>
        <p:nvSpPr>
          <p:cNvPr id="40" name="Text 37"/>
          <p:cNvSpPr txBox="1"/>
          <p:nvPr/>
        </p:nvSpPr>
        <p:spPr>
          <a:xfrm>
            <a:off x="5943600" y="1124712"/>
            <a:ext cx="2651760" cy="274320"/>
          </a:xfrm>
          <a:prstGeom prst="rect">
            <a:avLst/>
          </a:prstGeom>
          <a:noFill/>
          <a:ln/>
        </p:spPr>
        <p:txBody>
          <a:bodyPr wrap="square" lIns="0" tIns="0" rIns="0" bIns="0" rtlCol="0" anchor="t"/>
          <a:lstStyle/>
          <a:p>
            <a:pPr indent="0" marL="0">
              <a:buNone/>
            </a:pPr>
            <a:r>
              <a:rPr lang="en-US" sz="1300" b="1" dirty="0">
                <a:solidFill>
                  <a:schemeClr val="bg1"/>
                </a:solidFill>
              </a:rPr>
              <a:t>Comprendere bene</a:t>
            </a:r>
            <a:endParaRPr lang="en-US" sz="1300" dirty="0"/>
          </a:p>
        </p:txBody>
      </p:sp>
      <p:sp>
        <p:nvSpPr>
          <p:cNvPr id="41" name="Text 38"/>
          <p:cNvSpPr txBox="1"/>
          <p:nvPr/>
        </p:nvSpPr>
        <p:spPr>
          <a:xfrm>
            <a:off x="5943600" y="1417320"/>
            <a:ext cx="2651760" cy="603504"/>
          </a:xfrm>
          <a:prstGeom prst="rect">
            <a:avLst/>
          </a:prstGeom>
          <a:noFill/>
          <a:ln/>
        </p:spPr>
        <p:txBody>
          <a:bodyPr wrap="square" lIns="0" tIns="0" rIns="0" bIns="0" rtlCol="0" anchor="t"/>
          <a:lstStyle/>
          <a:p>
            <a:pPr indent="0" marL="0">
              <a:buNone/>
            </a:pPr>
            <a:r>
              <a:rPr lang="en-US" sz="1000" dirty="0">
                <a:solidFill>
                  <a:schemeClr val="bg1"/>
                </a:solidFill>
              </a:rPr>
              <a:t>Dialogo iterativo, collaborazione, livelli di delega, competenze umane, autonomia cognitiva e responsabilità</a:t>
            </a:r>
            <a:endParaRPr lang="en-US" sz="1000" dirty="0"/>
          </a:p>
        </p:txBody>
      </p:sp>
      <p:sp>
        <p:nvSpPr>
          <p:cNvPr id="42" name="livello Conoscere"/>
          <p:cNvSpPr/>
          <p:nvPr/>
        </p:nvSpPr>
        <p:spPr>
          <a:xfrm>
            <a:off x="5806440" y="2194560"/>
            <a:ext cx="2880360" cy="1005840"/>
          </a:xfrm>
          <a:prstGeom prst="roundRect">
            <a:avLst>
              <a:gd name="adj" fmla="val 7273"/>
            </a:avLst>
          </a:prstGeom>
          <a:solidFill>
            <a:schemeClr val="accent6"/>
          </a:solidFill>
          <a:ln/>
        </p:spPr>
      </p:sp>
      <p:sp>
        <p:nvSpPr>
          <p:cNvPr id="43" name="Text 40"/>
          <p:cNvSpPr txBox="1"/>
          <p:nvPr/>
        </p:nvSpPr>
        <p:spPr>
          <a:xfrm>
            <a:off x="5943600" y="2267712"/>
            <a:ext cx="2651760" cy="274320"/>
          </a:xfrm>
          <a:prstGeom prst="rect">
            <a:avLst/>
          </a:prstGeom>
          <a:noFill/>
          <a:ln/>
        </p:spPr>
        <p:txBody>
          <a:bodyPr wrap="square" lIns="0" tIns="0" rIns="0" bIns="0" rtlCol="0" anchor="t"/>
          <a:lstStyle/>
          <a:p>
            <a:pPr indent="0" marL="0">
              <a:buNone/>
            </a:pPr>
            <a:r>
              <a:rPr lang="en-US" sz="1300" b="1" dirty="0">
                <a:solidFill>
                  <a:schemeClr val="tx1"/>
                </a:solidFill>
              </a:rPr>
              <a:t>Conoscere</a:t>
            </a:r>
            <a:endParaRPr lang="en-US" sz="1300" dirty="0"/>
          </a:p>
        </p:txBody>
      </p:sp>
      <p:sp>
        <p:nvSpPr>
          <p:cNvPr id="44" name="Text 41"/>
          <p:cNvSpPr txBox="1"/>
          <p:nvPr/>
        </p:nvSpPr>
        <p:spPr>
          <a:xfrm>
            <a:off x="5943600" y="2560320"/>
            <a:ext cx="2651760" cy="603504"/>
          </a:xfrm>
          <a:prstGeom prst="rect">
            <a:avLst/>
          </a:prstGeom>
          <a:noFill/>
          <a:ln/>
        </p:spPr>
        <p:txBody>
          <a:bodyPr wrap="square" lIns="0" tIns="0" rIns="0" bIns="0" rtlCol="0" anchor="t"/>
          <a:lstStyle/>
          <a:p>
            <a:pPr indent="0" marL="0">
              <a:buNone/>
            </a:pPr>
            <a:r>
              <a:rPr lang="en-US" sz="1000" dirty="0">
                <a:solidFill>
                  <a:schemeClr val="tx1"/>
                </a:solidFill>
              </a:rPr>
              <a:t>Interfacce conversazionali, ruoli dell'AI, interlocutore critico, feedback e chiarimento</a:t>
            </a:r>
            <a:endParaRPr lang="en-US" sz="1000" dirty="0"/>
          </a:p>
        </p:txBody>
      </p:sp>
      <p:sp>
        <p:nvSpPr>
          <p:cNvPr id="45" name="livello Solo accennare"/>
          <p:cNvSpPr/>
          <p:nvPr/>
        </p:nvSpPr>
        <p:spPr>
          <a:xfrm>
            <a:off x="5806440" y="3337560"/>
            <a:ext cx="2880360" cy="1005840"/>
          </a:xfrm>
          <a:prstGeom prst="roundRect">
            <a:avLst>
              <a:gd name="adj" fmla="val 7273"/>
            </a:avLst>
          </a:prstGeom>
          <a:solidFill>
            <a:schemeClr val="bg2"/>
          </a:solidFill>
          <a:ln/>
        </p:spPr>
      </p:sp>
      <p:sp>
        <p:nvSpPr>
          <p:cNvPr id="46" name="Text 43"/>
          <p:cNvSpPr txBox="1"/>
          <p:nvPr/>
        </p:nvSpPr>
        <p:spPr>
          <a:xfrm>
            <a:off x="5943600" y="3410712"/>
            <a:ext cx="2651760" cy="274320"/>
          </a:xfrm>
          <a:prstGeom prst="rect">
            <a:avLst/>
          </a:prstGeom>
          <a:noFill/>
          <a:ln/>
        </p:spPr>
        <p:txBody>
          <a:bodyPr wrap="square" lIns="0" tIns="0" rIns="0" bIns="0" rtlCol="0" anchor="t"/>
          <a:lstStyle/>
          <a:p>
            <a:pPr indent="0" marL="0">
              <a:buNone/>
            </a:pPr>
            <a:r>
              <a:rPr lang="en-US" sz="1300" b="1" dirty="0">
                <a:solidFill>
                  <a:schemeClr val="tx1"/>
                </a:solidFill>
              </a:rPr>
              <a:t>Solo accennare</a:t>
            </a:r>
            <a:endParaRPr lang="en-US" sz="1300" dirty="0"/>
          </a:p>
        </p:txBody>
      </p:sp>
      <p:sp>
        <p:nvSpPr>
          <p:cNvPr id="47" name="Text 44"/>
          <p:cNvSpPr txBox="1"/>
          <p:nvPr/>
        </p:nvSpPr>
        <p:spPr>
          <a:xfrm>
            <a:off x="5943600" y="3703320"/>
            <a:ext cx="2651760" cy="603504"/>
          </a:xfrm>
          <a:prstGeom prst="rect">
            <a:avLst/>
          </a:prstGeom>
          <a:noFill/>
          <a:ln/>
        </p:spPr>
        <p:txBody>
          <a:bodyPr wrap="square" lIns="0" tIns="0" rIns="0" bIns="0" rtlCol="0" anchor="t"/>
          <a:lstStyle/>
          <a:p>
            <a:pPr indent="0" marL="0">
              <a:buNone/>
            </a:pPr>
            <a:r>
              <a:rPr lang="en-US" sz="1000" dirty="0">
                <a:solidFill>
                  <a:schemeClr val="tx1"/>
                </a:solidFill>
              </a:rPr>
              <a:t>Teorie dell'interazione uomo-macchina, modelli psicologici della fiducia, progettazione di agenti</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5.1</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Il linguaggio naturale come interfaccia</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Amplia l'accessibilità, ma richiede comunque obiettivi chiari e interpretazione critica delle risposte</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Dai comandi alle richieste</a:t>
            </a:r>
            <a:endParaRPr lang="en-US" sz="2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920240"/>
                <a:gridCol w="3154680"/>
                <a:gridCol w="3154680"/>
              </a:tblGrid>
              <a:tr h="502920">
                <a:tc>
                  <a:txBody>
                    <a:bodyPr/>
                    <a:lstStyle/>
                    <a:p>
                      <a:pPr indent="0" marL="0">
                        <a:buNone/>
                      </a:pP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b="1" dirty="0">
                          <a:solidFill>
                            <a:schemeClr val="bg1"/>
                          </a:solidFill>
                        </a:rPr>
                        <a:t>Comandi predefiniti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Richieste in linguaggio naturale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502920">
                <a:tc>
                  <a:txBody>
                    <a:bodyPr/>
                    <a:lstStyle/>
                    <a:p>
                      <a:pPr indent="0" marL="0">
                        <a:buNone/>
                      </a:pPr>
                      <a:r>
                        <a:rPr lang="en-US" sz="1300" b="1" dirty="0">
                          <a:solidFill>
                            <a:schemeClr val="tx1"/>
                          </a:solidFill>
                        </a:rPr>
                        <a:t>Che cosa esprimiamo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Il "come": la sequenza di operazioni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Il "che cosa": l'obiettivo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02920">
                <a:tc>
                  <a:txBody>
                    <a:bodyPr/>
                    <a:lstStyle/>
                    <a:p>
                      <a:pPr indent="0" marL="0">
                        <a:buNone/>
                      </a:pPr>
                      <a:r>
                        <a:rPr lang="en-US" sz="1300" b="1" dirty="0">
                          <a:solidFill>
                            <a:schemeClr val="tx1"/>
                          </a:solidFill>
                        </a:rPr>
                        <a:t>Che cosa serve sapere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Dove sono le funzioni, come si usano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Che cosa vogliamo ottenere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02920">
                <a:tc>
                  <a:txBody>
                    <a:bodyPr/>
                    <a:lstStyle/>
                    <a:p>
                      <a:pPr indent="0" marL="0">
                        <a:buNone/>
                      </a:pPr>
                      <a:r>
                        <a:rPr lang="en-US" sz="1300" b="1" dirty="0">
                          <a:solidFill>
                            <a:schemeClr val="tx1"/>
                          </a:solidFill>
                        </a:rPr>
                        <a:t>Significato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Preciso e prevedibile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Da interpretare, a volte ambiguo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02920">
                <a:tc>
                  <a:txBody>
                    <a:bodyPr/>
                    <a:lstStyle/>
                    <a:p>
                      <a:pPr indent="0" marL="0">
                        <a:buNone/>
                      </a:pPr>
                      <a:r>
                        <a:rPr lang="en-US" sz="1300" b="1" dirty="0">
                          <a:solidFill>
                            <a:schemeClr val="tx1"/>
                          </a:solidFill>
                        </a:rPr>
                        <a:t>Flessibilità</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Solo ciò che è previsto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Molto ampia, anche richieste nuove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02920">
                <a:tc>
                  <a:txBody>
                    <a:bodyPr/>
                    <a:lstStyle/>
                    <a:p>
                      <a:pPr indent="0" marL="0">
                        <a:buNone/>
                      </a:pPr>
                      <a:r>
                        <a:rPr lang="en-US" sz="1300" b="1" dirty="0">
                          <a:solidFill>
                            <a:schemeClr val="tx1"/>
                          </a:solidFill>
                        </a:rPr>
                        <a:t>Esempio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Menu, formule, campi da compilare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"Confronta questi preventivi per 100 pezzi"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5" name="messaggio"/>
          <p:cNvSpPr/>
          <p:nvPr/>
        </p:nvSpPr>
        <p:spPr>
          <a:xfrm>
            <a:off x="457200" y="4160520"/>
            <a:ext cx="8229600" cy="411480"/>
          </a:xfrm>
          <a:prstGeom prst="roundRect">
            <a:avLst>
              <a:gd name="adj" fmla="val 17778"/>
            </a:avLst>
          </a:prstGeom>
          <a:solidFill>
            <a:schemeClr val="tx1"/>
          </a:solidFill>
          <a:ln/>
        </p:spPr>
      </p:sp>
      <p:sp>
        <p:nvSpPr>
          <p:cNvPr id="6" name="Text 2"/>
          <p:cNvSpPr txBox="1"/>
          <p:nvPr/>
        </p:nvSpPr>
        <p:spPr>
          <a:xfrm>
            <a:off x="640080" y="4160520"/>
            <a:ext cx="7863840" cy="411480"/>
          </a:xfrm>
          <a:prstGeom prst="rect">
            <a:avLst/>
          </a:prstGeom>
          <a:noFill/>
          <a:ln/>
        </p:spPr>
        <p:txBody>
          <a:bodyPr wrap="square" lIns="0" tIns="0" rIns="0" bIns="0" rtlCol="0" anchor="ctr"/>
          <a:lstStyle/>
          <a:p>
            <a:pPr indent="0" marL="0">
              <a:buNone/>
            </a:pPr>
            <a:r>
              <a:rPr lang="en-US" sz="1300" dirty="0">
                <a:solidFill>
                  <a:schemeClr val="bg1"/>
                </a:solidFill>
              </a:rPr>
              <a:t>Dal "come si fa" al "che cosa voglio": e il sistema, interpretando, può interpretare male.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Vantaggi e limiti della comunicazione conversazionale</a:t>
            </a:r>
            <a:endParaRPr lang="en-US" sz="2600" dirty="0"/>
          </a:p>
        </p:txBody>
      </p:sp>
      <p:sp>
        <p:nvSpPr>
          <p:cNvPr id="4" name="scheda Vantaggi"/>
          <p:cNvSpPr/>
          <p:nvPr/>
        </p:nvSpPr>
        <p:spPr>
          <a:xfrm>
            <a:off x="457200" y="1097280"/>
            <a:ext cx="3977640" cy="3429000"/>
          </a:xfrm>
          <a:prstGeom prst="roundRect">
            <a:avLst>
              <a:gd name="adj" fmla="val 2133"/>
            </a:avLst>
          </a:prstGeom>
          <a:solidFill>
            <a:schemeClr val="accent6"/>
          </a:solidFill>
          <a:ln/>
        </p:spPr>
      </p:sp>
      <p:sp>
        <p:nvSpPr>
          <p:cNvPr id="5" name="cerchio FiThumbsUp"/>
          <p:cNvSpPr/>
          <p:nvPr/>
        </p:nvSpPr>
        <p:spPr>
          <a:xfrm>
            <a:off x="640080" y="1280160"/>
            <a:ext cx="457200" cy="457200"/>
          </a:xfrm>
          <a:prstGeom prst="ellipse">
            <a:avLst/>
          </a:prstGeom>
          <a:solidFill>
            <a:schemeClr val="accent1"/>
          </a:solidFill>
          <a:ln/>
        </p:spPr>
      </p:sp>
      <p:pic>
        <p:nvPicPr>
          <p:cNvPr id="6" name="Image 0" descr="FiThumbsUp">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Vantaggi</a:t>
            </a:r>
            <a:endParaRPr lang="en-US" sz="160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2"/>
                </a:solidFill>
              </a:rPr>
              <a:t>Accessibilità: basta sapersi esprimere</a:t>
            </a:r>
            <a:endParaRPr lang="en-US" sz="1300" dirty="0"/>
          </a:p>
          <a:p>
            <a:pPr marL="177800" indent="-177800">
              <a:spcAft>
                <a:spcPts val="500"/>
              </a:spcAft>
              <a:buSzPct val="100000"/>
              <a:buChar char="•"/>
            </a:pPr>
            <a:r>
              <a:rPr lang="en-US" sz="1300" dirty="0">
                <a:solidFill>
                  <a:schemeClr val="tx2"/>
                </a:solidFill>
              </a:rPr>
              <a:t>Flessibilità: anche richieste non previste</a:t>
            </a:r>
            <a:endParaRPr lang="en-US" sz="1300" dirty="0"/>
          </a:p>
          <a:p>
            <a:pPr marL="177800" indent="-177800">
              <a:spcAft>
                <a:spcPts val="500"/>
              </a:spcAft>
              <a:buSzPct val="100000"/>
              <a:buChar char="•"/>
            </a:pPr>
            <a:r>
              <a:rPr lang="en-US" sz="1300" dirty="0">
                <a:solidFill>
                  <a:schemeClr val="tx2"/>
                </a:solidFill>
              </a:rPr>
              <a:t>Si inizia senza manuali</a:t>
            </a:r>
            <a:endParaRPr lang="en-US" sz="1300" dirty="0"/>
          </a:p>
          <a:p>
            <a:pPr marL="177800" indent="-177800">
              <a:spcAft>
                <a:spcPts val="500"/>
              </a:spcAft>
              <a:buSzPct val="100000"/>
              <a:buChar char="•"/>
            </a:pPr>
            <a:r>
              <a:rPr lang="en-US" sz="1300" dirty="0">
                <a:solidFill>
                  <a:schemeClr val="tx2"/>
                </a:solidFill>
              </a:rPr>
              <a:t>Si può precisare come con un collega</a:t>
            </a:r>
            <a:endParaRPr lang="en-US" sz="1300" dirty="0"/>
          </a:p>
        </p:txBody>
      </p:sp>
      <p:sp>
        <p:nvSpPr>
          <p:cNvPr id="9" name="scheda Limiti"/>
          <p:cNvSpPr/>
          <p:nvPr/>
        </p:nvSpPr>
        <p:spPr>
          <a:xfrm>
            <a:off x="4709160" y="1097280"/>
            <a:ext cx="3977640" cy="3429000"/>
          </a:xfrm>
          <a:prstGeom prst="roundRect">
            <a:avLst>
              <a:gd name="adj" fmla="val 2133"/>
            </a:avLst>
          </a:prstGeom>
          <a:solidFill>
            <a:schemeClr val="bg2"/>
          </a:solidFill>
          <a:ln/>
        </p:spPr>
      </p:sp>
      <p:sp>
        <p:nvSpPr>
          <p:cNvPr id="10" name="cerchio FiAlertCircle"/>
          <p:cNvSpPr/>
          <p:nvPr/>
        </p:nvSpPr>
        <p:spPr>
          <a:xfrm>
            <a:off x="4892040" y="1280160"/>
            <a:ext cx="457200" cy="457200"/>
          </a:xfrm>
          <a:prstGeom prst="ellipse">
            <a:avLst/>
          </a:prstGeom>
          <a:solidFill>
            <a:schemeClr val="accent1"/>
          </a:solidFill>
          <a:ln/>
        </p:spPr>
      </p:sp>
      <p:pic>
        <p:nvPicPr>
          <p:cNvPr id="11" name="Image 1" descr="FiAlertCircle">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Limiti</a:t>
            </a:r>
            <a:endParaRPr lang="en-US" sz="160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2"/>
                </a:solidFill>
              </a:rPr>
              <a:t>Ambiguità del linguaggio</a:t>
            </a:r>
            <a:endParaRPr lang="en-US" sz="1300" dirty="0"/>
          </a:p>
          <a:p>
            <a:pPr marL="177800" indent="-177800">
              <a:spcAft>
                <a:spcPts val="500"/>
              </a:spcAft>
              <a:buSzPct val="100000"/>
              <a:buChar char="•"/>
            </a:pPr>
            <a:r>
              <a:rPr lang="en-US" sz="1300" dirty="0">
                <a:solidFill>
                  <a:schemeClr val="tx2"/>
                </a:solidFill>
              </a:rPr>
              <a:t>Funzioni poco visibili: non si vede che cosa il sistema sa fare</a:t>
            </a:r>
            <a:endParaRPr lang="en-US" sz="1300" dirty="0"/>
          </a:p>
          <a:p>
            <a:pPr marL="177800" indent="-177800">
              <a:spcAft>
                <a:spcPts val="500"/>
              </a:spcAft>
              <a:buSzPct val="100000"/>
              <a:buChar char="•"/>
            </a:pPr>
            <a:r>
              <a:rPr lang="en-US" sz="1300" dirty="0">
                <a:solidFill>
                  <a:schemeClr val="tx2"/>
                </a:solidFill>
              </a:rPr>
              <a:t>Chi si esprime meglio ottiene di più</a:t>
            </a:r>
            <a:endParaRPr lang="en-US" sz="1300" dirty="0"/>
          </a:p>
          <a:p>
            <a:pPr marL="177800" indent="-177800">
              <a:spcAft>
                <a:spcPts val="500"/>
              </a:spcAft>
              <a:buSzPct val="100000"/>
              <a:buChar char="•"/>
            </a:pPr>
            <a:r>
              <a:rPr lang="en-US" sz="1300" dirty="0">
                <a:solidFill>
                  <a:schemeClr val="tx2"/>
                </a:solidFill>
              </a:rPr>
              <a:t>Facilità apparente: iniziare è facile, ottenere qualità no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Flessibilità e ambiguità del linguaggio</a:t>
            </a:r>
            <a:endParaRPr lang="en-US" sz="2600" dirty="0"/>
          </a:p>
        </p:txBody>
      </p:sp>
      <p:sp>
        <p:nvSpPr>
          <p:cNvPr id="4" name="&quot;Fammi un riassunto breve del report&quot;"/>
          <p:cNvSpPr/>
          <p:nvPr/>
        </p:nvSpPr>
        <p:spPr>
          <a:xfrm>
            <a:off x="457200" y="1097280"/>
            <a:ext cx="4114800" cy="731520"/>
          </a:xfrm>
          <a:prstGeom prst="roundRect">
            <a:avLst>
              <a:gd name="adj" fmla="val 10000"/>
            </a:avLst>
          </a:prstGeom>
          <a:solidFill>
            <a:schemeClr val="bg2"/>
          </a:solidFill>
          <a:ln/>
        </p:spPr>
      </p:sp>
      <p:sp>
        <p:nvSpPr>
          <p:cNvPr id="5" name="Text 2"/>
          <p:cNvSpPr txBox="1"/>
          <p:nvPr/>
        </p:nvSpPr>
        <p:spPr>
          <a:xfrm>
            <a:off x="640080" y="1097280"/>
            <a:ext cx="3840480" cy="731520"/>
          </a:xfrm>
          <a:prstGeom prst="rect">
            <a:avLst/>
          </a:prstGeom>
          <a:noFill/>
          <a:ln/>
        </p:spPr>
        <p:txBody>
          <a:bodyPr wrap="square" lIns="0" tIns="0" rIns="0" bIns="0" rtlCol="0" anchor="ctr"/>
          <a:lstStyle/>
          <a:p>
            <a:pPr indent="0" marL="0">
              <a:buNone/>
            </a:pPr>
            <a:r>
              <a:rPr lang="en-US" sz="1400" b="1" i="1" dirty="0">
                <a:solidFill>
                  <a:schemeClr val="tx1"/>
                </a:solidFill>
              </a:rPr>
              <a:t>"Fammi un riassunto breve del report"</a:t>
            </a:r>
            <a:endParaRPr lang="en-US" sz="1400" dirty="0"/>
          </a:p>
        </p:txBody>
      </p:sp>
      <p:sp>
        <p:nvSpPr>
          <p:cNvPr id="6" name="freccia"/>
          <p:cNvSpPr/>
          <p:nvPr/>
        </p:nvSpPr>
        <p:spPr>
          <a:xfrm>
            <a:off x="4663440" y="1316736"/>
            <a:ext cx="320040" cy="292608"/>
          </a:xfrm>
          <a:prstGeom prst="rightArrow">
            <a:avLst/>
          </a:prstGeom>
          <a:solidFill>
            <a:schemeClr val="accent2"/>
          </a:solidFill>
          <a:ln/>
        </p:spPr>
      </p:sp>
      <p:sp>
        <p:nvSpPr>
          <p:cNvPr id="7" name="ambiguità 0"/>
          <p:cNvSpPr/>
          <p:nvPr/>
        </p:nvSpPr>
        <p:spPr>
          <a:xfrm>
            <a:off x="5074920" y="1097280"/>
            <a:ext cx="3611880" cy="731520"/>
          </a:xfrm>
          <a:prstGeom prst="roundRect">
            <a:avLst>
              <a:gd name="adj" fmla="val 10000"/>
            </a:avLst>
          </a:prstGeom>
          <a:solidFill>
            <a:schemeClr val="accent6"/>
          </a:solidFill>
          <a:ln/>
        </p:spPr>
      </p:sp>
      <p:sp>
        <p:nvSpPr>
          <p:cNvPr id="8" name="Text 5"/>
          <p:cNvSpPr txBox="1"/>
          <p:nvPr/>
        </p:nvSpPr>
        <p:spPr>
          <a:xfrm>
            <a:off x="5257800" y="1097280"/>
            <a:ext cx="3337560" cy="731520"/>
          </a:xfrm>
          <a:prstGeom prst="rect">
            <a:avLst/>
          </a:prstGeom>
          <a:noFill/>
          <a:ln/>
        </p:spPr>
        <p:txBody>
          <a:bodyPr wrap="square" lIns="0" tIns="0" rIns="0" bIns="0" rtlCol="0" anchor="ctr"/>
          <a:lstStyle/>
          <a:p>
            <a:pPr indent="0" marL="0">
              <a:buNone/>
            </a:pPr>
            <a:r>
              <a:rPr lang="en-US" sz="1300" dirty="0">
                <a:solidFill>
                  <a:schemeClr val="tx1"/>
                </a:solidFill>
              </a:rPr>
              <a:t>Quanto breve? Per chi? A che scopo?</a:t>
            </a:r>
            <a:endParaRPr lang="en-US" sz="1300" dirty="0"/>
          </a:p>
        </p:txBody>
      </p:sp>
      <p:sp>
        <p:nvSpPr>
          <p:cNvPr id="9" name="&quot;Rendi questa email più professionale&quot;"/>
          <p:cNvSpPr/>
          <p:nvPr/>
        </p:nvSpPr>
        <p:spPr>
          <a:xfrm>
            <a:off x="457200" y="1965960"/>
            <a:ext cx="4114800" cy="731520"/>
          </a:xfrm>
          <a:prstGeom prst="roundRect">
            <a:avLst>
              <a:gd name="adj" fmla="val 10000"/>
            </a:avLst>
          </a:prstGeom>
          <a:solidFill>
            <a:schemeClr val="bg2"/>
          </a:solidFill>
          <a:ln/>
        </p:spPr>
      </p:sp>
      <p:sp>
        <p:nvSpPr>
          <p:cNvPr id="10" name="Text 7"/>
          <p:cNvSpPr txBox="1"/>
          <p:nvPr/>
        </p:nvSpPr>
        <p:spPr>
          <a:xfrm>
            <a:off x="640080" y="1965960"/>
            <a:ext cx="3840480" cy="731520"/>
          </a:xfrm>
          <a:prstGeom prst="rect">
            <a:avLst/>
          </a:prstGeom>
          <a:noFill/>
          <a:ln/>
        </p:spPr>
        <p:txBody>
          <a:bodyPr wrap="square" lIns="0" tIns="0" rIns="0" bIns="0" rtlCol="0" anchor="ctr"/>
          <a:lstStyle/>
          <a:p>
            <a:pPr indent="0" marL="0">
              <a:buNone/>
            </a:pPr>
            <a:r>
              <a:rPr lang="en-US" sz="1400" b="1" i="1" dirty="0">
                <a:solidFill>
                  <a:schemeClr val="tx1"/>
                </a:solidFill>
              </a:rPr>
              <a:t>"Rendi questa email più professionale"</a:t>
            </a:r>
            <a:endParaRPr lang="en-US" sz="1400" dirty="0"/>
          </a:p>
        </p:txBody>
      </p:sp>
      <p:sp>
        <p:nvSpPr>
          <p:cNvPr id="11" name="freccia"/>
          <p:cNvSpPr/>
          <p:nvPr/>
        </p:nvSpPr>
        <p:spPr>
          <a:xfrm>
            <a:off x="4663440" y="2185416"/>
            <a:ext cx="320040" cy="292608"/>
          </a:xfrm>
          <a:prstGeom prst="rightArrow">
            <a:avLst/>
          </a:prstGeom>
          <a:solidFill>
            <a:schemeClr val="accent2"/>
          </a:solidFill>
          <a:ln/>
        </p:spPr>
      </p:sp>
      <p:sp>
        <p:nvSpPr>
          <p:cNvPr id="12" name="ambiguità 1"/>
          <p:cNvSpPr/>
          <p:nvPr/>
        </p:nvSpPr>
        <p:spPr>
          <a:xfrm>
            <a:off x="5074920" y="1965960"/>
            <a:ext cx="3611880" cy="731520"/>
          </a:xfrm>
          <a:prstGeom prst="roundRect">
            <a:avLst>
              <a:gd name="adj" fmla="val 10000"/>
            </a:avLst>
          </a:prstGeom>
          <a:solidFill>
            <a:schemeClr val="accent6"/>
          </a:solidFill>
          <a:ln/>
        </p:spPr>
      </p:sp>
      <p:sp>
        <p:nvSpPr>
          <p:cNvPr id="13" name="Text 10"/>
          <p:cNvSpPr txBox="1"/>
          <p:nvPr/>
        </p:nvSpPr>
        <p:spPr>
          <a:xfrm>
            <a:off x="5257800" y="1965960"/>
            <a:ext cx="3337560" cy="731520"/>
          </a:xfrm>
          <a:prstGeom prst="rect">
            <a:avLst/>
          </a:prstGeom>
          <a:noFill/>
          <a:ln/>
        </p:spPr>
        <p:txBody>
          <a:bodyPr wrap="square" lIns="0" tIns="0" rIns="0" bIns="0" rtlCol="0" anchor="ctr"/>
          <a:lstStyle/>
          <a:p>
            <a:pPr indent="0" marL="0">
              <a:buNone/>
            </a:pPr>
            <a:r>
              <a:rPr lang="en-US" sz="1300" dirty="0">
                <a:solidFill>
                  <a:schemeClr val="tx1"/>
                </a:solidFill>
              </a:rPr>
              <a:t>Più formale? Più sintetica? Più tecnica?</a:t>
            </a:r>
            <a:endParaRPr lang="en-US" sz="1300" dirty="0"/>
          </a:p>
        </p:txBody>
      </p:sp>
      <p:sp>
        <p:nvSpPr>
          <p:cNvPr id="14" name="&quot;Analizza le vendite&quot;"/>
          <p:cNvSpPr/>
          <p:nvPr/>
        </p:nvSpPr>
        <p:spPr>
          <a:xfrm>
            <a:off x="457200" y="2834640"/>
            <a:ext cx="4114800" cy="731520"/>
          </a:xfrm>
          <a:prstGeom prst="roundRect">
            <a:avLst>
              <a:gd name="adj" fmla="val 10000"/>
            </a:avLst>
          </a:prstGeom>
          <a:solidFill>
            <a:schemeClr val="bg2"/>
          </a:solidFill>
          <a:ln/>
        </p:spPr>
      </p:sp>
      <p:sp>
        <p:nvSpPr>
          <p:cNvPr id="15" name="Text 12"/>
          <p:cNvSpPr txBox="1"/>
          <p:nvPr/>
        </p:nvSpPr>
        <p:spPr>
          <a:xfrm>
            <a:off x="640080" y="2834640"/>
            <a:ext cx="3840480" cy="731520"/>
          </a:xfrm>
          <a:prstGeom prst="rect">
            <a:avLst/>
          </a:prstGeom>
          <a:noFill/>
          <a:ln/>
        </p:spPr>
        <p:txBody>
          <a:bodyPr wrap="square" lIns="0" tIns="0" rIns="0" bIns="0" rtlCol="0" anchor="ctr"/>
          <a:lstStyle/>
          <a:p>
            <a:pPr indent="0" marL="0">
              <a:buNone/>
            </a:pPr>
            <a:r>
              <a:rPr lang="en-US" sz="1400" b="1" i="1" dirty="0">
                <a:solidFill>
                  <a:schemeClr val="tx1"/>
                </a:solidFill>
              </a:rPr>
              <a:t>"Analizza le vendite"</a:t>
            </a:r>
            <a:endParaRPr lang="en-US" sz="1400" dirty="0"/>
          </a:p>
        </p:txBody>
      </p:sp>
      <p:sp>
        <p:nvSpPr>
          <p:cNvPr id="16" name="freccia"/>
          <p:cNvSpPr/>
          <p:nvPr/>
        </p:nvSpPr>
        <p:spPr>
          <a:xfrm>
            <a:off x="4663440" y="3054096"/>
            <a:ext cx="320040" cy="292608"/>
          </a:xfrm>
          <a:prstGeom prst="rightArrow">
            <a:avLst/>
          </a:prstGeom>
          <a:solidFill>
            <a:schemeClr val="accent2"/>
          </a:solidFill>
          <a:ln/>
        </p:spPr>
      </p:sp>
      <p:sp>
        <p:nvSpPr>
          <p:cNvPr id="17" name="ambiguità 2"/>
          <p:cNvSpPr/>
          <p:nvPr/>
        </p:nvSpPr>
        <p:spPr>
          <a:xfrm>
            <a:off x="5074920" y="2834640"/>
            <a:ext cx="3611880" cy="731520"/>
          </a:xfrm>
          <a:prstGeom prst="roundRect">
            <a:avLst>
              <a:gd name="adj" fmla="val 10000"/>
            </a:avLst>
          </a:prstGeom>
          <a:solidFill>
            <a:schemeClr val="accent6"/>
          </a:solidFill>
          <a:ln/>
        </p:spPr>
      </p:sp>
      <p:sp>
        <p:nvSpPr>
          <p:cNvPr id="18" name="Text 15"/>
          <p:cNvSpPr txBox="1"/>
          <p:nvPr/>
        </p:nvSpPr>
        <p:spPr>
          <a:xfrm>
            <a:off x="5257800" y="2834640"/>
            <a:ext cx="3337560" cy="731520"/>
          </a:xfrm>
          <a:prstGeom prst="rect">
            <a:avLst/>
          </a:prstGeom>
          <a:noFill/>
          <a:ln/>
        </p:spPr>
        <p:txBody>
          <a:bodyPr wrap="square" lIns="0" tIns="0" rIns="0" bIns="0" rtlCol="0" anchor="ctr"/>
          <a:lstStyle/>
          <a:p>
            <a:pPr indent="0" marL="0">
              <a:buNone/>
            </a:pPr>
            <a:r>
              <a:rPr lang="en-US" sz="1300" dirty="0">
                <a:solidFill>
                  <a:schemeClr val="tx1"/>
                </a:solidFill>
              </a:rPr>
              <a:t>Quali aspetti? Quale periodo? Per decidere che cosa?</a:t>
            </a:r>
            <a:endParaRPr lang="en-US" sz="1300" dirty="0"/>
          </a:p>
        </p:txBody>
      </p:sp>
      <p:sp>
        <p:nvSpPr>
          <p:cNvPr id="19" name="scheda Tra persone: contesto condiviso"/>
          <p:cNvSpPr/>
          <p:nvPr/>
        </p:nvSpPr>
        <p:spPr>
          <a:xfrm>
            <a:off x="457200" y="3749040"/>
            <a:ext cx="3977640" cy="804672"/>
          </a:xfrm>
          <a:prstGeom prst="roundRect">
            <a:avLst>
              <a:gd name="adj" fmla="val 9091"/>
            </a:avLst>
          </a:prstGeom>
          <a:solidFill>
            <a:schemeClr val="bg2"/>
          </a:solidFill>
          <a:ln/>
        </p:spPr>
      </p:sp>
      <p:sp>
        <p:nvSpPr>
          <p:cNvPr id="20" name="cerchio FiUser"/>
          <p:cNvSpPr/>
          <p:nvPr/>
        </p:nvSpPr>
        <p:spPr>
          <a:xfrm>
            <a:off x="640080" y="3931920"/>
            <a:ext cx="457200" cy="457200"/>
          </a:xfrm>
          <a:prstGeom prst="ellipse">
            <a:avLst/>
          </a:prstGeom>
          <a:solidFill>
            <a:schemeClr val="accent1"/>
          </a:solidFill>
          <a:ln/>
        </p:spPr>
      </p:sp>
      <p:pic>
        <p:nvPicPr>
          <p:cNvPr id="21" name="Image 0" descr="FiUser">    </p:cNvPr>
          <p:cNvPicPr>
            <a:picLocks noChangeAspect="1"/>
          </p:cNvPicPr>
          <p:nvPr/>
        </p:nvPicPr>
        <p:blipFill>
          <a:blip r:embed="rId1"/>
          <a:stretch>
            <a:fillRect/>
          </a:stretch>
        </p:blipFill>
        <p:spPr>
          <a:xfrm>
            <a:off x="754380" y="4046220"/>
            <a:ext cx="228600" cy="228600"/>
          </a:xfrm>
          <a:prstGeom prst="rect">
            <a:avLst/>
          </a:prstGeom>
        </p:spPr>
      </p:pic>
      <p:sp>
        <p:nvSpPr>
          <p:cNvPr id="22" name="Text 18"/>
          <p:cNvSpPr txBox="1"/>
          <p:nvPr/>
        </p:nvSpPr>
        <p:spPr>
          <a:xfrm>
            <a:off x="1234440" y="393192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Tra persone: contesto condiviso</a:t>
            </a:r>
            <a:endParaRPr lang="en-US" sz="1500" dirty="0"/>
          </a:p>
        </p:txBody>
      </p:sp>
      <p:sp>
        <p:nvSpPr>
          <p:cNvPr id="23" name="scheda Con l'AI: solo ciò che è scritto"/>
          <p:cNvSpPr/>
          <p:nvPr/>
        </p:nvSpPr>
        <p:spPr>
          <a:xfrm>
            <a:off x="4709160" y="3749040"/>
            <a:ext cx="3977640" cy="804672"/>
          </a:xfrm>
          <a:prstGeom prst="roundRect">
            <a:avLst>
              <a:gd name="adj" fmla="val 9091"/>
            </a:avLst>
          </a:prstGeom>
          <a:solidFill>
            <a:schemeClr val="accent6"/>
          </a:solidFill>
          <a:ln/>
        </p:spPr>
      </p:sp>
      <p:sp>
        <p:nvSpPr>
          <p:cNvPr id="24" name="cerchio FiCpu"/>
          <p:cNvSpPr/>
          <p:nvPr/>
        </p:nvSpPr>
        <p:spPr>
          <a:xfrm>
            <a:off x="4892040" y="3931920"/>
            <a:ext cx="457200" cy="457200"/>
          </a:xfrm>
          <a:prstGeom prst="ellipse">
            <a:avLst/>
          </a:prstGeom>
          <a:solidFill>
            <a:schemeClr val="accent1"/>
          </a:solidFill>
          <a:ln/>
        </p:spPr>
      </p:sp>
      <p:pic>
        <p:nvPicPr>
          <p:cNvPr id="25" name="Image 1" descr="FiCpu">    </p:cNvPr>
          <p:cNvPicPr>
            <a:picLocks noChangeAspect="1"/>
          </p:cNvPicPr>
          <p:nvPr/>
        </p:nvPicPr>
        <p:blipFill>
          <a:blip r:embed="rId2"/>
          <a:stretch>
            <a:fillRect/>
          </a:stretch>
        </p:blipFill>
        <p:spPr>
          <a:xfrm>
            <a:off x="5006340" y="4046220"/>
            <a:ext cx="228600" cy="228600"/>
          </a:xfrm>
          <a:prstGeom prst="rect">
            <a:avLst/>
          </a:prstGeom>
        </p:spPr>
      </p:pic>
      <p:sp>
        <p:nvSpPr>
          <p:cNvPr id="26" name="Text 21"/>
          <p:cNvSpPr txBox="1"/>
          <p:nvPr/>
        </p:nvSpPr>
        <p:spPr>
          <a:xfrm>
            <a:off x="5486400" y="393192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Con l'AI: solo ciò che è scritto</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Testo, voce e immagini</a:t>
            </a:r>
            <a:endParaRPr lang="en-US" sz="2600" dirty="0"/>
          </a:p>
        </p:txBody>
      </p:sp>
      <p:sp>
        <p:nvSpPr>
          <p:cNvPr id="4" name="scheda Testo"/>
          <p:cNvSpPr/>
          <p:nvPr/>
        </p:nvSpPr>
        <p:spPr>
          <a:xfrm>
            <a:off x="457200" y="1097280"/>
            <a:ext cx="2615184" cy="2743200"/>
          </a:xfrm>
          <a:prstGeom prst="roundRect">
            <a:avLst>
              <a:gd name="adj" fmla="val 2797"/>
            </a:avLst>
          </a:prstGeom>
          <a:solidFill>
            <a:schemeClr val="accent6"/>
          </a:solidFill>
          <a:ln/>
        </p:spPr>
      </p:sp>
      <p:sp>
        <p:nvSpPr>
          <p:cNvPr id="5" name="cerchio FiType"/>
          <p:cNvSpPr/>
          <p:nvPr/>
        </p:nvSpPr>
        <p:spPr>
          <a:xfrm>
            <a:off x="640080" y="1280160"/>
            <a:ext cx="457200" cy="457200"/>
          </a:xfrm>
          <a:prstGeom prst="ellipse">
            <a:avLst/>
          </a:prstGeom>
          <a:solidFill>
            <a:schemeClr val="accent1"/>
          </a:solidFill>
          <a:ln/>
        </p:spPr>
      </p:sp>
      <p:pic>
        <p:nvPicPr>
          <p:cNvPr id="6" name="Image 0" descr="FiType">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Testo</a:t>
            </a:r>
            <a:endParaRPr lang="en-US" sz="1600" dirty="0"/>
          </a:p>
        </p:txBody>
      </p:sp>
      <p:sp>
        <p:nvSpPr>
          <p:cNvPr id="8" name="Text 4"/>
          <p:cNvSpPr txBox="1"/>
          <p:nvPr/>
        </p:nvSpPr>
        <p:spPr>
          <a:xfrm>
            <a:off x="640080" y="2231136"/>
            <a:ext cx="2249424" cy="149961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Preciso, si rilegge prima di inviare</a:t>
            </a:r>
            <a:endParaRPr lang="en-US" sz="1300" dirty="0"/>
          </a:p>
          <a:p>
            <a:pPr marL="177800" indent="-177800">
              <a:spcAft>
                <a:spcPts val="400"/>
              </a:spcAft>
              <a:buSzPct val="100000"/>
              <a:buChar char="•"/>
            </a:pPr>
            <a:r>
              <a:rPr lang="en-US" sz="1300" dirty="0">
                <a:solidFill>
                  <a:schemeClr val="tx2"/>
                </a:solidFill>
              </a:rPr>
              <a:t>Lascia traccia, riutilizzabile</a:t>
            </a:r>
            <a:endParaRPr lang="en-US" sz="1300" dirty="0"/>
          </a:p>
          <a:p>
            <a:pPr marL="177800" indent="-177800">
              <a:spcAft>
                <a:spcPts val="400"/>
              </a:spcAft>
              <a:buSzPct val="100000"/>
              <a:buChar char="•"/>
            </a:pPr>
            <a:r>
              <a:rPr lang="en-US" sz="1300" dirty="0">
                <a:solidFill>
                  <a:schemeClr val="tx2"/>
                </a:solidFill>
              </a:rPr>
              <a:t>Adatto a richieste articolate</a:t>
            </a:r>
            <a:endParaRPr lang="en-US" sz="1300" dirty="0"/>
          </a:p>
        </p:txBody>
      </p:sp>
      <p:sp>
        <p:nvSpPr>
          <p:cNvPr id="9" name="scheda Voce"/>
          <p:cNvSpPr/>
          <p:nvPr/>
        </p:nvSpPr>
        <p:spPr>
          <a:xfrm>
            <a:off x="3264408" y="1097280"/>
            <a:ext cx="2615184" cy="2743200"/>
          </a:xfrm>
          <a:prstGeom prst="roundRect">
            <a:avLst>
              <a:gd name="adj" fmla="val 2797"/>
            </a:avLst>
          </a:prstGeom>
          <a:solidFill>
            <a:schemeClr val="bg2"/>
          </a:solidFill>
          <a:ln/>
        </p:spPr>
      </p:sp>
      <p:sp>
        <p:nvSpPr>
          <p:cNvPr id="10" name="cerchio FiMic"/>
          <p:cNvSpPr/>
          <p:nvPr/>
        </p:nvSpPr>
        <p:spPr>
          <a:xfrm>
            <a:off x="3447288" y="1280160"/>
            <a:ext cx="457200" cy="457200"/>
          </a:xfrm>
          <a:prstGeom prst="ellipse">
            <a:avLst/>
          </a:prstGeom>
          <a:solidFill>
            <a:schemeClr val="accent1"/>
          </a:solidFill>
          <a:ln/>
        </p:spPr>
      </p:sp>
      <p:pic>
        <p:nvPicPr>
          <p:cNvPr id="11" name="Image 1" descr="FiMic">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Voce</a:t>
            </a:r>
            <a:endParaRPr lang="en-US" sz="1600" dirty="0"/>
          </a:p>
        </p:txBody>
      </p:sp>
      <p:sp>
        <p:nvSpPr>
          <p:cNvPr id="13" name="Text 8"/>
          <p:cNvSpPr txBox="1"/>
          <p:nvPr/>
        </p:nvSpPr>
        <p:spPr>
          <a:xfrm>
            <a:off x="3447288" y="2231136"/>
            <a:ext cx="2249424" cy="149961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Rapida e naturale, a mani libere</a:t>
            </a:r>
            <a:endParaRPr lang="en-US" sz="1300" dirty="0"/>
          </a:p>
          <a:p>
            <a:pPr marL="177800" indent="-177800">
              <a:spcAft>
                <a:spcPts val="400"/>
              </a:spcAft>
              <a:buSzPct val="100000"/>
              <a:buChar char="•"/>
            </a:pPr>
            <a:r>
              <a:rPr lang="en-US" sz="1300" dirty="0">
                <a:solidFill>
                  <a:schemeClr val="tx2"/>
                </a:solidFill>
              </a:rPr>
              <a:t>Meno precisa, difficile da rileggere</a:t>
            </a:r>
            <a:endParaRPr lang="en-US" sz="1300" dirty="0"/>
          </a:p>
          <a:p>
            <a:pPr marL="177800" indent="-177800">
              <a:spcAft>
                <a:spcPts val="400"/>
              </a:spcAft>
              <a:buSzPct val="100000"/>
              <a:buChar char="•"/>
            </a:pPr>
            <a:r>
              <a:rPr lang="en-US" sz="1300" dirty="0">
                <a:solidFill>
                  <a:schemeClr val="tx2"/>
                </a:solidFill>
              </a:rPr>
              <a:t>Accentua la sensazione di parlare con una persona</a:t>
            </a:r>
            <a:endParaRPr lang="en-US" sz="1300" dirty="0"/>
          </a:p>
        </p:txBody>
      </p:sp>
      <p:sp>
        <p:nvSpPr>
          <p:cNvPr id="14" name="scheda Multimodale"/>
          <p:cNvSpPr/>
          <p:nvPr/>
        </p:nvSpPr>
        <p:spPr>
          <a:xfrm>
            <a:off x="6071616" y="1097280"/>
            <a:ext cx="2615184" cy="2743200"/>
          </a:xfrm>
          <a:prstGeom prst="roundRect">
            <a:avLst>
              <a:gd name="adj" fmla="val 2797"/>
            </a:avLst>
          </a:prstGeom>
          <a:solidFill>
            <a:schemeClr val="bg2"/>
          </a:solidFill>
          <a:ln/>
        </p:spPr>
      </p:sp>
      <p:sp>
        <p:nvSpPr>
          <p:cNvPr id="15" name="cerchio FiImage"/>
          <p:cNvSpPr/>
          <p:nvPr/>
        </p:nvSpPr>
        <p:spPr>
          <a:xfrm>
            <a:off x="6254496" y="1280160"/>
            <a:ext cx="457200" cy="457200"/>
          </a:xfrm>
          <a:prstGeom prst="ellipse">
            <a:avLst/>
          </a:prstGeom>
          <a:solidFill>
            <a:schemeClr val="accent1"/>
          </a:solidFill>
          <a:ln/>
        </p:spPr>
      </p:sp>
      <p:pic>
        <p:nvPicPr>
          <p:cNvPr id="16" name="Image 2" descr="FiImage">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Multimodale</a:t>
            </a:r>
            <a:endParaRPr lang="en-US" sz="1600" dirty="0"/>
          </a:p>
        </p:txBody>
      </p:sp>
      <p:sp>
        <p:nvSpPr>
          <p:cNvPr id="18" name="Text 12"/>
          <p:cNvSpPr txBox="1"/>
          <p:nvPr/>
        </p:nvSpPr>
        <p:spPr>
          <a:xfrm>
            <a:off x="6254496" y="2231136"/>
            <a:ext cx="2249424" cy="149961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Mostrare invece di descrivere</a:t>
            </a:r>
            <a:endParaRPr lang="en-US" sz="1300" dirty="0"/>
          </a:p>
          <a:p>
            <a:pPr marL="177800" indent="-177800">
              <a:spcAft>
                <a:spcPts val="400"/>
              </a:spcAft>
              <a:buSzPct val="100000"/>
              <a:buChar char="•"/>
            </a:pPr>
            <a:r>
              <a:rPr lang="en-US" sz="1300" dirty="0">
                <a:solidFill>
                  <a:schemeClr val="tx2"/>
                </a:solidFill>
              </a:rPr>
              <a:t>Riduce l'ambiguità</a:t>
            </a:r>
            <a:endParaRPr lang="en-US" sz="1300" dirty="0"/>
          </a:p>
          <a:p>
            <a:pPr marL="177800" indent="-177800">
              <a:spcAft>
                <a:spcPts val="400"/>
              </a:spcAft>
              <a:buSzPct val="100000"/>
              <a:buChar char="•"/>
            </a:pPr>
            <a:r>
              <a:rPr lang="en-US" sz="1300" dirty="0">
                <a:solidFill>
                  <a:schemeClr val="tx2"/>
                </a:solidFill>
              </a:rPr>
              <a:t>Attenzione a che cosa si condivide</a:t>
            </a:r>
            <a:endParaRPr lang="en-US" sz="1300" dirty="0"/>
          </a:p>
        </p:txBody>
      </p:sp>
      <p:sp>
        <p:nvSpPr>
          <p:cNvPr id="19" name="messaggio"/>
          <p:cNvSpPr/>
          <p:nvPr/>
        </p:nvSpPr>
        <p:spPr>
          <a:xfrm>
            <a:off x="457200" y="3977640"/>
            <a:ext cx="8229600" cy="548640"/>
          </a:xfrm>
          <a:prstGeom prst="roundRect">
            <a:avLst>
              <a:gd name="adj" fmla="val 13333"/>
            </a:avLst>
          </a:prstGeom>
          <a:solidFill>
            <a:schemeClr val="tx1"/>
          </a:solidFill>
          <a:ln/>
        </p:spPr>
      </p:sp>
      <p:sp>
        <p:nvSpPr>
          <p:cNvPr id="20" name="Text 14"/>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300" dirty="0">
                <a:solidFill>
                  <a:schemeClr val="bg1"/>
                </a:solidFill>
              </a:rPr>
              <a:t>La modalità si sceglie in base all'attività: voce per esplorare in movimento, testo per ciò che va consegnato.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Cambia il rapporto tra utente e software</a:t>
            </a:r>
            <a:endParaRPr lang="en-US" sz="2600" dirty="0"/>
          </a:p>
        </p:txBody>
      </p:sp>
      <p:sp>
        <p:nvSpPr>
          <p:cNvPr id="4" name="scheda Utente operatore"/>
          <p:cNvSpPr/>
          <p:nvPr/>
        </p:nvSpPr>
        <p:spPr>
          <a:xfrm>
            <a:off x="457200" y="1097280"/>
            <a:ext cx="3291840" cy="2377440"/>
          </a:xfrm>
          <a:prstGeom prst="roundRect">
            <a:avLst>
              <a:gd name="adj" fmla="val 3077"/>
            </a:avLst>
          </a:prstGeom>
          <a:solidFill>
            <a:schemeClr val="bg2"/>
          </a:solidFill>
          <a:ln/>
        </p:spPr>
      </p:sp>
      <p:sp>
        <p:nvSpPr>
          <p:cNvPr id="5" name="cerchio FiSettings"/>
          <p:cNvSpPr/>
          <p:nvPr/>
        </p:nvSpPr>
        <p:spPr>
          <a:xfrm>
            <a:off x="640080" y="1280160"/>
            <a:ext cx="457200" cy="457200"/>
          </a:xfrm>
          <a:prstGeom prst="ellipse">
            <a:avLst/>
          </a:prstGeom>
          <a:solidFill>
            <a:schemeClr val="accent1"/>
          </a:solidFill>
          <a:ln/>
        </p:spPr>
      </p:sp>
      <p:pic>
        <p:nvPicPr>
          <p:cNvPr id="6" name="Image 0" descr="FiSettings">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2926080" cy="347472"/>
          </a:xfrm>
          <a:prstGeom prst="rect">
            <a:avLst/>
          </a:prstGeom>
          <a:noFill/>
          <a:ln/>
        </p:spPr>
        <p:txBody>
          <a:bodyPr wrap="square" lIns="0" tIns="0" rIns="0" bIns="0" rtlCol="0" anchor="t"/>
          <a:lstStyle/>
          <a:p>
            <a:pPr indent="0" marL="0">
              <a:buNone/>
            </a:pPr>
            <a:r>
              <a:rPr lang="en-US" sz="1600" b="1" dirty="0">
                <a:solidFill>
                  <a:schemeClr val="tx1"/>
                </a:solidFill>
              </a:rPr>
              <a:t>Utente operatore</a:t>
            </a:r>
            <a:endParaRPr lang="en-US" sz="1600" dirty="0"/>
          </a:p>
        </p:txBody>
      </p:sp>
      <p:sp>
        <p:nvSpPr>
          <p:cNvPr id="8" name="Text 4"/>
          <p:cNvSpPr txBox="1"/>
          <p:nvPr/>
        </p:nvSpPr>
        <p:spPr>
          <a:xfrm>
            <a:off x="640080" y="2231136"/>
            <a:ext cx="2926080" cy="1133856"/>
          </a:xfrm>
          <a:prstGeom prst="rect">
            <a:avLst/>
          </a:prstGeom>
          <a:noFill/>
          <a:ln/>
        </p:spPr>
        <p:txBody>
          <a:bodyPr wrap="square" lIns="0" tIns="0" rIns="0" bIns="0" rtlCol="0" anchor="t"/>
          <a:lstStyle/>
          <a:p>
            <a:pPr indent="0" marL="0">
              <a:buNone/>
            </a:pPr>
            <a:r>
              <a:rPr lang="en-US" sz="1300" dirty="0">
                <a:solidFill>
                  <a:schemeClr val="tx2"/>
                </a:solidFill>
              </a:rPr>
              <a:t>Conosce gli strumenti ed esegue le operazioni. Il software fa esattamente ciò che gli viene detto.</a:t>
            </a:r>
            <a:endParaRPr lang="en-US" sz="1300" dirty="0"/>
          </a:p>
        </p:txBody>
      </p:sp>
      <p:sp>
        <p:nvSpPr>
          <p:cNvPr id="9" name="freccia"/>
          <p:cNvSpPr/>
          <p:nvPr/>
        </p:nvSpPr>
        <p:spPr>
          <a:xfrm>
            <a:off x="3886200" y="2103120"/>
            <a:ext cx="502920" cy="292608"/>
          </a:xfrm>
          <a:prstGeom prst="rightArrow">
            <a:avLst/>
          </a:prstGeom>
          <a:solidFill>
            <a:schemeClr val="accent1"/>
          </a:solidFill>
          <a:ln/>
        </p:spPr>
      </p:sp>
      <p:sp>
        <p:nvSpPr>
          <p:cNvPr id="10" name="scheda Utente committente"/>
          <p:cNvSpPr/>
          <p:nvPr/>
        </p:nvSpPr>
        <p:spPr>
          <a:xfrm>
            <a:off x="4526280" y="1097280"/>
            <a:ext cx="4160520" cy="2377440"/>
          </a:xfrm>
          <a:prstGeom prst="roundRect">
            <a:avLst>
              <a:gd name="adj" fmla="val 3077"/>
            </a:avLst>
          </a:prstGeom>
          <a:solidFill>
            <a:schemeClr val="accent6"/>
          </a:solidFill>
          <a:ln/>
        </p:spPr>
      </p:sp>
      <p:sp>
        <p:nvSpPr>
          <p:cNvPr id="11" name="cerchio FiBriefcase"/>
          <p:cNvSpPr/>
          <p:nvPr/>
        </p:nvSpPr>
        <p:spPr>
          <a:xfrm>
            <a:off x="4709160" y="1280160"/>
            <a:ext cx="457200" cy="457200"/>
          </a:xfrm>
          <a:prstGeom prst="ellipse">
            <a:avLst/>
          </a:prstGeom>
          <a:solidFill>
            <a:schemeClr val="accent1"/>
          </a:solidFill>
          <a:ln/>
        </p:spPr>
      </p:sp>
      <p:pic>
        <p:nvPicPr>
          <p:cNvPr id="12" name="Image 1" descr="FiBriefcase">    </p:cNvPr>
          <p:cNvPicPr>
            <a:picLocks noChangeAspect="1"/>
          </p:cNvPicPr>
          <p:nvPr/>
        </p:nvPicPr>
        <p:blipFill>
          <a:blip r:embed="rId2"/>
          <a:stretch>
            <a:fillRect/>
          </a:stretch>
        </p:blipFill>
        <p:spPr>
          <a:xfrm>
            <a:off x="4823460" y="1394460"/>
            <a:ext cx="228600" cy="228600"/>
          </a:xfrm>
          <a:prstGeom prst="rect">
            <a:avLst/>
          </a:prstGeom>
        </p:spPr>
      </p:pic>
      <p:sp>
        <p:nvSpPr>
          <p:cNvPr id="13" name="Text 8"/>
          <p:cNvSpPr txBox="1"/>
          <p:nvPr/>
        </p:nvSpPr>
        <p:spPr>
          <a:xfrm>
            <a:off x="4709160" y="1847088"/>
            <a:ext cx="3794760" cy="347472"/>
          </a:xfrm>
          <a:prstGeom prst="rect">
            <a:avLst/>
          </a:prstGeom>
          <a:noFill/>
          <a:ln/>
        </p:spPr>
        <p:txBody>
          <a:bodyPr wrap="square" lIns="0" tIns="0" rIns="0" bIns="0" rtlCol="0" anchor="t"/>
          <a:lstStyle/>
          <a:p>
            <a:pPr indent="0" marL="0">
              <a:buNone/>
            </a:pPr>
            <a:r>
              <a:rPr lang="en-US" sz="1600" b="1" dirty="0">
                <a:solidFill>
                  <a:schemeClr val="tx1"/>
                </a:solidFill>
              </a:rPr>
              <a:t>Utente committente</a:t>
            </a:r>
            <a:endParaRPr lang="en-US" sz="1600" dirty="0"/>
          </a:p>
        </p:txBody>
      </p:sp>
      <p:sp>
        <p:nvSpPr>
          <p:cNvPr id="14" name="Text 9"/>
          <p:cNvSpPr txBox="1"/>
          <p:nvPr/>
        </p:nvSpPr>
        <p:spPr>
          <a:xfrm>
            <a:off x="4709160" y="2231136"/>
            <a:ext cx="3794760" cy="1133856"/>
          </a:xfrm>
          <a:prstGeom prst="rect">
            <a:avLst/>
          </a:prstGeom>
          <a:noFill/>
          <a:ln/>
        </p:spPr>
        <p:txBody>
          <a:bodyPr wrap="square" lIns="0" tIns="0" rIns="0" bIns="0" rtlCol="0" anchor="t"/>
          <a:lstStyle/>
          <a:p>
            <a:pPr indent="0" marL="0">
              <a:buNone/>
            </a:pPr>
            <a:r>
              <a:rPr lang="en-US" sz="1300" dirty="0">
                <a:solidFill>
                  <a:schemeClr val="tx2"/>
                </a:solidFill>
              </a:rPr>
              <a:t>Esprime un obiettivo; il sistema decide come raggiungerlo e propone un risultato da valutare.</a:t>
            </a:r>
            <a:endParaRPr lang="en-US" sz="1300" dirty="0"/>
          </a:p>
        </p:txBody>
      </p:sp>
      <p:sp>
        <p:nvSpPr>
          <p:cNvPr id="15" name="Competenze: definire obiettivi, dare contesto, valutare"/>
          <p:cNvSpPr/>
          <p:nvPr/>
        </p:nvSpPr>
        <p:spPr>
          <a:xfrm>
            <a:off x="457200" y="3657600"/>
            <a:ext cx="2615184" cy="868680"/>
          </a:xfrm>
          <a:prstGeom prst="roundRect">
            <a:avLst>
              <a:gd name="adj" fmla="val 8421"/>
            </a:avLst>
          </a:prstGeom>
          <a:solidFill>
            <a:schemeClr val="bg2"/>
          </a:solidFill>
          <a:ln/>
        </p:spPr>
      </p:sp>
      <p:sp>
        <p:nvSpPr>
          <p:cNvPr id="16" name="Text 11"/>
          <p:cNvSpPr txBox="1"/>
          <p:nvPr/>
        </p:nvSpPr>
        <p:spPr>
          <a:xfrm>
            <a:off x="594360" y="3657600"/>
            <a:ext cx="2340864" cy="868680"/>
          </a:xfrm>
          <a:prstGeom prst="rect">
            <a:avLst/>
          </a:prstGeom>
          <a:noFill/>
          <a:ln/>
        </p:spPr>
        <p:txBody>
          <a:bodyPr wrap="square" lIns="0" tIns="0" rIns="0" bIns="0" rtlCol="0" anchor="ctr"/>
          <a:lstStyle/>
          <a:p>
            <a:pPr indent="0" marL="0">
              <a:buNone/>
            </a:pPr>
            <a:r>
              <a:rPr lang="en-US" sz="1200" b="1" dirty="0">
                <a:solidFill>
                  <a:schemeClr val="tx1"/>
                </a:solidFill>
              </a:rPr>
              <a:t>Competenze: definire obiettivi, dare contesto, valutare</a:t>
            </a:r>
            <a:endParaRPr lang="en-US" sz="1200" dirty="0"/>
          </a:p>
        </p:txBody>
      </p:sp>
      <p:sp>
        <p:nvSpPr>
          <p:cNvPr id="17" name="Controllo: dal processo al risultato"/>
          <p:cNvSpPr/>
          <p:nvPr/>
        </p:nvSpPr>
        <p:spPr>
          <a:xfrm>
            <a:off x="3264408" y="3657600"/>
            <a:ext cx="2615184" cy="868680"/>
          </a:xfrm>
          <a:prstGeom prst="roundRect">
            <a:avLst>
              <a:gd name="adj" fmla="val 8421"/>
            </a:avLst>
          </a:prstGeom>
          <a:solidFill>
            <a:schemeClr val="bg2"/>
          </a:solidFill>
          <a:ln/>
        </p:spPr>
      </p:sp>
      <p:sp>
        <p:nvSpPr>
          <p:cNvPr id="18" name="Text 13"/>
          <p:cNvSpPr txBox="1"/>
          <p:nvPr/>
        </p:nvSpPr>
        <p:spPr>
          <a:xfrm>
            <a:off x="3401568" y="3657600"/>
            <a:ext cx="2340864" cy="868680"/>
          </a:xfrm>
          <a:prstGeom prst="rect">
            <a:avLst/>
          </a:prstGeom>
          <a:noFill/>
          <a:ln/>
        </p:spPr>
        <p:txBody>
          <a:bodyPr wrap="square" lIns="0" tIns="0" rIns="0" bIns="0" rtlCol="0" anchor="ctr"/>
          <a:lstStyle/>
          <a:p>
            <a:pPr indent="0" marL="0">
              <a:buNone/>
            </a:pPr>
            <a:r>
              <a:rPr lang="en-US" sz="1200" b="1" dirty="0">
                <a:solidFill>
                  <a:schemeClr val="tx1"/>
                </a:solidFill>
              </a:rPr>
              <a:t>Controllo: dal processo al risultato</a:t>
            </a:r>
            <a:endParaRPr lang="en-US" sz="1200" dirty="0"/>
          </a:p>
        </p:txBody>
      </p:sp>
      <p:sp>
        <p:nvSpPr>
          <p:cNvPr id="19" name="Relazione: più simile a un collaboratore, con i suoi rischi"/>
          <p:cNvSpPr/>
          <p:nvPr/>
        </p:nvSpPr>
        <p:spPr>
          <a:xfrm>
            <a:off x="6071616" y="3657600"/>
            <a:ext cx="2615184" cy="868680"/>
          </a:xfrm>
          <a:prstGeom prst="roundRect">
            <a:avLst>
              <a:gd name="adj" fmla="val 8421"/>
            </a:avLst>
          </a:prstGeom>
          <a:solidFill>
            <a:schemeClr val="bg2"/>
          </a:solidFill>
          <a:ln/>
        </p:spPr>
      </p:sp>
      <p:sp>
        <p:nvSpPr>
          <p:cNvPr id="20" name="Text 15"/>
          <p:cNvSpPr txBox="1"/>
          <p:nvPr/>
        </p:nvSpPr>
        <p:spPr>
          <a:xfrm>
            <a:off x="6208776" y="3657600"/>
            <a:ext cx="2340864" cy="868680"/>
          </a:xfrm>
          <a:prstGeom prst="rect">
            <a:avLst/>
          </a:prstGeom>
          <a:noFill/>
          <a:ln/>
        </p:spPr>
        <p:txBody>
          <a:bodyPr wrap="square" lIns="0" tIns="0" rIns="0" bIns="0" rtlCol="0" anchor="ctr"/>
          <a:lstStyle/>
          <a:p>
            <a:pPr indent="0" marL="0">
              <a:buNone/>
            </a:pPr>
            <a:r>
              <a:rPr lang="en-US" sz="1200" b="1" dirty="0">
                <a:solidFill>
                  <a:schemeClr val="tx1"/>
                </a:solidFill>
              </a:rPr>
              <a:t>Relazione: più simile a un collaboratore, con i suoi rischi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Il linguaggio naturale amplia l'accessibilità della tecnologia, ma richiede comunque obiettivi chiari e un'interpretazione critica delle risposte.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5.1  ·  Il linguaggio naturale come interfaccia</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5.2</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Dalla domanda alla conversazione</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Una buona interazione può svilupparsi in più scambi e non richiede una richiesta iniziale perfetta</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Richiesta isolata e dialogo articolato</a:t>
            </a:r>
            <a:endParaRPr lang="en-US" sz="2600" dirty="0"/>
          </a:p>
        </p:txBody>
      </p:sp>
      <p:sp>
        <p:nvSpPr>
          <p:cNvPr id="4" name="scheda Richiesta isolata"/>
          <p:cNvSpPr/>
          <p:nvPr/>
        </p:nvSpPr>
        <p:spPr>
          <a:xfrm>
            <a:off x="457200" y="1097280"/>
            <a:ext cx="3977640" cy="2560320"/>
          </a:xfrm>
          <a:prstGeom prst="roundRect">
            <a:avLst>
              <a:gd name="adj" fmla="val 2857"/>
            </a:avLst>
          </a:prstGeom>
          <a:solidFill>
            <a:schemeClr val="bg2"/>
          </a:solidFill>
          <a:ln/>
        </p:spPr>
      </p:sp>
      <p:sp>
        <p:nvSpPr>
          <p:cNvPr id="5" name="cerchio FiSearch"/>
          <p:cNvSpPr/>
          <p:nvPr/>
        </p:nvSpPr>
        <p:spPr>
          <a:xfrm>
            <a:off x="640080" y="1280160"/>
            <a:ext cx="457200" cy="457200"/>
          </a:xfrm>
          <a:prstGeom prst="ellipse">
            <a:avLst/>
          </a:prstGeom>
          <a:solidFill>
            <a:schemeClr val="accent1"/>
          </a:solidFill>
          <a:ln/>
        </p:spPr>
      </p:sp>
      <p:pic>
        <p:nvPicPr>
          <p:cNvPr id="6" name="Image 0" descr="FiSearch">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Richiesta isolata</a:t>
            </a:r>
            <a:endParaRPr lang="en-US" sz="1600" dirty="0"/>
          </a:p>
        </p:txBody>
      </p:sp>
      <p:sp>
        <p:nvSpPr>
          <p:cNvPr id="8" name="Text 4"/>
          <p:cNvSpPr txBox="1"/>
          <p:nvPr/>
        </p:nvSpPr>
        <p:spPr>
          <a:xfrm>
            <a:off x="640080" y="2231136"/>
            <a:ext cx="3611880" cy="131673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Un solo scambio: domanda e risposta</a:t>
            </a:r>
            <a:endParaRPr lang="en-US" sz="1300" dirty="0"/>
          </a:p>
          <a:p>
            <a:pPr marL="177800" indent="-177800">
              <a:spcAft>
                <a:spcPts val="400"/>
              </a:spcAft>
              <a:buSzPct val="100000"/>
              <a:buChar char="•"/>
            </a:pPr>
            <a:r>
              <a:rPr lang="en-US" sz="1300" dirty="0">
                <a:solidFill>
                  <a:schemeClr val="tx2"/>
                </a:solidFill>
              </a:rPr>
              <a:t>Adatta a bisogni semplici e definiti</a:t>
            </a:r>
            <a:endParaRPr lang="en-US" sz="1300" dirty="0"/>
          </a:p>
          <a:p>
            <a:pPr marL="177800" indent="-177800">
              <a:spcAft>
                <a:spcPts val="400"/>
              </a:spcAft>
              <a:buSzPct val="100000"/>
              <a:buChar char="•"/>
            </a:pPr>
            <a:r>
              <a:rPr lang="en-US" sz="1300" dirty="0">
                <a:solidFill>
                  <a:schemeClr val="tx2"/>
                </a:solidFill>
              </a:rPr>
              <a:t>Esempi: tradurre, definire, una formula</a:t>
            </a:r>
            <a:endParaRPr lang="en-US" sz="1300" dirty="0"/>
          </a:p>
        </p:txBody>
      </p:sp>
      <p:sp>
        <p:nvSpPr>
          <p:cNvPr id="9" name="scheda Dialogo articolato"/>
          <p:cNvSpPr/>
          <p:nvPr/>
        </p:nvSpPr>
        <p:spPr>
          <a:xfrm>
            <a:off x="4709160" y="1097280"/>
            <a:ext cx="3977640" cy="2560320"/>
          </a:xfrm>
          <a:prstGeom prst="roundRect">
            <a:avLst>
              <a:gd name="adj" fmla="val 2857"/>
            </a:avLst>
          </a:prstGeom>
          <a:solidFill>
            <a:schemeClr val="accent6"/>
          </a:solidFill>
          <a:ln/>
        </p:spPr>
      </p:sp>
      <p:sp>
        <p:nvSpPr>
          <p:cNvPr id="10" name="cerchio FiMessageSquare"/>
          <p:cNvSpPr/>
          <p:nvPr/>
        </p:nvSpPr>
        <p:spPr>
          <a:xfrm>
            <a:off x="4892040" y="1280160"/>
            <a:ext cx="457200" cy="457200"/>
          </a:xfrm>
          <a:prstGeom prst="ellipse">
            <a:avLst/>
          </a:prstGeom>
          <a:solidFill>
            <a:schemeClr val="accent1"/>
          </a:solidFill>
          <a:ln/>
        </p:spPr>
      </p:sp>
      <p:pic>
        <p:nvPicPr>
          <p:cNvPr id="11" name="Image 1" descr="FiMessageSquare">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Dialogo articolato</a:t>
            </a:r>
            <a:endParaRPr lang="en-US" sz="1600" dirty="0"/>
          </a:p>
        </p:txBody>
      </p:sp>
      <p:sp>
        <p:nvSpPr>
          <p:cNvPr id="13" name="Text 8"/>
          <p:cNvSpPr txBox="1"/>
          <p:nvPr/>
        </p:nvSpPr>
        <p:spPr>
          <a:xfrm>
            <a:off x="4892040" y="2231136"/>
            <a:ext cx="3611880" cy="131673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Più scambi: la richiesta si costruisce</a:t>
            </a:r>
            <a:endParaRPr lang="en-US" sz="1300" dirty="0"/>
          </a:p>
          <a:p>
            <a:pPr marL="177800" indent="-177800">
              <a:spcAft>
                <a:spcPts val="400"/>
              </a:spcAft>
              <a:buSzPct val="100000"/>
              <a:buChar char="•"/>
            </a:pPr>
            <a:r>
              <a:rPr lang="en-US" sz="1300" dirty="0">
                <a:solidFill>
                  <a:schemeClr val="tx2"/>
                </a:solidFill>
              </a:rPr>
              <a:t>Adatto a bisogni complessi o ancora sfumati</a:t>
            </a:r>
            <a:endParaRPr lang="en-US" sz="1300" dirty="0"/>
          </a:p>
          <a:p>
            <a:pPr marL="177800" indent="-177800">
              <a:spcAft>
                <a:spcPts val="400"/>
              </a:spcAft>
              <a:buSzPct val="100000"/>
              <a:buChar char="•"/>
            </a:pPr>
            <a:r>
              <a:rPr lang="en-US" sz="1300" dirty="0">
                <a:solidFill>
                  <a:schemeClr val="tx2"/>
                </a:solidFill>
              </a:rPr>
              <a:t>Precisare, aggiungere, chiedere alternative</a:t>
            </a:r>
            <a:endParaRPr lang="en-US" sz="1300" dirty="0"/>
          </a:p>
        </p:txBody>
      </p:sp>
      <p:sp>
        <p:nvSpPr>
          <p:cNvPr id="14" name="messaggio"/>
          <p:cNvSpPr/>
          <p:nvPr/>
        </p:nvSpPr>
        <p:spPr>
          <a:xfrm>
            <a:off x="457200" y="3840480"/>
            <a:ext cx="8229600" cy="685800"/>
          </a:xfrm>
          <a:prstGeom prst="roundRect">
            <a:avLst>
              <a:gd name="adj" fmla="val 10667"/>
            </a:avLst>
          </a:prstGeom>
          <a:solidFill>
            <a:schemeClr val="tx1"/>
          </a:solidFill>
          <a:ln/>
        </p:spPr>
      </p:sp>
      <p:sp>
        <p:nvSpPr>
          <p:cNvPr id="15" name="Text 10"/>
          <p:cNvSpPr txBox="1"/>
          <p:nvPr/>
        </p:nvSpPr>
        <p:spPr>
          <a:xfrm>
            <a:off x="640080" y="3840480"/>
            <a:ext cx="7863840" cy="685800"/>
          </a:xfrm>
          <a:prstGeom prst="rect">
            <a:avLst/>
          </a:prstGeom>
          <a:noFill/>
          <a:ln/>
        </p:spPr>
        <p:txBody>
          <a:bodyPr wrap="square" lIns="0" tIns="0" rIns="0" bIns="0" rtlCol="0" anchor="ctr"/>
          <a:lstStyle/>
          <a:p>
            <a:pPr indent="0" marL="0">
              <a:buNone/>
            </a:pPr>
            <a:r>
              <a:rPr lang="en-US" sz="1400" dirty="0">
                <a:solidFill>
                  <a:schemeClr val="bg1"/>
                </a:solidFill>
              </a:rPr>
              <a:t>Spesso il problema non è lo strumento, ma aver interrotto il dialogo troppo presto.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Un processo progressivo e iterativo</a:t>
            </a:r>
            <a:endParaRPr lang="en-US" sz="2600" dirty="0"/>
          </a:p>
        </p:txBody>
      </p:sp>
      <p:sp>
        <p:nvSpPr>
          <p:cNvPr id="4" name="Chiedere"/>
          <p:cNvSpPr/>
          <p:nvPr/>
        </p:nvSpPr>
        <p:spPr>
          <a:xfrm>
            <a:off x="457200" y="1143000"/>
            <a:ext cx="1874520" cy="2011680"/>
          </a:xfrm>
          <a:prstGeom prst="roundRect">
            <a:avLst>
              <a:gd name="adj" fmla="val 3902"/>
            </a:avLst>
          </a:prstGeom>
          <a:solidFill>
            <a:schemeClr val="bg2"/>
          </a:solidFill>
          <a:ln/>
        </p:spPr>
      </p:sp>
      <p:sp>
        <p:nvSpPr>
          <p:cNvPr id="5" name="cerchio FiEdit3"/>
          <p:cNvSpPr/>
          <p:nvPr/>
        </p:nvSpPr>
        <p:spPr>
          <a:xfrm>
            <a:off x="1115568" y="1280160"/>
            <a:ext cx="548640" cy="548640"/>
          </a:xfrm>
          <a:prstGeom prst="ellipse">
            <a:avLst/>
          </a:prstGeom>
          <a:solidFill>
            <a:schemeClr val="accent1"/>
          </a:solidFill>
          <a:ln/>
        </p:spPr>
      </p:sp>
      <p:pic>
        <p:nvPicPr>
          <p:cNvPr id="6" name="Image 0" descr="FiEdit3">    </p:cNvPr>
          <p:cNvPicPr>
            <a:picLocks noChangeAspect="1"/>
          </p:cNvPicPr>
          <p:nvPr/>
        </p:nvPicPr>
        <p:blipFill>
          <a:blip r:embed="rId1"/>
          <a:stretch>
            <a:fillRect/>
          </a:stretch>
        </p:blipFill>
        <p:spPr>
          <a:xfrm>
            <a:off x="1252728" y="1417320"/>
            <a:ext cx="274320" cy="274320"/>
          </a:xfrm>
          <a:prstGeom prst="rect">
            <a:avLst/>
          </a:prstGeom>
        </p:spPr>
      </p:pic>
      <p:sp>
        <p:nvSpPr>
          <p:cNvPr id="7" name="Text 3"/>
          <p:cNvSpPr txBox="1"/>
          <p:nvPr/>
        </p:nvSpPr>
        <p:spPr>
          <a:xfrm>
            <a:off x="548640" y="1920240"/>
            <a:ext cx="1691640" cy="365760"/>
          </a:xfrm>
          <a:prstGeom prst="rect">
            <a:avLst/>
          </a:prstGeom>
          <a:noFill/>
          <a:ln/>
        </p:spPr>
        <p:txBody>
          <a:bodyPr wrap="square" lIns="0" tIns="0" rIns="0" bIns="0" rtlCol="0" anchor="t"/>
          <a:lstStyle/>
          <a:p>
            <a:pPr algn="ctr" indent="0" marL="0">
              <a:buNone/>
            </a:pPr>
            <a:r>
              <a:rPr lang="en-US" sz="1600" b="1" dirty="0">
                <a:solidFill>
                  <a:schemeClr val="tx1"/>
                </a:solidFill>
              </a:rPr>
              <a:t>Chiedere</a:t>
            </a:r>
            <a:endParaRPr lang="en-US" sz="1600" dirty="0"/>
          </a:p>
        </p:txBody>
      </p:sp>
      <p:sp>
        <p:nvSpPr>
          <p:cNvPr id="8" name="Text 4"/>
          <p:cNvSpPr txBox="1"/>
          <p:nvPr/>
        </p:nvSpPr>
        <p:spPr>
          <a:xfrm>
            <a:off x="594360" y="2331720"/>
            <a:ext cx="1600200" cy="731520"/>
          </a:xfrm>
          <a:prstGeom prst="rect">
            <a:avLst/>
          </a:prstGeom>
          <a:noFill/>
          <a:ln/>
        </p:spPr>
        <p:txBody>
          <a:bodyPr wrap="square" lIns="0" tIns="0" rIns="0" bIns="0" rtlCol="0" anchor="t"/>
          <a:lstStyle/>
          <a:p>
            <a:pPr algn="ctr" indent="0" marL="0">
              <a:buNone/>
            </a:pPr>
            <a:r>
              <a:rPr lang="en-US" sz="1200" dirty="0">
                <a:solidFill>
                  <a:schemeClr val="tx2"/>
                </a:solidFill>
              </a:rPr>
              <a:t>Anche in modo imperfetto</a:t>
            </a:r>
            <a:endParaRPr lang="en-US" sz="1200" dirty="0"/>
          </a:p>
        </p:txBody>
      </p:sp>
      <p:sp>
        <p:nvSpPr>
          <p:cNvPr id="9" name="freccia"/>
          <p:cNvSpPr/>
          <p:nvPr/>
        </p:nvSpPr>
        <p:spPr>
          <a:xfrm>
            <a:off x="2350008" y="2011680"/>
            <a:ext cx="219456" cy="292608"/>
          </a:xfrm>
          <a:prstGeom prst="rightArrow">
            <a:avLst/>
          </a:prstGeom>
          <a:solidFill>
            <a:schemeClr val="accent2"/>
          </a:solidFill>
          <a:ln/>
        </p:spPr>
      </p:sp>
      <p:sp>
        <p:nvSpPr>
          <p:cNvPr id="10" name="Valutare"/>
          <p:cNvSpPr/>
          <p:nvPr/>
        </p:nvSpPr>
        <p:spPr>
          <a:xfrm>
            <a:off x="2587752" y="1143000"/>
            <a:ext cx="1874520" cy="2011680"/>
          </a:xfrm>
          <a:prstGeom prst="roundRect">
            <a:avLst>
              <a:gd name="adj" fmla="val 3902"/>
            </a:avLst>
          </a:prstGeom>
          <a:solidFill>
            <a:schemeClr val="accent6"/>
          </a:solidFill>
          <a:ln/>
        </p:spPr>
      </p:sp>
      <p:sp>
        <p:nvSpPr>
          <p:cNvPr id="11" name="cerchio FiEye"/>
          <p:cNvSpPr/>
          <p:nvPr/>
        </p:nvSpPr>
        <p:spPr>
          <a:xfrm>
            <a:off x="3246120" y="1280160"/>
            <a:ext cx="548640" cy="548640"/>
          </a:xfrm>
          <a:prstGeom prst="ellipse">
            <a:avLst/>
          </a:prstGeom>
          <a:solidFill>
            <a:schemeClr val="accent1"/>
          </a:solidFill>
          <a:ln/>
        </p:spPr>
      </p:sp>
      <p:pic>
        <p:nvPicPr>
          <p:cNvPr id="12" name="Image 1" descr="FiEye">    </p:cNvPr>
          <p:cNvPicPr>
            <a:picLocks noChangeAspect="1"/>
          </p:cNvPicPr>
          <p:nvPr/>
        </p:nvPicPr>
        <p:blipFill>
          <a:blip r:embed="rId2"/>
          <a:stretch>
            <a:fillRect/>
          </a:stretch>
        </p:blipFill>
        <p:spPr>
          <a:xfrm>
            <a:off x="3383280" y="1417320"/>
            <a:ext cx="274320" cy="274320"/>
          </a:xfrm>
          <a:prstGeom prst="rect">
            <a:avLst/>
          </a:prstGeom>
        </p:spPr>
      </p:pic>
      <p:sp>
        <p:nvSpPr>
          <p:cNvPr id="13" name="Text 8"/>
          <p:cNvSpPr txBox="1"/>
          <p:nvPr/>
        </p:nvSpPr>
        <p:spPr>
          <a:xfrm>
            <a:off x="2679192" y="1920240"/>
            <a:ext cx="1691640" cy="365760"/>
          </a:xfrm>
          <a:prstGeom prst="rect">
            <a:avLst/>
          </a:prstGeom>
          <a:noFill/>
          <a:ln/>
        </p:spPr>
        <p:txBody>
          <a:bodyPr wrap="square" lIns="0" tIns="0" rIns="0" bIns="0" rtlCol="0" anchor="t"/>
          <a:lstStyle/>
          <a:p>
            <a:pPr algn="ctr" indent="0" marL="0">
              <a:buNone/>
            </a:pPr>
            <a:r>
              <a:rPr lang="en-US" sz="1600" b="1" dirty="0">
                <a:solidFill>
                  <a:schemeClr val="tx1"/>
                </a:solidFill>
              </a:rPr>
              <a:t>Valutare</a:t>
            </a:r>
            <a:endParaRPr lang="en-US" sz="1600" dirty="0"/>
          </a:p>
        </p:txBody>
      </p:sp>
      <p:sp>
        <p:nvSpPr>
          <p:cNvPr id="14" name="Text 9"/>
          <p:cNvSpPr txBox="1"/>
          <p:nvPr/>
        </p:nvSpPr>
        <p:spPr>
          <a:xfrm>
            <a:off x="2724912" y="2331720"/>
            <a:ext cx="1600200" cy="731520"/>
          </a:xfrm>
          <a:prstGeom prst="rect">
            <a:avLst/>
          </a:prstGeom>
          <a:noFill/>
          <a:ln/>
        </p:spPr>
        <p:txBody>
          <a:bodyPr wrap="square" lIns="0" tIns="0" rIns="0" bIns="0" rtlCol="0" anchor="t"/>
          <a:lstStyle/>
          <a:p>
            <a:pPr algn="ctr" indent="0" marL="0">
              <a:buNone/>
            </a:pPr>
            <a:r>
              <a:rPr lang="en-US" sz="1200" dirty="0">
                <a:solidFill>
                  <a:schemeClr val="tx2"/>
                </a:solidFill>
              </a:rPr>
              <a:t>Che cosa va, che cosa manca</a:t>
            </a:r>
            <a:endParaRPr lang="en-US" sz="1200" dirty="0"/>
          </a:p>
        </p:txBody>
      </p:sp>
      <p:sp>
        <p:nvSpPr>
          <p:cNvPr id="15" name="freccia"/>
          <p:cNvSpPr/>
          <p:nvPr/>
        </p:nvSpPr>
        <p:spPr>
          <a:xfrm>
            <a:off x="4480560" y="2011680"/>
            <a:ext cx="219456" cy="292608"/>
          </a:xfrm>
          <a:prstGeom prst="rightArrow">
            <a:avLst/>
          </a:prstGeom>
          <a:solidFill>
            <a:schemeClr val="accent2"/>
          </a:solidFill>
          <a:ln/>
        </p:spPr>
      </p:sp>
      <p:sp>
        <p:nvSpPr>
          <p:cNvPr id="16" name="Precisare"/>
          <p:cNvSpPr/>
          <p:nvPr/>
        </p:nvSpPr>
        <p:spPr>
          <a:xfrm>
            <a:off x="4718304" y="1143000"/>
            <a:ext cx="1874520" cy="2011680"/>
          </a:xfrm>
          <a:prstGeom prst="roundRect">
            <a:avLst>
              <a:gd name="adj" fmla="val 3902"/>
            </a:avLst>
          </a:prstGeom>
          <a:solidFill>
            <a:schemeClr val="bg2"/>
          </a:solidFill>
          <a:ln/>
        </p:spPr>
      </p:sp>
      <p:sp>
        <p:nvSpPr>
          <p:cNvPr id="17" name="cerchio FiSliders"/>
          <p:cNvSpPr/>
          <p:nvPr/>
        </p:nvSpPr>
        <p:spPr>
          <a:xfrm>
            <a:off x="5376672" y="1280160"/>
            <a:ext cx="548640" cy="548640"/>
          </a:xfrm>
          <a:prstGeom prst="ellipse">
            <a:avLst/>
          </a:prstGeom>
          <a:solidFill>
            <a:schemeClr val="accent1"/>
          </a:solidFill>
          <a:ln/>
        </p:spPr>
      </p:sp>
      <p:pic>
        <p:nvPicPr>
          <p:cNvPr id="18" name="Image 2" descr="FiSliders">    </p:cNvPr>
          <p:cNvPicPr>
            <a:picLocks noChangeAspect="1"/>
          </p:cNvPicPr>
          <p:nvPr/>
        </p:nvPicPr>
        <p:blipFill>
          <a:blip r:embed="rId3"/>
          <a:stretch>
            <a:fillRect/>
          </a:stretch>
        </p:blipFill>
        <p:spPr>
          <a:xfrm>
            <a:off x="5513832" y="1417320"/>
            <a:ext cx="274320" cy="274320"/>
          </a:xfrm>
          <a:prstGeom prst="rect">
            <a:avLst/>
          </a:prstGeom>
        </p:spPr>
      </p:pic>
      <p:sp>
        <p:nvSpPr>
          <p:cNvPr id="19" name="Text 13"/>
          <p:cNvSpPr txBox="1"/>
          <p:nvPr/>
        </p:nvSpPr>
        <p:spPr>
          <a:xfrm>
            <a:off x="4809744" y="1920240"/>
            <a:ext cx="1691640" cy="365760"/>
          </a:xfrm>
          <a:prstGeom prst="rect">
            <a:avLst/>
          </a:prstGeom>
          <a:noFill/>
          <a:ln/>
        </p:spPr>
        <p:txBody>
          <a:bodyPr wrap="square" lIns="0" tIns="0" rIns="0" bIns="0" rtlCol="0" anchor="t"/>
          <a:lstStyle/>
          <a:p>
            <a:pPr algn="ctr" indent="0" marL="0">
              <a:buNone/>
            </a:pPr>
            <a:r>
              <a:rPr lang="en-US" sz="1600" b="1" dirty="0">
                <a:solidFill>
                  <a:schemeClr val="tx1"/>
                </a:solidFill>
              </a:rPr>
              <a:t>Precisare</a:t>
            </a:r>
            <a:endParaRPr lang="en-US" sz="1600" dirty="0"/>
          </a:p>
        </p:txBody>
      </p:sp>
      <p:sp>
        <p:nvSpPr>
          <p:cNvPr id="20" name="Text 14"/>
          <p:cNvSpPr txBox="1"/>
          <p:nvPr/>
        </p:nvSpPr>
        <p:spPr>
          <a:xfrm>
            <a:off x="4855464" y="2331720"/>
            <a:ext cx="1600200" cy="731520"/>
          </a:xfrm>
          <a:prstGeom prst="rect">
            <a:avLst/>
          </a:prstGeom>
          <a:noFill/>
          <a:ln/>
        </p:spPr>
        <p:txBody>
          <a:bodyPr wrap="square" lIns="0" tIns="0" rIns="0" bIns="0" rtlCol="0" anchor="t"/>
          <a:lstStyle/>
          <a:p>
            <a:pPr algn="ctr" indent="0" marL="0">
              <a:buNone/>
            </a:pPr>
            <a:r>
              <a:rPr lang="en-US" sz="1200" dirty="0">
                <a:solidFill>
                  <a:schemeClr val="tx2"/>
                </a:solidFill>
              </a:rPr>
              <a:t>Informazioni, correzioni, nuove indicazioni</a:t>
            </a:r>
            <a:endParaRPr lang="en-US" sz="1200" dirty="0"/>
          </a:p>
        </p:txBody>
      </p:sp>
      <p:sp>
        <p:nvSpPr>
          <p:cNvPr id="21" name="freccia"/>
          <p:cNvSpPr/>
          <p:nvPr/>
        </p:nvSpPr>
        <p:spPr>
          <a:xfrm>
            <a:off x="6611112" y="2011680"/>
            <a:ext cx="219456" cy="292608"/>
          </a:xfrm>
          <a:prstGeom prst="rightArrow">
            <a:avLst/>
          </a:prstGeom>
          <a:solidFill>
            <a:schemeClr val="accent2"/>
          </a:solidFill>
          <a:ln/>
        </p:spPr>
      </p:sp>
      <p:sp>
        <p:nvSpPr>
          <p:cNvPr id="22" name="Ripetere"/>
          <p:cNvSpPr/>
          <p:nvPr/>
        </p:nvSpPr>
        <p:spPr>
          <a:xfrm>
            <a:off x="6848856" y="1143000"/>
            <a:ext cx="1874520" cy="2011680"/>
          </a:xfrm>
          <a:prstGeom prst="roundRect">
            <a:avLst>
              <a:gd name="adj" fmla="val 3902"/>
            </a:avLst>
          </a:prstGeom>
          <a:solidFill>
            <a:schemeClr val="bg2"/>
          </a:solidFill>
          <a:ln/>
        </p:spPr>
      </p:sp>
      <p:sp>
        <p:nvSpPr>
          <p:cNvPr id="23" name="cerchio FiRepeat"/>
          <p:cNvSpPr/>
          <p:nvPr/>
        </p:nvSpPr>
        <p:spPr>
          <a:xfrm>
            <a:off x="7507224" y="1280160"/>
            <a:ext cx="548640" cy="548640"/>
          </a:xfrm>
          <a:prstGeom prst="ellipse">
            <a:avLst/>
          </a:prstGeom>
          <a:solidFill>
            <a:schemeClr val="accent1"/>
          </a:solidFill>
          <a:ln/>
        </p:spPr>
      </p:sp>
      <p:pic>
        <p:nvPicPr>
          <p:cNvPr id="24" name="Image 3" descr="FiRepeat">    </p:cNvPr>
          <p:cNvPicPr>
            <a:picLocks noChangeAspect="1"/>
          </p:cNvPicPr>
          <p:nvPr/>
        </p:nvPicPr>
        <p:blipFill>
          <a:blip r:embed="rId4"/>
          <a:stretch>
            <a:fillRect/>
          </a:stretch>
        </p:blipFill>
        <p:spPr>
          <a:xfrm>
            <a:off x="7644384" y="1417320"/>
            <a:ext cx="274320" cy="274320"/>
          </a:xfrm>
          <a:prstGeom prst="rect">
            <a:avLst/>
          </a:prstGeom>
        </p:spPr>
      </p:pic>
      <p:sp>
        <p:nvSpPr>
          <p:cNvPr id="25" name="Text 18"/>
          <p:cNvSpPr txBox="1"/>
          <p:nvPr/>
        </p:nvSpPr>
        <p:spPr>
          <a:xfrm>
            <a:off x="6940296" y="1920240"/>
            <a:ext cx="1691640" cy="365760"/>
          </a:xfrm>
          <a:prstGeom prst="rect">
            <a:avLst/>
          </a:prstGeom>
          <a:noFill/>
          <a:ln/>
        </p:spPr>
        <p:txBody>
          <a:bodyPr wrap="square" lIns="0" tIns="0" rIns="0" bIns="0" rtlCol="0" anchor="t"/>
          <a:lstStyle/>
          <a:p>
            <a:pPr algn="ctr" indent="0" marL="0">
              <a:buNone/>
            </a:pPr>
            <a:r>
              <a:rPr lang="en-US" sz="1600" b="1" dirty="0">
                <a:solidFill>
                  <a:schemeClr val="tx1"/>
                </a:solidFill>
              </a:rPr>
              <a:t>Ripetere</a:t>
            </a:r>
            <a:endParaRPr lang="en-US" sz="1600" dirty="0"/>
          </a:p>
        </p:txBody>
      </p:sp>
      <p:sp>
        <p:nvSpPr>
          <p:cNvPr id="26" name="Text 19"/>
          <p:cNvSpPr txBox="1"/>
          <p:nvPr/>
        </p:nvSpPr>
        <p:spPr>
          <a:xfrm>
            <a:off x="6986016" y="2331720"/>
            <a:ext cx="1600200" cy="731520"/>
          </a:xfrm>
          <a:prstGeom prst="rect">
            <a:avLst/>
          </a:prstGeom>
          <a:noFill/>
          <a:ln/>
        </p:spPr>
        <p:txBody>
          <a:bodyPr wrap="square" lIns="0" tIns="0" rIns="0" bIns="0" rtlCol="0" anchor="t"/>
          <a:lstStyle/>
          <a:p>
            <a:pPr algn="ctr" indent="0" marL="0">
              <a:buNone/>
            </a:pPr>
            <a:r>
              <a:rPr lang="en-US" sz="1200" dirty="0">
                <a:solidFill>
                  <a:schemeClr val="tx2"/>
                </a:solidFill>
              </a:rPr>
              <a:t>Finché il risultato è adeguato</a:t>
            </a:r>
            <a:endParaRPr lang="en-US" sz="1200" dirty="0"/>
          </a:p>
        </p:txBody>
      </p:sp>
      <p:sp>
        <p:nvSpPr>
          <p:cNvPr id="27" name="scheda Si impara anche noi"/>
          <p:cNvSpPr/>
          <p:nvPr/>
        </p:nvSpPr>
        <p:spPr>
          <a:xfrm>
            <a:off x="457200" y="3337560"/>
            <a:ext cx="3977640" cy="1188720"/>
          </a:xfrm>
          <a:prstGeom prst="roundRect">
            <a:avLst>
              <a:gd name="adj" fmla="val 6154"/>
            </a:avLst>
          </a:prstGeom>
          <a:solidFill>
            <a:schemeClr val="bg2"/>
          </a:solidFill>
          <a:ln/>
        </p:spPr>
      </p:sp>
      <p:sp>
        <p:nvSpPr>
          <p:cNvPr id="28" name="cerchio FiBookOpen"/>
          <p:cNvSpPr/>
          <p:nvPr/>
        </p:nvSpPr>
        <p:spPr>
          <a:xfrm>
            <a:off x="640080" y="3520440"/>
            <a:ext cx="457200" cy="457200"/>
          </a:xfrm>
          <a:prstGeom prst="ellipse">
            <a:avLst/>
          </a:prstGeom>
          <a:solidFill>
            <a:schemeClr val="accent1"/>
          </a:solidFill>
          <a:ln/>
        </p:spPr>
      </p:sp>
      <p:pic>
        <p:nvPicPr>
          <p:cNvPr id="29" name="Image 4" descr="FiBookOpen">    </p:cNvPr>
          <p:cNvPicPr>
            <a:picLocks noChangeAspect="1"/>
          </p:cNvPicPr>
          <p:nvPr/>
        </p:nvPicPr>
        <p:blipFill>
          <a:blip r:embed="rId5"/>
          <a:stretch>
            <a:fillRect/>
          </a:stretch>
        </p:blipFill>
        <p:spPr>
          <a:xfrm>
            <a:off x="754380" y="3634740"/>
            <a:ext cx="228600" cy="228600"/>
          </a:xfrm>
          <a:prstGeom prst="rect">
            <a:avLst/>
          </a:prstGeom>
        </p:spPr>
      </p:pic>
      <p:sp>
        <p:nvSpPr>
          <p:cNvPr id="30" name="Text 22"/>
          <p:cNvSpPr txBox="1"/>
          <p:nvPr/>
        </p:nvSpPr>
        <p:spPr>
          <a:xfrm>
            <a:off x="1234440" y="352044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Si impara anche noi</a:t>
            </a:r>
            <a:endParaRPr lang="en-US" sz="1500" dirty="0"/>
          </a:p>
        </p:txBody>
      </p:sp>
      <p:sp>
        <p:nvSpPr>
          <p:cNvPr id="31" name="Text 23"/>
          <p:cNvSpPr txBox="1"/>
          <p:nvPr/>
        </p:nvSpPr>
        <p:spPr>
          <a:xfrm>
            <a:off x="640080" y="4114800"/>
            <a:ext cx="3611880" cy="301752"/>
          </a:xfrm>
          <a:prstGeom prst="rect">
            <a:avLst/>
          </a:prstGeom>
          <a:noFill/>
          <a:ln/>
        </p:spPr>
        <p:txBody>
          <a:bodyPr wrap="square" lIns="0" tIns="0" rIns="0" bIns="0" rtlCol="0" anchor="t"/>
          <a:lstStyle/>
          <a:p>
            <a:pPr indent="0" marL="0">
              <a:buNone/>
            </a:pPr>
            <a:r>
              <a:rPr lang="en-US" sz="1200" dirty="0">
                <a:solidFill>
                  <a:schemeClr val="tx2"/>
                </a:solidFill>
              </a:rPr>
              <a:t>Il primo risultato aiuta a capire che cosa vogliamo davvero.</a:t>
            </a:r>
            <a:endParaRPr lang="en-US" sz="1200" dirty="0"/>
          </a:p>
        </p:txBody>
      </p:sp>
      <p:sp>
        <p:nvSpPr>
          <p:cNvPr id="32" name="scheda Sapere quando fermarsi"/>
          <p:cNvSpPr/>
          <p:nvPr/>
        </p:nvSpPr>
        <p:spPr>
          <a:xfrm>
            <a:off x="4709160" y="3337560"/>
            <a:ext cx="3977640" cy="1188720"/>
          </a:xfrm>
          <a:prstGeom prst="roundRect">
            <a:avLst>
              <a:gd name="adj" fmla="val 6154"/>
            </a:avLst>
          </a:prstGeom>
          <a:solidFill>
            <a:schemeClr val="accent6"/>
          </a:solidFill>
          <a:ln/>
        </p:spPr>
      </p:sp>
      <p:sp>
        <p:nvSpPr>
          <p:cNvPr id="33" name="cerchio FiStopCircle"/>
          <p:cNvSpPr/>
          <p:nvPr/>
        </p:nvSpPr>
        <p:spPr>
          <a:xfrm>
            <a:off x="4892040" y="3520440"/>
            <a:ext cx="457200" cy="457200"/>
          </a:xfrm>
          <a:prstGeom prst="ellipse">
            <a:avLst/>
          </a:prstGeom>
          <a:solidFill>
            <a:schemeClr val="accent1"/>
          </a:solidFill>
          <a:ln/>
        </p:spPr>
      </p:sp>
      <p:pic>
        <p:nvPicPr>
          <p:cNvPr id="34" name="Image 5" descr="FiStopCircle">    </p:cNvPr>
          <p:cNvPicPr>
            <a:picLocks noChangeAspect="1"/>
          </p:cNvPicPr>
          <p:nvPr/>
        </p:nvPicPr>
        <p:blipFill>
          <a:blip r:embed="rId6"/>
          <a:stretch>
            <a:fillRect/>
          </a:stretch>
        </p:blipFill>
        <p:spPr>
          <a:xfrm>
            <a:off x="5006340" y="3634740"/>
            <a:ext cx="228600" cy="228600"/>
          </a:xfrm>
          <a:prstGeom prst="rect">
            <a:avLst/>
          </a:prstGeom>
        </p:spPr>
      </p:pic>
      <p:sp>
        <p:nvSpPr>
          <p:cNvPr id="35" name="Text 26"/>
          <p:cNvSpPr txBox="1"/>
          <p:nvPr/>
        </p:nvSpPr>
        <p:spPr>
          <a:xfrm>
            <a:off x="5486400" y="352044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Sapere quando fermarsi</a:t>
            </a:r>
            <a:endParaRPr lang="en-US" sz="1500" dirty="0"/>
          </a:p>
        </p:txBody>
      </p:sp>
      <p:sp>
        <p:nvSpPr>
          <p:cNvPr id="36" name="Text 27"/>
          <p:cNvSpPr txBox="1"/>
          <p:nvPr/>
        </p:nvSpPr>
        <p:spPr>
          <a:xfrm>
            <a:off x="4892040" y="4114800"/>
            <a:ext cx="3611880" cy="301752"/>
          </a:xfrm>
          <a:prstGeom prst="rect">
            <a:avLst/>
          </a:prstGeom>
          <a:noFill/>
          <a:ln/>
        </p:spPr>
        <p:txBody>
          <a:bodyPr wrap="square" lIns="0" tIns="0" rIns="0" bIns="0" rtlCol="0" anchor="t"/>
          <a:lstStyle/>
          <a:p>
            <a:pPr indent="0" marL="0">
              <a:buNone/>
            </a:pPr>
            <a:r>
              <a:rPr lang="en-US" sz="1200" dirty="0">
                <a:solidFill>
                  <a:schemeClr val="tx2"/>
                </a:solidFill>
              </a:rPr>
              <a:t>Se non migliora: compito adatto? Informazioni mancanti? Ricominciare?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Un esempio di dialogo</a:t>
            </a:r>
            <a:endParaRPr lang="en-US" sz="2600" dirty="0"/>
          </a:p>
        </p:txBody>
      </p:sp>
      <p:sp>
        <p:nvSpPr>
          <p:cNvPr id="4" name="turno"/>
          <p:cNvSpPr/>
          <p:nvPr/>
        </p:nvSpPr>
        <p:spPr>
          <a:xfrm>
            <a:off x="457200" y="1097280"/>
            <a:ext cx="4279392" cy="457200"/>
          </a:xfrm>
          <a:prstGeom prst="roundRect">
            <a:avLst>
              <a:gd name="adj" fmla="val 16000"/>
            </a:avLst>
          </a:prstGeom>
          <a:solidFill>
            <a:schemeClr val="bg2"/>
          </a:solidFill>
          <a:ln/>
        </p:spPr>
      </p:sp>
      <p:sp>
        <p:nvSpPr>
          <p:cNvPr id="5" name="Text 2"/>
          <p:cNvSpPr txBox="1"/>
          <p:nvPr/>
        </p:nvSpPr>
        <p:spPr>
          <a:xfrm>
            <a:off x="594360" y="1097280"/>
            <a:ext cx="4005072" cy="457200"/>
          </a:xfrm>
          <a:prstGeom prst="rect">
            <a:avLst/>
          </a:prstGeom>
          <a:noFill/>
          <a:ln/>
        </p:spPr>
        <p:txBody>
          <a:bodyPr wrap="square" lIns="0" tIns="0" rIns="0" bIns="0" rtlCol="0" anchor="ctr"/>
          <a:lstStyle/>
          <a:p>
            <a:pPr indent="0" marL="0">
              <a:buNone/>
            </a:pPr>
            <a:r>
              <a:rPr lang="en-US" sz="1200" b="1" dirty="0">
                <a:solidFill>
                  <a:schemeClr val="tx1"/>
                </a:solidFill>
              </a:rPr>
              <a:t>Persona: </a:t>
            </a:r>
            <a:pPr indent="0" marL="0">
              <a:buNone/>
            </a:pPr>
            <a:r>
              <a:rPr lang="en-US" sz="1200" dirty="0">
                <a:solidFill>
                  <a:schemeClr val="tx1"/>
                </a:solidFill>
              </a:rPr>
              <a:t>Scrivi una comunicazione sul nuovo sistema di prenotazione delle sale.</a:t>
            </a:r>
            <a:endParaRPr lang="en-US" sz="1200" dirty="0"/>
          </a:p>
        </p:txBody>
      </p:sp>
      <p:sp>
        <p:nvSpPr>
          <p:cNvPr id="6" name="turno"/>
          <p:cNvSpPr/>
          <p:nvPr/>
        </p:nvSpPr>
        <p:spPr>
          <a:xfrm>
            <a:off x="1664208" y="1664208"/>
            <a:ext cx="4279392" cy="457200"/>
          </a:xfrm>
          <a:prstGeom prst="roundRect">
            <a:avLst>
              <a:gd name="adj" fmla="val 16000"/>
            </a:avLst>
          </a:prstGeom>
          <a:solidFill>
            <a:schemeClr val="accent6"/>
          </a:solidFill>
          <a:ln/>
        </p:spPr>
      </p:sp>
      <p:sp>
        <p:nvSpPr>
          <p:cNvPr id="7" name="Text 4"/>
          <p:cNvSpPr txBox="1"/>
          <p:nvPr/>
        </p:nvSpPr>
        <p:spPr>
          <a:xfrm>
            <a:off x="1801368" y="1664208"/>
            <a:ext cx="4005072" cy="457200"/>
          </a:xfrm>
          <a:prstGeom prst="rect">
            <a:avLst/>
          </a:prstGeom>
          <a:noFill/>
          <a:ln/>
        </p:spPr>
        <p:txBody>
          <a:bodyPr wrap="square" lIns="0" tIns="0" rIns="0" bIns="0" rtlCol="0" anchor="ctr"/>
          <a:lstStyle/>
          <a:p>
            <a:pPr indent="0" marL="0">
              <a:buNone/>
            </a:pPr>
            <a:r>
              <a:rPr lang="en-US" sz="1200" b="1" dirty="0">
                <a:solidFill>
                  <a:schemeClr val="accent1"/>
                </a:solidFill>
              </a:rPr>
              <a:t>AI: </a:t>
            </a:r>
            <a:pPr indent="0" marL="0">
              <a:buNone/>
            </a:pPr>
            <a:r>
              <a:rPr lang="en-US" sz="1200" dirty="0">
                <a:solidFill>
                  <a:schemeClr val="tx1"/>
                </a:solidFill>
              </a:rPr>
              <a:t>Testo generico e lungo, con molti dettagli tecnici.</a:t>
            </a:r>
            <a:endParaRPr lang="en-US" sz="1200" dirty="0"/>
          </a:p>
        </p:txBody>
      </p:sp>
      <p:sp>
        <p:nvSpPr>
          <p:cNvPr id="8" name="turno"/>
          <p:cNvSpPr/>
          <p:nvPr/>
        </p:nvSpPr>
        <p:spPr>
          <a:xfrm>
            <a:off x="457200" y="2231136"/>
            <a:ext cx="4279392" cy="457200"/>
          </a:xfrm>
          <a:prstGeom prst="roundRect">
            <a:avLst>
              <a:gd name="adj" fmla="val 16000"/>
            </a:avLst>
          </a:prstGeom>
          <a:solidFill>
            <a:schemeClr val="bg2"/>
          </a:solidFill>
          <a:ln/>
        </p:spPr>
      </p:sp>
      <p:sp>
        <p:nvSpPr>
          <p:cNvPr id="9" name="Text 6"/>
          <p:cNvSpPr txBox="1"/>
          <p:nvPr/>
        </p:nvSpPr>
        <p:spPr>
          <a:xfrm>
            <a:off x="594360" y="2231136"/>
            <a:ext cx="4005072" cy="457200"/>
          </a:xfrm>
          <a:prstGeom prst="rect">
            <a:avLst/>
          </a:prstGeom>
          <a:noFill/>
          <a:ln/>
        </p:spPr>
        <p:txBody>
          <a:bodyPr wrap="square" lIns="0" tIns="0" rIns="0" bIns="0" rtlCol="0" anchor="ctr"/>
          <a:lstStyle/>
          <a:p>
            <a:pPr indent="0" marL="0">
              <a:buNone/>
            </a:pPr>
            <a:r>
              <a:rPr lang="en-US" sz="1200" b="1" dirty="0">
                <a:solidFill>
                  <a:schemeClr val="tx1"/>
                </a:solidFill>
              </a:rPr>
              <a:t>Persona: </a:t>
            </a:r>
            <a:pPr indent="0" marL="0">
              <a:buNone/>
            </a:pPr>
            <a:r>
              <a:rPr lang="en-US" sz="1200" dirty="0">
                <a:solidFill>
                  <a:schemeClr val="tx1"/>
                </a:solidFill>
              </a:rPr>
              <a:t>È per tutti i dipendenti, molti non tecnici: più breve e semplice.</a:t>
            </a:r>
            <a:endParaRPr lang="en-US" sz="1200" dirty="0"/>
          </a:p>
        </p:txBody>
      </p:sp>
      <p:sp>
        <p:nvSpPr>
          <p:cNvPr id="10" name="turno"/>
          <p:cNvSpPr/>
          <p:nvPr/>
        </p:nvSpPr>
        <p:spPr>
          <a:xfrm>
            <a:off x="1664208" y="2798064"/>
            <a:ext cx="4279392" cy="457200"/>
          </a:xfrm>
          <a:prstGeom prst="roundRect">
            <a:avLst>
              <a:gd name="adj" fmla="val 16000"/>
            </a:avLst>
          </a:prstGeom>
          <a:solidFill>
            <a:schemeClr val="accent6"/>
          </a:solidFill>
          <a:ln/>
        </p:spPr>
      </p:sp>
      <p:sp>
        <p:nvSpPr>
          <p:cNvPr id="11" name="Text 8"/>
          <p:cNvSpPr txBox="1"/>
          <p:nvPr/>
        </p:nvSpPr>
        <p:spPr>
          <a:xfrm>
            <a:off x="1801368" y="2798064"/>
            <a:ext cx="4005072" cy="457200"/>
          </a:xfrm>
          <a:prstGeom prst="rect">
            <a:avLst/>
          </a:prstGeom>
          <a:noFill/>
          <a:ln/>
        </p:spPr>
        <p:txBody>
          <a:bodyPr wrap="square" lIns="0" tIns="0" rIns="0" bIns="0" rtlCol="0" anchor="ctr"/>
          <a:lstStyle/>
          <a:p>
            <a:pPr indent="0" marL="0">
              <a:buNone/>
            </a:pPr>
            <a:r>
              <a:rPr lang="en-US" sz="1200" b="1" dirty="0">
                <a:solidFill>
                  <a:schemeClr val="accent1"/>
                </a:solidFill>
              </a:rPr>
              <a:t>AI: </a:t>
            </a:r>
            <a:pPr indent="0" marL="0">
              <a:buNone/>
            </a:pPr>
            <a:r>
              <a:rPr lang="en-US" sz="1200" dirty="0">
                <a:solidFill>
                  <a:schemeClr val="tx1"/>
                </a:solidFill>
              </a:rPr>
              <a:t>Versione più breve e chiara.</a:t>
            </a:r>
            <a:endParaRPr lang="en-US" sz="1200" dirty="0"/>
          </a:p>
        </p:txBody>
      </p:sp>
      <p:sp>
        <p:nvSpPr>
          <p:cNvPr id="12" name="turno"/>
          <p:cNvSpPr/>
          <p:nvPr/>
        </p:nvSpPr>
        <p:spPr>
          <a:xfrm>
            <a:off x="457200" y="3364992"/>
            <a:ext cx="4279392" cy="457200"/>
          </a:xfrm>
          <a:prstGeom prst="roundRect">
            <a:avLst>
              <a:gd name="adj" fmla="val 16000"/>
            </a:avLst>
          </a:prstGeom>
          <a:solidFill>
            <a:schemeClr val="bg2"/>
          </a:solidFill>
          <a:ln/>
        </p:spPr>
      </p:sp>
      <p:sp>
        <p:nvSpPr>
          <p:cNvPr id="13" name="Text 10"/>
          <p:cNvSpPr txBox="1"/>
          <p:nvPr/>
        </p:nvSpPr>
        <p:spPr>
          <a:xfrm>
            <a:off x="594360" y="3364992"/>
            <a:ext cx="4005072" cy="457200"/>
          </a:xfrm>
          <a:prstGeom prst="rect">
            <a:avLst/>
          </a:prstGeom>
          <a:noFill/>
          <a:ln/>
        </p:spPr>
        <p:txBody>
          <a:bodyPr wrap="square" lIns="0" tIns="0" rIns="0" bIns="0" rtlCol="0" anchor="ctr"/>
          <a:lstStyle/>
          <a:p>
            <a:pPr indent="0" marL="0">
              <a:buNone/>
            </a:pPr>
            <a:r>
              <a:rPr lang="en-US" sz="1200" b="1" dirty="0">
                <a:solidFill>
                  <a:schemeClr val="tx1"/>
                </a:solidFill>
              </a:rPr>
              <a:t>Persona: </a:t>
            </a:r>
            <a:pPr indent="0" marL="0">
              <a:buNone/>
            </a:pPr>
            <a:r>
              <a:rPr lang="en-US" sz="1200" dirty="0">
                <a:solidFill>
                  <a:schemeClr val="tx1"/>
                </a:solidFill>
              </a:rPr>
              <a:t>Metti in evidenza all'inizio che dal 1° marzo il vecchio sistema non funzionerà.</a:t>
            </a:r>
            <a:endParaRPr lang="en-US" sz="1200" dirty="0"/>
          </a:p>
        </p:txBody>
      </p:sp>
      <p:sp>
        <p:nvSpPr>
          <p:cNvPr id="14" name="turno"/>
          <p:cNvSpPr/>
          <p:nvPr/>
        </p:nvSpPr>
        <p:spPr>
          <a:xfrm>
            <a:off x="457200" y="3931920"/>
            <a:ext cx="4279392" cy="457200"/>
          </a:xfrm>
          <a:prstGeom prst="roundRect">
            <a:avLst>
              <a:gd name="adj" fmla="val 16000"/>
            </a:avLst>
          </a:prstGeom>
          <a:solidFill>
            <a:schemeClr val="bg2"/>
          </a:solidFill>
          <a:ln/>
        </p:spPr>
      </p:sp>
      <p:sp>
        <p:nvSpPr>
          <p:cNvPr id="15" name="Text 12"/>
          <p:cNvSpPr txBox="1"/>
          <p:nvPr/>
        </p:nvSpPr>
        <p:spPr>
          <a:xfrm>
            <a:off x="594360" y="3931920"/>
            <a:ext cx="4005072" cy="457200"/>
          </a:xfrm>
          <a:prstGeom prst="rect">
            <a:avLst/>
          </a:prstGeom>
          <a:noFill/>
          <a:ln/>
        </p:spPr>
        <p:txBody>
          <a:bodyPr wrap="square" lIns="0" tIns="0" rIns="0" bIns="0" rtlCol="0" anchor="ctr"/>
          <a:lstStyle/>
          <a:p>
            <a:pPr indent="0" marL="0">
              <a:buNone/>
            </a:pPr>
            <a:r>
              <a:rPr lang="en-US" sz="1200" b="1" dirty="0">
                <a:solidFill>
                  <a:schemeClr val="tx1"/>
                </a:solidFill>
              </a:rPr>
              <a:t>Persona: </a:t>
            </a:r>
            <a:pPr indent="0" marL="0">
              <a:buNone/>
            </a:pPr>
            <a:r>
              <a:rPr lang="en-US" sz="1200" dirty="0">
                <a:solidFill>
                  <a:schemeClr val="tx1"/>
                </a:solidFill>
              </a:rPr>
              <a:t>Proponi tre possibili oggetti per l'email.</a:t>
            </a:r>
            <a:endParaRPr lang="en-US" sz="1200" dirty="0"/>
          </a:p>
        </p:txBody>
      </p:sp>
      <p:sp>
        <p:nvSpPr>
          <p:cNvPr id="16" name="scheda Le informazioni decisive"/>
          <p:cNvSpPr/>
          <p:nvPr/>
        </p:nvSpPr>
        <p:spPr>
          <a:xfrm>
            <a:off x="6217920" y="1097280"/>
            <a:ext cx="2468880" cy="1691640"/>
          </a:xfrm>
          <a:prstGeom prst="roundRect">
            <a:avLst>
              <a:gd name="adj" fmla="val 4324"/>
            </a:avLst>
          </a:prstGeom>
          <a:solidFill>
            <a:schemeClr val="bg2"/>
          </a:solidFill>
          <a:ln/>
        </p:spPr>
      </p:sp>
      <p:sp>
        <p:nvSpPr>
          <p:cNvPr id="17" name="Text 14"/>
          <p:cNvSpPr txBox="1"/>
          <p:nvPr/>
        </p:nvSpPr>
        <p:spPr>
          <a:xfrm>
            <a:off x="6400800" y="1280160"/>
            <a:ext cx="2103120" cy="347472"/>
          </a:xfrm>
          <a:prstGeom prst="rect">
            <a:avLst/>
          </a:prstGeom>
          <a:noFill/>
          <a:ln/>
        </p:spPr>
        <p:txBody>
          <a:bodyPr wrap="square" lIns="0" tIns="0" rIns="0" bIns="0" rtlCol="0" anchor="t"/>
          <a:lstStyle/>
          <a:p>
            <a:pPr indent="0" marL="0">
              <a:buNone/>
            </a:pPr>
            <a:r>
              <a:rPr lang="en-US" sz="1400" b="1" dirty="0">
                <a:solidFill>
                  <a:schemeClr val="tx1"/>
                </a:solidFill>
              </a:rPr>
              <a:t>Le informazioni decisive</a:t>
            </a:r>
            <a:endParaRPr lang="en-US" sz="1400" dirty="0"/>
          </a:p>
        </p:txBody>
      </p:sp>
      <p:sp>
        <p:nvSpPr>
          <p:cNvPr id="18" name="Text 15"/>
          <p:cNvSpPr txBox="1"/>
          <p:nvPr/>
        </p:nvSpPr>
        <p:spPr>
          <a:xfrm>
            <a:off x="6400800" y="1664208"/>
            <a:ext cx="2103120" cy="1014984"/>
          </a:xfrm>
          <a:prstGeom prst="rect">
            <a:avLst/>
          </a:prstGeom>
          <a:noFill/>
          <a:ln/>
        </p:spPr>
        <p:txBody>
          <a:bodyPr wrap="square" lIns="0" tIns="0" rIns="0" bIns="0" rtlCol="0" anchor="t"/>
          <a:lstStyle/>
          <a:p>
            <a:pPr indent="0" marL="0">
              <a:buNone/>
            </a:pPr>
            <a:r>
              <a:rPr lang="en-US" sz="1200" dirty="0">
                <a:solidFill>
                  <a:schemeClr val="tx2"/>
                </a:solidFill>
              </a:rPr>
              <a:t>Pubblico e scadenza li ha portati la persona.</a:t>
            </a:r>
            <a:endParaRPr lang="en-US" sz="1200" dirty="0"/>
          </a:p>
        </p:txBody>
      </p:sp>
      <p:sp>
        <p:nvSpPr>
          <p:cNvPr id="19" name="scheda Prima di inviare"/>
          <p:cNvSpPr/>
          <p:nvPr/>
        </p:nvSpPr>
        <p:spPr>
          <a:xfrm>
            <a:off x="6217920" y="2926080"/>
            <a:ext cx="2468880" cy="1600200"/>
          </a:xfrm>
          <a:prstGeom prst="roundRect">
            <a:avLst>
              <a:gd name="adj" fmla="val 4571"/>
            </a:avLst>
          </a:prstGeom>
          <a:solidFill>
            <a:schemeClr val="accent6"/>
          </a:solidFill>
          <a:ln/>
        </p:spPr>
      </p:sp>
      <p:sp>
        <p:nvSpPr>
          <p:cNvPr id="20" name="Text 17"/>
          <p:cNvSpPr txBox="1"/>
          <p:nvPr/>
        </p:nvSpPr>
        <p:spPr>
          <a:xfrm>
            <a:off x="6400800" y="3108960"/>
            <a:ext cx="2103120" cy="347472"/>
          </a:xfrm>
          <a:prstGeom prst="rect">
            <a:avLst/>
          </a:prstGeom>
          <a:noFill/>
          <a:ln/>
        </p:spPr>
        <p:txBody>
          <a:bodyPr wrap="square" lIns="0" tIns="0" rIns="0" bIns="0" rtlCol="0" anchor="t"/>
          <a:lstStyle/>
          <a:p>
            <a:pPr indent="0" marL="0">
              <a:buNone/>
            </a:pPr>
            <a:r>
              <a:rPr lang="en-US" sz="1400" b="1" dirty="0">
                <a:solidFill>
                  <a:schemeClr val="tx1"/>
                </a:solidFill>
              </a:rPr>
              <a:t>Prima di inviare</a:t>
            </a:r>
            <a:endParaRPr lang="en-US" sz="1400" dirty="0"/>
          </a:p>
        </p:txBody>
      </p:sp>
      <p:sp>
        <p:nvSpPr>
          <p:cNvPr id="21" name="Text 18"/>
          <p:cNvSpPr txBox="1"/>
          <p:nvPr/>
        </p:nvSpPr>
        <p:spPr>
          <a:xfrm>
            <a:off x="6400800" y="3493008"/>
            <a:ext cx="2103120" cy="923544"/>
          </a:xfrm>
          <a:prstGeom prst="rect">
            <a:avLst/>
          </a:prstGeom>
          <a:noFill/>
          <a:ln/>
        </p:spPr>
        <p:txBody>
          <a:bodyPr wrap="square" lIns="0" tIns="0" rIns="0" bIns="0" rtlCol="0" anchor="t"/>
          <a:lstStyle/>
          <a:p>
            <a:pPr indent="0" marL="0">
              <a:buNone/>
            </a:pPr>
            <a:r>
              <a:rPr lang="en-US" sz="1200" dirty="0">
                <a:solidFill>
                  <a:schemeClr val="tx2"/>
                </a:solidFill>
              </a:rPr>
              <a:t>Il testo finale va comunque riletto e verificato.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contesto della conversazione</a:t>
            </a:r>
            <a:endParaRPr lang="en-US" sz="2600" dirty="0"/>
          </a:p>
        </p:txBody>
      </p:sp>
      <p:sp>
        <p:nvSpPr>
          <p:cNvPr id="4" name="scheda Una risorsa"/>
          <p:cNvSpPr/>
          <p:nvPr/>
        </p:nvSpPr>
        <p:spPr>
          <a:xfrm>
            <a:off x="457200" y="1097280"/>
            <a:ext cx="3977640" cy="2194560"/>
          </a:xfrm>
          <a:prstGeom prst="roundRect">
            <a:avLst>
              <a:gd name="adj" fmla="val 3333"/>
            </a:avLst>
          </a:prstGeom>
          <a:solidFill>
            <a:schemeClr val="accent6"/>
          </a:solidFill>
          <a:ln/>
        </p:spPr>
      </p:sp>
      <p:sp>
        <p:nvSpPr>
          <p:cNvPr id="5" name="cerchio FiLayers"/>
          <p:cNvSpPr/>
          <p:nvPr/>
        </p:nvSpPr>
        <p:spPr>
          <a:xfrm>
            <a:off x="640080" y="1280160"/>
            <a:ext cx="457200" cy="457200"/>
          </a:xfrm>
          <a:prstGeom prst="ellipse">
            <a:avLst/>
          </a:prstGeom>
          <a:solidFill>
            <a:schemeClr val="accent1"/>
          </a:solidFill>
          <a:ln/>
        </p:spPr>
      </p:sp>
      <p:pic>
        <p:nvPicPr>
          <p:cNvPr id="6" name="Image 0" descr="FiLayers">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Una risorsa</a:t>
            </a:r>
            <a:endParaRPr lang="en-US" sz="1600" dirty="0"/>
          </a:p>
        </p:txBody>
      </p:sp>
      <p:sp>
        <p:nvSpPr>
          <p:cNvPr id="8" name="Text 4"/>
          <p:cNvSpPr txBox="1"/>
          <p:nvPr/>
        </p:nvSpPr>
        <p:spPr>
          <a:xfrm>
            <a:off x="640080" y="2231136"/>
            <a:ext cx="3611880" cy="95097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Pubblico, obiettivi, vincoli, correzioni restano nel dialogo</a:t>
            </a:r>
            <a:endParaRPr lang="en-US" sz="1300" dirty="0"/>
          </a:p>
          <a:p>
            <a:pPr marL="177800" indent="-177800">
              <a:spcAft>
                <a:spcPts val="300"/>
              </a:spcAft>
              <a:buSzPct val="100000"/>
              <a:buChar char="•"/>
            </a:pPr>
            <a:r>
              <a:rPr lang="en-US" sz="1300" dirty="0">
                <a:solidFill>
                  <a:schemeClr val="tx2"/>
                </a:solidFill>
              </a:rPr>
              <a:t>Non serve ripetere tutto</a:t>
            </a:r>
            <a:endParaRPr lang="en-US" sz="1300" dirty="0"/>
          </a:p>
          <a:p>
            <a:pPr marL="177800" indent="-177800">
              <a:spcAft>
                <a:spcPts val="300"/>
              </a:spcAft>
              <a:buSzPct val="100000"/>
              <a:buChar char="•"/>
            </a:pPr>
            <a:r>
              <a:rPr lang="en-US" sz="1300" dirty="0">
                <a:solidFill>
                  <a:schemeClr val="tx2"/>
                </a:solidFill>
              </a:rPr>
              <a:t>Il quadro si precisa scambio dopo scambio</a:t>
            </a:r>
            <a:endParaRPr lang="en-US" sz="1300" dirty="0"/>
          </a:p>
        </p:txBody>
      </p:sp>
      <p:sp>
        <p:nvSpPr>
          <p:cNvPr id="9" name="scheda Quando diventa un ostacolo"/>
          <p:cNvSpPr/>
          <p:nvPr/>
        </p:nvSpPr>
        <p:spPr>
          <a:xfrm>
            <a:off x="4709160" y="1097280"/>
            <a:ext cx="3977640" cy="2194560"/>
          </a:xfrm>
          <a:prstGeom prst="roundRect">
            <a:avLst>
              <a:gd name="adj" fmla="val 3333"/>
            </a:avLst>
          </a:prstGeom>
          <a:solidFill>
            <a:schemeClr val="bg2"/>
          </a:solidFill>
          <a:ln/>
        </p:spPr>
      </p:sp>
      <p:sp>
        <p:nvSpPr>
          <p:cNvPr id="10" name="cerchio FiAlertTriangle"/>
          <p:cNvSpPr/>
          <p:nvPr/>
        </p:nvSpPr>
        <p:spPr>
          <a:xfrm>
            <a:off x="4892040" y="1280160"/>
            <a:ext cx="457200" cy="457200"/>
          </a:xfrm>
          <a:prstGeom prst="ellipse">
            <a:avLst/>
          </a:prstGeom>
          <a:solidFill>
            <a:schemeClr val="accent1"/>
          </a:solidFill>
          <a:ln/>
        </p:spPr>
      </p:sp>
      <p:pic>
        <p:nvPicPr>
          <p:cNvPr id="11" name="Image 1" descr="FiAlertTriangle">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Quando diventa un ostacolo</a:t>
            </a:r>
            <a:endParaRPr lang="en-US" sz="1600" dirty="0"/>
          </a:p>
        </p:txBody>
      </p:sp>
      <p:sp>
        <p:nvSpPr>
          <p:cNvPr id="13" name="Text 8"/>
          <p:cNvSpPr txBox="1"/>
          <p:nvPr/>
        </p:nvSpPr>
        <p:spPr>
          <a:xfrm>
            <a:off x="4892040" y="2231136"/>
            <a:ext cx="3611880" cy="95097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Si cambia argomento</a:t>
            </a:r>
            <a:endParaRPr lang="en-US" sz="1300" dirty="0"/>
          </a:p>
          <a:p>
            <a:pPr marL="177800" indent="-177800">
              <a:spcAft>
                <a:spcPts val="300"/>
              </a:spcAft>
              <a:buSzPct val="100000"/>
              <a:buChar char="•"/>
            </a:pPr>
            <a:r>
              <a:rPr lang="en-US" sz="1300" dirty="0">
                <a:solidFill>
                  <a:schemeClr val="tx2"/>
                </a:solidFill>
              </a:rPr>
              <a:t>La conversazione è molto lunga</a:t>
            </a:r>
            <a:endParaRPr lang="en-US" sz="1300" dirty="0"/>
          </a:p>
          <a:p>
            <a:pPr marL="177800" indent="-177800">
              <a:spcAft>
                <a:spcPts val="300"/>
              </a:spcAft>
              <a:buSzPct val="100000"/>
              <a:buChar char="•"/>
            </a:pPr>
            <a:r>
              <a:rPr lang="en-US" sz="1300" dirty="0">
                <a:solidFill>
                  <a:schemeClr val="tx2"/>
                </a:solidFill>
              </a:rPr>
              <a:t>All'inizio si è presa una strada sbagliata</a:t>
            </a:r>
            <a:endParaRPr lang="en-US" sz="1300" dirty="0"/>
          </a:p>
        </p:txBody>
      </p:sp>
      <p:sp>
        <p:nvSpPr>
          <p:cNvPr id="14" name="messaggio"/>
          <p:cNvSpPr/>
          <p:nvPr/>
        </p:nvSpPr>
        <p:spPr>
          <a:xfrm>
            <a:off x="457200" y="3474720"/>
            <a:ext cx="8229600" cy="548640"/>
          </a:xfrm>
          <a:prstGeom prst="roundRect">
            <a:avLst>
              <a:gd name="adj" fmla="val 13333"/>
            </a:avLst>
          </a:prstGeom>
          <a:solidFill>
            <a:schemeClr val="tx1"/>
          </a:solidFill>
          <a:ln/>
        </p:spPr>
      </p:sp>
      <p:sp>
        <p:nvSpPr>
          <p:cNvPr id="15" name="Text 10"/>
          <p:cNvSpPr txBox="1"/>
          <p:nvPr/>
        </p:nvSpPr>
        <p:spPr>
          <a:xfrm>
            <a:off x="640080" y="3474720"/>
            <a:ext cx="7863840" cy="548640"/>
          </a:xfrm>
          <a:prstGeom prst="rect">
            <a:avLst/>
          </a:prstGeom>
          <a:noFill/>
          <a:ln/>
        </p:spPr>
        <p:txBody>
          <a:bodyPr wrap="square" lIns="0" tIns="0" rIns="0" bIns="0" rtlCol="0" anchor="ctr"/>
          <a:lstStyle/>
          <a:p>
            <a:pPr indent="0" marL="0">
              <a:buNone/>
            </a:pPr>
            <a:r>
              <a:rPr lang="en-US" sz="1400" dirty="0">
                <a:solidFill>
                  <a:schemeClr val="bg1"/>
                </a:solidFill>
              </a:rPr>
              <a:t>In questi casi: nuova conversazione, riportando in sintesi solo ciò che serve.</a:t>
            </a:r>
            <a:endParaRPr lang="en-US" sz="1400" dirty="0"/>
          </a:p>
        </p:txBody>
      </p:sp>
      <p:sp>
        <p:nvSpPr>
          <p:cNvPr id="16" name="Text 11"/>
          <p:cNvSpPr txBox="1"/>
          <p:nvPr/>
        </p:nvSpPr>
        <p:spPr>
          <a:xfrm>
            <a:off x="457200" y="4160520"/>
            <a:ext cx="8229600" cy="320040"/>
          </a:xfrm>
          <a:prstGeom prst="rect">
            <a:avLst/>
          </a:prstGeom>
          <a:noFill/>
          <a:ln/>
        </p:spPr>
        <p:txBody>
          <a:bodyPr wrap="square" lIns="0" tIns="0" rIns="0" bIns="0" rtlCol="0" anchor="t"/>
          <a:lstStyle/>
          <a:p>
            <a:pPr indent="0" marL="0">
              <a:buNone/>
            </a:pPr>
            <a:r>
              <a:rPr lang="en-US" sz="1300" i="1" dirty="0">
                <a:solidFill>
                  <a:schemeClr val="tx1"/>
                </a:solidFill>
              </a:rPr>
              <a:t>Un'abitudine pratica: una conversazione per ogni attività.</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L'AI come interlocutore che può porre domande</a:t>
            </a:r>
            <a:endParaRPr lang="en-US" sz="2600" dirty="0"/>
          </a:p>
        </p:txBody>
      </p:sp>
      <p:sp>
        <p:nvSpPr>
          <p:cNvPr id="4" name="turno"/>
          <p:cNvSpPr/>
          <p:nvPr/>
        </p:nvSpPr>
        <p:spPr>
          <a:xfrm>
            <a:off x="457200" y="1097280"/>
            <a:ext cx="3851453" cy="685800"/>
          </a:xfrm>
          <a:prstGeom prst="roundRect">
            <a:avLst>
              <a:gd name="adj" fmla="val 10667"/>
            </a:avLst>
          </a:prstGeom>
          <a:solidFill>
            <a:schemeClr val="bg2"/>
          </a:solidFill>
          <a:ln/>
        </p:spPr>
      </p:sp>
      <p:sp>
        <p:nvSpPr>
          <p:cNvPr id="5" name="Text 2"/>
          <p:cNvSpPr txBox="1"/>
          <p:nvPr/>
        </p:nvSpPr>
        <p:spPr>
          <a:xfrm>
            <a:off x="594360" y="1097280"/>
            <a:ext cx="3577133" cy="685800"/>
          </a:xfrm>
          <a:prstGeom prst="rect">
            <a:avLst/>
          </a:prstGeom>
          <a:noFill/>
          <a:ln/>
        </p:spPr>
        <p:txBody>
          <a:bodyPr wrap="square" lIns="0" tIns="0" rIns="0" bIns="0" rtlCol="0" anchor="ctr"/>
          <a:lstStyle/>
          <a:p>
            <a:pPr indent="0" marL="0">
              <a:buNone/>
            </a:pPr>
            <a:r>
              <a:rPr lang="en-US" sz="1200" b="1" dirty="0">
                <a:solidFill>
                  <a:schemeClr val="tx1"/>
                </a:solidFill>
              </a:rPr>
              <a:t>Persona: </a:t>
            </a:r>
            <a:pPr indent="0" marL="0">
              <a:buNone/>
            </a:pPr>
            <a:r>
              <a:rPr lang="en-US" sz="1200" dirty="0">
                <a:solidFill>
                  <a:schemeClr val="tx1"/>
                </a:solidFill>
              </a:rPr>
              <a:t>Devo preparare un piano di formazione per i nuovi assunti. Prima di proporre, fammi le domande che ti servono.</a:t>
            </a:r>
            <a:endParaRPr lang="en-US" sz="1200" dirty="0"/>
          </a:p>
        </p:txBody>
      </p:sp>
      <p:sp>
        <p:nvSpPr>
          <p:cNvPr id="6" name="turno"/>
          <p:cNvSpPr/>
          <p:nvPr/>
        </p:nvSpPr>
        <p:spPr>
          <a:xfrm>
            <a:off x="1543507" y="1920240"/>
            <a:ext cx="3851453" cy="685800"/>
          </a:xfrm>
          <a:prstGeom prst="roundRect">
            <a:avLst>
              <a:gd name="adj" fmla="val 10667"/>
            </a:avLst>
          </a:prstGeom>
          <a:solidFill>
            <a:schemeClr val="accent6"/>
          </a:solidFill>
          <a:ln/>
        </p:spPr>
      </p:sp>
      <p:sp>
        <p:nvSpPr>
          <p:cNvPr id="7" name="Text 4"/>
          <p:cNvSpPr txBox="1"/>
          <p:nvPr/>
        </p:nvSpPr>
        <p:spPr>
          <a:xfrm>
            <a:off x="1680667" y="1920240"/>
            <a:ext cx="3577133" cy="685800"/>
          </a:xfrm>
          <a:prstGeom prst="rect">
            <a:avLst/>
          </a:prstGeom>
          <a:noFill/>
          <a:ln/>
        </p:spPr>
        <p:txBody>
          <a:bodyPr wrap="square" lIns="0" tIns="0" rIns="0" bIns="0" rtlCol="0" anchor="ctr"/>
          <a:lstStyle/>
          <a:p>
            <a:pPr indent="0" marL="0">
              <a:buNone/>
            </a:pPr>
            <a:r>
              <a:rPr lang="en-US" sz="1200" b="1" dirty="0">
                <a:solidFill>
                  <a:schemeClr val="accent1"/>
                </a:solidFill>
              </a:rPr>
              <a:t>AI: </a:t>
            </a:r>
            <a:pPr indent="0" marL="0">
              <a:buNone/>
            </a:pPr>
            <a:r>
              <a:rPr lang="en-US" sz="1200" dirty="0">
                <a:solidFill>
                  <a:schemeClr val="tx1"/>
                </a:solidFill>
              </a:rPr>
              <a:t>Quante persone? Quali ruoli? Quanto tempo? Competenze di partenza? Budget?</a:t>
            </a:r>
            <a:endParaRPr lang="en-US" sz="1200" dirty="0"/>
          </a:p>
        </p:txBody>
      </p:sp>
      <p:sp>
        <p:nvSpPr>
          <p:cNvPr id="8" name="cerchio FiHelpCircle"/>
          <p:cNvSpPr/>
          <p:nvPr/>
        </p:nvSpPr>
        <p:spPr>
          <a:xfrm>
            <a:off x="5669280" y="1097280"/>
            <a:ext cx="457200" cy="457200"/>
          </a:xfrm>
          <a:prstGeom prst="ellipse">
            <a:avLst/>
          </a:prstGeom>
          <a:solidFill>
            <a:schemeClr val="accent1"/>
          </a:solidFill>
          <a:ln/>
        </p:spPr>
      </p:sp>
      <p:pic>
        <p:nvPicPr>
          <p:cNvPr id="9" name="Image 0" descr="FiHelpCircle">    </p:cNvPr>
          <p:cNvPicPr>
            <a:picLocks noChangeAspect="1"/>
          </p:cNvPicPr>
          <p:nvPr/>
        </p:nvPicPr>
        <p:blipFill>
          <a:blip r:embed="rId1"/>
          <a:stretch>
            <a:fillRect/>
          </a:stretch>
        </p:blipFill>
        <p:spPr>
          <a:xfrm>
            <a:off x="5783580" y="1211580"/>
            <a:ext cx="228600" cy="228600"/>
          </a:xfrm>
          <a:prstGeom prst="rect">
            <a:avLst/>
          </a:prstGeom>
        </p:spPr>
      </p:pic>
      <p:sp>
        <p:nvSpPr>
          <p:cNvPr id="10" name="Text 6"/>
          <p:cNvSpPr txBox="1"/>
          <p:nvPr/>
        </p:nvSpPr>
        <p:spPr>
          <a:xfrm>
            <a:off x="6263640" y="1097280"/>
            <a:ext cx="2423160" cy="457200"/>
          </a:xfrm>
          <a:prstGeom prst="rect">
            <a:avLst/>
          </a:prstGeom>
          <a:noFill/>
          <a:ln/>
        </p:spPr>
        <p:txBody>
          <a:bodyPr wrap="square" lIns="0" tIns="0" rIns="0" bIns="0" rtlCol="0" anchor="ctr"/>
          <a:lstStyle/>
          <a:p>
            <a:pPr indent="0" marL="0">
              <a:buNone/>
            </a:pPr>
            <a:r>
              <a:rPr lang="en-US" sz="1300" b="1" dirty="0">
                <a:solidFill>
                  <a:schemeClr val="tx1"/>
                </a:solidFill>
              </a:rPr>
              <a:t>Chiarire le esigenze</a:t>
            </a:r>
            <a:endParaRPr lang="en-US" sz="1300" dirty="0"/>
          </a:p>
        </p:txBody>
      </p:sp>
      <p:sp>
        <p:nvSpPr>
          <p:cNvPr id="11" name="cerchio FiEye"/>
          <p:cNvSpPr/>
          <p:nvPr/>
        </p:nvSpPr>
        <p:spPr>
          <a:xfrm>
            <a:off x="5669280" y="1783080"/>
            <a:ext cx="457200" cy="457200"/>
          </a:xfrm>
          <a:prstGeom prst="ellipse">
            <a:avLst/>
          </a:prstGeom>
          <a:solidFill>
            <a:schemeClr val="accent1"/>
          </a:solidFill>
          <a:ln/>
        </p:spPr>
      </p:sp>
      <p:pic>
        <p:nvPicPr>
          <p:cNvPr id="12" name="Image 1" descr="FiEye">    </p:cNvPr>
          <p:cNvPicPr>
            <a:picLocks noChangeAspect="1"/>
          </p:cNvPicPr>
          <p:nvPr/>
        </p:nvPicPr>
        <p:blipFill>
          <a:blip r:embed="rId2"/>
          <a:stretch>
            <a:fillRect/>
          </a:stretch>
        </p:blipFill>
        <p:spPr>
          <a:xfrm>
            <a:off x="5783580" y="1897380"/>
            <a:ext cx="228600" cy="228600"/>
          </a:xfrm>
          <a:prstGeom prst="rect">
            <a:avLst/>
          </a:prstGeom>
        </p:spPr>
      </p:pic>
      <p:sp>
        <p:nvSpPr>
          <p:cNvPr id="13" name="Text 8"/>
          <p:cNvSpPr txBox="1"/>
          <p:nvPr/>
        </p:nvSpPr>
        <p:spPr>
          <a:xfrm>
            <a:off x="6263640" y="1783080"/>
            <a:ext cx="2423160" cy="457200"/>
          </a:xfrm>
          <a:prstGeom prst="rect">
            <a:avLst/>
          </a:prstGeom>
          <a:noFill/>
          <a:ln/>
        </p:spPr>
        <p:txBody>
          <a:bodyPr wrap="square" lIns="0" tIns="0" rIns="0" bIns="0" rtlCol="0" anchor="ctr"/>
          <a:lstStyle/>
          <a:p>
            <a:pPr indent="0" marL="0">
              <a:buNone/>
            </a:pPr>
            <a:r>
              <a:rPr lang="en-US" sz="1300" b="1" dirty="0">
                <a:solidFill>
                  <a:schemeClr val="tx1"/>
                </a:solidFill>
              </a:rPr>
              <a:t>Esplicitare le assunzioni</a:t>
            </a:r>
            <a:endParaRPr lang="en-US" sz="1300" dirty="0"/>
          </a:p>
        </p:txBody>
      </p:sp>
      <p:sp>
        <p:nvSpPr>
          <p:cNvPr id="14" name="cerchio FiSearch"/>
          <p:cNvSpPr/>
          <p:nvPr/>
        </p:nvSpPr>
        <p:spPr>
          <a:xfrm>
            <a:off x="5669280" y="2468880"/>
            <a:ext cx="457200" cy="457200"/>
          </a:xfrm>
          <a:prstGeom prst="ellipse">
            <a:avLst/>
          </a:prstGeom>
          <a:solidFill>
            <a:schemeClr val="accent1"/>
          </a:solidFill>
          <a:ln/>
        </p:spPr>
      </p:sp>
      <p:pic>
        <p:nvPicPr>
          <p:cNvPr id="15" name="Image 2" descr="FiSearch">    </p:cNvPr>
          <p:cNvPicPr>
            <a:picLocks noChangeAspect="1"/>
          </p:cNvPicPr>
          <p:nvPr/>
        </p:nvPicPr>
        <p:blipFill>
          <a:blip r:embed="rId3"/>
          <a:stretch>
            <a:fillRect/>
          </a:stretch>
        </p:blipFill>
        <p:spPr>
          <a:xfrm>
            <a:off x="5783580" y="2583180"/>
            <a:ext cx="228600" cy="228600"/>
          </a:xfrm>
          <a:prstGeom prst="rect">
            <a:avLst/>
          </a:prstGeom>
        </p:spPr>
      </p:pic>
      <p:sp>
        <p:nvSpPr>
          <p:cNvPr id="16" name="Text 10"/>
          <p:cNvSpPr txBox="1"/>
          <p:nvPr/>
        </p:nvSpPr>
        <p:spPr>
          <a:xfrm>
            <a:off x="6263640" y="2468880"/>
            <a:ext cx="2423160" cy="457200"/>
          </a:xfrm>
          <a:prstGeom prst="rect">
            <a:avLst/>
          </a:prstGeom>
          <a:noFill/>
          <a:ln/>
        </p:spPr>
        <p:txBody>
          <a:bodyPr wrap="square" lIns="0" tIns="0" rIns="0" bIns="0" rtlCol="0" anchor="ctr"/>
          <a:lstStyle/>
          <a:p>
            <a:pPr indent="0" marL="0">
              <a:buNone/>
            </a:pPr>
            <a:r>
              <a:rPr lang="en-US" sz="1300" b="1" dirty="0">
                <a:solidFill>
                  <a:schemeClr val="tx1"/>
                </a:solidFill>
              </a:rPr>
              <a:t>Individuare informazioni mancanti</a:t>
            </a:r>
            <a:endParaRPr lang="en-US" sz="1300" dirty="0"/>
          </a:p>
        </p:txBody>
      </p:sp>
      <p:sp>
        <p:nvSpPr>
          <p:cNvPr id="17" name="limite domande"/>
          <p:cNvSpPr/>
          <p:nvPr/>
        </p:nvSpPr>
        <p:spPr>
          <a:xfrm>
            <a:off x="457200" y="3063240"/>
            <a:ext cx="8229600" cy="1463040"/>
          </a:xfrm>
          <a:prstGeom prst="roundRect">
            <a:avLst>
              <a:gd name="adj" fmla="val 5000"/>
            </a:avLst>
          </a:prstGeom>
          <a:solidFill>
            <a:schemeClr val="tx1"/>
          </a:solidFill>
          <a:ln/>
        </p:spPr>
      </p:sp>
      <p:sp>
        <p:nvSpPr>
          <p:cNvPr id="18" name="cerchio FiUserCheck"/>
          <p:cNvSpPr/>
          <p:nvPr/>
        </p:nvSpPr>
        <p:spPr>
          <a:xfrm>
            <a:off x="685800" y="3474720"/>
            <a:ext cx="594360" cy="594360"/>
          </a:xfrm>
          <a:prstGeom prst="ellipse">
            <a:avLst/>
          </a:prstGeom>
          <a:solidFill>
            <a:schemeClr val="accent1"/>
          </a:solidFill>
          <a:ln/>
        </p:spPr>
      </p:sp>
      <p:pic>
        <p:nvPicPr>
          <p:cNvPr id="19" name="Image 3" descr="FiUserCheck">    </p:cNvPr>
          <p:cNvPicPr>
            <a:picLocks noChangeAspect="1"/>
          </p:cNvPicPr>
          <p:nvPr/>
        </p:nvPicPr>
        <p:blipFill>
          <a:blip r:embed="rId4"/>
          <a:stretch>
            <a:fillRect/>
          </a:stretch>
        </p:blipFill>
        <p:spPr>
          <a:xfrm>
            <a:off x="834390" y="3623310"/>
            <a:ext cx="297180" cy="297180"/>
          </a:xfrm>
          <a:prstGeom prst="rect">
            <a:avLst/>
          </a:prstGeom>
        </p:spPr>
      </p:pic>
      <p:sp>
        <p:nvSpPr>
          <p:cNvPr id="20" name="Text 13"/>
          <p:cNvSpPr txBox="1"/>
          <p:nvPr/>
        </p:nvSpPr>
        <p:spPr>
          <a:xfrm>
            <a:off x="1463040" y="3063240"/>
            <a:ext cx="7040880" cy="1463040"/>
          </a:xfrm>
          <a:prstGeom prst="rect">
            <a:avLst/>
          </a:prstGeom>
          <a:noFill/>
          <a:ln/>
        </p:spPr>
        <p:txBody>
          <a:bodyPr wrap="square" lIns="0" tIns="0" rIns="0" bIns="0" rtlCol="0" anchor="ctr"/>
          <a:lstStyle/>
          <a:p>
            <a:pPr indent="0" marL="0">
              <a:buNone/>
            </a:pPr>
            <a:r>
              <a:rPr lang="en-US" sz="1500" b="1" dirty="0">
                <a:solidFill>
                  <a:schemeClr val="bg1"/>
                </a:solidFill>
              </a:rPr>
              <a:t>L'AI aiuta a definire gli obiettivi, non li decide. </a:t>
            </a:r>
            <a:pPr indent="0" marL="0">
              <a:buNone/>
            </a:pPr>
            <a:r>
              <a:rPr lang="en-US" sz="1500" dirty="0">
                <a:solidFill>
                  <a:schemeClr val="accent3"/>
                </a:solidFill>
              </a:rPr>
              <a:t>Le domande del sistema sono un aiuto al nostro ragionamento; le risposte, e quindi le scelte, restano nostre.</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L'AI come supporto alla definizione dei problemi</a:t>
            </a:r>
            <a:endParaRPr lang="en-US" sz="2600" dirty="0"/>
          </a:p>
        </p:txBody>
      </p:sp>
      <p:sp>
        <p:nvSpPr>
          <p:cNvPr id="4" name="Riformulare il problema in modi diversi"/>
          <p:cNvSpPr/>
          <p:nvPr/>
        </p:nvSpPr>
        <p:spPr>
          <a:xfrm>
            <a:off x="457200" y="1051560"/>
            <a:ext cx="4206240" cy="493776"/>
          </a:xfrm>
          <a:prstGeom prst="roundRect">
            <a:avLst>
              <a:gd name="adj" fmla="val 14815"/>
            </a:avLst>
          </a:prstGeom>
          <a:solidFill>
            <a:schemeClr val="bg2"/>
          </a:solidFill>
          <a:ln/>
        </p:spPr>
      </p:sp>
      <p:sp>
        <p:nvSpPr>
          <p:cNvPr id="5" name="cerchio FiRefreshCw"/>
          <p:cNvSpPr/>
          <p:nvPr/>
        </p:nvSpPr>
        <p:spPr>
          <a:xfrm>
            <a:off x="548640" y="1106424"/>
            <a:ext cx="384048" cy="384048"/>
          </a:xfrm>
          <a:prstGeom prst="ellipse">
            <a:avLst/>
          </a:prstGeom>
          <a:solidFill>
            <a:schemeClr val="accent1"/>
          </a:solidFill>
          <a:ln/>
        </p:spPr>
      </p:sp>
      <p:pic>
        <p:nvPicPr>
          <p:cNvPr id="6" name="Image 0" descr="FiRefreshCw">    </p:cNvPr>
          <p:cNvPicPr>
            <a:picLocks noChangeAspect="1"/>
          </p:cNvPicPr>
          <p:nvPr/>
        </p:nvPicPr>
        <p:blipFill>
          <a:blip r:embed="rId1"/>
          <a:stretch>
            <a:fillRect/>
          </a:stretch>
        </p:blipFill>
        <p:spPr>
          <a:xfrm>
            <a:off x="644652" y="1202436"/>
            <a:ext cx="192024" cy="192024"/>
          </a:xfrm>
          <a:prstGeom prst="rect">
            <a:avLst/>
          </a:prstGeom>
        </p:spPr>
      </p:pic>
      <p:sp>
        <p:nvSpPr>
          <p:cNvPr id="7" name="Text 3"/>
          <p:cNvSpPr txBox="1"/>
          <p:nvPr/>
        </p:nvSpPr>
        <p:spPr>
          <a:xfrm>
            <a:off x="1051560" y="1051560"/>
            <a:ext cx="3566160" cy="493776"/>
          </a:xfrm>
          <a:prstGeom prst="rect">
            <a:avLst/>
          </a:prstGeom>
          <a:noFill/>
          <a:ln/>
        </p:spPr>
        <p:txBody>
          <a:bodyPr wrap="square" lIns="0" tIns="0" rIns="0" bIns="0" rtlCol="0" anchor="ctr"/>
          <a:lstStyle/>
          <a:p>
            <a:pPr indent="0" marL="0">
              <a:buNone/>
            </a:pPr>
            <a:r>
              <a:rPr lang="en-US" sz="1200" dirty="0">
                <a:solidFill>
                  <a:schemeClr val="tx1"/>
                </a:solidFill>
              </a:rPr>
              <a:t>Riformulare il problema in modi diversi</a:t>
            </a:r>
            <a:endParaRPr lang="en-US" sz="1200" dirty="0"/>
          </a:p>
        </p:txBody>
      </p:sp>
      <p:sp>
        <p:nvSpPr>
          <p:cNvPr id="8" name="Esplorare le possibili cause prima delle soluzioni"/>
          <p:cNvSpPr/>
          <p:nvPr/>
        </p:nvSpPr>
        <p:spPr>
          <a:xfrm>
            <a:off x="457200" y="1618488"/>
            <a:ext cx="4206240" cy="493776"/>
          </a:xfrm>
          <a:prstGeom prst="roundRect">
            <a:avLst>
              <a:gd name="adj" fmla="val 14815"/>
            </a:avLst>
          </a:prstGeom>
          <a:solidFill>
            <a:schemeClr val="bg1"/>
          </a:solidFill>
          <a:ln/>
        </p:spPr>
      </p:sp>
      <p:sp>
        <p:nvSpPr>
          <p:cNvPr id="9" name="cerchio FiGitBranch"/>
          <p:cNvSpPr/>
          <p:nvPr/>
        </p:nvSpPr>
        <p:spPr>
          <a:xfrm>
            <a:off x="548640" y="1673352"/>
            <a:ext cx="384048" cy="384048"/>
          </a:xfrm>
          <a:prstGeom prst="ellipse">
            <a:avLst/>
          </a:prstGeom>
          <a:solidFill>
            <a:schemeClr val="accent1"/>
          </a:solidFill>
          <a:ln/>
        </p:spPr>
      </p:sp>
      <p:pic>
        <p:nvPicPr>
          <p:cNvPr id="10" name="Image 1" descr="FiGitBranch">    </p:cNvPr>
          <p:cNvPicPr>
            <a:picLocks noChangeAspect="1"/>
          </p:cNvPicPr>
          <p:nvPr/>
        </p:nvPicPr>
        <p:blipFill>
          <a:blip r:embed="rId2"/>
          <a:stretch>
            <a:fillRect/>
          </a:stretch>
        </p:blipFill>
        <p:spPr>
          <a:xfrm>
            <a:off x="644652" y="1769364"/>
            <a:ext cx="192024" cy="192024"/>
          </a:xfrm>
          <a:prstGeom prst="rect">
            <a:avLst/>
          </a:prstGeom>
        </p:spPr>
      </p:pic>
      <p:sp>
        <p:nvSpPr>
          <p:cNvPr id="11" name="Text 6"/>
          <p:cNvSpPr txBox="1"/>
          <p:nvPr/>
        </p:nvSpPr>
        <p:spPr>
          <a:xfrm>
            <a:off x="1051560" y="1618488"/>
            <a:ext cx="3566160" cy="493776"/>
          </a:xfrm>
          <a:prstGeom prst="rect">
            <a:avLst/>
          </a:prstGeom>
          <a:noFill/>
          <a:ln/>
        </p:spPr>
        <p:txBody>
          <a:bodyPr wrap="square" lIns="0" tIns="0" rIns="0" bIns="0" rtlCol="0" anchor="ctr"/>
          <a:lstStyle/>
          <a:p>
            <a:pPr indent="0" marL="0">
              <a:buNone/>
            </a:pPr>
            <a:r>
              <a:rPr lang="en-US" sz="1200" dirty="0">
                <a:solidFill>
                  <a:schemeClr val="tx1"/>
                </a:solidFill>
              </a:rPr>
              <a:t>Esplorare le possibili cause prima delle soluzioni</a:t>
            </a:r>
            <a:endParaRPr lang="en-US" sz="1200" dirty="0"/>
          </a:p>
        </p:txBody>
      </p:sp>
      <p:sp>
        <p:nvSpPr>
          <p:cNvPr id="12" name="Distinguere sintomi e problema"/>
          <p:cNvSpPr/>
          <p:nvPr/>
        </p:nvSpPr>
        <p:spPr>
          <a:xfrm>
            <a:off x="457200" y="2185416"/>
            <a:ext cx="4206240" cy="493776"/>
          </a:xfrm>
          <a:prstGeom prst="roundRect">
            <a:avLst>
              <a:gd name="adj" fmla="val 14815"/>
            </a:avLst>
          </a:prstGeom>
          <a:solidFill>
            <a:schemeClr val="bg2"/>
          </a:solidFill>
          <a:ln/>
        </p:spPr>
      </p:sp>
      <p:sp>
        <p:nvSpPr>
          <p:cNvPr id="13" name="cerchio FiFilter"/>
          <p:cNvSpPr/>
          <p:nvPr/>
        </p:nvSpPr>
        <p:spPr>
          <a:xfrm>
            <a:off x="548640" y="2240280"/>
            <a:ext cx="384048" cy="384048"/>
          </a:xfrm>
          <a:prstGeom prst="ellipse">
            <a:avLst/>
          </a:prstGeom>
          <a:solidFill>
            <a:schemeClr val="accent1"/>
          </a:solidFill>
          <a:ln/>
        </p:spPr>
      </p:sp>
      <p:pic>
        <p:nvPicPr>
          <p:cNvPr id="14" name="Image 2" descr="FiFilter">    </p:cNvPr>
          <p:cNvPicPr>
            <a:picLocks noChangeAspect="1"/>
          </p:cNvPicPr>
          <p:nvPr/>
        </p:nvPicPr>
        <p:blipFill>
          <a:blip r:embed="rId3"/>
          <a:stretch>
            <a:fillRect/>
          </a:stretch>
        </p:blipFill>
        <p:spPr>
          <a:xfrm>
            <a:off x="644652" y="2336292"/>
            <a:ext cx="192024" cy="192024"/>
          </a:xfrm>
          <a:prstGeom prst="rect">
            <a:avLst/>
          </a:prstGeom>
        </p:spPr>
      </p:pic>
      <p:sp>
        <p:nvSpPr>
          <p:cNvPr id="15" name="Text 9"/>
          <p:cNvSpPr txBox="1"/>
          <p:nvPr/>
        </p:nvSpPr>
        <p:spPr>
          <a:xfrm>
            <a:off x="1051560" y="2185416"/>
            <a:ext cx="3566160" cy="493776"/>
          </a:xfrm>
          <a:prstGeom prst="rect">
            <a:avLst/>
          </a:prstGeom>
          <a:noFill/>
          <a:ln/>
        </p:spPr>
        <p:txBody>
          <a:bodyPr wrap="square" lIns="0" tIns="0" rIns="0" bIns="0" rtlCol="0" anchor="ctr"/>
          <a:lstStyle/>
          <a:p>
            <a:pPr indent="0" marL="0">
              <a:buNone/>
            </a:pPr>
            <a:r>
              <a:rPr lang="en-US" sz="1200" dirty="0">
                <a:solidFill>
                  <a:schemeClr val="tx1"/>
                </a:solidFill>
              </a:rPr>
              <a:t>Distinguere sintomi e problema</a:t>
            </a:r>
            <a:endParaRPr lang="en-US" sz="1200" dirty="0"/>
          </a:p>
        </p:txBody>
      </p:sp>
      <p:sp>
        <p:nvSpPr>
          <p:cNvPr id="16" name="Individuare le informazioni necessarie per decidere"/>
          <p:cNvSpPr/>
          <p:nvPr/>
        </p:nvSpPr>
        <p:spPr>
          <a:xfrm>
            <a:off x="457200" y="2752344"/>
            <a:ext cx="4206240" cy="493776"/>
          </a:xfrm>
          <a:prstGeom prst="roundRect">
            <a:avLst>
              <a:gd name="adj" fmla="val 14815"/>
            </a:avLst>
          </a:prstGeom>
          <a:solidFill>
            <a:schemeClr val="bg1"/>
          </a:solidFill>
          <a:ln/>
        </p:spPr>
      </p:sp>
      <p:sp>
        <p:nvSpPr>
          <p:cNvPr id="17" name="cerchio FiDatabase"/>
          <p:cNvSpPr/>
          <p:nvPr/>
        </p:nvSpPr>
        <p:spPr>
          <a:xfrm>
            <a:off x="548640" y="2807208"/>
            <a:ext cx="384048" cy="384048"/>
          </a:xfrm>
          <a:prstGeom prst="ellipse">
            <a:avLst/>
          </a:prstGeom>
          <a:solidFill>
            <a:schemeClr val="accent1"/>
          </a:solidFill>
          <a:ln/>
        </p:spPr>
      </p:sp>
      <p:pic>
        <p:nvPicPr>
          <p:cNvPr id="18" name="Image 3" descr="FiDatabase">    </p:cNvPr>
          <p:cNvPicPr>
            <a:picLocks noChangeAspect="1"/>
          </p:cNvPicPr>
          <p:nvPr/>
        </p:nvPicPr>
        <p:blipFill>
          <a:blip r:embed="rId4"/>
          <a:stretch>
            <a:fillRect/>
          </a:stretch>
        </p:blipFill>
        <p:spPr>
          <a:xfrm>
            <a:off x="644652" y="2903220"/>
            <a:ext cx="192024" cy="192024"/>
          </a:xfrm>
          <a:prstGeom prst="rect">
            <a:avLst/>
          </a:prstGeom>
        </p:spPr>
      </p:pic>
      <p:sp>
        <p:nvSpPr>
          <p:cNvPr id="19" name="Text 12"/>
          <p:cNvSpPr txBox="1"/>
          <p:nvPr/>
        </p:nvSpPr>
        <p:spPr>
          <a:xfrm>
            <a:off x="1051560" y="2752344"/>
            <a:ext cx="3566160" cy="493776"/>
          </a:xfrm>
          <a:prstGeom prst="rect">
            <a:avLst/>
          </a:prstGeom>
          <a:noFill/>
          <a:ln/>
        </p:spPr>
        <p:txBody>
          <a:bodyPr wrap="square" lIns="0" tIns="0" rIns="0" bIns="0" rtlCol="0" anchor="ctr"/>
          <a:lstStyle/>
          <a:p>
            <a:pPr indent="0" marL="0">
              <a:buNone/>
            </a:pPr>
            <a:r>
              <a:rPr lang="en-US" sz="1200" dirty="0">
                <a:solidFill>
                  <a:schemeClr val="tx1"/>
                </a:solidFill>
              </a:rPr>
              <a:t>Individuare le informazioni necessarie per decidere</a:t>
            </a:r>
            <a:endParaRPr lang="en-US" sz="1200" dirty="0"/>
          </a:p>
        </p:txBody>
      </p:sp>
      <p:sp>
        <p:nvSpPr>
          <p:cNvPr id="20" name="Far emergere obiettivi in conflitto"/>
          <p:cNvSpPr/>
          <p:nvPr/>
        </p:nvSpPr>
        <p:spPr>
          <a:xfrm>
            <a:off x="457200" y="3319272"/>
            <a:ext cx="4206240" cy="493776"/>
          </a:xfrm>
          <a:prstGeom prst="roundRect">
            <a:avLst>
              <a:gd name="adj" fmla="val 14815"/>
            </a:avLst>
          </a:prstGeom>
          <a:solidFill>
            <a:schemeClr val="bg2"/>
          </a:solidFill>
          <a:ln/>
        </p:spPr>
      </p:sp>
      <p:sp>
        <p:nvSpPr>
          <p:cNvPr id="21" name="cerchio FiShuffle"/>
          <p:cNvSpPr/>
          <p:nvPr/>
        </p:nvSpPr>
        <p:spPr>
          <a:xfrm>
            <a:off x="548640" y="3374136"/>
            <a:ext cx="384048" cy="384048"/>
          </a:xfrm>
          <a:prstGeom prst="ellipse">
            <a:avLst/>
          </a:prstGeom>
          <a:solidFill>
            <a:schemeClr val="accent1"/>
          </a:solidFill>
          <a:ln/>
        </p:spPr>
      </p:sp>
      <p:pic>
        <p:nvPicPr>
          <p:cNvPr id="22" name="Image 4" descr="FiShuffle">    </p:cNvPr>
          <p:cNvPicPr>
            <a:picLocks noChangeAspect="1"/>
          </p:cNvPicPr>
          <p:nvPr/>
        </p:nvPicPr>
        <p:blipFill>
          <a:blip r:embed="rId5"/>
          <a:stretch>
            <a:fillRect/>
          </a:stretch>
        </p:blipFill>
        <p:spPr>
          <a:xfrm>
            <a:off x="644652" y="3470148"/>
            <a:ext cx="192024" cy="192024"/>
          </a:xfrm>
          <a:prstGeom prst="rect">
            <a:avLst/>
          </a:prstGeom>
        </p:spPr>
      </p:pic>
      <p:sp>
        <p:nvSpPr>
          <p:cNvPr id="23" name="Text 15"/>
          <p:cNvSpPr txBox="1"/>
          <p:nvPr/>
        </p:nvSpPr>
        <p:spPr>
          <a:xfrm>
            <a:off x="1051560" y="3319272"/>
            <a:ext cx="3566160" cy="493776"/>
          </a:xfrm>
          <a:prstGeom prst="rect">
            <a:avLst/>
          </a:prstGeom>
          <a:noFill/>
          <a:ln/>
        </p:spPr>
        <p:txBody>
          <a:bodyPr wrap="square" lIns="0" tIns="0" rIns="0" bIns="0" rtlCol="0" anchor="ctr"/>
          <a:lstStyle/>
          <a:p>
            <a:pPr indent="0" marL="0">
              <a:buNone/>
            </a:pPr>
            <a:r>
              <a:rPr lang="en-US" sz="1200" dirty="0">
                <a:solidFill>
                  <a:schemeClr val="tx1"/>
                </a:solidFill>
              </a:rPr>
              <a:t>Far emergere obiettivi in conflitto</a:t>
            </a:r>
            <a:endParaRPr lang="en-US" sz="1200" dirty="0"/>
          </a:p>
        </p:txBody>
      </p:sp>
      <p:sp>
        <p:nvSpPr>
          <p:cNvPr id="24" name="scheda Esempio"/>
          <p:cNvSpPr/>
          <p:nvPr/>
        </p:nvSpPr>
        <p:spPr>
          <a:xfrm>
            <a:off x="4937760" y="1051560"/>
            <a:ext cx="3749040" cy="2697480"/>
          </a:xfrm>
          <a:prstGeom prst="roundRect">
            <a:avLst>
              <a:gd name="adj" fmla="val 2712"/>
            </a:avLst>
          </a:prstGeom>
          <a:solidFill>
            <a:schemeClr val="accent6"/>
          </a:solidFill>
          <a:ln/>
        </p:spPr>
      </p:sp>
      <p:sp>
        <p:nvSpPr>
          <p:cNvPr id="25" name="Text 17"/>
          <p:cNvSpPr txBox="1"/>
          <p:nvPr/>
        </p:nvSpPr>
        <p:spPr>
          <a:xfrm>
            <a:off x="5120640" y="1234440"/>
            <a:ext cx="3383280" cy="347472"/>
          </a:xfrm>
          <a:prstGeom prst="rect">
            <a:avLst/>
          </a:prstGeom>
          <a:noFill/>
          <a:ln/>
        </p:spPr>
        <p:txBody>
          <a:bodyPr wrap="square" lIns="0" tIns="0" rIns="0" bIns="0" rtlCol="0" anchor="t"/>
          <a:lstStyle/>
          <a:p>
            <a:pPr indent="0" marL="0">
              <a:buNone/>
            </a:pPr>
            <a:r>
              <a:rPr lang="en-US" sz="1400" b="1" dirty="0">
                <a:solidFill>
                  <a:schemeClr val="tx1"/>
                </a:solidFill>
              </a:rPr>
              <a:t>Esempio</a:t>
            </a:r>
            <a:endParaRPr lang="en-US" sz="1400" dirty="0"/>
          </a:p>
        </p:txBody>
      </p:sp>
      <p:sp>
        <p:nvSpPr>
          <p:cNvPr id="26" name="Text 18"/>
          <p:cNvSpPr txBox="1"/>
          <p:nvPr/>
        </p:nvSpPr>
        <p:spPr>
          <a:xfrm>
            <a:off x="5120640" y="1618488"/>
            <a:ext cx="3383280" cy="2020824"/>
          </a:xfrm>
          <a:prstGeom prst="rect">
            <a:avLst/>
          </a:prstGeom>
          <a:noFill/>
          <a:ln/>
        </p:spPr>
        <p:txBody>
          <a:bodyPr wrap="square" lIns="0" tIns="0" rIns="0" bIns="0" rtlCol="0" anchor="t"/>
          <a:lstStyle/>
          <a:p>
            <a:pPr indent="0" marL="0">
              <a:buNone/>
            </a:pPr>
            <a:r>
              <a:rPr lang="en-US" sz="1300" b="1" dirty="0">
                <a:solidFill>
                  <a:schemeClr val="tx2"/>
                </a:solidFill>
              </a:rPr>
              <a:t>Invece di: </a:t>
            </a:r>
            <a:pPr indent="0" marL="0">
              <a:spcAft>
                <a:spcPts val="1000"/>
              </a:spcAft>
              <a:buNone/>
            </a:pPr>
            <a:r>
              <a:rPr lang="en-US" sz="1300" i="1" dirty="0">
                <a:solidFill>
                  <a:schemeClr val="tx2"/>
                </a:solidFill>
              </a:rPr>
              <a:t>"Come riduco i reclami dei clienti?"</a:t>
            </a:r>
            <a:endParaRPr lang="en-US" sz="1300" dirty="0"/>
          </a:p>
          <a:p>
            <a:pPr indent="0" marL="0">
              <a:buNone/>
            </a:pPr>
            <a:r>
              <a:rPr lang="en-US" sz="1300" b="1" dirty="0">
                <a:solidFill>
                  <a:schemeClr val="accent1"/>
                </a:solidFill>
              </a:rPr>
              <a:t>Prima: </a:t>
            </a:r>
            <a:pPr indent="0" marL="0">
              <a:buNone/>
            </a:pPr>
            <a:r>
              <a:rPr lang="en-US" sz="1300" i="1" dirty="0">
                <a:solidFill>
                  <a:schemeClr val="tx2"/>
                </a:solidFill>
              </a:rPr>
              <a:t>"Aiutami a capire quali problemi potrebbero esserci dietro l'aumento dei reclami e quali dati mi servirebbero per distinguerli."</a:t>
            </a:r>
            <a:endParaRPr lang="en-US" sz="1300" dirty="0"/>
          </a:p>
        </p:txBody>
      </p:sp>
      <p:sp>
        <p:nvSpPr>
          <p:cNvPr id="27" name="Text 19"/>
          <p:cNvSpPr txBox="1"/>
          <p:nvPr/>
        </p:nvSpPr>
        <p:spPr>
          <a:xfrm>
            <a:off x="457200" y="4023360"/>
            <a:ext cx="8229600" cy="457200"/>
          </a:xfrm>
          <a:prstGeom prst="rect">
            <a:avLst/>
          </a:prstGeom>
          <a:noFill/>
          <a:ln/>
        </p:spPr>
        <p:txBody>
          <a:bodyPr wrap="square" lIns="0" tIns="0" rIns="0" bIns="0" rtlCol="0" anchor="t"/>
          <a:lstStyle/>
          <a:p>
            <a:pPr indent="0" marL="0">
              <a:buNone/>
            </a:pPr>
            <a:r>
              <a:rPr lang="en-US" sz="1300" i="1" dirty="0">
                <a:solidFill>
                  <a:schemeClr val="tx1"/>
                </a:solidFill>
              </a:rPr>
              <a:t>La conversazione come strumento per pensare meglio, non solo per ottenere risposte.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Una buona interazione può svilupparsi attraverso più scambi e non richiede una richiesta iniziale perfetta.</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5.2  ·  Dalla domanda alla conversazione</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5.3</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I diversi ruoli che l'AI può assumere</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Assegnare un ruolo può orientare il comportamento dell'AI, ma non garantisce che abbia le competenze richieste</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Sette ruoli possibili</a:t>
            </a:r>
            <a:endParaRPr lang="en-US" sz="2600" dirty="0"/>
          </a:p>
        </p:txBody>
      </p:sp>
      <p:sp>
        <p:nvSpPr>
          <p:cNvPr id="4" name="Fonte di informazioni"/>
          <p:cNvSpPr/>
          <p:nvPr/>
        </p:nvSpPr>
        <p:spPr>
          <a:xfrm>
            <a:off x="457200" y="1097280"/>
            <a:ext cx="1965960" cy="1371600"/>
          </a:xfrm>
          <a:prstGeom prst="roundRect">
            <a:avLst>
              <a:gd name="adj" fmla="val 5333"/>
            </a:avLst>
          </a:prstGeom>
          <a:solidFill>
            <a:schemeClr val="bg2"/>
          </a:solidFill>
          <a:ln/>
        </p:spPr>
      </p:sp>
      <p:sp>
        <p:nvSpPr>
          <p:cNvPr id="5" name="cerchio FiBookOpen"/>
          <p:cNvSpPr/>
          <p:nvPr/>
        </p:nvSpPr>
        <p:spPr>
          <a:xfrm>
            <a:off x="1170432" y="1261872"/>
            <a:ext cx="548640" cy="548640"/>
          </a:xfrm>
          <a:prstGeom prst="ellipse">
            <a:avLst/>
          </a:prstGeom>
          <a:solidFill>
            <a:schemeClr val="accent1"/>
          </a:solidFill>
          <a:ln/>
        </p:spPr>
      </p:sp>
      <p:pic>
        <p:nvPicPr>
          <p:cNvPr id="6" name="Image 0" descr="FiBookOpen">    </p:cNvPr>
          <p:cNvPicPr>
            <a:picLocks noChangeAspect="1"/>
          </p:cNvPicPr>
          <p:nvPr/>
        </p:nvPicPr>
        <p:blipFill>
          <a:blip r:embed="rId1"/>
          <a:stretch>
            <a:fillRect/>
          </a:stretch>
        </p:blipFill>
        <p:spPr>
          <a:xfrm>
            <a:off x="1307592" y="1399032"/>
            <a:ext cx="274320" cy="274320"/>
          </a:xfrm>
          <a:prstGeom prst="rect">
            <a:avLst/>
          </a:prstGeom>
        </p:spPr>
      </p:pic>
      <p:sp>
        <p:nvSpPr>
          <p:cNvPr id="7" name="Text 3"/>
          <p:cNvSpPr txBox="1"/>
          <p:nvPr/>
        </p:nvSpPr>
        <p:spPr>
          <a:xfrm>
            <a:off x="548640" y="1901952"/>
            <a:ext cx="1783080" cy="457200"/>
          </a:xfrm>
          <a:prstGeom prst="rect">
            <a:avLst/>
          </a:prstGeom>
          <a:noFill/>
          <a:ln/>
        </p:spPr>
        <p:txBody>
          <a:bodyPr wrap="square" lIns="0" tIns="0" rIns="0" bIns="0" rtlCol="0" anchor="ctr"/>
          <a:lstStyle/>
          <a:p>
            <a:pPr algn="ctr" indent="0" marL="0">
              <a:buNone/>
            </a:pPr>
            <a:r>
              <a:rPr lang="en-US" sz="1400" b="1" dirty="0">
                <a:solidFill>
                  <a:schemeClr val="tx1"/>
                </a:solidFill>
              </a:rPr>
              <a:t>Fonte di informazioni</a:t>
            </a:r>
            <a:endParaRPr lang="en-US" sz="1400" dirty="0"/>
          </a:p>
        </p:txBody>
      </p:sp>
      <p:sp>
        <p:nvSpPr>
          <p:cNvPr id="8" name="Assistente operativo"/>
          <p:cNvSpPr/>
          <p:nvPr/>
        </p:nvSpPr>
        <p:spPr>
          <a:xfrm>
            <a:off x="2560320" y="1097280"/>
            <a:ext cx="1965960" cy="1371600"/>
          </a:xfrm>
          <a:prstGeom prst="roundRect">
            <a:avLst>
              <a:gd name="adj" fmla="val 5333"/>
            </a:avLst>
          </a:prstGeom>
          <a:solidFill>
            <a:schemeClr val="bg2"/>
          </a:solidFill>
          <a:ln/>
        </p:spPr>
      </p:sp>
      <p:sp>
        <p:nvSpPr>
          <p:cNvPr id="9" name="cerchio FiBriefcase"/>
          <p:cNvSpPr/>
          <p:nvPr/>
        </p:nvSpPr>
        <p:spPr>
          <a:xfrm>
            <a:off x="3273552" y="1261872"/>
            <a:ext cx="548640" cy="548640"/>
          </a:xfrm>
          <a:prstGeom prst="ellipse">
            <a:avLst/>
          </a:prstGeom>
          <a:solidFill>
            <a:schemeClr val="accent1"/>
          </a:solidFill>
          <a:ln/>
        </p:spPr>
      </p:sp>
      <p:pic>
        <p:nvPicPr>
          <p:cNvPr id="10" name="Image 1" descr="FiBriefcase">    </p:cNvPr>
          <p:cNvPicPr>
            <a:picLocks noChangeAspect="1"/>
          </p:cNvPicPr>
          <p:nvPr/>
        </p:nvPicPr>
        <p:blipFill>
          <a:blip r:embed="rId2"/>
          <a:stretch>
            <a:fillRect/>
          </a:stretch>
        </p:blipFill>
        <p:spPr>
          <a:xfrm>
            <a:off x="3410712" y="1399032"/>
            <a:ext cx="274320" cy="274320"/>
          </a:xfrm>
          <a:prstGeom prst="rect">
            <a:avLst/>
          </a:prstGeom>
        </p:spPr>
      </p:pic>
      <p:sp>
        <p:nvSpPr>
          <p:cNvPr id="11" name="Text 6"/>
          <p:cNvSpPr txBox="1"/>
          <p:nvPr/>
        </p:nvSpPr>
        <p:spPr>
          <a:xfrm>
            <a:off x="2651760" y="1901952"/>
            <a:ext cx="1783080" cy="457200"/>
          </a:xfrm>
          <a:prstGeom prst="rect">
            <a:avLst/>
          </a:prstGeom>
          <a:noFill/>
          <a:ln/>
        </p:spPr>
        <p:txBody>
          <a:bodyPr wrap="square" lIns="0" tIns="0" rIns="0" bIns="0" rtlCol="0" anchor="ctr"/>
          <a:lstStyle/>
          <a:p>
            <a:pPr algn="ctr" indent="0" marL="0">
              <a:buNone/>
            </a:pPr>
            <a:r>
              <a:rPr lang="en-US" sz="1400" b="1" dirty="0">
                <a:solidFill>
                  <a:schemeClr val="tx1"/>
                </a:solidFill>
              </a:rPr>
              <a:t>Assistente operativo</a:t>
            </a:r>
            <a:endParaRPr lang="en-US" sz="1400" dirty="0"/>
          </a:p>
        </p:txBody>
      </p:sp>
      <p:sp>
        <p:nvSpPr>
          <p:cNvPr id="12" name="Supporto creativo"/>
          <p:cNvSpPr/>
          <p:nvPr/>
        </p:nvSpPr>
        <p:spPr>
          <a:xfrm>
            <a:off x="4663440" y="1097280"/>
            <a:ext cx="1965960" cy="1371600"/>
          </a:xfrm>
          <a:prstGeom prst="roundRect">
            <a:avLst>
              <a:gd name="adj" fmla="val 5333"/>
            </a:avLst>
          </a:prstGeom>
          <a:solidFill>
            <a:schemeClr val="bg2"/>
          </a:solidFill>
          <a:ln/>
        </p:spPr>
      </p:sp>
      <p:sp>
        <p:nvSpPr>
          <p:cNvPr id="13" name="cerchio FiZap"/>
          <p:cNvSpPr/>
          <p:nvPr/>
        </p:nvSpPr>
        <p:spPr>
          <a:xfrm>
            <a:off x="5376672" y="1261872"/>
            <a:ext cx="548640" cy="548640"/>
          </a:xfrm>
          <a:prstGeom prst="ellipse">
            <a:avLst/>
          </a:prstGeom>
          <a:solidFill>
            <a:schemeClr val="accent1"/>
          </a:solidFill>
          <a:ln/>
        </p:spPr>
      </p:sp>
      <p:pic>
        <p:nvPicPr>
          <p:cNvPr id="14" name="Image 2" descr="FiZap">    </p:cNvPr>
          <p:cNvPicPr>
            <a:picLocks noChangeAspect="1"/>
          </p:cNvPicPr>
          <p:nvPr/>
        </p:nvPicPr>
        <p:blipFill>
          <a:blip r:embed="rId3"/>
          <a:stretch>
            <a:fillRect/>
          </a:stretch>
        </p:blipFill>
        <p:spPr>
          <a:xfrm>
            <a:off x="5513832" y="1399032"/>
            <a:ext cx="274320" cy="274320"/>
          </a:xfrm>
          <a:prstGeom prst="rect">
            <a:avLst/>
          </a:prstGeom>
        </p:spPr>
      </p:pic>
      <p:sp>
        <p:nvSpPr>
          <p:cNvPr id="15" name="Text 9"/>
          <p:cNvSpPr txBox="1"/>
          <p:nvPr/>
        </p:nvSpPr>
        <p:spPr>
          <a:xfrm>
            <a:off x="4754880" y="1901952"/>
            <a:ext cx="1783080" cy="457200"/>
          </a:xfrm>
          <a:prstGeom prst="rect">
            <a:avLst/>
          </a:prstGeom>
          <a:noFill/>
          <a:ln/>
        </p:spPr>
        <p:txBody>
          <a:bodyPr wrap="square" lIns="0" tIns="0" rIns="0" bIns="0" rtlCol="0" anchor="ctr"/>
          <a:lstStyle/>
          <a:p>
            <a:pPr algn="ctr" indent="0" marL="0">
              <a:buNone/>
            </a:pPr>
            <a:r>
              <a:rPr lang="en-US" sz="1400" b="1" dirty="0">
                <a:solidFill>
                  <a:schemeClr val="tx1"/>
                </a:solidFill>
              </a:rPr>
              <a:t>Supporto creativo</a:t>
            </a:r>
            <a:endParaRPr lang="en-US" sz="1400" dirty="0"/>
          </a:p>
        </p:txBody>
      </p:sp>
      <p:sp>
        <p:nvSpPr>
          <p:cNvPr id="16" name="Analista"/>
          <p:cNvSpPr/>
          <p:nvPr/>
        </p:nvSpPr>
        <p:spPr>
          <a:xfrm>
            <a:off x="6766560" y="1097280"/>
            <a:ext cx="1965960" cy="1371600"/>
          </a:xfrm>
          <a:prstGeom prst="roundRect">
            <a:avLst>
              <a:gd name="adj" fmla="val 5333"/>
            </a:avLst>
          </a:prstGeom>
          <a:solidFill>
            <a:schemeClr val="bg2"/>
          </a:solidFill>
          <a:ln/>
        </p:spPr>
      </p:sp>
      <p:sp>
        <p:nvSpPr>
          <p:cNvPr id="17" name="cerchio FiBarChart2"/>
          <p:cNvSpPr/>
          <p:nvPr/>
        </p:nvSpPr>
        <p:spPr>
          <a:xfrm>
            <a:off x="7479792" y="1261872"/>
            <a:ext cx="548640" cy="548640"/>
          </a:xfrm>
          <a:prstGeom prst="ellipse">
            <a:avLst/>
          </a:prstGeom>
          <a:solidFill>
            <a:schemeClr val="accent1"/>
          </a:solidFill>
          <a:ln/>
        </p:spPr>
      </p:sp>
      <p:pic>
        <p:nvPicPr>
          <p:cNvPr id="18" name="Image 3" descr="FiBarChart2">    </p:cNvPr>
          <p:cNvPicPr>
            <a:picLocks noChangeAspect="1"/>
          </p:cNvPicPr>
          <p:nvPr/>
        </p:nvPicPr>
        <p:blipFill>
          <a:blip r:embed="rId4"/>
          <a:stretch>
            <a:fillRect/>
          </a:stretch>
        </p:blipFill>
        <p:spPr>
          <a:xfrm>
            <a:off x="7616952" y="1399032"/>
            <a:ext cx="274320" cy="274320"/>
          </a:xfrm>
          <a:prstGeom prst="rect">
            <a:avLst/>
          </a:prstGeom>
        </p:spPr>
      </p:pic>
      <p:sp>
        <p:nvSpPr>
          <p:cNvPr id="19" name="Text 12"/>
          <p:cNvSpPr txBox="1"/>
          <p:nvPr/>
        </p:nvSpPr>
        <p:spPr>
          <a:xfrm>
            <a:off x="6858000" y="1901952"/>
            <a:ext cx="1783080" cy="457200"/>
          </a:xfrm>
          <a:prstGeom prst="rect">
            <a:avLst/>
          </a:prstGeom>
          <a:noFill/>
          <a:ln/>
        </p:spPr>
        <p:txBody>
          <a:bodyPr wrap="square" lIns="0" tIns="0" rIns="0" bIns="0" rtlCol="0" anchor="ctr"/>
          <a:lstStyle/>
          <a:p>
            <a:pPr algn="ctr" indent="0" marL="0">
              <a:buNone/>
            </a:pPr>
            <a:r>
              <a:rPr lang="en-US" sz="1400" b="1" dirty="0">
                <a:solidFill>
                  <a:schemeClr val="tx1"/>
                </a:solidFill>
              </a:rPr>
              <a:t>Analista</a:t>
            </a:r>
            <a:endParaRPr lang="en-US" sz="1400" dirty="0"/>
          </a:p>
        </p:txBody>
      </p:sp>
      <p:sp>
        <p:nvSpPr>
          <p:cNvPr id="20" name="Revisore"/>
          <p:cNvSpPr/>
          <p:nvPr/>
        </p:nvSpPr>
        <p:spPr>
          <a:xfrm>
            <a:off x="1508760" y="2651760"/>
            <a:ext cx="1965960" cy="1371600"/>
          </a:xfrm>
          <a:prstGeom prst="roundRect">
            <a:avLst>
              <a:gd name="adj" fmla="val 5333"/>
            </a:avLst>
          </a:prstGeom>
          <a:solidFill>
            <a:schemeClr val="bg2"/>
          </a:solidFill>
          <a:ln/>
        </p:spPr>
      </p:sp>
      <p:sp>
        <p:nvSpPr>
          <p:cNvPr id="21" name="cerchio FiCheckSquare"/>
          <p:cNvSpPr/>
          <p:nvPr/>
        </p:nvSpPr>
        <p:spPr>
          <a:xfrm>
            <a:off x="2221992" y="2816352"/>
            <a:ext cx="548640" cy="548640"/>
          </a:xfrm>
          <a:prstGeom prst="ellipse">
            <a:avLst/>
          </a:prstGeom>
          <a:solidFill>
            <a:schemeClr val="accent1"/>
          </a:solidFill>
          <a:ln/>
        </p:spPr>
      </p:sp>
      <p:pic>
        <p:nvPicPr>
          <p:cNvPr id="22" name="Image 4" descr="FiCheckSquare">    </p:cNvPr>
          <p:cNvPicPr>
            <a:picLocks noChangeAspect="1"/>
          </p:cNvPicPr>
          <p:nvPr/>
        </p:nvPicPr>
        <p:blipFill>
          <a:blip r:embed="rId5"/>
          <a:stretch>
            <a:fillRect/>
          </a:stretch>
        </p:blipFill>
        <p:spPr>
          <a:xfrm>
            <a:off x="2359152" y="2953512"/>
            <a:ext cx="274320" cy="274320"/>
          </a:xfrm>
          <a:prstGeom prst="rect">
            <a:avLst/>
          </a:prstGeom>
        </p:spPr>
      </p:pic>
      <p:sp>
        <p:nvSpPr>
          <p:cNvPr id="23" name="Text 15"/>
          <p:cNvSpPr txBox="1"/>
          <p:nvPr/>
        </p:nvSpPr>
        <p:spPr>
          <a:xfrm>
            <a:off x="1600200" y="3456432"/>
            <a:ext cx="1783080" cy="457200"/>
          </a:xfrm>
          <a:prstGeom prst="rect">
            <a:avLst/>
          </a:prstGeom>
          <a:noFill/>
          <a:ln/>
        </p:spPr>
        <p:txBody>
          <a:bodyPr wrap="square" lIns="0" tIns="0" rIns="0" bIns="0" rtlCol="0" anchor="ctr"/>
          <a:lstStyle/>
          <a:p>
            <a:pPr algn="ctr" indent="0" marL="0">
              <a:buNone/>
            </a:pPr>
            <a:r>
              <a:rPr lang="en-US" sz="1400" b="1" dirty="0">
                <a:solidFill>
                  <a:schemeClr val="tx1"/>
                </a:solidFill>
              </a:rPr>
              <a:t>Revisore</a:t>
            </a:r>
            <a:endParaRPr lang="en-US" sz="1400" dirty="0"/>
          </a:p>
        </p:txBody>
      </p:sp>
      <p:sp>
        <p:nvSpPr>
          <p:cNvPr id="24" name="Tutor"/>
          <p:cNvSpPr/>
          <p:nvPr/>
        </p:nvSpPr>
        <p:spPr>
          <a:xfrm>
            <a:off x="3611880" y="2651760"/>
            <a:ext cx="1965960" cy="1371600"/>
          </a:xfrm>
          <a:prstGeom prst="roundRect">
            <a:avLst>
              <a:gd name="adj" fmla="val 5333"/>
            </a:avLst>
          </a:prstGeom>
          <a:solidFill>
            <a:schemeClr val="bg2"/>
          </a:solidFill>
          <a:ln/>
        </p:spPr>
      </p:sp>
      <p:sp>
        <p:nvSpPr>
          <p:cNvPr id="25" name="cerchio FiAward"/>
          <p:cNvSpPr/>
          <p:nvPr/>
        </p:nvSpPr>
        <p:spPr>
          <a:xfrm>
            <a:off x="4325112" y="2816352"/>
            <a:ext cx="548640" cy="548640"/>
          </a:xfrm>
          <a:prstGeom prst="ellipse">
            <a:avLst/>
          </a:prstGeom>
          <a:solidFill>
            <a:schemeClr val="accent1"/>
          </a:solidFill>
          <a:ln/>
        </p:spPr>
      </p:sp>
      <p:pic>
        <p:nvPicPr>
          <p:cNvPr id="26" name="Image 5" descr="FiAward">    </p:cNvPr>
          <p:cNvPicPr>
            <a:picLocks noChangeAspect="1"/>
          </p:cNvPicPr>
          <p:nvPr/>
        </p:nvPicPr>
        <p:blipFill>
          <a:blip r:embed="rId6"/>
          <a:stretch>
            <a:fillRect/>
          </a:stretch>
        </p:blipFill>
        <p:spPr>
          <a:xfrm>
            <a:off x="4462272" y="2953512"/>
            <a:ext cx="274320" cy="274320"/>
          </a:xfrm>
          <a:prstGeom prst="rect">
            <a:avLst/>
          </a:prstGeom>
        </p:spPr>
      </p:pic>
      <p:sp>
        <p:nvSpPr>
          <p:cNvPr id="27" name="Text 18"/>
          <p:cNvSpPr txBox="1"/>
          <p:nvPr/>
        </p:nvSpPr>
        <p:spPr>
          <a:xfrm>
            <a:off x="3703320" y="3456432"/>
            <a:ext cx="1783080" cy="457200"/>
          </a:xfrm>
          <a:prstGeom prst="rect">
            <a:avLst/>
          </a:prstGeom>
          <a:noFill/>
          <a:ln/>
        </p:spPr>
        <p:txBody>
          <a:bodyPr wrap="square" lIns="0" tIns="0" rIns="0" bIns="0" rtlCol="0" anchor="ctr"/>
          <a:lstStyle/>
          <a:p>
            <a:pPr algn="ctr" indent="0" marL="0">
              <a:buNone/>
            </a:pPr>
            <a:r>
              <a:rPr lang="en-US" sz="1400" b="1" dirty="0">
                <a:solidFill>
                  <a:schemeClr val="tx1"/>
                </a:solidFill>
              </a:rPr>
              <a:t>Tutor</a:t>
            </a:r>
            <a:endParaRPr lang="en-US" sz="1400" dirty="0"/>
          </a:p>
        </p:txBody>
      </p:sp>
      <p:sp>
        <p:nvSpPr>
          <p:cNvPr id="28" name="Interlocutore critico"/>
          <p:cNvSpPr/>
          <p:nvPr/>
        </p:nvSpPr>
        <p:spPr>
          <a:xfrm>
            <a:off x="5715000" y="2651760"/>
            <a:ext cx="1965960" cy="1371600"/>
          </a:xfrm>
          <a:prstGeom prst="roundRect">
            <a:avLst>
              <a:gd name="adj" fmla="val 5333"/>
            </a:avLst>
          </a:prstGeom>
          <a:solidFill>
            <a:schemeClr val="accent1"/>
          </a:solidFill>
          <a:ln/>
        </p:spPr>
      </p:sp>
      <p:sp>
        <p:nvSpPr>
          <p:cNvPr id="29" name="cerchio FiMessageCircle"/>
          <p:cNvSpPr/>
          <p:nvPr/>
        </p:nvSpPr>
        <p:spPr>
          <a:xfrm>
            <a:off x="6428232" y="2816352"/>
            <a:ext cx="548640" cy="548640"/>
          </a:xfrm>
          <a:prstGeom prst="ellipse">
            <a:avLst/>
          </a:prstGeom>
          <a:solidFill>
            <a:schemeClr val="bg1"/>
          </a:solidFill>
          <a:ln/>
        </p:spPr>
      </p:sp>
      <p:pic>
        <p:nvPicPr>
          <p:cNvPr id="30" name="Image 6" descr="FiMessageCircle">    </p:cNvPr>
          <p:cNvPicPr>
            <a:picLocks noChangeAspect="1"/>
          </p:cNvPicPr>
          <p:nvPr/>
        </p:nvPicPr>
        <p:blipFill>
          <a:blip r:embed="rId7"/>
          <a:stretch>
            <a:fillRect/>
          </a:stretch>
        </p:blipFill>
        <p:spPr>
          <a:xfrm>
            <a:off x="6565392" y="2953512"/>
            <a:ext cx="274320" cy="274320"/>
          </a:xfrm>
          <a:prstGeom prst="rect">
            <a:avLst/>
          </a:prstGeom>
        </p:spPr>
      </p:pic>
      <p:sp>
        <p:nvSpPr>
          <p:cNvPr id="31" name="Text 21"/>
          <p:cNvSpPr txBox="1"/>
          <p:nvPr/>
        </p:nvSpPr>
        <p:spPr>
          <a:xfrm>
            <a:off x="5806440" y="3456432"/>
            <a:ext cx="1783080" cy="457200"/>
          </a:xfrm>
          <a:prstGeom prst="rect">
            <a:avLst/>
          </a:prstGeom>
          <a:noFill/>
          <a:ln/>
        </p:spPr>
        <p:txBody>
          <a:bodyPr wrap="square" lIns="0" tIns="0" rIns="0" bIns="0" rtlCol="0" anchor="ctr"/>
          <a:lstStyle/>
          <a:p>
            <a:pPr algn="ctr" indent="0" marL="0">
              <a:buNone/>
            </a:pPr>
            <a:r>
              <a:rPr lang="en-US" sz="1400" b="1" dirty="0">
                <a:solidFill>
                  <a:schemeClr val="bg1"/>
                </a:solidFill>
              </a:rPr>
              <a:t>Interlocutore critico</a:t>
            </a:r>
            <a:endParaRPr lang="en-US" sz="1400" dirty="0"/>
          </a:p>
        </p:txBody>
      </p:sp>
      <p:sp>
        <p:nvSpPr>
          <p:cNvPr id="32" name="Text 22"/>
          <p:cNvSpPr txBox="1"/>
          <p:nvPr/>
        </p:nvSpPr>
        <p:spPr>
          <a:xfrm>
            <a:off x="457200" y="4251960"/>
            <a:ext cx="8229600" cy="274320"/>
          </a:xfrm>
          <a:prstGeom prst="rect">
            <a:avLst/>
          </a:prstGeom>
          <a:noFill/>
          <a:ln/>
        </p:spPr>
        <p:txBody>
          <a:bodyPr wrap="square" lIns="0" tIns="0" rIns="0" bIns="0" rtlCol="0" anchor="t"/>
          <a:lstStyle/>
          <a:p>
            <a:pPr indent="0" marL="0">
              <a:buNone/>
            </a:pPr>
            <a:r>
              <a:rPr lang="en-US" sz="1200" i="1" dirty="0">
                <a:solidFill>
                  <a:schemeClr val="tx2"/>
                </a:solidFill>
              </a:rPr>
              <a:t>Molte interazioni combinano più ruoli.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Fonte, assistente operativo, supporto creativo</a:t>
            </a:r>
            <a:endParaRPr lang="en-US" sz="2600" dirty="0"/>
          </a:p>
        </p:txBody>
      </p:sp>
      <p:sp>
        <p:nvSpPr>
          <p:cNvPr id="4" name="scheda Fonte di informazioni"/>
          <p:cNvSpPr/>
          <p:nvPr/>
        </p:nvSpPr>
        <p:spPr>
          <a:xfrm>
            <a:off x="457200" y="1097280"/>
            <a:ext cx="2615184" cy="3429000"/>
          </a:xfrm>
          <a:prstGeom prst="roundRect">
            <a:avLst>
              <a:gd name="adj" fmla="val 2797"/>
            </a:avLst>
          </a:prstGeom>
          <a:solidFill>
            <a:schemeClr val="bg2"/>
          </a:solidFill>
          <a:ln/>
        </p:spPr>
      </p:sp>
      <p:sp>
        <p:nvSpPr>
          <p:cNvPr id="5" name="cerchio FiBookOpen"/>
          <p:cNvSpPr/>
          <p:nvPr/>
        </p:nvSpPr>
        <p:spPr>
          <a:xfrm>
            <a:off x="640080" y="1280160"/>
            <a:ext cx="457200" cy="457200"/>
          </a:xfrm>
          <a:prstGeom prst="ellipse">
            <a:avLst/>
          </a:prstGeom>
          <a:solidFill>
            <a:schemeClr val="accent1"/>
          </a:solidFill>
          <a:ln/>
        </p:spPr>
      </p:sp>
      <p:pic>
        <p:nvPicPr>
          <p:cNvPr id="6" name="Image 0" descr="FiBookOpen">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Fonte di informazioni</a:t>
            </a:r>
            <a:endParaRPr lang="en-US" sz="1500" dirty="0"/>
          </a:p>
        </p:txBody>
      </p:sp>
      <p:sp>
        <p:nvSpPr>
          <p:cNvPr id="8" name="Text 4"/>
          <p:cNvSpPr txBox="1"/>
          <p:nvPr/>
        </p:nvSpPr>
        <p:spPr>
          <a:xfrm>
            <a:off x="640080" y="2231136"/>
            <a:ext cx="2249424" cy="2185416"/>
          </a:xfrm>
          <a:prstGeom prst="rect">
            <a:avLst/>
          </a:prstGeom>
          <a:noFill/>
          <a:ln/>
        </p:spPr>
        <p:txBody>
          <a:bodyPr wrap="square" lIns="0" tIns="0" rIns="0" bIns="0" rtlCol="0" anchor="t"/>
          <a:lstStyle/>
          <a:p>
            <a:pPr indent="0" marL="0">
              <a:buNone/>
            </a:pPr>
            <a:r>
              <a:rPr lang="en-US" sz="1200" b="1" dirty="0">
                <a:solidFill>
                  <a:schemeClr val="accent1"/>
                </a:solidFill>
              </a:rPr>
              <a:t>Esempio</a:t>
            </a:r>
            <a:endParaRPr lang="en-US" sz="1200" dirty="0"/>
          </a:p>
          <a:p>
            <a:pPr indent="0" marL="0">
              <a:spcAft>
                <a:spcPts val="1200"/>
              </a:spcAft>
              <a:buNone/>
            </a:pPr>
            <a:r>
              <a:rPr lang="en-US" sz="1200" i="1" dirty="0">
                <a:solidFill>
                  <a:schemeClr val="tx2"/>
                </a:solidFill>
              </a:rPr>
              <a:t>"Spiegami in termini semplici che cos'è il bilancio di sostenibilità."</a:t>
            </a:r>
            <a:endParaRPr lang="en-US" sz="1200" dirty="0"/>
          </a:p>
          <a:p>
            <a:pPr indent="0" marL="0">
              <a:buNone/>
            </a:pPr>
            <a:r>
              <a:rPr lang="en-US" sz="1200" b="1" dirty="0">
                <a:solidFill>
                  <a:schemeClr val="accent5"/>
                </a:solidFill>
              </a:rPr>
              <a:t>Cautela</a:t>
            </a:r>
            <a:endParaRPr lang="en-US" sz="1200" dirty="0"/>
          </a:p>
          <a:p>
            <a:pPr indent="0" marL="0">
              <a:buNone/>
            </a:pPr>
            <a:r>
              <a:rPr lang="en-US" sz="1200" dirty="0">
                <a:solidFill>
                  <a:schemeClr val="tx2"/>
                </a:solidFill>
              </a:rPr>
              <a:t>Per fatti e dati precisi servono fonti verificabili</a:t>
            </a:r>
            <a:endParaRPr lang="en-US" sz="1200" dirty="0"/>
          </a:p>
        </p:txBody>
      </p:sp>
      <p:sp>
        <p:nvSpPr>
          <p:cNvPr id="9" name="scheda Assistente operativo"/>
          <p:cNvSpPr/>
          <p:nvPr/>
        </p:nvSpPr>
        <p:spPr>
          <a:xfrm>
            <a:off x="3264408" y="1097280"/>
            <a:ext cx="2615184" cy="3429000"/>
          </a:xfrm>
          <a:prstGeom prst="roundRect">
            <a:avLst>
              <a:gd name="adj" fmla="val 2797"/>
            </a:avLst>
          </a:prstGeom>
          <a:solidFill>
            <a:schemeClr val="bg2"/>
          </a:solidFill>
          <a:ln/>
        </p:spPr>
      </p:sp>
      <p:sp>
        <p:nvSpPr>
          <p:cNvPr id="10" name="cerchio FiBriefcase"/>
          <p:cNvSpPr/>
          <p:nvPr/>
        </p:nvSpPr>
        <p:spPr>
          <a:xfrm>
            <a:off x="3447288" y="1280160"/>
            <a:ext cx="457200" cy="457200"/>
          </a:xfrm>
          <a:prstGeom prst="ellipse">
            <a:avLst/>
          </a:prstGeom>
          <a:solidFill>
            <a:schemeClr val="accent1"/>
          </a:solidFill>
          <a:ln/>
        </p:spPr>
      </p:sp>
      <p:pic>
        <p:nvPicPr>
          <p:cNvPr id="11" name="Image 1" descr="FiBriefcase">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Assistente operativo</a:t>
            </a:r>
            <a:endParaRPr lang="en-US" sz="1500" dirty="0"/>
          </a:p>
        </p:txBody>
      </p:sp>
      <p:sp>
        <p:nvSpPr>
          <p:cNvPr id="13" name="Text 8"/>
          <p:cNvSpPr txBox="1"/>
          <p:nvPr/>
        </p:nvSpPr>
        <p:spPr>
          <a:xfrm>
            <a:off x="3447288" y="2231136"/>
            <a:ext cx="2249424" cy="2185416"/>
          </a:xfrm>
          <a:prstGeom prst="rect">
            <a:avLst/>
          </a:prstGeom>
          <a:noFill/>
          <a:ln/>
        </p:spPr>
        <p:txBody>
          <a:bodyPr wrap="square" lIns="0" tIns="0" rIns="0" bIns="0" rtlCol="0" anchor="t"/>
          <a:lstStyle/>
          <a:p>
            <a:pPr indent="0" marL="0">
              <a:buNone/>
            </a:pPr>
            <a:r>
              <a:rPr lang="en-US" sz="1200" b="1" dirty="0">
                <a:solidFill>
                  <a:schemeClr val="accent1"/>
                </a:solidFill>
              </a:rPr>
              <a:t>Esempio</a:t>
            </a:r>
            <a:endParaRPr lang="en-US" sz="1200" dirty="0"/>
          </a:p>
          <a:p>
            <a:pPr indent="0" marL="0">
              <a:spcAft>
                <a:spcPts val="1200"/>
              </a:spcAft>
              <a:buNone/>
            </a:pPr>
            <a:r>
              <a:rPr lang="en-US" sz="1200" i="1" dirty="0">
                <a:solidFill>
                  <a:schemeClr val="tx2"/>
                </a:solidFill>
              </a:rPr>
              <a:t>"Trasforma questi appunti in un verbale ordinato."</a:t>
            </a:r>
            <a:endParaRPr lang="en-US" sz="1200" dirty="0"/>
          </a:p>
          <a:p>
            <a:pPr indent="0" marL="0">
              <a:buNone/>
            </a:pPr>
            <a:r>
              <a:rPr lang="en-US" sz="1200" b="1" dirty="0">
                <a:solidFill>
                  <a:schemeClr val="accent5"/>
                </a:solidFill>
              </a:rPr>
              <a:t>Cautela</a:t>
            </a:r>
            <a:endParaRPr lang="en-US" sz="1200" dirty="0"/>
          </a:p>
          <a:p>
            <a:pPr indent="0" marL="0">
              <a:buNone/>
            </a:pPr>
            <a:r>
              <a:rPr lang="en-US" sz="1200" dirty="0">
                <a:solidFill>
                  <a:schemeClr val="tx2"/>
                </a:solidFill>
              </a:rPr>
              <a:t>È una bozza: chi la usa ne è responsabile</a:t>
            </a:r>
            <a:endParaRPr lang="en-US" sz="1200" dirty="0"/>
          </a:p>
        </p:txBody>
      </p:sp>
      <p:sp>
        <p:nvSpPr>
          <p:cNvPr id="14" name="scheda Supporto creativo"/>
          <p:cNvSpPr/>
          <p:nvPr/>
        </p:nvSpPr>
        <p:spPr>
          <a:xfrm>
            <a:off x="6071616" y="1097280"/>
            <a:ext cx="2615184" cy="3429000"/>
          </a:xfrm>
          <a:prstGeom prst="roundRect">
            <a:avLst>
              <a:gd name="adj" fmla="val 2797"/>
            </a:avLst>
          </a:prstGeom>
          <a:solidFill>
            <a:schemeClr val="bg2"/>
          </a:solidFill>
          <a:ln/>
        </p:spPr>
      </p:sp>
      <p:sp>
        <p:nvSpPr>
          <p:cNvPr id="15" name="cerchio FiZap"/>
          <p:cNvSpPr/>
          <p:nvPr/>
        </p:nvSpPr>
        <p:spPr>
          <a:xfrm>
            <a:off x="6254496" y="1280160"/>
            <a:ext cx="457200" cy="457200"/>
          </a:xfrm>
          <a:prstGeom prst="ellipse">
            <a:avLst/>
          </a:prstGeom>
          <a:solidFill>
            <a:schemeClr val="accent1"/>
          </a:solidFill>
          <a:ln/>
        </p:spPr>
      </p:sp>
      <p:pic>
        <p:nvPicPr>
          <p:cNvPr id="16" name="Image 2" descr="FiZap">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Supporto creativo</a:t>
            </a:r>
            <a:endParaRPr lang="en-US" sz="1500" dirty="0"/>
          </a:p>
        </p:txBody>
      </p:sp>
      <p:sp>
        <p:nvSpPr>
          <p:cNvPr id="18" name="Text 12"/>
          <p:cNvSpPr txBox="1"/>
          <p:nvPr/>
        </p:nvSpPr>
        <p:spPr>
          <a:xfrm>
            <a:off x="6254496" y="2231136"/>
            <a:ext cx="2249424" cy="2185416"/>
          </a:xfrm>
          <a:prstGeom prst="rect">
            <a:avLst/>
          </a:prstGeom>
          <a:noFill/>
          <a:ln/>
        </p:spPr>
        <p:txBody>
          <a:bodyPr wrap="square" lIns="0" tIns="0" rIns="0" bIns="0" rtlCol="0" anchor="t"/>
          <a:lstStyle/>
          <a:p>
            <a:pPr indent="0" marL="0">
              <a:buNone/>
            </a:pPr>
            <a:r>
              <a:rPr lang="en-US" sz="1200" b="1" dirty="0">
                <a:solidFill>
                  <a:schemeClr val="accent1"/>
                </a:solidFill>
              </a:rPr>
              <a:t>Esempio</a:t>
            </a:r>
            <a:endParaRPr lang="en-US" sz="1200" dirty="0"/>
          </a:p>
          <a:p>
            <a:pPr indent="0" marL="0">
              <a:spcAft>
                <a:spcPts val="1200"/>
              </a:spcAft>
              <a:buNone/>
            </a:pPr>
            <a:r>
              <a:rPr lang="en-US" sz="1200" i="1" dirty="0">
                <a:solidFill>
                  <a:schemeClr val="tx2"/>
                </a:solidFill>
              </a:rPr>
              <a:t>"Proponi dieci idee per un evento interno con budget contenuto."</a:t>
            </a:r>
            <a:endParaRPr lang="en-US" sz="1200" dirty="0"/>
          </a:p>
          <a:p>
            <a:pPr indent="0" marL="0">
              <a:buNone/>
            </a:pPr>
            <a:r>
              <a:rPr lang="en-US" sz="1200" b="1" dirty="0">
                <a:solidFill>
                  <a:schemeClr val="accent5"/>
                </a:solidFill>
              </a:rPr>
              <a:t>Cautela</a:t>
            </a:r>
            <a:endParaRPr lang="en-US" sz="1200" dirty="0"/>
          </a:p>
          <a:p>
            <a:pPr indent="0" marL="0">
              <a:buNone/>
            </a:pPr>
            <a:r>
              <a:rPr lang="en-US" sz="1200" dirty="0">
                <a:solidFill>
                  <a:schemeClr val="tx2"/>
                </a:solidFill>
              </a:rPr>
              <a:t>Idee spesso convenzionali: materiale grezzo da sviluppare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Analista, revisore, tutor</a:t>
            </a:r>
            <a:endParaRPr lang="en-US" sz="2600" dirty="0"/>
          </a:p>
        </p:txBody>
      </p:sp>
      <p:sp>
        <p:nvSpPr>
          <p:cNvPr id="4" name="scheda Analista"/>
          <p:cNvSpPr/>
          <p:nvPr/>
        </p:nvSpPr>
        <p:spPr>
          <a:xfrm>
            <a:off x="457200" y="1097280"/>
            <a:ext cx="2615184" cy="3429000"/>
          </a:xfrm>
          <a:prstGeom prst="roundRect">
            <a:avLst>
              <a:gd name="adj" fmla="val 2797"/>
            </a:avLst>
          </a:prstGeom>
          <a:solidFill>
            <a:schemeClr val="bg2"/>
          </a:solidFill>
          <a:ln/>
        </p:spPr>
      </p:sp>
      <p:sp>
        <p:nvSpPr>
          <p:cNvPr id="5" name="cerchio FiBarChart2"/>
          <p:cNvSpPr/>
          <p:nvPr/>
        </p:nvSpPr>
        <p:spPr>
          <a:xfrm>
            <a:off x="640080" y="1280160"/>
            <a:ext cx="457200" cy="457200"/>
          </a:xfrm>
          <a:prstGeom prst="ellipse">
            <a:avLst/>
          </a:prstGeom>
          <a:solidFill>
            <a:schemeClr val="accent1"/>
          </a:solidFill>
          <a:ln/>
        </p:spPr>
      </p:sp>
      <p:pic>
        <p:nvPicPr>
          <p:cNvPr id="6" name="Image 0" descr="FiBarChart2">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Analista</a:t>
            </a:r>
            <a:endParaRPr lang="en-US" sz="1500" dirty="0"/>
          </a:p>
        </p:txBody>
      </p:sp>
      <p:sp>
        <p:nvSpPr>
          <p:cNvPr id="8" name="Text 4"/>
          <p:cNvSpPr txBox="1"/>
          <p:nvPr/>
        </p:nvSpPr>
        <p:spPr>
          <a:xfrm>
            <a:off x="640080" y="2231136"/>
            <a:ext cx="2249424" cy="2185416"/>
          </a:xfrm>
          <a:prstGeom prst="rect">
            <a:avLst/>
          </a:prstGeom>
          <a:noFill/>
          <a:ln/>
        </p:spPr>
        <p:txBody>
          <a:bodyPr wrap="square" lIns="0" tIns="0" rIns="0" bIns="0" rtlCol="0" anchor="t"/>
          <a:lstStyle/>
          <a:p>
            <a:pPr indent="0" marL="0">
              <a:buNone/>
            </a:pPr>
            <a:r>
              <a:rPr lang="en-US" sz="1200" b="1" dirty="0">
                <a:solidFill>
                  <a:schemeClr val="accent1"/>
                </a:solidFill>
              </a:rPr>
              <a:t>Esempio</a:t>
            </a:r>
            <a:endParaRPr lang="en-US" sz="1200" dirty="0"/>
          </a:p>
          <a:p>
            <a:pPr indent="0" marL="0">
              <a:spcAft>
                <a:spcPts val="1200"/>
              </a:spcAft>
              <a:buNone/>
            </a:pPr>
            <a:r>
              <a:rPr lang="en-US" sz="1200" i="1" dirty="0">
                <a:solidFill>
                  <a:schemeClr val="tx2"/>
                </a:solidFill>
              </a:rPr>
              <a:t>"Confronta questi tre contratti sulle clausole di recesso."</a:t>
            </a:r>
            <a:endParaRPr lang="en-US" sz="1200" dirty="0"/>
          </a:p>
          <a:p>
            <a:pPr indent="0" marL="0">
              <a:buNone/>
            </a:pPr>
            <a:r>
              <a:rPr lang="en-US" sz="1200" b="1" dirty="0">
                <a:solidFill>
                  <a:schemeClr val="accent5"/>
                </a:solidFill>
              </a:rPr>
              <a:t>Cautela</a:t>
            </a:r>
            <a:endParaRPr lang="en-US" sz="1200" dirty="0"/>
          </a:p>
          <a:p>
            <a:pPr indent="0" marL="0">
              <a:buNone/>
            </a:pPr>
            <a:r>
              <a:rPr lang="en-US" sz="1200" dirty="0">
                <a:solidFill>
                  <a:schemeClr val="tx2"/>
                </a:solidFill>
              </a:rPr>
              <a:t>Conclusioni legate a informazioni e criteri: verificare</a:t>
            </a:r>
            <a:endParaRPr lang="en-US" sz="1200" dirty="0"/>
          </a:p>
        </p:txBody>
      </p:sp>
      <p:sp>
        <p:nvSpPr>
          <p:cNvPr id="9" name="scheda Revisore"/>
          <p:cNvSpPr/>
          <p:nvPr/>
        </p:nvSpPr>
        <p:spPr>
          <a:xfrm>
            <a:off x="3264408" y="1097280"/>
            <a:ext cx="2615184" cy="3429000"/>
          </a:xfrm>
          <a:prstGeom prst="roundRect">
            <a:avLst>
              <a:gd name="adj" fmla="val 2797"/>
            </a:avLst>
          </a:prstGeom>
          <a:solidFill>
            <a:schemeClr val="accent6"/>
          </a:solidFill>
          <a:ln/>
        </p:spPr>
      </p:sp>
      <p:sp>
        <p:nvSpPr>
          <p:cNvPr id="10" name="cerchio FiCheckSquare"/>
          <p:cNvSpPr/>
          <p:nvPr/>
        </p:nvSpPr>
        <p:spPr>
          <a:xfrm>
            <a:off x="3447288" y="1280160"/>
            <a:ext cx="457200" cy="457200"/>
          </a:xfrm>
          <a:prstGeom prst="ellipse">
            <a:avLst/>
          </a:prstGeom>
          <a:solidFill>
            <a:schemeClr val="accent1"/>
          </a:solidFill>
          <a:ln/>
        </p:spPr>
      </p:sp>
      <p:pic>
        <p:nvPicPr>
          <p:cNvPr id="11" name="Image 1" descr="FiCheckSquare">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Revisore</a:t>
            </a:r>
            <a:endParaRPr lang="en-US" sz="1500" dirty="0"/>
          </a:p>
        </p:txBody>
      </p:sp>
      <p:sp>
        <p:nvSpPr>
          <p:cNvPr id="13" name="Text 8"/>
          <p:cNvSpPr txBox="1"/>
          <p:nvPr/>
        </p:nvSpPr>
        <p:spPr>
          <a:xfrm>
            <a:off x="3447288" y="2231136"/>
            <a:ext cx="2249424" cy="2185416"/>
          </a:xfrm>
          <a:prstGeom prst="rect">
            <a:avLst/>
          </a:prstGeom>
          <a:noFill/>
          <a:ln/>
        </p:spPr>
        <p:txBody>
          <a:bodyPr wrap="square" lIns="0" tIns="0" rIns="0" bIns="0" rtlCol="0" anchor="t"/>
          <a:lstStyle/>
          <a:p>
            <a:pPr indent="0" marL="0">
              <a:buNone/>
            </a:pPr>
            <a:r>
              <a:rPr lang="en-US" sz="1200" b="1" dirty="0">
                <a:solidFill>
                  <a:schemeClr val="accent1"/>
                </a:solidFill>
              </a:rPr>
              <a:t>Esempio</a:t>
            </a:r>
            <a:endParaRPr lang="en-US" sz="1200" dirty="0"/>
          </a:p>
          <a:p>
            <a:pPr indent="0" marL="0">
              <a:spcAft>
                <a:spcPts val="1200"/>
              </a:spcAft>
              <a:buNone/>
            </a:pPr>
            <a:r>
              <a:rPr lang="en-US" sz="1200" i="1" dirty="0">
                <a:solidFill>
                  <a:schemeClr val="tx2"/>
                </a:solidFill>
              </a:rPr>
              <a:t>"Rileggi questa offerta e segnala passaggi ambigui o in contraddizione."</a:t>
            </a:r>
            <a:endParaRPr lang="en-US" sz="1200" dirty="0"/>
          </a:p>
          <a:p>
            <a:pPr indent="0" marL="0">
              <a:buNone/>
            </a:pPr>
            <a:r>
              <a:rPr lang="en-US" sz="1200" b="1" dirty="0">
                <a:solidFill>
                  <a:schemeClr val="accent5"/>
                </a:solidFill>
              </a:rPr>
              <a:t>Cautela</a:t>
            </a:r>
            <a:endParaRPr lang="en-US" sz="1200" dirty="0"/>
          </a:p>
          <a:p>
            <a:pPr indent="0" marL="0">
              <a:buNone/>
            </a:pPr>
            <a:r>
              <a:rPr lang="en-US" sz="1200" dirty="0">
                <a:solidFill>
                  <a:schemeClr val="tx2"/>
                </a:solidFill>
              </a:rPr>
              <a:t>Revisione non esaustiva: può mancare errori o segnalarne di inesistenti</a:t>
            </a:r>
            <a:endParaRPr lang="en-US" sz="1200" dirty="0"/>
          </a:p>
        </p:txBody>
      </p:sp>
      <p:sp>
        <p:nvSpPr>
          <p:cNvPr id="14" name="scheda Tutor"/>
          <p:cNvSpPr/>
          <p:nvPr/>
        </p:nvSpPr>
        <p:spPr>
          <a:xfrm>
            <a:off x="6071616" y="1097280"/>
            <a:ext cx="2615184" cy="3429000"/>
          </a:xfrm>
          <a:prstGeom prst="roundRect">
            <a:avLst>
              <a:gd name="adj" fmla="val 2797"/>
            </a:avLst>
          </a:prstGeom>
          <a:solidFill>
            <a:schemeClr val="bg2"/>
          </a:solidFill>
          <a:ln/>
        </p:spPr>
      </p:sp>
      <p:sp>
        <p:nvSpPr>
          <p:cNvPr id="15" name="cerchio FiAward"/>
          <p:cNvSpPr/>
          <p:nvPr/>
        </p:nvSpPr>
        <p:spPr>
          <a:xfrm>
            <a:off x="6254496" y="1280160"/>
            <a:ext cx="457200" cy="457200"/>
          </a:xfrm>
          <a:prstGeom prst="ellipse">
            <a:avLst/>
          </a:prstGeom>
          <a:solidFill>
            <a:schemeClr val="accent1"/>
          </a:solidFill>
          <a:ln/>
        </p:spPr>
      </p:sp>
      <p:pic>
        <p:nvPicPr>
          <p:cNvPr id="16" name="Image 2" descr="FiAward">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Tutor</a:t>
            </a:r>
            <a:endParaRPr lang="en-US" sz="1500" dirty="0"/>
          </a:p>
        </p:txBody>
      </p:sp>
      <p:sp>
        <p:nvSpPr>
          <p:cNvPr id="18" name="Text 12"/>
          <p:cNvSpPr txBox="1"/>
          <p:nvPr/>
        </p:nvSpPr>
        <p:spPr>
          <a:xfrm>
            <a:off x="6254496" y="2231136"/>
            <a:ext cx="2249424" cy="2185416"/>
          </a:xfrm>
          <a:prstGeom prst="rect">
            <a:avLst/>
          </a:prstGeom>
          <a:noFill/>
          <a:ln/>
        </p:spPr>
        <p:txBody>
          <a:bodyPr wrap="square" lIns="0" tIns="0" rIns="0" bIns="0" rtlCol="0" anchor="t"/>
          <a:lstStyle/>
          <a:p>
            <a:pPr indent="0" marL="0">
              <a:buNone/>
            </a:pPr>
            <a:r>
              <a:rPr lang="en-US" sz="1200" b="1" dirty="0">
                <a:solidFill>
                  <a:schemeClr val="accent1"/>
                </a:solidFill>
              </a:rPr>
              <a:t>Esempio</a:t>
            </a:r>
            <a:endParaRPr lang="en-US" sz="1200" dirty="0"/>
          </a:p>
          <a:p>
            <a:pPr indent="0" marL="0">
              <a:spcAft>
                <a:spcPts val="1200"/>
              </a:spcAft>
              <a:buNone/>
            </a:pPr>
            <a:r>
              <a:rPr lang="en-US" sz="1200" i="1" dirty="0">
                <a:solidFill>
                  <a:schemeClr val="tx2"/>
                </a:solidFill>
              </a:rPr>
              <a:t>"Insegnami le basi delle tabelle pivot con esempi graduali."</a:t>
            </a:r>
            <a:endParaRPr lang="en-US" sz="1200" dirty="0"/>
          </a:p>
          <a:p>
            <a:pPr indent="0" marL="0">
              <a:buNone/>
            </a:pPr>
            <a:r>
              <a:rPr lang="en-US" sz="1200" b="1" dirty="0">
                <a:solidFill>
                  <a:schemeClr val="accent5"/>
                </a:solidFill>
              </a:rPr>
              <a:t>Cautela</a:t>
            </a:r>
            <a:endParaRPr lang="en-US" sz="1200" dirty="0"/>
          </a:p>
          <a:p>
            <a:pPr indent="0" marL="0">
              <a:buNone/>
            </a:pPr>
            <a:r>
              <a:rPr lang="en-US" sz="1200" dirty="0">
                <a:solidFill>
                  <a:schemeClr val="tx2"/>
                </a:solidFill>
              </a:rPr>
              <a:t>Se si delega tutto, si impara poco: provare in prima persona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L'AI come strumento di confronto critico</a:t>
            </a:r>
            <a:endParaRPr lang="en-US" sz="2600" dirty="0"/>
          </a:p>
        </p:txBody>
      </p:sp>
      <p:sp>
        <p:nvSpPr>
          <p:cNvPr id="4" name="Avvocato del diavolo"/>
          <p:cNvSpPr/>
          <p:nvPr/>
        </p:nvSpPr>
        <p:spPr>
          <a:xfrm>
            <a:off x="457200" y="1051560"/>
            <a:ext cx="8229600" cy="530352"/>
          </a:xfrm>
          <a:prstGeom prst="roundRect">
            <a:avLst>
              <a:gd name="adj" fmla="val 13793"/>
            </a:avLst>
          </a:prstGeom>
          <a:solidFill>
            <a:schemeClr val="bg2"/>
          </a:solidFill>
          <a:ln/>
        </p:spPr>
      </p:sp>
      <p:sp>
        <p:nvSpPr>
          <p:cNvPr id="5" name="cerchio FiShield"/>
          <p:cNvSpPr/>
          <p:nvPr/>
        </p:nvSpPr>
        <p:spPr>
          <a:xfrm>
            <a:off x="548640" y="1115568"/>
            <a:ext cx="402336" cy="402336"/>
          </a:xfrm>
          <a:prstGeom prst="ellipse">
            <a:avLst/>
          </a:prstGeom>
          <a:solidFill>
            <a:schemeClr val="accent1"/>
          </a:solidFill>
          <a:ln/>
        </p:spPr>
      </p:sp>
      <p:pic>
        <p:nvPicPr>
          <p:cNvPr id="6" name="Image 0" descr="FiShield">    </p:cNvPr>
          <p:cNvPicPr>
            <a:picLocks noChangeAspect="1"/>
          </p:cNvPicPr>
          <p:nvPr/>
        </p:nvPicPr>
        <p:blipFill>
          <a:blip r:embed="rId1"/>
          <a:stretch>
            <a:fillRect/>
          </a:stretch>
        </p:blipFill>
        <p:spPr>
          <a:xfrm>
            <a:off x="649224" y="1216152"/>
            <a:ext cx="201168" cy="201168"/>
          </a:xfrm>
          <a:prstGeom prst="rect">
            <a:avLst/>
          </a:prstGeom>
        </p:spPr>
      </p:pic>
      <p:sp>
        <p:nvSpPr>
          <p:cNvPr id="7" name="Text 3"/>
          <p:cNvSpPr txBox="1"/>
          <p:nvPr/>
        </p:nvSpPr>
        <p:spPr>
          <a:xfrm>
            <a:off x="1097280" y="1051560"/>
            <a:ext cx="2377440" cy="530352"/>
          </a:xfrm>
          <a:prstGeom prst="rect">
            <a:avLst/>
          </a:prstGeom>
          <a:noFill/>
          <a:ln/>
        </p:spPr>
        <p:txBody>
          <a:bodyPr wrap="square" lIns="0" tIns="0" rIns="0" bIns="0" rtlCol="0" anchor="ctr"/>
          <a:lstStyle/>
          <a:p>
            <a:pPr indent="0" marL="0">
              <a:buNone/>
            </a:pPr>
            <a:r>
              <a:rPr lang="en-US" sz="1300" b="1" dirty="0">
                <a:solidFill>
                  <a:schemeClr val="tx1"/>
                </a:solidFill>
              </a:rPr>
              <a:t>Avvocato del diavolo</a:t>
            </a:r>
            <a:endParaRPr lang="en-US" sz="1300" dirty="0"/>
          </a:p>
        </p:txBody>
      </p:sp>
      <p:sp>
        <p:nvSpPr>
          <p:cNvPr id="8" name="Text 4"/>
          <p:cNvSpPr txBox="1"/>
          <p:nvPr/>
        </p:nvSpPr>
        <p:spPr>
          <a:xfrm>
            <a:off x="3520440" y="1051560"/>
            <a:ext cx="5074920" cy="530352"/>
          </a:xfrm>
          <a:prstGeom prst="rect">
            <a:avLst/>
          </a:prstGeom>
          <a:noFill/>
          <a:ln/>
        </p:spPr>
        <p:txBody>
          <a:bodyPr wrap="square" lIns="0" tIns="0" rIns="0" bIns="0" rtlCol="0" anchor="ctr"/>
          <a:lstStyle/>
          <a:p>
            <a:pPr indent="0" marL="0">
              <a:buNone/>
            </a:pPr>
            <a:r>
              <a:rPr lang="en-US" sz="1200" i="1" dirty="0">
                <a:solidFill>
                  <a:schemeClr val="tx2"/>
                </a:solidFill>
              </a:rPr>
              <a:t>"Costruisci gli argomenti più forti contro la mia proposta."</a:t>
            </a:r>
            <a:endParaRPr lang="en-US" sz="1200" dirty="0"/>
          </a:p>
        </p:txBody>
      </p:sp>
      <p:sp>
        <p:nvSpPr>
          <p:cNvPr id="9" name="Pre-mortem"/>
          <p:cNvSpPr/>
          <p:nvPr/>
        </p:nvSpPr>
        <p:spPr>
          <a:xfrm>
            <a:off x="457200" y="1655064"/>
            <a:ext cx="8229600" cy="530352"/>
          </a:xfrm>
          <a:prstGeom prst="roundRect">
            <a:avLst>
              <a:gd name="adj" fmla="val 13793"/>
            </a:avLst>
          </a:prstGeom>
          <a:solidFill>
            <a:schemeClr val="bg1"/>
          </a:solidFill>
          <a:ln/>
        </p:spPr>
      </p:sp>
      <p:sp>
        <p:nvSpPr>
          <p:cNvPr id="10" name="cerchio FiAlertTriangle"/>
          <p:cNvSpPr/>
          <p:nvPr/>
        </p:nvSpPr>
        <p:spPr>
          <a:xfrm>
            <a:off x="548640" y="1719072"/>
            <a:ext cx="402336" cy="402336"/>
          </a:xfrm>
          <a:prstGeom prst="ellipse">
            <a:avLst/>
          </a:prstGeom>
          <a:solidFill>
            <a:schemeClr val="accent1"/>
          </a:solidFill>
          <a:ln/>
        </p:spPr>
      </p:sp>
      <p:pic>
        <p:nvPicPr>
          <p:cNvPr id="11" name="Image 1" descr="FiAlertTriangle">    </p:cNvPr>
          <p:cNvPicPr>
            <a:picLocks noChangeAspect="1"/>
          </p:cNvPicPr>
          <p:nvPr/>
        </p:nvPicPr>
        <p:blipFill>
          <a:blip r:embed="rId2"/>
          <a:stretch>
            <a:fillRect/>
          </a:stretch>
        </p:blipFill>
        <p:spPr>
          <a:xfrm>
            <a:off x="649224" y="1819656"/>
            <a:ext cx="201168" cy="201168"/>
          </a:xfrm>
          <a:prstGeom prst="rect">
            <a:avLst/>
          </a:prstGeom>
        </p:spPr>
      </p:pic>
      <p:sp>
        <p:nvSpPr>
          <p:cNvPr id="12" name="Text 7"/>
          <p:cNvSpPr txBox="1"/>
          <p:nvPr/>
        </p:nvSpPr>
        <p:spPr>
          <a:xfrm>
            <a:off x="1097280" y="1655064"/>
            <a:ext cx="2377440" cy="530352"/>
          </a:xfrm>
          <a:prstGeom prst="rect">
            <a:avLst/>
          </a:prstGeom>
          <a:noFill/>
          <a:ln/>
        </p:spPr>
        <p:txBody>
          <a:bodyPr wrap="square" lIns="0" tIns="0" rIns="0" bIns="0" rtlCol="0" anchor="ctr"/>
          <a:lstStyle/>
          <a:p>
            <a:pPr indent="0" marL="0">
              <a:buNone/>
            </a:pPr>
            <a:r>
              <a:rPr lang="en-US" sz="1300" b="1" dirty="0">
                <a:solidFill>
                  <a:schemeClr val="tx1"/>
                </a:solidFill>
              </a:rPr>
              <a:t>Pre-mortem</a:t>
            </a:r>
            <a:endParaRPr lang="en-US" sz="1300" dirty="0"/>
          </a:p>
        </p:txBody>
      </p:sp>
      <p:sp>
        <p:nvSpPr>
          <p:cNvPr id="13" name="Text 8"/>
          <p:cNvSpPr txBox="1"/>
          <p:nvPr/>
        </p:nvSpPr>
        <p:spPr>
          <a:xfrm>
            <a:off x="3520440" y="1655064"/>
            <a:ext cx="5074920" cy="530352"/>
          </a:xfrm>
          <a:prstGeom prst="rect">
            <a:avLst/>
          </a:prstGeom>
          <a:noFill/>
          <a:ln/>
        </p:spPr>
        <p:txBody>
          <a:bodyPr wrap="square" lIns="0" tIns="0" rIns="0" bIns="0" rtlCol="0" anchor="ctr"/>
          <a:lstStyle/>
          <a:p>
            <a:pPr indent="0" marL="0">
              <a:buNone/>
            </a:pPr>
            <a:r>
              <a:rPr lang="en-US" sz="1200" i="1" dirty="0">
                <a:solidFill>
                  <a:schemeClr val="tx2"/>
                </a:solidFill>
              </a:rPr>
              <a:t>"Immagina che il progetto sia fallito: quali le cause più probabili?"</a:t>
            </a:r>
            <a:endParaRPr lang="en-US" sz="1200" dirty="0"/>
          </a:p>
        </p:txBody>
      </p:sp>
      <p:sp>
        <p:nvSpPr>
          <p:cNvPr id="14" name="Prospettive diverse"/>
          <p:cNvSpPr/>
          <p:nvPr/>
        </p:nvSpPr>
        <p:spPr>
          <a:xfrm>
            <a:off x="457200" y="2258568"/>
            <a:ext cx="8229600" cy="530352"/>
          </a:xfrm>
          <a:prstGeom prst="roundRect">
            <a:avLst>
              <a:gd name="adj" fmla="val 13793"/>
            </a:avLst>
          </a:prstGeom>
          <a:solidFill>
            <a:schemeClr val="bg2"/>
          </a:solidFill>
          <a:ln/>
        </p:spPr>
      </p:sp>
      <p:sp>
        <p:nvSpPr>
          <p:cNvPr id="15" name="cerchio FiUsers"/>
          <p:cNvSpPr/>
          <p:nvPr/>
        </p:nvSpPr>
        <p:spPr>
          <a:xfrm>
            <a:off x="548640" y="2322576"/>
            <a:ext cx="402336" cy="402336"/>
          </a:xfrm>
          <a:prstGeom prst="ellipse">
            <a:avLst/>
          </a:prstGeom>
          <a:solidFill>
            <a:schemeClr val="accent1"/>
          </a:solidFill>
          <a:ln/>
        </p:spPr>
      </p:sp>
      <p:pic>
        <p:nvPicPr>
          <p:cNvPr id="16" name="Image 2" descr="FiUsers">    </p:cNvPr>
          <p:cNvPicPr>
            <a:picLocks noChangeAspect="1"/>
          </p:cNvPicPr>
          <p:nvPr/>
        </p:nvPicPr>
        <p:blipFill>
          <a:blip r:embed="rId3"/>
          <a:stretch>
            <a:fillRect/>
          </a:stretch>
        </p:blipFill>
        <p:spPr>
          <a:xfrm>
            <a:off x="649224" y="2423160"/>
            <a:ext cx="201168" cy="201168"/>
          </a:xfrm>
          <a:prstGeom prst="rect">
            <a:avLst/>
          </a:prstGeom>
        </p:spPr>
      </p:pic>
      <p:sp>
        <p:nvSpPr>
          <p:cNvPr id="17" name="Text 11"/>
          <p:cNvSpPr txBox="1"/>
          <p:nvPr/>
        </p:nvSpPr>
        <p:spPr>
          <a:xfrm>
            <a:off x="1097280" y="2258568"/>
            <a:ext cx="2377440" cy="530352"/>
          </a:xfrm>
          <a:prstGeom prst="rect">
            <a:avLst/>
          </a:prstGeom>
          <a:noFill/>
          <a:ln/>
        </p:spPr>
        <p:txBody>
          <a:bodyPr wrap="square" lIns="0" tIns="0" rIns="0" bIns="0" rtlCol="0" anchor="ctr"/>
          <a:lstStyle/>
          <a:p>
            <a:pPr indent="0" marL="0">
              <a:buNone/>
            </a:pPr>
            <a:r>
              <a:rPr lang="en-US" sz="1300" b="1" dirty="0">
                <a:solidFill>
                  <a:schemeClr val="tx1"/>
                </a:solidFill>
              </a:rPr>
              <a:t>Prospettive diverse</a:t>
            </a:r>
            <a:endParaRPr lang="en-US" sz="1300" dirty="0"/>
          </a:p>
        </p:txBody>
      </p:sp>
      <p:sp>
        <p:nvSpPr>
          <p:cNvPr id="18" name="Text 12"/>
          <p:cNvSpPr txBox="1"/>
          <p:nvPr/>
        </p:nvSpPr>
        <p:spPr>
          <a:xfrm>
            <a:off x="3520440" y="2258568"/>
            <a:ext cx="5074920" cy="530352"/>
          </a:xfrm>
          <a:prstGeom prst="rect">
            <a:avLst/>
          </a:prstGeom>
          <a:noFill/>
          <a:ln/>
        </p:spPr>
        <p:txBody>
          <a:bodyPr wrap="square" lIns="0" tIns="0" rIns="0" bIns="0" rtlCol="0" anchor="ctr"/>
          <a:lstStyle/>
          <a:p>
            <a:pPr indent="0" marL="0">
              <a:buNone/>
            </a:pPr>
            <a:r>
              <a:rPr lang="en-US" sz="1200" i="1" dirty="0">
                <a:solidFill>
                  <a:schemeClr val="tx2"/>
                </a:solidFill>
              </a:rPr>
              <a:t>"Come la valuterebbero un cliente, un fornitore, l'amministrazione?"</a:t>
            </a:r>
            <a:endParaRPr lang="en-US" sz="1200" dirty="0"/>
          </a:p>
        </p:txBody>
      </p:sp>
      <p:sp>
        <p:nvSpPr>
          <p:cNvPr id="19" name="Alternative"/>
          <p:cNvSpPr/>
          <p:nvPr/>
        </p:nvSpPr>
        <p:spPr>
          <a:xfrm>
            <a:off x="457200" y="2862072"/>
            <a:ext cx="8229600" cy="530352"/>
          </a:xfrm>
          <a:prstGeom prst="roundRect">
            <a:avLst>
              <a:gd name="adj" fmla="val 13793"/>
            </a:avLst>
          </a:prstGeom>
          <a:solidFill>
            <a:schemeClr val="bg1"/>
          </a:solidFill>
          <a:ln/>
        </p:spPr>
      </p:sp>
      <p:sp>
        <p:nvSpPr>
          <p:cNvPr id="20" name="cerchio FiShuffle"/>
          <p:cNvSpPr/>
          <p:nvPr/>
        </p:nvSpPr>
        <p:spPr>
          <a:xfrm>
            <a:off x="548640" y="2926080"/>
            <a:ext cx="402336" cy="402336"/>
          </a:xfrm>
          <a:prstGeom prst="ellipse">
            <a:avLst/>
          </a:prstGeom>
          <a:solidFill>
            <a:schemeClr val="accent1"/>
          </a:solidFill>
          <a:ln/>
        </p:spPr>
      </p:sp>
      <p:pic>
        <p:nvPicPr>
          <p:cNvPr id="21" name="Image 3" descr="FiShuffle">    </p:cNvPr>
          <p:cNvPicPr>
            <a:picLocks noChangeAspect="1"/>
          </p:cNvPicPr>
          <p:nvPr/>
        </p:nvPicPr>
        <p:blipFill>
          <a:blip r:embed="rId4"/>
          <a:stretch>
            <a:fillRect/>
          </a:stretch>
        </p:blipFill>
        <p:spPr>
          <a:xfrm>
            <a:off x="649224" y="3026664"/>
            <a:ext cx="201168" cy="201168"/>
          </a:xfrm>
          <a:prstGeom prst="rect">
            <a:avLst/>
          </a:prstGeom>
        </p:spPr>
      </p:pic>
      <p:sp>
        <p:nvSpPr>
          <p:cNvPr id="22" name="Text 15"/>
          <p:cNvSpPr txBox="1"/>
          <p:nvPr/>
        </p:nvSpPr>
        <p:spPr>
          <a:xfrm>
            <a:off x="1097280" y="2862072"/>
            <a:ext cx="2377440" cy="530352"/>
          </a:xfrm>
          <a:prstGeom prst="rect">
            <a:avLst/>
          </a:prstGeom>
          <a:noFill/>
          <a:ln/>
        </p:spPr>
        <p:txBody>
          <a:bodyPr wrap="square" lIns="0" tIns="0" rIns="0" bIns="0" rtlCol="0" anchor="ctr"/>
          <a:lstStyle/>
          <a:p>
            <a:pPr indent="0" marL="0">
              <a:buNone/>
            </a:pPr>
            <a:r>
              <a:rPr lang="en-US" sz="1300" b="1" dirty="0">
                <a:solidFill>
                  <a:schemeClr val="tx1"/>
                </a:solidFill>
              </a:rPr>
              <a:t>Alternative</a:t>
            </a:r>
            <a:endParaRPr lang="en-US" sz="1300" dirty="0"/>
          </a:p>
        </p:txBody>
      </p:sp>
      <p:sp>
        <p:nvSpPr>
          <p:cNvPr id="23" name="Text 16"/>
          <p:cNvSpPr txBox="1"/>
          <p:nvPr/>
        </p:nvSpPr>
        <p:spPr>
          <a:xfrm>
            <a:off x="3520440" y="2862072"/>
            <a:ext cx="5074920" cy="530352"/>
          </a:xfrm>
          <a:prstGeom prst="rect">
            <a:avLst/>
          </a:prstGeom>
          <a:noFill/>
          <a:ln/>
        </p:spPr>
        <p:txBody>
          <a:bodyPr wrap="square" lIns="0" tIns="0" rIns="0" bIns="0" rtlCol="0" anchor="ctr"/>
          <a:lstStyle/>
          <a:p>
            <a:pPr indent="0" marL="0">
              <a:buNone/>
            </a:pPr>
            <a:r>
              <a:rPr lang="en-US" sz="1200" i="1" dirty="0">
                <a:solidFill>
                  <a:schemeClr val="tx2"/>
                </a:solidFill>
              </a:rPr>
              <a:t>"Quali altre strade per lo stesso obiettivo?"</a:t>
            </a:r>
            <a:endParaRPr lang="en-US" sz="1200" dirty="0"/>
          </a:p>
        </p:txBody>
      </p:sp>
      <p:sp>
        <p:nvSpPr>
          <p:cNvPr id="24" name="Assunzioni nascoste"/>
          <p:cNvSpPr/>
          <p:nvPr/>
        </p:nvSpPr>
        <p:spPr>
          <a:xfrm>
            <a:off x="457200" y="3465576"/>
            <a:ext cx="8229600" cy="530352"/>
          </a:xfrm>
          <a:prstGeom prst="roundRect">
            <a:avLst>
              <a:gd name="adj" fmla="val 13793"/>
            </a:avLst>
          </a:prstGeom>
          <a:solidFill>
            <a:schemeClr val="bg2"/>
          </a:solidFill>
          <a:ln/>
        </p:spPr>
      </p:sp>
      <p:sp>
        <p:nvSpPr>
          <p:cNvPr id="25" name="cerchio FiEye"/>
          <p:cNvSpPr/>
          <p:nvPr/>
        </p:nvSpPr>
        <p:spPr>
          <a:xfrm>
            <a:off x="548640" y="3529584"/>
            <a:ext cx="402336" cy="402336"/>
          </a:xfrm>
          <a:prstGeom prst="ellipse">
            <a:avLst/>
          </a:prstGeom>
          <a:solidFill>
            <a:schemeClr val="accent1"/>
          </a:solidFill>
          <a:ln/>
        </p:spPr>
      </p:sp>
      <p:pic>
        <p:nvPicPr>
          <p:cNvPr id="26" name="Image 4" descr="FiEye">    </p:cNvPr>
          <p:cNvPicPr>
            <a:picLocks noChangeAspect="1"/>
          </p:cNvPicPr>
          <p:nvPr/>
        </p:nvPicPr>
        <p:blipFill>
          <a:blip r:embed="rId5"/>
          <a:stretch>
            <a:fillRect/>
          </a:stretch>
        </p:blipFill>
        <p:spPr>
          <a:xfrm>
            <a:off x="649224" y="3630168"/>
            <a:ext cx="201168" cy="201168"/>
          </a:xfrm>
          <a:prstGeom prst="rect">
            <a:avLst/>
          </a:prstGeom>
        </p:spPr>
      </p:pic>
      <p:sp>
        <p:nvSpPr>
          <p:cNvPr id="27" name="Text 19"/>
          <p:cNvSpPr txBox="1"/>
          <p:nvPr/>
        </p:nvSpPr>
        <p:spPr>
          <a:xfrm>
            <a:off x="1097280" y="3465576"/>
            <a:ext cx="2377440" cy="530352"/>
          </a:xfrm>
          <a:prstGeom prst="rect">
            <a:avLst/>
          </a:prstGeom>
          <a:noFill/>
          <a:ln/>
        </p:spPr>
        <p:txBody>
          <a:bodyPr wrap="square" lIns="0" tIns="0" rIns="0" bIns="0" rtlCol="0" anchor="ctr"/>
          <a:lstStyle/>
          <a:p>
            <a:pPr indent="0" marL="0">
              <a:buNone/>
            </a:pPr>
            <a:r>
              <a:rPr lang="en-US" sz="1300" b="1" dirty="0">
                <a:solidFill>
                  <a:schemeClr val="tx1"/>
                </a:solidFill>
              </a:rPr>
              <a:t>Assunzioni nascoste</a:t>
            </a:r>
            <a:endParaRPr lang="en-US" sz="1300" dirty="0"/>
          </a:p>
        </p:txBody>
      </p:sp>
      <p:sp>
        <p:nvSpPr>
          <p:cNvPr id="28" name="Text 20"/>
          <p:cNvSpPr txBox="1"/>
          <p:nvPr/>
        </p:nvSpPr>
        <p:spPr>
          <a:xfrm>
            <a:off x="3520440" y="3465576"/>
            <a:ext cx="5074920" cy="530352"/>
          </a:xfrm>
          <a:prstGeom prst="rect">
            <a:avLst/>
          </a:prstGeom>
          <a:noFill/>
          <a:ln/>
        </p:spPr>
        <p:txBody>
          <a:bodyPr wrap="square" lIns="0" tIns="0" rIns="0" bIns="0" rtlCol="0" anchor="ctr"/>
          <a:lstStyle/>
          <a:p>
            <a:pPr indent="0" marL="0">
              <a:buNone/>
            </a:pPr>
            <a:r>
              <a:rPr lang="en-US" sz="1200" i="1" dirty="0">
                <a:solidFill>
                  <a:schemeClr val="tx2"/>
                </a:solidFill>
              </a:rPr>
              <a:t>"Che cosa sto dando per scontato?"</a:t>
            </a:r>
            <a:endParaRPr lang="en-US" sz="1200" dirty="0"/>
          </a:p>
        </p:txBody>
      </p:sp>
      <p:sp>
        <p:nvSpPr>
          <p:cNvPr id="29" name="messaggio"/>
          <p:cNvSpPr/>
          <p:nvPr/>
        </p:nvSpPr>
        <p:spPr>
          <a:xfrm>
            <a:off x="457200" y="4114800"/>
            <a:ext cx="8229600" cy="457200"/>
          </a:xfrm>
          <a:prstGeom prst="roundRect">
            <a:avLst>
              <a:gd name="adj" fmla="val 16000"/>
            </a:avLst>
          </a:prstGeom>
          <a:solidFill>
            <a:schemeClr val="tx1"/>
          </a:solidFill>
          <a:ln/>
        </p:spPr>
      </p:sp>
      <p:sp>
        <p:nvSpPr>
          <p:cNvPr id="30" name="Text 22"/>
          <p:cNvSpPr txBox="1"/>
          <p:nvPr/>
        </p:nvSpPr>
        <p:spPr>
          <a:xfrm>
            <a:off x="640080" y="4114800"/>
            <a:ext cx="7863840" cy="457200"/>
          </a:xfrm>
          <a:prstGeom prst="rect">
            <a:avLst/>
          </a:prstGeom>
          <a:noFill/>
          <a:ln/>
        </p:spPr>
        <p:txBody>
          <a:bodyPr wrap="square" lIns="0" tIns="0" rIns="0" bIns="0" rtlCol="0" anchor="ctr"/>
          <a:lstStyle/>
          <a:p>
            <a:pPr indent="0" marL="0">
              <a:buNone/>
            </a:pPr>
            <a:r>
              <a:rPr lang="en-US" sz="1300" dirty="0">
                <a:solidFill>
                  <a:schemeClr val="bg1"/>
                </a:solidFill>
              </a:rPr>
              <a:t>Anche le critiche dell'AI vanno valutate: il valore sta nello stimolo al ragionamento.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Ruolo assegnato e competenza effettiva</a:t>
            </a:r>
            <a:endParaRPr lang="en-US" sz="2600" dirty="0"/>
          </a:p>
        </p:txBody>
      </p:sp>
      <p:sp>
        <p:nvSpPr>
          <p:cNvPr id="4" name="scheda Il ruolo orienta"/>
          <p:cNvSpPr/>
          <p:nvPr/>
        </p:nvSpPr>
        <p:spPr>
          <a:xfrm>
            <a:off x="457200" y="1097280"/>
            <a:ext cx="3977640" cy="2651760"/>
          </a:xfrm>
          <a:prstGeom prst="roundRect">
            <a:avLst>
              <a:gd name="adj" fmla="val 2759"/>
            </a:avLst>
          </a:prstGeom>
          <a:solidFill>
            <a:schemeClr val="accent6"/>
          </a:solidFill>
          <a:ln/>
        </p:spPr>
      </p:sp>
      <p:sp>
        <p:nvSpPr>
          <p:cNvPr id="5" name="cerchio FiCheckCircle"/>
          <p:cNvSpPr/>
          <p:nvPr/>
        </p:nvSpPr>
        <p:spPr>
          <a:xfrm>
            <a:off x="640080" y="1280160"/>
            <a:ext cx="457200" cy="457200"/>
          </a:xfrm>
          <a:prstGeom prst="ellipse">
            <a:avLst/>
          </a:prstGeom>
          <a:solidFill>
            <a:schemeClr val="accent1"/>
          </a:solidFill>
          <a:ln/>
        </p:spPr>
      </p:sp>
      <p:pic>
        <p:nvPicPr>
          <p:cNvPr id="6" name="Image 0" descr="FiCheckCircle">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Il ruolo orienta</a:t>
            </a:r>
            <a:endParaRPr lang="en-US" sz="1600" dirty="0"/>
          </a:p>
        </p:txBody>
      </p:sp>
      <p:sp>
        <p:nvSpPr>
          <p:cNvPr id="8" name="Text 4"/>
          <p:cNvSpPr txBox="1"/>
          <p:nvPr/>
        </p:nvSpPr>
        <p:spPr>
          <a:xfrm>
            <a:off x="640080" y="2231136"/>
            <a:ext cx="3611880" cy="140817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Tono e lessico</a:t>
            </a:r>
            <a:endParaRPr lang="en-US" sz="1300" dirty="0"/>
          </a:p>
          <a:p>
            <a:pPr marL="177800" indent="-177800">
              <a:spcAft>
                <a:spcPts val="400"/>
              </a:spcAft>
              <a:buSzPct val="100000"/>
              <a:buChar char="•"/>
            </a:pPr>
            <a:r>
              <a:rPr lang="en-US" sz="1300" dirty="0">
                <a:solidFill>
                  <a:schemeClr val="tx2"/>
                </a:solidFill>
              </a:rPr>
              <a:t>Livello di dettaglio</a:t>
            </a:r>
            <a:endParaRPr lang="en-US" sz="1300" dirty="0"/>
          </a:p>
          <a:p>
            <a:pPr marL="177800" indent="-177800">
              <a:spcAft>
                <a:spcPts val="400"/>
              </a:spcAft>
              <a:buSzPct val="100000"/>
              <a:buChar char="•"/>
            </a:pPr>
            <a:r>
              <a:rPr lang="en-US" sz="1300" dirty="0">
                <a:solidFill>
                  <a:schemeClr val="tx2"/>
                </a:solidFill>
              </a:rPr>
              <a:t>Prospettiva e aspetti considerati</a:t>
            </a:r>
            <a:endParaRPr lang="en-US" sz="1300" dirty="0"/>
          </a:p>
        </p:txBody>
      </p:sp>
      <p:sp>
        <p:nvSpPr>
          <p:cNvPr id="9" name="scheda Il ruolo non conferisce"/>
          <p:cNvSpPr/>
          <p:nvPr/>
        </p:nvSpPr>
        <p:spPr>
          <a:xfrm>
            <a:off x="4709160" y="1097280"/>
            <a:ext cx="3977640" cy="2651760"/>
          </a:xfrm>
          <a:prstGeom prst="roundRect">
            <a:avLst>
              <a:gd name="adj" fmla="val 2759"/>
            </a:avLst>
          </a:prstGeom>
          <a:solidFill>
            <a:schemeClr val="bg2"/>
          </a:solidFill>
          <a:ln/>
        </p:spPr>
      </p:sp>
      <p:sp>
        <p:nvSpPr>
          <p:cNvPr id="10" name="cerchio FiXCircle"/>
          <p:cNvSpPr/>
          <p:nvPr/>
        </p:nvSpPr>
        <p:spPr>
          <a:xfrm>
            <a:off x="4892040" y="1280160"/>
            <a:ext cx="457200" cy="457200"/>
          </a:xfrm>
          <a:prstGeom prst="ellipse">
            <a:avLst/>
          </a:prstGeom>
          <a:solidFill>
            <a:schemeClr val="accent5"/>
          </a:solidFill>
          <a:ln/>
        </p:spPr>
      </p:sp>
      <p:pic>
        <p:nvPicPr>
          <p:cNvPr id="11" name="Image 1" descr="FiXCircle">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Il ruolo non conferisce</a:t>
            </a:r>
            <a:endParaRPr lang="en-US" sz="1600" dirty="0"/>
          </a:p>
        </p:txBody>
      </p:sp>
      <p:sp>
        <p:nvSpPr>
          <p:cNvPr id="13" name="Text 8"/>
          <p:cNvSpPr txBox="1"/>
          <p:nvPr/>
        </p:nvSpPr>
        <p:spPr>
          <a:xfrm>
            <a:off x="4892040" y="2231136"/>
            <a:ext cx="3611880" cy="140817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Conoscenze aggiornate e verificate</a:t>
            </a:r>
            <a:endParaRPr lang="en-US" sz="1300" dirty="0"/>
          </a:p>
          <a:p>
            <a:pPr marL="177800" indent="-177800">
              <a:spcAft>
                <a:spcPts val="400"/>
              </a:spcAft>
              <a:buSzPct val="100000"/>
              <a:buChar char="•"/>
            </a:pPr>
            <a:r>
              <a:rPr lang="en-US" sz="1300" dirty="0">
                <a:solidFill>
                  <a:schemeClr val="tx2"/>
                </a:solidFill>
              </a:rPr>
              <a:t>Capacità di valutare il caso concreto</a:t>
            </a:r>
            <a:endParaRPr lang="en-US" sz="1300" dirty="0"/>
          </a:p>
          <a:p>
            <a:pPr marL="177800" indent="-177800">
              <a:spcAft>
                <a:spcPts val="400"/>
              </a:spcAft>
              <a:buSzPct val="100000"/>
              <a:buChar char="•"/>
            </a:pPr>
            <a:r>
              <a:rPr lang="en-US" sz="1300" dirty="0">
                <a:solidFill>
                  <a:schemeClr val="tx2"/>
                </a:solidFill>
              </a:rPr>
              <a:t>Esperienza e responsabilità professionale</a:t>
            </a:r>
            <a:endParaRPr lang="en-US" sz="1300" dirty="0"/>
          </a:p>
        </p:txBody>
      </p:sp>
      <p:sp>
        <p:nvSpPr>
          <p:cNvPr id="14" name="messaggio"/>
          <p:cNvSpPr/>
          <p:nvPr/>
        </p:nvSpPr>
        <p:spPr>
          <a:xfrm>
            <a:off x="457200" y="3931920"/>
            <a:ext cx="8229600" cy="594360"/>
          </a:xfrm>
          <a:prstGeom prst="roundRect">
            <a:avLst>
              <a:gd name="adj" fmla="val 12308"/>
            </a:avLst>
          </a:prstGeom>
          <a:solidFill>
            <a:schemeClr val="tx1"/>
          </a:solidFill>
          <a:ln/>
        </p:spPr>
      </p:sp>
      <p:sp>
        <p:nvSpPr>
          <p:cNvPr id="15" name="Text 10"/>
          <p:cNvSpPr txBox="1"/>
          <p:nvPr/>
        </p:nvSpPr>
        <p:spPr>
          <a:xfrm>
            <a:off x="640080" y="3931920"/>
            <a:ext cx="7863840" cy="594360"/>
          </a:xfrm>
          <a:prstGeom prst="rect">
            <a:avLst/>
          </a:prstGeom>
          <a:noFill/>
          <a:ln/>
        </p:spPr>
        <p:txBody>
          <a:bodyPr wrap="square" lIns="0" tIns="0" rIns="0" bIns="0" rtlCol="0" anchor="ctr"/>
          <a:lstStyle/>
          <a:p>
            <a:pPr indent="0" marL="0">
              <a:buNone/>
            </a:pPr>
            <a:r>
              <a:rPr lang="en-US" sz="1300" dirty="0">
                <a:solidFill>
                  <a:schemeClr val="bg1"/>
                </a:solidFill>
              </a:rPr>
              <a:t>"Sei un avvocato esperto" produce testi nello stile di un avvocato, non la competenza di un avvocato.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Assegnare un ruolo all'AI può orientarne il comportamento, ma non garantisce che abbia le competenze richieste.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5.3  ·  I diversi ruoli che l'AI può assumere</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5.4</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La collaborazione uomo-AI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Il valore può nascere dalla combinazione delle capacità del sistema con quelle della persona, senza sostituire il giudizio umano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Ottenere una risposta o collaborare</a:t>
            </a:r>
            <a:endParaRPr lang="en-US" sz="2600" dirty="0"/>
          </a:p>
        </p:txBody>
      </p:sp>
      <p:sp>
        <p:nvSpPr>
          <p:cNvPr id="4" name="scheda Ottenere una risposta"/>
          <p:cNvSpPr/>
          <p:nvPr/>
        </p:nvSpPr>
        <p:spPr>
          <a:xfrm>
            <a:off x="457200" y="1097280"/>
            <a:ext cx="3977640" cy="3429000"/>
          </a:xfrm>
          <a:prstGeom prst="roundRect">
            <a:avLst>
              <a:gd name="adj" fmla="val 2133"/>
            </a:avLst>
          </a:prstGeom>
          <a:solidFill>
            <a:schemeClr val="bg2"/>
          </a:solidFill>
          <a:ln/>
        </p:spPr>
      </p:sp>
      <p:sp>
        <p:nvSpPr>
          <p:cNvPr id="5" name="cerchio FiDownload"/>
          <p:cNvSpPr/>
          <p:nvPr/>
        </p:nvSpPr>
        <p:spPr>
          <a:xfrm>
            <a:off x="640080" y="1280160"/>
            <a:ext cx="457200" cy="457200"/>
          </a:xfrm>
          <a:prstGeom prst="ellipse">
            <a:avLst/>
          </a:prstGeom>
          <a:solidFill>
            <a:schemeClr val="accent1"/>
          </a:solidFill>
          <a:ln/>
        </p:spPr>
      </p:sp>
      <p:pic>
        <p:nvPicPr>
          <p:cNvPr id="6" name="Image 0" descr="FiDownload">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Ottenere una risposta</a:t>
            </a:r>
            <a:endParaRPr lang="en-US" sz="160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indent="0" marL="0">
              <a:spcAft>
                <a:spcPts val="800"/>
              </a:spcAft>
              <a:buNone/>
            </a:pPr>
            <a:r>
              <a:rPr lang="en-US" sz="1200" b="1" dirty="0">
                <a:solidFill>
                  <a:schemeClr val="tx1"/>
                </a:solidFill>
              </a:rPr>
              <a:t>L'AI fornisce un risultato</a:t>
            </a:r>
            <a:endParaRPr lang="en-US" sz="1200" dirty="0"/>
          </a:p>
          <a:p>
            <a:pPr indent="0" marL="0">
              <a:buNone/>
            </a:pPr>
            <a:r>
              <a:rPr lang="en-US" sz="1200" b="1" dirty="0">
                <a:solidFill>
                  <a:schemeClr val="accent2"/>
                </a:solidFill>
              </a:rPr>
              <a:t>Esempio: </a:t>
            </a:r>
            <a:pPr indent="0" marL="0">
              <a:buNone/>
            </a:pPr>
            <a:r>
              <a:rPr lang="en-US" sz="1200" dirty="0">
                <a:solidFill>
                  <a:schemeClr val="tx2"/>
                </a:solidFill>
              </a:rPr>
              <a:t>si incollano i feedback dei clienti, si chiede "analizzali", si copia il risultato.</a:t>
            </a:r>
            <a:endParaRPr lang="en-US" sz="1200" dirty="0"/>
          </a:p>
        </p:txBody>
      </p:sp>
      <p:sp>
        <p:nvSpPr>
          <p:cNvPr id="9" name="scheda Collaborare"/>
          <p:cNvSpPr/>
          <p:nvPr/>
        </p:nvSpPr>
        <p:spPr>
          <a:xfrm>
            <a:off x="4709160" y="1097280"/>
            <a:ext cx="3977640" cy="3429000"/>
          </a:xfrm>
          <a:prstGeom prst="roundRect">
            <a:avLst>
              <a:gd name="adj" fmla="val 2133"/>
            </a:avLst>
          </a:prstGeom>
          <a:solidFill>
            <a:schemeClr val="accent6"/>
          </a:solidFill>
          <a:ln/>
        </p:spPr>
      </p:sp>
      <p:sp>
        <p:nvSpPr>
          <p:cNvPr id="10" name="cerchio FiUsers"/>
          <p:cNvSpPr/>
          <p:nvPr/>
        </p:nvSpPr>
        <p:spPr>
          <a:xfrm>
            <a:off x="4892040" y="1280160"/>
            <a:ext cx="457200" cy="457200"/>
          </a:xfrm>
          <a:prstGeom prst="ellipse">
            <a:avLst/>
          </a:prstGeom>
          <a:solidFill>
            <a:schemeClr val="accent1"/>
          </a:solidFill>
          <a:ln/>
        </p:spPr>
      </p:sp>
      <p:pic>
        <p:nvPicPr>
          <p:cNvPr id="11" name="Image 1" descr="FiUsers">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Collaborare</a:t>
            </a:r>
            <a:endParaRPr lang="en-US" sz="160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indent="0" marL="0">
              <a:spcAft>
                <a:spcPts val="800"/>
              </a:spcAft>
              <a:buNone/>
            </a:pPr>
            <a:r>
              <a:rPr lang="en-US" sz="1200" b="1" dirty="0">
                <a:solidFill>
                  <a:schemeClr val="tx1"/>
                </a:solidFill>
              </a:rPr>
              <a:t>Si lavora insieme, ognuno con ciò che sa fare meglio</a:t>
            </a:r>
            <a:endParaRPr lang="en-US" sz="1200" dirty="0"/>
          </a:p>
          <a:p>
            <a:pPr marL="177800" indent="-177800">
              <a:spcAft>
                <a:spcPts val="200"/>
              </a:spcAft>
              <a:buSzPct val="100000"/>
              <a:buChar char="•"/>
            </a:pPr>
            <a:r>
              <a:rPr lang="en-US" sz="1200" dirty="0">
                <a:solidFill>
                  <a:schemeClr val="tx2"/>
                </a:solidFill>
              </a:rPr>
              <a:t>La persona definisce le domande</a:t>
            </a:r>
            <a:endParaRPr lang="en-US" sz="1200" dirty="0"/>
          </a:p>
          <a:p>
            <a:pPr marL="177800" indent="-177800">
              <a:spcAft>
                <a:spcPts val="200"/>
              </a:spcAft>
              <a:buSzPct val="100000"/>
              <a:buChar char="•"/>
            </a:pPr>
            <a:r>
              <a:rPr lang="en-US" sz="1200" dirty="0">
                <a:solidFill>
                  <a:schemeClr val="tx2"/>
                </a:solidFill>
              </a:rPr>
              <a:t>L'AI propone una classificazione</a:t>
            </a:r>
            <a:endParaRPr lang="en-US" sz="1200" dirty="0"/>
          </a:p>
          <a:p>
            <a:pPr marL="177800" indent="-177800">
              <a:spcAft>
                <a:spcPts val="200"/>
              </a:spcAft>
              <a:buSzPct val="100000"/>
              <a:buChar char="•"/>
            </a:pPr>
            <a:r>
              <a:rPr lang="en-US" sz="1200" dirty="0">
                <a:solidFill>
                  <a:schemeClr val="tx2"/>
                </a:solidFill>
              </a:rPr>
              <a:t>La persona la corregge con la sua conoscenza</a:t>
            </a:r>
            <a:endParaRPr lang="en-US" sz="1200" dirty="0"/>
          </a:p>
          <a:p>
            <a:pPr marL="177800" indent="-177800">
              <a:spcAft>
                <a:spcPts val="200"/>
              </a:spcAft>
              <a:buSzPct val="100000"/>
              <a:buChar char="•"/>
            </a:pPr>
            <a:r>
              <a:rPr lang="en-US" sz="1200" dirty="0">
                <a:solidFill>
                  <a:schemeClr val="tx2"/>
                </a:solidFill>
              </a:rPr>
              <a:t>L'AI conta e sintetizza</a:t>
            </a:r>
            <a:endParaRPr lang="en-US" sz="1200" dirty="0"/>
          </a:p>
          <a:p>
            <a:pPr marL="177800" indent="-177800">
              <a:spcAft>
                <a:spcPts val="200"/>
              </a:spcAft>
              <a:buSzPct val="100000"/>
              <a:buChar char="•"/>
            </a:pPr>
            <a:r>
              <a:rPr lang="en-US" sz="1200" dirty="0">
                <a:solidFill>
                  <a:schemeClr val="tx2"/>
                </a:solidFill>
              </a:rPr>
              <a:t>La persona verifica e conclude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Suddividere le attività tra persona e sistema</a:t>
            </a:r>
            <a:endParaRPr lang="en-US" sz="26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560320"/>
                <a:gridCol w="2834640"/>
                <a:gridCol w="2834640"/>
              </a:tblGrid>
              <a:tr h="502920">
                <a:tc>
                  <a:txBody>
                    <a:bodyPr/>
                    <a:lstStyle/>
                    <a:p>
                      <a:pPr indent="0" marL="0">
                        <a:buNone/>
                      </a:pPr>
                      <a:r>
                        <a:rPr lang="en-US" sz="1300" b="1" dirty="0">
                          <a:solidFill>
                            <a:schemeClr val="bg1"/>
                          </a:solidFill>
                        </a:rPr>
                        <a:t>Fase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Contributo dell'AI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Contributo della persona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502920">
                <a:tc>
                  <a:txBody>
                    <a:bodyPr/>
                    <a:lstStyle/>
                    <a:p>
                      <a:pPr indent="0" marL="0">
                        <a:buNone/>
                      </a:pPr>
                      <a:r>
                        <a:rPr lang="en-US" sz="1300" b="1" dirty="0">
                          <a:solidFill>
                            <a:schemeClr val="tx1"/>
                          </a:solidFill>
                        </a:rPr>
                        <a:t>Definire obiettivo e criteri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Domande di chiarimento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Decide obiettivi e criteri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02920">
                <a:tc>
                  <a:txBody>
                    <a:bodyPr/>
                    <a:lstStyle/>
                    <a:p>
                      <a:pPr indent="0" marL="0">
                        <a:buNone/>
                      </a:pPr>
                      <a:r>
                        <a:rPr lang="en-US" sz="1300" b="1" dirty="0">
                          <a:solidFill>
                            <a:schemeClr val="tx1"/>
                          </a:solidFill>
                        </a:rPr>
                        <a:t>Raccogliere e organizzare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Supporto efficace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Sceglie le fonti, verifica la pertinenza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02920">
                <a:tc>
                  <a:txBody>
                    <a:bodyPr/>
                    <a:lstStyle/>
                    <a:p>
                      <a:pPr indent="0" marL="0">
                        <a:buNone/>
                      </a:pPr>
                      <a:r>
                        <a:rPr lang="en-US" sz="1300" b="1" dirty="0">
                          <a:solidFill>
                            <a:schemeClr val="tx1"/>
                          </a:solidFill>
                        </a:rPr>
                        <a:t>Produrre una prima versione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Spesso il contributo maggiore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Fornisce indicazioni e contesto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02920">
                <a:tc>
                  <a:txBody>
                    <a:bodyPr/>
                    <a:lstStyle/>
                    <a:p>
                      <a:pPr indent="0" marL="0">
                        <a:buNone/>
                      </a:pPr>
                      <a:r>
                        <a:rPr lang="en-US" sz="1300" b="1" dirty="0">
                          <a:solidFill>
                            <a:schemeClr val="tx1"/>
                          </a:solidFill>
                        </a:rPr>
                        <a:t>Rivedere e migliorare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Revisore e interlocutore critico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Decide quali modifiche accettare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02920">
                <a:tc>
                  <a:txBody>
                    <a:bodyPr/>
                    <a:lstStyle/>
                    <a:p>
                      <a:pPr indent="0" marL="0">
                        <a:buNone/>
                      </a:pPr>
                      <a:r>
                        <a:rPr lang="en-US" sz="1300" b="1" dirty="0">
                          <a:solidFill>
                            <a:schemeClr val="tx1"/>
                          </a:solidFill>
                        </a:rPr>
                        <a:t>Validare e decidere l'uso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Nessuno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Responsabilità esclusiva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5" name="messaggio"/>
          <p:cNvSpPr/>
          <p:nvPr/>
        </p:nvSpPr>
        <p:spPr>
          <a:xfrm>
            <a:off x="457200" y="4160520"/>
            <a:ext cx="8229600" cy="411480"/>
          </a:xfrm>
          <a:prstGeom prst="roundRect">
            <a:avLst>
              <a:gd name="adj" fmla="val 17778"/>
            </a:avLst>
          </a:prstGeom>
          <a:solidFill>
            <a:schemeClr val="tx1"/>
          </a:solidFill>
          <a:ln/>
        </p:spPr>
      </p:sp>
      <p:sp>
        <p:nvSpPr>
          <p:cNvPr id="6" name="Text 2"/>
          <p:cNvSpPr txBox="1"/>
          <p:nvPr/>
        </p:nvSpPr>
        <p:spPr>
          <a:xfrm>
            <a:off x="640080" y="4160520"/>
            <a:ext cx="7863840" cy="411480"/>
          </a:xfrm>
          <a:prstGeom prst="rect">
            <a:avLst/>
          </a:prstGeom>
          <a:noFill/>
          <a:ln/>
        </p:spPr>
        <p:txBody>
          <a:bodyPr wrap="square" lIns="0" tIns="0" rIns="0" bIns="0" rtlCol="0" anchor="ctr"/>
          <a:lstStyle/>
          <a:p>
            <a:pPr indent="0" marL="0">
              <a:buNone/>
            </a:pPr>
            <a:r>
              <a:rPr lang="en-US" sz="1300" dirty="0">
                <a:solidFill>
                  <a:schemeClr val="bg1"/>
                </a:solidFill>
              </a:rPr>
              <a:t>L'AI contribuisce soprattutto nelle fasi centrali; obiettivi e validazione restano umani.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Capacità complementari</a:t>
            </a:r>
            <a:endParaRPr lang="en-US" sz="2600" dirty="0"/>
          </a:p>
        </p:txBody>
      </p:sp>
      <p:sp>
        <p:nvSpPr>
          <p:cNvPr id="4" name="scheda Il sistema AI"/>
          <p:cNvSpPr/>
          <p:nvPr/>
        </p:nvSpPr>
        <p:spPr>
          <a:xfrm>
            <a:off x="457200" y="1097280"/>
            <a:ext cx="3977640" cy="2743200"/>
          </a:xfrm>
          <a:prstGeom prst="roundRect">
            <a:avLst>
              <a:gd name="adj" fmla="val 2667"/>
            </a:avLst>
          </a:prstGeom>
          <a:solidFill>
            <a:schemeClr val="bg2"/>
          </a:solidFill>
          <a:ln/>
        </p:spPr>
      </p:sp>
      <p:sp>
        <p:nvSpPr>
          <p:cNvPr id="5" name="cerchio FiCpu"/>
          <p:cNvSpPr/>
          <p:nvPr/>
        </p:nvSpPr>
        <p:spPr>
          <a:xfrm>
            <a:off x="640080" y="1280160"/>
            <a:ext cx="457200" cy="457200"/>
          </a:xfrm>
          <a:prstGeom prst="ellipse">
            <a:avLst/>
          </a:prstGeom>
          <a:solidFill>
            <a:schemeClr val="accent1"/>
          </a:solidFill>
          <a:ln/>
        </p:spPr>
      </p:sp>
      <p:pic>
        <p:nvPicPr>
          <p:cNvPr id="6" name="Image 0" descr="FiCpu">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Il sistema AI</a:t>
            </a:r>
            <a:endParaRPr lang="en-US" sz="1600" dirty="0"/>
          </a:p>
        </p:txBody>
      </p:sp>
      <p:sp>
        <p:nvSpPr>
          <p:cNvPr id="8" name="Text 4"/>
          <p:cNvSpPr txBox="1"/>
          <p:nvPr/>
        </p:nvSpPr>
        <p:spPr>
          <a:xfrm>
            <a:off x="640080" y="2231136"/>
            <a:ext cx="3611880" cy="149961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Velocità e grandi quantità di testo</a:t>
            </a:r>
            <a:endParaRPr lang="en-US" sz="1300" dirty="0"/>
          </a:p>
          <a:p>
            <a:pPr marL="177800" indent="-177800">
              <a:spcAft>
                <a:spcPts val="300"/>
              </a:spcAft>
              <a:buSzPct val="100000"/>
              <a:buChar char="•"/>
            </a:pPr>
            <a:r>
              <a:rPr lang="en-US" sz="1300" dirty="0">
                <a:solidFill>
                  <a:schemeClr val="tx2"/>
                </a:solidFill>
              </a:rPr>
              <a:t>Conoscenza ampia, non sempre precisa</a:t>
            </a:r>
            <a:endParaRPr lang="en-US" sz="1300" dirty="0"/>
          </a:p>
          <a:p>
            <a:pPr marL="177800" indent="-177800">
              <a:spcAft>
                <a:spcPts val="300"/>
              </a:spcAft>
              <a:buSzPct val="100000"/>
              <a:buChar char="•"/>
            </a:pPr>
            <a:r>
              <a:rPr lang="en-US" sz="1300" dirty="0">
                <a:solidFill>
                  <a:schemeClr val="tx2"/>
                </a:solidFill>
              </a:rPr>
              <a:t>Molte alternative, costanza</a:t>
            </a:r>
            <a:endParaRPr lang="en-US" sz="1300" dirty="0"/>
          </a:p>
          <a:p>
            <a:pPr marL="177800" indent="-177800">
              <a:spcAft>
                <a:spcPts val="300"/>
              </a:spcAft>
              <a:buSzPct val="100000"/>
              <a:buChar char="•"/>
            </a:pPr>
            <a:r>
              <a:rPr lang="en-US" sz="1300" dirty="0">
                <a:solidFill>
                  <a:schemeClr val="tx2"/>
                </a:solidFill>
              </a:rPr>
              <a:t>Sempre disponibile</a:t>
            </a:r>
            <a:endParaRPr lang="en-US" sz="1300" dirty="0"/>
          </a:p>
        </p:txBody>
      </p:sp>
      <p:sp>
        <p:nvSpPr>
          <p:cNvPr id="9" name="scheda La persona"/>
          <p:cNvSpPr/>
          <p:nvPr/>
        </p:nvSpPr>
        <p:spPr>
          <a:xfrm>
            <a:off x="4709160" y="1097280"/>
            <a:ext cx="3977640" cy="2743200"/>
          </a:xfrm>
          <a:prstGeom prst="roundRect">
            <a:avLst>
              <a:gd name="adj" fmla="val 2667"/>
            </a:avLst>
          </a:prstGeom>
          <a:solidFill>
            <a:schemeClr val="accent6"/>
          </a:solidFill>
          <a:ln/>
        </p:spPr>
      </p:sp>
      <p:sp>
        <p:nvSpPr>
          <p:cNvPr id="10" name="cerchio FiUser"/>
          <p:cNvSpPr/>
          <p:nvPr/>
        </p:nvSpPr>
        <p:spPr>
          <a:xfrm>
            <a:off x="4892040" y="1280160"/>
            <a:ext cx="457200" cy="457200"/>
          </a:xfrm>
          <a:prstGeom prst="ellipse">
            <a:avLst/>
          </a:prstGeom>
          <a:solidFill>
            <a:schemeClr val="accent1"/>
          </a:solidFill>
          <a:ln/>
        </p:spPr>
      </p:sp>
      <p:pic>
        <p:nvPicPr>
          <p:cNvPr id="11" name="Image 1" descr="FiUser">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La persona</a:t>
            </a:r>
            <a:endParaRPr lang="en-US" sz="1600" dirty="0"/>
          </a:p>
        </p:txBody>
      </p:sp>
      <p:sp>
        <p:nvSpPr>
          <p:cNvPr id="13" name="Text 8"/>
          <p:cNvSpPr txBox="1"/>
          <p:nvPr/>
        </p:nvSpPr>
        <p:spPr>
          <a:xfrm>
            <a:off x="4892040" y="2231136"/>
            <a:ext cx="3611880" cy="149961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Contesto reale, vincoli non scritti</a:t>
            </a:r>
            <a:endParaRPr lang="en-US" sz="1300" dirty="0"/>
          </a:p>
          <a:p>
            <a:pPr marL="177800" indent="-177800">
              <a:spcAft>
                <a:spcPts val="300"/>
              </a:spcAft>
              <a:buSzPct val="100000"/>
              <a:buChar char="•"/>
            </a:pPr>
            <a:r>
              <a:rPr lang="en-US" sz="1300" dirty="0">
                <a:solidFill>
                  <a:schemeClr val="tx2"/>
                </a:solidFill>
              </a:rPr>
              <a:t>Competenza di dominio ed esperienza</a:t>
            </a:r>
            <a:endParaRPr lang="en-US" sz="1300" dirty="0"/>
          </a:p>
          <a:p>
            <a:pPr marL="177800" indent="-177800">
              <a:spcAft>
                <a:spcPts val="300"/>
              </a:spcAft>
              <a:buSzPct val="100000"/>
              <a:buChar char="•"/>
            </a:pPr>
            <a:r>
              <a:rPr lang="en-US" sz="1300" dirty="0">
                <a:solidFill>
                  <a:schemeClr val="tx2"/>
                </a:solidFill>
              </a:rPr>
              <a:t>Giudizio su rilevanza e conseguenze</a:t>
            </a:r>
            <a:endParaRPr lang="en-US" sz="1300" dirty="0"/>
          </a:p>
          <a:p>
            <a:pPr marL="177800" indent="-177800">
              <a:spcAft>
                <a:spcPts val="300"/>
              </a:spcAft>
              <a:buSzPct val="100000"/>
              <a:buChar char="•"/>
            </a:pPr>
            <a:r>
              <a:rPr lang="en-US" sz="1300" dirty="0">
                <a:solidFill>
                  <a:schemeClr val="tx2"/>
                </a:solidFill>
              </a:rPr>
              <a:t>Valori, responsabilità, decisione</a:t>
            </a:r>
            <a:endParaRPr lang="en-US" sz="1300" dirty="0"/>
          </a:p>
        </p:txBody>
      </p:sp>
      <p:sp>
        <p:nvSpPr>
          <p:cNvPr id="14" name="messaggio"/>
          <p:cNvSpPr/>
          <p:nvPr/>
        </p:nvSpPr>
        <p:spPr>
          <a:xfrm>
            <a:off x="457200" y="3977640"/>
            <a:ext cx="8229600" cy="548640"/>
          </a:xfrm>
          <a:prstGeom prst="roundRect">
            <a:avLst>
              <a:gd name="adj" fmla="val 13333"/>
            </a:avLst>
          </a:prstGeom>
          <a:solidFill>
            <a:schemeClr val="tx1"/>
          </a:solidFill>
          <a:ln/>
        </p:spPr>
      </p:sp>
      <p:sp>
        <p:nvSpPr>
          <p:cNvPr id="15" name="Text 10"/>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400" dirty="0">
                <a:solidFill>
                  <a:schemeClr val="bg1"/>
                </a:solidFill>
              </a:rPr>
              <a:t>Funziona quando ciascuno porta ciò che sa fare meglio.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Produrre, rivedere, migliorare</a:t>
            </a:r>
            <a:endParaRPr lang="en-US" sz="2600" dirty="0"/>
          </a:p>
        </p:txBody>
      </p:sp>
      <p:sp>
        <p:nvSpPr>
          <p:cNvPr id="4" name="fase 0"/>
          <p:cNvSpPr/>
          <p:nvPr/>
        </p:nvSpPr>
        <p:spPr>
          <a:xfrm>
            <a:off x="457200" y="1188720"/>
            <a:ext cx="1536192" cy="1737360"/>
          </a:xfrm>
          <a:prstGeom prst="roundRect">
            <a:avLst>
              <a:gd name="adj" fmla="val 4762"/>
            </a:avLst>
          </a:prstGeom>
          <a:solidFill>
            <a:schemeClr val="bg2"/>
          </a:solidFill>
          <a:ln/>
        </p:spPr>
      </p:sp>
      <p:sp>
        <p:nvSpPr>
          <p:cNvPr id="5" name="Text 2"/>
          <p:cNvSpPr txBox="1"/>
          <p:nvPr/>
        </p:nvSpPr>
        <p:spPr>
          <a:xfrm>
            <a:off x="548640" y="1280160"/>
            <a:ext cx="1353312" cy="365760"/>
          </a:xfrm>
          <a:prstGeom prst="rect">
            <a:avLst/>
          </a:prstGeom>
          <a:noFill/>
          <a:ln/>
        </p:spPr>
        <p:txBody>
          <a:bodyPr wrap="square" lIns="0" tIns="0" rIns="0" bIns="0" rtlCol="0" anchor="t"/>
          <a:lstStyle/>
          <a:p>
            <a:pPr algn="ctr" indent="0" marL="0">
              <a:buNone/>
            </a:pPr>
            <a:r>
              <a:rPr lang="en-US" sz="1500" b="1" dirty="0">
                <a:solidFill>
                  <a:schemeClr val="accent1"/>
                </a:solidFill>
              </a:rPr>
              <a:t>Persona</a:t>
            </a:r>
            <a:endParaRPr lang="en-US" sz="1500" dirty="0"/>
          </a:p>
        </p:txBody>
      </p:sp>
      <p:sp>
        <p:nvSpPr>
          <p:cNvPr id="6" name="Text 3"/>
          <p:cNvSpPr txBox="1"/>
          <p:nvPr/>
        </p:nvSpPr>
        <p:spPr>
          <a:xfrm>
            <a:off x="566928" y="1691640"/>
            <a:ext cx="1316736" cy="1143000"/>
          </a:xfrm>
          <a:prstGeom prst="rect">
            <a:avLst/>
          </a:prstGeom>
          <a:noFill/>
          <a:ln/>
        </p:spPr>
        <p:txBody>
          <a:bodyPr wrap="square" lIns="0" tIns="0" rIns="0" bIns="0" rtlCol="0" anchor="t"/>
          <a:lstStyle/>
          <a:p>
            <a:pPr algn="ctr" indent="0" marL="0">
              <a:buNone/>
            </a:pPr>
            <a:r>
              <a:rPr lang="en-US" sz="1200" dirty="0">
                <a:solidFill>
                  <a:schemeClr val="tx1"/>
                </a:solidFill>
              </a:rPr>
              <a:t>Imposta obiettivo, pubblico, punti chiave</a:t>
            </a:r>
            <a:endParaRPr lang="en-US" sz="1200" dirty="0"/>
          </a:p>
        </p:txBody>
      </p:sp>
      <p:sp>
        <p:nvSpPr>
          <p:cNvPr id="7" name="fase 1"/>
          <p:cNvSpPr/>
          <p:nvPr/>
        </p:nvSpPr>
        <p:spPr>
          <a:xfrm>
            <a:off x="2139696" y="1188720"/>
            <a:ext cx="1536192" cy="1737360"/>
          </a:xfrm>
          <a:prstGeom prst="roundRect">
            <a:avLst>
              <a:gd name="adj" fmla="val 4762"/>
            </a:avLst>
          </a:prstGeom>
          <a:solidFill>
            <a:schemeClr val="accent6"/>
          </a:solidFill>
          <a:ln/>
        </p:spPr>
      </p:sp>
      <p:sp>
        <p:nvSpPr>
          <p:cNvPr id="8" name="Text 5"/>
          <p:cNvSpPr txBox="1"/>
          <p:nvPr/>
        </p:nvSpPr>
        <p:spPr>
          <a:xfrm>
            <a:off x="2231136" y="1280160"/>
            <a:ext cx="1353312" cy="365760"/>
          </a:xfrm>
          <a:prstGeom prst="rect">
            <a:avLst/>
          </a:prstGeom>
          <a:noFill/>
          <a:ln/>
        </p:spPr>
        <p:txBody>
          <a:bodyPr wrap="square" lIns="0" tIns="0" rIns="0" bIns="0" rtlCol="0" anchor="t"/>
          <a:lstStyle/>
          <a:p>
            <a:pPr algn="ctr" indent="0" marL="0">
              <a:buNone/>
            </a:pPr>
            <a:r>
              <a:rPr lang="en-US" sz="1500" b="1" dirty="0">
                <a:solidFill>
                  <a:schemeClr val="accent1"/>
                </a:solidFill>
              </a:rPr>
              <a:t>AI</a:t>
            </a:r>
            <a:endParaRPr lang="en-US" sz="1500" dirty="0"/>
          </a:p>
        </p:txBody>
      </p:sp>
      <p:sp>
        <p:nvSpPr>
          <p:cNvPr id="9" name="Text 6"/>
          <p:cNvSpPr txBox="1"/>
          <p:nvPr/>
        </p:nvSpPr>
        <p:spPr>
          <a:xfrm>
            <a:off x="2249424" y="1691640"/>
            <a:ext cx="1316736" cy="1143000"/>
          </a:xfrm>
          <a:prstGeom prst="rect">
            <a:avLst/>
          </a:prstGeom>
          <a:noFill/>
          <a:ln/>
        </p:spPr>
        <p:txBody>
          <a:bodyPr wrap="square" lIns="0" tIns="0" rIns="0" bIns="0" rtlCol="0" anchor="t"/>
          <a:lstStyle/>
          <a:p>
            <a:pPr algn="ctr" indent="0" marL="0">
              <a:buNone/>
            </a:pPr>
            <a:r>
              <a:rPr lang="en-US" sz="1200" dirty="0">
                <a:solidFill>
                  <a:schemeClr val="tx1"/>
                </a:solidFill>
              </a:rPr>
              <a:t>Produce una prima versione</a:t>
            </a:r>
            <a:endParaRPr lang="en-US" sz="1200" dirty="0"/>
          </a:p>
        </p:txBody>
      </p:sp>
      <p:sp>
        <p:nvSpPr>
          <p:cNvPr id="10" name="fase 2"/>
          <p:cNvSpPr/>
          <p:nvPr/>
        </p:nvSpPr>
        <p:spPr>
          <a:xfrm>
            <a:off x="3822192" y="1188720"/>
            <a:ext cx="1536192" cy="1737360"/>
          </a:xfrm>
          <a:prstGeom prst="roundRect">
            <a:avLst>
              <a:gd name="adj" fmla="val 4762"/>
            </a:avLst>
          </a:prstGeom>
          <a:solidFill>
            <a:schemeClr val="bg2"/>
          </a:solidFill>
          <a:ln/>
        </p:spPr>
      </p:sp>
      <p:sp>
        <p:nvSpPr>
          <p:cNvPr id="11" name="Text 8"/>
          <p:cNvSpPr txBox="1"/>
          <p:nvPr/>
        </p:nvSpPr>
        <p:spPr>
          <a:xfrm>
            <a:off x="3913632" y="1280160"/>
            <a:ext cx="1353312" cy="365760"/>
          </a:xfrm>
          <a:prstGeom prst="rect">
            <a:avLst/>
          </a:prstGeom>
          <a:noFill/>
          <a:ln/>
        </p:spPr>
        <p:txBody>
          <a:bodyPr wrap="square" lIns="0" tIns="0" rIns="0" bIns="0" rtlCol="0" anchor="t"/>
          <a:lstStyle/>
          <a:p>
            <a:pPr algn="ctr" indent="0" marL="0">
              <a:buNone/>
            </a:pPr>
            <a:r>
              <a:rPr lang="en-US" sz="1500" b="1" dirty="0">
                <a:solidFill>
                  <a:schemeClr val="accent1"/>
                </a:solidFill>
              </a:rPr>
              <a:t>Persona</a:t>
            </a:r>
            <a:endParaRPr lang="en-US" sz="1500" dirty="0"/>
          </a:p>
        </p:txBody>
      </p:sp>
      <p:sp>
        <p:nvSpPr>
          <p:cNvPr id="12" name="Text 9"/>
          <p:cNvSpPr txBox="1"/>
          <p:nvPr/>
        </p:nvSpPr>
        <p:spPr>
          <a:xfrm>
            <a:off x="3931920" y="1691640"/>
            <a:ext cx="1316736" cy="1143000"/>
          </a:xfrm>
          <a:prstGeom prst="rect">
            <a:avLst/>
          </a:prstGeom>
          <a:noFill/>
          <a:ln/>
        </p:spPr>
        <p:txBody>
          <a:bodyPr wrap="square" lIns="0" tIns="0" rIns="0" bIns="0" rtlCol="0" anchor="t"/>
          <a:lstStyle/>
          <a:p>
            <a:pPr algn="ctr" indent="0" marL="0">
              <a:buNone/>
            </a:pPr>
            <a:r>
              <a:rPr lang="en-US" sz="1200" dirty="0">
                <a:solidFill>
                  <a:schemeClr val="tx1"/>
                </a:solidFill>
              </a:rPr>
              <a:t>Valuta e commenta</a:t>
            </a:r>
            <a:endParaRPr lang="en-US" sz="1200" dirty="0"/>
          </a:p>
        </p:txBody>
      </p:sp>
      <p:sp>
        <p:nvSpPr>
          <p:cNvPr id="13" name="fase 3"/>
          <p:cNvSpPr/>
          <p:nvPr/>
        </p:nvSpPr>
        <p:spPr>
          <a:xfrm>
            <a:off x="5504688" y="1188720"/>
            <a:ext cx="1536192" cy="1737360"/>
          </a:xfrm>
          <a:prstGeom prst="roundRect">
            <a:avLst>
              <a:gd name="adj" fmla="val 4762"/>
            </a:avLst>
          </a:prstGeom>
          <a:solidFill>
            <a:schemeClr val="accent6"/>
          </a:solidFill>
          <a:ln/>
        </p:spPr>
      </p:sp>
      <p:sp>
        <p:nvSpPr>
          <p:cNvPr id="14" name="Text 11"/>
          <p:cNvSpPr txBox="1"/>
          <p:nvPr/>
        </p:nvSpPr>
        <p:spPr>
          <a:xfrm>
            <a:off x="5596128" y="1280160"/>
            <a:ext cx="1353312" cy="365760"/>
          </a:xfrm>
          <a:prstGeom prst="rect">
            <a:avLst/>
          </a:prstGeom>
          <a:noFill/>
          <a:ln/>
        </p:spPr>
        <p:txBody>
          <a:bodyPr wrap="square" lIns="0" tIns="0" rIns="0" bIns="0" rtlCol="0" anchor="t"/>
          <a:lstStyle/>
          <a:p>
            <a:pPr algn="ctr" indent="0" marL="0">
              <a:buNone/>
            </a:pPr>
            <a:r>
              <a:rPr lang="en-US" sz="1500" b="1" dirty="0">
                <a:solidFill>
                  <a:schemeClr val="accent1"/>
                </a:solidFill>
              </a:rPr>
              <a:t>AI</a:t>
            </a:r>
            <a:endParaRPr lang="en-US" sz="1500" dirty="0"/>
          </a:p>
        </p:txBody>
      </p:sp>
      <p:sp>
        <p:nvSpPr>
          <p:cNvPr id="15" name="Text 12"/>
          <p:cNvSpPr txBox="1"/>
          <p:nvPr/>
        </p:nvSpPr>
        <p:spPr>
          <a:xfrm>
            <a:off x="5614416" y="1691640"/>
            <a:ext cx="1316736" cy="1143000"/>
          </a:xfrm>
          <a:prstGeom prst="rect">
            <a:avLst/>
          </a:prstGeom>
          <a:noFill/>
          <a:ln/>
        </p:spPr>
        <p:txBody>
          <a:bodyPr wrap="square" lIns="0" tIns="0" rIns="0" bIns="0" rtlCol="0" anchor="t"/>
          <a:lstStyle/>
          <a:p>
            <a:pPr algn="ctr" indent="0" marL="0">
              <a:buNone/>
            </a:pPr>
            <a:r>
              <a:rPr lang="en-US" sz="1200" dirty="0">
                <a:solidFill>
                  <a:schemeClr val="tx1"/>
                </a:solidFill>
              </a:rPr>
              <a:t>Rivede o propone osservazioni critiche</a:t>
            </a:r>
            <a:endParaRPr lang="en-US" sz="1200" dirty="0"/>
          </a:p>
        </p:txBody>
      </p:sp>
      <p:sp>
        <p:nvSpPr>
          <p:cNvPr id="16" name="fase 4"/>
          <p:cNvSpPr/>
          <p:nvPr/>
        </p:nvSpPr>
        <p:spPr>
          <a:xfrm>
            <a:off x="7187184" y="1188720"/>
            <a:ext cx="1536192" cy="1737360"/>
          </a:xfrm>
          <a:prstGeom prst="roundRect">
            <a:avLst>
              <a:gd name="adj" fmla="val 4762"/>
            </a:avLst>
          </a:prstGeom>
          <a:solidFill>
            <a:schemeClr val="accent1"/>
          </a:solidFill>
          <a:ln/>
        </p:spPr>
      </p:sp>
      <p:sp>
        <p:nvSpPr>
          <p:cNvPr id="17" name="Text 14"/>
          <p:cNvSpPr txBox="1"/>
          <p:nvPr/>
        </p:nvSpPr>
        <p:spPr>
          <a:xfrm>
            <a:off x="7278624" y="1280160"/>
            <a:ext cx="1353312" cy="365760"/>
          </a:xfrm>
          <a:prstGeom prst="rect">
            <a:avLst/>
          </a:prstGeom>
          <a:noFill/>
          <a:ln/>
        </p:spPr>
        <p:txBody>
          <a:bodyPr wrap="square" lIns="0" tIns="0" rIns="0" bIns="0" rtlCol="0" anchor="t"/>
          <a:lstStyle/>
          <a:p>
            <a:pPr algn="ctr" indent="0" marL="0">
              <a:buNone/>
            </a:pPr>
            <a:r>
              <a:rPr lang="en-US" sz="1500" b="1" dirty="0">
                <a:solidFill>
                  <a:schemeClr val="bg1"/>
                </a:solidFill>
              </a:rPr>
              <a:t>Persona</a:t>
            </a:r>
            <a:endParaRPr lang="en-US" sz="1500" dirty="0"/>
          </a:p>
        </p:txBody>
      </p:sp>
      <p:sp>
        <p:nvSpPr>
          <p:cNvPr id="18" name="Text 15"/>
          <p:cNvSpPr txBox="1"/>
          <p:nvPr/>
        </p:nvSpPr>
        <p:spPr>
          <a:xfrm>
            <a:off x="7296912" y="1691640"/>
            <a:ext cx="1316736" cy="1143000"/>
          </a:xfrm>
          <a:prstGeom prst="rect">
            <a:avLst/>
          </a:prstGeom>
          <a:noFill/>
          <a:ln/>
        </p:spPr>
        <p:txBody>
          <a:bodyPr wrap="square" lIns="0" tIns="0" rIns="0" bIns="0" rtlCol="0" anchor="t"/>
          <a:lstStyle/>
          <a:p>
            <a:pPr algn="ctr" indent="0" marL="0">
              <a:buNone/>
            </a:pPr>
            <a:r>
              <a:rPr lang="en-US" sz="1200" dirty="0">
                <a:solidFill>
                  <a:schemeClr val="bg1"/>
                </a:solidFill>
              </a:rPr>
              <a:t>Decide, rifinisce, valida</a:t>
            </a:r>
            <a:endParaRPr lang="en-US" sz="1200" dirty="0"/>
          </a:p>
        </p:txBody>
      </p:sp>
      <p:sp>
        <p:nvSpPr>
          <p:cNvPr id="19" name="scheda Si può partire anche dalla persona"/>
          <p:cNvSpPr/>
          <p:nvPr/>
        </p:nvSpPr>
        <p:spPr>
          <a:xfrm>
            <a:off x="457200" y="3154680"/>
            <a:ext cx="8229600" cy="1371600"/>
          </a:xfrm>
          <a:prstGeom prst="roundRect">
            <a:avLst>
              <a:gd name="adj" fmla="val 5333"/>
            </a:avLst>
          </a:prstGeom>
          <a:solidFill>
            <a:schemeClr val="bg2"/>
          </a:solidFill>
          <a:ln/>
        </p:spPr>
      </p:sp>
      <p:sp>
        <p:nvSpPr>
          <p:cNvPr id="20" name="cerchio FiEdit"/>
          <p:cNvSpPr/>
          <p:nvPr/>
        </p:nvSpPr>
        <p:spPr>
          <a:xfrm>
            <a:off x="640080" y="3337560"/>
            <a:ext cx="457200" cy="457200"/>
          </a:xfrm>
          <a:prstGeom prst="ellipse">
            <a:avLst/>
          </a:prstGeom>
          <a:solidFill>
            <a:schemeClr val="accent1"/>
          </a:solidFill>
          <a:ln/>
        </p:spPr>
      </p:sp>
      <p:pic>
        <p:nvPicPr>
          <p:cNvPr id="21" name="Image 0" descr="FiEdit">    </p:cNvPr>
          <p:cNvPicPr>
            <a:picLocks noChangeAspect="1"/>
          </p:cNvPicPr>
          <p:nvPr/>
        </p:nvPicPr>
        <p:blipFill>
          <a:blip r:embed="rId1"/>
          <a:stretch>
            <a:fillRect/>
          </a:stretch>
        </p:blipFill>
        <p:spPr>
          <a:xfrm>
            <a:off x="754380" y="3451860"/>
            <a:ext cx="228600" cy="228600"/>
          </a:xfrm>
          <a:prstGeom prst="rect">
            <a:avLst/>
          </a:prstGeom>
        </p:spPr>
      </p:pic>
      <p:sp>
        <p:nvSpPr>
          <p:cNvPr id="22" name="Text 18"/>
          <p:cNvSpPr txBox="1"/>
          <p:nvPr/>
        </p:nvSpPr>
        <p:spPr>
          <a:xfrm>
            <a:off x="1234440" y="3337560"/>
            <a:ext cx="7269480" cy="457200"/>
          </a:xfrm>
          <a:prstGeom prst="rect">
            <a:avLst/>
          </a:prstGeom>
          <a:noFill/>
          <a:ln/>
        </p:spPr>
        <p:txBody>
          <a:bodyPr wrap="square" lIns="0" tIns="0" rIns="0" bIns="0" rtlCol="0" anchor="ctr"/>
          <a:lstStyle/>
          <a:p>
            <a:pPr indent="0" marL="0">
              <a:buNone/>
            </a:pPr>
            <a:r>
              <a:rPr lang="en-US" sz="1500" b="1" dirty="0">
                <a:solidFill>
                  <a:schemeClr val="tx1"/>
                </a:solidFill>
              </a:rPr>
              <a:t>Si può partire anche dalla persona</a:t>
            </a:r>
            <a:endParaRPr lang="en-US" sz="1500" dirty="0"/>
          </a:p>
        </p:txBody>
      </p:sp>
      <p:sp>
        <p:nvSpPr>
          <p:cNvPr id="23" name="Text 19"/>
          <p:cNvSpPr txBox="1"/>
          <p:nvPr/>
        </p:nvSpPr>
        <p:spPr>
          <a:xfrm>
            <a:off x="640080" y="3931920"/>
            <a:ext cx="7863840" cy="484632"/>
          </a:xfrm>
          <a:prstGeom prst="rect">
            <a:avLst/>
          </a:prstGeom>
          <a:noFill/>
          <a:ln/>
        </p:spPr>
        <p:txBody>
          <a:bodyPr wrap="square" lIns="0" tIns="0" rIns="0" bIns="0" rtlCol="0" anchor="t"/>
          <a:lstStyle/>
          <a:p>
            <a:pPr indent="0" marL="0">
              <a:buNone/>
            </a:pPr>
            <a:r>
              <a:rPr lang="en-US" sz="1300" dirty="0">
                <a:solidFill>
                  <a:schemeClr val="tx2"/>
                </a:solidFill>
              </a:rPr>
              <a:t>Scrivere una propria bozza e chiedere all'AI di rivederla o metterla alla prova: il pensiero di partenza resta nostro e l'AI lo arricchisce.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Supporto al ragionamento e alla valutazione</a:t>
            </a:r>
            <a:endParaRPr lang="en-US" sz="2600" dirty="0"/>
          </a:p>
        </p:txBody>
      </p:sp>
      <p:sp>
        <p:nvSpPr>
          <p:cNvPr id="4" name="Criteri dimenticati"/>
          <p:cNvSpPr/>
          <p:nvPr/>
        </p:nvSpPr>
        <p:spPr>
          <a:xfrm>
            <a:off x="457200" y="1097280"/>
            <a:ext cx="2621280" cy="1280160"/>
          </a:xfrm>
          <a:prstGeom prst="roundRect">
            <a:avLst>
              <a:gd name="adj" fmla="val 5714"/>
            </a:avLst>
          </a:prstGeom>
          <a:solidFill>
            <a:schemeClr val="bg2"/>
          </a:solidFill>
          <a:ln/>
        </p:spPr>
      </p:sp>
      <p:sp>
        <p:nvSpPr>
          <p:cNvPr id="5" name="cerchio FiList"/>
          <p:cNvSpPr/>
          <p:nvPr/>
        </p:nvSpPr>
        <p:spPr>
          <a:xfrm>
            <a:off x="621792" y="1261872"/>
            <a:ext cx="438912" cy="438912"/>
          </a:xfrm>
          <a:prstGeom prst="ellipse">
            <a:avLst/>
          </a:prstGeom>
          <a:solidFill>
            <a:schemeClr val="accent1"/>
          </a:solidFill>
          <a:ln/>
        </p:spPr>
      </p:sp>
      <p:pic>
        <p:nvPicPr>
          <p:cNvPr id="6" name="Image 0" descr="FiList">    </p:cNvPr>
          <p:cNvPicPr>
            <a:picLocks noChangeAspect="1"/>
          </p:cNvPicPr>
          <p:nvPr/>
        </p:nvPicPr>
        <p:blipFill>
          <a:blip r:embed="rId1"/>
          <a:stretch>
            <a:fillRect/>
          </a:stretch>
        </p:blipFill>
        <p:spPr>
          <a:xfrm>
            <a:off x="731520" y="1371600"/>
            <a:ext cx="219456" cy="219456"/>
          </a:xfrm>
          <a:prstGeom prst="rect">
            <a:avLst/>
          </a:prstGeom>
        </p:spPr>
      </p:pic>
      <p:sp>
        <p:nvSpPr>
          <p:cNvPr id="7" name="Text 3"/>
          <p:cNvSpPr txBox="1"/>
          <p:nvPr/>
        </p:nvSpPr>
        <p:spPr>
          <a:xfrm>
            <a:off x="1170432" y="122529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Criteri dimenticati</a:t>
            </a:r>
            <a:endParaRPr lang="en-US" sz="1400" dirty="0"/>
          </a:p>
        </p:txBody>
      </p:sp>
      <p:sp>
        <p:nvSpPr>
          <p:cNvPr id="8" name="Text 4"/>
          <p:cNvSpPr txBox="1"/>
          <p:nvPr/>
        </p:nvSpPr>
        <p:spPr>
          <a:xfrm>
            <a:off x="621792" y="1810512"/>
            <a:ext cx="2292096" cy="475488"/>
          </a:xfrm>
          <a:prstGeom prst="rect">
            <a:avLst/>
          </a:prstGeom>
          <a:noFill/>
          <a:ln/>
        </p:spPr>
        <p:txBody>
          <a:bodyPr wrap="square" lIns="0" tIns="0" rIns="0" bIns="0" rtlCol="0" anchor="t"/>
          <a:lstStyle/>
          <a:p>
            <a:pPr indent="0" marL="0">
              <a:buNone/>
            </a:pPr>
            <a:r>
              <a:rPr lang="en-US" sz="1200" dirty="0">
                <a:solidFill>
                  <a:schemeClr val="tx2"/>
                </a:solidFill>
              </a:rPr>
              <a:t>"Quali criteri potrebbero essere rilevanti?"</a:t>
            </a:r>
            <a:endParaRPr lang="en-US" sz="1200" dirty="0"/>
          </a:p>
        </p:txBody>
      </p:sp>
      <p:sp>
        <p:nvSpPr>
          <p:cNvPr id="9" name="Compromessi"/>
          <p:cNvSpPr/>
          <p:nvPr/>
        </p:nvSpPr>
        <p:spPr>
          <a:xfrm>
            <a:off x="3261360" y="1097280"/>
            <a:ext cx="2621280" cy="1280160"/>
          </a:xfrm>
          <a:prstGeom prst="roundRect">
            <a:avLst>
              <a:gd name="adj" fmla="val 5714"/>
            </a:avLst>
          </a:prstGeom>
          <a:solidFill>
            <a:schemeClr val="bg2"/>
          </a:solidFill>
          <a:ln/>
        </p:spPr>
      </p:sp>
      <p:sp>
        <p:nvSpPr>
          <p:cNvPr id="10" name="cerchio FiSliders"/>
          <p:cNvSpPr/>
          <p:nvPr/>
        </p:nvSpPr>
        <p:spPr>
          <a:xfrm>
            <a:off x="3425952" y="1261872"/>
            <a:ext cx="438912" cy="438912"/>
          </a:xfrm>
          <a:prstGeom prst="ellipse">
            <a:avLst/>
          </a:prstGeom>
          <a:solidFill>
            <a:schemeClr val="accent1"/>
          </a:solidFill>
          <a:ln/>
        </p:spPr>
      </p:sp>
      <p:pic>
        <p:nvPicPr>
          <p:cNvPr id="11" name="Image 1" descr="FiSliders">    </p:cNvPr>
          <p:cNvPicPr>
            <a:picLocks noChangeAspect="1"/>
          </p:cNvPicPr>
          <p:nvPr/>
        </p:nvPicPr>
        <p:blipFill>
          <a:blip r:embed="rId2"/>
          <a:stretch>
            <a:fillRect/>
          </a:stretch>
        </p:blipFill>
        <p:spPr>
          <a:xfrm>
            <a:off x="3535680" y="1371600"/>
            <a:ext cx="219456" cy="219456"/>
          </a:xfrm>
          <a:prstGeom prst="rect">
            <a:avLst/>
          </a:prstGeom>
        </p:spPr>
      </p:pic>
      <p:sp>
        <p:nvSpPr>
          <p:cNvPr id="12" name="Text 7"/>
          <p:cNvSpPr txBox="1"/>
          <p:nvPr/>
        </p:nvSpPr>
        <p:spPr>
          <a:xfrm>
            <a:off x="3974592" y="122529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Compromessi</a:t>
            </a:r>
            <a:endParaRPr lang="en-US" sz="1400" dirty="0"/>
          </a:p>
        </p:txBody>
      </p:sp>
      <p:sp>
        <p:nvSpPr>
          <p:cNvPr id="13" name="Text 8"/>
          <p:cNvSpPr txBox="1"/>
          <p:nvPr/>
        </p:nvSpPr>
        <p:spPr>
          <a:xfrm>
            <a:off x="3425952" y="1810512"/>
            <a:ext cx="2292096" cy="475488"/>
          </a:xfrm>
          <a:prstGeom prst="rect">
            <a:avLst/>
          </a:prstGeom>
          <a:noFill/>
          <a:ln/>
        </p:spPr>
        <p:txBody>
          <a:bodyPr wrap="square" lIns="0" tIns="0" rIns="0" bIns="0" rtlCol="0" anchor="t"/>
          <a:lstStyle/>
          <a:p>
            <a:pPr indent="0" marL="0">
              <a:buNone/>
            </a:pPr>
            <a:r>
              <a:rPr lang="en-US" sz="1200" dirty="0">
                <a:solidFill>
                  <a:schemeClr val="tx2"/>
                </a:solidFill>
              </a:rPr>
              <a:t>"Confronta le opzioni secondo questi criteri"</a:t>
            </a:r>
            <a:endParaRPr lang="en-US" sz="1200" dirty="0"/>
          </a:p>
        </p:txBody>
      </p:sp>
      <p:sp>
        <p:nvSpPr>
          <p:cNvPr id="14" name="Informazioni decisive"/>
          <p:cNvSpPr/>
          <p:nvPr/>
        </p:nvSpPr>
        <p:spPr>
          <a:xfrm>
            <a:off x="6065520" y="1097280"/>
            <a:ext cx="2621280" cy="1280160"/>
          </a:xfrm>
          <a:prstGeom prst="roundRect">
            <a:avLst>
              <a:gd name="adj" fmla="val 5714"/>
            </a:avLst>
          </a:prstGeom>
          <a:solidFill>
            <a:schemeClr val="bg2"/>
          </a:solidFill>
          <a:ln/>
        </p:spPr>
      </p:sp>
      <p:sp>
        <p:nvSpPr>
          <p:cNvPr id="15" name="cerchio FiInfo"/>
          <p:cNvSpPr/>
          <p:nvPr/>
        </p:nvSpPr>
        <p:spPr>
          <a:xfrm>
            <a:off x="6230112" y="1261872"/>
            <a:ext cx="438912" cy="438912"/>
          </a:xfrm>
          <a:prstGeom prst="ellipse">
            <a:avLst/>
          </a:prstGeom>
          <a:solidFill>
            <a:schemeClr val="accent1"/>
          </a:solidFill>
          <a:ln/>
        </p:spPr>
      </p:sp>
      <p:pic>
        <p:nvPicPr>
          <p:cNvPr id="16" name="Image 2" descr="FiInfo">    </p:cNvPr>
          <p:cNvPicPr>
            <a:picLocks noChangeAspect="1"/>
          </p:cNvPicPr>
          <p:nvPr/>
        </p:nvPicPr>
        <p:blipFill>
          <a:blip r:embed="rId3"/>
          <a:stretch>
            <a:fillRect/>
          </a:stretch>
        </p:blipFill>
        <p:spPr>
          <a:xfrm>
            <a:off x="6339840" y="1371600"/>
            <a:ext cx="219456" cy="219456"/>
          </a:xfrm>
          <a:prstGeom prst="rect">
            <a:avLst/>
          </a:prstGeom>
        </p:spPr>
      </p:pic>
      <p:sp>
        <p:nvSpPr>
          <p:cNvPr id="17" name="Text 11"/>
          <p:cNvSpPr txBox="1"/>
          <p:nvPr/>
        </p:nvSpPr>
        <p:spPr>
          <a:xfrm>
            <a:off x="6778752" y="122529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Informazioni decisive</a:t>
            </a:r>
            <a:endParaRPr lang="en-US" sz="1400" dirty="0"/>
          </a:p>
        </p:txBody>
      </p:sp>
      <p:sp>
        <p:nvSpPr>
          <p:cNvPr id="18" name="Text 12"/>
          <p:cNvSpPr txBox="1"/>
          <p:nvPr/>
        </p:nvSpPr>
        <p:spPr>
          <a:xfrm>
            <a:off x="6230112" y="1810512"/>
            <a:ext cx="2292096" cy="475488"/>
          </a:xfrm>
          <a:prstGeom prst="rect">
            <a:avLst/>
          </a:prstGeom>
          <a:noFill/>
          <a:ln/>
        </p:spPr>
        <p:txBody>
          <a:bodyPr wrap="square" lIns="0" tIns="0" rIns="0" bIns="0" rtlCol="0" anchor="t"/>
          <a:lstStyle/>
          <a:p>
            <a:pPr indent="0" marL="0">
              <a:buNone/>
            </a:pPr>
            <a:r>
              <a:rPr lang="en-US" sz="1200" dirty="0">
                <a:solidFill>
                  <a:schemeClr val="tx2"/>
                </a:solidFill>
              </a:rPr>
              <a:t>"Che cosa potrebbe cambiare la valutazione?"</a:t>
            </a:r>
            <a:endParaRPr lang="en-US" sz="1200" dirty="0"/>
          </a:p>
        </p:txBody>
      </p:sp>
      <p:sp>
        <p:nvSpPr>
          <p:cNvPr id="19" name="Argomenti contrari"/>
          <p:cNvSpPr/>
          <p:nvPr/>
        </p:nvSpPr>
        <p:spPr>
          <a:xfrm>
            <a:off x="457200" y="2560320"/>
            <a:ext cx="4023360" cy="1143000"/>
          </a:xfrm>
          <a:prstGeom prst="roundRect">
            <a:avLst>
              <a:gd name="adj" fmla="val 6400"/>
            </a:avLst>
          </a:prstGeom>
          <a:solidFill>
            <a:schemeClr val="bg2"/>
          </a:solidFill>
          <a:ln/>
        </p:spPr>
      </p:sp>
      <p:sp>
        <p:nvSpPr>
          <p:cNvPr id="20" name="cerchio FiShield"/>
          <p:cNvSpPr/>
          <p:nvPr/>
        </p:nvSpPr>
        <p:spPr>
          <a:xfrm>
            <a:off x="621792" y="2724912"/>
            <a:ext cx="438912" cy="438912"/>
          </a:xfrm>
          <a:prstGeom prst="ellipse">
            <a:avLst/>
          </a:prstGeom>
          <a:solidFill>
            <a:schemeClr val="accent1"/>
          </a:solidFill>
          <a:ln/>
        </p:spPr>
      </p:sp>
      <p:pic>
        <p:nvPicPr>
          <p:cNvPr id="21" name="Image 3" descr="FiShield">    </p:cNvPr>
          <p:cNvPicPr>
            <a:picLocks noChangeAspect="1"/>
          </p:cNvPicPr>
          <p:nvPr/>
        </p:nvPicPr>
        <p:blipFill>
          <a:blip r:embed="rId4"/>
          <a:stretch>
            <a:fillRect/>
          </a:stretch>
        </p:blipFill>
        <p:spPr>
          <a:xfrm>
            <a:off x="731520" y="2834640"/>
            <a:ext cx="219456" cy="219456"/>
          </a:xfrm>
          <a:prstGeom prst="rect">
            <a:avLst/>
          </a:prstGeom>
        </p:spPr>
      </p:pic>
      <p:sp>
        <p:nvSpPr>
          <p:cNvPr id="22" name="Text 15"/>
          <p:cNvSpPr txBox="1"/>
          <p:nvPr/>
        </p:nvSpPr>
        <p:spPr>
          <a:xfrm>
            <a:off x="1170432" y="268833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Argomenti contrari</a:t>
            </a:r>
            <a:endParaRPr lang="en-US" sz="1400" dirty="0"/>
          </a:p>
        </p:txBody>
      </p:sp>
      <p:sp>
        <p:nvSpPr>
          <p:cNvPr id="23" name="Text 16"/>
          <p:cNvSpPr txBox="1"/>
          <p:nvPr/>
        </p:nvSpPr>
        <p:spPr>
          <a:xfrm>
            <a:off x="621792" y="3273552"/>
            <a:ext cx="3694176" cy="338328"/>
          </a:xfrm>
          <a:prstGeom prst="rect">
            <a:avLst/>
          </a:prstGeom>
          <a:noFill/>
          <a:ln/>
        </p:spPr>
        <p:txBody>
          <a:bodyPr wrap="square" lIns="0" tIns="0" rIns="0" bIns="0" rtlCol="0" anchor="t"/>
          <a:lstStyle/>
          <a:p>
            <a:pPr indent="0" marL="0">
              <a:buNone/>
            </a:pPr>
            <a:r>
              <a:rPr lang="en-US" sz="1200" dirty="0">
                <a:solidFill>
                  <a:schemeClr val="tx2"/>
                </a:solidFill>
              </a:rPr>
              <a:t>"Quali obiezioni alla scelta che sto per fare?"</a:t>
            </a:r>
            <a:endParaRPr lang="en-US" sz="1200" dirty="0"/>
          </a:p>
        </p:txBody>
      </p:sp>
      <p:sp>
        <p:nvSpPr>
          <p:cNvPr id="24" name="Punti deboli"/>
          <p:cNvSpPr/>
          <p:nvPr/>
        </p:nvSpPr>
        <p:spPr>
          <a:xfrm>
            <a:off x="4663440" y="2560320"/>
            <a:ext cx="4023360" cy="1143000"/>
          </a:xfrm>
          <a:prstGeom prst="roundRect">
            <a:avLst>
              <a:gd name="adj" fmla="val 6400"/>
            </a:avLst>
          </a:prstGeom>
          <a:solidFill>
            <a:schemeClr val="bg2"/>
          </a:solidFill>
          <a:ln/>
        </p:spPr>
      </p:sp>
      <p:sp>
        <p:nvSpPr>
          <p:cNvPr id="25" name="cerchio FiGitBranch"/>
          <p:cNvSpPr/>
          <p:nvPr/>
        </p:nvSpPr>
        <p:spPr>
          <a:xfrm>
            <a:off x="4828032" y="2724912"/>
            <a:ext cx="438912" cy="438912"/>
          </a:xfrm>
          <a:prstGeom prst="ellipse">
            <a:avLst/>
          </a:prstGeom>
          <a:solidFill>
            <a:schemeClr val="accent1"/>
          </a:solidFill>
          <a:ln/>
        </p:spPr>
      </p:sp>
      <p:pic>
        <p:nvPicPr>
          <p:cNvPr id="26" name="Image 4" descr="FiGitBranch">    </p:cNvPr>
          <p:cNvPicPr>
            <a:picLocks noChangeAspect="1"/>
          </p:cNvPicPr>
          <p:nvPr/>
        </p:nvPicPr>
        <p:blipFill>
          <a:blip r:embed="rId5"/>
          <a:stretch>
            <a:fillRect/>
          </a:stretch>
        </p:blipFill>
        <p:spPr>
          <a:xfrm>
            <a:off x="4937760" y="2834640"/>
            <a:ext cx="219456" cy="219456"/>
          </a:xfrm>
          <a:prstGeom prst="rect">
            <a:avLst/>
          </a:prstGeom>
        </p:spPr>
      </p:pic>
      <p:sp>
        <p:nvSpPr>
          <p:cNvPr id="27" name="Text 19"/>
          <p:cNvSpPr txBox="1"/>
          <p:nvPr/>
        </p:nvSpPr>
        <p:spPr>
          <a:xfrm>
            <a:off x="5376672" y="268833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Punti deboli</a:t>
            </a:r>
            <a:endParaRPr lang="en-US" sz="1400" dirty="0"/>
          </a:p>
        </p:txBody>
      </p:sp>
      <p:sp>
        <p:nvSpPr>
          <p:cNvPr id="28" name="Text 20"/>
          <p:cNvSpPr txBox="1"/>
          <p:nvPr/>
        </p:nvSpPr>
        <p:spPr>
          <a:xfrm>
            <a:off x="4828032" y="3273552"/>
            <a:ext cx="3694176" cy="338328"/>
          </a:xfrm>
          <a:prstGeom prst="rect">
            <a:avLst/>
          </a:prstGeom>
          <a:noFill/>
          <a:ln/>
        </p:spPr>
        <p:txBody>
          <a:bodyPr wrap="square" lIns="0" tIns="0" rIns="0" bIns="0" rtlCol="0" anchor="t"/>
          <a:lstStyle/>
          <a:p>
            <a:pPr indent="0" marL="0">
              <a:buNone/>
            </a:pPr>
            <a:r>
              <a:rPr lang="en-US" sz="1200" dirty="0">
                <a:solidFill>
                  <a:schemeClr val="tx2"/>
                </a:solidFill>
              </a:rPr>
              <a:t>"Riformula il mio ragionamento in modo strutturato"</a:t>
            </a:r>
            <a:endParaRPr lang="en-US" sz="1200" dirty="0"/>
          </a:p>
        </p:txBody>
      </p:sp>
      <p:sp>
        <p:nvSpPr>
          <p:cNvPr id="29" name="messaggio"/>
          <p:cNvSpPr/>
          <p:nvPr/>
        </p:nvSpPr>
        <p:spPr>
          <a:xfrm>
            <a:off x="457200" y="3886200"/>
            <a:ext cx="8229600" cy="640080"/>
          </a:xfrm>
          <a:prstGeom prst="roundRect">
            <a:avLst>
              <a:gd name="adj" fmla="val 11429"/>
            </a:avLst>
          </a:prstGeom>
          <a:solidFill>
            <a:schemeClr val="tx1"/>
          </a:solidFill>
          <a:ln/>
        </p:spPr>
      </p:sp>
      <p:sp>
        <p:nvSpPr>
          <p:cNvPr id="30" name="Text 22"/>
          <p:cNvSpPr txBox="1"/>
          <p:nvPr/>
        </p:nvSpPr>
        <p:spPr>
          <a:xfrm>
            <a:off x="640080" y="3886200"/>
            <a:ext cx="7863840" cy="640080"/>
          </a:xfrm>
          <a:prstGeom prst="rect">
            <a:avLst/>
          </a:prstGeom>
          <a:noFill/>
          <a:ln/>
        </p:spPr>
        <p:txBody>
          <a:bodyPr wrap="square" lIns="0" tIns="0" rIns="0" bIns="0" rtlCol="0" anchor="ctr"/>
          <a:lstStyle/>
          <a:p>
            <a:pPr indent="0" marL="0">
              <a:buNone/>
            </a:pPr>
            <a:r>
              <a:rPr lang="en-US" sz="1300" dirty="0">
                <a:solidFill>
                  <a:schemeClr val="bg1"/>
                </a:solidFill>
              </a:rPr>
              <a:t>L'AI non decide: amplia e struttura ciò che la persona considera. Il beneficio è nella qualità della decisione.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Competenze, contesto e responsabilità</a:t>
            </a:r>
            <a:endParaRPr lang="en-US" sz="2600" dirty="0"/>
          </a:p>
        </p:txBody>
      </p:sp>
      <p:sp>
        <p:nvSpPr>
          <p:cNvPr id="4" name="scheda Competenze professionali"/>
          <p:cNvSpPr/>
          <p:nvPr/>
        </p:nvSpPr>
        <p:spPr>
          <a:xfrm>
            <a:off x="457200" y="1097280"/>
            <a:ext cx="2615184" cy="3429000"/>
          </a:xfrm>
          <a:prstGeom prst="roundRect">
            <a:avLst>
              <a:gd name="adj" fmla="val 2797"/>
            </a:avLst>
          </a:prstGeom>
          <a:solidFill>
            <a:schemeClr val="bg2"/>
          </a:solidFill>
          <a:ln/>
        </p:spPr>
      </p:sp>
      <p:sp>
        <p:nvSpPr>
          <p:cNvPr id="5" name="cerchio FiAward"/>
          <p:cNvSpPr/>
          <p:nvPr/>
        </p:nvSpPr>
        <p:spPr>
          <a:xfrm>
            <a:off x="640080" y="1280160"/>
            <a:ext cx="457200" cy="457200"/>
          </a:xfrm>
          <a:prstGeom prst="ellipse">
            <a:avLst/>
          </a:prstGeom>
          <a:solidFill>
            <a:schemeClr val="accent1"/>
          </a:solidFill>
          <a:ln/>
        </p:spPr>
      </p:sp>
      <p:pic>
        <p:nvPicPr>
          <p:cNvPr id="6" name="Image 0" descr="FiAward">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Competenze professionali</a:t>
            </a:r>
            <a:endParaRPr lang="en-US" sz="1500" dirty="0"/>
          </a:p>
        </p:txBody>
      </p:sp>
      <p:sp>
        <p:nvSpPr>
          <p:cNvPr id="8" name="Text 4"/>
          <p:cNvSpPr txBox="1"/>
          <p:nvPr/>
        </p:nvSpPr>
        <p:spPr>
          <a:xfrm>
            <a:off x="640080" y="2231136"/>
            <a:ext cx="2249424" cy="2185416"/>
          </a:xfrm>
          <a:prstGeom prst="rect">
            <a:avLst/>
          </a:prstGeom>
          <a:noFill/>
          <a:ln/>
        </p:spPr>
        <p:txBody>
          <a:bodyPr wrap="square" lIns="0" tIns="0" rIns="0" bIns="0" rtlCol="0" anchor="t"/>
          <a:lstStyle/>
          <a:p>
            <a:pPr indent="0" marL="0">
              <a:buNone/>
            </a:pPr>
            <a:r>
              <a:rPr lang="en-US" sz="1300" dirty="0">
                <a:solidFill>
                  <a:schemeClr val="tx2"/>
                </a:solidFill>
              </a:rPr>
              <a:t>Sapere che cosa chiedere, riconoscere gli errori, scegliere i suggerimenti. L'AI amplifica, non sostituisce.</a:t>
            </a:r>
            <a:endParaRPr lang="en-US" sz="1300" dirty="0"/>
          </a:p>
        </p:txBody>
      </p:sp>
      <p:sp>
        <p:nvSpPr>
          <p:cNvPr id="9" name="scheda Contesto"/>
          <p:cNvSpPr/>
          <p:nvPr/>
        </p:nvSpPr>
        <p:spPr>
          <a:xfrm>
            <a:off x="3264408" y="1097280"/>
            <a:ext cx="2615184" cy="3429000"/>
          </a:xfrm>
          <a:prstGeom prst="roundRect">
            <a:avLst>
              <a:gd name="adj" fmla="val 2797"/>
            </a:avLst>
          </a:prstGeom>
          <a:solidFill>
            <a:schemeClr val="bg2"/>
          </a:solidFill>
          <a:ln/>
        </p:spPr>
      </p:sp>
      <p:sp>
        <p:nvSpPr>
          <p:cNvPr id="10" name="cerchio FiMap"/>
          <p:cNvSpPr/>
          <p:nvPr/>
        </p:nvSpPr>
        <p:spPr>
          <a:xfrm>
            <a:off x="3447288" y="1280160"/>
            <a:ext cx="457200" cy="457200"/>
          </a:xfrm>
          <a:prstGeom prst="ellipse">
            <a:avLst/>
          </a:prstGeom>
          <a:solidFill>
            <a:schemeClr val="accent1"/>
          </a:solidFill>
          <a:ln/>
        </p:spPr>
      </p:sp>
      <p:pic>
        <p:nvPicPr>
          <p:cNvPr id="11" name="Image 1" descr="FiMap">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Contesto</a:t>
            </a:r>
            <a:endParaRPr lang="en-US" sz="1500" dirty="0"/>
          </a:p>
        </p:txBody>
      </p:sp>
      <p:sp>
        <p:nvSpPr>
          <p:cNvPr id="13" name="Text 8"/>
          <p:cNvSpPr txBox="1"/>
          <p:nvPr/>
        </p:nvSpPr>
        <p:spPr>
          <a:xfrm>
            <a:off x="3447288" y="2231136"/>
            <a:ext cx="2249424" cy="2185416"/>
          </a:xfrm>
          <a:prstGeom prst="rect">
            <a:avLst/>
          </a:prstGeom>
          <a:noFill/>
          <a:ln/>
        </p:spPr>
        <p:txBody>
          <a:bodyPr wrap="square" lIns="0" tIns="0" rIns="0" bIns="0" rtlCol="0" anchor="t"/>
          <a:lstStyle/>
          <a:p>
            <a:pPr indent="0" marL="0">
              <a:buNone/>
            </a:pPr>
            <a:r>
              <a:rPr lang="en-US" sz="1300" dirty="0">
                <a:solidFill>
                  <a:schemeClr val="tx2"/>
                </a:solidFill>
              </a:rPr>
              <a:t>Obiettivi, vincoli, pubblico, storia: il sistema li conosce solo se la persona li porta.</a:t>
            </a:r>
            <a:endParaRPr lang="en-US" sz="1300" dirty="0"/>
          </a:p>
        </p:txBody>
      </p:sp>
      <p:sp>
        <p:nvSpPr>
          <p:cNvPr id="14" name="scheda Responsabilità"/>
          <p:cNvSpPr/>
          <p:nvPr/>
        </p:nvSpPr>
        <p:spPr>
          <a:xfrm>
            <a:off x="6071616" y="1097280"/>
            <a:ext cx="2615184" cy="3429000"/>
          </a:xfrm>
          <a:prstGeom prst="roundRect">
            <a:avLst>
              <a:gd name="adj" fmla="val 2797"/>
            </a:avLst>
          </a:prstGeom>
          <a:solidFill>
            <a:schemeClr val="accent6"/>
          </a:solidFill>
          <a:ln/>
        </p:spPr>
      </p:sp>
      <p:sp>
        <p:nvSpPr>
          <p:cNvPr id="15" name="cerchio FiUserCheck"/>
          <p:cNvSpPr/>
          <p:nvPr/>
        </p:nvSpPr>
        <p:spPr>
          <a:xfrm>
            <a:off x="6254496" y="1280160"/>
            <a:ext cx="457200" cy="457200"/>
          </a:xfrm>
          <a:prstGeom prst="ellipse">
            <a:avLst/>
          </a:prstGeom>
          <a:solidFill>
            <a:schemeClr val="accent1"/>
          </a:solidFill>
          <a:ln/>
        </p:spPr>
      </p:sp>
      <p:pic>
        <p:nvPicPr>
          <p:cNvPr id="16" name="Image 2" descr="FiUserCheck">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Responsabilità</a:t>
            </a:r>
            <a:endParaRPr lang="en-US" sz="1500" dirty="0"/>
          </a:p>
        </p:txBody>
      </p:sp>
      <p:sp>
        <p:nvSpPr>
          <p:cNvPr id="18" name="Text 12"/>
          <p:cNvSpPr txBox="1"/>
          <p:nvPr/>
        </p:nvSpPr>
        <p:spPr>
          <a:xfrm>
            <a:off x="6254496" y="2231136"/>
            <a:ext cx="2249424" cy="2185416"/>
          </a:xfrm>
          <a:prstGeom prst="rect">
            <a:avLst/>
          </a:prstGeom>
          <a:noFill/>
          <a:ln/>
        </p:spPr>
        <p:txBody>
          <a:bodyPr wrap="square" lIns="0" tIns="0" rIns="0" bIns="0" rtlCol="0" anchor="t"/>
          <a:lstStyle/>
          <a:p>
            <a:pPr indent="0" marL="0">
              <a:buNone/>
            </a:pPr>
            <a:r>
              <a:rPr lang="en-US" sz="1300" dirty="0">
                <a:solidFill>
                  <a:schemeClr val="tx2"/>
                </a:solidFill>
              </a:rPr>
              <a:t>Validazione e uso del risultato spettano alla persona. "L'ha scritto l'AI" non è una giustificazione.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Il valore dell'AI può nascere dalla combinazione delle capacità del sistema con quelle della persona, senza implicare la sostituzione del giudizio umano.</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5.4  ·  La collaborazione uomo-AI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5.5</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I livelli di delega all'Intelligenza Artificiale</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Il livello di delega deve essere adeguato al compito, alle capacità del sistema, ai rischi e ai controlli disponibili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Cinque livelli di delega</a:t>
            </a:r>
            <a:endParaRPr lang="en-US" sz="2600" dirty="0"/>
          </a:p>
        </p:txBody>
      </p:sp>
      <p:sp>
        <p:nvSpPr>
          <p:cNvPr id="4" name="livello 1"/>
          <p:cNvSpPr/>
          <p:nvPr/>
        </p:nvSpPr>
        <p:spPr>
          <a:xfrm>
            <a:off x="457200" y="2514600"/>
            <a:ext cx="1536192" cy="1463040"/>
          </a:xfrm>
          <a:prstGeom prst="roundRect">
            <a:avLst>
              <a:gd name="adj" fmla="val 5000"/>
            </a:avLst>
          </a:prstGeom>
          <a:solidFill>
            <a:schemeClr val="bg2"/>
          </a:solidFill>
          <a:ln/>
        </p:spPr>
      </p:sp>
      <p:sp>
        <p:nvSpPr>
          <p:cNvPr id="5" name="Text 2"/>
          <p:cNvSpPr txBox="1"/>
          <p:nvPr/>
        </p:nvSpPr>
        <p:spPr>
          <a:xfrm>
            <a:off x="566928" y="2587752"/>
            <a:ext cx="548640" cy="411480"/>
          </a:xfrm>
          <a:prstGeom prst="rect">
            <a:avLst/>
          </a:prstGeom>
          <a:noFill/>
          <a:ln/>
        </p:spPr>
        <p:txBody>
          <a:bodyPr wrap="square" lIns="0" tIns="0" rIns="0" bIns="0" rtlCol="0" anchor="t"/>
          <a:lstStyle/>
          <a:p>
            <a:pPr indent="0" marL="0">
              <a:buNone/>
            </a:pPr>
            <a:r>
              <a:rPr lang="en-US" sz="2200" b="1" dirty="0">
                <a:solidFill>
                  <a:schemeClr val="accent1"/>
                </a:solidFill>
              </a:rPr>
              <a:t>1</a:t>
            </a:r>
            <a:endParaRPr lang="en-US" sz="2200" dirty="0"/>
          </a:p>
        </p:txBody>
      </p:sp>
      <p:sp>
        <p:nvSpPr>
          <p:cNvPr id="6" name="Text 3"/>
          <p:cNvSpPr txBox="1"/>
          <p:nvPr/>
        </p:nvSpPr>
        <p:spPr>
          <a:xfrm>
            <a:off x="566928" y="3017520"/>
            <a:ext cx="1353312" cy="548640"/>
          </a:xfrm>
          <a:prstGeom prst="rect">
            <a:avLst/>
          </a:prstGeom>
          <a:noFill/>
          <a:ln/>
        </p:spPr>
        <p:txBody>
          <a:bodyPr wrap="square" lIns="0" tIns="0" rIns="0" bIns="0" rtlCol="0" anchor="t"/>
          <a:lstStyle/>
          <a:p>
            <a:pPr indent="0" marL="0">
              <a:buNone/>
            </a:pPr>
            <a:r>
              <a:rPr lang="en-US" sz="1300" b="1" dirty="0">
                <a:solidFill>
                  <a:schemeClr val="tx1"/>
                </a:solidFill>
              </a:rPr>
              <a:t>Strumento informativo</a:t>
            </a:r>
            <a:endParaRPr lang="en-US" sz="1300" dirty="0"/>
          </a:p>
        </p:txBody>
      </p:sp>
      <p:sp>
        <p:nvSpPr>
          <p:cNvPr id="7" name="Text 4"/>
          <p:cNvSpPr txBox="1"/>
          <p:nvPr/>
        </p:nvSpPr>
        <p:spPr>
          <a:xfrm>
            <a:off x="566928" y="3566160"/>
            <a:ext cx="1353312" cy="365760"/>
          </a:xfrm>
          <a:prstGeom prst="rect">
            <a:avLst/>
          </a:prstGeom>
          <a:noFill/>
          <a:ln/>
        </p:spPr>
        <p:txBody>
          <a:bodyPr wrap="square" lIns="0" tIns="0" rIns="0" bIns="0" rtlCol="0" anchor="t"/>
          <a:lstStyle/>
          <a:p>
            <a:pPr indent="0" marL="0">
              <a:buNone/>
            </a:pPr>
            <a:r>
              <a:rPr lang="en-US" sz="1100" dirty="0">
                <a:solidFill>
                  <a:schemeClr val="tx2"/>
                </a:solidFill>
              </a:rPr>
              <a:t>Fornisce informazioni e spiegazioni</a:t>
            </a:r>
            <a:endParaRPr lang="en-US" sz="1100" dirty="0"/>
          </a:p>
        </p:txBody>
      </p:sp>
      <p:sp>
        <p:nvSpPr>
          <p:cNvPr id="8" name="livello 2"/>
          <p:cNvSpPr/>
          <p:nvPr/>
        </p:nvSpPr>
        <p:spPr>
          <a:xfrm>
            <a:off x="2139696" y="2194560"/>
            <a:ext cx="1536192" cy="1783080"/>
          </a:xfrm>
          <a:prstGeom prst="roundRect">
            <a:avLst>
              <a:gd name="adj" fmla="val 4762"/>
            </a:avLst>
          </a:prstGeom>
          <a:solidFill>
            <a:schemeClr val="bg2"/>
          </a:solidFill>
          <a:ln/>
        </p:spPr>
      </p:sp>
      <p:sp>
        <p:nvSpPr>
          <p:cNvPr id="9" name="Text 6"/>
          <p:cNvSpPr txBox="1"/>
          <p:nvPr/>
        </p:nvSpPr>
        <p:spPr>
          <a:xfrm>
            <a:off x="2249424" y="2267712"/>
            <a:ext cx="548640" cy="411480"/>
          </a:xfrm>
          <a:prstGeom prst="rect">
            <a:avLst/>
          </a:prstGeom>
          <a:noFill/>
          <a:ln/>
        </p:spPr>
        <p:txBody>
          <a:bodyPr wrap="square" lIns="0" tIns="0" rIns="0" bIns="0" rtlCol="0" anchor="t"/>
          <a:lstStyle/>
          <a:p>
            <a:pPr indent="0" marL="0">
              <a:buNone/>
            </a:pPr>
            <a:r>
              <a:rPr lang="en-US" sz="2200" b="1" dirty="0">
                <a:solidFill>
                  <a:schemeClr val="accent1"/>
                </a:solidFill>
              </a:rPr>
              <a:t>2</a:t>
            </a:r>
            <a:endParaRPr lang="en-US" sz="2200" dirty="0"/>
          </a:p>
        </p:txBody>
      </p:sp>
      <p:sp>
        <p:nvSpPr>
          <p:cNvPr id="10" name="Text 7"/>
          <p:cNvSpPr txBox="1"/>
          <p:nvPr/>
        </p:nvSpPr>
        <p:spPr>
          <a:xfrm>
            <a:off x="2249424" y="2697480"/>
            <a:ext cx="1353312" cy="548640"/>
          </a:xfrm>
          <a:prstGeom prst="rect">
            <a:avLst/>
          </a:prstGeom>
          <a:noFill/>
          <a:ln/>
        </p:spPr>
        <p:txBody>
          <a:bodyPr wrap="square" lIns="0" tIns="0" rIns="0" bIns="0" rtlCol="0" anchor="t"/>
          <a:lstStyle/>
          <a:p>
            <a:pPr indent="0" marL="0">
              <a:buNone/>
            </a:pPr>
            <a:r>
              <a:rPr lang="en-US" sz="1300" b="1" dirty="0">
                <a:solidFill>
                  <a:schemeClr val="tx1"/>
                </a:solidFill>
              </a:rPr>
              <a:t>Supporto e suggeritore</a:t>
            </a:r>
            <a:endParaRPr lang="en-US" sz="1300" dirty="0"/>
          </a:p>
        </p:txBody>
      </p:sp>
      <p:sp>
        <p:nvSpPr>
          <p:cNvPr id="11" name="Text 8"/>
          <p:cNvSpPr txBox="1"/>
          <p:nvPr/>
        </p:nvSpPr>
        <p:spPr>
          <a:xfrm>
            <a:off x="2249424" y="3246120"/>
            <a:ext cx="1353312" cy="685800"/>
          </a:xfrm>
          <a:prstGeom prst="rect">
            <a:avLst/>
          </a:prstGeom>
          <a:noFill/>
          <a:ln/>
        </p:spPr>
        <p:txBody>
          <a:bodyPr wrap="square" lIns="0" tIns="0" rIns="0" bIns="0" rtlCol="0" anchor="t"/>
          <a:lstStyle/>
          <a:p>
            <a:pPr indent="0" marL="0">
              <a:buNone/>
            </a:pPr>
            <a:r>
              <a:rPr lang="en-US" sz="1100" dirty="0">
                <a:solidFill>
                  <a:schemeClr val="tx2"/>
                </a:solidFill>
              </a:rPr>
              <a:t>Propone; la persona sceglie e realizza</a:t>
            </a:r>
            <a:endParaRPr lang="en-US" sz="1100" dirty="0"/>
          </a:p>
        </p:txBody>
      </p:sp>
      <p:sp>
        <p:nvSpPr>
          <p:cNvPr id="12" name="livello 3"/>
          <p:cNvSpPr/>
          <p:nvPr/>
        </p:nvSpPr>
        <p:spPr>
          <a:xfrm>
            <a:off x="3822192" y="1874520"/>
            <a:ext cx="1536192" cy="2103120"/>
          </a:xfrm>
          <a:prstGeom prst="roundRect">
            <a:avLst>
              <a:gd name="adj" fmla="val 4762"/>
            </a:avLst>
          </a:prstGeom>
          <a:solidFill>
            <a:schemeClr val="accent6"/>
          </a:solidFill>
          <a:ln/>
        </p:spPr>
      </p:sp>
      <p:sp>
        <p:nvSpPr>
          <p:cNvPr id="13" name="Text 10"/>
          <p:cNvSpPr txBox="1"/>
          <p:nvPr/>
        </p:nvSpPr>
        <p:spPr>
          <a:xfrm>
            <a:off x="3931920" y="1947672"/>
            <a:ext cx="548640" cy="411480"/>
          </a:xfrm>
          <a:prstGeom prst="rect">
            <a:avLst/>
          </a:prstGeom>
          <a:noFill/>
          <a:ln/>
        </p:spPr>
        <p:txBody>
          <a:bodyPr wrap="square" lIns="0" tIns="0" rIns="0" bIns="0" rtlCol="0" anchor="t"/>
          <a:lstStyle/>
          <a:p>
            <a:pPr indent="0" marL="0">
              <a:buNone/>
            </a:pPr>
            <a:r>
              <a:rPr lang="en-US" sz="2200" b="1" dirty="0">
                <a:solidFill>
                  <a:schemeClr val="accent1"/>
                </a:solidFill>
              </a:rPr>
              <a:t>3</a:t>
            </a:r>
            <a:endParaRPr lang="en-US" sz="2200" dirty="0"/>
          </a:p>
        </p:txBody>
      </p:sp>
      <p:sp>
        <p:nvSpPr>
          <p:cNvPr id="14" name="Text 11"/>
          <p:cNvSpPr txBox="1"/>
          <p:nvPr/>
        </p:nvSpPr>
        <p:spPr>
          <a:xfrm>
            <a:off x="3931920" y="2377440"/>
            <a:ext cx="1353312" cy="548640"/>
          </a:xfrm>
          <a:prstGeom prst="rect">
            <a:avLst/>
          </a:prstGeom>
          <a:noFill/>
          <a:ln/>
        </p:spPr>
        <p:txBody>
          <a:bodyPr wrap="square" lIns="0" tIns="0" rIns="0" bIns="0" rtlCol="0" anchor="t"/>
          <a:lstStyle/>
          <a:p>
            <a:pPr indent="0" marL="0">
              <a:buNone/>
            </a:pPr>
            <a:r>
              <a:rPr lang="en-US" sz="1300" b="1" dirty="0">
                <a:solidFill>
                  <a:schemeClr val="tx1"/>
                </a:solidFill>
              </a:rPr>
              <a:t>Collaboratore</a:t>
            </a:r>
            <a:endParaRPr lang="en-US" sz="1300" dirty="0"/>
          </a:p>
        </p:txBody>
      </p:sp>
      <p:sp>
        <p:nvSpPr>
          <p:cNvPr id="15" name="Text 12"/>
          <p:cNvSpPr txBox="1"/>
          <p:nvPr/>
        </p:nvSpPr>
        <p:spPr>
          <a:xfrm>
            <a:off x="3931920" y="2926080"/>
            <a:ext cx="1353312" cy="1005840"/>
          </a:xfrm>
          <a:prstGeom prst="rect">
            <a:avLst/>
          </a:prstGeom>
          <a:noFill/>
          <a:ln/>
        </p:spPr>
        <p:txBody>
          <a:bodyPr wrap="square" lIns="0" tIns="0" rIns="0" bIns="0" rtlCol="0" anchor="t"/>
          <a:lstStyle/>
          <a:p>
            <a:pPr indent="0" marL="0">
              <a:buNone/>
            </a:pPr>
            <a:r>
              <a:rPr lang="en-US" sz="1100" dirty="0">
                <a:solidFill>
                  <a:schemeClr val="tx2"/>
                </a:solidFill>
              </a:rPr>
              <a:t>Produce parti del risultato; la persona rivede e valida</a:t>
            </a:r>
            <a:endParaRPr lang="en-US" sz="1100" dirty="0"/>
          </a:p>
        </p:txBody>
      </p:sp>
      <p:sp>
        <p:nvSpPr>
          <p:cNvPr id="16" name="livello 4"/>
          <p:cNvSpPr/>
          <p:nvPr/>
        </p:nvSpPr>
        <p:spPr>
          <a:xfrm>
            <a:off x="5504688" y="1554480"/>
            <a:ext cx="1536192" cy="2423160"/>
          </a:xfrm>
          <a:prstGeom prst="roundRect">
            <a:avLst>
              <a:gd name="adj" fmla="val 4762"/>
            </a:avLst>
          </a:prstGeom>
          <a:solidFill>
            <a:schemeClr val="accent6"/>
          </a:solidFill>
          <a:ln/>
        </p:spPr>
      </p:sp>
      <p:sp>
        <p:nvSpPr>
          <p:cNvPr id="17" name="Text 14"/>
          <p:cNvSpPr txBox="1"/>
          <p:nvPr/>
        </p:nvSpPr>
        <p:spPr>
          <a:xfrm>
            <a:off x="5614416" y="1627632"/>
            <a:ext cx="548640" cy="411480"/>
          </a:xfrm>
          <a:prstGeom prst="rect">
            <a:avLst/>
          </a:prstGeom>
          <a:noFill/>
          <a:ln/>
        </p:spPr>
        <p:txBody>
          <a:bodyPr wrap="square" lIns="0" tIns="0" rIns="0" bIns="0" rtlCol="0" anchor="t"/>
          <a:lstStyle/>
          <a:p>
            <a:pPr indent="0" marL="0">
              <a:buNone/>
            </a:pPr>
            <a:r>
              <a:rPr lang="en-US" sz="2200" b="1" dirty="0">
                <a:solidFill>
                  <a:schemeClr val="accent1"/>
                </a:solidFill>
              </a:rPr>
              <a:t>4</a:t>
            </a:r>
            <a:endParaRPr lang="en-US" sz="2200" dirty="0"/>
          </a:p>
        </p:txBody>
      </p:sp>
      <p:sp>
        <p:nvSpPr>
          <p:cNvPr id="18" name="Text 15"/>
          <p:cNvSpPr txBox="1"/>
          <p:nvPr/>
        </p:nvSpPr>
        <p:spPr>
          <a:xfrm>
            <a:off x="5614416" y="2057400"/>
            <a:ext cx="1353312" cy="548640"/>
          </a:xfrm>
          <a:prstGeom prst="rect">
            <a:avLst/>
          </a:prstGeom>
          <a:noFill/>
          <a:ln/>
        </p:spPr>
        <p:txBody>
          <a:bodyPr wrap="square" lIns="0" tIns="0" rIns="0" bIns="0" rtlCol="0" anchor="t"/>
          <a:lstStyle/>
          <a:p>
            <a:pPr indent="0" marL="0">
              <a:buNone/>
            </a:pPr>
            <a:r>
              <a:rPr lang="en-US" sz="1300" b="1" dirty="0">
                <a:solidFill>
                  <a:schemeClr val="tx1"/>
                </a:solidFill>
              </a:rPr>
              <a:t>Delega con supervisione</a:t>
            </a:r>
            <a:endParaRPr lang="en-US" sz="1300" dirty="0"/>
          </a:p>
        </p:txBody>
      </p:sp>
      <p:sp>
        <p:nvSpPr>
          <p:cNvPr id="19" name="Text 16"/>
          <p:cNvSpPr txBox="1"/>
          <p:nvPr/>
        </p:nvSpPr>
        <p:spPr>
          <a:xfrm>
            <a:off x="5614416" y="2606040"/>
            <a:ext cx="1353312" cy="1325880"/>
          </a:xfrm>
          <a:prstGeom prst="rect">
            <a:avLst/>
          </a:prstGeom>
          <a:noFill/>
          <a:ln/>
        </p:spPr>
        <p:txBody>
          <a:bodyPr wrap="square" lIns="0" tIns="0" rIns="0" bIns="0" rtlCol="0" anchor="t"/>
          <a:lstStyle/>
          <a:p>
            <a:pPr indent="0" marL="0">
              <a:buNone/>
            </a:pPr>
            <a:r>
              <a:rPr lang="en-US" sz="1100" dirty="0">
                <a:solidFill>
                  <a:schemeClr val="tx2"/>
                </a:solidFill>
              </a:rPr>
              <a:t>Svolge l'attività; la persona controlla prima dell'uso</a:t>
            </a:r>
            <a:endParaRPr lang="en-US" sz="1100" dirty="0"/>
          </a:p>
        </p:txBody>
      </p:sp>
      <p:sp>
        <p:nvSpPr>
          <p:cNvPr id="20" name="livello 5"/>
          <p:cNvSpPr/>
          <p:nvPr/>
        </p:nvSpPr>
        <p:spPr>
          <a:xfrm>
            <a:off x="7187184" y="1234440"/>
            <a:ext cx="1536192" cy="2743200"/>
          </a:xfrm>
          <a:prstGeom prst="roundRect">
            <a:avLst>
              <a:gd name="adj" fmla="val 4762"/>
            </a:avLst>
          </a:prstGeom>
          <a:solidFill>
            <a:schemeClr val="accent1"/>
          </a:solidFill>
          <a:ln/>
        </p:spPr>
      </p:sp>
      <p:sp>
        <p:nvSpPr>
          <p:cNvPr id="21" name="Text 18"/>
          <p:cNvSpPr txBox="1"/>
          <p:nvPr/>
        </p:nvSpPr>
        <p:spPr>
          <a:xfrm>
            <a:off x="7296912" y="1307592"/>
            <a:ext cx="548640" cy="411480"/>
          </a:xfrm>
          <a:prstGeom prst="rect">
            <a:avLst/>
          </a:prstGeom>
          <a:noFill/>
          <a:ln/>
        </p:spPr>
        <p:txBody>
          <a:bodyPr wrap="square" lIns="0" tIns="0" rIns="0" bIns="0" rtlCol="0" anchor="t"/>
          <a:lstStyle/>
          <a:p>
            <a:pPr indent="0" marL="0">
              <a:buNone/>
            </a:pPr>
            <a:r>
              <a:rPr lang="en-US" sz="2200" b="1" dirty="0">
                <a:solidFill>
                  <a:schemeClr val="bg1"/>
                </a:solidFill>
              </a:rPr>
              <a:t>5</a:t>
            </a:r>
            <a:endParaRPr lang="en-US" sz="2200" dirty="0"/>
          </a:p>
        </p:txBody>
      </p:sp>
      <p:sp>
        <p:nvSpPr>
          <p:cNvPr id="22" name="Text 19"/>
          <p:cNvSpPr txBox="1"/>
          <p:nvPr/>
        </p:nvSpPr>
        <p:spPr>
          <a:xfrm>
            <a:off x="7296912" y="1737360"/>
            <a:ext cx="1353312" cy="548640"/>
          </a:xfrm>
          <a:prstGeom prst="rect">
            <a:avLst/>
          </a:prstGeom>
          <a:noFill/>
          <a:ln/>
        </p:spPr>
        <p:txBody>
          <a:bodyPr wrap="square" lIns="0" tIns="0" rIns="0" bIns="0" rtlCol="0" anchor="t"/>
          <a:lstStyle/>
          <a:p>
            <a:pPr indent="0" marL="0">
              <a:buNone/>
            </a:pPr>
            <a:r>
              <a:rPr lang="en-US" sz="1300" b="1" dirty="0">
                <a:solidFill>
                  <a:schemeClr val="bg1"/>
                </a:solidFill>
              </a:rPr>
              <a:t>Autonomia entro vincoli</a:t>
            </a:r>
            <a:endParaRPr lang="en-US" sz="1300" dirty="0"/>
          </a:p>
        </p:txBody>
      </p:sp>
      <p:sp>
        <p:nvSpPr>
          <p:cNvPr id="23" name="Text 20"/>
          <p:cNvSpPr txBox="1"/>
          <p:nvPr/>
        </p:nvSpPr>
        <p:spPr>
          <a:xfrm>
            <a:off x="7296912" y="2286000"/>
            <a:ext cx="1353312" cy="1645920"/>
          </a:xfrm>
          <a:prstGeom prst="rect">
            <a:avLst/>
          </a:prstGeom>
          <a:noFill/>
          <a:ln/>
        </p:spPr>
        <p:txBody>
          <a:bodyPr wrap="square" lIns="0" tIns="0" rIns="0" bIns="0" rtlCol="0" anchor="t"/>
          <a:lstStyle/>
          <a:p>
            <a:pPr indent="0" marL="0">
              <a:buNone/>
            </a:pPr>
            <a:r>
              <a:rPr lang="en-US" sz="1100" dirty="0">
                <a:solidFill>
                  <a:schemeClr val="accent6"/>
                </a:solidFill>
              </a:rPr>
              <a:t>Agisce entro limiti; la persona monitora ed eccezioni</a:t>
            </a:r>
            <a:endParaRPr lang="en-US" sz="1100" dirty="0"/>
          </a:p>
        </p:txBody>
      </p:sp>
      <p:sp>
        <p:nvSpPr>
          <p:cNvPr id="24" name="Text 21"/>
          <p:cNvSpPr txBox="1"/>
          <p:nvPr/>
        </p:nvSpPr>
        <p:spPr>
          <a:xfrm>
            <a:off x="457200" y="4114800"/>
            <a:ext cx="8229600" cy="365760"/>
          </a:xfrm>
          <a:prstGeom prst="rect">
            <a:avLst/>
          </a:prstGeom>
          <a:noFill/>
          <a:ln/>
        </p:spPr>
        <p:txBody>
          <a:bodyPr wrap="square" lIns="0" tIns="0" rIns="0" bIns="0" rtlCol="0" anchor="t"/>
          <a:lstStyle/>
          <a:p>
            <a:pPr indent="0" marL="0">
              <a:buNone/>
            </a:pPr>
            <a:r>
              <a:rPr lang="en-US" sz="1300" b="1" i="1" dirty="0">
                <a:solidFill>
                  <a:schemeClr val="accent5"/>
                </a:solidFill>
              </a:rPr>
              <a:t>Classificazione illustrativa, non uno standard tecnico né una progressione obbligatoria.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fanno l'AI e la persona a ogni livello</a:t>
            </a:r>
            <a:endParaRPr lang="en-US" sz="26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011680"/>
                <a:gridCol w="1280160"/>
                <a:gridCol w="2286000"/>
                <a:gridCol w="2651760"/>
              </a:tblGrid>
              <a:tr h="502920">
                <a:tc>
                  <a:txBody>
                    <a:bodyPr/>
                    <a:lstStyle/>
                    <a:p>
                      <a:pPr indent="0" marL="0">
                        <a:buNone/>
                      </a:pPr>
                      <a:r>
                        <a:rPr lang="en-US" sz="1200" b="1" dirty="0">
                          <a:solidFill>
                            <a:schemeClr val="bg1"/>
                          </a:solidFill>
                        </a:rPr>
                        <a:t>Livello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L'AI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La persona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Esempio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502920">
                <a:tc>
                  <a:txBody>
                    <a:bodyPr/>
                    <a:lstStyle/>
                    <a:p>
                      <a:pPr indent="0" marL="0">
                        <a:buNone/>
                      </a:pPr>
                      <a:r>
                        <a:rPr lang="en-US" sz="1200" b="1" dirty="0">
                          <a:solidFill>
                            <a:schemeClr val="tx1"/>
                          </a:solidFill>
                        </a:rPr>
                        <a:t>1. Informativo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Spiega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Interpreta, decide l'uso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Capire le novità di una normativa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502920">
                <a:tc>
                  <a:txBody>
                    <a:bodyPr/>
                    <a:lstStyle/>
                    <a:p>
                      <a:pPr indent="0" marL="0">
                        <a:buNone/>
                      </a:pPr>
                      <a:r>
                        <a:rPr lang="en-US" sz="1200" b="1" dirty="0">
                          <a:solidFill>
                            <a:schemeClr val="tx1"/>
                          </a:solidFill>
                        </a:rPr>
                        <a:t>2. Suggeritore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Propone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Sceglie e realizza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Formulazioni alternative per un paragrafo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502920">
                <a:tc>
                  <a:txBody>
                    <a:bodyPr/>
                    <a:lstStyle/>
                    <a:p>
                      <a:pPr indent="0" marL="0">
                        <a:buNone/>
                      </a:pPr>
                      <a:r>
                        <a:rPr lang="en-US" sz="1200" b="1" dirty="0">
                          <a:solidFill>
                            <a:schemeClr val="tx1"/>
                          </a:solidFill>
                        </a:rPr>
                        <a:t>3. Collaboratore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Produce parti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Rivede, integra, valida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Bozza di relazione da completare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502920">
                <a:tc>
                  <a:txBody>
                    <a:bodyPr/>
                    <a:lstStyle/>
                    <a:p>
                      <a:pPr indent="0" marL="0">
                        <a:buNone/>
                      </a:pPr>
                      <a:r>
                        <a:rPr lang="en-US" sz="1200" b="1" dirty="0">
                          <a:solidFill>
                            <a:schemeClr val="tx1"/>
                          </a:solidFill>
                        </a:rPr>
                        <a:t>4. Delega supervisionata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Esegue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Controlla ogni risultato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Risposte standard verificate prima dell'invio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502920">
                <a:tc>
                  <a:txBody>
                    <a:bodyPr/>
                    <a:lstStyle/>
                    <a:p>
                      <a:pPr indent="0" marL="0">
                        <a:buNone/>
                      </a:pPr>
                      <a:r>
                        <a:rPr lang="en-US" sz="1200" b="1" dirty="0">
                          <a:solidFill>
                            <a:schemeClr val="tx1"/>
                          </a:solidFill>
                        </a:rPr>
                        <a:t>5. Autonomia entro vincoli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Agisce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Definisce limiti, monitora, eccezioni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Smistamento richieste con controlli a campione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5" name="Text 1"/>
          <p:cNvSpPr txBox="1"/>
          <p:nvPr/>
        </p:nvSpPr>
        <p:spPr>
          <a:xfrm>
            <a:off x="457200" y="4434840"/>
            <a:ext cx="8229600" cy="274320"/>
          </a:xfrm>
          <a:prstGeom prst="rect">
            <a:avLst/>
          </a:prstGeom>
          <a:noFill/>
          <a:ln/>
        </p:spPr>
        <p:txBody>
          <a:bodyPr wrap="square" lIns="0" tIns="0" rIns="0" bIns="0" rtlCol="0" anchor="t"/>
          <a:lstStyle/>
          <a:p>
            <a:pPr indent="0" marL="0">
              <a:buNone/>
            </a:pPr>
            <a:r>
              <a:rPr lang="en-US" sz="1200" i="1" dirty="0">
                <a:solidFill>
                  <a:schemeClr val="tx1"/>
                </a:solidFill>
              </a:rPr>
              <a:t>Da chi usa le informazioni, a chi sceglie, rivede, controlla, definisce le regole.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Assistenza, collaborazione, delega, automazione</a:t>
            </a:r>
            <a:endParaRPr lang="en-US" sz="2600" dirty="0"/>
          </a:p>
        </p:txBody>
      </p:sp>
      <p:sp>
        <p:nvSpPr>
          <p:cNvPr id="4" name="Assistenza"/>
          <p:cNvSpPr/>
          <p:nvPr/>
        </p:nvSpPr>
        <p:spPr>
          <a:xfrm>
            <a:off x="457200" y="1097280"/>
            <a:ext cx="1965960" cy="2926080"/>
          </a:xfrm>
          <a:prstGeom prst="roundRect">
            <a:avLst>
              <a:gd name="adj" fmla="val 3721"/>
            </a:avLst>
          </a:prstGeom>
          <a:solidFill>
            <a:schemeClr val="bg2"/>
          </a:solidFill>
          <a:ln/>
        </p:spPr>
      </p:sp>
      <p:sp>
        <p:nvSpPr>
          <p:cNvPr id="5" name="cerchio FiLifeBuoy"/>
          <p:cNvSpPr/>
          <p:nvPr/>
        </p:nvSpPr>
        <p:spPr>
          <a:xfrm>
            <a:off x="621792" y="1234440"/>
            <a:ext cx="457200" cy="457200"/>
          </a:xfrm>
          <a:prstGeom prst="ellipse">
            <a:avLst/>
          </a:prstGeom>
          <a:solidFill>
            <a:schemeClr val="accent1"/>
          </a:solidFill>
          <a:ln/>
        </p:spPr>
      </p:sp>
      <p:pic>
        <p:nvPicPr>
          <p:cNvPr id="6" name="Image 0" descr="FiLifeBuoy">    </p:cNvPr>
          <p:cNvPicPr>
            <a:picLocks noChangeAspect="1"/>
          </p:cNvPicPr>
          <p:nvPr/>
        </p:nvPicPr>
        <p:blipFill>
          <a:blip r:embed="rId1"/>
          <a:stretch>
            <a:fillRect/>
          </a:stretch>
        </p:blipFill>
        <p:spPr>
          <a:xfrm>
            <a:off x="736092" y="1348740"/>
            <a:ext cx="228600" cy="228600"/>
          </a:xfrm>
          <a:prstGeom prst="rect">
            <a:avLst/>
          </a:prstGeom>
        </p:spPr>
      </p:pic>
      <p:sp>
        <p:nvSpPr>
          <p:cNvPr id="7" name="Text 3"/>
          <p:cNvSpPr txBox="1"/>
          <p:nvPr/>
        </p:nvSpPr>
        <p:spPr>
          <a:xfrm>
            <a:off x="1170432" y="1234440"/>
            <a:ext cx="1234440" cy="457200"/>
          </a:xfrm>
          <a:prstGeom prst="rect">
            <a:avLst/>
          </a:prstGeom>
          <a:noFill/>
          <a:ln/>
        </p:spPr>
        <p:txBody>
          <a:bodyPr wrap="square" lIns="0" tIns="0" rIns="0" bIns="0" rtlCol="0" anchor="ctr"/>
          <a:lstStyle/>
          <a:p>
            <a:pPr indent="0" marL="0">
              <a:buNone/>
            </a:pPr>
            <a:r>
              <a:rPr lang="en-US" sz="1400" b="1" dirty="0">
                <a:solidFill>
                  <a:schemeClr val="tx1"/>
                </a:solidFill>
              </a:rPr>
              <a:t>Assistenza</a:t>
            </a:r>
            <a:endParaRPr lang="en-US" sz="1400" dirty="0"/>
          </a:p>
        </p:txBody>
      </p:sp>
      <p:sp>
        <p:nvSpPr>
          <p:cNvPr id="8" name="Text 4"/>
          <p:cNvSpPr txBox="1"/>
          <p:nvPr/>
        </p:nvSpPr>
        <p:spPr>
          <a:xfrm>
            <a:off x="621792" y="1828800"/>
            <a:ext cx="1691640" cy="1005840"/>
          </a:xfrm>
          <a:prstGeom prst="rect">
            <a:avLst/>
          </a:prstGeom>
          <a:noFill/>
          <a:ln/>
        </p:spPr>
        <p:txBody>
          <a:bodyPr wrap="square" lIns="0" tIns="0" rIns="0" bIns="0" rtlCol="0" anchor="t"/>
          <a:lstStyle/>
          <a:p>
            <a:pPr indent="0" marL="0">
              <a:buNone/>
            </a:pPr>
            <a:r>
              <a:rPr lang="en-US" sz="1200" dirty="0">
                <a:solidFill>
                  <a:schemeClr val="tx2"/>
                </a:solidFill>
              </a:rPr>
              <a:t>L'AI aiuta in un'attività che resta della persona</a:t>
            </a:r>
            <a:endParaRPr lang="en-US" sz="1200" dirty="0"/>
          </a:p>
        </p:txBody>
      </p:sp>
      <p:sp>
        <p:nvSpPr>
          <p:cNvPr id="9" name="Text 5"/>
          <p:cNvSpPr txBox="1"/>
          <p:nvPr/>
        </p:nvSpPr>
        <p:spPr>
          <a:xfrm>
            <a:off x="621792" y="2880360"/>
            <a:ext cx="1691640" cy="274320"/>
          </a:xfrm>
          <a:prstGeom prst="rect">
            <a:avLst/>
          </a:prstGeom>
          <a:noFill/>
          <a:ln/>
        </p:spPr>
        <p:txBody>
          <a:bodyPr wrap="square" lIns="0" tIns="0" rIns="0" bIns="0" rtlCol="0" anchor="t"/>
          <a:lstStyle/>
          <a:p>
            <a:pPr indent="0" marL="0">
              <a:buNone/>
            </a:pPr>
            <a:r>
              <a:rPr lang="en-US" sz="1100" b="1" dirty="0">
                <a:solidFill>
                  <a:schemeClr val="accent1"/>
                </a:solidFill>
              </a:rPr>
              <a:t>Livelli 1-2</a:t>
            </a:r>
            <a:endParaRPr lang="en-US" sz="1100" dirty="0"/>
          </a:p>
        </p:txBody>
      </p:sp>
      <p:sp>
        <p:nvSpPr>
          <p:cNvPr id="10" name="Text 6"/>
          <p:cNvSpPr txBox="1"/>
          <p:nvPr/>
        </p:nvSpPr>
        <p:spPr>
          <a:xfrm>
            <a:off x="621792" y="3200400"/>
            <a:ext cx="1691640" cy="685800"/>
          </a:xfrm>
          <a:prstGeom prst="rect">
            <a:avLst/>
          </a:prstGeom>
          <a:noFill/>
          <a:ln/>
        </p:spPr>
        <p:txBody>
          <a:bodyPr wrap="square" lIns="0" tIns="0" rIns="0" bIns="0" rtlCol="0" anchor="t"/>
          <a:lstStyle/>
          <a:p>
            <a:pPr indent="0" marL="0">
              <a:buNone/>
            </a:pPr>
            <a:r>
              <a:rPr lang="en-US" sz="1100" b="1" dirty="0">
                <a:solidFill>
                  <a:schemeClr val="tx1"/>
                </a:solidFill>
              </a:rPr>
              <a:t>Persona: Dentro l'attività</a:t>
            </a:r>
            <a:endParaRPr lang="en-US" sz="1100" dirty="0"/>
          </a:p>
        </p:txBody>
      </p:sp>
      <p:sp>
        <p:nvSpPr>
          <p:cNvPr id="11" name="Collaborazione"/>
          <p:cNvSpPr/>
          <p:nvPr/>
        </p:nvSpPr>
        <p:spPr>
          <a:xfrm>
            <a:off x="2560320" y="1097280"/>
            <a:ext cx="1965960" cy="2926080"/>
          </a:xfrm>
          <a:prstGeom prst="roundRect">
            <a:avLst>
              <a:gd name="adj" fmla="val 3721"/>
            </a:avLst>
          </a:prstGeom>
          <a:solidFill>
            <a:schemeClr val="bg2"/>
          </a:solidFill>
          <a:ln/>
        </p:spPr>
      </p:sp>
      <p:sp>
        <p:nvSpPr>
          <p:cNvPr id="12" name="cerchio FiUsers"/>
          <p:cNvSpPr/>
          <p:nvPr/>
        </p:nvSpPr>
        <p:spPr>
          <a:xfrm>
            <a:off x="2724912" y="1234440"/>
            <a:ext cx="457200" cy="457200"/>
          </a:xfrm>
          <a:prstGeom prst="ellipse">
            <a:avLst/>
          </a:prstGeom>
          <a:solidFill>
            <a:schemeClr val="accent1"/>
          </a:solidFill>
          <a:ln/>
        </p:spPr>
      </p:sp>
      <p:pic>
        <p:nvPicPr>
          <p:cNvPr id="13" name="Image 1" descr="FiUsers">    </p:cNvPr>
          <p:cNvPicPr>
            <a:picLocks noChangeAspect="1"/>
          </p:cNvPicPr>
          <p:nvPr/>
        </p:nvPicPr>
        <p:blipFill>
          <a:blip r:embed="rId2"/>
          <a:stretch>
            <a:fillRect/>
          </a:stretch>
        </p:blipFill>
        <p:spPr>
          <a:xfrm>
            <a:off x="2839212" y="1348740"/>
            <a:ext cx="228600" cy="228600"/>
          </a:xfrm>
          <a:prstGeom prst="rect">
            <a:avLst/>
          </a:prstGeom>
        </p:spPr>
      </p:pic>
      <p:sp>
        <p:nvSpPr>
          <p:cNvPr id="14" name="Text 9"/>
          <p:cNvSpPr txBox="1"/>
          <p:nvPr/>
        </p:nvSpPr>
        <p:spPr>
          <a:xfrm>
            <a:off x="3273552" y="1234440"/>
            <a:ext cx="1234440" cy="457200"/>
          </a:xfrm>
          <a:prstGeom prst="rect">
            <a:avLst/>
          </a:prstGeom>
          <a:noFill/>
          <a:ln/>
        </p:spPr>
        <p:txBody>
          <a:bodyPr wrap="square" lIns="0" tIns="0" rIns="0" bIns="0" rtlCol="0" anchor="ctr"/>
          <a:lstStyle/>
          <a:p>
            <a:pPr indent="0" marL="0">
              <a:buNone/>
            </a:pPr>
            <a:r>
              <a:rPr lang="en-US" sz="1400" b="1" dirty="0">
                <a:solidFill>
                  <a:schemeClr val="tx1"/>
                </a:solidFill>
              </a:rPr>
              <a:t>Collaborazione</a:t>
            </a:r>
            <a:endParaRPr lang="en-US" sz="1400" dirty="0"/>
          </a:p>
        </p:txBody>
      </p:sp>
      <p:sp>
        <p:nvSpPr>
          <p:cNvPr id="15" name="Text 10"/>
          <p:cNvSpPr txBox="1"/>
          <p:nvPr/>
        </p:nvSpPr>
        <p:spPr>
          <a:xfrm>
            <a:off x="2724912" y="1828800"/>
            <a:ext cx="1691640" cy="1005840"/>
          </a:xfrm>
          <a:prstGeom prst="rect">
            <a:avLst/>
          </a:prstGeom>
          <a:noFill/>
          <a:ln/>
        </p:spPr>
        <p:txBody>
          <a:bodyPr wrap="square" lIns="0" tIns="0" rIns="0" bIns="0" rtlCol="0" anchor="t"/>
          <a:lstStyle/>
          <a:p>
            <a:pPr indent="0" marL="0">
              <a:buNone/>
            </a:pPr>
            <a:r>
              <a:rPr lang="en-US" sz="1200" dirty="0">
                <a:solidFill>
                  <a:schemeClr val="tx2"/>
                </a:solidFill>
              </a:rPr>
              <a:t>Contributi alternati allo stesso risultato</a:t>
            </a:r>
            <a:endParaRPr lang="en-US" sz="1200" dirty="0"/>
          </a:p>
        </p:txBody>
      </p:sp>
      <p:sp>
        <p:nvSpPr>
          <p:cNvPr id="16" name="Text 11"/>
          <p:cNvSpPr txBox="1"/>
          <p:nvPr/>
        </p:nvSpPr>
        <p:spPr>
          <a:xfrm>
            <a:off x="2724912" y="2880360"/>
            <a:ext cx="1691640" cy="274320"/>
          </a:xfrm>
          <a:prstGeom prst="rect">
            <a:avLst/>
          </a:prstGeom>
          <a:noFill/>
          <a:ln/>
        </p:spPr>
        <p:txBody>
          <a:bodyPr wrap="square" lIns="0" tIns="0" rIns="0" bIns="0" rtlCol="0" anchor="t"/>
          <a:lstStyle/>
          <a:p>
            <a:pPr indent="0" marL="0">
              <a:buNone/>
            </a:pPr>
            <a:r>
              <a:rPr lang="en-US" sz="1100" b="1" dirty="0">
                <a:solidFill>
                  <a:schemeClr val="accent1"/>
                </a:solidFill>
              </a:rPr>
              <a:t>Livello 3</a:t>
            </a:r>
            <a:endParaRPr lang="en-US" sz="1100" dirty="0"/>
          </a:p>
        </p:txBody>
      </p:sp>
      <p:sp>
        <p:nvSpPr>
          <p:cNvPr id="17" name="Text 12"/>
          <p:cNvSpPr txBox="1"/>
          <p:nvPr/>
        </p:nvSpPr>
        <p:spPr>
          <a:xfrm>
            <a:off x="2724912" y="3200400"/>
            <a:ext cx="1691640" cy="685800"/>
          </a:xfrm>
          <a:prstGeom prst="rect">
            <a:avLst/>
          </a:prstGeom>
          <a:noFill/>
          <a:ln/>
        </p:spPr>
        <p:txBody>
          <a:bodyPr wrap="square" lIns="0" tIns="0" rIns="0" bIns="0" rtlCol="0" anchor="t"/>
          <a:lstStyle/>
          <a:p>
            <a:pPr indent="0" marL="0">
              <a:buNone/>
            </a:pPr>
            <a:r>
              <a:rPr lang="en-US" sz="1100" b="1" dirty="0">
                <a:solidFill>
                  <a:schemeClr val="tx1"/>
                </a:solidFill>
              </a:rPr>
              <a:t>Persona: Accanto all'AI</a:t>
            </a:r>
            <a:endParaRPr lang="en-US" sz="1100" dirty="0"/>
          </a:p>
        </p:txBody>
      </p:sp>
      <p:sp>
        <p:nvSpPr>
          <p:cNvPr id="18" name="Delega"/>
          <p:cNvSpPr/>
          <p:nvPr/>
        </p:nvSpPr>
        <p:spPr>
          <a:xfrm>
            <a:off x="4663440" y="1097280"/>
            <a:ext cx="1965960" cy="2926080"/>
          </a:xfrm>
          <a:prstGeom prst="roundRect">
            <a:avLst>
              <a:gd name="adj" fmla="val 3721"/>
            </a:avLst>
          </a:prstGeom>
          <a:solidFill>
            <a:schemeClr val="bg2"/>
          </a:solidFill>
          <a:ln/>
        </p:spPr>
      </p:sp>
      <p:sp>
        <p:nvSpPr>
          <p:cNvPr id="19" name="cerchio FiSend"/>
          <p:cNvSpPr/>
          <p:nvPr/>
        </p:nvSpPr>
        <p:spPr>
          <a:xfrm>
            <a:off x="4828032" y="1234440"/>
            <a:ext cx="457200" cy="457200"/>
          </a:xfrm>
          <a:prstGeom prst="ellipse">
            <a:avLst/>
          </a:prstGeom>
          <a:solidFill>
            <a:schemeClr val="accent1"/>
          </a:solidFill>
          <a:ln/>
        </p:spPr>
      </p:sp>
      <p:pic>
        <p:nvPicPr>
          <p:cNvPr id="20" name="Image 2" descr="FiSend">    </p:cNvPr>
          <p:cNvPicPr>
            <a:picLocks noChangeAspect="1"/>
          </p:cNvPicPr>
          <p:nvPr/>
        </p:nvPicPr>
        <p:blipFill>
          <a:blip r:embed="rId3"/>
          <a:stretch>
            <a:fillRect/>
          </a:stretch>
        </p:blipFill>
        <p:spPr>
          <a:xfrm>
            <a:off x="4942332" y="1348740"/>
            <a:ext cx="228600" cy="228600"/>
          </a:xfrm>
          <a:prstGeom prst="rect">
            <a:avLst/>
          </a:prstGeom>
        </p:spPr>
      </p:pic>
      <p:sp>
        <p:nvSpPr>
          <p:cNvPr id="21" name="Text 15"/>
          <p:cNvSpPr txBox="1"/>
          <p:nvPr/>
        </p:nvSpPr>
        <p:spPr>
          <a:xfrm>
            <a:off x="5376672" y="1234440"/>
            <a:ext cx="1234440" cy="457200"/>
          </a:xfrm>
          <a:prstGeom prst="rect">
            <a:avLst/>
          </a:prstGeom>
          <a:noFill/>
          <a:ln/>
        </p:spPr>
        <p:txBody>
          <a:bodyPr wrap="square" lIns="0" tIns="0" rIns="0" bIns="0" rtlCol="0" anchor="ctr"/>
          <a:lstStyle/>
          <a:p>
            <a:pPr indent="0" marL="0">
              <a:buNone/>
            </a:pPr>
            <a:r>
              <a:rPr lang="en-US" sz="1400" b="1" dirty="0">
                <a:solidFill>
                  <a:schemeClr val="tx1"/>
                </a:solidFill>
              </a:rPr>
              <a:t>Delega</a:t>
            </a:r>
            <a:endParaRPr lang="en-US" sz="1400" dirty="0"/>
          </a:p>
        </p:txBody>
      </p:sp>
      <p:sp>
        <p:nvSpPr>
          <p:cNvPr id="22" name="Text 16"/>
          <p:cNvSpPr txBox="1"/>
          <p:nvPr/>
        </p:nvSpPr>
        <p:spPr>
          <a:xfrm>
            <a:off x="4828032" y="1828800"/>
            <a:ext cx="1691640" cy="1005840"/>
          </a:xfrm>
          <a:prstGeom prst="rect">
            <a:avLst/>
          </a:prstGeom>
          <a:noFill/>
          <a:ln/>
        </p:spPr>
        <p:txBody>
          <a:bodyPr wrap="square" lIns="0" tIns="0" rIns="0" bIns="0" rtlCol="0" anchor="t"/>
          <a:lstStyle/>
          <a:p>
            <a:pPr indent="0" marL="0">
              <a:buNone/>
            </a:pPr>
            <a:r>
              <a:rPr lang="en-US" sz="1200" dirty="0">
                <a:solidFill>
                  <a:schemeClr val="tx2"/>
                </a:solidFill>
              </a:rPr>
              <a:t>L'AI svolge un'attività intera; la persona controlla</a:t>
            </a:r>
            <a:endParaRPr lang="en-US" sz="1200" dirty="0"/>
          </a:p>
        </p:txBody>
      </p:sp>
      <p:sp>
        <p:nvSpPr>
          <p:cNvPr id="23" name="Text 17"/>
          <p:cNvSpPr txBox="1"/>
          <p:nvPr/>
        </p:nvSpPr>
        <p:spPr>
          <a:xfrm>
            <a:off x="4828032" y="2880360"/>
            <a:ext cx="1691640" cy="274320"/>
          </a:xfrm>
          <a:prstGeom prst="rect">
            <a:avLst/>
          </a:prstGeom>
          <a:noFill/>
          <a:ln/>
        </p:spPr>
        <p:txBody>
          <a:bodyPr wrap="square" lIns="0" tIns="0" rIns="0" bIns="0" rtlCol="0" anchor="t"/>
          <a:lstStyle/>
          <a:p>
            <a:pPr indent="0" marL="0">
              <a:buNone/>
            </a:pPr>
            <a:r>
              <a:rPr lang="en-US" sz="1100" b="1" dirty="0">
                <a:solidFill>
                  <a:schemeClr val="accent1"/>
                </a:solidFill>
              </a:rPr>
              <a:t>Livelli 4-5</a:t>
            </a:r>
            <a:endParaRPr lang="en-US" sz="1100" dirty="0"/>
          </a:p>
        </p:txBody>
      </p:sp>
      <p:sp>
        <p:nvSpPr>
          <p:cNvPr id="24" name="Text 18"/>
          <p:cNvSpPr txBox="1"/>
          <p:nvPr/>
        </p:nvSpPr>
        <p:spPr>
          <a:xfrm>
            <a:off x="4828032" y="3200400"/>
            <a:ext cx="1691640" cy="685800"/>
          </a:xfrm>
          <a:prstGeom prst="rect">
            <a:avLst/>
          </a:prstGeom>
          <a:noFill/>
          <a:ln/>
        </p:spPr>
        <p:txBody>
          <a:bodyPr wrap="square" lIns="0" tIns="0" rIns="0" bIns="0" rtlCol="0" anchor="t"/>
          <a:lstStyle/>
          <a:p>
            <a:pPr indent="0" marL="0">
              <a:buNone/>
            </a:pPr>
            <a:r>
              <a:rPr lang="en-US" sz="1100" b="1" dirty="0">
                <a:solidFill>
                  <a:schemeClr val="tx1"/>
                </a:solidFill>
              </a:rPr>
              <a:t>Persona: Sopra l'attività</a:t>
            </a:r>
            <a:endParaRPr lang="en-US" sz="1100" dirty="0"/>
          </a:p>
        </p:txBody>
      </p:sp>
      <p:sp>
        <p:nvSpPr>
          <p:cNvPr id="25" name="Automazione"/>
          <p:cNvSpPr/>
          <p:nvPr/>
        </p:nvSpPr>
        <p:spPr>
          <a:xfrm>
            <a:off x="6766560" y="1097280"/>
            <a:ext cx="1965960" cy="2926080"/>
          </a:xfrm>
          <a:prstGeom prst="roundRect">
            <a:avLst>
              <a:gd name="adj" fmla="val 3721"/>
            </a:avLst>
          </a:prstGeom>
          <a:solidFill>
            <a:schemeClr val="accent6"/>
          </a:solidFill>
          <a:ln/>
        </p:spPr>
      </p:sp>
      <p:sp>
        <p:nvSpPr>
          <p:cNvPr id="26" name="cerchio FiRepeat"/>
          <p:cNvSpPr/>
          <p:nvPr/>
        </p:nvSpPr>
        <p:spPr>
          <a:xfrm>
            <a:off x="6931152" y="1234440"/>
            <a:ext cx="457200" cy="457200"/>
          </a:xfrm>
          <a:prstGeom prst="ellipse">
            <a:avLst/>
          </a:prstGeom>
          <a:solidFill>
            <a:schemeClr val="accent1"/>
          </a:solidFill>
          <a:ln/>
        </p:spPr>
      </p:sp>
      <p:pic>
        <p:nvPicPr>
          <p:cNvPr id="27" name="Image 3" descr="FiRepeat">    </p:cNvPr>
          <p:cNvPicPr>
            <a:picLocks noChangeAspect="1"/>
          </p:cNvPicPr>
          <p:nvPr/>
        </p:nvPicPr>
        <p:blipFill>
          <a:blip r:embed="rId4"/>
          <a:stretch>
            <a:fillRect/>
          </a:stretch>
        </p:blipFill>
        <p:spPr>
          <a:xfrm>
            <a:off x="7045452" y="1348740"/>
            <a:ext cx="228600" cy="228600"/>
          </a:xfrm>
          <a:prstGeom prst="rect">
            <a:avLst/>
          </a:prstGeom>
        </p:spPr>
      </p:pic>
      <p:sp>
        <p:nvSpPr>
          <p:cNvPr id="28" name="Text 21"/>
          <p:cNvSpPr txBox="1"/>
          <p:nvPr/>
        </p:nvSpPr>
        <p:spPr>
          <a:xfrm>
            <a:off x="7479792" y="1234440"/>
            <a:ext cx="1234440" cy="457200"/>
          </a:xfrm>
          <a:prstGeom prst="rect">
            <a:avLst/>
          </a:prstGeom>
          <a:noFill/>
          <a:ln/>
        </p:spPr>
        <p:txBody>
          <a:bodyPr wrap="square" lIns="0" tIns="0" rIns="0" bIns="0" rtlCol="0" anchor="ctr"/>
          <a:lstStyle/>
          <a:p>
            <a:pPr indent="0" marL="0">
              <a:buNone/>
            </a:pPr>
            <a:r>
              <a:rPr lang="en-US" sz="1400" b="1" dirty="0">
                <a:solidFill>
                  <a:schemeClr val="tx1"/>
                </a:solidFill>
              </a:rPr>
              <a:t>Automazione</a:t>
            </a:r>
            <a:endParaRPr lang="en-US" sz="1400" dirty="0"/>
          </a:p>
        </p:txBody>
      </p:sp>
      <p:sp>
        <p:nvSpPr>
          <p:cNvPr id="29" name="Text 22"/>
          <p:cNvSpPr txBox="1"/>
          <p:nvPr/>
        </p:nvSpPr>
        <p:spPr>
          <a:xfrm>
            <a:off x="6931152" y="1828800"/>
            <a:ext cx="1691640" cy="1005840"/>
          </a:xfrm>
          <a:prstGeom prst="rect">
            <a:avLst/>
          </a:prstGeom>
          <a:noFill/>
          <a:ln/>
        </p:spPr>
        <p:txBody>
          <a:bodyPr wrap="square" lIns="0" tIns="0" rIns="0" bIns="0" rtlCol="0" anchor="t"/>
          <a:lstStyle/>
          <a:p>
            <a:pPr indent="0" marL="0">
              <a:buNone/>
            </a:pPr>
            <a:r>
              <a:rPr lang="en-US" sz="1200" dirty="0">
                <a:solidFill>
                  <a:schemeClr val="tx2"/>
                </a:solidFill>
              </a:rPr>
              <a:t>Svolgimento ricorrente senza intervento caso per caso</a:t>
            </a:r>
            <a:endParaRPr lang="en-US" sz="1200" dirty="0"/>
          </a:p>
        </p:txBody>
      </p:sp>
      <p:sp>
        <p:nvSpPr>
          <p:cNvPr id="30" name="Text 23"/>
          <p:cNvSpPr txBox="1"/>
          <p:nvPr/>
        </p:nvSpPr>
        <p:spPr>
          <a:xfrm>
            <a:off x="6931152" y="2880360"/>
            <a:ext cx="1691640" cy="274320"/>
          </a:xfrm>
          <a:prstGeom prst="rect">
            <a:avLst/>
          </a:prstGeom>
          <a:noFill/>
          <a:ln/>
        </p:spPr>
        <p:txBody>
          <a:bodyPr wrap="square" lIns="0" tIns="0" rIns="0" bIns="0" rtlCol="0" anchor="t"/>
          <a:lstStyle/>
          <a:p>
            <a:pPr indent="0" marL="0">
              <a:buNone/>
            </a:pPr>
            <a:r>
              <a:rPr lang="en-US" sz="1100" b="1" dirty="0">
                <a:solidFill>
                  <a:schemeClr val="accent1"/>
                </a:solidFill>
              </a:rPr>
              <a:t>Livello 5 sistematico</a:t>
            </a:r>
            <a:endParaRPr lang="en-US" sz="1100" dirty="0"/>
          </a:p>
        </p:txBody>
      </p:sp>
      <p:sp>
        <p:nvSpPr>
          <p:cNvPr id="31" name="Text 24"/>
          <p:cNvSpPr txBox="1"/>
          <p:nvPr/>
        </p:nvSpPr>
        <p:spPr>
          <a:xfrm>
            <a:off x="6931152" y="3200400"/>
            <a:ext cx="1691640" cy="685800"/>
          </a:xfrm>
          <a:prstGeom prst="rect">
            <a:avLst/>
          </a:prstGeom>
          <a:noFill/>
          <a:ln/>
        </p:spPr>
        <p:txBody>
          <a:bodyPr wrap="square" lIns="0" tIns="0" rIns="0" bIns="0" rtlCol="0" anchor="t"/>
          <a:lstStyle/>
          <a:p>
            <a:pPr indent="0" marL="0">
              <a:buNone/>
            </a:pPr>
            <a:r>
              <a:rPr lang="en-US" sz="1100" b="1" dirty="0">
                <a:solidFill>
                  <a:schemeClr val="tx1"/>
                </a:solidFill>
              </a:rPr>
              <a:t>Persona: A monte: definisce le regole</a:t>
            </a:r>
            <a:endParaRPr lang="en-US" sz="1100" dirty="0"/>
          </a:p>
        </p:txBody>
      </p:sp>
      <p:sp>
        <p:nvSpPr>
          <p:cNvPr id="32" name="Text 25"/>
          <p:cNvSpPr txBox="1"/>
          <p:nvPr/>
        </p:nvSpPr>
        <p:spPr>
          <a:xfrm>
            <a:off x="457200" y="4206240"/>
            <a:ext cx="8229600" cy="320040"/>
          </a:xfrm>
          <a:prstGeom prst="rect">
            <a:avLst/>
          </a:prstGeom>
          <a:noFill/>
          <a:ln/>
        </p:spPr>
        <p:txBody>
          <a:bodyPr wrap="square" lIns="0" tIns="0" rIns="0" bIns="0" rtlCol="0" anchor="t"/>
          <a:lstStyle/>
          <a:p>
            <a:pPr indent="0" marL="0">
              <a:buNone/>
            </a:pPr>
            <a:r>
              <a:rPr lang="en-US" sz="1200" i="1" dirty="0">
                <a:solidFill>
                  <a:schemeClr val="tx2"/>
                </a:solidFill>
              </a:rPr>
              <a:t>Le categorie descrivono i sistemi; qui conta il modo in cui la persona decide di usarli.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Come cambia il ruolo umano</a:t>
            </a:r>
            <a:endParaRPr lang="en-US" sz="2600" dirty="0"/>
          </a:p>
        </p:txBody>
      </p:sp>
      <p:sp>
        <p:nvSpPr>
          <p:cNvPr id="4" name="Esecutore"/>
          <p:cNvSpPr/>
          <p:nvPr/>
        </p:nvSpPr>
        <p:spPr>
          <a:xfrm>
            <a:off x="457200" y="1143000"/>
            <a:ext cx="2615184" cy="2011680"/>
          </a:xfrm>
          <a:prstGeom prst="roundRect">
            <a:avLst>
              <a:gd name="adj" fmla="val 3636"/>
            </a:avLst>
          </a:prstGeom>
          <a:solidFill>
            <a:schemeClr val="bg2"/>
          </a:solidFill>
          <a:ln/>
        </p:spPr>
      </p:sp>
      <p:sp>
        <p:nvSpPr>
          <p:cNvPr id="5" name="cerchio FiTool"/>
          <p:cNvSpPr/>
          <p:nvPr/>
        </p:nvSpPr>
        <p:spPr>
          <a:xfrm>
            <a:off x="640080" y="1298448"/>
            <a:ext cx="502920" cy="502920"/>
          </a:xfrm>
          <a:prstGeom prst="ellipse">
            <a:avLst/>
          </a:prstGeom>
          <a:solidFill>
            <a:schemeClr val="accent1"/>
          </a:solidFill>
          <a:ln/>
        </p:spPr>
      </p:sp>
      <p:pic>
        <p:nvPicPr>
          <p:cNvPr id="6" name="Image 0" descr="FiTool">    </p:cNvPr>
          <p:cNvPicPr>
            <a:picLocks noChangeAspect="1"/>
          </p:cNvPicPr>
          <p:nvPr/>
        </p:nvPicPr>
        <p:blipFill>
          <a:blip r:embed="rId1"/>
          <a:stretch>
            <a:fillRect/>
          </a:stretch>
        </p:blipFill>
        <p:spPr>
          <a:xfrm>
            <a:off x="765810" y="1424178"/>
            <a:ext cx="251460" cy="251460"/>
          </a:xfrm>
          <a:prstGeom prst="rect">
            <a:avLst/>
          </a:prstGeom>
        </p:spPr>
      </p:pic>
      <p:sp>
        <p:nvSpPr>
          <p:cNvPr id="7" name="Text 3"/>
          <p:cNvSpPr txBox="1"/>
          <p:nvPr/>
        </p:nvSpPr>
        <p:spPr>
          <a:xfrm>
            <a:off x="1280160" y="1298448"/>
            <a:ext cx="1691640" cy="502920"/>
          </a:xfrm>
          <a:prstGeom prst="rect">
            <a:avLst/>
          </a:prstGeom>
          <a:noFill/>
          <a:ln/>
        </p:spPr>
        <p:txBody>
          <a:bodyPr wrap="square" lIns="0" tIns="0" rIns="0" bIns="0" rtlCol="0" anchor="ctr"/>
          <a:lstStyle/>
          <a:p>
            <a:pPr indent="0" marL="0">
              <a:buNone/>
            </a:pPr>
            <a:r>
              <a:rPr lang="en-US" sz="1400" b="1" dirty="0">
                <a:solidFill>
                  <a:schemeClr val="tx1"/>
                </a:solidFill>
              </a:rPr>
              <a:t>Esecutore</a:t>
            </a:r>
            <a:endParaRPr lang="en-US" sz="1400" dirty="0"/>
          </a:p>
        </p:txBody>
      </p:sp>
      <p:sp>
        <p:nvSpPr>
          <p:cNvPr id="8" name="Text 4"/>
          <p:cNvSpPr txBox="1"/>
          <p:nvPr/>
        </p:nvSpPr>
        <p:spPr>
          <a:xfrm>
            <a:off x="640080" y="1965960"/>
            <a:ext cx="2249424" cy="777240"/>
          </a:xfrm>
          <a:prstGeom prst="rect">
            <a:avLst/>
          </a:prstGeom>
          <a:noFill/>
          <a:ln/>
        </p:spPr>
        <p:txBody>
          <a:bodyPr wrap="square" lIns="0" tIns="0" rIns="0" bIns="0" rtlCol="0" anchor="t"/>
          <a:lstStyle/>
          <a:p>
            <a:pPr indent="0" marL="0">
              <a:buNone/>
            </a:pPr>
            <a:r>
              <a:rPr lang="en-US" sz="1300" dirty="0">
                <a:solidFill>
                  <a:schemeClr val="tx1"/>
                </a:solidFill>
              </a:rPr>
              <a:t>Usa l'AI come strumento</a:t>
            </a:r>
            <a:endParaRPr lang="en-US" sz="1300" dirty="0"/>
          </a:p>
        </p:txBody>
      </p:sp>
      <p:sp>
        <p:nvSpPr>
          <p:cNvPr id="9" name="Text 5"/>
          <p:cNvSpPr txBox="1"/>
          <p:nvPr/>
        </p:nvSpPr>
        <p:spPr>
          <a:xfrm>
            <a:off x="640080" y="2743200"/>
            <a:ext cx="2249424" cy="274320"/>
          </a:xfrm>
          <a:prstGeom prst="rect">
            <a:avLst/>
          </a:prstGeom>
          <a:noFill/>
          <a:ln/>
        </p:spPr>
        <p:txBody>
          <a:bodyPr wrap="square" lIns="0" tIns="0" rIns="0" bIns="0" rtlCol="0" anchor="t"/>
          <a:lstStyle/>
          <a:p>
            <a:pPr indent="0" marL="0">
              <a:buNone/>
            </a:pPr>
            <a:r>
              <a:rPr lang="en-US" sz="1100" b="1" dirty="0">
                <a:solidFill>
                  <a:schemeClr val="accent1"/>
                </a:solidFill>
              </a:rPr>
              <a:t>Livelli 1-2</a:t>
            </a:r>
            <a:endParaRPr lang="en-US" sz="1100" dirty="0"/>
          </a:p>
        </p:txBody>
      </p:sp>
      <p:sp>
        <p:nvSpPr>
          <p:cNvPr id="10" name="freccia"/>
          <p:cNvSpPr/>
          <p:nvPr/>
        </p:nvSpPr>
        <p:spPr>
          <a:xfrm>
            <a:off x="3090672" y="2011680"/>
            <a:ext cx="155448" cy="292608"/>
          </a:xfrm>
          <a:prstGeom prst="rightArrow">
            <a:avLst/>
          </a:prstGeom>
          <a:solidFill>
            <a:schemeClr val="accent2"/>
          </a:solidFill>
          <a:ln/>
        </p:spPr>
      </p:sp>
      <p:sp>
        <p:nvSpPr>
          <p:cNvPr id="11" name="Revisore ed editor"/>
          <p:cNvSpPr/>
          <p:nvPr/>
        </p:nvSpPr>
        <p:spPr>
          <a:xfrm>
            <a:off x="3264408" y="1143000"/>
            <a:ext cx="2615184" cy="2011680"/>
          </a:xfrm>
          <a:prstGeom prst="roundRect">
            <a:avLst>
              <a:gd name="adj" fmla="val 3636"/>
            </a:avLst>
          </a:prstGeom>
          <a:solidFill>
            <a:schemeClr val="bg2"/>
          </a:solidFill>
          <a:ln/>
        </p:spPr>
      </p:sp>
      <p:sp>
        <p:nvSpPr>
          <p:cNvPr id="12" name="cerchio FiEdit"/>
          <p:cNvSpPr/>
          <p:nvPr/>
        </p:nvSpPr>
        <p:spPr>
          <a:xfrm>
            <a:off x="3447288" y="1298448"/>
            <a:ext cx="502920" cy="502920"/>
          </a:xfrm>
          <a:prstGeom prst="ellipse">
            <a:avLst/>
          </a:prstGeom>
          <a:solidFill>
            <a:schemeClr val="accent1"/>
          </a:solidFill>
          <a:ln/>
        </p:spPr>
      </p:sp>
      <p:pic>
        <p:nvPicPr>
          <p:cNvPr id="13" name="Image 1" descr="FiEdit">    </p:cNvPr>
          <p:cNvPicPr>
            <a:picLocks noChangeAspect="1"/>
          </p:cNvPicPr>
          <p:nvPr/>
        </p:nvPicPr>
        <p:blipFill>
          <a:blip r:embed="rId2"/>
          <a:stretch>
            <a:fillRect/>
          </a:stretch>
        </p:blipFill>
        <p:spPr>
          <a:xfrm>
            <a:off x="3573018" y="1424178"/>
            <a:ext cx="251460" cy="251460"/>
          </a:xfrm>
          <a:prstGeom prst="rect">
            <a:avLst/>
          </a:prstGeom>
        </p:spPr>
      </p:pic>
      <p:sp>
        <p:nvSpPr>
          <p:cNvPr id="14" name="Text 9"/>
          <p:cNvSpPr txBox="1"/>
          <p:nvPr/>
        </p:nvSpPr>
        <p:spPr>
          <a:xfrm>
            <a:off x="4087368" y="1298448"/>
            <a:ext cx="1691640" cy="502920"/>
          </a:xfrm>
          <a:prstGeom prst="rect">
            <a:avLst/>
          </a:prstGeom>
          <a:noFill/>
          <a:ln/>
        </p:spPr>
        <p:txBody>
          <a:bodyPr wrap="square" lIns="0" tIns="0" rIns="0" bIns="0" rtlCol="0" anchor="ctr"/>
          <a:lstStyle/>
          <a:p>
            <a:pPr indent="0" marL="0">
              <a:buNone/>
            </a:pPr>
            <a:r>
              <a:rPr lang="en-US" sz="1400" b="1" dirty="0">
                <a:solidFill>
                  <a:schemeClr val="tx1"/>
                </a:solidFill>
              </a:rPr>
              <a:t>Revisore ed editor</a:t>
            </a:r>
            <a:endParaRPr lang="en-US" sz="1400" dirty="0"/>
          </a:p>
        </p:txBody>
      </p:sp>
      <p:sp>
        <p:nvSpPr>
          <p:cNvPr id="15" name="Text 10"/>
          <p:cNvSpPr txBox="1"/>
          <p:nvPr/>
        </p:nvSpPr>
        <p:spPr>
          <a:xfrm>
            <a:off x="3447288" y="1965960"/>
            <a:ext cx="2249424" cy="777240"/>
          </a:xfrm>
          <a:prstGeom prst="rect">
            <a:avLst/>
          </a:prstGeom>
          <a:noFill/>
          <a:ln/>
        </p:spPr>
        <p:txBody>
          <a:bodyPr wrap="square" lIns="0" tIns="0" rIns="0" bIns="0" rtlCol="0" anchor="t"/>
          <a:lstStyle/>
          <a:p>
            <a:pPr indent="0" marL="0">
              <a:buNone/>
            </a:pPr>
            <a:r>
              <a:rPr lang="en-US" sz="1300" dirty="0">
                <a:solidFill>
                  <a:schemeClr val="tx1"/>
                </a:solidFill>
              </a:rPr>
              <a:t>Valuta, corregge, integra</a:t>
            </a:r>
            <a:endParaRPr lang="en-US" sz="1300" dirty="0"/>
          </a:p>
        </p:txBody>
      </p:sp>
      <p:sp>
        <p:nvSpPr>
          <p:cNvPr id="16" name="Text 11"/>
          <p:cNvSpPr txBox="1"/>
          <p:nvPr/>
        </p:nvSpPr>
        <p:spPr>
          <a:xfrm>
            <a:off x="3447288" y="2743200"/>
            <a:ext cx="2249424" cy="274320"/>
          </a:xfrm>
          <a:prstGeom prst="rect">
            <a:avLst/>
          </a:prstGeom>
          <a:noFill/>
          <a:ln/>
        </p:spPr>
        <p:txBody>
          <a:bodyPr wrap="square" lIns="0" tIns="0" rIns="0" bIns="0" rtlCol="0" anchor="t"/>
          <a:lstStyle/>
          <a:p>
            <a:pPr indent="0" marL="0">
              <a:buNone/>
            </a:pPr>
            <a:r>
              <a:rPr lang="en-US" sz="1100" b="1" dirty="0">
                <a:solidFill>
                  <a:schemeClr val="accent1"/>
                </a:solidFill>
              </a:rPr>
              <a:t>Livelli 3-4</a:t>
            </a:r>
            <a:endParaRPr lang="en-US" sz="1100" dirty="0"/>
          </a:p>
        </p:txBody>
      </p:sp>
      <p:sp>
        <p:nvSpPr>
          <p:cNvPr id="17" name="freccia"/>
          <p:cNvSpPr/>
          <p:nvPr/>
        </p:nvSpPr>
        <p:spPr>
          <a:xfrm>
            <a:off x="5897880" y="2011680"/>
            <a:ext cx="155448" cy="292608"/>
          </a:xfrm>
          <a:prstGeom prst="rightArrow">
            <a:avLst/>
          </a:prstGeom>
          <a:solidFill>
            <a:schemeClr val="accent2"/>
          </a:solidFill>
          <a:ln/>
        </p:spPr>
      </p:sp>
      <p:sp>
        <p:nvSpPr>
          <p:cNvPr id="18" name="Supervisore e progettista"/>
          <p:cNvSpPr/>
          <p:nvPr/>
        </p:nvSpPr>
        <p:spPr>
          <a:xfrm>
            <a:off x="6071616" y="1143000"/>
            <a:ext cx="2615184" cy="2011680"/>
          </a:xfrm>
          <a:prstGeom prst="roundRect">
            <a:avLst>
              <a:gd name="adj" fmla="val 3636"/>
            </a:avLst>
          </a:prstGeom>
          <a:solidFill>
            <a:schemeClr val="accent1"/>
          </a:solidFill>
          <a:ln/>
        </p:spPr>
      </p:sp>
      <p:sp>
        <p:nvSpPr>
          <p:cNvPr id="19" name="cerchio FiEye"/>
          <p:cNvSpPr/>
          <p:nvPr/>
        </p:nvSpPr>
        <p:spPr>
          <a:xfrm>
            <a:off x="6254496" y="1298448"/>
            <a:ext cx="502920" cy="502920"/>
          </a:xfrm>
          <a:prstGeom prst="ellipse">
            <a:avLst/>
          </a:prstGeom>
          <a:solidFill>
            <a:schemeClr val="bg1"/>
          </a:solidFill>
          <a:ln/>
        </p:spPr>
      </p:sp>
      <p:pic>
        <p:nvPicPr>
          <p:cNvPr id="20" name="Image 2" descr="FiEye">    </p:cNvPr>
          <p:cNvPicPr>
            <a:picLocks noChangeAspect="1"/>
          </p:cNvPicPr>
          <p:nvPr/>
        </p:nvPicPr>
        <p:blipFill>
          <a:blip r:embed="rId3"/>
          <a:stretch>
            <a:fillRect/>
          </a:stretch>
        </p:blipFill>
        <p:spPr>
          <a:xfrm>
            <a:off x="6380226" y="1424178"/>
            <a:ext cx="251460" cy="251460"/>
          </a:xfrm>
          <a:prstGeom prst="rect">
            <a:avLst/>
          </a:prstGeom>
        </p:spPr>
      </p:pic>
      <p:sp>
        <p:nvSpPr>
          <p:cNvPr id="21" name="Text 15"/>
          <p:cNvSpPr txBox="1"/>
          <p:nvPr/>
        </p:nvSpPr>
        <p:spPr>
          <a:xfrm>
            <a:off x="6894576" y="1298448"/>
            <a:ext cx="1691640" cy="502920"/>
          </a:xfrm>
          <a:prstGeom prst="rect">
            <a:avLst/>
          </a:prstGeom>
          <a:noFill/>
          <a:ln/>
        </p:spPr>
        <p:txBody>
          <a:bodyPr wrap="square" lIns="0" tIns="0" rIns="0" bIns="0" rtlCol="0" anchor="ctr"/>
          <a:lstStyle/>
          <a:p>
            <a:pPr indent="0" marL="0">
              <a:buNone/>
            </a:pPr>
            <a:r>
              <a:rPr lang="en-US" sz="1400" b="1" dirty="0">
                <a:solidFill>
                  <a:schemeClr val="bg1"/>
                </a:solidFill>
              </a:rPr>
              <a:t>Supervisore e progettista</a:t>
            </a:r>
            <a:endParaRPr lang="en-US" sz="1400" dirty="0"/>
          </a:p>
        </p:txBody>
      </p:sp>
      <p:sp>
        <p:nvSpPr>
          <p:cNvPr id="22" name="Text 16"/>
          <p:cNvSpPr txBox="1"/>
          <p:nvPr/>
        </p:nvSpPr>
        <p:spPr>
          <a:xfrm>
            <a:off x="6254496" y="1965960"/>
            <a:ext cx="2249424" cy="777240"/>
          </a:xfrm>
          <a:prstGeom prst="rect">
            <a:avLst/>
          </a:prstGeom>
          <a:noFill/>
          <a:ln/>
        </p:spPr>
        <p:txBody>
          <a:bodyPr wrap="square" lIns="0" tIns="0" rIns="0" bIns="0" rtlCol="0" anchor="t"/>
          <a:lstStyle/>
          <a:p>
            <a:pPr indent="0" marL="0">
              <a:buNone/>
            </a:pPr>
            <a:r>
              <a:rPr lang="en-US" sz="1300" dirty="0">
                <a:solidFill>
                  <a:schemeClr val="bg1"/>
                </a:solidFill>
              </a:rPr>
              <a:t>Definisce regole e controlli, monitora, gestisce eccezioni</a:t>
            </a:r>
            <a:endParaRPr lang="en-US" sz="1300" dirty="0"/>
          </a:p>
        </p:txBody>
      </p:sp>
      <p:sp>
        <p:nvSpPr>
          <p:cNvPr id="23" name="Text 17"/>
          <p:cNvSpPr txBox="1"/>
          <p:nvPr/>
        </p:nvSpPr>
        <p:spPr>
          <a:xfrm>
            <a:off x="6254496" y="2743200"/>
            <a:ext cx="2249424" cy="274320"/>
          </a:xfrm>
          <a:prstGeom prst="rect">
            <a:avLst/>
          </a:prstGeom>
          <a:noFill/>
          <a:ln/>
        </p:spPr>
        <p:txBody>
          <a:bodyPr wrap="square" lIns="0" tIns="0" rIns="0" bIns="0" rtlCol="0" anchor="t"/>
          <a:lstStyle/>
          <a:p>
            <a:pPr indent="0" marL="0">
              <a:buNone/>
            </a:pPr>
            <a:r>
              <a:rPr lang="en-US" sz="1100" b="1" dirty="0">
                <a:solidFill>
                  <a:schemeClr val="accent6"/>
                </a:solidFill>
              </a:rPr>
              <a:t>Livello 5</a:t>
            </a:r>
            <a:endParaRPr lang="en-US" sz="1100" dirty="0"/>
          </a:p>
        </p:txBody>
      </p:sp>
      <p:sp>
        <p:nvSpPr>
          <p:cNvPr id="24" name="scheda Supervisionare è impegnativo"/>
          <p:cNvSpPr/>
          <p:nvPr/>
        </p:nvSpPr>
        <p:spPr>
          <a:xfrm>
            <a:off x="457200" y="3337560"/>
            <a:ext cx="3977640" cy="1188720"/>
          </a:xfrm>
          <a:prstGeom prst="roundRect">
            <a:avLst>
              <a:gd name="adj" fmla="val 6154"/>
            </a:avLst>
          </a:prstGeom>
          <a:solidFill>
            <a:schemeClr val="bg2"/>
          </a:solidFill>
          <a:ln/>
        </p:spPr>
      </p:sp>
      <p:sp>
        <p:nvSpPr>
          <p:cNvPr id="25" name="cerchio FiActivity"/>
          <p:cNvSpPr/>
          <p:nvPr/>
        </p:nvSpPr>
        <p:spPr>
          <a:xfrm>
            <a:off x="640080" y="3520440"/>
            <a:ext cx="457200" cy="457200"/>
          </a:xfrm>
          <a:prstGeom prst="ellipse">
            <a:avLst/>
          </a:prstGeom>
          <a:solidFill>
            <a:schemeClr val="accent1"/>
          </a:solidFill>
          <a:ln/>
        </p:spPr>
      </p:sp>
      <p:pic>
        <p:nvPicPr>
          <p:cNvPr id="26" name="Image 3" descr="FiActivity">    </p:cNvPr>
          <p:cNvPicPr>
            <a:picLocks noChangeAspect="1"/>
          </p:cNvPicPr>
          <p:nvPr/>
        </p:nvPicPr>
        <p:blipFill>
          <a:blip r:embed="rId4"/>
          <a:stretch>
            <a:fillRect/>
          </a:stretch>
        </p:blipFill>
        <p:spPr>
          <a:xfrm>
            <a:off x="754380" y="3634740"/>
            <a:ext cx="228600" cy="228600"/>
          </a:xfrm>
          <a:prstGeom prst="rect">
            <a:avLst/>
          </a:prstGeom>
        </p:spPr>
      </p:pic>
      <p:sp>
        <p:nvSpPr>
          <p:cNvPr id="27" name="Text 20"/>
          <p:cNvSpPr txBox="1"/>
          <p:nvPr/>
        </p:nvSpPr>
        <p:spPr>
          <a:xfrm>
            <a:off x="1234440" y="352044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Supervisionare è impegnativo</a:t>
            </a:r>
            <a:endParaRPr lang="en-US" sz="1500" dirty="0"/>
          </a:p>
        </p:txBody>
      </p:sp>
      <p:sp>
        <p:nvSpPr>
          <p:cNvPr id="28" name="Text 21"/>
          <p:cNvSpPr txBox="1"/>
          <p:nvPr/>
        </p:nvSpPr>
        <p:spPr>
          <a:xfrm>
            <a:off x="640080" y="4114800"/>
            <a:ext cx="3611880" cy="301752"/>
          </a:xfrm>
          <a:prstGeom prst="rect">
            <a:avLst/>
          </a:prstGeom>
          <a:noFill/>
          <a:ln/>
        </p:spPr>
        <p:txBody>
          <a:bodyPr wrap="square" lIns="0" tIns="0" rIns="0" bIns="0" rtlCol="0" anchor="t"/>
          <a:lstStyle/>
          <a:p>
            <a:pPr indent="0" marL="0">
              <a:buNone/>
            </a:pPr>
            <a:r>
              <a:rPr lang="en-US" sz="1200" dirty="0">
                <a:solidFill>
                  <a:schemeClr val="tx2"/>
                </a:solidFill>
              </a:rPr>
              <a:t>Serve attenzione proprio quando tutto funziona bene.</a:t>
            </a:r>
            <a:endParaRPr lang="en-US" sz="1200" dirty="0"/>
          </a:p>
        </p:txBody>
      </p:sp>
      <p:sp>
        <p:nvSpPr>
          <p:cNvPr id="29" name="scheda Per supervisionare bisogna saper fare"/>
          <p:cNvSpPr/>
          <p:nvPr/>
        </p:nvSpPr>
        <p:spPr>
          <a:xfrm>
            <a:off x="4709160" y="3337560"/>
            <a:ext cx="3977640" cy="1188720"/>
          </a:xfrm>
          <a:prstGeom prst="roundRect">
            <a:avLst>
              <a:gd name="adj" fmla="val 6154"/>
            </a:avLst>
          </a:prstGeom>
          <a:solidFill>
            <a:schemeClr val="accent6"/>
          </a:solidFill>
          <a:ln/>
        </p:spPr>
      </p:sp>
      <p:sp>
        <p:nvSpPr>
          <p:cNvPr id="30" name="cerchio FiAward"/>
          <p:cNvSpPr/>
          <p:nvPr/>
        </p:nvSpPr>
        <p:spPr>
          <a:xfrm>
            <a:off x="4892040" y="3520440"/>
            <a:ext cx="457200" cy="457200"/>
          </a:xfrm>
          <a:prstGeom prst="ellipse">
            <a:avLst/>
          </a:prstGeom>
          <a:solidFill>
            <a:schemeClr val="accent1"/>
          </a:solidFill>
          <a:ln/>
        </p:spPr>
      </p:sp>
      <p:pic>
        <p:nvPicPr>
          <p:cNvPr id="31" name="Image 4" descr="FiAward">    </p:cNvPr>
          <p:cNvPicPr>
            <a:picLocks noChangeAspect="1"/>
          </p:cNvPicPr>
          <p:nvPr/>
        </p:nvPicPr>
        <p:blipFill>
          <a:blip r:embed="rId5"/>
          <a:stretch>
            <a:fillRect/>
          </a:stretch>
        </p:blipFill>
        <p:spPr>
          <a:xfrm>
            <a:off x="5006340" y="3634740"/>
            <a:ext cx="228600" cy="228600"/>
          </a:xfrm>
          <a:prstGeom prst="rect">
            <a:avLst/>
          </a:prstGeom>
        </p:spPr>
      </p:pic>
      <p:sp>
        <p:nvSpPr>
          <p:cNvPr id="32" name="Text 24"/>
          <p:cNvSpPr txBox="1"/>
          <p:nvPr/>
        </p:nvSpPr>
        <p:spPr>
          <a:xfrm>
            <a:off x="5486400" y="352044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Per supervisionare bisogna saper fare</a:t>
            </a:r>
            <a:endParaRPr lang="en-US" sz="1500" dirty="0"/>
          </a:p>
        </p:txBody>
      </p:sp>
      <p:sp>
        <p:nvSpPr>
          <p:cNvPr id="33" name="Text 25"/>
          <p:cNvSpPr txBox="1"/>
          <p:nvPr/>
        </p:nvSpPr>
        <p:spPr>
          <a:xfrm>
            <a:off x="4892040" y="4114800"/>
            <a:ext cx="3611880" cy="301752"/>
          </a:xfrm>
          <a:prstGeom prst="rect">
            <a:avLst/>
          </a:prstGeom>
          <a:noFill/>
          <a:ln/>
        </p:spPr>
        <p:txBody>
          <a:bodyPr wrap="square" lIns="0" tIns="0" rIns="0" bIns="0" rtlCol="0" anchor="t"/>
          <a:lstStyle/>
          <a:p>
            <a:pPr indent="0" marL="0">
              <a:buNone/>
            </a:pPr>
            <a:r>
              <a:rPr lang="en-US" sz="1200" dirty="0">
                <a:solidFill>
                  <a:schemeClr val="tx2"/>
                </a:solidFill>
              </a:rPr>
              <a:t>Perdere le competenze significa perdere la capacità di controllo.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Responsabilità e controllo ai diversi livelli</a:t>
            </a:r>
            <a:endParaRPr lang="en-US" sz="2600" dirty="0"/>
          </a:p>
        </p:txBody>
      </p:sp>
      <p:sp>
        <p:nvSpPr>
          <p:cNvPr id="4" name="Controllo diretto"/>
          <p:cNvSpPr/>
          <p:nvPr/>
        </p:nvSpPr>
        <p:spPr>
          <a:xfrm>
            <a:off x="457200" y="1051560"/>
            <a:ext cx="8229600" cy="603504"/>
          </a:xfrm>
          <a:prstGeom prst="roundRect">
            <a:avLst>
              <a:gd name="adj" fmla="val 12121"/>
            </a:avLst>
          </a:prstGeom>
          <a:solidFill>
            <a:schemeClr val="bg2"/>
          </a:solidFill>
          <a:ln/>
        </p:spPr>
      </p:sp>
      <p:sp>
        <p:nvSpPr>
          <p:cNvPr id="5" name="Text 2"/>
          <p:cNvSpPr txBox="1"/>
          <p:nvPr/>
        </p:nvSpPr>
        <p:spPr>
          <a:xfrm>
            <a:off x="594360" y="1051560"/>
            <a:ext cx="1188720" cy="603504"/>
          </a:xfrm>
          <a:prstGeom prst="rect">
            <a:avLst/>
          </a:prstGeom>
          <a:noFill/>
          <a:ln/>
        </p:spPr>
        <p:txBody>
          <a:bodyPr wrap="square" lIns="0" tIns="0" rIns="0" bIns="0" rtlCol="0" anchor="ctr"/>
          <a:lstStyle/>
          <a:p>
            <a:pPr indent="0" marL="0">
              <a:buNone/>
            </a:pPr>
            <a:r>
              <a:rPr lang="en-US" sz="1200" b="1" dirty="0">
                <a:solidFill>
                  <a:schemeClr val="accent1"/>
                </a:solidFill>
              </a:rPr>
              <a:t>Livelli 1-2</a:t>
            </a:r>
            <a:endParaRPr lang="en-US" sz="1200" dirty="0"/>
          </a:p>
        </p:txBody>
      </p:sp>
      <p:sp>
        <p:nvSpPr>
          <p:cNvPr id="6" name="Text 3"/>
          <p:cNvSpPr txBox="1"/>
          <p:nvPr/>
        </p:nvSpPr>
        <p:spPr>
          <a:xfrm>
            <a:off x="1828800" y="1051560"/>
            <a:ext cx="2194560" cy="603504"/>
          </a:xfrm>
          <a:prstGeom prst="rect">
            <a:avLst/>
          </a:prstGeom>
          <a:noFill/>
          <a:ln/>
        </p:spPr>
        <p:txBody>
          <a:bodyPr wrap="square" lIns="0" tIns="0" rIns="0" bIns="0" rtlCol="0" anchor="ctr"/>
          <a:lstStyle/>
          <a:p>
            <a:pPr indent="0" marL="0">
              <a:buNone/>
            </a:pPr>
            <a:r>
              <a:rPr lang="en-US" sz="1400" b="1" dirty="0">
                <a:solidFill>
                  <a:schemeClr val="tx1"/>
                </a:solidFill>
              </a:rPr>
              <a:t>Controllo diretto</a:t>
            </a:r>
            <a:endParaRPr lang="en-US" sz="1400" dirty="0"/>
          </a:p>
        </p:txBody>
      </p:sp>
      <p:sp>
        <p:nvSpPr>
          <p:cNvPr id="7" name="Text 4"/>
          <p:cNvSpPr txBox="1"/>
          <p:nvPr/>
        </p:nvSpPr>
        <p:spPr>
          <a:xfrm>
            <a:off x="4069080" y="1051560"/>
            <a:ext cx="4526280" cy="603504"/>
          </a:xfrm>
          <a:prstGeom prst="rect">
            <a:avLst/>
          </a:prstGeom>
          <a:noFill/>
          <a:ln/>
        </p:spPr>
        <p:txBody>
          <a:bodyPr wrap="square" lIns="0" tIns="0" rIns="0" bIns="0" rtlCol="0" anchor="ctr"/>
          <a:lstStyle/>
          <a:p>
            <a:pPr indent="0" marL="0">
              <a:buNone/>
            </a:pPr>
            <a:r>
              <a:rPr lang="en-US" sz="1200" dirty="0">
                <a:solidFill>
                  <a:schemeClr val="tx2"/>
                </a:solidFill>
              </a:rPr>
              <a:t>Ogni informazione o suggerimento valutato prima dell'uso</a:t>
            </a:r>
            <a:endParaRPr lang="en-US" sz="1200" dirty="0"/>
          </a:p>
        </p:txBody>
      </p:sp>
      <p:sp>
        <p:nvSpPr>
          <p:cNvPr id="8" name="Controllo di revisione"/>
          <p:cNvSpPr/>
          <p:nvPr/>
        </p:nvSpPr>
        <p:spPr>
          <a:xfrm>
            <a:off x="457200" y="1737360"/>
            <a:ext cx="8229600" cy="603504"/>
          </a:xfrm>
          <a:prstGeom prst="roundRect">
            <a:avLst>
              <a:gd name="adj" fmla="val 12121"/>
            </a:avLst>
          </a:prstGeom>
          <a:solidFill>
            <a:schemeClr val="bg1"/>
          </a:solidFill>
          <a:ln/>
        </p:spPr>
      </p:sp>
      <p:sp>
        <p:nvSpPr>
          <p:cNvPr id="9" name="Text 6"/>
          <p:cNvSpPr txBox="1"/>
          <p:nvPr/>
        </p:nvSpPr>
        <p:spPr>
          <a:xfrm>
            <a:off x="594360" y="1737360"/>
            <a:ext cx="1188720" cy="603504"/>
          </a:xfrm>
          <a:prstGeom prst="rect">
            <a:avLst/>
          </a:prstGeom>
          <a:noFill/>
          <a:ln/>
        </p:spPr>
        <p:txBody>
          <a:bodyPr wrap="square" lIns="0" tIns="0" rIns="0" bIns="0" rtlCol="0" anchor="ctr"/>
          <a:lstStyle/>
          <a:p>
            <a:pPr indent="0" marL="0">
              <a:buNone/>
            </a:pPr>
            <a:r>
              <a:rPr lang="en-US" sz="1200" b="1" dirty="0">
                <a:solidFill>
                  <a:schemeClr val="accent1"/>
                </a:solidFill>
              </a:rPr>
              <a:t>Livello 3</a:t>
            </a:r>
            <a:endParaRPr lang="en-US" sz="1200" dirty="0"/>
          </a:p>
        </p:txBody>
      </p:sp>
      <p:sp>
        <p:nvSpPr>
          <p:cNvPr id="10" name="Text 7"/>
          <p:cNvSpPr txBox="1"/>
          <p:nvPr/>
        </p:nvSpPr>
        <p:spPr>
          <a:xfrm>
            <a:off x="1828800" y="1737360"/>
            <a:ext cx="2194560" cy="603504"/>
          </a:xfrm>
          <a:prstGeom prst="rect">
            <a:avLst/>
          </a:prstGeom>
          <a:noFill/>
          <a:ln/>
        </p:spPr>
        <p:txBody>
          <a:bodyPr wrap="square" lIns="0" tIns="0" rIns="0" bIns="0" rtlCol="0" anchor="ctr"/>
          <a:lstStyle/>
          <a:p>
            <a:pPr indent="0" marL="0">
              <a:buNone/>
            </a:pPr>
            <a:r>
              <a:rPr lang="en-US" sz="1400" b="1" dirty="0">
                <a:solidFill>
                  <a:schemeClr val="tx1"/>
                </a:solidFill>
              </a:rPr>
              <a:t>Controllo di revisione</a:t>
            </a:r>
            <a:endParaRPr lang="en-US" sz="1400" dirty="0"/>
          </a:p>
        </p:txBody>
      </p:sp>
      <p:sp>
        <p:nvSpPr>
          <p:cNvPr id="11" name="Text 8"/>
          <p:cNvSpPr txBox="1"/>
          <p:nvPr/>
        </p:nvSpPr>
        <p:spPr>
          <a:xfrm>
            <a:off x="4069080" y="1737360"/>
            <a:ext cx="4526280" cy="603504"/>
          </a:xfrm>
          <a:prstGeom prst="rect">
            <a:avLst/>
          </a:prstGeom>
          <a:noFill/>
          <a:ln/>
        </p:spPr>
        <p:txBody>
          <a:bodyPr wrap="square" lIns="0" tIns="0" rIns="0" bIns="0" rtlCol="0" anchor="ctr"/>
          <a:lstStyle/>
          <a:p>
            <a:pPr indent="0" marL="0">
              <a:buNone/>
            </a:pPr>
            <a:r>
              <a:rPr lang="en-US" sz="1200" dirty="0">
                <a:solidFill>
                  <a:schemeClr val="tx2"/>
                </a:solidFill>
              </a:rPr>
              <a:t>Rilettura e validazione del risultato complessivo</a:t>
            </a:r>
            <a:endParaRPr lang="en-US" sz="1200" dirty="0"/>
          </a:p>
        </p:txBody>
      </p:sp>
      <p:sp>
        <p:nvSpPr>
          <p:cNvPr id="12" name="Controllo sistematico"/>
          <p:cNvSpPr/>
          <p:nvPr/>
        </p:nvSpPr>
        <p:spPr>
          <a:xfrm>
            <a:off x="457200" y="2423160"/>
            <a:ext cx="8229600" cy="603504"/>
          </a:xfrm>
          <a:prstGeom prst="roundRect">
            <a:avLst>
              <a:gd name="adj" fmla="val 12121"/>
            </a:avLst>
          </a:prstGeom>
          <a:solidFill>
            <a:schemeClr val="bg2"/>
          </a:solidFill>
          <a:ln/>
        </p:spPr>
      </p:sp>
      <p:sp>
        <p:nvSpPr>
          <p:cNvPr id="13" name="Text 10"/>
          <p:cNvSpPr txBox="1"/>
          <p:nvPr/>
        </p:nvSpPr>
        <p:spPr>
          <a:xfrm>
            <a:off x="594360" y="2423160"/>
            <a:ext cx="1188720" cy="603504"/>
          </a:xfrm>
          <a:prstGeom prst="rect">
            <a:avLst/>
          </a:prstGeom>
          <a:noFill/>
          <a:ln/>
        </p:spPr>
        <p:txBody>
          <a:bodyPr wrap="square" lIns="0" tIns="0" rIns="0" bIns="0" rtlCol="0" anchor="ctr"/>
          <a:lstStyle/>
          <a:p>
            <a:pPr indent="0" marL="0">
              <a:buNone/>
            </a:pPr>
            <a:r>
              <a:rPr lang="en-US" sz="1200" b="1" dirty="0">
                <a:solidFill>
                  <a:schemeClr val="accent1"/>
                </a:solidFill>
              </a:rPr>
              <a:t>Livello 4</a:t>
            </a:r>
            <a:endParaRPr lang="en-US" sz="1200" dirty="0"/>
          </a:p>
        </p:txBody>
      </p:sp>
      <p:sp>
        <p:nvSpPr>
          <p:cNvPr id="14" name="Text 11"/>
          <p:cNvSpPr txBox="1"/>
          <p:nvPr/>
        </p:nvSpPr>
        <p:spPr>
          <a:xfrm>
            <a:off x="1828800" y="2423160"/>
            <a:ext cx="2194560" cy="603504"/>
          </a:xfrm>
          <a:prstGeom prst="rect">
            <a:avLst/>
          </a:prstGeom>
          <a:noFill/>
          <a:ln/>
        </p:spPr>
        <p:txBody>
          <a:bodyPr wrap="square" lIns="0" tIns="0" rIns="0" bIns="0" rtlCol="0" anchor="ctr"/>
          <a:lstStyle/>
          <a:p>
            <a:pPr indent="0" marL="0">
              <a:buNone/>
            </a:pPr>
            <a:r>
              <a:rPr lang="en-US" sz="1400" b="1" dirty="0">
                <a:solidFill>
                  <a:schemeClr val="tx1"/>
                </a:solidFill>
              </a:rPr>
              <a:t>Controllo sistematico</a:t>
            </a:r>
            <a:endParaRPr lang="en-US" sz="1400" dirty="0"/>
          </a:p>
        </p:txBody>
      </p:sp>
      <p:sp>
        <p:nvSpPr>
          <p:cNvPr id="15" name="Text 12"/>
          <p:cNvSpPr txBox="1"/>
          <p:nvPr/>
        </p:nvSpPr>
        <p:spPr>
          <a:xfrm>
            <a:off x="4069080" y="2423160"/>
            <a:ext cx="4526280" cy="603504"/>
          </a:xfrm>
          <a:prstGeom prst="rect">
            <a:avLst/>
          </a:prstGeom>
          <a:noFill/>
          <a:ln/>
        </p:spPr>
        <p:txBody>
          <a:bodyPr wrap="square" lIns="0" tIns="0" rIns="0" bIns="0" rtlCol="0" anchor="ctr"/>
          <a:lstStyle/>
          <a:p>
            <a:pPr indent="0" marL="0">
              <a:buNone/>
            </a:pPr>
            <a:r>
              <a:rPr lang="en-US" sz="1200" dirty="0">
                <a:solidFill>
                  <a:schemeClr val="tx2"/>
                </a:solidFill>
              </a:rPr>
              <a:t>Ogni risultato verificato con criteri chiari</a:t>
            </a:r>
            <a:endParaRPr lang="en-US" sz="1200" dirty="0"/>
          </a:p>
        </p:txBody>
      </p:sp>
      <p:sp>
        <p:nvSpPr>
          <p:cNvPr id="16" name="Controllo progettato"/>
          <p:cNvSpPr/>
          <p:nvPr/>
        </p:nvSpPr>
        <p:spPr>
          <a:xfrm>
            <a:off x="457200" y="3108960"/>
            <a:ext cx="8229600" cy="603504"/>
          </a:xfrm>
          <a:prstGeom prst="roundRect">
            <a:avLst>
              <a:gd name="adj" fmla="val 12121"/>
            </a:avLst>
          </a:prstGeom>
          <a:solidFill>
            <a:schemeClr val="accent6"/>
          </a:solidFill>
          <a:ln/>
        </p:spPr>
      </p:sp>
      <p:sp>
        <p:nvSpPr>
          <p:cNvPr id="17" name="Text 14"/>
          <p:cNvSpPr txBox="1"/>
          <p:nvPr/>
        </p:nvSpPr>
        <p:spPr>
          <a:xfrm>
            <a:off x="594360" y="3108960"/>
            <a:ext cx="1188720" cy="603504"/>
          </a:xfrm>
          <a:prstGeom prst="rect">
            <a:avLst/>
          </a:prstGeom>
          <a:noFill/>
          <a:ln/>
        </p:spPr>
        <p:txBody>
          <a:bodyPr wrap="square" lIns="0" tIns="0" rIns="0" bIns="0" rtlCol="0" anchor="ctr"/>
          <a:lstStyle/>
          <a:p>
            <a:pPr indent="0" marL="0">
              <a:buNone/>
            </a:pPr>
            <a:r>
              <a:rPr lang="en-US" sz="1200" b="1" dirty="0">
                <a:solidFill>
                  <a:schemeClr val="accent1"/>
                </a:solidFill>
              </a:rPr>
              <a:t>Livello 5</a:t>
            </a:r>
            <a:endParaRPr lang="en-US" sz="1200" dirty="0"/>
          </a:p>
        </p:txBody>
      </p:sp>
      <p:sp>
        <p:nvSpPr>
          <p:cNvPr id="18" name="Text 15"/>
          <p:cNvSpPr txBox="1"/>
          <p:nvPr/>
        </p:nvSpPr>
        <p:spPr>
          <a:xfrm>
            <a:off x="1828800" y="3108960"/>
            <a:ext cx="2194560" cy="603504"/>
          </a:xfrm>
          <a:prstGeom prst="rect">
            <a:avLst/>
          </a:prstGeom>
          <a:noFill/>
          <a:ln/>
        </p:spPr>
        <p:txBody>
          <a:bodyPr wrap="square" lIns="0" tIns="0" rIns="0" bIns="0" rtlCol="0" anchor="ctr"/>
          <a:lstStyle/>
          <a:p>
            <a:pPr indent="0" marL="0">
              <a:buNone/>
            </a:pPr>
            <a:r>
              <a:rPr lang="en-US" sz="1400" b="1" dirty="0">
                <a:solidFill>
                  <a:schemeClr val="tx1"/>
                </a:solidFill>
              </a:rPr>
              <a:t>Controllo progettato</a:t>
            </a:r>
            <a:endParaRPr lang="en-US" sz="1400" dirty="0"/>
          </a:p>
        </p:txBody>
      </p:sp>
      <p:sp>
        <p:nvSpPr>
          <p:cNvPr id="19" name="Text 16"/>
          <p:cNvSpPr txBox="1"/>
          <p:nvPr/>
        </p:nvSpPr>
        <p:spPr>
          <a:xfrm>
            <a:off x="4069080" y="3108960"/>
            <a:ext cx="4526280" cy="603504"/>
          </a:xfrm>
          <a:prstGeom prst="rect">
            <a:avLst/>
          </a:prstGeom>
          <a:noFill/>
          <a:ln/>
        </p:spPr>
        <p:txBody>
          <a:bodyPr wrap="square" lIns="0" tIns="0" rIns="0" bIns="0" rtlCol="0" anchor="ctr"/>
          <a:lstStyle/>
          <a:p>
            <a:pPr indent="0" marL="0">
              <a:buNone/>
            </a:pPr>
            <a:r>
              <a:rPr lang="en-US" sz="1200" dirty="0">
                <a:solidFill>
                  <a:schemeClr val="tx2"/>
                </a:solidFill>
              </a:rPr>
              <a:t>Vincoli, autorizzazioni, campioni, monitoraggio, possibilità di interrompere</a:t>
            </a:r>
            <a:endParaRPr lang="en-US" sz="1200" dirty="0"/>
          </a:p>
        </p:txBody>
      </p:sp>
      <p:sp>
        <p:nvSpPr>
          <p:cNvPr id="20" name="messaggio"/>
          <p:cNvSpPr/>
          <p:nvPr/>
        </p:nvSpPr>
        <p:spPr>
          <a:xfrm>
            <a:off x="457200" y="3886200"/>
            <a:ext cx="8229600" cy="640080"/>
          </a:xfrm>
          <a:prstGeom prst="roundRect">
            <a:avLst>
              <a:gd name="adj" fmla="val 11429"/>
            </a:avLst>
          </a:prstGeom>
          <a:solidFill>
            <a:schemeClr val="tx1"/>
          </a:solidFill>
          <a:ln/>
        </p:spPr>
      </p:sp>
      <p:sp>
        <p:nvSpPr>
          <p:cNvPr id="21" name="Text 18"/>
          <p:cNvSpPr txBox="1"/>
          <p:nvPr/>
        </p:nvSpPr>
        <p:spPr>
          <a:xfrm>
            <a:off x="640080" y="3886200"/>
            <a:ext cx="7863840" cy="640080"/>
          </a:xfrm>
          <a:prstGeom prst="rect">
            <a:avLst/>
          </a:prstGeom>
          <a:noFill/>
          <a:ln/>
        </p:spPr>
        <p:txBody>
          <a:bodyPr wrap="square" lIns="0" tIns="0" rIns="0" bIns="0" rtlCol="0" anchor="ctr"/>
          <a:lstStyle/>
          <a:p>
            <a:pPr indent="0" marL="0">
              <a:buNone/>
            </a:pPr>
            <a:r>
              <a:rPr lang="en-US" sz="1300" dirty="0">
                <a:solidFill>
                  <a:schemeClr val="bg1"/>
                </a:solidFill>
              </a:rPr>
              <a:t>Deve essere sempre chiaro chi risponde del risultato, e chi ne risponde deve avere i mezzi per controllarlo.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Scegliere il livello adeguato</a:t>
            </a:r>
            <a:endParaRPr lang="en-US" sz="2600" dirty="0"/>
          </a:p>
        </p:txBody>
      </p:sp>
      <p:sp>
        <p:nvSpPr>
          <p:cNvPr id="4" name="Compito"/>
          <p:cNvSpPr/>
          <p:nvPr/>
        </p:nvSpPr>
        <p:spPr>
          <a:xfrm>
            <a:off x="457200" y="1097280"/>
            <a:ext cx="1965960" cy="1691640"/>
          </a:xfrm>
          <a:prstGeom prst="roundRect">
            <a:avLst>
              <a:gd name="adj" fmla="val 4324"/>
            </a:avLst>
          </a:prstGeom>
          <a:solidFill>
            <a:schemeClr val="bg2"/>
          </a:solidFill>
          <a:ln/>
        </p:spPr>
      </p:sp>
      <p:sp>
        <p:nvSpPr>
          <p:cNvPr id="5" name="cerchio FiTarget"/>
          <p:cNvSpPr/>
          <p:nvPr/>
        </p:nvSpPr>
        <p:spPr>
          <a:xfrm>
            <a:off x="621792" y="1234440"/>
            <a:ext cx="457200" cy="457200"/>
          </a:xfrm>
          <a:prstGeom prst="ellipse">
            <a:avLst/>
          </a:prstGeom>
          <a:solidFill>
            <a:schemeClr val="accent1"/>
          </a:solidFill>
          <a:ln/>
        </p:spPr>
      </p:sp>
      <p:pic>
        <p:nvPicPr>
          <p:cNvPr id="6" name="Image 0" descr="FiTarget">    </p:cNvPr>
          <p:cNvPicPr>
            <a:picLocks noChangeAspect="1"/>
          </p:cNvPicPr>
          <p:nvPr/>
        </p:nvPicPr>
        <p:blipFill>
          <a:blip r:embed="rId1"/>
          <a:stretch>
            <a:fillRect/>
          </a:stretch>
        </p:blipFill>
        <p:spPr>
          <a:xfrm>
            <a:off x="736092" y="1348740"/>
            <a:ext cx="228600" cy="228600"/>
          </a:xfrm>
          <a:prstGeom prst="rect">
            <a:avLst/>
          </a:prstGeom>
        </p:spPr>
      </p:pic>
      <p:sp>
        <p:nvSpPr>
          <p:cNvPr id="7" name="Text 3"/>
          <p:cNvSpPr txBox="1"/>
          <p:nvPr/>
        </p:nvSpPr>
        <p:spPr>
          <a:xfrm>
            <a:off x="1170432" y="1234440"/>
            <a:ext cx="1234440" cy="457200"/>
          </a:xfrm>
          <a:prstGeom prst="rect">
            <a:avLst/>
          </a:prstGeom>
          <a:noFill/>
          <a:ln/>
        </p:spPr>
        <p:txBody>
          <a:bodyPr wrap="square" lIns="0" tIns="0" rIns="0" bIns="0" rtlCol="0" anchor="ctr"/>
          <a:lstStyle/>
          <a:p>
            <a:pPr indent="0" marL="0">
              <a:buNone/>
            </a:pPr>
            <a:r>
              <a:rPr lang="en-US" sz="1300" b="1" dirty="0">
                <a:solidFill>
                  <a:schemeClr val="tx1"/>
                </a:solidFill>
              </a:rPr>
              <a:t>Compito</a:t>
            </a:r>
            <a:endParaRPr lang="en-US" sz="1300" dirty="0"/>
          </a:p>
        </p:txBody>
      </p:sp>
      <p:sp>
        <p:nvSpPr>
          <p:cNvPr id="8" name="Text 4"/>
          <p:cNvSpPr txBox="1"/>
          <p:nvPr/>
        </p:nvSpPr>
        <p:spPr>
          <a:xfrm>
            <a:off x="621792" y="1828800"/>
            <a:ext cx="1691640" cy="868680"/>
          </a:xfrm>
          <a:prstGeom prst="rect">
            <a:avLst/>
          </a:prstGeom>
          <a:noFill/>
          <a:ln/>
        </p:spPr>
        <p:txBody>
          <a:bodyPr wrap="square" lIns="0" tIns="0" rIns="0" bIns="0" rtlCol="0" anchor="t"/>
          <a:lstStyle/>
          <a:p>
            <a:pPr indent="0" marL="0">
              <a:buNone/>
            </a:pPr>
            <a:r>
              <a:rPr lang="en-US" sz="1200" dirty="0">
                <a:solidFill>
                  <a:schemeClr val="tx2"/>
                </a:solidFill>
              </a:rPr>
              <a:t>Strutturato, ripetitivo, verificabile?</a:t>
            </a:r>
            <a:endParaRPr lang="en-US" sz="1200" dirty="0"/>
          </a:p>
        </p:txBody>
      </p:sp>
      <p:sp>
        <p:nvSpPr>
          <p:cNvPr id="9" name="Capacità del sistema"/>
          <p:cNvSpPr/>
          <p:nvPr/>
        </p:nvSpPr>
        <p:spPr>
          <a:xfrm>
            <a:off x="2560320" y="1097280"/>
            <a:ext cx="1965960" cy="1691640"/>
          </a:xfrm>
          <a:prstGeom prst="roundRect">
            <a:avLst>
              <a:gd name="adj" fmla="val 4324"/>
            </a:avLst>
          </a:prstGeom>
          <a:solidFill>
            <a:schemeClr val="bg2"/>
          </a:solidFill>
          <a:ln/>
        </p:spPr>
      </p:sp>
      <p:sp>
        <p:nvSpPr>
          <p:cNvPr id="10" name="cerchio FiCpu"/>
          <p:cNvSpPr/>
          <p:nvPr/>
        </p:nvSpPr>
        <p:spPr>
          <a:xfrm>
            <a:off x="2724912" y="1234440"/>
            <a:ext cx="457200" cy="457200"/>
          </a:xfrm>
          <a:prstGeom prst="ellipse">
            <a:avLst/>
          </a:prstGeom>
          <a:solidFill>
            <a:schemeClr val="accent1"/>
          </a:solidFill>
          <a:ln/>
        </p:spPr>
      </p:sp>
      <p:pic>
        <p:nvPicPr>
          <p:cNvPr id="11" name="Image 1" descr="FiCpu">    </p:cNvPr>
          <p:cNvPicPr>
            <a:picLocks noChangeAspect="1"/>
          </p:cNvPicPr>
          <p:nvPr/>
        </p:nvPicPr>
        <p:blipFill>
          <a:blip r:embed="rId2"/>
          <a:stretch>
            <a:fillRect/>
          </a:stretch>
        </p:blipFill>
        <p:spPr>
          <a:xfrm>
            <a:off x="2839212" y="1348740"/>
            <a:ext cx="228600" cy="228600"/>
          </a:xfrm>
          <a:prstGeom prst="rect">
            <a:avLst/>
          </a:prstGeom>
        </p:spPr>
      </p:pic>
      <p:sp>
        <p:nvSpPr>
          <p:cNvPr id="12" name="Text 7"/>
          <p:cNvSpPr txBox="1"/>
          <p:nvPr/>
        </p:nvSpPr>
        <p:spPr>
          <a:xfrm>
            <a:off x="3273552" y="1234440"/>
            <a:ext cx="1234440" cy="457200"/>
          </a:xfrm>
          <a:prstGeom prst="rect">
            <a:avLst/>
          </a:prstGeom>
          <a:noFill/>
          <a:ln/>
        </p:spPr>
        <p:txBody>
          <a:bodyPr wrap="square" lIns="0" tIns="0" rIns="0" bIns="0" rtlCol="0" anchor="ctr"/>
          <a:lstStyle/>
          <a:p>
            <a:pPr indent="0" marL="0">
              <a:buNone/>
            </a:pPr>
            <a:r>
              <a:rPr lang="en-US" sz="1300" b="1" dirty="0">
                <a:solidFill>
                  <a:schemeClr val="tx1"/>
                </a:solidFill>
              </a:rPr>
              <a:t>Capacità del sistema</a:t>
            </a:r>
            <a:endParaRPr lang="en-US" sz="1300" dirty="0"/>
          </a:p>
        </p:txBody>
      </p:sp>
      <p:sp>
        <p:nvSpPr>
          <p:cNvPr id="13" name="Text 8"/>
          <p:cNvSpPr txBox="1"/>
          <p:nvPr/>
        </p:nvSpPr>
        <p:spPr>
          <a:xfrm>
            <a:off x="2724912" y="1828800"/>
            <a:ext cx="1691640" cy="868680"/>
          </a:xfrm>
          <a:prstGeom prst="rect">
            <a:avLst/>
          </a:prstGeom>
          <a:noFill/>
          <a:ln/>
        </p:spPr>
        <p:txBody>
          <a:bodyPr wrap="square" lIns="0" tIns="0" rIns="0" bIns="0" rtlCol="0" anchor="t"/>
          <a:lstStyle/>
          <a:p>
            <a:pPr indent="0" marL="0">
              <a:buNone/>
            </a:pPr>
            <a:r>
              <a:rPr lang="en-US" sz="1200" dirty="0">
                <a:solidFill>
                  <a:schemeClr val="tx2"/>
                </a:solidFill>
              </a:rPr>
              <a:t>Affidabile per questo compito, qui?</a:t>
            </a:r>
            <a:endParaRPr lang="en-US" sz="1200" dirty="0"/>
          </a:p>
        </p:txBody>
      </p:sp>
      <p:sp>
        <p:nvSpPr>
          <p:cNvPr id="14" name="Rischi"/>
          <p:cNvSpPr/>
          <p:nvPr/>
        </p:nvSpPr>
        <p:spPr>
          <a:xfrm>
            <a:off x="4663440" y="1097280"/>
            <a:ext cx="1965960" cy="1691640"/>
          </a:xfrm>
          <a:prstGeom prst="roundRect">
            <a:avLst>
              <a:gd name="adj" fmla="val 4324"/>
            </a:avLst>
          </a:prstGeom>
          <a:solidFill>
            <a:schemeClr val="bg2"/>
          </a:solidFill>
          <a:ln/>
        </p:spPr>
      </p:sp>
      <p:sp>
        <p:nvSpPr>
          <p:cNvPr id="15" name="cerchio FiAlertTriangle"/>
          <p:cNvSpPr/>
          <p:nvPr/>
        </p:nvSpPr>
        <p:spPr>
          <a:xfrm>
            <a:off x="4828032" y="1234440"/>
            <a:ext cx="457200" cy="457200"/>
          </a:xfrm>
          <a:prstGeom prst="ellipse">
            <a:avLst/>
          </a:prstGeom>
          <a:solidFill>
            <a:schemeClr val="accent1"/>
          </a:solidFill>
          <a:ln/>
        </p:spPr>
      </p:sp>
      <p:pic>
        <p:nvPicPr>
          <p:cNvPr id="16" name="Image 2" descr="FiAlertTriangle">    </p:cNvPr>
          <p:cNvPicPr>
            <a:picLocks noChangeAspect="1"/>
          </p:cNvPicPr>
          <p:nvPr/>
        </p:nvPicPr>
        <p:blipFill>
          <a:blip r:embed="rId3"/>
          <a:stretch>
            <a:fillRect/>
          </a:stretch>
        </p:blipFill>
        <p:spPr>
          <a:xfrm>
            <a:off x="4942332" y="1348740"/>
            <a:ext cx="228600" cy="228600"/>
          </a:xfrm>
          <a:prstGeom prst="rect">
            <a:avLst/>
          </a:prstGeom>
        </p:spPr>
      </p:pic>
      <p:sp>
        <p:nvSpPr>
          <p:cNvPr id="17" name="Text 11"/>
          <p:cNvSpPr txBox="1"/>
          <p:nvPr/>
        </p:nvSpPr>
        <p:spPr>
          <a:xfrm>
            <a:off x="5376672" y="1234440"/>
            <a:ext cx="1234440" cy="457200"/>
          </a:xfrm>
          <a:prstGeom prst="rect">
            <a:avLst/>
          </a:prstGeom>
          <a:noFill/>
          <a:ln/>
        </p:spPr>
        <p:txBody>
          <a:bodyPr wrap="square" lIns="0" tIns="0" rIns="0" bIns="0" rtlCol="0" anchor="ctr"/>
          <a:lstStyle/>
          <a:p>
            <a:pPr indent="0" marL="0">
              <a:buNone/>
            </a:pPr>
            <a:r>
              <a:rPr lang="en-US" sz="1300" b="1" dirty="0">
                <a:solidFill>
                  <a:schemeClr val="tx1"/>
                </a:solidFill>
              </a:rPr>
              <a:t>Rischi</a:t>
            </a:r>
            <a:endParaRPr lang="en-US" sz="1300" dirty="0"/>
          </a:p>
        </p:txBody>
      </p:sp>
      <p:sp>
        <p:nvSpPr>
          <p:cNvPr id="18" name="Text 12"/>
          <p:cNvSpPr txBox="1"/>
          <p:nvPr/>
        </p:nvSpPr>
        <p:spPr>
          <a:xfrm>
            <a:off x="4828032" y="1828800"/>
            <a:ext cx="1691640" cy="868680"/>
          </a:xfrm>
          <a:prstGeom prst="rect">
            <a:avLst/>
          </a:prstGeom>
          <a:noFill/>
          <a:ln/>
        </p:spPr>
        <p:txBody>
          <a:bodyPr wrap="square" lIns="0" tIns="0" rIns="0" bIns="0" rtlCol="0" anchor="t"/>
          <a:lstStyle/>
          <a:p>
            <a:pPr indent="0" marL="0">
              <a:buNone/>
            </a:pPr>
            <a:r>
              <a:rPr lang="en-US" sz="1200" dirty="0">
                <a:solidFill>
                  <a:schemeClr val="tx2"/>
                </a:solidFill>
              </a:rPr>
              <a:t>Conseguenze di un errore: gravità, reversibilità?</a:t>
            </a:r>
            <a:endParaRPr lang="en-US" sz="1200" dirty="0"/>
          </a:p>
        </p:txBody>
      </p:sp>
      <p:sp>
        <p:nvSpPr>
          <p:cNvPr id="19" name="Controlli disponibili"/>
          <p:cNvSpPr/>
          <p:nvPr/>
        </p:nvSpPr>
        <p:spPr>
          <a:xfrm>
            <a:off x="6766560" y="1097280"/>
            <a:ext cx="1965960" cy="1691640"/>
          </a:xfrm>
          <a:prstGeom prst="roundRect">
            <a:avLst>
              <a:gd name="adj" fmla="val 4324"/>
            </a:avLst>
          </a:prstGeom>
          <a:solidFill>
            <a:schemeClr val="bg2"/>
          </a:solidFill>
          <a:ln/>
        </p:spPr>
      </p:sp>
      <p:sp>
        <p:nvSpPr>
          <p:cNvPr id="20" name="cerchio FiCheckSquare"/>
          <p:cNvSpPr/>
          <p:nvPr/>
        </p:nvSpPr>
        <p:spPr>
          <a:xfrm>
            <a:off x="6931152" y="1234440"/>
            <a:ext cx="457200" cy="457200"/>
          </a:xfrm>
          <a:prstGeom prst="ellipse">
            <a:avLst/>
          </a:prstGeom>
          <a:solidFill>
            <a:schemeClr val="accent1"/>
          </a:solidFill>
          <a:ln/>
        </p:spPr>
      </p:sp>
      <p:pic>
        <p:nvPicPr>
          <p:cNvPr id="21" name="Image 3" descr="FiCheckSquare">    </p:cNvPr>
          <p:cNvPicPr>
            <a:picLocks noChangeAspect="1"/>
          </p:cNvPicPr>
          <p:nvPr/>
        </p:nvPicPr>
        <p:blipFill>
          <a:blip r:embed="rId4"/>
          <a:stretch>
            <a:fillRect/>
          </a:stretch>
        </p:blipFill>
        <p:spPr>
          <a:xfrm>
            <a:off x="7045452" y="1348740"/>
            <a:ext cx="228600" cy="228600"/>
          </a:xfrm>
          <a:prstGeom prst="rect">
            <a:avLst/>
          </a:prstGeom>
        </p:spPr>
      </p:pic>
      <p:sp>
        <p:nvSpPr>
          <p:cNvPr id="22" name="Text 15"/>
          <p:cNvSpPr txBox="1"/>
          <p:nvPr/>
        </p:nvSpPr>
        <p:spPr>
          <a:xfrm>
            <a:off x="7479792" y="1234440"/>
            <a:ext cx="1234440" cy="457200"/>
          </a:xfrm>
          <a:prstGeom prst="rect">
            <a:avLst/>
          </a:prstGeom>
          <a:noFill/>
          <a:ln/>
        </p:spPr>
        <p:txBody>
          <a:bodyPr wrap="square" lIns="0" tIns="0" rIns="0" bIns="0" rtlCol="0" anchor="ctr"/>
          <a:lstStyle/>
          <a:p>
            <a:pPr indent="0" marL="0">
              <a:buNone/>
            </a:pPr>
            <a:r>
              <a:rPr lang="en-US" sz="1300" b="1" dirty="0">
                <a:solidFill>
                  <a:schemeClr val="tx1"/>
                </a:solidFill>
              </a:rPr>
              <a:t>Controlli disponibili</a:t>
            </a:r>
            <a:endParaRPr lang="en-US" sz="1300" dirty="0"/>
          </a:p>
        </p:txBody>
      </p:sp>
      <p:sp>
        <p:nvSpPr>
          <p:cNvPr id="23" name="Text 16"/>
          <p:cNvSpPr txBox="1"/>
          <p:nvPr/>
        </p:nvSpPr>
        <p:spPr>
          <a:xfrm>
            <a:off x="6931152" y="1828800"/>
            <a:ext cx="1691640" cy="868680"/>
          </a:xfrm>
          <a:prstGeom prst="rect">
            <a:avLst/>
          </a:prstGeom>
          <a:noFill/>
          <a:ln/>
        </p:spPr>
        <p:txBody>
          <a:bodyPr wrap="square" lIns="0" tIns="0" rIns="0" bIns="0" rtlCol="0" anchor="t"/>
          <a:lstStyle/>
          <a:p>
            <a:pPr indent="0" marL="0">
              <a:buNone/>
            </a:pPr>
            <a:r>
              <a:rPr lang="en-US" sz="1200" dirty="0">
                <a:solidFill>
                  <a:schemeClr val="tx2"/>
                </a:solidFill>
              </a:rPr>
              <a:t>Possiamo verificare, con quali risorse?</a:t>
            </a:r>
            <a:endParaRPr lang="en-US" sz="1200" dirty="0"/>
          </a:p>
        </p:txBody>
      </p:sp>
      <p:sp>
        <p:nvSpPr>
          <p:cNvPr id="24" name="autonomia non è meglio"/>
          <p:cNvSpPr/>
          <p:nvPr/>
        </p:nvSpPr>
        <p:spPr>
          <a:xfrm>
            <a:off x="457200" y="2971800"/>
            <a:ext cx="8229600" cy="1554480"/>
          </a:xfrm>
          <a:prstGeom prst="roundRect">
            <a:avLst>
              <a:gd name="adj" fmla="val 4706"/>
            </a:avLst>
          </a:prstGeom>
          <a:solidFill>
            <a:schemeClr val="tx1"/>
          </a:solidFill>
          <a:ln/>
        </p:spPr>
      </p:sp>
      <p:sp>
        <p:nvSpPr>
          <p:cNvPr id="25" name="Text 18"/>
          <p:cNvSpPr txBox="1"/>
          <p:nvPr/>
        </p:nvSpPr>
        <p:spPr>
          <a:xfrm>
            <a:off x="685800" y="3108960"/>
            <a:ext cx="7772400" cy="457200"/>
          </a:xfrm>
          <a:prstGeom prst="rect">
            <a:avLst/>
          </a:prstGeom>
          <a:noFill/>
          <a:ln/>
        </p:spPr>
        <p:txBody>
          <a:bodyPr wrap="square" lIns="0" tIns="0" rIns="0" bIns="0" rtlCol="0" anchor="t"/>
          <a:lstStyle/>
          <a:p>
            <a:pPr indent="0" marL="0">
              <a:buNone/>
            </a:pPr>
            <a:r>
              <a:rPr lang="en-US" sz="1800" b="1" dirty="0">
                <a:solidFill>
                  <a:schemeClr val="bg1"/>
                </a:solidFill>
              </a:rPr>
              <a:t>Una maggiore autonomia non determina automaticamente risultati migliori.</a:t>
            </a:r>
            <a:endParaRPr lang="en-US" sz="1800" dirty="0"/>
          </a:p>
        </p:txBody>
      </p:sp>
      <p:sp>
        <p:nvSpPr>
          <p:cNvPr id="26" name="Text 19"/>
          <p:cNvSpPr txBox="1"/>
          <p:nvPr/>
        </p:nvSpPr>
        <p:spPr>
          <a:xfrm>
            <a:off x="685800" y="3611880"/>
            <a:ext cx="7772400" cy="822960"/>
          </a:xfrm>
          <a:prstGeom prst="rect">
            <a:avLst/>
          </a:prstGeom>
          <a:noFill/>
          <a:ln/>
        </p:spPr>
        <p:txBody>
          <a:bodyPr wrap="square" lIns="0" tIns="0" rIns="0" bIns="0" rtlCol="0" anchor="t"/>
          <a:lstStyle/>
          <a:p>
            <a:pPr indent="0" marL="0">
              <a:buNone/>
            </a:pPr>
            <a:r>
              <a:rPr lang="en-US" sz="1300" dirty="0">
                <a:solidFill>
                  <a:schemeClr val="accent3"/>
                </a:solidFill>
              </a:rPr>
              <a:t>Delegare di più può far risparmiare tempo, ma anche moltiplicare gli errori e far perdere competenze e controllo. Per molte attività intellettuali la collaborazione (livello 3) offre il miglior equilibrio.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Una maggiore autonomia non determina automaticamente risultati migliori: il livello di delega deve essere adeguato al compito, alle capacità del sistema, ai rischi e ai controlli disponibili.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5.5  ·  I livelli di delega all'Intelligenza Artificiale</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5.6</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La qualità dipende anche dalla persona</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Le competenze umane restano determinanti per formulare problemi, interpretare risultati e riconoscere output inadeguati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Otto fattori che dipendono dalla persona</a:t>
            </a:r>
            <a:endParaRPr lang="en-US" sz="2600" dirty="0"/>
          </a:p>
        </p:txBody>
      </p:sp>
      <p:sp>
        <p:nvSpPr>
          <p:cNvPr id="4" name="Chiarezza degli obiettivi"/>
          <p:cNvSpPr/>
          <p:nvPr/>
        </p:nvSpPr>
        <p:spPr>
          <a:xfrm>
            <a:off x="457200" y="1097280"/>
            <a:ext cx="1965960" cy="1298448"/>
          </a:xfrm>
          <a:prstGeom prst="roundRect">
            <a:avLst>
              <a:gd name="adj" fmla="val 5634"/>
            </a:avLst>
          </a:prstGeom>
          <a:solidFill>
            <a:schemeClr val="bg2"/>
          </a:solidFill>
          <a:ln/>
        </p:spPr>
      </p:sp>
      <p:sp>
        <p:nvSpPr>
          <p:cNvPr id="5" name="cerchio FiTarget"/>
          <p:cNvSpPr/>
          <p:nvPr/>
        </p:nvSpPr>
        <p:spPr>
          <a:xfrm>
            <a:off x="621792" y="1261872"/>
            <a:ext cx="457200" cy="457200"/>
          </a:xfrm>
          <a:prstGeom prst="ellipse">
            <a:avLst/>
          </a:prstGeom>
          <a:solidFill>
            <a:schemeClr val="accent1"/>
          </a:solidFill>
          <a:ln/>
        </p:spPr>
      </p:sp>
      <p:pic>
        <p:nvPicPr>
          <p:cNvPr id="6" name="Image 0" descr="FiTarget">    </p:cNvPr>
          <p:cNvPicPr>
            <a:picLocks noChangeAspect="1"/>
          </p:cNvPicPr>
          <p:nvPr/>
        </p:nvPicPr>
        <p:blipFill>
          <a:blip r:embed="rId1"/>
          <a:stretch>
            <a:fillRect/>
          </a:stretch>
        </p:blipFill>
        <p:spPr>
          <a:xfrm>
            <a:off x="736092" y="1376172"/>
            <a:ext cx="228600" cy="228600"/>
          </a:xfrm>
          <a:prstGeom prst="rect">
            <a:avLst/>
          </a:prstGeom>
        </p:spPr>
      </p:pic>
      <p:sp>
        <p:nvSpPr>
          <p:cNvPr id="7" name="Text 3"/>
          <p:cNvSpPr txBox="1"/>
          <p:nvPr/>
        </p:nvSpPr>
        <p:spPr>
          <a:xfrm>
            <a:off x="621792" y="1810512"/>
            <a:ext cx="1691640" cy="502920"/>
          </a:xfrm>
          <a:prstGeom prst="rect">
            <a:avLst/>
          </a:prstGeom>
          <a:noFill/>
          <a:ln/>
        </p:spPr>
        <p:txBody>
          <a:bodyPr wrap="square" lIns="0" tIns="0" rIns="0" bIns="0" rtlCol="0" anchor="t"/>
          <a:lstStyle/>
          <a:p>
            <a:pPr indent="0" marL="0">
              <a:buNone/>
            </a:pPr>
            <a:r>
              <a:rPr lang="en-US" sz="1300" b="1" dirty="0">
                <a:solidFill>
                  <a:schemeClr val="tx1"/>
                </a:solidFill>
              </a:rPr>
              <a:t>Chiarezza degli obiettivi</a:t>
            </a:r>
            <a:endParaRPr lang="en-US" sz="1300" dirty="0"/>
          </a:p>
        </p:txBody>
      </p:sp>
      <p:sp>
        <p:nvSpPr>
          <p:cNvPr id="8" name="Comprensione del problema"/>
          <p:cNvSpPr/>
          <p:nvPr/>
        </p:nvSpPr>
        <p:spPr>
          <a:xfrm>
            <a:off x="2560320" y="1097280"/>
            <a:ext cx="1965960" cy="1298448"/>
          </a:xfrm>
          <a:prstGeom prst="roundRect">
            <a:avLst>
              <a:gd name="adj" fmla="val 5634"/>
            </a:avLst>
          </a:prstGeom>
          <a:solidFill>
            <a:schemeClr val="bg2"/>
          </a:solidFill>
          <a:ln/>
        </p:spPr>
      </p:sp>
      <p:sp>
        <p:nvSpPr>
          <p:cNvPr id="9" name="cerchio FiHelpCircle"/>
          <p:cNvSpPr/>
          <p:nvPr/>
        </p:nvSpPr>
        <p:spPr>
          <a:xfrm>
            <a:off x="2724912" y="1261872"/>
            <a:ext cx="457200" cy="457200"/>
          </a:xfrm>
          <a:prstGeom prst="ellipse">
            <a:avLst/>
          </a:prstGeom>
          <a:solidFill>
            <a:schemeClr val="accent1"/>
          </a:solidFill>
          <a:ln/>
        </p:spPr>
      </p:sp>
      <p:pic>
        <p:nvPicPr>
          <p:cNvPr id="10" name="Image 1" descr="FiHelpCircle">    </p:cNvPr>
          <p:cNvPicPr>
            <a:picLocks noChangeAspect="1"/>
          </p:cNvPicPr>
          <p:nvPr/>
        </p:nvPicPr>
        <p:blipFill>
          <a:blip r:embed="rId2"/>
          <a:stretch>
            <a:fillRect/>
          </a:stretch>
        </p:blipFill>
        <p:spPr>
          <a:xfrm>
            <a:off x="2839212" y="1376172"/>
            <a:ext cx="228600" cy="228600"/>
          </a:xfrm>
          <a:prstGeom prst="rect">
            <a:avLst/>
          </a:prstGeom>
        </p:spPr>
      </p:pic>
      <p:sp>
        <p:nvSpPr>
          <p:cNvPr id="11" name="Text 6"/>
          <p:cNvSpPr txBox="1"/>
          <p:nvPr/>
        </p:nvSpPr>
        <p:spPr>
          <a:xfrm>
            <a:off x="2724912" y="1810512"/>
            <a:ext cx="1691640" cy="502920"/>
          </a:xfrm>
          <a:prstGeom prst="rect">
            <a:avLst/>
          </a:prstGeom>
          <a:noFill/>
          <a:ln/>
        </p:spPr>
        <p:txBody>
          <a:bodyPr wrap="square" lIns="0" tIns="0" rIns="0" bIns="0" rtlCol="0" anchor="t"/>
          <a:lstStyle/>
          <a:p>
            <a:pPr indent="0" marL="0">
              <a:buNone/>
            </a:pPr>
            <a:r>
              <a:rPr lang="en-US" sz="1300" b="1" dirty="0">
                <a:solidFill>
                  <a:schemeClr val="tx1"/>
                </a:solidFill>
              </a:rPr>
              <a:t>Comprensione del problema</a:t>
            </a:r>
            <a:endParaRPr lang="en-US" sz="1300" dirty="0"/>
          </a:p>
        </p:txBody>
      </p:sp>
      <p:sp>
        <p:nvSpPr>
          <p:cNvPr id="12" name="Conoscenza del contesto"/>
          <p:cNvSpPr/>
          <p:nvPr/>
        </p:nvSpPr>
        <p:spPr>
          <a:xfrm>
            <a:off x="4663440" y="1097280"/>
            <a:ext cx="1965960" cy="1298448"/>
          </a:xfrm>
          <a:prstGeom prst="roundRect">
            <a:avLst>
              <a:gd name="adj" fmla="val 5634"/>
            </a:avLst>
          </a:prstGeom>
          <a:solidFill>
            <a:schemeClr val="bg2"/>
          </a:solidFill>
          <a:ln/>
        </p:spPr>
      </p:sp>
      <p:sp>
        <p:nvSpPr>
          <p:cNvPr id="13" name="cerchio FiMap"/>
          <p:cNvSpPr/>
          <p:nvPr/>
        </p:nvSpPr>
        <p:spPr>
          <a:xfrm>
            <a:off x="4828032" y="1261872"/>
            <a:ext cx="457200" cy="457200"/>
          </a:xfrm>
          <a:prstGeom prst="ellipse">
            <a:avLst/>
          </a:prstGeom>
          <a:solidFill>
            <a:schemeClr val="accent1"/>
          </a:solidFill>
          <a:ln/>
        </p:spPr>
      </p:sp>
      <p:pic>
        <p:nvPicPr>
          <p:cNvPr id="14" name="Image 2" descr="FiMap">    </p:cNvPr>
          <p:cNvPicPr>
            <a:picLocks noChangeAspect="1"/>
          </p:cNvPicPr>
          <p:nvPr/>
        </p:nvPicPr>
        <p:blipFill>
          <a:blip r:embed="rId3"/>
          <a:stretch>
            <a:fillRect/>
          </a:stretch>
        </p:blipFill>
        <p:spPr>
          <a:xfrm>
            <a:off x="4942332" y="1376172"/>
            <a:ext cx="228600" cy="228600"/>
          </a:xfrm>
          <a:prstGeom prst="rect">
            <a:avLst/>
          </a:prstGeom>
        </p:spPr>
      </p:pic>
      <p:sp>
        <p:nvSpPr>
          <p:cNvPr id="15" name="Text 9"/>
          <p:cNvSpPr txBox="1"/>
          <p:nvPr/>
        </p:nvSpPr>
        <p:spPr>
          <a:xfrm>
            <a:off x="4828032" y="1810512"/>
            <a:ext cx="1691640" cy="502920"/>
          </a:xfrm>
          <a:prstGeom prst="rect">
            <a:avLst/>
          </a:prstGeom>
          <a:noFill/>
          <a:ln/>
        </p:spPr>
        <p:txBody>
          <a:bodyPr wrap="square" lIns="0" tIns="0" rIns="0" bIns="0" rtlCol="0" anchor="t"/>
          <a:lstStyle/>
          <a:p>
            <a:pPr indent="0" marL="0">
              <a:buNone/>
            </a:pPr>
            <a:r>
              <a:rPr lang="en-US" sz="1300" b="1" dirty="0">
                <a:solidFill>
                  <a:schemeClr val="tx1"/>
                </a:solidFill>
              </a:rPr>
              <a:t>Conoscenza del contesto</a:t>
            </a:r>
            <a:endParaRPr lang="en-US" sz="1300" dirty="0"/>
          </a:p>
        </p:txBody>
      </p:sp>
      <p:sp>
        <p:nvSpPr>
          <p:cNvPr id="16" name="Competenze di dominio"/>
          <p:cNvSpPr/>
          <p:nvPr/>
        </p:nvSpPr>
        <p:spPr>
          <a:xfrm>
            <a:off x="6766560" y="1097280"/>
            <a:ext cx="1965960" cy="1298448"/>
          </a:xfrm>
          <a:prstGeom prst="roundRect">
            <a:avLst>
              <a:gd name="adj" fmla="val 5634"/>
            </a:avLst>
          </a:prstGeom>
          <a:solidFill>
            <a:schemeClr val="bg2"/>
          </a:solidFill>
          <a:ln/>
        </p:spPr>
      </p:sp>
      <p:sp>
        <p:nvSpPr>
          <p:cNvPr id="17" name="cerchio FiAward"/>
          <p:cNvSpPr/>
          <p:nvPr/>
        </p:nvSpPr>
        <p:spPr>
          <a:xfrm>
            <a:off x="6931152" y="1261872"/>
            <a:ext cx="457200" cy="457200"/>
          </a:xfrm>
          <a:prstGeom prst="ellipse">
            <a:avLst/>
          </a:prstGeom>
          <a:solidFill>
            <a:schemeClr val="accent1"/>
          </a:solidFill>
          <a:ln/>
        </p:spPr>
      </p:sp>
      <p:pic>
        <p:nvPicPr>
          <p:cNvPr id="18" name="Image 3" descr="FiAward">    </p:cNvPr>
          <p:cNvPicPr>
            <a:picLocks noChangeAspect="1"/>
          </p:cNvPicPr>
          <p:nvPr/>
        </p:nvPicPr>
        <p:blipFill>
          <a:blip r:embed="rId4"/>
          <a:stretch>
            <a:fillRect/>
          </a:stretch>
        </p:blipFill>
        <p:spPr>
          <a:xfrm>
            <a:off x="7045452" y="1376172"/>
            <a:ext cx="228600" cy="228600"/>
          </a:xfrm>
          <a:prstGeom prst="rect">
            <a:avLst/>
          </a:prstGeom>
        </p:spPr>
      </p:pic>
      <p:sp>
        <p:nvSpPr>
          <p:cNvPr id="19" name="Text 12"/>
          <p:cNvSpPr txBox="1"/>
          <p:nvPr/>
        </p:nvSpPr>
        <p:spPr>
          <a:xfrm>
            <a:off x="6931152" y="1810512"/>
            <a:ext cx="1691640" cy="502920"/>
          </a:xfrm>
          <a:prstGeom prst="rect">
            <a:avLst/>
          </a:prstGeom>
          <a:noFill/>
          <a:ln/>
        </p:spPr>
        <p:txBody>
          <a:bodyPr wrap="square" lIns="0" tIns="0" rIns="0" bIns="0" rtlCol="0" anchor="t"/>
          <a:lstStyle/>
          <a:p>
            <a:pPr indent="0" marL="0">
              <a:buNone/>
            </a:pPr>
            <a:r>
              <a:rPr lang="en-US" sz="1300" b="1" dirty="0">
                <a:solidFill>
                  <a:schemeClr val="tx1"/>
                </a:solidFill>
              </a:rPr>
              <a:t>Competenze di dominio</a:t>
            </a:r>
            <a:endParaRPr lang="en-US" sz="1300" dirty="0"/>
          </a:p>
        </p:txBody>
      </p:sp>
      <p:sp>
        <p:nvSpPr>
          <p:cNvPr id="20" name="Domande pertinenti"/>
          <p:cNvSpPr/>
          <p:nvPr/>
        </p:nvSpPr>
        <p:spPr>
          <a:xfrm>
            <a:off x="457200" y="2560320"/>
            <a:ext cx="1965960" cy="1298448"/>
          </a:xfrm>
          <a:prstGeom prst="roundRect">
            <a:avLst>
              <a:gd name="adj" fmla="val 5634"/>
            </a:avLst>
          </a:prstGeom>
          <a:solidFill>
            <a:schemeClr val="bg2"/>
          </a:solidFill>
          <a:ln/>
        </p:spPr>
      </p:sp>
      <p:sp>
        <p:nvSpPr>
          <p:cNvPr id="21" name="cerchio FiMessageCircle"/>
          <p:cNvSpPr/>
          <p:nvPr/>
        </p:nvSpPr>
        <p:spPr>
          <a:xfrm>
            <a:off x="621792" y="2724912"/>
            <a:ext cx="457200" cy="457200"/>
          </a:xfrm>
          <a:prstGeom prst="ellipse">
            <a:avLst/>
          </a:prstGeom>
          <a:solidFill>
            <a:schemeClr val="accent1"/>
          </a:solidFill>
          <a:ln/>
        </p:spPr>
      </p:sp>
      <p:pic>
        <p:nvPicPr>
          <p:cNvPr id="22" name="Image 4" descr="FiMessageCircle">    </p:cNvPr>
          <p:cNvPicPr>
            <a:picLocks noChangeAspect="1"/>
          </p:cNvPicPr>
          <p:nvPr/>
        </p:nvPicPr>
        <p:blipFill>
          <a:blip r:embed="rId5"/>
          <a:stretch>
            <a:fillRect/>
          </a:stretch>
        </p:blipFill>
        <p:spPr>
          <a:xfrm>
            <a:off x="736092" y="2839212"/>
            <a:ext cx="228600" cy="228600"/>
          </a:xfrm>
          <a:prstGeom prst="rect">
            <a:avLst/>
          </a:prstGeom>
        </p:spPr>
      </p:pic>
      <p:sp>
        <p:nvSpPr>
          <p:cNvPr id="23" name="Text 15"/>
          <p:cNvSpPr txBox="1"/>
          <p:nvPr/>
        </p:nvSpPr>
        <p:spPr>
          <a:xfrm>
            <a:off x="621792" y="3273552"/>
            <a:ext cx="1691640" cy="502920"/>
          </a:xfrm>
          <a:prstGeom prst="rect">
            <a:avLst/>
          </a:prstGeom>
          <a:noFill/>
          <a:ln/>
        </p:spPr>
        <p:txBody>
          <a:bodyPr wrap="square" lIns="0" tIns="0" rIns="0" bIns="0" rtlCol="0" anchor="t"/>
          <a:lstStyle/>
          <a:p>
            <a:pPr indent="0" marL="0">
              <a:buNone/>
            </a:pPr>
            <a:r>
              <a:rPr lang="en-US" sz="1300" b="1" dirty="0">
                <a:solidFill>
                  <a:schemeClr val="tx1"/>
                </a:solidFill>
              </a:rPr>
              <a:t>Domande pertinenti</a:t>
            </a:r>
            <a:endParaRPr lang="en-US" sz="1300" dirty="0"/>
          </a:p>
        </p:txBody>
      </p:sp>
      <p:sp>
        <p:nvSpPr>
          <p:cNvPr id="24" name="Interpretazione dei risultati"/>
          <p:cNvSpPr/>
          <p:nvPr/>
        </p:nvSpPr>
        <p:spPr>
          <a:xfrm>
            <a:off x="2560320" y="2560320"/>
            <a:ext cx="1965960" cy="1298448"/>
          </a:xfrm>
          <a:prstGeom prst="roundRect">
            <a:avLst>
              <a:gd name="adj" fmla="val 5634"/>
            </a:avLst>
          </a:prstGeom>
          <a:solidFill>
            <a:schemeClr val="bg2"/>
          </a:solidFill>
          <a:ln/>
        </p:spPr>
      </p:sp>
      <p:sp>
        <p:nvSpPr>
          <p:cNvPr id="25" name="cerchio FiEye"/>
          <p:cNvSpPr/>
          <p:nvPr/>
        </p:nvSpPr>
        <p:spPr>
          <a:xfrm>
            <a:off x="2724912" y="2724912"/>
            <a:ext cx="457200" cy="457200"/>
          </a:xfrm>
          <a:prstGeom prst="ellipse">
            <a:avLst/>
          </a:prstGeom>
          <a:solidFill>
            <a:schemeClr val="accent1"/>
          </a:solidFill>
          <a:ln/>
        </p:spPr>
      </p:sp>
      <p:pic>
        <p:nvPicPr>
          <p:cNvPr id="26" name="Image 5" descr="FiEye">    </p:cNvPr>
          <p:cNvPicPr>
            <a:picLocks noChangeAspect="1"/>
          </p:cNvPicPr>
          <p:nvPr/>
        </p:nvPicPr>
        <p:blipFill>
          <a:blip r:embed="rId6"/>
          <a:stretch>
            <a:fillRect/>
          </a:stretch>
        </p:blipFill>
        <p:spPr>
          <a:xfrm>
            <a:off x="2839212" y="2839212"/>
            <a:ext cx="228600" cy="228600"/>
          </a:xfrm>
          <a:prstGeom prst="rect">
            <a:avLst/>
          </a:prstGeom>
        </p:spPr>
      </p:pic>
      <p:sp>
        <p:nvSpPr>
          <p:cNvPr id="27" name="Text 18"/>
          <p:cNvSpPr txBox="1"/>
          <p:nvPr/>
        </p:nvSpPr>
        <p:spPr>
          <a:xfrm>
            <a:off x="2724912" y="3273552"/>
            <a:ext cx="1691640" cy="502920"/>
          </a:xfrm>
          <a:prstGeom prst="rect">
            <a:avLst/>
          </a:prstGeom>
          <a:noFill/>
          <a:ln/>
        </p:spPr>
        <p:txBody>
          <a:bodyPr wrap="square" lIns="0" tIns="0" rIns="0" bIns="0" rtlCol="0" anchor="t"/>
          <a:lstStyle/>
          <a:p>
            <a:pPr indent="0" marL="0">
              <a:buNone/>
            </a:pPr>
            <a:r>
              <a:rPr lang="en-US" sz="1300" b="1" dirty="0">
                <a:solidFill>
                  <a:schemeClr val="tx1"/>
                </a:solidFill>
              </a:rPr>
              <a:t>Interpretazione dei risultati</a:t>
            </a:r>
            <a:endParaRPr lang="en-US" sz="1300" dirty="0"/>
          </a:p>
        </p:txBody>
      </p:sp>
      <p:sp>
        <p:nvSpPr>
          <p:cNvPr id="28" name="Feedback e correzione"/>
          <p:cNvSpPr/>
          <p:nvPr/>
        </p:nvSpPr>
        <p:spPr>
          <a:xfrm>
            <a:off x="4663440" y="2560320"/>
            <a:ext cx="1965960" cy="1298448"/>
          </a:xfrm>
          <a:prstGeom prst="roundRect">
            <a:avLst>
              <a:gd name="adj" fmla="val 5634"/>
            </a:avLst>
          </a:prstGeom>
          <a:solidFill>
            <a:schemeClr val="bg2"/>
          </a:solidFill>
          <a:ln/>
        </p:spPr>
      </p:sp>
      <p:sp>
        <p:nvSpPr>
          <p:cNvPr id="29" name="cerchio FiEdit"/>
          <p:cNvSpPr/>
          <p:nvPr/>
        </p:nvSpPr>
        <p:spPr>
          <a:xfrm>
            <a:off x="4828032" y="2724912"/>
            <a:ext cx="457200" cy="457200"/>
          </a:xfrm>
          <a:prstGeom prst="ellipse">
            <a:avLst/>
          </a:prstGeom>
          <a:solidFill>
            <a:schemeClr val="accent1"/>
          </a:solidFill>
          <a:ln/>
        </p:spPr>
      </p:sp>
      <p:pic>
        <p:nvPicPr>
          <p:cNvPr id="30" name="Image 6" descr="FiEdit">    </p:cNvPr>
          <p:cNvPicPr>
            <a:picLocks noChangeAspect="1"/>
          </p:cNvPicPr>
          <p:nvPr/>
        </p:nvPicPr>
        <p:blipFill>
          <a:blip r:embed="rId7"/>
          <a:stretch>
            <a:fillRect/>
          </a:stretch>
        </p:blipFill>
        <p:spPr>
          <a:xfrm>
            <a:off x="4942332" y="2839212"/>
            <a:ext cx="228600" cy="228600"/>
          </a:xfrm>
          <a:prstGeom prst="rect">
            <a:avLst/>
          </a:prstGeom>
        </p:spPr>
      </p:pic>
      <p:sp>
        <p:nvSpPr>
          <p:cNvPr id="31" name="Text 21"/>
          <p:cNvSpPr txBox="1"/>
          <p:nvPr/>
        </p:nvSpPr>
        <p:spPr>
          <a:xfrm>
            <a:off x="4828032" y="3273552"/>
            <a:ext cx="1691640" cy="502920"/>
          </a:xfrm>
          <a:prstGeom prst="rect">
            <a:avLst/>
          </a:prstGeom>
          <a:noFill/>
          <a:ln/>
        </p:spPr>
        <p:txBody>
          <a:bodyPr wrap="square" lIns="0" tIns="0" rIns="0" bIns="0" rtlCol="0" anchor="t"/>
          <a:lstStyle/>
          <a:p>
            <a:pPr indent="0" marL="0">
              <a:buNone/>
            </a:pPr>
            <a:r>
              <a:rPr lang="en-US" sz="1300" b="1" dirty="0">
                <a:solidFill>
                  <a:schemeClr val="tx1"/>
                </a:solidFill>
              </a:rPr>
              <a:t>Feedback e correzione</a:t>
            </a:r>
            <a:endParaRPr lang="en-US" sz="1300" dirty="0"/>
          </a:p>
        </p:txBody>
      </p:sp>
      <p:sp>
        <p:nvSpPr>
          <p:cNvPr id="32" name="Utilizzo attivo"/>
          <p:cNvSpPr/>
          <p:nvPr/>
        </p:nvSpPr>
        <p:spPr>
          <a:xfrm>
            <a:off x="6766560" y="2560320"/>
            <a:ext cx="1965960" cy="1298448"/>
          </a:xfrm>
          <a:prstGeom prst="roundRect">
            <a:avLst>
              <a:gd name="adj" fmla="val 5634"/>
            </a:avLst>
          </a:prstGeom>
          <a:solidFill>
            <a:schemeClr val="accent6"/>
          </a:solidFill>
          <a:ln/>
        </p:spPr>
      </p:sp>
      <p:sp>
        <p:nvSpPr>
          <p:cNvPr id="33" name="cerchio FiActivity"/>
          <p:cNvSpPr/>
          <p:nvPr/>
        </p:nvSpPr>
        <p:spPr>
          <a:xfrm>
            <a:off x="6931152" y="2724912"/>
            <a:ext cx="457200" cy="457200"/>
          </a:xfrm>
          <a:prstGeom prst="ellipse">
            <a:avLst/>
          </a:prstGeom>
          <a:solidFill>
            <a:schemeClr val="accent1"/>
          </a:solidFill>
          <a:ln/>
        </p:spPr>
      </p:sp>
      <p:pic>
        <p:nvPicPr>
          <p:cNvPr id="34" name="Image 7" descr="FiActivity">    </p:cNvPr>
          <p:cNvPicPr>
            <a:picLocks noChangeAspect="1"/>
          </p:cNvPicPr>
          <p:nvPr/>
        </p:nvPicPr>
        <p:blipFill>
          <a:blip r:embed="rId8"/>
          <a:stretch>
            <a:fillRect/>
          </a:stretch>
        </p:blipFill>
        <p:spPr>
          <a:xfrm>
            <a:off x="7045452" y="2839212"/>
            <a:ext cx="228600" cy="228600"/>
          </a:xfrm>
          <a:prstGeom prst="rect">
            <a:avLst/>
          </a:prstGeom>
        </p:spPr>
      </p:pic>
      <p:sp>
        <p:nvSpPr>
          <p:cNvPr id="35" name="Text 24"/>
          <p:cNvSpPr txBox="1"/>
          <p:nvPr/>
        </p:nvSpPr>
        <p:spPr>
          <a:xfrm>
            <a:off x="6931152" y="3273552"/>
            <a:ext cx="1691640" cy="502920"/>
          </a:xfrm>
          <a:prstGeom prst="rect">
            <a:avLst/>
          </a:prstGeom>
          <a:noFill/>
          <a:ln/>
        </p:spPr>
        <p:txBody>
          <a:bodyPr wrap="square" lIns="0" tIns="0" rIns="0" bIns="0" rtlCol="0" anchor="t"/>
          <a:lstStyle/>
          <a:p>
            <a:pPr indent="0" marL="0">
              <a:buNone/>
            </a:pPr>
            <a:r>
              <a:rPr lang="en-US" sz="1300" b="1" dirty="0">
                <a:solidFill>
                  <a:schemeClr val="tx1"/>
                </a:solidFill>
              </a:rPr>
              <a:t>Utilizzo attivo</a:t>
            </a:r>
            <a:endParaRPr lang="en-US" sz="1300" dirty="0"/>
          </a:p>
        </p:txBody>
      </p:sp>
      <p:sp>
        <p:nvSpPr>
          <p:cNvPr id="36" name="messaggio"/>
          <p:cNvSpPr/>
          <p:nvPr/>
        </p:nvSpPr>
        <p:spPr>
          <a:xfrm>
            <a:off x="457200" y="4069080"/>
            <a:ext cx="8229600" cy="457200"/>
          </a:xfrm>
          <a:prstGeom prst="roundRect">
            <a:avLst>
              <a:gd name="adj" fmla="val 16000"/>
            </a:avLst>
          </a:prstGeom>
          <a:solidFill>
            <a:schemeClr val="tx1"/>
          </a:solidFill>
          <a:ln/>
        </p:spPr>
      </p:sp>
      <p:sp>
        <p:nvSpPr>
          <p:cNvPr id="37" name="Text 26"/>
          <p:cNvSpPr txBox="1"/>
          <p:nvPr/>
        </p:nvSpPr>
        <p:spPr>
          <a:xfrm>
            <a:off x="640080" y="4069080"/>
            <a:ext cx="7863840" cy="457200"/>
          </a:xfrm>
          <a:prstGeom prst="rect">
            <a:avLst/>
          </a:prstGeom>
          <a:noFill/>
          <a:ln/>
        </p:spPr>
        <p:txBody>
          <a:bodyPr wrap="square" lIns="0" tIns="0" rIns="0" bIns="0" rtlCol="0" anchor="ctr"/>
          <a:lstStyle/>
          <a:p>
            <a:pPr indent="0" marL="0">
              <a:buNone/>
            </a:pPr>
            <a:r>
              <a:rPr lang="en-US" sz="1300" dirty="0">
                <a:solidFill>
                  <a:schemeClr val="bg1"/>
                </a:solidFill>
              </a:rPr>
              <a:t>Nessuno di questi fattori riguarda la tecnica dello strumento: valgono con qualsiasi sistema.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Obiettivi chiari e comprensione del problema</a:t>
            </a:r>
            <a:endParaRPr lang="en-US" sz="2600" dirty="0"/>
          </a:p>
        </p:txBody>
      </p:sp>
      <p:sp>
        <p:nvSpPr>
          <p:cNvPr id="4" name="scheda Obiettivo vago"/>
          <p:cNvSpPr/>
          <p:nvPr/>
        </p:nvSpPr>
        <p:spPr>
          <a:xfrm>
            <a:off x="457200" y="1097280"/>
            <a:ext cx="3977640" cy="2194560"/>
          </a:xfrm>
          <a:prstGeom prst="roundRect">
            <a:avLst>
              <a:gd name="adj" fmla="val 3333"/>
            </a:avLst>
          </a:prstGeom>
          <a:solidFill>
            <a:schemeClr val="bg2"/>
          </a:solidFill>
          <a:ln/>
        </p:spPr>
      </p:sp>
      <p:sp>
        <p:nvSpPr>
          <p:cNvPr id="5" name="cerchio FiCloud"/>
          <p:cNvSpPr/>
          <p:nvPr/>
        </p:nvSpPr>
        <p:spPr>
          <a:xfrm>
            <a:off x="640080" y="1280160"/>
            <a:ext cx="457200" cy="457200"/>
          </a:xfrm>
          <a:prstGeom prst="ellipse">
            <a:avLst/>
          </a:prstGeom>
          <a:solidFill>
            <a:schemeClr val="accent1"/>
          </a:solidFill>
          <a:ln/>
        </p:spPr>
      </p:sp>
      <p:pic>
        <p:nvPicPr>
          <p:cNvPr id="6" name="Image 0" descr="FiCloud">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Obiettivo vago</a:t>
            </a:r>
            <a:endParaRPr lang="en-US" sz="1500" dirty="0"/>
          </a:p>
        </p:txBody>
      </p:sp>
      <p:sp>
        <p:nvSpPr>
          <p:cNvPr id="8" name="Text 4"/>
          <p:cNvSpPr txBox="1"/>
          <p:nvPr/>
        </p:nvSpPr>
        <p:spPr>
          <a:xfrm>
            <a:off x="640080" y="2231136"/>
            <a:ext cx="3611880" cy="950976"/>
          </a:xfrm>
          <a:prstGeom prst="rect">
            <a:avLst/>
          </a:prstGeom>
          <a:noFill/>
          <a:ln/>
        </p:spPr>
        <p:txBody>
          <a:bodyPr wrap="square" lIns="0" tIns="0" rIns="0" bIns="0" rtlCol="0" anchor="t"/>
          <a:lstStyle/>
          <a:p>
            <a:pPr indent="0" marL="0">
              <a:spcAft>
                <a:spcPts val="800"/>
              </a:spcAft>
              <a:buNone/>
            </a:pPr>
            <a:r>
              <a:rPr lang="en-US" sz="1300" b="1" i="1" dirty="0">
                <a:solidFill>
                  <a:schemeClr val="tx1"/>
                </a:solidFill>
              </a:rPr>
              <a:t>"Scrivimi qualcosa sul nuovo servizio."</a:t>
            </a:r>
            <a:endParaRPr lang="en-US" sz="1300" dirty="0"/>
          </a:p>
          <a:p>
            <a:pPr indent="0" marL="0">
              <a:buNone/>
            </a:pPr>
            <a:r>
              <a:rPr lang="en-US" sz="1300" dirty="0">
                <a:solidFill>
                  <a:schemeClr val="tx2"/>
                </a:solidFill>
              </a:rPr>
              <a:t>Risultato generico, nessun criterio per valutarlo.</a:t>
            </a:r>
            <a:endParaRPr lang="en-US" sz="1300" dirty="0"/>
          </a:p>
        </p:txBody>
      </p:sp>
      <p:sp>
        <p:nvSpPr>
          <p:cNvPr id="9" name="scheda Obiettivo chiaro"/>
          <p:cNvSpPr/>
          <p:nvPr/>
        </p:nvSpPr>
        <p:spPr>
          <a:xfrm>
            <a:off x="4709160" y="1097280"/>
            <a:ext cx="3977640" cy="2194560"/>
          </a:xfrm>
          <a:prstGeom prst="roundRect">
            <a:avLst>
              <a:gd name="adj" fmla="val 3333"/>
            </a:avLst>
          </a:prstGeom>
          <a:solidFill>
            <a:schemeClr val="accent6"/>
          </a:solidFill>
          <a:ln/>
        </p:spPr>
      </p:sp>
      <p:sp>
        <p:nvSpPr>
          <p:cNvPr id="10" name="cerchio FiTarget"/>
          <p:cNvSpPr/>
          <p:nvPr/>
        </p:nvSpPr>
        <p:spPr>
          <a:xfrm>
            <a:off x="4892040" y="1280160"/>
            <a:ext cx="457200" cy="457200"/>
          </a:xfrm>
          <a:prstGeom prst="ellipse">
            <a:avLst/>
          </a:prstGeom>
          <a:solidFill>
            <a:schemeClr val="accent1"/>
          </a:solidFill>
          <a:ln/>
        </p:spPr>
      </p:sp>
      <p:pic>
        <p:nvPicPr>
          <p:cNvPr id="11" name="Image 1" descr="FiTarget">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Obiettivo chiaro</a:t>
            </a:r>
            <a:endParaRPr lang="en-US" sz="1500" dirty="0"/>
          </a:p>
        </p:txBody>
      </p:sp>
      <p:sp>
        <p:nvSpPr>
          <p:cNvPr id="13" name="Text 8"/>
          <p:cNvSpPr txBox="1"/>
          <p:nvPr/>
        </p:nvSpPr>
        <p:spPr>
          <a:xfrm>
            <a:off x="4892040" y="2231136"/>
            <a:ext cx="3611880" cy="950976"/>
          </a:xfrm>
          <a:prstGeom prst="rect">
            <a:avLst/>
          </a:prstGeom>
          <a:noFill/>
          <a:ln/>
        </p:spPr>
        <p:txBody>
          <a:bodyPr wrap="square" lIns="0" tIns="0" rIns="0" bIns="0" rtlCol="0" anchor="t"/>
          <a:lstStyle/>
          <a:p>
            <a:pPr indent="0" marL="0">
              <a:spcAft>
                <a:spcPts val="800"/>
              </a:spcAft>
              <a:buNone/>
            </a:pPr>
            <a:r>
              <a:rPr lang="en-US" sz="1300" b="1" i="1" dirty="0">
                <a:solidFill>
                  <a:schemeClr val="tx1"/>
                </a:solidFill>
              </a:rPr>
              <a:t>I clienti attuali devono capire che cosa cambia per loro e iscriversi alla presentazione.</a:t>
            </a:r>
            <a:endParaRPr lang="en-US" sz="1300" dirty="0"/>
          </a:p>
          <a:p>
            <a:pPr indent="0" marL="0">
              <a:buNone/>
            </a:pPr>
            <a:r>
              <a:rPr lang="en-US" sz="1300" dirty="0">
                <a:solidFill>
                  <a:schemeClr val="tx2"/>
                </a:solidFill>
              </a:rPr>
              <a:t>Richiesta e valutazione diventano più facili.</a:t>
            </a:r>
            <a:endParaRPr lang="en-US" sz="1300" dirty="0"/>
          </a:p>
        </p:txBody>
      </p:sp>
      <p:sp>
        <p:nvSpPr>
          <p:cNvPr id="14" name="messaggio"/>
          <p:cNvSpPr/>
          <p:nvPr/>
        </p:nvSpPr>
        <p:spPr>
          <a:xfrm>
            <a:off x="457200" y="3474720"/>
            <a:ext cx="8229600" cy="548640"/>
          </a:xfrm>
          <a:prstGeom prst="roundRect">
            <a:avLst>
              <a:gd name="adj" fmla="val 13333"/>
            </a:avLst>
          </a:prstGeom>
          <a:solidFill>
            <a:schemeClr val="tx1"/>
          </a:solidFill>
          <a:ln/>
        </p:spPr>
      </p:sp>
      <p:sp>
        <p:nvSpPr>
          <p:cNvPr id="15" name="Text 10"/>
          <p:cNvSpPr txBox="1"/>
          <p:nvPr/>
        </p:nvSpPr>
        <p:spPr>
          <a:xfrm>
            <a:off x="640080" y="3474720"/>
            <a:ext cx="7863840" cy="548640"/>
          </a:xfrm>
          <a:prstGeom prst="rect">
            <a:avLst/>
          </a:prstGeom>
          <a:noFill/>
          <a:ln/>
        </p:spPr>
        <p:txBody>
          <a:bodyPr wrap="square" lIns="0" tIns="0" rIns="0" bIns="0" rtlCol="0" anchor="ctr"/>
          <a:lstStyle/>
          <a:p>
            <a:pPr indent="0" marL="0">
              <a:buNone/>
            </a:pPr>
            <a:r>
              <a:rPr lang="en-US" sz="1400" dirty="0">
                <a:solidFill>
                  <a:schemeClr val="bg1"/>
                </a:solidFill>
              </a:rPr>
              <a:t>Prima di chiedere all'AI: che cosa voglio davvero ottenere? E qual è davvero il problema?</a:t>
            </a:r>
            <a:endParaRPr lang="en-US" sz="1400" dirty="0"/>
          </a:p>
        </p:txBody>
      </p:sp>
      <p:sp>
        <p:nvSpPr>
          <p:cNvPr id="16" name="Text 11"/>
          <p:cNvSpPr txBox="1"/>
          <p:nvPr/>
        </p:nvSpPr>
        <p:spPr>
          <a:xfrm>
            <a:off x="457200" y="4160520"/>
            <a:ext cx="8229600" cy="320040"/>
          </a:xfrm>
          <a:prstGeom prst="rect">
            <a:avLst/>
          </a:prstGeom>
          <a:noFill/>
          <a:ln/>
        </p:spPr>
        <p:txBody>
          <a:bodyPr wrap="square" lIns="0" tIns="0" rIns="0" bIns="0" rtlCol="0" anchor="t"/>
          <a:lstStyle/>
          <a:p>
            <a:pPr indent="0" marL="0">
              <a:buNone/>
            </a:pPr>
            <a:r>
              <a:rPr lang="en-US" sz="1300" i="1" dirty="0">
                <a:solidFill>
                  <a:schemeClr val="tx1"/>
                </a:solidFill>
              </a:rPr>
              <a:t>Prima della tecnica di formulazione viene la chiarezza di pensiero.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Contesto e competenze di dominio</a:t>
            </a:r>
            <a:endParaRPr lang="en-US" sz="2600" dirty="0"/>
          </a:p>
        </p:txBody>
      </p:sp>
      <p:sp>
        <p:nvSpPr>
          <p:cNvPr id="4" name="scheda Contesto"/>
          <p:cNvSpPr/>
          <p:nvPr/>
        </p:nvSpPr>
        <p:spPr>
          <a:xfrm>
            <a:off x="457200" y="1097280"/>
            <a:ext cx="2651760" cy="2743200"/>
          </a:xfrm>
          <a:prstGeom prst="roundRect">
            <a:avLst>
              <a:gd name="adj" fmla="val 2759"/>
            </a:avLst>
          </a:prstGeom>
          <a:solidFill>
            <a:schemeClr val="accent6"/>
          </a:solidFill>
          <a:ln/>
        </p:spPr>
      </p:sp>
      <p:sp>
        <p:nvSpPr>
          <p:cNvPr id="5" name="cerchio FiMap"/>
          <p:cNvSpPr/>
          <p:nvPr/>
        </p:nvSpPr>
        <p:spPr>
          <a:xfrm>
            <a:off x="640080" y="1280160"/>
            <a:ext cx="457200" cy="457200"/>
          </a:xfrm>
          <a:prstGeom prst="ellipse">
            <a:avLst/>
          </a:prstGeom>
          <a:solidFill>
            <a:schemeClr val="accent1"/>
          </a:solidFill>
          <a:ln/>
        </p:spPr>
      </p:sp>
      <p:pic>
        <p:nvPicPr>
          <p:cNvPr id="6" name="Image 0" descr="FiMap">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2286000" cy="347472"/>
          </a:xfrm>
          <a:prstGeom prst="rect">
            <a:avLst/>
          </a:prstGeom>
          <a:noFill/>
          <a:ln/>
        </p:spPr>
        <p:txBody>
          <a:bodyPr wrap="square" lIns="0" tIns="0" rIns="0" bIns="0" rtlCol="0" anchor="t"/>
          <a:lstStyle/>
          <a:p>
            <a:pPr indent="0" marL="0">
              <a:buNone/>
            </a:pPr>
            <a:r>
              <a:rPr lang="en-US" sz="1500" b="1" dirty="0">
                <a:solidFill>
                  <a:schemeClr val="tx1"/>
                </a:solidFill>
              </a:rPr>
              <a:t>Contesto</a:t>
            </a:r>
            <a:endParaRPr lang="en-US" sz="1500" dirty="0"/>
          </a:p>
        </p:txBody>
      </p:sp>
      <p:sp>
        <p:nvSpPr>
          <p:cNvPr id="8" name="Text 4"/>
          <p:cNvSpPr txBox="1"/>
          <p:nvPr/>
        </p:nvSpPr>
        <p:spPr>
          <a:xfrm>
            <a:off x="640080" y="2231136"/>
            <a:ext cx="2286000" cy="1499616"/>
          </a:xfrm>
          <a:prstGeom prst="rect">
            <a:avLst/>
          </a:prstGeom>
          <a:noFill/>
          <a:ln/>
        </p:spPr>
        <p:txBody>
          <a:bodyPr wrap="square" lIns="0" tIns="0" rIns="0" bIns="0" rtlCol="0" anchor="t"/>
          <a:lstStyle/>
          <a:p>
            <a:pPr indent="0" marL="0">
              <a:buNone/>
            </a:pPr>
            <a:r>
              <a:rPr lang="en-US" sz="1200" dirty="0">
                <a:solidFill>
                  <a:schemeClr val="tx2"/>
                </a:solidFill>
              </a:rPr>
              <a:t>Ciò che il sistema non può sapere: cliente, storia, priorità, sensibilità. Chi lo porta ottiene risultati pertinenti.</a:t>
            </a:r>
            <a:endParaRPr lang="en-US" sz="1200" dirty="0"/>
          </a:p>
        </p:txBody>
      </p:sp>
      <p:sp>
        <p:nvSpPr>
          <p:cNvPr id="9" name="scheda Competenza: prima"/>
          <p:cNvSpPr/>
          <p:nvPr/>
        </p:nvSpPr>
        <p:spPr>
          <a:xfrm>
            <a:off x="3246120" y="1097280"/>
            <a:ext cx="2651760" cy="2743200"/>
          </a:xfrm>
          <a:prstGeom prst="roundRect">
            <a:avLst>
              <a:gd name="adj" fmla="val 2759"/>
            </a:avLst>
          </a:prstGeom>
          <a:solidFill>
            <a:schemeClr val="bg2"/>
          </a:solidFill>
          <a:ln/>
        </p:spPr>
      </p:sp>
      <p:sp>
        <p:nvSpPr>
          <p:cNvPr id="10" name="cerchio FiAward"/>
          <p:cNvSpPr/>
          <p:nvPr/>
        </p:nvSpPr>
        <p:spPr>
          <a:xfrm>
            <a:off x="3429000" y="1280160"/>
            <a:ext cx="457200" cy="457200"/>
          </a:xfrm>
          <a:prstGeom prst="ellipse">
            <a:avLst/>
          </a:prstGeom>
          <a:solidFill>
            <a:schemeClr val="accent1"/>
          </a:solidFill>
          <a:ln/>
        </p:spPr>
      </p:sp>
      <p:pic>
        <p:nvPicPr>
          <p:cNvPr id="11" name="Image 1" descr="FiAward">    </p:cNvPr>
          <p:cNvPicPr>
            <a:picLocks noChangeAspect="1"/>
          </p:cNvPicPr>
          <p:nvPr/>
        </p:nvPicPr>
        <p:blipFill>
          <a:blip r:embed="rId2"/>
          <a:stretch>
            <a:fillRect/>
          </a:stretch>
        </p:blipFill>
        <p:spPr>
          <a:xfrm>
            <a:off x="3543300" y="1394460"/>
            <a:ext cx="228600" cy="228600"/>
          </a:xfrm>
          <a:prstGeom prst="rect">
            <a:avLst/>
          </a:prstGeom>
        </p:spPr>
      </p:pic>
      <p:sp>
        <p:nvSpPr>
          <p:cNvPr id="12" name="Text 7"/>
          <p:cNvSpPr txBox="1"/>
          <p:nvPr/>
        </p:nvSpPr>
        <p:spPr>
          <a:xfrm>
            <a:off x="3429000" y="1847088"/>
            <a:ext cx="2286000" cy="347472"/>
          </a:xfrm>
          <a:prstGeom prst="rect">
            <a:avLst/>
          </a:prstGeom>
          <a:noFill/>
          <a:ln/>
        </p:spPr>
        <p:txBody>
          <a:bodyPr wrap="square" lIns="0" tIns="0" rIns="0" bIns="0" rtlCol="0" anchor="t"/>
          <a:lstStyle/>
          <a:p>
            <a:pPr indent="0" marL="0">
              <a:buNone/>
            </a:pPr>
            <a:r>
              <a:rPr lang="en-US" sz="1500" b="1" dirty="0">
                <a:solidFill>
                  <a:schemeClr val="tx1"/>
                </a:solidFill>
              </a:rPr>
              <a:t>Competenza: prima</a:t>
            </a:r>
            <a:endParaRPr lang="en-US" sz="1500" dirty="0"/>
          </a:p>
        </p:txBody>
      </p:sp>
      <p:sp>
        <p:nvSpPr>
          <p:cNvPr id="13" name="Text 8"/>
          <p:cNvSpPr txBox="1"/>
          <p:nvPr/>
        </p:nvSpPr>
        <p:spPr>
          <a:xfrm>
            <a:off x="3429000" y="2231136"/>
            <a:ext cx="2286000" cy="1499616"/>
          </a:xfrm>
          <a:prstGeom prst="rect">
            <a:avLst/>
          </a:prstGeom>
          <a:noFill/>
          <a:ln/>
        </p:spPr>
        <p:txBody>
          <a:bodyPr wrap="square" lIns="0" tIns="0" rIns="0" bIns="0" rtlCol="0" anchor="t"/>
          <a:lstStyle/>
          <a:p>
            <a:pPr indent="0" marL="0">
              <a:buNone/>
            </a:pPr>
            <a:r>
              <a:rPr lang="en-US" sz="1200" dirty="0">
                <a:solidFill>
                  <a:schemeClr val="tx2"/>
                </a:solidFill>
              </a:rPr>
              <a:t>Sapere quali aspetti sono rilevanti, quali domande porre, quali informazioni fornire.</a:t>
            </a:r>
            <a:endParaRPr lang="en-US" sz="1200" dirty="0"/>
          </a:p>
        </p:txBody>
      </p:sp>
      <p:sp>
        <p:nvSpPr>
          <p:cNvPr id="14" name="scheda Competenza: dopo"/>
          <p:cNvSpPr/>
          <p:nvPr/>
        </p:nvSpPr>
        <p:spPr>
          <a:xfrm>
            <a:off x="6035040" y="1097280"/>
            <a:ext cx="2651760" cy="2743200"/>
          </a:xfrm>
          <a:prstGeom prst="roundRect">
            <a:avLst>
              <a:gd name="adj" fmla="val 2759"/>
            </a:avLst>
          </a:prstGeom>
          <a:solidFill>
            <a:schemeClr val="bg2"/>
          </a:solidFill>
          <a:ln/>
        </p:spPr>
      </p:sp>
      <p:sp>
        <p:nvSpPr>
          <p:cNvPr id="15" name="cerchio FiEye"/>
          <p:cNvSpPr/>
          <p:nvPr/>
        </p:nvSpPr>
        <p:spPr>
          <a:xfrm>
            <a:off x="6217920" y="1280160"/>
            <a:ext cx="457200" cy="457200"/>
          </a:xfrm>
          <a:prstGeom prst="ellipse">
            <a:avLst/>
          </a:prstGeom>
          <a:solidFill>
            <a:schemeClr val="accent1"/>
          </a:solidFill>
          <a:ln/>
        </p:spPr>
      </p:sp>
      <p:pic>
        <p:nvPicPr>
          <p:cNvPr id="16" name="Image 2" descr="FiEye">    </p:cNvPr>
          <p:cNvPicPr>
            <a:picLocks noChangeAspect="1"/>
          </p:cNvPicPr>
          <p:nvPr/>
        </p:nvPicPr>
        <p:blipFill>
          <a:blip r:embed="rId3"/>
          <a:stretch>
            <a:fillRect/>
          </a:stretch>
        </p:blipFill>
        <p:spPr>
          <a:xfrm>
            <a:off x="6332220" y="1394460"/>
            <a:ext cx="228600" cy="228600"/>
          </a:xfrm>
          <a:prstGeom prst="rect">
            <a:avLst/>
          </a:prstGeom>
        </p:spPr>
      </p:pic>
      <p:sp>
        <p:nvSpPr>
          <p:cNvPr id="17" name="Text 11"/>
          <p:cNvSpPr txBox="1"/>
          <p:nvPr/>
        </p:nvSpPr>
        <p:spPr>
          <a:xfrm>
            <a:off x="6217920" y="1847088"/>
            <a:ext cx="2286000" cy="347472"/>
          </a:xfrm>
          <a:prstGeom prst="rect">
            <a:avLst/>
          </a:prstGeom>
          <a:noFill/>
          <a:ln/>
        </p:spPr>
        <p:txBody>
          <a:bodyPr wrap="square" lIns="0" tIns="0" rIns="0" bIns="0" rtlCol="0" anchor="t"/>
          <a:lstStyle/>
          <a:p>
            <a:pPr indent="0" marL="0">
              <a:buNone/>
            </a:pPr>
            <a:r>
              <a:rPr lang="en-US" sz="1500" b="1" dirty="0">
                <a:solidFill>
                  <a:schemeClr val="tx1"/>
                </a:solidFill>
              </a:rPr>
              <a:t>Competenza: dopo</a:t>
            </a:r>
            <a:endParaRPr lang="en-US" sz="1500" dirty="0"/>
          </a:p>
        </p:txBody>
      </p:sp>
      <p:sp>
        <p:nvSpPr>
          <p:cNvPr id="18" name="Text 12"/>
          <p:cNvSpPr txBox="1"/>
          <p:nvPr/>
        </p:nvSpPr>
        <p:spPr>
          <a:xfrm>
            <a:off x="6217920" y="2231136"/>
            <a:ext cx="2286000" cy="1499616"/>
          </a:xfrm>
          <a:prstGeom prst="rect">
            <a:avLst/>
          </a:prstGeom>
          <a:noFill/>
          <a:ln/>
        </p:spPr>
        <p:txBody>
          <a:bodyPr wrap="square" lIns="0" tIns="0" rIns="0" bIns="0" rtlCol="0" anchor="t"/>
          <a:lstStyle/>
          <a:p>
            <a:pPr indent="0" marL="0">
              <a:buNone/>
            </a:pPr>
            <a:r>
              <a:rPr lang="en-US" sz="1200" dirty="0">
                <a:solidFill>
                  <a:schemeClr val="tx2"/>
                </a:solidFill>
              </a:rPr>
              <a:t>Riconoscere errori, omissioni, semplificazioni. Scegliere quali suggerimenti accettare.</a:t>
            </a:r>
            <a:endParaRPr lang="en-US" sz="1200" dirty="0"/>
          </a:p>
        </p:txBody>
      </p:sp>
      <p:sp>
        <p:nvSpPr>
          <p:cNvPr id="19" name="messaggio"/>
          <p:cNvSpPr/>
          <p:nvPr/>
        </p:nvSpPr>
        <p:spPr>
          <a:xfrm>
            <a:off x="457200" y="3977640"/>
            <a:ext cx="8229600" cy="548640"/>
          </a:xfrm>
          <a:prstGeom prst="roundRect">
            <a:avLst>
              <a:gd name="adj" fmla="val 13333"/>
            </a:avLst>
          </a:prstGeom>
          <a:solidFill>
            <a:schemeClr val="tx1"/>
          </a:solidFill>
          <a:ln/>
        </p:spPr>
      </p:sp>
      <p:sp>
        <p:nvSpPr>
          <p:cNvPr id="20" name="Text 14"/>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400" dirty="0">
                <a:solidFill>
                  <a:schemeClr val="bg1"/>
                </a:solidFill>
              </a:rPr>
              <a:t>L'AI non rende superflua la competenza: la rende più importante.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Domande, interpretazione e feedback</a:t>
            </a:r>
            <a:endParaRPr lang="en-US" sz="2600" dirty="0"/>
          </a:p>
        </p:txBody>
      </p:sp>
      <p:sp>
        <p:nvSpPr>
          <p:cNvPr id="4" name="scheda Domande pertinenti"/>
          <p:cNvSpPr/>
          <p:nvPr/>
        </p:nvSpPr>
        <p:spPr>
          <a:xfrm>
            <a:off x="457200" y="1097280"/>
            <a:ext cx="2615184" cy="2880360"/>
          </a:xfrm>
          <a:prstGeom prst="roundRect">
            <a:avLst>
              <a:gd name="adj" fmla="val 2797"/>
            </a:avLst>
          </a:prstGeom>
          <a:solidFill>
            <a:schemeClr val="bg2"/>
          </a:solidFill>
          <a:ln/>
        </p:spPr>
      </p:sp>
      <p:sp>
        <p:nvSpPr>
          <p:cNvPr id="5" name="cerchio FiHelpCircle"/>
          <p:cNvSpPr/>
          <p:nvPr/>
        </p:nvSpPr>
        <p:spPr>
          <a:xfrm>
            <a:off x="640080" y="1280160"/>
            <a:ext cx="457200" cy="457200"/>
          </a:xfrm>
          <a:prstGeom prst="ellipse">
            <a:avLst/>
          </a:prstGeom>
          <a:solidFill>
            <a:schemeClr val="accent1"/>
          </a:solidFill>
          <a:ln/>
        </p:spPr>
      </p:sp>
      <p:pic>
        <p:nvPicPr>
          <p:cNvPr id="6" name="Image 0" descr="FiHelpCircle">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Domande pertinenti</a:t>
            </a:r>
            <a:endParaRPr lang="en-US" sz="1500" dirty="0"/>
          </a:p>
        </p:txBody>
      </p:sp>
      <p:sp>
        <p:nvSpPr>
          <p:cNvPr id="8" name="Text 4"/>
          <p:cNvSpPr txBox="1"/>
          <p:nvPr/>
        </p:nvSpPr>
        <p:spPr>
          <a:xfrm>
            <a:off x="640080" y="2231136"/>
            <a:ext cx="2249424" cy="163677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"Su che cosa si basa questa conclusione?"</a:t>
            </a:r>
            <a:endParaRPr lang="en-US" sz="1200" dirty="0"/>
          </a:p>
          <a:p>
            <a:pPr marL="177800" indent="-177800">
              <a:spcAft>
                <a:spcPts val="500"/>
              </a:spcAft>
              <a:buSzPct val="100000"/>
              <a:buChar char="•"/>
            </a:pPr>
            <a:r>
              <a:rPr lang="en-US" sz="1200" dirty="0">
                <a:solidFill>
                  <a:schemeClr val="tx2"/>
                </a:solidFill>
              </a:rPr>
              <a:t>"Quali casi non rientrano?"</a:t>
            </a:r>
            <a:endParaRPr lang="en-US" sz="1200" dirty="0"/>
          </a:p>
          <a:p>
            <a:pPr marL="177800" indent="-177800">
              <a:spcAft>
                <a:spcPts val="500"/>
              </a:spcAft>
              <a:buSzPct val="100000"/>
              <a:buChar char="•"/>
            </a:pPr>
            <a:r>
              <a:rPr lang="en-US" sz="1200" dirty="0">
                <a:solidFill>
                  <a:schemeClr val="tx2"/>
                </a:solidFill>
              </a:rPr>
              <a:t>"Che cosa cambierebbe se...?"</a:t>
            </a:r>
            <a:endParaRPr lang="en-US" sz="1200" dirty="0"/>
          </a:p>
        </p:txBody>
      </p:sp>
      <p:sp>
        <p:nvSpPr>
          <p:cNvPr id="9" name="scheda Interpretare i risultati"/>
          <p:cNvSpPr/>
          <p:nvPr/>
        </p:nvSpPr>
        <p:spPr>
          <a:xfrm>
            <a:off x="3264408" y="1097280"/>
            <a:ext cx="2615184" cy="2880360"/>
          </a:xfrm>
          <a:prstGeom prst="roundRect">
            <a:avLst>
              <a:gd name="adj" fmla="val 2797"/>
            </a:avLst>
          </a:prstGeom>
          <a:solidFill>
            <a:schemeClr val="bg2"/>
          </a:solidFill>
          <a:ln/>
        </p:spPr>
      </p:sp>
      <p:sp>
        <p:nvSpPr>
          <p:cNvPr id="10" name="cerchio FiEye"/>
          <p:cNvSpPr/>
          <p:nvPr/>
        </p:nvSpPr>
        <p:spPr>
          <a:xfrm>
            <a:off x="3447288" y="1280160"/>
            <a:ext cx="457200" cy="457200"/>
          </a:xfrm>
          <a:prstGeom prst="ellipse">
            <a:avLst/>
          </a:prstGeom>
          <a:solidFill>
            <a:schemeClr val="accent1"/>
          </a:solidFill>
          <a:ln/>
        </p:spPr>
      </p:sp>
      <p:pic>
        <p:nvPicPr>
          <p:cNvPr id="11" name="Image 1" descr="FiEye">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Interpretare i risultati</a:t>
            </a:r>
            <a:endParaRPr lang="en-US" sz="1500" dirty="0"/>
          </a:p>
        </p:txBody>
      </p:sp>
      <p:sp>
        <p:nvSpPr>
          <p:cNvPr id="13" name="Text 8"/>
          <p:cNvSpPr txBox="1"/>
          <p:nvPr/>
        </p:nvSpPr>
        <p:spPr>
          <a:xfrm>
            <a:off x="3447288" y="2231136"/>
            <a:ext cx="2249424" cy="163677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Solido o incerto?</a:t>
            </a:r>
            <a:endParaRPr lang="en-US" sz="1200" dirty="0"/>
          </a:p>
          <a:p>
            <a:pPr marL="177800" indent="-177800">
              <a:spcAft>
                <a:spcPts val="500"/>
              </a:spcAft>
              <a:buSzPct val="100000"/>
              <a:buChar char="•"/>
            </a:pPr>
            <a:r>
              <a:rPr lang="en-US" sz="1200" dirty="0">
                <a:solidFill>
                  <a:schemeClr val="tx2"/>
                </a:solidFill>
              </a:rPr>
              <a:t>Generico o eludente?</a:t>
            </a:r>
            <a:endParaRPr lang="en-US" sz="1200" dirty="0"/>
          </a:p>
          <a:p>
            <a:pPr marL="177800" indent="-177800">
              <a:spcAft>
                <a:spcPts val="500"/>
              </a:spcAft>
              <a:buSzPct val="100000"/>
              <a:buChar char="•"/>
            </a:pPr>
            <a:r>
              <a:rPr lang="en-US" sz="1200" dirty="0">
                <a:solidFill>
                  <a:schemeClr val="tx2"/>
                </a:solidFill>
              </a:rPr>
              <a:t>Quali assunzioni implicite?</a:t>
            </a:r>
            <a:endParaRPr lang="en-US" sz="1200" dirty="0"/>
          </a:p>
        </p:txBody>
      </p:sp>
      <p:sp>
        <p:nvSpPr>
          <p:cNvPr id="14" name="scheda Feedback preciso"/>
          <p:cNvSpPr/>
          <p:nvPr/>
        </p:nvSpPr>
        <p:spPr>
          <a:xfrm>
            <a:off x="6071616" y="1097280"/>
            <a:ext cx="2615184" cy="2880360"/>
          </a:xfrm>
          <a:prstGeom prst="roundRect">
            <a:avLst>
              <a:gd name="adj" fmla="val 2797"/>
            </a:avLst>
          </a:prstGeom>
          <a:solidFill>
            <a:schemeClr val="accent6"/>
          </a:solidFill>
          <a:ln/>
        </p:spPr>
      </p:sp>
      <p:sp>
        <p:nvSpPr>
          <p:cNvPr id="15" name="cerchio FiEdit"/>
          <p:cNvSpPr/>
          <p:nvPr/>
        </p:nvSpPr>
        <p:spPr>
          <a:xfrm>
            <a:off x="6254496" y="1280160"/>
            <a:ext cx="457200" cy="457200"/>
          </a:xfrm>
          <a:prstGeom prst="ellipse">
            <a:avLst/>
          </a:prstGeom>
          <a:solidFill>
            <a:schemeClr val="accent1"/>
          </a:solidFill>
          <a:ln/>
        </p:spPr>
      </p:sp>
      <p:pic>
        <p:nvPicPr>
          <p:cNvPr id="16" name="Image 2" descr="FiEdit">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Feedback preciso</a:t>
            </a:r>
            <a:endParaRPr lang="en-US" sz="1500" dirty="0"/>
          </a:p>
        </p:txBody>
      </p:sp>
      <p:sp>
        <p:nvSpPr>
          <p:cNvPr id="18" name="Text 12"/>
          <p:cNvSpPr txBox="1"/>
          <p:nvPr/>
        </p:nvSpPr>
        <p:spPr>
          <a:xfrm>
            <a:off x="6254496" y="2231136"/>
            <a:ext cx="2249424" cy="163677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Generico: "non va, rifallo"</a:t>
            </a:r>
            <a:endParaRPr lang="en-US" sz="1200" dirty="0"/>
          </a:p>
          <a:p>
            <a:pPr marL="177800" indent="-177800">
              <a:spcAft>
                <a:spcPts val="500"/>
              </a:spcAft>
              <a:buSzPct val="100000"/>
              <a:buChar char="•"/>
            </a:pPr>
            <a:r>
              <a:rPr lang="en-US" sz="1200" dirty="0">
                <a:solidFill>
                  <a:schemeClr val="tx2"/>
                </a:solidFill>
              </a:rPr>
              <a:t>Specifico: "il secondo paragrafo è troppo tecnico, manca la scadenza"</a:t>
            </a:r>
            <a:endParaRPr lang="en-US" sz="1200" dirty="0"/>
          </a:p>
        </p:txBody>
      </p:sp>
      <p:sp>
        <p:nvSpPr>
          <p:cNvPr id="19" name="Text 13"/>
          <p:cNvSpPr txBox="1"/>
          <p:nvPr/>
        </p:nvSpPr>
        <p:spPr>
          <a:xfrm>
            <a:off x="457200" y="4160520"/>
            <a:ext cx="8229600" cy="320040"/>
          </a:xfrm>
          <a:prstGeom prst="rect">
            <a:avLst/>
          </a:prstGeom>
          <a:noFill/>
          <a:ln/>
        </p:spPr>
        <p:txBody>
          <a:bodyPr wrap="square" lIns="0" tIns="0" rIns="0" bIns="0" rtlCol="0" anchor="t"/>
          <a:lstStyle/>
          <a:p>
            <a:pPr indent="0" marL="0">
              <a:buNone/>
            </a:pPr>
            <a:r>
              <a:rPr lang="en-US" sz="1300" i="1" dirty="0">
                <a:solidFill>
                  <a:schemeClr val="tx1"/>
                </a:solidFill>
              </a:rPr>
              <a:t>È la stessa abilità che serve per guidare il lavoro di un collaboratore.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Utilizzo passivo e utilizzo attivo</a:t>
            </a:r>
            <a:endParaRPr lang="en-US" sz="2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3200400"/>
                <a:gridCol w="3200400"/>
              </a:tblGrid>
              <a:tr h="438912">
                <a:tc>
                  <a:txBody>
                    <a:bodyPr/>
                    <a:lstStyle/>
                    <a:p>
                      <a:pPr indent="0" marL="0">
                        <a:buNone/>
                      </a:pP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b="1" dirty="0">
                          <a:solidFill>
                            <a:schemeClr val="bg1"/>
                          </a:solidFill>
                        </a:rPr>
                        <a:t>Utilizzo passivo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Utilizzo attivo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438912">
                <a:tc>
                  <a:txBody>
                    <a:bodyPr/>
                    <a:lstStyle/>
                    <a:p>
                      <a:pPr indent="0" marL="0">
                        <a:buNone/>
                      </a:pPr>
                      <a:r>
                        <a:rPr lang="en-US" sz="1300" b="1" dirty="0">
                          <a:solidFill>
                            <a:schemeClr val="tx1"/>
                          </a:solidFill>
                        </a:rPr>
                        <a:t>Obiettivi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Impliciti o vaghi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Chiari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38912">
                <a:tc>
                  <a:txBody>
                    <a:bodyPr/>
                    <a:lstStyle/>
                    <a:p>
                      <a:pPr indent="0" marL="0">
                        <a:buNone/>
                      </a:pPr>
                      <a:r>
                        <a:rPr lang="en-US" sz="1300" b="1" dirty="0">
                          <a:solidFill>
                            <a:schemeClr val="tx1"/>
                          </a:solidFill>
                        </a:rPr>
                        <a:t>Contesto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Non fornito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Fornito e precisato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38912">
                <a:tc>
                  <a:txBody>
                    <a:bodyPr/>
                    <a:lstStyle/>
                    <a:p>
                      <a:pPr indent="0" marL="0">
                        <a:buNone/>
                      </a:pPr>
                      <a:r>
                        <a:rPr lang="en-US" sz="1300" b="1" dirty="0">
                          <a:solidFill>
                            <a:schemeClr val="tx1"/>
                          </a:solidFill>
                        </a:rPr>
                        <a:t>Dialogo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Una richiesta, una risposta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Scambi, domande, correzioni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38912">
                <a:tc>
                  <a:txBody>
                    <a:bodyPr/>
                    <a:lstStyle/>
                    <a:p>
                      <a:pPr indent="0" marL="0">
                        <a:buNone/>
                      </a:pPr>
                      <a:r>
                        <a:rPr lang="en-US" sz="1300" b="1" dirty="0">
                          <a:solidFill>
                            <a:schemeClr val="tx1"/>
                          </a:solidFill>
                        </a:rPr>
                        <a:t>Atteggiamento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Accetta il risultato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Mette in discussione, confronta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38912">
                <a:tc>
                  <a:txBody>
                    <a:bodyPr/>
                    <a:lstStyle/>
                    <a:p>
                      <a:pPr indent="0" marL="0">
                        <a:buNone/>
                      </a:pPr>
                      <a:r>
                        <a:rPr lang="en-US" sz="1300" b="1" dirty="0">
                          <a:solidFill>
                            <a:schemeClr val="tx1"/>
                          </a:solidFill>
                        </a:rPr>
                        <a:t>Risultato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Generico, errori non riconosciuti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Pertinente, verificato, padroneggiato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38912">
                <a:tc>
                  <a:txBody>
                    <a:bodyPr/>
                    <a:lstStyle/>
                    <a:p>
                      <a:pPr indent="0" marL="0">
                        <a:buNone/>
                      </a:pPr>
                      <a:r>
                        <a:rPr lang="en-US" sz="1300" b="1" dirty="0">
                          <a:solidFill>
                            <a:schemeClr val="tx1"/>
                          </a:solidFill>
                        </a:rPr>
                        <a:t>Competenze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Rischiano di indebolirsi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Si mantengono e si sviluppano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5" name="Text 1"/>
          <p:cNvSpPr txBox="1"/>
          <p:nvPr/>
        </p:nvSpPr>
        <p:spPr>
          <a:xfrm>
            <a:off x="457200" y="4434840"/>
            <a:ext cx="8229600" cy="274320"/>
          </a:xfrm>
          <a:prstGeom prst="rect">
            <a:avLst/>
          </a:prstGeom>
          <a:noFill/>
          <a:ln/>
        </p:spPr>
        <p:txBody>
          <a:bodyPr wrap="square" lIns="0" tIns="0" rIns="0" bIns="0" rtlCol="0" anchor="t"/>
          <a:lstStyle/>
          <a:p>
            <a:pPr indent="0" marL="0">
              <a:buNone/>
            </a:pPr>
            <a:r>
              <a:rPr lang="en-US" sz="1300" i="1" dirty="0">
                <a:solidFill>
                  <a:schemeClr val="tx1"/>
                </a:solidFill>
              </a:rPr>
              <a:t>Più impegno all'inizio, risultati migliori e competenze che crescono.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Le competenze umane restano determinanti per formulare problemi, interpretare risultati e riconoscere output inadeguati.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5.6  ·  La qualità dipende anche dalla persona</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5.7</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Limiti e rischi della relazione conversazionale</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Un'interazione naturale e convincente non attribuisce al sistema intenzionalità, giudizio umano o responsabilità decisionale</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Antropomorfizzazione</a:t>
            </a:r>
            <a:endParaRPr lang="en-US" sz="2600" dirty="0"/>
          </a:p>
        </p:txBody>
      </p:sp>
      <p:sp>
        <p:nvSpPr>
          <p:cNvPr id="4" name="Text 1"/>
          <p:cNvSpPr txBox="1"/>
          <p:nvPr/>
        </p:nvSpPr>
        <p:spPr>
          <a:xfrm>
            <a:off x="1737360" y="1051560"/>
            <a:ext cx="3200400" cy="274320"/>
          </a:xfrm>
          <a:prstGeom prst="rect">
            <a:avLst/>
          </a:prstGeom>
          <a:noFill/>
          <a:ln/>
        </p:spPr>
        <p:txBody>
          <a:bodyPr wrap="square" lIns="0" tIns="0" rIns="0" bIns="0" rtlCol="0" anchor="t"/>
          <a:lstStyle/>
          <a:p>
            <a:pPr indent="0" marL="0">
              <a:buNone/>
            </a:pPr>
            <a:r>
              <a:rPr lang="en-US" sz="1200" b="1" dirty="0">
                <a:solidFill>
                  <a:schemeClr val="accent2"/>
                </a:solidFill>
              </a:rPr>
              <a:t>Che cosa percepiamo</a:t>
            </a:r>
            <a:endParaRPr lang="en-US" sz="1200" dirty="0"/>
          </a:p>
        </p:txBody>
      </p:sp>
      <p:sp>
        <p:nvSpPr>
          <p:cNvPr id="5" name="Text 2"/>
          <p:cNvSpPr txBox="1"/>
          <p:nvPr/>
        </p:nvSpPr>
        <p:spPr>
          <a:xfrm>
            <a:off x="5120640" y="1051560"/>
            <a:ext cx="3566160" cy="274320"/>
          </a:xfrm>
          <a:prstGeom prst="rect">
            <a:avLst/>
          </a:prstGeom>
          <a:noFill/>
          <a:ln/>
        </p:spPr>
        <p:txBody>
          <a:bodyPr wrap="square" lIns="0" tIns="0" rIns="0" bIns="0" rtlCol="0" anchor="t"/>
          <a:lstStyle/>
          <a:p>
            <a:pPr indent="0" marL="0">
              <a:buNone/>
            </a:pPr>
            <a:r>
              <a:rPr lang="en-US" sz="1200" b="1" dirty="0">
                <a:solidFill>
                  <a:schemeClr val="accent2"/>
                </a:solidFill>
              </a:rPr>
              <a:t>Che cosa accade</a:t>
            </a:r>
            <a:endParaRPr lang="en-US" sz="1200" dirty="0"/>
          </a:p>
        </p:txBody>
      </p:sp>
      <p:sp>
        <p:nvSpPr>
          <p:cNvPr id="6" name="Comprensione"/>
          <p:cNvSpPr/>
          <p:nvPr/>
        </p:nvSpPr>
        <p:spPr>
          <a:xfrm>
            <a:off x="457200" y="1371600"/>
            <a:ext cx="8229600" cy="685800"/>
          </a:xfrm>
          <a:prstGeom prst="roundRect">
            <a:avLst>
              <a:gd name="adj" fmla="val 10667"/>
            </a:avLst>
          </a:prstGeom>
          <a:solidFill>
            <a:schemeClr val="bg2"/>
          </a:solidFill>
          <a:ln/>
        </p:spPr>
      </p:sp>
      <p:sp>
        <p:nvSpPr>
          <p:cNvPr id="7" name="cerchio FiCheckCircle"/>
          <p:cNvSpPr/>
          <p:nvPr/>
        </p:nvSpPr>
        <p:spPr>
          <a:xfrm>
            <a:off x="566928" y="1490472"/>
            <a:ext cx="438912" cy="438912"/>
          </a:xfrm>
          <a:prstGeom prst="ellipse">
            <a:avLst/>
          </a:prstGeom>
          <a:solidFill>
            <a:schemeClr val="accent1"/>
          </a:solidFill>
          <a:ln/>
        </p:spPr>
      </p:sp>
      <p:pic>
        <p:nvPicPr>
          <p:cNvPr id="8" name="Image 0" descr="FiCheckCircle">    </p:cNvPr>
          <p:cNvPicPr>
            <a:picLocks noChangeAspect="1"/>
          </p:cNvPicPr>
          <p:nvPr/>
        </p:nvPicPr>
        <p:blipFill>
          <a:blip r:embed="rId1"/>
          <a:stretch>
            <a:fillRect/>
          </a:stretch>
        </p:blipFill>
        <p:spPr>
          <a:xfrm>
            <a:off x="676656" y="1600200"/>
            <a:ext cx="219456" cy="219456"/>
          </a:xfrm>
          <a:prstGeom prst="rect">
            <a:avLst/>
          </a:prstGeom>
        </p:spPr>
      </p:pic>
      <p:sp>
        <p:nvSpPr>
          <p:cNvPr id="9" name="Text 5"/>
          <p:cNvSpPr txBox="1"/>
          <p:nvPr/>
        </p:nvSpPr>
        <p:spPr>
          <a:xfrm>
            <a:off x="1097280" y="1371600"/>
            <a:ext cx="1463040" cy="685800"/>
          </a:xfrm>
          <a:prstGeom prst="rect">
            <a:avLst/>
          </a:prstGeom>
          <a:noFill/>
          <a:ln/>
        </p:spPr>
        <p:txBody>
          <a:bodyPr wrap="square" lIns="0" tIns="0" rIns="0" bIns="0" rtlCol="0" anchor="ctr"/>
          <a:lstStyle/>
          <a:p>
            <a:pPr indent="0" marL="0">
              <a:buNone/>
            </a:pPr>
            <a:r>
              <a:rPr lang="en-US" sz="1300" b="1" dirty="0">
                <a:solidFill>
                  <a:schemeClr val="tx1"/>
                </a:solidFill>
              </a:rPr>
              <a:t>Comprensione</a:t>
            </a:r>
            <a:endParaRPr lang="en-US" sz="1300" dirty="0"/>
          </a:p>
        </p:txBody>
      </p:sp>
      <p:sp>
        <p:nvSpPr>
          <p:cNvPr id="10" name="Text 6"/>
          <p:cNvSpPr txBox="1"/>
          <p:nvPr/>
        </p:nvSpPr>
        <p:spPr>
          <a:xfrm>
            <a:off x="2560320" y="1371600"/>
            <a:ext cx="2468880" cy="685800"/>
          </a:xfrm>
          <a:prstGeom prst="rect">
            <a:avLst/>
          </a:prstGeom>
          <a:noFill/>
          <a:ln/>
        </p:spPr>
        <p:txBody>
          <a:bodyPr wrap="square" lIns="0" tIns="0" rIns="0" bIns="0" rtlCol="0" anchor="ctr"/>
          <a:lstStyle/>
          <a:p>
            <a:pPr indent="0" marL="0">
              <a:buNone/>
            </a:pPr>
            <a:r>
              <a:rPr lang="en-US" sz="1200" i="1" dirty="0">
                <a:solidFill>
                  <a:schemeClr val="tx1"/>
                </a:solidFill>
              </a:rPr>
              <a:t>Ha capito davvero la mia situazione?</a:t>
            </a:r>
            <a:endParaRPr lang="en-US" sz="1200" dirty="0"/>
          </a:p>
        </p:txBody>
      </p:sp>
      <p:sp>
        <p:nvSpPr>
          <p:cNvPr id="11" name="Text 7"/>
          <p:cNvSpPr txBox="1"/>
          <p:nvPr/>
        </p:nvSpPr>
        <p:spPr>
          <a:xfrm>
            <a:off x="5120640" y="1371600"/>
            <a:ext cx="3474720" cy="685800"/>
          </a:xfrm>
          <a:prstGeom prst="rect">
            <a:avLst/>
          </a:prstGeom>
          <a:noFill/>
          <a:ln/>
        </p:spPr>
        <p:txBody>
          <a:bodyPr wrap="square" lIns="0" tIns="0" rIns="0" bIns="0" rtlCol="0" anchor="ctr"/>
          <a:lstStyle/>
          <a:p>
            <a:pPr indent="0" marL="0">
              <a:buNone/>
            </a:pPr>
            <a:r>
              <a:rPr lang="en-US" sz="1200" dirty="0">
                <a:solidFill>
                  <a:schemeClr val="tx2"/>
                </a:solidFill>
              </a:rPr>
              <a:t>Ha elaborato le parole che ho scritto</a:t>
            </a:r>
            <a:endParaRPr lang="en-US" sz="1200" dirty="0"/>
          </a:p>
        </p:txBody>
      </p:sp>
      <p:sp>
        <p:nvSpPr>
          <p:cNvPr id="12" name="Empatia"/>
          <p:cNvSpPr/>
          <p:nvPr/>
        </p:nvSpPr>
        <p:spPr>
          <a:xfrm>
            <a:off x="457200" y="2148840"/>
            <a:ext cx="8229600" cy="685800"/>
          </a:xfrm>
          <a:prstGeom prst="roundRect">
            <a:avLst>
              <a:gd name="adj" fmla="val 10667"/>
            </a:avLst>
          </a:prstGeom>
          <a:solidFill>
            <a:schemeClr val="bg1"/>
          </a:solidFill>
          <a:ln/>
        </p:spPr>
      </p:sp>
      <p:sp>
        <p:nvSpPr>
          <p:cNvPr id="13" name="cerchio FiHeart"/>
          <p:cNvSpPr/>
          <p:nvPr/>
        </p:nvSpPr>
        <p:spPr>
          <a:xfrm>
            <a:off x="566928" y="2267712"/>
            <a:ext cx="438912" cy="438912"/>
          </a:xfrm>
          <a:prstGeom prst="ellipse">
            <a:avLst/>
          </a:prstGeom>
          <a:solidFill>
            <a:schemeClr val="accent1"/>
          </a:solidFill>
          <a:ln/>
        </p:spPr>
      </p:sp>
      <p:pic>
        <p:nvPicPr>
          <p:cNvPr id="14" name="Image 1" descr="FiHeart">    </p:cNvPr>
          <p:cNvPicPr>
            <a:picLocks noChangeAspect="1"/>
          </p:cNvPicPr>
          <p:nvPr/>
        </p:nvPicPr>
        <p:blipFill>
          <a:blip r:embed="rId2"/>
          <a:stretch>
            <a:fillRect/>
          </a:stretch>
        </p:blipFill>
        <p:spPr>
          <a:xfrm>
            <a:off x="676656" y="2377440"/>
            <a:ext cx="219456" cy="219456"/>
          </a:xfrm>
          <a:prstGeom prst="rect">
            <a:avLst/>
          </a:prstGeom>
        </p:spPr>
      </p:pic>
      <p:sp>
        <p:nvSpPr>
          <p:cNvPr id="15" name="Text 10"/>
          <p:cNvSpPr txBox="1"/>
          <p:nvPr/>
        </p:nvSpPr>
        <p:spPr>
          <a:xfrm>
            <a:off x="1097280" y="2148840"/>
            <a:ext cx="1463040" cy="685800"/>
          </a:xfrm>
          <a:prstGeom prst="rect">
            <a:avLst/>
          </a:prstGeom>
          <a:noFill/>
          <a:ln/>
        </p:spPr>
        <p:txBody>
          <a:bodyPr wrap="square" lIns="0" tIns="0" rIns="0" bIns="0" rtlCol="0" anchor="ctr"/>
          <a:lstStyle/>
          <a:p>
            <a:pPr indent="0" marL="0">
              <a:buNone/>
            </a:pPr>
            <a:r>
              <a:rPr lang="en-US" sz="1300" b="1" dirty="0">
                <a:solidFill>
                  <a:schemeClr val="tx1"/>
                </a:solidFill>
              </a:rPr>
              <a:t>Empatia</a:t>
            </a:r>
            <a:endParaRPr lang="en-US" sz="1300" dirty="0"/>
          </a:p>
        </p:txBody>
      </p:sp>
      <p:sp>
        <p:nvSpPr>
          <p:cNvPr id="16" name="Text 11"/>
          <p:cNvSpPr txBox="1"/>
          <p:nvPr/>
        </p:nvSpPr>
        <p:spPr>
          <a:xfrm>
            <a:off x="2560320" y="2148840"/>
            <a:ext cx="2468880" cy="685800"/>
          </a:xfrm>
          <a:prstGeom prst="rect">
            <a:avLst/>
          </a:prstGeom>
          <a:noFill/>
          <a:ln/>
        </p:spPr>
        <p:txBody>
          <a:bodyPr wrap="square" lIns="0" tIns="0" rIns="0" bIns="0" rtlCol="0" anchor="ctr"/>
          <a:lstStyle/>
          <a:p>
            <a:pPr indent="0" marL="0">
              <a:buNone/>
            </a:pPr>
            <a:r>
              <a:rPr lang="en-US" sz="1200" i="1" dirty="0">
                <a:solidFill>
                  <a:schemeClr val="tx1"/>
                </a:solidFill>
              </a:rPr>
              <a:t>Partecipa ai miei stati d'animo?</a:t>
            </a:r>
            <a:endParaRPr lang="en-US" sz="1200" dirty="0"/>
          </a:p>
        </p:txBody>
      </p:sp>
      <p:sp>
        <p:nvSpPr>
          <p:cNvPr id="17" name="Text 12"/>
          <p:cNvSpPr txBox="1"/>
          <p:nvPr/>
        </p:nvSpPr>
        <p:spPr>
          <a:xfrm>
            <a:off x="5120640" y="2148840"/>
            <a:ext cx="3474720" cy="685800"/>
          </a:xfrm>
          <a:prstGeom prst="rect">
            <a:avLst/>
          </a:prstGeom>
          <a:noFill/>
          <a:ln/>
        </p:spPr>
        <p:txBody>
          <a:bodyPr wrap="square" lIns="0" tIns="0" rIns="0" bIns="0" rtlCol="0" anchor="ctr"/>
          <a:lstStyle/>
          <a:p>
            <a:pPr indent="0" marL="0">
              <a:buNone/>
            </a:pPr>
            <a:r>
              <a:rPr lang="en-US" sz="1200" dirty="0">
                <a:solidFill>
                  <a:schemeClr val="tx2"/>
                </a:solidFill>
              </a:rPr>
              <a:t>Produce espressioni adatte al contesto</a:t>
            </a:r>
            <a:endParaRPr lang="en-US" sz="1200" dirty="0"/>
          </a:p>
        </p:txBody>
      </p:sp>
      <p:sp>
        <p:nvSpPr>
          <p:cNvPr id="18" name="Intenzionalità"/>
          <p:cNvSpPr/>
          <p:nvPr/>
        </p:nvSpPr>
        <p:spPr>
          <a:xfrm>
            <a:off x="457200" y="2926080"/>
            <a:ext cx="8229600" cy="685800"/>
          </a:xfrm>
          <a:prstGeom prst="roundRect">
            <a:avLst>
              <a:gd name="adj" fmla="val 10667"/>
            </a:avLst>
          </a:prstGeom>
          <a:solidFill>
            <a:schemeClr val="bg2"/>
          </a:solidFill>
          <a:ln/>
        </p:spPr>
      </p:sp>
      <p:sp>
        <p:nvSpPr>
          <p:cNvPr id="19" name="cerchio FiCompass"/>
          <p:cNvSpPr/>
          <p:nvPr/>
        </p:nvSpPr>
        <p:spPr>
          <a:xfrm>
            <a:off x="566928" y="3044952"/>
            <a:ext cx="438912" cy="438912"/>
          </a:xfrm>
          <a:prstGeom prst="ellipse">
            <a:avLst/>
          </a:prstGeom>
          <a:solidFill>
            <a:schemeClr val="accent1"/>
          </a:solidFill>
          <a:ln/>
        </p:spPr>
      </p:sp>
      <p:pic>
        <p:nvPicPr>
          <p:cNvPr id="20" name="Image 2" descr="FiCompass">    </p:cNvPr>
          <p:cNvPicPr>
            <a:picLocks noChangeAspect="1"/>
          </p:cNvPicPr>
          <p:nvPr/>
        </p:nvPicPr>
        <p:blipFill>
          <a:blip r:embed="rId3"/>
          <a:stretch>
            <a:fillRect/>
          </a:stretch>
        </p:blipFill>
        <p:spPr>
          <a:xfrm>
            <a:off x="676656" y="3154680"/>
            <a:ext cx="219456" cy="219456"/>
          </a:xfrm>
          <a:prstGeom prst="rect">
            <a:avLst/>
          </a:prstGeom>
        </p:spPr>
      </p:pic>
      <p:sp>
        <p:nvSpPr>
          <p:cNvPr id="21" name="Text 15"/>
          <p:cNvSpPr txBox="1"/>
          <p:nvPr/>
        </p:nvSpPr>
        <p:spPr>
          <a:xfrm>
            <a:off x="1097280" y="2926080"/>
            <a:ext cx="1463040" cy="685800"/>
          </a:xfrm>
          <a:prstGeom prst="rect">
            <a:avLst/>
          </a:prstGeom>
          <a:noFill/>
          <a:ln/>
        </p:spPr>
        <p:txBody>
          <a:bodyPr wrap="square" lIns="0" tIns="0" rIns="0" bIns="0" rtlCol="0" anchor="ctr"/>
          <a:lstStyle/>
          <a:p>
            <a:pPr indent="0" marL="0">
              <a:buNone/>
            </a:pPr>
            <a:r>
              <a:rPr lang="en-US" sz="1300" b="1" dirty="0">
                <a:solidFill>
                  <a:schemeClr val="tx1"/>
                </a:solidFill>
              </a:rPr>
              <a:t>Intenzionalità</a:t>
            </a:r>
            <a:endParaRPr lang="en-US" sz="1300" dirty="0"/>
          </a:p>
        </p:txBody>
      </p:sp>
      <p:sp>
        <p:nvSpPr>
          <p:cNvPr id="22" name="Text 16"/>
          <p:cNvSpPr txBox="1"/>
          <p:nvPr/>
        </p:nvSpPr>
        <p:spPr>
          <a:xfrm>
            <a:off x="2560320" y="2926080"/>
            <a:ext cx="2468880" cy="685800"/>
          </a:xfrm>
          <a:prstGeom prst="rect">
            <a:avLst/>
          </a:prstGeom>
          <a:noFill/>
          <a:ln/>
        </p:spPr>
        <p:txBody>
          <a:bodyPr wrap="square" lIns="0" tIns="0" rIns="0" bIns="0" rtlCol="0" anchor="ctr"/>
          <a:lstStyle/>
          <a:p>
            <a:pPr indent="0" marL="0">
              <a:buNone/>
            </a:pPr>
            <a:r>
              <a:rPr lang="en-US" sz="1200" i="1" dirty="0">
                <a:solidFill>
                  <a:schemeClr val="tx1"/>
                </a:solidFill>
              </a:rPr>
              <a:t>Vuole aiutarmi, ha opinioni sue?</a:t>
            </a:r>
            <a:endParaRPr lang="en-US" sz="1200" dirty="0"/>
          </a:p>
        </p:txBody>
      </p:sp>
      <p:sp>
        <p:nvSpPr>
          <p:cNvPr id="23" name="Text 17"/>
          <p:cNvSpPr txBox="1"/>
          <p:nvPr/>
        </p:nvSpPr>
        <p:spPr>
          <a:xfrm>
            <a:off x="5120640" y="2926080"/>
            <a:ext cx="3474720" cy="685800"/>
          </a:xfrm>
          <a:prstGeom prst="rect">
            <a:avLst/>
          </a:prstGeom>
          <a:noFill/>
          <a:ln/>
        </p:spPr>
        <p:txBody>
          <a:bodyPr wrap="square" lIns="0" tIns="0" rIns="0" bIns="0" rtlCol="0" anchor="ctr"/>
          <a:lstStyle/>
          <a:p>
            <a:pPr indent="0" marL="0">
              <a:buNone/>
            </a:pPr>
            <a:r>
              <a:rPr lang="en-US" sz="1200" dirty="0">
                <a:solidFill>
                  <a:schemeClr val="tx2"/>
                </a:solidFill>
              </a:rPr>
              <a:t>Genera risposte secondo addestramento e istruzioni</a:t>
            </a:r>
            <a:endParaRPr lang="en-US" sz="1200" dirty="0"/>
          </a:p>
        </p:txBody>
      </p:sp>
      <p:sp>
        <p:nvSpPr>
          <p:cNvPr id="24" name="Text 18"/>
          <p:cNvSpPr txBox="1"/>
          <p:nvPr/>
        </p:nvSpPr>
        <p:spPr>
          <a:xfrm>
            <a:off x="457200" y="3749040"/>
            <a:ext cx="8229600" cy="274320"/>
          </a:xfrm>
          <a:prstGeom prst="rect">
            <a:avLst/>
          </a:prstGeom>
          <a:noFill/>
          <a:ln/>
        </p:spPr>
        <p:txBody>
          <a:bodyPr wrap="square" lIns="0" tIns="0" rIns="0" bIns="0" rtlCol="0" anchor="t"/>
          <a:lstStyle/>
          <a:p>
            <a:pPr indent="0" marL="0">
              <a:buNone/>
            </a:pPr>
            <a:r>
              <a:rPr lang="en-US" sz="1300" b="1" dirty="0">
                <a:solidFill>
                  <a:schemeClr val="tx1"/>
                </a:solidFill>
              </a:rPr>
              <a:t>Conseguenze possibili</a:t>
            </a:r>
            <a:endParaRPr lang="en-US" sz="1300" dirty="0"/>
          </a:p>
        </p:txBody>
      </p:sp>
      <p:sp>
        <p:nvSpPr>
          <p:cNvPr id="25" name="blocco Fiducia oltre il dovuto"/>
          <p:cNvSpPr/>
          <p:nvPr/>
        </p:nvSpPr>
        <p:spPr>
          <a:xfrm>
            <a:off x="457200" y="4069080"/>
            <a:ext cx="2615184" cy="457200"/>
          </a:xfrm>
          <a:prstGeom prst="roundRect">
            <a:avLst>
              <a:gd name="adj" fmla="val 24000"/>
            </a:avLst>
          </a:prstGeom>
          <a:solidFill>
            <a:schemeClr val="bg1"/>
          </a:solidFill>
          <a:ln w="15875">
            <a:solidFill>
              <a:schemeClr val="accent5"/>
            </a:solidFill>
            <a:prstDash val="solid"/>
          </a:ln>
        </p:spPr>
      </p:sp>
      <p:sp>
        <p:nvSpPr>
          <p:cNvPr id="26" name="Text 20"/>
          <p:cNvSpPr txBox="1"/>
          <p:nvPr/>
        </p:nvSpPr>
        <p:spPr>
          <a:xfrm>
            <a:off x="502920" y="4069080"/>
            <a:ext cx="2523744" cy="457200"/>
          </a:xfrm>
          <a:prstGeom prst="rect">
            <a:avLst/>
          </a:prstGeom>
          <a:noFill/>
          <a:ln/>
        </p:spPr>
        <p:txBody>
          <a:bodyPr wrap="square" lIns="0" tIns="0" rIns="0" bIns="0" rtlCol="0" anchor="ctr"/>
          <a:lstStyle/>
          <a:p>
            <a:pPr algn="ctr" indent="0" marL="0">
              <a:buNone/>
            </a:pPr>
            <a:r>
              <a:rPr lang="en-US" sz="1200" b="1" dirty="0">
                <a:solidFill>
                  <a:schemeClr val="accent5"/>
                </a:solidFill>
              </a:rPr>
              <a:t>Fiducia oltre il dovuto</a:t>
            </a:r>
            <a:endParaRPr lang="en-US" sz="1200" dirty="0"/>
          </a:p>
        </p:txBody>
      </p:sp>
      <p:sp>
        <p:nvSpPr>
          <p:cNvPr id="27" name="blocco Condivisione di dati riservati"/>
          <p:cNvSpPr/>
          <p:nvPr/>
        </p:nvSpPr>
        <p:spPr>
          <a:xfrm>
            <a:off x="3264408" y="4069080"/>
            <a:ext cx="2615184" cy="457200"/>
          </a:xfrm>
          <a:prstGeom prst="roundRect">
            <a:avLst>
              <a:gd name="adj" fmla="val 24000"/>
            </a:avLst>
          </a:prstGeom>
          <a:solidFill>
            <a:schemeClr val="bg1"/>
          </a:solidFill>
          <a:ln w="15875">
            <a:solidFill>
              <a:schemeClr val="accent5"/>
            </a:solidFill>
            <a:prstDash val="solid"/>
          </a:ln>
        </p:spPr>
      </p:sp>
      <p:sp>
        <p:nvSpPr>
          <p:cNvPr id="28" name="Text 22"/>
          <p:cNvSpPr txBox="1"/>
          <p:nvPr/>
        </p:nvSpPr>
        <p:spPr>
          <a:xfrm>
            <a:off x="3310128" y="4069080"/>
            <a:ext cx="2523744" cy="457200"/>
          </a:xfrm>
          <a:prstGeom prst="rect">
            <a:avLst/>
          </a:prstGeom>
          <a:noFill/>
          <a:ln/>
        </p:spPr>
        <p:txBody>
          <a:bodyPr wrap="square" lIns="0" tIns="0" rIns="0" bIns="0" rtlCol="0" anchor="ctr"/>
          <a:lstStyle/>
          <a:p>
            <a:pPr algn="ctr" indent="0" marL="0">
              <a:buNone/>
            </a:pPr>
            <a:r>
              <a:rPr lang="en-US" sz="1200" b="1" dirty="0">
                <a:solidFill>
                  <a:schemeClr val="accent5"/>
                </a:solidFill>
              </a:rPr>
              <a:t>Condivisione di dati riservati</a:t>
            </a:r>
            <a:endParaRPr lang="en-US" sz="1200" dirty="0"/>
          </a:p>
        </p:txBody>
      </p:sp>
      <p:sp>
        <p:nvSpPr>
          <p:cNvPr id="29" name="blocco Ricerca di sostegno emotivo"/>
          <p:cNvSpPr/>
          <p:nvPr/>
        </p:nvSpPr>
        <p:spPr>
          <a:xfrm>
            <a:off x="6071616" y="4069080"/>
            <a:ext cx="2615184" cy="457200"/>
          </a:xfrm>
          <a:prstGeom prst="roundRect">
            <a:avLst>
              <a:gd name="adj" fmla="val 24000"/>
            </a:avLst>
          </a:prstGeom>
          <a:solidFill>
            <a:schemeClr val="bg1"/>
          </a:solidFill>
          <a:ln w="15875">
            <a:solidFill>
              <a:schemeClr val="accent5"/>
            </a:solidFill>
            <a:prstDash val="solid"/>
          </a:ln>
        </p:spPr>
      </p:sp>
      <p:sp>
        <p:nvSpPr>
          <p:cNvPr id="30" name="Text 24"/>
          <p:cNvSpPr txBox="1"/>
          <p:nvPr/>
        </p:nvSpPr>
        <p:spPr>
          <a:xfrm>
            <a:off x="6117336" y="4069080"/>
            <a:ext cx="2523744" cy="457200"/>
          </a:xfrm>
          <a:prstGeom prst="rect">
            <a:avLst/>
          </a:prstGeom>
          <a:noFill/>
          <a:ln/>
        </p:spPr>
        <p:txBody>
          <a:bodyPr wrap="square" lIns="0" tIns="0" rIns="0" bIns="0" rtlCol="0" anchor="ctr"/>
          <a:lstStyle/>
          <a:p>
            <a:pPr algn="ctr" indent="0" marL="0">
              <a:buNone/>
            </a:pPr>
            <a:r>
              <a:rPr lang="en-US" sz="1200" b="1" dirty="0">
                <a:solidFill>
                  <a:schemeClr val="accent5"/>
                </a:solidFill>
              </a:rPr>
              <a:t>Ricerca di sostegno emotivo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Fiducia eccessiva e accettazione passiva</a:t>
            </a:r>
            <a:endParaRPr lang="en-US" sz="2600" dirty="0"/>
          </a:p>
        </p:txBody>
      </p:sp>
      <p:sp>
        <p:nvSpPr>
          <p:cNvPr id="4" name="blocco Ci fidiamo di più"/>
          <p:cNvSpPr/>
          <p:nvPr/>
        </p:nvSpPr>
        <p:spPr>
          <a:xfrm>
            <a:off x="457200" y="1188720"/>
            <a:ext cx="2011680" cy="777240"/>
          </a:xfrm>
          <a:prstGeom prst="roundRect">
            <a:avLst>
              <a:gd name="adj" fmla="val 14118"/>
            </a:avLst>
          </a:prstGeom>
          <a:solidFill>
            <a:schemeClr val="bg2"/>
          </a:solidFill>
          <a:ln/>
        </p:spPr>
      </p:sp>
      <p:sp>
        <p:nvSpPr>
          <p:cNvPr id="5" name="Text 2"/>
          <p:cNvSpPr txBox="1"/>
          <p:nvPr/>
        </p:nvSpPr>
        <p:spPr>
          <a:xfrm>
            <a:off x="502920" y="1188720"/>
            <a:ext cx="1920240" cy="777240"/>
          </a:xfrm>
          <a:prstGeom prst="rect">
            <a:avLst/>
          </a:prstGeom>
          <a:noFill/>
          <a:ln/>
        </p:spPr>
        <p:txBody>
          <a:bodyPr wrap="square" lIns="0" tIns="0" rIns="0" bIns="0" rtlCol="0" anchor="ctr"/>
          <a:lstStyle/>
          <a:p>
            <a:pPr algn="ctr" indent="0" marL="0">
              <a:buNone/>
            </a:pPr>
            <a:r>
              <a:rPr lang="en-US" sz="1300" b="1" dirty="0">
                <a:solidFill>
                  <a:schemeClr val="tx1"/>
                </a:solidFill>
              </a:rPr>
              <a:t>Ci fidiamo di più</a:t>
            </a:r>
            <a:endParaRPr lang="en-US" sz="1300" dirty="0"/>
          </a:p>
        </p:txBody>
      </p:sp>
      <p:sp>
        <p:nvSpPr>
          <p:cNvPr id="6" name="blocco Controlliamo di meno"/>
          <p:cNvSpPr/>
          <p:nvPr/>
        </p:nvSpPr>
        <p:spPr>
          <a:xfrm>
            <a:off x="2743200" y="1188720"/>
            <a:ext cx="2011680" cy="777240"/>
          </a:xfrm>
          <a:prstGeom prst="roundRect">
            <a:avLst>
              <a:gd name="adj" fmla="val 14118"/>
            </a:avLst>
          </a:prstGeom>
          <a:solidFill>
            <a:schemeClr val="bg2"/>
          </a:solidFill>
          <a:ln/>
        </p:spPr>
      </p:sp>
      <p:sp>
        <p:nvSpPr>
          <p:cNvPr id="7" name="Text 4"/>
          <p:cNvSpPr txBox="1"/>
          <p:nvPr/>
        </p:nvSpPr>
        <p:spPr>
          <a:xfrm>
            <a:off x="2788920" y="1188720"/>
            <a:ext cx="1920240" cy="777240"/>
          </a:xfrm>
          <a:prstGeom prst="rect">
            <a:avLst/>
          </a:prstGeom>
          <a:noFill/>
          <a:ln/>
        </p:spPr>
        <p:txBody>
          <a:bodyPr wrap="square" lIns="0" tIns="0" rIns="0" bIns="0" rtlCol="0" anchor="ctr"/>
          <a:lstStyle/>
          <a:p>
            <a:pPr algn="ctr" indent="0" marL="0">
              <a:buNone/>
            </a:pPr>
            <a:r>
              <a:rPr lang="en-US" sz="1300" b="1" dirty="0">
                <a:solidFill>
                  <a:schemeClr val="tx1"/>
                </a:solidFill>
              </a:rPr>
              <a:t>Controlliamo di meno</a:t>
            </a:r>
            <a:endParaRPr lang="en-US" sz="1300" dirty="0"/>
          </a:p>
        </p:txBody>
      </p:sp>
      <p:sp>
        <p:nvSpPr>
          <p:cNvPr id="8" name="blocco Notiamo meno errori"/>
          <p:cNvSpPr/>
          <p:nvPr/>
        </p:nvSpPr>
        <p:spPr>
          <a:xfrm>
            <a:off x="2743200" y="2697480"/>
            <a:ext cx="2011680" cy="777240"/>
          </a:xfrm>
          <a:prstGeom prst="roundRect">
            <a:avLst>
              <a:gd name="adj" fmla="val 14118"/>
            </a:avLst>
          </a:prstGeom>
          <a:solidFill>
            <a:schemeClr val="accent5"/>
          </a:solidFill>
          <a:ln/>
        </p:spPr>
      </p:sp>
      <p:sp>
        <p:nvSpPr>
          <p:cNvPr id="9" name="Text 6"/>
          <p:cNvSpPr txBox="1"/>
          <p:nvPr/>
        </p:nvSpPr>
        <p:spPr>
          <a:xfrm>
            <a:off x="2788920" y="2697480"/>
            <a:ext cx="1920240" cy="777240"/>
          </a:xfrm>
          <a:prstGeom prst="rect">
            <a:avLst/>
          </a:prstGeom>
          <a:noFill/>
          <a:ln/>
        </p:spPr>
        <p:txBody>
          <a:bodyPr wrap="square" lIns="0" tIns="0" rIns="0" bIns="0" rtlCol="0" anchor="ctr"/>
          <a:lstStyle/>
          <a:p>
            <a:pPr algn="ctr" indent="0" marL="0">
              <a:buNone/>
            </a:pPr>
            <a:r>
              <a:rPr lang="en-US" sz="1300" b="1" dirty="0">
                <a:solidFill>
                  <a:schemeClr val="bg1"/>
                </a:solidFill>
              </a:rPr>
              <a:t>Notiamo meno errori</a:t>
            </a:r>
            <a:endParaRPr lang="en-US" sz="1300" dirty="0"/>
          </a:p>
        </p:txBody>
      </p:sp>
      <p:sp>
        <p:nvSpPr>
          <p:cNvPr id="10" name="blocco La fiducia cresce ancora"/>
          <p:cNvSpPr/>
          <p:nvPr/>
        </p:nvSpPr>
        <p:spPr>
          <a:xfrm>
            <a:off x="457200" y="2697480"/>
            <a:ext cx="2011680" cy="777240"/>
          </a:xfrm>
          <a:prstGeom prst="roundRect">
            <a:avLst>
              <a:gd name="adj" fmla="val 14118"/>
            </a:avLst>
          </a:prstGeom>
          <a:solidFill>
            <a:schemeClr val="bg2"/>
          </a:solidFill>
          <a:ln/>
        </p:spPr>
      </p:sp>
      <p:sp>
        <p:nvSpPr>
          <p:cNvPr id="11" name="Text 8"/>
          <p:cNvSpPr txBox="1"/>
          <p:nvPr/>
        </p:nvSpPr>
        <p:spPr>
          <a:xfrm>
            <a:off x="502920" y="2697480"/>
            <a:ext cx="1920240" cy="777240"/>
          </a:xfrm>
          <a:prstGeom prst="rect">
            <a:avLst/>
          </a:prstGeom>
          <a:noFill/>
          <a:ln/>
        </p:spPr>
        <p:txBody>
          <a:bodyPr wrap="square" lIns="0" tIns="0" rIns="0" bIns="0" rtlCol="0" anchor="ctr"/>
          <a:lstStyle/>
          <a:p>
            <a:pPr algn="ctr" indent="0" marL="0">
              <a:buNone/>
            </a:pPr>
            <a:r>
              <a:rPr lang="en-US" sz="1300" b="1" dirty="0">
                <a:solidFill>
                  <a:schemeClr val="tx1"/>
                </a:solidFill>
              </a:rPr>
              <a:t>La fiducia cresce ancora</a:t>
            </a:r>
            <a:endParaRPr lang="en-US" sz="1300" dirty="0"/>
          </a:p>
        </p:txBody>
      </p:sp>
      <p:sp>
        <p:nvSpPr>
          <p:cNvPr id="12" name="freccia"/>
          <p:cNvSpPr/>
          <p:nvPr/>
        </p:nvSpPr>
        <p:spPr>
          <a:xfrm>
            <a:off x="2487168" y="1435608"/>
            <a:ext cx="237744" cy="292608"/>
          </a:xfrm>
          <a:prstGeom prst="rightArrow">
            <a:avLst/>
          </a:prstGeom>
          <a:solidFill>
            <a:schemeClr val="accent2"/>
          </a:solidFill>
          <a:ln/>
        </p:spPr>
      </p:sp>
      <p:sp>
        <p:nvSpPr>
          <p:cNvPr id="13" name="freccia giù"/>
          <p:cNvSpPr/>
          <p:nvPr/>
        </p:nvSpPr>
        <p:spPr>
          <a:xfrm>
            <a:off x="3611880" y="2011680"/>
            <a:ext cx="292608" cy="640080"/>
          </a:xfrm>
          <a:prstGeom prst="downArrow">
            <a:avLst/>
          </a:prstGeom>
          <a:solidFill>
            <a:schemeClr val="accent2"/>
          </a:solidFill>
          <a:ln/>
        </p:spPr>
      </p:sp>
      <p:sp>
        <p:nvSpPr>
          <p:cNvPr id="14" name="freccia sinistra"/>
          <p:cNvSpPr/>
          <p:nvPr/>
        </p:nvSpPr>
        <p:spPr>
          <a:xfrm>
            <a:off x="2487168" y="2944368"/>
            <a:ext cx="237744" cy="292608"/>
          </a:xfrm>
          <a:prstGeom prst="leftArrow">
            <a:avLst/>
          </a:prstGeom>
          <a:solidFill>
            <a:schemeClr val="accent2"/>
          </a:solidFill>
          <a:ln/>
        </p:spPr>
      </p:sp>
      <p:sp>
        <p:nvSpPr>
          <p:cNvPr id="15" name="freccia su"/>
          <p:cNvSpPr/>
          <p:nvPr/>
        </p:nvSpPr>
        <p:spPr>
          <a:xfrm>
            <a:off x="1325880" y="2011680"/>
            <a:ext cx="292608" cy="640080"/>
          </a:xfrm>
          <a:prstGeom prst="upArrow">
            <a:avLst/>
          </a:prstGeom>
          <a:solidFill>
            <a:schemeClr val="accent2"/>
          </a:solidFill>
          <a:ln/>
        </p:spPr>
      </p:sp>
      <p:sp>
        <p:nvSpPr>
          <p:cNvPr id="16" name="scheda Fiducia eccessiva"/>
          <p:cNvSpPr/>
          <p:nvPr/>
        </p:nvSpPr>
        <p:spPr>
          <a:xfrm>
            <a:off x="5120640" y="1097280"/>
            <a:ext cx="3566160" cy="1463040"/>
          </a:xfrm>
          <a:prstGeom prst="roundRect">
            <a:avLst>
              <a:gd name="adj" fmla="val 5000"/>
            </a:avLst>
          </a:prstGeom>
          <a:solidFill>
            <a:schemeClr val="bg2"/>
          </a:solidFill>
          <a:ln/>
        </p:spPr>
      </p:sp>
      <p:sp>
        <p:nvSpPr>
          <p:cNvPr id="17" name="cerchio FiThumbsUp"/>
          <p:cNvSpPr/>
          <p:nvPr/>
        </p:nvSpPr>
        <p:spPr>
          <a:xfrm>
            <a:off x="5303520" y="1280160"/>
            <a:ext cx="457200" cy="457200"/>
          </a:xfrm>
          <a:prstGeom prst="ellipse">
            <a:avLst/>
          </a:prstGeom>
          <a:solidFill>
            <a:schemeClr val="accent1"/>
          </a:solidFill>
          <a:ln/>
        </p:spPr>
      </p:sp>
      <p:pic>
        <p:nvPicPr>
          <p:cNvPr id="18" name="Image 0" descr="FiThumbsUp">    </p:cNvPr>
          <p:cNvPicPr>
            <a:picLocks noChangeAspect="1"/>
          </p:cNvPicPr>
          <p:nvPr/>
        </p:nvPicPr>
        <p:blipFill>
          <a:blip r:embed="rId1"/>
          <a:stretch>
            <a:fillRect/>
          </a:stretch>
        </p:blipFill>
        <p:spPr>
          <a:xfrm>
            <a:off x="5417820" y="1394460"/>
            <a:ext cx="228600" cy="228600"/>
          </a:xfrm>
          <a:prstGeom prst="rect">
            <a:avLst/>
          </a:prstGeom>
        </p:spPr>
      </p:pic>
      <p:sp>
        <p:nvSpPr>
          <p:cNvPr id="19" name="Text 15"/>
          <p:cNvSpPr txBox="1"/>
          <p:nvPr/>
        </p:nvSpPr>
        <p:spPr>
          <a:xfrm>
            <a:off x="5897880" y="1280160"/>
            <a:ext cx="2606040" cy="457200"/>
          </a:xfrm>
          <a:prstGeom prst="rect">
            <a:avLst/>
          </a:prstGeom>
          <a:noFill/>
          <a:ln/>
        </p:spPr>
        <p:txBody>
          <a:bodyPr wrap="square" lIns="0" tIns="0" rIns="0" bIns="0" rtlCol="0" anchor="ctr"/>
          <a:lstStyle/>
          <a:p>
            <a:pPr indent="0" marL="0">
              <a:buNone/>
            </a:pPr>
            <a:r>
              <a:rPr lang="en-US" sz="1500" b="1" dirty="0">
                <a:solidFill>
                  <a:schemeClr val="tx1"/>
                </a:solidFill>
              </a:rPr>
              <a:t>Fiducia eccessiva</a:t>
            </a:r>
            <a:endParaRPr lang="en-US" sz="1500" dirty="0"/>
          </a:p>
        </p:txBody>
      </p:sp>
      <p:sp>
        <p:nvSpPr>
          <p:cNvPr id="20" name="Text 16"/>
          <p:cNvSpPr txBox="1"/>
          <p:nvPr/>
        </p:nvSpPr>
        <p:spPr>
          <a:xfrm>
            <a:off x="5303520" y="1874520"/>
            <a:ext cx="3200400" cy="576072"/>
          </a:xfrm>
          <a:prstGeom prst="rect">
            <a:avLst/>
          </a:prstGeom>
          <a:noFill/>
          <a:ln/>
        </p:spPr>
        <p:txBody>
          <a:bodyPr wrap="square" lIns="0" tIns="0" rIns="0" bIns="0" rtlCol="0" anchor="t"/>
          <a:lstStyle/>
          <a:p>
            <a:pPr indent="0" marL="0">
              <a:buNone/>
            </a:pPr>
            <a:r>
              <a:rPr lang="en-US" sz="1200" dirty="0">
                <a:solidFill>
                  <a:schemeClr val="tx2"/>
                </a:solidFill>
              </a:rPr>
              <a:t>Generalizzare dai successi a tutte le situazioni.</a:t>
            </a:r>
            <a:endParaRPr lang="en-US" sz="1200" dirty="0"/>
          </a:p>
        </p:txBody>
      </p:sp>
      <p:sp>
        <p:nvSpPr>
          <p:cNvPr id="21" name="scheda Accettazione passiva"/>
          <p:cNvSpPr/>
          <p:nvPr/>
        </p:nvSpPr>
        <p:spPr>
          <a:xfrm>
            <a:off x="5120640" y="2697480"/>
            <a:ext cx="3566160" cy="1463040"/>
          </a:xfrm>
          <a:prstGeom prst="roundRect">
            <a:avLst>
              <a:gd name="adj" fmla="val 5000"/>
            </a:avLst>
          </a:prstGeom>
          <a:solidFill>
            <a:schemeClr val="accent6"/>
          </a:solidFill>
          <a:ln/>
        </p:spPr>
      </p:sp>
      <p:sp>
        <p:nvSpPr>
          <p:cNvPr id="22" name="cerchio FiPause"/>
          <p:cNvSpPr/>
          <p:nvPr/>
        </p:nvSpPr>
        <p:spPr>
          <a:xfrm>
            <a:off x="5303520" y="2880360"/>
            <a:ext cx="457200" cy="457200"/>
          </a:xfrm>
          <a:prstGeom prst="ellipse">
            <a:avLst/>
          </a:prstGeom>
          <a:solidFill>
            <a:schemeClr val="accent1"/>
          </a:solidFill>
          <a:ln/>
        </p:spPr>
      </p:sp>
      <p:pic>
        <p:nvPicPr>
          <p:cNvPr id="23" name="Image 1" descr="FiPause">    </p:cNvPr>
          <p:cNvPicPr>
            <a:picLocks noChangeAspect="1"/>
          </p:cNvPicPr>
          <p:nvPr/>
        </p:nvPicPr>
        <p:blipFill>
          <a:blip r:embed="rId2"/>
          <a:stretch>
            <a:fillRect/>
          </a:stretch>
        </p:blipFill>
        <p:spPr>
          <a:xfrm>
            <a:off x="5417820" y="2994660"/>
            <a:ext cx="228600" cy="228600"/>
          </a:xfrm>
          <a:prstGeom prst="rect">
            <a:avLst/>
          </a:prstGeom>
        </p:spPr>
      </p:pic>
      <p:sp>
        <p:nvSpPr>
          <p:cNvPr id="24" name="Text 19"/>
          <p:cNvSpPr txBox="1"/>
          <p:nvPr/>
        </p:nvSpPr>
        <p:spPr>
          <a:xfrm>
            <a:off x="5897880" y="2880360"/>
            <a:ext cx="2606040" cy="457200"/>
          </a:xfrm>
          <a:prstGeom prst="rect">
            <a:avLst/>
          </a:prstGeom>
          <a:noFill/>
          <a:ln/>
        </p:spPr>
        <p:txBody>
          <a:bodyPr wrap="square" lIns="0" tIns="0" rIns="0" bIns="0" rtlCol="0" anchor="ctr"/>
          <a:lstStyle/>
          <a:p>
            <a:pPr indent="0" marL="0">
              <a:buNone/>
            </a:pPr>
            <a:r>
              <a:rPr lang="en-US" sz="1500" b="1" dirty="0">
                <a:solidFill>
                  <a:schemeClr val="tx1"/>
                </a:solidFill>
              </a:rPr>
              <a:t>Accettazione passiva</a:t>
            </a:r>
            <a:endParaRPr lang="en-US" sz="1500" dirty="0"/>
          </a:p>
        </p:txBody>
      </p:sp>
      <p:sp>
        <p:nvSpPr>
          <p:cNvPr id="25" name="Text 20"/>
          <p:cNvSpPr txBox="1"/>
          <p:nvPr/>
        </p:nvSpPr>
        <p:spPr>
          <a:xfrm>
            <a:off x="5303520" y="3474720"/>
            <a:ext cx="3200400" cy="576072"/>
          </a:xfrm>
          <a:prstGeom prst="rect">
            <a:avLst/>
          </a:prstGeom>
          <a:noFill/>
          <a:ln/>
        </p:spPr>
        <p:txBody>
          <a:bodyPr wrap="square" lIns="0" tIns="0" rIns="0" bIns="0" rtlCol="0" anchor="t"/>
          <a:lstStyle/>
          <a:p>
            <a:pPr indent="0" marL="0">
              <a:buNone/>
            </a:pPr>
            <a:r>
              <a:rPr lang="en-US" sz="1200" dirty="0">
                <a:solidFill>
                  <a:schemeClr val="tx2"/>
                </a:solidFill>
              </a:rPr>
              <a:t>Smettere di valutare: fretta, abitudine, argomento poco familiare.</a:t>
            </a:r>
            <a:endParaRPr lang="en-US" sz="1200" dirty="0"/>
          </a:p>
        </p:txBody>
      </p:sp>
      <p:sp>
        <p:nvSpPr>
          <p:cNvPr id="26" name="messaggio"/>
          <p:cNvSpPr/>
          <p:nvPr/>
        </p:nvSpPr>
        <p:spPr>
          <a:xfrm>
            <a:off x="457200" y="4297680"/>
            <a:ext cx="8229600" cy="320040"/>
          </a:xfrm>
          <a:prstGeom prst="roundRect">
            <a:avLst>
              <a:gd name="adj" fmla="val 22857"/>
            </a:avLst>
          </a:prstGeom>
          <a:solidFill>
            <a:schemeClr val="bg1"/>
          </a:solidFill>
          <a:ln/>
        </p:spPr>
      </p:sp>
      <p:sp>
        <p:nvSpPr>
          <p:cNvPr id="27" name="Text 22"/>
          <p:cNvSpPr txBox="1"/>
          <p:nvPr/>
        </p:nvSpPr>
        <p:spPr>
          <a:xfrm>
            <a:off x="640080" y="4297680"/>
            <a:ext cx="7863840" cy="320040"/>
          </a:xfrm>
          <a:prstGeom prst="rect">
            <a:avLst/>
          </a:prstGeom>
          <a:noFill/>
          <a:ln/>
        </p:spPr>
        <p:txBody>
          <a:bodyPr wrap="square" lIns="0" tIns="0" rIns="0" bIns="0" rtlCol="0" anchor="ctr"/>
          <a:lstStyle/>
          <a:p>
            <a:pPr indent="0" marL="0">
              <a:buNone/>
            </a:pPr>
            <a:r>
              <a:rPr lang="en-US" sz="1200" i="1" dirty="0">
                <a:solidFill>
                  <a:schemeClr val="tx1"/>
                </a:solidFill>
              </a:rPr>
              <a:t>Un circolo da interrompere intenzionalmente.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Automation bias</a:t>
            </a:r>
            <a:endParaRPr lang="en-US" sz="2600" dirty="0"/>
          </a:p>
        </p:txBody>
      </p:sp>
      <p:sp>
        <p:nvSpPr>
          <p:cNvPr id="4" name="definizione automation bias"/>
          <p:cNvSpPr/>
          <p:nvPr/>
        </p:nvSpPr>
        <p:spPr>
          <a:xfrm>
            <a:off x="457200" y="1097280"/>
            <a:ext cx="8229600" cy="914400"/>
          </a:xfrm>
          <a:prstGeom prst="roundRect">
            <a:avLst>
              <a:gd name="adj" fmla="val 8000"/>
            </a:avLst>
          </a:prstGeom>
          <a:solidFill>
            <a:schemeClr val="tx1"/>
          </a:solidFill>
          <a:ln/>
        </p:spPr>
      </p:sp>
      <p:sp>
        <p:nvSpPr>
          <p:cNvPr id="5" name="Text 2"/>
          <p:cNvSpPr txBox="1"/>
          <p:nvPr/>
        </p:nvSpPr>
        <p:spPr>
          <a:xfrm>
            <a:off x="640080" y="1097280"/>
            <a:ext cx="7863840" cy="914400"/>
          </a:xfrm>
          <a:prstGeom prst="rect">
            <a:avLst/>
          </a:prstGeom>
          <a:noFill/>
          <a:ln/>
        </p:spPr>
        <p:txBody>
          <a:bodyPr wrap="square" lIns="0" tIns="0" rIns="0" bIns="0" rtlCol="0" anchor="ctr"/>
          <a:lstStyle/>
          <a:p>
            <a:pPr indent="0" marL="0">
              <a:buNone/>
            </a:pPr>
            <a:r>
              <a:rPr lang="en-US" sz="1400" b="1" dirty="0">
                <a:solidFill>
                  <a:schemeClr val="accent1"/>
                </a:solidFill>
              </a:rPr>
              <a:t>Automation bias: </a:t>
            </a:r>
            <a:pPr indent="0" marL="0">
              <a:buNone/>
            </a:pPr>
            <a:r>
              <a:rPr lang="en-US" sz="1400" dirty="0">
                <a:solidFill>
                  <a:schemeClr val="bg1"/>
                </a:solidFill>
              </a:rPr>
              <a:t>la tendenza a privilegiare i suggerimenti automatizzati senza adeguata verifica, anche contro altre informazioni o il proprio giudizio.</a:t>
            </a:r>
            <a:endParaRPr lang="en-US" sz="1400" dirty="0"/>
          </a:p>
        </p:txBody>
      </p:sp>
      <p:sp>
        <p:nvSpPr>
          <p:cNvPr id="6" name="scheda Errori di commissione"/>
          <p:cNvSpPr/>
          <p:nvPr/>
        </p:nvSpPr>
        <p:spPr>
          <a:xfrm>
            <a:off x="457200" y="2194560"/>
            <a:ext cx="3977640" cy="1280160"/>
          </a:xfrm>
          <a:prstGeom prst="roundRect">
            <a:avLst>
              <a:gd name="adj" fmla="val 5714"/>
            </a:avLst>
          </a:prstGeom>
          <a:solidFill>
            <a:schemeClr val="bg2"/>
          </a:solidFill>
          <a:ln/>
        </p:spPr>
      </p:sp>
      <p:sp>
        <p:nvSpPr>
          <p:cNvPr id="7" name="cerchio FiCheck"/>
          <p:cNvSpPr/>
          <p:nvPr/>
        </p:nvSpPr>
        <p:spPr>
          <a:xfrm>
            <a:off x="640080" y="2377440"/>
            <a:ext cx="457200" cy="457200"/>
          </a:xfrm>
          <a:prstGeom prst="ellipse">
            <a:avLst/>
          </a:prstGeom>
          <a:solidFill>
            <a:schemeClr val="accent1"/>
          </a:solidFill>
          <a:ln/>
        </p:spPr>
      </p:sp>
      <p:pic>
        <p:nvPicPr>
          <p:cNvPr id="8" name="Image 0" descr="FiCheck">    </p:cNvPr>
          <p:cNvPicPr>
            <a:picLocks noChangeAspect="1"/>
          </p:cNvPicPr>
          <p:nvPr/>
        </p:nvPicPr>
        <p:blipFill>
          <a:blip r:embed="rId1"/>
          <a:stretch>
            <a:fillRect/>
          </a:stretch>
        </p:blipFill>
        <p:spPr>
          <a:xfrm>
            <a:off x="754380" y="2491740"/>
            <a:ext cx="228600" cy="228600"/>
          </a:xfrm>
          <a:prstGeom prst="rect">
            <a:avLst/>
          </a:prstGeom>
        </p:spPr>
      </p:pic>
      <p:sp>
        <p:nvSpPr>
          <p:cNvPr id="9" name="Text 5"/>
          <p:cNvSpPr txBox="1"/>
          <p:nvPr/>
        </p:nvSpPr>
        <p:spPr>
          <a:xfrm>
            <a:off x="1234440" y="237744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Errori di commissione</a:t>
            </a:r>
            <a:endParaRPr lang="en-US" sz="1500" dirty="0"/>
          </a:p>
        </p:txBody>
      </p:sp>
      <p:sp>
        <p:nvSpPr>
          <p:cNvPr id="10" name="Text 6"/>
          <p:cNvSpPr txBox="1"/>
          <p:nvPr/>
        </p:nvSpPr>
        <p:spPr>
          <a:xfrm>
            <a:off x="640080" y="2971800"/>
            <a:ext cx="3611880" cy="393192"/>
          </a:xfrm>
          <a:prstGeom prst="rect">
            <a:avLst/>
          </a:prstGeom>
          <a:noFill/>
          <a:ln/>
        </p:spPr>
        <p:txBody>
          <a:bodyPr wrap="square" lIns="0" tIns="0" rIns="0" bIns="0" rtlCol="0" anchor="t"/>
          <a:lstStyle/>
          <a:p>
            <a:pPr indent="0" marL="0">
              <a:buNone/>
            </a:pPr>
            <a:r>
              <a:rPr lang="en-US" sz="1200" dirty="0">
                <a:solidFill>
                  <a:schemeClr val="tx2"/>
                </a:solidFill>
              </a:rPr>
              <a:t>Seguire un suggerimento sbagliato: accettare una classificazione errata.</a:t>
            </a:r>
            <a:endParaRPr lang="en-US" sz="1200" dirty="0"/>
          </a:p>
        </p:txBody>
      </p:sp>
      <p:sp>
        <p:nvSpPr>
          <p:cNvPr id="11" name="scheda Errori di omissione"/>
          <p:cNvSpPr/>
          <p:nvPr/>
        </p:nvSpPr>
        <p:spPr>
          <a:xfrm>
            <a:off x="4709160" y="2194560"/>
            <a:ext cx="3977640" cy="1280160"/>
          </a:xfrm>
          <a:prstGeom prst="roundRect">
            <a:avLst>
              <a:gd name="adj" fmla="val 5714"/>
            </a:avLst>
          </a:prstGeom>
          <a:solidFill>
            <a:schemeClr val="accent6"/>
          </a:solidFill>
          <a:ln/>
        </p:spPr>
      </p:sp>
      <p:sp>
        <p:nvSpPr>
          <p:cNvPr id="12" name="cerchio FiEyeOff"/>
          <p:cNvSpPr/>
          <p:nvPr/>
        </p:nvSpPr>
        <p:spPr>
          <a:xfrm>
            <a:off x="4892040" y="2377440"/>
            <a:ext cx="457200" cy="457200"/>
          </a:xfrm>
          <a:prstGeom prst="ellipse">
            <a:avLst/>
          </a:prstGeom>
          <a:solidFill>
            <a:schemeClr val="accent1"/>
          </a:solidFill>
          <a:ln/>
        </p:spPr>
      </p:sp>
      <p:pic>
        <p:nvPicPr>
          <p:cNvPr id="13" name="Image 1" descr="FiEyeOff">    </p:cNvPr>
          <p:cNvPicPr>
            <a:picLocks noChangeAspect="1"/>
          </p:cNvPicPr>
          <p:nvPr/>
        </p:nvPicPr>
        <p:blipFill>
          <a:blip r:embed="rId2"/>
          <a:stretch>
            <a:fillRect/>
          </a:stretch>
        </p:blipFill>
        <p:spPr>
          <a:xfrm>
            <a:off x="5006340" y="2491740"/>
            <a:ext cx="228600" cy="228600"/>
          </a:xfrm>
          <a:prstGeom prst="rect">
            <a:avLst/>
          </a:prstGeom>
        </p:spPr>
      </p:pic>
      <p:sp>
        <p:nvSpPr>
          <p:cNvPr id="14" name="Text 9"/>
          <p:cNvSpPr txBox="1"/>
          <p:nvPr/>
        </p:nvSpPr>
        <p:spPr>
          <a:xfrm>
            <a:off x="5486400" y="237744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Errori di omissione</a:t>
            </a:r>
            <a:endParaRPr lang="en-US" sz="1500" dirty="0"/>
          </a:p>
        </p:txBody>
      </p:sp>
      <p:sp>
        <p:nvSpPr>
          <p:cNvPr id="15" name="Text 10"/>
          <p:cNvSpPr txBox="1"/>
          <p:nvPr/>
        </p:nvSpPr>
        <p:spPr>
          <a:xfrm>
            <a:off x="4892040" y="2971800"/>
            <a:ext cx="3611880" cy="393192"/>
          </a:xfrm>
          <a:prstGeom prst="rect">
            <a:avLst/>
          </a:prstGeom>
          <a:noFill/>
          <a:ln/>
        </p:spPr>
        <p:txBody>
          <a:bodyPr wrap="square" lIns="0" tIns="0" rIns="0" bIns="0" rtlCol="0" anchor="t"/>
          <a:lstStyle/>
          <a:p>
            <a:pPr indent="0" marL="0">
              <a:buNone/>
            </a:pPr>
            <a:r>
              <a:rPr lang="en-US" sz="1200" dirty="0">
                <a:solidFill>
                  <a:schemeClr val="tx2"/>
                </a:solidFill>
              </a:rPr>
              <a:t>Non vedere un problema non segnalato: un riassunto che omette un punto.</a:t>
            </a:r>
            <a:endParaRPr lang="en-US" sz="1200" dirty="0"/>
          </a:p>
        </p:txBody>
      </p:sp>
      <p:sp>
        <p:nvSpPr>
          <p:cNvPr id="16" name="Text 11"/>
          <p:cNvSpPr txBox="1"/>
          <p:nvPr/>
        </p:nvSpPr>
        <p:spPr>
          <a:xfrm>
            <a:off x="457200" y="3611880"/>
            <a:ext cx="8229600" cy="274320"/>
          </a:xfrm>
          <a:prstGeom prst="rect">
            <a:avLst/>
          </a:prstGeom>
          <a:noFill/>
          <a:ln/>
        </p:spPr>
        <p:txBody>
          <a:bodyPr wrap="square" lIns="0" tIns="0" rIns="0" bIns="0" rtlCol="0" anchor="t"/>
          <a:lstStyle/>
          <a:p>
            <a:pPr indent="0" marL="0">
              <a:buNone/>
            </a:pPr>
            <a:r>
              <a:rPr lang="en-US" sz="1300" b="1" dirty="0">
                <a:solidFill>
                  <a:schemeClr val="tx1"/>
                </a:solidFill>
              </a:rPr>
              <a:t>Più forte quando</a:t>
            </a:r>
            <a:endParaRPr lang="en-US" sz="1300" dirty="0"/>
          </a:p>
        </p:txBody>
      </p:sp>
      <p:sp>
        <p:nvSpPr>
          <p:cNvPr id="17" name="blocco Il sistema è di solito affidabile"/>
          <p:cNvSpPr/>
          <p:nvPr/>
        </p:nvSpPr>
        <p:spPr>
          <a:xfrm>
            <a:off x="457200" y="3931920"/>
            <a:ext cx="2615184" cy="457200"/>
          </a:xfrm>
          <a:prstGeom prst="roundRect">
            <a:avLst>
              <a:gd name="adj" fmla="val 24000"/>
            </a:avLst>
          </a:prstGeom>
          <a:solidFill>
            <a:schemeClr val="bg2"/>
          </a:solidFill>
          <a:ln/>
        </p:spPr>
      </p:sp>
      <p:sp>
        <p:nvSpPr>
          <p:cNvPr id="18" name="Text 13"/>
          <p:cNvSpPr txBox="1"/>
          <p:nvPr/>
        </p:nvSpPr>
        <p:spPr>
          <a:xfrm>
            <a:off x="502920" y="3931920"/>
            <a:ext cx="2523744" cy="457200"/>
          </a:xfrm>
          <a:prstGeom prst="rect">
            <a:avLst/>
          </a:prstGeom>
          <a:noFill/>
          <a:ln/>
        </p:spPr>
        <p:txBody>
          <a:bodyPr wrap="square" lIns="0" tIns="0" rIns="0" bIns="0" rtlCol="0" anchor="ctr"/>
          <a:lstStyle/>
          <a:p>
            <a:pPr algn="ctr" indent="0" marL="0">
              <a:buNone/>
            </a:pPr>
            <a:r>
              <a:rPr lang="en-US" sz="1200" b="1" dirty="0">
                <a:solidFill>
                  <a:schemeClr val="tx1"/>
                </a:solidFill>
              </a:rPr>
              <a:t>Il sistema è di solito affidabile</a:t>
            </a:r>
            <a:endParaRPr lang="en-US" sz="1200" dirty="0"/>
          </a:p>
        </p:txBody>
      </p:sp>
      <p:sp>
        <p:nvSpPr>
          <p:cNvPr id="19" name="blocco Il carico di lavoro è alto"/>
          <p:cNvSpPr/>
          <p:nvPr/>
        </p:nvSpPr>
        <p:spPr>
          <a:xfrm>
            <a:off x="3264408" y="3931920"/>
            <a:ext cx="2615184" cy="457200"/>
          </a:xfrm>
          <a:prstGeom prst="roundRect">
            <a:avLst>
              <a:gd name="adj" fmla="val 24000"/>
            </a:avLst>
          </a:prstGeom>
          <a:solidFill>
            <a:schemeClr val="bg2"/>
          </a:solidFill>
          <a:ln/>
        </p:spPr>
      </p:sp>
      <p:sp>
        <p:nvSpPr>
          <p:cNvPr id="20" name="Text 15"/>
          <p:cNvSpPr txBox="1"/>
          <p:nvPr/>
        </p:nvSpPr>
        <p:spPr>
          <a:xfrm>
            <a:off x="3310128" y="3931920"/>
            <a:ext cx="2523744" cy="457200"/>
          </a:xfrm>
          <a:prstGeom prst="rect">
            <a:avLst/>
          </a:prstGeom>
          <a:noFill/>
          <a:ln/>
        </p:spPr>
        <p:txBody>
          <a:bodyPr wrap="square" lIns="0" tIns="0" rIns="0" bIns="0" rtlCol="0" anchor="ctr"/>
          <a:lstStyle/>
          <a:p>
            <a:pPr algn="ctr" indent="0" marL="0">
              <a:buNone/>
            </a:pPr>
            <a:r>
              <a:rPr lang="en-US" sz="1200" b="1" dirty="0">
                <a:solidFill>
                  <a:schemeClr val="tx1"/>
                </a:solidFill>
              </a:rPr>
              <a:t>Il carico di lavoro è alto</a:t>
            </a:r>
            <a:endParaRPr lang="en-US" sz="1200" dirty="0"/>
          </a:p>
        </p:txBody>
      </p:sp>
      <p:sp>
        <p:nvSpPr>
          <p:cNvPr id="21" name="blocco L'esperienza è poca"/>
          <p:cNvSpPr/>
          <p:nvPr/>
        </p:nvSpPr>
        <p:spPr>
          <a:xfrm>
            <a:off x="6071616" y="3931920"/>
            <a:ext cx="2615184" cy="457200"/>
          </a:xfrm>
          <a:prstGeom prst="roundRect">
            <a:avLst>
              <a:gd name="adj" fmla="val 24000"/>
            </a:avLst>
          </a:prstGeom>
          <a:solidFill>
            <a:schemeClr val="bg2"/>
          </a:solidFill>
          <a:ln/>
        </p:spPr>
      </p:sp>
      <p:sp>
        <p:nvSpPr>
          <p:cNvPr id="22" name="Text 17"/>
          <p:cNvSpPr txBox="1"/>
          <p:nvPr/>
        </p:nvSpPr>
        <p:spPr>
          <a:xfrm>
            <a:off x="6117336" y="3931920"/>
            <a:ext cx="2523744" cy="457200"/>
          </a:xfrm>
          <a:prstGeom prst="rect">
            <a:avLst/>
          </a:prstGeom>
          <a:noFill/>
          <a:ln/>
        </p:spPr>
        <p:txBody>
          <a:bodyPr wrap="square" lIns="0" tIns="0" rIns="0" bIns="0" rtlCol="0" anchor="ctr"/>
          <a:lstStyle/>
          <a:p>
            <a:pPr algn="ctr" indent="0" marL="0">
              <a:buNone/>
            </a:pPr>
            <a:r>
              <a:rPr lang="en-US" sz="1200" b="1" dirty="0">
                <a:solidFill>
                  <a:schemeClr val="tx1"/>
                </a:solidFill>
              </a:rPr>
              <a:t>L'esperienza è poca</a:t>
            </a:r>
            <a:endParaRPr lang="en-US" sz="1200" dirty="0"/>
          </a:p>
        </p:txBody>
      </p:sp>
      <p:sp>
        <p:nvSpPr>
          <p:cNvPr id="23" name="Text 18"/>
          <p:cNvSpPr txBox="1"/>
          <p:nvPr/>
        </p:nvSpPr>
        <p:spPr>
          <a:xfrm>
            <a:off x="457200" y="4480560"/>
            <a:ext cx="5486400" cy="228600"/>
          </a:xfrm>
          <a:prstGeom prst="rect">
            <a:avLst/>
          </a:prstGeom>
          <a:noFill/>
          <a:ln/>
        </p:spPr>
        <p:txBody>
          <a:bodyPr wrap="square" lIns="0" tIns="0" rIns="0" bIns="0" rtlCol="0" anchor="t"/>
          <a:lstStyle/>
          <a:p>
            <a:pPr indent="0" marL="0">
              <a:buNone/>
            </a:pPr>
            <a:r>
              <a:rPr lang="en-US" sz="1000" dirty="0">
                <a:solidFill>
                  <a:schemeClr val="accent2"/>
                </a:solidFill>
              </a:rPr>
              <a:t>Fonte: Parasuraman e Manzey, Human Factors, 2010</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rischio della delega cognitiva</a:t>
            </a:r>
            <a:endParaRPr lang="en-US" sz="2600" dirty="0"/>
          </a:p>
        </p:txBody>
      </p:sp>
      <p:sp>
        <p:nvSpPr>
          <p:cNvPr id="4" name="scheda Opportunità"/>
          <p:cNvSpPr/>
          <p:nvPr/>
        </p:nvSpPr>
        <p:spPr>
          <a:xfrm>
            <a:off x="457200" y="1097280"/>
            <a:ext cx="3977640" cy="2011680"/>
          </a:xfrm>
          <a:prstGeom prst="roundRect">
            <a:avLst>
              <a:gd name="adj" fmla="val 3636"/>
            </a:avLst>
          </a:prstGeom>
          <a:solidFill>
            <a:schemeClr val="accent6"/>
          </a:solidFill>
          <a:ln/>
        </p:spPr>
      </p:sp>
      <p:sp>
        <p:nvSpPr>
          <p:cNvPr id="5" name="cerchio FiSun"/>
          <p:cNvSpPr/>
          <p:nvPr/>
        </p:nvSpPr>
        <p:spPr>
          <a:xfrm>
            <a:off x="640080" y="1280160"/>
            <a:ext cx="457200" cy="457200"/>
          </a:xfrm>
          <a:prstGeom prst="ellipse">
            <a:avLst/>
          </a:prstGeom>
          <a:solidFill>
            <a:schemeClr val="accent1"/>
          </a:solidFill>
          <a:ln/>
        </p:spPr>
      </p:sp>
      <p:pic>
        <p:nvPicPr>
          <p:cNvPr id="6" name="Image 0" descr="FiSun">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Opportunità</a:t>
            </a:r>
            <a:endParaRPr lang="en-US" sz="1500" dirty="0"/>
          </a:p>
        </p:txBody>
      </p:sp>
      <p:sp>
        <p:nvSpPr>
          <p:cNvPr id="8" name="Text 4"/>
          <p:cNvSpPr txBox="1"/>
          <p:nvPr/>
        </p:nvSpPr>
        <p:spPr>
          <a:xfrm>
            <a:off x="640080" y="2231136"/>
            <a:ext cx="3611880" cy="768096"/>
          </a:xfrm>
          <a:prstGeom prst="rect">
            <a:avLst/>
          </a:prstGeom>
          <a:noFill/>
          <a:ln/>
        </p:spPr>
        <p:txBody>
          <a:bodyPr wrap="square" lIns="0" tIns="0" rIns="0" bIns="0" rtlCol="0" anchor="t"/>
          <a:lstStyle/>
          <a:p>
            <a:pPr indent="0" marL="0">
              <a:buNone/>
            </a:pPr>
            <a:r>
              <a:rPr lang="en-US" sz="1300" dirty="0">
                <a:solidFill>
                  <a:schemeClr val="tx2"/>
                </a:solidFill>
              </a:rPr>
              <a:t>Delegare attività mentali libera tempo e attenzione, come la scrittura, la calcolatrice, il navigatore.</a:t>
            </a:r>
            <a:endParaRPr lang="en-US" sz="1300" dirty="0"/>
          </a:p>
        </p:txBody>
      </p:sp>
      <p:sp>
        <p:nvSpPr>
          <p:cNvPr id="9" name="scheda Diventa un problema quando"/>
          <p:cNvSpPr/>
          <p:nvPr/>
        </p:nvSpPr>
        <p:spPr>
          <a:xfrm>
            <a:off x="4709160" y="1097280"/>
            <a:ext cx="3977640" cy="2011680"/>
          </a:xfrm>
          <a:prstGeom prst="roundRect">
            <a:avLst>
              <a:gd name="adj" fmla="val 3636"/>
            </a:avLst>
          </a:prstGeom>
          <a:solidFill>
            <a:schemeClr val="bg2"/>
          </a:solidFill>
          <a:ln/>
        </p:spPr>
      </p:sp>
      <p:sp>
        <p:nvSpPr>
          <p:cNvPr id="10" name="cerchio FiAlertTriangle"/>
          <p:cNvSpPr/>
          <p:nvPr/>
        </p:nvSpPr>
        <p:spPr>
          <a:xfrm>
            <a:off x="4892040" y="1280160"/>
            <a:ext cx="457200" cy="457200"/>
          </a:xfrm>
          <a:prstGeom prst="ellipse">
            <a:avLst/>
          </a:prstGeom>
          <a:solidFill>
            <a:schemeClr val="accent5"/>
          </a:solidFill>
          <a:ln/>
        </p:spPr>
      </p:sp>
      <p:pic>
        <p:nvPicPr>
          <p:cNvPr id="11" name="Image 1" descr="FiAlertTriangle">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Diventa un problema quando</a:t>
            </a:r>
            <a:endParaRPr lang="en-US" sz="1500" dirty="0"/>
          </a:p>
        </p:txBody>
      </p:sp>
      <p:sp>
        <p:nvSpPr>
          <p:cNvPr id="13" name="Text 8"/>
          <p:cNvSpPr txBox="1"/>
          <p:nvPr/>
        </p:nvSpPr>
        <p:spPr>
          <a:xfrm>
            <a:off x="4892040" y="2231136"/>
            <a:ext cx="3611880" cy="768096"/>
          </a:xfrm>
          <a:prstGeom prst="rect">
            <a:avLst/>
          </a:prstGeom>
          <a:noFill/>
          <a:ln/>
        </p:spPr>
        <p:txBody>
          <a:bodyPr wrap="square" lIns="0" tIns="0" rIns="0" bIns="0" rtlCol="0" anchor="t"/>
          <a:lstStyle/>
          <a:p>
            <a:pPr marL="177800" indent="-177800">
              <a:spcAft>
                <a:spcPts val="100"/>
              </a:spcAft>
              <a:buSzPct val="100000"/>
              <a:buChar char="•"/>
            </a:pPr>
            <a:r>
              <a:rPr lang="en-US" sz="1200" dirty="0">
                <a:solidFill>
                  <a:schemeClr val="tx2"/>
                </a:solidFill>
              </a:rPr>
              <a:t>Non si sa più fare senza</a:t>
            </a:r>
            <a:endParaRPr lang="en-US" sz="1200" dirty="0"/>
          </a:p>
          <a:p>
            <a:pPr marL="177800" indent="-177800">
              <a:spcAft>
                <a:spcPts val="100"/>
              </a:spcAft>
              <a:buSzPct val="100000"/>
              <a:buChar char="•"/>
            </a:pPr>
            <a:r>
              <a:rPr lang="en-US" sz="1200" dirty="0">
                <a:solidFill>
                  <a:schemeClr val="tx2"/>
                </a:solidFill>
              </a:rPr>
              <a:t>Si usano risultati che non si saprebbero spiegare</a:t>
            </a:r>
            <a:endParaRPr lang="en-US" sz="1200" dirty="0"/>
          </a:p>
          <a:p>
            <a:pPr marL="177800" indent="-177800">
              <a:spcAft>
                <a:spcPts val="100"/>
              </a:spcAft>
              <a:buSzPct val="100000"/>
              <a:buChar char="•"/>
            </a:pPr>
            <a:r>
              <a:rPr lang="en-US" sz="1200" dirty="0">
                <a:solidFill>
                  <a:schemeClr val="tx2"/>
                </a:solidFill>
              </a:rPr>
              <a:t>Si smette di ragionare prima di chiedere</a:t>
            </a:r>
            <a:endParaRPr lang="en-US" sz="1200" dirty="0"/>
          </a:p>
          <a:p>
            <a:pPr marL="177800" indent="-177800">
              <a:spcAft>
                <a:spcPts val="100"/>
              </a:spcAft>
              <a:buSzPct val="100000"/>
              <a:buChar char="•"/>
            </a:pPr>
            <a:r>
              <a:rPr lang="en-US" sz="1200" dirty="0">
                <a:solidFill>
                  <a:schemeClr val="tx2"/>
                </a:solidFill>
              </a:rPr>
              <a:t>Non si riconoscono più gli errori</a:t>
            </a:r>
            <a:endParaRPr lang="en-US" sz="1200" dirty="0"/>
          </a:p>
        </p:txBody>
      </p:sp>
      <p:sp>
        <p:nvSpPr>
          <p:cNvPr id="14" name="studio Lee"/>
          <p:cNvSpPr/>
          <p:nvPr/>
        </p:nvSpPr>
        <p:spPr>
          <a:xfrm>
            <a:off x="457200" y="3246120"/>
            <a:ext cx="8229600" cy="1280160"/>
          </a:xfrm>
          <a:prstGeom prst="roundRect">
            <a:avLst>
              <a:gd name="adj" fmla="val 5714"/>
            </a:avLst>
          </a:prstGeom>
          <a:solidFill>
            <a:schemeClr val="tx1"/>
          </a:solidFill>
          <a:ln/>
        </p:spPr>
      </p:sp>
      <p:sp>
        <p:nvSpPr>
          <p:cNvPr id="15" name="Text 10"/>
          <p:cNvSpPr txBox="1"/>
          <p:nvPr/>
        </p:nvSpPr>
        <p:spPr>
          <a:xfrm>
            <a:off x="640080" y="3337560"/>
            <a:ext cx="3657600" cy="256032"/>
          </a:xfrm>
          <a:prstGeom prst="rect">
            <a:avLst/>
          </a:prstGeom>
          <a:noFill/>
          <a:ln/>
        </p:spPr>
        <p:txBody>
          <a:bodyPr wrap="square" lIns="0" tIns="0" rIns="0" bIns="0" rtlCol="0" anchor="t"/>
          <a:lstStyle/>
          <a:p>
            <a:pPr indent="0" marL="0">
              <a:buNone/>
            </a:pPr>
            <a:r>
              <a:rPr lang="en-US" sz="1000" b="1" spc="200" kern="0" dirty="0">
                <a:solidFill>
                  <a:schemeClr val="accent3"/>
                </a:solidFill>
              </a:rPr>
              <a:t>UN SEGNALE DALLA RICERCA</a:t>
            </a:r>
            <a:endParaRPr lang="en-US" sz="1000" dirty="0"/>
          </a:p>
        </p:txBody>
      </p:sp>
      <p:sp>
        <p:nvSpPr>
          <p:cNvPr id="16" name="Text 11"/>
          <p:cNvSpPr txBox="1"/>
          <p:nvPr/>
        </p:nvSpPr>
        <p:spPr>
          <a:xfrm>
            <a:off x="640080" y="3611880"/>
            <a:ext cx="7863840" cy="594360"/>
          </a:xfrm>
          <a:prstGeom prst="rect">
            <a:avLst/>
          </a:prstGeom>
          <a:noFill/>
          <a:ln/>
        </p:spPr>
        <p:txBody>
          <a:bodyPr wrap="square" lIns="0" tIns="0" rIns="0" bIns="0" rtlCol="0" anchor="t"/>
          <a:lstStyle/>
          <a:p>
            <a:pPr indent="0" marL="0">
              <a:buNone/>
            </a:pPr>
            <a:r>
              <a:rPr lang="en-US" sz="1300" dirty="0">
                <a:solidFill>
                  <a:schemeClr val="bg1"/>
                </a:solidFill>
              </a:rPr>
              <a:t>Più fiducia nell'AI, meno pensiero critico dichiarato; più fiducia nelle proprie capacità, più pensiero critico (indagine su 319 lavoratori della conoscenza).</a:t>
            </a:r>
            <a:endParaRPr lang="en-US" sz="1300" dirty="0"/>
          </a:p>
        </p:txBody>
      </p:sp>
      <p:sp>
        <p:nvSpPr>
          <p:cNvPr id="17" name="Text 12"/>
          <p:cNvSpPr txBox="1"/>
          <p:nvPr/>
        </p:nvSpPr>
        <p:spPr>
          <a:xfrm>
            <a:off x="640080" y="4224528"/>
            <a:ext cx="7315200" cy="228600"/>
          </a:xfrm>
          <a:prstGeom prst="rect">
            <a:avLst/>
          </a:prstGeom>
          <a:noFill/>
          <a:ln/>
        </p:spPr>
        <p:txBody>
          <a:bodyPr wrap="square" lIns="0" tIns="0" rIns="0" bIns="0" rtlCol="0" anchor="t"/>
          <a:lstStyle/>
          <a:p>
            <a:pPr indent="0" marL="0">
              <a:buNone/>
            </a:pPr>
            <a:r>
              <a:rPr lang="en-US" sz="1000" dirty="0">
                <a:solidFill>
                  <a:schemeClr val="accent2"/>
                </a:solidFill>
              </a:rPr>
              <a:t>Fonte: Lee et al., Microsoft Research e Carnegie Mellon, CHI 2025</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Dipendenza e preservazione del giudizio</a:t>
            </a:r>
            <a:endParaRPr lang="en-US" sz="2600" dirty="0"/>
          </a:p>
        </p:txBody>
      </p:sp>
      <p:sp>
        <p:nvSpPr>
          <p:cNvPr id="4" name="Pensare prima di chiedere"/>
          <p:cNvSpPr/>
          <p:nvPr/>
        </p:nvSpPr>
        <p:spPr>
          <a:xfrm>
            <a:off x="457200" y="1097280"/>
            <a:ext cx="2621280" cy="1348740"/>
          </a:xfrm>
          <a:prstGeom prst="roundRect">
            <a:avLst>
              <a:gd name="adj" fmla="val 5424"/>
            </a:avLst>
          </a:prstGeom>
          <a:solidFill>
            <a:schemeClr val="bg2"/>
          </a:solidFill>
          <a:ln/>
        </p:spPr>
      </p:sp>
      <p:sp>
        <p:nvSpPr>
          <p:cNvPr id="5" name="cerchio FiZap"/>
          <p:cNvSpPr/>
          <p:nvPr/>
        </p:nvSpPr>
        <p:spPr>
          <a:xfrm>
            <a:off x="621792" y="1261872"/>
            <a:ext cx="438912" cy="438912"/>
          </a:xfrm>
          <a:prstGeom prst="ellipse">
            <a:avLst/>
          </a:prstGeom>
          <a:solidFill>
            <a:schemeClr val="accent1"/>
          </a:solidFill>
          <a:ln/>
        </p:spPr>
      </p:sp>
      <p:pic>
        <p:nvPicPr>
          <p:cNvPr id="6" name="Image 0" descr="FiZap">    </p:cNvPr>
          <p:cNvPicPr>
            <a:picLocks noChangeAspect="1"/>
          </p:cNvPicPr>
          <p:nvPr/>
        </p:nvPicPr>
        <p:blipFill>
          <a:blip r:embed="rId1"/>
          <a:stretch>
            <a:fillRect/>
          </a:stretch>
        </p:blipFill>
        <p:spPr>
          <a:xfrm>
            <a:off x="731520" y="1371600"/>
            <a:ext cx="219456" cy="219456"/>
          </a:xfrm>
          <a:prstGeom prst="rect">
            <a:avLst/>
          </a:prstGeom>
        </p:spPr>
      </p:pic>
      <p:sp>
        <p:nvSpPr>
          <p:cNvPr id="7" name="Text 3"/>
          <p:cNvSpPr txBox="1"/>
          <p:nvPr/>
        </p:nvSpPr>
        <p:spPr>
          <a:xfrm>
            <a:off x="1170432" y="122529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Pensare prima di chiedere</a:t>
            </a:r>
            <a:endParaRPr lang="en-US" sz="1300" dirty="0"/>
          </a:p>
        </p:txBody>
      </p:sp>
      <p:sp>
        <p:nvSpPr>
          <p:cNvPr id="8" name="Text 4"/>
          <p:cNvSpPr txBox="1"/>
          <p:nvPr/>
        </p:nvSpPr>
        <p:spPr>
          <a:xfrm>
            <a:off x="621792" y="1810512"/>
            <a:ext cx="2292096" cy="544068"/>
          </a:xfrm>
          <a:prstGeom prst="rect">
            <a:avLst/>
          </a:prstGeom>
          <a:noFill/>
          <a:ln/>
        </p:spPr>
        <p:txBody>
          <a:bodyPr wrap="square" lIns="0" tIns="0" rIns="0" bIns="0" rtlCol="0" anchor="t"/>
          <a:lstStyle/>
          <a:p>
            <a:pPr indent="0" marL="0">
              <a:buNone/>
            </a:pPr>
            <a:r>
              <a:rPr lang="en-US" sz="1200" dirty="0">
                <a:solidFill>
                  <a:schemeClr val="tx2"/>
                </a:solidFill>
              </a:rPr>
              <a:t>Farsi un'idea propria come termine di confronto</a:t>
            </a:r>
            <a:endParaRPr lang="en-US" sz="1200" dirty="0"/>
          </a:p>
        </p:txBody>
      </p:sp>
      <p:sp>
        <p:nvSpPr>
          <p:cNvPr id="9" name="Mettere alla prova, non solo sostituire"/>
          <p:cNvSpPr/>
          <p:nvPr/>
        </p:nvSpPr>
        <p:spPr>
          <a:xfrm>
            <a:off x="3261360" y="1097280"/>
            <a:ext cx="2621280" cy="1348740"/>
          </a:xfrm>
          <a:prstGeom prst="roundRect">
            <a:avLst>
              <a:gd name="adj" fmla="val 5424"/>
            </a:avLst>
          </a:prstGeom>
          <a:solidFill>
            <a:schemeClr val="bg2"/>
          </a:solidFill>
          <a:ln/>
        </p:spPr>
      </p:sp>
      <p:sp>
        <p:nvSpPr>
          <p:cNvPr id="10" name="cerchio FiShield"/>
          <p:cNvSpPr/>
          <p:nvPr/>
        </p:nvSpPr>
        <p:spPr>
          <a:xfrm>
            <a:off x="3425952" y="1261872"/>
            <a:ext cx="438912" cy="438912"/>
          </a:xfrm>
          <a:prstGeom prst="ellipse">
            <a:avLst/>
          </a:prstGeom>
          <a:solidFill>
            <a:schemeClr val="accent1"/>
          </a:solidFill>
          <a:ln/>
        </p:spPr>
      </p:sp>
      <p:pic>
        <p:nvPicPr>
          <p:cNvPr id="11" name="Image 1" descr="FiShield">    </p:cNvPr>
          <p:cNvPicPr>
            <a:picLocks noChangeAspect="1"/>
          </p:cNvPicPr>
          <p:nvPr/>
        </p:nvPicPr>
        <p:blipFill>
          <a:blip r:embed="rId2"/>
          <a:stretch>
            <a:fillRect/>
          </a:stretch>
        </p:blipFill>
        <p:spPr>
          <a:xfrm>
            <a:off x="3535680" y="1371600"/>
            <a:ext cx="219456" cy="219456"/>
          </a:xfrm>
          <a:prstGeom prst="rect">
            <a:avLst/>
          </a:prstGeom>
        </p:spPr>
      </p:pic>
      <p:sp>
        <p:nvSpPr>
          <p:cNvPr id="12" name="Text 7"/>
          <p:cNvSpPr txBox="1"/>
          <p:nvPr/>
        </p:nvSpPr>
        <p:spPr>
          <a:xfrm>
            <a:off x="3974592" y="122529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Mettere alla prova, non solo sostituire</a:t>
            </a:r>
            <a:endParaRPr lang="en-US" sz="1300" dirty="0"/>
          </a:p>
        </p:txBody>
      </p:sp>
      <p:sp>
        <p:nvSpPr>
          <p:cNvPr id="13" name="Text 8"/>
          <p:cNvSpPr txBox="1"/>
          <p:nvPr/>
        </p:nvSpPr>
        <p:spPr>
          <a:xfrm>
            <a:off x="3425952" y="1810512"/>
            <a:ext cx="2292096" cy="544068"/>
          </a:xfrm>
          <a:prstGeom prst="rect">
            <a:avLst/>
          </a:prstGeom>
          <a:noFill/>
          <a:ln/>
        </p:spPr>
        <p:txBody>
          <a:bodyPr wrap="square" lIns="0" tIns="0" rIns="0" bIns="0" rtlCol="0" anchor="t"/>
          <a:lstStyle/>
          <a:p>
            <a:pPr indent="0" marL="0">
              <a:buNone/>
            </a:pPr>
            <a:r>
              <a:rPr lang="en-US" sz="1200" dirty="0">
                <a:solidFill>
                  <a:schemeClr val="tx2"/>
                </a:solidFill>
              </a:rPr>
              <a:t>L'AI come interlocutore critico</a:t>
            </a:r>
            <a:endParaRPr lang="en-US" sz="1200" dirty="0"/>
          </a:p>
        </p:txBody>
      </p:sp>
      <p:sp>
        <p:nvSpPr>
          <p:cNvPr id="14" name="Mantenere la pratica"/>
          <p:cNvSpPr/>
          <p:nvPr/>
        </p:nvSpPr>
        <p:spPr>
          <a:xfrm>
            <a:off x="6065520" y="1097280"/>
            <a:ext cx="2621280" cy="1348740"/>
          </a:xfrm>
          <a:prstGeom prst="roundRect">
            <a:avLst>
              <a:gd name="adj" fmla="val 5424"/>
            </a:avLst>
          </a:prstGeom>
          <a:solidFill>
            <a:schemeClr val="bg2"/>
          </a:solidFill>
          <a:ln/>
        </p:spPr>
      </p:sp>
      <p:sp>
        <p:nvSpPr>
          <p:cNvPr id="15" name="cerchio FiRepeat"/>
          <p:cNvSpPr/>
          <p:nvPr/>
        </p:nvSpPr>
        <p:spPr>
          <a:xfrm>
            <a:off x="6230112" y="1261872"/>
            <a:ext cx="438912" cy="438912"/>
          </a:xfrm>
          <a:prstGeom prst="ellipse">
            <a:avLst/>
          </a:prstGeom>
          <a:solidFill>
            <a:schemeClr val="accent1"/>
          </a:solidFill>
          <a:ln/>
        </p:spPr>
      </p:sp>
      <p:pic>
        <p:nvPicPr>
          <p:cNvPr id="16" name="Image 2" descr="FiRepeat">    </p:cNvPr>
          <p:cNvPicPr>
            <a:picLocks noChangeAspect="1"/>
          </p:cNvPicPr>
          <p:nvPr/>
        </p:nvPicPr>
        <p:blipFill>
          <a:blip r:embed="rId3"/>
          <a:stretch>
            <a:fillRect/>
          </a:stretch>
        </p:blipFill>
        <p:spPr>
          <a:xfrm>
            <a:off x="6339840" y="1371600"/>
            <a:ext cx="219456" cy="219456"/>
          </a:xfrm>
          <a:prstGeom prst="rect">
            <a:avLst/>
          </a:prstGeom>
        </p:spPr>
      </p:pic>
      <p:sp>
        <p:nvSpPr>
          <p:cNvPr id="17" name="Text 11"/>
          <p:cNvSpPr txBox="1"/>
          <p:nvPr/>
        </p:nvSpPr>
        <p:spPr>
          <a:xfrm>
            <a:off x="6778752" y="122529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Mantenere la pratica</a:t>
            </a:r>
            <a:endParaRPr lang="en-US" sz="1300" dirty="0"/>
          </a:p>
        </p:txBody>
      </p:sp>
      <p:sp>
        <p:nvSpPr>
          <p:cNvPr id="18" name="Text 12"/>
          <p:cNvSpPr txBox="1"/>
          <p:nvPr/>
        </p:nvSpPr>
        <p:spPr>
          <a:xfrm>
            <a:off x="6230112" y="1810512"/>
            <a:ext cx="2292096" cy="544068"/>
          </a:xfrm>
          <a:prstGeom prst="rect">
            <a:avLst/>
          </a:prstGeom>
          <a:noFill/>
          <a:ln/>
        </p:spPr>
        <p:txBody>
          <a:bodyPr wrap="square" lIns="0" tIns="0" rIns="0" bIns="0" rtlCol="0" anchor="t"/>
          <a:lstStyle/>
          <a:p>
            <a:pPr indent="0" marL="0">
              <a:buNone/>
            </a:pPr>
            <a:r>
              <a:rPr lang="en-US" sz="1200" dirty="0">
                <a:solidFill>
                  <a:schemeClr val="tx2"/>
                </a:solidFill>
              </a:rPr>
              <a:t>Svolgere in prima persona le attività centrali</a:t>
            </a:r>
            <a:endParaRPr lang="en-US" sz="1200" dirty="0"/>
          </a:p>
        </p:txBody>
      </p:sp>
      <p:sp>
        <p:nvSpPr>
          <p:cNvPr id="19" name="Saper spiegare"/>
          <p:cNvSpPr/>
          <p:nvPr/>
        </p:nvSpPr>
        <p:spPr>
          <a:xfrm>
            <a:off x="457200" y="2628900"/>
            <a:ext cx="2621280" cy="1348740"/>
          </a:xfrm>
          <a:prstGeom prst="roundRect">
            <a:avLst>
              <a:gd name="adj" fmla="val 5424"/>
            </a:avLst>
          </a:prstGeom>
          <a:solidFill>
            <a:schemeClr val="bg2"/>
          </a:solidFill>
          <a:ln/>
        </p:spPr>
      </p:sp>
      <p:sp>
        <p:nvSpPr>
          <p:cNvPr id="20" name="cerchio FiMessageCircle"/>
          <p:cNvSpPr/>
          <p:nvPr/>
        </p:nvSpPr>
        <p:spPr>
          <a:xfrm>
            <a:off x="621792" y="2793492"/>
            <a:ext cx="438912" cy="438912"/>
          </a:xfrm>
          <a:prstGeom prst="ellipse">
            <a:avLst/>
          </a:prstGeom>
          <a:solidFill>
            <a:schemeClr val="accent1"/>
          </a:solidFill>
          <a:ln/>
        </p:spPr>
      </p:sp>
      <p:pic>
        <p:nvPicPr>
          <p:cNvPr id="21" name="Image 3" descr="FiMessageCircle">    </p:cNvPr>
          <p:cNvPicPr>
            <a:picLocks noChangeAspect="1"/>
          </p:cNvPicPr>
          <p:nvPr/>
        </p:nvPicPr>
        <p:blipFill>
          <a:blip r:embed="rId4"/>
          <a:stretch>
            <a:fillRect/>
          </a:stretch>
        </p:blipFill>
        <p:spPr>
          <a:xfrm>
            <a:off x="731520" y="2903220"/>
            <a:ext cx="219456" cy="219456"/>
          </a:xfrm>
          <a:prstGeom prst="rect">
            <a:avLst/>
          </a:prstGeom>
        </p:spPr>
      </p:pic>
      <p:sp>
        <p:nvSpPr>
          <p:cNvPr id="22" name="Text 15"/>
          <p:cNvSpPr txBox="1"/>
          <p:nvPr/>
        </p:nvSpPr>
        <p:spPr>
          <a:xfrm>
            <a:off x="1170432" y="27569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Saper spiegare</a:t>
            </a:r>
            <a:endParaRPr lang="en-US" sz="1300" dirty="0"/>
          </a:p>
        </p:txBody>
      </p:sp>
      <p:sp>
        <p:nvSpPr>
          <p:cNvPr id="23" name="Text 16"/>
          <p:cNvSpPr txBox="1"/>
          <p:nvPr/>
        </p:nvSpPr>
        <p:spPr>
          <a:xfrm>
            <a:off x="621792" y="3342132"/>
            <a:ext cx="2292096" cy="544068"/>
          </a:xfrm>
          <a:prstGeom prst="rect">
            <a:avLst/>
          </a:prstGeom>
          <a:noFill/>
          <a:ln/>
        </p:spPr>
        <p:txBody>
          <a:bodyPr wrap="square" lIns="0" tIns="0" rIns="0" bIns="0" rtlCol="0" anchor="t"/>
          <a:lstStyle/>
          <a:p>
            <a:pPr indent="0" marL="0">
              <a:buNone/>
            </a:pPr>
            <a:r>
              <a:rPr lang="en-US" sz="1200" dirty="0">
                <a:solidFill>
                  <a:schemeClr val="tx2"/>
                </a:solidFill>
              </a:rPr>
              <a:t>Non usare ciò che non si saprebbe difendere</a:t>
            </a:r>
            <a:endParaRPr lang="en-US" sz="1200" dirty="0"/>
          </a:p>
        </p:txBody>
      </p:sp>
      <p:sp>
        <p:nvSpPr>
          <p:cNvPr id="24" name="Verificare con proporzione"/>
          <p:cNvSpPr/>
          <p:nvPr/>
        </p:nvSpPr>
        <p:spPr>
          <a:xfrm>
            <a:off x="3261360" y="2628900"/>
            <a:ext cx="2621280" cy="1348740"/>
          </a:xfrm>
          <a:prstGeom prst="roundRect">
            <a:avLst>
              <a:gd name="adj" fmla="val 5424"/>
            </a:avLst>
          </a:prstGeom>
          <a:solidFill>
            <a:schemeClr val="bg2"/>
          </a:solidFill>
          <a:ln/>
        </p:spPr>
      </p:sp>
      <p:sp>
        <p:nvSpPr>
          <p:cNvPr id="25" name="cerchio FiCheckSquare"/>
          <p:cNvSpPr/>
          <p:nvPr/>
        </p:nvSpPr>
        <p:spPr>
          <a:xfrm>
            <a:off x="3425952" y="2793492"/>
            <a:ext cx="438912" cy="438912"/>
          </a:xfrm>
          <a:prstGeom prst="ellipse">
            <a:avLst/>
          </a:prstGeom>
          <a:solidFill>
            <a:schemeClr val="accent1"/>
          </a:solidFill>
          <a:ln/>
        </p:spPr>
      </p:sp>
      <p:pic>
        <p:nvPicPr>
          <p:cNvPr id="26" name="Image 4" descr="FiCheckSquare">    </p:cNvPr>
          <p:cNvPicPr>
            <a:picLocks noChangeAspect="1"/>
          </p:cNvPicPr>
          <p:nvPr/>
        </p:nvPicPr>
        <p:blipFill>
          <a:blip r:embed="rId5"/>
          <a:stretch>
            <a:fillRect/>
          </a:stretch>
        </p:blipFill>
        <p:spPr>
          <a:xfrm>
            <a:off x="3535680" y="2903220"/>
            <a:ext cx="219456" cy="219456"/>
          </a:xfrm>
          <a:prstGeom prst="rect">
            <a:avLst/>
          </a:prstGeom>
        </p:spPr>
      </p:pic>
      <p:sp>
        <p:nvSpPr>
          <p:cNvPr id="27" name="Text 19"/>
          <p:cNvSpPr txBox="1"/>
          <p:nvPr/>
        </p:nvSpPr>
        <p:spPr>
          <a:xfrm>
            <a:off x="3974592" y="27569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Verificare con proporzione</a:t>
            </a:r>
            <a:endParaRPr lang="en-US" sz="1300" dirty="0"/>
          </a:p>
        </p:txBody>
      </p:sp>
      <p:sp>
        <p:nvSpPr>
          <p:cNvPr id="28" name="Text 20"/>
          <p:cNvSpPr txBox="1"/>
          <p:nvPr/>
        </p:nvSpPr>
        <p:spPr>
          <a:xfrm>
            <a:off x="3425952" y="3342132"/>
            <a:ext cx="2292096" cy="544068"/>
          </a:xfrm>
          <a:prstGeom prst="rect">
            <a:avLst/>
          </a:prstGeom>
          <a:noFill/>
          <a:ln/>
        </p:spPr>
        <p:txBody>
          <a:bodyPr wrap="square" lIns="0" tIns="0" rIns="0" bIns="0" rtlCol="0" anchor="t"/>
          <a:lstStyle/>
          <a:p>
            <a:pPr indent="0" marL="0">
              <a:buNone/>
            </a:pPr>
            <a:r>
              <a:rPr lang="en-US" sz="1200" dirty="0">
                <a:solidFill>
                  <a:schemeClr val="tx2"/>
                </a:solidFill>
              </a:rPr>
              <a:t>Secondo le conseguenze di un errore</a:t>
            </a:r>
            <a:endParaRPr lang="en-US" sz="1200" dirty="0"/>
          </a:p>
        </p:txBody>
      </p:sp>
      <p:sp>
        <p:nvSpPr>
          <p:cNvPr id="29" name="Decidere in prima persona"/>
          <p:cNvSpPr/>
          <p:nvPr/>
        </p:nvSpPr>
        <p:spPr>
          <a:xfrm>
            <a:off x="6065520" y="2628900"/>
            <a:ext cx="2621280" cy="1348740"/>
          </a:xfrm>
          <a:prstGeom prst="roundRect">
            <a:avLst>
              <a:gd name="adj" fmla="val 5424"/>
            </a:avLst>
          </a:prstGeom>
          <a:solidFill>
            <a:schemeClr val="bg2"/>
          </a:solidFill>
          <a:ln/>
        </p:spPr>
      </p:sp>
      <p:sp>
        <p:nvSpPr>
          <p:cNvPr id="30" name="cerchio FiUserCheck"/>
          <p:cNvSpPr/>
          <p:nvPr/>
        </p:nvSpPr>
        <p:spPr>
          <a:xfrm>
            <a:off x="6230112" y="2793492"/>
            <a:ext cx="438912" cy="438912"/>
          </a:xfrm>
          <a:prstGeom prst="ellipse">
            <a:avLst/>
          </a:prstGeom>
          <a:solidFill>
            <a:schemeClr val="accent1"/>
          </a:solidFill>
          <a:ln/>
        </p:spPr>
      </p:sp>
      <p:pic>
        <p:nvPicPr>
          <p:cNvPr id="31" name="Image 5" descr="FiUserCheck">    </p:cNvPr>
          <p:cNvPicPr>
            <a:picLocks noChangeAspect="1"/>
          </p:cNvPicPr>
          <p:nvPr/>
        </p:nvPicPr>
        <p:blipFill>
          <a:blip r:embed="rId6"/>
          <a:stretch>
            <a:fillRect/>
          </a:stretch>
        </p:blipFill>
        <p:spPr>
          <a:xfrm>
            <a:off x="6339840" y="2903220"/>
            <a:ext cx="219456" cy="219456"/>
          </a:xfrm>
          <a:prstGeom prst="rect">
            <a:avLst/>
          </a:prstGeom>
        </p:spPr>
      </p:pic>
      <p:sp>
        <p:nvSpPr>
          <p:cNvPr id="32" name="Text 23"/>
          <p:cNvSpPr txBox="1"/>
          <p:nvPr/>
        </p:nvSpPr>
        <p:spPr>
          <a:xfrm>
            <a:off x="6778752" y="27569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Decidere in prima persona</a:t>
            </a:r>
            <a:endParaRPr lang="en-US" sz="1300" dirty="0"/>
          </a:p>
        </p:txBody>
      </p:sp>
      <p:sp>
        <p:nvSpPr>
          <p:cNvPr id="33" name="Text 24"/>
          <p:cNvSpPr txBox="1"/>
          <p:nvPr/>
        </p:nvSpPr>
        <p:spPr>
          <a:xfrm>
            <a:off x="6230112" y="3342132"/>
            <a:ext cx="2292096" cy="544068"/>
          </a:xfrm>
          <a:prstGeom prst="rect">
            <a:avLst/>
          </a:prstGeom>
          <a:noFill/>
          <a:ln/>
        </p:spPr>
        <p:txBody>
          <a:bodyPr wrap="square" lIns="0" tIns="0" rIns="0" bIns="0" rtlCol="0" anchor="t"/>
          <a:lstStyle/>
          <a:p>
            <a:pPr indent="0" marL="0">
              <a:buNone/>
            </a:pPr>
            <a:r>
              <a:rPr lang="en-US" sz="1200" dirty="0">
                <a:solidFill>
                  <a:schemeClr val="tx2"/>
                </a:solidFill>
              </a:rPr>
              <a:t>L'AI propone, la persona decide</a:t>
            </a:r>
            <a:endParaRPr lang="en-US" sz="1200" dirty="0"/>
          </a:p>
        </p:txBody>
      </p:sp>
      <p:sp>
        <p:nvSpPr>
          <p:cNvPr id="34" name="messaggio"/>
          <p:cNvSpPr/>
          <p:nvPr/>
        </p:nvSpPr>
        <p:spPr>
          <a:xfrm>
            <a:off x="457200" y="4114800"/>
            <a:ext cx="8229600" cy="457200"/>
          </a:xfrm>
          <a:prstGeom prst="roundRect">
            <a:avLst>
              <a:gd name="adj" fmla="val 16000"/>
            </a:avLst>
          </a:prstGeom>
          <a:solidFill>
            <a:schemeClr val="tx1"/>
          </a:solidFill>
          <a:ln/>
        </p:spPr>
      </p:sp>
      <p:sp>
        <p:nvSpPr>
          <p:cNvPr id="35" name="Text 26"/>
          <p:cNvSpPr txBox="1"/>
          <p:nvPr/>
        </p:nvSpPr>
        <p:spPr>
          <a:xfrm>
            <a:off x="640080" y="4114800"/>
            <a:ext cx="7863840" cy="457200"/>
          </a:xfrm>
          <a:prstGeom prst="rect">
            <a:avLst/>
          </a:prstGeom>
          <a:noFill/>
          <a:ln/>
        </p:spPr>
        <p:txBody>
          <a:bodyPr wrap="square" lIns="0" tIns="0" rIns="0" bIns="0" rtlCol="0" anchor="ctr"/>
          <a:lstStyle/>
          <a:p>
            <a:pPr indent="0" marL="0">
              <a:buNone/>
            </a:pPr>
            <a:r>
              <a:rPr lang="en-US" sz="1300" dirty="0">
                <a:solidFill>
                  <a:schemeClr val="bg1"/>
                </a:solidFill>
              </a:rPr>
              <a:t>Queste pratiche non riducono il valore dell'AI: lo rendono sostenibile nel tempo.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Un'interazione naturale e convincente non attribuisce al sistema intenzionalità, giudizio umano o responsabilità decisionale.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5.7  ·  Limiti e rischi della relazione conversazionale</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domande guida: le nostre risposte</a:t>
            </a:r>
            <a:endParaRPr lang="en-US" sz="2600" dirty="0"/>
          </a:p>
        </p:txBody>
      </p:sp>
      <p:sp>
        <p:nvSpPr>
          <p:cNvPr id="4" name="risposta 1"/>
          <p:cNvSpPr/>
          <p:nvPr/>
        </p:nvSpPr>
        <p:spPr>
          <a:xfrm>
            <a:off x="457200" y="1024128"/>
            <a:ext cx="4023360" cy="649224"/>
          </a:xfrm>
          <a:prstGeom prst="roundRect">
            <a:avLst>
              <a:gd name="adj" fmla="val 11268"/>
            </a:avLst>
          </a:prstGeom>
          <a:solidFill>
            <a:schemeClr val="bg2"/>
          </a:solidFill>
          <a:ln/>
        </p:spPr>
      </p:sp>
      <p:sp>
        <p:nvSpPr>
          <p:cNvPr id="5" name="Text 2"/>
          <p:cNvSpPr txBox="1"/>
          <p:nvPr/>
        </p:nvSpPr>
        <p:spPr>
          <a:xfrm>
            <a:off x="566928" y="1024128"/>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1</a:t>
            </a:r>
            <a:endParaRPr lang="en-US" sz="1600" dirty="0"/>
          </a:p>
        </p:txBody>
      </p:sp>
      <p:sp>
        <p:nvSpPr>
          <p:cNvPr id="6" name="Text 3"/>
          <p:cNvSpPr txBox="1"/>
          <p:nvPr/>
        </p:nvSpPr>
        <p:spPr>
          <a:xfrm>
            <a:off x="960120" y="1069848"/>
            <a:ext cx="3429000" cy="274320"/>
          </a:xfrm>
          <a:prstGeom prst="rect">
            <a:avLst/>
          </a:prstGeom>
          <a:noFill/>
          <a:ln/>
        </p:spPr>
        <p:txBody>
          <a:bodyPr wrap="square" lIns="0" tIns="0" rIns="0" bIns="0" rtlCol="0" anchor="t"/>
          <a:lstStyle/>
          <a:p>
            <a:pPr indent="0" marL="0">
              <a:buNone/>
            </a:pPr>
            <a:r>
              <a:rPr lang="en-US" sz="1200" b="1" dirty="0">
                <a:solidFill>
                  <a:schemeClr val="tx1"/>
                </a:solidFill>
              </a:rPr>
              <a:t>Linguaggio naturale come interfaccia?</a:t>
            </a:r>
            <a:endParaRPr lang="en-US" sz="1200" dirty="0"/>
          </a:p>
        </p:txBody>
      </p:sp>
      <p:sp>
        <p:nvSpPr>
          <p:cNvPr id="7" name="Text 4"/>
          <p:cNvSpPr txBox="1"/>
          <p:nvPr/>
        </p:nvSpPr>
        <p:spPr>
          <a:xfrm>
            <a:off x="960120" y="1353312"/>
            <a:ext cx="3429000" cy="274320"/>
          </a:xfrm>
          <a:prstGeom prst="rect">
            <a:avLst/>
          </a:prstGeom>
          <a:noFill/>
          <a:ln/>
        </p:spPr>
        <p:txBody>
          <a:bodyPr wrap="square" lIns="0" tIns="0" rIns="0" bIns="0" rtlCol="0" anchor="t"/>
          <a:lstStyle/>
          <a:p>
            <a:pPr indent="0" marL="0">
              <a:buNone/>
            </a:pPr>
            <a:r>
              <a:rPr lang="en-US" sz="1100" dirty="0">
                <a:solidFill>
                  <a:schemeClr val="tx2"/>
                </a:solidFill>
              </a:rPr>
              <a:t>Dal come al che cosa: accessibile ma ambiguo</a:t>
            </a:r>
            <a:endParaRPr lang="en-US" sz="1100" dirty="0"/>
          </a:p>
        </p:txBody>
      </p:sp>
      <p:sp>
        <p:nvSpPr>
          <p:cNvPr id="8" name="risposta 2"/>
          <p:cNvSpPr/>
          <p:nvPr/>
        </p:nvSpPr>
        <p:spPr>
          <a:xfrm>
            <a:off x="4663440" y="1024128"/>
            <a:ext cx="4023360" cy="649224"/>
          </a:xfrm>
          <a:prstGeom prst="roundRect">
            <a:avLst>
              <a:gd name="adj" fmla="val 11268"/>
            </a:avLst>
          </a:prstGeom>
          <a:solidFill>
            <a:schemeClr val="bg2"/>
          </a:solidFill>
          <a:ln/>
        </p:spPr>
      </p:sp>
      <p:sp>
        <p:nvSpPr>
          <p:cNvPr id="9" name="Text 6"/>
          <p:cNvSpPr txBox="1"/>
          <p:nvPr/>
        </p:nvSpPr>
        <p:spPr>
          <a:xfrm>
            <a:off x="4773168" y="1024128"/>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2</a:t>
            </a:r>
            <a:endParaRPr lang="en-US" sz="1600" dirty="0"/>
          </a:p>
        </p:txBody>
      </p:sp>
      <p:sp>
        <p:nvSpPr>
          <p:cNvPr id="10" name="Text 7"/>
          <p:cNvSpPr txBox="1"/>
          <p:nvPr/>
        </p:nvSpPr>
        <p:spPr>
          <a:xfrm>
            <a:off x="5166360" y="1069848"/>
            <a:ext cx="3429000" cy="274320"/>
          </a:xfrm>
          <a:prstGeom prst="rect">
            <a:avLst/>
          </a:prstGeom>
          <a:noFill/>
          <a:ln/>
        </p:spPr>
        <p:txBody>
          <a:bodyPr wrap="square" lIns="0" tIns="0" rIns="0" bIns="0" rtlCol="0" anchor="t"/>
          <a:lstStyle/>
          <a:p>
            <a:pPr indent="0" marL="0">
              <a:buNone/>
            </a:pPr>
            <a:r>
              <a:rPr lang="en-US" sz="1200" b="1" dirty="0">
                <a:solidFill>
                  <a:schemeClr val="tx1"/>
                </a:solidFill>
              </a:rPr>
              <a:t>Perché un dialogo?</a:t>
            </a:r>
            <a:endParaRPr lang="en-US" sz="1200" dirty="0"/>
          </a:p>
        </p:txBody>
      </p:sp>
      <p:sp>
        <p:nvSpPr>
          <p:cNvPr id="11" name="Text 8"/>
          <p:cNvSpPr txBox="1"/>
          <p:nvPr/>
        </p:nvSpPr>
        <p:spPr>
          <a:xfrm>
            <a:off x="5166360" y="1353312"/>
            <a:ext cx="3429000" cy="274320"/>
          </a:xfrm>
          <a:prstGeom prst="rect">
            <a:avLst/>
          </a:prstGeom>
          <a:noFill/>
          <a:ln/>
        </p:spPr>
        <p:txBody>
          <a:bodyPr wrap="square" lIns="0" tIns="0" rIns="0" bIns="0" rtlCol="0" anchor="t"/>
          <a:lstStyle/>
          <a:p>
            <a:pPr indent="0" marL="0">
              <a:buNone/>
            </a:pPr>
            <a:r>
              <a:rPr lang="en-US" sz="1100" dirty="0">
                <a:solidFill>
                  <a:schemeClr val="tx2"/>
                </a:solidFill>
              </a:rPr>
              <a:t>La qualità si costruisce in più scambi</a:t>
            </a:r>
            <a:endParaRPr lang="en-US" sz="1100" dirty="0"/>
          </a:p>
        </p:txBody>
      </p:sp>
      <p:sp>
        <p:nvSpPr>
          <p:cNvPr id="12" name="risposta 3"/>
          <p:cNvSpPr/>
          <p:nvPr/>
        </p:nvSpPr>
        <p:spPr>
          <a:xfrm>
            <a:off x="457200" y="1746504"/>
            <a:ext cx="4023360" cy="649224"/>
          </a:xfrm>
          <a:prstGeom prst="roundRect">
            <a:avLst>
              <a:gd name="adj" fmla="val 11268"/>
            </a:avLst>
          </a:prstGeom>
          <a:solidFill>
            <a:schemeClr val="bg2"/>
          </a:solidFill>
          <a:ln/>
        </p:spPr>
      </p:sp>
      <p:sp>
        <p:nvSpPr>
          <p:cNvPr id="13" name="Text 10"/>
          <p:cNvSpPr txBox="1"/>
          <p:nvPr/>
        </p:nvSpPr>
        <p:spPr>
          <a:xfrm>
            <a:off x="566928" y="1746504"/>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3</a:t>
            </a:r>
            <a:endParaRPr lang="en-US" sz="1600" dirty="0"/>
          </a:p>
        </p:txBody>
      </p:sp>
      <p:sp>
        <p:nvSpPr>
          <p:cNvPr id="14" name="Text 11"/>
          <p:cNvSpPr txBox="1"/>
          <p:nvPr/>
        </p:nvSpPr>
        <p:spPr>
          <a:xfrm>
            <a:off x="960120" y="1792224"/>
            <a:ext cx="3429000" cy="274320"/>
          </a:xfrm>
          <a:prstGeom prst="rect">
            <a:avLst/>
          </a:prstGeom>
          <a:noFill/>
          <a:ln/>
        </p:spPr>
        <p:txBody>
          <a:bodyPr wrap="square" lIns="0" tIns="0" rIns="0" bIns="0" rtlCol="0" anchor="t"/>
          <a:lstStyle/>
          <a:p>
            <a:pPr indent="0" marL="0">
              <a:buNone/>
            </a:pPr>
            <a:r>
              <a:rPr lang="en-US" sz="1200" b="1" dirty="0">
                <a:solidFill>
                  <a:schemeClr val="tx1"/>
                </a:solidFill>
              </a:rPr>
              <a:t>L'AI che pone domande?</a:t>
            </a:r>
            <a:endParaRPr lang="en-US" sz="1200" dirty="0"/>
          </a:p>
        </p:txBody>
      </p:sp>
      <p:sp>
        <p:nvSpPr>
          <p:cNvPr id="15" name="Text 12"/>
          <p:cNvSpPr txBox="1"/>
          <p:nvPr/>
        </p:nvSpPr>
        <p:spPr>
          <a:xfrm>
            <a:off x="960120" y="2075688"/>
            <a:ext cx="3429000" cy="274320"/>
          </a:xfrm>
          <a:prstGeom prst="rect">
            <a:avLst/>
          </a:prstGeom>
          <a:noFill/>
          <a:ln/>
        </p:spPr>
        <p:txBody>
          <a:bodyPr wrap="square" lIns="0" tIns="0" rIns="0" bIns="0" rtlCol="0" anchor="t"/>
          <a:lstStyle/>
          <a:p>
            <a:pPr indent="0" marL="0">
              <a:buNone/>
            </a:pPr>
            <a:r>
              <a:rPr lang="en-US" sz="1100" dirty="0">
                <a:solidFill>
                  <a:schemeClr val="tx2"/>
                </a:solidFill>
              </a:rPr>
              <a:t>Chiarisce esigenze, assunzioni, lacune</a:t>
            </a:r>
            <a:endParaRPr lang="en-US" sz="1100" dirty="0"/>
          </a:p>
        </p:txBody>
      </p:sp>
      <p:sp>
        <p:nvSpPr>
          <p:cNvPr id="16" name="risposta 4"/>
          <p:cNvSpPr/>
          <p:nvPr/>
        </p:nvSpPr>
        <p:spPr>
          <a:xfrm>
            <a:off x="4663440" y="1746504"/>
            <a:ext cx="4023360" cy="649224"/>
          </a:xfrm>
          <a:prstGeom prst="roundRect">
            <a:avLst>
              <a:gd name="adj" fmla="val 11268"/>
            </a:avLst>
          </a:prstGeom>
          <a:solidFill>
            <a:schemeClr val="bg2"/>
          </a:solidFill>
          <a:ln/>
        </p:spPr>
      </p:sp>
      <p:sp>
        <p:nvSpPr>
          <p:cNvPr id="17" name="Text 14"/>
          <p:cNvSpPr txBox="1"/>
          <p:nvPr/>
        </p:nvSpPr>
        <p:spPr>
          <a:xfrm>
            <a:off x="4773168" y="1746504"/>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4</a:t>
            </a:r>
            <a:endParaRPr lang="en-US" sz="1600" dirty="0"/>
          </a:p>
        </p:txBody>
      </p:sp>
      <p:sp>
        <p:nvSpPr>
          <p:cNvPr id="18" name="Text 15"/>
          <p:cNvSpPr txBox="1"/>
          <p:nvPr/>
        </p:nvSpPr>
        <p:spPr>
          <a:xfrm>
            <a:off x="5166360" y="1792224"/>
            <a:ext cx="3429000" cy="274320"/>
          </a:xfrm>
          <a:prstGeom prst="rect">
            <a:avLst/>
          </a:prstGeom>
          <a:noFill/>
          <a:ln/>
        </p:spPr>
        <p:txBody>
          <a:bodyPr wrap="square" lIns="0" tIns="0" rIns="0" bIns="0" rtlCol="0" anchor="t"/>
          <a:lstStyle/>
          <a:p>
            <a:pPr indent="0" marL="0">
              <a:buNone/>
            </a:pPr>
            <a:r>
              <a:rPr lang="en-US" sz="1200" b="1" dirty="0">
                <a:solidFill>
                  <a:schemeClr val="tx1"/>
                </a:solidFill>
              </a:rPr>
              <a:t>Ruoli e competenze?</a:t>
            </a:r>
            <a:endParaRPr lang="en-US" sz="1200" dirty="0"/>
          </a:p>
        </p:txBody>
      </p:sp>
      <p:sp>
        <p:nvSpPr>
          <p:cNvPr id="19" name="Text 16"/>
          <p:cNvSpPr txBox="1"/>
          <p:nvPr/>
        </p:nvSpPr>
        <p:spPr>
          <a:xfrm>
            <a:off x="5166360" y="2075688"/>
            <a:ext cx="3429000" cy="274320"/>
          </a:xfrm>
          <a:prstGeom prst="rect">
            <a:avLst/>
          </a:prstGeom>
          <a:noFill/>
          <a:ln/>
        </p:spPr>
        <p:txBody>
          <a:bodyPr wrap="square" lIns="0" tIns="0" rIns="0" bIns="0" rtlCol="0" anchor="t"/>
          <a:lstStyle/>
          <a:p>
            <a:pPr indent="0" marL="0">
              <a:buNone/>
            </a:pPr>
            <a:r>
              <a:rPr lang="en-US" sz="1100" dirty="0">
                <a:solidFill>
                  <a:schemeClr val="tx2"/>
                </a:solidFill>
              </a:rPr>
              <a:t>Il ruolo orienta, non crea competenze</a:t>
            </a:r>
            <a:endParaRPr lang="en-US" sz="1100" dirty="0"/>
          </a:p>
        </p:txBody>
      </p:sp>
      <p:sp>
        <p:nvSpPr>
          <p:cNvPr id="20" name="risposta 5"/>
          <p:cNvSpPr/>
          <p:nvPr/>
        </p:nvSpPr>
        <p:spPr>
          <a:xfrm>
            <a:off x="457200" y="2468880"/>
            <a:ext cx="4023360" cy="649224"/>
          </a:xfrm>
          <a:prstGeom prst="roundRect">
            <a:avLst>
              <a:gd name="adj" fmla="val 11268"/>
            </a:avLst>
          </a:prstGeom>
          <a:solidFill>
            <a:schemeClr val="bg2"/>
          </a:solidFill>
          <a:ln/>
        </p:spPr>
      </p:sp>
      <p:sp>
        <p:nvSpPr>
          <p:cNvPr id="21" name="Text 18"/>
          <p:cNvSpPr txBox="1"/>
          <p:nvPr/>
        </p:nvSpPr>
        <p:spPr>
          <a:xfrm>
            <a:off x="566928" y="2468880"/>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5</a:t>
            </a:r>
            <a:endParaRPr lang="en-US" sz="1600" dirty="0"/>
          </a:p>
        </p:txBody>
      </p:sp>
      <p:sp>
        <p:nvSpPr>
          <p:cNvPr id="22" name="Text 19"/>
          <p:cNvSpPr txBox="1"/>
          <p:nvPr/>
        </p:nvSpPr>
        <p:spPr>
          <a:xfrm>
            <a:off x="960120" y="2514600"/>
            <a:ext cx="3429000" cy="274320"/>
          </a:xfrm>
          <a:prstGeom prst="rect">
            <a:avLst/>
          </a:prstGeom>
          <a:noFill/>
          <a:ln/>
        </p:spPr>
        <p:txBody>
          <a:bodyPr wrap="square" lIns="0" tIns="0" rIns="0" bIns="0" rtlCol="0" anchor="t"/>
          <a:lstStyle/>
          <a:p>
            <a:pPr indent="0" marL="0">
              <a:buNone/>
            </a:pPr>
            <a:r>
              <a:rPr lang="en-US" sz="1200" b="1" dirty="0">
                <a:solidFill>
                  <a:schemeClr val="tx1"/>
                </a:solidFill>
              </a:rPr>
              <a:t>Collaborazione efficace?</a:t>
            </a:r>
            <a:endParaRPr lang="en-US" sz="1200" dirty="0"/>
          </a:p>
        </p:txBody>
      </p:sp>
      <p:sp>
        <p:nvSpPr>
          <p:cNvPr id="23" name="Text 20"/>
          <p:cNvSpPr txBox="1"/>
          <p:nvPr/>
        </p:nvSpPr>
        <p:spPr>
          <a:xfrm>
            <a:off x="960120" y="2798064"/>
            <a:ext cx="3429000" cy="274320"/>
          </a:xfrm>
          <a:prstGeom prst="rect">
            <a:avLst/>
          </a:prstGeom>
          <a:noFill/>
          <a:ln/>
        </p:spPr>
        <p:txBody>
          <a:bodyPr wrap="square" lIns="0" tIns="0" rIns="0" bIns="0" rtlCol="0" anchor="t"/>
          <a:lstStyle/>
          <a:p>
            <a:pPr indent="0" marL="0">
              <a:buNone/>
            </a:pPr>
            <a:r>
              <a:rPr lang="en-US" sz="1100" dirty="0">
                <a:solidFill>
                  <a:schemeClr val="tx2"/>
                </a:solidFill>
              </a:rPr>
              <a:t>Capacità complementari, validazione umana</a:t>
            </a:r>
            <a:endParaRPr lang="en-US" sz="1100" dirty="0"/>
          </a:p>
        </p:txBody>
      </p:sp>
      <p:sp>
        <p:nvSpPr>
          <p:cNvPr id="24" name="risposta 6"/>
          <p:cNvSpPr/>
          <p:nvPr/>
        </p:nvSpPr>
        <p:spPr>
          <a:xfrm>
            <a:off x="4663440" y="2468880"/>
            <a:ext cx="4023360" cy="649224"/>
          </a:xfrm>
          <a:prstGeom prst="roundRect">
            <a:avLst>
              <a:gd name="adj" fmla="val 11268"/>
            </a:avLst>
          </a:prstGeom>
          <a:solidFill>
            <a:schemeClr val="bg2"/>
          </a:solidFill>
          <a:ln/>
        </p:spPr>
      </p:sp>
      <p:sp>
        <p:nvSpPr>
          <p:cNvPr id="25" name="Text 22"/>
          <p:cNvSpPr txBox="1"/>
          <p:nvPr/>
        </p:nvSpPr>
        <p:spPr>
          <a:xfrm>
            <a:off x="4773168" y="2468880"/>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6</a:t>
            </a:r>
            <a:endParaRPr lang="en-US" sz="1600" dirty="0"/>
          </a:p>
        </p:txBody>
      </p:sp>
      <p:sp>
        <p:nvSpPr>
          <p:cNvPr id="26" name="Text 23"/>
          <p:cNvSpPr txBox="1"/>
          <p:nvPr/>
        </p:nvSpPr>
        <p:spPr>
          <a:xfrm>
            <a:off x="5166360" y="2514600"/>
            <a:ext cx="3429000" cy="274320"/>
          </a:xfrm>
          <a:prstGeom prst="rect">
            <a:avLst/>
          </a:prstGeom>
          <a:noFill/>
          <a:ln/>
        </p:spPr>
        <p:txBody>
          <a:bodyPr wrap="square" lIns="0" tIns="0" rIns="0" bIns="0" rtlCol="0" anchor="t"/>
          <a:lstStyle/>
          <a:p>
            <a:pPr indent="0" marL="0">
              <a:buNone/>
            </a:pPr>
            <a:r>
              <a:rPr lang="en-US" sz="1200" b="1" dirty="0">
                <a:solidFill>
                  <a:schemeClr val="tx1"/>
                </a:solidFill>
              </a:rPr>
              <a:t>Supporto, delega, autonomia?</a:t>
            </a:r>
            <a:endParaRPr lang="en-US" sz="1200" dirty="0"/>
          </a:p>
        </p:txBody>
      </p:sp>
      <p:sp>
        <p:nvSpPr>
          <p:cNvPr id="27" name="Text 24"/>
          <p:cNvSpPr txBox="1"/>
          <p:nvPr/>
        </p:nvSpPr>
        <p:spPr>
          <a:xfrm>
            <a:off x="5166360" y="2798064"/>
            <a:ext cx="3429000" cy="274320"/>
          </a:xfrm>
          <a:prstGeom prst="rect">
            <a:avLst/>
          </a:prstGeom>
          <a:noFill/>
          <a:ln/>
        </p:spPr>
        <p:txBody>
          <a:bodyPr wrap="square" lIns="0" tIns="0" rIns="0" bIns="0" rtlCol="0" anchor="t"/>
          <a:lstStyle/>
          <a:p>
            <a:pPr indent="0" marL="0">
              <a:buNone/>
            </a:pPr>
            <a:r>
              <a:rPr lang="en-US" sz="1100" dirty="0">
                <a:solidFill>
                  <a:schemeClr val="tx2"/>
                </a:solidFill>
              </a:rPr>
              <a:t>Livelli da scegliere su compito e rischi</a:t>
            </a:r>
            <a:endParaRPr lang="en-US" sz="1100" dirty="0"/>
          </a:p>
        </p:txBody>
      </p:sp>
      <p:sp>
        <p:nvSpPr>
          <p:cNvPr id="28" name="risposta 7"/>
          <p:cNvSpPr/>
          <p:nvPr/>
        </p:nvSpPr>
        <p:spPr>
          <a:xfrm>
            <a:off x="457200" y="3191256"/>
            <a:ext cx="4023360" cy="649224"/>
          </a:xfrm>
          <a:prstGeom prst="roundRect">
            <a:avLst>
              <a:gd name="adj" fmla="val 11268"/>
            </a:avLst>
          </a:prstGeom>
          <a:solidFill>
            <a:schemeClr val="bg2"/>
          </a:solidFill>
          <a:ln/>
        </p:spPr>
      </p:sp>
      <p:sp>
        <p:nvSpPr>
          <p:cNvPr id="29" name="Text 26"/>
          <p:cNvSpPr txBox="1"/>
          <p:nvPr/>
        </p:nvSpPr>
        <p:spPr>
          <a:xfrm>
            <a:off x="566928" y="3191256"/>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7</a:t>
            </a:r>
            <a:endParaRPr lang="en-US" sz="1600" dirty="0"/>
          </a:p>
        </p:txBody>
      </p:sp>
      <p:sp>
        <p:nvSpPr>
          <p:cNvPr id="30" name="Text 27"/>
          <p:cNvSpPr txBox="1"/>
          <p:nvPr/>
        </p:nvSpPr>
        <p:spPr>
          <a:xfrm>
            <a:off x="960120" y="3236976"/>
            <a:ext cx="3429000" cy="274320"/>
          </a:xfrm>
          <a:prstGeom prst="rect">
            <a:avLst/>
          </a:prstGeom>
          <a:noFill/>
          <a:ln/>
        </p:spPr>
        <p:txBody>
          <a:bodyPr wrap="square" lIns="0" tIns="0" rIns="0" bIns="0" rtlCol="0" anchor="t"/>
          <a:lstStyle/>
          <a:p>
            <a:pPr indent="0" marL="0">
              <a:buNone/>
            </a:pPr>
            <a:r>
              <a:rPr lang="en-US" sz="1200" b="1" dirty="0">
                <a:solidFill>
                  <a:schemeClr val="tx1"/>
                </a:solidFill>
              </a:rPr>
              <a:t>Competenze personali?</a:t>
            </a:r>
            <a:endParaRPr lang="en-US" sz="1200" dirty="0"/>
          </a:p>
        </p:txBody>
      </p:sp>
      <p:sp>
        <p:nvSpPr>
          <p:cNvPr id="31" name="Text 28"/>
          <p:cNvSpPr txBox="1"/>
          <p:nvPr/>
        </p:nvSpPr>
        <p:spPr>
          <a:xfrm>
            <a:off x="960120" y="3520440"/>
            <a:ext cx="3429000" cy="274320"/>
          </a:xfrm>
          <a:prstGeom prst="rect">
            <a:avLst/>
          </a:prstGeom>
          <a:noFill/>
          <a:ln/>
        </p:spPr>
        <p:txBody>
          <a:bodyPr wrap="square" lIns="0" tIns="0" rIns="0" bIns="0" rtlCol="0" anchor="t"/>
          <a:lstStyle/>
          <a:p>
            <a:pPr indent="0" marL="0">
              <a:buNone/>
            </a:pPr>
            <a:r>
              <a:rPr lang="en-US" sz="1100" dirty="0">
                <a:solidFill>
                  <a:schemeClr val="tx2"/>
                </a:solidFill>
              </a:rPr>
              <a:t>Obiettivi, contesto, dominio, feedback</a:t>
            </a:r>
            <a:endParaRPr lang="en-US" sz="1100" dirty="0"/>
          </a:p>
        </p:txBody>
      </p:sp>
      <p:sp>
        <p:nvSpPr>
          <p:cNvPr id="32" name="risposta 8"/>
          <p:cNvSpPr/>
          <p:nvPr/>
        </p:nvSpPr>
        <p:spPr>
          <a:xfrm>
            <a:off x="4663440" y="3191256"/>
            <a:ext cx="4023360" cy="649224"/>
          </a:xfrm>
          <a:prstGeom prst="roundRect">
            <a:avLst>
              <a:gd name="adj" fmla="val 11268"/>
            </a:avLst>
          </a:prstGeom>
          <a:solidFill>
            <a:schemeClr val="bg2"/>
          </a:solidFill>
          <a:ln/>
        </p:spPr>
      </p:sp>
      <p:sp>
        <p:nvSpPr>
          <p:cNvPr id="33" name="Text 30"/>
          <p:cNvSpPr txBox="1"/>
          <p:nvPr/>
        </p:nvSpPr>
        <p:spPr>
          <a:xfrm>
            <a:off x="4773168" y="3191256"/>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8</a:t>
            </a:r>
            <a:endParaRPr lang="en-US" sz="1600" dirty="0"/>
          </a:p>
        </p:txBody>
      </p:sp>
      <p:sp>
        <p:nvSpPr>
          <p:cNvPr id="34" name="Text 31"/>
          <p:cNvSpPr txBox="1"/>
          <p:nvPr/>
        </p:nvSpPr>
        <p:spPr>
          <a:xfrm>
            <a:off x="5166360" y="3236976"/>
            <a:ext cx="3429000" cy="274320"/>
          </a:xfrm>
          <a:prstGeom prst="rect">
            <a:avLst/>
          </a:prstGeom>
          <a:noFill/>
          <a:ln/>
        </p:spPr>
        <p:txBody>
          <a:bodyPr wrap="square" lIns="0" tIns="0" rIns="0" bIns="0" rtlCol="0" anchor="t"/>
          <a:lstStyle/>
          <a:p>
            <a:pPr indent="0" marL="0">
              <a:buNone/>
            </a:pPr>
            <a:r>
              <a:rPr lang="en-US" sz="1200" b="1" dirty="0">
                <a:solidFill>
                  <a:schemeClr val="tx1"/>
                </a:solidFill>
              </a:rPr>
              <a:t>Mettere alla prova un'ipotesi?</a:t>
            </a:r>
            <a:endParaRPr lang="en-US" sz="1200" dirty="0"/>
          </a:p>
        </p:txBody>
      </p:sp>
      <p:sp>
        <p:nvSpPr>
          <p:cNvPr id="35" name="Text 32"/>
          <p:cNvSpPr txBox="1"/>
          <p:nvPr/>
        </p:nvSpPr>
        <p:spPr>
          <a:xfrm>
            <a:off x="5166360" y="3520440"/>
            <a:ext cx="3429000" cy="274320"/>
          </a:xfrm>
          <a:prstGeom prst="rect">
            <a:avLst/>
          </a:prstGeom>
          <a:noFill/>
          <a:ln/>
        </p:spPr>
        <p:txBody>
          <a:bodyPr wrap="square" lIns="0" tIns="0" rIns="0" bIns="0" rtlCol="0" anchor="t"/>
          <a:lstStyle/>
          <a:p>
            <a:pPr indent="0" marL="0">
              <a:buNone/>
            </a:pPr>
            <a:r>
              <a:rPr lang="en-US" sz="1100" dirty="0">
                <a:solidFill>
                  <a:schemeClr val="tx2"/>
                </a:solidFill>
              </a:rPr>
              <a:t>Obiezioni, alternative, assunzioni</a:t>
            </a:r>
            <a:endParaRPr lang="en-US" sz="1100" dirty="0"/>
          </a:p>
        </p:txBody>
      </p:sp>
      <p:sp>
        <p:nvSpPr>
          <p:cNvPr id="36" name="risposta 9"/>
          <p:cNvSpPr/>
          <p:nvPr/>
        </p:nvSpPr>
        <p:spPr>
          <a:xfrm>
            <a:off x="457200" y="3913632"/>
            <a:ext cx="4023360" cy="649224"/>
          </a:xfrm>
          <a:prstGeom prst="roundRect">
            <a:avLst>
              <a:gd name="adj" fmla="val 11268"/>
            </a:avLst>
          </a:prstGeom>
          <a:solidFill>
            <a:schemeClr val="bg2"/>
          </a:solidFill>
          <a:ln/>
        </p:spPr>
      </p:sp>
      <p:sp>
        <p:nvSpPr>
          <p:cNvPr id="37" name="Text 34"/>
          <p:cNvSpPr txBox="1"/>
          <p:nvPr/>
        </p:nvSpPr>
        <p:spPr>
          <a:xfrm>
            <a:off x="566928" y="3913632"/>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9</a:t>
            </a:r>
            <a:endParaRPr lang="en-US" sz="1600" dirty="0"/>
          </a:p>
        </p:txBody>
      </p:sp>
      <p:sp>
        <p:nvSpPr>
          <p:cNvPr id="38" name="Text 35"/>
          <p:cNvSpPr txBox="1"/>
          <p:nvPr/>
        </p:nvSpPr>
        <p:spPr>
          <a:xfrm>
            <a:off x="960120" y="3959352"/>
            <a:ext cx="3429000" cy="274320"/>
          </a:xfrm>
          <a:prstGeom prst="rect">
            <a:avLst/>
          </a:prstGeom>
          <a:noFill/>
          <a:ln/>
        </p:spPr>
        <p:txBody>
          <a:bodyPr wrap="square" lIns="0" tIns="0" rIns="0" bIns="0" rtlCol="0" anchor="t"/>
          <a:lstStyle/>
          <a:p>
            <a:pPr indent="0" marL="0">
              <a:buNone/>
            </a:pPr>
            <a:r>
              <a:rPr lang="en-US" sz="1200" b="1" dirty="0">
                <a:solidFill>
                  <a:schemeClr val="tx1"/>
                </a:solidFill>
              </a:rPr>
              <a:t>Rischi della relazione?</a:t>
            </a:r>
            <a:endParaRPr lang="en-US" sz="1200" dirty="0"/>
          </a:p>
        </p:txBody>
      </p:sp>
      <p:sp>
        <p:nvSpPr>
          <p:cNvPr id="39" name="Text 36"/>
          <p:cNvSpPr txBox="1"/>
          <p:nvPr/>
        </p:nvSpPr>
        <p:spPr>
          <a:xfrm>
            <a:off x="960120" y="4242816"/>
            <a:ext cx="3429000" cy="274320"/>
          </a:xfrm>
          <a:prstGeom prst="rect">
            <a:avLst/>
          </a:prstGeom>
          <a:noFill/>
          <a:ln/>
        </p:spPr>
        <p:txBody>
          <a:bodyPr wrap="square" lIns="0" tIns="0" rIns="0" bIns="0" rtlCol="0" anchor="t"/>
          <a:lstStyle/>
          <a:p>
            <a:pPr indent="0" marL="0">
              <a:buNone/>
            </a:pPr>
            <a:r>
              <a:rPr lang="en-US" sz="1100" dirty="0">
                <a:solidFill>
                  <a:schemeClr val="tx2"/>
                </a:solidFill>
              </a:rPr>
              <a:t>Antropomorfizzazione, fiducia, automation bias</a:t>
            </a:r>
            <a:endParaRPr lang="en-US" sz="1100" dirty="0"/>
          </a:p>
        </p:txBody>
      </p:sp>
      <p:sp>
        <p:nvSpPr>
          <p:cNvPr id="40" name="risposta 10"/>
          <p:cNvSpPr/>
          <p:nvPr/>
        </p:nvSpPr>
        <p:spPr>
          <a:xfrm>
            <a:off x="4663440" y="3913632"/>
            <a:ext cx="4023360" cy="649224"/>
          </a:xfrm>
          <a:prstGeom prst="roundRect">
            <a:avLst>
              <a:gd name="adj" fmla="val 11268"/>
            </a:avLst>
          </a:prstGeom>
          <a:solidFill>
            <a:schemeClr val="bg2"/>
          </a:solidFill>
          <a:ln/>
        </p:spPr>
      </p:sp>
      <p:sp>
        <p:nvSpPr>
          <p:cNvPr id="41" name="Text 38"/>
          <p:cNvSpPr txBox="1"/>
          <p:nvPr/>
        </p:nvSpPr>
        <p:spPr>
          <a:xfrm>
            <a:off x="4773168" y="3913632"/>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10</a:t>
            </a:r>
            <a:endParaRPr lang="en-US" sz="1600" dirty="0"/>
          </a:p>
        </p:txBody>
      </p:sp>
      <p:sp>
        <p:nvSpPr>
          <p:cNvPr id="42" name="Text 39"/>
          <p:cNvSpPr txBox="1"/>
          <p:nvPr/>
        </p:nvSpPr>
        <p:spPr>
          <a:xfrm>
            <a:off x="5166360" y="3959352"/>
            <a:ext cx="3429000" cy="274320"/>
          </a:xfrm>
          <a:prstGeom prst="rect">
            <a:avLst/>
          </a:prstGeom>
          <a:noFill/>
          <a:ln/>
        </p:spPr>
        <p:txBody>
          <a:bodyPr wrap="square" lIns="0" tIns="0" rIns="0" bIns="0" rtlCol="0" anchor="t"/>
          <a:lstStyle/>
          <a:p>
            <a:pPr indent="0" marL="0">
              <a:buNone/>
            </a:pPr>
            <a:r>
              <a:rPr lang="en-US" sz="1200" b="1" dirty="0">
                <a:solidFill>
                  <a:schemeClr val="tx1"/>
                </a:solidFill>
              </a:rPr>
              <a:t>Autonomia e responsabilità?</a:t>
            </a:r>
            <a:endParaRPr lang="en-US" sz="1200" dirty="0"/>
          </a:p>
        </p:txBody>
      </p:sp>
      <p:sp>
        <p:nvSpPr>
          <p:cNvPr id="43" name="Text 40"/>
          <p:cNvSpPr txBox="1"/>
          <p:nvPr/>
        </p:nvSpPr>
        <p:spPr>
          <a:xfrm>
            <a:off x="5166360" y="4242816"/>
            <a:ext cx="3429000" cy="274320"/>
          </a:xfrm>
          <a:prstGeom prst="rect">
            <a:avLst/>
          </a:prstGeom>
          <a:noFill/>
          <a:ln/>
        </p:spPr>
        <p:txBody>
          <a:bodyPr wrap="square" lIns="0" tIns="0" rIns="0" bIns="0" rtlCol="0" anchor="t"/>
          <a:lstStyle/>
          <a:p>
            <a:pPr indent="0" marL="0">
              <a:buNone/>
            </a:pPr>
            <a:r>
              <a:rPr lang="en-US" sz="1100" dirty="0">
                <a:solidFill>
                  <a:schemeClr val="tx2"/>
                </a:solidFill>
              </a:rPr>
              <a:t>Pensare prima, mantenere la pratica, decidere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portiamo a casa</a:t>
            </a:r>
            <a:endParaRPr lang="en-US" sz="2600" dirty="0"/>
          </a:p>
        </p:txBody>
      </p:sp>
      <p:sp>
        <p:nvSpPr>
          <p:cNvPr id="4" name="risultato 1"/>
          <p:cNvSpPr/>
          <p:nvPr/>
        </p:nvSpPr>
        <p:spPr>
          <a:xfrm>
            <a:off x="457200" y="1024128"/>
            <a:ext cx="4023360" cy="640080"/>
          </a:xfrm>
          <a:prstGeom prst="roundRect">
            <a:avLst>
              <a:gd name="adj" fmla="val 11429"/>
            </a:avLst>
          </a:prstGeom>
          <a:solidFill>
            <a:schemeClr val="bg2"/>
          </a:solidFill>
          <a:ln/>
        </p:spPr>
      </p:sp>
      <p:sp>
        <p:nvSpPr>
          <p:cNvPr id="5" name="Text 2"/>
          <p:cNvSpPr txBox="1"/>
          <p:nvPr/>
        </p:nvSpPr>
        <p:spPr>
          <a:xfrm>
            <a:off x="566928" y="1024128"/>
            <a:ext cx="411480" cy="640080"/>
          </a:xfrm>
          <a:prstGeom prst="rect">
            <a:avLst/>
          </a:prstGeom>
          <a:noFill/>
          <a:ln/>
        </p:spPr>
        <p:txBody>
          <a:bodyPr wrap="square" lIns="0" tIns="0" rIns="0" bIns="0" rtlCol="0" anchor="ctr"/>
          <a:lstStyle/>
          <a:p>
            <a:pPr indent="0" marL="0">
              <a:buNone/>
            </a:pPr>
            <a:r>
              <a:rPr lang="en-US" sz="1600" b="1" dirty="0">
                <a:solidFill>
                  <a:schemeClr val="accent1"/>
                </a:solidFill>
              </a:rPr>
              <a:t>1</a:t>
            </a:r>
            <a:endParaRPr lang="en-US" sz="1600" dirty="0"/>
          </a:p>
        </p:txBody>
      </p:sp>
      <p:sp>
        <p:nvSpPr>
          <p:cNvPr id="6" name="Text 3"/>
          <p:cNvSpPr txBox="1"/>
          <p:nvPr/>
        </p:nvSpPr>
        <p:spPr>
          <a:xfrm>
            <a:off x="960120" y="1024128"/>
            <a:ext cx="3429000" cy="640080"/>
          </a:xfrm>
          <a:prstGeom prst="rect">
            <a:avLst/>
          </a:prstGeom>
          <a:noFill/>
          <a:ln/>
        </p:spPr>
        <p:txBody>
          <a:bodyPr wrap="square" lIns="0" tIns="0" rIns="0" bIns="0" rtlCol="0" anchor="ctr"/>
          <a:lstStyle/>
          <a:p>
            <a:pPr indent="0" marL="0">
              <a:buNone/>
            </a:pPr>
            <a:r>
              <a:rPr lang="en-US" sz="1300" dirty="0">
                <a:solidFill>
                  <a:schemeClr val="tx1"/>
                </a:solidFill>
              </a:rPr>
              <a:t>Caratteristiche e limiti delle interfacce conversazionali</a:t>
            </a:r>
            <a:endParaRPr lang="en-US" sz="1300" dirty="0"/>
          </a:p>
        </p:txBody>
      </p:sp>
      <p:sp>
        <p:nvSpPr>
          <p:cNvPr id="7" name="risultato 2"/>
          <p:cNvSpPr/>
          <p:nvPr/>
        </p:nvSpPr>
        <p:spPr>
          <a:xfrm>
            <a:off x="4663440" y="1024128"/>
            <a:ext cx="4023360" cy="640080"/>
          </a:xfrm>
          <a:prstGeom prst="roundRect">
            <a:avLst>
              <a:gd name="adj" fmla="val 11429"/>
            </a:avLst>
          </a:prstGeom>
          <a:solidFill>
            <a:schemeClr val="bg2"/>
          </a:solidFill>
          <a:ln/>
        </p:spPr>
      </p:sp>
      <p:sp>
        <p:nvSpPr>
          <p:cNvPr id="8" name="Text 5"/>
          <p:cNvSpPr txBox="1"/>
          <p:nvPr/>
        </p:nvSpPr>
        <p:spPr>
          <a:xfrm>
            <a:off x="4773168" y="1024128"/>
            <a:ext cx="411480" cy="640080"/>
          </a:xfrm>
          <a:prstGeom prst="rect">
            <a:avLst/>
          </a:prstGeom>
          <a:noFill/>
          <a:ln/>
        </p:spPr>
        <p:txBody>
          <a:bodyPr wrap="square" lIns="0" tIns="0" rIns="0" bIns="0" rtlCol="0" anchor="ctr"/>
          <a:lstStyle/>
          <a:p>
            <a:pPr indent="0" marL="0">
              <a:buNone/>
            </a:pPr>
            <a:r>
              <a:rPr lang="en-US" sz="1600" b="1" dirty="0">
                <a:solidFill>
                  <a:schemeClr val="accent1"/>
                </a:solidFill>
              </a:rPr>
              <a:t>2</a:t>
            </a:r>
            <a:endParaRPr lang="en-US" sz="1600" dirty="0"/>
          </a:p>
        </p:txBody>
      </p:sp>
      <p:sp>
        <p:nvSpPr>
          <p:cNvPr id="9" name="Text 6"/>
          <p:cNvSpPr txBox="1"/>
          <p:nvPr/>
        </p:nvSpPr>
        <p:spPr>
          <a:xfrm>
            <a:off x="5166360" y="1024128"/>
            <a:ext cx="3429000" cy="640080"/>
          </a:xfrm>
          <a:prstGeom prst="rect">
            <a:avLst/>
          </a:prstGeom>
          <a:noFill/>
          <a:ln/>
        </p:spPr>
        <p:txBody>
          <a:bodyPr wrap="square" lIns="0" tIns="0" rIns="0" bIns="0" rtlCol="0" anchor="ctr"/>
          <a:lstStyle/>
          <a:p>
            <a:pPr indent="0" marL="0">
              <a:buNone/>
            </a:pPr>
            <a:r>
              <a:rPr lang="en-US" sz="1300" dirty="0">
                <a:solidFill>
                  <a:schemeClr val="tx1"/>
                </a:solidFill>
              </a:rPr>
              <a:t>Richiesta isolata e dialogo progressivo</a:t>
            </a:r>
            <a:endParaRPr lang="en-US" sz="1300" dirty="0"/>
          </a:p>
        </p:txBody>
      </p:sp>
      <p:sp>
        <p:nvSpPr>
          <p:cNvPr id="10" name="risultato 3"/>
          <p:cNvSpPr/>
          <p:nvPr/>
        </p:nvSpPr>
        <p:spPr>
          <a:xfrm>
            <a:off x="457200" y="1746504"/>
            <a:ext cx="4023360" cy="640080"/>
          </a:xfrm>
          <a:prstGeom prst="roundRect">
            <a:avLst>
              <a:gd name="adj" fmla="val 11429"/>
            </a:avLst>
          </a:prstGeom>
          <a:solidFill>
            <a:schemeClr val="bg1"/>
          </a:solidFill>
          <a:ln/>
        </p:spPr>
      </p:sp>
      <p:sp>
        <p:nvSpPr>
          <p:cNvPr id="11" name="Text 8"/>
          <p:cNvSpPr txBox="1"/>
          <p:nvPr/>
        </p:nvSpPr>
        <p:spPr>
          <a:xfrm>
            <a:off x="566928" y="1746504"/>
            <a:ext cx="411480" cy="640080"/>
          </a:xfrm>
          <a:prstGeom prst="rect">
            <a:avLst/>
          </a:prstGeom>
          <a:noFill/>
          <a:ln/>
        </p:spPr>
        <p:txBody>
          <a:bodyPr wrap="square" lIns="0" tIns="0" rIns="0" bIns="0" rtlCol="0" anchor="ctr"/>
          <a:lstStyle/>
          <a:p>
            <a:pPr indent="0" marL="0">
              <a:buNone/>
            </a:pPr>
            <a:r>
              <a:rPr lang="en-US" sz="1600" b="1" dirty="0">
                <a:solidFill>
                  <a:schemeClr val="accent1"/>
                </a:solidFill>
              </a:rPr>
              <a:t>3</a:t>
            </a:r>
            <a:endParaRPr lang="en-US" sz="1600" dirty="0"/>
          </a:p>
        </p:txBody>
      </p:sp>
      <p:sp>
        <p:nvSpPr>
          <p:cNvPr id="12" name="Text 9"/>
          <p:cNvSpPr txBox="1"/>
          <p:nvPr/>
        </p:nvSpPr>
        <p:spPr>
          <a:xfrm>
            <a:off x="960120" y="1746504"/>
            <a:ext cx="3429000" cy="640080"/>
          </a:xfrm>
          <a:prstGeom prst="rect">
            <a:avLst/>
          </a:prstGeom>
          <a:noFill/>
          <a:ln/>
        </p:spPr>
        <p:txBody>
          <a:bodyPr wrap="square" lIns="0" tIns="0" rIns="0" bIns="0" rtlCol="0" anchor="ctr"/>
          <a:lstStyle/>
          <a:p>
            <a:pPr indent="0" marL="0">
              <a:buNone/>
            </a:pPr>
            <a:r>
              <a:rPr lang="en-US" sz="1300" dirty="0">
                <a:solidFill>
                  <a:schemeClr val="tx1"/>
                </a:solidFill>
              </a:rPr>
              <a:t>I diversi ruoli dell'AI</a:t>
            </a:r>
            <a:endParaRPr lang="en-US" sz="1300" dirty="0"/>
          </a:p>
        </p:txBody>
      </p:sp>
      <p:sp>
        <p:nvSpPr>
          <p:cNvPr id="13" name="risultato 4"/>
          <p:cNvSpPr/>
          <p:nvPr/>
        </p:nvSpPr>
        <p:spPr>
          <a:xfrm>
            <a:off x="4663440" y="1746504"/>
            <a:ext cx="4023360" cy="640080"/>
          </a:xfrm>
          <a:prstGeom prst="roundRect">
            <a:avLst>
              <a:gd name="adj" fmla="val 11429"/>
            </a:avLst>
          </a:prstGeom>
          <a:solidFill>
            <a:schemeClr val="bg1"/>
          </a:solidFill>
          <a:ln/>
        </p:spPr>
      </p:sp>
      <p:sp>
        <p:nvSpPr>
          <p:cNvPr id="14" name="Text 11"/>
          <p:cNvSpPr txBox="1"/>
          <p:nvPr/>
        </p:nvSpPr>
        <p:spPr>
          <a:xfrm>
            <a:off x="4773168" y="1746504"/>
            <a:ext cx="411480" cy="640080"/>
          </a:xfrm>
          <a:prstGeom prst="rect">
            <a:avLst/>
          </a:prstGeom>
          <a:noFill/>
          <a:ln/>
        </p:spPr>
        <p:txBody>
          <a:bodyPr wrap="square" lIns="0" tIns="0" rIns="0" bIns="0" rtlCol="0" anchor="ctr"/>
          <a:lstStyle/>
          <a:p>
            <a:pPr indent="0" marL="0">
              <a:buNone/>
            </a:pPr>
            <a:r>
              <a:rPr lang="en-US" sz="1600" b="1" dirty="0">
                <a:solidFill>
                  <a:schemeClr val="accent1"/>
                </a:solidFill>
              </a:rPr>
              <a:t>4</a:t>
            </a:r>
            <a:endParaRPr lang="en-US" sz="1600" dirty="0"/>
          </a:p>
        </p:txBody>
      </p:sp>
      <p:sp>
        <p:nvSpPr>
          <p:cNvPr id="15" name="Text 12"/>
          <p:cNvSpPr txBox="1"/>
          <p:nvPr/>
        </p:nvSpPr>
        <p:spPr>
          <a:xfrm>
            <a:off x="5166360" y="1746504"/>
            <a:ext cx="3429000" cy="640080"/>
          </a:xfrm>
          <a:prstGeom prst="rect">
            <a:avLst/>
          </a:prstGeom>
          <a:noFill/>
          <a:ln/>
        </p:spPr>
        <p:txBody>
          <a:bodyPr wrap="square" lIns="0" tIns="0" rIns="0" bIns="0" rtlCol="0" anchor="ctr"/>
          <a:lstStyle/>
          <a:p>
            <a:pPr indent="0" marL="0">
              <a:buNone/>
            </a:pPr>
            <a:r>
              <a:rPr lang="en-US" sz="1300" dirty="0">
                <a:solidFill>
                  <a:schemeClr val="tx1"/>
                </a:solidFill>
              </a:rPr>
              <a:t>Distribuire le attività tra persona e AI</a:t>
            </a:r>
            <a:endParaRPr lang="en-US" sz="1300" dirty="0"/>
          </a:p>
        </p:txBody>
      </p:sp>
      <p:sp>
        <p:nvSpPr>
          <p:cNvPr id="16" name="risultato 5"/>
          <p:cNvSpPr/>
          <p:nvPr/>
        </p:nvSpPr>
        <p:spPr>
          <a:xfrm>
            <a:off x="457200" y="2468880"/>
            <a:ext cx="4023360" cy="640080"/>
          </a:xfrm>
          <a:prstGeom prst="roundRect">
            <a:avLst>
              <a:gd name="adj" fmla="val 11429"/>
            </a:avLst>
          </a:prstGeom>
          <a:solidFill>
            <a:schemeClr val="bg2"/>
          </a:solidFill>
          <a:ln/>
        </p:spPr>
      </p:sp>
      <p:sp>
        <p:nvSpPr>
          <p:cNvPr id="17" name="Text 14"/>
          <p:cNvSpPr txBox="1"/>
          <p:nvPr/>
        </p:nvSpPr>
        <p:spPr>
          <a:xfrm>
            <a:off x="566928" y="2468880"/>
            <a:ext cx="411480" cy="640080"/>
          </a:xfrm>
          <a:prstGeom prst="rect">
            <a:avLst/>
          </a:prstGeom>
          <a:noFill/>
          <a:ln/>
        </p:spPr>
        <p:txBody>
          <a:bodyPr wrap="square" lIns="0" tIns="0" rIns="0" bIns="0" rtlCol="0" anchor="ctr"/>
          <a:lstStyle/>
          <a:p>
            <a:pPr indent="0" marL="0">
              <a:buNone/>
            </a:pPr>
            <a:r>
              <a:rPr lang="en-US" sz="1600" b="1" dirty="0">
                <a:solidFill>
                  <a:schemeClr val="accent1"/>
                </a:solidFill>
              </a:rPr>
              <a:t>5</a:t>
            </a:r>
            <a:endParaRPr lang="en-US" sz="1600" dirty="0"/>
          </a:p>
        </p:txBody>
      </p:sp>
      <p:sp>
        <p:nvSpPr>
          <p:cNvPr id="18" name="Text 15"/>
          <p:cNvSpPr txBox="1"/>
          <p:nvPr/>
        </p:nvSpPr>
        <p:spPr>
          <a:xfrm>
            <a:off x="960120" y="2468880"/>
            <a:ext cx="3429000" cy="640080"/>
          </a:xfrm>
          <a:prstGeom prst="rect">
            <a:avLst/>
          </a:prstGeom>
          <a:noFill/>
          <a:ln/>
        </p:spPr>
        <p:txBody>
          <a:bodyPr wrap="square" lIns="0" tIns="0" rIns="0" bIns="0" rtlCol="0" anchor="ctr"/>
          <a:lstStyle/>
          <a:p>
            <a:pPr indent="0" marL="0">
              <a:buNone/>
            </a:pPr>
            <a:r>
              <a:rPr lang="en-US" sz="1300" dirty="0">
                <a:solidFill>
                  <a:schemeClr val="tx1"/>
                </a:solidFill>
              </a:rPr>
              <a:t>Assistenza, collaborazione, delega, autonomia</a:t>
            </a:r>
            <a:endParaRPr lang="en-US" sz="1300" dirty="0"/>
          </a:p>
        </p:txBody>
      </p:sp>
      <p:sp>
        <p:nvSpPr>
          <p:cNvPr id="19" name="risultato 6"/>
          <p:cNvSpPr/>
          <p:nvPr/>
        </p:nvSpPr>
        <p:spPr>
          <a:xfrm>
            <a:off x="4663440" y="2468880"/>
            <a:ext cx="4023360" cy="640080"/>
          </a:xfrm>
          <a:prstGeom prst="roundRect">
            <a:avLst>
              <a:gd name="adj" fmla="val 11429"/>
            </a:avLst>
          </a:prstGeom>
          <a:solidFill>
            <a:schemeClr val="bg2"/>
          </a:solidFill>
          <a:ln/>
        </p:spPr>
      </p:sp>
      <p:sp>
        <p:nvSpPr>
          <p:cNvPr id="20" name="Text 17"/>
          <p:cNvSpPr txBox="1"/>
          <p:nvPr/>
        </p:nvSpPr>
        <p:spPr>
          <a:xfrm>
            <a:off x="4773168" y="2468880"/>
            <a:ext cx="411480" cy="640080"/>
          </a:xfrm>
          <a:prstGeom prst="rect">
            <a:avLst/>
          </a:prstGeom>
          <a:noFill/>
          <a:ln/>
        </p:spPr>
        <p:txBody>
          <a:bodyPr wrap="square" lIns="0" tIns="0" rIns="0" bIns="0" rtlCol="0" anchor="ctr"/>
          <a:lstStyle/>
          <a:p>
            <a:pPr indent="0" marL="0">
              <a:buNone/>
            </a:pPr>
            <a:r>
              <a:rPr lang="en-US" sz="1600" b="1" dirty="0">
                <a:solidFill>
                  <a:schemeClr val="accent1"/>
                </a:solidFill>
              </a:rPr>
              <a:t>6</a:t>
            </a:r>
            <a:endParaRPr lang="en-US" sz="1600" dirty="0"/>
          </a:p>
        </p:txBody>
      </p:sp>
      <p:sp>
        <p:nvSpPr>
          <p:cNvPr id="21" name="Text 18"/>
          <p:cNvSpPr txBox="1"/>
          <p:nvPr/>
        </p:nvSpPr>
        <p:spPr>
          <a:xfrm>
            <a:off x="5166360" y="2468880"/>
            <a:ext cx="3429000" cy="640080"/>
          </a:xfrm>
          <a:prstGeom prst="rect">
            <a:avLst/>
          </a:prstGeom>
          <a:noFill/>
          <a:ln/>
        </p:spPr>
        <p:txBody>
          <a:bodyPr wrap="square" lIns="0" tIns="0" rIns="0" bIns="0" rtlCol="0" anchor="ctr"/>
          <a:lstStyle/>
          <a:p>
            <a:pPr indent="0" marL="0">
              <a:buNone/>
            </a:pPr>
            <a:r>
              <a:rPr lang="en-US" sz="1300" dirty="0">
                <a:solidFill>
                  <a:schemeClr val="tx1"/>
                </a:solidFill>
              </a:rPr>
              <a:t>Il contributo delle competenze personali</a:t>
            </a:r>
            <a:endParaRPr lang="en-US" sz="1300" dirty="0"/>
          </a:p>
        </p:txBody>
      </p:sp>
      <p:sp>
        <p:nvSpPr>
          <p:cNvPr id="22" name="risultato 7"/>
          <p:cNvSpPr/>
          <p:nvPr/>
        </p:nvSpPr>
        <p:spPr>
          <a:xfrm>
            <a:off x="457200" y="3191256"/>
            <a:ext cx="4023360" cy="640080"/>
          </a:xfrm>
          <a:prstGeom prst="roundRect">
            <a:avLst>
              <a:gd name="adj" fmla="val 11429"/>
            </a:avLst>
          </a:prstGeom>
          <a:solidFill>
            <a:schemeClr val="bg1"/>
          </a:solidFill>
          <a:ln/>
        </p:spPr>
      </p:sp>
      <p:sp>
        <p:nvSpPr>
          <p:cNvPr id="23" name="Text 20"/>
          <p:cNvSpPr txBox="1"/>
          <p:nvPr/>
        </p:nvSpPr>
        <p:spPr>
          <a:xfrm>
            <a:off x="566928" y="3191256"/>
            <a:ext cx="411480" cy="640080"/>
          </a:xfrm>
          <a:prstGeom prst="rect">
            <a:avLst/>
          </a:prstGeom>
          <a:noFill/>
          <a:ln/>
        </p:spPr>
        <p:txBody>
          <a:bodyPr wrap="square" lIns="0" tIns="0" rIns="0" bIns="0" rtlCol="0" anchor="ctr"/>
          <a:lstStyle/>
          <a:p>
            <a:pPr indent="0" marL="0">
              <a:buNone/>
            </a:pPr>
            <a:r>
              <a:rPr lang="en-US" sz="1600" b="1" dirty="0">
                <a:solidFill>
                  <a:schemeClr val="accent1"/>
                </a:solidFill>
              </a:rPr>
              <a:t>7</a:t>
            </a:r>
            <a:endParaRPr lang="en-US" sz="1600" dirty="0"/>
          </a:p>
        </p:txBody>
      </p:sp>
      <p:sp>
        <p:nvSpPr>
          <p:cNvPr id="24" name="Text 21"/>
          <p:cNvSpPr txBox="1"/>
          <p:nvPr/>
        </p:nvSpPr>
        <p:spPr>
          <a:xfrm>
            <a:off x="960120" y="3191256"/>
            <a:ext cx="3429000" cy="640080"/>
          </a:xfrm>
          <a:prstGeom prst="rect">
            <a:avLst/>
          </a:prstGeom>
          <a:noFill/>
          <a:ln/>
        </p:spPr>
        <p:txBody>
          <a:bodyPr wrap="square" lIns="0" tIns="0" rIns="0" bIns="0" rtlCol="0" anchor="ctr"/>
          <a:lstStyle/>
          <a:p>
            <a:pPr indent="0" marL="0">
              <a:buNone/>
            </a:pPr>
            <a:r>
              <a:rPr lang="en-US" sz="1300" dirty="0">
                <a:solidFill>
                  <a:schemeClr val="tx1"/>
                </a:solidFill>
              </a:rPr>
              <a:t>Esplorare controargomentazioni e alternative</a:t>
            </a:r>
            <a:endParaRPr lang="en-US" sz="1300" dirty="0"/>
          </a:p>
        </p:txBody>
      </p:sp>
      <p:sp>
        <p:nvSpPr>
          <p:cNvPr id="25" name="risultato 8"/>
          <p:cNvSpPr/>
          <p:nvPr/>
        </p:nvSpPr>
        <p:spPr>
          <a:xfrm>
            <a:off x="4663440" y="3191256"/>
            <a:ext cx="4023360" cy="640080"/>
          </a:xfrm>
          <a:prstGeom prst="roundRect">
            <a:avLst>
              <a:gd name="adj" fmla="val 11429"/>
            </a:avLst>
          </a:prstGeom>
          <a:solidFill>
            <a:schemeClr val="bg1"/>
          </a:solidFill>
          <a:ln/>
        </p:spPr>
      </p:sp>
      <p:sp>
        <p:nvSpPr>
          <p:cNvPr id="26" name="Text 23"/>
          <p:cNvSpPr txBox="1"/>
          <p:nvPr/>
        </p:nvSpPr>
        <p:spPr>
          <a:xfrm>
            <a:off x="4773168" y="3191256"/>
            <a:ext cx="411480" cy="640080"/>
          </a:xfrm>
          <a:prstGeom prst="rect">
            <a:avLst/>
          </a:prstGeom>
          <a:noFill/>
          <a:ln/>
        </p:spPr>
        <p:txBody>
          <a:bodyPr wrap="square" lIns="0" tIns="0" rIns="0" bIns="0" rtlCol="0" anchor="ctr"/>
          <a:lstStyle/>
          <a:p>
            <a:pPr indent="0" marL="0">
              <a:buNone/>
            </a:pPr>
            <a:r>
              <a:rPr lang="en-US" sz="1600" b="1" dirty="0">
                <a:solidFill>
                  <a:schemeClr val="accent1"/>
                </a:solidFill>
              </a:rPr>
              <a:t>8</a:t>
            </a:r>
            <a:endParaRPr lang="en-US" sz="1600" dirty="0"/>
          </a:p>
        </p:txBody>
      </p:sp>
      <p:sp>
        <p:nvSpPr>
          <p:cNvPr id="27" name="Text 24"/>
          <p:cNvSpPr txBox="1"/>
          <p:nvPr/>
        </p:nvSpPr>
        <p:spPr>
          <a:xfrm>
            <a:off x="5166360" y="3191256"/>
            <a:ext cx="3429000" cy="640080"/>
          </a:xfrm>
          <a:prstGeom prst="rect">
            <a:avLst/>
          </a:prstGeom>
          <a:noFill/>
          <a:ln/>
        </p:spPr>
        <p:txBody>
          <a:bodyPr wrap="square" lIns="0" tIns="0" rIns="0" bIns="0" rtlCol="0" anchor="ctr"/>
          <a:lstStyle/>
          <a:p>
            <a:pPr indent="0" marL="0">
              <a:buNone/>
            </a:pPr>
            <a:r>
              <a:rPr lang="en-US" sz="1300" dirty="0">
                <a:solidFill>
                  <a:schemeClr val="tx1"/>
                </a:solidFill>
              </a:rPr>
              <a:t>Rischi di antropomorfizzazione e fiducia eccessiva</a:t>
            </a:r>
            <a:endParaRPr lang="en-US" sz="1300" dirty="0"/>
          </a:p>
        </p:txBody>
      </p:sp>
      <p:sp>
        <p:nvSpPr>
          <p:cNvPr id="28" name="risultato 9"/>
          <p:cNvSpPr/>
          <p:nvPr/>
        </p:nvSpPr>
        <p:spPr>
          <a:xfrm>
            <a:off x="457200" y="3913632"/>
            <a:ext cx="4023360" cy="640080"/>
          </a:xfrm>
          <a:prstGeom prst="roundRect">
            <a:avLst>
              <a:gd name="adj" fmla="val 11429"/>
            </a:avLst>
          </a:prstGeom>
          <a:solidFill>
            <a:schemeClr val="bg2"/>
          </a:solidFill>
          <a:ln/>
        </p:spPr>
      </p:sp>
      <p:sp>
        <p:nvSpPr>
          <p:cNvPr id="29" name="Text 26"/>
          <p:cNvSpPr txBox="1"/>
          <p:nvPr/>
        </p:nvSpPr>
        <p:spPr>
          <a:xfrm>
            <a:off x="566928" y="3913632"/>
            <a:ext cx="411480" cy="640080"/>
          </a:xfrm>
          <a:prstGeom prst="rect">
            <a:avLst/>
          </a:prstGeom>
          <a:noFill/>
          <a:ln/>
        </p:spPr>
        <p:txBody>
          <a:bodyPr wrap="square" lIns="0" tIns="0" rIns="0" bIns="0" rtlCol="0" anchor="ctr"/>
          <a:lstStyle/>
          <a:p>
            <a:pPr indent="0" marL="0">
              <a:buNone/>
            </a:pPr>
            <a:r>
              <a:rPr lang="en-US" sz="1600" b="1" dirty="0">
                <a:solidFill>
                  <a:schemeClr val="accent1"/>
                </a:solidFill>
              </a:rPr>
              <a:t>9</a:t>
            </a:r>
            <a:endParaRPr lang="en-US" sz="1600" dirty="0"/>
          </a:p>
        </p:txBody>
      </p:sp>
      <p:sp>
        <p:nvSpPr>
          <p:cNvPr id="30" name="Text 27"/>
          <p:cNvSpPr txBox="1"/>
          <p:nvPr/>
        </p:nvSpPr>
        <p:spPr>
          <a:xfrm>
            <a:off x="960120" y="3913632"/>
            <a:ext cx="3429000" cy="640080"/>
          </a:xfrm>
          <a:prstGeom prst="rect">
            <a:avLst/>
          </a:prstGeom>
          <a:noFill/>
          <a:ln/>
        </p:spPr>
        <p:txBody>
          <a:bodyPr wrap="square" lIns="0" tIns="0" rIns="0" bIns="0" rtlCol="0" anchor="ctr"/>
          <a:lstStyle/>
          <a:p>
            <a:pPr indent="0" marL="0">
              <a:buNone/>
            </a:pPr>
            <a:r>
              <a:rPr lang="en-US" sz="1300" dirty="0">
                <a:solidFill>
                  <a:schemeClr val="tx1"/>
                </a:solidFill>
              </a:rPr>
              <a:t>Opportunità e limiti della delega cognitiva</a:t>
            </a:r>
            <a:endParaRPr lang="en-US" sz="1300" dirty="0"/>
          </a:p>
        </p:txBody>
      </p:sp>
      <p:sp>
        <p:nvSpPr>
          <p:cNvPr id="31" name="risultato 10"/>
          <p:cNvSpPr/>
          <p:nvPr/>
        </p:nvSpPr>
        <p:spPr>
          <a:xfrm>
            <a:off x="4663440" y="3913632"/>
            <a:ext cx="4023360" cy="640080"/>
          </a:xfrm>
          <a:prstGeom prst="roundRect">
            <a:avLst>
              <a:gd name="adj" fmla="val 11429"/>
            </a:avLst>
          </a:prstGeom>
          <a:solidFill>
            <a:schemeClr val="bg2"/>
          </a:solidFill>
          <a:ln/>
        </p:spPr>
      </p:sp>
      <p:sp>
        <p:nvSpPr>
          <p:cNvPr id="32" name="Text 29"/>
          <p:cNvSpPr txBox="1"/>
          <p:nvPr/>
        </p:nvSpPr>
        <p:spPr>
          <a:xfrm>
            <a:off x="4773168" y="3913632"/>
            <a:ext cx="411480" cy="640080"/>
          </a:xfrm>
          <a:prstGeom prst="rect">
            <a:avLst/>
          </a:prstGeom>
          <a:noFill/>
          <a:ln/>
        </p:spPr>
        <p:txBody>
          <a:bodyPr wrap="square" lIns="0" tIns="0" rIns="0" bIns="0" rtlCol="0" anchor="ctr"/>
          <a:lstStyle/>
          <a:p>
            <a:pPr indent="0" marL="0">
              <a:buNone/>
            </a:pPr>
            <a:r>
              <a:rPr lang="en-US" sz="1600" b="1" dirty="0">
                <a:solidFill>
                  <a:schemeClr val="accent1"/>
                </a:solidFill>
              </a:rPr>
              <a:t>10</a:t>
            </a:r>
            <a:endParaRPr lang="en-US" sz="1600" dirty="0"/>
          </a:p>
        </p:txBody>
      </p:sp>
      <p:sp>
        <p:nvSpPr>
          <p:cNvPr id="33" name="Text 30"/>
          <p:cNvSpPr txBox="1"/>
          <p:nvPr/>
        </p:nvSpPr>
        <p:spPr>
          <a:xfrm>
            <a:off x="5166360" y="3913632"/>
            <a:ext cx="3429000" cy="640080"/>
          </a:xfrm>
          <a:prstGeom prst="rect">
            <a:avLst/>
          </a:prstGeom>
          <a:noFill/>
          <a:ln/>
        </p:spPr>
        <p:txBody>
          <a:bodyPr wrap="square" lIns="0" tIns="0" rIns="0" bIns="0" rtlCol="0" anchor="ctr"/>
          <a:lstStyle/>
          <a:p>
            <a:pPr indent="0" marL="0">
              <a:buNone/>
            </a:pPr>
            <a:r>
              <a:rPr lang="en-US" sz="1300" dirty="0">
                <a:solidFill>
                  <a:schemeClr val="tx1"/>
                </a:solidFill>
              </a:rPr>
              <a:t>Il ruolo attivo della persona nelle decisioni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Principi per un dialogo consapevole</a:t>
            </a:r>
            <a:endParaRPr lang="en-US" sz="2600" dirty="0"/>
          </a:p>
        </p:txBody>
      </p:sp>
      <p:sp>
        <p:nvSpPr>
          <p:cNvPr id="4" name="principio 1"/>
          <p:cNvSpPr/>
          <p:nvPr/>
        </p:nvSpPr>
        <p:spPr>
          <a:xfrm>
            <a:off x="457200" y="1024128"/>
            <a:ext cx="8229600" cy="374904"/>
          </a:xfrm>
          <a:prstGeom prst="roundRect">
            <a:avLst>
              <a:gd name="adj" fmla="val 19512"/>
            </a:avLst>
          </a:prstGeom>
          <a:solidFill>
            <a:schemeClr val="bg2"/>
          </a:solidFill>
          <a:ln/>
        </p:spPr>
      </p:sp>
      <p:sp>
        <p:nvSpPr>
          <p:cNvPr id="5" name="Text 2"/>
          <p:cNvSpPr txBox="1"/>
          <p:nvPr/>
        </p:nvSpPr>
        <p:spPr>
          <a:xfrm>
            <a:off x="548640" y="1024128"/>
            <a:ext cx="320040" cy="374904"/>
          </a:xfrm>
          <a:prstGeom prst="rect">
            <a:avLst/>
          </a:prstGeom>
          <a:noFill/>
          <a:ln/>
        </p:spPr>
        <p:txBody>
          <a:bodyPr wrap="square" lIns="0" tIns="0" rIns="0" bIns="0" rtlCol="0" anchor="ctr"/>
          <a:lstStyle/>
          <a:p>
            <a:pPr indent="0" marL="0">
              <a:buNone/>
            </a:pPr>
            <a:r>
              <a:rPr lang="en-US" sz="1400" b="1" dirty="0">
                <a:solidFill>
                  <a:schemeClr val="accent1"/>
                </a:solidFill>
              </a:rPr>
              <a:t>1</a:t>
            </a:r>
            <a:endParaRPr lang="en-US" sz="1400" dirty="0"/>
          </a:p>
        </p:txBody>
      </p:sp>
      <p:sp>
        <p:nvSpPr>
          <p:cNvPr id="6" name="cerchio FiTarget"/>
          <p:cNvSpPr/>
          <p:nvPr/>
        </p:nvSpPr>
        <p:spPr>
          <a:xfrm>
            <a:off x="914400" y="1051560"/>
            <a:ext cx="320040" cy="320040"/>
          </a:xfrm>
          <a:prstGeom prst="ellipse">
            <a:avLst/>
          </a:prstGeom>
          <a:solidFill>
            <a:schemeClr val="accent1"/>
          </a:solidFill>
          <a:ln/>
        </p:spPr>
      </p:sp>
      <p:pic>
        <p:nvPicPr>
          <p:cNvPr id="7" name="Image 0" descr="FiTarget">    </p:cNvPr>
          <p:cNvPicPr>
            <a:picLocks noChangeAspect="1"/>
          </p:cNvPicPr>
          <p:nvPr/>
        </p:nvPicPr>
        <p:blipFill>
          <a:blip r:embed="rId1"/>
          <a:stretch>
            <a:fillRect/>
          </a:stretch>
        </p:blipFill>
        <p:spPr>
          <a:xfrm>
            <a:off x="994410" y="1131570"/>
            <a:ext cx="160020" cy="160020"/>
          </a:xfrm>
          <a:prstGeom prst="rect">
            <a:avLst/>
          </a:prstGeom>
        </p:spPr>
      </p:pic>
      <p:sp>
        <p:nvSpPr>
          <p:cNvPr id="8" name="Text 4"/>
          <p:cNvSpPr txBox="1"/>
          <p:nvPr/>
        </p:nvSpPr>
        <p:spPr>
          <a:xfrm>
            <a:off x="1371600" y="1024128"/>
            <a:ext cx="7223760" cy="374904"/>
          </a:xfrm>
          <a:prstGeom prst="rect">
            <a:avLst/>
          </a:prstGeom>
          <a:noFill/>
          <a:ln/>
        </p:spPr>
        <p:txBody>
          <a:bodyPr wrap="square" lIns="0" tIns="0" rIns="0" bIns="0" rtlCol="0" anchor="ctr"/>
          <a:lstStyle/>
          <a:p>
            <a:pPr indent="0" marL="0">
              <a:buNone/>
            </a:pPr>
            <a:r>
              <a:rPr lang="en-US" sz="1300" dirty="0">
                <a:solidFill>
                  <a:schemeClr val="tx1"/>
                </a:solidFill>
              </a:rPr>
              <a:t>Sapere che cosa si vuole ottenere, o usare il dialogo per scoprirlo</a:t>
            </a:r>
            <a:endParaRPr lang="en-US" sz="1300" dirty="0"/>
          </a:p>
        </p:txBody>
      </p:sp>
      <p:sp>
        <p:nvSpPr>
          <p:cNvPr id="9" name="principio 2"/>
          <p:cNvSpPr/>
          <p:nvPr/>
        </p:nvSpPr>
        <p:spPr>
          <a:xfrm>
            <a:off x="457200" y="1453896"/>
            <a:ext cx="8229600" cy="374904"/>
          </a:xfrm>
          <a:prstGeom prst="roundRect">
            <a:avLst>
              <a:gd name="adj" fmla="val 19512"/>
            </a:avLst>
          </a:prstGeom>
          <a:solidFill>
            <a:schemeClr val="bg1"/>
          </a:solidFill>
          <a:ln/>
        </p:spPr>
      </p:sp>
      <p:sp>
        <p:nvSpPr>
          <p:cNvPr id="10" name="Text 6"/>
          <p:cNvSpPr txBox="1"/>
          <p:nvPr/>
        </p:nvSpPr>
        <p:spPr>
          <a:xfrm>
            <a:off x="548640" y="1453896"/>
            <a:ext cx="320040" cy="374904"/>
          </a:xfrm>
          <a:prstGeom prst="rect">
            <a:avLst/>
          </a:prstGeom>
          <a:noFill/>
          <a:ln/>
        </p:spPr>
        <p:txBody>
          <a:bodyPr wrap="square" lIns="0" tIns="0" rIns="0" bIns="0" rtlCol="0" anchor="ctr"/>
          <a:lstStyle/>
          <a:p>
            <a:pPr indent="0" marL="0">
              <a:buNone/>
            </a:pPr>
            <a:r>
              <a:rPr lang="en-US" sz="1400" b="1" dirty="0">
                <a:solidFill>
                  <a:schemeClr val="accent1"/>
                </a:solidFill>
              </a:rPr>
              <a:t>2</a:t>
            </a:r>
            <a:endParaRPr lang="en-US" sz="1400" dirty="0"/>
          </a:p>
        </p:txBody>
      </p:sp>
      <p:sp>
        <p:nvSpPr>
          <p:cNvPr id="11" name="cerchio FiMap"/>
          <p:cNvSpPr/>
          <p:nvPr/>
        </p:nvSpPr>
        <p:spPr>
          <a:xfrm>
            <a:off x="914400" y="1481328"/>
            <a:ext cx="320040" cy="320040"/>
          </a:xfrm>
          <a:prstGeom prst="ellipse">
            <a:avLst/>
          </a:prstGeom>
          <a:solidFill>
            <a:schemeClr val="accent1"/>
          </a:solidFill>
          <a:ln/>
        </p:spPr>
      </p:sp>
      <p:pic>
        <p:nvPicPr>
          <p:cNvPr id="12" name="Image 1" descr="FiMap">    </p:cNvPr>
          <p:cNvPicPr>
            <a:picLocks noChangeAspect="1"/>
          </p:cNvPicPr>
          <p:nvPr/>
        </p:nvPicPr>
        <p:blipFill>
          <a:blip r:embed="rId2"/>
          <a:stretch>
            <a:fillRect/>
          </a:stretch>
        </p:blipFill>
        <p:spPr>
          <a:xfrm>
            <a:off x="994410" y="1561338"/>
            <a:ext cx="160020" cy="160020"/>
          </a:xfrm>
          <a:prstGeom prst="rect">
            <a:avLst/>
          </a:prstGeom>
        </p:spPr>
      </p:pic>
      <p:sp>
        <p:nvSpPr>
          <p:cNvPr id="13" name="Text 8"/>
          <p:cNvSpPr txBox="1"/>
          <p:nvPr/>
        </p:nvSpPr>
        <p:spPr>
          <a:xfrm>
            <a:off x="1371600" y="1453896"/>
            <a:ext cx="7223760" cy="374904"/>
          </a:xfrm>
          <a:prstGeom prst="rect">
            <a:avLst/>
          </a:prstGeom>
          <a:noFill/>
          <a:ln/>
        </p:spPr>
        <p:txBody>
          <a:bodyPr wrap="square" lIns="0" tIns="0" rIns="0" bIns="0" rtlCol="0" anchor="ctr"/>
          <a:lstStyle/>
          <a:p>
            <a:pPr indent="0" marL="0">
              <a:buNone/>
            </a:pPr>
            <a:r>
              <a:rPr lang="en-US" sz="1300" dirty="0">
                <a:solidFill>
                  <a:schemeClr val="tx1"/>
                </a:solidFill>
              </a:rPr>
              <a:t>Portare il contesto: il sistema conosce solo ciò che gli diciamo</a:t>
            </a:r>
            <a:endParaRPr lang="en-US" sz="1300" dirty="0"/>
          </a:p>
        </p:txBody>
      </p:sp>
      <p:sp>
        <p:nvSpPr>
          <p:cNvPr id="14" name="principio 3"/>
          <p:cNvSpPr/>
          <p:nvPr/>
        </p:nvSpPr>
        <p:spPr>
          <a:xfrm>
            <a:off x="457200" y="1883664"/>
            <a:ext cx="8229600" cy="374904"/>
          </a:xfrm>
          <a:prstGeom prst="roundRect">
            <a:avLst>
              <a:gd name="adj" fmla="val 19512"/>
            </a:avLst>
          </a:prstGeom>
          <a:solidFill>
            <a:schemeClr val="bg2"/>
          </a:solidFill>
          <a:ln/>
        </p:spPr>
      </p:sp>
      <p:sp>
        <p:nvSpPr>
          <p:cNvPr id="15" name="Text 10"/>
          <p:cNvSpPr txBox="1"/>
          <p:nvPr/>
        </p:nvSpPr>
        <p:spPr>
          <a:xfrm>
            <a:off x="548640" y="1883664"/>
            <a:ext cx="320040" cy="374904"/>
          </a:xfrm>
          <a:prstGeom prst="rect">
            <a:avLst/>
          </a:prstGeom>
          <a:noFill/>
          <a:ln/>
        </p:spPr>
        <p:txBody>
          <a:bodyPr wrap="square" lIns="0" tIns="0" rIns="0" bIns="0" rtlCol="0" anchor="ctr"/>
          <a:lstStyle/>
          <a:p>
            <a:pPr indent="0" marL="0">
              <a:buNone/>
            </a:pPr>
            <a:r>
              <a:rPr lang="en-US" sz="1400" b="1" dirty="0">
                <a:solidFill>
                  <a:schemeClr val="accent1"/>
                </a:solidFill>
              </a:rPr>
              <a:t>3</a:t>
            </a:r>
            <a:endParaRPr lang="en-US" sz="1400" dirty="0"/>
          </a:p>
        </p:txBody>
      </p:sp>
      <p:sp>
        <p:nvSpPr>
          <p:cNvPr id="16" name="cerchio FiMessageSquare"/>
          <p:cNvSpPr/>
          <p:nvPr/>
        </p:nvSpPr>
        <p:spPr>
          <a:xfrm>
            <a:off x="914400" y="1911096"/>
            <a:ext cx="320040" cy="320040"/>
          </a:xfrm>
          <a:prstGeom prst="ellipse">
            <a:avLst/>
          </a:prstGeom>
          <a:solidFill>
            <a:schemeClr val="accent1"/>
          </a:solidFill>
          <a:ln/>
        </p:spPr>
      </p:sp>
      <p:pic>
        <p:nvPicPr>
          <p:cNvPr id="17" name="Image 2" descr="FiMessageSquare">    </p:cNvPr>
          <p:cNvPicPr>
            <a:picLocks noChangeAspect="1"/>
          </p:cNvPicPr>
          <p:nvPr/>
        </p:nvPicPr>
        <p:blipFill>
          <a:blip r:embed="rId3"/>
          <a:stretch>
            <a:fillRect/>
          </a:stretch>
        </p:blipFill>
        <p:spPr>
          <a:xfrm>
            <a:off x="994410" y="1991106"/>
            <a:ext cx="160020" cy="160020"/>
          </a:xfrm>
          <a:prstGeom prst="rect">
            <a:avLst/>
          </a:prstGeom>
        </p:spPr>
      </p:pic>
      <p:sp>
        <p:nvSpPr>
          <p:cNvPr id="18" name="Text 12"/>
          <p:cNvSpPr txBox="1"/>
          <p:nvPr/>
        </p:nvSpPr>
        <p:spPr>
          <a:xfrm>
            <a:off x="1371600" y="1883664"/>
            <a:ext cx="7223760" cy="374904"/>
          </a:xfrm>
          <a:prstGeom prst="rect">
            <a:avLst/>
          </a:prstGeom>
          <a:noFill/>
          <a:ln/>
        </p:spPr>
        <p:txBody>
          <a:bodyPr wrap="square" lIns="0" tIns="0" rIns="0" bIns="0" rtlCol="0" anchor="ctr"/>
          <a:lstStyle/>
          <a:p>
            <a:pPr indent="0" marL="0">
              <a:buNone/>
            </a:pPr>
            <a:r>
              <a:rPr lang="en-US" sz="1300" dirty="0">
                <a:solidFill>
                  <a:schemeClr val="tx1"/>
                </a:solidFill>
              </a:rPr>
              <a:t>Dialogare invece di accontentarsi della prima risposta</a:t>
            </a:r>
            <a:endParaRPr lang="en-US" sz="1300" dirty="0"/>
          </a:p>
        </p:txBody>
      </p:sp>
      <p:sp>
        <p:nvSpPr>
          <p:cNvPr id="19" name="principio 4"/>
          <p:cNvSpPr/>
          <p:nvPr/>
        </p:nvSpPr>
        <p:spPr>
          <a:xfrm>
            <a:off x="457200" y="2313432"/>
            <a:ext cx="8229600" cy="374904"/>
          </a:xfrm>
          <a:prstGeom prst="roundRect">
            <a:avLst>
              <a:gd name="adj" fmla="val 19512"/>
            </a:avLst>
          </a:prstGeom>
          <a:solidFill>
            <a:schemeClr val="bg1"/>
          </a:solidFill>
          <a:ln/>
        </p:spPr>
      </p:sp>
      <p:sp>
        <p:nvSpPr>
          <p:cNvPr id="20" name="Text 14"/>
          <p:cNvSpPr txBox="1"/>
          <p:nvPr/>
        </p:nvSpPr>
        <p:spPr>
          <a:xfrm>
            <a:off x="548640" y="2313432"/>
            <a:ext cx="320040" cy="374904"/>
          </a:xfrm>
          <a:prstGeom prst="rect">
            <a:avLst/>
          </a:prstGeom>
          <a:noFill/>
          <a:ln/>
        </p:spPr>
        <p:txBody>
          <a:bodyPr wrap="square" lIns="0" tIns="0" rIns="0" bIns="0" rtlCol="0" anchor="ctr"/>
          <a:lstStyle/>
          <a:p>
            <a:pPr indent="0" marL="0">
              <a:buNone/>
            </a:pPr>
            <a:r>
              <a:rPr lang="en-US" sz="1400" b="1" dirty="0">
                <a:solidFill>
                  <a:schemeClr val="accent1"/>
                </a:solidFill>
              </a:rPr>
              <a:t>4</a:t>
            </a:r>
            <a:endParaRPr lang="en-US" sz="1400" dirty="0"/>
          </a:p>
        </p:txBody>
      </p:sp>
      <p:sp>
        <p:nvSpPr>
          <p:cNvPr id="21" name="cerchio FiUsers"/>
          <p:cNvSpPr/>
          <p:nvPr/>
        </p:nvSpPr>
        <p:spPr>
          <a:xfrm>
            <a:off x="914400" y="2340864"/>
            <a:ext cx="320040" cy="320040"/>
          </a:xfrm>
          <a:prstGeom prst="ellipse">
            <a:avLst/>
          </a:prstGeom>
          <a:solidFill>
            <a:schemeClr val="accent1"/>
          </a:solidFill>
          <a:ln/>
        </p:spPr>
      </p:sp>
      <p:pic>
        <p:nvPicPr>
          <p:cNvPr id="22" name="Image 3" descr="FiUsers">    </p:cNvPr>
          <p:cNvPicPr>
            <a:picLocks noChangeAspect="1"/>
          </p:cNvPicPr>
          <p:nvPr/>
        </p:nvPicPr>
        <p:blipFill>
          <a:blip r:embed="rId4"/>
          <a:stretch>
            <a:fillRect/>
          </a:stretch>
        </p:blipFill>
        <p:spPr>
          <a:xfrm>
            <a:off x="994410" y="2420874"/>
            <a:ext cx="160020" cy="160020"/>
          </a:xfrm>
          <a:prstGeom prst="rect">
            <a:avLst/>
          </a:prstGeom>
        </p:spPr>
      </p:pic>
      <p:sp>
        <p:nvSpPr>
          <p:cNvPr id="23" name="Text 16"/>
          <p:cNvSpPr txBox="1"/>
          <p:nvPr/>
        </p:nvSpPr>
        <p:spPr>
          <a:xfrm>
            <a:off x="1371600" y="2313432"/>
            <a:ext cx="7223760" cy="374904"/>
          </a:xfrm>
          <a:prstGeom prst="rect">
            <a:avLst/>
          </a:prstGeom>
          <a:noFill/>
          <a:ln/>
        </p:spPr>
        <p:txBody>
          <a:bodyPr wrap="square" lIns="0" tIns="0" rIns="0" bIns="0" rtlCol="0" anchor="ctr"/>
          <a:lstStyle/>
          <a:p>
            <a:pPr indent="0" marL="0">
              <a:buNone/>
            </a:pPr>
            <a:r>
              <a:rPr lang="en-US" sz="1300" dirty="0">
                <a:solidFill>
                  <a:schemeClr val="tx1"/>
                </a:solidFill>
              </a:rPr>
              <a:t>Scegliere il ruolo adatto: il ruolo non crea competenze</a:t>
            </a:r>
            <a:endParaRPr lang="en-US" sz="1300" dirty="0"/>
          </a:p>
        </p:txBody>
      </p:sp>
      <p:sp>
        <p:nvSpPr>
          <p:cNvPr id="24" name="principio 5"/>
          <p:cNvSpPr/>
          <p:nvPr/>
        </p:nvSpPr>
        <p:spPr>
          <a:xfrm>
            <a:off x="457200" y="2743200"/>
            <a:ext cx="8229600" cy="374904"/>
          </a:xfrm>
          <a:prstGeom prst="roundRect">
            <a:avLst>
              <a:gd name="adj" fmla="val 19512"/>
            </a:avLst>
          </a:prstGeom>
          <a:solidFill>
            <a:schemeClr val="bg2"/>
          </a:solidFill>
          <a:ln/>
        </p:spPr>
      </p:sp>
      <p:sp>
        <p:nvSpPr>
          <p:cNvPr id="25" name="Text 18"/>
          <p:cNvSpPr txBox="1"/>
          <p:nvPr/>
        </p:nvSpPr>
        <p:spPr>
          <a:xfrm>
            <a:off x="548640" y="2743200"/>
            <a:ext cx="320040" cy="374904"/>
          </a:xfrm>
          <a:prstGeom prst="rect">
            <a:avLst/>
          </a:prstGeom>
          <a:noFill/>
          <a:ln/>
        </p:spPr>
        <p:txBody>
          <a:bodyPr wrap="square" lIns="0" tIns="0" rIns="0" bIns="0" rtlCol="0" anchor="ctr"/>
          <a:lstStyle/>
          <a:p>
            <a:pPr indent="0" marL="0">
              <a:buNone/>
            </a:pPr>
            <a:r>
              <a:rPr lang="en-US" sz="1400" b="1" dirty="0">
                <a:solidFill>
                  <a:schemeClr val="accent1"/>
                </a:solidFill>
              </a:rPr>
              <a:t>5</a:t>
            </a:r>
            <a:endParaRPr lang="en-US" sz="1400" dirty="0"/>
          </a:p>
        </p:txBody>
      </p:sp>
      <p:sp>
        <p:nvSpPr>
          <p:cNvPr id="26" name="cerchio FiShield"/>
          <p:cNvSpPr/>
          <p:nvPr/>
        </p:nvSpPr>
        <p:spPr>
          <a:xfrm>
            <a:off x="914400" y="2770632"/>
            <a:ext cx="320040" cy="320040"/>
          </a:xfrm>
          <a:prstGeom prst="ellipse">
            <a:avLst/>
          </a:prstGeom>
          <a:solidFill>
            <a:schemeClr val="accent1"/>
          </a:solidFill>
          <a:ln/>
        </p:spPr>
      </p:sp>
      <p:pic>
        <p:nvPicPr>
          <p:cNvPr id="27" name="Image 4" descr="FiShield">    </p:cNvPr>
          <p:cNvPicPr>
            <a:picLocks noChangeAspect="1"/>
          </p:cNvPicPr>
          <p:nvPr/>
        </p:nvPicPr>
        <p:blipFill>
          <a:blip r:embed="rId5"/>
          <a:stretch>
            <a:fillRect/>
          </a:stretch>
        </p:blipFill>
        <p:spPr>
          <a:xfrm>
            <a:off x="994410" y="2850642"/>
            <a:ext cx="160020" cy="160020"/>
          </a:xfrm>
          <a:prstGeom prst="rect">
            <a:avLst/>
          </a:prstGeom>
        </p:spPr>
      </p:pic>
      <p:sp>
        <p:nvSpPr>
          <p:cNvPr id="28" name="Text 20"/>
          <p:cNvSpPr txBox="1"/>
          <p:nvPr/>
        </p:nvSpPr>
        <p:spPr>
          <a:xfrm>
            <a:off x="1371600" y="2743200"/>
            <a:ext cx="7223760" cy="374904"/>
          </a:xfrm>
          <a:prstGeom prst="rect">
            <a:avLst/>
          </a:prstGeom>
          <a:noFill/>
          <a:ln/>
        </p:spPr>
        <p:txBody>
          <a:bodyPr wrap="square" lIns="0" tIns="0" rIns="0" bIns="0" rtlCol="0" anchor="ctr"/>
          <a:lstStyle/>
          <a:p>
            <a:pPr indent="0" marL="0">
              <a:buNone/>
            </a:pPr>
            <a:r>
              <a:rPr lang="en-US" sz="1300" dirty="0">
                <a:solidFill>
                  <a:schemeClr val="tx1"/>
                </a:solidFill>
              </a:rPr>
              <a:t>Chiedere critiche e alternative, non solo conferme</a:t>
            </a:r>
            <a:endParaRPr lang="en-US" sz="1300" dirty="0"/>
          </a:p>
        </p:txBody>
      </p:sp>
      <p:sp>
        <p:nvSpPr>
          <p:cNvPr id="29" name="principio 6"/>
          <p:cNvSpPr/>
          <p:nvPr/>
        </p:nvSpPr>
        <p:spPr>
          <a:xfrm>
            <a:off x="457200" y="3172968"/>
            <a:ext cx="8229600" cy="374904"/>
          </a:xfrm>
          <a:prstGeom prst="roundRect">
            <a:avLst>
              <a:gd name="adj" fmla="val 19512"/>
            </a:avLst>
          </a:prstGeom>
          <a:solidFill>
            <a:schemeClr val="bg1"/>
          </a:solidFill>
          <a:ln/>
        </p:spPr>
      </p:sp>
      <p:sp>
        <p:nvSpPr>
          <p:cNvPr id="30" name="Text 22"/>
          <p:cNvSpPr txBox="1"/>
          <p:nvPr/>
        </p:nvSpPr>
        <p:spPr>
          <a:xfrm>
            <a:off x="548640" y="3172968"/>
            <a:ext cx="320040" cy="374904"/>
          </a:xfrm>
          <a:prstGeom prst="rect">
            <a:avLst/>
          </a:prstGeom>
          <a:noFill/>
          <a:ln/>
        </p:spPr>
        <p:txBody>
          <a:bodyPr wrap="square" lIns="0" tIns="0" rIns="0" bIns="0" rtlCol="0" anchor="ctr"/>
          <a:lstStyle/>
          <a:p>
            <a:pPr indent="0" marL="0">
              <a:buNone/>
            </a:pPr>
            <a:r>
              <a:rPr lang="en-US" sz="1400" b="1" dirty="0">
                <a:solidFill>
                  <a:schemeClr val="accent1"/>
                </a:solidFill>
              </a:rPr>
              <a:t>6</a:t>
            </a:r>
            <a:endParaRPr lang="en-US" sz="1400" dirty="0"/>
          </a:p>
        </p:txBody>
      </p:sp>
      <p:sp>
        <p:nvSpPr>
          <p:cNvPr id="31" name="cerchio FiSliders"/>
          <p:cNvSpPr/>
          <p:nvPr/>
        </p:nvSpPr>
        <p:spPr>
          <a:xfrm>
            <a:off x="914400" y="3200400"/>
            <a:ext cx="320040" cy="320040"/>
          </a:xfrm>
          <a:prstGeom prst="ellipse">
            <a:avLst/>
          </a:prstGeom>
          <a:solidFill>
            <a:schemeClr val="accent1"/>
          </a:solidFill>
          <a:ln/>
        </p:spPr>
      </p:sp>
      <p:pic>
        <p:nvPicPr>
          <p:cNvPr id="32" name="Image 5" descr="FiSliders">    </p:cNvPr>
          <p:cNvPicPr>
            <a:picLocks noChangeAspect="1"/>
          </p:cNvPicPr>
          <p:nvPr/>
        </p:nvPicPr>
        <p:blipFill>
          <a:blip r:embed="rId6"/>
          <a:stretch>
            <a:fillRect/>
          </a:stretch>
        </p:blipFill>
        <p:spPr>
          <a:xfrm>
            <a:off x="994410" y="3280410"/>
            <a:ext cx="160020" cy="160020"/>
          </a:xfrm>
          <a:prstGeom prst="rect">
            <a:avLst/>
          </a:prstGeom>
        </p:spPr>
      </p:pic>
      <p:sp>
        <p:nvSpPr>
          <p:cNvPr id="33" name="Text 24"/>
          <p:cNvSpPr txBox="1"/>
          <p:nvPr/>
        </p:nvSpPr>
        <p:spPr>
          <a:xfrm>
            <a:off x="1371600" y="3172968"/>
            <a:ext cx="7223760" cy="374904"/>
          </a:xfrm>
          <a:prstGeom prst="rect">
            <a:avLst/>
          </a:prstGeom>
          <a:noFill/>
          <a:ln/>
        </p:spPr>
        <p:txBody>
          <a:bodyPr wrap="square" lIns="0" tIns="0" rIns="0" bIns="0" rtlCol="0" anchor="ctr"/>
          <a:lstStyle/>
          <a:p>
            <a:pPr indent="0" marL="0">
              <a:buNone/>
            </a:pPr>
            <a:r>
              <a:rPr lang="en-US" sz="1300" dirty="0">
                <a:solidFill>
                  <a:schemeClr val="tx1"/>
                </a:solidFill>
              </a:rPr>
              <a:t>Scegliere consapevolmente il livello di delega</a:t>
            </a:r>
            <a:endParaRPr lang="en-US" sz="1300" dirty="0"/>
          </a:p>
        </p:txBody>
      </p:sp>
      <p:sp>
        <p:nvSpPr>
          <p:cNvPr id="34" name="principio 7"/>
          <p:cNvSpPr/>
          <p:nvPr/>
        </p:nvSpPr>
        <p:spPr>
          <a:xfrm>
            <a:off x="457200" y="3602736"/>
            <a:ext cx="8229600" cy="374904"/>
          </a:xfrm>
          <a:prstGeom prst="roundRect">
            <a:avLst>
              <a:gd name="adj" fmla="val 19512"/>
            </a:avLst>
          </a:prstGeom>
          <a:solidFill>
            <a:schemeClr val="bg2"/>
          </a:solidFill>
          <a:ln/>
        </p:spPr>
      </p:sp>
      <p:sp>
        <p:nvSpPr>
          <p:cNvPr id="35" name="Text 26"/>
          <p:cNvSpPr txBox="1"/>
          <p:nvPr/>
        </p:nvSpPr>
        <p:spPr>
          <a:xfrm>
            <a:off x="548640" y="3602736"/>
            <a:ext cx="320040" cy="374904"/>
          </a:xfrm>
          <a:prstGeom prst="rect">
            <a:avLst/>
          </a:prstGeom>
          <a:noFill/>
          <a:ln/>
        </p:spPr>
        <p:txBody>
          <a:bodyPr wrap="square" lIns="0" tIns="0" rIns="0" bIns="0" rtlCol="0" anchor="ctr"/>
          <a:lstStyle/>
          <a:p>
            <a:pPr indent="0" marL="0">
              <a:buNone/>
            </a:pPr>
            <a:r>
              <a:rPr lang="en-US" sz="1400" b="1" dirty="0">
                <a:solidFill>
                  <a:schemeClr val="accent1"/>
                </a:solidFill>
              </a:rPr>
              <a:t>7</a:t>
            </a:r>
            <a:endParaRPr lang="en-US" sz="1400" dirty="0"/>
          </a:p>
        </p:txBody>
      </p:sp>
      <p:sp>
        <p:nvSpPr>
          <p:cNvPr id="36" name="cerchio FiUser"/>
          <p:cNvSpPr/>
          <p:nvPr/>
        </p:nvSpPr>
        <p:spPr>
          <a:xfrm>
            <a:off x="914400" y="3630168"/>
            <a:ext cx="320040" cy="320040"/>
          </a:xfrm>
          <a:prstGeom prst="ellipse">
            <a:avLst/>
          </a:prstGeom>
          <a:solidFill>
            <a:schemeClr val="accent1"/>
          </a:solidFill>
          <a:ln/>
        </p:spPr>
      </p:sp>
      <p:pic>
        <p:nvPicPr>
          <p:cNvPr id="37" name="Image 6" descr="FiUser">    </p:cNvPr>
          <p:cNvPicPr>
            <a:picLocks noChangeAspect="1"/>
          </p:cNvPicPr>
          <p:nvPr/>
        </p:nvPicPr>
        <p:blipFill>
          <a:blip r:embed="rId7"/>
          <a:stretch>
            <a:fillRect/>
          </a:stretch>
        </p:blipFill>
        <p:spPr>
          <a:xfrm>
            <a:off x="994410" y="3710178"/>
            <a:ext cx="160020" cy="160020"/>
          </a:xfrm>
          <a:prstGeom prst="rect">
            <a:avLst/>
          </a:prstGeom>
        </p:spPr>
      </p:pic>
      <p:sp>
        <p:nvSpPr>
          <p:cNvPr id="38" name="Text 28"/>
          <p:cNvSpPr txBox="1"/>
          <p:nvPr/>
        </p:nvSpPr>
        <p:spPr>
          <a:xfrm>
            <a:off x="1371600" y="3602736"/>
            <a:ext cx="7223760" cy="374904"/>
          </a:xfrm>
          <a:prstGeom prst="rect">
            <a:avLst/>
          </a:prstGeom>
          <a:noFill/>
          <a:ln/>
        </p:spPr>
        <p:txBody>
          <a:bodyPr wrap="square" lIns="0" tIns="0" rIns="0" bIns="0" rtlCol="0" anchor="ctr"/>
          <a:lstStyle/>
          <a:p>
            <a:pPr indent="0" marL="0">
              <a:buNone/>
            </a:pPr>
            <a:r>
              <a:rPr lang="en-US" sz="1300" dirty="0">
                <a:solidFill>
                  <a:schemeClr val="tx1"/>
                </a:solidFill>
              </a:rPr>
              <a:t>La conversazione è naturale, ma il sistema non è una persona</a:t>
            </a:r>
            <a:endParaRPr lang="en-US" sz="1300" dirty="0"/>
          </a:p>
        </p:txBody>
      </p:sp>
      <p:sp>
        <p:nvSpPr>
          <p:cNvPr id="39" name="principio 8"/>
          <p:cNvSpPr/>
          <p:nvPr/>
        </p:nvSpPr>
        <p:spPr>
          <a:xfrm>
            <a:off x="457200" y="4032504"/>
            <a:ext cx="8229600" cy="374904"/>
          </a:xfrm>
          <a:prstGeom prst="roundRect">
            <a:avLst>
              <a:gd name="adj" fmla="val 19512"/>
            </a:avLst>
          </a:prstGeom>
          <a:solidFill>
            <a:schemeClr val="bg1"/>
          </a:solidFill>
          <a:ln/>
        </p:spPr>
      </p:sp>
      <p:sp>
        <p:nvSpPr>
          <p:cNvPr id="40" name="Text 30"/>
          <p:cNvSpPr txBox="1"/>
          <p:nvPr/>
        </p:nvSpPr>
        <p:spPr>
          <a:xfrm>
            <a:off x="548640" y="4032504"/>
            <a:ext cx="320040" cy="374904"/>
          </a:xfrm>
          <a:prstGeom prst="rect">
            <a:avLst/>
          </a:prstGeom>
          <a:noFill/>
          <a:ln/>
        </p:spPr>
        <p:txBody>
          <a:bodyPr wrap="square" lIns="0" tIns="0" rIns="0" bIns="0" rtlCol="0" anchor="ctr"/>
          <a:lstStyle/>
          <a:p>
            <a:pPr indent="0" marL="0">
              <a:buNone/>
            </a:pPr>
            <a:r>
              <a:rPr lang="en-US" sz="1400" b="1" dirty="0">
                <a:solidFill>
                  <a:schemeClr val="accent1"/>
                </a:solidFill>
              </a:rPr>
              <a:t>8</a:t>
            </a:r>
            <a:endParaRPr lang="en-US" sz="1400" dirty="0"/>
          </a:p>
        </p:txBody>
      </p:sp>
      <p:sp>
        <p:nvSpPr>
          <p:cNvPr id="41" name="cerchio FiUserCheck"/>
          <p:cNvSpPr/>
          <p:nvPr/>
        </p:nvSpPr>
        <p:spPr>
          <a:xfrm>
            <a:off x="914400" y="4059936"/>
            <a:ext cx="320040" cy="320040"/>
          </a:xfrm>
          <a:prstGeom prst="ellipse">
            <a:avLst/>
          </a:prstGeom>
          <a:solidFill>
            <a:schemeClr val="accent1"/>
          </a:solidFill>
          <a:ln/>
        </p:spPr>
      </p:sp>
      <p:pic>
        <p:nvPicPr>
          <p:cNvPr id="42" name="Image 7" descr="FiUserCheck">    </p:cNvPr>
          <p:cNvPicPr>
            <a:picLocks noChangeAspect="1"/>
          </p:cNvPicPr>
          <p:nvPr/>
        </p:nvPicPr>
        <p:blipFill>
          <a:blip r:embed="rId8"/>
          <a:stretch>
            <a:fillRect/>
          </a:stretch>
        </p:blipFill>
        <p:spPr>
          <a:xfrm>
            <a:off x="994410" y="4139946"/>
            <a:ext cx="160020" cy="160020"/>
          </a:xfrm>
          <a:prstGeom prst="rect">
            <a:avLst/>
          </a:prstGeom>
        </p:spPr>
      </p:pic>
      <p:sp>
        <p:nvSpPr>
          <p:cNvPr id="43" name="Text 32"/>
          <p:cNvSpPr txBox="1"/>
          <p:nvPr/>
        </p:nvSpPr>
        <p:spPr>
          <a:xfrm>
            <a:off x="1371600" y="4032504"/>
            <a:ext cx="7223760" cy="374904"/>
          </a:xfrm>
          <a:prstGeom prst="rect">
            <a:avLst/>
          </a:prstGeom>
          <a:noFill/>
          <a:ln/>
        </p:spPr>
        <p:txBody>
          <a:bodyPr wrap="square" lIns="0" tIns="0" rIns="0" bIns="0" rtlCol="0" anchor="ctr"/>
          <a:lstStyle/>
          <a:p>
            <a:pPr indent="0" marL="0">
              <a:buNone/>
            </a:pPr>
            <a:r>
              <a:rPr lang="en-US" sz="1300" dirty="0">
                <a:solidFill>
                  <a:schemeClr val="tx1"/>
                </a:solidFill>
              </a:rPr>
              <a:t>Pensare con la propria testa e decidere in prima persona</a:t>
            </a:r>
            <a:endParaRPr lang="en-US" sz="1300" dirty="0"/>
          </a:p>
        </p:txBody>
      </p:sp>
      <p:sp>
        <p:nvSpPr>
          <p:cNvPr id="44" name="Text 33"/>
          <p:cNvSpPr txBox="1"/>
          <p:nvPr/>
        </p:nvSpPr>
        <p:spPr>
          <a:xfrm>
            <a:off x="457200" y="4480560"/>
            <a:ext cx="8229600" cy="228600"/>
          </a:xfrm>
          <a:prstGeom prst="rect">
            <a:avLst/>
          </a:prstGeom>
          <a:noFill/>
          <a:ln/>
        </p:spPr>
        <p:txBody>
          <a:bodyPr wrap="square" lIns="0" tIns="0" rIns="0" bIns="0" rtlCol="0" anchor="t"/>
          <a:lstStyle/>
          <a:p>
            <a:pPr indent="0" marL="0">
              <a:buNone/>
            </a:pPr>
            <a:r>
              <a:rPr lang="en-US" sz="1200" i="1" dirty="0">
                <a:solidFill>
                  <a:schemeClr val="tx1"/>
                </a:solidFill>
              </a:rPr>
              <a:t>La tecnologia amplifica le capacità umane, senza sostituire giudizio, competenze e responsabilità.</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evitare</a:t>
            </a:r>
            <a:endParaRPr lang="en-US" sz="2600" dirty="0"/>
          </a:p>
        </p:txBody>
      </p:sp>
      <p:sp>
        <p:nvSpPr>
          <p:cNvPr id="4" name="evitare 1"/>
          <p:cNvSpPr/>
          <p:nvPr/>
        </p:nvSpPr>
        <p:spPr>
          <a:xfrm>
            <a:off x="457200" y="1051560"/>
            <a:ext cx="4023360" cy="1024128"/>
          </a:xfrm>
          <a:prstGeom prst="roundRect">
            <a:avLst>
              <a:gd name="adj" fmla="val 7143"/>
            </a:avLst>
          </a:prstGeom>
          <a:solidFill>
            <a:schemeClr val="bg2"/>
          </a:solidFill>
          <a:ln/>
        </p:spPr>
      </p:sp>
      <p:sp>
        <p:nvSpPr>
          <p:cNvPr id="5" name="cerchio FiMessageCircle"/>
          <p:cNvSpPr/>
          <p:nvPr/>
        </p:nvSpPr>
        <p:spPr>
          <a:xfrm>
            <a:off x="621792" y="1216152"/>
            <a:ext cx="457200" cy="457200"/>
          </a:xfrm>
          <a:prstGeom prst="ellipse">
            <a:avLst/>
          </a:prstGeom>
          <a:solidFill>
            <a:schemeClr val="accent5"/>
          </a:solidFill>
          <a:ln/>
        </p:spPr>
      </p:sp>
      <p:pic>
        <p:nvPicPr>
          <p:cNvPr id="6" name="Image 0" descr="FiMessageCircle">    </p:cNvPr>
          <p:cNvPicPr>
            <a:picLocks noChangeAspect="1"/>
          </p:cNvPicPr>
          <p:nvPr/>
        </p:nvPicPr>
        <p:blipFill>
          <a:blip r:embed="rId1"/>
          <a:stretch>
            <a:fillRect/>
          </a:stretch>
        </p:blipFill>
        <p:spPr>
          <a:xfrm>
            <a:off x="736092" y="1330452"/>
            <a:ext cx="228600" cy="228600"/>
          </a:xfrm>
          <a:prstGeom prst="rect">
            <a:avLst/>
          </a:prstGeom>
        </p:spPr>
      </p:pic>
      <p:sp>
        <p:nvSpPr>
          <p:cNvPr id="7" name="Text 3"/>
          <p:cNvSpPr txBox="1"/>
          <p:nvPr/>
        </p:nvSpPr>
        <p:spPr>
          <a:xfrm>
            <a:off x="1188720" y="1143000"/>
            <a:ext cx="2743200" cy="502920"/>
          </a:xfrm>
          <a:prstGeom prst="rect">
            <a:avLst/>
          </a:prstGeom>
          <a:noFill/>
          <a:ln/>
        </p:spPr>
        <p:txBody>
          <a:bodyPr wrap="square" lIns="0" tIns="0" rIns="0" bIns="0" rtlCol="0" anchor="ctr"/>
          <a:lstStyle/>
          <a:p>
            <a:pPr indent="0" marL="0">
              <a:buNone/>
            </a:pPr>
            <a:r>
              <a:rPr lang="en-US" sz="1300" b="1" dirty="0">
                <a:solidFill>
                  <a:schemeClr val="tx1"/>
                </a:solidFill>
              </a:rPr>
              <a:t>"Basta chiederlo a parole"</a:t>
            </a:r>
            <a:endParaRPr lang="en-US" sz="1300" dirty="0"/>
          </a:p>
        </p:txBody>
      </p:sp>
      <p:sp>
        <p:nvSpPr>
          <p:cNvPr id="8" name="Text 4"/>
          <p:cNvSpPr txBox="1"/>
          <p:nvPr/>
        </p:nvSpPr>
        <p:spPr>
          <a:xfrm>
            <a:off x="1188720" y="1655064"/>
            <a:ext cx="2743200" cy="347472"/>
          </a:xfrm>
          <a:prstGeom prst="rect">
            <a:avLst/>
          </a:prstGeom>
          <a:noFill/>
          <a:ln/>
        </p:spPr>
        <p:txBody>
          <a:bodyPr wrap="square" lIns="0" tIns="0" rIns="0" bIns="0" rtlCol="0" anchor="t"/>
          <a:lstStyle/>
          <a:p>
            <a:pPr indent="0" marL="0">
              <a:buNone/>
            </a:pPr>
            <a:r>
              <a:rPr lang="en-US" sz="1200" dirty="0">
                <a:solidFill>
                  <a:schemeClr val="tx2"/>
                </a:solidFill>
              </a:rPr>
              <a:t>Il linguaggio naturale resta ambiguo</a:t>
            </a:r>
            <a:endParaRPr lang="en-US" sz="1200" dirty="0"/>
          </a:p>
        </p:txBody>
      </p:sp>
      <p:sp>
        <p:nvSpPr>
          <p:cNvPr id="9" name="Text 5"/>
          <p:cNvSpPr txBox="1"/>
          <p:nvPr/>
        </p:nvSpPr>
        <p:spPr>
          <a:xfrm>
            <a:off x="3886200" y="1143000"/>
            <a:ext cx="457200" cy="365760"/>
          </a:xfrm>
          <a:prstGeom prst="rect">
            <a:avLst/>
          </a:prstGeom>
          <a:noFill/>
          <a:ln/>
        </p:spPr>
        <p:txBody>
          <a:bodyPr wrap="square" lIns="0" tIns="0" rIns="0" bIns="0" rtlCol="0" anchor="t"/>
          <a:lstStyle/>
          <a:p>
            <a:pPr algn="r" indent="0" marL="0">
              <a:buNone/>
            </a:pPr>
            <a:r>
              <a:rPr lang="en-US" sz="1100" b="1" dirty="0">
                <a:solidFill>
                  <a:schemeClr val="accent1"/>
                </a:solidFill>
              </a:rPr>
              <a:t>5.1</a:t>
            </a:r>
            <a:endParaRPr lang="en-US" sz="1100" dirty="0"/>
          </a:p>
        </p:txBody>
      </p:sp>
      <p:sp>
        <p:nvSpPr>
          <p:cNvPr id="10" name="evitare 2"/>
          <p:cNvSpPr/>
          <p:nvPr/>
        </p:nvSpPr>
        <p:spPr>
          <a:xfrm>
            <a:off x="4663440" y="1051560"/>
            <a:ext cx="4023360" cy="1024128"/>
          </a:xfrm>
          <a:prstGeom prst="roundRect">
            <a:avLst>
              <a:gd name="adj" fmla="val 7143"/>
            </a:avLst>
          </a:prstGeom>
          <a:solidFill>
            <a:schemeClr val="bg2"/>
          </a:solidFill>
          <a:ln/>
        </p:spPr>
      </p:sp>
      <p:sp>
        <p:nvSpPr>
          <p:cNvPr id="11" name="cerchio FiCornerDownRight"/>
          <p:cNvSpPr/>
          <p:nvPr/>
        </p:nvSpPr>
        <p:spPr>
          <a:xfrm>
            <a:off x="4828032" y="1216152"/>
            <a:ext cx="457200" cy="457200"/>
          </a:xfrm>
          <a:prstGeom prst="ellipse">
            <a:avLst/>
          </a:prstGeom>
          <a:solidFill>
            <a:schemeClr val="accent5"/>
          </a:solidFill>
          <a:ln/>
        </p:spPr>
      </p:sp>
      <p:pic>
        <p:nvPicPr>
          <p:cNvPr id="12" name="Image 1" descr="FiCornerDownRight">    </p:cNvPr>
          <p:cNvPicPr>
            <a:picLocks noChangeAspect="1"/>
          </p:cNvPicPr>
          <p:nvPr/>
        </p:nvPicPr>
        <p:blipFill>
          <a:blip r:embed="rId2"/>
          <a:stretch>
            <a:fillRect/>
          </a:stretch>
        </p:blipFill>
        <p:spPr>
          <a:xfrm>
            <a:off x="4942332" y="1330452"/>
            <a:ext cx="228600" cy="228600"/>
          </a:xfrm>
          <a:prstGeom prst="rect">
            <a:avLst/>
          </a:prstGeom>
        </p:spPr>
      </p:pic>
      <p:sp>
        <p:nvSpPr>
          <p:cNvPr id="13" name="Text 8"/>
          <p:cNvSpPr txBox="1"/>
          <p:nvPr/>
        </p:nvSpPr>
        <p:spPr>
          <a:xfrm>
            <a:off x="5394960" y="1143000"/>
            <a:ext cx="2743200" cy="502920"/>
          </a:xfrm>
          <a:prstGeom prst="rect">
            <a:avLst/>
          </a:prstGeom>
          <a:noFill/>
          <a:ln/>
        </p:spPr>
        <p:txBody>
          <a:bodyPr wrap="square" lIns="0" tIns="0" rIns="0" bIns="0" rtlCol="0" anchor="ctr"/>
          <a:lstStyle/>
          <a:p>
            <a:pPr indent="0" marL="0">
              <a:buNone/>
            </a:pPr>
            <a:r>
              <a:rPr lang="en-US" sz="1300" b="1" dirty="0">
                <a:solidFill>
                  <a:schemeClr val="tx1"/>
                </a:solidFill>
              </a:rPr>
              <a:t>"La prima risposta va bene"</a:t>
            </a:r>
            <a:endParaRPr lang="en-US" sz="1300" dirty="0"/>
          </a:p>
        </p:txBody>
      </p:sp>
      <p:sp>
        <p:nvSpPr>
          <p:cNvPr id="14" name="Text 9"/>
          <p:cNvSpPr txBox="1"/>
          <p:nvPr/>
        </p:nvSpPr>
        <p:spPr>
          <a:xfrm>
            <a:off x="5394960" y="1655064"/>
            <a:ext cx="2743200" cy="347472"/>
          </a:xfrm>
          <a:prstGeom prst="rect">
            <a:avLst/>
          </a:prstGeom>
          <a:noFill/>
          <a:ln/>
        </p:spPr>
        <p:txBody>
          <a:bodyPr wrap="square" lIns="0" tIns="0" rIns="0" bIns="0" rtlCol="0" anchor="t"/>
          <a:lstStyle/>
          <a:p>
            <a:pPr indent="0" marL="0">
              <a:buNone/>
            </a:pPr>
            <a:r>
              <a:rPr lang="en-US" sz="1200" dirty="0">
                <a:solidFill>
                  <a:schemeClr val="tx2"/>
                </a:solidFill>
              </a:rPr>
              <a:t>Il dialogo migliora il risultato</a:t>
            </a:r>
            <a:endParaRPr lang="en-US" sz="1200" dirty="0"/>
          </a:p>
        </p:txBody>
      </p:sp>
      <p:sp>
        <p:nvSpPr>
          <p:cNvPr id="15" name="Text 10"/>
          <p:cNvSpPr txBox="1"/>
          <p:nvPr/>
        </p:nvSpPr>
        <p:spPr>
          <a:xfrm>
            <a:off x="8092440" y="1143000"/>
            <a:ext cx="457200" cy="365760"/>
          </a:xfrm>
          <a:prstGeom prst="rect">
            <a:avLst/>
          </a:prstGeom>
          <a:noFill/>
          <a:ln/>
        </p:spPr>
        <p:txBody>
          <a:bodyPr wrap="square" lIns="0" tIns="0" rIns="0" bIns="0" rtlCol="0" anchor="t"/>
          <a:lstStyle/>
          <a:p>
            <a:pPr algn="r" indent="0" marL="0">
              <a:buNone/>
            </a:pPr>
            <a:r>
              <a:rPr lang="en-US" sz="1100" b="1" dirty="0">
                <a:solidFill>
                  <a:schemeClr val="accent1"/>
                </a:solidFill>
              </a:rPr>
              <a:t>5.2</a:t>
            </a:r>
            <a:endParaRPr lang="en-US" sz="1100" dirty="0"/>
          </a:p>
        </p:txBody>
      </p:sp>
      <p:sp>
        <p:nvSpPr>
          <p:cNvPr id="16" name="evitare 3"/>
          <p:cNvSpPr/>
          <p:nvPr/>
        </p:nvSpPr>
        <p:spPr>
          <a:xfrm>
            <a:off x="457200" y="2212848"/>
            <a:ext cx="4023360" cy="1024128"/>
          </a:xfrm>
          <a:prstGeom prst="roundRect">
            <a:avLst>
              <a:gd name="adj" fmla="val 7143"/>
            </a:avLst>
          </a:prstGeom>
          <a:solidFill>
            <a:schemeClr val="accent6"/>
          </a:solidFill>
          <a:ln/>
        </p:spPr>
      </p:sp>
      <p:sp>
        <p:nvSpPr>
          <p:cNvPr id="17" name="cerchio FiAward"/>
          <p:cNvSpPr/>
          <p:nvPr/>
        </p:nvSpPr>
        <p:spPr>
          <a:xfrm>
            <a:off x="621792" y="2377440"/>
            <a:ext cx="457200" cy="457200"/>
          </a:xfrm>
          <a:prstGeom prst="ellipse">
            <a:avLst/>
          </a:prstGeom>
          <a:solidFill>
            <a:schemeClr val="accent5"/>
          </a:solidFill>
          <a:ln/>
        </p:spPr>
      </p:sp>
      <p:pic>
        <p:nvPicPr>
          <p:cNvPr id="18" name="Image 2" descr="FiAward">    </p:cNvPr>
          <p:cNvPicPr>
            <a:picLocks noChangeAspect="1"/>
          </p:cNvPicPr>
          <p:nvPr/>
        </p:nvPicPr>
        <p:blipFill>
          <a:blip r:embed="rId3"/>
          <a:stretch>
            <a:fillRect/>
          </a:stretch>
        </p:blipFill>
        <p:spPr>
          <a:xfrm>
            <a:off x="736092" y="2491740"/>
            <a:ext cx="228600" cy="228600"/>
          </a:xfrm>
          <a:prstGeom prst="rect">
            <a:avLst/>
          </a:prstGeom>
        </p:spPr>
      </p:pic>
      <p:sp>
        <p:nvSpPr>
          <p:cNvPr id="19" name="Text 13"/>
          <p:cNvSpPr txBox="1"/>
          <p:nvPr/>
        </p:nvSpPr>
        <p:spPr>
          <a:xfrm>
            <a:off x="1188720" y="2304288"/>
            <a:ext cx="2743200" cy="502920"/>
          </a:xfrm>
          <a:prstGeom prst="rect">
            <a:avLst/>
          </a:prstGeom>
          <a:noFill/>
          <a:ln/>
        </p:spPr>
        <p:txBody>
          <a:bodyPr wrap="square" lIns="0" tIns="0" rIns="0" bIns="0" rtlCol="0" anchor="ctr"/>
          <a:lstStyle/>
          <a:p>
            <a:pPr indent="0" marL="0">
              <a:buNone/>
            </a:pPr>
            <a:r>
              <a:rPr lang="en-US" sz="1300" b="1" dirty="0">
                <a:solidFill>
                  <a:schemeClr val="tx1"/>
                </a:solidFill>
              </a:rPr>
              <a:t>"Se gli dico che è esperto, lo diventa"</a:t>
            </a:r>
            <a:endParaRPr lang="en-US" sz="1300" dirty="0"/>
          </a:p>
        </p:txBody>
      </p:sp>
      <p:sp>
        <p:nvSpPr>
          <p:cNvPr id="20" name="Text 14"/>
          <p:cNvSpPr txBox="1"/>
          <p:nvPr/>
        </p:nvSpPr>
        <p:spPr>
          <a:xfrm>
            <a:off x="1188720" y="2816352"/>
            <a:ext cx="2743200" cy="347472"/>
          </a:xfrm>
          <a:prstGeom prst="rect">
            <a:avLst/>
          </a:prstGeom>
          <a:noFill/>
          <a:ln/>
        </p:spPr>
        <p:txBody>
          <a:bodyPr wrap="square" lIns="0" tIns="0" rIns="0" bIns="0" rtlCol="0" anchor="t"/>
          <a:lstStyle/>
          <a:p>
            <a:pPr indent="0" marL="0">
              <a:buNone/>
            </a:pPr>
            <a:r>
              <a:rPr lang="en-US" sz="1200" dirty="0">
                <a:solidFill>
                  <a:schemeClr val="tx2"/>
                </a:solidFill>
              </a:rPr>
              <a:t>Il ruolo orienta, non dà competenze</a:t>
            </a:r>
            <a:endParaRPr lang="en-US" sz="1200" dirty="0"/>
          </a:p>
        </p:txBody>
      </p:sp>
      <p:sp>
        <p:nvSpPr>
          <p:cNvPr id="21" name="Text 15"/>
          <p:cNvSpPr txBox="1"/>
          <p:nvPr/>
        </p:nvSpPr>
        <p:spPr>
          <a:xfrm>
            <a:off x="3886200" y="2304288"/>
            <a:ext cx="457200" cy="365760"/>
          </a:xfrm>
          <a:prstGeom prst="rect">
            <a:avLst/>
          </a:prstGeom>
          <a:noFill/>
          <a:ln/>
        </p:spPr>
        <p:txBody>
          <a:bodyPr wrap="square" lIns="0" tIns="0" rIns="0" bIns="0" rtlCol="0" anchor="t"/>
          <a:lstStyle/>
          <a:p>
            <a:pPr algn="r" indent="0" marL="0">
              <a:buNone/>
            </a:pPr>
            <a:r>
              <a:rPr lang="en-US" sz="1100" b="1" dirty="0">
                <a:solidFill>
                  <a:schemeClr val="accent1"/>
                </a:solidFill>
              </a:rPr>
              <a:t>5.3</a:t>
            </a:r>
            <a:endParaRPr lang="en-US" sz="1100" dirty="0"/>
          </a:p>
        </p:txBody>
      </p:sp>
      <p:sp>
        <p:nvSpPr>
          <p:cNvPr id="22" name="evitare 4"/>
          <p:cNvSpPr/>
          <p:nvPr/>
        </p:nvSpPr>
        <p:spPr>
          <a:xfrm>
            <a:off x="4663440" y="2212848"/>
            <a:ext cx="4023360" cy="1024128"/>
          </a:xfrm>
          <a:prstGeom prst="roundRect">
            <a:avLst>
              <a:gd name="adj" fmla="val 7143"/>
            </a:avLst>
          </a:prstGeom>
          <a:solidFill>
            <a:schemeClr val="accent6"/>
          </a:solidFill>
          <a:ln/>
        </p:spPr>
      </p:sp>
      <p:sp>
        <p:nvSpPr>
          <p:cNvPr id="23" name="cerchio FiSend"/>
          <p:cNvSpPr/>
          <p:nvPr/>
        </p:nvSpPr>
        <p:spPr>
          <a:xfrm>
            <a:off x="4828032" y="2377440"/>
            <a:ext cx="457200" cy="457200"/>
          </a:xfrm>
          <a:prstGeom prst="ellipse">
            <a:avLst/>
          </a:prstGeom>
          <a:solidFill>
            <a:schemeClr val="accent5"/>
          </a:solidFill>
          <a:ln/>
        </p:spPr>
      </p:sp>
      <p:pic>
        <p:nvPicPr>
          <p:cNvPr id="24" name="Image 3" descr="FiSend">    </p:cNvPr>
          <p:cNvPicPr>
            <a:picLocks noChangeAspect="1"/>
          </p:cNvPicPr>
          <p:nvPr/>
        </p:nvPicPr>
        <p:blipFill>
          <a:blip r:embed="rId4"/>
          <a:stretch>
            <a:fillRect/>
          </a:stretch>
        </p:blipFill>
        <p:spPr>
          <a:xfrm>
            <a:off x="4942332" y="2491740"/>
            <a:ext cx="228600" cy="228600"/>
          </a:xfrm>
          <a:prstGeom prst="rect">
            <a:avLst/>
          </a:prstGeom>
        </p:spPr>
      </p:pic>
      <p:sp>
        <p:nvSpPr>
          <p:cNvPr id="25" name="Text 18"/>
          <p:cNvSpPr txBox="1"/>
          <p:nvPr/>
        </p:nvSpPr>
        <p:spPr>
          <a:xfrm>
            <a:off x="5394960" y="2304288"/>
            <a:ext cx="2743200" cy="502920"/>
          </a:xfrm>
          <a:prstGeom prst="rect">
            <a:avLst/>
          </a:prstGeom>
          <a:noFill/>
          <a:ln/>
        </p:spPr>
        <p:txBody>
          <a:bodyPr wrap="square" lIns="0" tIns="0" rIns="0" bIns="0" rtlCol="0" anchor="ctr"/>
          <a:lstStyle/>
          <a:p>
            <a:pPr indent="0" marL="0">
              <a:buNone/>
            </a:pPr>
            <a:r>
              <a:rPr lang="en-US" sz="1300" b="1" dirty="0">
                <a:solidFill>
                  <a:schemeClr val="tx1"/>
                </a:solidFill>
              </a:rPr>
              <a:t>"Più delego, meglio è"</a:t>
            </a:r>
            <a:endParaRPr lang="en-US" sz="1300" dirty="0"/>
          </a:p>
        </p:txBody>
      </p:sp>
      <p:sp>
        <p:nvSpPr>
          <p:cNvPr id="26" name="Text 19"/>
          <p:cNvSpPr txBox="1"/>
          <p:nvPr/>
        </p:nvSpPr>
        <p:spPr>
          <a:xfrm>
            <a:off x="5394960" y="2816352"/>
            <a:ext cx="2743200" cy="347472"/>
          </a:xfrm>
          <a:prstGeom prst="rect">
            <a:avLst/>
          </a:prstGeom>
          <a:noFill/>
          <a:ln/>
        </p:spPr>
        <p:txBody>
          <a:bodyPr wrap="square" lIns="0" tIns="0" rIns="0" bIns="0" rtlCol="0" anchor="t"/>
          <a:lstStyle/>
          <a:p>
            <a:pPr indent="0" marL="0">
              <a:buNone/>
            </a:pPr>
            <a:r>
              <a:rPr lang="en-US" sz="1200" dirty="0">
                <a:solidFill>
                  <a:schemeClr val="tx2"/>
                </a:solidFill>
              </a:rPr>
              <a:t>Il livello si sceglie su compito e rischi</a:t>
            </a:r>
            <a:endParaRPr lang="en-US" sz="1200" dirty="0"/>
          </a:p>
        </p:txBody>
      </p:sp>
      <p:sp>
        <p:nvSpPr>
          <p:cNvPr id="27" name="Text 20"/>
          <p:cNvSpPr txBox="1"/>
          <p:nvPr/>
        </p:nvSpPr>
        <p:spPr>
          <a:xfrm>
            <a:off x="8092440" y="2304288"/>
            <a:ext cx="457200" cy="365760"/>
          </a:xfrm>
          <a:prstGeom prst="rect">
            <a:avLst/>
          </a:prstGeom>
          <a:noFill/>
          <a:ln/>
        </p:spPr>
        <p:txBody>
          <a:bodyPr wrap="square" lIns="0" tIns="0" rIns="0" bIns="0" rtlCol="0" anchor="t"/>
          <a:lstStyle/>
          <a:p>
            <a:pPr algn="r" indent="0" marL="0">
              <a:buNone/>
            </a:pPr>
            <a:r>
              <a:rPr lang="en-US" sz="1100" b="1" dirty="0">
                <a:solidFill>
                  <a:schemeClr val="accent1"/>
                </a:solidFill>
              </a:rPr>
              <a:t>5.5</a:t>
            </a:r>
            <a:endParaRPr lang="en-US" sz="1100" dirty="0"/>
          </a:p>
        </p:txBody>
      </p:sp>
      <p:sp>
        <p:nvSpPr>
          <p:cNvPr id="28" name="evitare 5"/>
          <p:cNvSpPr/>
          <p:nvPr/>
        </p:nvSpPr>
        <p:spPr>
          <a:xfrm>
            <a:off x="457200" y="3374136"/>
            <a:ext cx="4023360" cy="1024128"/>
          </a:xfrm>
          <a:prstGeom prst="roundRect">
            <a:avLst>
              <a:gd name="adj" fmla="val 7143"/>
            </a:avLst>
          </a:prstGeom>
          <a:solidFill>
            <a:schemeClr val="bg2"/>
          </a:solidFill>
          <a:ln/>
        </p:spPr>
      </p:sp>
      <p:sp>
        <p:nvSpPr>
          <p:cNvPr id="29" name="cerchio FiTool"/>
          <p:cNvSpPr/>
          <p:nvPr/>
        </p:nvSpPr>
        <p:spPr>
          <a:xfrm>
            <a:off x="621792" y="3538728"/>
            <a:ext cx="457200" cy="457200"/>
          </a:xfrm>
          <a:prstGeom prst="ellipse">
            <a:avLst/>
          </a:prstGeom>
          <a:solidFill>
            <a:schemeClr val="accent5"/>
          </a:solidFill>
          <a:ln/>
        </p:spPr>
      </p:sp>
      <p:pic>
        <p:nvPicPr>
          <p:cNvPr id="30" name="Image 4" descr="FiTool">    </p:cNvPr>
          <p:cNvPicPr>
            <a:picLocks noChangeAspect="1"/>
          </p:cNvPicPr>
          <p:nvPr/>
        </p:nvPicPr>
        <p:blipFill>
          <a:blip r:embed="rId5"/>
          <a:stretch>
            <a:fillRect/>
          </a:stretch>
        </p:blipFill>
        <p:spPr>
          <a:xfrm>
            <a:off x="736092" y="3653028"/>
            <a:ext cx="228600" cy="228600"/>
          </a:xfrm>
          <a:prstGeom prst="rect">
            <a:avLst/>
          </a:prstGeom>
        </p:spPr>
      </p:pic>
      <p:sp>
        <p:nvSpPr>
          <p:cNvPr id="31" name="Text 23"/>
          <p:cNvSpPr txBox="1"/>
          <p:nvPr/>
        </p:nvSpPr>
        <p:spPr>
          <a:xfrm>
            <a:off x="1188720" y="3465576"/>
            <a:ext cx="2743200" cy="502920"/>
          </a:xfrm>
          <a:prstGeom prst="rect">
            <a:avLst/>
          </a:prstGeom>
          <a:noFill/>
          <a:ln/>
        </p:spPr>
        <p:txBody>
          <a:bodyPr wrap="square" lIns="0" tIns="0" rIns="0" bIns="0" rtlCol="0" anchor="ctr"/>
          <a:lstStyle/>
          <a:p>
            <a:pPr indent="0" marL="0">
              <a:buNone/>
            </a:pPr>
            <a:r>
              <a:rPr lang="en-US" sz="1300" b="1" dirty="0">
                <a:solidFill>
                  <a:schemeClr val="tx1"/>
                </a:solidFill>
              </a:rPr>
              <a:t>"Lo strumento fa tutto da solo"</a:t>
            </a:r>
            <a:endParaRPr lang="en-US" sz="1300" dirty="0"/>
          </a:p>
        </p:txBody>
      </p:sp>
      <p:sp>
        <p:nvSpPr>
          <p:cNvPr id="32" name="Text 24"/>
          <p:cNvSpPr txBox="1"/>
          <p:nvPr/>
        </p:nvSpPr>
        <p:spPr>
          <a:xfrm>
            <a:off x="1188720" y="3977640"/>
            <a:ext cx="2743200" cy="347472"/>
          </a:xfrm>
          <a:prstGeom prst="rect">
            <a:avLst/>
          </a:prstGeom>
          <a:noFill/>
          <a:ln/>
        </p:spPr>
        <p:txBody>
          <a:bodyPr wrap="square" lIns="0" tIns="0" rIns="0" bIns="0" rtlCol="0" anchor="t"/>
          <a:lstStyle/>
          <a:p>
            <a:pPr indent="0" marL="0">
              <a:buNone/>
            </a:pPr>
            <a:r>
              <a:rPr lang="en-US" sz="1200" dirty="0">
                <a:solidFill>
                  <a:schemeClr val="tx2"/>
                </a:solidFill>
              </a:rPr>
              <a:t>La qualità dipende anche dalla persona</a:t>
            </a:r>
            <a:endParaRPr lang="en-US" sz="1200" dirty="0"/>
          </a:p>
        </p:txBody>
      </p:sp>
      <p:sp>
        <p:nvSpPr>
          <p:cNvPr id="33" name="Text 25"/>
          <p:cNvSpPr txBox="1"/>
          <p:nvPr/>
        </p:nvSpPr>
        <p:spPr>
          <a:xfrm>
            <a:off x="3886200" y="3465576"/>
            <a:ext cx="457200" cy="365760"/>
          </a:xfrm>
          <a:prstGeom prst="rect">
            <a:avLst/>
          </a:prstGeom>
          <a:noFill/>
          <a:ln/>
        </p:spPr>
        <p:txBody>
          <a:bodyPr wrap="square" lIns="0" tIns="0" rIns="0" bIns="0" rtlCol="0" anchor="t"/>
          <a:lstStyle/>
          <a:p>
            <a:pPr algn="r" indent="0" marL="0">
              <a:buNone/>
            </a:pPr>
            <a:r>
              <a:rPr lang="en-US" sz="1100" b="1" dirty="0">
                <a:solidFill>
                  <a:schemeClr val="accent1"/>
                </a:solidFill>
              </a:rPr>
              <a:t>5.6</a:t>
            </a:r>
            <a:endParaRPr lang="en-US" sz="1100" dirty="0"/>
          </a:p>
        </p:txBody>
      </p:sp>
      <p:sp>
        <p:nvSpPr>
          <p:cNvPr id="34" name="evitare 6"/>
          <p:cNvSpPr/>
          <p:nvPr/>
        </p:nvSpPr>
        <p:spPr>
          <a:xfrm>
            <a:off x="4663440" y="3374136"/>
            <a:ext cx="4023360" cy="1024128"/>
          </a:xfrm>
          <a:prstGeom prst="roundRect">
            <a:avLst>
              <a:gd name="adj" fmla="val 7143"/>
            </a:avLst>
          </a:prstGeom>
          <a:solidFill>
            <a:schemeClr val="bg2"/>
          </a:solidFill>
          <a:ln/>
        </p:spPr>
      </p:sp>
      <p:sp>
        <p:nvSpPr>
          <p:cNvPr id="35" name="cerchio FiHeart"/>
          <p:cNvSpPr/>
          <p:nvPr/>
        </p:nvSpPr>
        <p:spPr>
          <a:xfrm>
            <a:off x="4828032" y="3538728"/>
            <a:ext cx="457200" cy="457200"/>
          </a:xfrm>
          <a:prstGeom prst="ellipse">
            <a:avLst/>
          </a:prstGeom>
          <a:solidFill>
            <a:schemeClr val="accent5"/>
          </a:solidFill>
          <a:ln/>
        </p:spPr>
      </p:sp>
      <p:pic>
        <p:nvPicPr>
          <p:cNvPr id="36" name="Image 5" descr="FiHeart">    </p:cNvPr>
          <p:cNvPicPr>
            <a:picLocks noChangeAspect="1"/>
          </p:cNvPicPr>
          <p:nvPr/>
        </p:nvPicPr>
        <p:blipFill>
          <a:blip r:embed="rId6"/>
          <a:stretch>
            <a:fillRect/>
          </a:stretch>
        </p:blipFill>
        <p:spPr>
          <a:xfrm>
            <a:off x="4942332" y="3653028"/>
            <a:ext cx="228600" cy="228600"/>
          </a:xfrm>
          <a:prstGeom prst="rect">
            <a:avLst/>
          </a:prstGeom>
        </p:spPr>
      </p:pic>
      <p:sp>
        <p:nvSpPr>
          <p:cNvPr id="37" name="Text 28"/>
          <p:cNvSpPr txBox="1"/>
          <p:nvPr/>
        </p:nvSpPr>
        <p:spPr>
          <a:xfrm>
            <a:off x="5394960" y="3465576"/>
            <a:ext cx="2743200" cy="502920"/>
          </a:xfrm>
          <a:prstGeom prst="rect">
            <a:avLst/>
          </a:prstGeom>
          <a:noFill/>
          <a:ln/>
        </p:spPr>
        <p:txBody>
          <a:bodyPr wrap="square" lIns="0" tIns="0" rIns="0" bIns="0" rtlCol="0" anchor="ctr"/>
          <a:lstStyle/>
          <a:p>
            <a:pPr indent="0" marL="0">
              <a:buNone/>
            </a:pPr>
            <a:r>
              <a:rPr lang="en-US" sz="1300" b="1" dirty="0">
                <a:solidFill>
                  <a:schemeClr val="tx1"/>
                </a:solidFill>
              </a:rPr>
              <a:t>"Mi capisce, quindi ha ragione"</a:t>
            </a:r>
            <a:endParaRPr lang="en-US" sz="1300" dirty="0"/>
          </a:p>
        </p:txBody>
      </p:sp>
      <p:sp>
        <p:nvSpPr>
          <p:cNvPr id="38" name="Text 29"/>
          <p:cNvSpPr txBox="1"/>
          <p:nvPr/>
        </p:nvSpPr>
        <p:spPr>
          <a:xfrm>
            <a:off x="5394960" y="3977640"/>
            <a:ext cx="2743200" cy="347472"/>
          </a:xfrm>
          <a:prstGeom prst="rect">
            <a:avLst/>
          </a:prstGeom>
          <a:noFill/>
          <a:ln/>
        </p:spPr>
        <p:txBody>
          <a:bodyPr wrap="square" lIns="0" tIns="0" rIns="0" bIns="0" rtlCol="0" anchor="t"/>
          <a:lstStyle/>
          <a:p>
            <a:pPr indent="0" marL="0">
              <a:buNone/>
            </a:pPr>
            <a:r>
              <a:rPr lang="en-US" sz="1200" dirty="0">
                <a:solidFill>
                  <a:schemeClr val="tx2"/>
                </a:solidFill>
              </a:rPr>
              <a:t>Naturalezza non è comprensione</a:t>
            </a:r>
            <a:endParaRPr lang="en-US" sz="1200" dirty="0"/>
          </a:p>
        </p:txBody>
      </p:sp>
      <p:sp>
        <p:nvSpPr>
          <p:cNvPr id="39" name="Text 30"/>
          <p:cNvSpPr txBox="1"/>
          <p:nvPr/>
        </p:nvSpPr>
        <p:spPr>
          <a:xfrm>
            <a:off x="8092440" y="3465576"/>
            <a:ext cx="457200" cy="365760"/>
          </a:xfrm>
          <a:prstGeom prst="rect">
            <a:avLst/>
          </a:prstGeom>
          <a:noFill/>
          <a:ln/>
        </p:spPr>
        <p:txBody>
          <a:bodyPr wrap="square" lIns="0" tIns="0" rIns="0" bIns="0" rtlCol="0" anchor="t"/>
          <a:lstStyle/>
          <a:p>
            <a:pPr algn="r" indent="0" marL="0">
              <a:buNone/>
            </a:pPr>
            <a:r>
              <a:rPr lang="en-US" sz="1100" b="1" dirty="0">
                <a:solidFill>
                  <a:schemeClr val="accent1"/>
                </a:solidFill>
              </a:rPr>
              <a:t>5.7</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Prossimo passo: il Tema 6</a:t>
            </a:r>
            <a:endParaRPr lang="en-US" sz="2600" dirty="0"/>
          </a:p>
        </p:txBody>
      </p:sp>
      <p:sp>
        <p:nvSpPr>
          <p:cNvPr id="4" name="tema 5"/>
          <p:cNvSpPr/>
          <p:nvPr/>
        </p:nvSpPr>
        <p:spPr>
          <a:xfrm>
            <a:off x="457200" y="1097280"/>
            <a:ext cx="3291840" cy="3429000"/>
          </a:xfrm>
          <a:prstGeom prst="roundRect">
            <a:avLst>
              <a:gd name="adj" fmla="val 2222"/>
            </a:avLst>
          </a:prstGeom>
          <a:solidFill>
            <a:schemeClr val="bg2"/>
          </a:solidFill>
          <a:ln/>
        </p:spPr>
      </p:sp>
      <p:sp>
        <p:nvSpPr>
          <p:cNvPr id="5" name="Text 2"/>
          <p:cNvSpPr txBox="1"/>
          <p:nvPr/>
        </p:nvSpPr>
        <p:spPr>
          <a:xfrm>
            <a:off x="685800" y="1280160"/>
            <a:ext cx="2834640" cy="320040"/>
          </a:xfrm>
          <a:prstGeom prst="rect">
            <a:avLst/>
          </a:prstGeom>
          <a:noFill/>
          <a:ln/>
        </p:spPr>
        <p:txBody>
          <a:bodyPr wrap="square" lIns="0" tIns="0" rIns="0" bIns="0" rtlCol="0" anchor="t"/>
          <a:lstStyle/>
          <a:p>
            <a:pPr indent="0" marL="0">
              <a:buNone/>
            </a:pPr>
            <a:r>
              <a:rPr lang="en-US" sz="1300" b="1" spc="200" kern="0" dirty="0">
                <a:solidFill>
                  <a:schemeClr val="accent2"/>
                </a:solidFill>
              </a:rPr>
              <a:t>TEMA 5</a:t>
            </a:r>
            <a:endParaRPr lang="en-US" sz="1300" dirty="0"/>
          </a:p>
        </p:txBody>
      </p:sp>
      <p:sp>
        <p:nvSpPr>
          <p:cNvPr id="6" name="Text 3"/>
          <p:cNvSpPr txBox="1"/>
          <p:nvPr/>
        </p:nvSpPr>
        <p:spPr>
          <a:xfrm>
            <a:off x="685800" y="1645920"/>
            <a:ext cx="2834640" cy="457200"/>
          </a:xfrm>
          <a:prstGeom prst="rect">
            <a:avLst/>
          </a:prstGeom>
          <a:noFill/>
          <a:ln/>
        </p:spPr>
        <p:txBody>
          <a:bodyPr wrap="square" lIns="0" tIns="0" rIns="0" bIns="0" rtlCol="0" anchor="t"/>
          <a:lstStyle/>
          <a:p>
            <a:pPr indent="0" marL="0">
              <a:buNone/>
            </a:pPr>
            <a:r>
              <a:rPr lang="en-US" sz="1800" b="1" dirty="0">
                <a:solidFill>
                  <a:schemeClr val="tx1"/>
                </a:solidFill>
              </a:rPr>
              <a:t>Il dialogo uomo-AI</a:t>
            </a:r>
            <a:endParaRPr lang="en-US" sz="1800" dirty="0"/>
          </a:p>
        </p:txBody>
      </p:sp>
      <p:sp>
        <p:nvSpPr>
          <p:cNvPr id="7" name="Text 4"/>
          <p:cNvSpPr txBox="1"/>
          <p:nvPr/>
        </p:nvSpPr>
        <p:spPr>
          <a:xfrm>
            <a:off x="685800" y="2240280"/>
            <a:ext cx="2834640" cy="201168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2"/>
                </a:solidFill>
              </a:rPr>
              <a:t>Dialogo e ruoli dell'AI</a:t>
            </a:r>
            <a:endParaRPr lang="en-US" sz="1400" dirty="0"/>
          </a:p>
          <a:p>
            <a:pPr marL="177800" indent="-177800">
              <a:spcAft>
                <a:spcPts val="400"/>
              </a:spcAft>
              <a:buSzPct val="100000"/>
              <a:buChar char="•"/>
            </a:pPr>
            <a:r>
              <a:rPr lang="en-US" sz="1400" dirty="0">
                <a:solidFill>
                  <a:schemeClr val="tx2"/>
                </a:solidFill>
              </a:rPr>
              <a:t>Collaborazione e delega</a:t>
            </a:r>
            <a:endParaRPr lang="en-US" sz="1400" dirty="0"/>
          </a:p>
          <a:p>
            <a:pPr marL="177800" indent="-177800">
              <a:spcAft>
                <a:spcPts val="400"/>
              </a:spcAft>
              <a:buSzPct val="100000"/>
              <a:buChar char="•"/>
            </a:pPr>
            <a:r>
              <a:rPr lang="en-US" sz="1400" dirty="0">
                <a:solidFill>
                  <a:schemeClr val="tx2"/>
                </a:solidFill>
              </a:rPr>
              <a:t>Il contributo della persona</a:t>
            </a:r>
            <a:endParaRPr lang="en-US" sz="1400" dirty="0"/>
          </a:p>
          <a:p>
            <a:pPr marL="177800" indent="-177800">
              <a:spcAft>
                <a:spcPts val="400"/>
              </a:spcAft>
              <a:buSzPct val="100000"/>
              <a:buChar char="•"/>
            </a:pPr>
            <a:r>
              <a:rPr lang="en-US" sz="1400" dirty="0">
                <a:solidFill>
                  <a:schemeClr val="tx2"/>
                </a:solidFill>
              </a:rPr>
              <a:t>Rischi della relazione</a:t>
            </a:r>
            <a:endParaRPr lang="en-US" sz="1400" dirty="0"/>
          </a:p>
        </p:txBody>
      </p:sp>
      <p:sp>
        <p:nvSpPr>
          <p:cNvPr id="8" name="freccia"/>
          <p:cNvSpPr/>
          <p:nvPr/>
        </p:nvSpPr>
        <p:spPr>
          <a:xfrm>
            <a:off x="3886200" y="2651760"/>
            <a:ext cx="502920" cy="292608"/>
          </a:xfrm>
          <a:prstGeom prst="rightArrow">
            <a:avLst/>
          </a:prstGeom>
          <a:solidFill>
            <a:schemeClr val="accent1"/>
          </a:solidFill>
          <a:ln/>
        </p:spPr>
      </p:sp>
      <p:sp>
        <p:nvSpPr>
          <p:cNvPr id="9" name="tema 6"/>
          <p:cNvSpPr/>
          <p:nvPr/>
        </p:nvSpPr>
        <p:spPr>
          <a:xfrm>
            <a:off x="4526280" y="1097280"/>
            <a:ext cx="4160520" cy="3429000"/>
          </a:xfrm>
          <a:prstGeom prst="roundRect">
            <a:avLst>
              <a:gd name="adj" fmla="val 2133"/>
            </a:avLst>
          </a:prstGeom>
          <a:solidFill>
            <a:schemeClr val="tx1"/>
          </a:solidFill>
          <a:ln/>
        </p:spPr>
      </p:sp>
      <p:sp>
        <p:nvSpPr>
          <p:cNvPr id="10" name="Text 7"/>
          <p:cNvSpPr txBox="1"/>
          <p:nvPr/>
        </p:nvSpPr>
        <p:spPr>
          <a:xfrm>
            <a:off x="4754880" y="1280160"/>
            <a:ext cx="3657600" cy="320040"/>
          </a:xfrm>
          <a:prstGeom prst="rect">
            <a:avLst/>
          </a:prstGeom>
          <a:noFill/>
          <a:ln/>
        </p:spPr>
        <p:txBody>
          <a:bodyPr wrap="square" lIns="0" tIns="0" rIns="0" bIns="0" rtlCol="0" anchor="t"/>
          <a:lstStyle/>
          <a:p>
            <a:pPr indent="0" marL="0">
              <a:buNone/>
            </a:pPr>
            <a:r>
              <a:rPr lang="en-US" sz="1300" b="1" spc="200" kern="0" dirty="0">
                <a:solidFill>
                  <a:schemeClr val="accent1"/>
                </a:solidFill>
              </a:rPr>
              <a:t>TEMA 6</a:t>
            </a:r>
            <a:endParaRPr lang="en-US" sz="1300" dirty="0"/>
          </a:p>
        </p:txBody>
      </p:sp>
      <p:sp>
        <p:nvSpPr>
          <p:cNvPr id="11" name="Text 8"/>
          <p:cNvSpPr txBox="1"/>
          <p:nvPr/>
        </p:nvSpPr>
        <p:spPr>
          <a:xfrm>
            <a:off x="4754880" y="1645920"/>
            <a:ext cx="3749040" cy="640080"/>
          </a:xfrm>
          <a:prstGeom prst="rect">
            <a:avLst/>
          </a:prstGeom>
          <a:noFill/>
          <a:ln/>
        </p:spPr>
        <p:txBody>
          <a:bodyPr wrap="square" lIns="0" tIns="0" rIns="0" bIns="0" rtlCol="0" anchor="t"/>
          <a:lstStyle/>
          <a:p>
            <a:pPr indent="0" marL="0">
              <a:buNone/>
            </a:pPr>
            <a:r>
              <a:rPr lang="en-US" sz="1800" b="1" dirty="0">
                <a:solidFill>
                  <a:schemeClr val="bg1"/>
                </a:solidFill>
              </a:rPr>
              <a:t>Prompting e tecniche di interazione</a:t>
            </a:r>
            <a:endParaRPr lang="en-US" sz="1800" dirty="0"/>
          </a:p>
        </p:txBody>
      </p:sp>
      <p:sp>
        <p:nvSpPr>
          <p:cNvPr id="12" name="Text 9"/>
          <p:cNvSpPr txBox="1"/>
          <p:nvPr/>
        </p:nvSpPr>
        <p:spPr>
          <a:xfrm>
            <a:off x="4754880" y="2423160"/>
            <a:ext cx="3749040" cy="1920240"/>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accent3"/>
                </a:solidFill>
              </a:rPr>
              <a:t>Formulare richieste efficaci</a:t>
            </a:r>
            <a:endParaRPr lang="en-US" sz="1400" dirty="0"/>
          </a:p>
          <a:p>
            <a:pPr marL="177800" indent="-177800">
              <a:spcAft>
                <a:spcPts val="300"/>
              </a:spcAft>
              <a:buSzPct val="100000"/>
              <a:buChar char="•"/>
            </a:pPr>
            <a:r>
              <a:rPr lang="en-US" sz="1400" dirty="0">
                <a:solidFill>
                  <a:schemeClr val="accent3"/>
                </a:solidFill>
              </a:rPr>
              <a:t>Contesto, esempi, ruoli, formati</a:t>
            </a:r>
            <a:endParaRPr lang="en-US" sz="1400" dirty="0"/>
          </a:p>
          <a:p>
            <a:pPr marL="177800" indent="-177800">
              <a:spcAft>
                <a:spcPts val="300"/>
              </a:spcAft>
              <a:buSzPct val="100000"/>
              <a:buChar char="•"/>
            </a:pPr>
            <a:r>
              <a:rPr lang="en-US" sz="1400" dirty="0">
                <a:solidFill>
                  <a:schemeClr val="accent3"/>
                </a:solidFill>
              </a:rPr>
              <a:t>Perfezionare le richieste</a:t>
            </a:r>
            <a:endParaRPr lang="en-US" sz="1400" dirty="0"/>
          </a:p>
          <a:p>
            <a:pPr marL="177800" indent="-177800">
              <a:spcAft>
                <a:spcPts val="300"/>
              </a:spcAft>
              <a:buSzPct val="100000"/>
              <a:buChar char="•"/>
            </a:pPr>
            <a:r>
              <a:rPr lang="en-US" sz="1400" dirty="0">
                <a:solidFill>
                  <a:schemeClr val="accent3"/>
                </a:solidFill>
              </a:rPr>
              <a:t>Poi, Tema 7: verifica e pensiero critico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Fonti e riferimenti</a:t>
            </a:r>
            <a:endParaRPr lang="en-US" sz="2600" dirty="0"/>
          </a:p>
        </p:txBody>
      </p:sp>
      <p:sp>
        <p:nvSpPr>
          <p:cNvPr id="4" name="cerchio FiBookmark"/>
          <p:cNvSpPr/>
          <p:nvPr/>
        </p:nvSpPr>
        <p:spPr>
          <a:xfrm>
            <a:off x="457200" y="1143000"/>
            <a:ext cx="502920" cy="502920"/>
          </a:xfrm>
          <a:prstGeom prst="ellipse">
            <a:avLst/>
          </a:prstGeom>
          <a:solidFill>
            <a:schemeClr val="accent1"/>
          </a:solidFill>
          <a:ln/>
        </p:spPr>
      </p:sp>
      <p:pic>
        <p:nvPicPr>
          <p:cNvPr id="5" name="Image 0" descr="FiBookmark">    </p:cNvPr>
          <p:cNvPicPr>
            <a:picLocks noChangeAspect="1"/>
          </p:cNvPicPr>
          <p:nvPr/>
        </p:nvPicPr>
        <p:blipFill>
          <a:blip r:embed="rId1"/>
          <a:stretch>
            <a:fillRect/>
          </a:stretch>
        </p:blipFill>
        <p:spPr>
          <a:xfrm>
            <a:off x="582930" y="1268730"/>
            <a:ext cx="251460" cy="251460"/>
          </a:xfrm>
          <a:prstGeom prst="rect">
            <a:avLst/>
          </a:prstGeom>
        </p:spPr>
      </p:pic>
      <p:sp>
        <p:nvSpPr>
          <p:cNvPr id="6" name="Text 2"/>
          <p:cNvSpPr txBox="1"/>
          <p:nvPr/>
        </p:nvSpPr>
        <p:spPr>
          <a:xfrm>
            <a:off x="1188720" y="1097280"/>
            <a:ext cx="7498080" cy="2743200"/>
          </a:xfrm>
          <a:prstGeom prst="rect">
            <a:avLst/>
          </a:prstGeom>
          <a:noFill/>
          <a:ln/>
        </p:spPr>
        <p:txBody>
          <a:bodyPr wrap="square" lIns="0" tIns="0" rIns="0" bIns="0" rtlCol="0" anchor="t"/>
          <a:lstStyle/>
          <a:p>
            <a:pPr marL="177800" indent="-177800">
              <a:spcAft>
                <a:spcPts val="1000"/>
              </a:spcAft>
              <a:buSzPct val="100000"/>
              <a:buChar char="•"/>
            </a:pPr>
            <a:r>
              <a:rPr lang="en-US" sz="1300" dirty="0">
                <a:solidFill>
                  <a:schemeClr val="tx1"/>
                </a:solidFill>
              </a:rPr>
              <a:t>Weizenbaum, J. (1966). ELIZA: A Computer Program for the Study of Natural Language Communication between Man and Machine. Communications of the ACM, 9(1), 36-45.</a:t>
            </a:r>
            <a:endParaRPr lang="en-US" sz="1300" dirty="0"/>
          </a:p>
          <a:p>
            <a:pPr marL="177800" indent="-177800">
              <a:spcAft>
                <a:spcPts val="1000"/>
              </a:spcAft>
              <a:buSzPct val="100000"/>
              <a:buChar char="•"/>
            </a:pPr>
            <a:r>
              <a:rPr lang="en-US" sz="1300" dirty="0">
                <a:solidFill>
                  <a:schemeClr val="tx1"/>
                </a:solidFill>
              </a:rPr>
              <a:t>Parasuraman, R., Manzey, D. H. (2010). Complacency and Bias in Human Use of Automation: An Attentional Integration. Human Factors, 52(3).</a:t>
            </a:r>
            <a:endParaRPr lang="en-US" sz="1300" dirty="0"/>
          </a:p>
          <a:p>
            <a:pPr marL="177800" indent="-177800">
              <a:spcAft>
                <a:spcPts val="1000"/>
              </a:spcAft>
              <a:buSzPct val="100000"/>
              <a:buChar char="•"/>
            </a:pPr>
            <a:r>
              <a:rPr lang="en-US" sz="1300" dirty="0">
                <a:solidFill>
                  <a:schemeClr val="tx1"/>
                </a:solidFill>
              </a:rPr>
              <a:t>Lee, H.-P. et al. (2025). The Impact of Generative AI on Critical Thinking: Self-Reported Reductions in Cognitive Effort and Confidence Effects From a Survey of Knowledge Workers. Proceedings of the 2025 CHI Conference on Human Factors in Computing Systems, ACM. Microsoft Research e Carnegie Mellon University.</a:t>
            </a:r>
            <a:endParaRPr lang="en-US" sz="1300" dirty="0"/>
          </a:p>
        </p:txBody>
      </p:sp>
      <p:sp>
        <p:nvSpPr>
          <p:cNvPr id="7" name="Text 3"/>
          <p:cNvSpPr txBox="1"/>
          <p:nvPr/>
        </p:nvSpPr>
        <p:spPr>
          <a:xfrm>
            <a:off x="1188720" y="4297680"/>
            <a:ext cx="7498080" cy="274320"/>
          </a:xfrm>
          <a:prstGeom prst="rect">
            <a:avLst/>
          </a:prstGeom>
          <a:noFill/>
          <a:ln/>
        </p:spPr>
        <p:txBody>
          <a:bodyPr wrap="square" lIns="0" tIns="0" rIns="0" bIns="0" rtlCol="0" anchor="t"/>
          <a:lstStyle/>
          <a:p>
            <a:pPr indent="0" marL="0">
              <a:buNone/>
            </a:pPr>
            <a:r>
              <a:rPr lang="en-US" sz="1100" i="1" dirty="0">
                <a:solidFill>
                  <a:schemeClr val="accent2"/>
                </a:solidFill>
              </a:rPr>
              <a:t>Fonti verificate a ottobre 2026: ricontrollarle prima di ogni edizione.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63</a:t>
            </a:fld>
            <a:endParaRPr lang="en-US"/>
          </a:p>
        </p:txBody>
      </p:sp>
    </p:spTree>
  </p:cSld>
  <p:clrMapOvr>
    <a:masterClrMapping/>
  </p:clrMapOvr>
</p:sld>
</file>

<file path=ppt/theme/theme1.xml><?xml version="1.0" encoding="utf-8"?>
<a:theme xmlns:a="http://schemas.openxmlformats.org/drawingml/2006/main" name="AI Literacy Neutro">
  <a:themeElements>
    <a:clrScheme name="AI Literacy Neutro">
      <a:dk1>
        <a:srgbClr val="22262B"/>
      </a:dk1>
      <a:lt1>
        <a:srgbClr val="FFFFFF"/>
      </a:lt1>
      <a:dk2>
        <a:srgbClr val="4A515C"/>
      </a:dk2>
      <a:lt2>
        <a:srgbClr val="F2F3F5"/>
      </a:lt2>
      <a:accent1>
        <a:srgbClr val="2E7D7A"/>
      </a:accent1>
      <a:accent2>
        <a:srgbClr val="8A939E"/>
      </a:accent2>
      <a:accent3>
        <a:srgbClr val="D5D9DE"/>
      </a:accent3>
      <a:accent4>
        <a:srgbClr val="5B6573"/>
      </a:accent4>
      <a:accent5>
        <a:srgbClr val="A86F1C"/>
      </a:accent5>
      <a:accent6>
        <a:srgbClr val="E6F0EF"/>
      </a:accent6>
      <a:hlink>
        <a:srgbClr val="2E7D7A"/>
      </a:hlink>
      <a:folHlink>
        <a:srgbClr val="5B6573"/>
      </a:folHlink>
    </a:clrScheme>
    <a:fontScheme name="AI Literacy Neutro">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63</Slides>
  <Notes>63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63</vt:i4>
      </vt:variant>
    </vt:vector>
  </HeadingPairs>
  <TitlesOfParts>
    <vt:vector size="6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Tema 5: Il dialogo uomo-AI</dc:title>
  <dc:subject>Percorso AI Literacy</dc:subject>
  <dc:creator>Percorso AI Literacy</dc:creator>
  <cp:lastModifiedBy>Percorso AI Literacy</cp:lastModifiedBy>
  <cp:revision>1</cp:revision>
  <dcterms:created xsi:type="dcterms:W3CDTF">2026-10-09T11:05:28Z</dcterms:created>
  <dcterms:modified xsi:type="dcterms:W3CDTF">2026-10-09T11:05:28Z</dcterms:modified>
</cp:coreProperties>
</file>