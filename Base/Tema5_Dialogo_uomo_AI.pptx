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21398750-6001-79ea-5734-4e12730dca18}">
          <p14:sldIdLst>
            <p14:sldId id="256"/>
            <p14:sldId id="257"/>
            <p14:sldId id="258"/>
          </p14:sldIdLst>
        </p14:section>
        <p14:section name="5.1 Linguaggio naturale" id="{ed3736d1-8cbb-8466-7afd-b1ef461fd281}">
          <p14:sldIdLst>
            <p14:sldId id="259"/>
            <p14:sldId id="260"/>
            <p14:sldId id="261"/>
            <p14:sldId id="262"/>
            <p14:sldId id="263"/>
            <p14:sldId id="264"/>
          </p14:sldIdLst>
        </p14:section>
        <p14:section name="5.2 Dalla domanda alla conversazione" id="{d3ccba36-f357-d562-66e1-e7650973623f}">
          <p14:sldIdLst>
            <p14:sldId id="265"/>
            <p14:sldId id="266"/>
            <p14:sldId id="267"/>
            <p14:sldId id="268"/>
            <p14:sldId id="269"/>
            <p14:sldId id="270"/>
            <p14:sldId id="271"/>
          </p14:sldIdLst>
        </p14:section>
        <p14:section name="5.3 I ruoli dell'AI" id="{127188d9-2ebb-9eed-2bb6-adcc833f31e0}">
          <p14:sldIdLst>
            <p14:sldId id="272"/>
            <p14:sldId id="273"/>
            <p14:sldId id="274"/>
            <p14:sldId id="275"/>
            <p14:sldId id="276"/>
            <p14:sldId id="277"/>
            <p14:sldId id="278"/>
          </p14:sldIdLst>
        </p14:section>
        <p14:section name="5.4 La collaborazione uomo-AI" id="{b2b2a6fc-336e-b5d6-7689-101af908addf}">
          <p14:sldIdLst>
            <p14:sldId id="279"/>
            <p14:sldId id="280"/>
            <p14:sldId id="281"/>
            <p14:sldId id="282"/>
            <p14:sldId id="283"/>
          </p14:sldIdLst>
        </p14:section>
        <p14:section name="5.5 Livelli di delega" id="{90c29866-fdf0-1de2-09d1-b07b12de49c7}">
          <p14:sldIdLst>
            <p14:sldId id="284"/>
            <p14:sldId id="285"/>
            <p14:sldId id="286"/>
            <p14:sldId id="287"/>
            <p14:sldId id="288"/>
            <p14:sldId id="289"/>
          </p14:sldIdLst>
        </p14:section>
        <p14:section name="5.6 Il ruolo della persona" id="{5e37c0d5-623f-333f-d1b4-ae57ce89154e}">
          <p14:sldIdLst>
            <p14:sldId id="290"/>
            <p14:sldId id="291"/>
            <p14:sldId id="292"/>
            <p14:sldId id="293"/>
            <p14:sldId id="294"/>
          </p14:sldIdLst>
        </p14:section>
        <p14:section name="5.7 Limiti e rischi" id="{80cc4813-0202-8cc1-3bf3-92ba27ebc1b4}">
          <p14:sldIdLst>
            <p14:sldId id="295"/>
            <p14:sldId id="296"/>
            <p14:sldId id="297"/>
            <p14:sldId id="298"/>
            <p14:sldId id="299"/>
          </p14:sldIdLst>
        </p14:section>
        <p14:section name="Conclusioni" id="{8afa51d1-992c-a6b8-bd88-b84fa4a869bc}">
          <p14:sldIdLst>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quinto tema, che apre una nuova area del percorso: 'Interagire con l'AI'. Nei quattro temi precedenti abbiamo costruito la comprensione: perché l'AI è rilevante, come funziona, quanto possiamo fidarci dei risultati, come è organizzato l'ecosistema. Da qui in avanti ci spostiamo sulla pratica. Questo tema non è un manuale di prompting, che sarà l'oggetto del Tema 6, né un percorso tecnico sugli agenti. Riguarda il modo di lavorare con l'AI: che cosa significa dialogare con un sistema in linguaggio naturale, quali ruoli può assumere, come si collabora, quanto si può delegare, quanto conta la persona e come sviluppare una fiducia ben calibrata. L'obiettivo è che chi esce dal modulo si senta più preparato a usare l'AI, non soltanto più consapevole dei suoi limiti. Suggerimento per l'apertura: chiedere ai partecipanti come descriverebbero il proprio rapporto con un assistente AI, se lo usano: uno strumento, un collega, un consulente, un motore di ricerca? Le metafore che emergono saranno utili per tutto il modulo. Nota per il relatore: contenuti e fonti verificati a ottobre 2026; gli studi sugli effetti dell'AI generativa sul pensiero critico sono in rapida evoluzione e vanno ricontrollati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del modulo è imparare a collaborare in modo efficace con l'AI attraverso il dialogo. Il beneficio è concreto: chi sa dialogare con un sistema AI riesce a esplorare un problema da più punti di vista, a sviluppare idee, a produrre bozze, analisi e confronti in meno tempo, e a prendere decisioni meglio informate. Per farlo servono tre capacità, che svilupperemo nel modulo: usare il dialogo invece della singola domanda; scegliere il ruolo dell'AI e il livello di delega adatti al compito; ottenere risultati migliori mantenendo un controllo proporzionato. Il secondo riquadro ricorda perché la persona è decisiva: lo stesso strumento dà risultati molto diversi in mani diverse, perché il valore nasce dalla combinazione delle capacità dell'AI con obiettivi chiari, contesto e competenze di chi la usa. È il messaggio che accompagna tutto il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filo conduttore del modulo è un percorso in quattro passi. Primo: l'interfaccia naturale, cioè che cosa cambia quando il linguaggio diventa il modo di usare un software, con le opportunità che apre e l'ambiguità da gestire, nel sottotema 5.1. Secondo: il dialogo e i ruoli, cioè il valore della conversazione progressiva rispetto alla richiesta isolata e i diversi ruoli che l'AI può assumere, nei sottotemi 5.2 e 5.3. Terzo: la collaborazione e la delega, cioè come si dividono i compiti tra persona e sistema e quanta autonomia conviene affidare, nei sottotemi 5.4 e 5.5. Quarto: la persona e la fiducia, cioè perché la qualità dipende dalle competenze di chi usa l'AI e come costruire una fiducia calibrata, nei sottotemi 5.6 e 5.7. Il modulo si chiude con un metodo pratico in cinque passaggi e con i principi di sintesi. Per il relatore, il perimetro: vanno compresi bene il dialogo iterativo, la collaborazione, i livelli di delega, il ruolo delle competenze umane, l'autonomia cognitiva e la responsabilità; vanno conosciuti le interfacce conversazionali, i ruoli dell'AI, l'uso come interlocutore critico, il feedback; vanno solo accennati le teorie dell'interazione uomo-macchina, i modelli psicologici della fiducia e la progettazione di agenti. Non ripetiamo i meccanismi tecnici del Tema 2, l'analisi di allucinazioni e bias del Tema 3, il confronto tra prodotti del Tema 4. Le tecniche per formulare le richieste sono nel Tema 6, la verifica degli output nel Tema 7, la progettazione di agenti e workflow nel Tema 11, la riprogettazione di processi e ruoli nei Temi 13 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1 abbiamo visto che il linguaggio naturale è stato uno dei fattori della svolta generativa, perché ha reso l'AI accessibile a tutti. Qui guardiamo il fenomeno dal punto di vista dell'interazione: che cosa cambia, concretamente, quando parliamo con un software invece di usarne i comandi? Quali possibilità apre, quali aspetti vanno gestiti, e come cambia il nostro rapporto con la tecnologia?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software tradizionale interagiamo attraverso comandi predefiniti: menu, pulsanti, campi da compilare, formule, parole chiave. Ogni comando ha un significato preciso e prevedibile, ma dobbiamo conoscerlo: sapere dove si trova la funzione, come si chiama, in che ordine compilare i campi. Con un'interfaccia conversazionale formuliamo invece richieste in linguaggio naturale, con parole nostre, esprimendo l'obiettivo più che la sequenza di operazioni: 'confronta questi due preventivi e dimmi quale conviene per un ordine di cento pezzi'. Il sistema interpreta la richiesta e propone come soddisfarla. Il confronto in slide mostra le differenze principali. Il punto è che ci spostiamo dal 'come' al 'che cosa': non dobbiamo più sapere come si fa, ma saper dire che cosa vogliamo. Il sistema interpreta, e quando l'interpretazione non è quella giusta possiamo correggerla nel dialogo, come vedremo nel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comunicazione conversazionale apre opportunità rilevanti. Accessibilità: chiunque sappia esprimersi può usare capacità prima riservate agli specialisti, come analizzare dati, scrivere codice semplice, tradurre, sintetizzare documenti lunghi. Riduzione delle barriere tecniche: non servono manuali, formule o linguaggi di programmazione per iniziare. Flessibilità: si possono chiedere cose mai previste dai progettisti, combinare attività diverse, cambiare direzione a metà. Esplorazione: diventa facile provare attività nuove, per esempio un'analisi che prima non si sarebbe affrontata. Possibilità di precisare: se il risultato non va, si spiega che cosa cambiare, come con un collega. Ci sono anche aspetti da gestire, e il dialogo è lo strumento principale per farlo. L'ambiguità del linguaggio si riduce precisando scambio dopo scambio. Le funzioni sono meno visibili che in un menu, ma si può chiedere direttamente al sistema che cosa sa fare e come. Iniziare è facile, ma un risultato di qualità richiede obiettivi chiari e una valutazione attenta: sono le competenze che il modulo aiuta a sviluppare.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flessibilità del linguaggio umano ha un rovescio: l'ambiguità. Tra persone comunichiamo bene perché condividiamo molto contesto implicito: sappiamo chi è l'interlocutore, che cosa sa, a che cosa serve la richiesta. Un sistema AI lavora con il contesto che ha a disposizione: il testo della conversazione e, secondo le funzionalità del sistema, i file allegati, la memoria delle conversazioni precedenti, le istruzioni impostate, i documenti o gli strumenti collegati. Ciò che manca lo completa con le interpretazioni più probabili. Gli esempi in slide sono richieste apparentemente chiare. 'Fammi un riassunto breve del report': breve quanto? Per chi? 'Rendi questa email più professionale': più formale, più sintetica, più tecnica? 'Analizza le vendite': quali aspetti, quale periodo, a quale scopo? In ciascun caso il sistema darà una risposta ragionevole, che potrebbe non essere quella che avevamo in mente. Due conseguenze pratiche. Primo: dare obiettivi e contesto è il modo più semplice per migliorare i risultati, come vedremo nel 5.6. Secondo: l'ambiguità si gestisce con il dialogo, precisando dopo aver visto il primo risultato, come vedremo nel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L'interazione conversazionale non è solo scritta. Oltre al testo, molti sistemi permettono di interagire con la voce, talvolta in conversazioni fluide quasi in tempo reale, e in modo multimodale, mostrando immagini, documenti, schermate o condividendo la fotocamera. Ogni modalità ha caratteristiche diverse. Il testo si può rileggere e modificare prima di inviare, lascia traccia ed è adatto a richieste articolate. La voce è rapida e naturale, comoda quando si hanno le mani occupate o si è in movimento, ideale per esplorare idee; è più difficile da rileggere e accentua la sensazione di parlare con una persona, un aspetto che riprenderemo nel 5.7. La modalità multimodale permette di mostrare invece di descrivere: una foto di un guasto, un grafico, un modulo da compilare; riduce l'ambiguità quando le parole non bastano, con attenzione a che cosa si condivide, soprattutto in ambito aziendale. Non esiste una modalità migliore in assoluto: la scelta dipende dall'attività, dal flusso di lavoro e dalle capacità dello strumento. Per esempio, si può dettare a voce una bozza o chiedere una revisione parlando, e ricevere comunque un testo scritto da consegnare, se lo strumento lo consente.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L'interfaccia conversazionale cambia il rapporto con il software. Con il software tradizionale l'utente è un operatore: conosce gli strumenti, esegue le operazioni, e il software fa esattamente ciò che gli viene detto. Con un sistema conversazionale l'utente diventa piuttosto un committente: esprime un'intenzione e il contesto, e il sistema propone un percorso o un risultato. Quanto dell'esecuzione resta alla persona dipende dal compito e dal sistema: a volte l'AI suggerisce un passo alla volta e la persona esegue, a volte prepara una bozza completa, a volte, con gli strumenti adatti, svolge un'attività in più passaggi. Questo ha tre conseguenze, riassunte in basso. Le competenze si spostano: meno conoscenza dei comandi, più capacità di definire obiettivi, fornire contesto e valutare. L'esecuzione può andare dal singolo passo all'intera attività, secondo il sistema e le scelte della persona. Il controllo si può esercitare sul processo o sul risultato: si può chiedere al sistema di mostrare i passaggi, oppure concentrarsi sull'esito. Sarà il tema dei livelli di delega, nel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modi più comuni di usare un assistente AI è quello del motore di ricerca: si fa una domanda, si legge la risposta, si chiude. Ma un sistema conversazionale dà il meglio quando lo si usa come un dialogo. In questo sottotema, da comprendere bene, vediamo la differenza tra richiesta isolata e conversazione, il dialogo come processo di miglioramento progressivo, un esempio concreto, il contesto della conversazione e la possibilità, spesso trascurata, che sia l'AI a porre domande a noi. Le tecniche operative per formulare e perfezionare le richieste saranno sviluppate nel Tema 6; qui ci interessa il valore del dialogo.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richiesta isolata è un singolo scambio: domanda, risposta, fine. Funziona bene per bisogni semplici e ben definiti, come una traduzione, una definizione, una formula. Un dialogo articolato è una sequenza di scambi in cui la richiesta si costruisce progressivamente: si parte da un'idea, si guarda il primo risultato, si precisa, si aggiungono informazioni, si chiede un'alternativa, si approfondisce un punto. È adatto ai bisogni complessi, quelli in cui all'inizio non sappiamo ancora esattamente che cosa ci serve. Molte persone usano l'AI solo nel primo modo, e quando il risultato non soddisfa concludono che 'l'AI non funziona per questo'. Spesso il problema è aver interrotto il dialogo troppo presto. Il messaggio è liberatorio: non serve scrivere la richiesta ideale al primo colpo, serve saper proseguire.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descrivere il dialogo come un ciclo di miglioramento. Si formula una richiesta, anche imperfetta. Si valuta il risultato: che cosa va bene, che cosa manca. Si precisa: si aggiungono informazioni, si correggono le interpretazioni, si chiede di cambiare tono, struttura, livello di dettaglio. E si ripete: ogni giro avvicina il risultato a ciò che serve. È lo stesso modo in cui lavoriamo con un collega su un documento: prima bozza, commenti, seconda versione. Un vantaggio meno evidente: ogni iterazione è un momento di apprendimento anche per noi. Vedere un primo risultato aiuta a capire meglio che cosa vogliamo davvero, perché rende esplicite scelte che non avevamo considerato. E se dopo alcuni giri il risultato non migliora, è un'informazione utile: conviene aggiungere ciò che manca, riformulare l'impostazione o ripartire con una richiesta diversa.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esempio di dialogo progressivo, fittizio e semplificato, con un estratto della risposta dell'AI a ogni passaggio. Una persona deve preparare una comunicazione interna sul nuovo sistema di prenotazione delle sale. Prima richiesta: 'Scrivi una comunicazione sul nuovo sistema di prenotazione delle sale'. Il sistema produce un testo corretto ma generico, lungo e tecnico. Seconda richiesta: la persona precisa il pubblico, tutti i dipendenti, molti non tecnici, e fissa un limite di otto righe. Il testo diventa breve e chiaro, ma manca l'informazione più urgente. Terza richiesta: la persona chiede di aprire con la scadenza, cioè che dal 1° marzo il vecchio sistema non funzionerà. Ora il messaggio è mirato. Quarta: tre possibili oggetti per l'email. In quattro scambi il testo è passato da generico a pronto da rivedere, senza che la prima richiesta fosse perfetta. Due osservazioni: le informazioni decisive, pubblico, lunghezza e scadenza, le ha portate la persona; e il risultato si rilegge prima dell'invio, come qualunque bozza. Suggerimento: se possibile, ripetere un dialogo simile dal vivo con uno strumento aziendale.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un dialogo si accumulano informazioni: il pubblico, l'obiettivo, i vincoli, le correzioni, le preferenze espresse. Questo contesto è una risorsa: non serve ripetere tutto a ogni richiesta, perché il sistema tiene conto di ciò che è già stato detto, come abbiamo visto nel Tema 2. Quanto contesto è disponibile dipende dal sistema: alcuni strumenti conservano una memoria tra le conversazioni, permettono di organizzare il lavoro in progetti con documenti e istruzioni permanenti, o collegano file e applicazioni aziendali. Ci sono situazioni in cui il contesto può diventare un ostacolo: quando si cambia argomento e le impostazioni del compito precedente influenzano quello nuovo; quando la conversazione è molto lunga e le informazioni iniziali possono perdere peso; quando all'inizio si è presa una strada sbagliata che continua a condizionare le risposte. In questi casi una strategia utile è aprire una nuova conversazione, riportando in sintesi ciò che serve; si può anche chiedere all'AI stessa di preparare quella sintesi. Non è una regola universale: con conversazioni ben organizzate, o con strumenti che gestiscono il contesto in modo strutturato, si può proseguire a lungo nello stesso dialogo.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possibilità spesso trascurata: non siamo solo noi a fare domande. Possiamo chiedere al sistema di porci domande prima di procedere. Per esempio: 'Devo preparare un piano di formazione per i nuovi assunti. Prima di proporre qualcosa, fammi le domande che ti servono per capire bene la situazione'. Il sistema chiederà, plausibilmente, quante persone, quali ruoli, quanto tempo, quali competenze di partenza, quale budget. Rispondere a queste domande ci porta a esplicitare assunzioni che davamo per scontate e a scoprire informazioni che non avevamo considerato. Alcuni sistemi pongono domande di chiarimento anche spontaneamente, quando la richiesta è ambigua. Il valore è triplice: chiarire le esigenze, esplicitare le assunzioni, individuare le informazioni mancanti. Il risultato parte così da basi più solide, e spesso arriva prima. Le risposte, e quindi le scelte, restano della persona, che conosce la situazione reale.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Spesso la parte più difficile di un'attività non è risolvere il problema, ma capire qual è il problema. Qui l'AI offre un beneficio professionale concreto: prima di investire tempo in una soluzione, aiuta a individuare le possibili cause, i vincoli, le alternative e le informazioni mancanti. Alcuni modi di usarla: chiedere quali potrebbero essere le cause di una situazione, prima di cercare soluzioni; chiedere di esplicitare vincoli e obiettivi che potrebbero essere in conflitto; chiedere alternative da confrontare; chiedere quali dati servirebbero per decidere; chiedere di distinguere tra sintomi e problema. Per esempio, prima di chiedere 'come riduco i reclami dei clienti?', si può chiedere 'aiutami a capire quali problemi potrebbero esserci dietro l'aumento dei reclami e quali dati mi servirebbero per distinguerli'. Il beneficio è evitare di risolvere il problema sbagliato: si arriva alla soluzione con le domande e i dati giusti. La conversazione diventa uno strumento per pensare meglio, non solo per ottenere risposte.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stesso assistente AI può essere usato in modi molto diversi: come fonte di spiegazioni, come assistente operativo, come compagno di brainstorming, come analista, come revisore, come tutor, come interlocutore critico. In questo sottotema passiamo in rassegna questi ruoli con un esempio, il beneficio principale e il punto di attenzione di ciascuno; vediamo un esempio di AI come partner di ragionamento su una decisione aziendale; e chiariamo la differenza tra il ruolo che assegniamo al sistema e le competenze su cui può davvero contare. Non confrontiamo prodotti o architetture, che sono temi del Tema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sette ruoli. Fonte di informazioni e spiegazioni: spiegare un concetto, chiarire un termine, dare una panoramica. Assistente operativo: scrivere bozze, riformulare, tradurre, organizzare informazioni. Supporto creativo e al brainstorming: generare idee, alternative, nomi, spunti. Analista e supporto al problem solving: analizzare dati e documenti, scomporre problemi, confrontare opzioni. Revisore di contenuti e risultati: rileggere un testo, segnalare errori, incoerenze, punti deboli. Tutor e supporto all'apprendimento: spiegare passo passo, proporre esercizi, adattarsi al livello della persona. Interlocutore critico: proporre controargomentazioni, alternative, obiezioni. Molte interazioni combinano più ruoli, e passare consapevolmente da un ruolo all'altro è una delle abilità di chi usa bene l'AI. Suggerimento: chiedere ai partecipanti quali ruoli usano già e quali non avevano considerato.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i primi tre ruoli con la stessa struttura: esempio, beneficio, punto di attenzione. Come fonte di informazioni e spiegazioni, l'AI aiuta a orientarsi in pochi minuti su un argomento nuovo: 'Spiegami in termini semplici che cos'è il bilancio di sostenibilità'. Il punto di attenzione: per fatti, dati e riferimenti precisi conviene appoggiarsi a fonti verificabili; alcuni strumenti citano le fonti o cercano sul web, e questo facilita il controllo. Come assistente operativo, l'AI svolge compiti concreti: 'Trasforma questi appunti in un verbale ordinato'. È spesso il ruolo più immediatamente utile, perché restituisce tempo sulle attività ripetitive. L'attenzione: il risultato è una bozza da rileggere prima di condividerla. Come supporto creativo, l'AI genera in pochi secondi molte alternative da cui partire: 'Proponi dieci idee per un evento interno con budget contenuto'. L'attenzione: le idee migliori vanno selezionate e sviluppate, meglio se insieme ad altre persone.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Altri tre ruoli, con la stessa struttura. Come analista, l'AI aiuta a esaminare dati e documenti, a scomporre problemi, a confrontare opzioni: 'Confronta questi tre contratti sulle clausole di recesso'. Il beneficio è la rapidità nel confronto di documenti lunghi; l'attenzione è controllare i punti decisivi sul testo originale, perché le conclusioni dipendono dalle informazioni fornite e dai criteri usati. Come revisore, l'AI rilegge un contenuto e segnala errori, incoerenze, punti poco chiari: 'Rileggi questa offerta e segnala i passaggi ambigui o in contraddizione'. Il beneficio è uno sguardo esterno sempre disponibile, che vede ciò che chi scrive non vede più; l'attenzione è che la revisione non è esaustiva: può non accorgersi di alcuni errori o segnalarne di inesistenti. Come tutor, l'AI spiega passo passo, adatta il livello, propone esercizi: 'Insegnami le basi delle tabelle pivot con esempi graduali'. Il beneficio è imparare al proprio ritmo; l'attenzione è esercitarsi in prima persona, perché si impara davvero facendo.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uno degli usi più preziosi e meno praticati. Come abbiamo visto nel Tema 3, i sistemi AI tendono ad assecondare l'utente. Ma possiamo chiedere esplicitamente il contrario: usare l'AI per mettere alla prova idee, progetti e decisioni prima di presentarli. Nella colonna di sinistra, i modi per mettere alla prova un'idea. L'avvocato del diavolo: 'costruisci gli argomenti più forti contro la mia proposta'. Il pre-mortem: 'immagina che il progetto sia fallito tra un anno: quali sono le cause più probabili?'. Le prospettive diverse: 'come la valuterebbero un cliente, un fornitore, l'amministrazione?'. Le assunzioni nascoste: 'che cosa sto dando per scontato?'. Nella colonna di destra, i modi per strutturare una valutazione: chiedere alternative per lo stesso obiettivo; chiedere i criteri che potrebbero essere rilevanti, per non dimenticarne qualcuno; confrontare le opzioni secondo quei criteri, evidenziando i compromessi; chiedere quali informazioni potrebbero cambiare la valutazione. Le persone tendono a considerare le opzioni che vengono in mente per prime e a cercare conferme; un interlocutore che propone sistematicamente criteri, alternative e obiezioni aiuta a contrastare queste tendenze. Le critiche dell'AI vanno a loro volta valutate: non tutte saranno pertinenti. Il valore sta nello stimolo al ragionamento, e il beneficio si vede nella solidità della decisione.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esempio fittizio di AI come partner di ragionamento su una decisione aziendale. Una piccola azienda sta valutando se aprire una filiale commerciale a Milano o potenziare le vendite online. Invece di chiedere 'che cosa mi conviene fare?', la persona chiede all'AI di aiutarla a ragionare prima di decidere. In pochi scambi emerge un quadro più ricco. Alternative: oltre alle due opzioni iniziali, un partner commerciale locale o un test di sei mesi con un agente, che permette di raccogliere dati prima di investire. Criteri: investimento e costi fissi, tempo per i primi risultati, vicinanza ai clienti chiave, reversibilità della scelta. Rischi: costi fissi senza volumi sufficienti, canali che si fanno concorrenza, dati di mercato incompleti. Opportunità: nuovi clienti, un test a basso costo, dati per decidere il passo successivo. La persona sceglie quali criteri contano davvero, aggiunge i dati reali dell'azienda e decide. Il risultato è una decisione meglio informata, che si può anche argomentare più facilmente con la direzione. Suggerimento: chiedere ai partecipanti una decisione reale su cui proverebbero lo stesso approccio.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pratica molto diffusa è assegnare un ruolo all'AI: 'Sei un esperto di diritto del lavoro', 'Agisci come un revisore severo'. Funziona? In buona parte sì: il ruolo orienta il comportamento del sistema, cioè tono, lessico, livello di dettaglio, prospettiva, aspetti a cui presta attenzione, e questo spesso rende le risposte più pertinenti e utili. Lo riprenderemo nel Tema 6. Ma c'è una distinzione da tenere presente: assegnare un ruolo non crea competenze che il modello non ha, non garantisce l'accuratezza, non attribuisce responsabilità professionale. Dire al sistema che è un avvocato orienta la risposta verso le questioni giuridiche rilevanti, ma non aggiunge conoscenze aggiornate sulla normativa né la capacità di valutare il caso concreto. L'accuratezza dipende da altro: dal modello, dalle informazioni e dalle fonti a cui il sistema può accedere, per esempio documenti forniti o ricerche sul web, e dal controllo di chi usa il risultato. Il rischio da evitare è che lo stile professionale aumenti la fiducia più di quanto giustificato. Quando le conseguenze sono rilevanti, il ruolo assegnato è un ottimo punto di partenza per prepararsi, non un sostituto del parere di un professionista.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sottotema da comprendere bene. Dopo aver visto i ruoli possibili, analizziamo il processo: che cosa distingue l'ottenere una risposta dal collaborare, un esempio concreto di collaborazione, come si suddividono le fasi di un'attività tra persona e sistema, e il ciclo di produzione e revisione. Non anticipiamo la riprogettazione dei processi e dei ruoli organizzativi, trattata nei Temi 13 e 16: qui parliamo della collaborazione nel lavoro della singola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C'è una differenza sostanziale tra ottenere una risposta e collaborare a un'attività. Nel primo caso si chiede, si riceve, si usa: l'AI è un fornitore di risultati. Nel secondo si lavora insieme su un obiettivo, in più passaggi, ciascuno con ciò che sa fare meglio: la persona porta obiettivi, contesto e competenza di dominio; il sistema porta velocità, ampiezza, capacità di generare alternative, organizzare e sintetizzare grandi quantità di informazioni. Il risultato è spesso migliore di ciò che ciascuno avrebbe ottenuto da solo. Due modi di affrontare lo stesso compito, un'analisi dei feedback dei clienti. Modalità 'risposta': si incollano i feedback, si chiede 'analizzali', si copia il risultato. Modalità 'collaborazione': la persona definisce le domande a cui l'analisi deve rispondere, il sistema propone una classificazione, la persona la corregge con la sua conoscenza dei prodotti, il sistema conta e sintetizza, la persona verifica alcuni casi e trae le conclusioni. Il valore aggiunto è visibile nella riga in basso: il primo risultato è utile come punto di partenza, il secondo è pertinente, verificato nei punti chiave e padroneggiato da chi lo presenterà. Richiede qualche minuto in più, ma restituisce molto di più.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caso professionale fittizio in quattro passaggi: rispondere al reclamo di un cliente per un ritardo di consegna. Primo passaggio, la richiesta iniziale: la persona incolla l'email del cliente e chiede 'scrivi una risposta a questo reclamo'. Secondo passaggio, la prima proposta dell'AI: una risposta cortese e ben scritta, ma generica, con scuse di rito e nessuna soluzione concreta. Notate che l'AI, oltre a proporre, chiede le informazioni che le mancano: quale soluzione potete offrire? che tipo di cliente è? Terzo passaggio, il chiarimento della persona: il cliente è storico, il ritardo è stato causato da un fornitore, l'azienda può offrire la spedizione prioritaria gratuita sul prossimo ordine; il tono deve essere diretto, senza formule di rito. Quarto passaggio, il risultato migliorato: una risposta specifica che riconosce il disagio, spiega la causa in una riga, propone la soluzione e indica un referente. La persona controlla che le condizioni offerte siano corrette e la invia. La barra mostra il progresso della qualità. Il salto non nasce da una formula magica, ma dalla combinazione di due contributi: le domande dell'AI e il contesto che solo la persona conosce.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Collaborare significa anche decidere chi fa che cosa. Possiamo scomporre una tipica attività intellettuale in fasi e chiederci, per ciascuna, quale contributo può dare l'AI e quale porta la persona. La tabella propone un esempio indicativo. Definire obiettivo e criteri: decide la persona; l'AI aiuta con domande, esempi e criteri possibili. Raccogliere e organizzare le informazioni: l'AI è un supporto efficace; la persona sceglie le fonti e ne verifica la pertinenza. Produrre una prima versione: qui l'AI dà spesso il contributo maggiore, sulla base delle indicazioni e del contesto della persona. Rivedere e migliorare: lavoro congiunto, con l'AI come revisore e interlocutore critico e la persona che decide quali modifiche accettare. Validare e decidere l'uso: anche qui l'AI può contribuire, con controlli di coerenza, confronti con le fonti, verifiche di completezza rispetto ai requisiti; la decisione sull'uso spetta alla persona, e responsabilità e autorizzazioni seguono i ruoli e i processi dell'organizzazione. Il filo che attraversa tutte le fasi è la competenza della persona: senza conoscenza del dominio non si sa che cosa chiedere, non si riconoscono gli errori, non si sa quali suggerimenti accettare; e il contesto, cioè obiettivi, vincoli, pubblico e storia, il sistema lo conosce solo se la persona lo porta o lo rende disponibile. Le procedure di verifica degli output sono oggetto del Tema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modi più comuni di collaborare con l'AI riguarda i contenuti: testi, presentazioni, analisi, piani. Possiamo vederlo come un ciclo in cui persona e sistema si alternano. La persona imposta: obiettivo, pubblico, punti chiave, materiali. L'AI produce una prima versione. La persona valuta e commenta: che cosa funziona, che cosa manca, che cosa è sbagliato. L'AI rivede secondo le indicazioni, oppure propone a sua volta osservazioni critiche, nel ruolo di revisore. La persona decide, rifinisce e valida. Il ciclo può anche partire dalla persona: si scrive una propria bozza e si chiede all'AI di rivederla, migliorarla o metterla alla prova. Questo secondo modo ha un vantaggio importante: il pensiero di partenza è della persona, e l'AI lo arricchisce. È spesso la scelta migliore quando il contenuto deve esprimere una posizione personale o una competenza specifica, o quando conta sviluppare le proprie capacità, come vedremo nel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sottotema da comprendere bene, il cui obiettivo è la consapevolezza decisionale. Nel 5.4 abbiamo parlato della distribuzione del lavoro; qui parliamo del grado di autonomia che affidiamo al sistema. Proponiamo una scala di livelli di delega, dal semplice uso informativo all'esecuzione con maggiore autonomia, e vediamo come scegliere il livello adatto, con un esempio su tre attività. Una nota didattica importante: i livelli sono una classificazione illustrativa, non uno standard tecnico, e non sono una progressione obbligatoria. Non bisogna arrivare all'ultimo livello: bisogna scegliere quello adatto, e salire quando le condizioni lo permettono. La progettazione di agenti e workflow sarà trattata nel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cinque livelli. Primo, l'AI come strumento informativo: fornisce informazioni e spiegazioni, la persona le usa come vuole. Secondo, l'AI come supporto e suggeritore: propone idee, opzioni, correzioni; la persona sceglie e realizza. Terzo, l'AI come collaboratore: produce parti significative del risultato, come bozze o analisi, che la persona rivede, integra e valida. Quarto, la delega con supervisione: l'AI svolge un'attività per intero e la persona controlla il risultato prima dell'uso. Quinto, l'autonomia entro vincoli: l'AI svolge attività, anche in più passaggi e con azioni concrete, entro limiti e autorizzazioni definiti; la persona stabilisce i vincoli, monitora e interviene sulle eccezioni. La fascia in basso collega i livelli a quattro termini che spesso si confondono. Assistenza: l'AI aiuta in un'attività che resta della persona, livelli 1 e 2. Collaborazione: contributi alternati allo stesso risultato, livello 3. Delega: l'AI svolge un'attività intera, livelli 4 e 5. Automazione: il livello 5 applicato in modo sistematico e ricorrente, senza intervento caso per caso, secondo regole definite in anticipo. Cambia non solo quanto lavoro svolge l'AI, ma dove si colloca la persona: dentro l'attività, accanto, sopra, a monte nella definizione delle regole. Ripetiamo la nota didattica: è una classificazione illustrativa, non uno standard tecnico, e non una scala di maturità.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tabella dettaglia, per ciascun livello, il ruolo dell'AI, il ruolo della persona e un esempio. Al primo livello l'AI spiega e la persona interpreta e decide come usare le informazioni: per esempio, capire le novità di una normativa prima di leggere il testo ufficiale. Al secondo l'AI propone e la persona sceglie: alcune formulazioni alternative per un paragrafo difficile. Al terzo l'AI produce e la persona rivede e integra: una bozza di relazione da completare. Al quarto l'AI esegue e la persona controlla ogni risultato: le risposte alle richieste standard dei clienti, verificate prima dell'invio. Al quinto l'AI agisce entro vincoli e la persona definisce i limiti, monitora e gestisce le eccezioni: lo smistamento automatico delle richieste in arrivo, con controlli a campione. Si noti come cambia il ruolo della persona: da chi usa le informazioni, a chi sceglie, a chi rivede, a chi controlla, a chi definisce le regole e supervisiona.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crescere dell'autonomia del sistema, il ruolo della persona non scompare: si evolve verso attività di coordinamento, supervisione, progettazione e controllo. Nei livelli 1 e 2 la persona è un utilizzatore esperto: usa l'AI come uno strumento potente dentro il proprio lavoro. Nei livelli 3 e 4 diventa revisore ed editor: valuta, corregge e integra il lavoro dell'AI, e decide che cosa è pronto. Al livello 5 diventa coordinatore e progettista: disegna il flusso di lavoro, definisce regole e controlli, coordina persone e sistemi, gestisce le eccezioni. Sono competenze di valore crescente, molto richieste: saper scomporre un'attività, definire criteri di qualità, organizzare controlli efficaci. Due osservazioni pratiche. Primo: la supervisione è un'attività vera, che richiede attenzione anche quando tutto funziona bene; lo vedremo parlando di automation bias. Secondo: la competenza di dominio resta la base, perché è ciò che permette di guidare il sistema e riconoscere un risultato inadeguato. Per questo conviene continuare a esercitare le attività centrali del proprio ruolo, come vedremo nel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sceglie il livello di delega? Quattro fattori. Il compito: quanto è strutturato, ripetitivo, verificabile? Compiti ben definiti e facili da controllare si prestano a livelli più alti. Le capacità del sistema: quanto è affidabile, per quel compito specifico, nelle nostre condizioni? I rischi: quali conseguenze ha un errore, quanto è grave, reversibile, rilevabile, e chi lo subisce? I controlli disponibili: possiamo verificare i risultati, con quali risorse e competenze? A ogni livello corrisponde una forma di controllo, riassunta nella fascia centrale. Ai livelli 1 e 2 il controllo è diretto: la persona valuta ogni informazione o suggerimento. Al livello 3 è un controllo di revisione del risultato complessivo. Al livello 4 è una verifica sistematica, con criteri chiari di accettazione. Al livello 5 è un controllo progettato in anticipo: vincoli e autorizzazioni, controlli a campione, monitoraggio, possibilità di interrompere. Il messaggio del riquadro scuro: una maggiore autonomia è un'opportunità. Quando il compito è adatto e i controlli sono adeguati, delegare di più libera tempo e permette di gestire volumi che prima non erano sostenibili, cioè genera efficienza e scalabilità. La condizione è che resti chiaro chi risponde del risultato e con quali mezzi lo controlla. La definizione organizzativa di ruoli e responsabilità è trattata nei Temi 13, 16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Applichiamo i quattro fattori a tre attività fittizie, con livelli di delega diversi. Prima: smistare le richieste in arrivo per categoria. È un compito molto ripetitivo e verificabile a campione, l'impatto di un errore è basso e reversibile, perché una richiesta mal classificata si riassegna, e i controlli si possono progettare: regole, campioni, eccezioni inoltrate a una persona. Qui un livello alto, l'autonomia entro vincoli, genera efficienza senza rischi rilevanti. Seconda: rispondere alle domande standard sulle consegne. Ripetitiva e verificabile, ma la risposta arriva al cliente: l'impatto è medio. Una delega supervisionata, con verifica prima dell'invio, offre gran parte del risparmio di tempo mantenendo il controllo; con l'esperienza e dati sulla qualità si può valutare di salire. Terza: valutare un fornitore strategico. Poco ripetitiva, verificabile solo in parte, con un impatto alto e poco reversibile. Qui l'AI è preziosa come suggeritore o collaboratore: raccoglie informazioni, propone criteri, prepara un confronto, ma la valutazione richiede la revisione di chi conosce il contesto. La regola pratica è nel banner. Esercizio suggerito: chiedere ai partecipanti di collocare tre attività del proprio lavoro nella tabella.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Spesso, quando si parla di AI, l'attenzione è tutta sullo strumento: quale modello è il migliore, quale funzione è nuova. Questo sottotema sposta l'attenzione sull'altro protagonista: la persona. A parità di strumento, persone diverse ottengono risultati molto diversi. Vediamo quali capacità fanno la differenza, perché il feedback è una competenza pratica, e la distinzione tra uso passivo e uso attivo dell'AI.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Otto fattori determinano la qualità della collaborazione. Chiarezza degli obiettivi: sapere a che cosa servirà il risultato. Comprensione del problema: aver capito la natura della questione, non solo la superficie. Conoscenza del contesto: pubblico, vincoli, storia, priorità, cioè ciò che il sistema non può sapere se non glielo diciamo o non glielo rendiamo disponibile. Competenze di dominio: agiscono in due momenti; prima, per sapere che cosa chiedere e quali informazioni fornire; dopo, per riconoscere errori, omissioni, semplificazioni e scegliere quali suggerimenti accettare. Domande pertinenti: approfondire e mettere in discussione. Interpretazione dei risultati: distinguere ciò che è solido da ciò che è incerto. Feedback e correzione: indicare con precisione che cosa migliorare. Utilizzo attivo: costruire il risultato invece di limitarsi a riceverlo. Contesto e competenze di dominio sono probabilmente i fattori più decisivi: lo stesso strumento, nelle mani di un esperto e di un principiante, dà risultati di qualità diversa, e il principiante può ottenere un testo che sembra ottimo senza poter sapere se lo è. Per questo l'AI non rende superflua la competenza: la rende più preziosa. Notate che nessuno di questi fattori riguarda la tecnica dello strumento: sono competenze professionali e cognitive generali, che valgono con qualsiasi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due fattori lavorano a monte dell'interazione. Con un obiettivo vago il sistema produce risultati generici e, soprattutto, non abbiamo un criterio per valutarli. Con un obiettivo chiaro, sia la richiesta sia la valutazione diventano molto più facili. L'esempio in slide mette a confronto i due casi: 'scrivimi qualcosa sul nuovo servizio' e 'i clienti attuali devono capire che cosa cambia per loro e iscriversi alla presentazione'. Lo stesso vale per la comprensione del problema: chiedere come rendere più persuasiva una comunicazione non aiuta se il problema è che arriva alle persone sbagliate. Non si tratta di tecnica di formulazione, che vedremo nel Tema 6, ma di chiarezza di pensiero. E quando l'obiettivo non è ancora chiaro, il dialogo stesso aiuta a scoprirlo, come abbiamo visto nel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capacità operano durante l'interazione. Porre domande pertinenti: non solo la richiesta iniziale, ma le domande successive che approfondiscono, chiariscono, mettono in discussione: 'su che cosa si basa questa conclusione?', 'quali casi non rientrano?', 'che cosa cambierebbe se il budget fosse la metà?'. Interpretare i risultati: distinguere ciò che è solido da ciò che è incerto, accorgersi di quando la risposta è generica, riconoscere le assunzioni implicite. Dare feedback precisi: è la competenza pratica con l'effetto più immediato. Un feedback generico, 'non va, rifallo', produce di solito una versione diversa ma non necessariamente migliore. Un feedback specifico, 'il secondo paragrafo è troppo tecnico per il pubblico e manca la scadenza', permette una correzione mirata. È la stessa abilità che serve per guidare il lavoro di un collaboratore, e si sviluppa con la pratica. Esercizio suggerito: prendere una risposta AI insoddisfacente e scrivere insieme il feedback più preciso possibile. Le tecniche specifiche di formulazione e affinamento sono nel Tema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fattori visti convergono in una distinzione di atteggiamento: utilizzo passivo e utilizzo attivo. Nell'utilizzo passivo la persona fa una richiesta, riceve una risposta e la usa così com'è: non porta contesto, non mette in discussione, non personalizza. Il risultato tende a essere generico e gli eventuali errori sono più difficili da notare. Nell'utilizzo attivo la persona parte da obiettivi chiari, porta il contesto, dialoga, confronta con ciò che sa, corregge, integra e verifica dove serve. Il confronto in tabella sintetizza le differenze. Non è una garanzia automatica: un utilizzo attivo favorisce risultati più pertinenti, offre occasioni di apprendimento perché la persona esercita le proprie competenze nel dialogo, e mantiene il controllo su ciò che si produce. Richiede un po' più di impegno all'inizio, che con l'abitudine diventa naturale. È spesso ciò che distingue chi trae un vantaggio reale dall'AI da chi conclude che 'non serve'. Domanda per il gruppo: nel vostro uso quotidiano, siete più vicini all'utilizzo passivo o a quello attivo?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La naturalezza della conversazione è il grande punto di forza dei sistemi AI, e porta con sé alcune dinamiche da conoscere: la tendenza ad attribuire al sistema qualità umane, l'automation bias, gli effetti della delega cognitiva sulle competenze. L'obiettivo non è diffidare dell'AI, ma sviluppare una fiducia calibrata: più fiducia dove il sistema si è dimostrato affidabile per quel compito, più controllo dove un errore costa di più. Non ripetiamo l'analisi tecnica di allucinazioni e bias del Tema 3, né le procedure di verifica, oggetto del Tema 7: ci concentriamo sulle dinamiche dell'interazione e su come gestirle.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2 abbiamo incontrato l'effetto ELIZA: la tendenza ad attribuire comprensione e qualità umane a un sistema che produce linguaggio in modo convincente. È una reazione naturale di esseri sociali a un comportamento linguistico molto simile a quello umano, non un segno di ingenuità. I sistemi conversazionali usano un linguaggio caldo, ricordano ciò che abbiamo detto, si scusano, esprimono comprensione; con la voce l'effetto è ancora più forte. La slide distingue ciò che percepiamo da un modo più accurato di leggerlo. Comprensione: il sistema elabora il contesto, spesso molto bene, e può cogliere aspetti rilevanti della nostra situazione, ma non la vive e conosce solo ciò che ha a disposizione. Empatia: produce risposte adatte al tono e al contesto; è un comportamento linguistico, non un legame personale. Intenzionalità e opinioni: le risposte dipendono da addestramento, istruzioni e formulazione della richiesta; per questo una 'opinione' può cambiare se cambiamo la domanda. Non serve risolvere qui le questioni filosofiche aperte su questi sistemi: serve un modo pratico di usarli bene. In basso, tre indicazioni. Calibrare la fiducia sul compito, non sul tono della risposta. Condividere dati personali o aziendali secondo le regole dell'organizzazione. E sul piano personale: usare l'AI per riflettere, prepararsi a una conversazione difficile o sentirsi meno soli davanti a un problema può essere utile; il rischio è l'affidamento eccessivo, quando il sistema diventa l'unico riferimento o sostituisce un supporto professionale nei momenti in cui servirebbe.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interlocutore che risponde con sicurezza, in modo fluente, e che spesso ha ragione, induce fiducia. È comprensibile, ma può alimentare un circolo: più ci fidiamo, meno controlliamo; meno controlliamo, meno errori notiamo; meno errori notiamo, più ci fidiamo. Questa dinamica ha un nome: automation bias, la tendenza a privilegiare i suggerimenti di un sistema automatizzato senza un'adeguata verifica, talvolta anche contro altre informazioni o il proprio giudizio. È stata studiata per decenni, prima dell'AI generativa, in aviazione, medicina e controllo industriale; una sintesi nota è quella di Parasuraman e Manzey, pubblicata nel 2010 su Human Factors. Si manifesta in due forme. Errori di commissione: seguire un suggerimento sbagliato, per esempio accettare una classificazione errata. Errori di omissione: non accorgersi di un problema che il sistema non ha segnalato, per esempio dare per completo un riassunto che omette un punto importante. È più forte quando il sistema è di solito affidabile, il carico di lavoro è alto e l'esperienza è poca. Non dipende da superficialità individuale: è una tendenza cognitiva comune, che si gestisce con abitudini di controllo proporzionate. In basso tre esempi concreti: per un'email interna di routine basta una rilettura rapida; per numeri destinati a un cliente si controllano i valori chiave sulla fonte; per una decisione contrattuale si verificano le clausole sul testo originale e, se serve, si chiede un parere esperto. Le procedure di verifica sono sviluppate nel Tema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delega cognitiva intendiamo affidare all'AI attività mentali: ricordare, sintetizzare, scrivere, ragionare, confrontare. Partiamo dai benefici, che sono reali. Deleghiamo attività mentali agli strumenti da sempre, alla scrittura, alla calcolatrice, al navigatore, e questo ci ha liberato tempo e attenzione per altro. Con l'AI, delegare una sintesi, una prima bozza o una ricerca preliminare libera energie per le attività a maggior valore: il giudizio, la relazione con le persone, la creatività, le decisioni. Gli effetti sulle competenze dipendono dalle modalità di utilizzo. Possono indebolirsi quando si accettano risultati senza comprenderli, quando si smette di esercitare le attività centrali del proprio ruolo, quando non si è più in grado di riconoscere un errore. Sono rischi legati al modo d'uso, non conseguenze necessarie della delega. Un segnale dalla ricerca: un'indagine di Microsoft Research e Carnegie Mellon presentata a CHI 2025 (Lee e colleghi), su 319 lavoratori della conoscenza e 936 esempi di uso reale, ha osservato che una maggiore fiducia nell'AI generativa si associava a un minore pensiero critico dichiarato, mentre una maggiore fiducia nelle proprie capacità si associava a un pensiero critico maggiore. Due cautele da comunicare: i dati sono auto-riferiti, e gli stessi autori precisano che l'analisi non stabilisce un rapporto causale. È un'indicazione utile, coerente con quanto visto nel modulo: il valore sta nell'usare l'AI continuando a ragionare.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certa dipendenza dagli strumenti è normale e accettabile: nessuno rinuncia al foglio di calcolo. Il punto è usare l'AI in modo che il suo valore cresca nel tempo, insieme alle nostre competenze. Le pratiche in slide sono proporzionate al compito e alle conseguenze degli errori, non regole da applicare sempre. Farsi un'idea prima, quando conta: per decisioni e contenuti importanti, un'ipotesi propria, anche sommaria, dà un termine di confronto; per attività di routine non serve. Mettere alla prova, non solo produrre: usare l'AI come interlocutore critico. Esercitare le attività centrali: continuare a svolgere in prima persona, almeno in parte, ciò che è decisivo per il proprio ruolo e la propria crescita. Capire ciò che si presenta: saper spiegare i risultati che si portano ad altri. Verificare in proporzione: più controllo dove un errore costa di più. Decidere secondo il proprio ruolo: l'AI propone opzioni, chi ha la responsabilità decide. Domanda di verifica: quale di queste pratiche vi sembra più utile nel vostro lavoro? Chiedere a ciascun partecipante di sceglierne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modulo tradotto in un metodo di lavoro in cinque passaggi, applicabile a quasi ogni attività. Uno: definire l'obiettivo, cioè che cosa serve, per chi, entro quando. Due: fornire le informazioni disponibili, cioè documenti, contesto, vincoli. Tre: collaborare e perfezionare, attraverso il dialogo, le domande dell'AI e feedback precisi; qui si sceglie anche il ruolo dell'AI e il livello di delega adatti. Quattro: valutare il risultato in proporzione al rischio: più controllo dove un errore costa di più. Cinque: usare il risultato e apprendere dall'esperienza, annotando che cosa ha funzionato, così che la volta successiva sia più rapida. La riga in basso mostra il metodo applicato a un caso fittizio, la preparazione di un'offerta per un nuovo cliente: obiettivo e scadenza, listino e note dell'incontro, una bozza migliorata con le domande dell'AI e le correzioni sui prezzi, un controllo puntuale di prezzi e condizioni, l'invio e una richiesta riuscita conservata come modello. Esercizio suggerito: applicare i cinque passaggi a un'attività reale scelta dai partecipanti.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Accanto al metodo, otto principi operativi da tenere a portata di mano, uno o due per ciascun sottotema. Dialogare: costruire il risultato in più scambi invece di fermarsi alla prima risposta. Quando il compito è poco definito, chiedere all'AI di fare domande prima di procedere. Scegliere il ruolo adatto al momento: fonte, revisore, tutor, interlocutore critico. Chiedere critiche e alternative, non solo conferme, sulle idee e sulle decisioni importanti. Portare il contesto: obiettivi, pubblico, vincoli, documenti utili. Aumentare la delega quando il compito è ripetitivo e verificabile e i controlli sono previsti. Dare feedback precisi: è la leva più rapida per migliorare. Calibrare la fiducia sul compito: la conversazione è naturale, il sistema non è una persona. Il messaggio di sintesi in basso è il criterio con cui leggere tutto il modulo: il dialogo con l'AI è una nuova modalità di lavoro, e il valore nasce dalla combinazione delle capacità dell'AI, delle competenze umane e di un controllo adeguato al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prosegue con il Tema 6, dedicato al prompting e alle tecniche di interazione. In questo modulo abbiamo visto il perché e il che cosa: il valore del dialogo, i ruoli dell'AI, la collaborazione, i livelli di delega, il contributo della persona e la fiducia calibrata. Il Tema 6 offre il come: formulare richieste efficaci, fornire contesto ed esempi, assegnare ruoli e formati, perfezionare progressivamente le richieste. È il modo concreto di mettere in pratica il metodo in cinque passaggi, in particolare il secondo e il terzo. Più avanti, il Tema 7 sarà dedicato alla verifica degli output e al pensiero critico, cioè al quarto passaggio.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Verifica svolta il 16 ottobre 2026: per Weizenbaum confermati rivista, volume, numero e pagine; per Parasuraman e Manzey confermati rivista, volume, numero e pagine 381-410; per Lee e colleghi confermati titolo, autori (Carnegie Mellon University e Microsoft Research), atti CHI 2025, pagine 1-22, DOI 10.1145/3706598.3713778, campione di 319 lavoratori della conoscenza con 936 esempi, natura auto-riferita dei dati e l'affermazione degli autori che l'analisi non stabilisce un rapporto causale. Gli esempi del modulo (comunicazione sulle sale, reclamo del cliente, filiale a Milano, tre attività per i livelli di delega, offerta per un nuovo cliente) sono fittizi e non derivano da fonti. La ricerca sugli effetti dell'AI generativa sul pensiero critico è in rapida evoluzione: prima di ogni edizione è consigliabile verificare se sono disponibili studi più recenti o più solidi da citare.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5  ·  Il dialogo uomo-AI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5  ·  Il dialogo uomo-AI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5  ·  Il dialogo uomo-AI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4.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4.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slideLayout" Target="../slideLayouts/slideLayout4.xml"/><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5</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Il dialogo uomo-AI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Interagire con l'AI</a:t>
            </a:r>
            <a:endParaRPr lang="en-US" sz="1600" dirty="0"/>
          </a:p>
          <a:p>
            <a:pPr indent="0" marL="0">
              <a:buNone/>
            </a:pPr>
            <a:r>
              <a:rPr lang="en-US" sz="1600" dirty="0">
                <a:solidFill>
                  <a:schemeClr val="accent3"/>
                </a:solidFill>
              </a:rPr>
              <a:t>Contenuti aggiornati a ottobre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Collaborare con l'AI attraverso il dialogo</a:t>
            </a:r>
            <a:endParaRPr lang="en-US" sz="1400" dirty="0"/>
          </a:p>
          <a:p>
            <a:pPr marL="177800" indent="-177800">
              <a:spcAft>
                <a:spcPts val="800"/>
              </a:spcAft>
              <a:buSzPct val="100000"/>
              <a:buChar char="•"/>
            </a:pPr>
            <a:r>
              <a:rPr lang="en-US" sz="1400" dirty="0">
                <a:solidFill>
                  <a:schemeClr val="tx2"/>
                </a:solidFill>
              </a:rPr>
              <a:t>Scegliere il ruolo e il livello di delega adatti al compito</a:t>
            </a:r>
            <a:endParaRPr lang="en-US" sz="1400" dirty="0"/>
          </a:p>
          <a:p>
            <a:pPr marL="177800" indent="-177800">
              <a:spcAft>
                <a:spcPts val="800"/>
              </a:spcAft>
              <a:buSzPct val="100000"/>
              <a:buChar char="•"/>
            </a:pPr>
            <a:r>
              <a:rPr lang="en-US" sz="1400" dirty="0">
                <a:solidFill>
                  <a:schemeClr val="tx2"/>
                </a:solidFill>
              </a:rPr>
              <a:t>Ottenere risultati migliori mantenendo un controllo proporzionato</a:t>
            </a:r>
            <a:endParaRPr lang="en-US" sz="1400" dirty="0"/>
          </a:p>
        </p:txBody>
      </p:sp>
      <p:sp>
        <p:nvSpPr>
          <p:cNvPr id="9" name="scheda Perché conviene"/>
          <p:cNvSpPr/>
          <p:nvPr/>
        </p:nvSpPr>
        <p:spPr>
          <a:xfrm>
            <a:off x="4709160" y="1097280"/>
            <a:ext cx="3977640" cy="3429000"/>
          </a:xfrm>
          <a:prstGeom prst="roundRect">
            <a:avLst>
              <a:gd name="adj" fmla="val 2133"/>
            </a:avLst>
          </a:prstGeom>
          <a:solidFill>
            <a:schemeClr val="accent6"/>
          </a:solidFill>
          <a:ln/>
        </p:spPr>
      </p:sp>
      <p:sp>
        <p:nvSpPr>
          <p:cNvPr id="10" name="cerchio FiTrendingUp"/>
          <p:cNvSpPr/>
          <p:nvPr/>
        </p:nvSpPr>
        <p:spPr>
          <a:xfrm>
            <a:off x="4892040" y="1280160"/>
            <a:ext cx="457200" cy="457200"/>
          </a:xfrm>
          <a:prstGeom prst="ellipse">
            <a:avLst/>
          </a:prstGeom>
          <a:solidFill>
            <a:schemeClr val="accent1"/>
          </a:solidFill>
          <a:ln/>
        </p:spPr>
      </p:sp>
      <p:pic>
        <p:nvPicPr>
          <p:cNvPr id="11" name="Image 1" descr="FiTrendingUp">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Perché conviene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Chi sa dialogare con l'AI esplora problemi, sviluppa idee e produce risultati migliori in meno tempo.</a:t>
            </a:r>
            <a:endParaRPr lang="en-US" sz="1400" dirty="0"/>
          </a:p>
          <a:p>
            <a:pPr indent="0" marL="0">
              <a:buNone/>
            </a:pPr>
            <a:endParaRPr lang="en-US" sz="1400" dirty="0"/>
          </a:p>
          <a:p>
            <a:pPr indent="0" marL="0">
              <a:buNone/>
            </a:pPr>
            <a:r>
              <a:rPr lang="en-US" sz="1400" dirty="0">
                <a:solidFill>
                  <a:schemeClr val="tx2"/>
                </a:solidFill>
              </a:rPr>
              <a:t>Il valore dipende anche dalla persona: obiettivi chiari, contesto, competenze, controllo adeguato.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Interfaccia naturale"/>
          <p:cNvSpPr/>
          <p:nvPr/>
        </p:nvSpPr>
        <p:spPr>
          <a:xfrm>
            <a:off x="457200" y="1097280"/>
            <a:ext cx="1874520" cy="2423160"/>
          </a:xfrm>
          <a:prstGeom prst="roundRect">
            <a:avLst>
              <a:gd name="adj" fmla="val 3902"/>
            </a:avLst>
          </a:prstGeom>
          <a:solidFill>
            <a:schemeClr val="bg2"/>
          </a:solidFill>
          <a:ln/>
        </p:spPr>
      </p:sp>
      <p:sp>
        <p:nvSpPr>
          <p:cNvPr id="5" name="cerchio FiMessageSquare"/>
          <p:cNvSpPr/>
          <p:nvPr/>
        </p:nvSpPr>
        <p:spPr>
          <a:xfrm>
            <a:off x="1115568" y="1234440"/>
            <a:ext cx="548640" cy="548640"/>
          </a:xfrm>
          <a:prstGeom prst="ellipse">
            <a:avLst/>
          </a:prstGeom>
          <a:solidFill>
            <a:schemeClr val="accent1"/>
          </a:solidFill>
          <a:ln/>
        </p:spPr>
      </p:sp>
      <p:pic>
        <p:nvPicPr>
          <p:cNvPr id="6" name="Image 0" descr="FiMessageSquare">    </p:cNvPr>
          <p:cNvPicPr>
            <a:picLocks noChangeAspect="1"/>
          </p:cNvPicPr>
          <p:nvPr/>
        </p:nvPicPr>
        <p:blipFill>
          <a:blip r:embed="rId1"/>
          <a:stretch>
            <a:fillRect/>
          </a:stretch>
        </p:blipFill>
        <p:spPr>
          <a:xfrm>
            <a:off x="1252728" y="1371600"/>
            <a:ext cx="274320" cy="274320"/>
          </a:xfrm>
          <a:prstGeom prst="rect">
            <a:avLst/>
          </a:prstGeom>
        </p:spPr>
      </p:pic>
      <p:sp>
        <p:nvSpPr>
          <p:cNvPr id="7" name="Text 3"/>
          <p:cNvSpPr txBox="1"/>
          <p:nvPr/>
        </p:nvSpPr>
        <p:spPr>
          <a:xfrm>
            <a:off x="548640" y="1874520"/>
            <a:ext cx="1691640" cy="548640"/>
          </a:xfrm>
          <a:prstGeom prst="rect">
            <a:avLst/>
          </a:prstGeom>
          <a:noFill/>
          <a:ln/>
        </p:spPr>
        <p:txBody>
          <a:bodyPr wrap="square" lIns="0" tIns="0" rIns="0" bIns="0" rtlCol="0" anchor="ctr"/>
          <a:lstStyle/>
          <a:p>
            <a:pPr algn="ctr" indent="0" marL="0">
              <a:buNone/>
            </a:pPr>
            <a:r>
              <a:rPr lang="en-US" sz="1500" b="1" dirty="0">
                <a:solidFill>
                  <a:schemeClr val="tx1"/>
                </a:solidFill>
              </a:rPr>
              <a:t>Interfaccia naturale</a:t>
            </a:r>
            <a:endParaRPr lang="en-US" sz="1500" dirty="0"/>
          </a:p>
        </p:txBody>
      </p:sp>
      <p:sp>
        <p:nvSpPr>
          <p:cNvPr id="8" name="Text 4"/>
          <p:cNvSpPr txBox="1"/>
          <p:nvPr/>
        </p:nvSpPr>
        <p:spPr>
          <a:xfrm>
            <a:off x="594360" y="2450592"/>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Dal comando alla richiesta</a:t>
            </a:r>
            <a:endParaRPr lang="en-US" sz="1200" dirty="0"/>
          </a:p>
        </p:txBody>
      </p:sp>
      <p:sp>
        <p:nvSpPr>
          <p:cNvPr id="9" name="blocco 5.1"/>
          <p:cNvSpPr/>
          <p:nvPr/>
        </p:nvSpPr>
        <p:spPr>
          <a:xfrm>
            <a:off x="868680" y="3063240"/>
            <a:ext cx="1051560" cy="310896"/>
          </a:xfrm>
          <a:prstGeom prst="roundRect">
            <a:avLst>
              <a:gd name="adj" fmla="val 35294"/>
            </a:avLst>
          </a:prstGeom>
          <a:solidFill>
            <a:schemeClr val="accent1"/>
          </a:solidFill>
          <a:ln/>
        </p:spPr>
      </p:sp>
      <p:sp>
        <p:nvSpPr>
          <p:cNvPr id="10" name="Text 6"/>
          <p:cNvSpPr txBox="1"/>
          <p:nvPr/>
        </p:nvSpPr>
        <p:spPr>
          <a:xfrm>
            <a:off x="914400" y="3063240"/>
            <a:ext cx="960120" cy="310896"/>
          </a:xfrm>
          <a:prstGeom prst="rect">
            <a:avLst/>
          </a:prstGeom>
          <a:noFill/>
          <a:ln/>
        </p:spPr>
        <p:txBody>
          <a:bodyPr wrap="square" lIns="0" tIns="0" rIns="0" bIns="0" rtlCol="0" anchor="ctr"/>
          <a:lstStyle/>
          <a:p>
            <a:pPr algn="ctr" indent="0" marL="0">
              <a:buNone/>
            </a:pPr>
            <a:r>
              <a:rPr lang="en-US" sz="1100" b="1" dirty="0">
                <a:solidFill>
                  <a:schemeClr val="bg1"/>
                </a:solidFill>
              </a:rPr>
              <a:t>5.1</a:t>
            </a:r>
            <a:endParaRPr lang="en-US" sz="1100" dirty="0"/>
          </a:p>
        </p:txBody>
      </p:sp>
      <p:sp>
        <p:nvSpPr>
          <p:cNvPr id="11" name="freccia"/>
          <p:cNvSpPr/>
          <p:nvPr/>
        </p:nvSpPr>
        <p:spPr>
          <a:xfrm>
            <a:off x="2350008" y="2176272"/>
            <a:ext cx="219456" cy="292608"/>
          </a:xfrm>
          <a:prstGeom prst="rightArrow">
            <a:avLst/>
          </a:prstGeom>
          <a:solidFill>
            <a:schemeClr val="accent2"/>
          </a:solidFill>
          <a:ln/>
        </p:spPr>
      </p:sp>
      <p:sp>
        <p:nvSpPr>
          <p:cNvPr id="12" name="Dialogo e ruoli"/>
          <p:cNvSpPr/>
          <p:nvPr/>
        </p:nvSpPr>
        <p:spPr>
          <a:xfrm>
            <a:off x="2587752" y="1097280"/>
            <a:ext cx="1874520" cy="2423160"/>
          </a:xfrm>
          <a:prstGeom prst="roundRect">
            <a:avLst>
              <a:gd name="adj" fmla="val 3902"/>
            </a:avLst>
          </a:prstGeom>
          <a:solidFill>
            <a:schemeClr val="bg2"/>
          </a:solidFill>
          <a:ln/>
        </p:spPr>
      </p:sp>
      <p:sp>
        <p:nvSpPr>
          <p:cNvPr id="13" name="cerchio FiRepeat"/>
          <p:cNvSpPr/>
          <p:nvPr/>
        </p:nvSpPr>
        <p:spPr>
          <a:xfrm>
            <a:off x="3246120" y="1234440"/>
            <a:ext cx="548640" cy="548640"/>
          </a:xfrm>
          <a:prstGeom prst="ellipse">
            <a:avLst/>
          </a:prstGeom>
          <a:solidFill>
            <a:schemeClr val="accent1"/>
          </a:solidFill>
          <a:ln/>
        </p:spPr>
      </p:sp>
      <p:pic>
        <p:nvPicPr>
          <p:cNvPr id="14" name="Image 1" descr="FiRepeat">    </p:cNvPr>
          <p:cNvPicPr>
            <a:picLocks noChangeAspect="1"/>
          </p:cNvPicPr>
          <p:nvPr/>
        </p:nvPicPr>
        <p:blipFill>
          <a:blip r:embed="rId2"/>
          <a:stretch>
            <a:fillRect/>
          </a:stretch>
        </p:blipFill>
        <p:spPr>
          <a:xfrm>
            <a:off x="3383280" y="1371600"/>
            <a:ext cx="274320" cy="274320"/>
          </a:xfrm>
          <a:prstGeom prst="rect">
            <a:avLst/>
          </a:prstGeom>
        </p:spPr>
      </p:pic>
      <p:sp>
        <p:nvSpPr>
          <p:cNvPr id="15" name="Text 10"/>
          <p:cNvSpPr txBox="1"/>
          <p:nvPr/>
        </p:nvSpPr>
        <p:spPr>
          <a:xfrm>
            <a:off x="2679192" y="1874520"/>
            <a:ext cx="1691640" cy="548640"/>
          </a:xfrm>
          <a:prstGeom prst="rect">
            <a:avLst/>
          </a:prstGeom>
          <a:noFill/>
          <a:ln/>
        </p:spPr>
        <p:txBody>
          <a:bodyPr wrap="square" lIns="0" tIns="0" rIns="0" bIns="0" rtlCol="0" anchor="ctr"/>
          <a:lstStyle/>
          <a:p>
            <a:pPr algn="ctr" indent="0" marL="0">
              <a:buNone/>
            </a:pPr>
            <a:r>
              <a:rPr lang="en-US" sz="1500" b="1" dirty="0">
                <a:solidFill>
                  <a:schemeClr val="tx1"/>
                </a:solidFill>
              </a:rPr>
              <a:t>Dialogo e ruoli</a:t>
            </a:r>
            <a:endParaRPr lang="en-US" sz="1500" dirty="0"/>
          </a:p>
        </p:txBody>
      </p:sp>
      <p:sp>
        <p:nvSpPr>
          <p:cNvPr id="16" name="Text 11"/>
          <p:cNvSpPr txBox="1"/>
          <p:nvPr/>
        </p:nvSpPr>
        <p:spPr>
          <a:xfrm>
            <a:off x="2724912" y="2450592"/>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Conversare, scegliere il ruolo dell'AI</a:t>
            </a:r>
            <a:endParaRPr lang="en-US" sz="1200" dirty="0"/>
          </a:p>
        </p:txBody>
      </p:sp>
      <p:sp>
        <p:nvSpPr>
          <p:cNvPr id="17" name="blocco 5.2  5.3"/>
          <p:cNvSpPr/>
          <p:nvPr/>
        </p:nvSpPr>
        <p:spPr>
          <a:xfrm>
            <a:off x="2999232" y="3063240"/>
            <a:ext cx="1051560" cy="310896"/>
          </a:xfrm>
          <a:prstGeom prst="roundRect">
            <a:avLst>
              <a:gd name="adj" fmla="val 35294"/>
            </a:avLst>
          </a:prstGeom>
          <a:solidFill>
            <a:schemeClr val="accent1"/>
          </a:solidFill>
          <a:ln/>
        </p:spPr>
      </p:sp>
      <p:sp>
        <p:nvSpPr>
          <p:cNvPr id="18" name="Text 13"/>
          <p:cNvSpPr txBox="1"/>
          <p:nvPr/>
        </p:nvSpPr>
        <p:spPr>
          <a:xfrm>
            <a:off x="3044952" y="3063240"/>
            <a:ext cx="960120" cy="310896"/>
          </a:xfrm>
          <a:prstGeom prst="rect">
            <a:avLst/>
          </a:prstGeom>
          <a:noFill/>
          <a:ln/>
        </p:spPr>
        <p:txBody>
          <a:bodyPr wrap="square" lIns="0" tIns="0" rIns="0" bIns="0" rtlCol="0" anchor="ctr"/>
          <a:lstStyle/>
          <a:p>
            <a:pPr algn="ctr" indent="0" marL="0">
              <a:buNone/>
            </a:pPr>
            <a:r>
              <a:rPr lang="en-US" sz="1100" b="1" dirty="0">
                <a:solidFill>
                  <a:schemeClr val="bg1"/>
                </a:solidFill>
              </a:rPr>
              <a:t>5.2  5.3</a:t>
            </a:r>
            <a:endParaRPr lang="en-US" sz="1100" dirty="0"/>
          </a:p>
        </p:txBody>
      </p:sp>
      <p:sp>
        <p:nvSpPr>
          <p:cNvPr id="19" name="freccia"/>
          <p:cNvSpPr/>
          <p:nvPr/>
        </p:nvSpPr>
        <p:spPr>
          <a:xfrm>
            <a:off x="4480560" y="2176272"/>
            <a:ext cx="219456" cy="292608"/>
          </a:xfrm>
          <a:prstGeom prst="rightArrow">
            <a:avLst/>
          </a:prstGeom>
          <a:solidFill>
            <a:schemeClr val="accent2"/>
          </a:solidFill>
          <a:ln/>
        </p:spPr>
      </p:sp>
      <p:sp>
        <p:nvSpPr>
          <p:cNvPr id="20" name="Collaborazione e delega"/>
          <p:cNvSpPr/>
          <p:nvPr/>
        </p:nvSpPr>
        <p:spPr>
          <a:xfrm>
            <a:off x="4718304" y="1097280"/>
            <a:ext cx="1874520" cy="2423160"/>
          </a:xfrm>
          <a:prstGeom prst="roundRect">
            <a:avLst>
              <a:gd name="adj" fmla="val 3902"/>
            </a:avLst>
          </a:prstGeom>
          <a:solidFill>
            <a:schemeClr val="bg2"/>
          </a:solidFill>
          <a:ln/>
        </p:spPr>
      </p:sp>
      <p:sp>
        <p:nvSpPr>
          <p:cNvPr id="21" name="cerchio FiUsers"/>
          <p:cNvSpPr/>
          <p:nvPr/>
        </p:nvSpPr>
        <p:spPr>
          <a:xfrm>
            <a:off x="5376672" y="1234440"/>
            <a:ext cx="548640" cy="548640"/>
          </a:xfrm>
          <a:prstGeom prst="ellipse">
            <a:avLst/>
          </a:prstGeom>
          <a:solidFill>
            <a:schemeClr val="accent1"/>
          </a:solidFill>
          <a:ln/>
        </p:spPr>
      </p:sp>
      <p:pic>
        <p:nvPicPr>
          <p:cNvPr id="22" name="Image 2" descr="FiUsers">    </p:cNvPr>
          <p:cNvPicPr>
            <a:picLocks noChangeAspect="1"/>
          </p:cNvPicPr>
          <p:nvPr/>
        </p:nvPicPr>
        <p:blipFill>
          <a:blip r:embed="rId3"/>
          <a:stretch>
            <a:fillRect/>
          </a:stretch>
        </p:blipFill>
        <p:spPr>
          <a:xfrm>
            <a:off x="5513832" y="1371600"/>
            <a:ext cx="274320" cy="274320"/>
          </a:xfrm>
          <a:prstGeom prst="rect">
            <a:avLst/>
          </a:prstGeom>
        </p:spPr>
      </p:pic>
      <p:sp>
        <p:nvSpPr>
          <p:cNvPr id="23" name="Text 17"/>
          <p:cNvSpPr txBox="1"/>
          <p:nvPr/>
        </p:nvSpPr>
        <p:spPr>
          <a:xfrm>
            <a:off x="4809744" y="1874520"/>
            <a:ext cx="1691640" cy="548640"/>
          </a:xfrm>
          <a:prstGeom prst="rect">
            <a:avLst/>
          </a:prstGeom>
          <a:noFill/>
          <a:ln/>
        </p:spPr>
        <p:txBody>
          <a:bodyPr wrap="square" lIns="0" tIns="0" rIns="0" bIns="0" rtlCol="0" anchor="ctr"/>
          <a:lstStyle/>
          <a:p>
            <a:pPr algn="ctr" indent="0" marL="0">
              <a:buNone/>
            </a:pPr>
            <a:r>
              <a:rPr lang="en-US" sz="1500" b="1" dirty="0">
                <a:solidFill>
                  <a:schemeClr val="tx1"/>
                </a:solidFill>
              </a:rPr>
              <a:t>Collaborazione e delega</a:t>
            </a:r>
            <a:endParaRPr lang="en-US" sz="1500" dirty="0"/>
          </a:p>
        </p:txBody>
      </p:sp>
      <p:sp>
        <p:nvSpPr>
          <p:cNvPr id="24" name="Text 18"/>
          <p:cNvSpPr txBox="1"/>
          <p:nvPr/>
        </p:nvSpPr>
        <p:spPr>
          <a:xfrm>
            <a:off x="4855464" y="2450592"/>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Chi fa che cosa, quanta autonomia</a:t>
            </a:r>
            <a:endParaRPr lang="en-US" sz="1200" dirty="0"/>
          </a:p>
        </p:txBody>
      </p:sp>
      <p:sp>
        <p:nvSpPr>
          <p:cNvPr id="25" name="blocco 5.4  5.5"/>
          <p:cNvSpPr/>
          <p:nvPr/>
        </p:nvSpPr>
        <p:spPr>
          <a:xfrm>
            <a:off x="5129784" y="3063240"/>
            <a:ext cx="1051560" cy="310896"/>
          </a:xfrm>
          <a:prstGeom prst="roundRect">
            <a:avLst>
              <a:gd name="adj" fmla="val 35294"/>
            </a:avLst>
          </a:prstGeom>
          <a:solidFill>
            <a:schemeClr val="accent1"/>
          </a:solidFill>
          <a:ln/>
        </p:spPr>
      </p:sp>
      <p:sp>
        <p:nvSpPr>
          <p:cNvPr id="26" name="Text 20"/>
          <p:cNvSpPr txBox="1"/>
          <p:nvPr/>
        </p:nvSpPr>
        <p:spPr>
          <a:xfrm>
            <a:off x="5175504" y="3063240"/>
            <a:ext cx="960120" cy="310896"/>
          </a:xfrm>
          <a:prstGeom prst="rect">
            <a:avLst/>
          </a:prstGeom>
          <a:noFill/>
          <a:ln/>
        </p:spPr>
        <p:txBody>
          <a:bodyPr wrap="square" lIns="0" tIns="0" rIns="0" bIns="0" rtlCol="0" anchor="ctr"/>
          <a:lstStyle/>
          <a:p>
            <a:pPr algn="ctr" indent="0" marL="0">
              <a:buNone/>
            </a:pPr>
            <a:r>
              <a:rPr lang="en-US" sz="1100" b="1" dirty="0">
                <a:solidFill>
                  <a:schemeClr val="bg1"/>
                </a:solidFill>
              </a:rPr>
              <a:t>5.4  5.5</a:t>
            </a:r>
            <a:endParaRPr lang="en-US" sz="1100" dirty="0"/>
          </a:p>
        </p:txBody>
      </p:sp>
      <p:sp>
        <p:nvSpPr>
          <p:cNvPr id="27" name="freccia"/>
          <p:cNvSpPr/>
          <p:nvPr/>
        </p:nvSpPr>
        <p:spPr>
          <a:xfrm>
            <a:off x="6611112" y="2176272"/>
            <a:ext cx="219456" cy="292608"/>
          </a:xfrm>
          <a:prstGeom prst="rightArrow">
            <a:avLst/>
          </a:prstGeom>
          <a:solidFill>
            <a:schemeClr val="accent2"/>
          </a:solidFill>
          <a:ln/>
        </p:spPr>
      </p:sp>
      <p:sp>
        <p:nvSpPr>
          <p:cNvPr id="28" name="Persona e fiducia"/>
          <p:cNvSpPr/>
          <p:nvPr/>
        </p:nvSpPr>
        <p:spPr>
          <a:xfrm>
            <a:off x="6848856" y="1097280"/>
            <a:ext cx="1874520" cy="2423160"/>
          </a:xfrm>
          <a:prstGeom prst="roundRect">
            <a:avLst>
              <a:gd name="adj" fmla="val 3902"/>
            </a:avLst>
          </a:prstGeom>
          <a:solidFill>
            <a:schemeClr val="accent6"/>
          </a:solidFill>
          <a:ln/>
        </p:spPr>
      </p:sp>
      <p:sp>
        <p:nvSpPr>
          <p:cNvPr id="29" name="cerchio FiUserCheck"/>
          <p:cNvSpPr/>
          <p:nvPr/>
        </p:nvSpPr>
        <p:spPr>
          <a:xfrm>
            <a:off x="7507224" y="1234440"/>
            <a:ext cx="548640" cy="548640"/>
          </a:xfrm>
          <a:prstGeom prst="ellipse">
            <a:avLst/>
          </a:prstGeom>
          <a:solidFill>
            <a:schemeClr val="accent1"/>
          </a:solidFill>
          <a:ln/>
        </p:spPr>
      </p:sp>
      <p:pic>
        <p:nvPicPr>
          <p:cNvPr id="30" name="Image 3" descr="FiUserCheck">    </p:cNvPr>
          <p:cNvPicPr>
            <a:picLocks noChangeAspect="1"/>
          </p:cNvPicPr>
          <p:nvPr/>
        </p:nvPicPr>
        <p:blipFill>
          <a:blip r:embed="rId4"/>
          <a:stretch>
            <a:fillRect/>
          </a:stretch>
        </p:blipFill>
        <p:spPr>
          <a:xfrm>
            <a:off x="7644384" y="1371600"/>
            <a:ext cx="274320" cy="274320"/>
          </a:xfrm>
          <a:prstGeom prst="rect">
            <a:avLst/>
          </a:prstGeom>
        </p:spPr>
      </p:pic>
      <p:sp>
        <p:nvSpPr>
          <p:cNvPr id="31" name="Text 24"/>
          <p:cNvSpPr txBox="1"/>
          <p:nvPr/>
        </p:nvSpPr>
        <p:spPr>
          <a:xfrm>
            <a:off x="6940296" y="1874520"/>
            <a:ext cx="1691640" cy="548640"/>
          </a:xfrm>
          <a:prstGeom prst="rect">
            <a:avLst/>
          </a:prstGeom>
          <a:noFill/>
          <a:ln/>
        </p:spPr>
        <p:txBody>
          <a:bodyPr wrap="square" lIns="0" tIns="0" rIns="0" bIns="0" rtlCol="0" anchor="ctr"/>
          <a:lstStyle/>
          <a:p>
            <a:pPr algn="ctr" indent="0" marL="0">
              <a:buNone/>
            </a:pPr>
            <a:r>
              <a:rPr lang="en-US" sz="1500" b="1" dirty="0">
                <a:solidFill>
                  <a:schemeClr val="tx1"/>
                </a:solidFill>
              </a:rPr>
              <a:t>Persona e fiducia</a:t>
            </a:r>
            <a:endParaRPr lang="en-US" sz="1500" dirty="0"/>
          </a:p>
        </p:txBody>
      </p:sp>
      <p:sp>
        <p:nvSpPr>
          <p:cNvPr id="32" name="Text 25"/>
          <p:cNvSpPr txBox="1"/>
          <p:nvPr/>
        </p:nvSpPr>
        <p:spPr>
          <a:xfrm>
            <a:off x="6986016" y="2450592"/>
            <a:ext cx="1600200" cy="548640"/>
          </a:xfrm>
          <a:prstGeom prst="rect">
            <a:avLst/>
          </a:prstGeom>
          <a:noFill/>
          <a:ln/>
        </p:spPr>
        <p:txBody>
          <a:bodyPr wrap="square" lIns="0" tIns="0" rIns="0" bIns="0" rtlCol="0" anchor="t"/>
          <a:lstStyle/>
          <a:p>
            <a:pPr algn="ctr" indent="0" marL="0">
              <a:buNone/>
            </a:pPr>
            <a:r>
              <a:rPr lang="en-US" sz="1200" dirty="0">
                <a:solidFill>
                  <a:schemeClr val="tx2"/>
                </a:solidFill>
              </a:rPr>
              <a:t>Competenze, fiducia calibrata</a:t>
            </a:r>
            <a:endParaRPr lang="en-US" sz="1200" dirty="0"/>
          </a:p>
        </p:txBody>
      </p:sp>
      <p:sp>
        <p:nvSpPr>
          <p:cNvPr id="33" name="blocco 5.6  5.7"/>
          <p:cNvSpPr/>
          <p:nvPr/>
        </p:nvSpPr>
        <p:spPr>
          <a:xfrm>
            <a:off x="7260336" y="3063240"/>
            <a:ext cx="1051560" cy="310896"/>
          </a:xfrm>
          <a:prstGeom prst="roundRect">
            <a:avLst>
              <a:gd name="adj" fmla="val 35294"/>
            </a:avLst>
          </a:prstGeom>
          <a:solidFill>
            <a:schemeClr val="accent1"/>
          </a:solidFill>
          <a:ln/>
        </p:spPr>
      </p:sp>
      <p:sp>
        <p:nvSpPr>
          <p:cNvPr id="34" name="Text 27"/>
          <p:cNvSpPr txBox="1"/>
          <p:nvPr/>
        </p:nvSpPr>
        <p:spPr>
          <a:xfrm>
            <a:off x="7306056" y="3063240"/>
            <a:ext cx="960120" cy="310896"/>
          </a:xfrm>
          <a:prstGeom prst="rect">
            <a:avLst/>
          </a:prstGeom>
          <a:noFill/>
          <a:ln/>
        </p:spPr>
        <p:txBody>
          <a:bodyPr wrap="square" lIns="0" tIns="0" rIns="0" bIns="0" rtlCol="0" anchor="ctr"/>
          <a:lstStyle/>
          <a:p>
            <a:pPr algn="ctr" indent="0" marL="0">
              <a:buNone/>
            </a:pPr>
            <a:r>
              <a:rPr lang="en-US" sz="1100" b="1" dirty="0">
                <a:solidFill>
                  <a:schemeClr val="bg1"/>
                </a:solidFill>
              </a:rPr>
              <a:t>5.6  5.7</a:t>
            </a:r>
            <a:endParaRPr lang="en-US" sz="1100" dirty="0"/>
          </a:p>
        </p:txBody>
      </p:sp>
      <p:sp>
        <p:nvSpPr>
          <p:cNvPr id="35" name="messaggio"/>
          <p:cNvSpPr/>
          <p:nvPr/>
        </p:nvSpPr>
        <p:spPr>
          <a:xfrm>
            <a:off x="457200" y="3749040"/>
            <a:ext cx="8229600" cy="777240"/>
          </a:xfrm>
          <a:prstGeom prst="roundRect">
            <a:avLst>
              <a:gd name="adj" fmla="val 9412"/>
            </a:avLst>
          </a:prstGeom>
          <a:solidFill>
            <a:schemeClr val="tx1"/>
          </a:solidFill>
          <a:ln/>
        </p:spPr>
      </p:sp>
      <p:sp>
        <p:nvSpPr>
          <p:cNvPr id="36" name="Text 29"/>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400" dirty="0">
                <a:solidFill>
                  <a:schemeClr val="bg1"/>
                </a:solidFill>
              </a:rPr>
              <a:t>Il valore nasce dalla combinazione delle capacità dell'AI, delle competenze umane e di un controllo adeguato al contesto.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Il linguaggio naturale come interfaccia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Rende accessibili capacità prima riservate agli specialisti: obiettivi chiari e lettura attenta delle risposte ne moltiplicano il valore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Dai comandi alle richieste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3154680"/>
                <a:gridCol w="3154680"/>
              </a:tblGrid>
              <a:tr h="502920">
                <a:tc>
                  <a:txBody>
                    <a:bodyPr/>
                    <a:lstStyle/>
                    <a:p>
                      <a:pPr indent="0" marL="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bg1"/>
                          </a:solidFill>
                        </a:rPr>
                        <a:t>Comandi predefiniti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Richieste in linguaggio naturale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02920">
                <a:tc>
                  <a:txBody>
                    <a:bodyPr/>
                    <a:lstStyle/>
                    <a:p>
                      <a:pPr indent="0" marL="0">
                        <a:buNone/>
                      </a:pPr>
                      <a:r>
                        <a:rPr lang="en-US" sz="1300" b="1" dirty="0">
                          <a:solidFill>
                            <a:schemeClr val="tx1"/>
                          </a:solidFill>
                        </a:rPr>
                        <a:t>Che cosa esprimiamo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Il "come": la sequenza di operazioni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Il "che cosa": l'obiettivo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300" b="1" dirty="0">
                          <a:solidFill>
                            <a:schemeClr val="tx1"/>
                          </a:solidFill>
                        </a:rPr>
                        <a:t>Che cosa serve sapere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Dove sono le funzioni, come si usano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 cosa vogliamo ottenere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300" b="1" dirty="0">
                          <a:solidFill>
                            <a:schemeClr val="tx1"/>
                          </a:solidFill>
                        </a:rPr>
                        <a:t>Significato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Preciso e prevedibile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 interpretare, si chiarisce nel dialogo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300" b="1" dirty="0">
                          <a:solidFill>
                            <a:schemeClr val="tx1"/>
                          </a:solidFill>
                        </a:rPr>
                        <a:t>Flessibilità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Solo ciò che è previsto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Molto ampia, anche richieste nuove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300" b="1" dirty="0">
                          <a:solidFill>
                            <a:schemeClr val="tx1"/>
                          </a:solidFill>
                        </a:rPr>
                        <a:t>Esempio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Menu, formule, campi da compilare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"Confronta questi preventivi per 100 pezzi"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4160520"/>
            <a:ext cx="8229600" cy="411480"/>
          </a:xfrm>
          <a:prstGeom prst="roundRect">
            <a:avLst>
              <a:gd name="adj" fmla="val 17778"/>
            </a:avLst>
          </a:prstGeom>
          <a:solidFill>
            <a:schemeClr val="tx1"/>
          </a:solidFill>
          <a:ln/>
        </p:spPr>
      </p:sp>
      <p:sp>
        <p:nvSpPr>
          <p:cNvPr id="6" name="Text 2"/>
          <p:cNvSpPr txBox="1"/>
          <p:nvPr/>
        </p:nvSpPr>
        <p:spPr>
          <a:xfrm>
            <a:off x="640080" y="4160520"/>
            <a:ext cx="7863840" cy="411480"/>
          </a:xfrm>
          <a:prstGeom prst="rect">
            <a:avLst/>
          </a:prstGeom>
          <a:noFill/>
          <a:ln/>
        </p:spPr>
        <p:txBody>
          <a:bodyPr wrap="square" lIns="0" tIns="0" rIns="0" bIns="0" rtlCol="0" anchor="ctr"/>
          <a:lstStyle/>
          <a:p>
            <a:pPr indent="0" marL="0">
              <a:buNone/>
            </a:pPr>
            <a:r>
              <a:rPr lang="en-US" sz="1300" dirty="0">
                <a:solidFill>
                  <a:schemeClr val="bg1"/>
                </a:solidFill>
              </a:rPr>
              <a:t>Dal "come si fa" al "che cosa voglio": il sistema interpreta, e il dialogo permette di correggere l'interpretazione.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Opportunità e aspetti da gestire</a:t>
            </a:r>
            <a:endParaRPr lang="en-US" sz="2600" dirty="0"/>
          </a:p>
        </p:txBody>
      </p:sp>
      <p:sp>
        <p:nvSpPr>
          <p:cNvPr id="4" name="scheda Opportunità"/>
          <p:cNvSpPr/>
          <p:nvPr/>
        </p:nvSpPr>
        <p:spPr>
          <a:xfrm>
            <a:off x="457200" y="1097280"/>
            <a:ext cx="4846320" cy="3429000"/>
          </a:xfrm>
          <a:prstGeom prst="roundRect">
            <a:avLst>
              <a:gd name="adj" fmla="val 2133"/>
            </a:avLst>
          </a:prstGeom>
          <a:solidFill>
            <a:schemeClr val="accent6"/>
          </a:solidFill>
          <a:ln/>
        </p:spPr>
      </p:sp>
      <p:sp>
        <p:nvSpPr>
          <p:cNvPr id="5" name="cerchio FiThumbsUp"/>
          <p:cNvSpPr/>
          <p:nvPr/>
        </p:nvSpPr>
        <p:spPr>
          <a:xfrm>
            <a:off x="640080" y="1280160"/>
            <a:ext cx="457200" cy="457200"/>
          </a:xfrm>
          <a:prstGeom prst="ellipse">
            <a:avLst/>
          </a:prstGeom>
          <a:solidFill>
            <a:schemeClr val="accent1"/>
          </a:solidFill>
          <a:ln/>
        </p:spPr>
      </p:sp>
      <p:pic>
        <p:nvPicPr>
          <p:cNvPr id="6" name="Image 0" descr="FiThumbsUp">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4480560" cy="347472"/>
          </a:xfrm>
          <a:prstGeom prst="rect">
            <a:avLst/>
          </a:prstGeom>
          <a:noFill/>
          <a:ln/>
        </p:spPr>
        <p:txBody>
          <a:bodyPr wrap="square" lIns="0" tIns="0" rIns="0" bIns="0" rtlCol="0" anchor="t"/>
          <a:lstStyle/>
          <a:p>
            <a:pPr indent="0" marL="0">
              <a:buNone/>
            </a:pPr>
            <a:r>
              <a:rPr lang="en-US" sz="1600" b="1" dirty="0">
                <a:solidFill>
                  <a:schemeClr val="tx1"/>
                </a:solidFill>
              </a:rPr>
              <a:t>Opportunità</a:t>
            </a:r>
            <a:endParaRPr lang="en-US" sz="1600" dirty="0"/>
          </a:p>
        </p:txBody>
      </p:sp>
      <p:sp>
        <p:nvSpPr>
          <p:cNvPr id="8" name="Text 4"/>
          <p:cNvSpPr txBox="1"/>
          <p:nvPr/>
        </p:nvSpPr>
        <p:spPr>
          <a:xfrm>
            <a:off x="640080" y="2231136"/>
            <a:ext cx="448056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Accessibilità: basta sapersi esprimere</a:t>
            </a:r>
            <a:endParaRPr lang="en-US" sz="1400" dirty="0"/>
          </a:p>
          <a:p>
            <a:pPr marL="177800" indent="-177800">
              <a:spcAft>
                <a:spcPts val="600"/>
              </a:spcAft>
              <a:buSzPct val="100000"/>
              <a:buChar char="•"/>
            </a:pPr>
            <a:r>
              <a:rPr lang="en-US" sz="1400" dirty="0">
                <a:solidFill>
                  <a:schemeClr val="tx2"/>
                </a:solidFill>
              </a:rPr>
              <a:t>Meno barriere tecniche: niente manuali o formule per iniziare</a:t>
            </a:r>
            <a:endParaRPr lang="en-US" sz="1400" dirty="0"/>
          </a:p>
          <a:p>
            <a:pPr marL="177800" indent="-177800">
              <a:spcAft>
                <a:spcPts val="600"/>
              </a:spcAft>
              <a:buSzPct val="100000"/>
              <a:buChar char="•"/>
            </a:pPr>
            <a:r>
              <a:rPr lang="en-US" sz="1400" dirty="0">
                <a:solidFill>
                  <a:schemeClr val="tx2"/>
                </a:solidFill>
              </a:rPr>
              <a:t>Flessibilità: anche richieste non previste</a:t>
            </a:r>
            <a:endParaRPr lang="en-US" sz="1400" dirty="0"/>
          </a:p>
          <a:p>
            <a:pPr marL="177800" indent="-177800">
              <a:spcAft>
                <a:spcPts val="600"/>
              </a:spcAft>
              <a:buSzPct val="100000"/>
              <a:buChar char="•"/>
            </a:pPr>
            <a:r>
              <a:rPr lang="en-US" sz="1400" dirty="0">
                <a:solidFill>
                  <a:schemeClr val="tx2"/>
                </a:solidFill>
              </a:rPr>
              <a:t>Esplorazione: provare attività nuove</a:t>
            </a:r>
            <a:endParaRPr lang="en-US" sz="1400" dirty="0"/>
          </a:p>
          <a:p>
            <a:pPr marL="177800" indent="-177800">
              <a:spcAft>
                <a:spcPts val="600"/>
              </a:spcAft>
              <a:buSzPct val="100000"/>
              <a:buChar char="•"/>
            </a:pPr>
            <a:r>
              <a:rPr lang="en-US" sz="1400" dirty="0">
                <a:solidFill>
                  <a:schemeClr val="tx2"/>
                </a:solidFill>
              </a:rPr>
              <a:t>Si può precisare, come con un collega</a:t>
            </a:r>
            <a:endParaRPr lang="en-US" sz="1400" dirty="0"/>
          </a:p>
        </p:txBody>
      </p:sp>
      <p:sp>
        <p:nvSpPr>
          <p:cNvPr id="9" name="scheda Da gestire con il dialogo"/>
          <p:cNvSpPr/>
          <p:nvPr/>
        </p:nvSpPr>
        <p:spPr>
          <a:xfrm>
            <a:off x="5486400" y="1097280"/>
            <a:ext cx="3200400" cy="3429000"/>
          </a:xfrm>
          <a:prstGeom prst="roundRect">
            <a:avLst>
              <a:gd name="adj" fmla="val 2286"/>
            </a:avLst>
          </a:prstGeom>
          <a:solidFill>
            <a:schemeClr val="bg2"/>
          </a:solidFill>
          <a:ln/>
        </p:spPr>
      </p:sp>
      <p:sp>
        <p:nvSpPr>
          <p:cNvPr id="10" name="cerchio FiSliders"/>
          <p:cNvSpPr/>
          <p:nvPr/>
        </p:nvSpPr>
        <p:spPr>
          <a:xfrm>
            <a:off x="5669280" y="1280160"/>
            <a:ext cx="457200" cy="457200"/>
          </a:xfrm>
          <a:prstGeom prst="ellipse">
            <a:avLst/>
          </a:prstGeom>
          <a:solidFill>
            <a:schemeClr val="accent1"/>
          </a:solidFill>
          <a:ln/>
        </p:spPr>
      </p:sp>
      <p:pic>
        <p:nvPicPr>
          <p:cNvPr id="11" name="Image 1" descr="FiSliders">    </p:cNvPr>
          <p:cNvPicPr>
            <a:picLocks noChangeAspect="1"/>
          </p:cNvPicPr>
          <p:nvPr/>
        </p:nvPicPr>
        <p:blipFill>
          <a:blip r:embed="rId2"/>
          <a:stretch>
            <a:fillRect/>
          </a:stretch>
        </p:blipFill>
        <p:spPr>
          <a:xfrm>
            <a:off x="5783580" y="1394460"/>
            <a:ext cx="228600" cy="228600"/>
          </a:xfrm>
          <a:prstGeom prst="rect">
            <a:avLst/>
          </a:prstGeom>
        </p:spPr>
      </p:pic>
      <p:sp>
        <p:nvSpPr>
          <p:cNvPr id="12" name="Text 7"/>
          <p:cNvSpPr txBox="1"/>
          <p:nvPr/>
        </p:nvSpPr>
        <p:spPr>
          <a:xfrm>
            <a:off x="5669280" y="1847088"/>
            <a:ext cx="2834640" cy="347472"/>
          </a:xfrm>
          <a:prstGeom prst="rect">
            <a:avLst/>
          </a:prstGeom>
          <a:noFill/>
          <a:ln/>
        </p:spPr>
        <p:txBody>
          <a:bodyPr wrap="square" lIns="0" tIns="0" rIns="0" bIns="0" rtlCol="0" anchor="t"/>
          <a:lstStyle/>
          <a:p>
            <a:pPr indent="0" marL="0">
              <a:buNone/>
            </a:pPr>
            <a:r>
              <a:rPr lang="en-US" sz="1500" b="1" dirty="0">
                <a:solidFill>
                  <a:schemeClr val="tx1"/>
                </a:solidFill>
              </a:rPr>
              <a:t>Da gestire con il dialogo</a:t>
            </a:r>
            <a:endParaRPr lang="en-US" sz="1500" dirty="0"/>
          </a:p>
        </p:txBody>
      </p:sp>
      <p:sp>
        <p:nvSpPr>
          <p:cNvPr id="13" name="Text 8"/>
          <p:cNvSpPr txBox="1"/>
          <p:nvPr/>
        </p:nvSpPr>
        <p:spPr>
          <a:xfrm>
            <a:off x="5669280" y="2231136"/>
            <a:ext cx="2834640" cy="21854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2"/>
                </a:solidFill>
              </a:rPr>
              <a:t>Ambiguità: si precisa scambio dopo scambio</a:t>
            </a:r>
            <a:endParaRPr lang="en-US" sz="1200" dirty="0"/>
          </a:p>
          <a:p>
            <a:pPr marL="177800" indent="-177800">
              <a:spcAft>
                <a:spcPts val="600"/>
              </a:spcAft>
              <a:buSzPct val="100000"/>
              <a:buChar char="•"/>
            </a:pPr>
            <a:r>
              <a:rPr lang="en-US" sz="1200" dirty="0">
                <a:solidFill>
                  <a:schemeClr val="tx2"/>
                </a:solidFill>
              </a:rPr>
              <a:t>Funzioni poco visibili: chiedere al sistema che cosa sa fare</a:t>
            </a:r>
            <a:endParaRPr lang="en-US" sz="1200" dirty="0"/>
          </a:p>
          <a:p>
            <a:pPr marL="177800" indent="-177800">
              <a:spcAft>
                <a:spcPts val="600"/>
              </a:spcAft>
              <a:buSzPct val="100000"/>
              <a:buChar char="•"/>
            </a:pPr>
            <a:r>
              <a:rPr lang="en-US" sz="1200" dirty="0">
                <a:solidFill>
                  <a:schemeClr val="tx2"/>
                </a:solidFill>
              </a:rPr>
              <a:t>Qualità: servono obiettivi chiari e una valutazione attenta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Flessibilità e ambiguità del linguaggio</a:t>
            </a:r>
            <a:endParaRPr lang="en-US" sz="2600" dirty="0"/>
          </a:p>
        </p:txBody>
      </p:sp>
      <p:sp>
        <p:nvSpPr>
          <p:cNvPr id="4" name="&quot;Fammi un riassunto breve del report&quot;"/>
          <p:cNvSpPr/>
          <p:nvPr/>
        </p:nvSpPr>
        <p:spPr>
          <a:xfrm>
            <a:off x="457200" y="1097280"/>
            <a:ext cx="4114800" cy="685800"/>
          </a:xfrm>
          <a:prstGeom prst="roundRect">
            <a:avLst>
              <a:gd name="adj" fmla="val 10667"/>
            </a:avLst>
          </a:prstGeom>
          <a:solidFill>
            <a:schemeClr val="bg2"/>
          </a:solidFill>
          <a:ln/>
        </p:spPr>
      </p:sp>
      <p:sp>
        <p:nvSpPr>
          <p:cNvPr id="5" name="Text 2"/>
          <p:cNvSpPr txBox="1"/>
          <p:nvPr/>
        </p:nvSpPr>
        <p:spPr>
          <a:xfrm>
            <a:off x="640080" y="1097280"/>
            <a:ext cx="3840480" cy="685800"/>
          </a:xfrm>
          <a:prstGeom prst="rect">
            <a:avLst/>
          </a:prstGeom>
          <a:noFill/>
          <a:ln/>
        </p:spPr>
        <p:txBody>
          <a:bodyPr wrap="square" lIns="0" tIns="0" rIns="0" bIns="0" rtlCol="0" anchor="ctr"/>
          <a:lstStyle/>
          <a:p>
            <a:pPr indent="0" marL="0">
              <a:buNone/>
            </a:pPr>
            <a:r>
              <a:rPr lang="en-US" sz="1400" b="1" i="1" dirty="0">
                <a:solidFill>
                  <a:schemeClr val="tx1"/>
                </a:solidFill>
              </a:rPr>
              <a:t>"Fammi un riassunto breve del report"</a:t>
            </a:r>
            <a:endParaRPr lang="en-US" sz="1400" dirty="0"/>
          </a:p>
        </p:txBody>
      </p:sp>
      <p:sp>
        <p:nvSpPr>
          <p:cNvPr id="6" name="freccia"/>
          <p:cNvSpPr/>
          <p:nvPr/>
        </p:nvSpPr>
        <p:spPr>
          <a:xfrm>
            <a:off x="4663440" y="1298448"/>
            <a:ext cx="320040" cy="292608"/>
          </a:xfrm>
          <a:prstGeom prst="rightArrow">
            <a:avLst/>
          </a:prstGeom>
          <a:solidFill>
            <a:schemeClr val="accent2"/>
          </a:solidFill>
          <a:ln/>
        </p:spPr>
      </p:sp>
      <p:sp>
        <p:nvSpPr>
          <p:cNvPr id="7" name="ambiguità 0"/>
          <p:cNvSpPr/>
          <p:nvPr/>
        </p:nvSpPr>
        <p:spPr>
          <a:xfrm>
            <a:off x="5074920" y="1097280"/>
            <a:ext cx="3611880" cy="685800"/>
          </a:xfrm>
          <a:prstGeom prst="roundRect">
            <a:avLst>
              <a:gd name="adj" fmla="val 10667"/>
            </a:avLst>
          </a:prstGeom>
          <a:solidFill>
            <a:schemeClr val="accent6"/>
          </a:solidFill>
          <a:ln/>
        </p:spPr>
      </p:sp>
      <p:sp>
        <p:nvSpPr>
          <p:cNvPr id="8" name="Text 5"/>
          <p:cNvSpPr txBox="1"/>
          <p:nvPr/>
        </p:nvSpPr>
        <p:spPr>
          <a:xfrm>
            <a:off x="5257800" y="1097280"/>
            <a:ext cx="3337560" cy="685800"/>
          </a:xfrm>
          <a:prstGeom prst="rect">
            <a:avLst/>
          </a:prstGeom>
          <a:noFill/>
          <a:ln/>
        </p:spPr>
        <p:txBody>
          <a:bodyPr wrap="square" lIns="0" tIns="0" rIns="0" bIns="0" rtlCol="0" anchor="ctr"/>
          <a:lstStyle/>
          <a:p>
            <a:pPr indent="0" marL="0">
              <a:buNone/>
            </a:pPr>
            <a:r>
              <a:rPr lang="en-US" sz="1300" dirty="0">
                <a:solidFill>
                  <a:schemeClr val="tx1"/>
                </a:solidFill>
              </a:rPr>
              <a:t>Quanto breve? Per chi? A che scopo?</a:t>
            </a:r>
            <a:endParaRPr lang="en-US" sz="1300" dirty="0"/>
          </a:p>
        </p:txBody>
      </p:sp>
      <p:sp>
        <p:nvSpPr>
          <p:cNvPr id="9" name="&quot;Rendi questa email più professionale&quot;"/>
          <p:cNvSpPr/>
          <p:nvPr/>
        </p:nvSpPr>
        <p:spPr>
          <a:xfrm>
            <a:off x="457200" y="1920240"/>
            <a:ext cx="4114800" cy="685800"/>
          </a:xfrm>
          <a:prstGeom prst="roundRect">
            <a:avLst>
              <a:gd name="adj" fmla="val 10667"/>
            </a:avLst>
          </a:prstGeom>
          <a:solidFill>
            <a:schemeClr val="bg2"/>
          </a:solidFill>
          <a:ln/>
        </p:spPr>
      </p:sp>
      <p:sp>
        <p:nvSpPr>
          <p:cNvPr id="10" name="Text 7"/>
          <p:cNvSpPr txBox="1"/>
          <p:nvPr/>
        </p:nvSpPr>
        <p:spPr>
          <a:xfrm>
            <a:off x="640080" y="1920240"/>
            <a:ext cx="3840480" cy="685800"/>
          </a:xfrm>
          <a:prstGeom prst="rect">
            <a:avLst/>
          </a:prstGeom>
          <a:noFill/>
          <a:ln/>
        </p:spPr>
        <p:txBody>
          <a:bodyPr wrap="square" lIns="0" tIns="0" rIns="0" bIns="0" rtlCol="0" anchor="ctr"/>
          <a:lstStyle/>
          <a:p>
            <a:pPr indent="0" marL="0">
              <a:buNone/>
            </a:pPr>
            <a:r>
              <a:rPr lang="en-US" sz="1400" b="1" i="1" dirty="0">
                <a:solidFill>
                  <a:schemeClr val="tx1"/>
                </a:solidFill>
              </a:rPr>
              <a:t>"Rendi questa email più professionale"</a:t>
            </a:r>
            <a:endParaRPr lang="en-US" sz="1400" dirty="0"/>
          </a:p>
        </p:txBody>
      </p:sp>
      <p:sp>
        <p:nvSpPr>
          <p:cNvPr id="11" name="freccia"/>
          <p:cNvSpPr/>
          <p:nvPr/>
        </p:nvSpPr>
        <p:spPr>
          <a:xfrm>
            <a:off x="4663440" y="2121408"/>
            <a:ext cx="320040" cy="292608"/>
          </a:xfrm>
          <a:prstGeom prst="rightArrow">
            <a:avLst/>
          </a:prstGeom>
          <a:solidFill>
            <a:schemeClr val="accent2"/>
          </a:solidFill>
          <a:ln/>
        </p:spPr>
      </p:sp>
      <p:sp>
        <p:nvSpPr>
          <p:cNvPr id="12" name="ambiguità 1"/>
          <p:cNvSpPr/>
          <p:nvPr/>
        </p:nvSpPr>
        <p:spPr>
          <a:xfrm>
            <a:off x="5074920" y="1920240"/>
            <a:ext cx="3611880" cy="685800"/>
          </a:xfrm>
          <a:prstGeom prst="roundRect">
            <a:avLst>
              <a:gd name="adj" fmla="val 10667"/>
            </a:avLst>
          </a:prstGeom>
          <a:solidFill>
            <a:schemeClr val="accent6"/>
          </a:solidFill>
          <a:ln/>
        </p:spPr>
      </p:sp>
      <p:sp>
        <p:nvSpPr>
          <p:cNvPr id="13" name="Text 10"/>
          <p:cNvSpPr txBox="1"/>
          <p:nvPr/>
        </p:nvSpPr>
        <p:spPr>
          <a:xfrm>
            <a:off x="5257800" y="1920240"/>
            <a:ext cx="3337560" cy="685800"/>
          </a:xfrm>
          <a:prstGeom prst="rect">
            <a:avLst/>
          </a:prstGeom>
          <a:noFill/>
          <a:ln/>
        </p:spPr>
        <p:txBody>
          <a:bodyPr wrap="square" lIns="0" tIns="0" rIns="0" bIns="0" rtlCol="0" anchor="ctr"/>
          <a:lstStyle/>
          <a:p>
            <a:pPr indent="0" marL="0">
              <a:buNone/>
            </a:pPr>
            <a:r>
              <a:rPr lang="en-US" sz="1300" dirty="0">
                <a:solidFill>
                  <a:schemeClr val="tx1"/>
                </a:solidFill>
              </a:rPr>
              <a:t>Più formale? Più sintetica? Più tecnica?</a:t>
            </a:r>
            <a:endParaRPr lang="en-US" sz="1300" dirty="0"/>
          </a:p>
        </p:txBody>
      </p:sp>
      <p:sp>
        <p:nvSpPr>
          <p:cNvPr id="14" name="&quot;Analizza le vendite&quot;"/>
          <p:cNvSpPr/>
          <p:nvPr/>
        </p:nvSpPr>
        <p:spPr>
          <a:xfrm>
            <a:off x="457200" y="2743200"/>
            <a:ext cx="4114800" cy="685800"/>
          </a:xfrm>
          <a:prstGeom prst="roundRect">
            <a:avLst>
              <a:gd name="adj" fmla="val 10667"/>
            </a:avLst>
          </a:prstGeom>
          <a:solidFill>
            <a:schemeClr val="bg2"/>
          </a:solidFill>
          <a:ln/>
        </p:spPr>
      </p:sp>
      <p:sp>
        <p:nvSpPr>
          <p:cNvPr id="15" name="Text 12"/>
          <p:cNvSpPr txBox="1"/>
          <p:nvPr/>
        </p:nvSpPr>
        <p:spPr>
          <a:xfrm>
            <a:off x="640080" y="2743200"/>
            <a:ext cx="3840480" cy="685800"/>
          </a:xfrm>
          <a:prstGeom prst="rect">
            <a:avLst/>
          </a:prstGeom>
          <a:noFill/>
          <a:ln/>
        </p:spPr>
        <p:txBody>
          <a:bodyPr wrap="square" lIns="0" tIns="0" rIns="0" bIns="0" rtlCol="0" anchor="ctr"/>
          <a:lstStyle/>
          <a:p>
            <a:pPr indent="0" marL="0">
              <a:buNone/>
            </a:pPr>
            <a:r>
              <a:rPr lang="en-US" sz="1400" b="1" i="1" dirty="0">
                <a:solidFill>
                  <a:schemeClr val="tx1"/>
                </a:solidFill>
              </a:rPr>
              <a:t>"Analizza le vendite"</a:t>
            </a:r>
            <a:endParaRPr lang="en-US" sz="1400" dirty="0"/>
          </a:p>
        </p:txBody>
      </p:sp>
      <p:sp>
        <p:nvSpPr>
          <p:cNvPr id="16" name="freccia"/>
          <p:cNvSpPr/>
          <p:nvPr/>
        </p:nvSpPr>
        <p:spPr>
          <a:xfrm>
            <a:off x="4663440" y="2944368"/>
            <a:ext cx="320040" cy="292608"/>
          </a:xfrm>
          <a:prstGeom prst="rightArrow">
            <a:avLst/>
          </a:prstGeom>
          <a:solidFill>
            <a:schemeClr val="accent2"/>
          </a:solidFill>
          <a:ln/>
        </p:spPr>
      </p:sp>
      <p:sp>
        <p:nvSpPr>
          <p:cNvPr id="17" name="ambiguità 2"/>
          <p:cNvSpPr/>
          <p:nvPr/>
        </p:nvSpPr>
        <p:spPr>
          <a:xfrm>
            <a:off x="5074920" y="2743200"/>
            <a:ext cx="3611880" cy="685800"/>
          </a:xfrm>
          <a:prstGeom prst="roundRect">
            <a:avLst>
              <a:gd name="adj" fmla="val 10667"/>
            </a:avLst>
          </a:prstGeom>
          <a:solidFill>
            <a:schemeClr val="accent6"/>
          </a:solidFill>
          <a:ln/>
        </p:spPr>
      </p:sp>
      <p:sp>
        <p:nvSpPr>
          <p:cNvPr id="18" name="Text 15"/>
          <p:cNvSpPr txBox="1"/>
          <p:nvPr/>
        </p:nvSpPr>
        <p:spPr>
          <a:xfrm>
            <a:off x="5257800" y="2743200"/>
            <a:ext cx="3337560" cy="685800"/>
          </a:xfrm>
          <a:prstGeom prst="rect">
            <a:avLst/>
          </a:prstGeom>
          <a:noFill/>
          <a:ln/>
        </p:spPr>
        <p:txBody>
          <a:bodyPr wrap="square" lIns="0" tIns="0" rIns="0" bIns="0" rtlCol="0" anchor="ctr"/>
          <a:lstStyle/>
          <a:p>
            <a:pPr indent="0" marL="0">
              <a:buNone/>
            </a:pPr>
            <a:r>
              <a:rPr lang="en-US" sz="1300" dirty="0">
                <a:solidFill>
                  <a:schemeClr val="tx1"/>
                </a:solidFill>
              </a:rPr>
              <a:t>Quali aspetti? Quale periodo? Per decidere che cosa?</a:t>
            </a:r>
            <a:endParaRPr lang="en-US" sz="1300" dirty="0"/>
          </a:p>
        </p:txBody>
      </p:sp>
      <p:sp>
        <p:nvSpPr>
          <p:cNvPr id="19" name="Tra persone: contesto condiviso"/>
          <p:cNvSpPr/>
          <p:nvPr/>
        </p:nvSpPr>
        <p:spPr>
          <a:xfrm>
            <a:off x="457200" y="3611880"/>
            <a:ext cx="3977640" cy="914400"/>
          </a:xfrm>
          <a:prstGeom prst="roundRect">
            <a:avLst>
              <a:gd name="adj" fmla="val 8000"/>
            </a:avLst>
          </a:prstGeom>
          <a:solidFill>
            <a:schemeClr val="bg2"/>
          </a:solidFill>
          <a:ln/>
        </p:spPr>
      </p:sp>
      <p:sp>
        <p:nvSpPr>
          <p:cNvPr id="20" name="cerchio FiUser"/>
          <p:cNvSpPr/>
          <p:nvPr/>
        </p:nvSpPr>
        <p:spPr>
          <a:xfrm>
            <a:off x="594360" y="3840480"/>
            <a:ext cx="457200" cy="457200"/>
          </a:xfrm>
          <a:prstGeom prst="ellipse">
            <a:avLst/>
          </a:prstGeom>
          <a:solidFill>
            <a:schemeClr val="accent1"/>
          </a:solidFill>
          <a:ln/>
        </p:spPr>
      </p:sp>
      <p:pic>
        <p:nvPicPr>
          <p:cNvPr id="21" name="Image 0" descr="FiUser">    </p:cNvPr>
          <p:cNvPicPr>
            <a:picLocks noChangeAspect="1"/>
          </p:cNvPicPr>
          <p:nvPr/>
        </p:nvPicPr>
        <p:blipFill>
          <a:blip r:embed="rId1"/>
          <a:stretch>
            <a:fillRect/>
          </a:stretch>
        </p:blipFill>
        <p:spPr>
          <a:xfrm>
            <a:off x="708660" y="3954780"/>
            <a:ext cx="228600" cy="228600"/>
          </a:xfrm>
          <a:prstGeom prst="rect">
            <a:avLst/>
          </a:prstGeom>
        </p:spPr>
      </p:pic>
      <p:sp>
        <p:nvSpPr>
          <p:cNvPr id="22" name="Text 18"/>
          <p:cNvSpPr txBox="1"/>
          <p:nvPr/>
        </p:nvSpPr>
        <p:spPr>
          <a:xfrm>
            <a:off x="1188720" y="3703320"/>
            <a:ext cx="3108960" cy="310896"/>
          </a:xfrm>
          <a:prstGeom prst="rect">
            <a:avLst/>
          </a:prstGeom>
          <a:noFill/>
          <a:ln/>
        </p:spPr>
        <p:txBody>
          <a:bodyPr wrap="square" lIns="0" tIns="0" rIns="0" bIns="0" rtlCol="0" anchor="ctr"/>
          <a:lstStyle/>
          <a:p>
            <a:pPr indent="0" marL="0">
              <a:buNone/>
            </a:pPr>
            <a:r>
              <a:rPr lang="en-US" sz="1300" b="1" dirty="0">
                <a:solidFill>
                  <a:schemeClr val="tx1"/>
                </a:solidFill>
              </a:rPr>
              <a:t>Tra persone: contesto condiviso</a:t>
            </a:r>
            <a:endParaRPr lang="en-US" sz="1300" dirty="0"/>
          </a:p>
        </p:txBody>
      </p:sp>
      <p:sp>
        <p:nvSpPr>
          <p:cNvPr id="23" name="Text 19"/>
          <p:cNvSpPr txBox="1"/>
          <p:nvPr/>
        </p:nvSpPr>
        <p:spPr>
          <a:xfrm>
            <a:off x="1188720" y="4014216"/>
            <a:ext cx="3108960" cy="438912"/>
          </a:xfrm>
          <a:prstGeom prst="rect">
            <a:avLst/>
          </a:prstGeom>
          <a:noFill/>
          <a:ln/>
        </p:spPr>
        <p:txBody>
          <a:bodyPr wrap="square" lIns="0" tIns="0" rIns="0" bIns="0" rtlCol="0" anchor="t"/>
          <a:lstStyle/>
          <a:p>
            <a:pPr indent="0" marL="0">
              <a:buNone/>
            </a:pPr>
            <a:r>
              <a:rPr lang="en-US" sz="1100" dirty="0">
                <a:solidFill>
                  <a:schemeClr val="tx2"/>
                </a:solidFill>
              </a:rPr>
              <a:t>Gran parte delle informazioni resta implicita.</a:t>
            </a:r>
            <a:endParaRPr lang="en-US" sz="1100" dirty="0"/>
          </a:p>
        </p:txBody>
      </p:sp>
      <p:sp>
        <p:nvSpPr>
          <p:cNvPr id="24" name="Con l'AI: il contesto disponibile"/>
          <p:cNvSpPr/>
          <p:nvPr/>
        </p:nvSpPr>
        <p:spPr>
          <a:xfrm>
            <a:off x="4709160" y="3611880"/>
            <a:ext cx="3977640" cy="914400"/>
          </a:xfrm>
          <a:prstGeom prst="roundRect">
            <a:avLst>
              <a:gd name="adj" fmla="val 8000"/>
            </a:avLst>
          </a:prstGeom>
          <a:solidFill>
            <a:schemeClr val="accent6"/>
          </a:solidFill>
          <a:ln/>
        </p:spPr>
      </p:sp>
      <p:sp>
        <p:nvSpPr>
          <p:cNvPr id="25" name="cerchio FiCpu"/>
          <p:cNvSpPr/>
          <p:nvPr/>
        </p:nvSpPr>
        <p:spPr>
          <a:xfrm>
            <a:off x="4846320" y="3840480"/>
            <a:ext cx="457200" cy="457200"/>
          </a:xfrm>
          <a:prstGeom prst="ellipse">
            <a:avLst/>
          </a:prstGeom>
          <a:solidFill>
            <a:schemeClr val="accent1"/>
          </a:solidFill>
          <a:ln/>
        </p:spPr>
      </p:sp>
      <p:pic>
        <p:nvPicPr>
          <p:cNvPr id="26" name="Image 1" descr="FiCpu">    </p:cNvPr>
          <p:cNvPicPr>
            <a:picLocks noChangeAspect="1"/>
          </p:cNvPicPr>
          <p:nvPr/>
        </p:nvPicPr>
        <p:blipFill>
          <a:blip r:embed="rId2"/>
          <a:stretch>
            <a:fillRect/>
          </a:stretch>
        </p:blipFill>
        <p:spPr>
          <a:xfrm>
            <a:off x="4960620" y="3954780"/>
            <a:ext cx="228600" cy="228600"/>
          </a:xfrm>
          <a:prstGeom prst="rect">
            <a:avLst/>
          </a:prstGeom>
        </p:spPr>
      </p:pic>
      <p:sp>
        <p:nvSpPr>
          <p:cNvPr id="27" name="Text 22"/>
          <p:cNvSpPr txBox="1"/>
          <p:nvPr/>
        </p:nvSpPr>
        <p:spPr>
          <a:xfrm>
            <a:off x="5440680" y="3703320"/>
            <a:ext cx="3108960" cy="310896"/>
          </a:xfrm>
          <a:prstGeom prst="rect">
            <a:avLst/>
          </a:prstGeom>
          <a:noFill/>
          <a:ln/>
        </p:spPr>
        <p:txBody>
          <a:bodyPr wrap="square" lIns="0" tIns="0" rIns="0" bIns="0" rtlCol="0" anchor="ctr"/>
          <a:lstStyle/>
          <a:p>
            <a:pPr indent="0" marL="0">
              <a:buNone/>
            </a:pPr>
            <a:r>
              <a:rPr lang="en-US" sz="1300" b="1" dirty="0">
                <a:solidFill>
                  <a:schemeClr val="tx1"/>
                </a:solidFill>
              </a:rPr>
              <a:t>Con l'AI: il contesto disponibile</a:t>
            </a:r>
            <a:endParaRPr lang="en-US" sz="1300" dirty="0"/>
          </a:p>
        </p:txBody>
      </p:sp>
      <p:sp>
        <p:nvSpPr>
          <p:cNvPr id="28" name="Text 23"/>
          <p:cNvSpPr txBox="1"/>
          <p:nvPr/>
        </p:nvSpPr>
        <p:spPr>
          <a:xfrm>
            <a:off x="5440680" y="4014216"/>
            <a:ext cx="3108960" cy="438912"/>
          </a:xfrm>
          <a:prstGeom prst="rect">
            <a:avLst/>
          </a:prstGeom>
          <a:noFill/>
          <a:ln/>
        </p:spPr>
        <p:txBody>
          <a:bodyPr wrap="square" lIns="0" tIns="0" rIns="0" bIns="0" rtlCol="0" anchor="t"/>
          <a:lstStyle/>
          <a:p>
            <a:pPr indent="0" marL="0">
              <a:buNone/>
            </a:pPr>
            <a:r>
              <a:rPr lang="en-US" sz="1100" dirty="0">
                <a:solidFill>
                  <a:schemeClr val="tx2"/>
                </a:solidFill>
              </a:rPr>
              <a:t>Conversazione e, secondo il sistema, file, memoria, istruzioni, strumenti.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Testo, voce e immagini</a:t>
            </a:r>
            <a:endParaRPr lang="en-US" sz="2600" dirty="0"/>
          </a:p>
        </p:txBody>
      </p:sp>
      <p:sp>
        <p:nvSpPr>
          <p:cNvPr id="4" name="scheda Testo"/>
          <p:cNvSpPr/>
          <p:nvPr/>
        </p:nvSpPr>
        <p:spPr>
          <a:xfrm>
            <a:off x="457200" y="1097280"/>
            <a:ext cx="2615184" cy="2743200"/>
          </a:xfrm>
          <a:prstGeom prst="roundRect">
            <a:avLst>
              <a:gd name="adj" fmla="val 2797"/>
            </a:avLst>
          </a:prstGeom>
          <a:solidFill>
            <a:schemeClr val="accent6"/>
          </a:solidFill>
          <a:ln/>
        </p:spPr>
      </p:sp>
      <p:sp>
        <p:nvSpPr>
          <p:cNvPr id="5" name="cerchio FiType"/>
          <p:cNvSpPr/>
          <p:nvPr/>
        </p:nvSpPr>
        <p:spPr>
          <a:xfrm>
            <a:off x="640080" y="1280160"/>
            <a:ext cx="457200" cy="457200"/>
          </a:xfrm>
          <a:prstGeom prst="ellipse">
            <a:avLst/>
          </a:prstGeom>
          <a:solidFill>
            <a:schemeClr val="accent1"/>
          </a:solidFill>
          <a:ln/>
        </p:spPr>
      </p:sp>
      <p:pic>
        <p:nvPicPr>
          <p:cNvPr id="6" name="Image 0" descr="FiTyp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Testo</a:t>
            </a:r>
            <a:endParaRPr lang="en-US" sz="1600" dirty="0"/>
          </a:p>
        </p:txBody>
      </p:sp>
      <p:sp>
        <p:nvSpPr>
          <p:cNvPr id="8" name="Text 4"/>
          <p:cNvSpPr txBox="1"/>
          <p:nvPr/>
        </p:nvSpPr>
        <p:spPr>
          <a:xfrm>
            <a:off x="640080" y="2231136"/>
            <a:ext cx="2249424" cy="14996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Si rilegge prima di inviare</a:t>
            </a:r>
            <a:endParaRPr lang="en-US" sz="1300" dirty="0"/>
          </a:p>
          <a:p>
            <a:pPr marL="177800" indent="-177800">
              <a:spcAft>
                <a:spcPts val="400"/>
              </a:spcAft>
              <a:buSzPct val="100000"/>
              <a:buChar char="•"/>
            </a:pPr>
            <a:r>
              <a:rPr lang="en-US" sz="1300" dirty="0">
                <a:solidFill>
                  <a:schemeClr val="tx2"/>
                </a:solidFill>
              </a:rPr>
              <a:t>Lascia traccia, riutilizzabile</a:t>
            </a:r>
            <a:endParaRPr lang="en-US" sz="1300" dirty="0"/>
          </a:p>
          <a:p>
            <a:pPr marL="177800" indent="-177800">
              <a:spcAft>
                <a:spcPts val="400"/>
              </a:spcAft>
              <a:buSzPct val="100000"/>
              <a:buChar char="•"/>
            </a:pPr>
            <a:r>
              <a:rPr lang="en-US" sz="1300" dirty="0">
                <a:solidFill>
                  <a:schemeClr val="tx2"/>
                </a:solidFill>
              </a:rPr>
              <a:t>Adatto a richieste articolate</a:t>
            </a:r>
            <a:endParaRPr lang="en-US" sz="1300" dirty="0"/>
          </a:p>
        </p:txBody>
      </p:sp>
      <p:sp>
        <p:nvSpPr>
          <p:cNvPr id="9" name="scheda Voce"/>
          <p:cNvSpPr/>
          <p:nvPr/>
        </p:nvSpPr>
        <p:spPr>
          <a:xfrm>
            <a:off x="3264408" y="1097280"/>
            <a:ext cx="2615184" cy="2743200"/>
          </a:xfrm>
          <a:prstGeom prst="roundRect">
            <a:avLst>
              <a:gd name="adj" fmla="val 2797"/>
            </a:avLst>
          </a:prstGeom>
          <a:solidFill>
            <a:schemeClr val="bg2"/>
          </a:solidFill>
          <a:ln/>
        </p:spPr>
      </p:sp>
      <p:sp>
        <p:nvSpPr>
          <p:cNvPr id="10" name="cerchio FiMic"/>
          <p:cNvSpPr/>
          <p:nvPr/>
        </p:nvSpPr>
        <p:spPr>
          <a:xfrm>
            <a:off x="3447288" y="1280160"/>
            <a:ext cx="457200" cy="457200"/>
          </a:xfrm>
          <a:prstGeom prst="ellipse">
            <a:avLst/>
          </a:prstGeom>
          <a:solidFill>
            <a:schemeClr val="accent1"/>
          </a:solidFill>
          <a:ln/>
        </p:spPr>
      </p:sp>
      <p:pic>
        <p:nvPicPr>
          <p:cNvPr id="11" name="Image 1" descr="FiMic">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Voce</a:t>
            </a:r>
            <a:endParaRPr lang="en-US" sz="1600" dirty="0"/>
          </a:p>
        </p:txBody>
      </p:sp>
      <p:sp>
        <p:nvSpPr>
          <p:cNvPr id="13" name="Text 8"/>
          <p:cNvSpPr txBox="1"/>
          <p:nvPr/>
        </p:nvSpPr>
        <p:spPr>
          <a:xfrm>
            <a:off x="3447288" y="2231136"/>
            <a:ext cx="2249424" cy="14996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Rapida e naturale, a mani libere</a:t>
            </a:r>
            <a:endParaRPr lang="en-US" sz="1300" dirty="0"/>
          </a:p>
          <a:p>
            <a:pPr marL="177800" indent="-177800">
              <a:spcAft>
                <a:spcPts val="400"/>
              </a:spcAft>
              <a:buSzPct val="100000"/>
              <a:buChar char="•"/>
            </a:pPr>
            <a:r>
              <a:rPr lang="en-US" sz="1300" dirty="0">
                <a:solidFill>
                  <a:schemeClr val="tx2"/>
                </a:solidFill>
              </a:rPr>
              <a:t>Ideale per esplorare idee</a:t>
            </a:r>
            <a:endParaRPr lang="en-US" sz="1300" dirty="0"/>
          </a:p>
          <a:p>
            <a:pPr marL="177800" indent="-177800">
              <a:spcAft>
                <a:spcPts val="400"/>
              </a:spcAft>
              <a:buSzPct val="100000"/>
              <a:buChar char="•"/>
            </a:pPr>
            <a:r>
              <a:rPr lang="en-US" sz="1300" dirty="0">
                <a:solidFill>
                  <a:schemeClr val="tx2"/>
                </a:solidFill>
              </a:rPr>
              <a:t>Accentua la sensazione di parlare con una persona</a:t>
            </a:r>
            <a:endParaRPr lang="en-US" sz="1300" dirty="0"/>
          </a:p>
        </p:txBody>
      </p:sp>
      <p:sp>
        <p:nvSpPr>
          <p:cNvPr id="14" name="scheda Multimodale"/>
          <p:cNvSpPr/>
          <p:nvPr/>
        </p:nvSpPr>
        <p:spPr>
          <a:xfrm>
            <a:off x="6071616" y="1097280"/>
            <a:ext cx="2615184" cy="2743200"/>
          </a:xfrm>
          <a:prstGeom prst="roundRect">
            <a:avLst>
              <a:gd name="adj" fmla="val 2797"/>
            </a:avLst>
          </a:prstGeom>
          <a:solidFill>
            <a:schemeClr val="bg2"/>
          </a:solidFill>
          <a:ln/>
        </p:spPr>
      </p:sp>
      <p:sp>
        <p:nvSpPr>
          <p:cNvPr id="15" name="cerchio FiImage"/>
          <p:cNvSpPr/>
          <p:nvPr/>
        </p:nvSpPr>
        <p:spPr>
          <a:xfrm>
            <a:off x="6254496" y="1280160"/>
            <a:ext cx="457200" cy="457200"/>
          </a:xfrm>
          <a:prstGeom prst="ellipse">
            <a:avLst/>
          </a:prstGeom>
          <a:solidFill>
            <a:schemeClr val="accent1"/>
          </a:solidFill>
          <a:ln/>
        </p:spPr>
      </p:sp>
      <p:pic>
        <p:nvPicPr>
          <p:cNvPr id="16" name="Image 2" descr="FiImage">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600" b="1" dirty="0">
                <a:solidFill>
                  <a:schemeClr val="tx1"/>
                </a:solidFill>
              </a:rPr>
              <a:t>Multimodale</a:t>
            </a:r>
            <a:endParaRPr lang="en-US" sz="1600" dirty="0"/>
          </a:p>
        </p:txBody>
      </p:sp>
      <p:sp>
        <p:nvSpPr>
          <p:cNvPr id="18" name="Text 12"/>
          <p:cNvSpPr txBox="1"/>
          <p:nvPr/>
        </p:nvSpPr>
        <p:spPr>
          <a:xfrm>
            <a:off x="6254496" y="2231136"/>
            <a:ext cx="2249424" cy="14996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Mostrare invece di descrivere</a:t>
            </a:r>
            <a:endParaRPr lang="en-US" sz="1300" dirty="0"/>
          </a:p>
          <a:p>
            <a:pPr marL="177800" indent="-177800">
              <a:spcAft>
                <a:spcPts val="400"/>
              </a:spcAft>
              <a:buSzPct val="100000"/>
              <a:buChar char="•"/>
            </a:pPr>
            <a:r>
              <a:rPr lang="en-US" sz="1300" dirty="0">
                <a:solidFill>
                  <a:schemeClr val="tx2"/>
                </a:solidFill>
              </a:rPr>
              <a:t>Riduce l'ambiguità</a:t>
            </a:r>
            <a:endParaRPr lang="en-US" sz="1300" dirty="0"/>
          </a:p>
          <a:p>
            <a:pPr marL="177800" indent="-177800">
              <a:spcAft>
                <a:spcPts val="400"/>
              </a:spcAft>
              <a:buSzPct val="100000"/>
              <a:buChar char="•"/>
            </a:pPr>
            <a:r>
              <a:rPr lang="en-US" sz="1300" dirty="0">
                <a:solidFill>
                  <a:schemeClr val="tx2"/>
                </a:solidFill>
              </a:rPr>
              <a:t>Attenzione a che cosa si condivide</a:t>
            </a:r>
            <a:endParaRPr lang="en-US" sz="1300" dirty="0"/>
          </a:p>
        </p:txBody>
      </p:sp>
      <p:sp>
        <p:nvSpPr>
          <p:cNvPr id="19" name="messaggio"/>
          <p:cNvSpPr/>
          <p:nvPr/>
        </p:nvSpPr>
        <p:spPr>
          <a:xfrm>
            <a:off x="457200" y="3977640"/>
            <a:ext cx="8229600" cy="548640"/>
          </a:xfrm>
          <a:prstGeom prst="roundRect">
            <a:avLst>
              <a:gd name="adj" fmla="val 13333"/>
            </a:avLst>
          </a:prstGeom>
          <a:solidFill>
            <a:schemeClr val="tx1"/>
          </a:solidFill>
          <a:ln/>
        </p:spPr>
      </p:sp>
      <p:sp>
        <p:nvSpPr>
          <p:cNvPr id="20" name="Text 1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La modalità si sceglie in base all'attività, al flusso di lavoro e alle capacità dello strumento.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Cambia il rapporto tra utente e software</a:t>
            </a:r>
            <a:endParaRPr lang="en-US" sz="2600" dirty="0"/>
          </a:p>
        </p:txBody>
      </p:sp>
      <p:sp>
        <p:nvSpPr>
          <p:cNvPr id="4" name="scheda Utente operatore"/>
          <p:cNvSpPr/>
          <p:nvPr/>
        </p:nvSpPr>
        <p:spPr>
          <a:xfrm>
            <a:off x="457200" y="1097280"/>
            <a:ext cx="3291840" cy="2377440"/>
          </a:xfrm>
          <a:prstGeom prst="roundRect">
            <a:avLst>
              <a:gd name="adj" fmla="val 3077"/>
            </a:avLst>
          </a:prstGeom>
          <a:solidFill>
            <a:schemeClr val="bg2"/>
          </a:solidFill>
          <a:ln/>
        </p:spPr>
      </p:sp>
      <p:sp>
        <p:nvSpPr>
          <p:cNvPr id="5" name="cerchio FiSettings"/>
          <p:cNvSpPr/>
          <p:nvPr/>
        </p:nvSpPr>
        <p:spPr>
          <a:xfrm>
            <a:off x="640080" y="1280160"/>
            <a:ext cx="457200" cy="457200"/>
          </a:xfrm>
          <a:prstGeom prst="ellipse">
            <a:avLst/>
          </a:prstGeom>
          <a:solidFill>
            <a:schemeClr val="accent1"/>
          </a:solidFill>
          <a:ln/>
        </p:spPr>
      </p:sp>
      <p:pic>
        <p:nvPicPr>
          <p:cNvPr id="6" name="Image 0" descr="FiSettings">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926080" cy="347472"/>
          </a:xfrm>
          <a:prstGeom prst="rect">
            <a:avLst/>
          </a:prstGeom>
          <a:noFill/>
          <a:ln/>
        </p:spPr>
        <p:txBody>
          <a:bodyPr wrap="square" lIns="0" tIns="0" rIns="0" bIns="0" rtlCol="0" anchor="t"/>
          <a:lstStyle/>
          <a:p>
            <a:pPr indent="0" marL="0">
              <a:buNone/>
            </a:pPr>
            <a:r>
              <a:rPr lang="en-US" sz="1600" b="1" dirty="0">
                <a:solidFill>
                  <a:schemeClr val="tx1"/>
                </a:solidFill>
              </a:rPr>
              <a:t>Utente operatore</a:t>
            </a:r>
            <a:endParaRPr lang="en-US" sz="1600" dirty="0"/>
          </a:p>
        </p:txBody>
      </p:sp>
      <p:sp>
        <p:nvSpPr>
          <p:cNvPr id="8" name="Text 4"/>
          <p:cNvSpPr txBox="1"/>
          <p:nvPr/>
        </p:nvSpPr>
        <p:spPr>
          <a:xfrm>
            <a:off x="640080" y="2231136"/>
            <a:ext cx="2926080" cy="1133856"/>
          </a:xfrm>
          <a:prstGeom prst="rect">
            <a:avLst/>
          </a:prstGeom>
          <a:noFill/>
          <a:ln/>
        </p:spPr>
        <p:txBody>
          <a:bodyPr wrap="square" lIns="0" tIns="0" rIns="0" bIns="0" rtlCol="0" anchor="t"/>
          <a:lstStyle/>
          <a:p>
            <a:pPr indent="0" marL="0">
              <a:buNone/>
            </a:pPr>
            <a:r>
              <a:rPr lang="en-US" sz="1300" dirty="0">
                <a:solidFill>
                  <a:schemeClr val="tx2"/>
                </a:solidFill>
              </a:rPr>
              <a:t>Conosce gli strumenti ed esegue le operazioni. Il software fa esattamente ciò che gli viene detto.</a:t>
            </a:r>
            <a:endParaRPr lang="en-US" sz="1300" dirty="0"/>
          </a:p>
        </p:txBody>
      </p:sp>
      <p:sp>
        <p:nvSpPr>
          <p:cNvPr id="9" name="freccia"/>
          <p:cNvSpPr/>
          <p:nvPr/>
        </p:nvSpPr>
        <p:spPr>
          <a:xfrm>
            <a:off x="3886200" y="2103120"/>
            <a:ext cx="502920" cy="292608"/>
          </a:xfrm>
          <a:prstGeom prst="rightArrow">
            <a:avLst/>
          </a:prstGeom>
          <a:solidFill>
            <a:schemeClr val="accent1"/>
          </a:solidFill>
          <a:ln/>
        </p:spPr>
      </p:sp>
      <p:sp>
        <p:nvSpPr>
          <p:cNvPr id="10" name="scheda Utente committente"/>
          <p:cNvSpPr/>
          <p:nvPr/>
        </p:nvSpPr>
        <p:spPr>
          <a:xfrm>
            <a:off x="4526280" y="1097280"/>
            <a:ext cx="4160520" cy="2377440"/>
          </a:xfrm>
          <a:prstGeom prst="roundRect">
            <a:avLst>
              <a:gd name="adj" fmla="val 3077"/>
            </a:avLst>
          </a:prstGeom>
          <a:solidFill>
            <a:schemeClr val="accent6"/>
          </a:solidFill>
          <a:ln/>
        </p:spPr>
      </p:sp>
      <p:sp>
        <p:nvSpPr>
          <p:cNvPr id="11" name="cerchio FiBriefcase"/>
          <p:cNvSpPr/>
          <p:nvPr/>
        </p:nvSpPr>
        <p:spPr>
          <a:xfrm>
            <a:off x="4709160" y="1280160"/>
            <a:ext cx="457200" cy="457200"/>
          </a:xfrm>
          <a:prstGeom prst="ellipse">
            <a:avLst/>
          </a:prstGeom>
          <a:solidFill>
            <a:schemeClr val="accent1"/>
          </a:solidFill>
          <a:ln/>
        </p:spPr>
      </p:sp>
      <p:pic>
        <p:nvPicPr>
          <p:cNvPr id="12" name="Image 1" descr="FiBriefcase">    </p:cNvPr>
          <p:cNvPicPr>
            <a:picLocks noChangeAspect="1"/>
          </p:cNvPicPr>
          <p:nvPr/>
        </p:nvPicPr>
        <p:blipFill>
          <a:blip r:embed="rId2"/>
          <a:stretch>
            <a:fillRect/>
          </a:stretch>
        </p:blipFill>
        <p:spPr>
          <a:xfrm>
            <a:off x="4823460" y="1394460"/>
            <a:ext cx="228600" cy="228600"/>
          </a:xfrm>
          <a:prstGeom prst="rect">
            <a:avLst/>
          </a:prstGeom>
        </p:spPr>
      </p:pic>
      <p:sp>
        <p:nvSpPr>
          <p:cNvPr id="13" name="Text 8"/>
          <p:cNvSpPr txBox="1"/>
          <p:nvPr/>
        </p:nvSpPr>
        <p:spPr>
          <a:xfrm>
            <a:off x="4709160" y="1847088"/>
            <a:ext cx="3794760" cy="347472"/>
          </a:xfrm>
          <a:prstGeom prst="rect">
            <a:avLst/>
          </a:prstGeom>
          <a:noFill/>
          <a:ln/>
        </p:spPr>
        <p:txBody>
          <a:bodyPr wrap="square" lIns="0" tIns="0" rIns="0" bIns="0" rtlCol="0" anchor="t"/>
          <a:lstStyle/>
          <a:p>
            <a:pPr indent="0" marL="0">
              <a:buNone/>
            </a:pPr>
            <a:r>
              <a:rPr lang="en-US" sz="1600" b="1" dirty="0">
                <a:solidFill>
                  <a:schemeClr val="tx1"/>
                </a:solidFill>
              </a:rPr>
              <a:t>Utente committente</a:t>
            </a:r>
            <a:endParaRPr lang="en-US" sz="1600" dirty="0"/>
          </a:p>
        </p:txBody>
      </p:sp>
      <p:sp>
        <p:nvSpPr>
          <p:cNvPr id="14" name="Text 9"/>
          <p:cNvSpPr txBox="1"/>
          <p:nvPr/>
        </p:nvSpPr>
        <p:spPr>
          <a:xfrm>
            <a:off x="4709160" y="2231136"/>
            <a:ext cx="3794760" cy="1133856"/>
          </a:xfrm>
          <a:prstGeom prst="rect">
            <a:avLst/>
          </a:prstGeom>
          <a:noFill/>
          <a:ln/>
        </p:spPr>
        <p:txBody>
          <a:bodyPr wrap="square" lIns="0" tIns="0" rIns="0" bIns="0" rtlCol="0" anchor="t"/>
          <a:lstStyle/>
          <a:p>
            <a:pPr indent="0" marL="0">
              <a:buNone/>
            </a:pPr>
            <a:r>
              <a:rPr lang="en-US" sz="1300" dirty="0">
                <a:solidFill>
                  <a:schemeClr val="tx2"/>
                </a:solidFill>
              </a:rPr>
              <a:t>Esprime un'intenzione e il contesto; il sistema propone un percorso o un risultato. La persona sceglie quanto seguire l'esecuzione.</a:t>
            </a:r>
            <a:endParaRPr lang="en-US" sz="1300" dirty="0"/>
          </a:p>
        </p:txBody>
      </p:sp>
      <p:sp>
        <p:nvSpPr>
          <p:cNvPr id="15" name="Intenzione: definire obiettivi, dare contesto"/>
          <p:cNvSpPr/>
          <p:nvPr/>
        </p:nvSpPr>
        <p:spPr>
          <a:xfrm>
            <a:off x="457200" y="3657600"/>
            <a:ext cx="2615184" cy="868680"/>
          </a:xfrm>
          <a:prstGeom prst="roundRect">
            <a:avLst>
              <a:gd name="adj" fmla="val 8421"/>
            </a:avLst>
          </a:prstGeom>
          <a:solidFill>
            <a:schemeClr val="bg2"/>
          </a:solidFill>
          <a:ln/>
        </p:spPr>
      </p:sp>
      <p:sp>
        <p:nvSpPr>
          <p:cNvPr id="16" name="Text 11"/>
          <p:cNvSpPr txBox="1"/>
          <p:nvPr/>
        </p:nvSpPr>
        <p:spPr>
          <a:xfrm>
            <a:off x="594360" y="365760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Intenzione: definire obiettivi, dare contesto</a:t>
            </a:r>
            <a:endParaRPr lang="en-US" sz="1200" dirty="0"/>
          </a:p>
        </p:txBody>
      </p:sp>
      <p:sp>
        <p:nvSpPr>
          <p:cNvPr id="17" name="Esecuzione: dal singolo passo all'intera attività"/>
          <p:cNvSpPr/>
          <p:nvPr/>
        </p:nvSpPr>
        <p:spPr>
          <a:xfrm>
            <a:off x="3264408" y="3657600"/>
            <a:ext cx="2615184" cy="868680"/>
          </a:xfrm>
          <a:prstGeom prst="roundRect">
            <a:avLst>
              <a:gd name="adj" fmla="val 8421"/>
            </a:avLst>
          </a:prstGeom>
          <a:solidFill>
            <a:schemeClr val="bg2"/>
          </a:solidFill>
          <a:ln/>
        </p:spPr>
      </p:sp>
      <p:sp>
        <p:nvSpPr>
          <p:cNvPr id="18" name="Text 13"/>
          <p:cNvSpPr txBox="1"/>
          <p:nvPr/>
        </p:nvSpPr>
        <p:spPr>
          <a:xfrm>
            <a:off x="3401568" y="365760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Esecuzione: dal singolo passo all'intera attività</a:t>
            </a:r>
            <a:endParaRPr lang="en-US" sz="1200" dirty="0"/>
          </a:p>
        </p:txBody>
      </p:sp>
      <p:sp>
        <p:nvSpPr>
          <p:cNvPr id="19" name="Controllo: sul processo o sul risultato, secondo il compito"/>
          <p:cNvSpPr/>
          <p:nvPr/>
        </p:nvSpPr>
        <p:spPr>
          <a:xfrm>
            <a:off x="6071616" y="3657600"/>
            <a:ext cx="2615184" cy="868680"/>
          </a:xfrm>
          <a:prstGeom prst="roundRect">
            <a:avLst>
              <a:gd name="adj" fmla="val 8421"/>
            </a:avLst>
          </a:prstGeom>
          <a:solidFill>
            <a:schemeClr val="bg2"/>
          </a:solidFill>
          <a:ln/>
        </p:spPr>
      </p:sp>
      <p:sp>
        <p:nvSpPr>
          <p:cNvPr id="20" name="Text 15"/>
          <p:cNvSpPr txBox="1"/>
          <p:nvPr/>
        </p:nvSpPr>
        <p:spPr>
          <a:xfrm>
            <a:off x="6208776" y="365760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Controllo: sul processo o sul risultato, secondo il compito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Dalla domanda alla conversazione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buona interazione può svilupparsi in più scambi e non richiede una richiesta iniziale perfetta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Richiesta isolata e dialogo articolato</a:t>
            </a:r>
            <a:endParaRPr lang="en-US" sz="2600" dirty="0"/>
          </a:p>
        </p:txBody>
      </p:sp>
      <p:sp>
        <p:nvSpPr>
          <p:cNvPr id="4" name="scheda Richiesta isolata"/>
          <p:cNvSpPr/>
          <p:nvPr/>
        </p:nvSpPr>
        <p:spPr>
          <a:xfrm>
            <a:off x="457200" y="1097280"/>
            <a:ext cx="3977640" cy="2560320"/>
          </a:xfrm>
          <a:prstGeom prst="roundRect">
            <a:avLst>
              <a:gd name="adj" fmla="val 2857"/>
            </a:avLst>
          </a:prstGeom>
          <a:solidFill>
            <a:schemeClr val="bg2"/>
          </a:solidFill>
          <a:ln/>
        </p:spPr>
      </p:sp>
      <p:sp>
        <p:nvSpPr>
          <p:cNvPr id="5" name="cerchio FiSearch"/>
          <p:cNvSpPr/>
          <p:nvPr/>
        </p:nvSpPr>
        <p:spPr>
          <a:xfrm>
            <a:off x="640080" y="1280160"/>
            <a:ext cx="457200" cy="457200"/>
          </a:xfrm>
          <a:prstGeom prst="ellipse">
            <a:avLst/>
          </a:prstGeom>
          <a:solidFill>
            <a:schemeClr val="accent1"/>
          </a:solidFill>
          <a:ln/>
        </p:spPr>
      </p:sp>
      <p:pic>
        <p:nvPicPr>
          <p:cNvPr id="6" name="Image 0" descr="FiSearch">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Richiesta isolata</a:t>
            </a:r>
            <a:endParaRPr lang="en-US" sz="1600" dirty="0"/>
          </a:p>
        </p:txBody>
      </p:sp>
      <p:sp>
        <p:nvSpPr>
          <p:cNvPr id="8" name="Text 4"/>
          <p:cNvSpPr txBox="1"/>
          <p:nvPr/>
        </p:nvSpPr>
        <p:spPr>
          <a:xfrm>
            <a:off x="640080" y="2231136"/>
            <a:ext cx="3611880" cy="13167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Un solo scambio: domanda e risposta</a:t>
            </a:r>
            <a:endParaRPr lang="en-US" sz="1300" dirty="0"/>
          </a:p>
          <a:p>
            <a:pPr marL="177800" indent="-177800">
              <a:spcAft>
                <a:spcPts val="400"/>
              </a:spcAft>
              <a:buSzPct val="100000"/>
              <a:buChar char="•"/>
            </a:pPr>
            <a:r>
              <a:rPr lang="en-US" sz="1300" dirty="0">
                <a:solidFill>
                  <a:schemeClr val="tx2"/>
                </a:solidFill>
              </a:rPr>
              <a:t>Adatta a bisogni semplici e definiti</a:t>
            </a:r>
            <a:endParaRPr lang="en-US" sz="1300" dirty="0"/>
          </a:p>
          <a:p>
            <a:pPr marL="177800" indent="-177800">
              <a:spcAft>
                <a:spcPts val="400"/>
              </a:spcAft>
              <a:buSzPct val="100000"/>
              <a:buChar char="•"/>
            </a:pPr>
            <a:r>
              <a:rPr lang="en-US" sz="1300" dirty="0">
                <a:solidFill>
                  <a:schemeClr val="tx2"/>
                </a:solidFill>
              </a:rPr>
              <a:t>Esempi: tradurre, definire, una formula</a:t>
            </a:r>
            <a:endParaRPr lang="en-US" sz="1300" dirty="0"/>
          </a:p>
        </p:txBody>
      </p:sp>
      <p:sp>
        <p:nvSpPr>
          <p:cNvPr id="9" name="scheda Dialogo articolato"/>
          <p:cNvSpPr/>
          <p:nvPr/>
        </p:nvSpPr>
        <p:spPr>
          <a:xfrm>
            <a:off x="4709160" y="1097280"/>
            <a:ext cx="3977640" cy="2560320"/>
          </a:xfrm>
          <a:prstGeom prst="roundRect">
            <a:avLst>
              <a:gd name="adj" fmla="val 2857"/>
            </a:avLst>
          </a:prstGeom>
          <a:solidFill>
            <a:schemeClr val="accent6"/>
          </a:solidFill>
          <a:ln/>
        </p:spPr>
      </p:sp>
      <p:sp>
        <p:nvSpPr>
          <p:cNvPr id="10" name="cerchio FiMessageSquare"/>
          <p:cNvSpPr/>
          <p:nvPr/>
        </p:nvSpPr>
        <p:spPr>
          <a:xfrm>
            <a:off x="4892040" y="1280160"/>
            <a:ext cx="457200" cy="457200"/>
          </a:xfrm>
          <a:prstGeom prst="ellipse">
            <a:avLst/>
          </a:prstGeom>
          <a:solidFill>
            <a:schemeClr val="accent1"/>
          </a:solidFill>
          <a:ln/>
        </p:spPr>
      </p:sp>
      <p:pic>
        <p:nvPicPr>
          <p:cNvPr id="11" name="Image 1" descr="FiMessageSquar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Dialogo articolato</a:t>
            </a:r>
            <a:endParaRPr lang="en-US" sz="1600" dirty="0"/>
          </a:p>
        </p:txBody>
      </p:sp>
      <p:sp>
        <p:nvSpPr>
          <p:cNvPr id="13" name="Text 8"/>
          <p:cNvSpPr txBox="1"/>
          <p:nvPr/>
        </p:nvSpPr>
        <p:spPr>
          <a:xfrm>
            <a:off x="4892040" y="2231136"/>
            <a:ext cx="3611880" cy="13167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Più scambi: la richiesta si costruisce</a:t>
            </a:r>
            <a:endParaRPr lang="en-US" sz="1300" dirty="0"/>
          </a:p>
          <a:p>
            <a:pPr marL="177800" indent="-177800">
              <a:spcAft>
                <a:spcPts val="400"/>
              </a:spcAft>
              <a:buSzPct val="100000"/>
              <a:buChar char="•"/>
            </a:pPr>
            <a:r>
              <a:rPr lang="en-US" sz="1300" dirty="0">
                <a:solidFill>
                  <a:schemeClr val="tx2"/>
                </a:solidFill>
              </a:rPr>
              <a:t>Adatto a bisogni complessi o ancora sfumati</a:t>
            </a:r>
            <a:endParaRPr lang="en-US" sz="1300" dirty="0"/>
          </a:p>
          <a:p>
            <a:pPr marL="177800" indent="-177800">
              <a:spcAft>
                <a:spcPts val="400"/>
              </a:spcAft>
              <a:buSzPct val="100000"/>
              <a:buChar char="•"/>
            </a:pPr>
            <a:r>
              <a:rPr lang="en-US" sz="1300" dirty="0">
                <a:solidFill>
                  <a:schemeClr val="tx2"/>
                </a:solidFill>
              </a:rPr>
              <a:t>Precisare, aggiungere, chiedere alternative</a:t>
            </a:r>
            <a:endParaRPr lang="en-US" sz="1300" dirty="0"/>
          </a:p>
        </p:txBody>
      </p:sp>
      <p:sp>
        <p:nvSpPr>
          <p:cNvPr id="14" name="messaggio"/>
          <p:cNvSpPr/>
          <p:nvPr/>
        </p:nvSpPr>
        <p:spPr>
          <a:xfrm>
            <a:off x="457200" y="3840480"/>
            <a:ext cx="8229600" cy="685800"/>
          </a:xfrm>
          <a:prstGeom prst="roundRect">
            <a:avLst>
              <a:gd name="adj" fmla="val 10667"/>
            </a:avLst>
          </a:prstGeom>
          <a:solidFill>
            <a:schemeClr val="tx1"/>
          </a:solidFill>
          <a:ln/>
        </p:spPr>
      </p:sp>
      <p:sp>
        <p:nvSpPr>
          <p:cNvPr id="15" name="Text 10"/>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400" dirty="0">
                <a:solidFill>
                  <a:schemeClr val="bg1"/>
                </a:solidFill>
              </a:rPr>
              <a:t>Non serve la richiesta perfetta al primo colpo: serve saper proseguire il dialogo.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processo di miglioramento progressivo</a:t>
            </a:r>
            <a:endParaRPr lang="en-US" sz="2600" dirty="0"/>
          </a:p>
        </p:txBody>
      </p:sp>
      <p:sp>
        <p:nvSpPr>
          <p:cNvPr id="4" name="Chiedere"/>
          <p:cNvSpPr/>
          <p:nvPr/>
        </p:nvSpPr>
        <p:spPr>
          <a:xfrm>
            <a:off x="457200" y="1143000"/>
            <a:ext cx="1874520" cy="2011680"/>
          </a:xfrm>
          <a:prstGeom prst="roundRect">
            <a:avLst>
              <a:gd name="adj" fmla="val 3902"/>
            </a:avLst>
          </a:prstGeom>
          <a:solidFill>
            <a:schemeClr val="bg2"/>
          </a:solidFill>
          <a:ln/>
        </p:spPr>
      </p:sp>
      <p:sp>
        <p:nvSpPr>
          <p:cNvPr id="5" name="cerchio FiEdit3"/>
          <p:cNvSpPr/>
          <p:nvPr/>
        </p:nvSpPr>
        <p:spPr>
          <a:xfrm>
            <a:off x="1115568" y="1280160"/>
            <a:ext cx="548640" cy="548640"/>
          </a:xfrm>
          <a:prstGeom prst="ellipse">
            <a:avLst/>
          </a:prstGeom>
          <a:solidFill>
            <a:schemeClr val="accent1"/>
          </a:solidFill>
          <a:ln/>
        </p:spPr>
      </p:sp>
      <p:pic>
        <p:nvPicPr>
          <p:cNvPr id="6" name="Image 0" descr="FiEdit3">    </p:cNvPr>
          <p:cNvPicPr>
            <a:picLocks noChangeAspect="1"/>
          </p:cNvPicPr>
          <p:nvPr/>
        </p:nvPicPr>
        <p:blipFill>
          <a:blip r:embed="rId1"/>
          <a:stretch>
            <a:fillRect/>
          </a:stretch>
        </p:blipFill>
        <p:spPr>
          <a:xfrm>
            <a:off x="1252728" y="1417320"/>
            <a:ext cx="274320" cy="274320"/>
          </a:xfrm>
          <a:prstGeom prst="rect">
            <a:avLst/>
          </a:prstGeom>
        </p:spPr>
      </p:pic>
      <p:sp>
        <p:nvSpPr>
          <p:cNvPr id="7" name="Text 3"/>
          <p:cNvSpPr txBox="1"/>
          <p:nvPr/>
        </p:nvSpPr>
        <p:spPr>
          <a:xfrm>
            <a:off x="548640" y="19202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Chiedere</a:t>
            </a:r>
            <a:endParaRPr lang="en-US" sz="1600" dirty="0"/>
          </a:p>
        </p:txBody>
      </p:sp>
      <p:sp>
        <p:nvSpPr>
          <p:cNvPr id="8" name="Text 4"/>
          <p:cNvSpPr txBox="1"/>
          <p:nvPr/>
        </p:nvSpPr>
        <p:spPr>
          <a:xfrm>
            <a:off x="594360" y="2331720"/>
            <a:ext cx="1600200" cy="731520"/>
          </a:xfrm>
          <a:prstGeom prst="rect">
            <a:avLst/>
          </a:prstGeom>
          <a:noFill/>
          <a:ln/>
        </p:spPr>
        <p:txBody>
          <a:bodyPr wrap="square" lIns="0" tIns="0" rIns="0" bIns="0" rtlCol="0" anchor="t"/>
          <a:lstStyle/>
          <a:p>
            <a:pPr algn="ctr" indent="0" marL="0">
              <a:buNone/>
            </a:pPr>
            <a:r>
              <a:rPr lang="en-US" sz="1200" dirty="0">
                <a:solidFill>
                  <a:schemeClr val="tx2"/>
                </a:solidFill>
              </a:rPr>
              <a:t>Anche in modo imperfetto</a:t>
            </a:r>
            <a:endParaRPr lang="en-US" sz="1200" dirty="0"/>
          </a:p>
        </p:txBody>
      </p:sp>
      <p:sp>
        <p:nvSpPr>
          <p:cNvPr id="9" name="freccia"/>
          <p:cNvSpPr/>
          <p:nvPr/>
        </p:nvSpPr>
        <p:spPr>
          <a:xfrm>
            <a:off x="2350008" y="2011680"/>
            <a:ext cx="219456" cy="292608"/>
          </a:xfrm>
          <a:prstGeom prst="rightArrow">
            <a:avLst/>
          </a:prstGeom>
          <a:solidFill>
            <a:schemeClr val="accent2"/>
          </a:solidFill>
          <a:ln/>
        </p:spPr>
      </p:sp>
      <p:sp>
        <p:nvSpPr>
          <p:cNvPr id="10" name="Valutare"/>
          <p:cNvSpPr/>
          <p:nvPr/>
        </p:nvSpPr>
        <p:spPr>
          <a:xfrm>
            <a:off x="2587752" y="1143000"/>
            <a:ext cx="1874520" cy="2011680"/>
          </a:xfrm>
          <a:prstGeom prst="roundRect">
            <a:avLst>
              <a:gd name="adj" fmla="val 3902"/>
            </a:avLst>
          </a:prstGeom>
          <a:solidFill>
            <a:schemeClr val="bg2"/>
          </a:solidFill>
          <a:ln/>
        </p:spPr>
      </p:sp>
      <p:sp>
        <p:nvSpPr>
          <p:cNvPr id="11" name="cerchio FiEye"/>
          <p:cNvSpPr/>
          <p:nvPr/>
        </p:nvSpPr>
        <p:spPr>
          <a:xfrm>
            <a:off x="3246120" y="1280160"/>
            <a:ext cx="548640" cy="548640"/>
          </a:xfrm>
          <a:prstGeom prst="ellipse">
            <a:avLst/>
          </a:prstGeom>
          <a:solidFill>
            <a:schemeClr val="accent1"/>
          </a:solidFill>
          <a:ln/>
        </p:spPr>
      </p:sp>
      <p:pic>
        <p:nvPicPr>
          <p:cNvPr id="12" name="Image 1" descr="FiEye">    </p:cNvPr>
          <p:cNvPicPr>
            <a:picLocks noChangeAspect="1"/>
          </p:cNvPicPr>
          <p:nvPr/>
        </p:nvPicPr>
        <p:blipFill>
          <a:blip r:embed="rId2"/>
          <a:stretch>
            <a:fillRect/>
          </a:stretch>
        </p:blipFill>
        <p:spPr>
          <a:xfrm>
            <a:off x="3383280" y="1417320"/>
            <a:ext cx="274320" cy="274320"/>
          </a:xfrm>
          <a:prstGeom prst="rect">
            <a:avLst/>
          </a:prstGeom>
        </p:spPr>
      </p:pic>
      <p:sp>
        <p:nvSpPr>
          <p:cNvPr id="13" name="Text 8"/>
          <p:cNvSpPr txBox="1"/>
          <p:nvPr/>
        </p:nvSpPr>
        <p:spPr>
          <a:xfrm>
            <a:off x="2679192" y="19202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Valutare</a:t>
            </a:r>
            <a:endParaRPr lang="en-US" sz="1600" dirty="0"/>
          </a:p>
        </p:txBody>
      </p:sp>
      <p:sp>
        <p:nvSpPr>
          <p:cNvPr id="14" name="Text 9"/>
          <p:cNvSpPr txBox="1"/>
          <p:nvPr/>
        </p:nvSpPr>
        <p:spPr>
          <a:xfrm>
            <a:off x="2724912" y="2331720"/>
            <a:ext cx="1600200" cy="731520"/>
          </a:xfrm>
          <a:prstGeom prst="rect">
            <a:avLst/>
          </a:prstGeom>
          <a:noFill/>
          <a:ln/>
        </p:spPr>
        <p:txBody>
          <a:bodyPr wrap="square" lIns="0" tIns="0" rIns="0" bIns="0" rtlCol="0" anchor="t"/>
          <a:lstStyle/>
          <a:p>
            <a:pPr algn="ctr" indent="0" marL="0">
              <a:buNone/>
            </a:pPr>
            <a:r>
              <a:rPr lang="en-US" sz="1200" dirty="0">
                <a:solidFill>
                  <a:schemeClr val="tx2"/>
                </a:solidFill>
              </a:rPr>
              <a:t>Che cosa va, che cosa manca</a:t>
            </a:r>
            <a:endParaRPr lang="en-US" sz="1200" dirty="0"/>
          </a:p>
        </p:txBody>
      </p:sp>
      <p:sp>
        <p:nvSpPr>
          <p:cNvPr id="15" name="freccia"/>
          <p:cNvSpPr/>
          <p:nvPr/>
        </p:nvSpPr>
        <p:spPr>
          <a:xfrm>
            <a:off x="4480560" y="2011680"/>
            <a:ext cx="219456" cy="292608"/>
          </a:xfrm>
          <a:prstGeom prst="rightArrow">
            <a:avLst/>
          </a:prstGeom>
          <a:solidFill>
            <a:schemeClr val="accent2"/>
          </a:solidFill>
          <a:ln/>
        </p:spPr>
      </p:sp>
      <p:sp>
        <p:nvSpPr>
          <p:cNvPr id="16" name="Precisare"/>
          <p:cNvSpPr/>
          <p:nvPr/>
        </p:nvSpPr>
        <p:spPr>
          <a:xfrm>
            <a:off x="4718304" y="1143000"/>
            <a:ext cx="1874520" cy="2011680"/>
          </a:xfrm>
          <a:prstGeom prst="roundRect">
            <a:avLst>
              <a:gd name="adj" fmla="val 3902"/>
            </a:avLst>
          </a:prstGeom>
          <a:solidFill>
            <a:schemeClr val="bg2"/>
          </a:solidFill>
          <a:ln/>
        </p:spPr>
      </p:sp>
      <p:sp>
        <p:nvSpPr>
          <p:cNvPr id="17" name="cerchio FiSliders"/>
          <p:cNvSpPr/>
          <p:nvPr/>
        </p:nvSpPr>
        <p:spPr>
          <a:xfrm>
            <a:off x="5376672" y="1280160"/>
            <a:ext cx="548640" cy="548640"/>
          </a:xfrm>
          <a:prstGeom prst="ellipse">
            <a:avLst/>
          </a:prstGeom>
          <a:solidFill>
            <a:schemeClr val="accent1"/>
          </a:solidFill>
          <a:ln/>
        </p:spPr>
      </p:sp>
      <p:pic>
        <p:nvPicPr>
          <p:cNvPr id="18" name="Image 2" descr="FiSliders">    </p:cNvPr>
          <p:cNvPicPr>
            <a:picLocks noChangeAspect="1"/>
          </p:cNvPicPr>
          <p:nvPr/>
        </p:nvPicPr>
        <p:blipFill>
          <a:blip r:embed="rId3"/>
          <a:stretch>
            <a:fillRect/>
          </a:stretch>
        </p:blipFill>
        <p:spPr>
          <a:xfrm>
            <a:off x="5513832" y="1417320"/>
            <a:ext cx="274320" cy="274320"/>
          </a:xfrm>
          <a:prstGeom prst="rect">
            <a:avLst/>
          </a:prstGeom>
        </p:spPr>
      </p:pic>
      <p:sp>
        <p:nvSpPr>
          <p:cNvPr id="19" name="Text 13"/>
          <p:cNvSpPr txBox="1"/>
          <p:nvPr/>
        </p:nvSpPr>
        <p:spPr>
          <a:xfrm>
            <a:off x="4809744" y="19202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Precisare</a:t>
            </a:r>
            <a:endParaRPr lang="en-US" sz="1600" dirty="0"/>
          </a:p>
        </p:txBody>
      </p:sp>
      <p:sp>
        <p:nvSpPr>
          <p:cNvPr id="20" name="Text 14"/>
          <p:cNvSpPr txBox="1"/>
          <p:nvPr/>
        </p:nvSpPr>
        <p:spPr>
          <a:xfrm>
            <a:off x="4855464" y="2331720"/>
            <a:ext cx="1600200" cy="731520"/>
          </a:xfrm>
          <a:prstGeom prst="rect">
            <a:avLst/>
          </a:prstGeom>
          <a:noFill/>
          <a:ln/>
        </p:spPr>
        <p:txBody>
          <a:bodyPr wrap="square" lIns="0" tIns="0" rIns="0" bIns="0" rtlCol="0" anchor="t"/>
          <a:lstStyle/>
          <a:p>
            <a:pPr algn="ctr" indent="0" marL="0">
              <a:buNone/>
            </a:pPr>
            <a:r>
              <a:rPr lang="en-US" sz="1200" dirty="0">
                <a:solidFill>
                  <a:schemeClr val="tx2"/>
                </a:solidFill>
              </a:rPr>
              <a:t>Informazioni, correzioni, nuove indicazioni</a:t>
            </a:r>
            <a:endParaRPr lang="en-US" sz="1200" dirty="0"/>
          </a:p>
        </p:txBody>
      </p:sp>
      <p:sp>
        <p:nvSpPr>
          <p:cNvPr id="21" name="freccia"/>
          <p:cNvSpPr/>
          <p:nvPr/>
        </p:nvSpPr>
        <p:spPr>
          <a:xfrm>
            <a:off x="6611112" y="2011680"/>
            <a:ext cx="219456" cy="292608"/>
          </a:xfrm>
          <a:prstGeom prst="rightArrow">
            <a:avLst/>
          </a:prstGeom>
          <a:solidFill>
            <a:schemeClr val="accent2"/>
          </a:solidFill>
          <a:ln/>
        </p:spPr>
      </p:sp>
      <p:sp>
        <p:nvSpPr>
          <p:cNvPr id="22" name="Migliorare"/>
          <p:cNvSpPr/>
          <p:nvPr/>
        </p:nvSpPr>
        <p:spPr>
          <a:xfrm>
            <a:off x="6848856" y="1143000"/>
            <a:ext cx="1874520" cy="2011680"/>
          </a:xfrm>
          <a:prstGeom prst="roundRect">
            <a:avLst>
              <a:gd name="adj" fmla="val 3902"/>
            </a:avLst>
          </a:prstGeom>
          <a:solidFill>
            <a:schemeClr val="accent6"/>
          </a:solidFill>
          <a:ln/>
        </p:spPr>
      </p:sp>
      <p:sp>
        <p:nvSpPr>
          <p:cNvPr id="23" name="cerchio FiTrendingUp"/>
          <p:cNvSpPr/>
          <p:nvPr/>
        </p:nvSpPr>
        <p:spPr>
          <a:xfrm>
            <a:off x="7507224" y="1280160"/>
            <a:ext cx="548640" cy="548640"/>
          </a:xfrm>
          <a:prstGeom prst="ellipse">
            <a:avLst/>
          </a:prstGeom>
          <a:solidFill>
            <a:schemeClr val="accent1"/>
          </a:solidFill>
          <a:ln/>
        </p:spPr>
      </p:sp>
      <p:pic>
        <p:nvPicPr>
          <p:cNvPr id="24" name="Image 3" descr="FiTrendingUp">    </p:cNvPr>
          <p:cNvPicPr>
            <a:picLocks noChangeAspect="1"/>
          </p:cNvPicPr>
          <p:nvPr/>
        </p:nvPicPr>
        <p:blipFill>
          <a:blip r:embed="rId4"/>
          <a:stretch>
            <a:fillRect/>
          </a:stretch>
        </p:blipFill>
        <p:spPr>
          <a:xfrm>
            <a:off x="7644384" y="1417320"/>
            <a:ext cx="274320" cy="274320"/>
          </a:xfrm>
          <a:prstGeom prst="rect">
            <a:avLst/>
          </a:prstGeom>
        </p:spPr>
      </p:pic>
      <p:sp>
        <p:nvSpPr>
          <p:cNvPr id="25" name="Text 18"/>
          <p:cNvSpPr txBox="1"/>
          <p:nvPr/>
        </p:nvSpPr>
        <p:spPr>
          <a:xfrm>
            <a:off x="6940296" y="19202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Migliorare</a:t>
            </a:r>
            <a:endParaRPr lang="en-US" sz="1600" dirty="0"/>
          </a:p>
        </p:txBody>
      </p:sp>
      <p:sp>
        <p:nvSpPr>
          <p:cNvPr id="26" name="Text 19"/>
          <p:cNvSpPr txBox="1"/>
          <p:nvPr/>
        </p:nvSpPr>
        <p:spPr>
          <a:xfrm>
            <a:off x="6986016" y="2331720"/>
            <a:ext cx="1600200" cy="731520"/>
          </a:xfrm>
          <a:prstGeom prst="rect">
            <a:avLst/>
          </a:prstGeom>
          <a:noFill/>
          <a:ln/>
        </p:spPr>
        <p:txBody>
          <a:bodyPr wrap="square" lIns="0" tIns="0" rIns="0" bIns="0" rtlCol="0" anchor="t"/>
          <a:lstStyle/>
          <a:p>
            <a:pPr algn="ctr" indent="0" marL="0">
              <a:buNone/>
            </a:pPr>
            <a:r>
              <a:rPr lang="en-US" sz="1200" dirty="0">
                <a:solidFill>
                  <a:schemeClr val="tx2"/>
                </a:solidFill>
              </a:rPr>
              <a:t>Ogni giro avvicina il risultato</a:t>
            </a:r>
            <a:endParaRPr lang="en-US" sz="1200" dirty="0"/>
          </a:p>
        </p:txBody>
      </p:sp>
      <p:sp>
        <p:nvSpPr>
          <p:cNvPr id="27" name="scheda Si impara anche noi"/>
          <p:cNvSpPr/>
          <p:nvPr/>
        </p:nvSpPr>
        <p:spPr>
          <a:xfrm>
            <a:off x="457200" y="3337560"/>
            <a:ext cx="3977640" cy="1188720"/>
          </a:xfrm>
          <a:prstGeom prst="roundRect">
            <a:avLst>
              <a:gd name="adj" fmla="val 6154"/>
            </a:avLst>
          </a:prstGeom>
          <a:solidFill>
            <a:schemeClr val="bg2"/>
          </a:solidFill>
          <a:ln/>
        </p:spPr>
      </p:sp>
      <p:sp>
        <p:nvSpPr>
          <p:cNvPr id="28" name="cerchio FiBookOpen"/>
          <p:cNvSpPr/>
          <p:nvPr/>
        </p:nvSpPr>
        <p:spPr>
          <a:xfrm>
            <a:off x="640080" y="3520440"/>
            <a:ext cx="457200" cy="457200"/>
          </a:xfrm>
          <a:prstGeom prst="ellipse">
            <a:avLst/>
          </a:prstGeom>
          <a:solidFill>
            <a:schemeClr val="accent1"/>
          </a:solidFill>
          <a:ln/>
        </p:spPr>
      </p:sp>
      <p:pic>
        <p:nvPicPr>
          <p:cNvPr id="29" name="Image 4" descr="FiBookOpen">    </p:cNvPr>
          <p:cNvPicPr>
            <a:picLocks noChangeAspect="1"/>
          </p:cNvPicPr>
          <p:nvPr/>
        </p:nvPicPr>
        <p:blipFill>
          <a:blip r:embed="rId5"/>
          <a:stretch>
            <a:fillRect/>
          </a:stretch>
        </p:blipFill>
        <p:spPr>
          <a:xfrm>
            <a:off x="754380" y="3634740"/>
            <a:ext cx="228600" cy="228600"/>
          </a:xfrm>
          <a:prstGeom prst="rect">
            <a:avLst/>
          </a:prstGeom>
        </p:spPr>
      </p:pic>
      <p:sp>
        <p:nvSpPr>
          <p:cNvPr id="30" name="Text 22"/>
          <p:cNvSpPr txBox="1"/>
          <p:nvPr/>
        </p:nvSpPr>
        <p:spPr>
          <a:xfrm>
            <a:off x="1234440" y="3520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Si impara anche noi</a:t>
            </a:r>
            <a:endParaRPr lang="en-US" sz="1500" dirty="0"/>
          </a:p>
        </p:txBody>
      </p:sp>
      <p:sp>
        <p:nvSpPr>
          <p:cNvPr id="31" name="Text 23"/>
          <p:cNvSpPr txBox="1"/>
          <p:nvPr/>
        </p:nvSpPr>
        <p:spPr>
          <a:xfrm>
            <a:off x="640080" y="4114800"/>
            <a:ext cx="3611880" cy="301752"/>
          </a:xfrm>
          <a:prstGeom prst="rect">
            <a:avLst/>
          </a:prstGeom>
          <a:noFill/>
          <a:ln/>
        </p:spPr>
        <p:txBody>
          <a:bodyPr wrap="square" lIns="0" tIns="0" rIns="0" bIns="0" rtlCol="0" anchor="t"/>
          <a:lstStyle/>
          <a:p>
            <a:pPr indent="0" marL="0">
              <a:buNone/>
            </a:pPr>
            <a:r>
              <a:rPr lang="en-US" sz="1200" dirty="0">
                <a:solidFill>
                  <a:schemeClr val="tx2"/>
                </a:solidFill>
              </a:rPr>
              <a:t>Il primo risultato aiuta a capire che cosa vogliamo davvero.</a:t>
            </a:r>
            <a:endParaRPr lang="en-US" sz="1200" dirty="0"/>
          </a:p>
        </p:txBody>
      </p:sp>
      <p:sp>
        <p:nvSpPr>
          <p:cNvPr id="32" name="scheda Se non migliora, cambiare strada"/>
          <p:cNvSpPr/>
          <p:nvPr/>
        </p:nvSpPr>
        <p:spPr>
          <a:xfrm>
            <a:off x="4709160" y="3337560"/>
            <a:ext cx="3977640" cy="1188720"/>
          </a:xfrm>
          <a:prstGeom prst="roundRect">
            <a:avLst>
              <a:gd name="adj" fmla="val 6154"/>
            </a:avLst>
          </a:prstGeom>
          <a:solidFill>
            <a:schemeClr val="accent6"/>
          </a:solidFill>
          <a:ln/>
        </p:spPr>
      </p:sp>
      <p:sp>
        <p:nvSpPr>
          <p:cNvPr id="33" name="cerchio FiCornerUpRight"/>
          <p:cNvSpPr/>
          <p:nvPr/>
        </p:nvSpPr>
        <p:spPr>
          <a:xfrm>
            <a:off x="4892040" y="3520440"/>
            <a:ext cx="457200" cy="457200"/>
          </a:xfrm>
          <a:prstGeom prst="ellipse">
            <a:avLst/>
          </a:prstGeom>
          <a:solidFill>
            <a:schemeClr val="accent1"/>
          </a:solidFill>
          <a:ln/>
        </p:spPr>
      </p:sp>
      <p:pic>
        <p:nvPicPr>
          <p:cNvPr id="34" name="Image 5" descr="FiCornerUpRight">    </p:cNvPr>
          <p:cNvPicPr>
            <a:picLocks noChangeAspect="1"/>
          </p:cNvPicPr>
          <p:nvPr/>
        </p:nvPicPr>
        <p:blipFill>
          <a:blip r:embed="rId6"/>
          <a:stretch>
            <a:fillRect/>
          </a:stretch>
        </p:blipFill>
        <p:spPr>
          <a:xfrm>
            <a:off x="5006340" y="3634740"/>
            <a:ext cx="228600" cy="228600"/>
          </a:xfrm>
          <a:prstGeom prst="rect">
            <a:avLst/>
          </a:prstGeom>
        </p:spPr>
      </p:pic>
      <p:sp>
        <p:nvSpPr>
          <p:cNvPr id="35" name="Text 26"/>
          <p:cNvSpPr txBox="1"/>
          <p:nvPr/>
        </p:nvSpPr>
        <p:spPr>
          <a:xfrm>
            <a:off x="5486400" y="3520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Se non migliora, cambiare strada</a:t>
            </a:r>
            <a:endParaRPr lang="en-US" sz="1500" dirty="0"/>
          </a:p>
        </p:txBody>
      </p:sp>
      <p:sp>
        <p:nvSpPr>
          <p:cNvPr id="36" name="Text 27"/>
          <p:cNvSpPr txBox="1"/>
          <p:nvPr/>
        </p:nvSpPr>
        <p:spPr>
          <a:xfrm>
            <a:off x="4892040" y="4114800"/>
            <a:ext cx="3611880" cy="301752"/>
          </a:xfrm>
          <a:prstGeom prst="rect">
            <a:avLst/>
          </a:prstGeom>
          <a:noFill/>
          <a:ln/>
        </p:spPr>
        <p:txBody>
          <a:bodyPr wrap="square" lIns="0" tIns="0" rIns="0" bIns="0" rtlCol="0" anchor="t"/>
          <a:lstStyle/>
          <a:p>
            <a:pPr indent="0" marL="0">
              <a:buNone/>
            </a:pPr>
            <a:r>
              <a:rPr lang="en-US" sz="1200" dirty="0">
                <a:solidFill>
                  <a:schemeClr val="tx2"/>
                </a:solidFill>
              </a:rPr>
              <a:t>Aggiungere ciò che manca, riformulare o ripartire.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esempio di dialogo</a:t>
            </a:r>
            <a:endParaRPr lang="en-US" sz="2600" dirty="0"/>
          </a:p>
        </p:txBody>
      </p:sp>
      <p:sp>
        <p:nvSpPr>
          <p:cNvPr id="4" name="richiesta 1"/>
          <p:cNvSpPr/>
          <p:nvPr/>
        </p:nvSpPr>
        <p:spPr>
          <a:xfrm>
            <a:off x="457200" y="1051560"/>
            <a:ext cx="3429000" cy="694944"/>
          </a:xfrm>
          <a:prstGeom prst="roundRect">
            <a:avLst>
              <a:gd name="adj" fmla="val 10526"/>
            </a:avLst>
          </a:prstGeom>
          <a:solidFill>
            <a:schemeClr val="bg2"/>
          </a:solidFill>
          <a:ln/>
        </p:spPr>
      </p:sp>
      <p:sp>
        <p:nvSpPr>
          <p:cNvPr id="5" name="Text 2"/>
          <p:cNvSpPr txBox="1"/>
          <p:nvPr/>
        </p:nvSpPr>
        <p:spPr>
          <a:xfrm>
            <a:off x="566928" y="1051560"/>
            <a:ext cx="3246120" cy="694944"/>
          </a:xfrm>
          <a:prstGeom prst="rect">
            <a:avLst/>
          </a:prstGeom>
          <a:noFill/>
          <a:ln/>
        </p:spPr>
        <p:txBody>
          <a:bodyPr wrap="square" lIns="0" tIns="0" rIns="0" bIns="0" rtlCol="0" anchor="ctr"/>
          <a:lstStyle/>
          <a:p>
            <a:pPr indent="0" marL="0">
              <a:buNone/>
            </a:pPr>
            <a:r>
              <a:rPr lang="en-US" sz="1100" b="1" dirty="0">
                <a:solidFill>
                  <a:schemeClr val="tx1"/>
                </a:solidFill>
              </a:rPr>
              <a:t>Persona: </a:t>
            </a:r>
            <a:pPr indent="0" marL="0">
              <a:buNone/>
            </a:pPr>
            <a:r>
              <a:rPr lang="en-US" sz="1100" dirty="0">
                <a:solidFill>
                  <a:schemeClr val="tx1"/>
                </a:solidFill>
              </a:rPr>
              <a:t>Scrivi una comunicazione sul nuovo sistema di prenotazione delle sale.</a:t>
            </a:r>
            <a:endParaRPr lang="en-US" sz="1100" dirty="0"/>
          </a:p>
        </p:txBody>
      </p:sp>
      <p:sp>
        <p:nvSpPr>
          <p:cNvPr id="6" name="freccia"/>
          <p:cNvSpPr/>
          <p:nvPr/>
        </p:nvSpPr>
        <p:spPr>
          <a:xfrm>
            <a:off x="3931920" y="1252728"/>
            <a:ext cx="228600" cy="292608"/>
          </a:xfrm>
          <a:prstGeom prst="rightArrow">
            <a:avLst/>
          </a:prstGeom>
          <a:solidFill>
            <a:schemeClr val="accent2"/>
          </a:solidFill>
          <a:ln/>
        </p:spPr>
      </p:sp>
      <p:sp>
        <p:nvSpPr>
          <p:cNvPr id="7" name="risposta 1"/>
          <p:cNvSpPr/>
          <p:nvPr/>
        </p:nvSpPr>
        <p:spPr>
          <a:xfrm>
            <a:off x="4206240" y="1051560"/>
            <a:ext cx="3291840" cy="694944"/>
          </a:xfrm>
          <a:prstGeom prst="roundRect">
            <a:avLst>
              <a:gd name="adj" fmla="val 10526"/>
            </a:avLst>
          </a:prstGeom>
          <a:solidFill>
            <a:schemeClr val="accent6"/>
          </a:solidFill>
          <a:ln/>
        </p:spPr>
      </p:sp>
      <p:sp>
        <p:nvSpPr>
          <p:cNvPr id="8" name="Text 5"/>
          <p:cNvSpPr txBox="1"/>
          <p:nvPr/>
        </p:nvSpPr>
        <p:spPr>
          <a:xfrm>
            <a:off x="4315968" y="1051560"/>
            <a:ext cx="3108960" cy="694944"/>
          </a:xfrm>
          <a:prstGeom prst="rect">
            <a:avLst/>
          </a:prstGeom>
          <a:noFill/>
          <a:ln/>
        </p:spPr>
        <p:txBody>
          <a:bodyPr wrap="square" lIns="0" tIns="0" rIns="0" bIns="0" rtlCol="0" anchor="ctr"/>
          <a:lstStyle/>
          <a:p>
            <a:pPr indent="0" marL="0">
              <a:buNone/>
            </a:pPr>
            <a:r>
              <a:rPr lang="en-US" sz="1100" b="1" dirty="0">
                <a:solidFill>
                  <a:schemeClr val="accent1"/>
                </a:solidFill>
              </a:rPr>
              <a:t>AI: </a:t>
            </a:r>
            <a:pPr indent="0" marL="0">
              <a:buNone/>
            </a:pPr>
            <a:r>
              <a:rPr lang="en-US" sz="1100" i="1" dirty="0">
                <a:solidFill>
                  <a:schemeClr val="tx1"/>
                </a:solidFill>
              </a:rPr>
              <a:t>«Gentili colleghi, siamo lieti di presentarvi la nuova piattaforma integrata con il calendario aziendale e l'accesso unico...» (25 righe)</a:t>
            </a:r>
            <a:endParaRPr lang="en-US" sz="1100" dirty="0"/>
          </a:p>
        </p:txBody>
      </p:sp>
      <p:sp>
        <p:nvSpPr>
          <p:cNvPr id="9" name="blocco Generica"/>
          <p:cNvSpPr/>
          <p:nvPr/>
        </p:nvSpPr>
        <p:spPr>
          <a:xfrm>
            <a:off x="7589520" y="1170432"/>
            <a:ext cx="1097280" cy="457200"/>
          </a:xfrm>
          <a:prstGeom prst="roundRect">
            <a:avLst>
              <a:gd name="adj" fmla="val 24000"/>
            </a:avLst>
          </a:prstGeom>
          <a:solidFill>
            <a:schemeClr val="bg2"/>
          </a:solidFill>
          <a:ln/>
        </p:spPr>
      </p:sp>
      <p:sp>
        <p:nvSpPr>
          <p:cNvPr id="10" name="Text 7"/>
          <p:cNvSpPr txBox="1"/>
          <p:nvPr/>
        </p:nvSpPr>
        <p:spPr>
          <a:xfrm>
            <a:off x="7635240" y="1170432"/>
            <a:ext cx="1005840" cy="457200"/>
          </a:xfrm>
          <a:prstGeom prst="rect">
            <a:avLst/>
          </a:prstGeom>
          <a:noFill/>
          <a:ln/>
        </p:spPr>
        <p:txBody>
          <a:bodyPr wrap="square" lIns="0" tIns="0" rIns="0" bIns="0" rtlCol="0" anchor="ctr"/>
          <a:lstStyle/>
          <a:p>
            <a:pPr algn="ctr" indent="0" marL="0">
              <a:buNone/>
            </a:pPr>
            <a:r>
              <a:rPr lang="en-US" sz="1100" b="1" dirty="0">
                <a:solidFill>
                  <a:schemeClr val="tx1"/>
                </a:solidFill>
              </a:rPr>
              <a:t>Generica</a:t>
            </a:r>
            <a:endParaRPr lang="en-US" sz="1100" dirty="0"/>
          </a:p>
        </p:txBody>
      </p:sp>
      <p:sp>
        <p:nvSpPr>
          <p:cNvPr id="11" name="richiesta 2"/>
          <p:cNvSpPr/>
          <p:nvPr/>
        </p:nvSpPr>
        <p:spPr>
          <a:xfrm>
            <a:off x="457200" y="1837944"/>
            <a:ext cx="3429000" cy="694944"/>
          </a:xfrm>
          <a:prstGeom prst="roundRect">
            <a:avLst>
              <a:gd name="adj" fmla="val 10526"/>
            </a:avLst>
          </a:prstGeom>
          <a:solidFill>
            <a:schemeClr val="bg2"/>
          </a:solidFill>
          <a:ln/>
        </p:spPr>
      </p:sp>
      <p:sp>
        <p:nvSpPr>
          <p:cNvPr id="12" name="Text 9"/>
          <p:cNvSpPr txBox="1"/>
          <p:nvPr/>
        </p:nvSpPr>
        <p:spPr>
          <a:xfrm>
            <a:off x="566928" y="1837944"/>
            <a:ext cx="3246120" cy="694944"/>
          </a:xfrm>
          <a:prstGeom prst="rect">
            <a:avLst/>
          </a:prstGeom>
          <a:noFill/>
          <a:ln/>
        </p:spPr>
        <p:txBody>
          <a:bodyPr wrap="square" lIns="0" tIns="0" rIns="0" bIns="0" rtlCol="0" anchor="ctr"/>
          <a:lstStyle/>
          <a:p>
            <a:pPr indent="0" marL="0">
              <a:buNone/>
            </a:pPr>
            <a:r>
              <a:rPr lang="en-US" sz="1100" b="1" dirty="0">
                <a:solidFill>
                  <a:schemeClr val="tx1"/>
                </a:solidFill>
              </a:rPr>
              <a:t>Persona: </a:t>
            </a:r>
            <a:pPr indent="0" marL="0">
              <a:buNone/>
            </a:pPr>
            <a:r>
              <a:rPr lang="en-US" sz="1100" dirty="0">
                <a:solidFill>
                  <a:schemeClr val="tx1"/>
                </a:solidFill>
              </a:rPr>
              <a:t>È per tutti i dipendenti, molti non tecnici: massimo 8 righe, tono semplice.</a:t>
            </a:r>
            <a:endParaRPr lang="en-US" sz="1100" dirty="0"/>
          </a:p>
        </p:txBody>
      </p:sp>
      <p:sp>
        <p:nvSpPr>
          <p:cNvPr id="13" name="freccia"/>
          <p:cNvSpPr/>
          <p:nvPr/>
        </p:nvSpPr>
        <p:spPr>
          <a:xfrm>
            <a:off x="3931920" y="2039112"/>
            <a:ext cx="228600" cy="292608"/>
          </a:xfrm>
          <a:prstGeom prst="rightArrow">
            <a:avLst/>
          </a:prstGeom>
          <a:solidFill>
            <a:schemeClr val="accent2"/>
          </a:solidFill>
          <a:ln/>
        </p:spPr>
      </p:sp>
      <p:sp>
        <p:nvSpPr>
          <p:cNvPr id="14" name="risposta 2"/>
          <p:cNvSpPr/>
          <p:nvPr/>
        </p:nvSpPr>
        <p:spPr>
          <a:xfrm>
            <a:off x="4206240" y="1837944"/>
            <a:ext cx="3291840" cy="694944"/>
          </a:xfrm>
          <a:prstGeom prst="roundRect">
            <a:avLst>
              <a:gd name="adj" fmla="val 10526"/>
            </a:avLst>
          </a:prstGeom>
          <a:solidFill>
            <a:schemeClr val="accent6"/>
          </a:solidFill>
          <a:ln/>
        </p:spPr>
      </p:sp>
      <p:sp>
        <p:nvSpPr>
          <p:cNvPr id="15" name="Text 12"/>
          <p:cNvSpPr txBox="1"/>
          <p:nvPr/>
        </p:nvSpPr>
        <p:spPr>
          <a:xfrm>
            <a:off x="4315968" y="1837944"/>
            <a:ext cx="3108960" cy="694944"/>
          </a:xfrm>
          <a:prstGeom prst="rect">
            <a:avLst/>
          </a:prstGeom>
          <a:noFill/>
          <a:ln/>
        </p:spPr>
        <p:txBody>
          <a:bodyPr wrap="square" lIns="0" tIns="0" rIns="0" bIns="0" rtlCol="0" anchor="ctr"/>
          <a:lstStyle/>
          <a:p>
            <a:pPr indent="0" marL="0">
              <a:buNone/>
            </a:pPr>
            <a:r>
              <a:rPr lang="en-US" sz="1100" b="1" dirty="0">
                <a:solidFill>
                  <a:schemeClr val="accent1"/>
                </a:solidFill>
              </a:rPr>
              <a:t>AI: </a:t>
            </a:r>
            <a:pPr indent="0" marL="0">
              <a:buNone/>
            </a:pPr>
            <a:r>
              <a:rPr lang="en-US" sz="1100" i="1" dirty="0">
                <a:solidFill>
                  <a:schemeClr val="tx1"/>
                </a:solidFill>
              </a:rPr>
              <a:t>«Da questo mese le sale si prenotano con una nuova app: scegli sala e orario, poi conferma.»</a:t>
            </a:r>
            <a:endParaRPr lang="en-US" sz="1100" dirty="0"/>
          </a:p>
        </p:txBody>
      </p:sp>
      <p:sp>
        <p:nvSpPr>
          <p:cNvPr id="16" name="blocco Più chiara"/>
          <p:cNvSpPr/>
          <p:nvPr/>
        </p:nvSpPr>
        <p:spPr>
          <a:xfrm>
            <a:off x="7589520" y="1956816"/>
            <a:ext cx="1097280" cy="457200"/>
          </a:xfrm>
          <a:prstGeom prst="roundRect">
            <a:avLst>
              <a:gd name="adj" fmla="val 24000"/>
            </a:avLst>
          </a:prstGeom>
          <a:solidFill>
            <a:schemeClr val="accent6"/>
          </a:solidFill>
          <a:ln/>
        </p:spPr>
      </p:sp>
      <p:sp>
        <p:nvSpPr>
          <p:cNvPr id="17" name="Text 14"/>
          <p:cNvSpPr txBox="1"/>
          <p:nvPr/>
        </p:nvSpPr>
        <p:spPr>
          <a:xfrm>
            <a:off x="7635240" y="1956816"/>
            <a:ext cx="1005840" cy="457200"/>
          </a:xfrm>
          <a:prstGeom prst="rect">
            <a:avLst/>
          </a:prstGeom>
          <a:noFill/>
          <a:ln/>
        </p:spPr>
        <p:txBody>
          <a:bodyPr wrap="square" lIns="0" tIns="0" rIns="0" bIns="0" rtlCol="0" anchor="ctr"/>
          <a:lstStyle/>
          <a:p>
            <a:pPr algn="ctr" indent="0" marL="0">
              <a:buNone/>
            </a:pPr>
            <a:r>
              <a:rPr lang="en-US" sz="1100" b="1" dirty="0">
                <a:solidFill>
                  <a:schemeClr val="tx1"/>
                </a:solidFill>
              </a:rPr>
              <a:t>Più chiara</a:t>
            </a:r>
            <a:endParaRPr lang="en-US" sz="1100" dirty="0"/>
          </a:p>
        </p:txBody>
      </p:sp>
      <p:sp>
        <p:nvSpPr>
          <p:cNvPr id="18" name="richiesta 3"/>
          <p:cNvSpPr/>
          <p:nvPr/>
        </p:nvSpPr>
        <p:spPr>
          <a:xfrm>
            <a:off x="457200" y="2624328"/>
            <a:ext cx="3429000" cy="694944"/>
          </a:xfrm>
          <a:prstGeom prst="roundRect">
            <a:avLst>
              <a:gd name="adj" fmla="val 10526"/>
            </a:avLst>
          </a:prstGeom>
          <a:solidFill>
            <a:schemeClr val="bg2"/>
          </a:solidFill>
          <a:ln/>
        </p:spPr>
      </p:sp>
      <p:sp>
        <p:nvSpPr>
          <p:cNvPr id="19" name="Text 16"/>
          <p:cNvSpPr txBox="1"/>
          <p:nvPr/>
        </p:nvSpPr>
        <p:spPr>
          <a:xfrm>
            <a:off x="566928" y="2624328"/>
            <a:ext cx="3246120" cy="694944"/>
          </a:xfrm>
          <a:prstGeom prst="rect">
            <a:avLst/>
          </a:prstGeom>
          <a:noFill/>
          <a:ln/>
        </p:spPr>
        <p:txBody>
          <a:bodyPr wrap="square" lIns="0" tIns="0" rIns="0" bIns="0" rtlCol="0" anchor="ctr"/>
          <a:lstStyle/>
          <a:p>
            <a:pPr indent="0" marL="0">
              <a:buNone/>
            </a:pPr>
            <a:r>
              <a:rPr lang="en-US" sz="1100" b="1" dirty="0">
                <a:solidFill>
                  <a:schemeClr val="tx1"/>
                </a:solidFill>
              </a:rPr>
              <a:t>Persona: </a:t>
            </a:r>
            <a:pPr indent="0" marL="0">
              <a:buNone/>
            </a:pPr>
            <a:r>
              <a:rPr lang="en-US" sz="1100" dirty="0">
                <a:solidFill>
                  <a:schemeClr val="tx1"/>
                </a:solidFill>
              </a:rPr>
              <a:t>Apri con la scadenza: dal 1° marzo il vecchio sistema non funzionerà.</a:t>
            </a:r>
            <a:endParaRPr lang="en-US" sz="1100" dirty="0"/>
          </a:p>
        </p:txBody>
      </p:sp>
      <p:sp>
        <p:nvSpPr>
          <p:cNvPr id="20" name="freccia"/>
          <p:cNvSpPr/>
          <p:nvPr/>
        </p:nvSpPr>
        <p:spPr>
          <a:xfrm>
            <a:off x="3931920" y="2825496"/>
            <a:ext cx="228600" cy="292608"/>
          </a:xfrm>
          <a:prstGeom prst="rightArrow">
            <a:avLst/>
          </a:prstGeom>
          <a:solidFill>
            <a:schemeClr val="accent2"/>
          </a:solidFill>
          <a:ln/>
        </p:spPr>
      </p:sp>
      <p:sp>
        <p:nvSpPr>
          <p:cNvPr id="21" name="risposta 3"/>
          <p:cNvSpPr/>
          <p:nvPr/>
        </p:nvSpPr>
        <p:spPr>
          <a:xfrm>
            <a:off x="4206240" y="2624328"/>
            <a:ext cx="3291840" cy="694944"/>
          </a:xfrm>
          <a:prstGeom prst="roundRect">
            <a:avLst>
              <a:gd name="adj" fmla="val 10526"/>
            </a:avLst>
          </a:prstGeom>
          <a:solidFill>
            <a:schemeClr val="accent6"/>
          </a:solidFill>
          <a:ln/>
        </p:spPr>
      </p:sp>
      <p:sp>
        <p:nvSpPr>
          <p:cNvPr id="22" name="Text 19"/>
          <p:cNvSpPr txBox="1"/>
          <p:nvPr/>
        </p:nvSpPr>
        <p:spPr>
          <a:xfrm>
            <a:off x="4315968" y="2624328"/>
            <a:ext cx="3108960" cy="694944"/>
          </a:xfrm>
          <a:prstGeom prst="rect">
            <a:avLst/>
          </a:prstGeom>
          <a:noFill/>
          <a:ln/>
        </p:spPr>
        <p:txBody>
          <a:bodyPr wrap="square" lIns="0" tIns="0" rIns="0" bIns="0" rtlCol="0" anchor="ctr"/>
          <a:lstStyle/>
          <a:p>
            <a:pPr indent="0" marL="0">
              <a:buNone/>
            </a:pPr>
            <a:r>
              <a:rPr lang="en-US" sz="1100" b="1" dirty="0">
                <a:solidFill>
                  <a:schemeClr val="accent1"/>
                </a:solidFill>
              </a:rPr>
              <a:t>AI: </a:t>
            </a:r>
            <a:pPr indent="0" marL="0">
              <a:buNone/>
            </a:pPr>
            <a:r>
              <a:rPr lang="en-US" sz="1100" i="1" dirty="0">
                <a:solidFill>
                  <a:schemeClr val="tx1"/>
                </a:solidFill>
              </a:rPr>
              <a:t>«Dal 1° marzo il vecchio sistema non sarà più attivo: da oggi prenota le sale con la nuova app...»</a:t>
            </a:r>
            <a:endParaRPr lang="en-US" sz="1100" dirty="0"/>
          </a:p>
        </p:txBody>
      </p:sp>
      <p:sp>
        <p:nvSpPr>
          <p:cNvPr id="23" name="blocco Mirata"/>
          <p:cNvSpPr/>
          <p:nvPr/>
        </p:nvSpPr>
        <p:spPr>
          <a:xfrm>
            <a:off x="7589520" y="2743200"/>
            <a:ext cx="1097280" cy="457200"/>
          </a:xfrm>
          <a:prstGeom prst="roundRect">
            <a:avLst>
              <a:gd name="adj" fmla="val 24000"/>
            </a:avLst>
          </a:prstGeom>
          <a:solidFill>
            <a:schemeClr val="accent6"/>
          </a:solidFill>
          <a:ln/>
        </p:spPr>
      </p:sp>
      <p:sp>
        <p:nvSpPr>
          <p:cNvPr id="24" name="Text 21"/>
          <p:cNvSpPr txBox="1"/>
          <p:nvPr/>
        </p:nvSpPr>
        <p:spPr>
          <a:xfrm>
            <a:off x="7635240" y="2743200"/>
            <a:ext cx="1005840" cy="457200"/>
          </a:xfrm>
          <a:prstGeom prst="rect">
            <a:avLst/>
          </a:prstGeom>
          <a:noFill/>
          <a:ln/>
        </p:spPr>
        <p:txBody>
          <a:bodyPr wrap="square" lIns="0" tIns="0" rIns="0" bIns="0" rtlCol="0" anchor="ctr"/>
          <a:lstStyle/>
          <a:p>
            <a:pPr algn="ctr" indent="0" marL="0">
              <a:buNone/>
            </a:pPr>
            <a:r>
              <a:rPr lang="en-US" sz="1100" b="1" dirty="0">
                <a:solidFill>
                  <a:schemeClr val="tx1"/>
                </a:solidFill>
              </a:rPr>
              <a:t>Mirata</a:t>
            </a:r>
            <a:endParaRPr lang="en-US" sz="1100" dirty="0"/>
          </a:p>
        </p:txBody>
      </p:sp>
      <p:sp>
        <p:nvSpPr>
          <p:cNvPr id="25" name="richiesta 4"/>
          <p:cNvSpPr/>
          <p:nvPr/>
        </p:nvSpPr>
        <p:spPr>
          <a:xfrm>
            <a:off x="457200" y="3410712"/>
            <a:ext cx="3429000" cy="694944"/>
          </a:xfrm>
          <a:prstGeom prst="roundRect">
            <a:avLst>
              <a:gd name="adj" fmla="val 10526"/>
            </a:avLst>
          </a:prstGeom>
          <a:solidFill>
            <a:schemeClr val="bg2"/>
          </a:solidFill>
          <a:ln/>
        </p:spPr>
      </p:sp>
      <p:sp>
        <p:nvSpPr>
          <p:cNvPr id="26" name="Text 23"/>
          <p:cNvSpPr txBox="1"/>
          <p:nvPr/>
        </p:nvSpPr>
        <p:spPr>
          <a:xfrm>
            <a:off x="566928" y="3410712"/>
            <a:ext cx="3246120" cy="694944"/>
          </a:xfrm>
          <a:prstGeom prst="rect">
            <a:avLst/>
          </a:prstGeom>
          <a:noFill/>
          <a:ln/>
        </p:spPr>
        <p:txBody>
          <a:bodyPr wrap="square" lIns="0" tIns="0" rIns="0" bIns="0" rtlCol="0" anchor="ctr"/>
          <a:lstStyle/>
          <a:p>
            <a:pPr indent="0" marL="0">
              <a:buNone/>
            </a:pPr>
            <a:r>
              <a:rPr lang="en-US" sz="1100" b="1" dirty="0">
                <a:solidFill>
                  <a:schemeClr val="tx1"/>
                </a:solidFill>
              </a:rPr>
              <a:t>Persona: </a:t>
            </a:r>
            <a:pPr indent="0" marL="0">
              <a:buNone/>
            </a:pPr>
            <a:r>
              <a:rPr lang="en-US" sz="1100" dirty="0">
                <a:solidFill>
                  <a:schemeClr val="tx1"/>
                </a:solidFill>
              </a:rPr>
              <a:t>Proponi tre oggetti per l'email.</a:t>
            </a:r>
            <a:endParaRPr lang="en-US" sz="1100" dirty="0"/>
          </a:p>
        </p:txBody>
      </p:sp>
      <p:sp>
        <p:nvSpPr>
          <p:cNvPr id="27" name="freccia"/>
          <p:cNvSpPr/>
          <p:nvPr/>
        </p:nvSpPr>
        <p:spPr>
          <a:xfrm>
            <a:off x="3931920" y="3611880"/>
            <a:ext cx="228600" cy="292608"/>
          </a:xfrm>
          <a:prstGeom prst="rightArrow">
            <a:avLst/>
          </a:prstGeom>
          <a:solidFill>
            <a:schemeClr val="accent2"/>
          </a:solidFill>
          <a:ln/>
        </p:spPr>
      </p:sp>
      <p:sp>
        <p:nvSpPr>
          <p:cNvPr id="28" name="risposta 4"/>
          <p:cNvSpPr/>
          <p:nvPr/>
        </p:nvSpPr>
        <p:spPr>
          <a:xfrm>
            <a:off x="4206240" y="3410712"/>
            <a:ext cx="3291840" cy="694944"/>
          </a:xfrm>
          <a:prstGeom prst="roundRect">
            <a:avLst>
              <a:gd name="adj" fmla="val 10526"/>
            </a:avLst>
          </a:prstGeom>
          <a:solidFill>
            <a:schemeClr val="accent6"/>
          </a:solidFill>
          <a:ln/>
        </p:spPr>
      </p:sp>
      <p:sp>
        <p:nvSpPr>
          <p:cNvPr id="29" name="Text 26"/>
          <p:cNvSpPr txBox="1"/>
          <p:nvPr/>
        </p:nvSpPr>
        <p:spPr>
          <a:xfrm>
            <a:off x="4315968" y="3410712"/>
            <a:ext cx="3108960" cy="694944"/>
          </a:xfrm>
          <a:prstGeom prst="rect">
            <a:avLst/>
          </a:prstGeom>
          <a:noFill/>
          <a:ln/>
        </p:spPr>
        <p:txBody>
          <a:bodyPr wrap="square" lIns="0" tIns="0" rIns="0" bIns="0" rtlCol="0" anchor="ctr"/>
          <a:lstStyle/>
          <a:p>
            <a:pPr indent="0" marL="0">
              <a:buNone/>
            </a:pPr>
            <a:r>
              <a:rPr lang="en-US" sz="1100" b="1" dirty="0">
                <a:solidFill>
                  <a:schemeClr val="accent1"/>
                </a:solidFill>
              </a:rPr>
              <a:t>AI: </a:t>
            </a:r>
            <a:pPr indent="0" marL="0">
              <a:buNone/>
            </a:pPr>
            <a:r>
              <a:rPr lang="en-US" sz="1100" i="1" dirty="0">
                <a:solidFill>
                  <a:schemeClr val="tx1"/>
                </a:solidFill>
              </a:rPr>
              <a:t>«Dal 1° marzo cambia la prenotazione delle sale» e altre due proposte</a:t>
            </a:r>
            <a:endParaRPr lang="en-US" sz="1100" dirty="0"/>
          </a:p>
        </p:txBody>
      </p:sp>
      <p:sp>
        <p:nvSpPr>
          <p:cNvPr id="30" name="blocco Pronta da rivedere"/>
          <p:cNvSpPr/>
          <p:nvPr/>
        </p:nvSpPr>
        <p:spPr>
          <a:xfrm>
            <a:off x="7589520" y="3529584"/>
            <a:ext cx="1097280" cy="457200"/>
          </a:xfrm>
          <a:prstGeom prst="roundRect">
            <a:avLst>
              <a:gd name="adj" fmla="val 24000"/>
            </a:avLst>
          </a:prstGeom>
          <a:solidFill>
            <a:schemeClr val="accent1"/>
          </a:solidFill>
          <a:ln/>
        </p:spPr>
      </p:sp>
      <p:sp>
        <p:nvSpPr>
          <p:cNvPr id="31" name="Text 28"/>
          <p:cNvSpPr txBox="1"/>
          <p:nvPr/>
        </p:nvSpPr>
        <p:spPr>
          <a:xfrm>
            <a:off x="7635240" y="3529584"/>
            <a:ext cx="1005840" cy="457200"/>
          </a:xfrm>
          <a:prstGeom prst="rect">
            <a:avLst/>
          </a:prstGeom>
          <a:noFill/>
          <a:ln/>
        </p:spPr>
        <p:txBody>
          <a:bodyPr wrap="square" lIns="0" tIns="0" rIns="0" bIns="0" rtlCol="0" anchor="ctr"/>
          <a:lstStyle/>
          <a:p>
            <a:pPr algn="ctr" indent="0" marL="0">
              <a:buNone/>
            </a:pPr>
            <a:r>
              <a:rPr lang="en-US" sz="1100" b="1" dirty="0">
                <a:solidFill>
                  <a:schemeClr val="bg1"/>
                </a:solidFill>
              </a:rPr>
              <a:t>Pronta da rivedere</a:t>
            </a:r>
            <a:endParaRPr lang="en-US" sz="1100" dirty="0"/>
          </a:p>
        </p:txBody>
      </p:sp>
      <p:sp>
        <p:nvSpPr>
          <p:cNvPr id="32" name="messaggio"/>
          <p:cNvSpPr/>
          <p:nvPr/>
        </p:nvSpPr>
        <p:spPr>
          <a:xfrm>
            <a:off x="457200" y="4224528"/>
            <a:ext cx="8229600" cy="411480"/>
          </a:xfrm>
          <a:prstGeom prst="roundRect">
            <a:avLst>
              <a:gd name="adj" fmla="val 17778"/>
            </a:avLst>
          </a:prstGeom>
          <a:solidFill>
            <a:schemeClr val="tx1"/>
          </a:solidFill>
          <a:ln/>
        </p:spPr>
      </p:sp>
      <p:sp>
        <p:nvSpPr>
          <p:cNvPr id="33" name="Text 30"/>
          <p:cNvSpPr txBox="1"/>
          <p:nvPr/>
        </p:nvSpPr>
        <p:spPr>
          <a:xfrm>
            <a:off x="640080" y="4224528"/>
            <a:ext cx="7863840" cy="411480"/>
          </a:xfrm>
          <a:prstGeom prst="rect">
            <a:avLst/>
          </a:prstGeom>
          <a:noFill/>
          <a:ln/>
        </p:spPr>
        <p:txBody>
          <a:bodyPr wrap="square" lIns="0" tIns="0" rIns="0" bIns="0" rtlCol="0" anchor="ctr"/>
          <a:lstStyle/>
          <a:p>
            <a:pPr indent="0" marL="0">
              <a:buNone/>
            </a:pPr>
            <a:r>
              <a:rPr lang="en-US" sz="1200" dirty="0">
                <a:solidFill>
                  <a:schemeClr val="bg1"/>
                </a:solidFill>
              </a:rPr>
              <a:t>In quattro scambi, da un testo generico a un messaggio pronto da rivedere: pubblico e scadenza li ha portati la persona.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contesto della conversazione</a:t>
            </a:r>
            <a:endParaRPr lang="en-US" sz="2600" dirty="0"/>
          </a:p>
        </p:txBody>
      </p:sp>
      <p:sp>
        <p:nvSpPr>
          <p:cNvPr id="4" name="scheda Una risorsa"/>
          <p:cNvSpPr/>
          <p:nvPr/>
        </p:nvSpPr>
        <p:spPr>
          <a:xfrm>
            <a:off x="457200" y="1097280"/>
            <a:ext cx="3977640" cy="2194560"/>
          </a:xfrm>
          <a:prstGeom prst="roundRect">
            <a:avLst>
              <a:gd name="adj" fmla="val 3333"/>
            </a:avLst>
          </a:prstGeom>
          <a:solidFill>
            <a:schemeClr val="accent6"/>
          </a:solidFill>
          <a:ln/>
        </p:spPr>
      </p:sp>
      <p:sp>
        <p:nvSpPr>
          <p:cNvPr id="5" name="cerchio FiLayers"/>
          <p:cNvSpPr/>
          <p:nvPr/>
        </p:nvSpPr>
        <p:spPr>
          <a:xfrm>
            <a:off x="640080" y="1280160"/>
            <a:ext cx="457200" cy="457200"/>
          </a:xfrm>
          <a:prstGeom prst="ellipse">
            <a:avLst/>
          </a:prstGeom>
          <a:solidFill>
            <a:schemeClr val="accent1"/>
          </a:solidFill>
          <a:ln/>
        </p:spPr>
      </p:sp>
      <p:pic>
        <p:nvPicPr>
          <p:cNvPr id="6" name="Image 0" descr="FiLayers">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Una risorsa</a:t>
            </a:r>
            <a:endParaRPr lang="en-US" sz="1600" dirty="0"/>
          </a:p>
        </p:txBody>
      </p:sp>
      <p:sp>
        <p:nvSpPr>
          <p:cNvPr id="8" name="Text 4"/>
          <p:cNvSpPr txBox="1"/>
          <p:nvPr/>
        </p:nvSpPr>
        <p:spPr>
          <a:xfrm>
            <a:off x="64008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Pubblico, obiettivi, vincoli, correzioni restano nel dialogo</a:t>
            </a:r>
            <a:endParaRPr lang="en-US" sz="1300" dirty="0"/>
          </a:p>
          <a:p>
            <a:pPr marL="177800" indent="-177800">
              <a:spcAft>
                <a:spcPts val="300"/>
              </a:spcAft>
              <a:buSzPct val="100000"/>
              <a:buChar char="•"/>
            </a:pPr>
            <a:r>
              <a:rPr lang="en-US" sz="1300" dirty="0">
                <a:solidFill>
                  <a:schemeClr val="tx2"/>
                </a:solidFill>
              </a:rPr>
              <a:t>Non serve ripetere tutto</a:t>
            </a:r>
            <a:endParaRPr lang="en-US" sz="1300" dirty="0"/>
          </a:p>
          <a:p>
            <a:pPr marL="177800" indent="-177800">
              <a:spcAft>
                <a:spcPts val="300"/>
              </a:spcAft>
              <a:buSzPct val="100000"/>
              <a:buChar char="•"/>
            </a:pPr>
            <a:r>
              <a:rPr lang="en-US" sz="1300" dirty="0">
                <a:solidFill>
                  <a:schemeClr val="tx2"/>
                </a:solidFill>
              </a:rPr>
              <a:t>Il quadro si precisa scambio dopo scambio</a:t>
            </a:r>
            <a:endParaRPr lang="en-US" sz="1300" dirty="0"/>
          </a:p>
        </p:txBody>
      </p:sp>
      <p:sp>
        <p:nvSpPr>
          <p:cNvPr id="9" name="scheda Quando può ostacolare"/>
          <p:cNvSpPr/>
          <p:nvPr/>
        </p:nvSpPr>
        <p:spPr>
          <a:xfrm>
            <a:off x="4709160" y="1097280"/>
            <a:ext cx="3977640" cy="2194560"/>
          </a:xfrm>
          <a:prstGeom prst="roundRect">
            <a:avLst>
              <a:gd name="adj" fmla="val 3333"/>
            </a:avLst>
          </a:prstGeom>
          <a:solidFill>
            <a:schemeClr val="bg2"/>
          </a:solidFill>
          <a:ln/>
        </p:spPr>
      </p:sp>
      <p:sp>
        <p:nvSpPr>
          <p:cNvPr id="10" name="cerchio FiAlertCircle"/>
          <p:cNvSpPr/>
          <p:nvPr/>
        </p:nvSpPr>
        <p:spPr>
          <a:xfrm>
            <a:off x="4892040" y="1280160"/>
            <a:ext cx="457200" cy="457200"/>
          </a:xfrm>
          <a:prstGeom prst="ellipse">
            <a:avLst/>
          </a:prstGeom>
          <a:solidFill>
            <a:schemeClr val="accent1"/>
          </a:solidFill>
          <a:ln/>
        </p:spPr>
      </p:sp>
      <p:pic>
        <p:nvPicPr>
          <p:cNvPr id="11" name="Image 1" descr="FiAlertCircl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Quando può ostacolare</a:t>
            </a:r>
            <a:endParaRPr lang="en-US" sz="1600" dirty="0"/>
          </a:p>
        </p:txBody>
      </p:sp>
      <p:sp>
        <p:nvSpPr>
          <p:cNvPr id="13" name="Text 8"/>
          <p:cNvSpPr txBox="1"/>
          <p:nvPr/>
        </p:nvSpPr>
        <p:spPr>
          <a:xfrm>
            <a:off x="489204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Si cambia argomento</a:t>
            </a:r>
            <a:endParaRPr lang="en-US" sz="1300" dirty="0"/>
          </a:p>
          <a:p>
            <a:pPr marL="177800" indent="-177800">
              <a:spcAft>
                <a:spcPts val="300"/>
              </a:spcAft>
              <a:buSzPct val="100000"/>
              <a:buChar char="•"/>
            </a:pPr>
            <a:r>
              <a:rPr lang="en-US" sz="1300" dirty="0">
                <a:solidFill>
                  <a:schemeClr val="tx2"/>
                </a:solidFill>
              </a:rPr>
              <a:t>La conversazione è molto lunga</a:t>
            </a:r>
            <a:endParaRPr lang="en-US" sz="1300" dirty="0"/>
          </a:p>
          <a:p>
            <a:pPr marL="177800" indent="-177800">
              <a:spcAft>
                <a:spcPts val="300"/>
              </a:spcAft>
              <a:buSzPct val="100000"/>
              <a:buChar char="•"/>
            </a:pPr>
            <a:r>
              <a:rPr lang="en-US" sz="1300" dirty="0">
                <a:solidFill>
                  <a:schemeClr val="tx2"/>
                </a:solidFill>
              </a:rPr>
              <a:t>All'inizio si è presa una strada sbagliata</a:t>
            </a:r>
            <a:endParaRPr lang="en-US" sz="1300" dirty="0"/>
          </a:p>
        </p:txBody>
      </p:sp>
      <p:sp>
        <p:nvSpPr>
          <p:cNvPr id="14" name="messaggio"/>
          <p:cNvSpPr/>
          <p:nvPr/>
        </p:nvSpPr>
        <p:spPr>
          <a:xfrm>
            <a:off x="457200" y="3474720"/>
            <a:ext cx="8229600" cy="548640"/>
          </a:xfrm>
          <a:prstGeom prst="roundRect">
            <a:avLst>
              <a:gd name="adj" fmla="val 13333"/>
            </a:avLst>
          </a:prstGeom>
          <a:solidFill>
            <a:schemeClr val="tx1"/>
          </a:solidFill>
          <a:ln/>
        </p:spPr>
      </p:sp>
      <p:sp>
        <p:nvSpPr>
          <p:cNvPr id="15" name="Text 10"/>
          <p:cNvSpPr txBox="1"/>
          <p:nvPr/>
        </p:nvSpPr>
        <p:spPr>
          <a:xfrm>
            <a:off x="640080" y="3474720"/>
            <a:ext cx="7863840" cy="548640"/>
          </a:xfrm>
          <a:prstGeom prst="rect">
            <a:avLst/>
          </a:prstGeom>
          <a:noFill/>
          <a:ln/>
        </p:spPr>
        <p:txBody>
          <a:bodyPr wrap="square" lIns="0" tIns="0" rIns="0" bIns="0" rtlCol="0" anchor="ctr"/>
          <a:lstStyle/>
          <a:p>
            <a:pPr indent="0" marL="0">
              <a:buNone/>
            </a:pPr>
            <a:r>
              <a:rPr lang="en-US" sz="1400" dirty="0">
                <a:solidFill>
                  <a:schemeClr val="bg1"/>
                </a:solidFill>
              </a:rPr>
              <a:t>Una strategia utile: nuova conversazione con una sintesi di ciò che serve, anche preparata dall'AI.</a:t>
            </a:r>
            <a:endParaRPr lang="en-US" sz="1400" dirty="0"/>
          </a:p>
        </p:txBody>
      </p:sp>
      <p:sp>
        <p:nvSpPr>
          <p:cNvPr id="16" name="Text 11"/>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200" i="1" dirty="0">
                <a:solidFill>
                  <a:schemeClr val="tx1"/>
                </a:solidFill>
              </a:rPr>
              <a:t>Il contesto disponibile dipende dal sistema: memoria, progetti, file e istruzioni permanenti variano da strumento a strumento.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interlocutore che può porre domande</a:t>
            </a:r>
            <a:endParaRPr lang="en-US" sz="2600" dirty="0"/>
          </a:p>
        </p:txBody>
      </p:sp>
      <p:sp>
        <p:nvSpPr>
          <p:cNvPr id="4" name="turno"/>
          <p:cNvSpPr/>
          <p:nvPr/>
        </p:nvSpPr>
        <p:spPr>
          <a:xfrm>
            <a:off x="457200" y="1097280"/>
            <a:ext cx="3851453" cy="685800"/>
          </a:xfrm>
          <a:prstGeom prst="roundRect">
            <a:avLst>
              <a:gd name="adj" fmla="val 10667"/>
            </a:avLst>
          </a:prstGeom>
          <a:solidFill>
            <a:schemeClr val="bg2"/>
          </a:solidFill>
          <a:ln/>
        </p:spPr>
      </p:sp>
      <p:sp>
        <p:nvSpPr>
          <p:cNvPr id="5" name="Text 2"/>
          <p:cNvSpPr txBox="1"/>
          <p:nvPr/>
        </p:nvSpPr>
        <p:spPr>
          <a:xfrm>
            <a:off x="594360" y="1097280"/>
            <a:ext cx="3577133" cy="685800"/>
          </a:xfrm>
          <a:prstGeom prst="rect">
            <a:avLst/>
          </a:prstGeom>
          <a:noFill/>
          <a:ln/>
        </p:spPr>
        <p:txBody>
          <a:bodyPr wrap="square" lIns="0" tIns="0" rIns="0" bIns="0" rtlCol="0" anchor="ctr"/>
          <a:lstStyle/>
          <a:p>
            <a:pPr indent="0" marL="0">
              <a:buNone/>
            </a:pPr>
            <a:r>
              <a:rPr lang="en-US" sz="1200" b="1" dirty="0">
                <a:solidFill>
                  <a:schemeClr val="tx1"/>
                </a:solidFill>
              </a:rPr>
              <a:t>Persona: </a:t>
            </a:r>
            <a:pPr indent="0" marL="0">
              <a:buNone/>
            </a:pPr>
            <a:r>
              <a:rPr lang="en-US" sz="1200" dirty="0">
                <a:solidFill>
                  <a:schemeClr val="tx1"/>
                </a:solidFill>
              </a:rPr>
              <a:t>Devo preparare un piano di formazione per i nuovi assunti. Prima di proporre, fammi le domande che ti servono.</a:t>
            </a:r>
            <a:endParaRPr lang="en-US" sz="1200" dirty="0"/>
          </a:p>
        </p:txBody>
      </p:sp>
      <p:sp>
        <p:nvSpPr>
          <p:cNvPr id="6" name="turno"/>
          <p:cNvSpPr/>
          <p:nvPr/>
        </p:nvSpPr>
        <p:spPr>
          <a:xfrm>
            <a:off x="1543507" y="1920240"/>
            <a:ext cx="3851453" cy="685800"/>
          </a:xfrm>
          <a:prstGeom prst="roundRect">
            <a:avLst>
              <a:gd name="adj" fmla="val 10667"/>
            </a:avLst>
          </a:prstGeom>
          <a:solidFill>
            <a:schemeClr val="accent6"/>
          </a:solidFill>
          <a:ln/>
        </p:spPr>
      </p:sp>
      <p:sp>
        <p:nvSpPr>
          <p:cNvPr id="7" name="Text 4"/>
          <p:cNvSpPr txBox="1"/>
          <p:nvPr/>
        </p:nvSpPr>
        <p:spPr>
          <a:xfrm>
            <a:off x="1680667" y="1920240"/>
            <a:ext cx="3577133" cy="685800"/>
          </a:xfrm>
          <a:prstGeom prst="rect">
            <a:avLst/>
          </a:prstGeom>
          <a:noFill/>
          <a:ln/>
        </p:spPr>
        <p:txBody>
          <a:bodyPr wrap="square" lIns="0" tIns="0" rIns="0" bIns="0" rtlCol="0" anchor="ctr"/>
          <a:lstStyle/>
          <a:p>
            <a:pPr indent="0" marL="0">
              <a:buNone/>
            </a:pPr>
            <a:r>
              <a:rPr lang="en-US" sz="1200" b="1" dirty="0">
                <a:solidFill>
                  <a:schemeClr val="accent1"/>
                </a:solidFill>
              </a:rPr>
              <a:t>AI: </a:t>
            </a:r>
            <a:pPr indent="0" marL="0">
              <a:buNone/>
            </a:pPr>
            <a:r>
              <a:rPr lang="en-US" sz="1200" dirty="0">
                <a:solidFill>
                  <a:schemeClr val="tx1"/>
                </a:solidFill>
              </a:rPr>
              <a:t>Quante persone? Quali ruoli? Quanto tempo? Competenze di partenza? Budget?</a:t>
            </a:r>
            <a:endParaRPr lang="en-US" sz="1200" dirty="0"/>
          </a:p>
        </p:txBody>
      </p:sp>
      <p:sp>
        <p:nvSpPr>
          <p:cNvPr id="8" name="cerchio FiHelpCircle"/>
          <p:cNvSpPr/>
          <p:nvPr/>
        </p:nvSpPr>
        <p:spPr>
          <a:xfrm>
            <a:off x="5669280" y="1097280"/>
            <a:ext cx="457200" cy="457200"/>
          </a:xfrm>
          <a:prstGeom prst="ellipse">
            <a:avLst/>
          </a:prstGeom>
          <a:solidFill>
            <a:schemeClr val="accent1"/>
          </a:solidFill>
          <a:ln/>
        </p:spPr>
      </p:sp>
      <p:pic>
        <p:nvPicPr>
          <p:cNvPr id="9" name="Image 0" descr="FiHelpCircle">    </p:cNvPr>
          <p:cNvPicPr>
            <a:picLocks noChangeAspect="1"/>
          </p:cNvPicPr>
          <p:nvPr/>
        </p:nvPicPr>
        <p:blipFill>
          <a:blip r:embed="rId1"/>
          <a:stretch>
            <a:fillRect/>
          </a:stretch>
        </p:blipFill>
        <p:spPr>
          <a:xfrm>
            <a:off x="5783580" y="1211580"/>
            <a:ext cx="228600" cy="228600"/>
          </a:xfrm>
          <a:prstGeom prst="rect">
            <a:avLst/>
          </a:prstGeom>
        </p:spPr>
      </p:pic>
      <p:sp>
        <p:nvSpPr>
          <p:cNvPr id="10" name="Text 6"/>
          <p:cNvSpPr txBox="1"/>
          <p:nvPr/>
        </p:nvSpPr>
        <p:spPr>
          <a:xfrm>
            <a:off x="6263640" y="1097280"/>
            <a:ext cx="2423160" cy="457200"/>
          </a:xfrm>
          <a:prstGeom prst="rect">
            <a:avLst/>
          </a:prstGeom>
          <a:noFill/>
          <a:ln/>
        </p:spPr>
        <p:txBody>
          <a:bodyPr wrap="square" lIns="0" tIns="0" rIns="0" bIns="0" rtlCol="0" anchor="ctr"/>
          <a:lstStyle/>
          <a:p>
            <a:pPr indent="0" marL="0">
              <a:buNone/>
            </a:pPr>
            <a:r>
              <a:rPr lang="en-US" sz="1300" b="1" dirty="0">
                <a:solidFill>
                  <a:schemeClr val="tx1"/>
                </a:solidFill>
              </a:rPr>
              <a:t>Chiarire le esigenze</a:t>
            </a:r>
            <a:endParaRPr lang="en-US" sz="1300" dirty="0"/>
          </a:p>
        </p:txBody>
      </p:sp>
      <p:sp>
        <p:nvSpPr>
          <p:cNvPr id="11" name="cerchio FiEye"/>
          <p:cNvSpPr/>
          <p:nvPr/>
        </p:nvSpPr>
        <p:spPr>
          <a:xfrm>
            <a:off x="5669280" y="1783080"/>
            <a:ext cx="457200" cy="457200"/>
          </a:xfrm>
          <a:prstGeom prst="ellipse">
            <a:avLst/>
          </a:prstGeom>
          <a:solidFill>
            <a:schemeClr val="accent1"/>
          </a:solidFill>
          <a:ln/>
        </p:spPr>
      </p:sp>
      <p:pic>
        <p:nvPicPr>
          <p:cNvPr id="12" name="Image 1" descr="FiEye">    </p:cNvPr>
          <p:cNvPicPr>
            <a:picLocks noChangeAspect="1"/>
          </p:cNvPicPr>
          <p:nvPr/>
        </p:nvPicPr>
        <p:blipFill>
          <a:blip r:embed="rId2"/>
          <a:stretch>
            <a:fillRect/>
          </a:stretch>
        </p:blipFill>
        <p:spPr>
          <a:xfrm>
            <a:off x="5783580" y="1897380"/>
            <a:ext cx="228600" cy="228600"/>
          </a:xfrm>
          <a:prstGeom prst="rect">
            <a:avLst/>
          </a:prstGeom>
        </p:spPr>
      </p:pic>
      <p:sp>
        <p:nvSpPr>
          <p:cNvPr id="13" name="Text 8"/>
          <p:cNvSpPr txBox="1"/>
          <p:nvPr/>
        </p:nvSpPr>
        <p:spPr>
          <a:xfrm>
            <a:off x="6263640" y="1783080"/>
            <a:ext cx="2423160" cy="457200"/>
          </a:xfrm>
          <a:prstGeom prst="rect">
            <a:avLst/>
          </a:prstGeom>
          <a:noFill/>
          <a:ln/>
        </p:spPr>
        <p:txBody>
          <a:bodyPr wrap="square" lIns="0" tIns="0" rIns="0" bIns="0" rtlCol="0" anchor="ctr"/>
          <a:lstStyle/>
          <a:p>
            <a:pPr indent="0" marL="0">
              <a:buNone/>
            </a:pPr>
            <a:r>
              <a:rPr lang="en-US" sz="1300" b="1" dirty="0">
                <a:solidFill>
                  <a:schemeClr val="tx1"/>
                </a:solidFill>
              </a:rPr>
              <a:t>Esplicitare le assunzioni</a:t>
            </a:r>
            <a:endParaRPr lang="en-US" sz="1300" dirty="0"/>
          </a:p>
        </p:txBody>
      </p:sp>
      <p:sp>
        <p:nvSpPr>
          <p:cNvPr id="14" name="cerchio FiSearch"/>
          <p:cNvSpPr/>
          <p:nvPr/>
        </p:nvSpPr>
        <p:spPr>
          <a:xfrm>
            <a:off x="5669280" y="2468880"/>
            <a:ext cx="457200" cy="457200"/>
          </a:xfrm>
          <a:prstGeom prst="ellipse">
            <a:avLst/>
          </a:prstGeom>
          <a:solidFill>
            <a:schemeClr val="accent1"/>
          </a:solidFill>
          <a:ln/>
        </p:spPr>
      </p:sp>
      <p:pic>
        <p:nvPicPr>
          <p:cNvPr id="15" name="Image 2" descr="FiSearch">    </p:cNvPr>
          <p:cNvPicPr>
            <a:picLocks noChangeAspect="1"/>
          </p:cNvPicPr>
          <p:nvPr/>
        </p:nvPicPr>
        <p:blipFill>
          <a:blip r:embed="rId3"/>
          <a:stretch>
            <a:fillRect/>
          </a:stretch>
        </p:blipFill>
        <p:spPr>
          <a:xfrm>
            <a:off x="5783580" y="2583180"/>
            <a:ext cx="228600" cy="228600"/>
          </a:xfrm>
          <a:prstGeom prst="rect">
            <a:avLst/>
          </a:prstGeom>
        </p:spPr>
      </p:pic>
      <p:sp>
        <p:nvSpPr>
          <p:cNvPr id="16" name="Text 10"/>
          <p:cNvSpPr txBox="1"/>
          <p:nvPr/>
        </p:nvSpPr>
        <p:spPr>
          <a:xfrm>
            <a:off x="6263640" y="2468880"/>
            <a:ext cx="2423160" cy="457200"/>
          </a:xfrm>
          <a:prstGeom prst="rect">
            <a:avLst/>
          </a:prstGeom>
          <a:noFill/>
          <a:ln/>
        </p:spPr>
        <p:txBody>
          <a:bodyPr wrap="square" lIns="0" tIns="0" rIns="0" bIns="0" rtlCol="0" anchor="ctr"/>
          <a:lstStyle/>
          <a:p>
            <a:pPr indent="0" marL="0">
              <a:buNone/>
            </a:pPr>
            <a:r>
              <a:rPr lang="en-US" sz="1300" b="1" dirty="0">
                <a:solidFill>
                  <a:schemeClr val="tx1"/>
                </a:solidFill>
              </a:rPr>
              <a:t>Individuare informazioni mancanti</a:t>
            </a:r>
            <a:endParaRPr lang="en-US" sz="1300" dirty="0"/>
          </a:p>
        </p:txBody>
      </p:sp>
      <p:sp>
        <p:nvSpPr>
          <p:cNvPr id="17" name="valore delle domande"/>
          <p:cNvSpPr/>
          <p:nvPr/>
        </p:nvSpPr>
        <p:spPr>
          <a:xfrm>
            <a:off x="457200" y="3063240"/>
            <a:ext cx="8229600" cy="1463040"/>
          </a:xfrm>
          <a:prstGeom prst="roundRect">
            <a:avLst>
              <a:gd name="adj" fmla="val 5000"/>
            </a:avLst>
          </a:prstGeom>
          <a:solidFill>
            <a:schemeClr val="tx1"/>
          </a:solidFill>
          <a:ln/>
        </p:spPr>
      </p:sp>
      <p:sp>
        <p:nvSpPr>
          <p:cNvPr id="18" name="cerchio FiZap"/>
          <p:cNvSpPr/>
          <p:nvPr/>
        </p:nvSpPr>
        <p:spPr>
          <a:xfrm>
            <a:off x="685800" y="3474720"/>
            <a:ext cx="594360" cy="594360"/>
          </a:xfrm>
          <a:prstGeom prst="ellipse">
            <a:avLst/>
          </a:prstGeom>
          <a:solidFill>
            <a:schemeClr val="accent1"/>
          </a:solidFill>
          <a:ln/>
        </p:spPr>
      </p:sp>
      <p:pic>
        <p:nvPicPr>
          <p:cNvPr id="19" name="Image 3" descr="FiZap">    </p:cNvPr>
          <p:cNvPicPr>
            <a:picLocks noChangeAspect="1"/>
          </p:cNvPicPr>
          <p:nvPr/>
        </p:nvPicPr>
        <p:blipFill>
          <a:blip r:embed="rId4"/>
          <a:stretch>
            <a:fillRect/>
          </a:stretch>
        </p:blipFill>
        <p:spPr>
          <a:xfrm>
            <a:off x="834390" y="3623310"/>
            <a:ext cx="297180" cy="297180"/>
          </a:xfrm>
          <a:prstGeom prst="rect">
            <a:avLst/>
          </a:prstGeom>
        </p:spPr>
      </p:pic>
      <p:sp>
        <p:nvSpPr>
          <p:cNvPr id="20" name="Text 13"/>
          <p:cNvSpPr txBox="1"/>
          <p:nvPr/>
        </p:nvSpPr>
        <p:spPr>
          <a:xfrm>
            <a:off x="1463040" y="3063240"/>
            <a:ext cx="7040880" cy="1463040"/>
          </a:xfrm>
          <a:prstGeom prst="rect">
            <a:avLst/>
          </a:prstGeom>
          <a:noFill/>
          <a:ln/>
        </p:spPr>
        <p:txBody>
          <a:bodyPr wrap="square" lIns="0" tIns="0" rIns="0" bIns="0" rtlCol="0" anchor="ctr"/>
          <a:lstStyle/>
          <a:p>
            <a:pPr indent="0" marL="0">
              <a:buNone/>
            </a:pPr>
            <a:r>
              <a:rPr lang="en-US" sz="1500" b="1" dirty="0">
                <a:solidFill>
                  <a:schemeClr val="bg1"/>
                </a:solidFill>
              </a:rPr>
              <a:t>Domande migliori, risultati migliori. </a:t>
            </a:r>
            <a:pPr indent="0" marL="0">
              <a:buNone/>
            </a:pPr>
            <a:r>
              <a:rPr lang="en-US" sz="1500" dirty="0">
                <a:solidFill>
                  <a:schemeClr val="accent3"/>
                </a:solidFill>
              </a:rPr>
              <a:t>Rispondere alle domande dell'AI fa emergere ciò che sappiamo e non avevamo detto: il risultato parte da basi più solide.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supporto alla definizione dei problemi</a:t>
            </a:r>
            <a:endParaRPr lang="en-US" sz="2600" dirty="0"/>
          </a:p>
        </p:txBody>
      </p:sp>
      <p:sp>
        <p:nvSpPr>
          <p:cNvPr id="4" name="Esplorare le possibili cause prima delle soluzioni"/>
          <p:cNvSpPr/>
          <p:nvPr/>
        </p:nvSpPr>
        <p:spPr>
          <a:xfrm>
            <a:off x="457200" y="1051560"/>
            <a:ext cx="4206240" cy="493776"/>
          </a:xfrm>
          <a:prstGeom prst="roundRect">
            <a:avLst>
              <a:gd name="adj" fmla="val 14815"/>
            </a:avLst>
          </a:prstGeom>
          <a:solidFill>
            <a:schemeClr val="bg2"/>
          </a:solidFill>
          <a:ln/>
        </p:spPr>
      </p:sp>
      <p:sp>
        <p:nvSpPr>
          <p:cNvPr id="5" name="cerchio FiGitBranch"/>
          <p:cNvSpPr/>
          <p:nvPr/>
        </p:nvSpPr>
        <p:spPr>
          <a:xfrm>
            <a:off x="548640" y="1106424"/>
            <a:ext cx="384048" cy="384048"/>
          </a:xfrm>
          <a:prstGeom prst="ellipse">
            <a:avLst/>
          </a:prstGeom>
          <a:solidFill>
            <a:schemeClr val="accent1"/>
          </a:solidFill>
          <a:ln/>
        </p:spPr>
      </p:sp>
      <p:pic>
        <p:nvPicPr>
          <p:cNvPr id="6" name="Image 0" descr="FiGitBranch">    </p:cNvPr>
          <p:cNvPicPr>
            <a:picLocks noChangeAspect="1"/>
          </p:cNvPicPr>
          <p:nvPr/>
        </p:nvPicPr>
        <p:blipFill>
          <a:blip r:embed="rId1"/>
          <a:stretch>
            <a:fillRect/>
          </a:stretch>
        </p:blipFill>
        <p:spPr>
          <a:xfrm>
            <a:off x="644652" y="1202436"/>
            <a:ext cx="192024" cy="192024"/>
          </a:xfrm>
          <a:prstGeom prst="rect">
            <a:avLst/>
          </a:prstGeom>
        </p:spPr>
      </p:pic>
      <p:sp>
        <p:nvSpPr>
          <p:cNvPr id="7" name="Text 3"/>
          <p:cNvSpPr txBox="1"/>
          <p:nvPr/>
        </p:nvSpPr>
        <p:spPr>
          <a:xfrm>
            <a:off x="1051560" y="1051560"/>
            <a:ext cx="3566160" cy="493776"/>
          </a:xfrm>
          <a:prstGeom prst="rect">
            <a:avLst/>
          </a:prstGeom>
          <a:noFill/>
          <a:ln/>
        </p:spPr>
        <p:txBody>
          <a:bodyPr wrap="square" lIns="0" tIns="0" rIns="0" bIns="0" rtlCol="0" anchor="ctr"/>
          <a:lstStyle/>
          <a:p>
            <a:pPr indent="0" marL="0">
              <a:buNone/>
            </a:pPr>
            <a:r>
              <a:rPr lang="en-US" sz="1200" dirty="0">
                <a:solidFill>
                  <a:schemeClr val="tx1"/>
                </a:solidFill>
              </a:rPr>
              <a:t>Esplorare le possibili cause prima delle soluzioni</a:t>
            </a:r>
            <a:endParaRPr lang="en-US" sz="1200" dirty="0"/>
          </a:p>
        </p:txBody>
      </p:sp>
      <p:sp>
        <p:nvSpPr>
          <p:cNvPr id="8" name="Esplicitare vincoli e obiettivi in conflitto"/>
          <p:cNvSpPr/>
          <p:nvPr/>
        </p:nvSpPr>
        <p:spPr>
          <a:xfrm>
            <a:off x="457200" y="1618488"/>
            <a:ext cx="4206240" cy="493776"/>
          </a:xfrm>
          <a:prstGeom prst="roundRect">
            <a:avLst>
              <a:gd name="adj" fmla="val 14815"/>
            </a:avLst>
          </a:prstGeom>
          <a:solidFill>
            <a:schemeClr val="bg1"/>
          </a:solidFill>
          <a:ln/>
        </p:spPr>
      </p:sp>
      <p:sp>
        <p:nvSpPr>
          <p:cNvPr id="9" name="cerchio FiShuffle"/>
          <p:cNvSpPr/>
          <p:nvPr/>
        </p:nvSpPr>
        <p:spPr>
          <a:xfrm>
            <a:off x="548640" y="1673352"/>
            <a:ext cx="384048" cy="384048"/>
          </a:xfrm>
          <a:prstGeom prst="ellipse">
            <a:avLst/>
          </a:prstGeom>
          <a:solidFill>
            <a:schemeClr val="accent1"/>
          </a:solidFill>
          <a:ln/>
        </p:spPr>
      </p:sp>
      <p:pic>
        <p:nvPicPr>
          <p:cNvPr id="10" name="Image 1" descr="FiShuffle">    </p:cNvPr>
          <p:cNvPicPr>
            <a:picLocks noChangeAspect="1"/>
          </p:cNvPicPr>
          <p:nvPr/>
        </p:nvPicPr>
        <p:blipFill>
          <a:blip r:embed="rId2"/>
          <a:stretch>
            <a:fillRect/>
          </a:stretch>
        </p:blipFill>
        <p:spPr>
          <a:xfrm>
            <a:off x="644652" y="1769364"/>
            <a:ext cx="192024" cy="192024"/>
          </a:xfrm>
          <a:prstGeom prst="rect">
            <a:avLst/>
          </a:prstGeom>
        </p:spPr>
      </p:pic>
      <p:sp>
        <p:nvSpPr>
          <p:cNvPr id="11" name="Text 6"/>
          <p:cNvSpPr txBox="1"/>
          <p:nvPr/>
        </p:nvSpPr>
        <p:spPr>
          <a:xfrm>
            <a:off x="1051560" y="1618488"/>
            <a:ext cx="3566160" cy="493776"/>
          </a:xfrm>
          <a:prstGeom prst="rect">
            <a:avLst/>
          </a:prstGeom>
          <a:noFill/>
          <a:ln/>
        </p:spPr>
        <p:txBody>
          <a:bodyPr wrap="square" lIns="0" tIns="0" rIns="0" bIns="0" rtlCol="0" anchor="ctr"/>
          <a:lstStyle/>
          <a:p>
            <a:pPr indent="0" marL="0">
              <a:buNone/>
            </a:pPr>
            <a:r>
              <a:rPr lang="en-US" sz="1200" dirty="0">
                <a:solidFill>
                  <a:schemeClr val="tx1"/>
                </a:solidFill>
              </a:rPr>
              <a:t>Esplicitare vincoli e obiettivi in conflitto</a:t>
            </a:r>
            <a:endParaRPr lang="en-US" sz="1200" dirty="0"/>
          </a:p>
        </p:txBody>
      </p:sp>
      <p:sp>
        <p:nvSpPr>
          <p:cNvPr id="12" name="Generare alternative da confrontare"/>
          <p:cNvSpPr/>
          <p:nvPr/>
        </p:nvSpPr>
        <p:spPr>
          <a:xfrm>
            <a:off x="457200" y="2185416"/>
            <a:ext cx="4206240" cy="493776"/>
          </a:xfrm>
          <a:prstGeom prst="roundRect">
            <a:avLst>
              <a:gd name="adj" fmla="val 14815"/>
            </a:avLst>
          </a:prstGeom>
          <a:solidFill>
            <a:schemeClr val="bg2"/>
          </a:solidFill>
          <a:ln/>
        </p:spPr>
      </p:sp>
      <p:sp>
        <p:nvSpPr>
          <p:cNvPr id="13" name="cerchio FiLayers"/>
          <p:cNvSpPr/>
          <p:nvPr/>
        </p:nvSpPr>
        <p:spPr>
          <a:xfrm>
            <a:off x="548640" y="2240280"/>
            <a:ext cx="384048" cy="384048"/>
          </a:xfrm>
          <a:prstGeom prst="ellipse">
            <a:avLst/>
          </a:prstGeom>
          <a:solidFill>
            <a:schemeClr val="accent1"/>
          </a:solidFill>
          <a:ln/>
        </p:spPr>
      </p:sp>
      <p:pic>
        <p:nvPicPr>
          <p:cNvPr id="14" name="Image 2" descr="FiLayers">    </p:cNvPr>
          <p:cNvPicPr>
            <a:picLocks noChangeAspect="1"/>
          </p:cNvPicPr>
          <p:nvPr/>
        </p:nvPicPr>
        <p:blipFill>
          <a:blip r:embed="rId3"/>
          <a:stretch>
            <a:fillRect/>
          </a:stretch>
        </p:blipFill>
        <p:spPr>
          <a:xfrm>
            <a:off x="644652" y="2336292"/>
            <a:ext cx="192024" cy="192024"/>
          </a:xfrm>
          <a:prstGeom prst="rect">
            <a:avLst/>
          </a:prstGeom>
        </p:spPr>
      </p:pic>
      <p:sp>
        <p:nvSpPr>
          <p:cNvPr id="15" name="Text 9"/>
          <p:cNvSpPr txBox="1"/>
          <p:nvPr/>
        </p:nvSpPr>
        <p:spPr>
          <a:xfrm>
            <a:off x="1051560" y="2185416"/>
            <a:ext cx="3566160" cy="493776"/>
          </a:xfrm>
          <a:prstGeom prst="rect">
            <a:avLst/>
          </a:prstGeom>
          <a:noFill/>
          <a:ln/>
        </p:spPr>
        <p:txBody>
          <a:bodyPr wrap="square" lIns="0" tIns="0" rIns="0" bIns="0" rtlCol="0" anchor="ctr"/>
          <a:lstStyle/>
          <a:p>
            <a:pPr indent="0" marL="0">
              <a:buNone/>
            </a:pPr>
            <a:r>
              <a:rPr lang="en-US" sz="1200" dirty="0">
                <a:solidFill>
                  <a:schemeClr val="tx1"/>
                </a:solidFill>
              </a:rPr>
              <a:t>Generare alternative da confrontare</a:t>
            </a:r>
            <a:endParaRPr lang="en-US" sz="1200" dirty="0"/>
          </a:p>
        </p:txBody>
      </p:sp>
      <p:sp>
        <p:nvSpPr>
          <p:cNvPr id="16" name="Individuare le informazioni mancanti"/>
          <p:cNvSpPr/>
          <p:nvPr/>
        </p:nvSpPr>
        <p:spPr>
          <a:xfrm>
            <a:off x="457200" y="2752344"/>
            <a:ext cx="4206240" cy="493776"/>
          </a:xfrm>
          <a:prstGeom prst="roundRect">
            <a:avLst>
              <a:gd name="adj" fmla="val 14815"/>
            </a:avLst>
          </a:prstGeom>
          <a:solidFill>
            <a:schemeClr val="bg1"/>
          </a:solidFill>
          <a:ln/>
        </p:spPr>
      </p:sp>
      <p:sp>
        <p:nvSpPr>
          <p:cNvPr id="17" name="cerchio FiDatabase"/>
          <p:cNvSpPr/>
          <p:nvPr/>
        </p:nvSpPr>
        <p:spPr>
          <a:xfrm>
            <a:off x="548640" y="2807208"/>
            <a:ext cx="384048" cy="384048"/>
          </a:xfrm>
          <a:prstGeom prst="ellipse">
            <a:avLst/>
          </a:prstGeom>
          <a:solidFill>
            <a:schemeClr val="accent1"/>
          </a:solidFill>
          <a:ln/>
        </p:spPr>
      </p:sp>
      <p:pic>
        <p:nvPicPr>
          <p:cNvPr id="18" name="Image 3" descr="FiDatabase">    </p:cNvPr>
          <p:cNvPicPr>
            <a:picLocks noChangeAspect="1"/>
          </p:cNvPicPr>
          <p:nvPr/>
        </p:nvPicPr>
        <p:blipFill>
          <a:blip r:embed="rId4"/>
          <a:stretch>
            <a:fillRect/>
          </a:stretch>
        </p:blipFill>
        <p:spPr>
          <a:xfrm>
            <a:off x="644652" y="2903220"/>
            <a:ext cx="192024" cy="192024"/>
          </a:xfrm>
          <a:prstGeom prst="rect">
            <a:avLst/>
          </a:prstGeom>
        </p:spPr>
      </p:pic>
      <p:sp>
        <p:nvSpPr>
          <p:cNvPr id="19" name="Text 12"/>
          <p:cNvSpPr txBox="1"/>
          <p:nvPr/>
        </p:nvSpPr>
        <p:spPr>
          <a:xfrm>
            <a:off x="1051560" y="2752344"/>
            <a:ext cx="3566160" cy="493776"/>
          </a:xfrm>
          <a:prstGeom prst="rect">
            <a:avLst/>
          </a:prstGeom>
          <a:noFill/>
          <a:ln/>
        </p:spPr>
        <p:txBody>
          <a:bodyPr wrap="square" lIns="0" tIns="0" rIns="0" bIns="0" rtlCol="0" anchor="ctr"/>
          <a:lstStyle/>
          <a:p>
            <a:pPr indent="0" marL="0">
              <a:buNone/>
            </a:pPr>
            <a:r>
              <a:rPr lang="en-US" sz="1200" dirty="0">
                <a:solidFill>
                  <a:schemeClr val="tx1"/>
                </a:solidFill>
              </a:rPr>
              <a:t>Individuare le informazioni mancanti</a:t>
            </a:r>
            <a:endParaRPr lang="en-US" sz="1200" dirty="0"/>
          </a:p>
        </p:txBody>
      </p:sp>
      <p:sp>
        <p:nvSpPr>
          <p:cNvPr id="20" name="Distinguere sintomi e problema"/>
          <p:cNvSpPr/>
          <p:nvPr/>
        </p:nvSpPr>
        <p:spPr>
          <a:xfrm>
            <a:off x="457200" y="3319272"/>
            <a:ext cx="4206240" cy="493776"/>
          </a:xfrm>
          <a:prstGeom prst="roundRect">
            <a:avLst>
              <a:gd name="adj" fmla="val 14815"/>
            </a:avLst>
          </a:prstGeom>
          <a:solidFill>
            <a:schemeClr val="bg2"/>
          </a:solidFill>
          <a:ln/>
        </p:spPr>
      </p:sp>
      <p:sp>
        <p:nvSpPr>
          <p:cNvPr id="21" name="cerchio FiFilter"/>
          <p:cNvSpPr/>
          <p:nvPr/>
        </p:nvSpPr>
        <p:spPr>
          <a:xfrm>
            <a:off x="548640" y="3374136"/>
            <a:ext cx="384048" cy="384048"/>
          </a:xfrm>
          <a:prstGeom prst="ellipse">
            <a:avLst/>
          </a:prstGeom>
          <a:solidFill>
            <a:schemeClr val="accent1"/>
          </a:solidFill>
          <a:ln/>
        </p:spPr>
      </p:sp>
      <p:pic>
        <p:nvPicPr>
          <p:cNvPr id="22" name="Image 4" descr="FiFilter">    </p:cNvPr>
          <p:cNvPicPr>
            <a:picLocks noChangeAspect="1"/>
          </p:cNvPicPr>
          <p:nvPr/>
        </p:nvPicPr>
        <p:blipFill>
          <a:blip r:embed="rId5"/>
          <a:stretch>
            <a:fillRect/>
          </a:stretch>
        </p:blipFill>
        <p:spPr>
          <a:xfrm>
            <a:off x="644652" y="3470148"/>
            <a:ext cx="192024" cy="192024"/>
          </a:xfrm>
          <a:prstGeom prst="rect">
            <a:avLst/>
          </a:prstGeom>
        </p:spPr>
      </p:pic>
      <p:sp>
        <p:nvSpPr>
          <p:cNvPr id="23" name="Text 15"/>
          <p:cNvSpPr txBox="1"/>
          <p:nvPr/>
        </p:nvSpPr>
        <p:spPr>
          <a:xfrm>
            <a:off x="1051560" y="3319272"/>
            <a:ext cx="3566160" cy="493776"/>
          </a:xfrm>
          <a:prstGeom prst="rect">
            <a:avLst/>
          </a:prstGeom>
          <a:noFill/>
          <a:ln/>
        </p:spPr>
        <p:txBody>
          <a:bodyPr wrap="square" lIns="0" tIns="0" rIns="0" bIns="0" rtlCol="0" anchor="ctr"/>
          <a:lstStyle/>
          <a:p>
            <a:pPr indent="0" marL="0">
              <a:buNone/>
            </a:pPr>
            <a:r>
              <a:rPr lang="en-US" sz="1200" dirty="0">
                <a:solidFill>
                  <a:schemeClr val="tx1"/>
                </a:solidFill>
              </a:rPr>
              <a:t>Distinguere sintomi e problema</a:t>
            </a:r>
            <a:endParaRPr lang="en-US" sz="1200" dirty="0"/>
          </a:p>
        </p:txBody>
      </p:sp>
      <p:sp>
        <p:nvSpPr>
          <p:cNvPr id="24" name="scheda Esempio"/>
          <p:cNvSpPr/>
          <p:nvPr/>
        </p:nvSpPr>
        <p:spPr>
          <a:xfrm>
            <a:off x="4937760" y="1051560"/>
            <a:ext cx="3749040" cy="1828800"/>
          </a:xfrm>
          <a:prstGeom prst="roundRect">
            <a:avLst>
              <a:gd name="adj" fmla="val 4000"/>
            </a:avLst>
          </a:prstGeom>
          <a:solidFill>
            <a:schemeClr val="accent6"/>
          </a:solidFill>
          <a:ln/>
        </p:spPr>
      </p:sp>
      <p:sp>
        <p:nvSpPr>
          <p:cNvPr id="25" name="Text 17"/>
          <p:cNvSpPr txBox="1"/>
          <p:nvPr/>
        </p:nvSpPr>
        <p:spPr>
          <a:xfrm>
            <a:off x="5120640" y="1234440"/>
            <a:ext cx="3383280" cy="347472"/>
          </a:xfrm>
          <a:prstGeom prst="rect">
            <a:avLst/>
          </a:prstGeom>
          <a:noFill/>
          <a:ln/>
        </p:spPr>
        <p:txBody>
          <a:bodyPr wrap="square" lIns="0" tIns="0" rIns="0" bIns="0" rtlCol="0" anchor="t"/>
          <a:lstStyle/>
          <a:p>
            <a:pPr indent="0" marL="0">
              <a:buNone/>
            </a:pPr>
            <a:r>
              <a:rPr lang="en-US" sz="1400" b="1" dirty="0">
                <a:solidFill>
                  <a:schemeClr val="tx1"/>
                </a:solidFill>
              </a:rPr>
              <a:t>Esempio</a:t>
            </a:r>
            <a:endParaRPr lang="en-US" sz="1400" dirty="0"/>
          </a:p>
        </p:txBody>
      </p:sp>
      <p:sp>
        <p:nvSpPr>
          <p:cNvPr id="26" name="Text 18"/>
          <p:cNvSpPr txBox="1"/>
          <p:nvPr/>
        </p:nvSpPr>
        <p:spPr>
          <a:xfrm>
            <a:off x="5120640" y="1618488"/>
            <a:ext cx="3383280" cy="1152144"/>
          </a:xfrm>
          <a:prstGeom prst="rect">
            <a:avLst/>
          </a:prstGeom>
          <a:noFill/>
          <a:ln/>
        </p:spPr>
        <p:txBody>
          <a:bodyPr wrap="square" lIns="0" tIns="0" rIns="0" bIns="0" rtlCol="0" anchor="t"/>
          <a:lstStyle/>
          <a:p>
            <a:pPr indent="0" marL="0">
              <a:buNone/>
            </a:pPr>
            <a:r>
              <a:rPr lang="en-US" sz="1200" b="1" dirty="0">
                <a:solidFill>
                  <a:schemeClr val="tx2"/>
                </a:solidFill>
              </a:rPr>
              <a:t>Invece di: </a:t>
            </a:r>
            <a:pPr indent="0" marL="0">
              <a:spcAft>
                <a:spcPts val="600"/>
              </a:spcAft>
              <a:buNone/>
            </a:pPr>
            <a:r>
              <a:rPr lang="en-US" sz="1200" i="1" dirty="0">
                <a:solidFill>
                  <a:schemeClr val="tx2"/>
                </a:solidFill>
              </a:rPr>
              <a:t>"Come riduco i reclami dei clienti?"</a:t>
            </a:r>
            <a:endParaRPr lang="en-US" sz="1200" dirty="0"/>
          </a:p>
          <a:p>
            <a:pPr indent="0" marL="0">
              <a:buNone/>
            </a:pPr>
            <a:r>
              <a:rPr lang="en-US" sz="1200" b="1" dirty="0">
                <a:solidFill>
                  <a:schemeClr val="accent1"/>
                </a:solidFill>
              </a:rPr>
              <a:t>Prima: </a:t>
            </a:r>
            <a:pPr indent="0" marL="0">
              <a:buNone/>
            </a:pPr>
            <a:r>
              <a:rPr lang="en-US" sz="1200" i="1" dirty="0">
                <a:solidFill>
                  <a:schemeClr val="tx2"/>
                </a:solidFill>
              </a:rPr>
              <a:t>"Aiutami a capire quali problemi potrebbero esserci dietro l'aumento dei reclami e quali dati mi servirebbero per distinguerli."</a:t>
            </a:r>
            <a:endParaRPr lang="en-US" sz="1200" dirty="0"/>
          </a:p>
        </p:txBody>
      </p:sp>
      <p:sp>
        <p:nvSpPr>
          <p:cNvPr id="27" name="Il beneficio"/>
          <p:cNvSpPr/>
          <p:nvPr/>
        </p:nvSpPr>
        <p:spPr>
          <a:xfrm>
            <a:off x="4937760" y="3017520"/>
            <a:ext cx="3749040" cy="795528"/>
          </a:xfrm>
          <a:prstGeom prst="roundRect">
            <a:avLst>
              <a:gd name="adj" fmla="val 9195"/>
            </a:avLst>
          </a:prstGeom>
          <a:solidFill>
            <a:schemeClr val="bg2"/>
          </a:solidFill>
          <a:ln/>
        </p:spPr>
      </p:sp>
      <p:sp>
        <p:nvSpPr>
          <p:cNvPr id="28" name="cerchio FiTarget"/>
          <p:cNvSpPr/>
          <p:nvPr/>
        </p:nvSpPr>
        <p:spPr>
          <a:xfrm>
            <a:off x="5074920" y="3186684"/>
            <a:ext cx="457200" cy="457200"/>
          </a:xfrm>
          <a:prstGeom prst="ellipse">
            <a:avLst/>
          </a:prstGeom>
          <a:solidFill>
            <a:schemeClr val="accent1"/>
          </a:solidFill>
          <a:ln/>
        </p:spPr>
      </p:sp>
      <p:pic>
        <p:nvPicPr>
          <p:cNvPr id="29" name="Image 5" descr="FiTarget">    </p:cNvPr>
          <p:cNvPicPr>
            <a:picLocks noChangeAspect="1"/>
          </p:cNvPicPr>
          <p:nvPr/>
        </p:nvPicPr>
        <p:blipFill>
          <a:blip r:embed="rId6"/>
          <a:stretch>
            <a:fillRect/>
          </a:stretch>
        </p:blipFill>
        <p:spPr>
          <a:xfrm>
            <a:off x="5189220" y="3300984"/>
            <a:ext cx="228600" cy="228600"/>
          </a:xfrm>
          <a:prstGeom prst="rect">
            <a:avLst/>
          </a:prstGeom>
        </p:spPr>
      </p:pic>
      <p:sp>
        <p:nvSpPr>
          <p:cNvPr id="30" name="Text 21"/>
          <p:cNvSpPr txBox="1"/>
          <p:nvPr/>
        </p:nvSpPr>
        <p:spPr>
          <a:xfrm>
            <a:off x="5669280" y="3108960"/>
            <a:ext cx="2880360" cy="310896"/>
          </a:xfrm>
          <a:prstGeom prst="rect">
            <a:avLst/>
          </a:prstGeom>
          <a:noFill/>
          <a:ln/>
        </p:spPr>
        <p:txBody>
          <a:bodyPr wrap="square" lIns="0" tIns="0" rIns="0" bIns="0" rtlCol="0" anchor="ctr"/>
          <a:lstStyle/>
          <a:p>
            <a:pPr indent="0" marL="0">
              <a:buNone/>
            </a:pPr>
            <a:r>
              <a:rPr lang="en-US" sz="1300" b="1" dirty="0">
                <a:solidFill>
                  <a:schemeClr val="tx1"/>
                </a:solidFill>
              </a:rPr>
              <a:t>Il beneficio</a:t>
            </a:r>
            <a:endParaRPr lang="en-US" sz="1300" dirty="0"/>
          </a:p>
        </p:txBody>
      </p:sp>
      <p:sp>
        <p:nvSpPr>
          <p:cNvPr id="31" name="Text 22"/>
          <p:cNvSpPr txBox="1"/>
          <p:nvPr/>
        </p:nvSpPr>
        <p:spPr>
          <a:xfrm>
            <a:off x="5669280" y="3419856"/>
            <a:ext cx="2880360" cy="320040"/>
          </a:xfrm>
          <a:prstGeom prst="rect">
            <a:avLst/>
          </a:prstGeom>
          <a:noFill/>
          <a:ln/>
        </p:spPr>
        <p:txBody>
          <a:bodyPr wrap="square" lIns="0" tIns="0" rIns="0" bIns="0" rtlCol="0" anchor="t"/>
          <a:lstStyle/>
          <a:p>
            <a:pPr indent="0" marL="0">
              <a:buNone/>
            </a:pPr>
            <a:r>
              <a:rPr lang="en-US" sz="1100" dirty="0">
                <a:solidFill>
                  <a:schemeClr val="tx2"/>
                </a:solidFill>
              </a:rPr>
              <a:t>Lavorare sul problema giusto, con le domande e i dati giusti.</a:t>
            </a:r>
            <a:endParaRPr lang="en-US" sz="1100" dirty="0"/>
          </a:p>
        </p:txBody>
      </p:sp>
      <p:sp>
        <p:nvSpPr>
          <p:cNvPr id="32" name="Text 23"/>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300" i="1" dirty="0">
                <a:solidFill>
                  <a:schemeClr val="tx1"/>
                </a:solidFill>
              </a:rPr>
              <a:t>La conversazione come strumento per pensare meglio, non solo per ottenere risposte.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 diversi ruoli che l'AI può assumere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Scegliere il ruolo giusto moltiplica il valore dell'AI; assegnare un ruolo orienta le risposte, ma non crea competenze nuove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Sette ruoli possibili</a:t>
            </a:r>
            <a:endParaRPr lang="en-US" sz="2600" dirty="0"/>
          </a:p>
        </p:txBody>
      </p:sp>
      <p:sp>
        <p:nvSpPr>
          <p:cNvPr id="4" name="Fonte di informazioni"/>
          <p:cNvSpPr/>
          <p:nvPr/>
        </p:nvSpPr>
        <p:spPr>
          <a:xfrm>
            <a:off x="457200" y="1097280"/>
            <a:ext cx="1965960" cy="1371600"/>
          </a:xfrm>
          <a:prstGeom prst="roundRect">
            <a:avLst>
              <a:gd name="adj" fmla="val 5333"/>
            </a:avLst>
          </a:prstGeom>
          <a:solidFill>
            <a:schemeClr val="bg2"/>
          </a:solidFill>
          <a:ln/>
        </p:spPr>
      </p:sp>
      <p:sp>
        <p:nvSpPr>
          <p:cNvPr id="5" name="cerchio FiBookOpen"/>
          <p:cNvSpPr/>
          <p:nvPr/>
        </p:nvSpPr>
        <p:spPr>
          <a:xfrm>
            <a:off x="1170432" y="1261872"/>
            <a:ext cx="548640" cy="548640"/>
          </a:xfrm>
          <a:prstGeom prst="ellipse">
            <a:avLst/>
          </a:prstGeom>
          <a:solidFill>
            <a:schemeClr val="accent1"/>
          </a:solidFill>
          <a:ln/>
        </p:spPr>
      </p:sp>
      <p:pic>
        <p:nvPicPr>
          <p:cNvPr id="6" name="Image 0" descr="FiBookOpen">    </p:cNvPr>
          <p:cNvPicPr>
            <a:picLocks noChangeAspect="1"/>
          </p:cNvPicPr>
          <p:nvPr/>
        </p:nvPicPr>
        <p:blipFill>
          <a:blip r:embed="rId1"/>
          <a:stretch>
            <a:fillRect/>
          </a:stretch>
        </p:blipFill>
        <p:spPr>
          <a:xfrm>
            <a:off x="1307592" y="1399032"/>
            <a:ext cx="274320" cy="274320"/>
          </a:xfrm>
          <a:prstGeom prst="rect">
            <a:avLst/>
          </a:prstGeom>
        </p:spPr>
      </p:pic>
      <p:sp>
        <p:nvSpPr>
          <p:cNvPr id="7" name="Text 3"/>
          <p:cNvSpPr txBox="1"/>
          <p:nvPr/>
        </p:nvSpPr>
        <p:spPr>
          <a:xfrm>
            <a:off x="548640" y="190195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Fonte di informazioni</a:t>
            </a:r>
            <a:endParaRPr lang="en-US" sz="1400" dirty="0"/>
          </a:p>
        </p:txBody>
      </p:sp>
      <p:sp>
        <p:nvSpPr>
          <p:cNvPr id="8" name="Assistente operativo"/>
          <p:cNvSpPr/>
          <p:nvPr/>
        </p:nvSpPr>
        <p:spPr>
          <a:xfrm>
            <a:off x="2560320" y="1097280"/>
            <a:ext cx="1965960" cy="1371600"/>
          </a:xfrm>
          <a:prstGeom prst="roundRect">
            <a:avLst>
              <a:gd name="adj" fmla="val 5333"/>
            </a:avLst>
          </a:prstGeom>
          <a:solidFill>
            <a:schemeClr val="bg2"/>
          </a:solidFill>
          <a:ln/>
        </p:spPr>
      </p:sp>
      <p:sp>
        <p:nvSpPr>
          <p:cNvPr id="9" name="cerchio FiBriefcase"/>
          <p:cNvSpPr/>
          <p:nvPr/>
        </p:nvSpPr>
        <p:spPr>
          <a:xfrm>
            <a:off x="3273552" y="1261872"/>
            <a:ext cx="548640" cy="548640"/>
          </a:xfrm>
          <a:prstGeom prst="ellipse">
            <a:avLst/>
          </a:prstGeom>
          <a:solidFill>
            <a:schemeClr val="accent1"/>
          </a:solidFill>
          <a:ln/>
        </p:spPr>
      </p:sp>
      <p:pic>
        <p:nvPicPr>
          <p:cNvPr id="10" name="Image 1" descr="FiBriefcase">    </p:cNvPr>
          <p:cNvPicPr>
            <a:picLocks noChangeAspect="1"/>
          </p:cNvPicPr>
          <p:nvPr/>
        </p:nvPicPr>
        <p:blipFill>
          <a:blip r:embed="rId2"/>
          <a:stretch>
            <a:fillRect/>
          </a:stretch>
        </p:blipFill>
        <p:spPr>
          <a:xfrm>
            <a:off x="3410712" y="1399032"/>
            <a:ext cx="274320" cy="274320"/>
          </a:xfrm>
          <a:prstGeom prst="rect">
            <a:avLst/>
          </a:prstGeom>
        </p:spPr>
      </p:pic>
      <p:sp>
        <p:nvSpPr>
          <p:cNvPr id="11" name="Text 6"/>
          <p:cNvSpPr txBox="1"/>
          <p:nvPr/>
        </p:nvSpPr>
        <p:spPr>
          <a:xfrm>
            <a:off x="2651760" y="190195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Assistente operativo</a:t>
            </a:r>
            <a:endParaRPr lang="en-US" sz="1400" dirty="0"/>
          </a:p>
        </p:txBody>
      </p:sp>
      <p:sp>
        <p:nvSpPr>
          <p:cNvPr id="12" name="Supporto creativo"/>
          <p:cNvSpPr/>
          <p:nvPr/>
        </p:nvSpPr>
        <p:spPr>
          <a:xfrm>
            <a:off x="4663440" y="1097280"/>
            <a:ext cx="1965960" cy="1371600"/>
          </a:xfrm>
          <a:prstGeom prst="roundRect">
            <a:avLst>
              <a:gd name="adj" fmla="val 5333"/>
            </a:avLst>
          </a:prstGeom>
          <a:solidFill>
            <a:schemeClr val="bg2"/>
          </a:solidFill>
          <a:ln/>
        </p:spPr>
      </p:sp>
      <p:sp>
        <p:nvSpPr>
          <p:cNvPr id="13" name="cerchio FiZap"/>
          <p:cNvSpPr/>
          <p:nvPr/>
        </p:nvSpPr>
        <p:spPr>
          <a:xfrm>
            <a:off x="5376672" y="1261872"/>
            <a:ext cx="548640" cy="548640"/>
          </a:xfrm>
          <a:prstGeom prst="ellipse">
            <a:avLst/>
          </a:prstGeom>
          <a:solidFill>
            <a:schemeClr val="accent1"/>
          </a:solidFill>
          <a:ln/>
        </p:spPr>
      </p:sp>
      <p:pic>
        <p:nvPicPr>
          <p:cNvPr id="14" name="Image 2" descr="FiZap">    </p:cNvPr>
          <p:cNvPicPr>
            <a:picLocks noChangeAspect="1"/>
          </p:cNvPicPr>
          <p:nvPr/>
        </p:nvPicPr>
        <p:blipFill>
          <a:blip r:embed="rId3"/>
          <a:stretch>
            <a:fillRect/>
          </a:stretch>
        </p:blipFill>
        <p:spPr>
          <a:xfrm>
            <a:off x="5513832" y="1399032"/>
            <a:ext cx="274320" cy="274320"/>
          </a:xfrm>
          <a:prstGeom prst="rect">
            <a:avLst/>
          </a:prstGeom>
        </p:spPr>
      </p:pic>
      <p:sp>
        <p:nvSpPr>
          <p:cNvPr id="15" name="Text 9"/>
          <p:cNvSpPr txBox="1"/>
          <p:nvPr/>
        </p:nvSpPr>
        <p:spPr>
          <a:xfrm>
            <a:off x="4754880" y="190195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Supporto creativo</a:t>
            </a:r>
            <a:endParaRPr lang="en-US" sz="1400" dirty="0"/>
          </a:p>
        </p:txBody>
      </p:sp>
      <p:sp>
        <p:nvSpPr>
          <p:cNvPr id="16" name="Analista"/>
          <p:cNvSpPr/>
          <p:nvPr/>
        </p:nvSpPr>
        <p:spPr>
          <a:xfrm>
            <a:off x="6766560" y="1097280"/>
            <a:ext cx="1965960" cy="1371600"/>
          </a:xfrm>
          <a:prstGeom prst="roundRect">
            <a:avLst>
              <a:gd name="adj" fmla="val 5333"/>
            </a:avLst>
          </a:prstGeom>
          <a:solidFill>
            <a:schemeClr val="bg2"/>
          </a:solidFill>
          <a:ln/>
        </p:spPr>
      </p:sp>
      <p:sp>
        <p:nvSpPr>
          <p:cNvPr id="17" name="cerchio FiBarChart2"/>
          <p:cNvSpPr/>
          <p:nvPr/>
        </p:nvSpPr>
        <p:spPr>
          <a:xfrm>
            <a:off x="7479792" y="1261872"/>
            <a:ext cx="548640" cy="548640"/>
          </a:xfrm>
          <a:prstGeom prst="ellipse">
            <a:avLst/>
          </a:prstGeom>
          <a:solidFill>
            <a:schemeClr val="accent1"/>
          </a:solidFill>
          <a:ln/>
        </p:spPr>
      </p:sp>
      <p:pic>
        <p:nvPicPr>
          <p:cNvPr id="18" name="Image 3" descr="FiBarChart2">    </p:cNvPr>
          <p:cNvPicPr>
            <a:picLocks noChangeAspect="1"/>
          </p:cNvPicPr>
          <p:nvPr/>
        </p:nvPicPr>
        <p:blipFill>
          <a:blip r:embed="rId4"/>
          <a:stretch>
            <a:fillRect/>
          </a:stretch>
        </p:blipFill>
        <p:spPr>
          <a:xfrm>
            <a:off x="7616952" y="1399032"/>
            <a:ext cx="274320" cy="274320"/>
          </a:xfrm>
          <a:prstGeom prst="rect">
            <a:avLst/>
          </a:prstGeom>
        </p:spPr>
      </p:pic>
      <p:sp>
        <p:nvSpPr>
          <p:cNvPr id="19" name="Text 12"/>
          <p:cNvSpPr txBox="1"/>
          <p:nvPr/>
        </p:nvSpPr>
        <p:spPr>
          <a:xfrm>
            <a:off x="6858000" y="190195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Analista</a:t>
            </a:r>
            <a:endParaRPr lang="en-US" sz="1400" dirty="0"/>
          </a:p>
        </p:txBody>
      </p:sp>
      <p:sp>
        <p:nvSpPr>
          <p:cNvPr id="20" name="Revisore"/>
          <p:cNvSpPr/>
          <p:nvPr/>
        </p:nvSpPr>
        <p:spPr>
          <a:xfrm>
            <a:off x="1508760" y="2651760"/>
            <a:ext cx="1965960" cy="1371600"/>
          </a:xfrm>
          <a:prstGeom prst="roundRect">
            <a:avLst>
              <a:gd name="adj" fmla="val 5333"/>
            </a:avLst>
          </a:prstGeom>
          <a:solidFill>
            <a:schemeClr val="bg2"/>
          </a:solidFill>
          <a:ln/>
        </p:spPr>
      </p:sp>
      <p:sp>
        <p:nvSpPr>
          <p:cNvPr id="21" name="cerchio FiCheckSquare"/>
          <p:cNvSpPr/>
          <p:nvPr/>
        </p:nvSpPr>
        <p:spPr>
          <a:xfrm>
            <a:off x="2221992" y="2816352"/>
            <a:ext cx="548640" cy="548640"/>
          </a:xfrm>
          <a:prstGeom prst="ellipse">
            <a:avLst/>
          </a:prstGeom>
          <a:solidFill>
            <a:schemeClr val="accent1"/>
          </a:solidFill>
          <a:ln/>
        </p:spPr>
      </p:sp>
      <p:pic>
        <p:nvPicPr>
          <p:cNvPr id="22" name="Image 4" descr="FiCheckSquare">    </p:cNvPr>
          <p:cNvPicPr>
            <a:picLocks noChangeAspect="1"/>
          </p:cNvPicPr>
          <p:nvPr/>
        </p:nvPicPr>
        <p:blipFill>
          <a:blip r:embed="rId5"/>
          <a:stretch>
            <a:fillRect/>
          </a:stretch>
        </p:blipFill>
        <p:spPr>
          <a:xfrm>
            <a:off x="2359152" y="2953512"/>
            <a:ext cx="274320" cy="274320"/>
          </a:xfrm>
          <a:prstGeom prst="rect">
            <a:avLst/>
          </a:prstGeom>
        </p:spPr>
      </p:pic>
      <p:sp>
        <p:nvSpPr>
          <p:cNvPr id="23" name="Text 15"/>
          <p:cNvSpPr txBox="1"/>
          <p:nvPr/>
        </p:nvSpPr>
        <p:spPr>
          <a:xfrm>
            <a:off x="1600200" y="345643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Revisore</a:t>
            </a:r>
            <a:endParaRPr lang="en-US" sz="1400" dirty="0"/>
          </a:p>
        </p:txBody>
      </p:sp>
      <p:sp>
        <p:nvSpPr>
          <p:cNvPr id="24" name="Tutor"/>
          <p:cNvSpPr/>
          <p:nvPr/>
        </p:nvSpPr>
        <p:spPr>
          <a:xfrm>
            <a:off x="3611880" y="2651760"/>
            <a:ext cx="1965960" cy="1371600"/>
          </a:xfrm>
          <a:prstGeom prst="roundRect">
            <a:avLst>
              <a:gd name="adj" fmla="val 5333"/>
            </a:avLst>
          </a:prstGeom>
          <a:solidFill>
            <a:schemeClr val="bg2"/>
          </a:solidFill>
          <a:ln/>
        </p:spPr>
      </p:sp>
      <p:sp>
        <p:nvSpPr>
          <p:cNvPr id="25" name="cerchio FiAward"/>
          <p:cNvSpPr/>
          <p:nvPr/>
        </p:nvSpPr>
        <p:spPr>
          <a:xfrm>
            <a:off x="4325112" y="2816352"/>
            <a:ext cx="548640" cy="548640"/>
          </a:xfrm>
          <a:prstGeom prst="ellipse">
            <a:avLst/>
          </a:prstGeom>
          <a:solidFill>
            <a:schemeClr val="accent1"/>
          </a:solidFill>
          <a:ln/>
        </p:spPr>
      </p:sp>
      <p:pic>
        <p:nvPicPr>
          <p:cNvPr id="26" name="Image 5" descr="FiAward">    </p:cNvPr>
          <p:cNvPicPr>
            <a:picLocks noChangeAspect="1"/>
          </p:cNvPicPr>
          <p:nvPr/>
        </p:nvPicPr>
        <p:blipFill>
          <a:blip r:embed="rId6"/>
          <a:stretch>
            <a:fillRect/>
          </a:stretch>
        </p:blipFill>
        <p:spPr>
          <a:xfrm>
            <a:off x="4462272" y="2953512"/>
            <a:ext cx="274320" cy="274320"/>
          </a:xfrm>
          <a:prstGeom prst="rect">
            <a:avLst/>
          </a:prstGeom>
        </p:spPr>
      </p:pic>
      <p:sp>
        <p:nvSpPr>
          <p:cNvPr id="27" name="Text 18"/>
          <p:cNvSpPr txBox="1"/>
          <p:nvPr/>
        </p:nvSpPr>
        <p:spPr>
          <a:xfrm>
            <a:off x="3703320" y="3456432"/>
            <a:ext cx="1783080" cy="457200"/>
          </a:xfrm>
          <a:prstGeom prst="rect">
            <a:avLst/>
          </a:prstGeom>
          <a:noFill/>
          <a:ln/>
        </p:spPr>
        <p:txBody>
          <a:bodyPr wrap="square" lIns="0" tIns="0" rIns="0" bIns="0" rtlCol="0" anchor="ctr"/>
          <a:lstStyle/>
          <a:p>
            <a:pPr algn="ctr" indent="0" marL="0">
              <a:buNone/>
            </a:pPr>
            <a:r>
              <a:rPr lang="en-US" sz="1400" b="1" dirty="0">
                <a:solidFill>
                  <a:schemeClr val="tx1"/>
                </a:solidFill>
              </a:rPr>
              <a:t>Tutor</a:t>
            </a:r>
            <a:endParaRPr lang="en-US" sz="1400" dirty="0"/>
          </a:p>
        </p:txBody>
      </p:sp>
      <p:sp>
        <p:nvSpPr>
          <p:cNvPr id="28" name="Interlocutore critico"/>
          <p:cNvSpPr/>
          <p:nvPr/>
        </p:nvSpPr>
        <p:spPr>
          <a:xfrm>
            <a:off x="5715000" y="2651760"/>
            <a:ext cx="1965960" cy="1371600"/>
          </a:xfrm>
          <a:prstGeom prst="roundRect">
            <a:avLst>
              <a:gd name="adj" fmla="val 5333"/>
            </a:avLst>
          </a:prstGeom>
          <a:solidFill>
            <a:schemeClr val="accent1"/>
          </a:solidFill>
          <a:ln/>
        </p:spPr>
      </p:sp>
      <p:sp>
        <p:nvSpPr>
          <p:cNvPr id="29" name="cerchio FiMessageCircle"/>
          <p:cNvSpPr/>
          <p:nvPr/>
        </p:nvSpPr>
        <p:spPr>
          <a:xfrm>
            <a:off x="6428232" y="2816352"/>
            <a:ext cx="548640" cy="548640"/>
          </a:xfrm>
          <a:prstGeom prst="ellipse">
            <a:avLst/>
          </a:prstGeom>
          <a:solidFill>
            <a:schemeClr val="bg1"/>
          </a:solidFill>
          <a:ln/>
        </p:spPr>
      </p:sp>
      <p:pic>
        <p:nvPicPr>
          <p:cNvPr id="30" name="Image 6" descr="FiMessageCircle">    </p:cNvPr>
          <p:cNvPicPr>
            <a:picLocks noChangeAspect="1"/>
          </p:cNvPicPr>
          <p:nvPr/>
        </p:nvPicPr>
        <p:blipFill>
          <a:blip r:embed="rId7"/>
          <a:stretch>
            <a:fillRect/>
          </a:stretch>
        </p:blipFill>
        <p:spPr>
          <a:xfrm>
            <a:off x="6565392" y="2953512"/>
            <a:ext cx="274320" cy="274320"/>
          </a:xfrm>
          <a:prstGeom prst="rect">
            <a:avLst/>
          </a:prstGeom>
        </p:spPr>
      </p:pic>
      <p:sp>
        <p:nvSpPr>
          <p:cNvPr id="31" name="Text 21"/>
          <p:cNvSpPr txBox="1"/>
          <p:nvPr/>
        </p:nvSpPr>
        <p:spPr>
          <a:xfrm>
            <a:off x="5806440" y="3456432"/>
            <a:ext cx="1783080" cy="457200"/>
          </a:xfrm>
          <a:prstGeom prst="rect">
            <a:avLst/>
          </a:prstGeom>
          <a:noFill/>
          <a:ln/>
        </p:spPr>
        <p:txBody>
          <a:bodyPr wrap="square" lIns="0" tIns="0" rIns="0" bIns="0" rtlCol="0" anchor="ctr"/>
          <a:lstStyle/>
          <a:p>
            <a:pPr algn="ctr" indent="0" marL="0">
              <a:buNone/>
            </a:pPr>
            <a:r>
              <a:rPr lang="en-US" sz="1400" b="1" dirty="0">
                <a:solidFill>
                  <a:schemeClr val="bg1"/>
                </a:solidFill>
              </a:rPr>
              <a:t>Interlocutore critico</a:t>
            </a:r>
            <a:endParaRPr lang="en-US" sz="1400" dirty="0"/>
          </a:p>
        </p:txBody>
      </p:sp>
      <p:sp>
        <p:nvSpPr>
          <p:cNvPr id="32" name="Text 22"/>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200" i="1" dirty="0">
                <a:solidFill>
                  <a:schemeClr val="tx2"/>
                </a:solidFill>
              </a:rPr>
              <a:t>Molte interazioni combinano più ruoli: saper passare dall'uno all'altro è un'abilità.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Fonte, assistente operativo, supporto creativo</a:t>
            </a:r>
            <a:endParaRPr lang="en-US" sz="2600" dirty="0"/>
          </a:p>
        </p:txBody>
      </p:sp>
      <p:sp>
        <p:nvSpPr>
          <p:cNvPr id="4" name="scheda Fonte di informazioni"/>
          <p:cNvSpPr/>
          <p:nvPr/>
        </p:nvSpPr>
        <p:spPr>
          <a:xfrm>
            <a:off x="457200" y="1097280"/>
            <a:ext cx="2615184" cy="3429000"/>
          </a:xfrm>
          <a:prstGeom prst="roundRect">
            <a:avLst>
              <a:gd name="adj" fmla="val 2797"/>
            </a:avLst>
          </a:prstGeom>
          <a:solidFill>
            <a:schemeClr val="bg2"/>
          </a:solidFill>
          <a:ln/>
        </p:spPr>
      </p:sp>
      <p:sp>
        <p:nvSpPr>
          <p:cNvPr id="5" name="cerchio FiBookOpen"/>
          <p:cNvSpPr/>
          <p:nvPr/>
        </p:nvSpPr>
        <p:spPr>
          <a:xfrm>
            <a:off x="640080" y="1280160"/>
            <a:ext cx="457200" cy="457200"/>
          </a:xfrm>
          <a:prstGeom prst="ellipse">
            <a:avLst/>
          </a:prstGeom>
          <a:solidFill>
            <a:schemeClr val="accent1"/>
          </a:solidFill>
          <a:ln/>
        </p:spPr>
      </p:sp>
      <p:pic>
        <p:nvPicPr>
          <p:cNvPr id="6" name="Image 0" descr="FiBookOpen">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Fonte di informazioni</a:t>
            </a:r>
            <a:endParaRPr lang="en-US" sz="1500" dirty="0"/>
          </a:p>
        </p:txBody>
      </p:sp>
      <p:sp>
        <p:nvSpPr>
          <p:cNvPr id="8" name="Text 4"/>
          <p:cNvSpPr txBox="1"/>
          <p:nvPr/>
        </p:nvSpPr>
        <p:spPr>
          <a:xfrm>
            <a:off x="640080"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"Spiegami in termini semplici che cos'è il bilancio di sostenibilità."</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Orientarsi in pochi minuti su un tema nuovo</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Per dati e riferimenti precisi, fonti verificabili</a:t>
            </a:r>
            <a:endParaRPr lang="en-US" sz="1200" dirty="0"/>
          </a:p>
        </p:txBody>
      </p:sp>
      <p:sp>
        <p:nvSpPr>
          <p:cNvPr id="9" name="scheda Assistente operativo"/>
          <p:cNvSpPr/>
          <p:nvPr/>
        </p:nvSpPr>
        <p:spPr>
          <a:xfrm>
            <a:off x="3264408" y="1097280"/>
            <a:ext cx="2615184" cy="3429000"/>
          </a:xfrm>
          <a:prstGeom prst="roundRect">
            <a:avLst>
              <a:gd name="adj" fmla="val 2797"/>
            </a:avLst>
          </a:prstGeom>
          <a:solidFill>
            <a:schemeClr val="accent6"/>
          </a:solidFill>
          <a:ln/>
        </p:spPr>
      </p:sp>
      <p:sp>
        <p:nvSpPr>
          <p:cNvPr id="10" name="cerchio FiBriefcase"/>
          <p:cNvSpPr/>
          <p:nvPr/>
        </p:nvSpPr>
        <p:spPr>
          <a:xfrm>
            <a:off x="3447288" y="1280160"/>
            <a:ext cx="457200" cy="457200"/>
          </a:xfrm>
          <a:prstGeom prst="ellipse">
            <a:avLst/>
          </a:prstGeom>
          <a:solidFill>
            <a:schemeClr val="accent1"/>
          </a:solidFill>
          <a:ln/>
        </p:spPr>
      </p:sp>
      <p:pic>
        <p:nvPicPr>
          <p:cNvPr id="11" name="Image 1" descr="FiBriefcase">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Assistente operativo</a:t>
            </a:r>
            <a:endParaRPr lang="en-US" sz="1500" dirty="0"/>
          </a:p>
        </p:txBody>
      </p:sp>
      <p:sp>
        <p:nvSpPr>
          <p:cNvPr id="13" name="Text 8"/>
          <p:cNvSpPr txBox="1"/>
          <p:nvPr/>
        </p:nvSpPr>
        <p:spPr>
          <a:xfrm>
            <a:off x="3447288"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"Trasforma questi appunti in un verbale ordinato."</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Tempo recuperato sulle attività ripetitive</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È una bozza: rileggerla prima di condividerla</a:t>
            </a:r>
            <a:endParaRPr lang="en-US" sz="1200" dirty="0"/>
          </a:p>
        </p:txBody>
      </p:sp>
      <p:sp>
        <p:nvSpPr>
          <p:cNvPr id="14" name="scheda Supporto creativo"/>
          <p:cNvSpPr/>
          <p:nvPr/>
        </p:nvSpPr>
        <p:spPr>
          <a:xfrm>
            <a:off x="6071616" y="1097280"/>
            <a:ext cx="2615184" cy="3429000"/>
          </a:xfrm>
          <a:prstGeom prst="roundRect">
            <a:avLst>
              <a:gd name="adj" fmla="val 2797"/>
            </a:avLst>
          </a:prstGeom>
          <a:solidFill>
            <a:schemeClr val="bg2"/>
          </a:solidFill>
          <a:ln/>
        </p:spPr>
      </p:sp>
      <p:sp>
        <p:nvSpPr>
          <p:cNvPr id="15" name="cerchio FiZap"/>
          <p:cNvSpPr/>
          <p:nvPr/>
        </p:nvSpPr>
        <p:spPr>
          <a:xfrm>
            <a:off x="6254496" y="1280160"/>
            <a:ext cx="457200" cy="457200"/>
          </a:xfrm>
          <a:prstGeom prst="ellipse">
            <a:avLst/>
          </a:prstGeom>
          <a:solidFill>
            <a:schemeClr val="accent1"/>
          </a:solidFill>
          <a:ln/>
        </p:spPr>
      </p:sp>
      <p:pic>
        <p:nvPicPr>
          <p:cNvPr id="16" name="Image 2" descr="FiZap">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Supporto creativo</a:t>
            </a:r>
            <a:endParaRPr lang="en-US" sz="1500" dirty="0"/>
          </a:p>
        </p:txBody>
      </p:sp>
      <p:sp>
        <p:nvSpPr>
          <p:cNvPr id="18" name="Text 12"/>
          <p:cNvSpPr txBox="1"/>
          <p:nvPr/>
        </p:nvSpPr>
        <p:spPr>
          <a:xfrm>
            <a:off x="6254496"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"Proponi dieci idee per un evento interno con budget contenuto."</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Molte alternative da cui partire, in poco tempo</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Selezionare e sviluppare le idee migliori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Analista, revisore, tutor</a:t>
            </a:r>
            <a:endParaRPr lang="en-US" sz="2600" dirty="0"/>
          </a:p>
        </p:txBody>
      </p:sp>
      <p:sp>
        <p:nvSpPr>
          <p:cNvPr id="4" name="scheda Analista"/>
          <p:cNvSpPr/>
          <p:nvPr/>
        </p:nvSpPr>
        <p:spPr>
          <a:xfrm>
            <a:off x="457200" y="1097280"/>
            <a:ext cx="2615184" cy="3429000"/>
          </a:xfrm>
          <a:prstGeom prst="roundRect">
            <a:avLst>
              <a:gd name="adj" fmla="val 2797"/>
            </a:avLst>
          </a:prstGeom>
          <a:solidFill>
            <a:schemeClr val="bg2"/>
          </a:solidFill>
          <a:ln/>
        </p:spPr>
      </p:sp>
      <p:sp>
        <p:nvSpPr>
          <p:cNvPr id="5" name="cerchio FiBarChart2"/>
          <p:cNvSpPr/>
          <p:nvPr/>
        </p:nvSpPr>
        <p:spPr>
          <a:xfrm>
            <a:off x="640080" y="1280160"/>
            <a:ext cx="457200" cy="457200"/>
          </a:xfrm>
          <a:prstGeom prst="ellipse">
            <a:avLst/>
          </a:prstGeom>
          <a:solidFill>
            <a:schemeClr val="accent1"/>
          </a:solidFill>
          <a:ln/>
        </p:spPr>
      </p:sp>
      <p:pic>
        <p:nvPicPr>
          <p:cNvPr id="6" name="Image 0" descr="FiBarChart2">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Analista</a:t>
            </a:r>
            <a:endParaRPr lang="en-US" sz="1500" dirty="0"/>
          </a:p>
        </p:txBody>
      </p:sp>
      <p:sp>
        <p:nvSpPr>
          <p:cNvPr id="8" name="Text 4"/>
          <p:cNvSpPr txBox="1"/>
          <p:nvPr/>
        </p:nvSpPr>
        <p:spPr>
          <a:xfrm>
            <a:off x="640080"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"Confronta questi tre contratti sulle clausole di recesso."</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Confronti rapidi su documenti lunghi</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Controllare i punti decisivi sul testo originale</a:t>
            </a:r>
            <a:endParaRPr lang="en-US" sz="1200" dirty="0"/>
          </a:p>
        </p:txBody>
      </p:sp>
      <p:sp>
        <p:nvSpPr>
          <p:cNvPr id="9" name="scheda Revisore"/>
          <p:cNvSpPr/>
          <p:nvPr/>
        </p:nvSpPr>
        <p:spPr>
          <a:xfrm>
            <a:off x="3264408" y="1097280"/>
            <a:ext cx="2615184" cy="3429000"/>
          </a:xfrm>
          <a:prstGeom prst="roundRect">
            <a:avLst>
              <a:gd name="adj" fmla="val 2797"/>
            </a:avLst>
          </a:prstGeom>
          <a:solidFill>
            <a:schemeClr val="accent6"/>
          </a:solidFill>
          <a:ln/>
        </p:spPr>
      </p:sp>
      <p:sp>
        <p:nvSpPr>
          <p:cNvPr id="10" name="cerchio FiCheckSquare"/>
          <p:cNvSpPr/>
          <p:nvPr/>
        </p:nvSpPr>
        <p:spPr>
          <a:xfrm>
            <a:off x="3447288" y="1280160"/>
            <a:ext cx="457200" cy="457200"/>
          </a:xfrm>
          <a:prstGeom prst="ellipse">
            <a:avLst/>
          </a:prstGeom>
          <a:solidFill>
            <a:schemeClr val="accent1"/>
          </a:solidFill>
          <a:ln/>
        </p:spPr>
      </p:sp>
      <p:pic>
        <p:nvPicPr>
          <p:cNvPr id="11" name="Image 1" descr="FiCheckSquare">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Revisore</a:t>
            </a:r>
            <a:endParaRPr lang="en-US" sz="1500" dirty="0"/>
          </a:p>
        </p:txBody>
      </p:sp>
      <p:sp>
        <p:nvSpPr>
          <p:cNvPr id="13" name="Text 8"/>
          <p:cNvSpPr txBox="1"/>
          <p:nvPr/>
        </p:nvSpPr>
        <p:spPr>
          <a:xfrm>
            <a:off x="3447288"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"Rileggi questa offerta e segnala passaggi ambigui o in contraddizione."</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Uno sguardo esterno, sempre disponibile</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La revisione non è esaustiva</a:t>
            </a:r>
            <a:endParaRPr lang="en-US" sz="1200" dirty="0"/>
          </a:p>
        </p:txBody>
      </p:sp>
      <p:sp>
        <p:nvSpPr>
          <p:cNvPr id="14" name="scheda Tutor"/>
          <p:cNvSpPr/>
          <p:nvPr/>
        </p:nvSpPr>
        <p:spPr>
          <a:xfrm>
            <a:off x="6071616" y="1097280"/>
            <a:ext cx="2615184" cy="3429000"/>
          </a:xfrm>
          <a:prstGeom prst="roundRect">
            <a:avLst>
              <a:gd name="adj" fmla="val 2797"/>
            </a:avLst>
          </a:prstGeom>
          <a:solidFill>
            <a:schemeClr val="bg2"/>
          </a:solidFill>
          <a:ln/>
        </p:spPr>
      </p:sp>
      <p:sp>
        <p:nvSpPr>
          <p:cNvPr id="15" name="cerchio FiAward"/>
          <p:cNvSpPr/>
          <p:nvPr/>
        </p:nvSpPr>
        <p:spPr>
          <a:xfrm>
            <a:off x="6254496" y="1280160"/>
            <a:ext cx="457200" cy="457200"/>
          </a:xfrm>
          <a:prstGeom prst="ellipse">
            <a:avLst/>
          </a:prstGeom>
          <a:solidFill>
            <a:schemeClr val="accent1"/>
          </a:solidFill>
          <a:ln/>
        </p:spPr>
      </p:sp>
      <p:pic>
        <p:nvPicPr>
          <p:cNvPr id="16" name="Image 2" descr="FiAward">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Tutor</a:t>
            </a:r>
            <a:endParaRPr lang="en-US" sz="1500" dirty="0"/>
          </a:p>
        </p:txBody>
      </p:sp>
      <p:sp>
        <p:nvSpPr>
          <p:cNvPr id="18" name="Text 12"/>
          <p:cNvSpPr txBox="1"/>
          <p:nvPr/>
        </p:nvSpPr>
        <p:spPr>
          <a:xfrm>
            <a:off x="6254496" y="2231136"/>
            <a:ext cx="2249424" cy="2185416"/>
          </a:xfrm>
          <a:prstGeom prst="rect">
            <a:avLst/>
          </a:prstGeom>
          <a:noFill/>
          <a:ln/>
        </p:spPr>
        <p:txBody>
          <a:bodyPr wrap="square" lIns="0" tIns="0" rIns="0" bIns="0" rtlCol="0" anchor="t"/>
          <a:lstStyle/>
          <a:p>
            <a:pPr indent="0" marL="0">
              <a:buNone/>
            </a:pPr>
            <a:r>
              <a:rPr lang="en-US" sz="1200" b="1" dirty="0">
                <a:solidFill>
                  <a:schemeClr val="accent2"/>
                </a:solidFill>
              </a:rPr>
              <a:t>Esempio</a:t>
            </a:r>
            <a:endParaRPr lang="en-US" sz="1200" dirty="0"/>
          </a:p>
          <a:p>
            <a:pPr indent="0" marL="0">
              <a:spcAft>
                <a:spcPts val="800"/>
              </a:spcAft>
              <a:buNone/>
            </a:pPr>
            <a:r>
              <a:rPr lang="en-US" sz="1200" i="1" dirty="0">
                <a:solidFill>
                  <a:schemeClr val="tx2"/>
                </a:solidFill>
              </a:rPr>
              <a:t>"Insegnami le basi delle tabelle pivot con esempi graduali."</a:t>
            </a:r>
            <a:endParaRPr lang="en-US" sz="1200" dirty="0"/>
          </a:p>
          <a:p>
            <a:pPr indent="0" marL="0">
              <a:buNone/>
            </a:pPr>
            <a:r>
              <a:rPr lang="en-US" sz="1200" b="1" dirty="0">
                <a:solidFill>
                  <a:schemeClr val="accent1"/>
                </a:solidFill>
              </a:rPr>
              <a:t>Beneficio</a:t>
            </a:r>
            <a:endParaRPr lang="en-US" sz="1200" dirty="0"/>
          </a:p>
          <a:p>
            <a:pPr indent="0" marL="0">
              <a:spcAft>
                <a:spcPts val="800"/>
              </a:spcAft>
              <a:buNone/>
            </a:pPr>
            <a:r>
              <a:rPr lang="en-US" sz="1200" dirty="0">
                <a:solidFill>
                  <a:schemeClr val="tx2"/>
                </a:solidFill>
              </a:rPr>
              <a:t>Imparare al proprio ritmo e livello</a:t>
            </a:r>
            <a:endParaRPr lang="en-US" sz="1200" dirty="0"/>
          </a:p>
          <a:p>
            <a:pPr indent="0" marL="0">
              <a:buNone/>
            </a:pPr>
            <a:r>
              <a:rPr lang="en-US" sz="1200" b="1" dirty="0">
                <a:solidFill>
                  <a:schemeClr val="accent5"/>
                </a:solidFill>
              </a:rPr>
              <a:t>Attenzione</a:t>
            </a:r>
            <a:endParaRPr lang="en-US" sz="1200" dirty="0"/>
          </a:p>
          <a:p>
            <a:pPr indent="0" marL="0">
              <a:buNone/>
            </a:pPr>
            <a:r>
              <a:rPr lang="en-US" sz="1200" dirty="0">
                <a:solidFill>
                  <a:schemeClr val="tx2"/>
                </a:solidFill>
              </a:rPr>
              <a:t>Esercitarsi in prima persona per imparare davvero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strumento di confronto critico</a:t>
            </a:r>
            <a:endParaRPr lang="en-US" sz="2600" dirty="0"/>
          </a:p>
        </p:txBody>
      </p:sp>
      <p:sp>
        <p:nvSpPr>
          <p:cNvPr id="4" name="Avvocato del diavolo"/>
          <p:cNvSpPr/>
          <p:nvPr/>
        </p:nvSpPr>
        <p:spPr>
          <a:xfrm>
            <a:off x="457200" y="1024128"/>
            <a:ext cx="4023360" cy="658368"/>
          </a:xfrm>
          <a:prstGeom prst="roundRect">
            <a:avLst>
              <a:gd name="adj" fmla="val 11111"/>
            </a:avLst>
          </a:prstGeom>
          <a:solidFill>
            <a:schemeClr val="bg2"/>
          </a:solidFill>
          <a:ln/>
        </p:spPr>
      </p:sp>
      <p:sp>
        <p:nvSpPr>
          <p:cNvPr id="5" name="cerchio FiShield"/>
          <p:cNvSpPr/>
          <p:nvPr/>
        </p:nvSpPr>
        <p:spPr>
          <a:xfrm>
            <a:off x="548640" y="1152144"/>
            <a:ext cx="402336" cy="402336"/>
          </a:xfrm>
          <a:prstGeom prst="ellipse">
            <a:avLst/>
          </a:prstGeom>
          <a:solidFill>
            <a:schemeClr val="accent1"/>
          </a:solidFill>
          <a:ln/>
        </p:spPr>
      </p:sp>
      <p:pic>
        <p:nvPicPr>
          <p:cNvPr id="6" name="Image 0" descr="FiShield">    </p:cNvPr>
          <p:cNvPicPr>
            <a:picLocks noChangeAspect="1"/>
          </p:cNvPicPr>
          <p:nvPr/>
        </p:nvPicPr>
        <p:blipFill>
          <a:blip r:embed="rId1"/>
          <a:stretch>
            <a:fillRect/>
          </a:stretch>
        </p:blipFill>
        <p:spPr>
          <a:xfrm>
            <a:off x="649224" y="1252728"/>
            <a:ext cx="201168" cy="201168"/>
          </a:xfrm>
          <a:prstGeom prst="rect">
            <a:avLst/>
          </a:prstGeom>
        </p:spPr>
      </p:pic>
      <p:sp>
        <p:nvSpPr>
          <p:cNvPr id="7" name="Text 3"/>
          <p:cNvSpPr txBox="1"/>
          <p:nvPr/>
        </p:nvSpPr>
        <p:spPr>
          <a:xfrm>
            <a:off x="1051560" y="106984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Avvocato del diavolo</a:t>
            </a:r>
            <a:endParaRPr lang="en-US" sz="1300" dirty="0"/>
          </a:p>
        </p:txBody>
      </p:sp>
      <p:sp>
        <p:nvSpPr>
          <p:cNvPr id="8" name="Text 4"/>
          <p:cNvSpPr txBox="1"/>
          <p:nvPr/>
        </p:nvSpPr>
        <p:spPr>
          <a:xfrm>
            <a:off x="1051560" y="135331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"Costruisci gli argomenti più forti contro la mia proposta."</a:t>
            </a:r>
            <a:endParaRPr lang="en-US" sz="1100" dirty="0"/>
          </a:p>
        </p:txBody>
      </p:sp>
      <p:sp>
        <p:nvSpPr>
          <p:cNvPr id="9" name="Pre-mortem"/>
          <p:cNvSpPr/>
          <p:nvPr/>
        </p:nvSpPr>
        <p:spPr>
          <a:xfrm>
            <a:off x="457200" y="1755648"/>
            <a:ext cx="4023360" cy="658368"/>
          </a:xfrm>
          <a:prstGeom prst="roundRect">
            <a:avLst>
              <a:gd name="adj" fmla="val 11111"/>
            </a:avLst>
          </a:prstGeom>
          <a:solidFill>
            <a:schemeClr val="bg1"/>
          </a:solidFill>
          <a:ln/>
        </p:spPr>
      </p:sp>
      <p:sp>
        <p:nvSpPr>
          <p:cNvPr id="10" name="cerchio FiAlertTriangle"/>
          <p:cNvSpPr/>
          <p:nvPr/>
        </p:nvSpPr>
        <p:spPr>
          <a:xfrm>
            <a:off x="548640" y="1883664"/>
            <a:ext cx="402336" cy="402336"/>
          </a:xfrm>
          <a:prstGeom prst="ellipse">
            <a:avLst/>
          </a:prstGeom>
          <a:solidFill>
            <a:schemeClr val="accent1"/>
          </a:solidFill>
          <a:ln/>
        </p:spPr>
      </p:sp>
      <p:pic>
        <p:nvPicPr>
          <p:cNvPr id="11" name="Image 1" descr="FiAlertTriangle">    </p:cNvPr>
          <p:cNvPicPr>
            <a:picLocks noChangeAspect="1"/>
          </p:cNvPicPr>
          <p:nvPr/>
        </p:nvPicPr>
        <p:blipFill>
          <a:blip r:embed="rId2"/>
          <a:stretch>
            <a:fillRect/>
          </a:stretch>
        </p:blipFill>
        <p:spPr>
          <a:xfrm>
            <a:off x="649224" y="1984248"/>
            <a:ext cx="201168" cy="201168"/>
          </a:xfrm>
          <a:prstGeom prst="rect">
            <a:avLst/>
          </a:prstGeom>
        </p:spPr>
      </p:pic>
      <p:sp>
        <p:nvSpPr>
          <p:cNvPr id="12" name="Text 7"/>
          <p:cNvSpPr txBox="1"/>
          <p:nvPr/>
        </p:nvSpPr>
        <p:spPr>
          <a:xfrm>
            <a:off x="1051560" y="180136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Pre-mortem</a:t>
            </a:r>
            <a:endParaRPr lang="en-US" sz="1300" dirty="0"/>
          </a:p>
        </p:txBody>
      </p:sp>
      <p:sp>
        <p:nvSpPr>
          <p:cNvPr id="13" name="Text 8"/>
          <p:cNvSpPr txBox="1"/>
          <p:nvPr/>
        </p:nvSpPr>
        <p:spPr>
          <a:xfrm>
            <a:off x="1051560" y="208483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"Il progetto è fallito: quali le cause più probabili?"</a:t>
            </a:r>
            <a:endParaRPr lang="en-US" sz="1100" dirty="0"/>
          </a:p>
        </p:txBody>
      </p:sp>
      <p:sp>
        <p:nvSpPr>
          <p:cNvPr id="14" name="Prospettive diverse"/>
          <p:cNvSpPr/>
          <p:nvPr/>
        </p:nvSpPr>
        <p:spPr>
          <a:xfrm>
            <a:off x="457200" y="2487168"/>
            <a:ext cx="4023360" cy="658368"/>
          </a:xfrm>
          <a:prstGeom prst="roundRect">
            <a:avLst>
              <a:gd name="adj" fmla="val 11111"/>
            </a:avLst>
          </a:prstGeom>
          <a:solidFill>
            <a:schemeClr val="bg2"/>
          </a:solidFill>
          <a:ln/>
        </p:spPr>
      </p:sp>
      <p:sp>
        <p:nvSpPr>
          <p:cNvPr id="15" name="cerchio FiUsers"/>
          <p:cNvSpPr/>
          <p:nvPr/>
        </p:nvSpPr>
        <p:spPr>
          <a:xfrm>
            <a:off x="548640" y="2615184"/>
            <a:ext cx="402336" cy="402336"/>
          </a:xfrm>
          <a:prstGeom prst="ellipse">
            <a:avLst/>
          </a:prstGeom>
          <a:solidFill>
            <a:schemeClr val="accent1"/>
          </a:solidFill>
          <a:ln/>
        </p:spPr>
      </p:sp>
      <p:pic>
        <p:nvPicPr>
          <p:cNvPr id="16" name="Image 2" descr="FiUsers">    </p:cNvPr>
          <p:cNvPicPr>
            <a:picLocks noChangeAspect="1"/>
          </p:cNvPicPr>
          <p:nvPr/>
        </p:nvPicPr>
        <p:blipFill>
          <a:blip r:embed="rId3"/>
          <a:stretch>
            <a:fillRect/>
          </a:stretch>
        </p:blipFill>
        <p:spPr>
          <a:xfrm>
            <a:off x="649224" y="2715768"/>
            <a:ext cx="201168" cy="201168"/>
          </a:xfrm>
          <a:prstGeom prst="rect">
            <a:avLst/>
          </a:prstGeom>
        </p:spPr>
      </p:pic>
      <p:sp>
        <p:nvSpPr>
          <p:cNvPr id="17" name="Text 11"/>
          <p:cNvSpPr txBox="1"/>
          <p:nvPr/>
        </p:nvSpPr>
        <p:spPr>
          <a:xfrm>
            <a:off x="1051560" y="253288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Prospettive diverse</a:t>
            </a:r>
            <a:endParaRPr lang="en-US" sz="1300" dirty="0"/>
          </a:p>
        </p:txBody>
      </p:sp>
      <p:sp>
        <p:nvSpPr>
          <p:cNvPr id="18" name="Text 12"/>
          <p:cNvSpPr txBox="1"/>
          <p:nvPr/>
        </p:nvSpPr>
        <p:spPr>
          <a:xfrm>
            <a:off x="1051560" y="281635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"Come la valuterebbero un cliente, un fornitore?"</a:t>
            </a:r>
            <a:endParaRPr lang="en-US" sz="1100" dirty="0"/>
          </a:p>
        </p:txBody>
      </p:sp>
      <p:sp>
        <p:nvSpPr>
          <p:cNvPr id="19" name="Assunzioni nascoste"/>
          <p:cNvSpPr/>
          <p:nvPr/>
        </p:nvSpPr>
        <p:spPr>
          <a:xfrm>
            <a:off x="457200" y="3218688"/>
            <a:ext cx="4023360" cy="658368"/>
          </a:xfrm>
          <a:prstGeom prst="roundRect">
            <a:avLst>
              <a:gd name="adj" fmla="val 11111"/>
            </a:avLst>
          </a:prstGeom>
          <a:solidFill>
            <a:schemeClr val="bg1"/>
          </a:solidFill>
          <a:ln/>
        </p:spPr>
      </p:sp>
      <p:sp>
        <p:nvSpPr>
          <p:cNvPr id="20" name="cerchio FiEye"/>
          <p:cNvSpPr/>
          <p:nvPr/>
        </p:nvSpPr>
        <p:spPr>
          <a:xfrm>
            <a:off x="548640" y="3346704"/>
            <a:ext cx="402336" cy="402336"/>
          </a:xfrm>
          <a:prstGeom prst="ellipse">
            <a:avLst/>
          </a:prstGeom>
          <a:solidFill>
            <a:schemeClr val="accent1"/>
          </a:solidFill>
          <a:ln/>
        </p:spPr>
      </p:sp>
      <p:pic>
        <p:nvPicPr>
          <p:cNvPr id="21" name="Image 3" descr="FiEye">    </p:cNvPr>
          <p:cNvPicPr>
            <a:picLocks noChangeAspect="1"/>
          </p:cNvPicPr>
          <p:nvPr/>
        </p:nvPicPr>
        <p:blipFill>
          <a:blip r:embed="rId4"/>
          <a:stretch>
            <a:fillRect/>
          </a:stretch>
        </p:blipFill>
        <p:spPr>
          <a:xfrm>
            <a:off x="649224" y="3447288"/>
            <a:ext cx="201168" cy="201168"/>
          </a:xfrm>
          <a:prstGeom prst="rect">
            <a:avLst/>
          </a:prstGeom>
        </p:spPr>
      </p:pic>
      <p:sp>
        <p:nvSpPr>
          <p:cNvPr id="22" name="Text 15"/>
          <p:cNvSpPr txBox="1"/>
          <p:nvPr/>
        </p:nvSpPr>
        <p:spPr>
          <a:xfrm>
            <a:off x="1051560" y="326440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Assunzioni nascoste</a:t>
            </a:r>
            <a:endParaRPr lang="en-US" sz="1300" dirty="0"/>
          </a:p>
        </p:txBody>
      </p:sp>
      <p:sp>
        <p:nvSpPr>
          <p:cNvPr id="23" name="Text 16"/>
          <p:cNvSpPr txBox="1"/>
          <p:nvPr/>
        </p:nvSpPr>
        <p:spPr>
          <a:xfrm>
            <a:off x="1051560" y="354787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"Che cosa sto dando per scontato?"</a:t>
            </a:r>
            <a:endParaRPr lang="en-US" sz="1100" dirty="0"/>
          </a:p>
        </p:txBody>
      </p:sp>
      <p:sp>
        <p:nvSpPr>
          <p:cNvPr id="24" name="Alternative"/>
          <p:cNvSpPr/>
          <p:nvPr/>
        </p:nvSpPr>
        <p:spPr>
          <a:xfrm>
            <a:off x="4663440" y="1024128"/>
            <a:ext cx="4023360" cy="658368"/>
          </a:xfrm>
          <a:prstGeom prst="roundRect">
            <a:avLst>
              <a:gd name="adj" fmla="val 11111"/>
            </a:avLst>
          </a:prstGeom>
          <a:solidFill>
            <a:schemeClr val="bg2"/>
          </a:solidFill>
          <a:ln/>
        </p:spPr>
      </p:sp>
      <p:sp>
        <p:nvSpPr>
          <p:cNvPr id="25" name="cerchio FiShuffle"/>
          <p:cNvSpPr/>
          <p:nvPr/>
        </p:nvSpPr>
        <p:spPr>
          <a:xfrm>
            <a:off x="4754880" y="1152144"/>
            <a:ext cx="402336" cy="402336"/>
          </a:xfrm>
          <a:prstGeom prst="ellipse">
            <a:avLst/>
          </a:prstGeom>
          <a:solidFill>
            <a:schemeClr val="accent1"/>
          </a:solidFill>
          <a:ln/>
        </p:spPr>
      </p:sp>
      <p:pic>
        <p:nvPicPr>
          <p:cNvPr id="26" name="Image 4" descr="FiShuffle">    </p:cNvPr>
          <p:cNvPicPr>
            <a:picLocks noChangeAspect="1"/>
          </p:cNvPicPr>
          <p:nvPr/>
        </p:nvPicPr>
        <p:blipFill>
          <a:blip r:embed="rId5"/>
          <a:stretch>
            <a:fillRect/>
          </a:stretch>
        </p:blipFill>
        <p:spPr>
          <a:xfrm>
            <a:off x="4855464" y="1252728"/>
            <a:ext cx="201168" cy="201168"/>
          </a:xfrm>
          <a:prstGeom prst="rect">
            <a:avLst/>
          </a:prstGeom>
        </p:spPr>
      </p:pic>
      <p:sp>
        <p:nvSpPr>
          <p:cNvPr id="27" name="Text 19"/>
          <p:cNvSpPr txBox="1"/>
          <p:nvPr/>
        </p:nvSpPr>
        <p:spPr>
          <a:xfrm>
            <a:off x="5257800" y="106984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Alternative</a:t>
            </a:r>
            <a:endParaRPr lang="en-US" sz="1300" dirty="0"/>
          </a:p>
        </p:txBody>
      </p:sp>
      <p:sp>
        <p:nvSpPr>
          <p:cNvPr id="28" name="Text 20"/>
          <p:cNvSpPr txBox="1"/>
          <p:nvPr/>
        </p:nvSpPr>
        <p:spPr>
          <a:xfrm>
            <a:off x="5257800" y="135331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"Quali altre strade per lo stesso obiettivo?"</a:t>
            </a:r>
            <a:endParaRPr lang="en-US" sz="1100" dirty="0"/>
          </a:p>
        </p:txBody>
      </p:sp>
      <p:sp>
        <p:nvSpPr>
          <p:cNvPr id="29" name="Criteri dimenticati"/>
          <p:cNvSpPr/>
          <p:nvPr/>
        </p:nvSpPr>
        <p:spPr>
          <a:xfrm>
            <a:off x="4663440" y="1755648"/>
            <a:ext cx="4023360" cy="658368"/>
          </a:xfrm>
          <a:prstGeom prst="roundRect">
            <a:avLst>
              <a:gd name="adj" fmla="val 11111"/>
            </a:avLst>
          </a:prstGeom>
          <a:solidFill>
            <a:schemeClr val="bg1"/>
          </a:solidFill>
          <a:ln/>
        </p:spPr>
      </p:sp>
      <p:sp>
        <p:nvSpPr>
          <p:cNvPr id="30" name="cerchio FiList"/>
          <p:cNvSpPr/>
          <p:nvPr/>
        </p:nvSpPr>
        <p:spPr>
          <a:xfrm>
            <a:off x="4754880" y="1883664"/>
            <a:ext cx="402336" cy="402336"/>
          </a:xfrm>
          <a:prstGeom prst="ellipse">
            <a:avLst/>
          </a:prstGeom>
          <a:solidFill>
            <a:schemeClr val="accent1"/>
          </a:solidFill>
          <a:ln/>
        </p:spPr>
      </p:sp>
      <p:pic>
        <p:nvPicPr>
          <p:cNvPr id="31" name="Image 5" descr="FiList">    </p:cNvPr>
          <p:cNvPicPr>
            <a:picLocks noChangeAspect="1"/>
          </p:cNvPicPr>
          <p:nvPr/>
        </p:nvPicPr>
        <p:blipFill>
          <a:blip r:embed="rId6"/>
          <a:stretch>
            <a:fillRect/>
          </a:stretch>
        </p:blipFill>
        <p:spPr>
          <a:xfrm>
            <a:off x="4855464" y="1984248"/>
            <a:ext cx="201168" cy="201168"/>
          </a:xfrm>
          <a:prstGeom prst="rect">
            <a:avLst/>
          </a:prstGeom>
        </p:spPr>
      </p:pic>
      <p:sp>
        <p:nvSpPr>
          <p:cNvPr id="32" name="Text 23"/>
          <p:cNvSpPr txBox="1"/>
          <p:nvPr/>
        </p:nvSpPr>
        <p:spPr>
          <a:xfrm>
            <a:off x="5257800" y="180136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Criteri dimenticati</a:t>
            </a:r>
            <a:endParaRPr lang="en-US" sz="1300" dirty="0"/>
          </a:p>
        </p:txBody>
      </p:sp>
      <p:sp>
        <p:nvSpPr>
          <p:cNvPr id="33" name="Text 24"/>
          <p:cNvSpPr txBox="1"/>
          <p:nvPr/>
        </p:nvSpPr>
        <p:spPr>
          <a:xfrm>
            <a:off x="5257800" y="208483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"Quali criteri potrebbero essere rilevanti?"</a:t>
            </a:r>
            <a:endParaRPr lang="en-US" sz="1100" dirty="0"/>
          </a:p>
        </p:txBody>
      </p:sp>
      <p:sp>
        <p:nvSpPr>
          <p:cNvPr id="34" name="Compromessi"/>
          <p:cNvSpPr/>
          <p:nvPr/>
        </p:nvSpPr>
        <p:spPr>
          <a:xfrm>
            <a:off x="4663440" y="2487168"/>
            <a:ext cx="4023360" cy="658368"/>
          </a:xfrm>
          <a:prstGeom prst="roundRect">
            <a:avLst>
              <a:gd name="adj" fmla="val 11111"/>
            </a:avLst>
          </a:prstGeom>
          <a:solidFill>
            <a:schemeClr val="bg2"/>
          </a:solidFill>
          <a:ln/>
        </p:spPr>
      </p:sp>
      <p:sp>
        <p:nvSpPr>
          <p:cNvPr id="35" name="cerchio FiSliders"/>
          <p:cNvSpPr/>
          <p:nvPr/>
        </p:nvSpPr>
        <p:spPr>
          <a:xfrm>
            <a:off x="4754880" y="2615184"/>
            <a:ext cx="402336" cy="402336"/>
          </a:xfrm>
          <a:prstGeom prst="ellipse">
            <a:avLst/>
          </a:prstGeom>
          <a:solidFill>
            <a:schemeClr val="accent1"/>
          </a:solidFill>
          <a:ln/>
        </p:spPr>
      </p:sp>
      <p:pic>
        <p:nvPicPr>
          <p:cNvPr id="36" name="Image 6" descr="FiSliders">    </p:cNvPr>
          <p:cNvPicPr>
            <a:picLocks noChangeAspect="1"/>
          </p:cNvPicPr>
          <p:nvPr/>
        </p:nvPicPr>
        <p:blipFill>
          <a:blip r:embed="rId7"/>
          <a:stretch>
            <a:fillRect/>
          </a:stretch>
        </p:blipFill>
        <p:spPr>
          <a:xfrm>
            <a:off x="4855464" y="2715768"/>
            <a:ext cx="201168" cy="201168"/>
          </a:xfrm>
          <a:prstGeom prst="rect">
            <a:avLst/>
          </a:prstGeom>
        </p:spPr>
      </p:pic>
      <p:sp>
        <p:nvSpPr>
          <p:cNvPr id="37" name="Text 27"/>
          <p:cNvSpPr txBox="1"/>
          <p:nvPr/>
        </p:nvSpPr>
        <p:spPr>
          <a:xfrm>
            <a:off x="5257800" y="253288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Compromessi</a:t>
            </a:r>
            <a:endParaRPr lang="en-US" sz="1300" dirty="0"/>
          </a:p>
        </p:txBody>
      </p:sp>
      <p:sp>
        <p:nvSpPr>
          <p:cNvPr id="38" name="Text 28"/>
          <p:cNvSpPr txBox="1"/>
          <p:nvPr/>
        </p:nvSpPr>
        <p:spPr>
          <a:xfrm>
            <a:off x="5257800" y="281635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"Confronta le opzioni secondo questi criteri."</a:t>
            </a:r>
            <a:endParaRPr lang="en-US" sz="1100" dirty="0"/>
          </a:p>
        </p:txBody>
      </p:sp>
      <p:sp>
        <p:nvSpPr>
          <p:cNvPr id="39" name="Informazioni decisive"/>
          <p:cNvSpPr/>
          <p:nvPr/>
        </p:nvSpPr>
        <p:spPr>
          <a:xfrm>
            <a:off x="4663440" y="3218688"/>
            <a:ext cx="4023360" cy="658368"/>
          </a:xfrm>
          <a:prstGeom prst="roundRect">
            <a:avLst>
              <a:gd name="adj" fmla="val 11111"/>
            </a:avLst>
          </a:prstGeom>
          <a:solidFill>
            <a:schemeClr val="bg1"/>
          </a:solidFill>
          <a:ln/>
        </p:spPr>
      </p:sp>
      <p:sp>
        <p:nvSpPr>
          <p:cNvPr id="40" name="cerchio FiInfo"/>
          <p:cNvSpPr/>
          <p:nvPr/>
        </p:nvSpPr>
        <p:spPr>
          <a:xfrm>
            <a:off x="4754880" y="3346704"/>
            <a:ext cx="402336" cy="402336"/>
          </a:xfrm>
          <a:prstGeom prst="ellipse">
            <a:avLst/>
          </a:prstGeom>
          <a:solidFill>
            <a:schemeClr val="accent1"/>
          </a:solidFill>
          <a:ln/>
        </p:spPr>
      </p:sp>
      <p:pic>
        <p:nvPicPr>
          <p:cNvPr id="41" name="Image 7" descr="FiInfo">    </p:cNvPr>
          <p:cNvPicPr>
            <a:picLocks noChangeAspect="1"/>
          </p:cNvPicPr>
          <p:nvPr/>
        </p:nvPicPr>
        <p:blipFill>
          <a:blip r:embed="rId8"/>
          <a:stretch>
            <a:fillRect/>
          </a:stretch>
        </p:blipFill>
        <p:spPr>
          <a:xfrm>
            <a:off x="4855464" y="3447288"/>
            <a:ext cx="201168" cy="201168"/>
          </a:xfrm>
          <a:prstGeom prst="rect">
            <a:avLst/>
          </a:prstGeom>
        </p:spPr>
      </p:pic>
      <p:sp>
        <p:nvSpPr>
          <p:cNvPr id="42" name="Text 31"/>
          <p:cNvSpPr txBox="1"/>
          <p:nvPr/>
        </p:nvSpPr>
        <p:spPr>
          <a:xfrm>
            <a:off x="5257800" y="3264408"/>
            <a:ext cx="3337560" cy="274320"/>
          </a:xfrm>
          <a:prstGeom prst="rect">
            <a:avLst/>
          </a:prstGeom>
          <a:noFill/>
          <a:ln/>
        </p:spPr>
        <p:txBody>
          <a:bodyPr wrap="square" lIns="0" tIns="0" rIns="0" bIns="0" rtlCol="0" anchor="ctr"/>
          <a:lstStyle/>
          <a:p>
            <a:pPr indent="0" marL="0">
              <a:buNone/>
            </a:pPr>
            <a:r>
              <a:rPr lang="en-US" sz="1300" b="1" dirty="0">
                <a:solidFill>
                  <a:schemeClr val="tx1"/>
                </a:solidFill>
              </a:rPr>
              <a:t>Informazioni decisive</a:t>
            </a:r>
            <a:endParaRPr lang="en-US" sz="1300" dirty="0"/>
          </a:p>
        </p:txBody>
      </p:sp>
      <p:sp>
        <p:nvSpPr>
          <p:cNvPr id="43" name="Text 32"/>
          <p:cNvSpPr txBox="1"/>
          <p:nvPr/>
        </p:nvSpPr>
        <p:spPr>
          <a:xfrm>
            <a:off x="5257800" y="3547872"/>
            <a:ext cx="3337560" cy="274320"/>
          </a:xfrm>
          <a:prstGeom prst="rect">
            <a:avLst/>
          </a:prstGeom>
          <a:noFill/>
          <a:ln/>
        </p:spPr>
        <p:txBody>
          <a:bodyPr wrap="square" lIns="0" tIns="0" rIns="0" bIns="0" rtlCol="0" anchor="ctr"/>
          <a:lstStyle/>
          <a:p>
            <a:pPr indent="0" marL="0">
              <a:buNone/>
            </a:pPr>
            <a:r>
              <a:rPr lang="en-US" sz="1100" i="1" dirty="0">
                <a:solidFill>
                  <a:schemeClr val="tx2"/>
                </a:solidFill>
              </a:rPr>
              <a:t>"Che cosa potrebbe cambiare la valutazione?"</a:t>
            </a:r>
            <a:endParaRPr lang="en-US" sz="1100" dirty="0"/>
          </a:p>
        </p:txBody>
      </p:sp>
      <p:sp>
        <p:nvSpPr>
          <p:cNvPr id="44" name="messaggio"/>
          <p:cNvSpPr/>
          <p:nvPr/>
        </p:nvSpPr>
        <p:spPr>
          <a:xfrm>
            <a:off x="457200" y="4023360"/>
            <a:ext cx="8229600" cy="502920"/>
          </a:xfrm>
          <a:prstGeom prst="roundRect">
            <a:avLst>
              <a:gd name="adj" fmla="val 14545"/>
            </a:avLst>
          </a:prstGeom>
          <a:solidFill>
            <a:schemeClr val="tx1"/>
          </a:solidFill>
          <a:ln/>
        </p:spPr>
      </p:sp>
      <p:sp>
        <p:nvSpPr>
          <p:cNvPr id="45" name="Text 34"/>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Mettere alla prova idee e decisioni prima di presentarle: le obiezioni dell'AI sono uno stimolo da valutare.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partner di ragionamento</a:t>
            </a:r>
            <a:endParaRPr lang="en-US" sz="2600" dirty="0"/>
          </a:p>
        </p:txBody>
      </p:sp>
      <p:sp>
        <p:nvSpPr>
          <p:cNvPr id="4" name="richiesta decisione"/>
          <p:cNvSpPr/>
          <p:nvPr/>
        </p:nvSpPr>
        <p:spPr>
          <a:xfrm>
            <a:off x="457200" y="1024128"/>
            <a:ext cx="8229600" cy="566928"/>
          </a:xfrm>
          <a:prstGeom prst="roundRect">
            <a:avLst>
              <a:gd name="adj" fmla="val 12903"/>
            </a:avLst>
          </a:prstGeom>
          <a:solidFill>
            <a:schemeClr val="bg2"/>
          </a:solidFill>
          <a:ln/>
        </p:spPr>
      </p:sp>
      <p:sp>
        <p:nvSpPr>
          <p:cNvPr id="5" name="Text 2"/>
          <p:cNvSpPr txBox="1"/>
          <p:nvPr/>
        </p:nvSpPr>
        <p:spPr>
          <a:xfrm>
            <a:off x="640080" y="1024128"/>
            <a:ext cx="7863840" cy="566928"/>
          </a:xfrm>
          <a:prstGeom prst="rect">
            <a:avLst/>
          </a:prstGeom>
          <a:noFill/>
          <a:ln/>
        </p:spPr>
        <p:txBody>
          <a:bodyPr wrap="square" lIns="0" tIns="0" rIns="0" bIns="0" rtlCol="0" anchor="ctr"/>
          <a:lstStyle/>
          <a:p>
            <a:pPr indent="0" marL="0">
              <a:buNone/>
            </a:pPr>
            <a:r>
              <a:rPr lang="en-US" sz="1300" b="1" dirty="0">
                <a:solidFill>
                  <a:schemeClr val="tx1"/>
                </a:solidFill>
              </a:rPr>
              <a:t>Persona: </a:t>
            </a:r>
            <a:pPr indent="0" marL="0">
              <a:buNone/>
            </a:pPr>
            <a:r>
              <a:rPr lang="en-US" sz="1300" dirty="0">
                <a:solidFill>
                  <a:schemeClr val="tx1"/>
                </a:solidFill>
              </a:rPr>
              <a:t>Valutiamo se aprire una filiale a Milano o potenziare le vendite online. Aiutami a ragionare prima di decidere.</a:t>
            </a:r>
            <a:endParaRPr lang="en-US" sz="1300" dirty="0"/>
          </a:p>
        </p:txBody>
      </p:sp>
      <p:sp>
        <p:nvSpPr>
          <p:cNvPr id="6" name="Alternative"/>
          <p:cNvSpPr/>
          <p:nvPr/>
        </p:nvSpPr>
        <p:spPr>
          <a:xfrm>
            <a:off x="457200" y="1737360"/>
            <a:ext cx="1965960" cy="1965960"/>
          </a:xfrm>
          <a:prstGeom prst="roundRect">
            <a:avLst>
              <a:gd name="adj" fmla="val 3721"/>
            </a:avLst>
          </a:prstGeom>
          <a:solidFill>
            <a:schemeClr val="bg2"/>
          </a:solidFill>
          <a:ln/>
        </p:spPr>
      </p:sp>
      <p:sp>
        <p:nvSpPr>
          <p:cNvPr id="7" name="cerchio FiShuffle"/>
          <p:cNvSpPr/>
          <p:nvPr/>
        </p:nvSpPr>
        <p:spPr>
          <a:xfrm>
            <a:off x="594360" y="1847088"/>
            <a:ext cx="411480" cy="411480"/>
          </a:xfrm>
          <a:prstGeom prst="ellipse">
            <a:avLst/>
          </a:prstGeom>
          <a:solidFill>
            <a:schemeClr val="accent1"/>
          </a:solidFill>
          <a:ln/>
        </p:spPr>
      </p:sp>
      <p:pic>
        <p:nvPicPr>
          <p:cNvPr id="8" name="Image 0" descr="FiShuffle">    </p:cNvPr>
          <p:cNvPicPr>
            <a:picLocks noChangeAspect="1"/>
          </p:cNvPicPr>
          <p:nvPr/>
        </p:nvPicPr>
        <p:blipFill>
          <a:blip r:embed="rId1"/>
          <a:stretch>
            <a:fillRect/>
          </a:stretch>
        </p:blipFill>
        <p:spPr>
          <a:xfrm>
            <a:off x="697230" y="1949958"/>
            <a:ext cx="205740" cy="205740"/>
          </a:xfrm>
          <a:prstGeom prst="rect">
            <a:avLst/>
          </a:prstGeom>
        </p:spPr>
      </p:pic>
      <p:sp>
        <p:nvSpPr>
          <p:cNvPr id="9" name="Text 5"/>
          <p:cNvSpPr txBox="1"/>
          <p:nvPr/>
        </p:nvSpPr>
        <p:spPr>
          <a:xfrm>
            <a:off x="1097280" y="1847088"/>
            <a:ext cx="1280160" cy="411480"/>
          </a:xfrm>
          <a:prstGeom prst="rect">
            <a:avLst/>
          </a:prstGeom>
          <a:noFill/>
          <a:ln/>
        </p:spPr>
        <p:txBody>
          <a:bodyPr wrap="square" lIns="0" tIns="0" rIns="0" bIns="0" rtlCol="0" anchor="ctr"/>
          <a:lstStyle/>
          <a:p>
            <a:pPr indent="0" marL="0">
              <a:buNone/>
            </a:pPr>
            <a:r>
              <a:rPr lang="en-US" sz="1400" b="1" dirty="0">
                <a:solidFill>
                  <a:schemeClr val="tx1"/>
                </a:solidFill>
              </a:rPr>
              <a:t>Alternative</a:t>
            </a:r>
            <a:endParaRPr lang="en-US" sz="1400" dirty="0"/>
          </a:p>
        </p:txBody>
      </p:sp>
      <p:sp>
        <p:nvSpPr>
          <p:cNvPr id="10" name="Text 6"/>
          <p:cNvSpPr txBox="1"/>
          <p:nvPr/>
        </p:nvSpPr>
        <p:spPr>
          <a:xfrm>
            <a:off x="594360" y="2377440"/>
            <a:ext cx="1737360" cy="12801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Filiale a Milano</a:t>
            </a:r>
            <a:endParaRPr lang="en-US" sz="1100" dirty="0"/>
          </a:p>
          <a:p>
            <a:pPr marL="177800" indent="-177800">
              <a:spcAft>
                <a:spcPts val="300"/>
              </a:spcAft>
              <a:buSzPct val="100000"/>
              <a:buChar char="•"/>
            </a:pPr>
            <a:r>
              <a:rPr lang="en-US" sz="1100" dirty="0">
                <a:solidFill>
                  <a:schemeClr val="tx2"/>
                </a:solidFill>
              </a:rPr>
              <a:t>Potenziare l'online</a:t>
            </a:r>
            <a:endParaRPr lang="en-US" sz="1100" dirty="0"/>
          </a:p>
          <a:p>
            <a:pPr marL="177800" indent="-177800">
              <a:spcAft>
                <a:spcPts val="300"/>
              </a:spcAft>
              <a:buSzPct val="100000"/>
              <a:buChar char="•"/>
            </a:pPr>
            <a:r>
              <a:rPr lang="en-US" sz="1100" dirty="0">
                <a:solidFill>
                  <a:schemeClr val="tx2"/>
                </a:solidFill>
              </a:rPr>
              <a:t>Partner locale</a:t>
            </a:r>
            <a:endParaRPr lang="en-US" sz="1100" dirty="0"/>
          </a:p>
          <a:p>
            <a:pPr marL="177800" indent="-177800">
              <a:spcAft>
                <a:spcPts val="300"/>
              </a:spcAft>
              <a:buSzPct val="100000"/>
              <a:buChar char="•"/>
            </a:pPr>
            <a:r>
              <a:rPr lang="en-US" sz="1100" dirty="0">
                <a:solidFill>
                  <a:schemeClr val="tx2"/>
                </a:solidFill>
              </a:rPr>
              <a:t>Test di sei mesi con un agente</a:t>
            </a:r>
            <a:endParaRPr lang="en-US" sz="1100" dirty="0"/>
          </a:p>
        </p:txBody>
      </p:sp>
      <p:sp>
        <p:nvSpPr>
          <p:cNvPr id="11" name="Criteri"/>
          <p:cNvSpPr/>
          <p:nvPr/>
        </p:nvSpPr>
        <p:spPr>
          <a:xfrm>
            <a:off x="2560320" y="1737360"/>
            <a:ext cx="1965960" cy="1965960"/>
          </a:xfrm>
          <a:prstGeom prst="roundRect">
            <a:avLst>
              <a:gd name="adj" fmla="val 3721"/>
            </a:avLst>
          </a:prstGeom>
          <a:solidFill>
            <a:schemeClr val="bg2"/>
          </a:solidFill>
          <a:ln/>
        </p:spPr>
      </p:sp>
      <p:sp>
        <p:nvSpPr>
          <p:cNvPr id="12" name="cerchio FiList"/>
          <p:cNvSpPr/>
          <p:nvPr/>
        </p:nvSpPr>
        <p:spPr>
          <a:xfrm>
            <a:off x="2697480" y="1847088"/>
            <a:ext cx="411480" cy="411480"/>
          </a:xfrm>
          <a:prstGeom prst="ellipse">
            <a:avLst/>
          </a:prstGeom>
          <a:solidFill>
            <a:schemeClr val="accent1"/>
          </a:solidFill>
          <a:ln/>
        </p:spPr>
      </p:sp>
      <p:pic>
        <p:nvPicPr>
          <p:cNvPr id="13" name="Image 1" descr="FiList">    </p:cNvPr>
          <p:cNvPicPr>
            <a:picLocks noChangeAspect="1"/>
          </p:cNvPicPr>
          <p:nvPr/>
        </p:nvPicPr>
        <p:blipFill>
          <a:blip r:embed="rId2"/>
          <a:stretch>
            <a:fillRect/>
          </a:stretch>
        </p:blipFill>
        <p:spPr>
          <a:xfrm>
            <a:off x="2800350" y="1949958"/>
            <a:ext cx="205740" cy="205740"/>
          </a:xfrm>
          <a:prstGeom prst="rect">
            <a:avLst/>
          </a:prstGeom>
        </p:spPr>
      </p:pic>
      <p:sp>
        <p:nvSpPr>
          <p:cNvPr id="14" name="Text 9"/>
          <p:cNvSpPr txBox="1"/>
          <p:nvPr/>
        </p:nvSpPr>
        <p:spPr>
          <a:xfrm>
            <a:off x="3200400" y="1847088"/>
            <a:ext cx="1280160" cy="411480"/>
          </a:xfrm>
          <a:prstGeom prst="rect">
            <a:avLst/>
          </a:prstGeom>
          <a:noFill/>
          <a:ln/>
        </p:spPr>
        <p:txBody>
          <a:bodyPr wrap="square" lIns="0" tIns="0" rIns="0" bIns="0" rtlCol="0" anchor="ctr"/>
          <a:lstStyle/>
          <a:p>
            <a:pPr indent="0" marL="0">
              <a:buNone/>
            </a:pPr>
            <a:r>
              <a:rPr lang="en-US" sz="1400" b="1" dirty="0">
                <a:solidFill>
                  <a:schemeClr val="tx1"/>
                </a:solidFill>
              </a:rPr>
              <a:t>Criteri</a:t>
            </a:r>
            <a:endParaRPr lang="en-US" sz="1400" dirty="0"/>
          </a:p>
        </p:txBody>
      </p:sp>
      <p:sp>
        <p:nvSpPr>
          <p:cNvPr id="15" name="Text 10"/>
          <p:cNvSpPr txBox="1"/>
          <p:nvPr/>
        </p:nvSpPr>
        <p:spPr>
          <a:xfrm>
            <a:off x="2697480" y="2377440"/>
            <a:ext cx="1737360" cy="12801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Investimento e costi fissi</a:t>
            </a:r>
            <a:endParaRPr lang="en-US" sz="1100" dirty="0"/>
          </a:p>
          <a:p>
            <a:pPr marL="177800" indent="-177800">
              <a:spcAft>
                <a:spcPts val="300"/>
              </a:spcAft>
              <a:buSzPct val="100000"/>
              <a:buChar char="•"/>
            </a:pPr>
            <a:r>
              <a:rPr lang="en-US" sz="1100" dirty="0">
                <a:solidFill>
                  <a:schemeClr val="tx2"/>
                </a:solidFill>
              </a:rPr>
              <a:t>Tempo per i risultati</a:t>
            </a:r>
            <a:endParaRPr lang="en-US" sz="1100" dirty="0"/>
          </a:p>
          <a:p>
            <a:pPr marL="177800" indent="-177800">
              <a:spcAft>
                <a:spcPts val="300"/>
              </a:spcAft>
              <a:buSzPct val="100000"/>
              <a:buChar char="•"/>
            </a:pPr>
            <a:r>
              <a:rPr lang="en-US" sz="1100" dirty="0">
                <a:solidFill>
                  <a:schemeClr val="tx2"/>
                </a:solidFill>
              </a:rPr>
              <a:t>Vicinanza ai clienti</a:t>
            </a:r>
            <a:endParaRPr lang="en-US" sz="1100" dirty="0"/>
          </a:p>
          <a:p>
            <a:pPr marL="177800" indent="-177800">
              <a:spcAft>
                <a:spcPts val="300"/>
              </a:spcAft>
              <a:buSzPct val="100000"/>
              <a:buChar char="•"/>
            </a:pPr>
            <a:r>
              <a:rPr lang="en-US" sz="1100" dirty="0">
                <a:solidFill>
                  <a:schemeClr val="tx2"/>
                </a:solidFill>
              </a:rPr>
              <a:t>Reversibilità</a:t>
            </a:r>
            <a:endParaRPr lang="en-US" sz="1100" dirty="0"/>
          </a:p>
        </p:txBody>
      </p:sp>
      <p:sp>
        <p:nvSpPr>
          <p:cNvPr id="16" name="Rischi"/>
          <p:cNvSpPr/>
          <p:nvPr/>
        </p:nvSpPr>
        <p:spPr>
          <a:xfrm>
            <a:off x="4663440" y="1737360"/>
            <a:ext cx="1965960" cy="1965960"/>
          </a:xfrm>
          <a:prstGeom prst="roundRect">
            <a:avLst>
              <a:gd name="adj" fmla="val 3721"/>
            </a:avLst>
          </a:prstGeom>
          <a:solidFill>
            <a:schemeClr val="bg2"/>
          </a:solidFill>
          <a:ln/>
        </p:spPr>
      </p:sp>
      <p:sp>
        <p:nvSpPr>
          <p:cNvPr id="17" name="cerchio FiAlertTriangle"/>
          <p:cNvSpPr/>
          <p:nvPr/>
        </p:nvSpPr>
        <p:spPr>
          <a:xfrm>
            <a:off x="4800600" y="1847088"/>
            <a:ext cx="411480" cy="411480"/>
          </a:xfrm>
          <a:prstGeom prst="ellipse">
            <a:avLst/>
          </a:prstGeom>
          <a:solidFill>
            <a:srgbClr val="5B6573"/>
          </a:solidFill>
          <a:ln/>
        </p:spPr>
      </p:sp>
      <p:pic>
        <p:nvPicPr>
          <p:cNvPr id="18" name="Image 2" descr="FiAlertTriangle">    </p:cNvPr>
          <p:cNvPicPr>
            <a:picLocks noChangeAspect="1"/>
          </p:cNvPicPr>
          <p:nvPr/>
        </p:nvPicPr>
        <p:blipFill>
          <a:blip r:embed="rId3"/>
          <a:stretch>
            <a:fillRect/>
          </a:stretch>
        </p:blipFill>
        <p:spPr>
          <a:xfrm>
            <a:off x="4903470" y="1949958"/>
            <a:ext cx="205740" cy="205740"/>
          </a:xfrm>
          <a:prstGeom prst="rect">
            <a:avLst/>
          </a:prstGeom>
        </p:spPr>
      </p:pic>
      <p:sp>
        <p:nvSpPr>
          <p:cNvPr id="19" name="Text 13"/>
          <p:cNvSpPr txBox="1"/>
          <p:nvPr/>
        </p:nvSpPr>
        <p:spPr>
          <a:xfrm>
            <a:off x="5303520" y="1847088"/>
            <a:ext cx="1280160" cy="411480"/>
          </a:xfrm>
          <a:prstGeom prst="rect">
            <a:avLst/>
          </a:prstGeom>
          <a:noFill/>
          <a:ln/>
        </p:spPr>
        <p:txBody>
          <a:bodyPr wrap="square" lIns="0" tIns="0" rIns="0" bIns="0" rtlCol="0" anchor="ctr"/>
          <a:lstStyle/>
          <a:p>
            <a:pPr indent="0" marL="0">
              <a:buNone/>
            </a:pPr>
            <a:r>
              <a:rPr lang="en-US" sz="1400" b="1" dirty="0">
                <a:solidFill>
                  <a:schemeClr val="tx1"/>
                </a:solidFill>
              </a:rPr>
              <a:t>Rischi</a:t>
            </a:r>
            <a:endParaRPr lang="en-US" sz="1400" dirty="0"/>
          </a:p>
        </p:txBody>
      </p:sp>
      <p:sp>
        <p:nvSpPr>
          <p:cNvPr id="20" name="Text 14"/>
          <p:cNvSpPr txBox="1"/>
          <p:nvPr/>
        </p:nvSpPr>
        <p:spPr>
          <a:xfrm>
            <a:off x="4800600" y="2377440"/>
            <a:ext cx="1737360" cy="12801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Costi fissi senza volumi</a:t>
            </a:r>
            <a:endParaRPr lang="en-US" sz="1100" dirty="0"/>
          </a:p>
          <a:p>
            <a:pPr marL="177800" indent="-177800">
              <a:spcAft>
                <a:spcPts val="300"/>
              </a:spcAft>
              <a:buSzPct val="100000"/>
              <a:buChar char="•"/>
            </a:pPr>
            <a:r>
              <a:rPr lang="en-US" sz="1100" dirty="0">
                <a:solidFill>
                  <a:schemeClr val="tx2"/>
                </a:solidFill>
              </a:rPr>
              <a:t>Canali in concorrenza</a:t>
            </a:r>
            <a:endParaRPr lang="en-US" sz="1100" dirty="0"/>
          </a:p>
          <a:p>
            <a:pPr marL="177800" indent="-177800">
              <a:spcAft>
                <a:spcPts val="300"/>
              </a:spcAft>
              <a:buSzPct val="100000"/>
              <a:buChar char="•"/>
            </a:pPr>
            <a:r>
              <a:rPr lang="en-US" sz="1100" dirty="0">
                <a:solidFill>
                  <a:schemeClr val="tx2"/>
                </a:solidFill>
              </a:rPr>
              <a:t>Dati di mercato incompleti</a:t>
            </a:r>
            <a:endParaRPr lang="en-US" sz="1100" dirty="0"/>
          </a:p>
        </p:txBody>
      </p:sp>
      <p:sp>
        <p:nvSpPr>
          <p:cNvPr id="21" name="Opportunità"/>
          <p:cNvSpPr/>
          <p:nvPr/>
        </p:nvSpPr>
        <p:spPr>
          <a:xfrm>
            <a:off x="6766560" y="1737360"/>
            <a:ext cx="1965960" cy="1965960"/>
          </a:xfrm>
          <a:prstGeom prst="roundRect">
            <a:avLst>
              <a:gd name="adj" fmla="val 3721"/>
            </a:avLst>
          </a:prstGeom>
          <a:solidFill>
            <a:schemeClr val="accent6"/>
          </a:solidFill>
          <a:ln/>
        </p:spPr>
      </p:sp>
      <p:sp>
        <p:nvSpPr>
          <p:cNvPr id="22" name="cerchio FiSun"/>
          <p:cNvSpPr/>
          <p:nvPr/>
        </p:nvSpPr>
        <p:spPr>
          <a:xfrm>
            <a:off x="6903720" y="1847088"/>
            <a:ext cx="411480" cy="411480"/>
          </a:xfrm>
          <a:prstGeom prst="ellipse">
            <a:avLst/>
          </a:prstGeom>
          <a:solidFill>
            <a:schemeClr val="accent1"/>
          </a:solidFill>
          <a:ln/>
        </p:spPr>
      </p:sp>
      <p:pic>
        <p:nvPicPr>
          <p:cNvPr id="23" name="Image 3" descr="FiSun">    </p:cNvPr>
          <p:cNvPicPr>
            <a:picLocks noChangeAspect="1"/>
          </p:cNvPicPr>
          <p:nvPr/>
        </p:nvPicPr>
        <p:blipFill>
          <a:blip r:embed="rId4"/>
          <a:stretch>
            <a:fillRect/>
          </a:stretch>
        </p:blipFill>
        <p:spPr>
          <a:xfrm>
            <a:off x="7006590" y="1949958"/>
            <a:ext cx="205740" cy="205740"/>
          </a:xfrm>
          <a:prstGeom prst="rect">
            <a:avLst/>
          </a:prstGeom>
        </p:spPr>
      </p:pic>
      <p:sp>
        <p:nvSpPr>
          <p:cNvPr id="24" name="Text 17"/>
          <p:cNvSpPr txBox="1"/>
          <p:nvPr/>
        </p:nvSpPr>
        <p:spPr>
          <a:xfrm>
            <a:off x="7406640" y="1847088"/>
            <a:ext cx="1280160" cy="411480"/>
          </a:xfrm>
          <a:prstGeom prst="rect">
            <a:avLst/>
          </a:prstGeom>
          <a:noFill/>
          <a:ln/>
        </p:spPr>
        <p:txBody>
          <a:bodyPr wrap="square" lIns="0" tIns="0" rIns="0" bIns="0" rtlCol="0" anchor="ctr"/>
          <a:lstStyle/>
          <a:p>
            <a:pPr indent="0" marL="0">
              <a:buNone/>
            </a:pPr>
            <a:r>
              <a:rPr lang="en-US" sz="1400" b="1" dirty="0">
                <a:solidFill>
                  <a:schemeClr val="tx1"/>
                </a:solidFill>
              </a:rPr>
              <a:t>Opportunità</a:t>
            </a:r>
            <a:endParaRPr lang="en-US" sz="1400" dirty="0"/>
          </a:p>
        </p:txBody>
      </p:sp>
      <p:sp>
        <p:nvSpPr>
          <p:cNvPr id="25" name="Text 18"/>
          <p:cNvSpPr txBox="1"/>
          <p:nvPr/>
        </p:nvSpPr>
        <p:spPr>
          <a:xfrm>
            <a:off x="6903720" y="2377440"/>
            <a:ext cx="1737360" cy="12801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Nuovi clienti</a:t>
            </a:r>
            <a:endParaRPr lang="en-US" sz="1100" dirty="0"/>
          </a:p>
          <a:p>
            <a:pPr marL="177800" indent="-177800">
              <a:spcAft>
                <a:spcPts val="300"/>
              </a:spcAft>
              <a:buSzPct val="100000"/>
              <a:buChar char="•"/>
            </a:pPr>
            <a:r>
              <a:rPr lang="en-US" sz="1100" dirty="0">
                <a:solidFill>
                  <a:schemeClr val="tx2"/>
                </a:solidFill>
              </a:rPr>
              <a:t>Test a basso costo</a:t>
            </a:r>
            <a:endParaRPr lang="en-US" sz="1100" dirty="0"/>
          </a:p>
          <a:p>
            <a:pPr marL="177800" indent="-177800">
              <a:spcAft>
                <a:spcPts val="300"/>
              </a:spcAft>
              <a:buSzPct val="100000"/>
              <a:buChar char="•"/>
            </a:pPr>
            <a:r>
              <a:rPr lang="en-US" sz="1100" dirty="0">
                <a:solidFill>
                  <a:schemeClr val="tx2"/>
                </a:solidFill>
              </a:rPr>
              <a:t>Dati per il passo successivo</a:t>
            </a:r>
            <a:endParaRPr lang="en-US" sz="1100" dirty="0"/>
          </a:p>
        </p:txBody>
      </p:sp>
      <p:sp>
        <p:nvSpPr>
          <p:cNvPr id="26" name="ruolo della persona"/>
          <p:cNvSpPr/>
          <p:nvPr/>
        </p:nvSpPr>
        <p:spPr>
          <a:xfrm>
            <a:off x="457200" y="3840480"/>
            <a:ext cx="8229600" cy="713232"/>
          </a:xfrm>
          <a:prstGeom prst="roundRect">
            <a:avLst>
              <a:gd name="adj" fmla="val 10256"/>
            </a:avLst>
          </a:prstGeom>
          <a:solidFill>
            <a:schemeClr val="tx1"/>
          </a:solidFill>
          <a:ln/>
        </p:spPr>
      </p:sp>
      <p:sp>
        <p:nvSpPr>
          <p:cNvPr id="27" name="Text 20"/>
          <p:cNvSpPr txBox="1"/>
          <p:nvPr/>
        </p:nvSpPr>
        <p:spPr>
          <a:xfrm>
            <a:off x="640080" y="3840480"/>
            <a:ext cx="6949440" cy="713232"/>
          </a:xfrm>
          <a:prstGeom prst="rect">
            <a:avLst/>
          </a:prstGeom>
          <a:noFill/>
          <a:ln/>
        </p:spPr>
        <p:txBody>
          <a:bodyPr wrap="square" lIns="0" tIns="0" rIns="0" bIns="0" rtlCol="0" anchor="ctr"/>
          <a:lstStyle/>
          <a:p>
            <a:pPr indent="0" marL="0">
              <a:buNone/>
            </a:pPr>
            <a:r>
              <a:rPr lang="en-US" sz="1300" b="1" dirty="0">
                <a:solidFill>
                  <a:schemeClr val="bg1"/>
                </a:solidFill>
              </a:rPr>
              <a:t>La persona sceglie i criteri che contano, aggiunge i dati reali e decide. </a:t>
            </a:r>
            <a:pPr indent="0" marL="0">
              <a:buNone/>
            </a:pPr>
            <a:r>
              <a:rPr lang="en-US" sz="1300" dirty="0">
                <a:solidFill>
                  <a:schemeClr val="accent3"/>
                </a:solidFill>
              </a:rPr>
              <a:t>Risultato: una decisione meglio informata e argomentata.</a:t>
            </a:r>
            <a:endParaRPr lang="en-US" sz="1300" dirty="0"/>
          </a:p>
        </p:txBody>
      </p:sp>
      <p:sp>
        <p:nvSpPr>
          <p:cNvPr id="28" name="Text 21"/>
          <p:cNvSpPr txBox="1"/>
          <p:nvPr/>
        </p:nvSpPr>
        <p:spPr>
          <a:xfrm>
            <a:off x="7498080" y="3840480"/>
            <a:ext cx="1097280" cy="713232"/>
          </a:xfrm>
          <a:prstGeom prst="rect">
            <a:avLst/>
          </a:prstGeom>
          <a:noFill/>
          <a:ln/>
        </p:spPr>
        <p:txBody>
          <a:bodyPr wrap="square" lIns="0" tIns="0" rIns="0" bIns="0" rtlCol="0" anchor="ctr"/>
          <a:lstStyle/>
          <a:p>
            <a:pPr algn="r" indent="0" marL="0">
              <a:buNone/>
            </a:pPr>
            <a:r>
              <a:rPr lang="en-US" sz="1000" i="1" dirty="0">
                <a:solidFill>
                  <a:schemeClr val="accent2"/>
                </a:solidFill>
              </a:rPr>
              <a:t>Esempio fittizio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Ruolo assegnato e competenza effettiva</a:t>
            </a:r>
            <a:endParaRPr lang="en-US" sz="2600" dirty="0"/>
          </a:p>
        </p:txBody>
      </p:sp>
      <p:sp>
        <p:nvSpPr>
          <p:cNvPr id="4" name="scheda Il ruolo orienta"/>
          <p:cNvSpPr/>
          <p:nvPr/>
        </p:nvSpPr>
        <p:spPr>
          <a:xfrm>
            <a:off x="457200" y="1097280"/>
            <a:ext cx="3977640" cy="2651760"/>
          </a:xfrm>
          <a:prstGeom prst="roundRect">
            <a:avLst>
              <a:gd name="adj" fmla="val 2759"/>
            </a:avLst>
          </a:prstGeom>
          <a:solidFill>
            <a:schemeClr val="accent6"/>
          </a:solidFill>
          <a:ln/>
        </p:spPr>
      </p:sp>
      <p:sp>
        <p:nvSpPr>
          <p:cNvPr id="5" name="cerchio FiCheckCircle"/>
          <p:cNvSpPr/>
          <p:nvPr/>
        </p:nvSpPr>
        <p:spPr>
          <a:xfrm>
            <a:off x="640080" y="1280160"/>
            <a:ext cx="457200" cy="457200"/>
          </a:xfrm>
          <a:prstGeom prst="ellipse">
            <a:avLst/>
          </a:prstGeom>
          <a:solidFill>
            <a:schemeClr val="accent1"/>
          </a:solidFill>
          <a:ln/>
        </p:spPr>
      </p:sp>
      <p:pic>
        <p:nvPicPr>
          <p:cNvPr id="6" name="Image 0" descr="FiCheckCircl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Il ruolo orienta</a:t>
            </a:r>
            <a:endParaRPr lang="en-US" sz="1600" dirty="0"/>
          </a:p>
        </p:txBody>
      </p:sp>
      <p:sp>
        <p:nvSpPr>
          <p:cNvPr id="8" name="Text 4"/>
          <p:cNvSpPr txBox="1"/>
          <p:nvPr/>
        </p:nvSpPr>
        <p:spPr>
          <a:xfrm>
            <a:off x="640080" y="2231136"/>
            <a:ext cx="3611880" cy="14081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Tono e lessico</a:t>
            </a:r>
            <a:endParaRPr lang="en-US" sz="1300" dirty="0"/>
          </a:p>
          <a:p>
            <a:pPr marL="177800" indent="-177800">
              <a:spcAft>
                <a:spcPts val="400"/>
              </a:spcAft>
              <a:buSzPct val="100000"/>
              <a:buChar char="•"/>
            </a:pPr>
            <a:r>
              <a:rPr lang="en-US" sz="1300" dirty="0">
                <a:solidFill>
                  <a:schemeClr val="tx2"/>
                </a:solidFill>
              </a:rPr>
              <a:t>Livello di dettaglio</a:t>
            </a:r>
            <a:endParaRPr lang="en-US" sz="1300" dirty="0"/>
          </a:p>
          <a:p>
            <a:pPr marL="177800" indent="-177800">
              <a:spcAft>
                <a:spcPts val="400"/>
              </a:spcAft>
              <a:buSzPct val="100000"/>
              <a:buChar char="•"/>
            </a:pPr>
            <a:r>
              <a:rPr lang="en-US" sz="1300" dirty="0">
                <a:solidFill>
                  <a:schemeClr val="tx2"/>
                </a:solidFill>
              </a:rPr>
              <a:t>Prospettiva e aspetti considerati</a:t>
            </a:r>
            <a:endParaRPr lang="en-US" sz="1300" dirty="0"/>
          </a:p>
          <a:p>
            <a:pPr marL="177800" indent="-177800">
              <a:spcAft>
                <a:spcPts val="400"/>
              </a:spcAft>
              <a:buSzPct val="100000"/>
              <a:buChar char="•"/>
            </a:pPr>
            <a:r>
              <a:rPr lang="en-US" sz="1300" dirty="0">
                <a:solidFill>
                  <a:schemeClr val="tx2"/>
                </a:solidFill>
              </a:rPr>
              <a:t>Risposte più pertinenti</a:t>
            </a:r>
            <a:endParaRPr lang="en-US" sz="1300" dirty="0"/>
          </a:p>
        </p:txBody>
      </p:sp>
      <p:sp>
        <p:nvSpPr>
          <p:cNvPr id="9" name="scheda Il ruolo non aggiunge"/>
          <p:cNvSpPr/>
          <p:nvPr/>
        </p:nvSpPr>
        <p:spPr>
          <a:xfrm>
            <a:off x="4709160" y="1097280"/>
            <a:ext cx="3977640" cy="2651760"/>
          </a:xfrm>
          <a:prstGeom prst="roundRect">
            <a:avLst>
              <a:gd name="adj" fmla="val 2759"/>
            </a:avLst>
          </a:prstGeom>
          <a:solidFill>
            <a:schemeClr val="bg2"/>
          </a:solidFill>
          <a:ln/>
        </p:spPr>
      </p:sp>
      <p:sp>
        <p:nvSpPr>
          <p:cNvPr id="10" name="cerchio FiInfo"/>
          <p:cNvSpPr/>
          <p:nvPr/>
        </p:nvSpPr>
        <p:spPr>
          <a:xfrm>
            <a:off x="4892040" y="1280160"/>
            <a:ext cx="457200" cy="457200"/>
          </a:xfrm>
          <a:prstGeom prst="ellipse">
            <a:avLst/>
          </a:prstGeom>
          <a:solidFill>
            <a:srgbClr val="5B6573"/>
          </a:solidFill>
          <a:ln/>
        </p:spPr>
      </p:sp>
      <p:pic>
        <p:nvPicPr>
          <p:cNvPr id="11" name="Image 1" descr="FiInfo">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Il ruolo non aggiunge</a:t>
            </a:r>
            <a:endParaRPr lang="en-US" sz="1600" dirty="0"/>
          </a:p>
        </p:txBody>
      </p:sp>
      <p:sp>
        <p:nvSpPr>
          <p:cNvPr id="13" name="Text 8"/>
          <p:cNvSpPr txBox="1"/>
          <p:nvPr/>
        </p:nvSpPr>
        <p:spPr>
          <a:xfrm>
            <a:off x="4892040" y="2231136"/>
            <a:ext cx="3611880" cy="14081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Conoscenze che il modello non ha</a:t>
            </a:r>
            <a:endParaRPr lang="en-US" sz="1300" dirty="0"/>
          </a:p>
          <a:p>
            <a:pPr marL="177800" indent="-177800">
              <a:spcAft>
                <a:spcPts val="400"/>
              </a:spcAft>
              <a:buSzPct val="100000"/>
              <a:buChar char="•"/>
            </a:pPr>
            <a:r>
              <a:rPr lang="en-US" sz="1300" dirty="0">
                <a:solidFill>
                  <a:schemeClr val="tx2"/>
                </a:solidFill>
              </a:rPr>
              <a:t>Garanzie di accuratezza</a:t>
            </a:r>
            <a:endParaRPr lang="en-US" sz="1300" dirty="0"/>
          </a:p>
          <a:p>
            <a:pPr marL="177800" indent="-177800">
              <a:spcAft>
                <a:spcPts val="400"/>
              </a:spcAft>
              <a:buSzPct val="100000"/>
              <a:buChar char="•"/>
            </a:pPr>
            <a:r>
              <a:rPr lang="en-US" sz="1300" dirty="0">
                <a:solidFill>
                  <a:schemeClr val="tx2"/>
                </a:solidFill>
              </a:rPr>
              <a:t>Responsabilità professionale</a:t>
            </a:r>
            <a:endParaRPr lang="en-US" sz="1300" dirty="0"/>
          </a:p>
        </p:txBody>
      </p:sp>
      <p:sp>
        <p:nvSpPr>
          <p:cNvPr id="14" name="messaggio"/>
          <p:cNvSpPr/>
          <p:nvPr/>
        </p:nvSpPr>
        <p:spPr>
          <a:xfrm>
            <a:off x="457200" y="3931920"/>
            <a:ext cx="8229600" cy="594360"/>
          </a:xfrm>
          <a:prstGeom prst="roundRect">
            <a:avLst>
              <a:gd name="adj" fmla="val 12308"/>
            </a:avLst>
          </a:prstGeom>
          <a:solidFill>
            <a:schemeClr val="tx1"/>
          </a:solidFill>
          <a:ln/>
        </p:spPr>
      </p:sp>
      <p:sp>
        <p:nvSpPr>
          <p:cNvPr id="15" name="Text 10"/>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Il ruolo migliora l'orientamento della risposta; l'accuratezza dipende da modello, fonti disponibili e controllo.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 collaborazione uomo-AI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valore nasce dalla combinazione delle capacità del sistema con le competenze e il contesto della persona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Ottenere una risposta o collaborare</a:t>
            </a:r>
            <a:endParaRPr lang="en-US" sz="2600" dirty="0"/>
          </a:p>
        </p:txBody>
      </p:sp>
      <p:sp>
        <p:nvSpPr>
          <p:cNvPr id="4" name="scheda Ottenere una risposta"/>
          <p:cNvSpPr/>
          <p:nvPr/>
        </p:nvSpPr>
        <p:spPr>
          <a:xfrm>
            <a:off x="457200" y="1097280"/>
            <a:ext cx="3977640" cy="2606040"/>
          </a:xfrm>
          <a:prstGeom prst="roundRect">
            <a:avLst>
              <a:gd name="adj" fmla="val 2807"/>
            </a:avLst>
          </a:prstGeom>
          <a:solidFill>
            <a:schemeClr val="bg2"/>
          </a:solidFill>
          <a:ln/>
        </p:spPr>
      </p:sp>
      <p:sp>
        <p:nvSpPr>
          <p:cNvPr id="5" name="cerchio FiDownload"/>
          <p:cNvSpPr/>
          <p:nvPr/>
        </p:nvSpPr>
        <p:spPr>
          <a:xfrm>
            <a:off x="640080" y="1280160"/>
            <a:ext cx="457200" cy="457200"/>
          </a:xfrm>
          <a:prstGeom prst="ellipse">
            <a:avLst/>
          </a:prstGeom>
          <a:solidFill>
            <a:schemeClr val="accent1"/>
          </a:solidFill>
          <a:ln/>
        </p:spPr>
      </p:sp>
      <p:pic>
        <p:nvPicPr>
          <p:cNvPr id="6" name="Image 0" descr="FiDownload">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Ottenere una risposta</a:t>
            </a:r>
            <a:endParaRPr lang="en-US" sz="1500" dirty="0"/>
          </a:p>
        </p:txBody>
      </p:sp>
      <p:sp>
        <p:nvSpPr>
          <p:cNvPr id="8" name="Text 4"/>
          <p:cNvSpPr txBox="1"/>
          <p:nvPr/>
        </p:nvSpPr>
        <p:spPr>
          <a:xfrm>
            <a:off x="640080" y="1874520"/>
            <a:ext cx="3611880" cy="1719072"/>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L'AI fornisce un risultato</a:t>
            </a:r>
            <a:endParaRPr lang="en-US" sz="1200" dirty="0"/>
          </a:p>
          <a:p>
            <a:pPr indent="0" marL="0">
              <a:buNone/>
            </a:pPr>
            <a:r>
              <a:rPr lang="en-US" sz="1200" b="1" dirty="0">
                <a:solidFill>
                  <a:schemeClr val="accent2"/>
                </a:solidFill>
              </a:rPr>
              <a:t>Esempio: </a:t>
            </a:r>
            <a:pPr indent="0" marL="0">
              <a:buNone/>
            </a:pPr>
            <a:r>
              <a:rPr lang="en-US" sz="1200" dirty="0">
                <a:solidFill>
                  <a:schemeClr val="tx2"/>
                </a:solidFill>
              </a:rPr>
              <a:t>si incollano i feedback dei clienti, si chiede "analizzali", si copia il risultato.</a:t>
            </a:r>
            <a:endParaRPr lang="en-US" sz="1200" dirty="0"/>
          </a:p>
        </p:txBody>
      </p:sp>
      <p:sp>
        <p:nvSpPr>
          <p:cNvPr id="9" name="scheda Collaborare"/>
          <p:cNvSpPr/>
          <p:nvPr/>
        </p:nvSpPr>
        <p:spPr>
          <a:xfrm>
            <a:off x="4709160" y="1097280"/>
            <a:ext cx="3977640" cy="2606040"/>
          </a:xfrm>
          <a:prstGeom prst="roundRect">
            <a:avLst>
              <a:gd name="adj" fmla="val 2807"/>
            </a:avLst>
          </a:prstGeom>
          <a:solidFill>
            <a:schemeClr val="accent6"/>
          </a:solidFill>
          <a:ln/>
        </p:spPr>
      </p:sp>
      <p:sp>
        <p:nvSpPr>
          <p:cNvPr id="10" name="cerchio FiUsers"/>
          <p:cNvSpPr/>
          <p:nvPr/>
        </p:nvSpPr>
        <p:spPr>
          <a:xfrm>
            <a:off x="4892040" y="1280160"/>
            <a:ext cx="457200" cy="457200"/>
          </a:xfrm>
          <a:prstGeom prst="ellipse">
            <a:avLst/>
          </a:prstGeom>
          <a:solidFill>
            <a:schemeClr val="accent1"/>
          </a:solidFill>
          <a:ln/>
        </p:spPr>
      </p:sp>
      <p:pic>
        <p:nvPicPr>
          <p:cNvPr id="11" name="Image 1" descr="FiUser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Collaborare</a:t>
            </a:r>
            <a:endParaRPr lang="en-US" sz="1500" dirty="0"/>
          </a:p>
        </p:txBody>
      </p:sp>
      <p:sp>
        <p:nvSpPr>
          <p:cNvPr id="13" name="Text 8"/>
          <p:cNvSpPr txBox="1"/>
          <p:nvPr/>
        </p:nvSpPr>
        <p:spPr>
          <a:xfrm>
            <a:off x="4892040" y="1874520"/>
            <a:ext cx="3611880" cy="1719072"/>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Si lavora insieme, ognuno con ciò che sa fare meglio</a:t>
            </a:r>
            <a:endParaRPr lang="en-US" sz="1200" dirty="0"/>
          </a:p>
          <a:p>
            <a:pPr marL="177800" indent="-177800">
              <a:spcAft>
                <a:spcPts val="200"/>
              </a:spcAft>
              <a:buSzPct val="100000"/>
              <a:buChar char="•"/>
            </a:pPr>
            <a:r>
              <a:rPr lang="en-US" sz="1200" dirty="0">
                <a:solidFill>
                  <a:schemeClr val="tx2"/>
                </a:solidFill>
              </a:rPr>
              <a:t>La persona definisce le domande</a:t>
            </a:r>
            <a:endParaRPr lang="en-US" sz="1200" dirty="0"/>
          </a:p>
          <a:p>
            <a:pPr marL="177800" indent="-177800">
              <a:spcAft>
                <a:spcPts val="200"/>
              </a:spcAft>
              <a:buSzPct val="100000"/>
              <a:buChar char="•"/>
            </a:pPr>
            <a:r>
              <a:rPr lang="en-US" sz="1200" dirty="0">
                <a:solidFill>
                  <a:schemeClr val="tx2"/>
                </a:solidFill>
              </a:rPr>
              <a:t>L'AI propone una classificazione</a:t>
            </a:r>
            <a:endParaRPr lang="en-US" sz="1200" dirty="0"/>
          </a:p>
          <a:p>
            <a:pPr marL="177800" indent="-177800">
              <a:spcAft>
                <a:spcPts val="200"/>
              </a:spcAft>
              <a:buSzPct val="100000"/>
              <a:buChar char="•"/>
            </a:pPr>
            <a:r>
              <a:rPr lang="en-US" sz="1200" dirty="0">
                <a:solidFill>
                  <a:schemeClr val="tx2"/>
                </a:solidFill>
              </a:rPr>
              <a:t>La persona la corregge con la sua conoscenza</a:t>
            </a:r>
            <a:endParaRPr lang="en-US" sz="1200" dirty="0"/>
          </a:p>
          <a:p>
            <a:pPr marL="177800" indent="-177800">
              <a:spcAft>
                <a:spcPts val="200"/>
              </a:spcAft>
              <a:buSzPct val="100000"/>
              <a:buChar char="•"/>
            </a:pPr>
            <a:r>
              <a:rPr lang="en-US" sz="1200" dirty="0">
                <a:solidFill>
                  <a:schemeClr val="tx2"/>
                </a:solidFill>
              </a:rPr>
              <a:t>L'AI conta e sintetizza</a:t>
            </a:r>
            <a:endParaRPr lang="en-US" sz="1200" dirty="0"/>
          </a:p>
          <a:p>
            <a:pPr marL="177800" indent="-177800">
              <a:spcAft>
                <a:spcPts val="200"/>
              </a:spcAft>
              <a:buSzPct val="100000"/>
              <a:buChar char="•"/>
            </a:pPr>
            <a:r>
              <a:rPr lang="en-US" sz="1200" dirty="0">
                <a:solidFill>
                  <a:schemeClr val="tx2"/>
                </a:solidFill>
              </a:rPr>
              <a:t>La persona verifica e conclude</a:t>
            </a:r>
            <a:endParaRPr lang="en-US" sz="1200" dirty="0"/>
          </a:p>
        </p:txBody>
      </p:sp>
      <p:sp>
        <p:nvSpPr>
          <p:cNvPr id="14" name="risultato risposta"/>
          <p:cNvSpPr/>
          <p:nvPr/>
        </p:nvSpPr>
        <p:spPr>
          <a:xfrm>
            <a:off x="457200" y="3840480"/>
            <a:ext cx="3977640" cy="685800"/>
          </a:xfrm>
          <a:prstGeom prst="roundRect">
            <a:avLst>
              <a:gd name="adj" fmla="val 10667"/>
            </a:avLst>
          </a:prstGeom>
          <a:solidFill>
            <a:schemeClr val="bg2"/>
          </a:solidFill>
          <a:ln/>
        </p:spPr>
      </p:sp>
      <p:sp>
        <p:nvSpPr>
          <p:cNvPr id="15" name="Text 10"/>
          <p:cNvSpPr txBox="1"/>
          <p:nvPr/>
        </p:nvSpPr>
        <p:spPr>
          <a:xfrm>
            <a:off x="640080" y="3840480"/>
            <a:ext cx="3657600" cy="685800"/>
          </a:xfrm>
          <a:prstGeom prst="rect">
            <a:avLst/>
          </a:prstGeom>
          <a:noFill/>
          <a:ln/>
        </p:spPr>
        <p:txBody>
          <a:bodyPr wrap="square" lIns="0" tIns="0" rIns="0" bIns="0" rtlCol="0" anchor="ctr"/>
          <a:lstStyle/>
          <a:p>
            <a:pPr indent="0" marL="0">
              <a:buNone/>
            </a:pPr>
            <a:r>
              <a:rPr lang="en-US" sz="1200" b="1" dirty="0">
                <a:solidFill>
                  <a:schemeClr val="tx1"/>
                </a:solidFill>
              </a:rPr>
              <a:t>Risultato: </a:t>
            </a:r>
            <a:pPr indent="0" marL="0">
              <a:buNone/>
            </a:pPr>
            <a:r>
              <a:rPr lang="en-US" sz="1200" dirty="0">
                <a:solidFill>
                  <a:schemeClr val="tx1"/>
                </a:solidFill>
              </a:rPr>
              <a:t>un punto di partenza, generico e da controllare per intero</a:t>
            </a:r>
            <a:endParaRPr lang="en-US" sz="1200" dirty="0"/>
          </a:p>
        </p:txBody>
      </p:sp>
      <p:sp>
        <p:nvSpPr>
          <p:cNvPr id="16" name="risultato collaborazione"/>
          <p:cNvSpPr/>
          <p:nvPr/>
        </p:nvSpPr>
        <p:spPr>
          <a:xfrm>
            <a:off x="4709160" y="3840480"/>
            <a:ext cx="3977640" cy="685800"/>
          </a:xfrm>
          <a:prstGeom prst="roundRect">
            <a:avLst>
              <a:gd name="adj" fmla="val 10667"/>
            </a:avLst>
          </a:prstGeom>
          <a:solidFill>
            <a:schemeClr val="accent1"/>
          </a:solidFill>
          <a:ln/>
        </p:spPr>
      </p:sp>
      <p:sp>
        <p:nvSpPr>
          <p:cNvPr id="17" name="Text 12"/>
          <p:cNvSpPr txBox="1"/>
          <p:nvPr/>
        </p:nvSpPr>
        <p:spPr>
          <a:xfrm>
            <a:off x="4892040" y="3840480"/>
            <a:ext cx="3657600" cy="685800"/>
          </a:xfrm>
          <a:prstGeom prst="rect">
            <a:avLst/>
          </a:prstGeom>
          <a:noFill/>
          <a:ln/>
        </p:spPr>
        <p:txBody>
          <a:bodyPr wrap="square" lIns="0" tIns="0" rIns="0" bIns="0" rtlCol="0" anchor="ctr"/>
          <a:lstStyle/>
          <a:p>
            <a:pPr indent="0" marL="0">
              <a:buNone/>
            </a:pPr>
            <a:r>
              <a:rPr lang="en-US" sz="1200" b="1" dirty="0">
                <a:solidFill>
                  <a:schemeClr val="bg1"/>
                </a:solidFill>
              </a:rPr>
              <a:t>Risultato: </a:t>
            </a:r>
            <a:pPr indent="0" marL="0">
              <a:buNone/>
            </a:pPr>
            <a:r>
              <a:rPr lang="en-US" sz="1200" dirty="0">
                <a:solidFill>
                  <a:schemeClr val="bg1"/>
                </a:solidFill>
              </a:rPr>
              <a:t>pertinente, verificato nei punti chiave, padroneggiato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 richiesta generica a collaborazione efficace</a:t>
            </a:r>
            <a:endParaRPr lang="en-US" sz="2600" dirty="0"/>
          </a:p>
        </p:txBody>
      </p:sp>
      <p:sp>
        <p:nvSpPr>
          <p:cNvPr id="4" name="passaggio 1"/>
          <p:cNvSpPr/>
          <p:nvPr/>
        </p:nvSpPr>
        <p:spPr>
          <a:xfrm>
            <a:off x="457200" y="1051560"/>
            <a:ext cx="1965960" cy="2514600"/>
          </a:xfrm>
          <a:prstGeom prst="roundRect">
            <a:avLst>
              <a:gd name="adj" fmla="val 3721"/>
            </a:avLst>
          </a:prstGeom>
          <a:solidFill>
            <a:schemeClr val="bg2"/>
          </a:solidFill>
          <a:ln/>
        </p:spPr>
      </p:sp>
      <p:sp>
        <p:nvSpPr>
          <p:cNvPr id="5" name="Text 2"/>
          <p:cNvSpPr txBox="1"/>
          <p:nvPr/>
        </p:nvSpPr>
        <p:spPr>
          <a:xfrm>
            <a:off x="594360" y="1143000"/>
            <a:ext cx="411480" cy="41148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6" name="Text 3"/>
          <p:cNvSpPr txBox="1"/>
          <p:nvPr/>
        </p:nvSpPr>
        <p:spPr>
          <a:xfrm>
            <a:off x="1005840" y="114300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Richiesta iniziale</a:t>
            </a:r>
            <a:endParaRPr lang="en-US" sz="1200" dirty="0"/>
          </a:p>
        </p:txBody>
      </p:sp>
      <p:sp>
        <p:nvSpPr>
          <p:cNvPr id="7" name="Text 4"/>
          <p:cNvSpPr txBox="1"/>
          <p:nvPr/>
        </p:nvSpPr>
        <p:spPr>
          <a:xfrm>
            <a:off x="594360" y="1691640"/>
            <a:ext cx="1719072" cy="1783080"/>
          </a:xfrm>
          <a:prstGeom prst="rect">
            <a:avLst/>
          </a:prstGeom>
          <a:noFill/>
          <a:ln/>
        </p:spPr>
        <p:txBody>
          <a:bodyPr wrap="square" lIns="0" tIns="0" rIns="0" bIns="0" rtlCol="0" anchor="t"/>
          <a:lstStyle/>
          <a:p>
            <a:pPr indent="0" marL="0">
              <a:buNone/>
            </a:pPr>
            <a:r>
              <a:rPr lang="en-US" sz="1100" dirty="0">
                <a:solidFill>
                  <a:schemeClr val="tx1"/>
                </a:solidFill>
              </a:rPr>
              <a:t>«Scrivi una risposta a questo reclamo.» Allegata l'email del cliente sul ritardo di consegna.</a:t>
            </a:r>
            <a:endParaRPr lang="en-US" sz="1100" dirty="0"/>
          </a:p>
        </p:txBody>
      </p:sp>
      <p:sp>
        <p:nvSpPr>
          <p:cNvPr id="8" name="barra base 1"/>
          <p:cNvSpPr/>
          <p:nvPr/>
        </p:nvSpPr>
        <p:spPr>
          <a:xfrm>
            <a:off x="457200" y="3657600"/>
            <a:ext cx="1965960" cy="146304"/>
          </a:xfrm>
          <a:prstGeom prst="roundRect">
            <a:avLst>
              <a:gd name="adj" fmla="val 50000"/>
            </a:avLst>
          </a:prstGeom>
          <a:solidFill>
            <a:schemeClr val="bg2"/>
          </a:solidFill>
          <a:ln/>
        </p:spPr>
      </p:sp>
      <p:sp>
        <p:nvSpPr>
          <p:cNvPr id="9" name="barra qualità 1"/>
          <p:cNvSpPr/>
          <p:nvPr/>
        </p:nvSpPr>
        <p:spPr>
          <a:xfrm>
            <a:off x="457200" y="3657600"/>
            <a:ext cx="491490" cy="146304"/>
          </a:xfrm>
          <a:prstGeom prst="roundRect">
            <a:avLst>
              <a:gd name="adj" fmla="val 50000"/>
            </a:avLst>
          </a:prstGeom>
          <a:solidFill>
            <a:schemeClr val="accent1"/>
          </a:solidFill>
          <a:ln/>
        </p:spPr>
      </p:sp>
      <p:sp>
        <p:nvSpPr>
          <p:cNvPr id="10" name="passaggio 2"/>
          <p:cNvSpPr/>
          <p:nvPr/>
        </p:nvSpPr>
        <p:spPr>
          <a:xfrm>
            <a:off x="2560320" y="1051560"/>
            <a:ext cx="1965960" cy="2514600"/>
          </a:xfrm>
          <a:prstGeom prst="roundRect">
            <a:avLst>
              <a:gd name="adj" fmla="val 3721"/>
            </a:avLst>
          </a:prstGeom>
          <a:solidFill>
            <a:schemeClr val="accent6"/>
          </a:solidFill>
          <a:ln/>
        </p:spPr>
      </p:sp>
      <p:sp>
        <p:nvSpPr>
          <p:cNvPr id="11" name="Text 8"/>
          <p:cNvSpPr txBox="1"/>
          <p:nvPr/>
        </p:nvSpPr>
        <p:spPr>
          <a:xfrm>
            <a:off x="2697480" y="1143000"/>
            <a:ext cx="411480" cy="41148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12" name="Text 9"/>
          <p:cNvSpPr txBox="1"/>
          <p:nvPr/>
        </p:nvSpPr>
        <p:spPr>
          <a:xfrm>
            <a:off x="3108960" y="114300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Prima proposta dell'AI</a:t>
            </a:r>
            <a:endParaRPr lang="en-US" sz="1200" dirty="0"/>
          </a:p>
        </p:txBody>
      </p:sp>
      <p:sp>
        <p:nvSpPr>
          <p:cNvPr id="13" name="Text 10"/>
          <p:cNvSpPr txBox="1"/>
          <p:nvPr/>
        </p:nvSpPr>
        <p:spPr>
          <a:xfrm>
            <a:off x="2697480" y="1691640"/>
            <a:ext cx="1719072" cy="1783080"/>
          </a:xfrm>
          <a:prstGeom prst="rect">
            <a:avLst/>
          </a:prstGeom>
          <a:noFill/>
          <a:ln/>
        </p:spPr>
        <p:txBody>
          <a:bodyPr wrap="square" lIns="0" tIns="0" rIns="0" bIns="0" rtlCol="0" anchor="t"/>
          <a:lstStyle/>
          <a:p>
            <a:pPr indent="0" marL="0">
              <a:buNone/>
            </a:pPr>
            <a:r>
              <a:rPr lang="en-US" sz="1100" dirty="0">
                <a:solidFill>
                  <a:schemeClr val="tx1"/>
                </a:solidFill>
              </a:rPr>
              <a:t>Risposta cortese ma generica: scuse di rito, nessuna soluzione. L'AI chiede: «Quale soluzione potete offrire? Che cliente è?»</a:t>
            </a:r>
            <a:endParaRPr lang="en-US" sz="1100" dirty="0"/>
          </a:p>
        </p:txBody>
      </p:sp>
      <p:sp>
        <p:nvSpPr>
          <p:cNvPr id="14" name="barra base 2"/>
          <p:cNvSpPr/>
          <p:nvPr/>
        </p:nvSpPr>
        <p:spPr>
          <a:xfrm>
            <a:off x="2560320" y="3657600"/>
            <a:ext cx="1965960" cy="146304"/>
          </a:xfrm>
          <a:prstGeom prst="roundRect">
            <a:avLst>
              <a:gd name="adj" fmla="val 50000"/>
            </a:avLst>
          </a:prstGeom>
          <a:solidFill>
            <a:schemeClr val="bg2"/>
          </a:solidFill>
          <a:ln/>
        </p:spPr>
      </p:sp>
      <p:sp>
        <p:nvSpPr>
          <p:cNvPr id="15" name="barra qualità 2"/>
          <p:cNvSpPr/>
          <p:nvPr/>
        </p:nvSpPr>
        <p:spPr>
          <a:xfrm>
            <a:off x="2560320" y="3657600"/>
            <a:ext cx="884682" cy="146304"/>
          </a:xfrm>
          <a:prstGeom prst="roundRect">
            <a:avLst>
              <a:gd name="adj" fmla="val 50000"/>
            </a:avLst>
          </a:prstGeom>
          <a:solidFill>
            <a:schemeClr val="accent1"/>
          </a:solidFill>
          <a:ln/>
        </p:spPr>
      </p:sp>
      <p:sp>
        <p:nvSpPr>
          <p:cNvPr id="16" name="passaggio 3"/>
          <p:cNvSpPr/>
          <p:nvPr/>
        </p:nvSpPr>
        <p:spPr>
          <a:xfrm>
            <a:off x="4663440" y="1051560"/>
            <a:ext cx="1965960" cy="2514600"/>
          </a:xfrm>
          <a:prstGeom prst="roundRect">
            <a:avLst>
              <a:gd name="adj" fmla="val 3721"/>
            </a:avLst>
          </a:prstGeom>
          <a:solidFill>
            <a:schemeClr val="bg2"/>
          </a:solidFill>
          <a:ln/>
        </p:spPr>
      </p:sp>
      <p:sp>
        <p:nvSpPr>
          <p:cNvPr id="17" name="Text 14"/>
          <p:cNvSpPr txBox="1"/>
          <p:nvPr/>
        </p:nvSpPr>
        <p:spPr>
          <a:xfrm>
            <a:off x="4800600" y="1143000"/>
            <a:ext cx="411480" cy="41148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18" name="Text 15"/>
          <p:cNvSpPr txBox="1"/>
          <p:nvPr/>
        </p:nvSpPr>
        <p:spPr>
          <a:xfrm>
            <a:off x="5212080" y="114300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Chiarimento della persona</a:t>
            </a:r>
            <a:endParaRPr lang="en-US" sz="1200" dirty="0"/>
          </a:p>
        </p:txBody>
      </p:sp>
      <p:sp>
        <p:nvSpPr>
          <p:cNvPr id="19" name="Text 16"/>
          <p:cNvSpPr txBox="1"/>
          <p:nvPr/>
        </p:nvSpPr>
        <p:spPr>
          <a:xfrm>
            <a:off x="4800600" y="1691640"/>
            <a:ext cx="1719072" cy="1783080"/>
          </a:xfrm>
          <a:prstGeom prst="rect">
            <a:avLst/>
          </a:prstGeom>
          <a:noFill/>
          <a:ln/>
        </p:spPr>
        <p:txBody>
          <a:bodyPr wrap="square" lIns="0" tIns="0" rIns="0" bIns="0" rtlCol="0" anchor="t"/>
          <a:lstStyle/>
          <a:p>
            <a:pPr indent="0" marL="0">
              <a:buNone/>
            </a:pPr>
            <a:r>
              <a:rPr lang="en-US" sz="1100" dirty="0">
                <a:solidFill>
                  <a:schemeClr val="tx1"/>
                </a:solidFill>
              </a:rPr>
              <a:t>«Cliente storico; ritardo causato da un fornitore; offriamo la spedizione prioritaria gratuita sul prossimo ordine. Tono diretto.»</a:t>
            </a:r>
            <a:endParaRPr lang="en-US" sz="1100" dirty="0"/>
          </a:p>
        </p:txBody>
      </p:sp>
      <p:sp>
        <p:nvSpPr>
          <p:cNvPr id="20" name="barra base 3"/>
          <p:cNvSpPr/>
          <p:nvPr/>
        </p:nvSpPr>
        <p:spPr>
          <a:xfrm>
            <a:off x="4663440" y="3657600"/>
            <a:ext cx="1965960" cy="146304"/>
          </a:xfrm>
          <a:prstGeom prst="roundRect">
            <a:avLst>
              <a:gd name="adj" fmla="val 50000"/>
            </a:avLst>
          </a:prstGeom>
          <a:solidFill>
            <a:schemeClr val="bg2"/>
          </a:solidFill>
          <a:ln/>
        </p:spPr>
      </p:sp>
      <p:sp>
        <p:nvSpPr>
          <p:cNvPr id="21" name="barra qualità 3"/>
          <p:cNvSpPr/>
          <p:nvPr/>
        </p:nvSpPr>
        <p:spPr>
          <a:xfrm>
            <a:off x="4663440" y="3657600"/>
            <a:ext cx="1277874" cy="146304"/>
          </a:xfrm>
          <a:prstGeom prst="roundRect">
            <a:avLst>
              <a:gd name="adj" fmla="val 50000"/>
            </a:avLst>
          </a:prstGeom>
          <a:solidFill>
            <a:schemeClr val="accent1"/>
          </a:solidFill>
          <a:ln/>
        </p:spPr>
      </p:sp>
      <p:sp>
        <p:nvSpPr>
          <p:cNvPr id="22" name="passaggio 4"/>
          <p:cNvSpPr/>
          <p:nvPr/>
        </p:nvSpPr>
        <p:spPr>
          <a:xfrm>
            <a:off x="6766560" y="1051560"/>
            <a:ext cx="1965960" cy="2514600"/>
          </a:xfrm>
          <a:prstGeom prst="roundRect">
            <a:avLst>
              <a:gd name="adj" fmla="val 3721"/>
            </a:avLst>
          </a:prstGeom>
          <a:solidFill>
            <a:schemeClr val="accent1"/>
          </a:solidFill>
          <a:ln/>
        </p:spPr>
      </p:sp>
      <p:sp>
        <p:nvSpPr>
          <p:cNvPr id="23" name="Text 20"/>
          <p:cNvSpPr txBox="1"/>
          <p:nvPr/>
        </p:nvSpPr>
        <p:spPr>
          <a:xfrm>
            <a:off x="6903720" y="1143000"/>
            <a:ext cx="411480" cy="411480"/>
          </a:xfrm>
          <a:prstGeom prst="rect">
            <a:avLst/>
          </a:prstGeom>
          <a:noFill/>
          <a:ln/>
        </p:spPr>
        <p:txBody>
          <a:bodyPr wrap="square" lIns="0" tIns="0" rIns="0" bIns="0" rtlCol="0" anchor="t"/>
          <a:lstStyle/>
          <a:p>
            <a:pPr indent="0" marL="0">
              <a:buNone/>
            </a:pPr>
            <a:r>
              <a:rPr lang="en-US" sz="2200" b="1" dirty="0">
                <a:solidFill>
                  <a:schemeClr val="bg1"/>
                </a:solidFill>
              </a:rPr>
              <a:t>4</a:t>
            </a:r>
            <a:endParaRPr lang="en-US" sz="2200" dirty="0"/>
          </a:p>
        </p:txBody>
      </p:sp>
      <p:sp>
        <p:nvSpPr>
          <p:cNvPr id="24" name="Text 21"/>
          <p:cNvSpPr txBox="1"/>
          <p:nvPr/>
        </p:nvSpPr>
        <p:spPr>
          <a:xfrm>
            <a:off x="7315200" y="1143000"/>
            <a:ext cx="1325880" cy="457200"/>
          </a:xfrm>
          <a:prstGeom prst="rect">
            <a:avLst/>
          </a:prstGeom>
          <a:noFill/>
          <a:ln/>
        </p:spPr>
        <p:txBody>
          <a:bodyPr wrap="square" lIns="0" tIns="0" rIns="0" bIns="0" rtlCol="0" anchor="ctr"/>
          <a:lstStyle/>
          <a:p>
            <a:pPr indent="0" marL="0">
              <a:buNone/>
            </a:pPr>
            <a:r>
              <a:rPr lang="en-US" sz="1200" b="1" dirty="0">
                <a:solidFill>
                  <a:schemeClr val="bg1"/>
                </a:solidFill>
              </a:rPr>
              <a:t>Risultato migliorato</a:t>
            </a:r>
            <a:endParaRPr lang="en-US" sz="1200" dirty="0"/>
          </a:p>
        </p:txBody>
      </p:sp>
      <p:sp>
        <p:nvSpPr>
          <p:cNvPr id="25" name="Text 22"/>
          <p:cNvSpPr txBox="1"/>
          <p:nvPr/>
        </p:nvSpPr>
        <p:spPr>
          <a:xfrm>
            <a:off x="6903720" y="1691640"/>
            <a:ext cx="1719072" cy="1783080"/>
          </a:xfrm>
          <a:prstGeom prst="rect">
            <a:avLst/>
          </a:prstGeom>
          <a:noFill/>
          <a:ln/>
        </p:spPr>
        <p:txBody>
          <a:bodyPr wrap="square" lIns="0" tIns="0" rIns="0" bIns="0" rtlCol="0" anchor="t"/>
          <a:lstStyle/>
          <a:p>
            <a:pPr indent="0" marL="0">
              <a:buNone/>
            </a:pPr>
            <a:r>
              <a:rPr lang="en-US" sz="1100" dirty="0">
                <a:solidFill>
                  <a:schemeClr val="bg1"/>
                </a:solidFill>
              </a:rPr>
              <a:t>Risposta specifica: riconosce il disagio, spiega la causa in una riga, propone la soluzione e un referente. La persona controlla e invia.</a:t>
            </a:r>
            <a:endParaRPr lang="en-US" sz="1100" dirty="0"/>
          </a:p>
        </p:txBody>
      </p:sp>
      <p:sp>
        <p:nvSpPr>
          <p:cNvPr id="26" name="barra base 4"/>
          <p:cNvSpPr/>
          <p:nvPr/>
        </p:nvSpPr>
        <p:spPr>
          <a:xfrm>
            <a:off x="6766560" y="3657600"/>
            <a:ext cx="1965960" cy="146304"/>
          </a:xfrm>
          <a:prstGeom prst="roundRect">
            <a:avLst>
              <a:gd name="adj" fmla="val 50000"/>
            </a:avLst>
          </a:prstGeom>
          <a:solidFill>
            <a:schemeClr val="bg2"/>
          </a:solidFill>
          <a:ln/>
        </p:spPr>
      </p:sp>
      <p:sp>
        <p:nvSpPr>
          <p:cNvPr id="27" name="barra qualità 4"/>
          <p:cNvSpPr/>
          <p:nvPr/>
        </p:nvSpPr>
        <p:spPr>
          <a:xfrm>
            <a:off x="6766560" y="3657600"/>
            <a:ext cx="1965960" cy="146304"/>
          </a:xfrm>
          <a:prstGeom prst="roundRect">
            <a:avLst>
              <a:gd name="adj" fmla="val 50000"/>
            </a:avLst>
          </a:prstGeom>
          <a:solidFill>
            <a:schemeClr val="accent1"/>
          </a:solidFill>
          <a:ln/>
        </p:spPr>
      </p:sp>
      <p:sp>
        <p:nvSpPr>
          <p:cNvPr id="28" name="messaggio"/>
          <p:cNvSpPr/>
          <p:nvPr/>
        </p:nvSpPr>
        <p:spPr>
          <a:xfrm>
            <a:off x="457200" y="3950208"/>
            <a:ext cx="8229600" cy="576072"/>
          </a:xfrm>
          <a:prstGeom prst="roundRect">
            <a:avLst>
              <a:gd name="adj" fmla="val 12698"/>
            </a:avLst>
          </a:prstGeom>
          <a:solidFill>
            <a:schemeClr val="tx1"/>
          </a:solidFill>
          <a:ln/>
        </p:spPr>
      </p:sp>
      <p:sp>
        <p:nvSpPr>
          <p:cNvPr id="29" name="Text 26"/>
          <p:cNvSpPr txBox="1"/>
          <p:nvPr/>
        </p:nvSpPr>
        <p:spPr>
          <a:xfrm>
            <a:off x="640080" y="3950208"/>
            <a:ext cx="7863840" cy="576072"/>
          </a:xfrm>
          <a:prstGeom prst="rect">
            <a:avLst/>
          </a:prstGeom>
          <a:noFill/>
          <a:ln/>
        </p:spPr>
        <p:txBody>
          <a:bodyPr wrap="square" lIns="0" tIns="0" rIns="0" bIns="0" rtlCol="0" anchor="ctr"/>
          <a:lstStyle/>
          <a:p>
            <a:pPr indent="0" marL="0">
              <a:buNone/>
            </a:pPr>
            <a:r>
              <a:rPr lang="en-US" sz="1300" dirty="0">
                <a:solidFill>
                  <a:schemeClr val="bg1"/>
                </a:solidFill>
              </a:rPr>
              <a:t>Il salto di qualità nasce da due contributi: le domande dell'AI e il contesto che solo la persona conosce.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Suddividere le attività tra persona e sistema</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2834640"/>
                <a:gridCol w="3017520"/>
              </a:tblGrid>
              <a:tr h="457200">
                <a:tc>
                  <a:txBody>
                    <a:bodyPr/>
                    <a:lstStyle/>
                    <a:p>
                      <a:pPr indent="0" marL="0">
                        <a:buNone/>
                      </a:pPr>
                      <a:r>
                        <a:rPr lang="en-US" sz="1200" b="1" dirty="0">
                          <a:solidFill>
                            <a:schemeClr val="bg1"/>
                          </a:solidFill>
                        </a:rPr>
                        <a:t>Fase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Contributo dell'AI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Contributo della persona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Definire obiettivo e criteri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Domande, esempi, criteri possibili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Decide obiettivi e criteri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Raccogliere e organizzare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Supporto efficace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Sceglie le fonti, verifica la pertinenza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Produrre una prima versione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Spesso il contributo maggiore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Fornisce indicazioni e contesto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Rivedere e migliorare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Revisore e interlocutore critico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Decide quali modifiche accettare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Validare e decidere l'uso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Controlli, confronti, verifiche di coerenza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Decide; responsabilità secondo ruoli e processi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4114800"/>
            <a:ext cx="8229600" cy="438912"/>
          </a:xfrm>
          <a:prstGeom prst="roundRect">
            <a:avLst>
              <a:gd name="adj" fmla="val 16667"/>
            </a:avLst>
          </a:prstGeom>
          <a:solidFill>
            <a:schemeClr val="tx1"/>
          </a:solidFill>
          <a:ln/>
        </p:spPr>
      </p:sp>
      <p:sp>
        <p:nvSpPr>
          <p:cNvPr id="6" name="Text 2"/>
          <p:cNvSpPr txBox="1"/>
          <p:nvPr/>
        </p:nvSpPr>
        <p:spPr>
          <a:xfrm>
            <a:off x="640080" y="4114800"/>
            <a:ext cx="7863840" cy="438912"/>
          </a:xfrm>
          <a:prstGeom prst="rect">
            <a:avLst/>
          </a:prstGeom>
          <a:noFill/>
          <a:ln/>
        </p:spPr>
        <p:txBody>
          <a:bodyPr wrap="square" lIns="0" tIns="0" rIns="0" bIns="0" rtlCol="0" anchor="ctr"/>
          <a:lstStyle/>
          <a:p>
            <a:pPr indent="0" marL="0">
              <a:buNone/>
            </a:pPr>
            <a:r>
              <a:rPr lang="en-US" sz="1300" dirty="0">
                <a:solidFill>
                  <a:schemeClr val="bg1"/>
                </a:solidFill>
              </a:rPr>
              <a:t>L'AI può contribuire a ogni fase; competenze e contesto della persona orientano tutto il lavoro.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Produrre, rivedere, migliorare</a:t>
            </a:r>
            <a:endParaRPr lang="en-US" sz="2600" dirty="0"/>
          </a:p>
        </p:txBody>
      </p:sp>
      <p:sp>
        <p:nvSpPr>
          <p:cNvPr id="4" name="fase 0"/>
          <p:cNvSpPr/>
          <p:nvPr/>
        </p:nvSpPr>
        <p:spPr>
          <a:xfrm>
            <a:off x="457200" y="1188720"/>
            <a:ext cx="1536192" cy="1737360"/>
          </a:xfrm>
          <a:prstGeom prst="roundRect">
            <a:avLst>
              <a:gd name="adj" fmla="val 4762"/>
            </a:avLst>
          </a:prstGeom>
          <a:solidFill>
            <a:schemeClr val="bg2"/>
          </a:solidFill>
          <a:ln/>
        </p:spPr>
      </p:sp>
      <p:sp>
        <p:nvSpPr>
          <p:cNvPr id="5" name="Text 2"/>
          <p:cNvSpPr txBox="1"/>
          <p:nvPr/>
        </p:nvSpPr>
        <p:spPr>
          <a:xfrm>
            <a:off x="548640" y="1280160"/>
            <a:ext cx="1353312" cy="365760"/>
          </a:xfrm>
          <a:prstGeom prst="rect">
            <a:avLst/>
          </a:prstGeom>
          <a:noFill/>
          <a:ln/>
        </p:spPr>
        <p:txBody>
          <a:bodyPr wrap="square" lIns="0" tIns="0" rIns="0" bIns="0" rtlCol="0" anchor="t"/>
          <a:lstStyle/>
          <a:p>
            <a:pPr algn="ctr" indent="0" marL="0">
              <a:buNone/>
            </a:pPr>
            <a:r>
              <a:rPr lang="en-US" sz="1500" b="1" dirty="0">
                <a:solidFill>
                  <a:schemeClr val="accent1"/>
                </a:solidFill>
              </a:rPr>
              <a:t>Persona</a:t>
            </a:r>
            <a:endParaRPr lang="en-US" sz="1500" dirty="0"/>
          </a:p>
        </p:txBody>
      </p:sp>
      <p:sp>
        <p:nvSpPr>
          <p:cNvPr id="6" name="Text 3"/>
          <p:cNvSpPr txBox="1"/>
          <p:nvPr/>
        </p:nvSpPr>
        <p:spPr>
          <a:xfrm>
            <a:off x="566928" y="1691640"/>
            <a:ext cx="1316736" cy="1143000"/>
          </a:xfrm>
          <a:prstGeom prst="rect">
            <a:avLst/>
          </a:prstGeom>
          <a:noFill/>
          <a:ln/>
        </p:spPr>
        <p:txBody>
          <a:bodyPr wrap="square" lIns="0" tIns="0" rIns="0" bIns="0" rtlCol="0" anchor="t"/>
          <a:lstStyle/>
          <a:p>
            <a:pPr algn="ctr" indent="0" marL="0">
              <a:buNone/>
            </a:pPr>
            <a:r>
              <a:rPr lang="en-US" sz="1200" dirty="0">
                <a:solidFill>
                  <a:schemeClr val="tx1"/>
                </a:solidFill>
              </a:rPr>
              <a:t>Imposta obiettivo, pubblico, punti chiave</a:t>
            </a:r>
            <a:endParaRPr lang="en-US" sz="1200" dirty="0"/>
          </a:p>
        </p:txBody>
      </p:sp>
      <p:sp>
        <p:nvSpPr>
          <p:cNvPr id="7" name="fase 1"/>
          <p:cNvSpPr/>
          <p:nvPr/>
        </p:nvSpPr>
        <p:spPr>
          <a:xfrm>
            <a:off x="2139696" y="1188720"/>
            <a:ext cx="1536192" cy="1737360"/>
          </a:xfrm>
          <a:prstGeom prst="roundRect">
            <a:avLst>
              <a:gd name="adj" fmla="val 4762"/>
            </a:avLst>
          </a:prstGeom>
          <a:solidFill>
            <a:schemeClr val="accent6"/>
          </a:solidFill>
          <a:ln/>
        </p:spPr>
      </p:sp>
      <p:sp>
        <p:nvSpPr>
          <p:cNvPr id="8" name="Text 5"/>
          <p:cNvSpPr txBox="1"/>
          <p:nvPr/>
        </p:nvSpPr>
        <p:spPr>
          <a:xfrm>
            <a:off x="2231136" y="1280160"/>
            <a:ext cx="1353312" cy="365760"/>
          </a:xfrm>
          <a:prstGeom prst="rect">
            <a:avLst/>
          </a:prstGeom>
          <a:noFill/>
          <a:ln/>
        </p:spPr>
        <p:txBody>
          <a:bodyPr wrap="square" lIns="0" tIns="0" rIns="0" bIns="0" rtlCol="0" anchor="t"/>
          <a:lstStyle/>
          <a:p>
            <a:pPr algn="ctr" indent="0" marL="0">
              <a:buNone/>
            </a:pPr>
            <a:r>
              <a:rPr lang="en-US" sz="1500" b="1" dirty="0">
                <a:solidFill>
                  <a:schemeClr val="accent1"/>
                </a:solidFill>
              </a:rPr>
              <a:t>AI</a:t>
            </a:r>
            <a:endParaRPr lang="en-US" sz="1500" dirty="0"/>
          </a:p>
        </p:txBody>
      </p:sp>
      <p:sp>
        <p:nvSpPr>
          <p:cNvPr id="9" name="Text 6"/>
          <p:cNvSpPr txBox="1"/>
          <p:nvPr/>
        </p:nvSpPr>
        <p:spPr>
          <a:xfrm>
            <a:off x="2249424" y="1691640"/>
            <a:ext cx="1316736" cy="1143000"/>
          </a:xfrm>
          <a:prstGeom prst="rect">
            <a:avLst/>
          </a:prstGeom>
          <a:noFill/>
          <a:ln/>
        </p:spPr>
        <p:txBody>
          <a:bodyPr wrap="square" lIns="0" tIns="0" rIns="0" bIns="0" rtlCol="0" anchor="t"/>
          <a:lstStyle/>
          <a:p>
            <a:pPr algn="ctr" indent="0" marL="0">
              <a:buNone/>
            </a:pPr>
            <a:r>
              <a:rPr lang="en-US" sz="1200" dirty="0">
                <a:solidFill>
                  <a:schemeClr val="tx1"/>
                </a:solidFill>
              </a:rPr>
              <a:t>Produce una prima versione</a:t>
            </a:r>
            <a:endParaRPr lang="en-US" sz="1200" dirty="0"/>
          </a:p>
        </p:txBody>
      </p:sp>
      <p:sp>
        <p:nvSpPr>
          <p:cNvPr id="10" name="fase 2"/>
          <p:cNvSpPr/>
          <p:nvPr/>
        </p:nvSpPr>
        <p:spPr>
          <a:xfrm>
            <a:off x="3822192" y="1188720"/>
            <a:ext cx="1536192" cy="1737360"/>
          </a:xfrm>
          <a:prstGeom prst="roundRect">
            <a:avLst>
              <a:gd name="adj" fmla="val 4762"/>
            </a:avLst>
          </a:prstGeom>
          <a:solidFill>
            <a:schemeClr val="bg2"/>
          </a:solidFill>
          <a:ln/>
        </p:spPr>
      </p:sp>
      <p:sp>
        <p:nvSpPr>
          <p:cNvPr id="11" name="Text 8"/>
          <p:cNvSpPr txBox="1"/>
          <p:nvPr/>
        </p:nvSpPr>
        <p:spPr>
          <a:xfrm>
            <a:off x="3913632" y="1280160"/>
            <a:ext cx="1353312" cy="365760"/>
          </a:xfrm>
          <a:prstGeom prst="rect">
            <a:avLst/>
          </a:prstGeom>
          <a:noFill/>
          <a:ln/>
        </p:spPr>
        <p:txBody>
          <a:bodyPr wrap="square" lIns="0" tIns="0" rIns="0" bIns="0" rtlCol="0" anchor="t"/>
          <a:lstStyle/>
          <a:p>
            <a:pPr algn="ctr" indent="0" marL="0">
              <a:buNone/>
            </a:pPr>
            <a:r>
              <a:rPr lang="en-US" sz="1500" b="1" dirty="0">
                <a:solidFill>
                  <a:schemeClr val="accent1"/>
                </a:solidFill>
              </a:rPr>
              <a:t>Persona</a:t>
            </a:r>
            <a:endParaRPr lang="en-US" sz="1500" dirty="0"/>
          </a:p>
        </p:txBody>
      </p:sp>
      <p:sp>
        <p:nvSpPr>
          <p:cNvPr id="12" name="Text 9"/>
          <p:cNvSpPr txBox="1"/>
          <p:nvPr/>
        </p:nvSpPr>
        <p:spPr>
          <a:xfrm>
            <a:off x="3931920" y="1691640"/>
            <a:ext cx="1316736" cy="1143000"/>
          </a:xfrm>
          <a:prstGeom prst="rect">
            <a:avLst/>
          </a:prstGeom>
          <a:noFill/>
          <a:ln/>
        </p:spPr>
        <p:txBody>
          <a:bodyPr wrap="square" lIns="0" tIns="0" rIns="0" bIns="0" rtlCol="0" anchor="t"/>
          <a:lstStyle/>
          <a:p>
            <a:pPr algn="ctr" indent="0" marL="0">
              <a:buNone/>
            </a:pPr>
            <a:r>
              <a:rPr lang="en-US" sz="1200" dirty="0">
                <a:solidFill>
                  <a:schemeClr val="tx1"/>
                </a:solidFill>
              </a:rPr>
              <a:t>Valuta e commenta</a:t>
            </a:r>
            <a:endParaRPr lang="en-US" sz="1200" dirty="0"/>
          </a:p>
        </p:txBody>
      </p:sp>
      <p:sp>
        <p:nvSpPr>
          <p:cNvPr id="13" name="fase 3"/>
          <p:cNvSpPr/>
          <p:nvPr/>
        </p:nvSpPr>
        <p:spPr>
          <a:xfrm>
            <a:off x="5504688" y="1188720"/>
            <a:ext cx="1536192" cy="1737360"/>
          </a:xfrm>
          <a:prstGeom prst="roundRect">
            <a:avLst>
              <a:gd name="adj" fmla="val 4762"/>
            </a:avLst>
          </a:prstGeom>
          <a:solidFill>
            <a:schemeClr val="accent6"/>
          </a:solidFill>
          <a:ln/>
        </p:spPr>
      </p:sp>
      <p:sp>
        <p:nvSpPr>
          <p:cNvPr id="14" name="Text 11"/>
          <p:cNvSpPr txBox="1"/>
          <p:nvPr/>
        </p:nvSpPr>
        <p:spPr>
          <a:xfrm>
            <a:off x="5596128" y="1280160"/>
            <a:ext cx="1353312" cy="365760"/>
          </a:xfrm>
          <a:prstGeom prst="rect">
            <a:avLst/>
          </a:prstGeom>
          <a:noFill/>
          <a:ln/>
        </p:spPr>
        <p:txBody>
          <a:bodyPr wrap="square" lIns="0" tIns="0" rIns="0" bIns="0" rtlCol="0" anchor="t"/>
          <a:lstStyle/>
          <a:p>
            <a:pPr algn="ctr" indent="0" marL="0">
              <a:buNone/>
            </a:pPr>
            <a:r>
              <a:rPr lang="en-US" sz="1500" b="1" dirty="0">
                <a:solidFill>
                  <a:schemeClr val="accent1"/>
                </a:solidFill>
              </a:rPr>
              <a:t>AI</a:t>
            </a:r>
            <a:endParaRPr lang="en-US" sz="1500" dirty="0"/>
          </a:p>
        </p:txBody>
      </p:sp>
      <p:sp>
        <p:nvSpPr>
          <p:cNvPr id="15" name="Text 12"/>
          <p:cNvSpPr txBox="1"/>
          <p:nvPr/>
        </p:nvSpPr>
        <p:spPr>
          <a:xfrm>
            <a:off x="5614416" y="1691640"/>
            <a:ext cx="1316736" cy="1143000"/>
          </a:xfrm>
          <a:prstGeom prst="rect">
            <a:avLst/>
          </a:prstGeom>
          <a:noFill/>
          <a:ln/>
        </p:spPr>
        <p:txBody>
          <a:bodyPr wrap="square" lIns="0" tIns="0" rIns="0" bIns="0" rtlCol="0" anchor="t"/>
          <a:lstStyle/>
          <a:p>
            <a:pPr algn="ctr" indent="0" marL="0">
              <a:buNone/>
            </a:pPr>
            <a:r>
              <a:rPr lang="en-US" sz="1200" dirty="0">
                <a:solidFill>
                  <a:schemeClr val="tx1"/>
                </a:solidFill>
              </a:rPr>
              <a:t>Rivede o propone osservazioni critiche</a:t>
            </a:r>
            <a:endParaRPr lang="en-US" sz="1200" dirty="0"/>
          </a:p>
        </p:txBody>
      </p:sp>
      <p:sp>
        <p:nvSpPr>
          <p:cNvPr id="16" name="fase 4"/>
          <p:cNvSpPr/>
          <p:nvPr/>
        </p:nvSpPr>
        <p:spPr>
          <a:xfrm>
            <a:off x="7187184" y="1188720"/>
            <a:ext cx="1536192" cy="1737360"/>
          </a:xfrm>
          <a:prstGeom prst="roundRect">
            <a:avLst>
              <a:gd name="adj" fmla="val 4762"/>
            </a:avLst>
          </a:prstGeom>
          <a:solidFill>
            <a:schemeClr val="accent1"/>
          </a:solidFill>
          <a:ln/>
        </p:spPr>
      </p:sp>
      <p:sp>
        <p:nvSpPr>
          <p:cNvPr id="17" name="Text 14"/>
          <p:cNvSpPr txBox="1"/>
          <p:nvPr/>
        </p:nvSpPr>
        <p:spPr>
          <a:xfrm>
            <a:off x="7278624" y="1280160"/>
            <a:ext cx="1353312" cy="365760"/>
          </a:xfrm>
          <a:prstGeom prst="rect">
            <a:avLst/>
          </a:prstGeom>
          <a:noFill/>
          <a:ln/>
        </p:spPr>
        <p:txBody>
          <a:bodyPr wrap="square" lIns="0" tIns="0" rIns="0" bIns="0" rtlCol="0" anchor="t"/>
          <a:lstStyle/>
          <a:p>
            <a:pPr algn="ctr" indent="0" marL="0">
              <a:buNone/>
            </a:pPr>
            <a:r>
              <a:rPr lang="en-US" sz="1500" b="1" dirty="0">
                <a:solidFill>
                  <a:schemeClr val="bg1"/>
                </a:solidFill>
              </a:rPr>
              <a:t>Persona</a:t>
            </a:r>
            <a:endParaRPr lang="en-US" sz="1500" dirty="0"/>
          </a:p>
        </p:txBody>
      </p:sp>
      <p:sp>
        <p:nvSpPr>
          <p:cNvPr id="18" name="Text 15"/>
          <p:cNvSpPr txBox="1"/>
          <p:nvPr/>
        </p:nvSpPr>
        <p:spPr>
          <a:xfrm>
            <a:off x="7296912" y="1691640"/>
            <a:ext cx="1316736" cy="1143000"/>
          </a:xfrm>
          <a:prstGeom prst="rect">
            <a:avLst/>
          </a:prstGeom>
          <a:noFill/>
          <a:ln/>
        </p:spPr>
        <p:txBody>
          <a:bodyPr wrap="square" lIns="0" tIns="0" rIns="0" bIns="0" rtlCol="0" anchor="t"/>
          <a:lstStyle/>
          <a:p>
            <a:pPr algn="ctr" indent="0" marL="0">
              <a:buNone/>
            </a:pPr>
            <a:r>
              <a:rPr lang="en-US" sz="1200" dirty="0">
                <a:solidFill>
                  <a:schemeClr val="bg1"/>
                </a:solidFill>
              </a:rPr>
              <a:t>Decide, rifinisce, valida</a:t>
            </a:r>
            <a:endParaRPr lang="en-US" sz="1200" dirty="0"/>
          </a:p>
        </p:txBody>
      </p:sp>
      <p:sp>
        <p:nvSpPr>
          <p:cNvPr id="19" name="scheda Si può partire anche dalla persona"/>
          <p:cNvSpPr/>
          <p:nvPr/>
        </p:nvSpPr>
        <p:spPr>
          <a:xfrm>
            <a:off x="457200" y="3154680"/>
            <a:ext cx="8229600" cy="1371600"/>
          </a:xfrm>
          <a:prstGeom prst="roundRect">
            <a:avLst>
              <a:gd name="adj" fmla="val 5333"/>
            </a:avLst>
          </a:prstGeom>
          <a:solidFill>
            <a:schemeClr val="bg2"/>
          </a:solidFill>
          <a:ln/>
        </p:spPr>
      </p:sp>
      <p:sp>
        <p:nvSpPr>
          <p:cNvPr id="20" name="cerchio FiEdit"/>
          <p:cNvSpPr/>
          <p:nvPr/>
        </p:nvSpPr>
        <p:spPr>
          <a:xfrm>
            <a:off x="640080" y="3337560"/>
            <a:ext cx="457200" cy="457200"/>
          </a:xfrm>
          <a:prstGeom prst="ellipse">
            <a:avLst/>
          </a:prstGeom>
          <a:solidFill>
            <a:schemeClr val="accent1"/>
          </a:solidFill>
          <a:ln/>
        </p:spPr>
      </p:sp>
      <p:pic>
        <p:nvPicPr>
          <p:cNvPr id="21" name="Image 0" descr="FiEdit">    </p:cNvPr>
          <p:cNvPicPr>
            <a:picLocks noChangeAspect="1"/>
          </p:cNvPicPr>
          <p:nvPr/>
        </p:nvPicPr>
        <p:blipFill>
          <a:blip r:embed="rId1"/>
          <a:stretch>
            <a:fillRect/>
          </a:stretch>
        </p:blipFill>
        <p:spPr>
          <a:xfrm>
            <a:off x="754380" y="3451860"/>
            <a:ext cx="228600" cy="228600"/>
          </a:xfrm>
          <a:prstGeom prst="rect">
            <a:avLst/>
          </a:prstGeom>
        </p:spPr>
      </p:pic>
      <p:sp>
        <p:nvSpPr>
          <p:cNvPr id="22" name="Text 18"/>
          <p:cNvSpPr txBox="1"/>
          <p:nvPr/>
        </p:nvSpPr>
        <p:spPr>
          <a:xfrm>
            <a:off x="1234440" y="3337560"/>
            <a:ext cx="7269480" cy="457200"/>
          </a:xfrm>
          <a:prstGeom prst="rect">
            <a:avLst/>
          </a:prstGeom>
          <a:noFill/>
          <a:ln/>
        </p:spPr>
        <p:txBody>
          <a:bodyPr wrap="square" lIns="0" tIns="0" rIns="0" bIns="0" rtlCol="0" anchor="ctr"/>
          <a:lstStyle/>
          <a:p>
            <a:pPr indent="0" marL="0">
              <a:buNone/>
            </a:pPr>
            <a:r>
              <a:rPr lang="en-US" sz="1500" b="1" dirty="0">
                <a:solidFill>
                  <a:schemeClr val="tx1"/>
                </a:solidFill>
              </a:rPr>
              <a:t>Si può partire anche dalla persona</a:t>
            </a:r>
            <a:endParaRPr lang="en-US" sz="1500" dirty="0"/>
          </a:p>
        </p:txBody>
      </p:sp>
      <p:sp>
        <p:nvSpPr>
          <p:cNvPr id="23" name="Text 19"/>
          <p:cNvSpPr txBox="1"/>
          <p:nvPr/>
        </p:nvSpPr>
        <p:spPr>
          <a:xfrm>
            <a:off x="640080" y="3931920"/>
            <a:ext cx="7863840" cy="484632"/>
          </a:xfrm>
          <a:prstGeom prst="rect">
            <a:avLst/>
          </a:prstGeom>
          <a:noFill/>
          <a:ln/>
        </p:spPr>
        <p:txBody>
          <a:bodyPr wrap="square" lIns="0" tIns="0" rIns="0" bIns="0" rtlCol="0" anchor="t"/>
          <a:lstStyle/>
          <a:p>
            <a:pPr indent="0" marL="0">
              <a:buNone/>
            </a:pPr>
            <a:r>
              <a:rPr lang="en-US" sz="1300" dirty="0">
                <a:solidFill>
                  <a:schemeClr val="tx2"/>
                </a:solidFill>
              </a:rPr>
              <a:t>Scrivere una propria bozza e chiedere all'AI di rivederla o metterla alla prova: il pensiero di partenza resta nostro e l'AI lo arricchisce.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 livelli di delega all'Intelligenza Artificiale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livello di delega si sceglie in base al compito, alle capacità del sistema, ai rischi e ai controlli disponibili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Cinque livelli di delega</a:t>
            </a:r>
            <a:endParaRPr lang="en-US" sz="2600" dirty="0"/>
          </a:p>
        </p:txBody>
      </p:sp>
      <p:sp>
        <p:nvSpPr>
          <p:cNvPr id="4" name="livello 1"/>
          <p:cNvSpPr/>
          <p:nvPr/>
        </p:nvSpPr>
        <p:spPr>
          <a:xfrm>
            <a:off x="457200" y="2377440"/>
            <a:ext cx="1536192" cy="1463040"/>
          </a:xfrm>
          <a:prstGeom prst="roundRect">
            <a:avLst>
              <a:gd name="adj" fmla="val 5000"/>
            </a:avLst>
          </a:prstGeom>
          <a:solidFill>
            <a:schemeClr val="bg2"/>
          </a:solidFill>
          <a:ln/>
        </p:spPr>
      </p:sp>
      <p:sp>
        <p:nvSpPr>
          <p:cNvPr id="5" name="Text 2"/>
          <p:cNvSpPr txBox="1"/>
          <p:nvPr/>
        </p:nvSpPr>
        <p:spPr>
          <a:xfrm>
            <a:off x="566928" y="2450592"/>
            <a:ext cx="548640" cy="41148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6" name="Text 3"/>
          <p:cNvSpPr txBox="1"/>
          <p:nvPr/>
        </p:nvSpPr>
        <p:spPr>
          <a:xfrm>
            <a:off x="566928" y="2880360"/>
            <a:ext cx="1353312" cy="548640"/>
          </a:xfrm>
          <a:prstGeom prst="rect">
            <a:avLst/>
          </a:prstGeom>
          <a:noFill/>
          <a:ln/>
        </p:spPr>
        <p:txBody>
          <a:bodyPr wrap="square" lIns="0" tIns="0" rIns="0" bIns="0" rtlCol="0" anchor="t"/>
          <a:lstStyle/>
          <a:p>
            <a:pPr indent="0" marL="0">
              <a:buNone/>
            </a:pPr>
            <a:r>
              <a:rPr lang="en-US" sz="1300" b="1" dirty="0">
                <a:solidFill>
                  <a:schemeClr val="tx1"/>
                </a:solidFill>
              </a:rPr>
              <a:t>Strumento informativo</a:t>
            </a:r>
            <a:endParaRPr lang="en-US" sz="1300" dirty="0"/>
          </a:p>
        </p:txBody>
      </p:sp>
      <p:sp>
        <p:nvSpPr>
          <p:cNvPr id="7" name="Text 4"/>
          <p:cNvSpPr txBox="1"/>
          <p:nvPr/>
        </p:nvSpPr>
        <p:spPr>
          <a:xfrm>
            <a:off x="566928" y="3429000"/>
            <a:ext cx="1353312" cy="365760"/>
          </a:xfrm>
          <a:prstGeom prst="rect">
            <a:avLst/>
          </a:prstGeom>
          <a:noFill/>
          <a:ln/>
        </p:spPr>
        <p:txBody>
          <a:bodyPr wrap="square" lIns="0" tIns="0" rIns="0" bIns="0" rtlCol="0" anchor="t"/>
          <a:lstStyle/>
          <a:p>
            <a:pPr indent="0" marL="0">
              <a:buNone/>
            </a:pPr>
            <a:r>
              <a:rPr lang="en-US" sz="1100" dirty="0">
                <a:solidFill>
                  <a:schemeClr val="tx2"/>
                </a:solidFill>
              </a:rPr>
              <a:t>Fornisce informazioni e spiegazioni</a:t>
            </a:r>
            <a:endParaRPr lang="en-US" sz="1100" dirty="0"/>
          </a:p>
        </p:txBody>
      </p:sp>
      <p:sp>
        <p:nvSpPr>
          <p:cNvPr id="8" name="livello 2"/>
          <p:cNvSpPr/>
          <p:nvPr/>
        </p:nvSpPr>
        <p:spPr>
          <a:xfrm>
            <a:off x="2139696" y="2057400"/>
            <a:ext cx="1536192" cy="1783080"/>
          </a:xfrm>
          <a:prstGeom prst="roundRect">
            <a:avLst>
              <a:gd name="adj" fmla="val 4762"/>
            </a:avLst>
          </a:prstGeom>
          <a:solidFill>
            <a:schemeClr val="bg2"/>
          </a:solidFill>
          <a:ln/>
        </p:spPr>
      </p:sp>
      <p:sp>
        <p:nvSpPr>
          <p:cNvPr id="9" name="Text 6"/>
          <p:cNvSpPr txBox="1"/>
          <p:nvPr/>
        </p:nvSpPr>
        <p:spPr>
          <a:xfrm>
            <a:off x="2249424" y="2130552"/>
            <a:ext cx="548640" cy="41148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10" name="Text 7"/>
          <p:cNvSpPr txBox="1"/>
          <p:nvPr/>
        </p:nvSpPr>
        <p:spPr>
          <a:xfrm>
            <a:off x="2249424" y="2560320"/>
            <a:ext cx="1353312" cy="548640"/>
          </a:xfrm>
          <a:prstGeom prst="rect">
            <a:avLst/>
          </a:prstGeom>
          <a:noFill/>
          <a:ln/>
        </p:spPr>
        <p:txBody>
          <a:bodyPr wrap="square" lIns="0" tIns="0" rIns="0" bIns="0" rtlCol="0" anchor="t"/>
          <a:lstStyle/>
          <a:p>
            <a:pPr indent="0" marL="0">
              <a:buNone/>
            </a:pPr>
            <a:r>
              <a:rPr lang="en-US" sz="1300" b="1" dirty="0">
                <a:solidFill>
                  <a:schemeClr val="tx1"/>
                </a:solidFill>
              </a:rPr>
              <a:t>Supporto e suggeritore</a:t>
            </a:r>
            <a:endParaRPr lang="en-US" sz="1300" dirty="0"/>
          </a:p>
        </p:txBody>
      </p:sp>
      <p:sp>
        <p:nvSpPr>
          <p:cNvPr id="11" name="Text 8"/>
          <p:cNvSpPr txBox="1"/>
          <p:nvPr/>
        </p:nvSpPr>
        <p:spPr>
          <a:xfrm>
            <a:off x="2249424" y="3108960"/>
            <a:ext cx="1353312" cy="685800"/>
          </a:xfrm>
          <a:prstGeom prst="rect">
            <a:avLst/>
          </a:prstGeom>
          <a:noFill/>
          <a:ln/>
        </p:spPr>
        <p:txBody>
          <a:bodyPr wrap="square" lIns="0" tIns="0" rIns="0" bIns="0" rtlCol="0" anchor="t"/>
          <a:lstStyle/>
          <a:p>
            <a:pPr indent="0" marL="0">
              <a:buNone/>
            </a:pPr>
            <a:r>
              <a:rPr lang="en-US" sz="1100" dirty="0">
                <a:solidFill>
                  <a:schemeClr val="tx2"/>
                </a:solidFill>
              </a:rPr>
              <a:t>Propone; la persona sceglie e realizza</a:t>
            </a:r>
            <a:endParaRPr lang="en-US" sz="1100" dirty="0"/>
          </a:p>
        </p:txBody>
      </p:sp>
      <p:sp>
        <p:nvSpPr>
          <p:cNvPr id="12" name="livello 3"/>
          <p:cNvSpPr/>
          <p:nvPr/>
        </p:nvSpPr>
        <p:spPr>
          <a:xfrm>
            <a:off x="3822192" y="1737360"/>
            <a:ext cx="1536192" cy="2103120"/>
          </a:xfrm>
          <a:prstGeom prst="roundRect">
            <a:avLst>
              <a:gd name="adj" fmla="val 4762"/>
            </a:avLst>
          </a:prstGeom>
          <a:solidFill>
            <a:schemeClr val="accent6"/>
          </a:solidFill>
          <a:ln/>
        </p:spPr>
      </p:sp>
      <p:sp>
        <p:nvSpPr>
          <p:cNvPr id="13" name="Text 10"/>
          <p:cNvSpPr txBox="1"/>
          <p:nvPr/>
        </p:nvSpPr>
        <p:spPr>
          <a:xfrm>
            <a:off x="3931920" y="1810512"/>
            <a:ext cx="548640" cy="41148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14" name="Text 11"/>
          <p:cNvSpPr txBox="1"/>
          <p:nvPr/>
        </p:nvSpPr>
        <p:spPr>
          <a:xfrm>
            <a:off x="3931920" y="2240280"/>
            <a:ext cx="1353312" cy="548640"/>
          </a:xfrm>
          <a:prstGeom prst="rect">
            <a:avLst/>
          </a:prstGeom>
          <a:noFill/>
          <a:ln/>
        </p:spPr>
        <p:txBody>
          <a:bodyPr wrap="square" lIns="0" tIns="0" rIns="0" bIns="0" rtlCol="0" anchor="t"/>
          <a:lstStyle/>
          <a:p>
            <a:pPr indent="0" marL="0">
              <a:buNone/>
            </a:pPr>
            <a:r>
              <a:rPr lang="en-US" sz="1300" b="1" dirty="0">
                <a:solidFill>
                  <a:schemeClr val="tx1"/>
                </a:solidFill>
              </a:rPr>
              <a:t>Collaboratore</a:t>
            </a:r>
            <a:endParaRPr lang="en-US" sz="1300" dirty="0"/>
          </a:p>
        </p:txBody>
      </p:sp>
      <p:sp>
        <p:nvSpPr>
          <p:cNvPr id="15" name="Text 12"/>
          <p:cNvSpPr txBox="1"/>
          <p:nvPr/>
        </p:nvSpPr>
        <p:spPr>
          <a:xfrm>
            <a:off x="3931920" y="2788920"/>
            <a:ext cx="1353312" cy="1005840"/>
          </a:xfrm>
          <a:prstGeom prst="rect">
            <a:avLst/>
          </a:prstGeom>
          <a:noFill/>
          <a:ln/>
        </p:spPr>
        <p:txBody>
          <a:bodyPr wrap="square" lIns="0" tIns="0" rIns="0" bIns="0" rtlCol="0" anchor="t"/>
          <a:lstStyle/>
          <a:p>
            <a:pPr indent="0" marL="0">
              <a:buNone/>
            </a:pPr>
            <a:r>
              <a:rPr lang="en-US" sz="1100" dirty="0">
                <a:solidFill>
                  <a:schemeClr val="tx2"/>
                </a:solidFill>
              </a:rPr>
              <a:t>Produce parti del risultato; la persona rivede e valida</a:t>
            </a:r>
            <a:endParaRPr lang="en-US" sz="1100" dirty="0"/>
          </a:p>
        </p:txBody>
      </p:sp>
      <p:sp>
        <p:nvSpPr>
          <p:cNvPr id="16" name="livello 4"/>
          <p:cNvSpPr/>
          <p:nvPr/>
        </p:nvSpPr>
        <p:spPr>
          <a:xfrm>
            <a:off x="5504688" y="1417320"/>
            <a:ext cx="1536192" cy="2423160"/>
          </a:xfrm>
          <a:prstGeom prst="roundRect">
            <a:avLst>
              <a:gd name="adj" fmla="val 4762"/>
            </a:avLst>
          </a:prstGeom>
          <a:solidFill>
            <a:schemeClr val="accent6"/>
          </a:solidFill>
          <a:ln/>
        </p:spPr>
      </p:sp>
      <p:sp>
        <p:nvSpPr>
          <p:cNvPr id="17" name="Text 14"/>
          <p:cNvSpPr txBox="1"/>
          <p:nvPr/>
        </p:nvSpPr>
        <p:spPr>
          <a:xfrm>
            <a:off x="5614416" y="1490472"/>
            <a:ext cx="548640" cy="41148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18" name="Text 15"/>
          <p:cNvSpPr txBox="1"/>
          <p:nvPr/>
        </p:nvSpPr>
        <p:spPr>
          <a:xfrm>
            <a:off x="5614416" y="1920240"/>
            <a:ext cx="1353312" cy="548640"/>
          </a:xfrm>
          <a:prstGeom prst="rect">
            <a:avLst/>
          </a:prstGeom>
          <a:noFill/>
          <a:ln/>
        </p:spPr>
        <p:txBody>
          <a:bodyPr wrap="square" lIns="0" tIns="0" rIns="0" bIns="0" rtlCol="0" anchor="t"/>
          <a:lstStyle/>
          <a:p>
            <a:pPr indent="0" marL="0">
              <a:buNone/>
            </a:pPr>
            <a:r>
              <a:rPr lang="en-US" sz="1300" b="1" dirty="0">
                <a:solidFill>
                  <a:schemeClr val="tx1"/>
                </a:solidFill>
              </a:rPr>
              <a:t>Delega con supervisione</a:t>
            </a:r>
            <a:endParaRPr lang="en-US" sz="1300" dirty="0"/>
          </a:p>
        </p:txBody>
      </p:sp>
      <p:sp>
        <p:nvSpPr>
          <p:cNvPr id="19" name="Text 16"/>
          <p:cNvSpPr txBox="1"/>
          <p:nvPr/>
        </p:nvSpPr>
        <p:spPr>
          <a:xfrm>
            <a:off x="5614416" y="2468880"/>
            <a:ext cx="1353312" cy="1325880"/>
          </a:xfrm>
          <a:prstGeom prst="rect">
            <a:avLst/>
          </a:prstGeom>
          <a:noFill/>
          <a:ln/>
        </p:spPr>
        <p:txBody>
          <a:bodyPr wrap="square" lIns="0" tIns="0" rIns="0" bIns="0" rtlCol="0" anchor="t"/>
          <a:lstStyle/>
          <a:p>
            <a:pPr indent="0" marL="0">
              <a:buNone/>
            </a:pPr>
            <a:r>
              <a:rPr lang="en-US" sz="1100" dirty="0">
                <a:solidFill>
                  <a:schemeClr val="tx2"/>
                </a:solidFill>
              </a:rPr>
              <a:t>Svolge l'attività; la persona controlla prima dell'uso</a:t>
            </a:r>
            <a:endParaRPr lang="en-US" sz="1100" dirty="0"/>
          </a:p>
        </p:txBody>
      </p:sp>
      <p:sp>
        <p:nvSpPr>
          <p:cNvPr id="20" name="livello 5"/>
          <p:cNvSpPr/>
          <p:nvPr/>
        </p:nvSpPr>
        <p:spPr>
          <a:xfrm>
            <a:off x="7187184" y="1097280"/>
            <a:ext cx="1536192" cy="2743200"/>
          </a:xfrm>
          <a:prstGeom prst="roundRect">
            <a:avLst>
              <a:gd name="adj" fmla="val 4762"/>
            </a:avLst>
          </a:prstGeom>
          <a:solidFill>
            <a:schemeClr val="accent1"/>
          </a:solidFill>
          <a:ln/>
        </p:spPr>
      </p:sp>
      <p:sp>
        <p:nvSpPr>
          <p:cNvPr id="21" name="Text 18"/>
          <p:cNvSpPr txBox="1"/>
          <p:nvPr/>
        </p:nvSpPr>
        <p:spPr>
          <a:xfrm>
            <a:off x="7296912" y="1170432"/>
            <a:ext cx="548640" cy="411480"/>
          </a:xfrm>
          <a:prstGeom prst="rect">
            <a:avLst/>
          </a:prstGeom>
          <a:noFill/>
          <a:ln/>
        </p:spPr>
        <p:txBody>
          <a:bodyPr wrap="square" lIns="0" tIns="0" rIns="0" bIns="0" rtlCol="0" anchor="t"/>
          <a:lstStyle/>
          <a:p>
            <a:pPr indent="0" marL="0">
              <a:buNone/>
            </a:pPr>
            <a:r>
              <a:rPr lang="en-US" sz="2200" b="1" dirty="0">
                <a:solidFill>
                  <a:schemeClr val="bg1"/>
                </a:solidFill>
              </a:rPr>
              <a:t>5</a:t>
            </a:r>
            <a:endParaRPr lang="en-US" sz="2200" dirty="0"/>
          </a:p>
        </p:txBody>
      </p:sp>
      <p:sp>
        <p:nvSpPr>
          <p:cNvPr id="22" name="Text 19"/>
          <p:cNvSpPr txBox="1"/>
          <p:nvPr/>
        </p:nvSpPr>
        <p:spPr>
          <a:xfrm>
            <a:off x="7296912" y="1600200"/>
            <a:ext cx="1353312" cy="548640"/>
          </a:xfrm>
          <a:prstGeom prst="rect">
            <a:avLst/>
          </a:prstGeom>
          <a:noFill/>
          <a:ln/>
        </p:spPr>
        <p:txBody>
          <a:bodyPr wrap="square" lIns="0" tIns="0" rIns="0" bIns="0" rtlCol="0" anchor="t"/>
          <a:lstStyle/>
          <a:p>
            <a:pPr indent="0" marL="0">
              <a:buNone/>
            </a:pPr>
            <a:r>
              <a:rPr lang="en-US" sz="1300" b="1" dirty="0">
                <a:solidFill>
                  <a:schemeClr val="bg1"/>
                </a:solidFill>
              </a:rPr>
              <a:t>Autonomia entro vincoli</a:t>
            </a:r>
            <a:endParaRPr lang="en-US" sz="1300" dirty="0"/>
          </a:p>
        </p:txBody>
      </p:sp>
      <p:sp>
        <p:nvSpPr>
          <p:cNvPr id="23" name="Text 20"/>
          <p:cNvSpPr txBox="1"/>
          <p:nvPr/>
        </p:nvSpPr>
        <p:spPr>
          <a:xfrm>
            <a:off x="7296912" y="2148840"/>
            <a:ext cx="1353312" cy="1645920"/>
          </a:xfrm>
          <a:prstGeom prst="rect">
            <a:avLst/>
          </a:prstGeom>
          <a:noFill/>
          <a:ln/>
        </p:spPr>
        <p:txBody>
          <a:bodyPr wrap="square" lIns="0" tIns="0" rIns="0" bIns="0" rtlCol="0" anchor="t"/>
          <a:lstStyle/>
          <a:p>
            <a:pPr indent="0" marL="0">
              <a:buNone/>
            </a:pPr>
            <a:r>
              <a:rPr lang="en-US" sz="1100" dirty="0">
                <a:solidFill>
                  <a:schemeClr val="accent6"/>
                </a:solidFill>
              </a:rPr>
              <a:t>Agisce entro limiti; la persona monitora e gestisce le eccezioni</a:t>
            </a:r>
            <a:endParaRPr lang="en-US" sz="1100" dirty="0"/>
          </a:p>
        </p:txBody>
      </p:sp>
      <p:sp>
        <p:nvSpPr>
          <p:cNvPr id="24" name="blocco Assistenza"/>
          <p:cNvSpPr/>
          <p:nvPr/>
        </p:nvSpPr>
        <p:spPr>
          <a:xfrm>
            <a:off x="457200" y="3913632"/>
            <a:ext cx="3218688" cy="310896"/>
          </a:xfrm>
          <a:prstGeom prst="roundRect">
            <a:avLst>
              <a:gd name="adj" fmla="val 35294"/>
            </a:avLst>
          </a:prstGeom>
          <a:solidFill>
            <a:schemeClr val="tx2"/>
          </a:solidFill>
          <a:ln/>
        </p:spPr>
      </p:sp>
      <p:sp>
        <p:nvSpPr>
          <p:cNvPr id="25" name="Text 22"/>
          <p:cNvSpPr txBox="1"/>
          <p:nvPr/>
        </p:nvSpPr>
        <p:spPr>
          <a:xfrm>
            <a:off x="502920" y="3913632"/>
            <a:ext cx="3127248" cy="310896"/>
          </a:xfrm>
          <a:prstGeom prst="rect">
            <a:avLst/>
          </a:prstGeom>
          <a:noFill/>
          <a:ln/>
        </p:spPr>
        <p:txBody>
          <a:bodyPr wrap="square" lIns="0" tIns="0" rIns="0" bIns="0" rtlCol="0" anchor="ctr"/>
          <a:lstStyle/>
          <a:p>
            <a:pPr algn="ctr" indent="0" marL="0">
              <a:buNone/>
            </a:pPr>
            <a:r>
              <a:rPr lang="en-US" sz="1100" b="1" dirty="0">
                <a:solidFill>
                  <a:schemeClr val="bg1"/>
                </a:solidFill>
              </a:rPr>
              <a:t>Assistenza</a:t>
            </a:r>
            <a:endParaRPr lang="en-US" sz="1100" dirty="0"/>
          </a:p>
        </p:txBody>
      </p:sp>
      <p:sp>
        <p:nvSpPr>
          <p:cNvPr id="26" name="blocco Collaborazione"/>
          <p:cNvSpPr/>
          <p:nvPr/>
        </p:nvSpPr>
        <p:spPr>
          <a:xfrm>
            <a:off x="3822192" y="3913632"/>
            <a:ext cx="1536192" cy="310896"/>
          </a:xfrm>
          <a:prstGeom prst="roundRect">
            <a:avLst>
              <a:gd name="adj" fmla="val 35294"/>
            </a:avLst>
          </a:prstGeom>
          <a:solidFill>
            <a:schemeClr val="tx2"/>
          </a:solidFill>
          <a:ln/>
        </p:spPr>
      </p:sp>
      <p:sp>
        <p:nvSpPr>
          <p:cNvPr id="27" name="Text 24"/>
          <p:cNvSpPr txBox="1"/>
          <p:nvPr/>
        </p:nvSpPr>
        <p:spPr>
          <a:xfrm>
            <a:off x="3867912" y="3913632"/>
            <a:ext cx="1444752" cy="310896"/>
          </a:xfrm>
          <a:prstGeom prst="rect">
            <a:avLst/>
          </a:prstGeom>
          <a:noFill/>
          <a:ln/>
        </p:spPr>
        <p:txBody>
          <a:bodyPr wrap="square" lIns="0" tIns="0" rIns="0" bIns="0" rtlCol="0" anchor="ctr"/>
          <a:lstStyle/>
          <a:p>
            <a:pPr algn="ctr" indent="0" marL="0">
              <a:buNone/>
            </a:pPr>
            <a:r>
              <a:rPr lang="en-US" sz="1100" b="1" dirty="0">
                <a:solidFill>
                  <a:schemeClr val="bg1"/>
                </a:solidFill>
              </a:rPr>
              <a:t>Collaborazione</a:t>
            </a:r>
            <a:endParaRPr lang="en-US" sz="1100" dirty="0"/>
          </a:p>
        </p:txBody>
      </p:sp>
      <p:sp>
        <p:nvSpPr>
          <p:cNvPr id="28" name="blocco Delega"/>
          <p:cNvSpPr/>
          <p:nvPr/>
        </p:nvSpPr>
        <p:spPr>
          <a:xfrm>
            <a:off x="5504688" y="3913632"/>
            <a:ext cx="3182112" cy="310896"/>
          </a:xfrm>
          <a:prstGeom prst="roundRect">
            <a:avLst>
              <a:gd name="adj" fmla="val 35294"/>
            </a:avLst>
          </a:prstGeom>
          <a:solidFill>
            <a:schemeClr val="tx2"/>
          </a:solidFill>
          <a:ln/>
        </p:spPr>
      </p:sp>
      <p:sp>
        <p:nvSpPr>
          <p:cNvPr id="29" name="Text 26"/>
          <p:cNvSpPr txBox="1"/>
          <p:nvPr/>
        </p:nvSpPr>
        <p:spPr>
          <a:xfrm>
            <a:off x="5550408" y="3913632"/>
            <a:ext cx="3090672" cy="310896"/>
          </a:xfrm>
          <a:prstGeom prst="rect">
            <a:avLst/>
          </a:prstGeom>
          <a:noFill/>
          <a:ln/>
        </p:spPr>
        <p:txBody>
          <a:bodyPr wrap="square" lIns="0" tIns="0" rIns="0" bIns="0" rtlCol="0" anchor="ctr"/>
          <a:lstStyle/>
          <a:p>
            <a:pPr algn="ctr" indent="0" marL="0">
              <a:buNone/>
            </a:pPr>
            <a:r>
              <a:rPr lang="en-US" sz="1100" b="1" dirty="0">
                <a:solidFill>
                  <a:schemeClr val="bg1"/>
                </a:solidFill>
              </a:rPr>
              <a:t>Delega</a:t>
            </a:r>
            <a:endParaRPr lang="en-US" sz="1100" dirty="0"/>
          </a:p>
        </p:txBody>
      </p:sp>
      <p:sp>
        <p:nvSpPr>
          <p:cNvPr id="30" name="Text 27"/>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200" i="1" dirty="0">
                <a:solidFill>
                  <a:schemeClr val="accent5"/>
                </a:solidFill>
              </a:rPr>
              <a:t>Automazione: livello 5 applicato in modo sistematico. Classificazione illustrativa, non uno standard tecnico né una progressione obbligatoria.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fanno l'AI e la persona a ogni livello</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1280160"/>
                <a:gridCol w="2286000"/>
                <a:gridCol w="2651760"/>
              </a:tblGrid>
              <a:tr h="502920">
                <a:tc>
                  <a:txBody>
                    <a:bodyPr/>
                    <a:lstStyle/>
                    <a:p>
                      <a:pPr indent="0" marL="0">
                        <a:buNone/>
                      </a:pPr>
                      <a:r>
                        <a:rPr lang="en-US" sz="1200" b="1" dirty="0">
                          <a:solidFill>
                            <a:schemeClr val="bg1"/>
                          </a:solidFill>
                        </a:rPr>
                        <a:t>Livello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La persona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02920">
                <a:tc>
                  <a:txBody>
                    <a:bodyPr/>
                    <a:lstStyle/>
                    <a:p>
                      <a:pPr indent="0" marL="0">
                        <a:buNone/>
                      </a:pPr>
                      <a:r>
                        <a:rPr lang="en-US" sz="1200" b="1" dirty="0">
                          <a:solidFill>
                            <a:schemeClr val="tx1"/>
                          </a:solidFill>
                        </a:rPr>
                        <a:t>1. Informativo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Spiega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Interpreta, decide l'uso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Capire le novità di una normativa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2. Suggeritore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Propone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Sceglie e realizza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Formulazioni alternative per un paragrafo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3. Collaboratore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Produce parti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Rivede, integra, valida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Bozza di relazione da completare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4. Delega supervisionata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Esegue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Controlla ogni risultato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Risposte standard verificate prima dell'invio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5. Autonomia entro vincoli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Agisce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Definisce limiti, monitora, eccezioni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Smistamento richieste con controlli a campione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200" i="1" dirty="0">
                <a:solidFill>
                  <a:schemeClr val="tx1"/>
                </a:solidFill>
              </a:rPr>
              <a:t>Da chi usa le informazioni, a chi sceglie, rivede, controlla, definisce le regole.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evolve il ruolo umano</a:t>
            </a:r>
            <a:endParaRPr lang="en-US" sz="2600" dirty="0"/>
          </a:p>
        </p:txBody>
      </p:sp>
      <p:sp>
        <p:nvSpPr>
          <p:cNvPr id="4" name="Utilizzatore esperto"/>
          <p:cNvSpPr/>
          <p:nvPr/>
        </p:nvSpPr>
        <p:spPr>
          <a:xfrm>
            <a:off x="457200" y="1143000"/>
            <a:ext cx="2615184" cy="2011680"/>
          </a:xfrm>
          <a:prstGeom prst="roundRect">
            <a:avLst>
              <a:gd name="adj" fmla="val 3636"/>
            </a:avLst>
          </a:prstGeom>
          <a:solidFill>
            <a:schemeClr val="bg2"/>
          </a:solidFill>
          <a:ln/>
        </p:spPr>
      </p:sp>
      <p:sp>
        <p:nvSpPr>
          <p:cNvPr id="5" name="cerchio FiTool"/>
          <p:cNvSpPr/>
          <p:nvPr/>
        </p:nvSpPr>
        <p:spPr>
          <a:xfrm>
            <a:off x="640080" y="1298448"/>
            <a:ext cx="502920" cy="502920"/>
          </a:xfrm>
          <a:prstGeom prst="ellipse">
            <a:avLst/>
          </a:prstGeom>
          <a:solidFill>
            <a:schemeClr val="accent1"/>
          </a:solidFill>
          <a:ln/>
        </p:spPr>
      </p:sp>
      <p:pic>
        <p:nvPicPr>
          <p:cNvPr id="6" name="Image 0" descr="FiTool">    </p:cNvPr>
          <p:cNvPicPr>
            <a:picLocks noChangeAspect="1"/>
          </p:cNvPicPr>
          <p:nvPr/>
        </p:nvPicPr>
        <p:blipFill>
          <a:blip r:embed="rId1"/>
          <a:stretch>
            <a:fillRect/>
          </a:stretch>
        </p:blipFill>
        <p:spPr>
          <a:xfrm>
            <a:off x="765810" y="1424178"/>
            <a:ext cx="251460" cy="251460"/>
          </a:xfrm>
          <a:prstGeom prst="rect">
            <a:avLst/>
          </a:prstGeom>
        </p:spPr>
      </p:pic>
      <p:sp>
        <p:nvSpPr>
          <p:cNvPr id="7" name="Text 3"/>
          <p:cNvSpPr txBox="1"/>
          <p:nvPr/>
        </p:nvSpPr>
        <p:spPr>
          <a:xfrm>
            <a:off x="1280160" y="1298448"/>
            <a:ext cx="1691640" cy="502920"/>
          </a:xfrm>
          <a:prstGeom prst="rect">
            <a:avLst/>
          </a:prstGeom>
          <a:noFill/>
          <a:ln/>
        </p:spPr>
        <p:txBody>
          <a:bodyPr wrap="square" lIns="0" tIns="0" rIns="0" bIns="0" rtlCol="0" anchor="ctr"/>
          <a:lstStyle/>
          <a:p>
            <a:pPr indent="0" marL="0">
              <a:buNone/>
            </a:pPr>
            <a:r>
              <a:rPr lang="en-US" sz="1400" b="1" dirty="0">
                <a:solidFill>
                  <a:schemeClr val="tx1"/>
                </a:solidFill>
              </a:rPr>
              <a:t>Utilizzatore esperto</a:t>
            </a:r>
            <a:endParaRPr lang="en-US" sz="1400" dirty="0"/>
          </a:p>
        </p:txBody>
      </p:sp>
      <p:sp>
        <p:nvSpPr>
          <p:cNvPr id="8" name="Text 4"/>
          <p:cNvSpPr txBox="1"/>
          <p:nvPr/>
        </p:nvSpPr>
        <p:spPr>
          <a:xfrm>
            <a:off x="640080" y="1965960"/>
            <a:ext cx="2249424" cy="777240"/>
          </a:xfrm>
          <a:prstGeom prst="rect">
            <a:avLst/>
          </a:prstGeom>
          <a:noFill/>
          <a:ln/>
        </p:spPr>
        <p:txBody>
          <a:bodyPr wrap="square" lIns="0" tIns="0" rIns="0" bIns="0" rtlCol="0" anchor="t"/>
          <a:lstStyle/>
          <a:p>
            <a:pPr indent="0" marL="0">
              <a:buNone/>
            </a:pPr>
            <a:r>
              <a:rPr lang="en-US" sz="1300" dirty="0">
                <a:solidFill>
                  <a:schemeClr val="tx1"/>
                </a:solidFill>
              </a:rPr>
              <a:t>Usa l'AI come strumento dentro il proprio lavoro</a:t>
            </a:r>
            <a:endParaRPr lang="en-US" sz="1300" dirty="0"/>
          </a:p>
        </p:txBody>
      </p:sp>
      <p:sp>
        <p:nvSpPr>
          <p:cNvPr id="9" name="Text 5"/>
          <p:cNvSpPr txBox="1"/>
          <p:nvPr/>
        </p:nvSpPr>
        <p:spPr>
          <a:xfrm>
            <a:off x="640080" y="2743200"/>
            <a:ext cx="2249424" cy="274320"/>
          </a:xfrm>
          <a:prstGeom prst="rect">
            <a:avLst/>
          </a:prstGeom>
          <a:noFill/>
          <a:ln/>
        </p:spPr>
        <p:txBody>
          <a:bodyPr wrap="square" lIns="0" tIns="0" rIns="0" bIns="0" rtlCol="0" anchor="t"/>
          <a:lstStyle/>
          <a:p>
            <a:pPr indent="0" marL="0">
              <a:buNone/>
            </a:pPr>
            <a:r>
              <a:rPr lang="en-US" sz="1100" b="1" dirty="0">
                <a:solidFill>
                  <a:schemeClr val="accent1"/>
                </a:solidFill>
              </a:rPr>
              <a:t>Livelli 1-2</a:t>
            </a:r>
            <a:endParaRPr lang="en-US" sz="1100" dirty="0"/>
          </a:p>
        </p:txBody>
      </p:sp>
      <p:sp>
        <p:nvSpPr>
          <p:cNvPr id="10" name="freccia"/>
          <p:cNvSpPr/>
          <p:nvPr/>
        </p:nvSpPr>
        <p:spPr>
          <a:xfrm>
            <a:off x="3090672" y="2011680"/>
            <a:ext cx="155448" cy="292608"/>
          </a:xfrm>
          <a:prstGeom prst="rightArrow">
            <a:avLst/>
          </a:prstGeom>
          <a:solidFill>
            <a:schemeClr val="accent2"/>
          </a:solidFill>
          <a:ln/>
        </p:spPr>
      </p:sp>
      <p:sp>
        <p:nvSpPr>
          <p:cNvPr id="11" name="Revisore ed editor"/>
          <p:cNvSpPr/>
          <p:nvPr/>
        </p:nvSpPr>
        <p:spPr>
          <a:xfrm>
            <a:off x="3264408" y="1143000"/>
            <a:ext cx="2615184" cy="2011680"/>
          </a:xfrm>
          <a:prstGeom prst="roundRect">
            <a:avLst>
              <a:gd name="adj" fmla="val 3636"/>
            </a:avLst>
          </a:prstGeom>
          <a:solidFill>
            <a:schemeClr val="bg2"/>
          </a:solidFill>
          <a:ln/>
        </p:spPr>
      </p:sp>
      <p:sp>
        <p:nvSpPr>
          <p:cNvPr id="12" name="cerchio FiEdit"/>
          <p:cNvSpPr/>
          <p:nvPr/>
        </p:nvSpPr>
        <p:spPr>
          <a:xfrm>
            <a:off x="3447288" y="1298448"/>
            <a:ext cx="502920" cy="502920"/>
          </a:xfrm>
          <a:prstGeom prst="ellipse">
            <a:avLst/>
          </a:prstGeom>
          <a:solidFill>
            <a:schemeClr val="accent1"/>
          </a:solidFill>
          <a:ln/>
        </p:spPr>
      </p:sp>
      <p:pic>
        <p:nvPicPr>
          <p:cNvPr id="13" name="Image 1" descr="FiEdit">    </p:cNvPr>
          <p:cNvPicPr>
            <a:picLocks noChangeAspect="1"/>
          </p:cNvPicPr>
          <p:nvPr/>
        </p:nvPicPr>
        <p:blipFill>
          <a:blip r:embed="rId2"/>
          <a:stretch>
            <a:fillRect/>
          </a:stretch>
        </p:blipFill>
        <p:spPr>
          <a:xfrm>
            <a:off x="3573018" y="1424178"/>
            <a:ext cx="251460" cy="251460"/>
          </a:xfrm>
          <a:prstGeom prst="rect">
            <a:avLst/>
          </a:prstGeom>
        </p:spPr>
      </p:pic>
      <p:sp>
        <p:nvSpPr>
          <p:cNvPr id="14" name="Text 9"/>
          <p:cNvSpPr txBox="1"/>
          <p:nvPr/>
        </p:nvSpPr>
        <p:spPr>
          <a:xfrm>
            <a:off x="4087368" y="1298448"/>
            <a:ext cx="1691640" cy="502920"/>
          </a:xfrm>
          <a:prstGeom prst="rect">
            <a:avLst/>
          </a:prstGeom>
          <a:noFill/>
          <a:ln/>
        </p:spPr>
        <p:txBody>
          <a:bodyPr wrap="square" lIns="0" tIns="0" rIns="0" bIns="0" rtlCol="0" anchor="ctr"/>
          <a:lstStyle/>
          <a:p>
            <a:pPr indent="0" marL="0">
              <a:buNone/>
            </a:pPr>
            <a:r>
              <a:rPr lang="en-US" sz="1400" b="1" dirty="0">
                <a:solidFill>
                  <a:schemeClr val="tx1"/>
                </a:solidFill>
              </a:rPr>
              <a:t>Revisore ed editor</a:t>
            </a:r>
            <a:endParaRPr lang="en-US" sz="1400" dirty="0"/>
          </a:p>
        </p:txBody>
      </p:sp>
      <p:sp>
        <p:nvSpPr>
          <p:cNvPr id="15" name="Text 10"/>
          <p:cNvSpPr txBox="1"/>
          <p:nvPr/>
        </p:nvSpPr>
        <p:spPr>
          <a:xfrm>
            <a:off x="3447288" y="1965960"/>
            <a:ext cx="2249424" cy="777240"/>
          </a:xfrm>
          <a:prstGeom prst="rect">
            <a:avLst/>
          </a:prstGeom>
          <a:noFill/>
          <a:ln/>
        </p:spPr>
        <p:txBody>
          <a:bodyPr wrap="square" lIns="0" tIns="0" rIns="0" bIns="0" rtlCol="0" anchor="t"/>
          <a:lstStyle/>
          <a:p>
            <a:pPr indent="0" marL="0">
              <a:buNone/>
            </a:pPr>
            <a:r>
              <a:rPr lang="en-US" sz="1300" dirty="0">
                <a:solidFill>
                  <a:schemeClr val="tx1"/>
                </a:solidFill>
              </a:rPr>
              <a:t>Valuta, corregge, integra, decide che cosa è pronto</a:t>
            </a:r>
            <a:endParaRPr lang="en-US" sz="1300" dirty="0"/>
          </a:p>
        </p:txBody>
      </p:sp>
      <p:sp>
        <p:nvSpPr>
          <p:cNvPr id="16" name="Text 11"/>
          <p:cNvSpPr txBox="1"/>
          <p:nvPr/>
        </p:nvSpPr>
        <p:spPr>
          <a:xfrm>
            <a:off x="3447288" y="2743200"/>
            <a:ext cx="2249424" cy="274320"/>
          </a:xfrm>
          <a:prstGeom prst="rect">
            <a:avLst/>
          </a:prstGeom>
          <a:noFill/>
          <a:ln/>
        </p:spPr>
        <p:txBody>
          <a:bodyPr wrap="square" lIns="0" tIns="0" rIns="0" bIns="0" rtlCol="0" anchor="t"/>
          <a:lstStyle/>
          <a:p>
            <a:pPr indent="0" marL="0">
              <a:buNone/>
            </a:pPr>
            <a:r>
              <a:rPr lang="en-US" sz="1100" b="1" dirty="0">
                <a:solidFill>
                  <a:schemeClr val="accent1"/>
                </a:solidFill>
              </a:rPr>
              <a:t>Livelli 3-4</a:t>
            </a:r>
            <a:endParaRPr lang="en-US" sz="1100" dirty="0"/>
          </a:p>
        </p:txBody>
      </p:sp>
      <p:sp>
        <p:nvSpPr>
          <p:cNvPr id="17" name="freccia"/>
          <p:cNvSpPr/>
          <p:nvPr/>
        </p:nvSpPr>
        <p:spPr>
          <a:xfrm>
            <a:off x="5897880" y="2011680"/>
            <a:ext cx="155448" cy="292608"/>
          </a:xfrm>
          <a:prstGeom prst="rightArrow">
            <a:avLst/>
          </a:prstGeom>
          <a:solidFill>
            <a:schemeClr val="accent2"/>
          </a:solidFill>
          <a:ln/>
        </p:spPr>
      </p:sp>
      <p:sp>
        <p:nvSpPr>
          <p:cNvPr id="18" name="Coordinatore e progettista"/>
          <p:cNvSpPr/>
          <p:nvPr/>
        </p:nvSpPr>
        <p:spPr>
          <a:xfrm>
            <a:off x="6071616" y="1143000"/>
            <a:ext cx="2615184" cy="2011680"/>
          </a:xfrm>
          <a:prstGeom prst="roundRect">
            <a:avLst>
              <a:gd name="adj" fmla="val 3636"/>
            </a:avLst>
          </a:prstGeom>
          <a:solidFill>
            <a:schemeClr val="accent1"/>
          </a:solidFill>
          <a:ln/>
        </p:spPr>
      </p:sp>
      <p:sp>
        <p:nvSpPr>
          <p:cNvPr id="19" name="cerchio FiGrid"/>
          <p:cNvSpPr/>
          <p:nvPr/>
        </p:nvSpPr>
        <p:spPr>
          <a:xfrm>
            <a:off x="6254496" y="1298448"/>
            <a:ext cx="502920" cy="502920"/>
          </a:xfrm>
          <a:prstGeom prst="ellipse">
            <a:avLst/>
          </a:prstGeom>
          <a:solidFill>
            <a:schemeClr val="bg1"/>
          </a:solidFill>
          <a:ln/>
        </p:spPr>
      </p:sp>
      <p:pic>
        <p:nvPicPr>
          <p:cNvPr id="20" name="Image 2" descr="FiGrid">    </p:cNvPr>
          <p:cNvPicPr>
            <a:picLocks noChangeAspect="1"/>
          </p:cNvPicPr>
          <p:nvPr/>
        </p:nvPicPr>
        <p:blipFill>
          <a:blip r:embed="rId3"/>
          <a:stretch>
            <a:fillRect/>
          </a:stretch>
        </p:blipFill>
        <p:spPr>
          <a:xfrm>
            <a:off x="6380226" y="1424178"/>
            <a:ext cx="251460" cy="251460"/>
          </a:xfrm>
          <a:prstGeom prst="rect">
            <a:avLst/>
          </a:prstGeom>
        </p:spPr>
      </p:pic>
      <p:sp>
        <p:nvSpPr>
          <p:cNvPr id="21" name="Text 15"/>
          <p:cNvSpPr txBox="1"/>
          <p:nvPr/>
        </p:nvSpPr>
        <p:spPr>
          <a:xfrm>
            <a:off x="6894576" y="1298448"/>
            <a:ext cx="1691640" cy="502920"/>
          </a:xfrm>
          <a:prstGeom prst="rect">
            <a:avLst/>
          </a:prstGeom>
          <a:noFill/>
          <a:ln/>
        </p:spPr>
        <p:txBody>
          <a:bodyPr wrap="square" lIns="0" tIns="0" rIns="0" bIns="0" rtlCol="0" anchor="ctr"/>
          <a:lstStyle/>
          <a:p>
            <a:pPr indent="0" marL="0">
              <a:buNone/>
            </a:pPr>
            <a:r>
              <a:rPr lang="en-US" sz="1400" b="1" dirty="0">
                <a:solidFill>
                  <a:schemeClr val="bg1"/>
                </a:solidFill>
              </a:rPr>
              <a:t>Coordinatore e progettista</a:t>
            </a:r>
            <a:endParaRPr lang="en-US" sz="1400" dirty="0"/>
          </a:p>
        </p:txBody>
      </p:sp>
      <p:sp>
        <p:nvSpPr>
          <p:cNvPr id="22" name="Text 16"/>
          <p:cNvSpPr txBox="1"/>
          <p:nvPr/>
        </p:nvSpPr>
        <p:spPr>
          <a:xfrm>
            <a:off x="6254496" y="1965960"/>
            <a:ext cx="2249424" cy="777240"/>
          </a:xfrm>
          <a:prstGeom prst="rect">
            <a:avLst/>
          </a:prstGeom>
          <a:noFill/>
          <a:ln/>
        </p:spPr>
        <p:txBody>
          <a:bodyPr wrap="square" lIns="0" tIns="0" rIns="0" bIns="0" rtlCol="0" anchor="t"/>
          <a:lstStyle/>
          <a:p>
            <a:pPr indent="0" marL="0">
              <a:buNone/>
            </a:pPr>
            <a:r>
              <a:rPr lang="en-US" sz="1300" dirty="0">
                <a:solidFill>
                  <a:schemeClr val="bg1"/>
                </a:solidFill>
              </a:rPr>
              <a:t>Disegna il flusso, definisce regole e controlli, coordina</a:t>
            </a:r>
            <a:endParaRPr lang="en-US" sz="1300" dirty="0"/>
          </a:p>
        </p:txBody>
      </p:sp>
      <p:sp>
        <p:nvSpPr>
          <p:cNvPr id="23" name="Text 17"/>
          <p:cNvSpPr txBox="1"/>
          <p:nvPr/>
        </p:nvSpPr>
        <p:spPr>
          <a:xfrm>
            <a:off x="6254496" y="2743200"/>
            <a:ext cx="2249424" cy="274320"/>
          </a:xfrm>
          <a:prstGeom prst="rect">
            <a:avLst/>
          </a:prstGeom>
          <a:noFill/>
          <a:ln/>
        </p:spPr>
        <p:txBody>
          <a:bodyPr wrap="square" lIns="0" tIns="0" rIns="0" bIns="0" rtlCol="0" anchor="t"/>
          <a:lstStyle/>
          <a:p>
            <a:pPr indent="0" marL="0">
              <a:buNone/>
            </a:pPr>
            <a:r>
              <a:rPr lang="en-US" sz="1100" b="1" dirty="0">
                <a:solidFill>
                  <a:schemeClr val="accent6"/>
                </a:solidFill>
              </a:rPr>
              <a:t>Livello 5</a:t>
            </a:r>
            <a:endParaRPr lang="en-US" sz="1100" dirty="0"/>
          </a:p>
        </p:txBody>
      </p:sp>
      <p:sp>
        <p:nvSpPr>
          <p:cNvPr id="24" name="scheda Competenze di valore crescente"/>
          <p:cNvSpPr/>
          <p:nvPr/>
        </p:nvSpPr>
        <p:spPr>
          <a:xfrm>
            <a:off x="457200" y="3337560"/>
            <a:ext cx="3977640" cy="1188720"/>
          </a:xfrm>
          <a:prstGeom prst="roundRect">
            <a:avLst>
              <a:gd name="adj" fmla="val 6154"/>
            </a:avLst>
          </a:prstGeom>
          <a:solidFill>
            <a:schemeClr val="bg2"/>
          </a:solidFill>
          <a:ln/>
        </p:spPr>
      </p:sp>
      <p:sp>
        <p:nvSpPr>
          <p:cNvPr id="25" name="cerchio FiTrendingUp"/>
          <p:cNvSpPr/>
          <p:nvPr/>
        </p:nvSpPr>
        <p:spPr>
          <a:xfrm>
            <a:off x="640080" y="3520440"/>
            <a:ext cx="457200" cy="457200"/>
          </a:xfrm>
          <a:prstGeom prst="ellipse">
            <a:avLst/>
          </a:prstGeom>
          <a:solidFill>
            <a:schemeClr val="accent1"/>
          </a:solidFill>
          <a:ln/>
        </p:spPr>
      </p:sp>
      <p:pic>
        <p:nvPicPr>
          <p:cNvPr id="26" name="Image 3" descr="FiTrendingUp">    </p:cNvPr>
          <p:cNvPicPr>
            <a:picLocks noChangeAspect="1"/>
          </p:cNvPicPr>
          <p:nvPr/>
        </p:nvPicPr>
        <p:blipFill>
          <a:blip r:embed="rId4"/>
          <a:stretch>
            <a:fillRect/>
          </a:stretch>
        </p:blipFill>
        <p:spPr>
          <a:xfrm>
            <a:off x="754380" y="3634740"/>
            <a:ext cx="228600" cy="228600"/>
          </a:xfrm>
          <a:prstGeom prst="rect">
            <a:avLst/>
          </a:prstGeom>
        </p:spPr>
      </p:pic>
      <p:sp>
        <p:nvSpPr>
          <p:cNvPr id="27" name="Text 20"/>
          <p:cNvSpPr txBox="1"/>
          <p:nvPr/>
        </p:nvSpPr>
        <p:spPr>
          <a:xfrm>
            <a:off x="1234440" y="3520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Competenze di valore crescente</a:t>
            </a:r>
            <a:endParaRPr lang="en-US" sz="1500" dirty="0"/>
          </a:p>
        </p:txBody>
      </p:sp>
      <p:sp>
        <p:nvSpPr>
          <p:cNvPr id="28" name="Text 21"/>
          <p:cNvSpPr txBox="1"/>
          <p:nvPr/>
        </p:nvSpPr>
        <p:spPr>
          <a:xfrm>
            <a:off x="640080" y="4114800"/>
            <a:ext cx="3611880" cy="301752"/>
          </a:xfrm>
          <a:prstGeom prst="rect">
            <a:avLst/>
          </a:prstGeom>
          <a:noFill/>
          <a:ln/>
        </p:spPr>
        <p:txBody>
          <a:bodyPr wrap="square" lIns="0" tIns="0" rIns="0" bIns="0" rtlCol="0" anchor="t"/>
          <a:lstStyle/>
          <a:p>
            <a:pPr indent="0" marL="0">
              <a:buNone/>
            </a:pPr>
            <a:r>
              <a:rPr lang="en-US" sz="1200" dirty="0">
                <a:solidFill>
                  <a:schemeClr val="tx2"/>
                </a:solidFill>
              </a:rPr>
              <a:t>Coordinare, progettare flussi, definire criteri di qualità e controlli.</a:t>
            </a:r>
            <a:endParaRPr lang="en-US" sz="1200" dirty="0"/>
          </a:p>
        </p:txBody>
      </p:sp>
      <p:sp>
        <p:nvSpPr>
          <p:cNvPr id="29" name="scheda La competenza di dominio resta la base"/>
          <p:cNvSpPr/>
          <p:nvPr/>
        </p:nvSpPr>
        <p:spPr>
          <a:xfrm>
            <a:off x="4709160" y="3337560"/>
            <a:ext cx="3977640" cy="1188720"/>
          </a:xfrm>
          <a:prstGeom prst="roundRect">
            <a:avLst>
              <a:gd name="adj" fmla="val 6154"/>
            </a:avLst>
          </a:prstGeom>
          <a:solidFill>
            <a:schemeClr val="accent6"/>
          </a:solidFill>
          <a:ln/>
        </p:spPr>
      </p:sp>
      <p:sp>
        <p:nvSpPr>
          <p:cNvPr id="30" name="cerchio FiAward"/>
          <p:cNvSpPr/>
          <p:nvPr/>
        </p:nvSpPr>
        <p:spPr>
          <a:xfrm>
            <a:off x="4892040" y="3520440"/>
            <a:ext cx="457200" cy="457200"/>
          </a:xfrm>
          <a:prstGeom prst="ellipse">
            <a:avLst/>
          </a:prstGeom>
          <a:solidFill>
            <a:schemeClr val="accent1"/>
          </a:solidFill>
          <a:ln/>
        </p:spPr>
      </p:sp>
      <p:pic>
        <p:nvPicPr>
          <p:cNvPr id="31" name="Image 4" descr="FiAward">    </p:cNvPr>
          <p:cNvPicPr>
            <a:picLocks noChangeAspect="1"/>
          </p:cNvPicPr>
          <p:nvPr/>
        </p:nvPicPr>
        <p:blipFill>
          <a:blip r:embed="rId5"/>
          <a:stretch>
            <a:fillRect/>
          </a:stretch>
        </p:blipFill>
        <p:spPr>
          <a:xfrm>
            <a:off x="5006340" y="3634740"/>
            <a:ext cx="228600" cy="228600"/>
          </a:xfrm>
          <a:prstGeom prst="rect">
            <a:avLst/>
          </a:prstGeom>
        </p:spPr>
      </p:pic>
      <p:sp>
        <p:nvSpPr>
          <p:cNvPr id="32" name="Text 24"/>
          <p:cNvSpPr txBox="1"/>
          <p:nvPr/>
        </p:nvSpPr>
        <p:spPr>
          <a:xfrm>
            <a:off x="5486400" y="35204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La competenza di dominio resta la base</a:t>
            </a:r>
            <a:endParaRPr lang="en-US" sz="1500" dirty="0"/>
          </a:p>
        </p:txBody>
      </p:sp>
      <p:sp>
        <p:nvSpPr>
          <p:cNvPr id="33" name="Text 25"/>
          <p:cNvSpPr txBox="1"/>
          <p:nvPr/>
        </p:nvSpPr>
        <p:spPr>
          <a:xfrm>
            <a:off x="4892040" y="4114800"/>
            <a:ext cx="3611880" cy="301752"/>
          </a:xfrm>
          <a:prstGeom prst="rect">
            <a:avLst/>
          </a:prstGeom>
          <a:noFill/>
          <a:ln/>
        </p:spPr>
        <p:txBody>
          <a:bodyPr wrap="square" lIns="0" tIns="0" rIns="0" bIns="0" rtlCol="0" anchor="t"/>
          <a:lstStyle/>
          <a:p>
            <a:pPr indent="0" marL="0">
              <a:buNone/>
            </a:pPr>
            <a:r>
              <a:rPr lang="en-US" sz="1200" dirty="0">
                <a:solidFill>
                  <a:schemeClr val="tx2"/>
                </a:solidFill>
              </a:rPr>
              <a:t>È ciò che permette di guidare il sistema e riconoscere un risultato inadeguato.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Scegliere il livello adeguato</a:t>
            </a:r>
            <a:endParaRPr lang="en-US" sz="2600" dirty="0"/>
          </a:p>
        </p:txBody>
      </p:sp>
      <p:sp>
        <p:nvSpPr>
          <p:cNvPr id="4" name="Compito"/>
          <p:cNvSpPr/>
          <p:nvPr/>
        </p:nvSpPr>
        <p:spPr>
          <a:xfrm>
            <a:off x="457200" y="1051560"/>
            <a:ext cx="1965960" cy="1325880"/>
          </a:xfrm>
          <a:prstGeom prst="roundRect">
            <a:avLst>
              <a:gd name="adj" fmla="val 5517"/>
            </a:avLst>
          </a:prstGeom>
          <a:solidFill>
            <a:schemeClr val="bg2"/>
          </a:solidFill>
          <a:ln/>
        </p:spPr>
      </p:sp>
      <p:sp>
        <p:nvSpPr>
          <p:cNvPr id="5" name="cerchio FiTarget"/>
          <p:cNvSpPr/>
          <p:nvPr/>
        </p:nvSpPr>
        <p:spPr>
          <a:xfrm>
            <a:off x="594360" y="1161288"/>
            <a:ext cx="438912" cy="438912"/>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04088" y="1271016"/>
            <a:ext cx="219456" cy="219456"/>
          </a:xfrm>
          <a:prstGeom prst="rect">
            <a:avLst/>
          </a:prstGeom>
        </p:spPr>
      </p:pic>
      <p:sp>
        <p:nvSpPr>
          <p:cNvPr id="7" name="Text 3"/>
          <p:cNvSpPr txBox="1"/>
          <p:nvPr/>
        </p:nvSpPr>
        <p:spPr>
          <a:xfrm>
            <a:off x="1115568" y="1161288"/>
            <a:ext cx="1261872" cy="438912"/>
          </a:xfrm>
          <a:prstGeom prst="rect">
            <a:avLst/>
          </a:prstGeom>
          <a:noFill/>
          <a:ln/>
        </p:spPr>
        <p:txBody>
          <a:bodyPr wrap="square" lIns="0" tIns="0" rIns="0" bIns="0" rtlCol="0" anchor="ctr"/>
          <a:lstStyle/>
          <a:p>
            <a:pPr indent="0" marL="0">
              <a:buNone/>
            </a:pPr>
            <a:r>
              <a:rPr lang="en-US" sz="1300" b="1" dirty="0">
                <a:solidFill>
                  <a:schemeClr val="tx1"/>
                </a:solidFill>
              </a:rPr>
              <a:t>Compito</a:t>
            </a:r>
            <a:endParaRPr lang="en-US" sz="1300" dirty="0"/>
          </a:p>
        </p:txBody>
      </p:sp>
      <p:sp>
        <p:nvSpPr>
          <p:cNvPr id="8" name="Text 4"/>
          <p:cNvSpPr txBox="1"/>
          <p:nvPr/>
        </p:nvSpPr>
        <p:spPr>
          <a:xfrm>
            <a:off x="594360" y="1691640"/>
            <a:ext cx="1719072" cy="640080"/>
          </a:xfrm>
          <a:prstGeom prst="rect">
            <a:avLst/>
          </a:prstGeom>
          <a:noFill/>
          <a:ln/>
        </p:spPr>
        <p:txBody>
          <a:bodyPr wrap="square" lIns="0" tIns="0" rIns="0" bIns="0" rtlCol="0" anchor="t"/>
          <a:lstStyle/>
          <a:p>
            <a:pPr indent="0" marL="0">
              <a:buNone/>
            </a:pPr>
            <a:r>
              <a:rPr lang="en-US" sz="1200" dirty="0">
                <a:solidFill>
                  <a:schemeClr val="tx2"/>
                </a:solidFill>
              </a:rPr>
              <a:t>Strutturato, ripetitivo, verificabile?</a:t>
            </a:r>
            <a:endParaRPr lang="en-US" sz="1200" dirty="0"/>
          </a:p>
        </p:txBody>
      </p:sp>
      <p:sp>
        <p:nvSpPr>
          <p:cNvPr id="9" name="Capacità del sistema"/>
          <p:cNvSpPr/>
          <p:nvPr/>
        </p:nvSpPr>
        <p:spPr>
          <a:xfrm>
            <a:off x="2560320" y="1051560"/>
            <a:ext cx="1965960" cy="1325880"/>
          </a:xfrm>
          <a:prstGeom prst="roundRect">
            <a:avLst>
              <a:gd name="adj" fmla="val 5517"/>
            </a:avLst>
          </a:prstGeom>
          <a:solidFill>
            <a:schemeClr val="bg2"/>
          </a:solidFill>
          <a:ln/>
        </p:spPr>
      </p:sp>
      <p:sp>
        <p:nvSpPr>
          <p:cNvPr id="10" name="cerchio FiCpu"/>
          <p:cNvSpPr/>
          <p:nvPr/>
        </p:nvSpPr>
        <p:spPr>
          <a:xfrm>
            <a:off x="2697480" y="1161288"/>
            <a:ext cx="438912" cy="438912"/>
          </a:xfrm>
          <a:prstGeom prst="ellipse">
            <a:avLst/>
          </a:prstGeom>
          <a:solidFill>
            <a:schemeClr val="accent1"/>
          </a:solidFill>
          <a:ln/>
        </p:spPr>
      </p:sp>
      <p:pic>
        <p:nvPicPr>
          <p:cNvPr id="11" name="Image 1" descr="FiCpu">    </p:cNvPr>
          <p:cNvPicPr>
            <a:picLocks noChangeAspect="1"/>
          </p:cNvPicPr>
          <p:nvPr/>
        </p:nvPicPr>
        <p:blipFill>
          <a:blip r:embed="rId2"/>
          <a:stretch>
            <a:fillRect/>
          </a:stretch>
        </p:blipFill>
        <p:spPr>
          <a:xfrm>
            <a:off x="2807208" y="1271016"/>
            <a:ext cx="219456" cy="219456"/>
          </a:xfrm>
          <a:prstGeom prst="rect">
            <a:avLst/>
          </a:prstGeom>
        </p:spPr>
      </p:pic>
      <p:sp>
        <p:nvSpPr>
          <p:cNvPr id="12" name="Text 7"/>
          <p:cNvSpPr txBox="1"/>
          <p:nvPr/>
        </p:nvSpPr>
        <p:spPr>
          <a:xfrm>
            <a:off x="3218688" y="1161288"/>
            <a:ext cx="1261872" cy="438912"/>
          </a:xfrm>
          <a:prstGeom prst="rect">
            <a:avLst/>
          </a:prstGeom>
          <a:noFill/>
          <a:ln/>
        </p:spPr>
        <p:txBody>
          <a:bodyPr wrap="square" lIns="0" tIns="0" rIns="0" bIns="0" rtlCol="0" anchor="ctr"/>
          <a:lstStyle/>
          <a:p>
            <a:pPr indent="0" marL="0">
              <a:buNone/>
            </a:pPr>
            <a:r>
              <a:rPr lang="en-US" sz="1300" b="1" dirty="0">
                <a:solidFill>
                  <a:schemeClr val="tx1"/>
                </a:solidFill>
              </a:rPr>
              <a:t>Capacità del sistema</a:t>
            </a:r>
            <a:endParaRPr lang="en-US" sz="1300" dirty="0"/>
          </a:p>
        </p:txBody>
      </p:sp>
      <p:sp>
        <p:nvSpPr>
          <p:cNvPr id="13" name="Text 8"/>
          <p:cNvSpPr txBox="1"/>
          <p:nvPr/>
        </p:nvSpPr>
        <p:spPr>
          <a:xfrm>
            <a:off x="2697480" y="1691640"/>
            <a:ext cx="1719072" cy="640080"/>
          </a:xfrm>
          <a:prstGeom prst="rect">
            <a:avLst/>
          </a:prstGeom>
          <a:noFill/>
          <a:ln/>
        </p:spPr>
        <p:txBody>
          <a:bodyPr wrap="square" lIns="0" tIns="0" rIns="0" bIns="0" rtlCol="0" anchor="t"/>
          <a:lstStyle/>
          <a:p>
            <a:pPr indent="0" marL="0">
              <a:buNone/>
            </a:pPr>
            <a:r>
              <a:rPr lang="en-US" sz="1200" dirty="0">
                <a:solidFill>
                  <a:schemeClr val="tx2"/>
                </a:solidFill>
              </a:rPr>
              <a:t>Affidabile per questo compito, qui?</a:t>
            </a:r>
            <a:endParaRPr lang="en-US" sz="1200" dirty="0"/>
          </a:p>
        </p:txBody>
      </p:sp>
      <p:sp>
        <p:nvSpPr>
          <p:cNvPr id="14" name="Rischi"/>
          <p:cNvSpPr/>
          <p:nvPr/>
        </p:nvSpPr>
        <p:spPr>
          <a:xfrm>
            <a:off x="4663440" y="1051560"/>
            <a:ext cx="1965960" cy="1325880"/>
          </a:xfrm>
          <a:prstGeom prst="roundRect">
            <a:avLst>
              <a:gd name="adj" fmla="val 5517"/>
            </a:avLst>
          </a:prstGeom>
          <a:solidFill>
            <a:schemeClr val="bg2"/>
          </a:solidFill>
          <a:ln/>
        </p:spPr>
      </p:sp>
      <p:sp>
        <p:nvSpPr>
          <p:cNvPr id="15" name="cerchio FiAlertTriangle"/>
          <p:cNvSpPr/>
          <p:nvPr/>
        </p:nvSpPr>
        <p:spPr>
          <a:xfrm>
            <a:off x="4800600" y="1161288"/>
            <a:ext cx="438912" cy="438912"/>
          </a:xfrm>
          <a:prstGeom prst="ellipse">
            <a:avLst/>
          </a:prstGeom>
          <a:solidFill>
            <a:schemeClr val="accent1"/>
          </a:solidFill>
          <a:ln/>
        </p:spPr>
      </p:sp>
      <p:pic>
        <p:nvPicPr>
          <p:cNvPr id="16" name="Image 2" descr="FiAlertTriangle">    </p:cNvPr>
          <p:cNvPicPr>
            <a:picLocks noChangeAspect="1"/>
          </p:cNvPicPr>
          <p:nvPr/>
        </p:nvPicPr>
        <p:blipFill>
          <a:blip r:embed="rId3"/>
          <a:stretch>
            <a:fillRect/>
          </a:stretch>
        </p:blipFill>
        <p:spPr>
          <a:xfrm>
            <a:off x="4910328" y="1271016"/>
            <a:ext cx="219456" cy="219456"/>
          </a:xfrm>
          <a:prstGeom prst="rect">
            <a:avLst/>
          </a:prstGeom>
        </p:spPr>
      </p:pic>
      <p:sp>
        <p:nvSpPr>
          <p:cNvPr id="17" name="Text 11"/>
          <p:cNvSpPr txBox="1"/>
          <p:nvPr/>
        </p:nvSpPr>
        <p:spPr>
          <a:xfrm>
            <a:off x="5321808" y="1161288"/>
            <a:ext cx="1261872" cy="438912"/>
          </a:xfrm>
          <a:prstGeom prst="rect">
            <a:avLst/>
          </a:prstGeom>
          <a:noFill/>
          <a:ln/>
        </p:spPr>
        <p:txBody>
          <a:bodyPr wrap="square" lIns="0" tIns="0" rIns="0" bIns="0" rtlCol="0" anchor="ctr"/>
          <a:lstStyle/>
          <a:p>
            <a:pPr indent="0" marL="0">
              <a:buNone/>
            </a:pPr>
            <a:r>
              <a:rPr lang="en-US" sz="1300" b="1" dirty="0">
                <a:solidFill>
                  <a:schemeClr val="tx1"/>
                </a:solidFill>
              </a:rPr>
              <a:t>Rischi</a:t>
            </a:r>
            <a:endParaRPr lang="en-US" sz="1300" dirty="0"/>
          </a:p>
        </p:txBody>
      </p:sp>
      <p:sp>
        <p:nvSpPr>
          <p:cNvPr id="18" name="Text 12"/>
          <p:cNvSpPr txBox="1"/>
          <p:nvPr/>
        </p:nvSpPr>
        <p:spPr>
          <a:xfrm>
            <a:off x="4800600" y="1691640"/>
            <a:ext cx="1719072" cy="640080"/>
          </a:xfrm>
          <a:prstGeom prst="rect">
            <a:avLst/>
          </a:prstGeom>
          <a:noFill/>
          <a:ln/>
        </p:spPr>
        <p:txBody>
          <a:bodyPr wrap="square" lIns="0" tIns="0" rIns="0" bIns="0" rtlCol="0" anchor="t"/>
          <a:lstStyle/>
          <a:p>
            <a:pPr indent="0" marL="0">
              <a:buNone/>
            </a:pPr>
            <a:r>
              <a:rPr lang="en-US" sz="1200" dirty="0">
                <a:solidFill>
                  <a:schemeClr val="tx2"/>
                </a:solidFill>
              </a:rPr>
              <a:t>Conseguenze di un errore: gravità, reversibilità?</a:t>
            </a:r>
            <a:endParaRPr lang="en-US" sz="1200" dirty="0"/>
          </a:p>
        </p:txBody>
      </p:sp>
      <p:sp>
        <p:nvSpPr>
          <p:cNvPr id="19" name="Controlli disponibili"/>
          <p:cNvSpPr/>
          <p:nvPr/>
        </p:nvSpPr>
        <p:spPr>
          <a:xfrm>
            <a:off x="6766560" y="1051560"/>
            <a:ext cx="1965960" cy="1325880"/>
          </a:xfrm>
          <a:prstGeom prst="roundRect">
            <a:avLst>
              <a:gd name="adj" fmla="val 5517"/>
            </a:avLst>
          </a:prstGeom>
          <a:solidFill>
            <a:schemeClr val="bg2"/>
          </a:solidFill>
          <a:ln/>
        </p:spPr>
      </p:sp>
      <p:sp>
        <p:nvSpPr>
          <p:cNvPr id="20" name="cerchio FiCheckSquare"/>
          <p:cNvSpPr/>
          <p:nvPr/>
        </p:nvSpPr>
        <p:spPr>
          <a:xfrm>
            <a:off x="6903720" y="1161288"/>
            <a:ext cx="438912" cy="438912"/>
          </a:xfrm>
          <a:prstGeom prst="ellipse">
            <a:avLst/>
          </a:prstGeom>
          <a:solidFill>
            <a:schemeClr val="accent1"/>
          </a:solidFill>
          <a:ln/>
        </p:spPr>
      </p:sp>
      <p:pic>
        <p:nvPicPr>
          <p:cNvPr id="21" name="Image 3" descr="FiCheckSquare">    </p:cNvPr>
          <p:cNvPicPr>
            <a:picLocks noChangeAspect="1"/>
          </p:cNvPicPr>
          <p:nvPr/>
        </p:nvPicPr>
        <p:blipFill>
          <a:blip r:embed="rId4"/>
          <a:stretch>
            <a:fillRect/>
          </a:stretch>
        </p:blipFill>
        <p:spPr>
          <a:xfrm>
            <a:off x="7013448" y="1271016"/>
            <a:ext cx="219456" cy="219456"/>
          </a:xfrm>
          <a:prstGeom prst="rect">
            <a:avLst/>
          </a:prstGeom>
        </p:spPr>
      </p:pic>
      <p:sp>
        <p:nvSpPr>
          <p:cNvPr id="22" name="Text 15"/>
          <p:cNvSpPr txBox="1"/>
          <p:nvPr/>
        </p:nvSpPr>
        <p:spPr>
          <a:xfrm>
            <a:off x="7424928" y="1161288"/>
            <a:ext cx="1261872" cy="438912"/>
          </a:xfrm>
          <a:prstGeom prst="rect">
            <a:avLst/>
          </a:prstGeom>
          <a:noFill/>
          <a:ln/>
        </p:spPr>
        <p:txBody>
          <a:bodyPr wrap="square" lIns="0" tIns="0" rIns="0" bIns="0" rtlCol="0" anchor="ctr"/>
          <a:lstStyle/>
          <a:p>
            <a:pPr indent="0" marL="0">
              <a:buNone/>
            </a:pPr>
            <a:r>
              <a:rPr lang="en-US" sz="1300" b="1" dirty="0">
                <a:solidFill>
                  <a:schemeClr val="tx1"/>
                </a:solidFill>
              </a:rPr>
              <a:t>Controlli disponibili</a:t>
            </a:r>
            <a:endParaRPr lang="en-US" sz="1300" dirty="0"/>
          </a:p>
        </p:txBody>
      </p:sp>
      <p:sp>
        <p:nvSpPr>
          <p:cNvPr id="23" name="Text 16"/>
          <p:cNvSpPr txBox="1"/>
          <p:nvPr/>
        </p:nvSpPr>
        <p:spPr>
          <a:xfrm>
            <a:off x="6903720" y="1691640"/>
            <a:ext cx="1719072" cy="640080"/>
          </a:xfrm>
          <a:prstGeom prst="rect">
            <a:avLst/>
          </a:prstGeom>
          <a:noFill/>
          <a:ln/>
        </p:spPr>
        <p:txBody>
          <a:bodyPr wrap="square" lIns="0" tIns="0" rIns="0" bIns="0" rtlCol="0" anchor="t"/>
          <a:lstStyle/>
          <a:p>
            <a:pPr indent="0" marL="0">
              <a:buNone/>
            </a:pPr>
            <a:r>
              <a:rPr lang="en-US" sz="1200" dirty="0">
                <a:solidFill>
                  <a:schemeClr val="tx2"/>
                </a:solidFill>
              </a:rPr>
              <a:t>Possiamo verificare, con quali risorse?</a:t>
            </a:r>
            <a:endParaRPr lang="en-US" sz="1200" dirty="0"/>
          </a:p>
        </p:txBody>
      </p:sp>
      <p:sp>
        <p:nvSpPr>
          <p:cNvPr id="24" name="controllo Livelli 1-2"/>
          <p:cNvSpPr/>
          <p:nvPr/>
        </p:nvSpPr>
        <p:spPr>
          <a:xfrm>
            <a:off x="457200" y="2514600"/>
            <a:ext cx="1965960" cy="566928"/>
          </a:xfrm>
          <a:prstGeom prst="roundRect">
            <a:avLst>
              <a:gd name="adj" fmla="val 12903"/>
            </a:avLst>
          </a:prstGeom>
          <a:solidFill>
            <a:schemeClr val="accent6"/>
          </a:solidFill>
          <a:ln/>
        </p:spPr>
      </p:sp>
      <p:sp>
        <p:nvSpPr>
          <p:cNvPr id="25" name="Text 18"/>
          <p:cNvSpPr txBox="1"/>
          <p:nvPr/>
        </p:nvSpPr>
        <p:spPr>
          <a:xfrm>
            <a:off x="594360" y="2514600"/>
            <a:ext cx="1737360" cy="566928"/>
          </a:xfrm>
          <a:prstGeom prst="rect">
            <a:avLst/>
          </a:prstGeom>
          <a:noFill/>
          <a:ln/>
        </p:spPr>
        <p:txBody>
          <a:bodyPr wrap="square" lIns="0" tIns="0" rIns="0" bIns="0" rtlCol="0" anchor="ctr"/>
          <a:lstStyle/>
          <a:p>
            <a:pPr indent="0" marL="0">
              <a:buNone/>
            </a:pPr>
            <a:r>
              <a:rPr lang="en-US" sz="1100" b="1" dirty="0">
                <a:solidFill>
                  <a:schemeClr val="accent1"/>
                </a:solidFill>
              </a:rPr>
              <a:t>Livelli 1-2</a:t>
            </a:r>
            <a:endParaRPr lang="en-US" sz="1100" dirty="0"/>
          </a:p>
          <a:p>
            <a:pPr indent="0" marL="0">
              <a:buNone/>
            </a:pPr>
            <a:r>
              <a:rPr lang="en-US" sz="1100" dirty="0">
                <a:solidFill>
                  <a:schemeClr val="tx1"/>
                </a:solidFill>
              </a:rPr>
              <a:t>Controllo diretto</a:t>
            </a:r>
            <a:endParaRPr lang="en-US" sz="1100" dirty="0"/>
          </a:p>
        </p:txBody>
      </p:sp>
      <p:sp>
        <p:nvSpPr>
          <p:cNvPr id="26" name="controllo Livello 3"/>
          <p:cNvSpPr/>
          <p:nvPr/>
        </p:nvSpPr>
        <p:spPr>
          <a:xfrm>
            <a:off x="2560320" y="2514600"/>
            <a:ext cx="1965960" cy="566928"/>
          </a:xfrm>
          <a:prstGeom prst="roundRect">
            <a:avLst>
              <a:gd name="adj" fmla="val 12903"/>
            </a:avLst>
          </a:prstGeom>
          <a:solidFill>
            <a:schemeClr val="accent6"/>
          </a:solidFill>
          <a:ln/>
        </p:spPr>
      </p:sp>
      <p:sp>
        <p:nvSpPr>
          <p:cNvPr id="27" name="Text 20"/>
          <p:cNvSpPr txBox="1"/>
          <p:nvPr/>
        </p:nvSpPr>
        <p:spPr>
          <a:xfrm>
            <a:off x="2697480" y="2514600"/>
            <a:ext cx="1737360" cy="566928"/>
          </a:xfrm>
          <a:prstGeom prst="rect">
            <a:avLst/>
          </a:prstGeom>
          <a:noFill/>
          <a:ln/>
        </p:spPr>
        <p:txBody>
          <a:bodyPr wrap="square" lIns="0" tIns="0" rIns="0" bIns="0" rtlCol="0" anchor="ctr"/>
          <a:lstStyle/>
          <a:p>
            <a:pPr indent="0" marL="0">
              <a:buNone/>
            </a:pPr>
            <a:r>
              <a:rPr lang="en-US" sz="1100" b="1" dirty="0">
                <a:solidFill>
                  <a:schemeClr val="accent1"/>
                </a:solidFill>
              </a:rPr>
              <a:t>Livello 3</a:t>
            </a:r>
            <a:endParaRPr lang="en-US" sz="1100" dirty="0"/>
          </a:p>
          <a:p>
            <a:pPr indent="0" marL="0">
              <a:buNone/>
            </a:pPr>
            <a:r>
              <a:rPr lang="en-US" sz="1100" dirty="0">
                <a:solidFill>
                  <a:schemeClr val="tx1"/>
                </a:solidFill>
              </a:rPr>
              <a:t>Revisione del risultato</a:t>
            </a:r>
            <a:endParaRPr lang="en-US" sz="1100" dirty="0"/>
          </a:p>
        </p:txBody>
      </p:sp>
      <p:sp>
        <p:nvSpPr>
          <p:cNvPr id="28" name="controllo Livello 4"/>
          <p:cNvSpPr/>
          <p:nvPr/>
        </p:nvSpPr>
        <p:spPr>
          <a:xfrm>
            <a:off x="4663440" y="2514600"/>
            <a:ext cx="1965960" cy="566928"/>
          </a:xfrm>
          <a:prstGeom prst="roundRect">
            <a:avLst>
              <a:gd name="adj" fmla="val 12903"/>
            </a:avLst>
          </a:prstGeom>
          <a:solidFill>
            <a:schemeClr val="accent6"/>
          </a:solidFill>
          <a:ln/>
        </p:spPr>
      </p:sp>
      <p:sp>
        <p:nvSpPr>
          <p:cNvPr id="29" name="Text 22"/>
          <p:cNvSpPr txBox="1"/>
          <p:nvPr/>
        </p:nvSpPr>
        <p:spPr>
          <a:xfrm>
            <a:off x="4800600" y="2514600"/>
            <a:ext cx="1737360" cy="566928"/>
          </a:xfrm>
          <a:prstGeom prst="rect">
            <a:avLst/>
          </a:prstGeom>
          <a:noFill/>
          <a:ln/>
        </p:spPr>
        <p:txBody>
          <a:bodyPr wrap="square" lIns="0" tIns="0" rIns="0" bIns="0" rtlCol="0" anchor="ctr"/>
          <a:lstStyle/>
          <a:p>
            <a:pPr indent="0" marL="0">
              <a:buNone/>
            </a:pPr>
            <a:r>
              <a:rPr lang="en-US" sz="1100" b="1" dirty="0">
                <a:solidFill>
                  <a:schemeClr val="accent1"/>
                </a:solidFill>
              </a:rPr>
              <a:t>Livello 4</a:t>
            </a:r>
            <a:endParaRPr lang="en-US" sz="1100" dirty="0"/>
          </a:p>
          <a:p>
            <a:pPr indent="0" marL="0">
              <a:buNone/>
            </a:pPr>
            <a:r>
              <a:rPr lang="en-US" sz="1100" dirty="0">
                <a:solidFill>
                  <a:schemeClr val="tx1"/>
                </a:solidFill>
              </a:rPr>
              <a:t>Verifica sistematica</a:t>
            </a:r>
            <a:endParaRPr lang="en-US" sz="1100" dirty="0"/>
          </a:p>
        </p:txBody>
      </p:sp>
      <p:sp>
        <p:nvSpPr>
          <p:cNvPr id="30" name="controllo Livello 5"/>
          <p:cNvSpPr/>
          <p:nvPr/>
        </p:nvSpPr>
        <p:spPr>
          <a:xfrm>
            <a:off x="6766560" y="2514600"/>
            <a:ext cx="1965960" cy="566928"/>
          </a:xfrm>
          <a:prstGeom prst="roundRect">
            <a:avLst>
              <a:gd name="adj" fmla="val 12903"/>
            </a:avLst>
          </a:prstGeom>
          <a:solidFill>
            <a:schemeClr val="accent6"/>
          </a:solidFill>
          <a:ln/>
        </p:spPr>
      </p:sp>
      <p:sp>
        <p:nvSpPr>
          <p:cNvPr id="31" name="Text 24"/>
          <p:cNvSpPr txBox="1"/>
          <p:nvPr/>
        </p:nvSpPr>
        <p:spPr>
          <a:xfrm>
            <a:off x="6903720" y="2514600"/>
            <a:ext cx="1737360" cy="566928"/>
          </a:xfrm>
          <a:prstGeom prst="rect">
            <a:avLst/>
          </a:prstGeom>
          <a:noFill/>
          <a:ln/>
        </p:spPr>
        <p:txBody>
          <a:bodyPr wrap="square" lIns="0" tIns="0" rIns="0" bIns="0" rtlCol="0" anchor="ctr"/>
          <a:lstStyle/>
          <a:p>
            <a:pPr indent="0" marL="0">
              <a:buNone/>
            </a:pPr>
            <a:r>
              <a:rPr lang="en-US" sz="1100" b="1" dirty="0">
                <a:solidFill>
                  <a:schemeClr val="accent1"/>
                </a:solidFill>
              </a:rPr>
              <a:t>Livello 5</a:t>
            </a:r>
            <a:endParaRPr lang="en-US" sz="1100" dirty="0"/>
          </a:p>
          <a:p>
            <a:pPr indent="0" marL="0">
              <a:buNone/>
            </a:pPr>
            <a:r>
              <a:rPr lang="en-US" sz="1100" dirty="0">
                <a:solidFill>
                  <a:schemeClr val="tx1"/>
                </a:solidFill>
              </a:rPr>
              <a:t>Controllo progettato</a:t>
            </a:r>
            <a:endParaRPr lang="en-US" sz="1100" dirty="0"/>
          </a:p>
        </p:txBody>
      </p:sp>
      <p:sp>
        <p:nvSpPr>
          <p:cNvPr id="32" name="autonomia come opportunità"/>
          <p:cNvSpPr/>
          <p:nvPr/>
        </p:nvSpPr>
        <p:spPr>
          <a:xfrm>
            <a:off x="457200" y="3218688"/>
            <a:ext cx="8229600" cy="1307592"/>
          </a:xfrm>
          <a:prstGeom prst="roundRect">
            <a:avLst>
              <a:gd name="adj" fmla="val 5594"/>
            </a:avLst>
          </a:prstGeom>
          <a:solidFill>
            <a:schemeClr val="tx1"/>
          </a:solidFill>
          <a:ln/>
        </p:spPr>
      </p:sp>
      <p:sp>
        <p:nvSpPr>
          <p:cNvPr id="33" name="Text 26"/>
          <p:cNvSpPr txBox="1"/>
          <p:nvPr/>
        </p:nvSpPr>
        <p:spPr>
          <a:xfrm>
            <a:off x="685800" y="3291840"/>
            <a:ext cx="7772400" cy="411480"/>
          </a:xfrm>
          <a:prstGeom prst="rect">
            <a:avLst/>
          </a:prstGeom>
          <a:noFill/>
          <a:ln/>
        </p:spPr>
        <p:txBody>
          <a:bodyPr wrap="square" lIns="0" tIns="0" rIns="0" bIns="0" rtlCol="0" anchor="t"/>
          <a:lstStyle/>
          <a:p>
            <a:pPr indent="0" marL="0">
              <a:buNone/>
            </a:pPr>
            <a:r>
              <a:rPr lang="en-US" sz="1700" b="1" dirty="0">
                <a:solidFill>
                  <a:schemeClr val="bg1"/>
                </a:solidFill>
              </a:rPr>
              <a:t>Più autonomia può generare efficienza e scalabilità</a:t>
            </a:r>
            <a:endParaRPr lang="en-US" sz="1700" dirty="0"/>
          </a:p>
        </p:txBody>
      </p:sp>
      <p:sp>
        <p:nvSpPr>
          <p:cNvPr id="34" name="Text 27"/>
          <p:cNvSpPr txBox="1"/>
          <p:nvPr/>
        </p:nvSpPr>
        <p:spPr>
          <a:xfrm>
            <a:off x="685800" y="3703320"/>
            <a:ext cx="7772400" cy="749808"/>
          </a:xfrm>
          <a:prstGeom prst="rect">
            <a:avLst/>
          </a:prstGeom>
          <a:noFill/>
          <a:ln/>
        </p:spPr>
        <p:txBody>
          <a:bodyPr wrap="square" lIns="0" tIns="0" rIns="0" bIns="0" rtlCol="0" anchor="t"/>
          <a:lstStyle/>
          <a:p>
            <a:pPr indent="0" marL="0">
              <a:buNone/>
            </a:pPr>
            <a:r>
              <a:rPr lang="en-US" sz="1300" dirty="0">
                <a:solidFill>
                  <a:schemeClr val="accent3"/>
                </a:solidFill>
              </a:rPr>
              <a:t>Quando il compito è adatto e i controlli sono adeguati, delegare di più libera tempo e permette di gestire volumi maggiori. Resta chiaro chi risponde del risultato e con quali mezzi lo controlla.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Quando aumentare la delega</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1005840"/>
                <a:gridCol w="1143000"/>
                <a:gridCol w="1234440"/>
                <a:gridCol w="1554480"/>
                <a:gridCol w="1371600"/>
              </a:tblGrid>
              <a:tr h="411480">
                <a:tc>
                  <a:txBody>
                    <a:bodyPr/>
                    <a:lstStyle/>
                    <a:p>
                      <a:pPr indent="0" marL="0">
                        <a:buNone/>
                      </a:pPr>
                      <a:r>
                        <a:rPr lang="en-US" sz="1100" b="1" dirty="0">
                          <a:solidFill>
                            <a:schemeClr val="bg1"/>
                          </a:solidFill>
                        </a:rPr>
                        <a:t>Attività</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Ripetitività</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Verificabilità</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Impatto di un errore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Controlli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Livello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749808">
                <a:tc>
                  <a:txBody>
                    <a:bodyPr/>
                    <a:lstStyle/>
                    <a:p>
                      <a:pPr indent="0" marL="0">
                        <a:buNone/>
                      </a:pPr>
                      <a:r>
                        <a:rPr lang="en-US" sz="1100" b="1" dirty="0">
                          <a:solidFill>
                            <a:schemeClr val="tx1"/>
                          </a:solidFill>
                        </a:rPr>
                        <a:t>Smistare le richieste in arrivo per categoria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Alta, a campione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Basso, reversibile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Regole, campioni, eccezioni a una persona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5 · Autonomia entro vincoli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749808">
                <a:tc>
                  <a:txBody>
                    <a:bodyPr/>
                    <a:lstStyle/>
                    <a:p>
                      <a:pPr indent="0" marL="0">
                        <a:buNone/>
                      </a:pPr>
                      <a:r>
                        <a:rPr lang="en-US" sz="1100" b="1" dirty="0">
                          <a:solidFill>
                            <a:schemeClr val="tx1"/>
                          </a:solidFill>
                        </a:rPr>
                        <a:t>Rispondere alle domande standard sulle consegne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Alta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Medio: arriva al cliente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Verifica prima dell'invio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4 · Delega supervisionata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749808">
                <a:tc>
                  <a:txBody>
                    <a:bodyPr/>
                    <a:lstStyle/>
                    <a:p>
                      <a:pPr indent="0" marL="0">
                        <a:buNone/>
                      </a:pPr>
                      <a:r>
                        <a:rPr lang="en-US" sz="1100" b="1" dirty="0">
                          <a:solidFill>
                            <a:schemeClr val="tx1"/>
                          </a:solidFill>
                        </a:rPr>
                        <a:t>Valutare un fornitore strategico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Bassa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Parziale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Alto, poco reversibile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Revisione esperta, fonti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2-3 · Suggeritore o collaboratore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3840480"/>
            <a:ext cx="8229600" cy="685800"/>
          </a:xfrm>
          <a:prstGeom prst="roundRect">
            <a:avLst>
              <a:gd name="adj" fmla="val 10667"/>
            </a:avLst>
          </a:prstGeom>
          <a:solidFill>
            <a:schemeClr val="tx1"/>
          </a:solidFill>
          <a:ln/>
        </p:spPr>
      </p:sp>
      <p:sp>
        <p:nvSpPr>
          <p:cNvPr id="6" name="Text 2"/>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Si aumenta la delega quando il compito è ripetitivo e verificabile, l'impatto di un errore è gestibile e i controlli sono previsti.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 qualità dipende anche dalla persona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competenze umane restano determinanti per formulare problemi, interpretare risultati e riconoscere output inadeguati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fattori che dipendono dalla persona</a:t>
            </a:r>
            <a:endParaRPr lang="en-US" sz="2600" dirty="0"/>
          </a:p>
        </p:txBody>
      </p:sp>
      <p:sp>
        <p:nvSpPr>
          <p:cNvPr id="4" name="Chiarezza degli obiettivi"/>
          <p:cNvSpPr/>
          <p:nvPr/>
        </p:nvSpPr>
        <p:spPr>
          <a:xfrm>
            <a:off x="457200" y="1051560"/>
            <a:ext cx="1920240" cy="1348740"/>
          </a:xfrm>
          <a:prstGeom prst="roundRect">
            <a:avLst>
              <a:gd name="adj" fmla="val 5424"/>
            </a:avLst>
          </a:prstGeom>
          <a:solidFill>
            <a:schemeClr val="bg2"/>
          </a:solidFill>
          <a:ln/>
        </p:spPr>
      </p:sp>
      <p:sp>
        <p:nvSpPr>
          <p:cNvPr id="5" name="cerchio FiTarget"/>
          <p:cNvSpPr/>
          <p:nvPr/>
        </p:nvSpPr>
        <p:spPr>
          <a:xfrm>
            <a:off x="621792" y="1216152"/>
            <a:ext cx="438912" cy="438912"/>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31520" y="1325880"/>
            <a:ext cx="219456" cy="219456"/>
          </a:xfrm>
          <a:prstGeom prst="rect">
            <a:avLst/>
          </a:prstGeom>
        </p:spPr>
      </p:pic>
      <p:sp>
        <p:nvSpPr>
          <p:cNvPr id="7" name="Text 3"/>
          <p:cNvSpPr txBox="1"/>
          <p:nvPr/>
        </p:nvSpPr>
        <p:spPr>
          <a:xfrm>
            <a:off x="117043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Chiarezza degli obiettivi</a:t>
            </a:r>
            <a:endParaRPr lang="en-US" sz="1300" dirty="0"/>
          </a:p>
        </p:txBody>
      </p:sp>
      <p:sp>
        <p:nvSpPr>
          <p:cNvPr id="8" name="Text 4"/>
          <p:cNvSpPr txBox="1"/>
          <p:nvPr/>
        </p:nvSpPr>
        <p:spPr>
          <a:xfrm>
            <a:off x="621792" y="1764792"/>
            <a:ext cx="1591056" cy="544068"/>
          </a:xfrm>
          <a:prstGeom prst="rect">
            <a:avLst/>
          </a:prstGeom>
          <a:noFill/>
          <a:ln/>
        </p:spPr>
        <p:txBody>
          <a:bodyPr wrap="square" lIns="0" tIns="0" rIns="0" bIns="0" rtlCol="0" anchor="t"/>
          <a:lstStyle/>
          <a:p>
            <a:pPr indent="0" marL="0">
              <a:buNone/>
            </a:pPr>
            <a:r>
              <a:rPr lang="en-US" sz="1100" dirty="0">
                <a:solidFill>
                  <a:schemeClr val="tx2"/>
                </a:solidFill>
              </a:rPr>
              <a:t>Sapere a che cosa servirà il risultato</a:t>
            </a:r>
            <a:endParaRPr lang="en-US" sz="1100" dirty="0"/>
          </a:p>
        </p:txBody>
      </p:sp>
      <p:sp>
        <p:nvSpPr>
          <p:cNvPr id="9" name="Comprensione del problema"/>
          <p:cNvSpPr/>
          <p:nvPr/>
        </p:nvSpPr>
        <p:spPr>
          <a:xfrm>
            <a:off x="2560320" y="1051560"/>
            <a:ext cx="1920240" cy="1348740"/>
          </a:xfrm>
          <a:prstGeom prst="roundRect">
            <a:avLst>
              <a:gd name="adj" fmla="val 5424"/>
            </a:avLst>
          </a:prstGeom>
          <a:solidFill>
            <a:schemeClr val="bg2"/>
          </a:solidFill>
          <a:ln/>
        </p:spPr>
      </p:sp>
      <p:sp>
        <p:nvSpPr>
          <p:cNvPr id="10" name="cerchio FiHelpCircle"/>
          <p:cNvSpPr/>
          <p:nvPr/>
        </p:nvSpPr>
        <p:spPr>
          <a:xfrm>
            <a:off x="2724912" y="1216152"/>
            <a:ext cx="438912" cy="438912"/>
          </a:xfrm>
          <a:prstGeom prst="ellipse">
            <a:avLst/>
          </a:prstGeom>
          <a:solidFill>
            <a:schemeClr val="accent1"/>
          </a:solidFill>
          <a:ln/>
        </p:spPr>
      </p:sp>
      <p:pic>
        <p:nvPicPr>
          <p:cNvPr id="11" name="Image 1" descr="FiHelpCircle">    </p:cNvPr>
          <p:cNvPicPr>
            <a:picLocks noChangeAspect="1"/>
          </p:cNvPicPr>
          <p:nvPr/>
        </p:nvPicPr>
        <p:blipFill>
          <a:blip r:embed="rId2"/>
          <a:stretch>
            <a:fillRect/>
          </a:stretch>
        </p:blipFill>
        <p:spPr>
          <a:xfrm>
            <a:off x="2834640" y="1325880"/>
            <a:ext cx="219456" cy="219456"/>
          </a:xfrm>
          <a:prstGeom prst="rect">
            <a:avLst/>
          </a:prstGeom>
        </p:spPr>
      </p:pic>
      <p:sp>
        <p:nvSpPr>
          <p:cNvPr id="12" name="Text 7"/>
          <p:cNvSpPr txBox="1"/>
          <p:nvPr/>
        </p:nvSpPr>
        <p:spPr>
          <a:xfrm>
            <a:off x="327355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Comprensione del problema</a:t>
            </a:r>
            <a:endParaRPr lang="en-US" sz="1300" dirty="0"/>
          </a:p>
        </p:txBody>
      </p:sp>
      <p:sp>
        <p:nvSpPr>
          <p:cNvPr id="13" name="Text 8"/>
          <p:cNvSpPr txBox="1"/>
          <p:nvPr/>
        </p:nvSpPr>
        <p:spPr>
          <a:xfrm>
            <a:off x="2724912" y="1764792"/>
            <a:ext cx="1591056" cy="544068"/>
          </a:xfrm>
          <a:prstGeom prst="rect">
            <a:avLst/>
          </a:prstGeom>
          <a:noFill/>
          <a:ln/>
        </p:spPr>
        <p:txBody>
          <a:bodyPr wrap="square" lIns="0" tIns="0" rIns="0" bIns="0" rtlCol="0" anchor="t"/>
          <a:lstStyle/>
          <a:p>
            <a:pPr indent="0" marL="0">
              <a:buNone/>
            </a:pPr>
            <a:r>
              <a:rPr lang="en-US" sz="1100" dirty="0">
                <a:solidFill>
                  <a:schemeClr val="tx2"/>
                </a:solidFill>
              </a:rPr>
              <a:t>Capire la natura della questione</a:t>
            </a:r>
            <a:endParaRPr lang="en-US" sz="1100" dirty="0"/>
          </a:p>
        </p:txBody>
      </p:sp>
      <p:sp>
        <p:nvSpPr>
          <p:cNvPr id="14" name="Conoscenza del contesto"/>
          <p:cNvSpPr/>
          <p:nvPr/>
        </p:nvSpPr>
        <p:spPr>
          <a:xfrm>
            <a:off x="4663440" y="1051560"/>
            <a:ext cx="1920240" cy="1348740"/>
          </a:xfrm>
          <a:prstGeom prst="roundRect">
            <a:avLst>
              <a:gd name="adj" fmla="val 5424"/>
            </a:avLst>
          </a:prstGeom>
          <a:solidFill>
            <a:schemeClr val="accent6"/>
          </a:solidFill>
          <a:ln/>
        </p:spPr>
      </p:sp>
      <p:sp>
        <p:nvSpPr>
          <p:cNvPr id="15" name="cerchio FiMap"/>
          <p:cNvSpPr/>
          <p:nvPr/>
        </p:nvSpPr>
        <p:spPr>
          <a:xfrm>
            <a:off x="4828032" y="1216152"/>
            <a:ext cx="438912" cy="438912"/>
          </a:xfrm>
          <a:prstGeom prst="ellipse">
            <a:avLst/>
          </a:prstGeom>
          <a:solidFill>
            <a:schemeClr val="accent1"/>
          </a:solidFill>
          <a:ln/>
        </p:spPr>
      </p:sp>
      <p:pic>
        <p:nvPicPr>
          <p:cNvPr id="16" name="Image 2" descr="FiMap">    </p:cNvPr>
          <p:cNvPicPr>
            <a:picLocks noChangeAspect="1"/>
          </p:cNvPicPr>
          <p:nvPr/>
        </p:nvPicPr>
        <p:blipFill>
          <a:blip r:embed="rId3"/>
          <a:stretch>
            <a:fillRect/>
          </a:stretch>
        </p:blipFill>
        <p:spPr>
          <a:xfrm>
            <a:off x="4937760" y="1325880"/>
            <a:ext cx="219456" cy="219456"/>
          </a:xfrm>
          <a:prstGeom prst="rect">
            <a:avLst/>
          </a:prstGeom>
        </p:spPr>
      </p:pic>
      <p:sp>
        <p:nvSpPr>
          <p:cNvPr id="17" name="Text 11"/>
          <p:cNvSpPr txBox="1"/>
          <p:nvPr/>
        </p:nvSpPr>
        <p:spPr>
          <a:xfrm>
            <a:off x="537667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Conoscenza del contesto</a:t>
            </a:r>
            <a:endParaRPr lang="en-US" sz="1300" dirty="0"/>
          </a:p>
        </p:txBody>
      </p:sp>
      <p:sp>
        <p:nvSpPr>
          <p:cNvPr id="18" name="Text 12"/>
          <p:cNvSpPr txBox="1"/>
          <p:nvPr/>
        </p:nvSpPr>
        <p:spPr>
          <a:xfrm>
            <a:off x="4828032" y="1764792"/>
            <a:ext cx="1591056" cy="544068"/>
          </a:xfrm>
          <a:prstGeom prst="rect">
            <a:avLst/>
          </a:prstGeom>
          <a:noFill/>
          <a:ln/>
        </p:spPr>
        <p:txBody>
          <a:bodyPr wrap="square" lIns="0" tIns="0" rIns="0" bIns="0" rtlCol="0" anchor="t"/>
          <a:lstStyle/>
          <a:p>
            <a:pPr indent="0" marL="0">
              <a:buNone/>
            </a:pPr>
            <a:r>
              <a:rPr lang="en-US" sz="1100" dirty="0">
                <a:solidFill>
                  <a:schemeClr val="tx2"/>
                </a:solidFill>
              </a:rPr>
              <a:t>Pubblico, vincoli, storia, priorità</a:t>
            </a:r>
            <a:endParaRPr lang="en-US" sz="1100" dirty="0"/>
          </a:p>
        </p:txBody>
      </p:sp>
      <p:sp>
        <p:nvSpPr>
          <p:cNvPr id="19" name="Competenze di dominio"/>
          <p:cNvSpPr/>
          <p:nvPr/>
        </p:nvSpPr>
        <p:spPr>
          <a:xfrm>
            <a:off x="6766560" y="1051560"/>
            <a:ext cx="1920240" cy="1348740"/>
          </a:xfrm>
          <a:prstGeom prst="roundRect">
            <a:avLst>
              <a:gd name="adj" fmla="val 5424"/>
            </a:avLst>
          </a:prstGeom>
          <a:solidFill>
            <a:schemeClr val="accent6"/>
          </a:solidFill>
          <a:ln/>
        </p:spPr>
      </p:sp>
      <p:sp>
        <p:nvSpPr>
          <p:cNvPr id="20" name="cerchio FiAward"/>
          <p:cNvSpPr/>
          <p:nvPr/>
        </p:nvSpPr>
        <p:spPr>
          <a:xfrm>
            <a:off x="6931152" y="1216152"/>
            <a:ext cx="438912" cy="438912"/>
          </a:xfrm>
          <a:prstGeom prst="ellipse">
            <a:avLst/>
          </a:prstGeom>
          <a:solidFill>
            <a:schemeClr val="accent1"/>
          </a:solidFill>
          <a:ln/>
        </p:spPr>
      </p:sp>
      <p:pic>
        <p:nvPicPr>
          <p:cNvPr id="21" name="Image 3" descr="FiAward">    </p:cNvPr>
          <p:cNvPicPr>
            <a:picLocks noChangeAspect="1"/>
          </p:cNvPicPr>
          <p:nvPr/>
        </p:nvPicPr>
        <p:blipFill>
          <a:blip r:embed="rId4"/>
          <a:stretch>
            <a:fillRect/>
          </a:stretch>
        </p:blipFill>
        <p:spPr>
          <a:xfrm>
            <a:off x="7040880" y="1325880"/>
            <a:ext cx="219456" cy="219456"/>
          </a:xfrm>
          <a:prstGeom prst="rect">
            <a:avLst/>
          </a:prstGeom>
        </p:spPr>
      </p:pic>
      <p:sp>
        <p:nvSpPr>
          <p:cNvPr id="22" name="Text 15"/>
          <p:cNvSpPr txBox="1"/>
          <p:nvPr/>
        </p:nvSpPr>
        <p:spPr>
          <a:xfrm>
            <a:off x="747979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Competenze di dominio</a:t>
            </a:r>
            <a:endParaRPr lang="en-US" sz="1300" dirty="0"/>
          </a:p>
        </p:txBody>
      </p:sp>
      <p:sp>
        <p:nvSpPr>
          <p:cNvPr id="23" name="Text 16"/>
          <p:cNvSpPr txBox="1"/>
          <p:nvPr/>
        </p:nvSpPr>
        <p:spPr>
          <a:xfrm>
            <a:off x="6931152" y="1764792"/>
            <a:ext cx="1591056" cy="544068"/>
          </a:xfrm>
          <a:prstGeom prst="rect">
            <a:avLst/>
          </a:prstGeom>
          <a:noFill/>
          <a:ln/>
        </p:spPr>
        <p:txBody>
          <a:bodyPr wrap="square" lIns="0" tIns="0" rIns="0" bIns="0" rtlCol="0" anchor="t"/>
          <a:lstStyle/>
          <a:p>
            <a:pPr indent="0" marL="0">
              <a:buNone/>
            </a:pPr>
            <a:r>
              <a:rPr lang="en-US" sz="1100" dirty="0">
                <a:solidFill>
                  <a:schemeClr val="tx2"/>
                </a:solidFill>
              </a:rPr>
              <a:t>Che cosa chiedere, quali errori vedere</a:t>
            </a:r>
            <a:endParaRPr lang="en-US" sz="1100" dirty="0"/>
          </a:p>
        </p:txBody>
      </p:sp>
      <p:sp>
        <p:nvSpPr>
          <p:cNvPr id="24" name="Domande pertinenti"/>
          <p:cNvSpPr/>
          <p:nvPr/>
        </p:nvSpPr>
        <p:spPr>
          <a:xfrm>
            <a:off x="457200" y="2583180"/>
            <a:ext cx="1920240" cy="1348740"/>
          </a:xfrm>
          <a:prstGeom prst="roundRect">
            <a:avLst>
              <a:gd name="adj" fmla="val 5424"/>
            </a:avLst>
          </a:prstGeom>
          <a:solidFill>
            <a:schemeClr val="bg2"/>
          </a:solidFill>
          <a:ln/>
        </p:spPr>
      </p:sp>
      <p:sp>
        <p:nvSpPr>
          <p:cNvPr id="25" name="cerchio FiMessageCircle"/>
          <p:cNvSpPr/>
          <p:nvPr/>
        </p:nvSpPr>
        <p:spPr>
          <a:xfrm>
            <a:off x="621792" y="2747772"/>
            <a:ext cx="438912" cy="438912"/>
          </a:xfrm>
          <a:prstGeom prst="ellipse">
            <a:avLst/>
          </a:prstGeom>
          <a:solidFill>
            <a:schemeClr val="accent1"/>
          </a:solidFill>
          <a:ln/>
        </p:spPr>
      </p:sp>
      <p:pic>
        <p:nvPicPr>
          <p:cNvPr id="26" name="Image 4" descr="FiMessageCircle">    </p:cNvPr>
          <p:cNvPicPr>
            <a:picLocks noChangeAspect="1"/>
          </p:cNvPicPr>
          <p:nvPr/>
        </p:nvPicPr>
        <p:blipFill>
          <a:blip r:embed="rId5"/>
          <a:stretch>
            <a:fillRect/>
          </a:stretch>
        </p:blipFill>
        <p:spPr>
          <a:xfrm>
            <a:off x="731520" y="2857500"/>
            <a:ext cx="219456" cy="219456"/>
          </a:xfrm>
          <a:prstGeom prst="rect">
            <a:avLst/>
          </a:prstGeom>
        </p:spPr>
      </p:pic>
      <p:sp>
        <p:nvSpPr>
          <p:cNvPr id="27" name="Text 19"/>
          <p:cNvSpPr txBox="1"/>
          <p:nvPr/>
        </p:nvSpPr>
        <p:spPr>
          <a:xfrm>
            <a:off x="1170432" y="27111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Domande pertinenti</a:t>
            </a:r>
            <a:endParaRPr lang="en-US" sz="1300" dirty="0"/>
          </a:p>
        </p:txBody>
      </p:sp>
      <p:sp>
        <p:nvSpPr>
          <p:cNvPr id="28" name="Text 20"/>
          <p:cNvSpPr txBox="1"/>
          <p:nvPr/>
        </p:nvSpPr>
        <p:spPr>
          <a:xfrm>
            <a:off x="621792" y="3296412"/>
            <a:ext cx="1591056" cy="544068"/>
          </a:xfrm>
          <a:prstGeom prst="rect">
            <a:avLst/>
          </a:prstGeom>
          <a:noFill/>
          <a:ln/>
        </p:spPr>
        <p:txBody>
          <a:bodyPr wrap="square" lIns="0" tIns="0" rIns="0" bIns="0" rtlCol="0" anchor="t"/>
          <a:lstStyle/>
          <a:p>
            <a:pPr indent="0" marL="0">
              <a:buNone/>
            </a:pPr>
            <a:r>
              <a:rPr lang="en-US" sz="1100" dirty="0">
                <a:solidFill>
                  <a:schemeClr val="tx2"/>
                </a:solidFill>
              </a:rPr>
              <a:t>Approfondire e mettere in discussione</a:t>
            </a:r>
            <a:endParaRPr lang="en-US" sz="1100" dirty="0"/>
          </a:p>
        </p:txBody>
      </p:sp>
      <p:sp>
        <p:nvSpPr>
          <p:cNvPr id="29" name="Interpretazione dei risultati"/>
          <p:cNvSpPr/>
          <p:nvPr/>
        </p:nvSpPr>
        <p:spPr>
          <a:xfrm>
            <a:off x="2560320" y="2583180"/>
            <a:ext cx="1920240" cy="1348740"/>
          </a:xfrm>
          <a:prstGeom prst="roundRect">
            <a:avLst>
              <a:gd name="adj" fmla="val 5424"/>
            </a:avLst>
          </a:prstGeom>
          <a:solidFill>
            <a:schemeClr val="bg2"/>
          </a:solidFill>
          <a:ln/>
        </p:spPr>
      </p:sp>
      <p:sp>
        <p:nvSpPr>
          <p:cNvPr id="30" name="cerchio FiEye"/>
          <p:cNvSpPr/>
          <p:nvPr/>
        </p:nvSpPr>
        <p:spPr>
          <a:xfrm>
            <a:off x="2724912" y="2747772"/>
            <a:ext cx="438912" cy="438912"/>
          </a:xfrm>
          <a:prstGeom prst="ellipse">
            <a:avLst/>
          </a:prstGeom>
          <a:solidFill>
            <a:schemeClr val="accent1"/>
          </a:solidFill>
          <a:ln/>
        </p:spPr>
      </p:sp>
      <p:pic>
        <p:nvPicPr>
          <p:cNvPr id="31" name="Image 5" descr="FiEye">    </p:cNvPr>
          <p:cNvPicPr>
            <a:picLocks noChangeAspect="1"/>
          </p:cNvPicPr>
          <p:nvPr/>
        </p:nvPicPr>
        <p:blipFill>
          <a:blip r:embed="rId6"/>
          <a:stretch>
            <a:fillRect/>
          </a:stretch>
        </p:blipFill>
        <p:spPr>
          <a:xfrm>
            <a:off x="2834640" y="2857500"/>
            <a:ext cx="219456" cy="219456"/>
          </a:xfrm>
          <a:prstGeom prst="rect">
            <a:avLst/>
          </a:prstGeom>
        </p:spPr>
      </p:pic>
      <p:sp>
        <p:nvSpPr>
          <p:cNvPr id="32" name="Text 23"/>
          <p:cNvSpPr txBox="1"/>
          <p:nvPr/>
        </p:nvSpPr>
        <p:spPr>
          <a:xfrm>
            <a:off x="3273552" y="27111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Interpretazione dei risultati</a:t>
            </a:r>
            <a:endParaRPr lang="en-US" sz="1300" dirty="0"/>
          </a:p>
        </p:txBody>
      </p:sp>
      <p:sp>
        <p:nvSpPr>
          <p:cNvPr id="33" name="Text 24"/>
          <p:cNvSpPr txBox="1"/>
          <p:nvPr/>
        </p:nvSpPr>
        <p:spPr>
          <a:xfrm>
            <a:off x="2724912" y="3296412"/>
            <a:ext cx="1591056" cy="544068"/>
          </a:xfrm>
          <a:prstGeom prst="rect">
            <a:avLst/>
          </a:prstGeom>
          <a:noFill/>
          <a:ln/>
        </p:spPr>
        <p:txBody>
          <a:bodyPr wrap="square" lIns="0" tIns="0" rIns="0" bIns="0" rtlCol="0" anchor="t"/>
          <a:lstStyle/>
          <a:p>
            <a:pPr indent="0" marL="0">
              <a:buNone/>
            </a:pPr>
            <a:r>
              <a:rPr lang="en-US" sz="1100" dirty="0">
                <a:solidFill>
                  <a:schemeClr val="tx2"/>
                </a:solidFill>
              </a:rPr>
              <a:t>Solido o incerto?</a:t>
            </a:r>
            <a:endParaRPr lang="en-US" sz="1100" dirty="0"/>
          </a:p>
        </p:txBody>
      </p:sp>
      <p:sp>
        <p:nvSpPr>
          <p:cNvPr id="34" name="Feedback e correzione"/>
          <p:cNvSpPr/>
          <p:nvPr/>
        </p:nvSpPr>
        <p:spPr>
          <a:xfrm>
            <a:off x="4663440" y="2583180"/>
            <a:ext cx="1920240" cy="1348740"/>
          </a:xfrm>
          <a:prstGeom prst="roundRect">
            <a:avLst>
              <a:gd name="adj" fmla="val 5424"/>
            </a:avLst>
          </a:prstGeom>
          <a:solidFill>
            <a:schemeClr val="bg2"/>
          </a:solidFill>
          <a:ln/>
        </p:spPr>
      </p:sp>
      <p:sp>
        <p:nvSpPr>
          <p:cNvPr id="35" name="cerchio FiEdit"/>
          <p:cNvSpPr/>
          <p:nvPr/>
        </p:nvSpPr>
        <p:spPr>
          <a:xfrm>
            <a:off x="4828032" y="2747772"/>
            <a:ext cx="438912" cy="438912"/>
          </a:xfrm>
          <a:prstGeom prst="ellipse">
            <a:avLst/>
          </a:prstGeom>
          <a:solidFill>
            <a:schemeClr val="accent1"/>
          </a:solidFill>
          <a:ln/>
        </p:spPr>
      </p:sp>
      <p:pic>
        <p:nvPicPr>
          <p:cNvPr id="36" name="Image 6" descr="FiEdit">    </p:cNvPr>
          <p:cNvPicPr>
            <a:picLocks noChangeAspect="1"/>
          </p:cNvPicPr>
          <p:nvPr/>
        </p:nvPicPr>
        <p:blipFill>
          <a:blip r:embed="rId7"/>
          <a:stretch>
            <a:fillRect/>
          </a:stretch>
        </p:blipFill>
        <p:spPr>
          <a:xfrm>
            <a:off x="4937760" y="2857500"/>
            <a:ext cx="219456" cy="219456"/>
          </a:xfrm>
          <a:prstGeom prst="rect">
            <a:avLst/>
          </a:prstGeom>
        </p:spPr>
      </p:pic>
      <p:sp>
        <p:nvSpPr>
          <p:cNvPr id="37" name="Text 27"/>
          <p:cNvSpPr txBox="1"/>
          <p:nvPr/>
        </p:nvSpPr>
        <p:spPr>
          <a:xfrm>
            <a:off x="5376672" y="27111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Feedback e correzione</a:t>
            </a:r>
            <a:endParaRPr lang="en-US" sz="1300" dirty="0"/>
          </a:p>
        </p:txBody>
      </p:sp>
      <p:sp>
        <p:nvSpPr>
          <p:cNvPr id="38" name="Text 28"/>
          <p:cNvSpPr txBox="1"/>
          <p:nvPr/>
        </p:nvSpPr>
        <p:spPr>
          <a:xfrm>
            <a:off x="4828032" y="3296412"/>
            <a:ext cx="1591056" cy="544068"/>
          </a:xfrm>
          <a:prstGeom prst="rect">
            <a:avLst/>
          </a:prstGeom>
          <a:noFill/>
          <a:ln/>
        </p:spPr>
        <p:txBody>
          <a:bodyPr wrap="square" lIns="0" tIns="0" rIns="0" bIns="0" rtlCol="0" anchor="t"/>
          <a:lstStyle/>
          <a:p>
            <a:pPr indent="0" marL="0">
              <a:buNone/>
            </a:pPr>
            <a:r>
              <a:rPr lang="en-US" sz="1100" dirty="0">
                <a:solidFill>
                  <a:schemeClr val="tx2"/>
                </a:solidFill>
              </a:rPr>
              <a:t>Indicare con precisione che cosa migliorare</a:t>
            </a:r>
            <a:endParaRPr lang="en-US" sz="1100" dirty="0"/>
          </a:p>
        </p:txBody>
      </p:sp>
      <p:sp>
        <p:nvSpPr>
          <p:cNvPr id="39" name="Utilizzo attivo"/>
          <p:cNvSpPr/>
          <p:nvPr/>
        </p:nvSpPr>
        <p:spPr>
          <a:xfrm>
            <a:off x="6766560" y="2583180"/>
            <a:ext cx="1920240" cy="1348740"/>
          </a:xfrm>
          <a:prstGeom prst="roundRect">
            <a:avLst>
              <a:gd name="adj" fmla="val 5424"/>
            </a:avLst>
          </a:prstGeom>
          <a:solidFill>
            <a:schemeClr val="bg2"/>
          </a:solidFill>
          <a:ln/>
        </p:spPr>
      </p:sp>
      <p:sp>
        <p:nvSpPr>
          <p:cNvPr id="40" name="cerchio FiActivity"/>
          <p:cNvSpPr/>
          <p:nvPr/>
        </p:nvSpPr>
        <p:spPr>
          <a:xfrm>
            <a:off x="6931152" y="2747772"/>
            <a:ext cx="438912" cy="438912"/>
          </a:xfrm>
          <a:prstGeom prst="ellipse">
            <a:avLst/>
          </a:prstGeom>
          <a:solidFill>
            <a:schemeClr val="accent1"/>
          </a:solidFill>
          <a:ln/>
        </p:spPr>
      </p:sp>
      <p:pic>
        <p:nvPicPr>
          <p:cNvPr id="41" name="Image 7" descr="FiActivity">    </p:cNvPr>
          <p:cNvPicPr>
            <a:picLocks noChangeAspect="1"/>
          </p:cNvPicPr>
          <p:nvPr/>
        </p:nvPicPr>
        <p:blipFill>
          <a:blip r:embed="rId8"/>
          <a:stretch>
            <a:fillRect/>
          </a:stretch>
        </p:blipFill>
        <p:spPr>
          <a:xfrm>
            <a:off x="7040880" y="2857500"/>
            <a:ext cx="219456" cy="219456"/>
          </a:xfrm>
          <a:prstGeom prst="rect">
            <a:avLst/>
          </a:prstGeom>
        </p:spPr>
      </p:pic>
      <p:sp>
        <p:nvSpPr>
          <p:cNvPr id="42" name="Text 31"/>
          <p:cNvSpPr txBox="1"/>
          <p:nvPr/>
        </p:nvSpPr>
        <p:spPr>
          <a:xfrm>
            <a:off x="7479792" y="27111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Utilizzo attivo</a:t>
            </a:r>
            <a:endParaRPr lang="en-US" sz="1300" dirty="0"/>
          </a:p>
        </p:txBody>
      </p:sp>
      <p:sp>
        <p:nvSpPr>
          <p:cNvPr id="43" name="Text 32"/>
          <p:cNvSpPr txBox="1"/>
          <p:nvPr/>
        </p:nvSpPr>
        <p:spPr>
          <a:xfrm>
            <a:off x="6931152" y="3296412"/>
            <a:ext cx="1591056" cy="544068"/>
          </a:xfrm>
          <a:prstGeom prst="rect">
            <a:avLst/>
          </a:prstGeom>
          <a:noFill/>
          <a:ln/>
        </p:spPr>
        <p:txBody>
          <a:bodyPr wrap="square" lIns="0" tIns="0" rIns="0" bIns="0" rtlCol="0" anchor="t"/>
          <a:lstStyle/>
          <a:p>
            <a:pPr indent="0" marL="0">
              <a:buNone/>
            </a:pPr>
            <a:r>
              <a:rPr lang="en-US" sz="1100" dirty="0">
                <a:solidFill>
                  <a:schemeClr val="tx2"/>
                </a:solidFill>
              </a:rPr>
              <a:t>Costruire il risultato, non solo riceverlo</a:t>
            </a:r>
            <a:endParaRPr lang="en-US" sz="1100" dirty="0"/>
          </a:p>
        </p:txBody>
      </p:sp>
      <p:sp>
        <p:nvSpPr>
          <p:cNvPr id="44" name="messaggio"/>
          <p:cNvSpPr/>
          <p:nvPr/>
        </p:nvSpPr>
        <p:spPr>
          <a:xfrm>
            <a:off x="457200" y="4069080"/>
            <a:ext cx="8229600" cy="457200"/>
          </a:xfrm>
          <a:prstGeom prst="roundRect">
            <a:avLst>
              <a:gd name="adj" fmla="val 16000"/>
            </a:avLst>
          </a:prstGeom>
          <a:solidFill>
            <a:schemeClr val="tx1"/>
          </a:solidFill>
          <a:ln/>
        </p:spPr>
      </p:sp>
      <p:sp>
        <p:nvSpPr>
          <p:cNvPr id="45" name="Text 34"/>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dirty="0">
                <a:solidFill>
                  <a:schemeClr val="bg1"/>
                </a:solidFill>
              </a:rPr>
              <a:t>Contesto e competenza di dominio contano prima e dopo la richiesta: con l'AI la competenza vale di più.</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Obiettivi chiari e comprensione del problema</a:t>
            </a:r>
            <a:endParaRPr lang="en-US" sz="2600" dirty="0"/>
          </a:p>
        </p:txBody>
      </p:sp>
      <p:sp>
        <p:nvSpPr>
          <p:cNvPr id="4" name="scheda Obiettivo vago"/>
          <p:cNvSpPr/>
          <p:nvPr/>
        </p:nvSpPr>
        <p:spPr>
          <a:xfrm>
            <a:off x="457200" y="1097280"/>
            <a:ext cx="3977640" cy="2286000"/>
          </a:xfrm>
          <a:prstGeom prst="roundRect">
            <a:avLst>
              <a:gd name="adj" fmla="val 3200"/>
            </a:avLst>
          </a:prstGeom>
          <a:solidFill>
            <a:schemeClr val="bg2"/>
          </a:solidFill>
          <a:ln/>
        </p:spPr>
      </p:sp>
      <p:sp>
        <p:nvSpPr>
          <p:cNvPr id="5" name="cerchio FiCloud"/>
          <p:cNvSpPr/>
          <p:nvPr/>
        </p:nvSpPr>
        <p:spPr>
          <a:xfrm>
            <a:off x="640080" y="1280160"/>
            <a:ext cx="457200" cy="457200"/>
          </a:xfrm>
          <a:prstGeom prst="ellipse">
            <a:avLst/>
          </a:prstGeom>
          <a:solidFill>
            <a:schemeClr val="accent1"/>
          </a:solidFill>
          <a:ln/>
        </p:spPr>
      </p:sp>
      <p:pic>
        <p:nvPicPr>
          <p:cNvPr id="6" name="Image 0" descr="FiCloud">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Obiettivo vago</a:t>
            </a:r>
            <a:endParaRPr lang="en-US" sz="15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indent="0" marL="0">
              <a:spcAft>
                <a:spcPts val="800"/>
              </a:spcAft>
              <a:buNone/>
            </a:pPr>
            <a:r>
              <a:rPr lang="en-US" sz="1300" b="1" i="1" dirty="0">
                <a:solidFill>
                  <a:schemeClr val="tx1"/>
                </a:solidFill>
              </a:rPr>
              <a:t>"Scrivimi qualcosa sul nuovo servizio."</a:t>
            </a:r>
            <a:endParaRPr lang="en-US" sz="1300" dirty="0"/>
          </a:p>
          <a:p>
            <a:pPr indent="0" marL="0">
              <a:buNone/>
            </a:pPr>
            <a:r>
              <a:rPr lang="en-US" sz="1300" dirty="0">
                <a:solidFill>
                  <a:schemeClr val="tx2"/>
                </a:solidFill>
              </a:rPr>
              <a:t>Risultato generico, nessun criterio per valutarlo.</a:t>
            </a:r>
            <a:endParaRPr lang="en-US" sz="1300" dirty="0"/>
          </a:p>
        </p:txBody>
      </p:sp>
      <p:sp>
        <p:nvSpPr>
          <p:cNvPr id="9" name="scheda Obiettivo chiaro"/>
          <p:cNvSpPr/>
          <p:nvPr/>
        </p:nvSpPr>
        <p:spPr>
          <a:xfrm>
            <a:off x="4709160" y="1097280"/>
            <a:ext cx="3977640" cy="2286000"/>
          </a:xfrm>
          <a:prstGeom prst="roundRect">
            <a:avLst>
              <a:gd name="adj" fmla="val 3200"/>
            </a:avLst>
          </a:prstGeom>
          <a:solidFill>
            <a:schemeClr val="accent6"/>
          </a:solidFill>
          <a:ln/>
        </p:spPr>
      </p:sp>
      <p:sp>
        <p:nvSpPr>
          <p:cNvPr id="10" name="cerchio FiTarget"/>
          <p:cNvSpPr/>
          <p:nvPr/>
        </p:nvSpPr>
        <p:spPr>
          <a:xfrm>
            <a:off x="4892040" y="1280160"/>
            <a:ext cx="457200" cy="457200"/>
          </a:xfrm>
          <a:prstGeom prst="ellipse">
            <a:avLst/>
          </a:prstGeom>
          <a:solidFill>
            <a:schemeClr val="accent1"/>
          </a:solidFill>
          <a:ln/>
        </p:spPr>
      </p:sp>
      <p:pic>
        <p:nvPicPr>
          <p:cNvPr id="11" name="Image 1" descr="FiTarget">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Obiettivo chiaro</a:t>
            </a:r>
            <a:endParaRPr lang="en-US" sz="15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indent="0" marL="0">
              <a:spcAft>
                <a:spcPts val="800"/>
              </a:spcAft>
              <a:buNone/>
            </a:pPr>
            <a:r>
              <a:rPr lang="en-US" sz="1300" b="1" i="1" dirty="0">
                <a:solidFill>
                  <a:schemeClr val="tx1"/>
                </a:solidFill>
              </a:rPr>
              <a:t>I clienti attuali devono capire che cosa cambia per loro e iscriversi alla presentazione.</a:t>
            </a:r>
            <a:endParaRPr lang="en-US" sz="1300" dirty="0"/>
          </a:p>
          <a:p>
            <a:pPr indent="0" marL="0">
              <a:buNone/>
            </a:pPr>
            <a:r>
              <a:rPr lang="en-US" sz="1300" dirty="0">
                <a:solidFill>
                  <a:schemeClr val="tx2"/>
                </a:solidFill>
              </a:rPr>
              <a:t>Richiesta e valutazione diventano più facili.</a:t>
            </a:r>
            <a:endParaRPr lang="en-US" sz="1300" dirty="0"/>
          </a:p>
        </p:txBody>
      </p:sp>
      <p:sp>
        <p:nvSpPr>
          <p:cNvPr id="14" name="messaggio"/>
          <p:cNvSpPr/>
          <p:nvPr/>
        </p:nvSpPr>
        <p:spPr>
          <a:xfrm>
            <a:off x="457200" y="3611880"/>
            <a:ext cx="8229600" cy="685800"/>
          </a:xfrm>
          <a:prstGeom prst="roundRect">
            <a:avLst>
              <a:gd name="adj" fmla="val 10667"/>
            </a:avLst>
          </a:prstGeom>
          <a:solidFill>
            <a:schemeClr val="tx1"/>
          </a:solidFill>
          <a:ln/>
        </p:spPr>
      </p:sp>
      <p:sp>
        <p:nvSpPr>
          <p:cNvPr id="15" name="Text 10"/>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400" dirty="0">
                <a:solidFill>
                  <a:schemeClr val="bg1"/>
                </a:solidFill>
              </a:rPr>
              <a:t>Prima di chiedere: che cosa voglio ottenere? Se non è ancora chiaro, il dialogo aiuta a scoprirlo.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interpretazione e feedback</a:t>
            </a:r>
            <a:endParaRPr lang="en-US" sz="2600" dirty="0"/>
          </a:p>
        </p:txBody>
      </p:sp>
      <p:sp>
        <p:nvSpPr>
          <p:cNvPr id="4" name="scheda Domande pertinenti"/>
          <p:cNvSpPr/>
          <p:nvPr/>
        </p:nvSpPr>
        <p:spPr>
          <a:xfrm>
            <a:off x="457200" y="1097280"/>
            <a:ext cx="2615184" cy="2880360"/>
          </a:xfrm>
          <a:prstGeom prst="roundRect">
            <a:avLst>
              <a:gd name="adj" fmla="val 2797"/>
            </a:avLst>
          </a:prstGeom>
          <a:solidFill>
            <a:schemeClr val="bg2"/>
          </a:solidFill>
          <a:ln/>
        </p:spPr>
      </p:sp>
      <p:sp>
        <p:nvSpPr>
          <p:cNvPr id="5" name="cerchio FiHelpCircle"/>
          <p:cNvSpPr/>
          <p:nvPr/>
        </p:nvSpPr>
        <p:spPr>
          <a:xfrm>
            <a:off x="640080" y="1280160"/>
            <a:ext cx="457200" cy="457200"/>
          </a:xfrm>
          <a:prstGeom prst="ellipse">
            <a:avLst/>
          </a:prstGeom>
          <a:solidFill>
            <a:schemeClr val="accent1"/>
          </a:solidFill>
          <a:ln/>
        </p:spPr>
      </p:sp>
      <p:pic>
        <p:nvPicPr>
          <p:cNvPr id="6" name="Image 0" descr="FiHelpCircl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Domande pertinenti</a:t>
            </a:r>
            <a:endParaRPr lang="en-US" sz="1500" dirty="0"/>
          </a:p>
        </p:txBody>
      </p:sp>
      <p:sp>
        <p:nvSpPr>
          <p:cNvPr id="8" name="Text 4"/>
          <p:cNvSpPr txBox="1"/>
          <p:nvPr/>
        </p:nvSpPr>
        <p:spPr>
          <a:xfrm>
            <a:off x="640080" y="2231136"/>
            <a:ext cx="2249424" cy="16367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"Su che cosa si basa questa conclusione?"</a:t>
            </a:r>
            <a:endParaRPr lang="en-US" sz="1200" dirty="0"/>
          </a:p>
          <a:p>
            <a:pPr marL="177800" indent="-177800">
              <a:spcAft>
                <a:spcPts val="500"/>
              </a:spcAft>
              <a:buSzPct val="100000"/>
              <a:buChar char="•"/>
            </a:pPr>
            <a:r>
              <a:rPr lang="en-US" sz="1200" dirty="0">
                <a:solidFill>
                  <a:schemeClr val="tx2"/>
                </a:solidFill>
              </a:rPr>
              <a:t>"Quali casi non rientrano?"</a:t>
            </a:r>
            <a:endParaRPr lang="en-US" sz="1200" dirty="0"/>
          </a:p>
          <a:p>
            <a:pPr marL="177800" indent="-177800">
              <a:spcAft>
                <a:spcPts val="500"/>
              </a:spcAft>
              <a:buSzPct val="100000"/>
              <a:buChar char="•"/>
            </a:pPr>
            <a:r>
              <a:rPr lang="en-US" sz="1200" dirty="0">
                <a:solidFill>
                  <a:schemeClr val="tx2"/>
                </a:solidFill>
              </a:rPr>
              <a:t>"Che cosa cambierebbe se...?"</a:t>
            </a:r>
            <a:endParaRPr lang="en-US" sz="1200" dirty="0"/>
          </a:p>
        </p:txBody>
      </p:sp>
      <p:sp>
        <p:nvSpPr>
          <p:cNvPr id="9" name="scheda Interpretare i risultati"/>
          <p:cNvSpPr/>
          <p:nvPr/>
        </p:nvSpPr>
        <p:spPr>
          <a:xfrm>
            <a:off x="3264408" y="1097280"/>
            <a:ext cx="2615184" cy="2880360"/>
          </a:xfrm>
          <a:prstGeom prst="roundRect">
            <a:avLst>
              <a:gd name="adj" fmla="val 2797"/>
            </a:avLst>
          </a:prstGeom>
          <a:solidFill>
            <a:schemeClr val="bg2"/>
          </a:solidFill>
          <a:ln/>
        </p:spPr>
      </p:sp>
      <p:sp>
        <p:nvSpPr>
          <p:cNvPr id="10" name="cerchio FiEye"/>
          <p:cNvSpPr/>
          <p:nvPr/>
        </p:nvSpPr>
        <p:spPr>
          <a:xfrm>
            <a:off x="3447288" y="1280160"/>
            <a:ext cx="457200" cy="457200"/>
          </a:xfrm>
          <a:prstGeom prst="ellipse">
            <a:avLst/>
          </a:prstGeom>
          <a:solidFill>
            <a:schemeClr val="accent1"/>
          </a:solidFill>
          <a:ln/>
        </p:spPr>
      </p:sp>
      <p:pic>
        <p:nvPicPr>
          <p:cNvPr id="11" name="Image 1" descr="FiEye">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Interpretare i risultati</a:t>
            </a:r>
            <a:endParaRPr lang="en-US" sz="1500" dirty="0"/>
          </a:p>
        </p:txBody>
      </p:sp>
      <p:sp>
        <p:nvSpPr>
          <p:cNvPr id="13" name="Text 8"/>
          <p:cNvSpPr txBox="1"/>
          <p:nvPr/>
        </p:nvSpPr>
        <p:spPr>
          <a:xfrm>
            <a:off x="3447288" y="2231136"/>
            <a:ext cx="2249424" cy="16367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Solido o incerto?</a:t>
            </a:r>
            <a:endParaRPr lang="en-US" sz="1200" dirty="0"/>
          </a:p>
          <a:p>
            <a:pPr marL="177800" indent="-177800">
              <a:spcAft>
                <a:spcPts val="500"/>
              </a:spcAft>
              <a:buSzPct val="100000"/>
              <a:buChar char="•"/>
            </a:pPr>
            <a:r>
              <a:rPr lang="en-US" sz="1200" dirty="0">
                <a:solidFill>
                  <a:schemeClr val="tx2"/>
                </a:solidFill>
              </a:rPr>
              <a:t>Generico o specifico?</a:t>
            </a:r>
            <a:endParaRPr lang="en-US" sz="1200" dirty="0"/>
          </a:p>
          <a:p>
            <a:pPr marL="177800" indent="-177800">
              <a:spcAft>
                <a:spcPts val="500"/>
              </a:spcAft>
              <a:buSzPct val="100000"/>
              <a:buChar char="•"/>
            </a:pPr>
            <a:r>
              <a:rPr lang="en-US" sz="1200" dirty="0">
                <a:solidFill>
                  <a:schemeClr val="tx2"/>
                </a:solidFill>
              </a:rPr>
              <a:t>Quali assunzioni implicite?</a:t>
            </a:r>
            <a:endParaRPr lang="en-US" sz="1200" dirty="0"/>
          </a:p>
        </p:txBody>
      </p:sp>
      <p:sp>
        <p:nvSpPr>
          <p:cNvPr id="14" name="scheda Feedback preciso"/>
          <p:cNvSpPr/>
          <p:nvPr/>
        </p:nvSpPr>
        <p:spPr>
          <a:xfrm>
            <a:off x="6071616" y="1097280"/>
            <a:ext cx="2615184" cy="2880360"/>
          </a:xfrm>
          <a:prstGeom prst="roundRect">
            <a:avLst>
              <a:gd name="adj" fmla="val 2797"/>
            </a:avLst>
          </a:prstGeom>
          <a:solidFill>
            <a:schemeClr val="accent6"/>
          </a:solidFill>
          <a:ln/>
        </p:spPr>
      </p:sp>
      <p:sp>
        <p:nvSpPr>
          <p:cNvPr id="15" name="cerchio FiEdit"/>
          <p:cNvSpPr/>
          <p:nvPr/>
        </p:nvSpPr>
        <p:spPr>
          <a:xfrm>
            <a:off x="6254496" y="1280160"/>
            <a:ext cx="457200" cy="457200"/>
          </a:xfrm>
          <a:prstGeom prst="ellipse">
            <a:avLst/>
          </a:prstGeom>
          <a:solidFill>
            <a:schemeClr val="accent1"/>
          </a:solidFill>
          <a:ln/>
        </p:spPr>
      </p:sp>
      <p:pic>
        <p:nvPicPr>
          <p:cNvPr id="16" name="Image 2" descr="FiEdit">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indent="0" marL="0">
              <a:buNone/>
            </a:pPr>
            <a:r>
              <a:rPr lang="en-US" sz="1500" b="1" dirty="0">
                <a:solidFill>
                  <a:schemeClr val="tx1"/>
                </a:solidFill>
              </a:rPr>
              <a:t>Feedback preciso</a:t>
            </a:r>
            <a:endParaRPr lang="en-US" sz="1500" dirty="0"/>
          </a:p>
        </p:txBody>
      </p:sp>
      <p:sp>
        <p:nvSpPr>
          <p:cNvPr id="18" name="Text 12"/>
          <p:cNvSpPr txBox="1"/>
          <p:nvPr/>
        </p:nvSpPr>
        <p:spPr>
          <a:xfrm>
            <a:off x="6254496" y="2231136"/>
            <a:ext cx="2249424" cy="16367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Generico: "non va, rifallo"</a:t>
            </a:r>
            <a:endParaRPr lang="en-US" sz="1200" dirty="0"/>
          </a:p>
          <a:p>
            <a:pPr marL="177800" indent="-177800">
              <a:spcAft>
                <a:spcPts val="500"/>
              </a:spcAft>
              <a:buSzPct val="100000"/>
              <a:buChar char="•"/>
            </a:pPr>
            <a:r>
              <a:rPr lang="en-US" sz="1200" dirty="0">
                <a:solidFill>
                  <a:schemeClr val="tx2"/>
                </a:solidFill>
              </a:rPr>
              <a:t>Preciso: "il secondo paragrafo è troppo tecnico, manca la scadenza"</a:t>
            </a:r>
            <a:endParaRPr lang="en-US" sz="1200" dirty="0"/>
          </a:p>
          <a:p>
            <a:pPr marL="177800" indent="-177800">
              <a:spcAft>
                <a:spcPts val="500"/>
              </a:spcAft>
              <a:buSzPct val="100000"/>
              <a:buChar char="•"/>
            </a:pPr>
            <a:r>
              <a:rPr lang="en-US" sz="1200" dirty="0">
                <a:solidFill>
                  <a:schemeClr val="tx2"/>
                </a:solidFill>
              </a:rPr>
              <a:t>Effetto: una correzione mirata</a:t>
            </a:r>
            <a:endParaRPr lang="en-US" sz="1200" dirty="0"/>
          </a:p>
        </p:txBody>
      </p:sp>
      <p:sp>
        <p:nvSpPr>
          <p:cNvPr id="19" name="messaggio"/>
          <p:cNvSpPr/>
          <p:nvPr/>
        </p:nvSpPr>
        <p:spPr>
          <a:xfrm>
            <a:off x="457200" y="4114800"/>
            <a:ext cx="8229600" cy="411480"/>
          </a:xfrm>
          <a:prstGeom prst="roundRect">
            <a:avLst>
              <a:gd name="adj" fmla="val 17778"/>
            </a:avLst>
          </a:prstGeom>
          <a:solidFill>
            <a:schemeClr val="tx1"/>
          </a:solidFill>
          <a:ln/>
        </p:spPr>
      </p:sp>
      <p:sp>
        <p:nvSpPr>
          <p:cNvPr id="20" name="Text 14"/>
          <p:cNvSpPr txBox="1"/>
          <p:nvPr/>
        </p:nvSpPr>
        <p:spPr>
          <a:xfrm>
            <a:off x="640080" y="4114800"/>
            <a:ext cx="7863840" cy="411480"/>
          </a:xfrm>
          <a:prstGeom prst="rect">
            <a:avLst/>
          </a:prstGeom>
          <a:noFill/>
          <a:ln/>
        </p:spPr>
        <p:txBody>
          <a:bodyPr wrap="square" lIns="0" tIns="0" rIns="0" bIns="0" rtlCol="0" anchor="ctr"/>
          <a:lstStyle/>
          <a:p>
            <a:pPr indent="0" marL="0">
              <a:buNone/>
            </a:pPr>
            <a:r>
              <a:rPr lang="en-US" sz="1300" dirty="0">
                <a:solidFill>
                  <a:schemeClr val="bg1"/>
                </a:solidFill>
              </a:rPr>
              <a:t>Il feedback preciso è una competenza pratica: la leva più rapida per migliorare una risposta.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Utilizzo passivo e utilizzo attivo</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200400"/>
                <a:gridCol w="3200400"/>
              </a:tblGrid>
              <a:tr h="438912">
                <a:tc>
                  <a:txBody>
                    <a:bodyPr/>
                    <a:lstStyle/>
                    <a:p>
                      <a:pPr indent="0" marL="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bg1"/>
                          </a:solidFill>
                        </a:rPr>
                        <a:t>Utilizzo passivo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Utilizzo attivo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38912">
                <a:tc>
                  <a:txBody>
                    <a:bodyPr/>
                    <a:lstStyle/>
                    <a:p>
                      <a:pPr indent="0" marL="0">
                        <a:buNone/>
                      </a:pPr>
                      <a:r>
                        <a:rPr lang="en-US" sz="1300" b="1" dirty="0">
                          <a:solidFill>
                            <a:schemeClr val="tx1"/>
                          </a:solidFill>
                        </a:rPr>
                        <a:t>Obiettivi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Impliciti o vaghi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Chiari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Contesto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 fornito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Fornito e precisato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Dialogo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Una richiesta, una risposta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Scambi, domande, correzioni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Atteggiamento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Accetta il risultato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Confronta, integra, verifica dove serve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Risultato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Spesso generico, errori più difficili da notare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Più pertinente e controllato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38912">
                <a:tc>
                  <a:txBody>
                    <a:bodyPr/>
                    <a:lstStyle/>
                    <a:p>
                      <a:pPr indent="0" marL="0">
                        <a:buNone/>
                      </a:pPr>
                      <a:r>
                        <a:rPr lang="en-US" sz="1300" b="1" dirty="0">
                          <a:solidFill>
                            <a:schemeClr val="tx1"/>
                          </a:solidFill>
                        </a:rPr>
                        <a:t>Competenze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Esercitate poco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Esercitate e sviluppate nel dialogo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Text 1"/>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300" i="1" dirty="0">
                <a:solidFill>
                  <a:schemeClr val="tx1"/>
                </a:solidFill>
              </a:rPr>
              <a:t>Un utilizzo attivo favorisce qualità, apprendimento e controllo.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5.7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e rischi della relazione conversazionale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Conoscere le dinamiche della conversazione permette di sviluppare una fiducia calibrata e di usare l'AI con consapevolezza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Antropomorfizzazione</a:t>
            </a:r>
            <a:endParaRPr lang="en-US" sz="2600" dirty="0"/>
          </a:p>
        </p:txBody>
      </p:sp>
      <p:sp>
        <p:nvSpPr>
          <p:cNvPr id="4" name="Text 1"/>
          <p:cNvSpPr txBox="1"/>
          <p:nvPr/>
        </p:nvSpPr>
        <p:spPr>
          <a:xfrm>
            <a:off x="1097280" y="1024128"/>
            <a:ext cx="3840480" cy="274320"/>
          </a:xfrm>
          <a:prstGeom prst="rect">
            <a:avLst/>
          </a:prstGeom>
          <a:noFill/>
          <a:ln/>
        </p:spPr>
        <p:txBody>
          <a:bodyPr wrap="square" lIns="0" tIns="0" rIns="0" bIns="0" rtlCol="0" anchor="t"/>
          <a:lstStyle/>
          <a:p>
            <a:pPr indent="0" marL="0">
              <a:buNone/>
            </a:pPr>
            <a:r>
              <a:rPr lang="en-US" sz="1200" b="1" dirty="0">
                <a:solidFill>
                  <a:schemeClr val="accent2"/>
                </a:solidFill>
              </a:rPr>
              <a:t>Che cosa percepiamo</a:t>
            </a:r>
            <a:endParaRPr lang="en-US" sz="1200" dirty="0"/>
          </a:p>
        </p:txBody>
      </p:sp>
      <p:sp>
        <p:nvSpPr>
          <p:cNvPr id="5" name="Text 2"/>
          <p:cNvSpPr txBox="1"/>
          <p:nvPr/>
        </p:nvSpPr>
        <p:spPr>
          <a:xfrm>
            <a:off x="4800600" y="1024128"/>
            <a:ext cx="3749040" cy="274320"/>
          </a:xfrm>
          <a:prstGeom prst="rect">
            <a:avLst/>
          </a:prstGeom>
          <a:noFill/>
          <a:ln/>
        </p:spPr>
        <p:txBody>
          <a:bodyPr wrap="square" lIns="0" tIns="0" rIns="0" bIns="0" rtlCol="0" anchor="t"/>
          <a:lstStyle/>
          <a:p>
            <a:pPr indent="0" marL="0">
              <a:buNone/>
            </a:pPr>
            <a:r>
              <a:rPr lang="en-US" sz="1200" b="1" dirty="0">
                <a:solidFill>
                  <a:schemeClr val="accent2"/>
                </a:solidFill>
              </a:rPr>
              <a:t>Come leggerlo</a:t>
            </a:r>
            <a:endParaRPr lang="en-US" sz="1200" dirty="0"/>
          </a:p>
        </p:txBody>
      </p:sp>
      <p:sp>
        <p:nvSpPr>
          <p:cNvPr id="6" name="Comprensione"/>
          <p:cNvSpPr/>
          <p:nvPr/>
        </p:nvSpPr>
        <p:spPr>
          <a:xfrm>
            <a:off x="457200" y="1344168"/>
            <a:ext cx="8229600" cy="685800"/>
          </a:xfrm>
          <a:prstGeom prst="roundRect">
            <a:avLst>
              <a:gd name="adj" fmla="val 10667"/>
            </a:avLst>
          </a:prstGeom>
          <a:solidFill>
            <a:schemeClr val="bg2"/>
          </a:solidFill>
          <a:ln/>
        </p:spPr>
      </p:sp>
      <p:sp>
        <p:nvSpPr>
          <p:cNvPr id="7" name="cerchio FiCheckCircle"/>
          <p:cNvSpPr/>
          <p:nvPr/>
        </p:nvSpPr>
        <p:spPr>
          <a:xfrm>
            <a:off x="566928" y="1463040"/>
            <a:ext cx="438912" cy="438912"/>
          </a:xfrm>
          <a:prstGeom prst="ellipse">
            <a:avLst/>
          </a:prstGeom>
          <a:solidFill>
            <a:schemeClr val="accent1"/>
          </a:solidFill>
          <a:ln/>
        </p:spPr>
      </p:sp>
      <p:pic>
        <p:nvPicPr>
          <p:cNvPr id="8" name="Image 0" descr="FiCheckCircle">    </p:cNvPr>
          <p:cNvPicPr>
            <a:picLocks noChangeAspect="1"/>
          </p:cNvPicPr>
          <p:nvPr/>
        </p:nvPicPr>
        <p:blipFill>
          <a:blip r:embed="rId1"/>
          <a:stretch>
            <a:fillRect/>
          </a:stretch>
        </p:blipFill>
        <p:spPr>
          <a:xfrm>
            <a:off x="676656" y="1572768"/>
            <a:ext cx="219456" cy="219456"/>
          </a:xfrm>
          <a:prstGeom prst="rect">
            <a:avLst/>
          </a:prstGeom>
        </p:spPr>
      </p:pic>
      <p:sp>
        <p:nvSpPr>
          <p:cNvPr id="9" name="Text 5"/>
          <p:cNvSpPr txBox="1"/>
          <p:nvPr/>
        </p:nvSpPr>
        <p:spPr>
          <a:xfrm>
            <a:off x="1097280" y="1344168"/>
            <a:ext cx="1417320" cy="685800"/>
          </a:xfrm>
          <a:prstGeom prst="rect">
            <a:avLst/>
          </a:prstGeom>
          <a:noFill/>
          <a:ln/>
        </p:spPr>
        <p:txBody>
          <a:bodyPr wrap="square" lIns="0" tIns="0" rIns="0" bIns="0" rtlCol="0" anchor="ctr"/>
          <a:lstStyle/>
          <a:p>
            <a:pPr indent="0" marL="0">
              <a:buNone/>
            </a:pPr>
            <a:r>
              <a:rPr lang="en-US" sz="1300" b="1" dirty="0">
                <a:solidFill>
                  <a:schemeClr val="tx1"/>
                </a:solidFill>
              </a:rPr>
              <a:t>Comprensione</a:t>
            </a:r>
            <a:endParaRPr lang="en-US" sz="1300" dirty="0"/>
          </a:p>
        </p:txBody>
      </p:sp>
      <p:sp>
        <p:nvSpPr>
          <p:cNvPr id="10" name="Text 6"/>
          <p:cNvSpPr txBox="1"/>
          <p:nvPr/>
        </p:nvSpPr>
        <p:spPr>
          <a:xfrm>
            <a:off x="2514600" y="1344168"/>
            <a:ext cx="2194560" cy="685800"/>
          </a:xfrm>
          <a:prstGeom prst="rect">
            <a:avLst/>
          </a:prstGeom>
          <a:noFill/>
          <a:ln/>
        </p:spPr>
        <p:txBody>
          <a:bodyPr wrap="square" lIns="0" tIns="0" rIns="0" bIns="0" rtlCol="0" anchor="ctr"/>
          <a:lstStyle/>
          <a:p>
            <a:pPr indent="0" marL="0">
              <a:buNone/>
            </a:pPr>
            <a:r>
              <a:rPr lang="en-US" sz="1200" i="1" dirty="0">
                <a:solidFill>
                  <a:schemeClr val="tx1"/>
                </a:solidFill>
              </a:rPr>
              <a:t>Ha capito davvero la mia situazione?</a:t>
            </a:r>
            <a:endParaRPr lang="en-US" sz="1200" dirty="0"/>
          </a:p>
        </p:txBody>
      </p:sp>
      <p:sp>
        <p:nvSpPr>
          <p:cNvPr id="11" name="Text 7"/>
          <p:cNvSpPr txBox="1"/>
          <p:nvPr/>
        </p:nvSpPr>
        <p:spPr>
          <a:xfrm>
            <a:off x="4800600" y="1344168"/>
            <a:ext cx="3794760" cy="685800"/>
          </a:xfrm>
          <a:prstGeom prst="rect">
            <a:avLst/>
          </a:prstGeom>
          <a:noFill/>
          <a:ln/>
        </p:spPr>
        <p:txBody>
          <a:bodyPr wrap="square" lIns="0" tIns="0" rIns="0" bIns="0" rtlCol="0" anchor="ctr"/>
          <a:lstStyle/>
          <a:p>
            <a:pPr indent="0" marL="0">
              <a:buNone/>
            </a:pPr>
            <a:r>
              <a:rPr lang="en-US" sz="1100" dirty="0">
                <a:solidFill>
                  <a:schemeClr val="tx2"/>
                </a:solidFill>
              </a:rPr>
              <a:t>Elabora il contesto, spesso molto bene; conosce solo ciò che ha a disposizione</a:t>
            </a:r>
            <a:endParaRPr lang="en-US" sz="1100" dirty="0"/>
          </a:p>
        </p:txBody>
      </p:sp>
      <p:sp>
        <p:nvSpPr>
          <p:cNvPr id="12" name="Empatia"/>
          <p:cNvSpPr/>
          <p:nvPr/>
        </p:nvSpPr>
        <p:spPr>
          <a:xfrm>
            <a:off x="457200" y="2121408"/>
            <a:ext cx="8229600" cy="685800"/>
          </a:xfrm>
          <a:prstGeom prst="roundRect">
            <a:avLst>
              <a:gd name="adj" fmla="val 10667"/>
            </a:avLst>
          </a:prstGeom>
          <a:solidFill>
            <a:schemeClr val="bg1"/>
          </a:solidFill>
          <a:ln/>
        </p:spPr>
      </p:sp>
      <p:sp>
        <p:nvSpPr>
          <p:cNvPr id="13" name="cerchio FiHeart"/>
          <p:cNvSpPr/>
          <p:nvPr/>
        </p:nvSpPr>
        <p:spPr>
          <a:xfrm>
            <a:off x="566928" y="2240280"/>
            <a:ext cx="438912" cy="438912"/>
          </a:xfrm>
          <a:prstGeom prst="ellipse">
            <a:avLst/>
          </a:prstGeom>
          <a:solidFill>
            <a:schemeClr val="accent1"/>
          </a:solidFill>
          <a:ln/>
        </p:spPr>
      </p:sp>
      <p:pic>
        <p:nvPicPr>
          <p:cNvPr id="14" name="Image 1" descr="FiHeart">    </p:cNvPr>
          <p:cNvPicPr>
            <a:picLocks noChangeAspect="1"/>
          </p:cNvPicPr>
          <p:nvPr/>
        </p:nvPicPr>
        <p:blipFill>
          <a:blip r:embed="rId2"/>
          <a:stretch>
            <a:fillRect/>
          </a:stretch>
        </p:blipFill>
        <p:spPr>
          <a:xfrm>
            <a:off x="676656" y="2350008"/>
            <a:ext cx="219456" cy="219456"/>
          </a:xfrm>
          <a:prstGeom prst="rect">
            <a:avLst/>
          </a:prstGeom>
        </p:spPr>
      </p:pic>
      <p:sp>
        <p:nvSpPr>
          <p:cNvPr id="15" name="Text 10"/>
          <p:cNvSpPr txBox="1"/>
          <p:nvPr/>
        </p:nvSpPr>
        <p:spPr>
          <a:xfrm>
            <a:off x="1097280" y="2121408"/>
            <a:ext cx="1417320" cy="685800"/>
          </a:xfrm>
          <a:prstGeom prst="rect">
            <a:avLst/>
          </a:prstGeom>
          <a:noFill/>
          <a:ln/>
        </p:spPr>
        <p:txBody>
          <a:bodyPr wrap="square" lIns="0" tIns="0" rIns="0" bIns="0" rtlCol="0" anchor="ctr"/>
          <a:lstStyle/>
          <a:p>
            <a:pPr indent="0" marL="0">
              <a:buNone/>
            </a:pPr>
            <a:r>
              <a:rPr lang="en-US" sz="1300" b="1" dirty="0">
                <a:solidFill>
                  <a:schemeClr val="tx1"/>
                </a:solidFill>
              </a:rPr>
              <a:t>Empatia</a:t>
            </a:r>
            <a:endParaRPr lang="en-US" sz="1300" dirty="0"/>
          </a:p>
        </p:txBody>
      </p:sp>
      <p:sp>
        <p:nvSpPr>
          <p:cNvPr id="16" name="Text 11"/>
          <p:cNvSpPr txBox="1"/>
          <p:nvPr/>
        </p:nvSpPr>
        <p:spPr>
          <a:xfrm>
            <a:off x="2514600" y="2121408"/>
            <a:ext cx="2194560" cy="685800"/>
          </a:xfrm>
          <a:prstGeom prst="rect">
            <a:avLst/>
          </a:prstGeom>
          <a:noFill/>
          <a:ln/>
        </p:spPr>
        <p:txBody>
          <a:bodyPr wrap="square" lIns="0" tIns="0" rIns="0" bIns="0" rtlCol="0" anchor="ctr"/>
          <a:lstStyle/>
          <a:p>
            <a:pPr indent="0" marL="0">
              <a:buNone/>
            </a:pPr>
            <a:r>
              <a:rPr lang="en-US" sz="1200" i="1" dirty="0">
                <a:solidFill>
                  <a:schemeClr val="tx1"/>
                </a:solidFill>
              </a:rPr>
              <a:t>Partecipa ai miei stati d'animo?</a:t>
            </a:r>
            <a:endParaRPr lang="en-US" sz="1200" dirty="0"/>
          </a:p>
        </p:txBody>
      </p:sp>
      <p:sp>
        <p:nvSpPr>
          <p:cNvPr id="17" name="Text 12"/>
          <p:cNvSpPr txBox="1"/>
          <p:nvPr/>
        </p:nvSpPr>
        <p:spPr>
          <a:xfrm>
            <a:off x="4800600" y="2121408"/>
            <a:ext cx="3794760" cy="685800"/>
          </a:xfrm>
          <a:prstGeom prst="rect">
            <a:avLst/>
          </a:prstGeom>
          <a:noFill/>
          <a:ln/>
        </p:spPr>
        <p:txBody>
          <a:bodyPr wrap="square" lIns="0" tIns="0" rIns="0" bIns="0" rtlCol="0" anchor="ctr"/>
          <a:lstStyle/>
          <a:p>
            <a:pPr indent="0" marL="0">
              <a:buNone/>
            </a:pPr>
            <a:r>
              <a:rPr lang="en-US" sz="1100" dirty="0">
                <a:solidFill>
                  <a:schemeClr val="tx2"/>
                </a:solidFill>
              </a:rPr>
              <a:t>Risponde in modo adatto al tono: comportamento linguistico, non legame personale</a:t>
            </a:r>
            <a:endParaRPr lang="en-US" sz="1100" dirty="0"/>
          </a:p>
        </p:txBody>
      </p:sp>
      <p:sp>
        <p:nvSpPr>
          <p:cNvPr id="18" name="Intenzionalità"/>
          <p:cNvSpPr/>
          <p:nvPr/>
        </p:nvSpPr>
        <p:spPr>
          <a:xfrm>
            <a:off x="457200" y="2898648"/>
            <a:ext cx="8229600" cy="685800"/>
          </a:xfrm>
          <a:prstGeom prst="roundRect">
            <a:avLst>
              <a:gd name="adj" fmla="val 10667"/>
            </a:avLst>
          </a:prstGeom>
          <a:solidFill>
            <a:schemeClr val="bg2"/>
          </a:solidFill>
          <a:ln/>
        </p:spPr>
      </p:sp>
      <p:sp>
        <p:nvSpPr>
          <p:cNvPr id="19" name="cerchio FiCompass"/>
          <p:cNvSpPr/>
          <p:nvPr/>
        </p:nvSpPr>
        <p:spPr>
          <a:xfrm>
            <a:off x="566928" y="3017520"/>
            <a:ext cx="438912" cy="438912"/>
          </a:xfrm>
          <a:prstGeom prst="ellipse">
            <a:avLst/>
          </a:prstGeom>
          <a:solidFill>
            <a:schemeClr val="accent1"/>
          </a:solidFill>
          <a:ln/>
        </p:spPr>
      </p:sp>
      <p:pic>
        <p:nvPicPr>
          <p:cNvPr id="20" name="Image 2" descr="FiCompass">    </p:cNvPr>
          <p:cNvPicPr>
            <a:picLocks noChangeAspect="1"/>
          </p:cNvPicPr>
          <p:nvPr/>
        </p:nvPicPr>
        <p:blipFill>
          <a:blip r:embed="rId3"/>
          <a:stretch>
            <a:fillRect/>
          </a:stretch>
        </p:blipFill>
        <p:spPr>
          <a:xfrm>
            <a:off x="676656" y="3127248"/>
            <a:ext cx="219456" cy="219456"/>
          </a:xfrm>
          <a:prstGeom prst="rect">
            <a:avLst/>
          </a:prstGeom>
        </p:spPr>
      </p:pic>
      <p:sp>
        <p:nvSpPr>
          <p:cNvPr id="21" name="Text 15"/>
          <p:cNvSpPr txBox="1"/>
          <p:nvPr/>
        </p:nvSpPr>
        <p:spPr>
          <a:xfrm>
            <a:off x="1097280" y="2898648"/>
            <a:ext cx="1417320" cy="685800"/>
          </a:xfrm>
          <a:prstGeom prst="rect">
            <a:avLst/>
          </a:prstGeom>
          <a:noFill/>
          <a:ln/>
        </p:spPr>
        <p:txBody>
          <a:bodyPr wrap="square" lIns="0" tIns="0" rIns="0" bIns="0" rtlCol="0" anchor="ctr"/>
          <a:lstStyle/>
          <a:p>
            <a:pPr indent="0" marL="0">
              <a:buNone/>
            </a:pPr>
            <a:r>
              <a:rPr lang="en-US" sz="1300" b="1" dirty="0">
                <a:solidFill>
                  <a:schemeClr val="tx1"/>
                </a:solidFill>
              </a:rPr>
              <a:t>Intenzionalità</a:t>
            </a:r>
            <a:endParaRPr lang="en-US" sz="1300" dirty="0"/>
          </a:p>
        </p:txBody>
      </p:sp>
      <p:sp>
        <p:nvSpPr>
          <p:cNvPr id="22" name="Text 16"/>
          <p:cNvSpPr txBox="1"/>
          <p:nvPr/>
        </p:nvSpPr>
        <p:spPr>
          <a:xfrm>
            <a:off x="2514600" y="2898648"/>
            <a:ext cx="2194560" cy="685800"/>
          </a:xfrm>
          <a:prstGeom prst="rect">
            <a:avLst/>
          </a:prstGeom>
          <a:noFill/>
          <a:ln/>
        </p:spPr>
        <p:txBody>
          <a:bodyPr wrap="square" lIns="0" tIns="0" rIns="0" bIns="0" rtlCol="0" anchor="ctr"/>
          <a:lstStyle/>
          <a:p>
            <a:pPr indent="0" marL="0">
              <a:buNone/>
            </a:pPr>
            <a:r>
              <a:rPr lang="en-US" sz="1200" i="1" dirty="0">
                <a:solidFill>
                  <a:schemeClr val="tx1"/>
                </a:solidFill>
              </a:rPr>
              <a:t>Vuole aiutarmi, ha opinioni sue?</a:t>
            </a:r>
            <a:endParaRPr lang="en-US" sz="1200" dirty="0"/>
          </a:p>
        </p:txBody>
      </p:sp>
      <p:sp>
        <p:nvSpPr>
          <p:cNvPr id="23" name="Text 17"/>
          <p:cNvSpPr txBox="1"/>
          <p:nvPr/>
        </p:nvSpPr>
        <p:spPr>
          <a:xfrm>
            <a:off x="4800600" y="2898648"/>
            <a:ext cx="3794760" cy="685800"/>
          </a:xfrm>
          <a:prstGeom prst="rect">
            <a:avLst/>
          </a:prstGeom>
          <a:noFill/>
          <a:ln/>
        </p:spPr>
        <p:txBody>
          <a:bodyPr wrap="square" lIns="0" tIns="0" rIns="0" bIns="0" rtlCol="0" anchor="ctr"/>
          <a:lstStyle/>
          <a:p>
            <a:pPr indent="0" marL="0">
              <a:buNone/>
            </a:pPr>
            <a:r>
              <a:rPr lang="en-US" sz="1100" dirty="0">
                <a:solidFill>
                  <a:schemeClr val="tx2"/>
                </a:solidFill>
              </a:rPr>
              <a:t>Segue addestramento, istruzioni e richiesta: le opinioni cambiano con la domanda</a:t>
            </a:r>
            <a:endParaRPr lang="en-US" sz="1100" dirty="0"/>
          </a:p>
        </p:txBody>
      </p:sp>
      <p:sp>
        <p:nvSpPr>
          <p:cNvPr id="24" name="Text 18"/>
          <p:cNvSpPr txBox="1"/>
          <p:nvPr/>
        </p:nvSpPr>
        <p:spPr>
          <a:xfrm>
            <a:off x="457200" y="3721608"/>
            <a:ext cx="8229600" cy="274320"/>
          </a:xfrm>
          <a:prstGeom prst="rect">
            <a:avLst/>
          </a:prstGeom>
          <a:noFill/>
          <a:ln/>
        </p:spPr>
        <p:txBody>
          <a:bodyPr wrap="square" lIns="0" tIns="0" rIns="0" bIns="0" rtlCol="0" anchor="t"/>
          <a:lstStyle/>
          <a:p>
            <a:pPr indent="0" marL="0">
              <a:buNone/>
            </a:pPr>
            <a:r>
              <a:rPr lang="en-US" sz="1300" b="1" dirty="0">
                <a:solidFill>
                  <a:schemeClr val="tx1"/>
                </a:solidFill>
              </a:rPr>
              <a:t>Usarla bene</a:t>
            </a:r>
            <a:endParaRPr lang="en-US" sz="1300" dirty="0"/>
          </a:p>
        </p:txBody>
      </p:sp>
      <p:sp>
        <p:nvSpPr>
          <p:cNvPr id="25" name="blocco Calibrare la fiducia sul compito, non sul tono"/>
          <p:cNvSpPr/>
          <p:nvPr/>
        </p:nvSpPr>
        <p:spPr>
          <a:xfrm>
            <a:off x="457200" y="4023360"/>
            <a:ext cx="2615184" cy="530352"/>
          </a:xfrm>
          <a:prstGeom prst="roundRect">
            <a:avLst>
              <a:gd name="adj" fmla="val 20690"/>
            </a:avLst>
          </a:prstGeom>
          <a:solidFill>
            <a:schemeClr val="bg1"/>
          </a:solidFill>
          <a:ln w="15875">
            <a:solidFill>
              <a:schemeClr val="accent1"/>
            </a:solidFill>
            <a:prstDash val="solid"/>
          </a:ln>
        </p:spPr>
      </p:sp>
      <p:sp>
        <p:nvSpPr>
          <p:cNvPr id="26" name="Text 20"/>
          <p:cNvSpPr txBox="1"/>
          <p:nvPr/>
        </p:nvSpPr>
        <p:spPr>
          <a:xfrm>
            <a:off x="502920" y="4023360"/>
            <a:ext cx="2523744" cy="530352"/>
          </a:xfrm>
          <a:prstGeom prst="rect">
            <a:avLst/>
          </a:prstGeom>
          <a:noFill/>
          <a:ln/>
        </p:spPr>
        <p:txBody>
          <a:bodyPr wrap="square" lIns="0" tIns="0" rIns="0" bIns="0" rtlCol="0" anchor="ctr"/>
          <a:lstStyle/>
          <a:p>
            <a:pPr algn="ctr" indent="0" marL="0">
              <a:buNone/>
            </a:pPr>
            <a:r>
              <a:rPr lang="en-US" sz="1100" b="1" dirty="0">
                <a:solidFill>
                  <a:schemeClr val="tx1"/>
                </a:solidFill>
              </a:rPr>
              <a:t>Calibrare la fiducia sul compito, non sul tono</a:t>
            </a:r>
            <a:endParaRPr lang="en-US" sz="1100" dirty="0"/>
          </a:p>
        </p:txBody>
      </p:sp>
      <p:sp>
        <p:nvSpPr>
          <p:cNvPr id="27" name="blocco Condividere dati secondo le regole dell'organizzazione"/>
          <p:cNvSpPr/>
          <p:nvPr/>
        </p:nvSpPr>
        <p:spPr>
          <a:xfrm>
            <a:off x="3264408" y="4023360"/>
            <a:ext cx="2615184" cy="530352"/>
          </a:xfrm>
          <a:prstGeom prst="roundRect">
            <a:avLst>
              <a:gd name="adj" fmla="val 20690"/>
            </a:avLst>
          </a:prstGeom>
          <a:solidFill>
            <a:schemeClr val="bg1"/>
          </a:solidFill>
          <a:ln w="15875">
            <a:solidFill>
              <a:schemeClr val="accent1"/>
            </a:solidFill>
            <a:prstDash val="solid"/>
          </a:ln>
        </p:spPr>
      </p:sp>
      <p:sp>
        <p:nvSpPr>
          <p:cNvPr id="28" name="Text 22"/>
          <p:cNvSpPr txBox="1"/>
          <p:nvPr/>
        </p:nvSpPr>
        <p:spPr>
          <a:xfrm>
            <a:off x="3310128" y="4023360"/>
            <a:ext cx="2523744" cy="530352"/>
          </a:xfrm>
          <a:prstGeom prst="rect">
            <a:avLst/>
          </a:prstGeom>
          <a:noFill/>
          <a:ln/>
        </p:spPr>
        <p:txBody>
          <a:bodyPr wrap="square" lIns="0" tIns="0" rIns="0" bIns="0" rtlCol="0" anchor="ctr"/>
          <a:lstStyle/>
          <a:p>
            <a:pPr algn="ctr" indent="0" marL="0">
              <a:buNone/>
            </a:pPr>
            <a:r>
              <a:rPr lang="en-US" sz="1100" b="1" dirty="0">
                <a:solidFill>
                  <a:schemeClr val="tx1"/>
                </a:solidFill>
              </a:rPr>
              <a:t>Condividere dati secondo le regole dell'organizzazione</a:t>
            </a:r>
            <a:endParaRPr lang="en-US" sz="1100" dirty="0"/>
          </a:p>
        </p:txBody>
      </p:sp>
      <p:sp>
        <p:nvSpPr>
          <p:cNvPr id="29" name="blocco Supporto personale: utile, senza sostituire un aiuto professionale"/>
          <p:cNvSpPr/>
          <p:nvPr/>
        </p:nvSpPr>
        <p:spPr>
          <a:xfrm>
            <a:off x="6071616" y="4023360"/>
            <a:ext cx="2615184" cy="530352"/>
          </a:xfrm>
          <a:prstGeom prst="roundRect">
            <a:avLst>
              <a:gd name="adj" fmla="val 20690"/>
            </a:avLst>
          </a:prstGeom>
          <a:solidFill>
            <a:schemeClr val="bg1"/>
          </a:solidFill>
          <a:ln w="15875">
            <a:solidFill>
              <a:schemeClr val="accent1"/>
            </a:solidFill>
            <a:prstDash val="solid"/>
          </a:ln>
        </p:spPr>
      </p:sp>
      <p:sp>
        <p:nvSpPr>
          <p:cNvPr id="30" name="Text 24"/>
          <p:cNvSpPr txBox="1"/>
          <p:nvPr/>
        </p:nvSpPr>
        <p:spPr>
          <a:xfrm>
            <a:off x="6117336" y="4023360"/>
            <a:ext cx="2523744" cy="530352"/>
          </a:xfrm>
          <a:prstGeom prst="rect">
            <a:avLst/>
          </a:prstGeom>
          <a:noFill/>
          <a:ln/>
        </p:spPr>
        <p:txBody>
          <a:bodyPr wrap="square" lIns="0" tIns="0" rIns="0" bIns="0" rtlCol="0" anchor="ctr"/>
          <a:lstStyle/>
          <a:p>
            <a:pPr algn="ctr" indent="0" marL="0">
              <a:buNone/>
            </a:pPr>
            <a:r>
              <a:rPr lang="en-US" sz="1100" b="1" dirty="0">
                <a:solidFill>
                  <a:schemeClr val="tx1"/>
                </a:solidFill>
              </a:rPr>
              <a:t>Supporto personale: utile, senza sostituire un aiuto professionale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Automation bias e verifica proporzionata</a:t>
            </a:r>
            <a:endParaRPr lang="en-US" sz="2600" dirty="0"/>
          </a:p>
        </p:txBody>
      </p:sp>
      <p:sp>
        <p:nvSpPr>
          <p:cNvPr id="4" name="definizione automation bias"/>
          <p:cNvSpPr/>
          <p:nvPr/>
        </p:nvSpPr>
        <p:spPr>
          <a:xfrm>
            <a:off x="457200" y="1051560"/>
            <a:ext cx="8229600" cy="868680"/>
          </a:xfrm>
          <a:prstGeom prst="roundRect">
            <a:avLst>
              <a:gd name="adj" fmla="val 8421"/>
            </a:avLst>
          </a:prstGeom>
          <a:solidFill>
            <a:schemeClr val="tx1"/>
          </a:solidFill>
          <a:ln/>
        </p:spPr>
      </p:sp>
      <p:sp>
        <p:nvSpPr>
          <p:cNvPr id="5" name="Text 2"/>
          <p:cNvSpPr txBox="1"/>
          <p:nvPr/>
        </p:nvSpPr>
        <p:spPr>
          <a:xfrm>
            <a:off x="640080" y="1051560"/>
            <a:ext cx="7863840" cy="868680"/>
          </a:xfrm>
          <a:prstGeom prst="rect">
            <a:avLst/>
          </a:prstGeom>
          <a:noFill/>
          <a:ln/>
        </p:spPr>
        <p:txBody>
          <a:bodyPr wrap="square" lIns="0" tIns="0" rIns="0" bIns="0" rtlCol="0" anchor="ctr"/>
          <a:lstStyle/>
          <a:p>
            <a:pPr indent="0" marL="0">
              <a:buNone/>
            </a:pPr>
            <a:r>
              <a:rPr lang="en-US" sz="1300" b="1" dirty="0">
                <a:solidFill>
                  <a:schemeClr val="accent1"/>
                </a:solidFill>
              </a:rPr>
              <a:t>Automation bias: </a:t>
            </a:r>
            <a:pPr indent="0" marL="0">
              <a:buNone/>
            </a:pPr>
            <a:r>
              <a:rPr lang="en-US" sz="1300" dirty="0">
                <a:solidFill>
                  <a:schemeClr val="bg1"/>
                </a:solidFill>
              </a:rPr>
              <a:t>la tendenza a privilegiare i suggerimenti automatizzati senza adeguata verifica. Più forte quando il sistema è di solito affidabile, il carico è alto, l'esperienza è poca.</a:t>
            </a:r>
            <a:endParaRPr lang="en-US" sz="1300" dirty="0"/>
          </a:p>
        </p:txBody>
      </p:sp>
      <p:sp>
        <p:nvSpPr>
          <p:cNvPr id="6" name="Errori di commissione"/>
          <p:cNvSpPr/>
          <p:nvPr/>
        </p:nvSpPr>
        <p:spPr>
          <a:xfrm>
            <a:off x="457200" y="2057400"/>
            <a:ext cx="3977640" cy="868680"/>
          </a:xfrm>
          <a:prstGeom prst="roundRect">
            <a:avLst>
              <a:gd name="adj" fmla="val 8421"/>
            </a:avLst>
          </a:prstGeom>
          <a:solidFill>
            <a:schemeClr val="bg2"/>
          </a:solidFill>
          <a:ln/>
        </p:spPr>
      </p:sp>
      <p:sp>
        <p:nvSpPr>
          <p:cNvPr id="7" name="cerchio FiCheck"/>
          <p:cNvSpPr/>
          <p:nvPr/>
        </p:nvSpPr>
        <p:spPr>
          <a:xfrm>
            <a:off x="594360" y="2263140"/>
            <a:ext cx="457200" cy="457200"/>
          </a:xfrm>
          <a:prstGeom prst="ellipse">
            <a:avLst/>
          </a:prstGeom>
          <a:solidFill>
            <a:schemeClr val="accent1"/>
          </a:solidFill>
          <a:ln/>
        </p:spPr>
      </p:sp>
      <p:pic>
        <p:nvPicPr>
          <p:cNvPr id="8" name="Image 0" descr="FiCheck">    </p:cNvPr>
          <p:cNvPicPr>
            <a:picLocks noChangeAspect="1"/>
          </p:cNvPicPr>
          <p:nvPr/>
        </p:nvPicPr>
        <p:blipFill>
          <a:blip r:embed="rId1"/>
          <a:stretch>
            <a:fillRect/>
          </a:stretch>
        </p:blipFill>
        <p:spPr>
          <a:xfrm>
            <a:off x="708660" y="2377440"/>
            <a:ext cx="228600" cy="228600"/>
          </a:xfrm>
          <a:prstGeom prst="rect">
            <a:avLst/>
          </a:prstGeom>
        </p:spPr>
      </p:pic>
      <p:sp>
        <p:nvSpPr>
          <p:cNvPr id="9" name="Text 5"/>
          <p:cNvSpPr txBox="1"/>
          <p:nvPr/>
        </p:nvSpPr>
        <p:spPr>
          <a:xfrm>
            <a:off x="1188720" y="2148840"/>
            <a:ext cx="3108960" cy="310896"/>
          </a:xfrm>
          <a:prstGeom prst="rect">
            <a:avLst/>
          </a:prstGeom>
          <a:noFill/>
          <a:ln/>
        </p:spPr>
        <p:txBody>
          <a:bodyPr wrap="square" lIns="0" tIns="0" rIns="0" bIns="0" rtlCol="0" anchor="ctr"/>
          <a:lstStyle/>
          <a:p>
            <a:pPr indent="0" marL="0">
              <a:buNone/>
            </a:pPr>
            <a:r>
              <a:rPr lang="en-US" sz="1300" b="1" dirty="0">
                <a:solidFill>
                  <a:schemeClr val="tx1"/>
                </a:solidFill>
              </a:rPr>
              <a:t>Errori di commissione</a:t>
            </a:r>
            <a:endParaRPr lang="en-US" sz="1300" dirty="0"/>
          </a:p>
        </p:txBody>
      </p:sp>
      <p:sp>
        <p:nvSpPr>
          <p:cNvPr id="10" name="Text 6"/>
          <p:cNvSpPr txBox="1"/>
          <p:nvPr/>
        </p:nvSpPr>
        <p:spPr>
          <a:xfrm>
            <a:off x="1188720" y="2459736"/>
            <a:ext cx="3108960" cy="393192"/>
          </a:xfrm>
          <a:prstGeom prst="rect">
            <a:avLst/>
          </a:prstGeom>
          <a:noFill/>
          <a:ln/>
        </p:spPr>
        <p:txBody>
          <a:bodyPr wrap="square" lIns="0" tIns="0" rIns="0" bIns="0" rtlCol="0" anchor="t"/>
          <a:lstStyle/>
          <a:p>
            <a:pPr indent="0" marL="0">
              <a:buNone/>
            </a:pPr>
            <a:r>
              <a:rPr lang="en-US" sz="1100" dirty="0">
                <a:solidFill>
                  <a:schemeClr val="tx2"/>
                </a:solidFill>
              </a:rPr>
              <a:t>Seguire un suggerimento sbagliato: accettare una classificazione errata.</a:t>
            </a:r>
            <a:endParaRPr lang="en-US" sz="1100" dirty="0"/>
          </a:p>
        </p:txBody>
      </p:sp>
      <p:sp>
        <p:nvSpPr>
          <p:cNvPr id="11" name="Errori di omissione"/>
          <p:cNvSpPr/>
          <p:nvPr/>
        </p:nvSpPr>
        <p:spPr>
          <a:xfrm>
            <a:off x="4709160" y="2057400"/>
            <a:ext cx="3977640" cy="868680"/>
          </a:xfrm>
          <a:prstGeom prst="roundRect">
            <a:avLst>
              <a:gd name="adj" fmla="val 8421"/>
            </a:avLst>
          </a:prstGeom>
          <a:solidFill>
            <a:schemeClr val="accent6"/>
          </a:solidFill>
          <a:ln/>
        </p:spPr>
      </p:sp>
      <p:sp>
        <p:nvSpPr>
          <p:cNvPr id="12" name="cerchio FiEyeOff"/>
          <p:cNvSpPr/>
          <p:nvPr/>
        </p:nvSpPr>
        <p:spPr>
          <a:xfrm>
            <a:off x="4846320" y="2263140"/>
            <a:ext cx="457200" cy="457200"/>
          </a:xfrm>
          <a:prstGeom prst="ellipse">
            <a:avLst/>
          </a:prstGeom>
          <a:solidFill>
            <a:schemeClr val="accent1"/>
          </a:solidFill>
          <a:ln/>
        </p:spPr>
      </p:sp>
      <p:pic>
        <p:nvPicPr>
          <p:cNvPr id="13" name="Image 1" descr="FiEyeOff">    </p:cNvPr>
          <p:cNvPicPr>
            <a:picLocks noChangeAspect="1"/>
          </p:cNvPicPr>
          <p:nvPr/>
        </p:nvPicPr>
        <p:blipFill>
          <a:blip r:embed="rId2"/>
          <a:stretch>
            <a:fillRect/>
          </a:stretch>
        </p:blipFill>
        <p:spPr>
          <a:xfrm>
            <a:off x="4960620" y="2377440"/>
            <a:ext cx="228600" cy="228600"/>
          </a:xfrm>
          <a:prstGeom prst="rect">
            <a:avLst/>
          </a:prstGeom>
        </p:spPr>
      </p:pic>
      <p:sp>
        <p:nvSpPr>
          <p:cNvPr id="14" name="Text 9"/>
          <p:cNvSpPr txBox="1"/>
          <p:nvPr/>
        </p:nvSpPr>
        <p:spPr>
          <a:xfrm>
            <a:off x="5440680" y="2148840"/>
            <a:ext cx="3108960" cy="310896"/>
          </a:xfrm>
          <a:prstGeom prst="rect">
            <a:avLst/>
          </a:prstGeom>
          <a:noFill/>
          <a:ln/>
        </p:spPr>
        <p:txBody>
          <a:bodyPr wrap="square" lIns="0" tIns="0" rIns="0" bIns="0" rtlCol="0" anchor="ctr"/>
          <a:lstStyle/>
          <a:p>
            <a:pPr indent="0" marL="0">
              <a:buNone/>
            </a:pPr>
            <a:r>
              <a:rPr lang="en-US" sz="1300" b="1" dirty="0">
                <a:solidFill>
                  <a:schemeClr val="tx1"/>
                </a:solidFill>
              </a:rPr>
              <a:t>Errori di omissione</a:t>
            </a:r>
            <a:endParaRPr lang="en-US" sz="1300" dirty="0"/>
          </a:p>
        </p:txBody>
      </p:sp>
      <p:sp>
        <p:nvSpPr>
          <p:cNvPr id="15" name="Text 10"/>
          <p:cNvSpPr txBox="1"/>
          <p:nvPr/>
        </p:nvSpPr>
        <p:spPr>
          <a:xfrm>
            <a:off x="5440680" y="2459736"/>
            <a:ext cx="3108960" cy="393192"/>
          </a:xfrm>
          <a:prstGeom prst="rect">
            <a:avLst/>
          </a:prstGeom>
          <a:noFill/>
          <a:ln/>
        </p:spPr>
        <p:txBody>
          <a:bodyPr wrap="square" lIns="0" tIns="0" rIns="0" bIns="0" rtlCol="0" anchor="t"/>
          <a:lstStyle/>
          <a:p>
            <a:pPr indent="0" marL="0">
              <a:buNone/>
            </a:pPr>
            <a:r>
              <a:rPr lang="en-US" sz="1100" dirty="0">
                <a:solidFill>
                  <a:schemeClr val="tx2"/>
                </a:solidFill>
              </a:rPr>
              <a:t>Non vedere un problema non segnalato: un riassunto che omette un punto.</a:t>
            </a:r>
            <a:endParaRPr lang="en-US" sz="1100" dirty="0"/>
          </a:p>
        </p:txBody>
      </p:sp>
      <p:sp>
        <p:nvSpPr>
          <p:cNvPr id="16" name="Text 11"/>
          <p:cNvSpPr txBox="1"/>
          <p:nvPr/>
        </p:nvSpPr>
        <p:spPr>
          <a:xfrm>
            <a:off x="457200" y="3017520"/>
            <a:ext cx="8229600" cy="274320"/>
          </a:xfrm>
          <a:prstGeom prst="rect">
            <a:avLst/>
          </a:prstGeom>
          <a:noFill/>
          <a:ln/>
        </p:spPr>
        <p:txBody>
          <a:bodyPr wrap="square" lIns="0" tIns="0" rIns="0" bIns="0" rtlCol="0" anchor="t"/>
          <a:lstStyle/>
          <a:p>
            <a:pPr indent="0" marL="0">
              <a:buNone/>
            </a:pPr>
            <a:r>
              <a:rPr lang="en-US" sz="1300" b="1" dirty="0">
                <a:solidFill>
                  <a:schemeClr val="tx1"/>
                </a:solidFill>
              </a:rPr>
              <a:t>Verifica proporzionata: tre esempi</a:t>
            </a:r>
            <a:endParaRPr lang="en-US" sz="1300" dirty="0"/>
          </a:p>
        </p:txBody>
      </p:sp>
      <p:sp>
        <p:nvSpPr>
          <p:cNvPr id="17" name="verifica 0"/>
          <p:cNvSpPr/>
          <p:nvPr/>
        </p:nvSpPr>
        <p:spPr>
          <a:xfrm>
            <a:off x="457200" y="3337560"/>
            <a:ext cx="2615184" cy="868680"/>
          </a:xfrm>
          <a:prstGeom prst="roundRect">
            <a:avLst>
              <a:gd name="adj" fmla="val 8421"/>
            </a:avLst>
          </a:prstGeom>
          <a:solidFill>
            <a:schemeClr val="bg2"/>
          </a:solidFill>
          <a:ln/>
        </p:spPr>
      </p:sp>
      <p:sp>
        <p:nvSpPr>
          <p:cNvPr id="18" name="Text 13"/>
          <p:cNvSpPr txBox="1"/>
          <p:nvPr/>
        </p:nvSpPr>
        <p:spPr>
          <a:xfrm>
            <a:off x="594360" y="333756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Email interna di routine</a:t>
            </a:r>
            <a:endParaRPr lang="en-US" sz="1200" dirty="0"/>
          </a:p>
          <a:p>
            <a:pPr indent="0" marL="0">
              <a:buNone/>
            </a:pPr>
            <a:r>
              <a:rPr lang="en-US" sz="1200" dirty="0">
                <a:solidFill>
                  <a:schemeClr val="tx2"/>
                </a:solidFill>
              </a:rPr>
              <a:t>Rilettura rapida</a:t>
            </a:r>
            <a:endParaRPr lang="en-US" sz="1200" dirty="0"/>
          </a:p>
        </p:txBody>
      </p:sp>
      <p:sp>
        <p:nvSpPr>
          <p:cNvPr id="19" name="verifica 1"/>
          <p:cNvSpPr/>
          <p:nvPr/>
        </p:nvSpPr>
        <p:spPr>
          <a:xfrm>
            <a:off x="3264408" y="3337560"/>
            <a:ext cx="2615184" cy="868680"/>
          </a:xfrm>
          <a:prstGeom prst="roundRect">
            <a:avLst>
              <a:gd name="adj" fmla="val 8421"/>
            </a:avLst>
          </a:prstGeom>
          <a:solidFill>
            <a:schemeClr val="bg2"/>
          </a:solidFill>
          <a:ln/>
        </p:spPr>
      </p:sp>
      <p:sp>
        <p:nvSpPr>
          <p:cNvPr id="20" name="Text 15"/>
          <p:cNvSpPr txBox="1"/>
          <p:nvPr/>
        </p:nvSpPr>
        <p:spPr>
          <a:xfrm>
            <a:off x="3401568" y="333756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Numeri per un cliente</a:t>
            </a:r>
            <a:endParaRPr lang="en-US" sz="1200" dirty="0"/>
          </a:p>
          <a:p>
            <a:pPr indent="0" marL="0">
              <a:buNone/>
            </a:pPr>
            <a:r>
              <a:rPr lang="en-US" sz="1200" dirty="0">
                <a:solidFill>
                  <a:schemeClr val="tx2"/>
                </a:solidFill>
              </a:rPr>
              <a:t>Controllo dei valori chiave sulla fonte</a:t>
            </a:r>
            <a:endParaRPr lang="en-US" sz="1200" dirty="0"/>
          </a:p>
        </p:txBody>
      </p:sp>
      <p:sp>
        <p:nvSpPr>
          <p:cNvPr id="21" name="verifica 2"/>
          <p:cNvSpPr/>
          <p:nvPr/>
        </p:nvSpPr>
        <p:spPr>
          <a:xfrm>
            <a:off x="6071616" y="3337560"/>
            <a:ext cx="2615184" cy="868680"/>
          </a:xfrm>
          <a:prstGeom prst="roundRect">
            <a:avLst>
              <a:gd name="adj" fmla="val 8421"/>
            </a:avLst>
          </a:prstGeom>
          <a:solidFill>
            <a:schemeClr val="accent6"/>
          </a:solidFill>
          <a:ln/>
        </p:spPr>
      </p:sp>
      <p:sp>
        <p:nvSpPr>
          <p:cNvPr id="22" name="Text 17"/>
          <p:cNvSpPr txBox="1"/>
          <p:nvPr/>
        </p:nvSpPr>
        <p:spPr>
          <a:xfrm>
            <a:off x="6208776" y="3337560"/>
            <a:ext cx="2340864" cy="868680"/>
          </a:xfrm>
          <a:prstGeom prst="rect">
            <a:avLst/>
          </a:prstGeom>
          <a:noFill/>
          <a:ln/>
        </p:spPr>
        <p:txBody>
          <a:bodyPr wrap="square" lIns="0" tIns="0" rIns="0" bIns="0" rtlCol="0" anchor="ctr"/>
          <a:lstStyle/>
          <a:p>
            <a:pPr indent="0" marL="0">
              <a:buNone/>
            </a:pPr>
            <a:r>
              <a:rPr lang="en-US" sz="1200" b="1" dirty="0">
                <a:solidFill>
                  <a:schemeClr val="tx1"/>
                </a:solidFill>
              </a:rPr>
              <a:t>Decisione contrattuale</a:t>
            </a:r>
            <a:endParaRPr lang="en-US" sz="1200" dirty="0"/>
          </a:p>
          <a:p>
            <a:pPr indent="0" marL="0">
              <a:buNone/>
            </a:pPr>
            <a:r>
              <a:rPr lang="en-US" sz="1200" dirty="0">
                <a:solidFill>
                  <a:schemeClr val="tx2"/>
                </a:solidFill>
              </a:rPr>
              <a:t>Clausole sul testo originale, parere esperto</a:t>
            </a:r>
            <a:endParaRPr lang="en-US" sz="1200" dirty="0"/>
          </a:p>
        </p:txBody>
      </p:sp>
      <p:sp>
        <p:nvSpPr>
          <p:cNvPr id="23" name="Text 18"/>
          <p:cNvSpPr txBox="1"/>
          <p:nvPr/>
        </p:nvSpPr>
        <p:spPr>
          <a:xfrm>
            <a:off x="457200" y="4315968"/>
            <a:ext cx="5486400" cy="228600"/>
          </a:xfrm>
          <a:prstGeom prst="rect">
            <a:avLst/>
          </a:prstGeom>
          <a:noFill/>
          <a:ln/>
        </p:spPr>
        <p:txBody>
          <a:bodyPr wrap="square" lIns="0" tIns="0" rIns="0" bIns="0" rtlCol="0" anchor="t"/>
          <a:lstStyle/>
          <a:p>
            <a:pPr indent="0" marL="0">
              <a:buNone/>
            </a:pPr>
            <a:r>
              <a:rPr lang="en-US" sz="1000" dirty="0">
                <a:solidFill>
                  <a:schemeClr val="accent2"/>
                </a:solidFill>
              </a:rPr>
              <a:t>Fonte: Parasuraman e Manzey, Human Factors, 2010</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Delega cognitiva: benefici e attenzioni</a:t>
            </a:r>
            <a:endParaRPr lang="en-US" sz="2600" dirty="0"/>
          </a:p>
        </p:txBody>
      </p:sp>
      <p:sp>
        <p:nvSpPr>
          <p:cNvPr id="4" name="scheda Benefici"/>
          <p:cNvSpPr/>
          <p:nvPr/>
        </p:nvSpPr>
        <p:spPr>
          <a:xfrm>
            <a:off x="457200" y="1097280"/>
            <a:ext cx="3977640" cy="2057400"/>
          </a:xfrm>
          <a:prstGeom prst="roundRect">
            <a:avLst>
              <a:gd name="adj" fmla="val 3556"/>
            </a:avLst>
          </a:prstGeom>
          <a:solidFill>
            <a:schemeClr val="accent6"/>
          </a:solidFill>
          <a:ln/>
        </p:spPr>
      </p:sp>
      <p:sp>
        <p:nvSpPr>
          <p:cNvPr id="5" name="cerchio FiSun"/>
          <p:cNvSpPr/>
          <p:nvPr/>
        </p:nvSpPr>
        <p:spPr>
          <a:xfrm>
            <a:off x="640080" y="1280160"/>
            <a:ext cx="457200" cy="457200"/>
          </a:xfrm>
          <a:prstGeom prst="ellipse">
            <a:avLst/>
          </a:prstGeom>
          <a:solidFill>
            <a:schemeClr val="accent1"/>
          </a:solidFill>
          <a:ln/>
        </p:spPr>
      </p:sp>
      <p:pic>
        <p:nvPicPr>
          <p:cNvPr id="6" name="Image 0" descr="FiSun">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Benefici</a:t>
            </a:r>
            <a:endParaRPr lang="en-US" sz="1500" dirty="0"/>
          </a:p>
        </p:txBody>
      </p:sp>
      <p:sp>
        <p:nvSpPr>
          <p:cNvPr id="8" name="Text 4"/>
          <p:cNvSpPr txBox="1"/>
          <p:nvPr/>
        </p:nvSpPr>
        <p:spPr>
          <a:xfrm>
            <a:off x="640080" y="2231136"/>
            <a:ext cx="3611880" cy="81381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rPr>
              <a:t>Libera tempo e attenzione per le attività a maggior valore</a:t>
            </a:r>
            <a:endParaRPr lang="en-US" sz="1200" dirty="0"/>
          </a:p>
          <a:p>
            <a:pPr marL="177800" indent="-177800">
              <a:spcAft>
                <a:spcPts val="300"/>
              </a:spcAft>
              <a:buSzPct val="100000"/>
              <a:buChar char="•"/>
            </a:pPr>
            <a:r>
              <a:rPr lang="en-US" sz="1200" dirty="0">
                <a:solidFill>
                  <a:schemeClr val="tx2"/>
                </a:solidFill>
              </a:rPr>
              <a:t>Accelera sintesi, bozze, ricerche preliminari</a:t>
            </a:r>
            <a:endParaRPr lang="en-US" sz="1200" dirty="0"/>
          </a:p>
          <a:p>
            <a:pPr marL="177800" indent="-177800">
              <a:spcAft>
                <a:spcPts val="300"/>
              </a:spcAft>
              <a:buSzPct val="100000"/>
              <a:buChar char="•"/>
            </a:pPr>
            <a:r>
              <a:rPr lang="en-US" sz="1200" dirty="0">
                <a:solidFill>
                  <a:schemeClr val="tx2"/>
                </a:solidFill>
              </a:rPr>
              <a:t>Come scrittura, calcolatrice, navigatore</a:t>
            </a:r>
            <a:endParaRPr lang="en-US" sz="1200" dirty="0"/>
          </a:p>
        </p:txBody>
      </p:sp>
      <p:sp>
        <p:nvSpPr>
          <p:cNvPr id="9" name="scheda Effetti che dipendono dall'uso"/>
          <p:cNvSpPr/>
          <p:nvPr/>
        </p:nvSpPr>
        <p:spPr>
          <a:xfrm>
            <a:off x="4709160" y="1097280"/>
            <a:ext cx="3977640" cy="2057400"/>
          </a:xfrm>
          <a:prstGeom prst="roundRect">
            <a:avLst>
              <a:gd name="adj" fmla="val 3556"/>
            </a:avLst>
          </a:prstGeom>
          <a:solidFill>
            <a:schemeClr val="bg2"/>
          </a:solidFill>
          <a:ln/>
        </p:spPr>
      </p:sp>
      <p:sp>
        <p:nvSpPr>
          <p:cNvPr id="10" name="cerchio FiSliders"/>
          <p:cNvSpPr/>
          <p:nvPr/>
        </p:nvSpPr>
        <p:spPr>
          <a:xfrm>
            <a:off x="4892040" y="1280160"/>
            <a:ext cx="457200" cy="457200"/>
          </a:xfrm>
          <a:prstGeom prst="ellipse">
            <a:avLst/>
          </a:prstGeom>
          <a:solidFill>
            <a:srgbClr val="5B6573"/>
          </a:solidFill>
          <a:ln/>
        </p:spPr>
      </p:sp>
      <p:pic>
        <p:nvPicPr>
          <p:cNvPr id="11" name="Image 1" descr="FiSlider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Effetti che dipendono dall'uso</a:t>
            </a:r>
            <a:endParaRPr lang="en-US" sz="1500" dirty="0"/>
          </a:p>
        </p:txBody>
      </p:sp>
      <p:sp>
        <p:nvSpPr>
          <p:cNvPr id="13" name="Text 8"/>
          <p:cNvSpPr txBox="1"/>
          <p:nvPr/>
        </p:nvSpPr>
        <p:spPr>
          <a:xfrm>
            <a:off x="4892040" y="2231136"/>
            <a:ext cx="3611880" cy="813816"/>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Le competenze possono indebolirsi quando:</a:t>
            </a:r>
            <a:endParaRPr lang="en-US" sz="1200" dirty="0"/>
          </a:p>
          <a:p>
            <a:pPr marL="177800" indent="-177800">
              <a:spcAft>
                <a:spcPts val="100"/>
              </a:spcAft>
              <a:buSzPct val="100000"/>
              <a:buChar char="•"/>
            </a:pPr>
            <a:r>
              <a:rPr lang="en-US" sz="1200" dirty="0">
                <a:solidFill>
                  <a:schemeClr val="tx2"/>
                </a:solidFill>
              </a:rPr>
              <a:t>si accettano risultati senza comprenderli</a:t>
            </a:r>
            <a:endParaRPr lang="en-US" sz="1200" dirty="0"/>
          </a:p>
          <a:p>
            <a:pPr marL="177800" indent="-177800">
              <a:spcAft>
                <a:spcPts val="100"/>
              </a:spcAft>
              <a:buSzPct val="100000"/>
              <a:buChar char="•"/>
            </a:pPr>
            <a:r>
              <a:rPr lang="en-US" sz="1200" dirty="0">
                <a:solidFill>
                  <a:schemeClr val="tx2"/>
                </a:solidFill>
              </a:rPr>
              <a:t>si smette di esercitare le attività centrali</a:t>
            </a:r>
            <a:endParaRPr lang="en-US" sz="1200" dirty="0"/>
          </a:p>
          <a:p>
            <a:pPr marL="177800" indent="-177800">
              <a:spcAft>
                <a:spcPts val="100"/>
              </a:spcAft>
              <a:buSzPct val="100000"/>
              <a:buChar char="•"/>
            </a:pPr>
            <a:r>
              <a:rPr lang="en-US" sz="1200" dirty="0">
                <a:solidFill>
                  <a:schemeClr val="tx2"/>
                </a:solidFill>
              </a:rPr>
              <a:t>non si riconoscono più gli errori</a:t>
            </a:r>
            <a:endParaRPr lang="en-US" sz="1200" dirty="0"/>
          </a:p>
        </p:txBody>
      </p:sp>
      <p:sp>
        <p:nvSpPr>
          <p:cNvPr id="14" name="studio Lee"/>
          <p:cNvSpPr/>
          <p:nvPr/>
        </p:nvSpPr>
        <p:spPr>
          <a:xfrm>
            <a:off x="457200" y="3291840"/>
            <a:ext cx="8229600" cy="1234440"/>
          </a:xfrm>
          <a:prstGeom prst="roundRect">
            <a:avLst>
              <a:gd name="adj" fmla="val 5926"/>
            </a:avLst>
          </a:prstGeom>
          <a:solidFill>
            <a:schemeClr val="tx2"/>
          </a:solidFill>
          <a:ln/>
        </p:spPr>
      </p:sp>
      <p:sp>
        <p:nvSpPr>
          <p:cNvPr id="15" name="Text 10"/>
          <p:cNvSpPr txBox="1"/>
          <p:nvPr/>
        </p:nvSpPr>
        <p:spPr>
          <a:xfrm>
            <a:off x="640080" y="3364992"/>
            <a:ext cx="3657600" cy="256032"/>
          </a:xfrm>
          <a:prstGeom prst="rect">
            <a:avLst/>
          </a:prstGeom>
          <a:noFill/>
          <a:ln/>
        </p:spPr>
        <p:txBody>
          <a:bodyPr wrap="square" lIns="0" tIns="0" rIns="0" bIns="0" rtlCol="0" anchor="t"/>
          <a:lstStyle/>
          <a:p>
            <a:pPr indent="0" marL="0">
              <a:buNone/>
            </a:pPr>
            <a:r>
              <a:rPr lang="en-US" sz="1000" b="1" spc="200" kern="0" dirty="0">
                <a:solidFill>
                  <a:schemeClr val="accent3"/>
                </a:solidFill>
              </a:rPr>
              <a:t>UN SEGNALE DALLA RICERCA</a:t>
            </a:r>
            <a:endParaRPr lang="en-US" sz="1000" dirty="0"/>
          </a:p>
        </p:txBody>
      </p:sp>
      <p:sp>
        <p:nvSpPr>
          <p:cNvPr id="16" name="Text 11"/>
          <p:cNvSpPr txBox="1"/>
          <p:nvPr/>
        </p:nvSpPr>
        <p:spPr>
          <a:xfrm>
            <a:off x="640080" y="3611880"/>
            <a:ext cx="7863840" cy="640080"/>
          </a:xfrm>
          <a:prstGeom prst="rect">
            <a:avLst/>
          </a:prstGeom>
          <a:noFill/>
          <a:ln/>
        </p:spPr>
        <p:txBody>
          <a:bodyPr wrap="square" lIns="0" tIns="0" rIns="0" bIns="0" rtlCol="0" anchor="t"/>
          <a:lstStyle/>
          <a:p>
            <a:pPr indent="0" marL="0">
              <a:buNone/>
            </a:pPr>
            <a:r>
              <a:rPr lang="en-US" sz="1200" dirty="0">
                <a:solidFill>
                  <a:schemeClr val="bg1"/>
                </a:solidFill>
              </a:rPr>
              <a:t>Più fiducia nell'AI si associava a meno pensiero critico dichiarato; più fiducia nelle proprie capacità, a più pensiero critico. Dati auto-riferiti su 319 lavoratori: un'associazione, non un rapporto causale.</a:t>
            </a:r>
            <a:endParaRPr lang="en-US" sz="1200" dirty="0"/>
          </a:p>
        </p:txBody>
      </p:sp>
      <p:sp>
        <p:nvSpPr>
          <p:cNvPr id="17" name="Text 12"/>
          <p:cNvSpPr txBox="1"/>
          <p:nvPr/>
        </p:nvSpPr>
        <p:spPr>
          <a:xfrm>
            <a:off x="640080" y="4251960"/>
            <a:ext cx="7315200" cy="228600"/>
          </a:xfrm>
          <a:prstGeom prst="rect">
            <a:avLst/>
          </a:prstGeom>
          <a:noFill/>
          <a:ln/>
        </p:spPr>
        <p:txBody>
          <a:bodyPr wrap="square" lIns="0" tIns="0" rIns="0" bIns="0" rtlCol="0" anchor="t"/>
          <a:lstStyle/>
          <a:p>
            <a:pPr indent="0" marL="0">
              <a:buNone/>
            </a:pPr>
            <a:r>
              <a:rPr lang="en-US" sz="1000" dirty="0">
                <a:solidFill>
                  <a:schemeClr val="accent3"/>
                </a:solidFill>
              </a:rPr>
              <a:t>Fonte: Lee et al., Microsoft Research e Carnegie Mellon, CHI 2025</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Utilizzare l'AI mantenendo autonomia e competenze</a:t>
            </a:r>
            <a:endParaRPr lang="en-US" sz="2600" dirty="0"/>
          </a:p>
        </p:txBody>
      </p:sp>
      <p:sp>
        <p:nvSpPr>
          <p:cNvPr id="4" name="Farsi un'idea prima, quando conta"/>
          <p:cNvSpPr/>
          <p:nvPr/>
        </p:nvSpPr>
        <p:spPr>
          <a:xfrm>
            <a:off x="457200" y="1097280"/>
            <a:ext cx="2621280" cy="1348740"/>
          </a:xfrm>
          <a:prstGeom prst="roundRect">
            <a:avLst>
              <a:gd name="adj" fmla="val 5424"/>
            </a:avLst>
          </a:prstGeom>
          <a:solidFill>
            <a:schemeClr val="bg2"/>
          </a:solidFill>
          <a:ln/>
        </p:spPr>
      </p:sp>
      <p:sp>
        <p:nvSpPr>
          <p:cNvPr id="5" name="cerchio FiZap"/>
          <p:cNvSpPr/>
          <p:nvPr/>
        </p:nvSpPr>
        <p:spPr>
          <a:xfrm>
            <a:off x="621792" y="1261872"/>
            <a:ext cx="438912" cy="438912"/>
          </a:xfrm>
          <a:prstGeom prst="ellipse">
            <a:avLst/>
          </a:prstGeom>
          <a:solidFill>
            <a:schemeClr val="accent1"/>
          </a:solidFill>
          <a:ln/>
        </p:spPr>
      </p:sp>
      <p:pic>
        <p:nvPicPr>
          <p:cNvPr id="6" name="Image 0" descr="FiZap">    </p:cNvPr>
          <p:cNvPicPr>
            <a:picLocks noChangeAspect="1"/>
          </p:cNvPicPr>
          <p:nvPr/>
        </p:nvPicPr>
        <p:blipFill>
          <a:blip r:embed="rId1"/>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Farsi un'idea prima, quando conta</a:t>
            </a:r>
            <a:endParaRPr lang="en-US" sz="1300" dirty="0"/>
          </a:p>
        </p:txBody>
      </p:sp>
      <p:sp>
        <p:nvSpPr>
          <p:cNvPr id="8" name="Text 4"/>
          <p:cNvSpPr txBox="1"/>
          <p:nvPr/>
        </p:nvSpPr>
        <p:spPr>
          <a:xfrm>
            <a:off x="621792" y="1810512"/>
            <a:ext cx="2292096" cy="544068"/>
          </a:xfrm>
          <a:prstGeom prst="rect">
            <a:avLst/>
          </a:prstGeom>
          <a:noFill/>
          <a:ln/>
        </p:spPr>
        <p:txBody>
          <a:bodyPr wrap="square" lIns="0" tIns="0" rIns="0" bIns="0" rtlCol="0" anchor="t"/>
          <a:lstStyle/>
          <a:p>
            <a:pPr indent="0" marL="0">
              <a:buNone/>
            </a:pPr>
            <a:r>
              <a:rPr lang="en-US" sz="1200" dirty="0">
                <a:solidFill>
                  <a:schemeClr val="tx2"/>
                </a:solidFill>
              </a:rPr>
              <a:t>Un'ipotesi propria come termine di confronto</a:t>
            </a:r>
            <a:endParaRPr lang="en-US" sz="1200" dirty="0"/>
          </a:p>
        </p:txBody>
      </p:sp>
      <p:sp>
        <p:nvSpPr>
          <p:cNvPr id="9" name="Mettere alla prova, non solo produrre"/>
          <p:cNvSpPr/>
          <p:nvPr/>
        </p:nvSpPr>
        <p:spPr>
          <a:xfrm>
            <a:off x="3261360" y="1097280"/>
            <a:ext cx="2621280" cy="1348740"/>
          </a:xfrm>
          <a:prstGeom prst="roundRect">
            <a:avLst>
              <a:gd name="adj" fmla="val 5424"/>
            </a:avLst>
          </a:prstGeom>
          <a:solidFill>
            <a:schemeClr val="bg2"/>
          </a:solidFill>
          <a:ln/>
        </p:spPr>
      </p:sp>
      <p:sp>
        <p:nvSpPr>
          <p:cNvPr id="10" name="cerchio FiShield"/>
          <p:cNvSpPr/>
          <p:nvPr/>
        </p:nvSpPr>
        <p:spPr>
          <a:xfrm>
            <a:off x="3425952" y="1261872"/>
            <a:ext cx="438912" cy="438912"/>
          </a:xfrm>
          <a:prstGeom prst="ellipse">
            <a:avLst/>
          </a:prstGeom>
          <a:solidFill>
            <a:schemeClr val="accent1"/>
          </a:solidFill>
          <a:ln/>
        </p:spPr>
      </p:sp>
      <p:pic>
        <p:nvPicPr>
          <p:cNvPr id="11" name="Image 1" descr="FiShield">    </p:cNvPr>
          <p:cNvPicPr>
            <a:picLocks noChangeAspect="1"/>
          </p:cNvPicPr>
          <p:nvPr/>
        </p:nvPicPr>
        <p:blipFill>
          <a:blip r:embed="rId2"/>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Mettere alla prova, non solo produrre</a:t>
            </a:r>
            <a:endParaRPr lang="en-US" sz="1300" dirty="0"/>
          </a:p>
        </p:txBody>
      </p:sp>
      <p:sp>
        <p:nvSpPr>
          <p:cNvPr id="13" name="Text 8"/>
          <p:cNvSpPr txBox="1"/>
          <p:nvPr/>
        </p:nvSpPr>
        <p:spPr>
          <a:xfrm>
            <a:off x="3425952" y="1810512"/>
            <a:ext cx="2292096" cy="544068"/>
          </a:xfrm>
          <a:prstGeom prst="rect">
            <a:avLst/>
          </a:prstGeom>
          <a:noFill/>
          <a:ln/>
        </p:spPr>
        <p:txBody>
          <a:bodyPr wrap="square" lIns="0" tIns="0" rIns="0" bIns="0" rtlCol="0" anchor="t"/>
          <a:lstStyle/>
          <a:p>
            <a:pPr indent="0" marL="0">
              <a:buNone/>
            </a:pPr>
            <a:r>
              <a:rPr lang="en-US" sz="1200" dirty="0">
                <a:solidFill>
                  <a:schemeClr val="tx2"/>
                </a:solidFill>
              </a:rPr>
              <a:t>L'AI come interlocutore critico</a:t>
            </a:r>
            <a:endParaRPr lang="en-US" sz="1200" dirty="0"/>
          </a:p>
        </p:txBody>
      </p:sp>
      <p:sp>
        <p:nvSpPr>
          <p:cNvPr id="14" name="Esercitare le attività centrali"/>
          <p:cNvSpPr/>
          <p:nvPr/>
        </p:nvSpPr>
        <p:spPr>
          <a:xfrm>
            <a:off x="6065520" y="1097280"/>
            <a:ext cx="2621280" cy="1348740"/>
          </a:xfrm>
          <a:prstGeom prst="roundRect">
            <a:avLst>
              <a:gd name="adj" fmla="val 5424"/>
            </a:avLst>
          </a:prstGeom>
          <a:solidFill>
            <a:schemeClr val="bg2"/>
          </a:solidFill>
          <a:ln/>
        </p:spPr>
      </p:sp>
      <p:sp>
        <p:nvSpPr>
          <p:cNvPr id="15" name="cerchio FiRepeat"/>
          <p:cNvSpPr/>
          <p:nvPr/>
        </p:nvSpPr>
        <p:spPr>
          <a:xfrm>
            <a:off x="6230112" y="1261872"/>
            <a:ext cx="438912" cy="438912"/>
          </a:xfrm>
          <a:prstGeom prst="ellipse">
            <a:avLst/>
          </a:prstGeom>
          <a:solidFill>
            <a:schemeClr val="accent1"/>
          </a:solidFill>
          <a:ln/>
        </p:spPr>
      </p:sp>
      <p:pic>
        <p:nvPicPr>
          <p:cNvPr id="16" name="Image 2" descr="FiRepeat">    </p:cNvPr>
          <p:cNvPicPr>
            <a:picLocks noChangeAspect="1"/>
          </p:cNvPicPr>
          <p:nvPr/>
        </p:nvPicPr>
        <p:blipFill>
          <a:blip r:embed="rId3"/>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Esercitare le attività centrali</a:t>
            </a:r>
            <a:endParaRPr lang="en-US" sz="1300" dirty="0"/>
          </a:p>
        </p:txBody>
      </p:sp>
      <p:sp>
        <p:nvSpPr>
          <p:cNvPr id="18" name="Text 12"/>
          <p:cNvSpPr txBox="1"/>
          <p:nvPr/>
        </p:nvSpPr>
        <p:spPr>
          <a:xfrm>
            <a:off x="6230112" y="1810512"/>
            <a:ext cx="2292096" cy="544068"/>
          </a:xfrm>
          <a:prstGeom prst="rect">
            <a:avLst/>
          </a:prstGeom>
          <a:noFill/>
          <a:ln/>
        </p:spPr>
        <p:txBody>
          <a:bodyPr wrap="square" lIns="0" tIns="0" rIns="0" bIns="0" rtlCol="0" anchor="t"/>
          <a:lstStyle/>
          <a:p>
            <a:pPr indent="0" marL="0">
              <a:buNone/>
            </a:pPr>
            <a:r>
              <a:rPr lang="en-US" sz="1200" dirty="0">
                <a:solidFill>
                  <a:schemeClr val="tx2"/>
                </a:solidFill>
              </a:rPr>
              <a:t>Quelle decisive per il ruolo e la crescita</a:t>
            </a:r>
            <a:endParaRPr lang="en-US" sz="1200" dirty="0"/>
          </a:p>
        </p:txBody>
      </p:sp>
      <p:sp>
        <p:nvSpPr>
          <p:cNvPr id="19" name="Capire ciò che si presenta"/>
          <p:cNvSpPr/>
          <p:nvPr/>
        </p:nvSpPr>
        <p:spPr>
          <a:xfrm>
            <a:off x="457200" y="2628900"/>
            <a:ext cx="2621280" cy="1348740"/>
          </a:xfrm>
          <a:prstGeom prst="roundRect">
            <a:avLst>
              <a:gd name="adj" fmla="val 5424"/>
            </a:avLst>
          </a:prstGeom>
          <a:solidFill>
            <a:schemeClr val="bg2"/>
          </a:solidFill>
          <a:ln/>
        </p:spPr>
      </p:sp>
      <p:sp>
        <p:nvSpPr>
          <p:cNvPr id="20" name="cerchio FiMessageCircle"/>
          <p:cNvSpPr/>
          <p:nvPr/>
        </p:nvSpPr>
        <p:spPr>
          <a:xfrm>
            <a:off x="621792" y="2793492"/>
            <a:ext cx="438912" cy="438912"/>
          </a:xfrm>
          <a:prstGeom prst="ellipse">
            <a:avLst/>
          </a:prstGeom>
          <a:solidFill>
            <a:schemeClr val="accent1"/>
          </a:solidFill>
          <a:ln/>
        </p:spPr>
      </p:sp>
      <p:pic>
        <p:nvPicPr>
          <p:cNvPr id="21" name="Image 3" descr="FiMessageCircle">    </p:cNvPr>
          <p:cNvPicPr>
            <a:picLocks noChangeAspect="1"/>
          </p:cNvPicPr>
          <p:nvPr/>
        </p:nvPicPr>
        <p:blipFill>
          <a:blip r:embed="rId4"/>
          <a:stretch>
            <a:fillRect/>
          </a:stretch>
        </p:blipFill>
        <p:spPr>
          <a:xfrm>
            <a:off x="731520" y="2903220"/>
            <a:ext cx="219456" cy="219456"/>
          </a:xfrm>
          <a:prstGeom prst="rect">
            <a:avLst/>
          </a:prstGeom>
        </p:spPr>
      </p:pic>
      <p:sp>
        <p:nvSpPr>
          <p:cNvPr id="22" name="Text 15"/>
          <p:cNvSpPr txBox="1"/>
          <p:nvPr/>
        </p:nvSpPr>
        <p:spPr>
          <a:xfrm>
            <a:off x="1170432" y="27569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Capire ciò che si presenta</a:t>
            </a:r>
            <a:endParaRPr lang="en-US" sz="1300" dirty="0"/>
          </a:p>
        </p:txBody>
      </p:sp>
      <p:sp>
        <p:nvSpPr>
          <p:cNvPr id="23" name="Text 16"/>
          <p:cNvSpPr txBox="1"/>
          <p:nvPr/>
        </p:nvSpPr>
        <p:spPr>
          <a:xfrm>
            <a:off x="621792" y="3342132"/>
            <a:ext cx="2292096" cy="544068"/>
          </a:xfrm>
          <a:prstGeom prst="rect">
            <a:avLst/>
          </a:prstGeom>
          <a:noFill/>
          <a:ln/>
        </p:spPr>
        <p:txBody>
          <a:bodyPr wrap="square" lIns="0" tIns="0" rIns="0" bIns="0" rtlCol="0" anchor="t"/>
          <a:lstStyle/>
          <a:p>
            <a:pPr indent="0" marL="0">
              <a:buNone/>
            </a:pPr>
            <a:r>
              <a:rPr lang="en-US" sz="1200" dirty="0">
                <a:solidFill>
                  <a:schemeClr val="tx2"/>
                </a:solidFill>
              </a:rPr>
              <a:t>Saper spiegare i risultati che si portano ad altri</a:t>
            </a:r>
            <a:endParaRPr lang="en-US" sz="1200" dirty="0"/>
          </a:p>
        </p:txBody>
      </p:sp>
      <p:sp>
        <p:nvSpPr>
          <p:cNvPr id="24" name="Verificare in proporzione"/>
          <p:cNvSpPr/>
          <p:nvPr/>
        </p:nvSpPr>
        <p:spPr>
          <a:xfrm>
            <a:off x="3261360" y="2628900"/>
            <a:ext cx="2621280" cy="1348740"/>
          </a:xfrm>
          <a:prstGeom prst="roundRect">
            <a:avLst>
              <a:gd name="adj" fmla="val 5424"/>
            </a:avLst>
          </a:prstGeom>
          <a:solidFill>
            <a:schemeClr val="bg2"/>
          </a:solidFill>
          <a:ln/>
        </p:spPr>
      </p:sp>
      <p:sp>
        <p:nvSpPr>
          <p:cNvPr id="25" name="cerchio FiCheckSquare"/>
          <p:cNvSpPr/>
          <p:nvPr/>
        </p:nvSpPr>
        <p:spPr>
          <a:xfrm>
            <a:off x="3425952" y="2793492"/>
            <a:ext cx="438912" cy="438912"/>
          </a:xfrm>
          <a:prstGeom prst="ellipse">
            <a:avLst/>
          </a:prstGeom>
          <a:solidFill>
            <a:schemeClr val="accent1"/>
          </a:solidFill>
          <a:ln/>
        </p:spPr>
      </p:sp>
      <p:pic>
        <p:nvPicPr>
          <p:cNvPr id="26" name="Image 4" descr="FiCheckSquare">    </p:cNvPr>
          <p:cNvPicPr>
            <a:picLocks noChangeAspect="1"/>
          </p:cNvPicPr>
          <p:nvPr/>
        </p:nvPicPr>
        <p:blipFill>
          <a:blip r:embed="rId5"/>
          <a:stretch>
            <a:fillRect/>
          </a:stretch>
        </p:blipFill>
        <p:spPr>
          <a:xfrm>
            <a:off x="3535680" y="2903220"/>
            <a:ext cx="219456" cy="219456"/>
          </a:xfrm>
          <a:prstGeom prst="rect">
            <a:avLst/>
          </a:prstGeom>
        </p:spPr>
      </p:pic>
      <p:sp>
        <p:nvSpPr>
          <p:cNvPr id="27" name="Text 19"/>
          <p:cNvSpPr txBox="1"/>
          <p:nvPr/>
        </p:nvSpPr>
        <p:spPr>
          <a:xfrm>
            <a:off x="3974592" y="27569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Verificare in proporzione</a:t>
            </a:r>
            <a:endParaRPr lang="en-US" sz="1300" dirty="0"/>
          </a:p>
        </p:txBody>
      </p:sp>
      <p:sp>
        <p:nvSpPr>
          <p:cNvPr id="28" name="Text 20"/>
          <p:cNvSpPr txBox="1"/>
          <p:nvPr/>
        </p:nvSpPr>
        <p:spPr>
          <a:xfrm>
            <a:off x="3425952" y="3342132"/>
            <a:ext cx="2292096" cy="544068"/>
          </a:xfrm>
          <a:prstGeom prst="rect">
            <a:avLst/>
          </a:prstGeom>
          <a:noFill/>
          <a:ln/>
        </p:spPr>
        <p:txBody>
          <a:bodyPr wrap="square" lIns="0" tIns="0" rIns="0" bIns="0" rtlCol="0" anchor="t"/>
          <a:lstStyle/>
          <a:p>
            <a:pPr indent="0" marL="0">
              <a:buNone/>
            </a:pPr>
            <a:r>
              <a:rPr lang="en-US" sz="1200" dirty="0">
                <a:solidFill>
                  <a:schemeClr val="tx2"/>
                </a:solidFill>
              </a:rPr>
              <a:t>Più controllo dove un errore costa di più</a:t>
            </a:r>
            <a:endParaRPr lang="en-US" sz="1200" dirty="0"/>
          </a:p>
        </p:txBody>
      </p:sp>
      <p:sp>
        <p:nvSpPr>
          <p:cNvPr id="29" name="Decidere secondo il proprio ruolo"/>
          <p:cNvSpPr/>
          <p:nvPr/>
        </p:nvSpPr>
        <p:spPr>
          <a:xfrm>
            <a:off x="6065520" y="2628900"/>
            <a:ext cx="2621280" cy="1348740"/>
          </a:xfrm>
          <a:prstGeom prst="roundRect">
            <a:avLst>
              <a:gd name="adj" fmla="val 5424"/>
            </a:avLst>
          </a:prstGeom>
          <a:solidFill>
            <a:schemeClr val="bg2"/>
          </a:solidFill>
          <a:ln/>
        </p:spPr>
      </p:sp>
      <p:sp>
        <p:nvSpPr>
          <p:cNvPr id="30" name="cerchio FiUserCheck"/>
          <p:cNvSpPr/>
          <p:nvPr/>
        </p:nvSpPr>
        <p:spPr>
          <a:xfrm>
            <a:off x="6230112" y="2793492"/>
            <a:ext cx="438912" cy="438912"/>
          </a:xfrm>
          <a:prstGeom prst="ellipse">
            <a:avLst/>
          </a:prstGeom>
          <a:solidFill>
            <a:schemeClr val="accent1"/>
          </a:solidFill>
          <a:ln/>
        </p:spPr>
      </p:sp>
      <p:pic>
        <p:nvPicPr>
          <p:cNvPr id="31" name="Image 5" descr="FiUserCheck">    </p:cNvPr>
          <p:cNvPicPr>
            <a:picLocks noChangeAspect="1"/>
          </p:cNvPicPr>
          <p:nvPr/>
        </p:nvPicPr>
        <p:blipFill>
          <a:blip r:embed="rId6"/>
          <a:stretch>
            <a:fillRect/>
          </a:stretch>
        </p:blipFill>
        <p:spPr>
          <a:xfrm>
            <a:off x="6339840" y="2903220"/>
            <a:ext cx="219456" cy="219456"/>
          </a:xfrm>
          <a:prstGeom prst="rect">
            <a:avLst/>
          </a:prstGeom>
        </p:spPr>
      </p:pic>
      <p:sp>
        <p:nvSpPr>
          <p:cNvPr id="32" name="Text 23"/>
          <p:cNvSpPr txBox="1"/>
          <p:nvPr/>
        </p:nvSpPr>
        <p:spPr>
          <a:xfrm>
            <a:off x="6778752" y="27569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Decidere secondo il proprio ruolo</a:t>
            </a:r>
            <a:endParaRPr lang="en-US" sz="1300" dirty="0"/>
          </a:p>
        </p:txBody>
      </p:sp>
      <p:sp>
        <p:nvSpPr>
          <p:cNvPr id="33" name="Text 24"/>
          <p:cNvSpPr txBox="1"/>
          <p:nvPr/>
        </p:nvSpPr>
        <p:spPr>
          <a:xfrm>
            <a:off x="6230112" y="3342132"/>
            <a:ext cx="2292096" cy="544068"/>
          </a:xfrm>
          <a:prstGeom prst="rect">
            <a:avLst/>
          </a:prstGeom>
          <a:noFill/>
          <a:ln/>
        </p:spPr>
        <p:txBody>
          <a:bodyPr wrap="square" lIns="0" tIns="0" rIns="0" bIns="0" rtlCol="0" anchor="t"/>
          <a:lstStyle/>
          <a:p>
            <a:pPr indent="0" marL="0">
              <a:buNone/>
            </a:pPr>
            <a:r>
              <a:rPr lang="en-US" sz="1200" dirty="0">
                <a:solidFill>
                  <a:schemeClr val="tx2"/>
                </a:solidFill>
              </a:rPr>
              <a:t>L'AI propone opzioni, chi è responsabile decide</a:t>
            </a:r>
            <a:endParaRPr lang="en-US" sz="1200" dirty="0"/>
          </a:p>
        </p:txBody>
      </p:sp>
      <p:sp>
        <p:nvSpPr>
          <p:cNvPr id="34" name="messaggio"/>
          <p:cNvSpPr/>
          <p:nvPr/>
        </p:nvSpPr>
        <p:spPr>
          <a:xfrm>
            <a:off x="457200" y="4114800"/>
            <a:ext cx="8229600" cy="457200"/>
          </a:xfrm>
          <a:prstGeom prst="roundRect">
            <a:avLst>
              <a:gd name="adj" fmla="val 16000"/>
            </a:avLst>
          </a:prstGeom>
          <a:solidFill>
            <a:schemeClr val="tx1"/>
          </a:solidFill>
          <a:ln/>
        </p:spPr>
      </p:sp>
      <p:sp>
        <p:nvSpPr>
          <p:cNvPr id="35" name="Text 26"/>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300" dirty="0">
                <a:solidFill>
                  <a:schemeClr val="bg1"/>
                </a:solidFill>
              </a:rPr>
              <a:t>Pratiche proporzionate al compito: rendono il valore dell'AI sostenibile e crescente nel tempo.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metodo pratico di collaborazione uomo-AI</a:t>
            </a:r>
            <a:endParaRPr lang="en-US" sz="2600" dirty="0"/>
          </a:p>
        </p:txBody>
      </p:sp>
      <p:sp>
        <p:nvSpPr>
          <p:cNvPr id="4" name="passaggio 1"/>
          <p:cNvSpPr/>
          <p:nvPr/>
        </p:nvSpPr>
        <p:spPr>
          <a:xfrm>
            <a:off x="457200" y="1051560"/>
            <a:ext cx="1536192" cy="1920240"/>
          </a:xfrm>
          <a:prstGeom prst="roundRect">
            <a:avLst>
              <a:gd name="adj" fmla="val 4762"/>
            </a:avLst>
          </a:prstGeom>
          <a:solidFill>
            <a:schemeClr val="bg2"/>
          </a:solidFill>
          <a:ln/>
        </p:spPr>
      </p:sp>
      <p:sp>
        <p:nvSpPr>
          <p:cNvPr id="5" name="numero 1"/>
          <p:cNvSpPr/>
          <p:nvPr/>
        </p:nvSpPr>
        <p:spPr>
          <a:xfrm>
            <a:off x="566928" y="1161288"/>
            <a:ext cx="411480" cy="411480"/>
          </a:xfrm>
          <a:prstGeom prst="ellipse">
            <a:avLst/>
          </a:prstGeom>
          <a:solidFill>
            <a:schemeClr val="accent1"/>
          </a:solidFill>
          <a:ln/>
        </p:spPr>
      </p:sp>
      <p:sp>
        <p:nvSpPr>
          <p:cNvPr id="6" name="Text 3"/>
          <p:cNvSpPr txBox="1"/>
          <p:nvPr/>
        </p:nvSpPr>
        <p:spPr>
          <a:xfrm>
            <a:off x="566928" y="116128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566928" y="1645920"/>
            <a:ext cx="1353312" cy="658368"/>
          </a:xfrm>
          <a:prstGeom prst="rect">
            <a:avLst/>
          </a:prstGeom>
          <a:noFill/>
          <a:ln/>
        </p:spPr>
        <p:txBody>
          <a:bodyPr wrap="square" lIns="0" tIns="0" rIns="0" bIns="0" rtlCol="0" anchor="t"/>
          <a:lstStyle/>
          <a:p>
            <a:pPr indent="0" marL="0">
              <a:buNone/>
            </a:pPr>
            <a:r>
              <a:rPr lang="en-US" sz="1300" b="1" dirty="0">
                <a:solidFill>
                  <a:schemeClr val="tx1"/>
                </a:solidFill>
              </a:rPr>
              <a:t>Definire l'obiettivo</a:t>
            </a:r>
            <a:endParaRPr lang="en-US" sz="1300" dirty="0"/>
          </a:p>
        </p:txBody>
      </p:sp>
      <p:sp>
        <p:nvSpPr>
          <p:cNvPr id="8" name="Text 5"/>
          <p:cNvSpPr txBox="1"/>
          <p:nvPr/>
        </p:nvSpPr>
        <p:spPr>
          <a:xfrm>
            <a:off x="566928" y="2359152"/>
            <a:ext cx="1353312" cy="566928"/>
          </a:xfrm>
          <a:prstGeom prst="rect">
            <a:avLst/>
          </a:prstGeom>
          <a:noFill/>
          <a:ln/>
        </p:spPr>
        <p:txBody>
          <a:bodyPr wrap="square" lIns="0" tIns="0" rIns="0" bIns="0" rtlCol="0" anchor="t"/>
          <a:lstStyle/>
          <a:p>
            <a:pPr indent="0" marL="0">
              <a:buNone/>
            </a:pPr>
            <a:r>
              <a:rPr lang="en-US" sz="1100" dirty="0">
                <a:solidFill>
                  <a:schemeClr val="tx2"/>
                </a:solidFill>
              </a:rPr>
              <a:t>Che cosa serve, per chi, entro quando</a:t>
            </a:r>
            <a:endParaRPr lang="en-US" sz="1100" dirty="0"/>
          </a:p>
        </p:txBody>
      </p:sp>
      <p:sp>
        <p:nvSpPr>
          <p:cNvPr id="9" name="passaggio 2"/>
          <p:cNvSpPr/>
          <p:nvPr/>
        </p:nvSpPr>
        <p:spPr>
          <a:xfrm>
            <a:off x="2139696" y="1051560"/>
            <a:ext cx="1536192" cy="1920240"/>
          </a:xfrm>
          <a:prstGeom prst="roundRect">
            <a:avLst>
              <a:gd name="adj" fmla="val 4762"/>
            </a:avLst>
          </a:prstGeom>
          <a:solidFill>
            <a:schemeClr val="bg2"/>
          </a:solidFill>
          <a:ln/>
        </p:spPr>
      </p:sp>
      <p:sp>
        <p:nvSpPr>
          <p:cNvPr id="10" name="numero 2"/>
          <p:cNvSpPr/>
          <p:nvPr/>
        </p:nvSpPr>
        <p:spPr>
          <a:xfrm>
            <a:off x="2249424" y="1161288"/>
            <a:ext cx="411480" cy="411480"/>
          </a:xfrm>
          <a:prstGeom prst="ellipse">
            <a:avLst/>
          </a:prstGeom>
          <a:solidFill>
            <a:schemeClr val="accent1"/>
          </a:solidFill>
          <a:ln/>
        </p:spPr>
      </p:sp>
      <p:sp>
        <p:nvSpPr>
          <p:cNvPr id="11" name="Text 8"/>
          <p:cNvSpPr txBox="1"/>
          <p:nvPr/>
        </p:nvSpPr>
        <p:spPr>
          <a:xfrm>
            <a:off x="2249424" y="116128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9"/>
          <p:cNvSpPr txBox="1"/>
          <p:nvPr/>
        </p:nvSpPr>
        <p:spPr>
          <a:xfrm>
            <a:off x="2249424" y="1645920"/>
            <a:ext cx="1353312" cy="658368"/>
          </a:xfrm>
          <a:prstGeom prst="rect">
            <a:avLst/>
          </a:prstGeom>
          <a:noFill/>
          <a:ln/>
        </p:spPr>
        <p:txBody>
          <a:bodyPr wrap="square" lIns="0" tIns="0" rIns="0" bIns="0" rtlCol="0" anchor="t"/>
          <a:lstStyle/>
          <a:p>
            <a:pPr indent="0" marL="0">
              <a:buNone/>
            </a:pPr>
            <a:r>
              <a:rPr lang="en-US" sz="1300" b="1" dirty="0">
                <a:solidFill>
                  <a:schemeClr val="tx1"/>
                </a:solidFill>
              </a:rPr>
              <a:t>Fornire le informazioni</a:t>
            </a:r>
            <a:endParaRPr lang="en-US" sz="1300" dirty="0"/>
          </a:p>
        </p:txBody>
      </p:sp>
      <p:sp>
        <p:nvSpPr>
          <p:cNvPr id="13" name="Text 10"/>
          <p:cNvSpPr txBox="1"/>
          <p:nvPr/>
        </p:nvSpPr>
        <p:spPr>
          <a:xfrm>
            <a:off x="2249424" y="2359152"/>
            <a:ext cx="1353312" cy="566928"/>
          </a:xfrm>
          <a:prstGeom prst="rect">
            <a:avLst/>
          </a:prstGeom>
          <a:noFill/>
          <a:ln/>
        </p:spPr>
        <p:txBody>
          <a:bodyPr wrap="square" lIns="0" tIns="0" rIns="0" bIns="0" rtlCol="0" anchor="t"/>
          <a:lstStyle/>
          <a:p>
            <a:pPr indent="0" marL="0">
              <a:buNone/>
            </a:pPr>
            <a:r>
              <a:rPr lang="en-US" sz="1100" dirty="0">
                <a:solidFill>
                  <a:schemeClr val="tx2"/>
                </a:solidFill>
              </a:rPr>
              <a:t>Documenti, contesto, vincoli disponibili</a:t>
            </a:r>
            <a:endParaRPr lang="en-US" sz="1100" dirty="0"/>
          </a:p>
        </p:txBody>
      </p:sp>
      <p:sp>
        <p:nvSpPr>
          <p:cNvPr id="14" name="passaggio 3"/>
          <p:cNvSpPr/>
          <p:nvPr/>
        </p:nvSpPr>
        <p:spPr>
          <a:xfrm>
            <a:off x="3822192" y="1051560"/>
            <a:ext cx="1536192" cy="1920240"/>
          </a:xfrm>
          <a:prstGeom prst="roundRect">
            <a:avLst>
              <a:gd name="adj" fmla="val 4762"/>
            </a:avLst>
          </a:prstGeom>
          <a:solidFill>
            <a:schemeClr val="accent6"/>
          </a:solidFill>
          <a:ln/>
        </p:spPr>
      </p:sp>
      <p:sp>
        <p:nvSpPr>
          <p:cNvPr id="15" name="numero 3"/>
          <p:cNvSpPr/>
          <p:nvPr/>
        </p:nvSpPr>
        <p:spPr>
          <a:xfrm>
            <a:off x="3931920" y="1161288"/>
            <a:ext cx="411480" cy="411480"/>
          </a:xfrm>
          <a:prstGeom prst="ellipse">
            <a:avLst/>
          </a:prstGeom>
          <a:solidFill>
            <a:schemeClr val="accent1"/>
          </a:solidFill>
          <a:ln/>
        </p:spPr>
      </p:sp>
      <p:sp>
        <p:nvSpPr>
          <p:cNvPr id="16" name="Text 13"/>
          <p:cNvSpPr txBox="1"/>
          <p:nvPr/>
        </p:nvSpPr>
        <p:spPr>
          <a:xfrm>
            <a:off x="3931920" y="116128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4"/>
          <p:cNvSpPr txBox="1"/>
          <p:nvPr/>
        </p:nvSpPr>
        <p:spPr>
          <a:xfrm>
            <a:off x="3931920" y="1645920"/>
            <a:ext cx="1353312" cy="658368"/>
          </a:xfrm>
          <a:prstGeom prst="rect">
            <a:avLst/>
          </a:prstGeom>
          <a:noFill/>
          <a:ln/>
        </p:spPr>
        <p:txBody>
          <a:bodyPr wrap="square" lIns="0" tIns="0" rIns="0" bIns="0" rtlCol="0" anchor="t"/>
          <a:lstStyle/>
          <a:p>
            <a:pPr indent="0" marL="0">
              <a:buNone/>
            </a:pPr>
            <a:r>
              <a:rPr lang="en-US" sz="1300" b="1" dirty="0">
                <a:solidFill>
                  <a:schemeClr val="tx1"/>
                </a:solidFill>
              </a:rPr>
              <a:t>Collaborare e perfezionare</a:t>
            </a:r>
            <a:endParaRPr lang="en-US" sz="1300" dirty="0"/>
          </a:p>
        </p:txBody>
      </p:sp>
      <p:sp>
        <p:nvSpPr>
          <p:cNvPr id="18" name="Text 15"/>
          <p:cNvSpPr txBox="1"/>
          <p:nvPr/>
        </p:nvSpPr>
        <p:spPr>
          <a:xfrm>
            <a:off x="3931920" y="2359152"/>
            <a:ext cx="1353312" cy="566928"/>
          </a:xfrm>
          <a:prstGeom prst="rect">
            <a:avLst/>
          </a:prstGeom>
          <a:noFill/>
          <a:ln/>
        </p:spPr>
        <p:txBody>
          <a:bodyPr wrap="square" lIns="0" tIns="0" rIns="0" bIns="0" rtlCol="0" anchor="t"/>
          <a:lstStyle/>
          <a:p>
            <a:pPr indent="0" marL="0">
              <a:buNone/>
            </a:pPr>
            <a:r>
              <a:rPr lang="en-US" sz="1100" dirty="0">
                <a:solidFill>
                  <a:schemeClr val="tx2"/>
                </a:solidFill>
              </a:rPr>
              <a:t>Dialogo, domande dell'AI, feedback precisi</a:t>
            </a:r>
            <a:endParaRPr lang="en-US" sz="1100" dirty="0"/>
          </a:p>
        </p:txBody>
      </p:sp>
      <p:sp>
        <p:nvSpPr>
          <p:cNvPr id="19" name="passaggio 4"/>
          <p:cNvSpPr/>
          <p:nvPr/>
        </p:nvSpPr>
        <p:spPr>
          <a:xfrm>
            <a:off x="5504688" y="1051560"/>
            <a:ext cx="1536192" cy="1920240"/>
          </a:xfrm>
          <a:prstGeom prst="roundRect">
            <a:avLst>
              <a:gd name="adj" fmla="val 4762"/>
            </a:avLst>
          </a:prstGeom>
          <a:solidFill>
            <a:schemeClr val="bg2"/>
          </a:solidFill>
          <a:ln/>
        </p:spPr>
      </p:sp>
      <p:sp>
        <p:nvSpPr>
          <p:cNvPr id="20" name="numero 4"/>
          <p:cNvSpPr/>
          <p:nvPr/>
        </p:nvSpPr>
        <p:spPr>
          <a:xfrm>
            <a:off x="5614416" y="1161288"/>
            <a:ext cx="411480" cy="411480"/>
          </a:xfrm>
          <a:prstGeom prst="ellipse">
            <a:avLst/>
          </a:prstGeom>
          <a:solidFill>
            <a:schemeClr val="accent1"/>
          </a:solidFill>
          <a:ln/>
        </p:spPr>
      </p:sp>
      <p:sp>
        <p:nvSpPr>
          <p:cNvPr id="21" name="Text 18"/>
          <p:cNvSpPr txBox="1"/>
          <p:nvPr/>
        </p:nvSpPr>
        <p:spPr>
          <a:xfrm>
            <a:off x="5614416" y="116128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 19"/>
          <p:cNvSpPr txBox="1"/>
          <p:nvPr/>
        </p:nvSpPr>
        <p:spPr>
          <a:xfrm>
            <a:off x="5614416" y="1645920"/>
            <a:ext cx="1353312" cy="658368"/>
          </a:xfrm>
          <a:prstGeom prst="rect">
            <a:avLst/>
          </a:prstGeom>
          <a:noFill/>
          <a:ln/>
        </p:spPr>
        <p:txBody>
          <a:bodyPr wrap="square" lIns="0" tIns="0" rIns="0" bIns="0" rtlCol="0" anchor="t"/>
          <a:lstStyle/>
          <a:p>
            <a:pPr indent="0" marL="0">
              <a:buNone/>
            </a:pPr>
            <a:r>
              <a:rPr lang="en-US" sz="1300" b="1" dirty="0">
                <a:solidFill>
                  <a:schemeClr val="tx1"/>
                </a:solidFill>
              </a:rPr>
              <a:t>Valutare in proporzione al rischio</a:t>
            </a:r>
            <a:endParaRPr lang="en-US" sz="1300" dirty="0"/>
          </a:p>
        </p:txBody>
      </p:sp>
      <p:sp>
        <p:nvSpPr>
          <p:cNvPr id="23" name="Text 20"/>
          <p:cNvSpPr txBox="1"/>
          <p:nvPr/>
        </p:nvSpPr>
        <p:spPr>
          <a:xfrm>
            <a:off x="5614416" y="2359152"/>
            <a:ext cx="1353312" cy="566928"/>
          </a:xfrm>
          <a:prstGeom prst="rect">
            <a:avLst/>
          </a:prstGeom>
          <a:noFill/>
          <a:ln/>
        </p:spPr>
        <p:txBody>
          <a:bodyPr wrap="square" lIns="0" tIns="0" rIns="0" bIns="0" rtlCol="0" anchor="t"/>
          <a:lstStyle/>
          <a:p>
            <a:pPr indent="0" marL="0">
              <a:buNone/>
            </a:pPr>
            <a:r>
              <a:rPr lang="en-US" sz="1100" dirty="0">
                <a:solidFill>
                  <a:schemeClr val="tx2"/>
                </a:solidFill>
              </a:rPr>
              <a:t>Più controllo dove un errore costa di più</a:t>
            </a:r>
            <a:endParaRPr lang="en-US" sz="1100" dirty="0"/>
          </a:p>
        </p:txBody>
      </p:sp>
      <p:sp>
        <p:nvSpPr>
          <p:cNvPr id="24" name="passaggio 5"/>
          <p:cNvSpPr/>
          <p:nvPr/>
        </p:nvSpPr>
        <p:spPr>
          <a:xfrm>
            <a:off x="7187184" y="1051560"/>
            <a:ext cx="1536192" cy="1920240"/>
          </a:xfrm>
          <a:prstGeom prst="roundRect">
            <a:avLst>
              <a:gd name="adj" fmla="val 4762"/>
            </a:avLst>
          </a:prstGeom>
          <a:solidFill>
            <a:schemeClr val="accent1"/>
          </a:solidFill>
          <a:ln/>
        </p:spPr>
      </p:sp>
      <p:sp>
        <p:nvSpPr>
          <p:cNvPr id="25" name="numero 5"/>
          <p:cNvSpPr/>
          <p:nvPr/>
        </p:nvSpPr>
        <p:spPr>
          <a:xfrm>
            <a:off x="7296912" y="1161288"/>
            <a:ext cx="411480" cy="411480"/>
          </a:xfrm>
          <a:prstGeom prst="ellipse">
            <a:avLst/>
          </a:prstGeom>
          <a:solidFill>
            <a:schemeClr val="bg1"/>
          </a:solidFill>
          <a:ln/>
        </p:spPr>
      </p:sp>
      <p:sp>
        <p:nvSpPr>
          <p:cNvPr id="26" name="Text 23"/>
          <p:cNvSpPr txBox="1"/>
          <p:nvPr/>
        </p:nvSpPr>
        <p:spPr>
          <a:xfrm>
            <a:off x="7296912" y="1161288"/>
            <a:ext cx="411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7" name="Text 24"/>
          <p:cNvSpPr txBox="1"/>
          <p:nvPr/>
        </p:nvSpPr>
        <p:spPr>
          <a:xfrm>
            <a:off x="7296912" y="1645920"/>
            <a:ext cx="1353312" cy="658368"/>
          </a:xfrm>
          <a:prstGeom prst="rect">
            <a:avLst/>
          </a:prstGeom>
          <a:noFill/>
          <a:ln/>
        </p:spPr>
        <p:txBody>
          <a:bodyPr wrap="square" lIns="0" tIns="0" rIns="0" bIns="0" rtlCol="0" anchor="t"/>
          <a:lstStyle/>
          <a:p>
            <a:pPr indent="0" marL="0">
              <a:buNone/>
            </a:pPr>
            <a:r>
              <a:rPr lang="en-US" sz="1300" b="1" dirty="0">
                <a:solidFill>
                  <a:schemeClr val="bg1"/>
                </a:solidFill>
              </a:rPr>
              <a:t>Usare e apprendere</a:t>
            </a:r>
            <a:endParaRPr lang="en-US" sz="1300" dirty="0"/>
          </a:p>
        </p:txBody>
      </p:sp>
      <p:sp>
        <p:nvSpPr>
          <p:cNvPr id="28" name="Text 25"/>
          <p:cNvSpPr txBox="1"/>
          <p:nvPr/>
        </p:nvSpPr>
        <p:spPr>
          <a:xfrm>
            <a:off x="7296912" y="2359152"/>
            <a:ext cx="1353312" cy="566928"/>
          </a:xfrm>
          <a:prstGeom prst="rect">
            <a:avLst/>
          </a:prstGeom>
          <a:noFill/>
          <a:ln/>
        </p:spPr>
        <p:txBody>
          <a:bodyPr wrap="square" lIns="0" tIns="0" rIns="0" bIns="0" rtlCol="0" anchor="t"/>
          <a:lstStyle/>
          <a:p>
            <a:pPr indent="0" marL="0">
              <a:buNone/>
            </a:pPr>
            <a:r>
              <a:rPr lang="en-US" sz="1100" dirty="0">
                <a:solidFill>
                  <a:schemeClr val="accent6"/>
                </a:solidFill>
              </a:rPr>
              <a:t>Applicare il risultato, annotare che cosa ha funzionato</a:t>
            </a:r>
            <a:endParaRPr lang="en-US" sz="1100" dirty="0"/>
          </a:p>
        </p:txBody>
      </p:sp>
      <p:sp>
        <p:nvSpPr>
          <p:cNvPr id="29" name="Text 26"/>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1200" b="1" dirty="0">
                <a:solidFill>
                  <a:schemeClr val="accent2"/>
                </a:solidFill>
              </a:rPr>
              <a:t>Esempio fittizio: un'offerta per un nuovo cliente</a:t>
            </a:r>
            <a:endParaRPr lang="en-US" sz="1200" dirty="0"/>
          </a:p>
        </p:txBody>
      </p:sp>
      <p:sp>
        <p:nvSpPr>
          <p:cNvPr id="30" name="esempio 1"/>
          <p:cNvSpPr/>
          <p:nvPr/>
        </p:nvSpPr>
        <p:spPr>
          <a:xfrm>
            <a:off x="457200" y="3429000"/>
            <a:ext cx="1536192" cy="1097280"/>
          </a:xfrm>
          <a:prstGeom prst="roundRect">
            <a:avLst>
              <a:gd name="adj" fmla="val 6667"/>
            </a:avLst>
          </a:prstGeom>
          <a:solidFill>
            <a:schemeClr val="bg1"/>
          </a:solidFill>
          <a:ln w="12700">
            <a:solidFill>
              <a:schemeClr val="accent3"/>
            </a:solidFill>
            <a:prstDash val="solid"/>
          </a:ln>
        </p:spPr>
      </p:sp>
      <p:sp>
        <p:nvSpPr>
          <p:cNvPr id="31" name="Text 28"/>
          <p:cNvSpPr txBox="1"/>
          <p:nvPr/>
        </p:nvSpPr>
        <p:spPr>
          <a:xfrm>
            <a:off x="548640" y="3429000"/>
            <a:ext cx="1353312" cy="1097280"/>
          </a:xfrm>
          <a:prstGeom prst="rect">
            <a:avLst/>
          </a:prstGeom>
          <a:noFill/>
          <a:ln/>
        </p:spPr>
        <p:txBody>
          <a:bodyPr wrap="square" lIns="0" tIns="0" rIns="0" bIns="0" rtlCol="0" anchor="ctr"/>
          <a:lstStyle/>
          <a:p>
            <a:pPr indent="0" marL="0">
              <a:buNone/>
            </a:pPr>
            <a:r>
              <a:rPr lang="en-US" sz="1100" i="1" dirty="0">
                <a:solidFill>
                  <a:schemeClr val="tx1"/>
                </a:solidFill>
              </a:rPr>
              <a:t>Offerta chiara per un nuovo cliente, entro venerdì</a:t>
            </a:r>
            <a:endParaRPr lang="en-US" sz="1100" dirty="0"/>
          </a:p>
        </p:txBody>
      </p:sp>
      <p:sp>
        <p:nvSpPr>
          <p:cNvPr id="32" name="esempio 2"/>
          <p:cNvSpPr/>
          <p:nvPr/>
        </p:nvSpPr>
        <p:spPr>
          <a:xfrm>
            <a:off x="2139696" y="3429000"/>
            <a:ext cx="1536192" cy="1097280"/>
          </a:xfrm>
          <a:prstGeom prst="roundRect">
            <a:avLst>
              <a:gd name="adj" fmla="val 6667"/>
            </a:avLst>
          </a:prstGeom>
          <a:solidFill>
            <a:schemeClr val="bg1"/>
          </a:solidFill>
          <a:ln w="12700">
            <a:solidFill>
              <a:schemeClr val="accent3"/>
            </a:solidFill>
            <a:prstDash val="solid"/>
          </a:ln>
        </p:spPr>
      </p:sp>
      <p:sp>
        <p:nvSpPr>
          <p:cNvPr id="33" name="Text 30"/>
          <p:cNvSpPr txBox="1"/>
          <p:nvPr/>
        </p:nvSpPr>
        <p:spPr>
          <a:xfrm>
            <a:off x="2231136" y="3429000"/>
            <a:ext cx="1353312" cy="1097280"/>
          </a:xfrm>
          <a:prstGeom prst="rect">
            <a:avLst/>
          </a:prstGeom>
          <a:noFill/>
          <a:ln/>
        </p:spPr>
        <p:txBody>
          <a:bodyPr wrap="square" lIns="0" tIns="0" rIns="0" bIns="0" rtlCol="0" anchor="ctr"/>
          <a:lstStyle/>
          <a:p>
            <a:pPr indent="0" marL="0">
              <a:buNone/>
            </a:pPr>
            <a:r>
              <a:rPr lang="en-US" sz="1100" i="1" dirty="0">
                <a:solidFill>
                  <a:schemeClr val="tx1"/>
                </a:solidFill>
              </a:rPr>
              <a:t>Listino, condizioni standard, note dell'incontro</a:t>
            </a:r>
            <a:endParaRPr lang="en-US" sz="1100" dirty="0"/>
          </a:p>
        </p:txBody>
      </p:sp>
      <p:sp>
        <p:nvSpPr>
          <p:cNvPr id="34" name="esempio 3"/>
          <p:cNvSpPr/>
          <p:nvPr/>
        </p:nvSpPr>
        <p:spPr>
          <a:xfrm>
            <a:off x="3822192" y="3429000"/>
            <a:ext cx="1536192" cy="1097280"/>
          </a:xfrm>
          <a:prstGeom prst="roundRect">
            <a:avLst>
              <a:gd name="adj" fmla="val 6667"/>
            </a:avLst>
          </a:prstGeom>
          <a:solidFill>
            <a:schemeClr val="bg1"/>
          </a:solidFill>
          <a:ln w="12700">
            <a:solidFill>
              <a:schemeClr val="accent3"/>
            </a:solidFill>
            <a:prstDash val="solid"/>
          </a:ln>
        </p:spPr>
      </p:sp>
      <p:sp>
        <p:nvSpPr>
          <p:cNvPr id="35" name="Text 32"/>
          <p:cNvSpPr txBox="1"/>
          <p:nvPr/>
        </p:nvSpPr>
        <p:spPr>
          <a:xfrm>
            <a:off x="3913632" y="3429000"/>
            <a:ext cx="1353312" cy="1097280"/>
          </a:xfrm>
          <a:prstGeom prst="rect">
            <a:avLst/>
          </a:prstGeom>
          <a:noFill/>
          <a:ln/>
        </p:spPr>
        <p:txBody>
          <a:bodyPr wrap="square" lIns="0" tIns="0" rIns="0" bIns="0" rtlCol="0" anchor="ctr"/>
          <a:lstStyle/>
          <a:p>
            <a:pPr indent="0" marL="0">
              <a:buNone/>
            </a:pPr>
            <a:r>
              <a:rPr lang="en-US" sz="1100" i="1" dirty="0">
                <a:solidFill>
                  <a:schemeClr val="tx1"/>
                </a:solidFill>
              </a:rPr>
              <a:t>Bozza, domande dell'AI, correzioni sui prezzi</a:t>
            </a:r>
            <a:endParaRPr lang="en-US" sz="1100" dirty="0"/>
          </a:p>
        </p:txBody>
      </p:sp>
      <p:sp>
        <p:nvSpPr>
          <p:cNvPr id="36" name="esempio 4"/>
          <p:cNvSpPr/>
          <p:nvPr/>
        </p:nvSpPr>
        <p:spPr>
          <a:xfrm>
            <a:off x="5504688" y="3429000"/>
            <a:ext cx="1536192" cy="1097280"/>
          </a:xfrm>
          <a:prstGeom prst="roundRect">
            <a:avLst>
              <a:gd name="adj" fmla="val 6667"/>
            </a:avLst>
          </a:prstGeom>
          <a:solidFill>
            <a:schemeClr val="bg1"/>
          </a:solidFill>
          <a:ln w="12700">
            <a:solidFill>
              <a:schemeClr val="accent3"/>
            </a:solidFill>
            <a:prstDash val="solid"/>
          </a:ln>
        </p:spPr>
      </p:sp>
      <p:sp>
        <p:nvSpPr>
          <p:cNvPr id="37" name="Text 34"/>
          <p:cNvSpPr txBox="1"/>
          <p:nvPr/>
        </p:nvSpPr>
        <p:spPr>
          <a:xfrm>
            <a:off x="5596128" y="3429000"/>
            <a:ext cx="1353312" cy="1097280"/>
          </a:xfrm>
          <a:prstGeom prst="rect">
            <a:avLst/>
          </a:prstGeom>
          <a:noFill/>
          <a:ln/>
        </p:spPr>
        <p:txBody>
          <a:bodyPr wrap="square" lIns="0" tIns="0" rIns="0" bIns="0" rtlCol="0" anchor="ctr"/>
          <a:lstStyle/>
          <a:p>
            <a:pPr indent="0" marL="0">
              <a:buNone/>
            </a:pPr>
            <a:r>
              <a:rPr lang="en-US" sz="1100" i="1" dirty="0">
                <a:solidFill>
                  <a:schemeClr val="tx1"/>
                </a:solidFill>
              </a:rPr>
              <a:t>Controllo puntuale di prezzi e condizioni</a:t>
            </a:r>
            <a:endParaRPr lang="en-US" sz="1100" dirty="0"/>
          </a:p>
        </p:txBody>
      </p:sp>
      <p:sp>
        <p:nvSpPr>
          <p:cNvPr id="38" name="esempio 5"/>
          <p:cNvSpPr/>
          <p:nvPr/>
        </p:nvSpPr>
        <p:spPr>
          <a:xfrm>
            <a:off x="7187184" y="3429000"/>
            <a:ext cx="1536192" cy="1097280"/>
          </a:xfrm>
          <a:prstGeom prst="roundRect">
            <a:avLst>
              <a:gd name="adj" fmla="val 6667"/>
            </a:avLst>
          </a:prstGeom>
          <a:solidFill>
            <a:schemeClr val="bg1"/>
          </a:solidFill>
          <a:ln w="12700">
            <a:solidFill>
              <a:schemeClr val="accent3"/>
            </a:solidFill>
            <a:prstDash val="solid"/>
          </a:ln>
        </p:spPr>
      </p:sp>
      <p:sp>
        <p:nvSpPr>
          <p:cNvPr id="39" name="Text 36"/>
          <p:cNvSpPr txBox="1"/>
          <p:nvPr/>
        </p:nvSpPr>
        <p:spPr>
          <a:xfrm>
            <a:off x="7278624" y="3429000"/>
            <a:ext cx="1353312" cy="1097280"/>
          </a:xfrm>
          <a:prstGeom prst="rect">
            <a:avLst/>
          </a:prstGeom>
          <a:noFill/>
          <a:ln/>
        </p:spPr>
        <p:txBody>
          <a:bodyPr wrap="square" lIns="0" tIns="0" rIns="0" bIns="0" rtlCol="0" anchor="ctr"/>
          <a:lstStyle/>
          <a:p>
            <a:pPr indent="0" marL="0">
              <a:buNone/>
            </a:pPr>
            <a:r>
              <a:rPr lang="en-US" sz="1100" i="1" dirty="0">
                <a:solidFill>
                  <a:schemeClr val="tx1"/>
                </a:solidFill>
              </a:rPr>
              <a:t>Invio; la richiesta riuscita diventa un modello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Principi per un dialogo efficace</a:t>
            </a:r>
            <a:endParaRPr lang="en-US" sz="2600" dirty="0"/>
          </a:p>
        </p:txBody>
      </p:sp>
      <p:sp>
        <p:nvSpPr>
          <p:cNvPr id="4" name="principio 1"/>
          <p:cNvSpPr/>
          <p:nvPr/>
        </p:nvSpPr>
        <p:spPr>
          <a:xfrm>
            <a:off x="457200" y="1024128"/>
            <a:ext cx="8229600" cy="356616"/>
          </a:xfrm>
          <a:prstGeom prst="roundRect">
            <a:avLst>
              <a:gd name="adj" fmla="val 20513"/>
            </a:avLst>
          </a:prstGeom>
          <a:solidFill>
            <a:schemeClr val="bg2"/>
          </a:solidFill>
          <a:ln/>
        </p:spPr>
      </p:sp>
      <p:sp>
        <p:nvSpPr>
          <p:cNvPr id="5" name="Text 2"/>
          <p:cNvSpPr txBox="1"/>
          <p:nvPr/>
        </p:nvSpPr>
        <p:spPr>
          <a:xfrm>
            <a:off x="548640" y="1024128"/>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cerchio FiMessageSquare"/>
          <p:cNvSpPr/>
          <p:nvPr/>
        </p:nvSpPr>
        <p:spPr>
          <a:xfrm>
            <a:off x="914400" y="1051560"/>
            <a:ext cx="301752" cy="301752"/>
          </a:xfrm>
          <a:prstGeom prst="ellipse">
            <a:avLst/>
          </a:prstGeom>
          <a:solidFill>
            <a:schemeClr val="accent1"/>
          </a:solidFill>
          <a:ln/>
        </p:spPr>
      </p:sp>
      <p:pic>
        <p:nvPicPr>
          <p:cNvPr id="7" name="Image 0" descr="FiMessageSquare">    </p:cNvPr>
          <p:cNvPicPr>
            <a:picLocks noChangeAspect="1"/>
          </p:cNvPicPr>
          <p:nvPr/>
        </p:nvPicPr>
        <p:blipFill>
          <a:blip r:embed="rId1"/>
          <a:stretch>
            <a:fillRect/>
          </a:stretch>
        </p:blipFill>
        <p:spPr>
          <a:xfrm>
            <a:off x="989838" y="1126998"/>
            <a:ext cx="150876" cy="150876"/>
          </a:xfrm>
          <a:prstGeom prst="rect">
            <a:avLst/>
          </a:prstGeom>
        </p:spPr>
      </p:pic>
      <p:sp>
        <p:nvSpPr>
          <p:cNvPr id="8" name="Text 4"/>
          <p:cNvSpPr txBox="1"/>
          <p:nvPr/>
        </p:nvSpPr>
        <p:spPr>
          <a:xfrm>
            <a:off x="1371600" y="1024128"/>
            <a:ext cx="7223760" cy="356616"/>
          </a:xfrm>
          <a:prstGeom prst="rect">
            <a:avLst/>
          </a:prstGeom>
          <a:noFill/>
          <a:ln/>
        </p:spPr>
        <p:txBody>
          <a:bodyPr wrap="square" lIns="0" tIns="0" rIns="0" bIns="0" rtlCol="0" anchor="ctr"/>
          <a:lstStyle/>
          <a:p>
            <a:pPr indent="0" marL="0">
              <a:buNone/>
            </a:pPr>
            <a:r>
              <a:rPr lang="en-US" sz="1300" dirty="0">
                <a:solidFill>
                  <a:schemeClr val="tx1"/>
                </a:solidFill>
              </a:rPr>
              <a:t>Dialogare: costruire il risultato in più scambi</a:t>
            </a:r>
            <a:endParaRPr lang="en-US" sz="1300" dirty="0"/>
          </a:p>
        </p:txBody>
      </p:sp>
      <p:sp>
        <p:nvSpPr>
          <p:cNvPr id="9" name="principio 2"/>
          <p:cNvSpPr/>
          <p:nvPr/>
        </p:nvSpPr>
        <p:spPr>
          <a:xfrm>
            <a:off x="457200" y="1426464"/>
            <a:ext cx="8229600" cy="356616"/>
          </a:xfrm>
          <a:prstGeom prst="roundRect">
            <a:avLst>
              <a:gd name="adj" fmla="val 20513"/>
            </a:avLst>
          </a:prstGeom>
          <a:solidFill>
            <a:schemeClr val="bg1"/>
          </a:solidFill>
          <a:ln/>
        </p:spPr>
      </p:sp>
      <p:sp>
        <p:nvSpPr>
          <p:cNvPr id="10" name="Text 6"/>
          <p:cNvSpPr txBox="1"/>
          <p:nvPr/>
        </p:nvSpPr>
        <p:spPr>
          <a:xfrm>
            <a:off x="548640" y="1426464"/>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1" name="cerchio FiHelpCircle"/>
          <p:cNvSpPr/>
          <p:nvPr/>
        </p:nvSpPr>
        <p:spPr>
          <a:xfrm>
            <a:off x="914400" y="1453896"/>
            <a:ext cx="301752" cy="301752"/>
          </a:xfrm>
          <a:prstGeom prst="ellipse">
            <a:avLst/>
          </a:prstGeom>
          <a:solidFill>
            <a:schemeClr val="accent1"/>
          </a:solidFill>
          <a:ln/>
        </p:spPr>
      </p:sp>
      <p:pic>
        <p:nvPicPr>
          <p:cNvPr id="12" name="Image 1" descr="FiHelpCircle">    </p:cNvPr>
          <p:cNvPicPr>
            <a:picLocks noChangeAspect="1"/>
          </p:cNvPicPr>
          <p:nvPr/>
        </p:nvPicPr>
        <p:blipFill>
          <a:blip r:embed="rId2"/>
          <a:stretch>
            <a:fillRect/>
          </a:stretch>
        </p:blipFill>
        <p:spPr>
          <a:xfrm>
            <a:off x="989838" y="1529334"/>
            <a:ext cx="150876" cy="150876"/>
          </a:xfrm>
          <a:prstGeom prst="rect">
            <a:avLst/>
          </a:prstGeom>
        </p:spPr>
      </p:pic>
      <p:sp>
        <p:nvSpPr>
          <p:cNvPr id="13" name="Text 8"/>
          <p:cNvSpPr txBox="1"/>
          <p:nvPr/>
        </p:nvSpPr>
        <p:spPr>
          <a:xfrm>
            <a:off x="1371600" y="1426464"/>
            <a:ext cx="7223760" cy="356616"/>
          </a:xfrm>
          <a:prstGeom prst="rect">
            <a:avLst/>
          </a:prstGeom>
          <a:noFill/>
          <a:ln/>
        </p:spPr>
        <p:txBody>
          <a:bodyPr wrap="square" lIns="0" tIns="0" rIns="0" bIns="0" rtlCol="0" anchor="ctr"/>
          <a:lstStyle/>
          <a:p>
            <a:pPr indent="0" marL="0">
              <a:buNone/>
            </a:pPr>
            <a:r>
              <a:rPr lang="en-US" sz="1300" dirty="0">
                <a:solidFill>
                  <a:schemeClr val="tx1"/>
                </a:solidFill>
              </a:rPr>
              <a:t>Se il compito è poco definito, chiedere all'AI di fare domande</a:t>
            </a:r>
            <a:endParaRPr lang="en-US" sz="1300" dirty="0"/>
          </a:p>
        </p:txBody>
      </p:sp>
      <p:sp>
        <p:nvSpPr>
          <p:cNvPr id="14" name="principio 3"/>
          <p:cNvSpPr/>
          <p:nvPr/>
        </p:nvSpPr>
        <p:spPr>
          <a:xfrm>
            <a:off x="457200" y="1828800"/>
            <a:ext cx="8229600" cy="356616"/>
          </a:xfrm>
          <a:prstGeom prst="roundRect">
            <a:avLst>
              <a:gd name="adj" fmla="val 20513"/>
            </a:avLst>
          </a:prstGeom>
          <a:solidFill>
            <a:schemeClr val="bg2"/>
          </a:solidFill>
          <a:ln/>
        </p:spPr>
      </p:sp>
      <p:sp>
        <p:nvSpPr>
          <p:cNvPr id="15" name="Text 10"/>
          <p:cNvSpPr txBox="1"/>
          <p:nvPr/>
        </p:nvSpPr>
        <p:spPr>
          <a:xfrm>
            <a:off x="548640" y="1828800"/>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6" name="cerchio FiUsers"/>
          <p:cNvSpPr/>
          <p:nvPr/>
        </p:nvSpPr>
        <p:spPr>
          <a:xfrm>
            <a:off x="914400" y="1856232"/>
            <a:ext cx="301752" cy="301752"/>
          </a:xfrm>
          <a:prstGeom prst="ellipse">
            <a:avLst/>
          </a:prstGeom>
          <a:solidFill>
            <a:schemeClr val="accent1"/>
          </a:solidFill>
          <a:ln/>
        </p:spPr>
      </p:sp>
      <p:pic>
        <p:nvPicPr>
          <p:cNvPr id="17" name="Image 2" descr="FiUsers">    </p:cNvPr>
          <p:cNvPicPr>
            <a:picLocks noChangeAspect="1"/>
          </p:cNvPicPr>
          <p:nvPr/>
        </p:nvPicPr>
        <p:blipFill>
          <a:blip r:embed="rId3"/>
          <a:stretch>
            <a:fillRect/>
          </a:stretch>
        </p:blipFill>
        <p:spPr>
          <a:xfrm>
            <a:off x="989838" y="1931670"/>
            <a:ext cx="150876" cy="150876"/>
          </a:xfrm>
          <a:prstGeom prst="rect">
            <a:avLst/>
          </a:prstGeom>
        </p:spPr>
      </p:pic>
      <p:sp>
        <p:nvSpPr>
          <p:cNvPr id="18" name="Text 12"/>
          <p:cNvSpPr txBox="1"/>
          <p:nvPr/>
        </p:nvSpPr>
        <p:spPr>
          <a:xfrm>
            <a:off x="1371600" y="1828800"/>
            <a:ext cx="7223760" cy="356616"/>
          </a:xfrm>
          <a:prstGeom prst="rect">
            <a:avLst/>
          </a:prstGeom>
          <a:noFill/>
          <a:ln/>
        </p:spPr>
        <p:txBody>
          <a:bodyPr wrap="square" lIns="0" tIns="0" rIns="0" bIns="0" rtlCol="0" anchor="ctr"/>
          <a:lstStyle/>
          <a:p>
            <a:pPr indent="0" marL="0">
              <a:buNone/>
            </a:pPr>
            <a:r>
              <a:rPr lang="en-US" sz="1300" dirty="0">
                <a:solidFill>
                  <a:schemeClr val="tx1"/>
                </a:solidFill>
              </a:rPr>
              <a:t>Scegliere il ruolo adatto: fonte, revisore, tutor, interlocutore critico</a:t>
            </a:r>
            <a:endParaRPr lang="en-US" sz="1300" dirty="0"/>
          </a:p>
        </p:txBody>
      </p:sp>
      <p:sp>
        <p:nvSpPr>
          <p:cNvPr id="19" name="principio 4"/>
          <p:cNvSpPr/>
          <p:nvPr/>
        </p:nvSpPr>
        <p:spPr>
          <a:xfrm>
            <a:off x="457200" y="2231136"/>
            <a:ext cx="8229600" cy="356616"/>
          </a:xfrm>
          <a:prstGeom prst="roundRect">
            <a:avLst>
              <a:gd name="adj" fmla="val 20513"/>
            </a:avLst>
          </a:prstGeom>
          <a:solidFill>
            <a:schemeClr val="bg1"/>
          </a:solidFill>
          <a:ln/>
        </p:spPr>
      </p:sp>
      <p:sp>
        <p:nvSpPr>
          <p:cNvPr id="20" name="Text 14"/>
          <p:cNvSpPr txBox="1"/>
          <p:nvPr/>
        </p:nvSpPr>
        <p:spPr>
          <a:xfrm>
            <a:off x="548640" y="2231136"/>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21" name="cerchio FiShield"/>
          <p:cNvSpPr/>
          <p:nvPr/>
        </p:nvSpPr>
        <p:spPr>
          <a:xfrm>
            <a:off x="914400" y="2258568"/>
            <a:ext cx="301752" cy="301752"/>
          </a:xfrm>
          <a:prstGeom prst="ellipse">
            <a:avLst/>
          </a:prstGeom>
          <a:solidFill>
            <a:schemeClr val="accent1"/>
          </a:solidFill>
          <a:ln/>
        </p:spPr>
      </p:sp>
      <p:pic>
        <p:nvPicPr>
          <p:cNvPr id="22" name="Image 3" descr="FiShield">    </p:cNvPr>
          <p:cNvPicPr>
            <a:picLocks noChangeAspect="1"/>
          </p:cNvPicPr>
          <p:nvPr/>
        </p:nvPicPr>
        <p:blipFill>
          <a:blip r:embed="rId4"/>
          <a:stretch>
            <a:fillRect/>
          </a:stretch>
        </p:blipFill>
        <p:spPr>
          <a:xfrm>
            <a:off x="989838" y="2334006"/>
            <a:ext cx="150876" cy="150876"/>
          </a:xfrm>
          <a:prstGeom prst="rect">
            <a:avLst/>
          </a:prstGeom>
        </p:spPr>
      </p:pic>
      <p:sp>
        <p:nvSpPr>
          <p:cNvPr id="23" name="Text 16"/>
          <p:cNvSpPr txBox="1"/>
          <p:nvPr/>
        </p:nvSpPr>
        <p:spPr>
          <a:xfrm>
            <a:off x="1371600" y="2231136"/>
            <a:ext cx="7223760" cy="356616"/>
          </a:xfrm>
          <a:prstGeom prst="rect">
            <a:avLst/>
          </a:prstGeom>
          <a:noFill/>
          <a:ln/>
        </p:spPr>
        <p:txBody>
          <a:bodyPr wrap="square" lIns="0" tIns="0" rIns="0" bIns="0" rtlCol="0" anchor="ctr"/>
          <a:lstStyle/>
          <a:p>
            <a:pPr indent="0" marL="0">
              <a:buNone/>
            </a:pPr>
            <a:r>
              <a:rPr lang="en-US" sz="1300" dirty="0">
                <a:solidFill>
                  <a:schemeClr val="tx1"/>
                </a:solidFill>
              </a:rPr>
              <a:t>Chiedere critiche e alternative sulle decisioni importanti</a:t>
            </a:r>
            <a:endParaRPr lang="en-US" sz="1300" dirty="0"/>
          </a:p>
        </p:txBody>
      </p:sp>
      <p:sp>
        <p:nvSpPr>
          <p:cNvPr id="24" name="principio 5"/>
          <p:cNvSpPr/>
          <p:nvPr/>
        </p:nvSpPr>
        <p:spPr>
          <a:xfrm>
            <a:off x="457200" y="2633472"/>
            <a:ext cx="8229600" cy="356616"/>
          </a:xfrm>
          <a:prstGeom prst="roundRect">
            <a:avLst>
              <a:gd name="adj" fmla="val 20513"/>
            </a:avLst>
          </a:prstGeom>
          <a:solidFill>
            <a:schemeClr val="bg2"/>
          </a:solidFill>
          <a:ln/>
        </p:spPr>
      </p:sp>
      <p:sp>
        <p:nvSpPr>
          <p:cNvPr id="25" name="Text 18"/>
          <p:cNvSpPr txBox="1"/>
          <p:nvPr/>
        </p:nvSpPr>
        <p:spPr>
          <a:xfrm>
            <a:off x="548640" y="2633472"/>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6" name="cerchio FiMap"/>
          <p:cNvSpPr/>
          <p:nvPr/>
        </p:nvSpPr>
        <p:spPr>
          <a:xfrm>
            <a:off x="914400" y="2660904"/>
            <a:ext cx="301752" cy="301752"/>
          </a:xfrm>
          <a:prstGeom prst="ellipse">
            <a:avLst/>
          </a:prstGeom>
          <a:solidFill>
            <a:schemeClr val="accent1"/>
          </a:solidFill>
          <a:ln/>
        </p:spPr>
      </p:sp>
      <p:pic>
        <p:nvPicPr>
          <p:cNvPr id="27" name="Image 4" descr="FiMap">    </p:cNvPr>
          <p:cNvPicPr>
            <a:picLocks noChangeAspect="1"/>
          </p:cNvPicPr>
          <p:nvPr/>
        </p:nvPicPr>
        <p:blipFill>
          <a:blip r:embed="rId5"/>
          <a:stretch>
            <a:fillRect/>
          </a:stretch>
        </p:blipFill>
        <p:spPr>
          <a:xfrm>
            <a:off x="989838" y="2736342"/>
            <a:ext cx="150876" cy="150876"/>
          </a:xfrm>
          <a:prstGeom prst="rect">
            <a:avLst/>
          </a:prstGeom>
        </p:spPr>
      </p:pic>
      <p:sp>
        <p:nvSpPr>
          <p:cNvPr id="28" name="Text 20"/>
          <p:cNvSpPr txBox="1"/>
          <p:nvPr/>
        </p:nvSpPr>
        <p:spPr>
          <a:xfrm>
            <a:off x="1371600" y="2633472"/>
            <a:ext cx="7223760" cy="356616"/>
          </a:xfrm>
          <a:prstGeom prst="rect">
            <a:avLst/>
          </a:prstGeom>
          <a:noFill/>
          <a:ln/>
        </p:spPr>
        <p:txBody>
          <a:bodyPr wrap="square" lIns="0" tIns="0" rIns="0" bIns="0" rtlCol="0" anchor="ctr"/>
          <a:lstStyle/>
          <a:p>
            <a:pPr indent="0" marL="0">
              <a:buNone/>
            </a:pPr>
            <a:r>
              <a:rPr lang="en-US" sz="1300" dirty="0">
                <a:solidFill>
                  <a:schemeClr val="tx1"/>
                </a:solidFill>
              </a:rPr>
              <a:t>Portare il contesto: obiettivi, pubblico, vincoli, documenti</a:t>
            </a:r>
            <a:endParaRPr lang="en-US" sz="1300" dirty="0"/>
          </a:p>
        </p:txBody>
      </p:sp>
      <p:sp>
        <p:nvSpPr>
          <p:cNvPr id="29" name="principio 6"/>
          <p:cNvSpPr/>
          <p:nvPr/>
        </p:nvSpPr>
        <p:spPr>
          <a:xfrm>
            <a:off x="457200" y="3035808"/>
            <a:ext cx="8229600" cy="356616"/>
          </a:xfrm>
          <a:prstGeom prst="roundRect">
            <a:avLst>
              <a:gd name="adj" fmla="val 20513"/>
            </a:avLst>
          </a:prstGeom>
          <a:solidFill>
            <a:schemeClr val="bg1"/>
          </a:solidFill>
          <a:ln/>
        </p:spPr>
      </p:sp>
      <p:sp>
        <p:nvSpPr>
          <p:cNvPr id="30" name="Text 22"/>
          <p:cNvSpPr txBox="1"/>
          <p:nvPr/>
        </p:nvSpPr>
        <p:spPr>
          <a:xfrm>
            <a:off x="548640" y="3035808"/>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31" name="cerchio FiSliders"/>
          <p:cNvSpPr/>
          <p:nvPr/>
        </p:nvSpPr>
        <p:spPr>
          <a:xfrm>
            <a:off x="914400" y="3063240"/>
            <a:ext cx="301752" cy="301752"/>
          </a:xfrm>
          <a:prstGeom prst="ellipse">
            <a:avLst/>
          </a:prstGeom>
          <a:solidFill>
            <a:schemeClr val="accent1"/>
          </a:solidFill>
          <a:ln/>
        </p:spPr>
      </p:sp>
      <p:pic>
        <p:nvPicPr>
          <p:cNvPr id="32" name="Image 5" descr="FiSliders">    </p:cNvPr>
          <p:cNvPicPr>
            <a:picLocks noChangeAspect="1"/>
          </p:cNvPicPr>
          <p:nvPr/>
        </p:nvPicPr>
        <p:blipFill>
          <a:blip r:embed="rId6"/>
          <a:stretch>
            <a:fillRect/>
          </a:stretch>
        </p:blipFill>
        <p:spPr>
          <a:xfrm>
            <a:off x="989838" y="3138678"/>
            <a:ext cx="150876" cy="150876"/>
          </a:xfrm>
          <a:prstGeom prst="rect">
            <a:avLst/>
          </a:prstGeom>
        </p:spPr>
      </p:pic>
      <p:sp>
        <p:nvSpPr>
          <p:cNvPr id="33" name="Text 24"/>
          <p:cNvSpPr txBox="1"/>
          <p:nvPr/>
        </p:nvSpPr>
        <p:spPr>
          <a:xfrm>
            <a:off x="1371600" y="3035808"/>
            <a:ext cx="7223760" cy="356616"/>
          </a:xfrm>
          <a:prstGeom prst="rect">
            <a:avLst/>
          </a:prstGeom>
          <a:noFill/>
          <a:ln/>
        </p:spPr>
        <p:txBody>
          <a:bodyPr wrap="square" lIns="0" tIns="0" rIns="0" bIns="0" rtlCol="0" anchor="ctr"/>
          <a:lstStyle/>
          <a:p>
            <a:pPr indent="0" marL="0">
              <a:buNone/>
            </a:pPr>
            <a:r>
              <a:rPr lang="en-US" sz="1300" dirty="0">
                <a:solidFill>
                  <a:schemeClr val="tx1"/>
                </a:solidFill>
              </a:rPr>
              <a:t>Aumentare la delega quando il compito è ripetitivo, verificabile e controllato</a:t>
            </a:r>
            <a:endParaRPr lang="en-US" sz="1300" dirty="0"/>
          </a:p>
        </p:txBody>
      </p:sp>
      <p:sp>
        <p:nvSpPr>
          <p:cNvPr id="34" name="principio 7"/>
          <p:cNvSpPr/>
          <p:nvPr/>
        </p:nvSpPr>
        <p:spPr>
          <a:xfrm>
            <a:off x="457200" y="3438144"/>
            <a:ext cx="8229600" cy="356616"/>
          </a:xfrm>
          <a:prstGeom prst="roundRect">
            <a:avLst>
              <a:gd name="adj" fmla="val 20513"/>
            </a:avLst>
          </a:prstGeom>
          <a:solidFill>
            <a:schemeClr val="bg2"/>
          </a:solidFill>
          <a:ln/>
        </p:spPr>
      </p:sp>
      <p:sp>
        <p:nvSpPr>
          <p:cNvPr id="35" name="Text 26"/>
          <p:cNvSpPr txBox="1"/>
          <p:nvPr/>
        </p:nvSpPr>
        <p:spPr>
          <a:xfrm>
            <a:off x="548640" y="3438144"/>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6" name="cerchio FiEdit"/>
          <p:cNvSpPr/>
          <p:nvPr/>
        </p:nvSpPr>
        <p:spPr>
          <a:xfrm>
            <a:off x="914400" y="3465576"/>
            <a:ext cx="301752" cy="301752"/>
          </a:xfrm>
          <a:prstGeom prst="ellipse">
            <a:avLst/>
          </a:prstGeom>
          <a:solidFill>
            <a:schemeClr val="accent1"/>
          </a:solidFill>
          <a:ln/>
        </p:spPr>
      </p:sp>
      <p:pic>
        <p:nvPicPr>
          <p:cNvPr id="37" name="Image 6" descr="FiEdit">    </p:cNvPr>
          <p:cNvPicPr>
            <a:picLocks noChangeAspect="1"/>
          </p:cNvPicPr>
          <p:nvPr/>
        </p:nvPicPr>
        <p:blipFill>
          <a:blip r:embed="rId7"/>
          <a:stretch>
            <a:fillRect/>
          </a:stretch>
        </p:blipFill>
        <p:spPr>
          <a:xfrm>
            <a:off x="989838" y="3541014"/>
            <a:ext cx="150876" cy="150876"/>
          </a:xfrm>
          <a:prstGeom prst="rect">
            <a:avLst/>
          </a:prstGeom>
        </p:spPr>
      </p:pic>
      <p:sp>
        <p:nvSpPr>
          <p:cNvPr id="38" name="Text 28"/>
          <p:cNvSpPr txBox="1"/>
          <p:nvPr/>
        </p:nvSpPr>
        <p:spPr>
          <a:xfrm>
            <a:off x="1371600" y="3438144"/>
            <a:ext cx="7223760" cy="356616"/>
          </a:xfrm>
          <a:prstGeom prst="rect">
            <a:avLst/>
          </a:prstGeom>
          <a:noFill/>
          <a:ln/>
        </p:spPr>
        <p:txBody>
          <a:bodyPr wrap="square" lIns="0" tIns="0" rIns="0" bIns="0" rtlCol="0" anchor="ctr"/>
          <a:lstStyle/>
          <a:p>
            <a:pPr indent="0" marL="0">
              <a:buNone/>
            </a:pPr>
            <a:r>
              <a:rPr lang="en-US" sz="1300" dirty="0">
                <a:solidFill>
                  <a:schemeClr val="tx1"/>
                </a:solidFill>
              </a:rPr>
              <a:t>Dare feedback precisi: è la leva più rapida per migliorare</a:t>
            </a:r>
            <a:endParaRPr lang="en-US" sz="1300" dirty="0"/>
          </a:p>
        </p:txBody>
      </p:sp>
      <p:sp>
        <p:nvSpPr>
          <p:cNvPr id="39" name="principio 8"/>
          <p:cNvSpPr/>
          <p:nvPr/>
        </p:nvSpPr>
        <p:spPr>
          <a:xfrm>
            <a:off x="457200" y="3840480"/>
            <a:ext cx="8229600" cy="356616"/>
          </a:xfrm>
          <a:prstGeom prst="roundRect">
            <a:avLst>
              <a:gd name="adj" fmla="val 20513"/>
            </a:avLst>
          </a:prstGeom>
          <a:solidFill>
            <a:schemeClr val="bg1"/>
          </a:solidFill>
          <a:ln/>
        </p:spPr>
      </p:sp>
      <p:sp>
        <p:nvSpPr>
          <p:cNvPr id="40" name="Text 30"/>
          <p:cNvSpPr txBox="1"/>
          <p:nvPr/>
        </p:nvSpPr>
        <p:spPr>
          <a:xfrm>
            <a:off x="548640" y="3840480"/>
            <a:ext cx="320040" cy="356616"/>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41" name="cerchio FiUserCheck"/>
          <p:cNvSpPr/>
          <p:nvPr/>
        </p:nvSpPr>
        <p:spPr>
          <a:xfrm>
            <a:off x="914400" y="3867912"/>
            <a:ext cx="301752" cy="301752"/>
          </a:xfrm>
          <a:prstGeom prst="ellipse">
            <a:avLst/>
          </a:prstGeom>
          <a:solidFill>
            <a:schemeClr val="accent1"/>
          </a:solidFill>
          <a:ln/>
        </p:spPr>
      </p:sp>
      <p:pic>
        <p:nvPicPr>
          <p:cNvPr id="42" name="Image 7" descr="FiUserCheck">    </p:cNvPr>
          <p:cNvPicPr>
            <a:picLocks noChangeAspect="1"/>
          </p:cNvPicPr>
          <p:nvPr/>
        </p:nvPicPr>
        <p:blipFill>
          <a:blip r:embed="rId8"/>
          <a:stretch>
            <a:fillRect/>
          </a:stretch>
        </p:blipFill>
        <p:spPr>
          <a:xfrm>
            <a:off x="989838" y="3943350"/>
            <a:ext cx="150876" cy="150876"/>
          </a:xfrm>
          <a:prstGeom prst="rect">
            <a:avLst/>
          </a:prstGeom>
        </p:spPr>
      </p:pic>
      <p:sp>
        <p:nvSpPr>
          <p:cNvPr id="43" name="Text 32"/>
          <p:cNvSpPr txBox="1"/>
          <p:nvPr/>
        </p:nvSpPr>
        <p:spPr>
          <a:xfrm>
            <a:off x="1371600" y="3840480"/>
            <a:ext cx="7223760" cy="356616"/>
          </a:xfrm>
          <a:prstGeom prst="rect">
            <a:avLst/>
          </a:prstGeom>
          <a:noFill/>
          <a:ln/>
        </p:spPr>
        <p:txBody>
          <a:bodyPr wrap="square" lIns="0" tIns="0" rIns="0" bIns="0" rtlCol="0" anchor="ctr"/>
          <a:lstStyle/>
          <a:p>
            <a:pPr indent="0" marL="0">
              <a:buNone/>
            </a:pPr>
            <a:r>
              <a:rPr lang="en-US" sz="1300" dirty="0">
                <a:solidFill>
                  <a:schemeClr val="tx1"/>
                </a:solidFill>
              </a:rPr>
              <a:t>Calibrare la fiducia sul compito, non sul tono della risposta</a:t>
            </a:r>
            <a:endParaRPr lang="en-US" sz="1300" dirty="0"/>
          </a:p>
        </p:txBody>
      </p:sp>
      <p:sp>
        <p:nvSpPr>
          <p:cNvPr id="44" name="messaggio"/>
          <p:cNvSpPr/>
          <p:nvPr/>
        </p:nvSpPr>
        <p:spPr>
          <a:xfrm>
            <a:off x="457200" y="4297680"/>
            <a:ext cx="8229600" cy="384048"/>
          </a:xfrm>
          <a:prstGeom prst="roundRect">
            <a:avLst>
              <a:gd name="adj" fmla="val 19048"/>
            </a:avLst>
          </a:prstGeom>
          <a:solidFill>
            <a:schemeClr val="tx1"/>
          </a:solidFill>
          <a:ln/>
        </p:spPr>
      </p:sp>
      <p:sp>
        <p:nvSpPr>
          <p:cNvPr id="45" name="Text 34"/>
          <p:cNvSpPr txBox="1"/>
          <p:nvPr/>
        </p:nvSpPr>
        <p:spPr>
          <a:xfrm>
            <a:off x="640080" y="4297680"/>
            <a:ext cx="7863840" cy="384048"/>
          </a:xfrm>
          <a:prstGeom prst="rect">
            <a:avLst/>
          </a:prstGeom>
          <a:noFill/>
          <a:ln/>
        </p:spPr>
        <p:txBody>
          <a:bodyPr wrap="square" lIns="0" tIns="0" rIns="0" bIns="0" rtlCol="0" anchor="ctr"/>
          <a:lstStyle/>
          <a:p>
            <a:pPr indent="0" marL="0">
              <a:buNone/>
            </a:pPr>
            <a:r>
              <a:rPr lang="en-US" sz="1200" dirty="0">
                <a:solidFill>
                  <a:schemeClr val="bg1"/>
                </a:solidFill>
              </a:rPr>
              <a:t>Il valore nasce dalla combinazione delle capacità dell'AI, delle competenze umane e di un controllo adeguato al contesto.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Prossimo passo: il Tema 6</a:t>
            </a:r>
            <a:endParaRPr lang="en-US" sz="2600" dirty="0"/>
          </a:p>
        </p:txBody>
      </p:sp>
      <p:sp>
        <p:nvSpPr>
          <p:cNvPr id="4" name="tema 5"/>
          <p:cNvSpPr/>
          <p:nvPr/>
        </p:nvSpPr>
        <p:spPr>
          <a:xfrm>
            <a:off x="457200" y="1097280"/>
            <a:ext cx="3291840" cy="3429000"/>
          </a:xfrm>
          <a:prstGeom prst="roundRect">
            <a:avLst>
              <a:gd name="adj" fmla="val 2222"/>
            </a:avLst>
          </a:prstGeom>
          <a:solidFill>
            <a:schemeClr val="bg2"/>
          </a:solidFill>
          <a:ln/>
        </p:spPr>
      </p:sp>
      <p:sp>
        <p:nvSpPr>
          <p:cNvPr id="5" name="Text 2"/>
          <p:cNvSpPr txBox="1"/>
          <p:nvPr/>
        </p:nvSpPr>
        <p:spPr>
          <a:xfrm>
            <a:off x="685800" y="1280160"/>
            <a:ext cx="283464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TEMA 5</a:t>
            </a:r>
            <a:endParaRPr lang="en-US" sz="1300" dirty="0"/>
          </a:p>
        </p:txBody>
      </p:sp>
      <p:sp>
        <p:nvSpPr>
          <p:cNvPr id="6" name="Text 3"/>
          <p:cNvSpPr txBox="1"/>
          <p:nvPr/>
        </p:nvSpPr>
        <p:spPr>
          <a:xfrm>
            <a:off x="685800" y="1645920"/>
            <a:ext cx="2834640" cy="457200"/>
          </a:xfrm>
          <a:prstGeom prst="rect">
            <a:avLst/>
          </a:prstGeom>
          <a:noFill/>
          <a:ln/>
        </p:spPr>
        <p:txBody>
          <a:bodyPr wrap="square" lIns="0" tIns="0" rIns="0" bIns="0" rtlCol="0" anchor="t"/>
          <a:lstStyle/>
          <a:p>
            <a:pPr indent="0" marL="0">
              <a:buNone/>
            </a:pPr>
            <a:r>
              <a:rPr lang="en-US" sz="1800" b="1" dirty="0">
                <a:solidFill>
                  <a:schemeClr val="tx1"/>
                </a:solidFill>
              </a:rPr>
              <a:t>Il dialogo uomo-AI</a:t>
            </a:r>
            <a:endParaRPr lang="en-US" sz="1800" dirty="0"/>
          </a:p>
        </p:txBody>
      </p:sp>
      <p:sp>
        <p:nvSpPr>
          <p:cNvPr id="7" name="Text 4"/>
          <p:cNvSpPr txBox="1"/>
          <p:nvPr/>
        </p:nvSpPr>
        <p:spPr>
          <a:xfrm>
            <a:off x="685800" y="2240280"/>
            <a:ext cx="2834640" cy="20116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Dialogare e collaborare con l'AI</a:t>
            </a:r>
            <a:endParaRPr lang="en-US" sz="1400" dirty="0"/>
          </a:p>
          <a:p>
            <a:pPr marL="177800" indent="-177800">
              <a:spcAft>
                <a:spcPts val="400"/>
              </a:spcAft>
              <a:buSzPct val="100000"/>
              <a:buChar char="•"/>
            </a:pPr>
            <a:r>
              <a:rPr lang="en-US" sz="1400" dirty="0">
                <a:solidFill>
                  <a:schemeClr val="tx2"/>
                </a:solidFill>
              </a:rPr>
              <a:t>Scegliere ruoli e livelli di delega</a:t>
            </a:r>
            <a:endParaRPr lang="en-US" sz="1400" dirty="0"/>
          </a:p>
          <a:p>
            <a:pPr marL="177800" indent="-177800">
              <a:spcAft>
                <a:spcPts val="400"/>
              </a:spcAft>
              <a:buSzPct val="100000"/>
              <a:buChar char="•"/>
            </a:pPr>
            <a:r>
              <a:rPr lang="en-US" sz="1400" dirty="0">
                <a:solidFill>
                  <a:schemeClr val="tx2"/>
                </a:solidFill>
              </a:rPr>
              <a:t>Il contributo della persona</a:t>
            </a:r>
            <a:endParaRPr lang="en-US" sz="1400" dirty="0"/>
          </a:p>
          <a:p>
            <a:pPr marL="177800" indent="-177800">
              <a:spcAft>
                <a:spcPts val="400"/>
              </a:spcAft>
              <a:buSzPct val="100000"/>
              <a:buChar char="•"/>
            </a:pPr>
            <a:r>
              <a:rPr lang="en-US" sz="1400" dirty="0">
                <a:solidFill>
                  <a:schemeClr val="tx2"/>
                </a:solidFill>
              </a:rPr>
              <a:t>Una fiducia calibrata</a:t>
            </a:r>
            <a:endParaRPr lang="en-US" sz="1400" dirty="0"/>
          </a:p>
        </p:txBody>
      </p:sp>
      <p:sp>
        <p:nvSpPr>
          <p:cNvPr id="8" name="freccia"/>
          <p:cNvSpPr/>
          <p:nvPr/>
        </p:nvSpPr>
        <p:spPr>
          <a:xfrm>
            <a:off x="3886200" y="2651760"/>
            <a:ext cx="502920" cy="292608"/>
          </a:xfrm>
          <a:prstGeom prst="rightArrow">
            <a:avLst/>
          </a:prstGeom>
          <a:solidFill>
            <a:schemeClr val="accent1"/>
          </a:solidFill>
          <a:ln/>
        </p:spPr>
      </p:sp>
      <p:sp>
        <p:nvSpPr>
          <p:cNvPr id="9" name="tema 6"/>
          <p:cNvSpPr/>
          <p:nvPr/>
        </p:nvSpPr>
        <p:spPr>
          <a:xfrm>
            <a:off x="4526280" y="1097280"/>
            <a:ext cx="4160520" cy="3429000"/>
          </a:xfrm>
          <a:prstGeom prst="roundRect">
            <a:avLst>
              <a:gd name="adj" fmla="val 2133"/>
            </a:avLst>
          </a:prstGeom>
          <a:solidFill>
            <a:schemeClr val="tx1"/>
          </a:solidFill>
          <a:ln/>
        </p:spPr>
      </p:sp>
      <p:sp>
        <p:nvSpPr>
          <p:cNvPr id="10" name="Text 7"/>
          <p:cNvSpPr txBox="1"/>
          <p:nvPr/>
        </p:nvSpPr>
        <p:spPr>
          <a:xfrm>
            <a:off x="4754880" y="1280160"/>
            <a:ext cx="36576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TEMA 6</a:t>
            </a:r>
            <a:endParaRPr lang="en-US" sz="1300" dirty="0"/>
          </a:p>
        </p:txBody>
      </p:sp>
      <p:sp>
        <p:nvSpPr>
          <p:cNvPr id="11" name="Text 8"/>
          <p:cNvSpPr txBox="1"/>
          <p:nvPr/>
        </p:nvSpPr>
        <p:spPr>
          <a:xfrm>
            <a:off x="4754880" y="1645920"/>
            <a:ext cx="3749040" cy="640080"/>
          </a:xfrm>
          <a:prstGeom prst="rect">
            <a:avLst/>
          </a:prstGeom>
          <a:noFill/>
          <a:ln/>
        </p:spPr>
        <p:txBody>
          <a:bodyPr wrap="square" lIns="0" tIns="0" rIns="0" bIns="0" rtlCol="0" anchor="t"/>
          <a:lstStyle/>
          <a:p>
            <a:pPr indent="0" marL="0">
              <a:buNone/>
            </a:pPr>
            <a:r>
              <a:rPr lang="en-US" sz="1800" b="1" dirty="0">
                <a:solidFill>
                  <a:schemeClr val="bg1"/>
                </a:solidFill>
              </a:rPr>
              <a:t>Prompting e tecniche di interazione</a:t>
            </a:r>
            <a:endParaRPr lang="en-US" sz="1800" dirty="0"/>
          </a:p>
        </p:txBody>
      </p:sp>
      <p:sp>
        <p:nvSpPr>
          <p:cNvPr id="12" name="Text 9"/>
          <p:cNvSpPr txBox="1"/>
          <p:nvPr/>
        </p:nvSpPr>
        <p:spPr>
          <a:xfrm>
            <a:off x="4754880" y="2377440"/>
            <a:ext cx="3749040" cy="2011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accent3"/>
                </a:solidFill>
              </a:rPr>
              <a:t>Dal perché del dialogo al come</a:t>
            </a:r>
            <a:endParaRPr lang="en-US" sz="1400" dirty="0"/>
          </a:p>
          <a:p>
            <a:pPr marL="177800" indent="-177800">
              <a:spcAft>
                <a:spcPts val="300"/>
              </a:spcAft>
              <a:buSzPct val="100000"/>
              <a:buChar char="•"/>
            </a:pPr>
            <a:r>
              <a:rPr lang="en-US" sz="1400" dirty="0">
                <a:solidFill>
                  <a:schemeClr val="accent3"/>
                </a:solidFill>
              </a:rPr>
              <a:t>Formulare richieste efficaci</a:t>
            </a:r>
            <a:endParaRPr lang="en-US" sz="1400" dirty="0"/>
          </a:p>
          <a:p>
            <a:pPr marL="177800" indent="-177800">
              <a:spcAft>
                <a:spcPts val="300"/>
              </a:spcAft>
              <a:buSzPct val="100000"/>
              <a:buChar char="•"/>
            </a:pPr>
            <a:r>
              <a:rPr lang="en-US" sz="1400" dirty="0">
                <a:solidFill>
                  <a:schemeClr val="accent3"/>
                </a:solidFill>
              </a:rPr>
              <a:t>Contesto, esempi, ruoli, formati</a:t>
            </a:r>
            <a:endParaRPr lang="en-US" sz="1400" dirty="0"/>
          </a:p>
          <a:p>
            <a:pPr marL="177800" indent="-177800">
              <a:spcAft>
                <a:spcPts val="300"/>
              </a:spcAft>
              <a:buSzPct val="100000"/>
              <a:buChar char="•"/>
            </a:pPr>
            <a:r>
              <a:rPr lang="en-US" sz="1400" dirty="0">
                <a:solidFill>
                  <a:schemeClr val="accent3"/>
                </a:solidFill>
              </a:rPr>
              <a:t>Perfezionare le richieste</a:t>
            </a:r>
            <a:endParaRPr lang="en-US" sz="1400" dirty="0"/>
          </a:p>
          <a:p>
            <a:pPr marL="177800" indent="-177800">
              <a:spcAft>
                <a:spcPts val="300"/>
              </a:spcAft>
              <a:buSzPct val="100000"/>
              <a:buChar char="•"/>
            </a:pPr>
            <a:r>
              <a:rPr lang="en-US" sz="1400" dirty="0">
                <a:solidFill>
                  <a:schemeClr val="accent3"/>
                </a:solidFill>
              </a:rPr>
              <a:t>Poi, Tema 7: verifica e pensiero critico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274320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Weizenbaum, J. (1966). ELIZA: A Computer Program for the Study of Natural Language Communication between Man and Machine. Communications of the ACM, 9(1), 36-45.</a:t>
            </a:r>
            <a:endParaRPr lang="en-US" sz="1300" dirty="0"/>
          </a:p>
          <a:p>
            <a:pPr marL="177800" indent="-177800">
              <a:spcAft>
                <a:spcPts val="1000"/>
              </a:spcAft>
              <a:buSzPct val="100000"/>
              <a:buChar char="•"/>
            </a:pPr>
            <a:r>
              <a:rPr lang="en-US" sz="1300" dirty="0">
                <a:solidFill>
                  <a:schemeClr val="tx1"/>
                </a:solidFill>
              </a:rPr>
              <a:t>Parasuraman, R., Manzey, D. H. (2010). Complacency and Bias in Human Use of Automation: An Attentional Integration. Human Factors, 52(3), 381-410.</a:t>
            </a:r>
            <a:endParaRPr lang="en-US" sz="1300" dirty="0"/>
          </a:p>
          <a:p>
            <a:pPr marL="177800" indent="-177800">
              <a:spcAft>
                <a:spcPts val="1000"/>
              </a:spcAft>
              <a:buSzPct val="100000"/>
              <a:buChar char="•"/>
            </a:pPr>
            <a:r>
              <a:rPr lang="en-US" sz="1300" dirty="0">
                <a:solidFill>
                  <a:schemeClr val="tx1"/>
                </a:solidFill>
              </a:rPr>
              <a:t>Lee, H.-P. et al. (2025). The Impact of Generative AI on Critical Thinking: Self-Reported Reductions in Cognitive Effort and Confidence Effects From a Survey of Knowledge Workers. Proceedings of the 2025 CHI Conference on Human Factors in Computing Systems, ACM, 1-22. Carnegie Mellon University e Microsoft Research.</a:t>
            </a:r>
            <a:endParaRPr lang="en-US" sz="1300" dirty="0"/>
          </a:p>
        </p:txBody>
      </p:sp>
      <p:sp>
        <p:nvSpPr>
          <p:cNvPr id="7" name="Text 3"/>
          <p:cNvSpPr txBox="1"/>
          <p:nvPr/>
        </p:nvSpPr>
        <p:spPr>
          <a:xfrm>
            <a:off x="1188720" y="4114800"/>
            <a:ext cx="7498080" cy="320040"/>
          </a:xfrm>
          <a:prstGeom prst="rect">
            <a:avLst/>
          </a:prstGeom>
          <a:noFill/>
          <a:ln/>
        </p:spPr>
        <p:txBody>
          <a:bodyPr wrap="square" lIns="0" tIns="0" rIns="0" bIns="0" rtlCol="0" anchor="t"/>
          <a:lstStyle/>
          <a:p>
            <a:pPr indent="0" marL="0">
              <a:buNone/>
            </a:pPr>
            <a:r>
              <a:rPr lang="en-US" sz="1200" i="1" dirty="0">
                <a:solidFill>
                  <a:schemeClr val="accent2"/>
                </a:solidFill>
              </a:rPr>
              <a:t>Fonti verificate a ottobre 2026: ricontrollarle prima di ogni edizione. Gli esempi del modulo sono fittizi.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5: Il dialogo uomo-AI</dc:title>
  <dc:subject>Percorso AI Literacy</dc:subject>
  <dc:creator>Percorso AI Literacy</dc:creator>
  <cp:lastModifiedBy>Percorso AI Literacy</cp:lastModifiedBy>
  <cp:revision>1</cp:revision>
  <dcterms:created xsi:type="dcterms:W3CDTF">2026-10-16T10:48:03Z</dcterms:created>
  <dcterms:modified xsi:type="dcterms:W3CDTF">2026-10-16T10:48:03Z</dcterms:modified>
</cp:coreProperties>
</file>