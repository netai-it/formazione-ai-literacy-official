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79a24313-2abf-5b05-dd38-58eaf0b58416}">
          <p14:sldIdLst>
            <p14:sldId id="256"/>
            <p14:sldId id="257"/>
            <p14:sldId id="258"/>
            <p14:sldId id="259"/>
            <p14:sldId id="260"/>
            <p14:sldId id="261"/>
            <p14:sldId id="262"/>
          </p14:sldIdLst>
        </p14:section>
        <p14:section name="18.1 Perché una governance" id="{6f697184-50db-a12e-dbb6-149a296e9d2e}">
          <p14:sldIdLst>
            <p14:sldId id="263"/>
            <p14:sldId id="264"/>
            <p14:sldId id="265"/>
            <p14:sldId id="266"/>
            <p14:sldId id="267"/>
            <p14:sldId id="268"/>
            <p14:sldId id="269"/>
            <p14:sldId id="270"/>
          </p14:sldIdLst>
        </p14:section>
        <p14:section name="18.2 Il quadro normativo" id="{aa4cae7f-6793-ab16-58a6-ed6a4a80a49e}">
          <p14:sldIdLst>
            <p14:sldId id="271"/>
            <p14:sldId id="272"/>
            <p14:sldId id="273"/>
            <p14:sldId id="274"/>
            <p14:sldId id="275"/>
            <p14:sldId id="276"/>
            <p14:sldId id="277"/>
            <p14:sldId id="278"/>
            <p14:sldId id="279"/>
          </p14:sldIdLst>
        </p14:section>
        <p14:section name="18.3 L'approccio basato sul rischio" id="{da83242a-0451-c286-71de-5c142876b01f}">
          <p14:sldIdLst>
            <p14:sldId id="280"/>
            <p14:sldId id="281"/>
            <p14:sldId id="282"/>
            <p14:sldId id="283"/>
            <p14:sldId id="284"/>
            <p14:sldId id="285"/>
            <p14:sldId id="286"/>
            <p14:sldId id="287"/>
            <p14:sldId id="288"/>
            <p14:sldId id="289"/>
          </p14:sldIdLst>
        </p14:section>
        <p14:section name="18.4 Ruoli e responsabilità" id="{08b1af23-eb90-0c61-32a8-fa2246e35da2}">
          <p14:sldIdLst>
            <p14:sldId id="290"/>
            <p14:sldId id="291"/>
            <p14:sldId id="292"/>
            <p14:sldId id="293"/>
            <p14:sldId id="294"/>
            <p14:sldId id="295"/>
            <p14:sldId id="296"/>
            <p14:sldId id="297"/>
          </p14:sldIdLst>
        </p14:section>
        <p14:section name="18.5 Politiche aziendali" id="{fc40e5a8-de92-e7f4-eac4-540d7ed17c91}">
          <p14:sldIdLst>
            <p14:sldId id="298"/>
            <p14:sldId id="299"/>
            <p14:sldId id="300"/>
            <p14:sldId id="301"/>
            <p14:sldId id="302"/>
            <p14:sldId id="303"/>
            <p14:sldId id="304"/>
          </p14:sldIdLst>
        </p14:section>
        <p14:section name="18.6 Rischi e controlli" id="{d0a3ae75-c916-3e1f-d7c9-cbc9e8a24827}">
          <p14:sldIdLst>
            <p14:sldId id="305"/>
            <p14:sldId id="306"/>
            <p14:sldId id="307"/>
            <p14:sldId id="308"/>
            <p14:sldId id="309"/>
            <p14:sldId id="310"/>
            <p14:sldId id="311"/>
            <p14:sldId id="312"/>
          </p14:sldIdLst>
        </p14:section>
        <p14:section name="18.7 AI literacy" id="{5e801a5e-477e-cf7c-f7d3-60396924184e}">
          <p14:sldIdLst>
            <p14:sldId id="313"/>
            <p14:sldId id="314"/>
            <p14:sldId id="315"/>
            <p14:sldId id="316"/>
            <p14:sldId id="317"/>
            <p14:sldId id="318"/>
          </p14:sldIdLst>
        </p14:section>
        <p14:section name="18.8 Governance proporzionata" id="{1d25d786-8a64-d364-772e-878777dd1a36}">
          <p14:sldIdLst>
            <p14:sldId id="319"/>
            <p14:sldId id="320"/>
            <p14:sldId id="321"/>
            <p14:sldId id="322"/>
            <p14:sldId id="323"/>
            <p14:sldId id="324"/>
            <p14:sldId id="325"/>
            <p14:sldId id="326"/>
          </p14:sldIdLst>
        </p14:section>
        <p14:section name="Conclusioni" id="{6d8a790f-99c2-e45f-a512-74585b0f5b51}">
          <p14:sldIdLst>
            <p14:sldId id="327"/>
            <p14:sldId id="328"/>
            <p14:sldId id="329"/>
            <p14:sldId id="330"/>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diciottesimo e ultimo tema del percorso, il secondo dell'area 'Utilizzare l'AI responsabilmente'. Nel Tema 17 abbiamo adottato il punto di vista di chi usa l'AI: rischi, precauzioni, comportamenti. Qui adottiamo il punto di vista dell'organizzazione: quali norme si applicano, quali responsabilità ha l'azienda, quali regole, controlli e competenze servono. È il confine decisivo indicato dal documento di perimetro: il Tema 17 riguarda che cosa l'utilizzatore deve riconoscere, proteggere e segnalare; il Tema 18 quali regole, responsabilità e controlli l'organizzazione deve definire. Due avvertenze importanti, che ripeteremo nella prossima slide. La prima: questo modulo è una formazione di consapevolezza, non un parere legale né un audit di conformità. La seconda: la normativa sull'AI è in evoluzione. Il regolamento europeo, l'AI Act, è stato modificato nel 2026 da un regolamento detto Digital Omnibus, che ha spostato alcune scadenze e riscritto alcune disposizioni. Le informazioni del modulo sono state verificate a ottobre 2026 e vanno ricontrollate sulle fonti ufficiali prima di ogni edizione. Suggerimento per l'apertura: chiedere ai partecipanti se sanno quali strumenti di AI sono approvati nella loro azienda, e chi decide quali lo sono. Nota per il relatore: i contenuti normativi sono stati verificati a ottobre 2026 sui testi ufficiali (EUR-Lex e Gazzetta Ufficiale); vanno ricontrollati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slide di avvertenze, che il documento di perimetro chiede di rendere esplicite. Primo: questo modulo è una formazione di AI Awareness, non un parere legale né un audit di conformità. Serve a comprendere il quadro, le logiche e le domande da porsi; per valutare il rispetto degli obblighi applicabili a una specifica organizzazione servono approfondimenti e figure competenti, come i consulenti legali, il responsabile della protezione dei dati, le funzioni di compliance. Secondo: la normativa è in evoluzione. L'AI Act, il Regolamento europeo 2024/1689, entrato in vigore nell'agosto 2024, si applica in modo progressivo, con date diverse per obblighi diversi. Nel 2026 è stato modificato dal Regolamento 2026/1744, il cosiddetto Digital Omnibus sull'AI, pubblicato nella Gazzetta Ufficiale dell'Unione il 24 luglio 2026 ed entrato in vigore il 27 luglio 2026, che ha rinviato alcune scadenze e riscritto alcune disposizioni, tra cui l'articolo 4 sull'alfabetizzazione. Le informazioni del modulo sono state verificate a ottobre 2026. Terzo, una nota per il formatore: prima di ogni edizione, verificare il testo vigente e le date su EUR-Lex, sulla pagina della Commissione europea dedicata all'AI Act e sulla Gazzetta Ufficiale italiana. E non presentare mai una singola data come scadenza universale per tutti gli obblighi.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i principali riferimenti normativi e i principi di governance dell'AI, riconoscendo le responsabilità delle organizzazioni che sviluppano, forniscono o usano sistemi di AI, e l'importanza di politiche, competenze, controlli e processi proporzionati ai rischi e agli obblighi applicabili. La consapevolezza da sviluppare: l'uso professionale dell'AI richiede non solo comportamenti prudenti dei singoli, come visto nel Tema 17, ma regole condivise, responsabilità identificabili, competenze adeguate e misure di controllo organizzative. E una frase che conviene sottolineare: la governance deve abilitare usi appropriati e conformi, senza coincidere con un elenco di divieti. Il messaggio centrale del documento di perimetro: l'uso dell'AI in azienda richiede responsabilità, regole, competenze e controlli proporzionati ai rischi e agli obblighi applicabili; la governance deve rendere possibile un'adozione consapevole, conforme e controllabile, senza ridursi a divieti o adempimenti formali.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chiede di distinguere tre piani, che useremo per tutto il modulo e che aiutano a non confondere questioni diverse. Gli obblighi normativi: quali disposizioni si applicano al sistema, all'organizzazione e alla specifica finalità d'uso. Sono decisi dal legislatore, e l'organizzazione deve rispettarli. Le responsabilità organizzative: chi propone, autorizza, attua, verifica, aggiorna e interrompe gli usi. Sono decise dall'organizzazione, e devono essere chiare. Le misure operative: politiche, competenze, procedure, controlli, monitoraggio, gestione di anomalie e incidenti. Sono gli strumenti con cui l'organizzazione rispetta gli obblighi e governa i rischi. I tre piani sono collegati, ma diversi. Un'organizzazione può rispettare formalmente gli obblighi normativi senza avere responsabilità chiare; può avere una policy scritta, una misura operativa, senza che nessuno sia responsabile di applicarla; può avere responsabilità chiare senza conoscere gli obblighi pertinenti. Una governance efficace tiene insieme i tre piani.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Perché l'AI è soggetta a una regolamentazione specifica, e perché serve una governance. Come si colloca l'AI Act rispetto al GDPR e ad altre discipline. Che cosa significa classificare un sistema secondo l'approccio basato sul rischio. Quali responsabilità si collegano ai ruoli di provider e deployer. Quali indicazioni dovrebbe contenere una policy aziendale sull'AI. Come si organizzano controlli, supervisione e valutazione dei rischi. Che cosa richiede un approccio contestualizzato all'AI literacy, che riguarda direttamente questo percorso. E come rendere la governance proporzionata alle attività e alle dimensioni dell'azienda.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sei dimensioni. Fondamenti e finalità della governance, nel 18.1. Fonti normative e logica dell'AI Act, nel 18.2 e 18.3. Ruoli della filiera e responsabilità aziendali, nel 18.4. Policy, controlli, rischi e supervisione, nel 18.5 e 18.6. AI literacy come misura organizzativa, nel 18.7. Coordinamento e proporzionalità della governance, nel 18.8. La sequenza consigliata, per non ripetere tre volte una panoramica sulla governance, è: finalità, nel 18.1; policy, nel 18.5; sistema organizzativo, nel 18.8. Nelle slide, l'indicatore in alto a destra ricorda la dimensione: Governance, Norme, Ruoli, Policy, Controlli, Literacy. Quattro integrazioni evitano quattro equivoci. A: non tutta l'AI è ad alto rischio secondo l'AI Act. B: acquistare un sistema conforme non rende conforme ogni suo uso. C: un corso di AI Awareness non equivale automaticamente alla conformità all'articolo 4. D: la governance deve essere proporzionata, non necessariamente complessa. Sulle slide gli equivoci sono numerati da 1 a 4, per non confonderli con le lettere dei quattro esempi, che non coincidono: per esempio l'equivoco A si illustra con l'esempio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Cinque hanno priorità molto alta: il quadro normativo, l'approccio basato sul rischio, i ruoli e le responsabilità, le politiche aziendali, l'AI literacy. Tre hanno priorità alta: la governance, i rischi e controlli, la governance proporzionata. Il documento indica come priorità principale 18.3, 18.4, 18.5 e 18.7, perché distinguono categorie normative, soggetti obbligati, comportamenti regolati e alfabetizzazione contestualizzata. Da comprendere e applicare: leggere il caso d'uso prima della classificazione; distinguere provider e deployer; riconoscere quando servono policy o autorizzazioni; comprendere il ruolo dell'AI literacy. Da conoscere: il quadro di riferimento, l'applicazione progressiva delle disposizioni, gli elementi di un modello di governance, le principali responsabilità. Solo da accennare: analisi giuridiche articolo per articolo, audit legali, calcolo avanzato del rischio, procedure di conformità specializzate, sistemi di gestione completi, implementazione tecnica dei controlli. Confini: non ripetiamo le precauzioni dell'utilizzatore del Tema 17, né la formazione come leva di adozione del Tema 16, né i metodi di scelta dei casi d'uso del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sottotema, priorità alta, da comprendere. La prima domanda guida: perché serve una governance? Vediamo che cosa significa governance dell'AI, la differenza tra il comportamento del singolo e la responsabilità dell'organizzazione, i principi di riferimento, la differenza tra conformità e governo complessivo, le conseguenze degli usi frammentati, il ciclo di vita, la proporzionalità e la governance abilitante. Integrazione D. Il documento distingue: il 18.1 spiega perché serve, il 18.8 come coordinarne le componenti.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dal significato e dalle finalità della governance dell'AI. In termini semplici, la governance è l'insieme delle regole, delle responsabilità, dei processi e dei controlli con cui un'organizzazione decide come usare l'AI, e verifica che venga usata come deciso. Risponde a domande come: quali strumenti si usano, per quali scopi, con quali informazioni? Chi decide se un nuovo strumento o un nuovo uso è accettabile? Chi controlla, e come? Che cosa succede quando qualcosa va storto? Come si aggiornano le regole quando cambiano gli strumenti? La consapevolezza del sottotema lo riassume: governare l'AI significa definire condizioni, responsabilità e verifiche che consentano usi appropriati e controllabili. Notate le parole 'che consentano': la governance non serve solo a impedire, ma a rendere possibile. Il sottotema chiede anche di distinguere il comportamento del singolo utilizzatore, di cui abbiamo parlato nel Tema 17, dalla responsabilità dell'organizzazione. Il singolo risponde delle proprie scelte; l'organizzazione risponde di avere creato le condizioni perché quelle scelte possano essere giuste: strumenti adatti, regole chiare, competenze, supporto, controlli.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richiama alcuni principi di affidabilità, trasparenza, equità e responsabilità, e la relazione tra opportunità, innovazione, rischio e controllo. Questi principi ricorrono in molti documenti internazionali sull'AI: le Linee guida etiche per un'AI affidabile, pubblicate nel 2019 dal gruppo di esperti di alto livello della Commissione europea, che hanno ispirato l'AI Act; i Principi dell'OCSE sull'intelligenza artificiale, adottati nel 2019 e aggiornati nel 2024; la Raccomandazione dell'UNESCO sull'etica dell'AI del 2021. Formulazioni diverse, ma un nucleo comune. Affidabilità: i sistemi funzionano come previsto, in modo robusto e sicuro. Trasparenza: si sa quando si usa l'AI e, nei limiti del possibile, come funziona. Equità: i sistemi non producono discriminazioni ingiustificate, come visto nel Tema 17. Responsabilità: è chiaro chi risponde delle decisioni e delle conseguenze. A questi si aggiungono spesso la supervisione umana, la tutela della riservatezza e il benessere sociale e ambientale. I principi sono il perché delle regole: quando una regola specifica non c'è, o non è chiara, aiutano a orientare la decisione.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la conformità normativa dal governo complessivo dell'AI, e gli obblighi imposti dalla legge dalle scelte organizzative ulteriori. La conformità normativa è il rispetto degli obblighi di legge: l'AI Act, il GDPR, il diritto del lavoro, le norme di settore. È necessaria, ma non sufficiente. Il governo complessivo dell'AI comprende anche scelte che la legge non impone, ma che l'organizzazione fa per gestire i rischi, cogliere le opportunità e proteggere i propri interessi: quali strumenti adottare, quali usi incoraggiare, come proteggere i segreti aziendali, come mantenere la qualità del servizio, come formare le persone oltre il minimo. Molti rischi visti nel Tema 17 non sono regolati da norme specifiche sull'AI, ma riguardano comunque l'azienda: un errore in un'offerta, un danno reputazionale, una perdita di know-how. Per questo il documento chiede di non confondere i due piani: una governance che si limita alla conformità lascia scoperti rischi importanti; una governance che non conosce gli obblighi rischia di violarli. La distinzione serve anche nella comunicazione interna: dire 'è obbligatorio per legge' o 'è una scelta dell'azienda' cambia il modo in cui le persone percepiscono la regola, e conviene essere precisi.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le conseguenze di usi frammentati, non conosciuti o privi di coordinamento. È ciò che accade, in molte organizzazioni, quando l'AI arriva prima della governance. Gli usi frammentati: reparti diversi adottano strumenti diversi, con regole diverse o senza regole, come visto nel Tema 16. Gli usi non conosciuti: l'organizzazione non sa quali strumenti vengono usati, da chi, con quali informazioni; è lo Shadow AI visto nei Temi 16 e 17. Gli usi privi di coordinamento: nessuno ha una visione d'insieme, nessuno decide sui casi dubbi, nessuno verifica. Le conseguenze sono di vari tipi. Rischi non controllati: informazioni riservate in servizi esterni, decisioni sulle persone senza supervisione, contenuti ingannevoli. Obblighi non rispettati, perché nessuno ha verificato se un uso rientra in una categoria regolata. Costi duplicati e opportunità perse. Incertezza per le persone, che non sanno che cosa possono fare, e si astengono o fanno da sole. La governance non serve a eliminare l'iniziativa, ma a dare a questi usi un quadro: conoscerli, valutarli, guidarli.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le responsabilità lungo il ciclo di vita: selezione, introduzione, uso, aggiornamento ed eventuale dismissione, e la necessità di adattare i controlli all'evoluzione tecnologica. È anche una delle precisazioni trasversali del documento: regole e controlli vanno aggiornati quando cambiano strumenti, usi e rischi, e non si esauriscono nell'approvazione iniziale. Le fasi. Selezione: quale strumento, per quale scopo, con quali condizioni del fornitore. Introduzione: configurazione, permessi, istruzioni, formazione, verifica iniziale. Uso: supporto, controlli, monitoraggio, gestione delle anomalie. Aggiornamento: quando cambia lo strumento, il fornitore aggiorna il modello, cambiano gli usi o le norme, si rivalutano rischi e regole. Dismissione: quando uno strumento viene abbandonato, che cosa succede ai dati, alle integrazioni, alle pratiche. Molte organizzazioni concentrano l'attenzione sulla prima approvazione, e trascurano il resto. Ma con l'AI i cambiamenti sono frequenti: un aggiornamento del modello può cambiarne il comportamento, una nuova funzione può aprire nuovi usi e nuovi rischi, come l'aggiunta di capacità operative vista nel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il ruolo delle regole nel rendere possibile un'adozione sicura, la governance abilitante contro quella puramente restrittiva, e la proporzionalità dei presidi alla finalità, ai rischi e al contesto. La governance puramente restrittiva si esprime soprattutto con divieti: non usare, non caricare, non condividere. Riduce alcuni rischi, ma ha effetti collaterali noti: le persone non sanno che cosa possono fare, si astengono anche dove l'AI sarebbe utile, o usano strumenti non autorizzati, come visto con lo Shadow AI. La governance abilitante dice anche che cosa si può fare, con quali strumenti, a quali condizioni, e offre supporto: rende possibile un'adozione sicura. L'integrazione D aggiunge la proporzionalità: la governance deve essere proporzionata, non necessariamente complessa. Una piccola azienda che usa un assistente approvato per scrivere bozze non ha bisogno della stessa struttura di una banca che usa l'AI per valutare il credito. Ma il documento aggiunge un'avvertenza decisiva: la proporzionalità non esonera dagli obblighi pertinenti. Essere piccoli può giustificare presidi più semplici, non l'assenza degli obblighi che si applicano. Torneremo su questo nel 18.8.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La governance è l'insieme di regole, responsabilità, processi e controlli con cui l'organizzazione decide e verifica l'uso dell'AI. Si basa su principi comuni: affidabilità, trasparenza, equità, responsabilità. Non coincide con la conformità normativa. Senza governance, gli usi sono frammentati, sconosciuti, non coordinati. Copre tutto il ciclo di vita. Deve essere abilitante e proporzionata, senza che la proporzionalità diventi un'esenzione. Esercizio suggerito: elencare in gruppo tre domande sull'uso dell'AI nel proprio reparto a cui oggi nessuno saprebbe rispondere, come 'chi decide se possiamo usare questo 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da conoscere e comprendere. La seconda domanda guida: come si colloca l'AI Act rispetto al GDPR e ad altre discipline? Vediamo obiettivi e impostazione dell'AI Act, le grandi categorie di obblighi, l'applicazione progressiva e le modifiche del 2026, il rapporto con il GDPR e con altre discipline, il quadro italiano, e la differenza tra atti vincolanti, orientamenti, standard e policy. Integrazione A. Nota per il formatore: verificare sempre il testo vigente e il calendario sulle fonti ufficiali; non presentare una singola data come scadenza universale.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Regolamento (UE) 2024/1689, noto come AI Act, è la prima normativa organica sull'intelligenza artificiale adottata da una grande giurisdizione. È un regolamento europeo: si applica direttamente in tutti gli Stati membri, senza bisogno di recepimento, anche se lascia spazio a disposizioni nazionali su alcuni aspetti, come le autorità di vigilanza e le sanzioni. Gli obiettivi dichiarati sono due, da tenere insieme: tutelare la salute, la sicurezza e i diritti fondamentali delle persone di fronte ai rischi dell'AI; e favorire il buon funzionamento del mercato interno, cioè regole uguali in tutta l'Unione, e l'innovazione. L'impostazione è basata sul rischio: gli obblighi non riguardano l'AI in generale, ma dipendono da che cosa fa un sistema e per quale finalità è usato. Lo vedremo nel 18.3. I destinatari sono diversi: soprattutto i fornitori, cioè chi sviluppa e immette sul mercato i sistemi, e i deployer, cioè chi li usa in ambito professionale, oltre a importatori, distributori e fornitori di modelli per finalità generali. Lo vedremo nel 18.4. L'AI Act si applica anche a soggetti fuori dall'Unione, quando i loro sistemi sono immessi sul mercato europeo o i loro output sono usati nell'Unione.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un'introduzione alle grandi categorie dell'AI Act, che approfondiremo nel 18.3. Le pratiche vietate: usi dell'AI considerati inaccettabili, come la manipolazione che sfrutta vulnerabilità, il punteggio sociale, il riconoscimento delle emozioni sul luogo di lavoro e a scuola, salvo eccezioni. I sistemi ad alto rischio: sistemi usati in ambiti in cui possono incidere in modo significativo su salute, sicurezza o diritti, come l'occupazione, l'istruzione, l'accesso a servizi essenziali. Sono soggetti agli obblighi più articolati, soprattutto per i fornitori, ma anche per i deployer. Gli obblighi di trasparenza: per alcuni sistemi, come quelli che interagiscono con le persone o generano contenuti sintetici, bisogna informare le persone o marcare i contenuti. I modelli di AI per finalità generali, come i grandi modelli linguistici: i loro fornitori hanno obblighi specifici, per esempio di documentazione e di rispetto del diritto d'autore, e obblighi aggiuntivi per i modelli con rischio sistemico. Tutto il resto, cioè la grande maggioranza degli usi, non è soggetto a obblighi specifici dell'AI Act, salvo l'alfabetizzazione dell'articolo 4. Ma, come dice l'integrazione A, questo non significa assenza di rischi o di altri obblighi.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l'applicazione progressiva, le eccezioni e le disposizioni transitorie, e la nota per il formatore è esplicita: non presentare una singola data come scadenza universale. La tabella riassume le principali tappe, verificate a ottobre 2026, comprese le modifiche del Regolamento 2026/1744, il Digital Omnibus. L'AI Act è entrato in vigore il 1° agosto 2024. Dal 2 febbraio 2025 si applicano le pratiche vietate e le disposizioni generali, compreso l'articolo 4 sull'alfabetizzazione, poi riscritto dal Digital Omnibus. Dal 2 agosto 2025 si applicano gli obblighi per i fornitori di modelli per finalità generali e le regole sulla governance pubblica e sulle sanzioni. Il 2 agosto 2026 è la data generale di applicazione, compresi gli obblighi di trasparenza dell'articolo 50. Il Digital Omnibus ha però rinviato gli obblighi per i sistemi ad alto rischio: al 2 dicembre 2027 per quelli dell'Allegato III, e al 2 agosto 2028 per quelli collegati a prodotti regolamentati dell'Allegato I. Ha inoltre previsto un periodo transitorio di quattro mesi, fino al 2 dicembre 2026, per la marcatura dei contenuti sintetici dei sistemi già sul mercato prima del 2 agosto 2026. Ha anche introdotto due nuovi divieti, sui contenuti intimi generati senza consenso e sul materiale pedopornografico: la data da cui si applicano non è riportata nella tabella, perché non è stato possibile verificarla sul testo ufficiale, e va controllata su EUR-Lex. Date confermate sul Regolamento 2026/1744 pubblicato nella Gazzetta Ufficiale dell'Unione il 24 luglio 2026. Altre eccezioni e regimi transitori esistono per casi specifici. Tutto da ricontrollare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chiarire il rapporto con il GDPR, il Regolamento generale sulla protezione dei dati, in vigore dal 2018. È una delle precisazioni trasversali del documento: la conformità all'AI Act e la conformità al GDPR non sono equivalenti. Le due norme hanno oggetti diversi. L'AI Act regola i sistemi di AI, in base alla loro funzione e al rischio. Il GDPR regola il trattamento dei dati personali, con qualsiasi tecnologia. Quando un sistema di AI tratta dati personali, cosa che accade molto spesso, si applicano entrambi. Alcuni esempi di disposizioni del GDPR particolarmente rilevanti per l'AI: i principi di liceità, minimizzazione e limitazione della finalità, visti nel Tema 17 dal punto di vista dell'utilizzatore; l'articolo 22, che riguarda le decisioni basate unicamente su un trattamento automatizzato che producono effetti giuridici o significativi sulle persone; l'articolo 35, sulla valutazione d'impatto sulla protezione dei dati per i trattamenti a rischio elevato; gli obblighi di informazione verso le persone; le regole sui trasferimenti di dati fuori dall'Unione, rilevanti quando si usano servizi di fornitori extraeuropei. Un sistema non qualificato ad alto rischio dall'AI Act può comunque richiedere, per esempio, una valutazione d'impatto secondo il GDPR. Gli approfondimenti sono del responsabile della protezione dei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la rilevanza di altre discipline: diritto d'autore, tutela dei consumatori, lavoro, discipline settoriali. La consapevolezza del sottotema: l'AI Act è centrale, ma non sostituisce le altre norme applicabili alla specifica attività. Alcuni esempi. Il diritto d'autore, visto nel Tema 17: riguarda sia i materiali usati con l'AI sia la tutela degli output; la normativa europea sul diritto d'autore prevede, per esempio, regole sull'estrazione di testo e dati. La tutela dei consumatori: pratiche commerciali scorrette, pubblicità ingannevole, informazioni ai clienti, rilevanti per chatbot, contenuti promozionali e recensioni. Il diritto del lavoro: in Italia, per esempio, le norme sui controlli a distanza dei lavoratori e gli obblighi di informazione sui sistemi decisionali o di monitoraggio automatizzati, che si applicano quando l'AI riguarda la gestione del personale. Le discipline settoriali: finanza, assicurazioni, sanità, dispositivi medici, trasporti, ciascuna con regole proprie. La responsabilità civile per danni, la sicurezza dei prodotti, la cybersicurezza. Per ogni uso rilevante, la domanda non è solo 'che cosa dice l'AI Act?', ma 'quali norme si applicano a questa attività?'.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un cenno al quadro legislativo italiano, da verificare nella versione vigente, e alla relazione tra regolamento europeo e discipline nazionali. L'Italia ha adottato la Legge 23 settembre 2025, n. 132, sull'intelligenza artificiale, in vigore dal 10 ottobre 2025, tra le prime leggi nazionali organiche in materia nell'Unione. La legge si affianca all'AI Act, senza sostituirlo, e contiene principi generali e disposizioni su alcuni ambiti. Alcuni elementi, da verificare. Designa le autorità nazionali per l'AI: l'Agenzia per l'Italia Digitale, AgID, e l'Agenzia per la Cybersicurezza Nazionale, ACN, con compiti diversi di promozione, notifica, vigilanza e sanzione. Nel lavoro, richiama i principi di sicurezza, affidabilità e trasparenza, e l'obbligo del datore di lavoro di informare i lavoratori sull'uso dell'AI, nei casi e modi previsti dalla normativa esistente. Nelle professioni intellettuali, limita l'AI ad attività strumentali e di supporto, con prevalenza del lavoro del professionista e obblighi di informazione verso i clienti. Nella sanità, mantiene la decisione in capo al medico. Sul diritto d'autore, chiarisce che sono tutelate le opere dell'ingegno umano, anche create con l'ausilio dell'AI. Delega inoltre il Governo ad adottare decreti legislativi entro dodici mesi dall'entrata in vigore della legge: il loro stato va verificato. Testo verificato sulla Gazzetta Ufficiale, Serie Generale n. 223 del 25 settembre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la differenza tra atti vincolanti, orientamenti, standard tecnici e policy interne, e l'importanza delle fonti ufficiali e degli aggiornamenti. Nel campo dell'AI circolano documenti di natura molto diversa, e conviene distinguerli. Gli atti vincolanti: regolamenti europei, come l'AI Act e il GDPR, e leggi nazionali, come la legge 132 del 2025. Obbligano. Gli orientamenti e le linee guida delle autorità: la Commissione europea ha pubblicato, per esempio, linee guida sulla definizione di sistema di AI e sulle pratiche vietate, e un codice di buone pratiche per i modelli per finalità generali; le autorità per la protezione dei dati pubblicano pareri. Non sono leggi, ma indicano come le autorità interpretano le norme. Gli standard tecnici: norme come la ISO/IEC 42001 del 2023, sui sistemi di gestione dell'AI, o gli standard armonizzati europei collegati all'AI Act, di cui va verificato lo stato. Sono volontari, salvo quando una norma vi rinvia, e possono aiutare a dimostrare la conformità. Le policy interne: le regole che l'organizzazione si dà, vincolanti per chi vi lavora, ma decise dall'organizzazione. La regola pratica: per gli obblighi, riferirsi sempre alle fonti ufficiali, EUR-Lex, la Commissione, la Gazzetta Ufficiale, e non a sintesi o articoli, compresa questa presentazione.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L'AI Act tutela diritti e sicurezza e armonizza il mercato, con un approccio basato sul rischio. Prevede pratiche vietate, alto rischio, trasparenza, modelli per finalità generali; la maggior parte degli usi non ha obblighi specifici, salvo l'articolo 4. Si applica progressivamente, con date diverse, modificate dal Digital Omnibus del 2026. Il GDPR e altre discipline si applicano insieme. L'Italia ha la legge 132 del 2025. Atti vincolanti, orientamenti, standard e policy hanno valore diverso. Esercizio suggerito: per tre usi dell'AI in azienda, una bozza di email, un chatbot per i clienti, uno strumento di analisi dei curriculum, elencare quali discipline potrebbero essere pertinenti, oltre all'AI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e tra le priorità principali del tema, da comprendere. La terza domanda guida: che cosa significa classificare un sistema secondo l'approccio basato sul rischio? Vediamo la logica della classificazione, le pratiche vietate, i sistemi ad alto rischio dell'Allegato III e dell'Allegato I, la trasparenza, i modelli per finalità generali, l'importanza della finalità prevista, e la differenza tra classificazione legale e valutazione aziendale dei rischi. Integrazione A, con l'esempio B del documento. Le analisi articolo per articolo vanno solo accennate.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dal significato della classificazione basata sul rischio. L'idea è semplice: non regolare l'AI in quanto tecnologia, ma i suoi usi, in proporzione ai rischi che comportano per salute, sicurezza e diritti fondamentali. Ne deriva una struttura spesso rappresentata come una piramide. In cima, le pratiche vietate: rischio inaccettabile, non consentite. Sotto, i sistemi ad alto rischio: consentiti, ma con obblighi articolati. Poi i sistemi soggetti a obblighi di trasparenza: consentiti, con obblighi di informazione. Alla base, tutti gli altri usi: rischio minimo, senza obblighi specifici dell'AI Act, salvo l'alfabetizzazione, e con la possibilità di adottare codici di condotta volontari. A questa piramide si affianca una categoria trasversale, i modelli per finalità generali, che riguarda i fornitori dei modelli, non i singoli usi. La piramide è una semplificazione utile, non una rappresentazione giuridica esatta: le categorie possono sovrapporsi, per esempio un sistema ad alto rischio può essere soggetto anche a obblighi di trasparenza. Il punto da ricordare è la logica: più alto il rischio dell'uso, più stringenti gli obblighi. E la grande maggioranza degli usi aziendali quotidiani si trova alla base della piramide.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le pratiche di AI vietate, elencate nell'articolo 5 dell'AI Act e applicabili dal 2 febbraio 2025. Sono usi considerati incompatibili con i valori dell'Unione. In sintesi: tecniche manipolative o ingannevoli che distorcono il comportamento delle persone causando danni significativi; lo sfruttamento delle vulnerabilità legate a età, disabilità o situazione socio-economica; il punteggio sociale, cioè la valutazione delle persone in base al comportamento sociale con trattamenti sfavorevoli ingiustificati; la previsione del rischio di reato basata unicamente sulla profilazione; la raccolta non mirata di immagini del volto da internet o da telecamere per creare banche dati di riconoscimento facciale; il riconoscimento delle emozioni sul luogo di lavoro e negli istituti di istruzione, salvo motivi medici o di sicurezza; la categorizzazione biometrica per dedurre caratteristiche sensibili, come l'orientamento sessuale o le opinioni politiche; l'identificazione biometrica remota in tempo reale in spazi pubblici a fini di contrasto, salvo eccezioni limitate. Il Digital Omnibus del 2026 ha aggiunto due divieti, sui contenuti intimi generati senza consenso e sul materiale pedopornografico; la data da cui si applicano va verificata sul testo ufficiale. Per un'azienda, il divieto più vicino all'esperienza quotidiana è probabilmente quello sul riconoscimento delle emozioni dei lavoratori. La Commissione ha pubblicato linee guida interpretative sulle pratiche vietate.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comprendere i sistemi ad alto rischio e le caratteristiche che ne determinano la qualificazione. Ci sono due vie, nell'articolo 6. La prima, l'Allegato I: sistemi che sono componenti di sicurezza di prodotti già regolati dalla normativa europea di armonizzazione, o sono essi stessi quei prodotti, quando il prodotto richiede una valutazione di conformità da parte di terzi. L'Allegato I ha due sezioni, e la differenza conta. Nella sezione A ci sono, per esempio, dispositivi medici, giocattoli, ascensori, apparecchi che bruciano carburanti gassosi: per questi prodotti si applicano direttamente i requisiti dell'AI Act, dal 2 agosto 2028 dopo il rinvio del Digital Omnibus. Nella sezione B ci sono, per esempio, veicoli, aviazione civile, settore ferroviario e, dal 2026, le macchine: il Digital Omnibus, Regolamento 2026/1744, ha spostato il Regolamento Macchine, Regolamento (UE) 2023/1230, dalla sezione A alla sezione B. Per i prodotti della sezione B l'AI Act si applica solo in parte, come prevede l'articolo 2, paragrafo 2: i requisiti per l'AI ad alto rischio vengono integrati nella normativa di settore. Per le macchine, la Commissione deve adottare atti delegati che aggiungono all'allegato III del Regolamento Macchine i requisiti di sicurezza per i sistemi di AI ad alto rischio, coerenti con quelli dell'AI Act; questi atti si applicano entro il 2 agosto 2028. Per chi costruisce macchine, quindi, il riferimento principale diventa il Regolamento Macchine, con requisiti allineati all'AI Act. Fonte: Regolamento 2026/1744, considerando 42, articolo 1, punto 41, e articolo 3, verificati sul testo pubblicato nella Gazzetta Ufficiale dell'Unione del 24 luglio 2026. Lo stato degli atti delegati va verificato prima di ogni edizione. La seconda, l'Allegato III: sistemi usati in otto ambiti elencati, in cui l'uso può incidere sui diritti delle persone. Tra questi, i più vicini alla vita aziendale sono l'occupazione e la gestione dei lavoratori, cioè sistemi per la selezione, il filtraggio delle candidature, la valutazione dei candidati, le decisioni su promozioni, licenziamenti, assegnazione di compiti e il monitoraggio delle prestazioni; l'istruzione e la formazione professionale, cioè sistemi per l'ammissione, la valutazione dell'apprendimento, il monitoraggio durante le prove; e l'accesso a servizi essenziali, come la valutazione del merito di credito delle persone e il calcolo dei premi per le assicurazioni vita e malattia. Per questi, gli obblighi si applicano dal 2 dicembre 2027. Gli altri ambiti riguardano biometria, infrastrutture critiche, attività di contrasto, migrazione, giustizia e processi democratici.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completezza, una sintesi di che cosa comporta la qualificazione ad alto rischio, senza entrare nel dettaglio degli articoli, come chiede il documento. I fornitori dei sistemi ad alto rischio hanno gli obblighi più estesi: un sistema di gestione dei rischi lungo tutto il ciclo di vita; requisiti sulla qualità dei dati di addestramento; documentazione tecnica; registrazione automatica degli eventi; trasparenza e istruzioni per i deployer; progettazione che consenta una supervisione umana effettiva; accuratezza, robustezza e cybersicurezza; un sistema di gestione della qualità; la valutazione della conformità, la marcatura CE e la registrazione in una banca dati europea. Anche i deployer, cioè le aziende che usano questi sistemi, hanno obblighi propri, che vedremo nel 18.4: usarli secondo le istruzioni, affidare la supervisione umana a persone con competenza, formazione e autorità adeguate, monitorarne il funzionamento, conservare i registri, informare i lavoratori e i loro rappresentanti prima di usare un sistema ad alto rischio sul luogo di lavoro, e informare le persone soggette a decisioni. Alcuni deployer, come gli enti pubblici e chi fornisce servizi pubblici, o chi valuta il merito di credito e le assicurazioni, devono anche svolgere una valutazione d'impatto sui diritti fondamentali. Il regime è impegnativo: è uno dei motivi per cui classificare correttamente un uso è così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centrale del sottotema: l'importanza della finalità prevista e delle condizioni effettive d'impiego, e le eventuali eccezioni previste dalla normativa. La qualificazione ad alto rischio non dipende da quanto è avanzata la tecnologia, ma da per che cosa è usata. Lo stesso modello linguistico può essere usato per scrivere email, e non rientra in alcuna categoria; o per classificare le candidature e decidere chi passa al colloquio, e rientra nell'ambito dell'occupazione dell'Allegato III. L'AI Act prevede anche delle eccezioni: un sistema che rientra in un ambito dell'Allegato III può non essere considerato ad alto rischio se non presenta un rischio significativo, per esempio perché svolge un compito procedurale limitato, migliora il risultato di un'attività umana già completata, rileva schemi decisionali senza sostituire la valutazione umana, o svolge un compito preparatorio. L'eccezione però non vale se il sistema effettua una profilazione delle persone, e il fornitore che la invoca deve documentare la propria valutazione. Sono condizioni precise, la cui applicazione richiede analisi competenti. Ne derivano due indicazioni pratiche. Leggere il caso d'uso prima della classificazione: non chiedersi 'questo strumento è ad alto rischio?', ma 'questo uso, con questa finalità, lo è?'. E fare attenzione ai cambi di finalità: usare uno strumento generico per uno scopo che rientra nell'Allegato III può cambiare la qualificazione, e le responsabilità, come vedremo nel 18.4.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esempio del documento, che illustra l'integrazione A. Si valuta un sistema di AI che analizza le candidature per supportare le decisioni di selezione. La domanda: perché questo uso richiede un esame diverso dalla generazione di una bozza di email? Perché la finalità e il contesto incidono sulla classificazione normativa e sugli obblighi. La selezione del personale rientra tra gli ambiti dell'Allegato III, l'occupazione. Un sistema che filtra o valuta le candidature è, in linea di principio, un sistema ad alto rischio, salvo che rientri in una delle eccezioni, con le condizioni viste. Per l'azienda che lo usa, cioè il deployer, ne derivano obblighi specifici, da quando si applicheranno, oggi previsti per il 2 dicembre 2027 dopo il rinvio. Ma anche prima di quella data, altre norme si applicano già: il GDPR, con le regole sulle decisioni automatizzate e la valutazione d'impatto, le norme sul lavoro, quelle contro la discriminazione. E i rischi di bias visti nel Tema 17 sono presenti da subito. La bozza di email, invece, non rientra in alcuna categoria dell'AI Act: richiede le precauzioni del Tema 17, ma non obblighi specifici. L'apprendimento del documento: la corretta qualificazione richiede di verificare le disposizioni e le scadenze applicabili, con il supporto di figure competenti.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altre categorie che il sottotema chiede di conoscere. Gli obblighi di trasparenza, nell'articolo 50, applicabili dal 2 agosto 2026. I fornitori di sistemi che interagiscono con le persone, come i chatbot, devono progettarli in modo che le persone sappiano di interagire con un'AI, salvo che sia evidente. I fornitori di sistemi che generano contenuti sintetici, audio, immagini, video o testo, devono marcarli in un formato leggibile dalle macchine, così che si possa riconoscere che sono generati; per i sistemi già sul mercato il Digital Omnibus ha previsto un periodo transitorio fino al 2 dicembre 2026. I deployer che usano sistemi per creare deepfake devono dichiararne la natura artificiale, con alcune eccezioni per opere artistiche o satiriche; e chi usa l'AI per generare testi pubblicati per informare il pubblico su questioni di interesse pubblico deve dichiararlo, salvo revisione umana e responsabilità editoriale. I deployer di sistemi di riconoscimento delle emozioni o di categorizzazione biometrica, dove consentiti, devono informare le persone. I modelli per finalità generali, dal 2 agosto 2025: la differenza tra un modello, come un grande modello linguistico, e un sistema destinato a un impiego specifico. Gli obblighi riguardano i fornitori dei modelli: documentazione tecnica, informazioni per chi li integra, una politica di rispetto del diritto d'autore, una sintesi dei contenuti usati per l'addestramento; e obblighi aggiuntivi per i modelli con rischio sistemico. Per un'azienda che usa questi modelli, sono obblighi del fornitore, non suoi.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nelle sue due facce. Prima faccia: non tutta l'AI è ad alto rischio secondo l'AI Act, e il fatto di usare AI generativa non determina da solo questa qualificazione. È un equivoco diffuso, nato dall'attenzione mediatica: si pensa che l'AI Act 'vieti' o 'regoli pesantemente' strumenti come gli assistenti conversazionali. In realtà, la grande maggioranza degli usi aziendali dell'AI generativa, come scrivere, riassumere, tradurre, analizzare documenti, non rientra in alcuna categoria ad alto rischio. Seconda faccia, che il documento sottolinea con la stessa forza: la mancanza di qualificazione come alto rischio non implica assenza di rischi, vincoli o obblighi di altra natura. Un uso a rischio minimo secondo l'AI Act può comportare rischi seri di riservatezza, di sicurezza, di errore, di reputazione, visti nel Tema 17; e può essere soggetto al GDPR, al diritto d'autore, alle norme sui consumatori. È la distinzione tra classificazione legale del sistema e valutazione dei rischi operativi aziendali: la prima dice quali obblighi specifici dell'AI Act si applicano; la seconda, che vedremo nel 18.6, dice quali rischi l'azienda deve gestire, comunque. La consapevolezza del sottotema: il regime applicabile dipende dalla finalità e dalla qualificazione giuridica, non soltanto dalla presenza di un modello avanzato.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terzo sottotema. La piramide del rischio: pratiche vietate, alto rischio, trasparenza, rischio minimo, più i modelli per finalità generali. L'alto rischio passa per l'Allegato I, prodotti regolati, e l'Allegato III, otto ambiti tra cui lavoro e istruzione, con scadenze rinviate al 2027 e 2028. La finalità decide, con eccezioni precise. La selezione del personale è un esempio tipico. Generativa non è alto rischio, ma rischio minimo non è rischio zero. Esercizio suggerito: classificare in gruppo cinque usi fittizi dell'AI secondo la piramide, indicando per ciascuno che cosa si dovrebbe verificare con figure competenti.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e tra le priorità principali, da comprendere. La quarta domanda guida: quali responsabilità si collegano ai ruoli di provider e deployer? Vediamo i ruoli nella filiera, le responsabilità differenziate, quelle proprie delle aziende che usano soluzioni di terzi, l'importanza della finalità e delle istruzioni, i cambi di ruolo, la documentazione e i contratti, e la definizione interna di chi propone, autorizza, controlla e sospende. Integrazione B, con l'esempio A del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tra sviluppare, fornire, distribuire e usare un sistema di AI, e introduce le nozioni di provider e deployer. Il fornitore, o provider, è chi sviluppa un sistema o un modello di AI, o lo fa sviluppare, e lo immette sul mercato o lo mette in servizio con il proprio nome o marchio. È il soggetto con gli obblighi più estesi. Il deployer è chi usa un sistema di AI sotto la propria autorità, nell'ambito di un'attività professionale. Un'azienda che acquista e usa un assistente per i propri dipendenti è, in genere, un deployer. Non rientra in questa definizione l'uso personale non professionale. L'importatore è chi immette sul mercato europeo un sistema di un fornitore stabilito fuori dall'Unione. Il distributore è chi rende disponibile un sistema sul mercato, senza essere fornitore o importatore, come un rivenditore. Per i modelli per finalità generali c'è una figura specifica, il fornitore del modello, con obblighi propri, visti nel 18.3. Il sottotema ricorda anche che la stessa organizzazione può ricoprire ruoli diversi: per esempio essere deployer di un assistente acquistato e provider di un sistema che sviluppa internamente per i propri clienti. Le responsabilità sono differenziate in funzione del ruolo ricoperto, per ciascun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comprendere le responsabilità proprie delle aziende che usano soluzioni fornite da terzi. La consapevolezza del sottotema: impiegare sistemi di terzi non elimina automaticamente le responsabilità dell'organizzazione utilizzatrice. Il deployer ha responsabilità che dipendono dal tipo di sistema e di uso. Per tutti i sistemi: le misure per l'alfabetizzazione del personale, dell'articolo 4, che vedremo nel 18.7; e, quando applicabili, gli obblighi di trasparenza dell'articolo 50, per esempio sui deepfake. Per i sistemi ad alto rischio, gli obblighi più articolati visti nel 18.3: usarli secondo le istruzioni del fornitore; affidare la supervisione umana a persone con competenza, formazione e autorità; garantire che i dati di input sotto il proprio controllo siano pertinenti; monitorare il funzionamento e segnalare rischi e incidenti; conservare i registri; informare i lavoratori e le persone interessate; in alcuni casi, la valutazione d'impatto sui diritti fondamentali. A questi si aggiungono le responsabilità derivanti da altre norme, che non dipendono dal ruolo nell'AI Act: come titolare del trattamento dei dati secondo il GDPR, come datore di lavoro, come venditore verso i consumatori. In sintesi: il fornitore risponde di come il sistema è fatto; il deployer risponde di come lo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con il primo esempio del documento: acquistare un sistema dichiarato conforme non rende automaticamente conforme ogni suo uso. Un'azienda acquista un assistente di terzi e lo collega ai documenti interni. Il fornitore dichiara il prodotto conforme. La domanda: l'azienda può usarlo senza ulteriori verifiche? No, non automaticamente. La conformità dichiarata dal fornitore riguarda il prodotto, per gli usi previsti e alle condizioni indicate nelle sue istruzioni. Ma la conformità dell'uso dipende da elementi che il fornitore non controlla. La finalità concreta: per che cosa lo usa l'azienda? Se lo usa per uno scopo che rientra in un ambito ad alto rischio, il quadro cambia. I permessi e le informazioni trattate: a quali documenti è collegato, chi può vedere che cosa, se tratta dati personali, come visto nel Tema 14 e nel Tema 17. Il rispetto delle istruzioni del fornitore: limiti d'uso, configurazioni raccomandate, avvertenze. Gli obblighi propri dell'organizzazione, come il GDPR e l'informazione ai lavoratori. Anche la sicurezza delle integrazioni, come visto nel Tema 17. L'apprendimento: occorre considerare finalità concreta, permessi, informazioni trattate, istruzioni del fornitore e obblighi dell'organizzazione.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gli effetti che modifiche sostanziali o cambi di finalità possono avere sulla qualificazione e sulle responsabilità, nei casi previsti. L'AI Act prevede, nell'articolo 25, che un deployer, o un altro soggetto della filiera, possa diventare fornitore, con i relativi obblighi, in alcuni casi relativi ai sistemi ad alto rischio. Se appone il proprio nome o marchio su un sistema ad alto rischio già sul mercato. Se apporta una modifica sostanziale a un sistema ad alto rischio, in modo che resti ad alto rischio. Se modifica la finalità prevista di un sistema, compreso un sistema per finalità generali, in modo che diventi ad alto rischio. Quest'ultimo caso è il più rilevante per un'azienda che usa l'AI generativa: se un assistente generico, non destinato dal fornitore a usi ad alto rischio, viene configurato e usato per selezionare i candidati, l'azienda potrebbe trovarsi nella posizione di fornitore di un sistema ad alto rischio, con obblighi molto più estesi di quelli di un deployer. Sono valutazioni tecniche e giuridiche complesse, da fare con figure competenti. Il messaggio pratico: un cambio di finalità o una modifica importante non sono solo scelte operative; possono cambiare il ruolo, e quindi le responsabilità.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 rilevanza della finalità prevista dal fornitore, delle istruzioni e dell'uso concreto, e l'importanza della documentazione, dei contratti, delle condizioni e delle istruzioni del fornitore. È la terza precisazione trasversale del documento: l'acquisto e il contratto con il fornitore richiedono attenzione a finalità, istruzioni, documentazione e obblighi specifici. In pratica, quando si sceglie e si acquista uno strumento di AI, alcune informazioni del fornitore sono essenziali per la governance. La finalità prevista: per quali usi il fornitore ha progettato il sistema, e per quali lo esclude. Le istruzioni d'uso: limiti, configurazioni, avvertenze, condizioni di supervisione. Le condizioni sul trattamento dei dati: conservazione, uso per l'addestramento, luogo del trattamento, sub-fornitori, sicurezza, come visto nel Tema 17. Le condizioni sulla proprietà degli output e sulle garanzie in caso di contestazioni. Le informazioni sulle prestazioni e sui limiti noti. Gli impegni di aggiornamento e di comunicazione dei cambiamenti. Questa documentazione serve a diverse funzioni aziendali: acquisti, legale, protezione dei dati, IT, sicurezza. Non è compito dell'utilizzatore finale analizzarla, ma è compito dell'organizzazione farlo prima di approvare uno 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il coinvolgimento delle funzioni legale, privacy, IT, sicurezza, HR e management in base al contesto, e la definizione interna di chi propone, autorizza, controlla e sospende un uso. È il secondo dei tre piani dell'introduzione: le responsabilità organizzative. Il documento chiede di identificare quattro azioni, per ciascun uso rilevante. Chi propone: di solito chi ha il bisogno, una funzione o un responsabile, come visto nel Tema 15. Chi autorizza: chi ha il potere di decidere se l'uso è accettabile, considerati rischi e obblighi. Chi controlla: chi verifica che l'uso avvenga come previsto, e che i controlli funzionino. Chi sospende: chi può fermare un uso quando emerge un problema, rapidamente. Le funzioni da coinvolgere dipendono dal contesto. La funzione legale, per gli obblighi normativi e i contratti. Il responsabile della protezione dei dati, per i dati personali. L'IT e la sicurezza, per gli strumenti, le integrazioni e i rischi tecnici. Le risorse umane, per gli usi che riguardano i lavoratori. Il management, per le priorità e le risorse. In una piccola azienda, più ruoli possono coincidere in poche persone: il punto non è avere molte figure, ma che le quattro azioni abbiano qualcuno che se ne occupa.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quarto sottotema. Provider, deployer, importatore e distributore hanno ruoli e responsabilità diversi, e la stessa organizzazione può averne più di uno. Il deployer ha obblighi propri, più articolati per l'alto rischio, oltre a quelli di altre norme. Un prodotto conforme non rende conforme ogni uso. Cambi di finalità e modifiche sostanziali possono trasformare un deployer in provider. Documentazione e contratti del fornitore sono essenziali. All'interno, servono responsabili per proporre, autorizzare, controllare e sospendere. Esercizio suggerito: per uno strumento di AI usato in azienda, individuare il ruolo dell'organizzazione e chi, internamente, propone, autorizza, controlla e può sospendere il suo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e tra le priorità principali, da comprendere e applicare. La quinta domanda guida: quali indicazioni dovrebbe contenere una policy aziendale sull'AI? Vediamo funzione e obiettivi di una policy, gli elementi principali, la differenza tra policy scritta e policy praticata, la coerenza con gli strumenti disponibili e la revisione periodica. Integrazioni B e D. Il confine con il Tema 16: lì la chiarezza sulle regole come supporto all'adozione; qui i contenuti delle regole come strumento di governance. E con il Tema 17: lì i comportamenti dell'utente; qui le regole che l'organizzazione definisce.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dalla funzione e dagli obiettivi di una policy aziendale sull'AI. Una policy è un documento con cui l'organizzazione stabilisce le regole per l'uso dell'AI da parte delle persone che vi lavorano. Serve a diverse cose. Tradurre gli obblighi normativi in comportamenti concreti: le persone non possono leggere l'AI Act, ma possono seguire indicazioni chiare. Esprimere le scelte dell'organizzazione, oltre la legge: quali strumenti, quali usi, quali cautele. Dare certezza alle persone: sapere che cosa si può fare riduce sia l'astensione sia lo Shadow AI, come visto nel Tema 16. Distribuire le responsabilità: chi autorizza, chi supporta, a chi segnalare. Costituire un riferimento per i controlli e per la formazione. È il punto in cui i tre piani dell'introduzione si incontrano: la policy traduce gli obblighi normativi, assegna le responsabilità organizzative, e descrive le misure operative. Il documento, con le integrazioni B e D, chiede due attenzioni: la policy deve disciplinare gli usi concreti, anche di prodotti forniti da terzi, e non solo gli strumenti; e deve essere proporzionata alle esigenze reali, non un documento generico preso da un modello.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gli elementi principali di una policy, che possiamo organizzare in una struttura essenziale. Gli strumenti approvati e i criteri per approvarne di nuovi: quali strumenti si possono usare, con quale account, e come chiedere di usarne altri. Gli usi, distinti in quattro categorie che il documento indica con precisione: consentiti, cioè liberi entro le regole generali; soggetti a condizioni, cioè consentiti con cautele specifiche; da autorizzare, cioè che richiedono un'approvazione preventiva o una valutazione specialistica; vietati. Le regole sulla condivisione di dati e documenti: quali informazioni si possono inserire, in quali strumenti, con quali precauzioni, come visto nel Tema 17. Le indicazioni per la revisione e la supervisione degli output, proporzionate alla criticità. Le condizioni di uso e pubblicazione dei contenuti generati, compresa la trasparenza e il diritto d'autore. Le responsabilità e i comportamenti attesi dai collaboratori. I canali per richieste, dubbi, anomalie e incidenti. E l'indicazione di chi mantiene la policy e quando viene rivista. Non serve che sia lunga: molte policy efficaci stanno in poche pagine, con esempi.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Approfondiamo l'elemento centrale della policy: la classificazione degli usi in quattro categorie. È uno strumento semplice e molto efficace, perché permette alle persone di orientarsi rapidamente. Gli esempi in slide sono indicativi e fittizi: ogni organizzazione li definisce in base ai propri strumenti, rischi e obblighi. Consentiti: bozze di testi interni, riformulazioni, sintesi di documenti non riservati, idee, traduzioni di materiali pubblici, con gli strumenti approvati e le precauzioni generali. Soggetti a condizioni: comunicazioni verso clienti, con revisione obbligatoria; uso di documenti interni, solo negli strumenti aziendali; contenuti per la pubblicazione, con verifica dei diritti e indicazione dell'uso dell'AI quando richiesto. Da autorizzare: nuovi strumenti o integrazioni con i sistemi aziendali; usi che riguardano dati personali in modo sistematico; usi che riguardano decisioni sulle persone, come selezione e valutazione, che possono rientrare nell'alto rischio; agenti con capacità operative. Vietati: inserire dati personali o riservati in strumenti non approvati; usare l'AI per pratiche vietate dall'AI Act, come il riconoscimento delle emozioni dei colleghi; presentare contenuti sintetici come autentici; condividere credenziali. Il valore della classificazione sta soprattutto nelle due categorie intermedie: dicono che cosa si può fare, a quali condizioni, invece di lasciare solo l'alternativa tra libero e vietato.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più importante del sottotema, e la sua consapevolezza: la differenza tra una policy scritta e una policy conosciuta e concretamente praticabile. Una policy è utile quando orienta decisioni e comportamenti concreti, non soltanto quando esiste come documento. Molte organizzazioni hanno policy sull'AI che nessuno conosce, o che nessuno riesce ad applicare. Le cause sono ricorrenti. Il testo è lungo, giuridico, astratto: le persone non lo leggono, o non lo capiscono. Le regole non sono coerenti con gli strumenti effettivamente disponibili: la policy dice di usare solo strumenti approvati, ma non ne è stato approvato nessuno adatto alle esigenze, e le persone usano altro. Le regole sono troppo restrittive rispetto alle esigenze reali, e vengono aggirate. Non è chiaro a chi chiedere in caso di dubbio. La policy non viene aggiornata, e diventa obsoleta rispetto agli strumenti. Il sottotema chiede quindi testi accessibili, comprensibili e applicabili; coerenza con gli strumenti disponibili; un equilibrio tra autonomia dell'utilizzatore e controlli; e una revisione periodica. Una buona verifica: chiedere a qualche collega, senza preavviso, che cosa dice la policy su un caso concreto. Se non lo sa, la policy non funziona ancora.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rendere concreto il sottotema, un esempio di policy essenziale, interamente fittizio e semplificato, per un'azienda di medie dimensioni che usa un assistente aziendale approvato. Non è un modello da copiare, ma un'illustrazione di come gli elementi visti possono stare in una pagina. Notate alcune caratteristiche. È breve e scritta in linguaggio semplice. Dice prima che cosa si può fare, poi che cosa richiede attenzione o autorizzazione, poi che cosa è vietato. Dà esempi. Indica chi contattare. Indica quando sarà rivista. Una policy reale andrebbe costruita con le funzioni competenti, legale, protezione dei dati, IT, risorse umane, sulla base degli strumenti, dei rischi e degli obblighi specifici dell'organizzazione, e accompagnata da formazione e supporto. Suggerimento per l'aula: chiedere ai partecipanti di confrontare l'esempio con la policy della propria azienda, se esiste, o di individuare che cosa manca all'esempio per il loro contesto.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quinto sottotema. La policy traduce obblighi, esprime scelte, dà certezza, distribuisce responsabilità. I suoi elementi: strumenti, usi in quattro categorie, dati, output, persone, canali, manutenzione. Le categorie intermedie, soggetti a condizioni e da autorizzare, sono le più utili. Una policy scritta non è una policy praticata: servono testi semplici, strumenti coerenti, canali chiari, revisione. Deve riguardare gli usi concreti, anche di prodotti di terzi, ed essere proporzionata. Esercizio suggerito: in piccoli gruppi, classificare dieci usi fittizi dell'AI nelle quattro categorie per il proprio reparto, e confrontare le scelte tra gruppi.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Sesto sottotema, priorità alta, da comprendere. La sesta domanda guida: come si organizzano controlli, supervisione e valutazione dei rischi? Il documento distingue: il 18.3 tratta le categorie giuridiche, il 18.6 la valutazione e i controlli nel contesto aziendale; il 18.6 le misure, il 18.7 le competenze. Vediamo l'inventario degli usi, la valutazione dei rischi, i tipi di misure, la supervisione progettata, documentazione e tracciabilità, monitoraggio e incidenti, riesame e rischio residuo. Integrazioni A e B. Il calcolo avanzato del rischio e i sistemi di gestione completi vanno solo accennati.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passo del sottotema, e di ogni governance: l'identificazione dei sistemi di AI e degli usi rilevanti in azienda. Non si può governare ciò che non si conosce. Eppure molte organizzazioni non sanno quali strumenti di AI vengono usati, da chi e per che cosa, come visto con lo Shadow AI. Un inventario degli usi, anche semplice, è la base di tutto il resto. Per ciascun uso rilevante, poche informazioni: lo strumento e il fornitore; la finalità; chi lo usa e quanti; quali informazioni tratta, in particolare dati personali o riservati; se produce effetti verso l'esterno o decisioni sulle persone; il responsabile interno; la classificazione secondo l'AI Act, se pertinente; i controlli previsti. L'inventario non deve essere un censimento burocratico di ogni uso individuale, ma una mappa degli usi che contano. Si costruisce con le funzioni e con le persone, chiedendo, non solo guardando i contratti, perché molti usi non passano dagli acquisti. E va aggiornato, perché gli usi cambiano rapidamente. La tabella mostra alcune righe di un inventario fittizio. È anche lo strumento con cui si individuano gli usi che richiedono attenzione particolare.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valutare i rischi in rapporto al contesto operativo, considerando i possibili effetti su persone, dati, processi, attività e reputazione, e di distinguere la classificazione dell'AI Act dalla valutazione aziendale dei rischi. Abbiamo visto nel 18.3 che la classificazione legale dice quali obblighi specifici si applicano. La valutazione aziendale dei rischi dice quali rischi l'organizzazione deve gestire, che siano regolati o no. Le due cose vanno fatte entrambe, e possono dare risultati diversi. L'integrazione A lo dice con chiarezza: anche un uso non classificato ad alto rischio può richiedere controlli. Un assistente collegato all'intero archivio documentale non è ad alto rischio secondo l'AI Act, ma può esporre informazioni riservate, come visto nei Temi 14 e 17. La valutazione aziendale considera le dimensioni del rischio viste nel Tema 17: probabilità e gravità, reversibilità, chi è coinvolto. E considera gli effetti su diversi oggetti: le persone, clienti e lavoratori; i dati, personali e riservati; i processi e le attività, con errori o interruzioni; la reputazione. Non serve un metodo complesso, che il documento chiede di solo accennare; serve porsi le domande giuste, con le persone giuste, per gli usi che contano.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le misure preventive, di rilevazione e correttive, e alcune misure specifiche: autorizzazioni, separazione dei ruoli e gestione dei privilegi. È una classificazione classica dei controlli, utile per verificare che non manchi nessun tipo. Le misure preventive riducono la probabilità che un problema si verifichi: la scelta di strumenti approvati, le configurazioni, i permessi minimi visti nel Tema 14, la formazione, le regole della policy, le autorizzazioni preventive per gli usi delicati. Le misure di rilevazione permettono di accorgersi quando un problema si verifica: il monitoraggio, i registri, le verifiche a campione, i canali di segnalazione. Le misure correttive permettono di intervenire e limitare i danni: la sospensione di un uso, la correzione, la comunicazione alle persone interessate, la revisione delle regole. La separazione dei ruoli significa che chi propone un uso non è la stessa persona che lo autorizza e lo controlla, quando i rischi lo giustificano. La gestione dei privilegi riguarda chi ha accesso a quali strumenti, configurazioni e informazioni. Un sistema di controlli equilibrato ha misure di tutti e tre i tipi: solo la prevenzione lascia ciechi sui problemi che sfuggono; solo la rilevazione arriva sempre tardi.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una supervisione umana progettata come possibilità effettiva di comprendere, intervenire e arrestare il processo. Nel Tema 17 abbiamo visto, dal punto di vista della persona, le quattro condizioni del controllo effettivo: competenze, informazioni, tempo e potere di intervento, e il rischio della supervisione solo apparente. Qui guardiamo al lato dell'organizzazione: quelle condizioni non dipendono solo dalla persona, ma da come l'organizzazione progetta i processi. È l'organizzazione che decide chi supervisiona, e se ha la competenza e la formazione necessarie; che dà accesso alle informazioni per controllare, come i dati di partenza e le fonti; che dimensiona i carichi di lavoro in modo che ci sia tempo per verificare; che dà alla persona l'autorità di fermare o modificare, senza conseguenze negative; che prevede la possibilità tecnica di arrestare un processo automatico. Per i sistemi ad alto rischio, l'AI Act chiede espressamente ai deployer di affidare la supervisione a persone con competenza, formazione e autorità adeguate, e ai fornitori di progettare i sistemi in modo da consentirla. Ma il principio vale per tutti gli usi rilevanti: se l'organizzazione chiede a una persona di 'supervisionare' senza darle le condizioni per farlo, ha creato un controllo solo sulla carta.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documentazione e tracciabilità proporzionate alla criticità e agli obblighi, il monitoraggio del comportamento dei sistemi e delle anomalie, la segnalazione e gestione degli incidenti. La documentazione e la tracciabilità: sapere che cosa è stato deciso e perché, quali strumenti sono stati approvati e a quali condizioni, quali controlli sono previsti. Per i sistemi ad alto rischio, l'AI Act prevede la conservazione dei registri generati dal sistema; per gli altri usi, la documentazione deve essere proporzionata: troppa è un peso inutile, troppo poca impedisce di ricostruire e migliorare. Il monitoraggio: verificare nel tempo che i sistemi si comportino come previsto, che non emergano errori sistematici, che gli aggiornamenti dei fornitori non abbiano cambiato il comportamento, come visto nel Tema 16 dal punto di vista dell'adozione. La gestione degli incidenti: un incidente può essere una divulgazione di informazioni, un errore con conseguenze per un cliente, un comportamento anomalo di un assistente, una discriminazione, una manipolazione. Serve sapere chi riceve le segnalazioni, come si valuta la gravità, chi decide le azioni, chi comunica e a chi, e come si impara dall'accaduto. Per alcuni incidenti esistono obblighi di notifica, come quelli del GDPR sulle violazioni di dati personali, o quelli dell'AI Act sugli incidenti gravi dei sistemi ad alto rischio.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il riesame periodico dei controlli, specie dopo modifiche significative; il coinvolgimento specialistico per gli usi più sensibili; e il riconoscimento del rischio residuo dopo l'applicazione delle misure. Il riesame: i controlli vanno rivisti periodicamente, e in particolare quando cambia qualcosa di importante: un nuovo strumento o una nuova versione, un nuovo uso, un incidente, una nuova norma, un cambiamento organizzativo. È il ciclo di vita del 18.1 applicato ai controlli. Il coinvolgimento specialistico: per gli usi più sensibili, come quelli ad alto rischio, quelli che riguardano decisioni sulle persone o dati particolarmente delicati, servono competenze specifiche, legali, tecniche, di protezione dei dati, interne o esterne. Il rischio residuo: nessun insieme di controlli elimina tutti i rischi. Dopo le misure, resta un rischio residuo, che va riconosciuto, valutato e accettato consapevolmente da chi ne ha l'autorità, oppure ridotto ulteriormente, o evitato rinunciando all'uso. È lo stesso concetto visto nel Tema 15 per le opportunità, a livello di organizzazione. La consapevolezza del sottotema: i controlli sono efficaci quando funzionano nella pratica e sono mantenuti nel tempo, non soltanto quando risultano descritti. E l'integrazione B: la conformità del prodotto non elimina le verifiche sull'impiego aziendale.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sesto sottotema. Si parte dall'inventario degli usi che contano. La valutazione aziendale dei rischi è distinta dalla classificazione legale: anche usi non ad alto rischio richiedono controlli. Servono misure preventive, di rilevazione e correttive, con separazione dei ruoli e gestione dei privilegi. La supervisione va progettata dall'organizzazione. Documentazione, monitoraggio e gestione degli incidenti sono proporzionati. I controlli si riesaminano, e il rischio residuo si accetta consapevolmente. Esercizio suggerito: per un uso fittizio, un chatbot sul sito aziendale, individuare una misura preventiva, una di rilevazione e una correttiva, e chi ne è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e tra le priorità principali, da comprendere. La settima domanda guida: che cosa richiede un approccio contestualizzato all'AI literacy? È il sottotema che riguarda più direttamente questo percorso. Vediamo il significato di AI literacy, l'articolo 4 dell'AI Act e la sua riscrittura nel 2026, le misure organizzative, la differenziazione per ruoli, il rapporto tra formazione introduttiva e approfondimento, la documentazione, e la differenza tra un attestato e la valutazione degli obblighi. Integrazione C, con l'esempio C del documento. Il confine con il Tema 16: lì la formazione come leva di adozione, qui come misura di alfabetizzazione nel quadro delle responsabilità organizzative.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dal significato di alfabetizzazione all'intelligenza artificiale, o AI literacy. L'AI Act ne dà una definizione, nell'articolo 3: in sintesi, le competenze, le conoscenze e la comprensione che consentono a fornitori, deployer e persone interessate, tenendo conto dei rispettivi diritti e obblighi, di usare i sistemi di AI in modo informato, e di essere consapevoli delle opportunità, dei rischi e dei possibili danni che l'AI può causare. Notate tre elementi. È un insieme di competenze, conoscenze e comprensione: non solo sapere come funziona, ma saper usare e saper valutare. È relativa al ruolo e al contesto: ciò che serve a un fornitore è diverso da ciò che serve a un deployer o a una persona interessata. E comprende sia le opportunità sia i rischi: non è solo prudenza, ma anche capacità di cogliere il valore. È esattamente l'impostazione di questo percorso, che ha attraversato in diciotto temi i fondamenti, l'interazione, le possibilità, il valore per l'azienda e l'uso responsabile. Il sottotema chiede di considerare l'importanza di comprendere limiti, rischi e modalità appropriate di uso: l'alfabetizzazione non è entusiasmo, né diffidenza, ma la base per usare l'AI con giudizio.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 rilevanza dell'articolo 4 dell'AI Act, tenendo conto del testo vigente, e la nota per il formatore lo sottolinea. È un punto in cui la normativa è cambiata. Nel testo originale, applicabile dal 2 febbraio 2025, l'articolo 4 chiedeva a fornitori e deployer di adottare misure per garantire, nella misura del possibile, un livello sufficiente di alfabetizzazione del proprio personale e delle altre persone che si occupano dei sistemi per loro conto, tenendo conto delle loro conoscenze tecniche, esperienza, istruzione e formazione, del contesto d'uso e delle persone su cui i sistemi sono usati. Il Digital Omnibus, il Regolamento 2026/1744, in vigore dal 27 luglio 2026, ha riscritto l'articolo. Secondo il nuovo testo, verificato sul regolamento pubblicato nella Gazzetta Ufficiale dell'Unione (articolo 1, punto 5), fornitori e deployer devono ora adottare misure per sostenere lo sviluppo dell'alfabetizzazione del proprio personale e di chi opera per loro conto; il testo precisa che l'obbligo non richiede di garantire un livello specifico di alfabetizzazione di ciascun individuo. Un secondo paragrafo affida alla Commissione e agli Stati membri il compito di sostenere questi sforzi, con attenzione alle piccole e medie imprese. In sintesi: l'obbligo resta, ma è un obbligo di adottare misure, non di garantire un risultato individuale. È coerente con quanto il documento di perimetro già chiedeva di distinguere: adottare misure adeguate non è garantire un livello individuale predeterminato.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le misure organizzative per favorire conoscenze e competenze adeguate, i destinatari e le differenze tra ruoli, la valutazione di conoscenze pregresse, esperienza, formazione e contesto, il rapporto tra formazione introduttiva e approfondimento per ruolo, le esercitazioni in attività reali e l'aggiornamento continuo. La consapevolezza del sottotema: le misure formative devono essere commisurate a persone, ruoli, sistemi e contesti d'uso. In pratica, un approccio contestualizzato distingue diversi livelli. Una base comune per tutti, che è ciò che fa un percorso di AI Awareness come questo: che cosa sono i sistemi, come usarli, quali rischi, quali regole aziendali. Approfondimenti per ruolo: chi usa l'AI per comunicare con i clienti, chi la usa per analisi, chi gestisce persone, chi seleziona il personale, chi sviluppa o integra sistemi, chi supervisiona sistemi ad alto rischio ha bisogno di competenze specifiche, come visto nel Tema 16. Formazione sugli strumenti effettivamente in uso, con le loro caratteristiche e limiti. Esercitazioni su attività reali. Aggiornamento quando cambiano gli strumenti, gli usi o le regole. Il sottotema ricorda anche il ruolo dei fornitori e dei deployer: entrambi hanno obblighi di alfabetizzazione per il proprio personale; e le istruzioni e i materiali dei fornitori possono contribuire a quella dei deployer.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del tema, con il terzo esempio del documento, e un esempio che riguarda direttamente noi. I dipendenti hanno partecipato a un corso introduttivo di AI. La domanda: la frequenza del corso attesta automaticamente la piena conformità all'articolo 4? No. Il percorso contribuisce all'alfabetizzazione, ma l'adeguatezza delle misure deve essere considerata rispetto a ruoli, esperienze, sistemi e contesti. Un corso introduttivo, anche ben fatto, è una base comune: non sostituisce gli approfondimenti per ruolo, la formazione sugli strumenti in uso, le esercitazioni, il supporto, l'aggiornamento. E, come visto nel Tema 16, la formazione da sola non produce comportamenti nel lavoro. Il sottotema aggiunge due distinzioni. È utile registrare e documentare le attività formative, per esempio chi ha partecipato, a quali contenuti, con quali risultati; ma questa registrazione non va presentata come prova automatica di conformità. E un attestato di partecipazione non equivale alla valutazione degli obblighi applicabili. Con la riscrittura dell'articolo 4 nel 2026, questo punto è ancora più chiaro: l'obbligo è adottare misure adeguate per sostenere lo sviluppo dell'alfabetizzazione, e la loro adeguatezza dipende dal contesto, non dal numero di attestati.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settimo sottotema. L'AI literacy è un insieme di competenze, conoscenze e comprensione, relativo al ruolo, che riguarda opportunità e rischi. L'articolo 4, riscritto dal Digital Omnibus nel 2026, chiede a fornitori e deployer misure per sostenere lo sviluppo dell'alfabetizzazione, senza garantire un livello individuale. Le misure si articolano in base comune, approfondimenti per ruolo, formazione sugli strumenti, aggiornamento. Registrazioni e attestati sono utili, ma non sono prove automatiche di conformità. Esercizio suggerito: per il proprio ruolo, indicare che cosa di questo percorso è sufficiente, e quali approfondimenti specifici servirebbero, considerando gli strumenti e le attività reali.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sottotema, priorità alta, da conoscere. L'ottava domanda guida: come rendere la governance proporzionata alle attività e alle dimensioni aziendali? Il documento distingue: il 18.1 spiega perché serve una governance, il 18.5 i contenuti delle regole, il 18.8 come coordinare l'insieme di regole, competenze e verifiche. Vediamo i presidi essenziali, la proporzionalità, il collegamento tra regole, formazione e supporto, i framework e gli standard volontari, e il miglioramento continuo. Integrazioni C e D, con l'esempio D del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le componenti di una governance, che possiamo leggere come un insieme di presidi essenziali, validi per qualsiasi organizzazione, in forma più o meno strutturata. Primo: la mappatura degli strumenti e dei principali usi, vista nel 18.6. Secondo: l'individuazione di referenti, responsabilità e percorsi decisionali, cioè chi propone, autorizza, controlla, sospende, visto nel 18.4. Terzo: le modalità per proporre, valutare e autorizzare nuovi strumenti e usi, con il coinvolgimento delle funzioni pertinenti, legale, protezione dei dati, IT, risorse umane. Quarto: le policy essenziali, definite e mantenute, viste nel 18.5. Quinto: i criteri per autorizzazioni, controlli e segnalazioni, visti nel 18.6. Sesto: il collegamento tra regole, formazione e supporto agli utilizzatori: le regole devono essere insegnate, e le persone devono sapere a chi chiedere, come visto nel 18.7 e nel Tema 16. Settimo: il monitoraggio degli usi, delle anomalie e dei cambiamenti. Ottavo: il riesame periodico dei sistemi, dei rischi e delle pratiche. Lo schema in slide li mostra come un ciclo. In una piccola azienda possono stare in un documento di poche pagine e in una riunione periodica; in una grande organizzazione richiedono strutture dedicate. Ma le funzioni sono le stesse.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con il quarto esempio del documento: la governance deve essere proporzionata, non necessariamente complessa. Una piccola impresa impiega un assistente approvato per usi limitati, come bozze, sintesi e traduzioni. Una seconda organizzazione sviluppa o usa sistemi di AI in attività particolarmente delicate, come la selezione del personale o la valutazione del credito. La domanda: devono necessariamente adottare gli stessi processi e strutture? No. I presidi possono variare in proporzione a usi, rischi e obblighi. La piccola impresa può avere una policy di una pagina, un referente, un elenco degli strumenti approvati, una formazione di base, e un momento periodico di verifica. La seconda organizzazione avrà bisogno di valutazioni dei rischi documentate, dell'analisi della classificazione secondo l'AI Act, degli obblighi del deployer o del fornitore per l'alto rischio, di valutazioni d'impatto, di supervisione progettata, di registri e monitoraggio, di competenze specialistiche. Ma l'apprendimento del documento ha una seconda parte, decisiva: senza trasformare la proporzionalità in un'esenzione. La piccola impresa che decidesse di usare l'AI per selezionare il personale avrebbe gli stessi obblighi della grande, per quell'uso. La proporzionalità riguarda la forma dei presidi, non l'esistenza degli obblighi.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un cenno a framework e standard volontari, senza presentarli come obbligatori in modo indistinto, e la distinzione tra adempimenti legali e ulteriori scelte di gestione. Esistono diversi riferimenti che un'organizzazione può usare per strutturare la propria governance dell'AI. La norma ISO/IEC 42001 del 2023 definisce i requisiti di un sistema di gestione dell'AI, sul modello di altre norme di sistema di gestione come la ISO 9001 per la qualità o la ISO/IEC 27001 per la sicurezza delle informazioni; un'organizzazione può certificarsi. La ISO/IEC 23894 del 2023 dà indicazioni sulla gestione del rischio per l'AI. Il NIST AI Risk Management Framework, pubblicato nel 2023 dall'istituto statunitense per gli standard, propone un'impostazione articolata in quattro funzioni: governare, mappare, misurare, gestire. A livello europeo, sono previsti standard armonizzati collegati all'AI Act, il cui stato va verificato prima di ogni edizione, che possono aiutare a dimostrare la conformità per l'alto rischio. Sono strumenti utili, ma volontari: non sono obbligatori in generale, salvo quando una norma o un contratto vi rinviano. Adottarli è una scelta di gestione, che può avere senso per organizzazioni con usi complessi o che vogliono dimostrare la propria affidabilità; per una piccola azienda con usi semplici, i presidi essenziali sono spesso sufficienti. Il documento chiede di solo accennarvi.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nella sua seconda collocazione: la formazione è una componente del sistema di governance, non il sistema stesso. È un equivoco frequente, e comprensibile: dopo aver organizzato un percorso di formazione, si può avere l'impressione di aver 'fatto l'AI Act'. Ma la formazione funziona solo se è collegata alle altre componenti. Senza strumenti approvati, le persone formate non hanno con che cosa applicare. Senza una policy, non sanno quali regole seguire. Senza referenti e supporto, le domande che nascono nel lavoro restano senza risposta. Senza controlli e monitoraggio, non si sa se i comportamenti appresi vengono applicati. Senza riesame, la formazione invecchia con gli strumenti. Viceversa, regole e controlli senza formazione restano lettera morta: le persone non li conoscono o non li capiscono. Lo schema in slide mostra la formazione al centro di un sistema di componenti collegate. Per questo percorso, il messaggio è concreto: il valore di ciò che abbiamo fatto in questi diciotto temi dipende anche da ciò che l'organizzazione farà intorno, strumenti, regole, supporto, controlli, e da ciò che ciascuno farà nel proprio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una checklist concettuale di governance aziendale, che il sottotema traduce in uno strumento di orientamento. Nove domande. Sono noti gli strumenti di AI e i principali usi presenti nell'organizzazione? Per gli usi rilevanti è stata considerata la normativa applicabile? È chiaro quando l'azienda opera come deployer, provider o in altri ruoli? Esistono indicazioni comprensibili su strumenti approvati, usi consentiti e dati condivisibili? Sono individuati referenti e modalità di richiesta di supporto e autorizzazione? Sono previsti controlli proporzionati ai rischi e agli obblighi? Le misure di AI literacy sono coerenti con persone, ruoli e sistemi usati? Esiste un modo per segnalare anomalie e riesaminare gli usi? Le regole e i controlli sono aggiornati quando cambia il contesto? Il documento precisa, e va ripetuto: la checklist è uno strumento di orientamento didattico, non una prova di conformità. Aiuta a capire quali domande porre; per valutare il rispetto degli obblighi applicabili servono approfondimenti e, dove necessario, figure competenti.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la distinzione tra presidi essenziali e strutture articolate, il miglioramento continuo, l'adeguamento alle evoluzioni normative e tecniche. La governance dell'AI non si costruisce una volta per tutte. Si comincia, di solito, dai presidi essenziali: sapere che cosa si usa, chi decide, quali regole, a chi chiedere. Poi si migliora, in base a ciò che si osserva: gli incidenti, le domande delle persone, i nuovi strumenti, i nuovi usi. E si adegua alle evoluzioni normative e tecniche, che nel campo dell'AI sono particolarmente rapide: in poco più di due anni dall'entrata in vigore, l'AI Act ha già avuto un'importante modifica con il Digital Omnibus, sono state pubblicate linee guida, codici di buone pratiche, leggi nazionali, e gli strumenti sono cambiati profondamente. È il principio del miglioramento continuo, visto nel Tema 16 per l'adozione, applicato alla governance. La consapevolezza del sottotema chiude il tema: non esiste un modello organizzativo unico valido per tutte le aziende, ma è necessario rispettare gli obblighi pertinenti e rendere effettivi i controlli scelti. Due condizioni, entrambe non negoziabili, con una grande libertà su come soddisfarle.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I presidi essenziali sono gli stessi per tutti: mappare, assegnare responsabilità, autorizzare, regolare, controllare, formare e supportare, monitorare, riesaminare. Cambia la forma, in proporzione a usi, rischi e obblighi, senza diventare un'esenzione. Framework e standard sono utili ma volontari. La formazione è una componente della governance, non la governance. La checklist orienta, non certifica. La governance migliora nel tempo e si adegua all'evoluzione. Esercizio suggerito: applicare la checklist dei nove punti alla propria organizzazione, o al proprio reparto, indicando per ciascuna domanda sì, no o non so, e individuando le tre priorità.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Perché una regolamentazione e una governance: perché l'AI può incidere su diritti, sicurezza e persone, e perché i comportamenti dei singoli hanno bisogno di regole, responsabilità e controlli condivisi. AI Act, GDPR e altre discipline: l'AI Act è centrale, ma si applica insieme al GDPR, al diritto del lavoro, ai consumatori, al diritto d'autore, alle discipline settoriali e alla legge nazionale. Classificazione per rischio: pratiche vietate, alto rischio, trasparenza, rischio minimo; decide la finalità; generativa non è alto rischio, ma rischio minimo non è rischio zero. Provider e deployer: il fornitore risponde di come il sistema è fatto, il deployer di come lo usa; un prodotto conforme non rende conforme ogni uso. Policy: strumenti, usi in quattro categorie, dati, output, canali; scritta e praticata. Controlli e supervisione: inventario, valutazione nel contesto, misure preventive, di rilevazione e correttive, supervisione progettata, riesame. AI literacy: misure commisurate, che un corso introduttivo avvia ma non esaurisce. Proporzionalità: nella forma dei presidi, non nell'esistenza degli obblighi.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saper: spiegare che cosa significa governance dell'AI e perché non coincide con la sola conformità normativa; descrivere la finalità generale dell'AI Act e il rapporto con altre normative; comprendere l'approccio europeo alla classificazione basata sul rischio; evitare di equiparare automaticamente AI generativa e sistema ad alto rischio; distinguere classificazione normativa e valutazione operativa del rischio; riconoscere le differenze tra provider, deployer e altri ruoli; comprendere che usare sistemi di terzi può comportare responsabilità proprie; spiegare a che cosa serve una policy aziendale sull'AI; riconoscere il ruolo di valutazione dei rischi, controlli, documentazione e supervisione; comprendere il significato dell'articolo 4 e delle misure di AI literacy contestualizzate; distinguere la partecipazione a un corso dalla verifica degli obblighi; comprendere il principio di proporzionalità della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le quattro integrazioni e i quattro esempi del documento, come sintesi del modulo. Sulla slide gli equivoci sono numerati da 1 a 4; le lettere restano agli esempi. Equivoco 1, integrazione A: equiparare ogni AI all'alto rischio, o al contrario pensare che senza alto rischio non ci siano obblighi. Esempio B, la selezione del personale: è la finalità che decide, e la qualificazione richiede verifiche. Equivoco 2, integrazione B: delegare interamente la conformità al fornitore. Esempio A, l'assistente acquistato e collegato ai documenti: un prodotto conforme non rende conforme ogni uso. Equivoco 3, integrazione C: confondere la formazione con la certificazione. Esempio C, il corso completato da tutti: contribuisce all'alfabetizzazione, ma non attesta la conformità all'articolo 4. Equivoco 4, integrazione D: identificare la governance con apparati necessariamente complessi. Esempio D, aziende diverse: i presidi variano in proporzione, senza che la proporzionalità diventi esenzione. Suggerimento per l'aula: usare questi quattro equivoci come esercizio finale, chiedendo ai partecipanti quale hanno sentito più spesso in 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frequenti quando si parla di regole e governance dell'AI, una per ciascuno dei passaggi principali del modulo. Primo: 'governare l'AI vuol dire vietarla'. La governance deve abilitare usi appropriati e conformi, non ridursi a un elenco di divieti; e la conformità non esaurisce il governo dell'AI. Secondo: 'la scadenza è il 2 agosto'. Non esiste una data unica per tutti gli obblighi, e le sintesi non sostituiscono le fonti ufficiali. Terzo: 'non siamo ad alto rischio, quindi non c'è niente da fare'. Restano rischi operativi e altre norme, come il GDPR; e, all'opposto, non tutta l'AI generativa è ad alto rischio. Conta la finalità: si classifica l'uso, non lo strumento, e cambiare finalità può cambiare il ruolo. Quarto: 'il fornitore dice che è conforme'. Un prodotto conforme non rende conforme ogni uso, e la responsabilità non passa tutta al fornitore. Quinto: 'abbiamo la policy, siamo a posto'. Una policy sconosciuta o non praticata non orienta nulla, e i controlli solo sulla carta non controllano. Sesto: 'tutti hanno l'attestato del corso'. Un attestato non prova la conformità all'articolo 4; e la proporzionalità riguarda la forma dei presidi, non è un'esenzione dagli obblighi. Suggerimento: chiedere ai partecipanti quale di queste frasi hanno sentito più spesso in 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18 si chiude il percorso di AI Literacy. In diciotto temi abbiamo attraversato cinque aree. Comprendere l'AI, nei Temi da 1 a 4: che cos'è, come funziona, che cosa sa fare e non fare, quali strumenti esistono. Interagire con l'AI, nei Temi da 5 a 7: come dialogare, come formulare le richieste, come verificare gli output con pensiero critico. Esplorare le possibilità dell'AI, nei Temi da 8 a 11: testi e documenti, dati e analisi, contenuti multimodali, assistenti, agenti e automazioni. Comprendere il valore per l'azienda, nei Temi da 12 a 16: creazione di valore, trasformazione del lavoro, dati e conoscenza aziendale, opportunità, adozione. Utilizzare l'AI responsabilmente, nei Temi 17 e 18: rischi e precauzioni dell'utilizzatore, norme e governance dell'organizzazione. Il filo che li lega è quello della definizione di AI literacy: competenze, conoscenze e comprensione per usare l'AI in modo informato, consapevoli delle opportunità e dei rischi. Come abbiamo detto nel 18.7 e nel Tema 16, il percorso è una base: il suo valore dipenderà dall'applicazione nel lavoro, dal confronto tra colleghi, dagli strumenti, dalle regole e dal supporto che l'organizzazione metterà a disposizione. Il passaggio successivo, indicato dal documento di perimetro, è una revisione trasversale dei diciotto temi, e la loro distribuzione nelle sessioni in presenza. Lasciare spazio alle domande finali, e ringraziare i partecipanti.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del modulo. Per gli obblighi normativi, riferirsi sempre ai testi ufficiali, e verificare prima di ogni edizione il testo vigente, le modifiche e le date di applicazione: la normativa sull'AI è in rapida evoluzione, e alcune informazioni del modulo, verificate a ottobre 2026, potrebbero cambiare. Verifiche sul testo ufficiale del Regolamento 2026/1744 (EUR-Lex), fatte a ottobre 2026: pubblicazione il 24 luglio 2026 ed entrata in vigore il 27 luglio 2026; nuove date per l'alto rischio, 2 dicembre 2027 per l'Allegato III e 2 agosto 2028 per l'Allegato I; transitorio di quattro mesi, fino al 2 dicembre 2026, per la marcatura dei sistemi già sul mercato; nuovo articolo 4; definizione di sistema di AI dell'articolo 3, punto 1, non modificata. Verificato anche lo spostamento del Regolamento Macchine (UE) 2023/1230 dalla sezione A alla sezione B dell'Allegato I (articolo 1, punto 41, e articolo 3 del Regolamento 2026/1744), con requisiti per l'AI integrati nel Regolamento Macchine tramite atti delegati applicabili entro il 2 agosto 2028. Non è stato possibile verificare sul testo ufficiale la data di applicazione dei due nuovi divieti, che per questo non è riportata. La Legge 132/2025 è stata verificata sulla Gazzetta Ufficiale. Gli esempi aziendali e la policy di esempio sono fittizi; i quattro esempi A-D sono tratti dal documento di perimetro e presentati come esempi fittizi. Questo modulo non costituisce un parere legale.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18  ·  Normativa, regole e governance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18  ·  Normativa, regole e governance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18  ·  Normativa, regole e governance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4.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4.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4.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4.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4.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4.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slideLayout" Target="../slideLayouts/slideLayout4.xml"/><Relationship Id="rId8"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18</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Normativa, regole e governance dell'AI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Utilizzare l'AI responsabilmente</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Prima di cominciare</a:t>
            </a:r>
            <a:endParaRPr lang="en-US" sz="2600" dirty="0"/>
          </a:p>
        </p:txBody>
      </p:sp>
      <p:sp>
        <p:nvSpPr>
          <p:cNvPr id="4" name="scheda Non è un parere legale"/>
          <p:cNvSpPr/>
          <p:nvPr/>
        </p:nvSpPr>
        <p:spPr>
          <a:xfrm>
            <a:off x="457200" y="1051560"/>
            <a:ext cx="2615184" cy="2743200"/>
          </a:xfrm>
          <a:prstGeom prst="roundRect">
            <a:avLst>
              <a:gd name="adj" fmla="val 2797"/>
            </a:avLst>
          </a:prstGeom>
          <a:solidFill>
            <a:schemeClr val="bg2"/>
          </a:solidFill>
          <a:ln/>
        </p:spPr>
      </p:sp>
      <p:sp>
        <p:nvSpPr>
          <p:cNvPr id="5" name="cerchio FiInfo"/>
          <p:cNvSpPr/>
          <p:nvPr/>
        </p:nvSpPr>
        <p:spPr>
          <a:xfrm>
            <a:off x="640080" y="1234440"/>
            <a:ext cx="457200" cy="457200"/>
          </a:xfrm>
          <a:prstGeom prst="ellipse">
            <a:avLst/>
          </a:prstGeom>
          <a:solidFill>
            <a:schemeClr val="accent1"/>
          </a:solidFill>
          <a:ln/>
        </p:spPr>
      </p:sp>
      <p:pic>
        <p:nvPicPr>
          <p:cNvPr id="6" name="Image 0" descr="FiInfo">    </p:cNvPr>
          <p:cNvPicPr>
            <a:picLocks noChangeAspect="1"/>
          </p:cNvPicPr>
          <p:nvPr/>
        </p:nvPicPr>
        <p:blipFill>
          <a:blip r:embed="rId1"/>
          <a:stretch>
            <a:fillRect/>
          </a:stretch>
        </p:blipFill>
        <p:spPr>
          <a:xfrm>
            <a:off x="754380" y="1348740"/>
            <a:ext cx="228600" cy="228600"/>
          </a:xfrm>
          <a:prstGeom prst="rect">
            <a:avLst/>
          </a:prstGeom>
        </p:spPr>
      </p:pic>
      <p:sp>
        <p:nvSpPr>
          <p:cNvPr id="7" name="Text 3"/>
          <p:cNvSpPr txBox="1"/>
          <p:nvPr/>
        </p:nvSpPr>
        <p:spPr>
          <a:xfrm>
            <a:off x="640080"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Non è un parere legale</a:t>
            </a:r>
            <a:endParaRPr lang="en-US" sz="1400" dirty="0"/>
          </a:p>
        </p:txBody>
      </p:sp>
      <p:sp>
        <p:nvSpPr>
          <p:cNvPr id="8" name="Text 4"/>
          <p:cNvSpPr txBox="1"/>
          <p:nvPr/>
        </p:nvSpPr>
        <p:spPr>
          <a:xfrm>
            <a:off x="640080" y="2185416"/>
            <a:ext cx="2249424" cy="1499616"/>
          </a:xfrm>
          <a:prstGeom prst="rect">
            <a:avLst/>
          </a:prstGeom>
          <a:noFill/>
          <a:ln/>
        </p:spPr>
        <p:txBody>
          <a:bodyPr wrap="square" lIns="0" tIns="0" rIns="0" bIns="0" rtlCol="0" anchor="t"/>
          <a:lstStyle/>
          <a:p>
            <a:pPr indent="0" marL="0">
              <a:buNone/>
            </a:pPr>
            <a:r>
              <a:rPr lang="en-US" sz="1200" dirty="0">
                <a:solidFill>
                  <a:schemeClr val="tx2"/>
                </a:solidFill>
              </a:rPr>
              <a:t>Formazione di consapevolezza, non audit di conformità. Per valutare gli obblighi servono figure competenti.</a:t>
            </a:r>
            <a:endParaRPr lang="en-US" sz="1200" dirty="0"/>
          </a:p>
        </p:txBody>
      </p:sp>
      <p:sp>
        <p:nvSpPr>
          <p:cNvPr id="9" name="scheda Norme in evoluzione"/>
          <p:cNvSpPr/>
          <p:nvPr/>
        </p:nvSpPr>
        <p:spPr>
          <a:xfrm>
            <a:off x="3264408" y="1051560"/>
            <a:ext cx="2615184" cy="2743200"/>
          </a:xfrm>
          <a:prstGeom prst="roundRect">
            <a:avLst>
              <a:gd name="adj" fmla="val 2797"/>
            </a:avLst>
          </a:prstGeom>
          <a:solidFill>
            <a:schemeClr val="accent6"/>
          </a:solidFill>
          <a:ln/>
        </p:spPr>
      </p:sp>
      <p:sp>
        <p:nvSpPr>
          <p:cNvPr id="10" name="cerchio FiRefreshCw"/>
          <p:cNvSpPr/>
          <p:nvPr/>
        </p:nvSpPr>
        <p:spPr>
          <a:xfrm>
            <a:off x="3447288" y="1234440"/>
            <a:ext cx="457200" cy="457200"/>
          </a:xfrm>
          <a:prstGeom prst="ellipse">
            <a:avLst/>
          </a:prstGeom>
          <a:solidFill>
            <a:schemeClr val="accent1"/>
          </a:solidFill>
          <a:ln/>
        </p:spPr>
      </p:sp>
      <p:pic>
        <p:nvPicPr>
          <p:cNvPr id="11" name="Image 1" descr="FiRefreshCw">    </p:cNvPr>
          <p:cNvPicPr>
            <a:picLocks noChangeAspect="1"/>
          </p:cNvPicPr>
          <p:nvPr/>
        </p:nvPicPr>
        <p:blipFill>
          <a:blip r:embed="rId2"/>
          <a:stretch>
            <a:fillRect/>
          </a:stretch>
        </p:blipFill>
        <p:spPr>
          <a:xfrm>
            <a:off x="3561588" y="1348740"/>
            <a:ext cx="228600" cy="228600"/>
          </a:xfrm>
          <a:prstGeom prst="rect">
            <a:avLst/>
          </a:prstGeom>
        </p:spPr>
      </p:pic>
      <p:sp>
        <p:nvSpPr>
          <p:cNvPr id="12" name="Text 7"/>
          <p:cNvSpPr txBox="1"/>
          <p:nvPr/>
        </p:nvSpPr>
        <p:spPr>
          <a:xfrm>
            <a:off x="3447288"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Norme in evoluzione</a:t>
            </a:r>
            <a:endParaRPr lang="en-US" sz="1400" dirty="0"/>
          </a:p>
        </p:txBody>
      </p:sp>
      <p:sp>
        <p:nvSpPr>
          <p:cNvPr id="13" name="Text 8"/>
          <p:cNvSpPr txBox="1"/>
          <p:nvPr/>
        </p:nvSpPr>
        <p:spPr>
          <a:xfrm>
            <a:off x="3447288" y="2185416"/>
            <a:ext cx="2249424" cy="1499616"/>
          </a:xfrm>
          <a:prstGeom prst="rect">
            <a:avLst/>
          </a:prstGeom>
          <a:noFill/>
          <a:ln/>
        </p:spPr>
        <p:txBody>
          <a:bodyPr wrap="square" lIns="0" tIns="0" rIns="0" bIns="0" rtlCol="0" anchor="t"/>
          <a:lstStyle/>
          <a:p>
            <a:pPr indent="0" marL="0">
              <a:buNone/>
            </a:pPr>
            <a:r>
              <a:rPr lang="en-US" sz="1200" dirty="0">
                <a:solidFill>
                  <a:schemeClr val="tx2"/>
                </a:solidFill>
              </a:rPr>
              <a:t>AI Act (Reg. UE 2024/1689) modificato dal Digital Omnibus (Reg. UE 2026/1744, in vigore dal 27 luglio 2026).</a:t>
            </a:r>
            <a:endParaRPr lang="en-US" sz="1200" dirty="0"/>
          </a:p>
        </p:txBody>
      </p:sp>
      <p:sp>
        <p:nvSpPr>
          <p:cNvPr id="14" name="scheda Verificato a ottobre 2026"/>
          <p:cNvSpPr/>
          <p:nvPr/>
        </p:nvSpPr>
        <p:spPr>
          <a:xfrm>
            <a:off x="6071616" y="1051560"/>
            <a:ext cx="2615184" cy="2743200"/>
          </a:xfrm>
          <a:prstGeom prst="roundRect">
            <a:avLst>
              <a:gd name="adj" fmla="val 2797"/>
            </a:avLst>
          </a:prstGeom>
          <a:solidFill>
            <a:schemeClr val="bg2"/>
          </a:solidFill>
          <a:ln/>
        </p:spPr>
      </p:sp>
      <p:sp>
        <p:nvSpPr>
          <p:cNvPr id="15" name="cerchio FiCalendar"/>
          <p:cNvSpPr/>
          <p:nvPr/>
        </p:nvSpPr>
        <p:spPr>
          <a:xfrm>
            <a:off x="6254496" y="1234440"/>
            <a:ext cx="457200" cy="457200"/>
          </a:xfrm>
          <a:prstGeom prst="ellipse">
            <a:avLst/>
          </a:prstGeom>
          <a:solidFill>
            <a:schemeClr val="accent1"/>
          </a:solidFill>
          <a:ln/>
        </p:spPr>
      </p:sp>
      <p:pic>
        <p:nvPicPr>
          <p:cNvPr id="16" name="Image 2" descr="FiCalendar">    </p:cNvPr>
          <p:cNvPicPr>
            <a:picLocks noChangeAspect="1"/>
          </p:cNvPicPr>
          <p:nvPr/>
        </p:nvPicPr>
        <p:blipFill>
          <a:blip r:embed="rId3"/>
          <a:stretch>
            <a:fillRect/>
          </a:stretch>
        </p:blipFill>
        <p:spPr>
          <a:xfrm>
            <a:off x="6368796" y="1348740"/>
            <a:ext cx="228600" cy="228600"/>
          </a:xfrm>
          <a:prstGeom prst="rect">
            <a:avLst/>
          </a:prstGeom>
        </p:spPr>
      </p:pic>
      <p:sp>
        <p:nvSpPr>
          <p:cNvPr id="17" name="Text 11"/>
          <p:cNvSpPr txBox="1"/>
          <p:nvPr/>
        </p:nvSpPr>
        <p:spPr>
          <a:xfrm>
            <a:off x="6254496" y="1801368"/>
            <a:ext cx="2249424" cy="347472"/>
          </a:xfrm>
          <a:prstGeom prst="rect">
            <a:avLst/>
          </a:prstGeom>
          <a:noFill/>
          <a:ln/>
        </p:spPr>
        <p:txBody>
          <a:bodyPr wrap="square" lIns="0" tIns="0" rIns="0" bIns="0" rtlCol="0" anchor="t"/>
          <a:lstStyle/>
          <a:p>
            <a:pPr indent="0" marL="0">
              <a:buNone/>
            </a:pPr>
            <a:r>
              <a:rPr lang="en-US" sz="1400" b="1" dirty="0">
                <a:solidFill>
                  <a:schemeClr val="tx1"/>
                </a:solidFill>
              </a:rPr>
              <a:t>Verificato a ottobre 2026</a:t>
            </a:r>
            <a:endParaRPr lang="en-US" sz="1400" dirty="0"/>
          </a:p>
        </p:txBody>
      </p:sp>
      <p:sp>
        <p:nvSpPr>
          <p:cNvPr id="18" name="Text 12"/>
          <p:cNvSpPr txBox="1"/>
          <p:nvPr/>
        </p:nvSpPr>
        <p:spPr>
          <a:xfrm>
            <a:off x="6254496" y="2185416"/>
            <a:ext cx="2249424" cy="1499616"/>
          </a:xfrm>
          <a:prstGeom prst="rect">
            <a:avLst/>
          </a:prstGeom>
          <a:noFill/>
          <a:ln/>
        </p:spPr>
        <p:txBody>
          <a:bodyPr wrap="square" lIns="0" tIns="0" rIns="0" bIns="0" rtlCol="0" anchor="t"/>
          <a:lstStyle/>
          <a:p>
            <a:pPr indent="0" marL="0">
              <a:buNone/>
            </a:pPr>
            <a:r>
              <a:rPr lang="en-US" sz="1200" dirty="0">
                <a:solidFill>
                  <a:schemeClr val="tx2"/>
                </a:solidFill>
              </a:rPr>
              <a:t>Prima di ogni edizione: EUR-Lex, Commissione europea, Gazzetta Ufficiale. Nessuna data unica per tutti gli obblighi.</a:t>
            </a:r>
            <a:endParaRPr lang="en-US" sz="1200" dirty="0"/>
          </a:p>
        </p:txBody>
      </p:sp>
      <p:sp>
        <p:nvSpPr>
          <p:cNvPr id="19" name="messaggio"/>
          <p:cNvSpPr/>
          <p:nvPr/>
        </p:nvSpPr>
        <p:spPr>
          <a:xfrm>
            <a:off x="457200" y="3977640"/>
            <a:ext cx="8229600" cy="548640"/>
          </a:xfrm>
          <a:prstGeom prst="roundRect">
            <a:avLst>
              <a:gd name="adj" fmla="val 13333"/>
            </a:avLst>
          </a:prstGeom>
          <a:solidFill>
            <a:schemeClr val="tx1"/>
          </a:solidFill>
          <a:ln/>
        </p:spPr>
      </p:sp>
      <p:sp>
        <p:nvSpPr>
          <p:cNvPr id="20" name="Text 1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Le date e i contenuti normativi di queste slide vanno ricontrollati sulle fonti ufficiali.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Comprendere i riferimenti normativi e i principi di governance</a:t>
            </a:r>
            <a:endParaRPr lang="en-US" sz="1300" dirty="0"/>
          </a:p>
          <a:p>
            <a:pPr marL="177800" indent="-177800">
              <a:spcAft>
                <a:spcPts val="600"/>
              </a:spcAft>
              <a:buSzPct val="100000"/>
              <a:buChar char="•"/>
            </a:pPr>
            <a:r>
              <a:rPr lang="en-US" sz="1300" dirty="0">
                <a:solidFill>
                  <a:schemeClr val="tx2"/>
                </a:solidFill>
              </a:rPr>
              <a:t>Riconoscere le responsabilità di chi sviluppa, fornisce o usa l'AI</a:t>
            </a:r>
            <a:endParaRPr lang="en-US" sz="1300" dirty="0"/>
          </a:p>
          <a:p>
            <a:pPr marL="177800" indent="-177800">
              <a:spcAft>
                <a:spcPts val="600"/>
              </a:spcAft>
              <a:buSzPct val="100000"/>
              <a:buChar char="•"/>
            </a:pPr>
            <a:r>
              <a:rPr lang="en-US" sz="1300" dirty="0">
                <a:solidFill>
                  <a:schemeClr val="tx2"/>
                </a:solidFill>
              </a:rPr>
              <a:t>Capire il ruolo di politiche, competenze, controlli proporzionati</a:t>
            </a:r>
            <a:endParaRPr lang="en-US" sz="13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300" dirty="0">
                <a:solidFill>
                  <a:schemeClr val="tx2"/>
                </a:solidFill>
              </a:rPr>
              <a:t>Non bastano comportamenti prudenti dei singoli: servono regole condivise, responsabilità identificabili, competenze, controlli.</a:t>
            </a:r>
            <a:endParaRPr lang="en-US" sz="1300" dirty="0"/>
          </a:p>
          <a:p>
            <a:pPr indent="0" marL="0">
              <a:buNone/>
            </a:pPr>
            <a:endParaRPr lang="en-US" sz="1300" dirty="0"/>
          </a:p>
          <a:p>
            <a:pPr indent="0" marL="0">
              <a:buNone/>
            </a:pPr>
            <a:r>
              <a:rPr lang="en-US" sz="1300" dirty="0">
                <a:solidFill>
                  <a:schemeClr val="tx2"/>
                </a:solidFill>
              </a:rPr>
              <a:t>La governance abilita usi appropriati e conformi: non è un elenco di divieti.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piani da distinguere</a:t>
            </a:r>
            <a:endParaRPr lang="en-US" sz="2600" dirty="0"/>
          </a:p>
        </p:txBody>
      </p:sp>
      <p:sp>
        <p:nvSpPr>
          <p:cNvPr id="4" name="Obblighi normativi"/>
          <p:cNvSpPr/>
          <p:nvPr/>
        </p:nvSpPr>
        <p:spPr>
          <a:xfrm>
            <a:off x="457200" y="1051560"/>
            <a:ext cx="2615184" cy="2514600"/>
          </a:xfrm>
          <a:prstGeom prst="roundRect">
            <a:avLst>
              <a:gd name="adj" fmla="val 2909"/>
            </a:avLst>
          </a:prstGeom>
          <a:solidFill>
            <a:schemeClr val="bg2"/>
          </a:solidFill>
          <a:ln/>
        </p:spPr>
      </p:sp>
      <p:sp>
        <p:nvSpPr>
          <p:cNvPr id="5" name="cerchio FiBookOpen"/>
          <p:cNvSpPr/>
          <p:nvPr/>
        </p:nvSpPr>
        <p:spPr>
          <a:xfrm>
            <a:off x="1463040" y="1143000"/>
            <a:ext cx="603504" cy="603504"/>
          </a:xfrm>
          <a:prstGeom prst="ellipse">
            <a:avLst/>
          </a:prstGeom>
          <a:solidFill>
            <a:schemeClr val="accent1"/>
          </a:solidFill>
          <a:ln/>
        </p:spPr>
      </p:sp>
      <p:pic>
        <p:nvPicPr>
          <p:cNvPr id="6" name="Image 0" descr="FiBookOpen">    </p:cNvPr>
          <p:cNvPicPr>
            <a:picLocks noChangeAspect="1"/>
          </p:cNvPicPr>
          <p:nvPr/>
        </p:nvPicPr>
        <p:blipFill>
          <a:blip r:embed="rId1"/>
          <a:stretch>
            <a:fillRect/>
          </a:stretch>
        </p:blipFill>
        <p:spPr>
          <a:xfrm>
            <a:off x="1613916" y="1293876"/>
            <a:ext cx="301752" cy="301752"/>
          </a:xfrm>
          <a:prstGeom prst="rect">
            <a:avLst/>
          </a:prstGeom>
        </p:spPr>
      </p:pic>
      <p:sp>
        <p:nvSpPr>
          <p:cNvPr id="7" name="Text 3"/>
          <p:cNvSpPr txBox="1"/>
          <p:nvPr/>
        </p:nvSpPr>
        <p:spPr>
          <a:xfrm>
            <a:off x="594360" y="1828800"/>
            <a:ext cx="2340864" cy="457200"/>
          </a:xfrm>
          <a:prstGeom prst="rect">
            <a:avLst/>
          </a:prstGeom>
          <a:noFill/>
          <a:ln/>
        </p:spPr>
        <p:txBody>
          <a:bodyPr wrap="square" lIns="0" tIns="0" rIns="0" bIns="0" rtlCol="0" anchor="ctr"/>
          <a:lstStyle/>
          <a:p>
            <a:pPr algn="ctr" indent="0" marL="0">
              <a:buNone/>
            </a:pPr>
            <a:r>
              <a:rPr lang="en-US" sz="1500" b="1" dirty="0">
                <a:solidFill>
                  <a:schemeClr val="tx1"/>
                </a:solidFill>
              </a:rPr>
              <a:t>Obblighi normativi</a:t>
            </a:r>
            <a:endParaRPr lang="en-US" sz="1500" dirty="0"/>
          </a:p>
        </p:txBody>
      </p:sp>
      <p:sp>
        <p:nvSpPr>
          <p:cNvPr id="8" name="Text 4"/>
          <p:cNvSpPr txBox="1"/>
          <p:nvPr/>
        </p:nvSpPr>
        <p:spPr>
          <a:xfrm>
            <a:off x="594360" y="2304288"/>
            <a:ext cx="2340864" cy="731520"/>
          </a:xfrm>
          <a:prstGeom prst="rect">
            <a:avLst/>
          </a:prstGeom>
          <a:noFill/>
          <a:ln/>
        </p:spPr>
        <p:txBody>
          <a:bodyPr wrap="square" lIns="0" tIns="0" rIns="0" bIns="0" rtlCol="0" anchor="t"/>
          <a:lstStyle/>
          <a:p>
            <a:pPr algn="ctr" indent="0" marL="0">
              <a:buNone/>
            </a:pPr>
            <a:r>
              <a:rPr lang="en-US" sz="1200" dirty="0">
                <a:solidFill>
                  <a:schemeClr val="tx1"/>
                </a:solidFill>
              </a:rPr>
              <a:t>Quali disposizioni si applicano: al sistema, all'organizzazione, alla finalità</a:t>
            </a:r>
            <a:endParaRPr lang="en-US" sz="1200" dirty="0"/>
          </a:p>
        </p:txBody>
      </p:sp>
      <p:sp>
        <p:nvSpPr>
          <p:cNvPr id="9" name="Text 5"/>
          <p:cNvSpPr txBox="1"/>
          <p:nvPr/>
        </p:nvSpPr>
        <p:spPr>
          <a:xfrm>
            <a:off x="594360" y="3063240"/>
            <a:ext cx="2340864" cy="411480"/>
          </a:xfrm>
          <a:prstGeom prst="rect">
            <a:avLst/>
          </a:prstGeom>
          <a:noFill/>
          <a:ln/>
        </p:spPr>
        <p:txBody>
          <a:bodyPr wrap="square" lIns="0" tIns="0" rIns="0" bIns="0" rtlCol="0" anchor="t"/>
          <a:lstStyle/>
          <a:p>
            <a:pPr algn="ctr" indent="0" marL="0">
              <a:buNone/>
            </a:pPr>
            <a:r>
              <a:rPr lang="en-US" sz="1100" b="1" dirty="0">
                <a:solidFill>
                  <a:schemeClr val="accent1"/>
                </a:solidFill>
              </a:rPr>
              <a:t>Decisi dal legislatore</a:t>
            </a:r>
            <a:endParaRPr lang="en-US" sz="1100" dirty="0"/>
          </a:p>
        </p:txBody>
      </p:sp>
      <p:sp>
        <p:nvSpPr>
          <p:cNvPr id="10" name="Responsabilità organizzative"/>
          <p:cNvSpPr/>
          <p:nvPr/>
        </p:nvSpPr>
        <p:spPr>
          <a:xfrm>
            <a:off x="3264408" y="1051560"/>
            <a:ext cx="2615184" cy="2514600"/>
          </a:xfrm>
          <a:prstGeom prst="roundRect">
            <a:avLst>
              <a:gd name="adj" fmla="val 2909"/>
            </a:avLst>
          </a:prstGeom>
          <a:solidFill>
            <a:schemeClr val="accent6"/>
          </a:solidFill>
          <a:ln/>
        </p:spPr>
      </p:sp>
      <p:sp>
        <p:nvSpPr>
          <p:cNvPr id="11" name="cerchio FiUsers"/>
          <p:cNvSpPr/>
          <p:nvPr/>
        </p:nvSpPr>
        <p:spPr>
          <a:xfrm>
            <a:off x="4270248" y="1143000"/>
            <a:ext cx="603504" cy="603504"/>
          </a:xfrm>
          <a:prstGeom prst="ellipse">
            <a:avLst/>
          </a:prstGeom>
          <a:solidFill>
            <a:schemeClr val="accent1"/>
          </a:solidFill>
          <a:ln/>
        </p:spPr>
      </p:sp>
      <p:pic>
        <p:nvPicPr>
          <p:cNvPr id="12" name="Image 1" descr="FiUsers">    </p:cNvPr>
          <p:cNvPicPr>
            <a:picLocks noChangeAspect="1"/>
          </p:cNvPicPr>
          <p:nvPr/>
        </p:nvPicPr>
        <p:blipFill>
          <a:blip r:embed="rId2"/>
          <a:stretch>
            <a:fillRect/>
          </a:stretch>
        </p:blipFill>
        <p:spPr>
          <a:xfrm>
            <a:off x="4421124" y="1293876"/>
            <a:ext cx="301752" cy="301752"/>
          </a:xfrm>
          <a:prstGeom prst="rect">
            <a:avLst/>
          </a:prstGeom>
        </p:spPr>
      </p:pic>
      <p:sp>
        <p:nvSpPr>
          <p:cNvPr id="13" name="Text 8"/>
          <p:cNvSpPr txBox="1"/>
          <p:nvPr/>
        </p:nvSpPr>
        <p:spPr>
          <a:xfrm>
            <a:off x="3401568" y="1828800"/>
            <a:ext cx="2340864" cy="457200"/>
          </a:xfrm>
          <a:prstGeom prst="rect">
            <a:avLst/>
          </a:prstGeom>
          <a:noFill/>
          <a:ln/>
        </p:spPr>
        <p:txBody>
          <a:bodyPr wrap="square" lIns="0" tIns="0" rIns="0" bIns="0" rtlCol="0" anchor="ctr"/>
          <a:lstStyle/>
          <a:p>
            <a:pPr algn="ctr" indent="0" marL="0">
              <a:buNone/>
            </a:pPr>
            <a:r>
              <a:rPr lang="en-US" sz="1500" b="1" dirty="0">
                <a:solidFill>
                  <a:schemeClr val="tx1"/>
                </a:solidFill>
              </a:rPr>
              <a:t>Responsabilità organizzative</a:t>
            </a:r>
            <a:endParaRPr lang="en-US" sz="1500" dirty="0"/>
          </a:p>
        </p:txBody>
      </p:sp>
      <p:sp>
        <p:nvSpPr>
          <p:cNvPr id="14" name="Text 9"/>
          <p:cNvSpPr txBox="1"/>
          <p:nvPr/>
        </p:nvSpPr>
        <p:spPr>
          <a:xfrm>
            <a:off x="3401568" y="2304288"/>
            <a:ext cx="2340864" cy="731520"/>
          </a:xfrm>
          <a:prstGeom prst="rect">
            <a:avLst/>
          </a:prstGeom>
          <a:noFill/>
          <a:ln/>
        </p:spPr>
        <p:txBody>
          <a:bodyPr wrap="square" lIns="0" tIns="0" rIns="0" bIns="0" rtlCol="0" anchor="t"/>
          <a:lstStyle/>
          <a:p>
            <a:pPr algn="ctr" indent="0" marL="0">
              <a:buNone/>
            </a:pPr>
            <a:r>
              <a:rPr lang="en-US" sz="1200" dirty="0">
                <a:solidFill>
                  <a:schemeClr val="tx1"/>
                </a:solidFill>
              </a:rPr>
              <a:t>Chi propone, autorizza, attua, verifica, aggiorna, interrompe</a:t>
            </a:r>
            <a:endParaRPr lang="en-US" sz="1200" dirty="0"/>
          </a:p>
        </p:txBody>
      </p:sp>
      <p:sp>
        <p:nvSpPr>
          <p:cNvPr id="15" name="Text 10"/>
          <p:cNvSpPr txBox="1"/>
          <p:nvPr/>
        </p:nvSpPr>
        <p:spPr>
          <a:xfrm>
            <a:off x="3401568" y="3063240"/>
            <a:ext cx="2340864" cy="411480"/>
          </a:xfrm>
          <a:prstGeom prst="rect">
            <a:avLst/>
          </a:prstGeom>
          <a:noFill/>
          <a:ln/>
        </p:spPr>
        <p:txBody>
          <a:bodyPr wrap="square" lIns="0" tIns="0" rIns="0" bIns="0" rtlCol="0" anchor="t"/>
          <a:lstStyle/>
          <a:p>
            <a:pPr algn="ctr" indent="0" marL="0">
              <a:buNone/>
            </a:pPr>
            <a:r>
              <a:rPr lang="en-US" sz="1100" b="1" dirty="0">
                <a:solidFill>
                  <a:schemeClr val="accent1"/>
                </a:solidFill>
              </a:rPr>
              <a:t>Decise dall'organizzazione</a:t>
            </a:r>
            <a:endParaRPr lang="en-US" sz="1100" dirty="0"/>
          </a:p>
        </p:txBody>
      </p:sp>
      <p:sp>
        <p:nvSpPr>
          <p:cNvPr id="16" name="Misure operative"/>
          <p:cNvSpPr/>
          <p:nvPr/>
        </p:nvSpPr>
        <p:spPr>
          <a:xfrm>
            <a:off x="6071616" y="1051560"/>
            <a:ext cx="2615184" cy="2514600"/>
          </a:xfrm>
          <a:prstGeom prst="roundRect">
            <a:avLst>
              <a:gd name="adj" fmla="val 2909"/>
            </a:avLst>
          </a:prstGeom>
          <a:solidFill>
            <a:schemeClr val="bg2"/>
          </a:solidFill>
          <a:ln/>
        </p:spPr>
      </p:sp>
      <p:sp>
        <p:nvSpPr>
          <p:cNvPr id="17" name="cerchio FiSettings"/>
          <p:cNvSpPr/>
          <p:nvPr/>
        </p:nvSpPr>
        <p:spPr>
          <a:xfrm>
            <a:off x="7077456" y="1143000"/>
            <a:ext cx="603504" cy="603504"/>
          </a:xfrm>
          <a:prstGeom prst="ellipse">
            <a:avLst/>
          </a:prstGeom>
          <a:solidFill>
            <a:schemeClr val="accent1"/>
          </a:solidFill>
          <a:ln/>
        </p:spPr>
      </p:sp>
      <p:pic>
        <p:nvPicPr>
          <p:cNvPr id="18" name="Image 2" descr="FiSettings">    </p:cNvPr>
          <p:cNvPicPr>
            <a:picLocks noChangeAspect="1"/>
          </p:cNvPicPr>
          <p:nvPr/>
        </p:nvPicPr>
        <p:blipFill>
          <a:blip r:embed="rId3"/>
          <a:stretch>
            <a:fillRect/>
          </a:stretch>
        </p:blipFill>
        <p:spPr>
          <a:xfrm>
            <a:off x="7228332" y="1293876"/>
            <a:ext cx="301752" cy="301752"/>
          </a:xfrm>
          <a:prstGeom prst="rect">
            <a:avLst/>
          </a:prstGeom>
        </p:spPr>
      </p:pic>
      <p:sp>
        <p:nvSpPr>
          <p:cNvPr id="19" name="Text 13"/>
          <p:cNvSpPr txBox="1"/>
          <p:nvPr/>
        </p:nvSpPr>
        <p:spPr>
          <a:xfrm>
            <a:off x="6208776" y="1828800"/>
            <a:ext cx="2340864" cy="457200"/>
          </a:xfrm>
          <a:prstGeom prst="rect">
            <a:avLst/>
          </a:prstGeom>
          <a:noFill/>
          <a:ln/>
        </p:spPr>
        <p:txBody>
          <a:bodyPr wrap="square" lIns="0" tIns="0" rIns="0" bIns="0" rtlCol="0" anchor="ctr"/>
          <a:lstStyle/>
          <a:p>
            <a:pPr algn="ctr" indent="0" marL="0">
              <a:buNone/>
            </a:pPr>
            <a:r>
              <a:rPr lang="en-US" sz="1500" b="1" dirty="0">
                <a:solidFill>
                  <a:schemeClr val="tx1"/>
                </a:solidFill>
              </a:rPr>
              <a:t>Misure operative</a:t>
            </a:r>
            <a:endParaRPr lang="en-US" sz="1500" dirty="0"/>
          </a:p>
        </p:txBody>
      </p:sp>
      <p:sp>
        <p:nvSpPr>
          <p:cNvPr id="20" name="Text 14"/>
          <p:cNvSpPr txBox="1"/>
          <p:nvPr/>
        </p:nvSpPr>
        <p:spPr>
          <a:xfrm>
            <a:off x="6208776" y="2304288"/>
            <a:ext cx="2340864" cy="731520"/>
          </a:xfrm>
          <a:prstGeom prst="rect">
            <a:avLst/>
          </a:prstGeom>
          <a:noFill/>
          <a:ln/>
        </p:spPr>
        <p:txBody>
          <a:bodyPr wrap="square" lIns="0" tIns="0" rIns="0" bIns="0" rtlCol="0" anchor="t"/>
          <a:lstStyle/>
          <a:p>
            <a:pPr algn="ctr" indent="0" marL="0">
              <a:buNone/>
            </a:pPr>
            <a:r>
              <a:rPr lang="en-US" sz="1200" dirty="0">
                <a:solidFill>
                  <a:schemeClr val="tx1"/>
                </a:solidFill>
              </a:rPr>
              <a:t>Politiche, competenze, procedure, controlli, monitoraggio, incidenti</a:t>
            </a:r>
            <a:endParaRPr lang="en-US" sz="1200" dirty="0"/>
          </a:p>
        </p:txBody>
      </p:sp>
      <p:sp>
        <p:nvSpPr>
          <p:cNvPr id="21" name="Text 15"/>
          <p:cNvSpPr txBox="1"/>
          <p:nvPr/>
        </p:nvSpPr>
        <p:spPr>
          <a:xfrm>
            <a:off x="6208776" y="3063240"/>
            <a:ext cx="2340864" cy="411480"/>
          </a:xfrm>
          <a:prstGeom prst="rect">
            <a:avLst/>
          </a:prstGeom>
          <a:noFill/>
          <a:ln/>
        </p:spPr>
        <p:txBody>
          <a:bodyPr wrap="square" lIns="0" tIns="0" rIns="0" bIns="0" rtlCol="0" anchor="t"/>
          <a:lstStyle/>
          <a:p>
            <a:pPr algn="ctr" indent="0" marL="0">
              <a:buNone/>
            </a:pPr>
            <a:r>
              <a:rPr lang="en-US" sz="1100" b="1" dirty="0">
                <a:solidFill>
                  <a:schemeClr val="accent1"/>
                </a:solidFill>
              </a:rPr>
              <a:t>Gli strumenti per rispettare e governare</a:t>
            </a:r>
            <a:endParaRPr lang="en-US" sz="1100" dirty="0"/>
          </a:p>
        </p:txBody>
      </p:sp>
      <p:sp>
        <p:nvSpPr>
          <p:cNvPr id="22" name="messaggio"/>
          <p:cNvSpPr/>
          <p:nvPr/>
        </p:nvSpPr>
        <p:spPr>
          <a:xfrm>
            <a:off x="457200" y="3749040"/>
            <a:ext cx="8229600" cy="731520"/>
          </a:xfrm>
          <a:prstGeom prst="roundRect">
            <a:avLst>
              <a:gd name="adj" fmla="val 10000"/>
            </a:avLst>
          </a:prstGeom>
          <a:solidFill>
            <a:schemeClr val="tx1"/>
          </a:solidFill>
          <a:ln/>
        </p:spPr>
      </p:sp>
      <p:sp>
        <p:nvSpPr>
          <p:cNvPr id="23" name="Text 17"/>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Collegati ma diversi: una policy senza responsabili, o responsabili senza conoscere gli obblighi, non è governance.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domande guida</a:t>
            </a:r>
            <a:endParaRPr lang="en-US" sz="2600" dirty="0"/>
          </a:p>
        </p:txBody>
      </p:sp>
      <p:sp>
        <p:nvSpPr>
          <p:cNvPr id="4" name="domanda 1"/>
          <p:cNvSpPr/>
          <p:nvPr/>
        </p:nvSpPr>
        <p:spPr>
          <a:xfrm>
            <a:off x="457200" y="1024128"/>
            <a:ext cx="1961388" cy="1371600"/>
          </a:xfrm>
          <a:prstGeom prst="roundRect">
            <a:avLst>
              <a:gd name="adj" fmla="val 5333"/>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Perché una regolamentazione e una governance?</a:t>
            </a:r>
            <a:endParaRPr lang="en-US" sz="1200" dirty="0"/>
          </a:p>
        </p:txBody>
      </p:sp>
      <p:sp>
        <p:nvSpPr>
          <p:cNvPr id="7" name="domanda 2"/>
          <p:cNvSpPr/>
          <p:nvPr/>
        </p:nvSpPr>
        <p:spPr>
          <a:xfrm>
            <a:off x="2546604" y="1024128"/>
            <a:ext cx="1961388" cy="1371600"/>
          </a:xfrm>
          <a:prstGeom prst="roundRect">
            <a:avLst>
              <a:gd name="adj" fmla="val 5333"/>
            </a:avLst>
          </a:prstGeom>
          <a:solidFill>
            <a:schemeClr val="bg2"/>
          </a:solidFill>
          <a:ln/>
        </p:spPr>
      </p:sp>
      <p:sp>
        <p:nvSpPr>
          <p:cNvPr id="8" name="Text 5"/>
          <p:cNvSpPr txBox="1"/>
          <p:nvPr/>
        </p:nvSpPr>
        <p:spPr>
          <a:xfrm>
            <a:off x="268376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683764"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AI Act, GDPR e altre discipline?</a:t>
            </a:r>
            <a:endParaRPr lang="en-US" sz="1200" dirty="0"/>
          </a:p>
        </p:txBody>
      </p:sp>
      <p:sp>
        <p:nvSpPr>
          <p:cNvPr id="10" name="domanda 3"/>
          <p:cNvSpPr/>
          <p:nvPr/>
        </p:nvSpPr>
        <p:spPr>
          <a:xfrm>
            <a:off x="4636008" y="1024128"/>
            <a:ext cx="1961388" cy="1371600"/>
          </a:xfrm>
          <a:prstGeom prst="roundRect">
            <a:avLst>
              <a:gd name="adj" fmla="val 5333"/>
            </a:avLst>
          </a:prstGeom>
          <a:solidFill>
            <a:schemeClr val="bg2"/>
          </a:solidFill>
          <a:ln/>
        </p:spPr>
      </p:sp>
      <p:sp>
        <p:nvSpPr>
          <p:cNvPr id="11" name="Text 8"/>
          <p:cNvSpPr txBox="1"/>
          <p:nvPr/>
        </p:nvSpPr>
        <p:spPr>
          <a:xfrm>
            <a:off x="4773168"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4773168"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Che cosa significa la classificazione per rischio?</a:t>
            </a:r>
            <a:endParaRPr lang="en-US" sz="1200" dirty="0"/>
          </a:p>
        </p:txBody>
      </p:sp>
      <p:sp>
        <p:nvSpPr>
          <p:cNvPr id="13" name="domanda 4"/>
          <p:cNvSpPr/>
          <p:nvPr/>
        </p:nvSpPr>
        <p:spPr>
          <a:xfrm>
            <a:off x="6725412" y="1024128"/>
            <a:ext cx="1961388" cy="1371600"/>
          </a:xfrm>
          <a:prstGeom prst="roundRect">
            <a:avLst>
              <a:gd name="adj" fmla="val 5333"/>
            </a:avLst>
          </a:prstGeom>
          <a:solidFill>
            <a:schemeClr val="bg2"/>
          </a:solidFill>
          <a:ln/>
        </p:spPr>
      </p:sp>
      <p:sp>
        <p:nvSpPr>
          <p:cNvPr id="14" name="Text 11"/>
          <p:cNvSpPr txBox="1"/>
          <p:nvPr/>
        </p:nvSpPr>
        <p:spPr>
          <a:xfrm>
            <a:off x="686257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6862572"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Quali responsabilità per provider e deployer?</a:t>
            </a:r>
            <a:endParaRPr lang="en-US" sz="1200" dirty="0"/>
          </a:p>
        </p:txBody>
      </p:sp>
      <p:sp>
        <p:nvSpPr>
          <p:cNvPr id="16" name="domanda 5"/>
          <p:cNvSpPr/>
          <p:nvPr/>
        </p:nvSpPr>
        <p:spPr>
          <a:xfrm>
            <a:off x="457200" y="2532888"/>
            <a:ext cx="1961388" cy="1371600"/>
          </a:xfrm>
          <a:prstGeom prst="roundRect">
            <a:avLst>
              <a:gd name="adj" fmla="val 5333"/>
            </a:avLst>
          </a:prstGeom>
          <a:solidFill>
            <a:schemeClr val="bg2"/>
          </a:solidFill>
          <a:ln/>
        </p:spPr>
      </p:sp>
      <p:sp>
        <p:nvSpPr>
          <p:cNvPr id="17" name="Text 14"/>
          <p:cNvSpPr txBox="1"/>
          <p:nvPr/>
        </p:nvSpPr>
        <p:spPr>
          <a:xfrm>
            <a:off x="594360"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594360"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Che cosa contiene una policy aziendale?</a:t>
            </a:r>
            <a:endParaRPr lang="en-US" sz="1200" dirty="0"/>
          </a:p>
        </p:txBody>
      </p:sp>
      <p:sp>
        <p:nvSpPr>
          <p:cNvPr id="19" name="domanda 6"/>
          <p:cNvSpPr/>
          <p:nvPr/>
        </p:nvSpPr>
        <p:spPr>
          <a:xfrm>
            <a:off x="2546604" y="2532888"/>
            <a:ext cx="1961388" cy="1371600"/>
          </a:xfrm>
          <a:prstGeom prst="roundRect">
            <a:avLst>
              <a:gd name="adj" fmla="val 5333"/>
            </a:avLst>
          </a:prstGeom>
          <a:solidFill>
            <a:schemeClr val="bg2"/>
          </a:solidFill>
          <a:ln/>
        </p:spPr>
      </p:sp>
      <p:sp>
        <p:nvSpPr>
          <p:cNvPr id="20" name="Text 17"/>
          <p:cNvSpPr txBox="1"/>
          <p:nvPr/>
        </p:nvSpPr>
        <p:spPr>
          <a:xfrm>
            <a:off x="2683764"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2683764"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Come organizzare controlli e supervisione?</a:t>
            </a:r>
            <a:endParaRPr lang="en-US" sz="1200" dirty="0"/>
          </a:p>
        </p:txBody>
      </p:sp>
      <p:sp>
        <p:nvSpPr>
          <p:cNvPr id="22" name="domanda 7"/>
          <p:cNvSpPr/>
          <p:nvPr/>
        </p:nvSpPr>
        <p:spPr>
          <a:xfrm>
            <a:off x="4636008" y="2532888"/>
            <a:ext cx="1961388" cy="1371600"/>
          </a:xfrm>
          <a:prstGeom prst="roundRect">
            <a:avLst>
              <a:gd name="adj" fmla="val 5333"/>
            </a:avLst>
          </a:prstGeom>
          <a:solidFill>
            <a:schemeClr val="bg2"/>
          </a:solidFill>
          <a:ln/>
        </p:spPr>
      </p:sp>
      <p:sp>
        <p:nvSpPr>
          <p:cNvPr id="23" name="Text 20"/>
          <p:cNvSpPr txBox="1"/>
          <p:nvPr/>
        </p:nvSpPr>
        <p:spPr>
          <a:xfrm>
            <a:off x="4773168"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4773168"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Che cosa richiede l'AI literacy contestualizzata?</a:t>
            </a:r>
            <a:endParaRPr lang="en-US" sz="1200" dirty="0"/>
          </a:p>
        </p:txBody>
      </p:sp>
      <p:sp>
        <p:nvSpPr>
          <p:cNvPr id="25" name="domanda 8"/>
          <p:cNvSpPr/>
          <p:nvPr/>
        </p:nvSpPr>
        <p:spPr>
          <a:xfrm>
            <a:off x="6725412" y="2532888"/>
            <a:ext cx="1961388" cy="1371600"/>
          </a:xfrm>
          <a:prstGeom prst="roundRect">
            <a:avLst>
              <a:gd name="adj" fmla="val 5333"/>
            </a:avLst>
          </a:prstGeom>
          <a:solidFill>
            <a:schemeClr val="bg2"/>
          </a:solidFill>
          <a:ln/>
        </p:spPr>
      </p:sp>
      <p:sp>
        <p:nvSpPr>
          <p:cNvPr id="26" name="Text 23"/>
          <p:cNvSpPr txBox="1"/>
          <p:nvPr/>
        </p:nvSpPr>
        <p:spPr>
          <a:xfrm>
            <a:off x="6862572"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6862572"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Come rendere la governance proporzionata?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Governance"/>
          <p:cNvSpPr/>
          <p:nvPr/>
        </p:nvSpPr>
        <p:spPr>
          <a:xfrm>
            <a:off x="457200" y="1051560"/>
            <a:ext cx="1280160" cy="1371600"/>
          </a:xfrm>
          <a:prstGeom prst="roundRect">
            <a:avLst>
              <a:gd name="adj" fmla="val 5714"/>
            </a:avLst>
          </a:prstGeom>
          <a:solidFill>
            <a:schemeClr val="bg2"/>
          </a:solidFill>
          <a:ln/>
        </p:spPr>
      </p:sp>
      <p:sp>
        <p:nvSpPr>
          <p:cNvPr id="5" name="cerchio FiCompass"/>
          <p:cNvSpPr/>
          <p:nvPr/>
        </p:nvSpPr>
        <p:spPr>
          <a:xfrm>
            <a:off x="850392" y="1124712"/>
            <a:ext cx="493776" cy="493776"/>
          </a:xfrm>
          <a:prstGeom prst="ellipse">
            <a:avLst/>
          </a:prstGeom>
          <a:solidFill>
            <a:schemeClr val="accent1"/>
          </a:solidFill>
          <a:ln/>
        </p:spPr>
      </p:sp>
      <p:pic>
        <p:nvPicPr>
          <p:cNvPr id="6" name="Image 0" descr="FiCompass">    </p:cNvPr>
          <p:cNvPicPr>
            <a:picLocks noChangeAspect="1"/>
          </p:cNvPicPr>
          <p:nvPr/>
        </p:nvPicPr>
        <p:blipFill>
          <a:blip r:embed="rId1"/>
          <a:stretch>
            <a:fillRect/>
          </a:stretch>
        </p:blipFill>
        <p:spPr>
          <a:xfrm>
            <a:off x="973836" y="1248156"/>
            <a:ext cx="246888" cy="246888"/>
          </a:xfrm>
          <a:prstGeom prst="rect">
            <a:avLst/>
          </a:prstGeom>
        </p:spPr>
      </p:pic>
      <p:sp>
        <p:nvSpPr>
          <p:cNvPr id="7" name="Text 3"/>
          <p:cNvSpPr txBox="1"/>
          <p:nvPr/>
        </p:nvSpPr>
        <p:spPr>
          <a:xfrm>
            <a:off x="502920"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Governance</a:t>
            </a:r>
            <a:endParaRPr lang="en-US" sz="1300" dirty="0"/>
          </a:p>
        </p:txBody>
      </p:sp>
      <p:sp>
        <p:nvSpPr>
          <p:cNvPr id="8" name="Text 4"/>
          <p:cNvSpPr txBox="1"/>
          <p:nvPr/>
        </p:nvSpPr>
        <p:spPr>
          <a:xfrm>
            <a:off x="502920"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18.1  18.8</a:t>
            </a:r>
            <a:endParaRPr lang="en-US" sz="1100" dirty="0"/>
          </a:p>
        </p:txBody>
      </p:sp>
      <p:sp>
        <p:nvSpPr>
          <p:cNvPr id="9" name="Norme"/>
          <p:cNvSpPr/>
          <p:nvPr/>
        </p:nvSpPr>
        <p:spPr>
          <a:xfrm>
            <a:off x="1856232" y="1051560"/>
            <a:ext cx="1280160" cy="1371600"/>
          </a:xfrm>
          <a:prstGeom prst="roundRect">
            <a:avLst>
              <a:gd name="adj" fmla="val 5714"/>
            </a:avLst>
          </a:prstGeom>
          <a:solidFill>
            <a:schemeClr val="bg2"/>
          </a:solidFill>
          <a:ln/>
        </p:spPr>
      </p:sp>
      <p:sp>
        <p:nvSpPr>
          <p:cNvPr id="10" name="cerchio FiBookOpen"/>
          <p:cNvSpPr/>
          <p:nvPr/>
        </p:nvSpPr>
        <p:spPr>
          <a:xfrm>
            <a:off x="2249424" y="1124712"/>
            <a:ext cx="493776" cy="493776"/>
          </a:xfrm>
          <a:prstGeom prst="ellipse">
            <a:avLst/>
          </a:prstGeom>
          <a:solidFill>
            <a:schemeClr val="accent1"/>
          </a:solidFill>
          <a:ln/>
        </p:spPr>
      </p:sp>
      <p:pic>
        <p:nvPicPr>
          <p:cNvPr id="11" name="Image 1" descr="FiBookOpen">    </p:cNvPr>
          <p:cNvPicPr>
            <a:picLocks noChangeAspect="1"/>
          </p:cNvPicPr>
          <p:nvPr/>
        </p:nvPicPr>
        <p:blipFill>
          <a:blip r:embed="rId2"/>
          <a:stretch>
            <a:fillRect/>
          </a:stretch>
        </p:blipFill>
        <p:spPr>
          <a:xfrm>
            <a:off x="2372868" y="1248156"/>
            <a:ext cx="246888" cy="246888"/>
          </a:xfrm>
          <a:prstGeom prst="rect">
            <a:avLst/>
          </a:prstGeom>
        </p:spPr>
      </p:pic>
      <p:sp>
        <p:nvSpPr>
          <p:cNvPr id="12" name="Text 7"/>
          <p:cNvSpPr txBox="1"/>
          <p:nvPr/>
        </p:nvSpPr>
        <p:spPr>
          <a:xfrm>
            <a:off x="1901952"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Norme</a:t>
            </a:r>
            <a:endParaRPr lang="en-US" sz="1300" dirty="0"/>
          </a:p>
        </p:txBody>
      </p:sp>
      <p:sp>
        <p:nvSpPr>
          <p:cNvPr id="13" name="Text 8"/>
          <p:cNvSpPr txBox="1"/>
          <p:nvPr/>
        </p:nvSpPr>
        <p:spPr>
          <a:xfrm>
            <a:off x="1901952"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18.2  18.3</a:t>
            </a:r>
            <a:endParaRPr lang="en-US" sz="1100" dirty="0"/>
          </a:p>
        </p:txBody>
      </p:sp>
      <p:sp>
        <p:nvSpPr>
          <p:cNvPr id="14" name="Ruoli"/>
          <p:cNvSpPr/>
          <p:nvPr/>
        </p:nvSpPr>
        <p:spPr>
          <a:xfrm>
            <a:off x="3255264" y="1051560"/>
            <a:ext cx="1280160" cy="1371600"/>
          </a:xfrm>
          <a:prstGeom prst="roundRect">
            <a:avLst>
              <a:gd name="adj" fmla="val 5714"/>
            </a:avLst>
          </a:prstGeom>
          <a:solidFill>
            <a:schemeClr val="bg2"/>
          </a:solidFill>
          <a:ln/>
        </p:spPr>
      </p:sp>
      <p:sp>
        <p:nvSpPr>
          <p:cNvPr id="15" name="cerchio FiUsers"/>
          <p:cNvSpPr/>
          <p:nvPr/>
        </p:nvSpPr>
        <p:spPr>
          <a:xfrm>
            <a:off x="3648456" y="1124712"/>
            <a:ext cx="493776" cy="493776"/>
          </a:xfrm>
          <a:prstGeom prst="ellipse">
            <a:avLst/>
          </a:prstGeom>
          <a:solidFill>
            <a:schemeClr val="accent1"/>
          </a:solidFill>
          <a:ln/>
        </p:spPr>
      </p:sp>
      <p:pic>
        <p:nvPicPr>
          <p:cNvPr id="16" name="Image 2" descr="FiUsers">    </p:cNvPr>
          <p:cNvPicPr>
            <a:picLocks noChangeAspect="1"/>
          </p:cNvPicPr>
          <p:nvPr/>
        </p:nvPicPr>
        <p:blipFill>
          <a:blip r:embed="rId3"/>
          <a:stretch>
            <a:fillRect/>
          </a:stretch>
        </p:blipFill>
        <p:spPr>
          <a:xfrm>
            <a:off x="3771900" y="1248156"/>
            <a:ext cx="246888" cy="246888"/>
          </a:xfrm>
          <a:prstGeom prst="rect">
            <a:avLst/>
          </a:prstGeom>
        </p:spPr>
      </p:pic>
      <p:sp>
        <p:nvSpPr>
          <p:cNvPr id="17" name="Text 11"/>
          <p:cNvSpPr txBox="1"/>
          <p:nvPr/>
        </p:nvSpPr>
        <p:spPr>
          <a:xfrm>
            <a:off x="3300984"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Ruoli</a:t>
            </a:r>
            <a:endParaRPr lang="en-US" sz="1300" dirty="0"/>
          </a:p>
        </p:txBody>
      </p:sp>
      <p:sp>
        <p:nvSpPr>
          <p:cNvPr id="18" name="Text 12"/>
          <p:cNvSpPr txBox="1"/>
          <p:nvPr/>
        </p:nvSpPr>
        <p:spPr>
          <a:xfrm>
            <a:off x="3300984"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18.4</a:t>
            </a:r>
            <a:endParaRPr lang="en-US" sz="1100" dirty="0"/>
          </a:p>
        </p:txBody>
      </p:sp>
      <p:sp>
        <p:nvSpPr>
          <p:cNvPr id="19" name="Policy"/>
          <p:cNvSpPr/>
          <p:nvPr/>
        </p:nvSpPr>
        <p:spPr>
          <a:xfrm>
            <a:off x="4654296" y="1051560"/>
            <a:ext cx="1280160" cy="1371600"/>
          </a:xfrm>
          <a:prstGeom prst="roundRect">
            <a:avLst>
              <a:gd name="adj" fmla="val 5714"/>
            </a:avLst>
          </a:prstGeom>
          <a:solidFill>
            <a:schemeClr val="bg2"/>
          </a:solidFill>
          <a:ln/>
        </p:spPr>
      </p:sp>
      <p:sp>
        <p:nvSpPr>
          <p:cNvPr id="20" name="cerchio FiFileText"/>
          <p:cNvSpPr/>
          <p:nvPr/>
        </p:nvSpPr>
        <p:spPr>
          <a:xfrm>
            <a:off x="5047488" y="1124712"/>
            <a:ext cx="493776" cy="493776"/>
          </a:xfrm>
          <a:prstGeom prst="ellipse">
            <a:avLst/>
          </a:prstGeom>
          <a:solidFill>
            <a:schemeClr val="accent1"/>
          </a:solidFill>
          <a:ln/>
        </p:spPr>
      </p:sp>
      <p:pic>
        <p:nvPicPr>
          <p:cNvPr id="21" name="Image 3" descr="FiFileText">    </p:cNvPr>
          <p:cNvPicPr>
            <a:picLocks noChangeAspect="1"/>
          </p:cNvPicPr>
          <p:nvPr/>
        </p:nvPicPr>
        <p:blipFill>
          <a:blip r:embed="rId4"/>
          <a:stretch>
            <a:fillRect/>
          </a:stretch>
        </p:blipFill>
        <p:spPr>
          <a:xfrm>
            <a:off x="5170932" y="1248156"/>
            <a:ext cx="246888" cy="246888"/>
          </a:xfrm>
          <a:prstGeom prst="rect">
            <a:avLst/>
          </a:prstGeom>
        </p:spPr>
      </p:pic>
      <p:sp>
        <p:nvSpPr>
          <p:cNvPr id="22" name="Text 15"/>
          <p:cNvSpPr txBox="1"/>
          <p:nvPr/>
        </p:nvSpPr>
        <p:spPr>
          <a:xfrm>
            <a:off x="4700016"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Policy</a:t>
            </a:r>
            <a:endParaRPr lang="en-US" sz="1300" dirty="0"/>
          </a:p>
        </p:txBody>
      </p:sp>
      <p:sp>
        <p:nvSpPr>
          <p:cNvPr id="23" name="Text 16"/>
          <p:cNvSpPr txBox="1"/>
          <p:nvPr/>
        </p:nvSpPr>
        <p:spPr>
          <a:xfrm>
            <a:off x="4700016"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18.5</a:t>
            </a:r>
            <a:endParaRPr lang="en-US" sz="1100" dirty="0"/>
          </a:p>
        </p:txBody>
      </p:sp>
      <p:sp>
        <p:nvSpPr>
          <p:cNvPr id="24" name="Controlli"/>
          <p:cNvSpPr/>
          <p:nvPr/>
        </p:nvSpPr>
        <p:spPr>
          <a:xfrm>
            <a:off x="6053328" y="1051560"/>
            <a:ext cx="1280160" cy="1371600"/>
          </a:xfrm>
          <a:prstGeom prst="roundRect">
            <a:avLst>
              <a:gd name="adj" fmla="val 5714"/>
            </a:avLst>
          </a:prstGeom>
          <a:solidFill>
            <a:schemeClr val="bg2"/>
          </a:solidFill>
          <a:ln/>
        </p:spPr>
      </p:sp>
      <p:sp>
        <p:nvSpPr>
          <p:cNvPr id="25" name="cerchio FiShield"/>
          <p:cNvSpPr/>
          <p:nvPr/>
        </p:nvSpPr>
        <p:spPr>
          <a:xfrm>
            <a:off x="6446520" y="1124712"/>
            <a:ext cx="493776" cy="493776"/>
          </a:xfrm>
          <a:prstGeom prst="ellipse">
            <a:avLst/>
          </a:prstGeom>
          <a:solidFill>
            <a:schemeClr val="accent1"/>
          </a:solidFill>
          <a:ln/>
        </p:spPr>
      </p:sp>
      <p:pic>
        <p:nvPicPr>
          <p:cNvPr id="26" name="Image 4" descr="FiShield">    </p:cNvPr>
          <p:cNvPicPr>
            <a:picLocks noChangeAspect="1"/>
          </p:cNvPicPr>
          <p:nvPr/>
        </p:nvPicPr>
        <p:blipFill>
          <a:blip r:embed="rId5"/>
          <a:stretch>
            <a:fillRect/>
          </a:stretch>
        </p:blipFill>
        <p:spPr>
          <a:xfrm>
            <a:off x="6569964" y="1248156"/>
            <a:ext cx="246888" cy="246888"/>
          </a:xfrm>
          <a:prstGeom prst="rect">
            <a:avLst/>
          </a:prstGeom>
        </p:spPr>
      </p:pic>
      <p:sp>
        <p:nvSpPr>
          <p:cNvPr id="27" name="Text 19"/>
          <p:cNvSpPr txBox="1"/>
          <p:nvPr/>
        </p:nvSpPr>
        <p:spPr>
          <a:xfrm>
            <a:off x="6099048"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Controlli</a:t>
            </a:r>
            <a:endParaRPr lang="en-US" sz="1300" dirty="0"/>
          </a:p>
        </p:txBody>
      </p:sp>
      <p:sp>
        <p:nvSpPr>
          <p:cNvPr id="28" name="Text 20"/>
          <p:cNvSpPr txBox="1"/>
          <p:nvPr/>
        </p:nvSpPr>
        <p:spPr>
          <a:xfrm>
            <a:off x="6099048"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18.6</a:t>
            </a:r>
            <a:endParaRPr lang="en-US" sz="1100" dirty="0"/>
          </a:p>
        </p:txBody>
      </p:sp>
      <p:sp>
        <p:nvSpPr>
          <p:cNvPr id="29" name="Literacy"/>
          <p:cNvSpPr/>
          <p:nvPr/>
        </p:nvSpPr>
        <p:spPr>
          <a:xfrm>
            <a:off x="7452360" y="1051560"/>
            <a:ext cx="1280160" cy="1371600"/>
          </a:xfrm>
          <a:prstGeom prst="roundRect">
            <a:avLst>
              <a:gd name="adj" fmla="val 5714"/>
            </a:avLst>
          </a:prstGeom>
          <a:solidFill>
            <a:schemeClr val="bg2"/>
          </a:solidFill>
          <a:ln/>
        </p:spPr>
      </p:sp>
      <p:sp>
        <p:nvSpPr>
          <p:cNvPr id="30" name="cerchio FiBook"/>
          <p:cNvSpPr/>
          <p:nvPr/>
        </p:nvSpPr>
        <p:spPr>
          <a:xfrm>
            <a:off x="7845552" y="1124712"/>
            <a:ext cx="493776" cy="493776"/>
          </a:xfrm>
          <a:prstGeom prst="ellipse">
            <a:avLst/>
          </a:prstGeom>
          <a:solidFill>
            <a:schemeClr val="accent1"/>
          </a:solidFill>
          <a:ln/>
        </p:spPr>
      </p:sp>
      <p:pic>
        <p:nvPicPr>
          <p:cNvPr id="31" name="Image 5" descr="FiBook">    </p:cNvPr>
          <p:cNvPicPr>
            <a:picLocks noChangeAspect="1"/>
          </p:cNvPicPr>
          <p:nvPr/>
        </p:nvPicPr>
        <p:blipFill>
          <a:blip r:embed="rId6"/>
          <a:stretch>
            <a:fillRect/>
          </a:stretch>
        </p:blipFill>
        <p:spPr>
          <a:xfrm>
            <a:off x="7968996" y="1248156"/>
            <a:ext cx="246888" cy="246888"/>
          </a:xfrm>
          <a:prstGeom prst="rect">
            <a:avLst/>
          </a:prstGeom>
        </p:spPr>
      </p:pic>
      <p:sp>
        <p:nvSpPr>
          <p:cNvPr id="32" name="Text 23"/>
          <p:cNvSpPr txBox="1"/>
          <p:nvPr/>
        </p:nvSpPr>
        <p:spPr>
          <a:xfrm>
            <a:off x="7498080"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Literacy</a:t>
            </a:r>
            <a:endParaRPr lang="en-US" sz="1300" dirty="0"/>
          </a:p>
        </p:txBody>
      </p:sp>
      <p:sp>
        <p:nvSpPr>
          <p:cNvPr id="33" name="Text 24"/>
          <p:cNvSpPr txBox="1"/>
          <p:nvPr/>
        </p:nvSpPr>
        <p:spPr>
          <a:xfrm>
            <a:off x="7498080"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18.7</a:t>
            </a:r>
            <a:endParaRPr lang="en-US" sz="1100" dirty="0"/>
          </a:p>
        </p:txBody>
      </p:sp>
      <p:sp>
        <p:nvSpPr>
          <p:cNvPr id="34" name="Text 25"/>
          <p:cNvSpPr txBox="1"/>
          <p:nvPr/>
        </p:nvSpPr>
        <p:spPr>
          <a:xfrm>
            <a:off x="457200" y="2560320"/>
            <a:ext cx="8229600" cy="274320"/>
          </a:xfrm>
          <a:prstGeom prst="rect">
            <a:avLst/>
          </a:prstGeom>
          <a:noFill/>
          <a:ln/>
        </p:spPr>
        <p:txBody>
          <a:bodyPr wrap="square" lIns="0" tIns="0" rIns="0" bIns="0" rtlCol="0" anchor="t"/>
          <a:lstStyle/>
          <a:p>
            <a:pPr indent="0" marL="0">
              <a:buNone/>
            </a:pPr>
            <a:r>
              <a:rPr lang="en-US" sz="1300" b="1" dirty="0">
                <a:solidFill>
                  <a:schemeClr val="tx1"/>
                </a:solidFill>
              </a:rPr>
              <a:t>Quattro equivoci da evitare</a:t>
            </a:r>
            <a:endParaRPr lang="en-US" sz="1300" dirty="0"/>
          </a:p>
        </p:txBody>
      </p:sp>
      <p:sp>
        <p:nvSpPr>
          <p:cNvPr id="35" name="blocco 1  Non tutta l'AI è ad alto rischio"/>
          <p:cNvSpPr/>
          <p:nvPr/>
        </p:nvSpPr>
        <p:spPr>
          <a:xfrm>
            <a:off x="457200" y="2898648"/>
            <a:ext cx="4023360" cy="457200"/>
          </a:xfrm>
          <a:prstGeom prst="roundRect">
            <a:avLst>
              <a:gd name="adj" fmla="val 24000"/>
            </a:avLst>
          </a:prstGeom>
          <a:solidFill>
            <a:schemeClr val="accent6"/>
          </a:solidFill>
          <a:ln/>
        </p:spPr>
      </p:sp>
      <p:sp>
        <p:nvSpPr>
          <p:cNvPr id="36" name="Text 27"/>
          <p:cNvSpPr txBox="1"/>
          <p:nvPr/>
        </p:nvSpPr>
        <p:spPr>
          <a:xfrm>
            <a:off x="502920" y="2898648"/>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1  Non tutta l'AI è ad alto rischio</a:t>
            </a:r>
            <a:endParaRPr lang="en-US" sz="1200" dirty="0"/>
          </a:p>
        </p:txBody>
      </p:sp>
      <p:sp>
        <p:nvSpPr>
          <p:cNvPr id="37" name="blocco 2  Sistema conforme non è uso conforme"/>
          <p:cNvSpPr/>
          <p:nvPr/>
        </p:nvSpPr>
        <p:spPr>
          <a:xfrm>
            <a:off x="4663440" y="2898648"/>
            <a:ext cx="4023360" cy="457200"/>
          </a:xfrm>
          <a:prstGeom prst="roundRect">
            <a:avLst>
              <a:gd name="adj" fmla="val 24000"/>
            </a:avLst>
          </a:prstGeom>
          <a:solidFill>
            <a:schemeClr val="accent6"/>
          </a:solidFill>
          <a:ln/>
        </p:spPr>
      </p:sp>
      <p:sp>
        <p:nvSpPr>
          <p:cNvPr id="38" name="Text 29"/>
          <p:cNvSpPr txBox="1"/>
          <p:nvPr/>
        </p:nvSpPr>
        <p:spPr>
          <a:xfrm>
            <a:off x="4709160" y="2898648"/>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2  Sistema conforme non è uso conforme</a:t>
            </a:r>
            <a:endParaRPr lang="en-US" sz="1200" dirty="0"/>
          </a:p>
        </p:txBody>
      </p:sp>
      <p:sp>
        <p:nvSpPr>
          <p:cNvPr id="39" name="blocco 3  Un corso non è conformità all'articolo 4"/>
          <p:cNvSpPr/>
          <p:nvPr/>
        </p:nvSpPr>
        <p:spPr>
          <a:xfrm>
            <a:off x="457200" y="3447288"/>
            <a:ext cx="4023360" cy="457200"/>
          </a:xfrm>
          <a:prstGeom prst="roundRect">
            <a:avLst>
              <a:gd name="adj" fmla="val 24000"/>
            </a:avLst>
          </a:prstGeom>
          <a:solidFill>
            <a:schemeClr val="accent6"/>
          </a:solidFill>
          <a:ln/>
        </p:spPr>
      </p:sp>
      <p:sp>
        <p:nvSpPr>
          <p:cNvPr id="40" name="Text 31"/>
          <p:cNvSpPr txBox="1"/>
          <p:nvPr/>
        </p:nvSpPr>
        <p:spPr>
          <a:xfrm>
            <a:off x="502920" y="3447288"/>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3  Un corso non è conformità all'articolo 4</a:t>
            </a:r>
            <a:endParaRPr lang="en-US" sz="1200" dirty="0"/>
          </a:p>
        </p:txBody>
      </p:sp>
      <p:sp>
        <p:nvSpPr>
          <p:cNvPr id="41" name="blocco 4  Proporzionata, non necessariamente complessa"/>
          <p:cNvSpPr/>
          <p:nvPr/>
        </p:nvSpPr>
        <p:spPr>
          <a:xfrm>
            <a:off x="4663440" y="3447288"/>
            <a:ext cx="4023360" cy="457200"/>
          </a:xfrm>
          <a:prstGeom prst="roundRect">
            <a:avLst>
              <a:gd name="adj" fmla="val 24000"/>
            </a:avLst>
          </a:prstGeom>
          <a:solidFill>
            <a:schemeClr val="accent6"/>
          </a:solidFill>
          <a:ln/>
        </p:spPr>
      </p:sp>
      <p:sp>
        <p:nvSpPr>
          <p:cNvPr id="42" name="Text 33"/>
          <p:cNvSpPr txBox="1"/>
          <p:nvPr/>
        </p:nvSpPr>
        <p:spPr>
          <a:xfrm>
            <a:off x="4709160" y="3447288"/>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4  Proporzionata, non necessariamente complessa</a:t>
            </a:r>
            <a:endParaRPr lang="en-US" sz="1200" dirty="0"/>
          </a:p>
        </p:txBody>
      </p:sp>
      <p:sp>
        <p:nvSpPr>
          <p:cNvPr id="43" name="Text 34"/>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200" i="1" dirty="0">
                <a:solidFill>
                  <a:schemeClr val="tx2"/>
                </a:solidFill>
              </a:rPr>
              <a:t>Sequenza: finalità (18.1), policy (18.5), sistema organizzativo (18.8).</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8.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Perché serve una governance</a:t>
            </a:r>
            <a:endParaRPr lang="en-US" sz="1300" dirty="0"/>
          </a:p>
        </p:txBody>
      </p:sp>
      <p:sp>
        <p:nvSpPr>
          <p:cNvPr id="7" name="priorità 18.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8.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Il quadro normativo</a:t>
            </a:r>
            <a:endParaRPr lang="en-US" sz="1300" dirty="0"/>
          </a:p>
        </p:txBody>
      </p:sp>
      <p:sp>
        <p:nvSpPr>
          <p:cNvPr id="12" name="priorità 18.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8.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L'approccio basato sul rischio</a:t>
            </a:r>
            <a:endParaRPr lang="en-US" sz="1300" dirty="0"/>
          </a:p>
        </p:txBody>
      </p:sp>
      <p:sp>
        <p:nvSpPr>
          <p:cNvPr id="17" name="priorità 18.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8.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Ruoli e responsabilità</a:t>
            </a:r>
            <a:endParaRPr lang="en-US" sz="1300" dirty="0"/>
          </a:p>
        </p:txBody>
      </p:sp>
      <p:sp>
        <p:nvSpPr>
          <p:cNvPr id="22" name="priorità 18.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8.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Politiche aziendali</a:t>
            </a:r>
            <a:endParaRPr lang="en-US" sz="1300" dirty="0"/>
          </a:p>
        </p:txBody>
      </p:sp>
      <p:sp>
        <p:nvSpPr>
          <p:cNvPr id="27" name="priorità 18.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18.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Rischi, controlli e supervisione</a:t>
            </a:r>
            <a:endParaRPr lang="en-US" sz="1300" dirty="0"/>
          </a:p>
        </p:txBody>
      </p:sp>
      <p:sp>
        <p:nvSpPr>
          <p:cNvPr id="32" name="priorità 18.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18.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AI literacy e responsabilità</a:t>
            </a:r>
            <a:endParaRPr lang="en-US" sz="1300" dirty="0"/>
          </a:p>
        </p:txBody>
      </p:sp>
      <p:sp>
        <p:nvSpPr>
          <p:cNvPr id="37" name="priorità 18.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18.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18.8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Una governance proporzionata</a:t>
            </a:r>
            <a:endParaRPr lang="en-US" sz="1300" dirty="0"/>
          </a:p>
        </p:txBody>
      </p:sp>
      <p:sp>
        <p:nvSpPr>
          <p:cNvPr id="42" name="priorità 18.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applic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applicare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Caso d'uso prima della classificazione, provider e deployer, policy, AI literacy</a:t>
            </a:r>
            <a:endParaRPr lang="en-US" sz="10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Quadro normativo, applicazione progressiva, elementi di governance</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Analisi giuridiche, audit, calcolo del rischio, sistemi di gestione</a:t>
            </a:r>
            <a:endParaRPr lang="en-US" sz="1000" dirty="0"/>
          </a:p>
        </p:txBody>
      </p:sp>
      <p:sp>
        <p:nvSpPr>
          <p:cNvPr id="53" name="Text 50"/>
          <p:cNvSpPr txBox="1"/>
          <p:nvPr/>
        </p:nvSpPr>
        <p:spPr>
          <a:xfrm>
            <a:off x="457200" y="4526280"/>
            <a:ext cx="5120640" cy="228600"/>
          </a:xfrm>
          <a:prstGeom prst="rect">
            <a:avLst/>
          </a:prstGeom>
          <a:noFill/>
          <a:ln/>
        </p:spPr>
        <p:txBody>
          <a:bodyPr wrap="square" lIns="0" tIns="0" rIns="0" bIns="0" rtlCol="0" anchor="t"/>
          <a:lstStyle/>
          <a:p>
            <a:pPr indent="0" marL="0">
              <a:buNone/>
            </a:pPr>
            <a:r>
              <a:rPr lang="en-US" sz="1000" i="1" dirty="0">
                <a:solidFill>
                  <a:schemeClr val="accent5"/>
                </a:solidFill>
              </a:rPr>
              <a:t>Priorità molto alta: 18.2, 18.3, 18.4, 18.5, 18.7</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Perché serve una governance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Governare l'AI significa definire condizioni, responsabilità e verifiche che consentano usi appropriati e controllabili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cos'è la governance dell'AI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Text 13"/>
          <p:cNvSpPr txBox="1"/>
          <p:nvPr/>
        </p:nvSpPr>
        <p:spPr>
          <a:xfrm>
            <a:off x="457200" y="1005840"/>
            <a:ext cx="8229600" cy="292608"/>
          </a:xfrm>
          <a:prstGeom prst="rect">
            <a:avLst/>
          </a:prstGeom>
          <a:noFill/>
          <a:ln/>
        </p:spPr>
        <p:txBody>
          <a:bodyPr wrap="square" lIns="0" tIns="0" rIns="0" bIns="0" rtlCol="0" anchor="t"/>
          <a:lstStyle/>
          <a:p>
            <a:pPr indent="0" marL="0">
              <a:buNone/>
            </a:pPr>
            <a:r>
              <a:rPr lang="en-US" sz="1300" b="1" dirty="0">
                <a:solidFill>
                  <a:schemeClr val="tx1"/>
                </a:solidFill>
              </a:rPr>
              <a:t>Le domande della governance</a:t>
            </a:r>
            <a:endParaRPr lang="en-US" sz="1300" dirty="0"/>
          </a:p>
        </p:txBody>
      </p:sp>
      <p:sp>
        <p:nvSpPr>
          <p:cNvPr id="17" name="riga 0"/>
          <p:cNvSpPr/>
          <p:nvPr/>
        </p:nvSpPr>
        <p:spPr>
          <a:xfrm>
            <a:off x="457200" y="1325880"/>
            <a:ext cx="8229600" cy="384048"/>
          </a:xfrm>
          <a:prstGeom prst="roundRect">
            <a:avLst>
              <a:gd name="adj" fmla="val 19048"/>
            </a:avLst>
          </a:prstGeom>
          <a:solidFill>
            <a:schemeClr val="bg2"/>
          </a:solidFill>
          <a:ln/>
        </p:spPr>
      </p:sp>
      <p:sp>
        <p:nvSpPr>
          <p:cNvPr id="18" name="Text 15"/>
          <p:cNvSpPr txBox="1"/>
          <p:nvPr/>
        </p:nvSpPr>
        <p:spPr>
          <a:xfrm>
            <a:off x="640080" y="1325880"/>
            <a:ext cx="7863840" cy="384048"/>
          </a:xfrm>
          <a:prstGeom prst="rect">
            <a:avLst/>
          </a:prstGeom>
          <a:noFill/>
          <a:ln/>
        </p:spPr>
        <p:txBody>
          <a:bodyPr wrap="square" lIns="0" tIns="0" rIns="0" bIns="0" rtlCol="0" anchor="ctr"/>
          <a:lstStyle/>
          <a:p>
            <a:pPr indent="0" marL="0">
              <a:buNone/>
            </a:pPr>
            <a:r>
              <a:rPr lang="en-US" sz="1200" dirty="0">
                <a:solidFill>
                  <a:schemeClr val="tx1"/>
                </a:solidFill>
              </a:rPr>
              <a:t>Quali strumenti, per quali scopi, con quali informazioni?</a:t>
            </a:r>
            <a:endParaRPr lang="en-US" sz="1200" dirty="0"/>
          </a:p>
        </p:txBody>
      </p:sp>
      <p:sp>
        <p:nvSpPr>
          <p:cNvPr id="19" name="riga 1"/>
          <p:cNvSpPr/>
          <p:nvPr/>
        </p:nvSpPr>
        <p:spPr>
          <a:xfrm>
            <a:off x="457200" y="1755648"/>
            <a:ext cx="8229600" cy="384048"/>
          </a:xfrm>
          <a:prstGeom prst="roundRect">
            <a:avLst>
              <a:gd name="adj" fmla="val 19048"/>
            </a:avLst>
          </a:prstGeom>
          <a:solidFill>
            <a:schemeClr val="bg1"/>
          </a:solidFill>
          <a:ln/>
        </p:spPr>
      </p:sp>
      <p:sp>
        <p:nvSpPr>
          <p:cNvPr id="20" name="Text 17"/>
          <p:cNvSpPr txBox="1"/>
          <p:nvPr/>
        </p:nvSpPr>
        <p:spPr>
          <a:xfrm>
            <a:off x="640080" y="1755648"/>
            <a:ext cx="7863840" cy="384048"/>
          </a:xfrm>
          <a:prstGeom prst="rect">
            <a:avLst/>
          </a:prstGeom>
          <a:noFill/>
          <a:ln/>
        </p:spPr>
        <p:txBody>
          <a:bodyPr wrap="square" lIns="0" tIns="0" rIns="0" bIns="0" rtlCol="0" anchor="ctr"/>
          <a:lstStyle/>
          <a:p>
            <a:pPr indent="0" marL="0">
              <a:buNone/>
            </a:pPr>
            <a:r>
              <a:rPr lang="en-US" sz="1200" dirty="0">
                <a:solidFill>
                  <a:schemeClr val="tx1"/>
                </a:solidFill>
              </a:rPr>
              <a:t>Chi decide se un nuovo strumento o uso è accettabile?</a:t>
            </a:r>
            <a:endParaRPr lang="en-US" sz="1200" dirty="0"/>
          </a:p>
        </p:txBody>
      </p:sp>
      <p:sp>
        <p:nvSpPr>
          <p:cNvPr id="21" name="riga 2"/>
          <p:cNvSpPr/>
          <p:nvPr/>
        </p:nvSpPr>
        <p:spPr>
          <a:xfrm>
            <a:off x="457200" y="2185416"/>
            <a:ext cx="8229600" cy="384048"/>
          </a:xfrm>
          <a:prstGeom prst="roundRect">
            <a:avLst>
              <a:gd name="adj" fmla="val 19048"/>
            </a:avLst>
          </a:prstGeom>
          <a:solidFill>
            <a:schemeClr val="bg2"/>
          </a:solidFill>
          <a:ln/>
        </p:spPr>
      </p:sp>
      <p:sp>
        <p:nvSpPr>
          <p:cNvPr id="22" name="Text 19"/>
          <p:cNvSpPr txBox="1"/>
          <p:nvPr/>
        </p:nvSpPr>
        <p:spPr>
          <a:xfrm>
            <a:off x="640080" y="2185416"/>
            <a:ext cx="7863840" cy="384048"/>
          </a:xfrm>
          <a:prstGeom prst="rect">
            <a:avLst/>
          </a:prstGeom>
          <a:noFill/>
          <a:ln/>
        </p:spPr>
        <p:txBody>
          <a:bodyPr wrap="square" lIns="0" tIns="0" rIns="0" bIns="0" rtlCol="0" anchor="ctr"/>
          <a:lstStyle/>
          <a:p>
            <a:pPr indent="0" marL="0">
              <a:buNone/>
            </a:pPr>
            <a:r>
              <a:rPr lang="en-US" sz="1200" dirty="0">
                <a:solidFill>
                  <a:schemeClr val="tx1"/>
                </a:solidFill>
              </a:rPr>
              <a:t>Chi controlla, e come? Che cosa succede quando qualcosa va storto?</a:t>
            </a:r>
            <a:endParaRPr lang="en-US" sz="1200" dirty="0"/>
          </a:p>
        </p:txBody>
      </p:sp>
      <p:sp>
        <p:nvSpPr>
          <p:cNvPr id="23" name="riga 3"/>
          <p:cNvSpPr/>
          <p:nvPr/>
        </p:nvSpPr>
        <p:spPr>
          <a:xfrm>
            <a:off x="457200" y="2615184"/>
            <a:ext cx="8229600" cy="384048"/>
          </a:xfrm>
          <a:prstGeom prst="roundRect">
            <a:avLst>
              <a:gd name="adj" fmla="val 19048"/>
            </a:avLst>
          </a:prstGeom>
          <a:solidFill>
            <a:schemeClr val="bg1"/>
          </a:solidFill>
          <a:ln/>
        </p:spPr>
      </p:sp>
      <p:sp>
        <p:nvSpPr>
          <p:cNvPr id="24" name="Text 21"/>
          <p:cNvSpPr txBox="1"/>
          <p:nvPr/>
        </p:nvSpPr>
        <p:spPr>
          <a:xfrm>
            <a:off x="640080" y="2615184"/>
            <a:ext cx="7863840" cy="384048"/>
          </a:xfrm>
          <a:prstGeom prst="rect">
            <a:avLst/>
          </a:prstGeom>
          <a:noFill/>
          <a:ln/>
        </p:spPr>
        <p:txBody>
          <a:bodyPr wrap="square" lIns="0" tIns="0" rIns="0" bIns="0" rtlCol="0" anchor="ctr"/>
          <a:lstStyle/>
          <a:p>
            <a:pPr indent="0" marL="0">
              <a:buNone/>
            </a:pPr>
            <a:r>
              <a:rPr lang="en-US" sz="1200" dirty="0">
                <a:solidFill>
                  <a:schemeClr val="tx1"/>
                </a:solidFill>
              </a:rPr>
              <a:t>Come si aggiornano le regole quando cambiano gli strumenti?</a:t>
            </a:r>
            <a:endParaRPr lang="en-US" sz="1200" dirty="0"/>
          </a:p>
        </p:txBody>
      </p:sp>
      <p:sp>
        <p:nvSpPr>
          <p:cNvPr id="25" name="riquadro Il singolo"/>
          <p:cNvSpPr/>
          <p:nvPr/>
        </p:nvSpPr>
        <p:spPr>
          <a:xfrm>
            <a:off x="457200" y="3200400"/>
            <a:ext cx="3977640" cy="1188720"/>
          </a:xfrm>
          <a:prstGeom prst="roundRect">
            <a:avLst>
              <a:gd name="adj" fmla="val 6154"/>
            </a:avLst>
          </a:prstGeom>
          <a:solidFill>
            <a:schemeClr val="bg2"/>
          </a:solidFill>
          <a:ln/>
        </p:spPr>
      </p:sp>
      <p:sp>
        <p:nvSpPr>
          <p:cNvPr id="26" name="barra"/>
          <p:cNvSpPr/>
          <p:nvPr/>
        </p:nvSpPr>
        <p:spPr>
          <a:xfrm>
            <a:off x="457200" y="3310128"/>
            <a:ext cx="54864" cy="969264"/>
          </a:xfrm>
          <a:prstGeom prst="rect">
            <a:avLst/>
          </a:prstGeom>
          <a:solidFill>
            <a:schemeClr val="accent1"/>
          </a:solidFill>
          <a:ln/>
        </p:spPr>
      </p:sp>
      <p:sp>
        <p:nvSpPr>
          <p:cNvPr id="27" name="Text 24"/>
          <p:cNvSpPr txBox="1"/>
          <p:nvPr/>
        </p:nvSpPr>
        <p:spPr>
          <a:xfrm>
            <a:off x="658368" y="329184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Il singolo</a:t>
            </a:r>
            <a:endParaRPr lang="en-US" sz="1100" dirty="0"/>
          </a:p>
        </p:txBody>
      </p:sp>
      <p:sp>
        <p:nvSpPr>
          <p:cNvPr id="28" name="Text 25"/>
          <p:cNvSpPr txBox="1"/>
          <p:nvPr/>
        </p:nvSpPr>
        <p:spPr>
          <a:xfrm>
            <a:off x="658368" y="3584448"/>
            <a:ext cx="3611880" cy="713232"/>
          </a:xfrm>
          <a:prstGeom prst="rect">
            <a:avLst/>
          </a:prstGeom>
          <a:noFill/>
          <a:ln/>
        </p:spPr>
        <p:txBody>
          <a:bodyPr wrap="square" lIns="0" tIns="0" rIns="0" bIns="0" rtlCol="0" anchor="t"/>
          <a:lstStyle/>
          <a:p>
            <a:pPr indent="0" marL="0">
              <a:buNone/>
            </a:pPr>
            <a:r>
              <a:rPr lang="en-US" sz="1300" dirty="0">
                <a:solidFill>
                  <a:schemeClr val="tx1"/>
                </a:solidFill>
              </a:rPr>
              <a:t>Risponde delle proprie scelte d'uso.</a:t>
            </a:r>
            <a:endParaRPr lang="en-US" sz="1300" dirty="0"/>
          </a:p>
        </p:txBody>
      </p:sp>
      <p:sp>
        <p:nvSpPr>
          <p:cNvPr id="29" name="riquadro L'organizzazione"/>
          <p:cNvSpPr/>
          <p:nvPr/>
        </p:nvSpPr>
        <p:spPr>
          <a:xfrm>
            <a:off x="4709160" y="3200400"/>
            <a:ext cx="3977640" cy="1188720"/>
          </a:xfrm>
          <a:prstGeom prst="roundRect">
            <a:avLst>
              <a:gd name="adj" fmla="val 6154"/>
            </a:avLst>
          </a:prstGeom>
          <a:solidFill>
            <a:schemeClr val="accent6"/>
          </a:solidFill>
          <a:ln/>
        </p:spPr>
      </p:sp>
      <p:sp>
        <p:nvSpPr>
          <p:cNvPr id="30" name="barra"/>
          <p:cNvSpPr/>
          <p:nvPr/>
        </p:nvSpPr>
        <p:spPr>
          <a:xfrm>
            <a:off x="4709160" y="3310128"/>
            <a:ext cx="54864" cy="969264"/>
          </a:xfrm>
          <a:prstGeom prst="rect">
            <a:avLst/>
          </a:prstGeom>
          <a:solidFill>
            <a:schemeClr val="accent1"/>
          </a:solidFill>
          <a:ln/>
        </p:spPr>
      </p:sp>
      <p:sp>
        <p:nvSpPr>
          <p:cNvPr id="31" name="Text 28"/>
          <p:cNvSpPr txBox="1"/>
          <p:nvPr/>
        </p:nvSpPr>
        <p:spPr>
          <a:xfrm>
            <a:off x="4910328" y="329184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L'organizzazione</a:t>
            </a:r>
            <a:endParaRPr lang="en-US" sz="1100" dirty="0"/>
          </a:p>
        </p:txBody>
      </p:sp>
      <p:sp>
        <p:nvSpPr>
          <p:cNvPr id="32" name="Text 29"/>
          <p:cNvSpPr txBox="1"/>
          <p:nvPr/>
        </p:nvSpPr>
        <p:spPr>
          <a:xfrm>
            <a:off x="4910328" y="3584448"/>
            <a:ext cx="3611880" cy="713232"/>
          </a:xfrm>
          <a:prstGeom prst="rect">
            <a:avLst/>
          </a:prstGeom>
          <a:noFill/>
          <a:ln/>
        </p:spPr>
        <p:txBody>
          <a:bodyPr wrap="square" lIns="0" tIns="0" rIns="0" bIns="0" rtlCol="0" anchor="t"/>
          <a:lstStyle/>
          <a:p>
            <a:pPr indent="0" marL="0">
              <a:buNone/>
            </a:pPr>
            <a:r>
              <a:rPr lang="en-US" sz="1300" dirty="0">
                <a:solidFill>
                  <a:schemeClr val="tx1"/>
                </a:solidFill>
              </a:rPr>
              <a:t>Risponde delle condizioni: strumenti, regole, competenze, supporto, controlli.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Principi di riferimento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Affidabilità"/>
          <p:cNvSpPr/>
          <p:nvPr/>
        </p:nvSpPr>
        <p:spPr>
          <a:xfrm>
            <a:off x="457200" y="1051560"/>
            <a:ext cx="1920240" cy="1600200"/>
          </a:xfrm>
          <a:prstGeom prst="roundRect">
            <a:avLst>
              <a:gd name="adj" fmla="val 4571"/>
            </a:avLst>
          </a:prstGeom>
          <a:solidFill>
            <a:schemeClr val="bg2"/>
          </a:solidFill>
          <a:ln/>
        </p:spPr>
      </p:sp>
      <p:sp>
        <p:nvSpPr>
          <p:cNvPr id="17" name="cerchio FiCheckCircle"/>
          <p:cNvSpPr/>
          <p:nvPr/>
        </p:nvSpPr>
        <p:spPr>
          <a:xfrm>
            <a:off x="621792" y="1216152"/>
            <a:ext cx="438912" cy="438912"/>
          </a:xfrm>
          <a:prstGeom prst="ellipse">
            <a:avLst/>
          </a:prstGeom>
          <a:solidFill>
            <a:schemeClr val="accent1"/>
          </a:solidFill>
          <a:ln/>
        </p:spPr>
      </p:sp>
      <p:pic>
        <p:nvPicPr>
          <p:cNvPr id="18" name="Image 0" descr="FiCheckCircle">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Affidabilità</a:t>
            </a:r>
            <a:endParaRPr lang="en-US" sz="1300" dirty="0"/>
          </a:p>
        </p:txBody>
      </p:sp>
      <p:sp>
        <p:nvSpPr>
          <p:cNvPr id="20" name="Text 16"/>
          <p:cNvSpPr txBox="1"/>
          <p:nvPr/>
        </p:nvSpPr>
        <p:spPr>
          <a:xfrm>
            <a:off x="621792" y="1764792"/>
            <a:ext cx="1591056" cy="795528"/>
          </a:xfrm>
          <a:prstGeom prst="rect">
            <a:avLst/>
          </a:prstGeom>
          <a:noFill/>
          <a:ln/>
        </p:spPr>
        <p:txBody>
          <a:bodyPr wrap="square" lIns="0" tIns="0" rIns="0" bIns="0" rtlCol="0" anchor="t"/>
          <a:lstStyle/>
          <a:p>
            <a:pPr indent="0" marL="0">
              <a:buNone/>
            </a:pPr>
            <a:r>
              <a:rPr lang="en-US" sz="1100" dirty="0">
                <a:solidFill>
                  <a:schemeClr val="tx2"/>
                </a:solidFill>
              </a:rPr>
              <a:t>Funziona come previsto, robusto e sicuro</a:t>
            </a:r>
            <a:endParaRPr lang="en-US" sz="1100" dirty="0"/>
          </a:p>
        </p:txBody>
      </p:sp>
      <p:sp>
        <p:nvSpPr>
          <p:cNvPr id="21" name="Trasparenza"/>
          <p:cNvSpPr/>
          <p:nvPr/>
        </p:nvSpPr>
        <p:spPr>
          <a:xfrm>
            <a:off x="2560320" y="1051560"/>
            <a:ext cx="1920240" cy="1600200"/>
          </a:xfrm>
          <a:prstGeom prst="roundRect">
            <a:avLst>
              <a:gd name="adj" fmla="val 4571"/>
            </a:avLst>
          </a:prstGeom>
          <a:solidFill>
            <a:schemeClr val="bg2"/>
          </a:solidFill>
          <a:ln/>
        </p:spPr>
      </p:sp>
      <p:sp>
        <p:nvSpPr>
          <p:cNvPr id="22" name="cerchio FiEye"/>
          <p:cNvSpPr/>
          <p:nvPr/>
        </p:nvSpPr>
        <p:spPr>
          <a:xfrm>
            <a:off x="2724912" y="1216152"/>
            <a:ext cx="438912" cy="438912"/>
          </a:xfrm>
          <a:prstGeom prst="ellipse">
            <a:avLst/>
          </a:prstGeom>
          <a:solidFill>
            <a:schemeClr val="accent1"/>
          </a:solidFill>
          <a:ln/>
        </p:spPr>
      </p:sp>
      <p:pic>
        <p:nvPicPr>
          <p:cNvPr id="23" name="Image 1" descr="FiEye">    </p:cNvPr>
          <p:cNvPicPr>
            <a:picLocks noChangeAspect="1"/>
          </p:cNvPicPr>
          <p:nvPr/>
        </p:nvPicPr>
        <p:blipFill>
          <a:blip r:embed="rId2"/>
          <a:stretch>
            <a:fillRect/>
          </a:stretch>
        </p:blipFill>
        <p:spPr>
          <a:xfrm>
            <a:off x="2834640" y="1325880"/>
            <a:ext cx="219456" cy="219456"/>
          </a:xfrm>
          <a:prstGeom prst="rect">
            <a:avLst/>
          </a:prstGeom>
        </p:spPr>
      </p:pic>
      <p:sp>
        <p:nvSpPr>
          <p:cNvPr id="24" name="Text 19"/>
          <p:cNvSpPr txBox="1"/>
          <p:nvPr/>
        </p:nvSpPr>
        <p:spPr>
          <a:xfrm>
            <a:off x="327355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Trasparenza</a:t>
            </a:r>
            <a:endParaRPr lang="en-US" sz="1300" dirty="0"/>
          </a:p>
        </p:txBody>
      </p:sp>
      <p:sp>
        <p:nvSpPr>
          <p:cNvPr id="25" name="Text 20"/>
          <p:cNvSpPr txBox="1"/>
          <p:nvPr/>
        </p:nvSpPr>
        <p:spPr>
          <a:xfrm>
            <a:off x="2724912" y="1764792"/>
            <a:ext cx="1591056" cy="795528"/>
          </a:xfrm>
          <a:prstGeom prst="rect">
            <a:avLst/>
          </a:prstGeom>
          <a:noFill/>
          <a:ln/>
        </p:spPr>
        <p:txBody>
          <a:bodyPr wrap="square" lIns="0" tIns="0" rIns="0" bIns="0" rtlCol="0" anchor="t"/>
          <a:lstStyle/>
          <a:p>
            <a:pPr indent="0" marL="0">
              <a:buNone/>
            </a:pPr>
            <a:r>
              <a:rPr lang="en-US" sz="1100" dirty="0">
                <a:solidFill>
                  <a:schemeClr val="tx2"/>
                </a:solidFill>
              </a:rPr>
              <a:t>Si sa quando si usa l'AI, e come funziona</a:t>
            </a:r>
            <a:endParaRPr lang="en-US" sz="1100" dirty="0"/>
          </a:p>
        </p:txBody>
      </p:sp>
      <p:sp>
        <p:nvSpPr>
          <p:cNvPr id="26" name="Equità"/>
          <p:cNvSpPr/>
          <p:nvPr/>
        </p:nvSpPr>
        <p:spPr>
          <a:xfrm>
            <a:off x="4663440" y="1051560"/>
            <a:ext cx="1920240" cy="1600200"/>
          </a:xfrm>
          <a:prstGeom prst="roundRect">
            <a:avLst>
              <a:gd name="adj" fmla="val 4571"/>
            </a:avLst>
          </a:prstGeom>
          <a:solidFill>
            <a:schemeClr val="bg2"/>
          </a:solidFill>
          <a:ln/>
        </p:spPr>
      </p:sp>
      <p:sp>
        <p:nvSpPr>
          <p:cNvPr id="27" name="cerchio FiUsers"/>
          <p:cNvSpPr/>
          <p:nvPr/>
        </p:nvSpPr>
        <p:spPr>
          <a:xfrm>
            <a:off x="4828032" y="1216152"/>
            <a:ext cx="438912" cy="438912"/>
          </a:xfrm>
          <a:prstGeom prst="ellipse">
            <a:avLst/>
          </a:prstGeom>
          <a:solidFill>
            <a:schemeClr val="accent1"/>
          </a:solidFill>
          <a:ln/>
        </p:spPr>
      </p:sp>
      <p:pic>
        <p:nvPicPr>
          <p:cNvPr id="28" name="Image 2" descr="FiUsers">    </p:cNvPr>
          <p:cNvPicPr>
            <a:picLocks noChangeAspect="1"/>
          </p:cNvPicPr>
          <p:nvPr/>
        </p:nvPicPr>
        <p:blipFill>
          <a:blip r:embed="rId3"/>
          <a:stretch>
            <a:fillRect/>
          </a:stretch>
        </p:blipFill>
        <p:spPr>
          <a:xfrm>
            <a:off x="4937760" y="1325880"/>
            <a:ext cx="219456" cy="219456"/>
          </a:xfrm>
          <a:prstGeom prst="rect">
            <a:avLst/>
          </a:prstGeom>
        </p:spPr>
      </p:pic>
      <p:sp>
        <p:nvSpPr>
          <p:cNvPr id="29" name="Text 23"/>
          <p:cNvSpPr txBox="1"/>
          <p:nvPr/>
        </p:nvSpPr>
        <p:spPr>
          <a:xfrm>
            <a:off x="537667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Equità</a:t>
            </a:r>
            <a:endParaRPr lang="en-US" sz="1300" dirty="0"/>
          </a:p>
        </p:txBody>
      </p:sp>
      <p:sp>
        <p:nvSpPr>
          <p:cNvPr id="30" name="Text 24"/>
          <p:cNvSpPr txBox="1"/>
          <p:nvPr/>
        </p:nvSpPr>
        <p:spPr>
          <a:xfrm>
            <a:off x="4828032" y="1764792"/>
            <a:ext cx="1591056" cy="795528"/>
          </a:xfrm>
          <a:prstGeom prst="rect">
            <a:avLst/>
          </a:prstGeom>
          <a:noFill/>
          <a:ln/>
        </p:spPr>
        <p:txBody>
          <a:bodyPr wrap="square" lIns="0" tIns="0" rIns="0" bIns="0" rtlCol="0" anchor="t"/>
          <a:lstStyle/>
          <a:p>
            <a:pPr indent="0" marL="0">
              <a:buNone/>
            </a:pPr>
            <a:r>
              <a:rPr lang="en-US" sz="1100" dirty="0">
                <a:solidFill>
                  <a:schemeClr val="tx2"/>
                </a:solidFill>
              </a:rPr>
              <a:t>Nessuna discriminazione ingiustificata</a:t>
            </a:r>
            <a:endParaRPr lang="en-US" sz="1100" dirty="0"/>
          </a:p>
        </p:txBody>
      </p:sp>
      <p:sp>
        <p:nvSpPr>
          <p:cNvPr id="31" name="Responsabilità"/>
          <p:cNvSpPr/>
          <p:nvPr/>
        </p:nvSpPr>
        <p:spPr>
          <a:xfrm>
            <a:off x="6766560" y="1051560"/>
            <a:ext cx="1920240" cy="1600200"/>
          </a:xfrm>
          <a:prstGeom prst="roundRect">
            <a:avLst>
              <a:gd name="adj" fmla="val 4571"/>
            </a:avLst>
          </a:prstGeom>
          <a:solidFill>
            <a:schemeClr val="bg2"/>
          </a:solidFill>
          <a:ln/>
        </p:spPr>
      </p:sp>
      <p:sp>
        <p:nvSpPr>
          <p:cNvPr id="32" name="cerchio FiUserCheck"/>
          <p:cNvSpPr/>
          <p:nvPr/>
        </p:nvSpPr>
        <p:spPr>
          <a:xfrm>
            <a:off x="6931152" y="1216152"/>
            <a:ext cx="438912" cy="438912"/>
          </a:xfrm>
          <a:prstGeom prst="ellipse">
            <a:avLst/>
          </a:prstGeom>
          <a:solidFill>
            <a:schemeClr val="accent1"/>
          </a:solidFill>
          <a:ln/>
        </p:spPr>
      </p:sp>
      <p:pic>
        <p:nvPicPr>
          <p:cNvPr id="33" name="Image 3" descr="FiUserCheck">    </p:cNvPr>
          <p:cNvPicPr>
            <a:picLocks noChangeAspect="1"/>
          </p:cNvPicPr>
          <p:nvPr/>
        </p:nvPicPr>
        <p:blipFill>
          <a:blip r:embed="rId4"/>
          <a:stretch>
            <a:fillRect/>
          </a:stretch>
        </p:blipFill>
        <p:spPr>
          <a:xfrm>
            <a:off x="7040880" y="1325880"/>
            <a:ext cx="219456" cy="219456"/>
          </a:xfrm>
          <a:prstGeom prst="rect">
            <a:avLst/>
          </a:prstGeom>
        </p:spPr>
      </p:pic>
      <p:sp>
        <p:nvSpPr>
          <p:cNvPr id="34" name="Text 27"/>
          <p:cNvSpPr txBox="1"/>
          <p:nvPr/>
        </p:nvSpPr>
        <p:spPr>
          <a:xfrm>
            <a:off x="747979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Responsabilità</a:t>
            </a:r>
            <a:endParaRPr lang="en-US" sz="1300" dirty="0"/>
          </a:p>
        </p:txBody>
      </p:sp>
      <p:sp>
        <p:nvSpPr>
          <p:cNvPr id="35" name="Text 28"/>
          <p:cNvSpPr txBox="1"/>
          <p:nvPr/>
        </p:nvSpPr>
        <p:spPr>
          <a:xfrm>
            <a:off x="6931152" y="1764792"/>
            <a:ext cx="1591056" cy="795528"/>
          </a:xfrm>
          <a:prstGeom prst="rect">
            <a:avLst/>
          </a:prstGeom>
          <a:noFill/>
          <a:ln/>
        </p:spPr>
        <p:txBody>
          <a:bodyPr wrap="square" lIns="0" tIns="0" rIns="0" bIns="0" rtlCol="0" anchor="t"/>
          <a:lstStyle/>
          <a:p>
            <a:pPr indent="0" marL="0">
              <a:buNone/>
            </a:pPr>
            <a:r>
              <a:rPr lang="en-US" sz="1100" dirty="0">
                <a:solidFill>
                  <a:schemeClr val="tx2"/>
                </a:solidFill>
              </a:rPr>
              <a:t>È chiaro chi risponde di decisioni e conseguenze</a:t>
            </a:r>
            <a:endParaRPr lang="en-US" sz="1100" dirty="0"/>
          </a:p>
        </p:txBody>
      </p:sp>
      <p:sp>
        <p:nvSpPr>
          <p:cNvPr id="36" name="UE, 2019"/>
          <p:cNvSpPr/>
          <p:nvPr/>
        </p:nvSpPr>
        <p:spPr>
          <a:xfrm>
            <a:off x="457200" y="2788920"/>
            <a:ext cx="8229600" cy="365760"/>
          </a:xfrm>
          <a:prstGeom prst="roundRect">
            <a:avLst>
              <a:gd name="adj" fmla="val 20000"/>
            </a:avLst>
          </a:prstGeom>
          <a:solidFill>
            <a:schemeClr val="bg2"/>
          </a:solidFill>
          <a:ln/>
        </p:spPr>
      </p:sp>
      <p:sp>
        <p:nvSpPr>
          <p:cNvPr id="37" name="Text 30"/>
          <p:cNvSpPr txBox="1"/>
          <p:nvPr/>
        </p:nvSpPr>
        <p:spPr>
          <a:xfrm>
            <a:off x="594360" y="278892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UE, 2019</a:t>
            </a:r>
            <a:endParaRPr lang="en-US" sz="1300" dirty="0"/>
          </a:p>
        </p:txBody>
      </p:sp>
      <p:sp>
        <p:nvSpPr>
          <p:cNvPr id="38" name="Text 31"/>
          <p:cNvSpPr txBox="1"/>
          <p:nvPr/>
        </p:nvSpPr>
        <p:spPr>
          <a:xfrm>
            <a:off x="2331720" y="2788920"/>
            <a:ext cx="6217920" cy="365760"/>
          </a:xfrm>
          <a:prstGeom prst="rect">
            <a:avLst/>
          </a:prstGeom>
          <a:noFill/>
          <a:ln/>
        </p:spPr>
        <p:txBody>
          <a:bodyPr wrap="square" lIns="0" tIns="0" rIns="0" bIns="0" rtlCol="0" anchor="ctr"/>
          <a:lstStyle/>
          <a:p>
            <a:pPr indent="0" marL="0">
              <a:buNone/>
            </a:pPr>
            <a:r>
              <a:rPr lang="en-US" sz="1100" dirty="0">
                <a:solidFill>
                  <a:schemeClr val="tx1"/>
                </a:solidFill>
              </a:rPr>
              <a:t>Linee guida etiche per un'AI affidabile (gruppo di esperti della Commissione)</a:t>
            </a:r>
            <a:endParaRPr lang="en-US" sz="1100" dirty="0"/>
          </a:p>
        </p:txBody>
      </p:sp>
      <p:sp>
        <p:nvSpPr>
          <p:cNvPr id="39" name="OCSE, 2019 e 2024"/>
          <p:cNvSpPr/>
          <p:nvPr/>
        </p:nvSpPr>
        <p:spPr>
          <a:xfrm>
            <a:off x="457200" y="3227832"/>
            <a:ext cx="8229600" cy="365760"/>
          </a:xfrm>
          <a:prstGeom prst="roundRect">
            <a:avLst>
              <a:gd name="adj" fmla="val 20000"/>
            </a:avLst>
          </a:prstGeom>
          <a:solidFill>
            <a:schemeClr val="bg1"/>
          </a:solidFill>
          <a:ln/>
        </p:spPr>
      </p:sp>
      <p:sp>
        <p:nvSpPr>
          <p:cNvPr id="40" name="Text 33"/>
          <p:cNvSpPr txBox="1"/>
          <p:nvPr/>
        </p:nvSpPr>
        <p:spPr>
          <a:xfrm>
            <a:off x="594360" y="3227832"/>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OCSE, 2019 e 2024</a:t>
            </a:r>
            <a:endParaRPr lang="en-US" sz="1300" dirty="0"/>
          </a:p>
        </p:txBody>
      </p:sp>
      <p:sp>
        <p:nvSpPr>
          <p:cNvPr id="41" name="Text 34"/>
          <p:cNvSpPr txBox="1"/>
          <p:nvPr/>
        </p:nvSpPr>
        <p:spPr>
          <a:xfrm>
            <a:off x="2331720" y="3227832"/>
            <a:ext cx="6217920" cy="365760"/>
          </a:xfrm>
          <a:prstGeom prst="rect">
            <a:avLst/>
          </a:prstGeom>
          <a:noFill/>
          <a:ln/>
        </p:spPr>
        <p:txBody>
          <a:bodyPr wrap="square" lIns="0" tIns="0" rIns="0" bIns="0" rtlCol="0" anchor="ctr"/>
          <a:lstStyle/>
          <a:p>
            <a:pPr indent="0" marL="0">
              <a:buNone/>
            </a:pPr>
            <a:r>
              <a:rPr lang="en-US" sz="1100" dirty="0">
                <a:solidFill>
                  <a:schemeClr val="tx1"/>
                </a:solidFill>
              </a:rPr>
              <a:t>Principi sull'intelligenza artificiale</a:t>
            </a:r>
            <a:endParaRPr lang="en-US" sz="1100" dirty="0"/>
          </a:p>
        </p:txBody>
      </p:sp>
      <p:sp>
        <p:nvSpPr>
          <p:cNvPr id="42" name="UNESCO, 2021"/>
          <p:cNvSpPr/>
          <p:nvPr/>
        </p:nvSpPr>
        <p:spPr>
          <a:xfrm>
            <a:off x="457200" y="3666744"/>
            <a:ext cx="8229600" cy="365760"/>
          </a:xfrm>
          <a:prstGeom prst="roundRect">
            <a:avLst>
              <a:gd name="adj" fmla="val 20000"/>
            </a:avLst>
          </a:prstGeom>
          <a:solidFill>
            <a:schemeClr val="bg2"/>
          </a:solidFill>
          <a:ln/>
        </p:spPr>
      </p:sp>
      <p:sp>
        <p:nvSpPr>
          <p:cNvPr id="43" name="Text 36"/>
          <p:cNvSpPr txBox="1"/>
          <p:nvPr/>
        </p:nvSpPr>
        <p:spPr>
          <a:xfrm>
            <a:off x="594360" y="3666744"/>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UNESCO, 2021</a:t>
            </a:r>
            <a:endParaRPr lang="en-US" sz="1300" dirty="0"/>
          </a:p>
        </p:txBody>
      </p:sp>
      <p:sp>
        <p:nvSpPr>
          <p:cNvPr id="44" name="Text 37"/>
          <p:cNvSpPr txBox="1"/>
          <p:nvPr/>
        </p:nvSpPr>
        <p:spPr>
          <a:xfrm>
            <a:off x="2331720" y="3666744"/>
            <a:ext cx="6217920" cy="365760"/>
          </a:xfrm>
          <a:prstGeom prst="rect">
            <a:avLst/>
          </a:prstGeom>
          <a:noFill/>
          <a:ln/>
        </p:spPr>
        <p:txBody>
          <a:bodyPr wrap="square" lIns="0" tIns="0" rIns="0" bIns="0" rtlCol="0" anchor="ctr"/>
          <a:lstStyle/>
          <a:p>
            <a:pPr indent="0" marL="0">
              <a:buNone/>
            </a:pPr>
            <a:r>
              <a:rPr lang="en-US" sz="1100" dirty="0">
                <a:solidFill>
                  <a:schemeClr val="tx1"/>
                </a:solidFill>
              </a:rPr>
              <a:t>Raccomandazione sull'etica dell'AI</a:t>
            </a:r>
            <a:endParaRPr lang="en-US" sz="1100" dirty="0"/>
          </a:p>
        </p:txBody>
      </p:sp>
      <p:sp>
        <p:nvSpPr>
          <p:cNvPr id="45" name="Text 38"/>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i="1" dirty="0">
                <a:solidFill>
                  <a:schemeClr val="accent1"/>
                </a:solidFill>
              </a:rPr>
              <a:t>I principi sono il perché delle regole: orientano quando una regola manca.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Conformità e governo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Conformità normativa"/>
          <p:cNvSpPr/>
          <p:nvPr/>
        </p:nvSpPr>
        <p:spPr>
          <a:xfrm>
            <a:off x="457200" y="1051560"/>
            <a:ext cx="3977640" cy="2240280"/>
          </a:xfrm>
          <a:prstGeom prst="roundRect">
            <a:avLst>
              <a:gd name="adj" fmla="val 3265"/>
            </a:avLst>
          </a:prstGeom>
          <a:solidFill>
            <a:schemeClr val="bg2"/>
          </a:solidFill>
          <a:ln/>
        </p:spPr>
      </p:sp>
      <p:sp>
        <p:nvSpPr>
          <p:cNvPr id="17" name="cerchio FiBookOpen"/>
          <p:cNvSpPr/>
          <p:nvPr/>
        </p:nvSpPr>
        <p:spPr>
          <a:xfrm>
            <a:off x="640080" y="1234440"/>
            <a:ext cx="457200" cy="457200"/>
          </a:xfrm>
          <a:prstGeom prst="ellipse">
            <a:avLst/>
          </a:prstGeom>
          <a:solidFill>
            <a:schemeClr val="accent1"/>
          </a:solidFill>
          <a:ln/>
        </p:spPr>
      </p:sp>
      <p:sp>
        <p:nvSpPr>
          <p:cNvPr id="18" name="scheda Governo complessivo"/>
          <p:cNvSpPr/>
          <p:nvPr/>
        </p:nvSpPr>
        <p:spPr>
          <a:xfrm>
            <a:off x="4709160" y="1051560"/>
            <a:ext cx="3977640" cy="2240280"/>
          </a:xfrm>
          <a:prstGeom prst="roundRect">
            <a:avLst>
              <a:gd name="adj" fmla="val 3265"/>
            </a:avLst>
          </a:prstGeom>
          <a:solidFill>
            <a:schemeClr val="accent6"/>
          </a:solidFill>
          <a:ln/>
        </p:spPr>
      </p:sp>
      <p:sp>
        <p:nvSpPr>
          <p:cNvPr id="19" name="cerchio FiCompass"/>
          <p:cNvSpPr/>
          <p:nvPr/>
        </p:nvSpPr>
        <p:spPr>
          <a:xfrm>
            <a:off x="4892040" y="1234440"/>
            <a:ext cx="457200" cy="457200"/>
          </a:xfrm>
          <a:prstGeom prst="ellipse">
            <a:avLst/>
          </a:prstGeom>
          <a:solidFill>
            <a:schemeClr val="accent1"/>
          </a:solidFill>
          <a:ln/>
        </p:spPr>
      </p:sp>
      <p:pic>
        <p:nvPicPr>
          <p:cNvPr id="20" name="Image 0" descr="FiBookOpen">    </p:cNvPr>
          <p:cNvPicPr>
            <a:picLocks noChangeAspect="1"/>
          </p:cNvPicPr>
          <p:nvPr/>
        </p:nvPicPr>
        <p:blipFill>
          <a:blip r:embed="rId1"/>
          <a:stretch>
            <a:fillRect/>
          </a:stretch>
        </p:blipFill>
        <p:spPr>
          <a:xfrm>
            <a:off x="754380" y="1348740"/>
            <a:ext cx="228600" cy="228600"/>
          </a:xfrm>
          <a:prstGeom prst="rect">
            <a:avLst/>
          </a:prstGeom>
        </p:spPr>
      </p:pic>
      <p:pic>
        <p:nvPicPr>
          <p:cNvPr id="21" name="Image 1" descr="FiCompass">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Conformità normativa</a:t>
            </a:r>
            <a:endParaRPr lang="en-US" sz="1500" dirty="0"/>
          </a:p>
        </p:txBody>
      </p:sp>
      <p:sp>
        <p:nvSpPr>
          <p:cNvPr id="23" name="Text 18"/>
          <p:cNvSpPr txBox="1"/>
          <p:nvPr/>
        </p:nvSpPr>
        <p:spPr>
          <a:xfrm>
            <a:off x="640080" y="2185416"/>
            <a:ext cx="3611880" cy="9966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Rispetto degli obblighi di legge</a:t>
            </a:r>
            <a:endParaRPr lang="en-US" sz="1300" dirty="0"/>
          </a:p>
          <a:p>
            <a:pPr marL="177800" indent="-177800">
              <a:spcAft>
                <a:spcPts val="500"/>
              </a:spcAft>
              <a:buSzPct val="100000"/>
              <a:buChar char="•"/>
            </a:pPr>
            <a:r>
              <a:rPr lang="en-US" sz="1300" dirty="0">
                <a:solidFill>
                  <a:schemeClr val="tx2"/>
                </a:solidFill>
              </a:rPr>
              <a:t>AI Act, GDPR, lavoro, norme di settore</a:t>
            </a:r>
            <a:endParaRPr lang="en-US" sz="1300" dirty="0"/>
          </a:p>
          <a:p>
            <a:pPr marL="177800" indent="-177800">
              <a:spcAft>
                <a:spcPts val="500"/>
              </a:spcAft>
              <a:buSzPct val="100000"/>
              <a:buChar char="•"/>
            </a:pPr>
            <a:r>
              <a:rPr lang="en-US" sz="1300" dirty="0">
                <a:solidFill>
                  <a:schemeClr val="tx2"/>
                </a:solidFill>
              </a:rPr>
              <a:t>Necessaria, non sufficiente</a:t>
            </a:r>
            <a:endParaRPr lang="en-US" sz="1300" dirty="0"/>
          </a:p>
        </p:txBody>
      </p:sp>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Governo complessivo</a:t>
            </a:r>
            <a:endParaRPr lang="en-US" sz="1500" dirty="0"/>
          </a:p>
        </p:txBody>
      </p:sp>
      <p:sp>
        <p:nvSpPr>
          <p:cNvPr id="25" name="Text 20"/>
          <p:cNvSpPr txBox="1"/>
          <p:nvPr/>
        </p:nvSpPr>
        <p:spPr>
          <a:xfrm>
            <a:off x="4892040" y="2185416"/>
            <a:ext cx="3611880" cy="9966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Anche scelte non imposte dalla legge</a:t>
            </a:r>
            <a:endParaRPr lang="en-US" sz="1300" dirty="0"/>
          </a:p>
          <a:p>
            <a:pPr marL="177800" indent="-177800">
              <a:spcAft>
                <a:spcPts val="500"/>
              </a:spcAft>
              <a:buSzPct val="100000"/>
              <a:buChar char="•"/>
            </a:pPr>
            <a:r>
              <a:rPr lang="en-US" sz="1300" dirty="0">
                <a:solidFill>
                  <a:schemeClr val="tx2"/>
                </a:solidFill>
              </a:rPr>
              <a:t>Strumenti, usi, segreti, qualità, formazione</a:t>
            </a:r>
            <a:endParaRPr lang="en-US" sz="1300" dirty="0"/>
          </a:p>
          <a:p>
            <a:pPr marL="177800" indent="-177800">
              <a:spcAft>
                <a:spcPts val="500"/>
              </a:spcAft>
              <a:buSzPct val="100000"/>
              <a:buChar char="•"/>
            </a:pPr>
            <a:r>
              <a:rPr lang="en-US" sz="1300" dirty="0">
                <a:solidFill>
                  <a:schemeClr val="tx2"/>
                </a:solidFill>
              </a:rPr>
              <a:t>Rischi non regolati ma reali</a:t>
            </a:r>
            <a:endParaRPr lang="en-US" sz="1300" dirty="0"/>
          </a:p>
        </p:txBody>
      </p:sp>
      <p:sp>
        <p:nvSpPr>
          <p:cNvPr id="26" name="messaggio"/>
          <p:cNvSpPr/>
          <p:nvPr/>
        </p:nvSpPr>
        <p:spPr>
          <a:xfrm>
            <a:off x="457200" y="3474720"/>
            <a:ext cx="8229600" cy="914400"/>
          </a:xfrm>
          <a:prstGeom prst="roundRect">
            <a:avLst>
              <a:gd name="adj" fmla="val 8000"/>
            </a:avLst>
          </a:prstGeom>
          <a:solidFill>
            <a:schemeClr val="tx1"/>
          </a:solidFill>
          <a:ln/>
        </p:spPr>
      </p:sp>
      <p:sp>
        <p:nvSpPr>
          <p:cNvPr id="27" name="Text 22"/>
          <p:cNvSpPr txBox="1"/>
          <p:nvPr/>
        </p:nvSpPr>
        <p:spPr>
          <a:xfrm>
            <a:off x="640080" y="3474720"/>
            <a:ext cx="7863840" cy="914400"/>
          </a:xfrm>
          <a:prstGeom prst="rect">
            <a:avLst/>
          </a:prstGeom>
          <a:noFill/>
          <a:ln/>
        </p:spPr>
        <p:txBody>
          <a:bodyPr wrap="square" lIns="0" tIns="0" rIns="0" bIns="0" rtlCol="0" anchor="ctr"/>
          <a:lstStyle/>
          <a:p>
            <a:pPr indent="0" marL="0">
              <a:buNone/>
            </a:pPr>
            <a:r>
              <a:rPr lang="en-US" sz="1300" dirty="0">
                <a:solidFill>
                  <a:schemeClr val="bg1"/>
                </a:solidFill>
              </a:rPr>
              <a:t>Solo conformità lascia scoperti rischi; senza conoscere gli obblighi si rischia di violarli. E dire 'è la legge' o 'è una scelta' non è lo stesso.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prezzo dell'assenza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Frammentati"/>
          <p:cNvSpPr/>
          <p:nvPr/>
        </p:nvSpPr>
        <p:spPr>
          <a:xfrm>
            <a:off x="457200" y="1051560"/>
            <a:ext cx="2621280" cy="1280160"/>
          </a:xfrm>
          <a:prstGeom prst="roundRect">
            <a:avLst>
              <a:gd name="adj" fmla="val 5714"/>
            </a:avLst>
          </a:prstGeom>
          <a:solidFill>
            <a:schemeClr val="bg2"/>
          </a:solidFill>
          <a:ln/>
        </p:spPr>
      </p:sp>
      <p:sp>
        <p:nvSpPr>
          <p:cNvPr id="17" name="cerchio FiGrid"/>
          <p:cNvSpPr/>
          <p:nvPr/>
        </p:nvSpPr>
        <p:spPr>
          <a:xfrm>
            <a:off x="621792" y="1216152"/>
            <a:ext cx="438912" cy="438912"/>
          </a:xfrm>
          <a:prstGeom prst="ellipse">
            <a:avLst/>
          </a:prstGeom>
          <a:solidFill>
            <a:schemeClr val="accent1"/>
          </a:solidFill>
          <a:ln/>
        </p:spPr>
      </p:sp>
      <p:pic>
        <p:nvPicPr>
          <p:cNvPr id="18" name="Image 0" descr="FiGrid">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Frammentati</a:t>
            </a:r>
            <a:endParaRPr lang="en-US" sz="1300" dirty="0"/>
          </a:p>
        </p:txBody>
      </p:sp>
      <p:sp>
        <p:nvSpPr>
          <p:cNvPr id="20" name="Text 16"/>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Reparti diversi, strumenti e regole diversi</a:t>
            </a:r>
            <a:endParaRPr lang="en-US" sz="1200" dirty="0"/>
          </a:p>
        </p:txBody>
      </p:sp>
      <p:sp>
        <p:nvSpPr>
          <p:cNvPr id="21" name="Non conosciuti"/>
          <p:cNvSpPr/>
          <p:nvPr/>
        </p:nvSpPr>
        <p:spPr>
          <a:xfrm>
            <a:off x="3261360" y="1051560"/>
            <a:ext cx="2621280" cy="1280160"/>
          </a:xfrm>
          <a:prstGeom prst="roundRect">
            <a:avLst>
              <a:gd name="adj" fmla="val 5714"/>
            </a:avLst>
          </a:prstGeom>
          <a:solidFill>
            <a:schemeClr val="bg2"/>
          </a:solidFill>
          <a:ln/>
        </p:spPr>
      </p:sp>
      <p:sp>
        <p:nvSpPr>
          <p:cNvPr id="22" name="cerchio FiEyeOff"/>
          <p:cNvSpPr/>
          <p:nvPr/>
        </p:nvSpPr>
        <p:spPr>
          <a:xfrm>
            <a:off x="3425952" y="1216152"/>
            <a:ext cx="438912" cy="438912"/>
          </a:xfrm>
          <a:prstGeom prst="ellipse">
            <a:avLst/>
          </a:prstGeom>
          <a:solidFill>
            <a:schemeClr val="accent1"/>
          </a:solidFill>
          <a:ln/>
        </p:spPr>
      </p:sp>
      <p:pic>
        <p:nvPicPr>
          <p:cNvPr id="23" name="Image 1" descr="FiEyeOff">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Non conosciuti</a:t>
            </a:r>
            <a:endParaRPr lang="en-US" sz="1300" dirty="0"/>
          </a:p>
        </p:txBody>
      </p:sp>
      <p:sp>
        <p:nvSpPr>
          <p:cNvPr id="25" name="Text 20"/>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Chi usa che cosa, con quali informazioni? (Shadow AI)</a:t>
            </a:r>
            <a:endParaRPr lang="en-US" sz="1200" dirty="0"/>
          </a:p>
        </p:txBody>
      </p:sp>
      <p:sp>
        <p:nvSpPr>
          <p:cNvPr id="26" name="Non coordinati"/>
          <p:cNvSpPr/>
          <p:nvPr/>
        </p:nvSpPr>
        <p:spPr>
          <a:xfrm>
            <a:off x="6065520" y="1051560"/>
            <a:ext cx="2621280" cy="1280160"/>
          </a:xfrm>
          <a:prstGeom prst="roundRect">
            <a:avLst>
              <a:gd name="adj" fmla="val 5714"/>
            </a:avLst>
          </a:prstGeom>
          <a:solidFill>
            <a:schemeClr val="bg2"/>
          </a:solidFill>
          <a:ln/>
        </p:spPr>
      </p:sp>
      <p:sp>
        <p:nvSpPr>
          <p:cNvPr id="27" name="cerchio FiShuffle"/>
          <p:cNvSpPr/>
          <p:nvPr/>
        </p:nvSpPr>
        <p:spPr>
          <a:xfrm>
            <a:off x="6230112" y="1216152"/>
            <a:ext cx="438912" cy="438912"/>
          </a:xfrm>
          <a:prstGeom prst="ellipse">
            <a:avLst/>
          </a:prstGeom>
          <a:solidFill>
            <a:schemeClr val="accent1"/>
          </a:solidFill>
          <a:ln/>
        </p:spPr>
      </p:sp>
      <p:pic>
        <p:nvPicPr>
          <p:cNvPr id="28" name="Image 2" descr="FiShuffle">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Non coordinati</a:t>
            </a:r>
            <a:endParaRPr lang="en-US" sz="1300" dirty="0"/>
          </a:p>
        </p:txBody>
      </p:sp>
      <p:sp>
        <p:nvSpPr>
          <p:cNvPr id="30" name="Text 24"/>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Nessuna visione d'insieme, nessuno decide o verifica</a:t>
            </a:r>
            <a:endParaRPr lang="en-US" sz="1200" dirty="0"/>
          </a:p>
        </p:txBody>
      </p:sp>
      <p:sp>
        <p:nvSpPr>
          <p:cNvPr id="31" name="Rischi non controllati"/>
          <p:cNvSpPr/>
          <p:nvPr/>
        </p:nvSpPr>
        <p:spPr>
          <a:xfrm>
            <a:off x="457200" y="2514600"/>
            <a:ext cx="2621280" cy="1280160"/>
          </a:xfrm>
          <a:prstGeom prst="roundRect">
            <a:avLst>
              <a:gd name="adj" fmla="val 5714"/>
            </a:avLst>
          </a:prstGeom>
          <a:solidFill>
            <a:schemeClr val="bg2"/>
          </a:solidFill>
          <a:ln/>
        </p:spPr>
      </p:sp>
      <p:sp>
        <p:nvSpPr>
          <p:cNvPr id="32" name="cerchio FiAlertTriangle"/>
          <p:cNvSpPr/>
          <p:nvPr/>
        </p:nvSpPr>
        <p:spPr>
          <a:xfrm>
            <a:off x="621792" y="2679192"/>
            <a:ext cx="438912" cy="438912"/>
          </a:xfrm>
          <a:prstGeom prst="ellipse">
            <a:avLst/>
          </a:prstGeom>
          <a:solidFill>
            <a:schemeClr val="accent1"/>
          </a:solidFill>
          <a:ln/>
        </p:spPr>
      </p:sp>
      <p:pic>
        <p:nvPicPr>
          <p:cNvPr id="33" name="Image 3" descr="FiAlertTriangle">    </p:cNvPr>
          <p:cNvPicPr>
            <a:picLocks noChangeAspect="1"/>
          </p:cNvPicPr>
          <p:nvPr/>
        </p:nvPicPr>
        <p:blipFill>
          <a:blip r:embed="rId4"/>
          <a:stretch>
            <a:fillRect/>
          </a:stretch>
        </p:blipFill>
        <p:spPr>
          <a:xfrm>
            <a:off x="731520" y="2788920"/>
            <a:ext cx="219456" cy="219456"/>
          </a:xfrm>
          <a:prstGeom prst="rect">
            <a:avLst/>
          </a:prstGeom>
        </p:spPr>
      </p:pic>
      <p:sp>
        <p:nvSpPr>
          <p:cNvPr id="34" name="Text 27"/>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Rischi non controllati</a:t>
            </a:r>
            <a:endParaRPr lang="en-US" sz="1300" dirty="0"/>
          </a:p>
        </p:txBody>
      </p:sp>
      <p:sp>
        <p:nvSpPr>
          <p:cNvPr id="35" name="Text 28"/>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Riservatezza, decisioni, contenuti</a:t>
            </a:r>
            <a:endParaRPr lang="en-US" sz="1200" dirty="0"/>
          </a:p>
        </p:txBody>
      </p:sp>
      <p:sp>
        <p:nvSpPr>
          <p:cNvPr id="36" name="Obblighi non rispettati"/>
          <p:cNvSpPr/>
          <p:nvPr/>
        </p:nvSpPr>
        <p:spPr>
          <a:xfrm>
            <a:off x="3261360" y="2514600"/>
            <a:ext cx="2621280" cy="1280160"/>
          </a:xfrm>
          <a:prstGeom prst="roundRect">
            <a:avLst>
              <a:gd name="adj" fmla="val 5714"/>
            </a:avLst>
          </a:prstGeom>
          <a:solidFill>
            <a:schemeClr val="bg2"/>
          </a:solidFill>
          <a:ln/>
        </p:spPr>
      </p:sp>
      <p:sp>
        <p:nvSpPr>
          <p:cNvPr id="37" name="cerchio FiBookOpen"/>
          <p:cNvSpPr/>
          <p:nvPr/>
        </p:nvSpPr>
        <p:spPr>
          <a:xfrm>
            <a:off x="3425952" y="2679192"/>
            <a:ext cx="438912" cy="438912"/>
          </a:xfrm>
          <a:prstGeom prst="ellipse">
            <a:avLst/>
          </a:prstGeom>
          <a:solidFill>
            <a:schemeClr val="accent1"/>
          </a:solidFill>
          <a:ln/>
        </p:spPr>
      </p:sp>
      <p:pic>
        <p:nvPicPr>
          <p:cNvPr id="38" name="Image 4" descr="FiBookOpen">    </p:cNvPr>
          <p:cNvPicPr>
            <a:picLocks noChangeAspect="1"/>
          </p:cNvPicPr>
          <p:nvPr/>
        </p:nvPicPr>
        <p:blipFill>
          <a:blip r:embed="rId5"/>
          <a:stretch>
            <a:fillRect/>
          </a:stretch>
        </p:blipFill>
        <p:spPr>
          <a:xfrm>
            <a:off x="3535680" y="2788920"/>
            <a:ext cx="219456" cy="219456"/>
          </a:xfrm>
          <a:prstGeom prst="rect">
            <a:avLst/>
          </a:prstGeom>
        </p:spPr>
      </p:pic>
      <p:sp>
        <p:nvSpPr>
          <p:cNvPr id="39" name="Text 31"/>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Obblighi non rispettati</a:t>
            </a:r>
            <a:endParaRPr lang="en-US" sz="1300" dirty="0"/>
          </a:p>
        </p:txBody>
      </p:sp>
      <p:sp>
        <p:nvSpPr>
          <p:cNvPr id="40" name="Text 32"/>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Nessuno ha verificato le categorie regolate</a:t>
            </a:r>
            <a:endParaRPr lang="en-US" sz="1200" dirty="0"/>
          </a:p>
        </p:txBody>
      </p:sp>
      <p:sp>
        <p:nvSpPr>
          <p:cNvPr id="41" name="Incertezza"/>
          <p:cNvSpPr/>
          <p:nvPr/>
        </p:nvSpPr>
        <p:spPr>
          <a:xfrm>
            <a:off x="6065520" y="2514600"/>
            <a:ext cx="2621280" cy="1280160"/>
          </a:xfrm>
          <a:prstGeom prst="roundRect">
            <a:avLst>
              <a:gd name="adj" fmla="val 5714"/>
            </a:avLst>
          </a:prstGeom>
          <a:solidFill>
            <a:schemeClr val="bg2"/>
          </a:solidFill>
          <a:ln/>
        </p:spPr>
      </p:sp>
      <p:sp>
        <p:nvSpPr>
          <p:cNvPr id="42" name="cerchio FiHelpCircle"/>
          <p:cNvSpPr/>
          <p:nvPr/>
        </p:nvSpPr>
        <p:spPr>
          <a:xfrm>
            <a:off x="6230112" y="2679192"/>
            <a:ext cx="438912" cy="438912"/>
          </a:xfrm>
          <a:prstGeom prst="ellipse">
            <a:avLst/>
          </a:prstGeom>
          <a:solidFill>
            <a:schemeClr val="accent1"/>
          </a:solidFill>
          <a:ln/>
        </p:spPr>
      </p:sp>
      <p:pic>
        <p:nvPicPr>
          <p:cNvPr id="43" name="Image 5" descr="FiHelpCircle">    </p:cNvPr>
          <p:cNvPicPr>
            <a:picLocks noChangeAspect="1"/>
          </p:cNvPicPr>
          <p:nvPr/>
        </p:nvPicPr>
        <p:blipFill>
          <a:blip r:embed="rId6"/>
          <a:stretch>
            <a:fillRect/>
          </a:stretch>
        </p:blipFill>
        <p:spPr>
          <a:xfrm>
            <a:off x="6339840" y="2788920"/>
            <a:ext cx="219456" cy="219456"/>
          </a:xfrm>
          <a:prstGeom prst="rect">
            <a:avLst/>
          </a:prstGeom>
        </p:spPr>
      </p:pic>
      <p:sp>
        <p:nvSpPr>
          <p:cNvPr id="44" name="Text 35"/>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Incertezza</a:t>
            </a:r>
            <a:endParaRPr lang="en-US" sz="1300" dirty="0"/>
          </a:p>
        </p:txBody>
      </p:sp>
      <p:sp>
        <p:nvSpPr>
          <p:cNvPr id="45" name="Text 36"/>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Le persone si astengono, o fanno da sole</a:t>
            </a:r>
            <a:endParaRPr lang="en-US" sz="1200" dirty="0"/>
          </a:p>
        </p:txBody>
      </p:sp>
      <p:sp>
        <p:nvSpPr>
          <p:cNvPr id="46" name="messaggio"/>
          <p:cNvSpPr/>
          <p:nvPr/>
        </p:nvSpPr>
        <p:spPr>
          <a:xfrm>
            <a:off x="457200" y="3977640"/>
            <a:ext cx="8229600" cy="548640"/>
          </a:xfrm>
          <a:prstGeom prst="roundRect">
            <a:avLst>
              <a:gd name="adj" fmla="val 13333"/>
            </a:avLst>
          </a:prstGeom>
          <a:solidFill>
            <a:schemeClr val="tx1"/>
          </a:solidFill>
          <a:ln/>
        </p:spPr>
      </p:sp>
      <p:sp>
        <p:nvSpPr>
          <p:cNvPr id="47"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Non eliminare l'iniziativa, ma darle un quadro: conoscere, valutare, guidare.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Lungo tutto il ciclo di vita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elezione"/>
          <p:cNvSpPr/>
          <p:nvPr/>
        </p:nvSpPr>
        <p:spPr>
          <a:xfrm>
            <a:off x="457200" y="1051560"/>
            <a:ext cx="1481328" cy="1417320"/>
          </a:xfrm>
          <a:prstGeom prst="roundRect">
            <a:avLst>
              <a:gd name="adj" fmla="val 5161"/>
            </a:avLst>
          </a:prstGeom>
          <a:solidFill>
            <a:schemeClr val="bg2"/>
          </a:solidFill>
          <a:ln/>
        </p:spPr>
      </p:sp>
      <p:sp>
        <p:nvSpPr>
          <p:cNvPr id="17" name="Text 14"/>
          <p:cNvSpPr txBox="1"/>
          <p:nvPr/>
        </p:nvSpPr>
        <p:spPr>
          <a:xfrm>
            <a:off x="548640"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8" name="Text 15"/>
          <p:cNvSpPr txBox="1"/>
          <p:nvPr/>
        </p:nvSpPr>
        <p:spPr>
          <a:xfrm>
            <a:off x="548640" y="1463040"/>
            <a:ext cx="1325880" cy="347472"/>
          </a:xfrm>
          <a:prstGeom prst="rect">
            <a:avLst/>
          </a:prstGeom>
          <a:noFill/>
          <a:ln/>
        </p:spPr>
        <p:txBody>
          <a:bodyPr wrap="square" lIns="0" tIns="0" rIns="0" bIns="0" rtlCol="0" anchor="t"/>
          <a:lstStyle/>
          <a:p>
            <a:pPr indent="0" marL="0">
              <a:buNone/>
            </a:pPr>
            <a:r>
              <a:rPr lang="en-US" sz="1300" b="1" dirty="0">
                <a:solidFill>
                  <a:schemeClr val="tx1"/>
                </a:solidFill>
              </a:rPr>
              <a:t>Selezione</a:t>
            </a:r>
            <a:endParaRPr lang="en-US" sz="1300" dirty="0"/>
          </a:p>
        </p:txBody>
      </p:sp>
      <p:sp>
        <p:nvSpPr>
          <p:cNvPr id="19" name="Text 16"/>
          <p:cNvSpPr txBox="1"/>
          <p:nvPr/>
        </p:nvSpPr>
        <p:spPr>
          <a:xfrm>
            <a:off x="548640" y="1810512"/>
            <a:ext cx="1325880" cy="594360"/>
          </a:xfrm>
          <a:prstGeom prst="rect">
            <a:avLst/>
          </a:prstGeom>
          <a:noFill/>
          <a:ln/>
        </p:spPr>
        <p:txBody>
          <a:bodyPr wrap="square" lIns="0" tIns="0" rIns="0" bIns="0" rtlCol="0" anchor="t"/>
          <a:lstStyle/>
          <a:p>
            <a:pPr indent="0" marL="0">
              <a:buNone/>
            </a:pPr>
            <a:r>
              <a:rPr lang="en-US" sz="1100" dirty="0">
                <a:solidFill>
                  <a:schemeClr val="tx2"/>
                </a:solidFill>
              </a:rPr>
              <a:t>Strumento, scopo, condizioni</a:t>
            </a:r>
            <a:endParaRPr lang="en-US" sz="1100" dirty="0"/>
          </a:p>
        </p:txBody>
      </p:sp>
      <p:sp>
        <p:nvSpPr>
          <p:cNvPr id="20" name="freccia"/>
          <p:cNvSpPr/>
          <p:nvPr/>
        </p:nvSpPr>
        <p:spPr>
          <a:xfrm>
            <a:off x="1947672" y="1600200"/>
            <a:ext cx="173736" cy="292608"/>
          </a:xfrm>
          <a:prstGeom prst="rightArrow">
            <a:avLst/>
          </a:prstGeom>
          <a:solidFill>
            <a:schemeClr val="accent2"/>
          </a:solidFill>
          <a:ln/>
        </p:spPr>
      </p:sp>
      <p:sp>
        <p:nvSpPr>
          <p:cNvPr id="21" name="Introduzione"/>
          <p:cNvSpPr/>
          <p:nvPr/>
        </p:nvSpPr>
        <p:spPr>
          <a:xfrm>
            <a:off x="2139696" y="1051560"/>
            <a:ext cx="1481328" cy="1417320"/>
          </a:xfrm>
          <a:prstGeom prst="roundRect">
            <a:avLst>
              <a:gd name="adj" fmla="val 5161"/>
            </a:avLst>
          </a:prstGeom>
          <a:solidFill>
            <a:schemeClr val="bg2"/>
          </a:solidFill>
          <a:ln/>
        </p:spPr>
      </p:sp>
      <p:sp>
        <p:nvSpPr>
          <p:cNvPr id="22" name="Text 19"/>
          <p:cNvSpPr txBox="1"/>
          <p:nvPr/>
        </p:nvSpPr>
        <p:spPr>
          <a:xfrm>
            <a:off x="2231136"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23" name="Text 20"/>
          <p:cNvSpPr txBox="1"/>
          <p:nvPr/>
        </p:nvSpPr>
        <p:spPr>
          <a:xfrm>
            <a:off x="2231136" y="1463040"/>
            <a:ext cx="1325880" cy="347472"/>
          </a:xfrm>
          <a:prstGeom prst="rect">
            <a:avLst/>
          </a:prstGeom>
          <a:noFill/>
          <a:ln/>
        </p:spPr>
        <p:txBody>
          <a:bodyPr wrap="square" lIns="0" tIns="0" rIns="0" bIns="0" rtlCol="0" anchor="t"/>
          <a:lstStyle/>
          <a:p>
            <a:pPr indent="0" marL="0">
              <a:buNone/>
            </a:pPr>
            <a:r>
              <a:rPr lang="en-US" sz="1300" b="1" dirty="0">
                <a:solidFill>
                  <a:schemeClr val="tx1"/>
                </a:solidFill>
              </a:rPr>
              <a:t>Introduzione</a:t>
            </a:r>
            <a:endParaRPr lang="en-US" sz="1300" dirty="0"/>
          </a:p>
        </p:txBody>
      </p:sp>
      <p:sp>
        <p:nvSpPr>
          <p:cNvPr id="24" name="Text 21"/>
          <p:cNvSpPr txBox="1"/>
          <p:nvPr/>
        </p:nvSpPr>
        <p:spPr>
          <a:xfrm>
            <a:off x="2231136" y="1810512"/>
            <a:ext cx="1325880" cy="594360"/>
          </a:xfrm>
          <a:prstGeom prst="rect">
            <a:avLst/>
          </a:prstGeom>
          <a:noFill/>
          <a:ln/>
        </p:spPr>
        <p:txBody>
          <a:bodyPr wrap="square" lIns="0" tIns="0" rIns="0" bIns="0" rtlCol="0" anchor="t"/>
          <a:lstStyle/>
          <a:p>
            <a:pPr indent="0" marL="0">
              <a:buNone/>
            </a:pPr>
            <a:r>
              <a:rPr lang="en-US" sz="1100" dirty="0">
                <a:solidFill>
                  <a:schemeClr val="tx2"/>
                </a:solidFill>
              </a:rPr>
              <a:t>Configurazione, permessi, formazione</a:t>
            </a:r>
            <a:endParaRPr lang="en-US" sz="1100" dirty="0"/>
          </a:p>
        </p:txBody>
      </p:sp>
      <p:sp>
        <p:nvSpPr>
          <p:cNvPr id="25" name="freccia"/>
          <p:cNvSpPr/>
          <p:nvPr/>
        </p:nvSpPr>
        <p:spPr>
          <a:xfrm>
            <a:off x="3630168" y="1600200"/>
            <a:ext cx="173736" cy="292608"/>
          </a:xfrm>
          <a:prstGeom prst="rightArrow">
            <a:avLst/>
          </a:prstGeom>
          <a:solidFill>
            <a:schemeClr val="accent2"/>
          </a:solidFill>
          <a:ln/>
        </p:spPr>
      </p:sp>
      <p:sp>
        <p:nvSpPr>
          <p:cNvPr id="26" name="Uso"/>
          <p:cNvSpPr/>
          <p:nvPr/>
        </p:nvSpPr>
        <p:spPr>
          <a:xfrm>
            <a:off x="3822192" y="1051560"/>
            <a:ext cx="1481328" cy="1417320"/>
          </a:xfrm>
          <a:prstGeom prst="roundRect">
            <a:avLst>
              <a:gd name="adj" fmla="val 5161"/>
            </a:avLst>
          </a:prstGeom>
          <a:solidFill>
            <a:schemeClr val="bg2"/>
          </a:solidFill>
          <a:ln/>
        </p:spPr>
      </p:sp>
      <p:sp>
        <p:nvSpPr>
          <p:cNvPr id="27" name="Text 24"/>
          <p:cNvSpPr txBox="1"/>
          <p:nvPr/>
        </p:nvSpPr>
        <p:spPr>
          <a:xfrm>
            <a:off x="3913632"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28" name="Text 25"/>
          <p:cNvSpPr txBox="1"/>
          <p:nvPr/>
        </p:nvSpPr>
        <p:spPr>
          <a:xfrm>
            <a:off x="3913632" y="1463040"/>
            <a:ext cx="1325880" cy="347472"/>
          </a:xfrm>
          <a:prstGeom prst="rect">
            <a:avLst/>
          </a:prstGeom>
          <a:noFill/>
          <a:ln/>
        </p:spPr>
        <p:txBody>
          <a:bodyPr wrap="square" lIns="0" tIns="0" rIns="0" bIns="0" rtlCol="0" anchor="t"/>
          <a:lstStyle/>
          <a:p>
            <a:pPr indent="0" marL="0">
              <a:buNone/>
            </a:pPr>
            <a:r>
              <a:rPr lang="en-US" sz="1300" b="1" dirty="0">
                <a:solidFill>
                  <a:schemeClr val="tx1"/>
                </a:solidFill>
              </a:rPr>
              <a:t>Uso</a:t>
            </a:r>
            <a:endParaRPr lang="en-US" sz="1300" dirty="0"/>
          </a:p>
        </p:txBody>
      </p:sp>
      <p:sp>
        <p:nvSpPr>
          <p:cNvPr id="29" name="Text 26"/>
          <p:cNvSpPr txBox="1"/>
          <p:nvPr/>
        </p:nvSpPr>
        <p:spPr>
          <a:xfrm>
            <a:off x="3913632" y="1810512"/>
            <a:ext cx="1325880" cy="594360"/>
          </a:xfrm>
          <a:prstGeom prst="rect">
            <a:avLst/>
          </a:prstGeom>
          <a:noFill/>
          <a:ln/>
        </p:spPr>
        <p:txBody>
          <a:bodyPr wrap="square" lIns="0" tIns="0" rIns="0" bIns="0" rtlCol="0" anchor="t"/>
          <a:lstStyle/>
          <a:p>
            <a:pPr indent="0" marL="0">
              <a:buNone/>
            </a:pPr>
            <a:r>
              <a:rPr lang="en-US" sz="1100" dirty="0">
                <a:solidFill>
                  <a:schemeClr val="tx2"/>
                </a:solidFill>
              </a:rPr>
              <a:t>Supporto, controlli, monitoraggio</a:t>
            </a:r>
            <a:endParaRPr lang="en-US" sz="1100" dirty="0"/>
          </a:p>
        </p:txBody>
      </p:sp>
      <p:sp>
        <p:nvSpPr>
          <p:cNvPr id="30" name="freccia"/>
          <p:cNvSpPr/>
          <p:nvPr/>
        </p:nvSpPr>
        <p:spPr>
          <a:xfrm>
            <a:off x="5312664" y="1600200"/>
            <a:ext cx="173736" cy="292608"/>
          </a:xfrm>
          <a:prstGeom prst="rightArrow">
            <a:avLst/>
          </a:prstGeom>
          <a:solidFill>
            <a:schemeClr val="accent2"/>
          </a:solidFill>
          <a:ln/>
        </p:spPr>
      </p:sp>
      <p:sp>
        <p:nvSpPr>
          <p:cNvPr id="31" name="Aggiornamento"/>
          <p:cNvSpPr/>
          <p:nvPr/>
        </p:nvSpPr>
        <p:spPr>
          <a:xfrm>
            <a:off x="5504688" y="1051560"/>
            <a:ext cx="1481328" cy="1417320"/>
          </a:xfrm>
          <a:prstGeom prst="roundRect">
            <a:avLst>
              <a:gd name="adj" fmla="val 5161"/>
            </a:avLst>
          </a:prstGeom>
          <a:solidFill>
            <a:schemeClr val="accent6"/>
          </a:solidFill>
          <a:ln/>
        </p:spPr>
      </p:sp>
      <p:sp>
        <p:nvSpPr>
          <p:cNvPr id="32" name="Text 29"/>
          <p:cNvSpPr txBox="1"/>
          <p:nvPr/>
        </p:nvSpPr>
        <p:spPr>
          <a:xfrm>
            <a:off x="5596128"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33" name="Text 30"/>
          <p:cNvSpPr txBox="1"/>
          <p:nvPr/>
        </p:nvSpPr>
        <p:spPr>
          <a:xfrm>
            <a:off x="5596128" y="1463040"/>
            <a:ext cx="1325880" cy="347472"/>
          </a:xfrm>
          <a:prstGeom prst="rect">
            <a:avLst/>
          </a:prstGeom>
          <a:noFill/>
          <a:ln/>
        </p:spPr>
        <p:txBody>
          <a:bodyPr wrap="square" lIns="0" tIns="0" rIns="0" bIns="0" rtlCol="0" anchor="t"/>
          <a:lstStyle/>
          <a:p>
            <a:pPr indent="0" marL="0">
              <a:buNone/>
            </a:pPr>
            <a:r>
              <a:rPr lang="en-US" sz="1300" b="1" dirty="0">
                <a:solidFill>
                  <a:schemeClr val="tx1"/>
                </a:solidFill>
              </a:rPr>
              <a:t>Aggiornamento</a:t>
            </a:r>
            <a:endParaRPr lang="en-US" sz="1300" dirty="0"/>
          </a:p>
        </p:txBody>
      </p:sp>
      <p:sp>
        <p:nvSpPr>
          <p:cNvPr id="34" name="Text 31"/>
          <p:cNvSpPr txBox="1"/>
          <p:nvPr/>
        </p:nvSpPr>
        <p:spPr>
          <a:xfrm>
            <a:off x="5596128" y="1810512"/>
            <a:ext cx="1325880" cy="594360"/>
          </a:xfrm>
          <a:prstGeom prst="rect">
            <a:avLst/>
          </a:prstGeom>
          <a:noFill/>
          <a:ln/>
        </p:spPr>
        <p:txBody>
          <a:bodyPr wrap="square" lIns="0" tIns="0" rIns="0" bIns="0" rtlCol="0" anchor="t"/>
          <a:lstStyle/>
          <a:p>
            <a:pPr indent="0" marL="0">
              <a:buNone/>
            </a:pPr>
            <a:r>
              <a:rPr lang="en-US" sz="1100" dirty="0">
                <a:solidFill>
                  <a:schemeClr val="tx2"/>
                </a:solidFill>
              </a:rPr>
              <a:t>Nuovi modelli, usi, norme: rivalutare</a:t>
            </a:r>
            <a:endParaRPr lang="en-US" sz="1100" dirty="0"/>
          </a:p>
        </p:txBody>
      </p:sp>
      <p:sp>
        <p:nvSpPr>
          <p:cNvPr id="35" name="freccia"/>
          <p:cNvSpPr/>
          <p:nvPr/>
        </p:nvSpPr>
        <p:spPr>
          <a:xfrm>
            <a:off x="6995160" y="1600200"/>
            <a:ext cx="173736" cy="292608"/>
          </a:xfrm>
          <a:prstGeom prst="rightArrow">
            <a:avLst/>
          </a:prstGeom>
          <a:solidFill>
            <a:schemeClr val="accent2"/>
          </a:solidFill>
          <a:ln/>
        </p:spPr>
      </p:sp>
      <p:sp>
        <p:nvSpPr>
          <p:cNvPr id="36" name="Dismissione"/>
          <p:cNvSpPr/>
          <p:nvPr/>
        </p:nvSpPr>
        <p:spPr>
          <a:xfrm>
            <a:off x="7187184" y="1051560"/>
            <a:ext cx="1481328" cy="1417320"/>
          </a:xfrm>
          <a:prstGeom prst="roundRect">
            <a:avLst>
              <a:gd name="adj" fmla="val 5161"/>
            </a:avLst>
          </a:prstGeom>
          <a:solidFill>
            <a:schemeClr val="bg2"/>
          </a:solidFill>
          <a:ln/>
        </p:spPr>
      </p:sp>
      <p:sp>
        <p:nvSpPr>
          <p:cNvPr id="37" name="Text 34"/>
          <p:cNvSpPr txBox="1"/>
          <p:nvPr/>
        </p:nvSpPr>
        <p:spPr>
          <a:xfrm>
            <a:off x="7278624"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5</a:t>
            </a:r>
            <a:endParaRPr lang="en-US" sz="1800" dirty="0"/>
          </a:p>
        </p:txBody>
      </p:sp>
      <p:sp>
        <p:nvSpPr>
          <p:cNvPr id="38" name="Text 35"/>
          <p:cNvSpPr txBox="1"/>
          <p:nvPr/>
        </p:nvSpPr>
        <p:spPr>
          <a:xfrm>
            <a:off x="7278624" y="1463040"/>
            <a:ext cx="1325880" cy="347472"/>
          </a:xfrm>
          <a:prstGeom prst="rect">
            <a:avLst/>
          </a:prstGeom>
          <a:noFill/>
          <a:ln/>
        </p:spPr>
        <p:txBody>
          <a:bodyPr wrap="square" lIns="0" tIns="0" rIns="0" bIns="0" rtlCol="0" anchor="t"/>
          <a:lstStyle/>
          <a:p>
            <a:pPr indent="0" marL="0">
              <a:buNone/>
            </a:pPr>
            <a:r>
              <a:rPr lang="en-US" sz="1300" b="1" dirty="0">
                <a:solidFill>
                  <a:schemeClr val="tx1"/>
                </a:solidFill>
              </a:rPr>
              <a:t>Dismissione</a:t>
            </a:r>
            <a:endParaRPr lang="en-US" sz="1300" dirty="0"/>
          </a:p>
        </p:txBody>
      </p:sp>
      <p:sp>
        <p:nvSpPr>
          <p:cNvPr id="39" name="Text 36"/>
          <p:cNvSpPr txBox="1"/>
          <p:nvPr/>
        </p:nvSpPr>
        <p:spPr>
          <a:xfrm>
            <a:off x="7278624" y="1810512"/>
            <a:ext cx="1325880" cy="594360"/>
          </a:xfrm>
          <a:prstGeom prst="rect">
            <a:avLst/>
          </a:prstGeom>
          <a:noFill/>
          <a:ln/>
        </p:spPr>
        <p:txBody>
          <a:bodyPr wrap="square" lIns="0" tIns="0" rIns="0" bIns="0" rtlCol="0" anchor="t"/>
          <a:lstStyle/>
          <a:p>
            <a:pPr indent="0" marL="0">
              <a:buNone/>
            </a:pPr>
            <a:r>
              <a:rPr lang="en-US" sz="1100" dirty="0">
                <a:solidFill>
                  <a:schemeClr val="tx2"/>
                </a:solidFill>
              </a:rPr>
              <a:t>Dati, integrazioni, pratiche</a:t>
            </a:r>
            <a:endParaRPr lang="en-US" sz="1100" dirty="0"/>
          </a:p>
        </p:txBody>
      </p:sp>
      <p:sp>
        <p:nvSpPr>
          <p:cNvPr id="40" name="messaggio"/>
          <p:cNvSpPr/>
          <p:nvPr/>
        </p:nvSpPr>
        <p:spPr>
          <a:xfrm>
            <a:off x="457200" y="2651760"/>
            <a:ext cx="8229600" cy="777240"/>
          </a:xfrm>
          <a:prstGeom prst="roundRect">
            <a:avLst>
              <a:gd name="adj" fmla="val 9412"/>
            </a:avLst>
          </a:prstGeom>
          <a:solidFill>
            <a:schemeClr val="tx1"/>
          </a:solidFill>
          <a:ln/>
        </p:spPr>
      </p:sp>
      <p:sp>
        <p:nvSpPr>
          <p:cNvPr id="41" name="Text 38"/>
          <p:cNvSpPr txBox="1"/>
          <p:nvPr/>
        </p:nvSpPr>
        <p:spPr>
          <a:xfrm>
            <a:off x="640080" y="2651760"/>
            <a:ext cx="7863840" cy="777240"/>
          </a:xfrm>
          <a:prstGeom prst="rect">
            <a:avLst/>
          </a:prstGeom>
          <a:noFill/>
          <a:ln/>
        </p:spPr>
        <p:txBody>
          <a:bodyPr wrap="square" lIns="0" tIns="0" rIns="0" bIns="0" rtlCol="0" anchor="ctr"/>
          <a:lstStyle/>
          <a:p>
            <a:pPr indent="0" marL="0">
              <a:buNone/>
            </a:pPr>
            <a:r>
              <a:rPr lang="en-US" sz="1400" dirty="0">
                <a:solidFill>
                  <a:schemeClr val="bg1"/>
                </a:solidFill>
              </a:rPr>
              <a:t>Non si esaurisce nell'approvazione iniziale: regole e controlli si aggiornano quando cambiano strumenti, usi e rischi.</a:t>
            </a:r>
            <a:endParaRPr lang="en-US" sz="1400" dirty="0"/>
          </a:p>
        </p:txBody>
      </p:sp>
      <p:sp>
        <p:nvSpPr>
          <p:cNvPr id="42" name="Text 39"/>
          <p:cNvSpPr txBox="1"/>
          <p:nvPr/>
        </p:nvSpPr>
        <p:spPr>
          <a:xfrm>
            <a:off x="457200" y="3611880"/>
            <a:ext cx="8229600" cy="685800"/>
          </a:xfrm>
          <a:prstGeom prst="rect">
            <a:avLst/>
          </a:prstGeom>
          <a:noFill/>
          <a:ln/>
        </p:spPr>
        <p:txBody>
          <a:bodyPr wrap="square" lIns="0" tIns="0" rIns="0" bIns="0" rtlCol="0" anchor="t"/>
          <a:lstStyle/>
          <a:p>
            <a:pPr indent="0" marL="0">
              <a:buNone/>
            </a:pPr>
            <a:r>
              <a:rPr lang="en-US" sz="1200" i="1" dirty="0">
                <a:solidFill>
                  <a:schemeClr val="tx2"/>
                </a:solidFill>
              </a:rPr>
              <a:t>Con l'AI i cambiamenti sono frequenti: un aggiornamento del modello cambia il comportamento; una nuova funzione apre nuovi usi e rischi.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Abilitante e proporzionata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Puramente restrittiva"/>
          <p:cNvSpPr/>
          <p:nvPr/>
        </p:nvSpPr>
        <p:spPr>
          <a:xfrm>
            <a:off x="457200" y="1051560"/>
            <a:ext cx="3977640" cy="2103120"/>
          </a:xfrm>
          <a:prstGeom prst="roundRect">
            <a:avLst>
              <a:gd name="adj" fmla="val 3478"/>
            </a:avLst>
          </a:prstGeom>
          <a:solidFill>
            <a:schemeClr val="bg2"/>
          </a:solidFill>
          <a:ln/>
        </p:spPr>
      </p:sp>
      <p:sp>
        <p:nvSpPr>
          <p:cNvPr id="17" name="cerchio FiSlash"/>
          <p:cNvSpPr/>
          <p:nvPr/>
        </p:nvSpPr>
        <p:spPr>
          <a:xfrm>
            <a:off x="640080" y="1234440"/>
            <a:ext cx="457200" cy="457200"/>
          </a:xfrm>
          <a:prstGeom prst="ellipse">
            <a:avLst/>
          </a:prstGeom>
          <a:solidFill>
            <a:schemeClr val="accent1"/>
          </a:solidFill>
          <a:ln/>
        </p:spPr>
      </p:sp>
      <p:sp>
        <p:nvSpPr>
          <p:cNvPr id="18" name="scheda Abilitante"/>
          <p:cNvSpPr/>
          <p:nvPr/>
        </p:nvSpPr>
        <p:spPr>
          <a:xfrm>
            <a:off x="4709160" y="1051560"/>
            <a:ext cx="3977640" cy="2103120"/>
          </a:xfrm>
          <a:prstGeom prst="roundRect">
            <a:avLst>
              <a:gd name="adj" fmla="val 3478"/>
            </a:avLst>
          </a:prstGeom>
          <a:solidFill>
            <a:schemeClr val="accent6"/>
          </a:solidFill>
          <a:ln/>
        </p:spPr>
      </p:sp>
      <p:sp>
        <p:nvSpPr>
          <p:cNvPr id="19" name="cerchio FiUnlock"/>
          <p:cNvSpPr/>
          <p:nvPr/>
        </p:nvSpPr>
        <p:spPr>
          <a:xfrm>
            <a:off x="4892040" y="1234440"/>
            <a:ext cx="457200" cy="457200"/>
          </a:xfrm>
          <a:prstGeom prst="ellipse">
            <a:avLst/>
          </a:prstGeom>
          <a:solidFill>
            <a:schemeClr val="accent1"/>
          </a:solidFill>
          <a:ln/>
        </p:spPr>
      </p:sp>
      <p:pic>
        <p:nvPicPr>
          <p:cNvPr id="20" name="Image 0" descr="FiSlash">    </p:cNvPr>
          <p:cNvPicPr>
            <a:picLocks noChangeAspect="1"/>
          </p:cNvPicPr>
          <p:nvPr/>
        </p:nvPicPr>
        <p:blipFill>
          <a:blip r:embed="rId1"/>
          <a:stretch>
            <a:fillRect/>
          </a:stretch>
        </p:blipFill>
        <p:spPr>
          <a:xfrm>
            <a:off x="754380" y="1348740"/>
            <a:ext cx="228600" cy="228600"/>
          </a:xfrm>
          <a:prstGeom prst="rect">
            <a:avLst/>
          </a:prstGeom>
        </p:spPr>
      </p:pic>
      <p:sp>
        <p:nvSpPr>
          <p:cNvPr id="21"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Puramente restrittiva</a:t>
            </a:r>
            <a:endParaRPr lang="en-US" sz="1500" dirty="0"/>
          </a:p>
        </p:txBody>
      </p:sp>
      <p:sp>
        <p:nvSpPr>
          <p:cNvPr id="22" name="Text 18"/>
          <p:cNvSpPr txBox="1"/>
          <p:nvPr/>
        </p:nvSpPr>
        <p:spPr>
          <a:xfrm>
            <a:off x="640080" y="2185416"/>
            <a:ext cx="3611880" cy="859536"/>
          </a:xfrm>
          <a:prstGeom prst="rect">
            <a:avLst/>
          </a:prstGeom>
          <a:noFill/>
          <a:ln/>
        </p:spPr>
        <p:txBody>
          <a:bodyPr wrap="square" lIns="0" tIns="0" rIns="0" bIns="0" rtlCol="0" anchor="t"/>
          <a:lstStyle/>
          <a:p>
            <a:pPr indent="0" marL="0">
              <a:buNone/>
            </a:pPr>
            <a:r>
              <a:rPr lang="en-US" sz="1300" dirty="0">
                <a:solidFill>
                  <a:schemeClr val="tx2"/>
                </a:solidFill>
              </a:rPr>
              <a:t>Soprattutto divieti: non usare, non caricare, non condividere.</a:t>
            </a:r>
            <a:endParaRPr lang="en-US" sz="1300" dirty="0"/>
          </a:p>
          <a:p>
            <a:pPr indent="0" marL="0">
              <a:buNone/>
            </a:pPr>
            <a:endParaRPr lang="en-US" sz="1300" dirty="0"/>
          </a:p>
          <a:p>
            <a:pPr indent="0" marL="0">
              <a:buNone/>
            </a:pPr>
            <a:r>
              <a:rPr lang="en-US" sz="1300" dirty="0">
                <a:solidFill>
                  <a:schemeClr val="tx2"/>
                </a:solidFill>
              </a:rPr>
              <a:t>Effetti: astensione dove servirebbe, Shadow AI.</a:t>
            </a:r>
            <a:endParaRPr lang="en-US" sz="1300" dirty="0"/>
          </a:p>
        </p:txBody>
      </p:sp>
      <p:pic>
        <p:nvPicPr>
          <p:cNvPr id="23" name="Image 1" descr="FiUnlock">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Abilitante</a:t>
            </a:r>
            <a:endParaRPr lang="en-US" sz="1500" dirty="0"/>
          </a:p>
        </p:txBody>
      </p:sp>
      <p:sp>
        <p:nvSpPr>
          <p:cNvPr id="25" name="Text 20"/>
          <p:cNvSpPr txBox="1"/>
          <p:nvPr/>
        </p:nvSpPr>
        <p:spPr>
          <a:xfrm>
            <a:off x="4892040" y="2185416"/>
            <a:ext cx="3611880" cy="859536"/>
          </a:xfrm>
          <a:prstGeom prst="rect">
            <a:avLst/>
          </a:prstGeom>
          <a:noFill/>
          <a:ln/>
        </p:spPr>
        <p:txBody>
          <a:bodyPr wrap="square" lIns="0" tIns="0" rIns="0" bIns="0" rtlCol="0" anchor="t"/>
          <a:lstStyle/>
          <a:p>
            <a:pPr indent="0" marL="0">
              <a:buNone/>
            </a:pPr>
            <a:r>
              <a:rPr lang="en-US" sz="1300" dirty="0">
                <a:solidFill>
                  <a:schemeClr val="tx2"/>
                </a:solidFill>
              </a:rPr>
              <a:t>Dice anche che cosa si può fare, con quali strumenti, a quali condizioni, con quale supporto.</a:t>
            </a:r>
            <a:endParaRPr lang="en-US" sz="1300" dirty="0"/>
          </a:p>
          <a:p>
            <a:pPr indent="0" marL="0">
              <a:buNone/>
            </a:pPr>
            <a:endParaRPr lang="en-US" sz="1300" dirty="0"/>
          </a:p>
          <a:p>
            <a:pPr indent="0" marL="0">
              <a:buNone/>
            </a:pPr>
            <a:r>
              <a:rPr lang="en-US" sz="1300" dirty="0">
                <a:solidFill>
                  <a:schemeClr val="tx2"/>
                </a:solidFill>
              </a:rPr>
              <a:t>Rende possibile un'adozione sicura.</a:t>
            </a:r>
            <a:endParaRPr lang="en-US" sz="1300" dirty="0"/>
          </a:p>
        </p:txBody>
      </p:sp>
      <p:sp>
        <p:nvSpPr>
          <p:cNvPr id="26" name="proporzionalità"/>
          <p:cNvSpPr/>
          <p:nvPr/>
        </p:nvSpPr>
        <p:spPr>
          <a:xfrm>
            <a:off x="457200" y="3291840"/>
            <a:ext cx="8229600" cy="1097280"/>
          </a:xfrm>
          <a:prstGeom prst="roundRect">
            <a:avLst>
              <a:gd name="adj" fmla="val 6667"/>
            </a:avLst>
          </a:prstGeom>
          <a:solidFill>
            <a:schemeClr val="accent1"/>
          </a:solidFill>
          <a:ln/>
        </p:spPr>
      </p:sp>
      <p:sp>
        <p:nvSpPr>
          <p:cNvPr id="27" name="Text 22"/>
          <p:cNvSpPr txBox="1"/>
          <p:nvPr/>
        </p:nvSpPr>
        <p:spPr>
          <a:xfrm>
            <a:off x="640080" y="3291840"/>
            <a:ext cx="7863840" cy="1097280"/>
          </a:xfrm>
          <a:prstGeom prst="rect">
            <a:avLst/>
          </a:prstGeom>
          <a:noFill/>
          <a:ln/>
        </p:spPr>
        <p:txBody>
          <a:bodyPr wrap="square" lIns="0" tIns="0" rIns="0" bIns="0" rtlCol="0" anchor="ctr"/>
          <a:lstStyle/>
          <a:p>
            <a:pPr indent="0" marL="0">
              <a:buNone/>
            </a:pPr>
            <a:r>
              <a:rPr lang="en-US" sz="1400" b="1" dirty="0">
                <a:solidFill>
                  <a:schemeClr val="bg1"/>
                </a:solidFill>
              </a:rPr>
              <a:t>Proporzionata, non necessariamente complessa. </a:t>
            </a:r>
            <a:pPr indent="0" marL="0">
              <a:buNone/>
            </a:pPr>
            <a:r>
              <a:rPr lang="en-US" sz="1400" dirty="0">
                <a:solidFill>
                  <a:schemeClr val="accent6"/>
                </a:solidFill>
              </a:rPr>
              <a:t>Ma la proporzionalità non esonera dagli obblighi pertinenti: essere piccoli giustifica presidi più semplici, non l'assenza degli obblighi.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Governare l'AI significa definire condizioni, responsabilità e verifiche che consentano usi appropriati e controllabili.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18.1  ·  Perché serve una governance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Il quadro normativo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Act è centrale, ma non sostituisce le altre norme applicabili alla specifica attività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Act: obiettivi e impostazione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riquadro Regolamento (UE) 2024/1689, AI Act"/>
          <p:cNvSpPr/>
          <p:nvPr/>
        </p:nvSpPr>
        <p:spPr>
          <a:xfrm>
            <a:off x="457200" y="1024128"/>
            <a:ext cx="8229600" cy="804672"/>
          </a:xfrm>
          <a:prstGeom prst="roundRect">
            <a:avLst>
              <a:gd name="adj" fmla="val 9091"/>
            </a:avLst>
          </a:prstGeom>
          <a:solidFill>
            <a:schemeClr val="accent6"/>
          </a:solidFill>
          <a:ln/>
        </p:spPr>
      </p:sp>
      <p:sp>
        <p:nvSpPr>
          <p:cNvPr id="17" name="barra"/>
          <p:cNvSpPr/>
          <p:nvPr/>
        </p:nvSpPr>
        <p:spPr>
          <a:xfrm>
            <a:off x="457200" y="1133856"/>
            <a:ext cx="54864" cy="585216"/>
          </a:xfrm>
          <a:prstGeom prst="rect">
            <a:avLst/>
          </a:prstGeom>
          <a:solidFill>
            <a:schemeClr val="accent1"/>
          </a:solidFill>
          <a:ln/>
        </p:spPr>
      </p:sp>
      <p:sp>
        <p:nvSpPr>
          <p:cNvPr id="18" name="Text 15"/>
          <p:cNvSpPr txBox="1"/>
          <p:nvPr/>
        </p:nvSpPr>
        <p:spPr>
          <a:xfrm>
            <a:off x="658368" y="1115568"/>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Regolamento (UE) 2024/1689, AI Act</a:t>
            </a:r>
            <a:endParaRPr lang="en-US" sz="1100" dirty="0"/>
          </a:p>
        </p:txBody>
      </p:sp>
      <p:sp>
        <p:nvSpPr>
          <p:cNvPr id="19" name="Text 16"/>
          <p:cNvSpPr txBox="1"/>
          <p:nvPr/>
        </p:nvSpPr>
        <p:spPr>
          <a:xfrm>
            <a:off x="658368" y="1408176"/>
            <a:ext cx="7863840" cy="329184"/>
          </a:xfrm>
          <a:prstGeom prst="rect">
            <a:avLst/>
          </a:prstGeom>
          <a:noFill/>
          <a:ln/>
        </p:spPr>
        <p:txBody>
          <a:bodyPr wrap="square" lIns="0" tIns="0" rIns="0" bIns="0" rtlCol="0" anchor="t"/>
          <a:lstStyle/>
          <a:p>
            <a:pPr indent="0" marL="0">
              <a:buNone/>
            </a:pPr>
            <a:r>
              <a:rPr lang="en-US" sz="1300" dirty="0">
                <a:solidFill>
                  <a:schemeClr val="tx1"/>
                </a:solidFill>
              </a:rPr>
              <a:t>Regolamento europeo: si applica direttamente in tutti gli Stati membri, con spazio per disposizioni nazionali su alcuni aspetti.</a:t>
            </a:r>
            <a:endParaRPr lang="en-US" sz="1300" dirty="0"/>
          </a:p>
        </p:txBody>
      </p:sp>
      <p:sp>
        <p:nvSpPr>
          <p:cNvPr id="20" name="Tutela"/>
          <p:cNvSpPr/>
          <p:nvPr/>
        </p:nvSpPr>
        <p:spPr>
          <a:xfrm>
            <a:off x="457200" y="1920240"/>
            <a:ext cx="1920240" cy="1691640"/>
          </a:xfrm>
          <a:prstGeom prst="roundRect">
            <a:avLst>
              <a:gd name="adj" fmla="val 4324"/>
            </a:avLst>
          </a:prstGeom>
          <a:solidFill>
            <a:schemeClr val="bg2"/>
          </a:solidFill>
          <a:ln/>
        </p:spPr>
      </p:sp>
      <p:sp>
        <p:nvSpPr>
          <p:cNvPr id="21" name="cerchio FiShield"/>
          <p:cNvSpPr/>
          <p:nvPr/>
        </p:nvSpPr>
        <p:spPr>
          <a:xfrm>
            <a:off x="621792" y="2084832"/>
            <a:ext cx="438912" cy="438912"/>
          </a:xfrm>
          <a:prstGeom prst="ellipse">
            <a:avLst/>
          </a:prstGeom>
          <a:solidFill>
            <a:schemeClr val="accent1"/>
          </a:solidFill>
          <a:ln/>
        </p:spPr>
      </p:sp>
      <p:pic>
        <p:nvPicPr>
          <p:cNvPr id="22" name="Image 0" descr="FiShield">    </p:cNvPr>
          <p:cNvPicPr>
            <a:picLocks noChangeAspect="1"/>
          </p:cNvPicPr>
          <p:nvPr/>
        </p:nvPicPr>
        <p:blipFill>
          <a:blip r:embed="rId1"/>
          <a:stretch>
            <a:fillRect/>
          </a:stretch>
        </p:blipFill>
        <p:spPr>
          <a:xfrm>
            <a:off x="731520" y="2194560"/>
            <a:ext cx="219456" cy="219456"/>
          </a:xfrm>
          <a:prstGeom prst="rect">
            <a:avLst/>
          </a:prstGeom>
        </p:spPr>
      </p:pic>
      <p:sp>
        <p:nvSpPr>
          <p:cNvPr id="23" name="Text 19"/>
          <p:cNvSpPr txBox="1"/>
          <p:nvPr/>
        </p:nvSpPr>
        <p:spPr>
          <a:xfrm>
            <a:off x="1170432" y="204825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Tutela</a:t>
            </a:r>
            <a:endParaRPr lang="en-US" sz="1300" dirty="0"/>
          </a:p>
        </p:txBody>
      </p:sp>
      <p:sp>
        <p:nvSpPr>
          <p:cNvPr id="24" name="Text 20"/>
          <p:cNvSpPr txBox="1"/>
          <p:nvPr/>
        </p:nvSpPr>
        <p:spPr>
          <a:xfrm>
            <a:off x="621792" y="2633472"/>
            <a:ext cx="1591056" cy="886968"/>
          </a:xfrm>
          <a:prstGeom prst="rect">
            <a:avLst/>
          </a:prstGeom>
          <a:noFill/>
          <a:ln/>
        </p:spPr>
        <p:txBody>
          <a:bodyPr wrap="square" lIns="0" tIns="0" rIns="0" bIns="0" rtlCol="0" anchor="t"/>
          <a:lstStyle/>
          <a:p>
            <a:pPr indent="0" marL="0">
              <a:buNone/>
            </a:pPr>
            <a:r>
              <a:rPr lang="en-US" sz="1100" dirty="0">
                <a:solidFill>
                  <a:schemeClr val="tx2"/>
                </a:solidFill>
              </a:rPr>
              <a:t>Salute, sicurezza, diritti fondamentali</a:t>
            </a:r>
            <a:endParaRPr lang="en-US" sz="1100" dirty="0"/>
          </a:p>
        </p:txBody>
      </p:sp>
      <p:sp>
        <p:nvSpPr>
          <p:cNvPr id="25" name="Mercato interno"/>
          <p:cNvSpPr/>
          <p:nvPr/>
        </p:nvSpPr>
        <p:spPr>
          <a:xfrm>
            <a:off x="2560320" y="1920240"/>
            <a:ext cx="1920240" cy="1691640"/>
          </a:xfrm>
          <a:prstGeom prst="roundRect">
            <a:avLst>
              <a:gd name="adj" fmla="val 4324"/>
            </a:avLst>
          </a:prstGeom>
          <a:solidFill>
            <a:schemeClr val="bg2"/>
          </a:solidFill>
          <a:ln/>
        </p:spPr>
      </p:sp>
      <p:sp>
        <p:nvSpPr>
          <p:cNvPr id="26" name="cerchio FiGlobe"/>
          <p:cNvSpPr/>
          <p:nvPr/>
        </p:nvSpPr>
        <p:spPr>
          <a:xfrm>
            <a:off x="2724912" y="2084832"/>
            <a:ext cx="438912" cy="438912"/>
          </a:xfrm>
          <a:prstGeom prst="ellipse">
            <a:avLst/>
          </a:prstGeom>
          <a:solidFill>
            <a:schemeClr val="accent1"/>
          </a:solidFill>
          <a:ln/>
        </p:spPr>
      </p:sp>
      <p:pic>
        <p:nvPicPr>
          <p:cNvPr id="27" name="Image 1" descr="FiGlobe">    </p:cNvPr>
          <p:cNvPicPr>
            <a:picLocks noChangeAspect="1"/>
          </p:cNvPicPr>
          <p:nvPr/>
        </p:nvPicPr>
        <p:blipFill>
          <a:blip r:embed="rId2"/>
          <a:stretch>
            <a:fillRect/>
          </a:stretch>
        </p:blipFill>
        <p:spPr>
          <a:xfrm>
            <a:off x="2834640" y="2194560"/>
            <a:ext cx="219456" cy="219456"/>
          </a:xfrm>
          <a:prstGeom prst="rect">
            <a:avLst/>
          </a:prstGeom>
        </p:spPr>
      </p:pic>
      <p:sp>
        <p:nvSpPr>
          <p:cNvPr id="28" name="Text 23"/>
          <p:cNvSpPr txBox="1"/>
          <p:nvPr/>
        </p:nvSpPr>
        <p:spPr>
          <a:xfrm>
            <a:off x="3273552" y="204825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Mercato interno</a:t>
            </a:r>
            <a:endParaRPr lang="en-US" sz="1300" dirty="0"/>
          </a:p>
        </p:txBody>
      </p:sp>
      <p:sp>
        <p:nvSpPr>
          <p:cNvPr id="29" name="Text 24"/>
          <p:cNvSpPr txBox="1"/>
          <p:nvPr/>
        </p:nvSpPr>
        <p:spPr>
          <a:xfrm>
            <a:off x="2724912" y="2633472"/>
            <a:ext cx="1591056" cy="886968"/>
          </a:xfrm>
          <a:prstGeom prst="rect">
            <a:avLst/>
          </a:prstGeom>
          <a:noFill/>
          <a:ln/>
        </p:spPr>
        <p:txBody>
          <a:bodyPr wrap="square" lIns="0" tIns="0" rIns="0" bIns="0" rtlCol="0" anchor="t"/>
          <a:lstStyle/>
          <a:p>
            <a:pPr indent="0" marL="0">
              <a:buNone/>
            </a:pPr>
            <a:r>
              <a:rPr lang="en-US" sz="1100" dirty="0">
                <a:solidFill>
                  <a:schemeClr val="tx2"/>
                </a:solidFill>
              </a:rPr>
              <a:t>Regole uguali in tutta l'Unione, innovazione</a:t>
            </a:r>
            <a:endParaRPr lang="en-US" sz="1100" dirty="0"/>
          </a:p>
        </p:txBody>
      </p:sp>
      <p:sp>
        <p:nvSpPr>
          <p:cNvPr id="30" name="Basato sul rischio"/>
          <p:cNvSpPr/>
          <p:nvPr/>
        </p:nvSpPr>
        <p:spPr>
          <a:xfrm>
            <a:off x="4663440" y="1920240"/>
            <a:ext cx="1920240" cy="1691640"/>
          </a:xfrm>
          <a:prstGeom prst="roundRect">
            <a:avLst>
              <a:gd name="adj" fmla="val 4324"/>
            </a:avLst>
          </a:prstGeom>
          <a:solidFill>
            <a:schemeClr val="bg2"/>
          </a:solidFill>
          <a:ln/>
        </p:spPr>
      </p:sp>
      <p:sp>
        <p:nvSpPr>
          <p:cNvPr id="31" name="cerchio FiBarChart2"/>
          <p:cNvSpPr/>
          <p:nvPr/>
        </p:nvSpPr>
        <p:spPr>
          <a:xfrm>
            <a:off x="4828032" y="2084832"/>
            <a:ext cx="438912" cy="438912"/>
          </a:xfrm>
          <a:prstGeom prst="ellipse">
            <a:avLst/>
          </a:prstGeom>
          <a:solidFill>
            <a:schemeClr val="accent1"/>
          </a:solidFill>
          <a:ln/>
        </p:spPr>
      </p:sp>
      <p:pic>
        <p:nvPicPr>
          <p:cNvPr id="32" name="Image 2" descr="FiBarChart2">    </p:cNvPr>
          <p:cNvPicPr>
            <a:picLocks noChangeAspect="1"/>
          </p:cNvPicPr>
          <p:nvPr/>
        </p:nvPicPr>
        <p:blipFill>
          <a:blip r:embed="rId3"/>
          <a:stretch>
            <a:fillRect/>
          </a:stretch>
        </p:blipFill>
        <p:spPr>
          <a:xfrm>
            <a:off x="4937760" y="2194560"/>
            <a:ext cx="219456" cy="219456"/>
          </a:xfrm>
          <a:prstGeom prst="rect">
            <a:avLst/>
          </a:prstGeom>
        </p:spPr>
      </p:pic>
      <p:sp>
        <p:nvSpPr>
          <p:cNvPr id="33" name="Text 27"/>
          <p:cNvSpPr txBox="1"/>
          <p:nvPr/>
        </p:nvSpPr>
        <p:spPr>
          <a:xfrm>
            <a:off x="5376672" y="204825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Basato sul rischio</a:t>
            </a:r>
            <a:endParaRPr lang="en-US" sz="1300" dirty="0"/>
          </a:p>
        </p:txBody>
      </p:sp>
      <p:sp>
        <p:nvSpPr>
          <p:cNvPr id="34" name="Text 28"/>
          <p:cNvSpPr txBox="1"/>
          <p:nvPr/>
        </p:nvSpPr>
        <p:spPr>
          <a:xfrm>
            <a:off x="4828032" y="2633472"/>
            <a:ext cx="1591056" cy="886968"/>
          </a:xfrm>
          <a:prstGeom prst="rect">
            <a:avLst/>
          </a:prstGeom>
          <a:noFill/>
          <a:ln/>
        </p:spPr>
        <p:txBody>
          <a:bodyPr wrap="square" lIns="0" tIns="0" rIns="0" bIns="0" rtlCol="0" anchor="t"/>
          <a:lstStyle/>
          <a:p>
            <a:pPr indent="0" marL="0">
              <a:buNone/>
            </a:pPr>
            <a:r>
              <a:rPr lang="en-US" sz="1100" dirty="0">
                <a:solidFill>
                  <a:schemeClr val="tx2"/>
                </a:solidFill>
              </a:rPr>
              <a:t>Obblighi secondo ciò che fa il sistema e la finalità (18.3)</a:t>
            </a:r>
            <a:endParaRPr lang="en-US" sz="1100" dirty="0"/>
          </a:p>
        </p:txBody>
      </p:sp>
      <p:sp>
        <p:nvSpPr>
          <p:cNvPr id="35" name="Destinatari"/>
          <p:cNvSpPr/>
          <p:nvPr/>
        </p:nvSpPr>
        <p:spPr>
          <a:xfrm>
            <a:off x="6766560" y="1920240"/>
            <a:ext cx="1920240" cy="1691640"/>
          </a:xfrm>
          <a:prstGeom prst="roundRect">
            <a:avLst>
              <a:gd name="adj" fmla="val 4324"/>
            </a:avLst>
          </a:prstGeom>
          <a:solidFill>
            <a:schemeClr val="bg2"/>
          </a:solidFill>
          <a:ln/>
        </p:spPr>
      </p:sp>
      <p:sp>
        <p:nvSpPr>
          <p:cNvPr id="36" name="cerchio FiUsers"/>
          <p:cNvSpPr/>
          <p:nvPr/>
        </p:nvSpPr>
        <p:spPr>
          <a:xfrm>
            <a:off x="6931152" y="2084832"/>
            <a:ext cx="438912" cy="438912"/>
          </a:xfrm>
          <a:prstGeom prst="ellipse">
            <a:avLst/>
          </a:prstGeom>
          <a:solidFill>
            <a:schemeClr val="accent1"/>
          </a:solidFill>
          <a:ln/>
        </p:spPr>
      </p:sp>
      <p:pic>
        <p:nvPicPr>
          <p:cNvPr id="37" name="Image 3" descr="FiUsers">    </p:cNvPr>
          <p:cNvPicPr>
            <a:picLocks noChangeAspect="1"/>
          </p:cNvPicPr>
          <p:nvPr/>
        </p:nvPicPr>
        <p:blipFill>
          <a:blip r:embed="rId4"/>
          <a:stretch>
            <a:fillRect/>
          </a:stretch>
        </p:blipFill>
        <p:spPr>
          <a:xfrm>
            <a:off x="7040880" y="2194560"/>
            <a:ext cx="219456" cy="219456"/>
          </a:xfrm>
          <a:prstGeom prst="rect">
            <a:avLst/>
          </a:prstGeom>
        </p:spPr>
      </p:pic>
      <p:sp>
        <p:nvSpPr>
          <p:cNvPr id="38" name="Text 31"/>
          <p:cNvSpPr txBox="1"/>
          <p:nvPr/>
        </p:nvSpPr>
        <p:spPr>
          <a:xfrm>
            <a:off x="7479792" y="204825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Destinatari</a:t>
            </a:r>
            <a:endParaRPr lang="en-US" sz="1300" dirty="0"/>
          </a:p>
        </p:txBody>
      </p:sp>
      <p:sp>
        <p:nvSpPr>
          <p:cNvPr id="39" name="Text 32"/>
          <p:cNvSpPr txBox="1"/>
          <p:nvPr/>
        </p:nvSpPr>
        <p:spPr>
          <a:xfrm>
            <a:off x="6931152" y="2633472"/>
            <a:ext cx="1591056" cy="886968"/>
          </a:xfrm>
          <a:prstGeom prst="rect">
            <a:avLst/>
          </a:prstGeom>
          <a:noFill/>
          <a:ln/>
        </p:spPr>
        <p:txBody>
          <a:bodyPr wrap="square" lIns="0" tIns="0" rIns="0" bIns="0" rtlCol="0" anchor="t"/>
          <a:lstStyle/>
          <a:p>
            <a:pPr indent="0" marL="0">
              <a:buNone/>
            </a:pPr>
            <a:r>
              <a:rPr lang="en-US" sz="1100" dirty="0">
                <a:solidFill>
                  <a:schemeClr val="tx2"/>
                </a:solidFill>
              </a:rPr>
              <a:t>Fornitori, deployer, importatori, distributori, modelli generali (18.4)</a:t>
            </a:r>
            <a:endParaRPr lang="en-US" sz="1100" dirty="0"/>
          </a:p>
        </p:txBody>
      </p:sp>
      <p:sp>
        <p:nvSpPr>
          <p:cNvPr id="40" name="messaggio"/>
          <p:cNvSpPr/>
          <p:nvPr/>
        </p:nvSpPr>
        <p:spPr>
          <a:xfrm>
            <a:off x="457200" y="3794760"/>
            <a:ext cx="8229600" cy="685800"/>
          </a:xfrm>
          <a:prstGeom prst="roundRect">
            <a:avLst>
              <a:gd name="adj" fmla="val 10667"/>
            </a:avLst>
          </a:prstGeom>
          <a:solidFill>
            <a:schemeClr val="tx1"/>
          </a:solidFill>
          <a:ln/>
        </p:spPr>
      </p:sp>
      <p:sp>
        <p:nvSpPr>
          <p:cNvPr id="41" name="Text 34"/>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400" dirty="0">
                <a:solidFill>
                  <a:schemeClr val="bg1"/>
                </a:solidFill>
              </a:rPr>
              <a:t>Si applica anche a soggetti fuori dall'Unione, se i sistemi o i loro output sono usati nell'Unione.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grandi categorie di obblighi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atiche vietate"/>
          <p:cNvSpPr/>
          <p:nvPr/>
        </p:nvSpPr>
        <p:spPr>
          <a:xfrm>
            <a:off x="457200" y="1024128"/>
            <a:ext cx="8229600" cy="502920"/>
          </a:xfrm>
          <a:prstGeom prst="roundRect">
            <a:avLst>
              <a:gd name="adj" fmla="val 14545"/>
            </a:avLst>
          </a:prstGeom>
          <a:solidFill>
            <a:srgbClr val="A86F1C"/>
          </a:solidFill>
          <a:ln/>
        </p:spPr>
      </p:sp>
      <p:sp>
        <p:nvSpPr>
          <p:cNvPr id="17" name="Text 14"/>
          <p:cNvSpPr txBox="1"/>
          <p:nvPr/>
        </p:nvSpPr>
        <p:spPr>
          <a:xfrm>
            <a:off x="640080" y="1024128"/>
            <a:ext cx="2377440" cy="502920"/>
          </a:xfrm>
          <a:prstGeom prst="rect">
            <a:avLst/>
          </a:prstGeom>
          <a:noFill/>
          <a:ln/>
        </p:spPr>
        <p:txBody>
          <a:bodyPr wrap="square" lIns="0" tIns="0" rIns="0" bIns="0" rtlCol="0" anchor="ctr"/>
          <a:lstStyle/>
          <a:p>
            <a:pPr indent="0" marL="0">
              <a:buNone/>
            </a:pPr>
            <a:r>
              <a:rPr lang="en-US" sz="1300" b="1" dirty="0">
                <a:solidFill>
                  <a:schemeClr val="bg1"/>
                </a:solidFill>
              </a:rPr>
              <a:t>Pratiche vietate</a:t>
            </a:r>
            <a:endParaRPr lang="en-US" sz="1300" dirty="0"/>
          </a:p>
        </p:txBody>
      </p:sp>
      <p:sp>
        <p:nvSpPr>
          <p:cNvPr id="18" name="Text 15"/>
          <p:cNvSpPr txBox="1"/>
          <p:nvPr/>
        </p:nvSpPr>
        <p:spPr>
          <a:xfrm>
            <a:off x="3017520" y="1024128"/>
            <a:ext cx="5577840" cy="502920"/>
          </a:xfrm>
          <a:prstGeom prst="rect">
            <a:avLst/>
          </a:prstGeom>
          <a:noFill/>
          <a:ln/>
        </p:spPr>
        <p:txBody>
          <a:bodyPr wrap="square" lIns="0" tIns="0" rIns="0" bIns="0" rtlCol="0" anchor="ctr"/>
          <a:lstStyle/>
          <a:p>
            <a:pPr indent="0" marL="0">
              <a:buNone/>
            </a:pPr>
            <a:r>
              <a:rPr lang="en-US" sz="1200" dirty="0">
                <a:solidFill>
                  <a:schemeClr val="bg1"/>
                </a:solidFill>
              </a:rPr>
              <a:t>Usi inaccettabili: manipolazione, punteggio sociale, emozioni al lavoro e a scuola</a:t>
            </a:r>
            <a:endParaRPr lang="en-US" sz="1200" dirty="0"/>
          </a:p>
        </p:txBody>
      </p:sp>
      <p:sp>
        <p:nvSpPr>
          <p:cNvPr id="19" name="Alto rischio"/>
          <p:cNvSpPr/>
          <p:nvPr/>
        </p:nvSpPr>
        <p:spPr>
          <a:xfrm>
            <a:off x="457200" y="1591056"/>
            <a:ext cx="8229600" cy="502920"/>
          </a:xfrm>
          <a:prstGeom prst="roundRect">
            <a:avLst>
              <a:gd name="adj" fmla="val 14545"/>
            </a:avLst>
          </a:prstGeom>
          <a:solidFill>
            <a:srgbClr val="2E7D7A"/>
          </a:solidFill>
          <a:ln/>
        </p:spPr>
      </p:sp>
      <p:sp>
        <p:nvSpPr>
          <p:cNvPr id="20" name="Text 17"/>
          <p:cNvSpPr txBox="1"/>
          <p:nvPr/>
        </p:nvSpPr>
        <p:spPr>
          <a:xfrm>
            <a:off x="640080" y="1591056"/>
            <a:ext cx="2377440" cy="502920"/>
          </a:xfrm>
          <a:prstGeom prst="rect">
            <a:avLst/>
          </a:prstGeom>
          <a:noFill/>
          <a:ln/>
        </p:spPr>
        <p:txBody>
          <a:bodyPr wrap="square" lIns="0" tIns="0" rIns="0" bIns="0" rtlCol="0" anchor="ctr"/>
          <a:lstStyle/>
          <a:p>
            <a:pPr indent="0" marL="0">
              <a:buNone/>
            </a:pPr>
            <a:r>
              <a:rPr lang="en-US" sz="1300" b="1" dirty="0">
                <a:solidFill>
                  <a:schemeClr val="bg1"/>
                </a:solidFill>
              </a:rPr>
              <a:t>Alto rischio</a:t>
            </a:r>
            <a:endParaRPr lang="en-US" sz="1300" dirty="0"/>
          </a:p>
        </p:txBody>
      </p:sp>
      <p:sp>
        <p:nvSpPr>
          <p:cNvPr id="21" name="Text 18"/>
          <p:cNvSpPr txBox="1"/>
          <p:nvPr/>
        </p:nvSpPr>
        <p:spPr>
          <a:xfrm>
            <a:off x="3017520" y="1591056"/>
            <a:ext cx="5577840" cy="502920"/>
          </a:xfrm>
          <a:prstGeom prst="rect">
            <a:avLst/>
          </a:prstGeom>
          <a:noFill/>
          <a:ln/>
        </p:spPr>
        <p:txBody>
          <a:bodyPr wrap="square" lIns="0" tIns="0" rIns="0" bIns="0" rtlCol="0" anchor="ctr"/>
          <a:lstStyle/>
          <a:p>
            <a:pPr indent="0" marL="0">
              <a:buNone/>
            </a:pPr>
            <a:r>
              <a:rPr lang="en-US" sz="1200" dirty="0">
                <a:solidFill>
                  <a:schemeClr val="bg1"/>
                </a:solidFill>
              </a:rPr>
              <a:t>Ambiti che incidono su salute, sicurezza, diritti: lavoro, istruzione, servizi essenziali</a:t>
            </a:r>
            <a:endParaRPr lang="en-US" sz="1200" dirty="0"/>
          </a:p>
        </p:txBody>
      </p:sp>
      <p:sp>
        <p:nvSpPr>
          <p:cNvPr id="22" name="Trasparenza"/>
          <p:cNvSpPr/>
          <p:nvPr/>
        </p:nvSpPr>
        <p:spPr>
          <a:xfrm>
            <a:off x="457200" y="2157984"/>
            <a:ext cx="8229600" cy="502920"/>
          </a:xfrm>
          <a:prstGeom prst="roundRect">
            <a:avLst>
              <a:gd name="adj" fmla="val 14545"/>
            </a:avLst>
          </a:prstGeom>
          <a:solidFill>
            <a:schemeClr val="accent6"/>
          </a:solidFill>
          <a:ln/>
        </p:spPr>
      </p:sp>
      <p:sp>
        <p:nvSpPr>
          <p:cNvPr id="23" name="Text 20"/>
          <p:cNvSpPr txBox="1"/>
          <p:nvPr/>
        </p:nvSpPr>
        <p:spPr>
          <a:xfrm>
            <a:off x="640080" y="2157984"/>
            <a:ext cx="2377440" cy="502920"/>
          </a:xfrm>
          <a:prstGeom prst="rect">
            <a:avLst/>
          </a:prstGeom>
          <a:noFill/>
          <a:ln/>
        </p:spPr>
        <p:txBody>
          <a:bodyPr wrap="square" lIns="0" tIns="0" rIns="0" bIns="0" rtlCol="0" anchor="ctr"/>
          <a:lstStyle/>
          <a:p>
            <a:pPr indent="0" marL="0">
              <a:buNone/>
            </a:pPr>
            <a:r>
              <a:rPr lang="en-US" sz="1300" b="1" dirty="0">
                <a:solidFill>
                  <a:schemeClr val="tx1"/>
                </a:solidFill>
              </a:rPr>
              <a:t>Trasparenza</a:t>
            </a:r>
            <a:endParaRPr lang="en-US" sz="1300" dirty="0"/>
          </a:p>
        </p:txBody>
      </p:sp>
      <p:sp>
        <p:nvSpPr>
          <p:cNvPr id="24" name="Text 21"/>
          <p:cNvSpPr txBox="1"/>
          <p:nvPr/>
        </p:nvSpPr>
        <p:spPr>
          <a:xfrm>
            <a:off x="3017520" y="2157984"/>
            <a:ext cx="5577840" cy="502920"/>
          </a:xfrm>
          <a:prstGeom prst="rect">
            <a:avLst/>
          </a:prstGeom>
          <a:noFill/>
          <a:ln/>
        </p:spPr>
        <p:txBody>
          <a:bodyPr wrap="square" lIns="0" tIns="0" rIns="0" bIns="0" rtlCol="0" anchor="ctr"/>
          <a:lstStyle/>
          <a:p>
            <a:pPr indent="0" marL="0">
              <a:buNone/>
            </a:pPr>
            <a:r>
              <a:rPr lang="en-US" sz="1200" dirty="0">
                <a:solidFill>
                  <a:schemeClr val="tx1"/>
                </a:solidFill>
              </a:rPr>
              <a:t>Informare le persone, marcare i contenuti sintetici</a:t>
            </a:r>
            <a:endParaRPr lang="en-US" sz="1200" dirty="0"/>
          </a:p>
        </p:txBody>
      </p:sp>
      <p:sp>
        <p:nvSpPr>
          <p:cNvPr id="25" name="Modelli per finalità generali"/>
          <p:cNvSpPr/>
          <p:nvPr/>
        </p:nvSpPr>
        <p:spPr>
          <a:xfrm>
            <a:off x="457200" y="2724912"/>
            <a:ext cx="8229600" cy="502920"/>
          </a:xfrm>
          <a:prstGeom prst="roundRect">
            <a:avLst>
              <a:gd name="adj" fmla="val 14545"/>
            </a:avLst>
          </a:prstGeom>
          <a:solidFill>
            <a:srgbClr val="D9ECEA"/>
          </a:solidFill>
          <a:ln/>
        </p:spPr>
      </p:sp>
      <p:sp>
        <p:nvSpPr>
          <p:cNvPr id="26" name="Text 23"/>
          <p:cNvSpPr txBox="1"/>
          <p:nvPr/>
        </p:nvSpPr>
        <p:spPr>
          <a:xfrm>
            <a:off x="640080" y="2724912"/>
            <a:ext cx="2377440" cy="502920"/>
          </a:xfrm>
          <a:prstGeom prst="rect">
            <a:avLst/>
          </a:prstGeom>
          <a:noFill/>
          <a:ln/>
        </p:spPr>
        <p:txBody>
          <a:bodyPr wrap="square" lIns="0" tIns="0" rIns="0" bIns="0" rtlCol="0" anchor="ctr"/>
          <a:lstStyle/>
          <a:p>
            <a:pPr indent="0" marL="0">
              <a:buNone/>
            </a:pPr>
            <a:r>
              <a:rPr lang="en-US" sz="1300" b="1" dirty="0">
                <a:solidFill>
                  <a:schemeClr val="tx1"/>
                </a:solidFill>
              </a:rPr>
              <a:t>Modelli per finalità generali</a:t>
            </a:r>
            <a:endParaRPr lang="en-US" sz="1300" dirty="0"/>
          </a:p>
        </p:txBody>
      </p:sp>
      <p:sp>
        <p:nvSpPr>
          <p:cNvPr id="27" name="Text 24"/>
          <p:cNvSpPr txBox="1"/>
          <p:nvPr/>
        </p:nvSpPr>
        <p:spPr>
          <a:xfrm>
            <a:off x="3017520" y="2724912"/>
            <a:ext cx="5577840" cy="502920"/>
          </a:xfrm>
          <a:prstGeom prst="rect">
            <a:avLst/>
          </a:prstGeom>
          <a:noFill/>
          <a:ln/>
        </p:spPr>
        <p:txBody>
          <a:bodyPr wrap="square" lIns="0" tIns="0" rIns="0" bIns="0" rtlCol="0" anchor="ctr"/>
          <a:lstStyle/>
          <a:p>
            <a:pPr indent="0" marL="0">
              <a:buNone/>
            </a:pPr>
            <a:r>
              <a:rPr lang="en-US" sz="1200" dirty="0">
                <a:solidFill>
                  <a:schemeClr val="tx1"/>
                </a:solidFill>
              </a:rPr>
              <a:t>Obblighi dei loro fornitori: documentazione, diritto d'autore, rischio sistemico</a:t>
            </a:r>
            <a:endParaRPr lang="en-US" sz="1200" dirty="0"/>
          </a:p>
        </p:txBody>
      </p:sp>
      <p:sp>
        <p:nvSpPr>
          <p:cNvPr id="28" name="Tutto il resto"/>
          <p:cNvSpPr/>
          <p:nvPr/>
        </p:nvSpPr>
        <p:spPr>
          <a:xfrm>
            <a:off x="457200" y="3291840"/>
            <a:ext cx="8229600" cy="502920"/>
          </a:xfrm>
          <a:prstGeom prst="roundRect">
            <a:avLst>
              <a:gd name="adj" fmla="val 14545"/>
            </a:avLst>
          </a:prstGeom>
          <a:solidFill>
            <a:schemeClr val="bg2"/>
          </a:solidFill>
          <a:ln/>
        </p:spPr>
      </p:sp>
      <p:sp>
        <p:nvSpPr>
          <p:cNvPr id="29" name="Text 26"/>
          <p:cNvSpPr txBox="1"/>
          <p:nvPr/>
        </p:nvSpPr>
        <p:spPr>
          <a:xfrm>
            <a:off x="640080" y="3291840"/>
            <a:ext cx="2377440" cy="502920"/>
          </a:xfrm>
          <a:prstGeom prst="rect">
            <a:avLst/>
          </a:prstGeom>
          <a:noFill/>
          <a:ln/>
        </p:spPr>
        <p:txBody>
          <a:bodyPr wrap="square" lIns="0" tIns="0" rIns="0" bIns="0" rtlCol="0" anchor="ctr"/>
          <a:lstStyle/>
          <a:p>
            <a:pPr indent="0" marL="0">
              <a:buNone/>
            </a:pPr>
            <a:r>
              <a:rPr lang="en-US" sz="1300" b="1" dirty="0">
                <a:solidFill>
                  <a:schemeClr val="tx1"/>
                </a:solidFill>
              </a:rPr>
              <a:t>Tutto il resto</a:t>
            </a:r>
            <a:endParaRPr lang="en-US" sz="1300" dirty="0"/>
          </a:p>
        </p:txBody>
      </p:sp>
      <p:sp>
        <p:nvSpPr>
          <p:cNvPr id="30" name="Text 27"/>
          <p:cNvSpPr txBox="1"/>
          <p:nvPr/>
        </p:nvSpPr>
        <p:spPr>
          <a:xfrm>
            <a:off x="3017520" y="3291840"/>
            <a:ext cx="5577840" cy="502920"/>
          </a:xfrm>
          <a:prstGeom prst="rect">
            <a:avLst/>
          </a:prstGeom>
          <a:noFill/>
          <a:ln/>
        </p:spPr>
        <p:txBody>
          <a:bodyPr wrap="square" lIns="0" tIns="0" rIns="0" bIns="0" rtlCol="0" anchor="ctr"/>
          <a:lstStyle/>
          <a:p>
            <a:pPr indent="0" marL="0">
              <a:buNone/>
            </a:pPr>
            <a:r>
              <a:rPr lang="en-US" sz="1200" dirty="0">
                <a:solidFill>
                  <a:schemeClr val="tx1"/>
                </a:solidFill>
              </a:rPr>
              <a:t>La maggioranza degli usi: nessun obbligo specifico dell'AI Act, salvo l'articolo 4</a:t>
            </a:r>
            <a:endParaRPr lang="en-US" sz="1200" dirty="0"/>
          </a:p>
        </p:txBody>
      </p:sp>
      <p:sp>
        <p:nvSpPr>
          <p:cNvPr id="31" name="messaggio"/>
          <p:cNvSpPr/>
          <p:nvPr/>
        </p:nvSpPr>
        <p:spPr>
          <a:xfrm>
            <a:off x="457200" y="3931920"/>
            <a:ext cx="8229600" cy="548640"/>
          </a:xfrm>
          <a:prstGeom prst="roundRect">
            <a:avLst>
              <a:gd name="adj" fmla="val 13333"/>
            </a:avLst>
          </a:prstGeom>
          <a:solidFill>
            <a:schemeClr val="tx1"/>
          </a:solidFill>
          <a:ln/>
        </p:spPr>
      </p:sp>
      <p:sp>
        <p:nvSpPr>
          <p:cNvPr id="32" name="Text 29"/>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400" dirty="0">
                <a:solidFill>
                  <a:schemeClr val="bg1"/>
                </a:solidFill>
              </a:rPr>
              <a:t>Nessun obbligo specifico non significa nessun rischio né nessun altro obbligo.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Un'applicazione progressiva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463040"/>
                <a:gridCol w="6766560"/>
              </a:tblGrid>
              <a:tr h="365760">
                <a:tc>
                  <a:txBody>
                    <a:bodyPr/>
                    <a:lstStyle/>
                    <a:p>
                      <a:pPr indent="0" marL="0">
                        <a:buNone/>
                      </a:pPr>
                      <a:r>
                        <a:rPr lang="en-US" sz="1100" b="1" dirty="0">
                          <a:solidFill>
                            <a:schemeClr val="bg1"/>
                          </a:solidFill>
                        </a:rPr>
                        <a:t>Data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Che cosa si applica (sintesi, verificata a ottobre 2026)</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1 ago 2024</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Entrata in vigore dell'AI Act</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2 feb 2025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Pratiche vietate; disposizioni generali, compreso l'articolo 4</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2 ago 2025</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Modelli per finalità generali; governance pubblica; sanzioni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2 ago 2026</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Applicazione generale, compresa la trasparenza (art. 50)</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2 dic 2026</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Fine del transitorio per la marcatura dei sistemi già sul mercato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2 dic 2027</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Alto rischio, Allegato III (rinviato dal Digital Omnibus)</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2 ago 2028</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Alto rischio, Allegato I: prodotti regolamentati (rinviato)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7" name="messaggio"/>
          <p:cNvSpPr/>
          <p:nvPr/>
        </p:nvSpPr>
        <p:spPr>
          <a:xfrm>
            <a:off x="457200" y="4069080"/>
            <a:ext cx="8229600" cy="457200"/>
          </a:xfrm>
          <a:prstGeom prst="roundRect">
            <a:avLst>
              <a:gd name="adj" fmla="val 16000"/>
            </a:avLst>
          </a:prstGeom>
          <a:solidFill>
            <a:schemeClr val="tx1"/>
          </a:solidFill>
          <a:ln/>
        </p:spPr>
      </p:sp>
      <p:sp>
        <p:nvSpPr>
          <p:cNvPr id="18" name="Text 14"/>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dirty="0">
                <a:solidFill>
                  <a:schemeClr val="bg1"/>
                </a:solidFill>
              </a:rPr>
              <a:t>Nessuna data unica per tutti gli obblighi. Eccezioni e transitori: verificare sempre su EUR-Lex.</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AI Act e GDPR</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riquadro AI Act"/>
          <p:cNvSpPr/>
          <p:nvPr/>
        </p:nvSpPr>
        <p:spPr>
          <a:xfrm>
            <a:off x="457200" y="1051560"/>
            <a:ext cx="3977640" cy="1188720"/>
          </a:xfrm>
          <a:prstGeom prst="roundRect">
            <a:avLst>
              <a:gd name="adj" fmla="val 6154"/>
            </a:avLst>
          </a:prstGeom>
          <a:solidFill>
            <a:schemeClr val="bg2"/>
          </a:solidFill>
          <a:ln/>
        </p:spPr>
      </p:sp>
      <p:sp>
        <p:nvSpPr>
          <p:cNvPr id="17" name="barra"/>
          <p:cNvSpPr/>
          <p:nvPr/>
        </p:nvSpPr>
        <p:spPr>
          <a:xfrm>
            <a:off x="457200" y="1161288"/>
            <a:ext cx="54864" cy="969264"/>
          </a:xfrm>
          <a:prstGeom prst="rect">
            <a:avLst/>
          </a:prstGeom>
          <a:solidFill>
            <a:schemeClr val="accent1"/>
          </a:solidFill>
          <a:ln/>
        </p:spPr>
      </p:sp>
      <p:sp>
        <p:nvSpPr>
          <p:cNvPr id="18" name="Text 15"/>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AI Act</a:t>
            </a:r>
            <a:endParaRPr lang="en-US" sz="1100" dirty="0"/>
          </a:p>
        </p:txBody>
      </p:sp>
      <p:sp>
        <p:nvSpPr>
          <p:cNvPr id="19" name="Text 16"/>
          <p:cNvSpPr txBox="1"/>
          <p:nvPr/>
        </p:nvSpPr>
        <p:spPr>
          <a:xfrm>
            <a:off x="658368" y="1435608"/>
            <a:ext cx="3611880" cy="713232"/>
          </a:xfrm>
          <a:prstGeom prst="rect">
            <a:avLst/>
          </a:prstGeom>
          <a:noFill/>
          <a:ln/>
        </p:spPr>
        <p:txBody>
          <a:bodyPr wrap="square" lIns="0" tIns="0" rIns="0" bIns="0" rtlCol="0" anchor="t"/>
          <a:lstStyle/>
          <a:p>
            <a:pPr indent="0" marL="0">
              <a:buNone/>
            </a:pPr>
            <a:r>
              <a:rPr lang="en-US" sz="1300" dirty="0">
                <a:solidFill>
                  <a:schemeClr val="tx1"/>
                </a:solidFill>
              </a:rPr>
              <a:t>Regola i sistemi di AI, secondo funzione e rischio.</a:t>
            </a:r>
            <a:endParaRPr lang="en-US" sz="1300" dirty="0"/>
          </a:p>
        </p:txBody>
      </p:sp>
      <p:sp>
        <p:nvSpPr>
          <p:cNvPr id="20" name="riquadro GDPR"/>
          <p:cNvSpPr/>
          <p:nvPr/>
        </p:nvSpPr>
        <p:spPr>
          <a:xfrm>
            <a:off x="4709160" y="1051560"/>
            <a:ext cx="3977640" cy="1188720"/>
          </a:xfrm>
          <a:prstGeom prst="roundRect">
            <a:avLst>
              <a:gd name="adj" fmla="val 6154"/>
            </a:avLst>
          </a:prstGeom>
          <a:solidFill>
            <a:schemeClr val="accent6"/>
          </a:solidFill>
          <a:ln/>
        </p:spPr>
      </p:sp>
      <p:sp>
        <p:nvSpPr>
          <p:cNvPr id="21" name="barra"/>
          <p:cNvSpPr/>
          <p:nvPr/>
        </p:nvSpPr>
        <p:spPr>
          <a:xfrm>
            <a:off x="4709160" y="1161288"/>
            <a:ext cx="54864" cy="969264"/>
          </a:xfrm>
          <a:prstGeom prst="rect">
            <a:avLst/>
          </a:prstGeom>
          <a:solidFill>
            <a:schemeClr val="accent1"/>
          </a:solidFill>
          <a:ln/>
        </p:spPr>
      </p:sp>
      <p:sp>
        <p:nvSpPr>
          <p:cNvPr id="22" name="Text 19"/>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GDPR</a:t>
            </a:r>
            <a:endParaRPr lang="en-US" sz="1100" dirty="0"/>
          </a:p>
        </p:txBody>
      </p:sp>
      <p:sp>
        <p:nvSpPr>
          <p:cNvPr id="23" name="Text 20"/>
          <p:cNvSpPr txBox="1"/>
          <p:nvPr/>
        </p:nvSpPr>
        <p:spPr>
          <a:xfrm>
            <a:off x="4910328" y="1435608"/>
            <a:ext cx="3611880" cy="713232"/>
          </a:xfrm>
          <a:prstGeom prst="rect">
            <a:avLst/>
          </a:prstGeom>
          <a:noFill/>
          <a:ln/>
        </p:spPr>
        <p:txBody>
          <a:bodyPr wrap="square" lIns="0" tIns="0" rIns="0" bIns="0" rtlCol="0" anchor="t"/>
          <a:lstStyle/>
          <a:p>
            <a:pPr indent="0" marL="0">
              <a:buNone/>
            </a:pPr>
            <a:r>
              <a:rPr lang="en-US" sz="1300" dirty="0">
                <a:solidFill>
                  <a:schemeClr val="tx1"/>
                </a:solidFill>
              </a:rPr>
              <a:t>Regola il trattamento dei dati personali, con qualsiasi tecnologia.</a:t>
            </a:r>
            <a:endParaRPr lang="en-US" sz="1300" dirty="0"/>
          </a:p>
        </p:txBody>
      </p:sp>
      <p:sp>
        <p:nvSpPr>
          <p:cNvPr id="24" name="Text 21"/>
          <p:cNvSpPr txBox="1"/>
          <p:nvPr/>
        </p:nvSpPr>
        <p:spPr>
          <a:xfrm>
            <a:off x="457200" y="2468880"/>
            <a:ext cx="8229600" cy="292608"/>
          </a:xfrm>
          <a:prstGeom prst="rect">
            <a:avLst/>
          </a:prstGeom>
          <a:noFill/>
          <a:ln/>
        </p:spPr>
        <p:txBody>
          <a:bodyPr wrap="square" lIns="0" tIns="0" rIns="0" bIns="0" rtlCol="0" anchor="t"/>
          <a:lstStyle/>
          <a:p>
            <a:pPr indent="0" marL="0">
              <a:buNone/>
            </a:pPr>
            <a:r>
              <a:rPr lang="en-US" sz="1300" b="1" dirty="0">
                <a:solidFill>
                  <a:schemeClr val="tx1"/>
                </a:solidFill>
              </a:rPr>
              <a:t>Disposizioni del GDPR spesso rilevanti per l'AI</a:t>
            </a:r>
            <a:endParaRPr lang="en-US" sz="1300" dirty="0"/>
          </a:p>
        </p:txBody>
      </p:sp>
      <p:sp>
        <p:nvSpPr>
          <p:cNvPr id="25" name="riga 0"/>
          <p:cNvSpPr/>
          <p:nvPr/>
        </p:nvSpPr>
        <p:spPr>
          <a:xfrm>
            <a:off x="457200" y="2788920"/>
            <a:ext cx="8229600" cy="384048"/>
          </a:xfrm>
          <a:prstGeom prst="roundRect">
            <a:avLst>
              <a:gd name="adj" fmla="val 19048"/>
            </a:avLst>
          </a:prstGeom>
          <a:solidFill>
            <a:schemeClr val="bg2"/>
          </a:solidFill>
          <a:ln/>
        </p:spPr>
      </p:sp>
      <p:sp>
        <p:nvSpPr>
          <p:cNvPr id="26" name="Text 23"/>
          <p:cNvSpPr txBox="1"/>
          <p:nvPr/>
        </p:nvSpPr>
        <p:spPr>
          <a:xfrm>
            <a:off x="640080" y="2788920"/>
            <a:ext cx="7863840" cy="384048"/>
          </a:xfrm>
          <a:prstGeom prst="rect">
            <a:avLst/>
          </a:prstGeom>
          <a:noFill/>
          <a:ln/>
        </p:spPr>
        <p:txBody>
          <a:bodyPr wrap="square" lIns="0" tIns="0" rIns="0" bIns="0" rtlCol="0" anchor="ctr"/>
          <a:lstStyle/>
          <a:p>
            <a:pPr indent="0" marL="0">
              <a:buNone/>
            </a:pPr>
            <a:r>
              <a:rPr lang="en-US" sz="1200" dirty="0">
                <a:solidFill>
                  <a:schemeClr val="tx1"/>
                </a:solidFill>
              </a:rPr>
              <a:t>Principi: liceità, minimizzazione, limitazione della finalità</a:t>
            </a:r>
            <a:endParaRPr lang="en-US" sz="1200" dirty="0"/>
          </a:p>
        </p:txBody>
      </p:sp>
      <p:sp>
        <p:nvSpPr>
          <p:cNvPr id="27" name="riga 1"/>
          <p:cNvSpPr/>
          <p:nvPr/>
        </p:nvSpPr>
        <p:spPr>
          <a:xfrm>
            <a:off x="457200" y="3218688"/>
            <a:ext cx="8229600" cy="384048"/>
          </a:xfrm>
          <a:prstGeom prst="roundRect">
            <a:avLst>
              <a:gd name="adj" fmla="val 19048"/>
            </a:avLst>
          </a:prstGeom>
          <a:solidFill>
            <a:schemeClr val="bg1"/>
          </a:solidFill>
          <a:ln/>
        </p:spPr>
      </p:sp>
      <p:sp>
        <p:nvSpPr>
          <p:cNvPr id="28" name="Text 25"/>
          <p:cNvSpPr txBox="1"/>
          <p:nvPr/>
        </p:nvSpPr>
        <p:spPr>
          <a:xfrm>
            <a:off x="640080" y="3218688"/>
            <a:ext cx="7863840" cy="384048"/>
          </a:xfrm>
          <a:prstGeom prst="rect">
            <a:avLst/>
          </a:prstGeom>
          <a:noFill/>
          <a:ln/>
        </p:spPr>
        <p:txBody>
          <a:bodyPr wrap="square" lIns="0" tIns="0" rIns="0" bIns="0" rtlCol="0" anchor="ctr"/>
          <a:lstStyle/>
          <a:p>
            <a:pPr indent="0" marL="0">
              <a:buNone/>
            </a:pPr>
            <a:r>
              <a:rPr lang="en-US" sz="1200" dirty="0">
                <a:solidFill>
                  <a:schemeClr val="tx1"/>
                </a:solidFill>
              </a:rPr>
              <a:t>Art. 22: decisioni unicamente automatizzate con effetti significativi</a:t>
            </a:r>
            <a:endParaRPr lang="en-US" sz="1200" dirty="0"/>
          </a:p>
        </p:txBody>
      </p:sp>
      <p:sp>
        <p:nvSpPr>
          <p:cNvPr id="29" name="riga 2"/>
          <p:cNvSpPr/>
          <p:nvPr/>
        </p:nvSpPr>
        <p:spPr>
          <a:xfrm>
            <a:off x="457200" y="3648456"/>
            <a:ext cx="8229600" cy="384048"/>
          </a:xfrm>
          <a:prstGeom prst="roundRect">
            <a:avLst>
              <a:gd name="adj" fmla="val 19048"/>
            </a:avLst>
          </a:prstGeom>
          <a:solidFill>
            <a:schemeClr val="bg2"/>
          </a:solidFill>
          <a:ln/>
        </p:spPr>
      </p:sp>
      <p:sp>
        <p:nvSpPr>
          <p:cNvPr id="30" name="Text 27"/>
          <p:cNvSpPr txBox="1"/>
          <p:nvPr/>
        </p:nvSpPr>
        <p:spPr>
          <a:xfrm>
            <a:off x="640080" y="3648456"/>
            <a:ext cx="7863840" cy="384048"/>
          </a:xfrm>
          <a:prstGeom prst="rect">
            <a:avLst/>
          </a:prstGeom>
          <a:noFill/>
          <a:ln/>
        </p:spPr>
        <p:txBody>
          <a:bodyPr wrap="square" lIns="0" tIns="0" rIns="0" bIns="0" rtlCol="0" anchor="ctr"/>
          <a:lstStyle/>
          <a:p>
            <a:pPr indent="0" marL="0">
              <a:buNone/>
            </a:pPr>
            <a:r>
              <a:rPr lang="en-US" sz="1200" dirty="0">
                <a:solidFill>
                  <a:schemeClr val="tx1"/>
                </a:solidFill>
              </a:rPr>
              <a:t>Art. 35: valutazione d'impatto per trattamenti a rischio elevato; informazioni; trasferimenti extra UE</a:t>
            </a:r>
            <a:endParaRPr lang="en-US" sz="1200" dirty="0"/>
          </a:p>
        </p:txBody>
      </p:sp>
      <p:sp>
        <p:nvSpPr>
          <p:cNvPr id="31" name="Text 28"/>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i="1" dirty="0">
                <a:solidFill>
                  <a:schemeClr val="accent1"/>
                </a:solidFill>
              </a:rPr>
              <a:t>Conformità all'AI Act e al GDPR non sono equivalenti: spesso si applicano entrambi.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Non solo AI Act</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Diritto d'autore"/>
          <p:cNvSpPr/>
          <p:nvPr/>
        </p:nvSpPr>
        <p:spPr>
          <a:xfrm>
            <a:off x="457200" y="1051560"/>
            <a:ext cx="2621280" cy="1280160"/>
          </a:xfrm>
          <a:prstGeom prst="roundRect">
            <a:avLst>
              <a:gd name="adj" fmla="val 5714"/>
            </a:avLst>
          </a:prstGeom>
          <a:solidFill>
            <a:schemeClr val="bg2"/>
          </a:solidFill>
          <a:ln/>
        </p:spPr>
      </p:sp>
      <p:sp>
        <p:nvSpPr>
          <p:cNvPr id="17" name="cerchio FiCopy"/>
          <p:cNvSpPr/>
          <p:nvPr/>
        </p:nvSpPr>
        <p:spPr>
          <a:xfrm>
            <a:off x="621792" y="1216152"/>
            <a:ext cx="438912" cy="438912"/>
          </a:xfrm>
          <a:prstGeom prst="ellipse">
            <a:avLst/>
          </a:prstGeom>
          <a:solidFill>
            <a:schemeClr val="accent1"/>
          </a:solidFill>
          <a:ln/>
        </p:spPr>
      </p:sp>
      <p:pic>
        <p:nvPicPr>
          <p:cNvPr id="18" name="Image 0" descr="FiCopy">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Diritto d'autore</a:t>
            </a:r>
            <a:endParaRPr lang="en-US" sz="1300" dirty="0"/>
          </a:p>
        </p:txBody>
      </p:sp>
      <p:sp>
        <p:nvSpPr>
          <p:cNvPr id="20" name="Text 16"/>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Materiali usati, tutela degli output, estrazione di dati</a:t>
            </a:r>
            <a:endParaRPr lang="en-US" sz="1200" dirty="0"/>
          </a:p>
        </p:txBody>
      </p:sp>
      <p:sp>
        <p:nvSpPr>
          <p:cNvPr id="21" name="Consumatori"/>
          <p:cNvSpPr/>
          <p:nvPr/>
        </p:nvSpPr>
        <p:spPr>
          <a:xfrm>
            <a:off x="3261360" y="1051560"/>
            <a:ext cx="2621280" cy="1280160"/>
          </a:xfrm>
          <a:prstGeom prst="roundRect">
            <a:avLst>
              <a:gd name="adj" fmla="val 5714"/>
            </a:avLst>
          </a:prstGeom>
          <a:solidFill>
            <a:schemeClr val="bg2"/>
          </a:solidFill>
          <a:ln/>
        </p:spPr>
      </p:sp>
      <p:sp>
        <p:nvSpPr>
          <p:cNvPr id="22" name="cerchio FiShoppingBag"/>
          <p:cNvSpPr/>
          <p:nvPr/>
        </p:nvSpPr>
        <p:spPr>
          <a:xfrm>
            <a:off x="3425952" y="1216152"/>
            <a:ext cx="438912" cy="438912"/>
          </a:xfrm>
          <a:prstGeom prst="ellipse">
            <a:avLst/>
          </a:prstGeom>
          <a:solidFill>
            <a:schemeClr val="accent1"/>
          </a:solidFill>
          <a:ln/>
        </p:spPr>
      </p:sp>
      <p:pic>
        <p:nvPicPr>
          <p:cNvPr id="23" name="Image 1" descr="FiShoppingBag">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Consumatori</a:t>
            </a:r>
            <a:endParaRPr lang="en-US" sz="1300" dirty="0"/>
          </a:p>
        </p:txBody>
      </p:sp>
      <p:sp>
        <p:nvSpPr>
          <p:cNvPr id="25" name="Text 20"/>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Pratiche scorrette, pubblicità, informazioni ai clienti</a:t>
            </a:r>
            <a:endParaRPr lang="en-US" sz="1200" dirty="0"/>
          </a:p>
        </p:txBody>
      </p:sp>
      <p:sp>
        <p:nvSpPr>
          <p:cNvPr id="26" name="Lavoro"/>
          <p:cNvSpPr/>
          <p:nvPr/>
        </p:nvSpPr>
        <p:spPr>
          <a:xfrm>
            <a:off x="6065520" y="1051560"/>
            <a:ext cx="2621280" cy="1280160"/>
          </a:xfrm>
          <a:prstGeom prst="roundRect">
            <a:avLst>
              <a:gd name="adj" fmla="val 5714"/>
            </a:avLst>
          </a:prstGeom>
          <a:solidFill>
            <a:schemeClr val="bg2"/>
          </a:solidFill>
          <a:ln/>
        </p:spPr>
      </p:sp>
      <p:sp>
        <p:nvSpPr>
          <p:cNvPr id="27" name="cerchio FiBriefcase"/>
          <p:cNvSpPr/>
          <p:nvPr/>
        </p:nvSpPr>
        <p:spPr>
          <a:xfrm>
            <a:off x="6230112" y="1216152"/>
            <a:ext cx="438912" cy="438912"/>
          </a:xfrm>
          <a:prstGeom prst="ellipse">
            <a:avLst/>
          </a:prstGeom>
          <a:solidFill>
            <a:schemeClr val="accent1"/>
          </a:solidFill>
          <a:ln/>
        </p:spPr>
      </p:sp>
      <p:pic>
        <p:nvPicPr>
          <p:cNvPr id="28" name="Image 2" descr="FiBriefcase">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Lavoro</a:t>
            </a:r>
            <a:endParaRPr lang="en-US" sz="1300" dirty="0"/>
          </a:p>
        </p:txBody>
      </p:sp>
      <p:sp>
        <p:nvSpPr>
          <p:cNvPr id="30" name="Text 24"/>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Controlli a distanza, informazione su sistemi automatizzati</a:t>
            </a:r>
            <a:endParaRPr lang="en-US" sz="1200" dirty="0"/>
          </a:p>
        </p:txBody>
      </p:sp>
      <p:sp>
        <p:nvSpPr>
          <p:cNvPr id="31" name="Discipline settoriali"/>
          <p:cNvSpPr/>
          <p:nvPr/>
        </p:nvSpPr>
        <p:spPr>
          <a:xfrm>
            <a:off x="457200" y="2514600"/>
            <a:ext cx="2621280" cy="1280160"/>
          </a:xfrm>
          <a:prstGeom prst="roundRect">
            <a:avLst>
              <a:gd name="adj" fmla="val 5714"/>
            </a:avLst>
          </a:prstGeom>
          <a:solidFill>
            <a:schemeClr val="bg2"/>
          </a:solidFill>
          <a:ln/>
        </p:spPr>
      </p:sp>
      <p:sp>
        <p:nvSpPr>
          <p:cNvPr id="32" name="cerchio FiLayers"/>
          <p:cNvSpPr/>
          <p:nvPr/>
        </p:nvSpPr>
        <p:spPr>
          <a:xfrm>
            <a:off x="621792" y="2679192"/>
            <a:ext cx="438912" cy="438912"/>
          </a:xfrm>
          <a:prstGeom prst="ellipse">
            <a:avLst/>
          </a:prstGeom>
          <a:solidFill>
            <a:schemeClr val="accent1"/>
          </a:solidFill>
          <a:ln/>
        </p:spPr>
      </p:sp>
      <p:pic>
        <p:nvPicPr>
          <p:cNvPr id="33" name="Image 3" descr="FiLayers">    </p:cNvPr>
          <p:cNvPicPr>
            <a:picLocks noChangeAspect="1"/>
          </p:cNvPicPr>
          <p:nvPr/>
        </p:nvPicPr>
        <p:blipFill>
          <a:blip r:embed="rId4"/>
          <a:stretch>
            <a:fillRect/>
          </a:stretch>
        </p:blipFill>
        <p:spPr>
          <a:xfrm>
            <a:off x="731520" y="2788920"/>
            <a:ext cx="219456" cy="219456"/>
          </a:xfrm>
          <a:prstGeom prst="rect">
            <a:avLst/>
          </a:prstGeom>
        </p:spPr>
      </p:pic>
      <p:sp>
        <p:nvSpPr>
          <p:cNvPr id="34" name="Text 27"/>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Discipline settoriali</a:t>
            </a:r>
            <a:endParaRPr lang="en-US" sz="1300" dirty="0"/>
          </a:p>
        </p:txBody>
      </p:sp>
      <p:sp>
        <p:nvSpPr>
          <p:cNvPr id="35" name="Text 28"/>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Finanza, assicurazioni, sanità, dispositivi, trasporti</a:t>
            </a:r>
            <a:endParaRPr lang="en-US" sz="1200" dirty="0"/>
          </a:p>
        </p:txBody>
      </p:sp>
      <p:sp>
        <p:nvSpPr>
          <p:cNvPr id="36" name="Responsabilità e prodotti"/>
          <p:cNvSpPr/>
          <p:nvPr/>
        </p:nvSpPr>
        <p:spPr>
          <a:xfrm>
            <a:off x="3261360" y="2514600"/>
            <a:ext cx="2621280" cy="1280160"/>
          </a:xfrm>
          <a:prstGeom prst="roundRect">
            <a:avLst>
              <a:gd name="adj" fmla="val 5714"/>
            </a:avLst>
          </a:prstGeom>
          <a:solidFill>
            <a:schemeClr val="bg2"/>
          </a:solidFill>
          <a:ln/>
        </p:spPr>
      </p:sp>
      <p:sp>
        <p:nvSpPr>
          <p:cNvPr id="37" name="cerchio FiAlertCircle"/>
          <p:cNvSpPr/>
          <p:nvPr/>
        </p:nvSpPr>
        <p:spPr>
          <a:xfrm>
            <a:off x="3425952" y="2679192"/>
            <a:ext cx="438912" cy="438912"/>
          </a:xfrm>
          <a:prstGeom prst="ellipse">
            <a:avLst/>
          </a:prstGeom>
          <a:solidFill>
            <a:schemeClr val="accent1"/>
          </a:solidFill>
          <a:ln/>
        </p:spPr>
      </p:sp>
      <p:pic>
        <p:nvPicPr>
          <p:cNvPr id="38" name="Image 4" descr="FiAlertCircle">    </p:cNvPr>
          <p:cNvPicPr>
            <a:picLocks noChangeAspect="1"/>
          </p:cNvPicPr>
          <p:nvPr/>
        </p:nvPicPr>
        <p:blipFill>
          <a:blip r:embed="rId5"/>
          <a:stretch>
            <a:fillRect/>
          </a:stretch>
        </p:blipFill>
        <p:spPr>
          <a:xfrm>
            <a:off x="3535680" y="2788920"/>
            <a:ext cx="219456" cy="219456"/>
          </a:xfrm>
          <a:prstGeom prst="rect">
            <a:avLst/>
          </a:prstGeom>
        </p:spPr>
      </p:pic>
      <p:sp>
        <p:nvSpPr>
          <p:cNvPr id="39" name="Text 31"/>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Responsabilità e prodotti</a:t>
            </a:r>
            <a:endParaRPr lang="en-US" sz="1300" dirty="0"/>
          </a:p>
        </p:txBody>
      </p:sp>
      <p:sp>
        <p:nvSpPr>
          <p:cNvPr id="40" name="Text 32"/>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Danni, sicurezza dei prodotti</a:t>
            </a:r>
            <a:endParaRPr lang="en-US" sz="1200" dirty="0"/>
          </a:p>
        </p:txBody>
      </p:sp>
      <p:sp>
        <p:nvSpPr>
          <p:cNvPr id="41" name="Cybersicurezza"/>
          <p:cNvSpPr/>
          <p:nvPr/>
        </p:nvSpPr>
        <p:spPr>
          <a:xfrm>
            <a:off x="6065520" y="2514600"/>
            <a:ext cx="2621280" cy="1280160"/>
          </a:xfrm>
          <a:prstGeom prst="roundRect">
            <a:avLst>
              <a:gd name="adj" fmla="val 5714"/>
            </a:avLst>
          </a:prstGeom>
          <a:solidFill>
            <a:schemeClr val="bg2"/>
          </a:solidFill>
          <a:ln/>
        </p:spPr>
      </p:sp>
      <p:sp>
        <p:nvSpPr>
          <p:cNvPr id="42" name="cerchio FiShield"/>
          <p:cNvSpPr/>
          <p:nvPr/>
        </p:nvSpPr>
        <p:spPr>
          <a:xfrm>
            <a:off x="6230112" y="2679192"/>
            <a:ext cx="438912" cy="438912"/>
          </a:xfrm>
          <a:prstGeom prst="ellipse">
            <a:avLst/>
          </a:prstGeom>
          <a:solidFill>
            <a:schemeClr val="accent1"/>
          </a:solidFill>
          <a:ln/>
        </p:spPr>
      </p:sp>
      <p:pic>
        <p:nvPicPr>
          <p:cNvPr id="43" name="Image 5" descr="FiShield">    </p:cNvPr>
          <p:cNvPicPr>
            <a:picLocks noChangeAspect="1"/>
          </p:cNvPicPr>
          <p:nvPr/>
        </p:nvPicPr>
        <p:blipFill>
          <a:blip r:embed="rId6"/>
          <a:stretch>
            <a:fillRect/>
          </a:stretch>
        </p:blipFill>
        <p:spPr>
          <a:xfrm>
            <a:off x="6339840" y="2788920"/>
            <a:ext cx="219456" cy="219456"/>
          </a:xfrm>
          <a:prstGeom prst="rect">
            <a:avLst/>
          </a:prstGeom>
        </p:spPr>
      </p:pic>
      <p:sp>
        <p:nvSpPr>
          <p:cNvPr id="44" name="Text 35"/>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Cybersicurezza</a:t>
            </a:r>
            <a:endParaRPr lang="en-US" sz="1300" dirty="0"/>
          </a:p>
        </p:txBody>
      </p:sp>
      <p:sp>
        <p:nvSpPr>
          <p:cNvPr id="45" name="Text 36"/>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Obblighi di sicurezza dei sistemi e delle reti</a:t>
            </a:r>
            <a:endParaRPr lang="en-US" sz="1200" dirty="0"/>
          </a:p>
        </p:txBody>
      </p:sp>
      <p:sp>
        <p:nvSpPr>
          <p:cNvPr id="46" name="messaggio"/>
          <p:cNvSpPr/>
          <p:nvPr/>
        </p:nvSpPr>
        <p:spPr>
          <a:xfrm>
            <a:off x="457200" y="3977640"/>
            <a:ext cx="8229600" cy="548640"/>
          </a:xfrm>
          <a:prstGeom prst="roundRect">
            <a:avLst>
              <a:gd name="adj" fmla="val 13333"/>
            </a:avLst>
          </a:prstGeom>
          <a:solidFill>
            <a:schemeClr val="tx1"/>
          </a:solidFill>
          <a:ln/>
        </p:spPr>
      </p:sp>
      <p:sp>
        <p:nvSpPr>
          <p:cNvPr id="47"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Non solo 'che cosa dice l'AI Act?', ma 'quali norme si applicano a questa attività?'.</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quadro italiano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riquadro Legge 23 settembre 2025, n. 132"/>
          <p:cNvSpPr/>
          <p:nvPr/>
        </p:nvSpPr>
        <p:spPr>
          <a:xfrm>
            <a:off x="457200" y="1051560"/>
            <a:ext cx="8229600" cy="731520"/>
          </a:xfrm>
          <a:prstGeom prst="roundRect">
            <a:avLst>
              <a:gd name="adj" fmla="val 10000"/>
            </a:avLst>
          </a:prstGeom>
          <a:solidFill>
            <a:schemeClr val="accent6"/>
          </a:solidFill>
          <a:ln/>
        </p:spPr>
      </p:sp>
      <p:sp>
        <p:nvSpPr>
          <p:cNvPr id="17" name="barra"/>
          <p:cNvSpPr/>
          <p:nvPr/>
        </p:nvSpPr>
        <p:spPr>
          <a:xfrm>
            <a:off x="457200" y="1161288"/>
            <a:ext cx="54864" cy="512064"/>
          </a:xfrm>
          <a:prstGeom prst="rect">
            <a:avLst/>
          </a:prstGeom>
          <a:solidFill>
            <a:schemeClr val="accent1"/>
          </a:solidFill>
          <a:ln/>
        </p:spPr>
      </p:sp>
      <p:sp>
        <p:nvSpPr>
          <p:cNvPr id="18" name="Text 15"/>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Legge 23 settembre 2025, n. 132</a:t>
            </a:r>
            <a:endParaRPr lang="en-US" sz="1100" dirty="0"/>
          </a:p>
        </p:txBody>
      </p:sp>
      <p:sp>
        <p:nvSpPr>
          <p:cNvPr id="19" name="Text 16"/>
          <p:cNvSpPr txBox="1"/>
          <p:nvPr/>
        </p:nvSpPr>
        <p:spPr>
          <a:xfrm>
            <a:off x="658368" y="1435608"/>
            <a:ext cx="7863840" cy="256032"/>
          </a:xfrm>
          <a:prstGeom prst="rect">
            <a:avLst/>
          </a:prstGeom>
          <a:noFill/>
          <a:ln/>
        </p:spPr>
        <p:txBody>
          <a:bodyPr wrap="square" lIns="0" tIns="0" rIns="0" bIns="0" rtlCol="0" anchor="t"/>
          <a:lstStyle/>
          <a:p>
            <a:pPr indent="0" marL="0">
              <a:buNone/>
            </a:pPr>
            <a:r>
              <a:rPr lang="en-US" sz="1300" dirty="0">
                <a:solidFill>
                  <a:schemeClr val="tx1"/>
                </a:solidFill>
              </a:rPr>
              <a:t>In vigore dal 10 ottobre 2025. Si affianca all'AI Act, senza sostituirlo. Decreti attuativi: verificarne lo stato.</a:t>
            </a:r>
            <a:endParaRPr lang="en-US" sz="1300" dirty="0"/>
          </a:p>
        </p:txBody>
      </p:sp>
      <p:sp>
        <p:nvSpPr>
          <p:cNvPr id="20" name="Autorità"/>
          <p:cNvSpPr/>
          <p:nvPr/>
        </p:nvSpPr>
        <p:spPr>
          <a:xfrm>
            <a:off x="457200" y="1920240"/>
            <a:ext cx="8229600" cy="384048"/>
          </a:xfrm>
          <a:prstGeom prst="roundRect">
            <a:avLst>
              <a:gd name="adj" fmla="val 19048"/>
            </a:avLst>
          </a:prstGeom>
          <a:solidFill>
            <a:schemeClr val="bg2"/>
          </a:solidFill>
          <a:ln/>
        </p:spPr>
      </p:sp>
      <p:sp>
        <p:nvSpPr>
          <p:cNvPr id="21" name="Text 18"/>
          <p:cNvSpPr txBox="1"/>
          <p:nvPr/>
        </p:nvSpPr>
        <p:spPr>
          <a:xfrm>
            <a:off x="594360" y="1920240"/>
            <a:ext cx="2103120" cy="384048"/>
          </a:xfrm>
          <a:prstGeom prst="rect">
            <a:avLst/>
          </a:prstGeom>
          <a:noFill/>
          <a:ln/>
        </p:spPr>
        <p:txBody>
          <a:bodyPr wrap="square" lIns="0" tIns="0" rIns="0" bIns="0" rtlCol="0" anchor="ctr"/>
          <a:lstStyle/>
          <a:p>
            <a:pPr indent="0" marL="0">
              <a:buNone/>
            </a:pPr>
            <a:r>
              <a:rPr lang="en-US" sz="1300" b="1" dirty="0">
                <a:solidFill>
                  <a:schemeClr val="accent1"/>
                </a:solidFill>
              </a:rPr>
              <a:t>Autorità</a:t>
            </a:r>
            <a:endParaRPr lang="en-US" sz="1300" dirty="0"/>
          </a:p>
        </p:txBody>
      </p:sp>
      <p:sp>
        <p:nvSpPr>
          <p:cNvPr id="22" name="Text 19"/>
          <p:cNvSpPr txBox="1"/>
          <p:nvPr/>
        </p:nvSpPr>
        <p:spPr>
          <a:xfrm>
            <a:off x="2697480" y="1920240"/>
            <a:ext cx="5852160" cy="384048"/>
          </a:xfrm>
          <a:prstGeom prst="rect">
            <a:avLst/>
          </a:prstGeom>
          <a:noFill/>
          <a:ln/>
        </p:spPr>
        <p:txBody>
          <a:bodyPr wrap="square" lIns="0" tIns="0" rIns="0" bIns="0" rtlCol="0" anchor="ctr"/>
          <a:lstStyle/>
          <a:p>
            <a:pPr indent="0" marL="0">
              <a:buNone/>
            </a:pPr>
            <a:r>
              <a:rPr lang="en-US" sz="1200" dirty="0">
                <a:solidFill>
                  <a:schemeClr val="tx1"/>
                </a:solidFill>
              </a:rPr>
              <a:t>AgID e ACN, con compiti diversi</a:t>
            </a:r>
            <a:endParaRPr lang="en-US" sz="1200" dirty="0"/>
          </a:p>
        </p:txBody>
      </p:sp>
      <p:sp>
        <p:nvSpPr>
          <p:cNvPr id="23" name="Lavoro"/>
          <p:cNvSpPr/>
          <p:nvPr/>
        </p:nvSpPr>
        <p:spPr>
          <a:xfrm>
            <a:off x="457200" y="2377440"/>
            <a:ext cx="8229600" cy="384048"/>
          </a:xfrm>
          <a:prstGeom prst="roundRect">
            <a:avLst>
              <a:gd name="adj" fmla="val 19048"/>
            </a:avLst>
          </a:prstGeom>
          <a:solidFill>
            <a:schemeClr val="bg1"/>
          </a:solidFill>
          <a:ln/>
        </p:spPr>
      </p:sp>
      <p:sp>
        <p:nvSpPr>
          <p:cNvPr id="24" name="Text 21"/>
          <p:cNvSpPr txBox="1"/>
          <p:nvPr/>
        </p:nvSpPr>
        <p:spPr>
          <a:xfrm>
            <a:off x="594360" y="2377440"/>
            <a:ext cx="2103120" cy="384048"/>
          </a:xfrm>
          <a:prstGeom prst="rect">
            <a:avLst/>
          </a:prstGeom>
          <a:noFill/>
          <a:ln/>
        </p:spPr>
        <p:txBody>
          <a:bodyPr wrap="square" lIns="0" tIns="0" rIns="0" bIns="0" rtlCol="0" anchor="ctr"/>
          <a:lstStyle/>
          <a:p>
            <a:pPr indent="0" marL="0">
              <a:buNone/>
            </a:pPr>
            <a:r>
              <a:rPr lang="en-US" sz="1300" b="1" dirty="0">
                <a:solidFill>
                  <a:schemeClr val="accent1"/>
                </a:solidFill>
              </a:rPr>
              <a:t>Lavoro</a:t>
            </a:r>
            <a:endParaRPr lang="en-US" sz="1300" dirty="0"/>
          </a:p>
        </p:txBody>
      </p:sp>
      <p:sp>
        <p:nvSpPr>
          <p:cNvPr id="25" name="Text 22"/>
          <p:cNvSpPr txBox="1"/>
          <p:nvPr/>
        </p:nvSpPr>
        <p:spPr>
          <a:xfrm>
            <a:off x="2697480" y="2377440"/>
            <a:ext cx="5852160" cy="384048"/>
          </a:xfrm>
          <a:prstGeom prst="rect">
            <a:avLst/>
          </a:prstGeom>
          <a:noFill/>
          <a:ln/>
        </p:spPr>
        <p:txBody>
          <a:bodyPr wrap="square" lIns="0" tIns="0" rIns="0" bIns="0" rtlCol="0" anchor="ctr"/>
          <a:lstStyle/>
          <a:p>
            <a:pPr indent="0" marL="0">
              <a:buNone/>
            </a:pPr>
            <a:r>
              <a:rPr lang="en-US" sz="1200" dirty="0">
                <a:solidFill>
                  <a:schemeClr val="tx1"/>
                </a:solidFill>
              </a:rPr>
              <a:t>Sicurezza, affidabilità, trasparenza; informazione ai lavoratori</a:t>
            </a:r>
            <a:endParaRPr lang="en-US" sz="1200" dirty="0"/>
          </a:p>
        </p:txBody>
      </p:sp>
      <p:sp>
        <p:nvSpPr>
          <p:cNvPr id="26" name="Professioni intellettuali"/>
          <p:cNvSpPr/>
          <p:nvPr/>
        </p:nvSpPr>
        <p:spPr>
          <a:xfrm>
            <a:off x="457200" y="2834640"/>
            <a:ext cx="8229600" cy="384048"/>
          </a:xfrm>
          <a:prstGeom prst="roundRect">
            <a:avLst>
              <a:gd name="adj" fmla="val 19048"/>
            </a:avLst>
          </a:prstGeom>
          <a:solidFill>
            <a:schemeClr val="bg2"/>
          </a:solidFill>
          <a:ln/>
        </p:spPr>
      </p:sp>
      <p:sp>
        <p:nvSpPr>
          <p:cNvPr id="27" name="Text 24"/>
          <p:cNvSpPr txBox="1"/>
          <p:nvPr/>
        </p:nvSpPr>
        <p:spPr>
          <a:xfrm>
            <a:off x="594360" y="2834640"/>
            <a:ext cx="2103120" cy="384048"/>
          </a:xfrm>
          <a:prstGeom prst="rect">
            <a:avLst/>
          </a:prstGeom>
          <a:noFill/>
          <a:ln/>
        </p:spPr>
        <p:txBody>
          <a:bodyPr wrap="square" lIns="0" tIns="0" rIns="0" bIns="0" rtlCol="0" anchor="ctr"/>
          <a:lstStyle/>
          <a:p>
            <a:pPr indent="0" marL="0">
              <a:buNone/>
            </a:pPr>
            <a:r>
              <a:rPr lang="en-US" sz="1300" b="1" dirty="0">
                <a:solidFill>
                  <a:schemeClr val="accent1"/>
                </a:solidFill>
              </a:rPr>
              <a:t>Professioni intellettuali</a:t>
            </a:r>
            <a:endParaRPr lang="en-US" sz="1300" dirty="0"/>
          </a:p>
        </p:txBody>
      </p:sp>
      <p:sp>
        <p:nvSpPr>
          <p:cNvPr id="28" name="Text 25"/>
          <p:cNvSpPr txBox="1"/>
          <p:nvPr/>
        </p:nvSpPr>
        <p:spPr>
          <a:xfrm>
            <a:off x="2697480" y="2834640"/>
            <a:ext cx="5852160" cy="384048"/>
          </a:xfrm>
          <a:prstGeom prst="rect">
            <a:avLst/>
          </a:prstGeom>
          <a:noFill/>
          <a:ln/>
        </p:spPr>
        <p:txBody>
          <a:bodyPr wrap="square" lIns="0" tIns="0" rIns="0" bIns="0" rtlCol="0" anchor="ctr"/>
          <a:lstStyle/>
          <a:p>
            <a:pPr indent="0" marL="0">
              <a:buNone/>
            </a:pPr>
            <a:r>
              <a:rPr lang="en-US" sz="1200" dirty="0">
                <a:solidFill>
                  <a:schemeClr val="tx1"/>
                </a:solidFill>
              </a:rPr>
              <a:t>AI per attività strumentali e di supporto; informazione ai clienti</a:t>
            </a:r>
            <a:endParaRPr lang="en-US" sz="1200" dirty="0"/>
          </a:p>
        </p:txBody>
      </p:sp>
      <p:sp>
        <p:nvSpPr>
          <p:cNvPr id="29" name="Sanità"/>
          <p:cNvSpPr/>
          <p:nvPr/>
        </p:nvSpPr>
        <p:spPr>
          <a:xfrm>
            <a:off x="457200" y="3291840"/>
            <a:ext cx="8229600" cy="384048"/>
          </a:xfrm>
          <a:prstGeom prst="roundRect">
            <a:avLst>
              <a:gd name="adj" fmla="val 19048"/>
            </a:avLst>
          </a:prstGeom>
          <a:solidFill>
            <a:schemeClr val="bg1"/>
          </a:solidFill>
          <a:ln/>
        </p:spPr>
      </p:sp>
      <p:sp>
        <p:nvSpPr>
          <p:cNvPr id="30" name="Text 27"/>
          <p:cNvSpPr txBox="1"/>
          <p:nvPr/>
        </p:nvSpPr>
        <p:spPr>
          <a:xfrm>
            <a:off x="594360" y="3291840"/>
            <a:ext cx="2103120" cy="384048"/>
          </a:xfrm>
          <a:prstGeom prst="rect">
            <a:avLst/>
          </a:prstGeom>
          <a:noFill/>
          <a:ln/>
        </p:spPr>
        <p:txBody>
          <a:bodyPr wrap="square" lIns="0" tIns="0" rIns="0" bIns="0" rtlCol="0" anchor="ctr"/>
          <a:lstStyle/>
          <a:p>
            <a:pPr indent="0" marL="0">
              <a:buNone/>
            </a:pPr>
            <a:r>
              <a:rPr lang="en-US" sz="1300" b="1" dirty="0">
                <a:solidFill>
                  <a:schemeClr val="accent1"/>
                </a:solidFill>
              </a:rPr>
              <a:t>Sanità</a:t>
            </a:r>
            <a:endParaRPr lang="en-US" sz="1300" dirty="0"/>
          </a:p>
        </p:txBody>
      </p:sp>
      <p:sp>
        <p:nvSpPr>
          <p:cNvPr id="31" name="Text 28"/>
          <p:cNvSpPr txBox="1"/>
          <p:nvPr/>
        </p:nvSpPr>
        <p:spPr>
          <a:xfrm>
            <a:off x="2697480" y="3291840"/>
            <a:ext cx="5852160" cy="384048"/>
          </a:xfrm>
          <a:prstGeom prst="rect">
            <a:avLst/>
          </a:prstGeom>
          <a:noFill/>
          <a:ln/>
        </p:spPr>
        <p:txBody>
          <a:bodyPr wrap="square" lIns="0" tIns="0" rIns="0" bIns="0" rtlCol="0" anchor="ctr"/>
          <a:lstStyle/>
          <a:p>
            <a:pPr indent="0" marL="0">
              <a:buNone/>
            </a:pPr>
            <a:r>
              <a:rPr lang="en-US" sz="1200" dirty="0">
                <a:solidFill>
                  <a:schemeClr val="tx1"/>
                </a:solidFill>
              </a:rPr>
              <a:t>La decisione resta al medico</a:t>
            </a:r>
            <a:endParaRPr lang="en-US" sz="1200" dirty="0"/>
          </a:p>
        </p:txBody>
      </p:sp>
      <p:sp>
        <p:nvSpPr>
          <p:cNvPr id="32" name="Diritto d'autore"/>
          <p:cNvSpPr/>
          <p:nvPr/>
        </p:nvSpPr>
        <p:spPr>
          <a:xfrm>
            <a:off x="457200" y="3749040"/>
            <a:ext cx="8229600" cy="384048"/>
          </a:xfrm>
          <a:prstGeom prst="roundRect">
            <a:avLst>
              <a:gd name="adj" fmla="val 19048"/>
            </a:avLst>
          </a:prstGeom>
          <a:solidFill>
            <a:schemeClr val="bg2"/>
          </a:solidFill>
          <a:ln/>
        </p:spPr>
      </p:sp>
      <p:sp>
        <p:nvSpPr>
          <p:cNvPr id="33" name="Text 30"/>
          <p:cNvSpPr txBox="1"/>
          <p:nvPr/>
        </p:nvSpPr>
        <p:spPr>
          <a:xfrm>
            <a:off x="594360" y="3749040"/>
            <a:ext cx="2103120" cy="384048"/>
          </a:xfrm>
          <a:prstGeom prst="rect">
            <a:avLst/>
          </a:prstGeom>
          <a:noFill/>
          <a:ln/>
        </p:spPr>
        <p:txBody>
          <a:bodyPr wrap="square" lIns="0" tIns="0" rIns="0" bIns="0" rtlCol="0" anchor="ctr"/>
          <a:lstStyle/>
          <a:p>
            <a:pPr indent="0" marL="0">
              <a:buNone/>
            </a:pPr>
            <a:r>
              <a:rPr lang="en-US" sz="1300" b="1" dirty="0">
                <a:solidFill>
                  <a:schemeClr val="accent1"/>
                </a:solidFill>
              </a:rPr>
              <a:t>Diritto d'autore</a:t>
            </a:r>
            <a:endParaRPr lang="en-US" sz="1300" dirty="0"/>
          </a:p>
        </p:txBody>
      </p:sp>
      <p:sp>
        <p:nvSpPr>
          <p:cNvPr id="34" name="Text 31"/>
          <p:cNvSpPr txBox="1"/>
          <p:nvPr/>
        </p:nvSpPr>
        <p:spPr>
          <a:xfrm>
            <a:off x="2697480" y="3749040"/>
            <a:ext cx="5852160" cy="384048"/>
          </a:xfrm>
          <a:prstGeom prst="rect">
            <a:avLst/>
          </a:prstGeom>
          <a:noFill/>
          <a:ln/>
        </p:spPr>
        <p:txBody>
          <a:bodyPr wrap="square" lIns="0" tIns="0" rIns="0" bIns="0" rtlCol="0" anchor="ctr"/>
          <a:lstStyle/>
          <a:p>
            <a:pPr indent="0" marL="0">
              <a:buNone/>
            </a:pPr>
            <a:r>
              <a:rPr lang="en-US" sz="1200" dirty="0">
                <a:solidFill>
                  <a:schemeClr val="tx1"/>
                </a:solidFill>
              </a:rPr>
              <a:t>Tutelate le opere dell'ingegno umano, anche con ausilio dell'AI</a:t>
            </a:r>
            <a:endParaRPr lang="en-US" sz="1200" dirty="0"/>
          </a:p>
        </p:txBody>
      </p:sp>
      <p:sp>
        <p:nvSpPr>
          <p:cNvPr id="35" name="Text 32"/>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100" i="1" dirty="0">
                <a:solidFill>
                  <a:schemeClr val="accent5"/>
                </a:solidFill>
              </a:rPr>
              <a:t>Sintesi indicativa, da verificare sul testo vigente in Gazzetta Ufficiale.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obbliga, che cosa orienta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Atti vincolanti"/>
          <p:cNvSpPr/>
          <p:nvPr/>
        </p:nvSpPr>
        <p:spPr>
          <a:xfrm>
            <a:off x="457200" y="1051560"/>
            <a:ext cx="1965960" cy="2194560"/>
          </a:xfrm>
          <a:prstGeom prst="roundRect">
            <a:avLst>
              <a:gd name="adj" fmla="val 3721"/>
            </a:avLst>
          </a:prstGeom>
          <a:solidFill>
            <a:srgbClr val="2E7D7A"/>
          </a:solidFill>
          <a:ln/>
        </p:spPr>
      </p:sp>
      <p:sp>
        <p:nvSpPr>
          <p:cNvPr id="17" name="Text 14"/>
          <p:cNvSpPr txBox="1"/>
          <p:nvPr/>
        </p:nvSpPr>
        <p:spPr>
          <a:xfrm>
            <a:off x="566928" y="1115568"/>
            <a:ext cx="1746504" cy="411480"/>
          </a:xfrm>
          <a:prstGeom prst="rect">
            <a:avLst/>
          </a:prstGeom>
          <a:noFill/>
          <a:ln/>
        </p:spPr>
        <p:txBody>
          <a:bodyPr wrap="square" lIns="0" tIns="0" rIns="0" bIns="0" rtlCol="0" anchor="t"/>
          <a:lstStyle/>
          <a:p>
            <a:pPr indent="0" marL="0">
              <a:buNone/>
            </a:pPr>
            <a:r>
              <a:rPr lang="en-US" sz="1400" b="1" dirty="0">
                <a:solidFill>
                  <a:schemeClr val="bg1"/>
                </a:solidFill>
              </a:rPr>
              <a:t>Atti vincolanti</a:t>
            </a:r>
            <a:endParaRPr lang="en-US" sz="1400" dirty="0"/>
          </a:p>
        </p:txBody>
      </p:sp>
      <p:sp>
        <p:nvSpPr>
          <p:cNvPr id="18" name="Text 15"/>
          <p:cNvSpPr txBox="1"/>
          <p:nvPr/>
        </p:nvSpPr>
        <p:spPr>
          <a:xfrm>
            <a:off x="566928" y="1554480"/>
            <a:ext cx="1746504" cy="960120"/>
          </a:xfrm>
          <a:prstGeom prst="rect">
            <a:avLst/>
          </a:prstGeom>
          <a:noFill/>
          <a:ln/>
        </p:spPr>
        <p:txBody>
          <a:bodyPr wrap="square" lIns="0" tIns="0" rIns="0" bIns="0" rtlCol="0" anchor="t"/>
          <a:lstStyle/>
          <a:p>
            <a:pPr indent="0" marL="0">
              <a:buNone/>
            </a:pPr>
            <a:r>
              <a:rPr lang="en-US" sz="1100" dirty="0">
                <a:solidFill>
                  <a:schemeClr val="bg1"/>
                </a:solidFill>
              </a:rPr>
              <a:t>Regolamenti UE, leggi nazionali</a:t>
            </a:r>
            <a:endParaRPr lang="en-US" sz="1100" dirty="0"/>
          </a:p>
        </p:txBody>
      </p:sp>
      <p:sp>
        <p:nvSpPr>
          <p:cNvPr id="19" name="Text 16"/>
          <p:cNvSpPr txBox="1"/>
          <p:nvPr/>
        </p:nvSpPr>
        <p:spPr>
          <a:xfrm>
            <a:off x="566928" y="2560320"/>
            <a:ext cx="1746504" cy="594360"/>
          </a:xfrm>
          <a:prstGeom prst="rect">
            <a:avLst/>
          </a:prstGeom>
          <a:noFill/>
          <a:ln/>
        </p:spPr>
        <p:txBody>
          <a:bodyPr wrap="square" lIns="0" tIns="0" rIns="0" bIns="0" rtlCol="0" anchor="t"/>
          <a:lstStyle/>
          <a:p>
            <a:pPr indent="0" marL="0">
              <a:buNone/>
            </a:pPr>
            <a:r>
              <a:rPr lang="en-US" sz="1200" b="1" dirty="0">
                <a:solidFill>
                  <a:schemeClr val="accent6"/>
                </a:solidFill>
              </a:rPr>
              <a:t>Obbligano</a:t>
            </a:r>
            <a:endParaRPr lang="en-US" sz="1200" dirty="0"/>
          </a:p>
        </p:txBody>
      </p:sp>
      <p:sp>
        <p:nvSpPr>
          <p:cNvPr id="20" name="Orientamenti"/>
          <p:cNvSpPr/>
          <p:nvPr/>
        </p:nvSpPr>
        <p:spPr>
          <a:xfrm>
            <a:off x="2560320" y="1051560"/>
            <a:ext cx="1965960" cy="2194560"/>
          </a:xfrm>
          <a:prstGeom prst="roundRect">
            <a:avLst>
              <a:gd name="adj" fmla="val 3721"/>
            </a:avLst>
          </a:prstGeom>
          <a:solidFill>
            <a:schemeClr val="accent6"/>
          </a:solidFill>
          <a:ln/>
        </p:spPr>
      </p:sp>
      <p:sp>
        <p:nvSpPr>
          <p:cNvPr id="21" name="Text 18"/>
          <p:cNvSpPr txBox="1"/>
          <p:nvPr/>
        </p:nvSpPr>
        <p:spPr>
          <a:xfrm>
            <a:off x="267004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Orientamenti</a:t>
            </a:r>
            <a:endParaRPr lang="en-US" sz="1400" dirty="0"/>
          </a:p>
        </p:txBody>
      </p:sp>
      <p:sp>
        <p:nvSpPr>
          <p:cNvPr id="22" name="Text 19"/>
          <p:cNvSpPr txBox="1"/>
          <p:nvPr/>
        </p:nvSpPr>
        <p:spPr>
          <a:xfrm>
            <a:off x="2670048" y="1554480"/>
            <a:ext cx="1746504" cy="960120"/>
          </a:xfrm>
          <a:prstGeom prst="rect">
            <a:avLst/>
          </a:prstGeom>
          <a:noFill/>
          <a:ln/>
        </p:spPr>
        <p:txBody>
          <a:bodyPr wrap="square" lIns="0" tIns="0" rIns="0" bIns="0" rtlCol="0" anchor="t"/>
          <a:lstStyle/>
          <a:p>
            <a:pPr indent="0" marL="0">
              <a:buNone/>
            </a:pPr>
            <a:r>
              <a:rPr lang="en-US" sz="1100" dirty="0">
                <a:solidFill>
                  <a:schemeClr val="tx1"/>
                </a:solidFill>
              </a:rPr>
              <a:t>Linee guida della Commissione, codici di buone pratiche, pareri</a:t>
            </a:r>
            <a:endParaRPr lang="en-US" sz="1100" dirty="0"/>
          </a:p>
        </p:txBody>
      </p:sp>
      <p:sp>
        <p:nvSpPr>
          <p:cNvPr id="23" name="Text 20"/>
          <p:cNvSpPr txBox="1"/>
          <p:nvPr/>
        </p:nvSpPr>
        <p:spPr>
          <a:xfrm>
            <a:off x="2670048" y="2560320"/>
            <a:ext cx="1746504" cy="594360"/>
          </a:xfrm>
          <a:prstGeom prst="rect">
            <a:avLst/>
          </a:prstGeom>
          <a:noFill/>
          <a:ln/>
        </p:spPr>
        <p:txBody>
          <a:bodyPr wrap="square" lIns="0" tIns="0" rIns="0" bIns="0" rtlCol="0" anchor="t"/>
          <a:lstStyle/>
          <a:p>
            <a:pPr indent="0" marL="0">
              <a:buNone/>
            </a:pPr>
            <a:r>
              <a:rPr lang="en-US" sz="1200" b="1" dirty="0">
                <a:solidFill>
                  <a:schemeClr val="accent5"/>
                </a:solidFill>
              </a:rPr>
              <a:t>Indicano l'interpretazione</a:t>
            </a:r>
            <a:endParaRPr lang="en-US" sz="1200" dirty="0"/>
          </a:p>
        </p:txBody>
      </p:sp>
      <p:sp>
        <p:nvSpPr>
          <p:cNvPr id="24" name="Standard tecnici"/>
          <p:cNvSpPr/>
          <p:nvPr/>
        </p:nvSpPr>
        <p:spPr>
          <a:xfrm>
            <a:off x="4663440" y="1051560"/>
            <a:ext cx="1965960" cy="2194560"/>
          </a:xfrm>
          <a:prstGeom prst="roundRect">
            <a:avLst>
              <a:gd name="adj" fmla="val 3721"/>
            </a:avLst>
          </a:prstGeom>
          <a:solidFill>
            <a:srgbClr val="D9ECEA"/>
          </a:solidFill>
          <a:ln/>
        </p:spPr>
      </p:sp>
      <p:sp>
        <p:nvSpPr>
          <p:cNvPr id="25" name="Text 22"/>
          <p:cNvSpPr txBox="1"/>
          <p:nvPr/>
        </p:nvSpPr>
        <p:spPr>
          <a:xfrm>
            <a:off x="477316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Standard tecnici</a:t>
            </a:r>
            <a:endParaRPr lang="en-US" sz="1400" dirty="0"/>
          </a:p>
        </p:txBody>
      </p:sp>
      <p:sp>
        <p:nvSpPr>
          <p:cNvPr id="26" name="Text 23"/>
          <p:cNvSpPr txBox="1"/>
          <p:nvPr/>
        </p:nvSpPr>
        <p:spPr>
          <a:xfrm>
            <a:off x="4773168" y="1554480"/>
            <a:ext cx="1746504" cy="960120"/>
          </a:xfrm>
          <a:prstGeom prst="rect">
            <a:avLst/>
          </a:prstGeom>
          <a:noFill/>
          <a:ln/>
        </p:spPr>
        <p:txBody>
          <a:bodyPr wrap="square" lIns="0" tIns="0" rIns="0" bIns="0" rtlCol="0" anchor="t"/>
          <a:lstStyle/>
          <a:p>
            <a:pPr indent="0" marL="0">
              <a:buNone/>
            </a:pPr>
            <a:r>
              <a:rPr lang="en-US" sz="1100" dirty="0">
                <a:solidFill>
                  <a:schemeClr val="tx1"/>
                </a:solidFill>
              </a:rPr>
              <a:t>ISO/IEC 42001:2023; standard armonizzati: verificarne lo stato</a:t>
            </a:r>
            <a:endParaRPr lang="en-US" sz="1100" dirty="0"/>
          </a:p>
        </p:txBody>
      </p:sp>
      <p:sp>
        <p:nvSpPr>
          <p:cNvPr id="27" name="Text 24"/>
          <p:cNvSpPr txBox="1"/>
          <p:nvPr/>
        </p:nvSpPr>
        <p:spPr>
          <a:xfrm>
            <a:off x="4773168" y="2560320"/>
            <a:ext cx="1746504" cy="594360"/>
          </a:xfrm>
          <a:prstGeom prst="rect">
            <a:avLst/>
          </a:prstGeom>
          <a:noFill/>
          <a:ln/>
        </p:spPr>
        <p:txBody>
          <a:bodyPr wrap="square" lIns="0" tIns="0" rIns="0" bIns="0" rtlCol="0" anchor="t"/>
          <a:lstStyle/>
          <a:p>
            <a:pPr indent="0" marL="0">
              <a:buNone/>
            </a:pPr>
            <a:r>
              <a:rPr lang="en-US" sz="1200" b="1" dirty="0">
                <a:solidFill>
                  <a:schemeClr val="accent5"/>
                </a:solidFill>
              </a:rPr>
              <a:t>Volontari, aiutano a dimostrare</a:t>
            </a:r>
            <a:endParaRPr lang="en-US" sz="1200" dirty="0"/>
          </a:p>
        </p:txBody>
      </p:sp>
      <p:sp>
        <p:nvSpPr>
          <p:cNvPr id="28" name="Policy interne"/>
          <p:cNvSpPr/>
          <p:nvPr/>
        </p:nvSpPr>
        <p:spPr>
          <a:xfrm>
            <a:off x="6766560" y="1051560"/>
            <a:ext cx="1965960" cy="2194560"/>
          </a:xfrm>
          <a:prstGeom prst="roundRect">
            <a:avLst>
              <a:gd name="adj" fmla="val 3721"/>
            </a:avLst>
          </a:prstGeom>
          <a:solidFill>
            <a:schemeClr val="bg2"/>
          </a:solidFill>
          <a:ln/>
        </p:spPr>
      </p:sp>
      <p:sp>
        <p:nvSpPr>
          <p:cNvPr id="29" name="Text 26"/>
          <p:cNvSpPr txBox="1"/>
          <p:nvPr/>
        </p:nvSpPr>
        <p:spPr>
          <a:xfrm>
            <a:off x="687628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Policy interne</a:t>
            </a:r>
            <a:endParaRPr lang="en-US" sz="1400" dirty="0"/>
          </a:p>
        </p:txBody>
      </p:sp>
      <p:sp>
        <p:nvSpPr>
          <p:cNvPr id="30" name="Text 27"/>
          <p:cNvSpPr txBox="1"/>
          <p:nvPr/>
        </p:nvSpPr>
        <p:spPr>
          <a:xfrm>
            <a:off x="6876288" y="1554480"/>
            <a:ext cx="1746504" cy="960120"/>
          </a:xfrm>
          <a:prstGeom prst="rect">
            <a:avLst/>
          </a:prstGeom>
          <a:noFill/>
          <a:ln/>
        </p:spPr>
        <p:txBody>
          <a:bodyPr wrap="square" lIns="0" tIns="0" rIns="0" bIns="0" rtlCol="0" anchor="t"/>
          <a:lstStyle/>
          <a:p>
            <a:pPr indent="0" marL="0">
              <a:buNone/>
            </a:pPr>
            <a:r>
              <a:rPr lang="en-US" sz="1100" dirty="0">
                <a:solidFill>
                  <a:schemeClr val="tx1"/>
                </a:solidFill>
              </a:rPr>
              <a:t>Regole dell'organizzazione</a:t>
            </a:r>
            <a:endParaRPr lang="en-US" sz="1100" dirty="0"/>
          </a:p>
        </p:txBody>
      </p:sp>
      <p:sp>
        <p:nvSpPr>
          <p:cNvPr id="31" name="Text 28"/>
          <p:cNvSpPr txBox="1"/>
          <p:nvPr/>
        </p:nvSpPr>
        <p:spPr>
          <a:xfrm>
            <a:off x="6876288" y="2560320"/>
            <a:ext cx="1746504" cy="594360"/>
          </a:xfrm>
          <a:prstGeom prst="rect">
            <a:avLst/>
          </a:prstGeom>
          <a:noFill/>
          <a:ln/>
        </p:spPr>
        <p:txBody>
          <a:bodyPr wrap="square" lIns="0" tIns="0" rIns="0" bIns="0" rtlCol="0" anchor="t"/>
          <a:lstStyle/>
          <a:p>
            <a:pPr indent="0" marL="0">
              <a:buNone/>
            </a:pPr>
            <a:r>
              <a:rPr lang="en-US" sz="1200" b="1" dirty="0">
                <a:solidFill>
                  <a:schemeClr val="accent5"/>
                </a:solidFill>
              </a:rPr>
              <a:t>Vincolano chi vi lavora</a:t>
            </a:r>
            <a:endParaRPr lang="en-US" sz="1200" dirty="0"/>
          </a:p>
        </p:txBody>
      </p:sp>
      <p:sp>
        <p:nvSpPr>
          <p:cNvPr id="32" name="messaggio"/>
          <p:cNvSpPr/>
          <p:nvPr/>
        </p:nvSpPr>
        <p:spPr>
          <a:xfrm>
            <a:off x="457200" y="3429000"/>
            <a:ext cx="8229600" cy="868680"/>
          </a:xfrm>
          <a:prstGeom prst="roundRect">
            <a:avLst>
              <a:gd name="adj" fmla="val 8421"/>
            </a:avLst>
          </a:prstGeom>
          <a:solidFill>
            <a:schemeClr val="tx1"/>
          </a:solidFill>
          <a:ln/>
        </p:spPr>
      </p:sp>
      <p:sp>
        <p:nvSpPr>
          <p:cNvPr id="33" name="Text 30"/>
          <p:cNvSpPr txBox="1"/>
          <p:nvPr/>
        </p:nvSpPr>
        <p:spPr>
          <a:xfrm>
            <a:off x="640080" y="3429000"/>
            <a:ext cx="7863840" cy="868680"/>
          </a:xfrm>
          <a:prstGeom prst="rect">
            <a:avLst/>
          </a:prstGeom>
          <a:noFill/>
          <a:ln/>
        </p:spPr>
        <p:txBody>
          <a:bodyPr wrap="square" lIns="0" tIns="0" rIns="0" bIns="0" rtlCol="0" anchor="ctr"/>
          <a:lstStyle/>
          <a:p>
            <a:pPr indent="0" marL="0">
              <a:buNone/>
            </a:pPr>
            <a:r>
              <a:rPr lang="en-US" sz="1400" dirty="0">
                <a:solidFill>
                  <a:schemeClr val="bg1"/>
                </a:solidFill>
              </a:rPr>
              <a:t>Per gli obblighi, le fonti ufficiali: EUR-Lex, Commissione europea, Gazzetta Ufficiale. Non le sintesi, compresa questa.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Act è centrale, ma non sostituisce le altre norme applicabili: GDPR, lavoro, consumatori, diritto d'autore, discipline settoriali, legge nazionale.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18.2  ·  Il quadro normativo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L'approccio basato sul rischio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regime applicabile dipende dalla finalità e dalla qualificazione giuridica, non soltanto dalla presenza di un modello avanzato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logica della piramide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atiche vietate"/>
          <p:cNvSpPr/>
          <p:nvPr/>
        </p:nvSpPr>
        <p:spPr>
          <a:xfrm>
            <a:off x="2286000" y="1051560"/>
            <a:ext cx="2743200" cy="621792"/>
          </a:xfrm>
          <a:prstGeom prst="roundRect">
            <a:avLst>
              <a:gd name="adj" fmla="val 11765"/>
            </a:avLst>
          </a:prstGeom>
          <a:solidFill>
            <a:srgbClr val="A86F1C"/>
          </a:solidFill>
          <a:ln/>
        </p:spPr>
      </p:sp>
      <p:sp>
        <p:nvSpPr>
          <p:cNvPr id="17" name="Text 14"/>
          <p:cNvSpPr txBox="1"/>
          <p:nvPr/>
        </p:nvSpPr>
        <p:spPr>
          <a:xfrm>
            <a:off x="2377440" y="1051560"/>
            <a:ext cx="2560320" cy="621792"/>
          </a:xfrm>
          <a:prstGeom prst="rect">
            <a:avLst/>
          </a:prstGeom>
          <a:noFill/>
          <a:ln/>
        </p:spPr>
        <p:txBody>
          <a:bodyPr wrap="square" lIns="0" tIns="0" rIns="0" bIns="0" rtlCol="0" anchor="ctr"/>
          <a:lstStyle/>
          <a:p>
            <a:pPr algn="ctr" indent="0" marL="0">
              <a:buNone/>
            </a:pPr>
            <a:r>
              <a:rPr lang="en-US" sz="1100" b="1" dirty="0">
                <a:solidFill>
                  <a:schemeClr val="bg1"/>
                </a:solidFill>
              </a:rPr>
              <a:t>Pratiche vietate:  Rischio inaccettabile: non consentite</a:t>
            </a:r>
            <a:endParaRPr lang="en-US" sz="1100" dirty="0"/>
          </a:p>
        </p:txBody>
      </p:sp>
      <p:sp>
        <p:nvSpPr>
          <p:cNvPr id="18" name="Alto rischio"/>
          <p:cNvSpPr/>
          <p:nvPr/>
        </p:nvSpPr>
        <p:spPr>
          <a:xfrm>
            <a:off x="1737360" y="1737360"/>
            <a:ext cx="3840480" cy="621792"/>
          </a:xfrm>
          <a:prstGeom prst="roundRect">
            <a:avLst>
              <a:gd name="adj" fmla="val 11765"/>
            </a:avLst>
          </a:prstGeom>
          <a:solidFill>
            <a:srgbClr val="2E7D7A"/>
          </a:solidFill>
          <a:ln/>
        </p:spPr>
      </p:sp>
      <p:sp>
        <p:nvSpPr>
          <p:cNvPr id="19" name="Text 16"/>
          <p:cNvSpPr txBox="1"/>
          <p:nvPr/>
        </p:nvSpPr>
        <p:spPr>
          <a:xfrm>
            <a:off x="1828800" y="1737360"/>
            <a:ext cx="3657600" cy="621792"/>
          </a:xfrm>
          <a:prstGeom prst="rect">
            <a:avLst/>
          </a:prstGeom>
          <a:noFill/>
          <a:ln/>
        </p:spPr>
        <p:txBody>
          <a:bodyPr wrap="square" lIns="0" tIns="0" rIns="0" bIns="0" rtlCol="0" anchor="ctr"/>
          <a:lstStyle/>
          <a:p>
            <a:pPr algn="ctr" indent="0" marL="0">
              <a:buNone/>
            </a:pPr>
            <a:r>
              <a:rPr lang="en-US" sz="1200" b="1" dirty="0">
                <a:solidFill>
                  <a:schemeClr val="bg1"/>
                </a:solidFill>
              </a:rPr>
              <a:t>Alto rischio:  Consentiti, con obblighi articolati</a:t>
            </a:r>
            <a:endParaRPr lang="en-US" sz="1200" dirty="0"/>
          </a:p>
        </p:txBody>
      </p:sp>
      <p:sp>
        <p:nvSpPr>
          <p:cNvPr id="20" name="Trasparenza"/>
          <p:cNvSpPr/>
          <p:nvPr/>
        </p:nvSpPr>
        <p:spPr>
          <a:xfrm>
            <a:off x="1188720" y="2423160"/>
            <a:ext cx="4937760" cy="621792"/>
          </a:xfrm>
          <a:prstGeom prst="roundRect">
            <a:avLst>
              <a:gd name="adj" fmla="val 11765"/>
            </a:avLst>
          </a:prstGeom>
          <a:solidFill>
            <a:srgbClr val="D9ECEA"/>
          </a:solidFill>
          <a:ln/>
        </p:spPr>
      </p:sp>
      <p:sp>
        <p:nvSpPr>
          <p:cNvPr id="21" name="Text 18"/>
          <p:cNvSpPr txBox="1"/>
          <p:nvPr/>
        </p:nvSpPr>
        <p:spPr>
          <a:xfrm>
            <a:off x="1280160" y="2423160"/>
            <a:ext cx="4754880" cy="621792"/>
          </a:xfrm>
          <a:prstGeom prst="rect">
            <a:avLst/>
          </a:prstGeom>
          <a:noFill/>
          <a:ln/>
        </p:spPr>
        <p:txBody>
          <a:bodyPr wrap="square" lIns="0" tIns="0" rIns="0" bIns="0" rtlCol="0" anchor="ctr"/>
          <a:lstStyle/>
          <a:p>
            <a:pPr algn="ctr" indent="0" marL="0">
              <a:buNone/>
            </a:pPr>
            <a:r>
              <a:rPr lang="en-US" sz="1200" b="1" dirty="0">
                <a:solidFill>
                  <a:schemeClr val="tx1"/>
                </a:solidFill>
              </a:rPr>
              <a:t>Trasparenza:  Consentiti, con obblighi di informazione</a:t>
            </a:r>
            <a:endParaRPr lang="en-US" sz="1200" dirty="0"/>
          </a:p>
        </p:txBody>
      </p:sp>
      <p:sp>
        <p:nvSpPr>
          <p:cNvPr id="22" name="Rischio minimo"/>
          <p:cNvSpPr/>
          <p:nvPr/>
        </p:nvSpPr>
        <p:spPr>
          <a:xfrm>
            <a:off x="457200" y="3108960"/>
            <a:ext cx="6400800" cy="621792"/>
          </a:xfrm>
          <a:prstGeom prst="roundRect">
            <a:avLst>
              <a:gd name="adj" fmla="val 11765"/>
            </a:avLst>
          </a:prstGeom>
          <a:solidFill>
            <a:schemeClr val="bg2"/>
          </a:solidFill>
          <a:ln/>
        </p:spPr>
      </p:sp>
      <p:sp>
        <p:nvSpPr>
          <p:cNvPr id="23" name="Text 20"/>
          <p:cNvSpPr txBox="1"/>
          <p:nvPr/>
        </p:nvSpPr>
        <p:spPr>
          <a:xfrm>
            <a:off x="548640" y="3108960"/>
            <a:ext cx="6217920" cy="621792"/>
          </a:xfrm>
          <a:prstGeom prst="rect">
            <a:avLst/>
          </a:prstGeom>
          <a:noFill/>
          <a:ln/>
        </p:spPr>
        <p:txBody>
          <a:bodyPr wrap="square" lIns="0" tIns="0" rIns="0" bIns="0" rtlCol="0" anchor="ctr"/>
          <a:lstStyle/>
          <a:p>
            <a:pPr algn="ctr" indent="0" marL="0">
              <a:buNone/>
            </a:pPr>
            <a:r>
              <a:rPr lang="en-US" sz="1200" b="1" dirty="0">
                <a:solidFill>
                  <a:schemeClr val="tx1"/>
                </a:solidFill>
              </a:rPr>
              <a:t>Rischio minimo:  La maggioranza degli usi: nessun obbligo specifico, salvo l'art. 4</a:t>
            </a:r>
            <a:endParaRPr lang="en-US" sz="1200" dirty="0"/>
          </a:p>
        </p:txBody>
      </p:sp>
      <p:sp>
        <p:nvSpPr>
          <p:cNvPr id="24" name="modelli generali"/>
          <p:cNvSpPr/>
          <p:nvPr/>
        </p:nvSpPr>
        <p:spPr>
          <a:xfrm>
            <a:off x="7086600" y="1051560"/>
            <a:ext cx="1600200" cy="2679192"/>
          </a:xfrm>
          <a:prstGeom prst="roundRect">
            <a:avLst>
              <a:gd name="adj" fmla="val 4571"/>
            </a:avLst>
          </a:prstGeom>
          <a:solidFill>
            <a:schemeClr val="accent6"/>
          </a:solidFill>
          <a:ln/>
        </p:spPr>
      </p:sp>
      <p:sp>
        <p:nvSpPr>
          <p:cNvPr id="25" name="Text 22"/>
          <p:cNvSpPr txBox="1"/>
          <p:nvPr/>
        </p:nvSpPr>
        <p:spPr>
          <a:xfrm>
            <a:off x="7150608" y="1143000"/>
            <a:ext cx="1463040" cy="594360"/>
          </a:xfrm>
          <a:prstGeom prst="rect">
            <a:avLst/>
          </a:prstGeom>
          <a:noFill/>
          <a:ln/>
        </p:spPr>
        <p:txBody>
          <a:bodyPr wrap="square" lIns="0" tIns="0" rIns="0" bIns="0" rtlCol="0" anchor="t"/>
          <a:lstStyle/>
          <a:p>
            <a:pPr indent="0" marL="0">
              <a:buNone/>
            </a:pPr>
            <a:r>
              <a:rPr lang="en-US" sz="1200" b="1" dirty="0">
                <a:solidFill>
                  <a:schemeClr val="accent1"/>
                </a:solidFill>
              </a:rPr>
              <a:t>Modelli per finalità generali</a:t>
            </a:r>
            <a:endParaRPr lang="en-US" sz="1200" dirty="0"/>
          </a:p>
        </p:txBody>
      </p:sp>
      <p:sp>
        <p:nvSpPr>
          <p:cNvPr id="26" name="Text 23"/>
          <p:cNvSpPr txBox="1"/>
          <p:nvPr/>
        </p:nvSpPr>
        <p:spPr>
          <a:xfrm>
            <a:off x="7150608" y="1783080"/>
            <a:ext cx="1463040" cy="1737360"/>
          </a:xfrm>
          <a:prstGeom prst="rect">
            <a:avLst/>
          </a:prstGeom>
          <a:noFill/>
          <a:ln/>
        </p:spPr>
        <p:txBody>
          <a:bodyPr wrap="square" lIns="0" tIns="0" rIns="0" bIns="0" rtlCol="0" anchor="t"/>
          <a:lstStyle/>
          <a:p>
            <a:pPr indent="0" marL="0">
              <a:buNone/>
            </a:pPr>
            <a:r>
              <a:rPr lang="en-US" sz="1100" dirty="0">
                <a:solidFill>
                  <a:schemeClr val="tx1"/>
                </a:solidFill>
              </a:rPr>
              <a:t>Categoria trasversale: obblighi dei fornitori dei modelli</a:t>
            </a:r>
            <a:endParaRPr lang="en-US" sz="1100" dirty="0"/>
          </a:p>
        </p:txBody>
      </p:sp>
      <p:sp>
        <p:nvSpPr>
          <p:cNvPr id="27" name="messaggio"/>
          <p:cNvSpPr/>
          <p:nvPr/>
        </p:nvSpPr>
        <p:spPr>
          <a:xfrm>
            <a:off x="457200" y="3886200"/>
            <a:ext cx="8229600" cy="594360"/>
          </a:xfrm>
          <a:prstGeom prst="roundRect">
            <a:avLst>
              <a:gd name="adj" fmla="val 12308"/>
            </a:avLst>
          </a:prstGeom>
          <a:solidFill>
            <a:schemeClr val="tx1"/>
          </a:solidFill>
          <a:ln/>
        </p:spPr>
      </p:sp>
      <p:sp>
        <p:nvSpPr>
          <p:cNvPr id="28" name="Text 25"/>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300" dirty="0">
                <a:solidFill>
                  <a:schemeClr val="bg1"/>
                </a:solidFill>
              </a:rPr>
              <a:t>Una semplificazione, non una mappa giuridica esatta. Più alto il rischio dell'uso, più stringenti gli obblighi.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pratiche vietate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Manipolazione"/>
          <p:cNvSpPr/>
          <p:nvPr/>
        </p:nvSpPr>
        <p:spPr>
          <a:xfrm>
            <a:off x="457200" y="1051560"/>
            <a:ext cx="2621280" cy="1280160"/>
          </a:xfrm>
          <a:prstGeom prst="roundRect">
            <a:avLst>
              <a:gd name="adj" fmla="val 5714"/>
            </a:avLst>
          </a:prstGeom>
          <a:solidFill>
            <a:schemeClr val="bg2"/>
          </a:solidFill>
          <a:ln/>
        </p:spPr>
      </p:sp>
      <p:sp>
        <p:nvSpPr>
          <p:cNvPr id="17" name="cerchio FiTarget"/>
          <p:cNvSpPr/>
          <p:nvPr/>
        </p:nvSpPr>
        <p:spPr>
          <a:xfrm>
            <a:off x="621792" y="1216152"/>
            <a:ext cx="438912" cy="438912"/>
          </a:xfrm>
          <a:prstGeom prst="ellipse">
            <a:avLst/>
          </a:prstGeom>
          <a:solidFill>
            <a:schemeClr val="accent1"/>
          </a:solidFill>
          <a:ln/>
        </p:spPr>
      </p:sp>
      <p:pic>
        <p:nvPicPr>
          <p:cNvPr id="18" name="Image 0" descr="FiTarget">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Manipolazione</a:t>
            </a:r>
            <a:endParaRPr lang="en-US" sz="1300" dirty="0"/>
          </a:p>
        </p:txBody>
      </p:sp>
      <p:sp>
        <p:nvSpPr>
          <p:cNvPr id="20" name="Text 16"/>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100" dirty="0">
                <a:solidFill>
                  <a:schemeClr val="tx2"/>
                </a:solidFill>
              </a:rPr>
              <a:t>Tecniche che distorcono il comportamento, o sfruttano vulnerabilità</a:t>
            </a:r>
            <a:endParaRPr lang="en-US" sz="1100" dirty="0"/>
          </a:p>
        </p:txBody>
      </p:sp>
      <p:sp>
        <p:nvSpPr>
          <p:cNvPr id="21" name="Punteggio sociale"/>
          <p:cNvSpPr/>
          <p:nvPr/>
        </p:nvSpPr>
        <p:spPr>
          <a:xfrm>
            <a:off x="3261360" y="1051560"/>
            <a:ext cx="2621280" cy="1280160"/>
          </a:xfrm>
          <a:prstGeom prst="roundRect">
            <a:avLst>
              <a:gd name="adj" fmla="val 5714"/>
            </a:avLst>
          </a:prstGeom>
          <a:solidFill>
            <a:schemeClr val="bg2"/>
          </a:solidFill>
          <a:ln/>
        </p:spPr>
      </p:sp>
      <p:sp>
        <p:nvSpPr>
          <p:cNvPr id="22" name="cerchio FiStar"/>
          <p:cNvSpPr/>
          <p:nvPr/>
        </p:nvSpPr>
        <p:spPr>
          <a:xfrm>
            <a:off x="3425952" y="1216152"/>
            <a:ext cx="438912" cy="438912"/>
          </a:xfrm>
          <a:prstGeom prst="ellipse">
            <a:avLst/>
          </a:prstGeom>
          <a:solidFill>
            <a:schemeClr val="accent1"/>
          </a:solidFill>
          <a:ln/>
        </p:spPr>
      </p:sp>
      <p:pic>
        <p:nvPicPr>
          <p:cNvPr id="23" name="Image 1" descr="FiStar">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Punteggio sociale</a:t>
            </a:r>
            <a:endParaRPr lang="en-US" sz="1300" dirty="0"/>
          </a:p>
        </p:txBody>
      </p:sp>
      <p:sp>
        <p:nvSpPr>
          <p:cNvPr id="25" name="Text 20"/>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100" dirty="0">
                <a:solidFill>
                  <a:schemeClr val="tx2"/>
                </a:solidFill>
              </a:rPr>
              <a:t>Valutare le persone con trattamenti sfavorevoli ingiustificati</a:t>
            </a:r>
            <a:endParaRPr lang="en-US" sz="1100" dirty="0"/>
          </a:p>
        </p:txBody>
      </p:sp>
      <p:sp>
        <p:nvSpPr>
          <p:cNvPr id="26" name="Emozioni al lavoro e a scuola"/>
          <p:cNvSpPr/>
          <p:nvPr/>
        </p:nvSpPr>
        <p:spPr>
          <a:xfrm>
            <a:off x="6065520" y="1051560"/>
            <a:ext cx="2621280" cy="1280160"/>
          </a:xfrm>
          <a:prstGeom prst="roundRect">
            <a:avLst>
              <a:gd name="adj" fmla="val 5714"/>
            </a:avLst>
          </a:prstGeom>
          <a:solidFill>
            <a:schemeClr val="bg2"/>
          </a:solidFill>
          <a:ln/>
        </p:spPr>
      </p:sp>
      <p:sp>
        <p:nvSpPr>
          <p:cNvPr id="27" name="cerchio FiSmile"/>
          <p:cNvSpPr/>
          <p:nvPr/>
        </p:nvSpPr>
        <p:spPr>
          <a:xfrm>
            <a:off x="6230112" y="1216152"/>
            <a:ext cx="438912" cy="438912"/>
          </a:xfrm>
          <a:prstGeom prst="ellipse">
            <a:avLst/>
          </a:prstGeom>
          <a:solidFill>
            <a:schemeClr val="accent1"/>
          </a:solidFill>
          <a:ln/>
        </p:spPr>
      </p:sp>
      <p:pic>
        <p:nvPicPr>
          <p:cNvPr id="28" name="Image 2" descr="FiSmile">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Emozioni al lavoro e a scuola</a:t>
            </a:r>
            <a:endParaRPr lang="en-US" sz="1300" dirty="0"/>
          </a:p>
        </p:txBody>
      </p:sp>
      <p:sp>
        <p:nvSpPr>
          <p:cNvPr id="30" name="Text 24"/>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100" dirty="0">
                <a:solidFill>
                  <a:schemeClr val="tx2"/>
                </a:solidFill>
              </a:rPr>
              <a:t>Salvo motivi medici o di sicurezza</a:t>
            </a:r>
            <a:endParaRPr lang="en-US" sz="1100" dirty="0"/>
          </a:p>
        </p:txBody>
      </p:sp>
      <p:sp>
        <p:nvSpPr>
          <p:cNvPr id="31" name="Biometria"/>
          <p:cNvSpPr/>
          <p:nvPr/>
        </p:nvSpPr>
        <p:spPr>
          <a:xfrm>
            <a:off x="457200" y="2514600"/>
            <a:ext cx="2621280" cy="1280160"/>
          </a:xfrm>
          <a:prstGeom prst="roundRect">
            <a:avLst>
              <a:gd name="adj" fmla="val 5714"/>
            </a:avLst>
          </a:prstGeom>
          <a:solidFill>
            <a:schemeClr val="bg2"/>
          </a:solidFill>
          <a:ln/>
        </p:spPr>
      </p:sp>
      <p:sp>
        <p:nvSpPr>
          <p:cNvPr id="32" name="cerchio FiCamera"/>
          <p:cNvSpPr/>
          <p:nvPr/>
        </p:nvSpPr>
        <p:spPr>
          <a:xfrm>
            <a:off x="621792" y="2679192"/>
            <a:ext cx="438912" cy="438912"/>
          </a:xfrm>
          <a:prstGeom prst="ellipse">
            <a:avLst/>
          </a:prstGeom>
          <a:solidFill>
            <a:schemeClr val="accent1"/>
          </a:solidFill>
          <a:ln/>
        </p:spPr>
      </p:sp>
      <p:pic>
        <p:nvPicPr>
          <p:cNvPr id="33" name="Image 3" descr="FiCamera">    </p:cNvPr>
          <p:cNvPicPr>
            <a:picLocks noChangeAspect="1"/>
          </p:cNvPicPr>
          <p:nvPr/>
        </p:nvPicPr>
        <p:blipFill>
          <a:blip r:embed="rId4"/>
          <a:stretch>
            <a:fillRect/>
          </a:stretch>
        </p:blipFill>
        <p:spPr>
          <a:xfrm>
            <a:off x="731520" y="2788920"/>
            <a:ext cx="219456" cy="219456"/>
          </a:xfrm>
          <a:prstGeom prst="rect">
            <a:avLst/>
          </a:prstGeom>
        </p:spPr>
      </p:pic>
      <p:sp>
        <p:nvSpPr>
          <p:cNvPr id="34" name="Text 27"/>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Biometria</a:t>
            </a:r>
            <a:endParaRPr lang="en-US" sz="1300" dirty="0"/>
          </a:p>
        </p:txBody>
      </p:sp>
      <p:sp>
        <p:nvSpPr>
          <p:cNvPr id="35" name="Text 28"/>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100" dirty="0">
                <a:solidFill>
                  <a:schemeClr val="tx2"/>
                </a:solidFill>
              </a:rPr>
              <a:t>Raccolta non mirata di volti; categorie sensibili; identificazione in tempo reale</a:t>
            </a:r>
            <a:endParaRPr lang="en-US" sz="1100" dirty="0"/>
          </a:p>
        </p:txBody>
      </p:sp>
      <p:sp>
        <p:nvSpPr>
          <p:cNvPr id="36" name="Previsione di reati"/>
          <p:cNvSpPr/>
          <p:nvPr/>
        </p:nvSpPr>
        <p:spPr>
          <a:xfrm>
            <a:off x="3261360" y="2514600"/>
            <a:ext cx="2621280" cy="1280160"/>
          </a:xfrm>
          <a:prstGeom prst="roundRect">
            <a:avLst>
              <a:gd name="adj" fmla="val 5714"/>
            </a:avLst>
          </a:prstGeom>
          <a:solidFill>
            <a:schemeClr val="bg2"/>
          </a:solidFill>
          <a:ln/>
        </p:spPr>
      </p:sp>
      <p:sp>
        <p:nvSpPr>
          <p:cNvPr id="37" name="cerchio FiShield"/>
          <p:cNvSpPr/>
          <p:nvPr/>
        </p:nvSpPr>
        <p:spPr>
          <a:xfrm>
            <a:off x="3425952" y="2679192"/>
            <a:ext cx="438912" cy="438912"/>
          </a:xfrm>
          <a:prstGeom prst="ellipse">
            <a:avLst/>
          </a:prstGeom>
          <a:solidFill>
            <a:schemeClr val="accent1"/>
          </a:solidFill>
          <a:ln/>
        </p:spPr>
      </p:sp>
      <p:pic>
        <p:nvPicPr>
          <p:cNvPr id="38" name="Image 4" descr="FiShield">    </p:cNvPr>
          <p:cNvPicPr>
            <a:picLocks noChangeAspect="1"/>
          </p:cNvPicPr>
          <p:nvPr/>
        </p:nvPicPr>
        <p:blipFill>
          <a:blip r:embed="rId5"/>
          <a:stretch>
            <a:fillRect/>
          </a:stretch>
        </p:blipFill>
        <p:spPr>
          <a:xfrm>
            <a:off x="3535680" y="2788920"/>
            <a:ext cx="219456" cy="219456"/>
          </a:xfrm>
          <a:prstGeom prst="rect">
            <a:avLst/>
          </a:prstGeom>
        </p:spPr>
      </p:pic>
      <p:sp>
        <p:nvSpPr>
          <p:cNvPr id="39" name="Text 31"/>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Previsione di reati</a:t>
            </a:r>
            <a:endParaRPr lang="en-US" sz="1300" dirty="0"/>
          </a:p>
        </p:txBody>
      </p:sp>
      <p:sp>
        <p:nvSpPr>
          <p:cNvPr id="40" name="Text 32"/>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100" dirty="0">
                <a:solidFill>
                  <a:schemeClr val="tx2"/>
                </a:solidFill>
              </a:rPr>
              <a:t>Basata unicamente sulla profilazione</a:t>
            </a:r>
            <a:endParaRPr lang="en-US" sz="1100" dirty="0"/>
          </a:p>
        </p:txBody>
      </p:sp>
      <p:sp>
        <p:nvSpPr>
          <p:cNvPr id="41" name="Aggiunti nel 2026"/>
          <p:cNvSpPr/>
          <p:nvPr/>
        </p:nvSpPr>
        <p:spPr>
          <a:xfrm>
            <a:off x="6065520" y="2514600"/>
            <a:ext cx="2621280" cy="1280160"/>
          </a:xfrm>
          <a:prstGeom prst="roundRect">
            <a:avLst>
              <a:gd name="adj" fmla="val 5714"/>
            </a:avLst>
          </a:prstGeom>
          <a:solidFill>
            <a:schemeClr val="bg2"/>
          </a:solidFill>
          <a:ln/>
        </p:spPr>
      </p:sp>
      <p:sp>
        <p:nvSpPr>
          <p:cNvPr id="42" name="cerchio FiPlusCircle"/>
          <p:cNvSpPr/>
          <p:nvPr/>
        </p:nvSpPr>
        <p:spPr>
          <a:xfrm>
            <a:off x="6230112" y="2679192"/>
            <a:ext cx="438912" cy="438912"/>
          </a:xfrm>
          <a:prstGeom prst="ellipse">
            <a:avLst/>
          </a:prstGeom>
          <a:solidFill>
            <a:schemeClr val="accent1"/>
          </a:solidFill>
          <a:ln/>
        </p:spPr>
      </p:sp>
      <p:pic>
        <p:nvPicPr>
          <p:cNvPr id="43" name="Image 5" descr="FiPlusCircle">    </p:cNvPr>
          <p:cNvPicPr>
            <a:picLocks noChangeAspect="1"/>
          </p:cNvPicPr>
          <p:nvPr/>
        </p:nvPicPr>
        <p:blipFill>
          <a:blip r:embed="rId6"/>
          <a:stretch>
            <a:fillRect/>
          </a:stretch>
        </p:blipFill>
        <p:spPr>
          <a:xfrm>
            <a:off x="6339840" y="2788920"/>
            <a:ext cx="219456" cy="219456"/>
          </a:xfrm>
          <a:prstGeom prst="rect">
            <a:avLst/>
          </a:prstGeom>
        </p:spPr>
      </p:pic>
      <p:sp>
        <p:nvSpPr>
          <p:cNvPr id="44" name="Text 35"/>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Aggiunti nel 2026</a:t>
            </a:r>
            <a:endParaRPr lang="en-US" sz="1300" dirty="0"/>
          </a:p>
        </p:txBody>
      </p:sp>
      <p:sp>
        <p:nvSpPr>
          <p:cNvPr id="45" name="Text 36"/>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100" dirty="0">
                <a:solidFill>
                  <a:schemeClr val="tx2"/>
                </a:solidFill>
              </a:rPr>
              <a:t>Contenuti intimi senza consenso; materiale pedopornografico. Data: verificare</a:t>
            </a:r>
            <a:endParaRPr lang="en-US" sz="1100" dirty="0"/>
          </a:p>
        </p:txBody>
      </p:sp>
      <p:sp>
        <p:nvSpPr>
          <p:cNvPr id="46" name="messaggio"/>
          <p:cNvSpPr/>
          <p:nvPr/>
        </p:nvSpPr>
        <p:spPr>
          <a:xfrm>
            <a:off x="457200" y="3977640"/>
            <a:ext cx="8229600" cy="548640"/>
          </a:xfrm>
          <a:prstGeom prst="roundRect">
            <a:avLst>
              <a:gd name="adj" fmla="val 13333"/>
            </a:avLst>
          </a:prstGeom>
          <a:solidFill>
            <a:schemeClr val="tx1"/>
          </a:solidFill>
          <a:ln/>
        </p:spPr>
      </p:sp>
      <p:sp>
        <p:nvSpPr>
          <p:cNvPr id="47"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Art. 5, dal 2 febbraio 2025. Linee guida interpretative della Commissione. Sintesi, non testo normativo.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L'alto rischio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Allegato I: prodotti regolati"/>
          <p:cNvSpPr/>
          <p:nvPr/>
        </p:nvSpPr>
        <p:spPr>
          <a:xfrm>
            <a:off x="457200" y="1051560"/>
            <a:ext cx="3977640" cy="2240280"/>
          </a:xfrm>
          <a:prstGeom prst="roundRect">
            <a:avLst>
              <a:gd name="adj" fmla="val 3265"/>
            </a:avLst>
          </a:prstGeom>
          <a:solidFill>
            <a:schemeClr val="bg2"/>
          </a:solidFill>
          <a:ln/>
        </p:spPr>
      </p:sp>
      <p:sp>
        <p:nvSpPr>
          <p:cNvPr id="17" name="cerchio FiPackage"/>
          <p:cNvSpPr/>
          <p:nvPr/>
        </p:nvSpPr>
        <p:spPr>
          <a:xfrm>
            <a:off x="640080" y="1234440"/>
            <a:ext cx="457200" cy="457200"/>
          </a:xfrm>
          <a:prstGeom prst="ellipse">
            <a:avLst/>
          </a:prstGeom>
          <a:solidFill>
            <a:schemeClr val="accent1"/>
          </a:solidFill>
          <a:ln/>
        </p:spPr>
      </p:sp>
      <p:sp>
        <p:nvSpPr>
          <p:cNvPr id="18" name="scheda Allegato III: otto ambiti"/>
          <p:cNvSpPr/>
          <p:nvPr/>
        </p:nvSpPr>
        <p:spPr>
          <a:xfrm>
            <a:off x="4709160" y="1051560"/>
            <a:ext cx="3977640" cy="2240280"/>
          </a:xfrm>
          <a:prstGeom prst="roundRect">
            <a:avLst>
              <a:gd name="adj" fmla="val 3265"/>
            </a:avLst>
          </a:prstGeom>
          <a:solidFill>
            <a:schemeClr val="accent6"/>
          </a:solidFill>
          <a:ln/>
        </p:spPr>
      </p:sp>
      <p:sp>
        <p:nvSpPr>
          <p:cNvPr id="19" name="cerchio FiList"/>
          <p:cNvSpPr/>
          <p:nvPr/>
        </p:nvSpPr>
        <p:spPr>
          <a:xfrm>
            <a:off x="4892040" y="1234440"/>
            <a:ext cx="457200" cy="457200"/>
          </a:xfrm>
          <a:prstGeom prst="ellipse">
            <a:avLst/>
          </a:prstGeom>
          <a:solidFill>
            <a:schemeClr val="accent1"/>
          </a:solidFill>
          <a:ln/>
        </p:spPr>
      </p:sp>
      <p:pic>
        <p:nvPicPr>
          <p:cNvPr id="20" name="Image 0" descr="FiPackage">    </p:cNvPr>
          <p:cNvPicPr>
            <a:picLocks noChangeAspect="1"/>
          </p:cNvPicPr>
          <p:nvPr/>
        </p:nvPicPr>
        <p:blipFill>
          <a:blip r:embed="rId1"/>
          <a:stretch>
            <a:fillRect/>
          </a:stretch>
        </p:blipFill>
        <p:spPr>
          <a:xfrm>
            <a:off x="754380" y="1348740"/>
            <a:ext cx="228600" cy="228600"/>
          </a:xfrm>
          <a:prstGeom prst="rect">
            <a:avLst/>
          </a:prstGeom>
        </p:spPr>
      </p:pic>
      <p:sp>
        <p:nvSpPr>
          <p:cNvPr id="21"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Allegato I: prodotti regolati</a:t>
            </a:r>
            <a:endParaRPr lang="en-US" sz="1500" dirty="0"/>
          </a:p>
        </p:txBody>
      </p:sp>
      <p:sp>
        <p:nvSpPr>
          <p:cNvPr id="22" name="Text 18"/>
          <p:cNvSpPr txBox="1"/>
          <p:nvPr/>
        </p:nvSpPr>
        <p:spPr>
          <a:xfrm>
            <a:off x="640080" y="2185416"/>
            <a:ext cx="3611880" cy="1188720"/>
          </a:xfrm>
          <a:prstGeom prst="rect">
            <a:avLst/>
          </a:prstGeom>
          <a:noFill/>
          <a:ln/>
        </p:spPr>
        <p:txBody>
          <a:bodyPr wrap="square" lIns="0" tIns="0" rIns="0" bIns="0" rtlCol="0" anchor="t"/>
          <a:lstStyle/>
          <a:p>
            <a:pPr indent="0" marL="0">
              <a:buNone/>
            </a:pPr>
            <a:r>
              <a:rPr lang="it-IT" sz="1200" b="1" dirty="0">
                <a:solidFill>
                  <a:schemeClr val="tx2"/>
                </a:solidFill>
              </a:rPr>
              <a:t>Sezione A: </a:t>
            </a:r>
            <a:r>
              <a:rPr lang="it-IT" sz="1200" dirty="0">
                <a:solidFill>
                  <a:schemeClr val="tx2"/>
                </a:solidFill>
              </a:rPr>
              <a:t>dispositivi medici, giocattoli, ascensori, apparecchi a gas. Requisiti dell'AI Act dal 2 agosto 2028.</a:t>
            </a:r>
            <a:endParaRPr lang="it-IT" sz="1200" dirty="0"/>
          </a:p>
          <a:p>
            <a:pPr indent="0" marL="0">
              <a:spcBef>
                <a:spcPts val="900"/>
              </a:spcBef>
              <a:buNone/>
            </a:pPr>
            <a:r>
              <a:rPr lang="it-IT" sz="1200" b="1" dirty="0">
                <a:solidFill>
                  <a:schemeClr val="tx2"/>
                </a:solidFill>
              </a:rPr>
              <a:t>Sezione B: </a:t>
            </a:r>
            <a:r>
              <a:rPr lang="it-IT" sz="1200" dirty="0">
                <a:solidFill>
                  <a:schemeClr val="tx2"/>
                </a:solidFill>
              </a:rPr>
              <a:t>veicoli e, dal 2026, macchine. Requisiti integrati nella norma di settore, entro il 2 agosto 2028.</a:t>
            </a:r>
            <a:endParaRPr lang="it-IT" sz="1200" dirty="0"/>
          </a:p>
        </p:txBody>
      </p:sp>
      <p:pic>
        <p:nvPicPr>
          <p:cNvPr id="23" name="Image 1" descr="FiList">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Allegato III: otto ambiti</a:t>
            </a:r>
            <a:endParaRPr lang="en-US" sz="1500" dirty="0"/>
          </a:p>
        </p:txBody>
      </p:sp>
      <p:sp>
        <p:nvSpPr>
          <p:cNvPr id="25" name="Text 20"/>
          <p:cNvSpPr txBox="1"/>
          <p:nvPr/>
        </p:nvSpPr>
        <p:spPr>
          <a:xfrm>
            <a:off x="4892040" y="2185416"/>
            <a:ext cx="3611880" cy="996696"/>
          </a:xfrm>
          <a:prstGeom prst="rect">
            <a:avLst/>
          </a:prstGeom>
          <a:noFill/>
          <a:ln/>
        </p:spPr>
        <p:txBody>
          <a:bodyPr wrap="square" lIns="0" tIns="0" rIns="0" bIns="0" rtlCol="0" anchor="t"/>
          <a:lstStyle/>
          <a:p>
            <a:pPr indent="0" marL="0">
              <a:buNone/>
            </a:pPr>
            <a:r>
              <a:rPr lang="en-US" sz="1300" dirty="0">
                <a:solidFill>
                  <a:schemeClr val="tx2"/>
                </a:solidFill>
              </a:rPr>
              <a:t>Tra cui lavoro, istruzione, servizi essenziali (credito, assicurazioni vita e malattia), biometria, infrastrutture, contrasto, migrazione, giustizia.</a:t>
            </a:r>
            <a:endParaRPr lang="en-US" sz="1300" dirty="0"/>
          </a:p>
          <a:p>
            <a:pPr indent="0" marL="0">
              <a:buNone/>
            </a:pPr>
            <a:endParaRPr lang="en-US" sz="1300" dirty="0"/>
          </a:p>
          <a:p>
            <a:pPr indent="0" marL="0">
              <a:buNone/>
            </a:pPr>
            <a:r>
              <a:rPr lang="en-US" sz="1300" dirty="0">
                <a:solidFill>
                  <a:schemeClr val="tx2"/>
                </a:solidFill>
              </a:rPr>
              <a:t>Dal 2 dicembre 2027.</a:t>
            </a:r>
            <a:endParaRPr lang="en-US" sz="1300" dirty="0"/>
          </a:p>
        </p:txBody>
      </p:sp>
      <p:sp>
        <p:nvSpPr>
          <p:cNvPr id="26" name="lavoro"/>
          <p:cNvSpPr/>
          <p:nvPr/>
        </p:nvSpPr>
        <p:spPr>
          <a:xfrm>
            <a:off x="457200" y="3474720"/>
            <a:ext cx="8229600" cy="960120"/>
          </a:xfrm>
          <a:prstGeom prst="roundRect">
            <a:avLst>
              <a:gd name="adj" fmla="val 7619"/>
            </a:avLst>
          </a:prstGeom>
          <a:solidFill>
            <a:schemeClr val="accent1"/>
          </a:solidFill>
          <a:ln/>
        </p:spPr>
      </p:sp>
      <p:sp>
        <p:nvSpPr>
          <p:cNvPr id="27" name="Text 22"/>
          <p:cNvSpPr txBox="1"/>
          <p:nvPr/>
        </p:nvSpPr>
        <p:spPr>
          <a:xfrm>
            <a:off x="640080" y="3474720"/>
            <a:ext cx="7863840" cy="960120"/>
          </a:xfrm>
          <a:prstGeom prst="rect">
            <a:avLst/>
          </a:prstGeom>
          <a:noFill/>
          <a:ln/>
        </p:spPr>
        <p:txBody>
          <a:bodyPr wrap="square" lIns="0" tIns="0" rIns="0" bIns="0" rtlCol="0" anchor="ctr"/>
          <a:lstStyle/>
          <a:p>
            <a:pPr indent="0" marL="0">
              <a:buNone/>
            </a:pPr>
            <a:r>
              <a:rPr lang="en-US" sz="1300" b="1" dirty="0">
                <a:solidFill>
                  <a:schemeClr val="accent6"/>
                </a:solidFill>
              </a:rPr>
              <a:t>Lavoro e gestione dei lavoratori: </a:t>
            </a:r>
            <a:pPr indent="0" marL="0">
              <a:buNone/>
            </a:pPr>
            <a:r>
              <a:rPr lang="en-US" sz="1300" dirty="0">
                <a:solidFill>
                  <a:schemeClr val="bg1"/>
                </a:solidFill>
              </a:rPr>
              <a:t>selezione, filtraggio e valutazione delle candidature, promozioni, licenziamenti, assegnazione di compiti, monitoraggio delle prestazioni.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comporta l'alto rischio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Fornitori"/>
          <p:cNvSpPr/>
          <p:nvPr/>
        </p:nvSpPr>
        <p:spPr>
          <a:xfrm>
            <a:off x="457200" y="1051560"/>
            <a:ext cx="3977640" cy="2743200"/>
          </a:xfrm>
          <a:prstGeom prst="roundRect">
            <a:avLst>
              <a:gd name="adj" fmla="val 2667"/>
            </a:avLst>
          </a:prstGeom>
          <a:solidFill>
            <a:schemeClr val="bg2"/>
          </a:solidFill>
          <a:ln/>
        </p:spPr>
      </p:sp>
      <p:sp>
        <p:nvSpPr>
          <p:cNvPr id="17" name="cerchio FiTool"/>
          <p:cNvSpPr/>
          <p:nvPr/>
        </p:nvSpPr>
        <p:spPr>
          <a:xfrm>
            <a:off x="640080" y="1234440"/>
            <a:ext cx="457200" cy="457200"/>
          </a:xfrm>
          <a:prstGeom prst="ellipse">
            <a:avLst/>
          </a:prstGeom>
          <a:solidFill>
            <a:schemeClr val="accent1"/>
          </a:solidFill>
          <a:ln/>
        </p:spPr>
      </p:sp>
      <p:pic>
        <p:nvPicPr>
          <p:cNvPr id="18" name="Image 0" descr="FiTool">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Fornitori</a:t>
            </a:r>
            <a:endParaRPr lang="en-US" sz="1500" dirty="0"/>
          </a:p>
        </p:txBody>
      </p:sp>
      <p:sp>
        <p:nvSpPr>
          <p:cNvPr id="20" name="Text 16"/>
          <p:cNvSpPr txBox="1"/>
          <p:nvPr/>
        </p:nvSpPr>
        <p:spPr>
          <a:xfrm>
            <a:off x="640080" y="2185416"/>
            <a:ext cx="3611880" cy="1499616"/>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Gestione dei rischi nel ciclo di vita</a:t>
            </a:r>
            <a:endParaRPr lang="en-US" sz="1100" dirty="0"/>
          </a:p>
          <a:p>
            <a:pPr marL="177800" indent="-177800">
              <a:spcAft>
                <a:spcPts val="300"/>
              </a:spcAft>
              <a:buSzPct val="100000"/>
              <a:buChar char="•"/>
            </a:pPr>
            <a:r>
              <a:rPr lang="en-US" sz="1100" dirty="0">
                <a:solidFill>
                  <a:schemeClr val="tx2"/>
                </a:solidFill>
              </a:rPr>
              <a:t>Qualità dei dati, documentazione, registri</a:t>
            </a:r>
            <a:endParaRPr lang="en-US" sz="1100" dirty="0"/>
          </a:p>
          <a:p>
            <a:pPr marL="177800" indent="-177800">
              <a:spcAft>
                <a:spcPts val="300"/>
              </a:spcAft>
              <a:buSzPct val="100000"/>
              <a:buChar char="•"/>
            </a:pPr>
            <a:r>
              <a:rPr lang="en-US" sz="1100" dirty="0">
                <a:solidFill>
                  <a:schemeClr val="tx2"/>
                </a:solidFill>
              </a:rPr>
              <a:t>Istruzioni, supervisione umana by design</a:t>
            </a:r>
            <a:endParaRPr lang="en-US" sz="1100" dirty="0"/>
          </a:p>
          <a:p>
            <a:pPr marL="177800" indent="-177800">
              <a:spcAft>
                <a:spcPts val="300"/>
              </a:spcAft>
              <a:buSzPct val="100000"/>
              <a:buChar char="•"/>
            </a:pPr>
            <a:r>
              <a:rPr lang="en-US" sz="1100" dirty="0">
                <a:solidFill>
                  <a:schemeClr val="tx2"/>
                </a:solidFill>
              </a:rPr>
              <a:t>Accuratezza, robustezza, cybersicurezza</a:t>
            </a:r>
            <a:endParaRPr lang="en-US" sz="1100" dirty="0"/>
          </a:p>
          <a:p>
            <a:pPr marL="177800" indent="-177800">
              <a:spcAft>
                <a:spcPts val="300"/>
              </a:spcAft>
              <a:buSzPct val="100000"/>
              <a:buChar char="•"/>
            </a:pPr>
            <a:r>
              <a:rPr lang="en-US" sz="1100" dirty="0">
                <a:solidFill>
                  <a:schemeClr val="tx2"/>
                </a:solidFill>
              </a:rPr>
              <a:t>Qualità, conformità, marcatura CE, registrazione</a:t>
            </a:r>
            <a:endParaRPr lang="en-US" sz="1100" dirty="0"/>
          </a:p>
        </p:txBody>
      </p:sp>
      <p:sp>
        <p:nvSpPr>
          <p:cNvPr id="21" name="scheda Deployer (18.4)"/>
          <p:cNvSpPr/>
          <p:nvPr/>
        </p:nvSpPr>
        <p:spPr>
          <a:xfrm>
            <a:off x="4709160" y="1051560"/>
            <a:ext cx="3977640" cy="2743200"/>
          </a:xfrm>
          <a:prstGeom prst="roundRect">
            <a:avLst>
              <a:gd name="adj" fmla="val 2667"/>
            </a:avLst>
          </a:prstGeom>
          <a:solidFill>
            <a:schemeClr val="accent6"/>
          </a:solidFill>
          <a:ln/>
        </p:spPr>
      </p:sp>
      <p:sp>
        <p:nvSpPr>
          <p:cNvPr id="22" name="cerchio FiBriefcase"/>
          <p:cNvSpPr/>
          <p:nvPr/>
        </p:nvSpPr>
        <p:spPr>
          <a:xfrm>
            <a:off x="4892040" y="1234440"/>
            <a:ext cx="457200" cy="457200"/>
          </a:xfrm>
          <a:prstGeom prst="ellipse">
            <a:avLst/>
          </a:prstGeom>
          <a:solidFill>
            <a:schemeClr val="accent1"/>
          </a:solidFill>
          <a:ln/>
        </p:spPr>
      </p:sp>
      <p:pic>
        <p:nvPicPr>
          <p:cNvPr id="23" name="Image 1" descr="FiBriefcase">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Deployer (18.4)</a:t>
            </a:r>
            <a:endParaRPr lang="en-US" sz="1500" dirty="0"/>
          </a:p>
        </p:txBody>
      </p:sp>
      <p:sp>
        <p:nvSpPr>
          <p:cNvPr id="25" name="Text 20"/>
          <p:cNvSpPr txBox="1"/>
          <p:nvPr/>
        </p:nvSpPr>
        <p:spPr>
          <a:xfrm>
            <a:off x="4892040" y="2185416"/>
            <a:ext cx="3611880" cy="1499616"/>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Uso secondo le istruzioni</a:t>
            </a:r>
            <a:endParaRPr lang="en-US" sz="1100" dirty="0"/>
          </a:p>
          <a:p>
            <a:pPr marL="177800" indent="-177800">
              <a:spcAft>
                <a:spcPts val="300"/>
              </a:spcAft>
              <a:buSzPct val="100000"/>
              <a:buChar char="•"/>
            </a:pPr>
            <a:r>
              <a:rPr lang="en-US" sz="1100" dirty="0">
                <a:solidFill>
                  <a:schemeClr val="tx2"/>
                </a:solidFill>
              </a:rPr>
              <a:t>Supervisione a persone competenti, formate, con autorità</a:t>
            </a:r>
            <a:endParaRPr lang="en-US" sz="1100" dirty="0"/>
          </a:p>
          <a:p>
            <a:pPr marL="177800" indent="-177800">
              <a:spcAft>
                <a:spcPts val="300"/>
              </a:spcAft>
              <a:buSzPct val="100000"/>
              <a:buChar char="•"/>
            </a:pPr>
            <a:r>
              <a:rPr lang="en-US" sz="1100" dirty="0">
                <a:solidFill>
                  <a:schemeClr val="tx2"/>
                </a:solidFill>
              </a:rPr>
              <a:t>Monitoraggio e conservazione dei registri</a:t>
            </a:r>
            <a:endParaRPr lang="en-US" sz="1100" dirty="0"/>
          </a:p>
          <a:p>
            <a:pPr marL="177800" indent="-177800">
              <a:spcAft>
                <a:spcPts val="300"/>
              </a:spcAft>
              <a:buSzPct val="100000"/>
              <a:buChar char="•"/>
            </a:pPr>
            <a:r>
              <a:rPr lang="en-US" sz="1100" dirty="0">
                <a:solidFill>
                  <a:schemeClr val="tx2"/>
                </a:solidFill>
              </a:rPr>
              <a:t>Informare lavoratori e loro rappresentanti</a:t>
            </a:r>
            <a:endParaRPr lang="en-US" sz="1100" dirty="0"/>
          </a:p>
          <a:p>
            <a:pPr marL="177800" indent="-177800">
              <a:spcAft>
                <a:spcPts val="300"/>
              </a:spcAft>
              <a:buSzPct val="100000"/>
              <a:buChar char="•"/>
            </a:pPr>
            <a:r>
              <a:rPr lang="en-US" sz="1100" dirty="0">
                <a:solidFill>
                  <a:schemeClr val="tx2"/>
                </a:solidFill>
              </a:rPr>
              <a:t>Per alcuni: valutazione d'impatto sui diritti</a:t>
            </a:r>
            <a:endParaRPr lang="en-US" sz="1100" dirty="0"/>
          </a:p>
        </p:txBody>
      </p:sp>
      <p:sp>
        <p:nvSpPr>
          <p:cNvPr id="26" name="messaggio"/>
          <p:cNvSpPr/>
          <p:nvPr/>
        </p:nvSpPr>
        <p:spPr>
          <a:xfrm>
            <a:off x="457200" y="3977640"/>
            <a:ext cx="8229600" cy="548640"/>
          </a:xfrm>
          <a:prstGeom prst="roundRect">
            <a:avLst>
              <a:gd name="adj" fmla="val 13333"/>
            </a:avLst>
          </a:prstGeom>
          <a:solidFill>
            <a:schemeClr val="tx1"/>
          </a:solidFill>
          <a:ln/>
        </p:spPr>
      </p:sp>
      <p:sp>
        <p:nvSpPr>
          <p:cNvPr id="27" name="Text 2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Un regime impegnativo: per questo classificare correttamente un uso è così importante.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finalità decide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Text 13"/>
          <p:cNvSpPr txBox="1"/>
          <p:nvPr/>
        </p:nvSpPr>
        <p:spPr>
          <a:xfrm>
            <a:off x="457200" y="1005840"/>
            <a:ext cx="8229600" cy="292608"/>
          </a:xfrm>
          <a:prstGeom prst="rect">
            <a:avLst/>
          </a:prstGeom>
          <a:noFill/>
          <a:ln/>
        </p:spPr>
        <p:txBody>
          <a:bodyPr wrap="square" lIns="0" tIns="0" rIns="0" bIns="0" rtlCol="0" anchor="t"/>
          <a:lstStyle/>
          <a:p>
            <a:pPr indent="0" marL="0">
              <a:buNone/>
            </a:pPr>
            <a:r>
              <a:rPr lang="en-US" sz="1300" b="1" dirty="0">
                <a:solidFill>
                  <a:schemeClr val="tx1"/>
                </a:solidFill>
              </a:rPr>
              <a:t>Lo stesso modello linguistico, tre finalità (esempi indicativi)</a:t>
            </a:r>
            <a:endParaRPr lang="en-US" sz="1300" dirty="0"/>
          </a:p>
        </p:txBody>
      </p:sp>
      <p:sp>
        <p:nvSpPr>
          <p:cNvPr id="17" name="Scrivere una bozza di email"/>
          <p:cNvSpPr/>
          <p:nvPr/>
        </p:nvSpPr>
        <p:spPr>
          <a:xfrm>
            <a:off x="457200" y="1353312"/>
            <a:ext cx="8229600" cy="548640"/>
          </a:xfrm>
          <a:prstGeom prst="roundRect">
            <a:avLst>
              <a:gd name="adj" fmla="val 13333"/>
            </a:avLst>
          </a:prstGeom>
          <a:solidFill>
            <a:schemeClr val="bg2"/>
          </a:solidFill>
          <a:ln/>
        </p:spPr>
      </p:sp>
      <p:sp>
        <p:nvSpPr>
          <p:cNvPr id="18" name="Text 15"/>
          <p:cNvSpPr txBox="1"/>
          <p:nvPr/>
        </p:nvSpPr>
        <p:spPr>
          <a:xfrm>
            <a:off x="640080" y="1353312"/>
            <a:ext cx="4297680" cy="548640"/>
          </a:xfrm>
          <a:prstGeom prst="rect">
            <a:avLst/>
          </a:prstGeom>
          <a:noFill/>
          <a:ln/>
        </p:spPr>
        <p:txBody>
          <a:bodyPr wrap="square" lIns="0" tIns="0" rIns="0" bIns="0" rtlCol="0" anchor="ctr"/>
          <a:lstStyle/>
          <a:p>
            <a:pPr indent="0" marL="0">
              <a:buNone/>
            </a:pPr>
            <a:r>
              <a:rPr lang="en-US" sz="1200" b="1" dirty="0">
                <a:solidFill>
                  <a:schemeClr val="tx1"/>
                </a:solidFill>
              </a:rPr>
              <a:t>Scrivere una bozza di email</a:t>
            </a:r>
            <a:endParaRPr lang="en-US" sz="1200" dirty="0"/>
          </a:p>
        </p:txBody>
      </p:sp>
      <p:sp>
        <p:nvSpPr>
          <p:cNvPr id="19" name="Text 16"/>
          <p:cNvSpPr txBox="1"/>
          <p:nvPr/>
        </p:nvSpPr>
        <p:spPr>
          <a:xfrm>
            <a:off x="4937760" y="1353312"/>
            <a:ext cx="3657600" cy="548640"/>
          </a:xfrm>
          <a:prstGeom prst="rect">
            <a:avLst/>
          </a:prstGeom>
          <a:noFill/>
          <a:ln/>
        </p:spPr>
        <p:txBody>
          <a:bodyPr wrap="square" lIns="0" tIns="0" rIns="0" bIns="0" rtlCol="0" anchor="ctr"/>
          <a:lstStyle/>
          <a:p>
            <a:pPr indent="0" marL="0">
              <a:buNone/>
            </a:pPr>
            <a:r>
              <a:rPr lang="en-US" sz="1200" dirty="0">
                <a:solidFill>
                  <a:schemeClr val="accent1"/>
                </a:solidFill>
              </a:rPr>
              <a:t>Nessuna categoria specifica</a:t>
            </a:r>
            <a:endParaRPr lang="en-US" sz="1200" dirty="0"/>
          </a:p>
        </p:txBody>
      </p:sp>
      <p:sp>
        <p:nvSpPr>
          <p:cNvPr id="20" name="Riassumere i curriculum per chi seleziona"/>
          <p:cNvSpPr/>
          <p:nvPr/>
        </p:nvSpPr>
        <p:spPr>
          <a:xfrm>
            <a:off x="457200" y="1975104"/>
            <a:ext cx="8229600" cy="548640"/>
          </a:xfrm>
          <a:prstGeom prst="roundRect">
            <a:avLst>
              <a:gd name="adj" fmla="val 13333"/>
            </a:avLst>
          </a:prstGeom>
          <a:solidFill>
            <a:schemeClr val="accent6"/>
          </a:solidFill>
          <a:ln/>
        </p:spPr>
      </p:sp>
      <p:sp>
        <p:nvSpPr>
          <p:cNvPr id="21" name="Text 18"/>
          <p:cNvSpPr txBox="1"/>
          <p:nvPr/>
        </p:nvSpPr>
        <p:spPr>
          <a:xfrm>
            <a:off x="640080" y="1975104"/>
            <a:ext cx="4297680" cy="548640"/>
          </a:xfrm>
          <a:prstGeom prst="rect">
            <a:avLst/>
          </a:prstGeom>
          <a:noFill/>
          <a:ln/>
        </p:spPr>
        <p:txBody>
          <a:bodyPr wrap="square" lIns="0" tIns="0" rIns="0" bIns="0" rtlCol="0" anchor="ctr"/>
          <a:lstStyle/>
          <a:p>
            <a:pPr indent="0" marL="0">
              <a:buNone/>
            </a:pPr>
            <a:r>
              <a:rPr lang="en-US" sz="1200" b="1" dirty="0">
                <a:solidFill>
                  <a:schemeClr val="tx1"/>
                </a:solidFill>
              </a:rPr>
              <a:t>Riassumere i curriculum per chi seleziona</a:t>
            </a:r>
            <a:endParaRPr lang="en-US" sz="1200" dirty="0"/>
          </a:p>
        </p:txBody>
      </p:sp>
      <p:sp>
        <p:nvSpPr>
          <p:cNvPr id="22" name="Text 19"/>
          <p:cNvSpPr txBox="1"/>
          <p:nvPr/>
        </p:nvSpPr>
        <p:spPr>
          <a:xfrm>
            <a:off x="4937760" y="1975104"/>
            <a:ext cx="3657600" cy="548640"/>
          </a:xfrm>
          <a:prstGeom prst="rect">
            <a:avLst/>
          </a:prstGeom>
          <a:noFill/>
          <a:ln/>
        </p:spPr>
        <p:txBody>
          <a:bodyPr wrap="square" lIns="0" tIns="0" rIns="0" bIns="0" rtlCol="0" anchor="ctr"/>
          <a:lstStyle/>
          <a:p>
            <a:pPr indent="0" marL="0">
              <a:buNone/>
            </a:pPr>
            <a:r>
              <a:rPr lang="en-US" sz="1200" dirty="0">
                <a:solidFill>
                  <a:schemeClr val="accent1"/>
                </a:solidFill>
              </a:rPr>
              <a:t>Da valutare: possibile eccezione se preparatorio, ma attenzione</a:t>
            </a:r>
            <a:endParaRPr lang="en-US" sz="1200" dirty="0"/>
          </a:p>
        </p:txBody>
      </p:sp>
      <p:sp>
        <p:nvSpPr>
          <p:cNvPr id="23" name="Classificare le candidature e decidere chi passa al colloquio"/>
          <p:cNvSpPr/>
          <p:nvPr/>
        </p:nvSpPr>
        <p:spPr>
          <a:xfrm>
            <a:off x="457200" y="2596896"/>
            <a:ext cx="8229600" cy="548640"/>
          </a:xfrm>
          <a:prstGeom prst="roundRect">
            <a:avLst>
              <a:gd name="adj" fmla="val 13333"/>
            </a:avLst>
          </a:prstGeom>
          <a:solidFill>
            <a:srgbClr val="A86F1C"/>
          </a:solidFill>
          <a:ln/>
        </p:spPr>
      </p:sp>
      <p:sp>
        <p:nvSpPr>
          <p:cNvPr id="24" name="Text 21"/>
          <p:cNvSpPr txBox="1"/>
          <p:nvPr/>
        </p:nvSpPr>
        <p:spPr>
          <a:xfrm>
            <a:off x="640080" y="2596896"/>
            <a:ext cx="4297680" cy="548640"/>
          </a:xfrm>
          <a:prstGeom prst="rect">
            <a:avLst/>
          </a:prstGeom>
          <a:noFill/>
          <a:ln/>
        </p:spPr>
        <p:txBody>
          <a:bodyPr wrap="square" lIns="0" tIns="0" rIns="0" bIns="0" rtlCol="0" anchor="ctr"/>
          <a:lstStyle/>
          <a:p>
            <a:pPr indent="0" marL="0">
              <a:buNone/>
            </a:pPr>
            <a:r>
              <a:rPr lang="en-US" sz="1200" b="1" dirty="0">
                <a:solidFill>
                  <a:schemeClr val="bg1"/>
                </a:solidFill>
              </a:rPr>
              <a:t>Classificare le candidature e decidere chi passa al colloquio</a:t>
            </a:r>
            <a:endParaRPr lang="en-US" sz="1200" dirty="0"/>
          </a:p>
        </p:txBody>
      </p:sp>
      <p:sp>
        <p:nvSpPr>
          <p:cNvPr id="25" name="Text 22"/>
          <p:cNvSpPr txBox="1"/>
          <p:nvPr/>
        </p:nvSpPr>
        <p:spPr>
          <a:xfrm>
            <a:off x="4937760" y="2596896"/>
            <a:ext cx="3657600" cy="548640"/>
          </a:xfrm>
          <a:prstGeom prst="rect">
            <a:avLst/>
          </a:prstGeom>
          <a:noFill/>
          <a:ln/>
        </p:spPr>
        <p:txBody>
          <a:bodyPr wrap="square" lIns="0" tIns="0" rIns="0" bIns="0" rtlCol="0" anchor="ctr"/>
          <a:lstStyle/>
          <a:p>
            <a:pPr indent="0" marL="0">
              <a:buNone/>
            </a:pPr>
            <a:r>
              <a:rPr lang="en-US" sz="1200" dirty="0">
                <a:solidFill>
                  <a:schemeClr val="bg1"/>
                </a:solidFill>
              </a:rPr>
              <a:t>Ambito occupazione, Allegato III: alto rischio</a:t>
            </a:r>
            <a:endParaRPr lang="en-US" sz="1200" dirty="0"/>
          </a:p>
        </p:txBody>
      </p:sp>
      <p:sp>
        <p:nvSpPr>
          <p:cNvPr id="26" name="riquadro Eccezioni (art. 6, par. 3)"/>
          <p:cNvSpPr/>
          <p:nvPr/>
        </p:nvSpPr>
        <p:spPr>
          <a:xfrm>
            <a:off x="457200" y="3291840"/>
            <a:ext cx="8229600" cy="685800"/>
          </a:xfrm>
          <a:prstGeom prst="roundRect">
            <a:avLst>
              <a:gd name="adj" fmla="val 10667"/>
            </a:avLst>
          </a:prstGeom>
          <a:solidFill>
            <a:schemeClr val="bg2"/>
          </a:solidFill>
          <a:ln/>
        </p:spPr>
      </p:sp>
      <p:sp>
        <p:nvSpPr>
          <p:cNvPr id="27" name="barra"/>
          <p:cNvSpPr/>
          <p:nvPr/>
        </p:nvSpPr>
        <p:spPr>
          <a:xfrm>
            <a:off x="457200" y="3401568"/>
            <a:ext cx="54864" cy="466344"/>
          </a:xfrm>
          <a:prstGeom prst="rect">
            <a:avLst/>
          </a:prstGeom>
          <a:solidFill>
            <a:schemeClr val="accent1"/>
          </a:solidFill>
          <a:ln/>
        </p:spPr>
      </p:sp>
      <p:sp>
        <p:nvSpPr>
          <p:cNvPr id="28" name="Text 25"/>
          <p:cNvSpPr txBox="1"/>
          <p:nvPr/>
        </p:nvSpPr>
        <p:spPr>
          <a:xfrm>
            <a:off x="658368" y="338328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Eccezioni (art. 6, par. 3)</a:t>
            </a:r>
            <a:endParaRPr lang="en-US" sz="1100" dirty="0"/>
          </a:p>
        </p:txBody>
      </p:sp>
      <p:sp>
        <p:nvSpPr>
          <p:cNvPr id="29" name="Text 26"/>
          <p:cNvSpPr txBox="1"/>
          <p:nvPr/>
        </p:nvSpPr>
        <p:spPr>
          <a:xfrm>
            <a:off x="658368" y="3675888"/>
            <a:ext cx="7863840" cy="210312"/>
          </a:xfrm>
          <a:prstGeom prst="rect">
            <a:avLst/>
          </a:prstGeom>
          <a:noFill/>
          <a:ln/>
        </p:spPr>
        <p:txBody>
          <a:bodyPr wrap="square" lIns="0" tIns="0" rIns="0" bIns="0" rtlCol="0" anchor="t"/>
          <a:lstStyle/>
          <a:p>
            <a:pPr indent="0" marL="0">
              <a:buNone/>
            </a:pPr>
            <a:r>
              <a:rPr lang="en-US" sz="1100" dirty="0">
                <a:solidFill>
                  <a:schemeClr val="tx1"/>
                </a:solidFill>
              </a:rPr>
              <a:t>Compiti procedurali limitati, preparatori, che migliorano o rilevano senza sostituire la valutazione umana. Non con la profilazione. Analisi competenti.</a:t>
            </a:r>
            <a:endParaRPr lang="en-US" sz="1100" dirty="0"/>
          </a:p>
        </p:txBody>
      </p:sp>
      <p:sp>
        <p:nvSpPr>
          <p:cNvPr id="30" name="Text 27"/>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300" b="1" i="1" dirty="0">
                <a:solidFill>
                  <a:schemeClr val="accent1"/>
                </a:solidFill>
              </a:rPr>
              <a:t>Non 'lo strumento è ad alto rischio?', ma 'questo uso, con questa finalità, lo è?'</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B: la selezione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Bozza di email"/>
          <p:cNvSpPr/>
          <p:nvPr/>
        </p:nvSpPr>
        <p:spPr>
          <a:xfrm>
            <a:off x="457200" y="1051560"/>
            <a:ext cx="3977640" cy="2468880"/>
          </a:xfrm>
          <a:prstGeom prst="roundRect">
            <a:avLst>
              <a:gd name="adj" fmla="val 2963"/>
            </a:avLst>
          </a:prstGeom>
          <a:solidFill>
            <a:schemeClr val="bg2"/>
          </a:solidFill>
          <a:ln/>
        </p:spPr>
      </p:sp>
      <p:sp>
        <p:nvSpPr>
          <p:cNvPr id="17" name="cerchio FiMail"/>
          <p:cNvSpPr/>
          <p:nvPr/>
        </p:nvSpPr>
        <p:spPr>
          <a:xfrm>
            <a:off x="640080" y="1234440"/>
            <a:ext cx="457200" cy="457200"/>
          </a:xfrm>
          <a:prstGeom prst="ellipse">
            <a:avLst/>
          </a:prstGeom>
          <a:solidFill>
            <a:schemeClr val="accent1"/>
          </a:solidFill>
          <a:ln/>
        </p:spPr>
      </p:sp>
      <p:sp>
        <p:nvSpPr>
          <p:cNvPr id="18" name="scheda Analisi delle candidature"/>
          <p:cNvSpPr/>
          <p:nvPr/>
        </p:nvSpPr>
        <p:spPr>
          <a:xfrm>
            <a:off x="4709160" y="1051560"/>
            <a:ext cx="3977640" cy="2468880"/>
          </a:xfrm>
          <a:prstGeom prst="roundRect">
            <a:avLst>
              <a:gd name="adj" fmla="val 2963"/>
            </a:avLst>
          </a:prstGeom>
          <a:solidFill>
            <a:schemeClr val="accent6"/>
          </a:solidFill>
          <a:ln/>
        </p:spPr>
      </p:sp>
      <p:sp>
        <p:nvSpPr>
          <p:cNvPr id="19" name="cerchio FiUserPlus"/>
          <p:cNvSpPr/>
          <p:nvPr/>
        </p:nvSpPr>
        <p:spPr>
          <a:xfrm>
            <a:off x="4892040" y="1234440"/>
            <a:ext cx="457200" cy="457200"/>
          </a:xfrm>
          <a:prstGeom prst="ellipse">
            <a:avLst/>
          </a:prstGeom>
          <a:solidFill>
            <a:schemeClr val="accent1"/>
          </a:solidFill>
          <a:ln/>
        </p:spPr>
      </p:sp>
      <p:pic>
        <p:nvPicPr>
          <p:cNvPr id="20" name="Image 0" descr="FiUserPlus">    </p:cNvPr>
          <p:cNvPicPr>
            <a:picLocks noChangeAspect="1"/>
          </p:cNvPicPr>
          <p:nvPr/>
        </p:nvPicPr>
        <p:blipFill>
          <a:blip r:embed="rId1"/>
          <a:stretch>
            <a:fillRect/>
          </a:stretch>
        </p:blipFill>
        <p:spPr>
          <a:xfrm>
            <a:off x="5006340" y="1348740"/>
            <a:ext cx="228600" cy="228600"/>
          </a:xfrm>
          <a:prstGeom prst="rect">
            <a:avLst/>
          </a:prstGeom>
        </p:spPr>
      </p:pic>
      <p:sp>
        <p:nvSpPr>
          <p:cNvPr id="21"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Analisi delle candidature</a:t>
            </a:r>
            <a:endParaRPr lang="en-US" sz="1500" dirty="0"/>
          </a:p>
        </p:txBody>
      </p:sp>
      <p:sp>
        <p:nvSpPr>
          <p:cNvPr id="22" name="Text 18"/>
          <p:cNvSpPr txBox="1"/>
          <p:nvPr/>
        </p:nvSpPr>
        <p:spPr>
          <a:xfrm>
            <a:off x="4892040" y="2185416"/>
            <a:ext cx="3611880" cy="122529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Ambito occupazione, Allegato III</a:t>
            </a:r>
            <a:endParaRPr lang="en-US" sz="1300" dirty="0"/>
          </a:p>
          <a:p>
            <a:pPr marL="177800" indent="-177800">
              <a:spcAft>
                <a:spcPts val="400"/>
              </a:spcAft>
              <a:buSzPct val="100000"/>
              <a:buChar char="•"/>
            </a:pPr>
            <a:r>
              <a:rPr lang="en-US" sz="1300" dirty="0">
                <a:solidFill>
                  <a:schemeClr val="tx2"/>
                </a:solidFill>
              </a:rPr>
              <a:t>In linea di principio alto rischio, salvo eccezioni</a:t>
            </a:r>
            <a:endParaRPr lang="en-US" sz="1300" dirty="0"/>
          </a:p>
          <a:p>
            <a:pPr marL="177800" indent="-177800">
              <a:spcAft>
                <a:spcPts val="400"/>
              </a:spcAft>
              <a:buSzPct val="100000"/>
              <a:buChar char="•"/>
            </a:pPr>
            <a:r>
              <a:rPr lang="en-US" sz="1300" dirty="0">
                <a:solidFill>
                  <a:schemeClr val="tx2"/>
                </a:solidFill>
              </a:rPr>
              <a:t>Obblighi del deployer dal 2 dic 2027</a:t>
            </a:r>
            <a:endParaRPr lang="en-US" sz="1300" dirty="0"/>
          </a:p>
          <a:p>
            <a:pPr marL="177800" indent="-177800">
              <a:spcAft>
                <a:spcPts val="400"/>
              </a:spcAft>
              <a:buSzPct val="100000"/>
              <a:buChar char="•"/>
            </a:pPr>
            <a:r>
              <a:rPr lang="en-US" sz="1300" dirty="0">
                <a:solidFill>
                  <a:schemeClr val="tx2"/>
                </a:solidFill>
              </a:rPr>
              <a:t>Già oggi: GDPR, lavoro, non discriminazione, bias</a:t>
            </a:r>
            <a:endParaRPr lang="en-US" sz="1300" dirty="0"/>
          </a:p>
        </p:txBody>
      </p:sp>
      <p:pic>
        <p:nvPicPr>
          <p:cNvPr id="23" name="Image 1" descr="FiMail">    </p:cNvPr>
          <p:cNvPicPr>
            <a:picLocks noChangeAspect="1"/>
          </p:cNvPicPr>
          <p:nvPr/>
        </p:nvPicPr>
        <p:blipFill>
          <a:blip r:embed="rId2"/>
          <a:stretch>
            <a:fillRect/>
          </a:stretch>
        </p:blipFill>
        <p:spPr>
          <a:xfrm>
            <a:off x="754380" y="1348740"/>
            <a:ext cx="228600" cy="228600"/>
          </a:xfrm>
          <a:prstGeom prst="rect">
            <a:avLst/>
          </a:prstGeom>
        </p:spPr>
      </p:pic>
      <p:sp>
        <p:nvSpPr>
          <p:cNvPr id="24" name="Text 19"/>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Bozza di email</a:t>
            </a:r>
            <a:endParaRPr lang="en-US" sz="1500" dirty="0"/>
          </a:p>
        </p:txBody>
      </p:sp>
      <p:sp>
        <p:nvSpPr>
          <p:cNvPr id="25" name="Text 20"/>
          <p:cNvSpPr txBox="1"/>
          <p:nvPr/>
        </p:nvSpPr>
        <p:spPr>
          <a:xfrm>
            <a:off x="640080" y="2185416"/>
            <a:ext cx="3611880" cy="12252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Nessuna categoria dell'AI Act</a:t>
            </a:r>
            <a:endParaRPr lang="en-US" sz="1300" dirty="0"/>
          </a:p>
          <a:p>
            <a:pPr marL="177800" indent="-177800">
              <a:spcAft>
                <a:spcPts val="500"/>
              </a:spcAft>
              <a:buSzPct val="100000"/>
              <a:buChar char="•"/>
            </a:pPr>
            <a:r>
              <a:rPr lang="en-US" sz="1300" dirty="0">
                <a:solidFill>
                  <a:schemeClr val="tx2"/>
                </a:solidFill>
              </a:rPr>
              <a:t>Precauzioni d'uso</a:t>
            </a:r>
            <a:endParaRPr lang="en-US" sz="1300" dirty="0"/>
          </a:p>
          <a:p>
            <a:pPr marL="177800" indent="-177800">
              <a:spcAft>
                <a:spcPts val="500"/>
              </a:spcAft>
              <a:buSzPct val="100000"/>
              <a:buChar char="•"/>
            </a:pPr>
            <a:r>
              <a:rPr lang="en-US" sz="1300" dirty="0">
                <a:solidFill>
                  <a:schemeClr val="tx2"/>
                </a:solidFill>
              </a:rPr>
              <a:t>Nessun obbligo specifico</a:t>
            </a:r>
            <a:endParaRPr lang="en-US" sz="1300" dirty="0"/>
          </a:p>
        </p:txBody>
      </p:sp>
      <p:sp>
        <p:nvSpPr>
          <p:cNvPr id="26" name="messaggio"/>
          <p:cNvSpPr/>
          <p:nvPr/>
        </p:nvSpPr>
        <p:spPr>
          <a:xfrm>
            <a:off x="457200" y="3703320"/>
            <a:ext cx="8229600" cy="777240"/>
          </a:xfrm>
          <a:prstGeom prst="roundRect">
            <a:avLst>
              <a:gd name="adj" fmla="val 9412"/>
            </a:avLst>
          </a:prstGeom>
          <a:solidFill>
            <a:schemeClr val="tx1"/>
          </a:solidFill>
          <a:ln/>
        </p:spPr>
      </p:sp>
      <p:sp>
        <p:nvSpPr>
          <p:cNvPr id="27" name="Text 22"/>
          <p:cNvSpPr txBox="1"/>
          <p:nvPr/>
        </p:nvSpPr>
        <p:spPr>
          <a:xfrm>
            <a:off x="640080" y="3703320"/>
            <a:ext cx="7863840" cy="777240"/>
          </a:xfrm>
          <a:prstGeom prst="rect">
            <a:avLst/>
          </a:prstGeom>
          <a:noFill/>
          <a:ln/>
        </p:spPr>
        <p:txBody>
          <a:bodyPr wrap="square" lIns="0" tIns="0" rIns="0" bIns="0" rtlCol="0" anchor="ctr"/>
          <a:lstStyle/>
          <a:p>
            <a:pPr indent="0" marL="0">
              <a:buNone/>
            </a:pPr>
            <a:r>
              <a:rPr lang="en-US" sz="1400" dirty="0">
                <a:solidFill>
                  <a:schemeClr val="bg1"/>
                </a:solidFill>
              </a:rPr>
              <a:t>La finalità e il contesto decidono. Verificare disposizioni e scadenze con figure competenti.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Trasparenza e modelli generali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Trasparenza (art. 50, dal 2 ago 2026)"/>
          <p:cNvSpPr/>
          <p:nvPr/>
        </p:nvSpPr>
        <p:spPr>
          <a:xfrm>
            <a:off x="457200" y="1051560"/>
            <a:ext cx="3977640" cy="2788920"/>
          </a:xfrm>
          <a:prstGeom prst="roundRect">
            <a:avLst>
              <a:gd name="adj" fmla="val 2623"/>
            </a:avLst>
          </a:prstGeom>
          <a:solidFill>
            <a:schemeClr val="bg2"/>
          </a:solidFill>
          <a:ln/>
        </p:spPr>
      </p:sp>
      <p:sp>
        <p:nvSpPr>
          <p:cNvPr id="17" name="cerchio FiEye"/>
          <p:cNvSpPr/>
          <p:nvPr/>
        </p:nvSpPr>
        <p:spPr>
          <a:xfrm>
            <a:off x="640080" y="1234440"/>
            <a:ext cx="457200" cy="457200"/>
          </a:xfrm>
          <a:prstGeom prst="ellipse">
            <a:avLst/>
          </a:prstGeom>
          <a:solidFill>
            <a:schemeClr val="accent1"/>
          </a:solidFill>
          <a:ln/>
        </p:spPr>
      </p:sp>
      <p:pic>
        <p:nvPicPr>
          <p:cNvPr id="18" name="Image 0" descr="FiEye">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300" b="1" dirty="0">
                <a:solidFill>
                  <a:schemeClr val="tx1"/>
                </a:solidFill>
              </a:rPr>
              <a:t>Trasparenza (art. 50, dal 2 ago 2026)</a:t>
            </a:r>
            <a:endParaRPr lang="en-US" sz="1300" dirty="0"/>
          </a:p>
        </p:txBody>
      </p:sp>
      <p:sp>
        <p:nvSpPr>
          <p:cNvPr id="20" name="Text 16"/>
          <p:cNvSpPr txBox="1"/>
          <p:nvPr/>
        </p:nvSpPr>
        <p:spPr>
          <a:xfrm>
            <a:off x="640080" y="2185416"/>
            <a:ext cx="3611880" cy="1545336"/>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Chatbot: le persone sanno che è un'AI</a:t>
            </a:r>
            <a:endParaRPr lang="en-US" sz="1100" dirty="0"/>
          </a:p>
          <a:p>
            <a:pPr marL="177800" indent="-177800">
              <a:spcAft>
                <a:spcPts val="300"/>
              </a:spcAft>
              <a:buSzPct val="100000"/>
              <a:buChar char="•"/>
            </a:pPr>
            <a:r>
              <a:rPr lang="en-US" sz="1100" dirty="0">
                <a:solidFill>
                  <a:schemeClr val="tx2"/>
                </a:solidFill>
              </a:rPr>
              <a:t>Contenuti sintetici marcati (transitorio fino al 2 dic 2026)</a:t>
            </a:r>
            <a:endParaRPr lang="en-US" sz="1100" dirty="0"/>
          </a:p>
          <a:p>
            <a:pPr marL="177800" indent="-177800">
              <a:spcAft>
                <a:spcPts val="300"/>
              </a:spcAft>
              <a:buSzPct val="100000"/>
              <a:buChar char="•"/>
            </a:pPr>
            <a:r>
              <a:rPr lang="en-US" sz="1100" dirty="0">
                <a:solidFill>
                  <a:schemeClr val="tx2"/>
                </a:solidFill>
              </a:rPr>
              <a:t>Deepfake dichiarati; testi su temi di interesse pubblico</a:t>
            </a:r>
            <a:endParaRPr lang="en-US" sz="1100" dirty="0"/>
          </a:p>
          <a:p>
            <a:pPr marL="177800" indent="-177800">
              <a:spcAft>
                <a:spcPts val="300"/>
              </a:spcAft>
              <a:buSzPct val="100000"/>
              <a:buChar char="•"/>
            </a:pPr>
            <a:r>
              <a:rPr lang="en-US" sz="1100" dirty="0">
                <a:solidFill>
                  <a:schemeClr val="tx2"/>
                </a:solidFill>
              </a:rPr>
              <a:t>Riconoscimento emozioni: informare le persone</a:t>
            </a:r>
            <a:endParaRPr lang="en-US" sz="1100" dirty="0"/>
          </a:p>
        </p:txBody>
      </p:sp>
      <p:sp>
        <p:nvSpPr>
          <p:cNvPr id="21" name="scheda Modelli per finalità generali"/>
          <p:cNvSpPr/>
          <p:nvPr/>
        </p:nvSpPr>
        <p:spPr>
          <a:xfrm>
            <a:off x="4709160" y="1051560"/>
            <a:ext cx="3977640" cy="2788920"/>
          </a:xfrm>
          <a:prstGeom prst="roundRect">
            <a:avLst>
              <a:gd name="adj" fmla="val 2623"/>
            </a:avLst>
          </a:prstGeom>
          <a:solidFill>
            <a:schemeClr val="accent6"/>
          </a:solidFill>
          <a:ln/>
        </p:spPr>
      </p:sp>
      <p:sp>
        <p:nvSpPr>
          <p:cNvPr id="22" name="cerchio FiCpu"/>
          <p:cNvSpPr/>
          <p:nvPr/>
        </p:nvSpPr>
        <p:spPr>
          <a:xfrm>
            <a:off x="4892040" y="1234440"/>
            <a:ext cx="457200" cy="457200"/>
          </a:xfrm>
          <a:prstGeom prst="ellipse">
            <a:avLst/>
          </a:prstGeom>
          <a:solidFill>
            <a:schemeClr val="accent1"/>
          </a:solidFill>
          <a:ln/>
        </p:spPr>
      </p:sp>
      <p:pic>
        <p:nvPicPr>
          <p:cNvPr id="23" name="Image 1" descr="FiCpu">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300" b="1" dirty="0">
                <a:solidFill>
                  <a:schemeClr val="tx1"/>
                </a:solidFill>
              </a:rPr>
              <a:t>Modelli per finalità generali</a:t>
            </a:r>
            <a:endParaRPr lang="en-US" sz="1300" dirty="0"/>
          </a:p>
        </p:txBody>
      </p:sp>
      <p:sp>
        <p:nvSpPr>
          <p:cNvPr id="25" name="Text 20"/>
          <p:cNvSpPr txBox="1"/>
          <p:nvPr/>
        </p:nvSpPr>
        <p:spPr>
          <a:xfrm>
            <a:off x="4892040" y="2185416"/>
            <a:ext cx="3611880" cy="1545336"/>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2"/>
                </a:solidFill>
              </a:rPr>
              <a:t>Dal 2 agosto 2025</a:t>
            </a:r>
            <a:endParaRPr lang="en-US" sz="1100" dirty="0"/>
          </a:p>
          <a:p>
            <a:pPr marL="177800" indent="-177800">
              <a:spcAft>
                <a:spcPts val="300"/>
              </a:spcAft>
              <a:buSzPct val="100000"/>
              <a:buChar char="•"/>
            </a:pPr>
            <a:r>
              <a:rPr lang="en-US" sz="1100" dirty="0">
                <a:solidFill>
                  <a:schemeClr val="tx2"/>
                </a:solidFill>
              </a:rPr>
              <a:t>Obblighi dei fornitori dei modelli</a:t>
            </a:r>
            <a:endParaRPr lang="en-US" sz="1100" dirty="0"/>
          </a:p>
          <a:p>
            <a:pPr marL="177800" indent="-177800">
              <a:spcAft>
                <a:spcPts val="300"/>
              </a:spcAft>
              <a:buSzPct val="100000"/>
              <a:buChar char="•"/>
            </a:pPr>
            <a:r>
              <a:rPr lang="en-US" sz="1100" dirty="0">
                <a:solidFill>
                  <a:schemeClr val="tx2"/>
                </a:solidFill>
              </a:rPr>
              <a:t>Documentazione, diritto d'autore, sintesi dei dati di addestramento</a:t>
            </a:r>
            <a:endParaRPr lang="en-US" sz="1100" dirty="0"/>
          </a:p>
          <a:p>
            <a:pPr marL="177800" indent="-177800">
              <a:spcAft>
                <a:spcPts val="300"/>
              </a:spcAft>
              <a:buSzPct val="100000"/>
              <a:buChar char="•"/>
            </a:pPr>
            <a:r>
              <a:rPr lang="en-US" sz="1100" dirty="0">
                <a:solidFill>
                  <a:schemeClr val="tx2"/>
                </a:solidFill>
              </a:rPr>
              <a:t>Di più per il rischio sistemico</a:t>
            </a:r>
            <a:endParaRPr lang="en-US" sz="1100" dirty="0"/>
          </a:p>
        </p:txBody>
      </p:sp>
      <p:sp>
        <p:nvSpPr>
          <p:cNvPr id="26" name="messaggio"/>
          <p:cNvSpPr/>
          <p:nvPr/>
        </p:nvSpPr>
        <p:spPr>
          <a:xfrm>
            <a:off x="457200" y="3977640"/>
            <a:ext cx="8229600" cy="548640"/>
          </a:xfrm>
          <a:prstGeom prst="roundRect">
            <a:avLst>
              <a:gd name="adj" fmla="val 13333"/>
            </a:avLst>
          </a:prstGeom>
          <a:solidFill>
            <a:schemeClr val="tx1"/>
          </a:solidFill>
          <a:ln/>
        </p:spPr>
      </p:sp>
      <p:sp>
        <p:nvSpPr>
          <p:cNvPr id="27" name="Text 2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Usare un modello generale non rende l'azienda fornitore del modello. Ma l'uso specifico può avere obblighi propri.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Generativa non è alto rischio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Equivoco 1"/>
          <p:cNvSpPr/>
          <p:nvPr/>
        </p:nvSpPr>
        <p:spPr>
          <a:xfrm>
            <a:off x="457200" y="1051560"/>
            <a:ext cx="3977640" cy="2331720"/>
          </a:xfrm>
          <a:prstGeom prst="roundRect">
            <a:avLst>
              <a:gd name="adj" fmla="val 3137"/>
            </a:avLst>
          </a:prstGeom>
          <a:solidFill>
            <a:schemeClr val="bg2"/>
          </a:solidFill>
          <a:ln/>
        </p:spPr>
      </p:sp>
      <p:sp>
        <p:nvSpPr>
          <p:cNvPr id="17" name="cerchio FiXCircle"/>
          <p:cNvSpPr/>
          <p:nvPr/>
        </p:nvSpPr>
        <p:spPr>
          <a:xfrm>
            <a:off x="640080" y="1234440"/>
            <a:ext cx="457200" cy="457200"/>
          </a:xfrm>
          <a:prstGeom prst="ellipse">
            <a:avLst/>
          </a:prstGeom>
          <a:solidFill>
            <a:schemeClr val="accent1"/>
          </a:solidFill>
          <a:ln/>
        </p:spPr>
      </p:sp>
      <p:sp>
        <p:nvSpPr>
          <p:cNvPr id="18" name="scheda Equivoco 2"/>
          <p:cNvSpPr/>
          <p:nvPr/>
        </p:nvSpPr>
        <p:spPr>
          <a:xfrm>
            <a:off x="4709160" y="1051560"/>
            <a:ext cx="3977640" cy="2331720"/>
          </a:xfrm>
          <a:prstGeom prst="roundRect">
            <a:avLst>
              <a:gd name="adj" fmla="val 3137"/>
            </a:avLst>
          </a:prstGeom>
          <a:solidFill>
            <a:schemeClr val="accent6"/>
          </a:solidFill>
          <a:ln/>
        </p:spPr>
      </p:sp>
      <p:sp>
        <p:nvSpPr>
          <p:cNvPr id="19" name="cerchio FiXCircle"/>
          <p:cNvSpPr/>
          <p:nvPr/>
        </p:nvSpPr>
        <p:spPr>
          <a:xfrm>
            <a:off x="4892040" y="1234440"/>
            <a:ext cx="457200" cy="457200"/>
          </a:xfrm>
          <a:prstGeom prst="ellipse">
            <a:avLst/>
          </a:prstGeom>
          <a:solidFill>
            <a:schemeClr val="accent1"/>
          </a:solidFill>
          <a:ln/>
        </p:spPr>
      </p:sp>
      <p:pic>
        <p:nvPicPr>
          <p:cNvPr id="20" name="Image 0" descr="FiXCircle">    </p:cNvPr>
          <p:cNvPicPr>
            <a:picLocks noChangeAspect="1"/>
          </p:cNvPicPr>
          <p:nvPr/>
        </p:nvPicPr>
        <p:blipFill>
          <a:blip r:embed="rId1"/>
          <a:stretch>
            <a:fillRect/>
          </a:stretch>
        </p:blipFill>
        <p:spPr>
          <a:xfrm>
            <a:off x="754380" y="1348740"/>
            <a:ext cx="228600" cy="228600"/>
          </a:xfrm>
          <a:prstGeom prst="rect">
            <a:avLst/>
          </a:prstGeom>
        </p:spPr>
      </p:pic>
      <p:sp>
        <p:nvSpPr>
          <p:cNvPr id="21"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Equivoco 1</a:t>
            </a:r>
            <a:endParaRPr lang="en-US" sz="1500" dirty="0"/>
          </a:p>
        </p:txBody>
      </p:sp>
      <p:sp>
        <p:nvSpPr>
          <p:cNvPr id="22" name="Text 18"/>
          <p:cNvSpPr txBox="1"/>
          <p:nvPr/>
        </p:nvSpPr>
        <p:spPr>
          <a:xfrm>
            <a:off x="640080" y="2185416"/>
            <a:ext cx="3611880" cy="1088136"/>
          </a:xfrm>
          <a:prstGeom prst="rect">
            <a:avLst/>
          </a:prstGeom>
          <a:noFill/>
          <a:ln/>
        </p:spPr>
        <p:txBody>
          <a:bodyPr wrap="square" lIns="0" tIns="0" rIns="0" bIns="0" rtlCol="0" anchor="t"/>
          <a:lstStyle/>
          <a:p>
            <a:pPr indent="0" marL="0">
              <a:buNone/>
            </a:pPr>
            <a:r>
              <a:rPr lang="en-US" sz="1300" dirty="0">
                <a:solidFill>
                  <a:schemeClr val="tx2"/>
                </a:solidFill>
              </a:rPr>
              <a:t>'Usiamo l'AI generativa, quindi siamo ad alto rischio.'</a:t>
            </a:r>
            <a:endParaRPr lang="en-US" sz="1300" dirty="0"/>
          </a:p>
          <a:p>
            <a:pPr indent="0" marL="0">
              <a:buNone/>
            </a:pPr>
            <a:endParaRPr lang="en-US" sz="1300" dirty="0"/>
          </a:p>
          <a:p>
            <a:pPr indent="0" marL="0">
              <a:buNone/>
            </a:pPr>
            <a:r>
              <a:rPr lang="en-US" sz="1300" dirty="0">
                <a:solidFill>
                  <a:schemeClr val="tx2"/>
                </a:solidFill>
              </a:rPr>
              <a:t>No: la maggioranza degli usi, scrivere, riassumere, tradurre, non rientra in alcuna categoria ad alto rischio.</a:t>
            </a:r>
            <a:endParaRPr lang="en-US" sz="1300" dirty="0"/>
          </a:p>
        </p:txBody>
      </p:sp>
      <p:pic>
        <p:nvPicPr>
          <p:cNvPr id="23" name="Image 1" descr="FiXCircle">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Equivoco 2</a:t>
            </a:r>
            <a:endParaRPr lang="en-US" sz="1500" dirty="0"/>
          </a:p>
        </p:txBody>
      </p:sp>
      <p:sp>
        <p:nvSpPr>
          <p:cNvPr id="25" name="Text 20"/>
          <p:cNvSpPr txBox="1"/>
          <p:nvPr/>
        </p:nvSpPr>
        <p:spPr>
          <a:xfrm>
            <a:off x="4892040" y="2185416"/>
            <a:ext cx="3611880" cy="1088136"/>
          </a:xfrm>
          <a:prstGeom prst="rect">
            <a:avLst/>
          </a:prstGeom>
          <a:noFill/>
          <a:ln/>
        </p:spPr>
        <p:txBody>
          <a:bodyPr wrap="square" lIns="0" tIns="0" rIns="0" bIns="0" rtlCol="0" anchor="t"/>
          <a:lstStyle/>
          <a:p>
            <a:pPr indent="0" marL="0">
              <a:buNone/>
            </a:pPr>
            <a:r>
              <a:rPr lang="en-US" sz="1300" dirty="0">
                <a:solidFill>
                  <a:schemeClr val="tx2"/>
                </a:solidFill>
              </a:rPr>
              <a:t>'Non siamo ad alto rischio, quindi non c'è niente da fare.'</a:t>
            </a:r>
            <a:endParaRPr lang="en-US" sz="1300" dirty="0"/>
          </a:p>
          <a:p>
            <a:pPr indent="0" marL="0">
              <a:buNone/>
            </a:pPr>
            <a:endParaRPr lang="en-US" sz="1300" dirty="0"/>
          </a:p>
          <a:p>
            <a:pPr indent="0" marL="0">
              <a:buNone/>
            </a:pPr>
            <a:r>
              <a:rPr lang="en-US" sz="1300" dirty="0">
                <a:solidFill>
                  <a:schemeClr val="tx2"/>
                </a:solidFill>
              </a:rPr>
              <a:t>No: restano rischi operativi e altre norme: GDPR, diritto d'autore, consumatori.</a:t>
            </a:r>
            <a:endParaRPr lang="en-US" sz="1300" dirty="0"/>
          </a:p>
        </p:txBody>
      </p:sp>
      <p:sp>
        <p:nvSpPr>
          <p:cNvPr id="26" name="riquadro Classificazione legale"/>
          <p:cNvSpPr/>
          <p:nvPr/>
        </p:nvSpPr>
        <p:spPr>
          <a:xfrm>
            <a:off x="457200" y="3520440"/>
            <a:ext cx="3977640" cy="914400"/>
          </a:xfrm>
          <a:prstGeom prst="roundRect">
            <a:avLst>
              <a:gd name="adj" fmla="val 8000"/>
            </a:avLst>
          </a:prstGeom>
          <a:solidFill>
            <a:schemeClr val="bg2"/>
          </a:solidFill>
          <a:ln/>
        </p:spPr>
      </p:sp>
      <p:sp>
        <p:nvSpPr>
          <p:cNvPr id="27" name="barra"/>
          <p:cNvSpPr/>
          <p:nvPr/>
        </p:nvSpPr>
        <p:spPr>
          <a:xfrm>
            <a:off x="457200" y="3630168"/>
            <a:ext cx="54864" cy="694944"/>
          </a:xfrm>
          <a:prstGeom prst="rect">
            <a:avLst/>
          </a:prstGeom>
          <a:solidFill>
            <a:schemeClr val="accent1"/>
          </a:solidFill>
          <a:ln/>
        </p:spPr>
      </p:sp>
      <p:sp>
        <p:nvSpPr>
          <p:cNvPr id="28" name="Text 23"/>
          <p:cNvSpPr txBox="1"/>
          <p:nvPr/>
        </p:nvSpPr>
        <p:spPr>
          <a:xfrm>
            <a:off x="658368" y="361188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Classificazione legale</a:t>
            </a:r>
            <a:endParaRPr lang="en-US" sz="1100" dirty="0"/>
          </a:p>
        </p:txBody>
      </p:sp>
      <p:sp>
        <p:nvSpPr>
          <p:cNvPr id="29" name="Text 24"/>
          <p:cNvSpPr txBox="1"/>
          <p:nvPr/>
        </p:nvSpPr>
        <p:spPr>
          <a:xfrm>
            <a:off x="658368" y="3904488"/>
            <a:ext cx="3611880" cy="438912"/>
          </a:xfrm>
          <a:prstGeom prst="rect">
            <a:avLst/>
          </a:prstGeom>
          <a:noFill/>
          <a:ln/>
        </p:spPr>
        <p:txBody>
          <a:bodyPr wrap="square" lIns="0" tIns="0" rIns="0" bIns="0" rtlCol="0" anchor="t"/>
          <a:lstStyle/>
          <a:p>
            <a:pPr indent="0" marL="0">
              <a:buNone/>
            </a:pPr>
            <a:r>
              <a:rPr lang="en-US" sz="1200" dirty="0">
                <a:solidFill>
                  <a:schemeClr val="tx1"/>
                </a:solidFill>
              </a:rPr>
              <a:t>Quali obblighi specifici dell'AI Act si applicano.</a:t>
            </a:r>
            <a:endParaRPr lang="en-US" sz="1200" dirty="0"/>
          </a:p>
        </p:txBody>
      </p:sp>
      <p:sp>
        <p:nvSpPr>
          <p:cNvPr id="30" name="riquadro Valutazione aziendale dei rischi (18.6)"/>
          <p:cNvSpPr/>
          <p:nvPr/>
        </p:nvSpPr>
        <p:spPr>
          <a:xfrm>
            <a:off x="4709160" y="3520440"/>
            <a:ext cx="3977640" cy="914400"/>
          </a:xfrm>
          <a:prstGeom prst="roundRect">
            <a:avLst>
              <a:gd name="adj" fmla="val 8000"/>
            </a:avLst>
          </a:prstGeom>
          <a:solidFill>
            <a:schemeClr val="accent6"/>
          </a:solidFill>
          <a:ln/>
        </p:spPr>
      </p:sp>
      <p:sp>
        <p:nvSpPr>
          <p:cNvPr id="31" name="barra"/>
          <p:cNvSpPr/>
          <p:nvPr/>
        </p:nvSpPr>
        <p:spPr>
          <a:xfrm>
            <a:off x="4709160" y="3630168"/>
            <a:ext cx="54864" cy="694944"/>
          </a:xfrm>
          <a:prstGeom prst="rect">
            <a:avLst/>
          </a:prstGeom>
          <a:solidFill>
            <a:schemeClr val="accent1"/>
          </a:solidFill>
          <a:ln/>
        </p:spPr>
      </p:sp>
      <p:sp>
        <p:nvSpPr>
          <p:cNvPr id="32" name="Text 27"/>
          <p:cNvSpPr txBox="1"/>
          <p:nvPr/>
        </p:nvSpPr>
        <p:spPr>
          <a:xfrm>
            <a:off x="4910328" y="361188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Valutazione aziendale dei rischi (18.6)</a:t>
            </a:r>
            <a:endParaRPr lang="en-US" sz="1100" dirty="0"/>
          </a:p>
        </p:txBody>
      </p:sp>
      <p:sp>
        <p:nvSpPr>
          <p:cNvPr id="33" name="Text 28"/>
          <p:cNvSpPr txBox="1"/>
          <p:nvPr/>
        </p:nvSpPr>
        <p:spPr>
          <a:xfrm>
            <a:off x="4910328" y="3904488"/>
            <a:ext cx="3611880" cy="438912"/>
          </a:xfrm>
          <a:prstGeom prst="rect">
            <a:avLst/>
          </a:prstGeom>
          <a:noFill/>
          <a:ln/>
        </p:spPr>
        <p:txBody>
          <a:bodyPr wrap="square" lIns="0" tIns="0" rIns="0" bIns="0" rtlCol="0" anchor="t"/>
          <a:lstStyle/>
          <a:p>
            <a:pPr indent="0" marL="0">
              <a:buNone/>
            </a:pPr>
            <a:r>
              <a:rPr lang="en-US" sz="1200" dirty="0">
                <a:solidFill>
                  <a:schemeClr val="tx1"/>
                </a:solidFill>
              </a:rPr>
              <a:t>Quali rischi l'azienda deve gestire, comunque.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regime applicabile dipende dalla finalità e dalla qualificazione giuridica, non dalla presenza di un modello avanzato. E non essere ad alto rischio non significa non avere rischi né obblighi.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18.3  ·  L'approccio basato sul rischio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Ruoli e responsabilità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Impiegare sistemi di terzi non elimina automaticamente le responsabilità dell'organizzazione utilizzatrice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ruoli della filiera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ovider"/>
          <p:cNvSpPr/>
          <p:nvPr/>
        </p:nvSpPr>
        <p:spPr>
          <a:xfrm>
            <a:off x="457200" y="1051560"/>
            <a:ext cx="1965960" cy="2331720"/>
          </a:xfrm>
          <a:prstGeom prst="roundRect">
            <a:avLst>
              <a:gd name="adj" fmla="val 3721"/>
            </a:avLst>
          </a:prstGeom>
          <a:solidFill>
            <a:schemeClr val="bg2"/>
          </a:solidFill>
          <a:ln/>
        </p:spPr>
      </p:sp>
      <p:sp>
        <p:nvSpPr>
          <p:cNvPr id="17" name="cerchio FiTool"/>
          <p:cNvSpPr/>
          <p:nvPr/>
        </p:nvSpPr>
        <p:spPr>
          <a:xfrm>
            <a:off x="1143000" y="1143000"/>
            <a:ext cx="566928" cy="566928"/>
          </a:xfrm>
          <a:prstGeom prst="ellipse">
            <a:avLst/>
          </a:prstGeom>
          <a:solidFill>
            <a:schemeClr val="accent1"/>
          </a:solidFill>
          <a:ln/>
        </p:spPr>
      </p:sp>
      <p:pic>
        <p:nvPicPr>
          <p:cNvPr id="18" name="Image 0" descr="FiTool">    </p:cNvPr>
          <p:cNvPicPr>
            <a:picLocks noChangeAspect="1"/>
          </p:cNvPicPr>
          <p:nvPr/>
        </p:nvPicPr>
        <p:blipFill>
          <a:blip r:embed="rId1"/>
          <a:stretch>
            <a:fillRect/>
          </a:stretch>
        </p:blipFill>
        <p:spPr>
          <a:xfrm>
            <a:off x="1284732" y="1284732"/>
            <a:ext cx="283464" cy="283464"/>
          </a:xfrm>
          <a:prstGeom prst="rect">
            <a:avLst/>
          </a:prstGeom>
        </p:spPr>
      </p:pic>
      <p:sp>
        <p:nvSpPr>
          <p:cNvPr id="19" name="Text 15"/>
          <p:cNvSpPr txBox="1"/>
          <p:nvPr/>
        </p:nvSpPr>
        <p:spPr>
          <a:xfrm>
            <a:off x="548640" y="178308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Provider</a:t>
            </a:r>
            <a:endParaRPr lang="en-US" sz="1500" dirty="0"/>
          </a:p>
        </p:txBody>
      </p:sp>
      <p:sp>
        <p:nvSpPr>
          <p:cNvPr id="20" name="Text 16"/>
          <p:cNvSpPr txBox="1"/>
          <p:nvPr/>
        </p:nvSpPr>
        <p:spPr>
          <a:xfrm>
            <a:off x="566928" y="2167128"/>
            <a:ext cx="1746504" cy="777240"/>
          </a:xfrm>
          <a:prstGeom prst="rect">
            <a:avLst/>
          </a:prstGeom>
          <a:noFill/>
          <a:ln/>
        </p:spPr>
        <p:txBody>
          <a:bodyPr wrap="square" lIns="0" tIns="0" rIns="0" bIns="0" rtlCol="0" anchor="t"/>
          <a:lstStyle/>
          <a:p>
            <a:pPr algn="ctr" indent="0" marL="0">
              <a:buNone/>
            </a:pPr>
            <a:r>
              <a:rPr lang="en-US" sz="1100" dirty="0">
                <a:solidFill>
                  <a:schemeClr val="tx1"/>
                </a:solidFill>
              </a:rPr>
              <a:t>Sviluppa o fa sviluppare, e immette sul mercato con il proprio nome</a:t>
            </a:r>
            <a:endParaRPr lang="en-US" sz="1100" dirty="0"/>
          </a:p>
        </p:txBody>
      </p:sp>
      <p:sp>
        <p:nvSpPr>
          <p:cNvPr id="21" name="Text 17"/>
          <p:cNvSpPr txBox="1"/>
          <p:nvPr/>
        </p:nvSpPr>
        <p:spPr>
          <a:xfrm>
            <a:off x="566928" y="2971800"/>
            <a:ext cx="1746504" cy="365760"/>
          </a:xfrm>
          <a:prstGeom prst="rect">
            <a:avLst/>
          </a:prstGeom>
          <a:noFill/>
          <a:ln/>
        </p:spPr>
        <p:txBody>
          <a:bodyPr wrap="square" lIns="0" tIns="0" rIns="0" bIns="0" rtlCol="0" anchor="t"/>
          <a:lstStyle/>
          <a:p>
            <a:pPr algn="ctr" indent="0" marL="0">
              <a:buNone/>
            </a:pPr>
            <a:r>
              <a:rPr lang="en-US" sz="1100" b="1" dirty="0">
                <a:solidFill>
                  <a:schemeClr val="accent1"/>
                </a:solidFill>
              </a:rPr>
              <a:t>Obblighi più estesi</a:t>
            </a:r>
            <a:endParaRPr lang="en-US" sz="1100" dirty="0"/>
          </a:p>
        </p:txBody>
      </p:sp>
      <p:sp>
        <p:nvSpPr>
          <p:cNvPr id="22" name="Deployer"/>
          <p:cNvSpPr/>
          <p:nvPr/>
        </p:nvSpPr>
        <p:spPr>
          <a:xfrm>
            <a:off x="2560320" y="1051560"/>
            <a:ext cx="1965960" cy="2331720"/>
          </a:xfrm>
          <a:prstGeom prst="roundRect">
            <a:avLst>
              <a:gd name="adj" fmla="val 3721"/>
            </a:avLst>
          </a:prstGeom>
          <a:solidFill>
            <a:schemeClr val="accent6"/>
          </a:solidFill>
          <a:ln/>
        </p:spPr>
      </p:sp>
      <p:sp>
        <p:nvSpPr>
          <p:cNvPr id="23" name="cerchio FiBriefcase"/>
          <p:cNvSpPr/>
          <p:nvPr/>
        </p:nvSpPr>
        <p:spPr>
          <a:xfrm>
            <a:off x="3246120" y="1143000"/>
            <a:ext cx="566928" cy="566928"/>
          </a:xfrm>
          <a:prstGeom prst="ellipse">
            <a:avLst/>
          </a:prstGeom>
          <a:solidFill>
            <a:schemeClr val="accent1"/>
          </a:solidFill>
          <a:ln/>
        </p:spPr>
      </p:sp>
      <p:pic>
        <p:nvPicPr>
          <p:cNvPr id="24" name="Image 1" descr="FiBriefcase">    </p:cNvPr>
          <p:cNvPicPr>
            <a:picLocks noChangeAspect="1"/>
          </p:cNvPicPr>
          <p:nvPr/>
        </p:nvPicPr>
        <p:blipFill>
          <a:blip r:embed="rId2"/>
          <a:stretch>
            <a:fillRect/>
          </a:stretch>
        </p:blipFill>
        <p:spPr>
          <a:xfrm>
            <a:off x="3387852" y="1284732"/>
            <a:ext cx="283464" cy="283464"/>
          </a:xfrm>
          <a:prstGeom prst="rect">
            <a:avLst/>
          </a:prstGeom>
        </p:spPr>
      </p:pic>
      <p:sp>
        <p:nvSpPr>
          <p:cNvPr id="25" name="Text 20"/>
          <p:cNvSpPr txBox="1"/>
          <p:nvPr/>
        </p:nvSpPr>
        <p:spPr>
          <a:xfrm>
            <a:off x="2651760" y="178308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Deployer</a:t>
            </a:r>
            <a:endParaRPr lang="en-US" sz="1500" dirty="0"/>
          </a:p>
        </p:txBody>
      </p:sp>
      <p:sp>
        <p:nvSpPr>
          <p:cNvPr id="26" name="Text 21"/>
          <p:cNvSpPr txBox="1"/>
          <p:nvPr/>
        </p:nvSpPr>
        <p:spPr>
          <a:xfrm>
            <a:off x="2670048" y="2167128"/>
            <a:ext cx="1746504" cy="777240"/>
          </a:xfrm>
          <a:prstGeom prst="rect">
            <a:avLst/>
          </a:prstGeom>
          <a:noFill/>
          <a:ln/>
        </p:spPr>
        <p:txBody>
          <a:bodyPr wrap="square" lIns="0" tIns="0" rIns="0" bIns="0" rtlCol="0" anchor="t"/>
          <a:lstStyle/>
          <a:p>
            <a:pPr algn="ctr" indent="0" marL="0">
              <a:buNone/>
            </a:pPr>
            <a:r>
              <a:rPr lang="en-US" sz="1100" dirty="0">
                <a:solidFill>
                  <a:schemeClr val="tx1"/>
                </a:solidFill>
              </a:rPr>
              <a:t>Usa un sistema sotto la propria autorità, in attività professionale</a:t>
            </a:r>
            <a:endParaRPr lang="en-US" sz="1100" dirty="0"/>
          </a:p>
        </p:txBody>
      </p:sp>
      <p:sp>
        <p:nvSpPr>
          <p:cNvPr id="27" name="Text 22"/>
          <p:cNvSpPr txBox="1"/>
          <p:nvPr/>
        </p:nvSpPr>
        <p:spPr>
          <a:xfrm>
            <a:off x="2670048" y="2971800"/>
            <a:ext cx="1746504" cy="365760"/>
          </a:xfrm>
          <a:prstGeom prst="rect">
            <a:avLst/>
          </a:prstGeom>
          <a:noFill/>
          <a:ln/>
        </p:spPr>
        <p:txBody>
          <a:bodyPr wrap="square" lIns="0" tIns="0" rIns="0" bIns="0" rtlCol="0" anchor="t"/>
          <a:lstStyle/>
          <a:p>
            <a:pPr algn="ctr" indent="0" marL="0">
              <a:buNone/>
            </a:pPr>
            <a:r>
              <a:rPr lang="en-US" sz="1100" b="1" dirty="0">
                <a:solidFill>
                  <a:schemeClr val="accent1"/>
                </a:solidFill>
              </a:rPr>
              <a:t>Il ruolo tipico di un'azienda</a:t>
            </a:r>
            <a:endParaRPr lang="en-US" sz="1100" dirty="0"/>
          </a:p>
        </p:txBody>
      </p:sp>
      <p:sp>
        <p:nvSpPr>
          <p:cNvPr id="28" name="Importatore"/>
          <p:cNvSpPr/>
          <p:nvPr/>
        </p:nvSpPr>
        <p:spPr>
          <a:xfrm>
            <a:off x="4663440" y="1051560"/>
            <a:ext cx="1965960" cy="2331720"/>
          </a:xfrm>
          <a:prstGeom prst="roundRect">
            <a:avLst>
              <a:gd name="adj" fmla="val 3721"/>
            </a:avLst>
          </a:prstGeom>
          <a:solidFill>
            <a:schemeClr val="bg2"/>
          </a:solidFill>
          <a:ln/>
        </p:spPr>
      </p:sp>
      <p:sp>
        <p:nvSpPr>
          <p:cNvPr id="29" name="cerchio FiGlobe"/>
          <p:cNvSpPr/>
          <p:nvPr/>
        </p:nvSpPr>
        <p:spPr>
          <a:xfrm>
            <a:off x="5349240" y="1143000"/>
            <a:ext cx="566928" cy="566928"/>
          </a:xfrm>
          <a:prstGeom prst="ellipse">
            <a:avLst/>
          </a:prstGeom>
          <a:solidFill>
            <a:schemeClr val="accent1"/>
          </a:solidFill>
          <a:ln/>
        </p:spPr>
      </p:sp>
      <p:pic>
        <p:nvPicPr>
          <p:cNvPr id="30" name="Image 2" descr="FiGlobe">    </p:cNvPr>
          <p:cNvPicPr>
            <a:picLocks noChangeAspect="1"/>
          </p:cNvPicPr>
          <p:nvPr/>
        </p:nvPicPr>
        <p:blipFill>
          <a:blip r:embed="rId3"/>
          <a:stretch>
            <a:fillRect/>
          </a:stretch>
        </p:blipFill>
        <p:spPr>
          <a:xfrm>
            <a:off x="5490972" y="1284732"/>
            <a:ext cx="283464" cy="283464"/>
          </a:xfrm>
          <a:prstGeom prst="rect">
            <a:avLst/>
          </a:prstGeom>
        </p:spPr>
      </p:pic>
      <p:sp>
        <p:nvSpPr>
          <p:cNvPr id="31" name="Text 25"/>
          <p:cNvSpPr txBox="1"/>
          <p:nvPr/>
        </p:nvSpPr>
        <p:spPr>
          <a:xfrm>
            <a:off x="4754880" y="178308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Importatore</a:t>
            </a:r>
            <a:endParaRPr lang="en-US" sz="1500" dirty="0"/>
          </a:p>
        </p:txBody>
      </p:sp>
      <p:sp>
        <p:nvSpPr>
          <p:cNvPr id="32" name="Text 26"/>
          <p:cNvSpPr txBox="1"/>
          <p:nvPr/>
        </p:nvSpPr>
        <p:spPr>
          <a:xfrm>
            <a:off x="4773168" y="2167128"/>
            <a:ext cx="1746504" cy="777240"/>
          </a:xfrm>
          <a:prstGeom prst="rect">
            <a:avLst/>
          </a:prstGeom>
          <a:noFill/>
          <a:ln/>
        </p:spPr>
        <p:txBody>
          <a:bodyPr wrap="square" lIns="0" tIns="0" rIns="0" bIns="0" rtlCol="0" anchor="t"/>
          <a:lstStyle/>
          <a:p>
            <a:pPr algn="ctr" indent="0" marL="0">
              <a:buNone/>
            </a:pPr>
            <a:r>
              <a:rPr lang="en-US" sz="1100" dirty="0">
                <a:solidFill>
                  <a:schemeClr val="tx1"/>
                </a:solidFill>
              </a:rPr>
              <a:t>Immette nell'UE un sistema di un fornitore extra UE</a:t>
            </a:r>
            <a:endParaRPr lang="en-US" sz="1100" dirty="0"/>
          </a:p>
        </p:txBody>
      </p:sp>
      <p:sp>
        <p:nvSpPr>
          <p:cNvPr id="33" name="Text 27"/>
          <p:cNvSpPr txBox="1"/>
          <p:nvPr/>
        </p:nvSpPr>
        <p:spPr>
          <a:xfrm>
            <a:off x="4773168" y="2971800"/>
            <a:ext cx="1746504" cy="365760"/>
          </a:xfrm>
          <a:prstGeom prst="rect">
            <a:avLst/>
          </a:prstGeom>
          <a:noFill/>
          <a:ln/>
        </p:spPr>
        <p:txBody>
          <a:bodyPr wrap="square" lIns="0" tIns="0" rIns="0" bIns="0" rtlCol="0" anchor="t"/>
          <a:lstStyle/>
          <a:p>
            <a:pPr algn="ctr" indent="0" marL="0">
              <a:buNone/>
            </a:pPr>
            <a:r>
              <a:rPr lang="en-US" sz="1100" b="1" dirty="0">
                <a:solidFill>
                  <a:schemeClr val="accent1"/>
                </a:solidFill>
              </a:rPr>
              <a:t>Nei casi pertinenti</a:t>
            </a:r>
            <a:endParaRPr lang="en-US" sz="1100" dirty="0"/>
          </a:p>
        </p:txBody>
      </p:sp>
      <p:sp>
        <p:nvSpPr>
          <p:cNvPr id="34" name="Distributore"/>
          <p:cNvSpPr/>
          <p:nvPr/>
        </p:nvSpPr>
        <p:spPr>
          <a:xfrm>
            <a:off x="6766560" y="1051560"/>
            <a:ext cx="1965960" cy="2331720"/>
          </a:xfrm>
          <a:prstGeom prst="roundRect">
            <a:avLst>
              <a:gd name="adj" fmla="val 3721"/>
            </a:avLst>
          </a:prstGeom>
          <a:solidFill>
            <a:schemeClr val="bg2"/>
          </a:solidFill>
          <a:ln/>
        </p:spPr>
      </p:sp>
      <p:sp>
        <p:nvSpPr>
          <p:cNvPr id="35" name="cerchio FiTruck"/>
          <p:cNvSpPr/>
          <p:nvPr/>
        </p:nvSpPr>
        <p:spPr>
          <a:xfrm>
            <a:off x="7452360" y="1143000"/>
            <a:ext cx="566928" cy="566928"/>
          </a:xfrm>
          <a:prstGeom prst="ellipse">
            <a:avLst/>
          </a:prstGeom>
          <a:solidFill>
            <a:schemeClr val="accent1"/>
          </a:solidFill>
          <a:ln/>
        </p:spPr>
      </p:sp>
      <p:pic>
        <p:nvPicPr>
          <p:cNvPr id="36" name="Image 3" descr="FiTruck">    </p:cNvPr>
          <p:cNvPicPr>
            <a:picLocks noChangeAspect="1"/>
          </p:cNvPicPr>
          <p:nvPr/>
        </p:nvPicPr>
        <p:blipFill>
          <a:blip r:embed="rId4"/>
          <a:stretch>
            <a:fillRect/>
          </a:stretch>
        </p:blipFill>
        <p:spPr>
          <a:xfrm>
            <a:off x="7594092" y="1284732"/>
            <a:ext cx="283464" cy="283464"/>
          </a:xfrm>
          <a:prstGeom prst="rect">
            <a:avLst/>
          </a:prstGeom>
        </p:spPr>
      </p:pic>
      <p:sp>
        <p:nvSpPr>
          <p:cNvPr id="37" name="Text 30"/>
          <p:cNvSpPr txBox="1"/>
          <p:nvPr/>
        </p:nvSpPr>
        <p:spPr>
          <a:xfrm>
            <a:off x="6858000" y="1783080"/>
            <a:ext cx="1783080" cy="365760"/>
          </a:xfrm>
          <a:prstGeom prst="rect">
            <a:avLst/>
          </a:prstGeom>
          <a:noFill/>
          <a:ln/>
        </p:spPr>
        <p:txBody>
          <a:bodyPr wrap="square" lIns="0" tIns="0" rIns="0" bIns="0" rtlCol="0" anchor="t"/>
          <a:lstStyle/>
          <a:p>
            <a:pPr algn="ctr" indent="0" marL="0">
              <a:buNone/>
            </a:pPr>
            <a:r>
              <a:rPr lang="en-US" sz="1500" b="1" dirty="0">
                <a:solidFill>
                  <a:schemeClr val="tx1"/>
                </a:solidFill>
              </a:rPr>
              <a:t>Distributore</a:t>
            </a:r>
            <a:endParaRPr lang="en-US" sz="1500" dirty="0"/>
          </a:p>
        </p:txBody>
      </p:sp>
      <p:sp>
        <p:nvSpPr>
          <p:cNvPr id="38" name="Text 31"/>
          <p:cNvSpPr txBox="1"/>
          <p:nvPr/>
        </p:nvSpPr>
        <p:spPr>
          <a:xfrm>
            <a:off x="6876288" y="2167128"/>
            <a:ext cx="1746504" cy="777240"/>
          </a:xfrm>
          <a:prstGeom prst="rect">
            <a:avLst/>
          </a:prstGeom>
          <a:noFill/>
          <a:ln/>
        </p:spPr>
        <p:txBody>
          <a:bodyPr wrap="square" lIns="0" tIns="0" rIns="0" bIns="0" rtlCol="0" anchor="t"/>
          <a:lstStyle/>
          <a:p>
            <a:pPr algn="ctr" indent="0" marL="0">
              <a:buNone/>
            </a:pPr>
            <a:r>
              <a:rPr lang="en-US" sz="1100" dirty="0">
                <a:solidFill>
                  <a:schemeClr val="tx1"/>
                </a:solidFill>
              </a:rPr>
              <a:t>Rende disponibile sul mercato, come un rivenditore</a:t>
            </a:r>
            <a:endParaRPr lang="en-US" sz="1100" dirty="0"/>
          </a:p>
        </p:txBody>
      </p:sp>
      <p:sp>
        <p:nvSpPr>
          <p:cNvPr id="39" name="Text 32"/>
          <p:cNvSpPr txBox="1"/>
          <p:nvPr/>
        </p:nvSpPr>
        <p:spPr>
          <a:xfrm>
            <a:off x="6876288" y="2971800"/>
            <a:ext cx="1746504" cy="365760"/>
          </a:xfrm>
          <a:prstGeom prst="rect">
            <a:avLst/>
          </a:prstGeom>
          <a:noFill/>
          <a:ln/>
        </p:spPr>
        <p:txBody>
          <a:bodyPr wrap="square" lIns="0" tIns="0" rIns="0" bIns="0" rtlCol="0" anchor="t"/>
          <a:lstStyle/>
          <a:p>
            <a:pPr algn="ctr" indent="0" marL="0">
              <a:buNone/>
            </a:pPr>
            <a:r>
              <a:rPr lang="en-US" sz="1100" b="1" dirty="0">
                <a:solidFill>
                  <a:schemeClr val="accent1"/>
                </a:solidFill>
              </a:rPr>
              <a:t>Nei casi pertinenti</a:t>
            </a:r>
            <a:endParaRPr lang="en-US" sz="1100" dirty="0"/>
          </a:p>
        </p:txBody>
      </p:sp>
      <p:sp>
        <p:nvSpPr>
          <p:cNvPr id="40" name="messaggio"/>
          <p:cNvSpPr/>
          <p:nvPr/>
        </p:nvSpPr>
        <p:spPr>
          <a:xfrm>
            <a:off x="457200" y="3566160"/>
            <a:ext cx="8229600" cy="868680"/>
          </a:xfrm>
          <a:prstGeom prst="roundRect">
            <a:avLst>
              <a:gd name="adj" fmla="val 8421"/>
            </a:avLst>
          </a:prstGeom>
          <a:solidFill>
            <a:schemeClr val="tx1"/>
          </a:solidFill>
          <a:ln/>
        </p:spPr>
      </p:sp>
      <p:sp>
        <p:nvSpPr>
          <p:cNvPr id="41" name="Text 34"/>
          <p:cNvSpPr txBox="1"/>
          <p:nvPr/>
        </p:nvSpPr>
        <p:spPr>
          <a:xfrm>
            <a:off x="640080" y="3566160"/>
            <a:ext cx="7863840" cy="868680"/>
          </a:xfrm>
          <a:prstGeom prst="rect">
            <a:avLst/>
          </a:prstGeom>
          <a:noFill/>
          <a:ln/>
        </p:spPr>
        <p:txBody>
          <a:bodyPr wrap="square" lIns="0" tIns="0" rIns="0" bIns="0" rtlCol="0" anchor="ctr"/>
          <a:lstStyle/>
          <a:p>
            <a:pPr indent="0" marL="0">
              <a:buNone/>
            </a:pPr>
            <a:r>
              <a:rPr lang="en-US" sz="1300" dirty="0">
                <a:solidFill>
                  <a:schemeClr val="bg1"/>
                </a:solidFill>
              </a:rPr>
              <a:t>La stessa organizzazione può avere ruoli diversi per sistemi diversi: deployer di un assistente acquistato, provider di un sistema sviluppato per i clienti.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responsabilità del deployer</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Tutti i sistemi"/>
          <p:cNvSpPr/>
          <p:nvPr/>
        </p:nvSpPr>
        <p:spPr>
          <a:xfrm>
            <a:off x="457200" y="1051560"/>
            <a:ext cx="8229600" cy="566928"/>
          </a:xfrm>
          <a:prstGeom prst="roundRect">
            <a:avLst>
              <a:gd name="adj" fmla="val 12903"/>
            </a:avLst>
          </a:prstGeom>
          <a:solidFill>
            <a:schemeClr val="bg2"/>
          </a:solidFill>
          <a:ln/>
        </p:spPr>
      </p:sp>
      <p:sp>
        <p:nvSpPr>
          <p:cNvPr id="17" name="Text 14"/>
          <p:cNvSpPr txBox="1"/>
          <p:nvPr/>
        </p:nvSpPr>
        <p:spPr>
          <a:xfrm>
            <a:off x="594360" y="105156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Tutti i sistemi</a:t>
            </a:r>
            <a:endParaRPr lang="en-US" sz="1300" dirty="0"/>
          </a:p>
        </p:txBody>
      </p:sp>
      <p:sp>
        <p:nvSpPr>
          <p:cNvPr id="18" name="Text 15"/>
          <p:cNvSpPr txBox="1"/>
          <p:nvPr/>
        </p:nvSpPr>
        <p:spPr>
          <a:xfrm>
            <a:off x="2240280" y="1051560"/>
            <a:ext cx="6309360" cy="566928"/>
          </a:xfrm>
          <a:prstGeom prst="rect">
            <a:avLst/>
          </a:prstGeom>
          <a:noFill/>
          <a:ln/>
        </p:spPr>
        <p:txBody>
          <a:bodyPr wrap="square" lIns="0" tIns="0" rIns="0" bIns="0" rtlCol="0" anchor="ctr"/>
          <a:lstStyle/>
          <a:p>
            <a:pPr indent="0" marL="0">
              <a:buNone/>
            </a:pPr>
            <a:r>
              <a:rPr lang="en-US" sz="1100" dirty="0">
                <a:solidFill>
                  <a:schemeClr val="tx1"/>
                </a:solidFill>
              </a:rPr>
              <a:t>Alfabetizzazione del personale (art. 4, 18.7); trasparenza quando applicabile (art. 50)</a:t>
            </a:r>
            <a:endParaRPr lang="en-US" sz="1100" dirty="0"/>
          </a:p>
        </p:txBody>
      </p:sp>
      <p:sp>
        <p:nvSpPr>
          <p:cNvPr id="19" name="Alto rischio"/>
          <p:cNvSpPr/>
          <p:nvPr/>
        </p:nvSpPr>
        <p:spPr>
          <a:xfrm>
            <a:off x="457200" y="1691640"/>
            <a:ext cx="8229600" cy="566928"/>
          </a:xfrm>
          <a:prstGeom prst="roundRect">
            <a:avLst>
              <a:gd name="adj" fmla="val 12903"/>
            </a:avLst>
          </a:prstGeom>
          <a:solidFill>
            <a:schemeClr val="bg1"/>
          </a:solidFill>
          <a:ln/>
        </p:spPr>
      </p:sp>
      <p:sp>
        <p:nvSpPr>
          <p:cNvPr id="20" name="Text 17"/>
          <p:cNvSpPr txBox="1"/>
          <p:nvPr/>
        </p:nvSpPr>
        <p:spPr>
          <a:xfrm>
            <a:off x="594360" y="169164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Alto rischio</a:t>
            </a:r>
            <a:endParaRPr lang="en-US" sz="1300" dirty="0"/>
          </a:p>
        </p:txBody>
      </p:sp>
      <p:sp>
        <p:nvSpPr>
          <p:cNvPr id="21" name="Text 18"/>
          <p:cNvSpPr txBox="1"/>
          <p:nvPr/>
        </p:nvSpPr>
        <p:spPr>
          <a:xfrm>
            <a:off x="2240280" y="1691640"/>
            <a:ext cx="6309360" cy="566928"/>
          </a:xfrm>
          <a:prstGeom prst="rect">
            <a:avLst/>
          </a:prstGeom>
          <a:noFill/>
          <a:ln/>
        </p:spPr>
        <p:txBody>
          <a:bodyPr wrap="square" lIns="0" tIns="0" rIns="0" bIns="0" rtlCol="0" anchor="ctr"/>
          <a:lstStyle/>
          <a:p>
            <a:pPr indent="0" marL="0">
              <a:buNone/>
            </a:pPr>
            <a:r>
              <a:rPr lang="en-US" sz="1100" dirty="0">
                <a:solidFill>
                  <a:schemeClr val="tx1"/>
                </a:solidFill>
              </a:rPr>
              <a:t>Istruzioni, supervisione competente, dati di input pertinenti, monitoraggio, registri, informazione, a volte valutazione d'impatto</a:t>
            </a:r>
            <a:endParaRPr lang="en-US" sz="1100" dirty="0"/>
          </a:p>
        </p:txBody>
      </p:sp>
      <p:sp>
        <p:nvSpPr>
          <p:cNvPr id="22" name="Altre norme"/>
          <p:cNvSpPr/>
          <p:nvPr/>
        </p:nvSpPr>
        <p:spPr>
          <a:xfrm>
            <a:off x="457200" y="2331720"/>
            <a:ext cx="8229600" cy="566928"/>
          </a:xfrm>
          <a:prstGeom prst="roundRect">
            <a:avLst>
              <a:gd name="adj" fmla="val 12903"/>
            </a:avLst>
          </a:prstGeom>
          <a:solidFill>
            <a:schemeClr val="bg2"/>
          </a:solidFill>
          <a:ln/>
        </p:spPr>
      </p:sp>
      <p:sp>
        <p:nvSpPr>
          <p:cNvPr id="23" name="Text 20"/>
          <p:cNvSpPr txBox="1"/>
          <p:nvPr/>
        </p:nvSpPr>
        <p:spPr>
          <a:xfrm>
            <a:off x="594360" y="233172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Altre norme</a:t>
            </a:r>
            <a:endParaRPr lang="en-US" sz="1300" dirty="0"/>
          </a:p>
        </p:txBody>
      </p:sp>
      <p:sp>
        <p:nvSpPr>
          <p:cNvPr id="24" name="Text 21"/>
          <p:cNvSpPr txBox="1"/>
          <p:nvPr/>
        </p:nvSpPr>
        <p:spPr>
          <a:xfrm>
            <a:off x="2240280" y="2331720"/>
            <a:ext cx="6309360" cy="566928"/>
          </a:xfrm>
          <a:prstGeom prst="rect">
            <a:avLst/>
          </a:prstGeom>
          <a:noFill/>
          <a:ln/>
        </p:spPr>
        <p:txBody>
          <a:bodyPr wrap="square" lIns="0" tIns="0" rIns="0" bIns="0" rtlCol="0" anchor="ctr"/>
          <a:lstStyle/>
          <a:p>
            <a:pPr indent="0" marL="0">
              <a:buNone/>
            </a:pPr>
            <a:r>
              <a:rPr lang="en-US" sz="1100" dirty="0">
                <a:solidFill>
                  <a:schemeClr val="tx1"/>
                </a:solidFill>
              </a:rPr>
              <a:t>Titolare del trattamento (GDPR), datore di lavoro, venditore verso i consumatori</a:t>
            </a:r>
            <a:endParaRPr lang="en-US" sz="1100" dirty="0"/>
          </a:p>
        </p:txBody>
      </p:sp>
      <p:sp>
        <p:nvSpPr>
          <p:cNvPr id="25" name="messaggio"/>
          <p:cNvSpPr/>
          <p:nvPr/>
        </p:nvSpPr>
        <p:spPr>
          <a:xfrm>
            <a:off x="457200" y="3063240"/>
            <a:ext cx="8229600" cy="777240"/>
          </a:xfrm>
          <a:prstGeom prst="roundRect">
            <a:avLst>
              <a:gd name="adj" fmla="val 9412"/>
            </a:avLst>
          </a:prstGeom>
          <a:solidFill>
            <a:schemeClr val="tx1"/>
          </a:solidFill>
          <a:ln/>
        </p:spPr>
      </p:sp>
      <p:sp>
        <p:nvSpPr>
          <p:cNvPr id="26" name="Text 23"/>
          <p:cNvSpPr txBox="1"/>
          <p:nvPr/>
        </p:nvSpPr>
        <p:spPr>
          <a:xfrm>
            <a:off x="640080" y="3063240"/>
            <a:ext cx="7863840" cy="777240"/>
          </a:xfrm>
          <a:prstGeom prst="rect">
            <a:avLst/>
          </a:prstGeom>
          <a:noFill/>
          <a:ln/>
        </p:spPr>
        <p:txBody>
          <a:bodyPr wrap="square" lIns="0" tIns="0" rIns="0" bIns="0" rtlCol="0" anchor="ctr"/>
          <a:lstStyle/>
          <a:p>
            <a:pPr indent="0" marL="0">
              <a:buNone/>
            </a:pPr>
            <a:r>
              <a:rPr lang="en-US" sz="1600" dirty="0">
                <a:solidFill>
                  <a:schemeClr val="bg1"/>
                </a:solidFill>
              </a:rPr>
              <a:t>Il fornitore risponde di come il sistema è fatto; il deployer risponde di come lo usa.</a:t>
            </a:r>
            <a:endParaRPr lang="en-US" sz="1600" dirty="0"/>
          </a:p>
        </p:txBody>
      </p:sp>
      <p:sp>
        <p:nvSpPr>
          <p:cNvPr id="27" name="Text 24"/>
          <p:cNvSpPr txBox="1"/>
          <p:nvPr/>
        </p:nvSpPr>
        <p:spPr>
          <a:xfrm>
            <a:off x="457200" y="3931920"/>
            <a:ext cx="8229600" cy="457200"/>
          </a:xfrm>
          <a:prstGeom prst="rect">
            <a:avLst/>
          </a:prstGeom>
          <a:noFill/>
          <a:ln/>
        </p:spPr>
        <p:txBody>
          <a:bodyPr wrap="square" lIns="0" tIns="0" rIns="0" bIns="0" rtlCol="0" anchor="t"/>
          <a:lstStyle/>
          <a:p>
            <a:pPr algn="ctr" indent="0" marL="0">
              <a:buNone/>
            </a:pPr>
            <a:r>
              <a:rPr lang="en-US" sz="1300" b="1" i="1" dirty="0">
                <a:solidFill>
                  <a:schemeClr val="accent1"/>
                </a:solidFill>
              </a:rPr>
              <a:t>Impiegare sistemi di terzi non elimina automaticamente le responsabilità dell'organizzazione.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A: il prodotto 'conforme'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riquadro Esempio A (fittizio)"/>
          <p:cNvSpPr/>
          <p:nvPr/>
        </p:nvSpPr>
        <p:spPr>
          <a:xfrm>
            <a:off x="457200" y="1051560"/>
            <a:ext cx="8229600" cy="777240"/>
          </a:xfrm>
          <a:prstGeom prst="roundRect">
            <a:avLst>
              <a:gd name="adj" fmla="val 9412"/>
            </a:avLst>
          </a:prstGeom>
          <a:solidFill>
            <a:schemeClr val="accent6"/>
          </a:solidFill>
          <a:ln/>
        </p:spPr>
      </p:sp>
      <p:sp>
        <p:nvSpPr>
          <p:cNvPr id="17" name="barra"/>
          <p:cNvSpPr/>
          <p:nvPr/>
        </p:nvSpPr>
        <p:spPr>
          <a:xfrm>
            <a:off x="457200" y="1161288"/>
            <a:ext cx="54864" cy="557784"/>
          </a:xfrm>
          <a:prstGeom prst="rect">
            <a:avLst/>
          </a:prstGeom>
          <a:solidFill>
            <a:schemeClr val="accent1"/>
          </a:solidFill>
          <a:ln/>
        </p:spPr>
      </p:sp>
      <p:sp>
        <p:nvSpPr>
          <p:cNvPr id="18" name="Text 15"/>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Esempio A (fittizio)</a:t>
            </a:r>
            <a:endParaRPr lang="en-US" sz="1100" dirty="0"/>
          </a:p>
        </p:txBody>
      </p:sp>
      <p:sp>
        <p:nvSpPr>
          <p:cNvPr id="19" name="Text 16"/>
          <p:cNvSpPr txBox="1"/>
          <p:nvPr/>
        </p:nvSpPr>
        <p:spPr>
          <a:xfrm>
            <a:off x="658368" y="1435608"/>
            <a:ext cx="7863840" cy="301752"/>
          </a:xfrm>
          <a:prstGeom prst="rect">
            <a:avLst/>
          </a:prstGeom>
          <a:noFill/>
          <a:ln/>
        </p:spPr>
        <p:txBody>
          <a:bodyPr wrap="square" lIns="0" tIns="0" rIns="0" bIns="0" rtlCol="0" anchor="t"/>
          <a:lstStyle/>
          <a:p>
            <a:pPr indent="0" marL="0">
              <a:buNone/>
            </a:pPr>
            <a:r>
              <a:rPr lang="en-US" sz="1300" dirty="0">
                <a:solidFill>
                  <a:schemeClr val="tx1"/>
                </a:solidFill>
              </a:rPr>
              <a:t>Un'azienda acquista un assistente di terzi, dichiarato conforme, e lo collega ai documenti interni. Può usarlo senza ulteriori verifiche?</a:t>
            </a:r>
            <a:endParaRPr lang="en-US" sz="1300" dirty="0"/>
          </a:p>
        </p:txBody>
      </p:sp>
      <p:sp>
        <p:nvSpPr>
          <p:cNvPr id="20" name="Text 17"/>
          <p:cNvSpPr txBox="1"/>
          <p:nvPr/>
        </p:nvSpPr>
        <p:spPr>
          <a:xfrm>
            <a:off x="457200" y="1965960"/>
            <a:ext cx="8229600" cy="292608"/>
          </a:xfrm>
          <a:prstGeom prst="rect">
            <a:avLst/>
          </a:prstGeom>
          <a:noFill/>
          <a:ln/>
        </p:spPr>
        <p:txBody>
          <a:bodyPr wrap="square" lIns="0" tIns="0" rIns="0" bIns="0" rtlCol="0" anchor="t"/>
          <a:lstStyle/>
          <a:p>
            <a:pPr indent="0" marL="0">
              <a:buNone/>
            </a:pPr>
            <a:r>
              <a:rPr lang="en-US" sz="1300" b="1" dirty="0">
                <a:solidFill>
                  <a:schemeClr val="tx1"/>
                </a:solidFill>
              </a:rPr>
              <a:t>No, non automaticamente. Che cosa resta da considerare</a:t>
            </a:r>
            <a:endParaRPr lang="en-US" sz="1300" dirty="0"/>
          </a:p>
        </p:txBody>
      </p:sp>
      <p:sp>
        <p:nvSpPr>
          <p:cNvPr id="21" name="Finalità concreta"/>
          <p:cNvSpPr/>
          <p:nvPr/>
        </p:nvSpPr>
        <p:spPr>
          <a:xfrm>
            <a:off x="457200" y="2286000"/>
            <a:ext cx="1920240" cy="1463040"/>
          </a:xfrm>
          <a:prstGeom prst="roundRect">
            <a:avLst>
              <a:gd name="adj" fmla="val 5000"/>
            </a:avLst>
          </a:prstGeom>
          <a:solidFill>
            <a:schemeClr val="bg2"/>
          </a:solidFill>
          <a:ln/>
        </p:spPr>
      </p:sp>
      <p:sp>
        <p:nvSpPr>
          <p:cNvPr id="22" name="cerchio FiTarget"/>
          <p:cNvSpPr/>
          <p:nvPr/>
        </p:nvSpPr>
        <p:spPr>
          <a:xfrm>
            <a:off x="621792" y="2450592"/>
            <a:ext cx="438912" cy="438912"/>
          </a:xfrm>
          <a:prstGeom prst="ellipse">
            <a:avLst/>
          </a:prstGeom>
          <a:solidFill>
            <a:schemeClr val="accent1"/>
          </a:solidFill>
          <a:ln/>
        </p:spPr>
      </p:sp>
      <p:pic>
        <p:nvPicPr>
          <p:cNvPr id="23" name="Image 0" descr="FiTarget">    </p:cNvPr>
          <p:cNvPicPr>
            <a:picLocks noChangeAspect="1"/>
          </p:cNvPicPr>
          <p:nvPr/>
        </p:nvPicPr>
        <p:blipFill>
          <a:blip r:embed="rId1"/>
          <a:stretch>
            <a:fillRect/>
          </a:stretch>
        </p:blipFill>
        <p:spPr>
          <a:xfrm>
            <a:off x="731520" y="2560320"/>
            <a:ext cx="219456" cy="219456"/>
          </a:xfrm>
          <a:prstGeom prst="rect">
            <a:avLst/>
          </a:prstGeom>
        </p:spPr>
      </p:pic>
      <p:sp>
        <p:nvSpPr>
          <p:cNvPr id="24" name="Text 20"/>
          <p:cNvSpPr txBox="1"/>
          <p:nvPr/>
        </p:nvSpPr>
        <p:spPr>
          <a:xfrm>
            <a:off x="1170432" y="2414016"/>
            <a:ext cx="1097280" cy="512064"/>
          </a:xfrm>
          <a:prstGeom prst="rect">
            <a:avLst/>
          </a:prstGeom>
          <a:noFill/>
          <a:ln/>
        </p:spPr>
        <p:txBody>
          <a:bodyPr wrap="square" lIns="0" tIns="0" rIns="0" bIns="0" rtlCol="0" anchor="ctr"/>
          <a:lstStyle/>
          <a:p>
            <a:pPr indent="0" marL="0">
              <a:buNone/>
            </a:pPr>
            <a:r>
              <a:rPr lang="en-US" sz="1200" b="1" dirty="0">
                <a:solidFill>
                  <a:schemeClr val="tx1"/>
                </a:solidFill>
              </a:rPr>
              <a:t>Finalità concreta</a:t>
            </a:r>
            <a:endParaRPr lang="en-US" sz="1200" dirty="0"/>
          </a:p>
        </p:txBody>
      </p:sp>
      <p:sp>
        <p:nvSpPr>
          <p:cNvPr id="25" name="Text 21"/>
          <p:cNvSpPr txBox="1"/>
          <p:nvPr/>
        </p:nvSpPr>
        <p:spPr>
          <a:xfrm>
            <a:off x="621792" y="2999232"/>
            <a:ext cx="1591056" cy="658368"/>
          </a:xfrm>
          <a:prstGeom prst="rect">
            <a:avLst/>
          </a:prstGeom>
          <a:noFill/>
          <a:ln/>
        </p:spPr>
        <p:txBody>
          <a:bodyPr wrap="square" lIns="0" tIns="0" rIns="0" bIns="0" rtlCol="0" anchor="t"/>
          <a:lstStyle/>
          <a:p>
            <a:pPr indent="0" marL="0">
              <a:buNone/>
            </a:pPr>
            <a:r>
              <a:rPr lang="en-US" sz="1100" dirty="0">
                <a:solidFill>
                  <a:schemeClr val="tx2"/>
                </a:solidFill>
              </a:rPr>
              <a:t>Per che cosa lo usa davvero l'azienda</a:t>
            </a:r>
            <a:endParaRPr lang="en-US" sz="1100" dirty="0"/>
          </a:p>
        </p:txBody>
      </p:sp>
      <p:sp>
        <p:nvSpPr>
          <p:cNvPr id="26" name="Permessi e informazioni"/>
          <p:cNvSpPr/>
          <p:nvPr/>
        </p:nvSpPr>
        <p:spPr>
          <a:xfrm>
            <a:off x="2560320" y="2286000"/>
            <a:ext cx="1920240" cy="1463040"/>
          </a:xfrm>
          <a:prstGeom prst="roundRect">
            <a:avLst>
              <a:gd name="adj" fmla="val 5000"/>
            </a:avLst>
          </a:prstGeom>
          <a:solidFill>
            <a:schemeClr val="bg2"/>
          </a:solidFill>
          <a:ln/>
        </p:spPr>
      </p:sp>
      <p:sp>
        <p:nvSpPr>
          <p:cNvPr id="27" name="cerchio FiKey"/>
          <p:cNvSpPr/>
          <p:nvPr/>
        </p:nvSpPr>
        <p:spPr>
          <a:xfrm>
            <a:off x="2724912" y="2450592"/>
            <a:ext cx="438912" cy="438912"/>
          </a:xfrm>
          <a:prstGeom prst="ellipse">
            <a:avLst/>
          </a:prstGeom>
          <a:solidFill>
            <a:schemeClr val="accent1"/>
          </a:solidFill>
          <a:ln/>
        </p:spPr>
      </p:sp>
      <p:pic>
        <p:nvPicPr>
          <p:cNvPr id="28" name="Image 1" descr="FiKey">    </p:cNvPr>
          <p:cNvPicPr>
            <a:picLocks noChangeAspect="1"/>
          </p:cNvPicPr>
          <p:nvPr/>
        </p:nvPicPr>
        <p:blipFill>
          <a:blip r:embed="rId2"/>
          <a:stretch>
            <a:fillRect/>
          </a:stretch>
        </p:blipFill>
        <p:spPr>
          <a:xfrm>
            <a:off x="2834640" y="2560320"/>
            <a:ext cx="219456" cy="219456"/>
          </a:xfrm>
          <a:prstGeom prst="rect">
            <a:avLst/>
          </a:prstGeom>
        </p:spPr>
      </p:pic>
      <p:sp>
        <p:nvSpPr>
          <p:cNvPr id="29" name="Text 24"/>
          <p:cNvSpPr txBox="1"/>
          <p:nvPr/>
        </p:nvSpPr>
        <p:spPr>
          <a:xfrm>
            <a:off x="3273552" y="2414016"/>
            <a:ext cx="1097280" cy="512064"/>
          </a:xfrm>
          <a:prstGeom prst="rect">
            <a:avLst/>
          </a:prstGeom>
          <a:noFill/>
          <a:ln/>
        </p:spPr>
        <p:txBody>
          <a:bodyPr wrap="square" lIns="0" tIns="0" rIns="0" bIns="0" rtlCol="0" anchor="ctr"/>
          <a:lstStyle/>
          <a:p>
            <a:pPr indent="0" marL="0">
              <a:buNone/>
            </a:pPr>
            <a:r>
              <a:rPr lang="en-US" sz="1200" b="1" dirty="0">
                <a:solidFill>
                  <a:schemeClr val="tx1"/>
                </a:solidFill>
              </a:rPr>
              <a:t>Permessi e informazioni</a:t>
            </a:r>
            <a:endParaRPr lang="en-US" sz="1200" dirty="0"/>
          </a:p>
        </p:txBody>
      </p:sp>
      <p:sp>
        <p:nvSpPr>
          <p:cNvPr id="30" name="Text 25"/>
          <p:cNvSpPr txBox="1"/>
          <p:nvPr/>
        </p:nvSpPr>
        <p:spPr>
          <a:xfrm>
            <a:off x="2724912" y="2999232"/>
            <a:ext cx="1591056" cy="658368"/>
          </a:xfrm>
          <a:prstGeom prst="rect">
            <a:avLst/>
          </a:prstGeom>
          <a:noFill/>
          <a:ln/>
        </p:spPr>
        <p:txBody>
          <a:bodyPr wrap="square" lIns="0" tIns="0" rIns="0" bIns="0" rtlCol="0" anchor="t"/>
          <a:lstStyle/>
          <a:p>
            <a:pPr indent="0" marL="0">
              <a:buNone/>
            </a:pPr>
            <a:r>
              <a:rPr lang="en-US" sz="1100" dirty="0">
                <a:solidFill>
                  <a:schemeClr val="tx2"/>
                </a:solidFill>
              </a:rPr>
              <a:t>Documenti collegati, dati personali</a:t>
            </a:r>
            <a:endParaRPr lang="en-US" sz="1100" dirty="0"/>
          </a:p>
        </p:txBody>
      </p:sp>
      <p:sp>
        <p:nvSpPr>
          <p:cNvPr id="31" name="Istruzioni del fornitore"/>
          <p:cNvSpPr/>
          <p:nvPr/>
        </p:nvSpPr>
        <p:spPr>
          <a:xfrm>
            <a:off x="4663440" y="2286000"/>
            <a:ext cx="1920240" cy="1463040"/>
          </a:xfrm>
          <a:prstGeom prst="roundRect">
            <a:avLst>
              <a:gd name="adj" fmla="val 5000"/>
            </a:avLst>
          </a:prstGeom>
          <a:solidFill>
            <a:schemeClr val="bg2"/>
          </a:solidFill>
          <a:ln/>
        </p:spPr>
      </p:sp>
      <p:sp>
        <p:nvSpPr>
          <p:cNvPr id="32" name="cerchio FiFileText"/>
          <p:cNvSpPr/>
          <p:nvPr/>
        </p:nvSpPr>
        <p:spPr>
          <a:xfrm>
            <a:off x="4828032" y="2450592"/>
            <a:ext cx="438912" cy="438912"/>
          </a:xfrm>
          <a:prstGeom prst="ellipse">
            <a:avLst/>
          </a:prstGeom>
          <a:solidFill>
            <a:schemeClr val="accent1"/>
          </a:solidFill>
          <a:ln/>
        </p:spPr>
      </p:sp>
      <p:pic>
        <p:nvPicPr>
          <p:cNvPr id="33" name="Image 2" descr="FiFileText">    </p:cNvPr>
          <p:cNvPicPr>
            <a:picLocks noChangeAspect="1"/>
          </p:cNvPicPr>
          <p:nvPr/>
        </p:nvPicPr>
        <p:blipFill>
          <a:blip r:embed="rId3"/>
          <a:stretch>
            <a:fillRect/>
          </a:stretch>
        </p:blipFill>
        <p:spPr>
          <a:xfrm>
            <a:off x="4937760" y="2560320"/>
            <a:ext cx="219456" cy="219456"/>
          </a:xfrm>
          <a:prstGeom prst="rect">
            <a:avLst/>
          </a:prstGeom>
        </p:spPr>
      </p:pic>
      <p:sp>
        <p:nvSpPr>
          <p:cNvPr id="34" name="Text 28"/>
          <p:cNvSpPr txBox="1"/>
          <p:nvPr/>
        </p:nvSpPr>
        <p:spPr>
          <a:xfrm>
            <a:off x="5376672" y="2414016"/>
            <a:ext cx="1097280" cy="512064"/>
          </a:xfrm>
          <a:prstGeom prst="rect">
            <a:avLst/>
          </a:prstGeom>
          <a:noFill/>
          <a:ln/>
        </p:spPr>
        <p:txBody>
          <a:bodyPr wrap="square" lIns="0" tIns="0" rIns="0" bIns="0" rtlCol="0" anchor="ctr"/>
          <a:lstStyle/>
          <a:p>
            <a:pPr indent="0" marL="0">
              <a:buNone/>
            </a:pPr>
            <a:r>
              <a:rPr lang="en-US" sz="1200" b="1" dirty="0">
                <a:solidFill>
                  <a:schemeClr val="tx1"/>
                </a:solidFill>
              </a:rPr>
              <a:t>Istruzioni del fornitore</a:t>
            </a:r>
            <a:endParaRPr lang="en-US" sz="1200" dirty="0"/>
          </a:p>
        </p:txBody>
      </p:sp>
      <p:sp>
        <p:nvSpPr>
          <p:cNvPr id="35" name="Text 29"/>
          <p:cNvSpPr txBox="1"/>
          <p:nvPr/>
        </p:nvSpPr>
        <p:spPr>
          <a:xfrm>
            <a:off x="4828032" y="2999232"/>
            <a:ext cx="1591056" cy="658368"/>
          </a:xfrm>
          <a:prstGeom prst="rect">
            <a:avLst/>
          </a:prstGeom>
          <a:noFill/>
          <a:ln/>
        </p:spPr>
        <p:txBody>
          <a:bodyPr wrap="square" lIns="0" tIns="0" rIns="0" bIns="0" rtlCol="0" anchor="t"/>
          <a:lstStyle/>
          <a:p>
            <a:pPr indent="0" marL="0">
              <a:buNone/>
            </a:pPr>
            <a:r>
              <a:rPr lang="en-US" sz="1100" dirty="0">
                <a:solidFill>
                  <a:schemeClr val="tx2"/>
                </a:solidFill>
              </a:rPr>
              <a:t>Limiti d'uso, configurazioni, avvertenze</a:t>
            </a:r>
            <a:endParaRPr lang="en-US" sz="1100" dirty="0"/>
          </a:p>
        </p:txBody>
      </p:sp>
      <p:sp>
        <p:nvSpPr>
          <p:cNvPr id="36" name="Obblighi propri"/>
          <p:cNvSpPr/>
          <p:nvPr/>
        </p:nvSpPr>
        <p:spPr>
          <a:xfrm>
            <a:off x="6766560" y="2286000"/>
            <a:ext cx="1920240" cy="1463040"/>
          </a:xfrm>
          <a:prstGeom prst="roundRect">
            <a:avLst>
              <a:gd name="adj" fmla="val 5000"/>
            </a:avLst>
          </a:prstGeom>
          <a:solidFill>
            <a:schemeClr val="bg2"/>
          </a:solidFill>
          <a:ln/>
        </p:spPr>
      </p:sp>
      <p:sp>
        <p:nvSpPr>
          <p:cNvPr id="37" name="cerchio FiBriefcase"/>
          <p:cNvSpPr/>
          <p:nvPr/>
        </p:nvSpPr>
        <p:spPr>
          <a:xfrm>
            <a:off x="6931152" y="2450592"/>
            <a:ext cx="438912" cy="438912"/>
          </a:xfrm>
          <a:prstGeom prst="ellipse">
            <a:avLst/>
          </a:prstGeom>
          <a:solidFill>
            <a:schemeClr val="accent1"/>
          </a:solidFill>
          <a:ln/>
        </p:spPr>
      </p:sp>
      <p:pic>
        <p:nvPicPr>
          <p:cNvPr id="38" name="Image 3" descr="FiBriefcase">    </p:cNvPr>
          <p:cNvPicPr>
            <a:picLocks noChangeAspect="1"/>
          </p:cNvPicPr>
          <p:nvPr/>
        </p:nvPicPr>
        <p:blipFill>
          <a:blip r:embed="rId4"/>
          <a:stretch>
            <a:fillRect/>
          </a:stretch>
        </p:blipFill>
        <p:spPr>
          <a:xfrm>
            <a:off x="7040880" y="2560320"/>
            <a:ext cx="219456" cy="219456"/>
          </a:xfrm>
          <a:prstGeom prst="rect">
            <a:avLst/>
          </a:prstGeom>
        </p:spPr>
      </p:pic>
      <p:sp>
        <p:nvSpPr>
          <p:cNvPr id="39" name="Text 32"/>
          <p:cNvSpPr txBox="1"/>
          <p:nvPr/>
        </p:nvSpPr>
        <p:spPr>
          <a:xfrm>
            <a:off x="7479792" y="2414016"/>
            <a:ext cx="1097280" cy="512064"/>
          </a:xfrm>
          <a:prstGeom prst="rect">
            <a:avLst/>
          </a:prstGeom>
          <a:noFill/>
          <a:ln/>
        </p:spPr>
        <p:txBody>
          <a:bodyPr wrap="square" lIns="0" tIns="0" rIns="0" bIns="0" rtlCol="0" anchor="ctr"/>
          <a:lstStyle/>
          <a:p>
            <a:pPr indent="0" marL="0">
              <a:buNone/>
            </a:pPr>
            <a:r>
              <a:rPr lang="en-US" sz="1200" b="1" dirty="0">
                <a:solidFill>
                  <a:schemeClr val="tx1"/>
                </a:solidFill>
              </a:rPr>
              <a:t>Obblighi propri</a:t>
            </a:r>
            <a:endParaRPr lang="en-US" sz="1200" dirty="0"/>
          </a:p>
        </p:txBody>
      </p:sp>
      <p:sp>
        <p:nvSpPr>
          <p:cNvPr id="40" name="Text 33"/>
          <p:cNvSpPr txBox="1"/>
          <p:nvPr/>
        </p:nvSpPr>
        <p:spPr>
          <a:xfrm>
            <a:off x="6931152" y="2999232"/>
            <a:ext cx="1591056" cy="658368"/>
          </a:xfrm>
          <a:prstGeom prst="rect">
            <a:avLst/>
          </a:prstGeom>
          <a:noFill/>
          <a:ln/>
        </p:spPr>
        <p:txBody>
          <a:bodyPr wrap="square" lIns="0" tIns="0" rIns="0" bIns="0" rtlCol="0" anchor="t"/>
          <a:lstStyle/>
          <a:p>
            <a:pPr indent="0" marL="0">
              <a:buNone/>
            </a:pPr>
            <a:r>
              <a:rPr lang="en-US" sz="1100" dirty="0">
                <a:solidFill>
                  <a:schemeClr val="tx2"/>
                </a:solidFill>
              </a:rPr>
              <a:t>GDPR, lavoro, sicurezza delle integrazioni</a:t>
            </a:r>
            <a:endParaRPr lang="en-US" sz="1100" dirty="0"/>
          </a:p>
        </p:txBody>
      </p:sp>
      <p:sp>
        <p:nvSpPr>
          <p:cNvPr id="41" name="messaggio"/>
          <p:cNvSpPr/>
          <p:nvPr/>
        </p:nvSpPr>
        <p:spPr>
          <a:xfrm>
            <a:off x="457200" y="3931920"/>
            <a:ext cx="8229600" cy="548640"/>
          </a:xfrm>
          <a:prstGeom prst="roundRect">
            <a:avLst>
              <a:gd name="adj" fmla="val 13333"/>
            </a:avLst>
          </a:prstGeom>
          <a:solidFill>
            <a:schemeClr val="tx1"/>
          </a:solidFill>
          <a:ln/>
        </p:spPr>
      </p:sp>
      <p:sp>
        <p:nvSpPr>
          <p:cNvPr id="42" name="Text 35"/>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500" dirty="0">
                <a:solidFill>
                  <a:schemeClr val="bg1"/>
                </a:solidFill>
              </a:rPr>
              <a:t>Un sistema conforme non rende conforme ogni suo uso.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Quando cambia il ruolo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Text 13"/>
          <p:cNvSpPr txBox="1"/>
          <p:nvPr/>
        </p:nvSpPr>
        <p:spPr>
          <a:xfrm>
            <a:off x="457200" y="1005840"/>
            <a:ext cx="8229600" cy="292608"/>
          </a:xfrm>
          <a:prstGeom prst="rect">
            <a:avLst/>
          </a:prstGeom>
          <a:noFill/>
          <a:ln/>
        </p:spPr>
        <p:txBody>
          <a:bodyPr wrap="square" lIns="0" tIns="0" rIns="0" bIns="0" rtlCol="0" anchor="t"/>
          <a:lstStyle/>
          <a:p>
            <a:pPr indent="0" marL="0">
              <a:buNone/>
            </a:pPr>
            <a:r>
              <a:rPr lang="en-US" sz="1300" b="1" dirty="0">
                <a:solidFill>
                  <a:schemeClr val="tx1"/>
                </a:solidFill>
              </a:rPr>
              <a:t>Il deployer può diventare provider, per i sistemi ad alto rischio, se (art. 25):</a:t>
            </a:r>
            <a:endParaRPr lang="en-US" sz="1300" dirty="0"/>
          </a:p>
        </p:txBody>
      </p:sp>
      <p:sp>
        <p:nvSpPr>
          <p:cNvPr id="17" name="voce 1"/>
          <p:cNvSpPr/>
          <p:nvPr/>
        </p:nvSpPr>
        <p:spPr>
          <a:xfrm>
            <a:off x="457200" y="1371600"/>
            <a:ext cx="8229600" cy="475488"/>
          </a:xfrm>
          <a:prstGeom prst="roundRect">
            <a:avLst>
              <a:gd name="adj" fmla="val 15385"/>
            </a:avLst>
          </a:prstGeom>
          <a:solidFill>
            <a:schemeClr val="bg2"/>
          </a:solidFill>
          <a:ln/>
        </p:spPr>
      </p:sp>
      <p:sp>
        <p:nvSpPr>
          <p:cNvPr id="18" name="Text 15"/>
          <p:cNvSpPr txBox="1"/>
          <p:nvPr/>
        </p:nvSpPr>
        <p:spPr>
          <a:xfrm>
            <a:off x="566928" y="13716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9" name="Text 16"/>
          <p:cNvSpPr txBox="1"/>
          <p:nvPr/>
        </p:nvSpPr>
        <p:spPr>
          <a:xfrm>
            <a:off x="960120" y="1371600"/>
            <a:ext cx="7589520" cy="475488"/>
          </a:xfrm>
          <a:prstGeom prst="rect">
            <a:avLst/>
          </a:prstGeom>
          <a:noFill/>
          <a:ln/>
        </p:spPr>
        <p:txBody>
          <a:bodyPr wrap="square" lIns="0" tIns="0" rIns="0" bIns="0" rtlCol="0" anchor="ctr"/>
          <a:lstStyle/>
          <a:p>
            <a:pPr indent="0" marL="0">
              <a:buNone/>
            </a:pPr>
            <a:r>
              <a:rPr lang="en-US" sz="1300" dirty="0">
                <a:solidFill>
                  <a:schemeClr val="tx1"/>
                </a:solidFill>
              </a:rPr>
              <a:t>Appone il proprio nome o marchio su un sistema ad alto rischio già sul mercato</a:t>
            </a:r>
            <a:endParaRPr lang="en-US" sz="1300" dirty="0"/>
          </a:p>
        </p:txBody>
      </p:sp>
      <p:sp>
        <p:nvSpPr>
          <p:cNvPr id="20" name="voce 2"/>
          <p:cNvSpPr/>
          <p:nvPr/>
        </p:nvSpPr>
        <p:spPr>
          <a:xfrm>
            <a:off x="457200" y="1920240"/>
            <a:ext cx="8229600" cy="475488"/>
          </a:xfrm>
          <a:prstGeom prst="roundRect">
            <a:avLst>
              <a:gd name="adj" fmla="val 15385"/>
            </a:avLst>
          </a:prstGeom>
          <a:solidFill>
            <a:schemeClr val="bg1"/>
          </a:solidFill>
          <a:ln/>
        </p:spPr>
      </p:sp>
      <p:sp>
        <p:nvSpPr>
          <p:cNvPr id="21" name="Text 18"/>
          <p:cNvSpPr txBox="1"/>
          <p:nvPr/>
        </p:nvSpPr>
        <p:spPr>
          <a:xfrm>
            <a:off x="566928" y="19202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22" name="Text 19"/>
          <p:cNvSpPr txBox="1"/>
          <p:nvPr/>
        </p:nvSpPr>
        <p:spPr>
          <a:xfrm>
            <a:off x="960120" y="1920240"/>
            <a:ext cx="7589520" cy="475488"/>
          </a:xfrm>
          <a:prstGeom prst="rect">
            <a:avLst/>
          </a:prstGeom>
          <a:noFill/>
          <a:ln/>
        </p:spPr>
        <p:txBody>
          <a:bodyPr wrap="square" lIns="0" tIns="0" rIns="0" bIns="0" rtlCol="0" anchor="ctr"/>
          <a:lstStyle/>
          <a:p>
            <a:pPr indent="0" marL="0">
              <a:buNone/>
            </a:pPr>
            <a:r>
              <a:rPr lang="en-US" sz="1300" dirty="0">
                <a:solidFill>
                  <a:schemeClr val="tx1"/>
                </a:solidFill>
              </a:rPr>
              <a:t>Apporta una modifica sostanziale a un sistema ad alto rischio</a:t>
            </a:r>
            <a:endParaRPr lang="en-US" sz="1300" dirty="0"/>
          </a:p>
        </p:txBody>
      </p:sp>
      <p:sp>
        <p:nvSpPr>
          <p:cNvPr id="23" name="voce 3"/>
          <p:cNvSpPr/>
          <p:nvPr/>
        </p:nvSpPr>
        <p:spPr>
          <a:xfrm>
            <a:off x="457200" y="2468880"/>
            <a:ext cx="8229600" cy="475488"/>
          </a:xfrm>
          <a:prstGeom prst="roundRect">
            <a:avLst>
              <a:gd name="adj" fmla="val 15385"/>
            </a:avLst>
          </a:prstGeom>
          <a:solidFill>
            <a:schemeClr val="bg2"/>
          </a:solidFill>
          <a:ln/>
        </p:spPr>
      </p:sp>
      <p:sp>
        <p:nvSpPr>
          <p:cNvPr id="24" name="Text 21"/>
          <p:cNvSpPr txBox="1"/>
          <p:nvPr/>
        </p:nvSpPr>
        <p:spPr>
          <a:xfrm>
            <a:off x="566928" y="24688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5" name="Text 22"/>
          <p:cNvSpPr txBox="1"/>
          <p:nvPr/>
        </p:nvSpPr>
        <p:spPr>
          <a:xfrm>
            <a:off x="960120" y="2468880"/>
            <a:ext cx="7589520" cy="475488"/>
          </a:xfrm>
          <a:prstGeom prst="rect">
            <a:avLst/>
          </a:prstGeom>
          <a:noFill/>
          <a:ln/>
        </p:spPr>
        <p:txBody>
          <a:bodyPr wrap="square" lIns="0" tIns="0" rIns="0" bIns="0" rtlCol="0" anchor="ctr"/>
          <a:lstStyle/>
          <a:p>
            <a:pPr indent="0" marL="0">
              <a:buNone/>
            </a:pPr>
            <a:r>
              <a:rPr lang="en-US" sz="1300" dirty="0">
                <a:solidFill>
                  <a:schemeClr val="tx1"/>
                </a:solidFill>
              </a:rPr>
              <a:t>Modifica la finalità di un sistema, anche generale, che diventa ad alto rischio</a:t>
            </a:r>
            <a:endParaRPr lang="en-US" sz="1300" dirty="0"/>
          </a:p>
        </p:txBody>
      </p:sp>
      <p:sp>
        <p:nvSpPr>
          <p:cNvPr id="26" name="riquadro Il caso più vicino (indicativo)"/>
          <p:cNvSpPr/>
          <p:nvPr/>
        </p:nvSpPr>
        <p:spPr>
          <a:xfrm>
            <a:off x="457200" y="3063240"/>
            <a:ext cx="8229600" cy="777240"/>
          </a:xfrm>
          <a:prstGeom prst="roundRect">
            <a:avLst>
              <a:gd name="adj" fmla="val 9412"/>
            </a:avLst>
          </a:prstGeom>
          <a:solidFill>
            <a:schemeClr val="accent6"/>
          </a:solidFill>
          <a:ln/>
        </p:spPr>
      </p:sp>
      <p:sp>
        <p:nvSpPr>
          <p:cNvPr id="27" name="barra"/>
          <p:cNvSpPr/>
          <p:nvPr/>
        </p:nvSpPr>
        <p:spPr>
          <a:xfrm>
            <a:off x="457200" y="3172968"/>
            <a:ext cx="54864" cy="557784"/>
          </a:xfrm>
          <a:prstGeom prst="rect">
            <a:avLst/>
          </a:prstGeom>
          <a:solidFill>
            <a:schemeClr val="accent5"/>
          </a:solidFill>
          <a:ln/>
        </p:spPr>
      </p:sp>
      <p:sp>
        <p:nvSpPr>
          <p:cNvPr id="28" name="Text 25"/>
          <p:cNvSpPr txBox="1"/>
          <p:nvPr/>
        </p:nvSpPr>
        <p:spPr>
          <a:xfrm>
            <a:off x="658368" y="3154680"/>
            <a:ext cx="7863840" cy="256032"/>
          </a:xfrm>
          <a:prstGeom prst="rect">
            <a:avLst/>
          </a:prstGeom>
          <a:noFill/>
          <a:ln/>
        </p:spPr>
        <p:txBody>
          <a:bodyPr wrap="square" lIns="0" tIns="0" rIns="0" bIns="0" rtlCol="0" anchor="t"/>
          <a:lstStyle/>
          <a:p>
            <a:pPr indent="0" marL="0">
              <a:buNone/>
            </a:pPr>
            <a:r>
              <a:rPr lang="en-US" sz="1100" b="1" dirty="0">
                <a:solidFill>
                  <a:schemeClr val="accent5"/>
                </a:solidFill>
              </a:rPr>
              <a:t>Il caso più vicino (indicativo)</a:t>
            </a:r>
            <a:endParaRPr lang="en-US" sz="1100" dirty="0"/>
          </a:p>
        </p:txBody>
      </p:sp>
      <p:sp>
        <p:nvSpPr>
          <p:cNvPr id="29" name="Text 26"/>
          <p:cNvSpPr txBox="1"/>
          <p:nvPr/>
        </p:nvSpPr>
        <p:spPr>
          <a:xfrm>
            <a:off x="658368" y="3447288"/>
            <a:ext cx="7863840" cy="301752"/>
          </a:xfrm>
          <a:prstGeom prst="rect">
            <a:avLst/>
          </a:prstGeom>
          <a:noFill/>
          <a:ln/>
        </p:spPr>
        <p:txBody>
          <a:bodyPr wrap="square" lIns="0" tIns="0" rIns="0" bIns="0" rtlCol="0" anchor="t"/>
          <a:lstStyle/>
          <a:p>
            <a:pPr indent="0" marL="0">
              <a:buNone/>
            </a:pPr>
            <a:r>
              <a:rPr lang="en-US" sz="1200" dirty="0">
                <a:solidFill>
                  <a:schemeClr val="tx1"/>
                </a:solidFill>
              </a:rPr>
              <a:t>Un assistente generico configurato e usato per selezionare i candidati: l'azienda potrebbe diventare fornitore di un sistema ad alto rischio.</a:t>
            </a:r>
            <a:endParaRPr lang="en-US" sz="1200" dirty="0"/>
          </a:p>
        </p:txBody>
      </p:sp>
      <p:sp>
        <p:nvSpPr>
          <p:cNvPr id="30" name="Text 27"/>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300" b="1" i="1" dirty="0">
                <a:solidFill>
                  <a:schemeClr val="accent1"/>
                </a:solidFill>
              </a:rPr>
              <a:t>Un cambio di finalità non è solo una scelta operativa: può cambiare il ruolo. Valutazioni con figure competenti.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Documentazione e contratti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Finalità prevista"/>
          <p:cNvSpPr/>
          <p:nvPr/>
        </p:nvSpPr>
        <p:spPr>
          <a:xfrm>
            <a:off x="457200" y="1051560"/>
            <a:ext cx="2621280" cy="1280160"/>
          </a:xfrm>
          <a:prstGeom prst="roundRect">
            <a:avLst>
              <a:gd name="adj" fmla="val 5714"/>
            </a:avLst>
          </a:prstGeom>
          <a:solidFill>
            <a:schemeClr val="bg2"/>
          </a:solidFill>
          <a:ln/>
        </p:spPr>
      </p:sp>
      <p:sp>
        <p:nvSpPr>
          <p:cNvPr id="17" name="cerchio FiTarget"/>
          <p:cNvSpPr/>
          <p:nvPr/>
        </p:nvSpPr>
        <p:spPr>
          <a:xfrm>
            <a:off x="621792" y="1216152"/>
            <a:ext cx="438912" cy="438912"/>
          </a:xfrm>
          <a:prstGeom prst="ellipse">
            <a:avLst/>
          </a:prstGeom>
          <a:solidFill>
            <a:schemeClr val="accent1"/>
          </a:solidFill>
          <a:ln/>
        </p:spPr>
      </p:sp>
      <p:pic>
        <p:nvPicPr>
          <p:cNvPr id="18" name="Image 0" descr="FiTarget">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Finalità prevista</a:t>
            </a:r>
            <a:endParaRPr lang="en-US" sz="1300" dirty="0"/>
          </a:p>
        </p:txBody>
      </p:sp>
      <p:sp>
        <p:nvSpPr>
          <p:cNvPr id="20" name="Text 16"/>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quali usi è progettato, e quali esclude</a:t>
            </a:r>
            <a:endParaRPr lang="en-US" sz="1200" dirty="0"/>
          </a:p>
        </p:txBody>
      </p:sp>
      <p:sp>
        <p:nvSpPr>
          <p:cNvPr id="21" name="Istruzioni d'uso"/>
          <p:cNvSpPr/>
          <p:nvPr/>
        </p:nvSpPr>
        <p:spPr>
          <a:xfrm>
            <a:off x="3261360" y="1051560"/>
            <a:ext cx="2621280" cy="1280160"/>
          </a:xfrm>
          <a:prstGeom prst="roundRect">
            <a:avLst>
              <a:gd name="adj" fmla="val 5714"/>
            </a:avLst>
          </a:prstGeom>
          <a:solidFill>
            <a:schemeClr val="bg2"/>
          </a:solidFill>
          <a:ln/>
        </p:spPr>
      </p:sp>
      <p:sp>
        <p:nvSpPr>
          <p:cNvPr id="22" name="cerchio FiFileText"/>
          <p:cNvSpPr/>
          <p:nvPr/>
        </p:nvSpPr>
        <p:spPr>
          <a:xfrm>
            <a:off x="3425952" y="1216152"/>
            <a:ext cx="438912" cy="438912"/>
          </a:xfrm>
          <a:prstGeom prst="ellipse">
            <a:avLst/>
          </a:prstGeom>
          <a:solidFill>
            <a:schemeClr val="accent1"/>
          </a:solidFill>
          <a:ln/>
        </p:spPr>
      </p:sp>
      <p:pic>
        <p:nvPicPr>
          <p:cNvPr id="23" name="Image 1" descr="FiFileText">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Istruzioni d'uso</a:t>
            </a:r>
            <a:endParaRPr lang="en-US" sz="1300" dirty="0"/>
          </a:p>
        </p:txBody>
      </p:sp>
      <p:sp>
        <p:nvSpPr>
          <p:cNvPr id="25" name="Text 20"/>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Limiti, configurazioni, avvertenze, supervisione</a:t>
            </a:r>
            <a:endParaRPr lang="en-US" sz="1200" dirty="0"/>
          </a:p>
        </p:txBody>
      </p:sp>
      <p:sp>
        <p:nvSpPr>
          <p:cNvPr id="26" name="Trattamento dei dati"/>
          <p:cNvSpPr/>
          <p:nvPr/>
        </p:nvSpPr>
        <p:spPr>
          <a:xfrm>
            <a:off x="6065520" y="1051560"/>
            <a:ext cx="2621280" cy="1280160"/>
          </a:xfrm>
          <a:prstGeom prst="roundRect">
            <a:avLst>
              <a:gd name="adj" fmla="val 5714"/>
            </a:avLst>
          </a:prstGeom>
          <a:solidFill>
            <a:schemeClr val="bg2"/>
          </a:solidFill>
          <a:ln/>
        </p:spPr>
      </p:sp>
      <p:sp>
        <p:nvSpPr>
          <p:cNvPr id="27" name="cerchio FiLock"/>
          <p:cNvSpPr/>
          <p:nvPr/>
        </p:nvSpPr>
        <p:spPr>
          <a:xfrm>
            <a:off x="6230112" y="1216152"/>
            <a:ext cx="438912" cy="438912"/>
          </a:xfrm>
          <a:prstGeom prst="ellipse">
            <a:avLst/>
          </a:prstGeom>
          <a:solidFill>
            <a:schemeClr val="accent1"/>
          </a:solidFill>
          <a:ln/>
        </p:spPr>
      </p:sp>
      <p:pic>
        <p:nvPicPr>
          <p:cNvPr id="28" name="Image 2" descr="FiLock">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Trattamento dei dati</a:t>
            </a:r>
            <a:endParaRPr lang="en-US" sz="1300" dirty="0"/>
          </a:p>
        </p:txBody>
      </p:sp>
      <p:sp>
        <p:nvSpPr>
          <p:cNvPr id="30" name="Text 24"/>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Conservazione, addestramento, luogo, sub-fornitori</a:t>
            </a:r>
            <a:endParaRPr lang="en-US" sz="1200" dirty="0"/>
          </a:p>
        </p:txBody>
      </p:sp>
      <p:sp>
        <p:nvSpPr>
          <p:cNvPr id="31" name="Output e garanzie"/>
          <p:cNvSpPr/>
          <p:nvPr/>
        </p:nvSpPr>
        <p:spPr>
          <a:xfrm>
            <a:off x="457200" y="2514600"/>
            <a:ext cx="2621280" cy="1280160"/>
          </a:xfrm>
          <a:prstGeom prst="roundRect">
            <a:avLst>
              <a:gd name="adj" fmla="val 5714"/>
            </a:avLst>
          </a:prstGeom>
          <a:solidFill>
            <a:schemeClr val="bg2"/>
          </a:solidFill>
          <a:ln/>
        </p:spPr>
      </p:sp>
      <p:sp>
        <p:nvSpPr>
          <p:cNvPr id="32" name="cerchio FiCopy"/>
          <p:cNvSpPr/>
          <p:nvPr/>
        </p:nvSpPr>
        <p:spPr>
          <a:xfrm>
            <a:off x="621792" y="2679192"/>
            <a:ext cx="438912" cy="438912"/>
          </a:xfrm>
          <a:prstGeom prst="ellipse">
            <a:avLst/>
          </a:prstGeom>
          <a:solidFill>
            <a:schemeClr val="accent1"/>
          </a:solidFill>
          <a:ln/>
        </p:spPr>
      </p:sp>
      <p:pic>
        <p:nvPicPr>
          <p:cNvPr id="33" name="Image 3" descr="FiCopy">    </p:cNvPr>
          <p:cNvPicPr>
            <a:picLocks noChangeAspect="1"/>
          </p:cNvPicPr>
          <p:nvPr/>
        </p:nvPicPr>
        <p:blipFill>
          <a:blip r:embed="rId4"/>
          <a:stretch>
            <a:fillRect/>
          </a:stretch>
        </p:blipFill>
        <p:spPr>
          <a:xfrm>
            <a:off x="731520" y="2788920"/>
            <a:ext cx="219456" cy="219456"/>
          </a:xfrm>
          <a:prstGeom prst="rect">
            <a:avLst/>
          </a:prstGeom>
        </p:spPr>
      </p:pic>
      <p:sp>
        <p:nvSpPr>
          <p:cNvPr id="34" name="Text 27"/>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Output e garanzie</a:t>
            </a:r>
            <a:endParaRPr lang="en-US" sz="1300" dirty="0"/>
          </a:p>
        </p:txBody>
      </p:sp>
      <p:sp>
        <p:nvSpPr>
          <p:cNvPr id="35" name="Text 28"/>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Proprietà, tutele in caso di contestazioni</a:t>
            </a:r>
            <a:endParaRPr lang="en-US" sz="1200" dirty="0"/>
          </a:p>
        </p:txBody>
      </p:sp>
      <p:sp>
        <p:nvSpPr>
          <p:cNvPr id="36" name="Prestazioni e limiti"/>
          <p:cNvSpPr/>
          <p:nvPr/>
        </p:nvSpPr>
        <p:spPr>
          <a:xfrm>
            <a:off x="3261360" y="2514600"/>
            <a:ext cx="2621280" cy="1280160"/>
          </a:xfrm>
          <a:prstGeom prst="roundRect">
            <a:avLst>
              <a:gd name="adj" fmla="val 5714"/>
            </a:avLst>
          </a:prstGeom>
          <a:solidFill>
            <a:schemeClr val="bg2"/>
          </a:solidFill>
          <a:ln/>
        </p:spPr>
      </p:sp>
      <p:sp>
        <p:nvSpPr>
          <p:cNvPr id="37" name="cerchio FiBarChart2"/>
          <p:cNvSpPr/>
          <p:nvPr/>
        </p:nvSpPr>
        <p:spPr>
          <a:xfrm>
            <a:off x="3425952" y="2679192"/>
            <a:ext cx="438912" cy="438912"/>
          </a:xfrm>
          <a:prstGeom prst="ellipse">
            <a:avLst/>
          </a:prstGeom>
          <a:solidFill>
            <a:schemeClr val="accent1"/>
          </a:solidFill>
          <a:ln/>
        </p:spPr>
      </p:sp>
      <p:pic>
        <p:nvPicPr>
          <p:cNvPr id="38" name="Image 4" descr="FiBarChart2">    </p:cNvPr>
          <p:cNvPicPr>
            <a:picLocks noChangeAspect="1"/>
          </p:cNvPicPr>
          <p:nvPr/>
        </p:nvPicPr>
        <p:blipFill>
          <a:blip r:embed="rId5"/>
          <a:stretch>
            <a:fillRect/>
          </a:stretch>
        </p:blipFill>
        <p:spPr>
          <a:xfrm>
            <a:off x="3535680" y="2788920"/>
            <a:ext cx="219456" cy="219456"/>
          </a:xfrm>
          <a:prstGeom prst="rect">
            <a:avLst/>
          </a:prstGeom>
        </p:spPr>
      </p:pic>
      <p:sp>
        <p:nvSpPr>
          <p:cNvPr id="39" name="Text 31"/>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Prestazioni e limiti</a:t>
            </a:r>
            <a:endParaRPr lang="en-US" sz="1300" dirty="0"/>
          </a:p>
        </p:txBody>
      </p:sp>
      <p:sp>
        <p:nvSpPr>
          <p:cNvPr id="40" name="Text 32"/>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Che cosa fa bene, che cosa no</a:t>
            </a:r>
            <a:endParaRPr lang="en-US" sz="1200" dirty="0"/>
          </a:p>
        </p:txBody>
      </p:sp>
      <p:sp>
        <p:nvSpPr>
          <p:cNvPr id="41" name="Aggiornamenti"/>
          <p:cNvSpPr/>
          <p:nvPr/>
        </p:nvSpPr>
        <p:spPr>
          <a:xfrm>
            <a:off x="6065520" y="2514600"/>
            <a:ext cx="2621280" cy="1280160"/>
          </a:xfrm>
          <a:prstGeom prst="roundRect">
            <a:avLst>
              <a:gd name="adj" fmla="val 5714"/>
            </a:avLst>
          </a:prstGeom>
          <a:solidFill>
            <a:schemeClr val="bg2"/>
          </a:solidFill>
          <a:ln/>
        </p:spPr>
      </p:sp>
      <p:sp>
        <p:nvSpPr>
          <p:cNvPr id="42" name="cerchio FiRefreshCw"/>
          <p:cNvSpPr/>
          <p:nvPr/>
        </p:nvSpPr>
        <p:spPr>
          <a:xfrm>
            <a:off x="6230112" y="2679192"/>
            <a:ext cx="438912" cy="438912"/>
          </a:xfrm>
          <a:prstGeom prst="ellipse">
            <a:avLst/>
          </a:prstGeom>
          <a:solidFill>
            <a:schemeClr val="accent1"/>
          </a:solidFill>
          <a:ln/>
        </p:spPr>
      </p:sp>
      <p:pic>
        <p:nvPicPr>
          <p:cNvPr id="43" name="Image 5" descr="FiRefreshCw">    </p:cNvPr>
          <p:cNvPicPr>
            <a:picLocks noChangeAspect="1"/>
          </p:cNvPicPr>
          <p:nvPr/>
        </p:nvPicPr>
        <p:blipFill>
          <a:blip r:embed="rId6"/>
          <a:stretch>
            <a:fillRect/>
          </a:stretch>
        </p:blipFill>
        <p:spPr>
          <a:xfrm>
            <a:off x="6339840" y="2788920"/>
            <a:ext cx="219456" cy="219456"/>
          </a:xfrm>
          <a:prstGeom prst="rect">
            <a:avLst/>
          </a:prstGeom>
        </p:spPr>
      </p:pic>
      <p:sp>
        <p:nvSpPr>
          <p:cNvPr id="44" name="Text 35"/>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Aggiornamenti</a:t>
            </a:r>
            <a:endParaRPr lang="en-US" sz="1300" dirty="0"/>
          </a:p>
        </p:txBody>
      </p:sp>
      <p:sp>
        <p:nvSpPr>
          <p:cNvPr id="45" name="Text 36"/>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Come vengono comunicati i cambiamenti</a:t>
            </a:r>
            <a:endParaRPr lang="en-US" sz="1200" dirty="0"/>
          </a:p>
        </p:txBody>
      </p:sp>
      <p:sp>
        <p:nvSpPr>
          <p:cNvPr id="46" name="messaggio"/>
          <p:cNvSpPr/>
          <p:nvPr/>
        </p:nvSpPr>
        <p:spPr>
          <a:xfrm>
            <a:off x="457200" y="3977640"/>
            <a:ext cx="8229600" cy="548640"/>
          </a:xfrm>
          <a:prstGeom prst="roundRect">
            <a:avLst>
              <a:gd name="adj" fmla="val 13333"/>
            </a:avLst>
          </a:prstGeom>
          <a:solidFill>
            <a:schemeClr val="tx1"/>
          </a:solidFill>
          <a:ln/>
        </p:spPr>
      </p:sp>
      <p:sp>
        <p:nvSpPr>
          <p:cNvPr id="47"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Non è compito dell'utente finale analizzarla; è compito dell'organizzazione, prima di approvare uno strumento.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Chi fa che cosa, all'interno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opone"/>
          <p:cNvSpPr/>
          <p:nvPr/>
        </p:nvSpPr>
        <p:spPr>
          <a:xfrm>
            <a:off x="457200" y="1051560"/>
            <a:ext cx="1965960" cy="1143000"/>
          </a:xfrm>
          <a:prstGeom prst="roundRect">
            <a:avLst>
              <a:gd name="adj" fmla="val 6400"/>
            </a:avLst>
          </a:prstGeom>
          <a:solidFill>
            <a:schemeClr val="accent6"/>
          </a:solidFill>
          <a:ln/>
        </p:spPr>
      </p:sp>
      <p:sp>
        <p:nvSpPr>
          <p:cNvPr id="17" name="Text 14"/>
          <p:cNvSpPr txBox="1"/>
          <p:nvPr/>
        </p:nvSpPr>
        <p:spPr>
          <a:xfrm>
            <a:off x="548640" y="1097280"/>
            <a:ext cx="1783080" cy="457200"/>
          </a:xfrm>
          <a:prstGeom prst="rect">
            <a:avLst/>
          </a:prstGeom>
          <a:noFill/>
          <a:ln/>
        </p:spPr>
        <p:txBody>
          <a:bodyPr wrap="square" lIns="0" tIns="0" rIns="0" bIns="0" rtlCol="0" anchor="t"/>
          <a:lstStyle/>
          <a:p>
            <a:pPr algn="ctr" indent="0" marL="0">
              <a:buNone/>
            </a:pPr>
            <a:r>
              <a:rPr lang="en-US" sz="1600" b="1" dirty="0">
                <a:solidFill>
                  <a:schemeClr val="accent1"/>
                </a:solidFill>
              </a:rPr>
              <a:t>Propone</a:t>
            </a:r>
            <a:endParaRPr lang="en-US" sz="1600" dirty="0"/>
          </a:p>
        </p:txBody>
      </p:sp>
      <p:sp>
        <p:nvSpPr>
          <p:cNvPr id="18" name="Text 15"/>
          <p:cNvSpPr txBox="1"/>
          <p:nvPr/>
        </p:nvSpPr>
        <p:spPr>
          <a:xfrm>
            <a:off x="548640" y="1572768"/>
            <a:ext cx="1783080" cy="548640"/>
          </a:xfrm>
          <a:prstGeom prst="rect">
            <a:avLst/>
          </a:prstGeom>
          <a:noFill/>
          <a:ln/>
        </p:spPr>
        <p:txBody>
          <a:bodyPr wrap="square" lIns="0" tIns="0" rIns="0" bIns="0" rtlCol="0" anchor="t"/>
          <a:lstStyle/>
          <a:p>
            <a:pPr algn="ctr" indent="0" marL="0">
              <a:buNone/>
            </a:pPr>
            <a:r>
              <a:rPr lang="en-US" sz="1100" dirty="0">
                <a:solidFill>
                  <a:schemeClr val="tx1"/>
                </a:solidFill>
              </a:rPr>
              <a:t>Chi ha il bisogno</a:t>
            </a:r>
            <a:endParaRPr lang="en-US" sz="1100" dirty="0"/>
          </a:p>
        </p:txBody>
      </p:sp>
      <p:sp>
        <p:nvSpPr>
          <p:cNvPr id="19" name="Autorizza"/>
          <p:cNvSpPr/>
          <p:nvPr/>
        </p:nvSpPr>
        <p:spPr>
          <a:xfrm>
            <a:off x="2560320" y="1051560"/>
            <a:ext cx="1965960" cy="1143000"/>
          </a:xfrm>
          <a:prstGeom prst="roundRect">
            <a:avLst>
              <a:gd name="adj" fmla="val 6400"/>
            </a:avLst>
          </a:prstGeom>
          <a:solidFill>
            <a:schemeClr val="accent6"/>
          </a:solidFill>
          <a:ln/>
        </p:spPr>
      </p:sp>
      <p:sp>
        <p:nvSpPr>
          <p:cNvPr id="20" name="Text 17"/>
          <p:cNvSpPr txBox="1"/>
          <p:nvPr/>
        </p:nvSpPr>
        <p:spPr>
          <a:xfrm>
            <a:off x="2651760" y="1097280"/>
            <a:ext cx="1783080" cy="457200"/>
          </a:xfrm>
          <a:prstGeom prst="rect">
            <a:avLst/>
          </a:prstGeom>
          <a:noFill/>
          <a:ln/>
        </p:spPr>
        <p:txBody>
          <a:bodyPr wrap="square" lIns="0" tIns="0" rIns="0" bIns="0" rtlCol="0" anchor="t"/>
          <a:lstStyle/>
          <a:p>
            <a:pPr algn="ctr" indent="0" marL="0">
              <a:buNone/>
            </a:pPr>
            <a:r>
              <a:rPr lang="en-US" sz="1600" b="1" dirty="0">
                <a:solidFill>
                  <a:schemeClr val="accent1"/>
                </a:solidFill>
              </a:rPr>
              <a:t>Autorizza</a:t>
            </a:r>
            <a:endParaRPr lang="en-US" sz="1600" dirty="0"/>
          </a:p>
        </p:txBody>
      </p:sp>
      <p:sp>
        <p:nvSpPr>
          <p:cNvPr id="21" name="Text 18"/>
          <p:cNvSpPr txBox="1"/>
          <p:nvPr/>
        </p:nvSpPr>
        <p:spPr>
          <a:xfrm>
            <a:off x="2651760" y="1572768"/>
            <a:ext cx="1783080" cy="548640"/>
          </a:xfrm>
          <a:prstGeom prst="rect">
            <a:avLst/>
          </a:prstGeom>
          <a:noFill/>
          <a:ln/>
        </p:spPr>
        <p:txBody>
          <a:bodyPr wrap="square" lIns="0" tIns="0" rIns="0" bIns="0" rtlCol="0" anchor="t"/>
          <a:lstStyle/>
          <a:p>
            <a:pPr algn="ctr" indent="0" marL="0">
              <a:buNone/>
            </a:pPr>
            <a:r>
              <a:rPr lang="en-US" sz="1100" dirty="0">
                <a:solidFill>
                  <a:schemeClr val="tx1"/>
                </a:solidFill>
              </a:rPr>
              <a:t>Chi decide se è accettabile</a:t>
            </a:r>
            <a:endParaRPr lang="en-US" sz="1100" dirty="0"/>
          </a:p>
        </p:txBody>
      </p:sp>
      <p:sp>
        <p:nvSpPr>
          <p:cNvPr id="22" name="Controlla"/>
          <p:cNvSpPr/>
          <p:nvPr/>
        </p:nvSpPr>
        <p:spPr>
          <a:xfrm>
            <a:off x="4663440" y="1051560"/>
            <a:ext cx="1965960" cy="1143000"/>
          </a:xfrm>
          <a:prstGeom prst="roundRect">
            <a:avLst>
              <a:gd name="adj" fmla="val 6400"/>
            </a:avLst>
          </a:prstGeom>
          <a:solidFill>
            <a:schemeClr val="accent6"/>
          </a:solidFill>
          <a:ln/>
        </p:spPr>
      </p:sp>
      <p:sp>
        <p:nvSpPr>
          <p:cNvPr id="23" name="Text 20"/>
          <p:cNvSpPr txBox="1"/>
          <p:nvPr/>
        </p:nvSpPr>
        <p:spPr>
          <a:xfrm>
            <a:off x="4754880" y="1097280"/>
            <a:ext cx="1783080" cy="457200"/>
          </a:xfrm>
          <a:prstGeom prst="rect">
            <a:avLst/>
          </a:prstGeom>
          <a:noFill/>
          <a:ln/>
        </p:spPr>
        <p:txBody>
          <a:bodyPr wrap="square" lIns="0" tIns="0" rIns="0" bIns="0" rtlCol="0" anchor="t"/>
          <a:lstStyle/>
          <a:p>
            <a:pPr algn="ctr" indent="0" marL="0">
              <a:buNone/>
            </a:pPr>
            <a:r>
              <a:rPr lang="en-US" sz="1600" b="1" dirty="0">
                <a:solidFill>
                  <a:schemeClr val="accent1"/>
                </a:solidFill>
              </a:rPr>
              <a:t>Controlla</a:t>
            </a:r>
            <a:endParaRPr lang="en-US" sz="1600" dirty="0"/>
          </a:p>
        </p:txBody>
      </p:sp>
      <p:sp>
        <p:nvSpPr>
          <p:cNvPr id="24" name="Text 21"/>
          <p:cNvSpPr txBox="1"/>
          <p:nvPr/>
        </p:nvSpPr>
        <p:spPr>
          <a:xfrm>
            <a:off x="4754880" y="1572768"/>
            <a:ext cx="1783080" cy="548640"/>
          </a:xfrm>
          <a:prstGeom prst="rect">
            <a:avLst/>
          </a:prstGeom>
          <a:noFill/>
          <a:ln/>
        </p:spPr>
        <p:txBody>
          <a:bodyPr wrap="square" lIns="0" tIns="0" rIns="0" bIns="0" rtlCol="0" anchor="t"/>
          <a:lstStyle/>
          <a:p>
            <a:pPr algn="ctr" indent="0" marL="0">
              <a:buNone/>
            </a:pPr>
            <a:r>
              <a:rPr lang="en-US" sz="1100" dirty="0">
                <a:solidFill>
                  <a:schemeClr val="tx1"/>
                </a:solidFill>
              </a:rPr>
              <a:t>Chi verifica uso e controlli</a:t>
            </a:r>
            <a:endParaRPr lang="en-US" sz="1100" dirty="0"/>
          </a:p>
        </p:txBody>
      </p:sp>
      <p:sp>
        <p:nvSpPr>
          <p:cNvPr id="25" name="Sospende"/>
          <p:cNvSpPr/>
          <p:nvPr/>
        </p:nvSpPr>
        <p:spPr>
          <a:xfrm>
            <a:off x="6766560" y="1051560"/>
            <a:ext cx="1965960" cy="1143000"/>
          </a:xfrm>
          <a:prstGeom prst="roundRect">
            <a:avLst>
              <a:gd name="adj" fmla="val 6400"/>
            </a:avLst>
          </a:prstGeom>
          <a:solidFill>
            <a:schemeClr val="accent1"/>
          </a:solidFill>
          <a:ln/>
        </p:spPr>
      </p:sp>
      <p:sp>
        <p:nvSpPr>
          <p:cNvPr id="26" name="Text 23"/>
          <p:cNvSpPr txBox="1"/>
          <p:nvPr/>
        </p:nvSpPr>
        <p:spPr>
          <a:xfrm>
            <a:off x="6858000" y="1097280"/>
            <a:ext cx="1783080" cy="457200"/>
          </a:xfrm>
          <a:prstGeom prst="rect">
            <a:avLst/>
          </a:prstGeom>
          <a:noFill/>
          <a:ln/>
        </p:spPr>
        <p:txBody>
          <a:bodyPr wrap="square" lIns="0" tIns="0" rIns="0" bIns="0" rtlCol="0" anchor="t"/>
          <a:lstStyle/>
          <a:p>
            <a:pPr algn="ctr" indent="0" marL="0">
              <a:buNone/>
            </a:pPr>
            <a:r>
              <a:rPr lang="en-US" sz="1600" b="1" dirty="0">
                <a:solidFill>
                  <a:schemeClr val="bg1"/>
                </a:solidFill>
              </a:rPr>
              <a:t>Sospende</a:t>
            </a:r>
            <a:endParaRPr lang="en-US" sz="1600" dirty="0"/>
          </a:p>
        </p:txBody>
      </p:sp>
      <p:sp>
        <p:nvSpPr>
          <p:cNvPr id="27" name="Text 24"/>
          <p:cNvSpPr txBox="1"/>
          <p:nvPr/>
        </p:nvSpPr>
        <p:spPr>
          <a:xfrm>
            <a:off x="6858000" y="1572768"/>
            <a:ext cx="1783080" cy="548640"/>
          </a:xfrm>
          <a:prstGeom prst="rect">
            <a:avLst/>
          </a:prstGeom>
          <a:noFill/>
          <a:ln/>
        </p:spPr>
        <p:txBody>
          <a:bodyPr wrap="square" lIns="0" tIns="0" rIns="0" bIns="0" rtlCol="0" anchor="t"/>
          <a:lstStyle/>
          <a:p>
            <a:pPr algn="ctr" indent="0" marL="0">
              <a:buNone/>
            </a:pPr>
            <a:r>
              <a:rPr lang="en-US" sz="1100" dirty="0">
                <a:solidFill>
                  <a:schemeClr val="bg1"/>
                </a:solidFill>
              </a:rPr>
              <a:t>Chi può fermare, rapidamente</a:t>
            </a:r>
            <a:endParaRPr lang="en-US" sz="1100" dirty="0"/>
          </a:p>
        </p:txBody>
      </p:sp>
      <p:sp>
        <p:nvSpPr>
          <p:cNvPr id="28" name="Text 25"/>
          <p:cNvSpPr txBox="1"/>
          <p:nvPr/>
        </p:nvSpPr>
        <p:spPr>
          <a:xfrm>
            <a:off x="457200" y="2331720"/>
            <a:ext cx="8229600" cy="292608"/>
          </a:xfrm>
          <a:prstGeom prst="rect">
            <a:avLst/>
          </a:prstGeom>
          <a:noFill/>
          <a:ln/>
        </p:spPr>
        <p:txBody>
          <a:bodyPr wrap="square" lIns="0" tIns="0" rIns="0" bIns="0" rtlCol="0" anchor="t"/>
          <a:lstStyle/>
          <a:p>
            <a:pPr indent="0" marL="0">
              <a:buNone/>
            </a:pPr>
            <a:r>
              <a:rPr lang="en-US" sz="1300" b="1" dirty="0">
                <a:solidFill>
                  <a:schemeClr val="tx1"/>
                </a:solidFill>
              </a:rPr>
              <a:t>Funzioni da coinvolgere, secondo il contesto</a:t>
            </a:r>
            <a:endParaRPr lang="en-US" sz="1300" dirty="0"/>
          </a:p>
        </p:txBody>
      </p:sp>
      <p:sp>
        <p:nvSpPr>
          <p:cNvPr id="29" name="blocco Legale"/>
          <p:cNvSpPr/>
          <p:nvPr/>
        </p:nvSpPr>
        <p:spPr>
          <a:xfrm>
            <a:off x="457200" y="2670048"/>
            <a:ext cx="1517904" cy="502920"/>
          </a:xfrm>
          <a:prstGeom prst="roundRect">
            <a:avLst>
              <a:gd name="adj" fmla="val 21818"/>
            </a:avLst>
          </a:prstGeom>
          <a:solidFill>
            <a:schemeClr val="bg2"/>
          </a:solidFill>
          <a:ln/>
        </p:spPr>
      </p:sp>
      <p:sp>
        <p:nvSpPr>
          <p:cNvPr id="30" name="Text 27"/>
          <p:cNvSpPr txBox="1"/>
          <p:nvPr/>
        </p:nvSpPr>
        <p:spPr>
          <a:xfrm>
            <a:off x="502920" y="2670048"/>
            <a:ext cx="1426464" cy="502920"/>
          </a:xfrm>
          <a:prstGeom prst="rect">
            <a:avLst/>
          </a:prstGeom>
          <a:noFill/>
          <a:ln/>
        </p:spPr>
        <p:txBody>
          <a:bodyPr wrap="square" lIns="0" tIns="0" rIns="0" bIns="0" rtlCol="0" anchor="ctr"/>
          <a:lstStyle/>
          <a:p>
            <a:pPr algn="ctr" indent="0" marL="0">
              <a:buNone/>
            </a:pPr>
            <a:r>
              <a:rPr lang="en-US" sz="1200" b="1" dirty="0">
                <a:solidFill>
                  <a:schemeClr val="tx1"/>
                </a:solidFill>
              </a:rPr>
              <a:t>Legale</a:t>
            </a:r>
            <a:endParaRPr lang="en-US" sz="1200" dirty="0"/>
          </a:p>
        </p:txBody>
      </p:sp>
      <p:sp>
        <p:nvSpPr>
          <p:cNvPr id="31" name="blocco Protezione dati"/>
          <p:cNvSpPr/>
          <p:nvPr/>
        </p:nvSpPr>
        <p:spPr>
          <a:xfrm>
            <a:off x="2135124" y="2670048"/>
            <a:ext cx="1517904" cy="502920"/>
          </a:xfrm>
          <a:prstGeom prst="roundRect">
            <a:avLst>
              <a:gd name="adj" fmla="val 21818"/>
            </a:avLst>
          </a:prstGeom>
          <a:solidFill>
            <a:schemeClr val="bg2"/>
          </a:solidFill>
          <a:ln/>
        </p:spPr>
      </p:sp>
      <p:sp>
        <p:nvSpPr>
          <p:cNvPr id="32" name="Text 29"/>
          <p:cNvSpPr txBox="1"/>
          <p:nvPr/>
        </p:nvSpPr>
        <p:spPr>
          <a:xfrm>
            <a:off x="2180844" y="2670048"/>
            <a:ext cx="1426464" cy="502920"/>
          </a:xfrm>
          <a:prstGeom prst="rect">
            <a:avLst/>
          </a:prstGeom>
          <a:noFill/>
          <a:ln/>
        </p:spPr>
        <p:txBody>
          <a:bodyPr wrap="square" lIns="0" tIns="0" rIns="0" bIns="0" rtlCol="0" anchor="ctr"/>
          <a:lstStyle/>
          <a:p>
            <a:pPr algn="ctr" indent="0" marL="0">
              <a:buNone/>
            </a:pPr>
            <a:r>
              <a:rPr lang="en-US" sz="1200" b="1" dirty="0">
                <a:solidFill>
                  <a:schemeClr val="tx1"/>
                </a:solidFill>
              </a:rPr>
              <a:t>Protezione dati</a:t>
            </a:r>
            <a:endParaRPr lang="en-US" sz="1200" dirty="0"/>
          </a:p>
        </p:txBody>
      </p:sp>
      <p:sp>
        <p:nvSpPr>
          <p:cNvPr id="33" name="blocco IT e sicurezza"/>
          <p:cNvSpPr/>
          <p:nvPr/>
        </p:nvSpPr>
        <p:spPr>
          <a:xfrm>
            <a:off x="3813048" y="2670048"/>
            <a:ext cx="1517904" cy="502920"/>
          </a:xfrm>
          <a:prstGeom prst="roundRect">
            <a:avLst>
              <a:gd name="adj" fmla="val 21818"/>
            </a:avLst>
          </a:prstGeom>
          <a:solidFill>
            <a:schemeClr val="bg2"/>
          </a:solidFill>
          <a:ln/>
        </p:spPr>
      </p:sp>
      <p:sp>
        <p:nvSpPr>
          <p:cNvPr id="34" name="Text 31"/>
          <p:cNvSpPr txBox="1"/>
          <p:nvPr/>
        </p:nvSpPr>
        <p:spPr>
          <a:xfrm>
            <a:off x="3858768" y="2670048"/>
            <a:ext cx="1426464" cy="502920"/>
          </a:xfrm>
          <a:prstGeom prst="rect">
            <a:avLst/>
          </a:prstGeom>
          <a:noFill/>
          <a:ln/>
        </p:spPr>
        <p:txBody>
          <a:bodyPr wrap="square" lIns="0" tIns="0" rIns="0" bIns="0" rtlCol="0" anchor="ctr"/>
          <a:lstStyle/>
          <a:p>
            <a:pPr algn="ctr" indent="0" marL="0">
              <a:buNone/>
            </a:pPr>
            <a:r>
              <a:rPr lang="en-US" sz="1200" b="1" dirty="0">
                <a:solidFill>
                  <a:schemeClr val="tx1"/>
                </a:solidFill>
              </a:rPr>
              <a:t>IT e sicurezza</a:t>
            </a:r>
            <a:endParaRPr lang="en-US" sz="1200" dirty="0"/>
          </a:p>
        </p:txBody>
      </p:sp>
      <p:sp>
        <p:nvSpPr>
          <p:cNvPr id="35" name="blocco Risorse umane"/>
          <p:cNvSpPr/>
          <p:nvPr/>
        </p:nvSpPr>
        <p:spPr>
          <a:xfrm>
            <a:off x="5490972" y="2670048"/>
            <a:ext cx="1517904" cy="502920"/>
          </a:xfrm>
          <a:prstGeom prst="roundRect">
            <a:avLst>
              <a:gd name="adj" fmla="val 21818"/>
            </a:avLst>
          </a:prstGeom>
          <a:solidFill>
            <a:schemeClr val="bg2"/>
          </a:solidFill>
          <a:ln/>
        </p:spPr>
      </p:sp>
      <p:sp>
        <p:nvSpPr>
          <p:cNvPr id="36" name="Text 33"/>
          <p:cNvSpPr txBox="1"/>
          <p:nvPr/>
        </p:nvSpPr>
        <p:spPr>
          <a:xfrm>
            <a:off x="5536692" y="2670048"/>
            <a:ext cx="1426464" cy="502920"/>
          </a:xfrm>
          <a:prstGeom prst="rect">
            <a:avLst/>
          </a:prstGeom>
          <a:noFill/>
          <a:ln/>
        </p:spPr>
        <p:txBody>
          <a:bodyPr wrap="square" lIns="0" tIns="0" rIns="0" bIns="0" rtlCol="0" anchor="ctr"/>
          <a:lstStyle/>
          <a:p>
            <a:pPr algn="ctr" indent="0" marL="0">
              <a:buNone/>
            </a:pPr>
            <a:r>
              <a:rPr lang="en-US" sz="1200" b="1" dirty="0">
                <a:solidFill>
                  <a:schemeClr val="tx1"/>
                </a:solidFill>
              </a:rPr>
              <a:t>Risorse umane</a:t>
            </a:r>
            <a:endParaRPr lang="en-US" sz="1200" dirty="0"/>
          </a:p>
        </p:txBody>
      </p:sp>
      <p:sp>
        <p:nvSpPr>
          <p:cNvPr id="37" name="blocco Management"/>
          <p:cNvSpPr/>
          <p:nvPr/>
        </p:nvSpPr>
        <p:spPr>
          <a:xfrm>
            <a:off x="7168896" y="2670048"/>
            <a:ext cx="1517904" cy="502920"/>
          </a:xfrm>
          <a:prstGeom prst="roundRect">
            <a:avLst>
              <a:gd name="adj" fmla="val 21818"/>
            </a:avLst>
          </a:prstGeom>
          <a:solidFill>
            <a:schemeClr val="bg2"/>
          </a:solidFill>
          <a:ln/>
        </p:spPr>
      </p:sp>
      <p:sp>
        <p:nvSpPr>
          <p:cNvPr id="38" name="Text 35"/>
          <p:cNvSpPr txBox="1"/>
          <p:nvPr/>
        </p:nvSpPr>
        <p:spPr>
          <a:xfrm>
            <a:off x="7214616" y="2670048"/>
            <a:ext cx="1426464" cy="502920"/>
          </a:xfrm>
          <a:prstGeom prst="rect">
            <a:avLst/>
          </a:prstGeom>
          <a:noFill/>
          <a:ln/>
        </p:spPr>
        <p:txBody>
          <a:bodyPr wrap="square" lIns="0" tIns="0" rIns="0" bIns="0" rtlCol="0" anchor="ctr"/>
          <a:lstStyle/>
          <a:p>
            <a:pPr algn="ctr" indent="0" marL="0">
              <a:buNone/>
            </a:pPr>
            <a:r>
              <a:rPr lang="en-US" sz="1200" b="1" dirty="0">
                <a:solidFill>
                  <a:schemeClr val="tx1"/>
                </a:solidFill>
              </a:rPr>
              <a:t>Management</a:t>
            </a:r>
            <a:endParaRPr lang="en-US" sz="1200" dirty="0"/>
          </a:p>
        </p:txBody>
      </p:sp>
      <p:sp>
        <p:nvSpPr>
          <p:cNvPr id="39" name="messaggio"/>
          <p:cNvSpPr/>
          <p:nvPr/>
        </p:nvSpPr>
        <p:spPr>
          <a:xfrm>
            <a:off x="457200" y="3383280"/>
            <a:ext cx="8229600" cy="822960"/>
          </a:xfrm>
          <a:prstGeom prst="roundRect">
            <a:avLst>
              <a:gd name="adj" fmla="val 8889"/>
            </a:avLst>
          </a:prstGeom>
          <a:solidFill>
            <a:schemeClr val="tx1"/>
          </a:solidFill>
          <a:ln/>
        </p:spPr>
      </p:sp>
      <p:sp>
        <p:nvSpPr>
          <p:cNvPr id="40" name="Text 37"/>
          <p:cNvSpPr txBox="1"/>
          <p:nvPr/>
        </p:nvSpPr>
        <p:spPr>
          <a:xfrm>
            <a:off x="640080" y="3383280"/>
            <a:ext cx="7863840" cy="822960"/>
          </a:xfrm>
          <a:prstGeom prst="rect">
            <a:avLst/>
          </a:prstGeom>
          <a:noFill/>
          <a:ln/>
        </p:spPr>
        <p:txBody>
          <a:bodyPr wrap="square" lIns="0" tIns="0" rIns="0" bIns="0" rtlCol="0" anchor="ctr"/>
          <a:lstStyle/>
          <a:p>
            <a:pPr indent="0" marL="0">
              <a:buNone/>
            </a:pPr>
            <a:r>
              <a:rPr lang="en-US" sz="1400" dirty="0">
                <a:solidFill>
                  <a:schemeClr val="bg1"/>
                </a:solidFill>
              </a:rPr>
              <a:t>In una piccola azienda più ruoli coincidono: conta che le quattro azioni abbiano qualcuno che se ne occupa.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Impiegare sistemi di terzi non elimina le responsabilità dell'organizzazione: il fornitore risponde di come il sistema è fatto, il deployer di come lo usa.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18.4  ·  Ruoli e responsabilità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Politiche aziendali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policy è utile quando orienta decisioni e comportamenti concreti, non soltanto quando esiste come documento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 che cosa serve una policy</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Tradurre gli obblighi"/>
          <p:cNvSpPr/>
          <p:nvPr/>
        </p:nvSpPr>
        <p:spPr>
          <a:xfrm>
            <a:off x="457200" y="1051560"/>
            <a:ext cx="2621280" cy="1280160"/>
          </a:xfrm>
          <a:prstGeom prst="roundRect">
            <a:avLst>
              <a:gd name="adj" fmla="val 5714"/>
            </a:avLst>
          </a:prstGeom>
          <a:solidFill>
            <a:schemeClr val="bg2"/>
          </a:solidFill>
          <a:ln/>
        </p:spPr>
      </p:sp>
      <p:sp>
        <p:nvSpPr>
          <p:cNvPr id="17" name="cerchio FiBookOpen"/>
          <p:cNvSpPr/>
          <p:nvPr/>
        </p:nvSpPr>
        <p:spPr>
          <a:xfrm>
            <a:off x="621792" y="1216152"/>
            <a:ext cx="438912" cy="438912"/>
          </a:xfrm>
          <a:prstGeom prst="ellipse">
            <a:avLst/>
          </a:prstGeom>
          <a:solidFill>
            <a:schemeClr val="accent1"/>
          </a:solidFill>
          <a:ln/>
        </p:spPr>
      </p:sp>
      <p:pic>
        <p:nvPicPr>
          <p:cNvPr id="18" name="Image 0" descr="FiBookOpen">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Tradurre gli obblighi</a:t>
            </a:r>
            <a:endParaRPr lang="en-US" sz="1300" dirty="0"/>
          </a:p>
        </p:txBody>
      </p:sp>
      <p:sp>
        <p:nvSpPr>
          <p:cNvPr id="20" name="Text 16"/>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In comportamenti concreti e comprensibili</a:t>
            </a:r>
            <a:endParaRPr lang="en-US" sz="1200" dirty="0"/>
          </a:p>
        </p:txBody>
      </p:sp>
      <p:sp>
        <p:nvSpPr>
          <p:cNvPr id="21" name="Esprimere le scelte"/>
          <p:cNvSpPr/>
          <p:nvPr/>
        </p:nvSpPr>
        <p:spPr>
          <a:xfrm>
            <a:off x="3261360" y="1051560"/>
            <a:ext cx="2621280" cy="1280160"/>
          </a:xfrm>
          <a:prstGeom prst="roundRect">
            <a:avLst>
              <a:gd name="adj" fmla="val 5714"/>
            </a:avLst>
          </a:prstGeom>
          <a:solidFill>
            <a:schemeClr val="bg2"/>
          </a:solidFill>
          <a:ln/>
        </p:spPr>
      </p:sp>
      <p:sp>
        <p:nvSpPr>
          <p:cNvPr id="22" name="cerchio FiCompass"/>
          <p:cNvSpPr/>
          <p:nvPr/>
        </p:nvSpPr>
        <p:spPr>
          <a:xfrm>
            <a:off x="3425952" y="1216152"/>
            <a:ext cx="438912" cy="438912"/>
          </a:xfrm>
          <a:prstGeom prst="ellipse">
            <a:avLst/>
          </a:prstGeom>
          <a:solidFill>
            <a:schemeClr val="accent1"/>
          </a:solidFill>
          <a:ln/>
        </p:spPr>
      </p:sp>
      <p:pic>
        <p:nvPicPr>
          <p:cNvPr id="23" name="Image 1" descr="FiCompass">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Esprimere le scelte</a:t>
            </a:r>
            <a:endParaRPr lang="en-US" sz="1300" dirty="0"/>
          </a:p>
        </p:txBody>
      </p:sp>
      <p:sp>
        <p:nvSpPr>
          <p:cNvPr id="25" name="Text 20"/>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Strumenti, usi, cautele, oltre la legge</a:t>
            </a:r>
            <a:endParaRPr lang="en-US" sz="1200" dirty="0"/>
          </a:p>
        </p:txBody>
      </p:sp>
      <p:sp>
        <p:nvSpPr>
          <p:cNvPr id="26" name="Dare certezza"/>
          <p:cNvSpPr/>
          <p:nvPr/>
        </p:nvSpPr>
        <p:spPr>
          <a:xfrm>
            <a:off x="6065520" y="1051560"/>
            <a:ext cx="2621280" cy="1280160"/>
          </a:xfrm>
          <a:prstGeom prst="roundRect">
            <a:avLst>
              <a:gd name="adj" fmla="val 5714"/>
            </a:avLst>
          </a:prstGeom>
          <a:solidFill>
            <a:schemeClr val="bg2"/>
          </a:solidFill>
          <a:ln/>
        </p:spPr>
      </p:sp>
      <p:sp>
        <p:nvSpPr>
          <p:cNvPr id="27" name="cerchio FiCheckCircle"/>
          <p:cNvSpPr/>
          <p:nvPr/>
        </p:nvSpPr>
        <p:spPr>
          <a:xfrm>
            <a:off x="6230112" y="1216152"/>
            <a:ext cx="438912" cy="438912"/>
          </a:xfrm>
          <a:prstGeom prst="ellipse">
            <a:avLst/>
          </a:prstGeom>
          <a:solidFill>
            <a:schemeClr val="accent1"/>
          </a:solidFill>
          <a:ln/>
        </p:spPr>
      </p:sp>
      <p:pic>
        <p:nvPicPr>
          <p:cNvPr id="28" name="Image 2" descr="FiCheckCircle">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Dare certezza</a:t>
            </a:r>
            <a:endParaRPr lang="en-US" sz="1300" dirty="0"/>
          </a:p>
        </p:txBody>
      </p:sp>
      <p:sp>
        <p:nvSpPr>
          <p:cNvPr id="30" name="Text 24"/>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Meno astensione, meno Shadow AI</a:t>
            </a:r>
            <a:endParaRPr lang="en-US" sz="1200" dirty="0"/>
          </a:p>
        </p:txBody>
      </p:sp>
      <p:sp>
        <p:nvSpPr>
          <p:cNvPr id="31" name="Distribuire responsabilità"/>
          <p:cNvSpPr/>
          <p:nvPr/>
        </p:nvSpPr>
        <p:spPr>
          <a:xfrm>
            <a:off x="457200" y="2514600"/>
            <a:ext cx="2621280" cy="1280160"/>
          </a:xfrm>
          <a:prstGeom prst="roundRect">
            <a:avLst>
              <a:gd name="adj" fmla="val 5714"/>
            </a:avLst>
          </a:prstGeom>
          <a:solidFill>
            <a:schemeClr val="bg2"/>
          </a:solidFill>
          <a:ln/>
        </p:spPr>
      </p:sp>
      <p:sp>
        <p:nvSpPr>
          <p:cNvPr id="32" name="cerchio FiUsers"/>
          <p:cNvSpPr/>
          <p:nvPr/>
        </p:nvSpPr>
        <p:spPr>
          <a:xfrm>
            <a:off x="621792" y="2679192"/>
            <a:ext cx="438912" cy="438912"/>
          </a:xfrm>
          <a:prstGeom prst="ellipse">
            <a:avLst/>
          </a:prstGeom>
          <a:solidFill>
            <a:schemeClr val="accent1"/>
          </a:solidFill>
          <a:ln/>
        </p:spPr>
      </p:sp>
      <p:pic>
        <p:nvPicPr>
          <p:cNvPr id="33" name="Image 3" descr="FiUsers">    </p:cNvPr>
          <p:cNvPicPr>
            <a:picLocks noChangeAspect="1"/>
          </p:cNvPicPr>
          <p:nvPr/>
        </p:nvPicPr>
        <p:blipFill>
          <a:blip r:embed="rId4"/>
          <a:stretch>
            <a:fillRect/>
          </a:stretch>
        </p:blipFill>
        <p:spPr>
          <a:xfrm>
            <a:off x="731520" y="2788920"/>
            <a:ext cx="219456" cy="219456"/>
          </a:xfrm>
          <a:prstGeom prst="rect">
            <a:avLst/>
          </a:prstGeom>
        </p:spPr>
      </p:pic>
      <p:sp>
        <p:nvSpPr>
          <p:cNvPr id="34" name="Text 27"/>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Distribuire responsabilità</a:t>
            </a:r>
            <a:endParaRPr lang="en-US" sz="1300" dirty="0"/>
          </a:p>
        </p:txBody>
      </p:sp>
      <p:sp>
        <p:nvSpPr>
          <p:cNvPr id="35" name="Text 28"/>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Chi autorizza, supporta, riceve segnalazioni</a:t>
            </a:r>
            <a:endParaRPr lang="en-US" sz="1200" dirty="0"/>
          </a:p>
        </p:txBody>
      </p:sp>
      <p:sp>
        <p:nvSpPr>
          <p:cNvPr id="36" name="Riferimento"/>
          <p:cNvSpPr/>
          <p:nvPr/>
        </p:nvSpPr>
        <p:spPr>
          <a:xfrm>
            <a:off x="3261360" y="2514600"/>
            <a:ext cx="2621280" cy="1280160"/>
          </a:xfrm>
          <a:prstGeom prst="roundRect">
            <a:avLst>
              <a:gd name="adj" fmla="val 5714"/>
            </a:avLst>
          </a:prstGeom>
          <a:solidFill>
            <a:schemeClr val="bg2"/>
          </a:solidFill>
          <a:ln/>
        </p:spPr>
      </p:sp>
      <p:sp>
        <p:nvSpPr>
          <p:cNvPr id="37" name="cerchio FiShield"/>
          <p:cNvSpPr/>
          <p:nvPr/>
        </p:nvSpPr>
        <p:spPr>
          <a:xfrm>
            <a:off x="3425952" y="2679192"/>
            <a:ext cx="438912" cy="438912"/>
          </a:xfrm>
          <a:prstGeom prst="ellipse">
            <a:avLst/>
          </a:prstGeom>
          <a:solidFill>
            <a:schemeClr val="accent1"/>
          </a:solidFill>
          <a:ln/>
        </p:spPr>
      </p:sp>
      <p:pic>
        <p:nvPicPr>
          <p:cNvPr id="38" name="Image 4" descr="FiShield">    </p:cNvPr>
          <p:cNvPicPr>
            <a:picLocks noChangeAspect="1"/>
          </p:cNvPicPr>
          <p:nvPr/>
        </p:nvPicPr>
        <p:blipFill>
          <a:blip r:embed="rId5"/>
          <a:stretch>
            <a:fillRect/>
          </a:stretch>
        </p:blipFill>
        <p:spPr>
          <a:xfrm>
            <a:off x="3535680" y="2788920"/>
            <a:ext cx="219456" cy="219456"/>
          </a:xfrm>
          <a:prstGeom prst="rect">
            <a:avLst/>
          </a:prstGeom>
        </p:spPr>
      </p:pic>
      <p:sp>
        <p:nvSpPr>
          <p:cNvPr id="39" name="Text 31"/>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Riferimento</a:t>
            </a:r>
            <a:endParaRPr lang="en-US" sz="1300" dirty="0"/>
          </a:p>
        </p:txBody>
      </p:sp>
      <p:sp>
        <p:nvSpPr>
          <p:cNvPr id="40" name="Text 32"/>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controlli e formazione</a:t>
            </a:r>
            <a:endParaRPr lang="en-US" sz="1200" dirty="0"/>
          </a:p>
        </p:txBody>
      </p:sp>
      <p:sp>
        <p:nvSpPr>
          <p:cNvPr id="41" name="I tre piani"/>
          <p:cNvSpPr/>
          <p:nvPr/>
        </p:nvSpPr>
        <p:spPr>
          <a:xfrm>
            <a:off x="6065520" y="2514600"/>
            <a:ext cx="2621280" cy="1280160"/>
          </a:xfrm>
          <a:prstGeom prst="roundRect">
            <a:avLst>
              <a:gd name="adj" fmla="val 5714"/>
            </a:avLst>
          </a:prstGeom>
          <a:solidFill>
            <a:schemeClr val="bg2"/>
          </a:solidFill>
          <a:ln/>
        </p:spPr>
      </p:sp>
      <p:sp>
        <p:nvSpPr>
          <p:cNvPr id="42" name="cerchio FiLayers"/>
          <p:cNvSpPr/>
          <p:nvPr/>
        </p:nvSpPr>
        <p:spPr>
          <a:xfrm>
            <a:off x="6230112" y="2679192"/>
            <a:ext cx="438912" cy="438912"/>
          </a:xfrm>
          <a:prstGeom prst="ellipse">
            <a:avLst/>
          </a:prstGeom>
          <a:solidFill>
            <a:schemeClr val="accent1"/>
          </a:solidFill>
          <a:ln/>
        </p:spPr>
      </p:sp>
      <p:pic>
        <p:nvPicPr>
          <p:cNvPr id="43" name="Image 5" descr="FiLayers">    </p:cNvPr>
          <p:cNvPicPr>
            <a:picLocks noChangeAspect="1"/>
          </p:cNvPicPr>
          <p:nvPr/>
        </p:nvPicPr>
        <p:blipFill>
          <a:blip r:embed="rId6"/>
          <a:stretch>
            <a:fillRect/>
          </a:stretch>
        </p:blipFill>
        <p:spPr>
          <a:xfrm>
            <a:off x="6339840" y="2788920"/>
            <a:ext cx="219456" cy="219456"/>
          </a:xfrm>
          <a:prstGeom prst="rect">
            <a:avLst/>
          </a:prstGeom>
        </p:spPr>
      </p:pic>
      <p:sp>
        <p:nvSpPr>
          <p:cNvPr id="44" name="Text 35"/>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 tre piani</a:t>
            </a:r>
            <a:endParaRPr lang="en-US" sz="1300" dirty="0"/>
          </a:p>
        </p:txBody>
      </p:sp>
      <p:sp>
        <p:nvSpPr>
          <p:cNvPr id="45" name="Text 36"/>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Obblighi, responsabilità, misure operative</a:t>
            </a:r>
            <a:endParaRPr lang="en-US" sz="1200" dirty="0"/>
          </a:p>
        </p:txBody>
      </p:sp>
      <p:sp>
        <p:nvSpPr>
          <p:cNvPr id="46" name="messaggio"/>
          <p:cNvSpPr/>
          <p:nvPr/>
        </p:nvSpPr>
        <p:spPr>
          <a:xfrm>
            <a:off x="457200" y="3977640"/>
            <a:ext cx="8229600" cy="548640"/>
          </a:xfrm>
          <a:prstGeom prst="roundRect">
            <a:avLst>
              <a:gd name="adj" fmla="val 13333"/>
            </a:avLst>
          </a:prstGeom>
          <a:solidFill>
            <a:schemeClr val="tx1"/>
          </a:solidFill>
          <a:ln/>
        </p:spPr>
      </p:sp>
      <p:sp>
        <p:nvSpPr>
          <p:cNvPr id="47"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Usi concreti, anche di prodotti di terzi; proporzionata alle esigenze reali, non generica.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Gli elementi di una policy</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trumenti"/>
          <p:cNvSpPr/>
          <p:nvPr/>
        </p:nvSpPr>
        <p:spPr>
          <a:xfrm>
            <a:off x="457200" y="1024128"/>
            <a:ext cx="8229600" cy="365760"/>
          </a:xfrm>
          <a:prstGeom prst="roundRect">
            <a:avLst>
              <a:gd name="adj" fmla="val 20000"/>
            </a:avLst>
          </a:prstGeom>
          <a:solidFill>
            <a:schemeClr val="bg2"/>
          </a:solidFill>
          <a:ln/>
        </p:spPr>
      </p:sp>
      <p:sp>
        <p:nvSpPr>
          <p:cNvPr id="17" name="Text 14"/>
          <p:cNvSpPr txBox="1"/>
          <p:nvPr/>
        </p:nvSpPr>
        <p:spPr>
          <a:xfrm>
            <a:off x="594360" y="1024128"/>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Strumenti</a:t>
            </a:r>
            <a:endParaRPr lang="en-US" sz="1300" dirty="0"/>
          </a:p>
        </p:txBody>
      </p:sp>
      <p:sp>
        <p:nvSpPr>
          <p:cNvPr id="18" name="Text 15"/>
          <p:cNvSpPr txBox="1"/>
          <p:nvPr/>
        </p:nvSpPr>
        <p:spPr>
          <a:xfrm>
            <a:off x="2331720" y="1024128"/>
            <a:ext cx="6217920" cy="365760"/>
          </a:xfrm>
          <a:prstGeom prst="rect">
            <a:avLst/>
          </a:prstGeom>
          <a:noFill/>
          <a:ln/>
        </p:spPr>
        <p:txBody>
          <a:bodyPr wrap="square" lIns="0" tIns="0" rIns="0" bIns="0" rtlCol="0" anchor="ctr"/>
          <a:lstStyle/>
          <a:p>
            <a:pPr indent="0" marL="0">
              <a:buNone/>
            </a:pPr>
            <a:r>
              <a:rPr lang="en-US" sz="1200" dirty="0">
                <a:solidFill>
                  <a:schemeClr val="tx1"/>
                </a:solidFill>
              </a:rPr>
              <a:t>Approvati, con quale account; come chiederne di nuovi</a:t>
            </a:r>
            <a:endParaRPr lang="en-US" sz="1200" dirty="0"/>
          </a:p>
        </p:txBody>
      </p:sp>
      <p:sp>
        <p:nvSpPr>
          <p:cNvPr id="19" name="Usi"/>
          <p:cNvSpPr/>
          <p:nvPr/>
        </p:nvSpPr>
        <p:spPr>
          <a:xfrm>
            <a:off x="457200" y="1463040"/>
            <a:ext cx="8229600" cy="365760"/>
          </a:xfrm>
          <a:prstGeom prst="roundRect">
            <a:avLst>
              <a:gd name="adj" fmla="val 20000"/>
            </a:avLst>
          </a:prstGeom>
          <a:solidFill>
            <a:schemeClr val="bg1"/>
          </a:solidFill>
          <a:ln/>
        </p:spPr>
      </p:sp>
      <p:sp>
        <p:nvSpPr>
          <p:cNvPr id="20" name="Text 17"/>
          <p:cNvSpPr txBox="1"/>
          <p:nvPr/>
        </p:nvSpPr>
        <p:spPr>
          <a:xfrm>
            <a:off x="594360" y="146304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Usi</a:t>
            </a:r>
            <a:endParaRPr lang="en-US" sz="1300" dirty="0"/>
          </a:p>
        </p:txBody>
      </p:sp>
      <p:sp>
        <p:nvSpPr>
          <p:cNvPr id="21" name="Text 18"/>
          <p:cNvSpPr txBox="1"/>
          <p:nvPr/>
        </p:nvSpPr>
        <p:spPr>
          <a:xfrm>
            <a:off x="2331720" y="1463040"/>
            <a:ext cx="6217920" cy="365760"/>
          </a:xfrm>
          <a:prstGeom prst="rect">
            <a:avLst/>
          </a:prstGeom>
          <a:noFill/>
          <a:ln/>
        </p:spPr>
        <p:txBody>
          <a:bodyPr wrap="square" lIns="0" tIns="0" rIns="0" bIns="0" rtlCol="0" anchor="ctr"/>
          <a:lstStyle/>
          <a:p>
            <a:pPr indent="0" marL="0">
              <a:buNone/>
            </a:pPr>
            <a:r>
              <a:rPr lang="en-US" sz="1200" dirty="0">
                <a:solidFill>
                  <a:schemeClr val="tx1"/>
                </a:solidFill>
              </a:rPr>
              <a:t>Consentiti, soggetti a condizioni, da autorizzare, vietati</a:t>
            </a:r>
            <a:endParaRPr lang="en-US" sz="1200" dirty="0"/>
          </a:p>
        </p:txBody>
      </p:sp>
      <p:sp>
        <p:nvSpPr>
          <p:cNvPr id="22" name="Dati e documenti"/>
          <p:cNvSpPr/>
          <p:nvPr/>
        </p:nvSpPr>
        <p:spPr>
          <a:xfrm>
            <a:off x="457200" y="1901952"/>
            <a:ext cx="8229600" cy="365760"/>
          </a:xfrm>
          <a:prstGeom prst="roundRect">
            <a:avLst>
              <a:gd name="adj" fmla="val 20000"/>
            </a:avLst>
          </a:prstGeom>
          <a:solidFill>
            <a:schemeClr val="bg2"/>
          </a:solidFill>
          <a:ln/>
        </p:spPr>
      </p:sp>
      <p:sp>
        <p:nvSpPr>
          <p:cNvPr id="23" name="Text 20"/>
          <p:cNvSpPr txBox="1"/>
          <p:nvPr/>
        </p:nvSpPr>
        <p:spPr>
          <a:xfrm>
            <a:off x="594360" y="1901952"/>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Dati e documenti</a:t>
            </a:r>
            <a:endParaRPr lang="en-US" sz="1300" dirty="0"/>
          </a:p>
        </p:txBody>
      </p:sp>
      <p:sp>
        <p:nvSpPr>
          <p:cNvPr id="24" name="Text 21"/>
          <p:cNvSpPr txBox="1"/>
          <p:nvPr/>
        </p:nvSpPr>
        <p:spPr>
          <a:xfrm>
            <a:off x="2331720" y="1901952"/>
            <a:ext cx="6217920" cy="365760"/>
          </a:xfrm>
          <a:prstGeom prst="rect">
            <a:avLst/>
          </a:prstGeom>
          <a:noFill/>
          <a:ln/>
        </p:spPr>
        <p:txBody>
          <a:bodyPr wrap="square" lIns="0" tIns="0" rIns="0" bIns="0" rtlCol="0" anchor="ctr"/>
          <a:lstStyle/>
          <a:p>
            <a:pPr indent="0" marL="0">
              <a:buNone/>
            </a:pPr>
            <a:r>
              <a:rPr lang="en-US" sz="1200" dirty="0">
                <a:solidFill>
                  <a:schemeClr val="tx1"/>
                </a:solidFill>
              </a:rPr>
              <a:t>Che cosa si può condividere, dove, con quali precauzioni</a:t>
            </a:r>
            <a:endParaRPr lang="en-US" sz="1200" dirty="0"/>
          </a:p>
        </p:txBody>
      </p:sp>
      <p:sp>
        <p:nvSpPr>
          <p:cNvPr id="25" name="Output"/>
          <p:cNvSpPr/>
          <p:nvPr/>
        </p:nvSpPr>
        <p:spPr>
          <a:xfrm>
            <a:off x="457200" y="2340864"/>
            <a:ext cx="8229600" cy="365760"/>
          </a:xfrm>
          <a:prstGeom prst="roundRect">
            <a:avLst>
              <a:gd name="adj" fmla="val 20000"/>
            </a:avLst>
          </a:prstGeom>
          <a:solidFill>
            <a:schemeClr val="bg1"/>
          </a:solidFill>
          <a:ln/>
        </p:spPr>
      </p:sp>
      <p:sp>
        <p:nvSpPr>
          <p:cNvPr id="26" name="Text 23"/>
          <p:cNvSpPr txBox="1"/>
          <p:nvPr/>
        </p:nvSpPr>
        <p:spPr>
          <a:xfrm>
            <a:off x="594360" y="2340864"/>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Output</a:t>
            </a:r>
            <a:endParaRPr lang="en-US" sz="1300" dirty="0"/>
          </a:p>
        </p:txBody>
      </p:sp>
      <p:sp>
        <p:nvSpPr>
          <p:cNvPr id="27" name="Text 24"/>
          <p:cNvSpPr txBox="1"/>
          <p:nvPr/>
        </p:nvSpPr>
        <p:spPr>
          <a:xfrm>
            <a:off x="2331720" y="2340864"/>
            <a:ext cx="6217920" cy="365760"/>
          </a:xfrm>
          <a:prstGeom prst="rect">
            <a:avLst/>
          </a:prstGeom>
          <a:noFill/>
          <a:ln/>
        </p:spPr>
        <p:txBody>
          <a:bodyPr wrap="square" lIns="0" tIns="0" rIns="0" bIns="0" rtlCol="0" anchor="ctr"/>
          <a:lstStyle/>
          <a:p>
            <a:pPr indent="0" marL="0">
              <a:buNone/>
            </a:pPr>
            <a:r>
              <a:rPr lang="en-US" sz="1200" dirty="0">
                <a:solidFill>
                  <a:schemeClr val="tx1"/>
                </a:solidFill>
              </a:rPr>
              <a:t>Revisione proporzionata; uso e pubblicazione, trasparenza, diritti</a:t>
            </a:r>
            <a:endParaRPr lang="en-US" sz="1200" dirty="0"/>
          </a:p>
        </p:txBody>
      </p:sp>
      <p:sp>
        <p:nvSpPr>
          <p:cNvPr id="28" name="Persone"/>
          <p:cNvSpPr/>
          <p:nvPr/>
        </p:nvSpPr>
        <p:spPr>
          <a:xfrm>
            <a:off x="457200" y="2779776"/>
            <a:ext cx="8229600" cy="365760"/>
          </a:xfrm>
          <a:prstGeom prst="roundRect">
            <a:avLst>
              <a:gd name="adj" fmla="val 20000"/>
            </a:avLst>
          </a:prstGeom>
          <a:solidFill>
            <a:schemeClr val="bg2"/>
          </a:solidFill>
          <a:ln/>
        </p:spPr>
      </p:sp>
      <p:sp>
        <p:nvSpPr>
          <p:cNvPr id="29" name="Text 26"/>
          <p:cNvSpPr txBox="1"/>
          <p:nvPr/>
        </p:nvSpPr>
        <p:spPr>
          <a:xfrm>
            <a:off x="594360" y="2779776"/>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Persone</a:t>
            </a:r>
            <a:endParaRPr lang="en-US" sz="1300" dirty="0"/>
          </a:p>
        </p:txBody>
      </p:sp>
      <p:sp>
        <p:nvSpPr>
          <p:cNvPr id="30" name="Text 27"/>
          <p:cNvSpPr txBox="1"/>
          <p:nvPr/>
        </p:nvSpPr>
        <p:spPr>
          <a:xfrm>
            <a:off x="2331720" y="2779776"/>
            <a:ext cx="6217920" cy="365760"/>
          </a:xfrm>
          <a:prstGeom prst="rect">
            <a:avLst/>
          </a:prstGeom>
          <a:noFill/>
          <a:ln/>
        </p:spPr>
        <p:txBody>
          <a:bodyPr wrap="square" lIns="0" tIns="0" rIns="0" bIns="0" rtlCol="0" anchor="ctr"/>
          <a:lstStyle/>
          <a:p>
            <a:pPr indent="0" marL="0">
              <a:buNone/>
            </a:pPr>
            <a:r>
              <a:rPr lang="en-US" sz="1200" dirty="0">
                <a:solidFill>
                  <a:schemeClr val="tx1"/>
                </a:solidFill>
              </a:rPr>
              <a:t>Responsabilità e comportamenti attesi</a:t>
            </a:r>
            <a:endParaRPr lang="en-US" sz="1200" dirty="0"/>
          </a:p>
        </p:txBody>
      </p:sp>
      <p:sp>
        <p:nvSpPr>
          <p:cNvPr id="31" name="Canali"/>
          <p:cNvSpPr/>
          <p:nvPr/>
        </p:nvSpPr>
        <p:spPr>
          <a:xfrm>
            <a:off x="457200" y="3218688"/>
            <a:ext cx="8229600" cy="365760"/>
          </a:xfrm>
          <a:prstGeom prst="roundRect">
            <a:avLst>
              <a:gd name="adj" fmla="val 20000"/>
            </a:avLst>
          </a:prstGeom>
          <a:solidFill>
            <a:schemeClr val="bg1"/>
          </a:solidFill>
          <a:ln/>
        </p:spPr>
      </p:sp>
      <p:sp>
        <p:nvSpPr>
          <p:cNvPr id="32" name="Text 29"/>
          <p:cNvSpPr txBox="1"/>
          <p:nvPr/>
        </p:nvSpPr>
        <p:spPr>
          <a:xfrm>
            <a:off x="594360" y="3218688"/>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Canali</a:t>
            </a:r>
            <a:endParaRPr lang="en-US" sz="1300" dirty="0"/>
          </a:p>
        </p:txBody>
      </p:sp>
      <p:sp>
        <p:nvSpPr>
          <p:cNvPr id="33" name="Text 30"/>
          <p:cNvSpPr txBox="1"/>
          <p:nvPr/>
        </p:nvSpPr>
        <p:spPr>
          <a:xfrm>
            <a:off x="2331720" y="3218688"/>
            <a:ext cx="6217920" cy="365760"/>
          </a:xfrm>
          <a:prstGeom prst="rect">
            <a:avLst/>
          </a:prstGeom>
          <a:noFill/>
          <a:ln/>
        </p:spPr>
        <p:txBody>
          <a:bodyPr wrap="square" lIns="0" tIns="0" rIns="0" bIns="0" rtlCol="0" anchor="ctr"/>
          <a:lstStyle/>
          <a:p>
            <a:pPr indent="0" marL="0">
              <a:buNone/>
            </a:pPr>
            <a:r>
              <a:rPr lang="en-US" sz="1200" dirty="0">
                <a:solidFill>
                  <a:schemeClr val="tx1"/>
                </a:solidFill>
              </a:rPr>
              <a:t>Richieste, dubbi, anomalie, incidenti</a:t>
            </a:r>
            <a:endParaRPr lang="en-US" sz="1200" dirty="0"/>
          </a:p>
        </p:txBody>
      </p:sp>
      <p:sp>
        <p:nvSpPr>
          <p:cNvPr id="34" name="Manutenzione"/>
          <p:cNvSpPr/>
          <p:nvPr/>
        </p:nvSpPr>
        <p:spPr>
          <a:xfrm>
            <a:off x="457200" y="3657600"/>
            <a:ext cx="8229600" cy="365760"/>
          </a:xfrm>
          <a:prstGeom prst="roundRect">
            <a:avLst>
              <a:gd name="adj" fmla="val 20000"/>
            </a:avLst>
          </a:prstGeom>
          <a:solidFill>
            <a:schemeClr val="bg2"/>
          </a:solidFill>
          <a:ln/>
        </p:spPr>
      </p:sp>
      <p:sp>
        <p:nvSpPr>
          <p:cNvPr id="35" name="Text 32"/>
          <p:cNvSpPr txBox="1"/>
          <p:nvPr/>
        </p:nvSpPr>
        <p:spPr>
          <a:xfrm>
            <a:off x="594360" y="365760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Manutenzione</a:t>
            </a:r>
            <a:endParaRPr lang="en-US" sz="1300" dirty="0"/>
          </a:p>
        </p:txBody>
      </p:sp>
      <p:sp>
        <p:nvSpPr>
          <p:cNvPr id="36" name="Text 33"/>
          <p:cNvSpPr txBox="1"/>
          <p:nvPr/>
        </p:nvSpPr>
        <p:spPr>
          <a:xfrm>
            <a:off x="2331720" y="3657600"/>
            <a:ext cx="6217920" cy="365760"/>
          </a:xfrm>
          <a:prstGeom prst="rect">
            <a:avLst/>
          </a:prstGeom>
          <a:noFill/>
          <a:ln/>
        </p:spPr>
        <p:txBody>
          <a:bodyPr wrap="square" lIns="0" tIns="0" rIns="0" bIns="0" rtlCol="0" anchor="ctr"/>
          <a:lstStyle/>
          <a:p>
            <a:pPr indent="0" marL="0">
              <a:buNone/>
            </a:pPr>
            <a:r>
              <a:rPr lang="en-US" sz="1200" dirty="0">
                <a:solidFill>
                  <a:schemeClr val="tx1"/>
                </a:solidFill>
              </a:rPr>
              <a:t>Chi la mantiene, quando si rivede</a:t>
            </a:r>
            <a:endParaRPr lang="en-US" sz="1200" dirty="0"/>
          </a:p>
        </p:txBody>
      </p:sp>
      <p:sp>
        <p:nvSpPr>
          <p:cNvPr id="37" name="Text 34"/>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b="1" i="1" dirty="0">
                <a:solidFill>
                  <a:schemeClr val="accent1"/>
                </a:solidFill>
              </a:rPr>
              <a:t>Non serve che sia lunga: poche pagine, con esempi.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categorie di uso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Consentiti"/>
          <p:cNvSpPr/>
          <p:nvPr/>
        </p:nvSpPr>
        <p:spPr>
          <a:xfrm>
            <a:off x="457200" y="1051560"/>
            <a:ext cx="1965960" cy="2606040"/>
          </a:xfrm>
          <a:prstGeom prst="roundRect">
            <a:avLst>
              <a:gd name="adj" fmla="val 3721"/>
            </a:avLst>
          </a:prstGeom>
          <a:solidFill>
            <a:schemeClr val="bg2"/>
          </a:solidFill>
          <a:ln/>
        </p:spPr>
      </p:sp>
      <p:sp>
        <p:nvSpPr>
          <p:cNvPr id="17" name="Text 14"/>
          <p:cNvSpPr txBox="1"/>
          <p:nvPr/>
        </p:nvSpPr>
        <p:spPr>
          <a:xfrm>
            <a:off x="566928" y="1115568"/>
            <a:ext cx="1746504" cy="457200"/>
          </a:xfrm>
          <a:prstGeom prst="rect">
            <a:avLst/>
          </a:prstGeom>
          <a:noFill/>
          <a:ln/>
        </p:spPr>
        <p:txBody>
          <a:bodyPr wrap="square" lIns="0" tIns="0" rIns="0" bIns="0" rtlCol="0" anchor="t"/>
          <a:lstStyle/>
          <a:p>
            <a:pPr indent="0" marL="0">
              <a:buNone/>
            </a:pPr>
            <a:r>
              <a:rPr lang="en-US" sz="1400" b="1" dirty="0">
                <a:solidFill>
                  <a:schemeClr val="accent1"/>
                </a:solidFill>
              </a:rPr>
              <a:t>Consentiti</a:t>
            </a:r>
            <a:endParaRPr lang="en-US" sz="1400" dirty="0"/>
          </a:p>
        </p:txBody>
      </p:sp>
      <p:sp>
        <p:nvSpPr>
          <p:cNvPr id="18" name="Text 15"/>
          <p:cNvSpPr txBox="1"/>
          <p:nvPr/>
        </p:nvSpPr>
        <p:spPr>
          <a:xfrm>
            <a:off x="566928" y="1600200"/>
            <a:ext cx="1746504" cy="1965960"/>
          </a:xfrm>
          <a:prstGeom prst="rect">
            <a:avLst/>
          </a:prstGeom>
          <a:noFill/>
          <a:ln/>
        </p:spPr>
        <p:txBody>
          <a:bodyPr wrap="square" lIns="0" tIns="0" rIns="0" bIns="0" rtlCol="0" anchor="t"/>
          <a:lstStyle/>
          <a:p>
            <a:pPr indent="0" marL="0">
              <a:buNone/>
            </a:pPr>
            <a:r>
              <a:rPr lang="en-US" sz="1100" dirty="0">
                <a:solidFill>
                  <a:schemeClr val="tx1"/>
                </a:solidFill>
              </a:rPr>
              <a:t>Bozze interne, riformulazioni, sintesi non riservate, idee, traduzioni di materiali pubblici</a:t>
            </a:r>
            <a:endParaRPr lang="en-US" sz="1100" dirty="0"/>
          </a:p>
        </p:txBody>
      </p:sp>
      <p:sp>
        <p:nvSpPr>
          <p:cNvPr id="19" name="Soggetti a condizioni"/>
          <p:cNvSpPr/>
          <p:nvPr/>
        </p:nvSpPr>
        <p:spPr>
          <a:xfrm>
            <a:off x="2560320" y="1051560"/>
            <a:ext cx="1965960" cy="2606040"/>
          </a:xfrm>
          <a:prstGeom prst="roundRect">
            <a:avLst>
              <a:gd name="adj" fmla="val 3721"/>
            </a:avLst>
          </a:prstGeom>
          <a:solidFill>
            <a:schemeClr val="accent6"/>
          </a:solidFill>
          <a:ln/>
        </p:spPr>
      </p:sp>
      <p:sp>
        <p:nvSpPr>
          <p:cNvPr id="20" name="Text 17"/>
          <p:cNvSpPr txBox="1"/>
          <p:nvPr/>
        </p:nvSpPr>
        <p:spPr>
          <a:xfrm>
            <a:off x="2670048" y="1115568"/>
            <a:ext cx="1746504" cy="457200"/>
          </a:xfrm>
          <a:prstGeom prst="rect">
            <a:avLst/>
          </a:prstGeom>
          <a:noFill/>
          <a:ln/>
        </p:spPr>
        <p:txBody>
          <a:bodyPr wrap="square" lIns="0" tIns="0" rIns="0" bIns="0" rtlCol="0" anchor="t"/>
          <a:lstStyle/>
          <a:p>
            <a:pPr indent="0" marL="0">
              <a:buNone/>
            </a:pPr>
            <a:r>
              <a:rPr lang="en-US" sz="1400" b="1" dirty="0">
                <a:solidFill>
                  <a:schemeClr val="accent1"/>
                </a:solidFill>
              </a:rPr>
              <a:t>Soggetti a condizioni</a:t>
            </a:r>
            <a:endParaRPr lang="en-US" sz="1400" dirty="0"/>
          </a:p>
        </p:txBody>
      </p:sp>
      <p:sp>
        <p:nvSpPr>
          <p:cNvPr id="21" name="Text 18"/>
          <p:cNvSpPr txBox="1"/>
          <p:nvPr/>
        </p:nvSpPr>
        <p:spPr>
          <a:xfrm>
            <a:off x="2670048" y="1600200"/>
            <a:ext cx="1746504" cy="1965960"/>
          </a:xfrm>
          <a:prstGeom prst="rect">
            <a:avLst/>
          </a:prstGeom>
          <a:noFill/>
          <a:ln/>
        </p:spPr>
        <p:txBody>
          <a:bodyPr wrap="square" lIns="0" tIns="0" rIns="0" bIns="0" rtlCol="0" anchor="t"/>
          <a:lstStyle/>
          <a:p>
            <a:pPr indent="0" marL="0">
              <a:buNone/>
            </a:pPr>
            <a:r>
              <a:rPr lang="en-US" sz="1100" dirty="0">
                <a:solidFill>
                  <a:schemeClr val="tx1"/>
                </a:solidFill>
              </a:rPr>
              <a:t>Comunicazioni ai clienti con revisione; documenti interni solo in strumenti aziendali; pubblicazioni con verifica dei diritti</a:t>
            </a:r>
            <a:endParaRPr lang="en-US" sz="1100" dirty="0"/>
          </a:p>
        </p:txBody>
      </p:sp>
      <p:sp>
        <p:nvSpPr>
          <p:cNvPr id="22" name="Da autorizzare"/>
          <p:cNvSpPr/>
          <p:nvPr/>
        </p:nvSpPr>
        <p:spPr>
          <a:xfrm>
            <a:off x="4663440" y="1051560"/>
            <a:ext cx="1965960" cy="2606040"/>
          </a:xfrm>
          <a:prstGeom prst="roundRect">
            <a:avLst>
              <a:gd name="adj" fmla="val 3721"/>
            </a:avLst>
          </a:prstGeom>
          <a:solidFill>
            <a:srgbClr val="D9ECEA"/>
          </a:solidFill>
          <a:ln/>
        </p:spPr>
      </p:sp>
      <p:sp>
        <p:nvSpPr>
          <p:cNvPr id="23" name="Text 20"/>
          <p:cNvSpPr txBox="1"/>
          <p:nvPr/>
        </p:nvSpPr>
        <p:spPr>
          <a:xfrm>
            <a:off x="4773168" y="1115568"/>
            <a:ext cx="1746504" cy="457200"/>
          </a:xfrm>
          <a:prstGeom prst="rect">
            <a:avLst/>
          </a:prstGeom>
          <a:noFill/>
          <a:ln/>
        </p:spPr>
        <p:txBody>
          <a:bodyPr wrap="square" lIns="0" tIns="0" rIns="0" bIns="0" rtlCol="0" anchor="t"/>
          <a:lstStyle/>
          <a:p>
            <a:pPr indent="0" marL="0">
              <a:buNone/>
            </a:pPr>
            <a:r>
              <a:rPr lang="en-US" sz="1400" b="1" dirty="0">
                <a:solidFill>
                  <a:schemeClr val="accent1"/>
                </a:solidFill>
              </a:rPr>
              <a:t>Da autorizzare</a:t>
            </a:r>
            <a:endParaRPr lang="en-US" sz="1400" dirty="0"/>
          </a:p>
        </p:txBody>
      </p:sp>
      <p:sp>
        <p:nvSpPr>
          <p:cNvPr id="24" name="Text 21"/>
          <p:cNvSpPr txBox="1"/>
          <p:nvPr/>
        </p:nvSpPr>
        <p:spPr>
          <a:xfrm>
            <a:off x="4773168" y="1600200"/>
            <a:ext cx="1746504" cy="1965960"/>
          </a:xfrm>
          <a:prstGeom prst="rect">
            <a:avLst/>
          </a:prstGeom>
          <a:noFill/>
          <a:ln/>
        </p:spPr>
        <p:txBody>
          <a:bodyPr wrap="square" lIns="0" tIns="0" rIns="0" bIns="0" rtlCol="0" anchor="t"/>
          <a:lstStyle/>
          <a:p>
            <a:pPr indent="0" marL="0">
              <a:buNone/>
            </a:pPr>
            <a:r>
              <a:rPr lang="en-US" sz="1100" dirty="0">
                <a:solidFill>
                  <a:schemeClr val="tx1"/>
                </a:solidFill>
              </a:rPr>
              <a:t>Nuovi strumenti e integrazioni; dati personali sistematici; decisioni sulle persone; agenti con azioni</a:t>
            </a:r>
            <a:endParaRPr lang="en-US" sz="1100" dirty="0"/>
          </a:p>
        </p:txBody>
      </p:sp>
      <p:sp>
        <p:nvSpPr>
          <p:cNvPr id="25" name="Vietati"/>
          <p:cNvSpPr/>
          <p:nvPr/>
        </p:nvSpPr>
        <p:spPr>
          <a:xfrm>
            <a:off x="6766560" y="1051560"/>
            <a:ext cx="1965960" cy="2606040"/>
          </a:xfrm>
          <a:prstGeom prst="roundRect">
            <a:avLst>
              <a:gd name="adj" fmla="val 3721"/>
            </a:avLst>
          </a:prstGeom>
          <a:solidFill>
            <a:srgbClr val="A86F1C"/>
          </a:solidFill>
          <a:ln/>
        </p:spPr>
      </p:sp>
      <p:sp>
        <p:nvSpPr>
          <p:cNvPr id="26" name="Text 23"/>
          <p:cNvSpPr txBox="1"/>
          <p:nvPr/>
        </p:nvSpPr>
        <p:spPr>
          <a:xfrm>
            <a:off x="6876288" y="1115568"/>
            <a:ext cx="1746504" cy="457200"/>
          </a:xfrm>
          <a:prstGeom prst="rect">
            <a:avLst/>
          </a:prstGeom>
          <a:noFill/>
          <a:ln/>
        </p:spPr>
        <p:txBody>
          <a:bodyPr wrap="square" lIns="0" tIns="0" rIns="0" bIns="0" rtlCol="0" anchor="t"/>
          <a:lstStyle/>
          <a:p>
            <a:pPr indent="0" marL="0">
              <a:buNone/>
            </a:pPr>
            <a:r>
              <a:rPr lang="en-US" sz="1400" b="1" dirty="0">
                <a:solidFill>
                  <a:schemeClr val="bg1"/>
                </a:solidFill>
              </a:rPr>
              <a:t>Vietati</a:t>
            </a:r>
            <a:endParaRPr lang="en-US" sz="1400" dirty="0"/>
          </a:p>
        </p:txBody>
      </p:sp>
      <p:sp>
        <p:nvSpPr>
          <p:cNvPr id="27" name="Text 24"/>
          <p:cNvSpPr txBox="1"/>
          <p:nvPr/>
        </p:nvSpPr>
        <p:spPr>
          <a:xfrm>
            <a:off x="6876288" y="1600200"/>
            <a:ext cx="1746504" cy="1965960"/>
          </a:xfrm>
          <a:prstGeom prst="rect">
            <a:avLst/>
          </a:prstGeom>
          <a:noFill/>
          <a:ln/>
        </p:spPr>
        <p:txBody>
          <a:bodyPr wrap="square" lIns="0" tIns="0" rIns="0" bIns="0" rtlCol="0" anchor="t"/>
          <a:lstStyle/>
          <a:p>
            <a:pPr indent="0" marL="0">
              <a:buNone/>
            </a:pPr>
            <a:r>
              <a:rPr lang="en-US" sz="1100" dirty="0">
                <a:solidFill>
                  <a:schemeClr val="bg1"/>
                </a:solidFill>
              </a:rPr>
              <a:t>Dati riservati in strumenti non approvati; pratiche vietate dall'AI Act; sintetico come autentico; credenziali</a:t>
            </a:r>
            <a:endParaRPr lang="en-US" sz="1100" dirty="0"/>
          </a:p>
        </p:txBody>
      </p:sp>
      <p:sp>
        <p:nvSpPr>
          <p:cNvPr id="28" name="messaggio"/>
          <p:cNvSpPr/>
          <p:nvPr/>
        </p:nvSpPr>
        <p:spPr>
          <a:xfrm>
            <a:off x="457200" y="3840480"/>
            <a:ext cx="8229600" cy="640080"/>
          </a:xfrm>
          <a:prstGeom prst="roundRect">
            <a:avLst>
              <a:gd name="adj" fmla="val 11429"/>
            </a:avLst>
          </a:prstGeom>
          <a:solidFill>
            <a:schemeClr val="tx1"/>
          </a:solidFill>
          <a:ln/>
        </p:spPr>
      </p:sp>
      <p:sp>
        <p:nvSpPr>
          <p:cNvPr id="29" name="Text 26"/>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300" dirty="0">
                <a:solidFill>
                  <a:schemeClr val="bg1"/>
                </a:solidFill>
              </a:rPr>
              <a:t>Esempi indicativi e fittizi. Il valore è nelle categorie intermedie: che cosa si può fare, a quali condizioni.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Scritta o praticata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scheda Perché non funziona"/>
          <p:cNvSpPr/>
          <p:nvPr/>
        </p:nvSpPr>
        <p:spPr>
          <a:xfrm>
            <a:off x="457200" y="1051560"/>
            <a:ext cx="3977640" cy="2423160"/>
          </a:xfrm>
          <a:prstGeom prst="roundRect">
            <a:avLst>
              <a:gd name="adj" fmla="val 3019"/>
            </a:avLst>
          </a:prstGeom>
          <a:solidFill>
            <a:schemeClr val="bg2"/>
          </a:solidFill>
          <a:ln/>
        </p:spPr>
      </p:sp>
      <p:sp>
        <p:nvSpPr>
          <p:cNvPr id="17" name="cerchio FiXCircle"/>
          <p:cNvSpPr/>
          <p:nvPr/>
        </p:nvSpPr>
        <p:spPr>
          <a:xfrm>
            <a:off x="640080" y="1234440"/>
            <a:ext cx="457200" cy="457200"/>
          </a:xfrm>
          <a:prstGeom prst="ellipse">
            <a:avLst/>
          </a:prstGeom>
          <a:solidFill>
            <a:schemeClr val="accent1"/>
          </a:solidFill>
          <a:ln/>
        </p:spPr>
      </p:sp>
      <p:sp>
        <p:nvSpPr>
          <p:cNvPr id="18" name="scheda Che cosa serve"/>
          <p:cNvSpPr/>
          <p:nvPr/>
        </p:nvSpPr>
        <p:spPr>
          <a:xfrm>
            <a:off x="4709160" y="1051560"/>
            <a:ext cx="3977640" cy="2423160"/>
          </a:xfrm>
          <a:prstGeom prst="roundRect">
            <a:avLst>
              <a:gd name="adj" fmla="val 3019"/>
            </a:avLst>
          </a:prstGeom>
          <a:solidFill>
            <a:schemeClr val="accent6"/>
          </a:solidFill>
          <a:ln/>
        </p:spPr>
      </p:sp>
      <p:sp>
        <p:nvSpPr>
          <p:cNvPr id="19" name="cerchio FiCheckCircle"/>
          <p:cNvSpPr/>
          <p:nvPr/>
        </p:nvSpPr>
        <p:spPr>
          <a:xfrm>
            <a:off x="4892040" y="1234440"/>
            <a:ext cx="457200" cy="457200"/>
          </a:xfrm>
          <a:prstGeom prst="ellipse">
            <a:avLst/>
          </a:prstGeom>
          <a:solidFill>
            <a:schemeClr val="accent1"/>
          </a:solidFill>
          <a:ln/>
        </p:spPr>
      </p:sp>
      <p:pic>
        <p:nvPicPr>
          <p:cNvPr id="20" name="Image 0" descr="FiXCircle">    </p:cNvPr>
          <p:cNvPicPr>
            <a:picLocks noChangeAspect="1"/>
          </p:cNvPicPr>
          <p:nvPr/>
        </p:nvPicPr>
        <p:blipFill>
          <a:blip r:embed="rId1"/>
          <a:stretch>
            <a:fillRect/>
          </a:stretch>
        </p:blipFill>
        <p:spPr>
          <a:xfrm>
            <a:off x="754380" y="1348740"/>
            <a:ext cx="228600" cy="228600"/>
          </a:xfrm>
          <a:prstGeom prst="rect">
            <a:avLst/>
          </a:prstGeom>
        </p:spPr>
      </p:pic>
      <p:pic>
        <p:nvPicPr>
          <p:cNvPr id="21" name="Image 1" descr="FiCheckCircle">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Perché non funziona</a:t>
            </a:r>
            <a:endParaRPr lang="en-US" sz="1500" dirty="0"/>
          </a:p>
        </p:txBody>
      </p:sp>
      <p:sp>
        <p:nvSpPr>
          <p:cNvPr id="23" name="Text 18"/>
          <p:cNvSpPr txBox="1"/>
          <p:nvPr/>
        </p:nvSpPr>
        <p:spPr>
          <a:xfrm>
            <a:off x="640080" y="2185416"/>
            <a:ext cx="3611880" cy="117957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Testo lungo, giuridico, astratto</a:t>
            </a:r>
            <a:endParaRPr lang="en-US" sz="1300" dirty="0"/>
          </a:p>
          <a:p>
            <a:pPr marL="177800" indent="-177800">
              <a:spcAft>
                <a:spcPts val="300"/>
              </a:spcAft>
              <a:buSzPct val="100000"/>
              <a:buChar char="•"/>
            </a:pPr>
            <a:r>
              <a:rPr lang="en-US" sz="1300" dirty="0">
                <a:solidFill>
                  <a:schemeClr val="tx2"/>
                </a:solidFill>
              </a:rPr>
              <a:t>Incoerente con gli strumenti disponibili</a:t>
            </a:r>
            <a:endParaRPr lang="en-US" sz="1300" dirty="0"/>
          </a:p>
          <a:p>
            <a:pPr marL="177800" indent="-177800">
              <a:spcAft>
                <a:spcPts val="300"/>
              </a:spcAft>
              <a:buSzPct val="100000"/>
              <a:buChar char="•"/>
            </a:pPr>
            <a:r>
              <a:rPr lang="en-US" sz="1300" dirty="0">
                <a:solidFill>
                  <a:schemeClr val="tx2"/>
                </a:solidFill>
              </a:rPr>
              <a:t>Troppo restrittiva: aggirata</a:t>
            </a:r>
            <a:endParaRPr lang="en-US" sz="1300" dirty="0"/>
          </a:p>
          <a:p>
            <a:pPr marL="177800" indent="-177800">
              <a:spcAft>
                <a:spcPts val="300"/>
              </a:spcAft>
              <a:buSzPct val="100000"/>
              <a:buChar char="•"/>
            </a:pPr>
            <a:r>
              <a:rPr lang="en-US" sz="1300" dirty="0">
                <a:solidFill>
                  <a:schemeClr val="tx2"/>
                </a:solidFill>
              </a:rPr>
              <a:t>Non si sa a chi chiedere</a:t>
            </a:r>
            <a:endParaRPr lang="en-US" sz="1300" dirty="0"/>
          </a:p>
          <a:p>
            <a:pPr marL="177800" indent="-177800">
              <a:spcAft>
                <a:spcPts val="300"/>
              </a:spcAft>
              <a:buSzPct val="100000"/>
              <a:buChar char="•"/>
            </a:pPr>
            <a:r>
              <a:rPr lang="en-US" sz="1300" dirty="0">
                <a:solidFill>
                  <a:schemeClr val="tx2"/>
                </a:solidFill>
              </a:rPr>
              <a:t>Non aggiornata</a:t>
            </a:r>
            <a:endParaRPr lang="en-US" sz="1300" dirty="0"/>
          </a:p>
        </p:txBody>
      </p:sp>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Che cosa serve</a:t>
            </a:r>
            <a:endParaRPr lang="en-US" sz="1500" dirty="0"/>
          </a:p>
        </p:txBody>
      </p:sp>
      <p:sp>
        <p:nvSpPr>
          <p:cNvPr id="25" name="Text 20"/>
          <p:cNvSpPr txBox="1"/>
          <p:nvPr/>
        </p:nvSpPr>
        <p:spPr>
          <a:xfrm>
            <a:off x="4892040" y="2185416"/>
            <a:ext cx="3611880" cy="117957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Testi accessibili, con esempi</a:t>
            </a:r>
            <a:endParaRPr lang="en-US" sz="1300" dirty="0"/>
          </a:p>
          <a:p>
            <a:pPr marL="177800" indent="-177800">
              <a:spcAft>
                <a:spcPts val="300"/>
              </a:spcAft>
              <a:buSzPct val="100000"/>
              <a:buChar char="•"/>
            </a:pPr>
            <a:r>
              <a:rPr lang="en-US" sz="1300" dirty="0">
                <a:solidFill>
                  <a:schemeClr val="tx2"/>
                </a:solidFill>
              </a:rPr>
              <a:t>Strumenti approvati adatti alle esigenze</a:t>
            </a:r>
            <a:endParaRPr lang="en-US" sz="1300" dirty="0"/>
          </a:p>
          <a:p>
            <a:pPr marL="177800" indent="-177800">
              <a:spcAft>
                <a:spcPts val="300"/>
              </a:spcAft>
              <a:buSzPct val="100000"/>
              <a:buChar char="•"/>
            </a:pPr>
            <a:r>
              <a:rPr lang="en-US" sz="1300" dirty="0">
                <a:solidFill>
                  <a:schemeClr val="tx2"/>
                </a:solidFill>
              </a:rPr>
              <a:t>Equilibrio tra autonomia e controlli</a:t>
            </a:r>
            <a:endParaRPr lang="en-US" sz="1300" dirty="0"/>
          </a:p>
          <a:p>
            <a:pPr marL="177800" indent="-177800">
              <a:spcAft>
                <a:spcPts val="300"/>
              </a:spcAft>
              <a:buSzPct val="100000"/>
              <a:buChar char="•"/>
            </a:pPr>
            <a:r>
              <a:rPr lang="en-US" sz="1300" dirty="0">
                <a:solidFill>
                  <a:schemeClr val="tx2"/>
                </a:solidFill>
              </a:rPr>
              <a:t>Canali chiari</a:t>
            </a:r>
            <a:endParaRPr lang="en-US" sz="1300" dirty="0"/>
          </a:p>
          <a:p>
            <a:pPr marL="177800" indent="-177800">
              <a:spcAft>
                <a:spcPts val="300"/>
              </a:spcAft>
              <a:buSzPct val="100000"/>
              <a:buChar char="•"/>
            </a:pPr>
            <a:r>
              <a:rPr lang="en-US" sz="1300" dirty="0">
                <a:solidFill>
                  <a:schemeClr val="tx2"/>
                </a:solidFill>
              </a:rPr>
              <a:t>Revisione periodica</a:t>
            </a:r>
            <a:endParaRPr lang="en-US" sz="1300" dirty="0"/>
          </a:p>
        </p:txBody>
      </p:sp>
      <p:sp>
        <p:nvSpPr>
          <p:cNvPr id="26" name="messaggio"/>
          <p:cNvSpPr/>
          <p:nvPr/>
        </p:nvSpPr>
        <p:spPr>
          <a:xfrm>
            <a:off x="457200" y="3657600"/>
            <a:ext cx="8229600" cy="777240"/>
          </a:xfrm>
          <a:prstGeom prst="roundRect">
            <a:avLst>
              <a:gd name="adj" fmla="val 9412"/>
            </a:avLst>
          </a:prstGeom>
          <a:solidFill>
            <a:schemeClr val="tx1"/>
          </a:solidFill>
          <a:ln/>
        </p:spPr>
      </p:sp>
      <p:sp>
        <p:nvSpPr>
          <p:cNvPr id="27" name="Text 22"/>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La prova: chiedere a un collega che cosa dice la policy su un caso concreto. Se non lo sa, non funziona ancora.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esempio di policy essenziale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ompt"/>
          <p:cNvSpPr/>
          <p:nvPr/>
        </p:nvSpPr>
        <p:spPr>
          <a:xfrm>
            <a:off x="457200" y="1024128"/>
            <a:ext cx="8229600" cy="2971800"/>
          </a:xfrm>
          <a:prstGeom prst="roundRect">
            <a:avLst>
              <a:gd name="adj" fmla="val 2462"/>
            </a:avLst>
          </a:prstGeom>
          <a:solidFill>
            <a:schemeClr val="bg2"/>
          </a:solidFill>
          <a:ln/>
        </p:spPr>
      </p:sp>
      <p:sp>
        <p:nvSpPr>
          <p:cNvPr id="17" name="Text 14"/>
          <p:cNvSpPr txBox="1"/>
          <p:nvPr/>
        </p:nvSpPr>
        <p:spPr>
          <a:xfrm>
            <a:off x="621792" y="1115568"/>
            <a:ext cx="7900416" cy="256032"/>
          </a:xfrm>
          <a:prstGeom prst="rect">
            <a:avLst/>
          </a:prstGeom>
          <a:noFill/>
          <a:ln/>
        </p:spPr>
        <p:txBody>
          <a:bodyPr wrap="square" lIns="0" tIns="0" rIns="0" bIns="0" rtlCol="0" anchor="t"/>
          <a:lstStyle/>
          <a:p>
            <a:pPr indent="0" marL="0">
              <a:buNone/>
            </a:pPr>
            <a:r>
              <a:rPr lang="en-US" sz="1100" b="1" dirty="0">
                <a:solidFill>
                  <a:schemeClr val="accent1"/>
                </a:solidFill>
              </a:rPr>
              <a:t>Una pagina</a:t>
            </a:r>
            <a:endParaRPr lang="en-US" sz="1100" dirty="0"/>
          </a:p>
        </p:txBody>
      </p:sp>
      <p:sp>
        <p:nvSpPr>
          <p:cNvPr id="18" name="Text 15"/>
          <p:cNvSpPr txBox="1"/>
          <p:nvPr/>
        </p:nvSpPr>
        <p:spPr>
          <a:xfrm>
            <a:off x="621792" y="1389888"/>
            <a:ext cx="7900416" cy="25146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POLICY SULL'USO DELL'AI (esempio fittizio, versione 1, revisione semestrale)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1. Strumento approvato: l'assistente aziendale, con l'account di lavoro. Altri strumenti: richiesta al referente AI.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2. Puoi usarlo per: bozze, sintesi, riformulazioni, idee, traduzioni.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3. Con attenzione: testi per clienti (rileggi e verifica cifre e condizioni); contenuti da pubblicare (verifica diritti e trasparenza).</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4. Serve autorizzazione: nuovi strumenti o integrazioni; usi che riguardano candidati o colleghi; dati personali in modo sistematico.</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5. Non è consentito: dati personali o riservati in strumenti non approvati; credenziali; contenuti sintetici presentati come reali.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6. Dubbi, anomalie, errori: referente AI del reparto o canale dedicato. Segnalare presto è un aiuto, non una colpa.</a:t>
            </a:r>
            <a:endParaRPr lang="en-US" sz="1000" dirty="0"/>
          </a:p>
        </p:txBody>
      </p:sp>
      <p:sp>
        <p:nvSpPr>
          <p:cNvPr id="19" name="messaggio"/>
          <p:cNvSpPr/>
          <p:nvPr/>
        </p:nvSpPr>
        <p:spPr>
          <a:xfrm>
            <a:off x="457200" y="4114800"/>
            <a:ext cx="8229600" cy="411480"/>
          </a:xfrm>
          <a:prstGeom prst="roundRect">
            <a:avLst>
              <a:gd name="adj" fmla="val 17778"/>
            </a:avLst>
          </a:prstGeom>
          <a:solidFill>
            <a:schemeClr val="tx1"/>
          </a:solidFill>
          <a:ln/>
        </p:spPr>
      </p:sp>
      <p:sp>
        <p:nvSpPr>
          <p:cNvPr id="20" name="Text 17"/>
          <p:cNvSpPr txBox="1"/>
          <p:nvPr/>
        </p:nvSpPr>
        <p:spPr>
          <a:xfrm>
            <a:off x="640080" y="4114800"/>
            <a:ext cx="7863840" cy="411480"/>
          </a:xfrm>
          <a:prstGeom prst="rect">
            <a:avLst/>
          </a:prstGeom>
          <a:noFill/>
          <a:ln/>
        </p:spPr>
        <p:txBody>
          <a:bodyPr wrap="square" lIns="0" tIns="0" rIns="0" bIns="0" rtlCol="0" anchor="ctr"/>
          <a:lstStyle/>
          <a:p>
            <a:pPr indent="0" marL="0">
              <a:buNone/>
            </a:pPr>
            <a:r>
              <a:rPr lang="en-US" sz="1300" dirty="0">
                <a:solidFill>
                  <a:schemeClr val="bg1"/>
                </a:solidFill>
              </a:rPr>
              <a:t>Non un modello da copiare: si costruisce con le funzioni competenti, sugli strumenti e gli obblighi reali.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policy è utile quando orienta decisioni e comportamenti concreti, non soltanto quando esiste come documento.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18.5  ·  Politiche aziendali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Rischi, controlli e supervisione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 controlli sono efficaci quando funzionano nella pratica e sono mantenuti nel tempo, non soltanto quando risultano descritti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Sapere che cosa c'è</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1645920"/>
                <a:gridCol w="1554480"/>
                <a:gridCol w="1463040"/>
                <a:gridCol w="1554480"/>
              </a:tblGrid>
              <a:tr h="457200">
                <a:tc>
                  <a:txBody>
                    <a:bodyPr/>
                    <a:lstStyle/>
                    <a:p>
                      <a:pPr indent="0" marL="0">
                        <a:buNone/>
                      </a:pPr>
                      <a:r>
                        <a:rPr lang="en-US" sz="1100" b="1" dirty="0">
                          <a:solidFill>
                            <a:schemeClr val="bg1"/>
                          </a:solidFill>
                        </a:rPr>
                        <a:t>Uso (fittizio)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Strumento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Informazioni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Effetti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Classificazione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100" b="1" dirty="0">
                          <a:solidFill>
                            <a:schemeClr val="tx1"/>
                          </a:solidFill>
                        </a:rPr>
                        <a:t>Bozze e sintesi interne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Assistente aziendale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Interne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Interni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Rischio minimo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100" b="1" dirty="0">
                          <a:solidFill>
                            <a:schemeClr val="tx1"/>
                          </a:solidFill>
                        </a:rPr>
                        <a:t>Chatbot sul sito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Servizio di terzi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Domande dei clienti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Verso clienti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Trasparenza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100" b="1" dirty="0">
                          <a:solidFill>
                            <a:schemeClr val="tx1"/>
                          </a:solidFill>
                        </a:rPr>
                        <a:t>Preselezione dei CV</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 valutare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Dati dei candidati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Decisioni su persone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Alto rischio, da verificare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100" b="1" dirty="0">
                          <a:solidFill>
                            <a:schemeClr val="tx1"/>
                          </a:solidFill>
                        </a:rPr>
                        <a:t>Analisi dei reclami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Assistente aziendale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Dati dei clienti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Interni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Rischio minimo, GDPR</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7" name="messaggio"/>
          <p:cNvSpPr/>
          <p:nvPr/>
        </p:nvSpPr>
        <p:spPr>
          <a:xfrm>
            <a:off x="457200" y="3520440"/>
            <a:ext cx="8229600" cy="822960"/>
          </a:xfrm>
          <a:prstGeom prst="roundRect">
            <a:avLst>
              <a:gd name="adj" fmla="val 8889"/>
            </a:avLst>
          </a:prstGeom>
          <a:solidFill>
            <a:schemeClr val="tx1"/>
          </a:solidFill>
          <a:ln/>
        </p:spPr>
      </p:sp>
      <p:sp>
        <p:nvSpPr>
          <p:cNvPr id="18" name="Text 14"/>
          <p:cNvSpPr txBox="1"/>
          <p:nvPr/>
        </p:nvSpPr>
        <p:spPr>
          <a:xfrm>
            <a:off x="640080" y="3520440"/>
            <a:ext cx="7863840" cy="822960"/>
          </a:xfrm>
          <a:prstGeom prst="rect">
            <a:avLst/>
          </a:prstGeom>
          <a:noFill/>
          <a:ln/>
        </p:spPr>
        <p:txBody>
          <a:bodyPr wrap="square" lIns="0" tIns="0" rIns="0" bIns="0" rtlCol="0" anchor="ctr"/>
          <a:lstStyle/>
          <a:p>
            <a:pPr indent="0" marL="0">
              <a:buNone/>
            </a:pPr>
            <a:r>
              <a:rPr lang="en-US" sz="1400" dirty="0">
                <a:solidFill>
                  <a:schemeClr val="bg1"/>
                </a:solidFill>
              </a:rPr>
              <a:t>Non si governa ciò che non si conosce. Una mappa degli usi che contano, costruita chiedendo, e aggiornata.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Valutare i rischi nel contesto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riquadro Classificazione AI Act (18.3)"/>
          <p:cNvSpPr/>
          <p:nvPr/>
        </p:nvSpPr>
        <p:spPr>
          <a:xfrm>
            <a:off x="457200" y="1051560"/>
            <a:ext cx="3977640" cy="1371600"/>
          </a:xfrm>
          <a:prstGeom prst="roundRect">
            <a:avLst>
              <a:gd name="adj" fmla="val 5333"/>
            </a:avLst>
          </a:prstGeom>
          <a:solidFill>
            <a:schemeClr val="bg2"/>
          </a:solidFill>
          <a:ln/>
        </p:spPr>
      </p:sp>
      <p:sp>
        <p:nvSpPr>
          <p:cNvPr id="17" name="barra"/>
          <p:cNvSpPr/>
          <p:nvPr/>
        </p:nvSpPr>
        <p:spPr>
          <a:xfrm>
            <a:off x="457200" y="1161288"/>
            <a:ext cx="54864" cy="1152144"/>
          </a:xfrm>
          <a:prstGeom prst="rect">
            <a:avLst/>
          </a:prstGeom>
          <a:solidFill>
            <a:schemeClr val="accent1"/>
          </a:solidFill>
          <a:ln/>
        </p:spPr>
      </p:sp>
      <p:sp>
        <p:nvSpPr>
          <p:cNvPr id="18" name="Text 15"/>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Classificazione AI Act (18.3)</a:t>
            </a:r>
            <a:endParaRPr lang="en-US" sz="1100" dirty="0"/>
          </a:p>
        </p:txBody>
      </p:sp>
      <p:sp>
        <p:nvSpPr>
          <p:cNvPr id="19" name="Text 16"/>
          <p:cNvSpPr txBox="1"/>
          <p:nvPr/>
        </p:nvSpPr>
        <p:spPr>
          <a:xfrm>
            <a:off x="658368" y="1435608"/>
            <a:ext cx="3611880" cy="896112"/>
          </a:xfrm>
          <a:prstGeom prst="rect">
            <a:avLst/>
          </a:prstGeom>
          <a:noFill/>
          <a:ln/>
        </p:spPr>
        <p:txBody>
          <a:bodyPr wrap="square" lIns="0" tIns="0" rIns="0" bIns="0" rtlCol="0" anchor="t"/>
          <a:lstStyle/>
          <a:p>
            <a:pPr indent="0" marL="0">
              <a:buNone/>
            </a:pPr>
            <a:r>
              <a:rPr lang="en-US" sz="1300" dirty="0">
                <a:solidFill>
                  <a:schemeClr val="tx1"/>
                </a:solidFill>
              </a:rPr>
              <a:t>Quali obblighi specifici si applicano.</a:t>
            </a:r>
            <a:endParaRPr lang="en-US" sz="1300" dirty="0"/>
          </a:p>
        </p:txBody>
      </p:sp>
      <p:sp>
        <p:nvSpPr>
          <p:cNvPr id="20" name="riquadro Valutazione aziendale"/>
          <p:cNvSpPr/>
          <p:nvPr/>
        </p:nvSpPr>
        <p:spPr>
          <a:xfrm>
            <a:off x="4709160" y="1051560"/>
            <a:ext cx="3977640" cy="1371600"/>
          </a:xfrm>
          <a:prstGeom prst="roundRect">
            <a:avLst>
              <a:gd name="adj" fmla="val 5333"/>
            </a:avLst>
          </a:prstGeom>
          <a:solidFill>
            <a:schemeClr val="accent6"/>
          </a:solidFill>
          <a:ln/>
        </p:spPr>
      </p:sp>
      <p:sp>
        <p:nvSpPr>
          <p:cNvPr id="21" name="barra"/>
          <p:cNvSpPr/>
          <p:nvPr/>
        </p:nvSpPr>
        <p:spPr>
          <a:xfrm>
            <a:off x="4709160" y="1161288"/>
            <a:ext cx="54864" cy="1152144"/>
          </a:xfrm>
          <a:prstGeom prst="rect">
            <a:avLst/>
          </a:prstGeom>
          <a:solidFill>
            <a:schemeClr val="accent1"/>
          </a:solidFill>
          <a:ln/>
        </p:spPr>
      </p:sp>
      <p:sp>
        <p:nvSpPr>
          <p:cNvPr id="22" name="Text 19"/>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Valutazione aziendale</a:t>
            </a:r>
            <a:endParaRPr lang="en-US" sz="1100" dirty="0"/>
          </a:p>
        </p:txBody>
      </p:sp>
      <p:sp>
        <p:nvSpPr>
          <p:cNvPr id="23" name="Text 20"/>
          <p:cNvSpPr txBox="1"/>
          <p:nvPr/>
        </p:nvSpPr>
        <p:spPr>
          <a:xfrm>
            <a:off x="4910328" y="1435608"/>
            <a:ext cx="3611880" cy="896112"/>
          </a:xfrm>
          <a:prstGeom prst="rect">
            <a:avLst/>
          </a:prstGeom>
          <a:noFill/>
          <a:ln/>
        </p:spPr>
        <p:txBody>
          <a:bodyPr wrap="square" lIns="0" tIns="0" rIns="0" bIns="0" rtlCol="0" anchor="t"/>
          <a:lstStyle/>
          <a:p>
            <a:pPr indent="0" marL="0">
              <a:buNone/>
            </a:pPr>
            <a:r>
              <a:rPr lang="en-US" sz="1300" dirty="0">
                <a:solidFill>
                  <a:schemeClr val="tx1"/>
                </a:solidFill>
              </a:rPr>
              <a:t>Quali rischi gestire, regolati o no: anche un uso non ad alto rischio può richiedere controlli.</a:t>
            </a:r>
            <a:endParaRPr lang="en-US" sz="1300" dirty="0"/>
          </a:p>
        </p:txBody>
      </p:sp>
      <p:sp>
        <p:nvSpPr>
          <p:cNvPr id="24" name="Text 21"/>
          <p:cNvSpPr txBox="1"/>
          <p:nvPr/>
        </p:nvSpPr>
        <p:spPr>
          <a:xfrm>
            <a:off x="457200" y="2606040"/>
            <a:ext cx="8229600" cy="274320"/>
          </a:xfrm>
          <a:prstGeom prst="rect">
            <a:avLst/>
          </a:prstGeom>
          <a:noFill/>
          <a:ln/>
        </p:spPr>
        <p:txBody>
          <a:bodyPr wrap="square" lIns="0" tIns="0" rIns="0" bIns="0" rtlCol="0" anchor="t"/>
          <a:lstStyle/>
          <a:p>
            <a:pPr indent="0" marL="0">
              <a:buNone/>
            </a:pPr>
            <a:r>
              <a:rPr lang="en-US" sz="1300" b="1" dirty="0">
                <a:solidFill>
                  <a:schemeClr val="tx1"/>
                </a:solidFill>
              </a:rPr>
              <a:t>Effetti da considerare</a:t>
            </a:r>
            <a:endParaRPr lang="en-US" sz="1300" dirty="0"/>
          </a:p>
        </p:txBody>
      </p:sp>
      <p:sp>
        <p:nvSpPr>
          <p:cNvPr id="25" name="blocco Persone"/>
          <p:cNvSpPr/>
          <p:nvPr/>
        </p:nvSpPr>
        <p:spPr>
          <a:xfrm>
            <a:off x="457200" y="2926080"/>
            <a:ext cx="1965960" cy="502920"/>
          </a:xfrm>
          <a:prstGeom prst="roundRect">
            <a:avLst>
              <a:gd name="adj" fmla="val 21818"/>
            </a:avLst>
          </a:prstGeom>
          <a:solidFill>
            <a:schemeClr val="accent6"/>
          </a:solidFill>
          <a:ln/>
        </p:spPr>
      </p:sp>
      <p:sp>
        <p:nvSpPr>
          <p:cNvPr id="26" name="Text 23"/>
          <p:cNvSpPr txBox="1"/>
          <p:nvPr/>
        </p:nvSpPr>
        <p:spPr>
          <a:xfrm>
            <a:off x="502920" y="2926080"/>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Persone</a:t>
            </a:r>
            <a:endParaRPr lang="en-US" sz="1300" dirty="0"/>
          </a:p>
        </p:txBody>
      </p:sp>
      <p:sp>
        <p:nvSpPr>
          <p:cNvPr id="27" name="blocco Dati"/>
          <p:cNvSpPr/>
          <p:nvPr/>
        </p:nvSpPr>
        <p:spPr>
          <a:xfrm>
            <a:off x="2560320" y="2926080"/>
            <a:ext cx="1965960" cy="502920"/>
          </a:xfrm>
          <a:prstGeom prst="roundRect">
            <a:avLst>
              <a:gd name="adj" fmla="val 21818"/>
            </a:avLst>
          </a:prstGeom>
          <a:solidFill>
            <a:schemeClr val="accent6"/>
          </a:solidFill>
          <a:ln/>
        </p:spPr>
      </p:sp>
      <p:sp>
        <p:nvSpPr>
          <p:cNvPr id="28" name="Text 25"/>
          <p:cNvSpPr txBox="1"/>
          <p:nvPr/>
        </p:nvSpPr>
        <p:spPr>
          <a:xfrm>
            <a:off x="2606040" y="2926080"/>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Dati</a:t>
            </a:r>
            <a:endParaRPr lang="en-US" sz="1300" dirty="0"/>
          </a:p>
        </p:txBody>
      </p:sp>
      <p:sp>
        <p:nvSpPr>
          <p:cNvPr id="29" name="blocco Processi e attività"/>
          <p:cNvSpPr/>
          <p:nvPr/>
        </p:nvSpPr>
        <p:spPr>
          <a:xfrm>
            <a:off x="4663440" y="2926080"/>
            <a:ext cx="1965960" cy="502920"/>
          </a:xfrm>
          <a:prstGeom prst="roundRect">
            <a:avLst>
              <a:gd name="adj" fmla="val 21818"/>
            </a:avLst>
          </a:prstGeom>
          <a:solidFill>
            <a:schemeClr val="accent6"/>
          </a:solidFill>
          <a:ln/>
        </p:spPr>
      </p:sp>
      <p:sp>
        <p:nvSpPr>
          <p:cNvPr id="30" name="Text 27"/>
          <p:cNvSpPr txBox="1"/>
          <p:nvPr/>
        </p:nvSpPr>
        <p:spPr>
          <a:xfrm>
            <a:off x="4709160" y="2926080"/>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Processi e attività</a:t>
            </a:r>
            <a:endParaRPr lang="en-US" sz="1300" dirty="0"/>
          </a:p>
        </p:txBody>
      </p:sp>
      <p:sp>
        <p:nvSpPr>
          <p:cNvPr id="31" name="blocco Reputazione"/>
          <p:cNvSpPr/>
          <p:nvPr/>
        </p:nvSpPr>
        <p:spPr>
          <a:xfrm>
            <a:off x="6766560" y="2926080"/>
            <a:ext cx="1965960" cy="502920"/>
          </a:xfrm>
          <a:prstGeom prst="roundRect">
            <a:avLst>
              <a:gd name="adj" fmla="val 21818"/>
            </a:avLst>
          </a:prstGeom>
          <a:solidFill>
            <a:schemeClr val="accent6"/>
          </a:solidFill>
          <a:ln/>
        </p:spPr>
      </p:sp>
      <p:sp>
        <p:nvSpPr>
          <p:cNvPr id="32" name="Text 29"/>
          <p:cNvSpPr txBox="1"/>
          <p:nvPr/>
        </p:nvSpPr>
        <p:spPr>
          <a:xfrm>
            <a:off x="6812280" y="2926080"/>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Reputazione</a:t>
            </a:r>
            <a:endParaRPr lang="en-US" sz="1300" dirty="0"/>
          </a:p>
        </p:txBody>
      </p:sp>
      <p:sp>
        <p:nvSpPr>
          <p:cNvPr id="33" name="messaggio"/>
          <p:cNvSpPr/>
          <p:nvPr/>
        </p:nvSpPr>
        <p:spPr>
          <a:xfrm>
            <a:off x="457200" y="3611880"/>
            <a:ext cx="8229600" cy="822960"/>
          </a:xfrm>
          <a:prstGeom prst="roundRect">
            <a:avLst>
              <a:gd name="adj" fmla="val 8889"/>
            </a:avLst>
          </a:prstGeom>
          <a:solidFill>
            <a:schemeClr val="tx1"/>
          </a:solidFill>
          <a:ln/>
        </p:spPr>
      </p:sp>
      <p:sp>
        <p:nvSpPr>
          <p:cNvPr id="34" name="Text 31"/>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Esempio: un assistente collegato all'intero archivio non è ad alto rischio, ma può esporre informazioni riservate.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Prevenire, rilevare, correggere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eventive"/>
          <p:cNvSpPr/>
          <p:nvPr/>
        </p:nvSpPr>
        <p:spPr>
          <a:xfrm>
            <a:off x="457200" y="1051560"/>
            <a:ext cx="2615184" cy="2103120"/>
          </a:xfrm>
          <a:prstGeom prst="roundRect">
            <a:avLst>
              <a:gd name="adj" fmla="val 3478"/>
            </a:avLst>
          </a:prstGeom>
          <a:solidFill>
            <a:schemeClr val="bg2"/>
          </a:solidFill>
          <a:ln/>
        </p:spPr>
      </p:sp>
      <p:sp>
        <p:nvSpPr>
          <p:cNvPr id="17" name="cerchio FiShield"/>
          <p:cNvSpPr/>
          <p:nvPr/>
        </p:nvSpPr>
        <p:spPr>
          <a:xfrm>
            <a:off x="1463040" y="1143000"/>
            <a:ext cx="566928" cy="566928"/>
          </a:xfrm>
          <a:prstGeom prst="ellipse">
            <a:avLst/>
          </a:prstGeom>
          <a:solidFill>
            <a:schemeClr val="accent1"/>
          </a:solidFill>
          <a:ln/>
        </p:spPr>
      </p:sp>
      <p:pic>
        <p:nvPicPr>
          <p:cNvPr id="18" name="Image 0" descr="FiShield">    </p:cNvPr>
          <p:cNvPicPr>
            <a:picLocks noChangeAspect="1"/>
          </p:cNvPicPr>
          <p:nvPr/>
        </p:nvPicPr>
        <p:blipFill>
          <a:blip r:embed="rId1"/>
          <a:stretch>
            <a:fillRect/>
          </a:stretch>
        </p:blipFill>
        <p:spPr>
          <a:xfrm>
            <a:off x="1604772" y="1284732"/>
            <a:ext cx="283464" cy="283464"/>
          </a:xfrm>
          <a:prstGeom prst="rect">
            <a:avLst/>
          </a:prstGeom>
        </p:spPr>
      </p:pic>
      <p:sp>
        <p:nvSpPr>
          <p:cNvPr id="19" name="Text 15"/>
          <p:cNvSpPr txBox="1"/>
          <p:nvPr/>
        </p:nvSpPr>
        <p:spPr>
          <a:xfrm>
            <a:off x="594360"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Preventive</a:t>
            </a:r>
            <a:endParaRPr lang="en-US" sz="1500" dirty="0"/>
          </a:p>
        </p:txBody>
      </p:sp>
      <p:sp>
        <p:nvSpPr>
          <p:cNvPr id="20" name="Text 16"/>
          <p:cNvSpPr txBox="1"/>
          <p:nvPr/>
        </p:nvSpPr>
        <p:spPr>
          <a:xfrm>
            <a:off x="594360" y="2176272"/>
            <a:ext cx="2340864" cy="914400"/>
          </a:xfrm>
          <a:prstGeom prst="rect">
            <a:avLst/>
          </a:prstGeom>
          <a:noFill/>
          <a:ln/>
        </p:spPr>
        <p:txBody>
          <a:bodyPr wrap="square" lIns="0" tIns="0" rIns="0" bIns="0" rtlCol="0" anchor="t"/>
          <a:lstStyle/>
          <a:p>
            <a:pPr algn="ctr" indent="0" marL="0">
              <a:buNone/>
            </a:pPr>
            <a:r>
              <a:rPr lang="en-US" sz="1100" dirty="0">
                <a:solidFill>
                  <a:schemeClr val="tx2"/>
                </a:solidFill>
              </a:rPr>
              <a:t>Strumenti approvati, configurazioni, permessi minimi, formazione, regole, autorizzazioni</a:t>
            </a:r>
            <a:endParaRPr lang="en-US" sz="1100" dirty="0"/>
          </a:p>
        </p:txBody>
      </p:sp>
      <p:sp>
        <p:nvSpPr>
          <p:cNvPr id="21" name="Di rilevazione"/>
          <p:cNvSpPr/>
          <p:nvPr/>
        </p:nvSpPr>
        <p:spPr>
          <a:xfrm>
            <a:off x="3264408" y="1051560"/>
            <a:ext cx="2615184" cy="2103120"/>
          </a:xfrm>
          <a:prstGeom prst="roundRect">
            <a:avLst>
              <a:gd name="adj" fmla="val 3478"/>
            </a:avLst>
          </a:prstGeom>
          <a:solidFill>
            <a:schemeClr val="accent6"/>
          </a:solidFill>
          <a:ln/>
        </p:spPr>
      </p:sp>
      <p:sp>
        <p:nvSpPr>
          <p:cNvPr id="22" name="cerchio FiSearch"/>
          <p:cNvSpPr/>
          <p:nvPr/>
        </p:nvSpPr>
        <p:spPr>
          <a:xfrm>
            <a:off x="4270248" y="1143000"/>
            <a:ext cx="566928" cy="566928"/>
          </a:xfrm>
          <a:prstGeom prst="ellipse">
            <a:avLst/>
          </a:prstGeom>
          <a:solidFill>
            <a:schemeClr val="accent1"/>
          </a:solidFill>
          <a:ln/>
        </p:spPr>
      </p:sp>
      <p:pic>
        <p:nvPicPr>
          <p:cNvPr id="23" name="Image 1" descr="FiSearch">    </p:cNvPr>
          <p:cNvPicPr>
            <a:picLocks noChangeAspect="1"/>
          </p:cNvPicPr>
          <p:nvPr/>
        </p:nvPicPr>
        <p:blipFill>
          <a:blip r:embed="rId2"/>
          <a:stretch>
            <a:fillRect/>
          </a:stretch>
        </p:blipFill>
        <p:spPr>
          <a:xfrm>
            <a:off x="4411980" y="1284732"/>
            <a:ext cx="283464" cy="283464"/>
          </a:xfrm>
          <a:prstGeom prst="rect">
            <a:avLst/>
          </a:prstGeom>
        </p:spPr>
      </p:pic>
      <p:sp>
        <p:nvSpPr>
          <p:cNvPr id="24" name="Text 19"/>
          <p:cNvSpPr txBox="1"/>
          <p:nvPr/>
        </p:nvSpPr>
        <p:spPr>
          <a:xfrm>
            <a:off x="3401568"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Di rilevazione</a:t>
            </a:r>
            <a:endParaRPr lang="en-US" sz="1500" dirty="0"/>
          </a:p>
        </p:txBody>
      </p:sp>
      <p:sp>
        <p:nvSpPr>
          <p:cNvPr id="25" name="Text 20"/>
          <p:cNvSpPr txBox="1"/>
          <p:nvPr/>
        </p:nvSpPr>
        <p:spPr>
          <a:xfrm>
            <a:off x="3401568" y="2176272"/>
            <a:ext cx="2340864" cy="914400"/>
          </a:xfrm>
          <a:prstGeom prst="rect">
            <a:avLst/>
          </a:prstGeom>
          <a:noFill/>
          <a:ln/>
        </p:spPr>
        <p:txBody>
          <a:bodyPr wrap="square" lIns="0" tIns="0" rIns="0" bIns="0" rtlCol="0" anchor="t"/>
          <a:lstStyle/>
          <a:p>
            <a:pPr algn="ctr" indent="0" marL="0">
              <a:buNone/>
            </a:pPr>
            <a:r>
              <a:rPr lang="en-US" sz="1100" dirty="0">
                <a:solidFill>
                  <a:schemeClr val="tx2"/>
                </a:solidFill>
              </a:rPr>
              <a:t>Monitoraggio, registri, verifiche a campione, segnalazioni</a:t>
            </a:r>
            <a:endParaRPr lang="en-US" sz="1100" dirty="0"/>
          </a:p>
        </p:txBody>
      </p:sp>
      <p:sp>
        <p:nvSpPr>
          <p:cNvPr id="26" name="Correttive"/>
          <p:cNvSpPr/>
          <p:nvPr/>
        </p:nvSpPr>
        <p:spPr>
          <a:xfrm>
            <a:off x="6071616" y="1051560"/>
            <a:ext cx="2615184" cy="2103120"/>
          </a:xfrm>
          <a:prstGeom prst="roundRect">
            <a:avLst>
              <a:gd name="adj" fmla="val 3478"/>
            </a:avLst>
          </a:prstGeom>
          <a:solidFill>
            <a:schemeClr val="bg2"/>
          </a:solidFill>
          <a:ln/>
        </p:spPr>
      </p:sp>
      <p:sp>
        <p:nvSpPr>
          <p:cNvPr id="27" name="cerchio FiTool"/>
          <p:cNvSpPr/>
          <p:nvPr/>
        </p:nvSpPr>
        <p:spPr>
          <a:xfrm>
            <a:off x="7077456" y="1143000"/>
            <a:ext cx="566928" cy="566928"/>
          </a:xfrm>
          <a:prstGeom prst="ellipse">
            <a:avLst/>
          </a:prstGeom>
          <a:solidFill>
            <a:schemeClr val="accent1"/>
          </a:solidFill>
          <a:ln/>
        </p:spPr>
      </p:sp>
      <p:pic>
        <p:nvPicPr>
          <p:cNvPr id="28" name="Image 2" descr="FiTool">    </p:cNvPr>
          <p:cNvPicPr>
            <a:picLocks noChangeAspect="1"/>
          </p:cNvPicPr>
          <p:nvPr/>
        </p:nvPicPr>
        <p:blipFill>
          <a:blip r:embed="rId3"/>
          <a:stretch>
            <a:fillRect/>
          </a:stretch>
        </p:blipFill>
        <p:spPr>
          <a:xfrm>
            <a:off x="7219188" y="1284732"/>
            <a:ext cx="283464" cy="283464"/>
          </a:xfrm>
          <a:prstGeom prst="rect">
            <a:avLst/>
          </a:prstGeom>
        </p:spPr>
      </p:pic>
      <p:sp>
        <p:nvSpPr>
          <p:cNvPr id="29" name="Text 23"/>
          <p:cNvSpPr txBox="1"/>
          <p:nvPr/>
        </p:nvSpPr>
        <p:spPr>
          <a:xfrm>
            <a:off x="6208776"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Correttive</a:t>
            </a:r>
            <a:endParaRPr lang="en-US" sz="1500" dirty="0"/>
          </a:p>
        </p:txBody>
      </p:sp>
      <p:sp>
        <p:nvSpPr>
          <p:cNvPr id="30" name="Text 24"/>
          <p:cNvSpPr txBox="1"/>
          <p:nvPr/>
        </p:nvSpPr>
        <p:spPr>
          <a:xfrm>
            <a:off x="6208776" y="2176272"/>
            <a:ext cx="2340864" cy="914400"/>
          </a:xfrm>
          <a:prstGeom prst="rect">
            <a:avLst/>
          </a:prstGeom>
          <a:noFill/>
          <a:ln/>
        </p:spPr>
        <p:txBody>
          <a:bodyPr wrap="square" lIns="0" tIns="0" rIns="0" bIns="0" rtlCol="0" anchor="t"/>
          <a:lstStyle/>
          <a:p>
            <a:pPr algn="ctr" indent="0" marL="0">
              <a:buNone/>
            </a:pPr>
            <a:r>
              <a:rPr lang="en-US" sz="1100" dirty="0">
                <a:solidFill>
                  <a:schemeClr val="tx2"/>
                </a:solidFill>
              </a:rPr>
              <a:t>Sospensione, correzione, comunicazione, revisione delle regole</a:t>
            </a:r>
            <a:endParaRPr lang="en-US" sz="1100" dirty="0"/>
          </a:p>
        </p:txBody>
      </p:sp>
      <p:sp>
        <p:nvSpPr>
          <p:cNvPr id="31" name="Separazione dei ruoli"/>
          <p:cNvSpPr/>
          <p:nvPr/>
        </p:nvSpPr>
        <p:spPr>
          <a:xfrm>
            <a:off x="457200" y="3291840"/>
            <a:ext cx="8229600" cy="457200"/>
          </a:xfrm>
          <a:prstGeom prst="roundRect">
            <a:avLst>
              <a:gd name="adj" fmla="val 16000"/>
            </a:avLst>
          </a:prstGeom>
          <a:solidFill>
            <a:schemeClr val="bg2"/>
          </a:solidFill>
          <a:ln/>
        </p:spPr>
      </p:sp>
      <p:sp>
        <p:nvSpPr>
          <p:cNvPr id="32" name="Text 26"/>
          <p:cNvSpPr txBox="1"/>
          <p:nvPr/>
        </p:nvSpPr>
        <p:spPr>
          <a:xfrm>
            <a:off x="594360" y="3291840"/>
            <a:ext cx="2103120" cy="457200"/>
          </a:xfrm>
          <a:prstGeom prst="rect">
            <a:avLst/>
          </a:prstGeom>
          <a:noFill/>
          <a:ln/>
        </p:spPr>
        <p:txBody>
          <a:bodyPr wrap="square" lIns="0" tIns="0" rIns="0" bIns="0" rtlCol="0" anchor="ctr"/>
          <a:lstStyle/>
          <a:p>
            <a:pPr indent="0" marL="0">
              <a:buNone/>
            </a:pPr>
            <a:r>
              <a:rPr lang="en-US" sz="1300" b="1" dirty="0">
                <a:solidFill>
                  <a:schemeClr val="accent1"/>
                </a:solidFill>
              </a:rPr>
              <a:t>Separazione dei ruoli</a:t>
            </a:r>
            <a:endParaRPr lang="en-US" sz="1300" dirty="0"/>
          </a:p>
        </p:txBody>
      </p:sp>
      <p:sp>
        <p:nvSpPr>
          <p:cNvPr id="33" name="Text 27"/>
          <p:cNvSpPr txBox="1"/>
          <p:nvPr/>
        </p:nvSpPr>
        <p:spPr>
          <a:xfrm>
            <a:off x="2697480" y="3291840"/>
            <a:ext cx="5852160" cy="457200"/>
          </a:xfrm>
          <a:prstGeom prst="rect">
            <a:avLst/>
          </a:prstGeom>
          <a:noFill/>
          <a:ln/>
        </p:spPr>
        <p:txBody>
          <a:bodyPr wrap="square" lIns="0" tIns="0" rIns="0" bIns="0" rtlCol="0" anchor="ctr"/>
          <a:lstStyle/>
          <a:p>
            <a:pPr indent="0" marL="0">
              <a:buNone/>
            </a:pPr>
            <a:r>
              <a:rPr lang="en-US" sz="1200" dirty="0">
                <a:solidFill>
                  <a:schemeClr val="tx1"/>
                </a:solidFill>
              </a:rPr>
              <a:t>Chi propone non è chi autorizza e controlla, quando i rischi lo giustificano</a:t>
            </a:r>
            <a:endParaRPr lang="en-US" sz="1200" dirty="0"/>
          </a:p>
        </p:txBody>
      </p:sp>
      <p:sp>
        <p:nvSpPr>
          <p:cNvPr id="34" name="Gestione dei privilegi"/>
          <p:cNvSpPr/>
          <p:nvPr/>
        </p:nvSpPr>
        <p:spPr>
          <a:xfrm>
            <a:off x="457200" y="3822192"/>
            <a:ext cx="8229600" cy="457200"/>
          </a:xfrm>
          <a:prstGeom prst="roundRect">
            <a:avLst>
              <a:gd name="adj" fmla="val 16000"/>
            </a:avLst>
          </a:prstGeom>
          <a:solidFill>
            <a:schemeClr val="bg1"/>
          </a:solidFill>
          <a:ln/>
        </p:spPr>
      </p:sp>
      <p:sp>
        <p:nvSpPr>
          <p:cNvPr id="35" name="Text 29"/>
          <p:cNvSpPr txBox="1"/>
          <p:nvPr/>
        </p:nvSpPr>
        <p:spPr>
          <a:xfrm>
            <a:off x="594360" y="3822192"/>
            <a:ext cx="2103120" cy="457200"/>
          </a:xfrm>
          <a:prstGeom prst="rect">
            <a:avLst/>
          </a:prstGeom>
          <a:noFill/>
          <a:ln/>
        </p:spPr>
        <p:txBody>
          <a:bodyPr wrap="square" lIns="0" tIns="0" rIns="0" bIns="0" rtlCol="0" anchor="ctr"/>
          <a:lstStyle/>
          <a:p>
            <a:pPr indent="0" marL="0">
              <a:buNone/>
            </a:pPr>
            <a:r>
              <a:rPr lang="en-US" sz="1300" b="1" dirty="0">
                <a:solidFill>
                  <a:schemeClr val="accent1"/>
                </a:solidFill>
              </a:rPr>
              <a:t>Gestione dei privilegi</a:t>
            </a:r>
            <a:endParaRPr lang="en-US" sz="1300" dirty="0"/>
          </a:p>
        </p:txBody>
      </p:sp>
      <p:sp>
        <p:nvSpPr>
          <p:cNvPr id="36" name="Text 30"/>
          <p:cNvSpPr txBox="1"/>
          <p:nvPr/>
        </p:nvSpPr>
        <p:spPr>
          <a:xfrm>
            <a:off x="2697480" y="3822192"/>
            <a:ext cx="5852160" cy="457200"/>
          </a:xfrm>
          <a:prstGeom prst="rect">
            <a:avLst/>
          </a:prstGeom>
          <a:noFill/>
          <a:ln/>
        </p:spPr>
        <p:txBody>
          <a:bodyPr wrap="square" lIns="0" tIns="0" rIns="0" bIns="0" rtlCol="0" anchor="ctr"/>
          <a:lstStyle/>
          <a:p>
            <a:pPr indent="0" marL="0">
              <a:buNone/>
            </a:pPr>
            <a:r>
              <a:rPr lang="en-US" sz="1200" dirty="0">
                <a:solidFill>
                  <a:schemeClr val="tx1"/>
                </a:solidFill>
              </a:rPr>
              <a:t>Chi accede a quali strumenti, configurazioni, informazioni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Supervisione progettata</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Chi supervisiona"/>
          <p:cNvSpPr/>
          <p:nvPr/>
        </p:nvSpPr>
        <p:spPr>
          <a:xfrm>
            <a:off x="457200" y="1051560"/>
            <a:ext cx="1572768" cy="1463040"/>
          </a:xfrm>
          <a:prstGeom prst="roundRect">
            <a:avLst>
              <a:gd name="adj" fmla="val 5000"/>
            </a:avLst>
          </a:prstGeom>
          <a:solidFill>
            <a:schemeClr val="bg2"/>
          </a:solidFill>
          <a:ln/>
        </p:spPr>
      </p:sp>
      <p:sp>
        <p:nvSpPr>
          <p:cNvPr id="17" name="Text 14"/>
          <p:cNvSpPr txBox="1"/>
          <p:nvPr/>
        </p:nvSpPr>
        <p:spPr>
          <a:xfrm>
            <a:off x="548640" y="1115568"/>
            <a:ext cx="1417320" cy="384048"/>
          </a:xfrm>
          <a:prstGeom prst="rect">
            <a:avLst/>
          </a:prstGeom>
          <a:noFill/>
          <a:ln/>
        </p:spPr>
        <p:txBody>
          <a:bodyPr wrap="square" lIns="0" tIns="0" rIns="0" bIns="0" rtlCol="0" anchor="t"/>
          <a:lstStyle/>
          <a:p>
            <a:pPr indent="0" marL="0">
              <a:buNone/>
            </a:pPr>
            <a:r>
              <a:rPr lang="en-US" sz="1300" b="1" dirty="0">
                <a:solidFill>
                  <a:schemeClr val="accent1"/>
                </a:solidFill>
              </a:rPr>
              <a:t>Chi supervisiona</a:t>
            </a:r>
            <a:endParaRPr lang="en-US" sz="1300" dirty="0"/>
          </a:p>
        </p:txBody>
      </p:sp>
      <p:sp>
        <p:nvSpPr>
          <p:cNvPr id="18" name="Text 15"/>
          <p:cNvSpPr txBox="1"/>
          <p:nvPr/>
        </p:nvSpPr>
        <p:spPr>
          <a:xfrm>
            <a:off x="548640" y="1536192"/>
            <a:ext cx="1417320" cy="868680"/>
          </a:xfrm>
          <a:prstGeom prst="rect">
            <a:avLst/>
          </a:prstGeom>
          <a:noFill/>
          <a:ln/>
        </p:spPr>
        <p:txBody>
          <a:bodyPr wrap="square" lIns="0" tIns="0" rIns="0" bIns="0" rtlCol="0" anchor="t"/>
          <a:lstStyle/>
          <a:p>
            <a:pPr indent="0" marL="0">
              <a:buNone/>
            </a:pPr>
            <a:r>
              <a:rPr lang="en-US" sz="1100" dirty="0">
                <a:solidFill>
                  <a:schemeClr val="tx1"/>
                </a:solidFill>
              </a:rPr>
              <a:t>Competenza e formazione adeguate</a:t>
            </a:r>
            <a:endParaRPr lang="en-US" sz="1100" dirty="0"/>
          </a:p>
        </p:txBody>
      </p:sp>
      <p:sp>
        <p:nvSpPr>
          <p:cNvPr id="19" name="Accesso"/>
          <p:cNvSpPr/>
          <p:nvPr/>
        </p:nvSpPr>
        <p:spPr>
          <a:xfrm>
            <a:off x="2139696" y="1051560"/>
            <a:ext cx="1572768" cy="1463040"/>
          </a:xfrm>
          <a:prstGeom prst="roundRect">
            <a:avLst>
              <a:gd name="adj" fmla="val 5000"/>
            </a:avLst>
          </a:prstGeom>
          <a:solidFill>
            <a:schemeClr val="accent6"/>
          </a:solidFill>
          <a:ln/>
        </p:spPr>
      </p:sp>
      <p:sp>
        <p:nvSpPr>
          <p:cNvPr id="20" name="Text 17"/>
          <p:cNvSpPr txBox="1"/>
          <p:nvPr/>
        </p:nvSpPr>
        <p:spPr>
          <a:xfrm>
            <a:off x="2231136" y="1115568"/>
            <a:ext cx="1417320" cy="384048"/>
          </a:xfrm>
          <a:prstGeom prst="rect">
            <a:avLst/>
          </a:prstGeom>
          <a:noFill/>
          <a:ln/>
        </p:spPr>
        <p:txBody>
          <a:bodyPr wrap="square" lIns="0" tIns="0" rIns="0" bIns="0" rtlCol="0" anchor="t"/>
          <a:lstStyle/>
          <a:p>
            <a:pPr indent="0" marL="0">
              <a:buNone/>
            </a:pPr>
            <a:r>
              <a:rPr lang="en-US" sz="1300" b="1" dirty="0">
                <a:solidFill>
                  <a:schemeClr val="accent1"/>
                </a:solidFill>
              </a:rPr>
              <a:t>Accesso</a:t>
            </a:r>
            <a:endParaRPr lang="en-US" sz="1300" dirty="0"/>
          </a:p>
        </p:txBody>
      </p:sp>
      <p:sp>
        <p:nvSpPr>
          <p:cNvPr id="21" name="Text 18"/>
          <p:cNvSpPr txBox="1"/>
          <p:nvPr/>
        </p:nvSpPr>
        <p:spPr>
          <a:xfrm>
            <a:off x="2231136" y="1536192"/>
            <a:ext cx="1417320" cy="868680"/>
          </a:xfrm>
          <a:prstGeom prst="rect">
            <a:avLst/>
          </a:prstGeom>
          <a:noFill/>
          <a:ln/>
        </p:spPr>
        <p:txBody>
          <a:bodyPr wrap="square" lIns="0" tIns="0" rIns="0" bIns="0" rtlCol="0" anchor="t"/>
          <a:lstStyle/>
          <a:p>
            <a:pPr indent="0" marL="0">
              <a:buNone/>
            </a:pPr>
            <a:r>
              <a:rPr lang="en-US" sz="1100" dirty="0">
                <a:solidFill>
                  <a:schemeClr val="tx1"/>
                </a:solidFill>
              </a:rPr>
              <a:t>Dati di partenza, fonti, criteri</a:t>
            </a:r>
            <a:endParaRPr lang="en-US" sz="1100" dirty="0"/>
          </a:p>
        </p:txBody>
      </p:sp>
      <p:sp>
        <p:nvSpPr>
          <p:cNvPr id="22" name="Carichi"/>
          <p:cNvSpPr/>
          <p:nvPr/>
        </p:nvSpPr>
        <p:spPr>
          <a:xfrm>
            <a:off x="3822192" y="1051560"/>
            <a:ext cx="1572768" cy="1463040"/>
          </a:xfrm>
          <a:prstGeom prst="roundRect">
            <a:avLst>
              <a:gd name="adj" fmla="val 5000"/>
            </a:avLst>
          </a:prstGeom>
          <a:solidFill>
            <a:schemeClr val="bg2"/>
          </a:solidFill>
          <a:ln/>
        </p:spPr>
      </p:sp>
      <p:sp>
        <p:nvSpPr>
          <p:cNvPr id="23" name="Text 20"/>
          <p:cNvSpPr txBox="1"/>
          <p:nvPr/>
        </p:nvSpPr>
        <p:spPr>
          <a:xfrm>
            <a:off x="3913632" y="1115568"/>
            <a:ext cx="1417320" cy="384048"/>
          </a:xfrm>
          <a:prstGeom prst="rect">
            <a:avLst/>
          </a:prstGeom>
          <a:noFill/>
          <a:ln/>
        </p:spPr>
        <p:txBody>
          <a:bodyPr wrap="square" lIns="0" tIns="0" rIns="0" bIns="0" rtlCol="0" anchor="t"/>
          <a:lstStyle/>
          <a:p>
            <a:pPr indent="0" marL="0">
              <a:buNone/>
            </a:pPr>
            <a:r>
              <a:rPr lang="en-US" sz="1300" b="1" dirty="0">
                <a:solidFill>
                  <a:schemeClr val="accent1"/>
                </a:solidFill>
              </a:rPr>
              <a:t>Carichi</a:t>
            </a:r>
            <a:endParaRPr lang="en-US" sz="1300" dirty="0"/>
          </a:p>
        </p:txBody>
      </p:sp>
      <p:sp>
        <p:nvSpPr>
          <p:cNvPr id="24" name="Text 21"/>
          <p:cNvSpPr txBox="1"/>
          <p:nvPr/>
        </p:nvSpPr>
        <p:spPr>
          <a:xfrm>
            <a:off x="3913632" y="1536192"/>
            <a:ext cx="1417320" cy="868680"/>
          </a:xfrm>
          <a:prstGeom prst="rect">
            <a:avLst/>
          </a:prstGeom>
          <a:noFill/>
          <a:ln/>
        </p:spPr>
        <p:txBody>
          <a:bodyPr wrap="square" lIns="0" tIns="0" rIns="0" bIns="0" rtlCol="0" anchor="t"/>
          <a:lstStyle/>
          <a:p>
            <a:pPr indent="0" marL="0">
              <a:buNone/>
            </a:pPr>
            <a:r>
              <a:rPr lang="en-US" sz="1100" dirty="0">
                <a:solidFill>
                  <a:schemeClr val="tx1"/>
                </a:solidFill>
              </a:rPr>
              <a:t>Tempo per verificare davvero</a:t>
            </a:r>
            <a:endParaRPr lang="en-US" sz="1100" dirty="0"/>
          </a:p>
        </p:txBody>
      </p:sp>
      <p:sp>
        <p:nvSpPr>
          <p:cNvPr id="25" name="Autorità"/>
          <p:cNvSpPr/>
          <p:nvPr/>
        </p:nvSpPr>
        <p:spPr>
          <a:xfrm>
            <a:off x="5504688" y="1051560"/>
            <a:ext cx="1572768" cy="1463040"/>
          </a:xfrm>
          <a:prstGeom prst="roundRect">
            <a:avLst>
              <a:gd name="adj" fmla="val 5000"/>
            </a:avLst>
          </a:prstGeom>
          <a:solidFill>
            <a:schemeClr val="accent6"/>
          </a:solidFill>
          <a:ln/>
        </p:spPr>
      </p:sp>
      <p:sp>
        <p:nvSpPr>
          <p:cNvPr id="26" name="Text 23"/>
          <p:cNvSpPr txBox="1"/>
          <p:nvPr/>
        </p:nvSpPr>
        <p:spPr>
          <a:xfrm>
            <a:off x="5596128" y="1115568"/>
            <a:ext cx="1417320" cy="384048"/>
          </a:xfrm>
          <a:prstGeom prst="rect">
            <a:avLst/>
          </a:prstGeom>
          <a:noFill/>
          <a:ln/>
        </p:spPr>
        <p:txBody>
          <a:bodyPr wrap="square" lIns="0" tIns="0" rIns="0" bIns="0" rtlCol="0" anchor="t"/>
          <a:lstStyle/>
          <a:p>
            <a:pPr indent="0" marL="0">
              <a:buNone/>
            </a:pPr>
            <a:r>
              <a:rPr lang="en-US" sz="1300" b="1" dirty="0">
                <a:solidFill>
                  <a:schemeClr val="accent1"/>
                </a:solidFill>
              </a:rPr>
              <a:t>Autorità</a:t>
            </a:r>
            <a:endParaRPr lang="en-US" sz="1300" dirty="0"/>
          </a:p>
        </p:txBody>
      </p:sp>
      <p:sp>
        <p:nvSpPr>
          <p:cNvPr id="27" name="Text 24"/>
          <p:cNvSpPr txBox="1"/>
          <p:nvPr/>
        </p:nvSpPr>
        <p:spPr>
          <a:xfrm>
            <a:off x="5596128" y="1536192"/>
            <a:ext cx="1417320" cy="868680"/>
          </a:xfrm>
          <a:prstGeom prst="rect">
            <a:avLst/>
          </a:prstGeom>
          <a:noFill/>
          <a:ln/>
        </p:spPr>
        <p:txBody>
          <a:bodyPr wrap="square" lIns="0" tIns="0" rIns="0" bIns="0" rtlCol="0" anchor="t"/>
          <a:lstStyle/>
          <a:p>
            <a:pPr indent="0" marL="0">
              <a:buNone/>
            </a:pPr>
            <a:r>
              <a:rPr lang="en-US" sz="1100" dirty="0">
                <a:solidFill>
                  <a:schemeClr val="tx1"/>
                </a:solidFill>
              </a:rPr>
              <a:t>Fermare o modificare senza conseguenze</a:t>
            </a:r>
            <a:endParaRPr lang="en-US" sz="1100" dirty="0"/>
          </a:p>
        </p:txBody>
      </p:sp>
      <p:sp>
        <p:nvSpPr>
          <p:cNvPr id="28" name="Arresto"/>
          <p:cNvSpPr/>
          <p:nvPr/>
        </p:nvSpPr>
        <p:spPr>
          <a:xfrm>
            <a:off x="7187184" y="1051560"/>
            <a:ext cx="1572768" cy="1463040"/>
          </a:xfrm>
          <a:prstGeom prst="roundRect">
            <a:avLst>
              <a:gd name="adj" fmla="val 5000"/>
            </a:avLst>
          </a:prstGeom>
          <a:solidFill>
            <a:schemeClr val="bg2"/>
          </a:solidFill>
          <a:ln/>
        </p:spPr>
      </p:sp>
      <p:sp>
        <p:nvSpPr>
          <p:cNvPr id="29" name="Text 26"/>
          <p:cNvSpPr txBox="1"/>
          <p:nvPr/>
        </p:nvSpPr>
        <p:spPr>
          <a:xfrm>
            <a:off x="7278624" y="1115568"/>
            <a:ext cx="1417320" cy="384048"/>
          </a:xfrm>
          <a:prstGeom prst="rect">
            <a:avLst/>
          </a:prstGeom>
          <a:noFill/>
          <a:ln/>
        </p:spPr>
        <p:txBody>
          <a:bodyPr wrap="square" lIns="0" tIns="0" rIns="0" bIns="0" rtlCol="0" anchor="t"/>
          <a:lstStyle/>
          <a:p>
            <a:pPr indent="0" marL="0">
              <a:buNone/>
            </a:pPr>
            <a:r>
              <a:rPr lang="en-US" sz="1300" b="1" dirty="0">
                <a:solidFill>
                  <a:schemeClr val="accent1"/>
                </a:solidFill>
              </a:rPr>
              <a:t>Arresto</a:t>
            </a:r>
            <a:endParaRPr lang="en-US" sz="1300" dirty="0"/>
          </a:p>
        </p:txBody>
      </p:sp>
      <p:sp>
        <p:nvSpPr>
          <p:cNvPr id="30" name="Text 27"/>
          <p:cNvSpPr txBox="1"/>
          <p:nvPr/>
        </p:nvSpPr>
        <p:spPr>
          <a:xfrm>
            <a:off x="7278624" y="1536192"/>
            <a:ext cx="1417320" cy="868680"/>
          </a:xfrm>
          <a:prstGeom prst="rect">
            <a:avLst/>
          </a:prstGeom>
          <a:noFill/>
          <a:ln/>
        </p:spPr>
        <p:txBody>
          <a:bodyPr wrap="square" lIns="0" tIns="0" rIns="0" bIns="0" rtlCol="0" anchor="t"/>
          <a:lstStyle/>
          <a:p>
            <a:pPr indent="0" marL="0">
              <a:buNone/>
            </a:pPr>
            <a:r>
              <a:rPr lang="en-US" sz="1100" dirty="0">
                <a:solidFill>
                  <a:schemeClr val="tx1"/>
                </a:solidFill>
              </a:rPr>
              <a:t>Possibilità tecnica di fermare il processo</a:t>
            </a:r>
            <a:endParaRPr lang="en-US" sz="1100" dirty="0"/>
          </a:p>
        </p:txBody>
      </p:sp>
      <p:sp>
        <p:nvSpPr>
          <p:cNvPr id="31" name="riquadro Per l'alto rischio, l'AI Act"/>
          <p:cNvSpPr/>
          <p:nvPr/>
        </p:nvSpPr>
        <p:spPr>
          <a:xfrm>
            <a:off x="457200" y="2697480"/>
            <a:ext cx="8229600" cy="731520"/>
          </a:xfrm>
          <a:prstGeom prst="roundRect">
            <a:avLst>
              <a:gd name="adj" fmla="val 10000"/>
            </a:avLst>
          </a:prstGeom>
          <a:solidFill>
            <a:schemeClr val="accent6"/>
          </a:solidFill>
          <a:ln/>
        </p:spPr>
      </p:sp>
      <p:sp>
        <p:nvSpPr>
          <p:cNvPr id="32" name="barra"/>
          <p:cNvSpPr/>
          <p:nvPr/>
        </p:nvSpPr>
        <p:spPr>
          <a:xfrm>
            <a:off x="457200" y="2807208"/>
            <a:ext cx="54864" cy="512064"/>
          </a:xfrm>
          <a:prstGeom prst="rect">
            <a:avLst/>
          </a:prstGeom>
          <a:solidFill>
            <a:schemeClr val="accent1"/>
          </a:solidFill>
          <a:ln/>
        </p:spPr>
      </p:sp>
      <p:sp>
        <p:nvSpPr>
          <p:cNvPr id="33" name="Text 30"/>
          <p:cNvSpPr txBox="1"/>
          <p:nvPr/>
        </p:nvSpPr>
        <p:spPr>
          <a:xfrm>
            <a:off x="658368" y="278892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Per l'alto rischio, l'AI Act</a:t>
            </a:r>
            <a:endParaRPr lang="en-US" sz="1100" dirty="0"/>
          </a:p>
        </p:txBody>
      </p:sp>
      <p:sp>
        <p:nvSpPr>
          <p:cNvPr id="34" name="Text 31"/>
          <p:cNvSpPr txBox="1"/>
          <p:nvPr/>
        </p:nvSpPr>
        <p:spPr>
          <a:xfrm>
            <a:off x="658368" y="3081528"/>
            <a:ext cx="7863840" cy="256032"/>
          </a:xfrm>
          <a:prstGeom prst="rect">
            <a:avLst/>
          </a:prstGeom>
          <a:noFill/>
          <a:ln/>
        </p:spPr>
        <p:txBody>
          <a:bodyPr wrap="square" lIns="0" tIns="0" rIns="0" bIns="0" rtlCol="0" anchor="t"/>
          <a:lstStyle/>
          <a:p>
            <a:pPr indent="0" marL="0">
              <a:buNone/>
            </a:pPr>
            <a:r>
              <a:rPr lang="en-US" sz="1200" dirty="0">
                <a:solidFill>
                  <a:schemeClr val="tx1"/>
                </a:solidFill>
              </a:rPr>
              <a:t>Deployer: supervisione a persone con competenza, formazione e autorità. Fornitori: sistemi progettati per consentirla.</a:t>
            </a:r>
            <a:endParaRPr lang="en-US" sz="1200" dirty="0"/>
          </a:p>
        </p:txBody>
      </p:sp>
      <p:sp>
        <p:nvSpPr>
          <p:cNvPr id="35" name="messaggio"/>
          <p:cNvSpPr/>
          <p:nvPr/>
        </p:nvSpPr>
        <p:spPr>
          <a:xfrm>
            <a:off x="457200" y="3611880"/>
            <a:ext cx="8229600" cy="777240"/>
          </a:xfrm>
          <a:prstGeom prst="roundRect">
            <a:avLst>
              <a:gd name="adj" fmla="val 9412"/>
            </a:avLst>
          </a:prstGeom>
          <a:solidFill>
            <a:schemeClr val="tx1"/>
          </a:solidFill>
          <a:ln/>
        </p:spPr>
      </p:sp>
      <p:sp>
        <p:nvSpPr>
          <p:cNvPr id="36" name="Text 33"/>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400" dirty="0">
                <a:solidFill>
                  <a:schemeClr val="bg1"/>
                </a:solidFill>
              </a:rPr>
              <a:t>Chiedere di 'supervisionare' senza dare le condizioni è un controllo solo sulla carta.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Tracciare e gestire incidenti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Documentazione"/>
          <p:cNvSpPr/>
          <p:nvPr/>
        </p:nvSpPr>
        <p:spPr>
          <a:xfrm>
            <a:off x="457200" y="1051560"/>
            <a:ext cx="2621280" cy="2194560"/>
          </a:xfrm>
          <a:prstGeom prst="roundRect">
            <a:avLst>
              <a:gd name="adj" fmla="val 3333"/>
            </a:avLst>
          </a:prstGeom>
          <a:solidFill>
            <a:schemeClr val="bg2"/>
          </a:solidFill>
          <a:ln/>
        </p:spPr>
      </p:sp>
      <p:sp>
        <p:nvSpPr>
          <p:cNvPr id="17" name="cerchio FiFileText"/>
          <p:cNvSpPr/>
          <p:nvPr/>
        </p:nvSpPr>
        <p:spPr>
          <a:xfrm>
            <a:off x="621792" y="1216152"/>
            <a:ext cx="438912" cy="438912"/>
          </a:xfrm>
          <a:prstGeom prst="ellipse">
            <a:avLst/>
          </a:prstGeom>
          <a:solidFill>
            <a:schemeClr val="accent1"/>
          </a:solidFill>
          <a:ln/>
        </p:spPr>
      </p:sp>
      <p:pic>
        <p:nvPicPr>
          <p:cNvPr id="18" name="Image 0" descr="FiFileText">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Documentazione</a:t>
            </a:r>
            <a:endParaRPr lang="en-US" sz="1400" dirty="0"/>
          </a:p>
        </p:txBody>
      </p:sp>
      <p:sp>
        <p:nvSpPr>
          <p:cNvPr id="20" name="Text 16"/>
          <p:cNvSpPr txBox="1"/>
          <p:nvPr/>
        </p:nvSpPr>
        <p:spPr>
          <a:xfrm>
            <a:off x="621792" y="1764792"/>
            <a:ext cx="2292096" cy="1389888"/>
          </a:xfrm>
          <a:prstGeom prst="rect">
            <a:avLst/>
          </a:prstGeom>
          <a:noFill/>
          <a:ln/>
        </p:spPr>
        <p:txBody>
          <a:bodyPr wrap="square" lIns="0" tIns="0" rIns="0" bIns="0" rtlCol="0" anchor="t"/>
          <a:lstStyle/>
          <a:p>
            <a:pPr indent="0" marL="0">
              <a:buNone/>
            </a:pPr>
            <a:r>
              <a:rPr lang="en-US" sz="1200" dirty="0">
                <a:solidFill>
                  <a:schemeClr val="tx2"/>
                </a:solidFill>
              </a:rPr>
              <a:t>Che cosa è stato deciso, perché, a quali condizioni; proporzionata</a:t>
            </a:r>
            <a:endParaRPr lang="en-US" sz="1200" dirty="0"/>
          </a:p>
        </p:txBody>
      </p:sp>
      <p:sp>
        <p:nvSpPr>
          <p:cNvPr id="21" name="Monitoraggio"/>
          <p:cNvSpPr/>
          <p:nvPr/>
        </p:nvSpPr>
        <p:spPr>
          <a:xfrm>
            <a:off x="3261360" y="1051560"/>
            <a:ext cx="2621280" cy="2194560"/>
          </a:xfrm>
          <a:prstGeom prst="roundRect">
            <a:avLst>
              <a:gd name="adj" fmla="val 3333"/>
            </a:avLst>
          </a:prstGeom>
          <a:solidFill>
            <a:schemeClr val="bg2"/>
          </a:solidFill>
          <a:ln/>
        </p:spPr>
      </p:sp>
      <p:sp>
        <p:nvSpPr>
          <p:cNvPr id="22" name="cerchio FiActivity"/>
          <p:cNvSpPr/>
          <p:nvPr/>
        </p:nvSpPr>
        <p:spPr>
          <a:xfrm>
            <a:off x="3425952" y="1216152"/>
            <a:ext cx="438912" cy="438912"/>
          </a:xfrm>
          <a:prstGeom prst="ellipse">
            <a:avLst/>
          </a:prstGeom>
          <a:solidFill>
            <a:schemeClr val="accent1"/>
          </a:solidFill>
          <a:ln/>
        </p:spPr>
      </p:sp>
      <p:pic>
        <p:nvPicPr>
          <p:cNvPr id="23" name="Image 1" descr="FiActivity">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Monitoraggio</a:t>
            </a:r>
            <a:endParaRPr lang="en-US" sz="1400" dirty="0"/>
          </a:p>
        </p:txBody>
      </p:sp>
      <p:sp>
        <p:nvSpPr>
          <p:cNvPr id="25" name="Text 20"/>
          <p:cNvSpPr txBox="1"/>
          <p:nvPr/>
        </p:nvSpPr>
        <p:spPr>
          <a:xfrm>
            <a:off x="3425952" y="1764792"/>
            <a:ext cx="2292096" cy="1389888"/>
          </a:xfrm>
          <a:prstGeom prst="rect">
            <a:avLst/>
          </a:prstGeom>
          <a:noFill/>
          <a:ln/>
        </p:spPr>
        <p:txBody>
          <a:bodyPr wrap="square" lIns="0" tIns="0" rIns="0" bIns="0" rtlCol="0" anchor="t"/>
          <a:lstStyle/>
          <a:p>
            <a:pPr indent="0" marL="0">
              <a:buNone/>
            </a:pPr>
            <a:r>
              <a:rPr lang="en-US" sz="1200" dirty="0">
                <a:solidFill>
                  <a:schemeClr val="tx2"/>
                </a:solidFill>
              </a:rPr>
              <a:t>Comportamento nel tempo, errori sistematici, aggiornamenti</a:t>
            </a:r>
            <a:endParaRPr lang="en-US" sz="1200" dirty="0"/>
          </a:p>
        </p:txBody>
      </p:sp>
      <p:sp>
        <p:nvSpPr>
          <p:cNvPr id="26" name="Incidenti"/>
          <p:cNvSpPr/>
          <p:nvPr/>
        </p:nvSpPr>
        <p:spPr>
          <a:xfrm>
            <a:off x="6065520" y="1051560"/>
            <a:ext cx="2621280" cy="2194560"/>
          </a:xfrm>
          <a:prstGeom prst="roundRect">
            <a:avLst>
              <a:gd name="adj" fmla="val 3333"/>
            </a:avLst>
          </a:prstGeom>
          <a:solidFill>
            <a:schemeClr val="bg2"/>
          </a:solidFill>
          <a:ln/>
        </p:spPr>
      </p:sp>
      <p:sp>
        <p:nvSpPr>
          <p:cNvPr id="27" name="cerchio FiAlertOctagon"/>
          <p:cNvSpPr/>
          <p:nvPr/>
        </p:nvSpPr>
        <p:spPr>
          <a:xfrm>
            <a:off x="6230112" y="1216152"/>
            <a:ext cx="438912" cy="438912"/>
          </a:xfrm>
          <a:prstGeom prst="ellipse">
            <a:avLst/>
          </a:prstGeom>
          <a:solidFill>
            <a:schemeClr val="accent1"/>
          </a:solidFill>
          <a:ln/>
        </p:spPr>
      </p:sp>
      <p:pic>
        <p:nvPicPr>
          <p:cNvPr id="28" name="Image 2" descr="FiAlertOctagon">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Incidenti</a:t>
            </a:r>
            <a:endParaRPr lang="en-US" sz="1400" dirty="0"/>
          </a:p>
        </p:txBody>
      </p:sp>
      <p:sp>
        <p:nvSpPr>
          <p:cNvPr id="30" name="Text 24"/>
          <p:cNvSpPr txBox="1"/>
          <p:nvPr/>
        </p:nvSpPr>
        <p:spPr>
          <a:xfrm>
            <a:off x="6230112" y="1764792"/>
            <a:ext cx="2292096" cy="1389888"/>
          </a:xfrm>
          <a:prstGeom prst="rect">
            <a:avLst/>
          </a:prstGeom>
          <a:noFill/>
          <a:ln/>
        </p:spPr>
        <p:txBody>
          <a:bodyPr wrap="square" lIns="0" tIns="0" rIns="0" bIns="0" rtlCol="0" anchor="t"/>
          <a:lstStyle/>
          <a:p>
            <a:pPr indent="0" marL="0">
              <a:buNone/>
            </a:pPr>
            <a:r>
              <a:rPr lang="en-US" sz="1200" dirty="0">
                <a:solidFill>
                  <a:schemeClr val="tx2"/>
                </a:solidFill>
              </a:rPr>
              <a:t>Chi riceve, valuta, decide, comunica; come si impara</a:t>
            </a:r>
            <a:endParaRPr lang="en-US" sz="1200" dirty="0"/>
          </a:p>
        </p:txBody>
      </p:sp>
      <p:sp>
        <p:nvSpPr>
          <p:cNvPr id="31" name="riquadro Obblighi di notifica, in alcuni casi"/>
          <p:cNvSpPr/>
          <p:nvPr/>
        </p:nvSpPr>
        <p:spPr>
          <a:xfrm>
            <a:off x="457200" y="3383280"/>
            <a:ext cx="8229600" cy="685800"/>
          </a:xfrm>
          <a:prstGeom prst="roundRect">
            <a:avLst>
              <a:gd name="adj" fmla="val 10667"/>
            </a:avLst>
          </a:prstGeom>
          <a:solidFill>
            <a:schemeClr val="accent6"/>
          </a:solidFill>
          <a:ln/>
        </p:spPr>
      </p:sp>
      <p:sp>
        <p:nvSpPr>
          <p:cNvPr id="32" name="barra"/>
          <p:cNvSpPr/>
          <p:nvPr/>
        </p:nvSpPr>
        <p:spPr>
          <a:xfrm>
            <a:off x="457200" y="3493008"/>
            <a:ext cx="54864" cy="466344"/>
          </a:xfrm>
          <a:prstGeom prst="rect">
            <a:avLst/>
          </a:prstGeom>
          <a:solidFill>
            <a:schemeClr val="accent1"/>
          </a:solidFill>
          <a:ln/>
        </p:spPr>
      </p:sp>
      <p:sp>
        <p:nvSpPr>
          <p:cNvPr id="33" name="Text 27"/>
          <p:cNvSpPr txBox="1"/>
          <p:nvPr/>
        </p:nvSpPr>
        <p:spPr>
          <a:xfrm>
            <a:off x="658368" y="347472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Obblighi di notifica, in alcuni casi</a:t>
            </a:r>
            <a:endParaRPr lang="en-US" sz="1100" dirty="0"/>
          </a:p>
        </p:txBody>
      </p:sp>
      <p:sp>
        <p:nvSpPr>
          <p:cNvPr id="34" name="Text 28"/>
          <p:cNvSpPr txBox="1"/>
          <p:nvPr/>
        </p:nvSpPr>
        <p:spPr>
          <a:xfrm>
            <a:off x="658368" y="3767328"/>
            <a:ext cx="7863840" cy="210312"/>
          </a:xfrm>
          <a:prstGeom prst="rect">
            <a:avLst/>
          </a:prstGeom>
          <a:noFill/>
          <a:ln/>
        </p:spPr>
        <p:txBody>
          <a:bodyPr wrap="square" lIns="0" tIns="0" rIns="0" bIns="0" rtlCol="0" anchor="t"/>
          <a:lstStyle/>
          <a:p>
            <a:pPr indent="0" marL="0">
              <a:buNone/>
            </a:pPr>
            <a:r>
              <a:rPr lang="en-US" sz="1200" dirty="0">
                <a:solidFill>
                  <a:schemeClr val="tx1"/>
                </a:solidFill>
              </a:rPr>
              <a:t>Violazioni di dati personali (GDPR); incidenti gravi dei sistemi ad alto rischio (AI Act).</a:t>
            </a:r>
            <a:endParaRPr lang="en-US" sz="1200" dirty="0"/>
          </a:p>
        </p:txBody>
      </p:sp>
      <p:sp>
        <p:nvSpPr>
          <p:cNvPr id="35" name="Text 29"/>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b="1" i="1" dirty="0">
                <a:solidFill>
                  <a:schemeClr val="accent5"/>
                </a:solidFill>
              </a:rPr>
              <a:t>Troppa documentazione è un peso; troppo poca impedisce di ricostruire e migliorare.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Riesame e rischio residuo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Text 13"/>
          <p:cNvSpPr txBox="1"/>
          <p:nvPr/>
        </p:nvSpPr>
        <p:spPr>
          <a:xfrm>
            <a:off x="457200" y="1005840"/>
            <a:ext cx="8229600" cy="274320"/>
          </a:xfrm>
          <a:prstGeom prst="rect">
            <a:avLst/>
          </a:prstGeom>
          <a:noFill/>
          <a:ln/>
        </p:spPr>
        <p:txBody>
          <a:bodyPr wrap="square" lIns="0" tIns="0" rIns="0" bIns="0" rtlCol="0" anchor="t"/>
          <a:lstStyle/>
          <a:p>
            <a:pPr indent="0" marL="0">
              <a:buNone/>
            </a:pPr>
            <a:r>
              <a:rPr lang="en-US" sz="1300" b="1" dirty="0">
                <a:solidFill>
                  <a:schemeClr val="tx1"/>
                </a:solidFill>
              </a:rPr>
              <a:t>Quando riesaminare</a:t>
            </a:r>
            <a:endParaRPr lang="en-US" sz="1300" dirty="0"/>
          </a:p>
        </p:txBody>
      </p:sp>
      <p:sp>
        <p:nvSpPr>
          <p:cNvPr id="17" name="blocco Periodicamente"/>
          <p:cNvSpPr/>
          <p:nvPr/>
        </p:nvSpPr>
        <p:spPr>
          <a:xfrm>
            <a:off x="457200" y="1325880"/>
            <a:ext cx="1517904" cy="502920"/>
          </a:xfrm>
          <a:prstGeom prst="roundRect">
            <a:avLst>
              <a:gd name="adj" fmla="val 21818"/>
            </a:avLst>
          </a:prstGeom>
          <a:solidFill>
            <a:schemeClr val="accent6"/>
          </a:solidFill>
          <a:ln/>
        </p:spPr>
      </p:sp>
      <p:sp>
        <p:nvSpPr>
          <p:cNvPr id="18" name="Text 15"/>
          <p:cNvSpPr txBox="1"/>
          <p:nvPr/>
        </p:nvSpPr>
        <p:spPr>
          <a:xfrm>
            <a:off x="502920" y="1325880"/>
            <a:ext cx="1426464" cy="502920"/>
          </a:xfrm>
          <a:prstGeom prst="rect">
            <a:avLst/>
          </a:prstGeom>
          <a:noFill/>
          <a:ln/>
        </p:spPr>
        <p:txBody>
          <a:bodyPr wrap="square" lIns="0" tIns="0" rIns="0" bIns="0" rtlCol="0" anchor="ctr"/>
          <a:lstStyle/>
          <a:p>
            <a:pPr algn="ctr" indent="0" marL="0">
              <a:buNone/>
            </a:pPr>
            <a:r>
              <a:rPr lang="en-US" sz="1100" b="1" dirty="0">
                <a:solidFill>
                  <a:schemeClr val="tx1"/>
                </a:solidFill>
              </a:rPr>
              <a:t>Periodicamente</a:t>
            </a:r>
            <a:endParaRPr lang="en-US" sz="1100" dirty="0"/>
          </a:p>
        </p:txBody>
      </p:sp>
      <p:sp>
        <p:nvSpPr>
          <p:cNvPr id="19" name="blocco Nuovo strumento o versione"/>
          <p:cNvSpPr/>
          <p:nvPr/>
        </p:nvSpPr>
        <p:spPr>
          <a:xfrm>
            <a:off x="2135124" y="1325880"/>
            <a:ext cx="1517904" cy="502920"/>
          </a:xfrm>
          <a:prstGeom prst="roundRect">
            <a:avLst>
              <a:gd name="adj" fmla="val 21818"/>
            </a:avLst>
          </a:prstGeom>
          <a:solidFill>
            <a:schemeClr val="accent6"/>
          </a:solidFill>
          <a:ln/>
        </p:spPr>
      </p:sp>
      <p:sp>
        <p:nvSpPr>
          <p:cNvPr id="20" name="Text 17"/>
          <p:cNvSpPr txBox="1"/>
          <p:nvPr/>
        </p:nvSpPr>
        <p:spPr>
          <a:xfrm>
            <a:off x="2180844" y="1325880"/>
            <a:ext cx="1426464" cy="502920"/>
          </a:xfrm>
          <a:prstGeom prst="rect">
            <a:avLst/>
          </a:prstGeom>
          <a:noFill/>
          <a:ln/>
        </p:spPr>
        <p:txBody>
          <a:bodyPr wrap="square" lIns="0" tIns="0" rIns="0" bIns="0" rtlCol="0" anchor="ctr"/>
          <a:lstStyle/>
          <a:p>
            <a:pPr algn="ctr" indent="0" marL="0">
              <a:buNone/>
            </a:pPr>
            <a:r>
              <a:rPr lang="en-US" sz="1100" b="1" dirty="0">
                <a:solidFill>
                  <a:schemeClr val="tx1"/>
                </a:solidFill>
              </a:rPr>
              <a:t>Nuovo strumento o versione</a:t>
            </a:r>
            <a:endParaRPr lang="en-US" sz="1100" dirty="0"/>
          </a:p>
        </p:txBody>
      </p:sp>
      <p:sp>
        <p:nvSpPr>
          <p:cNvPr id="21" name="blocco Nuovo uso"/>
          <p:cNvSpPr/>
          <p:nvPr/>
        </p:nvSpPr>
        <p:spPr>
          <a:xfrm>
            <a:off x="3813048" y="1325880"/>
            <a:ext cx="1517904" cy="502920"/>
          </a:xfrm>
          <a:prstGeom prst="roundRect">
            <a:avLst>
              <a:gd name="adj" fmla="val 21818"/>
            </a:avLst>
          </a:prstGeom>
          <a:solidFill>
            <a:schemeClr val="accent6"/>
          </a:solidFill>
          <a:ln/>
        </p:spPr>
      </p:sp>
      <p:sp>
        <p:nvSpPr>
          <p:cNvPr id="22" name="Text 19"/>
          <p:cNvSpPr txBox="1"/>
          <p:nvPr/>
        </p:nvSpPr>
        <p:spPr>
          <a:xfrm>
            <a:off x="3858768" y="1325880"/>
            <a:ext cx="1426464" cy="502920"/>
          </a:xfrm>
          <a:prstGeom prst="rect">
            <a:avLst/>
          </a:prstGeom>
          <a:noFill/>
          <a:ln/>
        </p:spPr>
        <p:txBody>
          <a:bodyPr wrap="square" lIns="0" tIns="0" rIns="0" bIns="0" rtlCol="0" anchor="ctr"/>
          <a:lstStyle/>
          <a:p>
            <a:pPr algn="ctr" indent="0" marL="0">
              <a:buNone/>
            </a:pPr>
            <a:r>
              <a:rPr lang="en-US" sz="1100" b="1" dirty="0">
                <a:solidFill>
                  <a:schemeClr val="tx1"/>
                </a:solidFill>
              </a:rPr>
              <a:t>Nuovo uso</a:t>
            </a:r>
            <a:endParaRPr lang="en-US" sz="1100" dirty="0"/>
          </a:p>
        </p:txBody>
      </p:sp>
      <p:sp>
        <p:nvSpPr>
          <p:cNvPr id="23" name="blocco Incidente"/>
          <p:cNvSpPr/>
          <p:nvPr/>
        </p:nvSpPr>
        <p:spPr>
          <a:xfrm>
            <a:off x="5490972" y="1325880"/>
            <a:ext cx="1517904" cy="502920"/>
          </a:xfrm>
          <a:prstGeom prst="roundRect">
            <a:avLst>
              <a:gd name="adj" fmla="val 21818"/>
            </a:avLst>
          </a:prstGeom>
          <a:solidFill>
            <a:schemeClr val="accent6"/>
          </a:solidFill>
          <a:ln/>
        </p:spPr>
      </p:sp>
      <p:sp>
        <p:nvSpPr>
          <p:cNvPr id="24" name="Text 21"/>
          <p:cNvSpPr txBox="1"/>
          <p:nvPr/>
        </p:nvSpPr>
        <p:spPr>
          <a:xfrm>
            <a:off x="5536692" y="1325880"/>
            <a:ext cx="1426464" cy="502920"/>
          </a:xfrm>
          <a:prstGeom prst="rect">
            <a:avLst/>
          </a:prstGeom>
          <a:noFill/>
          <a:ln/>
        </p:spPr>
        <p:txBody>
          <a:bodyPr wrap="square" lIns="0" tIns="0" rIns="0" bIns="0" rtlCol="0" anchor="ctr"/>
          <a:lstStyle/>
          <a:p>
            <a:pPr algn="ctr" indent="0" marL="0">
              <a:buNone/>
            </a:pPr>
            <a:r>
              <a:rPr lang="en-US" sz="1100" b="1" dirty="0">
                <a:solidFill>
                  <a:schemeClr val="tx1"/>
                </a:solidFill>
              </a:rPr>
              <a:t>Incidente</a:t>
            </a:r>
            <a:endParaRPr lang="en-US" sz="1100" dirty="0"/>
          </a:p>
        </p:txBody>
      </p:sp>
      <p:sp>
        <p:nvSpPr>
          <p:cNvPr id="25" name="blocco Nuova norma"/>
          <p:cNvSpPr/>
          <p:nvPr/>
        </p:nvSpPr>
        <p:spPr>
          <a:xfrm>
            <a:off x="7168896" y="1325880"/>
            <a:ext cx="1517904" cy="502920"/>
          </a:xfrm>
          <a:prstGeom prst="roundRect">
            <a:avLst>
              <a:gd name="adj" fmla="val 21818"/>
            </a:avLst>
          </a:prstGeom>
          <a:solidFill>
            <a:schemeClr val="accent6"/>
          </a:solidFill>
          <a:ln/>
        </p:spPr>
      </p:sp>
      <p:sp>
        <p:nvSpPr>
          <p:cNvPr id="26" name="Text 23"/>
          <p:cNvSpPr txBox="1"/>
          <p:nvPr/>
        </p:nvSpPr>
        <p:spPr>
          <a:xfrm>
            <a:off x="7214616" y="1325880"/>
            <a:ext cx="1426464" cy="502920"/>
          </a:xfrm>
          <a:prstGeom prst="rect">
            <a:avLst/>
          </a:prstGeom>
          <a:noFill/>
          <a:ln/>
        </p:spPr>
        <p:txBody>
          <a:bodyPr wrap="square" lIns="0" tIns="0" rIns="0" bIns="0" rtlCol="0" anchor="ctr"/>
          <a:lstStyle/>
          <a:p>
            <a:pPr algn="ctr" indent="0" marL="0">
              <a:buNone/>
            </a:pPr>
            <a:r>
              <a:rPr lang="en-US" sz="1100" b="1" dirty="0">
                <a:solidFill>
                  <a:schemeClr val="tx1"/>
                </a:solidFill>
              </a:rPr>
              <a:t>Nuova norma</a:t>
            </a:r>
            <a:endParaRPr lang="en-US" sz="1100" dirty="0"/>
          </a:p>
        </p:txBody>
      </p:sp>
      <p:sp>
        <p:nvSpPr>
          <p:cNvPr id="27" name="riquadro Coinvolgimento specialistico"/>
          <p:cNvSpPr/>
          <p:nvPr/>
        </p:nvSpPr>
        <p:spPr>
          <a:xfrm>
            <a:off x="457200" y="2011680"/>
            <a:ext cx="3977640" cy="1600200"/>
          </a:xfrm>
          <a:prstGeom prst="roundRect">
            <a:avLst>
              <a:gd name="adj" fmla="val 4571"/>
            </a:avLst>
          </a:prstGeom>
          <a:solidFill>
            <a:schemeClr val="bg2"/>
          </a:solidFill>
          <a:ln/>
        </p:spPr>
      </p:sp>
      <p:sp>
        <p:nvSpPr>
          <p:cNvPr id="28" name="barra"/>
          <p:cNvSpPr/>
          <p:nvPr/>
        </p:nvSpPr>
        <p:spPr>
          <a:xfrm>
            <a:off x="457200" y="2121408"/>
            <a:ext cx="54864" cy="1380744"/>
          </a:xfrm>
          <a:prstGeom prst="rect">
            <a:avLst/>
          </a:prstGeom>
          <a:solidFill>
            <a:schemeClr val="accent1"/>
          </a:solidFill>
          <a:ln/>
        </p:spPr>
      </p:sp>
      <p:sp>
        <p:nvSpPr>
          <p:cNvPr id="29" name="Text 26"/>
          <p:cNvSpPr txBox="1"/>
          <p:nvPr/>
        </p:nvSpPr>
        <p:spPr>
          <a:xfrm>
            <a:off x="658368" y="210312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Coinvolgimento specialistico</a:t>
            </a:r>
            <a:endParaRPr lang="en-US" sz="1100" dirty="0"/>
          </a:p>
        </p:txBody>
      </p:sp>
      <p:sp>
        <p:nvSpPr>
          <p:cNvPr id="30" name="Text 27"/>
          <p:cNvSpPr txBox="1"/>
          <p:nvPr/>
        </p:nvSpPr>
        <p:spPr>
          <a:xfrm>
            <a:off x="658368" y="2395728"/>
            <a:ext cx="3611880" cy="1124712"/>
          </a:xfrm>
          <a:prstGeom prst="rect">
            <a:avLst/>
          </a:prstGeom>
          <a:noFill/>
          <a:ln/>
        </p:spPr>
        <p:txBody>
          <a:bodyPr wrap="square" lIns="0" tIns="0" rIns="0" bIns="0" rtlCol="0" anchor="t"/>
          <a:lstStyle/>
          <a:p>
            <a:pPr indent="0" marL="0">
              <a:buNone/>
            </a:pPr>
            <a:r>
              <a:rPr lang="en-US" sz="1200" dirty="0">
                <a:solidFill>
                  <a:schemeClr val="tx1"/>
                </a:solidFill>
              </a:rPr>
              <a:t>Per gli usi più sensibili: alto rischio, decisioni sulle persone, dati delicati. Competenze legali, tecniche, di protezione dei dati.</a:t>
            </a:r>
            <a:endParaRPr lang="en-US" sz="1200" dirty="0"/>
          </a:p>
        </p:txBody>
      </p:sp>
      <p:sp>
        <p:nvSpPr>
          <p:cNvPr id="31" name="riquadro Rischio residuo"/>
          <p:cNvSpPr/>
          <p:nvPr/>
        </p:nvSpPr>
        <p:spPr>
          <a:xfrm>
            <a:off x="4709160" y="2011680"/>
            <a:ext cx="3977640" cy="1600200"/>
          </a:xfrm>
          <a:prstGeom prst="roundRect">
            <a:avLst>
              <a:gd name="adj" fmla="val 4571"/>
            </a:avLst>
          </a:prstGeom>
          <a:solidFill>
            <a:schemeClr val="accent6"/>
          </a:solidFill>
          <a:ln/>
        </p:spPr>
      </p:sp>
      <p:sp>
        <p:nvSpPr>
          <p:cNvPr id="32" name="barra"/>
          <p:cNvSpPr/>
          <p:nvPr/>
        </p:nvSpPr>
        <p:spPr>
          <a:xfrm>
            <a:off x="4709160" y="2121408"/>
            <a:ext cx="54864" cy="1380744"/>
          </a:xfrm>
          <a:prstGeom prst="rect">
            <a:avLst/>
          </a:prstGeom>
          <a:solidFill>
            <a:schemeClr val="accent1"/>
          </a:solidFill>
          <a:ln/>
        </p:spPr>
      </p:sp>
      <p:sp>
        <p:nvSpPr>
          <p:cNvPr id="33" name="Text 30"/>
          <p:cNvSpPr txBox="1"/>
          <p:nvPr/>
        </p:nvSpPr>
        <p:spPr>
          <a:xfrm>
            <a:off x="4910328" y="210312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Rischio residuo</a:t>
            </a:r>
            <a:endParaRPr lang="en-US" sz="1100" dirty="0"/>
          </a:p>
        </p:txBody>
      </p:sp>
      <p:sp>
        <p:nvSpPr>
          <p:cNvPr id="34" name="Text 31"/>
          <p:cNvSpPr txBox="1"/>
          <p:nvPr/>
        </p:nvSpPr>
        <p:spPr>
          <a:xfrm>
            <a:off x="4910328" y="2395728"/>
            <a:ext cx="3611880" cy="1124712"/>
          </a:xfrm>
          <a:prstGeom prst="rect">
            <a:avLst/>
          </a:prstGeom>
          <a:noFill/>
          <a:ln/>
        </p:spPr>
        <p:txBody>
          <a:bodyPr wrap="square" lIns="0" tIns="0" rIns="0" bIns="0" rtlCol="0" anchor="t"/>
          <a:lstStyle/>
          <a:p>
            <a:pPr indent="0" marL="0">
              <a:buNone/>
            </a:pPr>
            <a:r>
              <a:rPr lang="en-US" sz="1200" dirty="0">
                <a:solidFill>
                  <a:schemeClr val="tx1"/>
                </a:solidFill>
              </a:rPr>
              <a:t>Nessun controllo elimina tutti i rischi: riconoscere, valutare, accettare consapevolmente, ridurre o evitare.</a:t>
            </a:r>
            <a:endParaRPr lang="en-US" sz="1200" dirty="0"/>
          </a:p>
        </p:txBody>
      </p:sp>
      <p:sp>
        <p:nvSpPr>
          <p:cNvPr id="35" name="messaggio"/>
          <p:cNvSpPr/>
          <p:nvPr/>
        </p:nvSpPr>
        <p:spPr>
          <a:xfrm>
            <a:off x="457200" y="3767328"/>
            <a:ext cx="8229600" cy="731520"/>
          </a:xfrm>
          <a:prstGeom prst="roundRect">
            <a:avLst>
              <a:gd name="adj" fmla="val 10000"/>
            </a:avLst>
          </a:prstGeom>
          <a:solidFill>
            <a:schemeClr val="tx1"/>
          </a:solidFill>
          <a:ln/>
        </p:spPr>
      </p:sp>
      <p:sp>
        <p:nvSpPr>
          <p:cNvPr id="36" name="Text 33"/>
          <p:cNvSpPr txBox="1"/>
          <p:nvPr/>
        </p:nvSpPr>
        <p:spPr>
          <a:xfrm>
            <a:off x="640080" y="3767328"/>
            <a:ext cx="7863840" cy="731520"/>
          </a:xfrm>
          <a:prstGeom prst="rect">
            <a:avLst/>
          </a:prstGeom>
          <a:noFill/>
          <a:ln/>
        </p:spPr>
        <p:txBody>
          <a:bodyPr wrap="square" lIns="0" tIns="0" rIns="0" bIns="0" rtlCol="0" anchor="ctr"/>
          <a:lstStyle/>
          <a:p>
            <a:pPr indent="0" marL="0">
              <a:buNone/>
            </a:pPr>
            <a:r>
              <a:rPr lang="en-US" sz="1300" dirty="0">
                <a:solidFill>
                  <a:schemeClr val="bg1"/>
                </a:solidFill>
              </a:rPr>
              <a:t>Efficaci se funzionano nella pratica e sono mantenuti, non solo descritti. Il prodotto conforme non elimina le verifiche.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 controlli sono efficaci quando funzionano nella pratica e sono mantenuti nel tempo, non soltanto quando risultano descritti.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18.6  ·  Rischi, controlli e supervisione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literacy e responsabilità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misure formative devono essere commisurate a persone, ruoli, sistemi e contesti d'uso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cos'è l'AI literacy</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riquadro Definizione (art. 3 AI Act, in sintesi)"/>
          <p:cNvSpPr/>
          <p:nvPr/>
        </p:nvSpPr>
        <p:spPr>
          <a:xfrm>
            <a:off x="457200" y="1051560"/>
            <a:ext cx="8229600" cy="1051560"/>
          </a:xfrm>
          <a:prstGeom prst="roundRect">
            <a:avLst>
              <a:gd name="adj" fmla="val 6957"/>
            </a:avLst>
          </a:prstGeom>
          <a:solidFill>
            <a:schemeClr val="accent6"/>
          </a:solidFill>
          <a:ln/>
        </p:spPr>
      </p:sp>
      <p:sp>
        <p:nvSpPr>
          <p:cNvPr id="17" name="barra"/>
          <p:cNvSpPr/>
          <p:nvPr/>
        </p:nvSpPr>
        <p:spPr>
          <a:xfrm>
            <a:off x="457200" y="1161288"/>
            <a:ext cx="54864" cy="832104"/>
          </a:xfrm>
          <a:prstGeom prst="rect">
            <a:avLst/>
          </a:prstGeom>
          <a:solidFill>
            <a:schemeClr val="accent1"/>
          </a:solidFill>
          <a:ln/>
        </p:spPr>
      </p:sp>
      <p:sp>
        <p:nvSpPr>
          <p:cNvPr id="18" name="Text 15"/>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Definizione (art. 3 AI Act, in sintesi)</a:t>
            </a:r>
            <a:endParaRPr lang="en-US" sz="1100" dirty="0"/>
          </a:p>
        </p:txBody>
      </p:sp>
      <p:sp>
        <p:nvSpPr>
          <p:cNvPr id="19" name="Text 16"/>
          <p:cNvSpPr txBox="1"/>
          <p:nvPr/>
        </p:nvSpPr>
        <p:spPr>
          <a:xfrm>
            <a:off x="658368" y="1435608"/>
            <a:ext cx="7863840" cy="576072"/>
          </a:xfrm>
          <a:prstGeom prst="rect">
            <a:avLst/>
          </a:prstGeom>
          <a:noFill/>
          <a:ln/>
        </p:spPr>
        <p:txBody>
          <a:bodyPr wrap="square" lIns="0" tIns="0" rIns="0" bIns="0" rtlCol="0" anchor="t"/>
          <a:lstStyle/>
          <a:p>
            <a:pPr indent="0" marL="0">
              <a:buNone/>
            </a:pPr>
            <a:r>
              <a:rPr lang="en-US" sz="1300" dirty="0">
                <a:solidFill>
                  <a:schemeClr val="tx1"/>
                </a:solidFill>
              </a:rPr>
              <a:t>Competenze, conoscenze e comprensione che consentono a fornitori, deployer e persone interessate di usare i sistemi di AI in modo informato, consapevoli di opportunità, rischi e possibili danni.</a:t>
            </a:r>
            <a:endParaRPr lang="en-US" sz="1300" dirty="0"/>
          </a:p>
        </p:txBody>
      </p:sp>
      <p:sp>
        <p:nvSpPr>
          <p:cNvPr id="20" name="Competenze e comprensione"/>
          <p:cNvSpPr/>
          <p:nvPr/>
        </p:nvSpPr>
        <p:spPr>
          <a:xfrm>
            <a:off x="457200" y="2240280"/>
            <a:ext cx="2621280" cy="1508760"/>
          </a:xfrm>
          <a:prstGeom prst="roundRect">
            <a:avLst>
              <a:gd name="adj" fmla="val 4848"/>
            </a:avLst>
          </a:prstGeom>
          <a:solidFill>
            <a:schemeClr val="bg2"/>
          </a:solidFill>
          <a:ln/>
        </p:spPr>
      </p:sp>
      <p:sp>
        <p:nvSpPr>
          <p:cNvPr id="21" name="cerchio FiLayers"/>
          <p:cNvSpPr/>
          <p:nvPr/>
        </p:nvSpPr>
        <p:spPr>
          <a:xfrm>
            <a:off x="621792" y="2404872"/>
            <a:ext cx="438912" cy="438912"/>
          </a:xfrm>
          <a:prstGeom prst="ellipse">
            <a:avLst/>
          </a:prstGeom>
          <a:solidFill>
            <a:schemeClr val="accent1"/>
          </a:solidFill>
          <a:ln/>
        </p:spPr>
      </p:sp>
      <p:pic>
        <p:nvPicPr>
          <p:cNvPr id="22" name="Image 0" descr="FiLayers">    </p:cNvPr>
          <p:cNvPicPr>
            <a:picLocks noChangeAspect="1"/>
          </p:cNvPicPr>
          <p:nvPr/>
        </p:nvPicPr>
        <p:blipFill>
          <a:blip r:embed="rId1"/>
          <a:stretch>
            <a:fillRect/>
          </a:stretch>
        </p:blipFill>
        <p:spPr>
          <a:xfrm>
            <a:off x="731520" y="2514600"/>
            <a:ext cx="219456" cy="219456"/>
          </a:xfrm>
          <a:prstGeom prst="rect">
            <a:avLst/>
          </a:prstGeom>
        </p:spPr>
      </p:pic>
      <p:sp>
        <p:nvSpPr>
          <p:cNvPr id="23" name="Text 19"/>
          <p:cNvSpPr txBox="1"/>
          <p:nvPr/>
        </p:nvSpPr>
        <p:spPr>
          <a:xfrm>
            <a:off x="1170432" y="2368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Competenze e comprensione</a:t>
            </a:r>
            <a:endParaRPr lang="en-US" sz="1300" dirty="0"/>
          </a:p>
        </p:txBody>
      </p:sp>
      <p:sp>
        <p:nvSpPr>
          <p:cNvPr id="24" name="Text 20"/>
          <p:cNvSpPr txBox="1"/>
          <p:nvPr/>
        </p:nvSpPr>
        <p:spPr>
          <a:xfrm>
            <a:off x="621792" y="2953512"/>
            <a:ext cx="2292096" cy="704088"/>
          </a:xfrm>
          <a:prstGeom prst="rect">
            <a:avLst/>
          </a:prstGeom>
          <a:noFill/>
          <a:ln/>
        </p:spPr>
        <p:txBody>
          <a:bodyPr wrap="square" lIns="0" tIns="0" rIns="0" bIns="0" rtlCol="0" anchor="t"/>
          <a:lstStyle/>
          <a:p>
            <a:pPr indent="0" marL="0">
              <a:buNone/>
            </a:pPr>
            <a:r>
              <a:rPr lang="en-US" sz="1200" dirty="0">
                <a:solidFill>
                  <a:schemeClr val="tx2"/>
                </a:solidFill>
              </a:rPr>
              <a:t>Non solo sapere come funziona: saper usare e valutare</a:t>
            </a:r>
            <a:endParaRPr lang="en-US" sz="1200" dirty="0"/>
          </a:p>
        </p:txBody>
      </p:sp>
      <p:sp>
        <p:nvSpPr>
          <p:cNvPr id="25" name="Relativa al ruolo"/>
          <p:cNvSpPr/>
          <p:nvPr/>
        </p:nvSpPr>
        <p:spPr>
          <a:xfrm>
            <a:off x="3261360" y="2240280"/>
            <a:ext cx="2621280" cy="1508760"/>
          </a:xfrm>
          <a:prstGeom prst="roundRect">
            <a:avLst>
              <a:gd name="adj" fmla="val 4848"/>
            </a:avLst>
          </a:prstGeom>
          <a:solidFill>
            <a:schemeClr val="bg2"/>
          </a:solidFill>
          <a:ln/>
        </p:spPr>
      </p:sp>
      <p:sp>
        <p:nvSpPr>
          <p:cNvPr id="26" name="cerchio FiUsers"/>
          <p:cNvSpPr/>
          <p:nvPr/>
        </p:nvSpPr>
        <p:spPr>
          <a:xfrm>
            <a:off x="3425952" y="2404872"/>
            <a:ext cx="438912" cy="438912"/>
          </a:xfrm>
          <a:prstGeom prst="ellipse">
            <a:avLst/>
          </a:prstGeom>
          <a:solidFill>
            <a:schemeClr val="accent1"/>
          </a:solidFill>
          <a:ln/>
        </p:spPr>
      </p:sp>
      <p:pic>
        <p:nvPicPr>
          <p:cNvPr id="27" name="Image 1" descr="FiUsers">    </p:cNvPr>
          <p:cNvPicPr>
            <a:picLocks noChangeAspect="1"/>
          </p:cNvPicPr>
          <p:nvPr/>
        </p:nvPicPr>
        <p:blipFill>
          <a:blip r:embed="rId2"/>
          <a:stretch>
            <a:fillRect/>
          </a:stretch>
        </p:blipFill>
        <p:spPr>
          <a:xfrm>
            <a:off x="3535680" y="2514600"/>
            <a:ext cx="219456" cy="219456"/>
          </a:xfrm>
          <a:prstGeom prst="rect">
            <a:avLst/>
          </a:prstGeom>
        </p:spPr>
      </p:pic>
      <p:sp>
        <p:nvSpPr>
          <p:cNvPr id="28" name="Text 23"/>
          <p:cNvSpPr txBox="1"/>
          <p:nvPr/>
        </p:nvSpPr>
        <p:spPr>
          <a:xfrm>
            <a:off x="3974592" y="2368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Relativa al ruolo</a:t>
            </a:r>
            <a:endParaRPr lang="en-US" sz="1300" dirty="0"/>
          </a:p>
        </p:txBody>
      </p:sp>
      <p:sp>
        <p:nvSpPr>
          <p:cNvPr id="29" name="Text 24"/>
          <p:cNvSpPr txBox="1"/>
          <p:nvPr/>
        </p:nvSpPr>
        <p:spPr>
          <a:xfrm>
            <a:off x="3425952" y="2953512"/>
            <a:ext cx="2292096" cy="704088"/>
          </a:xfrm>
          <a:prstGeom prst="rect">
            <a:avLst/>
          </a:prstGeom>
          <a:noFill/>
          <a:ln/>
        </p:spPr>
        <p:txBody>
          <a:bodyPr wrap="square" lIns="0" tIns="0" rIns="0" bIns="0" rtlCol="0" anchor="t"/>
          <a:lstStyle/>
          <a:p>
            <a:pPr indent="0" marL="0">
              <a:buNone/>
            </a:pPr>
            <a:r>
              <a:rPr lang="en-US" sz="1200" dirty="0">
                <a:solidFill>
                  <a:schemeClr val="tx2"/>
                </a:solidFill>
              </a:rPr>
              <a:t>Fornitore, deployer, persona interessata, contesto</a:t>
            </a:r>
            <a:endParaRPr lang="en-US" sz="1200" dirty="0"/>
          </a:p>
        </p:txBody>
      </p:sp>
      <p:sp>
        <p:nvSpPr>
          <p:cNvPr id="30" name="Opportunità e rischi"/>
          <p:cNvSpPr/>
          <p:nvPr/>
        </p:nvSpPr>
        <p:spPr>
          <a:xfrm>
            <a:off x="6065520" y="2240280"/>
            <a:ext cx="2621280" cy="1508760"/>
          </a:xfrm>
          <a:prstGeom prst="roundRect">
            <a:avLst>
              <a:gd name="adj" fmla="val 4848"/>
            </a:avLst>
          </a:prstGeom>
          <a:solidFill>
            <a:schemeClr val="bg2"/>
          </a:solidFill>
          <a:ln/>
        </p:spPr>
      </p:sp>
      <p:sp>
        <p:nvSpPr>
          <p:cNvPr id="31" name="cerchio FiTrendingUp"/>
          <p:cNvSpPr/>
          <p:nvPr/>
        </p:nvSpPr>
        <p:spPr>
          <a:xfrm>
            <a:off x="6230112" y="2404872"/>
            <a:ext cx="438912" cy="438912"/>
          </a:xfrm>
          <a:prstGeom prst="ellipse">
            <a:avLst/>
          </a:prstGeom>
          <a:solidFill>
            <a:schemeClr val="accent1"/>
          </a:solidFill>
          <a:ln/>
        </p:spPr>
      </p:sp>
      <p:pic>
        <p:nvPicPr>
          <p:cNvPr id="32" name="Image 2" descr="FiTrendingUp">    </p:cNvPr>
          <p:cNvPicPr>
            <a:picLocks noChangeAspect="1"/>
          </p:cNvPicPr>
          <p:nvPr/>
        </p:nvPicPr>
        <p:blipFill>
          <a:blip r:embed="rId3"/>
          <a:stretch>
            <a:fillRect/>
          </a:stretch>
        </p:blipFill>
        <p:spPr>
          <a:xfrm>
            <a:off x="6339840" y="2514600"/>
            <a:ext cx="219456" cy="219456"/>
          </a:xfrm>
          <a:prstGeom prst="rect">
            <a:avLst/>
          </a:prstGeom>
        </p:spPr>
      </p:pic>
      <p:sp>
        <p:nvSpPr>
          <p:cNvPr id="33" name="Text 27"/>
          <p:cNvSpPr txBox="1"/>
          <p:nvPr/>
        </p:nvSpPr>
        <p:spPr>
          <a:xfrm>
            <a:off x="6778752" y="236829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Opportunità e rischi</a:t>
            </a:r>
            <a:endParaRPr lang="en-US" sz="1300" dirty="0"/>
          </a:p>
        </p:txBody>
      </p:sp>
      <p:sp>
        <p:nvSpPr>
          <p:cNvPr id="34" name="Text 28"/>
          <p:cNvSpPr txBox="1"/>
          <p:nvPr/>
        </p:nvSpPr>
        <p:spPr>
          <a:xfrm>
            <a:off x="6230112" y="2953512"/>
            <a:ext cx="2292096" cy="704088"/>
          </a:xfrm>
          <a:prstGeom prst="rect">
            <a:avLst/>
          </a:prstGeom>
          <a:noFill/>
          <a:ln/>
        </p:spPr>
        <p:txBody>
          <a:bodyPr wrap="square" lIns="0" tIns="0" rIns="0" bIns="0" rtlCol="0" anchor="t"/>
          <a:lstStyle/>
          <a:p>
            <a:pPr indent="0" marL="0">
              <a:buNone/>
            </a:pPr>
            <a:r>
              <a:rPr lang="en-US" sz="1200" dirty="0">
                <a:solidFill>
                  <a:schemeClr val="tx2"/>
                </a:solidFill>
              </a:rPr>
              <a:t>Non solo prudenza: anche cogliere il valore</a:t>
            </a:r>
            <a:endParaRPr lang="en-US" sz="1200" dirty="0"/>
          </a:p>
        </p:txBody>
      </p:sp>
      <p:sp>
        <p:nvSpPr>
          <p:cNvPr id="35" name="messaggio"/>
          <p:cNvSpPr/>
          <p:nvPr/>
        </p:nvSpPr>
        <p:spPr>
          <a:xfrm>
            <a:off x="457200" y="3931920"/>
            <a:ext cx="8229600" cy="548640"/>
          </a:xfrm>
          <a:prstGeom prst="roundRect">
            <a:avLst>
              <a:gd name="adj" fmla="val 13333"/>
            </a:avLst>
          </a:prstGeom>
          <a:solidFill>
            <a:schemeClr val="tx1"/>
          </a:solidFill>
          <a:ln/>
        </p:spPr>
      </p:sp>
      <p:sp>
        <p:nvSpPr>
          <p:cNvPr id="36" name="Text 30"/>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400" dirty="0">
                <a:solidFill>
                  <a:schemeClr val="bg1"/>
                </a:solidFill>
              </a:rPr>
              <a:t>L'impostazione di questo percorso: fondamenti, interazione, possibilità, valore, uso responsabile.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L'articolo 4, prima e dopo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scheda Testo originale (dal 2 feb 2025)"/>
          <p:cNvSpPr/>
          <p:nvPr/>
        </p:nvSpPr>
        <p:spPr>
          <a:xfrm>
            <a:off x="457200" y="1051560"/>
            <a:ext cx="3977640" cy="2514600"/>
          </a:xfrm>
          <a:prstGeom prst="roundRect">
            <a:avLst>
              <a:gd name="adj" fmla="val 2909"/>
            </a:avLst>
          </a:prstGeom>
          <a:solidFill>
            <a:schemeClr val="bg2"/>
          </a:solidFill>
          <a:ln/>
        </p:spPr>
      </p:sp>
      <p:sp>
        <p:nvSpPr>
          <p:cNvPr id="17" name="cerchio FiFileText"/>
          <p:cNvSpPr/>
          <p:nvPr/>
        </p:nvSpPr>
        <p:spPr>
          <a:xfrm>
            <a:off x="640080" y="1234440"/>
            <a:ext cx="457200" cy="457200"/>
          </a:xfrm>
          <a:prstGeom prst="ellipse">
            <a:avLst/>
          </a:prstGeom>
          <a:solidFill>
            <a:schemeClr val="accent1"/>
          </a:solidFill>
          <a:ln/>
        </p:spPr>
      </p:sp>
      <p:sp>
        <p:nvSpPr>
          <p:cNvPr id="18" name="scheda Dopo il Digital Omnibus (dal 27 lug 2026)"/>
          <p:cNvSpPr/>
          <p:nvPr/>
        </p:nvSpPr>
        <p:spPr>
          <a:xfrm>
            <a:off x="4709160" y="1051560"/>
            <a:ext cx="3977640" cy="2514600"/>
          </a:xfrm>
          <a:prstGeom prst="roundRect">
            <a:avLst>
              <a:gd name="adj" fmla="val 2909"/>
            </a:avLst>
          </a:prstGeom>
          <a:solidFill>
            <a:schemeClr val="accent6"/>
          </a:solidFill>
          <a:ln/>
        </p:spPr>
      </p:sp>
      <p:sp>
        <p:nvSpPr>
          <p:cNvPr id="19" name="cerchio FiRefreshCw"/>
          <p:cNvSpPr/>
          <p:nvPr/>
        </p:nvSpPr>
        <p:spPr>
          <a:xfrm>
            <a:off x="4892040" y="1234440"/>
            <a:ext cx="457200" cy="457200"/>
          </a:xfrm>
          <a:prstGeom prst="ellipse">
            <a:avLst/>
          </a:prstGeom>
          <a:solidFill>
            <a:schemeClr val="accent1"/>
          </a:solidFill>
          <a:ln/>
        </p:spPr>
      </p:sp>
      <p:pic>
        <p:nvPicPr>
          <p:cNvPr id="20" name="Image 0" descr="FiFileText">    </p:cNvPr>
          <p:cNvPicPr>
            <a:picLocks noChangeAspect="1"/>
          </p:cNvPicPr>
          <p:nvPr/>
        </p:nvPicPr>
        <p:blipFill>
          <a:blip r:embed="rId1"/>
          <a:stretch>
            <a:fillRect/>
          </a:stretch>
        </p:blipFill>
        <p:spPr>
          <a:xfrm>
            <a:off x="754380" y="1348740"/>
            <a:ext cx="228600" cy="228600"/>
          </a:xfrm>
          <a:prstGeom prst="rect">
            <a:avLst/>
          </a:prstGeom>
        </p:spPr>
      </p:pic>
      <p:pic>
        <p:nvPicPr>
          <p:cNvPr id="21" name="Image 1" descr="FiRefreshCw">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Testo originale (dal 2 feb 2025)</a:t>
            </a:r>
            <a:endParaRPr lang="en-US" sz="1500" dirty="0"/>
          </a:p>
        </p:txBody>
      </p:sp>
      <p:sp>
        <p:nvSpPr>
          <p:cNvPr id="23" name="Text 18"/>
          <p:cNvSpPr txBox="1"/>
          <p:nvPr/>
        </p:nvSpPr>
        <p:spPr>
          <a:xfrm>
            <a:off x="640080" y="2185416"/>
            <a:ext cx="3611880" cy="1271016"/>
          </a:xfrm>
          <a:prstGeom prst="rect">
            <a:avLst/>
          </a:prstGeom>
          <a:noFill/>
          <a:ln/>
        </p:spPr>
        <p:txBody>
          <a:bodyPr wrap="square" lIns="0" tIns="0" rIns="0" bIns="0" rtlCol="0" anchor="t"/>
          <a:lstStyle/>
          <a:p>
            <a:pPr indent="0" marL="0">
              <a:buNone/>
            </a:pPr>
            <a:r>
              <a:rPr lang="en-US" sz="1300" dirty="0">
                <a:solidFill>
                  <a:schemeClr val="tx2"/>
                </a:solidFill>
              </a:rPr>
              <a:t>Misure per garantire, nella misura del possibile, un livello sufficiente di alfabetizzazione, tenendo conto di conoscenze, esperienza, formazione, contesto e persone interessate.</a:t>
            </a:r>
            <a:endParaRPr lang="en-US" sz="1300" dirty="0"/>
          </a:p>
        </p:txBody>
      </p:sp>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Dopo il Digital Omnibus (dal 27 lug 2026)</a:t>
            </a:r>
            <a:endParaRPr lang="en-US" sz="1500" dirty="0"/>
          </a:p>
        </p:txBody>
      </p:sp>
      <p:sp>
        <p:nvSpPr>
          <p:cNvPr id="25" name="Text 20"/>
          <p:cNvSpPr txBox="1"/>
          <p:nvPr/>
        </p:nvSpPr>
        <p:spPr>
          <a:xfrm>
            <a:off x="4892040" y="2185416"/>
            <a:ext cx="3611880" cy="1271016"/>
          </a:xfrm>
          <a:prstGeom prst="rect">
            <a:avLst/>
          </a:prstGeom>
          <a:noFill/>
          <a:ln/>
        </p:spPr>
        <p:txBody>
          <a:bodyPr wrap="square" lIns="0" tIns="0" rIns="0" bIns="0" rtlCol="0" anchor="t"/>
          <a:lstStyle/>
          <a:p>
            <a:pPr indent="0" marL="0">
              <a:buNone/>
            </a:pPr>
            <a:r>
              <a:rPr lang="en-US" sz="1300" dirty="0">
                <a:solidFill>
                  <a:schemeClr val="tx2"/>
                </a:solidFill>
              </a:rPr>
              <a:t>Misure per sostenere lo sviluppo dell'alfabetizzazione; nessun obbligo di garantire un livello specifico per ciascun individuo. Commissione e Stati membri sostengono, specie le PMI.</a:t>
            </a:r>
            <a:endParaRPr lang="en-US" sz="1300" dirty="0"/>
          </a:p>
        </p:txBody>
      </p:sp>
      <p:sp>
        <p:nvSpPr>
          <p:cNvPr id="26" name="messaggio"/>
          <p:cNvSpPr/>
          <p:nvPr/>
        </p:nvSpPr>
        <p:spPr>
          <a:xfrm>
            <a:off x="457200" y="3749040"/>
            <a:ext cx="8229600" cy="731520"/>
          </a:xfrm>
          <a:prstGeom prst="roundRect">
            <a:avLst>
              <a:gd name="adj" fmla="val 10000"/>
            </a:avLst>
          </a:prstGeom>
          <a:solidFill>
            <a:schemeClr val="tx1"/>
          </a:solidFill>
          <a:ln/>
        </p:spPr>
      </p:sp>
      <p:sp>
        <p:nvSpPr>
          <p:cNvPr id="27" name="Text 22"/>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L'obbligo resta: adottare misure, non garantire un risultato individuale. Verificare sul testo ufficiale vigente.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Misure commisurate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Base comune"/>
          <p:cNvSpPr/>
          <p:nvPr/>
        </p:nvSpPr>
        <p:spPr>
          <a:xfrm>
            <a:off x="457200" y="1024128"/>
            <a:ext cx="8229600" cy="640080"/>
          </a:xfrm>
          <a:prstGeom prst="roundRect">
            <a:avLst>
              <a:gd name="adj" fmla="val 11429"/>
            </a:avLst>
          </a:prstGeom>
          <a:solidFill>
            <a:schemeClr val="bg2"/>
          </a:solidFill>
          <a:ln/>
        </p:spPr>
      </p:sp>
      <p:sp>
        <p:nvSpPr>
          <p:cNvPr id="17" name="Text 14"/>
          <p:cNvSpPr txBox="1"/>
          <p:nvPr/>
        </p:nvSpPr>
        <p:spPr>
          <a:xfrm>
            <a:off x="640080" y="1024128"/>
            <a:ext cx="1645920" cy="640080"/>
          </a:xfrm>
          <a:prstGeom prst="rect">
            <a:avLst/>
          </a:prstGeom>
          <a:noFill/>
          <a:ln/>
        </p:spPr>
        <p:txBody>
          <a:bodyPr wrap="square" lIns="0" tIns="0" rIns="0" bIns="0" rtlCol="0" anchor="ctr"/>
          <a:lstStyle/>
          <a:p>
            <a:pPr indent="0" marL="0">
              <a:buNone/>
            </a:pPr>
            <a:r>
              <a:rPr lang="en-US" sz="1400" b="1" dirty="0">
                <a:solidFill>
                  <a:schemeClr val="accent1"/>
                </a:solidFill>
              </a:rPr>
              <a:t>Base comune</a:t>
            </a:r>
            <a:endParaRPr lang="en-US" sz="1400" dirty="0"/>
          </a:p>
        </p:txBody>
      </p:sp>
      <p:sp>
        <p:nvSpPr>
          <p:cNvPr id="18" name="Text 15"/>
          <p:cNvSpPr txBox="1"/>
          <p:nvPr/>
        </p:nvSpPr>
        <p:spPr>
          <a:xfrm>
            <a:off x="2286000" y="1060704"/>
            <a:ext cx="6309360" cy="310896"/>
          </a:xfrm>
          <a:prstGeom prst="rect">
            <a:avLst/>
          </a:prstGeom>
          <a:noFill/>
          <a:ln/>
        </p:spPr>
        <p:txBody>
          <a:bodyPr wrap="square" lIns="0" tIns="0" rIns="0" bIns="0" rtlCol="0" anchor="t"/>
          <a:lstStyle/>
          <a:p>
            <a:pPr indent="0" marL="0">
              <a:buNone/>
            </a:pPr>
            <a:r>
              <a:rPr lang="en-US" sz="1200" dirty="0">
                <a:solidFill>
                  <a:schemeClr val="tx1"/>
                </a:solidFill>
              </a:rPr>
              <a:t>Per tutti: sistemi, uso, rischi, regole aziendali</a:t>
            </a:r>
            <a:endParaRPr lang="en-US" sz="1200" dirty="0"/>
          </a:p>
        </p:txBody>
      </p:sp>
      <p:sp>
        <p:nvSpPr>
          <p:cNvPr id="19" name="Text 16"/>
          <p:cNvSpPr txBox="1"/>
          <p:nvPr/>
        </p:nvSpPr>
        <p:spPr>
          <a:xfrm>
            <a:off x="2286000" y="1353312"/>
            <a:ext cx="6309360" cy="274320"/>
          </a:xfrm>
          <a:prstGeom prst="rect">
            <a:avLst/>
          </a:prstGeom>
          <a:noFill/>
          <a:ln/>
        </p:spPr>
        <p:txBody>
          <a:bodyPr wrap="square" lIns="0" tIns="0" rIns="0" bIns="0" rtlCol="0" anchor="t"/>
          <a:lstStyle/>
          <a:p>
            <a:pPr indent="0" marL="0">
              <a:buNone/>
            </a:pPr>
            <a:r>
              <a:rPr lang="en-US" sz="1100" i="1" dirty="0">
                <a:solidFill>
                  <a:schemeClr val="tx2"/>
                </a:solidFill>
              </a:rPr>
              <a:t>Un percorso di AI Awareness</a:t>
            </a:r>
            <a:endParaRPr lang="en-US" sz="1100" dirty="0"/>
          </a:p>
        </p:txBody>
      </p:sp>
      <p:sp>
        <p:nvSpPr>
          <p:cNvPr id="20" name="Per ruolo"/>
          <p:cNvSpPr/>
          <p:nvPr/>
        </p:nvSpPr>
        <p:spPr>
          <a:xfrm>
            <a:off x="457200" y="1737360"/>
            <a:ext cx="8229600" cy="640080"/>
          </a:xfrm>
          <a:prstGeom prst="roundRect">
            <a:avLst>
              <a:gd name="adj" fmla="val 11429"/>
            </a:avLst>
          </a:prstGeom>
          <a:solidFill>
            <a:schemeClr val="accent6"/>
          </a:solidFill>
          <a:ln/>
        </p:spPr>
      </p:sp>
      <p:sp>
        <p:nvSpPr>
          <p:cNvPr id="21" name="Text 18"/>
          <p:cNvSpPr txBox="1"/>
          <p:nvPr/>
        </p:nvSpPr>
        <p:spPr>
          <a:xfrm>
            <a:off x="640080" y="1737360"/>
            <a:ext cx="1645920" cy="640080"/>
          </a:xfrm>
          <a:prstGeom prst="rect">
            <a:avLst/>
          </a:prstGeom>
          <a:noFill/>
          <a:ln/>
        </p:spPr>
        <p:txBody>
          <a:bodyPr wrap="square" lIns="0" tIns="0" rIns="0" bIns="0" rtlCol="0" anchor="ctr"/>
          <a:lstStyle/>
          <a:p>
            <a:pPr indent="0" marL="0">
              <a:buNone/>
            </a:pPr>
            <a:r>
              <a:rPr lang="en-US" sz="1400" b="1" dirty="0">
                <a:solidFill>
                  <a:schemeClr val="accent1"/>
                </a:solidFill>
              </a:rPr>
              <a:t>Per ruolo</a:t>
            </a:r>
            <a:endParaRPr lang="en-US" sz="1400" dirty="0"/>
          </a:p>
        </p:txBody>
      </p:sp>
      <p:sp>
        <p:nvSpPr>
          <p:cNvPr id="22" name="Text 19"/>
          <p:cNvSpPr txBox="1"/>
          <p:nvPr/>
        </p:nvSpPr>
        <p:spPr>
          <a:xfrm>
            <a:off x="2286000" y="1773936"/>
            <a:ext cx="6309360" cy="310896"/>
          </a:xfrm>
          <a:prstGeom prst="rect">
            <a:avLst/>
          </a:prstGeom>
          <a:noFill/>
          <a:ln/>
        </p:spPr>
        <p:txBody>
          <a:bodyPr wrap="square" lIns="0" tIns="0" rIns="0" bIns="0" rtlCol="0" anchor="t"/>
          <a:lstStyle/>
          <a:p>
            <a:pPr indent="0" marL="0">
              <a:buNone/>
            </a:pPr>
            <a:r>
              <a:rPr lang="en-US" sz="1200" dirty="0">
                <a:solidFill>
                  <a:schemeClr val="tx1"/>
                </a:solidFill>
              </a:rPr>
              <a:t>Clienti, analisi, gestione di persone, selezione, sviluppo, supervisione dell'alto rischio</a:t>
            </a:r>
            <a:endParaRPr lang="en-US" sz="1200" dirty="0"/>
          </a:p>
        </p:txBody>
      </p:sp>
      <p:sp>
        <p:nvSpPr>
          <p:cNvPr id="23" name="Text 20"/>
          <p:cNvSpPr txBox="1"/>
          <p:nvPr/>
        </p:nvSpPr>
        <p:spPr>
          <a:xfrm>
            <a:off x="2286000" y="2066544"/>
            <a:ext cx="6309360" cy="274320"/>
          </a:xfrm>
          <a:prstGeom prst="rect">
            <a:avLst/>
          </a:prstGeom>
          <a:noFill/>
          <a:ln/>
        </p:spPr>
        <p:txBody>
          <a:bodyPr wrap="square" lIns="0" tIns="0" rIns="0" bIns="0" rtlCol="0" anchor="t"/>
          <a:lstStyle/>
          <a:p>
            <a:pPr indent="0" marL="0">
              <a:buNone/>
            </a:pPr>
            <a:r>
              <a:rPr lang="en-US" sz="1100" i="1" dirty="0">
                <a:solidFill>
                  <a:schemeClr val="tx2"/>
                </a:solidFill>
              </a:rPr>
              <a:t>Competenze specifiche</a:t>
            </a:r>
            <a:endParaRPr lang="en-US" sz="1100" dirty="0"/>
          </a:p>
        </p:txBody>
      </p:sp>
      <p:sp>
        <p:nvSpPr>
          <p:cNvPr id="24" name="Sugli strumenti"/>
          <p:cNvSpPr/>
          <p:nvPr/>
        </p:nvSpPr>
        <p:spPr>
          <a:xfrm>
            <a:off x="457200" y="2450592"/>
            <a:ext cx="8229600" cy="640080"/>
          </a:xfrm>
          <a:prstGeom prst="roundRect">
            <a:avLst>
              <a:gd name="adj" fmla="val 11429"/>
            </a:avLst>
          </a:prstGeom>
          <a:solidFill>
            <a:srgbClr val="D9ECEA"/>
          </a:solidFill>
          <a:ln/>
        </p:spPr>
      </p:sp>
      <p:sp>
        <p:nvSpPr>
          <p:cNvPr id="25" name="Text 22"/>
          <p:cNvSpPr txBox="1"/>
          <p:nvPr/>
        </p:nvSpPr>
        <p:spPr>
          <a:xfrm>
            <a:off x="640080" y="2450592"/>
            <a:ext cx="1645920" cy="640080"/>
          </a:xfrm>
          <a:prstGeom prst="rect">
            <a:avLst/>
          </a:prstGeom>
          <a:noFill/>
          <a:ln/>
        </p:spPr>
        <p:txBody>
          <a:bodyPr wrap="square" lIns="0" tIns="0" rIns="0" bIns="0" rtlCol="0" anchor="ctr"/>
          <a:lstStyle/>
          <a:p>
            <a:pPr indent="0" marL="0">
              <a:buNone/>
            </a:pPr>
            <a:r>
              <a:rPr lang="en-US" sz="1400" b="1" dirty="0">
                <a:solidFill>
                  <a:schemeClr val="accent1"/>
                </a:solidFill>
              </a:rPr>
              <a:t>Sugli strumenti</a:t>
            </a:r>
            <a:endParaRPr lang="en-US" sz="1400" dirty="0"/>
          </a:p>
        </p:txBody>
      </p:sp>
      <p:sp>
        <p:nvSpPr>
          <p:cNvPr id="26" name="Text 23"/>
          <p:cNvSpPr txBox="1"/>
          <p:nvPr/>
        </p:nvSpPr>
        <p:spPr>
          <a:xfrm>
            <a:off x="2286000" y="2487168"/>
            <a:ext cx="6309360" cy="310896"/>
          </a:xfrm>
          <a:prstGeom prst="rect">
            <a:avLst/>
          </a:prstGeom>
          <a:noFill/>
          <a:ln/>
        </p:spPr>
        <p:txBody>
          <a:bodyPr wrap="square" lIns="0" tIns="0" rIns="0" bIns="0" rtlCol="0" anchor="t"/>
          <a:lstStyle/>
          <a:p>
            <a:pPr indent="0" marL="0">
              <a:buNone/>
            </a:pPr>
            <a:r>
              <a:rPr lang="en-US" sz="1200" dirty="0">
                <a:solidFill>
                  <a:schemeClr val="tx1"/>
                </a:solidFill>
              </a:rPr>
              <a:t>Caratteristiche e limiti degli strumenti in uso, esercitazioni su attività reali</a:t>
            </a:r>
            <a:endParaRPr lang="en-US" sz="1200" dirty="0"/>
          </a:p>
        </p:txBody>
      </p:sp>
      <p:sp>
        <p:nvSpPr>
          <p:cNvPr id="27" name="Text 24"/>
          <p:cNvSpPr txBox="1"/>
          <p:nvPr/>
        </p:nvSpPr>
        <p:spPr>
          <a:xfrm>
            <a:off x="2286000" y="2779776"/>
            <a:ext cx="6309360" cy="274320"/>
          </a:xfrm>
          <a:prstGeom prst="rect">
            <a:avLst/>
          </a:prstGeom>
          <a:noFill/>
          <a:ln/>
        </p:spPr>
        <p:txBody>
          <a:bodyPr wrap="square" lIns="0" tIns="0" rIns="0" bIns="0" rtlCol="0" anchor="t"/>
          <a:lstStyle/>
          <a:p>
            <a:pPr indent="0" marL="0">
              <a:buNone/>
            </a:pPr>
            <a:r>
              <a:rPr lang="en-US" sz="1100" i="1" dirty="0">
                <a:solidFill>
                  <a:schemeClr val="tx2"/>
                </a:solidFill>
              </a:rPr>
              <a:t>Anche con i materiali dei fornitori</a:t>
            </a:r>
            <a:endParaRPr lang="en-US" sz="1100" dirty="0"/>
          </a:p>
        </p:txBody>
      </p:sp>
      <p:sp>
        <p:nvSpPr>
          <p:cNvPr id="28" name="Aggiornamento"/>
          <p:cNvSpPr/>
          <p:nvPr/>
        </p:nvSpPr>
        <p:spPr>
          <a:xfrm>
            <a:off x="457200" y="3163824"/>
            <a:ext cx="8229600" cy="640080"/>
          </a:xfrm>
          <a:prstGeom prst="roundRect">
            <a:avLst>
              <a:gd name="adj" fmla="val 11429"/>
            </a:avLst>
          </a:prstGeom>
          <a:solidFill>
            <a:srgbClr val="2E7D7A"/>
          </a:solidFill>
          <a:ln/>
        </p:spPr>
      </p:sp>
      <p:sp>
        <p:nvSpPr>
          <p:cNvPr id="29" name="Text 26"/>
          <p:cNvSpPr txBox="1"/>
          <p:nvPr/>
        </p:nvSpPr>
        <p:spPr>
          <a:xfrm>
            <a:off x="640080" y="3163824"/>
            <a:ext cx="1645920" cy="640080"/>
          </a:xfrm>
          <a:prstGeom prst="rect">
            <a:avLst/>
          </a:prstGeom>
          <a:noFill/>
          <a:ln/>
        </p:spPr>
        <p:txBody>
          <a:bodyPr wrap="square" lIns="0" tIns="0" rIns="0" bIns="0" rtlCol="0" anchor="ctr"/>
          <a:lstStyle/>
          <a:p>
            <a:pPr indent="0" marL="0">
              <a:buNone/>
            </a:pPr>
            <a:r>
              <a:rPr lang="en-US" sz="1400" b="1" dirty="0">
                <a:solidFill>
                  <a:schemeClr val="bg1"/>
                </a:solidFill>
              </a:rPr>
              <a:t>Aggiornamento</a:t>
            </a:r>
            <a:endParaRPr lang="en-US" sz="1400" dirty="0"/>
          </a:p>
        </p:txBody>
      </p:sp>
      <p:sp>
        <p:nvSpPr>
          <p:cNvPr id="30" name="Text 27"/>
          <p:cNvSpPr txBox="1"/>
          <p:nvPr/>
        </p:nvSpPr>
        <p:spPr>
          <a:xfrm>
            <a:off x="2286000" y="3200400"/>
            <a:ext cx="6309360" cy="310896"/>
          </a:xfrm>
          <a:prstGeom prst="rect">
            <a:avLst/>
          </a:prstGeom>
          <a:noFill/>
          <a:ln/>
        </p:spPr>
        <p:txBody>
          <a:bodyPr wrap="square" lIns="0" tIns="0" rIns="0" bIns="0" rtlCol="0" anchor="t"/>
          <a:lstStyle/>
          <a:p>
            <a:pPr indent="0" marL="0">
              <a:buNone/>
            </a:pPr>
            <a:r>
              <a:rPr lang="en-US" sz="1200" dirty="0">
                <a:solidFill>
                  <a:schemeClr val="bg1"/>
                </a:solidFill>
              </a:rPr>
              <a:t>Quando cambiano strumenti, usi, regole</a:t>
            </a:r>
            <a:endParaRPr lang="en-US" sz="1200" dirty="0"/>
          </a:p>
        </p:txBody>
      </p:sp>
      <p:sp>
        <p:nvSpPr>
          <p:cNvPr id="31" name="Text 28"/>
          <p:cNvSpPr txBox="1"/>
          <p:nvPr/>
        </p:nvSpPr>
        <p:spPr>
          <a:xfrm>
            <a:off x="2286000" y="3493008"/>
            <a:ext cx="6309360" cy="274320"/>
          </a:xfrm>
          <a:prstGeom prst="rect">
            <a:avLst/>
          </a:prstGeom>
          <a:noFill/>
          <a:ln/>
        </p:spPr>
        <p:txBody>
          <a:bodyPr wrap="square" lIns="0" tIns="0" rIns="0" bIns="0" rtlCol="0" anchor="t"/>
          <a:lstStyle/>
          <a:p>
            <a:pPr indent="0" marL="0">
              <a:buNone/>
            </a:pPr>
            <a:r>
              <a:rPr lang="en-US" sz="1100" i="1" dirty="0">
                <a:solidFill>
                  <a:schemeClr val="accent6"/>
                </a:solidFill>
              </a:rPr>
              <a:t>Continuo</a:t>
            </a:r>
            <a:endParaRPr lang="en-US" sz="1100" dirty="0"/>
          </a:p>
        </p:txBody>
      </p:sp>
      <p:sp>
        <p:nvSpPr>
          <p:cNvPr id="32" name="messaggio"/>
          <p:cNvSpPr/>
          <p:nvPr/>
        </p:nvSpPr>
        <p:spPr>
          <a:xfrm>
            <a:off x="457200" y="3931920"/>
            <a:ext cx="8229600" cy="548640"/>
          </a:xfrm>
          <a:prstGeom prst="roundRect">
            <a:avLst>
              <a:gd name="adj" fmla="val 13333"/>
            </a:avLst>
          </a:prstGeom>
          <a:solidFill>
            <a:schemeClr val="tx1"/>
          </a:solidFill>
          <a:ln/>
        </p:spPr>
      </p:sp>
      <p:sp>
        <p:nvSpPr>
          <p:cNvPr id="33" name="Text 30"/>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500" dirty="0">
                <a:solidFill>
                  <a:schemeClr val="bg1"/>
                </a:solidFill>
              </a:rPr>
              <a:t>Misure commisurate a persone, ruoli, sistemi e contesti d'uso.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C: il corso completato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riquadro Esempio C (fittizio)"/>
          <p:cNvSpPr/>
          <p:nvPr/>
        </p:nvSpPr>
        <p:spPr>
          <a:xfrm>
            <a:off x="457200" y="1051560"/>
            <a:ext cx="8229600" cy="777240"/>
          </a:xfrm>
          <a:prstGeom prst="roundRect">
            <a:avLst>
              <a:gd name="adj" fmla="val 9412"/>
            </a:avLst>
          </a:prstGeom>
          <a:solidFill>
            <a:schemeClr val="accent6"/>
          </a:solidFill>
          <a:ln/>
        </p:spPr>
      </p:sp>
      <p:sp>
        <p:nvSpPr>
          <p:cNvPr id="17" name="barra"/>
          <p:cNvSpPr/>
          <p:nvPr/>
        </p:nvSpPr>
        <p:spPr>
          <a:xfrm>
            <a:off x="457200" y="1161288"/>
            <a:ext cx="54864" cy="557784"/>
          </a:xfrm>
          <a:prstGeom prst="rect">
            <a:avLst/>
          </a:prstGeom>
          <a:solidFill>
            <a:schemeClr val="accent1"/>
          </a:solidFill>
          <a:ln/>
        </p:spPr>
      </p:sp>
      <p:sp>
        <p:nvSpPr>
          <p:cNvPr id="18" name="Text 15"/>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Esempio C (fittizio)</a:t>
            </a:r>
            <a:endParaRPr lang="en-US" sz="1100" dirty="0"/>
          </a:p>
        </p:txBody>
      </p:sp>
      <p:sp>
        <p:nvSpPr>
          <p:cNvPr id="19" name="Text 16"/>
          <p:cNvSpPr txBox="1"/>
          <p:nvPr/>
        </p:nvSpPr>
        <p:spPr>
          <a:xfrm>
            <a:off x="658368" y="1435608"/>
            <a:ext cx="7863840" cy="301752"/>
          </a:xfrm>
          <a:prstGeom prst="rect">
            <a:avLst/>
          </a:prstGeom>
          <a:noFill/>
          <a:ln/>
        </p:spPr>
        <p:txBody>
          <a:bodyPr wrap="square" lIns="0" tIns="0" rIns="0" bIns="0" rtlCol="0" anchor="t"/>
          <a:lstStyle/>
          <a:p>
            <a:pPr indent="0" marL="0">
              <a:buNone/>
            </a:pPr>
            <a:r>
              <a:rPr lang="en-US" sz="1300" dirty="0">
                <a:solidFill>
                  <a:schemeClr val="tx1"/>
                </a:solidFill>
              </a:rPr>
              <a:t>I dipendenti hanno partecipato a un corso introduttivo di AI. La frequenza attesta automaticamente la piena conformità all'articolo 4?</a:t>
            </a:r>
            <a:endParaRPr lang="en-US" sz="1300" dirty="0"/>
          </a:p>
        </p:txBody>
      </p:sp>
      <p:sp>
        <p:nvSpPr>
          <p:cNvPr id="20" name="Text 17"/>
          <p:cNvSpPr txBox="1"/>
          <p:nvPr/>
        </p:nvSpPr>
        <p:spPr>
          <a:xfrm>
            <a:off x="457200" y="1920240"/>
            <a:ext cx="8229600" cy="411480"/>
          </a:xfrm>
          <a:prstGeom prst="rect">
            <a:avLst/>
          </a:prstGeom>
          <a:noFill/>
          <a:ln/>
        </p:spPr>
        <p:txBody>
          <a:bodyPr wrap="square" lIns="0" tIns="0" rIns="0" bIns="0" rtlCol="0" anchor="t"/>
          <a:lstStyle/>
          <a:p>
            <a:pPr indent="0" marL="0">
              <a:buNone/>
            </a:pPr>
            <a:r>
              <a:rPr lang="en-US" sz="1300" b="1" dirty="0">
                <a:solidFill>
                  <a:schemeClr val="accent1"/>
                </a:solidFill>
              </a:rPr>
              <a:t>No. Il corso contribuisce, ma l'adeguatezza delle misure dipende da ruoli, esperienze, sistemi e contesti.</a:t>
            </a:r>
            <a:endParaRPr lang="en-US" sz="1300" dirty="0"/>
          </a:p>
        </p:txBody>
      </p:sp>
      <p:sp>
        <p:nvSpPr>
          <p:cNvPr id="21" name="riquadro Registrare la formazione"/>
          <p:cNvSpPr/>
          <p:nvPr/>
        </p:nvSpPr>
        <p:spPr>
          <a:xfrm>
            <a:off x="457200" y="2423160"/>
            <a:ext cx="3977640" cy="1463040"/>
          </a:xfrm>
          <a:prstGeom prst="roundRect">
            <a:avLst>
              <a:gd name="adj" fmla="val 5000"/>
            </a:avLst>
          </a:prstGeom>
          <a:solidFill>
            <a:schemeClr val="bg2"/>
          </a:solidFill>
          <a:ln/>
        </p:spPr>
      </p:sp>
      <p:sp>
        <p:nvSpPr>
          <p:cNvPr id="22" name="barra"/>
          <p:cNvSpPr/>
          <p:nvPr/>
        </p:nvSpPr>
        <p:spPr>
          <a:xfrm>
            <a:off x="457200" y="2532888"/>
            <a:ext cx="54864" cy="1243584"/>
          </a:xfrm>
          <a:prstGeom prst="rect">
            <a:avLst/>
          </a:prstGeom>
          <a:solidFill>
            <a:schemeClr val="accent1"/>
          </a:solidFill>
          <a:ln/>
        </p:spPr>
      </p:sp>
      <p:sp>
        <p:nvSpPr>
          <p:cNvPr id="23" name="Text 20"/>
          <p:cNvSpPr txBox="1"/>
          <p:nvPr/>
        </p:nvSpPr>
        <p:spPr>
          <a:xfrm>
            <a:off x="658368" y="25146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Registrare la formazione</a:t>
            </a:r>
            <a:endParaRPr lang="en-US" sz="1100" dirty="0"/>
          </a:p>
        </p:txBody>
      </p:sp>
      <p:sp>
        <p:nvSpPr>
          <p:cNvPr id="24" name="Text 21"/>
          <p:cNvSpPr txBox="1"/>
          <p:nvPr/>
        </p:nvSpPr>
        <p:spPr>
          <a:xfrm>
            <a:off x="658368" y="2807208"/>
            <a:ext cx="3611880" cy="987552"/>
          </a:xfrm>
          <a:prstGeom prst="rect">
            <a:avLst/>
          </a:prstGeom>
          <a:noFill/>
          <a:ln/>
        </p:spPr>
        <p:txBody>
          <a:bodyPr wrap="square" lIns="0" tIns="0" rIns="0" bIns="0" rtlCol="0" anchor="t"/>
          <a:lstStyle/>
          <a:p>
            <a:pPr indent="0" marL="0">
              <a:buNone/>
            </a:pPr>
            <a:r>
              <a:rPr lang="en-US" sz="1200" dirty="0">
                <a:solidFill>
                  <a:schemeClr val="tx1"/>
                </a:solidFill>
              </a:rPr>
              <a:t>Utile: chi, quali contenuti, quali risultati. Ma non una prova automatica di conformità.</a:t>
            </a:r>
            <a:endParaRPr lang="en-US" sz="1200" dirty="0"/>
          </a:p>
        </p:txBody>
      </p:sp>
      <p:sp>
        <p:nvSpPr>
          <p:cNvPr id="25" name="riquadro Attestato di partecipazione"/>
          <p:cNvSpPr/>
          <p:nvPr/>
        </p:nvSpPr>
        <p:spPr>
          <a:xfrm>
            <a:off x="4709160" y="2423160"/>
            <a:ext cx="3977640" cy="1463040"/>
          </a:xfrm>
          <a:prstGeom prst="roundRect">
            <a:avLst>
              <a:gd name="adj" fmla="val 5000"/>
            </a:avLst>
          </a:prstGeom>
          <a:solidFill>
            <a:schemeClr val="accent6"/>
          </a:solidFill>
          <a:ln/>
        </p:spPr>
      </p:sp>
      <p:sp>
        <p:nvSpPr>
          <p:cNvPr id="26" name="barra"/>
          <p:cNvSpPr/>
          <p:nvPr/>
        </p:nvSpPr>
        <p:spPr>
          <a:xfrm>
            <a:off x="4709160" y="2532888"/>
            <a:ext cx="54864" cy="1243584"/>
          </a:xfrm>
          <a:prstGeom prst="rect">
            <a:avLst/>
          </a:prstGeom>
          <a:solidFill>
            <a:schemeClr val="accent1"/>
          </a:solidFill>
          <a:ln/>
        </p:spPr>
      </p:sp>
      <p:sp>
        <p:nvSpPr>
          <p:cNvPr id="27" name="Text 24"/>
          <p:cNvSpPr txBox="1"/>
          <p:nvPr/>
        </p:nvSpPr>
        <p:spPr>
          <a:xfrm>
            <a:off x="4910328" y="25146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Attestato di partecipazione</a:t>
            </a:r>
            <a:endParaRPr lang="en-US" sz="1100" dirty="0"/>
          </a:p>
        </p:txBody>
      </p:sp>
      <p:sp>
        <p:nvSpPr>
          <p:cNvPr id="28" name="Text 25"/>
          <p:cNvSpPr txBox="1"/>
          <p:nvPr/>
        </p:nvSpPr>
        <p:spPr>
          <a:xfrm>
            <a:off x="4910328" y="2807208"/>
            <a:ext cx="3611880" cy="987552"/>
          </a:xfrm>
          <a:prstGeom prst="rect">
            <a:avLst/>
          </a:prstGeom>
          <a:noFill/>
          <a:ln/>
        </p:spPr>
        <p:txBody>
          <a:bodyPr wrap="square" lIns="0" tIns="0" rIns="0" bIns="0" rtlCol="0" anchor="t"/>
          <a:lstStyle/>
          <a:p>
            <a:pPr indent="0" marL="0">
              <a:buNone/>
            </a:pPr>
            <a:r>
              <a:rPr lang="en-US" sz="1200" dirty="0">
                <a:solidFill>
                  <a:schemeClr val="tx1"/>
                </a:solidFill>
              </a:rPr>
              <a:t>Dice che una persona ha partecipato. Non equivale alla valutazione degli obblighi applicabili.</a:t>
            </a:r>
            <a:endParaRPr lang="en-US" sz="1200" dirty="0"/>
          </a:p>
        </p:txBody>
      </p:sp>
      <p:sp>
        <p:nvSpPr>
          <p:cNvPr id="29" name="messaggio"/>
          <p:cNvSpPr/>
          <p:nvPr/>
        </p:nvSpPr>
        <p:spPr>
          <a:xfrm>
            <a:off x="457200" y="4114800"/>
            <a:ext cx="8229600" cy="411480"/>
          </a:xfrm>
          <a:prstGeom prst="roundRect">
            <a:avLst>
              <a:gd name="adj" fmla="val 17778"/>
            </a:avLst>
          </a:prstGeom>
          <a:solidFill>
            <a:schemeClr val="tx1"/>
          </a:solidFill>
          <a:ln/>
        </p:spPr>
      </p:sp>
      <p:sp>
        <p:nvSpPr>
          <p:cNvPr id="30" name="Text 27"/>
          <p:cNvSpPr txBox="1"/>
          <p:nvPr/>
        </p:nvSpPr>
        <p:spPr>
          <a:xfrm>
            <a:off x="640080" y="4114800"/>
            <a:ext cx="7863840" cy="411480"/>
          </a:xfrm>
          <a:prstGeom prst="rect">
            <a:avLst/>
          </a:prstGeom>
          <a:noFill/>
          <a:ln/>
        </p:spPr>
        <p:txBody>
          <a:bodyPr wrap="square" lIns="0" tIns="0" rIns="0" bIns="0" rtlCol="0" anchor="ctr"/>
          <a:lstStyle/>
          <a:p>
            <a:pPr indent="0" marL="0">
              <a:buNone/>
            </a:pPr>
            <a:r>
              <a:rPr lang="en-US" sz="1300" dirty="0">
                <a:solidFill>
                  <a:schemeClr val="bg1"/>
                </a:solidFill>
              </a:rPr>
              <a:t>Un corso di AI Awareness, anche questo, non equivale automaticamente alla conformità all'articolo 4.</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corso di AI Awareness contribuisce all'alfabetizzazione, ma non equivale automaticamente alla conformità: le misure vanno commisurate a persone, ruoli, sistemi e contesti.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18.7  ·  AI literacy e responsabilità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18.8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Una governance proporzionata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Non esiste un modello unico valido per tutte le aziende, ma è necessario rispettare gli obblighi pertinenti e rendere effettivi i controlli scelti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presidi essenziali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Mappare strumenti e usi"/>
          <p:cNvSpPr/>
          <p:nvPr/>
        </p:nvSpPr>
        <p:spPr>
          <a:xfrm>
            <a:off x="457200" y="1051560"/>
            <a:ext cx="1965960" cy="914400"/>
          </a:xfrm>
          <a:prstGeom prst="roundRect">
            <a:avLst>
              <a:gd name="adj" fmla="val 8000"/>
            </a:avLst>
          </a:prstGeom>
          <a:solidFill>
            <a:schemeClr val="bg2"/>
          </a:solidFill>
          <a:ln/>
        </p:spPr>
      </p:sp>
      <p:sp>
        <p:nvSpPr>
          <p:cNvPr id="17" name="Text 14"/>
          <p:cNvSpPr txBox="1"/>
          <p:nvPr/>
        </p:nvSpPr>
        <p:spPr>
          <a:xfrm>
            <a:off x="548640"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18" name="Text 15"/>
          <p:cNvSpPr txBox="1"/>
          <p:nvPr/>
        </p:nvSpPr>
        <p:spPr>
          <a:xfrm>
            <a:off x="548640" y="1463040"/>
            <a:ext cx="1783080" cy="457200"/>
          </a:xfrm>
          <a:prstGeom prst="rect">
            <a:avLst/>
          </a:prstGeom>
          <a:noFill/>
          <a:ln/>
        </p:spPr>
        <p:txBody>
          <a:bodyPr wrap="square" lIns="0" tIns="0" rIns="0" bIns="0" rtlCol="0" anchor="t"/>
          <a:lstStyle/>
          <a:p>
            <a:pPr indent="0" marL="0">
              <a:buNone/>
            </a:pPr>
            <a:r>
              <a:rPr lang="en-US" sz="1200" b="1" dirty="0">
                <a:solidFill>
                  <a:schemeClr val="tx1"/>
                </a:solidFill>
              </a:rPr>
              <a:t>Mappare strumenti e usi</a:t>
            </a:r>
            <a:endParaRPr lang="en-US" sz="1200" dirty="0"/>
          </a:p>
        </p:txBody>
      </p:sp>
      <p:sp>
        <p:nvSpPr>
          <p:cNvPr id="19" name="Referenti e responsabilità"/>
          <p:cNvSpPr/>
          <p:nvPr/>
        </p:nvSpPr>
        <p:spPr>
          <a:xfrm>
            <a:off x="2560320" y="1051560"/>
            <a:ext cx="1965960" cy="914400"/>
          </a:xfrm>
          <a:prstGeom prst="roundRect">
            <a:avLst>
              <a:gd name="adj" fmla="val 8000"/>
            </a:avLst>
          </a:prstGeom>
          <a:solidFill>
            <a:schemeClr val="bg2"/>
          </a:solidFill>
          <a:ln/>
        </p:spPr>
      </p:sp>
      <p:sp>
        <p:nvSpPr>
          <p:cNvPr id="20" name="Text 17"/>
          <p:cNvSpPr txBox="1"/>
          <p:nvPr/>
        </p:nvSpPr>
        <p:spPr>
          <a:xfrm>
            <a:off x="2651760"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21" name="Text 18"/>
          <p:cNvSpPr txBox="1"/>
          <p:nvPr/>
        </p:nvSpPr>
        <p:spPr>
          <a:xfrm>
            <a:off x="2651760" y="1463040"/>
            <a:ext cx="1783080" cy="457200"/>
          </a:xfrm>
          <a:prstGeom prst="rect">
            <a:avLst/>
          </a:prstGeom>
          <a:noFill/>
          <a:ln/>
        </p:spPr>
        <p:txBody>
          <a:bodyPr wrap="square" lIns="0" tIns="0" rIns="0" bIns="0" rtlCol="0" anchor="t"/>
          <a:lstStyle/>
          <a:p>
            <a:pPr indent="0" marL="0">
              <a:buNone/>
            </a:pPr>
            <a:r>
              <a:rPr lang="en-US" sz="1200" b="1" dirty="0">
                <a:solidFill>
                  <a:schemeClr val="tx1"/>
                </a:solidFill>
              </a:rPr>
              <a:t>Referenti e responsabilità</a:t>
            </a:r>
            <a:endParaRPr lang="en-US" sz="1200" dirty="0"/>
          </a:p>
        </p:txBody>
      </p:sp>
      <p:sp>
        <p:nvSpPr>
          <p:cNvPr id="22" name="Proporre, valutare, autorizzare"/>
          <p:cNvSpPr/>
          <p:nvPr/>
        </p:nvSpPr>
        <p:spPr>
          <a:xfrm>
            <a:off x="4663440" y="1051560"/>
            <a:ext cx="1965960" cy="914400"/>
          </a:xfrm>
          <a:prstGeom prst="roundRect">
            <a:avLst>
              <a:gd name="adj" fmla="val 8000"/>
            </a:avLst>
          </a:prstGeom>
          <a:solidFill>
            <a:schemeClr val="bg2"/>
          </a:solidFill>
          <a:ln/>
        </p:spPr>
      </p:sp>
      <p:sp>
        <p:nvSpPr>
          <p:cNvPr id="23" name="Text 20"/>
          <p:cNvSpPr txBox="1"/>
          <p:nvPr/>
        </p:nvSpPr>
        <p:spPr>
          <a:xfrm>
            <a:off x="4754880"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24" name="Text 21"/>
          <p:cNvSpPr txBox="1"/>
          <p:nvPr/>
        </p:nvSpPr>
        <p:spPr>
          <a:xfrm>
            <a:off x="4754880" y="1463040"/>
            <a:ext cx="1783080" cy="457200"/>
          </a:xfrm>
          <a:prstGeom prst="rect">
            <a:avLst/>
          </a:prstGeom>
          <a:noFill/>
          <a:ln/>
        </p:spPr>
        <p:txBody>
          <a:bodyPr wrap="square" lIns="0" tIns="0" rIns="0" bIns="0" rtlCol="0" anchor="t"/>
          <a:lstStyle/>
          <a:p>
            <a:pPr indent="0" marL="0">
              <a:buNone/>
            </a:pPr>
            <a:r>
              <a:rPr lang="en-US" sz="1200" b="1" dirty="0">
                <a:solidFill>
                  <a:schemeClr val="tx1"/>
                </a:solidFill>
              </a:rPr>
              <a:t>Proporre, valutare, autorizzare</a:t>
            </a:r>
            <a:endParaRPr lang="en-US" sz="1200" dirty="0"/>
          </a:p>
        </p:txBody>
      </p:sp>
      <p:sp>
        <p:nvSpPr>
          <p:cNvPr id="25" name="Policy essenziali"/>
          <p:cNvSpPr/>
          <p:nvPr/>
        </p:nvSpPr>
        <p:spPr>
          <a:xfrm>
            <a:off x="6766560" y="1051560"/>
            <a:ext cx="1965960" cy="914400"/>
          </a:xfrm>
          <a:prstGeom prst="roundRect">
            <a:avLst>
              <a:gd name="adj" fmla="val 8000"/>
            </a:avLst>
          </a:prstGeom>
          <a:solidFill>
            <a:schemeClr val="bg2"/>
          </a:solidFill>
          <a:ln/>
        </p:spPr>
      </p:sp>
      <p:sp>
        <p:nvSpPr>
          <p:cNvPr id="26" name="Text 23"/>
          <p:cNvSpPr txBox="1"/>
          <p:nvPr/>
        </p:nvSpPr>
        <p:spPr>
          <a:xfrm>
            <a:off x="6858000" y="109728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27" name="Text 24"/>
          <p:cNvSpPr txBox="1"/>
          <p:nvPr/>
        </p:nvSpPr>
        <p:spPr>
          <a:xfrm>
            <a:off x="6858000" y="1463040"/>
            <a:ext cx="1783080" cy="457200"/>
          </a:xfrm>
          <a:prstGeom prst="rect">
            <a:avLst/>
          </a:prstGeom>
          <a:noFill/>
          <a:ln/>
        </p:spPr>
        <p:txBody>
          <a:bodyPr wrap="square" lIns="0" tIns="0" rIns="0" bIns="0" rtlCol="0" anchor="t"/>
          <a:lstStyle/>
          <a:p>
            <a:pPr indent="0" marL="0">
              <a:buNone/>
            </a:pPr>
            <a:r>
              <a:rPr lang="en-US" sz="1200" b="1" dirty="0">
                <a:solidFill>
                  <a:schemeClr val="tx1"/>
                </a:solidFill>
              </a:rPr>
              <a:t>Policy essenziali</a:t>
            </a:r>
            <a:endParaRPr lang="en-US" sz="1200" dirty="0"/>
          </a:p>
        </p:txBody>
      </p:sp>
      <p:sp>
        <p:nvSpPr>
          <p:cNvPr id="28" name="Criteri di controllo e segnalazione"/>
          <p:cNvSpPr/>
          <p:nvPr/>
        </p:nvSpPr>
        <p:spPr>
          <a:xfrm>
            <a:off x="457200" y="2103120"/>
            <a:ext cx="1965960" cy="914400"/>
          </a:xfrm>
          <a:prstGeom prst="roundRect">
            <a:avLst>
              <a:gd name="adj" fmla="val 8000"/>
            </a:avLst>
          </a:prstGeom>
          <a:solidFill>
            <a:schemeClr val="accent6"/>
          </a:solidFill>
          <a:ln/>
        </p:spPr>
      </p:sp>
      <p:sp>
        <p:nvSpPr>
          <p:cNvPr id="29" name="Text 26"/>
          <p:cNvSpPr txBox="1"/>
          <p:nvPr/>
        </p:nvSpPr>
        <p:spPr>
          <a:xfrm>
            <a:off x="548640" y="214884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5</a:t>
            </a:r>
            <a:endParaRPr lang="en-US" sz="1800" dirty="0"/>
          </a:p>
        </p:txBody>
      </p:sp>
      <p:sp>
        <p:nvSpPr>
          <p:cNvPr id="30" name="Text 27"/>
          <p:cNvSpPr txBox="1"/>
          <p:nvPr/>
        </p:nvSpPr>
        <p:spPr>
          <a:xfrm>
            <a:off x="548640" y="2514600"/>
            <a:ext cx="1783080" cy="457200"/>
          </a:xfrm>
          <a:prstGeom prst="rect">
            <a:avLst/>
          </a:prstGeom>
          <a:noFill/>
          <a:ln/>
        </p:spPr>
        <p:txBody>
          <a:bodyPr wrap="square" lIns="0" tIns="0" rIns="0" bIns="0" rtlCol="0" anchor="t"/>
          <a:lstStyle/>
          <a:p>
            <a:pPr indent="0" marL="0">
              <a:buNone/>
            </a:pPr>
            <a:r>
              <a:rPr lang="en-US" sz="1200" b="1" dirty="0">
                <a:solidFill>
                  <a:schemeClr val="tx1"/>
                </a:solidFill>
              </a:rPr>
              <a:t>Criteri di controllo e segnalazione</a:t>
            </a:r>
            <a:endParaRPr lang="en-US" sz="1200" dirty="0"/>
          </a:p>
        </p:txBody>
      </p:sp>
      <p:sp>
        <p:nvSpPr>
          <p:cNvPr id="31" name="Regole, formazione, supporto"/>
          <p:cNvSpPr/>
          <p:nvPr/>
        </p:nvSpPr>
        <p:spPr>
          <a:xfrm>
            <a:off x="2560320" y="2103120"/>
            <a:ext cx="1965960" cy="914400"/>
          </a:xfrm>
          <a:prstGeom prst="roundRect">
            <a:avLst>
              <a:gd name="adj" fmla="val 8000"/>
            </a:avLst>
          </a:prstGeom>
          <a:solidFill>
            <a:schemeClr val="accent6"/>
          </a:solidFill>
          <a:ln/>
        </p:spPr>
      </p:sp>
      <p:sp>
        <p:nvSpPr>
          <p:cNvPr id="32" name="Text 29"/>
          <p:cNvSpPr txBox="1"/>
          <p:nvPr/>
        </p:nvSpPr>
        <p:spPr>
          <a:xfrm>
            <a:off x="2651760" y="214884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6</a:t>
            </a:r>
            <a:endParaRPr lang="en-US" sz="1800" dirty="0"/>
          </a:p>
        </p:txBody>
      </p:sp>
      <p:sp>
        <p:nvSpPr>
          <p:cNvPr id="33" name="Text 30"/>
          <p:cNvSpPr txBox="1"/>
          <p:nvPr/>
        </p:nvSpPr>
        <p:spPr>
          <a:xfrm>
            <a:off x="2651760" y="2514600"/>
            <a:ext cx="1783080" cy="457200"/>
          </a:xfrm>
          <a:prstGeom prst="rect">
            <a:avLst/>
          </a:prstGeom>
          <a:noFill/>
          <a:ln/>
        </p:spPr>
        <p:txBody>
          <a:bodyPr wrap="square" lIns="0" tIns="0" rIns="0" bIns="0" rtlCol="0" anchor="t"/>
          <a:lstStyle/>
          <a:p>
            <a:pPr indent="0" marL="0">
              <a:buNone/>
            </a:pPr>
            <a:r>
              <a:rPr lang="en-US" sz="1200" b="1" dirty="0">
                <a:solidFill>
                  <a:schemeClr val="tx1"/>
                </a:solidFill>
              </a:rPr>
              <a:t>Regole, formazione, supporto</a:t>
            </a:r>
            <a:endParaRPr lang="en-US" sz="1200" dirty="0"/>
          </a:p>
        </p:txBody>
      </p:sp>
      <p:sp>
        <p:nvSpPr>
          <p:cNvPr id="34" name="Monitorare usi e anomalie"/>
          <p:cNvSpPr/>
          <p:nvPr/>
        </p:nvSpPr>
        <p:spPr>
          <a:xfrm>
            <a:off x="4663440" y="2103120"/>
            <a:ext cx="1965960" cy="914400"/>
          </a:xfrm>
          <a:prstGeom prst="roundRect">
            <a:avLst>
              <a:gd name="adj" fmla="val 8000"/>
            </a:avLst>
          </a:prstGeom>
          <a:solidFill>
            <a:schemeClr val="accent6"/>
          </a:solidFill>
          <a:ln/>
        </p:spPr>
      </p:sp>
      <p:sp>
        <p:nvSpPr>
          <p:cNvPr id="35" name="Text 32"/>
          <p:cNvSpPr txBox="1"/>
          <p:nvPr/>
        </p:nvSpPr>
        <p:spPr>
          <a:xfrm>
            <a:off x="4754880" y="214884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7</a:t>
            </a:r>
            <a:endParaRPr lang="en-US" sz="1800" dirty="0"/>
          </a:p>
        </p:txBody>
      </p:sp>
      <p:sp>
        <p:nvSpPr>
          <p:cNvPr id="36" name="Text 33"/>
          <p:cNvSpPr txBox="1"/>
          <p:nvPr/>
        </p:nvSpPr>
        <p:spPr>
          <a:xfrm>
            <a:off x="4754880" y="2514600"/>
            <a:ext cx="1783080" cy="457200"/>
          </a:xfrm>
          <a:prstGeom prst="rect">
            <a:avLst/>
          </a:prstGeom>
          <a:noFill/>
          <a:ln/>
        </p:spPr>
        <p:txBody>
          <a:bodyPr wrap="square" lIns="0" tIns="0" rIns="0" bIns="0" rtlCol="0" anchor="t"/>
          <a:lstStyle/>
          <a:p>
            <a:pPr indent="0" marL="0">
              <a:buNone/>
            </a:pPr>
            <a:r>
              <a:rPr lang="en-US" sz="1200" b="1" dirty="0">
                <a:solidFill>
                  <a:schemeClr val="tx1"/>
                </a:solidFill>
              </a:rPr>
              <a:t>Monitorare usi e anomalie</a:t>
            </a:r>
            <a:endParaRPr lang="en-US" sz="1200" dirty="0"/>
          </a:p>
        </p:txBody>
      </p:sp>
      <p:sp>
        <p:nvSpPr>
          <p:cNvPr id="37" name="Riesaminare periodicamente"/>
          <p:cNvSpPr/>
          <p:nvPr/>
        </p:nvSpPr>
        <p:spPr>
          <a:xfrm>
            <a:off x="6766560" y="2103120"/>
            <a:ext cx="1965960" cy="914400"/>
          </a:xfrm>
          <a:prstGeom prst="roundRect">
            <a:avLst>
              <a:gd name="adj" fmla="val 8000"/>
            </a:avLst>
          </a:prstGeom>
          <a:solidFill>
            <a:schemeClr val="accent6"/>
          </a:solidFill>
          <a:ln/>
        </p:spPr>
      </p:sp>
      <p:sp>
        <p:nvSpPr>
          <p:cNvPr id="38" name="Text 35"/>
          <p:cNvSpPr txBox="1"/>
          <p:nvPr/>
        </p:nvSpPr>
        <p:spPr>
          <a:xfrm>
            <a:off x="6858000" y="2148840"/>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8</a:t>
            </a:r>
            <a:endParaRPr lang="en-US" sz="1800" dirty="0"/>
          </a:p>
        </p:txBody>
      </p:sp>
      <p:sp>
        <p:nvSpPr>
          <p:cNvPr id="39" name="Text 36"/>
          <p:cNvSpPr txBox="1"/>
          <p:nvPr/>
        </p:nvSpPr>
        <p:spPr>
          <a:xfrm>
            <a:off x="6858000" y="2514600"/>
            <a:ext cx="1783080" cy="457200"/>
          </a:xfrm>
          <a:prstGeom prst="rect">
            <a:avLst/>
          </a:prstGeom>
          <a:noFill/>
          <a:ln/>
        </p:spPr>
        <p:txBody>
          <a:bodyPr wrap="square" lIns="0" tIns="0" rIns="0" bIns="0" rtlCol="0" anchor="t"/>
          <a:lstStyle/>
          <a:p>
            <a:pPr indent="0" marL="0">
              <a:buNone/>
            </a:pPr>
            <a:r>
              <a:rPr lang="en-US" sz="1200" b="1" dirty="0">
                <a:solidFill>
                  <a:schemeClr val="tx1"/>
                </a:solidFill>
              </a:rPr>
              <a:t>Riesaminare periodicamente</a:t>
            </a:r>
            <a:endParaRPr lang="en-US" sz="1200" dirty="0"/>
          </a:p>
        </p:txBody>
      </p:sp>
      <p:sp>
        <p:nvSpPr>
          <p:cNvPr id="40" name="messaggio"/>
          <p:cNvSpPr/>
          <p:nvPr/>
        </p:nvSpPr>
        <p:spPr>
          <a:xfrm>
            <a:off x="457200" y="3291840"/>
            <a:ext cx="8229600" cy="868680"/>
          </a:xfrm>
          <a:prstGeom prst="roundRect">
            <a:avLst>
              <a:gd name="adj" fmla="val 8421"/>
            </a:avLst>
          </a:prstGeom>
          <a:solidFill>
            <a:schemeClr val="tx1"/>
          </a:solidFill>
          <a:ln/>
        </p:spPr>
      </p:sp>
      <p:sp>
        <p:nvSpPr>
          <p:cNvPr id="41" name="Text 38"/>
          <p:cNvSpPr txBox="1"/>
          <p:nvPr/>
        </p:nvSpPr>
        <p:spPr>
          <a:xfrm>
            <a:off x="640080" y="3291840"/>
            <a:ext cx="7863840" cy="868680"/>
          </a:xfrm>
          <a:prstGeom prst="rect">
            <a:avLst/>
          </a:prstGeom>
          <a:noFill/>
          <a:ln/>
        </p:spPr>
        <p:txBody>
          <a:bodyPr wrap="square" lIns="0" tIns="0" rIns="0" bIns="0" rtlCol="0" anchor="ctr"/>
          <a:lstStyle/>
          <a:p>
            <a:pPr indent="0" marL="0">
              <a:buNone/>
            </a:pPr>
            <a:r>
              <a:rPr lang="en-US" sz="1400" dirty="0">
                <a:solidFill>
                  <a:schemeClr val="bg1"/>
                </a:solidFill>
              </a:rPr>
              <a:t>In una piccola azienda: poche pagine e una riunione periodica. In una grande: strutture dedicate. Le funzioni sono le stesse.</a:t>
            </a:r>
            <a:endParaRPr lang="en-US" sz="1400" dirty="0"/>
          </a:p>
        </p:txBody>
      </p:sp>
      <p:sp>
        <p:nvSpPr>
          <p:cNvPr id="42" name="Text 39"/>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100" i="1" dirty="0">
                <a:solidFill>
                  <a:schemeClr val="tx2"/>
                </a:solidFill>
              </a:rPr>
              <a:t>Rimandi: 18.4 responsabilità, 18.5 policy, 18.6 controlli, 18.7 formazione.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D: aziende diverse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scheda Piccola impresa, usi limitati"/>
          <p:cNvSpPr/>
          <p:nvPr/>
        </p:nvSpPr>
        <p:spPr>
          <a:xfrm>
            <a:off x="457200" y="1051560"/>
            <a:ext cx="3977640" cy="2377440"/>
          </a:xfrm>
          <a:prstGeom prst="roundRect">
            <a:avLst>
              <a:gd name="adj" fmla="val 3077"/>
            </a:avLst>
          </a:prstGeom>
          <a:solidFill>
            <a:schemeClr val="bg2"/>
          </a:solidFill>
          <a:ln/>
        </p:spPr>
      </p:sp>
      <p:sp>
        <p:nvSpPr>
          <p:cNvPr id="17" name="cerchio FiHome"/>
          <p:cNvSpPr/>
          <p:nvPr/>
        </p:nvSpPr>
        <p:spPr>
          <a:xfrm>
            <a:off x="640080" y="1234440"/>
            <a:ext cx="457200" cy="457200"/>
          </a:xfrm>
          <a:prstGeom prst="ellipse">
            <a:avLst/>
          </a:prstGeom>
          <a:solidFill>
            <a:schemeClr val="accent1"/>
          </a:solidFill>
          <a:ln/>
        </p:spPr>
      </p:sp>
      <p:sp>
        <p:nvSpPr>
          <p:cNvPr id="18" name="scheda Usi delicati: selezione, credito"/>
          <p:cNvSpPr/>
          <p:nvPr/>
        </p:nvSpPr>
        <p:spPr>
          <a:xfrm>
            <a:off x="4709160" y="1051560"/>
            <a:ext cx="3977640" cy="2377440"/>
          </a:xfrm>
          <a:prstGeom prst="roundRect">
            <a:avLst>
              <a:gd name="adj" fmla="val 3077"/>
            </a:avLst>
          </a:prstGeom>
          <a:solidFill>
            <a:schemeClr val="accent6"/>
          </a:solidFill>
          <a:ln/>
        </p:spPr>
      </p:sp>
      <p:sp>
        <p:nvSpPr>
          <p:cNvPr id="19" name="cerchio FiBriefcase"/>
          <p:cNvSpPr/>
          <p:nvPr/>
        </p:nvSpPr>
        <p:spPr>
          <a:xfrm>
            <a:off x="4892040" y="1234440"/>
            <a:ext cx="457200" cy="457200"/>
          </a:xfrm>
          <a:prstGeom prst="ellipse">
            <a:avLst/>
          </a:prstGeom>
          <a:solidFill>
            <a:schemeClr val="accent1"/>
          </a:solidFill>
          <a:ln/>
        </p:spPr>
      </p:sp>
      <p:pic>
        <p:nvPicPr>
          <p:cNvPr id="20" name="Image 0" descr="FiBriefcase">    </p:cNvPr>
          <p:cNvPicPr>
            <a:picLocks noChangeAspect="1"/>
          </p:cNvPicPr>
          <p:nvPr/>
        </p:nvPicPr>
        <p:blipFill>
          <a:blip r:embed="rId1"/>
          <a:stretch>
            <a:fillRect/>
          </a:stretch>
        </p:blipFill>
        <p:spPr>
          <a:xfrm>
            <a:off x="5006340" y="1348740"/>
            <a:ext cx="228600" cy="228600"/>
          </a:xfrm>
          <a:prstGeom prst="rect">
            <a:avLst/>
          </a:prstGeom>
        </p:spPr>
      </p:pic>
      <p:sp>
        <p:nvSpPr>
          <p:cNvPr id="21"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Usi delicati: selezione, credito</a:t>
            </a:r>
            <a:endParaRPr lang="en-US" sz="1500" dirty="0"/>
          </a:p>
        </p:txBody>
      </p:sp>
      <p:sp>
        <p:nvSpPr>
          <p:cNvPr id="22" name="Text 18"/>
          <p:cNvSpPr txBox="1"/>
          <p:nvPr/>
        </p:nvSpPr>
        <p:spPr>
          <a:xfrm>
            <a:off x="4892040" y="2185416"/>
            <a:ext cx="3611880" cy="113385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Valutazioni dei rischi documentate</a:t>
            </a:r>
            <a:endParaRPr lang="en-US" sz="1300" dirty="0"/>
          </a:p>
          <a:p>
            <a:pPr marL="177800" indent="-177800">
              <a:spcAft>
                <a:spcPts val="400"/>
              </a:spcAft>
              <a:buSzPct val="100000"/>
              <a:buChar char="•"/>
            </a:pPr>
            <a:r>
              <a:rPr lang="en-US" sz="1300" dirty="0">
                <a:solidFill>
                  <a:schemeClr val="tx2"/>
                </a:solidFill>
              </a:rPr>
              <a:t>Classificazione AI Act, obblighi per l'alto rischio</a:t>
            </a:r>
            <a:endParaRPr lang="en-US" sz="1300" dirty="0"/>
          </a:p>
          <a:p>
            <a:pPr marL="177800" indent="-177800">
              <a:spcAft>
                <a:spcPts val="400"/>
              </a:spcAft>
              <a:buSzPct val="100000"/>
              <a:buChar char="•"/>
            </a:pPr>
            <a:r>
              <a:rPr lang="en-US" sz="1300" dirty="0">
                <a:solidFill>
                  <a:schemeClr val="tx2"/>
                </a:solidFill>
              </a:rPr>
              <a:t>Valutazioni d'impatto, supervisione progettata</a:t>
            </a:r>
            <a:endParaRPr lang="en-US" sz="1300" dirty="0"/>
          </a:p>
          <a:p>
            <a:pPr marL="177800" indent="-177800">
              <a:spcAft>
                <a:spcPts val="400"/>
              </a:spcAft>
              <a:buSzPct val="100000"/>
              <a:buChar char="•"/>
            </a:pPr>
            <a:r>
              <a:rPr lang="en-US" sz="1300" dirty="0">
                <a:solidFill>
                  <a:schemeClr val="tx2"/>
                </a:solidFill>
              </a:rPr>
              <a:t>Registri, monitoraggio, specialisti</a:t>
            </a:r>
            <a:endParaRPr lang="en-US" sz="1300" dirty="0"/>
          </a:p>
        </p:txBody>
      </p:sp>
      <p:pic>
        <p:nvPicPr>
          <p:cNvPr id="23" name="Image 1" descr="FiHome">    </p:cNvPr>
          <p:cNvPicPr>
            <a:picLocks noChangeAspect="1"/>
          </p:cNvPicPr>
          <p:nvPr/>
        </p:nvPicPr>
        <p:blipFill>
          <a:blip r:embed="rId2"/>
          <a:stretch>
            <a:fillRect/>
          </a:stretch>
        </p:blipFill>
        <p:spPr>
          <a:xfrm>
            <a:off x="754380" y="1348740"/>
            <a:ext cx="228600" cy="228600"/>
          </a:xfrm>
          <a:prstGeom prst="rect">
            <a:avLst/>
          </a:prstGeom>
        </p:spPr>
      </p:pic>
      <p:sp>
        <p:nvSpPr>
          <p:cNvPr id="24" name="Text 19"/>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Piccola impresa, usi limitati</a:t>
            </a:r>
            <a:endParaRPr lang="en-US" sz="1500" dirty="0"/>
          </a:p>
        </p:txBody>
      </p:sp>
      <p:sp>
        <p:nvSpPr>
          <p:cNvPr id="25" name="Text 20"/>
          <p:cNvSpPr txBox="1"/>
          <p:nvPr/>
        </p:nvSpPr>
        <p:spPr>
          <a:xfrm>
            <a:off x="640080" y="2185416"/>
            <a:ext cx="3611880" cy="113385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Policy di una pagina</a:t>
            </a:r>
            <a:endParaRPr lang="en-US" sz="1300" dirty="0"/>
          </a:p>
          <a:p>
            <a:pPr marL="177800" indent="-177800">
              <a:spcAft>
                <a:spcPts val="400"/>
              </a:spcAft>
              <a:buSzPct val="100000"/>
              <a:buChar char="•"/>
            </a:pPr>
            <a:r>
              <a:rPr lang="en-US" sz="1300" dirty="0">
                <a:solidFill>
                  <a:schemeClr val="tx2"/>
                </a:solidFill>
              </a:rPr>
              <a:t>Un referente, strumenti approvati</a:t>
            </a:r>
            <a:endParaRPr lang="en-US" sz="1300" dirty="0"/>
          </a:p>
          <a:p>
            <a:pPr marL="177800" indent="-177800">
              <a:spcAft>
                <a:spcPts val="400"/>
              </a:spcAft>
              <a:buSzPct val="100000"/>
              <a:buChar char="•"/>
            </a:pPr>
            <a:r>
              <a:rPr lang="en-US" sz="1300" dirty="0">
                <a:solidFill>
                  <a:schemeClr val="tx2"/>
                </a:solidFill>
              </a:rPr>
              <a:t>Formazione di base</a:t>
            </a:r>
            <a:endParaRPr lang="en-US" sz="1300" dirty="0"/>
          </a:p>
          <a:p>
            <a:pPr marL="177800" indent="-177800">
              <a:spcAft>
                <a:spcPts val="400"/>
              </a:spcAft>
              <a:buSzPct val="100000"/>
              <a:buChar char="•"/>
            </a:pPr>
            <a:r>
              <a:rPr lang="en-US" sz="1300" dirty="0">
                <a:solidFill>
                  <a:schemeClr val="tx2"/>
                </a:solidFill>
              </a:rPr>
              <a:t>Verifica periodica</a:t>
            </a:r>
            <a:endParaRPr lang="en-US" sz="1300" dirty="0"/>
          </a:p>
        </p:txBody>
      </p:sp>
      <p:sp>
        <p:nvSpPr>
          <p:cNvPr id="26" name="non esenzione"/>
          <p:cNvSpPr/>
          <p:nvPr/>
        </p:nvSpPr>
        <p:spPr>
          <a:xfrm>
            <a:off x="457200" y="3611880"/>
            <a:ext cx="8229600" cy="822960"/>
          </a:xfrm>
          <a:prstGeom prst="roundRect">
            <a:avLst>
              <a:gd name="adj" fmla="val 8889"/>
            </a:avLst>
          </a:prstGeom>
          <a:solidFill>
            <a:schemeClr val="accent1"/>
          </a:solidFill>
          <a:ln/>
        </p:spPr>
      </p:sp>
      <p:sp>
        <p:nvSpPr>
          <p:cNvPr id="27" name="Text 22"/>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400" b="1" dirty="0">
                <a:solidFill>
                  <a:schemeClr val="bg1"/>
                </a:solidFill>
              </a:rPr>
              <a:t>Proporzionalità, non esenzione. </a:t>
            </a:r>
            <a:pPr indent="0" marL="0">
              <a:buNone/>
            </a:pPr>
            <a:r>
              <a:rPr lang="en-US" sz="1400" dirty="0">
                <a:solidFill>
                  <a:schemeClr val="accent6"/>
                </a:solidFill>
              </a:rPr>
              <a:t>Se la piccola impresa usasse l'AI per selezionare il personale, avrebbe gli stessi obblighi, per quell'uso.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Framework e standard volontari</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ISO/IEC 42001:2023"/>
          <p:cNvSpPr/>
          <p:nvPr/>
        </p:nvSpPr>
        <p:spPr>
          <a:xfrm>
            <a:off x="457200" y="1051560"/>
            <a:ext cx="8229600" cy="502920"/>
          </a:xfrm>
          <a:prstGeom prst="roundRect">
            <a:avLst>
              <a:gd name="adj" fmla="val 14545"/>
            </a:avLst>
          </a:prstGeom>
          <a:solidFill>
            <a:schemeClr val="bg2"/>
          </a:solidFill>
          <a:ln/>
        </p:spPr>
      </p:sp>
      <p:sp>
        <p:nvSpPr>
          <p:cNvPr id="17" name="Text 14"/>
          <p:cNvSpPr txBox="1"/>
          <p:nvPr/>
        </p:nvSpPr>
        <p:spPr>
          <a:xfrm>
            <a:off x="594360" y="1051560"/>
            <a:ext cx="2194560" cy="502920"/>
          </a:xfrm>
          <a:prstGeom prst="rect">
            <a:avLst/>
          </a:prstGeom>
          <a:noFill/>
          <a:ln/>
        </p:spPr>
        <p:txBody>
          <a:bodyPr wrap="square" lIns="0" tIns="0" rIns="0" bIns="0" rtlCol="0" anchor="ctr"/>
          <a:lstStyle/>
          <a:p>
            <a:pPr indent="0" marL="0">
              <a:buNone/>
            </a:pPr>
            <a:r>
              <a:rPr lang="en-US" sz="1300" b="1" dirty="0">
                <a:solidFill>
                  <a:schemeClr val="accent1"/>
                </a:solidFill>
              </a:rPr>
              <a:t>ISO/IEC 42001:2023</a:t>
            </a:r>
            <a:endParaRPr lang="en-US" sz="1300" dirty="0"/>
          </a:p>
        </p:txBody>
      </p:sp>
      <p:sp>
        <p:nvSpPr>
          <p:cNvPr id="18" name="Text 15"/>
          <p:cNvSpPr txBox="1"/>
          <p:nvPr/>
        </p:nvSpPr>
        <p:spPr>
          <a:xfrm>
            <a:off x="2788920" y="1051560"/>
            <a:ext cx="5760720" cy="502920"/>
          </a:xfrm>
          <a:prstGeom prst="rect">
            <a:avLst/>
          </a:prstGeom>
          <a:noFill/>
          <a:ln/>
        </p:spPr>
        <p:txBody>
          <a:bodyPr wrap="square" lIns="0" tIns="0" rIns="0" bIns="0" rtlCol="0" anchor="ctr"/>
          <a:lstStyle/>
          <a:p>
            <a:pPr indent="0" marL="0">
              <a:buNone/>
            </a:pPr>
            <a:r>
              <a:rPr lang="en-US" sz="1200" dirty="0">
                <a:solidFill>
                  <a:schemeClr val="tx1"/>
                </a:solidFill>
              </a:rPr>
              <a:t>Sistema di gestione dell'AI; certificabile, come ISO 9001 e 27001</a:t>
            </a:r>
            <a:endParaRPr lang="en-US" sz="1200" dirty="0"/>
          </a:p>
        </p:txBody>
      </p:sp>
      <p:sp>
        <p:nvSpPr>
          <p:cNvPr id="19" name="ISO/IEC 23894:2023"/>
          <p:cNvSpPr/>
          <p:nvPr/>
        </p:nvSpPr>
        <p:spPr>
          <a:xfrm>
            <a:off x="457200" y="1627632"/>
            <a:ext cx="8229600" cy="502920"/>
          </a:xfrm>
          <a:prstGeom prst="roundRect">
            <a:avLst>
              <a:gd name="adj" fmla="val 14545"/>
            </a:avLst>
          </a:prstGeom>
          <a:solidFill>
            <a:schemeClr val="bg1"/>
          </a:solidFill>
          <a:ln/>
        </p:spPr>
      </p:sp>
      <p:sp>
        <p:nvSpPr>
          <p:cNvPr id="20" name="Text 17"/>
          <p:cNvSpPr txBox="1"/>
          <p:nvPr/>
        </p:nvSpPr>
        <p:spPr>
          <a:xfrm>
            <a:off x="594360" y="1627632"/>
            <a:ext cx="2194560" cy="502920"/>
          </a:xfrm>
          <a:prstGeom prst="rect">
            <a:avLst/>
          </a:prstGeom>
          <a:noFill/>
          <a:ln/>
        </p:spPr>
        <p:txBody>
          <a:bodyPr wrap="square" lIns="0" tIns="0" rIns="0" bIns="0" rtlCol="0" anchor="ctr"/>
          <a:lstStyle/>
          <a:p>
            <a:pPr indent="0" marL="0">
              <a:buNone/>
            </a:pPr>
            <a:r>
              <a:rPr lang="en-US" sz="1300" b="1" dirty="0">
                <a:solidFill>
                  <a:schemeClr val="accent1"/>
                </a:solidFill>
              </a:rPr>
              <a:t>ISO/IEC 23894:2023</a:t>
            </a:r>
            <a:endParaRPr lang="en-US" sz="1300" dirty="0"/>
          </a:p>
        </p:txBody>
      </p:sp>
      <p:sp>
        <p:nvSpPr>
          <p:cNvPr id="21" name="Text 18"/>
          <p:cNvSpPr txBox="1"/>
          <p:nvPr/>
        </p:nvSpPr>
        <p:spPr>
          <a:xfrm>
            <a:off x="2788920" y="1627632"/>
            <a:ext cx="5760720" cy="502920"/>
          </a:xfrm>
          <a:prstGeom prst="rect">
            <a:avLst/>
          </a:prstGeom>
          <a:noFill/>
          <a:ln/>
        </p:spPr>
        <p:txBody>
          <a:bodyPr wrap="square" lIns="0" tIns="0" rIns="0" bIns="0" rtlCol="0" anchor="ctr"/>
          <a:lstStyle/>
          <a:p>
            <a:pPr indent="0" marL="0">
              <a:buNone/>
            </a:pPr>
            <a:r>
              <a:rPr lang="en-US" sz="1200" dirty="0">
                <a:solidFill>
                  <a:schemeClr val="tx1"/>
                </a:solidFill>
              </a:rPr>
              <a:t>Gestione del rischio per l'AI</a:t>
            </a:r>
            <a:endParaRPr lang="en-US" sz="1200" dirty="0"/>
          </a:p>
        </p:txBody>
      </p:sp>
      <p:sp>
        <p:nvSpPr>
          <p:cNvPr id="22" name="NIST AI RMF (2023)"/>
          <p:cNvSpPr/>
          <p:nvPr/>
        </p:nvSpPr>
        <p:spPr>
          <a:xfrm>
            <a:off x="457200" y="2203704"/>
            <a:ext cx="8229600" cy="502920"/>
          </a:xfrm>
          <a:prstGeom prst="roundRect">
            <a:avLst>
              <a:gd name="adj" fmla="val 14545"/>
            </a:avLst>
          </a:prstGeom>
          <a:solidFill>
            <a:schemeClr val="bg2"/>
          </a:solidFill>
          <a:ln/>
        </p:spPr>
      </p:sp>
      <p:sp>
        <p:nvSpPr>
          <p:cNvPr id="23" name="Text 20"/>
          <p:cNvSpPr txBox="1"/>
          <p:nvPr/>
        </p:nvSpPr>
        <p:spPr>
          <a:xfrm>
            <a:off x="594360" y="2203704"/>
            <a:ext cx="2194560" cy="502920"/>
          </a:xfrm>
          <a:prstGeom prst="rect">
            <a:avLst/>
          </a:prstGeom>
          <a:noFill/>
          <a:ln/>
        </p:spPr>
        <p:txBody>
          <a:bodyPr wrap="square" lIns="0" tIns="0" rIns="0" bIns="0" rtlCol="0" anchor="ctr"/>
          <a:lstStyle/>
          <a:p>
            <a:pPr indent="0" marL="0">
              <a:buNone/>
            </a:pPr>
            <a:r>
              <a:rPr lang="en-US" sz="1300" b="1" dirty="0">
                <a:solidFill>
                  <a:schemeClr val="accent1"/>
                </a:solidFill>
              </a:rPr>
              <a:t>NIST AI RMF (2023)</a:t>
            </a:r>
            <a:endParaRPr lang="en-US" sz="1300" dirty="0"/>
          </a:p>
        </p:txBody>
      </p:sp>
      <p:sp>
        <p:nvSpPr>
          <p:cNvPr id="24" name="Text 21"/>
          <p:cNvSpPr txBox="1"/>
          <p:nvPr/>
        </p:nvSpPr>
        <p:spPr>
          <a:xfrm>
            <a:off x="2788920" y="2203704"/>
            <a:ext cx="5760720" cy="502920"/>
          </a:xfrm>
          <a:prstGeom prst="rect">
            <a:avLst/>
          </a:prstGeom>
          <a:noFill/>
          <a:ln/>
        </p:spPr>
        <p:txBody>
          <a:bodyPr wrap="square" lIns="0" tIns="0" rIns="0" bIns="0" rtlCol="0" anchor="ctr"/>
          <a:lstStyle/>
          <a:p>
            <a:pPr indent="0" marL="0">
              <a:buNone/>
            </a:pPr>
            <a:r>
              <a:rPr lang="en-US" sz="1200" dirty="0">
                <a:solidFill>
                  <a:schemeClr val="tx1"/>
                </a:solidFill>
              </a:rPr>
              <a:t>Governare, mappare, misurare, gestire</a:t>
            </a:r>
            <a:endParaRPr lang="en-US" sz="1200" dirty="0"/>
          </a:p>
        </p:txBody>
      </p:sp>
      <p:sp>
        <p:nvSpPr>
          <p:cNvPr id="25" name="Standard armonizzati UE"/>
          <p:cNvSpPr/>
          <p:nvPr/>
        </p:nvSpPr>
        <p:spPr>
          <a:xfrm>
            <a:off x="457200" y="2779776"/>
            <a:ext cx="8229600" cy="502920"/>
          </a:xfrm>
          <a:prstGeom prst="roundRect">
            <a:avLst>
              <a:gd name="adj" fmla="val 14545"/>
            </a:avLst>
          </a:prstGeom>
          <a:solidFill>
            <a:schemeClr val="bg1"/>
          </a:solidFill>
          <a:ln/>
        </p:spPr>
      </p:sp>
      <p:sp>
        <p:nvSpPr>
          <p:cNvPr id="26" name="Text 23"/>
          <p:cNvSpPr txBox="1"/>
          <p:nvPr/>
        </p:nvSpPr>
        <p:spPr>
          <a:xfrm>
            <a:off x="594360" y="2779776"/>
            <a:ext cx="2194560" cy="502920"/>
          </a:xfrm>
          <a:prstGeom prst="rect">
            <a:avLst/>
          </a:prstGeom>
          <a:noFill/>
          <a:ln/>
        </p:spPr>
        <p:txBody>
          <a:bodyPr wrap="square" lIns="0" tIns="0" rIns="0" bIns="0" rtlCol="0" anchor="ctr"/>
          <a:lstStyle/>
          <a:p>
            <a:pPr indent="0" marL="0">
              <a:buNone/>
            </a:pPr>
            <a:r>
              <a:rPr lang="en-US" sz="1300" b="1" dirty="0">
                <a:solidFill>
                  <a:schemeClr val="accent1"/>
                </a:solidFill>
              </a:rPr>
              <a:t>Standard armonizzati UE</a:t>
            </a:r>
            <a:endParaRPr lang="en-US" sz="1300" dirty="0"/>
          </a:p>
        </p:txBody>
      </p:sp>
      <p:sp>
        <p:nvSpPr>
          <p:cNvPr id="27" name="Text 24"/>
          <p:cNvSpPr txBox="1"/>
          <p:nvPr/>
        </p:nvSpPr>
        <p:spPr>
          <a:xfrm>
            <a:off x="2788920" y="2779776"/>
            <a:ext cx="5760720" cy="502920"/>
          </a:xfrm>
          <a:prstGeom prst="rect">
            <a:avLst/>
          </a:prstGeom>
          <a:noFill/>
          <a:ln/>
        </p:spPr>
        <p:txBody>
          <a:bodyPr wrap="square" lIns="0" tIns="0" rIns="0" bIns="0" rtlCol="0" anchor="ctr"/>
          <a:lstStyle/>
          <a:p>
            <a:pPr indent="0" marL="0">
              <a:buNone/>
            </a:pPr>
            <a:r>
              <a:rPr lang="en-US" sz="1200" dirty="0">
                <a:solidFill>
                  <a:schemeClr val="tx1"/>
                </a:solidFill>
              </a:rPr>
              <a:t>Collegati all'AI Act: verificarne lo stato</a:t>
            </a:r>
            <a:endParaRPr lang="en-US" sz="1200" dirty="0"/>
          </a:p>
        </p:txBody>
      </p:sp>
      <p:sp>
        <p:nvSpPr>
          <p:cNvPr id="28" name="messaggio"/>
          <p:cNvSpPr/>
          <p:nvPr/>
        </p:nvSpPr>
        <p:spPr>
          <a:xfrm>
            <a:off x="457200" y="3429000"/>
            <a:ext cx="8229600" cy="777240"/>
          </a:xfrm>
          <a:prstGeom prst="roundRect">
            <a:avLst>
              <a:gd name="adj" fmla="val 9412"/>
            </a:avLst>
          </a:prstGeom>
          <a:solidFill>
            <a:schemeClr val="tx1"/>
          </a:solidFill>
          <a:ln/>
        </p:spPr>
      </p:sp>
      <p:sp>
        <p:nvSpPr>
          <p:cNvPr id="29" name="Text 26"/>
          <p:cNvSpPr txBox="1"/>
          <p:nvPr/>
        </p:nvSpPr>
        <p:spPr>
          <a:xfrm>
            <a:off x="640080" y="3429000"/>
            <a:ext cx="7863840" cy="777240"/>
          </a:xfrm>
          <a:prstGeom prst="rect">
            <a:avLst/>
          </a:prstGeom>
          <a:noFill/>
          <a:ln/>
        </p:spPr>
        <p:txBody>
          <a:bodyPr wrap="square" lIns="0" tIns="0" rIns="0" bIns="0" rtlCol="0" anchor="ctr"/>
          <a:lstStyle/>
          <a:p>
            <a:pPr indent="0" marL="0">
              <a:buNone/>
            </a:pPr>
            <a:r>
              <a:rPr lang="en-US" sz="1400" dirty="0">
                <a:solidFill>
                  <a:schemeClr val="bg1"/>
                </a:solidFill>
              </a:rPr>
              <a:t>Utili ma volontari, salvo rinvio di una norma o di un contratto. Adottarli è una scelta di gestione, non un adempimento.</a:t>
            </a:r>
            <a:endParaRPr lang="en-US" sz="1400" dirty="0"/>
          </a:p>
        </p:txBody>
      </p:sp>
      <p:sp>
        <p:nvSpPr>
          <p:cNvPr id="30" name="Text 27"/>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200" b="1" i="1" dirty="0">
                <a:solidFill>
                  <a:schemeClr val="accent1"/>
                </a:solidFill>
              </a:rPr>
              <a:t>Per usi semplici, i presidi essenziali sono spesso sufficienti.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Formazione e governance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formazione"/>
          <p:cNvSpPr/>
          <p:nvPr/>
        </p:nvSpPr>
        <p:spPr>
          <a:xfrm>
            <a:off x="3429000" y="1874520"/>
            <a:ext cx="2286000" cy="1143000"/>
          </a:xfrm>
          <a:prstGeom prst="ellipse">
            <a:avLst/>
          </a:prstGeom>
          <a:solidFill>
            <a:srgbClr val="2E7D7A"/>
          </a:solidFill>
          <a:ln/>
        </p:spPr>
      </p:sp>
      <p:sp>
        <p:nvSpPr>
          <p:cNvPr id="17" name="Text 14"/>
          <p:cNvSpPr txBox="1"/>
          <p:nvPr/>
        </p:nvSpPr>
        <p:spPr>
          <a:xfrm>
            <a:off x="3429000" y="1874520"/>
            <a:ext cx="2286000" cy="1143000"/>
          </a:xfrm>
          <a:prstGeom prst="rect">
            <a:avLst/>
          </a:prstGeom>
          <a:noFill/>
          <a:ln/>
        </p:spPr>
        <p:txBody>
          <a:bodyPr wrap="square" lIns="0" tIns="0" rIns="0" bIns="0" rtlCol="0" anchor="ctr"/>
          <a:lstStyle/>
          <a:p>
            <a:pPr algn="ctr" indent="0" marL="0">
              <a:buNone/>
            </a:pPr>
            <a:r>
              <a:rPr lang="en-US" sz="1600" b="1" dirty="0">
                <a:solidFill>
                  <a:schemeClr val="bg1"/>
                </a:solidFill>
              </a:rPr>
              <a:t>Formazione</a:t>
            </a:r>
            <a:endParaRPr lang="en-US" sz="1600" dirty="0"/>
          </a:p>
        </p:txBody>
      </p:sp>
      <p:sp>
        <p:nvSpPr>
          <p:cNvPr id="18" name="blocco Strumenti approvati"/>
          <p:cNvSpPr/>
          <p:nvPr/>
        </p:nvSpPr>
        <p:spPr>
          <a:xfrm>
            <a:off x="457200" y="1051560"/>
            <a:ext cx="2286000" cy="640080"/>
          </a:xfrm>
          <a:prstGeom prst="roundRect">
            <a:avLst>
              <a:gd name="adj" fmla="val 17143"/>
            </a:avLst>
          </a:prstGeom>
          <a:solidFill>
            <a:schemeClr val="accent6"/>
          </a:solidFill>
          <a:ln/>
        </p:spPr>
      </p:sp>
      <p:sp>
        <p:nvSpPr>
          <p:cNvPr id="19" name="Text 16"/>
          <p:cNvSpPr txBox="1"/>
          <p:nvPr/>
        </p:nvSpPr>
        <p:spPr>
          <a:xfrm>
            <a:off x="502920" y="1051560"/>
            <a:ext cx="2194560" cy="640080"/>
          </a:xfrm>
          <a:prstGeom prst="rect">
            <a:avLst/>
          </a:prstGeom>
          <a:noFill/>
          <a:ln/>
        </p:spPr>
        <p:txBody>
          <a:bodyPr wrap="square" lIns="0" tIns="0" rIns="0" bIns="0" rtlCol="0" anchor="ctr"/>
          <a:lstStyle/>
          <a:p>
            <a:pPr algn="ctr" indent="0" marL="0">
              <a:buNone/>
            </a:pPr>
            <a:r>
              <a:rPr lang="en-US" sz="1200" b="1" dirty="0">
                <a:solidFill>
                  <a:schemeClr val="tx1"/>
                </a:solidFill>
              </a:rPr>
              <a:t>Strumenti approvati</a:t>
            </a:r>
            <a:endParaRPr lang="en-US" sz="1200" dirty="0"/>
          </a:p>
        </p:txBody>
      </p:sp>
      <p:sp>
        <p:nvSpPr>
          <p:cNvPr id="20" name="blocco Policy"/>
          <p:cNvSpPr/>
          <p:nvPr/>
        </p:nvSpPr>
        <p:spPr>
          <a:xfrm>
            <a:off x="3429000" y="1051560"/>
            <a:ext cx="2286000" cy="640080"/>
          </a:xfrm>
          <a:prstGeom prst="roundRect">
            <a:avLst>
              <a:gd name="adj" fmla="val 17143"/>
            </a:avLst>
          </a:prstGeom>
          <a:solidFill>
            <a:schemeClr val="accent6"/>
          </a:solidFill>
          <a:ln/>
        </p:spPr>
      </p:sp>
      <p:sp>
        <p:nvSpPr>
          <p:cNvPr id="21" name="Text 18"/>
          <p:cNvSpPr txBox="1"/>
          <p:nvPr/>
        </p:nvSpPr>
        <p:spPr>
          <a:xfrm>
            <a:off x="3474720" y="1051560"/>
            <a:ext cx="2194560" cy="640080"/>
          </a:xfrm>
          <a:prstGeom prst="rect">
            <a:avLst/>
          </a:prstGeom>
          <a:noFill/>
          <a:ln/>
        </p:spPr>
        <p:txBody>
          <a:bodyPr wrap="square" lIns="0" tIns="0" rIns="0" bIns="0" rtlCol="0" anchor="ctr"/>
          <a:lstStyle/>
          <a:p>
            <a:pPr algn="ctr" indent="0" marL="0">
              <a:buNone/>
            </a:pPr>
            <a:r>
              <a:rPr lang="en-US" sz="1200" b="1" dirty="0">
                <a:solidFill>
                  <a:schemeClr val="tx1"/>
                </a:solidFill>
              </a:rPr>
              <a:t>Policy</a:t>
            </a:r>
            <a:endParaRPr lang="en-US" sz="1200" dirty="0"/>
          </a:p>
        </p:txBody>
      </p:sp>
      <p:sp>
        <p:nvSpPr>
          <p:cNvPr id="22" name="blocco Referenti e supporto"/>
          <p:cNvSpPr/>
          <p:nvPr/>
        </p:nvSpPr>
        <p:spPr>
          <a:xfrm>
            <a:off x="6400800" y="1051560"/>
            <a:ext cx="2286000" cy="640080"/>
          </a:xfrm>
          <a:prstGeom prst="roundRect">
            <a:avLst>
              <a:gd name="adj" fmla="val 17143"/>
            </a:avLst>
          </a:prstGeom>
          <a:solidFill>
            <a:schemeClr val="accent6"/>
          </a:solidFill>
          <a:ln/>
        </p:spPr>
      </p:sp>
      <p:sp>
        <p:nvSpPr>
          <p:cNvPr id="23" name="Text 20"/>
          <p:cNvSpPr txBox="1"/>
          <p:nvPr/>
        </p:nvSpPr>
        <p:spPr>
          <a:xfrm>
            <a:off x="6446520" y="1051560"/>
            <a:ext cx="2194560" cy="640080"/>
          </a:xfrm>
          <a:prstGeom prst="rect">
            <a:avLst/>
          </a:prstGeom>
          <a:noFill/>
          <a:ln/>
        </p:spPr>
        <p:txBody>
          <a:bodyPr wrap="square" lIns="0" tIns="0" rIns="0" bIns="0" rtlCol="0" anchor="ctr"/>
          <a:lstStyle/>
          <a:p>
            <a:pPr algn="ctr" indent="0" marL="0">
              <a:buNone/>
            </a:pPr>
            <a:r>
              <a:rPr lang="en-US" sz="1200" b="1" dirty="0">
                <a:solidFill>
                  <a:schemeClr val="tx1"/>
                </a:solidFill>
              </a:rPr>
              <a:t>Referenti e supporto</a:t>
            </a:r>
            <a:endParaRPr lang="en-US" sz="1200" dirty="0"/>
          </a:p>
        </p:txBody>
      </p:sp>
      <p:sp>
        <p:nvSpPr>
          <p:cNvPr id="24" name="blocco Controlli e monitoraggio"/>
          <p:cNvSpPr/>
          <p:nvPr/>
        </p:nvSpPr>
        <p:spPr>
          <a:xfrm>
            <a:off x="457200" y="2743200"/>
            <a:ext cx="2286000" cy="640080"/>
          </a:xfrm>
          <a:prstGeom prst="roundRect">
            <a:avLst>
              <a:gd name="adj" fmla="val 17143"/>
            </a:avLst>
          </a:prstGeom>
          <a:solidFill>
            <a:schemeClr val="accent6"/>
          </a:solidFill>
          <a:ln/>
        </p:spPr>
      </p:sp>
      <p:sp>
        <p:nvSpPr>
          <p:cNvPr id="25" name="Text 22"/>
          <p:cNvSpPr txBox="1"/>
          <p:nvPr/>
        </p:nvSpPr>
        <p:spPr>
          <a:xfrm>
            <a:off x="502920" y="2743200"/>
            <a:ext cx="2194560" cy="640080"/>
          </a:xfrm>
          <a:prstGeom prst="rect">
            <a:avLst/>
          </a:prstGeom>
          <a:noFill/>
          <a:ln/>
        </p:spPr>
        <p:txBody>
          <a:bodyPr wrap="square" lIns="0" tIns="0" rIns="0" bIns="0" rtlCol="0" anchor="ctr"/>
          <a:lstStyle/>
          <a:p>
            <a:pPr algn="ctr" indent="0" marL="0">
              <a:buNone/>
            </a:pPr>
            <a:r>
              <a:rPr lang="en-US" sz="1200" b="1" dirty="0">
                <a:solidFill>
                  <a:schemeClr val="tx1"/>
                </a:solidFill>
              </a:rPr>
              <a:t>Controlli e monitoraggio</a:t>
            </a:r>
            <a:endParaRPr lang="en-US" sz="1200" dirty="0"/>
          </a:p>
        </p:txBody>
      </p:sp>
      <p:sp>
        <p:nvSpPr>
          <p:cNvPr id="26" name="blocco Riesame"/>
          <p:cNvSpPr/>
          <p:nvPr/>
        </p:nvSpPr>
        <p:spPr>
          <a:xfrm>
            <a:off x="6400800" y="2743200"/>
            <a:ext cx="2286000" cy="640080"/>
          </a:xfrm>
          <a:prstGeom prst="roundRect">
            <a:avLst>
              <a:gd name="adj" fmla="val 17143"/>
            </a:avLst>
          </a:prstGeom>
          <a:solidFill>
            <a:schemeClr val="accent6"/>
          </a:solidFill>
          <a:ln/>
        </p:spPr>
      </p:sp>
      <p:sp>
        <p:nvSpPr>
          <p:cNvPr id="27" name="Text 24"/>
          <p:cNvSpPr txBox="1"/>
          <p:nvPr/>
        </p:nvSpPr>
        <p:spPr>
          <a:xfrm>
            <a:off x="6446520" y="2743200"/>
            <a:ext cx="2194560" cy="640080"/>
          </a:xfrm>
          <a:prstGeom prst="rect">
            <a:avLst/>
          </a:prstGeom>
          <a:noFill/>
          <a:ln/>
        </p:spPr>
        <p:txBody>
          <a:bodyPr wrap="square" lIns="0" tIns="0" rIns="0" bIns="0" rtlCol="0" anchor="ctr"/>
          <a:lstStyle/>
          <a:p>
            <a:pPr algn="ctr" indent="0" marL="0">
              <a:buNone/>
            </a:pPr>
            <a:r>
              <a:rPr lang="en-US" sz="1200" b="1" dirty="0">
                <a:solidFill>
                  <a:schemeClr val="tx1"/>
                </a:solidFill>
              </a:rPr>
              <a:t>Riesame</a:t>
            </a:r>
            <a:endParaRPr lang="en-US" sz="1200" dirty="0"/>
          </a:p>
        </p:txBody>
      </p:sp>
      <p:sp>
        <p:nvSpPr>
          <p:cNvPr id="28" name="messaggio"/>
          <p:cNvSpPr/>
          <p:nvPr/>
        </p:nvSpPr>
        <p:spPr>
          <a:xfrm>
            <a:off x="457200" y="3657600"/>
            <a:ext cx="8229600" cy="822960"/>
          </a:xfrm>
          <a:prstGeom prst="roundRect">
            <a:avLst>
              <a:gd name="adj" fmla="val 8889"/>
            </a:avLst>
          </a:prstGeom>
          <a:solidFill>
            <a:schemeClr val="tx1"/>
          </a:solidFill>
          <a:ln/>
        </p:spPr>
      </p:sp>
      <p:sp>
        <p:nvSpPr>
          <p:cNvPr id="29" name="Text 26"/>
          <p:cNvSpPr txBox="1"/>
          <p:nvPr/>
        </p:nvSpPr>
        <p:spPr>
          <a:xfrm>
            <a:off x="640080" y="3657600"/>
            <a:ext cx="7863840" cy="822960"/>
          </a:xfrm>
          <a:prstGeom prst="rect">
            <a:avLst/>
          </a:prstGeom>
          <a:noFill/>
          <a:ln/>
        </p:spPr>
        <p:txBody>
          <a:bodyPr wrap="square" lIns="0" tIns="0" rIns="0" bIns="0" rtlCol="0" anchor="ctr"/>
          <a:lstStyle/>
          <a:p>
            <a:pPr indent="0" marL="0">
              <a:buNone/>
            </a:pPr>
            <a:r>
              <a:rPr lang="en-US" sz="1300" dirty="0">
                <a:solidFill>
                  <a:schemeClr val="bg1"/>
                </a:solidFill>
              </a:rPr>
              <a:t>Una componente del sistema di governance, non il sistema stesso. Senza le altre, non si applica; le altre, senza formazione, restano lettera morta.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checklist essenziale</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Literacy</a:t>
            </a:r>
            <a:endParaRPr lang="en-US" sz="650" dirty="0"/>
          </a:p>
        </p:txBody>
      </p:sp>
      <p:sp>
        <p:nvSpPr>
          <p:cNvPr id="16" name="domanda 1"/>
          <p:cNvSpPr/>
          <p:nvPr/>
        </p:nvSpPr>
        <p:spPr>
          <a:xfrm>
            <a:off x="457200" y="1024128"/>
            <a:ext cx="2651760" cy="685800"/>
          </a:xfrm>
          <a:prstGeom prst="roundRect">
            <a:avLst>
              <a:gd name="adj" fmla="val 10667"/>
            </a:avLst>
          </a:prstGeom>
          <a:solidFill>
            <a:schemeClr val="bg2"/>
          </a:solidFill>
          <a:ln/>
        </p:spPr>
      </p:sp>
      <p:sp>
        <p:nvSpPr>
          <p:cNvPr id="17" name="Text 14"/>
          <p:cNvSpPr txBox="1"/>
          <p:nvPr/>
        </p:nvSpPr>
        <p:spPr>
          <a:xfrm>
            <a:off x="530352" y="102412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5"/>
          <p:cNvSpPr txBox="1"/>
          <p:nvPr/>
        </p:nvSpPr>
        <p:spPr>
          <a:xfrm>
            <a:off x="841248" y="1024128"/>
            <a:ext cx="2221992" cy="685800"/>
          </a:xfrm>
          <a:prstGeom prst="rect">
            <a:avLst/>
          </a:prstGeom>
          <a:noFill/>
          <a:ln/>
        </p:spPr>
        <p:txBody>
          <a:bodyPr wrap="square" lIns="0" tIns="0" rIns="0" bIns="0" rtlCol="0" anchor="ctr"/>
          <a:lstStyle/>
          <a:p>
            <a:pPr indent="0" marL="0">
              <a:buNone/>
            </a:pPr>
            <a:r>
              <a:rPr lang="en-US" sz="1100" dirty="0">
                <a:solidFill>
                  <a:schemeClr val="tx1"/>
                </a:solidFill>
              </a:rPr>
              <a:t>Strumenti e usi sono noti?</a:t>
            </a:r>
            <a:endParaRPr lang="en-US" sz="1100" dirty="0"/>
          </a:p>
        </p:txBody>
      </p:sp>
      <p:sp>
        <p:nvSpPr>
          <p:cNvPr id="19" name="domanda 2"/>
          <p:cNvSpPr/>
          <p:nvPr/>
        </p:nvSpPr>
        <p:spPr>
          <a:xfrm>
            <a:off x="3264408" y="1024128"/>
            <a:ext cx="2651760" cy="685800"/>
          </a:xfrm>
          <a:prstGeom prst="roundRect">
            <a:avLst>
              <a:gd name="adj" fmla="val 10667"/>
            </a:avLst>
          </a:prstGeom>
          <a:solidFill>
            <a:schemeClr val="bg2"/>
          </a:solidFill>
          <a:ln/>
        </p:spPr>
      </p:sp>
      <p:sp>
        <p:nvSpPr>
          <p:cNvPr id="20" name="Text 17"/>
          <p:cNvSpPr txBox="1"/>
          <p:nvPr/>
        </p:nvSpPr>
        <p:spPr>
          <a:xfrm>
            <a:off x="3337560" y="102412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1" name="Text 18"/>
          <p:cNvSpPr txBox="1"/>
          <p:nvPr/>
        </p:nvSpPr>
        <p:spPr>
          <a:xfrm>
            <a:off x="3648456" y="1024128"/>
            <a:ext cx="2221992" cy="685800"/>
          </a:xfrm>
          <a:prstGeom prst="rect">
            <a:avLst/>
          </a:prstGeom>
          <a:noFill/>
          <a:ln/>
        </p:spPr>
        <p:txBody>
          <a:bodyPr wrap="square" lIns="0" tIns="0" rIns="0" bIns="0" rtlCol="0" anchor="ctr"/>
          <a:lstStyle/>
          <a:p>
            <a:pPr indent="0" marL="0">
              <a:buNone/>
            </a:pPr>
            <a:r>
              <a:rPr lang="en-US" sz="1100" dirty="0">
                <a:solidFill>
                  <a:schemeClr val="tx1"/>
                </a:solidFill>
              </a:rPr>
              <a:t>Normativa considerata per gli usi rilevanti?</a:t>
            </a:r>
            <a:endParaRPr lang="en-US" sz="1100" dirty="0"/>
          </a:p>
        </p:txBody>
      </p:sp>
      <p:sp>
        <p:nvSpPr>
          <p:cNvPr id="22" name="domanda 3"/>
          <p:cNvSpPr/>
          <p:nvPr/>
        </p:nvSpPr>
        <p:spPr>
          <a:xfrm>
            <a:off x="6071616" y="1024128"/>
            <a:ext cx="2651760" cy="685800"/>
          </a:xfrm>
          <a:prstGeom prst="roundRect">
            <a:avLst>
              <a:gd name="adj" fmla="val 10667"/>
            </a:avLst>
          </a:prstGeom>
          <a:solidFill>
            <a:schemeClr val="bg2"/>
          </a:solidFill>
          <a:ln/>
        </p:spPr>
      </p:sp>
      <p:sp>
        <p:nvSpPr>
          <p:cNvPr id="23" name="Text 20"/>
          <p:cNvSpPr txBox="1"/>
          <p:nvPr/>
        </p:nvSpPr>
        <p:spPr>
          <a:xfrm>
            <a:off x="6144768" y="102412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4" name="Text 21"/>
          <p:cNvSpPr txBox="1"/>
          <p:nvPr/>
        </p:nvSpPr>
        <p:spPr>
          <a:xfrm>
            <a:off x="6455664" y="1024128"/>
            <a:ext cx="2221992" cy="685800"/>
          </a:xfrm>
          <a:prstGeom prst="rect">
            <a:avLst/>
          </a:prstGeom>
          <a:noFill/>
          <a:ln/>
        </p:spPr>
        <p:txBody>
          <a:bodyPr wrap="square" lIns="0" tIns="0" rIns="0" bIns="0" rtlCol="0" anchor="ctr"/>
          <a:lstStyle/>
          <a:p>
            <a:pPr indent="0" marL="0">
              <a:buNone/>
            </a:pPr>
            <a:r>
              <a:rPr lang="en-US" sz="1100" dirty="0">
                <a:solidFill>
                  <a:schemeClr val="tx1"/>
                </a:solidFill>
              </a:rPr>
              <a:t>Ruolo chiaro: deployer, provider, altro?</a:t>
            </a:r>
            <a:endParaRPr lang="en-US" sz="1100" dirty="0"/>
          </a:p>
        </p:txBody>
      </p:sp>
      <p:sp>
        <p:nvSpPr>
          <p:cNvPr id="25" name="domanda 4"/>
          <p:cNvSpPr/>
          <p:nvPr/>
        </p:nvSpPr>
        <p:spPr>
          <a:xfrm>
            <a:off x="457200" y="1801368"/>
            <a:ext cx="2651760" cy="685800"/>
          </a:xfrm>
          <a:prstGeom prst="roundRect">
            <a:avLst>
              <a:gd name="adj" fmla="val 10667"/>
            </a:avLst>
          </a:prstGeom>
          <a:solidFill>
            <a:schemeClr val="accent6"/>
          </a:solidFill>
          <a:ln/>
        </p:spPr>
      </p:sp>
      <p:sp>
        <p:nvSpPr>
          <p:cNvPr id="26" name="Text 23"/>
          <p:cNvSpPr txBox="1"/>
          <p:nvPr/>
        </p:nvSpPr>
        <p:spPr>
          <a:xfrm>
            <a:off x="530352" y="180136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7" name="Text 24"/>
          <p:cNvSpPr txBox="1"/>
          <p:nvPr/>
        </p:nvSpPr>
        <p:spPr>
          <a:xfrm>
            <a:off x="841248" y="1801368"/>
            <a:ext cx="2221992" cy="685800"/>
          </a:xfrm>
          <a:prstGeom prst="rect">
            <a:avLst/>
          </a:prstGeom>
          <a:noFill/>
          <a:ln/>
        </p:spPr>
        <p:txBody>
          <a:bodyPr wrap="square" lIns="0" tIns="0" rIns="0" bIns="0" rtlCol="0" anchor="ctr"/>
          <a:lstStyle/>
          <a:p>
            <a:pPr indent="0" marL="0">
              <a:buNone/>
            </a:pPr>
            <a:r>
              <a:rPr lang="en-US" sz="1100" dirty="0">
                <a:solidFill>
                  <a:schemeClr val="tx1"/>
                </a:solidFill>
              </a:rPr>
              <a:t>Indicazioni comprensibili su strumenti, usi, dati?</a:t>
            </a:r>
            <a:endParaRPr lang="en-US" sz="1100" dirty="0"/>
          </a:p>
        </p:txBody>
      </p:sp>
      <p:sp>
        <p:nvSpPr>
          <p:cNvPr id="28" name="domanda 5"/>
          <p:cNvSpPr/>
          <p:nvPr/>
        </p:nvSpPr>
        <p:spPr>
          <a:xfrm>
            <a:off x="3264408" y="1801368"/>
            <a:ext cx="2651760" cy="685800"/>
          </a:xfrm>
          <a:prstGeom prst="roundRect">
            <a:avLst>
              <a:gd name="adj" fmla="val 10667"/>
            </a:avLst>
          </a:prstGeom>
          <a:solidFill>
            <a:schemeClr val="accent6"/>
          </a:solidFill>
          <a:ln/>
        </p:spPr>
      </p:sp>
      <p:sp>
        <p:nvSpPr>
          <p:cNvPr id="29" name="Text 26"/>
          <p:cNvSpPr txBox="1"/>
          <p:nvPr/>
        </p:nvSpPr>
        <p:spPr>
          <a:xfrm>
            <a:off x="3337560" y="180136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30" name="Text 27"/>
          <p:cNvSpPr txBox="1"/>
          <p:nvPr/>
        </p:nvSpPr>
        <p:spPr>
          <a:xfrm>
            <a:off x="3648456" y="1801368"/>
            <a:ext cx="2221992" cy="685800"/>
          </a:xfrm>
          <a:prstGeom prst="rect">
            <a:avLst/>
          </a:prstGeom>
          <a:noFill/>
          <a:ln/>
        </p:spPr>
        <p:txBody>
          <a:bodyPr wrap="square" lIns="0" tIns="0" rIns="0" bIns="0" rtlCol="0" anchor="ctr"/>
          <a:lstStyle/>
          <a:p>
            <a:pPr indent="0" marL="0">
              <a:buNone/>
            </a:pPr>
            <a:r>
              <a:rPr lang="en-US" sz="1100" dirty="0">
                <a:solidFill>
                  <a:schemeClr val="tx1"/>
                </a:solidFill>
              </a:rPr>
              <a:t>Referenti e modalità di richiesta?</a:t>
            </a:r>
            <a:endParaRPr lang="en-US" sz="1100" dirty="0"/>
          </a:p>
        </p:txBody>
      </p:sp>
      <p:sp>
        <p:nvSpPr>
          <p:cNvPr id="31" name="domanda 6"/>
          <p:cNvSpPr/>
          <p:nvPr/>
        </p:nvSpPr>
        <p:spPr>
          <a:xfrm>
            <a:off x="6071616" y="1801368"/>
            <a:ext cx="2651760" cy="685800"/>
          </a:xfrm>
          <a:prstGeom prst="roundRect">
            <a:avLst>
              <a:gd name="adj" fmla="val 10667"/>
            </a:avLst>
          </a:prstGeom>
          <a:solidFill>
            <a:schemeClr val="accent6"/>
          </a:solidFill>
          <a:ln/>
        </p:spPr>
      </p:sp>
      <p:sp>
        <p:nvSpPr>
          <p:cNvPr id="32" name="Text 29"/>
          <p:cNvSpPr txBox="1"/>
          <p:nvPr/>
        </p:nvSpPr>
        <p:spPr>
          <a:xfrm>
            <a:off x="6144768" y="180136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33" name="Text 30"/>
          <p:cNvSpPr txBox="1"/>
          <p:nvPr/>
        </p:nvSpPr>
        <p:spPr>
          <a:xfrm>
            <a:off x="6455664" y="1801368"/>
            <a:ext cx="2221992" cy="685800"/>
          </a:xfrm>
          <a:prstGeom prst="rect">
            <a:avLst/>
          </a:prstGeom>
          <a:noFill/>
          <a:ln/>
        </p:spPr>
        <p:txBody>
          <a:bodyPr wrap="square" lIns="0" tIns="0" rIns="0" bIns="0" rtlCol="0" anchor="ctr"/>
          <a:lstStyle/>
          <a:p>
            <a:pPr indent="0" marL="0">
              <a:buNone/>
            </a:pPr>
            <a:r>
              <a:rPr lang="en-US" sz="1100" dirty="0">
                <a:solidFill>
                  <a:schemeClr val="tx1"/>
                </a:solidFill>
              </a:rPr>
              <a:t>Controlli proporzionati a rischi e obblighi?</a:t>
            </a:r>
            <a:endParaRPr lang="en-US" sz="1100" dirty="0"/>
          </a:p>
        </p:txBody>
      </p:sp>
      <p:sp>
        <p:nvSpPr>
          <p:cNvPr id="34" name="domanda 7"/>
          <p:cNvSpPr/>
          <p:nvPr/>
        </p:nvSpPr>
        <p:spPr>
          <a:xfrm>
            <a:off x="457200" y="2578608"/>
            <a:ext cx="2651760" cy="685800"/>
          </a:xfrm>
          <a:prstGeom prst="roundRect">
            <a:avLst>
              <a:gd name="adj" fmla="val 10667"/>
            </a:avLst>
          </a:prstGeom>
          <a:solidFill>
            <a:schemeClr val="bg2"/>
          </a:solidFill>
          <a:ln/>
        </p:spPr>
      </p:sp>
      <p:sp>
        <p:nvSpPr>
          <p:cNvPr id="35" name="Text 32"/>
          <p:cNvSpPr txBox="1"/>
          <p:nvPr/>
        </p:nvSpPr>
        <p:spPr>
          <a:xfrm>
            <a:off x="530352" y="257860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36" name="Text 33"/>
          <p:cNvSpPr txBox="1"/>
          <p:nvPr/>
        </p:nvSpPr>
        <p:spPr>
          <a:xfrm>
            <a:off x="841248" y="2578608"/>
            <a:ext cx="2221992" cy="685800"/>
          </a:xfrm>
          <a:prstGeom prst="rect">
            <a:avLst/>
          </a:prstGeom>
          <a:noFill/>
          <a:ln/>
        </p:spPr>
        <p:txBody>
          <a:bodyPr wrap="square" lIns="0" tIns="0" rIns="0" bIns="0" rtlCol="0" anchor="ctr"/>
          <a:lstStyle/>
          <a:p>
            <a:pPr indent="0" marL="0">
              <a:buNone/>
            </a:pPr>
            <a:r>
              <a:rPr lang="en-US" sz="1100" dirty="0">
                <a:solidFill>
                  <a:schemeClr val="tx1"/>
                </a:solidFill>
              </a:rPr>
              <a:t>AI literacy coerente con persone, ruoli, sistemi?</a:t>
            </a:r>
            <a:endParaRPr lang="en-US" sz="1100" dirty="0"/>
          </a:p>
        </p:txBody>
      </p:sp>
      <p:sp>
        <p:nvSpPr>
          <p:cNvPr id="37" name="domanda 8"/>
          <p:cNvSpPr/>
          <p:nvPr/>
        </p:nvSpPr>
        <p:spPr>
          <a:xfrm>
            <a:off x="3264408" y="2578608"/>
            <a:ext cx="2651760" cy="685800"/>
          </a:xfrm>
          <a:prstGeom prst="roundRect">
            <a:avLst>
              <a:gd name="adj" fmla="val 10667"/>
            </a:avLst>
          </a:prstGeom>
          <a:solidFill>
            <a:schemeClr val="bg2"/>
          </a:solidFill>
          <a:ln/>
        </p:spPr>
      </p:sp>
      <p:sp>
        <p:nvSpPr>
          <p:cNvPr id="38" name="Text 35"/>
          <p:cNvSpPr txBox="1"/>
          <p:nvPr/>
        </p:nvSpPr>
        <p:spPr>
          <a:xfrm>
            <a:off x="3337560" y="257860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39" name="Text 36"/>
          <p:cNvSpPr txBox="1"/>
          <p:nvPr/>
        </p:nvSpPr>
        <p:spPr>
          <a:xfrm>
            <a:off x="3648456" y="2578608"/>
            <a:ext cx="2221992" cy="685800"/>
          </a:xfrm>
          <a:prstGeom prst="rect">
            <a:avLst/>
          </a:prstGeom>
          <a:noFill/>
          <a:ln/>
        </p:spPr>
        <p:txBody>
          <a:bodyPr wrap="square" lIns="0" tIns="0" rIns="0" bIns="0" rtlCol="0" anchor="ctr"/>
          <a:lstStyle/>
          <a:p>
            <a:pPr indent="0" marL="0">
              <a:buNone/>
            </a:pPr>
            <a:r>
              <a:rPr lang="en-US" sz="1100" dirty="0">
                <a:solidFill>
                  <a:schemeClr val="tx1"/>
                </a:solidFill>
              </a:rPr>
              <a:t>Modo per segnalare e riesaminare?</a:t>
            </a:r>
            <a:endParaRPr lang="en-US" sz="1100" dirty="0"/>
          </a:p>
        </p:txBody>
      </p:sp>
      <p:sp>
        <p:nvSpPr>
          <p:cNvPr id="40" name="domanda 9"/>
          <p:cNvSpPr/>
          <p:nvPr/>
        </p:nvSpPr>
        <p:spPr>
          <a:xfrm>
            <a:off x="6071616" y="2578608"/>
            <a:ext cx="2651760" cy="685800"/>
          </a:xfrm>
          <a:prstGeom prst="roundRect">
            <a:avLst>
              <a:gd name="adj" fmla="val 10667"/>
            </a:avLst>
          </a:prstGeom>
          <a:solidFill>
            <a:schemeClr val="bg2"/>
          </a:solidFill>
          <a:ln/>
        </p:spPr>
      </p:sp>
      <p:sp>
        <p:nvSpPr>
          <p:cNvPr id="41" name="Text 38"/>
          <p:cNvSpPr txBox="1"/>
          <p:nvPr/>
        </p:nvSpPr>
        <p:spPr>
          <a:xfrm>
            <a:off x="6144768" y="2578608"/>
            <a:ext cx="320040" cy="68580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42" name="Text 39"/>
          <p:cNvSpPr txBox="1"/>
          <p:nvPr/>
        </p:nvSpPr>
        <p:spPr>
          <a:xfrm>
            <a:off x="6455664" y="2578608"/>
            <a:ext cx="2221992" cy="685800"/>
          </a:xfrm>
          <a:prstGeom prst="rect">
            <a:avLst/>
          </a:prstGeom>
          <a:noFill/>
          <a:ln/>
        </p:spPr>
        <p:txBody>
          <a:bodyPr wrap="square" lIns="0" tIns="0" rIns="0" bIns="0" rtlCol="0" anchor="ctr"/>
          <a:lstStyle/>
          <a:p>
            <a:pPr indent="0" marL="0">
              <a:buNone/>
            </a:pPr>
            <a:r>
              <a:rPr lang="en-US" sz="1100" dirty="0">
                <a:solidFill>
                  <a:schemeClr val="tx1"/>
                </a:solidFill>
              </a:rPr>
              <a:t>Aggiornamento quando cambia il contesto?</a:t>
            </a:r>
            <a:endParaRPr lang="en-US" sz="1100" dirty="0"/>
          </a:p>
        </p:txBody>
      </p:sp>
      <p:sp>
        <p:nvSpPr>
          <p:cNvPr id="43" name="messaggio"/>
          <p:cNvSpPr/>
          <p:nvPr/>
        </p:nvSpPr>
        <p:spPr>
          <a:xfrm>
            <a:off x="457200" y="3474720"/>
            <a:ext cx="8229600" cy="868680"/>
          </a:xfrm>
          <a:prstGeom prst="roundRect">
            <a:avLst>
              <a:gd name="adj" fmla="val 8421"/>
            </a:avLst>
          </a:prstGeom>
          <a:solidFill>
            <a:schemeClr val="tx1"/>
          </a:solidFill>
          <a:ln/>
        </p:spPr>
      </p:sp>
      <p:sp>
        <p:nvSpPr>
          <p:cNvPr id="44" name="Text 41"/>
          <p:cNvSpPr txBox="1"/>
          <p:nvPr/>
        </p:nvSpPr>
        <p:spPr>
          <a:xfrm>
            <a:off x="640080" y="3474720"/>
            <a:ext cx="7863840" cy="868680"/>
          </a:xfrm>
          <a:prstGeom prst="rect">
            <a:avLst/>
          </a:prstGeom>
          <a:noFill/>
          <a:ln/>
        </p:spPr>
        <p:txBody>
          <a:bodyPr wrap="square" lIns="0" tIns="0" rIns="0" bIns="0" rtlCol="0" anchor="ctr"/>
          <a:lstStyle/>
          <a:p>
            <a:pPr indent="0" marL="0">
              <a:buNone/>
            </a:pPr>
            <a:r>
              <a:rPr lang="en-US" sz="1300" dirty="0">
                <a:solidFill>
                  <a:schemeClr val="bg1"/>
                </a:solidFill>
              </a:rPr>
              <a:t>Uno strumento di orientamento didattico, non una prova di conformità. Per valutare gli obblighi: approfondimenti e figure competenti.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Migliorare nel tempo</a:t>
            </a:r>
            <a:endParaRPr lang="en-US" sz="2600" dirty="0"/>
          </a:p>
        </p:txBody>
      </p:sp>
      <p:sp>
        <p:nvSpPr>
          <p:cNvPr id="4" name="dimensione Governance"/>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Governance</a:t>
            </a:r>
            <a:endParaRPr lang="en-US" sz="650" dirty="0"/>
          </a:p>
        </p:txBody>
      </p:sp>
      <p:sp>
        <p:nvSpPr>
          <p:cNvPr id="6" name="dimensione Norme"/>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Norme</a:t>
            </a:r>
            <a:endParaRPr lang="en-US" sz="650" dirty="0"/>
          </a:p>
        </p:txBody>
      </p:sp>
      <p:sp>
        <p:nvSpPr>
          <p:cNvPr id="8" name="dimensione Ruoli"/>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Ruoli</a:t>
            </a:r>
            <a:endParaRPr lang="en-US" sz="650" dirty="0"/>
          </a:p>
        </p:txBody>
      </p:sp>
      <p:sp>
        <p:nvSpPr>
          <p:cNvPr id="10" name="dimensione Policy"/>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Policy</a:t>
            </a:r>
            <a:endParaRPr lang="en-US" sz="650" dirty="0"/>
          </a:p>
        </p:txBody>
      </p:sp>
      <p:sp>
        <p:nvSpPr>
          <p:cNvPr id="12" name="dimensione Controll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Controlli</a:t>
            </a:r>
            <a:endParaRPr lang="en-US" sz="650" dirty="0"/>
          </a:p>
        </p:txBody>
      </p:sp>
      <p:sp>
        <p:nvSpPr>
          <p:cNvPr id="14" name="dimensione Literacy"/>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Literacy</a:t>
            </a:r>
            <a:endParaRPr lang="en-US" sz="650" dirty="0"/>
          </a:p>
        </p:txBody>
      </p:sp>
      <p:sp>
        <p:nvSpPr>
          <p:cNvPr id="16" name="Presidi essenziali"/>
          <p:cNvSpPr/>
          <p:nvPr/>
        </p:nvSpPr>
        <p:spPr>
          <a:xfrm>
            <a:off x="457200" y="1051560"/>
            <a:ext cx="1965960" cy="1463040"/>
          </a:xfrm>
          <a:prstGeom prst="roundRect">
            <a:avLst>
              <a:gd name="adj" fmla="val 5000"/>
            </a:avLst>
          </a:prstGeom>
          <a:solidFill>
            <a:schemeClr val="bg2"/>
          </a:solidFill>
          <a:ln/>
        </p:spPr>
      </p:sp>
      <p:sp>
        <p:nvSpPr>
          <p:cNvPr id="17" name="Text 14"/>
          <p:cNvSpPr txBox="1"/>
          <p:nvPr/>
        </p:nvSpPr>
        <p:spPr>
          <a:xfrm>
            <a:off x="56692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Presidi essenziali</a:t>
            </a:r>
            <a:endParaRPr lang="en-US" sz="1400" dirty="0"/>
          </a:p>
        </p:txBody>
      </p:sp>
      <p:sp>
        <p:nvSpPr>
          <p:cNvPr id="18" name="Text 15"/>
          <p:cNvSpPr txBox="1"/>
          <p:nvPr/>
        </p:nvSpPr>
        <p:spPr>
          <a:xfrm>
            <a:off x="566928" y="1554480"/>
            <a:ext cx="1746504" cy="868680"/>
          </a:xfrm>
          <a:prstGeom prst="rect">
            <a:avLst/>
          </a:prstGeom>
          <a:noFill/>
          <a:ln/>
        </p:spPr>
        <p:txBody>
          <a:bodyPr wrap="square" lIns="0" tIns="0" rIns="0" bIns="0" rtlCol="0" anchor="t"/>
          <a:lstStyle/>
          <a:p>
            <a:pPr indent="0" marL="0">
              <a:buNone/>
            </a:pPr>
            <a:r>
              <a:rPr lang="en-US" sz="1100" dirty="0">
                <a:solidFill>
                  <a:schemeClr val="tx1"/>
                </a:solidFill>
              </a:rPr>
              <a:t>Che cosa si usa, chi decide, quali regole, a chi chiedere</a:t>
            </a:r>
            <a:endParaRPr lang="en-US" sz="1100" dirty="0"/>
          </a:p>
        </p:txBody>
      </p:sp>
      <p:sp>
        <p:nvSpPr>
          <p:cNvPr id="19" name="freccia"/>
          <p:cNvSpPr/>
          <p:nvPr/>
        </p:nvSpPr>
        <p:spPr>
          <a:xfrm>
            <a:off x="2432304" y="1645920"/>
            <a:ext cx="118872" cy="292608"/>
          </a:xfrm>
          <a:prstGeom prst="rightArrow">
            <a:avLst/>
          </a:prstGeom>
          <a:solidFill>
            <a:schemeClr val="accent2"/>
          </a:solidFill>
          <a:ln/>
        </p:spPr>
      </p:sp>
      <p:sp>
        <p:nvSpPr>
          <p:cNvPr id="20" name="Osservare"/>
          <p:cNvSpPr/>
          <p:nvPr/>
        </p:nvSpPr>
        <p:spPr>
          <a:xfrm>
            <a:off x="2560320" y="1051560"/>
            <a:ext cx="1965960" cy="1463040"/>
          </a:xfrm>
          <a:prstGeom prst="roundRect">
            <a:avLst>
              <a:gd name="adj" fmla="val 5000"/>
            </a:avLst>
          </a:prstGeom>
          <a:solidFill>
            <a:schemeClr val="accent6"/>
          </a:solidFill>
          <a:ln/>
        </p:spPr>
      </p:sp>
      <p:sp>
        <p:nvSpPr>
          <p:cNvPr id="21" name="Text 18"/>
          <p:cNvSpPr txBox="1"/>
          <p:nvPr/>
        </p:nvSpPr>
        <p:spPr>
          <a:xfrm>
            <a:off x="267004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Osservare</a:t>
            </a:r>
            <a:endParaRPr lang="en-US" sz="1400" dirty="0"/>
          </a:p>
        </p:txBody>
      </p:sp>
      <p:sp>
        <p:nvSpPr>
          <p:cNvPr id="22" name="Text 19"/>
          <p:cNvSpPr txBox="1"/>
          <p:nvPr/>
        </p:nvSpPr>
        <p:spPr>
          <a:xfrm>
            <a:off x="2670048" y="1554480"/>
            <a:ext cx="1746504" cy="868680"/>
          </a:xfrm>
          <a:prstGeom prst="rect">
            <a:avLst/>
          </a:prstGeom>
          <a:noFill/>
          <a:ln/>
        </p:spPr>
        <p:txBody>
          <a:bodyPr wrap="square" lIns="0" tIns="0" rIns="0" bIns="0" rtlCol="0" anchor="t"/>
          <a:lstStyle/>
          <a:p>
            <a:pPr indent="0" marL="0">
              <a:buNone/>
            </a:pPr>
            <a:r>
              <a:rPr lang="en-US" sz="1100" dirty="0">
                <a:solidFill>
                  <a:schemeClr val="tx1"/>
                </a:solidFill>
              </a:rPr>
              <a:t>Incidenti, domande, nuovi strumenti e usi</a:t>
            </a:r>
            <a:endParaRPr lang="en-US" sz="1100" dirty="0"/>
          </a:p>
        </p:txBody>
      </p:sp>
      <p:sp>
        <p:nvSpPr>
          <p:cNvPr id="23" name="freccia"/>
          <p:cNvSpPr/>
          <p:nvPr/>
        </p:nvSpPr>
        <p:spPr>
          <a:xfrm>
            <a:off x="4535424" y="1645920"/>
            <a:ext cx="118872" cy="292608"/>
          </a:xfrm>
          <a:prstGeom prst="rightArrow">
            <a:avLst/>
          </a:prstGeom>
          <a:solidFill>
            <a:schemeClr val="accent2"/>
          </a:solidFill>
          <a:ln/>
        </p:spPr>
      </p:sp>
      <p:sp>
        <p:nvSpPr>
          <p:cNvPr id="24" name="Migliorare"/>
          <p:cNvSpPr/>
          <p:nvPr/>
        </p:nvSpPr>
        <p:spPr>
          <a:xfrm>
            <a:off x="4663440" y="1051560"/>
            <a:ext cx="1965960" cy="1463040"/>
          </a:xfrm>
          <a:prstGeom prst="roundRect">
            <a:avLst>
              <a:gd name="adj" fmla="val 5000"/>
            </a:avLst>
          </a:prstGeom>
          <a:solidFill>
            <a:schemeClr val="bg2"/>
          </a:solidFill>
          <a:ln/>
        </p:spPr>
      </p:sp>
      <p:sp>
        <p:nvSpPr>
          <p:cNvPr id="25" name="Text 22"/>
          <p:cNvSpPr txBox="1"/>
          <p:nvPr/>
        </p:nvSpPr>
        <p:spPr>
          <a:xfrm>
            <a:off x="477316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Migliorare</a:t>
            </a:r>
            <a:endParaRPr lang="en-US" sz="1400" dirty="0"/>
          </a:p>
        </p:txBody>
      </p:sp>
      <p:sp>
        <p:nvSpPr>
          <p:cNvPr id="26" name="Text 23"/>
          <p:cNvSpPr txBox="1"/>
          <p:nvPr/>
        </p:nvSpPr>
        <p:spPr>
          <a:xfrm>
            <a:off x="4773168" y="1554480"/>
            <a:ext cx="1746504" cy="868680"/>
          </a:xfrm>
          <a:prstGeom prst="rect">
            <a:avLst/>
          </a:prstGeom>
          <a:noFill/>
          <a:ln/>
        </p:spPr>
        <p:txBody>
          <a:bodyPr wrap="square" lIns="0" tIns="0" rIns="0" bIns="0" rtlCol="0" anchor="t"/>
          <a:lstStyle/>
          <a:p>
            <a:pPr indent="0" marL="0">
              <a:buNone/>
            </a:pPr>
            <a:r>
              <a:rPr lang="en-US" sz="1100" dirty="0">
                <a:solidFill>
                  <a:schemeClr val="tx1"/>
                </a:solidFill>
              </a:rPr>
              <a:t>Regole, controlli, formazione, supporto</a:t>
            </a:r>
            <a:endParaRPr lang="en-US" sz="1100" dirty="0"/>
          </a:p>
        </p:txBody>
      </p:sp>
      <p:sp>
        <p:nvSpPr>
          <p:cNvPr id="27" name="freccia"/>
          <p:cNvSpPr/>
          <p:nvPr/>
        </p:nvSpPr>
        <p:spPr>
          <a:xfrm>
            <a:off x="6638544" y="1645920"/>
            <a:ext cx="118872" cy="292608"/>
          </a:xfrm>
          <a:prstGeom prst="rightArrow">
            <a:avLst/>
          </a:prstGeom>
          <a:solidFill>
            <a:schemeClr val="accent2"/>
          </a:solidFill>
          <a:ln/>
        </p:spPr>
      </p:sp>
      <p:sp>
        <p:nvSpPr>
          <p:cNvPr id="28" name="Adeguare"/>
          <p:cNvSpPr/>
          <p:nvPr/>
        </p:nvSpPr>
        <p:spPr>
          <a:xfrm>
            <a:off x="6766560" y="1051560"/>
            <a:ext cx="1965960" cy="1463040"/>
          </a:xfrm>
          <a:prstGeom prst="roundRect">
            <a:avLst>
              <a:gd name="adj" fmla="val 5000"/>
            </a:avLst>
          </a:prstGeom>
          <a:solidFill>
            <a:schemeClr val="accent6"/>
          </a:solidFill>
          <a:ln/>
        </p:spPr>
      </p:sp>
      <p:sp>
        <p:nvSpPr>
          <p:cNvPr id="29" name="Text 26"/>
          <p:cNvSpPr txBox="1"/>
          <p:nvPr/>
        </p:nvSpPr>
        <p:spPr>
          <a:xfrm>
            <a:off x="6876288" y="1115568"/>
            <a:ext cx="1746504" cy="411480"/>
          </a:xfrm>
          <a:prstGeom prst="rect">
            <a:avLst/>
          </a:prstGeom>
          <a:noFill/>
          <a:ln/>
        </p:spPr>
        <p:txBody>
          <a:bodyPr wrap="square" lIns="0" tIns="0" rIns="0" bIns="0" rtlCol="0" anchor="t"/>
          <a:lstStyle/>
          <a:p>
            <a:pPr indent="0" marL="0">
              <a:buNone/>
            </a:pPr>
            <a:r>
              <a:rPr lang="en-US" sz="1400" b="1" dirty="0">
                <a:solidFill>
                  <a:schemeClr val="accent1"/>
                </a:solidFill>
              </a:rPr>
              <a:t>Adeguare</a:t>
            </a:r>
            <a:endParaRPr lang="en-US" sz="1400" dirty="0"/>
          </a:p>
        </p:txBody>
      </p:sp>
      <p:sp>
        <p:nvSpPr>
          <p:cNvPr id="30" name="Text 27"/>
          <p:cNvSpPr txBox="1"/>
          <p:nvPr/>
        </p:nvSpPr>
        <p:spPr>
          <a:xfrm>
            <a:off x="6876288" y="1554480"/>
            <a:ext cx="1746504" cy="868680"/>
          </a:xfrm>
          <a:prstGeom prst="rect">
            <a:avLst/>
          </a:prstGeom>
          <a:noFill/>
          <a:ln/>
        </p:spPr>
        <p:txBody>
          <a:bodyPr wrap="square" lIns="0" tIns="0" rIns="0" bIns="0" rtlCol="0" anchor="t"/>
          <a:lstStyle/>
          <a:p>
            <a:pPr indent="0" marL="0">
              <a:buNone/>
            </a:pPr>
            <a:r>
              <a:rPr lang="en-US" sz="1100" dirty="0">
                <a:solidFill>
                  <a:schemeClr val="tx1"/>
                </a:solidFill>
              </a:rPr>
              <a:t>Evoluzioni normative e tecniche</a:t>
            </a:r>
            <a:endParaRPr lang="en-US" sz="1100" dirty="0"/>
          </a:p>
        </p:txBody>
      </p:sp>
      <p:sp>
        <p:nvSpPr>
          <p:cNvPr id="31" name="Text 28"/>
          <p:cNvSpPr txBox="1"/>
          <p:nvPr/>
        </p:nvSpPr>
        <p:spPr>
          <a:xfrm>
            <a:off x="457200" y="2651760"/>
            <a:ext cx="8229600" cy="457200"/>
          </a:xfrm>
          <a:prstGeom prst="rect">
            <a:avLst/>
          </a:prstGeom>
          <a:noFill/>
          <a:ln/>
        </p:spPr>
        <p:txBody>
          <a:bodyPr wrap="square" lIns="0" tIns="0" rIns="0" bIns="0" rtlCol="0" anchor="t"/>
          <a:lstStyle/>
          <a:p>
            <a:pPr indent="0" marL="0">
              <a:buNone/>
            </a:pPr>
            <a:r>
              <a:rPr lang="en-US" sz="1200" i="1" dirty="0">
                <a:solidFill>
                  <a:schemeClr val="tx2"/>
                </a:solidFill>
              </a:rPr>
              <a:t>In poco più di due anni: modifica dell'AI Act (Digital Omnibus), linee guida, codici di buone pratiche, leggi nazionali, strumenti nuovi.</a:t>
            </a:r>
            <a:endParaRPr lang="en-US" sz="1200" dirty="0"/>
          </a:p>
        </p:txBody>
      </p:sp>
      <p:sp>
        <p:nvSpPr>
          <p:cNvPr id="32" name="messaggio"/>
          <p:cNvSpPr/>
          <p:nvPr/>
        </p:nvSpPr>
        <p:spPr>
          <a:xfrm>
            <a:off x="457200" y="3246120"/>
            <a:ext cx="8229600" cy="914400"/>
          </a:xfrm>
          <a:prstGeom prst="roundRect">
            <a:avLst>
              <a:gd name="adj" fmla="val 8000"/>
            </a:avLst>
          </a:prstGeom>
          <a:solidFill>
            <a:schemeClr val="tx1"/>
          </a:solidFill>
          <a:ln/>
        </p:spPr>
      </p:sp>
      <p:sp>
        <p:nvSpPr>
          <p:cNvPr id="33" name="Text 30"/>
          <p:cNvSpPr txBox="1"/>
          <p:nvPr/>
        </p:nvSpPr>
        <p:spPr>
          <a:xfrm>
            <a:off x="640080" y="3246120"/>
            <a:ext cx="7863840" cy="914400"/>
          </a:xfrm>
          <a:prstGeom prst="rect">
            <a:avLst/>
          </a:prstGeom>
          <a:noFill/>
          <a:ln/>
        </p:spPr>
        <p:txBody>
          <a:bodyPr wrap="square" lIns="0" tIns="0" rIns="0" bIns="0" rtlCol="0" anchor="ctr"/>
          <a:lstStyle/>
          <a:p>
            <a:pPr indent="0" marL="0">
              <a:buNone/>
            </a:pPr>
            <a:r>
              <a:rPr lang="en-US" sz="1400" dirty="0">
                <a:solidFill>
                  <a:schemeClr val="bg1"/>
                </a:solidFill>
              </a:rPr>
              <a:t>Nessun modello unico. Ma rispettare gli obblighi pertinenti e rendere effettivi i controlli scelti: due condizioni non negoziabili.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Non esiste un modello organizzativo unico, ma è necessario rispettare gli obblighi pertinenti e rendere effettivi i controlli scelti.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18.8  ·  Una governance proporzionata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731520"/>
          </a:xfrm>
          <a:prstGeom prst="roundRect">
            <a:avLst>
              <a:gd name="adj" fmla="val 10000"/>
            </a:avLst>
          </a:prstGeom>
          <a:solidFill>
            <a:schemeClr val="bg2"/>
          </a:solidFill>
          <a:ln/>
        </p:spPr>
      </p:sp>
      <p:sp>
        <p:nvSpPr>
          <p:cNvPr id="5" name="Text 2"/>
          <p:cNvSpPr txBox="1"/>
          <p:nvPr/>
        </p:nvSpPr>
        <p:spPr>
          <a:xfrm>
            <a:off x="54864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Perché regole e governance?</a:t>
            </a:r>
            <a:endParaRPr lang="en-US" sz="1200" dirty="0"/>
          </a:p>
        </p:txBody>
      </p:sp>
      <p:sp>
        <p:nvSpPr>
          <p:cNvPr id="7" name="Text 4"/>
          <p:cNvSpPr txBox="1"/>
          <p:nvPr/>
        </p:nvSpPr>
        <p:spPr>
          <a:xfrm>
            <a:off x="96012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Diritti e persone; regole, responsabilità, controlli condivisi</a:t>
            </a:r>
            <a:endParaRPr lang="en-US" sz="1100" dirty="0"/>
          </a:p>
        </p:txBody>
      </p:sp>
      <p:sp>
        <p:nvSpPr>
          <p:cNvPr id="8" name="risposta 2"/>
          <p:cNvSpPr/>
          <p:nvPr/>
        </p:nvSpPr>
        <p:spPr>
          <a:xfrm>
            <a:off x="4663440" y="1024128"/>
            <a:ext cx="4023360" cy="731520"/>
          </a:xfrm>
          <a:prstGeom prst="roundRect">
            <a:avLst>
              <a:gd name="adj" fmla="val 10000"/>
            </a:avLst>
          </a:prstGeom>
          <a:solidFill>
            <a:schemeClr val="bg2"/>
          </a:solidFill>
          <a:ln/>
        </p:spPr>
      </p:sp>
      <p:sp>
        <p:nvSpPr>
          <p:cNvPr id="9" name="Text 6"/>
          <p:cNvSpPr txBox="1"/>
          <p:nvPr/>
        </p:nvSpPr>
        <p:spPr>
          <a:xfrm>
            <a:off x="475488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AI Act e altre norme?</a:t>
            </a:r>
            <a:endParaRPr lang="en-US" sz="1200" dirty="0"/>
          </a:p>
        </p:txBody>
      </p:sp>
      <p:sp>
        <p:nvSpPr>
          <p:cNvPr id="11" name="Text 8"/>
          <p:cNvSpPr txBox="1"/>
          <p:nvPr/>
        </p:nvSpPr>
        <p:spPr>
          <a:xfrm>
            <a:off x="516636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Centrale, ma insieme a GDPR, lavoro, consumatori, legge 132</a:t>
            </a:r>
            <a:endParaRPr lang="en-US" sz="1100" dirty="0"/>
          </a:p>
        </p:txBody>
      </p:sp>
      <p:sp>
        <p:nvSpPr>
          <p:cNvPr id="12" name="risposta 3"/>
          <p:cNvSpPr/>
          <p:nvPr/>
        </p:nvSpPr>
        <p:spPr>
          <a:xfrm>
            <a:off x="457200" y="1847088"/>
            <a:ext cx="4023360" cy="731520"/>
          </a:xfrm>
          <a:prstGeom prst="roundRect">
            <a:avLst>
              <a:gd name="adj" fmla="val 10000"/>
            </a:avLst>
          </a:prstGeom>
          <a:solidFill>
            <a:schemeClr val="bg2"/>
          </a:solidFill>
          <a:ln/>
        </p:spPr>
      </p:sp>
      <p:sp>
        <p:nvSpPr>
          <p:cNvPr id="13" name="Text 10"/>
          <p:cNvSpPr txBox="1"/>
          <p:nvPr/>
        </p:nvSpPr>
        <p:spPr>
          <a:xfrm>
            <a:off x="54864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Classificazione per rischio?</a:t>
            </a:r>
            <a:endParaRPr lang="en-US" sz="1200" dirty="0"/>
          </a:p>
        </p:txBody>
      </p:sp>
      <p:sp>
        <p:nvSpPr>
          <p:cNvPr id="15" name="Text 12"/>
          <p:cNvSpPr txBox="1"/>
          <p:nvPr/>
        </p:nvSpPr>
        <p:spPr>
          <a:xfrm>
            <a:off x="96012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Decide la finalità; rischio minimo non è rischio zero</a:t>
            </a:r>
            <a:endParaRPr lang="en-US" sz="1100" dirty="0"/>
          </a:p>
        </p:txBody>
      </p:sp>
      <p:sp>
        <p:nvSpPr>
          <p:cNvPr id="16" name="risposta 4"/>
          <p:cNvSpPr/>
          <p:nvPr/>
        </p:nvSpPr>
        <p:spPr>
          <a:xfrm>
            <a:off x="4663440" y="1847088"/>
            <a:ext cx="4023360" cy="731520"/>
          </a:xfrm>
          <a:prstGeom prst="roundRect">
            <a:avLst>
              <a:gd name="adj" fmla="val 10000"/>
            </a:avLst>
          </a:prstGeom>
          <a:solidFill>
            <a:schemeClr val="bg2"/>
          </a:solidFill>
          <a:ln/>
        </p:spPr>
      </p:sp>
      <p:sp>
        <p:nvSpPr>
          <p:cNvPr id="17" name="Text 14"/>
          <p:cNvSpPr txBox="1"/>
          <p:nvPr/>
        </p:nvSpPr>
        <p:spPr>
          <a:xfrm>
            <a:off x="475488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Provider e deployer?</a:t>
            </a:r>
            <a:endParaRPr lang="en-US" sz="1200" dirty="0"/>
          </a:p>
        </p:txBody>
      </p:sp>
      <p:sp>
        <p:nvSpPr>
          <p:cNvPr id="19" name="Text 16"/>
          <p:cNvSpPr txBox="1"/>
          <p:nvPr/>
        </p:nvSpPr>
        <p:spPr>
          <a:xfrm>
            <a:off x="516636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Come è fatto, come si usa; conforme non è uso conforme</a:t>
            </a:r>
            <a:endParaRPr lang="en-US" sz="1100" dirty="0"/>
          </a:p>
        </p:txBody>
      </p:sp>
      <p:sp>
        <p:nvSpPr>
          <p:cNvPr id="20" name="risposta 5"/>
          <p:cNvSpPr/>
          <p:nvPr/>
        </p:nvSpPr>
        <p:spPr>
          <a:xfrm>
            <a:off x="457200" y="2670048"/>
            <a:ext cx="4023360" cy="731520"/>
          </a:xfrm>
          <a:prstGeom prst="roundRect">
            <a:avLst>
              <a:gd name="adj" fmla="val 10000"/>
            </a:avLst>
          </a:prstGeom>
          <a:solidFill>
            <a:schemeClr val="bg2"/>
          </a:solidFill>
          <a:ln/>
        </p:spPr>
      </p:sp>
      <p:sp>
        <p:nvSpPr>
          <p:cNvPr id="21" name="Text 18"/>
          <p:cNvSpPr txBox="1"/>
          <p:nvPr/>
        </p:nvSpPr>
        <p:spPr>
          <a:xfrm>
            <a:off x="54864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Che cosa contiene una policy?</a:t>
            </a:r>
            <a:endParaRPr lang="en-US" sz="1200" dirty="0"/>
          </a:p>
        </p:txBody>
      </p:sp>
      <p:sp>
        <p:nvSpPr>
          <p:cNvPr id="23" name="Text 20"/>
          <p:cNvSpPr txBox="1"/>
          <p:nvPr/>
        </p:nvSpPr>
        <p:spPr>
          <a:xfrm>
            <a:off x="96012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Strumenti, quattro categorie d'uso, dati, canali; praticata</a:t>
            </a:r>
            <a:endParaRPr lang="en-US" sz="1100" dirty="0"/>
          </a:p>
        </p:txBody>
      </p:sp>
      <p:sp>
        <p:nvSpPr>
          <p:cNvPr id="24" name="risposta 6"/>
          <p:cNvSpPr/>
          <p:nvPr/>
        </p:nvSpPr>
        <p:spPr>
          <a:xfrm>
            <a:off x="4663440" y="2670048"/>
            <a:ext cx="4023360" cy="731520"/>
          </a:xfrm>
          <a:prstGeom prst="roundRect">
            <a:avLst>
              <a:gd name="adj" fmla="val 10000"/>
            </a:avLst>
          </a:prstGeom>
          <a:solidFill>
            <a:schemeClr val="bg2"/>
          </a:solidFill>
          <a:ln/>
        </p:spPr>
      </p:sp>
      <p:sp>
        <p:nvSpPr>
          <p:cNvPr id="25" name="Text 22"/>
          <p:cNvSpPr txBox="1"/>
          <p:nvPr/>
        </p:nvSpPr>
        <p:spPr>
          <a:xfrm>
            <a:off x="475488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Controlli e supervisione?</a:t>
            </a:r>
            <a:endParaRPr lang="en-US" sz="1200" dirty="0"/>
          </a:p>
        </p:txBody>
      </p:sp>
      <p:sp>
        <p:nvSpPr>
          <p:cNvPr id="27" name="Text 24"/>
          <p:cNvSpPr txBox="1"/>
          <p:nvPr/>
        </p:nvSpPr>
        <p:spPr>
          <a:xfrm>
            <a:off x="516636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Inventario, valutazione, misure, supervisione progettata</a:t>
            </a:r>
            <a:endParaRPr lang="en-US" sz="1100" dirty="0"/>
          </a:p>
        </p:txBody>
      </p:sp>
      <p:sp>
        <p:nvSpPr>
          <p:cNvPr id="28" name="risposta 7"/>
          <p:cNvSpPr/>
          <p:nvPr/>
        </p:nvSpPr>
        <p:spPr>
          <a:xfrm>
            <a:off x="457200" y="3493008"/>
            <a:ext cx="4023360" cy="731520"/>
          </a:xfrm>
          <a:prstGeom prst="roundRect">
            <a:avLst>
              <a:gd name="adj" fmla="val 10000"/>
            </a:avLst>
          </a:prstGeom>
          <a:solidFill>
            <a:schemeClr val="bg2"/>
          </a:solidFill>
          <a:ln/>
        </p:spPr>
      </p:sp>
      <p:sp>
        <p:nvSpPr>
          <p:cNvPr id="29" name="Text 26"/>
          <p:cNvSpPr txBox="1"/>
          <p:nvPr/>
        </p:nvSpPr>
        <p:spPr>
          <a:xfrm>
            <a:off x="54864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AI literacy contestualizzata?</a:t>
            </a:r>
            <a:endParaRPr lang="en-US" sz="1200" dirty="0"/>
          </a:p>
        </p:txBody>
      </p:sp>
      <p:sp>
        <p:nvSpPr>
          <p:cNvPr id="31" name="Text 28"/>
          <p:cNvSpPr txBox="1"/>
          <p:nvPr/>
        </p:nvSpPr>
        <p:spPr>
          <a:xfrm>
            <a:off x="96012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Misure commisurate; un corso avvia, non esaurisce</a:t>
            </a:r>
            <a:endParaRPr lang="en-US" sz="1100" dirty="0"/>
          </a:p>
        </p:txBody>
      </p:sp>
      <p:sp>
        <p:nvSpPr>
          <p:cNvPr id="32" name="risposta 8"/>
          <p:cNvSpPr/>
          <p:nvPr/>
        </p:nvSpPr>
        <p:spPr>
          <a:xfrm>
            <a:off x="4663440" y="3493008"/>
            <a:ext cx="4023360" cy="731520"/>
          </a:xfrm>
          <a:prstGeom prst="roundRect">
            <a:avLst>
              <a:gd name="adj" fmla="val 10000"/>
            </a:avLst>
          </a:prstGeom>
          <a:solidFill>
            <a:schemeClr val="bg2"/>
          </a:solidFill>
          <a:ln/>
        </p:spPr>
      </p:sp>
      <p:sp>
        <p:nvSpPr>
          <p:cNvPr id="33" name="Text 30"/>
          <p:cNvSpPr txBox="1"/>
          <p:nvPr/>
        </p:nvSpPr>
        <p:spPr>
          <a:xfrm>
            <a:off x="475488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Governance proporzionata?</a:t>
            </a:r>
            <a:endParaRPr lang="en-US" sz="1200" dirty="0"/>
          </a:p>
        </p:txBody>
      </p:sp>
      <p:sp>
        <p:nvSpPr>
          <p:cNvPr id="35" name="Text 32"/>
          <p:cNvSpPr txBox="1"/>
          <p:nvPr/>
        </p:nvSpPr>
        <p:spPr>
          <a:xfrm>
            <a:off x="516636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Nella forma dei presidi, non negli obblighi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Governance non è solo conformità</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AI Act e altre normative</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Classificazione basata sul rischio</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Generativa non è alto rischio</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Classificazione legale e rischio operativo</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Provider, deployer, altri ruoli</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Sistemi di terzi, responsabilità proprie</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A che cosa serve una policy</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Rischi, controlli, documentazione, supervisione</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Articolo 4 e AI literacy contestualizzata</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Un corso non è verifica degli obblighi</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Proporzionalità della governance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equivoci, quattro esempi</a:t>
            </a:r>
            <a:endParaRPr lang="en-US" sz="2600" dirty="0"/>
          </a:p>
        </p:txBody>
      </p:sp>
      <p:sp>
        <p:nvSpPr>
          <p:cNvPr id="4" name="equivoco 1"/>
          <p:cNvSpPr/>
          <p:nvPr/>
        </p:nvSpPr>
        <p:spPr>
          <a:xfrm>
            <a:off x="457200" y="1024128"/>
            <a:ext cx="4023360" cy="1554480"/>
          </a:xfrm>
          <a:prstGeom prst="roundRect">
            <a:avLst>
              <a:gd name="adj" fmla="val 4706"/>
            </a:avLst>
          </a:prstGeom>
          <a:solidFill>
            <a:schemeClr val="accent6"/>
          </a:solidFill>
          <a:ln/>
        </p:spPr>
      </p:sp>
      <p:sp>
        <p:nvSpPr>
          <p:cNvPr id="5" name="Text 2"/>
          <p:cNvSpPr txBox="1"/>
          <p:nvPr/>
        </p:nvSpPr>
        <p:spPr>
          <a:xfrm>
            <a:off x="594360" y="111556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6" name="Text 3"/>
          <p:cNvSpPr txBox="1"/>
          <p:nvPr/>
        </p:nvSpPr>
        <p:spPr>
          <a:xfrm>
            <a:off x="1097280" y="1133856"/>
            <a:ext cx="3291840" cy="384048"/>
          </a:xfrm>
          <a:prstGeom prst="rect">
            <a:avLst/>
          </a:prstGeom>
          <a:noFill/>
          <a:ln/>
        </p:spPr>
        <p:txBody>
          <a:bodyPr wrap="square" lIns="0" tIns="0" rIns="0" bIns="0" rtlCol="0" anchor="t"/>
          <a:lstStyle/>
          <a:p>
            <a:pPr indent="0" marL="0">
              <a:buNone/>
            </a:pPr>
            <a:r>
              <a:rPr lang="en-US" sz="1400" b="1" dirty="0">
                <a:solidFill>
                  <a:schemeClr val="tx1"/>
                </a:solidFill>
              </a:rPr>
              <a:t>Non tutta l'AI è ad alto rischio</a:t>
            </a:r>
            <a:endParaRPr lang="en-US" sz="1400" dirty="0"/>
          </a:p>
        </p:txBody>
      </p:sp>
      <p:sp>
        <p:nvSpPr>
          <p:cNvPr id="7" name="Text 4"/>
          <p:cNvSpPr txBox="1"/>
          <p:nvPr/>
        </p:nvSpPr>
        <p:spPr>
          <a:xfrm>
            <a:off x="1097280" y="1572768"/>
            <a:ext cx="3291840" cy="411480"/>
          </a:xfrm>
          <a:prstGeom prst="rect">
            <a:avLst/>
          </a:prstGeom>
          <a:noFill/>
          <a:ln/>
        </p:spPr>
        <p:txBody>
          <a:bodyPr wrap="square" lIns="0" tIns="0" rIns="0" bIns="0" rtlCol="0" anchor="t"/>
          <a:lstStyle/>
          <a:p>
            <a:pPr indent="0" marL="0">
              <a:buNone/>
            </a:pPr>
            <a:r>
              <a:rPr lang="en-US" sz="1100" dirty="0">
                <a:solidFill>
                  <a:schemeClr val="tx2"/>
                </a:solidFill>
              </a:rPr>
              <a:t>Esempio B: la selezione del personale</a:t>
            </a:r>
            <a:endParaRPr lang="en-US" sz="1100" dirty="0"/>
          </a:p>
        </p:txBody>
      </p:sp>
      <p:sp>
        <p:nvSpPr>
          <p:cNvPr id="8" name="Text 5"/>
          <p:cNvSpPr txBox="1"/>
          <p:nvPr/>
        </p:nvSpPr>
        <p:spPr>
          <a:xfrm>
            <a:off x="1097280" y="2029968"/>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Decide la finalità; verificare</a:t>
            </a:r>
            <a:endParaRPr lang="en-US" sz="1200" dirty="0"/>
          </a:p>
        </p:txBody>
      </p:sp>
      <p:sp>
        <p:nvSpPr>
          <p:cNvPr id="9" name="equivoco 2"/>
          <p:cNvSpPr/>
          <p:nvPr/>
        </p:nvSpPr>
        <p:spPr>
          <a:xfrm>
            <a:off x="4663440" y="1024128"/>
            <a:ext cx="4023360" cy="1554480"/>
          </a:xfrm>
          <a:prstGeom prst="roundRect">
            <a:avLst>
              <a:gd name="adj" fmla="val 4706"/>
            </a:avLst>
          </a:prstGeom>
          <a:solidFill>
            <a:schemeClr val="bg2"/>
          </a:solidFill>
          <a:ln/>
        </p:spPr>
      </p:sp>
      <p:sp>
        <p:nvSpPr>
          <p:cNvPr id="10" name="Text 7"/>
          <p:cNvSpPr txBox="1"/>
          <p:nvPr/>
        </p:nvSpPr>
        <p:spPr>
          <a:xfrm>
            <a:off x="4800600" y="111556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11" name="Text 8"/>
          <p:cNvSpPr txBox="1"/>
          <p:nvPr/>
        </p:nvSpPr>
        <p:spPr>
          <a:xfrm>
            <a:off x="5303520" y="1133856"/>
            <a:ext cx="3291840" cy="384048"/>
          </a:xfrm>
          <a:prstGeom prst="rect">
            <a:avLst/>
          </a:prstGeom>
          <a:noFill/>
          <a:ln/>
        </p:spPr>
        <p:txBody>
          <a:bodyPr wrap="square" lIns="0" tIns="0" rIns="0" bIns="0" rtlCol="0" anchor="t"/>
          <a:lstStyle/>
          <a:p>
            <a:pPr indent="0" marL="0">
              <a:buNone/>
            </a:pPr>
            <a:r>
              <a:rPr lang="en-US" sz="1400" b="1" dirty="0">
                <a:solidFill>
                  <a:schemeClr val="tx1"/>
                </a:solidFill>
              </a:rPr>
              <a:t>Conforme non è uso conforme</a:t>
            </a:r>
            <a:endParaRPr lang="en-US" sz="1400" dirty="0"/>
          </a:p>
        </p:txBody>
      </p:sp>
      <p:sp>
        <p:nvSpPr>
          <p:cNvPr id="12" name="Text 9"/>
          <p:cNvSpPr txBox="1"/>
          <p:nvPr/>
        </p:nvSpPr>
        <p:spPr>
          <a:xfrm>
            <a:off x="5303520" y="1572768"/>
            <a:ext cx="3291840" cy="411480"/>
          </a:xfrm>
          <a:prstGeom prst="rect">
            <a:avLst/>
          </a:prstGeom>
          <a:noFill/>
          <a:ln/>
        </p:spPr>
        <p:txBody>
          <a:bodyPr wrap="square" lIns="0" tIns="0" rIns="0" bIns="0" rtlCol="0" anchor="t"/>
          <a:lstStyle/>
          <a:p>
            <a:pPr indent="0" marL="0">
              <a:buNone/>
            </a:pPr>
            <a:r>
              <a:rPr lang="en-US" sz="1100" dirty="0">
                <a:solidFill>
                  <a:schemeClr val="tx2"/>
                </a:solidFill>
              </a:rPr>
              <a:t>Esempio A: l'assistente collegato ai documenti</a:t>
            </a:r>
            <a:endParaRPr lang="en-US" sz="1100" dirty="0"/>
          </a:p>
        </p:txBody>
      </p:sp>
      <p:sp>
        <p:nvSpPr>
          <p:cNvPr id="13" name="Text 10"/>
          <p:cNvSpPr txBox="1"/>
          <p:nvPr/>
        </p:nvSpPr>
        <p:spPr>
          <a:xfrm>
            <a:off x="5303520" y="2029968"/>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Finalità, permessi, istruzioni, obblighi propri</a:t>
            </a:r>
            <a:endParaRPr lang="en-US" sz="1200" dirty="0"/>
          </a:p>
        </p:txBody>
      </p:sp>
      <p:sp>
        <p:nvSpPr>
          <p:cNvPr id="14" name="equivoco 3"/>
          <p:cNvSpPr/>
          <p:nvPr/>
        </p:nvSpPr>
        <p:spPr>
          <a:xfrm>
            <a:off x="457200" y="2715768"/>
            <a:ext cx="4023360" cy="1554480"/>
          </a:xfrm>
          <a:prstGeom prst="roundRect">
            <a:avLst>
              <a:gd name="adj" fmla="val 4706"/>
            </a:avLst>
          </a:prstGeom>
          <a:solidFill>
            <a:schemeClr val="bg2"/>
          </a:solidFill>
          <a:ln/>
        </p:spPr>
      </p:sp>
      <p:sp>
        <p:nvSpPr>
          <p:cNvPr id="15" name="Text 12"/>
          <p:cNvSpPr txBox="1"/>
          <p:nvPr/>
        </p:nvSpPr>
        <p:spPr>
          <a:xfrm>
            <a:off x="594360" y="280720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16" name="Text 13"/>
          <p:cNvSpPr txBox="1"/>
          <p:nvPr/>
        </p:nvSpPr>
        <p:spPr>
          <a:xfrm>
            <a:off x="1097280" y="2825496"/>
            <a:ext cx="3291840" cy="384048"/>
          </a:xfrm>
          <a:prstGeom prst="rect">
            <a:avLst/>
          </a:prstGeom>
          <a:noFill/>
          <a:ln/>
        </p:spPr>
        <p:txBody>
          <a:bodyPr wrap="square" lIns="0" tIns="0" rIns="0" bIns="0" rtlCol="0" anchor="t"/>
          <a:lstStyle/>
          <a:p>
            <a:pPr indent="0" marL="0">
              <a:buNone/>
            </a:pPr>
            <a:r>
              <a:rPr lang="en-US" sz="1400" b="1" dirty="0">
                <a:solidFill>
                  <a:schemeClr val="tx1"/>
                </a:solidFill>
              </a:rPr>
              <a:t>Un corso non è l'articolo 4</a:t>
            </a:r>
            <a:endParaRPr lang="en-US" sz="1400" dirty="0"/>
          </a:p>
        </p:txBody>
      </p:sp>
      <p:sp>
        <p:nvSpPr>
          <p:cNvPr id="17" name="Text 14"/>
          <p:cNvSpPr txBox="1"/>
          <p:nvPr/>
        </p:nvSpPr>
        <p:spPr>
          <a:xfrm>
            <a:off x="1097280" y="3264408"/>
            <a:ext cx="3291840" cy="411480"/>
          </a:xfrm>
          <a:prstGeom prst="rect">
            <a:avLst/>
          </a:prstGeom>
          <a:noFill/>
          <a:ln/>
        </p:spPr>
        <p:txBody>
          <a:bodyPr wrap="square" lIns="0" tIns="0" rIns="0" bIns="0" rtlCol="0" anchor="t"/>
          <a:lstStyle/>
          <a:p>
            <a:pPr indent="0" marL="0">
              <a:buNone/>
            </a:pPr>
            <a:r>
              <a:rPr lang="en-US" sz="1100" dirty="0">
                <a:solidFill>
                  <a:schemeClr val="tx2"/>
                </a:solidFill>
              </a:rPr>
              <a:t>Esempio C: il corso completato da tutti</a:t>
            </a:r>
            <a:endParaRPr lang="en-US" sz="1100" dirty="0"/>
          </a:p>
        </p:txBody>
      </p:sp>
      <p:sp>
        <p:nvSpPr>
          <p:cNvPr id="18" name="Text 15"/>
          <p:cNvSpPr txBox="1"/>
          <p:nvPr/>
        </p:nvSpPr>
        <p:spPr>
          <a:xfrm>
            <a:off x="1097280" y="3721608"/>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Contribuisce, non attesta</a:t>
            </a:r>
            <a:endParaRPr lang="en-US" sz="1200" dirty="0"/>
          </a:p>
        </p:txBody>
      </p:sp>
      <p:sp>
        <p:nvSpPr>
          <p:cNvPr id="19" name="equivoco 4"/>
          <p:cNvSpPr/>
          <p:nvPr/>
        </p:nvSpPr>
        <p:spPr>
          <a:xfrm>
            <a:off x="4663440" y="2715768"/>
            <a:ext cx="4023360" cy="1554480"/>
          </a:xfrm>
          <a:prstGeom prst="roundRect">
            <a:avLst>
              <a:gd name="adj" fmla="val 4706"/>
            </a:avLst>
          </a:prstGeom>
          <a:solidFill>
            <a:schemeClr val="accent6"/>
          </a:solidFill>
          <a:ln/>
        </p:spPr>
      </p:sp>
      <p:sp>
        <p:nvSpPr>
          <p:cNvPr id="20" name="Text 17"/>
          <p:cNvSpPr txBox="1"/>
          <p:nvPr/>
        </p:nvSpPr>
        <p:spPr>
          <a:xfrm>
            <a:off x="4800600" y="280720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4</a:t>
            </a:r>
            <a:endParaRPr lang="en-US" sz="2400" dirty="0"/>
          </a:p>
        </p:txBody>
      </p:sp>
      <p:sp>
        <p:nvSpPr>
          <p:cNvPr id="21" name="Text 18"/>
          <p:cNvSpPr txBox="1"/>
          <p:nvPr/>
        </p:nvSpPr>
        <p:spPr>
          <a:xfrm>
            <a:off x="5303520" y="2825496"/>
            <a:ext cx="3291840" cy="384048"/>
          </a:xfrm>
          <a:prstGeom prst="rect">
            <a:avLst/>
          </a:prstGeom>
          <a:noFill/>
          <a:ln/>
        </p:spPr>
        <p:txBody>
          <a:bodyPr wrap="square" lIns="0" tIns="0" rIns="0" bIns="0" rtlCol="0" anchor="t"/>
          <a:lstStyle/>
          <a:p>
            <a:pPr indent="0" marL="0">
              <a:buNone/>
            </a:pPr>
            <a:r>
              <a:rPr lang="en-US" sz="1400" b="1" dirty="0">
                <a:solidFill>
                  <a:schemeClr val="tx1"/>
                </a:solidFill>
              </a:rPr>
              <a:t>Proporzionata, non complessa</a:t>
            </a:r>
            <a:endParaRPr lang="en-US" sz="1400" dirty="0"/>
          </a:p>
        </p:txBody>
      </p:sp>
      <p:sp>
        <p:nvSpPr>
          <p:cNvPr id="22" name="Text 19"/>
          <p:cNvSpPr txBox="1"/>
          <p:nvPr/>
        </p:nvSpPr>
        <p:spPr>
          <a:xfrm>
            <a:off x="5303520" y="3264408"/>
            <a:ext cx="3291840" cy="411480"/>
          </a:xfrm>
          <a:prstGeom prst="rect">
            <a:avLst/>
          </a:prstGeom>
          <a:noFill/>
          <a:ln/>
        </p:spPr>
        <p:txBody>
          <a:bodyPr wrap="square" lIns="0" tIns="0" rIns="0" bIns="0" rtlCol="0" anchor="t"/>
          <a:lstStyle/>
          <a:p>
            <a:pPr indent="0" marL="0">
              <a:buNone/>
            </a:pPr>
            <a:r>
              <a:rPr lang="en-US" sz="1100" dirty="0">
                <a:solidFill>
                  <a:schemeClr val="tx2"/>
                </a:solidFill>
              </a:rPr>
              <a:t>Esempio D: aziende diverse</a:t>
            </a:r>
            <a:endParaRPr lang="en-US" sz="1100" dirty="0"/>
          </a:p>
        </p:txBody>
      </p:sp>
      <p:sp>
        <p:nvSpPr>
          <p:cNvPr id="23" name="Text 20"/>
          <p:cNvSpPr txBox="1"/>
          <p:nvPr/>
        </p:nvSpPr>
        <p:spPr>
          <a:xfrm>
            <a:off x="5303520" y="3721608"/>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Forma diversa, obblighi uguali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sp>
      <p:sp>
        <p:nvSpPr>
          <p:cNvPr id="5" name="cerchio FiSlash"/>
          <p:cNvSpPr/>
          <p:nvPr/>
        </p:nvSpPr>
        <p:spPr>
          <a:xfrm>
            <a:off x="621792" y="1216152"/>
            <a:ext cx="457200" cy="457200"/>
          </a:xfrm>
          <a:prstGeom prst="ellipse">
            <a:avLst/>
          </a:prstGeom>
          <a:solidFill>
            <a:schemeClr val="accent5"/>
          </a:solidFill>
          <a:ln/>
        </p:spPr>
      </p:sp>
      <p:pic>
        <p:nvPicPr>
          <p:cNvPr id="6" name="Image 0" descr="FiSlash">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"Governare l'AI vuol dire vietarla"</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La governance abilita usi appropriati</a:t>
            </a:r>
            <a:endParaRPr lang="en-US" sz="1200" dirty="0"/>
          </a:p>
        </p:txBody>
      </p:sp>
      <p:sp>
        <p:nvSpPr>
          <p:cNvPr id="9" name="Text 5"/>
          <p:cNvSpPr txBox="1"/>
          <p:nvPr/>
        </p:nvSpPr>
        <p:spPr>
          <a:xfrm>
            <a:off x="384048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18.1</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sp>
      <p:sp>
        <p:nvSpPr>
          <p:cNvPr id="11" name="cerchio FiCalendar"/>
          <p:cNvSpPr/>
          <p:nvPr/>
        </p:nvSpPr>
        <p:spPr>
          <a:xfrm>
            <a:off x="4828032" y="1216152"/>
            <a:ext cx="457200" cy="457200"/>
          </a:xfrm>
          <a:prstGeom prst="ellipse">
            <a:avLst/>
          </a:prstGeom>
          <a:solidFill>
            <a:schemeClr val="accent5"/>
          </a:solidFill>
          <a:ln/>
        </p:spPr>
      </p:sp>
      <p:pic>
        <p:nvPicPr>
          <p:cNvPr id="12" name="Image 1" descr="FiCalendar">    </p:cNvPr>
          <p:cNvPicPr>
            <a:picLocks noChangeAspect="1"/>
          </p:cNvPicPr>
          <p:nvPr/>
        </p:nvPicPr>
        <p:blipFill>
          <a:blip r:embed="rId2"/>
          <a:stretch>
            <a:fillRect/>
          </a:stretch>
        </p:blipFill>
        <p:spPr>
          <a:xfrm>
            <a:off x="4942332" y="1330452"/>
            <a:ext cx="228600" cy="228600"/>
          </a:xfrm>
          <a:prstGeom prst="rect">
            <a:avLst/>
          </a:prstGeom>
        </p:spPr>
      </p:pic>
      <p:sp>
        <p:nvSpPr>
          <p:cNvPr id="13" name="Text 8"/>
          <p:cNvSpPr txBox="1"/>
          <p:nvPr/>
        </p:nvSpPr>
        <p:spPr>
          <a:xfrm>
            <a:off x="539496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"La scadenza è il 2 agosto"</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Nessuna data unica per tutti</a:t>
            </a:r>
            <a:endParaRPr lang="en-US" sz="1200" dirty="0"/>
          </a:p>
        </p:txBody>
      </p:sp>
      <p:sp>
        <p:nvSpPr>
          <p:cNvPr id="15" name="Text 10"/>
          <p:cNvSpPr txBox="1"/>
          <p:nvPr/>
        </p:nvSpPr>
        <p:spPr>
          <a:xfrm>
            <a:off x="804672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18.2</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sp>
      <p:sp>
        <p:nvSpPr>
          <p:cNvPr id="17" name="cerchio FiAlertTriangle"/>
          <p:cNvSpPr/>
          <p:nvPr/>
        </p:nvSpPr>
        <p:spPr>
          <a:xfrm>
            <a:off x="621792" y="2377440"/>
            <a:ext cx="457200" cy="457200"/>
          </a:xfrm>
          <a:prstGeom prst="ellipse">
            <a:avLst/>
          </a:prstGeom>
          <a:solidFill>
            <a:schemeClr val="accent5"/>
          </a:solidFill>
          <a:ln/>
        </p:spPr>
      </p:sp>
      <p:pic>
        <p:nvPicPr>
          <p:cNvPr id="18" name="Image 2" descr="FiAlertTriangle">    </p:cNvPr>
          <p:cNvPicPr>
            <a:picLocks noChangeAspect="1"/>
          </p:cNvPicPr>
          <p:nvPr/>
        </p:nvPicPr>
        <p:blipFill>
          <a:blip r:embed="rId3"/>
          <a:stretch>
            <a:fillRect/>
          </a:stretch>
        </p:blipFill>
        <p:spPr>
          <a:xfrm>
            <a:off x="736092" y="2491740"/>
            <a:ext cx="228600" cy="228600"/>
          </a:xfrm>
          <a:prstGeom prst="rect">
            <a:avLst/>
          </a:prstGeom>
        </p:spPr>
      </p:pic>
      <p:sp>
        <p:nvSpPr>
          <p:cNvPr id="19" name="Text 13"/>
          <p:cNvSpPr txBox="1"/>
          <p:nvPr/>
        </p:nvSpPr>
        <p:spPr>
          <a:xfrm>
            <a:off x="118872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"Non siamo ad alto rischio: niente da fare"</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Altri rischi e altre norme restano</a:t>
            </a:r>
            <a:endParaRPr lang="en-US" sz="1200" dirty="0"/>
          </a:p>
        </p:txBody>
      </p:sp>
      <p:sp>
        <p:nvSpPr>
          <p:cNvPr id="21" name="Text 15"/>
          <p:cNvSpPr txBox="1"/>
          <p:nvPr/>
        </p:nvSpPr>
        <p:spPr>
          <a:xfrm>
            <a:off x="384048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18.3</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sp>
      <p:sp>
        <p:nvSpPr>
          <p:cNvPr id="23" name="cerchio FiPackage"/>
          <p:cNvSpPr/>
          <p:nvPr/>
        </p:nvSpPr>
        <p:spPr>
          <a:xfrm>
            <a:off x="4828032" y="2377440"/>
            <a:ext cx="457200" cy="457200"/>
          </a:xfrm>
          <a:prstGeom prst="ellipse">
            <a:avLst/>
          </a:prstGeom>
          <a:solidFill>
            <a:schemeClr val="accent5"/>
          </a:solidFill>
          <a:ln/>
        </p:spPr>
      </p:sp>
      <p:pic>
        <p:nvPicPr>
          <p:cNvPr id="24" name="Image 3" descr="FiPackage">    </p:cNvPr>
          <p:cNvPicPr>
            <a:picLocks noChangeAspect="1"/>
          </p:cNvPicPr>
          <p:nvPr/>
        </p:nvPicPr>
        <p:blipFill>
          <a:blip r:embed="rId4"/>
          <a:stretch>
            <a:fillRect/>
          </a:stretch>
        </p:blipFill>
        <p:spPr>
          <a:xfrm>
            <a:off x="4942332" y="2491740"/>
            <a:ext cx="228600" cy="228600"/>
          </a:xfrm>
          <a:prstGeom prst="rect">
            <a:avLst/>
          </a:prstGeom>
        </p:spPr>
      </p:pic>
      <p:sp>
        <p:nvSpPr>
          <p:cNvPr id="25" name="Text 18"/>
          <p:cNvSpPr txBox="1"/>
          <p:nvPr/>
        </p:nvSpPr>
        <p:spPr>
          <a:xfrm>
            <a:off x="539496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"Il fornitore dice che è conforme"</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Conforme non è uso conforme</a:t>
            </a:r>
            <a:endParaRPr lang="en-US" sz="1200" dirty="0"/>
          </a:p>
        </p:txBody>
      </p:sp>
      <p:sp>
        <p:nvSpPr>
          <p:cNvPr id="27" name="Text 20"/>
          <p:cNvSpPr txBox="1"/>
          <p:nvPr/>
        </p:nvSpPr>
        <p:spPr>
          <a:xfrm>
            <a:off x="804672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18.4</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sp>
      <p:sp>
        <p:nvSpPr>
          <p:cNvPr id="29" name="cerchio FiFileText"/>
          <p:cNvSpPr/>
          <p:nvPr/>
        </p:nvSpPr>
        <p:spPr>
          <a:xfrm>
            <a:off x="621792" y="3538728"/>
            <a:ext cx="457200" cy="457200"/>
          </a:xfrm>
          <a:prstGeom prst="ellipse">
            <a:avLst/>
          </a:prstGeom>
          <a:solidFill>
            <a:schemeClr val="accent5"/>
          </a:solidFill>
          <a:ln/>
        </p:spPr>
      </p:sp>
      <p:pic>
        <p:nvPicPr>
          <p:cNvPr id="30" name="Image 4" descr="FiFileText">    </p:cNvPr>
          <p:cNvPicPr>
            <a:picLocks noChangeAspect="1"/>
          </p:cNvPicPr>
          <p:nvPr/>
        </p:nvPicPr>
        <p:blipFill>
          <a:blip r:embed="rId5"/>
          <a:stretch>
            <a:fillRect/>
          </a:stretch>
        </p:blipFill>
        <p:spPr>
          <a:xfrm>
            <a:off x="736092" y="3653028"/>
            <a:ext cx="228600" cy="228600"/>
          </a:xfrm>
          <a:prstGeom prst="rect">
            <a:avLst/>
          </a:prstGeom>
        </p:spPr>
      </p:pic>
      <p:sp>
        <p:nvSpPr>
          <p:cNvPr id="31" name="Text 23"/>
          <p:cNvSpPr txBox="1"/>
          <p:nvPr/>
        </p:nvSpPr>
        <p:spPr>
          <a:xfrm>
            <a:off x="118872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"Abbiamo la policy, siamo a posto"</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Regole conosciute e praticate</a:t>
            </a:r>
            <a:endParaRPr lang="en-US" sz="1200" dirty="0"/>
          </a:p>
        </p:txBody>
      </p:sp>
      <p:sp>
        <p:nvSpPr>
          <p:cNvPr id="33" name="Text 25"/>
          <p:cNvSpPr txBox="1"/>
          <p:nvPr/>
        </p:nvSpPr>
        <p:spPr>
          <a:xfrm>
            <a:off x="384048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18.5</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sp>
      <p:sp>
        <p:nvSpPr>
          <p:cNvPr id="35" name="cerchio FiAward"/>
          <p:cNvSpPr/>
          <p:nvPr/>
        </p:nvSpPr>
        <p:spPr>
          <a:xfrm>
            <a:off x="4828032" y="3538728"/>
            <a:ext cx="457200" cy="457200"/>
          </a:xfrm>
          <a:prstGeom prst="ellipse">
            <a:avLst/>
          </a:prstGeom>
          <a:solidFill>
            <a:schemeClr val="accent5"/>
          </a:solidFill>
          <a:ln/>
        </p:spPr>
      </p:sp>
      <p:pic>
        <p:nvPicPr>
          <p:cNvPr id="36" name="Image 5" descr="FiAward">    </p:cNvPr>
          <p:cNvPicPr>
            <a:picLocks noChangeAspect="1"/>
          </p:cNvPicPr>
          <p:nvPr/>
        </p:nvPicPr>
        <p:blipFill>
          <a:blip r:embed="rId6"/>
          <a:stretch>
            <a:fillRect/>
          </a:stretch>
        </p:blipFill>
        <p:spPr>
          <a:xfrm>
            <a:off x="4942332" y="3653028"/>
            <a:ext cx="228600" cy="228600"/>
          </a:xfrm>
          <a:prstGeom prst="rect">
            <a:avLst/>
          </a:prstGeom>
        </p:spPr>
      </p:pic>
      <p:sp>
        <p:nvSpPr>
          <p:cNvPr id="37" name="Text 28"/>
          <p:cNvSpPr txBox="1"/>
          <p:nvPr/>
        </p:nvSpPr>
        <p:spPr>
          <a:xfrm>
            <a:off x="539496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"Tutti hanno l'attestato del corso"</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Un attestato non è conformità</a:t>
            </a:r>
            <a:endParaRPr lang="en-US" sz="1200" dirty="0"/>
          </a:p>
        </p:txBody>
      </p:sp>
      <p:sp>
        <p:nvSpPr>
          <p:cNvPr id="39" name="Text 30"/>
          <p:cNvSpPr txBox="1"/>
          <p:nvPr/>
        </p:nvSpPr>
        <p:spPr>
          <a:xfrm>
            <a:off x="804672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18.7</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completato</a:t>
            </a:r>
            <a:endParaRPr lang="en-US" sz="2600" dirty="0"/>
          </a:p>
        </p:txBody>
      </p:sp>
      <p:sp>
        <p:nvSpPr>
          <p:cNvPr id="4" name="Comprendere l'AI"/>
          <p:cNvSpPr/>
          <p:nvPr/>
        </p:nvSpPr>
        <p:spPr>
          <a:xfrm>
            <a:off x="457200" y="1051560"/>
            <a:ext cx="1572768" cy="1280160"/>
          </a:xfrm>
          <a:prstGeom prst="roundRect">
            <a:avLst>
              <a:gd name="adj" fmla="val 5714"/>
            </a:avLst>
          </a:prstGeom>
          <a:solidFill>
            <a:schemeClr val="bg2"/>
          </a:solidFill>
          <a:ln/>
        </p:spPr>
      </p:sp>
      <p:sp>
        <p:nvSpPr>
          <p:cNvPr id="5" name="Text 2"/>
          <p:cNvSpPr txBox="1"/>
          <p:nvPr/>
        </p:nvSpPr>
        <p:spPr>
          <a:xfrm>
            <a:off x="548640" y="1115568"/>
            <a:ext cx="1417320" cy="685800"/>
          </a:xfrm>
          <a:prstGeom prst="rect">
            <a:avLst/>
          </a:prstGeom>
          <a:noFill/>
          <a:ln/>
        </p:spPr>
        <p:txBody>
          <a:bodyPr wrap="square" lIns="0" tIns="0" rIns="0" bIns="0" rtlCol="0" anchor="t"/>
          <a:lstStyle/>
          <a:p>
            <a:pPr indent="0" marL="0">
              <a:buNone/>
            </a:pPr>
            <a:r>
              <a:rPr lang="en-US" sz="1300" b="1" dirty="0">
                <a:solidFill>
                  <a:schemeClr val="tx1"/>
                </a:solidFill>
              </a:rPr>
              <a:t>Comprendere l'AI</a:t>
            </a:r>
            <a:endParaRPr lang="en-US" sz="1300" dirty="0"/>
          </a:p>
        </p:txBody>
      </p:sp>
      <p:sp>
        <p:nvSpPr>
          <p:cNvPr id="6" name="Text 3"/>
          <p:cNvSpPr txBox="1"/>
          <p:nvPr/>
        </p:nvSpPr>
        <p:spPr>
          <a:xfrm>
            <a:off x="548640" y="1828800"/>
            <a:ext cx="1417320" cy="365760"/>
          </a:xfrm>
          <a:prstGeom prst="rect">
            <a:avLst/>
          </a:prstGeom>
          <a:noFill/>
          <a:ln/>
        </p:spPr>
        <p:txBody>
          <a:bodyPr wrap="square" lIns="0" tIns="0" rIns="0" bIns="0" rtlCol="0" anchor="t"/>
          <a:lstStyle/>
          <a:p>
            <a:pPr indent="0" marL="0">
              <a:buNone/>
            </a:pPr>
            <a:r>
              <a:rPr lang="en-US" sz="1200" b="1" dirty="0">
                <a:solidFill>
                  <a:schemeClr val="accent1"/>
                </a:solidFill>
              </a:rPr>
              <a:t>Temi 1-4</a:t>
            </a:r>
            <a:endParaRPr lang="en-US" sz="1200" dirty="0"/>
          </a:p>
        </p:txBody>
      </p:sp>
      <p:sp>
        <p:nvSpPr>
          <p:cNvPr id="7" name="freccia"/>
          <p:cNvSpPr/>
          <p:nvPr/>
        </p:nvSpPr>
        <p:spPr>
          <a:xfrm>
            <a:off x="2039112" y="1554480"/>
            <a:ext cx="91440" cy="292608"/>
          </a:xfrm>
          <a:prstGeom prst="rightArrow">
            <a:avLst/>
          </a:prstGeom>
          <a:solidFill>
            <a:schemeClr val="accent2"/>
          </a:solidFill>
          <a:ln/>
        </p:spPr>
      </p:sp>
      <p:sp>
        <p:nvSpPr>
          <p:cNvPr id="8" name="Interagire con l'AI"/>
          <p:cNvSpPr/>
          <p:nvPr/>
        </p:nvSpPr>
        <p:spPr>
          <a:xfrm>
            <a:off x="2139696" y="1051560"/>
            <a:ext cx="1572768" cy="1280160"/>
          </a:xfrm>
          <a:prstGeom prst="roundRect">
            <a:avLst>
              <a:gd name="adj" fmla="val 5714"/>
            </a:avLst>
          </a:prstGeom>
          <a:solidFill>
            <a:schemeClr val="bg2"/>
          </a:solidFill>
          <a:ln/>
        </p:spPr>
      </p:sp>
      <p:sp>
        <p:nvSpPr>
          <p:cNvPr id="9" name="Text 6"/>
          <p:cNvSpPr txBox="1"/>
          <p:nvPr/>
        </p:nvSpPr>
        <p:spPr>
          <a:xfrm>
            <a:off x="2231136" y="1115568"/>
            <a:ext cx="1417320" cy="685800"/>
          </a:xfrm>
          <a:prstGeom prst="rect">
            <a:avLst/>
          </a:prstGeom>
          <a:noFill/>
          <a:ln/>
        </p:spPr>
        <p:txBody>
          <a:bodyPr wrap="square" lIns="0" tIns="0" rIns="0" bIns="0" rtlCol="0" anchor="t"/>
          <a:lstStyle/>
          <a:p>
            <a:pPr indent="0" marL="0">
              <a:buNone/>
            </a:pPr>
            <a:r>
              <a:rPr lang="en-US" sz="1300" b="1" dirty="0">
                <a:solidFill>
                  <a:schemeClr val="tx1"/>
                </a:solidFill>
              </a:rPr>
              <a:t>Interagire con l'AI</a:t>
            </a:r>
            <a:endParaRPr lang="en-US" sz="1300" dirty="0"/>
          </a:p>
        </p:txBody>
      </p:sp>
      <p:sp>
        <p:nvSpPr>
          <p:cNvPr id="10" name="Text 7"/>
          <p:cNvSpPr txBox="1"/>
          <p:nvPr/>
        </p:nvSpPr>
        <p:spPr>
          <a:xfrm>
            <a:off x="2231136" y="1828800"/>
            <a:ext cx="1417320" cy="365760"/>
          </a:xfrm>
          <a:prstGeom prst="rect">
            <a:avLst/>
          </a:prstGeom>
          <a:noFill/>
          <a:ln/>
        </p:spPr>
        <p:txBody>
          <a:bodyPr wrap="square" lIns="0" tIns="0" rIns="0" bIns="0" rtlCol="0" anchor="t"/>
          <a:lstStyle/>
          <a:p>
            <a:pPr indent="0" marL="0">
              <a:buNone/>
            </a:pPr>
            <a:r>
              <a:rPr lang="en-US" sz="1200" b="1" dirty="0">
                <a:solidFill>
                  <a:schemeClr val="accent1"/>
                </a:solidFill>
              </a:rPr>
              <a:t>Temi 5-7</a:t>
            </a:r>
            <a:endParaRPr lang="en-US" sz="1200" dirty="0"/>
          </a:p>
        </p:txBody>
      </p:sp>
      <p:sp>
        <p:nvSpPr>
          <p:cNvPr id="11" name="freccia"/>
          <p:cNvSpPr/>
          <p:nvPr/>
        </p:nvSpPr>
        <p:spPr>
          <a:xfrm>
            <a:off x="3721608" y="1554480"/>
            <a:ext cx="91440" cy="292608"/>
          </a:xfrm>
          <a:prstGeom prst="rightArrow">
            <a:avLst/>
          </a:prstGeom>
          <a:solidFill>
            <a:schemeClr val="accent2"/>
          </a:solidFill>
          <a:ln/>
        </p:spPr>
      </p:sp>
      <p:sp>
        <p:nvSpPr>
          <p:cNvPr id="12" name="Esplorare le possibilità"/>
          <p:cNvSpPr/>
          <p:nvPr/>
        </p:nvSpPr>
        <p:spPr>
          <a:xfrm>
            <a:off x="3822192" y="1051560"/>
            <a:ext cx="1572768" cy="1280160"/>
          </a:xfrm>
          <a:prstGeom prst="roundRect">
            <a:avLst>
              <a:gd name="adj" fmla="val 5714"/>
            </a:avLst>
          </a:prstGeom>
          <a:solidFill>
            <a:schemeClr val="bg2"/>
          </a:solidFill>
          <a:ln/>
        </p:spPr>
      </p:sp>
      <p:sp>
        <p:nvSpPr>
          <p:cNvPr id="13" name="Text 10"/>
          <p:cNvSpPr txBox="1"/>
          <p:nvPr/>
        </p:nvSpPr>
        <p:spPr>
          <a:xfrm>
            <a:off x="3913632" y="1115568"/>
            <a:ext cx="1417320" cy="685800"/>
          </a:xfrm>
          <a:prstGeom prst="rect">
            <a:avLst/>
          </a:prstGeom>
          <a:noFill/>
          <a:ln/>
        </p:spPr>
        <p:txBody>
          <a:bodyPr wrap="square" lIns="0" tIns="0" rIns="0" bIns="0" rtlCol="0" anchor="t"/>
          <a:lstStyle/>
          <a:p>
            <a:pPr indent="0" marL="0">
              <a:buNone/>
            </a:pPr>
            <a:r>
              <a:rPr lang="en-US" sz="1300" b="1" dirty="0">
                <a:solidFill>
                  <a:schemeClr val="tx1"/>
                </a:solidFill>
              </a:rPr>
              <a:t>Esplorare le possibilità</a:t>
            </a:r>
            <a:endParaRPr lang="en-US" sz="1300" dirty="0"/>
          </a:p>
        </p:txBody>
      </p:sp>
      <p:sp>
        <p:nvSpPr>
          <p:cNvPr id="14" name="Text 11"/>
          <p:cNvSpPr txBox="1"/>
          <p:nvPr/>
        </p:nvSpPr>
        <p:spPr>
          <a:xfrm>
            <a:off x="3913632" y="1828800"/>
            <a:ext cx="1417320" cy="365760"/>
          </a:xfrm>
          <a:prstGeom prst="rect">
            <a:avLst/>
          </a:prstGeom>
          <a:noFill/>
          <a:ln/>
        </p:spPr>
        <p:txBody>
          <a:bodyPr wrap="square" lIns="0" tIns="0" rIns="0" bIns="0" rtlCol="0" anchor="t"/>
          <a:lstStyle/>
          <a:p>
            <a:pPr indent="0" marL="0">
              <a:buNone/>
            </a:pPr>
            <a:r>
              <a:rPr lang="en-US" sz="1200" b="1" dirty="0">
                <a:solidFill>
                  <a:schemeClr val="accent1"/>
                </a:solidFill>
              </a:rPr>
              <a:t>Temi 8-11</a:t>
            </a:r>
            <a:endParaRPr lang="en-US" sz="1200" dirty="0"/>
          </a:p>
        </p:txBody>
      </p:sp>
      <p:sp>
        <p:nvSpPr>
          <p:cNvPr id="15" name="freccia"/>
          <p:cNvSpPr/>
          <p:nvPr/>
        </p:nvSpPr>
        <p:spPr>
          <a:xfrm>
            <a:off x="5404104" y="1554480"/>
            <a:ext cx="91440" cy="292608"/>
          </a:xfrm>
          <a:prstGeom prst="rightArrow">
            <a:avLst/>
          </a:prstGeom>
          <a:solidFill>
            <a:schemeClr val="accent2"/>
          </a:solidFill>
          <a:ln/>
        </p:spPr>
      </p:sp>
      <p:sp>
        <p:nvSpPr>
          <p:cNvPr id="16" name="Il valore per l'azienda"/>
          <p:cNvSpPr/>
          <p:nvPr/>
        </p:nvSpPr>
        <p:spPr>
          <a:xfrm>
            <a:off x="5504688" y="1051560"/>
            <a:ext cx="1572768" cy="1280160"/>
          </a:xfrm>
          <a:prstGeom prst="roundRect">
            <a:avLst>
              <a:gd name="adj" fmla="val 5714"/>
            </a:avLst>
          </a:prstGeom>
          <a:solidFill>
            <a:schemeClr val="bg2"/>
          </a:solidFill>
          <a:ln/>
        </p:spPr>
      </p:sp>
      <p:sp>
        <p:nvSpPr>
          <p:cNvPr id="17" name="Text 14"/>
          <p:cNvSpPr txBox="1"/>
          <p:nvPr/>
        </p:nvSpPr>
        <p:spPr>
          <a:xfrm>
            <a:off x="5596128" y="1115568"/>
            <a:ext cx="1417320" cy="685800"/>
          </a:xfrm>
          <a:prstGeom prst="rect">
            <a:avLst/>
          </a:prstGeom>
          <a:noFill/>
          <a:ln/>
        </p:spPr>
        <p:txBody>
          <a:bodyPr wrap="square" lIns="0" tIns="0" rIns="0" bIns="0" rtlCol="0" anchor="t"/>
          <a:lstStyle/>
          <a:p>
            <a:pPr indent="0" marL="0">
              <a:buNone/>
            </a:pPr>
            <a:r>
              <a:rPr lang="en-US" sz="1300" b="1" dirty="0">
                <a:solidFill>
                  <a:schemeClr val="tx1"/>
                </a:solidFill>
              </a:rPr>
              <a:t>Il valore per l'azienda</a:t>
            </a:r>
            <a:endParaRPr lang="en-US" sz="1300" dirty="0"/>
          </a:p>
        </p:txBody>
      </p:sp>
      <p:sp>
        <p:nvSpPr>
          <p:cNvPr id="18" name="Text 15"/>
          <p:cNvSpPr txBox="1"/>
          <p:nvPr/>
        </p:nvSpPr>
        <p:spPr>
          <a:xfrm>
            <a:off x="5596128" y="1828800"/>
            <a:ext cx="1417320" cy="365760"/>
          </a:xfrm>
          <a:prstGeom prst="rect">
            <a:avLst/>
          </a:prstGeom>
          <a:noFill/>
          <a:ln/>
        </p:spPr>
        <p:txBody>
          <a:bodyPr wrap="square" lIns="0" tIns="0" rIns="0" bIns="0" rtlCol="0" anchor="t"/>
          <a:lstStyle/>
          <a:p>
            <a:pPr indent="0" marL="0">
              <a:buNone/>
            </a:pPr>
            <a:r>
              <a:rPr lang="en-US" sz="1200" b="1" dirty="0">
                <a:solidFill>
                  <a:schemeClr val="accent1"/>
                </a:solidFill>
              </a:rPr>
              <a:t>Temi 12-16</a:t>
            </a:r>
            <a:endParaRPr lang="en-US" sz="1200" dirty="0"/>
          </a:p>
        </p:txBody>
      </p:sp>
      <p:sp>
        <p:nvSpPr>
          <p:cNvPr id="19" name="freccia"/>
          <p:cNvSpPr/>
          <p:nvPr/>
        </p:nvSpPr>
        <p:spPr>
          <a:xfrm>
            <a:off x="7086600" y="1554480"/>
            <a:ext cx="91440" cy="292608"/>
          </a:xfrm>
          <a:prstGeom prst="rightArrow">
            <a:avLst/>
          </a:prstGeom>
          <a:solidFill>
            <a:schemeClr val="accent2"/>
          </a:solidFill>
          <a:ln/>
        </p:spPr>
      </p:sp>
      <p:sp>
        <p:nvSpPr>
          <p:cNvPr id="20" name="Uso responsabile"/>
          <p:cNvSpPr/>
          <p:nvPr/>
        </p:nvSpPr>
        <p:spPr>
          <a:xfrm>
            <a:off x="7187184" y="1051560"/>
            <a:ext cx="1572768" cy="1280160"/>
          </a:xfrm>
          <a:prstGeom prst="roundRect">
            <a:avLst>
              <a:gd name="adj" fmla="val 5714"/>
            </a:avLst>
          </a:prstGeom>
          <a:solidFill>
            <a:schemeClr val="accent1"/>
          </a:solidFill>
          <a:ln/>
        </p:spPr>
      </p:sp>
      <p:sp>
        <p:nvSpPr>
          <p:cNvPr id="21" name="Text 18"/>
          <p:cNvSpPr txBox="1"/>
          <p:nvPr/>
        </p:nvSpPr>
        <p:spPr>
          <a:xfrm>
            <a:off x="7278624" y="1115568"/>
            <a:ext cx="1417320" cy="685800"/>
          </a:xfrm>
          <a:prstGeom prst="rect">
            <a:avLst/>
          </a:prstGeom>
          <a:noFill/>
          <a:ln/>
        </p:spPr>
        <p:txBody>
          <a:bodyPr wrap="square" lIns="0" tIns="0" rIns="0" bIns="0" rtlCol="0" anchor="t"/>
          <a:lstStyle/>
          <a:p>
            <a:pPr indent="0" marL="0">
              <a:buNone/>
            </a:pPr>
            <a:r>
              <a:rPr lang="en-US" sz="1300" b="1" dirty="0">
                <a:solidFill>
                  <a:schemeClr val="bg1"/>
                </a:solidFill>
              </a:rPr>
              <a:t>Uso responsabile</a:t>
            </a:r>
            <a:endParaRPr lang="en-US" sz="1300" dirty="0"/>
          </a:p>
        </p:txBody>
      </p:sp>
      <p:sp>
        <p:nvSpPr>
          <p:cNvPr id="22" name="Text 19"/>
          <p:cNvSpPr txBox="1"/>
          <p:nvPr/>
        </p:nvSpPr>
        <p:spPr>
          <a:xfrm>
            <a:off x="7278624" y="1828800"/>
            <a:ext cx="1417320" cy="365760"/>
          </a:xfrm>
          <a:prstGeom prst="rect">
            <a:avLst/>
          </a:prstGeom>
          <a:noFill/>
          <a:ln/>
        </p:spPr>
        <p:txBody>
          <a:bodyPr wrap="square" lIns="0" tIns="0" rIns="0" bIns="0" rtlCol="0" anchor="t"/>
          <a:lstStyle/>
          <a:p>
            <a:pPr indent="0" marL="0">
              <a:buNone/>
            </a:pPr>
            <a:r>
              <a:rPr lang="en-US" sz="1200" b="1" dirty="0">
                <a:solidFill>
                  <a:schemeClr val="accent6"/>
                </a:solidFill>
              </a:rPr>
              <a:t>Temi 17-18</a:t>
            </a:r>
            <a:endParaRPr lang="en-US" sz="1200" dirty="0"/>
          </a:p>
        </p:txBody>
      </p:sp>
      <p:sp>
        <p:nvSpPr>
          <p:cNvPr id="23" name="riquadro Il filo: l'AI literacy"/>
          <p:cNvSpPr/>
          <p:nvPr/>
        </p:nvSpPr>
        <p:spPr>
          <a:xfrm>
            <a:off x="457200" y="2514600"/>
            <a:ext cx="8229600" cy="777240"/>
          </a:xfrm>
          <a:prstGeom prst="roundRect">
            <a:avLst>
              <a:gd name="adj" fmla="val 9412"/>
            </a:avLst>
          </a:prstGeom>
          <a:solidFill>
            <a:schemeClr val="accent6"/>
          </a:solidFill>
          <a:ln/>
        </p:spPr>
      </p:sp>
      <p:sp>
        <p:nvSpPr>
          <p:cNvPr id="24" name="barra"/>
          <p:cNvSpPr/>
          <p:nvPr/>
        </p:nvSpPr>
        <p:spPr>
          <a:xfrm>
            <a:off x="457200" y="2624328"/>
            <a:ext cx="54864" cy="557784"/>
          </a:xfrm>
          <a:prstGeom prst="rect">
            <a:avLst/>
          </a:prstGeom>
          <a:solidFill>
            <a:schemeClr val="accent1"/>
          </a:solidFill>
          <a:ln/>
        </p:spPr>
      </p:sp>
      <p:sp>
        <p:nvSpPr>
          <p:cNvPr id="25" name="Text 22"/>
          <p:cNvSpPr txBox="1"/>
          <p:nvPr/>
        </p:nvSpPr>
        <p:spPr>
          <a:xfrm>
            <a:off x="658368" y="260604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Il filo: l'AI literacy</a:t>
            </a:r>
            <a:endParaRPr lang="en-US" sz="1100" dirty="0"/>
          </a:p>
        </p:txBody>
      </p:sp>
      <p:sp>
        <p:nvSpPr>
          <p:cNvPr id="26" name="Text 23"/>
          <p:cNvSpPr txBox="1"/>
          <p:nvPr/>
        </p:nvSpPr>
        <p:spPr>
          <a:xfrm>
            <a:off x="658368" y="2898648"/>
            <a:ext cx="7863840" cy="301752"/>
          </a:xfrm>
          <a:prstGeom prst="rect">
            <a:avLst/>
          </a:prstGeom>
          <a:noFill/>
          <a:ln/>
        </p:spPr>
        <p:txBody>
          <a:bodyPr wrap="square" lIns="0" tIns="0" rIns="0" bIns="0" rtlCol="0" anchor="t"/>
          <a:lstStyle/>
          <a:p>
            <a:pPr indent="0" marL="0">
              <a:buNone/>
            </a:pPr>
            <a:r>
              <a:rPr lang="en-US" sz="1300" dirty="0">
                <a:solidFill>
                  <a:schemeClr val="tx1"/>
                </a:solidFill>
              </a:rPr>
              <a:t>Competenze, conoscenze e comprensione per usare l'AI in modo informato, consapevoli di opportunità e rischi.</a:t>
            </a:r>
            <a:endParaRPr lang="en-US" sz="1300" dirty="0"/>
          </a:p>
        </p:txBody>
      </p:sp>
      <p:sp>
        <p:nvSpPr>
          <p:cNvPr id="27" name="messaggio"/>
          <p:cNvSpPr/>
          <p:nvPr/>
        </p:nvSpPr>
        <p:spPr>
          <a:xfrm>
            <a:off x="457200" y="3474720"/>
            <a:ext cx="8229600" cy="731520"/>
          </a:xfrm>
          <a:prstGeom prst="roundRect">
            <a:avLst>
              <a:gd name="adj" fmla="val 10000"/>
            </a:avLst>
          </a:prstGeom>
          <a:solidFill>
            <a:schemeClr val="tx1"/>
          </a:solidFill>
          <a:ln/>
        </p:spPr>
      </p:sp>
      <p:sp>
        <p:nvSpPr>
          <p:cNvPr id="28" name="Text 25"/>
          <p:cNvSpPr txBox="1"/>
          <p:nvPr/>
        </p:nvSpPr>
        <p:spPr>
          <a:xfrm>
            <a:off x="640080" y="3474720"/>
            <a:ext cx="7863840" cy="731520"/>
          </a:xfrm>
          <a:prstGeom prst="rect">
            <a:avLst/>
          </a:prstGeom>
          <a:noFill/>
          <a:ln/>
        </p:spPr>
        <p:txBody>
          <a:bodyPr wrap="square" lIns="0" tIns="0" rIns="0" bIns="0" rtlCol="0" anchor="ctr"/>
          <a:lstStyle/>
          <a:p>
            <a:pPr indent="0" marL="0">
              <a:buNone/>
            </a:pPr>
            <a:r>
              <a:rPr lang="en-US" sz="1400" dirty="0">
                <a:solidFill>
                  <a:schemeClr val="bg1"/>
                </a:solidFill>
              </a:rPr>
              <a:t>Una base: il valore dipende dall'applicazione nel lavoro, dal confronto, dagli strumenti, dalle regole e dal supporto.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05840"/>
            <a:ext cx="7498080" cy="32461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Regolamento (UE) 2024/1689 (AI Act). EUR-Lex: eur-lex.europa.eu/eli/reg/2024/1689/oj</a:t>
            </a:r>
            <a:endParaRPr lang="en-US" sz="1100" dirty="0"/>
          </a:p>
          <a:p>
            <a:pPr marL="177800" indent="-177800">
              <a:spcAft>
                <a:spcPts val="600"/>
              </a:spcAft>
              <a:buSzPct val="100000"/>
              <a:buChar char="•"/>
            </a:pPr>
            <a:r>
              <a:rPr lang="en-US" sz="1100" dirty="0">
                <a:solidFill>
                  <a:schemeClr val="tx1"/>
                </a:solidFill>
              </a:rPr>
              <a:t>Regolamento (UE) 2026/1744 (Digital Omnibus sull'AI), GUUE L, 24 luglio 2026, in vigore dal 27 luglio 2026. EUR-Lex: eur-lex.europa.eu/eli/reg/2026/1744/oj</a:t>
            </a:r>
            <a:endParaRPr lang="en-US" sz="1100" dirty="0"/>
          </a:p>
          <a:p>
            <a:pPr marL="177800" indent="-177800">
              <a:spcAft>
                <a:spcPts val="600"/>
              </a:spcAft>
              <a:buSzPct val="100000"/>
              <a:buChar char="•"/>
            </a:pPr>
            <a:r>
              <a:rPr lang="en-US" sz="1100" dirty="0">
                <a:solidFill>
                  <a:schemeClr val="tx1"/>
                </a:solidFill>
              </a:rPr>
              <a:t>Commissione europea, pagina sull'AI Act: digital-strategy.ec.europa.eu/en/policies/regulatory-framework-ai; linee guida su definizione di sistema di AI e pratiche vietate (2025).</a:t>
            </a:r>
            <a:endParaRPr lang="en-US" sz="1100" dirty="0"/>
          </a:p>
          <a:p>
            <a:pPr marL="177800" indent="-177800">
              <a:spcAft>
                <a:spcPts val="600"/>
              </a:spcAft>
              <a:buSzPct val="100000"/>
              <a:buChar char="•"/>
            </a:pPr>
            <a:r>
              <a:rPr lang="en-US" sz="1100" dirty="0">
                <a:solidFill>
                  <a:schemeClr val="tx1"/>
                </a:solidFill>
              </a:rPr>
              <a:t>Regolamento (UE) 2016/679 (GDPR). Legge 23 settembre 2025, n. 132 (Gazzetta Ufficiale n. 223 del 25 settembre 2025).</a:t>
            </a:r>
            <a:endParaRPr lang="en-US" sz="1100" dirty="0"/>
          </a:p>
          <a:p>
            <a:pPr marL="177800" indent="-177800">
              <a:spcAft>
                <a:spcPts val="600"/>
              </a:spcAft>
              <a:buSzPct val="100000"/>
              <a:buChar char="•"/>
            </a:pPr>
            <a:r>
              <a:rPr lang="en-US" sz="1100" dirty="0">
                <a:solidFill>
                  <a:schemeClr val="tx1"/>
                </a:solidFill>
              </a:rPr>
              <a:t>Gruppo di esperti di alto livello sull'AI (2019), Linee guida etiche per un'AI affidabile. OCSE, Principi sull'AI (2019, agg. 2024). UNESCO (2021).</a:t>
            </a:r>
            <a:endParaRPr lang="en-US" sz="1100" dirty="0"/>
          </a:p>
          <a:p>
            <a:pPr marL="177800" indent="-177800">
              <a:spcAft>
                <a:spcPts val="600"/>
              </a:spcAft>
              <a:buSzPct val="100000"/>
              <a:buChar char="•"/>
            </a:pPr>
            <a:r>
              <a:rPr lang="en-US" sz="1100" dirty="0">
                <a:solidFill>
                  <a:schemeClr val="tx1"/>
                </a:solidFill>
              </a:rPr>
              <a:t>ISO/IEC 42001:2023; ISO/IEC 23894:2023; NIST AI Risk Management Framework 1.0 (2023).</a:t>
            </a:r>
            <a:endParaRPr lang="en-US" sz="1100" dirty="0"/>
          </a:p>
          <a:p>
            <a:pPr marL="177800" indent="-177800">
              <a:spcAft>
                <a:spcPts val="600"/>
              </a:spcAft>
              <a:buSzPct val="100000"/>
              <a:buChar char="•"/>
            </a:pPr>
            <a:r>
              <a:rPr lang="en-US" sz="1100" dirty="0">
                <a:solidFill>
                  <a:schemeClr val="tx1"/>
                </a:solidFill>
              </a:rPr>
              <a:t>Esempi aziendali e policy di esempio fittizi. Non costituisce parere legale.</a:t>
            </a:r>
            <a:endParaRPr lang="en-US" sz="11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77</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18: Normativa, regole e governance dell'AI</dc:title>
  <dc:subject>Percorso AI Literacy</dc:subject>
  <dc:creator>Percorso AI Literacy</dc:creator>
  <cp:lastModifiedBy>Percorso AI Literacy</cp:lastModifiedBy>
  <cp:revision>1</cp:revision>
  <dcterms:created xsi:type="dcterms:W3CDTF">2026-10-09T14:24:51Z</dcterms:created>
  <dcterms:modified xsi:type="dcterms:W3CDTF">2026-10-09T14:24:51Z</dcterms:modified>
</cp:coreProperties>
</file>