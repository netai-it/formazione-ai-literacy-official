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8a397b9b-2d22-fb26-4123-627f5afafed9}">
          <p14:sldIdLst>
            <p14:sldId id="256"/>
            <p14:sldId id="257"/>
            <p14:sldId id="258"/>
            <p14:sldId id="259"/>
          </p14:sldIdLst>
        </p14:section>
        <p14:section name="7.1 Pensiero critico" id="{893bcec5-d54e-ce54-c23c-376036432b13}">
          <p14:sldIdLst>
            <p14:sldId id="260"/>
            <p14:sldId id="261"/>
            <p14:sldId id="262"/>
            <p14:sldId id="263"/>
            <p14:sldId id="264"/>
            <p14:sldId id="265"/>
          </p14:sldIdLst>
        </p14:section>
        <p14:section name="7.2 Qualità di un output" id="{333f744a-4d39-296f-da9d-591f3b2b97d5}">
          <p14:sldIdLst>
            <p14:sldId id="266"/>
            <p14:sldId id="267"/>
            <p14:sldId id="268"/>
            <p14:sldId id="269"/>
            <p14:sldId id="270"/>
            <p14:sldId id="271"/>
          </p14:sldIdLst>
        </p14:section>
        <p14:section name="7.3 Informazioni e fonti" id="{d475bb6a-e5ba-d76a-53ef-6774bae9ffd6}">
          <p14:sldIdLst>
            <p14:sldId id="272"/>
            <p14:sldId id="273"/>
            <p14:sldId id="274"/>
            <p14:sldId id="275"/>
            <p14:sldId id="276"/>
            <p14:sldId id="277"/>
            <p14:sldId id="278"/>
          </p14:sldIdLst>
        </p14:section>
        <p14:section name="7.4 Ragionamenti e conclusioni" id="{bf07125c-8950-e9c0-3293-a3ff254aa6e7}">
          <p14:sldIdLst>
            <p14:sldId id="279"/>
            <p14:sldId id="280"/>
            <p14:sldId id="281"/>
            <p14:sldId id="282"/>
            <p14:sldId id="283"/>
            <p14:sldId id="284"/>
          </p14:sldIdLst>
        </p14:section>
        <p14:section name="7.5 Dati e calcoli" id="{9abccdde-750e-8fa2-b247-2603ef0146e9}">
          <p14:sldIdLst>
            <p14:sldId id="285"/>
            <p14:sldId id="286"/>
            <p14:sldId id="287"/>
            <p14:sldId id="288"/>
            <p14:sldId id="289"/>
          </p14:sldIdLst>
        </p14:section>
        <p14:section name="7.6 Revisione assistita dall'AI" id="{58208aa5-50b5-2b5e-35b9-113d28ae9e7e}">
          <p14:sldIdLst>
            <p14:sldId id="290"/>
            <p14:sldId id="291"/>
            <p14:sldId id="292"/>
            <p14:sldId id="293"/>
            <p14:sldId id="294"/>
            <p14:sldId id="295"/>
            <p14:sldId id="296"/>
            <p14:sldId id="297"/>
            <p14:sldId id="298"/>
          </p14:sldIdLst>
        </p14:section>
        <p14:section name="7.7 Bias cognitivi" id="{1d5ba6b0-1e32-5b1c-f2a9-7fe5b18ad8c8}">
          <p14:sldIdLst>
            <p14:sldId id="299"/>
            <p14:sldId id="300"/>
            <p14:sldId id="301"/>
            <p14:sldId id="302"/>
            <p14:sldId id="303"/>
          </p14:sldIdLst>
        </p14:section>
        <p14:section name="7.8 Validazione e responsabilità" id="{b3ca930c-d6a4-0e16-df66-32b0985c7871}">
          <p14:sldIdLst>
            <p14:sldId id="304"/>
            <p14:sldId id="305"/>
            <p14:sldId id="306"/>
            <p14:sldId id="307"/>
            <p14:sldId id="308"/>
            <p14:sldId id="309"/>
            <p14:sldId id="310"/>
          </p14:sldIdLst>
        </p14:section>
        <p14:section name="Conclusioni" id="{3def0428-6147-7677-c5a2-2b5773344956}">
          <p14:sldIdLst>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Asse da zero</a:t>
            </a:r>
          </a:p>
        </c:rich>
      </c:tx>
      <c:layout/>
      <c:overlay val="0"/>
    </c:title>
    <c:autoTitleDeleted val="0"/>
    <c:plotArea>
      <c:layout/>
      <c:barChart>
        <c:barDir val="col"/>
        <c:grouping val="clustered"/>
        <c:varyColors val="0"/>
        <c:ser>
          <c:idx val="0"/>
          <c:order val="0"/>
          <c:tx>
            <c:strRef>
              <c:f>Sheet1!$B$1</c:f>
              <c:strCache>
                <c:ptCount val="1"/>
                <c:pt idx="0">
                  <c:v>Valore</c:v>
                </c:pt>
              </c:strCache>
            </c:strRef>
          </c:tx>
          <c:spPr>
            <a:solidFill>
              <a:srgbClr val="2E7D7A"/>
            </a:solidFill>
            <a:effectLst/>
          </c:spPr>
          <c:invertIfNegative val="0"/>
          <c:dLbls>
            <c:numFmt formatCode="#,##0" sourceLinked="0"/>
            <c:txPr>
              <a:bodyPr/>
              <a:lstStyle/>
              <a:p>
                <a:pPr>
                  <a:defRPr b="0" i="0" strike="noStrike" sz="1100" u="none">
                    <a:solidFill>
                      <a:srgbClr val="22262B"/>
                    </a:solidFill>
                    <a:latin typeface="+mn-lt"/>
                  </a:defRPr>
                </a:pPr>
              </a:p>
            </c:txPr>
            <c:showLegendKey val="0"/>
            <c:showVal val="1"/>
            <c:showCatName val="0"/>
            <c:showSerName val="0"/>
            <c:showPercent val="0"/>
            <c:showBubbleSize val="0"/>
            <c:showLeaderLines val="0"/>
          </c:dLbls>
          <c:cat>
            <c:multiLvlStrRef>
              <c:f>Sheet1!$A$2:$A$3</c:f>
              <c:multiLvlStrCache>
                <c:ptCount val="2"/>
                <c:lvl>
                  <c:pt idx="0">
                    <c:v>2024</c:v>
                  </c:pt>
                  <c:pt idx="1">
                    <c:v>2025</c:v>
                  </c:pt>
                </c:lvl>
              </c:multiLvlStrCache>
            </c:multiLvlStrRef>
          </c:cat>
          <c:val>
            <c:numRef>
              <c:f>Sheet1!$B$2:$B$3</c:f>
              <c:numCache>
                <c:formatCode>General</c:formatCode>
                <c:ptCount val="2"/>
                <c:pt idx="0">
                  <c:v>102</c:v>
                </c:pt>
                <c:pt idx="1">
                  <c:v>105</c:v>
                </c:pt>
              </c:numCache>
            </c:numRef>
          </c:val>
        </c:ser>
        <c:dLbls>
          <c:numFmt formatCode="#,##0" sourceLinked="0"/>
          <c:txPr>
            <a:bodyPr/>
            <a:lstStyle/>
            <a:p>
              <a:pPr>
                <a:defRPr b="0" i="0" strike="noStrike" sz="1100" u="none">
                  <a:solidFill>
                    <a:srgbClr val="22262B"/>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1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Asse da 100</a:t>
            </a:r>
          </a:p>
        </c:rich>
      </c:tx>
      <c:layout/>
      <c:overlay val="0"/>
    </c:title>
    <c:autoTitleDeleted val="0"/>
    <c:plotArea>
      <c:layout/>
      <c:barChart>
        <c:barDir val="col"/>
        <c:grouping val="clustered"/>
        <c:varyColors val="0"/>
        <c:ser>
          <c:idx val="0"/>
          <c:order val="0"/>
          <c:tx>
            <c:strRef>
              <c:f>Sheet1!$B$1</c:f>
              <c:strCache>
                <c:ptCount val="1"/>
                <c:pt idx="0">
                  <c:v>Valore</c:v>
                </c:pt>
              </c:strCache>
            </c:strRef>
          </c:tx>
          <c:spPr>
            <a:solidFill>
              <a:srgbClr val="A86F1C"/>
            </a:solidFill>
            <a:effectLst/>
          </c:spPr>
          <c:invertIfNegative val="0"/>
          <c:dLbls>
            <c:numFmt formatCode="#,##0" sourceLinked="0"/>
            <c:txPr>
              <a:bodyPr/>
              <a:lstStyle/>
              <a:p>
                <a:pPr>
                  <a:defRPr b="0" i="0" strike="noStrike" sz="1100" u="none">
                    <a:solidFill>
                      <a:srgbClr val="22262B"/>
                    </a:solidFill>
                    <a:latin typeface="+mn-lt"/>
                  </a:defRPr>
                </a:pPr>
              </a:p>
            </c:txPr>
            <c:showLegendKey val="0"/>
            <c:showVal val="1"/>
            <c:showCatName val="0"/>
            <c:showSerName val="0"/>
            <c:showPercent val="0"/>
            <c:showBubbleSize val="0"/>
            <c:showLeaderLines val="0"/>
          </c:dLbls>
          <c:cat>
            <c:multiLvlStrRef>
              <c:f>Sheet1!$A$2:$A$3</c:f>
              <c:multiLvlStrCache>
                <c:ptCount val="2"/>
                <c:lvl>
                  <c:pt idx="0">
                    <c:v>2024</c:v>
                  </c:pt>
                  <c:pt idx="1">
                    <c:v>2025</c:v>
                  </c:pt>
                </c:lvl>
              </c:multiLvlStrCache>
            </c:multiLvlStrRef>
          </c:cat>
          <c:val>
            <c:numRef>
              <c:f>Sheet1!$B$2:$B$3</c:f>
              <c:numCache>
                <c:formatCode>General</c:formatCode>
                <c:ptCount val="2"/>
                <c:pt idx="0">
                  <c:v>102</c:v>
                </c:pt>
                <c:pt idx="1">
                  <c:v>105</c:v>
                </c:pt>
              </c:numCache>
            </c:numRef>
          </c:val>
        </c:ser>
        <c:dLbls>
          <c:numFmt formatCode="#,##0" sourceLinked="0"/>
          <c:txPr>
            <a:bodyPr/>
            <a:lstStyle/>
            <a:p>
              <a:pPr>
                <a:defRPr b="0" i="0" strike="noStrike" sz="1100" u="none">
                  <a:solidFill>
                    <a:srgbClr val="22262B"/>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10"/>
          <c:min val="10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1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Benvenuti al settimo tema, che completa l'area 'Interagire con l'AI'. Nel Tema 5 abbiamo visto il dialogo e la collaborazione con l'AI, nel Tema 6 come formulare richieste efficaci. Qui affrontiamo la competenza che permette di sfruttarli al meglio: saper valutare e verificare i risultati. Un buon prompt migliora l'aderenza alla richiesta, ma non garantisce da solo la correttezza; d'altra parte, verificare tutto con la stessa intensità farebbe perdere gran parte del valore dell'AI. L'obiettivo del modulo è imparare a scegliere che cosa verificare, come farlo, anche con l'aiuto dell'AI stessa, e quando un risultato è abbastanza affidabile per essere usato. La verifica non è un freno all'adozione: è ciò che permette di affidare all'AI attività via via più importanti. Suggerimento per l'apertura: mostrare un breve testo prodotto dall'AI, ben scritto, con un errore non evidente, e chiedere ai partecipanti se lo userebbero così com'è e per quale scopo. La discussione introduce bene il tema della proporzionalità. Nota per il relatore: contenuti e fonti sono stati verificati a ottobre 2026; il modulo si basa su principi stabili, ma gli studi sulla revisione assistita dall'AI evolvono rapidamente e vanno ricontrollati prima di ogni edizione.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L'obiettivo formativo è sviluppare la capacità di valutare criticamente gli output dei sistemi AI, verificare ciò che lo richiede, usare l'AI stessa come supporto alla revisione e stabilire se un risultato è adeguato a un utilizzo specifico. Il punto di partenza è noto: la qualità apparente di una risposta non ne garantisce la correttezza. Ma il punto di arrivo è positivo: chi sa verificare in modo mirato può usare l'AI con più sicurezza, per attività più importanti e con meno tempo perso in controlli inutili. Il principio guida è la proporzionalità: controlli rapidi dove il rischio è basso, controlli accurati dove un errore avrebbe conseguenze serie. E l'atteggiamento richiesto è la fiducia calibrata: né accettare tutto, né diffidare di tutto, ma decidere sulla base delle evidenze. Il messaggio centrale del tema, che ritroveremo in chiusura: l'obiettivo non è verificare tutto, ma sapere che cosa verificare, come farlo e quando un risultato è sufficientemente affidabile per essere utilizzato.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filo conduttore del modulo è la sequenza valutare, verificare, decidere. Valutare significa esaminare l'output: è pertinente, completo, coerente, chiaro? Quali affermazioni contiene, quali ragionamenti, quali numeri? Che cosa manca? Corrispondono i sottotemi 7.1, 7.2 e 7.4. Verificare significa controllare, con evidenze attendibili, gli elementi che lo richiedono: fonti, fatti, dati, calcoli. Corrispondono i sottotemi 7.3 e 7.5, e il 7.6, che mostra come l'AI possa rendere questa fase più rapida e completa. Decidere significa stabilire se l'output, con le verifiche fatte e le incertezze che restano, è adeguato all'uso previsto: accettarlo, modificarlo, approfondirlo o rifiutarlo. Corrisponde il sottotema 7.8. Il 7.7, sui bias cognitivi, attraversa tutte le fasi, perché riguarda chi valuta. Precisazione importante: non è una procedura identica per ogni attività. Per un'idea o una bozza interna le tre fasi si riducono a una lettura attenta di pochi secondi; per un documento destinato a un cliente o a una decisione importante diventano un processo strutturato. Nelle slide, un indicatore in alto a destra ricorda in quale fase ci troviamo.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modulo è articolato in otto sottotemi, tutti con priorità alta. Vanno compresi e applicati: la valutazione della qualità, la verifica delle fonti, il controllo dei ragionamenti, l'identificazione delle omissioni e la validazione proporzionata al rischio. Vanno conosciuti e sperimentati: le tecniche di revisione assistita dall'AI, con esempi pratici di revisione, verifica quantitativa e confronto tra documenti, il confronto tra modelli, il riconoscimento dei bias cognitivi e la gestione dell'incertezza. Vanno solo accennati: metriche statistiche avanzate, validazione formale dei sistemi, modelli quantitativi di rischio, audit specialistici. Il modulo non è un corso di statistica, di logica formale o di audit: propone controlli pratici, alla portata di chiunque lavori con documenti, analisi e decisioni. Confini: non ripetiamo i meccanismi del Tema 2, né la teoria di allucinazioni e bias del Tema 3, né le dinamiche di collaborazione e delega del Tema 5, né i metodi di formulazione del Tema 6, salvo le richieste usate per la revisione. ROI e obblighi giuridici sono trattati nei Temi 12 e 18: qui la responsabilità è trattata come consapevolezza operativa.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Iniziamo dal metodo. Il pensiero critico non è una tecnica specifica per l'AI: è un modo di ragionare che vale per qualsiasi informazione, da un articolo a una presentazione di un fornitore. Con l'AI diventa particolarmente utile, perché riceviamo rapidamente molto testo ben scritto su qualsiasi argomento, e dobbiamo decidere in fretta che cosa usare così com'è e che cosa approfondire. Vediamo che cosa significa pensare criticamente, quali distinzioni e domande lo rendono concreto, e perché coincide con una fiducia calibrata, non con la sfiducia.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Possiamo definire il pensiero critico come la capacità di valutare informazioni, argomenti e conclusioni in modo ragionato, sulla base delle evidenze, prima di accettarli o respingerli. Non esiste un'unica definizione accademica, ma i diversi approcci condividono alcuni principi: chiedersi su che cosa si basa un'affermazione, distinguere ciò che è stabilito da ciò che è supposto, considerare alternative, essere disposti a cambiare idea di fronte a nuove evidenze. Applicato all'AI, il pensiero critico non significa trattare ogni output come un oggetto sospetto. Significa interrogarlo invece di riceverlo passivamente, con un'intensità proporzionata all'uso. La slide propone tre livelli. Per gli usi a basso rischio, come idee, bozze interne, riformulazioni o sintesi per uso personale, molti risultati si possono usare direttamente dopo una lettura attenta. Per gli usi rilevanti, come un'email a un cliente, un report o un'analisi, servono controlli mirati sui punti critici. Per gli usi critici, come contratti, offerte, dati ufficiali o decisioni importanti, serve una verifica strutturata e, se occorre, un esperto. Un'immagine utile: leggere l'output come il lavoro di un collega molto capace, di cui stiamo imparando a conoscere i punti di forza e i limiti. Non lo scartiamo e non lo accettiamo a scatola chiusa: lo usiamo con il giusto grado di controllo.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distinzione fondamentale per valutare un testo è quella tra quattro tipi di affermazioni, che negli output dell'AI possono comparire mescolati senza segnalazione. I fatti sono affermazioni verificabili, che si possono confermare o smentire con evidenze: 'il fatturato del 2025 è stato di 12 milioni'. Le opinioni sono valutazioni o preferenze: 'è un risultato eccellente'. Le ipotesi sono affermazioni plausibili ma non ancora confermate: 'la crescita potrebbe dipendere dal nuovo listino'. Le interpretazioni sono letture dei fatti, che attribuiscono loro un significato: 'la crescita dimostra che la strategia funziona'. Poiché possono essere presentati con lo stesso tono, un'ipotesi può sembrare un fatto e un'interpretazione una conclusione obbligata. Distinguerli è utile perché dice subito dove concentrare l'attenzione: i fatti importanti si verificano, le interpretazioni e le opinioni si valutano con giudizio, le ipotesi si trattano come incerte. Si può anche chiedere all'AI di etichettare le proprie affermazioni secondo questi quattro tipi, come vedremo nel 7.6. Esercizio utile: prendere un paragrafo prodotto dall'AI ed etichettare ogni frase.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pensiero critico diventa concreto attraverso le domande, raggruppate in tre famiglie. Sulle affermazioni: che cosa sostiene esattamente? È un fatto, un'opinione, un'ipotesi o un'interpretazione? È verificabile? Sulle evidenze: su che cosa si basa? Ci sono fonti, dati, esempi pertinenti e sufficienti? Che cosa servirebbe per confermarla o smentirla? Sulle conclusioni: deriva davvero dalle premesse? Ci sono alternative? Che cosa manca? Che cosa succederebbe se fosse sbagliata? Non serve porsele tutte ogni volta: con la pratica diventano un'abitudine rapida, e si impara a scegliere quelle utili per il tipo di output. L'ultima, che cosa succede se è sbagliata, è spesso la più importante, perché decide quanto approfondire. Queste domande si possono rivolgere anche all'AI, chiedendole di esplicitare evidenze, assunzioni e alternative, come vedremo nel 7.6: è un modo efficace per accelerare l'esame, ferma restando la valutazione finale della persona. Suggerimento: distribuire le domande come scheda di riferimento.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Atteggiamento critico e sfiducia non sono la stessa cosa. La fiducia cieca accetta tutto senza esame; la sfiducia indiscriminata respinge tutto, 'perché l'AI sbaglia'. Sono due estremi con una radice comune: la decisione non dipende dalle evidenze, ma da un atteggiamento preso in anticipo. Entrambi hanno un costo: la prima espone agli errori, la seconda fa perdere tempo e benefici, perché porta a rifare lavori validi e a verificare ciò che non serve. La fiducia calibrata, invece, valuta caso per caso: accetta ciò che regge, verifica ciò che conta, scarta ciò che non regge. Tre elementi la rendono possibile. Le evidenze: un'affermazione senza evidenze non è necessariamente falsa, ma va trattata come non dimostrata. Il giudizio autonomo: farsi un'idea prima di leggere la risposta, come visto nel Tema 5, dà un termine di confronto; se l'AI arriva a una conclusione diversa, vale la pena capire perché, e a volte è l'AI ad avere visto qualcosa che ci era sfuggito. Le competenze: nel proprio campo si riconoscono un dato anomalo o un'eccezione dimenticata; fuori dal proprio campo serve il parere di chi lo conosce. Il punto da sottolineare: un comportamento maturo comprende anche la capacità di accettare un risultato valido senza verifiche inutili. Controllare oltre il necessario non è prudenza, è uno spreco che rende l'AI meno utile.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Concetto chiave. Il pensiero critico è un'abitudine di interrogazione, applicata con un'intensità proporzionata all'uso: molti output a basso rischio si usano dopo una lettura attenta, quelli importanti richiedono controlli mirati o strutturati. Si basa su distinzioni, come quella tra fatti, opinioni, ipotesi e interpretazioni, e su domande critiche su affermazioni, evidenze e conclusioni. Richiede giudizio autonomo e competenze. E coincide con la fiducia calibrata, non con la sfiducia. Esercizio suggerito: dare ai partecipanti un paragrafo prodotto dall'AI, chiedere di etichettare ogni frase come fatto, opinione, ipotesi o interpretazione, e poi di indicare quali verificherebbero se il testo fosse destinato a un cliente e quali se fosse solo un appunto interno.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Passiamo dalla postura al metodo concreto di valutazione. In questo sottotema vediamo le dimensioni della qualità di un output, la differenza tra forma e sostanza, come riconoscere le informazioni mancanti e come distinguere livelli diversi di certezza. Il 7.2 valuta la qualità del contenuto; nel 7.8 valuteremo la sua utilizzabilità in un contesto concreto.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qualità di un output si valuta su più dimensioni. Accuratezza: le informazioni sono corrette? Pertinenza: risponde all'obiettivo o a una domanda diversa? Completezza: copre ciò che serve? Coerenza interna: le parti sono coerenti tra loro? Chiarezza: il destinatario lo capirà senza ambiguità? Distinzione tra dati e supposizioni: è chiaro che cosa deriva da informazioni certe e che cosa è supposto? Le dimensioni sono indipendenti: un output può essere accurato ma non pertinente, pertinente ma incompleto, chiaro ma inaccurato. Per gli output importanti conviene valutarle separatamente. A queste si aggiunge una distinzione che attraversa il modulo: quella tra qualità espressiva e qualità sostanziale. La forma, cioè scorrevolezza, lessico, struttura, tono sicuro, negli output generativi è quasi sempre curata; la sostanza, cioè correttezza, completezza, solidità del ragionamento, può variare. Poiché tendiamo a giudicare la sostanza dalla forma, conviene separare i due giudizi. Prova rapida: riscrivere mentalmente l'output come appunti disordinati e chiedersi se il contenuto convincerebbe ancora. Le dimensioni riprendono quelle viste nel Tema 3 sull'affidabilità, ma qui le usiamo come lista di controllo sul singolo output.</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errore particolarmente insidioso è l'omissione. Un output può contenere solo affermazioni corrette ed essere comunque inadeguato, perché tace informazioni decisive. Le omissioni sono difficili da notare perché valutiamo ciò che c'è scritto, non ciò che manca. Alcuni esempi tipici. Un riassunto di contratto che riporta correttamente durata, prezzo e servizi, ma omette la clausola di rinnovo automatico. Una risposta su una procedura che descrive il caso generale ma non le eccezioni. Un confronto tra fornitori che considera prezzo e qualità ma non i tempi di consegna. Un'analisi che presenta i vantaggi di una scelta ma non i rischi. In ciascun caso, ogni frase è vera, ma il quadro complessivo è fuorviante. Le omissioni sono più probabili quando il materiale è lungo, quando la richiesta non indicava che cosa includere, quando il caso ha eccezioni o condizioni particolari. Per questo una buona richiesta iniziale, che elenca gli elementi attesi, riduce già molto il problema.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Come si individua ciò che non c'è? Partire dalle attese: prima di leggere l'output, annotare che cosa dovrebbe contenere, poi confrontare. È la tecnica più efficace, perché rende visibile l'assenza. Usare la richiesta originale come lista di controllo. Cercare eccezioni e condizioni: in quali casi l'affermazione non vale? Cercare l'altra metà: se ci sono i vantaggi, dove sono gli svantaggi? Confrontare con la fonte: per le sintesi, scorrere l'indice del documento originale e verificare che le parti importanti siano rappresentate. Chiedere all'AI che cosa manca: 'quali aspetti importanti non hai considerato?', 'in quali casi questa risposta non vale?'. È un aiuto rapido ed efficace, da confrontare con le proprie attese. La fascia in basso aggiunge un'abitudine pratica: tenere traccia di che cosa è stato verificato. Quando si lavora su un documento con l'AI, dopo diverse iterazioni è facile perdere traccia di ciò che è stato controllato. Bastano accorgimenti semplici: segnare le affermazioni da verificare e togliere il segno dopo il controllo; chiedere all'AI di contrassegnare ciò che non deriva dai documenti forniti; tenere un elenco dei punti verificati e delle fonti, utile anche per la documentazione del 7.8; dichiarare quando una bozza condivisa contiene parti non ancora verificate. Nel 7.4 vedremo invece le omissioni che rendono ingiustificata una conclusione.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 contenuti di un output hanno gradi di certezza diversi. Fatti confermati: verificati su fonti affidabili. Affermazioni probabili: plausibili e coerenti con ciò che sappiamo, ma non verificate. Ipotesi: possibili, ma senza evidenze sufficienti. Contenuti non verificati: affermazioni di cui non conosciamo l'affidabilità. Un output può mescolare questi livelli con lo stesso tono, e il tono non misura la correttezza: un sistema può affermare con sicurezza qualcosa di errato e con cautela qualcosa di corretto. Un punto tecnico importante: se chiediamo al modello di indicare quanto è sicuro, per esempio con una percentuale, il valore dichiarato non è automaticamente una probabilità calibrata. Un '90%' scritto nel testo non significa che, su cento affermazioni simili, novanta siano corrette. È un indizio, non una misura. Per questo è più utile chiedere elementi controllabili: su quali fonti si basa ogni affermazione, quali assunzioni sono state fatte, quali sono i limiti della risposta, quali punti andrebbero verificati. Sono informazioni che la persona può controllare, e che orientano la verifica dove serve. Il livello di fiducia, alla fine, lo attribuisce chi valuta, sulla base delle evidenze.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Concetto chiave. La qualità di un output si valuta su più dimensioni indipendenti: accuratezza, pertinenza, completezza, coerenza, chiarezza, distinzione tra dati e supposizioni. Una forma curata non dice nulla sulla sostanza. Le omissioni si cercano partendo dalle attese, dalle eccezioni e dalla fonte, anche con l'aiuto dell'AI. I contenuti hanno livelli diversi di certezza, che il tono non rivela e che un grado di certezza dichiarato non misura con precisione: meglio chiedere fonti, assunzioni e limiti. E conviene tenere traccia di ciò che è stato verificato. Esercizio suggerito: prima di leggere un riassunto prodotto dall'AI, far annotare ai partecipanti che cosa dovrebbe contenere; poi confrontare e individuare le omissioni.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Entriamo nella fase di verifica. Nel Tema 3 abbiamo visto perché i sistemi generativi possono produrre fonti e citazioni inesatte o inesistenti. Qui sviluppiamo il metodo pratico: come scegliere che cosa verificare, come distinguere le fonti dagli strumenti che le trovano e le sintetizzano, come controllare che una fonte sostenga davvero un'affermazione, come confrontare fonti indipendenti e come trattare ipotesi, stime e scenari.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primo passo della verifica è decidere che cosa verificare. Non tutto in un output richiede controllo, e verificare tutto con la stessa intensità sarebbe impraticabile. Si procede in due passaggi. Primo, individuare le affermazioni verificabili, cioè i fatti, distinguendoli da opinioni e interpretazioni. Secondo, tra queste, scegliere quelle da controllare secondo tre criteri: l'importanza, cioè quanto pesano sulla decisione o sull'uso del documento; il rischio di errore, più alto per numeri, date, nomi, norme, eventi recenti o argomenti di nicchia; la visibilità, cioè quanto un errore sarebbe esposto, per esempio in un documento per un cliente. L'esempio mostra un breve testo con le affermazioni da verificare evidenziate: la frase introduttiva e la valutazione finale non sono fatti verificabili. La fascia in basso riguarda gli elementi di dettaglio: date, nomi, numeri e riferimenti, come articoli di legge, codici, versioni, link. Sono spesso rapidi da controllare se si ha la fonte, e conviene farlo uno per uno, con la fonte aperta accanto, per i documenti destinati all'esterno o a una decisione: nella lettura scorrevole gli errori di dettaglio sfuggono facilmente. L'AI può aiutare a estrarre l'elenco di questi elementi, come vedremo nel 7.6. Questa selezione è anche il primo passo dell'economia della verifica del 7.8.</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Per verificare un'informazione conviene distinguere tre cose che spesso si confondono. La fonte documentale è il documento che contiene l'informazione. Può essere primaria, cioè all'origine dell'informazione: il testo ufficiale di una legge, un bilancio pubblicato, il rapporto originale di un istituto, un contratto firmato, i dati del gestionale. Oppure secondaria, se riporta o commenta informazioni di altre fonti: articoli, sintesi, presentazioni, enciclopedie. Per le informazioni importanti si risale alla primaria: se un articolo dice che una norma prevede un obbligo, si legge la norma. Lo strumento di ricerca, come un motore di ricerca, una banca dati o la ricerca interna aziendale, non è una fonte: trova e ordina documenti, e il valore sta nei documenti che restituisce, da aprire e leggere. Il sistema di sintesi o di elaborazione, come un assistente AI, riassume, combina e riformula informazioni: quelle apprese durante l'addestramento, quelle trovate con una ricerca o quelle contenute nei documenti forniti. La sua risposta non è di per sé né una fonte primaria né una secondaria: è un'elaborazione, che vale quanto le fonti a cui può essere ricondotta. Quando lavora su documenti forniti o cita fonti consultate, la verifica è più semplice, perché si può controllare il passaggio citato. Quando non indica la provenienza, le affermazioni importanti vanno ricondotte a una fonte prima dell'uso. Questa distinzione non riduce l'utilità dell'AI: la colloca nel ruolo in cui è più forte, cioè trovare, organizzare e sintetizzare, lasciando alle fonti il ruolo di prova.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Nel Tema 3 abbiamo visto il caso delle fonti inesistenti. Ma anche quando la fonte esiste, non è detto che sostenga l'affermazione. Le situazioni più comuni sono quattro. La fonte tratta un argomento diverso o vicino: per esempio un articolo sul settore, non sull'azienda citata. Tratta l'argomento ma dice una cosa diversa: un numero diverso, una conclusione più cauta, un'eccezione omessa. Dice quella cosa, ma in un contesto diverso: un altro paese, un altro periodo, un'altra categoria. Non è attendibile o è superata. La verifica prevede quindi tre controlli in sequenza: la fonte è autentica, cioè esiste ed è quella indicata? È pertinente, cioè tratta proprio quell'argomento, nello stesso contesto? Sostiene l'affermazione, cioè dice esattamente ciò che le viene attribuito? Per farlo bisogna aprire la fonte e leggere il passaggio: il titolo e l'esistenza del link non bastano. Un aiuto pratico: chiedere all'AI di riportare, per ogni affermazione, il passaggio esatto della fonte su cui si basa. Il controllo diventa molto più rapido, perché si confronta un passaggio con un'affermazione.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volta trovata una fonte pertinente, resta da valutarne la qualità. Attendibilità: chi è l'autore o l'ente? Ha competenza sull'argomento? Ha interessi che potrebbero influenzare il contenuto, come un fornitore che pubblica dati sul proprio prodotto? L'informazione è documentata? Aggiornamento: quando è stata pubblicata? È ancora valida? Per norme, prezzi, procedure, organigrammi e dati di mercato, una fonte di due anni fa può essere superata. Fonti indipendenti: per le informazioni importanti, specialmente quando la primaria non è disponibile, conviene confrontare almeno due fonti che non si citano a vicenda e non derivano dalla stessa origine. Se concordano, la fiducia aumenta; se divergono, bisogna risalire all'origine. Attenzione alle false conferme: dieci siti con la stessa informazione possono averla copiata dalla stessa fonte. E due risposte di sistemi AI diversi non sono fonti indipendenti, come vedremo nel 7.6.</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Non tutto ciò che un output contiene è un fatto da verificare: spesso si tratta di ipotesi, stime o scenari, che hanno un valore diverso e vanno trattati in modo diverso. Il fatto non verificato è un dato presentato come certo che non abbiamo ancora controllato: si verifica, si elimina se non è essenziale, oppure si segnala come non verificato. L'ipotesi è una spiegazione possibile, da confermare: è utile per orientare l'analisi, purché dichiarata come tale. La stima è un valore calcolato da dati parziali e assunzioni, come il numero di clienti potenziali o il costo previsto di un progetto: è utile se si indicano metodo e assunzioni, così che chi legge possa valutarla. La simulazione o lo scenario descrive che cosa potrebbe succedere a certe condizioni, come l'effetto di un aumento di prezzo: è uno strumento prezioso per decidere, ma non è un dato. L'AI è molto utile proprio per generare ipotesi alternative, stime di massima e scenari: il punto non è evitarli, ma dichiararli e non confonderli con dati accertati. Un rischio tipico è un numero molto preciso, come '3.247 clienti potenziali', che suona come un dato osservato ma è una stima senza base dichiarata. Nei documenti esterni o a supporto di decisioni, ipotesi, stime e scenari vanno etichettati in modo esplicito, con le loro assunzioni. Nel 7.5 riprenderemo questa distinzione per i numeri.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Concetto chiave. Verificare significa scegliere i punti critici, distinguere le fonti dagli strumenti che le trovano e dai sistemi che le sintetizzano, risalire alla fonte primaria per le informazioni importanti, controllare che una fonte sia autentica, pertinente e di supporto, valutarne attendibilità e aggiornamento, confrontare fonti indipendenti. E significa trattare in modo trasparente ciò che non è un fatto: ipotesi, stime e scenari sono utili, purché dichiarati. Esercizio suggerito: dare ai partecipanti un breve testo con tre affermazioni e tre fonti citate, di cui una inesistente, una che esiste ma dice una cosa diversa e una corretta, e chiedere di verificarle; poi ripetere l'esercizio chiedendo all'AI di riportare il passaggio esatto di ogni fonte e confrontare i tempi.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Torniamo alla valutazione, questa volta dei ragionamenti. Un output può contenere solo informazioni corrette e arrivare comunque a una conclusione debole, perché il collegamento tra le parti ha un difetto. Vediamo come scomporre un ragionamento e quali difetti cercare, senza entrare nella logica formale: bastano poche domande, che valgono per qualsiasi raccomandazione, umana o generata.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Per valutare un ragionamento lo si scompone. I dati sono le informazioni di fatto. Le premesse sono le affermazioni, spesso generali, che collegano i dati alla conclusione. La conclusione è ciò che il ragionamento sostiene. Esempio: dati, vendite online +30% e vendite in negozio -5%; premessa, i clienti preferiscono sempre più acquistare online; conclusione, conviene chiudere alcuni negozi. Scomposto, il ragionamento mostra i punti da controllare: i dati sono corretti? La premessa è dimostrata o è un'interpretazione? Mancano informazioni, come i margini dei due canali, il ruolo dei negozi nelle vendite online, i costi di chiusura? La fascia in basso riguarda i passaggi deboli. Un testo può suonare logico grazie a connettivi come 'quindi', 'di conseguenza', 'ne deriva che', anche quando il collegamento non è dimostrato: vale per i testi umani come per quelli generati. Segnali tipici: la conclusione è molto più forte delle premesse, per esempio da 'alcuni clienti si sono lamentati' a 'il prodotto ha un problema di qualità'; un elemento nuovo compare solo nella conclusione; il ragionamento salta da una questione a un'altra. Esercizio utile: sottolineare i connettivi e chiedersi se ciascun collegamento è dimostrato. Si può anche chiedere all'AI di esplicitare dati, premesse e conclusione del proprio ragionamento: rende la struttura visibile in pochi secondi.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delle confusioni più comuni nei ragionamenti, umani e generati, è quella tra correlazione e causalità. Due fenomeni sono correlati quando variano insieme; sono in relazione causale quando uno è causa dell'altro. La correlazione non dimostra la causalità, per almeno tre ragioni. Può esserci un terzo fattore: d'estate crescono sia le vendite di gelati sia gli incidenti in spiaggia, ma la causa comune è il caldo. La causalità può essere inversa: le aziende che investono in formazione hanno risultati migliori, ma forse sono i buoni risultati a permettere gli investimenti. La correlazione può essere casuale, soprattutto con pochi dati o molte variabili. Nei testi la confusione si presenta in frasi come 'grazie a', 'a causa di', 'ha portato a', 'dimostra che'. Quando un output attribuisce una causa, chiedersi: ci sono spiegazioni alternative? Ci sono evidenze che il legame sia causale? Una richiesta utile all'AI: 'quali altre spiegazioni sono compatibili con questi dati?'. L'esempio dei negozi della slide precedente contiene proprio questo problema.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Due difetti frequenti in qualsiasi ragionamento. Le assunzioni implicite sono premesse non dichiarate da cui la conclusione dipende: per esempio una proposta di risparmio che dà per scontato che i volumi restino invariati, o un piano che presuppone personale disponibile. Se l'assunzione è falsa, la conclusione cade; poiché non è scritta, è difficile accorgersene. Domanda di controllo: che cosa deve essere vero perché questa conclusione valga? Le generalizzazioni indebite estendono a tutti i casi ciò che vale per alcuni: 'i clienti preferiscono l'online', basato su un'indagine tra clienti giovani di una sola città; 'questa soluzione funziona', perché ha funzionato in un'azienda di un altro settore. Quando una richiesta all'AI è generica, la risposta tende a basarsi su situazioni tipiche, non sul nostro caso: è un punto di partenza utile, ma va adattato. La buona notizia è che si può ridurre molto questo effetto. La fascia in basso propone quattro accorgimenti: dare il contesto, cioè settore, tipo di clienti, dimensione, vincoli; fornire i propri dati invece di lasciare che il sistema li supponga; chiedere a quali condizioni la conclusione vale e quando non vale; chiedere di esplicitare assunzioni e limiti. Con queste indicazioni le risposte diventano più specifiche e più facili da valutare.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ragionamento solido considera le alternative; uno debole presenta una sola interpretazione dei dati come l'unica possibile. Per ogni conclusione importante: quali altre spiegazioni sono compatibili con gli stessi dati? Nell'esempio dei negozi, il calo potrebbe dipendere da lavori stradali, da un cambio di assortimento, dalla stagionalità. Qui ritroviamo le omissioni, applicate ai ragionamenti: una conclusione apparentemente coerente può poggiare su premesse incomplete. Nel 7.2 l'omissione rendeva incompleto l'output; qui rende ingiustificata la conclusione. Se il ragionamento non considera che una parte delle vendite online nasce da clienti che hanno visto il prodotto in negozio, chiudere i negozi potrebbe ridurre proprio l'online. Il controllo finale riassume il sottotema: la conclusione è proporzionata alle evidenze? Può essere troppo forte, quando presenta come certo ciò che è probabile; troppo debole, quando resta vaga anche con evidenze solide; o non collegata ai dati presentati. L'AI è un ottimo alleato per questo esame: chiedere 'qual è l'argomento più forte contro questa conclusione?' o 'quali informazioni potrebbero cambiarla?' fa emergere in pochi secondi alternative che da soli richiederebbero tempo.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Concetto chiave. Per valutare un ragionamento lo si scompone in dati, premesse e conclusione, e si cercano i difetti tipici: passaggi non giustificati, confusione tra correlazione e causalità, assunzioni implicite, generalizzazioni indebite, alternative ignorate, omissioni nelle premesse. La conclusione deve essere proporzionata alle evidenze. Contesto, dati e richieste mirate riducono le conclusioni generiche, e l'AI aiuta a far emergere alternative e controargomentazioni. Esercizio suggerito: dare ai partecipanti una breve raccomandazione prodotta dall'AI e chiedere di scomporla, individuare un'assunzione implicita e proporre un'interpretazione alternativa; poi chiedere all'AI l'argomento più forte contro la conclusione e confrontare.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 numeri hanno un'autorevolezza particolare: una percentuale precisa o una tabella ordinata sembrano più oggettive di una frase. I risultati quantitativi prodotti con l'AI possono essere molto utili e molto rapidi da ottenere, ma possono contenere errori nei dati di partenza, nelle formule, nelle unità, nelle aggregazioni, nella rappresentazione. Vediamo controlli pratici, alla portata di chiunque lavori con dati, senza entrare in metriche statistiche avanzate. Nel 7.6 vedremo come usare strumenti di calcolo per rendere questi controlli rapidi e riproducibili.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controllo di un risultato quantitativo parte dall'inizio della catena. I dati di partenza: provengono dalla fonte corretta, riguardano il periodo, l'entità e la versione giusti? Sono completi? Sono stati letti correttamente, senza confondere colonne o separatori decimali? Un errore qui si propaga a tutto ciò che segue. Le formule: il calcolo è quello appropriato? Una media va ponderata quando i gruppi hanno dimensioni diverse, un margine si calcola secondo la definizione in uso in azienda. Il sistema può scegliere una formula plausibile ma diversa da quella adottata dalla nostra organizzazione: conviene indicarla nella richiesta. Le unità: euro o migliaia di euro, mese o anno, pezzi o confezioni, percentuali o punti percentuali. Da 10% a 12% è un aumento di 2 punti percentuali, ma del 20% in termini relativi. La fascia centrale propone i controlli di plausibilità, rapidi ed efficaci, che richiedono conoscenza del contesto più che calcoli. Ordine di grandezza: se il fatturato annuo è di circa 10 milioni, un risultato di 100 milioni o di 100 mila segnala un errore. Segno: un costo negativo richiede una spiegazione. Totali: le parti sommano al totale, le percentuali a cento? Coerenza con il noto: un reparto di 5 persone non dovrebbe costare più di uno di 50. Variazioni nel tempo: +300% in un mese in un'attività stabile è sospetto. Non dimostrano la correttezza, ma intercettano molti errori in pochi secondi. Infine, distinguere il tipo di numero: misurato, stimato o simulato, come visto nel 7.3. Un valore molto preciso non è necessariamente un dato osservato.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Molti errori quantitativi nascono quando si sommano, si mediano o si raggruppano i dati, e nei confronti. Le medie possono nascondere situazioni molto diverse: un tempo medio di consegna di tre giorni può derivare da metà consegne in un giorno e metà in cinque; a volte la mediana o la distribuzione sono più informative. Le medie di medie sono spesso sbagliate: se due filiali hanno margini del 10% e del 20%, il margine complessivo è il 15% solo se hanno lo stesso fatturato. Le percentuali vanno lette con le basi: +50% su 4 casi significa passare a 6, non è un trend. I confronti devono essere omogenei: stesso periodo, stessa definizione, stesso perimetro. Infine, basta accennare che i dati aggregati possono mostrare un andamento opposto a quello dei sottogruppi, il cosiddetto paradosso di Simpson: per le decisioni importanti conviene guardare anche i dati disaggregati. Una richiesta utile all'AI: 'mostra i risultati anche per area e indica se l'andamento complessivo è coerente con quello delle singole aree'.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Tabelle e grafici vanno letti con la stessa attenzione dei testi, perché la forma visiva può rafforzare o distorcere il messaggio. Il caso classico è in slide: gli stessi valori, 102 e 105, con un asse verticale che parte da zero e con uno che parte da 100. Nel primo la differenza appare modesta, come è; nel secondo sembra enorme. Nessuno dei due è falso, ma il secondo può indurre a conclusioni sbagliate. Da controllare: assi, etichette e unità; periodo e scale; corrispondenza con le tabelle di origine; categorie omesse o raggruppate in 'altro'; per le tabelle, totali, arrotondamenti e valori mancanti. La fascia in basso riguarda la tracciabilità, che rende i numeri utilizzabili per decidere: deve essere possibile ricostruire quali dati, quali formule e quali passaggi hanno prodotto il risultato. Quando si usa l'AI per un'analisi conviene chiedere passaggi, formule e, se lo strumento esegue codice, il codice stesso, così che possa essere riletto o rieseguito. I valori importanti si ricalcolano con uno strumento indipendente, come un foglio di calcolo partendo dai dati originali, o si confrontano con i report aziendali: uno strumento indipendente è prezioso perché non condivide gli eventuali errori del primo. Il livello di impegno dipende dall'uso: un ordine di grandezza per una discussione interna non richiede lo stesso controllo di un valore da inserire in un'offerta. Nel 7.6 vediamo un esempio pratico.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Concetto chiave. Verificare i numeri significa controllare dati di partenza, formule e unità; applicare i controlli rapidi di plausibilità; distinguere dati osservati, stime e simulazioni; leggere con attenzione medie, percentuali e confronti; controllare tabelle e grafici; garantire la tracciabilità e ricalcolare i valori importanti con uno strumento indipendente. Esercizio suggerito: dare ai partecipanti una piccola tabella prodotta dall'AI con un errore di unità e un totale che non torna, e chiedere di individuarli con i soli controlli di plausibilità, in meno di due minuti.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Questo è il sottotema in cui l'AI passa dall'altra parte: non solo produce contenuti, ma aiuta a rivederli e migliorarli. Usata bene, la revisione assistita fa risparmiare tempo, trova problemi che a una prima lettura sfuggono e rende i controlli più sistematici. Vediamo il ciclo di miglioramento, le principali tecniche di revisione, tre esempi pratici, cioè la revisione di un'offerta, la verifica di un calcolo e il confronto tra due documenti, e come formulare le richieste di controllo. Chiudiamo con la distinzione che rende tutto questo affidabile: la revisione assistita trova i punti da controllare, la verifica fattuale li conferma con evidenze.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modo più efficace di usare l'AI per la qualità è un ciclo in quattro passi. Generare: l'AI produce una prima versione, guidata da una buona richiesta. Revisionare: l'AI, nel ruolo di revisore, cerca contraddizioni, ambiguità, omissioni, punti deboli e requisiti non rispettati; la persona legge le osservazioni e decide quali sono fondate. Migliorare: si correggono i punti emersi, anche chiedendo all'AI di proporre le modifiche puntuali. Validare: la persona verifica le affermazioni importanti con evidenze e decide l'uso, come vedremo nel 7.8. Il ciclo è rapido: spesso basta un giro per una comunicazione interna, mentre per un documento critico se ne fanno due o tre. Il vantaggio rispetto a una revisione solo manuale è duplice: l'AI esamina sistematicamente tutto il testo, senza stancarsi, e la persona concentra il proprio tempo sul giudizio, cioè sulle parti che contano. La fascia in basso elenca ciò che l'AI sa fare particolarmente bene in revisione: sono problemi interni al testo, che si vedono confrontando le sue parti tra loro o con i requisiti forniti. Le affermazioni sul mondo esterno, come dati, norme e fatti, richiedono invece un controllo con le fonti.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Ecco sei tecniche, con un esempio di richiesta per ciascuna. Revisione critica: 'Rileggi il testo come un revisore esigente e segnala errori, imprecisioni e punti poco chiari'. Assunzioni e punti deboli: 'Quali assunzioni implicite contiene questo ragionamento? Quali sono i punti più deboli?'. Controargomentazioni: 'Qual è l'argomento più forte contro questa conclusione?'. Alternative: 'Quali altre conclusioni sono compatibili con gli stessi dati?'. Checklist e criteri: 'Verifica se il documento rispetta questi cinque requisiti e indica per ciascuno dove e come'. Contraddizioni e lacune: 'Ci sono affermazioni in contraddizione tra loro? Quali informazioni importanti mancano?'. Applicano gli strumenti dei sottotemi 7.2 e 7.4, chiedendo al sistema un primo esame rapido e sistematico. Un accorgimento utile: avviare la revisione in una nuova conversazione, oppure presentare il testo come lavoro di un collega. Può ridurre alcuni effetti del contesto, cioè l'influenza della conversazione precedente e la tendenza ad assecondare l'utente, già vista nel Tema 3 come compiacenza. È una strategia utile, non una garanzia: il nuovo esame può avere limiti simili, e le osservazioni restano da valutare. In modo analogo, la checklist funziona meglio se i criteri sono scritti dalla persona, sulla base dei requisiti reali del documento.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Primo esempio pratico, da proporre come esercitazione. Input: la bozza di un'offerta commerciale per un nuovo cliente, con prezzi, tempi di consegna e condizioni di pagamento. Richiesta all'AI: il testo viene presentato come bozza da rivedere e si chiede di non riscriverlo, ma di segnalare contraddizioni tra prezzi, tempi e condizioni, frasi ambigue per il cliente, informazioni mancanti e affermazioni da verificare su una fonte, indicando per ogni osservazione il punto del testo. Risultato atteso: un elenco numerato di osservazioni collegate al testo. Esempi del tipo di osservazioni che ci si può aspettare: tempi di consegna indicati in modo diverso in due sezioni, una penale citata ma non quantificata, una condizione di pagamento non definita. La persona valuta ogni osservazione, decide che cosa correggere e verifica prezzi e condizioni sui listini e sui documenti aziendali. Perché chiedere osservazioni e non una riscrittura: se si chiede di correggere direttamente, il sistema può modificare anche parti corrette e diventa difficile capire che cosa è cambiato; un elenco di osservazioni lascia la decisione alla persona. Nota per il relatore: il risultato indicato è quello da attendersi, non l'esito di una prova; in aula conviene eseguire la richiesta su una bozza preparata in anticipo, con due o tre errori inseriti di proposito, e discutere che cosa l'AI ha trovato e che cosa no.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Secondo esempio: verificare risultati numerici con strumenti di calcolo. Input: una tabella delle vendite trimestrali di quattro aree, esportata dal gestionale e allegata alla conversazione. Richiesta all'AI: usare lo strumento di analisi o di esecuzione del codice disponibile, calcolare totale e crescita per area, mostrare formule o codice usati, controllare che la somma delle aree corrisponda al totale e segnalare valori mancanti o anomali. Risultato atteso: una tabella con i risultati e il procedimento, formule o codice che si possono rieseguire, controlli di quadratura con esito esplicito e un elenco di eventuali anomalie. La persona controlla poi due cose che lo strumento non può sapere: che i dati di partenza siano quelli giusti, per periodo e perimetro, e che le definizioni, per esempio di crescita o di margine, siano quelle in uso in azienda. Ricalcolare un valore chiave nel foglio di calcolo richiede pochi minuti e chiude il controllo. Perché funziona: un calcolo eseguito da uno strumento, con il procedimento visibile, è riproducibile e controllabile, mentre un numero scritto nel testo di una risposta non lo è. Se lo strumento in uso non esegue codice, si può chiedere di produrre le formule del foglio di calcolo, da incollare e verificare. Nota per il relatore: le funzioni di analisi dati e di esecuzione del codice variano tra prodotti e versioni; verificare prima dell'edizione quali sono disponibili negli strumenti dei partecipanti.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Terzo esempio: il confronto documentale, una delle attività in cui l'AI fa risparmiare più tempo. Input: il contratto in vigore con un fornitore e la nuova proposta di rinnovo, entrambi allegati. Richiesta all'AI: elencare le differenze su prezzo, durata, rinnovo, penali e recesso; indicare le clausole presenti in un documento e assenti nell'altro; segnalare incoerenze interne a ciascun documento; per ogni punto, citare sezione e testo di entrambi i documenti. Risultato atteso: una tabella delle differenze con i rimandi alle sezioni e le clausole mancanti evidenziate. Il rimando a sezione e testo è la parte più importante della richiesta: rende ogni osservazione controllabile in pochi secondi, perché basta aprire il documento al punto indicato. La persona rilegge nei documenti originali i punti che contano e, per gli aspetti legali rilevanti, chiede il parere di un esperto. Lo stesso schema vale per molti casi aziendali: due versioni di una procedura, un capitolato e un'offerta ricevuta, una policy e il suo aggiornamento. Attenzione ai documenti molto lunghi o scansionati: conviene chiedere al sistema di indicare le parti che non è riuscito a leggere o confrontare. Nota per il relatore: il risultato indicato è quello da attendersi; per l'esercitazione usare documenti fittizi o autorizzati, mai contratti reali con dati riservati, nel rispetto delle regole aziendali sull'uso dei dati.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Un'abitudine diffusa è chiedere all'AI 'sei sicuro?' o 'controlla se è corretto'. Sono richieste poco efficaci, per due motivi. Una domanda che esprime un dubbio generico può portare il sistema ad assecondarlo, cambiando anche una risposta corretta, oppure a confermare un errore con nuove giustificazioni convincenti: è la tendenza alla compiacenza vista nel Tema 3, documentata anche in letteratura, e il caso Mata v. Avianca del 2023, in cui un sistema confermò l'esistenza di sentenze che non esistevano, ne è un esempio noto. La tabella mostra come trasformare la richiesta. Invece di 'Sei sicuro?', chiedere 'Quali assunzioni potrebbero rendere errata questa conclusione?': l'attenzione si sposta sui punti deboli. Invece di 'Controlla tutto', chiedere 'Individua le cinque affermazioni fattuali più importanti da verificare': si ottiene una lista mirata, verificabile in poco tempo. Invece di 'Confermi il calcolo?', chiedere 'Mostra dati, formula e procedimento riproducibile': il calcolo diventa controllabile. Queste richieste migliorano davvero la revisione, perché producono elementi da controllare invece di rassicurazioni. Ma restano una revisione: non sostituiscono la verifica indipendente delle affermazioni importanti con fonti, dati originali o strumenti di calcolo.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tabella distingue i due approcci, che sono complementari. La revisione assistita usa lo stesso sistema, o uno simile, per esaminare l'output. È rapida, economica, sempre disponibile, ed è molto efficace per trovare incoerenze, lacune, ambiguità e per costruire la lista dei punti da controllare. Il suo limite è che condivide in parte conoscenze e limiti di chi ha prodotto l'output e può risentire della compiacenza. La verifica indipendente usa evidenze esterne: fonti primarie, dati originali, strumenti di calcolo, esperti. È più impegnativa, ma fornisce una prova. Quando il sistema usa strumenti esterni, come la ricerca web, i documenti forniti o l'esecuzione di codice, la revisione si avvicina a una verifica, perché produce elementi controllabili: le fonti citate e i calcoli eseguiti vanno comunque aperti e controllati per i punti importanti. Lo stesso vale per il confronto tra modelli diversi. Se divergono su una domanda fattuale, è un segnale utile: almeno uno sbaglia e il punto va verificato. Se concordano, la fiducia aumenta un po', ma non è una prova: modelli addestrati su dati in parte simili possono condividere gli stessi errori. Due modelli non sono due fonti indipendenti. La sequenza efficace è quindi chiara: prima la revisione assistita trova rapidamente i punti dubbi, poi la verifica indipendente conferma quelli importanti.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Concetto chiave. L'AI è un alleato prezioso per la qualità: nel ciclo generare, revisionare, migliorare, validare individua contraddizioni, ambiguità, omissioni e punti deboli; con gli strumenti di calcolo rende i numeri riproducibili; nel confronto documentale trova differenze e clausole mancanti con rimandi controllabili. Le richieste mirate producono elementi da controllare invece di rassicurazioni. Per le affermazioni importanti, però, servono evidenze attendibili: fonti, dati originali, calcoli rieseguibili, esperti. Esercizio suggerito: far applicare ai partecipanti la richiesta dell'esempio 1 a un documento preparato con alcuni errori inseriti, poi verificare in modo indipendente i due punti più importanti emersi e discutere quanto tempo ha fatto risparmiare la revisione assistita.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Finora abbiamo parlato degli output e dei metodi per valutarli. Ma la valutazione la fa una persona, e le persone hanno tendenze sistematiche di giudizio, i bias cognitivi, che possono spingere verso troppa fiducia o troppo poca. Alcuni li abbiamo incontrati nei Temi 3 e 5: qui li guardiamo dal punto di vista della valutazione e proponiamo contromisure pratiche. L'obiettivo è una consapevolezza operativa, non uno studio psicologico.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Ecco i principali bias che possono influenzare il modo in cui valutiamo gli output dell'AI. Bias di conferma: accettiamo più facilmente ciò che conferma le nostre convinzioni. Automation bias: tendiamo a privilegiare i suggerimenti dei sistemi automatici riducendo la verifica, un fenomeno studiato a lungo nell'interazione con l'automazione, per esempio da Parasuraman e Manzey. Autorevolezza apparente: attribuiamo credibilità a ciò che ha la forma di un testo competente. Fluidità e sicurezza espressiva: ciò che è facile da leggere tende a sembrare più vero, come mostrato da Reber e Schwarz nel 1999, e un tono sicuro ci sembra un segnale di competenza. Fiducia eccessiva, spesso rafforzata dalle esperienze positive: dopo molte risposte corrette si smette di controllare. Sfiducia non giustificata, l'errore opposto, che porta a scartare output validi e a verifiche che non aggiungono valore, spesso dopo un'esperienza negativa generalizzata a tutti gli usi. Delega del giudizio: lasciare che sia il sistema a decidere che cosa è giusto. Fluidità, sicurezza e autorevolezza agiscono insieme e in modo largamente automatico: non si eliminano con la consapevolezza, si contrastano con il metodo, cioè separando forma e sostanza e controllando i punti critici indipendentemente da quanto suonano convincenti. Sono tendenze comuni a tutti, non segni di superficialità. Domanda per il gruppo: in quale direzione sbagliate più spesso, troppa fiducia o troppo poca, e in quali situazioni?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bias di conferma agisce in modo specifico durante la verifica. Quando un output conferma ciò che pensiamo, tendiamo a considerarlo corretto e a verificarlo poco; quando lo contraddice, tendiamo a cercarne i difetti. Il risultato è una verifica asimmetrica: severa con le informazioni scomode, indulgente con quelle gradite. Inoltre, il modo in cui formuliamo le domande può già contenere la risposta desiderata, e il sistema può tendere ad assecondarla. Il bias si manifesta anche nella ricerca delle fonti: smettiamo di cercare quando ne troviamo una che conferma. Contromisure pratiche: applicare lo stesso livello di verifica a ciò che ci piace e a ciò che non ci piace, magari con una checklist fissa; cercare attivamente le evidenze contrarie, chiedendosi che cosa si troverebbe se si avesse torto; chiedere all'AI gli argomenti più forti contro la propria tesi, un uso in cui l'AI è particolarmente efficace; quando possibile, far verificare a qualcuno che non ha preferenze sul risultato.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Nel Tema 5 abbiamo visto come usare l'AI mantenendo autonomia e competenze. Qui le pratiche diventano contromisure ai bias nella valutazione. Formarsi un'opinione prima di leggere l'output, anche sommaria: dà un termine di confronto e riduce l'ancoraggio alla risposta. Usare checklist e criteri fissati in anticipo: rendono la verifica meno dipendente dall'impressione del momento. Considerare l'opposto: perché la conclusione potrebbe essere sbagliata? Rallentare sui punti critici: la lettura veloce favorisce i giudizi automatici, quella mirata il ragionamento. Separare produzione e verifica: lasciare passare del tempo o affidare la verifica a un'altra persona. Tenere traccia degli errori trovati, e anche dei casi in cui l'output era corretto: aiuta a calibrare la fiducia futura in entrambe le direzioni, cioè a controllare di più dove il sistema ha sbagliato e di meno dove si è dimostrato affidabile. Sono pratiche leggere, da applicare quando l'output conta: non servono per ogni bozza.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Concetto chiave. Bias di conferma, automation bias, fluidità, sicurezza espressiva e autorevolezza apparente spingono verso la fiducia eccessiva; la sfiducia non giustificata è l'errore opposto, con un costo altrettanto reale. Hanno la stessa radice: fiducia basata su impressioni invece che su evidenze. Si contrastano con il metodo: opinione prima della lettura, checklist fisse, considerare l'opposto, rallentare sui punti critici, separare produzione e verifica, tenere traccia di errori e successi. Domanda di verifica: ripensate a un output dell'AI usato di recente. L'avreste controllato con la stessa severità se avesse detto il contrario di ciò che pensavate? E, al contrario, c'è un compito su cui continuate a controllare tutto anche se l'AI si è dimostrata affidabile?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Arriviamo all'ultima fase della sequenza: decidere. Abbiamo valutato l'output e verificato ciò che lo richiedeva; ora stabiliamo se usarlo, e come. Vediamo la differenza tra plausibile, verificato e validato, come proporzionare i controlli, come valutarne costi e benefici, come trattare le incertezze residue e come si articola la responsabilità. Il 7.2 valutava la qualità del contenuto; qui ne valutiamo l'utilizzabilità in un contesto concreto. La responsabilità è trattata come consapevolezza operativa; gli aspetti normativi sono approfonditi nel Tema 18.</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Tre parole per tre stati diversi di un output. Plausibile: sembra corretto, è ben scritto, coerente, credibile. È lo stato di quasi ogni output appena generato, e da solo non dice nulla sulla correttezza. Verificato: gli elementi che lo richiedevano sono stati controllati con evidenze, come fonti, dati, calcoli, esperti. È un passo decisivo, ma non ancora sufficiente. Validato: si è deciso che l'output, con le verifiche fatte e le incertezze che restano, è adeguato a uno specifico utilizzo. La validazione aggiunge lo scopo e la decisione. Un output può essere verificato e non validato: un'analisi corretta nei dati ma troppo generica per la decisione, un testo accurato ma inadatto al destinatario. E lo stesso output può essere validato per un uso e non per un altro: una sintesi adeguata per una discussione interna può non esserlo per un documento ufficiale. Per molti usi a basso rischio, la validazione coincide con una lettura attenta e richiede pochi secondi: il passaggio da plausibile a validato non deve essere lungo, deve essere consapevole.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verifica richiede tempo: se ogni output fosse verificato in ogni dettaglio, l'AI farebbe risparmiare poco; se non si verificasse nulla, gli errori passerebbero. L'economia della verifica gradua impegno e profondità del controllo secondo due fattori: la probabilità di un errore e il suo impatto. Probabilità bassa e impatto basso: basta una lettura attenta. Probabilità alta e impatto basso: controlli rapidi e mirati, per esempio su numeri e nomi. Probabilità bassa e impatto alto: verifica dei punti critici, perché anche un errore raro avrebbe conseguenze serie. Probabilità alta e impatto alto: verifica approfondita e, se serve, un esperto. La fascia in basso indica da che cosa dipendono i due fattori. L'impatto dipende dalle conseguenze di un errore, con le quattro dimensioni viste nel Tema 3: gravità, reversibilità, chi subisce l'errore, facilità con cui verrebbe scoperto. Dipende anche dall'adeguatezza richiesta: il livello di dettaglio e di precisione che l'uso previsto richiede. La probabilità dipende dal tipo di contenuto: numeri, fonti, argomenti recenti o di nicchia, complessità. Un errore in una bozza interna che verrà rivista ha conseguenze minime; un errore in un'offerta, in una comunicazione a tutti i dipendenti o in un dato per una decisione d'investimento può avere conseguenze serie. Il principio evita due errori opposti: la verifica indiscriminata di ogni dettaglio, che spreca tempo, e i controlli insufficienti negli usi critici.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costo della verifica va confrontato con l'intero processo, non solo con il tempo che servirebbe a fare il lavoro a mano. Il costo è il tempo di controllo e, a volte, la competenza necessaria. I benefici sono più ampi di quanto sembri. Tempo risparmiato a valle: un errore trovato prima dell'invio evita correzioni, rilavorazioni, chiarimenti con il cliente. Processo riutilizzabile: una richiesta di revisione ben fatta, una checklist, un controllo di quadratura si costruiscono una volta e si riusano su tutti i documenti dello stesso tipo. Qualità migliore: il ciclo di revisione assistita spesso produce un risultato migliore di quello che si otterrebbe senza AI, non solo più rapido. Scalabilità: su compiti ricorrenti, una verifica approfondita iniziale su un campione di casi può giustificare controlli più leggeri e periodici in seguito. Controlli automatizzabili: verifiche ripetitive, come quadrature, formati, campi obbligatori, rimandi tra documenti, si possono affidare a strumenti, fogli di calcolo o codice. Concentrare l'attenzione: poche affermazioni portano gran parte del peso; verificare quelle è il modo più efficiente di ridurre il rischio. Resta un criterio di buon senso: se per un compito specifico la verifica necessaria supera stabilmente il tempo di svolgerlo direttamente, conviene ripensare come usare l'AI su quel compito, per esempio usandola per una parte del lavoro o con documenti di riferimento, prima di rinunciarvi.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Due elementi chiudono il processo. Il primo è l'incertezza residua: anche dopo la verifica resta quasi sempre qualcosa di incerto, come informazioni non verificabili, stime, ipotesi o punti non controllati per mancanza di tempo. Un errore frequente è considerare un output verificato perché i punti controllati sono risultati corretti, dimenticando quelli non controllati. Tre passi: rendere esplicito ciò che resta incerto; valutarne l'impatto, cioè se cambierebbe la conclusione; decidere se accettarlo, ridurlo con altre verifiche o comunicarlo al destinatario. Comunicare l'incertezza con onestà, per esempio indicando che un dato è stimato, è un segno di professionalità. Il secondo è la decisione, con quattro esiti. Accettare: l'output è adeguato allo scopo e le incertezze sono accettabili; per molte attività quotidiane è l'esito più frequente. Modificare: è utilizzabile dopo correzioni o integrazioni, magari con un altro giro del ciclo di revisione. Approfondire: servono ulteriori verifiche, informazioni o un esperto. Rifiutare: contiene errori sostanziali o incertezze troppo alte per l'uso; non è un fallimento, ma l'esito corretto quando l'output non regge, e può portare a rifare il lavoro in altro modo. La fascia in basso riguarda le competenze specialistiche: quando chi valuta non ha le competenze per riconoscere gli errori e le conseguenze sono rilevanti, come in ambito legale, fiscale, medico, tecnico o di sicurezza, la validazione richiede il parere di un esperto.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Due punti finali. La documentazione delle verifiche, quando necessaria: per gli output importanti, come documenti esterni, dati per decisioni rilevanti o contenuti soggetti a controllo, conviene tenere traccia di che cosa è stato verificato, con quali fonti, da chi e quando, e di quali incertezze restano. Non serve per ogni bozza, ma per ciò che potrebbe essere riesaminato o contestato. Permette di ricostruire il processo, correggere rapidamente se emerge un errore e imparare dagli errori trovati. La responsabilità: decidere di usare un risultato significa assumersene la responsabilità, nei termini che dipendono dal proprio ruolo e dal contesto. Conviene distinguere quattro piani. La responsabilità professionale: ciascuno risponde della qualità del proprio lavoro, anche quando è stato preparato con l'AI, come accade per qualsiasi altro strumento o collaboratore. Le procedure aziendali: molte organizzazioni definiscono regole su quali strumenti usare, quali contenuti rivedere e chi approva; vanno conosciute e rispettate. La supervisione: chi approva, firma o pubblica un contenuto risponde dei controlli previsti per il suo ruolo. Gli obblighi giuridici: dipendono dalla normativa applicabile al caso, al settore e al tipo di sistema, e vanno valutati caso per caso, con il supporto delle funzioni competenti; sono approfonditi nel Tema 18. Non esiste quindi una regola unica valida in ogni situazione, ma un principio operativo costante: chi decide di usare un output deve aver svolto i controlli adeguati al suo ruolo e all'uso previsto.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Concetto chiave dell'ultimo sottotema. Plausibile, verificato e validato sono stati diversi. La validazione considera lo scopo e le conseguenze di un errore, gradua la verifica secondo probabilità e impatto, valuta costi e benefici sull'intero processo, tiene conto delle incertezze residue, coinvolge esperti quando servono e si conclude con una decisione: accettare, modificare, approfondire o rifiutare. Quando necessario, le verifiche si documentano, e la responsabilità si esercita secondo il ruolo, le procedure e le norme applicabili. Esercizio suggerito: presentare tre output con usi diversi, una bozza interna, una comunicazione a un cliente e un dato per una decisione d'investimento, e chiedere ai partecipanti quale livello di verifica applicherebbero, quanto tempo richiederebbe e quale decisione prenderebbero.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Traduciamo il modulo in una scheda pratica, che sostituisce i riepiloghi e si può distribuire ai partecipanti. Valutare: che cosa sostiene l'output? Distinguere fatti, ipotesi, stime e opinioni. È pertinente, completo, coerente? Che cosa manca? Il ragionamento regge? Verificare: solo i punti critici, scelti per importanza, rischio di errore e visibilità; risalire alle fonti primarie per le informazioni importanti; ricalcolare i numeri chiave con uno strumento; usare l'AI per trovare rapidamente i punti dubbi e le evidenze per confermarli. Decidere: l'output è adeguato all'uso previsto? Quali incertezze restano e quanto pesano? Serve un esperto? Accettare, modificare, approfondire o rifiutare, e documentare se necessario. Per tutto il processo: attenzione ai propri bias, con un'opinione formata prima di leggere e gli stessi controlli per ciò che piace e ciò che non piace. La scheda non è una procedura obbligatoria: per una bozza interna si riduce a pochi secondi, per un documento critico diventa un processo strutturato. Il messaggio conclusivo del modulo è nella fascia in basso: l'obiettivo non è verificare tutto, ma sapere che cosa verificare, come farlo e quando un risultato è sufficientemente affidabile per essere utilizzato. Suggerimento: chiudere chiedendo a ciascun partecipante di scegliere un'attività che svolge abitualmente con l'AI e di indicare quale livello di verifica applicherà da domani.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 il Tema 7 si conclude l'area 'Interagire con l'AI', che ha seguito l'intero ciclo dell'interazione: il dialogo e la collaborazione nel Tema 5, la formulazione delle richieste nel Tema 6, la valutazione e la verifica dei risultati in questo tema. Insieme all'area 'Comprendere l'AI' costituisce la base di competenze trasversali del percorso. Con il Tema 8 si apre l'area 'Esplorare le possibilità dell'AI', dedicata a che cosa si può fare concretamente nei diversi ambiti di lavoro: generare e trasformare testi, sintetizzare e analizzare documenti, estrarre informazioni, confrontare documenti, interrogare raccolte documentali. Seguirà il Tema 9, dedicato a dati e analisi. In tutti questi ambiti la capacità di valutare, verificare e decidere costruita qui permette di usare l'AI su attività sempre più rilevanti. Lasciare spazio alle domande finali. Slide facoltativa: se il modulo è presentato da solo, può essere nascosta senza perdere contenuti.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fonti citate nel modulo. Riferimenti verificati il 16 ottobre 2026: Reber e Schwarz, volume 8, numero 3, pagine 338-342, confermati; Parasuraman e Manzey, volume 52, numero 3, pagine 381-410, confermati; Sharma e colleghi, pubblicato negli atti di ICLR 2024, confermato. Il caso Avianca e lo studio di Sharma sono già presentati nel Tema 3, qui richiamati. Il modulo si basa soprattutto su principi consolidati di pensiero critico, analisi delle fonti e lettura dei dati. Tutti gli esempi del modulo, compresi i tre esempi pratici del 7.6, sono illustrativi: non riportano dati reali né esiti di verifiche effettivamente eseguite. Prima di ogni edizione conviene verificare se ci sono studi recenti sull'efficacia della revisione assistita dall'AI, un campo in rapida evoluzione, e quali funzioni di analisi dati ed esecuzione del codice offrono gli strumenti in uso.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58</a:t>
            </a:fld>
            <a:endParaRPr lang="it-IT"/>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it-IT" sz="1300" b="1" spc="200" kern="0" dirty="0">
                <a:solidFill>
                  <a:schemeClr val="accent1"/>
                </a:solidFill>
              </a:defRPr>
            </a:lvl1pPr>
          </a:lstStyle>
          <a:p>
            <a:pPr indent="0" marL="0">
              <a:buNone/>
            </a:pPr>
            <a:endParaRPr lang="it-IT"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it-IT" sz="3600" b="1" dirty="0">
                <a:solidFill>
                  <a:schemeClr val="bg1"/>
                </a:solidFill>
              </a:defRPr>
            </a:lvl1pPr>
          </a:lstStyle>
          <a:p>
            <a:pPr algn="l" indent="0" marL="0">
              <a:buNone/>
            </a:pPr>
            <a:endParaRPr lang="it-IT"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it-IT" sz="1600" dirty="0">
                <a:solidFill>
                  <a:schemeClr val="accent3"/>
                </a:solidFill>
              </a:defRPr>
            </a:lvl1pPr>
          </a:lstStyle>
          <a:p>
            <a:pPr indent="0" marL="0">
              <a:buNone/>
            </a:pPr>
            <a:endParaRPr lang="it-IT"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it-IT" sz="6000" b="1" dirty="0">
                <a:solidFill>
                  <a:schemeClr val="accent1"/>
                </a:solidFill>
              </a:defRPr>
            </a:lvl1pPr>
          </a:lstStyle>
          <a:p>
            <a:pPr indent="0" marL="0">
              <a:buNone/>
            </a:pP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it-IT" sz="3200" b="1" dirty="0">
                <a:solidFill>
                  <a:schemeClr val="bg1"/>
                </a:solidFill>
              </a:defRPr>
            </a:lvl1pPr>
          </a:lstStyle>
          <a:p>
            <a:pPr algn="l" indent="0" marL="0">
              <a:buNone/>
            </a:pP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it-IT" sz="1600" dirty="0">
                <a:solidFill>
                  <a:schemeClr val="accent3"/>
                </a:solidFill>
              </a:defRPr>
            </a:lvl1pPr>
          </a:lstStyle>
          <a:p>
            <a:pPr indent="0" marL="0">
              <a:buNone/>
            </a:pPr>
            <a:endParaRPr lang="it-IT"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it-IT" sz="900" dirty="0">
                <a:solidFill>
                  <a:schemeClr val="accent2"/>
                </a:solidFill>
              </a:rPr>
              <a:t>AI Literacy  ·  Tema 7  ·  Verifica degli output e pensiero critico</a:t>
            </a:r>
            <a:endParaRPr lang="it-IT"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1003</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it-IT" sz="2600" b="1" dirty="0">
                <a:solidFill>
                  <a:schemeClr val="tx1"/>
                </a:solidFill>
              </a:defRPr>
            </a:lvl1pPr>
          </a:lstStyle>
          <a:p>
            <a:pPr algn="l" indent="0" marL="0">
              <a:buNone/>
            </a:pPr>
            <a:endParaRPr lang="it-IT"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it-IT" sz="900" dirty="0">
                <a:solidFill>
                  <a:schemeClr val="accent2"/>
                </a:solidFill>
              </a:rPr>
              <a:t>AI Literacy  ·  Tema 7  ·  Verifica degli output e pensiero critico</a:t>
            </a:r>
            <a:endParaRPr lang="it-IT"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1004</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it-IT" sz="1300" b="1" spc="150" kern="0" dirty="0">
                <a:solidFill>
                  <a:schemeClr val="accent1"/>
                </a:solidFill>
              </a:rPr>
              <a:t>CONCETTO CHIAVE</a:t>
            </a:r>
            <a:endParaRPr lang="it-IT"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it-IT" sz="2600" dirty="0">
                <a:solidFill>
                  <a:schemeClr val="bg1"/>
                </a:solidFill>
              </a:defRPr>
            </a:lvl1pPr>
          </a:lstStyle>
          <a:p>
            <a:pPr indent="0" marL="0">
              <a:buNone/>
            </a:pPr>
            <a:endParaRPr lang="it-IT"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it-IT" sz="1300" dirty="0">
                <a:solidFill>
                  <a:schemeClr val="accent3"/>
                </a:solidFill>
              </a:defRPr>
            </a:lvl1pPr>
          </a:lstStyle>
          <a:p>
            <a:pPr indent="0" marL="0">
              <a:buNone/>
            </a:pPr>
            <a:endParaRPr lang="it-IT"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it-IT" sz="900" dirty="0">
                <a:solidFill>
                  <a:schemeClr val="accent2"/>
                </a:solidFill>
              </a:rPr>
              <a:t>AI Literacy  ·  Tema 7  ·  Verifica degli output e pensiero critico</a:t>
            </a:r>
            <a:endParaRPr lang="it-IT"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1005</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null</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4.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4.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4.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slideLayout" Target="../slideLayouts/slideLayout4.xml"/><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4.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slideLayout" Target="../slideLayouts/slideLayout4.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slideLayout" Target="../slideLayouts/slideLayout4.xm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4.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it-IT" sz="1300" b="1" spc="200" kern="0" dirty="0">
                <a:solidFill>
                  <a:schemeClr val="accent1"/>
                </a:solidFill>
              </a:rPr>
              <a:t>PERCORSO AI LITERACY  ·  TEMA 7</a:t>
            </a:r>
            <a:endParaRPr lang="it-IT"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it-IT" sz="3600" b="1" dirty="0">
                <a:solidFill>
                  <a:schemeClr val="bg1"/>
                </a:solidFill>
              </a:rPr>
              <a:t>Verifica degli output e pensiero critico nell'utilizzo dell'AI</a:t>
            </a:r>
            <a:endParaRPr lang="it-IT"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it-IT" sz="1600" dirty="0">
                <a:solidFill>
                  <a:schemeClr val="accent3"/>
                </a:solidFill>
              </a:rPr>
              <a:t>Area: Interagire con l'AI</a:t>
            </a:r>
            <a:endParaRPr lang="it-IT" sz="1600" dirty="0"/>
          </a:p>
          <a:p>
            <a:pPr indent="0" marL="0">
              <a:buNone/>
            </a:pPr>
            <a:r>
              <a:rPr lang="it-IT" sz="1600" dirty="0">
                <a:solidFill>
                  <a:schemeClr val="accent3"/>
                </a:solidFill>
              </a:rPr>
              <a:t>Contenuti aggiornati a ottobre 2026</a:t>
            </a:r>
            <a:endParaRPr lang="it-IT"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Obiettivo del modulo</a:t>
            </a:r>
            <a:endParaRPr lang="it-IT"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it-IT" sz="1600" b="1" dirty="0">
                <a:solidFill>
                  <a:schemeClr val="tx1"/>
                </a:solidFill>
              </a:rPr>
              <a:t>Che cosa vogliamo sviluppare</a:t>
            </a:r>
            <a:endParaRPr lang="it-IT"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it-IT" sz="1400" dirty="0">
                <a:solidFill>
                  <a:schemeClr val="tx2"/>
                </a:solidFill>
              </a:rPr>
              <a:t>Valutare gli output con metodo</a:t>
            </a:r>
            <a:endParaRPr lang="it-IT" sz="1400" dirty="0"/>
          </a:p>
          <a:p>
            <a:pPr marL="177800" indent="-177800">
              <a:spcAft>
                <a:spcPts val="600"/>
              </a:spcAft>
              <a:buSzPct val="100000"/>
              <a:buChar char="•"/>
            </a:pPr>
            <a:r>
              <a:rPr lang="it-IT" sz="1400" dirty="0">
                <a:solidFill>
                  <a:schemeClr val="tx2"/>
                </a:solidFill>
              </a:rPr>
              <a:t>Verificare ciò che conta: fonti, ragionamenti, numeri</a:t>
            </a:r>
            <a:endParaRPr lang="it-IT" sz="1400" dirty="0"/>
          </a:p>
          <a:p>
            <a:pPr marL="177800" indent="-177800">
              <a:spcAft>
                <a:spcPts val="600"/>
              </a:spcAft>
              <a:buSzPct val="100000"/>
              <a:buChar char="•"/>
            </a:pPr>
            <a:r>
              <a:rPr lang="it-IT" sz="1400" dirty="0">
                <a:solidFill>
                  <a:schemeClr val="tx2"/>
                </a:solidFill>
              </a:rPr>
              <a:t>Usare l'AI anche per rivedere e migliorare i risultati</a:t>
            </a:r>
            <a:endParaRPr lang="it-IT" sz="1400" dirty="0"/>
          </a:p>
          <a:p>
            <a:pPr marL="177800" indent="-177800">
              <a:spcAft>
                <a:spcPts val="600"/>
              </a:spcAft>
              <a:buSzPct val="100000"/>
              <a:buChar char="•"/>
            </a:pPr>
            <a:r>
              <a:rPr lang="it-IT" sz="1400" dirty="0">
                <a:solidFill>
                  <a:schemeClr val="tx2"/>
                </a:solidFill>
              </a:rPr>
              <a:t>Decidere quando un risultato è pronto per l'uso</a:t>
            </a:r>
            <a:endParaRPr lang="it-IT" sz="1400" dirty="0"/>
          </a:p>
        </p:txBody>
      </p:sp>
      <p:sp>
        <p:nvSpPr>
          <p:cNvPr id="9" name="scheda Perché conviene"/>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it-IT" sz="1600" b="1" dirty="0">
                <a:solidFill>
                  <a:schemeClr val="tx1"/>
                </a:solidFill>
              </a:rPr>
              <a:t>Perché conviene</a:t>
            </a:r>
            <a:endParaRPr lang="it-IT"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it-IT" sz="1400" dirty="0">
                <a:solidFill>
                  <a:schemeClr val="tx2"/>
                </a:solidFill>
              </a:rPr>
              <a:t>Saper verificare permette di affidare all'AI attività più importanti, con più sicurezza.</a:t>
            </a:r>
            <a:endParaRPr lang="it-IT" sz="1400" dirty="0"/>
          </a:p>
          <a:p>
            <a:pPr indent="0" marL="0">
              <a:buNone/>
            </a:pPr>
            <a:endParaRPr lang="it-IT" sz="1400" dirty="0"/>
          </a:p>
          <a:p>
            <a:pPr indent="0" marL="0">
              <a:buNone/>
            </a:pPr>
            <a:r>
              <a:rPr lang="it-IT" sz="1400" dirty="0">
                <a:solidFill>
                  <a:schemeClr val="tx2"/>
                </a:solidFill>
              </a:rPr>
              <a:t>Controlli proporzionati: rapidi dove il rischio è basso, accurati dove conta.</a:t>
            </a:r>
            <a:endParaRPr lang="it-IT" sz="1400" dirty="0"/>
          </a:p>
          <a:p>
            <a:pPr indent="0" marL="0">
              <a:buNone/>
            </a:pPr>
            <a:endParaRPr lang="it-IT" sz="1400" dirty="0"/>
          </a:p>
          <a:p>
            <a:pPr indent="0" marL="0">
              <a:buNone/>
            </a:pPr>
            <a:r>
              <a:rPr lang="it-IT" sz="1400" dirty="0">
                <a:solidFill>
                  <a:schemeClr val="tx2"/>
                </a:solidFill>
              </a:rPr>
              <a:t>Fiducia calibrata sulle evidenze, né cieca né preconcetta.</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Il filo conduttore: valutare, verificare, decidere</a:t>
            </a:r>
            <a:endParaRPr lang="it-IT" sz="2600" dirty="0"/>
          </a:p>
        </p:txBody>
      </p:sp>
      <p:sp>
        <p:nvSpPr>
          <p:cNvPr id="4" name="Valutare"/>
          <p:cNvSpPr/>
          <p:nvPr/>
        </p:nvSpPr>
        <p:spPr>
          <a:xfrm>
            <a:off x="457200" y="1097280"/>
            <a:ext cx="2615184" cy="2514600"/>
          </a:xfrm>
          <a:prstGeom prst="roundRect">
            <a:avLst>
              <a:gd name="adj" fmla="val 2909"/>
            </a:avLst>
          </a:prstGeom>
          <a:solidFill>
            <a:schemeClr val="bg2"/>
          </a:solidFill>
          <a:ln/>
        </p:spPr>
      </p:sp>
      <p:sp>
        <p:nvSpPr>
          <p:cNvPr id="5" name="cerchio FiEye"/>
          <p:cNvSpPr/>
          <p:nvPr/>
        </p:nvSpPr>
        <p:spPr>
          <a:xfrm>
            <a:off x="1444752" y="1234440"/>
            <a:ext cx="640080" cy="640080"/>
          </a:xfrm>
          <a:prstGeom prst="ellipse">
            <a:avLst/>
          </a:prstGeom>
          <a:solidFill>
            <a:schemeClr val="accent1"/>
          </a:solidFill>
          <a:ln/>
        </p:spPr>
      </p:sp>
      <p:pic>
        <p:nvPicPr>
          <p:cNvPr id="6" name="Image 0" descr="FiEye">    </p:cNvPr>
          <p:cNvPicPr>
            <a:picLocks noChangeAspect="1"/>
          </p:cNvPicPr>
          <p:nvPr/>
        </p:nvPicPr>
        <p:blipFill>
          <a:blip r:embed="rId1"/>
          <a:stretch>
            <a:fillRect/>
          </a:stretch>
        </p:blipFill>
        <p:spPr>
          <a:xfrm>
            <a:off x="1604772" y="1394460"/>
            <a:ext cx="320040" cy="320040"/>
          </a:xfrm>
          <a:prstGeom prst="rect">
            <a:avLst/>
          </a:prstGeom>
        </p:spPr>
      </p:pic>
      <p:sp>
        <p:nvSpPr>
          <p:cNvPr id="7" name="Text 3"/>
          <p:cNvSpPr txBox="1"/>
          <p:nvPr/>
        </p:nvSpPr>
        <p:spPr>
          <a:xfrm>
            <a:off x="594360" y="1965960"/>
            <a:ext cx="2340864" cy="411480"/>
          </a:xfrm>
          <a:prstGeom prst="rect">
            <a:avLst/>
          </a:prstGeom>
          <a:noFill/>
          <a:ln/>
        </p:spPr>
        <p:txBody>
          <a:bodyPr wrap="square" lIns="0" tIns="0" rIns="0" bIns="0" rtlCol="0" anchor="t"/>
          <a:lstStyle/>
          <a:p>
            <a:pPr algn="ctr" indent="0" marL="0">
              <a:buNone/>
            </a:pPr>
            <a:r>
              <a:rPr lang="it-IT" sz="1900" b="1" dirty="0">
                <a:solidFill>
                  <a:schemeClr val="tx1"/>
                </a:solidFill>
              </a:rPr>
              <a:t>Valutare</a:t>
            </a:r>
            <a:endParaRPr lang="it-IT" sz="1900" dirty="0"/>
          </a:p>
        </p:txBody>
      </p:sp>
      <p:sp>
        <p:nvSpPr>
          <p:cNvPr id="8" name="Text 4"/>
          <p:cNvSpPr txBox="1"/>
          <p:nvPr/>
        </p:nvSpPr>
        <p:spPr>
          <a:xfrm>
            <a:off x="640080" y="2423160"/>
            <a:ext cx="2249424" cy="777240"/>
          </a:xfrm>
          <a:prstGeom prst="rect">
            <a:avLst/>
          </a:prstGeom>
          <a:noFill/>
          <a:ln/>
        </p:spPr>
        <p:txBody>
          <a:bodyPr wrap="square" lIns="0" tIns="0" rIns="0" bIns="0" rtlCol="0" anchor="t"/>
          <a:lstStyle/>
          <a:p>
            <a:pPr algn="ctr" indent="0" marL="0">
              <a:buNone/>
            </a:pPr>
            <a:r>
              <a:rPr lang="it-IT" sz="1200" dirty="0">
                <a:solidFill>
                  <a:schemeClr val="tx2"/>
                </a:solidFill>
              </a:rPr>
              <a:t>Esaminare l'output: pertinenza, completezza, coerenza, che cosa manca</a:t>
            </a:r>
            <a:endParaRPr lang="it-IT" sz="1200" dirty="0"/>
          </a:p>
        </p:txBody>
      </p:sp>
      <p:sp>
        <p:nvSpPr>
          <p:cNvPr id="9" name="Text 5"/>
          <p:cNvSpPr txBox="1"/>
          <p:nvPr/>
        </p:nvSpPr>
        <p:spPr>
          <a:xfrm>
            <a:off x="640080" y="3200400"/>
            <a:ext cx="2249424" cy="320040"/>
          </a:xfrm>
          <a:prstGeom prst="rect">
            <a:avLst/>
          </a:prstGeom>
          <a:noFill/>
          <a:ln/>
        </p:spPr>
        <p:txBody>
          <a:bodyPr wrap="square" lIns="0" tIns="0" rIns="0" bIns="0" rtlCol="0" anchor="t"/>
          <a:lstStyle/>
          <a:p>
            <a:pPr algn="ctr" indent="0" marL="0">
              <a:buNone/>
            </a:pPr>
            <a:r>
              <a:rPr lang="it-IT" sz="1200" b="1" dirty="0">
                <a:solidFill>
                  <a:schemeClr val="accent1"/>
                </a:solidFill>
              </a:rPr>
              <a:t>7.1  7.2  7.4</a:t>
            </a:r>
            <a:endParaRPr lang="it-IT" sz="1200" dirty="0"/>
          </a:p>
        </p:txBody>
      </p:sp>
      <p:sp>
        <p:nvSpPr>
          <p:cNvPr id="10" name="freccia"/>
          <p:cNvSpPr/>
          <p:nvPr/>
        </p:nvSpPr>
        <p:spPr>
          <a:xfrm>
            <a:off x="3090672" y="2194560"/>
            <a:ext cx="155448" cy="292608"/>
          </a:xfrm>
          <a:prstGeom prst="rightArrow">
            <a:avLst/>
          </a:prstGeom>
          <a:solidFill>
            <a:schemeClr val="accent2"/>
          </a:solidFill>
          <a:ln/>
        </p:spPr>
      </p:sp>
      <p:sp>
        <p:nvSpPr>
          <p:cNvPr id="11" name="Verificare"/>
          <p:cNvSpPr/>
          <p:nvPr/>
        </p:nvSpPr>
        <p:spPr>
          <a:xfrm>
            <a:off x="3264408" y="1097280"/>
            <a:ext cx="2615184" cy="2514600"/>
          </a:xfrm>
          <a:prstGeom prst="roundRect">
            <a:avLst>
              <a:gd name="adj" fmla="val 2909"/>
            </a:avLst>
          </a:prstGeom>
          <a:solidFill>
            <a:schemeClr val="bg2"/>
          </a:solidFill>
          <a:ln/>
        </p:spPr>
      </p:sp>
      <p:sp>
        <p:nvSpPr>
          <p:cNvPr id="12" name="cerchio FiSearch"/>
          <p:cNvSpPr/>
          <p:nvPr/>
        </p:nvSpPr>
        <p:spPr>
          <a:xfrm>
            <a:off x="4251960" y="1234440"/>
            <a:ext cx="640080" cy="640080"/>
          </a:xfrm>
          <a:prstGeom prst="ellipse">
            <a:avLst/>
          </a:prstGeom>
          <a:solidFill>
            <a:schemeClr val="accent1"/>
          </a:solidFill>
          <a:ln/>
        </p:spPr>
      </p:sp>
      <p:pic>
        <p:nvPicPr>
          <p:cNvPr id="13" name="Image 1" descr="FiSearch">    </p:cNvPr>
          <p:cNvPicPr>
            <a:picLocks noChangeAspect="1"/>
          </p:cNvPicPr>
          <p:nvPr/>
        </p:nvPicPr>
        <p:blipFill>
          <a:blip r:embed="rId2"/>
          <a:stretch>
            <a:fillRect/>
          </a:stretch>
        </p:blipFill>
        <p:spPr>
          <a:xfrm>
            <a:off x="4411980" y="1394460"/>
            <a:ext cx="320040" cy="320040"/>
          </a:xfrm>
          <a:prstGeom prst="rect">
            <a:avLst/>
          </a:prstGeom>
        </p:spPr>
      </p:pic>
      <p:sp>
        <p:nvSpPr>
          <p:cNvPr id="14" name="Text 9"/>
          <p:cNvSpPr txBox="1"/>
          <p:nvPr/>
        </p:nvSpPr>
        <p:spPr>
          <a:xfrm>
            <a:off x="3401568" y="1965960"/>
            <a:ext cx="2340864" cy="411480"/>
          </a:xfrm>
          <a:prstGeom prst="rect">
            <a:avLst/>
          </a:prstGeom>
          <a:noFill/>
          <a:ln/>
        </p:spPr>
        <p:txBody>
          <a:bodyPr wrap="square" lIns="0" tIns="0" rIns="0" bIns="0" rtlCol="0" anchor="t"/>
          <a:lstStyle/>
          <a:p>
            <a:pPr algn="ctr" indent="0" marL="0">
              <a:buNone/>
            </a:pPr>
            <a:r>
              <a:rPr lang="it-IT" sz="1900" b="1" dirty="0">
                <a:solidFill>
                  <a:schemeClr val="tx1"/>
                </a:solidFill>
              </a:rPr>
              <a:t>Verificare</a:t>
            </a:r>
            <a:endParaRPr lang="it-IT" sz="1900" dirty="0"/>
          </a:p>
        </p:txBody>
      </p:sp>
      <p:sp>
        <p:nvSpPr>
          <p:cNvPr id="15" name="Text 10"/>
          <p:cNvSpPr txBox="1"/>
          <p:nvPr/>
        </p:nvSpPr>
        <p:spPr>
          <a:xfrm>
            <a:off x="3447288" y="2423160"/>
            <a:ext cx="2249424" cy="777240"/>
          </a:xfrm>
          <a:prstGeom prst="rect">
            <a:avLst/>
          </a:prstGeom>
          <a:noFill/>
          <a:ln/>
        </p:spPr>
        <p:txBody>
          <a:bodyPr wrap="square" lIns="0" tIns="0" rIns="0" bIns="0" rtlCol="0" anchor="t"/>
          <a:lstStyle/>
          <a:p>
            <a:pPr algn="ctr" indent="0" marL="0">
              <a:buNone/>
            </a:pPr>
            <a:r>
              <a:rPr lang="it-IT" sz="1200" dirty="0">
                <a:solidFill>
                  <a:schemeClr val="tx2"/>
                </a:solidFill>
              </a:rPr>
              <a:t>Controllare con evidenze ciò che conta: fonti, fatti, dati, calcoli</a:t>
            </a:r>
            <a:endParaRPr lang="it-IT" sz="1200" dirty="0"/>
          </a:p>
        </p:txBody>
      </p:sp>
      <p:sp>
        <p:nvSpPr>
          <p:cNvPr id="16" name="Text 11"/>
          <p:cNvSpPr txBox="1"/>
          <p:nvPr/>
        </p:nvSpPr>
        <p:spPr>
          <a:xfrm>
            <a:off x="3447288" y="3200400"/>
            <a:ext cx="2249424" cy="320040"/>
          </a:xfrm>
          <a:prstGeom prst="rect">
            <a:avLst/>
          </a:prstGeom>
          <a:noFill/>
          <a:ln/>
        </p:spPr>
        <p:txBody>
          <a:bodyPr wrap="square" lIns="0" tIns="0" rIns="0" bIns="0" rtlCol="0" anchor="t"/>
          <a:lstStyle/>
          <a:p>
            <a:pPr algn="ctr" indent="0" marL="0">
              <a:buNone/>
            </a:pPr>
            <a:r>
              <a:rPr lang="it-IT" sz="1200" b="1" dirty="0">
                <a:solidFill>
                  <a:schemeClr val="accent1"/>
                </a:solidFill>
              </a:rPr>
              <a:t>7.3  7.5  7.6</a:t>
            </a:r>
            <a:endParaRPr lang="it-IT" sz="1200" dirty="0"/>
          </a:p>
        </p:txBody>
      </p:sp>
      <p:sp>
        <p:nvSpPr>
          <p:cNvPr id="17" name="freccia"/>
          <p:cNvSpPr/>
          <p:nvPr/>
        </p:nvSpPr>
        <p:spPr>
          <a:xfrm>
            <a:off x="5897880" y="2194560"/>
            <a:ext cx="155448" cy="292608"/>
          </a:xfrm>
          <a:prstGeom prst="rightArrow">
            <a:avLst/>
          </a:prstGeom>
          <a:solidFill>
            <a:schemeClr val="accent2"/>
          </a:solidFill>
          <a:ln/>
        </p:spPr>
      </p:sp>
      <p:sp>
        <p:nvSpPr>
          <p:cNvPr id="18" name="Decidere"/>
          <p:cNvSpPr/>
          <p:nvPr/>
        </p:nvSpPr>
        <p:spPr>
          <a:xfrm>
            <a:off x="6071616" y="1097280"/>
            <a:ext cx="2615184" cy="2514600"/>
          </a:xfrm>
          <a:prstGeom prst="roundRect">
            <a:avLst>
              <a:gd name="adj" fmla="val 2909"/>
            </a:avLst>
          </a:prstGeom>
          <a:solidFill>
            <a:schemeClr val="accent1"/>
          </a:solidFill>
          <a:ln/>
        </p:spPr>
      </p:sp>
      <p:sp>
        <p:nvSpPr>
          <p:cNvPr id="19" name="cerchio FiCheckCircle"/>
          <p:cNvSpPr/>
          <p:nvPr/>
        </p:nvSpPr>
        <p:spPr>
          <a:xfrm>
            <a:off x="7059168" y="1234440"/>
            <a:ext cx="640080" cy="640080"/>
          </a:xfrm>
          <a:prstGeom prst="ellipse">
            <a:avLst/>
          </a:prstGeom>
          <a:solidFill>
            <a:schemeClr val="bg1"/>
          </a:solidFill>
          <a:ln/>
        </p:spPr>
      </p:sp>
      <p:pic>
        <p:nvPicPr>
          <p:cNvPr id="20" name="Image 2" descr="FiCheckCircle">    </p:cNvPr>
          <p:cNvPicPr>
            <a:picLocks noChangeAspect="1"/>
          </p:cNvPicPr>
          <p:nvPr/>
        </p:nvPicPr>
        <p:blipFill>
          <a:blip r:embed="rId3"/>
          <a:stretch>
            <a:fillRect/>
          </a:stretch>
        </p:blipFill>
        <p:spPr>
          <a:xfrm>
            <a:off x="7219188" y="1394460"/>
            <a:ext cx="320040" cy="320040"/>
          </a:xfrm>
          <a:prstGeom prst="rect">
            <a:avLst/>
          </a:prstGeom>
        </p:spPr>
      </p:pic>
      <p:sp>
        <p:nvSpPr>
          <p:cNvPr id="21" name="Text 15"/>
          <p:cNvSpPr txBox="1"/>
          <p:nvPr/>
        </p:nvSpPr>
        <p:spPr>
          <a:xfrm>
            <a:off x="6208776" y="1965960"/>
            <a:ext cx="2340864" cy="411480"/>
          </a:xfrm>
          <a:prstGeom prst="rect">
            <a:avLst/>
          </a:prstGeom>
          <a:noFill/>
          <a:ln/>
        </p:spPr>
        <p:txBody>
          <a:bodyPr wrap="square" lIns="0" tIns="0" rIns="0" bIns="0" rtlCol="0" anchor="t"/>
          <a:lstStyle/>
          <a:p>
            <a:pPr algn="ctr" indent="0" marL="0">
              <a:buNone/>
            </a:pPr>
            <a:r>
              <a:rPr lang="it-IT" sz="1900" b="1" dirty="0">
                <a:solidFill>
                  <a:schemeClr val="bg1"/>
                </a:solidFill>
              </a:rPr>
              <a:t>Decidere</a:t>
            </a:r>
            <a:endParaRPr lang="it-IT" sz="1900" dirty="0"/>
          </a:p>
        </p:txBody>
      </p:sp>
      <p:sp>
        <p:nvSpPr>
          <p:cNvPr id="22" name="Text 16"/>
          <p:cNvSpPr txBox="1"/>
          <p:nvPr/>
        </p:nvSpPr>
        <p:spPr>
          <a:xfrm>
            <a:off x="6254496" y="2423160"/>
            <a:ext cx="2249424" cy="777240"/>
          </a:xfrm>
          <a:prstGeom prst="rect">
            <a:avLst/>
          </a:prstGeom>
          <a:noFill/>
          <a:ln/>
        </p:spPr>
        <p:txBody>
          <a:bodyPr wrap="square" lIns="0" tIns="0" rIns="0" bIns="0" rtlCol="0" anchor="t"/>
          <a:lstStyle/>
          <a:p>
            <a:pPr algn="ctr" indent="0" marL="0">
              <a:buNone/>
            </a:pPr>
            <a:r>
              <a:rPr lang="it-IT" sz="1200" dirty="0">
                <a:solidFill>
                  <a:schemeClr val="bg1"/>
                </a:solidFill>
              </a:rPr>
              <a:t>Stabilire se l'output è adeguato all'uso: accettare, modificare, approfondire, rifiutare</a:t>
            </a:r>
            <a:endParaRPr lang="it-IT" sz="1200" dirty="0"/>
          </a:p>
        </p:txBody>
      </p:sp>
      <p:sp>
        <p:nvSpPr>
          <p:cNvPr id="23" name="Text 17"/>
          <p:cNvSpPr txBox="1"/>
          <p:nvPr/>
        </p:nvSpPr>
        <p:spPr>
          <a:xfrm>
            <a:off x="6254496" y="3200400"/>
            <a:ext cx="2249424" cy="320040"/>
          </a:xfrm>
          <a:prstGeom prst="rect">
            <a:avLst/>
          </a:prstGeom>
          <a:noFill/>
          <a:ln/>
        </p:spPr>
        <p:txBody>
          <a:bodyPr wrap="square" lIns="0" tIns="0" rIns="0" bIns="0" rtlCol="0" anchor="t"/>
          <a:lstStyle/>
          <a:p>
            <a:pPr algn="ctr" indent="0" marL="0">
              <a:buNone/>
            </a:pPr>
            <a:r>
              <a:rPr lang="it-IT" sz="1200" b="1" dirty="0">
                <a:solidFill>
                  <a:schemeClr val="accent6"/>
                </a:solidFill>
              </a:rPr>
              <a:t>7.8</a:t>
            </a:r>
            <a:endParaRPr lang="it-IT" sz="1200" dirty="0"/>
          </a:p>
        </p:txBody>
      </p:sp>
      <p:sp>
        <p:nvSpPr>
          <p:cNvPr id="24" name="bias trasversali"/>
          <p:cNvSpPr/>
          <p:nvPr/>
        </p:nvSpPr>
        <p:spPr>
          <a:xfrm>
            <a:off x="457200" y="3749040"/>
            <a:ext cx="8229600" cy="777240"/>
          </a:xfrm>
          <a:prstGeom prst="roundRect">
            <a:avLst>
              <a:gd name="adj" fmla="val 9412"/>
            </a:avLst>
          </a:prstGeom>
          <a:solidFill>
            <a:schemeClr val="accent6"/>
          </a:solidFill>
          <a:ln/>
        </p:spPr>
      </p:sp>
      <p:sp>
        <p:nvSpPr>
          <p:cNvPr id="25" name="Text 19"/>
          <p:cNvSpPr txBox="1"/>
          <p:nvPr/>
        </p:nvSpPr>
        <p:spPr>
          <a:xfrm>
            <a:off x="640080" y="3749040"/>
            <a:ext cx="7863840" cy="777240"/>
          </a:xfrm>
          <a:prstGeom prst="rect">
            <a:avLst/>
          </a:prstGeom>
          <a:noFill/>
          <a:ln/>
        </p:spPr>
        <p:txBody>
          <a:bodyPr wrap="square" lIns="0" tIns="0" rIns="0" bIns="0" rtlCol="0" anchor="ctr"/>
          <a:lstStyle/>
          <a:p>
            <a:pPr indent="0" marL="0">
              <a:buNone/>
            </a:pPr>
            <a:r>
              <a:rPr lang="it-IT" sz="1300" b="1" dirty="0">
                <a:solidFill>
                  <a:schemeClr val="accent1"/>
                </a:solidFill>
              </a:rPr>
              <a:t>7.7 Bias cognitivi: </a:t>
            </a:r>
            <a:pPr indent="0" marL="0">
              <a:buNone/>
            </a:pPr>
            <a:r>
              <a:rPr lang="it-IT" sz="1300" dirty="0">
                <a:solidFill>
                  <a:schemeClr val="tx1"/>
                </a:solidFill>
              </a:rPr>
              <a:t>attraversano tutte le fasi. L'intensità dipende dall'uso: pochi secondi per una bozza interna, un processo strutturato per un documento critico.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Il percorso del modulo</a:t>
            </a:r>
            <a:endParaRPr lang="it-IT" sz="2600" dirty="0"/>
          </a:p>
        </p:txBody>
      </p:sp>
      <p:sp>
        <p:nvSpPr>
          <p:cNvPr id="4" name="riga 7.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7.1</a:t>
            </a:r>
            <a:endParaRPr lang="it-IT"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it-IT" sz="1300" dirty="0">
                <a:solidFill>
                  <a:schemeClr val="tx1"/>
                </a:solidFill>
              </a:rPr>
              <a:t>Il pensiero critico nell'interazione con l'AI</a:t>
            </a:r>
            <a:endParaRPr lang="it-IT" sz="1300" dirty="0"/>
          </a:p>
        </p:txBody>
      </p:sp>
      <p:sp>
        <p:nvSpPr>
          <p:cNvPr id="7" name="priorità 7.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9" name="riga 7.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7.2</a:t>
            </a:r>
            <a:endParaRPr lang="it-IT"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it-IT" sz="1300" dirty="0">
                <a:solidFill>
                  <a:schemeClr val="tx1"/>
                </a:solidFill>
              </a:rPr>
              <a:t>Valutare la qualità di un output</a:t>
            </a:r>
            <a:endParaRPr lang="it-IT" sz="1300" dirty="0"/>
          </a:p>
        </p:txBody>
      </p:sp>
      <p:sp>
        <p:nvSpPr>
          <p:cNvPr id="12" name="priorità 7.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14" name="riga 7.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7.3</a:t>
            </a:r>
            <a:endParaRPr lang="it-IT"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it-IT" sz="1300" dirty="0">
                <a:solidFill>
                  <a:schemeClr val="tx1"/>
                </a:solidFill>
              </a:rPr>
              <a:t>Verifica delle informazioni e delle fonti</a:t>
            </a:r>
            <a:endParaRPr lang="it-IT" sz="1300" dirty="0"/>
          </a:p>
        </p:txBody>
      </p:sp>
      <p:sp>
        <p:nvSpPr>
          <p:cNvPr id="17" name="priorità 7.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19" name="riga 7.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7.4</a:t>
            </a:r>
            <a:endParaRPr lang="it-IT"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it-IT" sz="1300" dirty="0">
                <a:solidFill>
                  <a:schemeClr val="tx1"/>
                </a:solidFill>
              </a:rPr>
              <a:t>Valutare ragionamenti e conclusioni</a:t>
            </a:r>
            <a:endParaRPr lang="it-IT" sz="1300" dirty="0"/>
          </a:p>
        </p:txBody>
      </p:sp>
      <p:sp>
        <p:nvSpPr>
          <p:cNvPr id="22" name="priorità 7.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24" name="riga 7.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7.5</a:t>
            </a:r>
            <a:endParaRPr lang="it-IT"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it-IT" sz="1300" dirty="0">
                <a:solidFill>
                  <a:schemeClr val="tx1"/>
                </a:solidFill>
              </a:rPr>
              <a:t>Verifica di dati e calcoli</a:t>
            </a:r>
            <a:endParaRPr lang="it-IT" sz="1300" dirty="0"/>
          </a:p>
        </p:txBody>
      </p:sp>
      <p:sp>
        <p:nvSpPr>
          <p:cNvPr id="27" name="priorità 7.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29" name="riga 7.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7.6</a:t>
            </a:r>
            <a:endParaRPr lang="it-IT"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it-IT" sz="1300" dirty="0">
                <a:solidFill>
                  <a:schemeClr val="tx1"/>
                </a:solidFill>
              </a:rPr>
              <a:t>Verifica e revisione assistite dall'AI</a:t>
            </a:r>
            <a:endParaRPr lang="it-IT" sz="1300" dirty="0"/>
          </a:p>
        </p:txBody>
      </p:sp>
      <p:sp>
        <p:nvSpPr>
          <p:cNvPr id="32" name="priorità 7.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34" name="riga 7.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7.7</a:t>
            </a:r>
            <a:endParaRPr lang="it-IT"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it-IT" sz="1300" dirty="0">
                <a:solidFill>
                  <a:schemeClr val="tx1"/>
                </a:solidFill>
              </a:rPr>
              <a:t>Bias cognitivi e fiducia nell'AI</a:t>
            </a:r>
            <a:endParaRPr lang="it-IT" sz="1300" dirty="0"/>
          </a:p>
        </p:txBody>
      </p:sp>
      <p:sp>
        <p:nvSpPr>
          <p:cNvPr id="37" name="priorità 7.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39" name="riga 7.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7.8</a:t>
            </a:r>
            <a:endParaRPr lang="it-IT"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it-IT" sz="1300" dirty="0">
                <a:solidFill>
                  <a:schemeClr val="tx1"/>
                </a:solidFill>
              </a:rPr>
              <a:t>Validazione e responsabilità</a:t>
            </a:r>
            <a:endParaRPr lang="it-IT" sz="1300" dirty="0"/>
          </a:p>
        </p:txBody>
      </p:sp>
      <p:sp>
        <p:nvSpPr>
          <p:cNvPr id="42" name="priorità 7.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44" name="livello Comprendere e applic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it-IT" sz="1300" b="1" dirty="0">
                <a:solidFill>
                  <a:schemeClr val="bg1"/>
                </a:solidFill>
              </a:rPr>
              <a:t>Comprendere e applicare</a:t>
            </a:r>
            <a:endParaRPr lang="it-IT"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it-IT" sz="1000" dirty="0">
                <a:solidFill>
                  <a:schemeClr val="bg1"/>
                </a:solidFill>
              </a:rPr>
              <a:t>Qualità, fonti, ragionamenti, omissioni, validazione proporzionata al rischio</a:t>
            </a:r>
            <a:endParaRPr lang="it-IT" sz="1000" dirty="0"/>
          </a:p>
        </p:txBody>
      </p:sp>
      <p:sp>
        <p:nvSpPr>
          <p:cNvPr id="47" name="livello Conoscere e sperimenta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it-IT" sz="1300" b="1" dirty="0">
                <a:solidFill>
                  <a:schemeClr val="tx1"/>
                </a:solidFill>
              </a:rPr>
              <a:t>Conoscere e sperimentare</a:t>
            </a:r>
            <a:endParaRPr lang="it-IT"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it-IT" sz="1000" dirty="0">
                <a:solidFill>
                  <a:schemeClr val="tx1"/>
                </a:solidFill>
              </a:rPr>
              <a:t>Revisione assistita dall'AI, verifica quantitativa, confronto documentale, bias, incertezza</a:t>
            </a:r>
            <a:endParaRPr lang="it-IT"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it-IT" sz="1300" b="1" dirty="0">
                <a:solidFill>
                  <a:schemeClr val="tx1"/>
                </a:solidFill>
              </a:rPr>
              <a:t>Solo accennare</a:t>
            </a:r>
            <a:endParaRPr lang="it-IT"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it-IT" sz="1000" dirty="0">
                <a:solidFill>
                  <a:schemeClr val="tx1"/>
                </a:solidFill>
              </a:rPr>
              <a:t>Metriche avanzate, validazione formale, modelli di rischio, audit specialistici</a:t>
            </a:r>
            <a:endParaRPr lang="it-IT"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7.1</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Il pensiero critico nell'interazione con l'AI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Valutare informazioni e conclusioni alla luce delle evidenze, senza accettarle o respingerle automaticamente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cos'è il pensiero critico</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definizione pensiero critico"/>
          <p:cNvSpPr/>
          <p:nvPr/>
        </p:nvSpPr>
        <p:spPr>
          <a:xfrm>
            <a:off x="457200" y="1097280"/>
            <a:ext cx="3657600" cy="3429000"/>
          </a:xfrm>
          <a:prstGeom prst="roundRect">
            <a:avLst>
              <a:gd name="adj" fmla="val 2133"/>
            </a:avLst>
          </a:prstGeom>
          <a:solidFill>
            <a:schemeClr val="tx1"/>
          </a:solidFill>
          <a:ln/>
        </p:spPr>
      </p:sp>
      <p:sp>
        <p:nvSpPr>
          <p:cNvPr id="11" name="Text 8"/>
          <p:cNvSpPr txBox="1"/>
          <p:nvPr/>
        </p:nvSpPr>
        <p:spPr>
          <a:xfrm>
            <a:off x="685800" y="1261872"/>
            <a:ext cx="3200400" cy="274320"/>
          </a:xfrm>
          <a:prstGeom prst="rect">
            <a:avLst/>
          </a:prstGeom>
          <a:noFill/>
          <a:ln/>
        </p:spPr>
        <p:txBody>
          <a:bodyPr wrap="square" lIns="0" tIns="0" rIns="0" bIns="0" rtlCol="0" anchor="t"/>
          <a:lstStyle/>
          <a:p>
            <a:pPr indent="0" marL="0">
              <a:buNone/>
            </a:pPr>
            <a:r>
              <a:rPr lang="it-IT" sz="1100" b="1" spc="200" kern="0" dirty="0">
                <a:solidFill>
                  <a:schemeClr val="accent1"/>
                </a:solidFill>
              </a:rPr>
              <a:t>PENSIERO CRITICO</a:t>
            </a:r>
            <a:endParaRPr lang="it-IT" sz="1100" dirty="0"/>
          </a:p>
        </p:txBody>
      </p:sp>
      <p:sp>
        <p:nvSpPr>
          <p:cNvPr id="12" name="Text 9"/>
          <p:cNvSpPr txBox="1"/>
          <p:nvPr/>
        </p:nvSpPr>
        <p:spPr>
          <a:xfrm>
            <a:off x="685800" y="1645920"/>
            <a:ext cx="3200400" cy="1463040"/>
          </a:xfrm>
          <a:prstGeom prst="rect">
            <a:avLst/>
          </a:prstGeom>
          <a:noFill/>
          <a:ln/>
        </p:spPr>
        <p:txBody>
          <a:bodyPr wrap="square" lIns="0" tIns="0" rIns="0" bIns="0" rtlCol="0" anchor="t"/>
          <a:lstStyle/>
          <a:p>
            <a:pPr indent="0" marL="0">
              <a:buNone/>
            </a:pPr>
            <a:r>
              <a:rPr lang="it-IT" sz="1500" dirty="0">
                <a:solidFill>
                  <a:schemeClr val="bg1"/>
                </a:solidFill>
              </a:rPr>
              <a:t>Valutare informazioni, argomenti e conclusioni in modo ragionato, sulla base delle evidenze, prima di accettarli o respingerli.</a:t>
            </a:r>
            <a:endParaRPr lang="it-IT" sz="1500" dirty="0"/>
          </a:p>
        </p:txBody>
      </p:sp>
      <p:sp>
        <p:nvSpPr>
          <p:cNvPr id="13" name="Text 10"/>
          <p:cNvSpPr txBox="1"/>
          <p:nvPr/>
        </p:nvSpPr>
        <p:spPr>
          <a:xfrm>
            <a:off x="685800" y="3337560"/>
            <a:ext cx="3200400" cy="1005840"/>
          </a:xfrm>
          <a:prstGeom prst="rect">
            <a:avLst/>
          </a:prstGeom>
          <a:noFill/>
          <a:ln/>
        </p:spPr>
        <p:txBody>
          <a:bodyPr wrap="square" lIns="0" tIns="0" rIns="0" bIns="0" rtlCol="0" anchor="t"/>
          <a:lstStyle/>
          <a:p>
            <a:pPr indent="0" marL="0">
              <a:buNone/>
            </a:pPr>
            <a:r>
              <a:rPr lang="it-IT" sz="1300" i="1" dirty="0">
                <a:solidFill>
                  <a:schemeClr val="accent3"/>
                </a:solidFill>
              </a:rPr>
              <a:t>Con l'AI: interrogare l'output invece di riceverlo, con un'intensità proporzionata all'uso.</a:t>
            </a:r>
            <a:endParaRPr lang="it-IT" sz="1300" dirty="0"/>
          </a:p>
        </p:txBody>
      </p:sp>
      <p:sp>
        <p:nvSpPr>
          <p:cNvPr id="14" name="Text 11"/>
          <p:cNvSpPr txBox="1"/>
          <p:nvPr/>
        </p:nvSpPr>
        <p:spPr>
          <a:xfrm>
            <a:off x="4389120" y="1097280"/>
            <a:ext cx="4297680" cy="320040"/>
          </a:xfrm>
          <a:prstGeom prst="rect">
            <a:avLst/>
          </a:prstGeom>
          <a:noFill/>
          <a:ln/>
        </p:spPr>
        <p:txBody>
          <a:bodyPr wrap="square" lIns="0" tIns="0" rIns="0" bIns="0" rtlCol="0" anchor="t"/>
          <a:lstStyle/>
          <a:p>
            <a:pPr indent="0" marL="0">
              <a:buNone/>
            </a:pPr>
            <a:r>
              <a:rPr lang="it-IT" sz="1500" b="1" dirty="0">
                <a:solidFill>
                  <a:schemeClr val="tx1"/>
                </a:solidFill>
              </a:rPr>
              <a:t>Valutare non significa controllare tutto</a:t>
            </a:r>
            <a:endParaRPr lang="it-IT" sz="1500" dirty="0"/>
          </a:p>
        </p:txBody>
      </p:sp>
      <p:sp>
        <p:nvSpPr>
          <p:cNvPr id="15" name="Uso a basso rischio"/>
          <p:cNvSpPr/>
          <p:nvPr/>
        </p:nvSpPr>
        <p:spPr>
          <a:xfrm>
            <a:off x="4389120" y="1481328"/>
            <a:ext cx="4297680" cy="713232"/>
          </a:xfrm>
          <a:prstGeom prst="roundRect">
            <a:avLst>
              <a:gd name="adj" fmla="val 10256"/>
            </a:avLst>
          </a:prstGeom>
          <a:solidFill>
            <a:schemeClr val="accent6"/>
          </a:solidFill>
          <a:ln/>
        </p:spPr>
      </p:sp>
      <p:sp>
        <p:nvSpPr>
          <p:cNvPr id="16" name="Text 13"/>
          <p:cNvSpPr txBox="1"/>
          <p:nvPr/>
        </p:nvSpPr>
        <p:spPr>
          <a:xfrm>
            <a:off x="4553712" y="1536192"/>
            <a:ext cx="3968496" cy="292608"/>
          </a:xfrm>
          <a:prstGeom prst="rect">
            <a:avLst/>
          </a:prstGeom>
          <a:noFill/>
          <a:ln/>
        </p:spPr>
        <p:txBody>
          <a:bodyPr wrap="square" lIns="0" tIns="0" rIns="0" bIns="0" rtlCol="0" anchor="t"/>
          <a:lstStyle/>
          <a:p>
            <a:pPr indent="0" marL="0">
              <a:buNone/>
            </a:pPr>
            <a:r>
              <a:rPr lang="it-IT" sz="1300" b="1" dirty="0">
                <a:solidFill>
                  <a:schemeClr val="tx1"/>
                </a:solidFill>
              </a:rPr>
              <a:t>Uso a basso rischio</a:t>
            </a:r>
            <a:endParaRPr lang="it-IT" sz="1300" dirty="0"/>
          </a:p>
        </p:txBody>
      </p:sp>
      <p:sp>
        <p:nvSpPr>
          <p:cNvPr id="17" name="Text 14"/>
          <p:cNvSpPr txBox="1"/>
          <p:nvPr/>
        </p:nvSpPr>
        <p:spPr>
          <a:xfrm>
            <a:off x="4553712" y="1828800"/>
            <a:ext cx="3968496" cy="310896"/>
          </a:xfrm>
          <a:prstGeom prst="rect">
            <a:avLst/>
          </a:prstGeom>
          <a:noFill/>
          <a:ln/>
        </p:spPr>
        <p:txBody>
          <a:bodyPr wrap="square" lIns="0" tIns="0" rIns="0" bIns="0" rtlCol="0" anchor="t"/>
          <a:lstStyle/>
          <a:p>
            <a:pPr indent="0" marL="0">
              <a:buNone/>
            </a:pPr>
            <a:r>
              <a:rPr lang="it-IT" sz="1100" dirty="0">
                <a:solidFill>
                  <a:schemeClr val="tx2"/>
                </a:solidFill>
              </a:rPr>
              <a:t>Idee, bozze interne, riformulazioni: si usano dopo una lettura attenta</a:t>
            </a:r>
            <a:endParaRPr lang="it-IT" sz="1100" dirty="0"/>
          </a:p>
        </p:txBody>
      </p:sp>
      <p:sp>
        <p:nvSpPr>
          <p:cNvPr id="18" name="Uso rilevante"/>
          <p:cNvSpPr/>
          <p:nvPr/>
        </p:nvSpPr>
        <p:spPr>
          <a:xfrm>
            <a:off x="4389120" y="2286000"/>
            <a:ext cx="4297680" cy="713232"/>
          </a:xfrm>
          <a:prstGeom prst="roundRect">
            <a:avLst>
              <a:gd name="adj" fmla="val 10256"/>
            </a:avLst>
          </a:prstGeom>
          <a:solidFill>
            <a:schemeClr val="bg2"/>
          </a:solidFill>
          <a:ln/>
        </p:spPr>
      </p:sp>
      <p:sp>
        <p:nvSpPr>
          <p:cNvPr id="19" name="Text 16"/>
          <p:cNvSpPr txBox="1"/>
          <p:nvPr/>
        </p:nvSpPr>
        <p:spPr>
          <a:xfrm>
            <a:off x="4553712" y="2340864"/>
            <a:ext cx="3968496" cy="292608"/>
          </a:xfrm>
          <a:prstGeom prst="rect">
            <a:avLst/>
          </a:prstGeom>
          <a:noFill/>
          <a:ln/>
        </p:spPr>
        <p:txBody>
          <a:bodyPr wrap="square" lIns="0" tIns="0" rIns="0" bIns="0" rtlCol="0" anchor="t"/>
          <a:lstStyle/>
          <a:p>
            <a:pPr indent="0" marL="0">
              <a:buNone/>
            </a:pPr>
            <a:r>
              <a:rPr lang="it-IT" sz="1300" b="1" dirty="0">
                <a:solidFill>
                  <a:schemeClr val="tx1"/>
                </a:solidFill>
              </a:rPr>
              <a:t>Uso rilevante</a:t>
            </a:r>
            <a:endParaRPr lang="it-IT" sz="1300" dirty="0"/>
          </a:p>
        </p:txBody>
      </p:sp>
      <p:sp>
        <p:nvSpPr>
          <p:cNvPr id="20" name="Text 17"/>
          <p:cNvSpPr txBox="1"/>
          <p:nvPr/>
        </p:nvSpPr>
        <p:spPr>
          <a:xfrm>
            <a:off x="4553712" y="2633472"/>
            <a:ext cx="3968496" cy="310896"/>
          </a:xfrm>
          <a:prstGeom prst="rect">
            <a:avLst/>
          </a:prstGeom>
          <a:noFill/>
          <a:ln/>
        </p:spPr>
        <p:txBody>
          <a:bodyPr wrap="square" lIns="0" tIns="0" rIns="0" bIns="0" rtlCol="0" anchor="t"/>
          <a:lstStyle/>
          <a:p>
            <a:pPr indent="0" marL="0">
              <a:buNone/>
            </a:pPr>
            <a:r>
              <a:rPr lang="it-IT" sz="1100" dirty="0">
                <a:solidFill>
                  <a:schemeClr val="tx2"/>
                </a:solidFill>
              </a:rPr>
              <a:t>Email a clienti, report, analisi: controlli mirati sui punti critici</a:t>
            </a:r>
            <a:endParaRPr lang="it-IT" sz="1100" dirty="0"/>
          </a:p>
        </p:txBody>
      </p:sp>
      <p:sp>
        <p:nvSpPr>
          <p:cNvPr id="21" name="Uso critico"/>
          <p:cNvSpPr/>
          <p:nvPr/>
        </p:nvSpPr>
        <p:spPr>
          <a:xfrm>
            <a:off x="4389120" y="3090672"/>
            <a:ext cx="4297680" cy="713232"/>
          </a:xfrm>
          <a:prstGeom prst="roundRect">
            <a:avLst>
              <a:gd name="adj" fmla="val 10256"/>
            </a:avLst>
          </a:prstGeom>
          <a:solidFill>
            <a:schemeClr val="accent1"/>
          </a:solidFill>
          <a:ln/>
        </p:spPr>
      </p:sp>
      <p:sp>
        <p:nvSpPr>
          <p:cNvPr id="22" name="Text 19"/>
          <p:cNvSpPr txBox="1"/>
          <p:nvPr/>
        </p:nvSpPr>
        <p:spPr>
          <a:xfrm>
            <a:off x="4553712" y="3145536"/>
            <a:ext cx="3968496" cy="292608"/>
          </a:xfrm>
          <a:prstGeom prst="rect">
            <a:avLst/>
          </a:prstGeom>
          <a:noFill/>
          <a:ln/>
        </p:spPr>
        <p:txBody>
          <a:bodyPr wrap="square" lIns="0" tIns="0" rIns="0" bIns="0" rtlCol="0" anchor="t"/>
          <a:lstStyle/>
          <a:p>
            <a:pPr indent="0" marL="0">
              <a:buNone/>
            </a:pPr>
            <a:r>
              <a:rPr lang="it-IT" sz="1300" b="1" dirty="0">
                <a:solidFill>
                  <a:schemeClr val="bg1"/>
                </a:solidFill>
              </a:rPr>
              <a:t>Uso critico</a:t>
            </a:r>
            <a:endParaRPr lang="it-IT" sz="1300" dirty="0"/>
          </a:p>
        </p:txBody>
      </p:sp>
      <p:sp>
        <p:nvSpPr>
          <p:cNvPr id="23" name="Text 20"/>
          <p:cNvSpPr txBox="1"/>
          <p:nvPr/>
        </p:nvSpPr>
        <p:spPr>
          <a:xfrm>
            <a:off x="4553712" y="3438144"/>
            <a:ext cx="3968496" cy="310896"/>
          </a:xfrm>
          <a:prstGeom prst="rect">
            <a:avLst/>
          </a:prstGeom>
          <a:noFill/>
          <a:ln/>
        </p:spPr>
        <p:txBody>
          <a:bodyPr wrap="square" lIns="0" tIns="0" rIns="0" bIns="0" rtlCol="0" anchor="t"/>
          <a:lstStyle/>
          <a:p>
            <a:pPr indent="0" marL="0">
              <a:buNone/>
            </a:pPr>
            <a:r>
              <a:rPr lang="it-IT" sz="1100" dirty="0">
                <a:solidFill>
                  <a:schemeClr val="bg1"/>
                </a:solidFill>
              </a:rPr>
              <a:t>Contratti, offerte, decisioni: verifica strutturata, se serve un esperto</a:t>
            </a:r>
            <a:endParaRPr lang="it-IT" sz="1100" dirty="0"/>
          </a:p>
        </p:txBody>
      </p:sp>
      <p:sp>
        <p:nvSpPr>
          <p:cNvPr id="24" name="Text 21"/>
          <p:cNvSpPr txBox="1"/>
          <p:nvPr/>
        </p:nvSpPr>
        <p:spPr>
          <a:xfrm>
            <a:off x="4389120" y="3977640"/>
            <a:ext cx="4297680" cy="502920"/>
          </a:xfrm>
          <a:prstGeom prst="rect">
            <a:avLst/>
          </a:prstGeom>
          <a:noFill/>
          <a:ln/>
        </p:spPr>
        <p:txBody>
          <a:bodyPr wrap="square" lIns="0" tIns="0" rIns="0" bIns="0" rtlCol="0" anchor="t"/>
          <a:lstStyle/>
          <a:p>
            <a:pPr indent="0" marL="0">
              <a:buNone/>
            </a:pPr>
            <a:r>
              <a:rPr lang="it-IT" sz="1200" i="1" dirty="0">
                <a:solidFill>
                  <a:schemeClr val="tx1"/>
                </a:solidFill>
              </a:rPr>
              <a:t>Su che cosa si basa? È stabilito o supposto? Ci sono alternative?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Fatti, opinioni, ipotesi, interpretazioni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Fatto"/>
          <p:cNvSpPr/>
          <p:nvPr/>
        </p:nvSpPr>
        <p:spPr>
          <a:xfrm>
            <a:off x="457200" y="1097280"/>
            <a:ext cx="1965960" cy="2926080"/>
          </a:xfrm>
          <a:prstGeom prst="roundRect">
            <a:avLst>
              <a:gd name="adj" fmla="val 3721"/>
            </a:avLst>
          </a:prstGeom>
          <a:solidFill>
            <a:schemeClr val="accent6"/>
          </a:solidFill>
          <a:ln/>
        </p:spPr>
      </p:sp>
      <p:sp>
        <p:nvSpPr>
          <p:cNvPr id="11" name="Text 8"/>
          <p:cNvSpPr txBox="1"/>
          <p:nvPr/>
        </p:nvSpPr>
        <p:spPr>
          <a:xfrm>
            <a:off x="594360" y="1188720"/>
            <a:ext cx="1691640" cy="365760"/>
          </a:xfrm>
          <a:prstGeom prst="rect">
            <a:avLst/>
          </a:prstGeom>
          <a:noFill/>
          <a:ln/>
        </p:spPr>
        <p:txBody>
          <a:bodyPr wrap="square" lIns="0" tIns="0" rIns="0" bIns="0" rtlCol="0" anchor="t"/>
          <a:lstStyle/>
          <a:p>
            <a:pPr indent="0" marL="0">
              <a:buNone/>
            </a:pPr>
            <a:r>
              <a:rPr lang="it-IT" sz="1600" b="1" dirty="0">
                <a:solidFill>
                  <a:schemeClr val="accent1"/>
                </a:solidFill>
              </a:rPr>
              <a:t>Fatto</a:t>
            </a:r>
            <a:endParaRPr lang="it-IT" sz="1600" dirty="0"/>
          </a:p>
        </p:txBody>
      </p:sp>
      <p:sp>
        <p:nvSpPr>
          <p:cNvPr id="12" name="Text 9"/>
          <p:cNvSpPr txBox="1"/>
          <p:nvPr/>
        </p:nvSpPr>
        <p:spPr>
          <a:xfrm>
            <a:off x="594360" y="1572768"/>
            <a:ext cx="1691640" cy="457200"/>
          </a:xfrm>
          <a:prstGeom prst="rect">
            <a:avLst/>
          </a:prstGeom>
          <a:noFill/>
          <a:ln/>
        </p:spPr>
        <p:txBody>
          <a:bodyPr wrap="square" lIns="0" tIns="0" rIns="0" bIns="0" rtlCol="0" anchor="t"/>
          <a:lstStyle/>
          <a:p>
            <a:pPr indent="0" marL="0">
              <a:buNone/>
            </a:pPr>
            <a:r>
              <a:rPr lang="it-IT" sz="1200" b="1" dirty="0">
                <a:solidFill>
                  <a:schemeClr val="tx1"/>
                </a:solidFill>
              </a:rPr>
              <a:t>Verificabile con evidenze</a:t>
            </a:r>
            <a:endParaRPr lang="it-IT" sz="1200" dirty="0"/>
          </a:p>
        </p:txBody>
      </p:sp>
      <p:sp>
        <p:nvSpPr>
          <p:cNvPr id="13" name="Text 10"/>
          <p:cNvSpPr txBox="1"/>
          <p:nvPr/>
        </p:nvSpPr>
        <p:spPr>
          <a:xfrm>
            <a:off x="594360" y="2103120"/>
            <a:ext cx="1691640" cy="1143000"/>
          </a:xfrm>
          <a:prstGeom prst="rect">
            <a:avLst/>
          </a:prstGeom>
          <a:noFill/>
          <a:ln/>
        </p:spPr>
        <p:txBody>
          <a:bodyPr wrap="square" lIns="0" tIns="0" rIns="0" bIns="0" rtlCol="0" anchor="t"/>
          <a:lstStyle/>
          <a:p>
            <a:pPr indent="0" marL="0">
              <a:buNone/>
            </a:pPr>
            <a:r>
              <a:rPr lang="it-IT" sz="1200" i="1" dirty="0">
                <a:solidFill>
                  <a:schemeClr val="tx2"/>
                </a:solidFill>
              </a:rPr>
              <a:t>"Il fatturato 2025 è stato di 12 milioni."</a:t>
            </a:r>
            <a:endParaRPr lang="it-IT" sz="1200" dirty="0"/>
          </a:p>
        </p:txBody>
      </p:sp>
      <p:sp>
        <p:nvSpPr>
          <p:cNvPr id="14" name="Text 11"/>
          <p:cNvSpPr txBox="1"/>
          <p:nvPr/>
        </p:nvSpPr>
        <p:spPr>
          <a:xfrm>
            <a:off x="594360" y="3337560"/>
            <a:ext cx="1691640" cy="594360"/>
          </a:xfrm>
          <a:prstGeom prst="rect">
            <a:avLst/>
          </a:prstGeom>
          <a:noFill/>
          <a:ln/>
        </p:spPr>
        <p:txBody>
          <a:bodyPr wrap="square" lIns="0" tIns="0" rIns="0" bIns="0" rtlCol="0" anchor="t"/>
          <a:lstStyle/>
          <a:p>
            <a:pPr indent="0" marL="0">
              <a:buNone/>
            </a:pPr>
            <a:r>
              <a:rPr lang="it-IT" sz="1100" b="1" dirty="0">
                <a:solidFill>
                  <a:schemeClr val="accent5"/>
                </a:solidFill>
              </a:rPr>
              <a:t>Da verificare, se importante</a:t>
            </a:r>
            <a:endParaRPr lang="it-IT" sz="1100" dirty="0"/>
          </a:p>
        </p:txBody>
      </p:sp>
      <p:sp>
        <p:nvSpPr>
          <p:cNvPr id="15" name="Opinione"/>
          <p:cNvSpPr/>
          <p:nvPr/>
        </p:nvSpPr>
        <p:spPr>
          <a:xfrm>
            <a:off x="2560320" y="1097280"/>
            <a:ext cx="1965960" cy="2926080"/>
          </a:xfrm>
          <a:prstGeom prst="roundRect">
            <a:avLst>
              <a:gd name="adj" fmla="val 3721"/>
            </a:avLst>
          </a:prstGeom>
          <a:solidFill>
            <a:schemeClr val="bg2"/>
          </a:solidFill>
          <a:ln/>
        </p:spPr>
      </p:sp>
      <p:sp>
        <p:nvSpPr>
          <p:cNvPr id="16" name="Text 13"/>
          <p:cNvSpPr txBox="1"/>
          <p:nvPr/>
        </p:nvSpPr>
        <p:spPr>
          <a:xfrm>
            <a:off x="2697480" y="1188720"/>
            <a:ext cx="1691640" cy="365760"/>
          </a:xfrm>
          <a:prstGeom prst="rect">
            <a:avLst/>
          </a:prstGeom>
          <a:noFill/>
          <a:ln/>
        </p:spPr>
        <p:txBody>
          <a:bodyPr wrap="square" lIns="0" tIns="0" rIns="0" bIns="0" rtlCol="0" anchor="t"/>
          <a:lstStyle/>
          <a:p>
            <a:pPr indent="0" marL="0">
              <a:buNone/>
            </a:pPr>
            <a:r>
              <a:rPr lang="it-IT" sz="1600" b="1" dirty="0">
                <a:solidFill>
                  <a:schemeClr val="accent1"/>
                </a:solidFill>
              </a:rPr>
              <a:t>Opinione</a:t>
            </a:r>
            <a:endParaRPr lang="it-IT" sz="1600" dirty="0"/>
          </a:p>
        </p:txBody>
      </p:sp>
      <p:sp>
        <p:nvSpPr>
          <p:cNvPr id="17" name="Text 14"/>
          <p:cNvSpPr txBox="1"/>
          <p:nvPr/>
        </p:nvSpPr>
        <p:spPr>
          <a:xfrm>
            <a:off x="2697480" y="1572768"/>
            <a:ext cx="1691640" cy="457200"/>
          </a:xfrm>
          <a:prstGeom prst="rect">
            <a:avLst/>
          </a:prstGeom>
          <a:noFill/>
          <a:ln/>
        </p:spPr>
        <p:txBody>
          <a:bodyPr wrap="square" lIns="0" tIns="0" rIns="0" bIns="0" rtlCol="0" anchor="t"/>
          <a:lstStyle/>
          <a:p>
            <a:pPr indent="0" marL="0">
              <a:buNone/>
            </a:pPr>
            <a:r>
              <a:rPr lang="it-IT" sz="1200" b="1" dirty="0">
                <a:solidFill>
                  <a:schemeClr val="tx1"/>
                </a:solidFill>
              </a:rPr>
              <a:t>Valutazione o preferenza</a:t>
            </a:r>
            <a:endParaRPr lang="it-IT" sz="1200" dirty="0"/>
          </a:p>
        </p:txBody>
      </p:sp>
      <p:sp>
        <p:nvSpPr>
          <p:cNvPr id="18" name="Text 15"/>
          <p:cNvSpPr txBox="1"/>
          <p:nvPr/>
        </p:nvSpPr>
        <p:spPr>
          <a:xfrm>
            <a:off x="2697480" y="2103120"/>
            <a:ext cx="1691640" cy="1143000"/>
          </a:xfrm>
          <a:prstGeom prst="rect">
            <a:avLst/>
          </a:prstGeom>
          <a:noFill/>
          <a:ln/>
        </p:spPr>
        <p:txBody>
          <a:bodyPr wrap="square" lIns="0" tIns="0" rIns="0" bIns="0" rtlCol="0" anchor="t"/>
          <a:lstStyle/>
          <a:p>
            <a:pPr indent="0" marL="0">
              <a:buNone/>
            </a:pPr>
            <a:r>
              <a:rPr lang="it-IT" sz="1200" i="1" dirty="0">
                <a:solidFill>
                  <a:schemeClr val="tx2"/>
                </a:solidFill>
              </a:rPr>
              <a:t>"È un risultato eccellente."</a:t>
            </a:r>
            <a:endParaRPr lang="it-IT" sz="1200" dirty="0"/>
          </a:p>
        </p:txBody>
      </p:sp>
      <p:sp>
        <p:nvSpPr>
          <p:cNvPr id="19" name="Text 16"/>
          <p:cNvSpPr txBox="1"/>
          <p:nvPr/>
        </p:nvSpPr>
        <p:spPr>
          <a:xfrm>
            <a:off x="2697480" y="3337560"/>
            <a:ext cx="1691640" cy="594360"/>
          </a:xfrm>
          <a:prstGeom prst="rect">
            <a:avLst/>
          </a:prstGeom>
          <a:noFill/>
          <a:ln/>
        </p:spPr>
        <p:txBody>
          <a:bodyPr wrap="square" lIns="0" tIns="0" rIns="0" bIns="0" rtlCol="0" anchor="t"/>
          <a:lstStyle/>
          <a:p>
            <a:pPr indent="0" marL="0">
              <a:buNone/>
            </a:pPr>
            <a:r>
              <a:rPr lang="it-IT" sz="1100" b="1" dirty="0">
                <a:solidFill>
                  <a:schemeClr val="accent5"/>
                </a:solidFill>
              </a:rPr>
              <a:t>Da valutare con giudizio</a:t>
            </a:r>
            <a:endParaRPr lang="it-IT" sz="1100" dirty="0"/>
          </a:p>
        </p:txBody>
      </p:sp>
      <p:sp>
        <p:nvSpPr>
          <p:cNvPr id="20" name="Ipotesi"/>
          <p:cNvSpPr/>
          <p:nvPr/>
        </p:nvSpPr>
        <p:spPr>
          <a:xfrm>
            <a:off x="4663440" y="1097280"/>
            <a:ext cx="1965960" cy="2926080"/>
          </a:xfrm>
          <a:prstGeom prst="roundRect">
            <a:avLst>
              <a:gd name="adj" fmla="val 3721"/>
            </a:avLst>
          </a:prstGeom>
          <a:solidFill>
            <a:schemeClr val="bg2"/>
          </a:solidFill>
          <a:ln/>
        </p:spPr>
      </p:sp>
      <p:sp>
        <p:nvSpPr>
          <p:cNvPr id="21" name="Text 18"/>
          <p:cNvSpPr txBox="1"/>
          <p:nvPr/>
        </p:nvSpPr>
        <p:spPr>
          <a:xfrm>
            <a:off x="4800600" y="1188720"/>
            <a:ext cx="1691640" cy="365760"/>
          </a:xfrm>
          <a:prstGeom prst="rect">
            <a:avLst/>
          </a:prstGeom>
          <a:noFill/>
          <a:ln/>
        </p:spPr>
        <p:txBody>
          <a:bodyPr wrap="square" lIns="0" tIns="0" rIns="0" bIns="0" rtlCol="0" anchor="t"/>
          <a:lstStyle/>
          <a:p>
            <a:pPr indent="0" marL="0">
              <a:buNone/>
            </a:pPr>
            <a:r>
              <a:rPr lang="it-IT" sz="1600" b="1" dirty="0">
                <a:solidFill>
                  <a:schemeClr val="accent1"/>
                </a:solidFill>
              </a:rPr>
              <a:t>Ipotesi</a:t>
            </a:r>
            <a:endParaRPr lang="it-IT" sz="1600" dirty="0"/>
          </a:p>
        </p:txBody>
      </p:sp>
      <p:sp>
        <p:nvSpPr>
          <p:cNvPr id="22" name="Text 19"/>
          <p:cNvSpPr txBox="1"/>
          <p:nvPr/>
        </p:nvSpPr>
        <p:spPr>
          <a:xfrm>
            <a:off x="4800600" y="1572768"/>
            <a:ext cx="1691640" cy="457200"/>
          </a:xfrm>
          <a:prstGeom prst="rect">
            <a:avLst/>
          </a:prstGeom>
          <a:noFill/>
          <a:ln/>
        </p:spPr>
        <p:txBody>
          <a:bodyPr wrap="square" lIns="0" tIns="0" rIns="0" bIns="0" rtlCol="0" anchor="t"/>
          <a:lstStyle/>
          <a:p>
            <a:pPr indent="0" marL="0">
              <a:buNone/>
            </a:pPr>
            <a:r>
              <a:rPr lang="it-IT" sz="1200" b="1" dirty="0">
                <a:solidFill>
                  <a:schemeClr val="tx1"/>
                </a:solidFill>
              </a:rPr>
              <a:t>Plausibile, non confermata</a:t>
            </a:r>
            <a:endParaRPr lang="it-IT" sz="1200" dirty="0"/>
          </a:p>
        </p:txBody>
      </p:sp>
      <p:sp>
        <p:nvSpPr>
          <p:cNvPr id="23" name="Text 20"/>
          <p:cNvSpPr txBox="1"/>
          <p:nvPr/>
        </p:nvSpPr>
        <p:spPr>
          <a:xfrm>
            <a:off x="4800600" y="2103120"/>
            <a:ext cx="1691640" cy="1143000"/>
          </a:xfrm>
          <a:prstGeom prst="rect">
            <a:avLst/>
          </a:prstGeom>
          <a:noFill/>
          <a:ln/>
        </p:spPr>
        <p:txBody>
          <a:bodyPr wrap="square" lIns="0" tIns="0" rIns="0" bIns="0" rtlCol="0" anchor="t"/>
          <a:lstStyle/>
          <a:p>
            <a:pPr indent="0" marL="0">
              <a:buNone/>
            </a:pPr>
            <a:r>
              <a:rPr lang="it-IT" sz="1200" i="1" dirty="0">
                <a:solidFill>
                  <a:schemeClr val="tx2"/>
                </a:solidFill>
              </a:rPr>
              <a:t>"La crescita potrebbe dipendere dal nuovo listino."</a:t>
            </a:r>
            <a:endParaRPr lang="it-IT" sz="1200" dirty="0"/>
          </a:p>
        </p:txBody>
      </p:sp>
      <p:sp>
        <p:nvSpPr>
          <p:cNvPr id="24" name="Text 21"/>
          <p:cNvSpPr txBox="1"/>
          <p:nvPr/>
        </p:nvSpPr>
        <p:spPr>
          <a:xfrm>
            <a:off x="4800600" y="3337560"/>
            <a:ext cx="1691640" cy="594360"/>
          </a:xfrm>
          <a:prstGeom prst="rect">
            <a:avLst/>
          </a:prstGeom>
          <a:noFill/>
          <a:ln/>
        </p:spPr>
        <p:txBody>
          <a:bodyPr wrap="square" lIns="0" tIns="0" rIns="0" bIns="0" rtlCol="0" anchor="t"/>
          <a:lstStyle/>
          <a:p>
            <a:pPr indent="0" marL="0">
              <a:buNone/>
            </a:pPr>
            <a:r>
              <a:rPr lang="it-IT" sz="1100" b="1" dirty="0">
                <a:solidFill>
                  <a:schemeClr val="accent5"/>
                </a:solidFill>
              </a:rPr>
              <a:t>Da trattare come incerta</a:t>
            </a:r>
            <a:endParaRPr lang="it-IT" sz="1100" dirty="0"/>
          </a:p>
        </p:txBody>
      </p:sp>
      <p:sp>
        <p:nvSpPr>
          <p:cNvPr id="25" name="Interpretazione"/>
          <p:cNvSpPr/>
          <p:nvPr/>
        </p:nvSpPr>
        <p:spPr>
          <a:xfrm>
            <a:off x="6766560" y="1097280"/>
            <a:ext cx="1965960" cy="2926080"/>
          </a:xfrm>
          <a:prstGeom prst="roundRect">
            <a:avLst>
              <a:gd name="adj" fmla="val 3721"/>
            </a:avLst>
          </a:prstGeom>
          <a:solidFill>
            <a:schemeClr val="bg2"/>
          </a:solidFill>
          <a:ln/>
        </p:spPr>
      </p:sp>
      <p:sp>
        <p:nvSpPr>
          <p:cNvPr id="26" name="Text 23"/>
          <p:cNvSpPr txBox="1"/>
          <p:nvPr/>
        </p:nvSpPr>
        <p:spPr>
          <a:xfrm>
            <a:off x="6903720" y="1188720"/>
            <a:ext cx="1691640" cy="365760"/>
          </a:xfrm>
          <a:prstGeom prst="rect">
            <a:avLst/>
          </a:prstGeom>
          <a:noFill/>
          <a:ln/>
        </p:spPr>
        <p:txBody>
          <a:bodyPr wrap="square" lIns="0" tIns="0" rIns="0" bIns="0" rtlCol="0" anchor="t"/>
          <a:lstStyle/>
          <a:p>
            <a:pPr indent="0" marL="0">
              <a:buNone/>
            </a:pPr>
            <a:r>
              <a:rPr lang="it-IT" sz="1600" b="1" dirty="0">
                <a:solidFill>
                  <a:schemeClr val="accent1"/>
                </a:solidFill>
              </a:rPr>
              <a:t>Interpretazione</a:t>
            </a:r>
            <a:endParaRPr lang="it-IT" sz="1600" dirty="0"/>
          </a:p>
        </p:txBody>
      </p:sp>
      <p:sp>
        <p:nvSpPr>
          <p:cNvPr id="27" name="Text 24"/>
          <p:cNvSpPr txBox="1"/>
          <p:nvPr/>
        </p:nvSpPr>
        <p:spPr>
          <a:xfrm>
            <a:off x="6903720" y="1572768"/>
            <a:ext cx="1691640" cy="457200"/>
          </a:xfrm>
          <a:prstGeom prst="rect">
            <a:avLst/>
          </a:prstGeom>
          <a:noFill/>
          <a:ln/>
        </p:spPr>
        <p:txBody>
          <a:bodyPr wrap="square" lIns="0" tIns="0" rIns="0" bIns="0" rtlCol="0" anchor="t"/>
          <a:lstStyle/>
          <a:p>
            <a:pPr indent="0" marL="0">
              <a:buNone/>
            </a:pPr>
            <a:r>
              <a:rPr lang="it-IT" sz="1200" b="1" dirty="0">
                <a:solidFill>
                  <a:schemeClr val="tx1"/>
                </a:solidFill>
              </a:rPr>
              <a:t>Lettura che dà significato ai fatti</a:t>
            </a:r>
            <a:endParaRPr lang="it-IT" sz="1200" dirty="0"/>
          </a:p>
        </p:txBody>
      </p:sp>
      <p:sp>
        <p:nvSpPr>
          <p:cNvPr id="28" name="Text 25"/>
          <p:cNvSpPr txBox="1"/>
          <p:nvPr/>
        </p:nvSpPr>
        <p:spPr>
          <a:xfrm>
            <a:off x="6903720" y="2103120"/>
            <a:ext cx="1691640" cy="1143000"/>
          </a:xfrm>
          <a:prstGeom prst="rect">
            <a:avLst/>
          </a:prstGeom>
          <a:noFill/>
          <a:ln/>
        </p:spPr>
        <p:txBody>
          <a:bodyPr wrap="square" lIns="0" tIns="0" rIns="0" bIns="0" rtlCol="0" anchor="t"/>
          <a:lstStyle/>
          <a:p>
            <a:pPr indent="0" marL="0">
              <a:buNone/>
            </a:pPr>
            <a:r>
              <a:rPr lang="it-IT" sz="1200" i="1" dirty="0">
                <a:solidFill>
                  <a:schemeClr val="tx2"/>
                </a:solidFill>
              </a:rPr>
              <a:t>"La crescita dimostra che la strategia funziona."</a:t>
            </a:r>
            <a:endParaRPr lang="it-IT" sz="1200" dirty="0"/>
          </a:p>
        </p:txBody>
      </p:sp>
      <p:sp>
        <p:nvSpPr>
          <p:cNvPr id="29" name="Text 26"/>
          <p:cNvSpPr txBox="1"/>
          <p:nvPr/>
        </p:nvSpPr>
        <p:spPr>
          <a:xfrm>
            <a:off x="6903720" y="3337560"/>
            <a:ext cx="1691640" cy="594360"/>
          </a:xfrm>
          <a:prstGeom prst="rect">
            <a:avLst/>
          </a:prstGeom>
          <a:noFill/>
          <a:ln/>
        </p:spPr>
        <p:txBody>
          <a:bodyPr wrap="square" lIns="0" tIns="0" rIns="0" bIns="0" rtlCol="0" anchor="t"/>
          <a:lstStyle/>
          <a:p>
            <a:pPr indent="0" marL="0">
              <a:buNone/>
            </a:pPr>
            <a:r>
              <a:rPr lang="it-IT" sz="1100" b="1" dirty="0">
                <a:solidFill>
                  <a:schemeClr val="accent5"/>
                </a:solidFill>
              </a:rPr>
              <a:t>Da valutare: ci sono alternative?</a:t>
            </a:r>
            <a:endParaRPr lang="it-IT" sz="1100" dirty="0"/>
          </a:p>
        </p:txBody>
      </p:sp>
      <p:sp>
        <p:nvSpPr>
          <p:cNvPr id="30" name="Text 27"/>
          <p:cNvSpPr txBox="1"/>
          <p:nvPr/>
        </p:nvSpPr>
        <p:spPr>
          <a:xfrm>
            <a:off x="457200" y="4160520"/>
            <a:ext cx="8229600" cy="320040"/>
          </a:xfrm>
          <a:prstGeom prst="rect">
            <a:avLst/>
          </a:prstGeom>
          <a:noFill/>
          <a:ln/>
        </p:spPr>
        <p:txBody>
          <a:bodyPr wrap="square" lIns="0" tIns="0" rIns="0" bIns="0" rtlCol="0" anchor="t"/>
          <a:lstStyle/>
          <a:p>
            <a:pPr indent="0" marL="0">
              <a:buNone/>
            </a:pPr>
            <a:r>
              <a:rPr lang="it-IT" sz="1300" i="1" dirty="0">
                <a:solidFill>
                  <a:schemeClr val="tx1"/>
                </a:solidFill>
              </a:rPr>
              <a:t>Possono comparire con lo stesso tono assertivo: distinguerli dice dove concentrare l'attenzione.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Le domande critiche</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scheda Sulle affermazioni"/>
          <p:cNvSpPr/>
          <p:nvPr/>
        </p:nvSpPr>
        <p:spPr>
          <a:xfrm>
            <a:off x="457200" y="1097280"/>
            <a:ext cx="2615184" cy="2834640"/>
          </a:xfrm>
          <a:prstGeom prst="roundRect">
            <a:avLst>
              <a:gd name="adj" fmla="val 2797"/>
            </a:avLst>
          </a:prstGeom>
          <a:solidFill>
            <a:schemeClr val="bg2"/>
          </a:solidFill>
          <a:ln/>
        </p:spPr>
      </p:sp>
      <p:sp>
        <p:nvSpPr>
          <p:cNvPr id="11" name="cerchio FiMessageSquare"/>
          <p:cNvSpPr/>
          <p:nvPr/>
        </p:nvSpPr>
        <p:spPr>
          <a:xfrm>
            <a:off x="640080" y="1280160"/>
            <a:ext cx="457200" cy="457200"/>
          </a:xfrm>
          <a:prstGeom prst="ellipse">
            <a:avLst/>
          </a:prstGeom>
          <a:solidFill>
            <a:schemeClr val="accent1"/>
          </a:solidFill>
          <a:ln/>
        </p:spPr>
      </p:sp>
      <p:pic>
        <p:nvPicPr>
          <p:cNvPr id="12" name="Image 0" descr="FiMessageSquare">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Sulle affermazioni</a:t>
            </a:r>
            <a:endParaRPr lang="it-IT" sz="1500" dirty="0"/>
          </a:p>
        </p:txBody>
      </p:sp>
      <p:sp>
        <p:nvSpPr>
          <p:cNvPr id="14" name="Text 10"/>
          <p:cNvSpPr txBox="1"/>
          <p:nvPr/>
        </p:nvSpPr>
        <p:spPr>
          <a:xfrm>
            <a:off x="640080" y="2231136"/>
            <a:ext cx="2249424" cy="159105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Che cosa sostiene esattamente?</a:t>
            </a:r>
            <a:endParaRPr lang="it-IT" sz="1200" dirty="0"/>
          </a:p>
          <a:p>
            <a:pPr marL="177800" indent="-177800">
              <a:spcAft>
                <a:spcPts val="500"/>
              </a:spcAft>
              <a:buSzPct val="100000"/>
              <a:buChar char="•"/>
            </a:pPr>
            <a:r>
              <a:rPr lang="it-IT" sz="1200" dirty="0">
                <a:solidFill>
                  <a:schemeClr val="tx2"/>
                </a:solidFill>
              </a:rPr>
              <a:t>Fatto, opinione, ipotesi, interpretazione?</a:t>
            </a:r>
            <a:endParaRPr lang="it-IT" sz="1200" dirty="0"/>
          </a:p>
          <a:p>
            <a:pPr marL="177800" indent="-177800">
              <a:spcAft>
                <a:spcPts val="500"/>
              </a:spcAft>
              <a:buSzPct val="100000"/>
              <a:buChar char="•"/>
            </a:pPr>
            <a:r>
              <a:rPr lang="it-IT" sz="1200" dirty="0">
                <a:solidFill>
                  <a:schemeClr val="tx2"/>
                </a:solidFill>
              </a:rPr>
              <a:t>È verificabile?</a:t>
            </a:r>
            <a:endParaRPr lang="it-IT" sz="1200" dirty="0"/>
          </a:p>
        </p:txBody>
      </p:sp>
      <p:sp>
        <p:nvSpPr>
          <p:cNvPr id="15" name="scheda Sulle evidenze"/>
          <p:cNvSpPr/>
          <p:nvPr/>
        </p:nvSpPr>
        <p:spPr>
          <a:xfrm>
            <a:off x="3264408" y="1097280"/>
            <a:ext cx="2615184" cy="2834640"/>
          </a:xfrm>
          <a:prstGeom prst="roundRect">
            <a:avLst>
              <a:gd name="adj" fmla="val 2797"/>
            </a:avLst>
          </a:prstGeom>
          <a:solidFill>
            <a:schemeClr val="accent6"/>
          </a:solidFill>
          <a:ln/>
        </p:spPr>
      </p:sp>
      <p:sp>
        <p:nvSpPr>
          <p:cNvPr id="16" name="cerchio FiDatabase"/>
          <p:cNvSpPr/>
          <p:nvPr/>
        </p:nvSpPr>
        <p:spPr>
          <a:xfrm>
            <a:off x="3447288" y="1280160"/>
            <a:ext cx="457200" cy="457200"/>
          </a:xfrm>
          <a:prstGeom prst="ellipse">
            <a:avLst/>
          </a:prstGeom>
          <a:solidFill>
            <a:schemeClr val="accent1"/>
          </a:solidFill>
          <a:ln/>
        </p:spPr>
      </p:sp>
      <p:pic>
        <p:nvPicPr>
          <p:cNvPr id="17" name="Image 1" descr="FiDatabase">    </p:cNvPr>
          <p:cNvPicPr>
            <a:picLocks noChangeAspect="1"/>
          </p:cNvPicPr>
          <p:nvPr/>
        </p:nvPicPr>
        <p:blipFill>
          <a:blip r:embed="rId2"/>
          <a:stretch>
            <a:fillRect/>
          </a:stretch>
        </p:blipFill>
        <p:spPr>
          <a:xfrm>
            <a:off x="3561588" y="1394460"/>
            <a:ext cx="228600" cy="228600"/>
          </a:xfrm>
          <a:prstGeom prst="rect">
            <a:avLst/>
          </a:prstGeom>
        </p:spPr>
      </p:pic>
      <p:sp>
        <p:nvSpPr>
          <p:cNvPr id="18" name="Text 13"/>
          <p:cNvSpPr txBox="1"/>
          <p:nvPr/>
        </p:nvSpPr>
        <p:spPr>
          <a:xfrm>
            <a:off x="3447288"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Sulle evidenze</a:t>
            </a:r>
            <a:endParaRPr lang="it-IT" sz="1500" dirty="0"/>
          </a:p>
        </p:txBody>
      </p:sp>
      <p:sp>
        <p:nvSpPr>
          <p:cNvPr id="19" name="Text 14"/>
          <p:cNvSpPr txBox="1"/>
          <p:nvPr/>
        </p:nvSpPr>
        <p:spPr>
          <a:xfrm>
            <a:off x="3447288" y="2231136"/>
            <a:ext cx="2249424" cy="159105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Su che cosa si basa?</a:t>
            </a:r>
            <a:endParaRPr lang="it-IT" sz="1200" dirty="0"/>
          </a:p>
          <a:p>
            <a:pPr marL="177800" indent="-177800">
              <a:spcAft>
                <a:spcPts val="500"/>
              </a:spcAft>
              <a:buSzPct val="100000"/>
              <a:buChar char="•"/>
            </a:pPr>
            <a:r>
              <a:rPr lang="it-IT" sz="1200" dirty="0">
                <a:solidFill>
                  <a:schemeClr val="tx2"/>
                </a:solidFill>
              </a:rPr>
              <a:t>Fonti e dati pertinenti e sufficienti?</a:t>
            </a:r>
            <a:endParaRPr lang="it-IT" sz="1200" dirty="0"/>
          </a:p>
          <a:p>
            <a:pPr marL="177800" indent="-177800">
              <a:spcAft>
                <a:spcPts val="500"/>
              </a:spcAft>
              <a:buSzPct val="100000"/>
              <a:buChar char="•"/>
            </a:pPr>
            <a:r>
              <a:rPr lang="it-IT" sz="1200" dirty="0">
                <a:solidFill>
                  <a:schemeClr val="tx2"/>
                </a:solidFill>
              </a:rPr>
              <a:t>Che cosa la confermerebbe o smentirebbe?</a:t>
            </a:r>
            <a:endParaRPr lang="it-IT" sz="1200" dirty="0"/>
          </a:p>
        </p:txBody>
      </p:sp>
      <p:sp>
        <p:nvSpPr>
          <p:cNvPr id="20" name="scheda Sulle conclusioni"/>
          <p:cNvSpPr/>
          <p:nvPr/>
        </p:nvSpPr>
        <p:spPr>
          <a:xfrm>
            <a:off x="6071616" y="1097280"/>
            <a:ext cx="2615184" cy="2834640"/>
          </a:xfrm>
          <a:prstGeom prst="roundRect">
            <a:avLst>
              <a:gd name="adj" fmla="val 2797"/>
            </a:avLst>
          </a:prstGeom>
          <a:solidFill>
            <a:schemeClr val="bg2"/>
          </a:solidFill>
          <a:ln/>
        </p:spPr>
      </p:sp>
      <p:sp>
        <p:nvSpPr>
          <p:cNvPr id="21" name="cerchio FiGitBranch"/>
          <p:cNvSpPr/>
          <p:nvPr/>
        </p:nvSpPr>
        <p:spPr>
          <a:xfrm>
            <a:off x="6254496" y="1280160"/>
            <a:ext cx="457200" cy="457200"/>
          </a:xfrm>
          <a:prstGeom prst="ellipse">
            <a:avLst/>
          </a:prstGeom>
          <a:solidFill>
            <a:schemeClr val="accent1"/>
          </a:solidFill>
          <a:ln/>
        </p:spPr>
      </p:sp>
      <p:pic>
        <p:nvPicPr>
          <p:cNvPr id="22" name="Image 2" descr="FiGitBranch">    </p:cNvPr>
          <p:cNvPicPr>
            <a:picLocks noChangeAspect="1"/>
          </p:cNvPicPr>
          <p:nvPr/>
        </p:nvPicPr>
        <p:blipFill>
          <a:blip r:embed="rId3"/>
          <a:stretch>
            <a:fillRect/>
          </a:stretch>
        </p:blipFill>
        <p:spPr>
          <a:xfrm>
            <a:off x="6368796" y="1394460"/>
            <a:ext cx="228600" cy="228600"/>
          </a:xfrm>
          <a:prstGeom prst="rect">
            <a:avLst/>
          </a:prstGeom>
        </p:spPr>
      </p:pic>
      <p:sp>
        <p:nvSpPr>
          <p:cNvPr id="23" name="Text 17"/>
          <p:cNvSpPr txBox="1"/>
          <p:nvPr/>
        </p:nvSpPr>
        <p:spPr>
          <a:xfrm>
            <a:off x="6254496"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Sulle conclusioni</a:t>
            </a:r>
            <a:endParaRPr lang="it-IT" sz="1500" dirty="0"/>
          </a:p>
        </p:txBody>
      </p:sp>
      <p:sp>
        <p:nvSpPr>
          <p:cNvPr id="24" name="Text 18"/>
          <p:cNvSpPr txBox="1"/>
          <p:nvPr/>
        </p:nvSpPr>
        <p:spPr>
          <a:xfrm>
            <a:off x="6254496" y="2231136"/>
            <a:ext cx="2249424" cy="159105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Deriva davvero dalle premesse?</a:t>
            </a:r>
            <a:endParaRPr lang="it-IT" sz="1200" dirty="0"/>
          </a:p>
          <a:p>
            <a:pPr marL="177800" indent="-177800">
              <a:spcAft>
                <a:spcPts val="500"/>
              </a:spcAft>
              <a:buSzPct val="100000"/>
              <a:buChar char="•"/>
            </a:pPr>
            <a:r>
              <a:rPr lang="it-IT" sz="1200" dirty="0">
                <a:solidFill>
                  <a:schemeClr val="tx2"/>
                </a:solidFill>
              </a:rPr>
              <a:t>Ci sono alternative? Che cosa manca?</a:t>
            </a:r>
            <a:endParaRPr lang="it-IT" sz="1200" dirty="0"/>
          </a:p>
          <a:p>
            <a:pPr marL="177800" indent="-177800">
              <a:spcAft>
                <a:spcPts val="500"/>
              </a:spcAft>
              <a:buSzPct val="100000"/>
              <a:buChar char="•"/>
            </a:pPr>
            <a:r>
              <a:rPr lang="it-IT" sz="1200" dirty="0">
                <a:solidFill>
                  <a:schemeClr val="tx2"/>
                </a:solidFill>
              </a:rPr>
              <a:t>Che cosa succede se è sbagliata?</a:t>
            </a:r>
            <a:endParaRPr lang="it-IT" sz="1200" dirty="0"/>
          </a:p>
        </p:txBody>
      </p:sp>
      <p:sp>
        <p:nvSpPr>
          <p:cNvPr id="25" name="Text 19"/>
          <p:cNvSpPr txBox="1"/>
          <p:nvPr/>
        </p:nvSpPr>
        <p:spPr>
          <a:xfrm>
            <a:off x="457200" y="4114800"/>
            <a:ext cx="8229600" cy="365760"/>
          </a:xfrm>
          <a:prstGeom prst="rect">
            <a:avLst/>
          </a:prstGeom>
          <a:noFill/>
          <a:ln/>
        </p:spPr>
        <p:txBody>
          <a:bodyPr wrap="square" lIns="0" tIns="0" rIns="0" bIns="0" rtlCol="0" anchor="t"/>
          <a:lstStyle/>
          <a:p>
            <a:pPr indent="0" marL="0">
              <a:buNone/>
            </a:pPr>
            <a:r>
              <a:rPr lang="it-IT" sz="1300" i="1" dirty="0">
                <a:solidFill>
                  <a:schemeClr val="tx1"/>
                </a:solidFill>
              </a:rPr>
              <a:t>Non tutte ogni volta: con la pratica diventano un'abitudine, e si possono porre anche all'AI (7.6).</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Atteggiamento critico e fiducia calibrata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Fiducia cieca"/>
          <p:cNvSpPr/>
          <p:nvPr/>
        </p:nvSpPr>
        <p:spPr>
          <a:xfrm>
            <a:off x="457200" y="1097280"/>
            <a:ext cx="2615184" cy="1371600"/>
          </a:xfrm>
          <a:prstGeom prst="roundRect">
            <a:avLst>
              <a:gd name="adj" fmla="val 5333"/>
            </a:avLst>
          </a:prstGeom>
          <a:solidFill>
            <a:schemeClr val="bg2"/>
          </a:solidFill>
          <a:ln/>
        </p:spPr>
      </p:sp>
      <p:sp>
        <p:nvSpPr>
          <p:cNvPr id="11" name="Text 8"/>
          <p:cNvSpPr txBox="1"/>
          <p:nvPr/>
        </p:nvSpPr>
        <p:spPr>
          <a:xfrm>
            <a:off x="594360" y="1188720"/>
            <a:ext cx="2340864" cy="411480"/>
          </a:xfrm>
          <a:prstGeom prst="rect">
            <a:avLst/>
          </a:prstGeom>
          <a:noFill/>
          <a:ln/>
        </p:spPr>
        <p:txBody>
          <a:bodyPr wrap="square" lIns="0" tIns="0" rIns="0" bIns="0" rtlCol="0" anchor="t"/>
          <a:lstStyle/>
          <a:p>
            <a:pPr algn="ctr" indent="0" marL="0">
              <a:buNone/>
            </a:pPr>
            <a:r>
              <a:rPr lang="it-IT" sz="1600" b="1" dirty="0">
                <a:solidFill>
                  <a:schemeClr val="tx1"/>
                </a:solidFill>
              </a:rPr>
              <a:t>Fiducia cieca</a:t>
            </a:r>
            <a:endParaRPr lang="it-IT" sz="1600" dirty="0"/>
          </a:p>
        </p:txBody>
      </p:sp>
      <p:sp>
        <p:nvSpPr>
          <p:cNvPr id="12" name="Text 9"/>
          <p:cNvSpPr txBox="1"/>
          <p:nvPr/>
        </p:nvSpPr>
        <p:spPr>
          <a:xfrm>
            <a:off x="640080" y="1627632"/>
            <a:ext cx="2249424" cy="777240"/>
          </a:xfrm>
          <a:prstGeom prst="rect">
            <a:avLst/>
          </a:prstGeom>
          <a:noFill/>
          <a:ln/>
        </p:spPr>
        <p:txBody>
          <a:bodyPr wrap="square" lIns="0" tIns="0" rIns="0" bIns="0" rtlCol="0" anchor="t"/>
          <a:lstStyle/>
          <a:p>
            <a:pPr algn="ctr" indent="0" marL="0">
              <a:buNone/>
            </a:pPr>
            <a:r>
              <a:rPr lang="it-IT" sz="1200" dirty="0">
                <a:solidFill>
                  <a:schemeClr val="tx1"/>
                </a:solidFill>
              </a:rPr>
              <a:t>Accetta tutto, senza esame</a:t>
            </a:r>
            <a:endParaRPr lang="it-IT" sz="1200" dirty="0"/>
          </a:p>
        </p:txBody>
      </p:sp>
      <p:sp>
        <p:nvSpPr>
          <p:cNvPr id="13" name="Fiducia calibrata"/>
          <p:cNvSpPr/>
          <p:nvPr/>
        </p:nvSpPr>
        <p:spPr>
          <a:xfrm>
            <a:off x="3264408" y="1097280"/>
            <a:ext cx="2615184" cy="1371600"/>
          </a:xfrm>
          <a:prstGeom prst="roundRect">
            <a:avLst>
              <a:gd name="adj" fmla="val 5333"/>
            </a:avLst>
          </a:prstGeom>
          <a:solidFill>
            <a:schemeClr val="accent1"/>
          </a:solidFill>
          <a:ln/>
        </p:spPr>
      </p:sp>
      <p:sp>
        <p:nvSpPr>
          <p:cNvPr id="14" name="Text 11"/>
          <p:cNvSpPr txBox="1"/>
          <p:nvPr/>
        </p:nvSpPr>
        <p:spPr>
          <a:xfrm>
            <a:off x="3401568" y="1188720"/>
            <a:ext cx="2340864" cy="411480"/>
          </a:xfrm>
          <a:prstGeom prst="rect">
            <a:avLst/>
          </a:prstGeom>
          <a:noFill/>
          <a:ln/>
        </p:spPr>
        <p:txBody>
          <a:bodyPr wrap="square" lIns="0" tIns="0" rIns="0" bIns="0" rtlCol="0" anchor="t"/>
          <a:lstStyle/>
          <a:p>
            <a:pPr algn="ctr" indent="0" marL="0">
              <a:buNone/>
            </a:pPr>
            <a:r>
              <a:rPr lang="it-IT" sz="1600" b="1" dirty="0">
                <a:solidFill>
                  <a:schemeClr val="bg1"/>
                </a:solidFill>
              </a:rPr>
              <a:t>Fiducia calibrata</a:t>
            </a:r>
            <a:endParaRPr lang="it-IT" sz="1600" dirty="0"/>
          </a:p>
        </p:txBody>
      </p:sp>
      <p:sp>
        <p:nvSpPr>
          <p:cNvPr id="15" name="Text 12"/>
          <p:cNvSpPr txBox="1"/>
          <p:nvPr/>
        </p:nvSpPr>
        <p:spPr>
          <a:xfrm>
            <a:off x="3447288" y="1627632"/>
            <a:ext cx="2249424" cy="777240"/>
          </a:xfrm>
          <a:prstGeom prst="rect">
            <a:avLst/>
          </a:prstGeom>
          <a:noFill/>
          <a:ln/>
        </p:spPr>
        <p:txBody>
          <a:bodyPr wrap="square" lIns="0" tIns="0" rIns="0" bIns="0" rtlCol="0" anchor="t"/>
          <a:lstStyle/>
          <a:p>
            <a:pPr algn="ctr" indent="0" marL="0">
              <a:buNone/>
            </a:pPr>
            <a:r>
              <a:rPr lang="it-IT" sz="1200" dirty="0">
                <a:solidFill>
                  <a:schemeClr val="bg1"/>
                </a:solidFill>
              </a:rPr>
              <a:t>Accetta ciò che regge, verifica ciò che conta, scarta ciò che non regge</a:t>
            </a:r>
            <a:endParaRPr lang="it-IT" sz="1200" dirty="0"/>
          </a:p>
        </p:txBody>
      </p:sp>
      <p:sp>
        <p:nvSpPr>
          <p:cNvPr id="16" name="Sfiducia indiscriminata"/>
          <p:cNvSpPr/>
          <p:nvPr/>
        </p:nvSpPr>
        <p:spPr>
          <a:xfrm>
            <a:off x="6071616" y="1097280"/>
            <a:ext cx="2615184" cy="1371600"/>
          </a:xfrm>
          <a:prstGeom prst="roundRect">
            <a:avLst>
              <a:gd name="adj" fmla="val 5333"/>
            </a:avLst>
          </a:prstGeom>
          <a:solidFill>
            <a:schemeClr val="bg2"/>
          </a:solidFill>
          <a:ln/>
        </p:spPr>
      </p:sp>
      <p:sp>
        <p:nvSpPr>
          <p:cNvPr id="17" name="Text 14"/>
          <p:cNvSpPr txBox="1"/>
          <p:nvPr/>
        </p:nvSpPr>
        <p:spPr>
          <a:xfrm>
            <a:off x="6208776" y="1188720"/>
            <a:ext cx="2340864" cy="411480"/>
          </a:xfrm>
          <a:prstGeom prst="rect">
            <a:avLst/>
          </a:prstGeom>
          <a:noFill/>
          <a:ln/>
        </p:spPr>
        <p:txBody>
          <a:bodyPr wrap="square" lIns="0" tIns="0" rIns="0" bIns="0" rtlCol="0" anchor="t"/>
          <a:lstStyle/>
          <a:p>
            <a:pPr algn="ctr" indent="0" marL="0">
              <a:buNone/>
            </a:pPr>
            <a:r>
              <a:rPr lang="it-IT" sz="1600" b="1" dirty="0">
                <a:solidFill>
                  <a:schemeClr val="tx1"/>
                </a:solidFill>
              </a:rPr>
              <a:t>Sfiducia indiscriminata</a:t>
            </a:r>
            <a:endParaRPr lang="it-IT" sz="1600" dirty="0"/>
          </a:p>
        </p:txBody>
      </p:sp>
      <p:sp>
        <p:nvSpPr>
          <p:cNvPr id="18" name="Text 15"/>
          <p:cNvSpPr txBox="1"/>
          <p:nvPr/>
        </p:nvSpPr>
        <p:spPr>
          <a:xfrm>
            <a:off x="6254496" y="1627632"/>
            <a:ext cx="2249424" cy="777240"/>
          </a:xfrm>
          <a:prstGeom prst="rect">
            <a:avLst/>
          </a:prstGeom>
          <a:noFill/>
          <a:ln/>
        </p:spPr>
        <p:txBody>
          <a:bodyPr wrap="square" lIns="0" tIns="0" rIns="0" bIns="0" rtlCol="0" anchor="t"/>
          <a:lstStyle/>
          <a:p>
            <a:pPr algn="ctr" indent="0" marL="0">
              <a:buNone/>
            </a:pPr>
            <a:r>
              <a:rPr lang="it-IT" sz="1200" dirty="0">
                <a:solidFill>
                  <a:schemeClr val="tx1"/>
                </a:solidFill>
              </a:rPr>
              <a:t>Respinge tutto, "perché l'AI sbaglia"</a:t>
            </a:r>
            <a:endParaRPr lang="it-IT" sz="1200" dirty="0"/>
          </a:p>
        </p:txBody>
      </p:sp>
      <p:sp>
        <p:nvSpPr>
          <p:cNvPr id="19" name="Evidenze"/>
          <p:cNvSpPr/>
          <p:nvPr/>
        </p:nvSpPr>
        <p:spPr>
          <a:xfrm>
            <a:off x="457200" y="2651760"/>
            <a:ext cx="2615184" cy="1143000"/>
          </a:xfrm>
          <a:prstGeom prst="roundRect">
            <a:avLst>
              <a:gd name="adj" fmla="val 6400"/>
            </a:avLst>
          </a:prstGeom>
          <a:solidFill>
            <a:schemeClr val="bg2"/>
          </a:solidFill>
          <a:ln/>
        </p:spPr>
      </p:sp>
      <p:sp>
        <p:nvSpPr>
          <p:cNvPr id="20" name="Text 17"/>
          <p:cNvSpPr txBox="1"/>
          <p:nvPr/>
        </p:nvSpPr>
        <p:spPr>
          <a:xfrm>
            <a:off x="621792" y="2706624"/>
            <a:ext cx="2286000" cy="292608"/>
          </a:xfrm>
          <a:prstGeom prst="rect">
            <a:avLst/>
          </a:prstGeom>
          <a:noFill/>
          <a:ln/>
        </p:spPr>
        <p:txBody>
          <a:bodyPr wrap="square" lIns="0" tIns="0" rIns="0" bIns="0" rtlCol="0" anchor="t"/>
          <a:lstStyle/>
          <a:p>
            <a:pPr indent="0" marL="0">
              <a:buNone/>
            </a:pPr>
            <a:r>
              <a:rPr lang="it-IT" sz="1300" b="1" dirty="0">
                <a:solidFill>
                  <a:schemeClr val="tx1"/>
                </a:solidFill>
              </a:rPr>
              <a:t>Evidenze</a:t>
            </a:r>
            <a:endParaRPr lang="it-IT" sz="1300" dirty="0"/>
          </a:p>
        </p:txBody>
      </p:sp>
      <p:sp>
        <p:nvSpPr>
          <p:cNvPr id="21" name="Text 18"/>
          <p:cNvSpPr txBox="1"/>
          <p:nvPr/>
        </p:nvSpPr>
        <p:spPr>
          <a:xfrm>
            <a:off x="621792" y="2999232"/>
            <a:ext cx="2286000" cy="740664"/>
          </a:xfrm>
          <a:prstGeom prst="rect">
            <a:avLst/>
          </a:prstGeom>
          <a:noFill/>
          <a:ln/>
        </p:spPr>
        <p:txBody>
          <a:bodyPr wrap="square" lIns="0" tIns="0" rIns="0" bIns="0" rtlCol="0" anchor="t"/>
          <a:lstStyle/>
          <a:p>
            <a:pPr indent="0" marL="0">
              <a:buNone/>
            </a:pPr>
            <a:r>
              <a:rPr lang="it-IT" sz="1100" dirty="0">
                <a:solidFill>
                  <a:schemeClr val="tx2"/>
                </a:solidFill>
              </a:rPr>
              <a:t>Senza evidenze un'affermazione non è falsa, ma non è dimostrata.</a:t>
            </a:r>
            <a:endParaRPr lang="it-IT" sz="1100" dirty="0"/>
          </a:p>
        </p:txBody>
      </p:sp>
      <p:sp>
        <p:nvSpPr>
          <p:cNvPr id="22" name="Giudizio autonomo"/>
          <p:cNvSpPr/>
          <p:nvPr/>
        </p:nvSpPr>
        <p:spPr>
          <a:xfrm>
            <a:off x="3264408" y="2651760"/>
            <a:ext cx="2615184" cy="1143000"/>
          </a:xfrm>
          <a:prstGeom prst="roundRect">
            <a:avLst>
              <a:gd name="adj" fmla="val 6400"/>
            </a:avLst>
          </a:prstGeom>
          <a:solidFill>
            <a:schemeClr val="accent6"/>
          </a:solidFill>
          <a:ln/>
        </p:spPr>
      </p:sp>
      <p:sp>
        <p:nvSpPr>
          <p:cNvPr id="23" name="Text 20"/>
          <p:cNvSpPr txBox="1"/>
          <p:nvPr/>
        </p:nvSpPr>
        <p:spPr>
          <a:xfrm>
            <a:off x="3429000" y="2706624"/>
            <a:ext cx="2286000" cy="292608"/>
          </a:xfrm>
          <a:prstGeom prst="rect">
            <a:avLst/>
          </a:prstGeom>
          <a:noFill/>
          <a:ln/>
        </p:spPr>
        <p:txBody>
          <a:bodyPr wrap="square" lIns="0" tIns="0" rIns="0" bIns="0" rtlCol="0" anchor="t"/>
          <a:lstStyle/>
          <a:p>
            <a:pPr indent="0" marL="0">
              <a:buNone/>
            </a:pPr>
            <a:r>
              <a:rPr lang="it-IT" sz="1300" b="1" dirty="0">
                <a:solidFill>
                  <a:schemeClr val="tx1"/>
                </a:solidFill>
              </a:rPr>
              <a:t>Giudizio autonomo</a:t>
            </a:r>
            <a:endParaRPr lang="it-IT" sz="1300" dirty="0"/>
          </a:p>
        </p:txBody>
      </p:sp>
      <p:sp>
        <p:nvSpPr>
          <p:cNvPr id="24" name="Text 21"/>
          <p:cNvSpPr txBox="1"/>
          <p:nvPr/>
        </p:nvSpPr>
        <p:spPr>
          <a:xfrm>
            <a:off x="3429000" y="2999232"/>
            <a:ext cx="2286000" cy="740664"/>
          </a:xfrm>
          <a:prstGeom prst="rect">
            <a:avLst/>
          </a:prstGeom>
          <a:noFill/>
          <a:ln/>
        </p:spPr>
        <p:txBody>
          <a:bodyPr wrap="square" lIns="0" tIns="0" rIns="0" bIns="0" rtlCol="0" anchor="t"/>
          <a:lstStyle/>
          <a:p>
            <a:pPr indent="0" marL="0">
              <a:buNone/>
            </a:pPr>
            <a:r>
              <a:rPr lang="it-IT" sz="1100" dirty="0">
                <a:solidFill>
                  <a:schemeClr val="tx2"/>
                </a:solidFill>
              </a:rPr>
              <a:t>Un'idea propria prima di leggere: se l'AI conclude diversamente, capire perché.</a:t>
            </a:r>
            <a:endParaRPr lang="it-IT" sz="1100" dirty="0"/>
          </a:p>
        </p:txBody>
      </p:sp>
      <p:sp>
        <p:nvSpPr>
          <p:cNvPr id="25" name="Competenze"/>
          <p:cNvSpPr/>
          <p:nvPr/>
        </p:nvSpPr>
        <p:spPr>
          <a:xfrm>
            <a:off x="6071616" y="2651760"/>
            <a:ext cx="2615184" cy="1143000"/>
          </a:xfrm>
          <a:prstGeom prst="roundRect">
            <a:avLst>
              <a:gd name="adj" fmla="val 6400"/>
            </a:avLst>
          </a:prstGeom>
          <a:solidFill>
            <a:schemeClr val="bg2"/>
          </a:solidFill>
          <a:ln/>
        </p:spPr>
      </p:sp>
      <p:sp>
        <p:nvSpPr>
          <p:cNvPr id="26" name="Text 23"/>
          <p:cNvSpPr txBox="1"/>
          <p:nvPr/>
        </p:nvSpPr>
        <p:spPr>
          <a:xfrm>
            <a:off x="6236208" y="2706624"/>
            <a:ext cx="2286000" cy="292608"/>
          </a:xfrm>
          <a:prstGeom prst="rect">
            <a:avLst/>
          </a:prstGeom>
          <a:noFill/>
          <a:ln/>
        </p:spPr>
        <p:txBody>
          <a:bodyPr wrap="square" lIns="0" tIns="0" rIns="0" bIns="0" rtlCol="0" anchor="t"/>
          <a:lstStyle/>
          <a:p>
            <a:pPr indent="0" marL="0">
              <a:buNone/>
            </a:pPr>
            <a:r>
              <a:rPr lang="it-IT" sz="1300" b="1" dirty="0">
                <a:solidFill>
                  <a:schemeClr val="tx1"/>
                </a:solidFill>
              </a:rPr>
              <a:t>Competenze</a:t>
            </a:r>
            <a:endParaRPr lang="it-IT" sz="1300" dirty="0"/>
          </a:p>
        </p:txBody>
      </p:sp>
      <p:sp>
        <p:nvSpPr>
          <p:cNvPr id="27" name="Text 24"/>
          <p:cNvSpPr txBox="1"/>
          <p:nvPr/>
        </p:nvSpPr>
        <p:spPr>
          <a:xfrm>
            <a:off x="6236208" y="2999232"/>
            <a:ext cx="2286000" cy="740664"/>
          </a:xfrm>
          <a:prstGeom prst="rect">
            <a:avLst/>
          </a:prstGeom>
          <a:noFill/>
          <a:ln/>
        </p:spPr>
        <p:txBody>
          <a:bodyPr wrap="square" lIns="0" tIns="0" rIns="0" bIns="0" rtlCol="0" anchor="t"/>
          <a:lstStyle/>
          <a:p>
            <a:pPr indent="0" marL="0">
              <a:buNone/>
            </a:pPr>
            <a:r>
              <a:rPr lang="it-IT" sz="1100" dirty="0">
                <a:solidFill>
                  <a:schemeClr val="tx2"/>
                </a:solidFill>
              </a:rPr>
              <a:t>Nel proprio campo si riconoscono gli errori; fuori, serve un esperto.</a:t>
            </a:r>
            <a:endParaRPr lang="it-IT" sz="1100" dirty="0"/>
          </a:p>
        </p:txBody>
      </p:sp>
      <p:sp>
        <p:nvSpPr>
          <p:cNvPr id="28" name="messaggio"/>
          <p:cNvSpPr/>
          <p:nvPr/>
        </p:nvSpPr>
        <p:spPr>
          <a:xfrm>
            <a:off x="457200" y="3977640"/>
            <a:ext cx="8229600" cy="548640"/>
          </a:xfrm>
          <a:prstGeom prst="roundRect">
            <a:avLst>
              <a:gd name="adj" fmla="val 13333"/>
            </a:avLst>
          </a:prstGeom>
          <a:solidFill>
            <a:schemeClr val="tx1"/>
          </a:solidFill>
          <a:ln/>
        </p:spPr>
      </p:sp>
      <p:sp>
        <p:nvSpPr>
          <p:cNvPr id="29" name="Text 26"/>
          <p:cNvSpPr txBox="1"/>
          <p:nvPr/>
        </p:nvSpPr>
        <p:spPr>
          <a:xfrm>
            <a:off x="640080" y="3977640"/>
            <a:ext cx="7863840" cy="548640"/>
          </a:xfrm>
          <a:prstGeom prst="rect">
            <a:avLst/>
          </a:prstGeom>
          <a:noFill/>
          <a:ln/>
        </p:spPr>
        <p:txBody>
          <a:bodyPr wrap="square" lIns="0" tIns="0" rIns="0" bIns="0" rtlCol="0" anchor="ctr"/>
          <a:lstStyle/>
          <a:p>
            <a:pPr indent="0" marL="0">
              <a:buNone/>
            </a:pPr>
            <a:r>
              <a:rPr lang="it-IT" sz="1400" dirty="0">
                <a:solidFill>
                  <a:schemeClr val="bg1"/>
                </a:solidFill>
              </a:rPr>
              <a:t>Maturità significa anche accettare un risultato valido senza verifiche inutili.</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it-IT" sz="2600" dirty="0">
                <a:solidFill>
                  <a:schemeClr val="bg1"/>
                </a:solidFill>
              </a:rPr>
              <a:t>Pensare criticamente significa valutare informazioni e conclusioni alla luce delle evidenze, senza accettarle o respingerle automaticamente.</a:t>
            </a:r>
            <a:endParaRPr lang="it-IT"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it-IT" sz="1300" dirty="0">
                <a:solidFill>
                  <a:schemeClr val="accent3"/>
                </a:solidFill>
              </a:rPr>
              <a:t>Sottotema 7.1  ·  Il pensiero critico nell'interazione con l'AI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7.2</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Valutare la qualità di un output</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Una risposta professionale nella forma può essere errata, incompleta o inadatta allo scopo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Le dimensioni della qualità</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Accuratezza"/>
          <p:cNvSpPr/>
          <p:nvPr/>
        </p:nvSpPr>
        <p:spPr>
          <a:xfrm>
            <a:off x="457200" y="1097280"/>
            <a:ext cx="2621280" cy="1097280"/>
          </a:xfrm>
          <a:prstGeom prst="roundRect">
            <a:avLst>
              <a:gd name="adj" fmla="val 6667"/>
            </a:avLst>
          </a:prstGeom>
          <a:solidFill>
            <a:schemeClr val="bg2"/>
          </a:solidFill>
          <a:ln/>
        </p:spPr>
      </p:sp>
      <p:sp>
        <p:nvSpPr>
          <p:cNvPr id="11" name="cerchio FiTarget"/>
          <p:cNvSpPr/>
          <p:nvPr/>
        </p:nvSpPr>
        <p:spPr>
          <a:xfrm>
            <a:off x="621792" y="1261872"/>
            <a:ext cx="438912" cy="438912"/>
          </a:xfrm>
          <a:prstGeom prst="ellipse">
            <a:avLst/>
          </a:prstGeom>
          <a:solidFill>
            <a:schemeClr val="accent1"/>
          </a:solidFill>
          <a:ln/>
        </p:spPr>
      </p:sp>
      <p:pic>
        <p:nvPicPr>
          <p:cNvPr id="12" name="Image 0" descr="FiTarget">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Accuratezza</a:t>
            </a:r>
            <a:endParaRPr lang="it-IT" sz="1400" dirty="0"/>
          </a:p>
        </p:txBody>
      </p:sp>
      <p:sp>
        <p:nvSpPr>
          <p:cNvPr id="14" name="Text 10"/>
          <p:cNvSpPr txBox="1"/>
          <p:nvPr/>
        </p:nvSpPr>
        <p:spPr>
          <a:xfrm>
            <a:off x="621792" y="1810512"/>
            <a:ext cx="2292096" cy="292608"/>
          </a:xfrm>
          <a:prstGeom prst="rect">
            <a:avLst/>
          </a:prstGeom>
          <a:noFill/>
          <a:ln/>
        </p:spPr>
        <p:txBody>
          <a:bodyPr wrap="square" lIns="0" tIns="0" rIns="0" bIns="0" rtlCol="0" anchor="t"/>
          <a:lstStyle/>
          <a:p>
            <a:pPr indent="0" marL="0">
              <a:buNone/>
            </a:pPr>
            <a:r>
              <a:rPr lang="it-IT" sz="1200" dirty="0">
                <a:solidFill>
                  <a:schemeClr val="tx2"/>
                </a:solidFill>
              </a:rPr>
              <a:t>Le informazioni sono corrette?</a:t>
            </a:r>
            <a:endParaRPr lang="it-IT" sz="1200" dirty="0"/>
          </a:p>
        </p:txBody>
      </p:sp>
      <p:sp>
        <p:nvSpPr>
          <p:cNvPr id="15" name="Pertinenza"/>
          <p:cNvSpPr/>
          <p:nvPr/>
        </p:nvSpPr>
        <p:spPr>
          <a:xfrm>
            <a:off x="3261360" y="1097280"/>
            <a:ext cx="2621280" cy="1097280"/>
          </a:xfrm>
          <a:prstGeom prst="roundRect">
            <a:avLst>
              <a:gd name="adj" fmla="val 6667"/>
            </a:avLst>
          </a:prstGeom>
          <a:solidFill>
            <a:schemeClr val="bg2"/>
          </a:solidFill>
          <a:ln/>
        </p:spPr>
      </p:sp>
      <p:sp>
        <p:nvSpPr>
          <p:cNvPr id="16" name="cerchio FiCrosshair"/>
          <p:cNvSpPr/>
          <p:nvPr/>
        </p:nvSpPr>
        <p:spPr>
          <a:xfrm>
            <a:off x="3425952" y="1261872"/>
            <a:ext cx="438912" cy="438912"/>
          </a:xfrm>
          <a:prstGeom prst="ellipse">
            <a:avLst/>
          </a:prstGeom>
          <a:solidFill>
            <a:schemeClr val="accent1"/>
          </a:solidFill>
          <a:ln/>
        </p:spPr>
      </p:sp>
      <p:pic>
        <p:nvPicPr>
          <p:cNvPr id="17" name="Image 1" descr="FiCrosshair">    </p:cNvPr>
          <p:cNvPicPr>
            <a:picLocks noChangeAspect="1"/>
          </p:cNvPicPr>
          <p:nvPr/>
        </p:nvPicPr>
        <p:blipFill>
          <a:blip r:embed="rId2"/>
          <a:stretch>
            <a:fillRect/>
          </a:stretch>
        </p:blipFill>
        <p:spPr>
          <a:xfrm>
            <a:off x="3535680" y="1371600"/>
            <a:ext cx="219456" cy="219456"/>
          </a:xfrm>
          <a:prstGeom prst="rect">
            <a:avLst/>
          </a:prstGeom>
        </p:spPr>
      </p:pic>
      <p:sp>
        <p:nvSpPr>
          <p:cNvPr id="18" name="Text 13"/>
          <p:cNvSpPr txBox="1"/>
          <p:nvPr/>
        </p:nvSpPr>
        <p:spPr>
          <a:xfrm>
            <a:off x="3974592" y="122529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Pertinenza</a:t>
            </a:r>
            <a:endParaRPr lang="it-IT" sz="1400" dirty="0"/>
          </a:p>
        </p:txBody>
      </p:sp>
      <p:sp>
        <p:nvSpPr>
          <p:cNvPr id="19" name="Text 14"/>
          <p:cNvSpPr txBox="1"/>
          <p:nvPr/>
        </p:nvSpPr>
        <p:spPr>
          <a:xfrm>
            <a:off x="3425952" y="1810512"/>
            <a:ext cx="2292096" cy="292608"/>
          </a:xfrm>
          <a:prstGeom prst="rect">
            <a:avLst/>
          </a:prstGeom>
          <a:noFill/>
          <a:ln/>
        </p:spPr>
        <p:txBody>
          <a:bodyPr wrap="square" lIns="0" tIns="0" rIns="0" bIns="0" rtlCol="0" anchor="t"/>
          <a:lstStyle/>
          <a:p>
            <a:pPr indent="0" marL="0">
              <a:buNone/>
            </a:pPr>
            <a:r>
              <a:rPr lang="it-IT" sz="1200" dirty="0">
                <a:solidFill>
                  <a:schemeClr val="tx2"/>
                </a:solidFill>
              </a:rPr>
              <a:t>Risponde all'obiettivo?</a:t>
            </a:r>
            <a:endParaRPr lang="it-IT" sz="1200" dirty="0"/>
          </a:p>
        </p:txBody>
      </p:sp>
      <p:sp>
        <p:nvSpPr>
          <p:cNvPr id="20" name="Completezza"/>
          <p:cNvSpPr/>
          <p:nvPr/>
        </p:nvSpPr>
        <p:spPr>
          <a:xfrm>
            <a:off x="6065520" y="1097280"/>
            <a:ext cx="2621280" cy="1097280"/>
          </a:xfrm>
          <a:prstGeom prst="roundRect">
            <a:avLst>
              <a:gd name="adj" fmla="val 6667"/>
            </a:avLst>
          </a:prstGeom>
          <a:solidFill>
            <a:schemeClr val="bg2"/>
          </a:solidFill>
          <a:ln/>
        </p:spPr>
      </p:sp>
      <p:sp>
        <p:nvSpPr>
          <p:cNvPr id="21" name="cerchio FiCheckSquare"/>
          <p:cNvSpPr/>
          <p:nvPr/>
        </p:nvSpPr>
        <p:spPr>
          <a:xfrm>
            <a:off x="6230112" y="1261872"/>
            <a:ext cx="438912" cy="438912"/>
          </a:xfrm>
          <a:prstGeom prst="ellipse">
            <a:avLst/>
          </a:prstGeom>
          <a:solidFill>
            <a:schemeClr val="accent1"/>
          </a:solidFill>
          <a:ln/>
        </p:spPr>
      </p:sp>
      <p:pic>
        <p:nvPicPr>
          <p:cNvPr id="22" name="Image 2" descr="FiCheckSquare">    </p:cNvPr>
          <p:cNvPicPr>
            <a:picLocks noChangeAspect="1"/>
          </p:cNvPicPr>
          <p:nvPr/>
        </p:nvPicPr>
        <p:blipFill>
          <a:blip r:embed="rId3"/>
          <a:stretch>
            <a:fillRect/>
          </a:stretch>
        </p:blipFill>
        <p:spPr>
          <a:xfrm>
            <a:off x="6339840" y="1371600"/>
            <a:ext cx="219456" cy="219456"/>
          </a:xfrm>
          <a:prstGeom prst="rect">
            <a:avLst/>
          </a:prstGeom>
        </p:spPr>
      </p:pic>
      <p:sp>
        <p:nvSpPr>
          <p:cNvPr id="23" name="Text 17"/>
          <p:cNvSpPr txBox="1"/>
          <p:nvPr/>
        </p:nvSpPr>
        <p:spPr>
          <a:xfrm>
            <a:off x="6778752" y="122529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Completezza</a:t>
            </a:r>
            <a:endParaRPr lang="it-IT" sz="1400" dirty="0"/>
          </a:p>
        </p:txBody>
      </p:sp>
      <p:sp>
        <p:nvSpPr>
          <p:cNvPr id="24" name="Text 18"/>
          <p:cNvSpPr txBox="1"/>
          <p:nvPr/>
        </p:nvSpPr>
        <p:spPr>
          <a:xfrm>
            <a:off x="6230112" y="1810512"/>
            <a:ext cx="2292096" cy="292608"/>
          </a:xfrm>
          <a:prstGeom prst="rect">
            <a:avLst/>
          </a:prstGeom>
          <a:noFill/>
          <a:ln/>
        </p:spPr>
        <p:txBody>
          <a:bodyPr wrap="square" lIns="0" tIns="0" rIns="0" bIns="0" rtlCol="0" anchor="t"/>
          <a:lstStyle/>
          <a:p>
            <a:pPr indent="0" marL="0">
              <a:buNone/>
            </a:pPr>
            <a:r>
              <a:rPr lang="it-IT" sz="1200" dirty="0">
                <a:solidFill>
                  <a:schemeClr val="tx2"/>
                </a:solidFill>
              </a:rPr>
              <a:t>Copre ciò che serve?</a:t>
            </a:r>
            <a:endParaRPr lang="it-IT" sz="1200" dirty="0"/>
          </a:p>
        </p:txBody>
      </p:sp>
      <p:sp>
        <p:nvSpPr>
          <p:cNvPr id="25" name="Coerenza interna"/>
          <p:cNvSpPr/>
          <p:nvPr/>
        </p:nvSpPr>
        <p:spPr>
          <a:xfrm>
            <a:off x="457200" y="2377440"/>
            <a:ext cx="2621280" cy="1097280"/>
          </a:xfrm>
          <a:prstGeom prst="roundRect">
            <a:avLst>
              <a:gd name="adj" fmla="val 6667"/>
            </a:avLst>
          </a:prstGeom>
          <a:solidFill>
            <a:schemeClr val="bg2"/>
          </a:solidFill>
          <a:ln/>
        </p:spPr>
      </p:sp>
      <p:sp>
        <p:nvSpPr>
          <p:cNvPr id="26" name="cerchio FiGitMerge"/>
          <p:cNvSpPr/>
          <p:nvPr/>
        </p:nvSpPr>
        <p:spPr>
          <a:xfrm>
            <a:off x="621792" y="2542032"/>
            <a:ext cx="438912" cy="438912"/>
          </a:xfrm>
          <a:prstGeom prst="ellipse">
            <a:avLst/>
          </a:prstGeom>
          <a:solidFill>
            <a:schemeClr val="accent1"/>
          </a:solidFill>
          <a:ln/>
        </p:spPr>
      </p:sp>
      <p:pic>
        <p:nvPicPr>
          <p:cNvPr id="27" name="Image 3" descr="FiGitMerge">    </p:cNvPr>
          <p:cNvPicPr>
            <a:picLocks noChangeAspect="1"/>
          </p:cNvPicPr>
          <p:nvPr/>
        </p:nvPicPr>
        <p:blipFill>
          <a:blip r:embed="rId4"/>
          <a:stretch>
            <a:fillRect/>
          </a:stretch>
        </p:blipFill>
        <p:spPr>
          <a:xfrm>
            <a:off x="731520" y="2651760"/>
            <a:ext cx="219456" cy="219456"/>
          </a:xfrm>
          <a:prstGeom prst="rect">
            <a:avLst/>
          </a:prstGeom>
        </p:spPr>
      </p:pic>
      <p:sp>
        <p:nvSpPr>
          <p:cNvPr id="28" name="Text 21"/>
          <p:cNvSpPr txBox="1"/>
          <p:nvPr/>
        </p:nvSpPr>
        <p:spPr>
          <a:xfrm>
            <a:off x="1170432" y="250545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Coerenza interna</a:t>
            </a:r>
            <a:endParaRPr lang="it-IT" sz="1400" dirty="0"/>
          </a:p>
        </p:txBody>
      </p:sp>
      <p:sp>
        <p:nvSpPr>
          <p:cNvPr id="29" name="Text 22"/>
          <p:cNvSpPr txBox="1"/>
          <p:nvPr/>
        </p:nvSpPr>
        <p:spPr>
          <a:xfrm>
            <a:off x="621792" y="3090672"/>
            <a:ext cx="2292096" cy="292608"/>
          </a:xfrm>
          <a:prstGeom prst="rect">
            <a:avLst/>
          </a:prstGeom>
          <a:noFill/>
          <a:ln/>
        </p:spPr>
        <p:txBody>
          <a:bodyPr wrap="square" lIns="0" tIns="0" rIns="0" bIns="0" rtlCol="0" anchor="t"/>
          <a:lstStyle/>
          <a:p>
            <a:pPr indent="0" marL="0">
              <a:buNone/>
            </a:pPr>
            <a:r>
              <a:rPr lang="it-IT" sz="1200" dirty="0">
                <a:solidFill>
                  <a:schemeClr val="tx2"/>
                </a:solidFill>
              </a:rPr>
              <a:t>Nessuna contraddizione?</a:t>
            </a:r>
            <a:endParaRPr lang="it-IT" sz="1200" dirty="0"/>
          </a:p>
        </p:txBody>
      </p:sp>
      <p:sp>
        <p:nvSpPr>
          <p:cNvPr id="30" name="Chiarezza"/>
          <p:cNvSpPr/>
          <p:nvPr/>
        </p:nvSpPr>
        <p:spPr>
          <a:xfrm>
            <a:off x="3261360" y="2377440"/>
            <a:ext cx="2621280" cy="1097280"/>
          </a:xfrm>
          <a:prstGeom prst="roundRect">
            <a:avLst>
              <a:gd name="adj" fmla="val 6667"/>
            </a:avLst>
          </a:prstGeom>
          <a:solidFill>
            <a:schemeClr val="bg2"/>
          </a:solidFill>
          <a:ln/>
        </p:spPr>
      </p:sp>
      <p:sp>
        <p:nvSpPr>
          <p:cNvPr id="31" name="cerchio FiEye"/>
          <p:cNvSpPr/>
          <p:nvPr/>
        </p:nvSpPr>
        <p:spPr>
          <a:xfrm>
            <a:off x="3425952" y="2542032"/>
            <a:ext cx="438912" cy="438912"/>
          </a:xfrm>
          <a:prstGeom prst="ellipse">
            <a:avLst/>
          </a:prstGeom>
          <a:solidFill>
            <a:schemeClr val="accent1"/>
          </a:solidFill>
          <a:ln/>
        </p:spPr>
      </p:sp>
      <p:pic>
        <p:nvPicPr>
          <p:cNvPr id="32" name="Image 4" descr="FiEye">    </p:cNvPr>
          <p:cNvPicPr>
            <a:picLocks noChangeAspect="1"/>
          </p:cNvPicPr>
          <p:nvPr/>
        </p:nvPicPr>
        <p:blipFill>
          <a:blip r:embed="rId5"/>
          <a:stretch>
            <a:fillRect/>
          </a:stretch>
        </p:blipFill>
        <p:spPr>
          <a:xfrm>
            <a:off x="3535680" y="2651760"/>
            <a:ext cx="219456" cy="219456"/>
          </a:xfrm>
          <a:prstGeom prst="rect">
            <a:avLst/>
          </a:prstGeom>
        </p:spPr>
      </p:pic>
      <p:sp>
        <p:nvSpPr>
          <p:cNvPr id="33" name="Text 25"/>
          <p:cNvSpPr txBox="1"/>
          <p:nvPr/>
        </p:nvSpPr>
        <p:spPr>
          <a:xfrm>
            <a:off x="3974592" y="250545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Chiarezza</a:t>
            </a:r>
            <a:endParaRPr lang="it-IT" sz="1400" dirty="0"/>
          </a:p>
        </p:txBody>
      </p:sp>
      <p:sp>
        <p:nvSpPr>
          <p:cNvPr id="34" name="Text 26"/>
          <p:cNvSpPr txBox="1"/>
          <p:nvPr/>
        </p:nvSpPr>
        <p:spPr>
          <a:xfrm>
            <a:off x="3425952" y="3090672"/>
            <a:ext cx="2292096" cy="292608"/>
          </a:xfrm>
          <a:prstGeom prst="rect">
            <a:avLst/>
          </a:prstGeom>
          <a:noFill/>
          <a:ln/>
        </p:spPr>
        <p:txBody>
          <a:bodyPr wrap="square" lIns="0" tIns="0" rIns="0" bIns="0" rtlCol="0" anchor="t"/>
          <a:lstStyle/>
          <a:p>
            <a:pPr indent="0" marL="0">
              <a:buNone/>
            </a:pPr>
            <a:r>
              <a:rPr lang="it-IT" sz="1200" dirty="0">
                <a:solidFill>
                  <a:schemeClr val="tx2"/>
                </a:solidFill>
              </a:rPr>
              <a:t>Il destinatario lo capirà?</a:t>
            </a:r>
            <a:endParaRPr lang="it-IT" sz="1200" dirty="0"/>
          </a:p>
        </p:txBody>
      </p:sp>
      <p:sp>
        <p:nvSpPr>
          <p:cNvPr id="35" name="Dati e supposizioni"/>
          <p:cNvSpPr/>
          <p:nvPr/>
        </p:nvSpPr>
        <p:spPr>
          <a:xfrm>
            <a:off x="6065520" y="2377440"/>
            <a:ext cx="2621280" cy="1097280"/>
          </a:xfrm>
          <a:prstGeom prst="roundRect">
            <a:avLst>
              <a:gd name="adj" fmla="val 6667"/>
            </a:avLst>
          </a:prstGeom>
          <a:solidFill>
            <a:schemeClr val="bg2"/>
          </a:solidFill>
          <a:ln/>
        </p:spPr>
      </p:sp>
      <p:sp>
        <p:nvSpPr>
          <p:cNvPr id="36" name="cerchio FiColumns"/>
          <p:cNvSpPr/>
          <p:nvPr/>
        </p:nvSpPr>
        <p:spPr>
          <a:xfrm>
            <a:off x="6230112" y="2542032"/>
            <a:ext cx="438912" cy="438912"/>
          </a:xfrm>
          <a:prstGeom prst="ellipse">
            <a:avLst/>
          </a:prstGeom>
          <a:solidFill>
            <a:schemeClr val="accent1"/>
          </a:solidFill>
          <a:ln/>
        </p:spPr>
      </p:sp>
      <p:pic>
        <p:nvPicPr>
          <p:cNvPr id="37" name="Image 5" descr="FiColumns">    </p:cNvPr>
          <p:cNvPicPr>
            <a:picLocks noChangeAspect="1"/>
          </p:cNvPicPr>
          <p:nvPr/>
        </p:nvPicPr>
        <p:blipFill>
          <a:blip r:embed="rId6"/>
          <a:stretch>
            <a:fillRect/>
          </a:stretch>
        </p:blipFill>
        <p:spPr>
          <a:xfrm>
            <a:off x="6339840" y="2651760"/>
            <a:ext cx="219456" cy="219456"/>
          </a:xfrm>
          <a:prstGeom prst="rect">
            <a:avLst/>
          </a:prstGeom>
        </p:spPr>
      </p:pic>
      <p:sp>
        <p:nvSpPr>
          <p:cNvPr id="38" name="Text 29"/>
          <p:cNvSpPr txBox="1"/>
          <p:nvPr/>
        </p:nvSpPr>
        <p:spPr>
          <a:xfrm>
            <a:off x="6778752" y="250545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Dati e supposizioni</a:t>
            </a:r>
            <a:endParaRPr lang="it-IT" sz="1400" dirty="0"/>
          </a:p>
        </p:txBody>
      </p:sp>
      <p:sp>
        <p:nvSpPr>
          <p:cNvPr id="39" name="Text 30"/>
          <p:cNvSpPr txBox="1"/>
          <p:nvPr/>
        </p:nvSpPr>
        <p:spPr>
          <a:xfrm>
            <a:off x="6230112" y="3090672"/>
            <a:ext cx="2292096" cy="292608"/>
          </a:xfrm>
          <a:prstGeom prst="rect">
            <a:avLst/>
          </a:prstGeom>
          <a:noFill/>
          <a:ln/>
        </p:spPr>
        <p:txBody>
          <a:bodyPr wrap="square" lIns="0" tIns="0" rIns="0" bIns="0" rtlCol="0" anchor="t"/>
          <a:lstStyle/>
          <a:p>
            <a:pPr indent="0" marL="0">
              <a:buNone/>
            </a:pPr>
            <a:r>
              <a:rPr lang="it-IT" sz="1200" dirty="0">
                <a:solidFill>
                  <a:schemeClr val="tx2"/>
                </a:solidFill>
              </a:rPr>
              <a:t>Che cosa è certo, che cosa supposto?</a:t>
            </a:r>
            <a:endParaRPr lang="it-IT" sz="1200" dirty="0"/>
          </a:p>
        </p:txBody>
      </p:sp>
      <p:sp>
        <p:nvSpPr>
          <p:cNvPr id="40" name="forma e sostanza"/>
          <p:cNvSpPr/>
          <p:nvPr/>
        </p:nvSpPr>
        <p:spPr>
          <a:xfrm>
            <a:off x="457200" y="3657600"/>
            <a:ext cx="8229600" cy="868680"/>
          </a:xfrm>
          <a:prstGeom prst="roundRect">
            <a:avLst>
              <a:gd name="adj" fmla="val 8421"/>
            </a:avLst>
          </a:prstGeom>
          <a:solidFill>
            <a:schemeClr val="tx1"/>
          </a:solidFill>
          <a:ln/>
        </p:spPr>
      </p:sp>
      <p:sp>
        <p:nvSpPr>
          <p:cNvPr id="41" name="Text 32"/>
          <p:cNvSpPr txBox="1"/>
          <p:nvPr/>
        </p:nvSpPr>
        <p:spPr>
          <a:xfrm>
            <a:off x="640080" y="3657600"/>
            <a:ext cx="7863840" cy="868680"/>
          </a:xfrm>
          <a:prstGeom prst="rect">
            <a:avLst/>
          </a:prstGeom>
          <a:noFill/>
          <a:ln/>
        </p:spPr>
        <p:txBody>
          <a:bodyPr wrap="square" lIns="0" tIns="0" rIns="0" bIns="0" rtlCol="0" anchor="ctr"/>
          <a:lstStyle/>
          <a:p>
            <a:pPr indent="0" marL="0">
              <a:buNone/>
            </a:pPr>
            <a:r>
              <a:rPr lang="it-IT" sz="1400" b="1" dirty="0">
                <a:solidFill>
                  <a:schemeClr val="accent1"/>
                </a:solidFill>
              </a:rPr>
              <a:t>Forma curata non significa sostanza corretta. </a:t>
            </a:r>
            <a:pPr indent="0" marL="0">
              <a:buNone/>
            </a:pPr>
            <a:r>
              <a:rPr lang="it-IT" sz="1400" dirty="0">
                <a:solidFill>
                  <a:schemeClr val="bg1"/>
                </a:solidFill>
              </a:rPr>
              <a:t>Prova rapida: se fossero appunti disordinati, il contenuto convincerebbe ancora?</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Informazioni mancanti e omissioni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Text 7"/>
          <p:cNvSpPr txBox="1"/>
          <p:nvPr/>
        </p:nvSpPr>
        <p:spPr>
          <a:xfrm>
            <a:off x="2926080" y="1051560"/>
            <a:ext cx="2651760" cy="274320"/>
          </a:xfrm>
          <a:prstGeom prst="rect">
            <a:avLst/>
          </a:prstGeom>
          <a:noFill/>
          <a:ln/>
        </p:spPr>
        <p:txBody>
          <a:bodyPr wrap="square" lIns="0" tIns="0" rIns="0" bIns="0" rtlCol="0" anchor="t"/>
          <a:lstStyle/>
          <a:p>
            <a:pPr indent="0" marL="0">
              <a:buNone/>
            </a:pPr>
            <a:r>
              <a:rPr lang="it-IT" sz="1200" b="1" dirty="0">
                <a:solidFill>
                  <a:schemeClr val="accent1"/>
                </a:solidFill>
              </a:rPr>
              <a:t>Ciò che c'è</a:t>
            </a:r>
            <a:endParaRPr lang="it-IT" sz="1200" dirty="0"/>
          </a:p>
        </p:txBody>
      </p:sp>
      <p:sp>
        <p:nvSpPr>
          <p:cNvPr id="11" name="Text 8"/>
          <p:cNvSpPr txBox="1"/>
          <p:nvPr/>
        </p:nvSpPr>
        <p:spPr>
          <a:xfrm>
            <a:off x="5760720" y="1051560"/>
            <a:ext cx="2926080" cy="274320"/>
          </a:xfrm>
          <a:prstGeom prst="rect">
            <a:avLst/>
          </a:prstGeom>
          <a:noFill/>
          <a:ln/>
        </p:spPr>
        <p:txBody>
          <a:bodyPr wrap="square" lIns="0" tIns="0" rIns="0" bIns="0" rtlCol="0" anchor="t"/>
          <a:lstStyle/>
          <a:p>
            <a:pPr indent="0" marL="0">
              <a:buNone/>
            </a:pPr>
            <a:r>
              <a:rPr lang="it-IT" sz="1200" b="1" dirty="0">
                <a:solidFill>
                  <a:schemeClr val="accent5"/>
                </a:solidFill>
              </a:rPr>
              <a:t>Ciò che manca</a:t>
            </a:r>
            <a:endParaRPr lang="it-IT" sz="1200" dirty="0"/>
          </a:p>
        </p:txBody>
      </p:sp>
      <p:sp>
        <p:nvSpPr>
          <p:cNvPr id="12" name="Riassunto di contratto"/>
          <p:cNvSpPr/>
          <p:nvPr/>
        </p:nvSpPr>
        <p:spPr>
          <a:xfrm>
            <a:off x="457200" y="1371600"/>
            <a:ext cx="8229600" cy="530352"/>
          </a:xfrm>
          <a:prstGeom prst="roundRect">
            <a:avLst>
              <a:gd name="adj" fmla="val 13793"/>
            </a:avLst>
          </a:prstGeom>
          <a:solidFill>
            <a:schemeClr val="bg2"/>
          </a:solidFill>
          <a:ln/>
        </p:spPr>
      </p:sp>
      <p:sp>
        <p:nvSpPr>
          <p:cNvPr id="13" name="Text 10"/>
          <p:cNvSpPr txBox="1"/>
          <p:nvPr/>
        </p:nvSpPr>
        <p:spPr>
          <a:xfrm>
            <a:off x="594360" y="1371600"/>
            <a:ext cx="2286000" cy="530352"/>
          </a:xfrm>
          <a:prstGeom prst="rect">
            <a:avLst/>
          </a:prstGeom>
          <a:noFill/>
          <a:ln/>
        </p:spPr>
        <p:txBody>
          <a:bodyPr wrap="square" lIns="0" tIns="0" rIns="0" bIns="0" rtlCol="0" anchor="ctr"/>
          <a:lstStyle/>
          <a:p>
            <a:pPr indent="0" marL="0">
              <a:buNone/>
            </a:pPr>
            <a:r>
              <a:rPr lang="it-IT" sz="1300" b="1" dirty="0">
                <a:solidFill>
                  <a:schemeClr val="tx1"/>
                </a:solidFill>
              </a:rPr>
              <a:t>Riassunto di contratto</a:t>
            </a:r>
            <a:endParaRPr lang="it-IT" sz="1300" dirty="0"/>
          </a:p>
        </p:txBody>
      </p:sp>
      <p:sp>
        <p:nvSpPr>
          <p:cNvPr id="14" name="Text 11"/>
          <p:cNvSpPr txBox="1"/>
          <p:nvPr/>
        </p:nvSpPr>
        <p:spPr>
          <a:xfrm>
            <a:off x="2926080" y="1371600"/>
            <a:ext cx="2743200" cy="530352"/>
          </a:xfrm>
          <a:prstGeom prst="rect">
            <a:avLst/>
          </a:prstGeom>
          <a:noFill/>
          <a:ln/>
        </p:spPr>
        <p:txBody>
          <a:bodyPr wrap="square" lIns="0" tIns="0" rIns="0" bIns="0" rtlCol="0" anchor="ctr"/>
          <a:lstStyle/>
          <a:p>
            <a:pPr indent="0" marL="0">
              <a:buNone/>
            </a:pPr>
            <a:r>
              <a:rPr lang="it-IT" sz="1200" dirty="0">
                <a:solidFill>
                  <a:schemeClr val="tx2"/>
                </a:solidFill>
              </a:rPr>
              <a:t>Durata, prezzo, servizi corretti</a:t>
            </a:r>
            <a:endParaRPr lang="it-IT" sz="1200" dirty="0"/>
          </a:p>
        </p:txBody>
      </p:sp>
      <p:sp>
        <p:nvSpPr>
          <p:cNvPr id="15" name="Text 12"/>
          <p:cNvSpPr txBox="1"/>
          <p:nvPr/>
        </p:nvSpPr>
        <p:spPr>
          <a:xfrm>
            <a:off x="5760720" y="1371600"/>
            <a:ext cx="2834640" cy="530352"/>
          </a:xfrm>
          <a:prstGeom prst="rect">
            <a:avLst/>
          </a:prstGeom>
          <a:noFill/>
          <a:ln/>
        </p:spPr>
        <p:txBody>
          <a:bodyPr wrap="square" lIns="0" tIns="0" rIns="0" bIns="0" rtlCol="0" anchor="ctr"/>
          <a:lstStyle/>
          <a:p>
            <a:pPr indent="0" marL="0">
              <a:buNone/>
            </a:pPr>
            <a:r>
              <a:rPr lang="it-IT" sz="1200" b="1" dirty="0">
                <a:solidFill>
                  <a:schemeClr val="accent5"/>
                </a:solidFill>
              </a:rPr>
              <a:t>Manca la clausola di rinnovo automatico</a:t>
            </a:r>
            <a:endParaRPr lang="it-IT" sz="1200" dirty="0"/>
          </a:p>
        </p:txBody>
      </p:sp>
      <p:sp>
        <p:nvSpPr>
          <p:cNvPr id="16" name="Risposta su una procedura"/>
          <p:cNvSpPr/>
          <p:nvPr/>
        </p:nvSpPr>
        <p:spPr>
          <a:xfrm>
            <a:off x="457200" y="1975104"/>
            <a:ext cx="8229600" cy="530352"/>
          </a:xfrm>
          <a:prstGeom prst="roundRect">
            <a:avLst>
              <a:gd name="adj" fmla="val 13793"/>
            </a:avLst>
          </a:prstGeom>
          <a:solidFill>
            <a:schemeClr val="bg1"/>
          </a:solidFill>
          <a:ln/>
        </p:spPr>
      </p:sp>
      <p:sp>
        <p:nvSpPr>
          <p:cNvPr id="17" name="Text 14"/>
          <p:cNvSpPr txBox="1"/>
          <p:nvPr/>
        </p:nvSpPr>
        <p:spPr>
          <a:xfrm>
            <a:off x="594360" y="1975104"/>
            <a:ext cx="2286000" cy="530352"/>
          </a:xfrm>
          <a:prstGeom prst="rect">
            <a:avLst/>
          </a:prstGeom>
          <a:noFill/>
          <a:ln/>
        </p:spPr>
        <p:txBody>
          <a:bodyPr wrap="square" lIns="0" tIns="0" rIns="0" bIns="0" rtlCol="0" anchor="ctr"/>
          <a:lstStyle/>
          <a:p>
            <a:pPr indent="0" marL="0">
              <a:buNone/>
            </a:pPr>
            <a:r>
              <a:rPr lang="it-IT" sz="1300" b="1" dirty="0">
                <a:solidFill>
                  <a:schemeClr val="tx1"/>
                </a:solidFill>
              </a:rPr>
              <a:t>Risposta su una procedura</a:t>
            </a:r>
            <a:endParaRPr lang="it-IT" sz="1300" dirty="0"/>
          </a:p>
        </p:txBody>
      </p:sp>
      <p:sp>
        <p:nvSpPr>
          <p:cNvPr id="18" name="Text 15"/>
          <p:cNvSpPr txBox="1"/>
          <p:nvPr/>
        </p:nvSpPr>
        <p:spPr>
          <a:xfrm>
            <a:off x="2926080" y="1975104"/>
            <a:ext cx="2743200" cy="530352"/>
          </a:xfrm>
          <a:prstGeom prst="rect">
            <a:avLst/>
          </a:prstGeom>
          <a:noFill/>
          <a:ln/>
        </p:spPr>
        <p:txBody>
          <a:bodyPr wrap="square" lIns="0" tIns="0" rIns="0" bIns="0" rtlCol="0" anchor="ctr"/>
          <a:lstStyle/>
          <a:p>
            <a:pPr indent="0" marL="0">
              <a:buNone/>
            </a:pPr>
            <a:r>
              <a:rPr lang="it-IT" sz="1200" dirty="0">
                <a:solidFill>
                  <a:schemeClr val="tx2"/>
                </a:solidFill>
              </a:rPr>
              <a:t>Caso generale corretto</a:t>
            </a:r>
            <a:endParaRPr lang="it-IT" sz="1200" dirty="0"/>
          </a:p>
        </p:txBody>
      </p:sp>
      <p:sp>
        <p:nvSpPr>
          <p:cNvPr id="19" name="Text 16"/>
          <p:cNvSpPr txBox="1"/>
          <p:nvPr/>
        </p:nvSpPr>
        <p:spPr>
          <a:xfrm>
            <a:off x="5760720" y="1975104"/>
            <a:ext cx="2834640" cy="530352"/>
          </a:xfrm>
          <a:prstGeom prst="rect">
            <a:avLst/>
          </a:prstGeom>
          <a:noFill/>
          <a:ln/>
        </p:spPr>
        <p:txBody>
          <a:bodyPr wrap="square" lIns="0" tIns="0" rIns="0" bIns="0" rtlCol="0" anchor="ctr"/>
          <a:lstStyle/>
          <a:p>
            <a:pPr indent="0" marL="0">
              <a:buNone/>
            </a:pPr>
            <a:r>
              <a:rPr lang="it-IT" sz="1200" b="1" dirty="0">
                <a:solidFill>
                  <a:schemeClr val="accent5"/>
                </a:solidFill>
              </a:rPr>
              <a:t>Mancano le eccezioni</a:t>
            </a:r>
            <a:endParaRPr lang="it-IT" sz="1200" dirty="0"/>
          </a:p>
        </p:txBody>
      </p:sp>
      <p:sp>
        <p:nvSpPr>
          <p:cNvPr id="20" name="Confronto tra fornitori"/>
          <p:cNvSpPr/>
          <p:nvPr/>
        </p:nvSpPr>
        <p:spPr>
          <a:xfrm>
            <a:off x="457200" y="2578608"/>
            <a:ext cx="8229600" cy="530352"/>
          </a:xfrm>
          <a:prstGeom prst="roundRect">
            <a:avLst>
              <a:gd name="adj" fmla="val 13793"/>
            </a:avLst>
          </a:prstGeom>
          <a:solidFill>
            <a:schemeClr val="bg2"/>
          </a:solidFill>
          <a:ln/>
        </p:spPr>
      </p:sp>
      <p:sp>
        <p:nvSpPr>
          <p:cNvPr id="21" name="Text 18"/>
          <p:cNvSpPr txBox="1"/>
          <p:nvPr/>
        </p:nvSpPr>
        <p:spPr>
          <a:xfrm>
            <a:off x="594360" y="2578608"/>
            <a:ext cx="2286000" cy="530352"/>
          </a:xfrm>
          <a:prstGeom prst="rect">
            <a:avLst/>
          </a:prstGeom>
          <a:noFill/>
          <a:ln/>
        </p:spPr>
        <p:txBody>
          <a:bodyPr wrap="square" lIns="0" tIns="0" rIns="0" bIns="0" rtlCol="0" anchor="ctr"/>
          <a:lstStyle/>
          <a:p>
            <a:pPr indent="0" marL="0">
              <a:buNone/>
            </a:pPr>
            <a:r>
              <a:rPr lang="it-IT" sz="1300" b="1" dirty="0">
                <a:solidFill>
                  <a:schemeClr val="tx1"/>
                </a:solidFill>
              </a:rPr>
              <a:t>Confronto tra fornitori</a:t>
            </a:r>
            <a:endParaRPr lang="it-IT" sz="1300" dirty="0"/>
          </a:p>
        </p:txBody>
      </p:sp>
      <p:sp>
        <p:nvSpPr>
          <p:cNvPr id="22" name="Text 19"/>
          <p:cNvSpPr txBox="1"/>
          <p:nvPr/>
        </p:nvSpPr>
        <p:spPr>
          <a:xfrm>
            <a:off x="2926080" y="2578608"/>
            <a:ext cx="2743200" cy="530352"/>
          </a:xfrm>
          <a:prstGeom prst="rect">
            <a:avLst/>
          </a:prstGeom>
          <a:noFill/>
          <a:ln/>
        </p:spPr>
        <p:txBody>
          <a:bodyPr wrap="square" lIns="0" tIns="0" rIns="0" bIns="0" rtlCol="0" anchor="ctr"/>
          <a:lstStyle/>
          <a:p>
            <a:pPr indent="0" marL="0">
              <a:buNone/>
            </a:pPr>
            <a:r>
              <a:rPr lang="it-IT" sz="1200" dirty="0">
                <a:solidFill>
                  <a:schemeClr val="tx2"/>
                </a:solidFill>
              </a:rPr>
              <a:t>Prezzo e qualità corretti</a:t>
            </a:r>
            <a:endParaRPr lang="it-IT" sz="1200" dirty="0"/>
          </a:p>
        </p:txBody>
      </p:sp>
      <p:sp>
        <p:nvSpPr>
          <p:cNvPr id="23" name="Text 20"/>
          <p:cNvSpPr txBox="1"/>
          <p:nvPr/>
        </p:nvSpPr>
        <p:spPr>
          <a:xfrm>
            <a:off x="5760720" y="2578608"/>
            <a:ext cx="2834640" cy="530352"/>
          </a:xfrm>
          <a:prstGeom prst="rect">
            <a:avLst/>
          </a:prstGeom>
          <a:noFill/>
          <a:ln/>
        </p:spPr>
        <p:txBody>
          <a:bodyPr wrap="square" lIns="0" tIns="0" rIns="0" bIns="0" rtlCol="0" anchor="ctr"/>
          <a:lstStyle/>
          <a:p>
            <a:pPr indent="0" marL="0">
              <a:buNone/>
            </a:pPr>
            <a:r>
              <a:rPr lang="it-IT" sz="1200" b="1" dirty="0">
                <a:solidFill>
                  <a:schemeClr val="accent5"/>
                </a:solidFill>
              </a:rPr>
              <a:t>Mancano i tempi di consegna</a:t>
            </a:r>
            <a:endParaRPr lang="it-IT" sz="1200" dirty="0"/>
          </a:p>
        </p:txBody>
      </p:sp>
      <p:sp>
        <p:nvSpPr>
          <p:cNvPr id="24" name="Analisi di una scelta"/>
          <p:cNvSpPr/>
          <p:nvPr/>
        </p:nvSpPr>
        <p:spPr>
          <a:xfrm>
            <a:off x="457200" y="3182112"/>
            <a:ext cx="8229600" cy="530352"/>
          </a:xfrm>
          <a:prstGeom prst="roundRect">
            <a:avLst>
              <a:gd name="adj" fmla="val 13793"/>
            </a:avLst>
          </a:prstGeom>
          <a:solidFill>
            <a:schemeClr val="bg1"/>
          </a:solidFill>
          <a:ln/>
        </p:spPr>
      </p:sp>
      <p:sp>
        <p:nvSpPr>
          <p:cNvPr id="25" name="Text 22"/>
          <p:cNvSpPr txBox="1"/>
          <p:nvPr/>
        </p:nvSpPr>
        <p:spPr>
          <a:xfrm>
            <a:off x="594360" y="3182112"/>
            <a:ext cx="2286000" cy="530352"/>
          </a:xfrm>
          <a:prstGeom prst="rect">
            <a:avLst/>
          </a:prstGeom>
          <a:noFill/>
          <a:ln/>
        </p:spPr>
        <p:txBody>
          <a:bodyPr wrap="square" lIns="0" tIns="0" rIns="0" bIns="0" rtlCol="0" anchor="ctr"/>
          <a:lstStyle/>
          <a:p>
            <a:pPr indent="0" marL="0">
              <a:buNone/>
            </a:pPr>
            <a:r>
              <a:rPr lang="it-IT" sz="1300" b="1" dirty="0">
                <a:solidFill>
                  <a:schemeClr val="tx1"/>
                </a:solidFill>
              </a:rPr>
              <a:t>Analisi di una scelta</a:t>
            </a:r>
            <a:endParaRPr lang="it-IT" sz="1300" dirty="0"/>
          </a:p>
        </p:txBody>
      </p:sp>
      <p:sp>
        <p:nvSpPr>
          <p:cNvPr id="26" name="Text 23"/>
          <p:cNvSpPr txBox="1"/>
          <p:nvPr/>
        </p:nvSpPr>
        <p:spPr>
          <a:xfrm>
            <a:off x="2926080" y="3182112"/>
            <a:ext cx="2743200" cy="530352"/>
          </a:xfrm>
          <a:prstGeom prst="rect">
            <a:avLst/>
          </a:prstGeom>
          <a:noFill/>
          <a:ln/>
        </p:spPr>
        <p:txBody>
          <a:bodyPr wrap="square" lIns="0" tIns="0" rIns="0" bIns="0" rtlCol="0" anchor="ctr"/>
          <a:lstStyle/>
          <a:p>
            <a:pPr indent="0" marL="0">
              <a:buNone/>
            </a:pPr>
            <a:r>
              <a:rPr lang="it-IT" sz="1200" dirty="0">
                <a:solidFill>
                  <a:schemeClr val="tx2"/>
                </a:solidFill>
              </a:rPr>
              <a:t>Vantaggi corretti</a:t>
            </a:r>
            <a:endParaRPr lang="it-IT" sz="1200" dirty="0"/>
          </a:p>
        </p:txBody>
      </p:sp>
      <p:sp>
        <p:nvSpPr>
          <p:cNvPr id="27" name="Text 24"/>
          <p:cNvSpPr txBox="1"/>
          <p:nvPr/>
        </p:nvSpPr>
        <p:spPr>
          <a:xfrm>
            <a:off x="5760720" y="3182112"/>
            <a:ext cx="2834640" cy="530352"/>
          </a:xfrm>
          <a:prstGeom prst="rect">
            <a:avLst/>
          </a:prstGeom>
          <a:noFill/>
          <a:ln/>
        </p:spPr>
        <p:txBody>
          <a:bodyPr wrap="square" lIns="0" tIns="0" rIns="0" bIns="0" rtlCol="0" anchor="ctr"/>
          <a:lstStyle/>
          <a:p>
            <a:pPr indent="0" marL="0">
              <a:buNone/>
            </a:pPr>
            <a:r>
              <a:rPr lang="it-IT" sz="1200" b="1" dirty="0">
                <a:solidFill>
                  <a:schemeClr val="accent5"/>
                </a:solidFill>
              </a:rPr>
              <a:t>Mancano i rischi</a:t>
            </a:r>
            <a:endParaRPr lang="it-IT" sz="1200" dirty="0"/>
          </a:p>
        </p:txBody>
      </p:sp>
      <p:sp>
        <p:nvSpPr>
          <p:cNvPr id="28" name="messaggio"/>
          <p:cNvSpPr/>
          <p:nvPr/>
        </p:nvSpPr>
        <p:spPr>
          <a:xfrm>
            <a:off x="457200" y="3931920"/>
            <a:ext cx="8229600" cy="594360"/>
          </a:xfrm>
          <a:prstGeom prst="roundRect">
            <a:avLst>
              <a:gd name="adj" fmla="val 12308"/>
            </a:avLst>
          </a:prstGeom>
          <a:solidFill>
            <a:schemeClr val="tx1"/>
          </a:solidFill>
          <a:ln/>
        </p:spPr>
      </p:sp>
      <p:sp>
        <p:nvSpPr>
          <p:cNvPr id="29" name="Text 26"/>
          <p:cNvSpPr txBox="1"/>
          <p:nvPr/>
        </p:nvSpPr>
        <p:spPr>
          <a:xfrm>
            <a:off x="640080" y="3931920"/>
            <a:ext cx="7863840" cy="594360"/>
          </a:xfrm>
          <a:prstGeom prst="rect">
            <a:avLst/>
          </a:prstGeom>
          <a:noFill/>
          <a:ln/>
        </p:spPr>
        <p:txBody>
          <a:bodyPr wrap="square" lIns="0" tIns="0" rIns="0" bIns="0" rtlCol="0" anchor="ctr"/>
          <a:lstStyle/>
          <a:p>
            <a:pPr indent="0" marL="0">
              <a:buNone/>
            </a:pPr>
            <a:r>
              <a:rPr lang="it-IT" sz="1300" dirty="0">
                <a:solidFill>
                  <a:schemeClr val="bg1"/>
                </a:solidFill>
              </a:rPr>
              <a:t>Ogni frase è vera, ma il quadro è incompleto: le omissioni non si vedono, perché valutiamo ciò che c'è scritto.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Cercare ciò che manca e tenere traccia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Partire dalle attese"/>
          <p:cNvSpPr/>
          <p:nvPr/>
        </p:nvSpPr>
        <p:spPr>
          <a:xfrm>
            <a:off x="457200" y="1097280"/>
            <a:ext cx="2621280" cy="1143000"/>
          </a:xfrm>
          <a:prstGeom prst="roundRect">
            <a:avLst>
              <a:gd name="adj" fmla="val 6400"/>
            </a:avLst>
          </a:prstGeom>
          <a:solidFill>
            <a:schemeClr val="accent6"/>
          </a:solidFill>
          <a:ln/>
        </p:spPr>
      </p:sp>
      <p:sp>
        <p:nvSpPr>
          <p:cNvPr id="11" name="cerchio FiList"/>
          <p:cNvSpPr/>
          <p:nvPr/>
        </p:nvSpPr>
        <p:spPr>
          <a:xfrm>
            <a:off x="621792" y="1261872"/>
            <a:ext cx="438912" cy="438912"/>
          </a:xfrm>
          <a:prstGeom prst="ellipse">
            <a:avLst/>
          </a:prstGeom>
          <a:solidFill>
            <a:schemeClr val="accent1"/>
          </a:solidFill>
          <a:ln/>
        </p:spPr>
      </p:sp>
      <p:pic>
        <p:nvPicPr>
          <p:cNvPr id="12" name="Image 0" descr="FiList">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Partire dalle attese</a:t>
            </a:r>
            <a:endParaRPr lang="it-IT" sz="1300" dirty="0"/>
          </a:p>
        </p:txBody>
      </p:sp>
      <p:sp>
        <p:nvSpPr>
          <p:cNvPr id="14" name="Text 10"/>
          <p:cNvSpPr txBox="1"/>
          <p:nvPr/>
        </p:nvSpPr>
        <p:spPr>
          <a:xfrm>
            <a:off x="621792" y="1810512"/>
            <a:ext cx="2292096" cy="338328"/>
          </a:xfrm>
          <a:prstGeom prst="rect">
            <a:avLst/>
          </a:prstGeom>
          <a:noFill/>
          <a:ln/>
        </p:spPr>
        <p:txBody>
          <a:bodyPr wrap="square" lIns="0" tIns="0" rIns="0" bIns="0" rtlCol="0" anchor="t"/>
          <a:lstStyle/>
          <a:p>
            <a:pPr indent="0" marL="0">
              <a:buNone/>
            </a:pPr>
            <a:r>
              <a:rPr lang="it-IT" sz="1100" dirty="0">
                <a:solidFill>
                  <a:schemeClr val="tx2"/>
                </a:solidFill>
              </a:rPr>
              <a:t>Annotare che cosa dovrebbe esserci, poi confrontare</a:t>
            </a:r>
            <a:endParaRPr lang="it-IT" sz="1100" dirty="0"/>
          </a:p>
        </p:txBody>
      </p:sp>
      <p:sp>
        <p:nvSpPr>
          <p:cNvPr id="15" name="Usare la richiesta originale"/>
          <p:cNvSpPr/>
          <p:nvPr/>
        </p:nvSpPr>
        <p:spPr>
          <a:xfrm>
            <a:off x="3261360" y="1097280"/>
            <a:ext cx="2621280" cy="1143000"/>
          </a:xfrm>
          <a:prstGeom prst="roundRect">
            <a:avLst>
              <a:gd name="adj" fmla="val 6400"/>
            </a:avLst>
          </a:prstGeom>
          <a:solidFill>
            <a:schemeClr val="bg2"/>
          </a:solidFill>
          <a:ln/>
        </p:spPr>
      </p:sp>
      <p:sp>
        <p:nvSpPr>
          <p:cNvPr id="16" name="cerchio FiCheckSquare"/>
          <p:cNvSpPr/>
          <p:nvPr/>
        </p:nvSpPr>
        <p:spPr>
          <a:xfrm>
            <a:off x="3425952" y="1261872"/>
            <a:ext cx="438912" cy="438912"/>
          </a:xfrm>
          <a:prstGeom prst="ellipse">
            <a:avLst/>
          </a:prstGeom>
          <a:solidFill>
            <a:schemeClr val="accent1"/>
          </a:solidFill>
          <a:ln/>
        </p:spPr>
      </p:sp>
      <p:pic>
        <p:nvPicPr>
          <p:cNvPr id="17" name="Image 1" descr="FiCheckSquare">    </p:cNvPr>
          <p:cNvPicPr>
            <a:picLocks noChangeAspect="1"/>
          </p:cNvPicPr>
          <p:nvPr/>
        </p:nvPicPr>
        <p:blipFill>
          <a:blip r:embed="rId2"/>
          <a:stretch>
            <a:fillRect/>
          </a:stretch>
        </p:blipFill>
        <p:spPr>
          <a:xfrm>
            <a:off x="3535680" y="1371600"/>
            <a:ext cx="219456" cy="219456"/>
          </a:xfrm>
          <a:prstGeom prst="rect">
            <a:avLst/>
          </a:prstGeom>
        </p:spPr>
      </p:pic>
      <p:sp>
        <p:nvSpPr>
          <p:cNvPr id="18" name="Text 13"/>
          <p:cNvSpPr txBox="1"/>
          <p:nvPr/>
        </p:nvSpPr>
        <p:spPr>
          <a:xfrm>
            <a:off x="397459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Usare la richiesta originale</a:t>
            </a:r>
            <a:endParaRPr lang="it-IT" sz="1300" dirty="0"/>
          </a:p>
        </p:txBody>
      </p:sp>
      <p:sp>
        <p:nvSpPr>
          <p:cNvPr id="19" name="Text 14"/>
          <p:cNvSpPr txBox="1"/>
          <p:nvPr/>
        </p:nvSpPr>
        <p:spPr>
          <a:xfrm>
            <a:off x="3425952" y="1810512"/>
            <a:ext cx="2292096" cy="338328"/>
          </a:xfrm>
          <a:prstGeom prst="rect">
            <a:avLst/>
          </a:prstGeom>
          <a:noFill/>
          <a:ln/>
        </p:spPr>
        <p:txBody>
          <a:bodyPr wrap="square" lIns="0" tIns="0" rIns="0" bIns="0" rtlCol="0" anchor="t"/>
          <a:lstStyle/>
          <a:p>
            <a:pPr indent="0" marL="0">
              <a:buNone/>
            </a:pPr>
            <a:r>
              <a:rPr lang="it-IT" sz="1100" dirty="0">
                <a:solidFill>
                  <a:schemeClr val="tx2"/>
                </a:solidFill>
              </a:rPr>
              <a:t>Ogni elemento richiesto è presente?</a:t>
            </a:r>
            <a:endParaRPr lang="it-IT" sz="1100" dirty="0"/>
          </a:p>
        </p:txBody>
      </p:sp>
      <p:sp>
        <p:nvSpPr>
          <p:cNvPr id="20" name="Cercare eccezioni e condizioni"/>
          <p:cNvSpPr/>
          <p:nvPr/>
        </p:nvSpPr>
        <p:spPr>
          <a:xfrm>
            <a:off x="6065520" y="1097280"/>
            <a:ext cx="2621280" cy="1143000"/>
          </a:xfrm>
          <a:prstGeom prst="roundRect">
            <a:avLst>
              <a:gd name="adj" fmla="val 6400"/>
            </a:avLst>
          </a:prstGeom>
          <a:solidFill>
            <a:schemeClr val="bg2"/>
          </a:solidFill>
          <a:ln/>
        </p:spPr>
      </p:sp>
      <p:sp>
        <p:nvSpPr>
          <p:cNvPr id="21" name="cerchio FiAlertCircle"/>
          <p:cNvSpPr/>
          <p:nvPr/>
        </p:nvSpPr>
        <p:spPr>
          <a:xfrm>
            <a:off x="6230112" y="1261872"/>
            <a:ext cx="438912" cy="438912"/>
          </a:xfrm>
          <a:prstGeom prst="ellipse">
            <a:avLst/>
          </a:prstGeom>
          <a:solidFill>
            <a:schemeClr val="accent1"/>
          </a:solidFill>
          <a:ln/>
        </p:spPr>
      </p:sp>
      <p:pic>
        <p:nvPicPr>
          <p:cNvPr id="22" name="Image 2" descr="FiAlertCircle">    </p:cNvPr>
          <p:cNvPicPr>
            <a:picLocks noChangeAspect="1"/>
          </p:cNvPicPr>
          <p:nvPr/>
        </p:nvPicPr>
        <p:blipFill>
          <a:blip r:embed="rId3"/>
          <a:stretch>
            <a:fillRect/>
          </a:stretch>
        </p:blipFill>
        <p:spPr>
          <a:xfrm>
            <a:off x="6339840" y="1371600"/>
            <a:ext cx="219456" cy="219456"/>
          </a:xfrm>
          <a:prstGeom prst="rect">
            <a:avLst/>
          </a:prstGeom>
        </p:spPr>
      </p:pic>
      <p:sp>
        <p:nvSpPr>
          <p:cNvPr id="23" name="Text 17"/>
          <p:cNvSpPr txBox="1"/>
          <p:nvPr/>
        </p:nvSpPr>
        <p:spPr>
          <a:xfrm>
            <a:off x="677875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Cercare eccezioni e condizioni</a:t>
            </a:r>
            <a:endParaRPr lang="it-IT" sz="1300" dirty="0"/>
          </a:p>
        </p:txBody>
      </p:sp>
      <p:sp>
        <p:nvSpPr>
          <p:cNvPr id="24" name="Text 18"/>
          <p:cNvSpPr txBox="1"/>
          <p:nvPr/>
        </p:nvSpPr>
        <p:spPr>
          <a:xfrm>
            <a:off x="6230112" y="1810512"/>
            <a:ext cx="2292096" cy="338328"/>
          </a:xfrm>
          <a:prstGeom prst="rect">
            <a:avLst/>
          </a:prstGeom>
          <a:noFill/>
          <a:ln/>
        </p:spPr>
        <p:txBody>
          <a:bodyPr wrap="square" lIns="0" tIns="0" rIns="0" bIns="0" rtlCol="0" anchor="t"/>
          <a:lstStyle/>
          <a:p>
            <a:pPr indent="0" marL="0">
              <a:buNone/>
            </a:pPr>
            <a:r>
              <a:rPr lang="it-IT" sz="1100" dirty="0">
                <a:solidFill>
                  <a:schemeClr val="tx2"/>
                </a:solidFill>
              </a:rPr>
              <a:t>In quali casi non vale?</a:t>
            </a:r>
            <a:endParaRPr lang="it-IT" sz="1100" dirty="0"/>
          </a:p>
        </p:txBody>
      </p:sp>
      <p:sp>
        <p:nvSpPr>
          <p:cNvPr id="25" name="Cercare l'altra metà"/>
          <p:cNvSpPr/>
          <p:nvPr/>
        </p:nvSpPr>
        <p:spPr>
          <a:xfrm>
            <a:off x="457200" y="2423160"/>
            <a:ext cx="2621280" cy="1143000"/>
          </a:xfrm>
          <a:prstGeom prst="roundRect">
            <a:avLst>
              <a:gd name="adj" fmla="val 6400"/>
            </a:avLst>
          </a:prstGeom>
          <a:solidFill>
            <a:schemeClr val="bg2"/>
          </a:solidFill>
          <a:ln/>
        </p:spPr>
      </p:sp>
      <p:sp>
        <p:nvSpPr>
          <p:cNvPr id="26" name="cerchio FiColumns"/>
          <p:cNvSpPr/>
          <p:nvPr/>
        </p:nvSpPr>
        <p:spPr>
          <a:xfrm>
            <a:off x="621792" y="2587752"/>
            <a:ext cx="438912" cy="438912"/>
          </a:xfrm>
          <a:prstGeom prst="ellipse">
            <a:avLst/>
          </a:prstGeom>
          <a:solidFill>
            <a:schemeClr val="accent1"/>
          </a:solidFill>
          <a:ln/>
        </p:spPr>
      </p:sp>
      <p:pic>
        <p:nvPicPr>
          <p:cNvPr id="27" name="Image 3" descr="FiColumns">    </p:cNvPr>
          <p:cNvPicPr>
            <a:picLocks noChangeAspect="1"/>
          </p:cNvPicPr>
          <p:nvPr/>
        </p:nvPicPr>
        <p:blipFill>
          <a:blip r:embed="rId4"/>
          <a:stretch>
            <a:fillRect/>
          </a:stretch>
        </p:blipFill>
        <p:spPr>
          <a:xfrm>
            <a:off x="731520" y="2697480"/>
            <a:ext cx="219456" cy="219456"/>
          </a:xfrm>
          <a:prstGeom prst="rect">
            <a:avLst/>
          </a:prstGeom>
        </p:spPr>
      </p:pic>
      <p:sp>
        <p:nvSpPr>
          <p:cNvPr id="28" name="Text 21"/>
          <p:cNvSpPr txBox="1"/>
          <p:nvPr/>
        </p:nvSpPr>
        <p:spPr>
          <a:xfrm>
            <a:off x="1170432" y="25511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Cercare l'altra metà</a:t>
            </a:r>
            <a:endParaRPr lang="it-IT" sz="1300" dirty="0"/>
          </a:p>
        </p:txBody>
      </p:sp>
      <p:sp>
        <p:nvSpPr>
          <p:cNvPr id="29" name="Text 22"/>
          <p:cNvSpPr txBox="1"/>
          <p:nvPr/>
        </p:nvSpPr>
        <p:spPr>
          <a:xfrm>
            <a:off x="621792" y="3136392"/>
            <a:ext cx="2292096" cy="338328"/>
          </a:xfrm>
          <a:prstGeom prst="rect">
            <a:avLst/>
          </a:prstGeom>
          <a:noFill/>
          <a:ln/>
        </p:spPr>
        <p:txBody>
          <a:bodyPr wrap="square" lIns="0" tIns="0" rIns="0" bIns="0" rtlCol="0" anchor="t"/>
          <a:lstStyle/>
          <a:p>
            <a:pPr indent="0" marL="0">
              <a:buNone/>
            </a:pPr>
            <a:r>
              <a:rPr lang="it-IT" sz="1100" dirty="0">
                <a:solidFill>
                  <a:schemeClr val="tx2"/>
                </a:solidFill>
              </a:rPr>
              <a:t>Vantaggi e svantaggi, un punto di vista e l'altro</a:t>
            </a:r>
            <a:endParaRPr lang="it-IT" sz="1100" dirty="0"/>
          </a:p>
        </p:txBody>
      </p:sp>
      <p:sp>
        <p:nvSpPr>
          <p:cNvPr id="30" name="Confrontare con la fonte"/>
          <p:cNvSpPr/>
          <p:nvPr/>
        </p:nvSpPr>
        <p:spPr>
          <a:xfrm>
            <a:off x="3261360" y="2423160"/>
            <a:ext cx="2621280" cy="1143000"/>
          </a:xfrm>
          <a:prstGeom prst="roundRect">
            <a:avLst>
              <a:gd name="adj" fmla="val 6400"/>
            </a:avLst>
          </a:prstGeom>
          <a:solidFill>
            <a:schemeClr val="bg2"/>
          </a:solidFill>
          <a:ln/>
        </p:spPr>
      </p:sp>
      <p:sp>
        <p:nvSpPr>
          <p:cNvPr id="31" name="cerchio FiBookOpen"/>
          <p:cNvSpPr/>
          <p:nvPr/>
        </p:nvSpPr>
        <p:spPr>
          <a:xfrm>
            <a:off x="3425952" y="2587752"/>
            <a:ext cx="438912" cy="438912"/>
          </a:xfrm>
          <a:prstGeom prst="ellipse">
            <a:avLst/>
          </a:prstGeom>
          <a:solidFill>
            <a:schemeClr val="accent1"/>
          </a:solidFill>
          <a:ln/>
        </p:spPr>
      </p:sp>
      <p:pic>
        <p:nvPicPr>
          <p:cNvPr id="32" name="Image 4" descr="FiBookOpen">    </p:cNvPr>
          <p:cNvPicPr>
            <a:picLocks noChangeAspect="1"/>
          </p:cNvPicPr>
          <p:nvPr/>
        </p:nvPicPr>
        <p:blipFill>
          <a:blip r:embed="rId5"/>
          <a:stretch>
            <a:fillRect/>
          </a:stretch>
        </p:blipFill>
        <p:spPr>
          <a:xfrm>
            <a:off x="3535680" y="2697480"/>
            <a:ext cx="219456" cy="219456"/>
          </a:xfrm>
          <a:prstGeom prst="rect">
            <a:avLst/>
          </a:prstGeom>
        </p:spPr>
      </p:pic>
      <p:sp>
        <p:nvSpPr>
          <p:cNvPr id="33" name="Text 25"/>
          <p:cNvSpPr txBox="1"/>
          <p:nvPr/>
        </p:nvSpPr>
        <p:spPr>
          <a:xfrm>
            <a:off x="3974592" y="25511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Confrontare con la fonte</a:t>
            </a:r>
            <a:endParaRPr lang="it-IT" sz="1300" dirty="0"/>
          </a:p>
        </p:txBody>
      </p:sp>
      <p:sp>
        <p:nvSpPr>
          <p:cNvPr id="34" name="Text 26"/>
          <p:cNvSpPr txBox="1"/>
          <p:nvPr/>
        </p:nvSpPr>
        <p:spPr>
          <a:xfrm>
            <a:off x="3425952" y="3136392"/>
            <a:ext cx="2292096" cy="338328"/>
          </a:xfrm>
          <a:prstGeom prst="rect">
            <a:avLst/>
          </a:prstGeom>
          <a:noFill/>
          <a:ln/>
        </p:spPr>
        <p:txBody>
          <a:bodyPr wrap="square" lIns="0" tIns="0" rIns="0" bIns="0" rtlCol="0" anchor="t"/>
          <a:lstStyle/>
          <a:p>
            <a:pPr indent="0" marL="0">
              <a:buNone/>
            </a:pPr>
            <a:r>
              <a:rPr lang="it-IT" sz="1100" dirty="0">
                <a:solidFill>
                  <a:schemeClr val="tx2"/>
                </a:solidFill>
              </a:rPr>
              <a:t>Le parti importanti sono rappresentate?</a:t>
            </a:r>
            <a:endParaRPr lang="it-IT" sz="1100" dirty="0"/>
          </a:p>
        </p:txBody>
      </p:sp>
      <p:sp>
        <p:nvSpPr>
          <p:cNvPr id="35" name="Chiedere all'AI che cosa manca"/>
          <p:cNvSpPr/>
          <p:nvPr/>
        </p:nvSpPr>
        <p:spPr>
          <a:xfrm>
            <a:off x="6065520" y="2423160"/>
            <a:ext cx="2621280" cy="1143000"/>
          </a:xfrm>
          <a:prstGeom prst="roundRect">
            <a:avLst>
              <a:gd name="adj" fmla="val 6400"/>
            </a:avLst>
          </a:prstGeom>
          <a:solidFill>
            <a:schemeClr val="bg2"/>
          </a:solidFill>
          <a:ln/>
        </p:spPr>
      </p:sp>
      <p:sp>
        <p:nvSpPr>
          <p:cNvPr id="36" name="cerchio FiHelpCircle"/>
          <p:cNvSpPr/>
          <p:nvPr/>
        </p:nvSpPr>
        <p:spPr>
          <a:xfrm>
            <a:off x="6230112" y="2587752"/>
            <a:ext cx="438912" cy="438912"/>
          </a:xfrm>
          <a:prstGeom prst="ellipse">
            <a:avLst/>
          </a:prstGeom>
          <a:solidFill>
            <a:schemeClr val="accent1"/>
          </a:solidFill>
          <a:ln/>
        </p:spPr>
      </p:sp>
      <p:pic>
        <p:nvPicPr>
          <p:cNvPr id="37" name="Image 5" descr="FiHelpCircle">    </p:cNvPr>
          <p:cNvPicPr>
            <a:picLocks noChangeAspect="1"/>
          </p:cNvPicPr>
          <p:nvPr/>
        </p:nvPicPr>
        <p:blipFill>
          <a:blip r:embed="rId6"/>
          <a:stretch>
            <a:fillRect/>
          </a:stretch>
        </p:blipFill>
        <p:spPr>
          <a:xfrm>
            <a:off x="6339840" y="2697480"/>
            <a:ext cx="219456" cy="219456"/>
          </a:xfrm>
          <a:prstGeom prst="rect">
            <a:avLst/>
          </a:prstGeom>
        </p:spPr>
      </p:pic>
      <p:sp>
        <p:nvSpPr>
          <p:cNvPr id="38" name="Text 29"/>
          <p:cNvSpPr txBox="1"/>
          <p:nvPr/>
        </p:nvSpPr>
        <p:spPr>
          <a:xfrm>
            <a:off x="6778752" y="25511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Chiedere all'AI che cosa manca</a:t>
            </a:r>
            <a:endParaRPr lang="it-IT" sz="1300" dirty="0"/>
          </a:p>
        </p:txBody>
      </p:sp>
      <p:sp>
        <p:nvSpPr>
          <p:cNvPr id="39" name="Text 30"/>
          <p:cNvSpPr txBox="1"/>
          <p:nvPr/>
        </p:nvSpPr>
        <p:spPr>
          <a:xfrm>
            <a:off x="6230112" y="3136392"/>
            <a:ext cx="2292096" cy="338328"/>
          </a:xfrm>
          <a:prstGeom prst="rect">
            <a:avLst/>
          </a:prstGeom>
          <a:noFill/>
          <a:ln/>
        </p:spPr>
        <p:txBody>
          <a:bodyPr wrap="square" lIns="0" tIns="0" rIns="0" bIns="0" rtlCol="0" anchor="t"/>
          <a:lstStyle/>
          <a:p>
            <a:pPr indent="0" marL="0">
              <a:buNone/>
            </a:pPr>
            <a:r>
              <a:rPr lang="it-IT" sz="1100" dirty="0">
                <a:solidFill>
                  <a:schemeClr val="tx2"/>
                </a:solidFill>
              </a:rPr>
              <a:t>Aiuto rapido, da confrontare con le attese</a:t>
            </a:r>
            <a:endParaRPr lang="it-IT" sz="1100" dirty="0"/>
          </a:p>
        </p:txBody>
      </p:sp>
      <p:sp>
        <p:nvSpPr>
          <p:cNvPr id="40" name="tenere traccia"/>
          <p:cNvSpPr/>
          <p:nvPr/>
        </p:nvSpPr>
        <p:spPr>
          <a:xfrm>
            <a:off x="457200" y="3730752"/>
            <a:ext cx="8229600" cy="795528"/>
          </a:xfrm>
          <a:prstGeom prst="roundRect">
            <a:avLst>
              <a:gd name="adj" fmla="val 9195"/>
            </a:avLst>
          </a:prstGeom>
          <a:solidFill>
            <a:schemeClr val="tx1"/>
          </a:solidFill>
          <a:ln/>
        </p:spPr>
      </p:sp>
      <p:sp>
        <p:nvSpPr>
          <p:cNvPr id="41" name="Text 32"/>
          <p:cNvSpPr txBox="1"/>
          <p:nvPr/>
        </p:nvSpPr>
        <p:spPr>
          <a:xfrm>
            <a:off x="640080" y="3730752"/>
            <a:ext cx="1417320" cy="795528"/>
          </a:xfrm>
          <a:prstGeom prst="rect">
            <a:avLst/>
          </a:prstGeom>
          <a:noFill/>
          <a:ln/>
        </p:spPr>
        <p:txBody>
          <a:bodyPr wrap="square" lIns="0" tIns="0" rIns="0" bIns="0" rtlCol="0" anchor="ctr"/>
          <a:lstStyle/>
          <a:p>
            <a:pPr indent="0" marL="0">
              <a:buNone/>
            </a:pPr>
            <a:r>
              <a:rPr lang="it-IT" sz="1400" b="1" dirty="0">
                <a:solidFill>
                  <a:schemeClr val="accent1"/>
                </a:solidFill>
              </a:rPr>
              <a:t>Tenere traccia</a:t>
            </a:r>
            <a:endParaRPr lang="it-IT" sz="1400" dirty="0"/>
          </a:p>
        </p:txBody>
      </p:sp>
      <p:sp>
        <p:nvSpPr>
          <p:cNvPr id="42" name="blocco Segnare ciò che è da verificare"/>
          <p:cNvSpPr/>
          <p:nvPr/>
        </p:nvSpPr>
        <p:spPr>
          <a:xfrm>
            <a:off x="2148840" y="3858768"/>
            <a:ext cx="2084832" cy="548640"/>
          </a:xfrm>
          <a:prstGeom prst="roundRect">
            <a:avLst>
              <a:gd name="adj" fmla="val 20000"/>
            </a:avLst>
          </a:prstGeom>
          <a:solidFill>
            <a:schemeClr val="accent6"/>
          </a:solidFill>
          <a:ln/>
        </p:spPr>
      </p:sp>
      <p:sp>
        <p:nvSpPr>
          <p:cNvPr id="43" name="Text 34"/>
          <p:cNvSpPr txBox="1"/>
          <p:nvPr/>
        </p:nvSpPr>
        <p:spPr>
          <a:xfrm>
            <a:off x="2194560" y="3858768"/>
            <a:ext cx="1993392" cy="548640"/>
          </a:xfrm>
          <a:prstGeom prst="rect">
            <a:avLst/>
          </a:prstGeom>
          <a:noFill/>
          <a:ln/>
        </p:spPr>
        <p:txBody>
          <a:bodyPr wrap="square" lIns="0" tIns="0" rIns="0" bIns="0" rtlCol="0" anchor="ctr"/>
          <a:lstStyle/>
          <a:p>
            <a:pPr algn="ctr" indent="0" marL="0">
              <a:buNone/>
            </a:pPr>
            <a:r>
              <a:rPr lang="it-IT" sz="1100" dirty="0">
                <a:solidFill>
                  <a:schemeClr val="tx1"/>
                </a:solidFill>
              </a:rPr>
              <a:t>Segnare ciò che è da verificare</a:t>
            </a:r>
            <a:endParaRPr lang="it-IT" sz="1100" dirty="0"/>
          </a:p>
        </p:txBody>
      </p:sp>
      <p:sp>
        <p:nvSpPr>
          <p:cNvPr id="44" name="blocco Elenco dei punti verificati e delle fonti"/>
          <p:cNvSpPr/>
          <p:nvPr/>
        </p:nvSpPr>
        <p:spPr>
          <a:xfrm>
            <a:off x="4325112" y="3858768"/>
            <a:ext cx="2084832" cy="548640"/>
          </a:xfrm>
          <a:prstGeom prst="roundRect">
            <a:avLst>
              <a:gd name="adj" fmla="val 20000"/>
            </a:avLst>
          </a:prstGeom>
          <a:solidFill>
            <a:schemeClr val="accent6"/>
          </a:solidFill>
          <a:ln/>
        </p:spPr>
      </p:sp>
      <p:sp>
        <p:nvSpPr>
          <p:cNvPr id="45" name="Text 36"/>
          <p:cNvSpPr txBox="1"/>
          <p:nvPr/>
        </p:nvSpPr>
        <p:spPr>
          <a:xfrm>
            <a:off x="4370832" y="3858768"/>
            <a:ext cx="1993392" cy="548640"/>
          </a:xfrm>
          <a:prstGeom prst="rect">
            <a:avLst/>
          </a:prstGeom>
          <a:noFill/>
          <a:ln/>
        </p:spPr>
        <p:txBody>
          <a:bodyPr wrap="square" lIns="0" tIns="0" rIns="0" bIns="0" rtlCol="0" anchor="ctr"/>
          <a:lstStyle/>
          <a:p>
            <a:pPr algn="ctr" indent="0" marL="0">
              <a:buNone/>
            </a:pPr>
            <a:r>
              <a:rPr lang="it-IT" sz="1100" dirty="0">
                <a:solidFill>
                  <a:schemeClr val="tx1"/>
                </a:solidFill>
              </a:rPr>
              <a:t>Elenco dei punti verificati e delle fonti</a:t>
            </a:r>
            <a:endParaRPr lang="it-IT" sz="1100" dirty="0"/>
          </a:p>
        </p:txBody>
      </p:sp>
      <p:sp>
        <p:nvSpPr>
          <p:cNvPr id="46" name="blocco Dichiarare le parti non ancora verificate"/>
          <p:cNvSpPr/>
          <p:nvPr/>
        </p:nvSpPr>
        <p:spPr>
          <a:xfrm>
            <a:off x="6501384" y="3858768"/>
            <a:ext cx="2084832" cy="548640"/>
          </a:xfrm>
          <a:prstGeom prst="roundRect">
            <a:avLst>
              <a:gd name="adj" fmla="val 20000"/>
            </a:avLst>
          </a:prstGeom>
          <a:solidFill>
            <a:schemeClr val="accent6"/>
          </a:solidFill>
          <a:ln/>
        </p:spPr>
      </p:sp>
      <p:sp>
        <p:nvSpPr>
          <p:cNvPr id="47" name="Text 38"/>
          <p:cNvSpPr txBox="1"/>
          <p:nvPr/>
        </p:nvSpPr>
        <p:spPr>
          <a:xfrm>
            <a:off x="6547104" y="3858768"/>
            <a:ext cx="1993392" cy="548640"/>
          </a:xfrm>
          <a:prstGeom prst="rect">
            <a:avLst/>
          </a:prstGeom>
          <a:noFill/>
          <a:ln/>
        </p:spPr>
        <p:txBody>
          <a:bodyPr wrap="square" lIns="0" tIns="0" rIns="0" bIns="0" rtlCol="0" anchor="ctr"/>
          <a:lstStyle/>
          <a:p>
            <a:pPr algn="ctr" indent="0" marL="0">
              <a:buNone/>
            </a:pPr>
            <a:r>
              <a:rPr lang="it-IT" sz="1100" dirty="0">
                <a:solidFill>
                  <a:schemeClr val="tx1"/>
                </a:solidFill>
              </a:rPr>
              <a:t>Dichiarare le parti non ancora verificate</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Incertezza e livello di fiducia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Fatti confermati"/>
          <p:cNvSpPr/>
          <p:nvPr/>
        </p:nvSpPr>
        <p:spPr>
          <a:xfrm>
            <a:off x="457200" y="1097280"/>
            <a:ext cx="4206240" cy="493776"/>
          </a:xfrm>
          <a:prstGeom prst="roundRect">
            <a:avLst>
              <a:gd name="adj" fmla="val 14815"/>
            </a:avLst>
          </a:prstGeom>
          <a:solidFill>
            <a:schemeClr val="accent1"/>
          </a:solidFill>
          <a:ln/>
        </p:spPr>
      </p:sp>
      <p:sp>
        <p:nvSpPr>
          <p:cNvPr id="11" name="Text 8"/>
          <p:cNvSpPr txBox="1"/>
          <p:nvPr/>
        </p:nvSpPr>
        <p:spPr>
          <a:xfrm>
            <a:off x="594360" y="1097280"/>
            <a:ext cx="1920240" cy="493776"/>
          </a:xfrm>
          <a:prstGeom prst="rect">
            <a:avLst/>
          </a:prstGeom>
          <a:noFill/>
          <a:ln/>
        </p:spPr>
        <p:txBody>
          <a:bodyPr wrap="square" lIns="0" tIns="0" rIns="0" bIns="0" rtlCol="0" anchor="ctr"/>
          <a:lstStyle/>
          <a:p>
            <a:pPr indent="0" marL="0">
              <a:buNone/>
            </a:pPr>
            <a:r>
              <a:rPr lang="it-IT" sz="1300" b="1" dirty="0">
                <a:solidFill>
                  <a:schemeClr val="bg1"/>
                </a:solidFill>
              </a:rPr>
              <a:t>Fatti confermati</a:t>
            </a:r>
            <a:endParaRPr lang="it-IT" sz="1300" dirty="0"/>
          </a:p>
        </p:txBody>
      </p:sp>
      <p:sp>
        <p:nvSpPr>
          <p:cNvPr id="12" name="Text 9"/>
          <p:cNvSpPr txBox="1"/>
          <p:nvPr/>
        </p:nvSpPr>
        <p:spPr>
          <a:xfrm>
            <a:off x="2514600" y="1097280"/>
            <a:ext cx="2057400" cy="493776"/>
          </a:xfrm>
          <a:prstGeom prst="rect">
            <a:avLst/>
          </a:prstGeom>
          <a:noFill/>
          <a:ln/>
        </p:spPr>
        <p:txBody>
          <a:bodyPr wrap="square" lIns="0" tIns="0" rIns="0" bIns="0" rtlCol="0" anchor="ctr"/>
          <a:lstStyle/>
          <a:p>
            <a:pPr indent="0" marL="0">
              <a:buNone/>
            </a:pPr>
            <a:r>
              <a:rPr lang="it-IT" sz="1100" dirty="0">
                <a:solidFill>
                  <a:schemeClr val="bg1"/>
                </a:solidFill>
              </a:rPr>
              <a:t>Verificati su fonti affidabili</a:t>
            </a:r>
            <a:endParaRPr lang="it-IT" sz="1100" dirty="0"/>
          </a:p>
        </p:txBody>
      </p:sp>
      <p:sp>
        <p:nvSpPr>
          <p:cNvPr id="13" name="Affermazioni probabili"/>
          <p:cNvSpPr/>
          <p:nvPr/>
        </p:nvSpPr>
        <p:spPr>
          <a:xfrm>
            <a:off x="457200" y="1664208"/>
            <a:ext cx="4023360" cy="493776"/>
          </a:xfrm>
          <a:prstGeom prst="roundRect">
            <a:avLst>
              <a:gd name="adj" fmla="val 14815"/>
            </a:avLst>
          </a:prstGeom>
          <a:solidFill>
            <a:schemeClr val="accent6"/>
          </a:solidFill>
          <a:ln/>
        </p:spPr>
      </p:sp>
      <p:sp>
        <p:nvSpPr>
          <p:cNvPr id="14" name="Text 11"/>
          <p:cNvSpPr txBox="1"/>
          <p:nvPr/>
        </p:nvSpPr>
        <p:spPr>
          <a:xfrm>
            <a:off x="594360" y="1664208"/>
            <a:ext cx="1920240" cy="493776"/>
          </a:xfrm>
          <a:prstGeom prst="rect">
            <a:avLst/>
          </a:prstGeom>
          <a:noFill/>
          <a:ln/>
        </p:spPr>
        <p:txBody>
          <a:bodyPr wrap="square" lIns="0" tIns="0" rIns="0" bIns="0" rtlCol="0" anchor="ctr"/>
          <a:lstStyle/>
          <a:p>
            <a:pPr indent="0" marL="0">
              <a:buNone/>
            </a:pPr>
            <a:r>
              <a:rPr lang="it-IT" sz="1300" b="1" dirty="0">
                <a:solidFill>
                  <a:schemeClr val="tx1"/>
                </a:solidFill>
              </a:rPr>
              <a:t>Affermazioni probabili</a:t>
            </a:r>
            <a:endParaRPr lang="it-IT" sz="1300" dirty="0"/>
          </a:p>
        </p:txBody>
      </p:sp>
      <p:sp>
        <p:nvSpPr>
          <p:cNvPr id="15" name="Text 12"/>
          <p:cNvSpPr txBox="1"/>
          <p:nvPr/>
        </p:nvSpPr>
        <p:spPr>
          <a:xfrm>
            <a:off x="2514600" y="1664208"/>
            <a:ext cx="1874520" cy="493776"/>
          </a:xfrm>
          <a:prstGeom prst="rect">
            <a:avLst/>
          </a:prstGeom>
          <a:noFill/>
          <a:ln/>
        </p:spPr>
        <p:txBody>
          <a:bodyPr wrap="square" lIns="0" tIns="0" rIns="0" bIns="0" rtlCol="0" anchor="ctr"/>
          <a:lstStyle/>
          <a:p>
            <a:pPr indent="0" marL="0">
              <a:buNone/>
            </a:pPr>
            <a:r>
              <a:rPr lang="it-IT" sz="1100" dirty="0">
                <a:solidFill>
                  <a:schemeClr val="tx1"/>
                </a:solidFill>
              </a:rPr>
              <a:t>Plausibili, non verificate</a:t>
            </a:r>
            <a:endParaRPr lang="it-IT" sz="1100" dirty="0"/>
          </a:p>
        </p:txBody>
      </p:sp>
      <p:sp>
        <p:nvSpPr>
          <p:cNvPr id="16" name="Ipotesi"/>
          <p:cNvSpPr/>
          <p:nvPr/>
        </p:nvSpPr>
        <p:spPr>
          <a:xfrm>
            <a:off x="457200" y="2231136"/>
            <a:ext cx="3840480" cy="493776"/>
          </a:xfrm>
          <a:prstGeom prst="roundRect">
            <a:avLst>
              <a:gd name="adj" fmla="val 14815"/>
            </a:avLst>
          </a:prstGeom>
          <a:solidFill>
            <a:schemeClr val="bg2"/>
          </a:solidFill>
          <a:ln/>
        </p:spPr>
      </p:sp>
      <p:sp>
        <p:nvSpPr>
          <p:cNvPr id="17" name="Text 14"/>
          <p:cNvSpPr txBox="1"/>
          <p:nvPr/>
        </p:nvSpPr>
        <p:spPr>
          <a:xfrm>
            <a:off x="594360" y="2231136"/>
            <a:ext cx="1920240" cy="493776"/>
          </a:xfrm>
          <a:prstGeom prst="rect">
            <a:avLst/>
          </a:prstGeom>
          <a:noFill/>
          <a:ln/>
        </p:spPr>
        <p:txBody>
          <a:bodyPr wrap="square" lIns="0" tIns="0" rIns="0" bIns="0" rtlCol="0" anchor="ctr"/>
          <a:lstStyle/>
          <a:p>
            <a:pPr indent="0" marL="0">
              <a:buNone/>
            </a:pPr>
            <a:r>
              <a:rPr lang="it-IT" sz="1300" b="1" dirty="0">
                <a:solidFill>
                  <a:schemeClr val="tx1"/>
                </a:solidFill>
              </a:rPr>
              <a:t>Ipotesi</a:t>
            </a:r>
            <a:endParaRPr lang="it-IT" sz="1300" dirty="0"/>
          </a:p>
        </p:txBody>
      </p:sp>
      <p:sp>
        <p:nvSpPr>
          <p:cNvPr id="18" name="Text 15"/>
          <p:cNvSpPr txBox="1"/>
          <p:nvPr/>
        </p:nvSpPr>
        <p:spPr>
          <a:xfrm>
            <a:off x="2514600" y="2231136"/>
            <a:ext cx="1691640" cy="493776"/>
          </a:xfrm>
          <a:prstGeom prst="rect">
            <a:avLst/>
          </a:prstGeom>
          <a:noFill/>
          <a:ln/>
        </p:spPr>
        <p:txBody>
          <a:bodyPr wrap="square" lIns="0" tIns="0" rIns="0" bIns="0" rtlCol="0" anchor="ctr"/>
          <a:lstStyle/>
          <a:p>
            <a:pPr indent="0" marL="0">
              <a:buNone/>
            </a:pPr>
            <a:r>
              <a:rPr lang="it-IT" sz="1100" dirty="0">
                <a:solidFill>
                  <a:schemeClr val="tx1"/>
                </a:solidFill>
              </a:rPr>
              <a:t>Possibili, senza evidenze sufficienti</a:t>
            </a:r>
            <a:endParaRPr lang="it-IT" sz="1100" dirty="0"/>
          </a:p>
        </p:txBody>
      </p:sp>
      <p:sp>
        <p:nvSpPr>
          <p:cNvPr id="19" name="Non verificati"/>
          <p:cNvSpPr/>
          <p:nvPr/>
        </p:nvSpPr>
        <p:spPr>
          <a:xfrm>
            <a:off x="457200" y="2798064"/>
            <a:ext cx="3657600" cy="493776"/>
          </a:xfrm>
          <a:prstGeom prst="roundRect">
            <a:avLst>
              <a:gd name="adj" fmla="val 14815"/>
            </a:avLst>
          </a:prstGeom>
          <a:solidFill>
            <a:schemeClr val="bg1"/>
          </a:solidFill>
          <a:ln w="12700">
            <a:solidFill>
              <a:schemeClr val="accent3"/>
            </a:solidFill>
            <a:prstDash val="dash"/>
          </a:ln>
        </p:spPr>
      </p:sp>
      <p:sp>
        <p:nvSpPr>
          <p:cNvPr id="20" name="Text 17"/>
          <p:cNvSpPr txBox="1"/>
          <p:nvPr/>
        </p:nvSpPr>
        <p:spPr>
          <a:xfrm>
            <a:off x="594360" y="2798064"/>
            <a:ext cx="1920240" cy="493776"/>
          </a:xfrm>
          <a:prstGeom prst="rect">
            <a:avLst/>
          </a:prstGeom>
          <a:noFill/>
          <a:ln/>
        </p:spPr>
        <p:txBody>
          <a:bodyPr wrap="square" lIns="0" tIns="0" rIns="0" bIns="0" rtlCol="0" anchor="ctr"/>
          <a:lstStyle/>
          <a:p>
            <a:pPr indent="0" marL="0">
              <a:buNone/>
            </a:pPr>
            <a:r>
              <a:rPr lang="it-IT" sz="1300" b="1" dirty="0">
                <a:solidFill>
                  <a:schemeClr val="tx1"/>
                </a:solidFill>
              </a:rPr>
              <a:t>Non verificati</a:t>
            </a:r>
            <a:endParaRPr lang="it-IT" sz="1300" dirty="0"/>
          </a:p>
        </p:txBody>
      </p:sp>
      <p:sp>
        <p:nvSpPr>
          <p:cNvPr id="21" name="Text 18"/>
          <p:cNvSpPr txBox="1"/>
          <p:nvPr/>
        </p:nvSpPr>
        <p:spPr>
          <a:xfrm>
            <a:off x="2514600" y="2798064"/>
            <a:ext cx="1508760" cy="493776"/>
          </a:xfrm>
          <a:prstGeom prst="rect">
            <a:avLst/>
          </a:prstGeom>
          <a:noFill/>
          <a:ln/>
        </p:spPr>
        <p:txBody>
          <a:bodyPr wrap="square" lIns="0" tIns="0" rIns="0" bIns="0" rtlCol="0" anchor="ctr"/>
          <a:lstStyle/>
          <a:p>
            <a:pPr indent="0" marL="0">
              <a:buNone/>
            </a:pPr>
            <a:r>
              <a:rPr lang="it-IT" sz="1100" dirty="0">
                <a:solidFill>
                  <a:schemeClr val="tx1"/>
                </a:solidFill>
              </a:rPr>
              <a:t>Affidabilità non nota</a:t>
            </a:r>
            <a:endParaRPr lang="it-IT" sz="1100" dirty="0"/>
          </a:p>
        </p:txBody>
      </p:sp>
      <p:sp>
        <p:nvSpPr>
          <p:cNvPr id="22" name="Text 19"/>
          <p:cNvSpPr txBox="1"/>
          <p:nvPr/>
        </p:nvSpPr>
        <p:spPr>
          <a:xfrm>
            <a:off x="457200" y="3364992"/>
            <a:ext cx="4206240" cy="228600"/>
          </a:xfrm>
          <a:prstGeom prst="rect">
            <a:avLst/>
          </a:prstGeom>
          <a:noFill/>
          <a:ln/>
        </p:spPr>
        <p:txBody>
          <a:bodyPr wrap="square" lIns="0" tIns="0" rIns="0" bIns="0" rtlCol="0" anchor="t"/>
          <a:lstStyle/>
          <a:p>
            <a:pPr indent="0" marL="0">
              <a:buNone/>
            </a:pPr>
            <a:r>
              <a:rPr lang="it-IT" sz="1000" i="1" dirty="0">
                <a:solidFill>
                  <a:schemeClr val="accent2"/>
                </a:solidFill>
              </a:rPr>
              <a:t>Livello di certezza decrescente</a:t>
            </a:r>
            <a:endParaRPr lang="it-IT" sz="1000" dirty="0"/>
          </a:p>
        </p:txBody>
      </p:sp>
      <p:sp>
        <p:nvSpPr>
          <p:cNvPr id="23" name="tono"/>
          <p:cNvSpPr/>
          <p:nvPr/>
        </p:nvSpPr>
        <p:spPr>
          <a:xfrm>
            <a:off x="4937760" y="1097280"/>
            <a:ext cx="3749040" cy="2496312"/>
          </a:xfrm>
          <a:prstGeom prst="roundRect">
            <a:avLst>
              <a:gd name="adj" fmla="val 2930"/>
            </a:avLst>
          </a:prstGeom>
          <a:solidFill>
            <a:schemeClr val="tx1"/>
          </a:solidFill>
          <a:ln/>
        </p:spPr>
      </p:sp>
      <p:sp>
        <p:nvSpPr>
          <p:cNvPr id="24" name="Text 21"/>
          <p:cNvSpPr txBox="1"/>
          <p:nvPr/>
        </p:nvSpPr>
        <p:spPr>
          <a:xfrm>
            <a:off x="5120640" y="1207008"/>
            <a:ext cx="3383280" cy="411480"/>
          </a:xfrm>
          <a:prstGeom prst="rect">
            <a:avLst/>
          </a:prstGeom>
          <a:noFill/>
          <a:ln/>
        </p:spPr>
        <p:txBody>
          <a:bodyPr wrap="square" lIns="0" tIns="0" rIns="0" bIns="0" rtlCol="0" anchor="t"/>
          <a:lstStyle/>
          <a:p>
            <a:pPr indent="0" marL="0">
              <a:buNone/>
            </a:pPr>
            <a:r>
              <a:rPr lang="it-IT" sz="1500" b="1" dirty="0">
                <a:solidFill>
                  <a:schemeClr val="bg1"/>
                </a:solidFill>
              </a:rPr>
              <a:t>Il tono non misura la correttezza</a:t>
            </a:r>
            <a:endParaRPr lang="it-IT" sz="1500" dirty="0"/>
          </a:p>
        </p:txBody>
      </p:sp>
      <p:sp>
        <p:nvSpPr>
          <p:cNvPr id="25" name="Text 22"/>
          <p:cNvSpPr txBox="1"/>
          <p:nvPr/>
        </p:nvSpPr>
        <p:spPr>
          <a:xfrm>
            <a:off x="5120640" y="1691640"/>
            <a:ext cx="3383280" cy="1783080"/>
          </a:xfrm>
          <a:prstGeom prst="rect">
            <a:avLst/>
          </a:prstGeom>
          <a:noFill/>
          <a:ln/>
        </p:spPr>
        <p:txBody>
          <a:bodyPr wrap="square" lIns="0" tIns="0" rIns="0" bIns="0" rtlCol="0" anchor="t"/>
          <a:lstStyle/>
          <a:p>
            <a:pPr indent="0" marL="0">
              <a:buNone/>
            </a:pPr>
            <a:r>
              <a:rPr lang="it-IT" sz="1300" dirty="0">
                <a:solidFill>
                  <a:schemeClr val="accent3"/>
                </a:solidFill>
              </a:rPr>
              <a:t>Anche un grado di certezza dichiarato dal modello, per esempio "90%", non è automaticamente una probabilità calibrata: è un indizio, non una misura.</a:t>
            </a:r>
            <a:endParaRPr lang="it-IT" sz="1300" dirty="0"/>
          </a:p>
        </p:txBody>
      </p:sp>
      <p:sp>
        <p:nvSpPr>
          <p:cNvPr id="26" name="Text 23"/>
          <p:cNvSpPr txBox="1"/>
          <p:nvPr/>
        </p:nvSpPr>
        <p:spPr>
          <a:xfrm>
            <a:off x="457200" y="3703320"/>
            <a:ext cx="8229600" cy="274320"/>
          </a:xfrm>
          <a:prstGeom prst="rect">
            <a:avLst/>
          </a:prstGeom>
          <a:noFill/>
          <a:ln/>
        </p:spPr>
        <p:txBody>
          <a:bodyPr wrap="square" lIns="0" tIns="0" rIns="0" bIns="0" rtlCol="0" anchor="t"/>
          <a:lstStyle/>
          <a:p>
            <a:pPr indent="0" marL="0">
              <a:buNone/>
            </a:pPr>
            <a:r>
              <a:rPr lang="it-IT" sz="1200" b="1" dirty="0">
                <a:solidFill>
                  <a:schemeClr val="tx1"/>
                </a:solidFill>
              </a:rPr>
              <a:t>Più utile chiedere elementi controllabili:</a:t>
            </a:r>
            <a:endParaRPr lang="it-IT" sz="1200" dirty="0"/>
          </a:p>
        </p:txBody>
      </p:sp>
      <p:sp>
        <p:nvSpPr>
          <p:cNvPr id="27" name="blocco Su quali fonti si basa?"/>
          <p:cNvSpPr/>
          <p:nvPr/>
        </p:nvSpPr>
        <p:spPr>
          <a:xfrm>
            <a:off x="457200" y="4023360"/>
            <a:ext cx="1975104" cy="457200"/>
          </a:xfrm>
          <a:prstGeom prst="roundRect">
            <a:avLst>
              <a:gd name="adj" fmla="val 24000"/>
            </a:avLst>
          </a:prstGeom>
          <a:solidFill>
            <a:schemeClr val="accent6"/>
          </a:solidFill>
          <a:ln/>
        </p:spPr>
      </p:sp>
      <p:sp>
        <p:nvSpPr>
          <p:cNvPr id="28" name="Text 25"/>
          <p:cNvSpPr txBox="1"/>
          <p:nvPr/>
        </p:nvSpPr>
        <p:spPr>
          <a:xfrm>
            <a:off x="502920" y="4023360"/>
            <a:ext cx="1883664" cy="457200"/>
          </a:xfrm>
          <a:prstGeom prst="rect">
            <a:avLst/>
          </a:prstGeom>
          <a:noFill/>
          <a:ln/>
        </p:spPr>
        <p:txBody>
          <a:bodyPr wrap="square" lIns="0" tIns="0" rIns="0" bIns="0" rtlCol="0" anchor="ctr"/>
          <a:lstStyle/>
          <a:p>
            <a:pPr algn="ctr" indent="0" marL="0">
              <a:buNone/>
            </a:pPr>
            <a:r>
              <a:rPr lang="it-IT" sz="1200" b="1" dirty="0">
                <a:solidFill>
                  <a:schemeClr val="tx1"/>
                </a:solidFill>
              </a:rPr>
              <a:t>Su quali fonti si basa?</a:t>
            </a:r>
            <a:endParaRPr lang="it-IT" sz="1200" dirty="0"/>
          </a:p>
        </p:txBody>
      </p:sp>
      <p:sp>
        <p:nvSpPr>
          <p:cNvPr id="29" name="blocco Quali assunzioni?"/>
          <p:cNvSpPr/>
          <p:nvPr/>
        </p:nvSpPr>
        <p:spPr>
          <a:xfrm>
            <a:off x="2551176" y="4023360"/>
            <a:ext cx="1975104" cy="457200"/>
          </a:xfrm>
          <a:prstGeom prst="roundRect">
            <a:avLst>
              <a:gd name="adj" fmla="val 24000"/>
            </a:avLst>
          </a:prstGeom>
          <a:solidFill>
            <a:schemeClr val="accent6"/>
          </a:solidFill>
          <a:ln/>
        </p:spPr>
      </p:sp>
      <p:sp>
        <p:nvSpPr>
          <p:cNvPr id="30" name="Text 27"/>
          <p:cNvSpPr txBox="1"/>
          <p:nvPr/>
        </p:nvSpPr>
        <p:spPr>
          <a:xfrm>
            <a:off x="2596896" y="4023360"/>
            <a:ext cx="1883664" cy="457200"/>
          </a:xfrm>
          <a:prstGeom prst="rect">
            <a:avLst/>
          </a:prstGeom>
          <a:noFill/>
          <a:ln/>
        </p:spPr>
        <p:txBody>
          <a:bodyPr wrap="square" lIns="0" tIns="0" rIns="0" bIns="0" rtlCol="0" anchor="ctr"/>
          <a:lstStyle/>
          <a:p>
            <a:pPr algn="ctr" indent="0" marL="0">
              <a:buNone/>
            </a:pPr>
            <a:r>
              <a:rPr lang="it-IT" sz="1200" b="1" dirty="0">
                <a:solidFill>
                  <a:schemeClr val="tx1"/>
                </a:solidFill>
              </a:rPr>
              <a:t>Quali assunzioni?</a:t>
            </a:r>
            <a:endParaRPr lang="it-IT" sz="1200" dirty="0"/>
          </a:p>
        </p:txBody>
      </p:sp>
      <p:sp>
        <p:nvSpPr>
          <p:cNvPr id="31" name="blocco Quali limiti?"/>
          <p:cNvSpPr/>
          <p:nvPr/>
        </p:nvSpPr>
        <p:spPr>
          <a:xfrm>
            <a:off x="4645152" y="4023360"/>
            <a:ext cx="1975104" cy="457200"/>
          </a:xfrm>
          <a:prstGeom prst="roundRect">
            <a:avLst>
              <a:gd name="adj" fmla="val 24000"/>
            </a:avLst>
          </a:prstGeom>
          <a:solidFill>
            <a:schemeClr val="accent6"/>
          </a:solidFill>
          <a:ln/>
        </p:spPr>
      </p:sp>
      <p:sp>
        <p:nvSpPr>
          <p:cNvPr id="32" name="Text 29"/>
          <p:cNvSpPr txBox="1"/>
          <p:nvPr/>
        </p:nvSpPr>
        <p:spPr>
          <a:xfrm>
            <a:off x="4690872" y="4023360"/>
            <a:ext cx="1883664" cy="457200"/>
          </a:xfrm>
          <a:prstGeom prst="rect">
            <a:avLst/>
          </a:prstGeom>
          <a:noFill/>
          <a:ln/>
        </p:spPr>
        <p:txBody>
          <a:bodyPr wrap="square" lIns="0" tIns="0" rIns="0" bIns="0" rtlCol="0" anchor="ctr"/>
          <a:lstStyle/>
          <a:p>
            <a:pPr algn="ctr" indent="0" marL="0">
              <a:buNone/>
            </a:pPr>
            <a:r>
              <a:rPr lang="it-IT" sz="1200" b="1" dirty="0">
                <a:solidFill>
                  <a:schemeClr val="tx1"/>
                </a:solidFill>
              </a:rPr>
              <a:t>Quali limiti?</a:t>
            </a:r>
            <a:endParaRPr lang="it-IT" sz="1200" dirty="0"/>
          </a:p>
        </p:txBody>
      </p:sp>
      <p:sp>
        <p:nvSpPr>
          <p:cNvPr id="33" name="blocco Che cosa va verificato?"/>
          <p:cNvSpPr/>
          <p:nvPr/>
        </p:nvSpPr>
        <p:spPr>
          <a:xfrm>
            <a:off x="6739128" y="4023360"/>
            <a:ext cx="1975104" cy="457200"/>
          </a:xfrm>
          <a:prstGeom prst="roundRect">
            <a:avLst>
              <a:gd name="adj" fmla="val 24000"/>
            </a:avLst>
          </a:prstGeom>
          <a:solidFill>
            <a:schemeClr val="accent6"/>
          </a:solidFill>
          <a:ln/>
        </p:spPr>
      </p:sp>
      <p:sp>
        <p:nvSpPr>
          <p:cNvPr id="34" name="Text 31"/>
          <p:cNvSpPr txBox="1"/>
          <p:nvPr/>
        </p:nvSpPr>
        <p:spPr>
          <a:xfrm>
            <a:off x="6784848" y="4023360"/>
            <a:ext cx="1883664" cy="457200"/>
          </a:xfrm>
          <a:prstGeom prst="rect">
            <a:avLst/>
          </a:prstGeom>
          <a:noFill/>
          <a:ln/>
        </p:spPr>
        <p:txBody>
          <a:bodyPr wrap="square" lIns="0" tIns="0" rIns="0" bIns="0" rtlCol="0" anchor="ctr"/>
          <a:lstStyle/>
          <a:p>
            <a:pPr algn="ctr" indent="0" marL="0">
              <a:buNone/>
            </a:pPr>
            <a:r>
              <a:rPr lang="it-IT" sz="1200" b="1" dirty="0">
                <a:solidFill>
                  <a:schemeClr val="tx1"/>
                </a:solidFill>
              </a:rPr>
              <a:t>Che cosa va verificato?</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it-IT" sz="2600" dirty="0">
                <a:solidFill>
                  <a:schemeClr val="bg1"/>
                </a:solidFill>
              </a:rPr>
              <a:t>Una risposta professionale nella forma può essere errata, incompleta o inadatta allo scopo.</a:t>
            </a:r>
            <a:endParaRPr lang="it-IT"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it-IT" sz="1300" dirty="0">
                <a:solidFill>
                  <a:schemeClr val="accent3"/>
                </a:solidFill>
              </a:rPr>
              <a:t>Sottotema 7.2  ·  Valutare la qualità di un output</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7.3</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Verifica delle informazioni e delle fonti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Una citazione non è automaticamente una prova: la fonte deve essere autentica, pertinente e sostenere l'affermazione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verificare: i punti critici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testo esempio"/>
          <p:cNvSpPr/>
          <p:nvPr/>
        </p:nvSpPr>
        <p:spPr>
          <a:xfrm>
            <a:off x="457200" y="1097280"/>
            <a:ext cx="4937760" cy="2651760"/>
          </a:xfrm>
          <a:prstGeom prst="roundRect">
            <a:avLst>
              <a:gd name="adj" fmla="val 2759"/>
            </a:avLst>
          </a:prstGeom>
          <a:solidFill>
            <a:schemeClr val="bg2"/>
          </a:solidFill>
          <a:ln/>
        </p:spPr>
      </p:sp>
      <p:sp>
        <p:nvSpPr>
          <p:cNvPr id="11" name="Text 8"/>
          <p:cNvSpPr txBox="1"/>
          <p:nvPr/>
        </p:nvSpPr>
        <p:spPr>
          <a:xfrm>
            <a:off x="640080" y="1188720"/>
            <a:ext cx="4572000" cy="274320"/>
          </a:xfrm>
          <a:prstGeom prst="rect">
            <a:avLst/>
          </a:prstGeom>
          <a:noFill/>
          <a:ln/>
        </p:spPr>
        <p:txBody>
          <a:bodyPr wrap="square" lIns="0" tIns="0" rIns="0" bIns="0" rtlCol="0" anchor="t"/>
          <a:lstStyle/>
          <a:p>
            <a:pPr indent="0" marL="0">
              <a:buNone/>
            </a:pPr>
            <a:r>
              <a:rPr lang="it-IT" sz="1100" b="1" dirty="0">
                <a:solidFill>
                  <a:schemeClr val="accent1"/>
                </a:solidFill>
              </a:rPr>
              <a:t>Esempio: testo prodotto dall'AI</a:t>
            </a:r>
            <a:endParaRPr lang="it-IT" sz="1100" dirty="0"/>
          </a:p>
        </p:txBody>
      </p:sp>
      <p:sp>
        <p:nvSpPr>
          <p:cNvPr id="12" name="Text 9"/>
          <p:cNvSpPr txBox="1"/>
          <p:nvPr/>
        </p:nvSpPr>
        <p:spPr>
          <a:xfrm>
            <a:off x="640080" y="1536192"/>
            <a:ext cx="4572000" cy="1737360"/>
          </a:xfrm>
          <a:prstGeom prst="rect">
            <a:avLst/>
          </a:prstGeom>
          <a:noFill/>
          <a:ln/>
        </p:spPr>
        <p:txBody>
          <a:bodyPr wrap="square" lIns="0" tIns="0" rIns="0" bIns="0" rtlCol="0" anchor="t"/>
          <a:lstStyle/>
          <a:p>
            <a:pPr indent="0" marL="0">
              <a:buNone/>
            </a:pPr>
            <a:r>
              <a:rPr lang="it-IT" sz="1300" dirty="0">
                <a:solidFill>
                  <a:schemeClr val="tx2"/>
                </a:solidFill>
              </a:rPr>
              <a:t>Il lavoro agile è sempre più diffuso nelle aziende italiane. </a:t>
            </a:r>
            <a:pPr indent="0" marL="0">
              <a:buNone/>
            </a:pPr>
            <a:r>
              <a:rPr lang="it-IT" sz="1300" b="1" dirty="0">
                <a:solidFill>
                  <a:schemeClr val="tx1"/>
                </a:solidFill>
                <a:highlight>
                  <a:srgbClr val="E6F0EF"/>
                </a:highlight>
              </a:rPr>
              <a:t>Secondo l'Osservatorio X, nel 2025 lo praticavano 3,5 milioni di lavoratori</a:t>
            </a:r>
            <a:pPr indent="0" marL="0">
              <a:buNone/>
            </a:pPr>
            <a:r>
              <a:rPr lang="it-IT" sz="1300" dirty="0">
                <a:solidFill>
                  <a:schemeClr val="tx2"/>
                </a:solidFill>
              </a:rPr>
              <a:t>, </a:t>
            </a:r>
            <a:pPr indent="0" marL="0">
              <a:buNone/>
            </a:pPr>
            <a:r>
              <a:rPr lang="it-IT" sz="1300" b="1" dirty="0">
                <a:solidFill>
                  <a:schemeClr val="tx1"/>
                </a:solidFill>
                <a:highlight>
                  <a:srgbClr val="E6F0EF"/>
                </a:highlight>
              </a:rPr>
              <a:t>in crescita del 10% rispetto all'anno precedente</a:t>
            </a:r>
            <a:pPr indent="0" marL="0">
              <a:buNone/>
            </a:pPr>
            <a:r>
              <a:rPr lang="it-IT" sz="1300" dirty="0">
                <a:solidFill>
                  <a:schemeClr val="tx2"/>
                </a:solidFill>
              </a:rPr>
              <a:t>. </a:t>
            </a:r>
            <a:pPr indent="0" marL="0">
              <a:buNone/>
            </a:pPr>
            <a:r>
              <a:rPr lang="it-IT" sz="1300" b="1" dirty="0">
                <a:solidFill>
                  <a:schemeClr val="tx1"/>
                </a:solidFill>
                <a:highlight>
                  <a:srgbClr val="E6F0EF"/>
                </a:highlight>
              </a:rPr>
              <a:t>La normativa di riferimento è la legge 81 del 2017</a:t>
            </a:r>
            <a:pPr indent="0" marL="0">
              <a:buNone/>
            </a:pPr>
            <a:r>
              <a:rPr lang="it-IT" sz="1300" dirty="0">
                <a:solidFill>
                  <a:schemeClr val="tx2"/>
                </a:solidFill>
              </a:rPr>
              <a:t>. Si tratta di un'opportunità importante per migliorare il benessere dei dipendenti.</a:t>
            </a:r>
            <a:endParaRPr lang="it-IT" sz="1300" dirty="0"/>
          </a:p>
        </p:txBody>
      </p:sp>
      <p:sp>
        <p:nvSpPr>
          <p:cNvPr id="13" name="Text 10"/>
          <p:cNvSpPr txBox="1"/>
          <p:nvPr/>
        </p:nvSpPr>
        <p:spPr>
          <a:xfrm>
            <a:off x="640080" y="3337560"/>
            <a:ext cx="4572000" cy="320040"/>
          </a:xfrm>
          <a:prstGeom prst="rect">
            <a:avLst/>
          </a:prstGeom>
          <a:noFill/>
          <a:ln/>
        </p:spPr>
        <p:txBody>
          <a:bodyPr wrap="square" lIns="0" tIns="0" rIns="0" bIns="0" rtlCol="0" anchor="t"/>
          <a:lstStyle/>
          <a:p>
            <a:pPr indent="0" marL="0">
              <a:buNone/>
            </a:pPr>
            <a:r>
              <a:rPr lang="it-IT" sz="1000" i="1" dirty="0">
                <a:solidFill>
                  <a:schemeClr val="accent2"/>
                </a:solidFill>
              </a:rPr>
              <a:t>In evidenza: affermazioni da verificare. Esempio illustrativo, dati non verificati.</a:t>
            </a:r>
            <a:endParaRPr lang="it-IT" sz="1000" dirty="0"/>
          </a:p>
        </p:txBody>
      </p:sp>
      <p:sp>
        <p:nvSpPr>
          <p:cNvPr id="14" name="Text 11"/>
          <p:cNvSpPr txBox="1"/>
          <p:nvPr/>
        </p:nvSpPr>
        <p:spPr>
          <a:xfrm>
            <a:off x="5669280" y="1097280"/>
            <a:ext cx="3017520" cy="320040"/>
          </a:xfrm>
          <a:prstGeom prst="rect">
            <a:avLst/>
          </a:prstGeom>
          <a:noFill/>
          <a:ln/>
        </p:spPr>
        <p:txBody>
          <a:bodyPr wrap="square" lIns="0" tIns="0" rIns="0" bIns="0" rtlCol="0" anchor="t"/>
          <a:lstStyle/>
          <a:p>
            <a:pPr indent="0" marL="0">
              <a:buNone/>
            </a:pPr>
            <a:r>
              <a:rPr lang="it-IT" sz="1400" b="1" dirty="0">
                <a:solidFill>
                  <a:schemeClr val="tx1"/>
                </a:solidFill>
              </a:rPr>
              <a:t>Criteri per scegliere</a:t>
            </a:r>
            <a:endParaRPr lang="it-IT" sz="1400" dirty="0"/>
          </a:p>
        </p:txBody>
      </p:sp>
      <p:sp>
        <p:nvSpPr>
          <p:cNvPr id="15" name="cerchio FiStar"/>
          <p:cNvSpPr/>
          <p:nvPr/>
        </p:nvSpPr>
        <p:spPr>
          <a:xfrm>
            <a:off x="5669280" y="1508760"/>
            <a:ext cx="457200" cy="457200"/>
          </a:xfrm>
          <a:prstGeom prst="ellipse">
            <a:avLst/>
          </a:prstGeom>
          <a:solidFill>
            <a:schemeClr val="accent1"/>
          </a:solidFill>
          <a:ln/>
        </p:spPr>
      </p:sp>
      <p:pic>
        <p:nvPicPr>
          <p:cNvPr id="16" name="Image 0" descr="FiStar">    </p:cNvPr>
          <p:cNvPicPr>
            <a:picLocks noChangeAspect="1"/>
          </p:cNvPicPr>
          <p:nvPr/>
        </p:nvPicPr>
        <p:blipFill>
          <a:blip r:embed="rId1"/>
          <a:stretch>
            <a:fillRect/>
          </a:stretch>
        </p:blipFill>
        <p:spPr>
          <a:xfrm>
            <a:off x="5783580" y="1623060"/>
            <a:ext cx="228600" cy="228600"/>
          </a:xfrm>
          <a:prstGeom prst="rect">
            <a:avLst/>
          </a:prstGeom>
        </p:spPr>
      </p:pic>
      <p:sp>
        <p:nvSpPr>
          <p:cNvPr id="17" name="Text 13"/>
          <p:cNvSpPr txBox="1"/>
          <p:nvPr/>
        </p:nvSpPr>
        <p:spPr>
          <a:xfrm>
            <a:off x="6263640" y="1481328"/>
            <a:ext cx="2423160" cy="292608"/>
          </a:xfrm>
          <a:prstGeom prst="rect">
            <a:avLst/>
          </a:prstGeom>
          <a:noFill/>
          <a:ln/>
        </p:spPr>
        <p:txBody>
          <a:bodyPr wrap="square" lIns="0" tIns="0" rIns="0" bIns="0" rtlCol="0" anchor="t"/>
          <a:lstStyle/>
          <a:p>
            <a:pPr indent="0" marL="0">
              <a:buNone/>
            </a:pPr>
            <a:r>
              <a:rPr lang="it-IT" sz="1300" b="1" dirty="0">
                <a:solidFill>
                  <a:schemeClr val="tx1"/>
                </a:solidFill>
              </a:rPr>
              <a:t>Importanza</a:t>
            </a:r>
            <a:endParaRPr lang="it-IT" sz="1300" dirty="0"/>
          </a:p>
        </p:txBody>
      </p:sp>
      <p:sp>
        <p:nvSpPr>
          <p:cNvPr id="18" name="Text 14"/>
          <p:cNvSpPr txBox="1"/>
          <p:nvPr/>
        </p:nvSpPr>
        <p:spPr>
          <a:xfrm>
            <a:off x="6263640" y="1764792"/>
            <a:ext cx="2423160" cy="365760"/>
          </a:xfrm>
          <a:prstGeom prst="rect">
            <a:avLst/>
          </a:prstGeom>
          <a:noFill/>
          <a:ln/>
        </p:spPr>
        <p:txBody>
          <a:bodyPr wrap="square" lIns="0" tIns="0" rIns="0" bIns="0" rtlCol="0" anchor="t"/>
          <a:lstStyle/>
          <a:p>
            <a:pPr indent="0" marL="0">
              <a:buNone/>
            </a:pPr>
            <a:r>
              <a:rPr lang="it-IT" sz="1100" dirty="0">
                <a:solidFill>
                  <a:schemeClr val="tx2"/>
                </a:solidFill>
              </a:rPr>
              <a:t>Quanto pesa sulla decisione</a:t>
            </a:r>
            <a:endParaRPr lang="it-IT" sz="1100" dirty="0"/>
          </a:p>
        </p:txBody>
      </p:sp>
      <p:sp>
        <p:nvSpPr>
          <p:cNvPr id="19" name="cerchio FiAlertTriangle"/>
          <p:cNvSpPr/>
          <p:nvPr/>
        </p:nvSpPr>
        <p:spPr>
          <a:xfrm>
            <a:off x="5669280" y="2258568"/>
            <a:ext cx="457200" cy="457200"/>
          </a:xfrm>
          <a:prstGeom prst="ellipse">
            <a:avLst/>
          </a:prstGeom>
          <a:solidFill>
            <a:schemeClr val="accent1"/>
          </a:solidFill>
          <a:ln/>
        </p:spPr>
      </p:sp>
      <p:pic>
        <p:nvPicPr>
          <p:cNvPr id="20" name="Image 1" descr="FiAlertTriangle">    </p:cNvPr>
          <p:cNvPicPr>
            <a:picLocks noChangeAspect="1"/>
          </p:cNvPicPr>
          <p:nvPr/>
        </p:nvPicPr>
        <p:blipFill>
          <a:blip r:embed="rId2"/>
          <a:stretch>
            <a:fillRect/>
          </a:stretch>
        </p:blipFill>
        <p:spPr>
          <a:xfrm>
            <a:off x="5783580" y="2372868"/>
            <a:ext cx="228600" cy="228600"/>
          </a:xfrm>
          <a:prstGeom prst="rect">
            <a:avLst/>
          </a:prstGeom>
        </p:spPr>
      </p:pic>
      <p:sp>
        <p:nvSpPr>
          <p:cNvPr id="21" name="Text 16"/>
          <p:cNvSpPr txBox="1"/>
          <p:nvPr/>
        </p:nvSpPr>
        <p:spPr>
          <a:xfrm>
            <a:off x="6263640" y="2231136"/>
            <a:ext cx="2423160" cy="292608"/>
          </a:xfrm>
          <a:prstGeom prst="rect">
            <a:avLst/>
          </a:prstGeom>
          <a:noFill/>
          <a:ln/>
        </p:spPr>
        <p:txBody>
          <a:bodyPr wrap="square" lIns="0" tIns="0" rIns="0" bIns="0" rtlCol="0" anchor="t"/>
          <a:lstStyle/>
          <a:p>
            <a:pPr indent="0" marL="0">
              <a:buNone/>
            </a:pPr>
            <a:r>
              <a:rPr lang="it-IT" sz="1300" b="1" dirty="0">
                <a:solidFill>
                  <a:schemeClr val="tx1"/>
                </a:solidFill>
              </a:rPr>
              <a:t>Rischio di errore</a:t>
            </a:r>
            <a:endParaRPr lang="it-IT" sz="1300" dirty="0"/>
          </a:p>
        </p:txBody>
      </p:sp>
      <p:sp>
        <p:nvSpPr>
          <p:cNvPr id="22" name="Text 17"/>
          <p:cNvSpPr txBox="1"/>
          <p:nvPr/>
        </p:nvSpPr>
        <p:spPr>
          <a:xfrm>
            <a:off x="6263640" y="2514600"/>
            <a:ext cx="2423160" cy="365760"/>
          </a:xfrm>
          <a:prstGeom prst="rect">
            <a:avLst/>
          </a:prstGeom>
          <a:noFill/>
          <a:ln/>
        </p:spPr>
        <p:txBody>
          <a:bodyPr wrap="square" lIns="0" tIns="0" rIns="0" bIns="0" rtlCol="0" anchor="t"/>
          <a:lstStyle/>
          <a:p>
            <a:pPr indent="0" marL="0">
              <a:buNone/>
            </a:pPr>
            <a:r>
              <a:rPr lang="it-IT" sz="1100" dirty="0">
                <a:solidFill>
                  <a:schemeClr val="tx2"/>
                </a:solidFill>
              </a:rPr>
              <a:t>Numeri, date, nomi, norme, novità</a:t>
            </a:r>
            <a:endParaRPr lang="it-IT" sz="1100" dirty="0"/>
          </a:p>
        </p:txBody>
      </p:sp>
      <p:sp>
        <p:nvSpPr>
          <p:cNvPr id="23" name="cerchio FiEye"/>
          <p:cNvSpPr/>
          <p:nvPr/>
        </p:nvSpPr>
        <p:spPr>
          <a:xfrm>
            <a:off x="5669280" y="3008376"/>
            <a:ext cx="457200" cy="457200"/>
          </a:xfrm>
          <a:prstGeom prst="ellipse">
            <a:avLst/>
          </a:prstGeom>
          <a:solidFill>
            <a:schemeClr val="accent1"/>
          </a:solidFill>
          <a:ln/>
        </p:spPr>
      </p:sp>
      <p:pic>
        <p:nvPicPr>
          <p:cNvPr id="24" name="Image 2" descr="FiEye">    </p:cNvPr>
          <p:cNvPicPr>
            <a:picLocks noChangeAspect="1"/>
          </p:cNvPicPr>
          <p:nvPr/>
        </p:nvPicPr>
        <p:blipFill>
          <a:blip r:embed="rId3"/>
          <a:stretch>
            <a:fillRect/>
          </a:stretch>
        </p:blipFill>
        <p:spPr>
          <a:xfrm>
            <a:off x="5783580" y="3122676"/>
            <a:ext cx="228600" cy="228600"/>
          </a:xfrm>
          <a:prstGeom prst="rect">
            <a:avLst/>
          </a:prstGeom>
        </p:spPr>
      </p:pic>
      <p:sp>
        <p:nvSpPr>
          <p:cNvPr id="25" name="Text 19"/>
          <p:cNvSpPr txBox="1"/>
          <p:nvPr/>
        </p:nvSpPr>
        <p:spPr>
          <a:xfrm>
            <a:off x="6263640" y="2980944"/>
            <a:ext cx="2423160" cy="292608"/>
          </a:xfrm>
          <a:prstGeom prst="rect">
            <a:avLst/>
          </a:prstGeom>
          <a:noFill/>
          <a:ln/>
        </p:spPr>
        <p:txBody>
          <a:bodyPr wrap="square" lIns="0" tIns="0" rIns="0" bIns="0" rtlCol="0" anchor="t"/>
          <a:lstStyle/>
          <a:p>
            <a:pPr indent="0" marL="0">
              <a:buNone/>
            </a:pPr>
            <a:r>
              <a:rPr lang="it-IT" sz="1300" b="1" dirty="0">
                <a:solidFill>
                  <a:schemeClr val="tx1"/>
                </a:solidFill>
              </a:rPr>
              <a:t>Visibilità</a:t>
            </a:r>
            <a:endParaRPr lang="it-IT" sz="1300" dirty="0"/>
          </a:p>
        </p:txBody>
      </p:sp>
      <p:sp>
        <p:nvSpPr>
          <p:cNvPr id="26" name="Text 20"/>
          <p:cNvSpPr txBox="1"/>
          <p:nvPr/>
        </p:nvSpPr>
        <p:spPr>
          <a:xfrm>
            <a:off x="6263640" y="3264408"/>
            <a:ext cx="2423160" cy="365760"/>
          </a:xfrm>
          <a:prstGeom prst="rect">
            <a:avLst/>
          </a:prstGeom>
          <a:noFill/>
          <a:ln/>
        </p:spPr>
        <p:txBody>
          <a:bodyPr wrap="square" lIns="0" tIns="0" rIns="0" bIns="0" rtlCol="0" anchor="t"/>
          <a:lstStyle/>
          <a:p>
            <a:pPr indent="0" marL="0">
              <a:buNone/>
            </a:pPr>
            <a:r>
              <a:rPr lang="it-IT" sz="1100" dirty="0">
                <a:solidFill>
                  <a:schemeClr val="tx2"/>
                </a:solidFill>
              </a:rPr>
              <a:t>Quanto l'errore sarebbe esposto</a:t>
            </a:r>
            <a:endParaRPr lang="it-IT" sz="1100" dirty="0"/>
          </a:p>
        </p:txBody>
      </p:sp>
      <p:sp>
        <p:nvSpPr>
          <p:cNvPr id="27" name="dettagli"/>
          <p:cNvSpPr/>
          <p:nvPr/>
        </p:nvSpPr>
        <p:spPr>
          <a:xfrm>
            <a:off x="457200" y="3886200"/>
            <a:ext cx="8229600" cy="640080"/>
          </a:xfrm>
          <a:prstGeom prst="roundRect">
            <a:avLst>
              <a:gd name="adj" fmla="val 11429"/>
            </a:avLst>
          </a:prstGeom>
          <a:solidFill>
            <a:schemeClr val="tx1"/>
          </a:solidFill>
          <a:ln/>
        </p:spPr>
      </p:sp>
      <p:sp>
        <p:nvSpPr>
          <p:cNvPr id="28" name="Text 22"/>
          <p:cNvSpPr txBox="1"/>
          <p:nvPr/>
        </p:nvSpPr>
        <p:spPr>
          <a:xfrm>
            <a:off x="640080" y="3886200"/>
            <a:ext cx="7863840" cy="640080"/>
          </a:xfrm>
          <a:prstGeom prst="rect">
            <a:avLst/>
          </a:prstGeom>
          <a:noFill/>
          <a:ln/>
        </p:spPr>
        <p:txBody>
          <a:bodyPr wrap="square" lIns="0" tIns="0" rIns="0" bIns="0" rtlCol="0" anchor="ctr"/>
          <a:lstStyle/>
          <a:p>
            <a:pPr indent="0" marL="0">
              <a:buNone/>
            </a:pPr>
            <a:r>
              <a:rPr lang="it-IT" sz="1300" b="1" dirty="0">
                <a:solidFill>
                  <a:schemeClr val="accent1"/>
                </a:solidFill>
              </a:rPr>
              <a:t>Date, nomi, numeri, riferimenti: </a:t>
            </a:r>
            <a:pPr indent="0" marL="0">
              <a:buNone/>
            </a:pPr>
            <a:r>
              <a:rPr lang="it-IT" sz="1300" dirty="0">
                <a:solidFill>
                  <a:schemeClr val="bg1"/>
                </a:solidFill>
              </a:rPr>
              <a:t>controllarli uno per uno, con la fonte aperta accanto, nei documenti esterni o per decisioni.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Fonti, ricerca e sintesi dell'AI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25880"/>
                <a:gridCol w="2377440"/>
                <a:gridCol w="2103120"/>
                <a:gridCol w="2423160"/>
              </a:tblGrid>
              <a:tr h="384048">
                <a:tc>
                  <a:txBody>
                    <a:bodyPr/>
                    <a:lstStyle/>
                    <a:p>
                      <a:pPr indent="0" marL="0">
                        <a:buNone/>
                      </a:pP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b="1" dirty="0">
                          <a:solidFill>
                            <a:schemeClr val="bg1"/>
                          </a:solidFill>
                        </a:rPr>
                        <a:t>Fonte documentale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Strumento di ricerca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Sistema di sintesi o elaborazione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960120">
                <a:tc>
                  <a:txBody>
                    <a:bodyPr/>
                    <a:lstStyle/>
                    <a:p>
                      <a:pPr indent="0" marL="0">
                        <a:buNone/>
                      </a:pPr>
                      <a:r>
                        <a:rPr lang="it-IT" sz="1100" b="1" dirty="0">
                          <a:solidFill>
                            <a:schemeClr val="tx1"/>
                          </a:solidFill>
                        </a:rPr>
                        <a:t>Che cos'è</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Il documento che contiene l'informazione: primaria (legge, bilancio, contratto) o secondaria (articolo, sintesi)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Trova e ordina documenti: motore di ricerca, banca dati, ricerca interna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Riassume, combina, riformula: un assistente AI, con o senza ricerca e documenti forniti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731520">
                <a:tc>
                  <a:txBody>
                    <a:bodyPr/>
                    <a:lstStyle/>
                    <a:p>
                      <a:pPr indent="0" marL="0">
                        <a:buNone/>
                      </a:pPr>
                      <a:r>
                        <a:rPr lang="it-IT" sz="1100" b="1" dirty="0">
                          <a:solidFill>
                            <a:schemeClr val="tx1"/>
                          </a:solidFill>
                        </a:rPr>
                        <a:t>Come usarlo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Si cita e si legge; per le informazioni importanti, la primaria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Porta alle fonti: i risultati si aprono e si leggono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Accelera lettura e sintesi; le affermazioni importanti si riconducono alle fonti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it-IT" sz="1100" b="1" dirty="0">
                          <a:solidFill>
                            <a:schemeClr val="tx1"/>
                          </a:solidFill>
                        </a:rPr>
                        <a:t>Attenzione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Attendibilità e aggiornamento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L'ordine dei risultati non è una garanzia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Non è di per sé una fonte primaria o secondaria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messaggio"/>
          <p:cNvSpPr/>
          <p:nvPr/>
        </p:nvSpPr>
        <p:spPr>
          <a:xfrm>
            <a:off x="457200" y="3931920"/>
            <a:ext cx="8229600" cy="594360"/>
          </a:xfrm>
          <a:prstGeom prst="roundRect">
            <a:avLst>
              <a:gd name="adj" fmla="val 12308"/>
            </a:avLst>
          </a:prstGeom>
          <a:solidFill>
            <a:schemeClr val="tx1"/>
          </a:solidFill>
          <a:ln/>
        </p:spPr>
      </p:sp>
      <p:sp>
        <p:nvSpPr>
          <p:cNvPr id="12" name="Text 8"/>
          <p:cNvSpPr txBox="1"/>
          <p:nvPr/>
        </p:nvSpPr>
        <p:spPr>
          <a:xfrm>
            <a:off x="640080" y="3931920"/>
            <a:ext cx="7863840" cy="594360"/>
          </a:xfrm>
          <a:prstGeom prst="rect">
            <a:avLst/>
          </a:prstGeom>
          <a:noFill/>
          <a:ln/>
        </p:spPr>
        <p:txBody>
          <a:bodyPr wrap="square" lIns="0" tIns="0" rIns="0" bIns="0" rtlCol="0" anchor="ctr"/>
          <a:lstStyle/>
          <a:p>
            <a:pPr indent="0" marL="0">
              <a:buNone/>
            </a:pPr>
            <a:r>
              <a:rPr lang="it-IT" sz="1300" dirty="0">
                <a:solidFill>
                  <a:schemeClr val="bg1"/>
                </a:solidFill>
              </a:rPr>
              <a:t>Una risposta dell'AI è un'elaborazione: vale quanto le fonti a cui può essere ricondotta.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Una fonte esistente non basta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Text 7"/>
          <p:cNvSpPr txBox="1"/>
          <p:nvPr/>
        </p:nvSpPr>
        <p:spPr>
          <a:xfrm>
            <a:off x="457200" y="1051560"/>
            <a:ext cx="4572000" cy="274320"/>
          </a:xfrm>
          <a:prstGeom prst="rect">
            <a:avLst/>
          </a:prstGeom>
          <a:noFill/>
          <a:ln/>
        </p:spPr>
        <p:txBody>
          <a:bodyPr wrap="square" lIns="0" tIns="0" rIns="0" bIns="0" rtlCol="0" anchor="t"/>
          <a:lstStyle/>
          <a:p>
            <a:pPr indent="0" marL="0">
              <a:buNone/>
            </a:pPr>
            <a:r>
              <a:rPr lang="it-IT" sz="1300" b="1" dirty="0">
                <a:solidFill>
                  <a:schemeClr val="accent5"/>
                </a:solidFill>
              </a:rPr>
              <a:t>Quando la fonte esiste ma non sostiene l'affermazione</a:t>
            </a:r>
            <a:endParaRPr lang="it-IT" sz="1300" dirty="0"/>
          </a:p>
        </p:txBody>
      </p:sp>
      <p:sp>
        <p:nvSpPr>
          <p:cNvPr id="11" name="riga 0"/>
          <p:cNvSpPr/>
          <p:nvPr/>
        </p:nvSpPr>
        <p:spPr>
          <a:xfrm>
            <a:off x="457200" y="1417320"/>
            <a:ext cx="4572000" cy="502920"/>
          </a:xfrm>
          <a:prstGeom prst="roundRect">
            <a:avLst>
              <a:gd name="adj" fmla="val 14545"/>
            </a:avLst>
          </a:prstGeom>
          <a:solidFill>
            <a:schemeClr val="bg2"/>
          </a:solidFill>
          <a:ln/>
        </p:spPr>
      </p:sp>
      <p:sp>
        <p:nvSpPr>
          <p:cNvPr id="12" name="Text 9"/>
          <p:cNvSpPr txBox="1"/>
          <p:nvPr/>
        </p:nvSpPr>
        <p:spPr>
          <a:xfrm>
            <a:off x="640080" y="1417320"/>
            <a:ext cx="4206240" cy="502920"/>
          </a:xfrm>
          <a:prstGeom prst="rect">
            <a:avLst/>
          </a:prstGeom>
          <a:noFill/>
          <a:ln/>
        </p:spPr>
        <p:txBody>
          <a:bodyPr wrap="square" lIns="0" tIns="0" rIns="0" bIns="0" rtlCol="0" anchor="ctr"/>
          <a:lstStyle/>
          <a:p>
            <a:pPr indent="0" marL="0">
              <a:buNone/>
            </a:pPr>
            <a:r>
              <a:rPr lang="it-IT" sz="1200" dirty="0">
                <a:solidFill>
                  <a:schemeClr val="tx1"/>
                </a:solidFill>
              </a:rPr>
              <a:t>Tratta un argomento diverso o vicino</a:t>
            </a:r>
            <a:endParaRPr lang="it-IT" sz="1200" dirty="0"/>
          </a:p>
        </p:txBody>
      </p:sp>
      <p:sp>
        <p:nvSpPr>
          <p:cNvPr id="13" name="riga 1"/>
          <p:cNvSpPr/>
          <p:nvPr/>
        </p:nvSpPr>
        <p:spPr>
          <a:xfrm>
            <a:off x="457200" y="1993392"/>
            <a:ext cx="4572000" cy="502920"/>
          </a:xfrm>
          <a:prstGeom prst="roundRect">
            <a:avLst>
              <a:gd name="adj" fmla="val 14545"/>
            </a:avLst>
          </a:prstGeom>
          <a:solidFill>
            <a:schemeClr val="bg1"/>
          </a:solidFill>
          <a:ln/>
        </p:spPr>
      </p:sp>
      <p:sp>
        <p:nvSpPr>
          <p:cNvPr id="14" name="Text 11"/>
          <p:cNvSpPr txBox="1"/>
          <p:nvPr/>
        </p:nvSpPr>
        <p:spPr>
          <a:xfrm>
            <a:off x="640080" y="1993392"/>
            <a:ext cx="4206240" cy="502920"/>
          </a:xfrm>
          <a:prstGeom prst="rect">
            <a:avLst/>
          </a:prstGeom>
          <a:noFill/>
          <a:ln/>
        </p:spPr>
        <p:txBody>
          <a:bodyPr wrap="square" lIns="0" tIns="0" rIns="0" bIns="0" rtlCol="0" anchor="ctr"/>
          <a:lstStyle/>
          <a:p>
            <a:pPr indent="0" marL="0">
              <a:buNone/>
            </a:pPr>
            <a:r>
              <a:rPr lang="it-IT" sz="1200" dirty="0">
                <a:solidFill>
                  <a:schemeClr val="tx1"/>
                </a:solidFill>
              </a:rPr>
              <a:t>Dice una cosa diversa: numero, cautela, eccezione</a:t>
            </a:r>
            <a:endParaRPr lang="it-IT" sz="1200" dirty="0"/>
          </a:p>
        </p:txBody>
      </p:sp>
      <p:sp>
        <p:nvSpPr>
          <p:cNvPr id="15" name="riga 2"/>
          <p:cNvSpPr/>
          <p:nvPr/>
        </p:nvSpPr>
        <p:spPr>
          <a:xfrm>
            <a:off x="457200" y="2569464"/>
            <a:ext cx="4572000" cy="502920"/>
          </a:xfrm>
          <a:prstGeom prst="roundRect">
            <a:avLst>
              <a:gd name="adj" fmla="val 14545"/>
            </a:avLst>
          </a:prstGeom>
          <a:solidFill>
            <a:schemeClr val="bg2"/>
          </a:solidFill>
          <a:ln/>
        </p:spPr>
      </p:sp>
      <p:sp>
        <p:nvSpPr>
          <p:cNvPr id="16" name="Text 13"/>
          <p:cNvSpPr txBox="1"/>
          <p:nvPr/>
        </p:nvSpPr>
        <p:spPr>
          <a:xfrm>
            <a:off x="640080" y="2569464"/>
            <a:ext cx="4206240" cy="502920"/>
          </a:xfrm>
          <a:prstGeom prst="rect">
            <a:avLst/>
          </a:prstGeom>
          <a:noFill/>
          <a:ln/>
        </p:spPr>
        <p:txBody>
          <a:bodyPr wrap="square" lIns="0" tIns="0" rIns="0" bIns="0" rtlCol="0" anchor="ctr"/>
          <a:lstStyle/>
          <a:p>
            <a:pPr indent="0" marL="0">
              <a:buNone/>
            </a:pPr>
            <a:r>
              <a:rPr lang="it-IT" sz="1200" dirty="0">
                <a:solidFill>
                  <a:schemeClr val="tx1"/>
                </a:solidFill>
              </a:rPr>
              <a:t>Vale in un contesto diverso: paese, periodo, categoria</a:t>
            </a:r>
            <a:endParaRPr lang="it-IT" sz="1200" dirty="0"/>
          </a:p>
        </p:txBody>
      </p:sp>
      <p:sp>
        <p:nvSpPr>
          <p:cNvPr id="17" name="riga 3"/>
          <p:cNvSpPr/>
          <p:nvPr/>
        </p:nvSpPr>
        <p:spPr>
          <a:xfrm>
            <a:off x="457200" y="3145536"/>
            <a:ext cx="4572000" cy="502920"/>
          </a:xfrm>
          <a:prstGeom prst="roundRect">
            <a:avLst>
              <a:gd name="adj" fmla="val 14545"/>
            </a:avLst>
          </a:prstGeom>
          <a:solidFill>
            <a:schemeClr val="bg1"/>
          </a:solidFill>
          <a:ln/>
        </p:spPr>
      </p:sp>
      <p:sp>
        <p:nvSpPr>
          <p:cNvPr id="18" name="Text 15"/>
          <p:cNvSpPr txBox="1"/>
          <p:nvPr/>
        </p:nvSpPr>
        <p:spPr>
          <a:xfrm>
            <a:off x="640080" y="3145536"/>
            <a:ext cx="4206240" cy="502920"/>
          </a:xfrm>
          <a:prstGeom prst="rect">
            <a:avLst/>
          </a:prstGeom>
          <a:noFill/>
          <a:ln/>
        </p:spPr>
        <p:txBody>
          <a:bodyPr wrap="square" lIns="0" tIns="0" rIns="0" bIns="0" rtlCol="0" anchor="ctr"/>
          <a:lstStyle/>
          <a:p>
            <a:pPr indent="0" marL="0">
              <a:buNone/>
            </a:pPr>
            <a:r>
              <a:rPr lang="it-IT" sz="1200" dirty="0">
                <a:solidFill>
                  <a:schemeClr val="tx1"/>
                </a:solidFill>
              </a:rPr>
              <a:t>Non è attendibile o è superata</a:t>
            </a:r>
            <a:endParaRPr lang="it-IT" sz="1200" dirty="0"/>
          </a:p>
        </p:txBody>
      </p:sp>
      <p:sp>
        <p:nvSpPr>
          <p:cNvPr id="19" name="Text 16"/>
          <p:cNvSpPr txBox="1"/>
          <p:nvPr/>
        </p:nvSpPr>
        <p:spPr>
          <a:xfrm>
            <a:off x="5303520" y="1051560"/>
            <a:ext cx="3383280" cy="274320"/>
          </a:xfrm>
          <a:prstGeom prst="rect">
            <a:avLst/>
          </a:prstGeom>
          <a:noFill/>
          <a:ln/>
        </p:spPr>
        <p:txBody>
          <a:bodyPr wrap="square" lIns="0" tIns="0" rIns="0" bIns="0" rtlCol="0" anchor="t"/>
          <a:lstStyle/>
          <a:p>
            <a:pPr indent="0" marL="0">
              <a:buNone/>
            </a:pPr>
            <a:r>
              <a:rPr lang="it-IT" sz="1300" b="1" dirty="0">
                <a:solidFill>
                  <a:schemeClr val="accent1"/>
                </a:solidFill>
              </a:rPr>
              <a:t>Tre controlli in sequenza</a:t>
            </a:r>
            <a:endParaRPr lang="it-IT" sz="1300" dirty="0"/>
          </a:p>
        </p:txBody>
      </p:sp>
      <p:sp>
        <p:nvSpPr>
          <p:cNvPr id="20" name="Autentica"/>
          <p:cNvSpPr/>
          <p:nvPr/>
        </p:nvSpPr>
        <p:spPr>
          <a:xfrm>
            <a:off x="5303520" y="1417320"/>
            <a:ext cx="3383280" cy="640080"/>
          </a:xfrm>
          <a:prstGeom prst="roundRect">
            <a:avLst>
              <a:gd name="adj" fmla="val 11429"/>
            </a:avLst>
          </a:prstGeom>
          <a:solidFill>
            <a:schemeClr val="accent6"/>
          </a:solidFill>
          <a:ln/>
        </p:spPr>
      </p:sp>
      <p:sp>
        <p:nvSpPr>
          <p:cNvPr id="21" name="Text 18"/>
          <p:cNvSpPr txBox="1"/>
          <p:nvPr/>
        </p:nvSpPr>
        <p:spPr>
          <a:xfrm>
            <a:off x="5440680" y="1444752"/>
            <a:ext cx="3108960" cy="292608"/>
          </a:xfrm>
          <a:prstGeom prst="rect">
            <a:avLst/>
          </a:prstGeom>
          <a:noFill/>
          <a:ln/>
        </p:spPr>
        <p:txBody>
          <a:bodyPr wrap="square" lIns="0" tIns="0" rIns="0" bIns="0" rtlCol="0" anchor="t"/>
          <a:lstStyle/>
          <a:p>
            <a:pPr indent="0" marL="0">
              <a:buNone/>
            </a:pPr>
            <a:r>
              <a:rPr lang="it-IT" sz="1300" b="1" dirty="0">
                <a:solidFill>
                  <a:schemeClr val="tx1"/>
                </a:solidFill>
              </a:rPr>
              <a:t>1. Autentica</a:t>
            </a:r>
            <a:endParaRPr lang="it-IT" sz="1300" dirty="0"/>
          </a:p>
        </p:txBody>
      </p:sp>
      <p:sp>
        <p:nvSpPr>
          <p:cNvPr id="22" name="Text 19"/>
          <p:cNvSpPr txBox="1"/>
          <p:nvPr/>
        </p:nvSpPr>
        <p:spPr>
          <a:xfrm>
            <a:off x="5440680" y="1737360"/>
            <a:ext cx="3108960" cy="292608"/>
          </a:xfrm>
          <a:prstGeom prst="rect">
            <a:avLst/>
          </a:prstGeom>
          <a:noFill/>
          <a:ln/>
        </p:spPr>
        <p:txBody>
          <a:bodyPr wrap="square" lIns="0" tIns="0" rIns="0" bIns="0" rtlCol="0" anchor="t"/>
          <a:lstStyle/>
          <a:p>
            <a:pPr indent="0" marL="0">
              <a:buNone/>
            </a:pPr>
            <a:r>
              <a:rPr lang="it-IT" sz="1100" dirty="0">
                <a:solidFill>
                  <a:schemeClr val="tx2"/>
                </a:solidFill>
              </a:rPr>
              <a:t>Esiste ed è quella indicata?</a:t>
            </a:r>
            <a:endParaRPr lang="it-IT" sz="1100" dirty="0"/>
          </a:p>
        </p:txBody>
      </p:sp>
      <p:sp>
        <p:nvSpPr>
          <p:cNvPr id="23" name="Pertinente"/>
          <p:cNvSpPr/>
          <p:nvPr/>
        </p:nvSpPr>
        <p:spPr>
          <a:xfrm>
            <a:off x="5303520" y="2148840"/>
            <a:ext cx="3383280" cy="640080"/>
          </a:xfrm>
          <a:prstGeom prst="roundRect">
            <a:avLst>
              <a:gd name="adj" fmla="val 11429"/>
            </a:avLst>
          </a:prstGeom>
          <a:solidFill>
            <a:schemeClr val="accent6"/>
          </a:solidFill>
          <a:ln/>
        </p:spPr>
      </p:sp>
      <p:sp>
        <p:nvSpPr>
          <p:cNvPr id="24" name="Text 21"/>
          <p:cNvSpPr txBox="1"/>
          <p:nvPr/>
        </p:nvSpPr>
        <p:spPr>
          <a:xfrm>
            <a:off x="5440680" y="2176272"/>
            <a:ext cx="3108960" cy="292608"/>
          </a:xfrm>
          <a:prstGeom prst="rect">
            <a:avLst/>
          </a:prstGeom>
          <a:noFill/>
          <a:ln/>
        </p:spPr>
        <p:txBody>
          <a:bodyPr wrap="square" lIns="0" tIns="0" rIns="0" bIns="0" rtlCol="0" anchor="t"/>
          <a:lstStyle/>
          <a:p>
            <a:pPr indent="0" marL="0">
              <a:buNone/>
            </a:pPr>
            <a:r>
              <a:rPr lang="it-IT" sz="1300" b="1" dirty="0">
                <a:solidFill>
                  <a:schemeClr val="tx1"/>
                </a:solidFill>
              </a:rPr>
              <a:t>2. Pertinente</a:t>
            </a:r>
            <a:endParaRPr lang="it-IT" sz="1300" dirty="0"/>
          </a:p>
        </p:txBody>
      </p:sp>
      <p:sp>
        <p:nvSpPr>
          <p:cNvPr id="25" name="Text 22"/>
          <p:cNvSpPr txBox="1"/>
          <p:nvPr/>
        </p:nvSpPr>
        <p:spPr>
          <a:xfrm>
            <a:off x="5440680" y="2468880"/>
            <a:ext cx="3108960" cy="292608"/>
          </a:xfrm>
          <a:prstGeom prst="rect">
            <a:avLst/>
          </a:prstGeom>
          <a:noFill/>
          <a:ln/>
        </p:spPr>
        <p:txBody>
          <a:bodyPr wrap="square" lIns="0" tIns="0" rIns="0" bIns="0" rtlCol="0" anchor="t"/>
          <a:lstStyle/>
          <a:p>
            <a:pPr indent="0" marL="0">
              <a:buNone/>
            </a:pPr>
            <a:r>
              <a:rPr lang="it-IT" sz="1100" dirty="0">
                <a:solidFill>
                  <a:schemeClr val="tx2"/>
                </a:solidFill>
              </a:rPr>
              <a:t>Proprio quell'argomento, nello stesso contesto?</a:t>
            </a:r>
            <a:endParaRPr lang="it-IT" sz="1100" dirty="0"/>
          </a:p>
        </p:txBody>
      </p:sp>
      <p:sp>
        <p:nvSpPr>
          <p:cNvPr id="26" name="Di supporto"/>
          <p:cNvSpPr/>
          <p:nvPr/>
        </p:nvSpPr>
        <p:spPr>
          <a:xfrm>
            <a:off x="5303520" y="2880360"/>
            <a:ext cx="3383280" cy="640080"/>
          </a:xfrm>
          <a:prstGeom prst="roundRect">
            <a:avLst>
              <a:gd name="adj" fmla="val 11429"/>
            </a:avLst>
          </a:prstGeom>
          <a:solidFill>
            <a:schemeClr val="accent1"/>
          </a:solidFill>
          <a:ln/>
        </p:spPr>
      </p:sp>
      <p:sp>
        <p:nvSpPr>
          <p:cNvPr id="27" name="Text 24"/>
          <p:cNvSpPr txBox="1"/>
          <p:nvPr/>
        </p:nvSpPr>
        <p:spPr>
          <a:xfrm>
            <a:off x="5440680" y="2907792"/>
            <a:ext cx="3108960" cy="292608"/>
          </a:xfrm>
          <a:prstGeom prst="rect">
            <a:avLst/>
          </a:prstGeom>
          <a:noFill/>
          <a:ln/>
        </p:spPr>
        <p:txBody>
          <a:bodyPr wrap="square" lIns="0" tIns="0" rIns="0" bIns="0" rtlCol="0" anchor="t"/>
          <a:lstStyle/>
          <a:p>
            <a:pPr indent="0" marL="0">
              <a:buNone/>
            </a:pPr>
            <a:r>
              <a:rPr lang="it-IT" sz="1300" b="1" dirty="0">
                <a:solidFill>
                  <a:schemeClr val="bg1"/>
                </a:solidFill>
              </a:rPr>
              <a:t>3. Di supporto</a:t>
            </a:r>
            <a:endParaRPr lang="it-IT" sz="1300" dirty="0"/>
          </a:p>
        </p:txBody>
      </p:sp>
      <p:sp>
        <p:nvSpPr>
          <p:cNvPr id="28" name="Text 25"/>
          <p:cNvSpPr txBox="1"/>
          <p:nvPr/>
        </p:nvSpPr>
        <p:spPr>
          <a:xfrm>
            <a:off x="5440680" y="3200400"/>
            <a:ext cx="3108960" cy="292608"/>
          </a:xfrm>
          <a:prstGeom prst="rect">
            <a:avLst/>
          </a:prstGeom>
          <a:noFill/>
          <a:ln/>
        </p:spPr>
        <p:txBody>
          <a:bodyPr wrap="square" lIns="0" tIns="0" rIns="0" bIns="0" rtlCol="0" anchor="t"/>
          <a:lstStyle/>
          <a:p>
            <a:pPr indent="0" marL="0">
              <a:buNone/>
            </a:pPr>
            <a:r>
              <a:rPr lang="it-IT" sz="1100" dirty="0">
                <a:solidFill>
                  <a:schemeClr val="bg1"/>
                </a:solidFill>
              </a:rPr>
              <a:t>Dice esattamente ciò che le viene attribuito?</a:t>
            </a:r>
            <a:endParaRPr lang="it-IT" sz="1100" dirty="0"/>
          </a:p>
        </p:txBody>
      </p:sp>
      <p:sp>
        <p:nvSpPr>
          <p:cNvPr id="29" name="messaggio"/>
          <p:cNvSpPr/>
          <p:nvPr/>
        </p:nvSpPr>
        <p:spPr>
          <a:xfrm>
            <a:off x="457200" y="3794760"/>
            <a:ext cx="8229600" cy="731520"/>
          </a:xfrm>
          <a:prstGeom prst="roundRect">
            <a:avLst>
              <a:gd name="adj" fmla="val 10000"/>
            </a:avLst>
          </a:prstGeom>
          <a:solidFill>
            <a:schemeClr val="tx1"/>
          </a:solidFill>
          <a:ln/>
        </p:spPr>
      </p:sp>
      <p:sp>
        <p:nvSpPr>
          <p:cNvPr id="30" name="Text 27"/>
          <p:cNvSpPr txBox="1"/>
          <p:nvPr/>
        </p:nvSpPr>
        <p:spPr>
          <a:xfrm>
            <a:off x="640080" y="3794760"/>
            <a:ext cx="7863840" cy="731520"/>
          </a:xfrm>
          <a:prstGeom prst="rect">
            <a:avLst/>
          </a:prstGeom>
          <a:noFill/>
          <a:ln/>
        </p:spPr>
        <p:txBody>
          <a:bodyPr wrap="square" lIns="0" tIns="0" rIns="0" bIns="0" rtlCol="0" anchor="ctr"/>
          <a:lstStyle/>
          <a:p>
            <a:pPr indent="0" marL="0">
              <a:buNone/>
            </a:pPr>
            <a:r>
              <a:rPr lang="it-IT" sz="1300" dirty="0">
                <a:solidFill>
                  <a:schemeClr val="bg1"/>
                </a:solidFill>
              </a:rPr>
              <a:t>Aprire la fonte e leggere il passaggio. Utile chiedere all'AI di riportare il passaggio esatto su cui si basa.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Attendibilità e fonti indipendenti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scheda Attendibilità"/>
          <p:cNvSpPr/>
          <p:nvPr/>
        </p:nvSpPr>
        <p:spPr>
          <a:xfrm>
            <a:off x="457200" y="1097280"/>
            <a:ext cx="2615184" cy="2926080"/>
          </a:xfrm>
          <a:prstGeom prst="roundRect">
            <a:avLst>
              <a:gd name="adj" fmla="val 2797"/>
            </a:avLst>
          </a:prstGeom>
          <a:solidFill>
            <a:schemeClr val="bg2"/>
          </a:solidFill>
          <a:ln/>
        </p:spPr>
      </p:sp>
      <p:sp>
        <p:nvSpPr>
          <p:cNvPr id="11" name="cerchio FiAward"/>
          <p:cNvSpPr/>
          <p:nvPr/>
        </p:nvSpPr>
        <p:spPr>
          <a:xfrm>
            <a:off x="640080" y="1280160"/>
            <a:ext cx="457200" cy="457200"/>
          </a:xfrm>
          <a:prstGeom prst="ellipse">
            <a:avLst/>
          </a:prstGeom>
          <a:solidFill>
            <a:schemeClr val="accent1"/>
          </a:solidFill>
          <a:ln/>
        </p:spPr>
      </p:sp>
      <p:pic>
        <p:nvPicPr>
          <p:cNvPr id="12" name="Image 0" descr="FiAward">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Attendibilità</a:t>
            </a:r>
            <a:endParaRPr lang="it-IT" sz="1500" dirty="0"/>
          </a:p>
        </p:txBody>
      </p:sp>
      <p:sp>
        <p:nvSpPr>
          <p:cNvPr id="14" name="Text 10"/>
          <p:cNvSpPr txBox="1"/>
          <p:nvPr/>
        </p:nvSpPr>
        <p:spPr>
          <a:xfrm>
            <a:off x="640080" y="2231136"/>
            <a:ext cx="2249424" cy="168249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Chi è l'autore o l'ente?</a:t>
            </a:r>
            <a:endParaRPr lang="it-IT" sz="1200" dirty="0"/>
          </a:p>
          <a:p>
            <a:pPr marL="177800" indent="-177800">
              <a:spcAft>
                <a:spcPts val="400"/>
              </a:spcAft>
              <a:buSzPct val="100000"/>
              <a:buChar char="•"/>
            </a:pPr>
            <a:r>
              <a:rPr lang="it-IT" sz="1200" dirty="0">
                <a:solidFill>
                  <a:schemeClr val="tx2"/>
                </a:solidFill>
              </a:rPr>
              <a:t>Ha competenza sull'argomento?</a:t>
            </a:r>
            <a:endParaRPr lang="it-IT" sz="1200" dirty="0"/>
          </a:p>
          <a:p>
            <a:pPr marL="177800" indent="-177800">
              <a:spcAft>
                <a:spcPts val="400"/>
              </a:spcAft>
              <a:buSzPct val="100000"/>
              <a:buChar char="•"/>
            </a:pPr>
            <a:r>
              <a:rPr lang="it-IT" sz="1200" dirty="0">
                <a:solidFill>
                  <a:schemeClr val="tx2"/>
                </a:solidFill>
              </a:rPr>
              <a:t>Ha interessi in gioco?</a:t>
            </a:r>
            <a:endParaRPr lang="it-IT" sz="1200" dirty="0"/>
          </a:p>
          <a:p>
            <a:pPr marL="177800" indent="-177800">
              <a:spcAft>
                <a:spcPts val="400"/>
              </a:spcAft>
              <a:buSzPct val="100000"/>
              <a:buChar char="•"/>
            </a:pPr>
            <a:r>
              <a:rPr lang="it-IT" sz="1200" dirty="0">
                <a:solidFill>
                  <a:schemeClr val="tx2"/>
                </a:solidFill>
              </a:rPr>
              <a:t>L'informazione è documentata?</a:t>
            </a:r>
            <a:endParaRPr lang="it-IT" sz="1200" dirty="0"/>
          </a:p>
        </p:txBody>
      </p:sp>
      <p:sp>
        <p:nvSpPr>
          <p:cNvPr id="15" name="scheda Aggiornamento"/>
          <p:cNvSpPr/>
          <p:nvPr/>
        </p:nvSpPr>
        <p:spPr>
          <a:xfrm>
            <a:off x="3264408" y="1097280"/>
            <a:ext cx="2615184" cy="2926080"/>
          </a:xfrm>
          <a:prstGeom prst="roundRect">
            <a:avLst>
              <a:gd name="adj" fmla="val 2797"/>
            </a:avLst>
          </a:prstGeom>
          <a:solidFill>
            <a:schemeClr val="bg2"/>
          </a:solidFill>
          <a:ln/>
        </p:spPr>
      </p:sp>
      <p:sp>
        <p:nvSpPr>
          <p:cNvPr id="16" name="cerchio FiCalendar"/>
          <p:cNvSpPr/>
          <p:nvPr/>
        </p:nvSpPr>
        <p:spPr>
          <a:xfrm>
            <a:off x="3447288" y="1280160"/>
            <a:ext cx="457200" cy="457200"/>
          </a:xfrm>
          <a:prstGeom prst="ellipse">
            <a:avLst/>
          </a:prstGeom>
          <a:solidFill>
            <a:schemeClr val="accent1"/>
          </a:solidFill>
          <a:ln/>
        </p:spPr>
      </p:sp>
      <p:pic>
        <p:nvPicPr>
          <p:cNvPr id="17" name="Image 1" descr="FiCalendar">    </p:cNvPr>
          <p:cNvPicPr>
            <a:picLocks noChangeAspect="1"/>
          </p:cNvPicPr>
          <p:nvPr/>
        </p:nvPicPr>
        <p:blipFill>
          <a:blip r:embed="rId2"/>
          <a:stretch>
            <a:fillRect/>
          </a:stretch>
        </p:blipFill>
        <p:spPr>
          <a:xfrm>
            <a:off x="3561588" y="1394460"/>
            <a:ext cx="228600" cy="228600"/>
          </a:xfrm>
          <a:prstGeom prst="rect">
            <a:avLst/>
          </a:prstGeom>
        </p:spPr>
      </p:pic>
      <p:sp>
        <p:nvSpPr>
          <p:cNvPr id="18" name="Text 13"/>
          <p:cNvSpPr txBox="1"/>
          <p:nvPr/>
        </p:nvSpPr>
        <p:spPr>
          <a:xfrm>
            <a:off x="3447288"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Aggiornamento</a:t>
            </a:r>
            <a:endParaRPr lang="it-IT" sz="1500" dirty="0"/>
          </a:p>
        </p:txBody>
      </p:sp>
      <p:sp>
        <p:nvSpPr>
          <p:cNvPr id="19" name="Text 14"/>
          <p:cNvSpPr txBox="1"/>
          <p:nvPr/>
        </p:nvSpPr>
        <p:spPr>
          <a:xfrm>
            <a:off x="3447288" y="2231136"/>
            <a:ext cx="2249424" cy="168249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Quando è stata pubblicata?</a:t>
            </a:r>
            <a:endParaRPr lang="it-IT" sz="1200" dirty="0"/>
          </a:p>
          <a:p>
            <a:pPr marL="177800" indent="-177800">
              <a:spcAft>
                <a:spcPts val="400"/>
              </a:spcAft>
              <a:buSzPct val="100000"/>
              <a:buChar char="•"/>
            </a:pPr>
            <a:r>
              <a:rPr lang="it-IT" sz="1200" dirty="0">
                <a:solidFill>
                  <a:schemeClr val="tx2"/>
                </a:solidFill>
              </a:rPr>
              <a:t>È ancora valida?</a:t>
            </a:r>
            <a:endParaRPr lang="it-IT" sz="1200" dirty="0"/>
          </a:p>
          <a:p>
            <a:pPr marL="177800" indent="-177800">
              <a:spcAft>
                <a:spcPts val="400"/>
              </a:spcAft>
              <a:buSzPct val="100000"/>
              <a:buChar char="•"/>
            </a:pPr>
            <a:r>
              <a:rPr lang="it-IT" sz="1200" dirty="0">
                <a:solidFill>
                  <a:schemeClr val="tx2"/>
                </a:solidFill>
              </a:rPr>
              <a:t>Attenzione a norme, prezzi, procedure, dati di mercato</a:t>
            </a:r>
            <a:endParaRPr lang="it-IT" sz="1200" dirty="0"/>
          </a:p>
        </p:txBody>
      </p:sp>
      <p:sp>
        <p:nvSpPr>
          <p:cNvPr id="20" name="scheda Fonti indipendenti"/>
          <p:cNvSpPr/>
          <p:nvPr/>
        </p:nvSpPr>
        <p:spPr>
          <a:xfrm>
            <a:off x="6071616" y="1097280"/>
            <a:ext cx="2615184" cy="2926080"/>
          </a:xfrm>
          <a:prstGeom prst="roundRect">
            <a:avLst>
              <a:gd name="adj" fmla="val 2797"/>
            </a:avLst>
          </a:prstGeom>
          <a:solidFill>
            <a:schemeClr val="accent6"/>
          </a:solidFill>
          <a:ln/>
        </p:spPr>
      </p:sp>
      <p:sp>
        <p:nvSpPr>
          <p:cNvPr id="21" name="cerchio FiCopy"/>
          <p:cNvSpPr/>
          <p:nvPr/>
        </p:nvSpPr>
        <p:spPr>
          <a:xfrm>
            <a:off x="6254496" y="1280160"/>
            <a:ext cx="457200" cy="457200"/>
          </a:xfrm>
          <a:prstGeom prst="ellipse">
            <a:avLst/>
          </a:prstGeom>
          <a:solidFill>
            <a:schemeClr val="accent1"/>
          </a:solidFill>
          <a:ln/>
        </p:spPr>
      </p:sp>
      <p:pic>
        <p:nvPicPr>
          <p:cNvPr id="22" name="Image 2" descr="FiCopy">    </p:cNvPr>
          <p:cNvPicPr>
            <a:picLocks noChangeAspect="1"/>
          </p:cNvPicPr>
          <p:nvPr/>
        </p:nvPicPr>
        <p:blipFill>
          <a:blip r:embed="rId3"/>
          <a:stretch>
            <a:fillRect/>
          </a:stretch>
        </p:blipFill>
        <p:spPr>
          <a:xfrm>
            <a:off x="6368796" y="1394460"/>
            <a:ext cx="228600" cy="228600"/>
          </a:xfrm>
          <a:prstGeom prst="rect">
            <a:avLst/>
          </a:prstGeom>
        </p:spPr>
      </p:pic>
      <p:sp>
        <p:nvSpPr>
          <p:cNvPr id="23" name="Text 17"/>
          <p:cNvSpPr txBox="1"/>
          <p:nvPr/>
        </p:nvSpPr>
        <p:spPr>
          <a:xfrm>
            <a:off x="6254496"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Fonti indipendenti</a:t>
            </a:r>
            <a:endParaRPr lang="it-IT" sz="1500" dirty="0"/>
          </a:p>
        </p:txBody>
      </p:sp>
      <p:sp>
        <p:nvSpPr>
          <p:cNvPr id="24" name="Text 18"/>
          <p:cNvSpPr txBox="1"/>
          <p:nvPr/>
        </p:nvSpPr>
        <p:spPr>
          <a:xfrm>
            <a:off x="6254496" y="2231136"/>
            <a:ext cx="2249424" cy="168249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Almeno due, che non si citano a vicenda</a:t>
            </a:r>
            <a:endParaRPr lang="it-IT" sz="1200" dirty="0"/>
          </a:p>
          <a:p>
            <a:pPr marL="177800" indent="-177800">
              <a:spcAft>
                <a:spcPts val="400"/>
              </a:spcAft>
              <a:buSzPct val="100000"/>
              <a:buChar char="•"/>
            </a:pPr>
            <a:r>
              <a:rPr lang="it-IT" sz="1200" dirty="0">
                <a:solidFill>
                  <a:schemeClr val="tx2"/>
                </a:solidFill>
              </a:rPr>
              <a:t>Se divergono, risalire all'origine</a:t>
            </a:r>
            <a:endParaRPr lang="it-IT" sz="1200" dirty="0"/>
          </a:p>
          <a:p>
            <a:pPr marL="177800" indent="-177800">
              <a:spcAft>
                <a:spcPts val="400"/>
              </a:spcAft>
              <a:buSzPct val="100000"/>
              <a:buChar char="•"/>
            </a:pPr>
            <a:r>
              <a:rPr lang="it-IT" sz="1200" dirty="0">
                <a:solidFill>
                  <a:schemeClr val="tx2"/>
                </a:solidFill>
              </a:rPr>
              <a:t>Attenzione alle false conferme</a:t>
            </a:r>
            <a:endParaRPr lang="it-IT" sz="1200" dirty="0"/>
          </a:p>
        </p:txBody>
      </p:sp>
      <p:sp>
        <p:nvSpPr>
          <p:cNvPr id="25" name="Text 19"/>
          <p:cNvSpPr txBox="1"/>
          <p:nvPr/>
        </p:nvSpPr>
        <p:spPr>
          <a:xfrm>
            <a:off x="457200" y="4160520"/>
            <a:ext cx="8229600" cy="365760"/>
          </a:xfrm>
          <a:prstGeom prst="rect">
            <a:avLst/>
          </a:prstGeom>
          <a:noFill/>
          <a:ln/>
        </p:spPr>
        <p:txBody>
          <a:bodyPr wrap="square" lIns="0" tIns="0" rIns="0" bIns="0" rtlCol="0" anchor="t"/>
          <a:lstStyle/>
          <a:p>
            <a:pPr indent="0" marL="0">
              <a:buNone/>
            </a:pPr>
            <a:r>
              <a:rPr lang="it-IT" sz="1200" i="1" dirty="0">
                <a:solidFill>
                  <a:schemeClr val="tx1"/>
                </a:solidFill>
              </a:rPr>
              <a:t>Dieci siti con la stessa informazione possono averla copiata tutti dalla stessa fonte.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Fatti, ipotesi, stime e scenari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Fatto non verificato"/>
          <p:cNvSpPr/>
          <p:nvPr/>
        </p:nvSpPr>
        <p:spPr>
          <a:xfrm>
            <a:off x="457200" y="1097280"/>
            <a:ext cx="1965960" cy="2560320"/>
          </a:xfrm>
          <a:prstGeom prst="roundRect">
            <a:avLst>
              <a:gd name="adj" fmla="val 3721"/>
            </a:avLst>
          </a:prstGeom>
          <a:solidFill>
            <a:schemeClr val="bg2"/>
          </a:solidFill>
          <a:ln/>
        </p:spPr>
      </p:sp>
      <p:sp>
        <p:nvSpPr>
          <p:cNvPr id="11" name="Text 8"/>
          <p:cNvSpPr txBox="1"/>
          <p:nvPr/>
        </p:nvSpPr>
        <p:spPr>
          <a:xfrm>
            <a:off x="594360" y="1170432"/>
            <a:ext cx="1691640" cy="502920"/>
          </a:xfrm>
          <a:prstGeom prst="rect">
            <a:avLst/>
          </a:prstGeom>
          <a:noFill/>
          <a:ln/>
        </p:spPr>
        <p:txBody>
          <a:bodyPr wrap="square" lIns="0" tIns="0" rIns="0" bIns="0" rtlCol="0" anchor="ctr"/>
          <a:lstStyle/>
          <a:p>
            <a:pPr indent="0" marL="0">
              <a:buNone/>
            </a:pPr>
            <a:r>
              <a:rPr lang="it-IT" sz="1400" b="1" dirty="0">
                <a:solidFill>
                  <a:schemeClr val="accent5"/>
                </a:solidFill>
              </a:rPr>
              <a:t>Fatto non verificato</a:t>
            </a:r>
            <a:endParaRPr lang="it-IT" sz="1400" dirty="0"/>
          </a:p>
        </p:txBody>
      </p:sp>
      <p:sp>
        <p:nvSpPr>
          <p:cNvPr id="12" name="Text 9"/>
          <p:cNvSpPr txBox="1"/>
          <p:nvPr/>
        </p:nvSpPr>
        <p:spPr>
          <a:xfrm>
            <a:off x="594360" y="1691640"/>
            <a:ext cx="1691640" cy="594360"/>
          </a:xfrm>
          <a:prstGeom prst="rect">
            <a:avLst/>
          </a:prstGeom>
          <a:noFill/>
          <a:ln/>
        </p:spPr>
        <p:txBody>
          <a:bodyPr wrap="square" lIns="0" tIns="0" rIns="0" bIns="0" rtlCol="0" anchor="t"/>
          <a:lstStyle/>
          <a:p>
            <a:pPr indent="0" marL="0">
              <a:buNone/>
            </a:pPr>
            <a:r>
              <a:rPr lang="it-IT" sz="1100" b="1" dirty="0">
                <a:solidFill>
                  <a:schemeClr val="tx1"/>
                </a:solidFill>
              </a:rPr>
              <a:t>Dato presentato come certo, non ancora controllato</a:t>
            </a:r>
            <a:endParaRPr lang="it-IT" sz="1100" dirty="0"/>
          </a:p>
        </p:txBody>
      </p:sp>
      <p:sp>
        <p:nvSpPr>
          <p:cNvPr id="13" name="Text 10"/>
          <p:cNvSpPr txBox="1"/>
          <p:nvPr/>
        </p:nvSpPr>
        <p:spPr>
          <a:xfrm>
            <a:off x="594360" y="2331720"/>
            <a:ext cx="1691640" cy="640080"/>
          </a:xfrm>
          <a:prstGeom prst="rect">
            <a:avLst/>
          </a:prstGeom>
          <a:noFill/>
          <a:ln/>
        </p:spPr>
        <p:txBody>
          <a:bodyPr wrap="square" lIns="0" tIns="0" rIns="0" bIns="0" rtlCol="0" anchor="t"/>
          <a:lstStyle/>
          <a:p>
            <a:pPr indent="0" marL="0">
              <a:buNone/>
            </a:pPr>
            <a:r>
              <a:rPr lang="it-IT" sz="1100" i="1" dirty="0">
                <a:solidFill>
                  <a:schemeClr val="tx2"/>
                </a:solidFill>
              </a:rPr>
              <a:t>"Il mercato vale 2 miliardi", senza fonte</a:t>
            </a:r>
            <a:endParaRPr lang="it-IT" sz="1100" dirty="0"/>
          </a:p>
        </p:txBody>
      </p:sp>
      <p:sp>
        <p:nvSpPr>
          <p:cNvPr id="14" name="Text 11"/>
          <p:cNvSpPr txBox="1"/>
          <p:nvPr/>
        </p:nvSpPr>
        <p:spPr>
          <a:xfrm>
            <a:off x="594360" y="3017520"/>
            <a:ext cx="1691640" cy="548640"/>
          </a:xfrm>
          <a:prstGeom prst="rect">
            <a:avLst/>
          </a:prstGeom>
          <a:noFill/>
          <a:ln/>
        </p:spPr>
        <p:txBody>
          <a:bodyPr wrap="square" lIns="0" tIns="0" rIns="0" bIns="0" rtlCol="0" anchor="t"/>
          <a:lstStyle/>
          <a:p>
            <a:pPr indent="0" marL="0">
              <a:buNone/>
            </a:pPr>
            <a:r>
              <a:rPr lang="it-IT" sz="1100" b="1" dirty="0">
                <a:solidFill>
                  <a:schemeClr val="tx1"/>
                </a:solidFill>
              </a:rPr>
              <a:t>Verificarlo, eliminarlo o segnalarlo</a:t>
            </a:r>
            <a:endParaRPr lang="it-IT" sz="1100" dirty="0"/>
          </a:p>
        </p:txBody>
      </p:sp>
      <p:sp>
        <p:nvSpPr>
          <p:cNvPr id="15" name="Ipotesi"/>
          <p:cNvSpPr/>
          <p:nvPr/>
        </p:nvSpPr>
        <p:spPr>
          <a:xfrm>
            <a:off x="2560320" y="1097280"/>
            <a:ext cx="1965960" cy="2560320"/>
          </a:xfrm>
          <a:prstGeom prst="roundRect">
            <a:avLst>
              <a:gd name="adj" fmla="val 3721"/>
            </a:avLst>
          </a:prstGeom>
          <a:solidFill>
            <a:schemeClr val="accent6"/>
          </a:solidFill>
          <a:ln/>
        </p:spPr>
      </p:sp>
      <p:sp>
        <p:nvSpPr>
          <p:cNvPr id="16" name="Text 13"/>
          <p:cNvSpPr txBox="1"/>
          <p:nvPr/>
        </p:nvSpPr>
        <p:spPr>
          <a:xfrm>
            <a:off x="2697480" y="1170432"/>
            <a:ext cx="1691640" cy="502920"/>
          </a:xfrm>
          <a:prstGeom prst="rect">
            <a:avLst/>
          </a:prstGeom>
          <a:noFill/>
          <a:ln/>
        </p:spPr>
        <p:txBody>
          <a:bodyPr wrap="square" lIns="0" tIns="0" rIns="0" bIns="0" rtlCol="0" anchor="ctr"/>
          <a:lstStyle/>
          <a:p>
            <a:pPr indent="0" marL="0">
              <a:buNone/>
            </a:pPr>
            <a:r>
              <a:rPr lang="it-IT" sz="1400" b="1" dirty="0">
                <a:solidFill>
                  <a:schemeClr val="accent1"/>
                </a:solidFill>
              </a:rPr>
              <a:t>Ipotesi</a:t>
            </a:r>
            <a:endParaRPr lang="it-IT" sz="1400" dirty="0"/>
          </a:p>
        </p:txBody>
      </p:sp>
      <p:sp>
        <p:nvSpPr>
          <p:cNvPr id="17" name="Text 14"/>
          <p:cNvSpPr txBox="1"/>
          <p:nvPr/>
        </p:nvSpPr>
        <p:spPr>
          <a:xfrm>
            <a:off x="2697480" y="1691640"/>
            <a:ext cx="1691640" cy="594360"/>
          </a:xfrm>
          <a:prstGeom prst="rect">
            <a:avLst/>
          </a:prstGeom>
          <a:noFill/>
          <a:ln/>
        </p:spPr>
        <p:txBody>
          <a:bodyPr wrap="square" lIns="0" tIns="0" rIns="0" bIns="0" rtlCol="0" anchor="t"/>
          <a:lstStyle/>
          <a:p>
            <a:pPr indent="0" marL="0">
              <a:buNone/>
            </a:pPr>
            <a:r>
              <a:rPr lang="it-IT" sz="1100" b="1" dirty="0">
                <a:solidFill>
                  <a:schemeClr val="tx1"/>
                </a:solidFill>
              </a:rPr>
              <a:t>Spiegazione possibile, da confermare</a:t>
            </a:r>
            <a:endParaRPr lang="it-IT" sz="1100" dirty="0"/>
          </a:p>
        </p:txBody>
      </p:sp>
      <p:sp>
        <p:nvSpPr>
          <p:cNvPr id="18" name="Text 15"/>
          <p:cNvSpPr txBox="1"/>
          <p:nvPr/>
        </p:nvSpPr>
        <p:spPr>
          <a:xfrm>
            <a:off x="2697480" y="2331720"/>
            <a:ext cx="1691640" cy="640080"/>
          </a:xfrm>
          <a:prstGeom prst="rect">
            <a:avLst/>
          </a:prstGeom>
          <a:noFill/>
          <a:ln/>
        </p:spPr>
        <p:txBody>
          <a:bodyPr wrap="square" lIns="0" tIns="0" rIns="0" bIns="0" rtlCol="0" anchor="t"/>
          <a:lstStyle/>
          <a:p>
            <a:pPr indent="0" marL="0">
              <a:buNone/>
            </a:pPr>
            <a:r>
              <a:rPr lang="it-IT" sz="1100" i="1" dirty="0">
                <a:solidFill>
                  <a:schemeClr val="tx2"/>
                </a:solidFill>
              </a:rPr>
              <a:t>"Il calo potrebbe dipendere dai prezzi"</a:t>
            </a:r>
            <a:endParaRPr lang="it-IT" sz="1100" dirty="0"/>
          </a:p>
        </p:txBody>
      </p:sp>
      <p:sp>
        <p:nvSpPr>
          <p:cNvPr id="19" name="Text 16"/>
          <p:cNvSpPr txBox="1"/>
          <p:nvPr/>
        </p:nvSpPr>
        <p:spPr>
          <a:xfrm>
            <a:off x="2697480" y="3017520"/>
            <a:ext cx="1691640" cy="548640"/>
          </a:xfrm>
          <a:prstGeom prst="rect">
            <a:avLst/>
          </a:prstGeom>
          <a:noFill/>
          <a:ln/>
        </p:spPr>
        <p:txBody>
          <a:bodyPr wrap="square" lIns="0" tIns="0" rIns="0" bIns="0" rtlCol="0" anchor="t"/>
          <a:lstStyle/>
          <a:p>
            <a:pPr indent="0" marL="0">
              <a:buNone/>
            </a:pPr>
            <a:r>
              <a:rPr lang="it-IT" sz="1100" b="1" dirty="0">
                <a:solidFill>
                  <a:schemeClr val="tx1"/>
                </a:solidFill>
              </a:rPr>
              <a:t>Utile per orientare l'analisi</a:t>
            </a:r>
            <a:endParaRPr lang="it-IT" sz="1100" dirty="0"/>
          </a:p>
        </p:txBody>
      </p:sp>
      <p:sp>
        <p:nvSpPr>
          <p:cNvPr id="20" name="Stima"/>
          <p:cNvSpPr/>
          <p:nvPr/>
        </p:nvSpPr>
        <p:spPr>
          <a:xfrm>
            <a:off x="4663440" y="1097280"/>
            <a:ext cx="1965960" cy="2560320"/>
          </a:xfrm>
          <a:prstGeom prst="roundRect">
            <a:avLst>
              <a:gd name="adj" fmla="val 3721"/>
            </a:avLst>
          </a:prstGeom>
          <a:solidFill>
            <a:schemeClr val="accent6"/>
          </a:solidFill>
          <a:ln/>
        </p:spPr>
      </p:sp>
      <p:sp>
        <p:nvSpPr>
          <p:cNvPr id="21" name="Text 18"/>
          <p:cNvSpPr txBox="1"/>
          <p:nvPr/>
        </p:nvSpPr>
        <p:spPr>
          <a:xfrm>
            <a:off x="4800600" y="1170432"/>
            <a:ext cx="1691640" cy="502920"/>
          </a:xfrm>
          <a:prstGeom prst="rect">
            <a:avLst/>
          </a:prstGeom>
          <a:noFill/>
          <a:ln/>
        </p:spPr>
        <p:txBody>
          <a:bodyPr wrap="square" lIns="0" tIns="0" rIns="0" bIns="0" rtlCol="0" anchor="ctr"/>
          <a:lstStyle/>
          <a:p>
            <a:pPr indent="0" marL="0">
              <a:buNone/>
            </a:pPr>
            <a:r>
              <a:rPr lang="it-IT" sz="1400" b="1" dirty="0">
                <a:solidFill>
                  <a:schemeClr val="accent1"/>
                </a:solidFill>
              </a:rPr>
              <a:t>Stima</a:t>
            </a:r>
            <a:endParaRPr lang="it-IT" sz="1400" dirty="0"/>
          </a:p>
        </p:txBody>
      </p:sp>
      <p:sp>
        <p:nvSpPr>
          <p:cNvPr id="22" name="Text 19"/>
          <p:cNvSpPr txBox="1"/>
          <p:nvPr/>
        </p:nvSpPr>
        <p:spPr>
          <a:xfrm>
            <a:off x="4800600" y="1691640"/>
            <a:ext cx="1691640" cy="594360"/>
          </a:xfrm>
          <a:prstGeom prst="rect">
            <a:avLst/>
          </a:prstGeom>
          <a:noFill/>
          <a:ln/>
        </p:spPr>
        <p:txBody>
          <a:bodyPr wrap="square" lIns="0" tIns="0" rIns="0" bIns="0" rtlCol="0" anchor="t"/>
          <a:lstStyle/>
          <a:p>
            <a:pPr indent="0" marL="0">
              <a:buNone/>
            </a:pPr>
            <a:r>
              <a:rPr lang="it-IT" sz="1100" b="1" dirty="0">
                <a:solidFill>
                  <a:schemeClr val="tx1"/>
                </a:solidFill>
              </a:rPr>
              <a:t>Valore calcolato da dati parziali e assunzioni</a:t>
            </a:r>
            <a:endParaRPr lang="it-IT" sz="1100" dirty="0"/>
          </a:p>
        </p:txBody>
      </p:sp>
      <p:sp>
        <p:nvSpPr>
          <p:cNvPr id="23" name="Text 20"/>
          <p:cNvSpPr txBox="1"/>
          <p:nvPr/>
        </p:nvSpPr>
        <p:spPr>
          <a:xfrm>
            <a:off x="4800600" y="2331720"/>
            <a:ext cx="1691640" cy="640080"/>
          </a:xfrm>
          <a:prstGeom prst="rect">
            <a:avLst/>
          </a:prstGeom>
          <a:noFill/>
          <a:ln/>
        </p:spPr>
        <p:txBody>
          <a:bodyPr wrap="square" lIns="0" tIns="0" rIns="0" bIns="0" rtlCol="0" anchor="t"/>
          <a:lstStyle/>
          <a:p>
            <a:pPr indent="0" marL="0">
              <a:buNone/>
            </a:pPr>
            <a:r>
              <a:rPr lang="it-IT" sz="1100" i="1" dirty="0">
                <a:solidFill>
                  <a:schemeClr val="tx2"/>
                </a:solidFill>
              </a:rPr>
              <a:t>"Circa 3.000 clienti potenziali"</a:t>
            </a:r>
            <a:endParaRPr lang="it-IT" sz="1100" dirty="0"/>
          </a:p>
        </p:txBody>
      </p:sp>
      <p:sp>
        <p:nvSpPr>
          <p:cNvPr id="24" name="Text 21"/>
          <p:cNvSpPr txBox="1"/>
          <p:nvPr/>
        </p:nvSpPr>
        <p:spPr>
          <a:xfrm>
            <a:off x="4800600" y="3017520"/>
            <a:ext cx="1691640" cy="548640"/>
          </a:xfrm>
          <a:prstGeom prst="rect">
            <a:avLst/>
          </a:prstGeom>
          <a:noFill/>
          <a:ln/>
        </p:spPr>
        <p:txBody>
          <a:bodyPr wrap="square" lIns="0" tIns="0" rIns="0" bIns="0" rtlCol="0" anchor="t"/>
          <a:lstStyle/>
          <a:p>
            <a:pPr indent="0" marL="0">
              <a:buNone/>
            </a:pPr>
            <a:r>
              <a:rPr lang="it-IT" sz="1100" b="1" dirty="0">
                <a:solidFill>
                  <a:schemeClr val="tx1"/>
                </a:solidFill>
              </a:rPr>
              <a:t>Utile con metodo e assunzioni dichiarati</a:t>
            </a:r>
            <a:endParaRPr lang="it-IT" sz="1100" dirty="0"/>
          </a:p>
        </p:txBody>
      </p:sp>
      <p:sp>
        <p:nvSpPr>
          <p:cNvPr id="25" name="Simulazione o scenario"/>
          <p:cNvSpPr/>
          <p:nvPr/>
        </p:nvSpPr>
        <p:spPr>
          <a:xfrm>
            <a:off x="6766560" y="1097280"/>
            <a:ext cx="1965960" cy="2560320"/>
          </a:xfrm>
          <a:prstGeom prst="roundRect">
            <a:avLst>
              <a:gd name="adj" fmla="val 3721"/>
            </a:avLst>
          </a:prstGeom>
          <a:solidFill>
            <a:schemeClr val="accent6"/>
          </a:solidFill>
          <a:ln/>
        </p:spPr>
      </p:sp>
      <p:sp>
        <p:nvSpPr>
          <p:cNvPr id="26" name="Text 23"/>
          <p:cNvSpPr txBox="1"/>
          <p:nvPr/>
        </p:nvSpPr>
        <p:spPr>
          <a:xfrm>
            <a:off x="6903720" y="1170432"/>
            <a:ext cx="1691640" cy="502920"/>
          </a:xfrm>
          <a:prstGeom prst="rect">
            <a:avLst/>
          </a:prstGeom>
          <a:noFill/>
          <a:ln/>
        </p:spPr>
        <p:txBody>
          <a:bodyPr wrap="square" lIns="0" tIns="0" rIns="0" bIns="0" rtlCol="0" anchor="ctr"/>
          <a:lstStyle/>
          <a:p>
            <a:pPr indent="0" marL="0">
              <a:buNone/>
            </a:pPr>
            <a:r>
              <a:rPr lang="it-IT" sz="1400" b="1" dirty="0">
                <a:solidFill>
                  <a:schemeClr val="accent1"/>
                </a:solidFill>
              </a:rPr>
              <a:t>Simulazione o scenario</a:t>
            </a:r>
            <a:endParaRPr lang="it-IT" sz="1400" dirty="0"/>
          </a:p>
        </p:txBody>
      </p:sp>
      <p:sp>
        <p:nvSpPr>
          <p:cNvPr id="27" name="Text 24"/>
          <p:cNvSpPr txBox="1"/>
          <p:nvPr/>
        </p:nvSpPr>
        <p:spPr>
          <a:xfrm>
            <a:off x="6903720" y="1691640"/>
            <a:ext cx="1691640" cy="594360"/>
          </a:xfrm>
          <a:prstGeom prst="rect">
            <a:avLst/>
          </a:prstGeom>
          <a:noFill/>
          <a:ln/>
        </p:spPr>
        <p:txBody>
          <a:bodyPr wrap="square" lIns="0" tIns="0" rIns="0" bIns="0" rtlCol="0" anchor="t"/>
          <a:lstStyle/>
          <a:p>
            <a:pPr indent="0" marL="0">
              <a:buNone/>
            </a:pPr>
            <a:r>
              <a:rPr lang="it-IT" sz="1100" b="1" dirty="0">
                <a:solidFill>
                  <a:schemeClr val="tx1"/>
                </a:solidFill>
              </a:rPr>
              <a:t>Che cosa succederebbe a certe condizioni</a:t>
            </a:r>
            <a:endParaRPr lang="it-IT" sz="1100" dirty="0"/>
          </a:p>
        </p:txBody>
      </p:sp>
      <p:sp>
        <p:nvSpPr>
          <p:cNvPr id="28" name="Text 25"/>
          <p:cNvSpPr txBox="1"/>
          <p:nvPr/>
        </p:nvSpPr>
        <p:spPr>
          <a:xfrm>
            <a:off x="6903720" y="2331720"/>
            <a:ext cx="1691640" cy="640080"/>
          </a:xfrm>
          <a:prstGeom prst="rect">
            <a:avLst/>
          </a:prstGeom>
          <a:noFill/>
          <a:ln/>
        </p:spPr>
        <p:txBody>
          <a:bodyPr wrap="square" lIns="0" tIns="0" rIns="0" bIns="0" rtlCol="0" anchor="t"/>
          <a:lstStyle/>
          <a:p>
            <a:pPr indent="0" marL="0">
              <a:buNone/>
            </a:pPr>
            <a:r>
              <a:rPr lang="it-IT" sz="1100" i="1" dirty="0">
                <a:solidFill>
                  <a:schemeClr val="tx2"/>
                </a:solidFill>
              </a:rPr>
              <a:t>"Con prezzo +5%, ricavi tra +2% e +4%"</a:t>
            </a:r>
            <a:endParaRPr lang="it-IT" sz="1100" dirty="0"/>
          </a:p>
        </p:txBody>
      </p:sp>
      <p:sp>
        <p:nvSpPr>
          <p:cNvPr id="29" name="Text 26"/>
          <p:cNvSpPr txBox="1"/>
          <p:nvPr/>
        </p:nvSpPr>
        <p:spPr>
          <a:xfrm>
            <a:off x="6903720" y="3017520"/>
            <a:ext cx="1691640" cy="548640"/>
          </a:xfrm>
          <a:prstGeom prst="rect">
            <a:avLst/>
          </a:prstGeom>
          <a:noFill/>
          <a:ln/>
        </p:spPr>
        <p:txBody>
          <a:bodyPr wrap="square" lIns="0" tIns="0" rIns="0" bIns="0" rtlCol="0" anchor="t"/>
          <a:lstStyle/>
          <a:p>
            <a:pPr indent="0" marL="0">
              <a:buNone/>
            </a:pPr>
            <a:r>
              <a:rPr lang="it-IT" sz="1100" b="1" dirty="0">
                <a:solidFill>
                  <a:schemeClr val="tx1"/>
                </a:solidFill>
              </a:rPr>
              <a:t>Utile per decidere, non è un dato</a:t>
            </a:r>
            <a:endParaRPr lang="it-IT" sz="1100" dirty="0"/>
          </a:p>
        </p:txBody>
      </p:sp>
      <p:sp>
        <p:nvSpPr>
          <p:cNvPr id="30" name="messaggio"/>
          <p:cNvSpPr/>
          <p:nvPr/>
        </p:nvSpPr>
        <p:spPr>
          <a:xfrm>
            <a:off x="457200" y="3840480"/>
            <a:ext cx="8229600" cy="685800"/>
          </a:xfrm>
          <a:prstGeom prst="roundRect">
            <a:avLst>
              <a:gd name="adj" fmla="val 10667"/>
            </a:avLst>
          </a:prstGeom>
          <a:solidFill>
            <a:schemeClr val="tx1"/>
          </a:solidFill>
          <a:ln/>
        </p:spPr>
      </p:sp>
      <p:sp>
        <p:nvSpPr>
          <p:cNvPr id="31" name="Text 28"/>
          <p:cNvSpPr txBox="1"/>
          <p:nvPr/>
        </p:nvSpPr>
        <p:spPr>
          <a:xfrm>
            <a:off x="640080" y="3840480"/>
            <a:ext cx="7863840" cy="685800"/>
          </a:xfrm>
          <a:prstGeom prst="rect">
            <a:avLst/>
          </a:prstGeom>
          <a:noFill/>
          <a:ln/>
        </p:spPr>
        <p:txBody>
          <a:bodyPr wrap="square" lIns="0" tIns="0" rIns="0" bIns="0" rtlCol="0" anchor="ctr"/>
          <a:lstStyle/>
          <a:p>
            <a:pPr indent="0" marL="0">
              <a:buNone/>
            </a:pPr>
            <a:r>
              <a:rPr lang="it-IT" sz="1300" dirty="0">
                <a:solidFill>
                  <a:schemeClr val="bg1"/>
                </a:solidFill>
              </a:rPr>
              <a:t>Ipotesi, stime e scenari sono utili, purché dichiarati: il problema è presentarli come dati accertati.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it-IT" sz="2600" dirty="0">
                <a:solidFill>
                  <a:schemeClr val="bg1"/>
                </a:solidFill>
              </a:rPr>
              <a:t>Una citazione non costituisce automaticamente una prova: occorre controllare che la fonte sia autentica, pertinente e sostenga l'affermazione.</a:t>
            </a:r>
            <a:endParaRPr lang="it-IT"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it-IT" sz="1300" dirty="0">
                <a:solidFill>
                  <a:schemeClr val="accent3"/>
                </a:solidFill>
              </a:rPr>
              <a:t>Sottotema 7.3  ·  Verifica delle informazioni e delle fonti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7.4</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Valutare ragionamenti e conclusioni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Informazioni singolarmente corrette non assicurano che la conclusione tratta da esse sia giustificata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Premesse, dati e conclusioni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Dati"/>
          <p:cNvSpPr/>
          <p:nvPr/>
        </p:nvSpPr>
        <p:spPr>
          <a:xfrm>
            <a:off x="457200" y="1097280"/>
            <a:ext cx="1645920" cy="603504"/>
          </a:xfrm>
          <a:prstGeom prst="roundRect">
            <a:avLst>
              <a:gd name="adj" fmla="val 12121"/>
            </a:avLst>
          </a:prstGeom>
          <a:solidFill>
            <a:schemeClr val="bg2"/>
          </a:solidFill>
          <a:ln/>
        </p:spPr>
      </p:sp>
      <p:sp>
        <p:nvSpPr>
          <p:cNvPr id="11" name="Text 8"/>
          <p:cNvSpPr txBox="1"/>
          <p:nvPr/>
        </p:nvSpPr>
        <p:spPr>
          <a:xfrm>
            <a:off x="502920" y="1097280"/>
            <a:ext cx="1554480" cy="603504"/>
          </a:xfrm>
          <a:prstGeom prst="rect">
            <a:avLst/>
          </a:prstGeom>
          <a:noFill/>
          <a:ln/>
        </p:spPr>
        <p:txBody>
          <a:bodyPr wrap="square" lIns="0" tIns="0" rIns="0" bIns="0" rtlCol="0" anchor="ctr"/>
          <a:lstStyle/>
          <a:p>
            <a:pPr algn="ctr" indent="0" marL="0">
              <a:buNone/>
            </a:pPr>
            <a:r>
              <a:rPr lang="it-IT" sz="1400" b="1" dirty="0">
                <a:solidFill>
                  <a:schemeClr val="tx1"/>
                </a:solidFill>
              </a:rPr>
              <a:t>Dati</a:t>
            </a:r>
            <a:endParaRPr lang="it-IT" sz="1400" dirty="0"/>
          </a:p>
        </p:txBody>
      </p:sp>
      <p:sp>
        <p:nvSpPr>
          <p:cNvPr id="12" name="testo Dati"/>
          <p:cNvSpPr/>
          <p:nvPr/>
        </p:nvSpPr>
        <p:spPr>
          <a:xfrm>
            <a:off x="2194560" y="1097280"/>
            <a:ext cx="3108960" cy="603504"/>
          </a:xfrm>
          <a:prstGeom prst="roundRect">
            <a:avLst>
              <a:gd name="adj" fmla="val 12121"/>
            </a:avLst>
          </a:prstGeom>
          <a:solidFill>
            <a:schemeClr val="bg1"/>
          </a:solidFill>
          <a:ln w="12700">
            <a:solidFill>
              <a:schemeClr val="accent3"/>
            </a:solidFill>
            <a:prstDash val="solid"/>
          </a:ln>
        </p:spPr>
      </p:sp>
      <p:sp>
        <p:nvSpPr>
          <p:cNvPr id="13" name="Text 10"/>
          <p:cNvSpPr txBox="1"/>
          <p:nvPr/>
        </p:nvSpPr>
        <p:spPr>
          <a:xfrm>
            <a:off x="2331720" y="1097280"/>
            <a:ext cx="2880360" cy="603504"/>
          </a:xfrm>
          <a:prstGeom prst="rect">
            <a:avLst/>
          </a:prstGeom>
          <a:noFill/>
          <a:ln/>
        </p:spPr>
        <p:txBody>
          <a:bodyPr wrap="square" lIns="0" tIns="0" rIns="0" bIns="0" rtlCol="0" anchor="ctr"/>
          <a:lstStyle/>
          <a:p>
            <a:pPr indent="0" marL="0">
              <a:buNone/>
            </a:pPr>
            <a:r>
              <a:rPr lang="it-IT" sz="1200" dirty="0">
                <a:solidFill>
                  <a:schemeClr val="tx1"/>
                </a:solidFill>
              </a:rPr>
              <a:t>Vendite online +30%, vendite in negozio -5%</a:t>
            </a:r>
            <a:endParaRPr lang="it-IT" sz="1200" dirty="0"/>
          </a:p>
        </p:txBody>
      </p:sp>
      <p:sp>
        <p:nvSpPr>
          <p:cNvPr id="14" name="freccia"/>
          <p:cNvSpPr/>
          <p:nvPr/>
        </p:nvSpPr>
        <p:spPr>
          <a:xfrm>
            <a:off x="1143000" y="1709928"/>
            <a:ext cx="274320" cy="109728"/>
          </a:xfrm>
          <a:prstGeom prst="downArrow">
            <a:avLst/>
          </a:prstGeom>
          <a:solidFill>
            <a:schemeClr val="accent2"/>
          </a:solidFill>
          <a:ln/>
        </p:spPr>
      </p:sp>
      <p:sp>
        <p:nvSpPr>
          <p:cNvPr id="15" name="Premessa"/>
          <p:cNvSpPr/>
          <p:nvPr/>
        </p:nvSpPr>
        <p:spPr>
          <a:xfrm>
            <a:off x="457200" y="1828800"/>
            <a:ext cx="1645920" cy="603504"/>
          </a:xfrm>
          <a:prstGeom prst="roundRect">
            <a:avLst>
              <a:gd name="adj" fmla="val 12121"/>
            </a:avLst>
          </a:prstGeom>
          <a:solidFill>
            <a:schemeClr val="accent6"/>
          </a:solidFill>
          <a:ln/>
        </p:spPr>
      </p:sp>
      <p:sp>
        <p:nvSpPr>
          <p:cNvPr id="16" name="Text 13"/>
          <p:cNvSpPr txBox="1"/>
          <p:nvPr/>
        </p:nvSpPr>
        <p:spPr>
          <a:xfrm>
            <a:off x="502920" y="1828800"/>
            <a:ext cx="1554480" cy="603504"/>
          </a:xfrm>
          <a:prstGeom prst="rect">
            <a:avLst/>
          </a:prstGeom>
          <a:noFill/>
          <a:ln/>
        </p:spPr>
        <p:txBody>
          <a:bodyPr wrap="square" lIns="0" tIns="0" rIns="0" bIns="0" rtlCol="0" anchor="ctr"/>
          <a:lstStyle/>
          <a:p>
            <a:pPr algn="ctr" indent="0" marL="0">
              <a:buNone/>
            </a:pPr>
            <a:r>
              <a:rPr lang="it-IT" sz="1400" b="1" dirty="0">
                <a:solidFill>
                  <a:schemeClr val="tx1"/>
                </a:solidFill>
              </a:rPr>
              <a:t>Premessa</a:t>
            </a:r>
            <a:endParaRPr lang="it-IT" sz="1400" dirty="0"/>
          </a:p>
        </p:txBody>
      </p:sp>
      <p:sp>
        <p:nvSpPr>
          <p:cNvPr id="17" name="testo Premessa"/>
          <p:cNvSpPr/>
          <p:nvPr/>
        </p:nvSpPr>
        <p:spPr>
          <a:xfrm>
            <a:off x="2194560" y="1828800"/>
            <a:ext cx="3108960" cy="603504"/>
          </a:xfrm>
          <a:prstGeom prst="roundRect">
            <a:avLst>
              <a:gd name="adj" fmla="val 12121"/>
            </a:avLst>
          </a:prstGeom>
          <a:solidFill>
            <a:schemeClr val="bg1"/>
          </a:solidFill>
          <a:ln w="12700">
            <a:solidFill>
              <a:schemeClr val="accent3"/>
            </a:solidFill>
            <a:prstDash val="solid"/>
          </a:ln>
        </p:spPr>
      </p:sp>
      <p:sp>
        <p:nvSpPr>
          <p:cNvPr id="18" name="Text 15"/>
          <p:cNvSpPr txBox="1"/>
          <p:nvPr/>
        </p:nvSpPr>
        <p:spPr>
          <a:xfrm>
            <a:off x="2331720" y="1828800"/>
            <a:ext cx="2880360" cy="603504"/>
          </a:xfrm>
          <a:prstGeom prst="rect">
            <a:avLst/>
          </a:prstGeom>
          <a:noFill/>
          <a:ln/>
        </p:spPr>
        <p:txBody>
          <a:bodyPr wrap="square" lIns="0" tIns="0" rIns="0" bIns="0" rtlCol="0" anchor="ctr"/>
          <a:lstStyle/>
          <a:p>
            <a:pPr indent="0" marL="0">
              <a:buNone/>
            </a:pPr>
            <a:r>
              <a:rPr lang="it-IT" sz="1200" dirty="0">
                <a:solidFill>
                  <a:schemeClr val="tx1"/>
                </a:solidFill>
              </a:rPr>
              <a:t>I clienti preferiscono sempre più acquistare online</a:t>
            </a:r>
            <a:endParaRPr lang="it-IT" sz="1200" dirty="0"/>
          </a:p>
        </p:txBody>
      </p:sp>
      <p:sp>
        <p:nvSpPr>
          <p:cNvPr id="19" name="freccia"/>
          <p:cNvSpPr/>
          <p:nvPr/>
        </p:nvSpPr>
        <p:spPr>
          <a:xfrm>
            <a:off x="1143000" y="2441448"/>
            <a:ext cx="274320" cy="109728"/>
          </a:xfrm>
          <a:prstGeom prst="downArrow">
            <a:avLst/>
          </a:prstGeom>
          <a:solidFill>
            <a:schemeClr val="accent2"/>
          </a:solidFill>
          <a:ln/>
        </p:spPr>
      </p:sp>
      <p:sp>
        <p:nvSpPr>
          <p:cNvPr id="20" name="Conclusione"/>
          <p:cNvSpPr/>
          <p:nvPr/>
        </p:nvSpPr>
        <p:spPr>
          <a:xfrm>
            <a:off x="457200" y="2560320"/>
            <a:ext cx="1645920" cy="603504"/>
          </a:xfrm>
          <a:prstGeom prst="roundRect">
            <a:avLst>
              <a:gd name="adj" fmla="val 12121"/>
            </a:avLst>
          </a:prstGeom>
          <a:solidFill>
            <a:schemeClr val="accent1"/>
          </a:solidFill>
          <a:ln/>
        </p:spPr>
      </p:sp>
      <p:sp>
        <p:nvSpPr>
          <p:cNvPr id="21" name="Text 18"/>
          <p:cNvSpPr txBox="1"/>
          <p:nvPr/>
        </p:nvSpPr>
        <p:spPr>
          <a:xfrm>
            <a:off x="502920" y="2560320"/>
            <a:ext cx="1554480" cy="603504"/>
          </a:xfrm>
          <a:prstGeom prst="rect">
            <a:avLst/>
          </a:prstGeom>
          <a:noFill/>
          <a:ln/>
        </p:spPr>
        <p:txBody>
          <a:bodyPr wrap="square" lIns="0" tIns="0" rIns="0" bIns="0" rtlCol="0" anchor="ctr"/>
          <a:lstStyle/>
          <a:p>
            <a:pPr algn="ctr" indent="0" marL="0">
              <a:buNone/>
            </a:pPr>
            <a:r>
              <a:rPr lang="it-IT" sz="1400" b="1" dirty="0">
                <a:solidFill>
                  <a:schemeClr val="bg1"/>
                </a:solidFill>
              </a:rPr>
              <a:t>Conclusione</a:t>
            </a:r>
            <a:endParaRPr lang="it-IT" sz="1400" dirty="0"/>
          </a:p>
        </p:txBody>
      </p:sp>
      <p:sp>
        <p:nvSpPr>
          <p:cNvPr id="22" name="testo Conclusione"/>
          <p:cNvSpPr/>
          <p:nvPr/>
        </p:nvSpPr>
        <p:spPr>
          <a:xfrm>
            <a:off x="2194560" y="2560320"/>
            <a:ext cx="3108960" cy="603504"/>
          </a:xfrm>
          <a:prstGeom prst="roundRect">
            <a:avLst>
              <a:gd name="adj" fmla="val 12121"/>
            </a:avLst>
          </a:prstGeom>
          <a:solidFill>
            <a:schemeClr val="bg1"/>
          </a:solidFill>
          <a:ln w="12700">
            <a:solidFill>
              <a:schemeClr val="accent3"/>
            </a:solidFill>
            <a:prstDash val="solid"/>
          </a:ln>
        </p:spPr>
      </p:sp>
      <p:sp>
        <p:nvSpPr>
          <p:cNvPr id="23" name="Text 20"/>
          <p:cNvSpPr txBox="1"/>
          <p:nvPr/>
        </p:nvSpPr>
        <p:spPr>
          <a:xfrm>
            <a:off x="2331720" y="2560320"/>
            <a:ext cx="2880360" cy="603504"/>
          </a:xfrm>
          <a:prstGeom prst="rect">
            <a:avLst/>
          </a:prstGeom>
          <a:noFill/>
          <a:ln/>
        </p:spPr>
        <p:txBody>
          <a:bodyPr wrap="square" lIns="0" tIns="0" rIns="0" bIns="0" rtlCol="0" anchor="ctr"/>
          <a:lstStyle/>
          <a:p>
            <a:pPr indent="0" marL="0">
              <a:buNone/>
            </a:pPr>
            <a:r>
              <a:rPr lang="it-IT" sz="1200" dirty="0">
                <a:solidFill>
                  <a:schemeClr val="tx1"/>
                </a:solidFill>
              </a:rPr>
              <a:t>Conviene chiudere alcuni negozi</a:t>
            </a:r>
            <a:endParaRPr lang="it-IT" sz="1200" dirty="0"/>
          </a:p>
        </p:txBody>
      </p:sp>
      <p:sp>
        <p:nvSpPr>
          <p:cNvPr id="24" name="Text 21"/>
          <p:cNvSpPr txBox="1"/>
          <p:nvPr/>
        </p:nvSpPr>
        <p:spPr>
          <a:xfrm>
            <a:off x="5577840" y="1097280"/>
            <a:ext cx="3108960" cy="274320"/>
          </a:xfrm>
          <a:prstGeom prst="rect">
            <a:avLst/>
          </a:prstGeom>
          <a:noFill/>
          <a:ln/>
        </p:spPr>
        <p:txBody>
          <a:bodyPr wrap="square" lIns="0" tIns="0" rIns="0" bIns="0" rtlCol="0" anchor="t"/>
          <a:lstStyle/>
          <a:p>
            <a:pPr indent="0" marL="0">
              <a:buNone/>
            </a:pPr>
            <a:r>
              <a:rPr lang="it-IT" sz="1400" b="1" dirty="0">
                <a:solidFill>
                  <a:schemeClr val="tx1"/>
                </a:solidFill>
              </a:rPr>
              <a:t>Domande</a:t>
            </a:r>
            <a:endParaRPr lang="it-IT" sz="1400" dirty="0"/>
          </a:p>
        </p:txBody>
      </p:sp>
      <p:sp>
        <p:nvSpPr>
          <p:cNvPr id="25" name="riga 0"/>
          <p:cNvSpPr/>
          <p:nvPr/>
        </p:nvSpPr>
        <p:spPr>
          <a:xfrm>
            <a:off x="5577840" y="1444752"/>
            <a:ext cx="3108960" cy="502920"/>
          </a:xfrm>
          <a:prstGeom prst="roundRect">
            <a:avLst>
              <a:gd name="adj" fmla="val 14545"/>
            </a:avLst>
          </a:prstGeom>
          <a:solidFill>
            <a:schemeClr val="bg2"/>
          </a:solidFill>
          <a:ln/>
        </p:spPr>
      </p:sp>
      <p:sp>
        <p:nvSpPr>
          <p:cNvPr id="26" name="Text 23"/>
          <p:cNvSpPr txBox="1"/>
          <p:nvPr/>
        </p:nvSpPr>
        <p:spPr>
          <a:xfrm>
            <a:off x="5760720" y="1444752"/>
            <a:ext cx="2743200" cy="502920"/>
          </a:xfrm>
          <a:prstGeom prst="rect">
            <a:avLst/>
          </a:prstGeom>
          <a:noFill/>
          <a:ln/>
        </p:spPr>
        <p:txBody>
          <a:bodyPr wrap="square" lIns="0" tIns="0" rIns="0" bIns="0" rtlCol="0" anchor="ctr"/>
          <a:lstStyle/>
          <a:p>
            <a:pPr indent="0" marL="0">
              <a:buNone/>
            </a:pPr>
            <a:r>
              <a:rPr lang="it-IT" sz="1200" dirty="0">
                <a:solidFill>
                  <a:schemeClr val="tx1"/>
                </a:solidFill>
              </a:rPr>
              <a:t>I dati sono corretti?</a:t>
            </a:r>
            <a:endParaRPr lang="it-IT" sz="1200" dirty="0"/>
          </a:p>
        </p:txBody>
      </p:sp>
      <p:sp>
        <p:nvSpPr>
          <p:cNvPr id="27" name="riga 1"/>
          <p:cNvSpPr/>
          <p:nvPr/>
        </p:nvSpPr>
        <p:spPr>
          <a:xfrm>
            <a:off x="5577840" y="2020824"/>
            <a:ext cx="3108960" cy="502920"/>
          </a:xfrm>
          <a:prstGeom prst="roundRect">
            <a:avLst>
              <a:gd name="adj" fmla="val 14545"/>
            </a:avLst>
          </a:prstGeom>
          <a:solidFill>
            <a:schemeClr val="bg1"/>
          </a:solidFill>
          <a:ln/>
        </p:spPr>
      </p:sp>
      <p:sp>
        <p:nvSpPr>
          <p:cNvPr id="28" name="Text 25"/>
          <p:cNvSpPr txBox="1"/>
          <p:nvPr/>
        </p:nvSpPr>
        <p:spPr>
          <a:xfrm>
            <a:off x="5760720" y="2020824"/>
            <a:ext cx="2743200" cy="502920"/>
          </a:xfrm>
          <a:prstGeom prst="rect">
            <a:avLst/>
          </a:prstGeom>
          <a:noFill/>
          <a:ln/>
        </p:spPr>
        <p:txBody>
          <a:bodyPr wrap="square" lIns="0" tIns="0" rIns="0" bIns="0" rtlCol="0" anchor="ctr"/>
          <a:lstStyle/>
          <a:p>
            <a:pPr indent="0" marL="0">
              <a:buNone/>
            </a:pPr>
            <a:r>
              <a:rPr lang="it-IT" sz="1200" dirty="0">
                <a:solidFill>
                  <a:schemeClr val="tx1"/>
                </a:solidFill>
              </a:rPr>
              <a:t>La premessa è dimostrata o interpretata?</a:t>
            </a:r>
            <a:endParaRPr lang="it-IT" sz="1200" dirty="0"/>
          </a:p>
        </p:txBody>
      </p:sp>
      <p:sp>
        <p:nvSpPr>
          <p:cNvPr id="29" name="riga 2"/>
          <p:cNvSpPr/>
          <p:nvPr/>
        </p:nvSpPr>
        <p:spPr>
          <a:xfrm>
            <a:off x="5577840" y="2596896"/>
            <a:ext cx="3108960" cy="502920"/>
          </a:xfrm>
          <a:prstGeom prst="roundRect">
            <a:avLst>
              <a:gd name="adj" fmla="val 14545"/>
            </a:avLst>
          </a:prstGeom>
          <a:solidFill>
            <a:schemeClr val="bg2"/>
          </a:solidFill>
          <a:ln/>
        </p:spPr>
      </p:sp>
      <p:sp>
        <p:nvSpPr>
          <p:cNvPr id="30" name="Text 27"/>
          <p:cNvSpPr txBox="1"/>
          <p:nvPr/>
        </p:nvSpPr>
        <p:spPr>
          <a:xfrm>
            <a:off x="5760720" y="2596896"/>
            <a:ext cx="2743200" cy="502920"/>
          </a:xfrm>
          <a:prstGeom prst="rect">
            <a:avLst/>
          </a:prstGeom>
          <a:noFill/>
          <a:ln/>
        </p:spPr>
        <p:txBody>
          <a:bodyPr wrap="square" lIns="0" tIns="0" rIns="0" bIns="0" rtlCol="0" anchor="ctr"/>
          <a:lstStyle/>
          <a:p>
            <a:pPr indent="0" marL="0">
              <a:buNone/>
            </a:pPr>
            <a:r>
              <a:rPr lang="it-IT" sz="1200" dirty="0">
                <a:solidFill>
                  <a:schemeClr val="tx1"/>
                </a:solidFill>
              </a:rPr>
              <a:t>Mancano informazioni? Margini, ruolo dei negozi, costi</a:t>
            </a:r>
            <a:endParaRPr lang="it-IT" sz="1200" dirty="0"/>
          </a:p>
        </p:txBody>
      </p:sp>
      <p:sp>
        <p:nvSpPr>
          <p:cNvPr id="31" name="passaggi deboli"/>
          <p:cNvSpPr/>
          <p:nvPr/>
        </p:nvSpPr>
        <p:spPr>
          <a:xfrm>
            <a:off x="457200" y="3429000"/>
            <a:ext cx="8229600" cy="1097280"/>
          </a:xfrm>
          <a:prstGeom prst="roundRect">
            <a:avLst>
              <a:gd name="adj" fmla="val 6667"/>
            </a:avLst>
          </a:prstGeom>
          <a:solidFill>
            <a:schemeClr val="tx1"/>
          </a:solidFill>
          <a:ln/>
        </p:spPr>
      </p:sp>
      <p:sp>
        <p:nvSpPr>
          <p:cNvPr id="32" name="Text 29"/>
          <p:cNvSpPr txBox="1"/>
          <p:nvPr/>
        </p:nvSpPr>
        <p:spPr>
          <a:xfrm>
            <a:off x="640080" y="3429000"/>
            <a:ext cx="7863840" cy="1097280"/>
          </a:xfrm>
          <a:prstGeom prst="rect">
            <a:avLst/>
          </a:prstGeom>
          <a:noFill/>
          <a:ln/>
        </p:spPr>
        <p:txBody>
          <a:bodyPr wrap="square" lIns="0" tIns="0" rIns="0" bIns="0" rtlCol="0" anchor="ctr"/>
          <a:lstStyle/>
          <a:p>
            <a:pPr indent="0" marL="0">
              <a:buNone/>
            </a:pPr>
            <a:r>
              <a:rPr lang="it-IT" sz="1300" b="1" dirty="0">
                <a:solidFill>
                  <a:schemeClr val="accent1"/>
                </a:solidFill>
              </a:rPr>
              <a:t>Passaggi deboli: </a:t>
            </a:r>
            <a:pPr indent="0" marL="0">
              <a:buNone/>
            </a:pPr>
            <a:r>
              <a:rPr lang="it-IT" sz="1300" dirty="0">
                <a:solidFill>
                  <a:schemeClr val="bg1"/>
                </a:solidFill>
              </a:rPr>
              <a:t>"quindi", "di conseguenza" senza dimostrazione; conclusione più forte delle premesse; elementi nuovi solo alla fine. </a:t>
            </a:r>
            <a:pPr indent="0" marL="0">
              <a:buNone/>
            </a:pPr>
            <a:r>
              <a:rPr lang="it-IT" sz="1300" i="1" dirty="0">
                <a:solidFill>
                  <a:schemeClr val="accent3"/>
                </a:solidFill>
              </a:rPr>
              <a:t>Esempio: da "alcuni clienti si sono lamentati" a "il prodotto ha un problema di qualità".</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Correlazione e causalità</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scheda Un terzo fattore"/>
          <p:cNvSpPr/>
          <p:nvPr/>
        </p:nvSpPr>
        <p:spPr>
          <a:xfrm>
            <a:off x="457200" y="1097280"/>
            <a:ext cx="2615184" cy="2194560"/>
          </a:xfrm>
          <a:prstGeom prst="roundRect">
            <a:avLst>
              <a:gd name="adj" fmla="val 3333"/>
            </a:avLst>
          </a:prstGeom>
          <a:solidFill>
            <a:schemeClr val="bg2"/>
          </a:solidFill>
          <a:ln/>
        </p:spPr>
      </p:sp>
      <p:sp>
        <p:nvSpPr>
          <p:cNvPr id="11" name="cerchio FiShare2"/>
          <p:cNvSpPr/>
          <p:nvPr/>
        </p:nvSpPr>
        <p:spPr>
          <a:xfrm>
            <a:off x="640080" y="1280160"/>
            <a:ext cx="457200" cy="457200"/>
          </a:xfrm>
          <a:prstGeom prst="ellipse">
            <a:avLst/>
          </a:prstGeom>
          <a:solidFill>
            <a:schemeClr val="accent1"/>
          </a:solidFill>
          <a:ln/>
        </p:spPr>
      </p:sp>
      <p:pic>
        <p:nvPicPr>
          <p:cNvPr id="12" name="Image 0" descr="FiShare2">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Un terzo fattore</a:t>
            </a:r>
            <a:endParaRPr lang="it-IT" sz="1500" dirty="0"/>
          </a:p>
        </p:txBody>
      </p:sp>
      <p:sp>
        <p:nvSpPr>
          <p:cNvPr id="14" name="Text 10"/>
          <p:cNvSpPr txBox="1"/>
          <p:nvPr/>
        </p:nvSpPr>
        <p:spPr>
          <a:xfrm>
            <a:off x="640080" y="2231136"/>
            <a:ext cx="2249424" cy="950976"/>
          </a:xfrm>
          <a:prstGeom prst="rect">
            <a:avLst/>
          </a:prstGeom>
          <a:noFill/>
          <a:ln/>
        </p:spPr>
        <p:txBody>
          <a:bodyPr wrap="square" lIns="0" tIns="0" rIns="0" bIns="0" rtlCol="0" anchor="t"/>
          <a:lstStyle/>
          <a:p>
            <a:pPr indent="0" marL="0">
              <a:buNone/>
            </a:pPr>
            <a:r>
              <a:rPr lang="it-IT" sz="1200" dirty="0">
                <a:solidFill>
                  <a:schemeClr val="tx2"/>
                </a:solidFill>
              </a:rPr>
              <a:t>Gelati e incidenti in spiaggia crescono insieme: la causa comune è il caldo</a:t>
            </a:r>
            <a:endParaRPr lang="it-IT" sz="1200" dirty="0"/>
          </a:p>
        </p:txBody>
      </p:sp>
      <p:sp>
        <p:nvSpPr>
          <p:cNvPr id="15" name="scheda Causalità inversa"/>
          <p:cNvSpPr/>
          <p:nvPr/>
        </p:nvSpPr>
        <p:spPr>
          <a:xfrm>
            <a:off x="3264408" y="1097280"/>
            <a:ext cx="2615184" cy="2194560"/>
          </a:xfrm>
          <a:prstGeom prst="roundRect">
            <a:avLst>
              <a:gd name="adj" fmla="val 3333"/>
            </a:avLst>
          </a:prstGeom>
          <a:solidFill>
            <a:schemeClr val="bg2"/>
          </a:solidFill>
          <a:ln/>
        </p:spPr>
      </p:sp>
      <p:sp>
        <p:nvSpPr>
          <p:cNvPr id="16" name="cerchio FiRepeat"/>
          <p:cNvSpPr/>
          <p:nvPr/>
        </p:nvSpPr>
        <p:spPr>
          <a:xfrm>
            <a:off x="3447288" y="1280160"/>
            <a:ext cx="457200" cy="457200"/>
          </a:xfrm>
          <a:prstGeom prst="ellipse">
            <a:avLst/>
          </a:prstGeom>
          <a:solidFill>
            <a:schemeClr val="accent1"/>
          </a:solidFill>
          <a:ln/>
        </p:spPr>
      </p:sp>
      <p:pic>
        <p:nvPicPr>
          <p:cNvPr id="17" name="Image 1" descr="FiRepeat">    </p:cNvPr>
          <p:cNvPicPr>
            <a:picLocks noChangeAspect="1"/>
          </p:cNvPicPr>
          <p:nvPr/>
        </p:nvPicPr>
        <p:blipFill>
          <a:blip r:embed="rId2"/>
          <a:stretch>
            <a:fillRect/>
          </a:stretch>
        </p:blipFill>
        <p:spPr>
          <a:xfrm>
            <a:off x="3561588" y="1394460"/>
            <a:ext cx="228600" cy="228600"/>
          </a:xfrm>
          <a:prstGeom prst="rect">
            <a:avLst/>
          </a:prstGeom>
        </p:spPr>
      </p:pic>
      <p:sp>
        <p:nvSpPr>
          <p:cNvPr id="18" name="Text 13"/>
          <p:cNvSpPr txBox="1"/>
          <p:nvPr/>
        </p:nvSpPr>
        <p:spPr>
          <a:xfrm>
            <a:off x="3447288"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Causalità inversa</a:t>
            </a:r>
            <a:endParaRPr lang="it-IT" sz="1500" dirty="0"/>
          </a:p>
        </p:txBody>
      </p:sp>
      <p:sp>
        <p:nvSpPr>
          <p:cNvPr id="19" name="Text 14"/>
          <p:cNvSpPr txBox="1"/>
          <p:nvPr/>
        </p:nvSpPr>
        <p:spPr>
          <a:xfrm>
            <a:off x="3447288" y="2231136"/>
            <a:ext cx="2249424" cy="950976"/>
          </a:xfrm>
          <a:prstGeom prst="rect">
            <a:avLst/>
          </a:prstGeom>
          <a:noFill/>
          <a:ln/>
        </p:spPr>
        <p:txBody>
          <a:bodyPr wrap="square" lIns="0" tIns="0" rIns="0" bIns="0" rtlCol="0" anchor="t"/>
          <a:lstStyle/>
          <a:p>
            <a:pPr indent="0" marL="0">
              <a:buNone/>
            </a:pPr>
            <a:r>
              <a:rPr lang="it-IT" sz="1200" dirty="0">
                <a:solidFill>
                  <a:schemeClr val="tx2"/>
                </a:solidFill>
              </a:rPr>
              <a:t>Formazione e risultati: forse sono i risultati a permettere la formazione</a:t>
            </a:r>
            <a:endParaRPr lang="it-IT" sz="1200" dirty="0"/>
          </a:p>
        </p:txBody>
      </p:sp>
      <p:sp>
        <p:nvSpPr>
          <p:cNvPr id="20" name="scheda Coincidenza"/>
          <p:cNvSpPr/>
          <p:nvPr/>
        </p:nvSpPr>
        <p:spPr>
          <a:xfrm>
            <a:off x="6071616" y="1097280"/>
            <a:ext cx="2615184" cy="2194560"/>
          </a:xfrm>
          <a:prstGeom prst="roundRect">
            <a:avLst>
              <a:gd name="adj" fmla="val 3333"/>
            </a:avLst>
          </a:prstGeom>
          <a:solidFill>
            <a:schemeClr val="bg2"/>
          </a:solidFill>
          <a:ln/>
        </p:spPr>
      </p:sp>
      <p:sp>
        <p:nvSpPr>
          <p:cNvPr id="21" name="cerchio FiShuffle"/>
          <p:cNvSpPr/>
          <p:nvPr/>
        </p:nvSpPr>
        <p:spPr>
          <a:xfrm>
            <a:off x="6254496" y="1280160"/>
            <a:ext cx="457200" cy="457200"/>
          </a:xfrm>
          <a:prstGeom prst="ellipse">
            <a:avLst/>
          </a:prstGeom>
          <a:solidFill>
            <a:schemeClr val="accent1"/>
          </a:solidFill>
          <a:ln/>
        </p:spPr>
      </p:sp>
      <p:pic>
        <p:nvPicPr>
          <p:cNvPr id="22" name="Image 2" descr="FiShuffle">    </p:cNvPr>
          <p:cNvPicPr>
            <a:picLocks noChangeAspect="1"/>
          </p:cNvPicPr>
          <p:nvPr/>
        </p:nvPicPr>
        <p:blipFill>
          <a:blip r:embed="rId3"/>
          <a:stretch>
            <a:fillRect/>
          </a:stretch>
        </p:blipFill>
        <p:spPr>
          <a:xfrm>
            <a:off x="6368796" y="1394460"/>
            <a:ext cx="228600" cy="228600"/>
          </a:xfrm>
          <a:prstGeom prst="rect">
            <a:avLst/>
          </a:prstGeom>
        </p:spPr>
      </p:pic>
      <p:sp>
        <p:nvSpPr>
          <p:cNvPr id="23" name="Text 17"/>
          <p:cNvSpPr txBox="1"/>
          <p:nvPr/>
        </p:nvSpPr>
        <p:spPr>
          <a:xfrm>
            <a:off x="6254496" y="1847088"/>
            <a:ext cx="2249424" cy="347472"/>
          </a:xfrm>
          <a:prstGeom prst="rect">
            <a:avLst/>
          </a:prstGeom>
          <a:noFill/>
          <a:ln/>
        </p:spPr>
        <p:txBody>
          <a:bodyPr wrap="square" lIns="0" tIns="0" rIns="0" bIns="0" rtlCol="0" anchor="t"/>
          <a:lstStyle/>
          <a:p>
            <a:pPr indent="0" marL="0">
              <a:buNone/>
            </a:pPr>
            <a:r>
              <a:rPr lang="it-IT" sz="1500" b="1" dirty="0">
                <a:solidFill>
                  <a:schemeClr val="tx1"/>
                </a:solidFill>
              </a:rPr>
              <a:t>Coincidenza</a:t>
            </a:r>
            <a:endParaRPr lang="it-IT" sz="1500" dirty="0"/>
          </a:p>
        </p:txBody>
      </p:sp>
      <p:sp>
        <p:nvSpPr>
          <p:cNvPr id="24" name="Text 18"/>
          <p:cNvSpPr txBox="1"/>
          <p:nvPr/>
        </p:nvSpPr>
        <p:spPr>
          <a:xfrm>
            <a:off x="6254496" y="2231136"/>
            <a:ext cx="2249424" cy="950976"/>
          </a:xfrm>
          <a:prstGeom prst="rect">
            <a:avLst/>
          </a:prstGeom>
          <a:noFill/>
          <a:ln/>
        </p:spPr>
        <p:txBody>
          <a:bodyPr wrap="square" lIns="0" tIns="0" rIns="0" bIns="0" rtlCol="0" anchor="t"/>
          <a:lstStyle/>
          <a:p>
            <a:pPr indent="0" marL="0">
              <a:buNone/>
            </a:pPr>
            <a:r>
              <a:rPr lang="it-IT" sz="1200" dirty="0">
                <a:solidFill>
                  <a:schemeClr val="tx2"/>
                </a:solidFill>
              </a:rPr>
              <a:t>Pochi dati o molte variabili: correlazioni casuali</a:t>
            </a:r>
            <a:endParaRPr lang="it-IT" sz="1200" dirty="0"/>
          </a:p>
        </p:txBody>
      </p:sp>
      <p:sp>
        <p:nvSpPr>
          <p:cNvPr id="25" name="frasi causali"/>
          <p:cNvSpPr/>
          <p:nvPr/>
        </p:nvSpPr>
        <p:spPr>
          <a:xfrm>
            <a:off x="457200" y="3474720"/>
            <a:ext cx="8229600" cy="1051560"/>
          </a:xfrm>
          <a:prstGeom prst="roundRect">
            <a:avLst>
              <a:gd name="adj" fmla="val 6957"/>
            </a:avLst>
          </a:prstGeom>
          <a:solidFill>
            <a:schemeClr val="tx1"/>
          </a:solidFill>
          <a:ln/>
        </p:spPr>
      </p:sp>
      <p:sp>
        <p:nvSpPr>
          <p:cNvPr id="26" name="Text 20"/>
          <p:cNvSpPr txBox="1"/>
          <p:nvPr/>
        </p:nvSpPr>
        <p:spPr>
          <a:xfrm>
            <a:off x="640080" y="3474720"/>
            <a:ext cx="7863840" cy="1051560"/>
          </a:xfrm>
          <a:prstGeom prst="rect">
            <a:avLst/>
          </a:prstGeom>
          <a:noFill/>
          <a:ln/>
        </p:spPr>
        <p:txBody>
          <a:bodyPr wrap="square" lIns="0" tIns="0" rIns="0" bIns="0" rtlCol="0" anchor="ctr"/>
          <a:lstStyle/>
          <a:p>
            <a:pPr indent="0" marL="0">
              <a:buNone/>
            </a:pPr>
            <a:r>
              <a:rPr lang="it-IT" sz="1400" b="1" dirty="0">
                <a:solidFill>
                  <a:schemeClr val="accent1"/>
                </a:solidFill>
              </a:rPr>
              <a:t>Attenzione a: </a:t>
            </a:r>
            <a:pPr indent="0" marL="0">
              <a:buNone/>
            </a:pPr>
            <a:r>
              <a:rPr lang="it-IT" sz="1400" dirty="0">
                <a:solidFill>
                  <a:schemeClr val="bg1"/>
                </a:solidFill>
              </a:rPr>
              <a:t>"grazie a", "a causa di", "ha portato a", "dimostra che". </a:t>
            </a:r>
            <a:pPr indent="0" marL="0">
              <a:buNone/>
            </a:pPr>
            <a:r>
              <a:rPr lang="it-IT" sz="1400" dirty="0">
                <a:solidFill>
                  <a:schemeClr val="accent3"/>
                </a:solidFill>
              </a:rPr>
              <a:t>Ci sono spiegazioni alternative? Evidenze che il legame sia causale?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Assunzioni e generalizzazioni indebite</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scheda Assunzioni implicite"/>
          <p:cNvSpPr/>
          <p:nvPr/>
        </p:nvSpPr>
        <p:spPr>
          <a:xfrm>
            <a:off x="457200" y="1097280"/>
            <a:ext cx="3977640" cy="2103120"/>
          </a:xfrm>
          <a:prstGeom prst="roundRect">
            <a:avLst>
              <a:gd name="adj" fmla="val 3478"/>
            </a:avLst>
          </a:prstGeom>
          <a:solidFill>
            <a:schemeClr val="bg2"/>
          </a:solidFill>
          <a:ln/>
        </p:spPr>
      </p:sp>
      <p:sp>
        <p:nvSpPr>
          <p:cNvPr id="11" name="cerchio FiEyeOff"/>
          <p:cNvSpPr/>
          <p:nvPr/>
        </p:nvSpPr>
        <p:spPr>
          <a:xfrm>
            <a:off x="640080" y="1280160"/>
            <a:ext cx="457200" cy="457200"/>
          </a:xfrm>
          <a:prstGeom prst="ellipse">
            <a:avLst/>
          </a:prstGeom>
          <a:solidFill>
            <a:schemeClr val="accent1"/>
          </a:solidFill>
          <a:ln/>
        </p:spPr>
      </p:sp>
      <p:pic>
        <p:nvPicPr>
          <p:cNvPr id="12" name="Image 0" descr="FiEyeOff">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1234440" y="1280160"/>
            <a:ext cx="3017520" cy="457200"/>
          </a:xfrm>
          <a:prstGeom prst="rect">
            <a:avLst/>
          </a:prstGeom>
          <a:noFill/>
          <a:ln/>
        </p:spPr>
        <p:txBody>
          <a:bodyPr wrap="square" lIns="0" tIns="0" rIns="0" bIns="0" rtlCol="0" anchor="ctr"/>
          <a:lstStyle/>
          <a:p>
            <a:pPr indent="0" marL="0">
              <a:buNone/>
            </a:pPr>
            <a:r>
              <a:rPr lang="it-IT" sz="1600" b="1" dirty="0">
                <a:solidFill>
                  <a:schemeClr val="tx1"/>
                </a:solidFill>
              </a:rPr>
              <a:t>Assunzioni implicite</a:t>
            </a:r>
            <a:endParaRPr lang="it-IT" sz="1600" dirty="0"/>
          </a:p>
        </p:txBody>
      </p:sp>
      <p:sp>
        <p:nvSpPr>
          <p:cNvPr id="14" name="Text 10"/>
          <p:cNvSpPr txBox="1"/>
          <p:nvPr/>
        </p:nvSpPr>
        <p:spPr>
          <a:xfrm>
            <a:off x="640080" y="1874520"/>
            <a:ext cx="3611880" cy="1216152"/>
          </a:xfrm>
          <a:prstGeom prst="rect">
            <a:avLst/>
          </a:prstGeom>
          <a:noFill/>
          <a:ln/>
        </p:spPr>
        <p:txBody>
          <a:bodyPr wrap="square" lIns="0" tIns="0" rIns="0" bIns="0" rtlCol="0" anchor="t"/>
          <a:lstStyle/>
          <a:p>
            <a:pPr indent="0" marL="0">
              <a:spcAft>
                <a:spcPts val="800"/>
              </a:spcAft>
              <a:buNone/>
            </a:pPr>
            <a:r>
              <a:rPr lang="it-IT" sz="1200" i="1" dirty="0">
                <a:solidFill>
                  <a:schemeClr val="tx2"/>
                </a:solidFill>
              </a:rPr>
              <a:t>Esempio: un risparmio che assume volumi invariati.</a:t>
            </a:r>
            <a:endParaRPr lang="it-IT" sz="1200" dirty="0"/>
          </a:p>
          <a:p>
            <a:pPr indent="0" marL="0">
              <a:buNone/>
            </a:pPr>
            <a:r>
              <a:rPr lang="it-IT" sz="1200" b="1" dirty="0">
                <a:solidFill>
                  <a:schemeClr val="accent1"/>
                </a:solidFill>
              </a:rPr>
              <a:t>Che cosa deve essere vero perché la conclusione valga?</a:t>
            </a:r>
            <a:endParaRPr lang="it-IT" sz="1200" dirty="0"/>
          </a:p>
        </p:txBody>
      </p:sp>
      <p:sp>
        <p:nvSpPr>
          <p:cNvPr id="15" name="scheda Generalizzazioni indebite"/>
          <p:cNvSpPr/>
          <p:nvPr/>
        </p:nvSpPr>
        <p:spPr>
          <a:xfrm>
            <a:off x="4709160" y="1097280"/>
            <a:ext cx="3977640" cy="2103120"/>
          </a:xfrm>
          <a:prstGeom prst="roundRect">
            <a:avLst>
              <a:gd name="adj" fmla="val 3478"/>
            </a:avLst>
          </a:prstGeom>
          <a:solidFill>
            <a:schemeClr val="accent6"/>
          </a:solidFill>
          <a:ln/>
        </p:spPr>
      </p:sp>
      <p:sp>
        <p:nvSpPr>
          <p:cNvPr id="16" name="cerchio FiMaximize2"/>
          <p:cNvSpPr/>
          <p:nvPr/>
        </p:nvSpPr>
        <p:spPr>
          <a:xfrm>
            <a:off x="4892040" y="1280160"/>
            <a:ext cx="457200" cy="457200"/>
          </a:xfrm>
          <a:prstGeom prst="ellipse">
            <a:avLst/>
          </a:prstGeom>
          <a:solidFill>
            <a:schemeClr val="accent1"/>
          </a:solidFill>
          <a:ln/>
        </p:spPr>
      </p:sp>
      <p:pic>
        <p:nvPicPr>
          <p:cNvPr id="17" name="Image 1" descr="FiMaximize2">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5486400" y="1280160"/>
            <a:ext cx="3017520" cy="457200"/>
          </a:xfrm>
          <a:prstGeom prst="rect">
            <a:avLst/>
          </a:prstGeom>
          <a:noFill/>
          <a:ln/>
        </p:spPr>
        <p:txBody>
          <a:bodyPr wrap="square" lIns="0" tIns="0" rIns="0" bIns="0" rtlCol="0" anchor="ctr"/>
          <a:lstStyle/>
          <a:p>
            <a:pPr indent="0" marL="0">
              <a:buNone/>
            </a:pPr>
            <a:r>
              <a:rPr lang="it-IT" sz="1600" b="1" dirty="0">
                <a:solidFill>
                  <a:schemeClr val="tx1"/>
                </a:solidFill>
              </a:rPr>
              <a:t>Generalizzazioni indebite</a:t>
            </a:r>
            <a:endParaRPr lang="it-IT" sz="1600" dirty="0"/>
          </a:p>
        </p:txBody>
      </p:sp>
      <p:sp>
        <p:nvSpPr>
          <p:cNvPr id="19" name="Text 14"/>
          <p:cNvSpPr txBox="1"/>
          <p:nvPr/>
        </p:nvSpPr>
        <p:spPr>
          <a:xfrm>
            <a:off x="4892040" y="1874520"/>
            <a:ext cx="3611880" cy="1216152"/>
          </a:xfrm>
          <a:prstGeom prst="rect">
            <a:avLst/>
          </a:prstGeom>
          <a:noFill/>
          <a:ln/>
        </p:spPr>
        <p:txBody>
          <a:bodyPr wrap="square" lIns="0" tIns="0" rIns="0" bIns="0" rtlCol="0" anchor="t"/>
          <a:lstStyle/>
          <a:p>
            <a:pPr indent="0" marL="0">
              <a:spcAft>
                <a:spcPts val="800"/>
              </a:spcAft>
              <a:buNone/>
            </a:pPr>
            <a:r>
              <a:rPr lang="it-IT" sz="1200" i="1" dirty="0">
                <a:solidFill>
                  <a:schemeClr val="tx2"/>
                </a:solidFill>
              </a:rPr>
              <a:t>Esempio: "i clienti preferiscono l'online", da un'indagine su giovani di una città.</a:t>
            </a:r>
            <a:endParaRPr lang="it-IT" sz="1200" dirty="0"/>
          </a:p>
          <a:p>
            <a:pPr indent="0" marL="0">
              <a:buNone/>
            </a:pPr>
            <a:r>
              <a:rPr lang="it-IT" sz="1200" b="1" dirty="0">
                <a:solidFill>
                  <a:schemeClr val="accent1"/>
                </a:solidFill>
              </a:rPr>
              <a:t>Su quanti casi, in quale contesto? Vale per noi?</a:t>
            </a:r>
            <a:endParaRPr lang="it-IT" sz="1200" dirty="0"/>
          </a:p>
        </p:txBody>
      </p:sp>
      <p:sp>
        <p:nvSpPr>
          <p:cNvPr id="20" name="Text 15"/>
          <p:cNvSpPr txBox="1"/>
          <p:nvPr/>
        </p:nvSpPr>
        <p:spPr>
          <a:xfrm>
            <a:off x="457200" y="3364992"/>
            <a:ext cx="8229600" cy="292608"/>
          </a:xfrm>
          <a:prstGeom prst="rect">
            <a:avLst/>
          </a:prstGeom>
          <a:noFill/>
          <a:ln/>
        </p:spPr>
        <p:txBody>
          <a:bodyPr wrap="square" lIns="0" tIns="0" rIns="0" bIns="0" rtlCol="0" anchor="t"/>
          <a:lstStyle/>
          <a:p>
            <a:pPr indent="0" marL="0">
              <a:buNone/>
            </a:pPr>
            <a:r>
              <a:rPr lang="it-IT" sz="1300" b="1" dirty="0">
                <a:solidFill>
                  <a:schemeClr val="tx1"/>
                </a:solidFill>
              </a:rPr>
              <a:t>Per ottenere conclusioni meno generiche</a:t>
            </a:r>
            <a:endParaRPr lang="it-IT" sz="1300" dirty="0"/>
          </a:p>
        </p:txBody>
      </p:sp>
      <p:sp>
        <p:nvSpPr>
          <p:cNvPr id="21" name="blocco Dare il contesto: settore, clienti, vincoli"/>
          <p:cNvSpPr/>
          <p:nvPr/>
        </p:nvSpPr>
        <p:spPr>
          <a:xfrm>
            <a:off x="457200" y="3730752"/>
            <a:ext cx="1975104" cy="777240"/>
          </a:xfrm>
          <a:prstGeom prst="roundRect">
            <a:avLst>
              <a:gd name="adj" fmla="val 14118"/>
            </a:avLst>
          </a:prstGeom>
          <a:solidFill>
            <a:schemeClr val="bg2"/>
          </a:solidFill>
          <a:ln/>
        </p:spPr>
      </p:sp>
      <p:sp>
        <p:nvSpPr>
          <p:cNvPr id="22" name="Text 17"/>
          <p:cNvSpPr txBox="1"/>
          <p:nvPr/>
        </p:nvSpPr>
        <p:spPr>
          <a:xfrm>
            <a:off x="502920" y="3730752"/>
            <a:ext cx="1883664" cy="777240"/>
          </a:xfrm>
          <a:prstGeom prst="rect">
            <a:avLst/>
          </a:prstGeom>
          <a:noFill/>
          <a:ln/>
        </p:spPr>
        <p:txBody>
          <a:bodyPr wrap="square" lIns="0" tIns="0" rIns="0" bIns="0" rtlCol="0" anchor="ctr"/>
          <a:lstStyle/>
          <a:p>
            <a:pPr algn="ctr" indent="0" marL="0">
              <a:buNone/>
            </a:pPr>
            <a:r>
              <a:rPr lang="it-IT" sz="1200" dirty="0">
                <a:solidFill>
                  <a:schemeClr val="tx1"/>
                </a:solidFill>
              </a:rPr>
              <a:t>Dare il contesto: settore, clienti, vincoli</a:t>
            </a:r>
            <a:endParaRPr lang="it-IT" sz="1200" dirty="0"/>
          </a:p>
        </p:txBody>
      </p:sp>
      <p:sp>
        <p:nvSpPr>
          <p:cNvPr id="23" name="blocco Fornire i propri dati"/>
          <p:cNvSpPr/>
          <p:nvPr/>
        </p:nvSpPr>
        <p:spPr>
          <a:xfrm>
            <a:off x="2551176" y="3730752"/>
            <a:ext cx="1975104" cy="777240"/>
          </a:xfrm>
          <a:prstGeom prst="roundRect">
            <a:avLst>
              <a:gd name="adj" fmla="val 14118"/>
            </a:avLst>
          </a:prstGeom>
          <a:solidFill>
            <a:schemeClr val="bg2"/>
          </a:solidFill>
          <a:ln/>
        </p:spPr>
      </p:sp>
      <p:sp>
        <p:nvSpPr>
          <p:cNvPr id="24" name="Text 19"/>
          <p:cNvSpPr txBox="1"/>
          <p:nvPr/>
        </p:nvSpPr>
        <p:spPr>
          <a:xfrm>
            <a:off x="2596896" y="3730752"/>
            <a:ext cx="1883664" cy="777240"/>
          </a:xfrm>
          <a:prstGeom prst="rect">
            <a:avLst/>
          </a:prstGeom>
          <a:noFill/>
          <a:ln/>
        </p:spPr>
        <p:txBody>
          <a:bodyPr wrap="square" lIns="0" tIns="0" rIns="0" bIns="0" rtlCol="0" anchor="ctr"/>
          <a:lstStyle/>
          <a:p>
            <a:pPr algn="ctr" indent="0" marL="0">
              <a:buNone/>
            </a:pPr>
            <a:r>
              <a:rPr lang="it-IT" sz="1200" dirty="0">
                <a:solidFill>
                  <a:schemeClr val="tx1"/>
                </a:solidFill>
              </a:rPr>
              <a:t>Fornire i propri dati</a:t>
            </a:r>
            <a:endParaRPr lang="it-IT" sz="1200" dirty="0"/>
          </a:p>
        </p:txBody>
      </p:sp>
      <p:sp>
        <p:nvSpPr>
          <p:cNvPr id="25" name="blocco Chiedere a quali condizioni vale"/>
          <p:cNvSpPr/>
          <p:nvPr/>
        </p:nvSpPr>
        <p:spPr>
          <a:xfrm>
            <a:off x="4645152" y="3730752"/>
            <a:ext cx="1975104" cy="777240"/>
          </a:xfrm>
          <a:prstGeom prst="roundRect">
            <a:avLst>
              <a:gd name="adj" fmla="val 14118"/>
            </a:avLst>
          </a:prstGeom>
          <a:solidFill>
            <a:schemeClr val="bg2"/>
          </a:solidFill>
          <a:ln/>
        </p:spPr>
      </p:sp>
      <p:sp>
        <p:nvSpPr>
          <p:cNvPr id="26" name="Text 21"/>
          <p:cNvSpPr txBox="1"/>
          <p:nvPr/>
        </p:nvSpPr>
        <p:spPr>
          <a:xfrm>
            <a:off x="4690872" y="3730752"/>
            <a:ext cx="1883664" cy="777240"/>
          </a:xfrm>
          <a:prstGeom prst="rect">
            <a:avLst/>
          </a:prstGeom>
          <a:noFill/>
          <a:ln/>
        </p:spPr>
        <p:txBody>
          <a:bodyPr wrap="square" lIns="0" tIns="0" rIns="0" bIns="0" rtlCol="0" anchor="ctr"/>
          <a:lstStyle/>
          <a:p>
            <a:pPr algn="ctr" indent="0" marL="0">
              <a:buNone/>
            </a:pPr>
            <a:r>
              <a:rPr lang="it-IT" sz="1200" dirty="0">
                <a:solidFill>
                  <a:schemeClr val="tx1"/>
                </a:solidFill>
              </a:rPr>
              <a:t>Chiedere a quali condizioni vale</a:t>
            </a:r>
            <a:endParaRPr lang="it-IT" sz="1200" dirty="0"/>
          </a:p>
        </p:txBody>
      </p:sp>
      <p:sp>
        <p:nvSpPr>
          <p:cNvPr id="27" name="blocco Chiedere assunzioni e limiti"/>
          <p:cNvSpPr/>
          <p:nvPr/>
        </p:nvSpPr>
        <p:spPr>
          <a:xfrm>
            <a:off x="6739128" y="3730752"/>
            <a:ext cx="1975104" cy="777240"/>
          </a:xfrm>
          <a:prstGeom prst="roundRect">
            <a:avLst>
              <a:gd name="adj" fmla="val 14118"/>
            </a:avLst>
          </a:prstGeom>
          <a:solidFill>
            <a:schemeClr val="bg2"/>
          </a:solidFill>
          <a:ln/>
        </p:spPr>
      </p:sp>
      <p:sp>
        <p:nvSpPr>
          <p:cNvPr id="28" name="Text 23"/>
          <p:cNvSpPr txBox="1"/>
          <p:nvPr/>
        </p:nvSpPr>
        <p:spPr>
          <a:xfrm>
            <a:off x="6784848" y="3730752"/>
            <a:ext cx="1883664" cy="777240"/>
          </a:xfrm>
          <a:prstGeom prst="rect">
            <a:avLst/>
          </a:prstGeom>
          <a:noFill/>
          <a:ln/>
        </p:spPr>
        <p:txBody>
          <a:bodyPr wrap="square" lIns="0" tIns="0" rIns="0" bIns="0" rtlCol="0" anchor="ctr"/>
          <a:lstStyle/>
          <a:p>
            <a:pPr algn="ctr" indent="0" marL="0">
              <a:buNone/>
            </a:pPr>
            <a:r>
              <a:rPr lang="it-IT" sz="1200" dirty="0">
                <a:solidFill>
                  <a:schemeClr val="tx1"/>
                </a:solidFill>
              </a:rPr>
              <a:t>Chiedere assunzioni e limiti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Alternative e omissioni nel ragionamento</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scheda Interpretazioni alternative"/>
          <p:cNvSpPr/>
          <p:nvPr/>
        </p:nvSpPr>
        <p:spPr>
          <a:xfrm>
            <a:off x="457200" y="1097280"/>
            <a:ext cx="3977640" cy="2103120"/>
          </a:xfrm>
          <a:prstGeom prst="roundRect">
            <a:avLst>
              <a:gd name="adj" fmla="val 3478"/>
            </a:avLst>
          </a:prstGeom>
          <a:solidFill>
            <a:schemeClr val="bg2"/>
          </a:solidFill>
          <a:ln/>
        </p:spPr>
      </p:sp>
      <p:sp>
        <p:nvSpPr>
          <p:cNvPr id="11" name="cerchio FiShuffle"/>
          <p:cNvSpPr/>
          <p:nvPr/>
        </p:nvSpPr>
        <p:spPr>
          <a:xfrm>
            <a:off x="640080" y="1280160"/>
            <a:ext cx="457200" cy="457200"/>
          </a:xfrm>
          <a:prstGeom prst="ellipse">
            <a:avLst/>
          </a:prstGeom>
          <a:solidFill>
            <a:schemeClr val="accent1"/>
          </a:solidFill>
          <a:ln/>
        </p:spPr>
      </p:sp>
      <p:pic>
        <p:nvPicPr>
          <p:cNvPr id="12" name="Image 0" descr="FiShuffle">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it-IT" sz="1500" b="1" dirty="0">
                <a:solidFill>
                  <a:schemeClr val="tx1"/>
                </a:solidFill>
              </a:rPr>
              <a:t>Interpretazioni alternative</a:t>
            </a:r>
            <a:endParaRPr lang="it-IT" sz="1500" dirty="0"/>
          </a:p>
        </p:txBody>
      </p:sp>
      <p:sp>
        <p:nvSpPr>
          <p:cNvPr id="14" name="Text 10"/>
          <p:cNvSpPr txBox="1"/>
          <p:nvPr/>
        </p:nvSpPr>
        <p:spPr>
          <a:xfrm>
            <a:off x="640080" y="2231136"/>
            <a:ext cx="3611880" cy="859536"/>
          </a:xfrm>
          <a:prstGeom prst="rect">
            <a:avLst/>
          </a:prstGeom>
          <a:noFill/>
          <a:ln/>
        </p:spPr>
        <p:txBody>
          <a:bodyPr wrap="square" lIns="0" tIns="0" rIns="0" bIns="0" rtlCol="0" anchor="t"/>
          <a:lstStyle/>
          <a:p>
            <a:pPr indent="0" marL="0">
              <a:spcAft>
                <a:spcPts val="800"/>
              </a:spcAft>
              <a:buNone/>
            </a:pPr>
            <a:r>
              <a:rPr lang="it-IT" sz="1200" b="1" dirty="0">
                <a:solidFill>
                  <a:schemeClr val="tx1"/>
                </a:solidFill>
              </a:rPr>
              <a:t>Quali altre spiegazioni sono compatibili con gli stessi dati?</a:t>
            </a:r>
            <a:endParaRPr lang="it-IT" sz="1200" dirty="0"/>
          </a:p>
          <a:p>
            <a:pPr indent="0" marL="0">
              <a:buNone/>
            </a:pPr>
            <a:r>
              <a:rPr lang="it-IT" sz="1200" i="1" dirty="0">
                <a:solidFill>
                  <a:schemeClr val="tx2"/>
                </a:solidFill>
              </a:rPr>
              <a:t>Calo in negozio: lavori stradali, assortimento, stagionalità.</a:t>
            </a:r>
            <a:endParaRPr lang="it-IT" sz="1200" dirty="0"/>
          </a:p>
        </p:txBody>
      </p:sp>
      <p:sp>
        <p:nvSpPr>
          <p:cNvPr id="15" name="scheda Omissioni nelle premesse"/>
          <p:cNvSpPr/>
          <p:nvPr/>
        </p:nvSpPr>
        <p:spPr>
          <a:xfrm>
            <a:off x="4709160" y="1097280"/>
            <a:ext cx="3977640" cy="2103120"/>
          </a:xfrm>
          <a:prstGeom prst="roundRect">
            <a:avLst>
              <a:gd name="adj" fmla="val 3478"/>
            </a:avLst>
          </a:prstGeom>
          <a:solidFill>
            <a:schemeClr val="accent6"/>
          </a:solidFill>
          <a:ln/>
        </p:spPr>
      </p:sp>
      <p:sp>
        <p:nvSpPr>
          <p:cNvPr id="16" name="cerchio FiAlertTriangle"/>
          <p:cNvSpPr/>
          <p:nvPr/>
        </p:nvSpPr>
        <p:spPr>
          <a:xfrm>
            <a:off x="4892040" y="1280160"/>
            <a:ext cx="457200" cy="457200"/>
          </a:xfrm>
          <a:prstGeom prst="ellipse">
            <a:avLst/>
          </a:prstGeom>
          <a:solidFill>
            <a:schemeClr val="accent1"/>
          </a:solidFill>
          <a:ln/>
        </p:spPr>
      </p:sp>
      <p:pic>
        <p:nvPicPr>
          <p:cNvPr id="17" name="Image 1" descr="FiAlertTriangle">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4892040" y="1847088"/>
            <a:ext cx="3611880" cy="347472"/>
          </a:xfrm>
          <a:prstGeom prst="rect">
            <a:avLst/>
          </a:prstGeom>
          <a:noFill/>
          <a:ln/>
        </p:spPr>
        <p:txBody>
          <a:bodyPr wrap="square" lIns="0" tIns="0" rIns="0" bIns="0" rtlCol="0" anchor="t"/>
          <a:lstStyle/>
          <a:p>
            <a:pPr indent="0" marL="0">
              <a:buNone/>
            </a:pPr>
            <a:r>
              <a:rPr lang="it-IT" sz="1500" b="1" dirty="0">
                <a:solidFill>
                  <a:schemeClr val="tx1"/>
                </a:solidFill>
              </a:rPr>
              <a:t>Omissioni nelle premesse</a:t>
            </a:r>
            <a:endParaRPr lang="it-IT" sz="1500" dirty="0"/>
          </a:p>
        </p:txBody>
      </p:sp>
      <p:sp>
        <p:nvSpPr>
          <p:cNvPr id="19" name="Text 14"/>
          <p:cNvSpPr txBox="1"/>
          <p:nvPr/>
        </p:nvSpPr>
        <p:spPr>
          <a:xfrm>
            <a:off x="4892040" y="2231136"/>
            <a:ext cx="3611880" cy="859536"/>
          </a:xfrm>
          <a:prstGeom prst="rect">
            <a:avLst/>
          </a:prstGeom>
          <a:noFill/>
          <a:ln/>
        </p:spPr>
        <p:txBody>
          <a:bodyPr wrap="square" lIns="0" tIns="0" rIns="0" bIns="0" rtlCol="0" anchor="t"/>
          <a:lstStyle/>
          <a:p>
            <a:pPr indent="0" marL="0">
              <a:spcAft>
                <a:spcPts val="800"/>
              </a:spcAft>
              <a:buNone/>
            </a:pPr>
            <a:r>
              <a:rPr lang="it-IT" sz="1200" b="1" dirty="0">
                <a:solidFill>
                  <a:schemeClr val="tx1"/>
                </a:solidFill>
              </a:rPr>
              <a:t>Eccezioni, condizioni, controargomentazioni non considerate</a:t>
            </a:r>
            <a:endParaRPr lang="it-IT" sz="1200" dirty="0"/>
          </a:p>
          <a:p>
            <a:pPr indent="0" marL="0">
              <a:buNone/>
            </a:pPr>
            <a:r>
              <a:rPr lang="it-IT" sz="1200" i="1" dirty="0">
                <a:solidFill>
                  <a:schemeClr val="tx2"/>
                </a:solidFill>
              </a:rPr>
              <a:t>Molti acquisti online nascono da visite in negozio.</a:t>
            </a:r>
            <a:endParaRPr lang="it-IT" sz="1200" dirty="0"/>
          </a:p>
        </p:txBody>
      </p:sp>
      <p:sp>
        <p:nvSpPr>
          <p:cNvPr id="20" name="messaggio"/>
          <p:cNvSpPr/>
          <p:nvPr/>
        </p:nvSpPr>
        <p:spPr>
          <a:xfrm>
            <a:off x="457200" y="3383280"/>
            <a:ext cx="8229600" cy="640080"/>
          </a:xfrm>
          <a:prstGeom prst="roundRect">
            <a:avLst>
              <a:gd name="adj" fmla="val 11429"/>
            </a:avLst>
          </a:prstGeom>
          <a:solidFill>
            <a:schemeClr val="tx1"/>
          </a:solidFill>
          <a:ln/>
        </p:spPr>
      </p:sp>
      <p:sp>
        <p:nvSpPr>
          <p:cNvPr id="21" name="Text 16"/>
          <p:cNvSpPr txBox="1"/>
          <p:nvPr/>
        </p:nvSpPr>
        <p:spPr>
          <a:xfrm>
            <a:off x="640080" y="3383280"/>
            <a:ext cx="7863840" cy="640080"/>
          </a:xfrm>
          <a:prstGeom prst="rect">
            <a:avLst/>
          </a:prstGeom>
          <a:noFill/>
          <a:ln/>
        </p:spPr>
        <p:txBody>
          <a:bodyPr wrap="square" lIns="0" tIns="0" rIns="0" bIns="0" rtlCol="0" anchor="ctr"/>
          <a:lstStyle/>
          <a:p>
            <a:pPr indent="0" marL="0">
              <a:buNone/>
            </a:pPr>
            <a:r>
              <a:rPr lang="it-IT" sz="1300" dirty="0">
                <a:solidFill>
                  <a:schemeClr val="bg1"/>
                </a:solidFill>
              </a:rPr>
              <a:t>Quali informazioni potrebbero cambiare la conclusione? Qual è l'argomento più forte contro?</a:t>
            </a:r>
            <a:endParaRPr lang="it-IT" sz="1300" dirty="0"/>
          </a:p>
        </p:txBody>
      </p:sp>
      <p:sp>
        <p:nvSpPr>
          <p:cNvPr id="22" name="Text 17"/>
          <p:cNvSpPr txBox="1"/>
          <p:nvPr/>
        </p:nvSpPr>
        <p:spPr>
          <a:xfrm>
            <a:off x="457200" y="4114800"/>
            <a:ext cx="8229600" cy="411480"/>
          </a:xfrm>
          <a:prstGeom prst="rect">
            <a:avLst/>
          </a:prstGeom>
          <a:noFill/>
          <a:ln/>
        </p:spPr>
        <p:txBody>
          <a:bodyPr wrap="square" lIns="0" tIns="0" rIns="0" bIns="0" rtlCol="0" anchor="t"/>
          <a:lstStyle/>
          <a:p>
            <a:pPr indent="0" marL="0">
              <a:buNone/>
            </a:pPr>
            <a:r>
              <a:rPr lang="it-IT" sz="1300" i="1" dirty="0">
                <a:solidFill>
                  <a:schemeClr val="tx1"/>
                </a:solidFill>
              </a:rPr>
              <a:t>Una conclusione solida è proporzionata alle evidenze: né più forte, né più debole di quanto i dati consentano.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it-IT" sz="2600" dirty="0">
                <a:solidFill>
                  <a:schemeClr val="bg1"/>
                </a:solidFill>
              </a:rPr>
              <a:t>Informazioni singolarmente corrette non assicurano che la conclusione tratta da esse sia giustificata.</a:t>
            </a:r>
            <a:endParaRPr lang="it-IT"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it-IT" sz="1300" dirty="0">
                <a:solidFill>
                  <a:schemeClr val="accent3"/>
                </a:solidFill>
              </a:rPr>
              <a:t>Sottotema 7.4  ·  Valutare ragionamenti e conclusioni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7.5</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Verifica di dati, calcoli e risultati quantitativi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Un risultato quantitativo utile alle decisioni deve essere riconducibile a dati e procedimenti controllabili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Dati, formule, unità e plausibilità</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scheda Dati di partenza"/>
          <p:cNvSpPr/>
          <p:nvPr/>
        </p:nvSpPr>
        <p:spPr>
          <a:xfrm>
            <a:off x="457200" y="1097280"/>
            <a:ext cx="2615184" cy="1600200"/>
          </a:xfrm>
          <a:prstGeom prst="roundRect">
            <a:avLst>
              <a:gd name="adj" fmla="val 4571"/>
            </a:avLst>
          </a:prstGeom>
          <a:solidFill>
            <a:schemeClr val="bg2"/>
          </a:solidFill>
          <a:ln/>
        </p:spPr>
      </p:sp>
      <p:sp>
        <p:nvSpPr>
          <p:cNvPr id="11" name="cerchio FiDatabase"/>
          <p:cNvSpPr/>
          <p:nvPr/>
        </p:nvSpPr>
        <p:spPr>
          <a:xfrm>
            <a:off x="640080" y="1280160"/>
            <a:ext cx="457200" cy="457200"/>
          </a:xfrm>
          <a:prstGeom prst="ellipse">
            <a:avLst/>
          </a:prstGeom>
          <a:solidFill>
            <a:schemeClr val="accent1"/>
          </a:solidFill>
          <a:ln/>
        </p:spPr>
      </p:sp>
      <p:pic>
        <p:nvPicPr>
          <p:cNvPr id="12" name="Image 0" descr="FiDatabase">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1234440" y="1280160"/>
            <a:ext cx="1655064" cy="457200"/>
          </a:xfrm>
          <a:prstGeom prst="rect">
            <a:avLst/>
          </a:prstGeom>
          <a:noFill/>
          <a:ln/>
        </p:spPr>
        <p:txBody>
          <a:bodyPr wrap="square" lIns="0" tIns="0" rIns="0" bIns="0" rtlCol="0" anchor="ctr"/>
          <a:lstStyle/>
          <a:p>
            <a:pPr indent="0" marL="0">
              <a:buNone/>
            </a:pPr>
            <a:r>
              <a:rPr lang="it-IT" sz="1500" b="1" dirty="0">
                <a:solidFill>
                  <a:schemeClr val="tx1"/>
                </a:solidFill>
              </a:rPr>
              <a:t>Dati di partenza</a:t>
            </a:r>
            <a:endParaRPr lang="it-IT" sz="1500" dirty="0"/>
          </a:p>
        </p:txBody>
      </p:sp>
      <p:sp>
        <p:nvSpPr>
          <p:cNvPr id="14" name="Text 10"/>
          <p:cNvSpPr txBox="1"/>
          <p:nvPr/>
        </p:nvSpPr>
        <p:spPr>
          <a:xfrm>
            <a:off x="640080" y="1874520"/>
            <a:ext cx="2249424" cy="713232"/>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Fonte, periodo, versione giusti?</a:t>
            </a:r>
            <a:endParaRPr lang="it-IT" sz="1200" dirty="0"/>
          </a:p>
          <a:p>
            <a:pPr marL="177800" indent="-177800">
              <a:spcAft>
                <a:spcPts val="400"/>
              </a:spcAft>
              <a:buSzPct val="100000"/>
              <a:buChar char="•"/>
            </a:pPr>
            <a:r>
              <a:rPr lang="it-IT" sz="1200" dirty="0">
                <a:solidFill>
                  <a:schemeClr val="tx2"/>
                </a:solidFill>
              </a:rPr>
              <a:t>Completi e letti bene?</a:t>
            </a:r>
            <a:endParaRPr lang="it-IT" sz="1200" dirty="0"/>
          </a:p>
        </p:txBody>
      </p:sp>
      <p:sp>
        <p:nvSpPr>
          <p:cNvPr id="15" name="scheda Formule"/>
          <p:cNvSpPr/>
          <p:nvPr/>
        </p:nvSpPr>
        <p:spPr>
          <a:xfrm>
            <a:off x="3264408" y="1097280"/>
            <a:ext cx="2615184" cy="1600200"/>
          </a:xfrm>
          <a:prstGeom prst="roundRect">
            <a:avLst>
              <a:gd name="adj" fmla="val 4571"/>
            </a:avLst>
          </a:prstGeom>
          <a:solidFill>
            <a:schemeClr val="bg2"/>
          </a:solidFill>
          <a:ln/>
        </p:spPr>
      </p:sp>
      <p:sp>
        <p:nvSpPr>
          <p:cNvPr id="16" name="cerchio FiCode"/>
          <p:cNvSpPr/>
          <p:nvPr/>
        </p:nvSpPr>
        <p:spPr>
          <a:xfrm>
            <a:off x="3447288" y="1280160"/>
            <a:ext cx="457200" cy="457200"/>
          </a:xfrm>
          <a:prstGeom prst="ellipse">
            <a:avLst/>
          </a:prstGeom>
          <a:solidFill>
            <a:schemeClr val="accent1"/>
          </a:solidFill>
          <a:ln/>
        </p:spPr>
      </p:sp>
      <p:pic>
        <p:nvPicPr>
          <p:cNvPr id="17" name="Image 1" descr="FiCode">    </p:cNvPr>
          <p:cNvPicPr>
            <a:picLocks noChangeAspect="1"/>
          </p:cNvPicPr>
          <p:nvPr/>
        </p:nvPicPr>
        <p:blipFill>
          <a:blip r:embed="rId2"/>
          <a:stretch>
            <a:fillRect/>
          </a:stretch>
        </p:blipFill>
        <p:spPr>
          <a:xfrm>
            <a:off x="3561588" y="1394460"/>
            <a:ext cx="228600" cy="228600"/>
          </a:xfrm>
          <a:prstGeom prst="rect">
            <a:avLst/>
          </a:prstGeom>
        </p:spPr>
      </p:pic>
      <p:sp>
        <p:nvSpPr>
          <p:cNvPr id="18" name="Text 13"/>
          <p:cNvSpPr txBox="1"/>
          <p:nvPr/>
        </p:nvSpPr>
        <p:spPr>
          <a:xfrm>
            <a:off x="4041648" y="1280160"/>
            <a:ext cx="1655064" cy="457200"/>
          </a:xfrm>
          <a:prstGeom prst="rect">
            <a:avLst/>
          </a:prstGeom>
          <a:noFill/>
          <a:ln/>
        </p:spPr>
        <p:txBody>
          <a:bodyPr wrap="square" lIns="0" tIns="0" rIns="0" bIns="0" rtlCol="0" anchor="ctr"/>
          <a:lstStyle/>
          <a:p>
            <a:pPr indent="0" marL="0">
              <a:buNone/>
            </a:pPr>
            <a:r>
              <a:rPr lang="it-IT" sz="1500" b="1" dirty="0">
                <a:solidFill>
                  <a:schemeClr val="tx1"/>
                </a:solidFill>
              </a:rPr>
              <a:t>Formule</a:t>
            </a:r>
            <a:endParaRPr lang="it-IT" sz="1500" dirty="0"/>
          </a:p>
        </p:txBody>
      </p:sp>
      <p:sp>
        <p:nvSpPr>
          <p:cNvPr id="19" name="Text 14"/>
          <p:cNvSpPr txBox="1"/>
          <p:nvPr/>
        </p:nvSpPr>
        <p:spPr>
          <a:xfrm>
            <a:off x="3447288" y="1874520"/>
            <a:ext cx="2249424" cy="713232"/>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Il calcolo appropriato?</a:t>
            </a:r>
            <a:endParaRPr lang="it-IT" sz="1200" dirty="0"/>
          </a:p>
          <a:p>
            <a:pPr marL="177800" indent="-177800">
              <a:spcAft>
                <a:spcPts val="400"/>
              </a:spcAft>
              <a:buSzPct val="100000"/>
              <a:buChar char="•"/>
            </a:pPr>
            <a:r>
              <a:rPr lang="it-IT" sz="1200" dirty="0">
                <a:solidFill>
                  <a:schemeClr val="tx2"/>
                </a:solidFill>
              </a:rPr>
              <a:t>Definizioni aziendali rispettate?</a:t>
            </a:r>
            <a:endParaRPr lang="it-IT" sz="1200" dirty="0"/>
          </a:p>
        </p:txBody>
      </p:sp>
      <p:sp>
        <p:nvSpPr>
          <p:cNvPr id="20" name="scheda Unità di misura"/>
          <p:cNvSpPr/>
          <p:nvPr/>
        </p:nvSpPr>
        <p:spPr>
          <a:xfrm>
            <a:off x="6071616" y="1097280"/>
            <a:ext cx="2615184" cy="1600200"/>
          </a:xfrm>
          <a:prstGeom prst="roundRect">
            <a:avLst>
              <a:gd name="adj" fmla="val 4571"/>
            </a:avLst>
          </a:prstGeom>
          <a:solidFill>
            <a:schemeClr val="accent6"/>
          </a:solidFill>
          <a:ln/>
        </p:spPr>
      </p:sp>
      <p:sp>
        <p:nvSpPr>
          <p:cNvPr id="21" name="cerchio FiSliders"/>
          <p:cNvSpPr/>
          <p:nvPr/>
        </p:nvSpPr>
        <p:spPr>
          <a:xfrm>
            <a:off x="6254496" y="1280160"/>
            <a:ext cx="457200" cy="457200"/>
          </a:xfrm>
          <a:prstGeom prst="ellipse">
            <a:avLst/>
          </a:prstGeom>
          <a:solidFill>
            <a:schemeClr val="accent1"/>
          </a:solidFill>
          <a:ln/>
        </p:spPr>
      </p:sp>
      <p:pic>
        <p:nvPicPr>
          <p:cNvPr id="22" name="Image 2" descr="FiSliders">    </p:cNvPr>
          <p:cNvPicPr>
            <a:picLocks noChangeAspect="1"/>
          </p:cNvPicPr>
          <p:nvPr/>
        </p:nvPicPr>
        <p:blipFill>
          <a:blip r:embed="rId3"/>
          <a:stretch>
            <a:fillRect/>
          </a:stretch>
        </p:blipFill>
        <p:spPr>
          <a:xfrm>
            <a:off x="6368796" y="1394460"/>
            <a:ext cx="228600" cy="228600"/>
          </a:xfrm>
          <a:prstGeom prst="rect">
            <a:avLst/>
          </a:prstGeom>
        </p:spPr>
      </p:pic>
      <p:sp>
        <p:nvSpPr>
          <p:cNvPr id="23" name="Text 17"/>
          <p:cNvSpPr txBox="1"/>
          <p:nvPr/>
        </p:nvSpPr>
        <p:spPr>
          <a:xfrm>
            <a:off x="6848856" y="1280160"/>
            <a:ext cx="1655064" cy="457200"/>
          </a:xfrm>
          <a:prstGeom prst="rect">
            <a:avLst/>
          </a:prstGeom>
          <a:noFill/>
          <a:ln/>
        </p:spPr>
        <p:txBody>
          <a:bodyPr wrap="square" lIns="0" tIns="0" rIns="0" bIns="0" rtlCol="0" anchor="ctr"/>
          <a:lstStyle/>
          <a:p>
            <a:pPr indent="0" marL="0">
              <a:buNone/>
            </a:pPr>
            <a:r>
              <a:rPr lang="it-IT" sz="1500" b="1" dirty="0">
                <a:solidFill>
                  <a:schemeClr val="tx1"/>
                </a:solidFill>
              </a:rPr>
              <a:t>Unità di misura</a:t>
            </a:r>
            <a:endParaRPr lang="it-IT" sz="1500" dirty="0"/>
          </a:p>
        </p:txBody>
      </p:sp>
      <p:sp>
        <p:nvSpPr>
          <p:cNvPr id="24" name="Text 18"/>
          <p:cNvSpPr txBox="1"/>
          <p:nvPr/>
        </p:nvSpPr>
        <p:spPr>
          <a:xfrm>
            <a:off x="6254496" y="1874520"/>
            <a:ext cx="2249424" cy="713232"/>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Euro o migliaia, mese o anno?</a:t>
            </a:r>
            <a:endParaRPr lang="it-IT" sz="1200" dirty="0"/>
          </a:p>
          <a:p>
            <a:pPr marL="177800" indent="-177800">
              <a:spcAft>
                <a:spcPts val="400"/>
              </a:spcAft>
              <a:buSzPct val="100000"/>
              <a:buChar char="•"/>
            </a:pPr>
            <a:r>
              <a:rPr lang="it-IT" sz="1200" dirty="0">
                <a:solidFill>
                  <a:schemeClr val="tx2"/>
                </a:solidFill>
              </a:rPr>
              <a:t>Percentuale o punti percentuali?</a:t>
            </a:r>
            <a:endParaRPr lang="it-IT" sz="1200" dirty="0"/>
          </a:p>
        </p:txBody>
      </p:sp>
      <p:sp>
        <p:nvSpPr>
          <p:cNvPr id="25" name="Text 19"/>
          <p:cNvSpPr txBox="1"/>
          <p:nvPr/>
        </p:nvSpPr>
        <p:spPr>
          <a:xfrm>
            <a:off x="457200" y="2816352"/>
            <a:ext cx="8229600" cy="274320"/>
          </a:xfrm>
          <a:prstGeom prst="rect">
            <a:avLst/>
          </a:prstGeom>
          <a:noFill/>
          <a:ln/>
        </p:spPr>
        <p:txBody>
          <a:bodyPr wrap="square" lIns="0" tIns="0" rIns="0" bIns="0" rtlCol="0" anchor="t"/>
          <a:lstStyle/>
          <a:p>
            <a:pPr indent="0" marL="0">
              <a:buNone/>
            </a:pPr>
            <a:r>
              <a:rPr lang="it-IT" sz="1300" b="1" dirty="0">
                <a:solidFill>
                  <a:schemeClr val="tx1"/>
                </a:solidFill>
              </a:rPr>
              <a:t>Controlli rapidi di plausibilità</a:t>
            </a:r>
            <a:endParaRPr lang="it-IT" sz="1300" dirty="0"/>
          </a:p>
        </p:txBody>
      </p:sp>
      <p:sp>
        <p:nvSpPr>
          <p:cNvPr id="26" name="blocco Ordine di grandezza"/>
          <p:cNvSpPr/>
          <p:nvPr/>
        </p:nvSpPr>
        <p:spPr>
          <a:xfrm>
            <a:off x="457200" y="3154680"/>
            <a:ext cx="1572768" cy="548640"/>
          </a:xfrm>
          <a:prstGeom prst="roundRect">
            <a:avLst>
              <a:gd name="adj" fmla="val 20000"/>
            </a:avLst>
          </a:prstGeom>
          <a:solidFill>
            <a:schemeClr val="accent6"/>
          </a:solidFill>
          <a:ln/>
        </p:spPr>
      </p:sp>
      <p:sp>
        <p:nvSpPr>
          <p:cNvPr id="27" name="Text 21"/>
          <p:cNvSpPr txBox="1"/>
          <p:nvPr/>
        </p:nvSpPr>
        <p:spPr>
          <a:xfrm>
            <a:off x="502920" y="3154680"/>
            <a:ext cx="1481328" cy="548640"/>
          </a:xfrm>
          <a:prstGeom prst="rect">
            <a:avLst/>
          </a:prstGeom>
          <a:noFill/>
          <a:ln/>
        </p:spPr>
        <p:txBody>
          <a:bodyPr wrap="square" lIns="0" tIns="0" rIns="0" bIns="0" rtlCol="0" anchor="ctr"/>
          <a:lstStyle/>
          <a:p>
            <a:pPr algn="ctr" indent="0" marL="0">
              <a:buNone/>
            </a:pPr>
            <a:r>
              <a:rPr lang="it-IT" sz="1200" b="1" dirty="0">
                <a:solidFill>
                  <a:schemeClr val="tx1"/>
                </a:solidFill>
              </a:rPr>
              <a:t>Ordine di grandezza</a:t>
            </a:r>
            <a:endParaRPr lang="it-IT" sz="1200" dirty="0"/>
          </a:p>
        </p:txBody>
      </p:sp>
      <p:sp>
        <p:nvSpPr>
          <p:cNvPr id="28" name="blocco Segno"/>
          <p:cNvSpPr/>
          <p:nvPr/>
        </p:nvSpPr>
        <p:spPr>
          <a:xfrm>
            <a:off x="2121408" y="3154680"/>
            <a:ext cx="1572768" cy="548640"/>
          </a:xfrm>
          <a:prstGeom prst="roundRect">
            <a:avLst>
              <a:gd name="adj" fmla="val 20000"/>
            </a:avLst>
          </a:prstGeom>
          <a:solidFill>
            <a:schemeClr val="accent6"/>
          </a:solidFill>
          <a:ln/>
        </p:spPr>
      </p:sp>
      <p:sp>
        <p:nvSpPr>
          <p:cNvPr id="29" name="Text 23"/>
          <p:cNvSpPr txBox="1"/>
          <p:nvPr/>
        </p:nvSpPr>
        <p:spPr>
          <a:xfrm>
            <a:off x="2167128" y="3154680"/>
            <a:ext cx="1481328" cy="548640"/>
          </a:xfrm>
          <a:prstGeom prst="rect">
            <a:avLst/>
          </a:prstGeom>
          <a:noFill/>
          <a:ln/>
        </p:spPr>
        <p:txBody>
          <a:bodyPr wrap="square" lIns="0" tIns="0" rIns="0" bIns="0" rtlCol="0" anchor="ctr"/>
          <a:lstStyle/>
          <a:p>
            <a:pPr algn="ctr" indent="0" marL="0">
              <a:buNone/>
            </a:pPr>
            <a:r>
              <a:rPr lang="it-IT" sz="1200" b="1" dirty="0">
                <a:solidFill>
                  <a:schemeClr val="tx1"/>
                </a:solidFill>
              </a:rPr>
              <a:t>Segno</a:t>
            </a:r>
            <a:endParaRPr lang="it-IT" sz="1200" dirty="0"/>
          </a:p>
        </p:txBody>
      </p:sp>
      <p:sp>
        <p:nvSpPr>
          <p:cNvPr id="30" name="blocco Totali e percentuali"/>
          <p:cNvSpPr/>
          <p:nvPr/>
        </p:nvSpPr>
        <p:spPr>
          <a:xfrm>
            <a:off x="3785616" y="3154680"/>
            <a:ext cx="1572768" cy="548640"/>
          </a:xfrm>
          <a:prstGeom prst="roundRect">
            <a:avLst>
              <a:gd name="adj" fmla="val 20000"/>
            </a:avLst>
          </a:prstGeom>
          <a:solidFill>
            <a:schemeClr val="accent6"/>
          </a:solidFill>
          <a:ln/>
        </p:spPr>
      </p:sp>
      <p:sp>
        <p:nvSpPr>
          <p:cNvPr id="31" name="Text 25"/>
          <p:cNvSpPr txBox="1"/>
          <p:nvPr/>
        </p:nvSpPr>
        <p:spPr>
          <a:xfrm>
            <a:off x="3831336" y="3154680"/>
            <a:ext cx="1481328" cy="548640"/>
          </a:xfrm>
          <a:prstGeom prst="rect">
            <a:avLst/>
          </a:prstGeom>
          <a:noFill/>
          <a:ln/>
        </p:spPr>
        <p:txBody>
          <a:bodyPr wrap="square" lIns="0" tIns="0" rIns="0" bIns="0" rtlCol="0" anchor="ctr"/>
          <a:lstStyle/>
          <a:p>
            <a:pPr algn="ctr" indent="0" marL="0">
              <a:buNone/>
            </a:pPr>
            <a:r>
              <a:rPr lang="it-IT" sz="1200" b="1" dirty="0">
                <a:solidFill>
                  <a:schemeClr val="tx1"/>
                </a:solidFill>
              </a:rPr>
              <a:t>Totali e percentuali</a:t>
            </a:r>
            <a:endParaRPr lang="it-IT" sz="1200" dirty="0"/>
          </a:p>
        </p:txBody>
      </p:sp>
      <p:sp>
        <p:nvSpPr>
          <p:cNvPr id="32" name="blocco Coerenza con il noto"/>
          <p:cNvSpPr/>
          <p:nvPr/>
        </p:nvSpPr>
        <p:spPr>
          <a:xfrm>
            <a:off x="5449824" y="3154680"/>
            <a:ext cx="1572768" cy="548640"/>
          </a:xfrm>
          <a:prstGeom prst="roundRect">
            <a:avLst>
              <a:gd name="adj" fmla="val 20000"/>
            </a:avLst>
          </a:prstGeom>
          <a:solidFill>
            <a:schemeClr val="accent6"/>
          </a:solidFill>
          <a:ln/>
        </p:spPr>
      </p:sp>
      <p:sp>
        <p:nvSpPr>
          <p:cNvPr id="33" name="Text 27"/>
          <p:cNvSpPr txBox="1"/>
          <p:nvPr/>
        </p:nvSpPr>
        <p:spPr>
          <a:xfrm>
            <a:off x="5495544" y="3154680"/>
            <a:ext cx="1481328" cy="548640"/>
          </a:xfrm>
          <a:prstGeom prst="rect">
            <a:avLst/>
          </a:prstGeom>
          <a:noFill/>
          <a:ln/>
        </p:spPr>
        <p:txBody>
          <a:bodyPr wrap="square" lIns="0" tIns="0" rIns="0" bIns="0" rtlCol="0" anchor="ctr"/>
          <a:lstStyle/>
          <a:p>
            <a:pPr algn="ctr" indent="0" marL="0">
              <a:buNone/>
            </a:pPr>
            <a:r>
              <a:rPr lang="it-IT" sz="1200" b="1" dirty="0">
                <a:solidFill>
                  <a:schemeClr val="tx1"/>
                </a:solidFill>
              </a:rPr>
              <a:t>Coerenza con il noto</a:t>
            </a:r>
            <a:endParaRPr lang="it-IT" sz="1200" dirty="0"/>
          </a:p>
        </p:txBody>
      </p:sp>
      <p:sp>
        <p:nvSpPr>
          <p:cNvPr id="34" name="blocco Variazioni nel tempo"/>
          <p:cNvSpPr/>
          <p:nvPr/>
        </p:nvSpPr>
        <p:spPr>
          <a:xfrm>
            <a:off x="7114032" y="3154680"/>
            <a:ext cx="1572768" cy="548640"/>
          </a:xfrm>
          <a:prstGeom prst="roundRect">
            <a:avLst>
              <a:gd name="adj" fmla="val 20000"/>
            </a:avLst>
          </a:prstGeom>
          <a:solidFill>
            <a:schemeClr val="accent6"/>
          </a:solidFill>
          <a:ln/>
        </p:spPr>
      </p:sp>
      <p:sp>
        <p:nvSpPr>
          <p:cNvPr id="35" name="Text 29"/>
          <p:cNvSpPr txBox="1"/>
          <p:nvPr/>
        </p:nvSpPr>
        <p:spPr>
          <a:xfrm>
            <a:off x="7159752" y="3154680"/>
            <a:ext cx="1481328" cy="548640"/>
          </a:xfrm>
          <a:prstGeom prst="rect">
            <a:avLst/>
          </a:prstGeom>
          <a:noFill/>
          <a:ln/>
        </p:spPr>
        <p:txBody>
          <a:bodyPr wrap="square" lIns="0" tIns="0" rIns="0" bIns="0" rtlCol="0" anchor="ctr"/>
          <a:lstStyle/>
          <a:p>
            <a:pPr algn="ctr" indent="0" marL="0">
              <a:buNone/>
            </a:pPr>
            <a:r>
              <a:rPr lang="it-IT" sz="1200" b="1" dirty="0">
                <a:solidFill>
                  <a:schemeClr val="tx1"/>
                </a:solidFill>
              </a:rPr>
              <a:t>Variazioni nel tempo</a:t>
            </a:r>
            <a:endParaRPr lang="it-IT" sz="1200" dirty="0"/>
          </a:p>
        </p:txBody>
      </p:sp>
      <p:sp>
        <p:nvSpPr>
          <p:cNvPr id="36" name="messaggio"/>
          <p:cNvSpPr/>
          <p:nvPr/>
        </p:nvSpPr>
        <p:spPr>
          <a:xfrm>
            <a:off x="457200" y="3886200"/>
            <a:ext cx="8229600" cy="640080"/>
          </a:xfrm>
          <a:prstGeom prst="roundRect">
            <a:avLst>
              <a:gd name="adj" fmla="val 11429"/>
            </a:avLst>
          </a:prstGeom>
          <a:solidFill>
            <a:schemeClr val="tx1"/>
          </a:solidFill>
          <a:ln/>
        </p:spPr>
      </p:sp>
      <p:sp>
        <p:nvSpPr>
          <p:cNvPr id="37" name="Text 31"/>
          <p:cNvSpPr txBox="1"/>
          <p:nvPr/>
        </p:nvSpPr>
        <p:spPr>
          <a:xfrm>
            <a:off x="640080" y="3886200"/>
            <a:ext cx="7863840" cy="640080"/>
          </a:xfrm>
          <a:prstGeom prst="rect">
            <a:avLst/>
          </a:prstGeom>
          <a:noFill/>
          <a:ln/>
        </p:spPr>
        <p:txBody>
          <a:bodyPr wrap="square" lIns="0" tIns="0" rIns="0" bIns="0" rtlCol="0" anchor="ctr"/>
          <a:lstStyle/>
          <a:p>
            <a:pPr indent="0" marL="0">
              <a:buNone/>
            </a:pPr>
            <a:r>
              <a:rPr lang="it-IT" sz="1300" dirty="0">
                <a:solidFill>
                  <a:schemeClr val="bg1"/>
                </a:solidFill>
              </a:rPr>
              <a:t>Da 10% a 12%: +2 punti percentuali, ma +20% in termini relativi. Conoscere i propri numeri è il primo filtro.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Aggregazioni e confronti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Medie che nascondono"/>
          <p:cNvSpPr/>
          <p:nvPr/>
        </p:nvSpPr>
        <p:spPr>
          <a:xfrm>
            <a:off x="457200" y="1097280"/>
            <a:ext cx="4023360" cy="1211580"/>
          </a:xfrm>
          <a:prstGeom prst="roundRect">
            <a:avLst>
              <a:gd name="adj" fmla="val 6038"/>
            </a:avLst>
          </a:prstGeom>
          <a:solidFill>
            <a:schemeClr val="bg2"/>
          </a:solidFill>
          <a:ln/>
        </p:spPr>
      </p:sp>
      <p:sp>
        <p:nvSpPr>
          <p:cNvPr id="11" name="cerchio FiBarChart"/>
          <p:cNvSpPr/>
          <p:nvPr/>
        </p:nvSpPr>
        <p:spPr>
          <a:xfrm>
            <a:off x="621792" y="1261872"/>
            <a:ext cx="438912" cy="438912"/>
          </a:xfrm>
          <a:prstGeom prst="ellipse">
            <a:avLst/>
          </a:prstGeom>
          <a:solidFill>
            <a:schemeClr val="accent1"/>
          </a:solidFill>
          <a:ln/>
        </p:spPr>
      </p:sp>
      <p:pic>
        <p:nvPicPr>
          <p:cNvPr id="12" name="Image 0" descr="FiBarChart">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Medie che nascondono</a:t>
            </a:r>
            <a:endParaRPr lang="it-IT" sz="1400" dirty="0"/>
          </a:p>
        </p:txBody>
      </p:sp>
      <p:sp>
        <p:nvSpPr>
          <p:cNvPr id="14" name="Text 10"/>
          <p:cNvSpPr txBox="1"/>
          <p:nvPr/>
        </p:nvSpPr>
        <p:spPr>
          <a:xfrm>
            <a:off x="621792" y="1810512"/>
            <a:ext cx="3694176" cy="406908"/>
          </a:xfrm>
          <a:prstGeom prst="rect">
            <a:avLst/>
          </a:prstGeom>
          <a:noFill/>
          <a:ln/>
        </p:spPr>
        <p:txBody>
          <a:bodyPr wrap="square" lIns="0" tIns="0" rIns="0" bIns="0" rtlCol="0" anchor="t"/>
          <a:lstStyle/>
          <a:p>
            <a:pPr indent="0" marL="0">
              <a:buNone/>
            </a:pPr>
            <a:r>
              <a:rPr lang="it-IT" sz="1200" dirty="0">
                <a:solidFill>
                  <a:schemeClr val="tx2"/>
                </a:solidFill>
              </a:rPr>
              <a:t>3 giorni di media: metà in 1, metà in 5</a:t>
            </a:r>
            <a:endParaRPr lang="it-IT" sz="1200" dirty="0"/>
          </a:p>
        </p:txBody>
      </p:sp>
      <p:sp>
        <p:nvSpPr>
          <p:cNvPr id="15" name="Medie di medie"/>
          <p:cNvSpPr/>
          <p:nvPr/>
        </p:nvSpPr>
        <p:spPr>
          <a:xfrm>
            <a:off x="4663440" y="1097280"/>
            <a:ext cx="4023360" cy="1211580"/>
          </a:xfrm>
          <a:prstGeom prst="roundRect">
            <a:avLst>
              <a:gd name="adj" fmla="val 6038"/>
            </a:avLst>
          </a:prstGeom>
          <a:solidFill>
            <a:schemeClr val="bg2"/>
          </a:solidFill>
          <a:ln/>
        </p:spPr>
      </p:sp>
      <p:sp>
        <p:nvSpPr>
          <p:cNvPr id="16" name="cerchio FiDivide"/>
          <p:cNvSpPr/>
          <p:nvPr/>
        </p:nvSpPr>
        <p:spPr>
          <a:xfrm>
            <a:off x="4828032" y="1261872"/>
            <a:ext cx="438912" cy="438912"/>
          </a:xfrm>
          <a:prstGeom prst="ellipse">
            <a:avLst/>
          </a:prstGeom>
          <a:solidFill>
            <a:schemeClr val="accent1"/>
          </a:solidFill>
          <a:ln/>
        </p:spPr>
      </p:sp>
      <p:pic>
        <p:nvPicPr>
          <p:cNvPr id="17" name="Image 1" descr="FiDivide">    </p:cNvPr>
          <p:cNvPicPr>
            <a:picLocks noChangeAspect="1"/>
          </p:cNvPicPr>
          <p:nvPr/>
        </p:nvPicPr>
        <p:blipFill>
          <a:blip r:embed="rId2"/>
          <a:stretch>
            <a:fillRect/>
          </a:stretch>
        </p:blipFill>
        <p:spPr>
          <a:xfrm>
            <a:off x="4937760" y="1371600"/>
            <a:ext cx="219456" cy="219456"/>
          </a:xfrm>
          <a:prstGeom prst="rect">
            <a:avLst/>
          </a:prstGeom>
        </p:spPr>
      </p:pic>
      <p:sp>
        <p:nvSpPr>
          <p:cNvPr id="18" name="Text 13"/>
          <p:cNvSpPr txBox="1"/>
          <p:nvPr/>
        </p:nvSpPr>
        <p:spPr>
          <a:xfrm>
            <a:off x="5376672" y="122529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Medie di medie</a:t>
            </a:r>
            <a:endParaRPr lang="it-IT" sz="1400" dirty="0"/>
          </a:p>
        </p:txBody>
      </p:sp>
      <p:sp>
        <p:nvSpPr>
          <p:cNvPr id="19" name="Text 14"/>
          <p:cNvSpPr txBox="1"/>
          <p:nvPr/>
        </p:nvSpPr>
        <p:spPr>
          <a:xfrm>
            <a:off x="4828032" y="1810512"/>
            <a:ext cx="3694176" cy="406908"/>
          </a:xfrm>
          <a:prstGeom prst="rect">
            <a:avLst/>
          </a:prstGeom>
          <a:noFill/>
          <a:ln/>
        </p:spPr>
        <p:txBody>
          <a:bodyPr wrap="square" lIns="0" tIns="0" rIns="0" bIns="0" rtlCol="0" anchor="t"/>
          <a:lstStyle/>
          <a:p>
            <a:pPr indent="0" marL="0">
              <a:buNone/>
            </a:pPr>
            <a:r>
              <a:rPr lang="it-IT" sz="1200" dirty="0">
                <a:solidFill>
                  <a:schemeClr val="tx2"/>
                </a:solidFill>
              </a:rPr>
              <a:t>Margini 10% e 20%: il complessivo è 15% solo con fatturati uguali</a:t>
            </a:r>
            <a:endParaRPr lang="it-IT" sz="1200" dirty="0"/>
          </a:p>
        </p:txBody>
      </p:sp>
      <p:sp>
        <p:nvSpPr>
          <p:cNvPr id="20" name="Percentuali senza base"/>
          <p:cNvSpPr/>
          <p:nvPr/>
        </p:nvSpPr>
        <p:spPr>
          <a:xfrm>
            <a:off x="457200" y="2491740"/>
            <a:ext cx="4023360" cy="1211580"/>
          </a:xfrm>
          <a:prstGeom prst="roundRect">
            <a:avLst>
              <a:gd name="adj" fmla="val 6038"/>
            </a:avLst>
          </a:prstGeom>
          <a:solidFill>
            <a:schemeClr val="bg2"/>
          </a:solidFill>
          <a:ln/>
        </p:spPr>
      </p:sp>
      <p:sp>
        <p:nvSpPr>
          <p:cNvPr id="21" name="cerchio FiPercent"/>
          <p:cNvSpPr/>
          <p:nvPr/>
        </p:nvSpPr>
        <p:spPr>
          <a:xfrm>
            <a:off x="621792" y="2656332"/>
            <a:ext cx="438912" cy="438912"/>
          </a:xfrm>
          <a:prstGeom prst="ellipse">
            <a:avLst/>
          </a:prstGeom>
          <a:solidFill>
            <a:schemeClr val="accent1"/>
          </a:solidFill>
          <a:ln/>
        </p:spPr>
      </p:sp>
      <p:pic>
        <p:nvPicPr>
          <p:cNvPr id="22" name="Image 2" descr="FiPercent">    </p:cNvPr>
          <p:cNvPicPr>
            <a:picLocks noChangeAspect="1"/>
          </p:cNvPicPr>
          <p:nvPr/>
        </p:nvPicPr>
        <p:blipFill>
          <a:blip r:embed="rId3"/>
          <a:stretch>
            <a:fillRect/>
          </a:stretch>
        </p:blipFill>
        <p:spPr>
          <a:xfrm>
            <a:off x="731520" y="2766060"/>
            <a:ext cx="219456" cy="219456"/>
          </a:xfrm>
          <a:prstGeom prst="rect">
            <a:avLst/>
          </a:prstGeom>
        </p:spPr>
      </p:pic>
      <p:sp>
        <p:nvSpPr>
          <p:cNvPr id="23" name="Text 17"/>
          <p:cNvSpPr txBox="1"/>
          <p:nvPr/>
        </p:nvSpPr>
        <p:spPr>
          <a:xfrm>
            <a:off x="1170432" y="261975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Percentuali senza base</a:t>
            </a:r>
            <a:endParaRPr lang="it-IT" sz="1400" dirty="0"/>
          </a:p>
        </p:txBody>
      </p:sp>
      <p:sp>
        <p:nvSpPr>
          <p:cNvPr id="24" name="Text 18"/>
          <p:cNvSpPr txBox="1"/>
          <p:nvPr/>
        </p:nvSpPr>
        <p:spPr>
          <a:xfrm>
            <a:off x="621792" y="3204972"/>
            <a:ext cx="3694176" cy="406908"/>
          </a:xfrm>
          <a:prstGeom prst="rect">
            <a:avLst/>
          </a:prstGeom>
          <a:noFill/>
          <a:ln/>
        </p:spPr>
        <p:txBody>
          <a:bodyPr wrap="square" lIns="0" tIns="0" rIns="0" bIns="0" rtlCol="0" anchor="t"/>
          <a:lstStyle/>
          <a:p>
            <a:pPr indent="0" marL="0">
              <a:buNone/>
            </a:pPr>
            <a:r>
              <a:rPr lang="it-IT" sz="1200" dirty="0">
                <a:solidFill>
                  <a:schemeClr val="tx2"/>
                </a:solidFill>
              </a:rPr>
              <a:t>+50% su 4 casi: da 4 a 6, non un trend</a:t>
            </a:r>
            <a:endParaRPr lang="it-IT" sz="1200" dirty="0"/>
          </a:p>
        </p:txBody>
      </p:sp>
      <p:sp>
        <p:nvSpPr>
          <p:cNvPr id="25" name="Confronti non omogenei"/>
          <p:cNvSpPr/>
          <p:nvPr/>
        </p:nvSpPr>
        <p:spPr>
          <a:xfrm>
            <a:off x="4663440" y="2491740"/>
            <a:ext cx="4023360" cy="1211580"/>
          </a:xfrm>
          <a:prstGeom prst="roundRect">
            <a:avLst>
              <a:gd name="adj" fmla="val 6038"/>
            </a:avLst>
          </a:prstGeom>
          <a:solidFill>
            <a:schemeClr val="bg2"/>
          </a:solidFill>
          <a:ln/>
        </p:spPr>
      </p:sp>
      <p:sp>
        <p:nvSpPr>
          <p:cNvPr id="26" name="cerchio FiColumns"/>
          <p:cNvSpPr/>
          <p:nvPr/>
        </p:nvSpPr>
        <p:spPr>
          <a:xfrm>
            <a:off x="4828032" y="2656332"/>
            <a:ext cx="438912" cy="438912"/>
          </a:xfrm>
          <a:prstGeom prst="ellipse">
            <a:avLst/>
          </a:prstGeom>
          <a:solidFill>
            <a:schemeClr val="accent1"/>
          </a:solidFill>
          <a:ln/>
        </p:spPr>
      </p:sp>
      <p:pic>
        <p:nvPicPr>
          <p:cNvPr id="27" name="Image 3" descr="FiColumns">    </p:cNvPr>
          <p:cNvPicPr>
            <a:picLocks noChangeAspect="1"/>
          </p:cNvPicPr>
          <p:nvPr/>
        </p:nvPicPr>
        <p:blipFill>
          <a:blip r:embed="rId4"/>
          <a:stretch>
            <a:fillRect/>
          </a:stretch>
        </p:blipFill>
        <p:spPr>
          <a:xfrm>
            <a:off x="4937760" y="2766060"/>
            <a:ext cx="219456" cy="219456"/>
          </a:xfrm>
          <a:prstGeom prst="rect">
            <a:avLst/>
          </a:prstGeom>
        </p:spPr>
      </p:pic>
      <p:sp>
        <p:nvSpPr>
          <p:cNvPr id="28" name="Text 21"/>
          <p:cNvSpPr txBox="1"/>
          <p:nvPr/>
        </p:nvSpPr>
        <p:spPr>
          <a:xfrm>
            <a:off x="5376672" y="261975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Confronti non omogenei</a:t>
            </a:r>
            <a:endParaRPr lang="it-IT" sz="1400" dirty="0"/>
          </a:p>
        </p:txBody>
      </p:sp>
      <p:sp>
        <p:nvSpPr>
          <p:cNvPr id="29" name="Text 22"/>
          <p:cNvSpPr txBox="1"/>
          <p:nvPr/>
        </p:nvSpPr>
        <p:spPr>
          <a:xfrm>
            <a:off x="4828032" y="3204972"/>
            <a:ext cx="3694176" cy="406908"/>
          </a:xfrm>
          <a:prstGeom prst="rect">
            <a:avLst/>
          </a:prstGeom>
          <a:noFill/>
          <a:ln/>
        </p:spPr>
        <p:txBody>
          <a:bodyPr wrap="square" lIns="0" tIns="0" rIns="0" bIns="0" rtlCol="0" anchor="t"/>
          <a:lstStyle/>
          <a:p>
            <a:pPr indent="0" marL="0">
              <a:buNone/>
            </a:pPr>
            <a:r>
              <a:rPr lang="it-IT" sz="1200" dirty="0">
                <a:solidFill>
                  <a:schemeClr val="tx2"/>
                </a:solidFill>
              </a:rPr>
              <a:t>Trimestre contro anno, una sede contro l'azienda</a:t>
            </a:r>
            <a:endParaRPr lang="it-IT" sz="1200" dirty="0"/>
          </a:p>
        </p:txBody>
      </p:sp>
      <p:sp>
        <p:nvSpPr>
          <p:cNvPr id="30" name="Text 23"/>
          <p:cNvSpPr txBox="1"/>
          <p:nvPr/>
        </p:nvSpPr>
        <p:spPr>
          <a:xfrm>
            <a:off x="457200" y="3886200"/>
            <a:ext cx="8229600" cy="640080"/>
          </a:xfrm>
          <a:prstGeom prst="rect">
            <a:avLst/>
          </a:prstGeom>
          <a:noFill/>
          <a:ln/>
        </p:spPr>
        <p:txBody>
          <a:bodyPr wrap="square" lIns="0" tIns="0" rIns="0" bIns="0" rtlCol="0" anchor="t"/>
          <a:lstStyle/>
          <a:p>
            <a:pPr indent="0" marL="0">
              <a:buNone/>
            </a:pPr>
            <a:r>
              <a:rPr lang="it-IT" sz="1200" i="1" dirty="0">
                <a:solidFill>
                  <a:schemeClr val="tx1"/>
                </a:solidFill>
              </a:rPr>
              <a:t>I dati aggregati possono mostrare un andamento opposto a quello dei sottogruppi (paradosso di Simpson): per decisioni importanti, guardare anche i dati disaggregati.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32</a:t>
            </a:fld>
            <a:endParaRPr lang="it-IT"/>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Tabelle, grafici e tracciabilità</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graphicFrame>
        <p:nvGraphicFramePr>
          <p:cNvPr id="10" name="Chart 0" descr=""/>
          <p:cNvGraphicFramePr/>
          <p:nvPr/>
        </p:nvGraphicFramePr>
        <p:xfrm>
          <a:off x="457200" y="1051560"/>
          <a:ext cx="2377440"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Chart 1" descr=""/>
          <p:cNvGraphicFramePr/>
          <p:nvPr/>
        </p:nvGraphicFramePr>
        <p:xfrm>
          <a:off x="2926080" y="1051560"/>
          <a:ext cx="2377440" cy="2240280"/>
        </p:xfrm>
        <a:graphic xmlns:a="http://schemas.openxmlformats.org/drawingml/2006/main">
          <a:graphicData uri="http://schemas.openxmlformats.org/drawingml/2006/chart">
            <c:chart xmlns:c="http://schemas.openxmlformats.org/drawingml/2006/chart" r:id="rId2"/>
          </a:graphicData>
        </a:graphic>
      </p:graphicFrame>
      <p:sp>
        <p:nvSpPr>
          <p:cNvPr id="12" name="Text 7"/>
          <p:cNvSpPr txBox="1"/>
          <p:nvPr/>
        </p:nvSpPr>
        <p:spPr>
          <a:xfrm>
            <a:off x="457200" y="3310128"/>
            <a:ext cx="4846320" cy="274320"/>
          </a:xfrm>
          <a:prstGeom prst="rect">
            <a:avLst/>
          </a:prstGeom>
          <a:noFill/>
          <a:ln/>
        </p:spPr>
        <p:txBody>
          <a:bodyPr wrap="square" lIns="0" tIns="0" rIns="0" bIns="0" rtlCol="0" anchor="t"/>
          <a:lstStyle/>
          <a:p>
            <a:pPr algn="ctr" indent="0" marL="0">
              <a:buNone/>
            </a:pPr>
            <a:r>
              <a:rPr lang="it-IT" sz="1200" b="1" dirty="0">
                <a:solidFill>
                  <a:schemeClr val="tx1"/>
                </a:solidFill>
              </a:rPr>
              <a:t>Stessi dati, impressione molto diversa</a:t>
            </a:r>
            <a:endParaRPr lang="it-IT" sz="1200" dirty="0"/>
          </a:p>
        </p:txBody>
      </p:sp>
      <p:sp>
        <p:nvSpPr>
          <p:cNvPr id="13" name="Text 8"/>
          <p:cNvSpPr txBox="1"/>
          <p:nvPr/>
        </p:nvSpPr>
        <p:spPr>
          <a:xfrm>
            <a:off x="5577840" y="1051560"/>
            <a:ext cx="3108960" cy="274320"/>
          </a:xfrm>
          <a:prstGeom prst="rect">
            <a:avLst/>
          </a:prstGeom>
          <a:noFill/>
          <a:ln/>
        </p:spPr>
        <p:txBody>
          <a:bodyPr wrap="square" lIns="0" tIns="0" rIns="0" bIns="0" rtlCol="0" anchor="t"/>
          <a:lstStyle/>
          <a:p>
            <a:pPr indent="0" marL="0">
              <a:buNone/>
            </a:pPr>
            <a:r>
              <a:rPr lang="it-IT" sz="1400" b="1" dirty="0">
                <a:solidFill>
                  <a:schemeClr val="tx1"/>
                </a:solidFill>
              </a:rPr>
              <a:t>Da controllare</a:t>
            </a:r>
            <a:endParaRPr lang="it-IT" sz="1400" dirty="0"/>
          </a:p>
        </p:txBody>
      </p:sp>
      <p:sp>
        <p:nvSpPr>
          <p:cNvPr id="14" name="riga 0"/>
          <p:cNvSpPr/>
          <p:nvPr/>
        </p:nvSpPr>
        <p:spPr>
          <a:xfrm>
            <a:off x="5577840" y="1389888"/>
            <a:ext cx="3108960" cy="457200"/>
          </a:xfrm>
          <a:prstGeom prst="roundRect">
            <a:avLst>
              <a:gd name="adj" fmla="val 16000"/>
            </a:avLst>
          </a:prstGeom>
          <a:solidFill>
            <a:schemeClr val="bg2"/>
          </a:solidFill>
          <a:ln/>
        </p:spPr>
      </p:sp>
      <p:sp>
        <p:nvSpPr>
          <p:cNvPr id="15" name="Text 10"/>
          <p:cNvSpPr txBox="1"/>
          <p:nvPr/>
        </p:nvSpPr>
        <p:spPr>
          <a:xfrm>
            <a:off x="5760720" y="1389888"/>
            <a:ext cx="2743200" cy="457200"/>
          </a:xfrm>
          <a:prstGeom prst="rect">
            <a:avLst/>
          </a:prstGeom>
          <a:noFill/>
          <a:ln/>
        </p:spPr>
        <p:txBody>
          <a:bodyPr wrap="square" lIns="0" tIns="0" rIns="0" bIns="0" rtlCol="0" anchor="ctr"/>
          <a:lstStyle/>
          <a:p>
            <a:pPr indent="0" marL="0">
              <a:buNone/>
            </a:pPr>
            <a:r>
              <a:rPr lang="it-IT" sz="1100" dirty="0">
                <a:solidFill>
                  <a:schemeClr val="tx1"/>
                </a:solidFill>
              </a:rPr>
              <a:t>Assi, etichette, unità, scale</a:t>
            </a:r>
            <a:endParaRPr lang="it-IT" sz="1100" dirty="0"/>
          </a:p>
        </p:txBody>
      </p:sp>
      <p:sp>
        <p:nvSpPr>
          <p:cNvPr id="16" name="riga 1"/>
          <p:cNvSpPr/>
          <p:nvPr/>
        </p:nvSpPr>
        <p:spPr>
          <a:xfrm>
            <a:off x="5577840" y="1920240"/>
            <a:ext cx="3108960" cy="457200"/>
          </a:xfrm>
          <a:prstGeom prst="roundRect">
            <a:avLst>
              <a:gd name="adj" fmla="val 16000"/>
            </a:avLst>
          </a:prstGeom>
          <a:solidFill>
            <a:schemeClr val="bg1"/>
          </a:solidFill>
          <a:ln/>
        </p:spPr>
      </p:sp>
      <p:sp>
        <p:nvSpPr>
          <p:cNvPr id="17" name="Text 12"/>
          <p:cNvSpPr txBox="1"/>
          <p:nvPr/>
        </p:nvSpPr>
        <p:spPr>
          <a:xfrm>
            <a:off x="5760720" y="1920240"/>
            <a:ext cx="2743200" cy="457200"/>
          </a:xfrm>
          <a:prstGeom prst="rect">
            <a:avLst/>
          </a:prstGeom>
          <a:noFill/>
          <a:ln/>
        </p:spPr>
        <p:txBody>
          <a:bodyPr wrap="square" lIns="0" tIns="0" rIns="0" bIns="0" rtlCol="0" anchor="ctr"/>
          <a:lstStyle/>
          <a:p>
            <a:pPr indent="0" marL="0">
              <a:buNone/>
            </a:pPr>
            <a:r>
              <a:rPr lang="it-IT" sz="1100" dirty="0">
                <a:solidFill>
                  <a:schemeClr val="tx1"/>
                </a:solidFill>
              </a:rPr>
              <a:t>Corrispondenza con le tabelle</a:t>
            </a:r>
            <a:endParaRPr lang="it-IT" sz="1100" dirty="0"/>
          </a:p>
        </p:txBody>
      </p:sp>
      <p:sp>
        <p:nvSpPr>
          <p:cNvPr id="18" name="riga 2"/>
          <p:cNvSpPr/>
          <p:nvPr/>
        </p:nvSpPr>
        <p:spPr>
          <a:xfrm>
            <a:off x="5577840" y="2450592"/>
            <a:ext cx="3108960" cy="457200"/>
          </a:xfrm>
          <a:prstGeom prst="roundRect">
            <a:avLst>
              <a:gd name="adj" fmla="val 16000"/>
            </a:avLst>
          </a:prstGeom>
          <a:solidFill>
            <a:schemeClr val="bg2"/>
          </a:solidFill>
          <a:ln/>
        </p:spPr>
      </p:sp>
      <p:sp>
        <p:nvSpPr>
          <p:cNvPr id="19" name="Text 14"/>
          <p:cNvSpPr txBox="1"/>
          <p:nvPr/>
        </p:nvSpPr>
        <p:spPr>
          <a:xfrm>
            <a:off x="5760720" y="2450592"/>
            <a:ext cx="2743200" cy="457200"/>
          </a:xfrm>
          <a:prstGeom prst="rect">
            <a:avLst/>
          </a:prstGeom>
          <a:noFill/>
          <a:ln/>
        </p:spPr>
        <p:txBody>
          <a:bodyPr wrap="square" lIns="0" tIns="0" rIns="0" bIns="0" rtlCol="0" anchor="ctr"/>
          <a:lstStyle/>
          <a:p>
            <a:pPr indent="0" marL="0">
              <a:buNone/>
            </a:pPr>
            <a:r>
              <a:rPr lang="it-IT" sz="1100" dirty="0">
                <a:solidFill>
                  <a:schemeClr val="tx1"/>
                </a:solidFill>
              </a:rPr>
              <a:t>Categorie omesse o in "altro"</a:t>
            </a:r>
            <a:endParaRPr lang="it-IT" sz="1100" dirty="0"/>
          </a:p>
        </p:txBody>
      </p:sp>
      <p:sp>
        <p:nvSpPr>
          <p:cNvPr id="20" name="riga 3"/>
          <p:cNvSpPr/>
          <p:nvPr/>
        </p:nvSpPr>
        <p:spPr>
          <a:xfrm>
            <a:off x="5577840" y="2980944"/>
            <a:ext cx="3108960" cy="457200"/>
          </a:xfrm>
          <a:prstGeom prst="roundRect">
            <a:avLst>
              <a:gd name="adj" fmla="val 16000"/>
            </a:avLst>
          </a:prstGeom>
          <a:solidFill>
            <a:schemeClr val="bg1"/>
          </a:solidFill>
          <a:ln/>
        </p:spPr>
      </p:sp>
      <p:sp>
        <p:nvSpPr>
          <p:cNvPr id="21" name="Text 16"/>
          <p:cNvSpPr txBox="1"/>
          <p:nvPr/>
        </p:nvSpPr>
        <p:spPr>
          <a:xfrm>
            <a:off x="5760720" y="2980944"/>
            <a:ext cx="2743200" cy="457200"/>
          </a:xfrm>
          <a:prstGeom prst="rect">
            <a:avLst/>
          </a:prstGeom>
          <a:noFill/>
          <a:ln/>
        </p:spPr>
        <p:txBody>
          <a:bodyPr wrap="square" lIns="0" tIns="0" rIns="0" bIns="0" rtlCol="0" anchor="ctr"/>
          <a:lstStyle/>
          <a:p>
            <a:pPr indent="0" marL="0">
              <a:buNone/>
            </a:pPr>
            <a:r>
              <a:rPr lang="it-IT" sz="1100" dirty="0">
                <a:solidFill>
                  <a:schemeClr val="tx1"/>
                </a:solidFill>
              </a:rPr>
              <a:t>Totali, arrotondamenti, mancanti</a:t>
            </a:r>
            <a:endParaRPr lang="it-IT" sz="1100" dirty="0"/>
          </a:p>
        </p:txBody>
      </p:sp>
      <p:sp>
        <p:nvSpPr>
          <p:cNvPr id="22" name="tracciabilità"/>
          <p:cNvSpPr/>
          <p:nvPr/>
        </p:nvSpPr>
        <p:spPr>
          <a:xfrm>
            <a:off x="457200" y="3703320"/>
            <a:ext cx="8229600" cy="822960"/>
          </a:xfrm>
          <a:prstGeom prst="roundRect">
            <a:avLst>
              <a:gd name="adj" fmla="val 8889"/>
            </a:avLst>
          </a:prstGeom>
          <a:solidFill>
            <a:schemeClr val="tx1"/>
          </a:solidFill>
          <a:ln/>
        </p:spPr>
      </p:sp>
      <p:sp>
        <p:nvSpPr>
          <p:cNvPr id="23" name="Text 18"/>
          <p:cNvSpPr txBox="1"/>
          <p:nvPr/>
        </p:nvSpPr>
        <p:spPr>
          <a:xfrm>
            <a:off x="640080" y="3703320"/>
            <a:ext cx="7863840" cy="822960"/>
          </a:xfrm>
          <a:prstGeom prst="rect">
            <a:avLst/>
          </a:prstGeom>
          <a:noFill/>
          <a:ln/>
        </p:spPr>
        <p:txBody>
          <a:bodyPr wrap="square" lIns="0" tIns="0" rIns="0" bIns="0" rtlCol="0" anchor="ctr"/>
          <a:lstStyle/>
          <a:p>
            <a:pPr indent="0" marL="0">
              <a:buNone/>
            </a:pPr>
            <a:r>
              <a:rPr lang="it-IT" sz="1300" b="1" dirty="0">
                <a:solidFill>
                  <a:schemeClr val="accent1"/>
                </a:solidFill>
              </a:rPr>
              <a:t>Tracciabilità: </a:t>
            </a:r>
            <a:pPr indent="0" marL="0">
              <a:buNone/>
            </a:pPr>
            <a:r>
              <a:rPr lang="it-IT" sz="1300" dirty="0">
                <a:solidFill>
                  <a:schemeClr val="bg1"/>
                </a:solidFill>
              </a:rPr>
              <a:t>dati, formule e passaggi devono poter essere ricostruiti; i valori importanti si ricalcolano con uno strumento indipendente.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33</a:t>
            </a:fld>
            <a:endParaRPr lang="it-I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it-IT" sz="2600" dirty="0">
                <a:solidFill>
                  <a:schemeClr val="bg1"/>
                </a:solidFill>
              </a:rPr>
              <a:t>Un risultato quantitativo utile alle decisioni deve essere riconducibile a dati e procedimenti controllabili.</a:t>
            </a:r>
            <a:endParaRPr lang="it-IT"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it-IT" sz="1300" dirty="0">
                <a:solidFill>
                  <a:schemeClr val="accent3"/>
                </a:solidFill>
              </a:rPr>
              <a:t>Sottotema 7.5  ·  Verifica di dati, calcoli e risultati quantitativi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34</a:t>
            </a:fld>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7.6</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Tecniche di verifica e revisione assistite dall'AI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L'AI può rendere la revisione più rapida e completa: per le affermazioni importanti servono comunque evidenze attendibili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35</a:t>
            </a:fld>
            <a:endParaRPr lang="it-IT"/>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Un ciclo di miglioramento</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Generare"/>
          <p:cNvSpPr/>
          <p:nvPr/>
        </p:nvSpPr>
        <p:spPr>
          <a:xfrm>
            <a:off x="457200" y="1097280"/>
            <a:ext cx="1920240" cy="2148840"/>
          </a:xfrm>
          <a:prstGeom prst="roundRect">
            <a:avLst>
              <a:gd name="adj" fmla="val 3810"/>
            </a:avLst>
          </a:prstGeom>
          <a:solidFill>
            <a:schemeClr val="bg2"/>
          </a:solidFill>
          <a:ln/>
        </p:spPr>
      </p:sp>
      <p:sp>
        <p:nvSpPr>
          <p:cNvPr id="11" name="cerchio FiEdit3"/>
          <p:cNvSpPr/>
          <p:nvPr/>
        </p:nvSpPr>
        <p:spPr>
          <a:xfrm>
            <a:off x="1170432" y="1207008"/>
            <a:ext cx="502920" cy="502920"/>
          </a:xfrm>
          <a:prstGeom prst="ellipse">
            <a:avLst/>
          </a:prstGeom>
          <a:solidFill>
            <a:schemeClr val="accent1"/>
          </a:solidFill>
          <a:ln/>
        </p:spPr>
      </p:sp>
      <p:pic>
        <p:nvPicPr>
          <p:cNvPr id="12" name="Image 0" descr="FiEdit3">    </p:cNvPr>
          <p:cNvPicPr>
            <a:picLocks noChangeAspect="1"/>
          </p:cNvPicPr>
          <p:nvPr/>
        </p:nvPicPr>
        <p:blipFill>
          <a:blip r:embed="rId1"/>
          <a:stretch>
            <a:fillRect/>
          </a:stretch>
        </p:blipFill>
        <p:spPr>
          <a:xfrm>
            <a:off x="1296162" y="1332738"/>
            <a:ext cx="251460" cy="251460"/>
          </a:xfrm>
          <a:prstGeom prst="rect">
            <a:avLst/>
          </a:prstGeom>
        </p:spPr>
      </p:pic>
      <p:sp>
        <p:nvSpPr>
          <p:cNvPr id="13" name="Text 9"/>
          <p:cNvSpPr txBox="1"/>
          <p:nvPr/>
        </p:nvSpPr>
        <p:spPr>
          <a:xfrm>
            <a:off x="548640" y="1783080"/>
            <a:ext cx="1737360" cy="347472"/>
          </a:xfrm>
          <a:prstGeom prst="rect">
            <a:avLst/>
          </a:prstGeom>
          <a:noFill/>
          <a:ln/>
        </p:spPr>
        <p:txBody>
          <a:bodyPr wrap="square" lIns="0" tIns="0" rIns="0" bIns="0" rtlCol="0" anchor="t"/>
          <a:lstStyle/>
          <a:p>
            <a:pPr algn="ctr" indent="0" marL="0">
              <a:buNone/>
            </a:pPr>
            <a:r>
              <a:rPr lang="it-IT" sz="1600" b="1" dirty="0">
                <a:solidFill>
                  <a:schemeClr val="tx1"/>
                </a:solidFill>
              </a:rPr>
              <a:t>Generare</a:t>
            </a:r>
            <a:endParaRPr lang="it-IT" sz="1600" dirty="0"/>
          </a:p>
        </p:txBody>
      </p:sp>
      <p:sp>
        <p:nvSpPr>
          <p:cNvPr id="14" name="Text 10"/>
          <p:cNvSpPr txBox="1"/>
          <p:nvPr/>
        </p:nvSpPr>
        <p:spPr>
          <a:xfrm>
            <a:off x="594360" y="2148840"/>
            <a:ext cx="1645920" cy="566928"/>
          </a:xfrm>
          <a:prstGeom prst="rect">
            <a:avLst/>
          </a:prstGeom>
          <a:noFill/>
          <a:ln/>
        </p:spPr>
        <p:txBody>
          <a:bodyPr wrap="square" lIns="0" tIns="0" rIns="0" bIns="0" rtlCol="0" anchor="t"/>
          <a:lstStyle/>
          <a:p>
            <a:pPr algn="ctr" indent="0" marL="0">
              <a:buNone/>
            </a:pPr>
            <a:r>
              <a:rPr lang="it-IT" sz="1100" dirty="0">
                <a:solidFill>
                  <a:schemeClr val="tx2"/>
                </a:solidFill>
              </a:rPr>
              <a:t>L'AI produce una prima versione</a:t>
            </a:r>
            <a:endParaRPr lang="it-IT" sz="1100" dirty="0"/>
          </a:p>
        </p:txBody>
      </p:sp>
      <p:sp>
        <p:nvSpPr>
          <p:cNvPr id="15" name="Text 11"/>
          <p:cNvSpPr txBox="1"/>
          <p:nvPr/>
        </p:nvSpPr>
        <p:spPr>
          <a:xfrm>
            <a:off x="594360" y="2743200"/>
            <a:ext cx="1645920" cy="411480"/>
          </a:xfrm>
          <a:prstGeom prst="rect">
            <a:avLst/>
          </a:prstGeom>
          <a:noFill/>
          <a:ln/>
        </p:spPr>
        <p:txBody>
          <a:bodyPr wrap="square" lIns="0" tIns="0" rIns="0" bIns="0" rtlCol="0" anchor="t"/>
          <a:lstStyle/>
          <a:p>
            <a:pPr algn="ctr" indent="0" marL="0">
              <a:buNone/>
            </a:pPr>
            <a:r>
              <a:rPr lang="it-IT" sz="1000" b="1" dirty="0">
                <a:solidFill>
                  <a:schemeClr val="accent1"/>
                </a:solidFill>
              </a:rPr>
              <a:t>AI, guidata dalla richiesta</a:t>
            </a:r>
            <a:endParaRPr lang="it-IT" sz="1000" dirty="0"/>
          </a:p>
        </p:txBody>
      </p:sp>
      <p:sp>
        <p:nvSpPr>
          <p:cNvPr id="16" name="freccia"/>
          <p:cNvSpPr/>
          <p:nvPr/>
        </p:nvSpPr>
        <p:spPr>
          <a:xfrm>
            <a:off x="2386584" y="2011680"/>
            <a:ext cx="164592" cy="292608"/>
          </a:xfrm>
          <a:prstGeom prst="rightArrow">
            <a:avLst/>
          </a:prstGeom>
          <a:solidFill>
            <a:schemeClr val="accent2"/>
          </a:solidFill>
          <a:ln/>
        </p:spPr>
      </p:sp>
      <p:sp>
        <p:nvSpPr>
          <p:cNvPr id="17" name="Revisionare"/>
          <p:cNvSpPr/>
          <p:nvPr/>
        </p:nvSpPr>
        <p:spPr>
          <a:xfrm>
            <a:off x="2560320" y="1097280"/>
            <a:ext cx="1920240" cy="2148840"/>
          </a:xfrm>
          <a:prstGeom prst="roundRect">
            <a:avLst>
              <a:gd name="adj" fmla="val 3810"/>
            </a:avLst>
          </a:prstGeom>
          <a:solidFill>
            <a:schemeClr val="accent6"/>
          </a:solidFill>
          <a:ln/>
        </p:spPr>
      </p:sp>
      <p:sp>
        <p:nvSpPr>
          <p:cNvPr id="18" name="cerchio FiSearch"/>
          <p:cNvSpPr/>
          <p:nvPr/>
        </p:nvSpPr>
        <p:spPr>
          <a:xfrm>
            <a:off x="3273552" y="1207008"/>
            <a:ext cx="502920" cy="502920"/>
          </a:xfrm>
          <a:prstGeom prst="ellipse">
            <a:avLst/>
          </a:prstGeom>
          <a:solidFill>
            <a:schemeClr val="accent1"/>
          </a:solidFill>
          <a:ln/>
        </p:spPr>
      </p:sp>
      <p:pic>
        <p:nvPicPr>
          <p:cNvPr id="19" name="Image 1" descr="FiSearch">    </p:cNvPr>
          <p:cNvPicPr>
            <a:picLocks noChangeAspect="1"/>
          </p:cNvPicPr>
          <p:nvPr/>
        </p:nvPicPr>
        <p:blipFill>
          <a:blip r:embed="rId2"/>
          <a:stretch>
            <a:fillRect/>
          </a:stretch>
        </p:blipFill>
        <p:spPr>
          <a:xfrm>
            <a:off x="3399282" y="1332738"/>
            <a:ext cx="251460" cy="251460"/>
          </a:xfrm>
          <a:prstGeom prst="rect">
            <a:avLst/>
          </a:prstGeom>
        </p:spPr>
      </p:pic>
      <p:sp>
        <p:nvSpPr>
          <p:cNvPr id="20" name="Text 15"/>
          <p:cNvSpPr txBox="1"/>
          <p:nvPr/>
        </p:nvSpPr>
        <p:spPr>
          <a:xfrm>
            <a:off x="2651760" y="1783080"/>
            <a:ext cx="1737360" cy="347472"/>
          </a:xfrm>
          <a:prstGeom prst="rect">
            <a:avLst/>
          </a:prstGeom>
          <a:noFill/>
          <a:ln/>
        </p:spPr>
        <p:txBody>
          <a:bodyPr wrap="square" lIns="0" tIns="0" rIns="0" bIns="0" rtlCol="0" anchor="t"/>
          <a:lstStyle/>
          <a:p>
            <a:pPr algn="ctr" indent="0" marL="0">
              <a:buNone/>
            </a:pPr>
            <a:r>
              <a:rPr lang="it-IT" sz="1600" b="1" dirty="0">
                <a:solidFill>
                  <a:schemeClr val="tx1"/>
                </a:solidFill>
              </a:rPr>
              <a:t>Revisionare</a:t>
            </a:r>
            <a:endParaRPr lang="it-IT" sz="1600" dirty="0"/>
          </a:p>
        </p:txBody>
      </p:sp>
      <p:sp>
        <p:nvSpPr>
          <p:cNvPr id="21" name="Text 16"/>
          <p:cNvSpPr txBox="1"/>
          <p:nvPr/>
        </p:nvSpPr>
        <p:spPr>
          <a:xfrm>
            <a:off x="2697480" y="2148840"/>
            <a:ext cx="1645920" cy="566928"/>
          </a:xfrm>
          <a:prstGeom prst="rect">
            <a:avLst/>
          </a:prstGeom>
          <a:noFill/>
          <a:ln/>
        </p:spPr>
        <p:txBody>
          <a:bodyPr wrap="square" lIns="0" tIns="0" rIns="0" bIns="0" rtlCol="0" anchor="t"/>
          <a:lstStyle/>
          <a:p>
            <a:pPr algn="ctr" indent="0" marL="0">
              <a:buNone/>
            </a:pPr>
            <a:r>
              <a:rPr lang="it-IT" sz="1100" dirty="0">
                <a:solidFill>
                  <a:schemeClr val="tx2"/>
                </a:solidFill>
              </a:rPr>
              <a:t>Si cercano errori, lacune, punti deboli</a:t>
            </a:r>
            <a:endParaRPr lang="it-IT" sz="1100" dirty="0"/>
          </a:p>
        </p:txBody>
      </p:sp>
      <p:sp>
        <p:nvSpPr>
          <p:cNvPr id="22" name="Text 17"/>
          <p:cNvSpPr txBox="1"/>
          <p:nvPr/>
        </p:nvSpPr>
        <p:spPr>
          <a:xfrm>
            <a:off x="2697480" y="2743200"/>
            <a:ext cx="1645920" cy="411480"/>
          </a:xfrm>
          <a:prstGeom prst="rect">
            <a:avLst/>
          </a:prstGeom>
          <a:noFill/>
          <a:ln/>
        </p:spPr>
        <p:txBody>
          <a:bodyPr wrap="square" lIns="0" tIns="0" rIns="0" bIns="0" rtlCol="0" anchor="t"/>
          <a:lstStyle/>
          <a:p>
            <a:pPr algn="ctr" indent="0" marL="0">
              <a:buNone/>
            </a:pPr>
            <a:r>
              <a:rPr lang="it-IT" sz="1000" b="1" dirty="0">
                <a:solidFill>
                  <a:schemeClr val="accent1"/>
                </a:solidFill>
              </a:rPr>
              <a:t>AI come revisore, persona che giudica</a:t>
            </a:r>
            <a:endParaRPr lang="it-IT" sz="1000" dirty="0"/>
          </a:p>
        </p:txBody>
      </p:sp>
      <p:sp>
        <p:nvSpPr>
          <p:cNvPr id="23" name="freccia"/>
          <p:cNvSpPr/>
          <p:nvPr/>
        </p:nvSpPr>
        <p:spPr>
          <a:xfrm>
            <a:off x="4489704" y="2011680"/>
            <a:ext cx="164592" cy="292608"/>
          </a:xfrm>
          <a:prstGeom prst="rightArrow">
            <a:avLst/>
          </a:prstGeom>
          <a:solidFill>
            <a:schemeClr val="accent2"/>
          </a:solidFill>
          <a:ln/>
        </p:spPr>
      </p:sp>
      <p:sp>
        <p:nvSpPr>
          <p:cNvPr id="24" name="Migliorare"/>
          <p:cNvSpPr/>
          <p:nvPr/>
        </p:nvSpPr>
        <p:spPr>
          <a:xfrm>
            <a:off x="4663440" y="1097280"/>
            <a:ext cx="1920240" cy="2148840"/>
          </a:xfrm>
          <a:prstGeom prst="roundRect">
            <a:avLst>
              <a:gd name="adj" fmla="val 3810"/>
            </a:avLst>
          </a:prstGeom>
          <a:solidFill>
            <a:schemeClr val="bg2"/>
          </a:solidFill>
          <a:ln/>
        </p:spPr>
      </p:sp>
      <p:sp>
        <p:nvSpPr>
          <p:cNvPr id="25" name="cerchio FiTrendingUp"/>
          <p:cNvSpPr/>
          <p:nvPr/>
        </p:nvSpPr>
        <p:spPr>
          <a:xfrm>
            <a:off x="5376672" y="1207008"/>
            <a:ext cx="502920" cy="502920"/>
          </a:xfrm>
          <a:prstGeom prst="ellipse">
            <a:avLst/>
          </a:prstGeom>
          <a:solidFill>
            <a:schemeClr val="accent1"/>
          </a:solidFill>
          <a:ln/>
        </p:spPr>
      </p:sp>
      <p:pic>
        <p:nvPicPr>
          <p:cNvPr id="26" name="Image 2" descr="FiTrendingUp">    </p:cNvPr>
          <p:cNvPicPr>
            <a:picLocks noChangeAspect="1"/>
          </p:cNvPicPr>
          <p:nvPr/>
        </p:nvPicPr>
        <p:blipFill>
          <a:blip r:embed="rId3"/>
          <a:stretch>
            <a:fillRect/>
          </a:stretch>
        </p:blipFill>
        <p:spPr>
          <a:xfrm>
            <a:off x="5502402" y="1332738"/>
            <a:ext cx="251460" cy="251460"/>
          </a:xfrm>
          <a:prstGeom prst="rect">
            <a:avLst/>
          </a:prstGeom>
        </p:spPr>
      </p:pic>
      <p:sp>
        <p:nvSpPr>
          <p:cNvPr id="27" name="Text 21"/>
          <p:cNvSpPr txBox="1"/>
          <p:nvPr/>
        </p:nvSpPr>
        <p:spPr>
          <a:xfrm>
            <a:off x="4754880" y="1783080"/>
            <a:ext cx="1737360" cy="347472"/>
          </a:xfrm>
          <a:prstGeom prst="rect">
            <a:avLst/>
          </a:prstGeom>
          <a:noFill/>
          <a:ln/>
        </p:spPr>
        <p:txBody>
          <a:bodyPr wrap="square" lIns="0" tIns="0" rIns="0" bIns="0" rtlCol="0" anchor="t"/>
          <a:lstStyle/>
          <a:p>
            <a:pPr algn="ctr" indent="0" marL="0">
              <a:buNone/>
            </a:pPr>
            <a:r>
              <a:rPr lang="it-IT" sz="1600" b="1" dirty="0">
                <a:solidFill>
                  <a:schemeClr val="tx1"/>
                </a:solidFill>
              </a:rPr>
              <a:t>Migliorare</a:t>
            </a:r>
            <a:endParaRPr lang="it-IT" sz="1600" dirty="0"/>
          </a:p>
        </p:txBody>
      </p:sp>
      <p:sp>
        <p:nvSpPr>
          <p:cNvPr id="28" name="Text 22"/>
          <p:cNvSpPr txBox="1"/>
          <p:nvPr/>
        </p:nvSpPr>
        <p:spPr>
          <a:xfrm>
            <a:off x="4800600" y="2148840"/>
            <a:ext cx="1645920" cy="566928"/>
          </a:xfrm>
          <a:prstGeom prst="rect">
            <a:avLst/>
          </a:prstGeom>
          <a:noFill/>
          <a:ln/>
        </p:spPr>
        <p:txBody>
          <a:bodyPr wrap="square" lIns="0" tIns="0" rIns="0" bIns="0" rtlCol="0" anchor="t"/>
          <a:lstStyle/>
          <a:p>
            <a:pPr algn="ctr" indent="0" marL="0">
              <a:buNone/>
            </a:pPr>
            <a:r>
              <a:rPr lang="it-IT" sz="1100" dirty="0">
                <a:solidFill>
                  <a:schemeClr val="tx2"/>
                </a:solidFill>
              </a:rPr>
              <a:t>Si correggono i punti emersi</a:t>
            </a:r>
            <a:endParaRPr lang="it-IT" sz="1100" dirty="0"/>
          </a:p>
        </p:txBody>
      </p:sp>
      <p:sp>
        <p:nvSpPr>
          <p:cNvPr id="29" name="Text 23"/>
          <p:cNvSpPr txBox="1"/>
          <p:nvPr/>
        </p:nvSpPr>
        <p:spPr>
          <a:xfrm>
            <a:off x="4800600" y="2743200"/>
            <a:ext cx="1645920" cy="411480"/>
          </a:xfrm>
          <a:prstGeom prst="rect">
            <a:avLst/>
          </a:prstGeom>
          <a:noFill/>
          <a:ln/>
        </p:spPr>
        <p:txBody>
          <a:bodyPr wrap="square" lIns="0" tIns="0" rIns="0" bIns="0" rtlCol="0" anchor="t"/>
          <a:lstStyle/>
          <a:p>
            <a:pPr algn="ctr" indent="0" marL="0">
              <a:buNone/>
            </a:pPr>
            <a:r>
              <a:rPr lang="it-IT" sz="1000" b="1" dirty="0">
                <a:solidFill>
                  <a:schemeClr val="accent1"/>
                </a:solidFill>
              </a:rPr>
              <a:t>AI e persona</a:t>
            </a:r>
            <a:endParaRPr lang="it-IT" sz="1000" dirty="0"/>
          </a:p>
        </p:txBody>
      </p:sp>
      <p:sp>
        <p:nvSpPr>
          <p:cNvPr id="30" name="freccia"/>
          <p:cNvSpPr/>
          <p:nvPr/>
        </p:nvSpPr>
        <p:spPr>
          <a:xfrm>
            <a:off x="6592824" y="2011680"/>
            <a:ext cx="164592" cy="292608"/>
          </a:xfrm>
          <a:prstGeom prst="rightArrow">
            <a:avLst/>
          </a:prstGeom>
          <a:solidFill>
            <a:schemeClr val="accent2"/>
          </a:solidFill>
          <a:ln/>
        </p:spPr>
      </p:sp>
      <p:sp>
        <p:nvSpPr>
          <p:cNvPr id="31" name="Validare"/>
          <p:cNvSpPr/>
          <p:nvPr/>
        </p:nvSpPr>
        <p:spPr>
          <a:xfrm>
            <a:off x="6766560" y="1097280"/>
            <a:ext cx="1920240" cy="2148840"/>
          </a:xfrm>
          <a:prstGeom prst="roundRect">
            <a:avLst>
              <a:gd name="adj" fmla="val 3810"/>
            </a:avLst>
          </a:prstGeom>
          <a:solidFill>
            <a:schemeClr val="accent1"/>
          </a:solidFill>
          <a:ln/>
        </p:spPr>
      </p:sp>
      <p:sp>
        <p:nvSpPr>
          <p:cNvPr id="32" name="cerchio FiCheckCircle"/>
          <p:cNvSpPr/>
          <p:nvPr/>
        </p:nvSpPr>
        <p:spPr>
          <a:xfrm>
            <a:off x="7479792" y="1207008"/>
            <a:ext cx="502920" cy="502920"/>
          </a:xfrm>
          <a:prstGeom prst="ellipse">
            <a:avLst/>
          </a:prstGeom>
          <a:solidFill>
            <a:schemeClr val="bg1"/>
          </a:solidFill>
          <a:ln/>
        </p:spPr>
      </p:sp>
      <p:pic>
        <p:nvPicPr>
          <p:cNvPr id="33" name="Image 3" descr="FiCheckCircle">    </p:cNvPr>
          <p:cNvPicPr>
            <a:picLocks noChangeAspect="1"/>
          </p:cNvPicPr>
          <p:nvPr/>
        </p:nvPicPr>
        <p:blipFill>
          <a:blip r:embed="rId4"/>
          <a:stretch>
            <a:fillRect/>
          </a:stretch>
        </p:blipFill>
        <p:spPr>
          <a:xfrm>
            <a:off x="7605522" y="1332738"/>
            <a:ext cx="251460" cy="251460"/>
          </a:xfrm>
          <a:prstGeom prst="rect">
            <a:avLst/>
          </a:prstGeom>
        </p:spPr>
      </p:pic>
      <p:sp>
        <p:nvSpPr>
          <p:cNvPr id="34" name="Text 27"/>
          <p:cNvSpPr txBox="1"/>
          <p:nvPr/>
        </p:nvSpPr>
        <p:spPr>
          <a:xfrm>
            <a:off x="6858000" y="1783080"/>
            <a:ext cx="1737360" cy="347472"/>
          </a:xfrm>
          <a:prstGeom prst="rect">
            <a:avLst/>
          </a:prstGeom>
          <a:noFill/>
          <a:ln/>
        </p:spPr>
        <p:txBody>
          <a:bodyPr wrap="square" lIns="0" tIns="0" rIns="0" bIns="0" rtlCol="0" anchor="t"/>
          <a:lstStyle/>
          <a:p>
            <a:pPr algn="ctr" indent="0" marL="0">
              <a:buNone/>
            </a:pPr>
            <a:r>
              <a:rPr lang="it-IT" sz="1600" b="1" dirty="0">
                <a:solidFill>
                  <a:schemeClr val="bg1"/>
                </a:solidFill>
              </a:rPr>
              <a:t>Validare</a:t>
            </a:r>
            <a:endParaRPr lang="it-IT" sz="1600" dirty="0"/>
          </a:p>
        </p:txBody>
      </p:sp>
      <p:sp>
        <p:nvSpPr>
          <p:cNvPr id="35" name="Text 28"/>
          <p:cNvSpPr txBox="1"/>
          <p:nvPr/>
        </p:nvSpPr>
        <p:spPr>
          <a:xfrm>
            <a:off x="6903720" y="2148840"/>
            <a:ext cx="1645920" cy="566928"/>
          </a:xfrm>
          <a:prstGeom prst="rect">
            <a:avLst/>
          </a:prstGeom>
          <a:noFill/>
          <a:ln/>
        </p:spPr>
        <p:txBody>
          <a:bodyPr wrap="square" lIns="0" tIns="0" rIns="0" bIns="0" rtlCol="0" anchor="t"/>
          <a:lstStyle/>
          <a:p>
            <a:pPr algn="ctr" indent="0" marL="0">
              <a:buNone/>
            </a:pPr>
            <a:r>
              <a:rPr lang="it-IT" sz="1100" dirty="0">
                <a:solidFill>
                  <a:schemeClr val="bg1"/>
                </a:solidFill>
              </a:rPr>
              <a:t>Verifica delle affermazioni importanti e decisione sull'uso</a:t>
            </a:r>
            <a:endParaRPr lang="it-IT" sz="1100" dirty="0"/>
          </a:p>
        </p:txBody>
      </p:sp>
      <p:sp>
        <p:nvSpPr>
          <p:cNvPr id="36" name="Text 29"/>
          <p:cNvSpPr txBox="1"/>
          <p:nvPr/>
        </p:nvSpPr>
        <p:spPr>
          <a:xfrm>
            <a:off x="6903720" y="2743200"/>
            <a:ext cx="1645920" cy="411480"/>
          </a:xfrm>
          <a:prstGeom prst="rect">
            <a:avLst/>
          </a:prstGeom>
          <a:noFill/>
          <a:ln/>
        </p:spPr>
        <p:txBody>
          <a:bodyPr wrap="square" lIns="0" tIns="0" rIns="0" bIns="0" rtlCol="0" anchor="t"/>
          <a:lstStyle/>
          <a:p>
            <a:pPr algn="ctr" indent="0" marL="0">
              <a:buNone/>
            </a:pPr>
            <a:r>
              <a:rPr lang="it-IT" sz="1000" b="1" dirty="0">
                <a:solidFill>
                  <a:schemeClr val="accent6"/>
                </a:solidFill>
              </a:rPr>
              <a:t>Persona, con evidenze</a:t>
            </a:r>
            <a:endParaRPr lang="it-IT" sz="1000" dirty="0"/>
          </a:p>
        </p:txBody>
      </p:sp>
      <p:sp>
        <p:nvSpPr>
          <p:cNvPr id="37" name="Text 30"/>
          <p:cNvSpPr txBox="1"/>
          <p:nvPr/>
        </p:nvSpPr>
        <p:spPr>
          <a:xfrm>
            <a:off x="457200" y="3383280"/>
            <a:ext cx="8229600" cy="274320"/>
          </a:xfrm>
          <a:prstGeom prst="rect">
            <a:avLst/>
          </a:prstGeom>
          <a:noFill/>
          <a:ln/>
        </p:spPr>
        <p:txBody>
          <a:bodyPr wrap="square" lIns="0" tIns="0" rIns="0" bIns="0" rtlCol="0" anchor="t"/>
          <a:lstStyle/>
          <a:p>
            <a:pPr indent="0" marL="0">
              <a:buNone/>
            </a:pPr>
            <a:r>
              <a:rPr lang="it-IT" sz="1300" b="1" dirty="0">
                <a:solidFill>
                  <a:schemeClr val="tx1"/>
                </a:solidFill>
              </a:rPr>
              <a:t>Che cosa l'AI individua bene in revisione</a:t>
            </a:r>
            <a:endParaRPr lang="it-IT" sz="1300" dirty="0"/>
          </a:p>
        </p:txBody>
      </p:sp>
      <p:sp>
        <p:nvSpPr>
          <p:cNvPr id="38" name="blocco Contraddizioni"/>
          <p:cNvSpPr/>
          <p:nvPr/>
        </p:nvSpPr>
        <p:spPr>
          <a:xfrm>
            <a:off x="457200" y="3703320"/>
            <a:ext cx="1572768" cy="411480"/>
          </a:xfrm>
          <a:prstGeom prst="roundRect">
            <a:avLst>
              <a:gd name="adj" fmla="val 26667"/>
            </a:avLst>
          </a:prstGeom>
          <a:solidFill>
            <a:schemeClr val="accent6"/>
          </a:solidFill>
          <a:ln/>
        </p:spPr>
      </p:sp>
      <p:sp>
        <p:nvSpPr>
          <p:cNvPr id="39" name="Text 32"/>
          <p:cNvSpPr txBox="1"/>
          <p:nvPr/>
        </p:nvSpPr>
        <p:spPr>
          <a:xfrm>
            <a:off x="502920" y="3703320"/>
            <a:ext cx="1481328" cy="411480"/>
          </a:xfrm>
          <a:prstGeom prst="rect">
            <a:avLst/>
          </a:prstGeom>
          <a:noFill/>
          <a:ln/>
        </p:spPr>
        <p:txBody>
          <a:bodyPr wrap="square" lIns="0" tIns="0" rIns="0" bIns="0" rtlCol="0" anchor="ctr"/>
          <a:lstStyle/>
          <a:p>
            <a:pPr algn="ctr" indent="0" marL="0">
              <a:buNone/>
            </a:pPr>
            <a:r>
              <a:rPr lang="it-IT" sz="1200" b="1" dirty="0">
                <a:solidFill>
                  <a:schemeClr val="tx1"/>
                </a:solidFill>
              </a:rPr>
              <a:t>Contraddizioni</a:t>
            </a:r>
            <a:endParaRPr lang="it-IT" sz="1200" dirty="0"/>
          </a:p>
        </p:txBody>
      </p:sp>
      <p:sp>
        <p:nvSpPr>
          <p:cNvPr id="40" name="blocco Ambiguità"/>
          <p:cNvSpPr/>
          <p:nvPr/>
        </p:nvSpPr>
        <p:spPr>
          <a:xfrm>
            <a:off x="2121408" y="3703320"/>
            <a:ext cx="1572768" cy="411480"/>
          </a:xfrm>
          <a:prstGeom prst="roundRect">
            <a:avLst>
              <a:gd name="adj" fmla="val 26667"/>
            </a:avLst>
          </a:prstGeom>
          <a:solidFill>
            <a:schemeClr val="accent6"/>
          </a:solidFill>
          <a:ln/>
        </p:spPr>
      </p:sp>
      <p:sp>
        <p:nvSpPr>
          <p:cNvPr id="41" name="Text 34"/>
          <p:cNvSpPr txBox="1"/>
          <p:nvPr/>
        </p:nvSpPr>
        <p:spPr>
          <a:xfrm>
            <a:off x="2167128" y="3703320"/>
            <a:ext cx="1481328" cy="411480"/>
          </a:xfrm>
          <a:prstGeom prst="rect">
            <a:avLst/>
          </a:prstGeom>
          <a:noFill/>
          <a:ln/>
        </p:spPr>
        <p:txBody>
          <a:bodyPr wrap="square" lIns="0" tIns="0" rIns="0" bIns="0" rtlCol="0" anchor="ctr"/>
          <a:lstStyle/>
          <a:p>
            <a:pPr algn="ctr" indent="0" marL="0">
              <a:buNone/>
            </a:pPr>
            <a:r>
              <a:rPr lang="it-IT" sz="1200" b="1" dirty="0">
                <a:solidFill>
                  <a:schemeClr val="tx1"/>
                </a:solidFill>
              </a:rPr>
              <a:t>Ambiguità</a:t>
            </a:r>
            <a:endParaRPr lang="it-IT" sz="1200" dirty="0"/>
          </a:p>
        </p:txBody>
      </p:sp>
      <p:sp>
        <p:nvSpPr>
          <p:cNvPr id="42" name="blocco Omissioni"/>
          <p:cNvSpPr/>
          <p:nvPr/>
        </p:nvSpPr>
        <p:spPr>
          <a:xfrm>
            <a:off x="3785616" y="3703320"/>
            <a:ext cx="1572768" cy="411480"/>
          </a:xfrm>
          <a:prstGeom prst="roundRect">
            <a:avLst>
              <a:gd name="adj" fmla="val 26667"/>
            </a:avLst>
          </a:prstGeom>
          <a:solidFill>
            <a:schemeClr val="accent6"/>
          </a:solidFill>
          <a:ln/>
        </p:spPr>
      </p:sp>
      <p:sp>
        <p:nvSpPr>
          <p:cNvPr id="43" name="Text 36"/>
          <p:cNvSpPr txBox="1"/>
          <p:nvPr/>
        </p:nvSpPr>
        <p:spPr>
          <a:xfrm>
            <a:off x="3831336" y="3703320"/>
            <a:ext cx="1481328" cy="411480"/>
          </a:xfrm>
          <a:prstGeom prst="rect">
            <a:avLst/>
          </a:prstGeom>
          <a:noFill/>
          <a:ln/>
        </p:spPr>
        <p:txBody>
          <a:bodyPr wrap="square" lIns="0" tIns="0" rIns="0" bIns="0" rtlCol="0" anchor="ctr"/>
          <a:lstStyle/>
          <a:p>
            <a:pPr algn="ctr" indent="0" marL="0">
              <a:buNone/>
            </a:pPr>
            <a:r>
              <a:rPr lang="it-IT" sz="1200" b="1" dirty="0">
                <a:solidFill>
                  <a:schemeClr val="tx1"/>
                </a:solidFill>
              </a:rPr>
              <a:t>Omissioni</a:t>
            </a:r>
            <a:endParaRPr lang="it-IT" sz="1200" dirty="0"/>
          </a:p>
        </p:txBody>
      </p:sp>
      <p:sp>
        <p:nvSpPr>
          <p:cNvPr id="44" name="blocco Punti deboli"/>
          <p:cNvSpPr/>
          <p:nvPr/>
        </p:nvSpPr>
        <p:spPr>
          <a:xfrm>
            <a:off x="5449824" y="3703320"/>
            <a:ext cx="1572768" cy="411480"/>
          </a:xfrm>
          <a:prstGeom prst="roundRect">
            <a:avLst>
              <a:gd name="adj" fmla="val 26667"/>
            </a:avLst>
          </a:prstGeom>
          <a:solidFill>
            <a:schemeClr val="accent6"/>
          </a:solidFill>
          <a:ln/>
        </p:spPr>
      </p:sp>
      <p:sp>
        <p:nvSpPr>
          <p:cNvPr id="45" name="Text 38"/>
          <p:cNvSpPr txBox="1"/>
          <p:nvPr/>
        </p:nvSpPr>
        <p:spPr>
          <a:xfrm>
            <a:off x="5495544" y="3703320"/>
            <a:ext cx="1481328" cy="411480"/>
          </a:xfrm>
          <a:prstGeom prst="rect">
            <a:avLst/>
          </a:prstGeom>
          <a:noFill/>
          <a:ln/>
        </p:spPr>
        <p:txBody>
          <a:bodyPr wrap="square" lIns="0" tIns="0" rIns="0" bIns="0" rtlCol="0" anchor="ctr"/>
          <a:lstStyle/>
          <a:p>
            <a:pPr algn="ctr" indent="0" marL="0">
              <a:buNone/>
            </a:pPr>
            <a:r>
              <a:rPr lang="it-IT" sz="1200" b="1" dirty="0">
                <a:solidFill>
                  <a:schemeClr val="tx1"/>
                </a:solidFill>
              </a:rPr>
              <a:t>Punti deboli</a:t>
            </a:r>
            <a:endParaRPr lang="it-IT" sz="1200" dirty="0"/>
          </a:p>
        </p:txBody>
      </p:sp>
      <p:sp>
        <p:nvSpPr>
          <p:cNvPr id="46" name="blocco Requisiti mancanti"/>
          <p:cNvSpPr/>
          <p:nvPr/>
        </p:nvSpPr>
        <p:spPr>
          <a:xfrm>
            <a:off x="7114032" y="3703320"/>
            <a:ext cx="1572768" cy="411480"/>
          </a:xfrm>
          <a:prstGeom prst="roundRect">
            <a:avLst>
              <a:gd name="adj" fmla="val 26667"/>
            </a:avLst>
          </a:prstGeom>
          <a:solidFill>
            <a:schemeClr val="accent6"/>
          </a:solidFill>
          <a:ln/>
        </p:spPr>
      </p:sp>
      <p:sp>
        <p:nvSpPr>
          <p:cNvPr id="47" name="Text 40"/>
          <p:cNvSpPr txBox="1"/>
          <p:nvPr/>
        </p:nvSpPr>
        <p:spPr>
          <a:xfrm>
            <a:off x="7159752" y="3703320"/>
            <a:ext cx="1481328" cy="411480"/>
          </a:xfrm>
          <a:prstGeom prst="rect">
            <a:avLst/>
          </a:prstGeom>
          <a:noFill/>
          <a:ln/>
        </p:spPr>
        <p:txBody>
          <a:bodyPr wrap="square" lIns="0" tIns="0" rIns="0" bIns="0" rtlCol="0" anchor="ctr"/>
          <a:lstStyle/>
          <a:p>
            <a:pPr algn="ctr" indent="0" marL="0">
              <a:buNone/>
            </a:pPr>
            <a:r>
              <a:rPr lang="it-IT" sz="1200" b="1" dirty="0">
                <a:solidFill>
                  <a:schemeClr val="tx1"/>
                </a:solidFill>
              </a:rPr>
              <a:t>Requisiti mancanti</a:t>
            </a:r>
            <a:endParaRPr lang="it-IT" sz="1200" dirty="0"/>
          </a:p>
        </p:txBody>
      </p:sp>
      <p:sp>
        <p:nvSpPr>
          <p:cNvPr id="48" name="Text 41"/>
          <p:cNvSpPr txBox="1"/>
          <p:nvPr/>
        </p:nvSpPr>
        <p:spPr>
          <a:xfrm>
            <a:off x="457200" y="4206240"/>
            <a:ext cx="8229600" cy="320040"/>
          </a:xfrm>
          <a:prstGeom prst="rect">
            <a:avLst/>
          </a:prstGeom>
          <a:noFill/>
          <a:ln/>
        </p:spPr>
        <p:txBody>
          <a:bodyPr wrap="square" lIns="0" tIns="0" rIns="0" bIns="0" rtlCol="0" anchor="t"/>
          <a:lstStyle/>
          <a:p>
            <a:pPr indent="0" marL="0">
              <a:buNone/>
            </a:pPr>
            <a:r>
              <a:rPr lang="it-IT" sz="1200" i="1" dirty="0">
                <a:solidFill>
                  <a:schemeClr val="tx1"/>
                </a:solidFill>
              </a:rPr>
              <a:t>Dati, norme e fatti esterni al testo si confermano con le fonti.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36</a:t>
            </a:fld>
            <a:endParaRPr lang="it-IT"/>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Sei tecniche di revisione assistita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Revisione critica"/>
          <p:cNvSpPr/>
          <p:nvPr/>
        </p:nvSpPr>
        <p:spPr>
          <a:xfrm>
            <a:off x="457200" y="1097280"/>
            <a:ext cx="2621280" cy="1257300"/>
          </a:xfrm>
          <a:prstGeom prst="roundRect">
            <a:avLst>
              <a:gd name="adj" fmla="val 5818"/>
            </a:avLst>
          </a:prstGeom>
          <a:solidFill>
            <a:schemeClr val="bg2"/>
          </a:solidFill>
          <a:ln/>
        </p:spPr>
      </p:sp>
      <p:sp>
        <p:nvSpPr>
          <p:cNvPr id="11" name="cerchio FiCheckSquare"/>
          <p:cNvSpPr/>
          <p:nvPr/>
        </p:nvSpPr>
        <p:spPr>
          <a:xfrm>
            <a:off x="621792" y="1261872"/>
            <a:ext cx="438912" cy="438912"/>
          </a:xfrm>
          <a:prstGeom prst="ellipse">
            <a:avLst/>
          </a:prstGeom>
          <a:solidFill>
            <a:schemeClr val="accent1"/>
          </a:solidFill>
          <a:ln/>
        </p:spPr>
      </p:sp>
      <p:pic>
        <p:nvPicPr>
          <p:cNvPr id="12" name="Image 0" descr="FiCheckSquare">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Revisione critica</a:t>
            </a:r>
            <a:endParaRPr lang="it-IT" sz="1300" dirty="0"/>
          </a:p>
        </p:txBody>
      </p:sp>
      <p:sp>
        <p:nvSpPr>
          <p:cNvPr id="14" name="Text 10"/>
          <p:cNvSpPr txBox="1"/>
          <p:nvPr/>
        </p:nvSpPr>
        <p:spPr>
          <a:xfrm>
            <a:off x="621792" y="1810512"/>
            <a:ext cx="2292096" cy="452628"/>
          </a:xfrm>
          <a:prstGeom prst="rect">
            <a:avLst/>
          </a:prstGeom>
          <a:noFill/>
          <a:ln/>
        </p:spPr>
        <p:txBody>
          <a:bodyPr wrap="square" lIns="0" tIns="0" rIns="0" bIns="0" rtlCol="0" anchor="t"/>
          <a:lstStyle/>
          <a:p>
            <a:pPr indent="0" marL="0">
              <a:buNone/>
            </a:pPr>
            <a:r>
              <a:rPr lang="it-IT" sz="1100" dirty="0">
                <a:solidFill>
                  <a:schemeClr val="tx2"/>
                </a:solidFill>
              </a:rPr>
              <a:t>"Rileggi come un revisore esigente: errori, imprecisioni, punti poco chiari."</a:t>
            </a:r>
            <a:endParaRPr lang="it-IT" sz="1100" dirty="0"/>
          </a:p>
        </p:txBody>
      </p:sp>
      <p:sp>
        <p:nvSpPr>
          <p:cNvPr id="15" name="Assunzioni e punti deboli"/>
          <p:cNvSpPr/>
          <p:nvPr/>
        </p:nvSpPr>
        <p:spPr>
          <a:xfrm>
            <a:off x="3261360" y="1097280"/>
            <a:ext cx="2621280" cy="1257300"/>
          </a:xfrm>
          <a:prstGeom prst="roundRect">
            <a:avLst>
              <a:gd name="adj" fmla="val 5818"/>
            </a:avLst>
          </a:prstGeom>
          <a:solidFill>
            <a:schemeClr val="bg2"/>
          </a:solidFill>
          <a:ln/>
        </p:spPr>
      </p:sp>
      <p:sp>
        <p:nvSpPr>
          <p:cNvPr id="16" name="cerchio FiEyeOff"/>
          <p:cNvSpPr/>
          <p:nvPr/>
        </p:nvSpPr>
        <p:spPr>
          <a:xfrm>
            <a:off x="3425952" y="1261872"/>
            <a:ext cx="438912" cy="438912"/>
          </a:xfrm>
          <a:prstGeom prst="ellipse">
            <a:avLst/>
          </a:prstGeom>
          <a:solidFill>
            <a:schemeClr val="accent1"/>
          </a:solidFill>
          <a:ln/>
        </p:spPr>
      </p:sp>
      <p:pic>
        <p:nvPicPr>
          <p:cNvPr id="17" name="Image 1" descr="FiEyeOff">    </p:cNvPr>
          <p:cNvPicPr>
            <a:picLocks noChangeAspect="1"/>
          </p:cNvPicPr>
          <p:nvPr/>
        </p:nvPicPr>
        <p:blipFill>
          <a:blip r:embed="rId2"/>
          <a:stretch>
            <a:fillRect/>
          </a:stretch>
        </p:blipFill>
        <p:spPr>
          <a:xfrm>
            <a:off x="3535680" y="1371600"/>
            <a:ext cx="219456" cy="219456"/>
          </a:xfrm>
          <a:prstGeom prst="rect">
            <a:avLst/>
          </a:prstGeom>
        </p:spPr>
      </p:pic>
      <p:sp>
        <p:nvSpPr>
          <p:cNvPr id="18" name="Text 13"/>
          <p:cNvSpPr txBox="1"/>
          <p:nvPr/>
        </p:nvSpPr>
        <p:spPr>
          <a:xfrm>
            <a:off x="397459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Assunzioni e punti deboli</a:t>
            </a:r>
            <a:endParaRPr lang="it-IT" sz="1300" dirty="0"/>
          </a:p>
        </p:txBody>
      </p:sp>
      <p:sp>
        <p:nvSpPr>
          <p:cNvPr id="19" name="Text 14"/>
          <p:cNvSpPr txBox="1"/>
          <p:nvPr/>
        </p:nvSpPr>
        <p:spPr>
          <a:xfrm>
            <a:off x="3425952" y="1810512"/>
            <a:ext cx="2292096" cy="452628"/>
          </a:xfrm>
          <a:prstGeom prst="rect">
            <a:avLst/>
          </a:prstGeom>
          <a:noFill/>
          <a:ln/>
        </p:spPr>
        <p:txBody>
          <a:bodyPr wrap="square" lIns="0" tIns="0" rIns="0" bIns="0" rtlCol="0" anchor="t"/>
          <a:lstStyle/>
          <a:p>
            <a:pPr indent="0" marL="0">
              <a:buNone/>
            </a:pPr>
            <a:r>
              <a:rPr lang="it-IT" sz="1100" dirty="0">
                <a:solidFill>
                  <a:schemeClr val="tx2"/>
                </a:solidFill>
              </a:rPr>
              <a:t>"Quali assunzioni implicite? Quali punti più deboli?"</a:t>
            </a:r>
            <a:endParaRPr lang="it-IT" sz="1100" dirty="0"/>
          </a:p>
        </p:txBody>
      </p:sp>
      <p:sp>
        <p:nvSpPr>
          <p:cNvPr id="20" name="Controargomentazioni"/>
          <p:cNvSpPr/>
          <p:nvPr/>
        </p:nvSpPr>
        <p:spPr>
          <a:xfrm>
            <a:off x="6065520" y="1097280"/>
            <a:ext cx="2621280" cy="1257300"/>
          </a:xfrm>
          <a:prstGeom prst="roundRect">
            <a:avLst>
              <a:gd name="adj" fmla="val 5818"/>
            </a:avLst>
          </a:prstGeom>
          <a:solidFill>
            <a:schemeClr val="bg2"/>
          </a:solidFill>
          <a:ln/>
        </p:spPr>
      </p:sp>
      <p:sp>
        <p:nvSpPr>
          <p:cNvPr id="21" name="cerchio FiShield"/>
          <p:cNvSpPr/>
          <p:nvPr/>
        </p:nvSpPr>
        <p:spPr>
          <a:xfrm>
            <a:off x="6230112" y="1261872"/>
            <a:ext cx="438912" cy="438912"/>
          </a:xfrm>
          <a:prstGeom prst="ellipse">
            <a:avLst/>
          </a:prstGeom>
          <a:solidFill>
            <a:schemeClr val="accent1"/>
          </a:solidFill>
          <a:ln/>
        </p:spPr>
      </p:sp>
      <p:pic>
        <p:nvPicPr>
          <p:cNvPr id="22" name="Image 2" descr="FiShield">    </p:cNvPr>
          <p:cNvPicPr>
            <a:picLocks noChangeAspect="1"/>
          </p:cNvPicPr>
          <p:nvPr/>
        </p:nvPicPr>
        <p:blipFill>
          <a:blip r:embed="rId3"/>
          <a:stretch>
            <a:fillRect/>
          </a:stretch>
        </p:blipFill>
        <p:spPr>
          <a:xfrm>
            <a:off x="6339840" y="1371600"/>
            <a:ext cx="219456" cy="219456"/>
          </a:xfrm>
          <a:prstGeom prst="rect">
            <a:avLst/>
          </a:prstGeom>
        </p:spPr>
      </p:pic>
      <p:sp>
        <p:nvSpPr>
          <p:cNvPr id="23" name="Text 17"/>
          <p:cNvSpPr txBox="1"/>
          <p:nvPr/>
        </p:nvSpPr>
        <p:spPr>
          <a:xfrm>
            <a:off x="677875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Controargomentazioni</a:t>
            </a:r>
            <a:endParaRPr lang="it-IT" sz="1300" dirty="0"/>
          </a:p>
        </p:txBody>
      </p:sp>
      <p:sp>
        <p:nvSpPr>
          <p:cNvPr id="24" name="Text 18"/>
          <p:cNvSpPr txBox="1"/>
          <p:nvPr/>
        </p:nvSpPr>
        <p:spPr>
          <a:xfrm>
            <a:off x="6230112" y="1810512"/>
            <a:ext cx="2292096" cy="452628"/>
          </a:xfrm>
          <a:prstGeom prst="rect">
            <a:avLst/>
          </a:prstGeom>
          <a:noFill/>
          <a:ln/>
        </p:spPr>
        <p:txBody>
          <a:bodyPr wrap="square" lIns="0" tIns="0" rIns="0" bIns="0" rtlCol="0" anchor="t"/>
          <a:lstStyle/>
          <a:p>
            <a:pPr indent="0" marL="0">
              <a:buNone/>
            </a:pPr>
            <a:r>
              <a:rPr lang="it-IT" sz="1100" dirty="0">
                <a:solidFill>
                  <a:schemeClr val="tx2"/>
                </a:solidFill>
              </a:rPr>
              <a:t>"Qual è l'argomento più forte contro questa conclusione?"</a:t>
            </a:r>
            <a:endParaRPr lang="it-IT" sz="1100" dirty="0"/>
          </a:p>
        </p:txBody>
      </p:sp>
      <p:sp>
        <p:nvSpPr>
          <p:cNvPr id="25" name="Alternative"/>
          <p:cNvSpPr/>
          <p:nvPr/>
        </p:nvSpPr>
        <p:spPr>
          <a:xfrm>
            <a:off x="457200" y="2537460"/>
            <a:ext cx="2621280" cy="1257300"/>
          </a:xfrm>
          <a:prstGeom prst="roundRect">
            <a:avLst>
              <a:gd name="adj" fmla="val 5818"/>
            </a:avLst>
          </a:prstGeom>
          <a:solidFill>
            <a:schemeClr val="bg2"/>
          </a:solidFill>
          <a:ln/>
        </p:spPr>
      </p:sp>
      <p:sp>
        <p:nvSpPr>
          <p:cNvPr id="26" name="cerchio FiShuffle"/>
          <p:cNvSpPr/>
          <p:nvPr/>
        </p:nvSpPr>
        <p:spPr>
          <a:xfrm>
            <a:off x="621792" y="2702052"/>
            <a:ext cx="438912" cy="438912"/>
          </a:xfrm>
          <a:prstGeom prst="ellipse">
            <a:avLst/>
          </a:prstGeom>
          <a:solidFill>
            <a:schemeClr val="accent1"/>
          </a:solidFill>
          <a:ln/>
        </p:spPr>
      </p:sp>
      <p:pic>
        <p:nvPicPr>
          <p:cNvPr id="27" name="Image 3" descr="FiShuffle">    </p:cNvPr>
          <p:cNvPicPr>
            <a:picLocks noChangeAspect="1"/>
          </p:cNvPicPr>
          <p:nvPr/>
        </p:nvPicPr>
        <p:blipFill>
          <a:blip r:embed="rId4"/>
          <a:stretch>
            <a:fillRect/>
          </a:stretch>
        </p:blipFill>
        <p:spPr>
          <a:xfrm>
            <a:off x="731520" y="2811780"/>
            <a:ext cx="219456" cy="219456"/>
          </a:xfrm>
          <a:prstGeom prst="rect">
            <a:avLst/>
          </a:prstGeom>
        </p:spPr>
      </p:pic>
      <p:sp>
        <p:nvSpPr>
          <p:cNvPr id="28" name="Text 21"/>
          <p:cNvSpPr txBox="1"/>
          <p:nvPr/>
        </p:nvSpPr>
        <p:spPr>
          <a:xfrm>
            <a:off x="1170432" y="26654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Alternative</a:t>
            </a:r>
            <a:endParaRPr lang="it-IT" sz="1300" dirty="0"/>
          </a:p>
        </p:txBody>
      </p:sp>
      <p:sp>
        <p:nvSpPr>
          <p:cNvPr id="29" name="Text 22"/>
          <p:cNvSpPr txBox="1"/>
          <p:nvPr/>
        </p:nvSpPr>
        <p:spPr>
          <a:xfrm>
            <a:off x="621792" y="3250692"/>
            <a:ext cx="2292096" cy="452628"/>
          </a:xfrm>
          <a:prstGeom prst="rect">
            <a:avLst/>
          </a:prstGeom>
          <a:noFill/>
          <a:ln/>
        </p:spPr>
        <p:txBody>
          <a:bodyPr wrap="square" lIns="0" tIns="0" rIns="0" bIns="0" rtlCol="0" anchor="t"/>
          <a:lstStyle/>
          <a:p>
            <a:pPr indent="0" marL="0">
              <a:buNone/>
            </a:pPr>
            <a:r>
              <a:rPr lang="it-IT" sz="1100" dirty="0">
                <a:solidFill>
                  <a:schemeClr val="tx2"/>
                </a:solidFill>
              </a:rPr>
              <a:t>"Quali altre conclusioni sono compatibili con i dati?"</a:t>
            </a:r>
            <a:endParaRPr lang="it-IT" sz="1100" dirty="0"/>
          </a:p>
        </p:txBody>
      </p:sp>
      <p:sp>
        <p:nvSpPr>
          <p:cNvPr id="30" name="Checklist e criteri"/>
          <p:cNvSpPr/>
          <p:nvPr/>
        </p:nvSpPr>
        <p:spPr>
          <a:xfrm>
            <a:off x="3261360" y="2537460"/>
            <a:ext cx="2621280" cy="1257300"/>
          </a:xfrm>
          <a:prstGeom prst="roundRect">
            <a:avLst>
              <a:gd name="adj" fmla="val 5818"/>
            </a:avLst>
          </a:prstGeom>
          <a:solidFill>
            <a:schemeClr val="bg2"/>
          </a:solidFill>
          <a:ln/>
        </p:spPr>
      </p:sp>
      <p:sp>
        <p:nvSpPr>
          <p:cNvPr id="31" name="cerchio FiList"/>
          <p:cNvSpPr/>
          <p:nvPr/>
        </p:nvSpPr>
        <p:spPr>
          <a:xfrm>
            <a:off x="3425952" y="2702052"/>
            <a:ext cx="438912" cy="438912"/>
          </a:xfrm>
          <a:prstGeom prst="ellipse">
            <a:avLst/>
          </a:prstGeom>
          <a:solidFill>
            <a:schemeClr val="accent1"/>
          </a:solidFill>
          <a:ln/>
        </p:spPr>
      </p:sp>
      <p:pic>
        <p:nvPicPr>
          <p:cNvPr id="32" name="Image 4" descr="FiList">    </p:cNvPr>
          <p:cNvPicPr>
            <a:picLocks noChangeAspect="1"/>
          </p:cNvPicPr>
          <p:nvPr/>
        </p:nvPicPr>
        <p:blipFill>
          <a:blip r:embed="rId5"/>
          <a:stretch>
            <a:fillRect/>
          </a:stretch>
        </p:blipFill>
        <p:spPr>
          <a:xfrm>
            <a:off x="3535680" y="2811780"/>
            <a:ext cx="219456" cy="219456"/>
          </a:xfrm>
          <a:prstGeom prst="rect">
            <a:avLst/>
          </a:prstGeom>
        </p:spPr>
      </p:pic>
      <p:sp>
        <p:nvSpPr>
          <p:cNvPr id="33" name="Text 25"/>
          <p:cNvSpPr txBox="1"/>
          <p:nvPr/>
        </p:nvSpPr>
        <p:spPr>
          <a:xfrm>
            <a:off x="3974592" y="26654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Checklist e criteri</a:t>
            </a:r>
            <a:endParaRPr lang="it-IT" sz="1300" dirty="0"/>
          </a:p>
        </p:txBody>
      </p:sp>
      <p:sp>
        <p:nvSpPr>
          <p:cNvPr id="34" name="Text 26"/>
          <p:cNvSpPr txBox="1"/>
          <p:nvPr/>
        </p:nvSpPr>
        <p:spPr>
          <a:xfrm>
            <a:off x="3425952" y="3250692"/>
            <a:ext cx="2292096" cy="452628"/>
          </a:xfrm>
          <a:prstGeom prst="rect">
            <a:avLst/>
          </a:prstGeom>
          <a:noFill/>
          <a:ln/>
        </p:spPr>
        <p:txBody>
          <a:bodyPr wrap="square" lIns="0" tIns="0" rIns="0" bIns="0" rtlCol="0" anchor="t"/>
          <a:lstStyle/>
          <a:p>
            <a:pPr indent="0" marL="0">
              <a:buNone/>
            </a:pPr>
            <a:r>
              <a:rPr lang="it-IT" sz="1100" dirty="0">
                <a:solidFill>
                  <a:schemeClr val="tx2"/>
                </a:solidFill>
              </a:rPr>
              <a:t>"Verifica questi cinque requisiti, indicando dove e come."</a:t>
            </a:r>
            <a:endParaRPr lang="it-IT" sz="1100" dirty="0"/>
          </a:p>
        </p:txBody>
      </p:sp>
      <p:sp>
        <p:nvSpPr>
          <p:cNvPr id="35" name="Contraddizioni e lacune"/>
          <p:cNvSpPr/>
          <p:nvPr/>
        </p:nvSpPr>
        <p:spPr>
          <a:xfrm>
            <a:off x="6065520" y="2537460"/>
            <a:ext cx="2621280" cy="1257300"/>
          </a:xfrm>
          <a:prstGeom prst="roundRect">
            <a:avLst>
              <a:gd name="adj" fmla="val 5818"/>
            </a:avLst>
          </a:prstGeom>
          <a:solidFill>
            <a:schemeClr val="bg2"/>
          </a:solidFill>
          <a:ln/>
        </p:spPr>
      </p:sp>
      <p:sp>
        <p:nvSpPr>
          <p:cNvPr id="36" name="cerchio FiAlertCircle"/>
          <p:cNvSpPr/>
          <p:nvPr/>
        </p:nvSpPr>
        <p:spPr>
          <a:xfrm>
            <a:off x="6230112" y="2702052"/>
            <a:ext cx="438912" cy="438912"/>
          </a:xfrm>
          <a:prstGeom prst="ellipse">
            <a:avLst/>
          </a:prstGeom>
          <a:solidFill>
            <a:schemeClr val="accent1"/>
          </a:solidFill>
          <a:ln/>
        </p:spPr>
      </p:sp>
      <p:pic>
        <p:nvPicPr>
          <p:cNvPr id="37" name="Image 5" descr="FiAlertCircle">    </p:cNvPr>
          <p:cNvPicPr>
            <a:picLocks noChangeAspect="1"/>
          </p:cNvPicPr>
          <p:nvPr/>
        </p:nvPicPr>
        <p:blipFill>
          <a:blip r:embed="rId6"/>
          <a:stretch>
            <a:fillRect/>
          </a:stretch>
        </p:blipFill>
        <p:spPr>
          <a:xfrm>
            <a:off x="6339840" y="2811780"/>
            <a:ext cx="219456" cy="219456"/>
          </a:xfrm>
          <a:prstGeom prst="rect">
            <a:avLst/>
          </a:prstGeom>
        </p:spPr>
      </p:pic>
      <p:sp>
        <p:nvSpPr>
          <p:cNvPr id="38" name="Text 29"/>
          <p:cNvSpPr txBox="1"/>
          <p:nvPr/>
        </p:nvSpPr>
        <p:spPr>
          <a:xfrm>
            <a:off x="6778752" y="26654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Contraddizioni e lacune</a:t>
            </a:r>
            <a:endParaRPr lang="it-IT" sz="1300" dirty="0"/>
          </a:p>
        </p:txBody>
      </p:sp>
      <p:sp>
        <p:nvSpPr>
          <p:cNvPr id="39" name="Text 30"/>
          <p:cNvSpPr txBox="1"/>
          <p:nvPr/>
        </p:nvSpPr>
        <p:spPr>
          <a:xfrm>
            <a:off x="6230112" y="3250692"/>
            <a:ext cx="2292096" cy="452628"/>
          </a:xfrm>
          <a:prstGeom prst="rect">
            <a:avLst/>
          </a:prstGeom>
          <a:noFill/>
          <a:ln/>
        </p:spPr>
        <p:txBody>
          <a:bodyPr wrap="square" lIns="0" tIns="0" rIns="0" bIns="0" rtlCol="0" anchor="t"/>
          <a:lstStyle/>
          <a:p>
            <a:pPr indent="0" marL="0">
              <a:buNone/>
            </a:pPr>
            <a:r>
              <a:rPr lang="it-IT" sz="1100" dirty="0">
                <a:solidFill>
                  <a:schemeClr val="tx2"/>
                </a:solidFill>
              </a:rPr>
              <a:t>"Ci sono contraddizioni? Che cosa manca?"</a:t>
            </a:r>
            <a:endParaRPr lang="it-IT" sz="1100" dirty="0"/>
          </a:p>
        </p:txBody>
      </p:sp>
      <p:sp>
        <p:nvSpPr>
          <p:cNvPr id="40" name="messaggio"/>
          <p:cNvSpPr/>
          <p:nvPr/>
        </p:nvSpPr>
        <p:spPr>
          <a:xfrm>
            <a:off x="457200" y="3931920"/>
            <a:ext cx="8229600" cy="594360"/>
          </a:xfrm>
          <a:prstGeom prst="roundRect">
            <a:avLst>
              <a:gd name="adj" fmla="val 12308"/>
            </a:avLst>
          </a:prstGeom>
          <a:solidFill>
            <a:schemeClr val="tx1"/>
          </a:solidFill>
          <a:ln/>
        </p:spPr>
      </p:sp>
      <p:sp>
        <p:nvSpPr>
          <p:cNvPr id="41" name="Text 32"/>
          <p:cNvSpPr txBox="1"/>
          <p:nvPr/>
        </p:nvSpPr>
        <p:spPr>
          <a:xfrm>
            <a:off x="640080" y="3931920"/>
            <a:ext cx="7863840" cy="594360"/>
          </a:xfrm>
          <a:prstGeom prst="rect">
            <a:avLst/>
          </a:prstGeom>
          <a:noFill/>
          <a:ln/>
        </p:spPr>
        <p:txBody>
          <a:bodyPr wrap="square" lIns="0" tIns="0" rIns="0" bIns="0" rtlCol="0" anchor="ctr"/>
          <a:lstStyle/>
          <a:p>
            <a:pPr indent="0" marL="0">
              <a:buNone/>
            </a:pPr>
            <a:r>
              <a:rPr lang="it-IT" sz="1200" dirty="0">
                <a:solidFill>
                  <a:schemeClr val="bg1"/>
                </a:solidFill>
              </a:rPr>
              <a:t>Una nuova conversazione, o il testo presentato come lavoro di altri, può ridurre alcuni effetti del contesto e della compiacenza: una strategia utile, non una garanzia.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37</a:t>
            </a:fld>
            <a:endParaRPr lang="it-IT"/>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Esempio 1: revisione critica di un'offerta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1  Input"/>
          <p:cNvSpPr/>
          <p:nvPr/>
        </p:nvSpPr>
        <p:spPr>
          <a:xfrm>
            <a:off x="457200" y="1097280"/>
            <a:ext cx="2377440" cy="2834640"/>
          </a:xfrm>
          <a:prstGeom prst="roundRect">
            <a:avLst>
              <a:gd name="adj" fmla="val 3077"/>
            </a:avLst>
          </a:prstGeom>
          <a:solidFill>
            <a:schemeClr val="bg2"/>
          </a:solidFill>
          <a:ln/>
        </p:spPr>
      </p:sp>
      <p:sp>
        <p:nvSpPr>
          <p:cNvPr id="11" name="cerchio FiFileText"/>
          <p:cNvSpPr/>
          <p:nvPr/>
        </p:nvSpPr>
        <p:spPr>
          <a:xfrm>
            <a:off x="594360" y="1188720"/>
            <a:ext cx="384048" cy="384048"/>
          </a:xfrm>
          <a:prstGeom prst="ellipse">
            <a:avLst/>
          </a:prstGeom>
          <a:solidFill>
            <a:schemeClr val="accent1"/>
          </a:solidFill>
          <a:ln/>
        </p:spPr>
      </p:sp>
      <p:pic>
        <p:nvPicPr>
          <p:cNvPr id="12" name="Image 0" descr="FiFileText">    </p:cNvPr>
          <p:cNvPicPr>
            <a:picLocks noChangeAspect="1"/>
          </p:cNvPicPr>
          <p:nvPr/>
        </p:nvPicPr>
        <p:blipFill>
          <a:blip r:embed="rId1"/>
          <a:stretch>
            <a:fillRect/>
          </a:stretch>
        </p:blipFill>
        <p:spPr>
          <a:xfrm>
            <a:off x="690372" y="1284732"/>
            <a:ext cx="192024" cy="192024"/>
          </a:xfrm>
          <a:prstGeom prst="rect">
            <a:avLst/>
          </a:prstGeom>
        </p:spPr>
      </p:pic>
      <p:sp>
        <p:nvSpPr>
          <p:cNvPr id="13" name="Text 9"/>
          <p:cNvSpPr txBox="1"/>
          <p:nvPr/>
        </p:nvSpPr>
        <p:spPr>
          <a:xfrm>
            <a:off x="1051560" y="1188720"/>
            <a:ext cx="1645920" cy="384048"/>
          </a:xfrm>
          <a:prstGeom prst="rect">
            <a:avLst/>
          </a:prstGeom>
          <a:noFill/>
          <a:ln/>
        </p:spPr>
        <p:txBody>
          <a:bodyPr wrap="square" lIns="0" tIns="0" rIns="0" bIns="0" rtlCol="0" anchor="ctr"/>
          <a:lstStyle/>
          <a:p>
            <a:pPr indent="0" marL="0">
              <a:buNone/>
            </a:pPr>
            <a:r>
              <a:rPr lang="it-IT" sz="1300" b="1" dirty="0">
                <a:solidFill>
                  <a:schemeClr val="tx1"/>
                </a:solidFill>
              </a:rPr>
              <a:t>1  Input</a:t>
            </a:r>
            <a:endParaRPr lang="it-IT" sz="1300" dirty="0"/>
          </a:p>
        </p:txBody>
      </p:sp>
      <p:sp>
        <p:nvSpPr>
          <p:cNvPr id="14" name="2  Richiesta all'AI"/>
          <p:cNvSpPr/>
          <p:nvPr/>
        </p:nvSpPr>
        <p:spPr>
          <a:xfrm>
            <a:off x="2971800" y="1097280"/>
            <a:ext cx="3200400" cy="2834640"/>
          </a:xfrm>
          <a:prstGeom prst="roundRect">
            <a:avLst>
              <a:gd name="adj" fmla="val 2581"/>
            </a:avLst>
          </a:prstGeom>
          <a:solidFill>
            <a:schemeClr val="accent6"/>
          </a:solidFill>
          <a:ln/>
        </p:spPr>
      </p:sp>
      <p:sp>
        <p:nvSpPr>
          <p:cNvPr id="15" name="cerchio FiMessageSquare"/>
          <p:cNvSpPr/>
          <p:nvPr/>
        </p:nvSpPr>
        <p:spPr>
          <a:xfrm>
            <a:off x="3108960" y="1188720"/>
            <a:ext cx="384048" cy="384048"/>
          </a:xfrm>
          <a:prstGeom prst="ellipse">
            <a:avLst/>
          </a:prstGeom>
          <a:solidFill>
            <a:schemeClr val="accent1"/>
          </a:solidFill>
          <a:ln/>
        </p:spPr>
      </p:sp>
      <p:pic>
        <p:nvPicPr>
          <p:cNvPr id="16" name="Image 1" descr="FiMessageSquare">    </p:cNvPr>
          <p:cNvPicPr>
            <a:picLocks noChangeAspect="1"/>
          </p:cNvPicPr>
          <p:nvPr/>
        </p:nvPicPr>
        <p:blipFill>
          <a:blip r:embed="rId2"/>
          <a:stretch>
            <a:fillRect/>
          </a:stretch>
        </p:blipFill>
        <p:spPr>
          <a:xfrm>
            <a:off x="3204972" y="1284732"/>
            <a:ext cx="192024" cy="192024"/>
          </a:xfrm>
          <a:prstGeom prst="rect">
            <a:avLst/>
          </a:prstGeom>
        </p:spPr>
      </p:pic>
      <p:sp>
        <p:nvSpPr>
          <p:cNvPr id="17" name="Text 12"/>
          <p:cNvSpPr txBox="1"/>
          <p:nvPr/>
        </p:nvSpPr>
        <p:spPr>
          <a:xfrm>
            <a:off x="3566160" y="1188720"/>
            <a:ext cx="2468880" cy="384048"/>
          </a:xfrm>
          <a:prstGeom prst="rect">
            <a:avLst/>
          </a:prstGeom>
          <a:noFill/>
          <a:ln/>
        </p:spPr>
        <p:txBody>
          <a:bodyPr wrap="square" lIns="0" tIns="0" rIns="0" bIns="0" rtlCol="0" anchor="ctr"/>
          <a:lstStyle/>
          <a:p>
            <a:pPr indent="0" marL="0">
              <a:buNone/>
            </a:pPr>
            <a:r>
              <a:rPr lang="it-IT" sz="1300" b="1" dirty="0">
                <a:solidFill>
                  <a:schemeClr val="tx1"/>
                </a:solidFill>
              </a:rPr>
              <a:t>2  Richiesta all'AI</a:t>
            </a:r>
            <a:endParaRPr lang="it-IT" sz="1300" dirty="0"/>
          </a:p>
        </p:txBody>
      </p:sp>
      <p:sp>
        <p:nvSpPr>
          <p:cNvPr id="18" name="3  Risultato atteso"/>
          <p:cNvSpPr/>
          <p:nvPr/>
        </p:nvSpPr>
        <p:spPr>
          <a:xfrm>
            <a:off x="6309360" y="1097280"/>
            <a:ext cx="2377440" cy="2834640"/>
          </a:xfrm>
          <a:prstGeom prst="roundRect">
            <a:avLst>
              <a:gd name="adj" fmla="val 3077"/>
            </a:avLst>
          </a:prstGeom>
          <a:solidFill>
            <a:schemeClr val="bg2"/>
          </a:solidFill>
          <a:ln/>
        </p:spPr>
      </p:sp>
      <p:sp>
        <p:nvSpPr>
          <p:cNvPr id="19" name="cerchio FiCheckCircle"/>
          <p:cNvSpPr/>
          <p:nvPr/>
        </p:nvSpPr>
        <p:spPr>
          <a:xfrm>
            <a:off x="6446520" y="1188720"/>
            <a:ext cx="384048" cy="384048"/>
          </a:xfrm>
          <a:prstGeom prst="ellipse">
            <a:avLst/>
          </a:prstGeom>
          <a:solidFill>
            <a:schemeClr val="accent1"/>
          </a:solidFill>
          <a:ln/>
        </p:spPr>
      </p:sp>
      <p:pic>
        <p:nvPicPr>
          <p:cNvPr id="20" name="Image 2" descr="FiCheckCircle">    </p:cNvPr>
          <p:cNvPicPr>
            <a:picLocks noChangeAspect="1"/>
          </p:cNvPicPr>
          <p:nvPr/>
        </p:nvPicPr>
        <p:blipFill>
          <a:blip r:embed="rId3"/>
          <a:stretch>
            <a:fillRect/>
          </a:stretch>
        </p:blipFill>
        <p:spPr>
          <a:xfrm>
            <a:off x="6542532" y="1284732"/>
            <a:ext cx="192024" cy="192024"/>
          </a:xfrm>
          <a:prstGeom prst="rect">
            <a:avLst/>
          </a:prstGeom>
        </p:spPr>
      </p:pic>
      <p:sp>
        <p:nvSpPr>
          <p:cNvPr id="21" name="Text 15"/>
          <p:cNvSpPr txBox="1"/>
          <p:nvPr/>
        </p:nvSpPr>
        <p:spPr>
          <a:xfrm>
            <a:off x="6903720" y="1188720"/>
            <a:ext cx="1645920" cy="384048"/>
          </a:xfrm>
          <a:prstGeom prst="rect">
            <a:avLst/>
          </a:prstGeom>
          <a:noFill/>
          <a:ln/>
        </p:spPr>
        <p:txBody>
          <a:bodyPr wrap="square" lIns="0" tIns="0" rIns="0" bIns="0" rtlCol="0" anchor="ctr"/>
          <a:lstStyle/>
          <a:p>
            <a:pPr indent="0" marL="0">
              <a:buNone/>
            </a:pPr>
            <a:r>
              <a:rPr lang="it-IT" sz="1300" b="1" dirty="0">
                <a:solidFill>
                  <a:schemeClr val="tx1"/>
                </a:solidFill>
              </a:rPr>
              <a:t>3  Risultato atteso</a:t>
            </a:r>
            <a:endParaRPr lang="it-IT" sz="1300" dirty="0"/>
          </a:p>
        </p:txBody>
      </p:sp>
      <p:sp>
        <p:nvSpPr>
          <p:cNvPr id="22" name="Text 16"/>
          <p:cNvSpPr txBox="1"/>
          <p:nvPr/>
        </p:nvSpPr>
        <p:spPr>
          <a:xfrm>
            <a:off x="621792" y="1691640"/>
            <a:ext cx="2048256" cy="2148840"/>
          </a:xfrm>
          <a:prstGeom prst="rect">
            <a:avLst/>
          </a:prstGeom>
          <a:noFill/>
          <a:ln/>
        </p:spPr>
        <p:txBody>
          <a:bodyPr wrap="square" lIns="0" tIns="0" rIns="0" bIns="0" rtlCol="0" anchor="t"/>
          <a:lstStyle/>
          <a:p>
            <a:pPr indent="0" marL="0">
              <a:buNone/>
            </a:pPr>
            <a:r>
              <a:rPr lang="it-IT" sz="1200" dirty="0">
                <a:solidFill>
                  <a:schemeClr val="tx2"/>
                </a:solidFill>
              </a:rPr>
              <a:t>Bozza di offerta commerciale per un nuovo cliente, con prezzi, tempi di consegna e condizioni di pagamento.</a:t>
            </a:r>
            <a:endParaRPr lang="it-IT" sz="1200" dirty="0"/>
          </a:p>
        </p:txBody>
      </p:sp>
      <p:sp>
        <p:nvSpPr>
          <p:cNvPr id="23" name="Text 17"/>
          <p:cNvSpPr txBox="1"/>
          <p:nvPr/>
        </p:nvSpPr>
        <p:spPr>
          <a:xfrm>
            <a:off x="3136392" y="1691640"/>
            <a:ext cx="2871216" cy="2148840"/>
          </a:xfrm>
          <a:prstGeom prst="rect">
            <a:avLst/>
          </a:prstGeom>
          <a:noFill/>
          <a:ln/>
        </p:spPr>
        <p:txBody>
          <a:bodyPr wrap="square" lIns="0" tIns="0" rIns="0" bIns="0" rtlCol="0" anchor="t"/>
          <a:lstStyle/>
          <a:p>
            <a:pPr indent="0" marL="0">
              <a:buNone/>
            </a:pPr>
            <a:r>
              <a:rPr lang="it-IT" sz="1050" dirty="0">
                <a:solidFill>
                  <a:schemeClr val="tx1"/>
                </a:solidFill>
                <a:latin typeface="Courier New" pitchFamily="34" charset="0"/>
                <a:ea typeface="Courier New" pitchFamily="34" charset="-122"/>
                <a:cs typeface="Courier New" pitchFamily="34" charset="-120"/>
              </a:rPr>
              <a:t>Questa è la bozza di un'offerta.</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Non riscriverla. Segnala:</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1. contraddizioni tra prezzi,</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   tempi e condizioni;</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2. frasi ambigue per il cliente;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3. informazioni mancanti;</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4. affermazioni da verificare.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Per ogni punto indica dove si</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trova nel testo.</a:t>
            </a:r>
            <a:endParaRPr lang="it-IT" sz="1050" dirty="0"/>
          </a:p>
        </p:txBody>
      </p:sp>
      <p:sp>
        <p:nvSpPr>
          <p:cNvPr id="24" name="Text 18"/>
          <p:cNvSpPr txBox="1"/>
          <p:nvPr/>
        </p:nvSpPr>
        <p:spPr>
          <a:xfrm>
            <a:off x="6446520" y="1691640"/>
            <a:ext cx="2148840" cy="2148840"/>
          </a:xfrm>
          <a:prstGeom prst="rect">
            <a:avLst/>
          </a:prstGeom>
          <a:noFill/>
          <a:ln/>
        </p:spPr>
        <p:txBody>
          <a:bodyPr wrap="square" lIns="0" tIns="0" rIns="0" bIns="0" rtlCol="0" anchor="t"/>
          <a:lstStyle/>
          <a:p>
            <a:pPr marL="177800" indent="-177800">
              <a:spcAft>
                <a:spcPts val="500"/>
              </a:spcAft>
              <a:buSzPct val="100000"/>
              <a:buChar char="•"/>
            </a:pPr>
            <a:r>
              <a:rPr lang="it-IT" sz="1100" dirty="0">
                <a:solidFill>
                  <a:schemeClr val="tx2"/>
                </a:solidFill>
              </a:rPr>
              <a:t>Elenco numerato di osservazioni, collegate al testo</a:t>
            </a:r>
            <a:endParaRPr lang="it-IT" sz="1100" dirty="0"/>
          </a:p>
          <a:p>
            <a:pPr marL="177800" indent="-177800">
              <a:spcAft>
                <a:spcPts val="500"/>
              </a:spcAft>
              <a:buSzPct val="100000"/>
              <a:buChar char="•"/>
            </a:pPr>
            <a:r>
              <a:rPr lang="it-IT" sz="1100" dirty="0">
                <a:solidFill>
                  <a:schemeClr val="tx2"/>
                </a:solidFill>
              </a:rPr>
              <a:t>Per esempio: tempi diversi in due sezioni, penale non quantificata</a:t>
            </a:r>
            <a:endParaRPr lang="it-IT" sz="1100" dirty="0"/>
          </a:p>
          <a:p>
            <a:pPr marL="177800" indent="-177800">
              <a:spcAft>
                <a:spcPts val="500"/>
              </a:spcAft>
              <a:buSzPct val="100000"/>
              <a:buChar char="•"/>
            </a:pPr>
            <a:r>
              <a:rPr lang="it-IT" sz="1100" dirty="0">
                <a:solidFill>
                  <a:schemeClr val="tx2"/>
                </a:solidFill>
              </a:rPr>
              <a:t>La persona decide e verifica prezzi e condizioni</a:t>
            </a:r>
            <a:endParaRPr lang="it-IT" sz="1100" dirty="0"/>
          </a:p>
        </p:txBody>
      </p:sp>
      <p:sp>
        <p:nvSpPr>
          <p:cNvPr id="25" name="messaggio"/>
          <p:cNvSpPr/>
          <p:nvPr/>
        </p:nvSpPr>
        <p:spPr>
          <a:xfrm>
            <a:off x="457200" y="4069080"/>
            <a:ext cx="8229600" cy="502920"/>
          </a:xfrm>
          <a:prstGeom prst="roundRect">
            <a:avLst>
              <a:gd name="adj" fmla="val 14545"/>
            </a:avLst>
          </a:prstGeom>
          <a:solidFill>
            <a:schemeClr val="tx1"/>
          </a:solidFill>
          <a:ln/>
        </p:spPr>
      </p:sp>
      <p:sp>
        <p:nvSpPr>
          <p:cNvPr id="26" name="Text 20"/>
          <p:cNvSpPr txBox="1"/>
          <p:nvPr/>
        </p:nvSpPr>
        <p:spPr>
          <a:xfrm>
            <a:off x="640080" y="4069080"/>
            <a:ext cx="7863840" cy="502920"/>
          </a:xfrm>
          <a:prstGeom prst="rect">
            <a:avLst/>
          </a:prstGeom>
          <a:noFill/>
          <a:ln/>
        </p:spPr>
        <p:txBody>
          <a:bodyPr wrap="square" lIns="0" tIns="0" rIns="0" bIns="0" rtlCol="0" anchor="ctr"/>
          <a:lstStyle/>
          <a:p>
            <a:pPr indent="0" marL="0">
              <a:buNone/>
            </a:pPr>
            <a:r>
              <a:rPr lang="it-IT" sz="1200" dirty="0">
                <a:solidFill>
                  <a:schemeClr val="bg1"/>
                </a:solidFill>
              </a:rPr>
              <a:t>Osservazioni, non riscrittura: si vede che cosa cambia e le parti corrette restano intatte.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38</a:t>
            </a:fld>
            <a:endParaRPr lang="it-IT"/>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Esempio 2: verifica quantitativa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1  Input"/>
          <p:cNvSpPr/>
          <p:nvPr/>
        </p:nvSpPr>
        <p:spPr>
          <a:xfrm>
            <a:off x="457200" y="1097280"/>
            <a:ext cx="2377440" cy="2834640"/>
          </a:xfrm>
          <a:prstGeom prst="roundRect">
            <a:avLst>
              <a:gd name="adj" fmla="val 3077"/>
            </a:avLst>
          </a:prstGeom>
          <a:solidFill>
            <a:schemeClr val="bg2"/>
          </a:solidFill>
          <a:ln/>
        </p:spPr>
      </p:sp>
      <p:sp>
        <p:nvSpPr>
          <p:cNvPr id="11" name="cerchio FiFileText"/>
          <p:cNvSpPr/>
          <p:nvPr/>
        </p:nvSpPr>
        <p:spPr>
          <a:xfrm>
            <a:off x="594360" y="1188720"/>
            <a:ext cx="384048" cy="384048"/>
          </a:xfrm>
          <a:prstGeom prst="ellipse">
            <a:avLst/>
          </a:prstGeom>
          <a:solidFill>
            <a:schemeClr val="accent1"/>
          </a:solidFill>
          <a:ln/>
        </p:spPr>
      </p:sp>
      <p:pic>
        <p:nvPicPr>
          <p:cNvPr id="12" name="Image 0" descr="FiFileText">    </p:cNvPr>
          <p:cNvPicPr>
            <a:picLocks noChangeAspect="1"/>
          </p:cNvPicPr>
          <p:nvPr/>
        </p:nvPicPr>
        <p:blipFill>
          <a:blip r:embed="rId1"/>
          <a:stretch>
            <a:fillRect/>
          </a:stretch>
        </p:blipFill>
        <p:spPr>
          <a:xfrm>
            <a:off x="690372" y="1284732"/>
            <a:ext cx="192024" cy="192024"/>
          </a:xfrm>
          <a:prstGeom prst="rect">
            <a:avLst/>
          </a:prstGeom>
        </p:spPr>
      </p:pic>
      <p:sp>
        <p:nvSpPr>
          <p:cNvPr id="13" name="Text 9"/>
          <p:cNvSpPr txBox="1"/>
          <p:nvPr/>
        </p:nvSpPr>
        <p:spPr>
          <a:xfrm>
            <a:off x="1051560" y="1188720"/>
            <a:ext cx="1645920" cy="384048"/>
          </a:xfrm>
          <a:prstGeom prst="rect">
            <a:avLst/>
          </a:prstGeom>
          <a:noFill/>
          <a:ln/>
        </p:spPr>
        <p:txBody>
          <a:bodyPr wrap="square" lIns="0" tIns="0" rIns="0" bIns="0" rtlCol="0" anchor="ctr"/>
          <a:lstStyle/>
          <a:p>
            <a:pPr indent="0" marL="0">
              <a:buNone/>
            </a:pPr>
            <a:r>
              <a:rPr lang="it-IT" sz="1300" b="1" dirty="0">
                <a:solidFill>
                  <a:schemeClr val="tx1"/>
                </a:solidFill>
              </a:rPr>
              <a:t>1  Input</a:t>
            </a:r>
            <a:endParaRPr lang="it-IT" sz="1300" dirty="0"/>
          </a:p>
        </p:txBody>
      </p:sp>
      <p:sp>
        <p:nvSpPr>
          <p:cNvPr id="14" name="2  Richiesta all'AI"/>
          <p:cNvSpPr/>
          <p:nvPr/>
        </p:nvSpPr>
        <p:spPr>
          <a:xfrm>
            <a:off x="2971800" y="1097280"/>
            <a:ext cx="3200400" cy="2834640"/>
          </a:xfrm>
          <a:prstGeom prst="roundRect">
            <a:avLst>
              <a:gd name="adj" fmla="val 2581"/>
            </a:avLst>
          </a:prstGeom>
          <a:solidFill>
            <a:schemeClr val="accent6"/>
          </a:solidFill>
          <a:ln/>
        </p:spPr>
      </p:sp>
      <p:sp>
        <p:nvSpPr>
          <p:cNvPr id="15" name="cerchio FiMessageSquare"/>
          <p:cNvSpPr/>
          <p:nvPr/>
        </p:nvSpPr>
        <p:spPr>
          <a:xfrm>
            <a:off x="3108960" y="1188720"/>
            <a:ext cx="384048" cy="384048"/>
          </a:xfrm>
          <a:prstGeom prst="ellipse">
            <a:avLst/>
          </a:prstGeom>
          <a:solidFill>
            <a:schemeClr val="accent1"/>
          </a:solidFill>
          <a:ln/>
        </p:spPr>
      </p:sp>
      <p:pic>
        <p:nvPicPr>
          <p:cNvPr id="16" name="Image 1" descr="FiMessageSquare">    </p:cNvPr>
          <p:cNvPicPr>
            <a:picLocks noChangeAspect="1"/>
          </p:cNvPicPr>
          <p:nvPr/>
        </p:nvPicPr>
        <p:blipFill>
          <a:blip r:embed="rId2"/>
          <a:stretch>
            <a:fillRect/>
          </a:stretch>
        </p:blipFill>
        <p:spPr>
          <a:xfrm>
            <a:off x="3204972" y="1284732"/>
            <a:ext cx="192024" cy="192024"/>
          </a:xfrm>
          <a:prstGeom prst="rect">
            <a:avLst/>
          </a:prstGeom>
        </p:spPr>
      </p:pic>
      <p:sp>
        <p:nvSpPr>
          <p:cNvPr id="17" name="Text 12"/>
          <p:cNvSpPr txBox="1"/>
          <p:nvPr/>
        </p:nvSpPr>
        <p:spPr>
          <a:xfrm>
            <a:off x="3566160" y="1188720"/>
            <a:ext cx="2468880" cy="384048"/>
          </a:xfrm>
          <a:prstGeom prst="rect">
            <a:avLst/>
          </a:prstGeom>
          <a:noFill/>
          <a:ln/>
        </p:spPr>
        <p:txBody>
          <a:bodyPr wrap="square" lIns="0" tIns="0" rIns="0" bIns="0" rtlCol="0" anchor="ctr"/>
          <a:lstStyle/>
          <a:p>
            <a:pPr indent="0" marL="0">
              <a:buNone/>
            </a:pPr>
            <a:r>
              <a:rPr lang="it-IT" sz="1300" b="1" dirty="0">
                <a:solidFill>
                  <a:schemeClr val="tx1"/>
                </a:solidFill>
              </a:rPr>
              <a:t>2  Richiesta all'AI</a:t>
            </a:r>
            <a:endParaRPr lang="it-IT" sz="1300" dirty="0"/>
          </a:p>
        </p:txBody>
      </p:sp>
      <p:sp>
        <p:nvSpPr>
          <p:cNvPr id="18" name="3  Risultato atteso"/>
          <p:cNvSpPr/>
          <p:nvPr/>
        </p:nvSpPr>
        <p:spPr>
          <a:xfrm>
            <a:off x="6309360" y="1097280"/>
            <a:ext cx="2377440" cy="2834640"/>
          </a:xfrm>
          <a:prstGeom prst="roundRect">
            <a:avLst>
              <a:gd name="adj" fmla="val 3077"/>
            </a:avLst>
          </a:prstGeom>
          <a:solidFill>
            <a:schemeClr val="bg2"/>
          </a:solidFill>
          <a:ln/>
        </p:spPr>
      </p:sp>
      <p:sp>
        <p:nvSpPr>
          <p:cNvPr id="19" name="cerchio FiCheckCircle"/>
          <p:cNvSpPr/>
          <p:nvPr/>
        </p:nvSpPr>
        <p:spPr>
          <a:xfrm>
            <a:off x="6446520" y="1188720"/>
            <a:ext cx="384048" cy="384048"/>
          </a:xfrm>
          <a:prstGeom prst="ellipse">
            <a:avLst/>
          </a:prstGeom>
          <a:solidFill>
            <a:schemeClr val="accent1"/>
          </a:solidFill>
          <a:ln/>
        </p:spPr>
      </p:sp>
      <p:pic>
        <p:nvPicPr>
          <p:cNvPr id="20" name="Image 2" descr="FiCheckCircle">    </p:cNvPr>
          <p:cNvPicPr>
            <a:picLocks noChangeAspect="1"/>
          </p:cNvPicPr>
          <p:nvPr/>
        </p:nvPicPr>
        <p:blipFill>
          <a:blip r:embed="rId3"/>
          <a:stretch>
            <a:fillRect/>
          </a:stretch>
        </p:blipFill>
        <p:spPr>
          <a:xfrm>
            <a:off x="6542532" y="1284732"/>
            <a:ext cx="192024" cy="192024"/>
          </a:xfrm>
          <a:prstGeom prst="rect">
            <a:avLst/>
          </a:prstGeom>
        </p:spPr>
      </p:pic>
      <p:sp>
        <p:nvSpPr>
          <p:cNvPr id="21" name="Text 15"/>
          <p:cNvSpPr txBox="1"/>
          <p:nvPr/>
        </p:nvSpPr>
        <p:spPr>
          <a:xfrm>
            <a:off x="6903720" y="1188720"/>
            <a:ext cx="1645920" cy="384048"/>
          </a:xfrm>
          <a:prstGeom prst="rect">
            <a:avLst/>
          </a:prstGeom>
          <a:noFill/>
          <a:ln/>
        </p:spPr>
        <p:txBody>
          <a:bodyPr wrap="square" lIns="0" tIns="0" rIns="0" bIns="0" rtlCol="0" anchor="ctr"/>
          <a:lstStyle/>
          <a:p>
            <a:pPr indent="0" marL="0">
              <a:buNone/>
            </a:pPr>
            <a:r>
              <a:rPr lang="it-IT" sz="1300" b="1" dirty="0">
                <a:solidFill>
                  <a:schemeClr val="tx1"/>
                </a:solidFill>
              </a:rPr>
              <a:t>3  Risultato atteso</a:t>
            </a:r>
            <a:endParaRPr lang="it-IT" sz="1300" dirty="0"/>
          </a:p>
        </p:txBody>
      </p:sp>
      <p:sp>
        <p:nvSpPr>
          <p:cNvPr id="22" name="Text 16"/>
          <p:cNvSpPr txBox="1"/>
          <p:nvPr/>
        </p:nvSpPr>
        <p:spPr>
          <a:xfrm>
            <a:off x="621792" y="1691640"/>
            <a:ext cx="2048256" cy="2148840"/>
          </a:xfrm>
          <a:prstGeom prst="rect">
            <a:avLst/>
          </a:prstGeom>
          <a:noFill/>
          <a:ln/>
        </p:spPr>
        <p:txBody>
          <a:bodyPr wrap="square" lIns="0" tIns="0" rIns="0" bIns="0" rtlCol="0" anchor="t"/>
          <a:lstStyle/>
          <a:p>
            <a:pPr indent="0" marL="0">
              <a:buNone/>
            </a:pPr>
            <a:r>
              <a:rPr lang="it-IT" sz="1200" dirty="0">
                <a:solidFill>
                  <a:schemeClr val="tx2"/>
                </a:solidFill>
              </a:rPr>
              <a:t>Tabella delle vendite trimestrali di quattro aree, esportata dal gestionale e allegata.</a:t>
            </a:r>
            <a:endParaRPr lang="it-IT" sz="1200" dirty="0"/>
          </a:p>
        </p:txBody>
      </p:sp>
      <p:sp>
        <p:nvSpPr>
          <p:cNvPr id="23" name="Text 17"/>
          <p:cNvSpPr txBox="1"/>
          <p:nvPr/>
        </p:nvSpPr>
        <p:spPr>
          <a:xfrm>
            <a:off x="3136392" y="1691640"/>
            <a:ext cx="2871216" cy="2148840"/>
          </a:xfrm>
          <a:prstGeom prst="rect">
            <a:avLst/>
          </a:prstGeom>
          <a:noFill/>
          <a:ln/>
        </p:spPr>
        <p:txBody>
          <a:bodyPr wrap="square" lIns="0" tIns="0" rIns="0" bIns="0" rtlCol="0" anchor="t"/>
          <a:lstStyle/>
          <a:p>
            <a:pPr indent="0" marL="0">
              <a:buNone/>
            </a:pPr>
            <a:r>
              <a:rPr lang="it-IT" sz="1050" dirty="0">
                <a:solidFill>
                  <a:schemeClr val="tx1"/>
                </a:solidFill>
                <a:latin typeface="Courier New" pitchFamily="34" charset="0"/>
                <a:ea typeface="Courier New" pitchFamily="34" charset="-122"/>
                <a:cs typeface="Courier New" pitchFamily="34" charset="-120"/>
              </a:rPr>
              <a:t>Usa lo strumento di analisi o</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di esecuzione del codice.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1. Calcola totale e crescita</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   per area.</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2. Mostra formule o codice.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3. Controlla che la somma delle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   aree sia uguale al totale.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4. Segnala valori mancanti</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   o anomali.</a:t>
            </a:r>
            <a:endParaRPr lang="it-IT" sz="1050" dirty="0"/>
          </a:p>
        </p:txBody>
      </p:sp>
      <p:sp>
        <p:nvSpPr>
          <p:cNvPr id="24" name="Text 18"/>
          <p:cNvSpPr txBox="1"/>
          <p:nvPr/>
        </p:nvSpPr>
        <p:spPr>
          <a:xfrm>
            <a:off x="6446520" y="1691640"/>
            <a:ext cx="2148840" cy="2148840"/>
          </a:xfrm>
          <a:prstGeom prst="rect">
            <a:avLst/>
          </a:prstGeom>
          <a:noFill/>
          <a:ln/>
        </p:spPr>
        <p:txBody>
          <a:bodyPr wrap="square" lIns="0" tIns="0" rIns="0" bIns="0" rtlCol="0" anchor="t"/>
          <a:lstStyle/>
          <a:p>
            <a:pPr marL="177800" indent="-177800">
              <a:spcAft>
                <a:spcPts val="500"/>
              </a:spcAft>
              <a:buSzPct val="100000"/>
              <a:buChar char="•"/>
            </a:pPr>
            <a:r>
              <a:rPr lang="it-IT" sz="1100" dirty="0">
                <a:solidFill>
                  <a:schemeClr val="tx2"/>
                </a:solidFill>
              </a:rPr>
              <a:t>Risultati con il procedimento visibile</a:t>
            </a:r>
            <a:endParaRPr lang="it-IT" sz="1100" dirty="0"/>
          </a:p>
          <a:p>
            <a:pPr marL="177800" indent="-177800">
              <a:spcAft>
                <a:spcPts val="500"/>
              </a:spcAft>
              <a:buSzPct val="100000"/>
              <a:buChar char="•"/>
            </a:pPr>
            <a:r>
              <a:rPr lang="it-IT" sz="1100" dirty="0">
                <a:solidFill>
                  <a:schemeClr val="tx2"/>
                </a:solidFill>
              </a:rPr>
              <a:t>Formule o codice rieseguibili</a:t>
            </a:r>
            <a:endParaRPr lang="it-IT" sz="1100" dirty="0"/>
          </a:p>
          <a:p>
            <a:pPr marL="177800" indent="-177800">
              <a:spcAft>
                <a:spcPts val="500"/>
              </a:spcAft>
              <a:buSzPct val="100000"/>
              <a:buChar char="•"/>
            </a:pPr>
            <a:r>
              <a:rPr lang="it-IT" sz="1100" dirty="0">
                <a:solidFill>
                  <a:schemeClr val="tx2"/>
                </a:solidFill>
              </a:rPr>
              <a:t>Controlli di quadratura con esito esplicito</a:t>
            </a:r>
            <a:endParaRPr lang="it-IT" sz="1100" dirty="0"/>
          </a:p>
          <a:p>
            <a:pPr marL="177800" indent="-177800">
              <a:spcAft>
                <a:spcPts val="500"/>
              </a:spcAft>
              <a:buSzPct val="100000"/>
              <a:buChar char="•"/>
            </a:pPr>
            <a:r>
              <a:rPr lang="it-IT" sz="1100" dirty="0">
                <a:solidFill>
                  <a:schemeClr val="tx2"/>
                </a:solidFill>
              </a:rPr>
              <a:t>La persona controlla dati di partenza e definizioni</a:t>
            </a:r>
            <a:endParaRPr lang="it-IT" sz="1100" dirty="0"/>
          </a:p>
        </p:txBody>
      </p:sp>
      <p:sp>
        <p:nvSpPr>
          <p:cNvPr id="25" name="messaggio"/>
          <p:cNvSpPr/>
          <p:nvPr/>
        </p:nvSpPr>
        <p:spPr>
          <a:xfrm>
            <a:off x="457200" y="4069080"/>
            <a:ext cx="8229600" cy="502920"/>
          </a:xfrm>
          <a:prstGeom prst="roundRect">
            <a:avLst>
              <a:gd name="adj" fmla="val 14545"/>
            </a:avLst>
          </a:prstGeom>
          <a:solidFill>
            <a:schemeClr val="tx1"/>
          </a:solidFill>
          <a:ln/>
        </p:spPr>
      </p:sp>
      <p:sp>
        <p:nvSpPr>
          <p:cNvPr id="26" name="Text 20"/>
          <p:cNvSpPr txBox="1"/>
          <p:nvPr/>
        </p:nvSpPr>
        <p:spPr>
          <a:xfrm>
            <a:off x="640080" y="4069080"/>
            <a:ext cx="7863840" cy="502920"/>
          </a:xfrm>
          <a:prstGeom prst="rect">
            <a:avLst/>
          </a:prstGeom>
          <a:noFill/>
          <a:ln/>
        </p:spPr>
        <p:txBody>
          <a:bodyPr wrap="square" lIns="0" tIns="0" rIns="0" bIns="0" rtlCol="0" anchor="ctr"/>
          <a:lstStyle/>
          <a:p>
            <a:pPr indent="0" marL="0">
              <a:buNone/>
            </a:pPr>
            <a:r>
              <a:rPr lang="it-IT" sz="1200" dirty="0">
                <a:solidFill>
                  <a:schemeClr val="bg1"/>
                </a:solidFill>
              </a:rPr>
              <a:t>Un calcolo eseguito e riproducibile vale più di un numero scritto nel testo: dati e definizioni restano da controllare.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39</a:t>
            </a:fld>
            <a:endParaRPr lang="it-IT"/>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Esempio 3: confronto tra documenti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1  Input"/>
          <p:cNvSpPr/>
          <p:nvPr/>
        </p:nvSpPr>
        <p:spPr>
          <a:xfrm>
            <a:off x="457200" y="1097280"/>
            <a:ext cx="2377440" cy="2834640"/>
          </a:xfrm>
          <a:prstGeom prst="roundRect">
            <a:avLst>
              <a:gd name="adj" fmla="val 3077"/>
            </a:avLst>
          </a:prstGeom>
          <a:solidFill>
            <a:schemeClr val="bg2"/>
          </a:solidFill>
          <a:ln/>
        </p:spPr>
      </p:sp>
      <p:sp>
        <p:nvSpPr>
          <p:cNvPr id="11" name="cerchio FiFileText"/>
          <p:cNvSpPr/>
          <p:nvPr/>
        </p:nvSpPr>
        <p:spPr>
          <a:xfrm>
            <a:off x="594360" y="1188720"/>
            <a:ext cx="384048" cy="384048"/>
          </a:xfrm>
          <a:prstGeom prst="ellipse">
            <a:avLst/>
          </a:prstGeom>
          <a:solidFill>
            <a:schemeClr val="accent1"/>
          </a:solidFill>
          <a:ln/>
        </p:spPr>
      </p:sp>
      <p:pic>
        <p:nvPicPr>
          <p:cNvPr id="12" name="Image 0" descr="FiFileText">    </p:cNvPr>
          <p:cNvPicPr>
            <a:picLocks noChangeAspect="1"/>
          </p:cNvPicPr>
          <p:nvPr/>
        </p:nvPicPr>
        <p:blipFill>
          <a:blip r:embed="rId1"/>
          <a:stretch>
            <a:fillRect/>
          </a:stretch>
        </p:blipFill>
        <p:spPr>
          <a:xfrm>
            <a:off x="690372" y="1284732"/>
            <a:ext cx="192024" cy="192024"/>
          </a:xfrm>
          <a:prstGeom prst="rect">
            <a:avLst/>
          </a:prstGeom>
        </p:spPr>
      </p:pic>
      <p:sp>
        <p:nvSpPr>
          <p:cNvPr id="13" name="Text 9"/>
          <p:cNvSpPr txBox="1"/>
          <p:nvPr/>
        </p:nvSpPr>
        <p:spPr>
          <a:xfrm>
            <a:off x="1051560" y="1188720"/>
            <a:ext cx="1645920" cy="384048"/>
          </a:xfrm>
          <a:prstGeom prst="rect">
            <a:avLst/>
          </a:prstGeom>
          <a:noFill/>
          <a:ln/>
        </p:spPr>
        <p:txBody>
          <a:bodyPr wrap="square" lIns="0" tIns="0" rIns="0" bIns="0" rtlCol="0" anchor="ctr"/>
          <a:lstStyle/>
          <a:p>
            <a:pPr indent="0" marL="0">
              <a:buNone/>
            </a:pPr>
            <a:r>
              <a:rPr lang="it-IT" sz="1300" b="1" dirty="0">
                <a:solidFill>
                  <a:schemeClr val="tx1"/>
                </a:solidFill>
              </a:rPr>
              <a:t>1  Input</a:t>
            </a:r>
            <a:endParaRPr lang="it-IT" sz="1300" dirty="0"/>
          </a:p>
        </p:txBody>
      </p:sp>
      <p:sp>
        <p:nvSpPr>
          <p:cNvPr id="14" name="2  Richiesta all'AI"/>
          <p:cNvSpPr/>
          <p:nvPr/>
        </p:nvSpPr>
        <p:spPr>
          <a:xfrm>
            <a:off x="2971800" y="1097280"/>
            <a:ext cx="3200400" cy="2834640"/>
          </a:xfrm>
          <a:prstGeom prst="roundRect">
            <a:avLst>
              <a:gd name="adj" fmla="val 2581"/>
            </a:avLst>
          </a:prstGeom>
          <a:solidFill>
            <a:schemeClr val="accent6"/>
          </a:solidFill>
          <a:ln/>
        </p:spPr>
      </p:sp>
      <p:sp>
        <p:nvSpPr>
          <p:cNvPr id="15" name="cerchio FiMessageSquare"/>
          <p:cNvSpPr/>
          <p:nvPr/>
        </p:nvSpPr>
        <p:spPr>
          <a:xfrm>
            <a:off x="3108960" y="1188720"/>
            <a:ext cx="384048" cy="384048"/>
          </a:xfrm>
          <a:prstGeom prst="ellipse">
            <a:avLst/>
          </a:prstGeom>
          <a:solidFill>
            <a:schemeClr val="accent1"/>
          </a:solidFill>
          <a:ln/>
        </p:spPr>
      </p:sp>
      <p:pic>
        <p:nvPicPr>
          <p:cNvPr id="16" name="Image 1" descr="FiMessageSquare">    </p:cNvPr>
          <p:cNvPicPr>
            <a:picLocks noChangeAspect="1"/>
          </p:cNvPicPr>
          <p:nvPr/>
        </p:nvPicPr>
        <p:blipFill>
          <a:blip r:embed="rId2"/>
          <a:stretch>
            <a:fillRect/>
          </a:stretch>
        </p:blipFill>
        <p:spPr>
          <a:xfrm>
            <a:off x="3204972" y="1284732"/>
            <a:ext cx="192024" cy="192024"/>
          </a:xfrm>
          <a:prstGeom prst="rect">
            <a:avLst/>
          </a:prstGeom>
        </p:spPr>
      </p:pic>
      <p:sp>
        <p:nvSpPr>
          <p:cNvPr id="17" name="Text 12"/>
          <p:cNvSpPr txBox="1"/>
          <p:nvPr/>
        </p:nvSpPr>
        <p:spPr>
          <a:xfrm>
            <a:off x="3566160" y="1188720"/>
            <a:ext cx="2468880" cy="384048"/>
          </a:xfrm>
          <a:prstGeom prst="rect">
            <a:avLst/>
          </a:prstGeom>
          <a:noFill/>
          <a:ln/>
        </p:spPr>
        <p:txBody>
          <a:bodyPr wrap="square" lIns="0" tIns="0" rIns="0" bIns="0" rtlCol="0" anchor="ctr"/>
          <a:lstStyle/>
          <a:p>
            <a:pPr indent="0" marL="0">
              <a:buNone/>
            </a:pPr>
            <a:r>
              <a:rPr lang="it-IT" sz="1300" b="1" dirty="0">
                <a:solidFill>
                  <a:schemeClr val="tx1"/>
                </a:solidFill>
              </a:rPr>
              <a:t>2  Richiesta all'AI</a:t>
            </a:r>
            <a:endParaRPr lang="it-IT" sz="1300" dirty="0"/>
          </a:p>
        </p:txBody>
      </p:sp>
      <p:sp>
        <p:nvSpPr>
          <p:cNvPr id="18" name="3  Risultato atteso"/>
          <p:cNvSpPr/>
          <p:nvPr/>
        </p:nvSpPr>
        <p:spPr>
          <a:xfrm>
            <a:off x="6309360" y="1097280"/>
            <a:ext cx="2377440" cy="2834640"/>
          </a:xfrm>
          <a:prstGeom prst="roundRect">
            <a:avLst>
              <a:gd name="adj" fmla="val 3077"/>
            </a:avLst>
          </a:prstGeom>
          <a:solidFill>
            <a:schemeClr val="bg2"/>
          </a:solidFill>
          <a:ln/>
        </p:spPr>
      </p:sp>
      <p:sp>
        <p:nvSpPr>
          <p:cNvPr id="19" name="cerchio FiCheckCircle"/>
          <p:cNvSpPr/>
          <p:nvPr/>
        </p:nvSpPr>
        <p:spPr>
          <a:xfrm>
            <a:off x="6446520" y="1188720"/>
            <a:ext cx="384048" cy="384048"/>
          </a:xfrm>
          <a:prstGeom prst="ellipse">
            <a:avLst/>
          </a:prstGeom>
          <a:solidFill>
            <a:schemeClr val="accent1"/>
          </a:solidFill>
          <a:ln/>
        </p:spPr>
      </p:sp>
      <p:pic>
        <p:nvPicPr>
          <p:cNvPr id="20" name="Image 2" descr="FiCheckCircle">    </p:cNvPr>
          <p:cNvPicPr>
            <a:picLocks noChangeAspect="1"/>
          </p:cNvPicPr>
          <p:nvPr/>
        </p:nvPicPr>
        <p:blipFill>
          <a:blip r:embed="rId3"/>
          <a:stretch>
            <a:fillRect/>
          </a:stretch>
        </p:blipFill>
        <p:spPr>
          <a:xfrm>
            <a:off x="6542532" y="1284732"/>
            <a:ext cx="192024" cy="192024"/>
          </a:xfrm>
          <a:prstGeom prst="rect">
            <a:avLst/>
          </a:prstGeom>
        </p:spPr>
      </p:pic>
      <p:sp>
        <p:nvSpPr>
          <p:cNvPr id="21" name="Text 15"/>
          <p:cNvSpPr txBox="1"/>
          <p:nvPr/>
        </p:nvSpPr>
        <p:spPr>
          <a:xfrm>
            <a:off x="6903720" y="1188720"/>
            <a:ext cx="1645920" cy="384048"/>
          </a:xfrm>
          <a:prstGeom prst="rect">
            <a:avLst/>
          </a:prstGeom>
          <a:noFill/>
          <a:ln/>
        </p:spPr>
        <p:txBody>
          <a:bodyPr wrap="square" lIns="0" tIns="0" rIns="0" bIns="0" rtlCol="0" anchor="ctr"/>
          <a:lstStyle/>
          <a:p>
            <a:pPr indent="0" marL="0">
              <a:buNone/>
            </a:pPr>
            <a:r>
              <a:rPr lang="it-IT" sz="1300" b="1" dirty="0">
                <a:solidFill>
                  <a:schemeClr val="tx1"/>
                </a:solidFill>
              </a:rPr>
              <a:t>3  Risultato atteso</a:t>
            </a:r>
            <a:endParaRPr lang="it-IT" sz="1300" dirty="0"/>
          </a:p>
        </p:txBody>
      </p:sp>
      <p:sp>
        <p:nvSpPr>
          <p:cNvPr id="22" name="Text 16"/>
          <p:cNvSpPr txBox="1"/>
          <p:nvPr/>
        </p:nvSpPr>
        <p:spPr>
          <a:xfrm>
            <a:off x="621792" y="1691640"/>
            <a:ext cx="2048256" cy="2148840"/>
          </a:xfrm>
          <a:prstGeom prst="rect">
            <a:avLst/>
          </a:prstGeom>
          <a:noFill/>
          <a:ln/>
        </p:spPr>
        <p:txBody>
          <a:bodyPr wrap="square" lIns="0" tIns="0" rIns="0" bIns="0" rtlCol="0" anchor="t"/>
          <a:lstStyle/>
          <a:p>
            <a:pPr indent="0" marL="0">
              <a:buNone/>
            </a:pPr>
            <a:r>
              <a:rPr lang="it-IT" sz="1200" dirty="0">
                <a:solidFill>
                  <a:schemeClr val="tx2"/>
                </a:solidFill>
              </a:rPr>
              <a:t>Contratto in vigore con un fornitore e nuova proposta di rinnovo, entrambi allegati.</a:t>
            </a:r>
            <a:endParaRPr lang="it-IT" sz="1200" dirty="0"/>
          </a:p>
        </p:txBody>
      </p:sp>
      <p:sp>
        <p:nvSpPr>
          <p:cNvPr id="23" name="Text 17"/>
          <p:cNvSpPr txBox="1"/>
          <p:nvPr/>
        </p:nvSpPr>
        <p:spPr>
          <a:xfrm>
            <a:off x="3136392" y="1691640"/>
            <a:ext cx="2871216" cy="2148840"/>
          </a:xfrm>
          <a:prstGeom prst="rect">
            <a:avLst/>
          </a:prstGeom>
          <a:noFill/>
          <a:ln/>
        </p:spPr>
        <p:txBody>
          <a:bodyPr wrap="square" lIns="0" tIns="0" rIns="0" bIns="0" rtlCol="0" anchor="t"/>
          <a:lstStyle/>
          <a:p>
            <a:pPr indent="0" marL="0">
              <a:buNone/>
            </a:pPr>
            <a:r>
              <a:rPr lang="it-IT" sz="1050" dirty="0">
                <a:solidFill>
                  <a:schemeClr val="tx1"/>
                </a:solidFill>
                <a:latin typeface="Courier New" pitchFamily="34" charset="0"/>
                <a:ea typeface="Courier New" pitchFamily="34" charset="-122"/>
                <a:cs typeface="Courier New" pitchFamily="34" charset="-120"/>
              </a:rPr>
              <a:t>Confronta i due documenti.</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1. Differenze su prezzo, durata,</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   rinnovo, penali, recesso.</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2. Clausole presenti in uno 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   assenti nell'altro.</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3. Incoerenze interne.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Per ogni punto cita sezione e</a:t>
            </a:r>
            <a:endParaRPr lang="it-IT" sz="1050" dirty="0"/>
          </a:p>
          <a:p>
            <a:pPr indent="0" marL="0">
              <a:buNone/>
            </a:pPr>
            <a:r>
              <a:rPr lang="it-IT" sz="1050" dirty="0">
                <a:solidFill>
                  <a:schemeClr val="tx1"/>
                </a:solidFill>
                <a:latin typeface="Courier New" pitchFamily="34" charset="0"/>
                <a:ea typeface="Courier New" pitchFamily="34" charset="-122"/>
                <a:cs typeface="Courier New" pitchFamily="34" charset="-120"/>
              </a:rPr>
              <a:t>testo di entrambi.</a:t>
            </a:r>
            <a:endParaRPr lang="it-IT" sz="1050" dirty="0"/>
          </a:p>
        </p:txBody>
      </p:sp>
      <p:sp>
        <p:nvSpPr>
          <p:cNvPr id="24" name="Text 18"/>
          <p:cNvSpPr txBox="1"/>
          <p:nvPr/>
        </p:nvSpPr>
        <p:spPr>
          <a:xfrm>
            <a:off x="6446520" y="1691640"/>
            <a:ext cx="2148840" cy="2148840"/>
          </a:xfrm>
          <a:prstGeom prst="rect">
            <a:avLst/>
          </a:prstGeom>
          <a:noFill/>
          <a:ln/>
        </p:spPr>
        <p:txBody>
          <a:bodyPr wrap="square" lIns="0" tIns="0" rIns="0" bIns="0" rtlCol="0" anchor="t"/>
          <a:lstStyle/>
          <a:p>
            <a:pPr marL="177800" indent="-177800">
              <a:spcAft>
                <a:spcPts val="500"/>
              </a:spcAft>
              <a:buSzPct val="100000"/>
              <a:buChar char="•"/>
            </a:pPr>
            <a:r>
              <a:rPr lang="it-IT" sz="1100" dirty="0">
                <a:solidFill>
                  <a:schemeClr val="tx2"/>
                </a:solidFill>
              </a:rPr>
              <a:t>Tabella delle differenze con i rimandi alle sezioni</a:t>
            </a:r>
            <a:endParaRPr lang="it-IT" sz="1100" dirty="0"/>
          </a:p>
          <a:p>
            <a:pPr marL="177800" indent="-177800">
              <a:spcAft>
                <a:spcPts val="500"/>
              </a:spcAft>
              <a:buSzPct val="100000"/>
              <a:buChar char="•"/>
            </a:pPr>
            <a:r>
              <a:rPr lang="it-IT" sz="1100" dirty="0">
                <a:solidFill>
                  <a:schemeClr val="tx2"/>
                </a:solidFill>
              </a:rPr>
              <a:t>Clausole mancanti evidenziate</a:t>
            </a:r>
            <a:endParaRPr lang="it-IT" sz="1100" dirty="0"/>
          </a:p>
          <a:p>
            <a:pPr marL="177800" indent="-177800">
              <a:spcAft>
                <a:spcPts val="500"/>
              </a:spcAft>
              <a:buSzPct val="100000"/>
              <a:buChar char="•"/>
            </a:pPr>
            <a:r>
              <a:rPr lang="it-IT" sz="1100" dirty="0">
                <a:solidFill>
                  <a:schemeClr val="tx2"/>
                </a:solidFill>
              </a:rPr>
              <a:t>La persona rilegge i punti chiave; per gli aspetti legali, un esperto</a:t>
            </a:r>
            <a:endParaRPr lang="it-IT" sz="1100" dirty="0"/>
          </a:p>
        </p:txBody>
      </p:sp>
      <p:sp>
        <p:nvSpPr>
          <p:cNvPr id="25" name="messaggio"/>
          <p:cNvSpPr/>
          <p:nvPr/>
        </p:nvSpPr>
        <p:spPr>
          <a:xfrm>
            <a:off x="457200" y="4069080"/>
            <a:ext cx="8229600" cy="502920"/>
          </a:xfrm>
          <a:prstGeom prst="roundRect">
            <a:avLst>
              <a:gd name="adj" fmla="val 14545"/>
            </a:avLst>
          </a:prstGeom>
          <a:solidFill>
            <a:schemeClr val="tx1"/>
          </a:solidFill>
          <a:ln/>
        </p:spPr>
      </p:sp>
      <p:sp>
        <p:nvSpPr>
          <p:cNvPr id="26" name="Text 20"/>
          <p:cNvSpPr txBox="1"/>
          <p:nvPr/>
        </p:nvSpPr>
        <p:spPr>
          <a:xfrm>
            <a:off x="640080" y="4069080"/>
            <a:ext cx="7863840" cy="502920"/>
          </a:xfrm>
          <a:prstGeom prst="rect">
            <a:avLst/>
          </a:prstGeom>
          <a:noFill/>
          <a:ln/>
        </p:spPr>
        <p:txBody>
          <a:bodyPr wrap="square" lIns="0" tIns="0" rIns="0" bIns="0" rtlCol="0" anchor="ctr"/>
          <a:lstStyle/>
          <a:p>
            <a:pPr indent="0" marL="0">
              <a:buNone/>
            </a:pPr>
            <a:r>
              <a:rPr lang="it-IT" sz="1200" dirty="0">
                <a:solidFill>
                  <a:schemeClr val="bg1"/>
                </a:solidFill>
              </a:rPr>
              <a:t>I rimandi a sezione e testo rendono ogni osservazione controllabile in pochi secondi.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40</a:t>
            </a:fld>
            <a:endParaRPr lang="it-IT"/>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Richieste di conferma più efficaci</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3657600"/>
                <a:gridCol w="2651760"/>
              </a:tblGrid>
              <a:tr h="384048">
                <a:tc>
                  <a:txBody>
                    <a:bodyPr/>
                    <a:lstStyle/>
                    <a:p>
                      <a:pPr indent="0" marL="0">
                        <a:buNone/>
                      </a:pPr>
                      <a:r>
                        <a:rPr lang="it-IT" sz="1200" b="1" dirty="0">
                          <a:solidFill>
                            <a:schemeClr val="bg1"/>
                          </a:solidFill>
                        </a:rPr>
                        <a:t>Meno efficace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Più efficace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it-IT" sz="1200" b="1" dirty="0">
                          <a:solidFill>
                            <a:schemeClr val="bg1"/>
                          </a:solidFill>
                        </a:rPr>
                        <a:t>Perché funziona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658368">
                <a:tc>
                  <a:txBody>
                    <a:bodyPr/>
                    <a:lstStyle/>
                    <a:p>
                      <a:pPr indent="0" marL="0">
                        <a:buNone/>
                      </a:pPr>
                      <a:r>
                        <a:rPr lang="it-IT" sz="1200" b="1" dirty="0">
                          <a:solidFill>
                            <a:schemeClr val="tx1"/>
                          </a:solidFill>
                        </a:rPr>
                        <a:t>"Sei sicuro?"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"Quali assunzioni potrebbero rendere errata questa conclusione?"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Sposta l'attenzione sui punti deboli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58368">
                <a:tc>
                  <a:txBody>
                    <a:bodyPr/>
                    <a:lstStyle/>
                    <a:p>
                      <a:pPr indent="0" marL="0">
                        <a:buNone/>
                      </a:pPr>
                      <a:r>
                        <a:rPr lang="it-IT" sz="1200" b="1" dirty="0">
                          <a:solidFill>
                            <a:schemeClr val="tx1"/>
                          </a:solidFill>
                        </a:rPr>
                        <a:t>"Controlla tutto"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"Individua le cinque affermazioni fattuali più importanti da verificare"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Produce una lista mirata e rapida da verificare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58368">
                <a:tc>
                  <a:txBody>
                    <a:bodyPr/>
                    <a:lstStyle/>
                    <a:p>
                      <a:pPr indent="0" marL="0">
                        <a:buNone/>
                      </a:pPr>
                      <a:r>
                        <a:rPr lang="it-IT" sz="1200" b="1" dirty="0">
                          <a:solidFill>
                            <a:schemeClr val="tx1"/>
                          </a:solidFill>
                        </a:rPr>
                        <a:t>"Confermi il calcolo?"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"Mostra dati, formula e procedimento riproducibile"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Rende il calcolo controllabile e ripetibile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messaggio"/>
          <p:cNvSpPr/>
          <p:nvPr/>
        </p:nvSpPr>
        <p:spPr>
          <a:xfrm>
            <a:off x="457200" y="3657600"/>
            <a:ext cx="8229600" cy="868680"/>
          </a:xfrm>
          <a:prstGeom prst="roundRect">
            <a:avLst>
              <a:gd name="adj" fmla="val 8421"/>
            </a:avLst>
          </a:prstGeom>
          <a:solidFill>
            <a:schemeClr val="tx1"/>
          </a:solidFill>
          <a:ln/>
        </p:spPr>
      </p:sp>
      <p:sp>
        <p:nvSpPr>
          <p:cNvPr id="12" name="Text 8"/>
          <p:cNvSpPr txBox="1"/>
          <p:nvPr/>
        </p:nvSpPr>
        <p:spPr>
          <a:xfrm>
            <a:off x="640080" y="3657600"/>
            <a:ext cx="7863840" cy="868680"/>
          </a:xfrm>
          <a:prstGeom prst="rect">
            <a:avLst/>
          </a:prstGeom>
          <a:noFill/>
          <a:ln/>
        </p:spPr>
        <p:txBody>
          <a:bodyPr wrap="square" lIns="0" tIns="0" rIns="0" bIns="0" rtlCol="0" anchor="ctr"/>
          <a:lstStyle/>
          <a:p>
            <a:pPr indent="0" marL="0">
              <a:buNone/>
            </a:pPr>
            <a:r>
              <a:rPr lang="it-IT" sz="1300" dirty="0">
                <a:solidFill>
                  <a:schemeClr val="bg1"/>
                </a:solidFill>
              </a:rPr>
              <a:t>Un generico "Sei sicuro?" può confermare un errore o cambiare una risposta corretta. Le richieste mirate migliorano la revisione, ma non sostituiscono la verifica indipendente.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41</a:t>
            </a:fld>
            <a:endParaRPr lang="it-IT"/>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Revisione assistita e verifica indipendente</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645920"/>
                <a:gridCol w="3291840"/>
                <a:gridCol w="3291840"/>
              </a:tblGrid>
              <a:tr h="411480">
                <a:tc>
                  <a:txBody>
                    <a:bodyPr/>
                    <a:lstStyle/>
                    <a:p>
                      <a:pPr indent="0" marL="0">
                        <a:buNone/>
                      </a:pP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b="1" dirty="0">
                          <a:solidFill>
                            <a:schemeClr val="bg1"/>
                          </a:solidFill>
                        </a:rPr>
                        <a:t>Revisione assistita dall'AI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Verifica indipendente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11480">
                <a:tc>
                  <a:txBody>
                    <a:bodyPr/>
                    <a:lstStyle/>
                    <a:p>
                      <a:pPr indent="0" marL="0">
                        <a:buNone/>
                      </a:pPr>
                      <a:r>
                        <a:rPr lang="it-IT" sz="1200" b="1" dirty="0">
                          <a:solidFill>
                            <a:schemeClr val="tx1"/>
                          </a:solidFill>
                        </a:rPr>
                        <a:t>Che cosa usa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Lo stesso sistema o uno simile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Fonti primarie, dati originali, strumenti, esperti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it-IT" sz="1200" b="1" dirty="0">
                          <a:solidFill>
                            <a:schemeClr val="tx1"/>
                          </a:solidFill>
                        </a:rPr>
                        <a:t>Punti di forza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Rapida, sistematica, sempre disponibile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Fornisce una prova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it-IT" sz="1200" b="1" dirty="0">
                          <a:solidFill>
                            <a:schemeClr val="tx1"/>
                          </a:solidFill>
                        </a:rPr>
                        <a:t>Utile per</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Incoerenze, lacune, ambiguità, lista dei punti dubbi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Confermare o smentire i punti importanti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it-IT" sz="1200" b="1" dirty="0">
                          <a:solidFill>
                            <a:schemeClr val="tx1"/>
                          </a:solidFill>
                        </a:rPr>
                        <a:t>Limiti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Limiti simili a chi ha prodotto, compiacenza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Più tempo e competenze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Due modelli divergono"/>
          <p:cNvSpPr/>
          <p:nvPr/>
        </p:nvSpPr>
        <p:spPr>
          <a:xfrm>
            <a:off x="457200" y="3364992"/>
            <a:ext cx="4023360" cy="640080"/>
          </a:xfrm>
          <a:prstGeom prst="roundRect">
            <a:avLst>
              <a:gd name="adj" fmla="val 11429"/>
            </a:avLst>
          </a:prstGeom>
          <a:solidFill>
            <a:schemeClr val="accent6"/>
          </a:solidFill>
          <a:ln/>
        </p:spPr>
      </p:sp>
      <p:sp>
        <p:nvSpPr>
          <p:cNvPr id="12" name="Text 8"/>
          <p:cNvSpPr txBox="1"/>
          <p:nvPr/>
        </p:nvSpPr>
        <p:spPr>
          <a:xfrm>
            <a:off x="621792" y="3419856"/>
            <a:ext cx="3694176" cy="292608"/>
          </a:xfrm>
          <a:prstGeom prst="rect">
            <a:avLst/>
          </a:prstGeom>
          <a:noFill/>
          <a:ln/>
        </p:spPr>
        <p:txBody>
          <a:bodyPr wrap="square" lIns="0" tIns="0" rIns="0" bIns="0" rtlCol="0" anchor="t"/>
          <a:lstStyle/>
          <a:p>
            <a:pPr indent="0" marL="0">
              <a:buNone/>
            </a:pPr>
            <a:r>
              <a:rPr lang="it-IT" sz="1300" b="1" dirty="0">
                <a:solidFill>
                  <a:schemeClr val="tx1"/>
                </a:solidFill>
              </a:rPr>
              <a:t>Due modelli divergono</a:t>
            </a:r>
            <a:endParaRPr lang="it-IT" sz="1300" dirty="0"/>
          </a:p>
        </p:txBody>
      </p:sp>
      <p:sp>
        <p:nvSpPr>
          <p:cNvPr id="13" name="Text 9"/>
          <p:cNvSpPr txBox="1"/>
          <p:nvPr/>
        </p:nvSpPr>
        <p:spPr>
          <a:xfrm>
            <a:off x="621792" y="3712464"/>
            <a:ext cx="3694176" cy="237744"/>
          </a:xfrm>
          <a:prstGeom prst="rect">
            <a:avLst/>
          </a:prstGeom>
          <a:noFill/>
          <a:ln/>
        </p:spPr>
        <p:txBody>
          <a:bodyPr wrap="square" lIns="0" tIns="0" rIns="0" bIns="0" rtlCol="0" anchor="t"/>
          <a:lstStyle/>
          <a:p>
            <a:pPr indent="0" marL="0">
              <a:buNone/>
            </a:pPr>
            <a:r>
              <a:rPr lang="it-IT" sz="1100" dirty="0">
                <a:solidFill>
                  <a:schemeClr val="tx2"/>
                </a:solidFill>
              </a:rPr>
              <a:t>Segnale utile: il punto va verificato</a:t>
            </a:r>
            <a:endParaRPr lang="it-IT" sz="1100" dirty="0"/>
          </a:p>
        </p:txBody>
      </p:sp>
      <p:sp>
        <p:nvSpPr>
          <p:cNvPr id="14" name="Due modelli concordano"/>
          <p:cNvSpPr/>
          <p:nvPr/>
        </p:nvSpPr>
        <p:spPr>
          <a:xfrm>
            <a:off x="4663440" y="3364992"/>
            <a:ext cx="4023360" cy="640080"/>
          </a:xfrm>
          <a:prstGeom prst="roundRect">
            <a:avLst>
              <a:gd name="adj" fmla="val 11429"/>
            </a:avLst>
          </a:prstGeom>
          <a:solidFill>
            <a:schemeClr val="bg2"/>
          </a:solidFill>
          <a:ln/>
        </p:spPr>
      </p:sp>
      <p:sp>
        <p:nvSpPr>
          <p:cNvPr id="15" name="Text 11"/>
          <p:cNvSpPr txBox="1"/>
          <p:nvPr/>
        </p:nvSpPr>
        <p:spPr>
          <a:xfrm>
            <a:off x="4828032" y="3419856"/>
            <a:ext cx="3694176" cy="292608"/>
          </a:xfrm>
          <a:prstGeom prst="rect">
            <a:avLst/>
          </a:prstGeom>
          <a:noFill/>
          <a:ln/>
        </p:spPr>
        <p:txBody>
          <a:bodyPr wrap="square" lIns="0" tIns="0" rIns="0" bIns="0" rtlCol="0" anchor="t"/>
          <a:lstStyle/>
          <a:p>
            <a:pPr indent="0" marL="0">
              <a:buNone/>
            </a:pPr>
            <a:r>
              <a:rPr lang="it-IT" sz="1300" b="1" dirty="0">
                <a:solidFill>
                  <a:schemeClr val="tx1"/>
                </a:solidFill>
              </a:rPr>
              <a:t>Due modelli concordano</a:t>
            </a:r>
            <a:endParaRPr lang="it-IT" sz="1300" dirty="0"/>
          </a:p>
        </p:txBody>
      </p:sp>
      <p:sp>
        <p:nvSpPr>
          <p:cNvPr id="16" name="Text 12"/>
          <p:cNvSpPr txBox="1"/>
          <p:nvPr/>
        </p:nvSpPr>
        <p:spPr>
          <a:xfrm>
            <a:off x="4828032" y="3712464"/>
            <a:ext cx="3694176" cy="237744"/>
          </a:xfrm>
          <a:prstGeom prst="rect">
            <a:avLst/>
          </a:prstGeom>
          <a:noFill/>
          <a:ln/>
        </p:spPr>
        <p:txBody>
          <a:bodyPr wrap="square" lIns="0" tIns="0" rIns="0" bIns="0" rtlCol="0" anchor="t"/>
          <a:lstStyle/>
          <a:p>
            <a:pPr indent="0" marL="0">
              <a:buNone/>
            </a:pPr>
            <a:r>
              <a:rPr lang="it-IT" sz="1100" dirty="0">
                <a:solidFill>
                  <a:schemeClr val="tx2"/>
                </a:solidFill>
              </a:rPr>
              <a:t>Aumenta un po' la fiducia, ma non è una prova</a:t>
            </a:r>
            <a:endParaRPr lang="it-IT" sz="1100" dirty="0"/>
          </a:p>
        </p:txBody>
      </p:sp>
      <p:sp>
        <p:nvSpPr>
          <p:cNvPr id="17" name="messaggio"/>
          <p:cNvSpPr/>
          <p:nvPr/>
        </p:nvSpPr>
        <p:spPr>
          <a:xfrm>
            <a:off x="457200" y="4096512"/>
            <a:ext cx="8229600" cy="457200"/>
          </a:xfrm>
          <a:prstGeom prst="roundRect">
            <a:avLst>
              <a:gd name="adj" fmla="val 16000"/>
            </a:avLst>
          </a:prstGeom>
          <a:solidFill>
            <a:schemeClr val="tx1"/>
          </a:solidFill>
          <a:ln/>
        </p:spPr>
      </p:sp>
      <p:sp>
        <p:nvSpPr>
          <p:cNvPr id="18" name="Text 14"/>
          <p:cNvSpPr txBox="1"/>
          <p:nvPr/>
        </p:nvSpPr>
        <p:spPr>
          <a:xfrm>
            <a:off x="640080" y="4096512"/>
            <a:ext cx="7863840" cy="457200"/>
          </a:xfrm>
          <a:prstGeom prst="rect">
            <a:avLst/>
          </a:prstGeom>
          <a:noFill/>
          <a:ln/>
        </p:spPr>
        <p:txBody>
          <a:bodyPr wrap="square" lIns="0" tIns="0" rIns="0" bIns="0" rtlCol="0" anchor="ctr"/>
          <a:lstStyle/>
          <a:p>
            <a:pPr indent="0" marL="0">
              <a:buNone/>
            </a:pPr>
            <a:r>
              <a:rPr lang="it-IT" sz="1200" dirty="0">
                <a:solidFill>
                  <a:schemeClr val="bg1"/>
                </a:solidFill>
              </a:rPr>
              <a:t>Prima la revisione assistita trova i punti dubbi, poi la verifica indipendente conferma quelli importanti.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42</a:t>
            </a:fld>
            <a:endParaRPr lang="it-IT"/>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it-IT" sz="2600" dirty="0">
                <a:solidFill>
                  <a:schemeClr val="bg1"/>
                </a:solidFill>
              </a:rPr>
              <a:t>Una revisione assistita dall'AI è un supporto al controllo, non un sostituto delle evidenze indipendenti.</a:t>
            </a:r>
            <a:endParaRPr lang="it-IT"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it-IT" sz="1300" dirty="0">
                <a:solidFill>
                  <a:schemeClr val="accent3"/>
                </a:solidFill>
              </a:rPr>
              <a:t>Sottotema 7.6  ·  Tecniche di verifica e revisione assistite dall'AI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43</a:t>
            </a:fld>
            <a:endParaRPr lang="it-IT"/>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7.7</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Bias cognitivi e fiducia nell'AI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L'affidabilità del processo dipende anche dall'atteggiamento di chi valuta e dalla capacità di riconoscere i propri bias</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44</a:t>
            </a:fld>
            <a:endParaRPr lang="it-IT"/>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 bias che influenzano la valutazione</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Bias di conferma"/>
          <p:cNvSpPr/>
          <p:nvPr/>
        </p:nvSpPr>
        <p:spPr>
          <a:xfrm>
            <a:off x="457200" y="1097280"/>
            <a:ext cx="2377440" cy="603504"/>
          </a:xfrm>
          <a:prstGeom prst="roundRect">
            <a:avLst>
              <a:gd name="adj" fmla="val 12121"/>
            </a:avLst>
          </a:prstGeom>
          <a:solidFill>
            <a:schemeClr val="bg2"/>
          </a:solidFill>
          <a:ln/>
        </p:spPr>
      </p:sp>
      <p:sp>
        <p:nvSpPr>
          <p:cNvPr id="11" name="cerchio FiCheckCircle"/>
          <p:cNvSpPr/>
          <p:nvPr/>
        </p:nvSpPr>
        <p:spPr>
          <a:xfrm>
            <a:off x="566928" y="1197864"/>
            <a:ext cx="402336" cy="402336"/>
          </a:xfrm>
          <a:prstGeom prst="ellipse">
            <a:avLst/>
          </a:prstGeom>
          <a:solidFill>
            <a:schemeClr val="accent1"/>
          </a:solidFill>
          <a:ln/>
        </p:spPr>
      </p:sp>
      <p:pic>
        <p:nvPicPr>
          <p:cNvPr id="12" name="Image 0" descr="FiCheckCircle">    </p:cNvPr>
          <p:cNvPicPr>
            <a:picLocks noChangeAspect="1"/>
          </p:cNvPicPr>
          <p:nvPr/>
        </p:nvPicPr>
        <p:blipFill>
          <a:blip r:embed="rId1"/>
          <a:stretch>
            <a:fillRect/>
          </a:stretch>
        </p:blipFill>
        <p:spPr>
          <a:xfrm>
            <a:off x="667512" y="1298448"/>
            <a:ext cx="201168" cy="201168"/>
          </a:xfrm>
          <a:prstGeom prst="rect">
            <a:avLst/>
          </a:prstGeom>
        </p:spPr>
      </p:pic>
      <p:sp>
        <p:nvSpPr>
          <p:cNvPr id="13" name="Text 9"/>
          <p:cNvSpPr txBox="1"/>
          <p:nvPr/>
        </p:nvSpPr>
        <p:spPr>
          <a:xfrm>
            <a:off x="1060704" y="1097280"/>
            <a:ext cx="1691640" cy="603504"/>
          </a:xfrm>
          <a:prstGeom prst="rect">
            <a:avLst/>
          </a:prstGeom>
          <a:noFill/>
          <a:ln/>
        </p:spPr>
        <p:txBody>
          <a:bodyPr wrap="square" lIns="0" tIns="0" rIns="0" bIns="0" rtlCol="0" anchor="ctr"/>
          <a:lstStyle/>
          <a:p>
            <a:pPr indent="0" marL="0">
              <a:buNone/>
            </a:pPr>
            <a:r>
              <a:rPr lang="it-IT" sz="1200" b="1" dirty="0">
                <a:solidFill>
                  <a:schemeClr val="tx1"/>
                </a:solidFill>
              </a:rPr>
              <a:t>Bias di conferma</a:t>
            </a:r>
            <a:endParaRPr lang="it-IT" sz="1200" dirty="0"/>
          </a:p>
        </p:txBody>
      </p:sp>
      <p:sp>
        <p:nvSpPr>
          <p:cNvPr id="14" name="Automation bias"/>
          <p:cNvSpPr/>
          <p:nvPr/>
        </p:nvSpPr>
        <p:spPr>
          <a:xfrm>
            <a:off x="2971800" y="1097280"/>
            <a:ext cx="2377440" cy="603504"/>
          </a:xfrm>
          <a:prstGeom prst="roundRect">
            <a:avLst>
              <a:gd name="adj" fmla="val 12121"/>
            </a:avLst>
          </a:prstGeom>
          <a:solidFill>
            <a:schemeClr val="bg2"/>
          </a:solidFill>
          <a:ln/>
        </p:spPr>
      </p:sp>
      <p:sp>
        <p:nvSpPr>
          <p:cNvPr id="15" name="cerchio FiCpu"/>
          <p:cNvSpPr/>
          <p:nvPr/>
        </p:nvSpPr>
        <p:spPr>
          <a:xfrm>
            <a:off x="3081528" y="1197864"/>
            <a:ext cx="402336" cy="402336"/>
          </a:xfrm>
          <a:prstGeom prst="ellipse">
            <a:avLst/>
          </a:prstGeom>
          <a:solidFill>
            <a:schemeClr val="accent1"/>
          </a:solidFill>
          <a:ln/>
        </p:spPr>
      </p:sp>
      <p:pic>
        <p:nvPicPr>
          <p:cNvPr id="16" name="Image 1" descr="FiCpu">    </p:cNvPr>
          <p:cNvPicPr>
            <a:picLocks noChangeAspect="1"/>
          </p:cNvPicPr>
          <p:nvPr/>
        </p:nvPicPr>
        <p:blipFill>
          <a:blip r:embed="rId2"/>
          <a:stretch>
            <a:fillRect/>
          </a:stretch>
        </p:blipFill>
        <p:spPr>
          <a:xfrm>
            <a:off x="3182112" y="1298448"/>
            <a:ext cx="201168" cy="201168"/>
          </a:xfrm>
          <a:prstGeom prst="rect">
            <a:avLst/>
          </a:prstGeom>
        </p:spPr>
      </p:pic>
      <p:sp>
        <p:nvSpPr>
          <p:cNvPr id="17" name="Text 12"/>
          <p:cNvSpPr txBox="1"/>
          <p:nvPr/>
        </p:nvSpPr>
        <p:spPr>
          <a:xfrm>
            <a:off x="3575304" y="1097280"/>
            <a:ext cx="1691640" cy="603504"/>
          </a:xfrm>
          <a:prstGeom prst="rect">
            <a:avLst/>
          </a:prstGeom>
          <a:noFill/>
          <a:ln/>
        </p:spPr>
        <p:txBody>
          <a:bodyPr wrap="square" lIns="0" tIns="0" rIns="0" bIns="0" rtlCol="0" anchor="ctr"/>
          <a:lstStyle/>
          <a:p>
            <a:pPr indent="0" marL="0">
              <a:buNone/>
            </a:pPr>
            <a:r>
              <a:rPr lang="it-IT" sz="1200" b="1" dirty="0">
                <a:solidFill>
                  <a:schemeClr val="tx1"/>
                </a:solidFill>
              </a:rPr>
              <a:t>Automation bias</a:t>
            </a:r>
            <a:endParaRPr lang="it-IT" sz="1200" dirty="0"/>
          </a:p>
        </p:txBody>
      </p:sp>
      <p:sp>
        <p:nvSpPr>
          <p:cNvPr id="18" name="Autorevolezza apparente"/>
          <p:cNvSpPr/>
          <p:nvPr/>
        </p:nvSpPr>
        <p:spPr>
          <a:xfrm>
            <a:off x="457200" y="1810512"/>
            <a:ext cx="2377440" cy="603504"/>
          </a:xfrm>
          <a:prstGeom prst="roundRect">
            <a:avLst>
              <a:gd name="adj" fmla="val 12121"/>
            </a:avLst>
          </a:prstGeom>
          <a:solidFill>
            <a:schemeClr val="bg2"/>
          </a:solidFill>
          <a:ln/>
        </p:spPr>
      </p:sp>
      <p:sp>
        <p:nvSpPr>
          <p:cNvPr id="19" name="cerchio FiAward"/>
          <p:cNvSpPr/>
          <p:nvPr/>
        </p:nvSpPr>
        <p:spPr>
          <a:xfrm>
            <a:off x="566928" y="1911096"/>
            <a:ext cx="402336" cy="402336"/>
          </a:xfrm>
          <a:prstGeom prst="ellipse">
            <a:avLst/>
          </a:prstGeom>
          <a:solidFill>
            <a:schemeClr val="accent1"/>
          </a:solidFill>
          <a:ln/>
        </p:spPr>
      </p:sp>
      <p:pic>
        <p:nvPicPr>
          <p:cNvPr id="20" name="Image 2" descr="FiAward">    </p:cNvPr>
          <p:cNvPicPr>
            <a:picLocks noChangeAspect="1"/>
          </p:cNvPicPr>
          <p:nvPr/>
        </p:nvPicPr>
        <p:blipFill>
          <a:blip r:embed="rId3"/>
          <a:stretch>
            <a:fillRect/>
          </a:stretch>
        </p:blipFill>
        <p:spPr>
          <a:xfrm>
            <a:off x="667512" y="2011680"/>
            <a:ext cx="201168" cy="201168"/>
          </a:xfrm>
          <a:prstGeom prst="rect">
            <a:avLst/>
          </a:prstGeom>
        </p:spPr>
      </p:pic>
      <p:sp>
        <p:nvSpPr>
          <p:cNvPr id="21" name="Text 15"/>
          <p:cNvSpPr txBox="1"/>
          <p:nvPr/>
        </p:nvSpPr>
        <p:spPr>
          <a:xfrm>
            <a:off x="1060704" y="1810512"/>
            <a:ext cx="1691640" cy="603504"/>
          </a:xfrm>
          <a:prstGeom prst="rect">
            <a:avLst/>
          </a:prstGeom>
          <a:noFill/>
          <a:ln/>
        </p:spPr>
        <p:txBody>
          <a:bodyPr wrap="square" lIns="0" tIns="0" rIns="0" bIns="0" rtlCol="0" anchor="ctr"/>
          <a:lstStyle/>
          <a:p>
            <a:pPr indent="0" marL="0">
              <a:buNone/>
            </a:pPr>
            <a:r>
              <a:rPr lang="it-IT" sz="1200" b="1" dirty="0">
                <a:solidFill>
                  <a:schemeClr val="tx1"/>
                </a:solidFill>
              </a:rPr>
              <a:t>Autorevolezza apparente</a:t>
            </a:r>
            <a:endParaRPr lang="it-IT" sz="1200" dirty="0"/>
          </a:p>
        </p:txBody>
      </p:sp>
      <p:sp>
        <p:nvSpPr>
          <p:cNvPr id="22" name="Fluidità e sicurezza"/>
          <p:cNvSpPr/>
          <p:nvPr/>
        </p:nvSpPr>
        <p:spPr>
          <a:xfrm>
            <a:off x="2971800" y="1810512"/>
            <a:ext cx="2377440" cy="603504"/>
          </a:xfrm>
          <a:prstGeom prst="roundRect">
            <a:avLst>
              <a:gd name="adj" fmla="val 12121"/>
            </a:avLst>
          </a:prstGeom>
          <a:solidFill>
            <a:schemeClr val="bg2"/>
          </a:solidFill>
          <a:ln/>
        </p:spPr>
      </p:sp>
      <p:sp>
        <p:nvSpPr>
          <p:cNvPr id="23" name="cerchio FiFeather"/>
          <p:cNvSpPr/>
          <p:nvPr/>
        </p:nvSpPr>
        <p:spPr>
          <a:xfrm>
            <a:off x="3081528" y="1911096"/>
            <a:ext cx="402336" cy="402336"/>
          </a:xfrm>
          <a:prstGeom prst="ellipse">
            <a:avLst/>
          </a:prstGeom>
          <a:solidFill>
            <a:schemeClr val="accent1"/>
          </a:solidFill>
          <a:ln/>
        </p:spPr>
      </p:sp>
      <p:pic>
        <p:nvPicPr>
          <p:cNvPr id="24" name="Image 3" descr="FiFeather">    </p:cNvPr>
          <p:cNvPicPr>
            <a:picLocks noChangeAspect="1"/>
          </p:cNvPicPr>
          <p:nvPr/>
        </p:nvPicPr>
        <p:blipFill>
          <a:blip r:embed="rId4"/>
          <a:stretch>
            <a:fillRect/>
          </a:stretch>
        </p:blipFill>
        <p:spPr>
          <a:xfrm>
            <a:off x="3182112" y="2011680"/>
            <a:ext cx="201168" cy="201168"/>
          </a:xfrm>
          <a:prstGeom prst="rect">
            <a:avLst/>
          </a:prstGeom>
        </p:spPr>
      </p:pic>
      <p:sp>
        <p:nvSpPr>
          <p:cNvPr id="25" name="Text 18"/>
          <p:cNvSpPr txBox="1"/>
          <p:nvPr/>
        </p:nvSpPr>
        <p:spPr>
          <a:xfrm>
            <a:off x="3575304" y="1810512"/>
            <a:ext cx="1691640" cy="603504"/>
          </a:xfrm>
          <a:prstGeom prst="rect">
            <a:avLst/>
          </a:prstGeom>
          <a:noFill/>
          <a:ln/>
        </p:spPr>
        <p:txBody>
          <a:bodyPr wrap="square" lIns="0" tIns="0" rIns="0" bIns="0" rtlCol="0" anchor="ctr"/>
          <a:lstStyle/>
          <a:p>
            <a:pPr indent="0" marL="0">
              <a:buNone/>
            </a:pPr>
            <a:r>
              <a:rPr lang="it-IT" sz="1200" b="1" dirty="0">
                <a:solidFill>
                  <a:schemeClr val="tx1"/>
                </a:solidFill>
              </a:rPr>
              <a:t>Fluidità e sicurezza</a:t>
            </a:r>
            <a:endParaRPr lang="it-IT" sz="1200" dirty="0"/>
          </a:p>
        </p:txBody>
      </p:sp>
      <p:sp>
        <p:nvSpPr>
          <p:cNvPr id="26" name="Fiducia eccessiva"/>
          <p:cNvSpPr/>
          <p:nvPr/>
        </p:nvSpPr>
        <p:spPr>
          <a:xfrm>
            <a:off x="457200" y="2523744"/>
            <a:ext cx="2377440" cy="603504"/>
          </a:xfrm>
          <a:prstGeom prst="roundRect">
            <a:avLst>
              <a:gd name="adj" fmla="val 12121"/>
            </a:avLst>
          </a:prstGeom>
          <a:solidFill>
            <a:schemeClr val="bg2"/>
          </a:solidFill>
          <a:ln/>
        </p:spPr>
      </p:sp>
      <p:sp>
        <p:nvSpPr>
          <p:cNvPr id="27" name="cerchio FiThumbsUp"/>
          <p:cNvSpPr/>
          <p:nvPr/>
        </p:nvSpPr>
        <p:spPr>
          <a:xfrm>
            <a:off x="566928" y="2624328"/>
            <a:ext cx="402336" cy="402336"/>
          </a:xfrm>
          <a:prstGeom prst="ellipse">
            <a:avLst/>
          </a:prstGeom>
          <a:solidFill>
            <a:schemeClr val="accent1"/>
          </a:solidFill>
          <a:ln/>
        </p:spPr>
      </p:sp>
      <p:pic>
        <p:nvPicPr>
          <p:cNvPr id="28" name="Image 4" descr="FiThumbsUp">    </p:cNvPr>
          <p:cNvPicPr>
            <a:picLocks noChangeAspect="1"/>
          </p:cNvPicPr>
          <p:nvPr/>
        </p:nvPicPr>
        <p:blipFill>
          <a:blip r:embed="rId5"/>
          <a:stretch>
            <a:fillRect/>
          </a:stretch>
        </p:blipFill>
        <p:spPr>
          <a:xfrm>
            <a:off x="667512" y="2724912"/>
            <a:ext cx="201168" cy="201168"/>
          </a:xfrm>
          <a:prstGeom prst="rect">
            <a:avLst/>
          </a:prstGeom>
        </p:spPr>
      </p:pic>
      <p:sp>
        <p:nvSpPr>
          <p:cNvPr id="29" name="Text 21"/>
          <p:cNvSpPr txBox="1"/>
          <p:nvPr/>
        </p:nvSpPr>
        <p:spPr>
          <a:xfrm>
            <a:off x="1060704" y="2523744"/>
            <a:ext cx="1691640" cy="603504"/>
          </a:xfrm>
          <a:prstGeom prst="rect">
            <a:avLst/>
          </a:prstGeom>
          <a:noFill/>
          <a:ln/>
        </p:spPr>
        <p:txBody>
          <a:bodyPr wrap="square" lIns="0" tIns="0" rIns="0" bIns="0" rtlCol="0" anchor="ctr"/>
          <a:lstStyle/>
          <a:p>
            <a:pPr indent="0" marL="0">
              <a:buNone/>
            </a:pPr>
            <a:r>
              <a:rPr lang="it-IT" sz="1200" b="1" dirty="0">
                <a:solidFill>
                  <a:schemeClr val="tx1"/>
                </a:solidFill>
              </a:rPr>
              <a:t>Fiducia eccessiva</a:t>
            </a:r>
            <a:endParaRPr lang="it-IT" sz="1200" dirty="0"/>
          </a:p>
        </p:txBody>
      </p:sp>
      <p:sp>
        <p:nvSpPr>
          <p:cNvPr id="30" name="Sfiducia non giustificata"/>
          <p:cNvSpPr/>
          <p:nvPr/>
        </p:nvSpPr>
        <p:spPr>
          <a:xfrm>
            <a:off x="2971800" y="2523744"/>
            <a:ext cx="2377440" cy="603504"/>
          </a:xfrm>
          <a:prstGeom prst="roundRect">
            <a:avLst>
              <a:gd name="adj" fmla="val 12121"/>
            </a:avLst>
          </a:prstGeom>
          <a:solidFill>
            <a:schemeClr val="accent6"/>
          </a:solidFill>
          <a:ln/>
        </p:spPr>
      </p:sp>
      <p:sp>
        <p:nvSpPr>
          <p:cNvPr id="31" name="cerchio FiThumbsDown"/>
          <p:cNvSpPr/>
          <p:nvPr/>
        </p:nvSpPr>
        <p:spPr>
          <a:xfrm>
            <a:off x="3081528" y="2624328"/>
            <a:ext cx="402336" cy="402336"/>
          </a:xfrm>
          <a:prstGeom prst="ellipse">
            <a:avLst/>
          </a:prstGeom>
          <a:solidFill>
            <a:schemeClr val="accent2"/>
          </a:solidFill>
          <a:ln/>
        </p:spPr>
      </p:sp>
      <p:pic>
        <p:nvPicPr>
          <p:cNvPr id="32" name="Image 5" descr="FiThumbsDown">    </p:cNvPr>
          <p:cNvPicPr>
            <a:picLocks noChangeAspect="1"/>
          </p:cNvPicPr>
          <p:nvPr/>
        </p:nvPicPr>
        <p:blipFill>
          <a:blip r:embed="rId6"/>
          <a:stretch>
            <a:fillRect/>
          </a:stretch>
        </p:blipFill>
        <p:spPr>
          <a:xfrm>
            <a:off x="3182112" y="2724912"/>
            <a:ext cx="201168" cy="201168"/>
          </a:xfrm>
          <a:prstGeom prst="rect">
            <a:avLst/>
          </a:prstGeom>
        </p:spPr>
      </p:pic>
      <p:sp>
        <p:nvSpPr>
          <p:cNvPr id="33" name="Text 24"/>
          <p:cNvSpPr txBox="1"/>
          <p:nvPr/>
        </p:nvSpPr>
        <p:spPr>
          <a:xfrm>
            <a:off x="3575304" y="2523744"/>
            <a:ext cx="1691640" cy="603504"/>
          </a:xfrm>
          <a:prstGeom prst="rect">
            <a:avLst/>
          </a:prstGeom>
          <a:noFill/>
          <a:ln/>
        </p:spPr>
        <p:txBody>
          <a:bodyPr wrap="square" lIns="0" tIns="0" rIns="0" bIns="0" rtlCol="0" anchor="ctr"/>
          <a:lstStyle/>
          <a:p>
            <a:pPr indent="0" marL="0">
              <a:buNone/>
            </a:pPr>
            <a:r>
              <a:rPr lang="it-IT" sz="1200" b="1" dirty="0">
                <a:solidFill>
                  <a:schemeClr val="tx1"/>
                </a:solidFill>
              </a:rPr>
              <a:t>Sfiducia non giustificata</a:t>
            </a:r>
            <a:endParaRPr lang="it-IT" sz="1200" dirty="0"/>
          </a:p>
        </p:txBody>
      </p:sp>
      <p:sp>
        <p:nvSpPr>
          <p:cNvPr id="34" name="Delega del giudizio"/>
          <p:cNvSpPr/>
          <p:nvPr/>
        </p:nvSpPr>
        <p:spPr>
          <a:xfrm>
            <a:off x="457200" y="3236976"/>
            <a:ext cx="2377440" cy="603504"/>
          </a:xfrm>
          <a:prstGeom prst="roundRect">
            <a:avLst>
              <a:gd name="adj" fmla="val 12121"/>
            </a:avLst>
          </a:prstGeom>
          <a:solidFill>
            <a:schemeClr val="bg2"/>
          </a:solidFill>
          <a:ln/>
        </p:spPr>
      </p:sp>
      <p:sp>
        <p:nvSpPr>
          <p:cNvPr id="35" name="cerchio FiPause"/>
          <p:cNvSpPr/>
          <p:nvPr/>
        </p:nvSpPr>
        <p:spPr>
          <a:xfrm>
            <a:off x="566928" y="3337560"/>
            <a:ext cx="402336" cy="402336"/>
          </a:xfrm>
          <a:prstGeom prst="ellipse">
            <a:avLst/>
          </a:prstGeom>
          <a:solidFill>
            <a:schemeClr val="accent1"/>
          </a:solidFill>
          <a:ln/>
        </p:spPr>
      </p:sp>
      <p:pic>
        <p:nvPicPr>
          <p:cNvPr id="36" name="Image 6" descr="FiPause">    </p:cNvPr>
          <p:cNvPicPr>
            <a:picLocks noChangeAspect="1"/>
          </p:cNvPicPr>
          <p:nvPr/>
        </p:nvPicPr>
        <p:blipFill>
          <a:blip r:embed="rId7"/>
          <a:stretch>
            <a:fillRect/>
          </a:stretch>
        </p:blipFill>
        <p:spPr>
          <a:xfrm>
            <a:off x="667512" y="3438144"/>
            <a:ext cx="201168" cy="201168"/>
          </a:xfrm>
          <a:prstGeom prst="rect">
            <a:avLst/>
          </a:prstGeom>
        </p:spPr>
      </p:pic>
      <p:sp>
        <p:nvSpPr>
          <p:cNvPr id="37" name="Text 27"/>
          <p:cNvSpPr txBox="1"/>
          <p:nvPr/>
        </p:nvSpPr>
        <p:spPr>
          <a:xfrm>
            <a:off x="1060704" y="3236976"/>
            <a:ext cx="1691640" cy="603504"/>
          </a:xfrm>
          <a:prstGeom prst="rect">
            <a:avLst/>
          </a:prstGeom>
          <a:noFill/>
          <a:ln/>
        </p:spPr>
        <p:txBody>
          <a:bodyPr wrap="square" lIns="0" tIns="0" rIns="0" bIns="0" rtlCol="0" anchor="ctr"/>
          <a:lstStyle/>
          <a:p>
            <a:pPr indent="0" marL="0">
              <a:buNone/>
            </a:pPr>
            <a:r>
              <a:rPr lang="it-IT" sz="1200" b="1" dirty="0">
                <a:solidFill>
                  <a:schemeClr val="tx1"/>
                </a:solidFill>
              </a:rPr>
              <a:t>Delega del giudizio</a:t>
            </a:r>
            <a:endParaRPr lang="it-IT" sz="1200" dirty="0"/>
          </a:p>
        </p:txBody>
      </p:sp>
      <p:sp>
        <p:nvSpPr>
          <p:cNvPr id="38" name="fluidità"/>
          <p:cNvSpPr/>
          <p:nvPr/>
        </p:nvSpPr>
        <p:spPr>
          <a:xfrm>
            <a:off x="5669280" y="1097280"/>
            <a:ext cx="3017520" cy="2743200"/>
          </a:xfrm>
          <a:prstGeom prst="roundRect">
            <a:avLst>
              <a:gd name="adj" fmla="val 2667"/>
            </a:avLst>
          </a:prstGeom>
          <a:solidFill>
            <a:schemeClr val="tx1"/>
          </a:solidFill>
          <a:ln/>
        </p:spPr>
      </p:sp>
      <p:sp>
        <p:nvSpPr>
          <p:cNvPr id="39" name="Text 29"/>
          <p:cNvSpPr txBox="1"/>
          <p:nvPr/>
        </p:nvSpPr>
        <p:spPr>
          <a:xfrm>
            <a:off x="5852160" y="1207008"/>
            <a:ext cx="2651760" cy="548640"/>
          </a:xfrm>
          <a:prstGeom prst="rect">
            <a:avLst/>
          </a:prstGeom>
          <a:noFill/>
          <a:ln/>
        </p:spPr>
        <p:txBody>
          <a:bodyPr wrap="square" lIns="0" tIns="0" rIns="0" bIns="0" rtlCol="0" anchor="t"/>
          <a:lstStyle/>
          <a:p>
            <a:pPr indent="0" marL="0">
              <a:buNone/>
            </a:pPr>
            <a:r>
              <a:rPr lang="it-IT" sz="1400" b="1" dirty="0">
                <a:solidFill>
                  <a:schemeClr val="bg1"/>
                </a:solidFill>
              </a:rPr>
              <a:t>Perché un testo fluido convince</a:t>
            </a:r>
            <a:endParaRPr lang="it-IT" sz="1400" dirty="0"/>
          </a:p>
        </p:txBody>
      </p:sp>
      <p:sp>
        <p:nvSpPr>
          <p:cNvPr id="40" name="Text 30"/>
          <p:cNvSpPr txBox="1"/>
          <p:nvPr/>
        </p:nvSpPr>
        <p:spPr>
          <a:xfrm>
            <a:off x="5852160" y="1783080"/>
            <a:ext cx="2651760" cy="1188720"/>
          </a:xfrm>
          <a:prstGeom prst="rect">
            <a:avLst/>
          </a:prstGeom>
          <a:noFill/>
          <a:ln/>
        </p:spPr>
        <p:txBody>
          <a:bodyPr wrap="square" lIns="0" tIns="0" rIns="0" bIns="0" rtlCol="0" anchor="t"/>
          <a:lstStyle/>
          <a:p>
            <a:pPr indent="0" marL="0">
              <a:buNone/>
            </a:pPr>
            <a:r>
              <a:rPr lang="it-IT" sz="1200" dirty="0">
                <a:solidFill>
                  <a:schemeClr val="accent3"/>
                </a:solidFill>
              </a:rPr>
              <a:t>Ciò che è facile da leggere tende a sembrare più vero (Reber e Schwarz, 1999). Tono sicuro, lessico tecnico e numeri precisi rafforzano l'effetto.</a:t>
            </a:r>
            <a:endParaRPr lang="it-IT" sz="1200" dirty="0"/>
          </a:p>
        </p:txBody>
      </p:sp>
      <p:sp>
        <p:nvSpPr>
          <p:cNvPr id="41" name="Text 31"/>
          <p:cNvSpPr txBox="1"/>
          <p:nvPr/>
        </p:nvSpPr>
        <p:spPr>
          <a:xfrm>
            <a:off x="5852160" y="3017520"/>
            <a:ext cx="2651760" cy="731520"/>
          </a:xfrm>
          <a:prstGeom prst="rect">
            <a:avLst/>
          </a:prstGeom>
          <a:noFill/>
          <a:ln/>
        </p:spPr>
        <p:txBody>
          <a:bodyPr wrap="square" lIns="0" tIns="0" rIns="0" bIns="0" rtlCol="0" anchor="t"/>
          <a:lstStyle/>
          <a:p>
            <a:pPr indent="0" marL="0">
              <a:buNone/>
            </a:pPr>
            <a:r>
              <a:rPr lang="it-IT" sz="1200" b="1" dirty="0">
                <a:solidFill>
                  <a:schemeClr val="accent1"/>
                </a:solidFill>
              </a:rPr>
              <a:t>Si contrasta con il metodo, non con la sola buona volontà.</a:t>
            </a:r>
            <a:endParaRPr lang="it-IT" sz="1200" dirty="0"/>
          </a:p>
        </p:txBody>
      </p:sp>
      <p:sp>
        <p:nvSpPr>
          <p:cNvPr id="42" name="Text 32"/>
          <p:cNvSpPr txBox="1"/>
          <p:nvPr/>
        </p:nvSpPr>
        <p:spPr>
          <a:xfrm>
            <a:off x="457200" y="4023360"/>
            <a:ext cx="8229600" cy="365760"/>
          </a:xfrm>
          <a:prstGeom prst="rect">
            <a:avLst/>
          </a:prstGeom>
          <a:noFill/>
          <a:ln/>
        </p:spPr>
        <p:txBody>
          <a:bodyPr wrap="square" lIns="0" tIns="0" rIns="0" bIns="0" rtlCol="0" anchor="t"/>
          <a:lstStyle/>
          <a:p>
            <a:pPr indent="0" marL="0">
              <a:buNone/>
            </a:pPr>
            <a:r>
              <a:rPr lang="it-IT" sz="1300" i="1" dirty="0">
                <a:solidFill>
                  <a:schemeClr val="tx1"/>
                </a:solidFill>
              </a:rPr>
              <a:t>Tendenze comuni a tutti: spingono verso troppa fiducia o troppo poca.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45</a:t>
            </a:fld>
            <a:endParaRPr lang="it-IT"/>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Bias di conferma nella verifica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scheda Come agisce"/>
          <p:cNvSpPr/>
          <p:nvPr/>
        </p:nvSpPr>
        <p:spPr>
          <a:xfrm>
            <a:off x="457200" y="1097280"/>
            <a:ext cx="3977640" cy="2377440"/>
          </a:xfrm>
          <a:prstGeom prst="roundRect">
            <a:avLst>
              <a:gd name="adj" fmla="val 3077"/>
            </a:avLst>
          </a:prstGeom>
          <a:solidFill>
            <a:schemeClr val="bg2"/>
          </a:solidFill>
          <a:ln/>
        </p:spPr>
      </p:sp>
      <p:sp>
        <p:nvSpPr>
          <p:cNvPr id="11" name="cerchio FiAlertTriangle"/>
          <p:cNvSpPr/>
          <p:nvPr/>
        </p:nvSpPr>
        <p:spPr>
          <a:xfrm>
            <a:off x="640080" y="1280160"/>
            <a:ext cx="457200" cy="457200"/>
          </a:xfrm>
          <a:prstGeom prst="ellipse">
            <a:avLst/>
          </a:prstGeom>
          <a:solidFill>
            <a:schemeClr val="accent5"/>
          </a:solidFill>
          <a:ln/>
        </p:spPr>
      </p:sp>
      <p:pic>
        <p:nvPicPr>
          <p:cNvPr id="12" name="Image 0" descr="FiAlertTriangle">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it-IT" sz="1600" b="1" dirty="0">
                <a:solidFill>
                  <a:schemeClr val="tx1"/>
                </a:solidFill>
              </a:rPr>
              <a:t>Come agisce</a:t>
            </a:r>
            <a:endParaRPr lang="it-IT" sz="1600" dirty="0"/>
          </a:p>
        </p:txBody>
      </p:sp>
      <p:sp>
        <p:nvSpPr>
          <p:cNvPr id="14" name="Text 10"/>
          <p:cNvSpPr txBox="1"/>
          <p:nvPr/>
        </p:nvSpPr>
        <p:spPr>
          <a:xfrm>
            <a:off x="640080" y="2231136"/>
            <a:ext cx="3611880" cy="1133856"/>
          </a:xfrm>
          <a:prstGeom prst="rect">
            <a:avLst/>
          </a:prstGeom>
          <a:noFill/>
          <a:ln/>
        </p:spPr>
        <p:txBody>
          <a:bodyPr wrap="square" lIns="0" tIns="0" rIns="0" bIns="0" rtlCol="0" anchor="t"/>
          <a:lstStyle/>
          <a:p>
            <a:pPr marL="177800" indent="-177800">
              <a:spcAft>
                <a:spcPts val="300"/>
              </a:spcAft>
              <a:buSzPct val="100000"/>
              <a:buChar char="•"/>
            </a:pPr>
            <a:r>
              <a:rPr lang="it-IT" sz="1200" dirty="0">
                <a:solidFill>
                  <a:schemeClr val="tx2"/>
                </a:solidFill>
              </a:rPr>
              <a:t>Verifica indulgente con ciò che conferma</a:t>
            </a:r>
            <a:endParaRPr lang="it-IT" sz="1200" dirty="0"/>
          </a:p>
          <a:p>
            <a:pPr marL="177800" indent="-177800">
              <a:spcAft>
                <a:spcPts val="300"/>
              </a:spcAft>
              <a:buSzPct val="100000"/>
              <a:buChar char="•"/>
            </a:pPr>
            <a:r>
              <a:rPr lang="it-IT" sz="1200" dirty="0">
                <a:solidFill>
                  <a:schemeClr val="tx2"/>
                </a:solidFill>
              </a:rPr>
              <a:t>Severa con ciò che contraddice</a:t>
            </a:r>
            <a:endParaRPr lang="it-IT" sz="1200" dirty="0"/>
          </a:p>
          <a:p>
            <a:pPr marL="177800" indent="-177800">
              <a:spcAft>
                <a:spcPts val="300"/>
              </a:spcAft>
              <a:buSzPct val="100000"/>
              <a:buChar char="•"/>
            </a:pPr>
            <a:r>
              <a:rPr lang="it-IT" sz="1200" dirty="0">
                <a:solidFill>
                  <a:schemeClr val="tx2"/>
                </a:solidFill>
              </a:rPr>
              <a:t>Domande che contengono già la risposta desiderata</a:t>
            </a:r>
            <a:endParaRPr lang="it-IT" sz="1200" dirty="0"/>
          </a:p>
          <a:p>
            <a:pPr marL="177800" indent="-177800">
              <a:spcAft>
                <a:spcPts val="300"/>
              </a:spcAft>
              <a:buSzPct val="100000"/>
              <a:buChar char="•"/>
            </a:pPr>
            <a:r>
              <a:rPr lang="it-IT" sz="1200" dirty="0">
                <a:solidFill>
                  <a:schemeClr val="tx2"/>
                </a:solidFill>
              </a:rPr>
              <a:t>Ci si ferma alla prima fonte che conferma</a:t>
            </a:r>
            <a:endParaRPr lang="it-IT" sz="1200" dirty="0"/>
          </a:p>
        </p:txBody>
      </p:sp>
      <p:sp>
        <p:nvSpPr>
          <p:cNvPr id="15" name="scheda Contromisure"/>
          <p:cNvSpPr/>
          <p:nvPr/>
        </p:nvSpPr>
        <p:spPr>
          <a:xfrm>
            <a:off x="4709160" y="1097280"/>
            <a:ext cx="3977640" cy="2377440"/>
          </a:xfrm>
          <a:prstGeom prst="roundRect">
            <a:avLst>
              <a:gd name="adj" fmla="val 3077"/>
            </a:avLst>
          </a:prstGeom>
          <a:solidFill>
            <a:schemeClr val="accent6"/>
          </a:solidFill>
          <a:ln/>
        </p:spPr>
      </p:sp>
      <p:sp>
        <p:nvSpPr>
          <p:cNvPr id="16" name="cerchio FiShield"/>
          <p:cNvSpPr/>
          <p:nvPr/>
        </p:nvSpPr>
        <p:spPr>
          <a:xfrm>
            <a:off x="4892040" y="1280160"/>
            <a:ext cx="457200" cy="457200"/>
          </a:xfrm>
          <a:prstGeom prst="ellipse">
            <a:avLst/>
          </a:prstGeom>
          <a:solidFill>
            <a:schemeClr val="accent1"/>
          </a:solidFill>
          <a:ln/>
        </p:spPr>
      </p:sp>
      <p:pic>
        <p:nvPicPr>
          <p:cNvPr id="17" name="Image 1" descr="FiShield">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4892040" y="1847088"/>
            <a:ext cx="3611880" cy="347472"/>
          </a:xfrm>
          <a:prstGeom prst="rect">
            <a:avLst/>
          </a:prstGeom>
          <a:noFill/>
          <a:ln/>
        </p:spPr>
        <p:txBody>
          <a:bodyPr wrap="square" lIns="0" tIns="0" rIns="0" bIns="0" rtlCol="0" anchor="t"/>
          <a:lstStyle/>
          <a:p>
            <a:pPr indent="0" marL="0">
              <a:buNone/>
            </a:pPr>
            <a:r>
              <a:rPr lang="it-IT" sz="1600" b="1" dirty="0">
                <a:solidFill>
                  <a:schemeClr val="tx1"/>
                </a:solidFill>
              </a:rPr>
              <a:t>Contromisure</a:t>
            </a:r>
            <a:endParaRPr lang="it-IT" sz="1600" dirty="0"/>
          </a:p>
        </p:txBody>
      </p:sp>
      <p:sp>
        <p:nvSpPr>
          <p:cNvPr id="19" name="Text 14"/>
          <p:cNvSpPr txBox="1"/>
          <p:nvPr/>
        </p:nvSpPr>
        <p:spPr>
          <a:xfrm>
            <a:off x="4892040" y="2231136"/>
            <a:ext cx="3611880" cy="1133856"/>
          </a:xfrm>
          <a:prstGeom prst="rect">
            <a:avLst/>
          </a:prstGeom>
          <a:noFill/>
          <a:ln/>
        </p:spPr>
        <p:txBody>
          <a:bodyPr wrap="square" lIns="0" tIns="0" rIns="0" bIns="0" rtlCol="0" anchor="t"/>
          <a:lstStyle/>
          <a:p>
            <a:pPr marL="177800" indent="-177800">
              <a:spcAft>
                <a:spcPts val="300"/>
              </a:spcAft>
              <a:buSzPct val="100000"/>
              <a:buChar char="•"/>
            </a:pPr>
            <a:r>
              <a:rPr lang="it-IT" sz="1200" dirty="0">
                <a:solidFill>
                  <a:schemeClr val="tx2"/>
                </a:solidFill>
              </a:rPr>
              <a:t>Stesso livello di verifica, con una checklist fissa</a:t>
            </a:r>
            <a:endParaRPr lang="it-IT" sz="1200" dirty="0"/>
          </a:p>
          <a:p>
            <a:pPr marL="177800" indent="-177800">
              <a:spcAft>
                <a:spcPts val="300"/>
              </a:spcAft>
              <a:buSzPct val="100000"/>
              <a:buChar char="•"/>
            </a:pPr>
            <a:r>
              <a:rPr lang="it-IT" sz="1200" dirty="0">
                <a:solidFill>
                  <a:schemeClr val="tx2"/>
                </a:solidFill>
              </a:rPr>
              <a:t>"Che cosa troverei se avessi torto?"</a:t>
            </a:r>
            <a:endParaRPr lang="it-IT" sz="1200" dirty="0"/>
          </a:p>
          <a:p>
            <a:pPr marL="177800" indent="-177800">
              <a:spcAft>
                <a:spcPts val="300"/>
              </a:spcAft>
              <a:buSzPct val="100000"/>
              <a:buChar char="•"/>
            </a:pPr>
            <a:r>
              <a:rPr lang="it-IT" sz="1200" dirty="0">
                <a:solidFill>
                  <a:schemeClr val="tx2"/>
                </a:solidFill>
              </a:rPr>
              <a:t>Chiedere all'AI gli argomenti contrari</a:t>
            </a:r>
            <a:endParaRPr lang="it-IT" sz="1200" dirty="0"/>
          </a:p>
          <a:p>
            <a:pPr marL="177800" indent="-177800">
              <a:spcAft>
                <a:spcPts val="300"/>
              </a:spcAft>
              <a:buSzPct val="100000"/>
              <a:buChar char="•"/>
            </a:pPr>
            <a:r>
              <a:rPr lang="it-IT" sz="1200" dirty="0">
                <a:solidFill>
                  <a:schemeClr val="tx2"/>
                </a:solidFill>
              </a:rPr>
              <a:t>Far verificare a chi non ha preferenze</a:t>
            </a:r>
            <a:endParaRPr lang="it-IT" sz="1200" dirty="0"/>
          </a:p>
        </p:txBody>
      </p:sp>
      <p:sp>
        <p:nvSpPr>
          <p:cNvPr id="20" name="messaggio"/>
          <p:cNvSpPr/>
          <p:nvPr/>
        </p:nvSpPr>
        <p:spPr>
          <a:xfrm>
            <a:off x="457200" y="3657600"/>
            <a:ext cx="8229600" cy="822960"/>
          </a:xfrm>
          <a:prstGeom prst="roundRect">
            <a:avLst>
              <a:gd name="adj" fmla="val 8889"/>
            </a:avLst>
          </a:prstGeom>
          <a:solidFill>
            <a:schemeClr val="tx1"/>
          </a:solidFill>
          <a:ln/>
        </p:spPr>
      </p:sp>
      <p:sp>
        <p:nvSpPr>
          <p:cNvPr id="21" name="Text 16"/>
          <p:cNvSpPr txBox="1"/>
          <p:nvPr/>
        </p:nvSpPr>
        <p:spPr>
          <a:xfrm>
            <a:off x="640080" y="3657600"/>
            <a:ext cx="7863840" cy="822960"/>
          </a:xfrm>
          <a:prstGeom prst="rect">
            <a:avLst/>
          </a:prstGeom>
          <a:noFill/>
          <a:ln/>
        </p:spPr>
        <p:txBody>
          <a:bodyPr wrap="square" lIns="0" tIns="0" rIns="0" bIns="0" rtlCol="0" anchor="ctr"/>
          <a:lstStyle/>
          <a:p>
            <a:pPr indent="0" marL="0">
              <a:buNone/>
            </a:pPr>
            <a:r>
              <a:rPr lang="it-IT" sz="1300" dirty="0">
                <a:solidFill>
                  <a:schemeClr val="bg1"/>
                </a:solidFill>
              </a:rPr>
              <a:t>Il rischio: una verifica asimmetrica, severa con le informazioni scomode e indulgente con quelle gradite.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46</a:t>
            </a:fld>
            <a:endParaRPr lang="it-IT"/>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Preservare l'autonomia di giudizio</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Decidere</a:t>
            </a:r>
            <a:endParaRPr lang="it-IT" sz="900" dirty="0"/>
          </a:p>
        </p:txBody>
      </p:sp>
      <p:sp>
        <p:nvSpPr>
          <p:cNvPr id="10" name="Opinione prima della lettura"/>
          <p:cNvSpPr/>
          <p:nvPr/>
        </p:nvSpPr>
        <p:spPr>
          <a:xfrm>
            <a:off x="457200" y="1097280"/>
            <a:ext cx="2621280" cy="1325880"/>
          </a:xfrm>
          <a:prstGeom prst="roundRect">
            <a:avLst>
              <a:gd name="adj" fmla="val 5517"/>
            </a:avLst>
          </a:prstGeom>
          <a:solidFill>
            <a:schemeClr val="bg2"/>
          </a:solidFill>
          <a:ln/>
        </p:spPr>
      </p:sp>
      <p:sp>
        <p:nvSpPr>
          <p:cNvPr id="11" name="cerchio FiZap"/>
          <p:cNvSpPr/>
          <p:nvPr/>
        </p:nvSpPr>
        <p:spPr>
          <a:xfrm>
            <a:off x="621792" y="1261872"/>
            <a:ext cx="438912" cy="438912"/>
          </a:xfrm>
          <a:prstGeom prst="ellipse">
            <a:avLst/>
          </a:prstGeom>
          <a:solidFill>
            <a:schemeClr val="accent1"/>
          </a:solidFill>
          <a:ln/>
        </p:spPr>
      </p:sp>
      <p:pic>
        <p:nvPicPr>
          <p:cNvPr id="12" name="Image 0" descr="FiZap">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Opinione prima della lettura</a:t>
            </a:r>
            <a:endParaRPr lang="it-IT" sz="1300" dirty="0"/>
          </a:p>
        </p:txBody>
      </p:sp>
      <p:sp>
        <p:nvSpPr>
          <p:cNvPr id="14" name="Text 10"/>
          <p:cNvSpPr txBox="1"/>
          <p:nvPr/>
        </p:nvSpPr>
        <p:spPr>
          <a:xfrm>
            <a:off x="621792" y="1810512"/>
            <a:ext cx="2292096" cy="521208"/>
          </a:xfrm>
          <a:prstGeom prst="rect">
            <a:avLst/>
          </a:prstGeom>
          <a:noFill/>
          <a:ln/>
        </p:spPr>
        <p:txBody>
          <a:bodyPr wrap="square" lIns="0" tIns="0" rIns="0" bIns="0" rtlCol="0" anchor="t"/>
          <a:lstStyle/>
          <a:p>
            <a:pPr indent="0" marL="0">
              <a:buNone/>
            </a:pPr>
            <a:r>
              <a:rPr lang="it-IT" sz="1200" dirty="0">
                <a:solidFill>
                  <a:schemeClr val="tx2"/>
                </a:solidFill>
              </a:rPr>
              <a:t>Un termine di confronto contro l'ancoraggio</a:t>
            </a:r>
            <a:endParaRPr lang="it-IT" sz="1200" dirty="0"/>
          </a:p>
        </p:txBody>
      </p:sp>
      <p:sp>
        <p:nvSpPr>
          <p:cNvPr id="15" name="Checklist fissate in anticipo"/>
          <p:cNvSpPr/>
          <p:nvPr/>
        </p:nvSpPr>
        <p:spPr>
          <a:xfrm>
            <a:off x="3261360" y="1097280"/>
            <a:ext cx="2621280" cy="1325880"/>
          </a:xfrm>
          <a:prstGeom prst="roundRect">
            <a:avLst>
              <a:gd name="adj" fmla="val 5517"/>
            </a:avLst>
          </a:prstGeom>
          <a:solidFill>
            <a:schemeClr val="bg2"/>
          </a:solidFill>
          <a:ln/>
        </p:spPr>
      </p:sp>
      <p:sp>
        <p:nvSpPr>
          <p:cNvPr id="16" name="cerchio FiList"/>
          <p:cNvSpPr/>
          <p:nvPr/>
        </p:nvSpPr>
        <p:spPr>
          <a:xfrm>
            <a:off x="3425952" y="1261872"/>
            <a:ext cx="438912" cy="438912"/>
          </a:xfrm>
          <a:prstGeom prst="ellipse">
            <a:avLst/>
          </a:prstGeom>
          <a:solidFill>
            <a:schemeClr val="accent1"/>
          </a:solidFill>
          <a:ln/>
        </p:spPr>
      </p:sp>
      <p:pic>
        <p:nvPicPr>
          <p:cNvPr id="17" name="Image 1" descr="FiList">    </p:cNvPr>
          <p:cNvPicPr>
            <a:picLocks noChangeAspect="1"/>
          </p:cNvPicPr>
          <p:nvPr/>
        </p:nvPicPr>
        <p:blipFill>
          <a:blip r:embed="rId2"/>
          <a:stretch>
            <a:fillRect/>
          </a:stretch>
        </p:blipFill>
        <p:spPr>
          <a:xfrm>
            <a:off x="3535680" y="1371600"/>
            <a:ext cx="219456" cy="219456"/>
          </a:xfrm>
          <a:prstGeom prst="rect">
            <a:avLst/>
          </a:prstGeom>
        </p:spPr>
      </p:pic>
      <p:sp>
        <p:nvSpPr>
          <p:cNvPr id="18" name="Text 13"/>
          <p:cNvSpPr txBox="1"/>
          <p:nvPr/>
        </p:nvSpPr>
        <p:spPr>
          <a:xfrm>
            <a:off x="397459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Checklist fissate in anticipo</a:t>
            </a:r>
            <a:endParaRPr lang="it-IT" sz="1300" dirty="0"/>
          </a:p>
        </p:txBody>
      </p:sp>
      <p:sp>
        <p:nvSpPr>
          <p:cNvPr id="19" name="Text 14"/>
          <p:cNvSpPr txBox="1"/>
          <p:nvPr/>
        </p:nvSpPr>
        <p:spPr>
          <a:xfrm>
            <a:off x="3425952" y="1810512"/>
            <a:ext cx="2292096" cy="521208"/>
          </a:xfrm>
          <a:prstGeom prst="rect">
            <a:avLst/>
          </a:prstGeom>
          <a:noFill/>
          <a:ln/>
        </p:spPr>
        <p:txBody>
          <a:bodyPr wrap="square" lIns="0" tIns="0" rIns="0" bIns="0" rtlCol="0" anchor="t"/>
          <a:lstStyle/>
          <a:p>
            <a:pPr indent="0" marL="0">
              <a:buNone/>
            </a:pPr>
            <a:r>
              <a:rPr lang="it-IT" sz="1200" dirty="0">
                <a:solidFill>
                  <a:schemeClr val="tx2"/>
                </a:solidFill>
              </a:rPr>
              <a:t>Meno dipendenza dall'impressione</a:t>
            </a:r>
            <a:endParaRPr lang="it-IT" sz="1200" dirty="0"/>
          </a:p>
        </p:txBody>
      </p:sp>
      <p:sp>
        <p:nvSpPr>
          <p:cNvPr id="20" name="Considerare l'opposto"/>
          <p:cNvSpPr/>
          <p:nvPr/>
        </p:nvSpPr>
        <p:spPr>
          <a:xfrm>
            <a:off x="6065520" y="1097280"/>
            <a:ext cx="2621280" cy="1325880"/>
          </a:xfrm>
          <a:prstGeom prst="roundRect">
            <a:avLst>
              <a:gd name="adj" fmla="val 5517"/>
            </a:avLst>
          </a:prstGeom>
          <a:solidFill>
            <a:schemeClr val="bg2"/>
          </a:solidFill>
          <a:ln/>
        </p:spPr>
      </p:sp>
      <p:sp>
        <p:nvSpPr>
          <p:cNvPr id="21" name="cerchio FiRepeat"/>
          <p:cNvSpPr/>
          <p:nvPr/>
        </p:nvSpPr>
        <p:spPr>
          <a:xfrm>
            <a:off x="6230112" y="1261872"/>
            <a:ext cx="438912" cy="438912"/>
          </a:xfrm>
          <a:prstGeom prst="ellipse">
            <a:avLst/>
          </a:prstGeom>
          <a:solidFill>
            <a:schemeClr val="accent1"/>
          </a:solidFill>
          <a:ln/>
        </p:spPr>
      </p:sp>
      <p:pic>
        <p:nvPicPr>
          <p:cNvPr id="22" name="Image 2" descr="FiRepeat">    </p:cNvPr>
          <p:cNvPicPr>
            <a:picLocks noChangeAspect="1"/>
          </p:cNvPicPr>
          <p:nvPr/>
        </p:nvPicPr>
        <p:blipFill>
          <a:blip r:embed="rId3"/>
          <a:stretch>
            <a:fillRect/>
          </a:stretch>
        </p:blipFill>
        <p:spPr>
          <a:xfrm>
            <a:off x="6339840" y="1371600"/>
            <a:ext cx="219456" cy="219456"/>
          </a:xfrm>
          <a:prstGeom prst="rect">
            <a:avLst/>
          </a:prstGeom>
        </p:spPr>
      </p:pic>
      <p:sp>
        <p:nvSpPr>
          <p:cNvPr id="23" name="Text 17"/>
          <p:cNvSpPr txBox="1"/>
          <p:nvPr/>
        </p:nvSpPr>
        <p:spPr>
          <a:xfrm>
            <a:off x="677875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Considerare l'opposto</a:t>
            </a:r>
            <a:endParaRPr lang="it-IT" sz="1300" dirty="0"/>
          </a:p>
        </p:txBody>
      </p:sp>
      <p:sp>
        <p:nvSpPr>
          <p:cNvPr id="24" name="Text 18"/>
          <p:cNvSpPr txBox="1"/>
          <p:nvPr/>
        </p:nvSpPr>
        <p:spPr>
          <a:xfrm>
            <a:off x="6230112" y="1810512"/>
            <a:ext cx="2292096" cy="521208"/>
          </a:xfrm>
          <a:prstGeom prst="rect">
            <a:avLst/>
          </a:prstGeom>
          <a:noFill/>
          <a:ln/>
        </p:spPr>
        <p:txBody>
          <a:bodyPr wrap="square" lIns="0" tIns="0" rIns="0" bIns="0" rtlCol="0" anchor="t"/>
          <a:lstStyle/>
          <a:p>
            <a:pPr indent="0" marL="0">
              <a:buNone/>
            </a:pPr>
            <a:r>
              <a:rPr lang="it-IT" sz="1200" dirty="0">
                <a:solidFill>
                  <a:schemeClr val="tx2"/>
                </a:solidFill>
              </a:rPr>
              <a:t>Perché potrebbe essere sbagliata?</a:t>
            </a:r>
            <a:endParaRPr lang="it-IT" sz="1200" dirty="0"/>
          </a:p>
        </p:txBody>
      </p:sp>
      <p:sp>
        <p:nvSpPr>
          <p:cNvPr id="25" name="Rallentare sui punti critici"/>
          <p:cNvSpPr/>
          <p:nvPr/>
        </p:nvSpPr>
        <p:spPr>
          <a:xfrm>
            <a:off x="457200" y="2606040"/>
            <a:ext cx="2621280" cy="1325880"/>
          </a:xfrm>
          <a:prstGeom prst="roundRect">
            <a:avLst>
              <a:gd name="adj" fmla="val 5517"/>
            </a:avLst>
          </a:prstGeom>
          <a:solidFill>
            <a:schemeClr val="bg2"/>
          </a:solidFill>
          <a:ln/>
        </p:spPr>
      </p:sp>
      <p:sp>
        <p:nvSpPr>
          <p:cNvPr id="26" name="cerchio FiClock"/>
          <p:cNvSpPr/>
          <p:nvPr/>
        </p:nvSpPr>
        <p:spPr>
          <a:xfrm>
            <a:off x="621792" y="2770632"/>
            <a:ext cx="438912" cy="438912"/>
          </a:xfrm>
          <a:prstGeom prst="ellipse">
            <a:avLst/>
          </a:prstGeom>
          <a:solidFill>
            <a:schemeClr val="accent1"/>
          </a:solidFill>
          <a:ln/>
        </p:spPr>
      </p:sp>
      <p:pic>
        <p:nvPicPr>
          <p:cNvPr id="27" name="Image 3" descr="FiClock">    </p:cNvPr>
          <p:cNvPicPr>
            <a:picLocks noChangeAspect="1"/>
          </p:cNvPicPr>
          <p:nvPr/>
        </p:nvPicPr>
        <p:blipFill>
          <a:blip r:embed="rId4"/>
          <a:stretch>
            <a:fillRect/>
          </a:stretch>
        </p:blipFill>
        <p:spPr>
          <a:xfrm>
            <a:off x="731520" y="2880360"/>
            <a:ext cx="219456" cy="219456"/>
          </a:xfrm>
          <a:prstGeom prst="rect">
            <a:avLst/>
          </a:prstGeom>
        </p:spPr>
      </p:pic>
      <p:sp>
        <p:nvSpPr>
          <p:cNvPr id="28" name="Text 21"/>
          <p:cNvSpPr txBox="1"/>
          <p:nvPr/>
        </p:nvSpPr>
        <p:spPr>
          <a:xfrm>
            <a:off x="1170432" y="273405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Rallentare sui punti critici</a:t>
            </a:r>
            <a:endParaRPr lang="it-IT" sz="1300" dirty="0"/>
          </a:p>
        </p:txBody>
      </p:sp>
      <p:sp>
        <p:nvSpPr>
          <p:cNvPr id="29" name="Text 22"/>
          <p:cNvSpPr txBox="1"/>
          <p:nvPr/>
        </p:nvSpPr>
        <p:spPr>
          <a:xfrm>
            <a:off x="621792" y="3319272"/>
            <a:ext cx="2292096" cy="521208"/>
          </a:xfrm>
          <a:prstGeom prst="rect">
            <a:avLst/>
          </a:prstGeom>
          <a:noFill/>
          <a:ln/>
        </p:spPr>
        <p:txBody>
          <a:bodyPr wrap="square" lIns="0" tIns="0" rIns="0" bIns="0" rtlCol="0" anchor="t"/>
          <a:lstStyle/>
          <a:p>
            <a:pPr indent="0" marL="0">
              <a:buNone/>
            </a:pPr>
            <a:r>
              <a:rPr lang="it-IT" sz="1200" dirty="0">
                <a:solidFill>
                  <a:schemeClr val="tx2"/>
                </a:solidFill>
              </a:rPr>
              <a:t>Dal giudizio automatico al ragionamento</a:t>
            </a:r>
            <a:endParaRPr lang="it-IT" sz="1200" dirty="0"/>
          </a:p>
        </p:txBody>
      </p:sp>
      <p:sp>
        <p:nvSpPr>
          <p:cNvPr id="30" name="Separare produzione e verifica"/>
          <p:cNvSpPr/>
          <p:nvPr/>
        </p:nvSpPr>
        <p:spPr>
          <a:xfrm>
            <a:off x="3261360" y="2606040"/>
            <a:ext cx="2621280" cy="1325880"/>
          </a:xfrm>
          <a:prstGeom prst="roundRect">
            <a:avLst>
              <a:gd name="adj" fmla="val 5517"/>
            </a:avLst>
          </a:prstGeom>
          <a:solidFill>
            <a:schemeClr val="bg2"/>
          </a:solidFill>
          <a:ln/>
        </p:spPr>
      </p:sp>
      <p:sp>
        <p:nvSpPr>
          <p:cNvPr id="31" name="cerchio FiUsers"/>
          <p:cNvSpPr/>
          <p:nvPr/>
        </p:nvSpPr>
        <p:spPr>
          <a:xfrm>
            <a:off x="3425952" y="2770632"/>
            <a:ext cx="438912" cy="438912"/>
          </a:xfrm>
          <a:prstGeom prst="ellipse">
            <a:avLst/>
          </a:prstGeom>
          <a:solidFill>
            <a:schemeClr val="accent1"/>
          </a:solidFill>
          <a:ln/>
        </p:spPr>
      </p:sp>
      <p:pic>
        <p:nvPicPr>
          <p:cNvPr id="32" name="Image 4" descr="FiUsers">    </p:cNvPr>
          <p:cNvPicPr>
            <a:picLocks noChangeAspect="1"/>
          </p:cNvPicPr>
          <p:nvPr/>
        </p:nvPicPr>
        <p:blipFill>
          <a:blip r:embed="rId5"/>
          <a:stretch>
            <a:fillRect/>
          </a:stretch>
        </p:blipFill>
        <p:spPr>
          <a:xfrm>
            <a:off x="3535680" y="2880360"/>
            <a:ext cx="219456" cy="219456"/>
          </a:xfrm>
          <a:prstGeom prst="rect">
            <a:avLst/>
          </a:prstGeom>
        </p:spPr>
      </p:pic>
      <p:sp>
        <p:nvSpPr>
          <p:cNvPr id="33" name="Text 25"/>
          <p:cNvSpPr txBox="1"/>
          <p:nvPr/>
        </p:nvSpPr>
        <p:spPr>
          <a:xfrm>
            <a:off x="3974592" y="273405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Separare produzione e verifica</a:t>
            </a:r>
            <a:endParaRPr lang="it-IT" sz="1300" dirty="0"/>
          </a:p>
        </p:txBody>
      </p:sp>
      <p:sp>
        <p:nvSpPr>
          <p:cNvPr id="34" name="Text 26"/>
          <p:cNvSpPr txBox="1"/>
          <p:nvPr/>
        </p:nvSpPr>
        <p:spPr>
          <a:xfrm>
            <a:off x="3425952" y="3319272"/>
            <a:ext cx="2292096" cy="521208"/>
          </a:xfrm>
          <a:prstGeom prst="rect">
            <a:avLst/>
          </a:prstGeom>
          <a:noFill/>
          <a:ln/>
        </p:spPr>
        <p:txBody>
          <a:bodyPr wrap="square" lIns="0" tIns="0" rIns="0" bIns="0" rtlCol="0" anchor="t"/>
          <a:lstStyle/>
          <a:p>
            <a:pPr indent="0" marL="0">
              <a:buNone/>
            </a:pPr>
            <a:r>
              <a:rPr lang="it-IT" sz="1200" dirty="0">
                <a:solidFill>
                  <a:schemeClr val="tx2"/>
                </a:solidFill>
              </a:rPr>
              <a:t>Tempo o un'altra persona</a:t>
            </a:r>
            <a:endParaRPr lang="it-IT" sz="1200" dirty="0"/>
          </a:p>
        </p:txBody>
      </p:sp>
      <p:sp>
        <p:nvSpPr>
          <p:cNvPr id="35" name="Tenere traccia di errori e successi"/>
          <p:cNvSpPr/>
          <p:nvPr/>
        </p:nvSpPr>
        <p:spPr>
          <a:xfrm>
            <a:off x="6065520" y="2606040"/>
            <a:ext cx="2621280" cy="1325880"/>
          </a:xfrm>
          <a:prstGeom prst="roundRect">
            <a:avLst>
              <a:gd name="adj" fmla="val 5517"/>
            </a:avLst>
          </a:prstGeom>
          <a:solidFill>
            <a:schemeClr val="bg2"/>
          </a:solidFill>
          <a:ln/>
        </p:spPr>
      </p:sp>
      <p:sp>
        <p:nvSpPr>
          <p:cNvPr id="36" name="cerchio FiBookmark"/>
          <p:cNvSpPr/>
          <p:nvPr/>
        </p:nvSpPr>
        <p:spPr>
          <a:xfrm>
            <a:off x="6230112" y="2770632"/>
            <a:ext cx="438912" cy="438912"/>
          </a:xfrm>
          <a:prstGeom prst="ellipse">
            <a:avLst/>
          </a:prstGeom>
          <a:solidFill>
            <a:schemeClr val="accent1"/>
          </a:solidFill>
          <a:ln/>
        </p:spPr>
      </p:sp>
      <p:pic>
        <p:nvPicPr>
          <p:cNvPr id="37" name="Image 5" descr="FiBookmark">    </p:cNvPr>
          <p:cNvPicPr>
            <a:picLocks noChangeAspect="1"/>
          </p:cNvPicPr>
          <p:nvPr/>
        </p:nvPicPr>
        <p:blipFill>
          <a:blip r:embed="rId6"/>
          <a:stretch>
            <a:fillRect/>
          </a:stretch>
        </p:blipFill>
        <p:spPr>
          <a:xfrm>
            <a:off x="6339840" y="2880360"/>
            <a:ext cx="219456" cy="219456"/>
          </a:xfrm>
          <a:prstGeom prst="rect">
            <a:avLst/>
          </a:prstGeom>
        </p:spPr>
      </p:pic>
      <p:sp>
        <p:nvSpPr>
          <p:cNvPr id="38" name="Text 29"/>
          <p:cNvSpPr txBox="1"/>
          <p:nvPr/>
        </p:nvSpPr>
        <p:spPr>
          <a:xfrm>
            <a:off x="6778752" y="273405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Tenere traccia di errori e successi</a:t>
            </a:r>
            <a:endParaRPr lang="it-IT" sz="1300" dirty="0"/>
          </a:p>
        </p:txBody>
      </p:sp>
      <p:sp>
        <p:nvSpPr>
          <p:cNvPr id="39" name="Text 30"/>
          <p:cNvSpPr txBox="1"/>
          <p:nvPr/>
        </p:nvSpPr>
        <p:spPr>
          <a:xfrm>
            <a:off x="6230112" y="3319272"/>
            <a:ext cx="2292096" cy="521208"/>
          </a:xfrm>
          <a:prstGeom prst="rect">
            <a:avLst/>
          </a:prstGeom>
          <a:noFill/>
          <a:ln/>
        </p:spPr>
        <p:txBody>
          <a:bodyPr wrap="square" lIns="0" tIns="0" rIns="0" bIns="0" rtlCol="0" anchor="t"/>
          <a:lstStyle/>
          <a:p>
            <a:pPr indent="0" marL="0">
              <a:buNone/>
            </a:pPr>
            <a:r>
              <a:rPr lang="it-IT" sz="1200" dirty="0">
                <a:solidFill>
                  <a:schemeClr val="tx2"/>
                </a:solidFill>
              </a:rPr>
              <a:t>Per calibrare la fiducia in entrambe le direzioni</a:t>
            </a:r>
            <a:endParaRPr lang="it-IT" sz="1200" dirty="0"/>
          </a:p>
        </p:txBody>
      </p:sp>
      <p:sp>
        <p:nvSpPr>
          <p:cNvPr id="40" name="messaggio"/>
          <p:cNvSpPr/>
          <p:nvPr/>
        </p:nvSpPr>
        <p:spPr>
          <a:xfrm>
            <a:off x="457200" y="4114800"/>
            <a:ext cx="8229600" cy="457200"/>
          </a:xfrm>
          <a:prstGeom prst="roundRect">
            <a:avLst>
              <a:gd name="adj" fmla="val 16000"/>
            </a:avLst>
          </a:prstGeom>
          <a:solidFill>
            <a:schemeClr val="tx1"/>
          </a:solidFill>
          <a:ln/>
        </p:spPr>
      </p:sp>
      <p:sp>
        <p:nvSpPr>
          <p:cNvPr id="41" name="Text 32"/>
          <p:cNvSpPr txBox="1"/>
          <p:nvPr/>
        </p:nvSpPr>
        <p:spPr>
          <a:xfrm>
            <a:off x="640080" y="4114800"/>
            <a:ext cx="7863840" cy="457200"/>
          </a:xfrm>
          <a:prstGeom prst="rect">
            <a:avLst/>
          </a:prstGeom>
          <a:noFill/>
          <a:ln/>
        </p:spPr>
        <p:txBody>
          <a:bodyPr wrap="square" lIns="0" tIns="0" rIns="0" bIns="0" rtlCol="0" anchor="ctr"/>
          <a:lstStyle/>
          <a:p>
            <a:pPr indent="0" marL="0">
              <a:buNone/>
            </a:pPr>
            <a:r>
              <a:rPr lang="it-IT" sz="1300" dirty="0">
                <a:solidFill>
                  <a:schemeClr val="bg1"/>
                </a:solidFill>
              </a:rPr>
              <a:t>Il miglior metodo di verifica funziona solo se chi lo applica riconosce i propri bias.</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47</a:t>
            </a:fld>
            <a:endParaRPr lang="it-IT"/>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it-IT" sz="2600" dirty="0">
                <a:solidFill>
                  <a:schemeClr val="bg1"/>
                </a:solidFill>
              </a:rPr>
              <a:t>L'affidabilità del processo dipende anche dall'atteggiamento di chi valuta il risultato e dalla capacità di riconoscere i propri bias.</a:t>
            </a:r>
            <a:endParaRPr lang="it-IT"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it-IT" sz="1300" dirty="0">
                <a:solidFill>
                  <a:schemeClr val="accent3"/>
                </a:solidFill>
              </a:rPr>
              <a:t>Sottotema 7.7  ·  Bias cognitivi e fiducia nell'AI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48</a:t>
            </a:fld>
            <a:endParaRPr lang="it-IT"/>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7.8</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Validazione e responsabilità nell'uso</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Validare significa decidere se un output, con le verifiche fatte e le incertezze residue, è adeguato a uno specifico utilizzo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49</a:t>
            </a:fld>
            <a:endParaRPr lang="it-IT"/>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Plausibile, verificato, validato</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Decidere</a:t>
            </a:r>
            <a:endParaRPr lang="it-IT" sz="900" dirty="0"/>
          </a:p>
        </p:txBody>
      </p:sp>
      <p:sp>
        <p:nvSpPr>
          <p:cNvPr id="10" name="Plausibile"/>
          <p:cNvSpPr/>
          <p:nvPr/>
        </p:nvSpPr>
        <p:spPr>
          <a:xfrm>
            <a:off x="457200" y="1097280"/>
            <a:ext cx="2615184" cy="2286000"/>
          </a:xfrm>
          <a:prstGeom prst="roundRect">
            <a:avLst>
              <a:gd name="adj" fmla="val 3200"/>
            </a:avLst>
          </a:prstGeom>
          <a:solidFill>
            <a:schemeClr val="bg2"/>
          </a:solidFill>
          <a:ln/>
        </p:spPr>
      </p:sp>
      <p:sp>
        <p:nvSpPr>
          <p:cNvPr id="11" name="Text 8"/>
          <p:cNvSpPr txBox="1"/>
          <p:nvPr/>
        </p:nvSpPr>
        <p:spPr>
          <a:xfrm>
            <a:off x="640080" y="1207008"/>
            <a:ext cx="2249424" cy="411480"/>
          </a:xfrm>
          <a:prstGeom prst="rect">
            <a:avLst/>
          </a:prstGeom>
          <a:noFill/>
          <a:ln/>
        </p:spPr>
        <p:txBody>
          <a:bodyPr wrap="square" lIns="0" tIns="0" rIns="0" bIns="0" rtlCol="0" anchor="t"/>
          <a:lstStyle/>
          <a:p>
            <a:pPr indent="0" marL="0">
              <a:buNone/>
            </a:pPr>
            <a:r>
              <a:rPr lang="it-IT" sz="1900" b="1" dirty="0">
                <a:solidFill>
                  <a:schemeClr val="accent1"/>
                </a:solidFill>
              </a:rPr>
              <a:t>Plausibile</a:t>
            </a:r>
            <a:endParaRPr lang="it-IT" sz="1900" dirty="0"/>
          </a:p>
        </p:txBody>
      </p:sp>
      <p:sp>
        <p:nvSpPr>
          <p:cNvPr id="12" name="Text 9"/>
          <p:cNvSpPr txBox="1"/>
          <p:nvPr/>
        </p:nvSpPr>
        <p:spPr>
          <a:xfrm>
            <a:off x="640080" y="1691640"/>
            <a:ext cx="2249424" cy="868680"/>
          </a:xfrm>
          <a:prstGeom prst="rect">
            <a:avLst/>
          </a:prstGeom>
          <a:noFill/>
          <a:ln/>
        </p:spPr>
        <p:txBody>
          <a:bodyPr wrap="square" lIns="0" tIns="0" rIns="0" bIns="0" rtlCol="0" anchor="t"/>
          <a:lstStyle/>
          <a:p>
            <a:pPr indent="0" marL="0">
              <a:buNone/>
            </a:pPr>
            <a:r>
              <a:rPr lang="it-IT" sz="1300" dirty="0">
                <a:solidFill>
                  <a:schemeClr val="tx1"/>
                </a:solidFill>
              </a:rPr>
              <a:t>Sembra corretto: ben scritto, coerente, credibile</a:t>
            </a:r>
            <a:endParaRPr lang="it-IT" sz="1300" dirty="0"/>
          </a:p>
        </p:txBody>
      </p:sp>
      <p:sp>
        <p:nvSpPr>
          <p:cNvPr id="13" name="Text 10"/>
          <p:cNvSpPr txBox="1"/>
          <p:nvPr/>
        </p:nvSpPr>
        <p:spPr>
          <a:xfrm>
            <a:off x="640080" y="2651760"/>
            <a:ext cx="2249424" cy="640080"/>
          </a:xfrm>
          <a:prstGeom prst="rect">
            <a:avLst/>
          </a:prstGeom>
          <a:noFill/>
          <a:ln/>
        </p:spPr>
        <p:txBody>
          <a:bodyPr wrap="square" lIns="0" tIns="0" rIns="0" bIns="0" rtlCol="0" anchor="t"/>
          <a:lstStyle/>
          <a:p>
            <a:pPr indent="0" marL="0">
              <a:buNone/>
            </a:pPr>
            <a:r>
              <a:rPr lang="it-IT" sz="1200" b="1" i="1" dirty="0">
                <a:solidFill>
                  <a:schemeClr val="tx2"/>
                </a:solidFill>
              </a:rPr>
              <a:t>Quasi ogni output appena generato</a:t>
            </a:r>
            <a:endParaRPr lang="it-IT" sz="1200" dirty="0"/>
          </a:p>
        </p:txBody>
      </p:sp>
      <p:sp>
        <p:nvSpPr>
          <p:cNvPr id="14" name="freccia"/>
          <p:cNvSpPr/>
          <p:nvPr/>
        </p:nvSpPr>
        <p:spPr>
          <a:xfrm>
            <a:off x="3090672" y="2103120"/>
            <a:ext cx="155448" cy="292608"/>
          </a:xfrm>
          <a:prstGeom prst="rightArrow">
            <a:avLst/>
          </a:prstGeom>
          <a:solidFill>
            <a:schemeClr val="accent2"/>
          </a:solidFill>
          <a:ln/>
        </p:spPr>
      </p:sp>
      <p:sp>
        <p:nvSpPr>
          <p:cNvPr id="15" name="Verificato"/>
          <p:cNvSpPr/>
          <p:nvPr/>
        </p:nvSpPr>
        <p:spPr>
          <a:xfrm>
            <a:off x="3264408" y="1097280"/>
            <a:ext cx="2615184" cy="2286000"/>
          </a:xfrm>
          <a:prstGeom prst="roundRect">
            <a:avLst>
              <a:gd name="adj" fmla="val 3200"/>
            </a:avLst>
          </a:prstGeom>
          <a:solidFill>
            <a:schemeClr val="accent6"/>
          </a:solidFill>
          <a:ln/>
        </p:spPr>
      </p:sp>
      <p:sp>
        <p:nvSpPr>
          <p:cNvPr id="16" name="Text 13"/>
          <p:cNvSpPr txBox="1"/>
          <p:nvPr/>
        </p:nvSpPr>
        <p:spPr>
          <a:xfrm>
            <a:off x="3447288" y="1207008"/>
            <a:ext cx="2249424" cy="411480"/>
          </a:xfrm>
          <a:prstGeom prst="rect">
            <a:avLst/>
          </a:prstGeom>
          <a:noFill/>
          <a:ln/>
        </p:spPr>
        <p:txBody>
          <a:bodyPr wrap="square" lIns="0" tIns="0" rIns="0" bIns="0" rtlCol="0" anchor="t"/>
          <a:lstStyle/>
          <a:p>
            <a:pPr indent="0" marL="0">
              <a:buNone/>
            </a:pPr>
            <a:r>
              <a:rPr lang="it-IT" sz="1900" b="1" dirty="0">
                <a:solidFill>
                  <a:schemeClr val="accent1"/>
                </a:solidFill>
              </a:rPr>
              <a:t>Verificato</a:t>
            </a:r>
            <a:endParaRPr lang="it-IT" sz="1900" dirty="0"/>
          </a:p>
        </p:txBody>
      </p:sp>
      <p:sp>
        <p:nvSpPr>
          <p:cNvPr id="17" name="Text 14"/>
          <p:cNvSpPr txBox="1"/>
          <p:nvPr/>
        </p:nvSpPr>
        <p:spPr>
          <a:xfrm>
            <a:off x="3447288" y="1691640"/>
            <a:ext cx="2249424" cy="868680"/>
          </a:xfrm>
          <a:prstGeom prst="rect">
            <a:avLst/>
          </a:prstGeom>
          <a:noFill/>
          <a:ln/>
        </p:spPr>
        <p:txBody>
          <a:bodyPr wrap="square" lIns="0" tIns="0" rIns="0" bIns="0" rtlCol="0" anchor="t"/>
          <a:lstStyle/>
          <a:p>
            <a:pPr indent="0" marL="0">
              <a:buNone/>
            </a:pPr>
            <a:r>
              <a:rPr lang="it-IT" sz="1300" dirty="0">
                <a:solidFill>
                  <a:schemeClr val="tx1"/>
                </a:solidFill>
              </a:rPr>
              <a:t>I punti critici sono stati controllati con evidenze</a:t>
            </a:r>
            <a:endParaRPr lang="it-IT" sz="1300" dirty="0"/>
          </a:p>
        </p:txBody>
      </p:sp>
      <p:sp>
        <p:nvSpPr>
          <p:cNvPr id="18" name="Text 15"/>
          <p:cNvSpPr txBox="1"/>
          <p:nvPr/>
        </p:nvSpPr>
        <p:spPr>
          <a:xfrm>
            <a:off x="3447288" y="2651760"/>
            <a:ext cx="2249424" cy="640080"/>
          </a:xfrm>
          <a:prstGeom prst="rect">
            <a:avLst/>
          </a:prstGeom>
          <a:noFill/>
          <a:ln/>
        </p:spPr>
        <p:txBody>
          <a:bodyPr wrap="square" lIns="0" tIns="0" rIns="0" bIns="0" rtlCol="0" anchor="t"/>
          <a:lstStyle/>
          <a:p>
            <a:pPr indent="0" marL="0">
              <a:buNone/>
            </a:pPr>
            <a:r>
              <a:rPr lang="it-IT" sz="1200" b="1" i="1" dirty="0">
                <a:solidFill>
                  <a:schemeClr val="tx2"/>
                </a:solidFill>
              </a:rPr>
              <a:t>Decisivo, ma non sufficiente</a:t>
            </a:r>
            <a:endParaRPr lang="it-IT" sz="1200" dirty="0"/>
          </a:p>
        </p:txBody>
      </p:sp>
      <p:sp>
        <p:nvSpPr>
          <p:cNvPr id="19" name="freccia"/>
          <p:cNvSpPr/>
          <p:nvPr/>
        </p:nvSpPr>
        <p:spPr>
          <a:xfrm>
            <a:off x="5897880" y="2103120"/>
            <a:ext cx="155448" cy="292608"/>
          </a:xfrm>
          <a:prstGeom prst="rightArrow">
            <a:avLst/>
          </a:prstGeom>
          <a:solidFill>
            <a:schemeClr val="accent2"/>
          </a:solidFill>
          <a:ln/>
        </p:spPr>
      </p:sp>
      <p:sp>
        <p:nvSpPr>
          <p:cNvPr id="20" name="Validato"/>
          <p:cNvSpPr/>
          <p:nvPr/>
        </p:nvSpPr>
        <p:spPr>
          <a:xfrm>
            <a:off x="6071616" y="1097280"/>
            <a:ext cx="2615184" cy="2286000"/>
          </a:xfrm>
          <a:prstGeom prst="roundRect">
            <a:avLst>
              <a:gd name="adj" fmla="val 3200"/>
            </a:avLst>
          </a:prstGeom>
          <a:solidFill>
            <a:schemeClr val="accent1"/>
          </a:solidFill>
          <a:ln/>
        </p:spPr>
      </p:sp>
      <p:sp>
        <p:nvSpPr>
          <p:cNvPr id="21" name="Text 18"/>
          <p:cNvSpPr txBox="1"/>
          <p:nvPr/>
        </p:nvSpPr>
        <p:spPr>
          <a:xfrm>
            <a:off x="6254496" y="1207008"/>
            <a:ext cx="2249424" cy="411480"/>
          </a:xfrm>
          <a:prstGeom prst="rect">
            <a:avLst/>
          </a:prstGeom>
          <a:noFill/>
          <a:ln/>
        </p:spPr>
        <p:txBody>
          <a:bodyPr wrap="square" lIns="0" tIns="0" rIns="0" bIns="0" rtlCol="0" anchor="t"/>
          <a:lstStyle/>
          <a:p>
            <a:pPr indent="0" marL="0">
              <a:buNone/>
            </a:pPr>
            <a:r>
              <a:rPr lang="it-IT" sz="1900" b="1" dirty="0">
                <a:solidFill>
                  <a:schemeClr val="bg1"/>
                </a:solidFill>
              </a:rPr>
              <a:t>Validato</a:t>
            </a:r>
            <a:endParaRPr lang="it-IT" sz="1900" dirty="0"/>
          </a:p>
        </p:txBody>
      </p:sp>
      <p:sp>
        <p:nvSpPr>
          <p:cNvPr id="22" name="Text 19"/>
          <p:cNvSpPr txBox="1"/>
          <p:nvPr/>
        </p:nvSpPr>
        <p:spPr>
          <a:xfrm>
            <a:off x="6254496" y="1691640"/>
            <a:ext cx="2249424" cy="868680"/>
          </a:xfrm>
          <a:prstGeom prst="rect">
            <a:avLst/>
          </a:prstGeom>
          <a:noFill/>
          <a:ln/>
        </p:spPr>
        <p:txBody>
          <a:bodyPr wrap="square" lIns="0" tIns="0" rIns="0" bIns="0" rtlCol="0" anchor="t"/>
          <a:lstStyle/>
          <a:p>
            <a:pPr indent="0" marL="0">
              <a:buNone/>
            </a:pPr>
            <a:r>
              <a:rPr lang="it-IT" sz="1300" dirty="0">
                <a:solidFill>
                  <a:schemeClr val="bg1"/>
                </a:solidFill>
              </a:rPr>
              <a:t>Si è deciso che è adeguato a uno specifico utilizzo</a:t>
            </a:r>
            <a:endParaRPr lang="it-IT" sz="1300" dirty="0"/>
          </a:p>
        </p:txBody>
      </p:sp>
      <p:sp>
        <p:nvSpPr>
          <p:cNvPr id="23" name="Text 20"/>
          <p:cNvSpPr txBox="1"/>
          <p:nvPr/>
        </p:nvSpPr>
        <p:spPr>
          <a:xfrm>
            <a:off x="6254496" y="2651760"/>
            <a:ext cx="2249424" cy="640080"/>
          </a:xfrm>
          <a:prstGeom prst="rect">
            <a:avLst/>
          </a:prstGeom>
          <a:noFill/>
          <a:ln/>
        </p:spPr>
        <p:txBody>
          <a:bodyPr wrap="square" lIns="0" tIns="0" rIns="0" bIns="0" rtlCol="0" anchor="t"/>
          <a:lstStyle/>
          <a:p>
            <a:pPr indent="0" marL="0">
              <a:buNone/>
            </a:pPr>
            <a:r>
              <a:rPr lang="it-IT" sz="1200" b="1" i="1" dirty="0">
                <a:solidFill>
                  <a:schemeClr val="accent6"/>
                </a:solidFill>
              </a:rPr>
              <a:t>Aggiunge scopo e decisione</a:t>
            </a:r>
            <a:endParaRPr lang="it-IT" sz="1200" dirty="0"/>
          </a:p>
        </p:txBody>
      </p:sp>
      <p:sp>
        <p:nvSpPr>
          <p:cNvPr id="24" name="messaggio"/>
          <p:cNvSpPr/>
          <p:nvPr/>
        </p:nvSpPr>
        <p:spPr>
          <a:xfrm>
            <a:off x="457200" y="3566160"/>
            <a:ext cx="8229600" cy="960120"/>
          </a:xfrm>
          <a:prstGeom prst="roundRect">
            <a:avLst>
              <a:gd name="adj" fmla="val 7619"/>
            </a:avLst>
          </a:prstGeom>
          <a:solidFill>
            <a:schemeClr val="tx1"/>
          </a:solidFill>
          <a:ln/>
        </p:spPr>
      </p:sp>
      <p:sp>
        <p:nvSpPr>
          <p:cNvPr id="25" name="Text 22"/>
          <p:cNvSpPr txBox="1"/>
          <p:nvPr/>
        </p:nvSpPr>
        <p:spPr>
          <a:xfrm>
            <a:off x="640080" y="3566160"/>
            <a:ext cx="7863840" cy="960120"/>
          </a:xfrm>
          <a:prstGeom prst="rect">
            <a:avLst/>
          </a:prstGeom>
          <a:noFill/>
          <a:ln/>
        </p:spPr>
        <p:txBody>
          <a:bodyPr wrap="square" lIns="0" tIns="0" rIns="0" bIns="0" rtlCol="0" anchor="ctr"/>
          <a:lstStyle/>
          <a:p>
            <a:pPr indent="0" marL="0">
              <a:buNone/>
            </a:pPr>
            <a:r>
              <a:rPr lang="it-IT" sz="1300" dirty="0">
                <a:solidFill>
                  <a:schemeClr val="bg1"/>
                </a:solidFill>
              </a:rPr>
              <a:t>Verificato non significa validato: un'analisi corretta può essere troppo generica per la decisione. Validato per un uso, non per un altro.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50</a:t>
            </a:fld>
            <a:endParaRPr lang="it-IT"/>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L'economia della verifica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Decidere</a:t>
            </a:r>
            <a:endParaRPr lang="it-IT" sz="900" dirty="0"/>
          </a:p>
        </p:txBody>
      </p:sp>
      <p:sp>
        <p:nvSpPr>
          <p:cNvPr id="10" name="Text 7"/>
          <p:cNvSpPr txBox="1"/>
          <p:nvPr/>
        </p:nvSpPr>
        <p:spPr>
          <a:xfrm>
            <a:off x="1463040" y="1005840"/>
            <a:ext cx="3291840" cy="256032"/>
          </a:xfrm>
          <a:prstGeom prst="rect">
            <a:avLst/>
          </a:prstGeom>
          <a:noFill/>
          <a:ln/>
        </p:spPr>
        <p:txBody>
          <a:bodyPr wrap="square" lIns="0" tIns="0" rIns="0" bIns="0" rtlCol="0" anchor="t"/>
          <a:lstStyle/>
          <a:p>
            <a:pPr algn="ctr" indent="0" marL="0">
              <a:buNone/>
            </a:pPr>
            <a:r>
              <a:rPr lang="it-IT" sz="1200" b="1" dirty="0">
                <a:solidFill>
                  <a:schemeClr val="accent2"/>
                </a:solidFill>
              </a:rPr>
              <a:t>Impatto basso</a:t>
            </a:r>
            <a:endParaRPr lang="it-IT" sz="1200" dirty="0"/>
          </a:p>
        </p:txBody>
      </p:sp>
      <p:sp>
        <p:nvSpPr>
          <p:cNvPr id="11" name="Text 8"/>
          <p:cNvSpPr txBox="1"/>
          <p:nvPr/>
        </p:nvSpPr>
        <p:spPr>
          <a:xfrm>
            <a:off x="4937760" y="1005840"/>
            <a:ext cx="3291840" cy="256032"/>
          </a:xfrm>
          <a:prstGeom prst="rect">
            <a:avLst/>
          </a:prstGeom>
          <a:noFill/>
          <a:ln/>
        </p:spPr>
        <p:txBody>
          <a:bodyPr wrap="square" lIns="0" tIns="0" rIns="0" bIns="0" rtlCol="0" anchor="t"/>
          <a:lstStyle/>
          <a:p>
            <a:pPr algn="ctr" indent="0" marL="0">
              <a:buNone/>
            </a:pPr>
            <a:r>
              <a:rPr lang="it-IT" sz="1200" b="1" dirty="0">
                <a:solidFill>
                  <a:schemeClr val="accent2"/>
                </a:solidFill>
              </a:rPr>
              <a:t>Impatto alto</a:t>
            </a:r>
            <a:endParaRPr lang="it-IT" sz="1200" dirty="0"/>
          </a:p>
        </p:txBody>
      </p:sp>
      <p:sp>
        <p:nvSpPr>
          <p:cNvPr id="12" name="Text 9"/>
          <p:cNvSpPr txBox="1"/>
          <p:nvPr/>
        </p:nvSpPr>
        <p:spPr>
          <a:xfrm>
            <a:off x="457200" y="1298448"/>
            <a:ext cx="960120" cy="1051560"/>
          </a:xfrm>
          <a:prstGeom prst="rect">
            <a:avLst/>
          </a:prstGeom>
          <a:noFill/>
          <a:ln/>
        </p:spPr>
        <p:txBody>
          <a:bodyPr wrap="square" lIns="0" tIns="0" rIns="0" bIns="0" rtlCol="0" anchor="ctr"/>
          <a:lstStyle/>
          <a:p>
            <a:pPr indent="0" marL="0">
              <a:buNone/>
            </a:pPr>
            <a:r>
              <a:rPr lang="it-IT" sz="1100" b="1" dirty="0">
                <a:solidFill>
                  <a:schemeClr val="accent2"/>
                </a:solidFill>
              </a:rPr>
              <a:t>Probabilità bassa</a:t>
            </a:r>
            <a:endParaRPr lang="it-IT" sz="1100" dirty="0"/>
          </a:p>
        </p:txBody>
      </p:sp>
      <p:sp>
        <p:nvSpPr>
          <p:cNvPr id="13" name="Text 10"/>
          <p:cNvSpPr txBox="1"/>
          <p:nvPr/>
        </p:nvSpPr>
        <p:spPr>
          <a:xfrm>
            <a:off x="457200" y="2441448"/>
            <a:ext cx="960120" cy="1051560"/>
          </a:xfrm>
          <a:prstGeom prst="rect">
            <a:avLst/>
          </a:prstGeom>
          <a:noFill/>
          <a:ln/>
        </p:spPr>
        <p:txBody>
          <a:bodyPr wrap="square" lIns="0" tIns="0" rIns="0" bIns="0" rtlCol="0" anchor="ctr"/>
          <a:lstStyle/>
          <a:p>
            <a:pPr indent="0" marL="0">
              <a:buNone/>
            </a:pPr>
            <a:r>
              <a:rPr lang="it-IT" sz="1100" b="1" dirty="0">
                <a:solidFill>
                  <a:schemeClr val="accent2"/>
                </a:solidFill>
              </a:rPr>
              <a:t>Probabilità alta</a:t>
            </a:r>
            <a:endParaRPr lang="it-IT" sz="1100" dirty="0"/>
          </a:p>
        </p:txBody>
      </p:sp>
      <p:sp>
        <p:nvSpPr>
          <p:cNvPr id="14" name="Rilettura"/>
          <p:cNvSpPr/>
          <p:nvPr/>
        </p:nvSpPr>
        <p:spPr>
          <a:xfrm>
            <a:off x="1463040" y="1298448"/>
            <a:ext cx="3337560" cy="1051560"/>
          </a:xfrm>
          <a:prstGeom prst="roundRect">
            <a:avLst>
              <a:gd name="adj" fmla="val 6957"/>
            </a:avLst>
          </a:prstGeom>
          <a:solidFill>
            <a:schemeClr val="accent6"/>
          </a:solidFill>
          <a:ln/>
        </p:spPr>
      </p:sp>
      <p:sp>
        <p:nvSpPr>
          <p:cNvPr id="15" name="Text 12"/>
          <p:cNvSpPr txBox="1"/>
          <p:nvPr/>
        </p:nvSpPr>
        <p:spPr>
          <a:xfrm>
            <a:off x="1645920" y="1389888"/>
            <a:ext cx="2971800" cy="365760"/>
          </a:xfrm>
          <a:prstGeom prst="rect">
            <a:avLst/>
          </a:prstGeom>
          <a:noFill/>
          <a:ln/>
        </p:spPr>
        <p:txBody>
          <a:bodyPr wrap="square" lIns="0" tIns="0" rIns="0" bIns="0" rtlCol="0" anchor="t"/>
          <a:lstStyle/>
          <a:p>
            <a:pPr indent="0" marL="0">
              <a:buNone/>
            </a:pPr>
            <a:r>
              <a:rPr lang="it-IT" sz="1500" b="1" dirty="0">
                <a:solidFill>
                  <a:schemeClr val="tx1"/>
                </a:solidFill>
              </a:rPr>
              <a:t>Rilettura</a:t>
            </a:r>
            <a:endParaRPr lang="it-IT" sz="1500" dirty="0"/>
          </a:p>
        </p:txBody>
      </p:sp>
      <p:sp>
        <p:nvSpPr>
          <p:cNvPr id="16" name="Text 13"/>
          <p:cNvSpPr txBox="1"/>
          <p:nvPr/>
        </p:nvSpPr>
        <p:spPr>
          <a:xfrm>
            <a:off x="1645920" y="1773936"/>
            <a:ext cx="2971800" cy="502920"/>
          </a:xfrm>
          <a:prstGeom prst="rect">
            <a:avLst/>
          </a:prstGeom>
          <a:noFill/>
          <a:ln/>
        </p:spPr>
        <p:txBody>
          <a:bodyPr wrap="square" lIns="0" tIns="0" rIns="0" bIns="0" rtlCol="0" anchor="t"/>
          <a:lstStyle/>
          <a:p>
            <a:pPr indent="0" marL="0">
              <a:buNone/>
            </a:pPr>
            <a:r>
              <a:rPr lang="it-IT" sz="1200" dirty="0">
                <a:solidFill>
                  <a:schemeClr val="tx1"/>
                </a:solidFill>
              </a:rPr>
              <a:t>Sufficiente una lettura attenta</a:t>
            </a:r>
            <a:endParaRPr lang="it-IT" sz="1200" dirty="0"/>
          </a:p>
        </p:txBody>
      </p:sp>
      <p:sp>
        <p:nvSpPr>
          <p:cNvPr id="17" name="Verifica dei punti critici"/>
          <p:cNvSpPr/>
          <p:nvPr/>
        </p:nvSpPr>
        <p:spPr>
          <a:xfrm>
            <a:off x="4937760" y="1298448"/>
            <a:ext cx="3337560" cy="1051560"/>
          </a:xfrm>
          <a:prstGeom prst="roundRect">
            <a:avLst>
              <a:gd name="adj" fmla="val 6957"/>
            </a:avLst>
          </a:prstGeom>
          <a:solidFill>
            <a:schemeClr val="bg2"/>
          </a:solidFill>
          <a:ln/>
        </p:spPr>
      </p:sp>
      <p:sp>
        <p:nvSpPr>
          <p:cNvPr id="18" name="Text 15"/>
          <p:cNvSpPr txBox="1"/>
          <p:nvPr/>
        </p:nvSpPr>
        <p:spPr>
          <a:xfrm>
            <a:off x="5120640" y="1389888"/>
            <a:ext cx="2971800" cy="365760"/>
          </a:xfrm>
          <a:prstGeom prst="rect">
            <a:avLst/>
          </a:prstGeom>
          <a:noFill/>
          <a:ln/>
        </p:spPr>
        <p:txBody>
          <a:bodyPr wrap="square" lIns="0" tIns="0" rIns="0" bIns="0" rtlCol="0" anchor="t"/>
          <a:lstStyle/>
          <a:p>
            <a:pPr indent="0" marL="0">
              <a:buNone/>
            </a:pPr>
            <a:r>
              <a:rPr lang="it-IT" sz="1500" b="1" dirty="0">
                <a:solidFill>
                  <a:schemeClr val="tx1"/>
                </a:solidFill>
              </a:rPr>
              <a:t>Verifica dei punti critici</a:t>
            </a:r>
            <a:endParaRPr lang="it-IT" sz="1500" dirty="0"/>
          </a:p>
        </p:txBody>
      </p:sp>
      <p:sp>
        <p:nvSpPr>
          <p:cNvPr id="19" name="Text 16"/>
          <p:cNvSpPr txBox="1"/>
          <p:nvPr/>
        </p:nvSpPr>
        <p:spPr>
          <a:xfrm>
            <a:off x="5120640" y="1773936"/>
            <a:ext cx="2971800" cy="502920"/>
          </a:xfrm>
          <a:prstGeom prst="rect">
            <a:avLst/>
          </a:prstGeom>
          <a:noFill/>
          <a:ln/>
        </p:spPr>
        <p:txBody>
          <a:bodyPr wrap="square" lIns="0" tIns="0" rIns="0" bIns="0" rtlCol="0" anchor="t"/>
          <a:lstStyle/>
          <a:p>
            <a:pPr indent="0" marL="0">
              <a:buNone/>
            </a:pPr>
            <a:r>
              <a:rPr lang="it-IT" sz="1200" dirty="0">
                <a:solidFill>
                  <a:schemeClr val="tx1"/>
                </a:solidFill>
              </a:rPr>
              <a:t>Anche un errore raro avrebbe conseguenze serie</a:t>
            </a:r>
            <a:endParaRPr lang="it-IT" sz="1200" dirty="0"/>
          </a:p>
        </p:txBody>
      </p:sp>
      <p:sp>
        <p:nvSpPr>
          <p:cNvPr id="20" name="Controlli rapidi e mirati"/>
          <p:cNvSpPr/>
          <p:nvPr/>
        </p:nvSpPr>
        <p:spPr>
          <a:xfrm>
            <a:off x="1463040" y="2441448"/>
            <a:ext cx="3337560" cy="1051560"/>
          </a:xfrm>
          <a:prstGeom prst="roundRect">
            <a:avLst>
              <a:gd name="adj" fmla="val 6957"/>
            </a:avLst>
          </a:prstGeom>
          <a:solidFill>
            <a:schemeClr val="bg2"/>
          </a:solidFill>
          <a:ln/>
        </p:spPr>
      </p:sp>
      <p:sp>
        <p:nvSpPr>
          <p:cNvPr id="21" name="Text 18"/>
          <p:cNvSpPr txBox="1"/>
          <p:nvPr/>
        </p:nvSpPr>
        <p:spPr>
          <a:xfrm>
            <a:off x="1645920" y="2532888"/>
            <a:ext cx="2971800" cy="365760"/>
          </a:xfrm>
          <a:prstGeom prst="rect">
            <a:avLst/>
          </a:prstGeom>
          <a:noFill/>
          <a:ln/>
        </p:spPr>
        <p:txBody>
          <a:bodyPr wrap="square" lIns="0" tIns="0" rIns="0" bIns="0" rtlCol="0" anchor="t"/>
          <a:lstStyle/>
          <a:p>
            <a:pPr indent="0" marL="0">
              <a:buNone/>
            </a:pPr>
            <a:r>
              <a:rPr lang="it-IT" sz="1500" b="1" dirty="0">
                <a:solidFill>
                  <a:schemeClr val="tx1"/>
                </a:solidFill>
              </a:rPr>
              <a:t>Controlli rapidi e mirati</a:t>
            </a:r>
            <a:endParaRPr lang="it-IT" sz="1500" dirty="0"/>
          </a:p>
        </p:txBody>
      </p:sp>
      <p:sp>
        <p:nvSpPr>
          <p:cNvPr id="22" name="Text 19"/>
          <p:cNvSpPr txBox="1"/>
          <p:nvPr/>
        </p:nvSpPr>
        <p:spPr>
          <a:xfrm>
            <a:off x="1645920" y="2916936"/>
            <a:ext cx="2971800" cy="502920"/>
          </a:xfrm>
          <a:prstGeom prst="rect">
            <a:avLst/>
          </a:prstGeom>
          <a:noFill/>
          <a:ln/>
        </p:spPr>
        <p:txBody>
          <a:bodyPr wrap="square" lIns="0" tIns="0" rIns="0" bIns="0" rtlCol="0" anchor="t"/>
          <a:lstStyle/>
          <a:p>
            <a:pPr indent="0" marL="0">
              <a:buNone/>
            </a:pPr>
            <a:r>
              <a:rPr lang="it-IT" sz="1200" dirty="0">
                <a:solidFill>
                  <a:schemeClr val="tx1"/>
                </a:solidFill>
              </a:rPr>
              <a:t>Per esempio su numeri e nomi</a:t>
            </a:r>
            <a:endParaRPr lang="it-IT" sz="1200" dirty="0"/>
          </a:p>
        </p:txBody>
      </p:sp>
      <p:sp>
        <p:nvSpPr>
          <p:cNvPr id="23" name="Verifica approfondita"/>
          <p:cNvSpPr/>
          <p:nvPr/>
        </p:nvSpPr>
        <p:spPr>
          <a:xfrm>
            <a:off x="4937760" y="2441448"/>
            <a:ext cx="3337560" cy="1051560"/>
          </a:xfrm>
          <a:prstGeom prst="roundRect">
            <a:avLst>
              <a:gd name="adj" fmla="val 6957"/>
            </a:avLst>
          </a:prstGeom>
          <a:solidFill>
            <a:schemeClr val="tx1"/>
          </a:solidFill>
          <a:ln/>
        </p:spPr>
      </p:sp>
      <p:sp>
        <p:nvSpPr>
          <p:cNvPr id="24" name="Text 21"/>
          <p:cNvSpPr txBox="1"/>
          <p:nvPr/>
        </p:nvSpPr>
        <p:spPr>
          <a:xfrm>
            <a:off x="5120640" y="2532888"/>
            <a:ext cx="2971800" cy="365760"/>
          </a:xfrm>
          <a:prstGeom prst="rect">
            <a:avLst/>
          </a:prstGeom>
          <a:noFill/>
          <a:ln/>
        </p:spPr>
        <p:txBody>
          <a:bodyPr wrap="square" lIns="0" tIns="0" rIns="0" bIns="0" rtlCol="0" anchor="t"/>
          <a:lstStyle/>
          <a:p>
            <a:pPr indent="0" marL="0">
              <a:buNone/>
            </a:pPr>
            <a:r>
              <a:rPr lang="it-IT" sz="1500" b="1" dirty="0">
                <a:solidFill>
                  <a:schemeClr val="bg1"/>
                </a:solidFill>
              </a:rPr>
              <a:t>Verifica approfondita</a:t>
            </a:r>
            <a:endParaRPr lang="it-IT" sz="1500" dirty="0"/>
          </a:p>
        </p:txBody>
      </p:sp>
      <p:sp>
        <p:nvSpPr>
          <p:cNvPr id="25" name="Text 22"/>
          <p:cNvSpPr txBox="1"/>
          <p:nvPr/>
        </p:nvSpPr>
        <p:spPr>
          <a:xfrm>
            <a:off x="5120640" y="2916936"/>
            <a:ext cx="2971800" cy="502920"/>
          </a:xfrm>
          <a:prstGeom prst="rect">
            <a:avLst/>
          </a:prstGeom>
          <a:noFill/>
          <a:ln/>
        </p:spPr>
        <p:txBody>
          <a:bodyPr wrap="square" lIns="0" tIns="0" rIns="0" bIns="0" rtlCol="0" anchor="t"/>
          <a:lstStyle/>
          <a:p>
            <a:pPr indent="0" marL="0">
              <a:buNone/>
            </a:pPr>
            <a:r>
              <a:rPr lang="it-IT" sz="1200" dirty="0">
                <a:solidFill>
                  <a:schemeClr val="bg1"/>
                </a:solidFill>
              </a:rPr>
              <a:t>Fonti indipendenti e, se serve, un esperto</a:t>
            </a:r>
            <a:endParaRPr lang="it-IT" sz="1200" dirty="0"/>
          </a:p>
        </p:txBody>
      </p:sp>
      <p:sp>
        <p:nvSpPr>
          <p:cNvPr id="26" name="fattori"/>
          <p:cNvSpPr/>
          <p:nvPr/>
        </p:nvSpPr>
        <p:spPr>
          <a:xfrm>
            <a:off x="457200" y="3657600"/>
            <a:ext cx="8229600" cy="868680"/>
          </a:xfrm>
          <a:prstGeom prst="roundRect">
            <a:avLst>
              <a:gd name="adj" fmla="val 8421"/>
            </a:avLst>
          </a:prstGeom>
          <a:solidFill>
            <a:schemeClr val="bg2"/>
          </a:solidFill>
          <a:ln/>
        </p:spPr>
      </p:sp>
      <p:sp>
        <p:nvSpPr>
          <p:cNvPr id="27" name="Text 24"/>
          <p:cNvSpPr txBox="1"/>
          <p:nvPr/>
        </p:nvSpPr>
        <p:spPr>
          <a:xfrm>
            <a:off x="640080" y="3657600"/>
            <a:ext cx="7863840" cy="868680"/>
          </a:xfrm>
          <a:prstGeom prst="rect">
            <a:avLst/>
          </a:prstGeom>
          <a:noFill/>
          <a:ln/>
        </p:spPr>
        <p:txBody>
          <a:bodyPr wrap="square" lIns="0" tIns="0" rIns="0" bIns="0" rtlCol="0" anchor="ctr"/>
          <a:lstStyle/>
          <a:p>
            <a:pPr indent="0" marL="0">
              <a:buNone/>
            </a:pPr>
            <a:r>
              <a:rPr lang="it-IT" sz="1200" b="1" dirty="0">
                <a:solidFill>
                  <a:schemeClr val="accent1"/>
                </a:solidFill>
              </a:rPr>
              <a:t>Impatto: </a:t>
            </a:r>
            <a:pPr indent="0" marL="0">
              <a:buNone/>
            </a:pPr>
            <a:r>
              <a:rPr lang="it-IT" sz="1200" dirty="0">
                <a:solidFill>
                  <a:schemeClr val="tx1"/>
                </a:solidFill>
              </a:rPr>
              <a:t>gravità, reversibilità, chi subisce l'errore, rilevabilità, precisione richiesta dall'uso.</a:t>
            </a:r>
            <a:endParaRPr lang="it-IT" sz="1200" dirty="0"/>
          </a:p>
          <a:p>
            <a:pPr indent="0" marL="0">
              <a:buNone/>
            </a:pPr>
            <a:r>
              <a:rPr lang="it-IT" sz="1200" b="1" dirty="0">
                <a:solidFill>
                  <a:schemeClr val="accent1"/>
                </a:solidFill>
              </a:rPr>
              <a:t>Probabilità: </a:t>
            </a:r>
            <a:pPr indent="0" marL="0">
              <a:buNone/>
            </a:pPr>
            <a:r>
              <a:rPr lang="it-IT" sz="1200" dirty="0">
                <a:solidFill>
                  <a:schemeClr val="tx1"/>
                </a:solidFill>
              </a:rPr>
              <a:t>numeri, fonti, argomenti recenti o di nicchia, complessità.</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51</a:t>
            </a:fld>
            <a:endParaRPr lang="it-IT"/>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Il bilancio della verifica</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Decidere</a:t>
            </a:r>
            <a:endParaRPr lang="it-IT" sz="900" dirty="0"/>
          </a:p>
        </p:txBody>
      </p:sp>
      <p:sp>
        <p:nvSpPr>
          <p:cNvPr id="10" name="Tempo risparmiato a valle"/>
          <p:cNvSpPr/>
          <p:nvPr/>
        </p:nvSpPr>
        <p:spPr>
          <a:xfrm>
            <a:off x="457200" y="1097280"/>
            <a:ext cx="2621280" cy="1143000"/>
          </a:xfrm>
          <a:prstGeom prst="roundRect">
            <a:avLst>
              <a:gd name="adj" fmla="val 6400"/>
            </a:avLst>
          </a:prstGeom>
          <a:solidFill>
            <a:schemeClr val="bg2"/>
          </a:solidFill>
          <a:ln/>
        </p:spPr>
      </p:sp>
      <p:sp>
        <p:nvSpPr>
          <p:cNvPr id="11" name="cerchio FiClock"/>
          <p:cNvSpPr/>
          <p:nvPr/>
        </p:nvSpPr>
        <p:spPr>
          <a:xfrm>
            <a:off x="621792" y="1261872"/>
            <a:ext cx="438912" cy="438912"/>
          </a:xfrm>
          <a:prstGeom prst="ellipse">
            <a:avLst/>
          </a:prstGeom>
          <a:solidFill>
            <a:schemeClr val="accent1"/>
          </a:solidFill>
          <a:ln/>
        </p:spPr>
      </p:sp>
      <p:pic>
        <p:nvPicPr>
          <p:cNvPr id="12" name="Image 0" descr="FiClock">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Tempo risparmiato a valle</a:t>
            </a:r>
            <a:endParaRPr lang="it-IT" sz="1300" dirty="0"/>
          </a:p>
        </p:txBody>
      </p:sp>
      <p:sp>
        <p:nvSpPr>
          <p:cNvPr id="14" name="Text 10"/>
          <p:cNvSpPr txBox="1"/>
          <p:nvPr/>
        </p:nvSpPr>
        <p:spPr>
          <a:xfrm>
            <a:off x="621792" y="1810512"/>
            <a:ext cx="2292096" cy="338328"/>
          </a:xfrm>
          <a:prstGeom prst="rect">
            <a:avLst/>
          </a:prstGeom>
          <a:noFill/>
          <a:ln/>
        </p:spPr>
        <p:txBody>
          <a:bodyPr wrap="square" lIns="0" tIns="0" rIns="0" bIns="0" rtlCol="0" anchor="t"/>
          <a:lstStyle/>
          <a:p>
            <a:pPr indent="0" marL="0">
              <a:buNone/>
            </a:pPr>
            <a:r>
              <a:rPr lang="it-IT" sz="1100" dirty="0">
                <a:solidFill>
                  <a:schemeClr val="tx2"/>
                </a:solidFill>
              </a:rPr>
              <a:t>Meno correzioni, rilavorazioni, chiarimenti</a:t>
            </a:r>
            <a:endParaRPr lang="it-IT" sz="1100" dirty="0"/>
          </a:p>
        </p:txBody>
      </p:sp>
      <p:sp>
        <p:nvSpPr>
          <p:cNvPr id="15" name="Processo riutilizzabile"/>
          <p:cNvSpPr/>
          <p:nvPr/>
        </p:nvSpPr>
        <p:spPr>
          <a:xfrm>
            <a:off x="3261360" y="1097280"/>
            <a:ext cx="2621280" cy="1143000"/>
          </a:xfrm>
          <a:prstGeom prst="roundRect">
            <a:avLst>
              <a:gd name="adj" fmla="val 6400"/>
            </a:avLst>
          </a:prstGeom>
          <a:solidFill>
            <a:schemeClr val="bg2"/>
          </a:solidFill>
          <a:ln/>
        </p:spPr>
      </p:sp>
      <p:sp>
        <p:nvSpPr>
          <p:cNvPr id="16" name="cerchio FiRepeat"/>
          <p:cNvSpPr/>
          <p:nvPr/>
        </p:nvSpPr>
        <p:spPr>
          <a:xfrm>
            <a:off x="3425952" y="1261872"/>
            <a:ext cx="438912" cy="438912"/>
          </a:xfrm>
          <a:prstGeom prst="ellipse">
            <a:avLst/>
          </a:prstGeom>
          <a:solidFill>
            <a:schemeClr val="accent1"/>
          </a:solidFill>
          <a:ln/>
        </p:spPr>
      </p:sp>
      <p:pic>
        <p:nvPicPr>
          <p:cNvPr id="17" name="Image 1" descr="FiRepeat">    </p:cNvPr>
          <p:cNvPicPr>
            <a:picLocks noChangeAspect="1"/>
          </p:cNvPicPr>
          <p:nvPr/>
        </p:nvPicPr>
        <p:blipFill>
          <a:blip r:embed="rId2"/>
          <a:stretch>
            <a:fillRect/>
          </a:stretch>
        </p:blipFill>
        <p:spPr>
          <a:xfrm>
            <a:off x="3535680" y="1371600"/>
            <a:ext cx="219456" cy="219456"/>
          </a:xfrm>
          <a:prstGeom prst="rect">
            <a:avLst/>
          </a:prstGeom>
        </p:spPr>
      </p:pic>
      <p:sp>
        <p:nvSpPr>
          <p:cNvPr id="18" name="Text 13"/>
          <p:cNvSpPr txBox="1"/>
          <p:nvPr/>
        </p:nvSpPr>
        <p:spPr>
          <a:xfrm>
            <a:off x="397459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Processo riutilizzabile</a:t>
            </a:r>
            <a:endParaRPr lang="it-IT" sz="1300" dirty="0"/>
          </a:p>
        </p:txBody>
      </p:sp>
      <p:sp>
        <p:nvSpPr>
          <p:cNvPr id="19" name="Text 14"/>
          <p:cNvSpPr txBox="1"/>
          <p:nvPr/>
        </p:nvSpPr>
        <p:spPr>
          <a:xfrm>
            <a:off x="3425952" y="1810512"/>
            <a:ext cx="2292096" cy="338328"/>
          </a:xfrm>
          <a:prstGeom prst="rect">
            <a:avLst/>
          </a:prstGeom>
          <a:noFill/>
          <a:ln/>
        </p:spPr>
        <p:txBody>
          <a:bodyPr wrap="square" lIns="0" tIns="0" rIns="0" bIns="0" rtlCol="0" anchor="t"/>
          <a:lstStyle/>
          <a:p>
            <a:pPr indent="0" marL="0">
              <a:buNone/>
            </a:pPr>
            <a:r>
              <a:rPr lang="it-IT" sz="1100" dirty="0">
                <a:solidFill>
                  <a:schemeClr val="tx2"/>
                </a:solidFill>
              </a:rPr>
              <a:t>Richieste, checklist e controlli si riusano</a:t>
            </a:r>
            <a:endParaRPr lang="it-IT" sz="1100" dirty="0"/>
          </a:p>
        </p:txBody>
      </p:sp>
      <p:sp>
        <p:nvSpPr>
          <p:cNvPr id="20" name="Qualità migliore"/>
          <p:cNvSpPr/>
          <p:nvPr/>
        </p:nvSpPr>
        <p:spPr>
          <a:xfrm>
            <a:off x="6065520" y="1097280"/>
            <a:ext cx="2621280" cy="1143000"/>
          </a:xfrm>
          <a:prstGeom prst="roundRect">
            <a:avLst>
              <a:gd name="adj" fmla="val 6400"/>
            </a:avLst>
          </a:prstGeom>
          <a:solidFill>
            <a:schemeClr val="bg2"/>
          </a:solidFill>
          <a:ln/>
        </p:spPr>
      </p:sp>
      <p:sp>
        <p:nvSpPr>
          <p:cNvPr id="21" name="cerchio FiAward"/>
          <p:cNvSpPr/>
          <p:nvPr/>
        </p:nvSpPr>
        <p:spPr>
          <a:xfrm>
            <a:off x="6230112" y="1261872"/>
            <a:ext cx="438912" cy="438912"/>
          </a:xfrm>
          <a:prstGeom prst="ellipse">
            <a:avLst/>
          </a:prstGeom>
          <a:solidFill>
            <a:schemeClr val="accent1"/>
          </a:solidFill>
          <a:ln/>
        </p:spPr>
      </p:sp>
      <p:pic>
        <p:nvPicPr>
          <p:cNvPr id="22" name="Image 2" descr="FiAward">    </p:cNvPr>
          <p:cNvPicPr>
            <a:picLocks noChangeAspect="1"/>
          </p:cNvPicPr>
          <p:nvPr/>
        </p:nvPicPr>
        <p:blipFill>
          <a:blip r:embed="rId3"/>
          <a:stretch>
            <a:fillRect/>
          </a:stretch>
        </p:blipFill>
        <p:spPr>
          <a:xfrm>
            <a:off x="6339840" y="1371600"/>
            <a:ext cx="219456" cy="219456"/>
          </a:xfrm>
          <a:prstGeom prst="rect">
            <a:avLst/>
          </a:prstGeom>
        </p:spPr>
      </p:pic>
      <p:sp>
        <p:nvSpPr>
          <p:cNvPr id="23" name="Text 17"/>
          <p:cNvSpPr txBox="1"/>
          <p:nvPr/>
        </p:nvSpPr>
        <p:spPr>
          <a:xfrm>
            <a:off x="6778752" y="12252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Qualità migliore</a:t>
            </a:r>
            <a:endParaRPr lang="it-IT" sz="1300" dirty="0"/>
          </a:p>
        </p:txBody>
      </p:sp>
      <p:sp>
        <p:nvSpPr>
          <p:cNvPr id="24" name="Text 18"/>
          <p:cNvSpPr txBox="1"/>
          <p:nvPr/>
        </p:nvSpPr>
        <p:spPr>
          <a:xfrm>
            <a:off x="6230112" y="1810512"/>
            <a:ext cx="2292096" cy="338328"/>
          </a:xfrm>
          <a:prstGeom prst="rect">
            <a:avLst/>
          </a:prstGeom>
          <a:noFill/>
          <a:ln/>
        </p:spPr>
        <p:txBody>
          <a:bodyPr wrap="square" lIns="0" tIns="0" rIns="0" bIns="0" rtlCol="0" anchor="t"/>
          <a:lstStyle/>
          <a:p>
            <a:pPr indent="0" marL="0">
              <a:buNone/>
            </a:pPr>
            <a:r>
              <a:rPr lang="it-IT" sz="1100" dirty="0">
                <a:solidFill>
                  <a:schemeClr val="tx2"/>
                </a:solidFill>
              </a:rPr>
              <a:t>La revisione migliora il risultato, non solo la velocità</a:t>
            </a:r>
            <a:endParaRPr lang="it-IT" sz="1100" dirty="0"/>
          </a:p>
        </p:txBody>
      </p:sp>
      <p:sp>
        <p:nvSpPr>
          <p:cNvPr id="25" name="Scalabilità"/>
          <p:cNvSpPr/>
          <p:nvPr/>
        </p:nvSpPr>
        <p:spPr>
          <a:xfrm>
            <a:off x="457200" y="2423160"/>
            <a:ext cx="2621280" cy="1143000"/>
          </a:xfrm>
          <a:prstGeom prst="roundRect">
            <a:avLst>
              <a:gd name="adj" fmla="val 6400"/>
            </a:avLst>
          </a:prstGeom>
          <a:solidFill>
            <a:schemeClr val="bg2"/>
          </a:solidFill>
          <a:ln/>
        </p:spPr>
      </p:sp>
      <p:sp>
        <p:nvSpPr>
          <p:cNvPr id="26" name="cerchio FiLayers"/>
          <p:cNvSpPr/>
          <p:nvPr/>
        </p:nvSpPr>
        <p:spPr>
          <a:xfrm>
            <a:off x="621792" y="2587752"/>
            <a:ext cx="438912" cy="438912"/>
          </a:xfrm>
          <a:prstGeom prst="ellipse">
            <a:avLst/>
          </a:prstGeom>
          <a:solidFill>
            <a:schemeClr val="accent1"/>
          </a:solidFill>
          <a:ln/>
        </p:spPr>
      </p:sp>
      <p:pic>
        <p:nvPicPr>
          <p:cNvPr id="27" name="Image 3" descr="FiLayers">    </p:cNvPr>
          <p:cNvPicPr>
            <a:picLocks noChangeAspect="1"/>
          </p:cNvPicPr>
          <p:nvPr/>
        </p:nvPicPr>
        <p:blipFill>
          <a:blip r:embed="rId4"/>
          <a:stretch>
            <a:fillRect/>
          </a:stretch>
        </p:blipFill>
        <p:spPr>
          <a:xfrm>
            <a:off x="731520" y="2697480"/>
            <a:ext cx="219456" cy="219456"/>
          </a:xfrm>
          <a:prstGeom prst="rect">
            <a:avLst/>
          </a:prstGeom>
        </p:spPr>
      </p:pic>
      <p:sp>
        <p:nvSpPr>
          <p:cNvPr id="28" name="Text 21"/>
          <p:cNvSpPr txBox="1"/>
          <p:nvPr/>
        </p:nvSpPr>
        <p:spPr>
          <a:xfrm>
            <a:off x="1170432" y="25511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Scalabilità</a:t>
            </a:r>
            <a:endParaRPr lang="it-IT" sz="1300" dirty="0"/>
          </a:p>
        </p:txBody>
      </p:sp>
      <p:sp>
        <p:nvSpPr>
          <p:cNvPr id="29" name="Text 22"/>
          <p:cNvSpPr txBox="1"/>
          <p:nvPr/>
        </p:nvSpPr>
        <p:spPr>
          <a:xfrm>
            <a:off x="621792" y="3136392"/>
            <a:ext cx="2292096" cy="338328"/>
          </a:xfrm>
          <a:prstGeom prst="rect">
            <a:avLst/>
          </a:prstGeom>
          <a:noFill/>
          <a:ln/>
        </p:spPr>
        <p:txBody>
          <a:bodyPr wrap="square" lIns="0" tIns="0" rIns="0" bIns="0" rtlCol="0" anchor="t"/>
          <a:lstStyle/>
          <a:p>
            <a:pPr indent="0" marL="0">
              <a:buNone/>
            </a:pPr>
            <a:r>
              <a:rPr lang="it-IT" sz="1100" dirty="0">
                <a:solidFill>
                  <a:schemeClr val="tx2"/>
                </a:solidFill>
              </a:rPr>
              <a:t>Verifica iniziale su un campione, poi controlli periodici</a:t>
            </a:r>
            <a:endParaRPr lang="it-IT" sz="1100" dirty="0"/>
          </a:p>
        </p:txBody>
      </p:sp>
      <p:sp>
        <p:nvSpPr>
          <p:cNvPr id="30" name="Controlli automatizzabili"/>
          <p:cNvSpPr/>
          <p:nvPr/>
        </p:nvSpPr>
        <p:spPr>
          <a:xfrm>
            <a:off x="3261360" y="2423160"/>
            <a:ext cx="2621280" cy="1143000"/>
          </a:xfrm>
          <a:prstGeom prst="roundRect">
            <a:avLst>
              <a:gd name="adj" fmla="val 6400"/>
            </a:avLst>
          </a:prstGeom>
          <a:solidFill>
            <a:schemeClr val="bg2"/>
          </a:solidFill>
          <a:ln/>
        </p:spPr>
      </p:sp>
      <p:sp>
        <p:nvSpPr>
          <p:cNvPr id="31" name="cerchio FiCpu"/>
          <p:cNvSpPr/>
          <p:nvPr/>
        </p:nvSpPr>
        <p:spPr>
          <a:xfrm>
            <a:off x="3425952" y="2587752"/>
            <a:ext cx="438912" cy="438912"/>
          </a:xfrm>
          <a:prstGeom prst="ellipse">
            <a:avLst/>
          </a:prstGeom>
          <a:solidFill>
            <a:schemeClr val="accent1"/>
          </a:solidFill>
          <a:ln/>
        </p:spPr>
      </p:sp>
      <p:pic>
        <p:nvPicPr>
          <p:cNvPr id="32" name="Image 4" descr="FiCpu">    </p:cNvPr>
          <p:cNvPicPr>
            <a:picLocks noChangeAspect="1"/>
          </p:cNvPicPr>
          <p:nvPr/>
        </p:nvPicPr>
        <p:blipFill>
          <a:blip r:embed="rId5"/>
          <a:stretch>
            <a:fillRect/>
          </a:stretch>
        </p:blipFill>
        <p:spPr>
          <a:xfrm>
            <a:off x="3535680" y="2697480"/>
            <a:ext cx="219456" cy="219456"/>
          </a:xfrm>
          <a:prstGeom prst="rect">
            <a:avLst/>
          </a:prstGeom>
        </p:spPr>
      </p:pic>
      <p:sp>
        <p:nvSpPr>
          <p:cNvPr id="33" name="Text 25"/>
          <p:cNvSpPr txBox="1"/>
          <p:nvPr/>
        </p:nvSpPr>
        <p:spPr>
          <a:xfrm>
            <a:off x="3974592" y="25511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Controlli automatizzabili</a:t>
            </a:r>
            <a:endParaRPr lang="it-IT" sz="1300" dirty="0"/>
          </a:p>
        </p:txBody>
      </p:sp>
      <p:sp>
        <p:nvSpPr>
          <p:cNvPr id="34" name="Text 26"/>
          <p:cNvSpPr txBox="1"/>
          <p:nvPr/>
        </p:nvSpPr>
        <p:spPr>
          <a:xfrm>
            <a:off x="3425952" y="3136392"/>
            <a:ext cx="2292096" cy="338328"/>
          </a:xfrm>
          <a:prstGeom prst="rect">
            <a:avLst/>
          </a:prstGeom>
          <a:noFill/>
          <a:ln/>
        </p:spPr>
        <p:txBody>
          <a:bodyPr wrap="square" lIns="0" tIns="0" rIns="0" bIns="0" rtlCol="0" anchor="t"/>
          <a:lstStyle/>
          <a:p>
            <a:pPr indent="0" marL="0">
              <a:buNone/>
            </a:pPr>
            <a:r>
              <a:rPr lang="it-IT" sz="1100" dirty="0">
                <a:solidFill>
                  <a:schemeClr val="tx2"/>
                </a:solidFill>
              </a:rPr>
              <a:t>Quadrature, formati, campi, rimandi</a:t>
            </a:r>
            <a:endParaRPr lang="it-IT" sz="1100" dirty="0"/>
          </a:p>
        </p:txBody>
      </p:sp>
      <p:sp>
        <p:nvSpPr>
          <p:cNvPr id="35" name="Attenzione concentrata"/>
          <p:cNvSpPr/>
          <p:nvPr/>
        </p:nvSpPr>
        <p:spPr>
          <a:xfrm>
            <a:off x="6065520" y="2423160"/>
            <a:ext cx="2621280" cy="1143000"/>
          </a:xfrm>
          <a:prstGeom prst="roundRect">
            <a:avLst>
              <a:gd name="adj" fmla="val 6400"/>
            </a:avLst>
          </a:prstGeom>
          <a:solidFill>
            <a:schemeClr val="bg2"/>
          </a:solidFill>
          <a:ln/>
        </p:spPr>
      </p:sp>
      <p:sp>
        <p:nvSpPr>
          <p:cNvPr id="36" name="cerchio FiCrosshair"/>
          <p:cNvSpPr/>
          <p:nvPr/>
        </p:nvSpPr>
        <p:spPr>
          <a:xfrm>
            <a:off x="6230112" y="2587752"/>
            <a:ext cx="438912" cy="438912"/>
          </a:xfrm>
          <a:prstGeom prst="ellipse">
            <a:avLst/>
          </a:prstGeom>
          <a:solidFill>
            <a:schemeClr val="accent1"/>
          </a:solidFill>
          <a:ln/>
        </p:spPr>
      </p:sp>
      <p:pic>
        <p:nvPicPr>
          <p:cNvPr id="37" name="Image 5" descr="FiCrosshair">    </p:cNvPr>
          <p:cNvPicPr>
            <a:picLocks noChangeAspect="1"/>
          </p:cNvPicPr>
          <p:nvPr/>
        </p:nvPicPr>
        <p:blipFill>
          <a:blip r:embed="rId6"/>
          <a:stretch>
            <a:fillRect/>
          </a:stretch>
        </p:blipFill>
        <p:spPr>
          <a:xfrm>
            <a:off x="6339840" y="2697480"/>
            <a:ext cx="219456" cy="219456"/>
          </a:xfrm>
          <a:prstGeom prst="rect">
            <a:avLst/>
          </a:prstGeom>
        </p:spPr>
      </p:pic>
      <p:sp>
        <p:nvSpPr>
          <p:cNvPr id="38" name="Text 29"/>
          <p:cNvSpPr txBox="1"/>
          <p:nvPr/>
        </p:nvSpPr>
        <p:spPr>
          <a:xfrm>
            <a:off x="6778752" y="25511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Attenzione concentrata</a:t>
            </a:r>
            <a:endParaRPr lang="it-IT" sz="1300" dirty="0"/>
          </a:p>
        </p:txBody>
      </p:sp>
      <p:sp>
        <p:nvSpPr>
          <p:cNvPr id="39" name="Text 30"/>
          <p:cNvSpPr txBox="1"/>
          <p:nvPr/>
        </p:nvSpPr>
        <p:spPr>
          <a:xfrm>
            <a:off x="6230112" y="3136392"/>
            <a:ext cx="2292096" cy="338328"/>
          </a:xfrm>
          <a:prstGeom prst="rect">
            <a:avLst/>
          </a:prstGeom>
          <a:noFill/>
          <a:ln/>
        </p:spPr>
        <p:txBody>
          <a:bodyPr wrap="square" lIns="0" tIns="0" rIns="0" bIns="0" rtlCol="0" anchor="t"/>
          <a:lstStyle/>
          <a:p>
            <a:pPr indent="0" marL="0">
              <a:buNone/>
            </a:pPr>
            <a:r>
              <a:rPr lang="it-IT" sz="1100" dirty="0">
                <a:solidFill>
                  <a:schemeClr val="tx2"/>
                </a:solidFill>
              </a:rPr>
              <a:t>Poche affermazioni portano gran parte del peso</a:t>
            </a:r>
            <a:endParaRPr lang="it-IT" sz="1100" dirty="0"/>
          </a:p>
        </p:txBody>
      </p:sp>
      <p:sp>
        <p:nvSpPr>
          <p:cNvPr id="40" name="messaggio"/>
          <p:cNvSpPr/>
          <p:nvPr/>
        </p:nvSpPr>
        <p:spPr>
          <a:xfrm>
            <a:off x="457200" y="3730752"/>
            <a:ext cx="8229600" cy="502920"/>
          </a:xfrm>
          <a:prstGeom prst="roundRect">
            <a:avLst>
              <a:gd name="adj" fmla="val 14545"/>
            </a:avLst>
          </a:prstGeom>
          <a:solidFill>
            <a:schemeClr val="tx1"/>
          </a:solidFill>
          <a:ln/>
        </p:spPr>
      </p:sp>
      <p:sp>
        <p:nvSpPr>
          <p:cNvPr id="41" name="Text 32"/>
          <p:cNvSpPr txBox="1"/>
          <p:nvPr/>
        </p:nvSpPr>
        <p:spPr>
          <a:xfrm>
            <a:off x="640080" y="3730752"/>
            <a:ext cx="7863840" cy="502920"/>
          </a:xfrm>
          <a:prstGeom prst="rect">
            <a:avLst/>
          </a:prstGeom>
          <a:noFill/>
          <a:ln/>
        </p:spPr>
        <p:txBody>
          <a:bodyPr wrap="square" lIns="0" tIns="0" rIns="0" bIns="0" rtlCol="0" anchor="ctr"/>
          <a:lstStyle/>
          <a:p>
            <a:pPr indent="0" marL="0">
              <a:buNone/>
            </a:pPr>
            <a:r>
              <a:rPr lang="it-IT" sz="1300" dirty="0">
                <a:solidFill>
                  <a:schemeClr val="bg1"/>
                </a:solidFill>
              </a:rPr>
              <a:t>Il confronto giusto riguarda l'intero processo: con un metodo ripetibile, verificare diventa sempre più rapido.</a:t>
            </a:r>
            <a:endParaRPr lang="it-IT" sz="1300" dirty="0"/>
          </a:p>
        </p:txBody>
      </p:sp>
      <p:sp>
        <p:nvSpPr>
          <p:cNvPr id="42" name="Text 33"/>
          <p:cNvSpPr txBox="1"/>
          <p:nvPr/>
        </p:nvSpPr>
        <p:spPr>
          <a:xfrm>
            <a:off x="457200" y="4279392"/>
            <a:ext cx="8229600" cy="292608"/>
          </a:xfrm>
          <a:prstGeom prst="rect">
            <a:avLst/>
          </a:prstGeom>
          <a:noFill/>
          <a:ln/>
        </p:spPr>
        <p:txBody>
          <a:bodyPr wrap="square" lIns="0" tIns="0" rIns="0" bIns="0" rtlCol="0" anchor="t"/>
          <a:lstStyle/>
          <a:p>
            <a:pPr indent="0" marL="0">
              <a:buNone/>
            </a:pPr>
            <a:r>
              <a:rPr lang="it-IT" sz="1100" i="1" dirty="0">
                <a:solidFill>
                  <a:schemeClr val="tx1"/>
                </a:solidFill>
              </a:rPr>
              <a:t>Se su un compito la verifica supera stabilmente il lavoro diretto, conviene ripensare come usare l'AI su quel compito.</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52</a:t>
            </a:fld>
            <a:endParaRPr lang="it-IT"/>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Incertezze residue e decisione</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Decidere</a:t>
            </a:r>
            <a:endParaRPr lang="it-IT" sz="900" dirty="0"/>
          </a:p>
        </p:txBody>
      </p:sp>
      <p:sp>
        <p:nvSpPr>
          <p:cNvPr id="10" name="blocco 1  Rendere esplicito ciò che resta incerto"/>
          <p:cNvSpPr/>
          <p:nvPr/>
        </p:nvSpPr>
        <p:spPr>
          <a:xfrm>
            <a:off x="457200" y="1097280"/>
            <a:ext cx="2615184" cy="548640"/>
          </a:xfrm>
          <a:prstGeom prst="roundRect">
            <a:avLst>
              <a:gd name="adj" fmla="val 20000"/>
            </a:avLst>
          </a:prstGeom>
          <a:solidFill>
            <a:schemeClr val="accent6"/>
          </a:solidFill>
          <a:ln/>
        </p:spPr>
      </p:sp>
      <p:sp>
        <p:nvSpPr>
          <p:cNvPr id="11" name="Text 8"/>
          <p:cNvSpPr txBox="1"/>
          <p:nvPr/>
        </p:nvSpPr>
        <p:spPr>
          <a:xfrm>
            <a:off x="502920" y="1097280"/>
            <a:ext cx="2523744" cy="548640"/>
          </a:xfrm>
          <a:prstGeom prst="rect">
            <a:avLst/>
          </a:prstGeom>
          <a:noFill/>
          <a:ln/>
        </p:spPr>
        <p:txBody>
          <a:bodyPr wrap="square" lIns="0" tIns="0" rIns="0" bIns="0" rtlCol="0" anchor="ctr"/>
          <a:lstStyle/>
          <a:p>
            <a:pPr algn="ctr" indent="0" marL="0">
              <a:buNone/>
            </a:pPr>
            <a:r>
              <a:rPr lang="it-IT" sz="1200" b="1" dirty="0">
                <a:solidFill>
                  <a:schemeClr val="tx1"/>
                </a:solidFill>
              </a:rPr>
              <a:t>1  Rendere esplicito ciò che resta incerto</a:t>
            </a:r>
            <a:endParaRPr lang="it-IT" sz="1200" dirty="0"/>
          </a:p>
        </p:txBody>
      </p:sp>
      <p:sp>
        <p:nvSpPr>
          <p:cNvPr id="12" name="blocco 2  Valutarne l'impatto sulla conclusione"/>
          <p:cNvSpPr/>
          <p:nvPr/>
        </p:nvSpPr>
        <p:spPr>
          <a:xfrm>
            <a:off x="3264408" y="1097280"/>
            <a:ext cx="2615184" cy="548640"/>
          </a:xfrm>
          <a:prstGeom prst="roundRect">
            <a:avLst>
              <a:gd name="adj" fmla="val 20000"/>
            </a:avLst>
          </a:prstGeom>
          <a:solidFill>
            <a:schemeClr val="accent6"/>
          </a:solidFill>
          <a:ln/>
        </p:spPr>
      </p:sp>
      <p:sp>
        <p:nvSpPr>
          <p:cNvPr id="13" name="Text 10"/>
          <p:cNvSpPr txBox="1"/>
          <p:nvPr/>
        </p:nvSpPr>
        <p:spPr>
          <a:xfrm>
            <a:off x="3310128" y="1097280"/>
            <a:ext cx="2523744" cy="548640"/>
          </a:xfrm>
          <a:prstGeom prst="rect">
            <a:avLst/>
          </a:prstGeom>
          <a:noFill/>
          <a:ln/>
        </p:spPr>
        <p:txBody>
          <a:bodyPr wrap="square" lIns="0" tIns="0" rIns="0" bIns="0" rtlCol="0" anchor="ctr"/>
          <a:lstStyle/>
          <a:p>
            <a:pPr algn="ctr" indent="0" marL="0">
              <a:buNone/>
            </a:pPr>
            <a:r>
              <a:rPr lang="it-IT" sz="1200" b="1" dirty="0">
                <a:solidFill>
                  <a:schemeClr val="tx1"/>
                </a:solidFill>
              </a:rPr>
              <a:t>2  Valutarne l'impatto sulla conclusione</a:t>
            </a:r>
            <a:endParaRPr lang="it-IT" sz="1200" dirty="0"/>
          </a:p>
        </p:txBody>
      </p:sp>
      <p:sp>
        <p:nvSpPr>
          <p:cNvPr id="14" name="blocco 3  Accettarlo, ridurlo o comunicarlo"/>
          <p:cNvSpPr/>
          <p:nvPr/>
        </p:nvSpPr>
        <p:spPr>
          <a:xfrm>
            <a:off x="6071616" y="1097280"/>
            <a:ext cx="2615184" cy="548640"/>
          </a:xfrm>
          <a:prstGeom prst="roundRect">
            <a:avLst>
              <a:gd name="adj" fmla="val 20000"/>
            </a:avLst>
          </a:prstGeom>
          <a:solidFill>
            <a:schemeClr val="accent6"/>
          </a:solidFill>
          <a:ln/>
        </p:spPr>
      </p:sp>
      <p:sp>
        <p:nvSpPr>
          <p:cNvPr id="15" name="Text 12"/>
          <p:cNvSpPr txBox="1"/>
          <p:nvPr/>
        </p:nvSpPr>
        <p:spPr>
          <a:xfrm>
            <a:off x="6117336" y="1097280"/>
            <a:ext cx="2523744" cy="548640"/>
          </a:xfrm>
          <a:prstGeom prst="rect">
            <a:avLst/>
          </a:prstGeom>
          <a:noFill/>
          <a:ln/>
        </p:spPr>
        <p:txBody>
          <a:bodyPr wrap="square" lIns="0" tIns="0" rIns="0" bIns="0" rtlCol="0" anchor="ctr"/>
          <a:lstStyle/>
          <a:p>
            <a:pPr algn="ctr" indent="0" marL="0">
              <a:buNone/>
            </a:pPr>
            <a:r>
              <a:rPr lang="it-IT" sz="1200" b="1" dirty="0">
                <a:solidFill>
                  <a:schemeClr val="tx1"/>
                </a:solidFill>
              </a:rPr>
              <a:t>3  Accettarlo, ridurlo o comunicarlo</a:t>
            </a:r>
            <a:endParaRPr lang="it-IT" sz="1200" dirty="0"/>
          </a:p>
        </p:txBody>
      </p:sp>
      <p:sp>
        <p:nvSpPr>
          <p:cNvPr id="16" name="Accettare"/>
          <p:cNvSpPr/>
          <p:nvPr/>
        </p:nvSpPr>
        <p:spPr>
          <a:xfrm>
            <a:off x="457200" y="1783080"/>
            <a:ext cx="1920240" cy="1691640"/>
          </a:xfrm>
          <a:prstGeom prst="roundRect">
            <a:avLst>
              <a:gd name="adj" fmla="val 4324"/>
            </a:avLst>
          </a:prstGeom>
          <a:solidFill>
            <a:schemeClr val="accent1"/>
          </a:solidFill>
          <a:ln/>
        </p:spPr>
      </p:sp>
      <p:sp>
        <p:nvSpPr>
          <p:cNvPr id="17" name="cerchio FiCheck"/>
          <p:cNvSpPr/>
          <p:nvPr/>
        </p:nvSpPr>
        <p:spPr>
          <a:xfrm>
            <a:off x="1188720" y="1874520"/>
            <a:ext cx="502920" cy="502920"/>
          </a:xfrm>
          <a:prstGeom prst="ellipse">
            <a:avLst/>
          </a:prstGeom>
          <a:solidFill>
            <a:schemeClr val="bg1"/>
          </a:solidFill>
          <a:ln/>
        </p:spPr>
      </p:sp>
      <p:pic>
        <p:nvPicPr>
          <p:cNvPr id="18" name="Image 0" descr="FiCheck">    </p:cNvPr>
          <p:cNvPicPr>
            <a:picLocks noChangeAspect="1"/>
          </p:cNvPicPr>
          <p:nvPr/>
        </p:nvPicPr>
        <p:blipFill>
          <a:blip r:embed="rId1"/>
          <a:stretch>
            <a:fillRect/>
          </a:stretch>
        </p:blipFill>
        <p:spPr>
          <a:xfrm>
            <a:off x="1314450" y="2000250"/>
            <a:ext cx="251460" cy="251460"/>
          </a:xfrm>
          <a:prstGeom prst="rect">
            <a:avLst/>
          </a:prstGeom>
        </p:spPr>
      </p:pic>
      <p:sp>
        <p:nvSpPr>
          <p:cNvPr id="19" name="Text 15"/>
          <p:cNvSpPr txBox="1"/>
          <p:nvPr/>
        </p:nvSpPr>
        <p:spPr>
          <a:xfrm>
            <a:off x="548640" y="2450592"/>
            <a:ext cx="1783080" cy="347472"/>
          </a:xfrm>
          <a:prstGeom prst="rect">
            <a:avLst/>
          </a:prstGeom>
          <a:noFill/>
          <a:ln/>
        </p:spPr>
        <p:txBody>
          <a:bodyPr wrap="square" lIns="0" tIns="0" rIns="0" bIns="0" rtlCol="0" anchor="t"/>
          <a:lstStyle/>
          <a:p>
            <a:pPr algn="ctr" indent="0" marL="0">
              <a:buNone/>
            </a:pPr>
            <a:r>
              <a:rPr lang="it-IT" sz="1500" b="1" dirty="0">
                <a:solidFill>
                  <a:schemeClr val="bg1"/>
                </a:solidFill>
              </a:rPr>
              <a:t>Accettare</a:t>
            </a:r>
            <a:endParaRPr lang="it-IT" sz="1500" dirty="0"/>
          </a:p>
        </p:txBody>
      </p:sp>
      <p:sp>
        <p:nvSpPr>
          <p:cNvPr id="20" name="Text 16"/>
          <p:cNvSpPr txBox="1"/>
          <p:nvPr/>
        </p:nvSpPr>
        <p:spPr>
          <a:xfrm>
            <a:off x="594360" y="2816352"/>
            <a:ext cx="1691640" cy="594360"/>
          </a:xfrm>
          <a:prstGeom prst="rect">
            <a:avLst/>
          </a:prstGeom>
          <a:noFill/>
          <a:ln/>
        </p:spPr>
        <p:txBody>
          <a:bodyPr wrap="square" lIns="0" tIns="0" rIns="0" bIns="0" rtlCol="0" anchor="t"/>
          <a:lstStyle/>
          <a:p>
            <a:pPr algn="ctr" indent="0" marL="0">
              <a:buNone/>
            </a:pPr>
            <a:r>
              <a:rPr lang="it-IT" sz="1100" dirty="0">
                <a:solidFill>
                  <a:schemeClr val="bg1"/>
                </a:solidFill>
              </a:rPr>
              <a:t>Adeguato allo scopo, incertezze accettabili</a:t>
            </a:r>
            <a:endParaRPr lang="it-IT" sz="1100" dirty="0"/>
          </a:p>
        </p:txBody>
      </p:sp>
      <p:sp>
        <p:nvSpPr>
          <p:cNvPr id="21" name="Modificare"/>
          <p:cNvSpPr/>
          <p:nvPr/>
        </p:nvSpPr>
        <p:spPr>
          <a:xfrm>
            <a:off x="2560320" y="1783080"/>
            <a:ext cx="1920240" cy="1691640"/>
          </a:xfrm>
          <a:prstGeom prst="roundRect">
            <a:avLst>
              <a:gd name="adj" fmla="val 4324"/>
            </a:avLst>
          </a:prstGeom>
          <a:solidFill>
            <a:schemeClr val="accent6"/>
          </a:solidFill>
          <a:ln/>
        </p:spPr>
      </p:sp>
      <p:sp>
        <p:nvSpPr>
          <p:cNvPr id="22" name="cerchio FiEdit"/>
          <p:cNvSpPr/>
          <p:nvPr/>
        </p:nvSpPr>
        <p:spPr>
          <a:xfrm>
            <a:off x="3291840" y="1874520"/>
            <a:ext cx="502920" cy="502920"/>
          </a:xfrm>
          <a:prstGeom prst="ellipse">
            <a:avLst/>
          </a:prstGeom>
          <a:solidFill>
            <a:schemeClr val="accent1"/>
          </a:solidFill>
          <a:ln/>
        </p:spPr>
      </p:sp>
      <p:pic>
        <p:nvPicPr>
          <p:cNvPr id="23" name="Image 1" descr="FiEdit">    </p:cNvPr>
          <p:cNvPicPr>
            <a:picLocks noChangeAspect="1"/>
          </p:cNvPicPr>
          <p:nvPr/>
        </p:nvPicPr>
        <p:blipFill>
          <a:blip r:embed="rId2"/>
          <a:stretch>
            <a:fillRect/>
          </a:stretch>
        </p:blipFill>
        <p:spPr>
          <a:xfrm>
            <a:off x="3417570" y="2000250"/>
            <a:ext cx="251460" cy="251460"/>
          </a:xfrm>
          <a:prstGeom prst="rect">
            <a:avLst/>
          </a:prstGeom>
        </p:spPr>
      </p:pic>
      <p:sp>
        <p:nvSpPr>
          <p:cNvPr id="24" name="Text 19"/>
          <p:cNvSpPr txBox="1"/>
          <p:nvPr/>
        </p:nvSpPr>
        <p:spPr>
          <a:xfrm>
            <a:off x="2651760" y="2450592"/>
            <a:ext cx="1783080" cy="347472"/>
          </a:xfrm>
          <a:prstGeom prst="rect">
            <a:avLst/>
          </a:prstGeom>
          <a:noFill/>
          <a:ln/>
        </p:spPr>
        <p:txBody>
          <a:bodyPr wrap="square" lIns="0" tIns="0" rIns="0" bIns="0" rtlCol="0" anchor="t"/>
          <a:lstStyle/>
          <a:p>
            <a:pPr algn="ctr" indent="0" marL="0">
              <a:buNone/>
            </a:pPr>
            <a:r>
              <a:rPr lang="it-IT" sz="1500" b="1" dirty="0">
                <a:solidFill>
                  <a:schemeClr val="tx1"/>
                </a:solidFill>
              </a:rPr>
              <a:t>Modificare</a:t>
            </a:r>
            <a:endParaRPr lang="it-IT" sz="1500" dirty="0"/>
          </a:p>
        </p:txBody>
      </p:sp>
      <p:sp>
        <p:nvSpPr>
          <p:cNvPr id="25" name="Text 20"/>
          <p:cNvSpPr txBox="1"/>
          <p:nvPr/>
        </p:nvSpPr>
        <p:spPr>
          <a:xfrm>
            <a:off x="2697480" y="2816352"/>
            <a:ext cx="1691640" cy="594360"/>
          </a:xfrm>
          <a:prstGeom prst="rect">
            <a:avLst/>
          </a:prstGeom>
          <a:noFill/>
          <a:ln/>
        </p:spPr>
        <p:txBody>
          <a:bodyPr wrap="square" lIns="0" tIns="0" rIns="0" bIns="0" rtlCol="0" anchor="t"/>
          <a:lstStyle/>
          <a:p>
            <a:pPr algn="ctr" indent="0" marL="0">
              <a:buNone/>
            </a:pPr>
            <a:r>
              <a:rPr lang="it-IT" sz="1100" dirty="0">
                <a:solidFill>
                  <a:schemeClr val="tx1"/>
                </a:solidFill>
              </a:rPr>
              <a:t>Utilizzabile dopo correzioni e integrazioni</a:t>
            </a:r>
            <a:endParaRPr lang="it-IT" sz="1100" dirty="0"/>
          </a:p>
        </p:txBody>
      </p:sp>
      <p:sp>
        <p:nvSpPr>
          <p:cNvPr id="26" name="Approfondire"/>
          <p:cNvSpPr/>
          <p:nvPr/>
        </p:nvSpPr>
        <p:spPr>
          <a:xfrm>
            <a:off x="4663440" y="1783080"/>
            <a:ext cx="1920240" cy="1691640"/>
          </a:xfrm>
          <a:prstGeom prst="roundRect">
            <a:avLst>
              <a:gd name="adj" fmla="val 4324"/>
            </a:avLst>
          </a:prstGeom>
          <a:solidFill>
            <a:schemeClr val="bg2"/>
          </a:solidFill>
          <a:ln/>
        </p:spPr>
      </p:sp>
      <p:sp>
        <p:nvSpPr>
          <p:cNvPr id="27" name="cerchio FiSearch"/>
          <p:cNvSpPr/>
          <p:nvPr/>
        </p:nvSpPr>
        <p:spPr>
          <a:xfrm>
            <a:off x="5394960" y="1874520"/>
            <a:ext cx="502920" cy="502920"/>
          </a:xfrm>
          <a:prstGeom prst="ellipse">
            <a:avLst/>
          </a:prstGeom>
          <a:solidFill>
            <a:schemeClr val="accent1"/>
          </a:solidFill>
          <a:ln/>
        </p:spPr>
      </p:sp>
      <p:pic>
        <p:nvPicPr>
          <p:cNvPr id="28" name="Image 2" descr="FiSearch">    </p:cNvPr>
          <p:cNvPicPr>
            <a:picLocks noChangeAspect="1"/>
          </p:cNvPicPr>
          <p:nvPr/>
        </p:nvPicPr>
        <p:blipFill>
          <a:blip r:embed="rId3"/>
          <a:stretch>
            <a:fillRect/>
          </a:stretch>
        </p:blipFill>
        <p:spPr>
          <a:xfrm>
            <a:off x="5520690" y="2000250"/>
            <a:ext cx="251460" cy="251460"/>
          </a:xfrm>
          <a:prstGeom prst="rect">
            <a:avLst/>
          </a:prstGeom>
        </p:spPr>
      </p:pic>
      <p:sp>
        <p:nvSpPr>
          <p:cNvPr id="29" name="Text 23"/>
          <p:cNvSpPr txBox="1"/>
          <p:nvPr/>
        </p:nvSpPr>
        <p:spPr>
          <a:xfrm>
            <a:off x="4754880" y="2450592"/>
            <a:ext cx="1783080" cy="347472"/>
          </a:xfrm>
          <a:prstGeom prst="rect">
            <a:avLst/>
          </a:prstGeom>
          <a:noFill/>
          <a:ln/>
        </p:spPr>
        <p:txBody>
          <a:bodyPr wrap="square" lIns="0" tIns="0" rIns="0" bIns="0" rtlCol="0" anchor="t"/>
          <a:lstStyle/>
          <a:p>
            <a:pPr algn="ctr" indent="0" marL="0">
              <a:buNone/>
            </a:pPr>
            <a:r>
              <a:rPr lang="it-IT" sz="1500" b="1" dirty="0">
                <a:solidFill>
                  <a:schemeClr val="tx1"/>
                </a:solidFill>
              </a:rPr>
              <a:t>Approfondire</a:t>
            </a:r>
            <a:endParaRPr lang="it-IT" sz="1500" dirty="0"/>
          </a:p>
        </p:txBody>
      </p:sp>
      <p:sp>
        <p:nvSpPr>
          <p:cNvPr id="30" name="Text 24"/>
          <p:cNvSpPr txBox="1"/>
          <p:nvPr/>
        </p:nvSpPr>
        <p:spPr>
          <a:xfrm>
            <a:off x="4800600" y="2816352"/>
            <a:ext cx="1691640" cy="594360"/>
          </a:xfrm>
          <a:prstGeom prst="rect">
            <a:avLst/>
          </a:prstGeom>
          <a:noFill/>
          <a:ln/>
        </p:spPr>
        <p:txBody>
          <a:bodyPr wrap="square" lIns="0" tIns="0" rIns="0" bIns="0" rtlCol="0" anchor="t"/>
          <a:lstStyle/>
          <a:p>
            <a:pPr algn="ctr" indent="0" marL="0">
              <a:buNone/>
            </a:pPr>
            <a:r>
              <a:rPr lang="it-IT" sz="1100" dirty="0">
                <a:solidFill>
                  <a:schemeClr val="tx1"/>
                </a:solidFill>
              </a:rPr>
              <a:t>Servono verifiche, informazioni o un esperto</a:t>
            </a:r>
            <a:endParaRPr lang="it-IT" sz="1100" dirty="0"/>
          </a:p>
        </p:txBody>
      </p:sp>
      <p:sp>
        <p:nvSpPr>
          <p:cNvPr id="31" name="Rifiutare"/>
          <p:cNvSpPr/>
          <p:nvPr/>
        </p:nvSpPr>
        <p:spPr>
          <a:xfrm>
            <a:off x="6766560" y="1783080"/>
            <a:ext cx="1920240" cy="1691640"/>
          </a:xfrm>
          <a:prstGeom prst="roundRect">
            <a:avLst>
              <a:gd name="adj" fmla="val 4324"/>
            </a:avLst>
          </a:prstGeom>
          <a:solidFill>
            <a:schemeClr val="tx1"/>
          </a:solidFill>
          <a:ln/>
        </p:spPr>
      </p:sp>
      <p:sp>
        <p:nvSpPr>
          <p:cNvPr id="32" name="cerchio FiXCircle"/>
          <p:cNvSpPr/>
          <p:nvPr/>
        </p:nvSpPr>
        <p:spPr>
          <a:xfrm>
            <a:off x="7498080" y="1874520"/>
            <a:ext cx="502920" cy="502920"/>
          </a:xfrm>
          <a:prstGeom prst="ellipse">
            <a:avLst/>
          </a:prstGeom>
          <a:solidFill>
            <a:schemeClr val="bg1"/>
          </a:solidFill>
          <a:ln/>
        </p:spPr>
      </p:sp>
      <p:pic>
        <p:nvPicPr>
          <p:cNvPr id="33" name="Image 3" descr="FiXCircle">    </p:cNvPr>
          <p:cNvPicPr>
            <a:picLocks noChangeAspect="1"/>
          </p:cNvPicPr>
          <p:nvPr/>
        </p:nvPicPr>
        <p:blipFill>
          <a:blip r:embed="rId4"/>
          <a:stretch>
            <a:fillRect/>
          </a:stretch>
        </p:blipFill>
        <p:spPr>
          <a:xfrm>
            <a:off x="7623810" y="2000250"/>
            <a:ext cx="251460" cy="251460"/>
          </a:xfrm>
          <a:prstGeom prst="rect">
            <a:avLst/>
          </a:prstGeom>
        </p:spPr>
      </p:pic>
      <p:sp>
        <p:nvSpPr>
          <p:cNvPr id="34" name="Text 27"/>
          <p:cNvSpPr txBox="1"/>
          <p:nvPr/>
        </p:nvSpPr>
        <p:spPr>
          <a:xfrm>
            <a:off x="6858000" y="2450592"/>
            <a:ext cx="1783080" cy="347472"/>
          </a:xfrm>
          <a:prstGeom prst="rect">
            <a:avLst/>
          </a:prstGeom>
          <a:noFill/>
          <a:ln/>
        </p:spPr>
        <p:txBody>
          <a:bodyPr wrap="square" lIns="0" tIns="0" rIns="0" bIns="0" rtlCol="0" anchor="t"/>
          <a:lstStyle/>
          <a:p>
            <a:pPr algn="ctr" indent="0" marL="0">
              <a:buNone/>
            </a:pPr>
            <a:r>
              <a:rPr lang="it-IT" sz="1500" b="1" dirty="0">
                <a:solidFill>
                  <a:schemeClr val="bg1"/>
                </a:solidFill>
              </a:rPr>
              <a:t>Rifiutare</a:t>
            </a:r>
            <a:endParaRPr lang="it-IT" sz="1500" dirty="0"/>
          </a:p>
        </p:txBody>
      </p:sp>
      <p:sp>
        <p:nvSpPr>
          <p:cNvPr id="35" name="Text 28"/>
          <p:cNvSpPr txBox="1"/>
          <p:nvPr/>
        </p:nvSpPr>
        <p:spPr>
          <a:xfrm>
            <a:off x="6903720" y="2816352"/>
            <a:ext cx="1691640" cy="594360"/>
          </a:xfrm>
          <a:prstGeom prst="rect">
            <a:avLst/>
          </a:prstGeom>
          <a:noFill/>
          <a:ln/>
        </p:spPr>
        <p:txBody>
          <a:bodyPr wrap="square" lIns="0" tIns="0" rIns="0" bIns="0" rtlCol="0" anchor="t"/>
          <a:lstStyle/>
          <a:p>
            <a:pPr algn="ctr" indent="0" marL="0">
              <a:buNone/>
            </a:pPr>
            <a:r>
              <a:rPr lang="it-IT" sz="1100" dirty="0">
                <a:solidFill>
                  <a:schemeClr val="bg1"/>
                </a:solidFill>
              </a:rPr>
              <a:t>Errori sostanziali o incertezze troppo alte</a:t>
            </a:r>
            <a:endParaRPr lang="it-IT" sz="1100" dirty="0"/>
          </a:p>
        </p:txBody>
      </p:sp>
      <p:sp>
        <p:nvSpPr>
          <p:cNvPr id="36" name="esperto"/>
          <p:cNvSpPr/>
          <p:nvPr/>
        </p:nvSpPr>
        <p:spPr>
          <a:xfrm>
            <a:off x="457200" y="3639312"/>
            <a:ext cx="8229600" cy="886968"/>
          </a:xfrm>
          <a:prstGeom prst="roundRect">
            <a:avLst>
              <a:gd name="adj" fmla="val 8247"/>
            </a:avLst>
          </a:prstGeom>
          <a:solidFill>
            <a:schemeClr val="bg2"/>
          </a:solidFill>
          <a:ln/>
        </p:spPr>
      </p:sp>
      <p:sp>
        <p:nvSpPr>
          <p:cNvPr id="37" name="cerchio FiAward"/>
          <p:cNvSpPr/>
          <p:nvPr/>
        </p:nvSpPr>
        <p:spPr>
          <a:xfrm>
            <a:off x="640080" y="3840480"/>
            <a:ext cx="457200" cy="457200"/>
          </a:xfrm>
          <a:prstGeom prst="ellipse">
            <a:avLst/>
          </a:prstGeom>
          <a:solidFill>
            <a:schemeClr val="accent1"/>
          </a:solidFill>
          <a:ln/>
        </p:spPr>
      </p:sp>
      <p:pic>
        <p:nvPicPr>
          <p:cNvPr id="38" name="Image 4" descr="FiAward">    </p:cNvPr>
          <p:cNvPicPr>
            <a:picLocks noChangeAspect="1"/>
          </p:cNvPicPr>
          <p:nvPr/>
        </p:nvPicPr>
        <p:blipFill>
          <a:blip r:embed="rId5"/>
          <a:stretch>
            <a:fillRect/>
          </a:stretch>
        </p:blipFill>
        <p:spPr>
          <a:xfrm>
            <a:off x="754380" y="3954780"/>
            <a:ext cx="228600" cy="228600"/>
          </a:xfrm>
          <a:prstGeom prst="rect">
            <a:avLst/>
          </a:prstGeom>
        </p:spPr>
      </p:pic>
      <p:sp>
        <p:nvSpPr>
          <p:cNvPr id="39" name="Text 31"/>
          <p:cNvSpPr txBox="1"/>
          <p:nvPr/>
        </p:nvSpPr>
        <p:spPr>
          <a:xfrm>
            <a:off x="1234440" y="3639312"/>
            <a:ext cx="7315200" cy="886968"/>
          </a:xfrm>
          <a:prstGeom prst="rect">
            <a:avLst/>
          </a:prstGeom>
          <a:noFill/>
          <a:ln/>
        </p:spPr>
        <p:txBody>
          <a:bodyPr wrap="square" lIns="0" tIns="0" rIns="0" bIns="0" rtlCol="0" anchor="ctr"/>
          <a:lstStyle/>
          <a:p>
            <a:pPr indent="0" marL="0">
              <a:buNone/>
            </a:pPr>
            <a:r>
              <a:rPr lang="it-IT" sz="1300" b="1" dirty="0">
                <a:solidFill>
                  <a:schemeClr val="tx1"/>
                </a:solidFill>
              </a:rPr>
              <a:t>Coinvolgere un esperto </a:t>
            </a:r>
            <a:pPr indent="0" marL="0">
              <a:buNone/>
            </a:pPr>
            <a:r>
              <a:rPr lang="it-IT" sz="1300" dirty="0">
                <a:solidFill>
                  <a:schemeClr val="tx2"/>
                </a:solidFill>
              </a:rPr>
              <a:t>quando mancano le competenze per riconoscere gli errori e le conseguenze sono rilevanti: aspetti legali, fiscali, medici, tecnici, di sicurezza.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53</a:t>
            </a:fld>
            <a:endParaRPr lang="it-IT"/>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Documentare e responsabilità</a:t>
            </a:r>
            <a:endParaRPr lang="it-IT" sz="2600" dirty="0"/>
          </a:p>
        </p:txBody>
      </p:sp>
      <p:sp>
        <p:nvSpPr>
          <p:cNvPr id="4" name="fase Valutare"/>
          <p:cNvSpPr/>
          <p:nvPr/>
        </p:nvSpPr>
        <p:spPr>
          <a:xfrm>
            <a:off x="6400800" y="384048"/>
            <a:ext cx="731520"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40080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Valutare</a:t>
            </a:r>
            <a:endParaRPr lang="it-IT" sz="900" dirty="0"/>
          </a:p>
        </p:txBody>
      </p:sp>
      <p:sp>
        <p:nvSpPr>
          <p:cNvPr id="6" name="fase Verificare"/>
          <p:cNvSpPr/>
          <p:nvPr/>
        </p:nvSpPr>
        <p:spPr>
          <a:xfrm>
            <a:off x="7178040" y="384048"/>
            <a:ext cx="731520"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7178040" y="384048"/>
            <a:ext cx="731520" cy="237744"/>
          </a:xfrm>
          <a:prstGeom prst="rect">
            <a:avLst/>
          </a:prstGeom>
          <a:noFill/>
          <a:ln/>
        </p:spPr>
        <p:txBody>
          <a:bodyPr wrap="square" lIns="0" tIns="0" rIns="0" bIns="0" rtlCol="0" anchor="ctr"/>
          <a:lstStyle/>
          <a:p>
            <a:pPr algn="ctr" indent="0" marL="0">
              <a:buNone/>
            </a:pPr>
            <a:r>
              <a:rPr lang="it-IT" sz="900" b="1" dirty="0">
                <a:solidFill>
                  <a:schemeClr val="accent1"/>
                </a:solidFill>
              </a:rPr>
              <a:t>Verificare</a:t>
            </a:r>
            <a:endParaRPr lang="it-IT" sz="900" dirty="0"/>
          </a:p>
        </p:txBody>
      </p:sp>
      <p:sp>
        <p:nvSpPr>
          <p:cNvPr id="8" name="fase Decidere"/>
          <p:cNvSpPr/>
          <p:nvPr/>
        </p:nvSpPr>
        <p:spPr>
          <a:xfrm>
            <a:off x="7955280" y="384048"/>
            <a:ext cx="731520"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955280" y="384048"/>
            <a:ext cx="731520" cy="237744"/>
          </a:xfrm>
          <a:prstGeom prst="rect">
            <a:avLst/>
          </a:prstGeom>
          <a:noFill/>
          <a:ln/>
        </p:spPr>
        <p:txBody>
          <a:bodyPr wrap="square" lIns="0" tIns="0" rIns="0" bIns="0" rtlCol="0" anchor="ctr"/>
          <a:lstStyle/>
          <a:p>
            <a:pPr algn="ctr" indent="0" marL="0">
              <a:buNone/>
            </a:pPr>
            <a:r>
              <a:rPr lang="it-IT" sz="900" b="1" dirty="0">
                <a:solidFill>
                  <a:schemeClr val="bg1"/>
                </a:solidFill>
              </a:rPr>
              <a:t>Decidere</a:t>
            </a:r>
            <a:endParaRPr lang="it-IT" sz="900" dirty="0"/>
          </a:p>
        </p:txBody>
      </p:sp>
      <p:sp>
        <p:nvSpPr>
          <p:cNvPr id="10" name="scheda Documentare, quando necessario"/>
          <p:cNvSpPr/>
          <p:nvPr/>
        </p:nvSpPr>
        <p:spPr>
          <a:xfrm>
            <a:off x="457200" y="1097280"/>
            <a:ext cx="3977640" cy="2743200"/>
          </a:xfrm>
          <a:prstGeom prst="roundRect">
            <a:avLst>
              <a:gd name="adj" fmla="val 2667"/>
            </a:avLst>
          </a:prstGeom>
          <a:solidFill>
            <a:schemeClr val="bg2"/>
          </a:solidFill>
          <a:ln/>
        </p:spPr>
      </p:sp>
      <p:sp>
        <p:nvSpPr>
          <p:cNvPr id="11" name="cerchio FiFileText"/>
          <p:cNvSpPr/>
          <p:nvPr/>
        </p:nvSpPr>
        <p:spPr>
          <a:xfrm>
            <a:off x="640080" y="1280160"/>
            <a:ext cx="457200" cy="457200"/>
          </a:xfrm>
          <a:prstGeom prst="ellipse">
            <a:avLst/>
          </a:prstGeom>
          <a:solidFill>
            <a:schemeClr val="accent1"/>
          </a:solidFill>
          <a:ln/>
        </p:spPr>
      </p:sp>
      <p:pic>
        <p:nvPicPr>
          <p:cNvPr id="12" name="Image 0" descr="FiFileText">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it-IT" sz="1500" b="1" dirty="0">
                <a:solidFill>
                  <a:schemeClr val="tx1"/>
                </a:solidFill>
              </a:rPr>
              <a:t>Documentare, quando necessario</a:t>
            </a:r>
            <a:endParaRPr lang="it-IT" sz="1500" dirty="0"/>
          </a:p>
        </p:txBody>
      </p:sp>
      <p:sp>
        <p:nvSpPr>
          <p:cNvPr id="14" name="Text 10"/>
          <p:cNvSpPr txBox="1"/>
          <p:nvPr/>
        </p:nvSpPr>
        <p:spPr>
          <a:xfrm>
            <a:off x="640080" y="2231136"/>
            <a:ext cx="3611880" cy="1499616"/>
          </a:xfrm>
          <a:prstGeom prst="rect">
            <a:avLst/>
          </a:prstGeom>
          <a:noFill/>
          <a:ln/>
        </p:spPr>
        <p:txBody>
          <a:bodyPr wrap="square" lIns="0" tIns="0" rIns="0" bIns="0" rtlCol="0" anchor="t"/>
          <a:lstStyle/>
          <a:p>
            <a:pPr indent="0" marL="0">
              <a:spcAft>
                <a:spcPts val="800"/>
              </a:spcAft>
              <a:buNone/>
            </a:pPr>
            <a:r>
              <a:rPr lang="it-IT" sz="1200" b="1" dirty="0">
                <a:solidFill>
                  <a:schemeClr val="tx1"/>
                </a:solidFill>
              </a:rPr>
              <a:t>Che cosa è stato verificato, con quali fonti, da chi, quando; quali incertezze restano.</a:t>
            </a:r>
            <a:endParaRPr lang="it-IT" sz="1200" dirty="0"/>
          </a:p>
          <a:p>
            <a:pPr marL="177800" indent="-177800">
              <a:spcAft>
                <a:spcPts val="300"/>
              </a:spcAft>
              <a:buSzPct val="100000"/>
              <a:buChar char="•"/>
            </a:pPr>
            <a:r>
              <a:rPr lang="it-IT" sz="1200" dirty="0">
                <a:solidFill>
                  <a:schemeClr val="tx2"/>
                </a:solidFill>
              </a:rPr>
              <a:t>Per ciò che potrebbe essere riesaminato o contestato</a:t>
            </a:r>
            <a:endParaRPr lang="it-IT" sz="1200" dirty="0"/>
          </a:p>
          <a:p>
            <a:pPr marL="177800" indent="-177800">
              <a:spcAft>
                <a:spcPts val="300"/>
              </a:spcAft>
              <a:buSzPct val="100000"/>
              <a:buChar char="•"/>
            </a:pPr>
            <a:r>
              <a:rPr lang="it-IT" sz="1200" dirty="0">
                <a:solidFill>
                  <a:schemeClr val="tx2"/>
                </a:solidFill>
              </a:rPr>
              <a:t>Permette di ricostruire, correggere, imparare</a:t>
            </a:r>
            <a:endParaRPr lang="it-IT" sz="1200" dirty="0"/>
          </a:p>
        </p:txBody>
      </p:sp>
      <p:sp>
        <p:nvSpPr>
          <p:cNvPr id="15" name="responsabilità"/>
          <p:cNvSpPr/>
          <p:nvPr/>
        </p:nvSpPr>
        <p:spPr>
          <a:xfrm>
            <a:off x="4709160" y="1097280"/>
            <a:ext cx="3977640" cy="2743200"/>
          </a:xfrm>
          <a:prstGeom prst="roundRect">
            <a:avLst>
              <a:gd name="adj" fmla="val 2667"/>
            </a:avLst>
          </a:prstGeom>
          <a:solidFill>
            <a:schemeClr val="tx1"/>
          </a:solidFill>
          <a:ln/>
        </p:spPr>
      </p:sp>
      <p:sp>
        <p:nvSpPr>
          <p:cNvPr id="16" name="cerchio FiUserCheck"/>
          <p:cNvSpPr/>
          <p:nvPr/>
        </p:nvSpPr>
        <p:spPr>
          <a:xfrm>
            <a:off x="4892040" y="1207008"/>
            <a:ext cx="438912" cy="438912"/>
          </a:xfrm>
          <a:prstGeom prst="ellipse">
            <a:avLst/>
          </a:prstGeom>
          <a:solidFill>
            <a:schemeClr val="accent1"/>
          </a:solidFill>
          <a:ln/>
        </p:spPr>
      </p:sp>
      <p:pic>
        <p:nvPicPr>
          <p:cNvPr id="17" name="Image 1" descr="FiUserCheck">    </p:cNvPr>
          <p:cNvPicPr>
            <a:picLocks noChangeAspect="1"/>
          </p:cNvPicPr>
          <p:nvPr/>
        </p:nvPicPr>
        <p:blipFill>
          <a:blip r:embed="rId2"/>
          <a:stretch>
            <a:fillRect/>
          </a:stretch>
        </p:blipFill>
        <p:spPr>
          <a:xfrm>
            <a:off x="5001768" y="1316736"/>
            <a:ext cx="219456" cy="219456"/>
          </a:xfrm>
          <a:prstGeom prst="rect">
            <a:avLst/>
          </a:prstGeom>
        </p:spPr>
      </p:pic>
      <p:sp>
        <p:nvSpPr>
          <p:cNvPr id="18" name="Text 13"/>
          <p:cNvSpPr txBox="1"/>
          <p:nvPr/>
        </p:nvSpPr>
        <p:spPr>
          <a:xfrm>
            <a:off x="5440680" y="1170432"/>
            <a:ext cx="3108960" cy="548640"/>
          </a:xfrm>
          <a:prstGeom prst="rect">
            <a:avLst/>
          </a:prstGeom>
          <a:noFill/>
          <a:ln/>
        </p:spPr>
        <p:txBody>
          <a:bodyPr wrap="square" lIns="0" tIns="0" rIns="0" bIns="0" rtlCol="0" anchor="ctr"/>
          <a:lstStyle/>
          <a:p>
            <a:pPr indent="0" marL="0">
              <a:buNone/>
            </a:pPr>
            <a:r>
              <a:rPr lang="it-IT" sz="1300" b="1" dirty="0">
                <a:solidFill>
                  <a:schemeClr val="bg1"/>
                </a:solidFill>
              </a:rPr>
              <a:t>Chi decide di usare un risultato ne risponde secondo il proprio ruolo</a:t>
            </a:r>
            <a:endParaRPr lang="it-IT" sz="1300" dirty="0"/>
          </a:p>
        </p:txBody>
      </p:sp>
      <p:sp>
        <p:nvSpPr>
          <p:cNvPr id="19" name="Text 14"/>
          <p:cNvSpPr txBox="1"/>
          <p:nvPr/>
        </p:nvSpPr>
        <p:spPr>
          <a:xfrm>
            <a:off x="4892040" y="1828800"/>
            <a:ext cx="3611880" cy="1920240"/>
          </a:xfrm>
          <a:prstGeom prst="rect">
            <a:avLst/>
          </a:prstGeom>
          <a:noFill/>
          <a:ln/>
        </p:spPr>
        <p:txBody>
          <a:bodyPr wrap="square" lIns="0" tIns="0" rIns="0" bIns="0" rtlCol="0" anchor="t"/>
          <a:lstStyle/>
          <a:p>
            <a:pPr indent="0" marL="0">
              <a:buNone/>
            </a:pPr>
            <a:r>
              <a:rPr lang="it-IT" sz="1100" b="1" dirty="0">
                <a:solidFill>
                  <a:schemeClr val="accent1"/>
                </a:solidFill>
              </a:rPr>
              <a:t>Professionale: </a:t>
            </a:r>
            <a:pPr indent="0" marL="0">
              <a:spcAft>
                <a:spcPts val="500"/>
              </a:spcAft>
              <a:buNone/>
            </a:pPr>
            <a:r>
              <a:rPr lang="it-IT" sz="1100" dirty="0">
                <a:solidFill>
                  <a:schemeClr val="accent3"/>
                </a:solidFill>
              </a:rPr>
              <a:t>la qualità del proprio lavoro, anche se preparato con l'AI</a:t>
            </a:r>
            <a:endParaRPr lang="it-IT" sz="1100" dirty="0"/>
          </a:p>
          <a:p>
            <a:pPr indent="0" marL="0">
              <a:buNone/>
            </a:pPr>
            <a:r>
              <a:rPr lang="it-IT" sz="1100" b="1" dirty="0">
                <a:solidFill>
                  <a:schemeClr val="accent1"/>
                </a:solidFill>
              </a:rPr>
              <a:t>Procedure aziendali: </a:t>
            </a:r>
            <a:pPr indent="0" marL="0">
              <a:spcAft>
                <a:spcPts val="500"/>
              </a:spcAft>
              <a:buNone/>
            </a:pPr>
            <a:r>
              <a:rPr lang="it-IT" sz="1100" dirty="0">
                <a:solidFill>
                  <a:schemeClr val="accent3"/>
                </a:solidFill>
              </a:rPr>
              <a:t>regole su strumenti, revisione, approvazione</a:t>
            </a:r>
            <a:endParaRPr lang="it-IT" sz="1100" dirty="0"/>
          </a:p>
          <a:p>
            <a:pPr indent="0" marL="0">
              <a:buNone/>
            </a:pPr>
            <a:r>
              <a:rPr lang="it-IT" sz="1100" b="1" dirty="0">
                <a:solidFill>
                  <a:schemeClr val="accent1"/>
                </a:solidFill>
              </a:rPr>
              <a:t>Supervisione: </a:t>
            </a:r>
            <a:pPr indent="0" marL="0">
              <a:spcAft>
                <a:spcPts val="500"/>
              </a:spcAft>
              <a:buNone/>
            </a:pPr>
            <a:r>
              <a:rPr lang="it-IT" sz="1100" dirty="0">
                <a:solidFill>
                  <a:schemeClr val="accent3"/>
                </a:solidFill>
              </a:rPr>
              <a:t>chi approva o firma risponde dei controlli previsti</a:t>
            </a:r>
            <a:endParaRPr lang="it-IT" sz="1100" dirty="0"/>
          </a:p>
          <a:p>
            <a:pPr indent="0" marL="0">
              <a:buNone/>
            </a:pPr>
            <a:r>
              <a:rPr lang="it-IT" sz="1100" b="1" dirty="0">
                <a:solidFill>
                  <a:schemeClr val="accent1"/>
                </a:solidFill>
              </a:rPr>
              <a:t>Obblighi giuridici: </a:t>
            </a:r>
            <a:pPr indent="0" marL="0">
              <a:spcAft>
                <a:spcPts val="500"/>
              </a:spcAft>
              <a:buNone/>
            </a:pPr>
            <a:r>
              <a:rPr lang="it-IT" sz="1100" dirty="0">
                <a:solidFill>
                  <a:schemeClr val="accent3"/>
                </a:solidFill>
              </a:rPr>
              <a:t>quelli applicabili al caso e al settore</a:t>
            </a:r>
            <a:endParaRPr lang="it-IT" sz="1100" dirty="0"/>
          </a:p>
        </p:txBody>
      </p:sp>
      <p:sp>
        <p:nvSpPr>
          <p:cNvPr id="20" name="messaggio"/>
          <p:cNvSpPr/>
          <p:nvPr/>
        </p:nvSpPr>
        <p:spPr>
          <a:xfrm>
            <a:off x="457200" y="4023360"/>
            <a:ext cx="8229600" cy="502920"/>
          </a:xfrm>
          <a:prstGeom prst="roundRect">
            <a:avLst>
              <a:gd name="adj" fmla="val 14545"/>
            </a:avLst>
          </a:prstGeom>
          <a:solidFill>
            <a:schemeClr val="tx1"/>
          </a:solidFill>
          <a:ln/>
        </p:spPr>
      </p:sp>
      <p:sp>
        <p:nvSpPr>
          <p:cNvPr id="21" name="Text 16"/>
          <p:cNvSpPr txBox="1"/>
          <p:nvPr/>
        </p:nvSpPr>
        <p:spPr>
          <a:xfrm>
            <a:off x="640080" y="4023360"/>
            <a:ext cx="7863840" cy="502920"/>
          </a:xfrm>
          <a:prstGeom prst="rect">
            <a:avLst/>
          </a:prstGeom>
          <a:noFill/>
          <a:ln/>
        </p:spPr>
        <p:txBody>
          <a:bodyPr wrap="square" lIns="0" tIns="0" rIns="0" bIns="0" rtlCol="0" anchor="ctr"/>
          <a:lstStyle/>
          <a:p>
            <a:pPr indent="0" marL="0">
              <a:buNone/>
            </a:pPr>
            <a:r>
              <a:rPr lang="it-IT" sz="1200" dirty="0">
                <a:solidFill>
                  <a:schemeClr val="bg1"/>
                </a:solidFill>
              </a:rPr>
              <a:t>Valutare, verificare e decidere non sono attività accessorie, ma parte essenziale dell'uso consapevole dell'AI.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54</a:t>
            </a:fld>
            <a:endParaRPr lang="it-IT"/>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it-IT" sz="2600" dirty="0">
                <a:solidFill>
                  <a:schemeClr val="bg1"/>
                </a:solidFill>
              </a:rPr>
              <a:t>Validare significa decidere se un output, con le verifiche appropriate e le incertezze residue, sia adeguato a uno specifico utilizzo.</a:t>
            </a:r>
            <a:endParaRPr lang="it-IT"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it-IT" sz="1300" dirty="0">
                <a:solidFill>
                  <a:schemeClr val="accent3"/>
                </a:solidFill>
              </a:rPr>
              <a:t>Sottotema 7.8  ·  Validazione e responsabilità nell'uso</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55</a:t>
            </a:fld>
            <a:endParaRPr lang="it-IT"/>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Valutare, verificare, decidere: una scheda pratica</a:t>
            </a:r>
            <a:endParaRPr lang="it-IT" sz="2600" dirty="0"/>
          </a:p>
        </p:txBody>
      </p:sp>
      <p:sp>
        <p:nvSpPr>
          <p:cNvPr id="4" name="Valutare"/>
          <p:cNvSpPr/>
          <p:nvPr/>
        </p:nvSpPr>
        <p:spPr>
          <a:xfrm>
            <a:off x="457200" y="1051560"/>
            <a:ext cx="2615184" cy="2331720"/>
          </a:xfrm>
          <a:prstGeom prst="roundRect">
            <a:avLst>
              <a:gd name="adj" fmla="val 3137"/>
            </a:avLst>
          </a:prstGeom>
          <a:solidFill>
            <a:schemeClr val="bg2"/>
          </a:solidFill>
          <a:ln/>
        </p:spPr>
      </p:sp>
      <p:sp>
        <p:nvSpPr>
          <p:cNvPr id="5" name="Text 2"/>
          <p:cNvSpPr txBox="1"/>
          <p:nvPr/>
        </p:nvSpPr>
        <p:spPr>
          <a:xfrm>
            <a:off x="640080" y="1124712"/>
            <a:ext cx="2249424" cy="384048"/>
          </a:xfrm>
          <a:prstGeom prst="rect">
            <a:avLst/>
          </a:prstGeom>
          <a:noFill/>
          <a:ln/>
        </p:spPr>
        <p:txBody>
          <a:bodyPr wrap="square" lIns="0" tIns="0" rIns="0" bIns="0" rtlCol="0" anchor="t"/>
          <a:lstStyle/>
          <a:p>
            <a:pPr indent="0" marL="0">
              <a:buNone/>
            </a:pPr>
            <a:r>
              <a:rPr lang="it-IT" sz="1800" b="1" dirty="0">
                <a:solidFill>
                  <a:schemeClr val="accent1"/>
                </a:solidFill>
              </a:rPr>
              <a:t>Valutare</a:t>
            </a:r>
            <a:endParaRPr lang="it-IT" sz="1800" dirty="0"/>
          </a:p>
        </p:txBody>
      </p:sp>
      <p:sp>
        <p:nvSpPr>
          <p:cNvPr id="6" name="Text 3"/>
          <p:cNvSpPr txBox="1"/>
          <p:nvPr/>
        </p:nvSpPr>
        <p:spPr>
          <a:xfrm>
            <a:off x="640080" y="1554480"/>
            <a:ext cx="2286000" cy="1783080"/>
          </a:xfrm>
          <a:prstGeom prst="rect">
            <a:avLst/>
          </a:prstGeom>
          <a:noFill/>
          <a:ln/>
        </p:spPr>
        <p:txBody>
          <a:bodyPr wrap="square" lIns="0" tIns="0" rIns="0" bIns="0" rtlCol="0" anchor="t"/>
          <a:lstStyle/>
          <a:p>
            <a:pPr marL="177800" indent="-177800">
              <a:spcAft>
                <a:spcPts val="600"/>
              </a:spcAft>
              <a:buSzPct val="100000"/>
              <a:buChar char="•"/>
            </a:pPr>
            <a:r>
              <a:rPr lang="it-IT" sz="1200" dirty="0">
                <a:solidFill>
                  <a:schemeClr val="tx1"/>
                </a:solidFill>
              </a:rPr>
              <a:t>Che cosa sostiene? Fatti, ipotesi, stime, opinioni</a:t>
            </a:r>
            <a:endParaRPr lang="it-IT" sz="1200" dirty="0"/>
          </a:p>
          <a:p>
            <a:pPr marL="177800" indent="-177800">
              <a:spcAft>
                <a:spcPts val="600"/>
              </a:spcAft>
              <a:buSzPct val="100000"/>
              <a:buChar char="•"/>
            </a:pPr>
            <a:r>
              <a:rPr lang="it-IT" sz="1200" dirty="0">
                <a:solidFill>
                  <a:schemeClr val="tx1"/>
                </a:solidFill>
              </a:rPr>
              <a:t>Pertinente, completo, coerente? Che cosa manca?</a:t>
            </a:r>
            <a:endParaRPr lang="it-IT" sz="1200" dirty="0"/>
          </a:p>
          <a:p>
            <a:pPr marL="177800" indent="-177800">
              <a:spcAft>
                <a:spcPts val="600"/>
              </a:spcAft>
              <a:buSzPct val="100000"/>
              <a:buChar char="•"/>
            </a:pPr>
            <a:r>
              <a:rPr lang="it-IT" sz="1200" dirty="0">
                <a:solidFill>
                  <a:schemeClr val="tx1"/>
                </a:solidFill>
              </a:rPr>
              <a:t>Il ragionamento regge?</a:t>
            </a:r>
            <a:endParaRPr lang="it-IT" sz="1200" dirty="0"/>
          </a:p>
        </p:txBody>
      </p:sp>
      <p:sp>
        <p:nvSpPr>
          <p:cNvPr id="7" name="Verificare"/>
          <p:cNvSpPr/>
          <p:nvPr/>
        </p:nvSpPr>
        <p:spPr>
          <a:xfrm>
            <a:off x="3264408" y="1051560"/>
            <a:ext cx="2615184" cy="2331720"/>
          </a:xfrm>
          <a:prstGeom prst="roundRect">
            <a:avLst>
              <a:gd name="adj" fmla="val 3137"/>
            </a:avLst>
          </a:prstGeom>
          <a:solidFill>
            <a:schemeClr val="accent6"/>
          </a:solidFill>
          <a:ln/>
        </p:spPr>
      </p:sp>
      <p:sp>
        <p:nvSpPr>
          <p:cNvPr id="8" name="Text 5"/>
          <p:cNvSpPr txBox="1"/>
          <p:nvPr/>
        </p:nvSpPr>
        <p:spPr>
          <a:xfrm>
            <a:off x="3447288" y="1124712"/>
            <a:ext cx="2249424" cy="384048"/>
          </a:xfrm>
          <a:prstGeom prst="rect">
            <a:avLst/>
          </a:prstGeom>
          <a:noFill/>
          <a:ln/>
        </p:spPr>
        <p:txBody>
          <a:bodyPr wrap="square" lIns="0" tIns="0" rIns="0" bIns="0" rtlCol="0" anchor="t"/>
          <a:lstStyle/>
          <a:p>
            <a:pPr indent="0" marL="0">
              <a:buNone/>
            </a:pPr>
            <a:r>
              <a:rPr lang="it-IT" sz="1800" b="1" dirty="0">
                <a:solidFill>
                  <a:schemeClr val="accent1"/>
                </a:solidFill>
              </a:rPr>
              <a:t>Verificare</a:t>
            </a:r>
            <a:endParaRPr lang="it-IT" sz="1800" dirty="0"/>
          </a:p>
        </p:txBody>
      </p:sp>
      <p:sp>
        <p:nvSpPr>
          <p:cNvPr id="9" name="Text 6"/>
          <p:cNvSpPr txBox="1"/>
          <p:nvPr/>
        </p:nvSpPr>
        <p:spPr>
          <a:xfrm>
            <a:off x="3447288" y="1554480"/>
            <a:ext cx="2286000" cy="1783080"/>
          </a:xfrm>
          <a:prstGeom prst="rect">
            <a:avLst/>
          </a:prstGeom>
          <a:noFill/>
          <a:ln/>
        </p:spPr>
        <p:txBody>
          <a:bodyPr wrap="square" lIns="0" tIns="0" rIns="0" bIns="0" rtlCol="0" anchor="t"/>
          <a:lstStyle/>
          <a:p>
            <a:pPr marL="177800" indent="-177800">
              <a:spcAft>
                <a:spcPts val="600"/>
              </a:spcAft>
              <a:buSzPct val="100000"/>
              <a:buChar char="•"/>
            </a:pPr>
            <a:r>
              <a:rPr lang="it-IT" sz="1200" dirty="0">
                <a:solidFill>
                  <a:schemeClr val="tx1"/>
                </a:solidFill>
              </a:rPr>
              <a:t>Solo i punti critici: importanza, rischio, visibilità</a:t>
            </a:r>
            <a:endParaRPr lang="it-IT" sz="1200" dirty="0"/>
          </a:p>
          <a:p>
            <a:pPr marL="177800" indent="-177800">
              <a:spcAft>
                <a:spcPts val="600"/>
              </a:spcAft>
              <a:buSzPct val="100000"/>
              <a:buChar char="•"/>
            </a:pPr>
            <a:r>
              <a:rPr lang="it-IT" sz="1200" dirty="0">
                <a:solidFill>
                  <a:schemeClr val="tx1"/>
                </a:solidFill>
              </a:rPr>
              <a:t>Fonti primarie; numeri ricalcolati con uno strumento</a:t>
            </a:r>
            <a:endParaRPr lang="it-IT" sz="1200" dirty="0"/>
          </a:p>
          <a:p>
            <a:pPr marL="177800" indent="-177800">
              <a:spcAft>
                <a:spcPts val="600"/>
              </a:spcAft>
              <a:buSzPct val="100000"/>
              <a:buChar char="•"/>
            </a:pPr>
            <a:r>
              <a:rPr lang="it-IT" sz="1200" dirty="0">
                <a:solidFill>
                  <a:schemeClr val="tx1"/>
                </a:solidFill>
              </a:rPr>
              <a:t>L'AI trova i dubbi, le evidenze li confermano</a:t>
            </a:r>
            <a:endParaRPr lang="it-IT" sz="1200" dirty="0"/>
          </a:p>
        </p:txBody>
      </p:sp>
      <p:sp>
        <p:nvSpPr>
          <p:cNvPr id="10" name="Decidere"/>
          <p:cNvSpPr/>
          <p:nvPr/>
        </p:nvSpPr>
        <p:spPr>
          <a:xfrm>
            <a:off x="6071616" y="1051560"/>
            <a:ext cx="2615184" cy="2331720"/>
          </a:xfrm>
          <a:prstGeom prst="roundRect">
            <a:avLst>
              <a:gd name="adj" fmla="val 3137"/>
            </a:avLst>
          </a:prstGeom>
          <a:solidFill>
            <a:schemeClr val="bg2"/>
          </a:solidFill>
          <a:ln/>
        </p:spPr>
      </p:sp>
      <p:sp>
        <p:nvSpPr>
          <p:cNvPr id="11" name="Text 8"/>
          <p:cNvSpPr txBox="1"/>
          <p:nvPr/>
        </p:nvSpPr>
        <p:spPr>
          <a:xfrm>
            <a:off x="6254496" y="1124712"/>
            <a:ext cx="2249424" cy="384048"/>
          </a:xfrm>
          <a:prstGeom prst="rect">
            <a:avLst/>
          </a:prstGeom>
          <a:noFill/>
          <a:ln/>
        </p:spPr>
        <p:txBody>
          <a:bodyPr wrap="square" lIns="0" tIns="0" rIns="0" bIns="0" rtlCol="0" anchor="t"/>
          <a:lstStyle/>
          <a:p>
            <a:pPr indent="0" marL="0">
              <a:buNone/>
            </a:pPr>
            <a:r>
              <a:rPr lang="it-IT" sz="1800" b="1" dirty="0">
                <a:solidFill>
                  <a:schemeClr val="accent1"/>
                </a:solidFill>
              </a:rPr>
              <a:t>Decidere</a:t>
            </a:r>
            <a:endParaRPr lang="it-IT" sz="1800" dirty="0"/>
          </a:p>
        </p:txBody>
      </p:sp>
      <p:sp>
        <p:nvSpPr>
          <p:cNvPr id="12" name="Text 9"/>
          <p:cNvSpPr txBox="1"/>
          <p:nvPr/>
        </p:nvSpPr>
        <p:spPr>
          <a:xfrm>
            <a:off x="6254496" y="1554480"/>
            <a:ext cx="2286000" cy="1783080"/>
          </a:xfrm>
          <a:prstGeom prst="rect">
            <a:avLst/>
          </a:prstGeom>
          <a:noFill/>
          <a:ln/>
        </p:spPr>
        <p:txBody>
          <a:bodyPr wrap="square" lIns="0" tIns="0" rIns="0" bIns="0" rtlCol="0" anchor="t"/>
          <a:lstStyle/>
          <a:p>
            <a:pPr marL="177800" indent="-177800">
              <a:spcAft>
                <a:spcPts val="600"/>
              </a:spcAft>
              <a:buSzPct val="100000"/>
              <a:buChar char="•"/>
            </a:pPr>
            <a:r>
              <a:rPr lang="it-IT" sz="1200" dirty="0">
                <a:solidFill>
                  <a:schemeClr val="tx1"/>
                </a:solidFill>
              </a:rPr>
              <a:t>Adeguato all'uso? Quali incertezze restano?</a:t>
            </a:r>
            <a:endParaRPr lang="it-IT" sz="1200" dirty="0"/>
          </a:p>
          <a:p>
            <a:pPr marL="177800" indent="-177800">
              <a:spcAft>
                <a:spcPts val="600"/>
              </a:spcAft>
              <a:buSzPct val="100000"/>
              <a:buChar char="•"/>
            </a:pPr>
            <a:r>
              <a:rPr lang="it-IT" sz="1200" dirty="0">
                <a:solidFill>
                  <a:schemeClr val="tx1"/>
                </a:solidFill>
              </a:rPr>
              <a:t>Serve un esperto?</a:t>
            </a:r>
            <a:endParaRPr lang="it-IT" sz="1200" dirty="0"/>
          </a:p>
          <a:p>
            <a:pPr marL="177800" indent="-177800">
              <a:spcAft>
                <a:spcPts val="600"/>
              </a:spcAft>
              <a:buSzPct val="100000"/>
              <a:buChar char="•"/>
            </a:pPr>
            <a:r>
              <a:rPr lang="it-IT" sz="1200" dirty="0">
                <a:solidFill>
                  <a:schemeClr val="tx1"/>
                </a:solidFill>
              </a:rPr>
              <a:t>Accettare, modificare, approfondire, rifiutare</a:t>
            </a:r>
            <a:endParaRPr lang="it-IT" sz="1200" dirty="0"/>
          </a:p>
        </p:txBody>
      </p:sp>
      <p:sp>
        <p:nvSpPr>
          <p:cNvPr id="13" name="Text 10"/>
          <p:cNvSpPr txBox="1"/>
          <p:nvPr/>
        </p:nvSpPr>
        <p:spPr>
          <a:xfrm>
            <a:off x="457200" y="3456432"/>
            <a:ext cx="8229600" cy="274320"/>
          </a:xfrm>
          <a:prstGeom prst="rect">
            <a:avLst/>
          </a:prstGeom>
          <a:noFill/>
          <a:ln/>
        </p:spPr>
        <p:txBody>
          <a:bodyPr wrap="square" lIns="0" tIns="0" rIns="0" bIns="0" rtlCol="0" anchor="t"/>
          <a:lstStyle/>
          <a:p>
            <a:pPr indent="0" marL="0">
              <a:buNone/>
            </a:pPr>
            <a:r>
              <a:rPr lang="it-IT" sz="1100" i="1" dirty="0">
                <a:solidFill>
                  <a:schemeClr val="tx1"/>
                </a:solidFill>
              </a:rPr>
              <a:t>Sempre: attenzione ai propri bias, con gli stessi controlli per ciò che piace e ciò che no.</a:t>
            </a:r>
            <a:endParaRPr lang="it-IT" sz="1100" dirty="0"/>
          </a:p>
        </p:txBody>
      </p:sp>
      <p:sp>
        <p:nvSpPr>
          <p:cNvPr id="14" name="messaggio conclusivo"/>
          <p:cNvSpPr/>
          <p:nvPr/>
        </p:nvSpPr>
        <p:spPr>
          <a:xfrm>
            <a:off x="457200" y="3794760"/>
            <a:ext cx="8229600" cy="749808"/>
          </a:xfrm>
          <a:prstGeom prst="roundRect">
            <a:avLst>
              <a:gd name="adj" fmla="val 9756"/>
            </a:avLst>
          </a:prstGeom>
          <a:solidFill>
            <a:schemeClr val="tx1"/>
          </a:solidFill>
          <a:ln/>
        </p:spPr>
      </p:sp>
      <p:sp>
        <p:nvSpPr>
          <p:cNvPr id="15" name="Text 12"/>
          <p:cNvSpPr txBox="1"/>
          <p:nvPr/>
        </p:nvSpPr>
        <p:spPr>
          <a:xfrm>
            <a:off x="640080" y="3794760"/>
            <a:ext cx="7863840" cy="749808"/>
          </a:xfrm>
          <a:prstGeom prst="rect">
            <a:avLst/>
          </a:prstGeom>
          <a:noFill/>
          <a:ln/>
        </p:spPr>
        <p:txBody>
          <a:bodyPr wrap="square" lIns="0" tIns="0" rIns="0" bIns="0" rtlCol="0" anchor="ctr"/>
          <a:lstStyle/>
          <a:p>
            <a:pPr indent="0" marL="0">
              <a:buNone/>
            </a:pPr>
            <a:r>
              <a:rPr lang="it-IT" sz="1400" b="1" dirty="0">
                <a:solidFill>
                  <a:schemeClr val="bg1"/>
                </a:solidFill>
              </a:rPr>
              <a:t>L'obiettivo non è verificare tutto, ma sapere che cosa verificare, come farlo e quando un risultato è sufficientemente affidabile per essere utilizzato.</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56</a:t>
            </a:fld>
            <a:endParaRPr lang="it-IT"/>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viene dopo</a:t>
            </a:r>
            <a:endParaRPr lang="it-IT" sz="2600" dirty="0"/>
          </a:p>
        </p:txBody>
      </p:sp>
      <p:sp>
        <p:nvSpPr>
          <p:cNvPr id="4" name="aree completat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it-IT" sz="1200" b="1" spc="200" kern="0" dirty="0">
                <a:solidFill>
                  <a:schemeClr val="accent2"/>
                </a:solidFill>
              </a:rPr>
              <a:t>AREE COMPLETATE</a:t>
            </a:r>
            <a:endParaRPr lang="it-IT" sz="1200" dirty="0"/>
          </a:p>
        </p:txBody>
      </p:sp>
      <p:sp>
        <p:nvSpPr>
          <p:cNvPr id="6" name="Text 3"/>
          <p:cNvSpPr txBox="1"/>
          <p:nvPr/>
        </p:nvSpPr>
        <p:spPr>
          <a:xfrm>
            <a:off x="685800" y="1600200"/>
            <a:ext cx="3566160" cy="320040"/>
          </a:xfrm>
          <a:prstGeom prst="rect">
            <a:avLst/>
          </a:prstGeom>
          <a:noFill/>
          <a:ln/>
        </p:spPr>
        <p:txBody>
          <a:bodyPr wrap="square" lIns="0" tIns="0" rIns="0" bIns="0" rtlCol="0" anchor="t"/>
          <a:lstStyle/>
          <a:p>
            <a:pPr indent="0" marL="0">
              <a:buNone/>
            </a:pPr>
            <a:r>
              <a:rPr lang="it-IT" sz="1500" b="1" dirty="0">
                <a:solidFill>
                  <a:schemeClr val="tx1"/>
                </a:solidFill>
              </a:rPr>
              <a:t>Comprendere l'AI</a:t>
            </a:r>
            <a:endParaRPr lang="it-IT" sz="1500" dirty="0"/>
          </a:p>
        </p:txBody>
      </p:sp>
      <p:sp>
        <p:nvSpPr>
          <p:cNvPr id="7" name="Text 4"/>
          <p:cNvSpPr txBox="1"/>
          <p:nvPr/>
        </p:nvSpPr>
        <p:spPr>
          <a:xfrm>
            <a:off x="685800" y="1920240"/>
            <a:ext cx="3566160" cy="548640"/>
          </a:xfrm>
          <a:prstGeom prst="rect">
            <a:avLst/>
          </a:prstGeom>
          <a:noFill/>
          <a:ln/>
        </p:spPr>
        <p:txBody>
          <a:bodyPr wrap="square" lIns="0" tIns="0" rIns="0" bIns="0" rtlCol="0" anchor="t"/>
          <a:lstStyle/>
          <a:p>
            <a:pPr indent="0" marL="0">
              <a:buNone/>
            </a:pPr>
            <a:r>
              <a:rPr lang="it-IT" sz="1200" dirty="0">
                <a:solidFill>
                  <a:schemeClr val="tx2"/>
                </a:solidFill>
              </a:rPr>
              <a:t>Temi 1-4: rilevanza, funzionamento, affidabilità, ecosistema</a:t>
            </a:r>
            <a:endParaRPr lang="it-IT" sz="1200" dirty="0"/>
          </a:p>
        </p:txBody>
      </p:sp>
      <p:sp>
        <p:nvSpPr>
          <p:cNvPr id="8" name="Text 5"/>
          <p:cNvSpPr txBox="1"/>
          <p:nvPr/>
        </p:nvSpPr>
        <p:spPr>
          <a:xfrm>
            <a:off x="685800" y="2606040"/>
            <a:ext cx="3566160" cy="320040"/>
          </a:xfrm>
          <a:prstGeom prst="rect">
            <a:avLst/>
          </a:prstGeom>
          <a:noFill/>
          <a:ln/>
        </p:spPr>
        <p:txBody>
          <a:bodyPr wrap="square" lIns="0" tIns="0" rIns="0" bIns="0" rtlCol="0" anchor="t"/>
          <a:lstStyle/>
          <a:p>
            <a:pPr indent="0" marL="0">
              <a:buNone/>
            </a:pPr>
            <a:r>
              <a:rPr lang="it-IT" sz="1500" b="1" dirty="0">
                <a:solidFill>
                  <a:schemeClr val="tx1"/>
                </a:solidFill>
              </a:rPr>
              <a:t>Interagire con l'AI</a:t>
            </a:r>
            <a:endParaRPr lang="it-IT" sz="1500" dirty="0"/>
          </a:p>
        </p:txBody>
      </p:sp>
      <p:sp>
        <p:nvSpPr>
          <p:cNvPr id="9" name="Text 6"/>
          <p:cNvSpPr txBox="1"/>
          <p:nvPr/>
        </p:nvSpPr>
        <p:spPr>
          <a:xfrm>
            <a:off x="685800" y="2926080"/>
            <a:ext cx="3566160" cy="548640"/>
          </a:xfrm>
          <a:prstGeom prst="rect">
            <a:avLst/>
          </a:prstGeom>
          <a:noFill/>
          <a:ln/>
        </p:spPr>
        <p:txBody>
          <a:bodyPr wrap="square" lIns="0" tIns="0" rIns="0" bIns="0" rtlCol="0" anchor="t"/>
          <a:lstStyle/>
          <a:p>
            <a:pPr indent="0" marL="0">
              <a:buNone/>
            </a:pPr>
            <a:r>
              <a:rPr lang="it-IT" sz="1200" dirty="0">
                <a:solidFill>
                  <a:schemeClr val="tx2"/>
                </a:solidFill>
              </a:rPr>
              <a:t>Temi 5-7: dialogo, prompting, verifica e pensiero critico</a:t>
            </a:r>
            <a:endParaRPr lang="it-IT" sz="1200" dirty="0"/>
          </a:p>
        </p:txBody>
      </p:sp>
      <p:sp>
        <p:nvSpPr>
          <p:cNvPr id="10" name="prossimi"/>
          <p:cNvSpPr/>
          <p:nvPr/>
        </p:nvSpPr>
        <p:spPr>
          <a:xfrm>
            <a:off x="4709160" y="1097280"/>
            <a:ext cx="3977640" cy="3429000"/>
          </a:xfrm>
          <a:prstGeom prst="roundRect">
            <a:avLst>
              <a:gd name="adj" fmla="val 2133"/>
            </a:avLst>
          </a:prstGeom>
          <a:solidFill>
            <a:schemeClr val="tx1"/>
          </a:solidFill>
          <a:ln/>
        </p:spPr>
      </p:sp>
      <p:sp>
        <p:nvSpPr>
          <p:cNvPr id="11" name="Text 8"/>
          <p:cNvSpPr txBox="1"/>
          <p:nvPr/>
        </p:nvSpPr>
        <p:spPr>
          <a:xfrm>
            <a:off x="4937760" y="1261872"/>
            <a:ext cx="3566160" cy="274320"/>
          </a:xfrm>
          <a:prstGeom prst="rect">
            <a:avLst/>
          </a:prstGeom>
          <a:noFill/>
          <a:ln/>
        </p:spPr>
        <p:txBody>
          <a:bodyPr wrap="square" lIns="0" tIns="0" rIns="0" bIns="0" rtlCol="0" anchor="t"/>
          <a:lstStyle/>
          <a:p>
            <a:pPr indent="0" marL="0">
              <a:buNone/>
            </a:pPr>
            <a:r>
              <a:rPr lang="it-IT" sz="1200" b="1" spc="200" kern="0" dirty="0">
                <a:solidFill>
                  <a:schemeClr val="accent1"/>
                </a:solidFill>
              </a:rPr>
              <a:t>NUOVA AREA</a:t>
            </a:r>
            <a:endParaRPr lang="it-IT" sz="1200" dirty="0"/>
          </a:p>
        </p:txBody>
      </p:sp>
      <p:sp>
        <p:nvSpPr>
          <p:cNvPr id="12" name="Text 9"/>
          <p:cNvSpPr txBox="1"/>
          <p:nvPr/>
        </p:nvSpPr>
        <p:spPr>
          <a:xfrm>
            <a:off x="4937760" y="1572768"/>
            <a:ext cx="3566160" cy="365760"/>
          </a:xfrm>
          <a:prstGeom prst="rect">
            <a:avLst/>
          </a:prstGeom>
          <a:noFill/>
          <a:ln/>
        </p:spPr>
        <p:txBody>
          <a:bodyPr wrap="square" lIns="0" tIns="0" rIns="0" bIns="0" rtlCol="0" anchor="t"/>
          <a:lstStyle/>
          <a:p>
            <a:pPr indent="0" marL="0">
              <a:buNone/>
            </a:pPr>
            <a:r>
              <a:rPr lang="it-IT" sz="1500" b="1" dirty="0">
                <a:solidFill>
                  <a:schemeClr val="bg1"/>
                </a:solidFill>
              </a:rPr>
              <a:t>Esplorare le possibilità dell'AI</a:t>
            </a:r>
            <a:endParaRPr lang="it-IT" sz="1500" dirty="0"/>
          </a:p>
        </p:txBody>
      </p:sp>
      <p:sp>
        <p:nvSpPr>
          <p:cNvPr id="13" name="Text 10"/>
          <p:cNvSpPr txBox="1"/>
          <p:nvPr/>
        </p:nvSpPr>
        <p:spPr>
          <a:xfrm>
            <a:off x="4937760" y="2011680"/>
            <a:ext cx="3566160" cy="548640"/>
          </a:xfrm>
          <a:prstGeom prst="rect">
            <a:avLst/>
          </a:prstGeom>
          <a:noFill/>
          <a:ln/>
        </p:spPr>
        <p:txBody>
          <a:bodyPr wrap="square" lIns="0" tIns="0" rIns="0" bIns="0" rtlCol="0" anchor="t"/>
          <a:lstStyle/>
          <a:p>
            <a:pPr indent="0" marL="0">
              <a:buNone/>
            </a:pPr>
            <a:r>
              <a:rPr lang="it-IT" sz="1400" b="1" dirty="0">
                <a:solidFill>
                  <a:schemeClr val="accent6"/>
                </a:solidFill>
              </a:rPr>
              <a:t>Tema 8: AI per testi, documenti e conoscenza</a:t>
            </a:r>
            <a:endParaRPr lang="it-IT" sz="1400" dirty="0"/>
          </a:p>
        </p:txBody>
      </p:sp>
      <p:sp>
        <p:nvSpPr>
          <p:cNvPr id="14" name="Text 11"/>
          <p:cNvSpPr txBox="1"/>
          <p:nvPr/>
        </p:nvSpPr>
        <p:spPr>
          <a:xfrm>
            <a:off x="4937760" y="2606040"/>
            <a:ext cx="3566160" cy="1097280"/>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bg1"/>
                </a:solidFill>
              </a:rPr>
              <a:t>Generare e trasformare testi</a:t>
            </a:r>
            <a:endParaRPr lang="it-IT" sz="1200" dirty="0"/>
          </a:p>
          <a:p>
            <a:pPr marL="177800" indent="-177800">
              <a:spcAft>
                <a:spcPts val="500"/>
              </a:spcAft>
              <a:buSzPct val="100000"/>
              <a:buChar char="•"/>
            </a:pPr>
            <a:r>
              <a:rPr lang="it-IT" sz="1200" dirty="0">
                <a:solidFill>
                  <a:schemeClr val="bg1"/>
                </a:solidFill>
              </a:rPr>
              <a:t>Sintesi, estrazione, confronto</a:t>
            </a:r>
            <a:endParaRPr lang="it-IT" sz="1200" dirty="0"/>
          </a:p>
          <a:p>
            <a:pPr marL="177800" indent="-177800">
              <a:spcAft>
                <a:spcPts val="500"/>
              </a:spcAft>
              <a:buSzPct val="100000"/>
              <a:buChar char="•"/>
            </a:pPr>
            <a:r>
              <a:rPr lang="it-IT" sz="1200" dirty="0">
                <a:solidFill>
                  <a:schemeClr val="bg1"/>
                </a:solidFill>
              </a:rPr>
              <a:t>Ricerca e conoscenza interrogabile</a:t>
            </a:r>
            <a:endParaRPr lang="it-IT" sz="1200" dirty="0"/>
          </a:p>
        </p:txBody>
      </p:sp>
      <p:sp>
        <p:nvSpPr>
          <p:cNvPr id="15" name="Text 12"/>
          <p:cNvSpPr txBox="1"/>
          <p:nvPr/>
        </p:nvSpPr>
        <p:spPr>
          <a:xfrm>
            <a:off x="4937760" y="3931920"/>
            <a:ext cx="3566160" cy="320040"/>
          </a:xfrm>
          <a:prstGeom prst="rect">
            <a:avLst/>
          </a:prstGeom>
          <a:noFill/>
          <a:ln/>
        </p:spPr>
        <p:txBody>
          <a:bodyPr wrap="square" lIns="0" tIns="0" rIns="0" bIns="0" rtlCol="0" anchor="t"/>
          <a:lstStyle/>
          <a:p>
            <a:pPr indent="0" marL="0">
              <a:buNone/>
            </a:pPr>
            <a:r>
              <a:rPr lang="it-IT" sz="1200" i="1" dirty="0">
                <a:solidFill>
                  <a:schemeClr val="accent3"/>
                </a:solidFill>
              </a:rPr>
              <a:t>Poi il Tema 9: AI per dati e analisi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57</a:t>
            </a:fld>
            <a:endParaRPr lang="it-IT"/>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Fonti e riferimenti</a:t>
            </a:r>
            <a:endParaRPr lang="it-IT"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2743200"/>
          </a:xfrm>
          <a:prstGeom prst="rect">
            <a:avLst/>
          </a:prstGeom>
          <a:noFill/>
          <a:ln/>
        </p:spPr>
        <p:txBody>
          <a:bodyPr wrap="square" lIns="0" tIns="0" rIns="0" bIns="0" rtlCol="0" anchor="t"/>
          <a:lstStyle/>
          <a:p>
            <a:pPr marL="177800" indent="-177800">
              <a:spcAft>
                <a:spcPts val="1000"/>
              </a:spcAft>
              <a:buSzPct val="100000"/>
              <a:buChar char="•"/>
            </a:pPr>
            <a:r>
              <a:rPr lang="it-IT" sz="1300" dirty="0">
                <a:solidFill>
                  <a:schemeClr val="tx1"/>
                </a:solidFill>
              </a:rPr>
              <a:t>Reber, R., Schwarz, N. (1999). Effects of Perceptual Fluency on Judgments of Truth. Consciousness and Cognition, 8(3), 338-342.</a:t>
            </a:r>
            <a:endParaRPr lang="it-IT" sz="1300" dirty="0"/>
          </a:p>
          <a:p>
            <a:pPr marL="177800" indent="-177800">
              <a:spcAft>
                <a:spcPts val="1000"/>
              </a:spcAft>
              <a:buSzPct val="100000"/>
              <a:buChar char="•"/>
            </a:pPr>
            <a:r>
              <a:rPr lang="it-IT" sz="1300" dirty="0">
                <a:solidFill>
                  <a:schemeClr val="tx1"/>
                </a:solidFill>
              </a:rPr>
              <a:t>Parasuraman, R., Manzey, D. H. (2010). Complacency and Bias in Human Use of Automation: An Attentional Integration. Human Factors, 52(3), 381-410.</a:t>
            </a:r>
            <a:endParaRPr lang="it-IT" sz="1300" dirty="0"/>
          </a:p>
          <a:p>
            <a:pPr marL="177800" indent="-177800">
              <a:spcAft>
                <a:spcPts val="1000"/>
              </a:spcAft>
              <a:buSzPct val="100000"/>
              <a:buChar char="•"/>
            </a:pPr>
            <a:r>
              <a:rPr lang="it-IT" sz="1300" dirty="0">
                <a:solidFill>
                  <a:schemeClr val="tx1"/>
                </a:solidFill>
              </a:rPr>
              <a:t>Mata v. Avianca, Inc., U.S. District Court, Southern District of New York, giugno 2023.</a:t>
            </a:r>
            <a:endParaRPr lang="it-IT" sz="1300" dirty="0"/>
          </a:p>
          <a:p>
            <a:pPr marL="177800" indent="-177800">
              <a:spcAft>
                <a:spcPts val="1000"/>
              </a:spcAft>
              <a:buSzPct val="100000"/>
              <a:buChar char="•"/>
            </a:pPr>
            <a:r>
              <a:rPr lang="it-IT" sz="1300" dirty="0">
                <a:solidFill>
                  <a:schemeClr val="tx1"/>
                </a:solidFill>
              </a:rPr>
              <a:t>Sharma, M. et al. (2024). Towards Understanding Sycophancy in Language Models. ICLR 2024.</a:t>
            </a:r>
            <a:endParaRPr lang="it-IT" sz="1300" dirty="0"/>
          </a:p>
        </p:txBody>
      </p:sp>
      <p:sp>
        <p:nvSpPr>
          <p:cNvPr id="7" name="Text 3"/>
          <p:cNvSpPr txBox="1"/>
          <p:nvPr/>
        </p:nvSpPr>
        <p:spPr>
          <a:xfrm>
            <a:off x="1188720" y="4069080"/>
            <a:ext cx="7498080" cy="365760"/>
          </a:xfrm>
          <a:prstGeom prst="rect">
            <a:avLst/>
          </a:prstGeom>
          <a:noFill/>
          <a:ln/>
        </p:spPr>
        <p:txBody>
          <a:bodyPr wrap="square" lIns="0" tIns="0" rIns="0" bIns="0" rtlCol="0" anchor="t"/>
          <a:lstStyle/>
          <a:p>
            <a:pPr indent="0" marL="0">
              <a:buNone/>
            </a:pPr>
            <a:r>
              <a:rPr lang="it-IT" sz="1100" i="1" dirty="0">
                <a:solidFill>
                  <a:schemeClr val="accent2"/>
                </a:solidFill>
              </a:rPr>
              <a:t>Esempi del modulo illustrativi. Fonti verificate a ottobre 2026: ricontrollarle prima di ogni edizione.</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58</a:t>
            </a:fld>
            <a:endParaRPr lang="it-IT"/>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7: Verifica degli output e pensiero critico</dc:title>
  <dc:subject>Percorso AI Literacy</dc:subject>
  <dc:creator>Percorso AI Literacy</dc:creator>
  <cp:lastModifiedBy>Percorso AI Literacy</cp:lastModifiedBy>
  <cp:revision>1</cp:revision>
  <dcterms:created xsi:type="dcterms:W3CDTF">2026-10-16T11:16:04Z</dcterms:created>
  <dcterms:modified xsi:type="dcterms:W3CDTF">2026-10-16T11:16:04Z</dcterms:modified>
</cp:coreProperties>
</file>