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5e45e51a-12d1-3b41-5dfe-ecc583431097}">
          <p14:sldIdLst>
            <p14:sldId id="256"/>
            <p14:sldId id="257"/>
            <p14:sldId id="258"/>
            <p14:sldId id="259"/>
            <p14:sldId id="260"/>
          </p14:sldIdLst>
        </p14:section>
        <p14:section name="7.1 Pensiero critico" id="{7272d2bb-9cb5-e090-0808-32279aa0655f}">
          <p14:sldIdLst>
            <p14:sldId id="261"/>
            <p14:sldId id="262"/>
            <p14:sldId id="263"/>
            <p14:sldId id="264"/>
            <p14:sldId id="265"/>
            <p14:sldId id="266"/>
            <p14:sldId id="267"/>
            <p14:sldId id="268"/>
          </p14:sldIdLst>
        </p14:section>
        <p14:section name="7.2 Qualità di un output" id="{e2970062-f0e9-b981-3874-09b99805f922}">
          <p14:sldIdLst>
            <p14:sldId id="269"/>
            <p14:sldId id="270"/>
            <p14:sldId id="271"/>
            <p14:sldId id="272"/>
            <p14:sldId id="273"/>
            <p14:sldId id="274"/>
            <p14:sldId id="275"/>
            <p14:sldId id="276"/>
          </p14:sldIdLst>
        </p14:section>
        <p14:section name="7.3 Informazioni e fonti" id="{5cb38e00-1656-3d7c-bac6-f5d049a83d15}">
          <p14:sldIdLst>
            <p14:sldId id="277"/>
            <p14:sldId id="278"/>
            <p14:sldId id="279"/>
            <p14:sldId id="280"/>
            <p14:sldId id="281"/>
            <p14:sldId id="282"/>
            <p14:sldId id="283"/>
            <p14:sldId id="284"/>
          </p14:sldIdLst>
        </p14:section>
        <p14:section name="7.4 Ragionamenti e conclusioni" id="{8cf74f21-3952-4c01-eb68-c90a0a413e18}">
          <p14:sldIdLst>
            <p14:sldId id="285"/>
            <p14:sldId id="286"/>
            <p14:sldId id="287"/>
            <p14:sldId id="288"/>
            <p14:sldId id="289"/>
            <p14:sldId id="290"/>
            <p14:sldId id="291"/>
            <p14:sldId id="292"/>
          </p14:sldIdLst>
        </p14:section>
        <p14:section name="7.5 Dati e calcoli" id="{dffeef24-3a1f-a972-7648-bc704b3d4307}">
          <p14:sldIdLst>
            <p14:sldId id="293"/>
            <p14:sldId id="294"/>
            <p14:sldId id="295"/>
            <p14:sldId id="296"/>
            <p14:sldId id="297"/>
            <p14:sldId id="298"/>
            <p14:sldId id="299"/>
            <p14:sldId id="300"/>
          </p14:sldIdLst>
        </p14:section>
        <p14:section name="7.6 Revisione assistita dall'AI" id="{59e3288b-64eb-1ec6-c5b0-eb30596905e0}">
          <p14:sldIdLst>
            <p14:sldId id="301"/>
            <p14:sldId id="302"/>
            <p14:sldId id="303"/>
            <p14:sldId id="304"/>
            <p14:sldId id="305"/>
            <p14:sldId id="306"/>
            <p14:sldId id="307"/>
          </p14:sldIdLst>
        </p14:section>
        <p14:section name="7.7 Bias cognitivi" id="{c4bea194-3088-6960-8046-1c6511e88c37}">
          <p14:sldIdLst>
            <p14:sldId id="308"/>
            <p14:sldId id="309"/>
            <p14:sldId id="310"/>
            <p14:sldId id="311"/>
            <p14:sldId id="312"/>
            <p14:sldId id="313"/>
            <p14:sldId id="314"/>
          </p14:sldIdLst>
        </p14:section>
        <p14:section name="7.8 Validazione e responsabilità" id="{46401c4f-a047-ad0d-9a67-6021403dab62}">
          <p14:sldIdLst>
            <p14:sldId id="315"/>
            <p14:sldId id="316"/>
            <p14:sldId id="317"/>
            <p14:sldId id="318"/>
            <p14:sldId id="319"/>
            <p14:sldId id="320"/>
            <p14:sldId id="321"/>
            <p14:sldId id="322"/>
            <p14:sldId id="323"/>
          </p14:sldIdLst>
        </p14:section>
        <p14:section name="Conclusioni" id="{92aa3d93-f9d1-2495-b2d8-5793e5b86cc8}">
          <p14:sldIdLst>
            <p14:sldId id="324"/>
            <p14:sldId id="325"/>
            <p14:sldId id="326"/>
            <p14:sldId id="327"/>
            <p14:sldId id="328"/>
            <p14:sldId id="3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Asse da zero</a:t>
            </a:r>
          </a:p>
        </c:rich>
      </c:tx>
      <c:layout/>
      <c:overlay val="0"/>
    </c:title>
    <c:autoTitleDeleted val="0"/>
    <c:plotArea>
      <c:layout/>
      <c:barChart>
        <c:barDir val="col"/>
        <c:grouping val="clustered"/>
        <c:varyColors val="0"/>
        <c:ser>
          <c:idx val="0"/>
          <c:order val="0"/>
          <c:tx>
            <c:strRef>
              <c:f>Sheet1!$B$1</c:f>
              <c:strCache>
                <c:ptCount val="1"/>
                <c:pt idx="0">
                  <c:v>Valore</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102</c:v>
                </c:pt>
                <c:pt idx="1">
                  <c:v>105</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Asse da 100</a:t>
            </a:r>
          </a:p>
        </c:rich>
      </c:tx>
      <c:layout/>
      <c:overlay val="0"/>
    </c:title>
    <c:autoTitleDeleted val="0"/>
    <c:plotArea>
      <c:layout/>
      <c:barChart>
        <c:barDir val="col"/>
        <c:grouping val="clustered"/>
        <c:varyColors val="0"/>
        <c:ser>
          <c:idx val="0"/>
          <c:order val="0"/>
          <c:tx>
            <c:strRef>
              <c:f>Sheet1!$B$1</c:f>
              <c:strCache>
                <c:ptCount val="1"/>
                <c:pt idx="0">
                  <c:v>Valore</c:v>
                </c:pt>
              </c:strCache>
            </c:strRef>
          </c:tx>
          <c:spPr>
            <a:solidFill>
              <a:srgbClr val="A86F1C"/>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102</c:v>
                </c:pt>
                <c:pt idx="1">
                  <c:v>105</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10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settimo tema, che completa l'area 'Interagire con l'AI'. Nel Tema 5 abbiamo visto il dialogo e la collaborazione con l'AI, nel Tema 6 come formulare richieste efficaci. Più volte abbiamo rimandato a questo tema una fase essenziale: la verifica. Un buon prompt migliora l'aderenza alla richiesta, ma non garantisce la correttezza. Qui sviluppiamo i metodi pratici per valutare criticamente un output, verificare informazioni, fonti, ragionamenti e numeri, usare l'AI come supporto alla revisione senza confondere autoverifica e verifica indipendente, riconoscere i nostri bias e, infine, decidere se un risultato è adeguato all'uso previsto. Non ripetiamo la teoria degli errori del Tema 3: qui ci concentriamo su come riconoscerli e gestirli. Suggerimento per l'apertura: mostrare ai partecipanti un breve testo prodotto dall'AI, ben scritto e con un errore non evidente, e chiedere se lo userebbero così com'è. La discussione introduce bene tutto il modulo. Nota per il relatore: i contenuti e le fonti sono stati verificati a ottobre 2026; il modulo si basa su principi stabili, ma gli studi sull'efficacia della revisione assistita dall'AI sono in rapida evoluzione e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valutare criticamente gli output dei sistemi AI, verificare informazioni e ragionamenti, riconoscere errori e omissioni e stabilire se i risultati sono sufficientemente affidabili per un utilizzo specifico. La consapevolezza da sviluppare parte da un principio ormai familiare: la qualità apparente di una risposta non ne garantisce la correttezza. Bisogna distinguere quattro aspetti: plausibilità, accuratezza, completezza e adeguatezza allo scopo, applicando controlli proporzionati alle conseguenze degli errori. E il fine, come nel Tema 3, non è la sfiducia indiscriminata, ma una fiducia calibrata sulle evidenze. Il messaggio centrale del tema: usare consapevolmente l'AI significa distinguere risultati convincenti da risultati verificati, e stabilire, sulla base di evidenze e controlli proporzionati, se gli output sono adeguati allo scopo.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undici domande guida accompagnano il modulo. Le prime tre riguardano la valutazione della qualità di un output: distinguere convincente e corretto, riconoscere pertinenza e completezza, individuare ciò che manca. La quarta e la quinta riguardano la verifica di fonti e ragionamenti. La sesta i dati e i calcoli. La settima la differenza tra chiedere all'AI di verificarsi e verificare in modo indipendente. L'ottava i bias cognitivi di chi valuta. Le ultime tre riguardano la decisione: distinguere fatti, probabilità e incertezze, scegliere il livello di verifica adeguato al rischio, sapere quando coinvolgere un esperto o rinunciare all'output.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un filo conduttore per tutto il modulo: la sequenza valutare, verificare, decidere. Valutare significa esaminare criticamente l'output: è pertinente, completo, coerente, chiaro? Quali affermazioni contiene, quali ragionamenti, quali numeri? Che cosa manca? A questa fase corrispondono i sottotemi 7.1, 7.2 e 7.4. Verificare significa controllare, con evidenze indipendenti, gli elementi che lo richiedono: fonti, fatti, dati, calcoli. Corrispondono i sottotemi 7.3, 7.5 e 7.6. Decidere significa stabilire se l'output, con le verifiche fatte e le incertezze che restano, è adeguato all'uso previsto, e quindi accettarlo, modificarlo, approfondirlo o rifiutarlo. Corrisponde il sottotema 7.8. Il sottotema 7.7, sui bias cognitivi, attraversa tutte e tre le fasi, perché riguarda l'atteggiamento di chi valuta. Una precisazione importante: non è una procedura obbligatoria e identica per ogni attività. Per una bozza interna le tre fasi si riducono a una rilettura attenta; per un documento destinato a un cliente o a una decisione importante diventano un processo strutturato. Nelle slide, un piccolo indicatore in alto a destra ricorda in quale fase ci troviamo.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 priorità alta e tutti mantenuti distinti. Vanno compresi e applicati: la valutazione della qualità, la verifica delle fonti, il controllo dei ragionamenti, l'identificazione delle omissioni e la validazione proporzionata al rischio. Vanno conosciuti e sperimentati: le tecniche di revisione assistita dall'AI, il confronto tra modelli, la verifica quantitativa, il riconoscimento dei bias cognitivi e la gestione dell'incertezza. Vanno solo accennati: metriche statistiche avanzate, validazione formale dei sistemi, modelli quantitativi di rischio, audit specialistici e valutazioni su larga scala. Confini: non ripetiamo i meccanismi del Tema 2, né la teoria di allucinazioni e bias del Tema 3, né le dinamiche di collaborazione e delega cognitiva del Tema 5, né i metodi di formulazione del Tema 6, salvo le richieste usate come supporto al controllo. Non sviluppiamo ROI né obblighi giuridici, trattati nei Temi 12 e 18: la responsabilità è trattata come consapevolezza operativa.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 metodo, da comprendere bene. Il pensiero critico non è una tecnica specifica per l'AI: è un modo di ragionare che vale per qualsiasi informazione, da un articolo di giornale a una presentazione di un fornitore. Con l'AI diventa però particolarmente importante, perché riceviamo grandi quantità di testo ben scritto, rapidamente, su qualsiasi argomento. Vediamo che cosa significa pensare criticamente, quali distinzioni e domande lo rendono concreto, e perché non coincide con la sfiducia.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definire il pensiero critico come la capacità di valutare informazioni, argomenti e conclusioni in modo ragionato, sulla base delle evidenze, prima di accettarli o respingerli. Non esiste un'unica definizione accademica, ma i diversi approcci condividono alcuni principi, raccolti in slide. Chiedersi su che cosa si basa un'affermazione: quali evidenze la sostengono. Distinguere ciò che è stabilito da ciò che è supposto. Considerare spiegazioni e punti di vista alternativi. Riconoscere i limiti delle informazioni disponibili e della propria conoscenza. Essere disposti a cambiare idea di fronte a nuove evidenze. Sospendere il giudizio quando le evidenze non sono sufficienti. Applicato all'AI, il pensiero critico significa trattare ogni output non come una risposta da usare, ma come una proposta da valutare. Un'immagine utile: leggere un output dell'AI come leggeremmo il lavoro di un collega nuovo e molto capace, di cui non conosciamo ancora l'affidabilità in quel campo. Non lo scartiamo, non lo accettiamo a scatola chiusa: lo esaminiamo.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riguarda il modo in cui ci poniamo di fronte a un output. Ricevere informazioni significa leggerle e usarle, accettandole come date. È il modo naturale in cui ci rapportiamo a fonti di cui ci fidiamo, e il rischio con l'AI è proprio questo: la fluidità e la rapidità delle risposte ci spingono a trattarle come fonti affidabili. Valutare informazioni significa invece interrogarle: chiedersi se sono corrette, complete, pertinenti, e su che cosa si basano. Richiede più tempo e più attenzione, ma trasforma l'output da prodotto finito in materiale di lavoro. Lo schema in slide mette a confronto i due atteggiamenti. Una precisazione: valutare non significa necessariamente controllare tutto. Spesso basta una lettura attenta, con alcune domande, per capire se un output è utilizzabile, se richiede verifiche su punti specifici o se va scartato. Il livello di approfondimento, come vedremo nel 7.8, dipende dalle conseguenze dell'uso. Ma la postura valutativa, cioè l'abitudine di interrogare invece di ricevere, dovrebbe essere sempre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per valutare un testo è quella tra quattro tipi di affermazioni, che negli output dell'AI sono spesso mescolati senza segnalazione. I fatti sono affermazioni verificabili, che si possono confermare o smentire con evidenze: 'il fatturato del 2025 è stato di 12 milioni'. Le opinioni sono valutazioni o preferenze, che non si possono dimostrare vere o false: 'è un risultato eccellente'. Le ipotesi sono affermazioni plausibili ma non ancora confermate: 'la crescita potrebbe essere dovuta al nuovo listino'. Le interpretazioni sono letture dei fatti, che li collegano e attribuiscono loro un significato: 'la crescita dimostra che la strategia funziona'. In un output dell'AI questi tipi sono presentati con lo stesso tono assertivo, e un'ipotesi può sembrare un fatto, un'interpretazione può sembrare una conclusione obbligata. Distinguerli serve a capire che cosa verificare, cioè i fatti, che cosa valutare con giudizio, cioè le interpretazioni e le opinioni, e che cosa trattare come incerto, cioè le ipotesi. Un esercizio utile: prendere un paragrafo prodotto dall'AI ed etichettare ogni frase con uno dei quattro tipi.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pensiero critico diventa concreto attraverso le domande. Ecco una serie di domande critiche da porre a un output, raggruppate in tre famiglie. Sulle affermazioni: che cosa sostiene esattamente? È un fatto, un'opinione, un'ipotesi o un'interpretazione? È verificabile? Sulle evidenze: su che cosa si basa? Ci sono fonti, dati, esempi? Sono pertinenti e sufficienti? Che cosa servirebbe per confermarla o smentirla? Sulle conclusioni: deriva davvero dalle premesse? Ci sono spiegazioni alternative? Che cosa manca? Che cosa succederebbe se fosse sbagliata? Non serve porsele tutte ogni volta: con la pratica diventano un'abitudine, e si impara a scegliere quelle più utili per il tipo di output. Queste domande si possono rivolgere anche all'AI, chiedendole di esplicitare evidenze e alternative, come vedremo nel 7.6; ma la risposta del sistema va a sua volta valutata. Suggerimento: distribuire le domande come scheda di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elementi completano il metodo. L'analisi delle affermazioni e delle evidenze: per ogni affermazione importante, chiedersi quali evidenze la sostengono e quanto sono solide. Un'affermazione senza evidenze non è necessariamente falsa, ma va trattata come non dimostrata. La valutazione autonoma delle conclusioni: formarsi un giudizio proprio, invece di adottare quello proposto dal sistema. Una pratica utile, già vista nel Tema 5, è pensare alla questione prima di leggere la risposta, così da avere un termine di confronto: se la conclusione dell'AI è diversa dalla nostra, vale la pena capire perché. Il ruolo delle competenze professionali: il pensiero critico ha bisogno di conoscenze. Domande come 'è plausibile?', 'manca qualcosa?', 'questa conclusione è sensata?' si possono porre bene solo conoscendo l'argomento. Chi conosce il dominio riconosce un dato anomalo, una regola applicata male, un'eccezione dimenticata. Per questo, quando l'output riguarda un ambito che non conosciamo, il pensiero critico ci porta a una conclusione precisa: serve il parere di chi lo conosce, come vedremo nel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distinzione del sottotema è forse la più importante: atteggiamento critico e sfiducia indiscriminata non sono la stessa cosa. La sfiducia indiscriminata respinge gli output dell'AI in blocco, 'perché l'AI sbaglia'. È comoda, perché esonera dal lavoro di valutazione, ma è altrettanto acritica della fiducia cieca: in entrambi i casi la decisione non dipende dalle evidenze, ma da un atteggiamento preso in anticipo. L'atteggiamento critico, invece, valuta caso per caso: accetta ciò che regge all'esame, verifica ciò che lo richiede, scarta ciò che non regge. Può portare ad accettare un output senza modifiche, se è valido, così come a rifiutarlo. Lo schema riprende la scala della fiducia vista nel Tema 3: fiducia cieca, atteggiamento critico, sfiducia indiscriminata. Gli estremi hanno in comune il fatto di non guardare le evidenze. Il concetto chiave del sottotema lo dice con precisione: pensare criticamente significa valutare informazioni e conclusioni alla luce delle evidenze, senza accettarle o respingerle automaticamente.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pensiero critico trasforma l'output da risposta da usare a proposta da valutare. Si basa su alcune distinzioni, come quella tra fatti, opinioni, ipotesi e interpretazioni, e su domande critiche su affermazioni, evidenze e conclusioni. Richiede giudizio autonomo e competenze. E non è sfiducia: è valutazione caso per caso sulle evidenze. Esercizio suggerito: dare ai partecipanti un paragrafo prodotto dall'AI e chiedere di etichettare ogni frase come fatto, opinione, ipotesi o interpretazione, poi di indicare quali andrebbero verificate.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dalla postura al metodo concreto di valutazione. In questo sottotema, da comprendere e applicare, vediamo le dimensioni della qualità di un output, la differenza tra qualità espressiva e sostanziale, e due integrazioni importanti: come riconoscere le informazioni mancanti e le omissioni, e come distinguere livelli diversi di certezza nei contenuti. Il 7.2 valuta la qualità del contenuto; nel 7.8 valuteremo la sua utilizzabilità in un contesto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qualità di un output si può valutare su più dimensioni, che il documento di perimetro elenca. Accuratezza: le informazioni sono corrette? Pertinenza: il risultato risponde all'obiettivo, o a una domanda diversa? Completezza: copre tutto ciò che serve? Coerenza interna: le parti sono coerenti tra loro, senza contraddizioni? Chiarezza e comprensibilità: il destinatario lo capirà senza ambiguità? Distinzione tra dati e supposizioni: è chiaro che cosa deriva da informazioni certe e che cosa è supposto? Queste dimensioni sono indipendenti: un output può essere accurato ma non pertinente, perché risponde con informazioni corrette a una domanda diversa; pertinente ma incompleto; completo ma incoerente; chiaro ma inaccurato. Per questo conviene valutarle separatamente, almeno per gli output importanti. Le dimensioni si collegano a quelle viste nel Tema 3 parlando di affidabilità, ma qui le usiamo come lista di controllo sul singolo output, non come proprietà del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attraversa tutto il modulo: quella tra qualità espressiva e qualità sostanziale. La qualità espressiva riguarda la forma: scrittura scorrevole, lessico appropriato, struttura ordinata, impaginazione professionale, tono sicuro. La qualità sostanziale riguarda il contenuto: correttezza, completezza, pertinenza, solidità del ragionamento. Gli output dei sistemi generativi hanno quasi sempre un'alta qualità espressiva, mentre la qualità sostanziale varia. Il problema, già visto nel Tema 3 come autorevolezza apparente, è che tendiamo a giudicare la sostanza dalla forma: un testo ben scritto ci sembra anche più vero. Per contrastare questa tendenza, conviene separare deliberatamente i due giudizi: prima chiedersi se il contenuto è corretto, completo e pertinente, ignorando la forma; solo dopo valutare se la forma è adeguata. Un esercizio istruttivo: riscrivere mentalmente l'output in forma di appunti disordinati, e chiedersi se ci convincerebbe ancora. Il concetto chiave del sottotema lo riassume: una risposta professionale nella forma può essere errata, incompleta o inadatta allo scopo.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un errore particolarmente insidioso: l'omissione. Un output può contenere solo affermazioni corrette ed essere comunque inadeguato, perché tace informazioni decisive. Le omissioni sono difficili da individuare proprio perché non si vedono: valutiamo ciò che c'è scritto, non ciò che manca. Alcuni esempi tipici. Un riassunto di un contratto che riporta correttamente durata, prezzo e servizi, ma omette la clausola di rinnovo automatico. Una risposta su una procedura che descrive il caso generale ma non le eccezioni. Un confronto tra fornitori che considera prezzo e qualità ma non i tempi di consegna. Un'analisi che presenta i vantaggi di una scelta ma non i rischi. In ciascun caso, ogni frase è vera, ma il quadro complessivo è fuorviante. Le omissioni sono più probabili quando il materiale è lungo, quando la richiesta non indicava che cosa includere, quando il caso ha eccezioni o condizioni particolari. Il loro effetto è sottile: non producono un errore evidente, ma una decisione presa su un quadro incompleto.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individua ciò che non c'è? Alcune tecniche pratiche. Partire dalle attese: prima di leggere l'output, chiedersi che cosa dovrebbe contenere, magari annotando i punti; poi confrontare. È la tecnica più efficace, perché rende visibile l'assenza. Usare la richiesta originale come lista di controllo: ogni elemento richiesto è presente? Cercare le eccezioni e le condizioni: in quali casi questa affermazione non vale? Ci sono limiti, soglie, condizioni particolari? Cercare l'altra metà: se l'output presenta i vantaggi, dove sono gli svantaggi? Se presenta un punto di vista, dov'è l'altro? Confrontare con la fonte: per sintesi e analisi di documenti, scorrere l'indice o i titoli del documento originale e verificare che le parti importanti siano rappresentate. Chiedere all'AI che cosa manca: 'quali aspetti importanti non hai considerato?', 'in quali casi questa risposta non vale?'. È utile, ma, come vedremo nel 7.6, è un supporto e non una garanzia. Il documento di perimetro precisa la distinzione con il 7.4: qui ci interessa la completezza dell'output; nel 7.4 vedremo le omissioni che incidono sulle premesse dei ragionamenti.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che ritroveremo nel 7.8, propone di classificare i contenuti di un output secondo il loro grado di certezza. Possiamo distinguere quattro livelli. Fatti confermati: verificati su fonti affidabili o noti con certezza. Affermazioni probabili: plausibili e coerenti con ciò che sappiamo, ma non verificate. Ipotesi: possibili, da considerare, ma senza evidenze sufficienti. Contenuti non verificati: affermazioni di cui non conosciamo l'affidabilità, che non abbiamo controllato e che il sistema potrebbe aver generato senza base. Un output dell'AI mescola normalmente tutti e quattro i livelli, e li presenta con lo stesso tono sicuro. Il punto da sottolineare è che il tono della risposta non misura la sua correttezza: un sistema può affermare con sicurezza qualcosa di inventato, e formulare con cautela qualcosa di corretto. Il livello di fiducia va quindi attribuito da chi valuta, sulla base delle evidenze, non dedotto dal modo in cui il testo è scritto. Si può anche chiedere al sistema di indicare il grado di certezza di ciascuna affermazione, come visto nel Tema 6: è un'indicazione utile, ma anche questa va presa con cautela.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Un'abitudine pratica che deriva dall'integrazione precedente: distinguere esplicitamente, nell'output che si sta preparando, i contenuti verificati da quelli non verificati. Quando si lavora su un documento con l'aiuto dell'AI, è facile perdere traccia di quali informazioni sono state controllate e quali no, soprattutto dopo diverse iterazioni. Alcuni modi semplici per mantenere questa distinzione. Evidenziare o annotare, durante la revisione, le affermazioni ancora da verificare, e togliere il segno dopo il controllo. Chiedere al sistema di contrassegnare le affermazioni che non derivano dai documenti forniti, come visto nel Tema 6. Mantenere un elenco dei punti verificati e delle fonti usate, che servirà anche per la documentazione del 7.8. Non far circolare un documento con contenuti non verificati senza segnalarlo: se una bozza deve essere condivisa prima del controllo completo, indicarlo chiaramente. Il beneficio è duplice: si evita che contenuti non verificati passino inosservati nella versione finale, e si concentra l'impegno di verifica dove serve. Sono accorgimenti semplici, ma nella pratica fanno una grande differenza.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output si valuta su più dimensioni indipendenti: accuratezza, pertinenza, completezza, coerenza, chiarezza, distinzione tra dati e supposizioni. La qualità espressiva non dice nulla su quella sostanziale. Le omissioni si cercano partendo dalle attese, dalle eccezioni e dalla fonte. I contenuti hanno livelli diversi di certezza, che il tono non rivela. E conviene tenere traccia di ciò che è stato verificato. Esercizio suggerito: prima di leggere un riassunto prodotto dall'AI, chiedere ai partecipanti di annotare che cosa dovrebbe contenere; poi confrontare e individuare le omissioni.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nella fase di verifica, con un sottotema da applicare. Nel Tema 3 abbiamo visto perché i sistemi generativi possono inventare fonti e citazioni, e abbiamo introdotto alcune domande di controllo. Qui sviluppiamo il metodo pratico: come scegliere che cosa verificare, quali fonti usare, come controllare che una fonte sostenga davvero un'affermazione, come confrontare fonti indipendenti e come gestire ciò che non si può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della verifica è decidere che cosa verificare. Non tutto in un output richiede controllo, e verificare tutto con la stessa intensità sarebbe impraticabile. Si procede in due passaggi. Primo, individuare le affermazioni verificabili, cioè i fatti, distinguendoli da opinioni e interpretazioni come visto nel 7.1. Secondo, tra queste, identificare i punti che richiedono controllo, secondo tre criteri: l'importanza, cioè quanto l'affermazione pesa sulla decisione o sull'uso del documento; il rischio di errore, cioè quanto è probabile che sia sbagliata, per esempio perché riguarda numeri, date, nomi, norme, eventi recenti o argomenti di nicchia; la visibilità, cioè quanto l'errore sarebbe esposto, per esempio in un documento destinato a un cliente. L'esempio in slide mostra un breve testo con le affermazioni da verificare evidenziate. Si noti che non sono tutte: la frase introduttiva e le valutazioni non sono fatti verificabili. Questo lavoro di selezione è anche il primo passo dell'economia della verifica di cui parleremo nel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verificare un'informazione, conta molto il tipo di fonte. Le fonti primarie sono quelle all'origine dell'informazione: il testo ufficiale di una legge, il bilancio pubblicato da un'azienda, il rapporto originale di un istituto di ricerca, il contratto firmato, i dati del proprio gestionale, il sito ufficiale di un ente. Le fonti secondarie riportano, sintetizzano o commentano informazioni provenienti da altre fonti: articoli di giornale, blog, sintesi, presentazioni, voci enciclopediche, e anche le risposte di un sistema AI. Le fonti secondarie sono utili per orientarsi e per trovare le primarie, ma possono semplificare, interpretare o riportare in modo impreciso. Per le informazioni importanti, la regola è risalire alla fonte primaria. Un esempio: un articolo riporta che una certa norma prevede un obbligo; la verifica corretta consiste nel leggere il testo della norma, non un altro articolo che la commenta. Tenere presente che l'output dell'AI è, al massimo, una fonte secondaria, e spesso nemmeno quella, perché non sappiamo da dove derivi 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richiama un punto spesso sottovalutato. Nel Tema 3 abbiamo visto il caso delle fonti inesistenti. Ma anche quando la fonte esiste, non è detto che sostenga l'affermazione. Le situazioni più comuni, raccolte in slide, sono quattro. La fonte esiste ma tratta un argomento diverso, o vicino: per esempio un articolo che parla del settore, non dell'azienda citata. La fonte esiste e tratta l'argomento, ma dice una cosa diversa: un numero diverso, una conclusione più cauta, un'eccezione omessa. La fonte esiste e dice quella cosa, ma in un contesto diverso: un altro paese, un altro periodo, un'altra categoria. La fonte esiste ma non è attendibile o è superata. La verifica corretta prevede quindi tre controlli in sequenza: la fonte è autentica, cioè esiste davvero ed è quella indicata? È pertinente, cioè tratta proprio l'argomento in questione, nello stesso contesto? Sostiene l'affermazione, cioè dice esattamente ciò che le viene attribuito? Per farlo bisogna aprire la fonte e leggere il passaggio pertinente: il titolo e l'esistenza del link non bastano.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trovata una fonte pertinente, resta da valutarne la qualità. Attendibilità: chi è l'autore o l'ente? Ha competenza e autorevolezza sull'argomento? Ha interessi che potrebbero influenzare il contenuto, come un fornitore che pubblica dati sul proprio prodotto? L'informazione è documentata? Aggiornamento: quando è stata pubblicata o aggiornata? È ancora valida? Nel caso di norme, prezzi, procedure, organigrammi, dati di mercato, una fonte di due anni fa può essere superata. Confronto tra fonti indipendenti: per le informazioni importanti, specialmente quando la fonte primaria non è disponibile, conviene confrontare almeno due fonti indipendenti tra loro, cioè che non si citano a vicenda e non derivano dalla stessa origine. Se concordano, la fiducia aumenta; se divergono, bisogna capire perché e risalire all'origine. Attenzione alle false conferme: dieci siti che riportano la stessa informazione possono averla copiata tutti dalla stessa fonte, magari sbagliata. E due risposte di sistemi AI diversi non sono fonti indipendenti, come vedremo nel 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Alcuni elementi richiedono un controllo puntuale, perché sono frequentemente sbagliati e perché un errore su di essi è particolarmente dannoso. Le date: anni, scadenze, periodi di validità, date di entrata in vigore. Un anno sbagliato può cambiare completamente il significato di un'informazione. I nomi: di persone, aziende, prodotti, enti, luoghi, con le relative cariche e ruoli. Gli errori sono frequenti, e possono essere imbarazzanti in un documento esterno. I numeri: importi, percentuali, quantità, statistiche. Vanno controllati sulla fonte, nel valore e nell'unità, come vedremo nel 7.5. I riferimenti: numeri di articoli di legge, codici, versioni di documenti, numeri di pratiche, link. Un riferimento sbagliato rende inutile o fuorviante il rimando. Per questi elementi la verifica è spesso rapida, se si ha la fonte, e conviene farla sistematicamente per qualsiasi documento destinato all'esterno o a una decisione. Un consiglio: controllare questi elementi uno per uno, con la fonte aperta accanto, invece di rileggere il testo nel suo insieme, perché nella lettura scorrevole gli errori di dettaglio sfuggono facilmente.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informazioni si possono verificare: a volte la fonte non è accessibile, i dati non sono pubblici, il tempo non è sufficiente, o l'informazione riguarda una stima, una previsione o un'opinione esperta che per sua natura non è verificabile. Come comportarsi? Le opzioni sono quattro, dalla più prudente alla meno. Eliminare l'informazione, se non è essenziale: spesso un documento funziona benissimo anche senza un dato di contorno non verificato. Riformulare in modo prudente, segnalando l'incertezza: invece di 'il mercato crescerà del 15%', 'alcune stime indicano una crescita, che non è stato possibile verificare'. Sostituirla con un'informazione verificabile, anche se meno precisa: un dato ufficiale di un anno prima invece di uno recente non confermato. Mantenerla dichiarandola come non verificata, quando è utile e il destinatario è in grado di valutarla. In nessun caso un'informazione non verificata dovrebbe essere presentata come un fatto, specialmente in documenti esterni o a supporto di decisioni. La scelta tra queste opzioni dipende, come sempre, dall'importanza dell'informazione e dalle conseguenze dell'uso, che vedremo nel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scegliere i punti critici, preferire le fonti primarie, controllare che una fonte sia autentica, pertinente e di supporto, valutarne attendibilità e aggiornamento, confrontare fonti indipendenti, controllare date, nomi, numeri e riferimenti uno per uno, e gestire con trasparenza ciò che non si può verificare. Esercizio suggerito: dare ai partecipanti un breve testo con tre affermazioni e tre fonti citate, di cui una inesistente, una pertinente ma che dice una cosa diversa e una corretta, e chiedere di verificarle.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alla valutazione, questa volta dei ragionamenti. Un output può contenere solo informazioni corrette e arrivare comunque a una conclusione sbagliata, perché il ragionamento che le collega ha un difetto. In questo sottotema, da comprendere e applicare, vediamo come scomporre un ragionamento, quali difetti cercare, come riconoscere assunzioni implicite, generalizzazioni indebite, confusione tra correlazione e causalità, e omissioni che indeboliscono le premesse.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valutare un ragionamento bisogna prima scomporlo nei suoi elementi. I dati sono le informazioni di fatto su cui si basa. Le premesse sono le affermazioni, spesso generali, che collegano i dati alla conclusione: regole, principi, assunzioni. La conclusione è ciò che il ragionamento sostiene. L'esempio in slide mostra un ragionamento tipico di un output dell'AI. Dati: le vendite online sono cresciute del 30%, quelle in negozio sono calate del 5%. Premessa: i clienti preferiscono sempre di più acquistare online. Conclusione: conviene chiudere alcuni negozi. Scomposto così, il ragionamento mostra i suoi punti da verificare: i dati sono corretti? La premessa è dimostrata o è un'interpretazione? La conclusione deriva davvero, o servono altre informazioni, come i margini dei due canali, il ruolo dei negozi nelle vendite online, i costi di chiusura? Negli output dell'AI dati, premesse e conclusioni sono spesso intrecciati nel testo, senza distinzione. Scomporli è il primo passo per valutarli. Si può anche chiedere al sistema di esplicitare la struttura del proprio ragionamento.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scomposto il ragionamento, si valuta la sua coerenza logica. Le domande principali sono due. La conclusione deriva davvero dalle premesse, o c'è un salto? E ogni passaggio è giustificato, o alcuni sono semplicemente affermati? I passaggi non giustificati sono frequenti negli output generati, perché il sistema produce testo che suona logico, con connettivi come 'quindi', 'di conseguenza', 'ne deriva che', anche quando il collegamento tra le parti è debole. Un esercizio utile è sottolineare questi connettivi e chiedersi, per ciascuno, se il collegamento che introducono è davvero dimostrato. Alcuni segnali di passaggi deboli: la conclusione è molto più forte delle premesse, per esempio da 'alcuni clienti si sono lamentati' a 'il prodotto ha un problema di qualità'; si introduce un elemento nuovo, non presente nelle premesse, proprio nella conclusione; il ragionamento salta da una questione a un'altra, per esempio dal costo alla qualità; si usano termini vaghi che cambiano significato tra le premesse e la conclusione. La coerenza interna, vista nel 7.2 come dimensione della qualità, qui diventa analisi della struttura del ragionamento.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confusioni più comuni nei ragionamenti, umani e generati, è quella tra correlazione e causalità. Due fenomeni sono correlati quando variano insieme: quando uno aumenta, anche l'altro tende ad aumentare, o a diminuire. Sono in relazione causale quando uno è la causa dell'altro. La correlazione non dimostra la causalità, per almeno tre ragioni. Può esserci un terzo fattore che causa entrambi: nei mesi estivi aumentano sia le vendite di gelati sia gli incidenti in spiaggia, ma i gelati non causano incidenti; la causa comune è il caldo. La causalità può andare nel senso opposto: le aziende che investono in formazione hanno risultati migliori, ma forse sono i buoni risultati a permettere gli investimenti. La correlazione può essere casuale, soprattutto con pochi dati o molte variabili osservate. Negli output dell'AI la confusione si presenta spesso in frasi come 'grazie a', 'a causa di', 'ha portato a', 'il risultato dimostra che'. Quando un output attribuisce una causa, la domanda da porsi è: ci sono spiegazioni alternative? Ci sono evidenze che il legame sia davvero causale? L'esempio dei negozi della slide precedente contiene proprio questo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altri difetti frequenti. Le assunzioni implicite sono premesse non dichiarate, date per scontate, da cui il ragionamento dipende. Per esempio, una proposta di risparmio che assume implicitamente che i volumi restino invariati, o un piano che assume che il personale sia disponibile. Se l'assunzione è falsa, la conclusione crolla, ma poiché non è scritta, è difficile accorgersene. Per individuarle, chiedersi: che cosa deve essere vero perché questa conclusione valga? Le generalizzazioni indebite estendono a tutti i casi ciò che vale per alcuni: da pochi esempi a una regola generale, da un contesto a un altro, da un periodo a sempre. Per esempio: 'i clienti preferiscono il servizio online', basato su un'indagine tra clienti giovani di una sola città; oppure 'questa soluzione funziona', perché ha funzionato in un'altra azienda di un altro settore. Negli output dell'AI le generalizzazioni sono frequenti, perché il sistema tende a formulare affermazioni generali e a trasferire ai nostri casi soluzioni tipiche di altri contesti, come abbiamo visto nel Tema 3. La domanda di controllo è: su quanti casi e in quale contesto si basa questa affermazione? Vale anche per il nostro?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ragionamento solido considera le alternative. Un ragionamento debole presenta una sola interpretazione dei dati come se fosse l'unica possibile. Per ogni conclusione importante, conviene chiedersi: quali altre spiegazioni sono compatibili con gli stessi dati? Nell'esempio dei negozi: il calo in negozio potrebbe dipendere da lavori stradali in una zona, da un cambio di assortimento, dalla stagionalità, non solo dalla preferenza per l'online. Qui ritroviamo l'integrazione sulle omissioni, applicata ai ragionamenti. Un ragionamento apparentemente coerente può poggiare su premesse incomplete: non considerare eccezioni, condizioni, vincoli, controargomentazioni rilevanti. La differenza con il 7.2 è sottile ma importante: lì l'omissione rendeva incompleto l'output; qui rende ingiustificata la conclusione. Se il ragionamento sui negozi non considera che una parte delle vendite online deriva da clienti che prima hanno visto il prodotto in negozio, la conclusione di chiudere i negozi potrebbe danneggiare proprio le vendite online. Per individuare queste omissioni: chiedersi quali informazioni potrebbero cambiare la conclusione, e se sono state considerate; e chiedersi quale sarebbe l'argomento più forte contro la conclusione.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controllo sintetizza i precedenti: la conclusione è proporzionata alle evidenze? Una conclusione può essere troppo forte rispetto alle evidenze, quando presenta come certo ciò che è solo probabile, o come generale ciò che vale in alcuni casi. Può essere troppo debole, quando le evidenze sono solide ma la conclusione è vaga o elusiva, cosa che negli output dell'AI accade quando il sistema 'sta sul generico' per prudenza. Oppure può non essere collegata alle evidenze, quando il ragionamento arriva a una conclusione che i dati presentati non trattano. La slide propone una breve lista di controllo, che riassume il sottotema: dati corretti; premesse dichiarate e fondate; passaggi giustificati; nessuna confusione tra correlazione e causalità; nessuna generalizzazione indebita; alternative considerate; informazioni rilevanti non omesse; conclusione proporzionata alle evidenze. Non serve applicarla meccanicamente a ogni testo: per gli output che sostengono decisioni importanti, però, è un buon esercizio, che con la pratica diventa naturale.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Per valutare un ragionamento lo si scompone in dati, premesse e conclusione, e si cercano i difetti tipici: passaggi non giustificati, confusione tra correlazione e causalità, assunzioni implicite, generalizzazioni indebite, alternative ignorate, omissioni nelle premesse. La conclusione deve essere proporzionata alle evidenze. Esercizio suggerito: dare ai partecipanti una breve raccomandazione prodotta dall'AI e chiedere di scomporla, individuare almeno un'assunzione implicita e proporre un'interpretazione alternativa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hanno un'autorevolezza particolare: una percentuale precisa o una tabella ordinata sembrano più oggettive di una frase. Ma i risultati quantitativi prodotti con l'AI possono contenere errori nei dati di partenza, nelle formule, nelle unità, nelle aggregazioni, nella rappresentazione. In questo sottotema, da conoscere e applicare, vediamo come verificarli. Non entriamo in metriche statistiche avanzate, che vanno solo accennate: ci interessano controlli pratici, alla portata di chiunque lavori con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controllo di un risultato quantitativo parte dall'inizio della catena. I dati di partenza: sono quelli giusti? Provengono dalla fonte corretta, riguardano il periodo, l'entità e la versione giusti? Sono completi, o mancano righe, mesi, categorie? Sono stati letti correttamente, per esempio senza confondere colonne o separatori decimali? Un errore qui si propaga a tutto ciò che segue. Le formule e le operazioni: il calcolo è quello appropriato? Una crescita percentuale si calcola rispetto al valore iniziale, una media va ponderata quando i gruppi hanno dimensioni diverse, un margine si calcola sul ricavo o sul costo a seconda della definizione aziendale. Il sistema può scegliere una formula plausibile ma diversa da quella in uso nella nostra organizzazione. Le unità di misura: euro o migliaia di euro, valori mensili o annuali, pezzi o confezioni, percentuali o punti percentuali. Un passaggio da 10% a 12% è un aumento di 2 punti percentuali, ma del 20% in termini relativi: confondere le due cose è un errore frequente e significativo. Per ciascuno di questi elementi, la verifica richiede di conoscere i dati e le definizioni in uso, e di poterli confrontare con l'origine.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ancora di ricalcolare, un controllo rapido ed efficacissimo è quello di plausibilità: il risultato è sensato? Bastano poche domande, che richiedono conoscenza del contesto più che calcoli. L'ordine di grandezza è giusto? Se il fatturato annuo dell'azienda è di circa 10 milioni, un risultato di 100 milioni o di 100 mila segnala un errore, probabilmente di unità o di un fattore dieci. Il segno è giusto? Un costo che risulta negativo, una crescita dove ci si aspettava un calo, richiedono una spiegazione. I totali tornano? La somma delle parti corrisponde al totale, le percentuali di una ripartizione sommano a cento? I valori sono coerenti con ciò che si conosce? Se un reparto con 5 persone risulta avere costi del personale superiori a uno con 50, qualcosa non va. I confronti nel tempo sono sensati? Una variazione del 300% in un mese, in un'attività stabile, è sospetta. Questi controlli non dimostrano che il risultato è corretto, ma individuano rapidamente molti errori. Sono il primo filtro, e richiedono soprattutto ciò che chi lavora in azienda possiede: la conoscenza dei propri numeri.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non sono tutti dello stesso tipo, e negli output dell'AI tipi diversi vengono spesso presentati allo stesso modo. I dati osservati sono misurati o registrati: le vendite del mese scorso, il numero di dipendenti, i reclami ricevuti. Sono i più affidabili, se la fonte è corretta. Le stime sono valori calcolati a partire da dati parziali o da ipotesi: la quota di mercato stimata, il costo previsto di un progetto, il numero di potenziali clienti. Dipendono dalle ipotesi usate, che vanno conosciute. Le simulazioni e le proiezioni descrivono scenari possibili: il fatturato previsto tra tre anni, l'effetto di un aumento di prezzo. Sono utili per ragionare, ma non sono fatti, e dipendono interamente dalle assunzioni. Un rischio specifico con l'AI è che il sistema produca numeri stimati o inventati e li presenti come dati osservati, con la stessa precisione apparente: '3.247 clienti potenziali' suona come un dato, ma potrebbe essere una stima senza base. La domanda da porsi per ogni numero importante è: questo valore è stato misurato, stimato o simulato? E, se è stimato o simulato, su quali ipotesi si basa?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errori quantitativi nascono nelle aggregazioni, cioè quando si sommano, si mediano o si raggruppano i dati, e nei confronti. Alcuni casi frequenti. Le medie possono nascondere situazioni molto diverse: un tempo medio di consegna di tre giorni può derivare da metà consegne in un giorno e metà in cinque. A volte la mediana o la distribuzione sono più informative. Le medie di medie sono spesso sbagliate: se due filiali hanno margini del 10% e del 20%, il margine complessivo non è il 15%, a meno che abbiano lo stesso fatturato. Le percentuali vanno lette insieme alle basi: un aumento del 50% su 4 casi significa passare a 6; non è un trend. I confronti devono essere omogenei: stesso periodo, stessa definizione, stesso perimetro. Confrontare un trimestre con un anno, o i dati di una sola sede con quelli di tutta l'azienda, produce conclusioni sbagliate. E i dati aggregati possono mostrare un andamento opposto a quello dei sottogruppi, un fenomeno noto in statistica come paradosso di Simpson, che basta accennare: è un ulteriore motivo per guardare i dati disaggregati quando la decisione è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Tabelle e grafici prodotti con l'AI vanno letti con la stessa attenzione dei testi, perché la forma visiva può rafforzare o distorcere il messaggio. Il caso più classico è mostrato in slide: gli stessi due valori, 102 e 105, rappresentati con un asse verticale che parte da zero e con uno che parte da 100. Nel primo grafico la differenza appare modesta, come è; nel secondo sembra enorme. Nessuno dei due è falso, ma il secondo può indurre a conclusioni sbagliate. Altri elementi da controllare: le etichette degli assi e le unità di misura; il periodo rappresentato, perché scegliere l'intervallo può cambiare l'impressione di un andamento; le scale, per esempio due serie su assi diversi; l'origine dei dati e la loro corrispondenza con le tabelle; le categorie omesse o raggruppate in 'altro'. Per le tabelle: corrispondenza dei totali, coerenza delle unità tra colonne, valori mancanti, arrotondamenti. Un grafico ben fatto è uno strumento potente; ma, come per i testi, la buona presentazione non dimostra la correttezza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un risultato quantitativo utile alle decisioni deve essere riconducibile a dati e procedimenti controllabili. Due pratiche lo rendono possibile. La tracciabilità dei passaggi di calcolo: deve essere possibile ricostruire come si è arrivati al risultato, cioè quali dati, quali formule, quali passaggi intermedi. Quando si usa l'AI per un'analisi, conviene chiedere di mostrare i passaggi, le formule usate e, se lo strumento esegue codice, il codice stesso, così che possa essere riletto o rieseguito. Un numero di cui non si conosce l'origine non dovrebbe sostenere una decisione. L'utilizzo di strumenti indipendenti per la verifica: ricalcolare i valori importanti con uno strumento diverso, come un foglio di calcolo, partendo dai dati originali; confrontare con report o sistemi aziendali che contengono gli stessi dati; per calcoli complessi, chiedere a un collega esperto di rifare il calcolo in modo autonomo. Uno strumento indipendente è prezioso proprio perché non condivide gli eventuali errori del primo. Anche qui il livello di impegno dipende dall'uso: un ordine di grandezza per una discussione interna non richiede lo stesso controllo di un valore da inserire in un bilancio o in un'offerta.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i numeri significa controllare dati di partenza, formule e unità; applicare controlli di plausibilità; distinguere dati osservati, stime e simulazioni; diffidare di medie, percentuali e confronti non omogenei; leggere criticamente tabelle e grafici; garantire tracciabilità e ricalcolare con strumenti indipendenti. Esercizio suggerito: dare ai partecipanti una piccola tabella prodotta dall'AI con un errore di unità e un totale che non torna, e chiedere di individuarli con i soli controlli di plausibilità.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essere usata non solo per produrre contenuti, ma anche per aiutarci a rivederli. In questo sottotema, da conoscere e sperimentare, vediamo le principali tecniche di revisione assistita: richieste di revisione critica, ricerca di assunzioni, punti deboli, contraddizioni e lacune, controargomentazioni, checklist, confronto tra modelli. E affrontiamo il punto centrale: la differenza tra chiedere all'AI se una risposta è corretta e verificarla davvero.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principali tecniche, con un esempio di richiesta per ciascuna. Revisione critica: 'Rileggi il testo come un revisore esigente e segnala errori, imprecisioni e punti poco chiari'. Assunzioni e punti deboli: 'Quali assunzioni implicite contiene questo ragionamento? Quali sono i suoi punti più deboli?'. Controargomentazioni: 'Qual è l'argomento più forte contro questa conclusione?'. Confronto tra alternative: 'Quali altre conclusioni sarebbero compatibili con gli stessi dati?'. Checklist e criteri: 'Verifica se il documento rispetta questi cinque requisiti e indica per ciascuno dove e come'. Contraddizioni e informazioni mancanti: 'Ci sono affermazioni in contraddizione tra loro? Quali informazioni importanti mancano?'. Queste richieste applicano gli strumenti visti nei sottotemi 7.2 e 7.4, chiedendo al sistema di svolgere un primo esame. Funzionano meglio se la revisione avviene in una nuova conversazione, presentando il testo come lavoro di altri, perché il sistema tende a essere meno critico verso ciò che ha appena prodotto e verso ciò che l'utente presenta come proprio, come abbiamo visto parlando di compiacenza.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di richiesta di revisione che combina più tecniche, da usare in una nuova conversazione dopo aver ottenuto un primo output. Il testo da rivedere viene delimitato e presentato come bozza preparata da un collega. La richiesta chiede di distinguere fatti, stime e interpretazioni, di elencare le affermazioni che andrebbero verificate su una fonte, di indicare assunzioni implicite e informazioni mancanti, e di proporre l'argomento più forte contro la conclusione. Chiede infine di non riscrivere il testo, ma di produrre un elenco di osservazioni. Questo ultimo accorgimento è importante: se si chiede di correggere direttamente il testo, il sistema può introdurre nuovi errori o modificare parti corrette, e diventa difficile capire che cosa è cambiato. Un elenco di osservazioni, invece, lascia alla persona la valutazione e la decisione su ogni punto. Il risultato di questa richiesta è una lista di punti da controllare: non una verifica, ma una mappa per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tecnica sempre più diffusa è confrontare le risposte di modelli diversi alla stessa domanda, o chiedere a un modello di rivedere l'output di un altro. Ha una sua utilità: se due sistemi danno risposte molto diverse a una domanda fattuale, è un segnale chiaro che almeno uno dei due sbaglia, e che l'argomento va verificato con cura. Un modello diverso può anche notare errori o omissioni che il primo non vede, perché ha caratteristiche diverse. Ma il confronto ha un limite importante, sottolineato dal documento di perimetro: anche modelli diversi possono condividere errori. Sono addestrati su dati in buona parte simili, con metodi simili, e possono riprodurre le stesse informazioni sbagliate, le stesse lacune, gli stessi bias, le stesse interpretazioni comuni ma scorrette. Due modelli che concordano non costituiscono quindi due fonti indipendenti: la concordanza aumenta un po' la fiducia, ma non è una prova. La discordanza, invece, è un'informazione preziosa. Il confronto tra modelli serve dunque soprattutto a individuare i punti dubbi, non a confermare quelli certi.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un equivoco molto diffuso: pensare di aver verificato una risposta chiedendo all'AI 'sei sicuro?' o 'controlla se è corretto'. Il documento di perimetro indica tre modi in cui questa richiesta può fallire. Il modello può confermare errori: ripete o giustifica l'informazione sbagliata, come nel caso Avianca visto nel Tema 3, in cui il sistema confermò l'esistenza di sentenze inventate. Il modello può correggere risultati corretti: se la domanda lascia intendere un dubbio, il sistema tende ad assecondarlo, cambiando una risposta giusta in una sbagliata. Il modello può fornire giustificazioni infondate: produce spiegazioni convincenti a sostegno di una conclusione, che sembrano dimostrarla ma non si basano su evidenze reali. Chiedere al sistema di controllarsi può comunque aiutare a individuare problemi, soprattutto errori di calcolo, incoerenze interne o passaggi saltati, specialmente se lo si fa con richieste specifiche come quelle viste prima. Ma non costituisce una prova indipendente: il sistema usa la stessa conoscenza e gli stessi meccanismi che hanno prodotto l'output.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mette a confronto i due approcci. L'autovalutazione, o revisione assistita dall'AI, usa lo stesso sistema, o un sistema simile, per esaminare l'output. È rapida, economica, sempre disponibile, utile per trovare errori evidenti, incoerenze, lacune, e per costruire una lista di punti da controllare. Ma condivide conoscenze e limiti con chi ha prodotto l'output, è esposta alla compiacenza, e non può accedere alla verità se non attraverso strumenti esterni. La verifica indipendente usa evidenze esterne al sistema: fonti primarie, dati originali, strumenti di calcolo, esperti. È più lenta e impegnativa, ma è l'unica che fornisce una prova. Nella pratica i due approcci sono complementari, e la sequenza tipica è chiara: prima la revisione assistita, che individua i punti dubbi; poi la verifica indipendente sui punti più importanti. Il concetto chiave del sottotema lo riassume: la revisione assistita dall'AI è un supporto al controllo, non un sostituto delle evidenze indipendenti. Un caso particolare è l'uso di strumenti esterni da parte del sistema stesso, come la ricerca web o l'esecuzione di codice: avvicinano la revisione a una verifica, ma i risultati vanno comunque controllati, come abbiamo visto per le fonti.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L'AI può aiutare a rivedere un output: revisione critica, assunzioni, controargomentazioni, alternative, checklist, contraddizioni e lacune, confronto tra modelli. Conviene chiedere osservazioni invece di riscritture, e presentare il testo come lavoro di altri. Ma chiedere all'AI se ha ragione non è una verifica: può confermare errori, correggere risultati giusti, giustificare senza basi. E modelli diversi possono condividere errori. Esercizio suggerito: far applicare ai partecipanti la richiesta di revisione vista in precedenza a un output reale, poi verificare in modo indipendente i due punti più importanti emersi.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abbiamo parlato degli output e dei metodi per valutarli. Ma la valutazione la fa una persona, e le persone hanno tendenze sistematiche di giudizio, i bias cognitivi, che possono comprometterla. Il 7.1 ha introdotto il metodo critico; il 7.7 affronta i bias che possono comprometterlo. Alcuni li abbiamo già incontrati nei Temi 3 e 5: qui li guardiamo dal punto di vista specifico della valutazione e della verifica, e proponiamo strategie per contrastarli. L'obiettivo è una consapevolezza critica, non uno studio psicologico approfondito.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principali bias cognitivi che possono influenzare il modo in cui valutiamo gli output dell'AI. Il bias di conferma: notiamo e accettiamo più facilmente ciò che conferma le nostre convinzioni, e verifichiamo con più severità ciò che le contraddice. L'automation bias: tendiamo a privilegiare i suggerimenti dei sistemi automatici, riducendo la verifica. L'effetto dell'autorevolezza apparente: attribuiamo credibilità a ciò che ha la forma di un testo competente. L'influenza della fluidità e della sicurezza espressiva: ciò che è facile da leggere e affermato con sicurezza ci sembra più vero. L'eccessiva fiducia negli output, spesso rafforzata dalle esperienze positive precedenti. La sfiducia non giustificata, l'errore opposto, che porta a scartare output validi. La delega del giudizio e l'accettazione passiva: lasciare che sia il sistema a decidere che cosa è giusto. Sono tendenze comuni a tutti, non segni di superficialità: proprio per questo conviene conoscerle e predisporre contromisure, invece di contare sulla buona volontà.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bias di conferma merita un approfondimento, perché agisce in modo specifico durante la verifica. Quando un output conferma ciò che pensiamo, tendiamo a considerarlo corretto e a verificarlo poco; quando lo contraddice, tendiamo a cercarne i difetti. Il risultato è una verifica asimmetrica: severa con le informazioni scomode, indulgente con quelle gradite. Inoltre, come visto nel Tema 3, il sistema tende ad assecondare l'utente, e il modo in cui formuliamo le domande può già contenere la risposta che desideriamo. Il bias si manifesta anche nella ricerca delle fonti: cerchiamo, e troviamo, le fonti che confermano, e smettiamo di cercare quando ne abbiamo trovata una. Alcune contromisure pratiche. Applicare lo stesso livello di verifica a ciò che ci piace e a ciò che non ci piace, magari con una checklist fissa. Cercare attivamente le evidenze contrarie: 'che cosa dovrei trovare se avessi torto?'. Chiedere all'AI gli argomenti contro la propria tesi, come visto nel Tema 5. Quando possibile, far verificare a qualcuno che non ha preferenze sul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bias collegati spiegano perché gli output dell'AI ci convincono facilmente. La fluidità: le ricerche in psicologia cognitiva hanno mostrato che le informazioni facili da elaborare, per esempio scritte in modo chiaro e leggibile, tendono a essere giudicate più vere. Un lavoro noto in questo campo è quello di Rolf Reber e Norbert Schwarz del 1999. I testi generati dall'AI sono quasi sempre molto fluidi. La sicurezza espressiva: le affermazioni fatte con sicurezza, senza esitazioni, ci sembrano più credibili, perché tra persone la sicurezza è spesso un segnale di competenza. Ma, come visto nel 7.2, il tono di un sistema AI non misura la sua correttezza. L'autorevolezza apparente: lessico tecnico, struttura professionale, citazioni, numeri precisi attivano la nostra fiducia, anche quando il contenuto non la merita. Questi tre effetti agiscono insieme e in modo largamente automatico: non si eliminano con la consapevolezza, ma si possono contrastare con il metodo. Le contromisure sono quelle già viste: separare il giudizio sulla forma da quello sulla sostanza, chiedersi su che cosa si basa ogni affermazione, controllare i punti critici indipendentemente da quanto suonano convincenti.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errori opposti, entrambi da evitare. L'eccessiva fiducia, insieme all'automation bias e all'accettazione passiva, porta a usare output non verificati, a non accorgersi degli errori, a delegare il giudizio. Si rafforza con l'esperienza: dopo molte risposte corrette, si smette di controllare, proprio quando l'errore occasionale diventa più difficile da notare. La sfiducia non giustificata porta a scartare output validi, a rifare da capo lavori che erano corretti, a perdere i benefici dell'AI, e talvolta a una verifica eccessiva che consuma tempo senza aggiungere valore. Si alimenta spesso di un'esperienza negativa, generalizzata a tutti gli usi. Entrambi gli errori hanno la stessa radice: la fiducia non è calibrata sulle evidenze, ma su impressioni generali. La soluzione è la stessa vista in tutto il percorso: una fiducia calibrata, che varia in base al compito, al sistema, alle evidenze disponibili e alle conseguenze di un errore. Domanda per il gruppo: in quale dei due errori cadete più spesso, e in quali situazioni?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5 abbiamo visto il rischio della delega cognitiva e alcune pratiche per preservare l'autonomia. Qui le declinamo nella valutazione degli output, come strategie concrete contro i bias. Formarsi un'opinione prima di leggere l'output, anche sommaria: dà un termine di confronto e riduce l'ancoraggio alla risposta del sistema. Usare checklist e criteri fissati in anticipo: rendono la verifica meno dipendente dall'impressione del momento e dal fatto che il risultato ci piaccia. Considerare l'opposto: chiedersi esplicitamente perché la conclusione potrebbe essere sbagliata. Rallentare sui punti critici: la lettura veloce favorisce i giudizi automatici, quella lenta e mirata il ragionamento. Separare produzione e verifica: lasciare passare del tempo, o affidare la verifica a un'altra persona. Tenere traccia degli errori trovati: sapere dove il sistema ha sbagliato in passato aiuta a calibrare la fiducia futura, in un senso o nell'altro. Il concetto chiave del sottotema lo ricorda: l'affidabilità del processo dipende anche dall'atteggiamento di chi valuta. Il miglior sistema di verifica fallisce se chi lo applica non si accorge dei propri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Bias di conferma, automation bias, fluidità, sicurezza espressiva e autorevolezza apparente spingono verso la fiducia eccessiva; la sfiducia non giustificata è l'errore opposto. Sono tendenze comuni e in parte automatiche, che si contrastano con il metodo: opinione prima della lettura, checklist fisse, considerare l'opposto, rallentare, separare produzione e verifica, tenere traccia degli errori. Domanda di verifica: ripensate a un output dell'AI che avete usato di recente. L'avreste controllato con la stessa severità se avesse detto il contrario di ciò che pensavate?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all'ultima fase della sequenza: decidere. Abbiamo valutato l'output e verificato ciò che lo richiedeva; ora dobbiamo stabilire se usarlo, e come. È un sottotema di consapevolezza decisionale, che porta due integrazioni importanti: la gestione dell'incertezza residua e l'economia della verifica, cioè la proporzionalità dei controlli. Il 7.2 valutava la qualità del contenuto; qui ne valutiamo l'utilizzabilità in un contesto concreto. La responsabilità è trattata come consapevolezza operativa, non nei suoi aspetti giuridici.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parole che descrivono tre stati diversi di un output. Plausibile: sembra corretto, è ben scritto, coerente, credibile. È lo stato in cui si trova quasi ogni output dell'AI appena generato, e non dice nulla sulla correttezza. Verificato: gli elementi che lo richiedevano sono stati controllati con evidenze indipendenti, come fonti, dati, calcoli, esperti. È un passo avanti decisivo, ma non ancora sufficiente. Validato: si è deciso che l'output, con le verifiche fatte e le incertezze che restano, è adeguato a uno specifico utilizzo. La validazione aggiunge alla verifica due elementi: lo scopo e la decisione. Un output può essere verificato e non validato: per esempio, un'analisi corretta nei dati ma troppo generica per sostenere la decisione per cui serviva, o un testo accurato ma inadatto al destinatario. E lo stesso output può essere validato per un uso e non per un altro: una sintesi adeguata per una discussione interna può non esserlo per un documento ufficiale. Il criterio di approfondimento del documento lo dice così: un risultato apparentemente corretto non è necessariamente verificato; un risultato verificato può comunque non essere adeguato a un utilizzo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validazione parte da due domande. La prima riguarda l'adeguatezza allo scopo: il risultato serve davvero all'uso previsto? È al livello di dettaglio, di precisione, di affidabilità richiesto? Risponde alla domanda che conta, per il destinatario che lo userà? Un risultato può essere corretto e inadeguato, come abbiamo appena visto. La seconda riguarda le conseguenze di un errore: se l'output contenesse un errore non individuato, che cosa succederebbe? Nel Tema 3 abbiamo visto quattro dimensioni delle conseguenze: gravità, reversibilità, chi le subisce, rilevabilità. Qui le usiamo per decidere quanto approfondire la verifica e se accettare il risultato. Un errore in una bozza interna che verrà rivista ha conseguenze minime; un errore in un'offerta inviata a un cliente, in una comunicazione a tutti i dipendenti, in un dato che alimenta una decisione d'investimento, può avere conseguenze serie e difficili da correggere. Le due domande insieme definiscono il livello di controllo necessario, e quindi il punto in cui la validazione può essere considerata raggiunta.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un problema molto concreto: la verifica costa tempo. Se ogni output dovesse essere verificato in ogni dettaglio, l'AI non farebbe risparmiare nulla; se non si verificasse nulla, gli errori passerebbero. L'economia della verifica propone di graduare impegno e profondità del controllo in funzione di due fattori: la probabilità dell'errore e il suo impatto. La matrice in slide li combina. Probabilità bassa e impatto basso: una rilettura è sufficiente. Probabilità alta e impatto basso: controlli rapidi e mirati, per esempio sui numeri. Probabilità bassa e impatto alto: verifica dei punti critici, perché anche un errore raro avrebbe conseguenze serie. Probabilità alta e impatto alto: verifica approfondita e, se serve, intervento di un esperto. La probabilità dipende da ciò che abbiamo visto nel Tema 3 e in questo modulo: tipo di contenuto, numeri, fonti, argomenti di nicchia, complessità. L'impatto dipende dall'uso. Il principio evita due errori opposti, indicati dal documento: la verifica indiscriminata di ogni dettaglio, che spreca tempo e non migliora la qualità; e i controlli insufficienti per impieghi critici, che espongono a errori gravi.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L'economia della verifica si traduce in alcune scelte pratiche. Identificare le informazioni più critiche: in quasi ogni output, poche affermazioni portano gran parte del peso, cioè quelle su cui si basa la decisione, quelle visibili all'esterno, quelle con conseguenze economiche o legali. Concentrare lì la verifica è il modo più efficiente per ridurre il rischio. Confrontare il costo della verifica con il rischio: se verificare un dato richiede dieci minuti e un errore costerebbe una figuraccia con un cliente importante, la verifica conviene; se verificare tutti i dettagli di una bozza interna richiede un'ora, probabilmente no. Considerare il costo di non usare l'AI: se la verifica richiesta è così ampia da superare il tempo necessario per fare il lavoro direttamente, forse per quel compito l'AI non è lo strumento giusto, come visto nel Tema 3. Riutilizzare le verifiche: per compiti ricorrenti, una verifica approfondita iniziale su un campione di casi, come visto nel Tema 3, può giustificare controlli più leggeri successivamente, con revisioni periodiche. Il risultato è una verifica proporzionata: abbastanza per l'uso previsto, non di più, non di 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Ritroviamo qui l'integrazione sull'incertezza, applicata alla decisione. Anche dopo la verifica, quasi sempre resta qualcosa di incerto: informazioni non verificabili, stime, ipotesi, punti che non è stato possibile controllare per mancanza di tempo o di fonti. Il documento di perimetro sottolinea che la decisione sull'utilizzo deve tenere conto di ciò che resta incerto, non solo di ciò che è stato verificato. È un errore frequente considerare un output 'verificato' perché i punti controllati sono risultati corretti, dimenticando quelli non controllati. Tre passi aiutano. Rendere esplicite le incertezze residue: che cosa non sappiamo con certezza? Valutarne l'impatto: se queste informazioni fossero sbagliate, la conclusione o l'uso cambierebbero? Decidere di conseguenza: accettare l'incertezza, se l'impatto è basso; ridurla con ulteriori verifiche, se è possibile e conveniente; comunicarla al destinatario, se deve tenerne conto; oppure rinunciare all'uso, se è troppo alta. Comunicare l'incertezza in modo onesto, per esempio indicando che un dato è stimato o non verificato, è un segno di professionalità, non di debolezza.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elementi chiudono il processo. Il coinvolgimento di competenze specialistiche: quando l'output riguarda un ambito in cui chi valuta non ha competenze sufficienti per riconoscere gli errori, come aspetti legali, fiscali, medici, tecnici, di sicurezza, e le conseguenze sono rilevanti, la validazione richiede il parere di un esperto. È la risposta all'ultima domanda guida: quando coinvolgere un esperto o non usare l'output. La decisione finale, che può avere quattro esiti. Accettare: l'output è adeguato allo scopo, con le verifiche fatte e le incertezze accettabili. Modificare: l'output è utilizzabile dopo correzioni, integrazioni, riformulazioni. Approfondire: servono ulteriori verifiche, informazioni o il parere di un esperto prima di decidere. Rifiutare: l'output non è adeguato, contiene errori sostanziali, o le incertezze sono troppo alte per l'uso previsto. Rifiutare non è un fallimento: è l'esito corretto quando l'output non regge all'esame, e può portare a rifare il lavoro diversamente, con o senza l'AI. Il concetto chiave lo definisce così: validare significa decidere se un output, con le verifiche appropriate e le incertezze residue, è adeguato a uno specifico utilizzo.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due punti del sottotema. La documentazione delle verifiche, quando necessaria: per gli output importanti, come documenti esterni, dati per decisioni rilevanti, contenuti soggetti a controllo, conviene tenere traccia di che cosa è stato verificato, con quali fonti, da chi e quando, e di quali incertezze restano. Non serve per ogni bozza, ma per ciò che potrebbe essere riesaminato o contestato. La documentazione permette di ricostruire il processo, di rispondere a domande sul risultato, di correggere rapidamente se emerge un errore, e di imparare dagli errori trovati. È collegata alla tracciabilità vista nel Tema 3 e nel 7.5. Le regole aziendali su quando e come documentare appartengono all'area della responsabilità e della normativa. La responsabilità nell'utilizzo dei risultati: riprendiamo il principio che attraversa tutto il percorso. Chi usa un output dell'AI ne risponde come se l'avesse prodotto personalmente. La validazione è il momento in cui questa responsabilità si esercita concretamente: decidere di usare un risultato significa assumersene la responsabilità. Ed è il motivo per cui valutare, verificare e decidere non sono attività accessorie, ma parte essenziale dell'uso consapevole dell'AI.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Plausibile, verificato e validato sono stati diversi. La validazione considera l'adeguatezza allo scopo e le conseguenze di un errore, gradua la verifica secondo probabilità e impatto, tiene conto delle incertezze residue, coinvolge esperti quando servono e si conclude con una decisione: accettare, modificare, approfondire o rifiutare. Quando necessario, le verifiche si documentano. E chi decide di usare un risultato ne assume la responsabilità. Esercizio suggerito: presentare tre output con usi diversi, per esempio una bozza interna, una comunicazione a un cliente e un dato per una decisione d'investimento, e chiedere ai partecipanti quale livello di verifica applicherebbero e quale decisione prenderebbero.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undici domande guida. Convincente o corretta: si giudica la sostanza, separata dalla forma, sulle evidenze. Che cosa rende un output utilizzabile: accuratezza, pertinenza, completezza, coerenza, chiarezza. Che cosa manca: partire dalle attese, cercare eccezioni e l'altra metà, confrontare con la fonte. Fonti: autentiche, pertinenti, di supporto. Ragionamenti: scomporre in dati, premesse e conclusione, e cercare i difetti tipici. Numeri: dati di partenza, formule, unità, plausibilità, ricalcolo indipendente. Autoverifica e verifica indipendente: la prima trova i punti dubbi, solo la seconda fornisce prove. Bias: conferma, automation bias, fluidità; e la sfiducia ingiustificata. Fatti e incertezze: livelli diversi, che il tono non rivela. Livello di verifica: proporzionato a probabilità e impatto dell'errore. Quando un esperto o il rifiuto: quando mancano le competenze, le conseguenze sono rilevanti o le incertezze troppo alte.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plausibilità e correttezza; valutare pertinenza, accuratezza, completezza e coerenza; identificare le affermazioni da verificare; controllare fonti e riferimenti in modo indipendente; riconoscere conclusioni non giustificate, premesse incomplete e passaggi logici deboli; individuare omissioni, ipotesi implicite ed eccezioni; verificare dati, calcoli e risultati quantitativi; usare l'AI come supporto alla revisione senza confondere autoverifica e verifica indipendente; riconoscere i propri bias e regolare la fiducia; distinguere fatti verificati, supposizioni e incertezze residue; applicare controlli proporzionati al rischio; decidere quando accettare, modificare, approfondire o rifiutare un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da usare per gli output importanti. Valutare: che cosa sostiene l'output? Distinguere fatti, opinioni, ipotesi e interpretazioni. È pertinente, completo, coerente? Che cosa manca? Il ragionamento regge? Verificare: quali sono i punti critici, per importanza, rischio di errore e visibilità? Controllarli su fonti primarie e indipendenti; ricalcolare i numeri importanti; usare la revisione assistita dall'AI per trovare i punti dubbi, non come prova. Decidere: l'output è adeguato allo scopo? Quali incertezze restano e quanto pesano? Serve un esperto? Accettare, modificare, approfondire o rifiutare; documentare se necessario. E per tutto il processo: attenzione ai propri bias, con un'opinione formata prima di leggere e gli stessi controlli per ciò che piace e ciò che non piace. La scheda non è una procedura obbligatoria: per una bozza interna si riduce a pochi secondi di attenzione, per un documento critico diventa un processo strutturato.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errori tipici nella verifica degli output, uno per ciascuno dei principali messaggi del modulo. Primo: 'è scritto bene, quindi è giusto'. La qualità espressiva è quasi sempre alta e non dice nulla sulla sostanza. Secondo: 'c'è la fonte, quindi è vero'. Una citazione non è una prova: la fonte deve esistere, essere pertinente e sostenere davvero l'affermazione. Terzo: 'i numeri tornano', senza averli ricalcolati. Un risultato quantitativo che serve a decidere va ricondotto a dati e procedimenti controllabili, con uno strumento indipendente. Quarto: 'gliel'ho chiesto due volte'. Chiedere conferma allo stesso sistema non è una verifica indipendente: può confermare l'errore o cambiare una risposta giusta. Quinto: 'verifico solo ciò che non mi convince'. È il bias di conferma: la verifica deve essere ugualmente severa con ciò che ci piace. Sesto: 'verifico tutto allo stesso modo'. La verifica va proporzionata a probabilità e impatto dell'errore: né controlli indiscriminati, né controlli insufficienti per gli usi critici. Suggerimento: chiedere ai partecipanti quale di questi errori hanno visto più spesso, in sé o negli altri.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7 si conclude l'area 'Interagire con l'AI', che ha seguito l'intero ciclo dell'interazione: il dialogo e la collaborazione nel Tema 5, la formulazione delle richieste nel Tema 6, la valutazione e la verifica dei risultati in questo tema. Insieme all'area 'Comprendere l'AI', costituisce la base di competenze trasversali del percorso. Con il Tema 8 si apre una nuova area, 'Esplorare le possibilità dell'AI', che guarda a che cosa si può fare concretamente nei diversi ambiti di lavoro. Il Tema 8 è dedicato all'AI per testi, documenti e conoscenza: generare e trasformare testi, sintetizzare e analizzare documenti, estrarre informazioni strutturate, confrontare documenti, fare ricerca e interrogare raccolte documentali. Seguirà il Tema 9, dedicato all'AI per dati e analisi. In tutti questi ambiti, la capacità di valutare, verificare e decidere costruita in questo modulo sarà applicata a contenuti concreti: la fedeltà di una sintesi, l'accuratezza di un'estrazione, la tracciabilità verso le fonti.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Il caso Avianca e lo studio di Sharma e colleghi sono già presentati nel Tema 3 (affidabilità e compiacenza), qui richiamati. Le pagine di Reber e Schwarz sono indicate a memoria: da verificare. Il modulo si basa soprattutto su principi consolidati di pensiero critico, analisi delle fonti e lettura dei dati, che non dipendono da una singola fonte. Prima di ogni edizione è consigliabile verificare se ci sono casi recenti o studi utili da aggiungere, in particolare sull'efficacia della revisione assistita dall'AI, che è un campo in rapida evoluzione.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7  ·  Verifica degli output e pensiero critico</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7  ·  Verifica degli output e pensiero critico</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7  ·  Verifica degli output e pensiero critico</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4.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image" Target="../media/image-54-6.png"/><Relationship Id="rId7" Type="http://schemas.openxmlformats.org/officeDocument/2006/relationships/image" Target="../media/image-54-7.png"/><Relationship Id="rId8" Type="http://schemas.openxmlformats.org/officeDocument/2006/relationships/slideLayout" Target="../slideLayouts/slideLayout4.xm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4.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4.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4.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4.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4.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image" Target="../media/image-72-6.png"/><Relationship Id="rId7" Type="http://schemas.openxmlformats.org/officeDocument/2006/relationships/slideLayout" Target="../slideLayouts/slideLayout4.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7</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Verifica degli output e pensiero critico nell'utilizzo dell'AI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Interagire con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Valutare criticamente gli output</a:t>
            </a:r>
            <a:endParaRPr lang="en-US" sz="1400" dirty="0"/>
          </a:p>
          <a:p>
            <a:pPr marL="177800" indent="-177800">
              <a:spcAft>
                <a:spcPts val="500"/>
              </a:spcAft>
              <a:buSzPct val="100000"/>
              <a:buChar char="•"/>
            </a:pPr>
            <a:r>
              <a:rPr lang="en-US" sz="1400" dirty="0">
                <a:solidFill>
                  <a:schemeClr val="tx2"/>
                </a:solidFill>
              </a:rPr>
              <a:t>Verificare informazioni, fonti, ragionamenti, numeri</a:t>
            </a:r>
            <a:endParaRPr lang="en-US" sz="1400" dirty="0"/>
          </a:p>
          <a:p>
            <a:pPr marL="177800" indent="-177800">
              <a:spcAft>
                <a:spcPts val="500"/>
              </a:spcAft>
              <a:buSzPct val="100000"/>
              <a:buChar char="•"/>
            </a:pPr>
            <a:r>
              <a:rPr lang="en-US" sz="1400" dirty="0">
                <a:solidFill>
                  <a:schemeClr val="tx2"/>
                </a:solidFill>
              </a:rPr>
              <a:t>Riconoscere errori e omissioni</a:t>
            </a:r>
            <a:endParaRPr lang="en-US" sz="1400" dirty="0"/>
          </a:p>
          <a:p>
            <a:pPr marL="177800" indent="-177800">
              <a:spcAft>
                <a:spcPts val="500"/>
              </a:spcAft>
              <a:buSzPct val="100000"/>
              <a:buChar char="•"/>
            </a:pPr>
            <a:r>
              <a:rPr lang="en-US" sz="1400" dirty="0">
                <a:solidFill>
                  <a:schemeClr val="tx2"/>
                </a:solidFill>
              </a:rPr>
              <a:t>Decidere se un risultato è adeguato all'uso</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 qualità apparente non garantisce la correttezza.</a:t>
            </a:r>
            <a:endParaRPr lang="en-US" sz="1400" dirty="0"/>
          </a:p>
          <a:p>
            <a:pPr indent="0" marL="0">
              <a:buNone/>
            </a:pPr>
            <a:endParaRPr lang="en-US" sz="1400" dirty="0"/>
          </a:p>
          <a:p>
            <a:pPr indent="0" marL="0">
              <a:buNone/>
            </a:pPr>
            <a:r>
              <a:rPr lang="en-US" sz="1400" dirty="0">
                <a:solidFill>
                  <a:schemeClr val="tx2"/>
                </a:solidFill>
              </a:rPr>
              <a:t>Distinguere plausibilità, accuratezza, completezza e adeguatezza allo scopo, con controlli proporzionati.</a:t>
            </a:r>
            <a:endParaRPr lang="en-US" sz="1400" dirty="0"/>
          </a:p>
          <a:p>
            <a:pPr indent="0" marL="0">
              <a:buNone/>
            </a:pPr>
            <a:endParaRPr lang="en-US" sz="1400" dirty="0"/>
          </a:p>
          <a:p>
            <a:pPr indent="0" marL="0">
              <a:buNone/>
            </a:pPr>
            <a:r>
              <a:rPr lang="en-US" sz="1400" dirty="0">
                <a:solidFill>
                  <a:schemeClr val="tx2"/>
                </a:solidFill>
              </a:rPr>
              <a:t>Non sfiducia, ma fiducia calibrata sulle evidenze.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Undici domande guida per questo modulo</a:t>
            </a:r>
            <a:endParaRPr lang="en-US" sz="2600" dirty="0"/>
          </a:p>
        </p:txBody>
      </p:sp>
      <p:sp>
        <p:nvSpPr>
          <p:cNvPr id="4" name="domanda 1"/>
          <p:cNvSpPr/>
          <p:nvPr/>
        </p:nvSpPr>
        <p:spPr>
          <a:xfrm>
            <a:off x="457200" y="1051560"/>
            <a:ext cx="1961388" cy="987552"/>
          </a:xfrm>
          <a:prstGeom prst="roundRect">
            <a:avLst>
              <a:gd name="adj" fmla="val 7407"/>
            </a:avLst>
          </a:prstGeom>
          <a:solidFill>
            <a:schemeClr val="bg2"/>
          </a:solidFill>
          <a:ln/>
        </p:spPr>
      </p:sp>
      <p:sp>
        <p:nvSpPr>
          <p:cNvPr id="5" name="Text 2"/>
          <p:cNvSpPr txBox="1"/>
          <p:nvPr/>
        </p:nvSpPr>
        <p:spPr>
          <a:xfrm>
            <a:off x="594360"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distinguo una risposta convincente da una corretta?</a:t>
            </a:r>
            <a:endParaRPr lang="en-US" sz="1100" dirty="0"/>
          </a:p>
        </p:txBody>
      </p:sp>
      <p:sp>
        <p:nvSpPr>
          <p:cNvPr id="7" name="domanda 2"/>
          <p:cNvSpPr/>
          <p:nvPr/>
        </p:nvSpPr>
        <p:spPr>
          <a:xfrm>
            <a:off x="2546604" y="1051560"/>
            <a:ext cx="1961388" cy="987552"/>
          </a:xfrm>
          <a:prstGeom prst="roundRect">
            <a:avLst>
              <a:gd name="adj" fmla="val 7407"/>
            </a:avLst>
          </a:prstGeom>
          <a:solidFill>
            <a:schemeClr val="bg2"/>
          </a:solidFill>
          <a:ln/>
        </p:spPr>
      </p:sp>
      <p:sp>
        <p:nvSpPr>
          <p:cNvPr id="8" name="Text 5"/>
          <p:cNvSpPr txBox="1"/>
          <p:nvPr/>
        </p:nvSpPr>
        <p:spPr>
          <a:xfrm>
            <a:off x="2683764"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Che cosa rende un output pertinente, completo, utilizzabile?</a:t>
            </a:r>
            <a:endParaRPr lang="en-US" sz="1100" dirty="0"/>
          </a:p>
        </p:txBody>
      </p:sp>
      <p:sp>
        <p:nvSpPr>
          <p:cNvPr id="10" name="domanda 3"/>
          <p:cNvSpPr/>
          <p:nvPr/>
        </p:nvSpPr>
        <p:spPr>
          <a:xfrm>
            <a:off x="4636008" y="1051560"/>
            <a:ext cx="1961388" cy="987552"/>
          </a:xfrm>
          <a:prstGeom prst="roundRect">
            <a:avLst>
              <a:gd name="adj" fmla="val 7407"/>
            </a:avLst>
          </a:prstGeom>
          <a:solidFill>
            <a:schemeClr val="bg2"/>
          </a:solidFill>
          <a:ln/>
        </p:spPr>
      </p:sp>
      <p:sp>
        <p:nvSpPr>
          <p:cNvPr id="11" name="Text 8"/>
          <p:cNvSpPr txBox="1"/>
          <p:nvPr/>
        </p:nvSpPr>
        <p:spPr>
          <a:xfrm>
            <a:off x="4773168"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individuo ciò che manca in una risposta esaustiva?</a:t>
            </a:r>
            <a:endParaRPr lang="en-US" sz="1100" dirty="0"/>
          </a:p>
        </p:txBody>
      </p:sp>
      <p:sp>
        <p:nvSpPr>
          <p:cNvPr id="13" name="domanda 4"/>
          <p:cNvSpPr/>
          <p:nvPr/>
        </p:nvSpPr>
        <p:spPr>
          <a:xfrm>
            <a:off x="6725412" y="1051560"/>
            <a:ext cx="1961388" cy="987552"/>
          </a:xfrm>
          <a:prstGeom prst="roundRect">
            <a:avLst>
              <a:gd name="adj" fmla="val 7407"/>
            </a:avLst>
          </a:prstGeom>
          <a:solidFill>
            <a:schemeClr val="bg2"/>
          </a:solidFill>
          <a:ln/>
        </p:spPr>
      </p:sp>
      <p:sp>
        <p:nvSpPr>
          <p:cNvPr id="14" name="Text 11"/>
          <p:cNvSpPr txBox="1"/>
          <p:nvPr/>
        </p:nvSpPr>
        <p:spPr>
          <a:xfrm>
            <a:off x="6862572"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verifico che una fonte sostenga davvero un'affermazione?</a:t>
            </a:r>
            <a:endParaRPr lang="en-US" sz="1100" dirty="0"/>
          </a:p>
        </p:txBody>
      </p:sp>
      <p:sp>
        <p:nvSpPr>
          <p:cNvPr id="16" name="domanda 5"/>
          <p:cNvSpPr/>
          <p:nvPr/>
        </p:nvSpPr>
        <p:spPr>
          <a:xfrm>
            <a:off x="457200" y="2176272"/>
            <a:ext cx="1961388" cy="987552"/>
          </a:xfrm>
          <a:prstGeom prst="roundRect">
            <a:avLst>
              <a:gd name="adj" fmla="val 7407"/>
            </a:avLst>
          </a:prstGeom>
          <a:solidFill>
            <a:schemeClr val="bg2"/>
          </a:solidFill>
          <a:ln/>
        </p:spPr>
      </p:sp>
      <p:sp>
        <p:nvSpPr>
          <p:cNvPr id="17" name="Text 14"/>
          <p:cNvSpPr txBox="1"/>
          <p:nvPr/>
        </p:nvSpPr>
        <p:spPr>
          <a:xfrm>
            <a:off x="594360"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identifico premesse, ipotesi e conclusioni non giustificate?</a:t>
            </a:r>
            <a:endParaRPr lang="en-US" sz="1100" dirty="0"/>
          </a:p>
        </p:txBody>
      </p:sp>
      <p:sp>
        <p:nvSpPr>
          <p:cNvPr id="19" name="domanda 6"/>
          <p:cNvSpPr/>
          <p:nvPr/>
        </p:nvSpPr>
        <p:spPr>
          <a:xfrm>
            <a:off x="2546604" y="2176272"/>
            <a:ext cx="1961388" cy="987552"/>
          </a:xfrm>
          <a:prstGeom prst="roundRect">
            <a:avLst>
              <a:gd name="adj" fmla="val 7407"/>
            </a:avLst>
          </a:prstGeom>
          <a:solidFill>
            <a:schemeClr val="bg2"/>
          </a:solidFill>
          <a:ln/>
        </p:spPr>
      </p:sp>
      <p:sp>
        <p:nvSpPr>
          <p:cNvPr id="20" name="Text 17"/>
          <p:cNvSpPr txBox="1"/>
          <p:nvPr/>
        </p:nvSpPr>
        <p:spPr>
          <a:xfrm>
            <a:off x="2683764"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controllo dati, formule e grafici generati dall'AI?</a:t>
            </a:r>
            <a:endParaRPr lang="en-US" sz="1100" dirty="0"/>
          </a:p>
        </p:txBody>
      </p:sp>
      <p:sp>
        <p:nvSpPr>
          <p:cNvPr id="22" name="domanda 7"/>
          <p:cNvSpPr/>
          <p:nvPr/>
        </p:nvSpPr>
        <p:spPr>
          <a:xfrm>
            <a:off x="4636008" y="2176272"/>
            <a:ext cx="1961388" cy="987552"/>
          </a:xfrm>
          <a:prstGeom prst="roundRect">
            <a:avLst>
              <a:gd name="adj" fmla="val 7407"/>
            </a:avLst>
          </a:prstGeom>
          <a:solidFill>
            <a:schemeClr val="bg2"/>
          </a:solidFill>
          <a:ln/>
        </p:spPr>
      </p:sp>
      <p:sp>
        <p:nvSpPr>
          <p:cNvPr id="23" name="Text 20"/>
          <p:cNvSpPr txBox="1"/>
          <p:nvPr/>
        </p:nvSpPr>
        <p:spPr>
          <a:xfrm>
            <a:off x="4773168"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Che differenza c'è tra autoverifica dell'AI e verifica indipendente?</a:t>
            </a:r>
            <a:endParaRPr lang="en-US" sz="1100" dirty="0"/>
          </a:p>
        </p:txBody>
      </p:sp>
      <p:sp>
        <p:nvSpPr>
          <p:cNvPr id="25" name="domanda 8"/>
          <p:cNvSpPr/>
          <p:nvPr/>
        </p:nvSpPr>
        <p:spPr>
          <a:xfrm>
            <a:off x="6725412" y="2176272"/>
            <a:ext cx="1961388" cy="987552"/>
          </a:xfrm>
          <a:prstGeom prst="roundRect">
            <a:avLst>
              <a:gd name="adj" fmla="val 7407"/>
            </a:avLst>
          </a:prstGeom>
          <a:solidFill>
            <a:schemeClr val="bg2"/>
          </a:solidFill>
          <a:ln/>
        </p:spPr>
      </p:sp>
      <p:sp>
        <p:nvSpPr>
          <p:cNvPr id="26" name="Text 23"/>
          <p:cNvSpPr txBox="1"/>
          <p:nvPr/>
        </p:nvSpPr>
        <p:spPr>
          <a:xfrm>
            <a:off x="6862572"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Quali bias mi fanno fidare troppo, o troppo poco?</a:t>
            </a:r>
            <a:endParaRPr lang="en-US" sz="1100" dirty="0"/>
          </a:p>
        </p:txBody>
      </p:sp>
      <p:sp>
        <p:nvSpPr>
          <p:cNvPr id="28" name="domanda 9"/>
          <p:cNvSpPr/>
          <p:nvPr/>
        </p:nvSpPr>
        <p:spPr>
          <a:xfrm>
            <a:off x="457200" y="3300984"/>
            <a:ext cx="1961388" cy="987552"/>
          </a:xfrm>
          <a:prstGeom prst="roundRect">
            <a:avLst>
              <a:gd name="adj" fmla="val 7407"/>
            </a:avLst>
          </a:prstGeom>
          <a:solidFill>
            <a:schemeClr val="bg2"/>
          </a:solidFill>
          <a:ln/>
        </p:spPr>
      </p:sp>
      <p:sp>
        <p:nvSpPr>
          <p:cNvPr id="29" name="Text 26"/>
          <p:cNvSpPr txBox="1"/>
          <p:nvPr/>
        </p:nvSpPr>
        <p:spPr>
          <a:xfrm>
            <a:off x="594360"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94360"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distinguo fatti, probabilità, ipotesi, incertezze?</a:t>
            </a:r>
            <a:endParaRPr lang="en-US" sz="1100" dirty="0"/>
          </a:p>
        </p:txBody>
      </p:sp>
      <p:sp>
        <p:nvSpPr>
          <p:cNvPr id="31" name="domanda 10"/>
          <p:cNvSpPr/>
          <p:nvPr/>
        </p:nvSpPr>
        <p:spPr>
          <a:xfrm>
            <a:off x="2546604" y="3300984"/>
            <a:ext cx="1961388" cy="987552"/>
          </a:xfrm>
          <a:prstGeom prst="roundRect">
            <a:avLst>
              <a:gd name="adj" fmla="val 7407"/>
            </a:avLst>
          </a:prstGeom>
          <a:solidFill>
            <a:schemeClr val="bg2"/>
          </a:solidFill>
          <a:ln/>
        </p:spPr>
      </p:sp>
      <p:sp>
        <p:nvSpPr>
          <p:cNvPr id="32" name="Text 29"/>
          <p:cNvSpPr txBox="1"/>
          <p:nvPr/>
        </p:nvSpPr>
        <p:spPr>
          <a:xfrm>
            <a:off x="2683764"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2683764"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Quale livello di verifica è adeguato al rischio?</a:t>
            </a:r>
            <a:endParaRPr lang="en-US" sz="1100" dirty="0"/>
          </a:p>
        </p:txBody>
      </p:sp>
      <p:sp>
        <p:nvSpPr>
          <p:cNvPr id="34" name="domanda 11"/>
          <p:cNvSpPr/>
          <p:nvPr/>
        </p:nvSpPr>
        <p:spPr>
          <a:xfrm>
            <a:off x="4636008" y="3300984"/>
            <a:ext cx="1961388" cy="987552"/>
          </a:xfrm>
          <a:prstGeom prst="roundRect">
            <a:avLst>
              <a:gd name="adj" fmla="val 7407"/>
            </a:avLst>
          </a:prstGeom>
          <a:solidFill>
            <a:schemeClr val="bg2"/>
          </a:solidFill>
          <a:ln/>
        </p:spPr>
      </p:sp>
      <p:sp>
        <p:nvSpPr>
          <p:cNvPr id="35" name="Text 32"/>
          <p:cNvSpPr txBox="1"/>
          <p:nvPr/>
        </p:nvSpPr>
        <p:spPr>
          <a:xfrm>
            <a:off x="4773168"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11</a:t>
            </a:r>
            <a:endParaRPr lang="en-US" sz="2000" dirty="0"/>
          </a:p>
        </p:txBody>
      </p:sp>
      <p:sp>
        <p:nvSpPr>
          <p:cNvPr id="36" name="Text 33"/>
          <p:cNvSpPr txBox="1"/>
          <p:nvPr/>
        </p:nvSpPr>
        <p:spPr>
          <a:xfrm>
            <a:off x="4773168"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Quando coinvolgere un esperto o non usare l'output?</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 valutare, verificare, decidere</a:t>
            </a:r>
            <a:endParaRPr lang="en-US" sz="2600" dirty="0"/>
          </a:p>
        </p:txBody>
      </p:sp>
      <p:sp>
        <p:nvSpPr>
          <p:cNvPr id="4" name="Valutare"/>
          <p:cNvSpPr/>
          <p:nvPr/>
        </p:nvSpPr>
        <p:spPr>
          <a:xfrm>
            <a:off x="457200" y="1097280"/>
            <a:ext cx="2615184" cy="2514600"/>
          </a:xfrm>
          <a:prstGeom prst="roundRect">
            <a:avLst>
              <a:gd name="adj" fmla="val 2909"/>
            </a:avLst>
          </a:prstGeom>
          <a:solidFill>
            <a:schemeClr val="bg2"/>
          </a:solidFill>
          <a:ln/>
        </p:spPr>
      </p:sp>
      <p:sp>
        <p:nvSpPr>
          <p:cNvPr id="5" name="cerchio FiEye"/>
          <p:cNvSpPr/>
          <p:nvPr/>
        </p:nvSpPr>
        <p:spPr>
          <a:xfrm>
            <a:off x="1444752" y="1234440"/>
            <a:ext cx="640080" cy="640080"/>
          </a:xfrm>
          <a:prstGeom prst="ellipse">
            <a:avLst/>
          </a:prstGeom>
          <a:solidFill>
            <a:schemeClr val="accent1"/>
          </a:solidFill>
          <a:ln/>
        </p:spPr>
      </p:sp>
      <p:pic>
        <p:nvPicPr>
          <p:cNvPr id="6" name="Image 0" descr="FiEye">    </p:cNvPr>
          <p:cNvPicPr>
            <a:picLocks noChangeAspect="1"/>
          </p:cNvPicPr>
          <p:nvPr/>
        </p:nvPicPr>
        <p:blipFill>
          <a:blip r:embed="rId1"/>
          <a:stretch>
            <a:fillRect/>
          </a:stretch>
        </p:blipFill>
        <p:spPr>
          <a:xfrm>
            <a:off x="1604772" y="1394460"/>
            <a:ext cx="320040" cy="320040"/>
          </a:xfrm>
          <a:prstGeom prst="rect">
            <a:avLst/>
          </a:prstGeom>
        </p:spPr>
      </p:pic>
      <p:sp>
        <p:nvSpPr>
          <p:cNvPr id="7" name="Text 3"/>
          <p:cNvSpPr txBox="1"/>
          <p:nvPr/>
        </p:nvSpPr>
        <p:spPr>
          <a:xfrm>
            <a:off x="594360" y="1965960"/>
            <a:ext cx="2340864" cy="411480"/>
          </a:xfrm>
          <a:prstGeom prst="rect">
            <a:avLst/>
          </a:prstGeom>
          <a:noFill/>
          <a:ln/>
        </p:spPr>
        <p:txBody>
          <a:bodyPr wrap="square" lIns="0" tIns="0" rIns="0" bIns="0" rtlCol="0" anchor="t"/>
          <a:lstStyle/>
          <a:p>
            <a:pPr algn="ctr" indent="0" marL="0">
              <a:buNone/>
            </a:pPr>
            <a:r>
              <a:rPr lang="en-US" sz="1900" b="1" dirty="0">
                <a:solidFill>
                  <a:schemeClr val="tx1"/>
                </a:solidFill>
              </a:rPr>
              <a:t>Valutare</a:t>
            </a:r>
            <a:endParaRPr lang="en-US" sz="1900" dirty="0"/>
          </a:p>
        </p:txBody>
      </p:sp>
      <p:sp>
        <p:nvSpPr>
          <p:cNvPr id="8" name="Text 4"/>
          <p:cNvSpPr txBox="1"/>
          <p:nvPr/>
        </p:nvSpPr>
        <p:spPr>
          <a:xfrm>
            <a:off x="640080" y="2423160"/>
            <a:ext cx="2249424" cy="777240"/>
          </a:xfrm>
          <a:prstGeom prst="rect">
            <a:avLst/>
          </a:prstGeom>
          <a:noFill/>
          <a:ln/>
        </p:spPr>
        <p:txBody>
          <a:bodyPr wrap="square" lIns="0" tIns="0" rIns="0" bIns="0" rtlCol="0" anchor="t"/>
          <a:lstStyle/>
          <a:p>
            <a:pPr algn="ctr" indent="0" marL="0">
              <a:buNone/>
            </a:pPr>
            <a:r>
              <a:rPr lang="en-US" sz="1200" dirty="0">
                <a:solidFill>
                  <a:schemeClr val="tx2"/>
                </a:solidFill>
              </a:rPr>
              <a:t>Esaminare criticamente l'output: pertinenza, completezza, coerenza, che cosa manca</a:t>
            </a:r>
            <a:endParaRPr lang="en-US" sz="1200" dirty="0"/>
          </a:p>
        </p:txBody>
      </p:sp>
      <p:sp>
        <p:nvSpPr>
          <p:cNvPr id="9" name="Text 5"/>
          <p:cNvSpPr txBox="1"/>
          <p:nvPr/>
        </p:nvSpPr>
        <p:spPr>
          <a:xfrm>
            <a:off x="640080" y="3200400"/>
            <a:ext cx="2249424" cy="320040"/>
          </a:xfrm>
          <a:prstGeom prst="rect">
            <a:avLst/>
          </a:prstGeom>
          <a:noFill/>
          <a:ln/>
        </p:spPr>
        <p:txBody>
          <a:bodyPr wrap="square" lIns="0" tIns="0" rIns="0" bIns="0" rtlCol="0" anchor="t"/>
          <a:lstStyle/>
          <a:p>
            <a:pPr algn="ctr" indent="0" marL="0">
              <a:buNone/>
            </a:pPr>
            <a:r>
              <a:rPr lang="en-US" sz="1200" b="1" dirty="0">
                <a:solidFill>
                  <a:schemeClr val="accent1"/>
                </a:solidFill>
              </a:rPr>
              <a:t>7.1  7.2  7.4</a:t>
            </a:r>
            <a:endParaRPr lang="en-US" sz="1200" dirty="0"/>
          </a:p>
        </p:txBody>
      </p:sp>
      <p:sp>
        <p:nvSpPr>
          <p:cNvPr id="10" name="freccia"/>
          <p:cNvSpPr/>
          <p:nvPr/>
        </p:nvSpPr>
        <p:spPr>
          <a:xfrm>
            <a:off x="3090672" y="2194560"/>
            <a:ext cx="155448" cy="292608"/>
          </a:xfrm>
          <a:prstGeom prst="rightArrow">
            <a:avLst/>
          </a:prstGeom>
          <a:solidFill>
            <a:schemeClr val="accent2"/>
          </a:solidFill>
          <a:ln/>
        </p:spPr>
      </p:sp>
      <p:sp>
        <p:nvSpPr>
          <p:cNvPr id="11" name="Verificare"/>
          <p:cNvSpPr/>
          <p:nvPr/>
        </p:nvSpPr>
        <p:spPr>
          <a:xfrm>
            <a:off x="3264408" y="1097280"/>
            <a:ext cx="2615184" cy="2514600"/>
          </a:xfrm>
          <a:prstGeom prst="roundRect">
            <a:avLst>
              <a:gd name="adj" fmla="val 2909"/>
            </a:avLst>
          </a:prstGeom>
          <a:solidFill>
            <a:schemeClr val="bg2"/>
          </a:solidFill>
          <a:ln/>
        </p:spPr>
      </p:sp>
      <p:sp>
        <p:nvSpPr>
          <p:cNvPr id="12" name="cerchio FiSearch"/>
          <p:cNvSpPr/>
          <p:nvPr/>
        </p:nvSpPr>
        <p:spPr>
          <a:xfrm>
            <a:off x="4251960" y="1234440"/>
            <a:ext cx="640080" cy="640080"/>
          </a:xfrm>
          <a:prstGeom prst="ellipse">
            <a:avLst/>
          </a:prstGeom>
          <a:solidFill>
            <a:schemeClr val="accent1"/>
          </a:solidFill>
          <a:ln/>
        </p:spPr>
      </p:sp>
      <p:pic>
        <p:nvPicPr>
          <p:cNvPr id="13" name="Image 1" descr="FiSearch">    </p:cNvPr>
          <p:cNvPicPr>
            <a:picLocks noChangeAspect="1"/>
          </p:cNvPicPr>
          <p:nvPr/>
        </p:nvPicPr>
        <p:blipFill>
          <a:blip r:embed="rId2"/>
          <a:stretch>
            <a:fillRect/>
          </a:stretch>
        </p:blipFill>
        <p:spPr>
          <a:xfrm>
            <a:off x="4411980" y="1394460"/>
            <a:ext cx="320040" cy="320040"/>
          </a:xfrm>
          <a:prstGeom prst="rect">
            <a:avLst/>
          </a:prstGeom>
        </p:spPr>
      </p:pic>
      <p:sp>
        <p:nvSpPr>
          <p:cNvPr id="14" name="Text 9"/>
          <p:cNvSpPr txBox="1"/>
          <p:nvPr/>
        </p:nvSpPr>
        <p:spPr>
          <a:xfrm>
            <a:off x="3401568" y="1965960"/>
            <a:ext cx="2340864" cy="411480"/>
          </a:xfrm>
          <a:prstGeom prst="rect">
            <a:avLst/>
          </a:prstGeom>
          <a:noFill/>
          <a:ln/>
        </p:spPr>
        <p:txBody>
          <a:bodyPr wrap="square" lIns="0" tIns="0" rIns="0" bIns="0" rtlCol="0" anchor="t"/>
          <a:lstStyle/>
          <a:p>
            <a:pPr algn="ctr" indent="0" marL="0">
              <a:buNone/>
            </a:pPr>
            <a:r>
              <a:rPr lang="en-US" sz="1900" b="1" dirty="0">
                <a:solidFill>
                  <a:schemeClr val="tx1"/>
                </a:solidFill>
              </a:rPr>
              <a:t>Verificare</a:t>
            </a:r>
            <a:endParaRPr lang="en-US" sz="1900" dirty="0"/>
          </a:p>
        </p:txBody>
      </p:sp>
      <p:sp>
        <p:nvSpPr>
          <p:cNvPr id="15" name="Text 10"/>
          <p:cNvSpPr txBox="1"/>
          <p:nvPr/>
        </p:nvSpPr>
        <p:spPr>
          <a:xfrm>
            <a:off x="3447288" y="2423160"/>
            <a:ext cx="2249424" cy="777240"/>
          </a:xfrm>
          <a:prstGeom prst="rect">
            <a:avLst/>
          </a:prstGeom>
          <a:noFill/>
          <a:ln/>
        </p:spPr>
        <p:txBody>
          <a:bodyPr wrap="square" lIns="0" tIns="0" rIns="0" bIns="0" rtlCol="0" anchor="t"/>
          <a:lstStyle/>
          <a:p>
            <a:pPr algn="ctr" indent="0" marL="0">
              <a:buNone/>
            </a:pPr>
            <a:r>
              <a:rPr lang="en-US" sz="1200" dirty="0">
                <a:solidFill>
                  <a:schemeClr val="tx2"/>
                </a:solidFill>
              </a:rPr>
              <a:t>Controllare con evidenze indipendenti fonti, fatti, dati, calcoli</a:t>
            </a:r>
            <a:endParaRPr lang="en-US" sz="1200" dirty="0"/>
          </a:p>
        </p:txBody>
      </p:sp>
      <p:sp>
        <p:nvSpPr>
          <p:cNvPr id="16" name="Text 11"/>
          <p:cNvSpPr txBox="1"/>
          <p:nvPr/>
        </p:nvSpPr>
        <p:spPr>
          <a:xfrm>
            <a:off x="3447288" y="3200400"/>
            <a:ext cx="2249424" cy="320040"/>
          </a:xfrm>
          <a:prstGeom prst="rect">
            <a:avLst/>
          </a:prstGeom>
          <a:noFill/>
          <a:ln/>
        </p:spPr>
        <p:txBody>
          <a:bodyPr wrap="square" lIns="0" tIns="0" rIns="0" bIns="0" rtlCol="0" anchor="t"/>
          <a:lstStyle/>
          <a:p>
            <a:pPr algn="ctr" indent="0" marL="0">
              <a:buNone/>
            </a:pPr>
            <a:r>
              <a:rPr lang="en-US" sz="1200" b="1" dirty="0">
                <a:solidFill>
                  <a:schemeClr val="accent1"/>
                </a:solidFill>
              </a:rPr>
              <a:t>7.3  7.5  7.6</a:t>
            </a:r>
            <a:endParaRPr lang="en-US" sz="1200" dirty="0"/>
          </a:p>
        </p:txBody>
      </p:sp>
      <p:sp>
        <p:nvSpPr>
          <p:cNvPr id="17" name="freccia"/>
          <p:cNvSpPr/>
          <p:nvPr/>
        </p:nvSpPr>
        <p:spPr>
          <a:xfrm>
            <a:off x="5897880" y="2194560"/>
            <a:ext cx="155448" cy="292608"/>
          </a:xfrm>
          <a:prstGeom prst="rightArrow">
            <a:avLst/>
          </a:prstGeom>
          <a:solidFill>
            <a:schemeClr val="accent2"/>
          </a:solidFill>
          <a:ln/>
        </p:spPr>
      </p:sp>
      <p:sp>
        <p:nvSpPr>
          <p:cNvPr id="18" name="Decidere"/>
          <p:cNvSpPr/>
          <p:nvPr/>
        </p:nvSpPr>
        <p:spPr>
          <a:xfrm>
            <a:off x="6071616" y="1097280"/>
            <a:ext cx="2615184" cy="2514600"/>
          </a:xfrm>
          <a:prstGeom prst="roundRect">
            <a:avLst>
              <a:gd name="adj" fmla="val 2909"/>
            </a:avLst>
          </a:prstGeom>
          <a:solidFill>
            <a:schemeClr val="accent1"/>
          </a:solidFill>
          <a:ln/>
        </p:spPr>
      </p:sp>
      <p:sp>
        <p:nvSpPr>
          <p:cNvPr id="19" name="cerchio FiCheckCircle"/>
          <p:cNvSpPr/>
          <p:nvPr/>
        </p:nvSpPr>
        <p:spPr>
          <a:xfrm>
            <a:off x="7059168" y="1234440"/>
            <a:ext cx="640080" cy="640080"/>
          </a:xfrm>
          <a:prstGeom prst="ellipse">
            <a:avLst/>
          </a:prstGeom>
          <a:solidFill>
            <a:schemeClr val="bg1"/>
          </a:solidFill>
          <a:ln/>
        </p:spPr>
      </p:sp>
      <p:pic>
        <p:nvPicPr>
          <p:cNvPr id="20" name="Image 2" descr="FiCheckCircle">    </p:cNvPr>
          <p:cNvPicPr>
            <a:picLocks noChangeAspect="1"/>
          </p:cNvPicPr>
          <p:nvPr/>
        </p:nvPicPr>
        <p:blipFill>
          <a:blip r:embed="rId3"/>
          <a:stretch>
            <a:fillRect/>
          </a:stretch>
        </p:blipFill>
        <p:spPr>
          <a:xfrm>
            <a:off x="7219188" y="1394460"/>
            <a:ext cx="320040" cy="320040"/>
          </a:xfrm>
          <a:prstGeom prst="rect">
            <a:avLst/>
          </a:prstGeom>
        </p:spPr>
      </p:pic>
      <p:sp>
        <p:nvSpPr>
          <p:cNvPr id="21" name="Text 15"/>
          <p:cNvSpPr txBox="1"/>
          <p:nvPr/>
        </p:nvSpPr>
        <p:spPr>
          <a:xfrm>
            <a:off x="6208776" y="1965960"/>
            <a:ext cx="2340864" cy="411480"/>
          </a:xfrm>
          <a:prstGeom prst="rect">
            <a:avLst/>
          </a:prstGeom>
          <a:noFill/>
          <a:ln/>
        </p:spPr>
        <p:txBody>
          <a:bodyPr wrap="square" lIns="0" tIns="0" rIns="0" bIns="0" rtlCol="0" anchor="t"/>
          <a:lstStyle/>
          <a:p>
            <a:pPr algn="ctr" indent="0" marL="0">
              <a:buNone/>
            </a:pPr>
            <a:r>
              <a:rPr lang="en-US" sz="1900" b="1" dirty="0">
                <a:solidFill>
                  <a:schemeClr val="bg1"/>
                </a:solidFill>
              </a:rPr>
              <a:t>Decidere</a:t>
            </a:r>
            <a:endParaRPr lang="en-US" sz="1900" dirty="0"/>
          </a:p>
        </p:txBody>
      </p:sp>
      <p:sp>
        <p:nvSpPr>
          <p:cNvPr id="22" name="Text 16"/>
          <p:cNvSpPr txBox="1"/>
          <p:nvPr/>
        </p:nvSpPr>
        <p:spPr>
          <a:xfrm>
            <a:off x="6254496" y="2423160"/>
            <a:ext cx="2249424" cy="777240"/>
          </a:xfrm>
          <a:prstGeom prst="rect">
            <a:avLst/>
          </a:prstGeom>
          <a:noFill/>
          <a:ln/>
        </p:spPr>
        <p:txBody>
          <a:bodyPr wrap="square" lIns="0" tIns="0" rIns="0" bIns="0" rtlCol="0" anchor="t"/>
          <a:lstStyle/>
          <a:p>
            <a:pPr algn="ctr" indent="0" marL="0">
              <a:buNone/>
            </a:pPr>
            <a:r>
              <a:rPr lang="en-US" sz="1200" dirty="0">
                <a:solidFill>
                  <a:schemeClr val="bg1"/>
                </a:solidFill>
              </a:rPr>
              <a:t>Stabilire se l'output è adeguato all'uso: accettare, modificare, approfondire, rifiutare</a:t>
            </a:r>
            <a:endParaRPr lang="en-US" sz="1200" dirty="0"/>
          </a:p>
        </p:txBody>
      </p:sp>
      <p:sp>
        <p:nvSpPr>
          <p:cNvPr id="23" name="Text 17"/>
          <p:cNvSpPr txBox="1"/>
          <p:nvPr/>
        </p:nvSpPr>
        <p:spPr>
          <a:xfrm>
            <a:off x="6254496" y="3200400"/>
            <a:ext cx="2249424" cy="320040"/>
          </a:xfrm>
          <a:prstGeom prst="rect">
            <a:avLst/>
          </a:prstGeom>
          <a:noFill/>
          <a:ln/>
        </p:spPr>
        <p:txBody>
          <a:bodyPr wrap="square" lIns="0" tIns="0" rIns="0" bIns="0" rtlCol="0" anchor="t"/>
          <a:lstStyle/>
          <a:p>
            <a:pPr algn="ctr" indent="0" marL="0">
              <a:buNone/>
            </a:pPr>
            <a:r>
              <a:rPr lang="en-US" sz="1200" b="1" dirty="0">
                <a:solidFill>
                  <a:schemeClr val="accent6"/>
                </a:solidFill>
              </a:rPr>
              <a:t>7.8</a:t>
            </a:r>
            <a:endParaRPr lang="en-US" sz="1200" dirty="0"/>
          </a:p>
        </p:txBody>
      </p:sp>
      <p:sp>
        <p:nvSpPr>
          <p:cNvPr id="24" name="bias trasversali"/>
          <p:cNvSpPr/>
          <p:nvPr/>
        </p:nvSpPr>
        <p:spPr>
          <a:xfrm>
            <a:off x="457200" y="3749040"/>
            <a:ext cx="8229600" cy="777240"/>
          </a:xfrm>
          <a:prstGeom prst="roundRect">
            <a:avLst>
              <a:gd name="adj" fmla="val 9412"/>
            </a:avLst>
          </a:prstGeom>
          <a:solidFill>
            <a:schemeClr val="accent6"/>
          </a:solidFill>
          <a:ln/>
        </p:spPr>
      </p:sp>
      <p:sp>
        <p:nvSpPr>
          <p:cNvPr id="25" name="Text 19"/>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b="1" dirty="0">
                <a:solidFill>
                  <a:schemeClr val="accent1"/>
                </a:solidFill>
              </a:rPr>
              <a:t>7.7 Bias cognitivi: </a:t>
            </a:r>
            <a:pPr indent="0" marL="0">
              <a:buNone/>
            </a:pPr>
            <a:r>
              <a:rPr lang="en-US" sz="1300" dirty="0">
                <a:solidFill>
                  <a:schemeClr val="tx1"/>
                </a:solidFill>
              </a:rPr>
              <a:t>attraversano tutte le fasi. La sequenza non è una procedura obbligatoria: la sua intensità dipende dall'attività.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7.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pensiero critico nell'interazione con l'AI</a:t>
            </a:r>
            <a:endParaRPr lang="en-US" sz="1300" dirty="0"/>
          </a:p>
        </p:txBody>
      </p:sp>
      <p:sp>
        <p:nvSpPr>
          <p:cNvPr id="7" name="priorità 7.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7.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Valutare la qualità di un output</a:t>
            </a:r>
            <a:endParaRPr lang="en-US" sz="1300" dirty="0"/>
          </a:p>
        </p:txBody>
      </p:sp>
      <p:sp>
        <p:nvSpPr>
          <p:cNvPr id="12" name="priorità 7.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7.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 delle informazioni e delle fonti</a:t>
            </a:r>
            <a:endParaRPr lang="en-US" sz="1300" dirty="0"/>
          </a:p>
        </p:txBody>
      </p:sp>
      <p:sp>
        <p:nvSpPr>
          <p:cNvPr id="17" name="priorità 7.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7.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Valutazione dei ragionamenti</a:t>
            </a:r>
            <a:endParaRPr lang="en-US" sz="1300" dirty="0"/>
          </a:p>
        </p:txBody>
      </p:sp>
      <p:sp>
        <p:nvSpPr>
          <p:cNvPr id="22" name="priorità 7.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7.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 di dati e calcoli</a:t>
            </a:r>
            <a:endParaRPr lang="en-US" sz="1300" dirty="0"/>
          </a:p>
        </p:txBody>
      </p:sp>
      <p:sp>
        <p:nvSpPr>
          <p:cNvPr id="27" name="priorità 7.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7.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 e revisione assistite dall'AI</a:t>
            </a:r>
            <a:endParaRPr lang="en-US" sz="1300" dirty="0"/>
          </a:p>
        </p:txBody>
      </p:sp>
      <p:sp>
        <p:nvSpPr>
          <p:cNvPr id="32" name="priorità 7.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7.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Bias cognitivi e fiducia nell'AI</a:t>
            </a:r>
            <a:endParaRPr lang="en-US" sz="1300" dirty="0"/>
          </a:p>
        </p:txBody>
      </p:sp>
      <p:sp>
        <p:nvSpPr>
          <p:cNvPr id="37" name="priorità 7.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7.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Validazione e responsabilità</a:t>
            </a:r>
            <a:endParaRPr lang="en-US" sz="1300" dirty="0"/>
          </a:p>
        </p:txBody>
      </p:sp>
      <p:sp>
        <p:nvSpPr>
          <p:cNvPr id="42" name="priorità 7.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Qualità, fonti, ragionamenti, omissioni, validazione proporzionata al rischio</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Revisione assistita dall'AI, confronto tra modelli, verifica quantitativa, bias, incertezza</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Metriche avanzate, validazione formale, modelli di rischio, audit specialistici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pensiero critico nell'interazione con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Valutare informazioni e conclusioni alla luce delle evidenze, senza accettarle o respingerle automaticamente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il pensiero critico</a:t>
            </a:r>
            <a:endParaRPr lang="en-US" sz="2600" dirty="0"/>
          </a:p>
        </p:txBody>
      </p:sp>
      <p:sp>
        <p:nvSpPr>
          <p:cNvPr id="4" name="definizione pensiero critico"/>
          <p:cNvSpPr/>
          <p:nvPr/>
        </p:nvSpPr>
        <p:spPr>
          <a:xfrm>
            <a:off x="457200" y="1097280"/>
            <a:ext cx="3657600" cy="3429000"/>
          </a:xfrm>
          <a:prstGeom prst="roundRect">
            <a:avLst>
              <a:gd name="adj" fmla="val 2133"/>
            </a:avLst>
          </a:prstGeom>
          <a:solidFill>
            <a:schemeClr val="tx1"/>
          </a:solidFill>
          <a:ln/>
        </p:spPr>
      </p:sp>
      <p:sp>
        <p:nvSpPr>
          <p:cNvPr id="5" name="Text 2"/>
          <p:cNvSpPr txBox="1"/>
          <p:nvPr/>
        </p:nvSpPr>
        <p:spPr>
          <a:xfrm>
            <a:off x="685800" y="1261872"/>
            <a:ext cx="320040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PENSIERO CRITICO</a:t>
            </a:r>
            <a:endParaRPr lang="en-US" sz="1100" dirty="0"/>
          </a:p>
        </p:txBody>
      </p:sp>
      <p:sp>
        <p:nvSpPr>
          <p:cNvPr id="6" name="Text 3"/>
          <p:cNvSpPr txBox="1"/>
          <p:nvPr/>
        </p:nvSpPr>
        <p:spPr>
          <a:xfrm>
            <a:off x="685800" y="1645920"/>
            <a:ext cx="3200400" cy="1554480"/>
          </a:xfrm>
          <a:prstGeom prst="rect">
            <a:avLst/>
          </a:prstGeom>
          <a:noFill/>
          <a:ln/>
        </p:spPr>
        <p:txBody>
          <a:bodyPr wrap="square" lIns="0" tIns="0" rIns="0" bIns="0" rtlCol="0" anchor="t"/>
          <a:lstStyle/>
          <a:p>
            <a:pPr indent="0" marL="0">
              <a:buNone/>
            </a:pPr>
            <a:r>
              <a:rPr lang="en-US" sz="1500" dirty="0">
                <a:solidFill>
                  <a:schemeClr val="bg1"/>
                </a:solidFill>
              </a:rPr>
              <a:t>Valutare informazioni, argomenti e conclusioni in modo ragionato, sulla base delle evidenze, prima di accettarli o respingerli.</a:t>
            </a:r>
            <a:endParaRPr lang="en-US" sz="1500" dirty="0"/>
          </a:p>
        </p:txBody>
      </p:sp>
      <p:sp>
        <p:nvSpPr>
          <p:cNvPr id="7" name="Text 4"/>
          <p:cNvSpPr txBox="1"/>
          <p:nvPr/>
        </p:nvSpPr>
        <p:spPr>
          <a:xfrm>
            <a:off x="685800" y="3383280"/>
            <a:ext cx="3200400" cy="914400"/>
          </a:xfrm>
          <a:prstGeom prst="rect">
            <a:avLst/>
          </a:prstGeom>
          <a:noFill/>
          <a:ln/>
        </p:spPr>
        <p:txBody>
          <a:bodyPr wrap="square" lIns="0" tIns="0" rIns="0" bIns="0" rtlCol="0" anchor="t"/>
          <a:lstStyle/>
          <a:p>
            <a:pPr indent="0" marL="0">
              <a:buNone/>
            </a:pPr>
            <a:r>
              <a:rPr lang="en-US" sz="1300" i="1" dirty="0">
                <a:solidFill>
                  <a:schemeClr val="accent3"/>
                </a:solidFill>
              </a:rPr>
              <a:t>Un output dell'AI non è una risposta da usare, ma una proposta da valutare.</a:t>
            </a:r>
            <a:endParaRPr lang="en-US" sz="1300" dirty="0"/>
          </a:p>
        </p:txBody>
      </p:sp>
      <p:sp>
        <p:nvSpPr>
          <p:cNvPr id="8" name="Text 5"/>
          <p:cNvSpPr txBox="1"/>
          <p:nvPr/>
        </p:nvSpPr>
        <p:spPr>
          <a:xfrm>
            <a:off x="4389120" y="1097280"/>
            <a:ext cx="4297680" cy="320040"/>
          </a:xfrm>
          <a:prstGeom prst="rect">
            <a:avLst/>
          </a:prstGeom>
          <a:noFill/>
          <a:ln/>
        </p:spPr>
        <p:txBody>
          <a:bodyPr wrap="square" lIns="0" tIns="0" rIns="0" bIns="0" rtlCol="0" anchor="t"/>
          <a:lstStyle/>
          <a:p>
            <a:pPr indent="0" marL="0">
              <a:buNone/>
            </a:pPr>
            <a:r>
              <a:rPr lang="en-US" sz="1500" b="1" dirty="0">
                <a:solidFill>
                  <a:schemeClr val="tx1"/>
                </a:solidFill>
              </a:rPr>
              <a:t>Principi condivisi</a:t>
            </a:r>
            <a:endParaRPr lang="en-US" sz="1500" dirty="0"/>
          </a:p>
        </p:txBody>
      </p:sp>
      <p:sp>
        <p:nvSpPr>
          <p:cNvPr id="9" name="riga 0"/>
          <p:cNvSpPr/>
          <p:nvPr/>
        </p:nvSpPr>
        <p:spPr>
          <a:xfrm>
            <a:off x="4389120" y="1481328"/>
            <a:ext cx="4297680" cy="438912"/>
          </a:xfrm>
          <a:prstGeom prst="roundRect">
            <a:avLst>
              <a:gd name="adj" fmla="val 16667"/>
            </a:avLst>
          </a:prstGeom>
          <a:solidFill>
            <a:schemeClr val="bg2"/>
          </a:solidFill>
          <a:ln/>
        </p:spPr>
      </p:sp>
      <p:sp>
        <p:nvSpPr>
          <p:cNvPr id="10" name="Text 7"/>
          <p:cNvSpPr txBox="1"/>
          <p:nvPr/>
        </p:nvSpPr>
        <p:spPr>
          <a:xfrm>
            <a:off x="4572000" y="1481328"/>
            <a:ext cx="3931920" cy="438912"/>
          </a:xfrm>
          <a:prstGeom prst="rect">
            <a:avLst/>
          </a:prstGeom>
          <a:noFill/>
          <a:ln/>
        </p:spPr>
        <p:txBody>
          <a:bodyPr wrap="square" lIns="0" tIns="0" rIns="0" bIns="0" rtlCol="0" anchor="ctr"/>
          <a:lstStyle/>
          <a:p>
            <a:pPr indent="0" marL="0">
              <a:buNone/>
            </a:pPr>
            <a:r>
              <a:rPr lang="en-US" sz="1200" dirty="0">
                <a:solidFill>
                  <a:schemeClr val="tx1"/>
                </a:solidFill>
              </a:rPr>
              <a:t>Su che cosa si basa questa affermazione?</a:t>
            </a:r>
            <a:endParaRPr lang="en-US" sz="1200" dirty="0"/>
          </a:p>
        </p:txBody>
      </p:sp>
      <p:sp>
        <p:nvSpPr>
          <p:cNvPr id="11" name="riga 1"/>
          <p:cNvSpPr/>
          <p:nvPr/>
        </p:nvSpPr>
        <p:spPr>
          <a:xfrm>
            <a:off x="4389120" y="1993392"/>
            <a:ext cx="4297680" cy="438912"/>
          </a:xfrm>
          <a:prstGeom prst="roundRect">
            <a:avLst>
              <a:gd name="adj" fmla="val 16667"/>
            </a:avLst>
          </a:prstGeom>
          <a:solidFill>
            <a:schemeClr val="bg1"/>
          </a:solidFill>
          <a:ln/>
        </p:spPr>
      </p:sp>
      <p:sp>
        <p:nvSpPr>
          <p:cNvPr id="12" name="Text 9"/>
          <p:cNvSpPr txBox="1"/>
          <p:nvPr/>
        </p:nvSpPr>
        <p:spPr>
          <a:xfrm>
            <a:off x="4572000" y="1993392"/>
            <a:ext cx="3931920" cy="438912"/>
          </a:xfrm>
          <a:prstGeom prst="rect">
            <a:avLst/>
          </a:prstGeom>
          <a:noFill/>
          <a:ln/>
        </p:spPr>
        <p:txBody>
          <a:bodyPr wrap="square" lIns="0" tIns="0" rIns="0" bIns="0" rtlCol="0" anchor="ctr"/>
          <a:lstStyle/>
          <a:p>
            <a:pPr indent="0" marL="0">
              <a:buNone/>
            </a:pPr>
            <a:r>
              <a:rPr lang="en-US" sz="1200" dirty="0">
                <a:solidFill>
                  <a:schemeClr val="tx1"/>
                </a:solidFill>
              </a:rPr>
              <a:t>Distinguere ciò che è stabilito da ciò che è supposto</a:t>
            </a:r>
            <a:endParaRPr lang="en-US" sz="1200" dirty="0"/>
          </a:p>
        </p:txBody>
      </p:sp>
      <p:sp>
        <p:nvSpPr>
          <p:cNvPr id="13" name="riga 2"/>
          <p:cNvSpPr/>
          <p:nvPr/>
        </p:nvSpPr>
        <p:spPr>
          <a:xfrm>
            <a:off x="4389120" y="2505456"/>
            <a:ext cx="4297680" cy="438912"/>
          </a:xfrm>
          <a:prstGeom prst="roundRect">
            <a:avLst>
              <a:gd name="adj" fmla="val 16667"/>
            </a:avLst>
          </a:prstGeom>
          <a:solidFill>
            <a:schemeClr val="bg2"/>
          </a:solidFill>
          <a:ln/>
        </p:spPr>
      </p:sp>
      <p:sp>
        <p:nvSpPr>
          <p:cNvPr id="14" name="Text 11"/>
          <p:cNvSpPr txBox="1"/>
          <p:nvPr/>
        </p:nvSpPr>
        <p:spPr>
          <a:xfrm>
            <a:off x="4572000" y="2505456"/>
            <a:ext cx="3931920" cy="438912"/>
          </a:xfrm>
          <a:prstGeom prst="rect">
            <a:avLst/>
          </a:prstGeom>
          <a:noFill/>
          <a:ln/>
        </p:spPr>
        <p:txBody>
          <a:bodyPr wrap="square" lIns="0" tIns="0" rIns="0" bIns="0" rtlCol="0" anchor="ctr"/>
          <a:lstStyle/>
          <a:p>
            <a:pPr indent="0" marL="0">
              <a:buNone/>
            </a:pPr>
            <a:r>
              <a:rPr lang="en-US" sz="1200" dirty="0">
                <a:solidFill>
                  <a:schemeClr val="tx1"/>
                </a:solidFill>
              </a:rPr>
              <a:t>Considerare spiegazioni alternative</a:t>
            </a:r>
            <a:endParaRPr lang="en-US" sz="1200" dirty="0"/>
          </a:p>
        </p:txBody>
      </p:sp>
      <p:sp>
        <p:nvSpPr>
          <p:cNvPr id="15" name="riga 3"/>
          <p:cNvSpPr/>
          <p:nvPr/>
        </p:nvSpPr>
        <p:spPr>
          <a:xfrm>
            <a:off x="4389120" y="3017520"/>
            <a:ext cx="4297680" cy="438912"/>
          </a:xfrm>
          <a:prstGeom prst="roundRect">
            <a:avLst>
              <a:gd name="adj" fmla="val 16667"/>
            </a:avLst>
          </a:prstGeom>
          <a:solidFill>
            <a:schemeClr val="bg1"/>
          </a:solidFill>
          <a:ln/>
        </p:spPr>
      </p:sp>
      <p:sp>
        <p:nvSpPr>
          <p:cNvPr id="16" name="Text 13"/>
          <p:cNvSpPr txBox="1"/>
          <p:nvPr/>
        </p:nvSpPr>
        <p:spPr>
          <a:xfrm>
            <a:off x="4572000" y="3017520"/>
            <a:ext cx="3931920" cy="438912"/>
          </a:xfrm>
          <a:prstGeom prst="rect">
            <a:avLst/>
          </a:prstGeom>
          <a:noFill/>
          <a:ln/>
        </p:spPr>
        <p:txBody>
          <a:bodyPr wrap="square" lIns="0" tIns="0" rIns="0" bIns="0" rtlCol="0" anchor="ctr"/>
          <a:lstStyle/>
          <a:p>
            <a:pPr indent="0" marL="0">
              <a:buNone/>
            </a:pPr>
            <a:r>
              <a:rPr lang="en-US" sz="1200" dirty="0">
                <a:solidFill>
                  <a:schemeClr val="tx1"/>
                </a:solidFill>
              </a:rPr>
              <a:t>Riconoscere i limiti delle informazioni e propri</a:t>
            </a:r>
            <a:endParaRPr lang="en-US" sz="1200" dirty="0"/>
          </a:p>
        </p:txBody>
      </p:sp>
      <p:sp>
        <p:nvSpPr>
          <p:cNvPr id="17" name="riga 4"/>
          <p:cNvSpPr/>
          <p:nvPr/>
        </p:nvSpPr>
        <p:spPr>
          <a:xfrm>
            <a:off x="4389120" y="3529584"/>
            <a:ext cx="4297680" cy="438912"/>
          </a:xfrm>
          <a:prstGeom prst="roundRect">
            <a:avLst>
              <a:gd name="adj" fmla="val 16667"/>
            </a:avLst>
          </a:prstGeom>
          <a:solidFill>
            <a:schemeClr val="bg2"/>
          </a:solidFill>
          <a:ln/>
        </p:spPr>
      </p:sp>
      <p:sp>
        <p:nvSpPr>
          <p:cNvPr id="18" name="Text 15"/>
          <p:cNvSpPr txBox="1"/>
          <p:nvPr/>
        </p:nvSpPr>
        <p:spPr>
          <a:xfrm>
            <a:off x="4572000" y="3529584"/>
            <a:ext cx="3931920" cy="438912"/>
          </a:xfrm>
          <a:prstGeom prst="rect">
            <a:avLst/>
          </a:prstGeom>
          <a:noFill/>
          <a:ln/>
        </p:spPr>
        <p:txBody>
          <a:bodyPr wrap="square" lIns="0" tIns="0" rIns="0" bIns="0" rtlCol="0" anchor="ctr"/>
          <a:lstStyle/>
          <a:p>
            <a:pPr indent="0" marL="0">
              <a:buNone/>
            </a:pPr>
            <a:r>
              <a:rPr lang="en-US" sz="1200" dirty="0">
                <a:solidFill>
                  <a:schemeClr val="tx1"/>
                </a:solidFill>
              </a:rPr>
              <a:t>Cambiare idea di fronte a nuove evidenze</a:t>
            </a:r>
            <a:endParaRPr lang="en-US" sz="1200" dirty="0"/>
          </a:p>
        </p:txBody>
      </p:sp>
      <p:sp>
        <p:nvSpPr>
          <p:cNvPr id="19" name="riga 5"/>
          <p:cNvSpPr/>
          <p:nvPr/>
        </p:nvSpPr>
        <p:spPr>
          <a:xfrm>
            <a:off x="4389120" y="4041648"/>
            <a:ext cx="4297680" cy="438912"/>
          </a:xfrm>
          <a:prstGeom prst="roundRect">
            <a:avLst>
              <a:gd name="adj" fmla="val 16667"/>
            </a:avLst>
          </a:prstGeom>
          <a:solidFill>
            <a:schemeClr val="bg1"/>
          </a:solidFill>
          <a:ln/>
        </p:spPr>
      </p:sp>
      <p:sp>
        <p:nvSpPr>
          <p:cNvPr id="20" name="Text 17"/>
          <p:cNvSpPr txBox="1"/>
          <p:nvPr/>
        </p:nvSpPr>
        <p:spPr>
          <a:xfrm>
            <a:off x="4572000" y="4041648"/>
            <a:ext cx="3931920" cy="438912"/>
          </a:xfrm>
          <a:prstGeom prst="rect">
            <a:avLst/>
          </a:prstGeom>
          <a:noFill/>
          <a:ln/>
        </p:spPr>
        <p:txBody>
          <a:bodyPr wrap="square" lIns="0" tIns="0" rIns="0" bIns="0" rtlCol="0" anchor="ctr"/>
          <a:lstStyle/>
          <a:p>
            <a:pPr indent="0" marL="0">
              <a:buNone/>
            </a:pPr>
            <a:r>
              <a:rPr lang="en-US" sz="1200" dirty="0">
                <a:solidFill>
                  <a:schemeClr val="tx1"/>
                </a:solidFill>
              </a:rPr>
              <a:t>Sospendere il giudizio se le evidenze non bastano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Ricevere informazioni o valutarle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Ricevere"/>
          <p:cNvSpPr/>
          <p:nvPr/>
        </p:nvSpPr>
        <p:spPr>
          <a:xfrm>
            <a:off x="457200" y="1097280"/>
            <a:ext cx="3977640" cy="2560320"/>
          </a:xfrm>
          <a:prstGeom prst="roundRect">
            <a:avLst>
              <a:gd name="adj" fmla="val 2857"/>
            </a:avLst>
          </a:prstGeom>
          <a:solidFill>
            <a:schemeClr val="bg2"/>
          </a:solidFill>
          <a:ln/>
        </p:spPr>
      </p:sp>
      <p:sp>
        <p:nvSpPr>
          <p:cNvPr id="11" name="cerchio FiInbox"/>
          <p:cNvSpPr/>
          <p:nvPr/>
        </p:nvSpPr>
        <p:spPr>
          <a:xfrm>
            <a:off x="640080" y="1280160"/>
            <a:ext cx="457200" cy="457200"/>
          </a:xfrm>
          <a:prstGeom prst="ellipse">
            <a:avLst/>
          </a:prstGeom>
          <a:solidFill>
            <a:schemeClr val="accent1"/>
          </a:solidFill>
          <a:ln/>
        </p:spPr>
      </p:sp>
      <p:pic>
        <p:nvPicPr>
          <p:cNvPr id="12" name="Image 0" descr="FiInbox">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Ricevere</a:t>
            </a:r>
            <a:endParaRPr lang="en-US" sz="1600" dirty="0"/>
          </a:p>
        </p:txBody>
      </p:sp>
      <p:sp>
        <p:nvSpPr>
          <p:cNvPr id="14" name="Text 10"/>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Leggere e usare</a:t>
            </a:r>
            <a:endParaRPr lang="en-US" sz="1300" dirty="0"/>
          </a:p>
          <a:p>
            <a:pPr marL="177800" indent="-177800">
              <a:spcAft>
                <a:spcPts val="400"/>
              </a:spcAft>
              <a:buSzPct val="100000"/>
              <a:buChar char="•"/>
            </a:pPr>
            <a:r>
              <a:rPr lang="en-US" sz="1300" dirty="0">
                <a:solidFill>
                  <a:schemeClr val="tx2"/>
                </a:solidFill>
              </a:rPr>
              <a:t>Accettare come dato</a:t>
            </a:r>
            <a:endParaRPr lang="en-US" sz="1300" dirty="0"/>
          </a:p>
          <a:p>
            <a:pPr marL="177800" indent="-177800">
              <a:spcAft>
                <a:spcPts val="400"/>
              </a:spcAft>
              <a:buSzPct val="100000"/>
              <a:buChar char="•"/>
            </a:pPr>
            <a:r>
              <a:rPr lang="en-US" sz="1300" dirty="0">
                <a:solidFill>
                  <a:schemeClr val="tx2"/>
                </a:solidFill>
              </a:rPr>
              <a:t>L'output è un prodotto finito</a:t>
            </a:r>
            <a:endParaRPr lang="en-US" sz="1300" dirty="0"/>
          </a:p>
          <a:p>
            <a:pPr marL="177800" indent="-177800">
              <a:spcAft>
                <a:spcPts val="400"/>
              </a:spcAft>
              <a:buSzPct val="100000"/>
              <a:buChar char="•"/>
            </a:pPr>
            <a:r>
              <a:rPr lang="en-US" sz="1300" dirty="0">
                <a:solidFill>
                  <a:schemeClr val="tx2"/>
                </a:solidFill>
              </a:rPr>
              <a:t>Rapido, ma esposto agli errori</a:t>
            </a:r>
            <a:endParaRPr lang="en-US" sz="1300" dirty="0"/>
          </a:p>
        </p:txBody>
      </p:sp>
      <p:sp>
        <p:nvSpPr>
          <p:cNvPr id="15" name="scheda Valutare"/>
          <p:cNvSpPr/>
          <p:nvPr/>
        </p:nvSpPr>
        <p:spPr>
          <a:xfrm>
            <a:off x="4709160" y="1097280"/>
            <a:ext cx="3977640" cy="2560320"/>
          </a:xfrm>
          <a:prstGeom prst="roundRect">
            <a:avLst>
              <a:gd name="adj" fmla="val 2857"/>
            </a:avLst>
          </a:prstGeom>
          <a:solidFill>
            <a:schemeClr val="accent6"/>
          </a:solidFill>
          <a:ln/>
        </p:spPr>
      </p:sp>
      <p:sp>
        <p:nvSpPr>
          <p:cNvPr id="16" name="cerchio FiEye"/>
          <p:cNvSpPr/>
          <p:nvPr/>
        </p:nvSpPr>
        <p:spPr>
          <a:xfrm>
            <a:off x="4892040" y="1280160"/>
            <a:ext cx="457200" cy="457200"/>
          </a:xfrm>
          <a:prstGeom prst="ellipse">
            <a:avLst/>
          </a:prstGeom>
          <a:solidFill>
            <a:schemeClr val="accent1"/>
          </a:solidFill>
          <a:ln/>
        </p:spPr>
      </p:sp>
      <p:pic>
        <p:nvPicPr>
          <p:cNvPr id="17" name="Image 1" descr="FiEy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Valutare</a:t>
            </a:r>
            <a:endParaRPr lang="en-US" sz="1600" dirty="0"/>
          </a:p>
        </p:txBody>
      </p:sp>
      <p:sp>
        <p:nvSpPr>
          <p:cNvPr id="19" name="Text 14"/>
          <p:cNvSpPr txBox="1"/>
          <p:nvPr/>
        </p:nvSpPr>
        <p:spPr>
          <a:xfrm>
            <a:off x="489204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Interrogare l'informazione</a:t>
            </a:r>
            <a:endParaRPr lang="en-US" sz="1300" dirty="0"/>
          </a:p>
          <a:p>
            <a:pPr marL="177800" indent="-177800">
              <a:spcAft>
                <a:spcPts val="400"/>
              </a:spcAft>
              <a:buSzPct val="100000"/>
              <a:buChar char="•"/>
            </a:pPr>
            <a:r>
              <a:rPr lang="en-US" sz="1300" dirty="0">
                <a:solidFill>
                  <a:schemeClr val="tx2"/>
                </a:solidFill>
              </a:rPr>
              <a:t>È corretta, completa, pertinente?</a:t>
            </a:r>
            <a:endParaRPr lang="en-US" sz="1300" dirty="0"/>
          </a:p>
          <a:p>
            <a:pPr marL="177800" indent="-177800">
              <a:spcAft>
                <a:spcPts val="400"/>
              </a:spcAft>
              <a:buSzPct val="100000"/>
              <a:buChar char="•"/>
            </a:pPr>
            <a:r>
              <a:rPr lang="en-US" sz="1300" dirty="0">
                <a:solidFill>
                  <a:schemeClr val="tx2"/>
                </a:solidFill>
              </a:rPr>
              <a:t>L'output è materiale di lavoro</a:t>
            </a:r>
            <a:endParaRPr lang="en-US" sz="1300" dirty="0"/>
          </a:p>
          <a:p>
            <a:pPr marL="177800" indent="-177800">
              <a:spcAft>
                <a:spcPts val="400"/>
              </a:spcAft>
              <a:buSzPct val="100000"/>
              <a:buChar char="•"/>
            </a:pPr>
            <a:r>
              <a:rPr lang="en-US" sz="1300" dirty="0">
                <a:solidFill>
                  <a:schemeClr val="tx2"/>
                </a:solidFill>
              </a:rPr>
              <a:t>Più attenzione, risultati affidabili</a:t>
            </a:r>
            <a:endParaRPr lang="en-US" sz="1300" dirty="0"/>
          </a:p>
        </p:txBody>
      </p:sp>
      <p:sp>
        <p:nvSpPr>
          <p:cNvPr id="20" name="messaggio"/>
          <p:cNvSpPr/>
          <p:nvPr/>
        </p:nvSpPr>
        <p:spPr>
          <a:xfrm>
            <a:off x="457200" y="3840480"/>
            <a:ext cx="8229600" cy="685800"/>
          </a:xfrm>
          <a:prstGeom prst="roundRect">
            <a:avLst>
              <a:gd name="adj" fmla="val 10667"/>
            </a:avLst>
          </a:prstGeom>
          <a:solidFill>
            <a:schemeClr val="tx1"/>
          </a:solidFill>
          <a:ln/>
        </p:spPr>
      </p:sp>
      <p:sp>
        <p:nvSpPr>
          <p:cNvPr id="21" name="Text 16"/>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Valutare non significa controllare tutto: significa interrogare invece di ricevere.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Fatti, opinioni, ipotesi, interpretazioni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Fatto"/>
          <p:cNvSpPr/>
          <p:nvPr/>
        </p:nvSpPr>
        <p:spPr>
          <a:xfrm>
            <a:off x="457200" y="1097280"/>
            <a:ext cx="1965960" cy="2926080"/>
          </a:xfrm>
          <a:prstGeom prst="roundRect">
            <a:avLst>
              <a:gd name="adj" fmla="val 3721"/>
            </a:avLst>
          </a:prstGeom>
          <a:solidFill>
            <a:schemeClr val="accent6"/>
          </a:solidFill>
          <a:ln/>
        </p:spPr>
      </p:sp>
      <p:sp>
        <p:nvSpPr>
          <p:cNvPr id="11" name="Text 8"/>
          <p:cNvSpPr txBox="1"/>
          <p:nvPr/>
        </p:nvSpPr>
        <p:spPr>
          <a:xfrm>
            <a:off x="59436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Fatto</a:t>
            </a:r>
            <a:endParaRPr lang="en-US" sz="1600" dirty="0"/>
          </a:p>
        </p:txBody>
      </p:sp>
      <p:sp>
        <p:nvSpPr>
          <p:cNvPr id="12" name="Text 9"/>
          <p:cNvSpPr txBox="1"/>
          <p:nvPr/>
        </p:nvSpPr>
        <p:spPr>
          <a:xfrm>
            <a:off x="59436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Verificabile con evidenze</a:t>
            </a:r>
            <a:endParaRPr lang="en-US" sz="1200" dirty="0"/>
          </a:p>
        </p:txBody>
      </p:sp>
      <p:sp>
        <p:nvSpPr>
          <p:cNvPr id="13" name="Text 10"/>
          <p:cNvSpPr txBox="1"/>
          <p:nvPr/>
        </p:nvSpPr>
        <p:spPr>
          <a:xfrm>
            <a:off x="59436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"Il fatturato 2025 è stato di 12 milioni."</a:t>
            </a:r>
            <a:endParaRPr lang="en-US" sz="1200" dirty="0"/>
          </a:p>
        </p:txBody>
      </p:sp>
      <p:sp>
        <p:nvSpPr>
          <p:cNvPr id="14" name="Text 11"/>
          <p:cNvSpPr txBox="1"/>
          <p:nvPr/>
        </p:nvSpPr>
        <p:spPr>
          <a:xfrm>
            <a:off x="59436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verificare</a:t>
            </a:r>
            <a:endParaRPr lang="en-US" sz="1100" dirty="0"/>
          </a:p>
        </p:txBody>
      </p:sp>
      <p:sp>
        <p:nvSpPr>
          <p:cNvPr id="15" name="Opinione"/>
          <p:cNvSpPr/>
          <p:nvPr/>
        </p:nvSpPr>
        <p:spPr>
          <a:xfrm>
            <a:off x="2560320" y="1097280"/>
            <a:ext cx="1965960" cy="2926080"/>
          </a:xfrm>
          <a:prstGeom prst="roundRect">
            <a:avLst>
              <a:gd name="adj" fmla="val 3721"/>
            </a:avLst>
          </a:prstGeom>
          <a:solidFill>
            <a:schemeClr val="bg2"/>
          </a:solidFill>
          <a:ln/>
        </p:spPr>
      </p:sp>
      <p:sp>
        <p:nvSpPr>
          <p:cNvPr id="16" name="Text 13"/>
          <p:cNvSpPr txBox="1"/>
          <p:nvPr/>
        </p:nvSpPr>
        <p:spPr>
          <a:xfrm>
            <a:off x="269748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Opinione</a:t>
            </a:r>
            <a:endParaRPr lang="en-US" sz="1600" dirty="0"/>
          </a:p>
        </p:txBody>
      </p:sp>
      <p:sp>
        <p:nvSpPr>
          <p:cNvPr id="17" name="Text 14"/>
          <p:cNvSpPr txBox="1"/>
          <p:nvPr/>
        </p:nvSpPr>
        <p:spPr>
          <a:xfrm>
            <a:off x="269748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Valutazione o preferenza</a:t>
            </a:r>
            <a:endParaRPr lang="en-US" sz="1200" dirty="0"/>
          </a:p>
        </p:txBody>
      </p:sp>
      <p:sp>
        <p:nvSpPr>
          <p:cNvPr id="18" name="Text 15"/>
          <p:cNvSpPr txBox="1"/>
          <p:nvPr/>
        </p:nvSpPr>
        <p:spPr>
          <a:xfrm>
            <a:off x="269748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"È un risultato eccellente."</a:t>
            </a:r>
            <a:endParaRPr lang="en-US" sz="1200" dirty="0"/>
          </a:p>
        </p:txBody>
      </p:sp>
      <p:sp>
        <p:nvSpPr>
          <p:cNvPr id="19" name="Text 16"/>
          <p:cNvSpPr txBox="1"/>
          <p:nvPr/>
        </p:nvSpPr>
        <p:spPr>
          <a:xfrm>
            <a:off x="269748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valutare con giudizio</a:t>
            </a:r>
            <a:endParaRPr lang="en-US" sz="1100" dirty="0"/>
          </a:p>
        </p:txBody>
      </p:sp>
      <p:sp>
        <p:nvSpPr>
          <p:cNvPr id="20" name="Ipotesi"/>
          <p:cNvSpPr/>
          <p:nvPr/>
        </p:nvSpPr>
        <p:spPr>
          <a:xfrm>
            <a:off x="4663440" y="1097280"/>
            <a:ext cx="1965960" cy="2926080"/>
          </a:xfrm>
          <a:prstGeom prst="roundRect">
            <a:avLst>
              <a:gd name="adj" fmla="val 3721"/>
            </a:avLst>
          </a:prstGeom>
          <a:solidFill>
            <a:schemeClr val="bg2"/>
          </a:solidFill>
          <a:ln/>
        </p:spPr>
      </p:sp>
      <p:sp>
        <p:nvSpPr>
          <p:cNvPr id="21" name="Text 18"/>
          <p:cNvSpPr txBox="1"/>
          <p:nvPr/>
        </p:nvSpPr>
        <p:spPr>
          <a:xfrm>
            <a:off x="480060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Ipotesi</a:t>
            </a:r>
            <a:endParaRPr lang="en-US" sz="1600" dirty="0"/>
          </a:p>
        </p:txBody>
      </p:sp>
      <p:sp>
        <p:nvSpPr>
          <p:cNvPr id="22" name="Text 19"/>
          <p:cNvSpPr txBox="1"/>
          <p:nvPr/>
        </p:nvSpPr>
        <p:spPr>
          <a:xfrm>
            <a:off x="480060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Plausibile, non confermata</a:t>
            </a:r>
            <a:endParaRPr lang="en-US" sz="1200" dirty="0"/>
          </a:p>
        </p:txBody>
      </p:sp>
      <p:sp>
        <p:nvSpPr>
          <p:cNvPr id="23" name="Text 20"/>
          <p:cNvSpPr txBox="1"/>
          <p:nvPr/>
        </p:nvSpPr>
        <p:spPr>
          <a:xfrm>
            <a:off x="480060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"La crescita potrebbe dipendere dal nuovo listino."</a:t>
            </a:r>
            <a:endParaRPr lang="en-US" sz="1200" dirty="0"/>
          </a:p>
        </p:txBody>
      </p:sp>
      <p:sp>
        <p:nvSpPr>
          <p:cNvPr id="24" name="Text 21"/>
          <p:cNvSpPr txBox="1"/>
          <p:nvPr/>
        </p:nvSpPr>
        <p:spPr>
          <a:xfrm>
            <a:off x="480060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trattare come incerta</a:t>
            </a:r>
            <a:endParaRPr lang="en-US" sz="1100" dirty="0"/>
          </a:p>
        </p:txBody>
      </p:sp>
      <p:sp>
        <p:nvSpPr>
          <p:cNvPr id="25" name="Interpretazione"/>
          <p:cNvSpPr/>
          <p:nvPr/>
        </p:nvSpPr>
        <p:spPr>
          <a:xfrm>
            <a:off x="6766560" y="1097280"/>
            <a:ext cx="1965960" cy="2926080"/>
          </a:xfrm>
          <a:prstGeom prst="roundRect">
            <a:avLst>
              <a:gd name="adj" fmla="val 3721"/>
            </a:avLst>
          </a:prstGeom>
          <a:solidFill>
            <a:schemeClr val="bg2"/>
          </a:solidFill>
          <a:ln/>
        </p:spPr>
      </p:sp>
      <p:sp>
        <p:nvSpPr>
          <p:cNvPr id="26" name="Text 23"/>
          <p:cNvSpPr txBox="1"/>
          <p:nvPr/>
        </p:nvSpPr>
        <p:spPr>
          <a:xfrm>
            <a:off x="690372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Interpretazione</a:t>
            </a:r>
            <a:endParaRPr lang="en-US" sz="1600" dirty="0"/>
          </a:p>
        </p:txBody>
      </p:sp>
      <p:sp>
        <p:nvSpPr>
          <p:cNvPr id="27" name="Text 24"/>
          <p:cNvSpPr txBox="1"/>
          <p:nvPr/>
        </p:nvSpPr>
        <p:spPr>
          <a:xfrm>
            <a:off x="690372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Lettura che dà significato ai fatti</a:t>
            </a:r>
            <a:endParaRPr lang="en-US" sz="1200" dirty="0"/>
          </a:p>
        </p:txBody>
      </p:sp>
      <p:sp>
        <p:nvSpPr>
          <p:cNvPr id="28" name="Text 25"/>
          <p:cNvSpPr txBox="1"/>
          <p:nvPr/>
        </p:nvSpPr>
        <p:spPr>
          <a:xfrm>
            <a:off x="690372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"La crescita dimostra che la strategia funziona."</a:t>
            </a:r>
            <a:endParaRPr lang="en-US" sz="1200" dirty="0"/>
          </a:p>
        </p:txBody>
      </p:sp>
      <p:sp>
        <p:nvSpPr>
          <p:cNvPr id="29" name="Text 26"/>
          <p:cNvSpPr txBox="1"/>
          <p:nvPr/>
        </p:nvSpPr>
        <p:spPr>
          <a:xfrm>
            <a:off x="690372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valutare: ci sono alternative?</a:t>
            </a:r>
            <a:endParaRPr lang="en-US" sz="1100" dirty="0"/>
          </a:p>
        </p:txBody>
      </p:sp>
      <p:sp>
        <p:nvSpPr>
          <p:cNvPr id="30" name="Text 27"/>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Negli output dell'AI sono presentati con lo stesso tono assertivo.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critiche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Sulle affermazioni"/>
          <p:cNvSpPr/>
          <p:nvPr/>
        </p:nvSpPr>
        <p:spPr>
          <a:xfrm>
            <a:off x="457200" y="1097280"/>
            <a:ext cx="2615184" cy="2834640"/>
          </a:xfrm>
          <a:prstGeom prst="roundRect">
            <a:avLst>
              <a:gd name="adj" fmla="val 2797"/>
            </a:avLst>
          </a:prstGeom>
          <a:solidFill>
            <a:schemeClr val="bg2"/>
          </a:solidFill>
          <a:ln/>
        </p:spPr>
      </p:sp>
      <p:sp>
        <p:nvSpPr>
          <p:cNvPr id="11" name="cerchio FiMessageSquare"/>
          <p:cNvSpPr/>
          <p:nvPr/>
        </p:nvSpPr>
        <p:spPr>
          <a:xfrm>
            <a:off x="640080" y="1280160"/>
            <a:ext cx="457200" cy="457200"/>
          </a:xfrm>
          <a:prstGeom prst="ellipse">
            <a:avLst/>
          </a:prstGeom>
          <a:solidFill>
            <a:schemeClr val="accent1"/>
          </a:solidFill>
          <a:ln/>
        </p:spPr>
      </p:sp>
      <p:pic>
        <p:nvPicPr>
          <p:cNvPr id="12"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Sulle affermazioni</a:t>
            </a:r>
            <a:endParaRPr lang="en-US" sz="1500" dirty="0"/>
          </a:p>
        </p:txBody>
      </p:sp>
      <p:sp>
        <p:nvSpPr>
          <p:cNvPr id="14" name="Text 10"/>
          <p:cNvSpPr txBox="1"/>
          <p:nvPr/>
        </p:nvSpPr>
        <p:spPr>
          <a:xfrm>
            <a:off x="640080" y="2231136"/>
            <a:ext cx="2249424" cy="15910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Che cosa sostiene esattamente?</a:t>
            </a:r>
            <a:endParaRPr lang="en-US" sz="1200" dirty="0"/>
          </a:p>
          <a:p>
            <a:pPr marL="177800" indent="-177800">
              <a:spcAft>
                <a:spcPts val="500"/>
              </a:spcAft>
              <a:buSzPct val="100000"/>
              <a:buChar char="•"/>
            </a:pPr>
            <a:r>
              <a:rPr lang="en-US" sz="1200" dirty="0">
                <a:solidFill>
                  <a:schemeClr val="tx2"/>
                </a:solidFill>
              </a:rPr>
              <a:t>Fatto, opinione, ipotesi, interpretazione?</a:t>
            </a:r>
            <a:endParaRPr lang="en-US" sz="1200" dirty="0"/>
          </a:p>
          <a:p>
            <a:pPr marL="177800" indent="-177800">
              <a:spcAft>
                <a:spcPts val="500"/>
              </a:spcAft>
              <a:buSzPct val="100000"/>
              <a:buChar char="•"/>
            </a:pPr>
            <a:r>
              <a:rPr lang="en-US" sz="1200" dirty="0">
                <a:solidFill>
                  <a:schemeClr val="tx2"/>
                </a:solidFill>
              </a:rPr>
              <a:t>È verificabile?</a:t>
            </a:r>
            <a:endParaRPr lang="en-US" sz="1200" dirty="0"/>
          </a:p>
        </p:txBody>
      </p:sp>
      <p:sp>
        <p:nvSpPr>
          <p:cNvPr id="15" name="scheda Sulle evidenze"/>
          <p:cNvSpPr/>
          <p:nvPr/>
        </p:nvSpPr>
        <p:spPr>
          <a:xfrm>
            <a:off x="3264408" y="1097280"/>
            <a:ext cx="2615184" cy="2834640"/>
          </a:xfrm>
          <a:prstGeom prst="roundRect">
            <a:avLst>
              <a:gd name="adj" fmla="val 2797"/>
            </a:avLst>
          </a:prstGeom>
          <a:solidFill>
            <a:schemeClr val="accent6"/>
          </a:solidFill>
          <a:ln/>
        </p:spPr>
      </p:sp>
      <p:sp>
        <p:nvSpPr>
          <p:cNvPr id="16" name="cerchio FiDatabase"/>
          <p:cNvSpPr/>
          <p:nvPr/>
        </p:nvSpPr>
        <p:spPr>
          <a:xfrm>
            <a:off x="3447288" y="1280160"/>
            <a:ext cx="457200" cy="457200"/>
          </a:xfrm>
          <a:prstGeom prst="ellipse">
            <a:avLst/>
          </a:prstGeom>
          <a:solidFill>
            <a:schemeClr val="accent1"/>
          </a:solidFill>
          <a:ln/>
        </p:spPr>
      </p:sp>
      <p:pic>
        <p:nvPicPr>
          <p:cNvPr id="17" name="Image 1" descr="FiDatabase">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Sulle evidenze</a:t>
            </a:r>
            <a:endParaRPr lang="en-US" sz="1500" dirty="0"/>
          </a:p>
        </p:txBody>
      </p:sp>
      <p:sp>
        <p:nvSpPr>
          <p:cNvPr id="19" name="Text 14"/>
          <p:cNvSpPr txBox="1"/>
          <p:nvPr/>
        </p:nvSpPr>
        <p:spPr>
          <a:xfrm>
            <a:off x="3447288" y="2231136"/>
            <a:ext cx="2249424" cy="15910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Su che cosa si basa?</a:t>
            </a:r>
            <a:endParaRPr lang="en-US" sz="1200" dirty="0"/>
          </a:p>
          <a:p>
            <a:pPr marL="177800" indent="-177800">
              <a:spcAft>
                <a:spcPts val="500"/>
              </a:spcAft>
              <a:buSzPct val="100000"/>
              <a:buChar char="•"/>
            </a:pPr>
            <a:r>
              <a:rPr lang="en-US" sz="1200" dirty="0">
                <a:solidFill>
                  <a:schemeClr val="tx2"/>
                </a:solidFill>
              </a:rPr>
              <a:t>Fonti e dati pertinenti e sufficienti?</a:t>
            </a:r>
            <a:endParaRPr lang="en-US" sz="1200" dirty="0"/>
          </a:p>
          <a:p>
            <a:pPr marL="177800" indent="-177800">
              <a:spcAft>
                <a:spcPts val="500"/>
              </a:spcAft>
              <a:buSzPct val="100000"/>
              <a:buChar char="•"/>
            </a:pPr>
            <a:r>
              <a:rPr lang="en-US" sz="1200" dirty="0">
                <a:solidFill>
                  <a:schemeClr val="tx2"/>
                </a:solidFill>
              </a:rPr>
              <a:t>Che cosa la confermerebbe o smentirebbe?</a:t>
            </a:r>
            <a:endParaRPr lang="en-US" sz="1200" dirty="0"/>
          </a:p>
        </p:txBody>
      </p:sp>
      <p:sp>
        <p:nvSpPr>
          <p:cNvPr id="20" name="scheda Sulle conclusioni"/>
          <p:cNvSpPr/>
          <p:nvPr/>
        </p:nvSpPr>
        <p:spPr>
          <a:xfrm>
            <a:off x="6071616" y="1097280"/>
            <a:ext cx="2615184" cy="2834640"/>
          </a:xfrm>
          <a:prstGeom prst="roundRect">
            <a:avLst>
              <a:gd name="adj" fmla="val 2797"/>
            </a:avLst>
          </a:prstGeom>
          <a:solidFill>
            <a:schemeClr val="bg2"/>
          </a:solidFill>
          <a:ln/>
        </p:spPr>
      </p:sp>
      <p:sp>
        <p:nvSpPr>
          <p:cNvPr id="21" name="cerchio FiGitBranch"/>
          <p:cNvSpPr/>
          <p:nvPr/>
        </p:nvSpPr>
        <p:spPr>
          <a:xfrm>
            <a:off x="6254496" y="1280160"/>
            <a:ext cx="457200" cy="457200"/>
          </a:xfrm>
          <a:prstGeom prst="ellipse">
            <a:avLst/>
          </a:prstGeom>
          <a:solidFill>
            <a:schemeClr val="accent1"/>
          </a:solidFill>
          <a:ln/>
        </p:spPr>
      </p:sp>
      <p:pic>
        <p:nvPicPr>
          <p:cNvPr id="22" name="Image 2" descr="FiGitBranch">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Sulle conclusioni</a:t>
            </a:r>
            <a:endParaRPr lang="en-US" sz="1500" dirty="0"/>
          </a:p>
        </p:txBody>
      </p:sp>
      <p:sp>
        <p:nvSpPr>
          <p:cNvPr id="24" name="Text 18"/>
          <p:cNvSpPr txBox="1"/>
          <p:nvPr/>
        </p:nvSpPr>
        <p:spPr>
          <a:xfrm>
            <a:off x="6254496" y="2231136"/>
            <a:ext cx="2249424" cy="15910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Deriva davvero dalle premesse?</a:t>
            </a:r>
            <a:endParaRPr lang="en-US" sz="1200" dirty="0"/>
          </a:p>
          <a:p>
            <a:pPr marL="177800" indent="-177800">
              <a:spcAft>
                <a:spcPts val="500"/>
              </a:spcAft>
              <a:buSzPct val="100000"/>
              <a:buChar char="•"/>
            </a:pPr>
            <a:r>
              <a:rPr lang="en-US" sz="1200" dirty="0">
                <a:solidFill>
                  <a:schemeClr val="tx2"/>
                </a:solidFill>
              </a:rPr>
              <a:t>Ci sono alternative? Che cosa manca?</a:t>
            </a:r>
            <a:endParaRPr lang="en-US" sz="1200" dirty="0"/>
          </a:p>
          <a:p>
            <a:pPr marL="177800" indent="-177800">
              <a:spcAft>
                <a:spcPts val="500"/>
              </a:spcAft>
              <a:buSzPct val="100000"/>
              <a:buChar char="•"/>
            </a:pPr>
            <a:r>
              <a:rPr lang="en-US" sz="1200" dirty="0">
                <a:solidFill>
                  <a:schemeClr val="tx2"/>
                </a:solidFill>
              </a:rPr>
              <a:t>Che cosa succede se è sbagliata?</a:t>
            </a:r>
            <a:endParaRPr lang="en-US" sz="1200" dirty="0"/>
          </a:p>
        </p:txBody>
      </p:sp>
      <p:sp>
        <p:nvSpPr>
          <p:cNvPr id="25" name="Text 19"/>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Non tutte ogni volta: con la pratica diventano un'abitudine.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Evidenze, giudizio e competenze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Affermazioni ed evidenze"/>
          <p:cNvSpPr/>
          <p:nvPr/>
        </p:nvSpPr>
        <p:spPr>
          <a:xfrm>
            <a:off x="457200" y="1097280"/>
            <a:ext cx="2615184" cy="3429000"/>
          </a:xfrm>
          <a:prstGeom prst="roundRect">
            <a:avLst>
              <a:gd name="adj" fmla="val 2797"/>
            </a:avLst>
          </a:prstGeom>
          <a:solidFill>
            <a:schemeClr val="bg2"/>
          </a:solidFill>
          <a:ln/>
        </p:spPr>
      </p:sp>
      <p:sp>
        <p:nvSpPr>
          <p:cNvPr id="11" name="cerchio FiDatabase"/>
          <p:cNvSpPr/>
          <p:nvPr/>
        </p:nvSpPr>
        <p:spPr>
          <a:xfrm>
            <a:off x="640080" y="1280160"/>
            <a:ext cx="457200" cy="457200"/>
          </a:xfrm>
          <a:prstGeom prst="ellipse">
            <a:avLst/>
          </a:prstGeom>
          <a:solidFill>
            <a:schemeClr val="accent1"/>
          </a:solidFill>
          <a:ln/>
        </p:spPr>
      </p:sp>
      <p:pic>
        <p:nvPicPr>
          <p:cNvPr id="12"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Affermazioni ed evidenze</a:t>
            </a:r>
            <a:endParaRPr lang="en-US" sz="1500" dirty="0"/>
          </a:p>
        </p:txBody>
      </p:sp>
      <p:sp>
        <p:nvSpPr>
          <p:cNvPr id="14" name="Text 10"/>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Senza evidenze un'affermazione non è falsa, ma non è dimostrata.</a:t>
            </a:r>
            <a:endParaRPr lang="en-US" sz="1300" dirty="0"/>
          </a:p>
        </p:txBody>
      </p:sp>
      <p:sp>
        <p:nvSpPr>
          <p:cNvPr id="15" name="scheda Giudizio autonomo"/>
          <p:cNvSpPr/>
          <p:nvPr/>
        </p:nvSpPr>
        <p:spPr>
          <a:xfrm>
            <a:off x="3264408" y="1097280"/>
            <a:ext cx="2615184" cy="3429000"/>
          </a:xfrm>
          <a:prstGeom prst="roundRect">
            <a:avLst>
              <a:gd name="adj" fmla="val 2797"/>
            </a:avLst>
          </a:prstGeom>
          <a:solidFill>
            <a:schemeClr val="bg2"/>
          </a:solidFill>
          <a:ln/>
        </p:spPr>
      </p:sp>
      <p:sp>
        <p:nvSpPr>
          <p:cNvPr id="16" name="cerchio FiUser"/>
          <p:cNvSpPr/>
          <p:nvPr/>
        </p:nvSpPr>
        <p:spPr>
          <a:xfrm>
            <a:off x="3447288" y="1280160"/>
            <a:ext cx="457200" cy="457200"/>
          </a:xfrm>
          <a:prstGeom prst="ellipse">
            <a:avLst/>
          </a:prstGeom>
          <a:solidFill>
            <a:schemeClr val="accent1"/>
          </a:solidFill>
          <a:ln/>
        </p:spPr>
      </p:sp>
      <p:pic>
        <p:nvPicPr>
          <p:cNvPr id="17" name="Image 1" descr="FiUser">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Giudizio autonomo</a:t>
            </a:r>
            <a:endParaRPr lang="en-US" sz="1500" dirty="0"/>
          </a:p>
        </p:txBody>
      </p:sp>
      <p:sp>
        <p:nvSpPr>
          <p:cNvPr id="19" name="Text 14"/>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Pensare prima di leggere: se la conclusione dell'AI è diversa dalla nostra, capire perché.</a:t>
            </a:r>
            <a:endParaRPr lang="en-US" sz="1300" dirty="0"/>
          </a:p>
        </p:txBody>
      </p:sp>
      <p:sp>
        <p:nvSpPr>
          <p:cNvPr id="20" name="scheda Competenze professionali"/>
          <p:cNvSpPr/>
          <p:nvPr/>
        </p:nvSpPr>
        <p:spPr>
          <a:xfrm>
            <a:off x="6071616" y="1097280"/>
            <a:ext cx="2615184" cy="3429000"/>
          </a:xfrm>
          <a:prstGeom prst="roundRect">
            <a:avLst>
              <a:gd name="adj" fmla="val 2797"/>
            </a:avLst>
          </a:prstGeom>
          <a:solidFill>
            <a:schemeClr val="accent6"/>
          </a:solidFill>
          <a:ln/>
        </p:spPr>
      </p:sp>
      <p:sp>
        <p:nvSpPr>
          <p:cNvPr id="21" name="cerchio FiAward"/>
          <p:cNvSpPr/>
          <p:nvPr/>
        </p:nvSpPr>
        <p:spPr>
          <a:xfrm>
            <a:off x="6254496" y="1280160"/>
            <a:ext cx="457200" cy="457200"/>
          </a:xfrm>
          <a:prstGeom prst="ellipse">
            <a:avLst/>
          </a:prstGeom>
          <a:solidFill>
            <a:schemeClr val="accent1"/>
          </a:solidFill>
          <a:ln/>
        </p:spPr>
      </p:sp>
      <p:pic>
        <p:nvPicPr>
          <p:cNvPr id="22"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Competenze professionali</a:t>
            </a:r>
            <a:endParaRPr lang="en-US" sz="1500" dirty="0"/>
          </a:p>
        </p:txBody>
      </p:sp>
      <p:sp>
        <p:nvSpPr>
          <p:cNvPr id="24" name="Text 18"/>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Il pensiero critico ha bisogno di conoscenze: fuori dal proprio campo, serve un esperto.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Atteggiamento critico, non sfiducia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Fiducia cieca"/>
          <p:cNvSpPr/>
          <p:nvPr/>
        </p:nvSpPr>
        <p:spPr>
          <a:xfrm>
            <a:off x="457200" y="1188720"/>
            <a:ext cx="2615184" cy="2011680"/>
          </a:xfrm>
          <a:prstGeom prst="roundRect">
            <a:avLst>
              <a:gd name="adj" fmla="val 3636"/>
            </a:avLst>
          </a:prstGeom>
          <a:solidFill>
            <a:schemeClr val="bg2"/>
          </a:solidFill>
          <a:ln/>
        </p:spPr>
      </p:sp>
      <p:sp>
        <p:nvSpPr>
          <p:cNvPr id="11" name="Text 8"/>
          <p:cNvSpPr txBox="1"/>
          <p:nvPr/>
        </p:nvSpPr>
        <p:spPr>
          <a:xfrm>
            <a:off x="594360" y="1371600"/>
            <a:ext cx="2340864" cy="457200"/>
          </a:xfrm>
          <a:prstGeom prst="rect">
            <a:avLst/>
          </a:prstGeom>
          <a:noFill/>
          <a:ln/>
        </p:spPr>
        <p:txBody>
          <a:bodyPr wrap="square" lIns="0" tIns="0" rIns="0" bIns="0" rtlCol="0" anchor="t"/>
          <a:lstStyle/>
          <a:p>
            <a:pPr algn="ctr" indent="0" marL="0">
              <a:buNone/>
            </a:pPr>
            <a:r>
              <a:rPr lang="en-US" sz="1700" b="1" dirty="0">
                <a:solidFill>
                  <a:schemeClr val="tx1"/>
                </a:solidFill>
              </a:rPr>
              <a:t>Fiducia cieca</a:t>
            </a:r>
            <a:endParaRPr lang="en-US" sz="1700" dirty="0"/>
          </a:p>
        </p:txBody>
      </p:sp>
      <p:sp>
        <p:nvSpPr>
          <p:cNvPr id="12" name="Text 9"/>
          <p:cNvSpPr txBox="1"/>
          <p:nvPr/>
        </p:nvSpPr>
        <p:spPr>
          <a:xfrm>
            <a:off x="640080" y="1920240"/>
            <a:ext cx="2249424" cy="1097280"/>
          </a:xfrm>
          <a:prstGeom prst="rect">
            <a:avLst/>
          </a:prstGeom>
          <a:noFill/>
          <a:ln/>
        </p:spPr>
        <p:txBody>
          <a:bodyPr wrap="square" lIns="0" tIns="0" rIns="0" bIns="0" rtlCol="0" anchor="t"/>
          <a:lstStyle/>
          <a:p>
            <a:pPr algn="ctr" indent="0" marL="0">
              <a:buNone/>
            </a:pPr>
            <a:r>
              <a:rPr lang="en-US" sz="1300" dirty="0">
                <a:solidFill>
                  <a:schemeClr val="tx1"/>
                </a:solidFill>
              </a:rPr>
              <a:t>Accetta tutto, senza esame</a:t>
            </a:r>
            <a:endParaRPr lang="en-US" sz="1300" dirty="0"/>
          </a:p>
        </p:txBody>
      </p:sp>
      <p:sp>
        <p:nvSpPr>
          <p:cNvPr id="13" name="Atteggiamento critico"/>
          <p:cNvSpPr/>
          <p:nvPr/>
        </p:nvSpPr>
        <p:spPr>
          <a:xfrm>
            <a:off x="3264408" y="1188720"/>
            <a:ext cx="2615184" cy="2011680"/>
          </a:xfrm>
          <a:prstGeom prst="roundRect">
            <a:avLst>
              <a:gd name="adj" fmla="val 3636"/>
            </a:avLst>
          </a:prstGeom>
          <a:solidFill>
            <a:schemeClr val="accent1"/>
          </a:solidFill>
          <a:ln/>
        </p:spPr>
      </p:sp>
      <p:sp>
        <p:nvSpPr>
          <p:cNvPr id="14" name="Text 11"/>
          <p:cNvSpPr txBox="1"/>
          <p:nvPr/>
        </p:nvSpPr>
        <p:spPr>
          <a:xfrm>
            <a:off x="3401568" y="1371600"/>
            <a:ext cx="2340864" cy="457200"/>
          </a:xfrm>
          <a:prstGeom prst="rect">
            <a:avLst/>
          </a:prstGeom>
          <a:noFill/>
          <a:ln/>
        </p:spPr>
        <p:txBody>
          <a:bodyPr wrap="square" lIns="0" tIns="0" rIns="0" bIns="0" rtlCol="0" anchor="t"/>
          <a:lstStyle/>
          <a:p>
            <a:pPr algn="ctr" indent="0" marL="0">
              <a:buNone/>
            </a:pPr>
            <a:r>
              <a:rPr lang="en-US" sz="1700" b="1" dirty="0">
                <a:solidFill>
                  <a:schemeClr val="bg1"/>
                </a:solidFill>
              </a:rPr>
              <a:t>Atteggiamento critico</a:t>
            </a:r>
            <a:endParaRPr lang="en-US" sz="1700" dirty="0"/>
          </a:p>
        </p:txBody>
      </p:sp>
      <p:sp>
        <p:nvSpPr>
          <p:cNvPr id="15" name="Text 12"/>
          <p:cNvSpPr txBox="1"/>
          <p:nvPr/>
        </p:nvSpPr>
        <p:spPr>
          <a:xfrm>
            <a:off x="3447288" y="1920240"/>
            <a:ext cx="2249424" cy="1097280"/>
          </a:xfrm>
          <a:prstGeom prst="rect">
            <a:avLst/>
          </a:prstGeom>
          <a:noFill/>
          <a:ln/>
        </p:spPr>
        <p:txBody>
          <a:bodyPr wrap="square" lIns="0" tIns="0" rIns="0" bIns="0" rtlCol="0" anchor="t"/>
          <a:lstStyle/>
          <a:p>
            <a:pPr algn="ctr" indent="0" marL="0">
              <a:buNone/>
            </a:pPr>
            <a:r>
              <a:rPr lang="en-US" sz="1300" dirty="0">
                <a:solidFill>
                  <a:schemeClr val="bg1"/>
                </a:solidFill>
              </a:rPr>
              <a:t>Valuta caso per caso sulle evidenze: accetta, verifica o scarta</a:t>
            </a:r>
            <a:endParaRPr lang="en-US" sz="1300" dirty="0"/>
          </a:p>
        </p:txBody>
      </p:sp>
      <p:sp>
        <p:nvSpPr>
          <p:cNvPr id="16" name="Sfiducia indiscriminata"/>
          <p:cNvSpPr/>
          <p:nvPr/>
        </p:nvSpPr>
        <p:spPr>
          <a:xfrm>
            <a:off x="6071616" y="1188720"/>
            <a:ext cx="2615184" cy="2011680"/>
          </a:xfrm>
          <a:prstGeom prst="roundRect">
            <a:avLst>
              <a:gd name="adj" fmla="val 3636"/>
            </a:avLst>
          </a:prstGeom>
          <a:solidFill>
            <a:schemeClr val="bg2"/>
          </a:solidFill>
          <a:ln/>
        </p:spPr>
      </p:sp>
      <p:sp>
        <p:nvSpPr>
          <p:cNvPr id="17" name="Text 14"/>
          <p:cNvSpPr txBox="1"/>
          <p:nvPr/>
        </p:nvSpPr>
        <p:spPr>
          <a:xfrm>
            <a:off x="6208776" y="1371600"/>
            <a:ext cx="2340864" cy="457200"/>
          </a:xfrm>
          <a:prstGeom prst="rect">
            <a:avLst/>
          </a:prstGeom>
          <a:noFill/>
          <a:ln/>
        </p:spPr>
        <p:txBody>
          <a:bodyPr wrap="square" lIns="0" tIns="0" rIns="0" bIns="0" rtlCol="0" anchor="t"/>
          <a:lstStyle/>
          <a:p>
            <a:pPr algn="ctr" indent="0" marL="0">
              <a:buNone/>
            </a:pPr>
            <a:r>
              <a:rPr lang="en-US" sz="1700" b="1" dirty="0">
                <a:solidFill>
                  <a:schemeClr val="tx1"/>
                </a:solidFill>
              </a:rPr>
              <a:t>Sfiducia indiscriminata</a:t>
            </a:r>
            <a:endParaRPr lang="en-US" sz="1700" dirty="0"/>
          </a:p>
        </p:txBody>
      </p:sp>
      <p:sp>
        <p:nvSpPr>
          <p:cNvPr id="18" name="Text 15"/>
          <p:cNvSpPr txBox="1"/>
          <p:nvPr/>
        </p:nvSpPr>
        <p:spPr>
          <a:xfrm>
            <a:off x="6254496" y="1920240"/>
            <a:ext cx="2249424" cy="1097280"/>
          </a:xfrm>
          <a:prstGeom prst="rect">
            <a:avLst/>
          </a:prstGeom>
          <a:noFill/>
          <a:ln/>
        </p:spPr>
        <p:txBody>
          <a:bodyPr wrap="square" lIns="0" tIns="0" rIns="0" bIns="0" rtlCol="0" anchor="t"/>
          <a:lstStyle/>
          <a:p>
            <a:pPr algn="ctr" indent="0" marL="0">
              <a:buNone/>
            </a:pPr>
            <a:r>
              <a:rPr lang="en-US" sz="1300" dirty="0">
                <a:solidFill>
                  <a:schemeClr val="tx1"/>
                </a:solidFill>
              </a:rPr>
              <a:t>Respinge tutto, "perché l'AI sbaglia"</a:t>
            </a:r>
            <a:endParaRPr lang="en-US" sz="1300" dirty="0"/>
          </a:p>
        </p:txBody>
      </p:sp>
      <p:sp>
        <p:nvSpPr>
          <p:cNvPr id="19" name="messaggio"/>
          <p:cNvSpPr/>
          <p:nvPr/>
        </p:nvSpPr>
        <p:spPr>
          <a:xfrm>
            <a:off x="457200" y="3429000"/>
            <a:ext cx="8229600" cy="548640"/>
          </a:xfrm>
          <a:prstGeom prst="roundRect">
            <a:avLst>
              <a:gd name="adj" fmla="val 13333"/>
            </a:avLst>
          </a:prstGeom>
          <a:solidFill>
            <a:schemeClr val="tx1"/>
          </a:solidFill>
          <a:ln/>
        </p:spPr>
      </p:sp>
      <p:sp>
        <p:nvSpPr>
          <p:cNvPr id="20" name="Text 17"/>
          <p:cNvSpPr txBox="1"/>
          <p:nvPr/>
        </p:nvSpPr>
        <p:spPr>
          <a:xfrm>
            <a:off x="640080" y="3429000"/>
            <a:ext cx="7863840" cy="548640"/>
          </a:xfrm>
          <a:prstGeom prst="rect">
            <a:avLst/>
          </a:prstGeom>
          <a:noFill/>
          <a:ln/>
        </p:spPr>
        <p:txBody>
          <a:bodyPr wrap="square" lIns="0" tIns="0" rIns="0" bIns="0" rtlCol="0" anchor="ctr"/>
          <a:lstStyle/>
          <a:p>
            <a:pPr indent="0" marL="0">
              <a:buNone/>
            </a:pPr>
            <a:r>
              <a:rPr lang="en-US" sz="1400" dirty="0">
                <a:solidFill>
                  <a:schemeClr val="bg1"/>
                </a:solidFill>
              </a:rPr>
              <a:t>Gli estremi hanno in comune una cosa: non guardano le evidenze.</a:t>
            </a:r>
            <a:endParaRPr lang="en-US" sz="1400" dirty="0"/>
          </a:p>
        </p:txBody>
      </p:sp>
      <p:sp>
        <p:nvSpPr>
          <p:cNvPr id="21" name="Text 18"/>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L'atteggiamento critico può portare ad accettare un output senza modifiche, se è valido.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Pensare criticamente significa valutare informazioni e conclusioni alla luce delle evidenze, senza accettarle o respingerle automaticamente.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7.1  ·  Il pensiero critico nell'interazione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Valutare la qualità di un output</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risposta professionale nella forma può essere errata, incompleta o inadatta allo scopo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dimensioni della qualità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Accuratezza"/>
          <p:cNvSpPr/>
          <p:nvPr/>
        </p:nvSpPr>
        <p:spPr>
          <a:xfrm>
            <a:off x="457200" y="1097280"/>
            <a:ext cx="2621280" cy="1257300"/>
          </a:xfrm>
          <a:prstGeom prst="roundRect">
            <a:avLst>
              <a:gd name="adj" fmla="val 5818"/>
            </a:avLst>
          </a:prstGeom>
          <a:solidFill>
            <a:schemeClr val="bg2"/>
          </a:solidFill>
          <a:ln/>
        </p:spPr>
      </p:sp>
      <p:sp>
        <p:nvSpPr>
          <p:cNvPr id="11" name="cerchio FiTarget"/>
          <p:cNvSpPr/>
          <p:nvPr/>
        </p:nvSpPr>
        <p:spPr>
          <a:xfrm>
            <a:off x="621792" y="1261872"/>
            <a:ext cx="438912" cy="438912"/>
          </a:xfrm>
          <a:prstGeom prst="ellipse">
            <a:avLst/>
          </a:prstGeom>
          <a:solidFill>
            <a:schemeClr val="accent1"/>
          </a:solidFill>
          <a:ln/>
        </p:spPr>
      </p:sp>
      <p:pic>
        <p:nvPicPr>
          <p:cNvPr id="12" name="Image 0" descr="FiTarget">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Accuratezza</a:t>
            </a:r>
            <a:endParaRPr lang="en-US" sz="1400" dirty="0"/>
          </a:p>
        </p:txBody>
      </p:sp>
      <p:sp>
        <p:nvSpPr>
          <p:cNvPr id="14" name="Text 10"/>
          <p:cNvSpPr txBox="1"/>
          <p:nvPr/>
        </p:nvSpPr>
        <p:spPr>
          <a:xfrm>
            <a:off x="62179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Le informazioni sono corrette?</a:t>
            </a:r>
            <a:endParaRPr lang="en-US" sz="1200" dirty="0"/>
          </a:p>
        </p:txBody>
      </p:sp>
      <p:sp>
        <p:nvSpPr>
          <p:cNvPr id="15" name="Pertinenza"/>
          <p:cNvSpPr/>
          <p:nvPr/>
        </p:nvSpPr>
        <p:spPr>
          <a:xfrm>
            <a:off x="3261360" y="1097280"/>
            <a:ext cx="2621280" cy="1257300"/>
          </a:xfrm>
          <a:prstGeom prst="roundRect">
            <a:avLst>
              <a:gd name="adj" fmla="val 5818"/>
            </a:avLst>
          </a:prstGeom>
          <a:solidFill>
            <a:schemeClr val="bg2"/>
          </a:solidFill>
          <a:ln/>
        </p:spPr>
      </p:sp>
      <p:sp>
        <p:nvSpPr>
          <p:cNvPr id="16" name="cerchio FiCrosshair"/>
          <p:cNvSpPr/>
          <p:nvPr/>
        </p:nvSpPr>
        <p:spPr>
          <a:xfrm>
            <a:off x="3425952" y="1261872"/>
            <a:ext cx="438912" cy="438912"/>
          </a:xfrm>
          <a:prstGeom prst="ellipse">
            <a:avLst/>
          </a:prstGeom>
          <a:solidFill>
            <a:schemeClr val="accent1"/>
          </a:solidFill>
          <a:ln/>
        </p:spPr>
      </p:sp>
      <p:pic>
        <p:nvPicPr>
          <p:cNvPr id="17" name="Image 1" descr="FiCrosshair">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Pertinenza</a:t>
            </a:r>
            <a:endParaRPr lang="en-US" sz="1400" dirty="0"/>
          </a:p>
        </p:txBody>
      </p:sp>
      <p:sp>
        <p:nvSpPr>
          <p:cNvPr id="19" name="Text 14"/>
          <p:cNvSpPr txBox="1"/>
          <p:nvPr/>
        </p:nvSpPr>
        <p:spPr>
          <a:xfrm>
            <a:off x="342595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Risponde all'obiettivo o a un'altra domanda?</a:t>
            </a:r>
            <a:endParaRPr lang="en-US" sz="1200" dirty="0"/>
          </a:p>
        </p:txBody>
      </p:sp>
      <p:sp>
        <p:nvSpPr>
          <p:cNvPr id="20" name="Completezza"/>
          <p:cNvSpPr/>
          <p:nvPr/>
        </p:nvSpPr>
        <p:spPr>
          <a:xfrm>
            <a:off x="6065520" y="1097280"/>
            <a:ext cx="2621280" cy="1257300"/>
          </a:xfrm>
          <a:prstGeom prst="roundRect">
            <a:avLst>
              <a:gd name="adj" fmla="val 5818"/>
            </a:avLst>
          </a:prstGeom>
          <a:solidFill>
            <a:schemeClr val="bg2"/>
          </a:solidFill>
          <a:ln/>
        </p:spPr>
      </p:sp>
      <p:sp>
        <p:nvSpPr>
          <p:cNvPr id="21" name="cerchio FiCheckSquare"/>
          <p:cNvSpPr/>
          <p:nvPr/>
        </p:nvSpPr>
        <p:spPr>
          <a:xfrm>
            <a:off x="6230112" y="1261872"/>
            <a:ext cx="438912" cy="438912"/>
          </a:xfrm>
          <a:prstGeom prst="ellipse">
            <a:avLst/>
          </a:prstGeom>
          <a:solidFill>
            <a:schemeClr val="accent1"/>
          </a:solidFill>
          <a:ln/>
        </p:spPr>
      </p:sp>
      <p:pic>
        <p:nvPicPr>
          <p:cNvPr id="22" name="Image 2" descr="FiCheckSquare">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Completezza</a:t>
            </a:r>
            <a:endParaRPr lang="en-US" sz="1400" dirty="0"/>
          </a:p>
        </p:txBody>
      </p:sp>
      <p:sp>
        <p:nvSpPr>
          <p:cNvPr id="24" name="Text 18"/>
          <p:cNvSpPr txBox="1"/>
          <p:nvPr/>
        </p:nvSpPr>
        <p:spPr>
          <a:xfrm>
            <a:off x="623011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Copre tutto ciò che serve?</a:t>
            </a:r>
            <a:endParaRPr lang="en-US" sz="1200" dirty="0"/>
          </a:p>
        </p:txBody>
      </p:sp>
      <p:sp>
        <p:nvSpPr>
          <p:cNvPr id="25" name="Coerenza interna"/>
          <p:cNvSpPr/>
          <p:nvPr/>
        </p:nvSpPr>
        <p:spPr>
          <a:xfrm>
            <a:off x="457200" y="2537460"/>
            <a:ext cx="2621280" cy="1257300"/>
          </a:xfrm>
          <a:prstGeom prst="roundRect">
            <a:avLst>
              <a:gd name="adj" fmla="val 5818"/>
            </a:avLst>
          </a:prstGeom>
          <a:solidFill>
            <a:schemeClr val="bg2"/>
          </a:solidFill>
          <a:ln/>
        </p:spPr>
      </p:sp>
      <p:sp>
        <p:nvSpPr>
          <p:cNvPr id="26" name="cerchio FiGitMerge"/>
          <p:cNvSpPr/>
          <p:nvPr/>
        </p:nvSpPr>
        <p:spPr>
          <a:xfrm>
            <a:off x="621792" y="2702052"/>
            <a:ext cx="438912" cy="438912"/>
          </a:xfrm>
          <a:prstGeom prst="ellipse">
            <a:avLst/>
          </a:prstGeom>
          <a:solidFill>
            <a:schemeClr val="accent1"/>
          </a:solidFill>
          <a:ln/>
        </p:spPr>
      </p:sp>
      <p:pic>
        <p:nvPicPr>
          <p:cNvPr id="27" name="Image 3" descr="FiGitMerge">    </p:cNvPr>
          <p:cNvPicPr>
            <a:picLocks noChangeAspect="1"/>
          </p:cNvPicPr>
          <p:nvPr/>
        </p:nvPicPr>
        <p:blipFill>
          <a:blip r:embed="rId4"/>
          <a:stretch>
            <a:fillRect/>
          </a:stretch>
        </p:blipFill>
        <p:spPr>
          <a:xfrm>
            <a:off x="731520" y="2811780"/>
            <a:ext cx="219456" cy="219456"/>
          </a:xfrm>
          <a:prstGeom prst="rect">
            <a:avLst/>
          </a:prstGeom>
        </p:spPr>
      </p:pic>
      <p:sp>
        <p:nvSpPr>
          <p:cNvPr id="28" name="Text 21"/>
          <p:cNvSpPr txBox="1"/>
          <p:nvPr/>
        </p:nvSpPr>
        <p:spPr>
          <a:xfrm>
            <a:off x="117043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Coerenza interna</a:t>
            </a:r>
            <a:endParaRPr lang="en-US" sz="1400" dirty="0"/>
          </a:p>
        </p:txBody>
      </p:sp>
      <p:sp>
        <p:nvSpPr>
          <p:cNvPr id="29" name="Text 22"/>
          <p:cNvSpPr txBox="1"/>
          <p:nvPr/>
        </p:nvSpPr>
        <p:spPr>
          <a:xfrm>
            <a:off x="62179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Nessuna contraddizione tra le parti?</a:t>
            </a:r>
            <a:endParaRPr lang="en-US" sz="1200" dirty="0"/>
          </a:p>
        </p:txBody>
      </p:sp>
      <p:sp>
        <p:nvSpPr>
          <p:cNvPr id="30" name="Chiarezza"/>
          <p:cNvSpPr/>
          <p:nvPr/>
        </p:nvSpPr>
        <p:spPr>
          <a:xfrm>
            <a:off x="3261360" y="2537460"/>
            <a:ext cx="2621280" cy="1257300"/>
          </a:xfrm>
          <a:prstGeom prst="roundRect">
            <a:avLst>
              <a:gd name="adj" fmla="val 5818"/>
            </a:avLst>
          </a:prstGeom>
          <a:solidFill>
            <a:schemeClr val="bg2"/>
          </a:solidFill>
          <a:ln/>
        </p:spPr>
      </p:sp>
      <p:sp>
        <p:nvSpPr>
          <p:cNvPr id="31" name="cerchio FiEye"/>
          <p:cNvSpPr/>
          <p:nvPr/>
        </p:nvSpPr>
        <p:spPr>
          <a:xfrm>
            <a:off x="3425952" y="2702052"/>
            <a:ext cx="438912" cy="438912"/>
          </a:xfrm>
          <a:prstGeom prst="ellipse">
            <a:avLst/>
          </a:prstGeom>
          <a:solidFill>
            <a:schemeClr val="accent1"/>
          </a:solidFill>
          <a:ln/>
        </p:spPr>
      </p:sp>
      <p:pic>
        <p:nvPicPr>
          <p:cNvPr id="32" name="Image 4" descr="FiEye">    </p:cNvPr>
          <p:cNvPicPr>
            <a:picLocks noChangeAspect="1"/>
          </p:cNvPicPr>
          <p:nvPr/>
        </p:nvPicPr>
        <p:blipFill>
          <a:blip r:embed="rId5"/>
          <a:stretch>
            <a:fillRect/>
          </a:stretch>
        </p:blipFill>
        <p:spPr>
          <a:xfrm>
            <a:off x="3535680" y="2811780"/>
            <a:ext cx="219456" cy="219456"/>
          </a:xfrm>
          <a:prstGeom prst="rect">
            <a:avLst/>
          </a:prstGeom>
        </p:spPr>
      </p:pic>
      <p:sp>
        <p:nvSpPr>
          <p:cNvPr id="33" name="Text 25"/>
          <p:cNvSpPr txBox="1"/>
          <p:nvPr/>
        </p:nvSpPr>
        <p:spPr>
          <a:xfrm>
            <a:off x="397459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Chiarezza</a:t>
            </a:r>
            <a:endParaRPr lang="en-US" sz="1400" dirty="0"/>
          </a:p>
        </p:txBody>
      </p:sp>
      <p:sp>
        <p:nvSpPr>
          <p:cNvPr id="34" name="Text 26"/>
          <p:cNvSpPr txBox="1"/>
          <p:nvPr/>
        </p:nvSpPr>
        <p:spPr>
          <a:xfrm>
            <a:off x="342595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Il destinatario lo capirà senza ambiguità?</a:t>
            </a:r>
            <a:endParaRPr lang="en-US" sz="1200" dirty="0"/>
          </a:p>
        </p:txBody>
      </p:sp>
      <p:sp>
        <p:nvSpPr>
          <p:cNvPr id="35" name="Dati e supposizioni"/>
          <p:cNvSpPr/>
          <p:nvPr/>
        </p:nvSpPr>
        <p:spPr>
          <a:xfrm>
            <a:off x="6065520" y="2537460"/>
            <a:ext cx="2621280" cy="1257300"/>
          </a:xfrm>
          <a:prstGeom prst="roundRect">
            <a:avLst>
              <a:gd name="adj" fmla="val 5818"/>
            </a:avLst>
          </a:prstGeom>
          <a:solidFill>
            <a:schemeClr val="bg2"/>
          </a:solidFill>
          <a:ln/>
        </p:spPr>
      </p:sp>
      <p:sp>
        <p:nvSpPr>
          <p:cNvPr id="36" name="cerchio FiColumns"/>
          <p:cNvSpPr/>
          <p:nvPr/>
        </p:nvSpPr>
        <p:spPr>
          <a:xfrm>
            <a:off x="6230112" y="2702052"/>
            <a:ext cx="438912" cy="438912"/>
          </a:xfrm>
          <a:prstGeom prst="ellipse">
            <a:avLst/>
          </a:prstGeom>
          <a:solidFill>
            <a:schemeClr val="accent1"/>
          </a:solidFill>
          <a:ln/>
        </p:spPr>
      </p:sp>
      <p:pic>
        <p:nvPicPr>
          <p:cNvPr id="37" name="Image 5" descr="FiColumns">    </p:cNvPr>
          <p:cNvPicPr>
            <a:picLocks noChangeAspect="1"/>
          </p:cNvPicPr>
          <p:nvPr/>
        </p:nvPicPr>
        <p:blipFill>
          <a:blip r:embed="rId6"/>
          <a:stretch>
            <a:fillRect/>
          </a:stretch>
        </p:blipFill>
        <p:spPr>
          <a:xfrm>
            <a:off x="6339840" y="2811780"/>
            <a:ext cx="219456" cy="219456"/>
          </a:xfrm>
          <a:prstGeom prst="rect">
            <a:avLst/>
          </a:prstGeom>
        </p:spPr>
      </p:pic>
      <p:sp>
        <p:nvSpPr>
          <p:cNvPr id="38" name="Text 29"/>
          <p:cNvSpPr txBox="1"/>
          <p:nvPr/>
        </p:nvSpPr>
        <p:spPr>
          <a:xfrm>
            <a:off x="677875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Dati e supposizioni</a:t>
            </a:r>
            <a:endParaRPr lang="en-US" sz="1400" dirty="0"/>
          </a:p>
        </p:txBody>
      </p:sp>
      <p:sp>
        <p:nvSpPr>
          <p:cNvPr id="39" name="Text 30"/>
          <p:cNvSpPr txBox="1"/>
          <p:nvPr/>
        </p:nvSpPr>
        <p:spPr>
          <a:xfrm>
            <a:off x="623011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È chiaro che cosa è certo e che cosa supposto?</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Dimensioni indipendenti: accurato ma non pertinente, pertinente ma incompleto, chiaro ma inaccurato.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espressiva e qualità sostanziale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Qualità espressiva"/>
          <p:cNvSpPr/>
          <p:nvPr/>
        </p:nvSpPr>
        <p:spPr>
          <a:xfrm>
            <a:off x="457200" y="1097280"/>
            <a:ext cx="3977640" cy="2286000"/>
          </a:xfrm>
          <a:prstGeom prst="roundRect">
            <a:avLst>
              <a:gd name="adj" fmla="val 3200"/>
            </a:avLst>
          </a:prstGeom>
          <a:solidFill>
            <a:schemeClr val="bg2"/>
          </a:solidFill>
          <a:ln/>
        </p:spPr>
      </p:sp>
      <p:sp>
        <p:nvSpPr>
          <p:cNvPr id="11" name="cerchio FiType"/>
          <p:cNvSpPr/>
          <p:nvPr/>
        </p:nvSpPr>
        <p:spPr>
          <a:xfrm>
            <a:off x="640080" y="1280160"/>
            <a:ext cx="457200" cy="457200"/>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Qualità espressiva</a:t>
            </a:r>
            <a:endParaRPr lang="en-US" sz="1600" dirty="0"/>
          </a:p>
        </p:txBody>
      </p:sp>
      <p:sp>
        <p:nvSpPr>
          <p:cNvPr id="14" name="Text 10"/>
          <p:cNvSpPr txBox="1"/>
          <p:nvPr/>
        </p:nvSpPr>
        <p:spPr>
          <a:xfrm>
            <a:off x="640080" y="2231136"/>
            <a:ext cx="3611880" cy="1042416"/>
          </a:xfrm>
          <a:prstGeom prst="rect">
            <a:avLst/>
          </a:prstGeom>
          <a:noFill/>
          <a:ln/>
        </p:spPr>
        <p:txBody>
          <a:bodyPr wrap="square" lIns="0" tIns="0" rIns="0" bIns="0" rtlCol="0" anchor="t"/>
          <a:lstStyle/>
          <a:p>
            <a:pPr indent="0" marL="0">
              <a:buNone/>
            </a:pPr>
            <a:r>
              <a:rPr lang="en-US" sz="1300" b="1" dirty="0">
                <a:solidFill>
                  <a:schemeClr val="tx1"/>
                </a:solidFill>
              </a:rPr>
              <a:t>La forma: </a:t>
            </a:r>
            <a:pPr indent="0" marL="0">
              <a:spcAft>
                <a:spcPts val="800"/>
              </a:spcAft>
              <a:buNone/>
            </a:pPr>
            <a:r>
              <a:rPr lang="en-US" sz="1300" dirty="0">
                <a:solidFill>
                  <a:schemeClr val="tx2"/>
                </a:solidFill>
              </a:rPr>
              <a:t>scorrevolezza, lessico, struttura, impaginazione, tono sicuro.</a:t>
            </a:r>
            <a:endParaRPr lang="en-US" sz="1300" dirty="0"/>
          </a:p>
          <a:p>
            <a:pPr indent="0" marL="0">
              <a:buNone/>
            </a:pPr>
            <a:r>
              <a:rPr lang="en-US" sz="1300" b="1" dirty="0">
                <a:solidFill>
                  <a:schemeClr val="accent2"/>
                </a:solidFill>
              </a:rPr>
              <a:t>Quasi sempre alta.</a:t>
            </a:r>
            <a:endParaRPr lang="en-US" sz="1300" dirty="0"/>
          </a:p>
        </p:txBody>
      </p:sp>
      <p:sp>
        <p:nvSpPr>
          <p:cNvPr id="15" name="scheda Qualità sostanziale"/>
          <p:cNvSpPr/>
          <p:nvPr/>
        </p:nvSpPr>
        <p:spPr>
          <a:xfrm>
            <a:off x="4709160" y="1097280"/>
            <a:ext cx="3977640" cy="2286000"/>
          </a:xfrm>
          <a:prstGeom prst="roundRect">
            <a:avLst>
              <a:gd name="adj" fmla="val 3200"/>
            </a:avLst>
          </a:prstGeom>
          <a:solidFill>
            <a:schemeClr val="accent6"/>
          </a:solidFill>
          <a:ln/>
        </p:spPr>
      </p:sp>
      <p:sp>
        <p:nvSpPr>
          <p:cNvPr id="16" name="cerchio FiCheckCircle"/>
          <p:cNvSpPr/>
          <p:nvPr/>
        </p:nvSpPr>
        <p:spPr>
          <a:xfrm>
            <a:off x="4892040" y="1280160"/>
            <a:ext cx="457200" cy="457200"/>
          </a:xfrm>
          <a:prstGeom prst="ellipse">
            <a:avLst/>
          </a:prstGeom>
          <a:solidFill>
            <a:schemeClr val="accent1"/>
          </a:solidFill>
          <a:ln/>
        </p:spPr>
      </p:sp>
      <p:pic>
        <p:nvPicPr>
          <p:cNvPr id="17"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Qualità sostanziale</a:t>
            </a:r>
            <a:endParaRPr lang="en-US" sz="1600" dirty="0"/>
          </a:p>
        </p:txBody>
      </p:sp>
      <p:sp>
        <p:nvSpPr>
          <p:cNvPr id="19" name="Text 14"/>
          <p:cNvSpPr txBox="1"/>
          <p:nvPr/>
        </p:nvSpPr>
        <p:spPr>
          <a:xfrm>
            <a:off x="4892040" y="2231136"/>
            <a:ext cx="3611880" cy="1042416"/>
          </a:xfrm>
          <a:prstGeom prst="rect">
            <a:avLst/>
          </a:prstGeom>
          <a:noFill/>
          <a:ln/>
        </p:spPr>
        <p:txBody>
          <a:bodyPr wrap="square" lIns="0" tIns="0" rIns="0" bIns="0" rtlCol="0" anchor="t"/>
          <a:lstStyle/>
          <a:p>
            <a:pPr indent="0" marL="0">
              <a:buNone/>
            </a:pPr>
            <a:r>
              <a:rPr lang="en-US" sz="1300" b="1" dirty="0">
                <a:solidFill>
                  <a:schemeClr val="tx1"/>
                </a:solidFill>
              </a:rPr>
              <a:t>Il contenuto: </a:t>
            </a:r>
            <a:pPr indent="0" marL="0">
              <a:spcAft>
                <a:spcPts val="800"/>
              </a:spcAft>
              <a:buNone/>
            </a:pPr>
            <a:r>
              <a:rPr lang="en-US" sz="1300" dirty="0">
                <a:solidFill>
                  <a:schemeClr val="tx2"/>
                </a:solidFill>
              </a:rPr>
              <a:t>correttezza, completezza, pertinenza, solidità del ragionamento.</a:t>
            </a:r>
            <a:endParaRPr lang="en-US" sz="1300" dirty="0"/>
          </a:p>
          <a:p>
            <a:pPr indent="0" marL="0">
              <a:buNone/>
            </a:pPr>
            <a:r>
              <a:rPr lang="en-US" sz="1300" b="1" dirty="0">
                <a:solidFill>
                  <a:schemeClr val="accent5"/>
                </a:solidFill>
              </a:rPr>
              <a:t>Variabile.</a:t>
            </a:r>
            <a:endParaRPr lang="en-US" sz="1300" dirty="0"/>
          </a:p>
        </p:txBody>
      </p:sp>
      <p:sp>
        <p:nvSpPr>
          <p:cNvPr id="20" name="messaggio"/>
          <p:cNvSpPr/>
          <p:nvPr/>
        </p:nvSpPr>
        <p:spPr>
          <a:xfrm>
            <a:off x="457200" y="3566160"/>
            <a:ext cx="8229600" cy="960120"/>
          </a:xfrm>
          <a:prstGeom prst="roundRect">
            <a:avLst>
              <a:gd name="adj" fmla="val 7619"/>
            </a:avLst>
          </a:prstGeom>
          <a:solidFill>
            <a:schemeClr val="tx1"/>
          </a:solidFill>
          <a:ln/>
        </p:spPr>
      </p:sp>
      <p:sp>
        <p:nvSpPr>
          <p:cNvPr id="21" name="Text 16"/>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300" dirty="0">
                <a:solidFill>
                  <a:schemeClr val="bg1"/>
                </a:solidFill>
              </a:rPr>
              <a:t>Prima giudicare la sostanza ignorando la forma. Esercizio: se fossero appunti disordinati, ci convincerebbe ancora?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mancanti e omissioni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xt 7"/>
          <p:cNvSpPr txBox="1"/>
          <p:nvPr/>
        </p:nvSpPr>
        <p:spPr>
          <a:xfrm>
            <a:off x="2926080" y="1051560"/>
            <a:ext cx="2651760" cy="274320"/>
          </a:xfrm>
          <a:prstGeom prst="rect">
            <a:avLst/>
          </a:prstGeom>
          <a:noFill/>
          <a:ln/>
        </p:spPr>
        <p:txBody>
          <a:bodyPr wrap="square" lIns="0" tIns="0" rIns="0" bIns="0" rtlCol="0" anchor="t"/>
          <a:lstStyle/>
          <a:p>
            <a:pPr indent="0" marL="0">
              <a:buNone/>
            </a:pPr>
            <a:r>
              <a:rPr lang="en-US" sz="1200" b="1" dirty="0">
                <a:solidFill>
                  <a:schemeClr val="accent1"/>
                </a:solidFill>
              </a:rPr>
              <a:t>Ciò che c'è</a:t>
            </a:r>
            <a:endParaRPr lang="en-US" sz="1200" dirty="0"/>
          </a:p>
        </p:txBody>
      </p:sp>
      <p:sp>
        <p:nvSpPr>
          <p:cNvPr id="11" name="Text 8"/>
          <p:cNvSpPr txBox="1"/>
          <p:nvPr/>
        </p:nvSpPr>
        <p:spPr>
          <a:xfrm>
            <a:off x="5760720" y="1051560"/>
            <a:ext cx="2926080" cy="274320"/>
          </a:xfrm>
          <a:prstGeom prst="rect">
            <a:avLst/>
          </a:prstGeom>
          <a:noFill/>
          <a:ln/>
        </p:spPr>
        <p:txBody>
          <a:bodyPr wrap="square" lIns="0" tIns="0" rIns="0" bIns="0" rtlCol="0" anchor="t"/>
          <a:lstStyle/>
          <a:p>
            <a:pPr indent="0" marL="0">
              <a:buNone/>
            </a:pPr>
            <a:r>
              <a:rPr lang="en-US" sz="1200" b="1" dirty="0">
                <a:solidFill>
                  <a:schemeClr val="accent5"/>
                </a:solidFill>
              </a:rPr>
              <a:t>Ciò che manca</a:t>
            </a:r>
            <a:endParaRPr lang="en-US" sz="1200" dirty="0"/>
          </a:p>
        </p:txBody>
      </p:sp>
      <p:sp>
        <p:nvSpPr>
          <p:cNvPr id="12" name="Riassunto di contratto"/>
          <p:cNvSpPr/>
          <p:nvPr/>
        </p:nvSpPr>
        <p:spPr>
          <a:xfrm>
            <a:off x="457200" y="1371600"/>
            <a:ext cx="8229600" cy="530352"/>
          </a:xfrm>
          <a:prstGeom prst="roundRect">
            <a:avLst>
              <a:gd name="adj" fmla="val 13793"/>
            </a:avLst>
          </a:prstGeom>
          <a:solidFill>
            <a:schemeClr val="bg2"/>
          </a:solidFill>
          <a:ln/>
        </p:spPr>
      </p:sp>
      <p:sp>
        <p:nvSpPr>
          <p:cNvPr id="13" name="Text 10"/>
          <p:cNvSpPr txBox="1"/>
          <p:nvPr/>
        </p:nvSpPr>
        <p:spPr>
          <a:xfrm>
            <a:off x="594360" y="1371600"/>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Riassunto di contratto</a:t>
            </a:r>
            <a:endParaRPr lang="en-US" sz="1300" dirty="0"/>
          </a:p>
        </p:txBody>
      </p:sp>
      <p:sp>
        <p:nvSpPr>
          <p:cNvPr id="14" name="Text 11"/>
          <p:cNvSpPr txBox="1"/>
          <p:nvPr/>
        </p:nvSpPr>
        <p:spPr>
          <a:xfrm>
            <a:off x="2926080" y="1371600"/>
            <a:ext cx="2743200" cy="530352"/>
          </a:xfrm>
          <a:prstGeom prst="rect">
            <a:avLst/>
          </a:prstGeom>
          <a:noFill/>
          <a:ln/>
        </p:spPr>
        <p:txBody>
          <a:bodyPr wrap="square" lIns="0" tIns="0" rIns="0" bIns="0" rtlCol="0" anchor="ctr"/>
          <a:lstStyle/>
          <a:p>
            <a:pPr indent="0" marL="0">
              <a:buNone/>
            </a:pPr>
            <a:r>
              <a:rPr lang="en-US" sz="1200" dirty="0">
                <a:solidFill>
                  <a:schemeClr val="tx2"/>
                </a:solidFill>
              </a:rPr>
              <a:t>Durata, prezzo, servizi corretti</a:t>
            </a:r>
            <a:endParaRPr lang="en-US" sz="1200" dirty="0"/>
          </a:p>
        </p:txBody>
      </p:sp>
      <p:sp>
        <p:nvSpPr>
          <p:cNvPr id="15" name="Text 12"/>
          <p:cNvSpPr txBox="1"/>
          <p:nvPr/>
        </p:nvSpPr>
        <p:spPr>
          <a:xfrm>
            <a:off x="5760720" y="1371600"/>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 la clausola di rinnovo automatico</a:t>
            </a:r>
            <a:endParaRPr lang="en-US" sz="1200" dirty="0"/>
          </a:p>
        </p:txBody>
      </p:sp>
      <p:sp>
        <p:nvSpPr>
          <p:cNvPr id="16" name="Risposta su una procedura"/>
          <p:cNvSpPr/>
          <p:nvPr/>
        </p:nvSpPr>
        <p:spPr>
          <a:xfrm>
            <a:off x="457200" y="1975104"/>
            <a:ext cx="8229600" cy="530352"/>
          </a:xfrm>
          <a:prstGeom prst="roundRect">
            <a:avLst>
              <a:gd name="adj" fmla="val 13793"/>
            </a:avLst>
          </a:prstGeom>
          <a:solidFill>
            <a:schemeClr val="bg1"/>
          </a:solidFill>
          <a:ln/>
        </p:spPr>
      </p:sp>
      <p:sp>
        <p:nvSpPr>
          <p:cNvPr id="17" name="Text 14"/>
          <p:cNvSpPr txBox="1"/>
          <p:nvPr/>
        </p:nvSpPr>
        <p:spPr>
          <a:xfrm>
            <a:off x="594360" y="1975104"/>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Risposta su una procedura</a:t>
            </a:r>
            <a:endParaRPr lang="en-US" sz="1300" dirty="0"/>
          </a:p>
        </p:txBody>
      </p:sp>
      <p:sp>
        <p:nvSpPr>
          <p:cNvPr id="18" name="Text 15"/>
          <p:cNvSpPr txBox="1"/>
          <p:nvPr/>
        </p:nvSpPr>
        <p:spPr>
          <a:xfrm>
            <a:off x="2926080" y="1975104"/>
            <a:ext cx="2743200" cy="530352"/>
          </a:xfrm>
          <a:prstGeom prst="rect">
            <a:avLst/>
          </a:prstGeom>
          <a:noFill/>
          <a:ln/>
        </p:spPr>
        <p:txBody>
          <a:bodyPr wrap="square" lIns="0" tIns="0" rIns="0" bIns="0" rtlCol="0" anchor="ctr"/>
          <a:lstStyle/>
          <a:p>
            <a:pPr indent="0" marL="0">
              <a:buNone/>
            </a:pPr>
            <a:r>
              <a:rPr lang="en-US" sz="1200" dirty="0">
                <a:solidFill>
                  <a:schemeClr val="tx2"/>
                </a:solidFill>
              </a:rPr>
              <a:t>Caso generale corretto</a:t>
            </a:r>
            <a:endParaRPr lang="en-US" sz="1200" dirty="0"/>
          </a:p>
        </p:txBody>
      </p:sp>
      <p:sp>
        <p:nvSpPr>
          <p:cNvPr id="19" name="Text 16"/>
          <p:cNvSpPr txBox="1"/>
          <p:nvPr/>
        </p:nvSpPr>
        <p:spPr>
          <a:xfrm>
            <a:off x="5760720" y="1975104"/>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Mancano le eccezioni</a:t>
            </a:r>
            <a:endParaRPr lang="en-US" sz="1200" dirty="0"/>
          </a:p>
        </p:txBody>
      </p:sp>
      <p:sp>
        <p:nvSpPr>
          <p:cNvPr id="20" name="Confronto tra fornitori"/>
          <p:cNvSpPr/>
          <p:nvPr/>
        </p:nvSpPr>
        <p:spPr>
          <a:xfrm>
            <a:off x="457200" y="2578608"/>
            <a:ext cx="8229600" cy="530352"/>
          </a:xfrm>
          <a:prstGeom prst="roundRect">
            <a:avLst>
              <a:gd name="adj" fmla="val 13793"/>
            </a:avLst>
          </a:prstGeom>
          <a:solidFill>
            <a:schemeClr val="bg2"/>
          </a:solidFill>
          <a:ln/>
        </p:spPr>
      </p:sp>
      <p:sp>
        <p:nvSpPr>
          <p:cNvPr id="21" name="Text 18"/>
          <p:cNvSpPr txBox="1"/>
          <p:nvPr/>
        </p:nvSpPr>
        <p:spPr>
          <a:xfrm>
            <a:off x="594360" y="2578608"/>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Confronto tra fornitori</a:t>
            </a:r>
            <a:endParaRPr lang="en-US" sz="1300" dirty="0"/>
          </a:p>
        </p:txBody>
      </p:sp>
      <p:sp>
        <p:nvSpPr>
          <p:cNvPr id="22" name="Text 19"/>
          <p:cNvSpPr txBox="1"/>
          <p:nvPr/>
        </p:nvSpPr>
        <p:spPr>
          <a:xfrm>
            <a:off x="2926080" y="2578608"/>
            <a:ext cx="2743200" cy="530352"/>
          </a:xfrm>
          <a:prstGeom prst="rect">
            <a:avLst/>
          </a:prstGeom>
          <a:noFill/>
          <a:ln/>
        </p:spPr>
        <p:txBody>
          <a:bodyPr wrap="square" lIns="0" tIns="0" rIns="0" bIns="0" rtlCol="0" anchor="ctr"/>
          <a:lstStyle/>
          <a:p>
            <a:pPr indent="0" marL="0">
              <a:buNone/>
            </a:pPr>
            <a:r>
              <a:rPr lang="en-US" sz="1200" dirty="0">
                <a:solidFill>
                  <a:schemeClr val="tx2"/>
                </a:solidFill>
              </a:rPr>
              <a:t>Prezzo e qualità corretti</a:t>
            </a:r>
            <a:endParaRPr lang="en-US" sz="1200" dirty="0"/>
          </a:p>
        </p:txBody>
      </p:sp>
      <p:sp>
        <p:nvSpPr>
          <p:cNvPr id="23" name="Text 20"/>
          <p:cNvSpPr txBox="1"/>
          <p:nvPr/>
        </p:nvSpPr>
        <p:spPr>
          <a:xfrm>
            <a:off x="5760720" y="2578608"/>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Mancano i tempi di consegna</a:t>
            </a:r>
            <a:endParaRPr lang="en-US" sz="1200" dirty="0"/>
          </a:p>
        </p:txBody>
      </p:sp>
      <p:sp>
        <p:nvSpPr>
          <p:cNvPr id="24" name="Analisi di una scelta"/>
          <p:cNvSpPr/>
          <p:nvPr/>
        </p:nvSpPr>
        <p:spPr>
          <a:xfrm>
            <a:off x="457200" y="3182112"/>
            <a:ext cx="8229600" cy="530352"/>
          </a:xfrm>
          <a:prstGeom prst="roundRect">
            <a:avLst>
              <a:gd name="adj" fmla="val 13793"/>
            </a:avLst>
          </a:prstGeom>
          <a:solidFill>
            <a:schemeClr val="bg1"/>
          </a:solidFill>
          <a:ln/>
        </p:spPr>
      </p:sp>
      <p:sp>
        <p:nvSpPr>
          <p:cNvPr id="25" name="Text 22"/>
          <p:cNvSpPr txBox="1"/>
          <p:nvPr/>
        </p:nvSpPr>
        <p:spPr>
          <a:xfrm>
            <a:off x="594360" y="3182112"/>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Analisi di una scelta</a:t>
            </a:r>
            <a:endParaRPr lang="en-US" sz="1300" dirty="0"/>
          </a:p>
        </p:txBody>
      </p:sp>
      <p:sp>
        <p:nvSpPr>
          <p:cNvPr id="26" name="Text 23"/>
          <p:cNvSpPr txBox="1"/>
          <p:nvPr/>
        </p:nvSpPr>
        <p:spPr>
          <a:xfrm>
            <a:off x="2926080" y="3182112"/>
            <a:ext cx="2743200" cy="530352"/>
          </a:xfrm>
          <a:prstGeom prst="rect">
            <a:avLst/>
          </a:prstGeom>
          <a:noFill/>
          <a:ln/>
        </p:spPr>
        <p:txBody>
          <a:bodyPr wrap="square" lIns="0" tIns="0" rIns="0" bIns="0" rtlCol="0" anchor="ctr"/>
          <a:lstStyle/>
          <a:p>
            <a:pPr indent="0" marL="0">
              <a:buNone/>
            </a:pPr>
            <a:r>
              <a:rPr lang="en-US" sz="1200" dirty="0">
                <a:solidFill>
                  <a:schemeClr val="tx2"/>
                </a:solidFill>
              </a:rPr>
              <a:t>Vantaggi corretti</a:t>
            </a:r>
            <a:endParaRPr lang="en-US" sz="1200" dirty="0"/>
          </a:p>
        </p:txBody>
      </p:sp>
      <p:sp>
        <p:nvSpPr>
          <p:cNvPr id="27" name="Text 24"/>
          <p:cNvSpPr txBox="1"/>
          <p:nvPr/>
        </p:nvSpPr>
        <p:spPr>
          <a:xfrm>
            <a:off x="5760720" y="3182112"/>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Mancano i rischi</a:t>
            </a:r>
            <a:endParaRPr lang="en-US" sz="1200" dirty="0"/>
          </a:p>
        </p:txBody>
      </p:sp>
      <p:sp>
        <p:nvSpPr>
          <p:cNvPr id="28" name="messaggio"/>
          <p:cNvSpPr/>
          <p:nvPr/>
        </p:nvSpPr>
        <p:spPr>
          <a:xfrm>
            <a:off x="457200" y="3931920"/>
            <a:ext cx="8229600" cy="594360"/>
          </a:xfrm>
          <a:prstGeom prst="roundRect">
            <a:avLst>
              <a:gd name="adj" fmla="val 12308"/>
            </a:avLst>
          </a:prstGeom>
          <a:solidFill>
            <a:schemeClr val="tx1"/>
          </a:solidFill>
          <a:ln/>
        </p:spPr>
      </p:sp>
      <p:sp>
        <p:nvSpPr>
          <p:cNvPr id="29"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Ogni frase è vera, ma il quadro è fuorviante: le omissioni non si vedono, perché valutiamo ciò che c'è scritto.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cercare ciò che manca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Partire dalle attese"/>
          <p:cNvSpPr/>
          <p:nvPr/>
        </p:nvSpPr>
        <p:spPr>
          <a:xfrm>
            <a:off x="457200" y="1097280"/>
            <a:ext cx="2621280" cy="1623060"/>
          </a:xfrm>
          <a:prstGeom prst="roundRect">
            <a:avLst>
              <a:gd name="adj" fmla="val 4507"/>
            </a:avLst>
          </a:prstGeom>
          <a:solidFill>
            <a:schemeClr val="accent6"/>
          </a:solidFill>
          <a:ln/>
        </p:spPr>
      </p:sp>
      <p:sp>
        <p:nvSpPr>
          <p:cNvPr id="11" name="cerchio FiList"/>
          <p:cNvSpPr/>
          <p:nvPr/>
        </p:nvSpPr>
        <p:spPr>
          <a:xfrm>
            <a:off x="621792" y="1261872"/>
            <a:ext cx="438912" cy="438912"/>
          </a:xfrm>
          <a:prstGeom prst="ellipse">
            <a:avLst/>
          </a:prstGeom>
          <a:solidFill>
            <a:schemeClr val="accent1"/>
          </a:solidFill>
          <a:ln/>
        </p:spPr>
      </p:sp>
      <p:pic>
        <p:nvPicPr>
          <p:cNvPr id="12" name="Image 0" descr="FiList">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Partire dalle attese</a:t>
            </a:r>
            <a:endParaRPr lang="en-US" sz="1300" dirty="0"/>
          </a:p>
        </p:txBody>
      </p:sp>
      <p:sp>
        <p:nvSpPr>
          <p:cNvPr id="14" name="Text 10"/>
          <p:cNvSpPr txBox="1"/>
          <p:nvPr/>
        </p:nvSpPr>
        <p:spPr>
          <a:xfrm>
            <a:off x="621792" y="1810512"/>
            <a:ext cx="2292096" cy="818388"/>
          </a:xfrm>
          <a:prstGeom prst="rect">
            <a:avLst/>
          </a:prstGeom>
          <a:noFill/>
          <a:ln/>
        </p:spPr>
        <p:txBody>
          <a:bodyPr wrap="square" lIns="0" tIns="0" rIns="0" bIns="0" rtlCol="0" anchor="t"/>
          <a:lstStyle/>
          <a:p>
            <a:pPr indent="0" marL="0">
              <a:buNone/>
            </a:pPr>
            <a:r>
              <a:rPr lang="en-US" sz="1200" dirty="0">
                <a:solidFill>
                  <a:schemeClr val="tx2"/>
                </a:solidFill>
              </a:rPr>
              <a:t>Annotare prima che cosa dovrebbe esserci, poi confrontare</a:t>
            </a:r>
            <a:endParaRPr lang="en-US" sz="1200" dirty="0"/>
          </a:p>
        </p:txBody>
      </p:sp>
      <p:sp>
        <p:nvSpPr>
          <p:cNvPr id="15" name="Usare la richiesta originale"/>
          <p:cNvSpPr/>
          <p:nvPr/>
        </p:nvSpPr>
        <p:spPr>
          <a:xfrm>
            <a:off x="3261360" y="1097280"/>
            <a:ext cx="2621280" cy="1623060"/>
          </a:xfrm>
          <a:prstGeom prst="roundRect">
            <a:avLst>
              <a:gd name="adj" fmla="val 4507"/>
            </a:avLst>
          </a:prstGeom>
          <a:solidFill>
            <a:schemeClr val="bg2"/>
          </a:solidFill>
          <a:ln/>
        </p:spPr>
      </p:sp>
      <p:sp>
        <p:nvSpPr>
          <p:cNvPr id="16" name="cerchio FiCheckSquare"/>
          <p:cNvSpPr/>
          <p:nvPr/>
        </p:nvSpPr>
        <p:spPr>
          <a:xfrm>
            <a:off x="3425952" y="1261872"/>
            <a:ext cx="438912" cy="438912"/>
          </a:xfrm>
          <a:prstGeom prst="ellipse">
            <a:avLst/>
          </a:prstGeom>
          <a:solidFill>
            <a:schemeClr val="accent1"/>
          </a:solidFill>
          <a:ln/>
        </p:spPr>
      </p:sp>
      <p:pic>
        <p:nvPicPr>
          <p:cNvPr id="17" name="Image 1" descr="FiCheckSquare">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Usare la richiesta originale</a:t>
            </a:r>
            <a:endParaRPr lang="en-US" sz="1300" dirty="0"/>
          </a:p>
        </p:txBody>
      </p:sp>
      <p:sp>
        <p:nvSpPr>
          <p:cNvPr id="19" name="Text 14"/>
          <p:cNvSpPr txBox="1"/>
          <p:nvPr/>
        </p:nvSpPr>
        <p:spPr>
          <a:xfrm>
            <a:off x="3425952" y="1810512"/>
            <a:ext cx="2292096" cy="818388"/>
          </a:xfrm>
          <a:prstGeom prst="rect">
            <a:avLst/>
          </a:prstGeom>
          <a:noFill/>
          <a:ln/>
        </p:spPr>
        <p:txBody>
          <a:bodyPr wrap="square" lIns="0" tIns="0" rIns="0" bIns="0" rtlCol="0" anchor="t"/>
          <a:lstStyle/>
          <a:p>
            <a:pPr indent="0" marL="0">
              <a:buNone/>
            </a:pPr>
            <a:r>
              <a:rPr lang="en-US" sz="1200" dirty="0">
                <a:solidFill>
                  <a:schemeClr val="tx2"/>
                </a:solidFill>
              </a:rPr>
              <a:t>Ogni elemento richiesto è presente?</a:t>
            </a:r>
            <a:endParaRPr lang="en-US" sz="1200" dirty="0"/>
          </a:p>
        </p:txBody>
      </p:sp>
      <p:sp>
        <p:nvSpPr>
          <p:cNvPr id="20" name="Cercare eccezioni e condizioni"/>
          <p:cNvSpPr/>
          <p:nvPr/>
        </p:nvSpPr>
        <p:spPr>
          <a:xfrm>
            <a:off x="6065520" y="1097280"/>
            <a:ext cx="2621280" cy="1623060"/>
          </a:xfrm>
          <a:prstGeom prst="roundRect">
            <a:avLst>
              <a:gd name="adj" fmla="val 4507"/>
            </a:avLst>
          </a:prstGeom>
          <a:solidFill>
            <a:schemeClr val="bg2"/>
          </a:solidFill>
          <a:ln/>
        </p:spPr>
      </p:sp>
      <p:sp>
        <p:nvSpPr>
          <p:cNvPr id="21" name="cerchio FiAlertCircle"/>
          <p:cNvSpPr/>
          <p:nvPr/>
        </p:nvSpPr>
        <p:spPr>
          <a:xfrm>
            <a:off x="6230112" y="1261872"/>
            <a:ext cx="438912" cy="438912"/>
          </a:xfrm>
          <a:prstGeom prst="ellipse">
            <a:avLst/>
          </a:prstGeom>
          <a:solidFill>
            <a:schemeClr val="accent1"/>
          </a:solidFill>
          <a:ln/>
        </p:spPr>
      </p:sp>
      <p:pic>
        <p:nvPicPr>
          <p:cNvPr id="22" name="Image 2" descr="FiAlertCircle">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Cercare eccezioni e condizioni</a:t>
            </a:r>
            <a:endParaRPr lang="en-US" sz="1300" dirty="0"/>
          </a:p>
        </p:txBody>
      </p:sp>
      <p:sp>
        <p:nvSpPr>
          <p:cNvPr id="24" name="Text 18"/>
          <p:cNvSpPr txBox="1"/>
          <p:nvPr/>
        </p:nvSpPr>
        <p:spPr>
          <a:xfrm>
            <a:off x="6230112" y="1810512"/>
            <a:ext cx="2292096" cy="818388"/>
          </a:xfrm>
          <a:prstGeom prst="rect">
            <a:avLst/>
          </a:prstGeom>
          <a:noFill/>
          <a:ln/>
        </p:spPr>
        <p:txBody>
          <a:bodyPr wrap="square" lIns="0" tIns="0" rIns="0" bIns="0" rtlCol="0" anchor="t"/>
          <a:lstStyle/>
          <a:p>
            <a:pPr indent="0" marL="0">
              <a:buNone/>
            </a:pPr>
            <a:r>
              <a:rPr lang="en-US" sz="1200" dirty="0">
                <a:solidFill>
                  <a:schemeClr val="tx2"/>
                </a:solidFill>
              </a:rPr>
              <a:t>In quali casi non vale?</a:t>
            </a:r>
            <a:endParaRPr lang="en-US" sz="1200" dirty="0"/>
          </a:p>
        </p:txBody>
      </p:sp>
      <p:sp>
        <p:nvSpPr>
          <p:cNvPr id="25" name="Cercare l'altra metà"/>
          <p:cNvSpPr/>
          <p:nvPr/>
        </p:nvSpPr>
        <p:spPr>
          <a:xfrm>
            <a:off x="457200" y="2903220"/>
            <a:ext cx="2621280" cy="1623060"/>
          </a:xfrm>
          <a:prstGeom prst="roundRect">
            <a:avLst>
              <a:gd name="adj" fmla="val 4507"/>
            </a:avLst>
          </a:prstGeom>
          <a:solidFill>
            <a:schemeClr val="bg2"/>
          </a:solidFill>
          <a:ln/>
        </p:spPr>
      </p:sp>
      <p:sp>
        <p:nvSpPr>
          <p:cNvPr id="26" name="cerchio FiColumns"/>
          <p:cNvSpPr/>
          <p:nvPr/>
        </p:nvSpPr>
        <p:spPr>
          <a:xfrm>
            <a:off x="621792" y="3067812"/>
            <a:ext cx="438912" cy="438912"/>
          </a:xfrm>
          <a:prstGeom prst="ellipse">
            <a:avLst/>
          </a:prstGeom>
          <a:solidFill>
            <a:schemeClr val="accent1"/>
          </a:solidFill>
          <a:ln/>
        </p:spPr>
      </p:sp>
      <p:pic>
        <p:nvPicPr>
          <p:cNvPr id="27" name="Image 3" descr="FiColumns">    </p:cNvPr>
          <p:cNvPicPr>
            <a:picLocks noChangeAspect="1"/>
          </p:cNvPicPr>
          <p:nvPr/>
        </p:nvPicPr>
        <p:blipFill>
          <a:blip r:embed="rId4"/>
          <a:stretch>
            <a:fillRect/>
          </a:stretch>
        </p:blipFill>
        <p:spPr>
          <a:xfrm>
            <a:off x="731520" y="3177540"/>
            <a:ext cx="219456" cy="219456"/>
          </a:xfrm>
          <a:prstGeom prst="rect">
            <a:avLst/>
          </a:prstGeom>
        </p:spPr>
      </p:pic>
      <p:sp>
        <p:nvSpPr>
          <p:cNvPr id="28" name="Text 21"/>
          <p:cNvSpPr txBox="1"/>
          <p:nvPr/>
        </p:nvSpPr>
        <p:spPr>
          <a:xfrm>
            <a:off x="1170432" y="30312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Cercare l'altra metà</a:t>
            </a:r>
            <a:endParaRPr lang="en-US" sz="1300" dirty="0"/>
          </a:p>
        </p:txBody>
      </p:sp>
      <p:sp>
        <p:nvSpPr>
          <p:cNvPr id="29" name="Text 22"/>
          <p:cNvSpPr txBox="1"/>
          <p:nvPr/>
        </p:nvSpPr>
        <p:spPr>
          <a:xfrm>
            <a:off x="621792" y="3616452"/>
            <a:ext cx="2292096" cy="818388"/>
          </a:xfrm>
          <a:prstGeom prst="rect">
            <a:avLst/>
          </a:prstGeom>
          <a:noFill/>
          <a:ln/>
        </p:spPr>
        <p:txBody>
          <a:bodyPr wrap="square" lIns="0" tIns="0" rIns="0" bIns="0" rtlCol="0" anchor="t"/>
          <a:lstStyle/>
          <a:p>
            <a:pPr indent="0" marL="0">
              <a:buNone/>
            </a:pPr>
            <a:r>
              <a:rPr lang="en-US" sz="1200" dirty="0">
                <a:solidFill>
                  <a:schemeClr val="tx2"/>
                </a:solidFill>
              </a:rPr>
              <a:t>Vantaggi e svantaggi, un punto di vista e l'altro</a:t>
            </a:r>
            <a:endParaRPr lang="en-US" sz="1200" dirty="0"/>
          </a:p>
        </p:txBody>
      </p:sp>
      <p:sp>
        <p:nvSpPr>
          <p:cNvPr id="30" name="Confrontare con la fonte"/>
          <p:cNvSpPr/>
          <p:nvPr/>
        </p:nvSpPr>
        <p:spPr>
          <a:xfrm>
            <a:off x="3261360" y="2903220"/>
            <a:ext cx="2621280" cy="1623060"/>
          </a:xfrm>
          <a:prstGeom prst="roundRect">
            <a:avLst>
              <a:gd name="adj" fmla="val 4507"/>
            </a:avLst>
          </a:prstGeom>
          <a:solidFill>
            <a:schemeClr val="bg2"/>
          </a:solidFill>
          <a:ln/>
        </p:spPr>
      </p:sp>
      <p:sp>
        <p:nvSpPr>
          <p:cNvPr id="31" name="cerchio FiBookOpen"/>
          <p:cNvSpPr/>
          <p:nvPr/>
        </p:nvSpPr>
        <p:spPr>
          <a:xfrm>
            <a:off x="3425952" y="3067812"/>
            <a:ext cx="438912" cy="438912"/>
          </a:xfrm>
          <a:prstGeom prst="ellipse">
            <a:avLst/>
          </a:prstGeom>
          <a:solidFill>
            <a:schemeClr val="accent1"/>
          </a:solidFill>
          <a:ln/>
        </p:spPr>
      </p:sp>
      <p:pic>
        <p:nvPicPr>
          <p:cNvPr id="32" name="Image 4" descr="FiBookOpen">    </p:cNvPr>
          <p:cNvPicPr>
            <a:picLocks noChangeAspect="1"/>
          </p:cNvPicPr>
          <p:nvPr/>
        </p:nvPicPr>
        <p:blipFill>
          <a:blip r:embed="rId5"/>
          <a:stretch>
            <a:fillRect/>
          </a:stretch>
        </p:blipFill>
        <p:spPr>
          <a:xfrm>
            <a:off x="3535680" y="3177540"/>
            <a:ext cx="219456" cy="219456"/>
          </a:xfrm>
          <a:prstGeom prst="rect">
            <a:avLst/>
          </a:prstGeom>
        </p:spPr>
      </p:pic>
      <p:sp>
        <p:nvSpPr>
          <p:cNvPr id="33" name="Text 25"/>
          <p:cNvSpPr txBox="1"/>
          <p:nvPr/>
        </p:nvSpPr>
        <p:spPr>
          <a:xfrm>
            <a:off x="3974592" y="30312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Confrontare con la fonte</a:t>
            </a:r>
            <a:endParaRPr lang="en-US" sz="1300" dirty="0"/>
          </a:p>
        </p:txBody>
      </p:sp>
      <p:sp>
        <p:nvSpPr>
          <p:cNvPr id="34" name="Text 26"/>
          <p:cNvSpPr txBox="1"/>
          <p:nvPr/>
        </p:nvSpPr>
        <p:spPr>
          <a:xfrm>
            <a:off x="3425952" y="3616452"/>
            <a:ext cx="2292096" cy="818388"/>
          </a:xfrm>
          <a:prstGeom prst="rect">
            <a:avLst/>
          </a:prstGeom>
          <a:noFill/>
          <a:ln/>
        </p:spPr>
        <p:txBody>
          <a:bodyPr wrap="square" lIns="0" tIns="0" rIns="0" bIns="0" rtlCol="0" anchor="t"/>
          <a:lstStyle/>
          <a:p>
            <a:pPr indent="0" marL="0">
              <a:buNone/>
            </a:pPr>
            <a:r>
              <a:rPr lang="en-US" sz="1200" dirty="0">
                <a:solidFill>
                  <a:schemeClr val="tx2"/>
                </a:solidFill>
              </a:rPr>
              <a:t>Le parti importanti sono rappresentate?</a:t>
            </a:r>
            <a:endParaRPr lang="en-US" sz="1200" dirty="0"/>
          </a:p>
        </p:txBody>
      </p:sp>
      <p:sp>
        <p:nvSpPr>
          <p:cNvPr id="35" name="Chiedere all'AI che cosa manca"/>
          <p:cNvSpPr/>
          <p:nvPr/>
        </p:nvSpPr>
        <p:spPr>
          <a:xfrm>
            <a:off x="6065520" y="2903220"/>
            <a:ext cx="2621280" cy="1623060"/>
          </a:xfrm>
          <a:prstGeom prst="roundRect">
            <a:avLst>
              <a:gd name="adj" fmla="val 4507"/>
            </a:avLst>
          </a:prstGeom>
          <a:solidFill>
            <a:schemeClr val="bg2"/>
          </a:solidFill>
          <a:ln/>
        </p:spPr>
      </p:sp>
      <p:sp>
        <p:nvSpPr>
          <p:cNvPr id="36" name="cerchio FiHelpCircle"/>
          <p:cNvSpPr/>
          <p:nvPr/>
        </p:nvSpPr>
        <p:spPr>
          <a:xfrm>
            <a:off x="6230112" y="3067812"/>
            <a:ext cx="438912" cy="438912"/>
          </a:xfrm>
          <a:prstGeom prst="ellipse">
            <a:avLst/>
          </a:prstGeom>
          <a:solidFill>
            <a:schemeClr val="accent1"/>
          </a:solidFill>
          <a:ln/>
        </p:spPr>
      </p:sp>
      <p:pic>
        <p:nvPicPr>
          <p:cNvPr id="37" name="Image 5" descr="FiHelpCircle">    </p:cNvPr>
          <p:cNvPicPr>
            <a:picLocks noChangeAspect="1"/>
          </p:cNvPicPr>
          <p:nvPr/>
        </p:nvPicPr>
        <p:blipFill>
          <a:blip r:embed="rId6"/>
          <a:stretch>
            <a:fillRect/>
          </a:stretch>
        </p:blipFill>
        <p:spPr>
          <a:xfrm>
            <a:off x="6339840" y="3177540"/>
            <a:ext cx="219456" cy="219456"/>
          </a:xfrm>
          <a:prstGeom prst="rect">
            <a:avLst/>
          </a:prstGeom>
        </p:spPr>
      </p:pic>
      <p:sp>
        <p:nvSpPr>
          <p:cNvPr id="38" name="Text 29"/>
          <p:cNvSpPr txBox="1"/>
          <p:nvPr/>
        </p:nvSpPr>
        <p:spPr>
          <a:xfrm>
            <a:off x="6778752" y="30312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Chiedere all'AI che cosa manca</a:t>
            </a:r>
            <a:endParaRPr lang="en-US" sz="1300" dirty="0"/>
          </a:p>
        </p:txBody>
      </p:sp>
      <p:sp>
        <p:nvSpPr>
          <p:cNvPr id="39" name="Text 30"/>
          <p:cNvSpPr txBox="1"/>
          <p:nvPr/>
        </p:nvSpPr>
        <p:spPr>
          <a:xfrm>
            <a:off x="6230112" y="3616452"/>
            <a:ext cx="2292096" cy="818388"/>
          </a:xfrm>
          <a:prstGeom prst="rect">
            <a:avLst/>
          </a:prstGeom>
          <a:noFill/>
          <a:ln/>
        </p:spPr>
        <p:txBody>
          <a:bodyPr wrap="square" lIns="0" tIns="0" rIns="0" bIns="0" rtlCol="0" anchor="t"/>
          <a:lstStyle/>
          <a:p>
            <a:pPr indent="0" marL="0">
              <a:buNone/>
            </a:pPr>
            <a:r>
              <a:rPr lang="en-US" sz="1200" dirty="0">
                <a:solidFill>
                  <a:schemeClr val="tx2"/>
                </a:solidFill>
              </a:rPr>
              <a:t>Utile, ma non è una garanzia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Incertezza e livello di fiducia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Fatti confermati"/>
          <p:cNvSpPr/>
          <p:nvPr/>
        </p:nvSpPr>
        <p:spPr>
          <a:xfrm>
            <a:off x="457200" y="1097280"/>
            <a:ext cx="4206240" cy="548640"/>
          </a:xfrm>
          <a:prstGeom prst="roundRect">
            <a:avLst>
              <a:gd name="adj" fmla="val 13333"/>
            </a:avLst>
          </a:prstGeom>
          <a:solidFill>
            <a:schemeClr val="accent1"/>
          </a:solidFill>
          <a:ln/>
        </p:spPr>
      </p:sp>
      <p:sp>
        <p:nvSpPr>
          <p:cNvPr id="11" name="Text 8"/>
          <p:cNvSpPr txBox="1"/>
          <p:nvPr/>
        </p:nvSpPr>
        <p:spPr>
          <a:xfrm>
            <a:off x="594360" y="1097280"/>
            <a:ext cx="1691640" cy="548640"/>
          </a:xfrm>
          <a:prstGeom prst="rect">
            <a:avLst/>
          </a:prstGeom>
          <a:noFill/>
          <a:ln/>
        </p:spPr>
        <p:txBody>
          <a:bodyPr wrap="square" lIns="0" tIns="0" rIns="0" bIns="0" rtlCol="0" anchor="ctr"/>
          <a:lstStyle/>
          <a:p>
            <a:pPr indent="0" marL="0">
              <a:buNone/>
            </a:pPr>
            <a:r>
              <a:rPr lang="en-US" sz="1300" b="1" dirty="0">
                <a:solidFill>
                  <a:schemeClr val="bg1"/>
                </a:solidFill>
              </a:rPr>
              <a:t>Fatti confermati</a:t>
            </a:r>
            <a:endParaRPr lang="en-US" sz="1300" dirty="0"/>
          </a:p>
        </p:txBody>
      </p:sp>
      <p:sp>
        <p:nvSpPr>
          <p:cNvPr id="12" name="Text 9"/>
          <p:cNvSpPr txBox="1"/>
          <p:nvPr/>
        </p:nvSpPr>
        <p:spPr>
          <a:xfrm>
            <a:off x="2331720" y="1097280"/>
            <a:ext cx="2240280" cy="548640"/>
          </a:xfrm>
          <a:prstGeom prst="rect">
            <a:avLst/>
          </a:prstGeom>
          <a:noFill/>
          <a:ln/>
        </p:spPr>
        <p:txBody>
          <a:bodyPr wrap="square" lIns="0" tIns="0" rIns="0" bIns="0" rtlCol="0" anchor="ctr"/>
          <a:lstStyle/>
          <a:p>
            <a:pPr indent="0" marL="0">
              <a:buNone/>
            </a:pPr>
            <a:r>
              <a:rPr lang="en-US" sz="1100" dirty="0">
                <a:solidFill>
                  <a:schemeClr val="bg1"/>
                </a:solidFill>
              </a:rPr>
              <a:t>Verificati su fonti affidabili</a:t>
            </a:r>
            <a:endParaRPr lang="en-US" sz="1100" dirty="0"/>
          </a:p>
        </p:txBody>
      </p:sp>
      <p:sp>
        <p:nvSpPr>
          <p:cNvPr id="13" name="Affermazioni probabili"/>
          <p:cNvSpPr/>
          <p:nvPr/>
        </p:nvSpPr>
        <p:spPr>
          <a:xfrm>
            <a:off x="457200" y="1737360"/>
            <a:ext cx="3977640" cy="548640"/>
          </a:xfrm>
          <a:prstGeom prst="roundRect">
            <a:avLst>
              <a:gd name="adj" fmla="val 13333"/>
            </a:avLst>
          </a:prstGeom>
          <a:solidFill>
            <a:schemeClr val="accent6"/>
          </a:solidFill>
          <a:ln/>
        </p:spPr>
      </p:sp>
      <p:sp>
        <p:nvSpPr>
          <p:cNvPr id="14" name="Text 11"/>
          <p:cNvSpPr txBox="1"/>
          <p:nvPr/>
        </p:nvSpPr>
        <p:spPr>
          <a:xfrm>
            <a:off x="594360" y="1737360"/>
            <a:ext cx="1691640" cy="548640"/>
          </a:xfrm>
          <a:prstGeom prst="rect">
            <a:avLst/>
          </a:prstGeom>
          <a:noFill/>
          <a:ln/>
        </p:spPr>
        <p:txBody>
          <a:bodyPr wrap="square" lIns="0" tIns="0" rIns="0" bIns="0" rtlCol="0" anchor="ctr"/>
          <a:lstStyle/>
          <a:p>
            <a:pPr indent="0" marL="0">
              <a:buNone/>
            </a:pPr>
            <a:r>
              <a:rPr lang="en-US" sz="1300" b="1" dirty="0">
                <a:solidFill>
                  <a:schemeClr val="tx1"/>
                </a:solidFill>
              </a:rPr>
              <a:t>Affermazioni probabili</a:t>
            </a:r>
            <a:endParaRPr lang="en-US" sz="1300" dirty="0"/>
          </a:p>
        </p:txBody>
      </p:sp>
      <p:sp>
        <p:nvSpPr>
          <p:cNvPr id="15" name="Text 12"/>
          <p:cNvSpPr txBox="1"/>
          <p:nvPr/>
        </p:nvSpPr>
        <p:spPr>
          <a:xfrm>
            <a:off x="2331720" y="1737360"/>
            <a:ext cx="2011680" cy="548640"/>
          </a:xfrm>
          <a:prstGeom prst="rect">
            <a:avLst/>
          </a:prstGeom>
          <a:noFill/>
          <a:ln/>
        </p:spPr>
        <p:txBody>
          <a:bodyPr wrap="square" lIns="0" tIns="0" rIns="0" bIns="0" rtlCol="0" anchor="ctr"/>
          <a:lstStyle/>
          <a:p>
            <a:pPr indent="0" marL="0">
              <a:buNone/>
            </a:pPr>
            <a:r>
              <a:rPr lang="en-US" sz="1100" dirty="0">
                <a:solidFill>
                  <a:schemeClr val="tx1"/>
                </a:solidFill>
              </a:rPr>
              <a:t>Plausibili e coerenti, non verificate</a:t>
            </a:r>
            <a:endParaRPr lang="en-US" sz="1100" dirty="0"/>
          </a:p>
        </p:txBody>
      </p:sp>
      <p:sp>
        <p:nvSpPr>
          <p:cNvPr id="16" name="Ipotesi"/>
          <p:cNvSpPr/>
          <p:nvPr/>
        </p:nvSpPr>
        <p:spPr>
          <a:xfrm>
            <a:off x="457200" y="2377440"/>
            <a:ext cx="3749040" cy="548640"/>
          </a:xfrm>
          <a:prstGeom prst="roundRect">
            <a:avLst>
              <a:gd name="adj" fmla="val 13333"/>
            </a:avLst>
          </a:prstGeom>
          <a:solidFill>
            <a:schemeClr val="bg2"/>
          </a:solidFill>
          <a:ln/>
        </p:spPr>
      </p:sp>
      <p:sp>
        <p:nvSpPr>
          <p:cNvPr id="17" name="Text 14"/>
          <p:cNvSpPr txBox="1"/>
          <p:nvPr/>
        </p:nvSpPr>
        <p:spPr>
          <a:xfrm>
            <a:off x="594360" y="2377440"/>
            <a:ext cx="1691640" cy="548640"/>
          </a:xfrm>
          <a:prstGeom prst="rect">
            <a:avLst/>
          </a:prstGeom>
          <a:noFill/>
          <a:ln/>
        </p:spPr>
        <p:txBody>
          <a:bodyPr wrap="square" lIns="0" tIns="0" rIns="0" bIns="0" rtlCol="0" anchor="ctr"/>
          <a:lstStyle/>
          <a:p>
            <a:pPr indent="0" marL="0">
              <a:buNone/>
            </a:pPr>
            <a:r>
              <a:rPr lang="en-US" sz="1300" b="1" dirty="0">
                <a:solidFill>
                  <a:schemeClr val="tx1"/>
                </a:solidFill>
              </a:rPr>
              <a:t>Ipotesi</a:t>
            </a:r>
            <a:endParaRPr lang="en-US" sz="1300" dirty="0"/>
          </a:p>
        </p:txBody>
      </p:sp>
      <p:sp>
        <p:nvSpPr>
          <p:cNvPr id="18" name="Text 15"/>
          <p:cNvSpPr txBox="1"/>
          <p:nvPr/>
        </p:nvSpPr>
        <p:spPr>
          <a:xfrm>
            <a:off x="2331720" y="2377440"/>
            <a:ext cx="1783080" cy="548640"/>
          </a:xfrm>
          <a:prstGeom prst="rect">
            <a:avLst/>
          </a:prstGeom>
          <a:noFill/>
          <a:ln/>
        </p:spPr>
        <p:txBody>
          <a:bodyPr wrap="square" lIns="0" tIns="0" rIns="0" bIns="0" rtlCol="0" anchor="ctr"/>
          <a:lstStyle/>
          <a:p>
            <a:pPr indent="0" marL="0">
              <a:buNone/>
            </a:pPr>
            <a:r>
              <a:rPr lang="en-US" sz="1100" dirty="0">
                <a:solidFill>
                  <a:schemeClr val="tx1"/>
                </a:solidFill>
              </a:rPr>
              <a:t>Possibili, senza evidenze sufficienti</a:t>
            </a:r>
            <a:endParaRPr lang="en-US" sz="1100" dirty="0"/>
          </a:p>
        </p:txBody>
      </p:sp>
      <p:sp>
        <p:nvSpPr>
          <p:cNvPr id="19" name="Non verificati"/>
          <p:cNvSpPr/>
          <p:nvPr/>
        </p:nvSpPr>
        <p:spPr>
          <a:xfrm>
            <a:off x="457200" y="3017520"/>
            <a:ext cx="3520440" cy="548640"/>
          </a:xfrm>
          <a:prstGeom prst="roundRect">
            <a:avLst>
              <a:gd name="adj" fmla="val 13333"/>
            </a:avLst>
          </a:prstGeom>
          <a:solidFill>
            <a:schemeClr val="bg1"/>
          </a:solidFill>
          <a:ln w="12700">
            <a:solidFill>
              <a:schemeClr val="accent3"/>
            </a:solidFill>
            <a:prstDash val="dash"/>
          </a:ln>
        </p:spPr>
      </p:sp>
      <p:sp>
        <p:nvSpPr>
          <p:cNvPr id="20" name="Text 17"/>
          <p:cNvSpPr txBox="1"/>
          <p:nvPr/>
        </p:nvSpPr>
        <p:spPr>
          <a:xfrm>
            <a:off x="594360" y="3017520"/>
            <a:ext cx="1691640" cy="548640"/>
          </a:xfrm>
          <a:prstGeom prst="rect">
            <a:avLst/>
          </a:prstGeom>
          <a:noFill/>
          <a:ln/>
        </p:spPr>
        <p:txBody>
          <a:bodyPr wrap="square" lIns="0" tIns="0" rIns="0" bIns="0" rtlCol="0" anchor="ctr"/>
          <a:lstStyle/>
          <a:p>
            <a:pPr indent="0" marL="0">
              <a:buNone/>
            </a:pPr>
            <a:r>
              <a:rPr lang="en-US" sz="1300" b="1" dirty="0">
                <a:solidFill>
                  <a:schemeClr val="tx1"/>
                </a:solidFill>
              </a:rPr>
              <a:t>Non verificati</a:t>
            </a:r>
            <a:endParaRPr lang="en-US" sz="1300" dirty="0"/>
          </a:p>
        </p:txBody>
      </p:sp>
      <p:sp>
        <p:nvSpPr>
          <p:cNvPr id="21" name="Text 18"/>
          <p:cNvSpPr txBox="1"/>
          <p:nvPr/>
        </p:nvSpPr>
        <p:spPr>
          <a:xfrm>
            <a:off x="2331720" y="3017520"/>
            <a:ext cx="1554480" cy="548640"/>
          </a:xfrm>
          <a:prstGeom prst="rect">
            <a:avLst/>
          </a:prstGeom>
          <a:noFill/>
          <a:ln/>
        </p:spPr>
        <p:txBody>
          <a:bodyPr wrap="square" lIns="0" tIns="0" rIns="0" bIns="0" rtlCol="0" anchor="ctr"/>
          <a:lstStyle/>
          <a:p>
            <a:pPr indent="0" marL="0">
              <a:buNone/>
            </a:pPr>
            <a:r>
              <a:rPr lang="en-US" sz="1100" dirty="0">
                <a:solidFill>
                  <a:schemeClr val="tx1"/>
                </a:solidFill>
              </a:rPr>
              <a:t>Affidabilità sconosciuta, forse senza base</a:t>
            </a:r>
            <a:endParaRPr lang="en-US" sz="1100" dirty="0"/>
          </a:p>
        </p:txBody>
      </p:sp>
      <p:sp>
        <p:nvSpPr>
          <p:cNvPr id="22" name="Text 19"/>
          <p:cNvSpPr txBox="1"/>
          <p:nvPr/>
        </p:nvSpPr>
        <p:spPr>
          <a:xfrm>
            <a:off x="457200" y="3657600"/>
            <a:ext cx="4206240" cy="274320"/>
          </a:xfrm>
          <a:prstGeom prst="rect">
            <a:avLst/>
          </a:prstGeom>
          <a:noFill/>
          <a:ln/>
        </p:spPr>
        <p:txBody>
          <a:bodyPr wrap="square" lIns="0" tIns="0" rIns="0" bIns="0" rtlCol="0" anchor="t"/>
          <a:lstStyle/>
          <a:p>
            <a:pPr indent="0" marL="0">
              <a:buNone/>
            </a:pPr>
            <a:r>
              <a:rPr lang="en-US" sz="1000" i="1" dirty="0">
                <a:solidFill>
                  <a:schemeClr val="accent2"/>
                </a:solidFill>
              </a:rPr>
              <a:t>Livello di certezza decrescente</a:t>
            </a:r>
            <a:endParaRPr lang="en-US" sz="1000" dirty="0"/>
          </a:p>
        </p:txBody>
      </p:sp>
      <p:sp>
        <p:nvSpPr>
          <p:cNvPr id="23" name="tono"/>
          <p:cNvSpPr/>
          <p:nvPr/>
        </p:nvSpPr>
        <p:spPr>
          <a:xfrm>
            <a:off x="4937760" y="1097280"/>
            <a:ext cx="3749040" cy="2788920"/>
          </a:xfrm>
          <a:prstGeom prst="roundRect">
            <a:avLst>
              <a:gd name="adj" fmla="val 2623"/>
            </a:avLst>
          </a:prstGeom>
          <a:solidFill>
            <a:schemeClr val="tx1"/>
          </a:solidFill>
          <a:ln/>
        </p:spPr>
      </p:sp>
      <p:sp>
        <p:nvSpPr>
          <p:cNvPr id="24" name="Text 21"/>
          <p:cNvSpPr txBox="1"/>
          <p:nvPr/>
        </p:nvSpPr>
        <p:spPr>
          <a:xfrm>
            <a:off x="5120640" y="1234440"/>
            <a:ext cx="3383280" cy="685800"/>
          </a:xfrm>
          <a:prstGeom prst="rect">
            <a:avLst/>
          </a:prstGeom>
          <a:noFill/>
          <a:ln/>
        </p:spPr>
        <p:txBody>
          <a:bodyPr wrap="square" lIns="0" tIns="0" rIns="0" bIns="0" rtlCol="0" anchor="t"/>
          <a:lstStyle/>
          <a:p>
            <a:pPr indent="0" marL="0">
              <a:buNone/>
            </a:pPr>
            <a:r>
              <a:rPr lang="en-US" sz="1600" b="1" dirty="0">
                <a:solidFill>
                  <a:schemeClr val="bg1"/>
                </a:solidFill>
              </a:rPr>
              <a:t>Il tono sicuro non misura la correttezza</a:t>
            </a:r>
            <a:endParaRPr lang="en-US" sz="1600" dirty="0"/>
          </a:p>
        </p:txBody>
      </p:sp>
      <p:sp>
        <p:nvSpPr>
          <p:cNvPr id="25" name="Text 22"/>
          <p:cNvSpPr txBox="1"/>
          <p:nvPr/>
        </p:nvSpPr>
        <p:spPr>
          <a:xfrm>
            <a:off x="5120640" y="1965960"/>
            <a:ext cx="3383280" cy="1737360"/>
          </a:xfrm>
          <a:prstGeom prst="rect">
            <a:avLst/>
          </a:prstGeom>
          <a:noFill/>
          <a:ln/>
        </p:spPr>
        <p:txBody>
          <a:bodyPr wrap="square" lIns="0" tIns="0" rIns="0" bIns="0" rtlCol="0" anchor="t"/>
          <a:lstStyle/>
          <a:p>
            <a:pPr indent="0" marL="0">
              <a:buNone/>
            </a:pPr>
            <a:r>
              <a:rPr lang="en-US" sz="1300" dirty="0">
                <a:solidFill>
                  <a:schemeClr val="accent3"/>
                </a:solidFill>
              </a:rPr>
              <a:t>Il sistema può affermare con sicurezza qualcosa di inventato e con cautela qualcosa di corretto. Il livello di fiducia lo attribuisce chi valuta, sulle evidenze.</a:t>
            </a:r>
            <a:endParaRPr lang="en-US" sz="1300" dirty="0"/>
          </a:p>
        </p:txBody>
      </p:sp>
      <p:sp>
        <p:nvSpPr>
          <p:cNvPr id="26" name="Text 23"/>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200" i="1" dirty="0">
                <a:solidFill>
                  <a:schemeClr val="tx1"/>
                </a:solidFill>
              </a:rPr>
              <a:t>Si può chiedere al sistema il grado di certezza: indicazione utile, da prendere con cautela.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Contenuti verificati e non verificati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voce 1"/>
          <p:cNvSpPr/>
          <p:nvPr/>
        </p:nvSpPr>
        <p:spPr>
          <a:xfrm>
            <a:off x="457200" y="1097280"/>
            <a:ext cx="8229600" cy="566928"/>
          </a:xfrm>
          <a:prstGeom prst="roundRect">
            <a:avLst>
              <a:gd name="adj" fmla="val 12903"/>
            </a:avLst>
          </a:prstGeom>
          <a:solidFill>
            <a:schemeClr val="bg2"/>
          </a:solidFill>
          <a:ln/>
        </p:spPr>
      </p:sp>
      <p:sp>
        <p:nvSpPr>
          <p:cNvPr id="11" name="Text 8"/>
          <p:cNvSpPr txBox="1"/>
          <p:nvPr/>
        </p:nvSpPr>
        <p:spPr>
          <a:xfrm>
            <a:off x="566928" y="109728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2" name="Text 9"/>
          <p:cNvSpPr txBox="1"/>
          <p:nvPr/>
        </p:nvSpPr>
        <p:spPr>
          <a:xfrm>
            <a:off x="960120" y="1097280"/>
            <a:ext cx="7589520" cy="566928"/>
          </a:xfrm>
          <a:prstGeom prst="rect">
            <a:avLst/>
          </a:prstGeom>
          <a:noFill/>
          <a:ln/>
        </p:spPr>
        <p:txBody>
          <a:bodyPr wrap="square" lIns="0" tIns="0" rIns="0" bIns="0" rtlCol="0" anchor="ctr"/>
          <a:lstStyle/>
          <a:p>
            <a:pPr indent="0" marL="0">
              <a:buNone/>
            </a:pPr>
            <a:r>
              <a:rPr lang="en-US" sz="1300" dirty="0">
                <a:solidFill>
                  <a:schemeClr val="tx1"/>
                </a:solidFill>
              </a:rPr>
              <a:t>Evidenziare le affermazioni da verificare e togliere il segno dopo il controllo</a:t>
            </a:r>
            <a:endParaRPr lang="en-US" sz="1300" dirty="0"/>
          </a:p>
        </p:txBody>
      </p:sp>
      <p:sp>
        <p:nvSpPr>
          <p:cNvPr id="13" name="voce 2"/>
          <p:cNvSpPr/>
          <p:nvPr/>
        </p:nvSpPr>
        <p:spPr>
          <a:xfrm>
            <a:off x="457200" y="1737360"/>
            <a:ext cx="8229600" cy="566928"/>
          </a:xfrm>
          <a:prstGeom prst="roundRect">
            <a:avLst>
              <a:gd name="adj" fmla="val 12903"/>
            </a:avLst>
          </a:prstGeom>
          <a:solidFill>
            <a:schemeClr val="bg1"/>
          </a:solidFill>
          <a:ln/>
        </p:spPr>
      </p:sp>
      <p:sp>
        <p:nvSpPr>
          <p:cNvPr id="14" name="Text 11"/>
          <p:cNvSpPr txBox="1"/>
          <p:nvPr/>
        </p:nvSpPr>
        <p:spPr>
          <a:xfrm>
            <a:off x="566928" y="173736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5" name="Text 12"/>
          <p:cNvSpPr txBox="1"/>
          <p:nvPr/>
        </p:nvSpPr>
        <p:spPr>
          <a:xfrm>
            <a:off x="960120" y="1737360"/>
            <a:ext cx="7589520" cy="566928"/>
          </a:xfrm>
          <a:prstGeom prst="rect">
            <a:avLst/>
          </a:prstGeom>
          <a:noFill/>
          <a:ln/>
        </p:spPr>
        <p:txBody>
          <a:bodyPr wrap="square" lIns="0" tIns="0" rIns="0" bIns="0" rtlCol="0" anchor="ctr"/>
          <a:lstStyle/>
          <a:p>
            <a:pPr indent="0" marL="0">
              <a:buNone/>
            </a:pPr>
            <a:r>
              <a:rPr lang="en-US" sz="1300" dirty="0">
                <a:solidFill>
                  <a:schemeClr val="tx1"/>
                </a:solidFill>
              </a:rPr>
              <a:t>Chiedere al sistema di contrassegnare ciò che non deriva dai documenti forniti</a:t>
            </a:r>
            <a:endParaRPr lang="en-US" sz="1300" dirty="0"/>
          </a:p>
        </p:txBody>
      </p:sp>
      <p:sp>
        <p:nvSpPr>
          <p:cNvPr id="16" name="voce 3"/>
          <p:cNvSpPr/>
          <p:nvPr/>
        </p:nvSpPr>
        <p:spPr>
          <a:xfrm>
            <a:off x="457200" y="2377440"/>
            <a:ext cx="8229600" cy="566928"/>
          </a:xfrm>
          <a:prstGeom prst="roundRect">
            <a:avLst>
              <a:gd name="adj" fmla="val 12903"/>
            </a:avLst>
          </a:prstGeom>
          <a:solidFill>
            <a:schemeClr val="bg2"/>
          </a:solidFill>
          <a:ln/>
        </p:spPr>
      </p:sp>
      <p:sp>
        <p:nvSpPr>
          <p:cNvPr id="17" name="Text 14"/>
          <p:cNvSpPr txBox="1"/>
          <p:nvPr/>
        </p:nvSpPr>
        <p:spPr>
          <a:xfrm>
            <a:off x="566928" y="237744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8" name="Text 15"/>
          <p:cNvSpPr txBox="1"/>
          <p:nvPr/>
        </p:nvSpPr>
        <p:spPr>
          <a:xfrm>
            <a:off x="960120" y="2377440"/>
            <a:ext cx="7589520" cy="566928"/>
          </a:xfrm>
          <a:prstGeom prst="rect">
            <a:avLst/>
          </a:prstGeom>
          <a:noFill/>
          <a:ln/>
        </p:spPr>
        <p:txBody>
          <a:bodyPr wrap="square" lIns="0" tIns="0" rIns="0" bIns="0" rtlCol="0" anchor="ctr"/>
          <a:lstStyle/>
          <a:p>
            <a:pPr indent="0" marL="0">
              <a:buNone/>
            </a:pPr>
            <a:r>
              <a:rPr lang="en-US" sz="1300" dirty="0">
                <a:solidFill>
                  <a:schemeClr val="tx1"/>
                </a:solidFill>
              </a:rPr>
              <a:t>Tenere un elenco dei punti verificati e delle fonti usate</a:t>
            </a:r>
            <a:endParaRPr lang="en-US" sz="1300" dirty="0"/>
          </a:p>
        </p:txBody>
      </p:sp>
      <p:sp>
        <p:nvSpPr>
          <p:cNvPr id="19" name="voce 4"/>
          <p:cNvSpPr/>
          <p:nvPr/>
        </p:nvSpPr>
        <p:spPr>
          <a:xfrm>
            <a:off x="457200" y="3017520"/>
            <a:ext cx="8229600" cy="566928"/>
          </a:xfrm>
          <a:prstGeom prst="roundRect">
            <a:avLst>
              <a:gd name="adj" fmla="val 12903"/>
            </a:avLst>
          </a:prstGeom>
          <a:solidFill>
            <a:schemeClr val="bg1"/>
          </a:solidFill>
          <a:ln/>
        </p:spPr>
      </p:sp>
      <p:sp>
        <p:nvSpPr>
          <p:cNvPr id="20" name="Text 17"/>
          <p:cNvSpPr txBox="1"/>
          <p:nvPr/>
        </p:nvSpPr>
        <p:spPr>
          <a:xfrm>
            <a:off x="566928" y="301752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1" name="Text 18"/>
          <p:cNvSpPr txBox="1"/>
          <p:nvPr/>
        </p:nvSpPr>
        <p:spPr>
          <a:xfrm>
            <a:off x="960120" y="3017520"/>
            <a:ext cx="7589520" cy="566928"/>
          </a:xfrm>
          <a:prstGeom prst="rect">
            <a:avLst/>
          </a:prstGeom>
          <a:noFill/>
          <a:ln/>
        </p:spPr>
        <p:txBody>
          <a:bodyPr wrap="square" lIns="0" tIns="0" rIns="0" bIns="0" rtlCol="0" anchor="ctr"/>
          <a:lstStyle/>
          <a:p>
            <a:pPr indent="0" marL="0">
              <a:buNone/>
            </a:pPr>
            <a:r>
              <a:rPr lang="en-US" sz="1300" dirty="0">
                <a:solidFill>
                  <a:schemeClr val="tx1"/>
                </a:solidFill>
              </a:rPr>
              <a:t>Segnalare chiaramente quando una bozza contiene contenuti non ancora verificati</a:t>
            </a:r>
            <a:endParaRPr lang="en-US" sz="1300" dirty="0"/>
          </a:p>
        </p:txBody>
      </p:sp>
      <p:sp>
        <p:nvSpPr>
          <p:cNvPr id="22" name="messaggio"/>
          <p:cNvSpPr/>
          <p:nvPr/>
        </p:nvSpPr>
        <p:spPr>
          <a:xfrm>
            <a:off x="457200" y="3657600"/>
            <a:ext cx="8229600" cy="822960"/>
          </a:xfrm>
          <a:prstGeom prst="roundRect">
            <a:avLst>
              <a:gd name="adj" fmla="val 8889"/>
            </a:avLst>
          </a:prstGeom>
          <a:solidFill>
            <a:schemeClr val="tx1"/>
          </a:solidFill>
          <a:ln/>
        </p:spPr>
      </p:sp>
      <p:sp>
        <p:nvSpPr>
          <p:cNvPr id="23" name="Text 20"/>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Così i contenuti non verificati non passano inosservati e l'impegno di verifica si concentra dove serve.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risposta professionale nella forma può essere errata, incompleta o inadatta allo scopo.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7.2  ·  Valutare la qualità di un output</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Verifica delle informazioni e delle fonti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citazione non è automaticamente una prova: la fonte deve essere autentica, pertinente e sostenere l'affermazione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verificare: i punti critici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sto esempio"/>
          <p:cNvSpPr/>
          <p:nvPr/>
        </p:nvSpPr>
        <p:spPr>
          <a:xfrm>
            <a:off x="457200" y="1097280"/>
            <a:ext cx="4937760" cy="3429000"/>
          </a:xfrm>
          <a:prstGeom prst="roundRect">
            <a:avLst>
              <a:gd name="adj" fmla="val 2133"/>
            </a:avLst>
          </a:prstGeom>
          <a:solidFill>
            <a:schemeClr val="bg2"/>
          </a:solidFill>
          <a:ln/>
        </p:spPr>
      </p:sp>
      <p:sp>
        <p:nvSpPr>
          <p:cNvPr id="11" name="Text 8"/>
          <p:cNvSpPr txBox="1"/>
          <p:nvPr/>
        </p:nvSpPr>
        <p:spPr>
          <a:xfrm>
            <a:off x="640080" y="1188720"/>
            <a:ext cx="4572000" cy="274320"/>
          </a:xfrm>
          <a:prstGeom prst="rect">
            <a:avLst/>
          </a:prstGeom>
          <a:noFill/>
          <a:ln/>
        </p:spPr>
        <p:txBody>
          <a:bodyPr wrap="square" lIns="0" tIns="0" rIns="0" bIns="0" rtlCol="0" anchor="t"/>
          <a:lstStyle/>
          <a:p>
            <a:pPr indent="0" marL="0">
              <a:buNone/>
            </a:pPr>
            <a:r>
              <a:rPr lang="en-US" sz="1100" b="1" dirty="0">
                <a:solidFill>
                  <a:schemeClr val="accent1"/>
                </a:solidFill>
              </a:rPr>
              <a:t>Esempio: testo prodotto dall'AI</a:t>
            </a:r>
            <a:endParaRPr lang="en-US" sz="1100" dirty="0"/>
          </a:p>
        </p:txBody>
      </p:sp>
      <p:sp>
        <p:nvSpPr>
          <p:cNvPr id="12" name="Text 9"/>
          <p:cNvSpPr txBox="1"/>
          <p:nvPr/>
        </p:nvSpPr>
        <p:spPr>
          <a:xfrm>
            <a:off x="640080" y="1554480"/>
            <a:ext cx="4572000" cy="2377440"/>
          </a:xfrm>
          <a:prstGeom prst="rect">
            <a:avLst/>
          </a:prstGeom>
          <a:noFill/>
          <a:ln/>
        </p:spPr>
        <p:txBody>
          <a:bodyPr wrap="square" lIns="0" tIns="0" rIns="0" bIns="0" rtlCol="0" anchor="t"/>
          <a:lstStyle/>
          <a:p>
            <a:pPr indent="0" marL="0">
              <a:buNone/>
            </a:pPr>
            <a:r>
              <a:rPr lang="en-US" sz="1400" dirty="0">
                <a:solidFill>
                  <a:schemeClr val="tx2"/>
                </a:solidFill>
              </a:rPr>
              <a:t>Il lavoro agile è sempre più diffuso nelle aziende italiane. </a:t>
            </a:r>
            <a:pPr indent="0" marL="0">
              <a:buNone/>
            </a:pPr>
            <a:r>
              <a:rPr lang="en-US" sz="1400" b="1" dirty="0">
                <a:solidFill>
                  <a:schemeClr val="tx1"/>
                </a:solidFill>
                <a:highlight>
                  <a:srgbClr val="E6F0EF"/>
                </a:highlight>
              </a:rPr>
              <a:t>Secondo l'Osservatorio X, nel 2025 lo praticavano 3,5 milioni di lavoratori</a:t>
            </a:r>
            <a:pPr indent="0" marL="0">
              <a:buNone/>
            </a:pPr>
            <a:r>
              <a:rPr lang="en-US" sz="1400" dirty="0">
                <a:solidFill>
                  <a:schemeClr val="tx2"/>
                </a:solidFill>
              </a:rPr>
              <a:t>, </a:t>
            </a:r>
            <a:pPr indent="0" marL="0">
              <a:buNone/>
            </a:pPr>
            <a:r>
              <a:rPr lang="en-US" sz="1400" b="1" dirty="0">
                <a:solidFill>
                  <a:schemeClr val="tx1"/>
                </a:solidFill>
                <a:highlight>
                  <a:srgbClr val="E6F0EF"/>
                </a:highlight>
              </a:rPr>
              <a:t>in crescita del 10% rispetto all'anno precedente</a:t>
            </a:r>
            <a:pPr indent="0" marL="0">
              <a:buNone/>
            </a:pPr>
            <a:r>
              <a:rPr lang="en-US" sz="1400" dirty="0">
                <a:solidFill>
                  <a:schemeClr val="tx2"/>
                </a:solidFill>
              </a:rPr>
              <a:t>. </a:t>
            </a:r>
            <a:pPr indent="0" marL="0">
              <a:buNone/>
            </a:pPr>
            <a:r>
              <a:rPr lang="en-US" sz="1400" b="1" dirty="0">
                <a:solidFill>
                  <a:schemeClr val="tx1"/>
                </a:solidFill>
                <a:highlight>
                  <a:srgbClr val="E6F0EF"/>
                </a:highlight>
              </a:rPr>
              <a:t>La normativa di riferimento è la legge 81 del 2017</a:t>
            </a:r>
            <a:pPr indent="0" marL="0">
              <a:buNone/>
            </a:pPr>
            <a:r>
              <a:rPr lang="en-US" sz="1400" dirty="0">
                <a:solidFill>
                  <a:schemeClr val="tx2"/>
                </a:solidFill>
              </a:rPr>
              <a:t>. Si tratta di un'opportunità importante per migliorare il benessere dei dipendenti.</a:t>
            </a:r>
            <a:endParaRPr lang="en-US" sz="1400" dirty="0"/>
          </a:p>
        </p:txBody>
      </p:sp>
      <p:sp>
        <p:nvSpPr>
          <p:cNvPr id="13" name="Text 10"/>
          <p:cNvSpPr txBox="1"/>
          <p:nvPr/>
        </p:nvSpPr>
        <p:spPr>
          <a:xfrm>
            <a:off x="640080" y="4023360"/>
            <a:ext cx="4572000" cy="411480"/>
          </a:xfrm>
          <a:prstGeom prst="rect">
            <a:avLst/>
          </a:prstGeom>
          <a:noFill/>
          <a:ln/>
        </p:spPr>
        <p:txBody>
          <a:bodyPr wrap="square" lIns="0" tIns="0" rIns="0" bIns="0" rtlCol="0" anchor="t"/>
          <a:lstStyle/>
          <a:p>
            <a:pPr indent="0" marL="0">
              <a:buNone/>
            </a:pPr>
            <a:r>
              <a:rPr lang="en-US" sz="1000" i="1" dirty="0">
                <a:solidFill>
                  <a:schemeClr val="accent2"/>
                </a:solidFill>
              </a:rPr>
              <a:t>In evidenza: affermazioni da verificare. Esempio illustrativo, dati non verificati.</a:t>
            </a:r>
            <a:endParaRPr lang="en-US" sz="1000" dirty="0"/>
          </a:p>
        </p:txBody>
      </p:sp>
      <p:sp>
        <p:nvSpPr>
          <p:cNvPr id="14" name="Text 11"/>
          <p:cNvSpPr txBox="1"/>
          <p:nvPr/>
        </p:nvSpPr>
        <p:spPr>
          <a:xfrm>
            <a:off x="5669280" y="1097280"/>
            <a:ext cx="3017520" cy="320040"/>
          </a:xfrm>
          <a:prstGeom prst="rect">
            <a:avLst/>
          </a:prstGeom>
          <a:noFill/>
          <a:ln/>
        </p:spPr>
        <p:txBody>
          <a:bodyPr wrap="square" lIns="0" tIns="0" rIns="0" bIns="0" rtlCol="0" anchor="t"/>
          <a:lstStyle/>
          <a:p>
            <a:pPr indent="0" marL="0">
              <a:buNone/>
            </a:pPr>
            <a:r>
              <a:rPr lang="en-US" sz="1400" b="1" dirty="0">
                <a:solidFill>
                  <a:schemeClr val="tx1"/>
                </a:solidFill>
              </a:rPr>
              <a:t>Criteri per scegliere</a:t>
            </a:r>
            <a:endParaRPr lang="en-US" sz="1400" dirty="0"/>
          </a:p>
        </p:txBody>
      </p:sp>
      <p:sp>
        <p:nvSpPr>
          <p:cNvPr id="15" name="cerchio FiStar"/>
          <p:cNvSpPr/>
          <p:nvPr/>
        </p:nvSpPr>
        <p:spPr>
          <a:xfrm>
            <a:off x="5669280" y="1508760"/>
            <a:ext cx="457200" cy="457200"/>
          </a:xfrm>
          <a:prstGeom prst="ellipse">
            <a:avLst/>
          </a:prstGeom>
          <a:solidFill>
            <a:schemeClr val="accent1"/>
          </a:solidFill>
          <a:ln/>
        </p:spPr>
      </p:sp>
      <p:pic>
        <p:nvPicPr>
          <p:cNvPr id="16" name="Image 0" descr="FiStar">    </p:cNvPr>
          <p:cNvPicPr>
            <a:picLocks noChangeAspect="1"/>
          </p:cNvPicPr>
          <p:nvPr/>
        </p:nvPicPr>
        <p:blipFill>
          <a:blip r:embed="rId1"/>
          <a:stretch>
            <a:fillRect/>
          </a:stretch>
        </p:blipFill>
        <p:spPr>
          <a:xfrm>
            <a:off x="5783580" y="1623060"/>
            <a:ext cx="228600" cy="228600"/>
          </a:xfrm>
          <a:prstGeom prst="rect">
            <a:avLst/>
          </a:prstGeom>
        </p:spPr>
      </p:pic>
      <p:sp>
        <p:nvSpPr>
          <p:cNvPr id="17" name="Text 13"/>
          <p:cNvSpPr txBox="1"/>
          <p:nvPr/>
        </p:nvSpPr>
        <p:spPr>
          <a:xfrm>
            <a:off x="6263640" y="1481328"/>
            <a:ext cx="2423160" cy="292608"/>
          </a:xfrm>
          <a:prstGeom prst="rect">
            <a:avLst/>
          </a:prstGeom>
          <a:noFill/>
          <a:ln/>
        </p:spPr>
        <p:txBody>
          <a:bodyPr wrap="square" lIns="0" tIns="0" rIns="0" bIns="0" rtlCol="0" anchor="t"/>
          <a:lstStyle/>
          <a:p>
            <a:pPr indent="0" marL="0">
              <a:buNone/>
            </a:pPr>
            <a:r>
              <a:rPr lang="en-US" sz="1300" b="1" dirty="0">
                <a:solidFill>
                  <a:schemeClr val="tx1"/>
                </a:solidFill>
              </a:rPr>
              <a:t>Importanza</a:t>
            </a:r>
            <a:endParaRPr lang="en-US" sz="1300" dirty="0"/>
          </a:p>
        </p:txBody>
      </p:sp>
      <p:sp>
        <p:nvSpPr>
          <p:cNvPr id="18" name="Text 14"/>
          <p:cNvSpPr txBox="1"/>
          <p:nvPr/>
        </p:nvSpPr>
        <p:spPr>
          <a:xfrm>
            <a:off x="6263640" y="1783080"/>
            <a:ext cx="2423160" cy="457200"/>
          </a:xfrm>
          <a:prstGeom prst="rect">
            <a:avLst/>
          </a:prstGeom>
          <a:noFill/>
          <a:ln/>
        </p:spPr>
        <p:txBody>
          <a:bodyPr wrap="square" lIns="0" tIns="0" rIns="0" bIns="0" rtlCol="0" anchor="t"/>
          <a:lstStyle/>
          <a:p>
            <a:pPr indent="0" marL="0">
              <a:buNone/>
            </a:pPr>
            <a:r>
              <a:rPr lang="en-US" sz="1100" dirty="0">
                <a:solidFill>
                  <a:schemeClr val="tx2"/>
                </a:solidFill>
              </a:rPr>
              <a:t>Quanto pesa sulla decisione</a:t>
            </a:r>
            <a:endParaRPr lang="en-US" sz="1100" dirty="0"/>
          </a:p>
        </p:txBody>
      </p:sp>
      <p:sp>
        <p:nvSpPr>
          <p:cNvPr id="19" name="cerchio FiAlertTriangle"/>
          <p:cNvSpPr/>
          <p:nvPr/>
        </p:nvSpPr>
        <p:spPr>
          <a:xfrm>
            <a:off x="5669280" y="2468880"/>
            <a:ext cx="457200" cy="457200"/>
          </a:xfrm>
          <a:prstGeom prst="ellipse">
            <a:avLst/>
          </a:prstGeom>
          <a:solidFill>
            <a:schemeClr val="accent1"/>
          </a:solidFill>
          <a:ln/>
        </p:spPr>
      </p:sp>
      <p:pic>
        <p:nvPicPr>
          <p:cNvPr id="20" name="Image 1" descr="FiAlertTriangle">    </p:cNvPr>
          <p:cNvPicPr>
            <a:picLocks noChangeAspect="1"/>
          </p:cNvPicPr>
          <p:nvPr/>
        </p:nvPicPr>
        <p:blipFill>
          <a:blip r:embed="rId2"/>
          <a:stretch>
            <a:fillRect/>
          </a:stretch>
        </p:blipFill>
        <p:spPr>
          <a:xfrm>
            <a:off x="5783580" y="2583180"/>
            <a:ext cx="228600" cy="228600"/>
          </a:xfrm>
          <a:prstGeom prst="rect">
            <a:avLst/>
          </a:prstGeom>
        </p:spPr>
      </p:pic>
      <p:sp>
        <p:nvSpPr>
          <p:cNvPr id="21" name="Text 16"/>
          <p:cNvSpPr txBox="1"/>
          <p:nvPr/>
        </p:nvSpPr>
        <p:spPr>
          <a:xfrm>
            <a:off x="6263640" y="2441448"/>
            <a:ext cx="2423160" cy="292608"/>
          </a:xfrm>
          <a:prstGeom prst="rect">
            <a:avLst/>
          </a:prstGeom>
          <a:noFill/>
          <a:ln/>
        </p:spPr>
        <p:txBody>
          <a:bodyPr wrap="square" lIns="0" tIns="0" rIns="0" bIns="0" rtlCol="0" anchor="t"/>
          <a:lstStyle/>
          <a:p>
            <a:pPr indent="0" marL="0">
              <a:buNone/>
            </a:pPr>
            <a:r>
              <a:rPr lang="en-US" sz="1300" b="1" dirty="0">
                <a:solidFill>
                  <a:schemeClr val="tx1"/>
                </a:solidFill>
              </a:rPr>
              <a:t>Rischio di errore</a:t>
            </a:r>
            <a:endParaRPr lang="en-US" sz="1300" dirty="0"/>
          </a:p>
        </p:txBody>
      </p:sp>
      <p:sp>
        <p:nvSpPr>
          <p:cNvPr id="22" name="Text 17"/>
          <p:cNvSpPr txBox="1"/>
          <p:nvPr/>
        </p:nvSpPr>
        <p:spPr>
          <a:xfrm>
            <a:off x="6263640" y="2743200"/>
            <a:ext cx="2423160" cy="457200"/>
          </a:xfrm>
          <a:prstGeom prst="rect">
            <a:avLst/>
          </a:prstGeom>
          <a:noFill/>
          <a:ln/>
        </p:spPr>
        <p:txBody>
          <a:bodyPr wrap="square" lIns="0" tIns="0" rIns="0" bIns="0" rtlCol="0" anchor="t"/>
          <a:lstStyle/>
          <a:p>
            <a:pPr indent="0" marL="0">
              <a:buNone/>
            </a:pPr>
            <a:r>
              <a:rPr lang="en-US" sz="1100" dirty="0">
                <a:solidFill>
                  <a:schemeClr val="tx2"/>
                </a:solidFill>
              </a:rPr>
              <a:t>Numeri, date, nomi, norme, novità</a:t>
            </a:r>
            <a:endParaRPr lang="en-US" sz="1100" dirty="0"/>
          </a:p>
        </p:txBody>
      </p:sp>
      <p:sp>
        <p:nvSpPr>
          <p:cNvPr id="23" name="cerchio FiEye"/>
          <p:cNvSpPr/>
          <p:nvPr/>
        </p:nvSpPr>
        <p:spPr>
          <a:xfrm>
            <a:off x="5669280" y="3429000"/>
            <a:ext cx="457200" cy="457200"/>
          </a:xfrm>
          <a:prstGeom prst="ellipse">
            <a:avLst/>
          </a:prstGeom>
          <a:solidFill>
            <a:schemeClr val="accent1"/>
          </a:solidFill>
          <a:ln/>
        </p:spPr>
      </p:sp>
      <p:pic>
        <p:nvPicPr>
          <p:cNvPr id="24" name="Image 2" descr="FiEye">    </p:cNvPr>
          <p:cNvPicPr>
            <a:picLocks noChangeAspect="1"/>
          </p:cNvPicPr>
          <p:nvPr/>
        </p:nvPicPr>
        <p:blipFill>
          <a:blip r:embed="rId3"/>
          <a:stretch>
            <a:fillRect/>
          </a:stretch>
        </p:blipFill>
        <p:spPr>
          <a:xfrm>
            <a:off x="5783580" y="3543300"/>
            <a:ext cx="228600" cy="228600"/>
          </a:xfrm>
          <a:prstGeom prst="rect">
            <a:avLst/>
          </a:prstGeom>
        </p:spPr>
      </p:pic>
      <p:sp>
        <p:nvSpPr>
          <p:cNvPr id="25" name="Text 19"/>
          <p:cNvSpPr txBox="1"/>
          <p:nvPr/>
        </p:nvSpPr>
        <p:spPr>
          <a:xfrm>
            <a:off x="6263640" y="3401568"/>
            <a:ext cx="2423160" cy="292608"/>
          </a:xfrm>
          <a:prstGeom prst="rect">
            <a:avLst/>
          </a:prstGeom>
          <a:noFill/>
          <a:ln/>
        </p:spPr>
        <p:txBody>
          <a:bodyPr wrap="square" lIns="0" tIns="0" rIns="0" bIns="0" rtlCol="0" anchor="t"/>
          <a:lstStyle/>
          <a:p>
            <a:pPr indent="0" marL="0">
              <a:buNone/>
            </a:pPr>
            <a:r>
              <a:rPr lang="en-US" sz="1300" b="1" dirty="0">
                <a:solidFill>
                  <a:schemeClr val="tx1"/>
                </a:solidFill>
              </a:rPr>
              <a:t>Visibilità</a:t>
            </a:r>
            <a:endParaRPr lang="en-US" sz="1300" dirty="0"/>
          </a:p>
        </p:txBody>
      </p:sp>
      <p:sp>
        <p:nvSpPr>
          <p:cNvPr id="26" name="Text 20"/>
          <p:cNvSpPr txBox="1"/>
          <p:nvPr/>
        </p:nvSpPr>
        <p:spPr>
          <a:xfrm>
            <a:off x="6263640" y="3703320"/>
            <a:ext cx="2423160" cy="457200"/>
          </a:xfrm>
          <a:prstGeom prst="rect">
            <a:avLst/>
          </a:prstGeom>
          <a:noFill/>
          <a:ln/>
        </p:spPr>
        <p:txBody>
          <a:bodyPr wrap="square" lIns="0" tIns="0" rIns="0" bIns="0" rtlCol="0" anchor="t"/>
          <a:lstStyle/>
          <a:p>
            <a:pPr indent="0" marL="0">
              <a:buNone/>
            </a:pPr>
            <a:r>
              <a:rPr lang="en-US" sz="1100" dirty="0">
                <a:solidFill>
                  <a:schemeClr val="tx2"/>
                </a:solidFill>
              </a:rPr>
              <a:t>Quanto l'errore sarebbe esposto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primarie e secondarie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56692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Fonti primarie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Fonti secondarie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tx1"/>
                          </a:solidFill>
                        </a:rPr>
                        <a:t>Che cosa sono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All'origine dell'informazione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Riportano, sintetizzano, commentano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Testo di legge, bilancio ufficiale, rapporto originale, contratto, dati del gestionale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Articoli, blog, sintesi, presentazioni, enciclopedie, risposte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Utili per</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Verificare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Orientarsi e trovare le primarie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Rischio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Basso, se autentiche e aggiornate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Semplificazioni, interpretazioni, imprecisioni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4023360"/>
            <a:ext cx="8229600" cy="502920"/>
          </a:xfrm>
          <a:prstGeom prst="roundRect">
            <a:avLst>
              <a:gd name="adj" fmla="val 14545"/>
            </a:avLst>
          </a:prstGeom>
          <a:solidFill>
            <a:schemeClr val="tx1"/>
          </a:solidFill>
          <a:ln/>
        </p:spPr>
      </p:sp>
      <p:sp>
        <p:nvSpPr>
          <p:cNvPr id="12" name="Text 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Per le informazioni importanti, risalire alla fonte primaria. L'output dell'AI è al massimo una fonte secondaria.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fonte esistente non basta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xt 7"/>
          <p:cNvSpPr txBox="1"/>
          <p:nvPr/>
        </p:nvSpPr>
        <p:spPr>
          <a:xfrm>
            <a:off x="457200" y="1051560"/>
            <a:ext cx="4572000" cy="274320"/>
          </a:xfrm>
          <a:prstGeom prst="rect">
            <a:avLst/>
          </a:prstGeom>
          <a:noFill/>
          <a:ln/>
        </p:spPr>
        <p:txBody>
          <a:bodyPr wrap="square" lIns="0" tIns="0" rIns="0" bIns="0" rtlCol="0" anchor="t"/>
          <a:lstStyle/>
          <a:p>
            <a:pPr indent="0" marL="0">
              <a:buNone/>
            </a:pPr>
            <a:r>
              <a:rPr lang="en-US" sz="1300" b="1" dirty="0">
                <a:solidFill>
                  <a:schemeClr val="accent5"/>
                </a:solidFill>
              </a:rPr>
              <a:t>Quando la fonte esiste ma non sostiene l'affermazione</a:t>
            </a:r>
            <a:endParaRPr lang="en-US" sz="1300" dirty="0"/>
          </a:p>
        </p:txBody>
      </p:sp>
      <p:sp>
        <p:nvSpPr>
          <p:cNvPr id="11" name="riga 0"/>
          <p:cNvSpPr/>
          <p:nvPr/>
        </p:nvSpPr>
        <p:spPr>
          <a:xfrm>
            <a:off x="457200" y="1417320"/>
            <a:ext cx="4572000" cy="502920"/>
          </a:xfrm>
          <a:prstGeom prst="roundRect">
            <a:avLst>
              <a:gd name="adj" fmla="val 14545"/>
            </a:avLst>
          </a:prstGeom>
          <a:solidFill>
            <a:schemeClr val="bg2"/>
          </a:solidFill>
          <a:ln/>
        </p:spPr>
      </p:sp>
      <p:sp>
        <p:nvSpPr>
          <p:cNvPr id="12" name="Text 9"/>
          <p:cNvSpPr txBox="1"/>
          <p:nvPr/>
        </p:nvSpPr>
        <p:spPr>
          <a:xfrm>
            <a:off x="640080" y="1417320"/>
            <a:ext cx="4206240" cy="502920"/>
          </a:xfrm>
          <a:prstGeom prst="rect">
            <a:avLst/>
          </a:prstGeom>
          <a:noFill/>
          <a:ln/>
        </p:spPr>
        <p:txBody>
          <a:bodyPr wrap="square" lIns="0" tIns="0" rIns="0" bIns="0" rtlCol="0" anchor="ctr"/>
          <a:lstStyle/>
          <a:p>
            <a:pPr indent="0" marL="0">
              <a:buNone/>
            </a:pPr>
            <a:r>
              <a:rPr lang="en-US" sz="1200" dirty="0">
                <a:solidFill>
                  <a:schemeClr val="tx1"/>
                </a:solidFill>
              </a:rPr>
              <a:t>Tratta un argomento diverso o vicino</a:t>
            </a:r>
            <a:endParaRPr lang="en-US" sz="1200" dirty="0"/>
          </a:p>
        </p:txBody>
      </p:sp>
      <p:sp>
        <p:nvSpPr>
          <p:cNvPr id="13" name="riga 1"/>
          <p:cNvSpPr/>
          <p:nvPr/>
        </p:nvSpPr>
        <p:spPr>
          <a:xfrm>
            <a:off x="457200" y="1993392"/>
            <a:ext cx="4572000" cy="502920"/>
          </a:xfrm>
          <a:prstGeom prst="roundRect">
            <a:avLst>
              <a:gd name="adj" fmla="val 14545"/>
            </a:avLst>
          </a:prstGeom>
          <a:solidFill>
            <a:schemeClr val="bg1"/>
          </a:solidFill>
          <a:ln/>
        </p:spPr>
      </p:sp>
      <p:sp>
        <p:nvSpPr>
          <p:cNvPr id="14" name="Text 11"/>
          <p:cNvSpPr txBox="1"/>
          <p:nvPr/>
        </p:nvSpPr>
        <p:spPr>
          <a:xfrm>
            <a:off x="640080" y="1993392"/>
            <a:ext cx="4206240" cy="502920"/>
          </a:xfrm>
          <a:prstGeom prst="rect">
            <a:avLst/>
          </a:prstGeom>
          <a:noFill/>
          <a:ln/>
        </p:spPr>
        <p:txBody>
          <a:bodyPr wrap="square" lIns="0" tIns="0" rIns="0" bIns="0" rtlCol="0" anchor="ctr"/>
          <a:lstStyle/>
          <a:p>
            <a:pPr indent="0" marL="0">
              <a:buNone/>
            </a:pPr>
            <a:r>
              <a:rPr lang="en-US" sz="1200" dirty="0">
                <a:solidFill>
                  <a:schemeClr val="tx1"/>
                </a:solidFill>
              </a:rPr>
              <a:t>Dice una cosa diversa: numero, cautela, eccezione</a:t>
            </a:r>
            <a:endParaRPr lang="en-US" sz="1200" dirty="0"/>
          </a:p>
        </p:txBody>
      </p:sp>
      <p:sp>
        <p:nvSpPr>
          <p:cNvPr id="15" name="riga 2"/>
          <p:cNvSpPr/>
          <p:nvPr/>
        </p:nvSpPr>
        <p:spPr>
          <a:xfrm>
            <a:off x="457200" y="2569464"/>
            <a:ext cx="4572000" cy="502920"/>
          </a:xfrm>
          <a:prstGeom prst="roundRect">
            <a:avLst>
              <a:gd name="adj" fmla="val 14545"/>
            </a:avLst>
          </a:prstGeom>
          <a:solidFill>
            <a:schemeClr val="bg2"/>
          </a:solidFill>
          <a:ln/>
        </p:spPr>
      </p:sp>
      <p:sp>
        <p:nvSpPr>
          <p:cNvPr id="16" name="Text 13"/>
          <p:cNvSpPr txBox="1"/>
          <p:nvPr/>
        </p:nvSpPr>
        <p:spPr>
          <a:xfrm>
            <a:off x="640080" y="2569464"/>
            <a:ext cx="4206240" cy="502920"/>
          </a:xfrm>
          <a:prstGeom prst="rect">
            <a:avLst/>
          </a:prstGeom>
          <a:noFill/>
          <a:ln/>
        </p:spPr>
        <p:txBody>
          <a:bodyPr wrap="square" lIns="0" tIns="0" rIns="0" bIns="0" rtlCol="0" anchor="ctr"/>
          <a:lstStyle/>
          <a:p>
            <a:pPr indent="0" marL="0">
              <a:buNone/>
            </a:pPr>
            <a:r>
              <a:rPr lang="en-US" sz="1200" dirty="0">
                <a:solidFill>
                  <a:schemeClr val="tx1"/>
                </a:solidFill>
              </a:rPr>
              <a:t>Vale in un contesto diverso: paese, periodo, categoria</a:t>
            </a:r>
            <a:endParaRPr lang="en-US" sz="1200" dirty="0"/>
          </a:p>
        </p:txBody>
      </p:sp>
      <p:sp>
        <p:nvSpPr>
          <p:cNvPr id="17" name="riga 3"/>
          <p:cNvSpPr/>
          <p:nvPr/>
        </p:nvSpPr>
        <p:spPr>
          <a:xfrm>
            <a:off x="457200" y="3145536"/>
            <a:ext cx="4572000" cy="502920"/>
          </a:xfrm>
          <a:prstGeom prst="roundRect">
            <a:avLst>
              <a:gd name="adj" fmla="val 14545"/>
            </a:avLst>
          </a:prstGeom>
          <a:solidFill>
            <a:schemeClr val="bg1"/>
          </a:solidFill>
          <a:ln/>
        </p:spPr>
      </p:sp>
      <p:sp>
        <p:nvSpPr>
          <p:cNvPr id="18" name="Text 15"/>
          <p:cNvSpPr txBox="1"/>
          <p:nvPr/>
        </p:nvSpPr>
        <p:spPr>
          <a:xfrm>
            <a:off x="640080" y="3145536"/>
            <a:ext cx="4206240" cy="502920"/>
          </a:xfrm>
          <a:prstGeom prst="rect">
            <a:avLst/>
          </a:prstGeom>
          <a:noFill/>
          <a:ln/>
        </p:spPr>
        <p:txBody>
          <a:bodyPr wrap="square" lIns="0" tIns="0" rIns="0" bIns="0" rtlCol="0" anchor="ctr"/>
          <a:lstStyle/>
          <a:p>
            <a:pPr indent="0" marL="0">
              <a:buNone/>
            </a:pPr>
            <a:r>
              <a:rPr lang="en-US" sz="1200" dirty="0">
                <a:solidFill>
                  <a:schemeClr val="tx1"/>
                </a:solidFill>
              </a:rPr>
              <a:t>Non è attendibile o è superata</a:t>
            </a:r>
            <a:endParaRPr lang="en-US" sz="1200" dirty="0"/>
          </a:p>
        </p:txBody>
      </p:sp>
      <p:sp>
        <p:nvSpPr>
          <p:cNvPr id="19" name="Text 16"/>
          <p:cNvSpPr txBox="1"/>
          <p:nvPr/>
        </p:nvSpPr>
        <p:spPr>
          <a:xfrm>
            <a:off x="5303520" y="1051560"/>
            <a:ext cx="3383280" cy="274320"/>
          </a:xfrm>
          <a:prstGeom prst="rect">
            <a:avLst/>
          </a:prstGeom>
          <a:noFill/>
          <a:ln/>
        </p:spPr>
        <p:txBody>
          <a:bodyPr wrap="square" lIns="0" tIns="0" rIns="0" bIns="0" rtlCol="0" anchor="t"/>
          <a:lstStyle/>
          <a:p>
            <a:pPr indent="0" marL="0">
              <a:buNone/>
            </a:pPr>
            <a:r>
              <a:rPr lang="en-US" sz="1300" b="1" dirty="0">
                <a:solidFill>
                  <a:schemeClr val="accent1"/>
                </a:solidFill>
              </a:rPr>
              <a:t>Tre controlli in sequenza</a:t>
            </a:r>
            <a:endParaRPr lang="en-US" sz="1300" dirty="0"/>
          </a:p>
        </p:txBody>
      </p:sp>
      <p:sp>
        <p:nvSpPr>
          <p:cNvPr id="20" name="Autentica"/>
          <p:cNvSpPr/>
          <p:nvPr/>
        </p:nvSpPr>
        <p:spPr>
          <a:xfrm>
            <a:off x="5303520" y="1417320"/>
            <a:ext cx="3383280" cy="640080"/>
          </a:xfrm>
          <a:prstGeom prst="roundRect">
            <a:avLst>
              <a:gd name="adj" fmla="val 11429"/>
            </a:avLst>
          </a:prstGeom>
          <a:solidFill>
            <a:schemeClr val="accent6"/>
          </a:solidFill>
          <a:ln/>
        </p:spPr>
      </p:sp>
      <p:sp>
        <p:nvSpPr>
          <p:cNvPr id="21" name="Text 18"/>
          <p:cNvSpPr txBox="1"/>
          <p:nvPr/>
        </p:nvSpPr>
        <p:spPr>
          <a:xfrm>
            <a:off x="5440680" y="1444752"/>
            <a:ext cx="3108960" cy="292608"/>
          </a:xfrm>
          <a:prstGeom prst="rect">
            <a:avLst/>
          </a:prstGeom>
          <a:noFill/>
          <a:ln/>
        </p:spPr>
        <p:txBody>
          <a:bodyPr wrap="square" lIns="0" tIns="0" rIns="0" bIns="0" rtlCol="0" anchor="t"/>
          <a:lstStyle/>
          <a:p>
            <a:pPr indent="0" marL="0">
              <a:buNone/>
            </a:pPr>
            <a:r>
              <a:rPr lang="en-US" sz="1300" b="1" dirty="0">
                <a:solidFill>
                  <a:schemeClr val="tx1"/>
                </a:solidFill>
              </a:rPr>
              <a:t>1. Autentica</a:t>
            </a:r>
            <a:endParaRPr lang="en-US" sz="1300" dirty="0"/>
          </a:p>
        </p:txBody>
      </p:sp>
      <p:sp>
        <p:nvSpPr>
          <p:cNvPr id="22" name="Text 19"/>
          <p:cNvSpPr txBox="1"/>
          <p:nvPr/>
        </p:nvSpPr>
        <p:spPr>
          <a:xfrm>
            <a:off x="5440680" y="1737360"/>
            <a:ext cx="3108960" cy="292608"/>
          </a:xfrm>
          <a:prstGeom prst="rect">
            <a:avLst/>
          </a:prstGeom>
          <a:noFill/>
          <a:ln/>
        </p:spPr>
        <p:txBody>
          <a:bodyPr wrap="square" lIns="0" tIns="0" rIns="0" bIns="0" rtlCol="0" anchor="t"/>
          <a:lstStyle/>
          <a:p>
            <a:pPr indent="0" marL="0">
              <a:buNone/>
            </a:pPr>
            <a:r>
              <a:rPr lang="en-US" sz="1100" dirty="0">
                <a:solidFill>
                  <a:schemeClr val="tx2"/>
                </a:solidFill>
              </a:rPr>
              <a:t>Esiste ed è quella indicata?</a:t>
            </a:r>
            <a:endParaRPr lang="en-US" sz="1100" dirty="0"/>
          </a:p>
        </p:txBody>
      </p:sp>
      <p:sp>
        <p:nvSpPr>
          <p:cNvPr id="23" name="Pertinente"/>
          <p:cNvSpPr/>
          <p:nvPr/>
        </p:nvSpPr>
        <p:spPr>
          <a:xfrm>
            <a:off x="5303520" y="2148840"/>
            <a:ext cx="3383280" cy="640080"/>
          </a:xfrm>
          <a:prstGeom prst="roundRect">
            <a:avLst>
              <a:gd name="adj" fmla="val 11429"/>
            </a:avLst>
          </a:prstGeom>
          <a:solidFill>
            <a:schemeClr val="accent6"/>
          </a:solidFill>
          <a:ln/>
        </p:spPr>
      </p:sp>
      <p:sp>
        <p:nvSpPr>
          <p:cNvPr id="24" name="Text 21"/>
          <p:cNvSpPr txBox="1"/>
          <p:nvPr/>
        </p:nvSpPr>
        <p:spPr>
          <a:xfrm>
            <a:off x="5440680" y="2176272"/>
            <a:ext cx="3108960" cy="292608"/>
          </a:xfrm>
          <a:prstGeom prst="rect">
            <a:avLst/>
          </a:prstGeom>
          <a:noFill/>
          <a:ln/>
        </p:spPr>
        <p:txBody>
          <a:bodyPr wrap="square" lIns="0" tIns="0" rIns="0" bIns="0" rtlCol="0" anchor="t"/>
          <a:lstStyle/>
          <a:p>
            <a:pPr indent="0" marL="0">
              <a:buNone/>
            </a:pPr>
            <a:r>
              <a:rPr lang="en-US" sz="1300" b="1" dirty="0">
                <a:solidFill>
                  <a:schemeClr val="tx1"/>
                </a:solidFill>
              </a:rPr>
              <a:t>2. Pertinente</a:t>
            </a:r>
            <a:endParaRPr lang="en-US" sz="1300" dirty="0"/>
          </a:p>
        </p:txBody>
      </p:sp>
      <p:sp>
        <p:nvSpPr>
          <p:cNvPr id="25" name="Text 22"/>
          <p:cNvSpPr txBox="1"/>
          <p:nvPr/>
        </p:nvSpPr>
        <p:spPr>
          <a:xfrm>
            <a:off x="5440680" y="2468880"/>
            <a:ext cx="3108960" cy="292608"/>
          </a:xfrm>
          <a:prstGeom prst="rect">
            <a:avLst/>
          </a:prstGeom>
          <a:noFill/>
          <a:ln/>
        </p:spPr>
        <p:txBody>
          <a:bodyPr wrap="square" lIns="0" tIns="0" rIns="0" bIns="0" rtlCol="0" anchor="t"/>
          <a:lstStyle/>
          <a:p>
            <a:pPr indent="0" marL="0">
              <a:buNone/>
            </a:pPr>
            <a:r>
              <a:rPr lang="en-US" sz="1100" dirty="0">
                <a:solidFill>
                  <a:schemeClr val="tx2"/>
                </a:solidFill>
              </a:rPr>
              <a:t>Proprio quell'argomento, nello stesso contesto?</a:t>
            </a:r>
            <a:endParaRPr lang="en-US" sz="1100" dirty="0"/>
          </a:p>
        </p:txBody>
      </p:sp>
      <p:sp>
        <p:nvSpPr>
          <p:cNvPr id="26" name="Di supporto"/>
          <p:cNvSpPr/>
          <p:nvPr/>
        </p:nvSpPr>
        <p:spPr>
          <a:xfrm>
            <a:off x="5303520" y="2880360"/>
            <a:ext cx="3383280" cy="640080"/>
          </a:xfrm>
          <a:prstGeom prst="roundRect">
            <a:avLst>
              <a:gd name="adj" fmla="val 11429"/>
            </a:avLst>
          </a:prstGeom>
          <a:solidFill>
            <a:schemeClr val="accent1"/>
          </a:solidFill>
          <a:ln/>
        </p:spPr>
      </p:sp>
      <p:sp>
        <p:nvSpPr>
          <p:cNvPr id="27" name="Text 24"/>
          <p:cNvSpPr txBox="1"/>
          <p:nvPr/>
        </p:nvSpPr>
        <p:spPr>
          <a:xfrm>
            <a:off x="5440680" y="2907792"/>
            <a:ext cx="3108960" cy="292608"/>
          </a:xfrm>
          <a:prstGeom prst="rect">
            <a:avLst/>
          </a:prstGeom>
          <a:noFill/>
          <a:ln/>
        </p:spPr>
        <p:txBody>
          <a:bodyPr wrap="square" lIns="0" tIns="0" rIns="0" bIns="0" rtlCol="0" anchor="t"/>
          <a:lstStyle/>
          <a:p>
            <a:pPr indent="0" marL="0">
              <a:buNone/>
            </a:pPr>
            <a:r>
              <a:rPr lang="en-US" sz="1300" b="1" dirty="0">
                <a:solidFill>
                  <a:schemeClr val="bg1"/>
                </a:solidFill>
              </a:rPr>
              <a:t>3. Di supporto</a:t>
            </a:r>
            <a:endParaRPr lang="en-US" sz="1300" dirty="0"/>
          </a:p>
        </p:txBody>
      </p:sp>
      <p:sp>
        <p:nvSpPr>
          <p:cNvPr id="28" name="Text 25"/>
          <p:cNvSpPr txBox="1"/>
          <p:nvPr/>
        </p:nvSpPr>
        <p:spPr>
          <a:xfrm>
            <a:off x="5440680" y="3200400"/>
            <a:ext cx="3108960" cy="292608"/>
          </a:xfrm>
          <a:prstGeom prst="rect">
            <a:avLst/>
          </a:prstGeom>
          <a:noFill/>
          <a:ln/>
        </p:spPr>
        <p:txBody>
          <a:bodyPr wrap="square" lIns="0" tIns="0" rIns="0" bIns="0" rtlCol="0" anchor="t"/>
          <a:lstStyle/>
          <a:p>
            <a:pPr indent="0" marL="0">
              <a:buNone/>
            </a:pPr>
            <a:r>
              <a:rPr lang="en-US" sz="1100" dirty="0">
                <a:solidFill>
                  <a:schemeClr val="bg1"/>
                </a:solidFill>
              </a:rPr>
              <a:t>Dice esattamente ciò che le viene attribuito?</a:t>
            </a:r>
            <a:endParaRPr lang="en-US" sz="1100" dirty="0"/>
          </a:p>
        </p:txBody>
      </p:sp>
      <p:sp>
        <p:nvSpPr>
          <p:cNvPr id="29" name="messaggio"/>
          <p:cNvSpPr/>
          <p:nvPr/>
        </p:nvSpPr>
        <p:spPr>
          <a:xfrm>
            <a:off x="457200" y="3794760"/>
            <a:ext cx="8229600" cy="731520"/>
          </a:xfrm>
          <a:prstGeom prst="roundRect">
            <a:avLst>
              <a:gd name="adj" fmla="val 10000"/>
            </a:avLst>
          </a:prstGeom>
          <a:solidFill>
            <a:schemeClr val="tx1"/>
          </a:solidFill>
          <a:ln/>
        </p:spPr>
      </p:sp>
      <p:sp>
        <p:nvSpPr>
          <p:cNvPr id="30" name="Text 27"/>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Aprire la fonte e leggere il passaggio: il titolo e l'esistenza del link non bastano.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Attendibilità e fonti indipendenti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Attendibilità"/>
          <p:cNvSpPr/>
          <p:nvPr/>
        </p:nvSpPr>
        <p:spPr>
          <a:xfrm>
            <a:off x="457200" y="1097280"/>
            <a:ext cx="2615184" cy="2926080"/>
          </a:xfrm>
          <a:prstGeom prst="roundRect">
            <a:avLst>
              <a:gd name="adj" fmla="val 2797"/>
            </a:avLst>
          </a:prstGeom>
          <a:solidFill>
            <a:schemeClr val="bg2"/>
          </a:solidFill>
          <a:ln/>
        </p:spPr>
      </p:sp>
      <p:sp>
        <p:nvSpPr>
          <p:cNvPr id="11" name="cerchio FiAward"/>
          <p:cNvSpPr/>
          <p:nvPr/>
        </p:nvSpPr>
        <p:spPr>
          <a:xfrm>
            <a:off x="640080" y="1280160"/>
            <a:ext cx="457200" cy="457200"/>
          </a:xfrm>
          <a:prstGeom prst="ellipse">
            <a:avLst/>
          </a:prstGeom>
          <a:solidFill>
            <a:schemeClr val="accent1"/>
          </a:solidFill>
          <a:ln/>
        </p:spPr>
      </p:sp>
      <p:pic>
        <p:nvPicPr>
          <p:cNvPr id="12" name="Image 0" descr="FiAward">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Attendibilità</a:t>
            </a:r>
            <a:endParaRPr lang="en-US" sz="1500" dirty="0"/>
          </a:p>
        </p:txBody>
      </p:sp>
      <p:sp>
        <p:nvSpPr>
          <p:cNvPr id="14" name="Text 10"/>
          <p:cNvSpPr txBox="1"/>
          <p:nvPr/>
        </p:nvSpPr>
        <p:spPr>
          <a:xfrm>
            <a:off x="640080" y="2231136"/>
            <a:ext cx="2249424" cy="16824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Chi è l'autore o l'ente?</a:t>
            </a:r>
            <a:endParaRPr lang="en-US" sz="1200" dirty="0"/>
          </a:p>
          <a:p>
            <a:pPr marL="177800" indent="-177800">
              <a:spcAft>
                <a:spcPts val="400"/>
              </a:spcAft>
              <a:buSzPct val="100000"/>
              <a:buChar char="•"/>
            </a:pPr>
            <a:r>
              <a:rPr lang="en-US" sz="1200" dirty="0">
                <a:solidFill>
                  <a:schemeClr val="tx2"/>
                </a:solidFill>
              </a:rPr>
              <a:t>Ha competenza sull'argomento?</a:t>
            </a:r>
            <a:endParaRPr lang="en-US" sz="1200" dirty="0"/>
          </a:p>
          <a:p>
            <a:pPr marL="177800" indent="-177800">
              <a:spcAft>
                <a:spcPts val="400"/>
              </a:spcAft>
              <a:buSzPct val="100000"/>
              <a:buChar char="•"/>
            </a:pPr>
            <a:r>
              <a:rPr lang="en-US" sz="1200" dirty="0">
                <a:solidFill>
                  <a:schemeClr val="tx2"/>
                </a:solidFill>
              </a:rPr>
              <a:t>Ha interessi in gioco?</a:t>
            </a:r>
            <a:endParaRPr lang="en-US" sz="1200" dirty="0"/>
          </a:p>
          <a:p>
            <a:pPr marL="177800" indent="-177800">
              <a:spcAft>
                <a:spcPts val="400"/>
              </a:spcAft>
              <a:buSzPct val="100000"/>
              <a:buChar char="•"/>
            </a:pPr>
            <a:r>
              <a:rPr lang="en-US" sz="1200" dirty="0">
                <a:solidFill>
                  <a:schemeClr val="tx2"/>
                </a:solidFill>
              </a:rPr>
              <a:t>L'informazione è documentata?</a:t>
            </a:r>
            <a:endParaRPr lang="en-US" sz="1200" dirty="0"/>
          </a:p>
        </p:txBody>
      </p:sp>
      <p:sp>
        <p:nvSpPr>
          <p:cNvPr id="15" name="scheda Aggiornamento"/>
          <p:cNvSpPr/>
          <p:nvPr/>
        </p:nvSpPr>
        <p:spPr>
          <a:xfrm>
            <a:off x="3264408" y="1097280"/>
            <a:ext cx="2615184" cy="2926080"/>
          </a:xfrm>
          <a:prstGeom prst="roundRect">
            <a:avLst>
              <a:gd name="adj" fmla="val 2797"/>
            </a:avLst>
          </a:prstGeom>
          <a:solidFill>
            <a:schemeClr val="bg2"/>
          </a:solidFill>
          <a:ln/>
        </p:spPr>
      </p:sp>
      <p:sp>
        <p:nvSpPr>
          <p:cNvPr id="16" name="cerchio FiCalendar"/>
          <p:cNvSpPr/>
          <p:nvPr/>
        </p:nvSpPr>
        <p:spPr>
          <a:xfrm>
            <a:off x="3447288" y="1280160"/>
            <a:ext cx="457200" cy="457200"/>
          </a:xfrm>
          <a:prstGeom prst="ellipse">
            <a:avLst/>
          </a:prstGeom>
          <a:solidFill>
            <a:schemeClr val="accent1"/>
          </a:solidFill>
          <a:ln/>
        </p:spPr>
      </p:sp>
      <p:pic>
        <p:nvPicPr>
          <p:cNvPr id="17" name="Image 1" descr="FiCalendar">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Aggiornamento</a:t>
            </a:r>
            <a:endParaRPr lang="en-US" sz="1500" dirty="0"/>
          </a:p>
        </p:txBody>
      </p:sp>
      <p:sp>
        <p:nvSpPr>
          <p:cNvPr id="19" name="Text 14"/>
          <p:cNvSpPr txBox="1"/>
          <p:nvPr/>
        </p:nvSpPr>
        <p:spPr>
          <a:xfrm>
            <a:off x="3447288" y="2231136"/>
            <a:ext cx="2249424" cy="16824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Quando è stata pubblicata?</a:t>
            </a:r>
            <a:endParaRPr lang="en-US" sz="1200" dirty="0"/>
          </a:p>
          <a:p>
            <a:pPr marL="177800" indent="-177800">
              <a:spcAft>
                <a:spcPts val="400"/>
              </a:spcAft>
              <a:buSzPct val="100000"/>
              <a:buChar char="•"/>
            </a:pPr>
            <a:r>
              <a:rPr lang="en-US" sz="1200" dirty="0">
                <a:solidFill>
                  <a:schemeClr val="tx2"/>
                </a:solidFill>
              </a:rPr>
              <a:t>È ancora valida?</a:t>
            </a:r>
            <a:endParaRPr lang="en-US" sz="1200" dirty="0"/>
          </a:p>
          <a:p>
            <a:pPr marL="177800" indent="-177800">
              <a:spcAft>
                <a:spcPts val="400"/>
              </a:spcAft>
              <a:buSzPct val="100000"/>
              <a:buChar char="•"/>
            </a:pPr>
            <a:r>
              <a:rPr lang="en-US" sz="1200" dirty="0">
                <a:solidFill>
                  <a:schemeClr val="tx2"/>
                </a:solidFill>
              </a:rPr>
              <a:t>Attenzione a norme, prezzi, procedure, dati di mercato</a:t>
            </a:r>
            <a:endParaRPr lang="en-US" sz="1200" dirty="0"/>
          </a:p>
        </p:txBody>
      </p:sp>
      <p:sp>
        <p:nvSpPr>
          <p:cNvPr id="20" name="scheda Fonti indipendenti"/>
          <p:cNvSpPr/>
          <p:nvPr/>
        </p:nvSpPr>
        <p:spPr>
          <a:xfrm>
            <a:off x="6071616" y="1097280"/>
            <a:ext cx="2615184" cy="2926080"/>
          </a:xfrm>
          <a:prstGeom prst="roundRect">
            <a:avLst>
              <a:gd name="adj" fmla="val 2797"/>
            </a:avLst>
          </a:prstGeom>
          <a:solidFill>
            <a:schemeClr val="accent6"/>
          </a:solidFill>
          <a:ln/>
        </p:spPr>
      </p:sp>
      <p:sp>
        <p:nvSpPr>
          <p:cNvPr id="21" name="cerchio FiCopy"/>
          <p:cNvSpPr/>
          <p:nvPr/>
        </p:nvSpPr>
        <p:spPr>
          <a:xfrm>
            <a:off x="6254496" y="1280160"/>
            <a:ext cx="457200" cy="457200"/>
          </a:xfrm>
          <a:prstGeom prst="ellipse">
            <a:avLst/>
          </a:prstGeom>
          <a:solidFill>
            <a:schemeClr val="accent1"/>
          </a:solidFill>
          <a:ln/>
        </p:spPr>
      </p:sp>
      <p:pic>
        <p:nvPicPr>
          <p:cNvPr id="22" name="Image 2" descr="FiCopy">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Fonti indipendenti</a:t>
            </a:r>
            <a:endParaRPr lang="en-US" sz="1500" dirty="0"/>
          </a:p>
        </p:txBody>
      </p:sp>
      <p:sp>
        <p:nvSpPr>
          <p:cNvPr id="24" name="Text 18"/>
          <p:cNvSpPr txBox="1"/>
          <p:nvPr/>
        </p:nvSpPr>
        <p:spPr>
          <a:xfrm>
            <a:off x="6254496" y="2231136"/>
            <a:ext cx="2249424" cy="16824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Almeno due, che non si citano a vicenda</a:t>
            </a:r>
            <a:endParaRPr lang="en-US" sz="1200" dirty="0"/>
          </a:p>
          <a:p>
            <a:pPr marL="177800" indent="-177800">
              <a:spcAft>
                <a:spcPts val="400"/>
              </a:spcAft>
              <a:buSzPct val="100000"/>
              <a:buChar char="•"/>
            </a:pPr>
            <a:r>
              <a:rPr lang="en-US" sz="1200" dirty="0">
                <a:solidFill>
                  <a:schemeClr val="tx2"/>
                </a:solidFill>
              </a:rPr>
              <a:t>Se divergono, risalire all'origine</a:t>
            </a:r>
            <a:endParaRPr lang="en-US" sz="1200" dirty="0"/>
          </a:p>
          <a:p>
            <a:pPr marL="177800" indent="-177800">
              <a:spcAft>
                <a:spcPts val="400"/>
              </a:spcAft>
              <a:buSzPct val="100000"/>
              <a:buChar char="•"/>
            </a:pPr>
            <a:r>
              <a:rPr lang="en-US" sz="1200" dirty="0">
                <a:solidFill>
                  <a:schemeClr val="tx2"/>
                </a:solidFill>
              </a:rPr>
              <a:t>Attenzione alle false conferme</a:t>
            </a:r>
            <a:endParaRPr lang="en-US" sz="1200" dirty="0"/>
          </a:p>
        </p:txBody>
      </p:sp>
      <p:sp>
        <p:nvSpPr>
          <p:cNvPr id="25" name="Text 19"/>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i="1" dirty="0">
                <a:solidFill>
                  <a:schemeClr val="tx1"/>
                </a:solidFill>
              </a:rPr>
              <a:t>Dieci siti con la stessa informazione possono averla copiata tutti dalla stessa fonte sbagliata.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Date, nomi, numeri e riferimenti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e"/>
          <p:cNvSpPr/>
          <p:nvPr/>
        </p:nvSpPr>
        <p:spPr>
          <a:xfrm>
            <a:off x="457200" y="1097280"/>
            <a:ext cx="1965960" cy="2103120"/>
          </a:xfrm>
          <a:prstGeom prst="roundRect">
            <a:avLst>
              <a:gd name="adj" fmla="val 3721"/>
            </a:avLst>
          </a:prstGeom>
          <a:solidFill>
            <a:schemeClr val="bg2"/>
          </a:solidFill>
          <a:ln/>
        </p:spPr>
      </p:sp>
      <p:sp>
        <p:nvSpPr>
          <p:cNvPr id="11" name="cerchio FiCalendar"/>
          <p:cNvSpPr/>
          <p:nvPr/>
        </p:nvSpPr>
        <p:spPr>
          <a:xfrm>
            <a:off x="1124712" y="1261872"/>
            <a:ext cx="621792" cy="621792"/>
          </a:xfrm>
          <a:prstGeom prst="ellipse">
            <a:avLst/>
          </a:prstGeom>
          <a:solidFill>
            <a:schemeClr val="accent1"/>
          </a:solidFill>
          <a:ln/>
        </p:spPr>
      </p:sp>
      <p:pic>
        <p:nvPicPr>
          <p:cNvPr id="12" name="Image 0" descr="FiCalendar">    </p:cNvPr>
          <p:cNvPicPr>
            <a:picLocks noChangeAspect="1"/>
          </p:cNvPicPr>
          <p:nvPr/>
        </p:nvPicPr>
        <p:blipFill>
          <a:blip r:embed="rId1"/>
          <a:stretch>
            <a:fillRect/>
          </a:stretch>
        </p:blipFill>
        <p:spPr>
          <a:xfrm>
            <a:off x="1280160" y="1417320"/>
            <a:ext cx="310896" cy="310896"/>
          </a:xfrm>
          <a:prstGeom prst="rect">
            <a:avLst/>
          </a:prstGeom>
        </p:spPr>
      </p:pic>
      <p:sp>
        <p:nvSpPr>
          <p:cNvPr id="13" name="Text 9"/>
          <p:cNvSpPr txBox="1"/>
          <p:nvPr/>
        </p:nvSpPr>
        <p:spPr>
          <a:xfrm>
            <a:off x="54864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Date</a:t>
            </a:r>
            <a:endParaRPr lang="en-US" sz="1600" dirty="0"/>
          </a:p>
        </p:txBody>
      </p:sp>
      <p:sp>
        <p:nvSpPr>
          <p:cNvPr id="14" name="Text 10"/>
          <p:cNvSpPr txBox="1"/>
          <p:nvPr/>
        </p:nvSpPr>
        <p:spPr>
          <a:xfrm>
            <a:off x="59436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Anni, scadenze, validità, entrata in vigore</a:t>
            </a:r>
            <a:endParaRPr lang="en-US" sz="1200" dirty="0"/>
          </a:p>
        </p:txBody>
      </p:sp>
      <p:sp>
        <p:nvSpPr>
          <p:cNvPr id="15" name="Nomi"/>
          <p:cNvSpPr/>
          <p:nvPr/>
        </p:nvSpPr>
        <p:spPr>
          <a:xfrm>
            <a:off x="2560320" y="1097280"/>
            <a:ext cx="1965960" cy="2103120"/>
          </a:xfrm>
          <a:prstGeom prst="roundRect">
            <a:avLst>
              <a:gd name="adj" fmla="val 3721"/>
            </a:avLst>
          </a:prstGeom>
          <a:solidFill>
            <a:schemeClr val="bg2"/>
          </a:solidFill>
          <a:ln/>
        </p:spPr>
      </p:sp>
      <p:sp>
        <p:nvSpPr>
          <p:cNvPr id="16" name="cerchio FiUser"/>
          <p:cNvSpPr/>
          <p:nvPr/>
        </p:nvSpPr>
        <p:spPr>
          <a:xfrm>
            <a:off x="3227832" y="1261872"/>
            <a:ext cx="621792" cy="621792"/>
          </a:xfrm>
          <a:prstGeom prst="ellipse">
            <a:avLst/>
          </a:prstGeom>
          <a:solidFill>
            <a:schemeClr val="accent1"/>
          </a:solidFill>
          <a:ln/>
        </p:spPr>
      </p:sp>
      <p:pic>
        <p:nvPicPr>
          <p:cNvPr id="17" name="Image 1" descr="FiUser">    </p:cNvPr>
          <p:cNvPicPr>
            <a:picLocks noChangeAspect="1"/>
          </p:cNvPicPr>
          <p:nvPr/>
        </p:nvPicPr>
        <p:blipFill>
          <a:blip r:embed="rId2"/>
          <a:stretch>
            <a:fillRect/>
          </a:stretch>
        </p:blipFill>
        <p:spPr>
          <a:xfrm>
            <a:off x="3383280" y="1417320"/>
            <a:ext cx="310896" cy="310896"/>
          </a:xfrm>
          <a:prstGeom prst="rect">
            <a:avLst/>
          </a:prstGeom>
        </p:spPr>
      </p:pic>
      <p:sp>
        <p:nvSpPr>
          <p:cNvPr id="18" name="Text 13"/>
          <p:cNvSpPr txBox="1"/>
          <p:nvPr/>
        </p:nvSpPr>
        <p:spPr>
          <a:xfrm>
            <a:off x="265176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Nomi</a:t>
            </a:r>
            <a:endParaRPr lang="en-US" sz="1600" dirty="0"/>
          </a:p>
        </p:txBody>
      </p:sp>
      <p:sp>
        <p:nvSpPr>
          <p:cNvPr id="19" name="Text 14"/>
          <p:cNvSpPr txBox="1"/>
          <p:nvPr/>
        </p:nvSpPr>
        <p:spPr>
          <a:xfrm>
            <a:off x="269748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Persone, aziende, prodotti, enti, cariche</a:t>
            </a:r>
            <a:endParaRPr lang="en-US" sz="1200" dirty="0"/>
          </a:p>
        </p:txBody>
      </p:sp>
      <p:sp>
        <p:nvSpPr>
          <p:cNvPr id="20" name="Numeri"/>
          <p:cNvSpPr/>
          <p:nvPr/>
        </p:nvSpPr>
        <p:spPr>
          <a:xfrm>
            <a:off x="4663440" y="1097280"/>
            <a:ext cx="1965960" cy="2103120"/>
          </a:xfrm>
          <a:prstGeom prst="roundRect">
            <a:avLst>
              <a:gd name="adj" fmla="val 3721"/>
            </a:avLst>
          </a:prstGeom>
          <a:solidFill>
            <a:schemeClr val="bg2"/>
          </a:solidFill>
          <a:ln/>
        </p:spPr>
      </p:sp>
      <p:sp>
        <p:nvSpPr>
          <p:cNvPr id="21" name="cerchio FiHash"/>
          <p:cNvSpPr/>
          <p:nvPr/>
        </p:nvSpPr>
        <p:spPr>
          <a:xfrm>
            <a:off x="5330952" y="1261872"/>
            <a:ext cx="621792" cy="621792"/>
          </a:xfrm>
          <a:prstGeom prst="ellipse">
            <a:avLst/>
          </a:prstGeom>
          <a:solidFill>
            <a:schemeClr val="accent1"/>
          </a:solidFill>
          <a:ln/>
        </p:spPr>
      </p:sp>
      <p:pic>
        <p:nvPicPr>
          <p:cNvPr id="22" name="Image 2" descr="FiHash">    </p:cNvPr>
          <p:cNvPicPr>
            <a:picLocks noChangeAspect="1"/>
          </p:cNvPicPr>
          <p:nvPr/>
        </p:nvPicPr>
        <p:blipFill>
          <a:blip r:embed="rId3"/>
          <a:stretch>
            <a:fillRect/>
          </a:stretch>
        </p:blipFill>
        <p:spPr>
          <a:xfrm>
            <a:off x="5486400" y="1417320"/>
            <a:ext cx="310896" cy="310896"/>
          </a:xfrm>
          <a:prstGeom prst="rect">
            <a:avLst/>
          </a:prstGeom>
        </p:spPr>
      </p:pic>
      <p:sp>
        <p:nvSpPr>
          <p:cNvPr id="23" name="Text 17"/>
          <p:cNvSpPr txBox="1"/>
          <p:nvPr/>
        </p:nvSpPr>
        <p:spPr>
          <a:xfrm>
            <a:off x="475488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Numeri</a:t>
            </a:r>
            <a:endParaRPr lang="en-US" sz="1600" dirty="0"/>
          </a:p>
        </p:txBody>
      </p:sp>
      <p:sp>
        <p:nvSpPr>
          <p:cNvPr id="24" name="Text 18"/>
          <p:cNvSpPr txBox="1"/>
          <p:nvPr/>
        </p:nvSpPr>
        <p:spPr>
          <a:xfrm>
            <a:off x="480060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Importi, percentuali, quantità, statistiche</a:t>
            </a:r>
            <a:endParaRPr lang="en-US" sz="1200" dirty="0"/>
          </a:p>
        </p:txBody>
      </p:sp>
      <p:sp>
        <p:nvSpPr>
          <p:cNvPr id="25" name="Riferimenti"/>
          <p:cNvSpPr/>
          <p:nvPr/>
        </p:nvSpPr>
        <p:spPr>
          <a:xfrm>
            <a:off x="6766560" y="1097280"/>
            <a:ext cx="1965960" cy="2103120"/>
          </a:xfrm>
          <a:prstGeom prst="roundRect">
            <a:avLst>
              <a:gd name="adj" fmla="val 3721"/>
            </a:avLst>
          </a:prstGeom>
          <a:solidFill>
            <a:schemeClr val="bg2"/>
          </a:solidFill>
          <a:ln/>
        </p:spPr>
      </p:sp>
      <p:sp>
        <p:nvSpPr>
          <p:cNvPr id="26" name="cerchio FiLink"/>
          <p:cNvSpPr/>
          <p:nvPr/>
        </p:nvSpPr>
        <p:spPr>
          <a:xfrm>
            <a:off x="7434072" y="1261872"/>
            <a:ext cx="621792" cy="621792"/>
          </a:xfrm>
          <a:prstGeom prst="ellipse">
            <a:avLst/>
          </a:prstGeom>
          <a:solidFill>
            <a:schemeClr val="accent1"/>
          </a:solidFill>
          <a:ln/>
        </p:spPr>
      </p:sp>
      <p:pic>
        <p:nvPicPr>
          <p:cNvPr id="27" name="Image 3" descr="FiLink">    </p:cNvPr>
          <p:cNvPicPr>
            <a:picLocks noChangeAspect="1"/>
          </p:cNvPicPr>
          <p:nvPr/>
        </p:nvPicPr>
        <p:blipFill>
          <a:blip r:embed="rId4"/>
          <a:stretch>
            <a:fillRect/>
          </a:stretch>
        </p:blipFill>
        <p:spPr>
          <a:xfrm>
            <a:off x="7589520" y="1417320"/>
            <a:ext cx="310896" cy="310896"/>
          </a:xfrm>
          <a:prstGeom prst="rect">
            <a:avLst/>
          </a:prstGeom>
        </p:spPr>
      </p:pic>
      <p:sp>
        <p:nvSpPr>
          <p:cNvPr id="28" name="Text 21"/>
          <p:cNvSpPr txBox="1"/>
          <p:nvPr/>
        </p:nvSpPr>
        <p:spPr>
          <a:xfrm>
            <a:off x="685800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Riferimenti</a:t>
            </a:r>
            <a:endParaRPr lang="en-US" sz="1600" dirty="0"/>
          </a:p>
        </p:txBody>
      </p:sp>
      <p:sp>
        <p:nvSpPr>
          <p:cNvPr id="29" name="Text 22"/>
          <p:cNvSpPr txBox="1"/>
          <p:nvPr/>
        </p:nvSpPr>
        <p:spPr>
          <a:xfrm>
            <a:off x="690372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Articoli di legge, codici, versioni, link</a:t>
            </a:r>
            <a:endParaRPr lang="en-US" sz="1200" dirty="0"/>
          </a:p>
        </p:txBody>
      </p:sp>
      <p:sp>
        <p:nvSpPr>
          <p:cNvPr id="30" name="messaggio"/>
          <p:cNvSpPr/>
          <p:nvPr/>
        </p:nvSpPr>
        <p:spPr>
          <a:xfrm>
            <a:off x="457200" y="3429000"/>
            <a:ext cx="8229600" cy="731520"/>
          </a:xfrm>
          <a:prstGeom prst="roundRect">
            <a:avLst>
              <a:gd name="adj" fmla="val 10000"/>
            </a:avLst>
          </a:prstGeom>
          <a:solidFill>
            <a:schemeClr val="tx1"/>
          </a:solidFill>
          <a:ln/>
        </p:spPr>
      </p:sp>
      <p:sp>
        <p:nvSpPr>
          <p:cNvPr id="31" name="Text 24"/>
          <p:cNvSpPr txBox="1"/>
          <p:nvPr/>
        </p:nvSpPr>
        <p:spPr>
          <a:xfrm>
            <a:off x="640080" y="3429000"/>
            <a:ext cx="7863840" cy="731520"/>
          </a:xfrm>
          <a:prstGeom prst="rect">
            <a:avLst/>
          </a:prstGeom>
          <a:noFill/>
          <a:ln/>
        </p:spPr>
        <p:txBody>
          <a:bodyPr wrap="square" lIns="0" tIns="0" rIns="0" bIns="0" rtlCol="0" anchor="ctr"/>
          <a:lstStyle/>
          <a:p>
            <a:pPr indent="0" marL="0">
              <a:buNone/>
            </a:pPr>
            <a:r>
              <a:rPr lang="en-US" sz="1300" dirty="0">
                <a:solidFill>
                  <a:schemeClr val="bg1"/>
                </a:solidFill>
              </a:rPr>
              <a:t>Controllarli uno per uno, con la fonte aperta accanto: nella lettura scorrevole gli errori di dettaglio sfuggono.</a:t>
            </a:r>
            <a:endParaRPr lang="en-US" sz="1300" dirty="0"/>
          </a:p>
        </p:txBody>
      </p:sp>
      <p:sp>
        <p:nvSpPr>
          <p:cNvPr id="32" name="Text 25"/>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1"/>
                </a:solidFill>
              </a:rPr>
              <a:t>Sistematicamente per i documenti destinati all'esterno o a una decisione.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informazioni non verificabili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Eliminarla"/>
          <p:cNvSpPr/>
          <p:nvPr/>
        </p:nvSpPr>
        <p:spPr>
          <a:xfrm>
            <a:off x="457200" y="1097280"/>
            <a:ext cx="1965960" cy="2377440"/>
          </a:xfrm>
          <a:prstGeom prst="roundRect">
            <a:avLst>
              <a:gd name="adj" fmla="val 3721"/>
            </a:avLst>
          </a:prstGeom>
          <a:solidFill>
            <a:schemeClr val="bg2"/>
          </a:solidFill>
          <a:ln/>
        </p:spPr>
      </p:sp>
      <p:sp>
        <p:nvSpPr>
          <p:cNvPr id="11" name="cerchio FiTrash2"/>
          <p:cNvSpPr/>
          <p:nvPr/>
        </p:nvSpPr>
        <p:spPr>
          <a:xfrm>
            <a:off x="621792" y="1234440"/>
            <a:ext cx="457200" cy="457200"/>
          </a:xfrm>
          <a:prstGeom prst="ellipse">
            <a:avLst/>
          </a:prstGeom>
          <a:solidFill>
            <a:schemeClr val="accent1"/>
          </a:solidFill>
          <a:ln/>
        </p:spPr>
      </p:sp>
      <p:pic>
        <p:nvPicPr>
          <p:cNvPr id="12" name="Image 0" descr="FiTrash2">    </p:cNvPr>
          <p:cNvPicPr>
            <a:picLocks noChangeAspect="1"/>
          </p:cNvPicPr>
          <p:nvPr/>
        </p:nvPicPr>
        <p:blipFill>
          <a:blip r:embed="rId1"/>
          <a:stretch>
            <a:fillRect/>
          </a:stretch>
        </p:blipFill>
        <p:spPr>
          <a:xfrm>
            <a:off x="736092" y="1348740"/>
            <a:ext cx="228600" cy="228600"/>
          </a:xfrm>
          <a:prstGeom prst="rect">
            <a:avLst/>
          </a:prstGeom>
        </p:spPr>
      </p:pic>
      <p:sp>
        <p:nvSpPr>
          <p:cNvPr id="13" name="Text 9"/>
          <p:cNvSpPr txBox="1"/>
          <p:nvPr/>
        </p:nvSpPr>
        <p:spPr>
          <a:xfrm>
            <a:off x="62179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Eliminarla</a:t>
            </a:r>
            <a:endParaRPr lang="en-US" sz="1400" dirty="0"/>
          </a:p>
        </p:txBody>
      </p:sp>
      <p:sp>
        <p:nvSpPr>
          <p:cNvPr id="14" name="Text 10"/>
          <p:cNvSpPr txBox="1"/>
          <p:nvPr/>
        </p:nvSpPr>
        <p:spPr>
          <a:xfrm>
            <a:off x="62179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Se non è essenziale</a:t>
            </a:r>
            <a:endParaRPr lang="en-US" sz="1200" dirty="0"/>
          </a:p>
        </p:txBody>
      </p:sp>
      <p:sp>
        <p:nvSpPr>
          <p:cNvPr id="15" name="Riformularla con prudenza"/>
          <p:cNvSpPr/>
          <p:nvPr/>
        </p:nvSpPr>
        <p:spPr>
          <a:xfrm>
            <a:off x="2560320" y="1097280"/>
            <a:ext cx="1965960" cy="2377440"/>
          </a:xfrm>
          <a:prstGeom prst="roundRect">
            <a:avLst>
              <a:gd name="adj" fmla="val 3721"/>
            </a:avLst>
          </a:prstGeom>
          <a:solidFill>
            <a:schemeClr val="bg2"/>
          </a:solidFill>
          <a:ln/>
        </p:spPr>
      </p:sp>
      <p:sp>
        <p:nvSpPr>
          <p:cNvPr id="16" name="cerchio FiEdit"/>
          <p:cNvSpPr/>
          <p:nvPr/>
        </p:nvSpPr>
        <p:spPr>
          <a:xfrm>
            <a:off x="2724912" y="1234440"/>
            <a:ext cx="457200" cy="457200"/>
          </a:xfrm>
          <a:prstGeom prst="ellipse">
            <a:avLst/>
          </a:prstGeom>
          <a:solidFill>
            <a:schemeClr val="accent1"/>
          </a:solidFill>
          <a:ln/>
        </p:spPr>
      </p:sp>
      <p:pic>
        <p:nvPicPr>
          <p:cNvPr id="17" name="Image 1" descr="FiEdit">    </p:cNvPr>
          <p:cNvPicPr>
            <a:picLocks noChangeAspect="1"/>
          </p:cNvPicPr>
          <p:nvPr/>
        </p:nvPicPr>
        <p:blipFill>
          <a:blip r:embed="rId2"/>
          <a:stretch>
            <a:fillRect/>
          </a:stretch>
        </p:blipFill>
        <p:spPr>
          <a:xfrm>
            <a:off x="2839212" y="1348740"/>
            <a:ext cx="228600" cy="228600"/>
          </a:xfrm>
          <a:prstGeom prst="rect">
            <a:avLst/>
          </a:prstGeom>
        </p:spPr>
      </p:pic>
      <p:sp>
        <p:nvSpPr>
          <p:cNvPr id="18" name="Text 13"/>
          <p:cNvSpPr txBox="1"/>
          <p:nvPr/>
        </p:nvSpPr>
        <p:spPr>
          <a:xfrm>
            <a:off x="272491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Riformularla con prudenza</a:t>
            </a:r>
            <a:endParaRPr lang="en-US" sz="1400" dirty="0"/>
          </a:p>
        </p:txBody>
      </p:sp>
      <p:sp>
        <p:nvSpPr>
          <p:cNvPr id="19" name="Text 14"/>
          <p:cNvSpPr txBox="1"/>
          <p:nvPr/>
        </p:nvSpPr>
        <p:spPr>
          <a:xfrm>
            <a:off x="272491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"Alcune stime indicano..., non verificato"</a:t>
            </a:r>
            <a:endParaRPr lang="en-US" sz="1200" dirty="0"/>
          </a:p>
        </p:txBody>
      </p:sp>
      <p:sp>
        <p:nvSpPr>
          <p:cNvPr id="20" name="Sostituirla"/>
          <p:cNvSpPr/>
          <p:nvPr/>
        </p:nvSpPr>
        <p:spPr>
          <a:xfrm>
            <a:off x="4663440" y="1097280"/>
            <a:ext cx="1965960" cy="2377440"/>
          </a:xfrm>
          <a:prstGeom prst="roundRect">
            <a:avLst>
              <a:gd name="adj" fmla="val 3721"/>
            </a:avLst>
          </a:prstGeom>
          <a:solidFill>
            <a:schemeClr val="bg2"/>
          </a:solidFill>
          <a:ln/>
        </p:spPr>
      </p:sp>
      <p:sp>
        <p:nvSpPr>
          <p:cNvPr id="21" name="cerchio FiRefreshCw"/>
          <p:cNvSpPr/>
          <p:nvPr/>
        </p:nvSpPr>
        <p:spPr>
          <a:xfrm>
            <a:off x="4828032" y="1234440"/>
            <a:ext cx="457200" cy="457200"/>
          </a:xfrm>
          <a:prstGeom prst="ellipse">
            <a:avLst/>
          </a:prstGeom>
          <a:solidFill>
            <a:schemeClr val="accent1"/>
          </a:solidFill>
          <a:ln/>
        </p:spPr>
      </p:sp>
      <p:pic>
        <p:nvPicPr>
          <p:cNvPr id="22" name="Image 2" descr="FiRefreshCw">    </p:cNvPr>
          <p:cNvPicPr>
            <a:picLocks noChangeAspect="1"/>
          </p:cNvPicPr>
          <p:nvPr/>
        </p:nvPicPr>
        <p:blipFill>
          <a:blip r:embed="rId3"/>
          <a:stretch>
            <a:fillRect/>
          </a:stretch>
        </p:blipFill>
        <p:spPr>
          <a:xfrm>
            <a:off x="4942332" y="1348740"/>
            <a:ext cx="228600" cy="228600"/>
          </a:xfrm>
          <a:prstGeom prst="rect">
            <a:avLst/>
          </a:prstGeom>
        </p:spPr>
      </p:pic>
      <p:sp>
        <p:nvSpPr>
          <p:cNvPr id="23" name="Text 17"/>
          <p:cNvSpPr txBox="1"/>
          <p:nvPr/>
        </p:nvSpPr>
        <p:spPr>
          <a:xfrm>
            <a:off x="482803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Sostituirla</a:t>
            </a:r>
            <a:endParaRPr lang="en-US" sz="1400" dirty="0"/>
          </a:p>
        </p:txBody>
      </p:sp>
      <p:sp>
        <p:nvSpPr>
          <p:cNvPr id="24" name="Text 18"/>
          <p:cNvSpPr txBox="1"/>
          <p:nvPr/>
        </p:nvSpPr>
        <p:spPr>
          <a:xfrm>
            <a:off x="482803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Con un dato verificabile, anche meno preciso</a:t>
            </a:r>
            <a:endParaRPr lang="en-US" sz="1200" dirty="0"/>
          </a:p>
        </p:txBody>
      </p:sp>
      <p:sp>
        <p:nvSpPr>
          <p:cNvPr id="25" name="Mantenerla dichiarata"/>
          <p:cNvSpPr/>
          <p:nvPr/>
        </p:nvSpPr>
        <p:spPr>
          <a:xfrm>
            <a:off x="6766560" y="1097280"/>
            <a:ext cx="1965960" cy="2377440"/>
          </a:xfrm>
          <a:prstGeom prst="roundRect">
            <a:avLst>
              <a:gd name="adj" fmla="val 3721"/>
            </a:avLst>
          </a:prstGeom>
          <a:solidFill>
            <a:schemeClr val="bg2"/>
          </a:solidFill>
          <a:ln/>
        </p:spPr>
      </p:sp>
      <p:sp>
        <p:nvSpPr>
          <p:cNvPr id="26" name="cerchio FiFlag"/>
          <p:cNvSpPr/>
          <p:nvPr/>
        </p:nvSpPr>
        <p:spPr>
          <a:xfrm>
            <a:off x="6931152" y="1234440"/>
            <a:ext cx="457200" cy="457200"/>
          </a:xfrm>
          <a:prstGeom prst="ellipse">
            <a:avLst/>
          </a:prstGeom>
          <a:solidFill>
            <a:schemeClr val="accent1"/>
          </a:solidFill>
          <a:ln/>
        </p:spPr>
      </p:sp>
      <p:pic>
        <p:nvPicPr>
          <p:cNvPr id="27" name="Image 3" descr="FiFlag">    </p:cNvPr>
          <p:cNvPicPr>
            <a:picLocks noChangeAspect="1"/>
          </p:cNvPicPr>
          <p:nvPr/>
        </p:nvPicPr>
        <p:blipFill>
          <a:blip r:embed="rId4"/>
          <a:stretch>
            <a:fillRect/>
          </a:stretch>
        </p:blipFill>
        <p:spPr>
          <a:xfrm>
            <a:off x="7045452" y="1348740"/>
            <a:ext cx="228600" cy="228600"/>
          </a:xfrm>
          <a:prstGeom prst="rect">
            <a:avLst/>
          </a:prstGeom>
        </p:spPr>
      </p:pic>
      <p:sp>
        <p:nvSpPr>
          <p:cNvPr id="28" name="Text 21"/>
          <p:cNvSpPr txBox="1"/>
          <p:nvPr/>
        </p:nvSpPr>
        <p:spPr>
          <a:xfrm>
            <a:off x="693115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Mantenerla dichiarata</a:t>
            </a:r>
            <a:endParaRPr lang="en-US" sz="1400" dirty="0"/>
          </a:p>
        </p:txBody>
      </p:sp>
      <p:sp>
        <p:nvSpPr>
          <p:cNvPr id="29" name="Text 22"/>
          <p:cNvSpPr txBox="1"/>
          <p:nvPr/>
        </p:nvSpPr>
        <p:spPr>
          <a:xfrm>
            <a:off x="693115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Come non verificata, se utile e il destinatario sa valutarla</a:t>
            </a:r>
            <a:endParaRPr lang="en-US" sz="1200" dirty="0"/>
          </a:p>
        </p:txBody>
      </p:sp>
      <p:sp>
        <p:nvSpPr>
          <p:cNvPr id="30" name="messaggio"/>
          <p:cNvSpPr/>
          <p:nvPr/>
        </p:nvSpPr>
        <p:spPr>
          <a:xfrm>
            <a:off x="457200" y="3657600"/>
            <a:ext cx="8229600" cy="822960"/>
          </a:xfrm>
          <a:prstGeom prst="roundRect">
            <a:avLst>
              <a:gd name="adj" fmla="val 8889"/>
            </a:avLst>
          </a:prstGeom>
          <a:solidFill>
            <a:schemeClr val="tx1"/>
          </a:solidFill>
          <a:ln/>
        </p:spPr>
      </p:sp>
      <p:sp>
        <p:nvSpPr>
          <p:cNvPr id="31" name="Text 24"/>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Mai presentare come fatto un'informazione non verificata, soprattutto in documenti esterni o a supporto di decisioni.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citazione non costituisce automaticamente una prova: occorre controllare che la fonte sia autentica, pertinente e sostenga l'affermazione.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7.3  ·  Verifica delle informazioni e delle fonti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Valutare ragionamenti e conclusioni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Informazioni singolarmente corrette non assicurano che la conclusione tratta da esse sia giustificata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Premesse, dati e conclusioni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i"/>
          <p:cNvSpPr/>
          <p:nvPr/>
        </p:nvSpPr>
        <p:spPr>
          <a:xfrm>
            <a:off x="457200" y="1097280"/>
            <a:ext cx="1645920" cy="640080"/>
          </a:xfrm>
          <a:prstGeom prst="roundRect">
            <a:avLst>
              <a:gd name="adj" fmla="val 11429"/>
            </a:avLst>
          </a:prstGeom>
          <a:solidFill>
            <a:schemeClr val="bg2"/>
          </a:solidFill>
          <a:ln/>
        </p:spPr>
      </p:sp>
      <p:sp>
        <p:nvSpPr>
          <p:cNvPr id="11" name="Text 8"/>
          <p:cNvSpPr txBox="1"/>
          <p:nvPr/>
        </p:nvSpPr>
        <p:spPr>
          <a:xfrm>
            <a:off x="502920" y="1097280"/>
            <a:ext cx="1554480" cy="640080"/>
          </a:xfrm>
          <a:prstGeom prst="rect">
            <a:avLst/>
          </a:prstGeom>
          <a:noFill/>
          <a:ln/>
        </p:spPr>
        <p:txBody>
          <a:bodyPr wrap="square" lIns="0" tIns="0" rIns="0" bIns="0" rtlCol="0" anchor="ctr"/>
          <a:lstStyle/>
          <a:p>
            <a:pPr algn="ctr" indent="0" marL="0">
              <a:buNone/>
            </a:pPr>
            <a:r>
              <a:rPr lang="en-US" sz="1400" b="1" dirty="0">
                <a:solidFill>
                  <a:schemeClr val="tx1"/>
                </a:solidFill>
              </a:rPr>
              <a:t>Dati</a:t>
            </a:r>
            <a:endParaRPr lang="en-US" sz="1400" dirty="0"/>
          </a:p>
        </p:txBody>
      </p:sp>
      <p:sp>
        <p:nvSpPr>
          <p:cNvPr id="12" name="testo Dati"/>
          <p:cNvSpPr/>
          <p:nvPr/>
        </p:nvSpPr>
        <p:spPr>
          <a:xfrm>
            <a:off x="2194560" y="1097280"/>
            <a:ext cx="3108960" cy="640080"/>
          </a:xfrm>
          <a:prstGeom prst="roundRect">
            <a:avLst>
              <a:gd name="adj" fmla="val 11429"/>
            </a:avLst>
          </a:prstGeom>
          <a:solidFill>
            <a:schemeClr val="bg1"/>
          </a:solidFill>
          <a:ln w="12700">
            <a:solidFill>
              <a:schemeClr val="accent3"/>
            </a:solidFill>
            <a:prstDash val="solid"/>
          </a:ln>
        </p:spPr>
      </p:sp>
      <p:sp>
        <p:nvSpPr>
          <p:cNvPr id="13" name="Text 10"/>
          <p:cNvSpPr txBox="1"/>
          <p:nvPr/>
        </p:nvSpPr>
        <p:spPr>
          <a:xfrm>
            <a:off x="2331720" y="1097280"/>
            <a:ext cx="2880360" cy="640080"/>
          </a:xfrm>
          <a:prstGeom prst="rect">
            <a:avLst/>
          </a:prstGeom>
          <a:noFill/>
          <a:ln/>
        </p:spPr>
        <p:txBody>
          <a:bodyPr wrap="square" lIns="0" tIns="0" rIns="0" bIns="0" rtlCol="0" anchor="ctr"/>
          <a:lstStyle/>
          <a:p>
            <a:pPr indent="0" marL="0">
              <a:buNone/>
            </a:pPr>
            <a:r>
              <a:rPr lang="en-US" sz="1200" dirty="0">
                <a:solidFill>
                  <a:schemeClr val="tx1"/>
                </a:solidFill>
              </a:rPr>
              <a:t>Vendite online +30%, vendite in negozio -5%</a:t>
            </a:r>
            <a:endParaRPr lang="en-US" sz="1200" dirty="0"/>
          </a:p>
        </p:txBody>
      </p:sp>
      <p:sp>
        <p:nvSpPr>
          <p:cNvPr id="14" name="freccia"/>
          <p:cNvSpPr/>
          <p:nvPr/>
        </p:nvSpPr>
        <p:spPr>
          <a:xfrm>
            <a:off x="1143000" y="1746504"/>
            <a:ext cx="274320" cy="118872"/>
          </a:xfrm>
          <a:prstGeom prst="downArrow">
            <a:avLst/>
          </a:prstGeom>
          <a:solidFill>
            <a:schemeClr val="accent2"/>
          </a:solidFill>
          <a:ln/>
        </p:spPr>
      </p:sp>
      <p:sp>
        <p:nvSpPr>
          <p:cNvPr id="15" name="Premessa"/>
          <p:cNvSpPr/>
          <p:nvPr/>
        </p:nvSpPr>
        <p:spPr>
          <a:xfrm>
            <a:off x="457200" y="1874520"/>
            <a:ext cx="1645920" cy="640080"/>
          </a:xfrm>
          <a:prstGeom prst="roundRect">
            <a:avLst>
              <a:gd name="adj" fmla="val 11429"/>
            </a:avLst>
          </a:prstGeom>
          <a:solidFill>
            <a:schemeClr val="accent6"/>
          </a:solidFill>
          <a:ln/>
        </p:spPr>
      </p:sp>
      <p:sp>
        <p:nvSpPr>
          <p:cNvPr id="16" name="Text 13"/>
          <p:cNvSpPr txBox="1"/>
          <p:nvPr/>
        </p:nvSpPr>
        <p:spPr>
          <a:xfrm>
            <a:off x="502920" y="1874520"/>
            <a:ext cx="1554480" cy="640080"/>
          </a:xfrm>
          <a:prstGeom prst="rect">
            <a:avLst/>
          </a:prstGeom>
          <a:noFill/>
          <a:ln/>
        </p:spPr>
        <p:txBody>
          <a:bodyPr wrap="square" lIns="0" tIns="0" rIns="0" bIns="0" rtlCol="0" anchor="ctr"/>
          <a:lstStyle/>
          <a:p>
            <a:pPr algn="ctr" indent="0" marL="0">
              <a:buNone/>
            </a:pPr>
            <a:r>
              <a:rPr lang="en-US" sz="1400" b="1" dirty="0">
                <a:solidFill>
                  <a:schemeClr val="tx1"/>
                </a:solidFill>
              </a:rPr>
              <a:t>Premessa</a:t>
            </a:r>
            <a:endParaRPr lang="en-US" sz="1400" dirty="0"/>
          </a:p>
        </p:txBody>
      </p:sp>
      <p:sp>
        <p:nvSpPr>
          <p:cNvPr id="17" name="testo Premessa"/>
          <p:cNvSpPr/>
          <p:nvPr/>
        </p:nvSpPr>
        <p:spPr>
          <a:xfrm>
            <a:off x="2194560" y="1874520"/>
            <a:ext cx="3108960" cy="640080"/>
          </a:xfrm>
          <a:prstGeom prst="roundRect">
            <a:avLst>
              <a:gd name="adj" fmla="val 11429"/>
            </a:avLst>
          </a:prstGeom>
          <a:solidFill>
            <a:schemeClr val="bg1"/>
          </a:solidFill>
          <a:ln w="12700">
            <a:solidFill>
              <a:schemeClr val="accent3"/>
            </a:solidFill>
            <a:prstDash val="solid"/>
          </a:ln>
        </p:spPr>
      </p:sp>
      <p:sp>
        <p:nvSpPr>
          <p:cNvPr id="18" name="Text 15"/>
          <p:cNvSpPr txBox="1"/>
          <p:nvPr/>
        </p:nvSpPr>
        <p:spPr>
          <a:xfrm>
            <a:off x="2331720" y="1874520"/>
            <a:ext cx="2880360" cy="640080"/>
          </a:xfrm>
          <a:prstGeom prst="rect">
            <a:avLst/>
          </a:prstGeom>
          <a:noFill/>
          <a:ln/>
        </p:spPr>
        <p:txBody>
          <a:bodyPr wrap="square" lIns="0" tIns="0" rIns="0" bIns="0" rtlCol="0" anchor="ctr"/>
          <a:lstStyle/>
          <a:p>
            <a:pPr indent="0" marL="0">
              <a:buNone/>
            </a:pPr>
            <a:r>
              <a:rPr lang="en-US" sz="1200" dirty="0">
                <a:solidFill>
                  <a:schemeClr val="tx1"/>
                </a:solidFill>
              </a:rPr>
              <a:t>I clienti preferiscono sempre più acquistare online</a:t>
            </a:r>
            <a:endParaRPr lang="en-US" sz="1200" dirty="0"/>
          </a:p>
        </p:txBody>
      </p:sp>
      <p:sp>
        <p:nvSpPr>
          <p:cNvPr id="19" name="freccia"/>
          <p:cNvSpPr/>
          <p:nvPr/>
        </p:nvSpPr>
        <p:spPr>
          <a:xfrm>
            <a:off x="1143000" y="2523744"/>
            <a:ext cx="274320" cy="118872"/>
          </a:xfrm>
          <a:prstGeom prst="downArrow">
            <a:avLst/>
          </a:prstGeom>
          <a:solidFill>
            <a:schemeClr val="accent2"/>
          </a:solidFill>
          <a:ln/>
        </p:spPr>
      </p:sp>
      <p:sp>
        <p:nvSpPr>
          <p:cNvPr id="20" name="Conclusione"/>
          <p:cNvSpPr/>
          <p:nvPr/>
        </p:nvSpPr>
        <p:spPr>
          <a:xfrm>
            <a:off x="457200" y="2651760"/>
            <a:ext cx="1645920" cy="640080"/>
          </a:xfrm>
          <a:prstGeom prst="roundRect">
            <a:avLst>
              <a:gd name="adj" fmla="val 11429"/>
            </a:avLst>
          </a:prstGeom>
          <a:solidFill>
            <a:schemeClr val="accent1"/>
          </a:solidFill>
          <a:ln/>
        </p:spPr>
      </p:sp>
      <p:sp>
        <p:nvSpPr>
          <p:cNvPr id="21" name="Text 18"/>
          <p:cNvSpPr txBox="1"/>
          <p:nvPr/>
        </p:nvSpPr>
        <p:spPr>
          <a:xfrm>
            <a:off x="502920" y="2651760"/>
            <a:ext cx="1554480" cy="640080"/>
          </a:xfrm>
          <a:prstGeom prst="rect">
            <a:avLst/>
          </a:prstGeom>
          <a:noFill/>
          <a:ln/>
        </p:spPr>
        <p:txBody>
          <a:bodyPr wrap="square" lIns="0" tIns="0" rIns="0" bIns="0" rtlCol="0" anchor="ctr"/>
          <a:lstStyle/>
          <a:p>
            <a:pPr algn="ctr" indent="0" marL="0">
              <a:buNone/>
            </a:pPr>
            <a:r>
              <a:rPr lang="en-US" sz="1400" b="1" dirty="0">
                <a:solidFill>
                  <a:schemeClr val="bg1"/>
                </a:solidFill>
              </a:rPr>
              <a:t>Conclusione</a:t>
            </a:r>
            <a:endParaRPr lang="en-US" sz="1400" dirty="0"/>
          </a:p>
        </p:txBody>
      </p:sp>
      <p:sp>
        <p:nvSpPr>
          <p:cNvPr id="22" name="testo Conclusione"/>
          <p:cNvSpPr/>
          <p:nvPr/>
        </p:nvSpPr>
        <p:spPr>
          <a:xfrm>
            <a:off x="2194560" y="2651760"/>
            <a:ext cx="3108960" cy="640080"/>
          </a:xfrm>
          <a:prstGeom prst="roundRect">
            <a:avLst>
              <a:gd name="adj" fmla="val 11429"/>
            </a:avLst>
          </a:prstGeom>
          <a:solidFill>
            <a:schemeClr val="bg1"/>
          </a:solidFill>
          <a:ln w="12700">
            <a:solidFill>
              <a:schemeClr val="accent3"/>
            </a:solidFill>
            <a:prstDash val="solid"/>
          </a:ln>
        </p:spPr>
      </p:sp>
      <p:sp>
        <p:nvSpPr>
          <p:cNvPr id="23" name="Text 20"/>
          <p:cNvSpPr txBox="1"/>
          <p:nvPr/>
        </p:nvSpPr>
        <p:spPr>
          <a:xfrm>
            <a:off x="2331720" y="2651760"/>
            <a:ext cx="2880360" cy="640080"/>
          </a:xfrm>
          <a:prstGeom prst="rect">
            <a:avLst/>
          </a:prstGeom>
          <a:noFill/>
          <a:ln/>
        </p:spPr>
        <p:txBody>
          <a:bodyPr wrap="square" lIns="0" tIns="0" rIns="0" bIns="0" rtlCol="0" anchor="ctr"/>
          <a:lstStyle/>
          <a:p>
            <a:pPr indent="0" marL="0">
              <a:buNone/>
            </a:pPr>
            <a:r>
              <a:rPr lang="en-US" sz="1200" dirty="0">
                <a:solidFill>
                  <a:schemeClr val="tx1"/>
                </a:solidFill>
              </a:rPr>
              <a:t>Conviene chiudere alcuni negozi</a:t>
            </a:r>
            <a:endParaRPr lang="en-US" sz="1200" dirty="0"/>
          </a:p>
        </p:txBody>
      </p:sp>
      <p:sp>
        <p:nvSpPr>
          <p:cNvPr id="24" name="Text 21"/>
          <p:cNvSpPr txBox="1"/>
          <p:nvPr/>
        </p:nvSpPr>
        <p:spPr>
          <a:xfrm>
            <a:off x="5577840" y="1097280"/>
            <a:ext cx="3108960" cy="274320"/>
          </a:xfrm>
          <a:prstGeom prst="rect">
            <a:avLst/>
          </a:prstGeom>
          <a:noFill/>
          <a:ln/>
        </p:spPr>
        <p:txBody>
          <a:bodyPr wrap="square" lIns="0" tIns="0" rIns="0" bIns="0" rtlCol="0" anchor="t"/>
          <a:lstStyle/>
          <a:p>
            <a:pPr indent="0" marL="0">
              <a:buNone/>
            </a:pPr>
            <a:r>
              <a:rPr lang="en-US" sz="1400" b="1" dirty="0">
                <a:solidFill>
                  <a:schemeClr val="tx1"/>
                </a:solidFill>
              </a:rPr>
              <a:t>Domande</a:t>
            </a:r>
            <a:endParaRPr lang="en-US" sz="1400" dirty="0"/>
          </a:p>
        </p:txBody>
      </p:sp>
      <p:sp>
        <p:nvSpPr>
          <p:cNvPr id="25" name="riga 0"/>
          <p:cNvSpPr/>
          <p:nvPr/>
        </p:nvSpPr>
        <p:spPr>
          <a:xfrm>
            <a:off x="5577840" y="1463040"/>
            <a:ext cx="3108960" cy="548640"/>
          </a:xfrm>
          <a:prstGeom prst="roundRect">
            <a:avLst>
              <a:gd name="adj" fmla="val 13333"/>
            </a:avLst>
          </a:prstGeom>
          <a:solidFill>
            <a:schemeClr val="bg2"/>
          </a:solidFill>
          <a:ln/>
        </p:spPr>
      </p:sp>
      <p:sp>
        <p:nvSpPr>
          <p:cNvPr id="26" name="Text 23"/>
          <p:cNvSpPr txBox="1"/>
          <p:nvPr/>
        </p:nvSpPr>
        <p:spPr>
          <a:xfrm>
            <a:off x="5760720" y="1463040"/>
            <a:ext cx="2743200" cy="548640"/>
          </a:xfrm>
          <a:prstGeom prst="rect">
            <a:avLst/>
          </a:prstGeom>
          <a:noFill/>
          <a:ln/>
        </p:spPr>
        <p:txBody>
          <a:bodyPr wrap="square" lIns="0" tIns="0" rIns="0" bIns="0" rtlCol="0" anchor="ctr"/>
          <a:lstStyle/>
          <a:p>
            <a:pPr indent="0" marL="0">
              <a:buNone/>
            </a:pPr>
            <a:r>
              <a:rPr lang="en-US" sz="1200" dirty="0">
                <a:solidFill>
                  <a:schemeClr val="tx1"/>
                </a:solidFill>
              </a:rPr>
              <a:t>I dati sono corretti?</a:t>
            </a:r>
            <a:endParaRPr lang="en-US" sz="1200" dirty="0"/>
          </a:p>
        </p:txBody>
      </p:sp>
      <p:sp>
        <p:nvSpPr>
          <p:cNvPr id="27" name="riga 1"/>
          <p:cNvSpPr/>
          <p:nvPr/>
        </p:nvSpPr>
        <p:spPr>
          <a:xfrm>
            <a:off x="5577840" y="2084832"/>
            <a:ext cx="3108960" cy="548640"/>
          </a:xfrm>
          <a:prstGeom prst="roundRect">
            <a:avLst>
              <a:gd name="adj" fmla="val 13333"/>
            </a:avLst>
          </a:prstGeom>
          <a:solidFill>
            <a:schemeClr val="bg1"/>
          </a:solidFill>
          <a:ln/>
        </p:spPr>
      </p:sp>
      <p:sp>
        <p:nvSpPr>
          <p:cNvPr id="28" name="Text 25"/>
          <p:cNvSpPr txBox="1"/>
          <p:nvPr/>
        </p:nvSpPr>
        <p:spPr>
          <a:xfrm>
            <a:off x="5760720" y="2084832"/>
            <a:ext cx="2743200" cy="548640"/>
          </a:xfrm>
          <a:prstGeom prst="rect">
            <a:avLst/>
          </a:prstGeom>
          <a:noFill/>
          <a:ln/>
        </p:spPr>
        <p:txBody>
          <a:bodyPr wrap="square" lIns="0" tIns="0" rIns="0" bIns="0" rtlCol="0" anchor="ctr"/>
          <a:lstStyle/>
          <a:p>
            <a:pPr indent="0" marL="0">
              <a:buNone/>
            </a:pPr>
            <a:r>
              <a:rPr lang="en-US" sz="1200" dirty="0">
                <a:solidFill>
                  <a:schemeClr val="tx1"/>
                </a:solidFill>
              </a:rPr>
              <a:t>La premessa è dimostrata o interpretata?</a:t>
            </a:r>
            <a:endParaRPr lang="en-US" sz="1200" dirty="0"/>
          </a:p>
        </p:txBody>
      </p:sp>
      <p:sp>
        <p:nvSpPr>
          <p:cNvPr id="29" name="riga 2"/>
          <p:cNvSpPr/>
          <p:nvPr/>
        </p:nvSpPr>
        <p:spPr>
          <a:xfrm>
            <a:off x="5577840" y="2706624"/>
            <a:ext cx="3108960" cy="548640"/>
          </a:xfrm>
          <a:prstGeom prst="roundRect">
            <a:avLst>
              <a:gd name="adj" fmla="val 13333"/>
            </a:avLst>
          </a:prstGeom>
          <a:solidFill>
            <a:schemeClr val="bg2"/>
          </a:solidFill>
          <a:ln/>
        </p:spPr>
      </p:sp>
      <p:sp>
        <p:nvSpPr>
          <p:cNvPr id="30" name="Text 27"/>
          <p:cNvSpPr txBox="1"/>
          <p:nvPr/>
        </p:nvSpPr>
        <p:spPr>
          <a:xfrm>
            <a:off x="5760720" y="2706624"/>
            <a:ext cx="2743200" cy="548640"/>
          </a:xfrm>
          <a:prstGeom prst="rect">
            <a:avLst/>
          </a:prstGeom>
          <a:noFill/>
          <a:ln/>
        </p:spPr>
        <p:txBody>
          <a:bodyPr wrap="square" lIns="0" tIns="0" rIns="0" bIns="0" rtlCol="0" anchor="ctr"/>
          <a:lstStyle/>
          <a:p>
            <a:pPr indent="0" marL="0">
              <a:buNone/>
            </a:pPr>
            <a:r>
              <a:rPr lang="en-US" sz="1200" dirty="0">
                <a:solidFill>
                  <a:schemeClr val="tx1"/>
                </a:solidFill>
              </a:rPr>
              <a:t>Mancano informazioni? Margini, ruolo dei negozi, costi</a:t>
            </a:r>
            <a:endParaRPr lang="en-US" sz="1200" dirty="0"/>
          </a:p>
        </p:txBody>
      </p:sp>
      <p:sp>
        <p:nvSpPr>
          <p:cNvPr id="31" name="messaggio"/>
          <p:cNvSpPr/>
          <p:nvPr/>
        </p:nvSpPr>
        <p:spPr>
          <a:xfrm>
            <a:off x="457200" y="3611880"/>
            <a:ext cx="8229600" cy="868680"/>
          </a:xfrm>
          <a:prstGeom prst="roundRect">
            <a:avLst>
              <a:gd name="adj" fmla="val 8421"/>
            </a:avLst>
          </a:prstGeom>
          <a:solidFill>
            <a:schemeClr val="tx1"/>
          </a:solidFill>
          <a:ln/>
        </p:spPr>
      </p:sp>
      <p:sp>
        <p:nvSpPr>
          <p:cNvPr id="32" name="Text 29"/>
          <p:cNvSpPr txBox="1"/>
          <p:nvPr/>
        </p:nvSpPr>
        <p:spPr>
          <a:xfrm>
            <a:off x="640080" y="3611880"/>
            <a:ext cx="7863840" cy="868680"/>
          </a:xfrm>
          <a:prstGeom prst="rect">
            <a:avLst/>
          </a:prstGeom>
          <a:noFill/>
          <a:ln/>
        </p:spPr>
        <p:txBody>
          <a:bodyPr wrap="square" lIns="0" tIns="0" rIns="0" bIns="0" rtlCol="0" anchor="ctr"/>
          <a:lstStyle/>
          <a:p>
            <a:pPr indent="0" marL="0">
              <a:buNone/>
            </a:pPr>
            <a:r>
              <a:rPr lang="en-US" sz="1300" dirty="0">
                <a:solidFill>
                  <a:schemeClr val="bg1"/>
                </a:solidFill>
              </a:rPr>
              <a:t>Negli output dell'AI dati, premesse e conclusioni sono intrecciati: scomporli è il primo passo per valutarli.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logica e passaggi deboli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connettivi"/>
          <p:cNvSpPr/>
          <p:nvPr/>
        </p:nvSpPr>
        <p:spPr>
          <a:xfrm>
            <a:off x="457200" y="1097280"/>
            <a:ext cx="3977640" cy="1463040"/>
          </a:xfrm>
          <a:prstGeom prst="roundRect">
            <a:avLst>
              <a:gd name="adj" fmla="val 5000"/>
            </a:avLst>
          </a:prstGeom>
          <a:solidFill>
            <a:schemeClr val="tx1"/>
          </a:solidFill>
          <a:ln/>
        </p:spPr>
      </p:sp>
      <p:sp>
        <p:nvSpPr>
          <p:cNvPr id="11" name="Text 8"/>
          <p:cNvSpPr txBox="1"/>
          <p:nvPr/>
        </p:nvSpPr>
        <p:spPr>
          <a:xfrm>
            <a:off x="640080" y="1188720"/>
            <a:ext cx="3611880" cy="548640"/>
          </a:xfrm>
          <a:prstGeom prst="rect">
            <a:avLst/>
          </a:prstGeom>
          <a:noFill/>
          <a:ln/>
        </p:spPr>
        <p:txBody>
          <a:bodyPr wrap="square" lIns="0" tIns="0" rIns="0" bIns="0" rtlCol="0" anchor="t"/>
          <a:lstStyle/>
          <a:p>
            <a:pPr indent="0" marL="0">
              <a:buNone/>
            </a:pPr>
            <a:r>
              <a:rPr lang="en-US" sz="1500" b="1" dirty="0">
                <a:solidFill>
                  <a:schemeClr val="accent1"/>
                </a:solidFill>
              </a:rPr>
              <a:t>"quindi"  "di conseguenza"  "ne deriva che"</a:t>
            </a:r>
            <a:endParaRPr lang="en-US" sz="1500" dirty="0"/>
          </a:p>
        </p:txBody>
      </p:sp>
      <p:sp>
        <p:nvSpPr>
          <p:cNvPr id="12" name="Text 9"/>
          <p:cNvSpPr txBox="1"/>
          <p:nvPr/>
        </p:nvSpPr>
        <p:spPr>
          <a:xfrm>
            <a:off x="640080" y="1783080"/>
            <a:ext cx="3611880" cy="685800"/>
          </a:xfrm>
          <a:prstGeom prst="rect">
            <a:avLst/>
          </a:prstGeom>
          <a:noFill/>
          <a:ln/>
        </p:spPr>
        <p:txBody>
          <a:bodyPr wrap="square" lIns="0" tIns="0" rIns="0" bIns="0" rtlCol="0" anchor="t"/>
          <a:lstStyle/>
          <a:p>
            <a:pPr indent="0" marL="0">
              <a:buNone/>
            </a:pPr>
            <a:r>
              <a:rPr lang="en-US" sz="1300" dirty="0">
                <a:solidFill>
                  <a:schemeClr val="bg1"/>
                </a:solidFill>
              </a:rPr>
              <a:t>Sottolineare i connettivi e chiedersi se il collegamento è davvero dimostrato.</a:t>
            </a:r>
            <a:endParaRPr lang="en-US" sz="1300" dirty="0"/>
          </a:p>
        </p:txBody>
      </p:sp>
      <p:sp>
        <p:nvSpPr>
          <p:cNvPr id="13" name="Text 10"/>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accent5"/>
                </a:solidFill>
              </a:rPr>
              <a:t>Segnali di passaggi deboli</a:t>
            </a:r>
            <a:endParaRPr lang="en-US" sz="1400" dirty="0"/>
          </a:p>
        </p:txBody>
      </p:sp>
      <p:sp>
        <p:nvSpPr>
          <p:cNvPr id="14" name="riga 0"/>
          <p:cNvSpPr/>
          <p:nvPr/>
        </p:nvSpPr>
        <p:spPr>
          <a:xfrm>
            <a:off x="4709160" y="1417320"/>
            <a:ext cx="3977640" cy="457200"/>
          </a:xfrm>
          <a:prstGeom prst="roundRect">
            <a:avLst>
              <a:gd name="adj" fmla="val 16000"/>
            </a:avLst>
          </a:prstGeom>
          <a:solidFill>
            <a:schemeClr val="bg2"/>
          </a:solidFill>
          <a:ln/>
        </p:spPr>
      </p:sp>
      <p:sp>
        <p:nvSpPr>
          <p:cNvPr id="15" name="Text 12"/>
          <p:cNvSpPr txBox="1"/>
          <p:nvPr/>
        </p:nvSpPr>
        <p:spPr>
          <a:xfrm>
            <a:off x="4892040" y="1417320"/>
            <a:ext cx="3611880" cy="457200"/>
          </a:xfrm>
          <a:prstGeom prst="rect">
            <a:avLst/>
          </a:prstGeom>
          <a:noFill/>
          <a:ln/>
        </p:spPr>
        <p:txBody>
          <a:bodyPr wrap="square" lIns="0" tIns="0" rIns="0" bIns="0" rtlCol="0" anchor="ctr"/>
          <a:lstStyle/>
          <a:p>
            <a:pPr indent="0" marL="0">
              <a:buNone/>
            </a:pPr>
            <a:r>
              <a:rPr lang="en-US" sz="1200" dirty="0">
                <a:solidFill>
                  <a:schemeClr val="tx1"/>
                </a:solidFill>
              </a:rPr>
              <a:t>Conclusione molto più forte delle premesse</a:t>
            </a:r>
            <a:endParaRPr lang="en-US" sz="1200" dirty="0"/>
          </a:p>
        </p:txBody>
      </p:sp>
      <p:sp>
        <p:nvSpPr>
          <p:cNvPr id="16" name="riga 1"/>
          <p:cNvSpPr/>
          <p:nvPr/>
        </p:nvSpPr>
        <p:spPr>
          <a:xfrm>
            <a:off x="4709160" y="1947672"/>
            <a:ext cx="3977640" cy="457200"/>
          </a:xfrm>
          <a:prstGeom prst="roundRect">
            <a:avLst>
              <a:gd name="adj" fmla="val 16000"/>
            </a:avLst>
          </a:prstGeom>
          <a:solidFill>
            <a:schemeClr val="bg1"/>
          </a:solidFill>
          <a:ln/>
        </p:spPr>
      </p:sp>
      <p:sp>
        <p:nvSpPr>
          <p:cNvPr id="17" name="Text 14"/>
          <p:cNvSpPr txBox="1"/>
          <p:nvPr/>
        </p:nvSpPr>
        <p:spPr>
          <a:xfrm>
            <a:off x="4892040" y="1947672"/>
            <a:ext cx="3611880" cy="457200"/>
          </a:xfrm>
          <a:prstGeom prst="rect">
            <a:avLst/>
          </a:prstGeom>
          <a:noFill/>
          <a:ln/>
        </p:spPr>
        <p:txBody>
          <a:bodyPr wrap="square" lIns="0" tIns="0" rIns="0" bIns="0" rtlCol="0" anchor="ctr"/>
          <a:lstStyle/>
          <a:p>
            <a:pPr indent="0" marL="0">
              <a:buNone/>
            </a:pPr>
            <a:r>
              <a:rPr lang="en-US" sz="1200" dirty="0">
                <a:solidFill>
                  <a:schemeClr val="tx1"/>
                </a:solidFill>
              </a:rPr>
              <a:t>Un elemento nuovo compare solo nella conclusione</a:t>
            </a:r>
            <a:endParaRPr lang="en-US" sz="1200" dirty="0"/>
          </a:p>
        </p:txBody>
      </p:sp>
      <p:sp>
        <p:nvSpPr>
          <p:cNvPr id="18" name="riga 2"/>
          <p:cNvSpPr/>
          <p:nvPr/>
        </p:nvSpPr>
        <p:spPr>
          <a:xfrm>
            <a:off x="4709160" y="2478024"/>
            <a:ext cx="3977640" cy="457200"/>
          </a:xfrm>
          <a:prstGeom prst="roundRect">
            <a:avLst>
              <a:gd name="adj" fmla="val 16000"/>
            </a:avLst>
          </a:prstGeom>
          <a:solidFill>
            <a:schemeClr val="bg2"/>
          </a:solidFill>
          <a:ln/>
        </p:spPr>
      </p:sp>
      <p:sp>
        <p:nvSpPr>
          <p:cNvPr id="19" name="Text 16"/>
          <p:cNvSpPr txBox="1"/>
          <p:nvPr/>
        </p:nvSpPr>
        <p:spPr>
          <a:xfrm>
            <a:off x="4892040" y="2478024"/>
            <a:ext cx="3611880" cy="457200"/>
          </a:xfrm>
          <a:prstGeom prst="rect">
            <a:avLst/>
          </a:prstGeom>
          <a:noFill/>
          <a:ln/>
        </p:spPr>
        <p:txBody>
          <a:bodyPr wrap="square" lIns="0" tIns="0" rIns="0" bIns="0" rtlCol="0" anchor="ctr"/>
          <a:lstStyle/>
          <a:p>
            <a:pPr indent="0" marL="0">
              <a:buNone/>
            </a:pPr>
            <a:r>
              <a:rPr lang="en-US" sz="1200" dirty="0">
                <a:solidFill>
                  <a:schemeClr val="tx1"/>
                </a:solidFill>
              </a:rPr>
              <a:t>Salto da una questione a un'altra</a:t>
            </a:r>
            <a:endParaRPr lang="en-US" sz="1200" dirty="0"/>
          </a:p>
        </p:txBody>
      </p:sp>
      <p:sp>
        <p:nvSpPr>
          <p:cNvPr id="20" name="riga 3"/>
          <p:cNvSpPr/>
          <p:nvPr/>
        </p:nvSpPr>
        <p:spPr>
          <a:xfrm>
            <a:off x="4709160" y="3008376"/>
            <a:ext cx="3977640" cy="457200"/>
          </a:xfrm>
          <a:prstGeom prst="roundRect">
            <a:avLst>
              <a:gd name="adj" fmla="val 16000"/>
            </a:avLst>
          </a:prstGeom>
          <a:solidFill>
            <a:schemeClr val="bg1"/>
          </a:solidFill>
          <a:ln/>
        </p:spPr>
      </p:sp>
      <p:sp>
        <p:nvSpPr>
          <p:cNvPr id="21" name="Text 18"/>
          <p:cNvSpPr txBox="1"/>
          <p:nvPr/>
        </p:nvSpPr>
        <p:spPr>
          <a:xfrm>
            <a:off x="4892040" y="3008376"/>
            <a:ext cx="3611880" cy="457200"/>
          </a:xfrm>
          <a:prstGeom prst="rect">
            <a:avLst/>
          </a:prstGeom>
          <a:noFill/>
          <a:ln/>
        </p:spPr>
        <p:txBody>
          <a:bodyPr wrap="square" lIns="0" tIns="0" rIns="0" bIns="0" rtlCol="0" anchor="ctr"/>
          <a:lstStyle/>
          <a:p>
            <a:pPr indent="0" marL="0">
              <a:buNone/>
            </a:pPr>
            <a:r>
              <a:rPr lang="en-US" sz="1200" dirty="0">
                <a:solidFill>
                  <a:schemeClr val="tx1"/>
                </a:solidFill>
              </a:rPr>
              <a:t>Termini vaghi che cambiano significato</a:t>
            </a:r>
            <a:endParaRPr lang="en-US" sz="1200" dirty="0"/>
          </a:p>
        </p:txBody>
      </p:sp>
      <p:sp>
        <p:nvSpPr>
          <p:cNvPr id="22" name="scheda Esempio di salto"/>
          <p:cNvSpPr/>
          <p:nvPr/>
        </p:nvSpPr>
        <p:spPr>
          <a:xfrm>
            <a:off x="457200" y="2743200"/>
            <a:ext cx="3977640" cy="1783080"/>
          </a:xfrm>
          <a:prstGeom prst="roundRect">
            <a:avLst>
              <a:gd name="adj" fmla="val 4103"/>
            </a:avLst>
          </a:prstGeom>
          <a:solidFill>
            <a:schemeClr val="accent6"/>
          </a:solidFill>
          <a:ln/>
        </p:spPr>
      </p:sp>
      <p:sp>
        <p:nvSpPr>
          <p:cNvPr id="23" name="Text 20"/>
          <p:cNvSpPr txBox="1"/>
          <p:nvPr/>
        </p:nvSpPr>
        <p:spPr>
          <a:xfrm>
            <a:off x="640080" y="2926080"/>
            <a:ext cx="3611880" cy="347472"/>
          </a:xfrm>
          <a:prstGeom prst="rect">
            <a:avLst/>
          </a:prstGeom>
          <a:noFill/>
          <a:ln/>
        </p:spPr>
        <p:txBody>
          <a:bodyPr wrap="square" lIns="0" tIns="0" rIns="0" bIns="0" rtlCol="0" anchor="t"/>
          <a:lstStyle/>
          <a:p>
            <a:pPr indent="0" marL="0">
              <a:buNone/>
            </a:pPr>
            <a:r>
              <a:rPr lang="en-US" sz="1400" b="1" dirty="0">
                <a:solidFill>
                  <a:schemeClr val="tx1"/>
                </a:solidFill>
              </a:rPr>
              <a:t>Esempio di salto</a:t>
            </a:r>
            <a:endParaRPr lang="en-US" sz="1400" dirty="0"/>
          </a:p>
        </p:txBody>
      </p:sp>
      <p:sp>
        <p:nvSpPr>
          <p:cNvPr id="24" name="Text 21"/>
          <p:cNvSpPr txBox="1"/>
          <p:nvPr/>
        </p:nvSpPr>
        <p:spPr>
          <a:xfrm>
            <a:off x="640080" y="3310128"/>
            <a:ext cx="3611880" cy="1106424"/>
          </a:xfrm>
          <a:prstGeom prst="rect">
            <a:avLst/>
          </a:prstGeom>
          <a:noFill/>
          <a:ln/>
        </p:spPr>
        <p:txBody>
          <a:bodyPr wrap="square" lIns="0" tIns="0" rIns="0" bIns="0" rtlCol="0" anchor="t"/>
          <a:lstStyle/>
          <a:p>
            <a:pPr indent="0" marL="0">
              <a:buNone/>
            </a:pPr>
            <a:r>
              <a:rPr lang="en-US" sz="1300" dirty="0">
                <a:solidFill>
                  <a:schemeClr val="tx2"/>
                </a:solidFill>
              </a:rPr>
              <a:t>Da "alcuni clienti si sono lamentati" a "il prodotto ha un problema di qualità".</a:t>
            </a:r>
            <a:endParaRPr lang="en-US" sz="1300" dirty="0"/>
          </a:p>
        </p:txBody>
      </p:sp>
      <p:sp>
        <p:nvSpPr>
          <p:cNvPr id="25" name="Text 22"/>
          <p:cNvSpPr txBox="1"/>
          <p:nvPr/>
        </p:nvSpPr>
        <p:spPr>
          <a:xfrm>
            <a:off x="4709160" y="3611880"/>
            <a:ext cx="3977640" cy="914400"/>
          </a:xfrm>
          <a:prstGeom prst="rect">
            <a:avLst/>
          </a:prstGeom>
          <a:noFill/>
          <a:ln/>
        </p:spPr>
        <p:txBody>
          <a:bodyPr wrap="square" lIns="0" tIns="0" rIns="0" bIns="0" rtlCol="0" anchor="t"/>
          <a:lstStyle/>
          <a:p>
            <a:pPr indent="0" marL="0">
              <a:buNone/>
            </a:pPr>
            <a:r>
              <a:rPr lang="en-US" sz="1300" i="1" dirty="0">
                <a:solidFill>
                  <a:schemeClr val="tx1"/>
                </a:solidFill>
              </a:rPr>
              <a:t>Il sistema produce testo che suona logico anche quando il collegamento tra le parti è debole.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Correlazione e causalità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Un terzo fattore"/>
          <p:cNvSpPr/>
          <p:nvPr/>
        </p:nvSpPr>
        <p:spPr>
          <a:xfrm>
            <a:off x="457200" y="1097280"/>
            <a:ext cx="2615184" cy="2194560"/>
          </a:xfrm>
          <a:prstGeom prst="roundRect">
            <a:avLst>
              <a:gd name="adj" fmla="val 3333"/>
            </a:avLst>
          </a:prstGeom>
          <a:solidFill>
            <a:schemeClr val="bg2"/>
          </a:solidFill>
          <a:ln/>
        </p:spPr>
      </p:sp>
      <p:sp>
        <p:nvSpPr>
          <p:cNvPr id="11" name="cerchio FiShare2"/>
          <p:cNvSpPr/>
          <p:nvPr/>
        </p:nvSpPr>
        <p:spPr>
          <a:xfrm>
            <a:off x="640080" y="1280160"/>
            <a:ext cx="457200" cy="457200"/>
          </a:xfrm>
          <a:prstGeom prst="ellipse">
            <a:avLst/>
          </a:prstGeom>
          <a:solidFill>
            <a:schemeClr val="accent1"/>
          </a:solidFill>
          <a:ln/>
        </p:spPr>
      </p:sp>
      <p:pic>
        <p:nvPicPr>
          <p:cNvPr id="12" name="Image 0" descr="FiShare2">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Un terzo fattore</a:t>
            </a:r>
            <a:endParaRPr lang="en-US" sz="1500" dirty="0"/>
          </a:p>
        </p:txBody>
      </p:sp>
      <p:sp>
        <p:nvSpPr>
          <p:cNvPr id="14" name="Text 10"/>
          <p:cNvSpPr txBox="1"/>
          <p:nvPr/>
        </p:nvSpPr>
        <p:spPr>
          <a:xfrm>
            <a:off x="640080" y="2231136"/>
            <a:ext cx="2249424" cy="950976"/>
          </a:xfrm>
          <a:prstGeom prst="rect">
            <a:avLst/>
          </a:prstGeom>
          <a:noFill/>
          <a:ln/>
        </p:spPr>
        <p:txBody>
          <a:bodyPr wrap="square" lIns="0" tIns="0" rIns="0" bIns="0" rtlCol="0" anchor="t"/>
          <a:lstStyle/>
          <a:p>
            <a:pPr indent="0" marL="0">
              <a:buNone/>
            </a:pPr>
            <a:r>
              <a:rPr lang="en-US" sz="1200" dirty="0">
                <a:solidFill>
                  <a:schemeClr val="tx2"/>
                </a:solidFill>
              </a:rPr>
              <a:t>Gelati e incidenti in spiaggia crescono insieme: la causa comune è il caldo</a:t>
            </a:r>
            <a:endParaRPr lang="en-US" sz="1200" dirty="0"/>
          </a:p>
        </p:txBody>
      </p:sp>
      <p:sp>
        <p:nvSpPr>
          <p:cNvPr id="15" name="scheda Causalità inversa"/>
          <p:cNvSpPr/>
          <p:nvPr/>
        </p:nvSpPr>
        <p:spPr>
          <a:xfrm>
            <a:off x="3264408" y="1097280"/>
            <a:ext cx="2615184" cy="2194560"/>
          </a:xfrm>
          <a:prstGeom prst="roundRect">
            <a:avLst>
              <a:gd name="adj" fmla="val 3333"/>
            </a:avLst>
          </a:prstGeom>
          <a:solidFill>
            <a:schemeClr val="bg2"/>
          </a:solidFill>
          <a:ln/>
        </p:spPr>
      </p:sp>
      <p:sp>
        <p:nvSpPr>
          <p:cNvPr id="16" name="cerchio FiRepeat"/>
          <p:cNvSpPr/>
          <p:nvPr/>
        </p:nvSpPr>
        <p:spPr>
          <a:xfrm>
            <a:off x="3447288" y="1280160"/>
            <a:ext cx="457200" cy="457200"/>
          </a:xfrm>
          <a:prstGeom prst="ellipse">
            <a:avLst/>
          </a:prstGeom>
          <a:solidFill>
            <a:schemeClr val="accent1"/>
          </a:solidFill>
          <a:ln/>
        </p:spPr>
      </p:sp>
      <p:pic>
        <p:nvPicPr>
          <p:cNvPr id="17" name="Image 1" descr="FiRepeat">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Causalità inversa</a:t>
            </a:r>
            <a:endParaRPr lang="en-US" sz="1500" dirty="0"/>
          </a:p>
        </p:txBody>
      </p:sp>
      <p:sp>
        <p:nvSpPr>
          <p:cNvPr id="19" name="Text 14"/>
          <p:cNvSpPr txBox="1"/>
          <p:nvPr/>
        </p:nvSpPr>
        <p:spPr>
          <a:xfrm>
            <a:off x="3447288" y="2231136"/>
            <a:ext cx="2249424" cy="950976"/>
          </a:xfrm>
          <a:prstGeom prst="rect">
            <a:avLst/>
          </a:prstGeom>
          <a:noFill/>
          <a:ln/>
        </p:spPr>
        <p:txBody>
          <a:bodyPr wrap="square" lIns="0" tIns="0" rIns="0" bIns="0" rtlCol="0" anchor="t"/>
          <a:lstStyle/>
          <a:p>
            <a:pPr indent="0" marL="0">
              <a:buNone/>
            </a:pPr>
            <a:r>
              <a:rPr lang="en-US" sz="1200" dirty="0">
                <a:solidFill>
                  <a:schemeClr val="tx2"/>
                </a:solidFill>
              </a:rPr>
              <a:t>Formazione e risultati: forse sono i risultati a permettere la formazione</a:t>
            </a:r>
            <a:endParaRPr lang="en-US" sz="1200" dirty="0"/>
          </a:p>
        </p:txBody>
      </p:sp>
      <p:sp>
        <p:nvSpPr>
          <p:cNvPr id="20" name="scheda Coincidenza"/>
          <p:cNvSpPr/>
          <p:nvPr/>
        </p:nvSpPr>
        <p:spPr>
          <a:xfrm>
            <a:off x="6071616" y="1097280"/>
            <a:ext cx="2615184" cy="2194560"/>
          </a:xfrm>
          <a:prstGeom prst="roundRect">
            <a:avLst>
              <a:gd name="adj" fmla="val 3333"/>
            </a:avLst>
          </a:prstGeom>
          <a:solidFill>
            <a:schemeClr val="bg2"/>
          </a:solidFill>
          <a:ln/>
        </p:spPr>
      </p:sp>
      <p:sp>
        <p:nvSpPr>
          <p:cNvPr id="21" name="cerchio FiShuffle"/>
          <p:cNvSpPr/>
          <p:nvPr/>
        </p:nvSpPr>
        <p:spPr>
          <a:xfrm>
            <a:off x="6254496" y="1280160"/>
            <a:ext cx="457200" cy="457200"/>
          </a:xfrm>
          <a:prstGeom prst="ellipse">
            <a:avLst/>
          </a:prstGeom>
          <a:solidFill>
            <a:schemeClr val="accent1"/>
          </a:solidFill>
          <a:ln/>
        </p:spPr>
      </p:sp>
      <p:pic>
        <p:nvPicPr>
          <p:cNvPr id="22" name="Image 2" descr="FiShuffle">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Coincidenza</a:t>
            </a:r>
            <a:endParaRPr lang="en-US" sz="1500" dirty="0"/>
          </a:p>
        </p:txBody>
      </p:sp>
      <p:sp>
        <p:nvSpPr>
          <p:cNvPr id="24" name="Text 18"/>
          <p:cNvSpPr txBox="1"/>
          <p:nvPr/>
        </p:nvSpPr>
        <p:spPr>
          <a:xfrm>
            <a:off x="6254496" y="2231136"/>
            <a:ext cx="2249424" cy="950976"/>
          </a:xfrm>
          <a:prstGeom prst="rect">
            <a:avLst/>
          </a:prstGeom>
          <a:noFill/>
          <a:ln/>
        </p:spPr>
        <p:txBody>
          <a:bodyPr wrap="square" lIns="0" tIns="0" rIns="0" bIns="0" rtlCol="0" anchor="t"/>
          <a:lstStyle/>
          <a:p>
            <a:pPr indent="0" marL="0">
              <a:buNone/>
            </a:pPr>
            <a:r>
              <a:rPr lang="en-US" sz="1200" dirty="0">
                <a:solidFill>
                  <a:schemeClr val="tx2"/>
                </a:solidFill>
              </a:rPr>
              <a:t>Pochi dati o molte variabili: correlazioni casuali</a:t>
            </a:r>
            <a:endParaRPr lang="en-US" sz="1200" dirty="0"/>
          </a:p>
        </p:txBody>
      </p:sp>
      <p:sp>
        <p:nvSpPr>
          <p:cNvPr id="25" name="frasi causali"/>
          <p:cNvSpPr/>
          <p:nvPr/>
        </p:nvSpPr>
        <p:spPr>
          <a:xfrm>
            <a:off x="457200" y="3474720"/>
            <a:ext cx="8229600" cy="1051560"/>
          </a:xfrm>
          <a:prstGeom prst="roundRect">
            <a:avLst>
              <a:gd name="adj" fmla="val 6957"/>
            </a:avLst>
          </a:prstGeom>
          <a:solidFill>
            <a:schemeClr val="tx1"/>
          </a:solidFill>
          <a:ln/>
        </p:spPr>
      </p:sp>
      <p:sp>
        <p:nvSpPr>
          <p:cNvPr id="26" name="Text 20"/>
          <p:cNvSpPr txBox="1"/>
          <p:nvPr/>
        </p:nvSpPr>
        <p:spPr>
          <a:xfrm>
            <a:off x="640080" y="3474720"/>
            <a:ext cx="7863840" cy="1051560"/>
          </a:xfrm>
          <a:prstGeom prst="rect">
            <a:avLst/>
          </a:prstGeom>
          <a:noFill/>
          <a:ln/>
        </p:spPr>
        <p:txBody>
          <a:bodyPr wrap="square" lIns="0" tIns="0" rIns="0" bIns="0" rtlCol="0" anchor="ctr"/>
          <a:lstStyle/>
          <a:p>
            <a:pPr indent="0" marL="0">
              <a:buNone/>
            </a:pPr>
            <a:r>
              <a:rPr lang="en-US" sz="1400" b="1" dirty="0">
                <a:solidFill>
                  <a:schemeClr val="accent1"/>
                </a:solidFill>
              </a:rPr>
              <a:t>Attenzione a: </a:t>
            </a:r>
            <a:pPr indent="0" marL="0">
              <a:buNone/>
            </a:pPr>
            <a:r>
              <a:rPr lang="en-US" sz="1400" dirty="0">
                <a:solidFill>
                  <a:schemeClr val="bg1"/>
                </a:solidFill>
              </a:rPr>
              <a:t>"grazie a", "a causa di", "ha portato a", "dimostra che". </a:t>
            </a:r>
            <a:pPr indent="0" marL="0">
              <a:buNone/>
            </a:pPr>
            <a:r>
              <a:rPr lang="en-US" sz="1400" dirty="0">
                <a:solidFill>
                  <a:schemeClr val="accent3"/>
                </a:solidFill>
              </a:rPr>
              <a:t>Ci sono spiegazioni alternative? Evidenze che il legame sia causale?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Assunzioni e generalizzazioni indebite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Assunzioni implicite"/>
          <p:cNvSpPr/>
          <p:nvPr/>
        </p:nvSpPr>
        <p:spPr>
          <a:xfrm>
            <a:off x="457200" y="1097280"/>
            <a:ext cx="3977640" cy="2743200"/>
          </a:xfrm>
          <a:prstGeom prst="roundRect">
            <a:avLst>
              <a:gd name="adj" fmla="val 2667"/>
            </a:avLst>
          </a:prstGeom>
          <a:solidFill>
            <a:schemeClr val="bg2"/>
          </a:solidFill>
          <a:ln/>
        </p:spPr>
      </p:sp>
      <p:sp>
        <p:nvSpPr>
          <p:cNvPr id="11" name="cerchio FiEyeOff"/>
          <p:cNvSpPr/>
          <p:nvPr/>
        </p:nvSpPr>
        <p:spPr>
          <a:xfrm>
            <a:off x="640080" y="1280160"/>
            <a:ext cx="457200" cy="457200"/>
          </a:xfrm>
          <a:prstGeom prst="ellipse">
            <a:avLst/>
          </a:prstGeom>
          <a:solidFill>
            <a:schemeClr val="accent1"/>
          </a:solidFill>
          <a:ln/>
        </p:spPr>
      </p:sp>
      <p:pic>
        <p:nvPicPr>
          <p:cNvPr id="12" name="Image 0" descr="FiEyeOff">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Assunzioni implicite</a:t>
            </a:r>
            <a:endParaRPr lang="en-US" sz="1600" dirty="0"/>
          </a:p>
        </p:txBody>
      </p:sp>
      <p:sp>
        <p:nvSpPr>
          <p:cNvPr id="14" name="Text 10"/>
          <p:cNvSpPr txBox="1"/>
          <p:nvPr/>
        </p:nvSpPr>
        <p:spPr>
          <a:xfrm>
            <a:off x="640080" y="2231136"/>
            <a:ext cx="3611880"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Premesse non dichiarate da cui dipende la conclusione</a:t>
            </a:r>
            <a:endParaRPr lang="en-US" sz="1200" dirty="0"/>
          </a:p>
          <a:p>
            <a:pPr indent="0" marL="0">
              <a:spcAft>
                <a:spcPts val="1000"/>
              </a:spcAft>
              <a:buNone/>
            </a:pPr>
            <a:r>
              <a:rPr lang="en-US" sz="1200" i="1" dirty="0">
                <a:solidFill>
                  <a:schemeClr val="tx2"/>
                </a:solidFill>
              </a:rPr>
              <a:t>Esempio: un risparmio che assume volumi invariati.</a:t>
            </a:r>
            <a:endParaRPr lang="en-US" sz="1200" dirty="0"/>
          </a:p>
          <a:p>
            <a:pPr indent="0" marL="0">
              <a:buNone/>
            </a:pPr>
            <a:r>
              <a:rPr lang="en-US" sz="1200" b="1" dirty="0">
                <a:solidFill>
                  <a:schemeClr val="accent1"/>
                </a:solidFill>
              </a:rPr>
              <a:t>Domanda: che cosa deve essere vero perché la conclusione valga?</a:t>
            </a:r>
            <a:endParaRPr lang="en-US" sz="1200" dirty="0"/>
          </a:p>
        </p:txBody>
      </p:sp>
      <p:sp>
        <p:nvSpPr>
          <p:cNvPr id="15" name="scheda Generalizzazioni indebite"/>
          <p:cNvSpPr/>
          <p:nvPr/>
        </p:nvSpPr>
        <p:spPr>
          <a:xfrm>
            <a:off x="4709160" y="1097280"/>
            <a:ext cx="3977640" cy="2743200"/>
          </a:xfrm>
          <a:prstGeom prst="roundRect">
            <a:avLst>
              <a:gd name="adj" fmla="val 2667"/>
            </a:avLst>
          </a:prstGeom>
          <a:solidFill>
            <a:schemeClr val="accent6"/>
          </a:solidFill>
          <a:ln/>
        </p:spPr>
      </p:sp>
      <p:sp>
        <p:nvSpPr>
          <p:cNvPr id="16" name="cerchio FiMaximize2"/>
          <p:cNvSpPr/>
          <p:nvPr/>
        </p:nvSpPr>
        <p:spPr>
          <a:xfrm>
            <a:off x="4892040" y="1280160"/>
            <a:ext cx="457200" cy="457200"/>
          </a:xfrm>
          <a:prstGeom prst="ellipse">
            <a:avLst/>
          </a:prstGeom>
          <a:solidFill>
            <a:schemeClr val="accent1"/>
          </a:solidFill>
          <a:ln/>
        </p:spPr>
      </p:sp>
      <p:pic>
        <p:nvPicPr>
          <p:cNvPr id="17" name="Image 1" descr="FiMaximize2">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Generalizzazioni indebite</a:t>
            </a:r>
            <a:endParaRPr lang="en-US" sz="1600" dirty="0"/>
          </a:p>
        </p:txBody>
      </p:sp>
      <p:sp>
        <p:nvSpPr>
          <p:cNvPr id="19" name="Text 14"/>
          <p:cNvSpPr txBox="1"/>
          <p:nvPr/>
        </p:nvSpPr>
        <p:spPr>
          <a:xfrm>
            <a:off x="4892040" y="2231136"/>
            <a:ext cx="3611880"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Da alcuni casi a tutti, da un contesto a un altro</a:t>
            </a:r>
            <a:endParaRPr lang="en-US" sz="1200" dirty="0"/>
          </a:p>
          <a:p>
            <a:pPr indent="0" marL="0">
              <a:spcAft>
                <a:spcPts val="1000"/>
              </a:spcAft>
              <a:buNone/>
            </a:pPr>
            <a:r>
              <a:rPr lang="en-US" sz="1200" i="1" dirty="0">
                <a:solidFill>
                  <a:schemeClr val="tx2"/>
                </a:solidFill>
              </a:rPr>
              <a:t>Esempio: "i clienti preferiscono l'online", da un'indagine su giovani di una città.</a:t>
            </a:r>
            <a:endParaRPr lang="en-US" sz="1200" dirty="0"/>
          </a:p>
          <a:p>
            <a:pPr indent="0" marL="0">
              <a:buNone/>
            </a:pPr>
            <a:r>
              <a:rPr lang="en-US" sz="1200" b="1" dirty="0">
                <a:solidFill>
                  <a:schemeClr val="accent1"/>
                </a:solidFill>
              </a:rPr>
              <a:t>Domanda: su quanti casi, in quale contesto? Vale per noi?</a:t>
            </a:r>
            <a:endParaRPr lang="en-US" sz="1200" dirty="0"/>
          </a:p>
        </p:txBody>
      </p:sp>
      <p:sp>
        <p:nvSpPr>
          <p:cNvPr id="20" name="Text 15"/>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300" i="1" dirty="0">
                <a:solidFill>
                  <a:schemeClr val="tx1"/>
                </a:solidFill>
              </a:rPr>
              <a:t>L'AI tende a formulare affermazioni generali e a trasferire soluzioni tipiche di altri contesti.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e omissioni nel ragionamento</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Interpretazioni alternative"/>
          <p:cNvSpPr/>
          <p:nvPr/>
        </p:nvSpPr>
        <p:spPr>
          <a:xfrm>
            <a:off x="457200" y="1097280"/>
            <a:ext cx="3977640" cy="2377440"/>
          </a:xfrm>
          <a:prstGeom prst="roundRect">
            <a:avLst>
              <a:gd name="adj" fmla="val 3077"/>
            </a:avLst>
          </a:prstGeom>
          <a:solidFill>
            <a:schemeClr val="bg2"/>
          </a:solidFill>
          <a:ln/>
        </p:spPr>
      </p:sp>
      <p:sp>
        <p:nvSpPr>
          <p:cNvPr id="11" name="cerchio FiShuffle"/>
          <p:cNvSpPr/>
          <p:nvPr/>
        </p:nvSpPr>
        <p:spPr>
          <a:xfrm>
            <a:off x="640080" y="1280160"/>
            <a:ext cx="457200" cy="457200"/>
          </a:xfrm>
          <a:prstGeom prst="ellipse">
            <a:avLst/>
          </a:prstGeom>
          <a:solidFill>
            <a:schemeClr val="accent1"/>
          </a:solidFill>
          <a:ln/>
        </p:spPr>
      </p:sp>
      <p:pic>
        <p:nvPicPr>
          <p:cNvPr id="12"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Interpretazioni alternative</a:t>
            </a:r>
            <a:endParaRPr lang="en-US" sz="1500" dirty="0"/>
          </a:p>
        </p:txBody>
      </p:sp>
      <p:sp>
        <p:nvSpPr>
          <p:cNvPr id="14" name="Text 10"/>
          <p:cNvSpPr txBox="1"/>
          <p:nvPr/>
        </p:nvSpPr>
        <p:spPr>
          <a:xfrm>
            <a:off x="64008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Quali altre spiegazioni sono compatibili con gli stessi dati?</a:t>
            </a:r>
            <a:endParaRPr lang="en-US" sz="1200" dirty="0"/>
          </a:p>
          <a:p>
            <a:pPr indent="0" marL="0">
              <a:buNone/>
            </a:pPr>
            <a:r>
              <a:rPr lang="en-US" sz="1200" i="1" dirty="0">
                <a:solidFill>
                  <a:schemeClr val="tx2"/>
                </a:solidFill>
              </a:rPr>
              <a:t>Calo in negozio: lavori stradali, assortimento, stagionalità, non solo preferenza per l'online.</a:t>
            </a:r>
            <a:endParaRPr lang="en-US" sz="1200" dirty="0"/>
          </a:p>
        </p:txBody>
      </p:sp>
      <p:sp>
        <p:nvSpPr>
          <p:cNvPr id="15" name="scheda Omissioni nelle premesse"/>
          <p:cNvSpPr/>
          <p:nvPr/>
        </p:nvSpPr>
        <p:spPr>
          <a:xfrm>
            <a:off x="4709160" y="1097280"/>
            <a:ext cx="3977640" cy="2377440"/>
          </a:xfrm>
          <a:prstGeom prst="roundRect">
            <a:avLst>
              <a:gd name="adj" fmla="val 3077"/>
            </a:avLst>
          </a:prstGeom>
          <a:solidFill>
            <a:schemeClr val="accent6"/>
          </a:solidFill>
          <a:ln/>
        </p:spPr>
      </p:sp>
      <p:sp>
        <p:nvSpPr>
          <p:cNvPr id="16" name="cerchio FiAlertTriangle"/>
          <p:cNvSpPr/>
          <p:nvPr/>
        </p:nvSpPr>
        <p:spPr>
          <a:xfrm>
            <a:off x="4892040" y="1280160"/>
            <a:ext cx="457200" cy="457200"/>
          </a:xfrm>
          <a:prstGeom prst="ellipse">
            <a:avLst/>
          </a:prstGeom>
          <a:solidFill>
            <a:schemeClr val="accent1"/>
          </a:solidFill>
          <a:ln/>
        </p:spPr>
      </p:sp>
      <p:pic>
        <p:nvPicPr>
          <p:cNvPr id="17"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Omissioni nelle premesse</a:t>
            </a:r>
            <a:endParaRPr lang="en-US" sz="1500" dirty="0"/>
          </a:p>
        </p:txBody>
      </p:sp>
      <p:sp>
        <p:nvSpPr>
          <p:cNvPr id="19" name="Text 14"/>
          <p:cNvSpPr txBox="1"/>
          <p:nvPr/>
        </p:nvSpPr>
        <p:spPr>
          <a:xfrm>
            <a:off x="489204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Eccezioni, condizioni, controargomentazioni non considerate</a:t>
            </a:r>
            <a:endParaRPr lang="en-US" sz="1200" dirty="0"/>
          </a:p>
          <a:p>
            <a:pPr indent="0" marL="0">
              <a:buNone/>
            </a:pPr>
            <a:r>
              <a:rPr lang="en-US" sz="1200" i="1" dirty="0">
                <a:solidFill>
                  <a:schemeClr val="tx2"/>
                </a:solidFill>
              </a:rPr>
              <a:t>Molti acquisti online nascono da visite in negozio: chiudere i negozi potrebbe ridurre l'online.</a:t>
            </a:r>
            <a:endParaRPr lang="en-US" sz="1200" dirty="0"/>
          </a:p>
        </p:txBody>
      </p:sp>
      <p:sp>
        <p:nvSpPr>
          <p:cNvPr id="20" name="messaggio"/>
          <p:cNvSpPr/>
          <p:nvPr/>
        </p:nvSpPr>
        <p:spPr>
          <a:xfrm>
            <a:off x="457200" y="3657600"/>
            <a:ext cx="8229600" cy="868680"/>
          </a:xfrm>
          <a:prstGeom prst="roundRect">
            <a:avLst>
              <a:gd name="adj" fmla="val 8421"/>
            </a:avLst>
          </a:prstGeom>
          <a:solidFill>
            <a:schemeClr val="tx1"/>
          </a:solidFill>
          <a:ln/>
        </p:spPr>
      </p:sp>
      <p:sp>
        <p:nvSpPr>
          <p:cNvPr id="21" name="Text 16"/>
          <p:cNvSpPr txBox="1"/>
          <p:nvPr/>
        </p:nvSpPr>
        <p:spPr>
          <a:xfrm>
            <a:off x="640080" y="3657600"/>
            <a:ext cx="7863840" cy="868680"/>
          </a:xfrm>
          <a:prstGeom prst="rect">
            <a:avLst/>
          </a:prstGeom>
          <a:noFill/>
          <a:ln/>
        </p:spPr>
        <p:txBody>
          <a:bodyPr wrap="square" lIns="0" tIns="0" rIns="0" bIns="0" rtlCol="0" anchor="ctr"/>
          <a:lstStyle/>
          <a:p>
            <a:pPr indent="0" marL="0">
              <a:buNone/>
            </a:pPr>
            <a:r>
              <a:rPr lang="en-US" sz="1300" dirty="0">
                <a:solidFill>
                  <a:schemeClr val="bg1"/>
                </a:solidFill>
              </a:rPr>
              <a:t>Quali informazioni potrebbero cambiare la conclusione? Sono state considerate? Qual è l'argomento più forte contro?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Conclusioni coerenti con le evidenze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i corretti"/>
          <p:cNvSpPr/>
          <p:nvPr/>
        </p:nvSpPr>
        <p:spPr>
          <a:xfrm>
            <a:off x="457200" y="1051560"/>
            <a:ext cx="4023360" cy="566928"/>
          </a:xfrm>
          <a:prstGeom prst="roundRect">
            <a:avLst>
              <a:gd name="adj" fmla="val 12903"/>
            </a:avLst>
          </a:prstGeom>
          <a:solidFill>
            <a:schemeClr val="bg2"/>
          </a:solidFill>
          <a:ln/>
        </p:spPr>
      </p:sp>
      <p:sp>
        <p:nvSpPr>
          <p:cNvPr id="11" name="casella"/>
          <p:cNvSpPr/>
          <p:nvPr/>
        </p:nvSpPr>
        <p:spPr>
          <a:xfrm>
            <a:off x="594360" y="1207008"/>
            <a:ext cx="256032" cy="256032"/>
          </a:xfrm>
          <a:prstGeom prst="roundRect">
            <a:avLst>
              <a:gd name="adj" fmla="val 14286"/>
            </a:avLst>
          </a:prstGeom>
          <a:solidFill>
            <a:schemeClr val="bg1"/>
          </a:solidFill>
          <a:ln w="19050">
            <a:solidFill>
              <a:schemeClr val="accent1"/>
            </a:solidFill>
            <a:prstDash val="solid"/>
          </a:ln>
        </p:spPr>
      </p:sp>
      <p:sp>
        <p:nvSpPr>
          <p:cNvPr id="12" name="Text 9"/>
          <p:cNvSpPr txBox="1"/>
          <p:nvPr/>
        </p:nvSpPr>
        <p:spPr>
          <a:xfrm>
            <a:off x="1005840" y="1051560"/>
            <a:ext cx="3383280" cy="566928"/>
          </a:xfrm>
          <a:prstGeom prst="rect">
            <a:avLst/>
          </a:prstGeom>
          <a:noFill/>
          <a:ln/>
        </p:spPr>
        <p:txBody>
          <a:bodyPr wrap="square" lIns="0" tIns="0" rIns="0" bIns="0" rtlCol="0" anchor="ctr"/>
          <a:lstStyle/>
          <a:p>
            <a:pPr indent="0" marL="0">
              <a:buNone/>
            </a:pPr>
            <a:r>
              <a:rPr lang="en-US" sz="1300" dirty="0">
                <a:solidFill>
                  <a:schemeClr val="tx1"/>
                </a:solidFill>
              </a:rPr>
              <a:t>Dati corretti</a:t>
            </a:r>
            <a:endParaRPr lang="en-US" sz="1300" dirty="0"/>
          </a:p>
        </p:txBody>
      </p:sp>
      <p:sp>
        <p:nvSpPr>
          <p:cNvPr id="13" name="Premesse dichiarate e fondate"/>
          <p:cNvSpPr/>
          <p:nvPr/>
        </p:nvSpPr>
        <p:spPr>
          <a:xfrm>
            <a:off x="4663440" y="1051560"/>
            <a:ext cx="4023360" cy="566928"/>
          </a:xfrm>
          <a:prstGeom prst="roundRect">
            <a:avLst>
              <a:gd name="adj" fmla="val 12903"/>
            </a:avLst>
          </a:prstGeom>
          <a:solidFill>
            <a:schemeClr val="bg2"/>
          </a:solidFill>
          <a:ln/>
        </p:spPr>
      </p:sp>
      <p:sp>
        <p:nvSpPr>
          <p:cNvPr id="14" name="casella"/>
          <p:cNvSpPr/>
          <p:nvPr/>
        </p:nvSpPr>
        <p:spPr>
          <a:xfrm>
            <a:off x="4800600" y="1207008"/>
            <a:ext cx="256032" cy="256032"/>
          </a:xfrm>
          <a:prstGeom prst="roundRect">
            <a:avLst>
              <a:gd name="adj" fmla="val 14286"/>
            </a:avLst>
          </a:prstGeom>
          <a:solidFill>
            <a:schemeClr val="bg1"/>
          </a:solidFill>
          <a:ln w="19050">
            <a:solidFill>
              <a:schemeClr val="accent1"/>
            </a:solidFill>
            <a:prstDash val="solid"/>
          </a:ln>
        </p:spPr>
      </p:sp>
      <p:sp>
        <p:nvSpPr>
          <p:cNvPr id="15" name="Text 12"/>
          <p:cNvSpPr txBox="1"/>
          <p:nvPr/>
        </p:nvSpPr>
        <p:spPr>
          <a:xfrm>
            <a:off x="5212080" y="1051560"/>
            <a:ext cx="3383280" cy="566928"/>
          </a:xfrm>
          <a:prstGeom prst="rect">
            <a:avLst/>
          </a:prstGeom>
          <a:noFill/>
          <a:ln/>
        </p:spPr>
        <p:txBody>
          <a:bodyPr wrap="square" lIns="0" tIns="0" rIns="0" bIns="0" rtlCol="0" anchor="ctr"/>
          <a:lstStyle/>
          <a:p>
            <a:pPr indent="0" marL="0">
              <a:buNone/>
            </a:pPr>
            <a:r>
              <a:rPr lang="en-US" sz="1300" dirty="0">
                <a:solidFill>
                  <a:schemeClr val="tx1"/>
                </a:solidFill>
              </a:rPr>
              <a:t>Premesse dichiarate e fondate</a:t>
            </a:r>
            <a:endParaRPr lang="en-US" sz="1300" dirty="0"/>
          </a:p>
        </p:txBody>
      </p:sp>
      <p:sp>
        <p:nvSpPr>
          <p:cNvPr id="16" name="Passaggi giustificati"/>
          <p:cNvSpPr/>
          <p:nvPr/>
        </p:nvSpPr>
        <p:spPr>
          <a:xfrm>
            <a:off x="457200" y="1709928"/>
            <a:ext cx="4023360" cy="566928"/>
          </a:xfrm>
          <a:prstGeom prst="roundRect">
            <a:avLst>
              <a:gd name="adj" fmla="val 12903"/>
            </a:avLst>
          </a:prstGeom>
          <a:solidFill>
            <a:schemeClr val="bg1"/>
          </a:solidFill>
          <a:ln/>
        </p:spPr>
      </p:sp>
      <p:sp>
        <p:nvSpPr>
          <p:cNvPr id="17" name="casella"/>
          <p:cNvSpPr/>
          <p:nvPr/>
        </p:nvSpPr>
        <p:spPr>
          <a:xfrm>
            <a:off x="594360" y="1865376"/>
            <a:ext cx="256032" cy="256032"/>
          </a:xfrm>
          <a:prstGeom prst="roundRect">
            <a:avLst>
              <a:gd name="adj" fmla="val 14286"/>
            </a:avLst>
          </a:prstGeom>
          <a:solidFill>
            <a:schemeClr val="bg1"/>
          </a:solidFill>
          <a:ln w="19050">
            <a:solidFill>
              <a:schemeClr val="accent1"/>
            </a:solidFill>
            <a:prstDash val="solid"/>
          </a:ln>
        </p:spPr>
      </p:sp>
      <p:sp>
        <p:nvSpPr>
          <p:cNvPr id="18" name="Text 15"/>
          <p:cNvSpPr txBox="1"/>
          <p:nvPr/>
        </p:nvSpPr>
        <p:spPr>
          <a:xfrm>
            <a:off x="1005840" y="1709928"/>
            <a:ext cx="3383280" cy="566928"/>
          </a:xfrm>
          <a:prstGeom prst="rect">
            <a:avLst/>
          </a:prstGeom>
          <a:noFill/>
          <a:ln/>
        </p:spPr>
        <p:txBody>
          <a:bodyPr wrap="square" lIns="0" tIns="0" rIns="0" bIns="0" rtlCol="0" anchor="ctr"/>
          <a:lstStyle/>
          <a:p>
            <a:pPr indent="0" marL="0">
              <a:buNone/>
            </a:pPr>
            <a:r>
              <a:rPr lang="en-US" sz="1300" dirty="0">
                <a:solidFill>
                  <a:schemeClr val="tx1"/>
                </a:solidFill>
              </a:rPr>
              <a:t>Passaggi giustificati</a:t>
            </a:r>
            <a:endParaRPr lang="en-US" sz="1300" dirty="0"/>
          </a:p>
        </p:txBody>
      </p:sp>
      <p:sp>
        <p:nvSpPr>
          <p:cNvPr id="19" name="Correlazione non scambiata per causalità"/>
          <p:cNvSpPr/>
          <p:nvPr/>
        </p:nvSpPr>
        <p:spPr>
          <a:xfrm>
            <a:off x="4663440" y="1709928"/>
            <a:ext cx="4023360" cy="566928"/>
          </a:xfrm>
          <a:prstGeom prst="roundRect">
            <a:avLst>
              <a:gd name="adj" fmla="val 12903"/>
            </a:avLst>
          </a:prstGeom>
          <a:solidFill>
            <a:schemeClr val="bg1"/>
          </a:solidFill>
          <a:ln/>
        </p:spPr>
      </p:sp>
      <p:sp>
        <p:nvSpPr>
          <p:cNvPr id="20" name="casella"/>
          <p:cNvSpPr/>
          <p:nvPr/>
        </p:nvSpPr>
        <p:spPr>
          <a:xfrm>
            <a:off x="4800600" y="1865376"/>
            <a:ext cx="256032" cy="256032"/>
          </a:xfrm>
          <a:prstGeom prst="roundRect">
            <a:avLst>
              <a:gd name="adj" fmla="val 14286"/>
            </a:avLst>
          </a:prstGeom>
          <a:solidFill>
            <a:schemeClr val="bg1"/>
          </a:solidFill>
          <a:ln w="19050">
            <a:solidFill>
              <a:schemeClr val="accent1"/>
            </a:solidFill>
            <a:prstDash val="solid"/>
          </a:ln>
        </p:spPr>
      </p:sp>
      <p:sp>
        <p:nvSpPr>
          <p:cNvPr id="21" name="Text 18"/>
          <p:cNvSpPr txBox="1"/>
          <p:nvPr/>
        </p:nvSpPr>
        <p:spPr>
          <a:xfrm>
            <a:off x="5212080" y="1709928"/>
            <a:ext cx="3383280" cy="566928"/>
          </a:xfrm>
          <a:prstGeom prst="rect">
            <a:avLst/>
          </a:prstGeom>
          <a:noFill/>
          <a:ln/>
        </p:spPr>
        <p:txBody>
          <a:bodyPr wrap="square" lIns="0" tIns="0" rIns="0" bIns="0" rtlCol="0" anchor="ctr"/>
          <a:lstStyle/>
          <a:p>
            <a:pPr indent="0" marL="0">
              <a:buNone/>
            </a:pPr>
            <a:r>
              <a:rPr lang="en-US" sz="1300" dirty="0">
                <a:solidFill>
                  <a:schemeClr val="tx1"/>
                </a:solidFill>
              </a:rPr>
              <a:t>Correlazione non scambiata per causalità</a:t>
            </a:r>
            <a:endParaRPr lang="en-US" sz="1300" dirty="0"/>
          </a:p>
        </p:txBody>
      </p:sp>
      <p:sp>
        <p:nvSpPr>
          <p:cNvPr id="22" name="Nessuna generalizzazione indebita"/>
          <p:cNvSpPr/>
          <p:nvPr/>
        </p:nvSpPr>
        <p:spPr>
          <a:xfrm>
            <a:off x="457200" y="2368296"/>
            <a:ext cx="4023360" cy="566928"/>
          </a:xfrm>
          <a:prstGeom prst="roundRect">
            <a:avLst>
              <a:gd name="adj" fmla="val 12903"/>
            </a:avLst>
          </a:prstGeom>
          <a:solidFill>
            <a:schemeClr val="bg2"/>
          </a:solidFill>
          <a:ln/>
        </p:spPr>
      </p:sp>
      <p:sp>
        <p:nvSpPr>
          <p:cNvPr id="23" name="casella"/>
          <p:cNvSpPr/>
          <p:nvPr/>
        </p:nvSpPr>
        <p:spPr>
          <a:xfrm>
            <a:off x="594360" y="2523744"/>
            <a:ext cx="256032" cy="256032"/>
          </a:xfrm>
          <a:prstGeom prst="roundRect">
            <a:avLst>
              <a:gd name="adj" fmla="val 14286"/>
            </a:avLst>
          </a:prstGeom>
          <a:solidFill>
            <a:schemeClr val="bg1"/>
          </a:solidFill>
          <a:ln w="19050">
            <a:solidFill>
              <a:schemeClr val="accent1"/>
            </a:solidFill>
            <a:prstDash val="solid"/>
          </a:ln>
        </p:spPr>
      </p:sp>
      <p:sp>
        <p:nvSpPr>
          <p:cNvPr id="24" name="Text 21"/>
          <p:cNvSpPr txBox="1"/>
          <p:nvPr/>
        </p:nvSpPr>
        <p:spPr>
          <a:xfrm>
            <a:off x="1005840" y="2368296"/>
            <a:ext cx="3383280" cy="566928"/>
          </a:xfrm>
          <a:prstGeom prst="rect">
            <a:avLst/>
          </a:prstGeom>
          <a:noFill/>
          <a:ln/>
        </p:spPr>
        <p:txBody>
          <a:bodyPr wrap="square" lIns="0" tIns="0" rIns="0" bIns="0" rtlCol="0" anchor="ctr"/>
          <a:lstStyle/>
          <a:p>
            <a:pPr indent="0" marL="0">
              <a:buNone/>
            </a:pPr>
            <a:r>
              <a:rPr lang="en-US" sz="1300" dirty="0">
                <a:solidFill>
                  <a:schemeClr val="tx1"/>
                </a:solidFill>
              </a:rPr>
              <a:t>Nessuna generalizzazione indebita</a:t>
            </a:r>
            <a:endParaRPr lang="en-US" sz="1300" dirty="0"/>
          </a:p>
        </p:txBody>
      </p:sp>
      <p:sp>
        <p:nvSpPr>
          <p:cNvPr id="25" name="Alternative considerate"/>
          <p:cNvSpPr/>
          <p:nvPr/>
        </p:nvSpPr>
        <p:spPr>
          <a:xfrm>
            <a:off x="4663440" y="2368296"/>
            <a:ext cx="4023360" cy="566928"/>
          </a:xfrm>
          <a:prstGeom prst="roundRect">
            <a:avLst>
              <a:gd name="adj" fmla="val 12903"/>
            </a:avLst>
          </a:prstGeom>
          <a:solidFill>
            <a:schemeClr val="bg2"/>
          </a:solidFill>
          <a:ln/>
        </p:spPr>
      </p:sp>
      <p:sp>
        <p:nvSpPr>
          <p:cNvPr id="26" name="casella"/>
          <p:cNvSpPr/>
          <p:nvPr/>
        </p:nvSpPr>
        <p:spPr>
          <a:xfrm>
            <a:off x="4800600" y="2523744"/>
            <a:ext cx="256032" cy="256032"/>
          </a:xfrm>
          <a:prstGeom prst="roundRect">
            <a:avLst>
              <a:gd name="adj" fmla="val 14286"/>
            </a:avLst>
          </a:prstGeom>
          <a:solidFill>
            <a:schemeClr val="bg1"/>
          </a:solidFill>
          <a:ln w="19050">
            <a:solidFill>
              <a:schemeClr val="accent1"/>
            </a:solidFill>
            <a:prstDash val="solid"/>
          </a:ln>
        </p:spPr>
      </p:sp>
      <p:sp>
        <p:nvSpPr>
          <p:cNvPr id="27" name="Text 24"/>
          <p:cNvSpPr txBox="1"/>
          <p:nvPr/>
        </p:nvSpPr>
        <p:spPr>
          <a:xfrm>
            <a:off x="5212080" y="2368296"/>
            <a:ext cx="3383280" cy="566928"/>
          </a:xfrm>
          <a:prstGeom prst="rect">
            <a:avLst/>
          </a:prstGeom>
          <a:noFill/>
          <a:ln/>
        </p:spPr>
        <p:txBody>
          <a:bodyPr wrap="square" lIns="0" tIns="0" rIns="0" bIns="0" rtlCol="0" anchor="ctr"/>
          <a:lstStyle/>
          <a:p>
            <a:pPr indent="0" marL="0">
              <a:buNone/>
            </a:pPr>
            <a:r>
              <a:rPr lang="en-US" sz="1300" dirty="0">
                <a:solidFill>
                  <a:schemeClr val="tx1"/>
                </a:solidFill>
              </a:rPr>
              <a:t>Alternative considerate</a:t>
            </a:r>
            <a:endParaRPr lang="en-US" sz="1300" dirty="0"/>
          </a:p>
        </p:txBody>
      </p:sp>
      <p:sp>
        <p:nvSpPr>
          <p:cNvPr id="28" name="Informazioni rilevanti non omesse"/>
          <p:cNvSpPr/>
          <p:nvPr/>
        </p:nvSpPr>
        <p:spPr>
          <a:xfrm>
            <a:off x="457200" y="3026664"/>
            <a:ext cx="4023360" cy="566928"/>
          </a:xfrm>
          <a:prstGeom prst="roundRect">
            <a:avLst>
              <a:gd name="adj" fmla="val 12903"/>
            </a:avLst>
          </a:prstGeom>
          <a:solidFill>
            <a:schemeClr val="bg1"/>
          </a:solidFill>
          <a:ln/>
        </p:spPr>
      </p:sp>
      <p:sp>
        <p:nvSpPr>
          <p:cNvPr id="29" name="casella"/>
          <p:cNvSpPr/>
          <p:nvPr/>
        </p:nvSpPr>
        <p:spPr>
          <a:xfrm>
            <a:off x="594360" y="3182112"/>
            <a:ext cx="256032" cy="256032"/>
          </a:xfrm>
          <a:prstGeom prst="roundRect">
            <a:avLst>
              <a:gd name="adj" fmla="val 14286"/>
            </a:avLst>
          </a:prstGeom>
          <a:solidFill>
            <a:schemeClr val="bg1"/>
          </a:solidFill>
          <a:ln w="19050">
            <a:solidFill>
              <a:schemeClr val="accent1"/>
            </a:solidFill>
            <a:prstDash val="solid"/>
          </a:ln>
        </p:spPr>
      </p:sp>
      <p:sp>
        <p:nvSpPr>
          <p:cNvPr id="30" name="Text 27"/>
          <p:cNvSpPr txBox="1"/>
          <p:nvPr/>
        </p:nvSpPr>
        <p:spPr>
          <a:xfrm>
            <a:off x="1005840" y="3026664"/>
            <a:ext cx="3383280" cy="566928"/>
          </a:xfrm>
          <a:prstGeom prst="rect">
            <a:avLst/>
          </a:prstGeom>
          <a:noFill/>
          <a:ln/>
        </p:spPr>
        <p:txBody>
          <a:bodyPr wrap="square" lIns="0" tIns="0" rIns="0" bIns="0" rtlCol="0" anchor="ctr"/>
          <a:lstStyle/>
          <a:p>
            <a:pPr indent="0" marL="0">
              <a:buNone/>
            </a:pPr>
            <a:r>
              <a:rPr lang="en-US" sz="1300" dirty="0">
                <a:solidFill>
                  <a:schemeClr val="tx1"/>
                </a:solidFill>
              </a:rPr>
              <a:t>Informazioni rilevanti non omesse</a:t>
            </a:r>
            <a:endParaRPr lang="en-US" sz="1300" dirty="0"/>
          </a:p>
        </p:txBody>
      </p:sp>
      <p:sp>
        <p:nvSpPr>
          <p:cNvPr id="31" name="Conclusione proporzionata alle evidenze"/>
          <p:cNvSpPr/>
          <p:nvPr/>
        </p:nvSpPr>
        <p:spPr>
          <a:xfrm>
            <a:off x="4663440" y="3026664"/>
            <a:ext cx="4023360" cy="566928"/>
          </a:xfrm>
          <a:prstGeom prst="roundRect">
            <a:avLst>
              <a:gd name="adj" fmla="val 12903"/>
            </a:avLst>
          </a:prstGeom>
          <a:solidFill>
            <a:schemeClr val="bg1"/>
          </a:solidFill>
          <a:ln/>
        </p:spPr>
      </p:sp>
      <p:sp>
        <p:nvSpPr>
          <p:cNvPr id="32" name="casella"/>
          <p:cNvSpPr/>
          <p:nvPr/>
        </p:nvSpPr>
        <p:spPr>
          <a:xfrm>
            <a:off x="4800600" y="3182112"/>
            <a:ext cx="256032" cy="256032"/>
          </a:xfrm>
          <a:prstGeom prst="roundRect">
            <a:avLst>
              <a:gd name="adj" fmla="val 14286"/>
            </a:avLst>
          </a:prstGeom>
          <a:solidFill>
            <a:schemeClr val="bg1"/>
          </a:solidFill>
          <a:ln w="19050">
            <a:solidFill>
              <a:schemeClr val="accent1"/>
            </a:solidFill>
            <a:prstDash val="solid"/>
          </a:ln>
        </p:spPr>
      </p:sp>
      <p:sp>
        <p:nvSpPr>
          <p:cNvPr id="33" name="Text 30"/>
          <p:cNvSpPr txBox="1"/>
          <p:nvPr/>
        </p:nvSpPr>
        <p:spPr>
          <a:xfrm>
            <a:off x="5212080" y="3026664"/>
            <a:ext cx="3383280" cy="566928"/>
          </a:xfrm>
          <a:prstGeom prst="rect">
            <a:avLst/>
          </a:prstGeom>
          <a:noFill/>
          <a:ln/>
        </p:spPr>
        <p:txBody>
          <a:bodyPr wrap="square" lIns="0" tIns="0" rIns="0" bIns="0" rtlCol="0" anchor="ctr"/>
          <a:lstStyle/>
          <a:p>
            <a:pPr indent="0" marL="0">
              <a:buNone/>
            </a:pPr>
            <a:r>
              <a:rPr lang="en-US" sz="1300" dirty="0">
                <a:solidFill>
                  <a:schemeClr val="tx1"/>
                </a:solidFill>
              </a:rPr>
              <a:t>Conclusione proporzionata alle evidenze</a:t>
            </a:r>
            <a:endParaRPr lang="en-US" sz="1300" dirty="0"/>
          </a:p>
        </p:txBody>
      </p:sp>
      <p:sp>
        <p:nvSpPr>
          <p:cNvPr id="34" name="Text 31"/>
          <p:cNvSpPr txBox="1"/>
          <p:nvPr/>
        </p:nvSpPr>
        <p:spPr>
          <a:xfrm>
            <a:off x="457200" y="3794760"/>
            <a:ext cx="8229600" cy="685800"/>
          </a:xfrm>
          <a:prstGeom prst="rect">
            <a:avLst/>
          </a:prstGeom>
          <a:noFill/>
          <a:ln/>
        </p:spPr>
        <p:txBody>
          <a:bodyPr wrap="square" lIns="0" tIns="0" rIns="0" bIns="0" rtlCol="0" anchor="t"/>
          <a:lstStyle/>
          <a:p>
            <a:pPr indent="0" marL="0">
              <a:buNone/>
            </a:pPr>
            <a:r>
              <a:rPr lang="en-US" sz="1300" i="1" dirty="0">
                <a:solidFill>
                  <a:schemeClr val="tx1"/>
                </a:solidFill>
              </a:rPr>
              <a:t>Troppo forte, troppo debole, o non collegata alle evidenze: tre modi di sbagliare una conclusione.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Informazioni singolarmente corrette non assicurano che la conclusione tratta da esse sia giustificata.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7.4  ·  Valutare ragionamenti e conclusioni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Verifica di dati, calcoli e risultati quantitativi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risultato quantitativo utile alle decisioni deve essere riconducibile a dati e procedimenti controllabili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di partenza, formule e unità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Dati di partenza"/>
          <p:cNvSpPr/>
          <p:nvPr/>
        </p:nvSpPr>
        <p:spPr>
          <a:xfrm>
            <a:off x="457200" y="1097280"/>
            <a:ext cx="2615184" cy="2560320"/>
          </a:xfrm>
          <a:prstGeom prst="roundRect">
            <a:avLst>
              <a:gd name="adj" fmla="val 2857"/>
            </a:avLst>
          </a:prstGeom>
          <a:solidFill>
            <a:schemeClr val="bg2"/>
          </a:solidFill>
          <a:ln/>
        </p:spPr>
      </p:sp>
      <p:sp>
        <p:nvSpPr>
          <p:cNvPr id="11" name="cerchio FiDatabase"/>
          <p:cNvSpPr/>
          <p:nvPr/>
        </p:nvSpPr>
        <p:spPr>
          <a:xfrm>
            <a:off x="640080" y="1280160"/>
            <a:ext cx="457200" cy="457200"/>
          </a:xfrm>
          <a:prstGeom prst="ellipse">
            <a:avLst/>
          </a:prstGeom>
          <a:solidFill>
            <a:schemeClr val="accent1"/>
          </a:solidFill>
          <a:ln/>
        </p:spPr>
      </p:sp>
      <p:pic>
        <p:nvPicPr>
          <p:cNvPr id="12"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Dati di partenza</a:t>
            </a:r>
            <a:endParaRPr lang="en-US" sz="1500" dirty="0"/>
          </a:p>
        </p:txBody>
      </p:sp>
      <p:sp>
        <p:nvSpPr>
          <p:cNvPr id="14" name="Text 10"/>
          <p:cNvSpPr txBox="1"/>
          <p:nvPr/>
        </p:nvSpPr>
        <p:spPr>
          <a:xfrm>
            <a:off x="640080" y="2231136"/>
            <a:ext cx="2249424" cy="13167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Fonte, periodo, entità, versione giusti?</a:t>
            </a:r>
            <a:endParaRPr lang="en-US" sz="1200" dirty="0"/>
          </a:p>
          <a:p>
            <a:pPr marL="177800" indent="-177800">
              <a:spcAft>
                <a:spcPts val="500"/>
              </a:spcAft>
              <a:buSzPct val="100000"/>
              <a:buChar char="•"/>
            </a:pPr>
            <a:r>
              <a:rPr lang="en-US" sz="1200" dirty="0">
                <a:solidFill>
                  <a:schemeClr val="tx2"/>
                </a:solidFill>
              </a:rPr>
              <a:t>Completi?</a:t>
            </a:r>
            <a:endParaRPr lang="en-US" sz="1200" dirty="0"/>
          </a:p>
          <a:p>
            <a:pPr marL="177800" indent="-177800">
              <a:spcAft>
                <a:spcPts val="500"/>
              </a:spcAft>
              <a:buSzPct val="100000"/>
              <a:buChar char="•"/>
            </a:pPr>
            <a:r>
              <a:rPr lang="en-US" sz="1200" dirty="0">
                <a:solidFill>
                  <a:schemeClr val="tx2"/>
                </a:solidFill>
              </a:rPr>
              <a:t>Letti correttamente?</a:t>
            </a:r>
            <a:endParaRPr lang="en-US" sz="1200" dirty="0"/>
          </a:p>
        </p:txBody>
      </p:sp>
      <p:sp>
        <p:nvSpPr>
          <p:cNvPr id="15" name="scheda Formule e operazioni"/>
          <p:cNvSpPr/>
          <p:nvPr/>
        </p:nvSpPr>
        <p:spPr>
          <a:xfrm>
            <a:off x="3264408" y="1097280"/>
            <a:ext cx="2615184" cy="2560320"/>
          </a:xfrm>
          <a:prstGeom prst="roundRect">
            <a:avLst>
              <a:gd name="adj" fmla="val 2857"/>
            </a:avLst>
          </a:prstGeom>
          <a:solidFill>
            <a:schemeClr val="bg2"/>
          </a:solidFill>
          <a:ln/>
        </p:spPr>
      </p:sp>
      <p:sp>
        <p:nvSpPr>
          <p:cNvPr id="16" name="cerchio FiCode"/>
          <p:cNvSpPr/>
          <p:nvPr/>
        </p:nvSpPr>
        <p:spPr>
          <a:xfrm>
            <a:off x="3447288" y="1280160"/>
            <a:ext cx="457200" cy="457200"/>
          </a:xfrm>
          <a:prstGeom prst="ellipse">
            <a:avLst/>
          </a:prstGeom>
          <a:solidFill>
            <a:schemeClr val="accent1"/>
          </a:solidFill>
          <a:ln/>
        </p:spPr>
      </p:sp>
      <p:pic>
        <p:nvPicPr>
          <p:cNvPr id="17" name="Image 1" descr="FiCode">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Formule e operazioni</a:t>
            </a:r>
            <a:endParaRPr lang="en-US" sz="1500" dirty="0"/>
          </a:p>
        </p:txBody>
      </p:sp>
      <p:sp>
        <p:nvSpPr>
          <p:cNvPr id="19" name="Text 14"/>
          <p:cNvSpPr txBox="1"/>
          <p:nvPr/>
        </p:nvSpPr>
        <p:spPr>
          <a:xfrm>
            <a:off x="3447288" y="2231136"/>
            <a:ext cx="2249424" cy="13167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Il calcolo appropriato?</a:t>
            </a:r>
            <a:endParaRPr lang="en-US" sz="1200" dirty="0"/>
          </a:p>
          <a:p>
            <a:pPr marL="177800" indent="-177800">
              <a:spcAft>
                <a:spcPts val="500"/>
              </a:spcAft>
              <a:buSzPct val="100000"/>
              <a:buChar char="•"/>
            </a:pPr>
            <a:r>
              <a:rPr lang="en-US" sz="1200" dirty="0">
                <a:solidFill>
                  <a:schemeClr val="tx2"/>
                </a:solidFill>
              </a:rPr>
              <a:t>Media ponderata quando serve?</a:t>
            </a:r>
            <a:endParaRPr lang="en-US" sz="1200" dirty="0"/>
          </a:p>
          <a:p>
            <a:pPr marL="177800" indent="-177800">
              <a:spcAft>
                <a:spcPts val="500"/>
              </a:spcAft>
              <a:buSzPct val="100000"/>
              <a:buChar char="•"/>
            </a:pPr>
            <a:r>
              <a:rPr lang="en-US" sz="1200" dirty="0">
                <a:solidFill>
                  <a:schemeClr val="tx2"/>
                </a:solidFill>
              </a:rPr>
              <a:t>Definizioni aziendali rispettate?</a:t>
            </a:r>
            <a:endParaRPr lang="en-US" sz="1200" dirty="0"/>
          </a:p>
        </p:txBody>
      </p:sp>
      <p:sp>
        <p:nvSpPr>
          <p:cNvPr id="20" name="scheda Unità di misura"/>
          <p:cNvSpPr/>
          <p:nvPr/>
        </p:nvSpPr>
        <p:spPr>
          <a:xfrm>
            <a:off x="6071616" y="1097280"/>
            <a:ext cx="2615184" cy="2560320"/>
          </a:xfrm>
          <a:prstGeom prst="roundRect">
            <a:avLst>
              <a:gd name="adj" fmla="val 2857"/>
            </a:avLst>
          </a:prstGeom>
          <a:solidFill>
            <a:schemeClr val="accent6"/>
          </a:solidFill>
          <a:ln/>
        </p:spPr>
      </p:sp>
      <p:sp>
        <p:nvSpPr>
          <p:cNvPr id="21" name="cerchio FiSliders"/>
          <p:cNvSpPr/>
          <p:nvPr/>
        </p:nvSpPr>
        <p:spPr>
          <a:xfrm>
            <a:off x="6254496" y="1280160"/>
            <a:ext cx="457200" cy="457200"/>
          </a:xfrm>
          <a:prstGeom prst="ellipse">
            <a:avLst/>
          </a:prstGeom>
          <a:solidFill>
            <a:schemeClr val="accent1"/>
          </a:solidFill>
          <a:ln/>
        </p:spPr>
      </p:sp>
      <p:pic>
        <p:nvPicPr>
          <p:cNvPr id="22" name="Image 2" descr="FiSliders">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Unità di misura</a:t>
            </a:r>
            <a:endParaRPr lang="en-US" sz="1500" dirty="0"/>
          </a:p>
        </p:txBody>
      </p:sp>
      <p:sp>
        <p:nvSpPr>
          <p:cNvPr id="24" name="Text 18"/>
          <p:cNvSpPr txBox="1"/>
          <p:nvPr/>
        </p:nvSpPr>
        <p:spPr>
          <a:xfrm>
            <a:off x="6254496" y="2231136"/>
            <a:ext cx="2249424" cy="13167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Euro o migliaia, mese o anno?</a:t>
            </a:r>
            <a:endParaRPr lang="en-US" sz="1200" dirty="0"/>
          </a:p>
          <a:p>
            <a:pPr marL="177800" indent="-177800">
              <a:spcAft>
                <a:spcPts val="500"/>
              </a:spcAft>
              <a:buSzPct val="100000"/>
              <a:buChar char="•"/>
            </a:pPr>
            <a:r>
              <a:rPr lang="en-US" sz="1200" dirty="0">
                <a:solidFill>
                  <a:schemeClr val="tx2"/>
                </a:solidFill>
              </a:rPr>
              <a:t>Pezzi o confezioni?</a:t>
            </a:r>
            <a:endParaRPr lang="en-US" sz="1200" dirty="0"/>
          </a:p>
          <a:p>
            <a:pPr marL="177800" indent="-177800">
              <a:spcAft>
                <a:spcPts val="500"/>
              </a:spcAft>
              <a:buSzPct val="100000"/>
              <a:buChar char="•"/>
            </a:pPr>
            <a:r>
              <a:rPr lang="en-US" sz="1200" dirty="0">
                <a:solidFill>
                  <a:schemeClr val="tx2"/>
                </a:solidFill>
              </a:rPr>
              <a:t>Percentuale o punti percentuali?</a:t>
            </a:r>
            <a:endParaRPr lang="en-US" sz="1200" dirty="0"/>
          </a:p>
        </p:txBody>
      </p:sp>
      <p:sp>
        <p:nvSpPr>
          <p:cNvPr id="25" name="messaggio"/>
          <p:cNvSpPr/>
          <p:nvPr/>
        </p:nvSpPr>
        <p:spPr>
          <a:xfrm>
            <a:off x="457200" y="3794760"/>
            <a:ext cx="8229600" cy="731520"/>
          </a:xfrm>
          <a:prstGeom prst="roundRect">
            <a:avLst>
              <a:gd name="adj" fmla="val 10000"/>
            </a:avLst>
          </a:prstGeom>
          <a:solidFill>
            <a:schemeClr val="tx1"/>
          </a:solidFill>
          <a:ln/>
        </p:spPr>
      </p:sp>
      <p:sp>
        <p:nvSpPr>
          <p:cNvPr id="26" name="Text 20"/>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Da 10% a 12%: +2 punti percentuali, ma +20% in termini relativi. Una confusione frequente.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Plausibilità e ordini di grandezza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Ordine di grandezza"/>
          <p:cNvSpPr/>
          <p:nvPr/>
        </p:nvSpPr>
        <p:spPr>
          <a:xfrm>
            <a:off x="457200" y="1097280"/>
            <a:ext cx="2621280" cy="1417320"/>
          </a:xfrm>
          <a:prstGeom prst="roundRect">
            <a:avLst>
              <a:gd name="adj" fmla="val 5161"/>
            </a:avLst>
          </a:prstGeom>
          <a:solidFill>
            <a:schemeClr val="bg2"/>
          </a:solidFill>
          <a:ln/>
        </p:spPr>
      </p:sp>
      <p:sp>
        <p:nvSpPr>
          <p:cNvPr id="11" name="cerchio FiMaximize"/>
          <p:cNvSpPr/>
          <p:nvPr/>
        </p:nvSpPr>
        <p:spPr>
          <a:xfrm>
            <a:off x="621792" y="1261872"/>
            <a:ext cx="438912" cy="438912"/>
          </a:xfrm>
          <a:prstGeom prst="ellipse">
            <a:avLst/>
          </a:prstGeom>
          <a:solidFill>
            <a:schemeClr val="accent1"/>
          </a:solidFill>
          <a:ln/>
        </p:spPr>
      </p:sp>
      <p:pic>
        <p:nvPicPr>
          <p:cNvPr id="12" name="Image 0" descr="FiMaximize">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Ordine di grandezza</a:t>
            </a:r>
            <a:endParaRPr lang="en-US" sz="1400" dirty="0"/>
          </a:p>
        </p:txBody>
      </p:sp>
      <p:sp>
        <p:nvSpPr>
          <p:cNvPr id="14" name="Text 10"/>
          <p:cNvSpPr txBox="1"/>
          <p:nvPr/>
        </p:nvSpPr>
        <p:spPr>
          <a:xfrm>
            <a:off x="62179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Fatturato di 10 milioni: 100 milioni o 100 mila segnalano un errore</a:t>
            </a:r>
            <a:endParaRPr lang="en-US" sz="1200" dirty="0"/>
          </a:p>
        </p:txBody>
      </p:sp>
      <p:sp>
        <p:nvSpPr>
          <p:cNvPr id="15" name="Segno"/>
          <p:cNvSpPr/>
          <p:nvPr/>
        </p:nvSpPr>
        <p:spPr>
          <a:xfrm>
            <a:off x="3261360" y="1097280"/>
            <a:ext cx="2621280" cy="1417320"/>
          </a:xfrm>
          <a:prstGeom prst="roundRect">
            <a:avLst>
              <a:gd name="adj" fmla="val 5161"/>
            </a:avLst>
          </a:prstGeom>
          <a:solidFill>
            <a:schemeClr val="bg2"/>
          </a:solidFill>
          <a:ln/>
        </p:spPr>
      </p:sp>
      <p:sp>
        <p:nvSpPr>
          <p:cNvPr id="16" name="cerchio FiPlusCircle"/>
          <p:cNvSpPr/>
          <p:nvPr/>
        </p:nvSpPr>
        <p:spPr>
          <a:xfrm>
            <a:off x="3425952" y="1261872"/>
            <a:ext cx="438912" cy="438912"/>
          </a:xfrm>
          <a:prstGeom prst="ellipse">
            <a:avLst/>
          </a:prstGeom>
          <a:solidFill>
            <a:schemeClr val="accent1"/>
          </a:solidFill>
          <a:ln/>
        </p:spPr>
      </p:sp>
      <p:pic>
        <p:nvPicPr>
          <p:cNvPr id="17" name="Image 1" descr="FiPlusCircle">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Segno</a:t>
            </a:r>
            <a:endParaRPr lang="en-US" sz="1400" dirty="0"/>
          </a:p>
        </p:txBody>
      </p:sp>
      <p:sp>
        <p:nvSpPr>
          <p:cNvPr id="19" name="Text 14"/>
          <p:cNvSpPr txBox="1"/>
          <p:nvPr/>
        </p:nvSpPr>
        <p:spPr>
          <a:xfrm>
            <a:off x="342595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Un costo negativo, una crescita inattesa: perché?</a:t>
            </a:r>
            <a:endParaRPr lang="en-US" sz="1200" dirty="0"/>
          </a:p>
        </p:txBody>
      </p:sp>
      <p:sp>
        <p:nvSpPr>
          <p:cNvPr id="20" name="Totali"/>
          <p:cNvSpPr/>
          <p:nvPr/>
        </p:nvSpPr>
        <p:spPr>
          <a:xfrm>
            <a:off x="6065520" y="1097280"/>
            <a:ext cx="2621280" cy="1417320"/>
          </a:xfrm>
          <a:prstGeom prst="roundRect">
            <a:avLst>
              <a:gd name="adj" fmla="val 5161"/>
            </a:avLst>
          </a:prstGeom>
          <a:solidFill>
            <a:schemeClr val="bg2"/>
          </a:solidFill>
          <a:ln/>
        </p:spPr>
      </p:sp>
      <p:sp>
        <p:nvSpPr>
          <p:cNvPr id="21" name="cerchio FiPieChart"/>
          <p:cNvSpPr/>
          <p:nvPr/>
        </p:nvSpPr>
        <p:spPr>
          <a:xfrm>
            <a:off x="6230112" y="1261872"/>
            <a:ext cx="438912" cy="438912"/>
          </a:xfrm>
          <a:prstGeom prst="ellipse">
            <a:avLst/>
          </a:prstGeom>
          <a:solidFill>
            <a:schemeClr val="accent1"/>
          </a:solidFill>
          <a:ln/>
        </p:spPr>
      </p:sp>
      <p:pic>
        <p:nvPicPr>
          <p:cNvPr id="22" name="Image 2" descr="FiPieChart">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Totali</a:t>
            </a:r>
            <a:endParaRPr lang="en-US" sz="1400" dirty="0"/>
          </a:p>
        </p:txBody>
      </p:sp>
      <p:sp>
        <p:nvSpPr>
          <p:cNvPr id="24" name="Text 18"/>
          <p:cNvSpPr txBox="1"/>
          <p:nvPr/>
        </p:nvSpPr>
        <p:spPr>
          <a:xfrm>
            <a:off x="623011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La somma delle parti torna? Le percentuali fanno 100?</a:t>
            </a:r>
            <a:endParaRPr lang="en-US" sz="1200" dirty="0"/>
          </a:p>
        </p:txBody>
      </p:sp>
      <p:sp>
        <p:nvSpPr>
          <p:cNvPr id="25" name="Coerenza con il noto"/>
          <p:cNvSpPr/>
          <p:nvPr/>
        </p:nvSpPr>
        <p:spPr>
          <a:xfrm>
            <a:off x="457200" y="2697480"/>
            <a:ext cx="4023360" cy="1143000"/>
          </a:xfrm>
          <a:prstGeom prst="roundRect">
            <a:avLst>
              <a:gd name="adj" fmla="val 6400"/>
            </a:avLst>
          </a:prstGeom>
          <a:solidFill>
            <a:schemeClr val="bg2"/>
          </a:solidFill>
          <a:ln/>
        </p:spPr>
      </p:sp>
      <p:sp>
        <p:nvSpPr>
          <p:cNvPr id="26" name="cerchio FiUsers"/>
          <p:cNvSpPr/>
          <p:nvPr/>
        </p:nvSpPr>
        <p:spPr>
          <a:xfrm>
            <a:off x="621792" y="2862072"/>
            <a:ext cx="438912" cy="438912"/>
          </a:xfrm>
          <a:prstGeom prst="ellipse">
            <a:avLst/>
          </a:prstGeom>
          <a:solidFill>
            <a:schemeClr val="accent1"/>
          </a:solidFill>
          <a:ln/>
        </p:spPr>
      </p:sp>
      <p:pic>
        <p:nvPicPr>
          <p:cNvPr id="27" name="Image 3" descr="FiUsers">    </p:cNvPr>
          <p:cNvPicPr>
            <a:picLocks noChangeAspect="1"/>
          </p:cNvPicPr>
          <p:nvPr/>
        </p:nvPicPr>
        <p:blipFill>
          <a:blip r:embed="rId4"/>
          <a:stretch>
            <a:fillRect/>
          </a:stretch>
        </p:blipFill>
        <p:spPr>
          <a:xfrm>
            <a:off x="731520" y="2971800"/>
            <a:ext cx="219456" cy="219456"/>
          </a:xfrm>
          <a:prstGeom prst="rect">
            <a:avLst/>
          </a:prstGeom>
        </p:spPr>
      </p:pic>
      <p:sp>
        <p:nvSpPr>
          <p:cNvPr id="28" name="Text 21"/>
          <p:cNvSpPr txBox="1"/>
          <p:nvPr/>
        </p:nvSpPr>
        <p:spPr>
          <a:xfrm>
            <a:off x="1170432" y="28254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Coerenza con il noto</a:t>
            </a:r>
            <a:endParaRPr lang="en-US" sz="1400" dirty="0"/>
          </a:p>
        </p:txBody>
      </p:sp>
      <p:sp>
        <p:nvSpPr>
          <p:cNvPr id="29" name="Text 22"/>
          <p:cNvSpPr txBox="1"/>
          <p:nvPr/>
        </p:nvSpPr>
        <p:spPr>
          <a:xfrm>
            <a:off x="621792" y="3410712"/>
            <a:ext cx="3694176" cy="338328"/>
          </a:xfrm>
          <a:prstGeom prst="rect">
            <a:avLst/>
          </a:prstGeom>
          <a:noFill/>
          <a:ln/>
        </p:spPr>
        <p:txBody>
          <a:bodyPr wrap="square" lIns="0" tIns="0" rIns="0" bIns="0" rtlCol="0" anchor="t"/>
          <a:lstStyle/>
          <a:p>
            <a:pPr indent="0" marL="0">
              <a:buNone/>
            </a:pPr>
            <a:r>
              <a:rPr lang="en-US" sz="1200" dirty="0">
                <a:solidFill>
                  <a:schemeClr val="tx2"/>
                </a:solidFill>
              </a:rPr>
              <a:t>5 persone con più costi di 50?</a:t>
            </a:r>
            <a:endParaRPr lang="en-US" sz="1200" dirty="0"/>
          </a:p>
        </p:txBody>
      </p:sp>
      <p:sp>
        <p:nvSpPr>
          <p:cNvPr id="30" name="Variazioni nel tempo"/>
          <p:cNvSpPr/>
          <p:nvPr/>
        </p:nvSpPr>
        <p:spPr>
          <a:xfrm>
            <a:off x="4663440" y="2697480"/>
            <a:ext cx="4023360" cy="1143000"/>
          </a:xfrm>
          <a:prstGeom prst="roundRect">
            <a:avLst>
              <a:gd name="adj" fmla="val 6400"/>
            </a:avLst>
          </a:prstGeom>
          <a:solidFill>
            <a:schemeClr val="bg2"/>
          </a:solidFill>
          <a:ln/>
        </p:spPr>
      </p:sp>
      <p:sp>
        <p:nvSpPr>
          <p:cNvPr id="31" name="cerchio FiTrendingUp"/>
          <p:cNvSpPr/>
          <p:nvPr/>
        </p:nvSpPr>
        <p:spPr>
          <a:xfrm>
            <a:off x="4828032" y="2862072"/>
            <a:ext cx="438912" cy="438912"/>
          </a:xfrm>
          <a:prstGeom prst="ellipse">
            <a:avLst/>
          </a:prstGeom>
          <a:solidFill>
            <a:schemeClr val="accent1"/>
          </a:solidFill>
          <a:ln/>
        </p:spPr>
      </p:sp>
      <p:pic>
        <p:nvPicPr>
          <p:cNvPr id="32" name="Image 4" descr="FiTrendingUp">    </p:cNvPr>
          <p:cNvPicPr>
            <a:picLocks noChangeAspect="1"/>
          </p:cNvPicPr>
          <p:nvPr/>
        </p:nvPicPr>
        <p:blipFill>
          <a:blip r:embed="rId5"/>
          <a:stretch>
            <a:fillRect/>
          </a:stretch>
        </p:blipFill>
        <p:spPr>
          <a:xfrm>
            <a:off x="4937760" y="2971800"/>
            <a:ext cx="219456" cy="219456"/>
          </a:xfrm>
          <a:prstGeom prst="rect">
            <a:avLst/>
          </a:prstGeom>
        </p:spPr>
      </p:pic>
      <p:sp>
        <p:nvSpPr>
          <p:cNvPr id="33" name="Text 25"/>
          <p:cNvSpPr txBox="1"/>
          <p:nvPr/>
        </p:nvSpPr>
        <p:spPr>
          <a:xfrm>
            <a:off x="5376672" y="28254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Variazioni nel tempo</a:t>
            </a:r>
            <a:endParaRPr lang="en-US" sz="1400" dirty="0"/>
          </a:p>
        </p:txBody>
      </p:sp>
      <p:sp>
        <p:nvSpPr>
          <p:cNvPr id="34" name="Text 26"/>
          <p:cNvSpPr txBox="1"/>
          <p:nvPr/>
        </p:nvSpPr>
        <p:spPr>
          <a:xfrm>
            <a:off x="4828032" y="3410712"/>
            <a:ext cx="3694176" cy="338328"/>
          </a:xfrm>
          <a:prstGeom prst="rect">
            <a:avLst/>
          </a:prstGeom>
          <a:noFill/>
          <a:ln/>
        </p:spPr>
        <p:txBody>
          <a:bodyPr wrap="square" lIns="0" tIns="0" rIns="0" bIns="0" rtlCol="0" anchor="t"/>
          <a:lstStyle/>
          <a:p>
            <a:pPr indent="0" marL="0">
              <a:buNone/>
            </a:pPr>
            <a:r>
              <a:rPr lang="en-US" sz="1200" dirty="0">
                <a:solidFill>
                  <a:schemeClr val="tx2"/>
                </a:solidFill>
              </a:rPr>
              <a:t>+300% in un mese in un'attività stabile?</a:t>
            </a:r>
            <a:endParaRPr lang="en-US" sz="1200" dirty="0"/>
          </a:p>
        </p:txBody>
      </p:sp>
      <p:sp>
        <p:nvSpPr>
          <p:cNvPr id="35" name="messaggio"/>
          <p:cNvSpPr/>
          <p:nvPr/>
        </p:nvSpPr>
        <p:spPr>
          <a:xfrm>
            <a:off x="457200" y="4023360"/>
            <a:ext cx="8229600" cy="502920"/>
          </a:xfrm>
          <a:prstGeom prst="roundRect">
            <a:avLst>
              <a:gd name="adj" fmla="val 14545"/>
            </a:avLst>
          </a:prstGeom>
          <a:solidFill>
            <a:schemeClr val="tx1"/>
          </a:solidFill>
          <a:ln/>
        </p:spPr>
      </p:sp>
      <p:sp>
        <p:nvSpPr>
          <p:cNvPr id="36" name="Text 2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Il primo filtro: non dimostra la correttezza, ma intercetta molti errori. Serve conoscere i propri numeri.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osservati, stime e simulazioni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i osservati"/>
          <p:cNvSpPr/>
          <p:nvPr/>
        </p:nvSpPr>
        <p:spPr>
          <a:xfrm>
            <a:off x="457200" y="1097280"/>
            <a:ext cx="2615184" cy="2514600"/>
          </a:xfrm>
          <a:prstGeom prst="roundRect">
            <a:avLst>
              <a:gd name="adj" fmla="val 2909"/>
            </a:avLst>
          </a:prstGeom>
          <a:solidFill>
            <a:schemeClr val="accent6"/>
          </a:solidFill>
          <a:ln/>
        </p:spPr>
      </p:sp>
      <p:sp>
        <p:nvSpPr>
          <p:cNvPr id="11" name="Text 8"/>
          <p:cNvSpPr txBox="1"/>
          <p:nvPr/>
        </p:nvSpPr>
        <p:spPr>
          <a:xfrm>
            <a:off x="640080"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Dati osservati</a:t>
            </a:r>
            <a:endParaRPr lang="en-US" sz="1600" dirty="0"/>
          </a:p>
        </p:txBody>
      </p:sp>
      <p:sp>
        <p:nvSpPr>
          <p:cNvPr id="12" name="Text 9"/>
          <p:cNvSpPr txBox="1"/>
          <p:nvPr/>
        </p:nvSpPr>
        <p:spPr>
          <a:xfrm>
            <a:off x="640080" y="1572768"/>
            <a:ext cx="2249424" cy="457200"/>
          </a:xfrm>
          <a:prstGeom prst="rect">
            <a:avLst/>
          </a:prstGeom>
          <a:noFill/>
          <a:ln/>
        </p:spPr>
        <p:txBody>
          <a:bodyPr wrap="square" lIns="0" tIns="0" rIns="0" bIns="0" rtlCol="0" anchor="t"/>
          <a:lstStyle/>
          <a:p>
            <a:pPr indent="0" marL="0">
              <a:buNone/>
            </a:pPr>
            <a:r>
              <a:rPr lang="en-US" sz="1300" b="1" dirty="0">
                <a:solidFill>
                  <a:schemeClr val="tx1"/>
                </a:solidFill>
              </a:rPr>
              <a:t>Misurati o registrati</a:t>
            </a:r>
            <a:endParaRPr lang="en-US" sz="1300" dirty="0"/>
          </a:p>
        </p:txBody>
      </p:sp>
      <p:sp>
        <p:nvSpPr>
          <p:cNvPr id="13" name="Text 10"/>
          <p:cNvSpPr txBox="1"/>
          <p:nvPr/>
        </p:nvSpPr>
        <p:spPr>
          <a:xfrm>
            <a:off x="640080" y="2103120"/>
            <a:ext cx="2249424" cy="685800"/>
          </a:xfrm>
          <a:prstGeom prst="rect">
            <a:avLst/>
          </a:prstGeom>
          <a:noFill/>
          <a:ln/>
        </p:spPr>
        <p:txBody>
          <a:bodyPr wrap="square" lIns="0" tIns="0" rIns="0" bIns="0" rtlCol="0" anchor="t"/>
          <a:lstStyle/>
          <a:p>
            <a:pPr indent="0" marL="0">
              <a:buNone/>
            </a:pPr>
            <a:r>
              <a:rPr lang="en-US" sz="1200" i="1" dirty="0">
                <a:solidFill>
                  <a:schemeClr val="tx2"/>
                </a:solidFill>
              </a:rPr>
              <a:t>Esempi: Vendite del mese, dipendenti, reclami</a:t>
            </a:r>
            <a:endParaRPr lang="en-US" sz="1200" dirty="0"/>
          </a:p>
        </p:txBody>
      </p:sp>
      <p:sp>
        <p:nvSpPr>
          <p:cNvPr id="14" name="Text 11"/>
          <p:cNvSpPr txBox="1"/>
          <p:nvPr/>
        </p:nvSpPr>
        <p:spPr>
          <a:xfrm>
            <a:off x="640080" y="2834640"/>
            <a:ext cx="2249424" cy="685800"/>
          </a:xfrm>
          <a:prstGeom prst="rect">
            <a:avLst/>
          </a:prstGeom>
          <a:noFill/>
          <a:ln/>
        </p:spPr>
        <p:txBody>
          <a:bodyPr wrap="square" lIns="0" tIns="0" rIns="0" bIns="0" rtlCol="0" anchor="t"/>
          <a:lstStyle/>
          <a:p>
            <a:pPr indent="0" marL="0">
              <a:buNone/>
            </a:pPr>
            <a:r>
              <a:rPr lang="en-US" sz="1200" b="1" dirty="0">
                <a:solidFill>
                  <a:schemeClr val="tx1"/>
                </a:solidFill>
              </a:rPr>
              <a:t>I più affidabili, se la fonte è corretta</a:t>
            </a:r>
            <a:endParaRPr lang="en-US" sz="1200" dirty="0"/>
          </a:p>
        </p:txBody>
      </p:sp>
      <p:sp>
        <p:nvSpPr>
          <p:cNvPr id="15" name="Stime"/>
          <p:cNvSpPr/>
          <p:nvPr/>
        </p:nvSpPr>
        <p:spPr>
          <a:xfrm>
            <a:off x="3264408" y="1097280"/>
            <a:ext cx="2615184" cy="2514600"/>
          </a:xfrm>
          <a:prstGeom prst="roundRect">
            <a:avLst>
              <a:gd name="adj" fmla="val 2909"/>
            </a:avLst>
          </a:prstGeom>
          <a:solidFill>
            <a:schemeClr val="bg2"/>
          </a:solidFill>
          <a:ln/>
        </p:spPr>
      </p:sp>
      <p:sp>
        <p:nvSpPr>
          <p:cNvPr id="16" name="Text 13"/>
          <p:cNvSpPr txBox="1"/>
          <p:nvPr/>
        </p:nvSpPr>
        <p:spPr>
          <a:xfrm>
            <a:off x="3447288"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Stime</a:t>
            </a:r>
            <a:endParaRPr lang="en-US" sz="1600" dirty="0"/>
          </a:p>
        </p:txBody>
      </p:sp>
      <p:sp>
        <p:nvSpPr>
          <p:cNvPr id="17" name="Text 14"/>
          <p:cNvSpPr txBox="1"/>
          <p:nvPr/>
        </p:nvSpPr>
        <p:spPr>
          <a:xfrm>
            <a:off x="3447288" y="1572768"/>
            <a:ext cx="2249424" cy="457200"/>
          </a:xfrm>
          <a:prstGeom prst="rect">
            <a:avLst/>
          </a:prstGeom>
          <a:noFill/>
          <a:ln/>
        </p:spPr>
        <p:txBody>
          <a:bodyPr wrap="square" lIns="0" tIns="0" rIns="0" bIns="0" rtlCol="0" anchor="t"/>
          <a:lstStyle/>
          <a:p>
            <a:pPr indent="0" marL="0">
              <a:buNone/>
            </a:pPr>
            <a:r>
              <a:rPr lang="en-US" sz="1300" b="1" dirty="0">
                <a:solidFill>
                  <a:schemeClr val="tx1"/>
                </a:solidFill>
              </a:rPr>
              <a:t>Calcolati da dati parziali o ipotesi</a:t>
            </a:r>
            <a:endParaRPr lang="en-US" sz="1300" dirty="0"/>
          </a:p>
        </p:txBody>
      </p:sp>
      <p:sp>
        <p:nvSpPr>
          <p:cNvPr id="18" name="Text 15"/>
          <p:cNvSpPr txBox="1"/>
          <p:nvPr/>
        </p:nvSpPr>
        <p:spPr>
          <a:xfrm>
            <a:off x="3447288" y="2103120"/>
            <a:ext cx="2249424" cy="685800"/>
          </a:xfrm>
          <a:prstGeom prst="rect">
            <a:avLst/>
          </a:prstGeom>
          <a:noFill/>
          <a:ln/>
        </p:spPr>
        <p:txBody>
          <a:bodyPr wrap="square" lIns="0" tIns="0" rIns="0" bIns="0" rtlCol="0" anchor="t"/>
          <a:lstStyle/>
          <a:p>
            <a:pPr indent="0" marL="0">
              <a:buNone/>
            </a:pPr>
            <a:r>
              <a:rPr lang="en-US" sz="1200" i="1" dirty="0">
                <a:solidFill>
                  <a:schemeClr val="tx2"/>
                </a:solidFill>
              </a:rPr>
              <a:t>Esempi: Quota di mercato, costo previsto</a:t>
            </a:r>
            <a:endParaRPr lang="en-US" sz="1200" dirty="0"/>
          </a:p>
        </p:txBody>
      </p:sp>
      <p:sp>
        <p:nvSpPr>
          <p:cNvPr id="19" name="Text 16"/>
          <p:cNvSpPr txBox="1"/>
          <p:nvPr/>
        </p:nvSpPr>
        <p:spPr>
          <a:xfrm>
            <a:off x="3447288" y="2834640"/>
            <a:ext cx="2249424" cy="685800"/>
          </a:xfrm>
          <a:prstGeom prst="rect">
            <a:avLst/>
          </a:prstGeom>
          <a:noFill/>
          <a:ln/>
        </p:spPr>
        <p:txBody>
          <a:bodyPr wrap="square" lIns="0" tIns="0" rIns="0" bIns="0" rtlCol="0" anchor="t"/>
          <a:lstStyle/>
          <a:p>
            <a:pPr indent="0" marL="0">
              <a:buNone/>
            </a:pPr>
            <a:r>
              <a:rPr lang="en-US" sz="1200" b="1" dirty="0">
                <a:solidFill>
                  <a:schemeClr val="tx1"/>
                </a:solidFill>
              </a:rPr>
              <a:t>Dipendono dalle ipotesi</a:t>
            </a:r>
            <a:endParaRPr lang="en-US" sz="1200" dirty="0"/>
          </a:p>
        </p:txBody>
      </p:sp>
      <p:sp>
        <p:nvSpPr>
          <p:cNvPr id="20" name="Simulazioni"/>
          <p:cNvSpPr/>
          <p:nvPr/>
        </p:nvSpPr>
        <p:spPr>
          <a:xfrm>
            <a:off x="6071616" y="1097280"/>
            <a:ext cx="2615184" cy="2514600"/>
          </a:xfrm>
          <a:prstGeom prst="roundRect">
            <a:avLst>
              <a:gd name="adj" fmla="val 2909"/>
            </a:avLst>
          </a:prstGeom>
          <a:solidFill>
            <a:schemeClr val="bg2"/>
          </a:solidFill>
          <a:ln/>
        </p:spPr>
      </p:sp>
      <p:sp>
        <p:nvSpPr>
          <p:cNvPr id="21" name="Text 18"/>
          <p:cNvSpPr txBox="1"/>
          <p:nvPr/>
        </p:nvSpPr>
        <p:spPr>
          <a:xfrm>
            <a:off x="6254496"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Simulazioni</a:t>
            </a:r>
            <a:endParaRPr lang="en-US" sz="1600" dirty="0"/>
          </a:p>
        </p:txBody>
      </p:sp>
      <p:sp>
        <p:nvSpPr>
          <p:cNvPr id="22" name="Text 19"/>
          <p:cNvSpPr txBox="1"/>
          <p:nvPr/>
        </p:nvSpPr>
        <p:spPr>
          <a:xfrm>
            <a:off x="6254496" y="1572768"/>
            <a:ext cx="2249424" cy="457200"/>
          </a:xfrm>
          <a:prstGeom prst="rect">
            <a:avLst/>
          </a:prstGeom>
          <a:noFill/>
          <a:ln/>
        </p:spPr>
        <p:txBody>
          <a:bodyPr wrap="square" lIns="0" tIns="0" rIns="0" bIns="0" rtlCol="0" anchor="t"/>
          <a:lstStyle/>
          <a:p>
            <a:pPr indent="0" marL="0">
              <a:buNone/>
            </a:pPr>
            <a:r>
              <a:rPr lang="en-US" sz="1300" b="1" dirty="0">
                <a:solidFill>
                  <a:schemeClr val="tx1"/>
                </a:solidFill>
              </a:rPr>
              <a:t>Scenari possibili</a:t>
            </a:r>
            <a:endParaRPr lang="en-US" sz="1300" dirty="0"/>
          </a:p>
        </p:txBody>
      </p:sp>
      <p:sp>
        <p:nvSpPr>
          <p:cNvPr id="23" name="Text 20"/>
          <p:cNvSpPr txBox="1"/>
          <p:nvPr/>
        </p:nvSpPr>
        <p:spPr>
          <a:xfrm>
            <a:off x="6254496" y="2103120"/>
            <a:ext cx="2249424" cy="685800"/>
          </a:xfrm>
          <a:prstGeom prst="rect">
            <a:avLst/>
          </a:prstGeom>
          <a:noFill/>
          <a:ln/>
        </p:spPr>
        <p:txBody>
          <a:bodyPr wrap="square" lIns="0" tIns="0" rIns="0" bIns="0" rtlCol="0" anchor="t"/>
          <a:lstStyle/>
          <a:p>
            <a:pPr indent="0" marL="0">
              <a:buNone/>
            </a:pPr>
            <a:r>
              <a:rPr lang="en-US" sz="1200" i="1" dirty="0">
                <a:solidFill>
                  <a:schemeClr val="tx2"/>
                </a:solidFill>
              </a:rPr>
              <a:t>Esempi: Fatturato tra tre anni, effetto di un prezzo</a:t>
            </a:r>
            <a:endParaRPr lang="en-US" sz="1200" dirty="0"/>
          </a:p>
        </p:txBody>
      </p:sp>
      <p:sp>
        <p:nvSpPr>
          <p:cNvPr id="24" name="Text 21"/>
          <p:cNvSpPr txBox="1"/>
          <p:nvPr/>
        </p:nvSpPr>
        <p:spPr>
          <a:xfrm>
            <a:off x="6254496" y="2834640"/>
            <a:ext cx="2249424" cy="685800"/>
          </a:xfrm>
          <a:prstGeom prst="rect">
            <a:avLst/>
          </a:prstGeom>
          <a:noFill/>
          <a:ln/>
        </p:spPr>
        <p:txBody>
          <a:bodyPr wrap="square" lIns="0" tIns="0" rIns="0" bIns="0" rtlCol="0" anchor="t"/>
          <a:lstStyle/>
          <a:p>
            <a:pPr indent="0" marL="0">
              <a:buNone/>
            </a:pPr>
            <a:r>
              <a:rPr lang="en-US" sz="1200" b="1" dirty="0">
                <a:solidFill>
                  <a:schemeClr val="tx1"/>
                </a:solidFill>
              </a:rPr>
              <a:t>Non sono fatti: dipendono dalle assunzioni</a:t>
            </a:r>
            <a:endParaRPr lang="en-US" sz="1200" dirty="0"/>
          </a:p>
        </p:txBody>
      </p:sp>
      <p:sp>
        <p:nvSpPr>
          <p:cNvPr id="25" name="messaggio"/>
          <p:cNvSpPr/>
          <p:nvPr/>
        </p:nvSpPr>
        <p:spPr>
          <a:xfrm>
            <a:off x="457200" y="3794760"/>
            <a:ext cx="8229600" cy="731520"/>
          </a:xfrm>
          <a:prstGeom prst="roundRect">
            <a:avLst>
              <a:gd name="adj" fmla="val 10000"/>
            </a:avLst>
          </a:prstGeom>
          <a:solidFill>
            <a:schemeClr val="tx1"/>
          </a:solidFill>
          <a:ln/>
        </p:spPr>
      </p:sp>
      <p:sp>
        <p:nvSpPr>
          <p:cNvPr id="26" name="Text 23"/>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"3.247 clienti potenziali" suona come un dato, ma può essere una stima senza base. Misurato, stimato o simulato?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Aggregazioni e confronti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Medie che nascondono"/>
          <p:cNvSpPr/>
          <p:nvPr/>
        </p:nvSpPr>
        <p:spPr>
          <a:xfrm>
            <a:off x="457200" y="1097280"/>
            <a:ext cx="4023360" cy="1211580"/>
          </a:xfrm>
          <a:prstGeom prst="roundRect">
            <a:avLst>
              <a:gd name="adj" fmla="val 6038"/>
            </a:avLst>
          </a:prstGeom>
          <a:solidFill>
            <a:schemeClr val="bg2"/>
          </a:solidFill>
          <a:ln/>
        </p:spPr>
      </p:sp>
      <p:sp>
        <p:nvSpPr>
          <p:cNvPr id="11" name="cerchio FiBarChart"/>
          <p:cNvSpPr/>
          <p:nvPr/>
        </p:nvSpPr>
        <p:spPr>
          <a:xfrm>
            <a:off x="621792" y="1261872"/>
            <a:ext cx="438912" cy="438912"/>
          </a:xfrm>
          <a:prstGeom prst="ellipse">
            <a:avLst/>
          </a:prstGeom>
          <a:solidFill>
            <a:schemeClr val="accent1"/>
          </a:solidFill>
          <a:ln/>
        </p:spPr>
      </p:sp>
      <p:pic>
        <p:nvPicPr>
          <p:cNvPr id="12" name="Image 0" descr="FiBarChart">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Medie che nascondono</a:t>
            </a:r>
            <a:endParaRPr lang="en-US" sz="1400" dirty="0"/>
          </a:p>
        </p:txBody>
      </p:sp>
      <p:sp>
        <p:nvSpPr>
          <p:cNvPr id="14" name="Text 10"/>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3 giorni di media: metà in 1, metà in 5</a:t>
            </a:r>
            <a:endParaRPr lang="en-US" sz="1200" dirty="0"/>
          </a:p>
        </p:txBody>
      </p:sp>
      <p:sp>
        <p:nvSpPr>
          <p:cNvPr id="15" name="Medie di medie"/>
          <p:cNvSpPr/>
          <p:nvPr/>
        </p:nvSpPr>
        <p:spPr>
          <a:xfrm>
            <a:off x="4663440" y="1097280"/>
            <a:ext cx="4023360" cy="1211580"/>
          </a:xfrm>
          <a:prstGeom prst="roundRect">
            <a:avLst>
              <a:gd name="adj" fmla="val 6038"/>
            </a:avLst>
          </a:prstGeom>
          <a:solidFill>
            <a:schemeClr val="bg2"/>
          </a:solidFill>
          <a:ln/>
        </p:spPr>
      </p:sp>
      <p:sp>
        <p:nvSpPr>
          <p:cNvPr id="16" name="cerchio FiDivide"/>
          <p:cNvSpPr/>
          <p:nvPr/>
        </p:nvSpPr>
        <p:spPr>
          <a:xfrm>
            <a:off x="4828032" y="1261872"/>
            <a:ext cx="438912" cy="438912"/>
          </a:xfrm>
          <a:prstGeom prst="ellipse">
            <a:avLst/>
          </a:prstGeom>
          <a:solidFill>
            <a:schemeClr val="accent1"/>
          </a:solidFill>
          <a:ln/>
        </p:spPr>
      </p:sp>
      <p:pic>
        <p:nvPicPr>
          <p:cNvPr id="17" name="Image 1" descr="FiDivide">    </p:cNvPr>
          <p:cNvPicPr>
            <a:picLocks noChangeAspect="1"/>
          </p:cNvPicPr>
          <p:nvPr/>
        </p:nvPicPr>
        <p:blipFill>
          <a:blip r:embed="rId2"/>
          <a:stretch>
            <a:fillRect/>
          </a:stretch>
        </p:blipFill>
        <p:spPr>
          <a:xfrm>
            <a:off x="4937760" y="1371600"/>
            <a:ext cx="219456" cy="219456"/>
          </a:xfrm>
          <a:prstGeom prst="rect">
            <a:avLst/>
          </a:prstGeom>
        </p:spPr>
      </p:pic>
      <p:sp>
        <p:nvSpPr>
          <p:cNvPr id="18" name="Text 13"/>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Medie di medie</a:t>
            </a:r>
            <a:endParaRPr lang="en-US" sz="1400" dirty="0"/>
          </a:p>
        </p:txBody>
      </p:sp>
      <p:sp>
        <p:nvSpPr>
          <p:cNvPr id="19" name="Text 14"/>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Margini 10% e 20%: il complessivo non è 15% se i fatturati differiscono</a:t>
            </a:r>
            <a:endParaRPr lang="en-US" sz="1200" dirty="0"/>
          </a:p>
        </p:txBody>
      </p:sp>
      <p:sp>
        <p:nvSpPr>
          <p:cNvPr id="20" name="Percentuali senza base"/>
          <p:cNvSpPr/>
          <p:nvPr/>
        </p:nvSpPr>
        <p:spPr>
          <a:xfrm>
            <a:off x="457200" y="2491740"/>
            <a:ext cx="4023360" cy="1211580"/>
          </a:xfrm>
          <a:prstGeom prst="roundRect">
            <a:avLst>
              <a:gd name="adj" fmla="val 6038"/>
            </a:avLst>
          </a:prstGeom>
          <a:solidFill>
            <a:schemeClr val="bg2"/>
          </a:solidFill>
          <a:ln/>
        </p:spPr>
      </p:sp>
      <p:sp>
        <p:nvSpPr>
          <p:cNvPr id="21" name="cerchio FiPercent"/>
          <p:cNvSpPr/>
          <p:nvPr/>
        </p:nvSpPr>
        <p:spPr>
          <a:xfrm>
            <a:off x="621792" y="2656332"/>
            <a:ext cx="438912" cy="438912"/>
          </a:xfrm>
          <a:prstGeom prst="ellipse">
            <a:avLst/>
          </a:prstGeom>
          <a:solidFill>
            <a:schemeClr val="accent1"/>
          </a:solidFill>
          <a:ln/>
        </p:spPr>
      </p:sp>
      <p:pic>
        <p:nvPicPr>
          <p:cNvPr id="22" name="Image 2" descr="FiPercent">    </p:cNvPr>
          <p:cNvPicPr>
            <a:picLocks noChangeAspect="1"/>
          </p:cNvPicPr>
          <p:nvPr/>
        </p:nvPicPr>
        <p:blipFill>
          <a:blip r:embed="rId3"/>
          <a:stretch>
            <a:fillRect/>
          </a:stretch>
        </p:blipFill>
        <p:spPr>
          <a:xfrm>
            <a:off x="731520" y="2766060"/>
            <a:ext cx="219456" cy="219456"/>
          </a:xfrm>
          <a:prstGeom prst="rect">
            <a:avLst/>
          </a:prstGeom>
        </p:spPr>
      </p:pic>
      <p:sp>
        <p:nvSpPr>
          <p:cNvPr id="23" name="Text 17"/>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Percentuali senza base</a:t>
            </a:r>
            <a:endParaRPr lang="en-US" sz="1400" dirty="0"/>
          </a:p>
        </p:txBody>
      </p:sp>
      <p:sp>
        <p:nvSpPr>
          <p:cNvPr id="24" name="Text 18"/>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+50% su 4 casi: da 4 a 6, non un trend</a:t>
            </a:r>
            <a:endParaRPr lang="en-US" sz="1200" dirty="0"/>
          </a:p>
        </p:txBody>
      </p:sp>
      <p:sp>
        <p:nvSpPr>
          <p:cNvPr id="25" name="Confronti non omogenei"/>
          <p:cNvSpPr/>
          <p:nvPr/>
        </p:nvSpPr>
        <p:spPr>
          <a:xfrm>
            <a:off x="4663440" y="2491740"/>
            <a:ext cx="4023360" cy="1211580"/>
          </a:xfrm>
          <a:prstGeom prst="roundRect">
            <a:avLst>
              <a:gd name="adj" fmla="val 6038"/>
            </a:avLst>
          </a:prstGeom>
          <a:solidFill>
            <a:schemeClr val="bg2"/>
          </a:solidFill>
          <a:ln/>
        </p:spPr>
      </p:sp>
      <p:sp>
        <p:nvSpPr>
          <p:cNvPr id="26" name="cerchio FiColumns"/>
          <p:cNvSpPr/>
          <p:nvPr/>
        </p:nvSpPr>
        <p:spPr>
          <a:xfrm>
            <a:off x="4828032" y="2656332"/>
            <a:ext cx="438912" cy="438912"/>
          </a:xfrm>
          <a:prstGeom prst="ellipse">
            <a:avLst/>
          </a:prstGeom>
          <a:solidFill>
            <a:schemeClr val="accent1"/>
          </a:solidFill>
          <a:ln/>
        </p:spPr>
      </p:sp>
      <p:pic>
        <p:nvPicPr>
          <p:cNvPr id="27" name="Image 3" descr="FiColumns">    </p:cNvPr>
          <p:cNvPicPr>
            <a:picLocks noChangeAspect="1"/>
          </p:cNvPicPr>
          <p:nvPr/>
        </p:nvPicPr>
        <p:blipFill>
          <a:blip r:embed="rId4"/>
          <a:stretch>
            <a:fillRect/>
          </a:stretch>
        </p:blipFill>
        <p:spPr>
          <a:xfrm>
            <a:off x="4937760" y="2766060"/>
            <a:ext cx="219456" cy="219456"/>
          </a:xfrm>
          <a:prstGeom prst="rect">
            <a:avLst/>
          </a:prstGeom>
        </p:spPr>
      </p:pic>
      <p:sp>
        <p:nvSpPr>
          <p:cNvPr id="28" name="Text 21"/>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Confronti non omogenei</a:t>
            </a:r>
            <a:endParaRPr lang="en-US" sz="1400" dirty="0"/>
          </a:p>
        </p:txBody>
      </p:sp>
      <p:sp>
        <p:nvSpPr>
          <p:cNvPr id="29" name="Text 22"/>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Trimestre contro anno, una sede contro l'azienda</a:t>
            </a:r>
            <a:endParaRPr lang="en-US" sz="1200" dirty="0"/>
          </a:p>
        </p:txBody>
      </p:sp>
      <p:sp>
        <p:nvSpPr>
          <p:cNvPr id="30" name="Text 23"/>
          <p:cNvSpPr txBox="1"/>
          <p:nvPr/>
        </p:nvSpPr>
        <p:spPr>
          <a:xfrm>
            <a:off x="457200" y="3886200"/>
            <a:ext cx="8229600" cy="640080"/>
          </a:xfrm>
          <a:prstGeom prst="rect">
            <a:avLst/>
          </a:prstGeom>
          <a:noFill/>
          <a:ln/>
        </p:spPr>
        <p:txBody>
          <a:bodyPr wrap="square" lIns="0" tIns="0" rIns="0" bIns="0" rtlCol="0" anchor="t"/>
          <a:lstStyle/>
          <a:p>
            <a:pPr indent="0" marL="0">
              <a:buNone/>
            </a:pPr>
            <a:r>
              <a:rPr lang="en-US" sz="1200" i="1" dirty="0">
                <a:solidFill>
                  <a:schemeClr val="tx1"/>
                </a:solidFill>
              </a:rPr>
              <a:t>I dati aggregati possono mostrare un andamento opposto a quello dei sottogruppi (paradosso di Simpson): per decisioni importanti, guardare anche i dati disaggregati.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Leggere criticamente tabelle e grafici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graphicFrame>
        <p:nvGraphicFramePr>
          <p:cNvPr id="10" name="Chart 0" descr=""/>
          <p:cNvGraphicFramePr/>
          <p:nvPr/>
        </p:nvGraphicFramePr>
        <p:xfrm>
          <a:off x="457200" y="1051560"/>
          <a:ext cx="2651760" cy="2651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Chart 1" descr=""/>
          <p:cNvGraphicFramePr/>
          <p:nvPr/>
        </p:nvGraphicFramePr>
        <p:xfrm>
          <a:off x="3200400" y="1051560"/>
          <a:ext cx="2651760" cy="2651760"/>
        </p:xfrm>
        <a:graphic xmlns:a="http://schemas.openxmlformats.org/drawingml/2006/main">
          <a:graphicData uri="http://schemas.openxmlformats.org/drawingml/2006/chart">
            <c:chart xmlns:c="http://schemas.openxmlformats.org/drawingml/2006/chart" r:id="rId2"/>
          </a:graphicData>
        </a:graphic>
      </p:graphicFrame>
      <p:sp>
        <p:nvSpPr>
          <p:cNvPr id="12" name="Text 7"/>
          <p:cNvSpPr txBox="1"/>
          <p:nvPr/>
        </p:nvSpPr>
        <p:spPr>
          <a:xfrm>
            <a:off x="457200" y="3749040"/>
            <a:ext cx="5394960" cy="274320"/>
          </a:xfrm>
          <a:prstGeom prst="rect">
            <a:avLst/>
          </a:prstGeom>
          <a:noFill/>
          <a:ln/>
        </p:spPr>
        <p:txBody>
          <a:bodyPr wrap="square" lIns="0" tIns="0" rIns="0" bIns="0" rtlCol="0" anchor="t"/>
          <a:lstStyle/>
          <a:p>
            <a:pPr algn="ctr" indent="0" marL="0">
              <a:buNone/>
            </a:pPr>
            <a:r>
              <a:rPr lang="en-US" sz="1200" b="1" dirty="0">
                <a:solidFill>
                  <a:schemeClr val="tx1"/>
                </a:solidFill>
              </a:rPr>
              <a:t>Stessi dati, impressione molto diversa</a:t>
            </a:r>
            <a:endParaRPr lang="en-US" sz="1200" dirty="0"/>
          </a:p>
        </p:txBody>
      </p:sp>
      <p:sp>
        <p:nvSpPr>
          <p:cNvPr id="13" name="Text 8"/>
          <p:cNvSpPr txBox="1"/>
          <p:nvPr/>
        </p:nvSpPr>
        <p:spPr>
          <a:xfrm>
            <a:off x="6126480" y="1051560"/>
            <a:ext cx="2560320" cy="274320"/>
          </a:xfrm>
          <a:prstGeom prst="rect">
            <a:avLst/>
          </a:prstGeom>
          <a:noFill/>
          <a:ln/>
        </p:spPr>
        <p:txBody>
          <a:bodyPr wrap="square" lIns="0" tIns="0" rIns="0" bIns="0" rtlCol="0" anchor="t"/>
          <a:lstStyle/>
          <a:p>
            <a:pPr indent="0" marL="0">
              <a:buNone/>
            </a:pPr>
            <a:r>
              <a:rPr lang="en-US" sz="1400" b="1" dirty="0">
                <a:solidFill>
                  <a:schemeClr val="tx1"/>
                </a:solidFill>
              </a:rPr>
              <a:t>Da controllare</a:t>
            </a:r>
            <a:endParaRPr lang="en-US" sz="1400" dirty="0"/>
          </a:p>
        </p:txBody>
      </p:sp>
      <p:sp>
        <p:nvSpPr>
          <p:cNvPr id="14" name="riga 0"/>
          <p:cNvSpPr/>
          <p:nvPr/>
        </p:nvSpPr>
        <p:spPr>
          <a:xfrm>
            <a:off x="6126480" y="1417320"/>
            <a:ext cx="2560320" cy="438912"/>
          </a:xfrm>
          <a:prstGeom prst="roundRect">
            <a:avLst>
              <a:gd name="adj" fmla="val 16667"/>
            </a:avLst>
          </a:prstGeom>
          <a:solidFill>
            <a:schemeClr val="bg2"/>
          </a:solidFill>
          <a:ln/>
        </p:spPr>
      </p:sp>
      <p:sp>
        <p:nvSpPr>
          <p:cNvPr id="15" name="Text 10"/>
          <p:cNvSpPr txBox="1"/>
          <p:nvPr/>
        </p:nvSpPr>
        <p:spPr>
          <a:xfrm>
            <a:off x="6309360" y="1417320"/>
            <a:ext cx="2194560" cy="438912"/>
          </a:xfrm>
          <a:prstGeom prst="rect">
            <a:avLst/>
          </a:prstGeom>
          <a:noFill/>
          <a:ln/>
        </p:spPr>
        <p:txBody>
          <a:bodyPr wrap="square" lIns="0" tIns="0" rIns="0" bIns="0" rtlCol="0" anchor="ctr"/>
          <a:lstStyle/>
          <a:p>
            <a:pPr indent="0" marL="0">
              <a:buNone/>
            </a:pPr>
            <a:r>
              <a:rPr lang="en-US" sz="1100" dirty="0">
                <a:solidFill>
                  <a:schemeClr val="tx1"/>
                </a:solidFill>
              </a:rPr>
              <a:t>Assi, etichette, unità</a:t>
            </a:r>
            <a:endParaRPr lang="en-US" sz="1100" dirty="0"/>
          </a:p>
        </p:txBody>
      </p:sp>
      <p:sp>
        <p:nvSpPr>
          <p:cNvPr id="16" name="riga 1"/>
          <p:cNvSpPr/>
          <p:nvPr/>
        </p:nvSpPr>
        <p:spPr>
          <a:xfrm>
            <a:off x="6126480" y="1929384"/>
            <a:ext cx="2560320" cy="438912"/>
          </a:xfrm>
          <a:prstGeom prst="roundRect">
            <a:avLst>
              <a:gd name="adj" fmla="val 16667"/>
            </a:avLst>
          </a:prstGeom>
          <a:solidFill>
            <a:schemeClr val="bg1"/>
          </a:solidFill>
          <a:ln/>
        </p:spPr>
      </p:sp>
      <p:sp>
        <p:nvSpPr>
          <p:cNvPr id="17" name="Text 12"/>
          <p:cNvSpPr txBox="1"/>
          <p:nvPr/>
        </p:nvSpPr>
        <p:spPr>
          <a:xfrm>
            <a:off x="6309360" y="1929384"/>
            <a:ext cx="2194560" cy="438912"/>
          </a:xfrm>
          <a:prstGeom prst="rect">
            <a:avLst/>
          </a:prstGeom>
          <a:noFill/>
          <a:ln/>
        </p:spPr>
        <p:txBody>
          <a:bodyPr wrap="square" lIns="0" tIns="0" rIns="0" bIns="0" rtlCol="0" anchor="ctr"/>
          <a:lstStyle/>
          <a:p>
            <a:pPr indent="0" marL="0">
              <a:buNone/>
            </a:pPr>
            <a:r>
              <a:rPr lang="en-US" sz="1100" dirty="0">
                <a:solidFill>
                  <a:schemeClr val="tx1"/>
                </a:solidFill>
              </a:rPr>
              <a:t>Periodo e scale</a:t>
            </a:r>
            <a:endParaRPr lang="en-US" sz="1100" dirty="0"/>
          </a:p>
        </p:txBody>
      </p:sp>
      <p:sp>
        <p:nvSpPr>
          <p:cNvPr id="18" name="riga 2"/>
          <p:cNvSpPr/>
          <p:nvPr/>
        </p:nvSpPr>
        <p:spPr>
          <a:xfrm>
            <a:off x="6126480" y="2441448"/>
            <a:ext cx="2560320" cy="438912"/>
          </a:xfrm>
          <a:prstGeom prst="roundRect">
            <a:avLst>
              <a:gd name="adj" fmla="val 16667"/>
            </a:avLst>
          </a:prstGeom>
          <a:solidFill>
            <a:schemeClr val="bg2"/>
          </a:solidFill>
          <a:ln/>
        </p:spPr>
      </p:sp>
      <p:sp>
        <p:nvSpPr>
          <p:cNvPr id="19" name="Text 14"/>
          <p:cNvSpPr txBox="1"/>
          <p:nvPr/>
        </p:nvSpPr>
        <p:spPr>
          <a:xfrm>
            <a:off x="6309360" y="2441448"/>
            <a:ext cx="2194560" cy="438912"/>
          </a:xfrm>
          <a:prstGeom prst="rect">
            <a:avLst/>
          </a:prstGeom>
          <a:noFill/>
          <a:ln/>
        </p:spPr>
        <p:txBody>
          <a:bodyPr wrap="square" lIns="0" tIns="0" rIns="0" bIns="0" rtlCol="0" anchor="ctr"/>
          <a:lstStyle/>
          <a:p>
            <a:pPr indent="0" marL="0">
              <a:buNone/>
            </a:pPr>
            <a:r>
              <a:rPr lang="en-US" sz="1100" dirty="0">
                <a:solidFill>
                  <a:schemeClr val="tx1"/>
                </a:solidFill>
              </a:rPr>
              <a:t>Origine e corrispondenza con le tabelle</a:t>
            </a:r>
            <a:endParaRPr lang="en-US" sz="1100" dirty="0"/>
          </a:p>
        </p:txBody>
      </p:sp>
      <p:sp>
        <p:nvSpPr>
          <p:cNvPr id="20" name="riga 3"/>
          <p:cNvSpPr/>
          <p:nvPr/>
        </p:nvSpPr>
        <p:spPr>
          <a:xfrm>
            <a:off x="6126480" y="2953512"/>
            <a:ext cx="2560320" cy="438912"/>
          </a:xfrm>
          <a:prstGeom prst="roundRect">
            <a:avLst>
              <a:gd name="adj" fmla="val 16667"/>
            </a:avLst>
          </a:prstGeom>
          <a:solidFill>
            <a:schemeClr val="bg1"/>
          </a:solidFill>
          <a:ln/>
        </p:spPr>
      </p:sp>
      <p:sp>
        <p:nvSpPr>
          <p:cNvPr id="21" name="Text 16"/>
          <p:cNvSpPr txBox="1"/>
          <p:nvPr/>
        </p:nvSpPr>
        <p:spPr>
          <a:xfrm>
            <a:off x="6309360" y="2953512"/>
            <a:ext cx="2194560" cy="438912"/>
          </a:xfrm>
          <a:prstGeom prst="rect">
            <a:avLst/>
          </a:prstGeom>
          <a:noFill/>
          <a:ln/>
        </p:spPr>
        <p:txBody>
          <a:bodyPr wrap="square" lIns="0" tIns="0" rIns="0" bIns="0" rtlCol="0" anchor="ctr"/>
          <a:lstStyle/>
          <a:p>
            <a:pPr indent="0" marL="0">
              <a:buNone/>
            </a:pPr>
            <a:r>
              <a:rPr lang="en-US" sz="1100" dirty="0">
                <a:solidFill>
                  <a:schemeClr val="tx1"/>
                </a:solidFill>
              </a:rPr>
              <a:t>Categorie omesse o in "altro"</a:t>
            </a:r>
            <a:endParaRPr lang="en-US" sz="1100" dirty="0"/>
          </a:p>
        </p:txBody>
      </p:sp>
      <p:sp>
        <p:nvSpPr>
          <p:cNvPr id="22" name="riga 4"/>
          <p:cNvSpPr/>
          <p:nvPr/>
        </p:nvSpPr>
        <p:spPr>
          <a:xfrm>
            <a:off x="6126480" y="3465576"/>
            <a:ext cx="2560320" cy="438912"/>
          </a:xfrm>
          <a:prstGeom prst="roundRect">
            <a:avLst>
              <a:gd name="adj" fmla="val 16667"/>
            </a:avLst>
          </a:prstGeom>
          <a:solidFill>
            <a:schemeClr val="bg2"/>
          </a:solidFill>
          <a:ln/>
        </p:spPr>
      </p:sp>
      <p:sp>
        <p:nvSpPr>
          <p:cNvPr id="23" name="Text 18"/>
          <p:cNvSpPr txBox="1"/>
          <p:nvPr/>
        </p:nvSpPr>
        <p:spPr>
          <a:xfrm>
            <a:off x="6309360" y="3465576"/>
            <a:ext cx="2194560" cy="438912"/>
          </a:xfrm>
          <a:prstGeom prst="rect">
            <a:avLst/>
          </a:prstGeom>
          <a:noFill/>
          <a:ln/>
        </p:spPr>
        <p:txBody>
          <a:bodyPr wrap="square" lIns="0" tIns="0" rIns="0" bIns="0" rtlCol="0" anchor="ctr"/>
          <a:lstStyle/>
          <a:p>
            <a:pPr indent="0" marL="0">
              <a:buNone/>
            </a:pPr>
            <a:r>
              <a:rPr lang="en-US" sz="1100" dirty="0">
                <a:solidFill>
                  <a:schemeClr val="tx1"/>
                </a:solidFill>
              </a:rPr>
              <a:t>Totali, arrotondamenti, valori mancanti</a:t>
            </a:r>
            <a:endParaRPr lang="en-US" sz="1100" dirty="0"/>
          </a:p>
        </p:txBody>
      </p:sp>
      <p:sp>
        <p:nvSpPr>
          <p:cNvPr id="24" name="Text 19"/>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buona presentazione non dimostra la correttezza dei dati.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e strumenti indipendenti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Tracciabilità"/>
          <p:cNvSpPr/>
          <p:nvPr/>
        </p:nvSpPr>
        <p:spPr>
          <a:xfrm>
            <a:off x="457200" y="1097280"/>
            <a:ext cx="3977640" cy="2651760"/>
          </a:xfrm>
          <a:prstGeom prst="roundRect">
            <a:avLst>
              <a:gd name="adj" fmla="val 2759"/>
            </a:avLst>
          </a:prstGeom>
          <a:solidFill>
            <a:schemeClr val="bg2"/>
          </a:solidFill>
          <a:ln/>
        </p:spPr>
      </p:sp>
      <p:sp>
        <p:nvSpPr>
          <p:cNvPr id="11" name="cerchio FiMap"/>
          <p:cNvSpPr/>
          <p:nvPr/>
        </p:nvSpPr>
        <p:spPr>
          <a:xfrm>
            <a:off x="640080" y="1280160"/>
            <a:ext cx="457200" cy="457200"/>
          </a:xfrm>
          <a:prstGeom prst="ellipse">
            <a:avLst/>
          </a:prstGeom>
          <a:solidFill>
            <a:schemeClr val="accent1"/>
          </a:solidFill>
          <a:ln/>
        </p:spPr>
      </p:sp>
      <p:pic>
        <p:nvPicPr>
          <p:cNvPr id="12" name="Image 0" descr="FiMap">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Tracciabilità</a:t>
            </a:r>
            <a:endParaRPr lang="en-US" sz="1600" dirty="0"/>
          </a:p>
        </p:txBody>
      </p:sp>
      <p:sp>
        <p:nvSpPr>
          <p:cNvPr id="14" name="Text 10"/>
          <p:cNvSpPr txBox="1"/>
          <p:nvPr/>
        </p:nvSpPr>
        <p:spPr>
          <a:xfrm>
            <a:off x="64008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Quali dati, quali formule, quali passaggi</a:t>
            </a:r>
            <a:endParaRPr lang="en-US" sz="1300" dirty="0"/>
          </a:p>
          <a:p>
            <a:pPr marL="177800" indent="-177800">
              <a:spcAft>
                <a:spcPts val="400"/>
              </a:spcAft>
              <a:buSzPct val="100000"/>
              <a:buChar char="•"/>
            </a:pPr>
            <a:r>
              <a:rPr lang="en-US" sz="1300" dirty="0">
                <a:solidFill>
                  <a:schemeClr val="tx2"/>
                </a:solidFill>
              </a:rPr>
              <a:t>Chiedere di mostrare passaggi e codice</a:t>
            </a:r>
            <a:endParaRPr lang="en-US" sz="1300" dirty="0"/>
          </a:p>
          <a:p>
            <a:pPr marL="177800" indent="-177800">
              <a:spcAft>
                <a:spcPts val="400"/>
              </a:spcAft>
              <a:buSzPct val="100000"/>
              <a:buChar char="•"/>
            </a:pPr>
            <a:r>
              <a:rPr lang="en-US" sz="1300" dirty="0">
                <a:solidFill>
                  <a:schemeClr val="tx2"/>
                </a:solidFill>
              </a:rPr>
              <a:t>Un numero senza origine non sostiene una decisione</a:t>
            </a:r>
            <a:endParaRPr lang="en-US" sz="1300" dirty="0"/>
          </a:p>
        </p:txBody>
      </p:sp>
      <p:sp>
        <p:nvSpPr>
          <p:cNvPr id="15" name="scheda Strumenti indipendenti"/>
          <p:cNvSpPr/>
          <p:nvPr/>
        </p:nvSpPr>
        <p:spPr>
          <a:xfrm>
            <a:off x="4709160" y="1097280"/>
            <a:ext cx="3977640" cy="2651760"/>
          </a:xfrm>
          <a:prstGeom prst="roundRect">
            <a:avLst>
              <a:gd name="adj" fmla="val 2759"/>
            </a:avLst>
          </a:prstGeom>
          <a:solidFill>
            <a:schemeClr val="accent6"/>
          </a:solidFill>
          <a:ln/>
        </p:spPr>
      </p:sp>
      <p:sp>
        <p:nvSpPr>
          <p:cNvPr id="16" name="cerchio FiTool"/>
          <p:cNvSpPr/>
          <p:nvPr/>
        </p:nvSpPr>
        <p:spPr>
          <a:xfrm>
            <a:off x="4892040" y="1280160"/>
            <a:ext cx="457200" cy="457200"/>
          </a:xfrm>
          <a:prstGeom prst="ellipse">
            <a:avLst/>
          </a:prstGeom>
          <a:solidFill>
            <a:schemeClr val="accent1"/>
          </a:solidFill>
          <a:ln/>
        </p:spPr>
      </p:sp>
      <p:pic>
        <p:nvPicPr>
          <p:cNvPr id="17" name="Image 1" descr="FiTool">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Strumenti indipendenti</a:t>
            </a:r>
            <a:endParaRPr lang="en-US" sz="1600" dirty="0"/>
          </a:p>
        </p:txBody>
      </p:sp>
      <p:sp>
        <p:nvSpPr>
          <p:cNvPr id="19" name="Text 14"/>
          <p:cNvSpPr txBox="1"/>
          <p:nvPr/>
        </p:nvSpPr>
        <p:spPr>
          <a:xfrm>
            <a:off x="489204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Ricalcolo con un foglio di calcolo dai dati originali</a:t>
            </a:r>
            <a:endParaRPr lang="en-US" sz="1300" dirty="0"/>
          </a:p>
          <a:p>
            <a:pPr marL="177800" indent="-177800">
              <a:spcAft>
                <a:spcPts val="400"/>
              </a:spcAft>
              <a:buSzPct val="100000"/>
              <a:buChar char="•"/>
            </a:pPr>
            <a:r>
              <a:rPr lang="en-US" sz="1300" dirty="0">
                <a:solidFill>
                  <a:schemeClr val="tx2"/>
                </a:solidFill>
              </a:rPr>
              <a:t>Confronto con report e sistemi aziendali</a:t>
            </a:r>
            <a:endParaRPr lang="en-US" sz="1300" dirty="0"/>
          </a:p>
          <a:p>
            <a:pPr marL="177800" indent="-177800">
              <a:spcAft>
                <a:spcPts val="400"/>
              </a:spcAft>
              <a:buSzPct val="100000"/>
              <a:buChar char="•"/>
            </a:pPr>
            <a:r>
              <a:rPr lang="en-US" sz="1300" dirty="0">
                <a:solidFill>
                  <a:schemeClr val="tx2"/>
                </a:solidFill>
              </a:rPr>
              <a:t>Calcolo autonomo di un collega esperto</a:t>
            </a:r>
            <a:endParaRPr lang="en-US" sz="1300" dirty="0"/>
          </a:p>
        </p:txBody>
      </p:sp>
      <p:sp>
        <p:nvSpPr>
          <p:cNvPr id="20" name="messaggio"/>
          <p:cNvSpPr/>
          <p:nvPr/>
        </p:nvSpPr>
        <p:spPr>
          <a:xfrm>
            <a:off x="457200" y="3931920"/>
            <a:ext cx="8229600" cy="594360"/>
          </a:xfrm>
          <a:prstGeom prst="roundRect">
            <a:avLst>
              <a:gd name="adj" fmla="val 12308"/>
            </a:avLst>
          </a:prstGeom>
          <a:solidFill>
            <a:schemeClr val="tx1"/>
          </a:solidFill>
          <a:ln/>
        </p:spPr>
      </p:sp>
      <p:sp>
        <p:nvSpPr>
          <p:cNvPr id="21" name="Text 1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Uno strumento indipendente è prezioso perché non condivide gli errori del primo.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risultato quantitativo utile alle decisioni deve essere riconducibile a dati e procedimenti controllabili.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7.5  ·  Verifica di dati, calcoli e risultati quantitativi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Tecniche di verifica e revisione assistite dall'AI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revisione assistita dall'AI è un supporto al controllo, non un sostituto delle evidenze indipendenti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Sei tecniche di revisione assistita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Revisione critica"/>
          <p:cNvSpPr/>
          <p:nvPr/>
        </p:nvSpPr>
        <p:spPr>
          <a:xfrm>
            <a:off x="457200" y="1097280"/>
            <a:ext cx="2621280" cy="1280160"/>
          </a:xfrm>
          <a:prstGeom prst="roundRect">
            <a:avLst>
              <a:gd name="adj" fmla="val 5714"/>
            </a:avLst>
          </a:prstGeom>
          <a:solidFill>
            <a:schemeClr val="bg2"/>
          </a:solidFill>
          <a:ln/>
        </p:spPr>
      </p:sp>
      <p:sp>
        <p:nvSpPr>
          <p:cNvPr id="11" name="cerchio FiCheckSquare"/>
          <p:cNvSpPr/>
          <p:nvPr/>
        </p:nvSpPr>
        <p:spPr>
          <a:xfrm>
            <a:off x="621792" y="1261872"/>
            <a:ext cx="438912" cy="438912"/>
          </a:xfrm>
          <a:prstGeom prst="ellipse">
            <a:avLst/>
          </a:prstGeom>
          <a:solidFill>
            <a:schemeClr val="accent1"/>
          </a:solidFill>
          <a:ln/>
        </p:spPr>
      </p:sp>
      <p:pic>
        <p:nvPicPr>
          <p:cNvPr id="12" name="Image 0" descr="FiCheckSquare">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Revisione critica</a:t>
            </a:r>
            <a:endParaRPr lang="en-US" sz="1300" dirty="0"/>
          </a:p>
        </p:txBody>
      </p:sp>
      <p:sp>
        <p:nvSpPr>
          <p:cNvPr id="14" name="Text 10"/>
          <p:cNvSpPr txBox="1"/>
          <p:nvPr/>
        </p:nvSpPr>
        <p:spPr>
          <a:xfrm>
            <a:off x="621792" y="1810512"/>
            <a:ext cx="2292096" cy="475488"/>
          </a:xfrm>
          <a:prstGeom prst="rect">
            <a:avLst/>
          </a:prstGeom>
          <a:noFill/>
          <a:ln/>
        </p:spPr>
        <p:txBody>
          <a:bodyPr wrap="square" lIns="0" tIns="0" rIns="0" bIns="0" rtlCol="0" anchor="t"/>
          <a:lstStyle/>
          <a:p>
            <a:pPr indent="0" marL="0">
              <a:buNone/>
            </a:pPr>
            <a:r>
              <a:rPr lang="en-US" sz="1100" dirty="0">
                <a:solidFill>
                  <a:schemeClr val="tx2"/>
                </a:solidFill>
              </a:rPr>
              <a:t>"Rileggi come un revisore esigente: errori, imprecisioni, punti poco chiari."</a:t>
            </a:r>
            <a:endParaRPr lang="en-US" sz="1100" dirty="0"/>
          </a:p>
        </p:txBody>
      </p:sp>
      <p:sp>
        <p:nvSpPr>
          <p:cNvPr id="15" name="Assunzioni e punti deboli"/>
          <p:cNvSpPr/>
          <p:nvPr/>
        </p:nvSpPr>
        <p:spPr>
          <a:xfrm>
            <a:off x="3261360" y="1097280"/>
            <a:ext cx="2621280" cy="1280160"/>
          </a:xfrm>
          <a:prstGeom prst="roundRect">
            <a:avLst>
              <a:gd name="adj" fmla="val 5714"/>
            </a:avLst>
          </a:prstGeom>
          <a:solidFill>
            <a:schemeClr val="bg2"/>
          </a:solidFill>
          <a:ln/>
        </p:spPr>
      </p:sp>
      <p:sp>
        <p:nvSpPr>
          <p:cNvPr id="16" name="cerchio FiEyeOff"/>
          <p:cNvSpPr/>
          <p:nvPr/>
        </p:nvSpPr>
        <p:spPr>
          <a:xfrm>
            <a:off x="3425952" y="1261872"/>
            <a:ext cx="438912" cy="438912"/>
          </a:xfrm>
          <a:prstGeom prst="ellipse">
            <a:avLst/>
          </a:prstGeom>
          <a:solidFill>
            <a:schemeClr val="accent1"/>
          </a:solidFill>
          <a:ln/>
        </p:spPr>
      </p:sp>
      <p:pic>
        <p:nvPicPr>
          <p:cNvPr id="17" name="Image 1" descr="FiEyeOff">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Assunzioni e punti deboli</a:t>
            </a:r>
            <a:endParaRPr lang="en-US" sz="1300" dirty="0"/>
          </a:p>
        </p:txBody>
      </p:sp>
      <p:sp>
        <p:nvSpPr>
          <p:cNvPr id="19" name="Text 14"/>
          <p:cNvSpPr txBox="1"/>
          <p:nvPr/>
        </p:nvSpPr>
        <p:spPr>
          <a:xfrm>
            <a:off x="3425952" y="1810512"/>
            <a:ext cx="2292096" cy="475488"/>
          </a:xfrm>
          <a:prstGeom prst="rect">
            <a:avLst/>
          </a:prstGeom>
          <a:noFill/>
          <a:ln/>
        </p:spPr>
        <p:txBody>
          <a:bodyPr wrap="square" lIns="0" tIns="0" rIns="0" bIns="0" rtlCol="0" anchor="t"/>
          <a:lstStyle/>
          <a:p>
            <a:pPr indent="0" marL="0">
              <a:buNone/>
            </a:pPr>
            <a:r>
              <a:rPr lang="en-US" sz="1100" dirty="0">
                <a:solidFill>
                  <a:schemeClr val="tx2"/>
                </a:solidFill>
              </a:rPr>
              <a:t>"Quali assunzioni implicite? Quali punti più deboli?"</a:t>
            </a:r>
            <a:endParaRPr lang="en-US" sz="1100" dirty="0"/>
          </a:p>
        </p:txBody>
      </p:sp>
      <p:sp>
        <p:nvSpPr>
          <p:cNvPr id="20" name="Controargomentazioni"/>
          <p:cNvSpPr/>
          <p:nvPr/>
        </p:nvSpPr>
        <p:spPr>
          <a:xfrm>
            <a:off x="6065520" y="1097280"/>
            <a:ext cx="2621280" cy="1280160"/>
          </a:xfrm>
          <a:prstGeom prst="roundRect">
            <a:avLst>
              <a:gd name="adj" fmla="val 5714"/>
            </a:avLst>
          </a:prstGeom>
          <a:solidFill>
            <a:schemeClr val="bg2"/>
          </a:solidFill>
          <a:ln/>
        </p:spPr>
      </p:sp>
      <p:sp>
        <p:nvSpPr>
          <p:cNvPr id="21" name="cerchio FiShield"/>
          <p:cNvSpPr/>
          <p:nvPr/>
        </p:nvSpPr>
        <p:spPr>
          <a:xfrm>
            <a:off x="6230112" y="1261872"/>
            <a:ext cx="438912" cy="438912"/>
          </a:xfrm>
          <a:prstGeom prst="ellipse">
            <a:avLst/>
          </a:prstGeom>
          <a:solidFill>
            <a:schemeClr val="accent1"/>
          </a:solidFill>
          <a:ln/>
        </p:spPr>
      </p:sp>
      <p:pic>
        <p:nvPicPr>
          <p:cNvPr id="22" name="Image 2" descr="FiShield">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Controargomentazioni</a:t>
            </a:r>
            <a:endParaRPr lang="en-US" sz="1300" dirty="0"/>
          </a:p>
        </p:txBody>
      </p:sp>
      <p:sp>
        <p:nvSpPr>
          <p:cNvPr id="24" name="Text 18"/>
          <p:cNvSpPr txBox="1"/>
          <p:nvPr/>
        </p:nvSpPr>
        <p:spPr>
          <a:xfrm>
            <a:off x="6230112" y="1810512"/>
            <a:ext cx="2292096" cy="475488"/>
          </a:xfrm>
          <a:prstGeom prst="rect">
            <a:avLst/>
          </a:prstGeom>
          <a:noFill/>
          <a:ln/>
        </p:spPr>
        <p:txBody>
          <a:bodyPr wrap="square" lIns="0" tIns="0" rIns="0" bIns="0" rtlCol="0" anchor="t"/>
          <a:lstStyle/>
          <a:p>
            <a:pPr indent="0" marL="0">
              <a:buNone/>
            </a:pPr>
            <a:r>
              <a:rPr lang="en-US" sz="1100" dirty="0">
                <a:solidFill>
                  <a:schemeClr val="tx2"/>
                </a:solidFill>
              </a:rPr>
              <a:t>"Qual è l'argomento più forte contro questa conclusione?"</a:t>
            </a:r>
            <a:endParaRPr lang="en-US" sz="1100" dirty="0"/>
          </a:p>
        </p:txBody>
      </p:sp>
      <p:sp>
        <p:nvSpPr>
          <p:cNvPr id="25" name="Alternative"/>
          <p:cNvSpPr/>
          <p:nvPr/>
        </p:nvSpPr>
        <p:spPr>
          <a:xfrm>
            <a:off x="457200" y="2560320"/>
            <a:ext cx="2621280" cy="1280160"/>
          </a:xfrm>
          <a:prstGeom prst="roundRect">
            <a:avLst>
              <a:gd name="adj" fmla="val 5714"/>
            </a:avLst>
          </a:prstGeom>
          <a:solidFill>
            <a:schemeClr val="bg2"/>
          </a:solidFill>
          <a:ln/>
        </p:spPr>
      </p:sp>
      <p:sp>
        <p:nvSpPr>
          <p:cNvPr id="26" name="cerchio FiShuffle"/>
          <p:cNvSpPr/>
          <p:nvPr/>
        </p:nvSpPr>
        <p:spPr>
          <a:xfrm>
            <a:off x="621792" y="2724912"/>
            <a:ext cx="438912" cy="438912"/>
          </a:xfrm>
          <a:prstGeom prst="ellipse">
            <a:avLst/>
          </a:prstGeom>
          <a:solidFill>
            <a:schemeClr val="accent1"/>
          </a:solidFill>
          <a:ln/>
        </p:spPr>
      </p:sp>
      <p:pic>
        <p:nvPicPr>
          <p:cNvPr id="27" name="Image 3" descr="FiShuffle">    </p:cNvPr>
          <p:cNvPicPr>
            <a:picLocks noChangeAspect="1"/>
          </p:cNvPicPr>
          <p:nvPr/>
        </p:nvPicPr>
        <p:blipFill>
          <a:blip r:embed="rId4"/>
          <a:stretch>
            <a:fillRect/>
          </a:stretch>
        </p:blipFill>
        <p:spPr>
          <a:xfrm>
            <a:off x="731520" y="2834640"/>
            <a:ext cx="219456" cy="219456"/>
          </a:xfrm>
          <a:prstGeom prst="rect">
            <a:avLst/>
          </a:prstGeom>
        </p:spPr>
      </p:pic>
      <p:sp>
        <p:nvSpPr>
          <p:cNvPr id="28" name="Text 21"/>
          <p:cNvSpPr txBox="1"/>
          <p:nvPr/>
        </p:nvSpPr>
        <p:spPr>
          <a:xfrm>
            <a:off x="1170432" y="26883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Alternative</a:t>
            </a:r>
            <a:endParaRPr lang="en-US" sz="1300" dirty="0"/>
          </a:p>
        </p:txBody>
      </p:sp>
      <p:sp>
        <p:nvSpPr>
          <p:cNvPr id="29" name="Text 22"/>
          <p:cNvSpPr txBox="1"/>
          <p:nvPr/>
        </p:nvSpPr>
        <p:spPr>
          <a:xfrm>
            <a:off x="621792" y="3273552"/>
            <a:ext cx="2292096" cy="475488"/>
          </a:xfrm>
          <a:prstGeom prst="rect">
            <a:avLst/>
          </a:prstGeom>
          <a:noFill/>
          <a:ln/>
        </p:spPr>
        <p:txBody>
          <a:bodyPr wrap="square" lIns="0" tIns="0" rIns="0" bIns="0" rtlCol="0" anchor="t"/>
          <a:lstStyle/>
          <a:p>
            <a:pPr indent="0" marL="0">
              <a:buNone/>
            </a:pPr>
            <a:r>
              <a:rPr lang="en-US" sz="1100" dirty="0">
                <a:solidFill>
                  <a:schemeClr val="tx2"/>
                </a:solidFill>
              </a:rPr>
              <a:t>"Quali altre conclusioni sono compatibili con i dati?"</a:t>
            </a:r>
            <a:endParaRPr lang="en-US" sz="1100" dirty="0"/>
          </a:p>
        </p:txBody>
      </p:sp>
      <p:sp>
        <p:nvSpPr>
          <p:cNvPr id="30" name="Checklist e criteri"/>
          <p:cNvSpPr/>
          <p:nvPr/>
        </p:nvSpPr>
        <p:spPr>
          <a:xfrm>
            <a:off x="3261360" y="2560320"/>
            <a:ext cx="2621280" cy="1280160"/>
          </a:xfrm>
          <a:prstGeom prst="roundRect">
            <a:avLst>
              <a:gd name="adj" fmla="val 5714"/>
            </a:avLst>
          </a:prstGeom>
          <a:solidFill>
            <a:schemeClr val="bg2"/>
          </a:solidFill>
          <a:ln/>
        </p:spPr>
      </p:sp>
      <p:sp>
        <p:nvSpPr>
          <p:cNvPr id="31" name="cerchio FiList"/>
          <p:cNvSpPr/>
          <p:nvPr/>
        </p:nvSpPr>
        <p:spPr>
          <a:xfrm>
            <a:off x="3425952" y="2724912"/>
            <a:ext cx="438912" cy="438912"/>
          </a:xfrm>
          <a:prstGeom prst="ellipse">
            <a:avLst/>
          </a:prstGeom>
          <a:solidFill>
            <a:schemeClr val="accent1"/>
          </a:solidFill>
          <a:ln/>
        </p:spPr>
      </p:sp>
      <p:pic>
        <p:nvPicPr>
          <p:cNvPr id="32" name="Image 4" descr="FiList">    </p:cNvPr>
          <p:cNvPicPr>
            <a:picLocks noChangeAspect="1"/>
          </p:cNvPicPr>
          <p:nvPr/>
        </p:nvPicPr>
        <p:blipFill>
          <a:blip r:embed="rId5"/>
          <a:stretch>
            <a:fillRect/>
          </a:stretch>
        </p:blipFill>
        <p:spPr>
          <a:xfrm>
            <a:off x="3535680" y="2834640"/>
            <a:ext cx="219456" cy="219456"/>
          </a:xfrm>
          <a:prstGeom prst="rect">
            <a:avLst/>
          </a:prstGeom>
        </p:spPr>
      </p:pic>
      <p:sp>
        <p:nvSpPr>
          <p:cNvPr id="33" name="Text 25"/>
          <p:cNvSpPr txBox="1"/>
          <p:nvPr/>
        </p:nvSpPr>
        <p:spPr>
          <a:xfrm>
            <a:off x="3974592" y="26883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Checklist e criteri</a:t>
            </a:r>
            <a:endParaRPr lang="en-US" sz="1300" dirty="0"/>
          </a:p>
        </p:txBody>
      </p:sp>
      <p:sp>
        <p:nvSpPr>
          <p:cNvPr id="34" name="Text 26"/>
          <p:cNvSpPr txBox="1"/>
          <p:nvPr/>
        </p:nvSpPr>
        <p:spPr>
          <a:xfrm>
            <a:off x="3425952" y="3273552"/>
            <a:ext cx="2292096" cy="475488"/>
          </a:xfrm>
          <a:prstGeom prst="rect">
            <a:avLst/>
          </a:prstGeom>
          <a:noFill/>
          <a:ln/>
        </p:spPr>
        <p:txBody>
          <a:bodyPr wrap="square" lIns="0" tIns="0" rIns="0" bIns="0" rtlCol="0" anchor="t"/>
          <a:lstStyle/>
          <a:p>
            <a:pPr indent="0" marL="0">
              <a:buNone/>
            </a:pPr>
            <a:r>
              <a:rPr lang="en-US" sz="1100" dirty="0">
                <a:solidFill>
                  <a:schemeClr val="tx2"/>
                </a:solidFill>
              </a:rPr>
              <a:t>"Verifica questi cinque requisiti, indicando dove e come."</a:t>
            </a:r>
            <a:endParaRPr lang="en-US" sz="1100" dirty="0"/>
          </a:p>
        </p:txBody>
      </p:sp>
      <p:sp>
        <p:nvSpPr>
          <p:cNvPr id="35" name="Contraddizioni e lacune"/>
          <p:cNvSpPr/>
          <p:nvPr/>
        </p:nvSpPr>
        <p:spPr>
          <a:xfrm>
            <a:off x="6065520" y="2560320"/>
            <a:ext cx="2621280" cy="1280160"/>
          </a:xfrm>
          <a:prstGeom prst="roundRect">
            <a:avLst>
              <a:gd name="adj" fmla="val 5714"/>
            </a:avLst>
          </a:prstGeom>
          <a:solidFill>
            <a:schemeClr val="bg2"/>
          </a:solidFill>
          <a:ln/>
        </p:spPr>
      </p:sp>
      <p:sp>
        <p:nvSpPr>
          <p:cNvPr id="36" name="cerchio FiAlertCircle"/>
          <p:cNvSpPr/>
          <p:nvPr/>
        </p:nvSpPr>
        <p:spPr>
          <a:xfrm>
            <a:off x="6230112" y="2724912"/>
            <a:ext cx="438912" cy="438912"/>
          </a:xfrm>
          <a:prstGeom prst="ellipse">
            <a:avLst/>
          </a:prstGeom>
          <a:solidFill>
            <a:schemeClr val="accent1"/>
          </a:solidFill>
          <a:ln/>
        </p:spPr>
      </p:sp>
      <p:pic>
        <p:nvPicPr>
          <p:cNvPr id="37" name="Image 5" descr="FiAlertCircle">    </p:cNvPr>
          <p:cNvPicPr>
            <a:picLocks noChangeAspect="1"/>
          </p:cNvPicPr>
          <p:nvPr/>
        </p:nvPicPr>
        <p:blipFill>
          <a:blip r:embed="rId6"/>
          <a:stretch>
            <a:fillRect/>
          </a:stretch>
        </p:blipFill>
        <p:spPr>
          <a:xfrm>
            <a:off x="6339840" y="2834640"/>
            <a:ext cx="219456" cy="219456"/>
          </a:xfrm>
          <a:prstGeom prst="rect">
            <a:avLst/>
          </a:prstGeom>
        </p:spPr>
      </p:pic>
      <p:sp>
        <p:nvSpPr>
          <p:cNvPr id="38" name="Text 29"/>
          <p:cNvSpPr txBox="1"/>
          <p:nvPr/>
        </p:nvSpPr>
        <p:spPr>
          <a:xfrm>
            <a:off x="6778752" y="26883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Contraddizioni e lacune</a:t>
            </a:r>
            <a:endParaRPr lang="en-US" sz="1300" dirty="0"/>
          </a:p>
        </p:txBody>
      </p:sp>
      <p:sp>
        <p:nvSpPr>
          <p:cNvPr id="39" name="Text 30"/>
          <p:cNvSpPr txBox="1"/>
          <p:nvPr/>
        </p:nvSpPr>
        <p:spPr>
          <a:xfrm>
            <a:off x="6230112" y="3273552"/>
            <a:ext cx="2292096" cy="475488"/>
          </a:xfrm>
          <a:prstGeom prst="rect">
            <a:avLst/>
          </a:prstGeom>
          <a:noFill/>
          <a:ln/>
        </p:spPr>
        <p:txBody>
          <a:bodyPr wrap="square" lIns="0" tIns="0" rIns="0" bIns="0" rtlCol="0" anchor="t"/>
          <a:lstStyle/>
          <a:p>
            <a:pPr indent="0" marL="0">
              <a:buNone/>
            </a:pPr>
            <a:r>
              <a:rPr lang="en-US" sz="1100" dirty="0">
                <a:solidFill>
                  <a:schemeClr val="tx2"/>
                </a:solidFill>
              </a:rPr>
              <a:t>"Ci sono contraddizioni? Che cosa manca?"</a:t>
            </a:r>
            <a:endParaRPr lang="en-US" sz="1100" dirty="0"/>
          </a:p>
        </p:txBody>
      </p:sp>
      <p:sp>
        <p:nvSpPr>
          <p:cNvPr id="40" name="messaggio"/>
          <p:cNvSpPr/>
          <p:nvPr/>
        </p:nvSpPr>
        <p:spPr>
          <a:xfrm>
            <a:off x="457200" y="4023360"/>
            <a:ext cx="8229600" cy="502920"/>
          </a:xfrm>
          <a:prstGeom prst="roundRect">
            <a:avLst>
              <a:gd name="adj" fmla="val 14545"/>
            </a:avLst>
          </a:prstGeom>
          <a:solidFill>
            <a:schemeClr val="tx1"/>
          </a:solidFill>
          <a:ln/>
        </p:spPr>
      </p:sp>
      <p:sp>
        <p:nvSpPr>
          <p:cNvPr id="41" name="Text 32"/>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Meglio in una nuova conversazione, presentando il testo come lavoro di altri: il sistema è meno compiacente.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di richiesta di revisione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prompt"/>
          <p:cNvSpPr/>
          <p:nvPr/>
        </p:nvSpPr>
        <p:spPr>
          <a:xfrm>
            <a:off x="457200" y="1097280"/>
            <a:ext cx="5394960" cy="3429000"/>
          </a:xfrm>
          <a:prstGeom prst="roundRect">
            <a:avLst>
              <a:gd name="adj" fmla="val 2133"/>
            </a:avLst>
          </a:prstGeom>
          <a:solidFill>
            <a:schemeClr val="accent6"/>
          </a:solidFill>
          <a:ln/>
        </p:spPr>
      </p:sp>
      <p:sp>
        <p:nvSpPr>
          <p:cNvPr id="11" name="Text 8"/>
          <p:cNvSpPr txBox="1"/>
          <p:nvPr/>
        </p:nvSpPr>
        <p:spPr>
          <a:xfrm>
            <a:off x="621792" y="1188720"/>
            <a:ext cx="5065776" cy="256032"/>
          </a:xfrm>
          <a:prstGeom prst="rect">
            <a:avLst/>
          </a:prstGeom>
          <a:noFill/>
          <a:ln/>
        </p:spPr>
        <p:txBody>
          <a:bodyPr wrap="square" lIns="0" tIns="0" rIns="0" bIns="0" rtlCol="0" anchor="t"/>
          <a:lstStyle/>
          <a:p>
            <a:pPr indent="0" marL="0">
              <a:buNone/>
            </a:pPr>
            <a:r>
              <a:rPr lang="en-US" sz="1100" b="1" dirty="0">
                <a:solidFill>
                  <a:schemeClr val="accent1"/>
                </a:solidFill>
              </a:rPr>
              <a:t>Esempio: richiesta di revisione</a:t>
            </a:r>
            <a:endParaRPr lang="en-US" sz="1100" dirty="0"/>
          </a:p>
        </p:txBody>
      </p:sp>
      <p:sp>
        <p:nvSpPr>
          <p:cNvPr id="12" name="Text 9"/>
          <p:cNvSpPr txBox="1"/>
          <p:nvPr/>
        </p:nvSpPr>
        <p:spPr>
          <a:xfrm>
            <a:off x="621792" y="1463040"/>
            <a:ext cx="5065776" cy="29718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Di seguito trovi la bozza di un collega.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1. Distingui fatti, stime e interpretazioni.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2. Elenca le affermazioni da verificare su una fonte.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3. Indica assunzioni implicite e informazioni mancanti.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4. Proponi l'argomento più forte contro la conclusione.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Non riscrivere il testo: produci solo un elenco di osservazioni.</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[bozza]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13" name="scheda Osservazioni, non riscrittura"/>
          <p:cNvSpPr/>
          <p:nvPr/>
        </p:nvSpPr>
        <p:spPr>
          <a:xfrm>
            <a:off x="6080760" y="1097280"/>
            <a:ext cx="2606040" cy="1600200"/>
          </a:xfrm>
          <a:prstGeom prst="roundRect">
            <a:avLst>
              <a:gd name="adj" fmla="val 4571"/>
            </a:avLst>
          </a:prstGeom>
          <a:solidFill>
            <a:schemeClr val="bg2"/>
          </a:solidFill>
          <a:ln/>
        </p:spPr>
      </p:sp>
      <p:sp>
        <p:nvSpPr>
          <p:cNvPr id="14" name="Text 11"/>
          <p:cNvSpPr txBox="1"/>
          <p:nvPr/>
        </p:nvSpPr>
        <p:spPr>
          <a:xfrm>
            <a:off x="6263640" y="1280160"/>
            <a:ext cx="2240280" cy="347472"/>
          </a:xfrm>
          <a:prstGeom prst="rect">
            <a:avLst/>
          </a:prstGeom>
          <a:noFill/>
          <a:ln/>
        </p:spPr>
        <p:txBody>
          <a:bodyPr wrap="square" lIns="0" tIns="0" rIns="0" bIns="0" rtlCol="0" anchor="t"/>
          <a:lstStyle/>
          <a:p>
            <a:pPr indent="0" marL="0">
              <a:buNone/>
            </a:pPr>
            <a:r>
              <a:rPr lang="en-US" sz="1300" b="1" dirty="0">
                <a:solidFill>
                  <a:schemeClr val="tx1"/>
                </a:solidFill>
              </a:rPr>
              <a:t>Osservazioni, non riscrittura</a:t>
            </a:r>
            <a:endParaRPr lang="en-US" sz="1300" dirty="0"/>
          </a:p>
        </p:txBody>
      </p:sp>
      <p:sp>
        <p:nvSpPr>
          <p:cNvPr id="15" name="Text 12"/>
          <p:cNvSpPr txBox="1"/>
          <p:nvPr/>
        </p:nvSpPr>
        <p:spPr>
          <a:xfrm>
            <a:off x="6263640" y="1664208"/>
            <a:ext cx="2240280" cy="923544"/>
          </a:xfrm>
          <a:prstGeom prst="rect">
            <a:avLst/>
          </a:prstGeom>
          <a:noFill/>
          <a:ln/>
        </p:spPr>
        <p:txBody>
          <a:bodyPr wrap="square" lIns="0" tIns="0" rIns="0" bIns="0" rtlCol="0" anchor="t"/>
          <a:lstStyle/>
          <a:p>
            <a:pPr indent="0" marL="0">
              <a:buNone/>
            </a:pPr>
            <a:r>
              <a:rPr lang="en-US" sz="1200" dirty="0">
                <a:solidFill>
                  <a:schemeClr val="tx2"/>
                </a:solidFill>
              </a:rPr>
              <a:t>La riscrittura può introdurre errori e nascondere i cambiamenti.</a:t>
            </a:r>
            <a:endParaRPr lang="en-US" sz="1200" dirty="0"/>
          </a:p>
        </p:txBody>
      </p:sp>
      <p:sp>
        <p:nvSpPr>
          <p:cNvPr id="16" name="scheda Il risultato"/>
          <p:cNvSpPr/>
          <p:nvPr/>
        </p:nvSpPr>
        <p:spPr>
          <a:xfrm>
            <a:off x="6080760" y="2834640"/>
            <a:ext cx="2606040" cy="1691640"/>
          </a:xfrm>
          <a:prstGeom prst="roundRect">
            <a:avLst>
              <a:gd name="adj" fmla="val 4324"/>
            </a:avLst>
          </a:prstGeom>
          <a:solidFill>
            <a:schemeClr val="accent6"/>
          </a:solidFill>
          <a:ln/>
        </p:spPr>
      </p:sp>
      <p:sp>
        <p:nvSpPr>
          <p:cNvPr id="17" name="Text 14"/>
          <p:cNvSpPr txBox="1"/>
          <p:nvPr/>
        </p:nvSpPr>
        <p:spPr>
          <a:xfrm>
            <a:off x="6263640" y="3017520"/>
            <a:ext cx="2240280" cy="347472"/>
          </a:xfrm>
          <a:prstGeom prst="rect">
            <a:avLst/>
          </a:prstGeom>
          <a:noFill/>
          <a:ln/>
        </p:spPr>
        <p:txBody>
          <a:bodyPr wrap="square" lIns="0" tIns="0" rIns="0" bIns="0" rtlCol="0" anchor="t"/>
          <a:lstStyle/>
          <a:p>
            <a:pPr indent="0" marL="0">
              <a:buNone/>
            </a:pPr>
            <a:r>
              <a:rPr lang="en-US" sz="1300" b="1" dirty="0">
                <a:solidFill>
                  <a:schemeClr val="tx1"/>
                </a:solidFill>
              </a:rPr>
              <a:t>Il risultato</a:t>
            </a:r>
            <a:endParaRPr lang="en-US" sz="1300" dirty="0"/>
          </a:p>
        </p:txBody>
      </p:sp>
      <p:sp>
        <p:nvSpPr>
          <p:cNvPr id="18" name="Text 15"/>
          <p:cNvSpPr txBox="1"/>
          <p:nvPr/>
        </p:nvSpPr>
        <p:spPr>
          <a:xfrm>
            <a:off x="6263640" y="3401568"/>
            <a:ext cx="2240280" cy="1014984"/>
          </a:xfrm>
          <a:prstGeom prst="rect">
            <a:avLst/>
          </a:prstGeom>
          <a:noFill/>
          <a:ln/>
        </p:spPr>
        <p:txBody>
          <a:bodyPr wrap="square" lIns="0" tIns="0" rIns="0" bIns="0" rtlCol="0" anchor="t"/>
          <a:lstStyle/>
          <a:p>
            <a:pPr indent="0" marL="0">
              <a:buNone/>
            </a:pPr>
            <a:r>
              <a:rPr lang="en-US" sz="1200" dirty="0">
                <a:solidFill>
                  <a:schemeClr val="tx2"/>
                </a:solidFill>
              </a:rPr>
              <a:t>Non una verifica, ma una mappa per verificare.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confronto con altri modelli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Se divergono"/>
          <p:cNvSpPr/>
          <p:nvPr/>
        </p:nvSpPr>
        <p:spPr>
          <a:xfrm>
            <a:off x="457200" y="1097280"/>
            <a:ext cx="3977640" cy="2377440"/>
          </a:xfrm>
          <a:prstGeom prst="roundRect">
            <a:avLst>
              <a:gd name="adj" fmla="val 3077"/>
            </a:avLst>
          </a:prstGeom>
          <a:solidFill>
            <a:schemeClr val="accent6"/>
          </a:solidFill>
          <a:ln/>
        </p:spPr>
      </p:sp>
      <p:sp>
        <p:nvSpPr>
          <p:cNvPr id="11" name="cerchio FiGitPullRequest"/>
          <p:cNvSpPr/>
          <p:nvPr/>
        </p:nvSpPr>
        <p:spPr>
          <a:xfrm>
            <a:off x="640080" y="1280160"/>
            <a:ext cx="457200" cy="457200"/>
          </a:xfrm>
          <a:prstGeom prst="ellipse">
            <a:avLst/>
          </a:prstGeom>
          <a:solidFill>
            <a:schemeClr val="accent1"/>
          </a:solidFill>
          <a:ln/>
        </p:spPr>
      </p:sp>
      <p:pic>
        <p:nvPicPr>
          <p:cNvPr id="12" name="Image 0" descr="FiGitPullRequest">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Se divergono</a:t>
            </a:r>
            <a:endParaRPr lang="en-US" sz="1600" dirty="0"/>
          </a:p>
        </p:txBody>
      </p:sp>
      <p:sp>
        <p:nvSpPr>
          <p:cNvPr id="14" name="Text 10"/>
          <p:cNvSpPr txBox="1"/>
          <p:nvPr/>
        </p:nvSpPr>
        <p:spPr>
          <a:xfrm>
            <a:off x="640080" y="2231136"/>
            <a:ext cx="3611880" cy="1133856"/>
          </a:xfrm>
          <a:prstGeom prst="rect">
            <a:avLst/>
          </a:prstGeom>
          <a:noFill/>
          <a:ln/>
        </p:spPr>
        <p:txBody>
          <a:bodyPr wrap="square" lIns="0" tIns="0" rIns="0" bIns="0" rtlCol="0" anchor="t"/>
          <a:lstStyle/>
          <a:p>
            <a:pPr indent="0" marL="0">
              <a:buNone/>
            </a:pPr>
            <a:r>
              <a:rPr lang="en-US" sz="1300" b="1" dirty="0">
                <a:solidFill>
                  <a:schemeClr val="accent1"/>
                </a:solidFill>
              </a:rPr>
              <a:t>Segnale chiaro: </a:t>
            </a:r>
            <a:pPr indent="0" marL="0">
              <a:spcAft>
                <a:spcPts val="800"/>
              </a:spcAft>
              <a:buNone/>
            </a:pPr>
            <a:r>
              <a:rPr lang="en-US" sz="1300" dirty="0">
                <a:solidFill>
                  <a:schemeClr val="tx2"/>
                </a:solidFill>
              </a:rPr>
              <a:t>almeno uno sbaglia, l'argomento va verificato con cura.</a:t>
            </a:r>
            <a:endParaRPr lang="en-US" sz="1300" dirty="0"/>
          </a:p>
          <a:p>
            <a:pPr indent="0" marL="0">
              <a:buNone/>
            </a:pPr>
            <a:r>
              <a:rPr lang="en-US" sz="1300" dirty="0">
                <a:solidFill>
                  <a:schemeClr val="tx2"/>
                </a:solidFill>
              </a:rPr>
              <a:t>Un modello diverso può notare errori che il primo non vede.</a:t>
            </a:r>
            <a:endParaRPr lang="en-US" sz="1300" dirty="0"/>
          </a:p>
        </p:txBody>
      </p:sp>
      <p:sp>
        <p:nvSpPr>
          <p:cNvPr id="15" name="scheda Se concordano"/>
          <p:cNvSpPr/>
          <p:nvPr/>
        </p:nvSpPr>
        <p:spPr>
          <a:xfrm>
            <a:off x="4709160" y="1097280"/>
            <a:ext cx="3977640" cy="2377440"/>
          </a:xfrm>
          <a:prstGeom prst="roundRect">
            <a:avLst>
              <a:gd name="adj" fmla="val 3077"/>
            </a:avLst>
          </a:prstGeom>
          <a:solidFill>
            <a:schemeClr val="bg2"/>
          </a:solidFill>
          <a:ln/>
        </p:spPr>
      </p:sp>
      <p:sp>
        <p:nvSpPr>
          <p:cNvPr id="16" name="cerchio FiGitMerge"/>
          <p:cNvSpPr/>
          <p:nvPr/>
        </p:nvSpPr>
        <p:spPr>
          <a:xfrm>
            <a:off x="4892040" y="1280160"/>
            <a:ext cx="457200" cy="457200"/>
          </a:xfrm>
          <a:prstGeom prst="ellipse">
            <a:avLst/>
          </a:prstGeom>
          <a:solidFill>
            <a:schemeClr val="accent1"/>
          </a:solidFill>
          <a:ln/>
        </p:spPr>
      </p:sp>
      <p:pic>
        <p:nvPicPr>
          <p:cNvPr id="17" name="Image 1" descr="FiGitMerg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Se concordano</a:t>
            </a:r>
            <a:endParaRPr lang="en-US" sz="1600" dirty="0"/>
          </a:p>
        </p:txBody>
      </p:sp>
      <p:sp>
        <p:nvSpPr>
          <p:cNvPr id="19" name="Text 14"/>
          <p:cNvSpPr txBox="1"/>
          <p:nvPr/>
        </p:nvSpPr>
        <p:spPr>
          <a:xfrm>
            <a:off x="4892040" y="2231136"/>
            <a:ext cx="3611880" cy="1133856"/>
          </a:xfrm>
          <a:prstGeom prst="rect">
            <a:avLst/>
          </a:prstGeom>
          <a:noFill/>
          <a:ln/>
        </p:spPr>
        <p:txBody>
          <a:bodyPr wrap="square" lIns="0" tIns="0" rIns="0" bIns="0" rtlCol="0" anchor="t"/>
          <a:lstStyle/>
          <a:p>
            <a:pPr indent="0" marL="0">
              <a:buNone/>
            </a:pPr>
            <a:r>
              <a:rPr lang="en-US" sz="1300" b="1" dirty="0">
                <a:solidFill>
                  <a:schemeClr val="accent5"/>
                </a:solidFill>
              </a:rPr>
              <a:t>Non è una prova: </a:t>
            </a:r>
            <a:pPr indent="0" marL="0">
              <a:spcAft>
                <a:spcPts val="800"/>
              </a:spcAft>
              <a:buNone/>
            </a:pPr>
            <a:r>
              <a:rPr lang="en-US" sz="1300" dirty="0">
                <a:solidFill>
                  <a:schemeClr val="tx2"/>
                </a:solidFill>
              </a:rPr>
              <a:t>dati e metodi simili possono produrre gli stessi errori, lacune, bias.</a:t>
            </a:r>
            <a:endParaRPr lang="en-US" sz="1300" dirty="0"/>
          </a:p>
          <a:p>
            <a:pPr indent="0" marL="0">
              <a:buNone/>
            </a:pPr>
            <a:r>
              <a:rPr lang="en-US" sz="1300" b="1" dirty="0">
                <a:solidFill>
                  <a:schemeClr val="tx1"/>
                </a:solidFill>
              </a:rPr>
              <a:t>Due modelli non sono due fonti indipendenti.</a:t>
            </a:r>
            <a:endParaRPr lang="en-US" sz="1300" dirty="0"/>
          </a:p>
        </p:txBody>
      </p:sp>
      <p:sp>
        <p:nvSpPr>
          <p:cNvPr id="20" name="messaggio"/>
          <p:cNvSpPr/>
          <p:nvPr/>
        </p:nvSpPr>
        <p:spPr>
          <a:xfrm>
            <a:off x="457200" y="3657600"/>
            <a:ext cx="8229600" cy="822960"/>
          </a:xfrm>
          <a:prstGeom prst="roundRect">
            <a:avLst>
              <a:gd name="adj" fmla="val 8889"/>
            </a:avLst>
          </a:prstGeom>
          <a:solidFill>
            <a:schemeClr val="tx1"/>
          </a:solidFill>
          <a:ln/>
        </p:spPr>
      </p:sp>
      <p:sp>
        <p:nvSpPr>
          <p:cNvPr id="21" name="Text 1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400" dirty="0">
                <a:solidFill>
                  <a:schemeClr val="bg1"/>
                </a:solidFill>
              </a:rPr>
              <a:t>Il confronto tra modelli serve a individuare i punti dubbi, non a confermare quelli certi.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o chiedere conferma all'AI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xt 7"/>
          <p:cNvSpPr txBox="1"/>
          <p:nvPr/>
        </p:nvSpPr>
        <p:spPr>
          <a:xfrm>
            <a:off x="457200" y="1051560"/>
            <a:ext cx="8229600" cy="320040"/>
          </a:xfrm>
          <a:prstGeom prst="rect">
            <a:avLst/>
          </a:prstGeom>
          <a:noFill/>
          <a:ln/>
        </p:spPr>
        <p:txBody>
          <a:bodyPr wrap="square" lIns="0" tIns="0" rIns="0" bIns="0" rtlCol="0" anchor="t"/>
          <a:lstStyle/>
          <a:p>
            <a:pPr indent="0" marL="0">
              <a:buNone/>
            </a:pPr>
            <a:r>
              <a:rPr lang="en-US" sz="1500" b="1" dirty="0">
                <a:solidFill>
                  <a:schemeClr val="tx1"/>
                </a:solidFill>
              </a:rPr>
              <a:t>"Sei sicuro?" può...</a:t>
            </a:r>
            <a:endParaRPr lang="en-US" sz="1500" dirty="0"/>
          </a:p>
        </p:txBody>
      </p:sp>
      <p:sp>
        <p:nvSpPr>
          <p:cNvPr id="11" name="scheda Confermare errori"/>
          <p:cNvSpPr/>
          <p:nvPr/>
        </p:nvSpPr>
        <p:spPr>
          <a:xfrm>
            <a:off x="457200" y="1417320"/>
            <a:ext cx="2615184" cy="1828800"/>
          </a:xfrm>
          <a:prstGeom prst="roundRect">
            <a:avLst>
              <a:gd name="adj" fmla="val 4000"/>
            </a:avLst>
          </a:prstGeom>
          <a:solidFill>
            <a:schemeClr val="bg2"/>
          </a:solidFill>
          <a:ln/>
        </p:spPr>
      </p:sp>
      <p:sp>
        <p:nvSpPr>
          <p:cNvPr id="12" name="cerchio FiCheck"/>
          <p:cNvSpPr/>
          <p:nvPr/>
        </p:nvSpPr>
        <p:spPr>
          <a:xfrm>
            <a:off x="640080" y="1600200"/>
            <a:ext cx="457200" cy="457200"/>
          </a:xfrm>
          <a:prstGeom prst="ellipse">
            <a:avLst/>
          </a:prstGeom>
          <a:solidFill>
            <a:schemeClr val="accent5"/>
          </a:solidFill>
          <a:ln/>
        </p:spPr>
      </p:sp>
      <p:pic>
        <p:nvPicPr>
          <p:cNvPr id="13" name="Image 0" descr="FiCheck">    </p:cNvPr>
          <p:cNvPicPr>
            <a:picLocks noChangeAspect="1"/>
          </p:cNvPicPr>
          <p:nvPr/>
        </p:nvPicPr>
        <p:blipFill>
          <a:blip r:embed="rId1"/>
          <a:stretch>
            <a:fillRect/>
          </a:stretch>
        </p:blipFill>
        <p:spPr>
          <a:xfrm>
            <a:off x="754380" y="1714500"/>
            <a:ext cx="228600" cy="228600"/>
          </a:xfrm>
          <a:prstGeom prst="rect">
            <a:avLst/>
          </a:prstGeom>
        </p:spPr>
      </p:pic>
      <p:sp>
        <p:nvSpPr>
          <p:cNvPr id="14" name="Text 10"/>
          <p:cNvSpPr txBox="1"/>
          <p:nvPr/>
        </p:nvSpPr>
        <p:spPr>
          <a:xfrm>
            <a:off x="640080" y="216712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Confermare errori</a:t>
            </a:r>
            <a:endParaRPr lang="en-US" sz="1500" dirty="0"/>
          </a:p>
        </p:txBody>
      </p:sp>
      <p:sp>
        <p:nvSpPr>
          <p:cNvPr id="15" name="Text 11"/>
          <p:cNvSpPr txBox="1"/>
          <p:nvPr/>
        </p:nvSpPr>
        <p:spPr>
          <a:xfrm>
            <a:off x="640080" y="2551176"/>
            <a:ext cx="2249424" cy="585216"/>
          </a:xfrm>
          <a:prstGeom prst="rect">
            <a:avLst/>
          </a:prstGeom>
          <a:noFill/>
          <a:ln/>
        </p:spPr>
        <p:txBody>
          <a:bodyPr wrap="square" lIns="0" tIns="0" rIns="0" bIns="0" rtlCol="0" anchor="t"/>
          <a:lstStyle/>
          <a:p>
            <a:pPr indent="0" marL="0">
              <a:buNone/>
            </a:pPr>
            <a:r>
              <a:rPr lang="en-US" sz="1200" dirty="0">
                <a:solidFill>
                  <a:schemeClr val="tx2"/>
                </a:solidFill>
              </a:rPr>
              <a:t>Ripete o giustifica l'informazione sbagliata (caso Avianca)</a:t>
            </a:r>
            <a:endParaRPr lang="en-US" sz="1200" dirty="0"/>
          </a:p>
        </p:txBody>
      </p:sp>
      <p:sp>
        <p:nvSpPr>
          <p:cNvPr id="16" name="scheda Correggere risultati corretti"/>
          <p:cNvSpPr/>
          <p:nvPr/>
        </p:nvSpPr>
        <p:spPr>
          <a:xfrm>
            <a:off x="3264408" y="1417320"/>
            <a:ext cx="2615184" cy="1828800"/>
          </a:xfrm>
          <a:prstGeom prst="roundRect">
            <a:avLst>
              <a:gd name="adj" fmla="val 4000"/>
            </a:avLst>
          </a:prstGeom>
          <a:solidFill>
            <a:schemeClr val="bg2"/>
          </a:solidFill>
          <a:ln/>
        </p:spPr>
      </p:sp>
      <p:sp>
        <p:nvSpPr>
          <p:cNvPr id="17" name="cerchio FiRotateCcw"/>
          <p:cNvSpPr/>
          <p:nvPr/>
        </p:nvSpPr>
        <p:spPr>
          <a:xfrm>
            <a:off x="3447288" y="1600200"/>
            <a:ext cx="457200" cy="457200"/>
          </a:xfrm>
          <a:prstGeom prst="ellipse">
            <a:avLst/>
          </a:prstGeom>
          <a:solidFill>
            <a:schemeClr val="accent5"/>
          </a:solidFill>
          <a:ln/>
        </p:spPr>
      </p:sp>
      <p:pic>
        <p:nvPicPr>
          <p:cNvPr id="18" name="Image 1" descr="FiRotateCcw">    </p:cNvPr>
          <p:cNvPicPr>
            <a:picLocks noChangeAspect="1"/>
          </p:cNvPicPr>
          <p:nvPr/>
        </p:nvPicPr>
        <p:blipFill>
          <a:blip r:embed="rId2"/>
          <a:stretch>
            <a:fillRect/>
          </a:stretch>
        </p:blipFill>
        <p:spPr>
          <a:xfrm>
            <a:off x="3561588" y="1714500"/>
            <a:ext cx="228600" cy="228600"/>
          </a:xfrm>
          <a:prstGeom prst="rect">
            <a:avLst/>
          </a:prstGeom>
        </p:spPr>
      </p:pic>
      <p:sp>
        <p:nvSpPr>
          <p:cNvPr id="19" name="Text 14"/>
          <p:cNvSpPr txBox="1"/>
          <p:nvPr/>
        </p:nvSpPr>
        <p:spPr>
          <a:xfrm>
            <a:off x="3447288" y="216712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Correggere risultati corretti</a:t>
            </a:r>
            <a:endParaRPr lang="en-US" sz="1500" dirty="0"/>
          </a:p>
        </p:txBody>
      </p:sp>
      <p:sp>
        <p:nvSpPr>
          <p:cNvPr id="20" name="Text 15"/>
          <p:cNvSpPr txBox="1"/>
          <p:nvPr/>
        </p:nvSpPr>
        <p:spPr>
          <a:xfrm>
            <a:off x="3447288" y="2551176"/>
            <a:ext cx="2249424" cy="585216"/>
          </a:xfrm>
          <a:prstGeom prst="rect">
            <a:avLst/>
          </a:prstGeom>
          <a:noFill/>
          <a:ln/>
        </p:spPr>
        <p:txBody>
          <a:bodyPr wrap="square" lIns="0" tIns="0" rIns="0" bIns="0" rtlCol="0" anchor="t"/>
          <a:lstStyle/>
          <a:p>
            <a:pPr indent="0" marL="0">
              <a:buNone/>
            </a:pPr>
            <a:r>
              <a:rPr lang="en-US" sz="1200" dirty="0">
                <a:solidFill>
                  <a:schemeClr val="tx2"/>
                </a:solidFill>
              </a:rPr>
              <a:t>Asseconda il dubbio e cambia una risposta giusta</a:t>
            </a:r>
            <a:endParaRPr lang="en-US" sz="1200" dirty="0"/>
          </a:p>
        </p:txBody>
      </p:sp>
      <p:sp>
        <p:nvSpPr>
          <p:cNvPr id="21" name="scheda Giustificare senza basi"/>
          <p:cNvSpPr/>
          <p:nvPr/>
        </p:nvSpPr>
        <p:spPr>
          <a:xfrm>
            <a:off x="6071616" y="1417320"/>
            <a:ext cx="2615184" cy="1828800"/>
          </a:xfrm>
          <a:prstGeom prst="roundRect">
            <a:avLst>
              <a:gd name="adj" fmla="val 4000"/>
            </a:avLst>
          </a:prstGeom>
          <a:solidFill>
            <a:schemeClr val="bg2"/>
          </a:solidFill>
          <a:ln/>
        </p:spPr>
      </p:sp>
      <p:sp>
        <p:nvSpPr>
          <p:cNvPr id="22" name="cerchio FiMessageSquare"/>
          <p:cNvSpPr/>
          <p:nvPr/>
        </p:nvSpPr>
        <p:spPr>
          <a:xfrm>
            <a:off x="6254496" y="1600200"/>
            <a:ext cx="457200" cy="457200"/>
          </a:xfrm>
          <a:prstGeom prst="ellipse">
            <a:avLst/>
          </a:prstGeom>
          <a:solidFill>
            <a:schemeClr val="accent5"/>
          </a:solidFill>
          <a:ln/>
        </p:spPr>
      </p:sp>
      <p:pic>
        <p:nvPicPr>
          <p:cNvPr id="23" name="Image 2" descr="FiMessageSquare">    </p:cNvPr>
          <p:cNvPicPr>
            <a:picLocks noChangeAspect="1"/>
          </p:cNvPicPr>
          <p:nvPr/>
        </p:nvPicPr>
        <p:blipFill>
          <a:blip r:embed="rId3"/>
          <a:stretch>
            <a:fillRect/>
          </a:stretch>
        </p:blipFill>
        <p:spPr>
          <a:xfrm>
            <a:off x="6368796" y="1714500"/>
            <a:ext cx="228600" cy="228600"/>
          </a:xfrm>
          <a:prstGeom prst="rect">
            <a:avLst/>
          </a:prstGeom>
        </p:spPr>
      </p:pic>
      <p:sp>
        <p:nvSpPr>
          <p:cNvPr id="24" name="Text 18"/>
          <p:cNvSpPr txBox="1"/>
          <p:nvPr/>
        </p:nvSpPr>
        <p:spPr>
          <a:xfrm>
            <a:off x="6254496" y="2167128"/>
            <a:ext cx="2249424" cy="347472"/>
          </a:xfrm>
          <a:prstGeom prst="rect">
            <a:avLst/>
          </a:prstGeom>
          <a:noFill/>
          <a:ln/>
        </p:spPr>
        <p:txBody>
          <a:bodyPr wrap="square" lIns="0" tIns="0" rIns="0" bIns="0" rtlCol="0" anchor="t"/>
          <a:lstStyle/>
          <a:p>
            <a:pPr indent="0" marL="0">
              <a:buNone/>
            </a:pPr>
            <a:r>
              <a:rPr lang="en-US" sz="1500" b="1" dirty="0">
                <a:solidFill>
                  <a:schemeClr val="tx1"/>
                </a:solidFill>
              </a:rPr>
              <a:t>Giustificare senza basi</a:t>
            </a:r>
            <a:endParaRPr lang="en-US" sz="1500" dirty="0"/>
          </a:p>
        </p:txBody>
      </p:sp>
      <p:sp>
        <p:nvSpPr>
          <p:cNvPr id="25" name="Text 19"/>
          <p:cNvSpPr txBox="1"/>
          <p:nvPr/>
        </p:nvSpPr>
        <p:spPr>
          <a:xfrm>
            <a:off x="6254496" y="2551176"/>
            <a:ext cx="2249424" cy="585216"/>
          </a:xfrm>
          <a:prstGeom prst="rect">
            <a:avLst/>
          </a:prstGeom>
          <a:noFill/>
          <a:ln/>
        </p:spPr>
        <p:txBody>
          <a:bodyPr wrap="square" lIns="0" tIns="0" rIns="0" bIns="0" rtlCol="0" anchor="t"/>
          <a:lstStyle/>
          <a:p>
            <a:pPr indent="0" marL="0">
              <a:buNone/>
            </a:pPr>
            <a:r>
              <a:rPr lang="en-US" sz="1200" dirty="0">
                <a:solidFill>
                  <a:schemeClr val="tx2"/>
                </a:solidFill>
              </a:rPr>
              <a:t>Spiegazioni convincenti senza evidenze reali</a:t>
            </a:r>
            <a:endParaRPr lang="en-US" sz="1200" dirty="0"/>
          </a:p>
        </p:txBody>
      </p:sp>
      <p:sp>
        <p:nvSpPr>
          <p:cNvPr id="26" name="messaggio autoverifica"/>
          <p:cNvSpPr/>
          <p:nvPr/>
        </p:nvSpPr>
        <p:spPr>
          <a:xfrm>
            <a:off x="457200" y="3429000"/>
            <a:ext cx="8229600" cy="1097280"/>
          </a:xfrm>
          <a:prstGeom prst="roundRect">
            <a:avLst>
              <a:gd name="adj" fmla="val 6667"/>
            </a:avLst>
          </a:prstGeom>
          <a:solidFill>
            <a:schemeClr val="tx1"/>
          </a:solidFill>
          <a:ln/>
        </p:spPr>
      </p:sp>
      <p:sp>
        <p:nvSpPr>
          <p:cNvPr id="27" name="Text 21"/>
          <p:cNvSpPr txBox="1"/>
          <p:nvPr/>
        </p:nvSpPr>
        <p:spPr>
          <a:xfrm>
            <a:off x="640080" y="3429000"/>
            <a:ext cx="7863840" cy="1097280"/>
          </a:xfrm>
          <a:prstGeom prst="rect">
            <a:avLst/>
          </a:prstGeom>
          <a:noFill/>
          <a:ln/>
        </p:spPr>
        <p:txBody>
          <a:bodyPr wrap="square" lIns="0" tIns="0" rIns="0" bIns="0" rtlCol="0" anchor="ctr"/>
          <a:lstStyle/>
          <a:p>
            <a:pPr indent="0" marL="0">
              <a:buNone/>
            </a:pPr>
            <a:r>
              <a:rPr lang="en-US" sz="1400" dirty="0">
                <a:solidFill>
                  <a:schemeClr val="bg1"/>
                </a:solidFill>
              </a:rPr>
              <a:t>Può aiutare a trovare problemi </a:t>
            </a:r>
            <a:pPr indent="0" marL="0">
              <a:buNone/>
            </a:pPr>
            <a:r>
              <a:rPr lang="en-US" sz="1400" dirty="0">
                <a:solidFill>
                  <a:schemeClr val="accent3"/>
                </a:solidFill>
              </a:rPr>
              <a:t>(calcoli, incoerenze, passaggi saltati), </a:t>
            </a:r>
            <a:pPr indent="0" marL="0">
              <a:buNone/>
            </a:pPr>
            <a:r>
              <a:rPr lang="en-US" sz="1400" b="1" dirty="0">
                <a:solidFill>
                  <a:schemeClr val="accent1"/>
                </a:solidFill>
              </a:rPr>
              <a:t>ma non è una prova indipendente: </a:t>
            </a:r>
            <a:pPr indent="0" marL="0">
              <a:buNone/>
            </a:pPr>
            <a:r>
              <a:rPr lang="en-US" sz="1400" dirty="0">
                <a:solidFill>
                  <a:schemeClr val="bg1"/>
                </a:solidFill>
              </a:rPr>
              <a:t>usa la stessa conoscenza che ha prodotto l'output.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Autovalutazione e verifica indipendente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3291840"/>
                <a:gridCol w="3291840"/>
              </a:tblGrid>
              <a:tr h="56692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Revisione assistita dall'AI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Verifica indipendente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300" b="1" dirty="0">
                          <a:solidFill>
                            <a:schemeClr val="tx1"/>
                          </a:solidFill>
                        </a:rPr>
                        <a:t>Che cosa usa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stesso sistema o uno simile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Fonti primarie, dati originali, strumenti, esperti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Vantaggi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Rapida, economica, sempre disponibile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Fornisce una prova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Utile per</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Errori evidenti, incoerenze, lacune, lista di punti dubbi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Confermare o smentire i punti importanti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Limiti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Stessi limiti di chi ha prodotto, compiacenza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Più lenta e impegnativa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messaggio"/>
          <p:cNvSpPr/>
          <p:nvPr/>
        </p:nvSpPr>
        <p:spPr>
          <a:xfrm>
            <a:off x="457200" y="4023360"/>
            <a:ext cx="8229600" cy="502920"/>
          </a:xfrm>
          <a:prstGeom prst="roundRect">
            <a:avLst>
              <a:gd name="adj" fmla="val 14545"/>
            </a:avLst>
          </a:prstGeom>
          <a:solidFill>
            <a:schemeClr val="tx1"/>
          </a:solidFill>
          <a:ln/>
        </p:spPr>
      </p:sp>
      <p:sp>
        <p:nvSpPr>
          <p:cNvPr id="12" name="Text 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Sequenza tipica: prima la revisione assistita trova i punti dubbi, poi la verifica indipendente sui più importanti.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revisione assistita dall'AI è un supporto al controllo, non un sostituto delle evidenze indipendenti.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7.6  ·  Tecniche di verifica e revisione assistite dall'AI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Bias cognitivi e fiducia nell'AI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L'affidabilità del processo dipende anche dall'atteggiamento di chi valuta e dalla capacità di riconoscere i propri bias</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bias che influenzano la valutazione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Bias di conferma"/>
          <p:cNvSpPr/>
          <p:nvPr/>
        </p:nvSpPr>
        <p:spPr>
          <a:xfrm>
            <a:off x="457200" y="1097280"/>
            <a:ext cx="1965960" cy="1261872"/>
          </a:xfrm>
          <a:prstGeom prst="roundRect">
            <a:avLst>
              <a:gd name="adj" fmla="val 5797"/>
            </a:avLst>
          </a:prstGeom>
          <a:solidFill>
            <a:schemeClr val="bg2"/>
          </a:solidFill>
          <a:ln/>
        </p:spPr>
      </p:sp>
      <p:sp>
        <p:nvSpPr>
          <p:cNvPr id="11" name="cerchio FiCheckCircle"/>
          <p:cNvSpPr/>
          <p:nvPr/>
        </p:nvSpPr>
        <p:spPr>
          <a:xfrm>
            <a:off x="1188720" y="1234440"/>
            <a:ext cx="502920" cy="502920"/>
          </a:xfrm>
          <a:prstGeom prst="ellipse">
            <a:avLst/>
          </a:prstGeom>
          <a:solidFill>
            <a:schemeClr val="accent1"/>
          </a:solidFill>
          <a:ln/>
        </p:spPr>
      </p:sp>
      <p:pic>
        <p:nvPicPr>
          <p:cNvPr id="12" name="Image 0" descr="FiCheckCircle">    </p:cNvPr>
          <p:cNvPicPr>
            <a:picLocks noChangeAspect="1"/>
          </p:cNvPicPr>
          <p:nvPr/>
        </p:nvPicPr>
        <p:blipFill>
          <a:blip r:embed="rId1"/>
          <a:stretch>
            <a:fillRect/>
          </a:stretch>
        </p:blipFill>
        <p:spPr>
          <a:xfrm>
            <a:off x="1314450" y="1360170"/>
            <a:ext cx="251460" cy="251460"/>
          </a:xfrm>
          <a:prstGeom prst="rect">
            <a:avLst/>
          </a:prstGeom>
        </p:spPr>
      </p:pic>
      <p:sp>
        <p:nvSpPr>
          <p:cNvPr id="13" name="Text 9"/>
          <p:cNvSpPr txBox="1"/>
          <p:nvPr/>
        </p:nvSpPr>
        <p:spPr>
          <a:xfrm>
            <a:off x="54864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Bias di conferma</a:t>
            </a:r>
            <a:endParaRPr lang="en-US" sz="1300" dirty="0"/>
          </a:p>
        </p:txBody>
      </p:sp>
      <p:sp>
        <p:nvSpPr>
          <p:cNvPr id="14" name="Automation bias"/>
          <p:cNvSpPr/>
          <p:nvPr/>
        </p:nvSpPr>
        <p:spPr>
          <a:xfrm>
            <a:off x="2560320" y="1097280"/>
            <a:ext cx="1965960" cy="1261872"/>
          </a:xfrm>
          <a:prstGeom prst="roundRect">
            <a:avLst>
              <a:gd name="adj" fmla="val 5797"/>
            </a:avLst>
          </a:prstGeom>
          <a:solidFill>
            <a:schemeClr val="bg2"/>
          </a:solidFill>
          <a:ln/>
        </p:spPr>
      </p:sp>
      <p:sp>
        <p:nvSpPr>
          <p:cNvPr id="15" name="cerchio FiCpu"/>
          <p:cNvSpPr/>
          <p:nvPr/>
        </p:nvSpPr>
        <p:spPr>
          <a:xfrm>
            <a:off x="3291840" y="1234440"/>
            <a:ext cx="502920" cy="502920"/>
          </a:xfrm>
          <a:prstGeom prst="ellipse">
            <a:avLst/>
          </a:prstGeom>
          <a:solidFill>
            <a:schemeClr val="accent1"/>
          </a:solidFill>
          <a:ln/>
        </p:spPr>
      </p:sp>
      <p:pic>
        <p:nvPicPr>
          <p:cNvPr id="16" name="Image 1" descr="FiCpu">    </p:cNvPr>
          <p:cNvPicPr>
            <a:picLocks noChangeAspect="1"/>
          </p:cNvPicPr>
          <p:nvPr/>
        </p:nvPicPr>
        <p:blipFill>
          <a:blip r:embed="rId2"/>
          <a:stretch>
            <a:fillRect/>
          </a:stretch>
        </p:blipFill>
        <p:spPr>
          <a:xfrm>
            <a:off x="3417570" y="1360170"/>
            <a:ext cx="251460" cy="251460"/>
          </a:xfrm>
          <a:prstGeom prst="rect">
            <a:avLst/>
          </a:prstGeom>
        </p:spPr>
      </p:pic>
      <p:sp>
        <p:nvSpPr>
          <p:cNvPr id="17" name="Text 12"/>
          <p:cNvSpPr txBox="1"/>
          <p:nvPr/>
        </p:nvSpPr>
        <p:spPr>
          <a:xfrm>
            <a:off x="265176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Automation bias</a:t>
            </a:r>
            <a:endParaRPr lang="en-US" sz="1300" dirty="0"/>
          </a:p>
        </p:txBody>
      </p:sp>
      <p:sp>
        <p:nvSpPr>
          <p:cNvPr id="18" name="Autorevolezza apparente"/>
          <p:cNvSpPr/>
          <p:nvPr/>
        </p:nvSpPr>
        <p:spPr>
          <a:xfrm>
            <a:off x="4663440" y="1097280"/>
            <a:ext cx="1965960" cy="1261872"/>
          </a:xfrm>
          <a:prstGeom prst="roundRect">
            <a:avLst>
              <a:gd name="adj" fmla="val 5797"/>
            </a:avLst>
          </a:prstGeom>
          <a:solidFill>
            <a:schemeClr val="bg2"/>
          </a:solidFill>
          <a:ln/>
        </p:spPr>
      </p:sp>
      <p:sp>
        <p:nvSpPr>
          <p:cNvPr id="19" name="cerchio FiAward"/>
          <p:cNvSpPr/>
          <p:nvPr/>
        </p:nvSpPr>
        <p:spPr>
          <a:xfrm>
            <a:off x="5394960" y="1234440"/>
            <a:ext cx="502920" cy="502920"/>
          </a:xfrm>
          <a:prstGeom prst="ellipse">
            <a:avLst/>
          </a:prstGeom>
          <a:solidFill>
            <a:schemeClr val="accent1"/>
          </a:solidFill>
          <a:ln/>
        </p:spPr>
      </p:sp>
      <p:pic>
        <p:nvPicPr>
          <p:cNvPr id="20" name="Image 2" descr="FiAward">    </p:cNvPr>
          <p:cNvPicPr>
            <a:picLocks noChangeAspect="1"/>
          </p:cNvPicPr>
          <p:nvPr/>
        </p:nvPicPr>
        <p:blipFill>
          <a:blip r:embed="rId3"/>
          <a:stretch>
            <a:fillRect/>
          </a:stretch>
        </p:blipFill>
        <p:spPr>
          <a:xfrm>
            <a:off x="5520690" y="1360170"/>
            <a:ext cx="251460" cy="251460"/>
          </a:xfrm>
          <a:prstGeom prst="rect">
            <a:avLst/>
          </a:prstGeom>
        </p:spPr>
      </p:pic>
      <p:sp>
        <p:nvSpPr>
          <p:cNvPr id="21" name="Text 15"/>
          <p:cNvSpPr txBox="1"/>
          <p:nvPr/>
        </p:nvSpPr>
        <p:spPr>
          <a:xfrm>
            <a:off x="475488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Autorevolezza apparente</a:t>
            </a:r>
            <a:endParaRPr lang="en-US" sz="1300" dirty="0"/>
          </a:p>
        </p:txBody>
      </p:sp>
      <p:sp>
        <p:nvSpPr>
          <p:cNvPr id="22" name="Fluidità e sicurezza"/>
          <p:cNvSpPr/>
          <p:nvPr/>
        </p:nvSpPr>
        <p:spPr>
          <a:xfrm>
            <a:off x="6766560" y="1097280"/>
            <a:ext cx="1965960" cy="1261872"/>
          </a:xfrm>
          <a:prstGeom prst="roundRect">
            <a:avLst>
              <a:gd name="adj" fmla="val 5797"/>
            </a:avLst>
          </a:prstGeom>
          <a:solidFill>
            <a:schemeClr val="bg2"/>
          </a:solidFill>
          <a:ln/>
        </p:spPr>
      </p:sp>
      <p:sp>
        <p:nvSpPr>
          <p:cNvPr id="23" name="cerchio FiFeather"/>
          <p:cNvSpPr/>
          <p:nvPr/>
        </p:nvSpPr>
        <p:spPr>
          <a:xfrm>
            <a:off x="7498080" y="1234440"/>
            <a:ext cx="502920" cy="502920"/>
          </a:xfrm>
          <a:prstGeom prst="ellipse">
            <a:avLst/>
          </a:prstGeom>
          <a:solidFill>
            <a:schemeClr val="accent1"/>
          </a:solidFill>
          <a:ln/>
        </p:spPr>
      </p:sp>
      <p:pic>
        <p:nvPicPr>
          <p:cNvPr id="24" name="Image 3" descr="FiFeather">    </p:cNvPr>
          <p:cNvPicPr>
            <a:picLocks noChangeAspect="1"/>
          </p:cNvPicPr>
          <p:nvPr/>
        </p:nvPicPr>
        <p:blipFill>
          <a:blip r:embed="rId4"/>
          <a:stretch>
            <a:fillRect/>
          </a:stretch>
        </p:blipFill>
        <p:spPr>
          <a:xfrm>
            <a:off x="7623810" y="1360170"/>
            <a:ext cx="251460" cy="251460"/>
          </a:xfrm>
          <a:prstGeom prst="rect">
            <a:avLst/>
          </a:prstGeom>
        </p:spPr>
      </p:pic>
      <p:sp>
        <p:nvSpPr>
          <p:cNvPr id="25" name="Text 18"/>
          <p:cNvSpPr txBox="1"/>
          <p:nvPr/>
        </p:nvSpPr>
        <p:spPr>
          <a:xfrm>
            <a:off x="685800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Fluidità e sicurezza</a:t>
            </a:r>
            <a:endParaRPr lang="en-US" sz="1300" dirty="0"/>
          </a:p>
        </p:txBody>
      </p:sp>
      <p:sp>
        <p:nvSpPr>
          <p:cNvPr id="26" name="Fiducia eccessiva"/>
          <p:cNvSpPr/>
          <p:nvPr/>
        </p:nvSpPr>
        <p:spPr>
          <a:xfrm>
            <a:off x="1508760" y="2514600"/>
            <a:ext cx="1965960" cy="1261872"/>
          </a:xfrm>
          <a:prstGeom prst="roundRect">
            <a:avLst>
              <a:gd name="adj" fmla="val 5797"/>
            </a:avLst>
          </a:prstGeom>
          <a:solidFill>
            <a:schemeClr val="bg2"/>
          </a:solidFill>
          <a:ln/>
        </p:spPr>
      </p:sp>
      <p:sp>
        <p:nvSpPr>
          <p:cNvPr id="27" name="cerchio FiThumbsUp"/>
          <p:cNvSpPr/>
          <p:nvPr/>
        </p:nvSpPr>
        <p:spPr>
          <a:xfrm>
            <a:off x="2240280" y="2651760"/>
            <a:ext cx="502920" cy="502920"/>
          </a:xfrm>
          <a:prstGeom prst="ellipse">
            <a:avLst/>
          </a:prstGeom>
          <a:solidFill>
            <a:schemeClr val="accent1"/>
          </a:solidFill>
          <a:ln/>
        </p:spPr>
      </p:sp>
      <p:pic>
        <p:nvPicPr>
          <p:cNvPr id="28" name="Image 4" descr="FiThumbsUp">    </p:cNvPr>
          <p:cNvPicPr>
            <a:picLocks noChangeAspect="1"/>
          </p:cNvPicPr>
          <p:nvPr/>
        </p:nvPicPr>
        <p:blipFill>
          <a:blip r:embed="rId5"/>
          <a:stretch>
            <a:fillRect/>
          </a:stretch>
        </p:blipFill>
        <p:spPr>
          <a:xfrm>
            <a:off x="2366010" y="2777490"/>
            <a:ext cx="251460" cy="251460"/>
          </a:xfrm>
          <a:prstGeom prst="rect">
            <a:avLst/>
          </a:prstGeom>
        </p:spPr>
      </p:pic>
      <p:sp>
        <p:nvSpPr>
          <p:cNvPr id="29" name="Text 21"/>
          <p:cNvSpPr txBox="1"/>
          <p:nvPr/>
        </p:nvSpPr>
        <p:spPr>
          <a:xfrm>
            <a:off x="1600200" y="322783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Fiducia eccessiva</a:t>
            </a:r>
            <a:endParaRPr lang="en-US" sz="1300" dirty="0"/>
          </a:p>
        </p:txBody>
      </p:sp>
      <p:sp>
        <p:nvSpPr>
          <p:cNvPr id="30" name="Sfiducia non giustificata"/>
          <p:cNvSpPr/>
          <p:nvPr/>
        </p:nvSpPr>
        <p:spPr>
          <a:xfrm>
            <a:off x="3611880" y="2514600"/>
            <a:ext cx="1965960" cy="1261872"/>
          </a:xfrm>
          <a:prstGeom prst="roundRect">
            <a:avLst>
              <a:gd name="adj" fmla="val 5797"/>
            </a:avLst>
          </a:prstGeom>
          <a:solidFill>
            <a:schemeClr val="accent6"/>
          </a:solidFill>
          <a:ln/>
        </p:spPr>
      </p:sp>
      <p:sp>
        <p:nvSpPr>
          <p:cNvPr id="31" name="cerchio FiThumbsDown"/>
          <p:cNvSpPr/>
          <p:nvPr/>
        </p:nvSpPr>
        <p:spPr>
          <a:xfrm>
            <a:off x="4343400" y="2651760"/>
            <a:ext cx="502920" cy="502920"/>
          </a:xfrm>
          <a:prstGeom prst="ellipse">
            <a:avLst/>
          </a:prstGeom>
          <a:solidFill>
            <a:schemeClr val="accent2"/>
          </a:solidFill>
          <a:ln/>
        </p:spPr>
      </p:sp>
      <p:pic>
        <p:nvPicPr>
          <p:cNvPr id="32" name="Image 5" descr="FiThumbsDown">    </p:cNvPr>
          <p:cNvPicPr>
            <a:picLocks noChangeAspect="1"/>
          </p:cNvPicPr>
          <p:nvPr/>
        </p:nvPicPr>
        <p:blipFill>
          <a:blip r:embed="rId6"/>
          <a:stretch>
            <a:fillRect/>
          </a:stretch>
        </p:blipFill>
        <p:spPr>
          <a:xfrm>
            <a:off x="4469130" y="2777490"/>
            <a:ext cx="251460" cy="251460"/>
          </a:xfrm>
          <a:prstGeom prst="rect">
            <a:avLst/>
          </a:prstGeom>
        </p:spPr>
      </p:pic>
      <p:sp>
        <p:nvSpPr>
          <p:cNvPr id="33" name="Text 24"/>
          <p:cNvSpPr txBox="1"/>
          <p:nvPr/>
        </p:nvSpPr>
        <p:spPr>
          <a:xfrm>
            <a:off x="3703320" y="322783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Sfiducia non giustificata</a:t>
            </a:r>
            <a:endParaRPr lang="en-US" sz="1300" dirty="0"/>
          </a:p>
        </p:txBody>
      </p:sp>
      <p:sp>
        <p:nvSpPr>
          <p:cNvPr id="34" name="Delega del giudizio"/>
          <p:cNvSpPr/>
          <p:nvPr/>
        </p:nvSpPr>
        <p:spPr>
          <a:xfrm>
            <a:off x="5715000" y="2514600"/>
            <a:ext cx="1965960" cy="1261872"/>
          </a:xfrm>
          <a:prstGeom prst="roundRect">
            <a:avLst>
              <a:gd name="adj" fmla="val 5797"/>
            </a:avLst>
          </a:prstGeom>
          <a:solidFill>
            <a:schemeClr val="bg2"/>
          </a:solidFill>
          <a:ln/>
        </p:spPr>
      </p:sp>
      <p:sp>
        <p:nvSpPr>
          <p:cNvPr id="35" name="cerchio FiPause"/>
          <p:cNvSpPr/>
          <p:nvPr/>
        </p:nvSpPr>
        <p:spPr>
          <a:xfrm>
            <a:off x="6446520" y="2651760"/>
            <a:ext cx="502920" cy="502920"/>
          </a:xfrm>
          <a:prstGeom prst="ellipse">
            <a:avLst/>
          </a:prstGeom>
          <a:solidFill>
            <a:schemeClr val="accent1"/>
          </a:solidFill>
          <a:ln/>
        </p:spPr>
      </p:sp>
      <p:pic>
        <p:nvPicPr>
          <p:cNvPr id="36" name="Image 6" descr="FiPause">    </p:cNvPr>
          <p:cNvPicPr>
            <a:picLocks noChangeAspect="1"/>
          </p:cNvPicPr>
          <p:nvPr/>
        </p:nvPicPr>
        <p:blipFill>
          <a:blip r:embed="rId7"/>
          <a:stretch>
            <a:fillRect/>
          </a:stretch>
        </p:blipFill>
        <p:spPr>
          <a:xfrm>
            <a:off x="6572250" y="2777490"/>
            <a:ext cx="251460" cy="251460"/>
          </a:xfrm>
          <a:prstGeom prst="rect">
            <a:avLst/>
          </a:prstGeom>
        </p:spPr>
      </p:pic>
      <p:sp>
        <p:nvSpPr>
          <p:cNvPr id="37" name="Text 27"/>
          <p:cNvSpPr txBox="1"/>
          <p:nvPr/>
        </p:nvSpPr>
        <p:spPr>
          <a:xfrm>
            <a:off x="5806440" y="322783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Delega del giudizio</a:t>
            </a:r>
            <a:endParaRPr lang="en-US" sz="1300" dirty="0"/>
          </a:p>
        </p:txBody>
      </p:sp>
      <p:sp>
        <p:nvSpPr>
          <p:cNvPr id="38" name="messaggio"/>
          <p:cNvSpPr/>
          <p:nvPr/>
        </p:nvSpPr>
        <p:spPr>
          <a:xfrm>
            <a:off x="457200" y="4023360"/>
            <a:ext cx="8229600" cy="502920"/>
          </a:xfrm>
          <a:prstGeom prst="roundRect">
            <a:avLst>
              <a:gd name="adj" fmla="val 14545"/>
            </a:avLst>
          </a:prstGeom>
          <a:solidFill>
            <a:schemeClr val="tx1"/>
          </a:solidFill>
          <a:ln/>
        </p:spPr>
      </p:sp>
      <p:sp>
        <p:nvSpPr>
          <p:cNvPr id="39" name="Text 29"/>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Tendenze comuni a tutti: servono contromisure, non solo buona volontà.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Bias di conferma nella verifica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Come agisce"/>
          <p:cNvSpPr/>
          <p:nvPr/>
        </p:nvSpPr>
        <p:spPr>
          <a:xfrm>
            <a:off x="457200" y="1097280"/>
            <a:ext cx="3977640" cy="2377440"/>
          </a:xfrm>
          <a:prstGeom prst="roundRect">
            <a:avLst>
              <a:gd name="adj" fmla="val 3077"/>
            </a:avLst>
          </a:prstGeom>
          <a:solidFill>
            <a:schemeClr val="bg2"/>
          </a:solidFill>
          <a:ln/>
        </p:spPr>
      </p:sp>
      <p:sp>
        <p:nvSpPr>
          <p:cNvPr id="11" name="cerchio FiAlertTriangle"/>
          <p:cNvSpPr/>
          <p:nvPr/>
        </p:nvSpPr>
        <p:spPr>
          <a:xfrm>
            <a:off x="640080" y="1280160"/>
            <a:ext cx="457200" cy="457200"/>
          </a:xfrm>
          <a:prstGeom prst="ellipse">
            <a:avLst/>
          </a:prstGeom>
          <a:solidFill>
            <a:schemeClr val="accent5"/>
          </a:solidFill>
          <a:ln/>
        </p:spPr>
      </p:sp>
      <p:pic>
        <p:nvPicPr>
          <p:cNvPr id="12" name="Image 0" descr="FiAlertTriangl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Come agisce</a:t>
            </a:r>
            <a:endParaRPr lang="en-US" sz="1600" dirty="0"/>
          </a:p>
        </p:txBody>
      </p:sp>
      <p:sp>
        <p:nvSpPr>
          <p:cNvPr id="14" name="Text 10"/>
          <p:cNvSpPr txBox="1"/>
          <p:nvPr/>
        </p:nvSpPr>
        <p:spPr>
          <a:xfrm>
            <a:off x="64008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Verifica indulgente con ciò che conferma</a:t>
            </a:r>
            <a:endParaRPr lang="en-US" sz="1200" dirty="0"/>
          </a:p>
          <a:p>
            <a:pPr marL="177800" indent="-177800">
              <a:spcAft>
                <a:spcPts val="300"/>
              </a:spcAft>
              <a:buSzPct val="100000"/>
              <a:buChar char="•"/>
            </a:pPr>
            <a:r>
              <a:rPr lang="en-US" sz="1200" dirty="0">
                <a:solidFill>
                  <a:schemeClr val="tx2"/>
                </a:solidFill>
              </a:rPr>
              <a:t>Severa con ciò che contraddice</a:t>
            </a:r>
            <a:endParaRPr lang="en-US" sz="1200" dirty="0"/>
          </a:p>
          <a:p>
            <a:pPr marL="177800" indent="-177800">
              <a:spcAft>
                <a:spcPts val="300"/>
              </a:spcAft>
              <a:buSzPct val="100000"/>
              <a:buChar char="•"/>
            </a:pPr>
            <a:r>
              <a:rPr lang="en-US" sz="1200" dirty="0">
                <a:solidFill>
                  <a:schemeClr val="tx2"/>
                </a:solidFill>
              </a:rPr>
              <a:t>Domande che contengono già la risposta desiderata</a:t>
            </a:r>
            <a:endParaRPr lang="en-US" sz="1200" dirty="0"/>
          </a:p>
          <a:p>
            <a:pPr marL="177800" indent="-177800">
              <a:spcAft>
                <a:spcPts val="300"/>
              </a:spcAft>
              <a:buSzPct val="100000"/>
              <a:buChar char="•"/>
            </a:pPr>
            <a:r>
              <a:rPr lang="en-US" sz="1200" dirty="0">
                <a:solidFill>
                  <a:schemeClr val="tx2"/>
                </a:solidFill>
              </a:rPr>
              <a:t>Ci si ferma alla prima fonte che conferma</a:t>
            </a:r>
            <a:endParaRPr lang="en-US" sz="1200" dirty="0"/>
          </a:p>
        </p:txBody>
      </p:sp>
      <p:sp>
        <p:nvSpPr>
          <p:cNvPr id="15" name="scheda Contromisure"/>
          <p:cNvSpPr/>
          <p:nvPr/>
        </p:nvSpPr>
        <p:spPr>
          <a:xfrm>
            <a:off x="4709160" y="1097280"/>
            <a:ext cx="3977640" cy="2377440"/>
          </a:xfrm>
          <a:prstGeom prst="roundRect">
            <a:avLst>
              <a:gd name="adj" fmla="val 3077"/>
            </a:avLst>
          </a:prstGeom>
          <a:solidFill>
            <a:schemeClr val="accent6"/>
          </a:solidFill>
          <a:ln/>
        </p:spPr>
      </p:sp>
      <p:sp>
        <p:nvSpPr>
          <p:cNvPr id="16" name="cerchio FiShield"/>
          <p:cNvSpPr/>
          <p:nvPr/>
        </p:nvSpPr>
        <p:spPr>
          <a:xfrm>
            <a:off x="4892040" y="1280160"/>
            <a:ext cx="457200" cy="457200"/>
          </a:xfrm>
          <a:prstGeom prst="ellipse">
            <a:avLst/>
          </a:prstGeom>
          <a:solidFill>
            <a:schemeClr val="accent1"/>
          </a:solidFill>
          <a:ln/>
        </p:spPr>
      </p:sp>
      <p:pic>
        <p:nvPicPr>
          <p:cNvPr id="17" name="Image 1" descr="FiShield">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Contromisure</a:t>
            </a:r>
            <a:endParaRPr lang="en-US" sz="1600" dirty="0"/>
          </a:p>
        </p:txBody>
      </p:sp>
      <p:sp>
        <p:nvSpPr>
          <p:cNvPr id="19" name="Text 14"/>
          <p:cNvSpPr txBox="1"/>
          <p:nvPr/>
        </p:nvSpPr>
        <p:spPr>
          <a:xfrm>
            <a:off x="489204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Stesso livello di verifica, con una checklist fissa</a:t>
            </a:r>
            <a:endParaRPr lang="en-US" sz="1200" dirty="0"/>
          </a:p>
          <a:p>
            <a:pPr marL="177800" indent="-177800">
              <a:spcAft>
                <a:spcPts val="300"/>
              </a:spcAft>
              <a:buSzPct val="100000"/>
              <a:buChar char="•"/>
            </a:pPr>
            <a:r>
              <a:rPr lang="en-US" sz="1200" dirty="0">
                <a:solidFill>
                  <a:schemeClr val="tx2"/>
                </a:solidFill>
              </a:rPr>
              <a:t>"Che cosa troverei se avessi torto?"</a:t>
            </a:r>
            <a:endParaRPr lang="en-US" sz="1200" dirty="0"/>
          </a:p>
          <a:p>
            <a:pPr marL="177800" indent="-177800">
              <a:spcAft>
                <a:spcPts val="300"/>
              </a:spcAft>
              <a:buSzPct val="100000"/>
              <a:buChar char="•"/>
            </a:pPr>
            <a:r>
              <a:rPr lang="en-US" sz="1200" dirty="0">
                <a:solidFill>
                  <a:schemeClr val="tx2"/>
                </a:solidFill>
              </a:rPr>
              <a:t>Chiedere all'AI gli argomenti contrari</a:t>
            </a:r>
            <a:endParaRPr lang="en-US" sz="1200" dirty="0"/>
          </a:p>
          <a:p>
            <a:pPr marL="177800" indent="-177800">
              <a:spcAft>
                <a:spcPts val="300"/>
              </a:spcAft>
              <a:buSzPct val="100000"/>
              <a:buChar char="•"/>
            </a:pPr>
            <a:r>
              <a:rPr lang="en-US" sz="1200" dirty="0">
                <a:solidFill>
                  <a:schemeClr val="tx2"/>
                </a:solidFill>
              </a:rPr>
              <a:t>Far verificare a chi non ha preferenze</a:t>
            </a:r>
            <a:endParaRPr lang="en-US" sz="1200" dirty="0"/>
          </a:p>
        </p:txBody>
      </p:sp>
      <p:sp>
        <p:nvSpPr>
          <p:cNvPr id="20" name="messaggio"/>
          <p:cNvSpPr/>
          <p:nvPr/>
        </p:nvSpPr>
        <p:spPr>
          <a:xfrm>
            <a:off x="457200" y="3657600"/>
            <a:ext cx="8229600" cy="822960"/>
          </a:xfrm>
          <a:prstGeom prst="roundRect">
            <a:avLst>
              <a:gd name="adj" fmla="val 8889"/>
            </a:avLst>
          </a:prstGeom>
          <a:solidFill>
            <a:schemeClr val="tx1"/>
          </a:solidFill>
          <a:ln/>
        </p:spPr>
      </p:sp>
      <p:sp>
        <p:nvSpPr>
          <p:cNvPr id="21" name="Text 1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Il rischio: una verifica asimmetrica, severa con le informazioni scomode e indulgente con quelle gradite.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Fluidità, sicurezza e autorevolezza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Fluidità"/>
          <p:cNvSpPr/>
          <p:nvPr/>
        </p:nvSpPr>
        <p:spPr>
          <a:xfrm>
            <a:off x="457200" y="1097280"/>
            <a:ext cx="2615184" cy="2377440"/>
          </a:xfrm>
          <a:prstGeom prst="roundRect">
            <a:avLst>
              <a:gd name="adj" fmla="val 3077"/>
            </a:avLst>
          </a:prstGeom>
          <a:solidFill>
            <a:schemeClr val="bg2"/>
          </a:solidFill>
          <a:ln/>
        </p:spPr>
      </p:sp>
      <p:sp>
        <p:nvSpPr>
          <p:cNvPr id="11" name="cerchio FiFeather"/>
          <p:cNvSpPr/>
          <p:nvPr/>
        </p:nvSpPr>
        <p:spPr>
          <a:xfrm>
            <a:off x="640080" y="1280160"/>
            <a:ext cx="457200" cy="457200"/>
          </a:xfrm>
          <a:prstGeom prst="ellipse">
            <a:avLst/>
          </a:prstGeom>
          <a:solidFill>
            <a:schemeClr val="accent1"/>
          </a:solidFill>
          <a:ln/>
        </p:spPr>
      </p:sp>
      <p:pic>
        <p:nvPicPr>
          <p:cNvPr id="12" name="Image 0" descr="FiFeather">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Fluidità</a:t>
            </a:r>
            <a:endParaRPr lang="en-US" sz="1500" dirty="0"/>
          </a:p>
        </p:txBody>
      </p:sp>
      <p:sp>
        <p:nvSpPr>
          <p:cNvPr id="14" name="Text 10"/>
          <p:cNvSpPr txBox="1"/>
          <p:nvPr/>
        </p:nvSpPr>
        <p:spPr>
          <a:xfrm>
            <a:off x="640080" y="2231136"/>
            <a:ext cx="2249424" cy="113385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Ciò che è facile da leggere sembra più vero</a:t>
            </a:r>
            <a:endParaRPr lang="en-US" sz="1200" dirty="0"/>
          </a:p>
          <a:p>
            <a:pPr indent="0" marL="0">
              <a:buNone/>
            </a:pPr>
            <a:r>
              <a:rPr lang="en-US" sz="1200" i="1" dirty="0">
                <a:solidFill>
                  <a:schemeClr val="tx2"/>
                </a:solidFill>
              </a:rPr>
              <a:t>Reber e Schwarz, 1999</a:t>
            </a:r>
            <a:endParaRPr lang="en-US" sz="1200" dirty="0"/>
          </a:p>
        </p:txBody>
      </p:sp>
      <p:sp>
        <p:nvSpPr>
          <p:cNvPr id="15" name="scheda Sicurezza espressiva"/>
          <p:cNvSpPr/>
          <p:nvPr/>
        </p:nvSpPr>
        <p:spPr>
          <a:xfrm>
            <a:off x="3264408" y="1097280"/>
            <a:ext cx="2615184" cy="2377440"/>
          </a:xfrm>
          <a:prstGeom prst="roundRect">
            <a:avLst>
              <a:gd name="adj" fmla="val 3077"/>
            </a:avLst>
          </a:prstGeom>
          <a:solidFill>
            <a:schemeClr val="bg2"/>
          </a:solidFill>
          <a:ln/>
        </p:spPr>
      </p:sp>
      <p:sp>
        <p:nvSpPr>
          <p:cNvPr id="16" name="cerchio FiVolume2"/>
          <p:cNvSpPr/>
          <p:nvPr/>
        </p:nvSpPr>
        <p:spPr>
          <a:xfrm>
            <a:off x="3447288" y="1280160"/>
            <a:ext cx="457200" cy="457200"/>
          </a:xfrm>
          <a:prstGeom prst="ellipse">
            <a:avLst/>
          </a:prstGeom>
          <a:solidFill>
            <a:schemeClr val="accent1"/>
          </a:solidFill>
          <a:ln/>
        </p:spPr>
      </p:sp>
      <p:pic>
        <p:nvPicPr>
          <p:cNvPr id="17" name="Image 1" descr="FiVolume2">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Sicurezza espressiva</a:t>
            </a:r>
            <a:endParaRPr lang="en-US" sz="1500" dirty="0"/>
          </a:p>
        </p:txBody>
      </p:sp>
      <p:sp>
        <p:nvSpPr>
          <p:cNvPr id="19" name="Text 14"/>
          <p:cNvSpPr txBox="1"/>
          <p:nvPr/>
        </p:nvSpPr>
        <p:spPr>
          <a:xfrm>
            <a:off x="3447288" y="2231136"/>
            <a:ext cx="2249424" cy="113385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Il tono sicuro sembra competenza</a:t>
            </a:r>
            <a:endParaRPr lang="en-US" sz="1200" dirty="0"/>
          </a:p>
          <a:p>
            <a:pPr indent="0" marL="0">
              <a:buNone/>
            </a:pPr>
            <a:r>
              <a:rPr lang="en-US" sz="1200" i="1" dirty="0">
                <a:solidFill>
                  <a:schemeClr val="tx2"/>
                </a:solidFill>
              </a:rPr>
              <a:t>Ma non misura la correttezza</a:t>
            </a:r>
            <a:endParaRPr lang="en-US" sz="1200" dirty="0"/>
          </a:p>
        </p:txBody>
      </p:sp>
      <p:sp>
        <p:nvSpPr>
          <p:cNvPr id="20" name="scheda Autorevolezza apparente"/>
          <p:cNvSpPr/>
          <p:nvPr/>
        </p:nvSpPr>
        <p:spPr>
          <a:xfrm>
            <a:off x="6071616" y="1097280"/>
            <a:ext cx="2615184" cy="2377440"/>
          </a:xfrm>
          <a:prstGeom prst="roundRect">
            <a:avLst>
              <a:gd name="adj" fmla="val 3077"/>
            </a:avLst>
          </a:prstGeom>
          <a:solidFill>
            <a:schemeClr val="bg2"/>
          </a:solidFill>
          <a:ln/>
        </p:spPr>
      </p:sp>
      <p:sp>
        <p:nvSpPr>
          <p:cNvPr id="21" name="cerchio FiAward"/>
          <p:cNvSpPr/>
          <p:nvPr/>
        </p:nvSpPr>
        <p:spPr>
          <a:xfrm>
            <a:off x="6254496" y="1280160"/>
            <a:ext cx="457200" cy="457200"/>
          </a:xfrm>
          <a:prstGeom prst="ellipse">
            <a:avLst/>
          </a:prstGeom>
          <a:solidFill>
            <a:schemeClr val="accent1"/>
          </a:solidFill>
          <a:ln/>
        </p:spPr>
      </p:sp>
      <p:pic>
        <p:nvPicPr>
          <p:cNvPr id="22"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Autorevolezza apparente</a:t>
            </a:r>
            <a:endParaRPr lang="en-US" sz="1500" dirty="0"/>
          </a:p>
        </p:txBody>
      </p:sp>
      <p:sp>
        <p:nvSpPr>
          <p:cNvPr id="24" name="Text 18"/>
          <p:cNvSpPr txBox="1"/>
          <p:nvPr/>
        </p:nvSpPr>
        <p:spPr>
          <a:xfrm>
            <a:off x="6254496" y="2231136"/>
            <a:ext cx="2249424" cy="113385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Lessico tecnico, struttura, citazioni, numeri</a:t>
            </a:r>
            <a:endParaRPr lang="en-US" sz="1200" dirty="0"/>
          </a:p>
          <a:p>
            <a:pPr indent="0" marL="0">
              <a:buNone/>
            </a:pPr>
            <a:r>
              <a:rPr lang="en-US" sz="1200" i="1" dirty="0">
                <a:solidFill>
                  <a:schemeClr val="tx2"/>
                </a:solidFill>
              </a:rPr>
              <a:t>Attivano fiducia anche se immeritata</a:t>
            </a:r>
            <a:endParaRPr lang="en-US" sz="1200" dirty="0"/>
          </a:p>
        </p:txBody>
      </p:sp>
      <p:sp>
        <p:nvSpPr>
          <p:cNvPr id="25" name="messaggio"/>
          <p:cNvSpPr/>
          <p:nvPr/>
        </p:nvSpPr>
        <p:spPr>
          <a:xfrm>
            <a:off x="457200" y="3657600"/>
            <a:ext cx="8229600" cy="822960"/>
          </a:xfrm>
          <a:prstGeom prst="roundRect">
            <a:avLst>
              <a:gd name="adj" fmla="val 8889"/>
            </a:avLst>
          </a:prstGeom>
          <a:solidFill>
            <a:schemeClr val="tx1"/>
          </a:solidFill>
          <a:ln/>
        </p:spPr>
      </p:sp>
      <p:sp>
        <p:nvSpPr>
          <p:cNvPr id="26" name="Text 20"/>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400" dirty="0">
                <a:solidFill>
                  <a:schemeClr val="bg1"/>
                </a:solidFill>
              </a:rPr>
              <a:t>Agiscono in modo automatico: non si eliminano con la consapevolezza, si contrastano con il metodo.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Troppa fiducia, troppo poca fiducia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Eccessiva fiducia"/>
          <p:cNvSpPr/>
          <p:nvPr/>
        </p:nvSpPr>
        <p:spPr>
          <a:xfrm>
            <a:off x="457200" y="1097280"/>
            <a:ext cx="3977640" cy="2560320"/>
          </a:xfrm>
          <a:prstGeom prst="roundRect">
            <a:avLst>
              <a:gd name="adj" fmla="val 2857"/>
            </a:avLst>
          </a:prstGeom>
          <a:solidFill>
            <a:schemeClr val="bg2"/>
          </a:solidFill>
          <a:ln/>
        </p:spPr>
      </p:sp>
      <p:sp>
        <p:nvSpPr>
          <p:cNvPr id="11" name="cerchio FiThumbsUp"/>
          <p:cNvSpPr/>
          <p:nvPr/>
        </p:nvSpPr>
        <p:spPr>
          <a:xfrm>
            <a:off x="640080" y="1280160"/>
            <a:ext cx="457200" cy="457200"/>
          </a:xfrm>
          <a:prstGeom prst="ellipse">
            <a:avLst/>
          </a:prstGeom>
          <a:solidFill>
            <a:schemeClr val="accent1"/>
          </a:solidFill>
          <a:ln/>
        </p:spPr>
      </p:sp>
      <p:pic>
        <p:nvPicPr>
          <p:cNvPr id="12" name="Image 0" descr="FiThumbsUp">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Eccessiva fiducia</a:t>
            </a:r>
            <a:endParaRPr lang="en-US" sz="1600" dirty="0"/>
          </a:p>
        </p:txBody>
      </p:sp>
      <p:sp>
        <p:nvSpPr>
          <p:cNvPr id="14" name="Text 10"/>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Output usati senza verifica</a:t>
            </a:r>
            <a:endParaRPr lang="en-US" sz="1200" dirty="0"/>
          </a:p>
          <a:p>
            <a:pPr marL="177800" indent="-177800">
              <a:spcAft>
                <a:spcPts val="400"/>
              </a:spcAft>
              <a:buSzPct val="100000"/>
              <a:buChar char="•"/>
            </a:pPr>
            <a:r>
              <a:rPr lang="en-US" sz="1200" dirty="0">
                <a:solidFill>
                  <a:schemeClr val="tx2"/>
                </a:solidFill>
              </a:rPr>
              <a:t>Errori non notati, giudizio delegato</a:t>
            </a:r>
            <a:endParaRPr lang="en-US" sz="1200" dirty="0"/>
          </a:p>
          <a:p>
            <a:pPr marL="177800" indent="-177800">
              <a:spcAft>
                <a:spcPts val="400"/>
              </a:spcAft>
              <a:buSzPct val="100000"/>
              <a:buChar char="•"/>
            </a:pPr>
            <a:r>
              <a:rPr lang="en-US" sz="1200" dirty="0">
                <a:solidFill>
                  <a:schemeClr val="tx2"/>
                </a:solidFill>
              </a:rPr>
              <a:t>Cresce con le esperienze positive</a:t>
            </a:r>
            <a:endParaRPr lang="en-US" sz="1200" dirty="0"/>
          </a:p>
        </p:txBody>
      </p:sp>
      <p:sp>
        <p:nvSpPr>
          <p:cNvPr id="15" name="scheda Sfiducia non giustificata"/>
          <p:cNvSpPr/>
          <p:nvPr/>
        </p:nvSpPr>
        <p:spPr>
          <a:xfrm>
            <a:off x="4709160" y="1097280"/>
            <a:ext cx="3977640" cy="2560320"/>
          </a:xfrm>
          <a:prstGeom prst="roundRect">
            <a:avLst>
              <a:gd name="adj" fmla="val 2857"/>
            </a:avLst>
          </a:prstGeom>
          <a:solidFill>
            <a:schemeClr val="bg2"/>
          </a:solidFill>
          <a:ln/>
        </p:spPr>
      </p:sp>
      <p:sp>
        <p:nvSpPr>
          <p:cNvPr id="16" name="cerchio FiThumbsDown"/>
          <p:cNvSpPr/>
          <p:nvPr/>
        </p:nvSpPr>
        <p:spPr>
          <a:xfrm>
            <a:off x="4892040" y="1280160"/>
            <a:ext cx="457200" cy="457200"/>
          </a:xfrm>
          <a:prstGeom prst="ellipse">
            <a:avLst/>
          </a:prstGeom>
          <a:solidFill>
            <a:schemeClr val="accent1"/>
          </a:solidFill>
          <a:ln/>
        </p:spPr>
      </p:sp>
      <p:pic>
        <p:nvPicPr>
          <p:cNvPr id="17" name="Image 1" descr="FiThumbsDown">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Sfiducia non giustificata</a:t>
            </a:r>
            <a:endParaRPr lang="en-US" sz="1600" dirty="0"/>
          </a:p>
        </p:txBody>
      </p:sp>
      <p:sp>
        <p:nvSpPr>
          <p:cNvPr id="19" name="Text 14"/>
          <p:cNvSpPr txBox="1"/>
          <p:nvPr/>
        </p:nvSpPr>
        <p:spPr>
          <a:xfrm>
            <a:off x="489204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Output validi scartati</a:t>
            </a:r>
            <a:endParaRPr lang="en-US" sz="1200" dirty="0"/>
          </a:p>
          <a:p>
            <a:pPr marL="177800" indent="-177800">
              <a:spcAft>
                <a:spcPts val="400"/>
              </a:spcAft>
              <a:buSzPct val="100000"/>
              <a:buChar char="•"/>
            </a:pPr>
            <a:r>
              <a:rPr lang="en-US" sz="1200" dirty="0">
                <a:solidFill>
                  <a:schemeClr val="tx2"/>
                </a:solidFill>
              </a:rPr>
              <a:t>Lavori corretti rifatti, verifiche eccessive</a:t>
            </a:r>
            <a:endParaRPr lang="en-US" sz="1200" dirty="0"/>
          </a:p>
          <a:p>
            <a:pPr marL="177800" indent="-177800">
              <a:spcAft>
                <a:spcPts val="400"/>
              </a:spcAft>
              <a:buSzPct val="100000"/>
              <a:buChar char="•"/>
            </a:pPr>
            <a:r>
              <a:rPr lang="en-US" sz="1200" dirty="0">
                <a:solidFill>
                  <a:schemeClr val="tx2"/>
                </a:solidFill>
              </a:rPr>
              <a:t>Nasce spesso da un'esperienza negativa generalizzata</a:t>
            </a:r>
            <a:endParaRPr lang="en-US" sz="1200" dirty="0"/>
          </a:p>
        </p:txBody>
      </p:sp>
      <p:sp>
        <p:nvSpPr>
          <p:cNvPr id="20" name="messaggio"/>
          <p:cNvSpPr/>
          <p:nvPr/>
        </p:nvSpPr>
        <p:spPr>
          <a:xfrm>
            <a:off x="457200" y="3794760"/>
            <a:ext cx="8229600" cy="731520"/>
          </a:xfrm>
          <a:prstGeom prst="roundRect">
            <a:avLst>
              <a:gd name="adj" fmla="val 10000"/>
            </a:avLst>
          </a:prstGeom>
          <a:solidFill>
            <a:schemeClr val="tx1"/>
          </a:solidFill>
          <a:ln/>
        </p:spPr>
      </p:sp>
      <p:sp>
        <p:nvSpPr>
          <p:cNvPr id="21" name="Text 16"/>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Stessa radice: fiducia basata su impressioni, non su evidenze. La soluzione: fiducia calibrata.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Preservare l'autonomia cognitiva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Opinione prima della lettura"/>
          <p:cNvSpPr/>
          <p:nvPr/>
        </p:nvSpPr>
        <p:spPr>
          <a:xfrm>
            <a:off x="457200" y="1097280"/>
            <a:ext cx="2621280" cy="1325880"/>
          </a:xfrm>
          <a:prstGeom prst="roundRect">
            <a:avLst>
              <a:gd name="adj" fmla="val 5517"/>
            </a:avLst>
          </a:prstGeom>
          <a:solidFill>
            <a:schemeClr val="bg2"/>
          </a:solidFill>
          <a:ln/>
        </p:spPr>
      </p:sp>
      <p:sp>
        <p:nvSpPr>
          <p:cNvPr id="11" name="cerchio FiZap"/>
          <p:cNvSpPr/>
          <p:nvPr/>
        </p:nvSpPr>
        <p:spPr>
          <a:xfrm>
            <a:off x="621792" y="1261872"/>
            <a:ext cx="438912" cy="438912"/>
          </a:xfrm>
          <a:prstGeom prst="ellipse">
            <a:avLst/>
          </a:prstGeom>
          <a:solidFill>
            <a:schemeClr val="accent1"/>
          </a:solidFill>
          <a:ln/>
        </p:spPr>
      </p:sp>
      <p:pic>
        <p:nvPicPr>
          <p:cNvPr id="12" name="Image 0" descr="FiZap">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Opinione prima della lettura</a:t>
            </a:r>
            <a:endParaRPr lang="en-US" sz="1300" dirty="0"/>
          </a:p>
        </p:txBody>
      </p:sp>
      <p:sp>
        <p:nvSpPr>
          <p:cNvPr id="14" name="Text 10"/>
          <p:cNvSpPr txBox="1"/>
          <p:nvPr/>
        </p:nvSpPr>
        <p:spPr>
          <a:xfrm>
            <a:off x="62179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Un termine di confronto contro l'ancoraggio</a:t>
            </a:r>
            <a:endParaRPr lang="en-US" sz="1200" dirty="0"/>
          </a:p>
        </p:txBody>
      </p:sp>
      <p:sp>
        <p:nvSpPr>
          <p:cNvPr id="15" name="Checklist fissate in anticipo"/>
          <p:cNvSpPr/>
          <p:nvPr/>
        </p:nvSpPr>
        <p:spPr>
          <a:xfrm>
            <a:off x="3261360" y="1097280"/>
            <a:ext cx="2621280" cy="1325880"/>
          </a:xfrm>
          <a:prstGeom prst="roundRect">
            <a:avLst>
              <a:gd name="adj" fmla="val 5517"/>
            </a:avLst>
          </a:prstGeom>
          <a:solidFill>
            <a:schemeClr val="bg2"/>
          </a:solidFill>
          <a:ln/>
        </p:spPr>
      </p:sp>
      <p:sp>
        <p:nvSpPr>
          <p:cNvPr id="16" name="cerchio FiList"/>
          <p:cNvSpPr/>
          <p:nvPr/>
        </p:nvSpPr>
        <p:spPr>
          <a:xfrm>
            <a:off x="3425952" y="1261872"/>
            <a:ext cx="438912" cy="438912"/>
          </a:xfrm>
          <a:prstGeom prst="ellipse">
            <a:avLst/>
          </a:prstGeom>
          <a:solidFill>
            <a:schemeClr val="accent1"/>
          </a:solidFill>
          <a:ln/>
        </p:spPr>
      </p:sp>
      <p:pic>
        <p:nvPicPr>
          <p:cNvPr id="17" name="Image 1" descr="FiList">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Checklist fissate in anticipo</a:t>
            </a:r>
            <a:endParaRPr lang="en-US" sz="1300" dirty="0"/>
          </a:p>
        </p:txBody>
      </p:sp>
      <p:sp>
        <p:nvSpPr>
          <p:cNvPr id="19" name="Text 14"/>
          <p:cNvSpPr txBox="1"/>
          <p:nvPr/>
        </p:nvSpPr>
        <p:spPr>
          <a:xfrm>
            <a:off x="342595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Meno dipendenza dall'impressione</a:t>
            </a:r>
            <a:endParaRPr lang="en-US" sz="1200" dirty="0"/>
          </a:p>
        </p:txBody>
      </p:sp>
      <p:sp>
        <p:nvSpPr>
          <p:cNvPr id="20" name="Considerare l'opposto"/>
          <p:cNvSpPr/>
          <p:nvPr/>
        </p:nvSpPr>
        <p:spPr>
          <a:xfrm>
            <a:off x="6065520" y="1097280"/>
            <a:ext cx="2621280" cy="1325880"/>
          </a:xfrm>
          <a:prstGeom prst="roundRect">
            <a:avLst>
              <a:gd name="adj" fmla="val 5517"/>
            </a:avLst>
          </a:prstGeom>
          <a:solidFill>
            <a:schemeClr val="bg2"/>
          </a:solidFill>
          <a:ln/>
        </p:spPr>
      </p:sp>
      <p:sp>
        <p:nvSpPr>
          <p:cNvPr id="21" name="cerchio FiRepeat"/>
          <p:cNvSpPr/>
          <p:nvPr/>
        </p:nvSpPr>
        <p:spPr>
          <a:xfrm>
            <a:off x="6230112" y="1261872"/>
            <a:ext cx="438912" cy="438912"/>
          </a:xfrm>
          <a:prstGeom prst="ellipse">
            <a:avLst/>
          </a:prstGeom>
          <a:solidFill>
            <a:schemeClr val="accent1"/>
          </a:solidFill>
          <a:ln/>
        </p:spPr>
      </p:sp>
      <p:pic>
        <p:nvPicPr>
          <p:cNvPr id="22" name="Image 2" descr="FiRepeat">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Considerare l'opposto</a:t>
            </a:r>
            <a:endParaRPr lang="en-US" sz="1300" dirty="0"/>
          </a:p>
        </p:txBody>
      </p:sp>
      <p:sp>
        <p:nvSpPr>
          <p:cNvPr id="24" name="Text 18"/>
          <p:cNvSpPr txBox="1"/>
          <p:nvPr/>
        </p:nvSpPr>
        <p:spPr>
          <a:xfrm>
            <a:off x="623011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Perché potrebbe essere sbagliata?</a:t>
            </a:r>
            <a:endParaRPr lang="en-US" sz="1200" dirty="0"/>
          </a:p>
        </p:txBody>
      </p:sp>
      <p:sp>
        <p:nvSpPr>
          <p:cNvPr id="25" name="Rallentare sui punti critici"/>
          <p:cNvSpPr/>
          <p:nvPr/>
        </p:nvSpPr>
        <p:spPr>
          <a:xfrm>
            <a:off x="457200" y="2606040"/>
            <a:ext cx="2621280" cy="1325880"/>
          </a:xfrm>
          <a:prstGeom prst="roundRect">
            <a:avLst>
              <a:gd name="adj" fmla="val 5517"/>
            </a:avLst>
          </a:prstGeom>
          <a:solidFill>
            <a:schemeClr val="bg2"/>
          </a:solidFill>
          <a:ln/>
        </p:spPr>
      </p:sp>
      <p:sp>
        <p:nvSpPr>
          <p:cNvPr id="26" name="cerchio FiClock"/>
          <p:cNvSpPr/>
          <p:nvPr/>
        </p:nvSpPr>
        <p:spPr>
          <a:xfrm>
            <a:off x="621792" y="2770632"/>
            <a:ext cx="438912" cy="438912"/>
          </a:xfrm>
          <a:prstGeom prst="ellipse">
            <a:avLst/>
          </a:prstGeom>
          <a:solidFill>
            <a:schemeClr val="accent1"/>
          </a:solidFill>
          <a:ln/>
        </p:spPr>
      </p:sp>
      <p:pic>
        <p:nvPicPr>
          <p:cNvPr id="27" name="Image 3" descr="FiClock">    </p:cNvPr>
          <p:cNvPicPr>
            <a:picLocks noChangeAspect="1"/>
          </p:cNvPicPr>
          <p:nvPr/>
        </p:nvPicPr>
        <p:blipFill>
          <a:blip r:embed="rId4"/>
          <a:stretch>
            <a:fillRect/>
          </a:stretch>
        </p:blipFill>
        <p:spPr>
          <a:xfrm>
            <a:off x="731520" y="2880360"/>
            <a:ext cx="219456" cy="219456"/>
          </a:xfrm>
          <a:prstGeom prst="rect">
            <a:avLst/>
          </a:prstGeom>
        </p:spPr>
      </p:pic>
      <p:sp>
        <p:nvSpPr>
          <p:cNvPr id="28" name="Text 21"/>
          <p:cNvSpPr txBox="1"/>
          <p:nvPr/>
        </p:nvSpPr>
        <p:spPr>
          <a:xfrm>
            <a:off x="117043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Rallentare sui punti critici</a:t>
            </a:r>
            <a:endParaRPr lang="en-US" sz="1300" dirty="0"/>
          </a:p>
        </p:txBody>
      </p:sp>
      <p:sp>
        <p:nvSpPr>
          <p:cNvPr id="29" name="Text 22"/>
          <p:cNvSpPr txBox="1"/>
          <p:nvPr/>
        </p:nvSpPr>
        <p:spPr>
          <a:xfrm>
            <a:off x="62179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Dal giudizio automatico al ragionamento</a:t>
            </a:r>
            <a:endParaRPr lang="en-US" sz="1200" dirty="0"/>
          </a:p>
        </p:txBody>
      </p:sp>
      <p:sp>
        <p:nvSpPr>
          <p:cNvPr id="30" name="Separare produzione e verifica"/>
          <p:cNvSpPr/>
          <p:nvPr/>
        </p:nvSpPr>
        <p:spPr>
          <a:xfrm>
            <a:off x="3261360" y="2606040"/>
            <a:ext cx="2621280" cy="1325880"/>
          </a:xfrm>
          <a:prstGeom prst="roundRect">
            <a:avLst>
              <a:gd name="adj" fmla="val 5517"/>
            </a:avLst>
          </a:prstGeom>
          <a:solidFill>
            <a:schemeClr val="bg2"/>
          </a:solidFill>
          <a:ln/>
        </p:spPr>
      </p:sp>
      <p:sp>
        <p:nvSpPr>
          <p:cNvPr id="31" name="cerchio FiUsers"/>
          <p:cNvSpPr/>
          <p:nvPr/>
        </p:nvSpPr>
        <p:spPr>
          <a:xfrm>
            <a:off x="3425952" y="2770632"/>
            <a:ext cx="438912" cy="438912"/>
          </a:xfrm>
          <a:prstGeom prst="ellipse">
            <a:avLst/>
          </a:prstGeom>
          <a:solidFill>
            <a:schemeClr val="accent1"/>
          </a:solidFill>
          <a:ln/>
        </p:spPr>
      </p:sp>
      <p:pic>
        <p:nvPicPr>
          <p:cNvPr id="32" name="Image 4" descr="FiUsers">    </p:cNvPr>
          <p:cNvPicPr>
            <a:picLocks noChangeAspect="1"/>
          </p:cNvPicPr>
          <p:nvPr/>
        </p:nvPicPr>
        <p:blipFill>
          <a:blip r:embed="rId5"/>
          <a:stretch>
            <a:fillRect/>
          </a:stretch>
        </p:blipFill>
        <p:spPr>
          <a:xfrm>
            <a:off x="3535680" y="2880360"/>
            <a:ext cx="219456" cy="219456"/>
          </a:xfrm>
          <a:prstGeom prst="rect">
            <a:avLst/>
          </a:prstGeom>
        </p:spPr>
      </p:pic>
      <p:sp>
        <p:nvSpPr>
          <p:cNvPr id="33" name="Text 25"/>
          <p:cNvSpPr txBox="1"/>
          <p:nvPr/>
        </p:nvSpPr>
        <p:spPr>
          <a:xfrm>
            <a:off x="397459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Separare produzione e verifica</a:t>
            </a:r>
            <a:endParaRPr lang="en-US" sz="1300" dirty="0"/>
          </a:p>
        </p:txBody>
      </p:sp>
      <p:sp>
        <p:nvSpPr>
          <p:cNvPr id="34" name="Text 26"/>
          <p:cNvSpPr txBox="1"/>
          <p:nvPr/>
        </p:nvSpPr>
        <p:spPr>
          <a:xfrm>
            <a:off x="342595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Tempo o un'altra persona</a:t>
            </a:r>
            <a:endParaRPr lang="en-US" sz="1200" dirty="0"/>
          </a:p>
        </p:txBody>
      </p:sp>
      <p:sp>
        <p:nvSpPr>
          <p:cNvPr id="35" name="Tenere traccia degli errori"/>
          <p:cNvSpPr/>
          <p:nvPr/>
        </p:nvSpPr>
        <p:spPr>
          <a:xfrm>
            <a:off x="6065520" y="2606040"/>
            <a:ext cx="2621280" cy="1325880"/>
          </a:xfrm>
          <a:prstGeom prst="roundRect">
            <a:avLst>
              <a:gd name="adj" fmla="val 5517"/>
            </a:avLst>
          </a:prstGeom>
          <a:solidFill>
            <a:schemeClr val="bg2"/>
          </a:solidFill>
          <a:ln/>
        </p:spPr>
      </p:sp>
      <p:sp>
        <p:nvSpPr>
          <p:cNvPr id="36" name="cerchio FiBookmark"/>
          <p:cNvSpPr/>
          <p:nvPr/>
        </p:nvSpPr>
        <p:spPr>
          <a:xfrm>
            <a:off x="6230112" y="2770632"/>
            <a:ext cx="438912" cy="438912"/>
          </a:xfrm>
          <a:prstGeom prst="ellipse">
            <a:avLst/>
          </a:prstGeom>
          <a:solidFill>
            <a:schemeClr val="accent1"/>
          </a:solidFill>
          <a:ln/>
        </p:spPr>
      </p:sp>
      <p:pic>
        <p:nvPicPr>
          <p:cNvPr id="37" name="Image 5" descr="FiBookmark">    </p:cNvPr>
          <p:cNvPicPr>
            <a:picLocks noChangeAspect="1"/>
          </p:cNvPicPr>
          <p:nvPr/>
        </p:nvPicPr>
        <p:blipFill>
          <a:blip r:embed="rId6"/>
          <a:stretch>
            <a:fillRect/>
          </a:stretch>
        </p:blipFill>
        <p:spPr>
          <a:xfrm>
            <a:off x="6339840" y="2880360"/>
            <a:ext cx="219456" cy="219456"/>
          </a:xfrm>
          <a:prstGeom prst="rect">
            <a:avLst/>
          </a:prstGeom>
        </p:spPr>
      </p:pic>
      <p:sp>
        <p:nvSpPr>
          <p:cNvPr id="38" name="Text 29"/>
          <p:cNvSpPr txBox="1"/>
          <p:nvPr/>
        </p:nvSpPr>
        <p:spPr>
          <a:xfrm>
            <a:off x="677875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Tenere traccia degli errori</a:t>
            </a:r>
            <a:endParaRPr lang="en-US" sz="1300" dirty="0"/>
          </a:p>
        </p:txBody>
      </p:sp>
      <p:sp>
        <p:nvSpPr>
          <p:cNvPr id="39" name="Text 30"/>
          <p:cNvSpPr txBox="1"/>
          <p:nvPr/>
        </p:nvSpPr>
        <p:spPr>
          <a:xfrm>
            <a:off x="623011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Per calibrare la fiducia futura</a:t>
            </a:r>
            <a:endParaRPr lang="en-US" sz="1200" dirty="0"/>
          </a:p>
        </p:txBody>
      </p:sp>
      <p:sp>
        <p:nvSpPr>
          <p:cNvPr id="40" name="messaggio"/>
          <p:cNvSpPr/>
          <p:nvPr/>
        </p:nvSpPr>
        <p:spPr>
          <a:xfrm>
            <a:off x="457200" y="4114800"/>
            <a:ext cx="8229600" cy="457200"/>
          </a:xfrm>
          <a:prstGeom prst="roundRect">
            <a:avLst>
              <a:gd name="adj" fmla="val 16000"/>
            </a:avLst>
          </a:prstGeom>
          <a:solidFill>
            <a:schemeClr val="tx1"/>
          </a:solidFill>
          <a:ln/>
        </p:spPr>
      </p:sp>
      <p:sp>
        <p:nvSpPr>
          <p:cNvPr id="41" name="Text 32"/>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Il miglior metodo di verifica fallisce se chi lo applica non si accorge dei propri bias.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L'affidabilità del processo dipende anche dall'atteggiamento di chi valuta il risultato e dalla capacità di riconoscere i propri bias.</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7.7  ·  Bias cognitivi e fiducia nell'AI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Validazione e responsabilità nell'uso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Validare significa decidere se un output, con le verifiche fatte e le incertezze residue, è adeguato a uno specifico utilizzo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Plausibile, verificato, validato</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Plausibile"/>
          <p:cNvSpPr/>
          <p:nvPr/>
        </p:nvSpPr>
        <p:spPr>
          <a:xfrm>
            <a:off x="457200" y="1097280"/>
            <a:ext cx="2615184" cy="2286000"/>
          </a:xfrm>
          <a:prstGeom prst="roundRect">
            <a:avLst>
              <a:gd name="adj" fmla="val 3200"/>
            </a:avLst>
          </a:prstGeom>
          <a:solidFill>
            <a:schemeClr val="bg2"/>
          </a:solidFill>
          <a:ln/>
        </p:spPr>
      </p:sp>
      <p:sp>
        <p:nvSpPr>
          <p:cNvPr id="11" name="Text 8"/>
          <p:cNvSpPr txBox="1"/>
          <p:nvPr/>
        </p:nvSpPr>
        <p:spPr>
          <a:xfrm>
            <a:off x="640080" y="1207008"/>
            <a:ext cx="2249424" cy="411480"/>
          </a:xfrm>
          <a:prstGeom prst="rect">
            <a:avLst/>
          </a:prstGeom>
          <a:noFill/>
          <a:ln/>
        </p:spPr>
        <p:txBody>
          <a:bodyPr wrap="square" lIns="0" tIns="0" rIns="0" bIns="0" rtlCol="0" anchor="t"/>
          <a:lstStyle/>
          <a:p>
            <a:pPr indent="0" marL="0">
              <a:buNone/>
            </a:pPr>
            <a:r>
              <a:rPr lang="en-US" sz="1900" b="1" dirty="0">
                <a:solidFill>
                  <a:schemeClr val="accent1"/>
                </a:solidFill>
              </a:rPr>
              <a:t>Plausibile</a:t>
            </a:r>
            <a:endParaRPr lang="en-US" sz="1900" dirty="0"/>
          </a:p>
        </p:txBody>
      </p:sp>
      <p:sp>
        <p:nvSpPr>
          <p:cNvPr id="12" name="Text 9"/>
          <p:cNvSpPr txBox="1"/>
          <p:nvPr/>
        </p:nvSpPr>
        <p:spPr>
          <a:xfrm>
            <a:off x="640080" y="1691640"/>
            <a:ext cx="2249424" cy="868680"/>
          </a:xfrm>
          <a:prstGeom prst="rect">
            <a:avLst/>
          </a:prstGeom>
          <a:noFill/>
          <a:ln/>
        </p:spPr>
        <p:txBody>
          <a:bodyPr wrap="square" lIns="0" tIns="0" rIns="0" bIns="0" rtlCol="0" anchor="t"/>
          <a:lstStyle/>
          <a:p>
            <a:pPr indent="0" marL="0">
              <a:buNone/>
            </a:pPr>
            <a:r>
              <a:rPr lang="en-US" sz="1300" dirty="0">
                <a:solidFill>
                  <a:schemeClr val="tx1"/>
                </a:solidFill>
              </a:rPr>
              <a:t>Sembra corretto: ben scritto, coerente, credibile</a:t>
            </a:r>
            <a:endParaRPr lang="en-US" sz="1300" dirty="0"/>
          </a:p>
        </p:txBody>
      </p:sp>
      <p:sp>
        <p:nvSpPr>
          <p:cNvPr id="13" name="Text 10"/>
          <p:cNvSpPr txBox="1"/>
          <p:nvPr/>
        </p:nvSpPr>
        <p:spPr>
          <a:xfrm>
            <a:off x="640080" y="2651760"/>
            <a:ext cx="2249424" cy="640080"/>
          </a:xfrm>
          <a:prstGeom prst="rect">
            <a:avLst/>
          </a:prstGeom>
          <a:noFill/>
          <a:ln/>
        </p:spPr>
        <p:txBody>
          <a:bodyPr wrap="square" lIns="0" tIns="0" rIns="0" bIns="0" rtlCol="0" anchor="t"/>
          <a:lstStyle/>
          <a:p>
            <a:pPr indent="0" marL="0">
              <a:buNone/>
            </a:pPr>
            <a:r>
              <a:rPr lang="en-US" sz="1200" b="1" i="1" dirty="0">
                <a:solidFill>
                  <a:schemeClr val="tx2"/>
                </a:solidFill>
              </a:rPr>
              <a:t>Quasi ogni output appena generato</a:t>
            </a:r>
            <a:endParaRPr lang="en-US" sz="1200" dirty="0"/>
          </a:p>
        </p:txBody>
      </p:sp>
      <p:sp>
        <p:nvSpPr>
          <p:cNvPr id="14" name="freccia"/>
          <p:cNvSpPr/>
          <p:nvPr/>
        </p:nvSpPr>
        <p:spPr>
          <a:xfrm>
            <a:off x="3090672" y="2103120"/>
            <a:ext cx="155448" cy="292608"/>
          </a:xfrm>
          <a:prstGeom prst="rightArrow">
            <a:avLst/>
          </a:prstGeom>
          <a:solidFill>
            <a:schemeClr val="accent2"/>
          </a:solidFill>
          <a:ln/>
        </p:spPr>
      </p:sp>
      <p:sp>
        <p:nvSpPr>
          <p:cNvPr id="15" name="Verificato"/>
          <p:cNvSpPr/>
          <p:nvPr/>
        </p:nvSpPr>
        <p:spPr>
          <a:xfrm>
            <a:off x="3264408" y="1097280"/>
            <a:ext cx="2615184" cy="2286000"/>
          </a:xfrm>
          <a:prstGeom prst="roundRect">
            <a:avLst>
              <a:gd name="adj" fmla="val 3200"/>
            </a:avLst>
          </a:prstGeom>
          <a:solidFill>
            <a:schemeClr val="accent6"/>
          </a:solidFill>
          <a:ln/>
        </p:spPr>
      </p:sp>
      <p:sp>
        <p:nvSpPr>
          <p:cNvPr id="16" name="Text 13"/>
          <p:cNvSpPr txBox="1"/>
          <p:nvPr/>
        </p:nvSpPr>
        <p:spPr>
          <a:xfrm>
            <a:off x="3447288" y="1207008"/>
            <a:ext cx="2249424" cy="411480"/>
          </a:xfrm>
          <a:prstGeom prst="rect">
            <a:avLst/>
          </a:prstGeom>
          <a:noFill/>
          <a:ln/>
        </p:spPr>
        <p:txBody>
          <a:bodyPr wrap="square" lIns="0" tIns="0" rIns="0" bIns="0" rtlCol="0" anchor="t"/>
          <a:lstStyle/>
          <a:p>
            <a:pPr indent="0" marL="0">
              <a:buNone/>
            </a:pPr>
            <a:r>
              <a:rPr lang="en-US" sz="1900" b="1" dirty="0">
                <a:solidFill>
                  <a:schemeClr val="accent1"/>
                </a:solidFill>
              </a:rPr>
              <a:t>Verificato</a:t>
            </a:r>
            <a:endParaRPr lang="en-US" sz="1900" dirty="0"/>
          </a:p>
        </p:txBody>
      </p:sp>
      <p:sp>
        <p:nvSpPr>
          <p:cNvPr id="17" name="Text 14"/>
          <p:cNvSpPr txBox="1"/>
          <p:nvPr/>
        </p:nvSpPr>
        <p:spPr>
          <a:xfrm>
            <a:off x="3447288" y="1691640"/>
            <a:ext cx="2249424" cy="868680"/>
          </a:xfrm>
          <a:prstGeom prst="rect">
            <a:avLst/>
          </a:prstGeom>
          <a:noFill/>
          <a:ln/>
        </p:spPr>
        <p:txBody>
          <a:bodyPr wrap="square" lIns="0" tIns="0" rIns="0" bIns="0" rtlCol="0" anchor="t"/>
          <a:lstStyle/>
          <a:p>
            <a:pPr indent="0" marL="0">
              <a:buNone/>
            </a:pPr>
            <a:r>
              <a:rPr lang="en-US" sz="1300" dirty="0">
                <a:solidFill>
                  <a:schemeClr val="tx1"/>
                </a:solidFill>
              </a:rPr>
              <a:t>I punti critici sono stati controllati con evidenze indipendenti</a:t>
            </a:r>
            <a:endParaRPr lang="en-US" sz="1300" dirty="0"/>
          </a:p>
        </p:txBody>
      </p:sp>
      <p:sp>
        <p:nvSpPr>
          <p:cNvPr id="18" name="Text 15"/>
          <p:cNvSpPr txBox="1"/>
          <p:nvPr/>
        </p:nvSpPr>
        <p:spPr>
          <a:xfrm>
            <a:off x="3447288" y="2651760"/>
            <a:ext cx="2249424" cy="640080"/>
          </a:xfrm>
          <a:prstGeom prst="rect">
            <a:avLst/>
          </a:prstGeom>
          <a:noFill/>
          <a:ln/>
        </p:spPr>
        <p:txBody>
          <a:bodyPr wrap="square" lIns="0" tIns="0" rIns="0" bIns="0" rtlCol="0" anchor="t"/>
          <a:lstStyle/>
          <a:p>
            <a:pPr indent="0" marL="0">
              <a:buNone/>
            </a:pPr>
            <a:r>
              <a:rPr lang="en-US" sz="1200" b="1" i="1" dirty="0">
                <a:solidFill>
                  <a:schemeClr val="tx2"/>
                </a:solidFill>
              </a:rPr>
              <a:t>Decisivo, ma non sufficiente</a:t>
            </a:r>
            <a:endParaRPr lang="en-US" sz="1200" dirty="0"/>
          </a:p>
        </p:txBody>
      </p:sp>
      <p:sp>
        <p:nvSpPr>
          <p:cNvPr id="19" name="freccia"/>
          <p:cNvSpPr/>
          <p:nvPr/>
        </p:nvSpPr>
        <p:spPr>
          <a:xfrm>
            <a:off x="5897880" y="2103120"/>
            <a:ext cx="155448" cy="292608"/>
          </a:xfrm>
          <a:prstGeom prst="rightArrow">
            <a:avLst/>
          </a:prstGeom>
          <a:solidFill>
            <a:schemeClr val="accent2"/>
          </a:solidFill>
          <a:ln/>
        </p:spPr>
      </p:sp>
      <p:sp>
        <p:nvSpPr>
          <p:cNvPr id="20" name="Validato"/>
          <p:cNvSpPr/>
          <p:nvPr/>
        </p:nvSpPr>
        <p:spPr>
          <a:xfrm>
            <a:off x="6071616" y="1097280"/>
            <a:ext cx="2615184" cy="2286000"/>
          </a:xfrm>
          <a:prstGeom prst="roundRect">
            <a:avLst>
              <a:gd name="adj" fmla="val 3200"/>
            </a:avLst>
          </a:prstGeom>
          <a:solidFill>
            <a:schemeClr val="accent1"/>
          </a:solidFill>
          <a:ln/>
        </p:spPr>
      </p:sp>
      <p:sp>
        <p:nvSpPr>
          <p:cNvPr id="21" name="Text 18"/>
          <p:cNvSpPr txBox="1"/>
          <p:nvPr/>
        </p:nvSpPr>
        <p:spPr>
          <a:xfrm>
            <a:off x="6254496" y="1207008"/>
            <a:ext cx="2249424" cy="411480"/>
          </a:xfrm>
          <a:prstGeom prst="rect">
            <a:avLst/>
          </a:prstGeom>
          <a:noFill/>
          <a:ln/>
        </p:spPr>
        <p:txBody>
          <a:bodyPr wrap="square" lIns="0" tIns="0" rIns="0" bIns="0" rtlCol="0" anchor="t"/>
          <a:lstStyle/>
          <a:p>
            <a:pPr indent="0" marL="0">
              <a:buNone/>
            </a:pPr>
            <a:r>
              <a:rPr lang="en-US" sz="1900" b="1" dirty="0">
                <a:solidFill>
                  <a:schemeClr val="bg1"/>
                </a:solidFill>
              </a:rPr>
              <a:t>Validato</a:t>
            </a:r>
            <a:endParaRPr lang="en-US" sz="1900" dirty="0"/>
          </a:p>
        </p:txBody>
      </p:sp>
      <p:sp>
        <p:nvSpPr>
          <p:cNvPr id="22" name="Text 19"/>
          <p:cNvSpPr txBox="1"/>
          <p:nvPr/>
        </p:nvSpPr>
        <p:spPr>
          <a:xfrm>
            <a:off x="6254496" y="1691640"/>
            <a:ext cx="2249424" cy="868680"/>
          </a:xfrm>
          <a:prstGeom prst="rect">
            <a:avLst/>
          </a:prstGeom>
          <a:noFill/>
          <a:ln/>
        </p:spPr>
        <p:txBody>
          <a:bodyPr wrap="square" lIns="0" tIns="0" rIns="0" bIns="0" rtlCol="0" anchor="t"/>
          <a:lstStyle/>
          <a:p>
            <a:pPr indent="0" marL="0">
              <a:buNone/>
            </a:pPr>
            <a:r>
              <a:rPr lang="en-US" sz="1300" dirty="0">
                <a:solidFill>
                  <a:schemeClr val="bg1"/>
                </a:solidFill>
              </a:rPr>
              <a:t>Si è deciso che è adeguato a uno specifico utilizzo</a:t>
            </a:r>
            <a:endParaRPr lang="en-US" sz="1300" dirty="0"/>
          </a:p>
        </p:txBody>
      </p:sp>
      <p:sp>
        <p:nvSpPr>
          <p:cNvPr id="23" name="Text 20"/>
          <p:cNvSpPr txBox="1"/>
          <p:nvPr/>
        </p:nvSpPr>
        <p:spPr>
          <a:xfrm>
            <a:off x="6254496" y="2651760"/>
            <a:ext cx="2249424" cy="640080"/>
          </a:xfrm>
          <a:prstGeom prst="rect">
            <a:avLst/>
          </a:prstGeom>
          <a:noFill/>
          <a:ln/>
        </p:spPr>
        <p:txBody>
          <a:bodyPr wrap="square" lIns="0" tIns="0" rIns="0" bIns="0" rtlCol="0" anchor="t"/>
          <a:lstStyle/>
          <a:p>
            <a:pPr indent="0" marL="0">
              <a:buNone/>
            </a:pPr>
            <a:r>
              <a:rPr lang="en-US" sz="1200" b="1" i="1" dirty="0">
                <a:solidFill>
                  <a:schemeClr val="accent6"/>
                </a:solidFill>
              </a:rPr>
              <a:t>Aggiunge scopo e decisione</a:t>
            </a:r>
            <a:endParaRPr lang="en-US" sz="1200" dirty="0"/>
          </a:p>
        </p:txBody>
      </p:sp>
      <p:sp>
        <p:nvSpPr>
          <p:cNvPr id="24" name="messaggio"/>
          <p:cNvSpPr/>
          <p:nvPr/>
        </p:nvSpPr>
        <p:spPr>
          <a:xfrm>
            <a:off x="457200" y="3566160"/>
            <a:ext cx="8229600" cy="960120"/>
          </a:xfrm>
          <a:prstGeom prst="roundRect">
            <a:avLst>
              <a:gd name="adj" fmla="val 7619"/>
            </a:avLst>
          </a:prstGeom>
          <a:solidFill>
            <a:schemeClr val="tx1"/>
          </a:solidFill>
          <a:ln/>
        </p:spPr>
      </p:sp>
      <p:sp>
        <p:nvSpPr>
          <p:cNvPr id="25" name="Text 22"/>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300" dirty="0">
                <a:solidFill>
                  <a:schemeClr val="bg1"/>
                </a:solidFill>
              </a:rPr>
              <a:t>Verificato non significa validato: un'analisi corretta ma troppo generica per la decisione. Validato per un uso, non per un altro.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Adeguatezza allo scopo e conseguenze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scheda Adeguatezza allo scopo"/>
          <p:cNvSpPr/>
          <p:nvPr/>
        </p:nvSpPr>
        <p:spPr>
          <a:xfrm>
            <a:off x="457200" y="1097280"/>
            <a:ext cx="3977640" cy="2651760"/>
          </a:xfrm>
          <a:prstGeom prst="roundRect">
            <a:avLst>
              <a:gd name="adj" fmla="val 2759"/>
            </a:avLst>
          </a:prstGeom>
          <a:solidFill>
            <a:schemeClr val="accent6"/>
          </a:solidFill>
          <a:ln/>
        </p:spPr>
      </p:sp>
      <p:sp>
        <p:nvSpPr>
          <p:cNvPr id="11" name="cerchio FiTarget"/>
          <p:cNvSpPr/>
          <p:nvPr/>
        </p:nvSpPr>
        <p:spPr>
          <a:xfrm>
            <a:off x="640080" y="1280160"/>
            <a:ext cx="457200" cy="457200"/>
          </a:xfrm>
          <a:prstGeom prst="ellipse">
            <a:avLst/>
          </a:prstGeom>
          <a:solidFill>
            <a:schemeClr val="accent1"/>
          </a:solidFill>
          <a:ln/>
        </p:spPr>
      </p:sp>
      <p:pic>
        <p:nvPicPr>
          <p:cNvPr id="12"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Adeguatezza allo scopo</a:t>
            </a:r>
            <a:endParaRPr lang="en-US" sz="1600" dirty="0"/>
          </a:p>
        </p:txBody>
      </p:sp>
      <p:sp>
        <p:nvSpPr>
          <p:cNvPr id="14" name="Text 10"/>
          <p:cNvSpPr txBox="1"/>
          <p:nvPr/>
        </p:nvSpPr>
        <p:spPr>
          <a:xfrm>
            <a:off x="64008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Serve all'uso previsto?</a:t>
            </a:r>
            <a:endParaRPr lang="en-US" sz="1300" dirty="0"/>
          </a:p>
          <a:p>
            <a:pPr marL="177800" indent="-177800">
              <a:spcAft>
                <a:spcPts val="400"/>
              </a:spcAft>
              <a:buSzPct val="100000"/>
              <a:buChar char="•"/>
            </a:pPr>
            <a:r>
              <a:rPr lang="en-US" sz="1300" dirty="0">
                <a:solidFill>
                  <a:schemeClr val="tx2"/>
                </a:solidFill>
              </a:rPr>
              <a:t>Dettaglio, precisione, affidabilità richiesti?</a:t>
            </a:r>
            <a:endParaRPr lang="en-US" sz="1300" dirty="0"/>
          </a:p>
          <a:p>
            <a:pPr marL="177800" indent="-177800">
              <a:spcAft>
                <a:spcPts val="400"/>
              </a:spcAft>
              <a:buSzPct val="100000"/>
              <a:buChar char="•"/>
            </a:pPr>
            <a:r>
              <a:rPr lang="en-US" sz="1300" dirty="0">
                <a:solidFill>
                  <a:schemeClr val="tx2"/>
                </a:solidFill>
              </a:rPr>
              <a:t>Risponde alla domanda che conta, per chi lo userà?</a:t>
            </a:r>
            <a:endParaRPr lang="en-US" sz="1300" dirty="0"/>
          </a:p>
        </p:txBody>
      </p:sp>
      <p:sp>
        <p:nvSpPr>
          <p:cNvPr id="15" name="scheda Conseguenze di un errore"/>
          <p:cNvSpPr/>
          <p:nvPr/>
        </p:nvSpPr>
        <p:spPr>
          <a:xfrm>
            <a:off x="4709160" y="1097280"/>
            <a:ext cx="3977640" cy="2651760"/>
          </a:xfrm>
          <a:prstGeom prst="roundRect">
            <a:avLst>
              <a:gd name="adj" fmla="val 2759"/>
            </a:avLst>
          </a:prstGeom>
          <a:solidFill>
            <a:schemeClr val="bg2"/>
          </a:solidFill>
          <a:ln/>
        </p:spPr>
      </p:sp>
      <p:sp>
        <p:nvSpPr>
          <p:cNvPr id="16" name="cerchio FiAlertTriangle"/>
          <p:cNvSpPr/>
          <p:nvPr/>
        </p:nvSpPr>
        <p:spPr>
          <a:xfrm>
            <a:off x="4892040" y="1280160"/>
            <a:ext cx="457200" cy="457200"/>
          </a:xfrm>
          <a:prstGeom prst="ellipse">
            <a:avLst/>
          </a:prstGeom>
          <a:solidFill>
            <a:schemeClr val="accent1"/>
          </a:solidFill>
          <a:ln/>
        </p:spPr>
      </p:sp>
      <p:pic>
        <p:nvPicPr>
          <p:cNvPr id="17"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Conseguenze di un errore</a:t>
            </a:r>
            <a:endParaRPr lang="en-US" sz="1600" dirty="0"/>
          </a:p>
        </p:txBody>
      </p:sp>
      <p:sp>
        <p:nvSpPr>
          <p:cNvPr id="19" name="Text 14"/>
          <p:cNvSpPr txBox="1"/>
          <p:nvPr/>
        </p:nvSpPr>
        <p:spPr>
          <a:xfrm>
            <a:off x="489204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Gravità</a:t>
            </a:r>
            <a:endParaRPr lang="en-US" sz="1300" dirty="0"/>
          </a:p>
          <a:p>
            <a:pPr marL="177800" indent="-177800">
              <a:spcAft>
                <a:spcPts val="400"/>
              </a:spcAft>
              <a:buSzPct val="100000"/>
              <a:buChar char="•"/>
            </a:pPr>
            <a:r>
              <a:rPr lang="en-US" sz="1300" dirty="0">
                <a:solidFill>
                  <a:schemeClr val="tx2"/>
                </a:solidFill>
              </a:rPr>
              <a:t>Reversibilità</a:t>
            </a:r>
            <a:endParaRPr lang="en-US" sz="1300" dirty="0"/>
          </a:p>
          <a:p>
            <a:pPr marL="177800" indent="-177800">
              <a:spcAft>
                <a:spcPts val="400"/>
              </a:spcAft>
              <a:buSzPct val="100000"/>
              <a:buChar char="•"/>
            </a:pPr>
            <a:r>
              <a:rPr lang="en-US" sz="1300" dirty="0">
                <a:solidFill>
                  <a:schemeClr val="tx2"/>
                </a:solidFill>
              </a:rPr>
              <a:t>Chi le subisce</a:t>
            </a:r>
            <a:endParaRPr lang="en-US" sz="1300" dirty="0"/>
          </a:p>
          <a:p>
            <a:pPr marL="177800" indent="-177800">
              <a:spcAft>
                <a:spcPts val="400"/>
              </a:spcAft>
              <a:buSzPct val="100000"/>
              <a:buChar char="•"/>
            </a:pPr>
            <a:r>
              <a:rPr lang="en-US" sz="1300" dirty="0">
                <a:solidFill>
                  <a:schemeClr val="tx2"/>
                </a:solidFill>
              </a:rPr>
              <a:t>Rilevabilità</a:t>
            </a:r>
            <a:endParaRPr lang="en-US" sz="1300" dirty="0"/>
          </a:p>
        </p:txBody>
      </p:sp>
      <p:sp>
        <p:nvSpPr>
          <p:cNvPr id="20" name="messaggio"/>
          <p:cNvSpPr/>
          <p:nvPr/>
        </p:nvSpPr>
        <p:spPr>
          <a:xfrm>
            <a:off x="457200" y="3931920"/>
            <a:ext cx="8229600" cy="594360"/>
          </a:xfrm>
          <a:prstGeom prst="roundRect">
            <a:avLst>
              <a:gd name="adj" fmla="val 12308"/>
            </a:avLst>
          </a:prstGeom>
          <a:solidFill>
            <a:schemeClr val="tx1"/>
          </a:solidFill>
          <a:ln/>
        </p:spPr>
      </p:sp>
      <p:sp>
        <p:nvSpPr>
          <p:cNvPr id="21" name="Text 1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Insieme definiscono il livello di controllo necessario e il punto in cui la validazione è raggiunta.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L'economia della verifica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Text 7"/>
          <p:cNvSpPr txBox="1"/>
          <p:nvPr/>
        </p:nvSpPr>
        <p:spPr>
          <a:xfrm>
            <a:off x="1463040" y="1024128"/>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Impatto basso</a:t>
            </a:r>
            <a:endParaRPr lang="en-US" sz="1200" dirty="0"/>
          </a:p>
        </p:txBody>
      </p:sp>
      <p:sp>
        <p:nvSpPr>
          <p:cNvPr id="11" name="Text 8"/>
          <p:cNvSpPr txBox="1"/>
          <p:nvPr/>
        </p:nvSpPr>
        <p:spPr>
          <a:xfrm>
            <a:off x="4937760" y="1024128"/>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Impatto alto</a:t>
            </a:r>
            <a:endParaRPr lang="en-US" sz="1200" dirty="0"/>
          </a:p>
        </p:txBody>
      </p:sp>
      <p:sp>
        <p:nvSpPr>
          <p:cNvPr id="12" name="Text 9"/>
          <p:cNvSpPr txBox="1"/>
          <p:nvPr/>
        </p:nvSpPr>
        <p:spPr>
          <a:xfrm>
            <a:off x="457200" y="1325880"/>
            <a:ext cx="960120" cy="1280160"/>
          </a:xfrm>
          <a:prstGeom prst="rect">
            <a:avLst/>
          </a:prstGeom>
          <a:noFill/>
          <a:ln/>
        </p:spPr>
        <p:txBody>
          <a:bodyPr wrap="square" lIns="0" tIns="0" rIns="0" bIns="0" rtlCol="0" anchor="ctr"/>
          <a:lstStyle/>
          <a:p>
            <a:pPr indent="0" marL="0">
              <a:buNone/>
            </a:pPr>
            <a:r>
              <a:rPr lang="en-US" sz="1100" b="1" dirty="0">
                <a:solidFill>
                  <a:schemeClr val="accent2"/>
                </a:solidFill>
              </a:rPr>
              <a:t>Probabilità bassa</a:t>
            </a:r>
            <a:endParaRPr lang="en-US" sz="1100" dirty="0"/>
          </a:p>
        </p:txBody>
      </p:sp>
      <p:sp>
        <p:nvSpPr>
          <p:cNvPr id="13" name="Text 10"/>
          <p:cNvSpPr txBox="1"/>
          <p:nvPr/>
        </p:nvSpPr>
        <p:spPr>
          <a:xfrm>
            <a:off x="457200" y="2743200"/>
            <a:ext cx="960120" cy="1280160"/>
          </a:xfrm>
          <a:prstGeom prst="rect">
            <a:avLst/>
          </a:prstGeom>
          <a:noFill/>
          <a:ln/>
        </p:spPr>
        <p:txBody>
          <a:bodyPr wrap="square" lIns="0" tIns="0" rIns="0" bIns="0" rtlCol="0" anchor="ctr"/>
          <a:lstStyle/>
          <a:p>
            <a:pPr indent="0" marL="0">
              <a:buNone/>
            </a:pPr>
            <a:r>
              <a:rPr lang="en-US" sz="1100" b="1" dirty="0">
                <a:solidFill>
                  <a:schemeClr val="accent2"/>
                </a:solidFill>
              </a:rPr>
              <a:t>Probabilità alta</a:t>
            </a:r>
            <a:endParaRPr lang="en-US" sz="1100" dirty="0"/>
          </a:p>
        </p:txBody>
      </p:sp>
      <p:sp>
        <p:nvSpPr>
          <p:cNvPr id="14" name="Rilettura"/>
          <p:cNvSpPr/>
          <p:nvPr/>
        </p:nvSpPr>
        <p:spPr>
          <a:xfrm>
            <a:off x="1463040" y="1325880"/>
            <a:ext cx="3337560" cy="1280160"/>
          </a:xfrm>
          <a:prstGeom prst="roundRect">
            <a:avLst>
              <a:gd name="adj" fmla="val 5714"/>
            </a:avLst>
          </a:prstGeom>
          <a:solidFill>
            <a:schemeClr val="accent6"/>
          </a:solidFill>
          <a:ln/>
        </p:spPr>
      </p:sp>
      <p:sp>
        <p:nvSpPr>
          <p:cNvPr id="15" name="Text 12"/>
          <p:cNvSpPr txBox="1"/>
          <p:nvPr/>
        </p:nvSpPr>
        <p:spPr>
          <a:xfrm>
            <a:off x="1645920" y="1435608"/>
            <a:ext cx="2971800" cy="365760"/>
          </a:xfrm>
          <a:prstGeom prst="rect">
            <a:avLst/>
          </a:prstGeom>
          <a:noFill/>
          <a:ln/>
        </p:spPr>
        <p:txBody>
          <a:bodyPr wrap="square" lIns="0" tIns="0" rIns="0" bIns="0" rtlCol="0" anchor="t"/>
          <a:lstStyle/>
          <a:p>
            <a:pPr indent="0" marL="0">
              <a:buNone/>
            </a:pPr>
            <a:r>
              <a:rPr lang="en-US" sz="1500" b="1" dirty="0">
                <a:solidFill>
                  <a:schemeClr val="tx1"/>
                </a:solidFill>
              </a:rPr>
              <a:t>Rilettura</a:t>
            </a:r>
            <a:endParaRPr lang="en-US" sz="1500" dirty="0"/>
          </a:p>
        </p:txBody>
      </p:sp>
      <p:sp>
        <p:nvSpPr>
          <p:cNvPr id="16" name="Text 13"/>
          <p:cNvSpPr txBox="1"/>
          <p:nvPr/>
        </p:nvSpPr>
        <p:spPr>
          <a:xfrm>
            <a:off x="1645920" y="1874520"/>
            <a:ext cx="2971800" cy="640080"/>
          </a:xfrm>
          <a:prstGeom prst="rect">
            <a:avLst/>
          </a:prstGeom>
          <a:noFill/>
          <a:ln/>
        </p:spPr>
        <p:txBody>
          <a:bodyPr wrap="square" lIns="0" tIns="0" rIns="0" bIns="0" rtlCol="0" anchor="t"/>
          <a:lstStyle/>
          <a:p>
            <a:pPr indent="0" marL="0">
              <a:buNone/>
            </a:pPr>
            <a:r>
              <a:rPr lang="en-US" sz="1200" dirty="0">
                <a:solidFill>
                  <a:schemeClr val="tx1"/>
                </a:solidFill>
              </a:rPr>
              <a:t>Sufficiente una lettura attenta</a:t>
            </a:r>
            <a:endParaRPr lang="en-US" sz="1200" dirty="0"/>
          </a:p>
        </p:txBody>
      </p:sp>
      <p:sp>
        <p:nvSpPr>
          <p:cNvPr id="17" name="Verifica dei punti critici"/>
          <p:cNvSpPr/>
          <p:nvPr/>
        </p:nvSpPr>
        <p:spPr>
          <a:xfrm>
            <a:off x="4937760" y="1325880"/>
            <a:ext cx="3337560" cy="1280160"/>
          </a:xfrm>
          <a:prstGeom prst="roundRect">
            <a:avLst>
              <a:gd name="adj" fmla="val 5714"/>
            </a:avLst>
          </a:prstGeom>
          <a:solidFill>
            <a:schemeClr val="bg2"/>
          </a:solidFill>
          <a:ln/>
        </p:spPr>
      </p:sp>
      <p:sp>
        <p:nvSpPr>
          <p:cNvPr id="18" name="Text 15"/>
          <p:cNvSpPr txBox="1"/>
          <p:nvPr/>
        </p:nvSpPr>
        <p:spPr>
          <a:xfrm>
            <a:off x="5120640" y="1435608"/>
            <a:ext cx="2971800" cy="365760"/>
          </a:xfrm>
          <a:prstGeom prst="rect">
            <a:avLst/>
          </a:prstGeom>
          <a:noFill/>
          <a:ln/>
        </p:spPr>
        <p:txBody>
          <a:bodyPr wrap="square" lIns="0" tIns="0" rIns="0" bIns="0" rtlCol="0" anchor="t"/>
          <a:lstStyle/>
          <a:p>
            <a:pPr indent="0" marL="0">
              <a:buNone/>
            </a:pPr>
            <a:r>
              <a:rPr lang="en-US" sz="1500" b="1" dirty="0">
                <a:solidFill>
                  <a:schemeClr val="tx1"/>
                </a:solidFill>
              </a:rPr>
              <a:t>Verifica dei punti critici</a:t>
            </a:r>
            <a:endParaRPr lang="en-US" sz="1500" dirty="0"/>
          </a:p>
        </p:txBody>
      </p:sp>
      <p:sp>
        <p:nvSpPr>
          <p:cNvPr id="19" name="Text 16"/>
          <p:cNvSpPr txBox="1"/>
          <p:nvPr/>
        </p:nvSpPr>
        <p:spPr>
          <a:xfrm>
            <a:off x="5120640" y="1874520"/>
            <a:ext cx="2971800" cy="640080"/>
          </a:xfrm>
          <a:prstGeom prst="rect">
            <a:avLst/>
          </a:prstGeom>
          <a:noFill/>
          <a:ln/>
        </p:spPr>
        <p:txBody>
          <a:bodyPr wrap="square" lIns="0" tIns="0" rIns="0" bIns="0" rtlCol="0" anchor="t"/>
          <a:lstStyle/>
          <a:p>
            <a:pPr indent="0" marL="0">
              <a:buNone/>
            </a:pPr>
            <a:r>
              <a:rPr lang="en-US" sz="1200" dirty="0">
                <a:solidFill>
                  <a:schemeClr val="tx1"/>
                </a:solidFill>
              </a:rPr>
              <a:t>Anche un errore raro avrebbe conseguenze serie</a:t>
            </a:r>
            <a:endParaRPr lang="en-US" sz="1200" dirty="0"/>
          </a:p>
        </p:txBody>
      </p:sp>
      <p:sp>
        <p:nvSpPr>
          <p:cNvPr id="20" name="Controlli rapidi e mirati"/>
          <p:cNvSpPr/>
          <p:nvPr/>
        </p:nvSpPr>
        <p:spPr>
          <a:xfrm>
            <a:off x="1463040" y="2743200"/>
            <a:ext cx="3337560" cy="1280160"/>
          </a:xfrm>
          <a:prstGeom prst="roundRect">
            <a:avLst>
              <a:gd name="adj" fmla="val 5714"/>
            </a:avLst>
          </a:prstGeom>
          <a:solidFill>
            <a:schemeClr val="bg2"/>
          </a:solidFill>
          <a:ln/>
        </p:spPr>
      </p:sp>
      <p:sp>
        <p:nvSpPr>
          <p:cNvPr id="21" name="Text 18"/>
          <p:cNvSpPr txBox="1"/>
          <p:nvPr/>
        </p:nvSpPr>
        <p:spPr>
          <a:xfrm>
            <a:off x="1645920" y="2852928"/>
            <a:ext cx="2971800" cy="365760"/>
          </a:xfrm>
          <a:prstGeom prst="rect">
            <a:avLst/>
          </a:prstGeom>
          <a:noFill/>
          <a:ln/>
        </p:spPr>
        <p:txBody>
          <a:bodyPr wrap="square" lIns="0" tIns="0" rIns="0" bIns="0" rtlCol="0" anchor="t"/>
          <a:lstStyle/>
          <a:p>
            <a:pPr indent="0" marL="0">
              <a:buNone/>
            </a:pPr>
            <a:r>
              <a:rPr lang="en-US" sz="1500" b="1" dirty="0">
                <a:solidFill>
                  <a:schemeClr val="tx1"/>
                </a:solidFill>
              </a:rPr>
              <a:t>Controlli rapidi e mirati</a:t>
            </a:r>
            <a:endParaRPr lang="en-US" sz="1500" dirty="0"/>
          </a:p>
        </p:txBody>
      </p:sp>
      <p:sp>
        <p:nvSpPr>
          <p:cNvPr id="22" name="Text 19"/>
          <p:cNvSpPr txBox="1"/>
          <p:nvPr/>
        </p:nvSpPr>
        <p:spPr>
          <a:xfrm>
            <a:off x="1645920" y="3291840"/>
            <a:ext cx="2971800" cy="640080"/>
          </a:xfrm>
          <a:prstGeom prst="rect">
            <a:avLst/>
          </a:prstGeom>
          <a:noFill/>
          <a:ln/>
        </p:spPr>
        <p:txBody>
          <a:bodyPr wrap="square" lIns="0" tIns="0" rIns="0" bIns="0" rtlCol="0" anchor="t"/>
          <a:lstStyle/>
          <a:p>
            <a:pPr indent="0" marL="0">
              <a:buNone/>
            </a:pPr>
            <a:r>
              <a:rPr lang="en-US" sz="1200" dirty="0">
                <a:solidFill>
                  <a:schemeClr val="tx1"/>
                </a:solidFill>
              </a:rPr>
              <a:t>Per esempio sui numeri e sui nomi</a:t>
            </a:r>
            <a:endParaRPr lang="en-US" sz="1200" dirty="0"/>
          </a:p>
        </p:txBody>
      </p:sp>
      <p:sp>
        <p:nvSpPr>
          <p:cNvPr id="23" name="Verifica approfondita"/>
          <p:cNvSpPr/>
          <p:nvPr/>
        </p:nvSpPr>
        <p:spPr>
          <a:xfrm>
            <a:off x="4937760" y="2743200"/>
            <a:ext cx="3337560" cy="1280160"/>
          </a:xfrm>
          <a:prstGeom prst="roundRect">
            <a:avLst>
              <a:gd name="adj" fmla="val 5714"/>
            </a:avLst>
          </a:prstGeom>
          <a:solidFill>
            <a:schemeClr val="tx1"/>
          </a:solidFill>
          <a:ln/>
        </p:spPr>
      </p:sp>
      <p:sp>
        <p:nvSpPr>
          <p:cNvPr id="24" name="Text 21"/>
          <p:cNvSpPr txBox="1"/>
          <p:nvPr/>
        </p:nvSpPr>
        <p:spPr>
          <a:xfrm>
            <a:off x="5120640" y="2852928"/>
            <a:ext cx="2971800" cy="365760"/>
          </a:xfrm>
          <a:prstGeom prst="rect">
            <a:avLst/>
          </a:prstGeom>
          <a:noFill/>
          <a:ln/>
        </p:spPr>
        <p:txBody>
          <a:bodyPr wrap="square" lIns="0" tIns="0" rIns="0" bIns="0" rtlCol="0" anchor="t"/>
          <a:lstStyle/>
          <a:p>
            <a:pPr indent="0" marL="0">
              <a:buNone/>
            </a:pPr>
            <a:r>
              <a:rPr lang="en-US" sz="1500" b="1" dirty="0">
                <a:solidFill>
                  <a:schemeClr val="bg1"/>
                </a:solidFill>
              </a:rPr>
              <a:t>Verifica approfondita</a:t>
            </a:r>
            <a:endParaRPr lang="en-US" sz="1500" dirty="0"/>
          </a:p>
        </p:txBody>
      </p:sp>
      <p:sp>
        <p:nvSpPr>
          <p:cNvPr id="25" name="Text 22"/>
          <p:cNvSpPr txBox="1"/>
          <p:nvPr/>
        </p:nvSpPr>
        <p:spPr>
          <a:xfrm>
            <a:off x="5120640" y="3291840"/>
            <a:ext cx="2971800" cy="640080"/>
          </a:xfrm>
          <a:prstGeom prst="rect">
            <a:avLst/>
          </a:prstGeom>
          <a:noFill/>
          <a:ln/>
        </p:spPr>
        <p:txBody>
          <a:bodyPr wrap="square" lIns="0" tIns="0" rIns="0" bIns="0" rtlCol="0" anchor="t"/>
          <a:lstStyle/>
          <a:p>
            <a:pPr indent="0" marL="0">
              <a:buNone/>
            </a:pPr>
            <a:r>
              <a:rPr lang="en-US" sz="1200" dirty="0">
                <a:solidFill>
                  <a:schemeClr val="bg1"/>
                </a:solidFill>
              </a:rPr>
              <a:t>Fonti indipendenti e, se serve, un esperto</a:t>
            </a:r>
            <a:endParaRPr lang="en-US" sz="1200" dirty="0"/>
          </a:p>
        </p:txBody>
      </p:sp>
      <p:sp>
        <p:nvSpPr>
          <p:cNvPr id="26" name="Text 23"/>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200" b="1" i="1" dirty="0">
                <a:solidFill>
                  <a:schemeClr val="accent5"/>
                </a:solidFill>
              </a:rPr>
              <a:t>Evitare sia la verifica indiscriminata di ogni dettaglio sia controlli insufficienti per gli usi critici.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Rapporto tra costo della verifica e rischio</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Identificare le informazioni critiche"/>
          <p:cNvSpPr/>
          <p:nvPr/>
        </p:nvSpPr>
        <p:spPr>
          <a:xfrm>
            <a:off x="457200" y="1097280"/>
            <a:ext cx="4023360" cy="1257300"/>
          </a:xfrm>
          <a:prstGeom prst="roundRect">
            <a:avLst>
              <a:gd name="adj" fmla="val 5818"/>
            </a:avLst>
          </a:prstGeom>
          <a:solidFill>
            <a:schemeClr val="bg2"/>
          </a:solidFill>
          <a:ln/>
        </p:spPr>
      </p:sp>
      <p:sp>
        <p:nvSpPr>
          <p:cNvPr id="11" name="cerchio FiCrosshair"/>
          <p:cNvSpPr/>
          <p:nvPr/>
        </p:nvSpPr>
        <p:spPr>
          <a:xfrm>
            <a:off x="621792" y="1261872"/>
            <a:ext cx="438912" cy="438912"/>
          </a:xfrm>
          <a:prstGeom prst="ellipse">
            <a:avLst/>
          </a:prstGeom>
          <a:solidFill>
            <a:schemeClr val="accent1"/>
          </a:solidFill>
          <a:ln/>
        </p:spPr>
      </p:sp>
      <p:pic>
        <p:nvPicPr>
          <p:cNvPr id="12" name="Image 0" descr="FiCrosshair">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Identificare le informazioni critiche</a:t>
            </a:r>
            <a:endParaRPr lang="en-US" sz="1300" dirty="0"/>
          </a:p>
        </p:txBody>
      </p:sp>
      <p:sp>
        <p:nvSpPr>
          <p:cNvPr id="14" name="Text 10"/>
          <p:cNvSpPr txBox="1"/>
          <p:nvPr/>
        </p:nvSpPr>
        <p:spPr>
          <a:xfrm>
            <a:off x="621792" y="1810512"/>
            <a:ext cx="3694176" cy="452628"/>
          </a:xfrm>
          <a:prstGeom prst="rect">
            <a:avLst/>
          </a:prstGeom>
          <a:noFill/>
          <a:ln/>
        </p:spPr>
        <p:txBody>
          <a:bodyPr wrap="square" lIns="0" tIns="0" rIns="0" bIns="0" rtlCol="0" anchor="t"/>
          <a:lstStyle/>
          <a:p>
            <a:pPr indent="0" marL="0">
              <a:buNone/>
            </a:pPr>
            <a:r>
              <a:rPr lang="en-US" sz="1200" dirty="0">
                <a:solidFill>
                  <a:schemeClr val="tx2"/>
                </a:solidFill>
              </a:rPr>
              <a:t>Poche affermazioni portano gran parte del peso: concentrare lì la verifica</a:t>
            </a:r>
            <a:endParaRPr lang="en-US" sz="1200" dirty="0"/>
          </a:p>
        </p:txBody>
      </p:sp>
      <p:sp>
        <p:nvSpPr>
          <p:cNvPr id="15" name="Costo della verifica contro rischio"/>
          <p:cNvSpPr/>
          <p:nvPr/>
        </p:nvSpPr>
        <p:spPr>
          <a:xfrm>
            <a:off x="4663440" y="1097280"/>
            <a:ext cx="4023360" cy="1257300"/>
          </a:xfrm>
          <a:prstGeom prst="roundRect">
            <a:avLst>
              <a:gd name="adj" fmla="val 5818"/>
            </a:avLst>
          </a:prstGeom>
          <a:solidFill>
            <a:schemeClr val="bg2"/>
          </a:solidFill>
          <a:ln/>
        </p:spPr>
      </p:sp>
      <p:sp>
        <p:nvSpPr>
          <p:cNvPr id="16" name="cerchio FiDollarSign"/>
          <p:cNvSpPr/>
          <p:nvPr/>
        </p:nvSpPr>
        <p:spPr>
          <a:xfrm>
            <a:off x="4828032" y="1261872"/>
            <a:ext cx="438912" cy="438912"/>
          </a:xfrm>
          <a:prstGeom prst="ellipse">
            <a:avLst/>
          </a:prstGeom>
          <a:solidFill>
            <a:schemeClr val="accent1"/>
          </a:solidFill>
          <a:ln/>
        </p:spPr>
      </p:sp>
      <p:pic>
        <p:nvPicPr>
          <p:cNvPr id="17" name="Image 1" descr="FiDollarSign">    </p:cNvPr>
          <p:cNvPicPr>
            <a:picLocks noChangeAspect="1"/>
          </p:cNvPicPr>
          <p:nvPr/>
        </p:nvPicPr>
        <p:blipFill>
          <a:blip r:embed="rId2"/>
          <a:stretch>
            <a:fillRect/>
          </a:stretch>
        </p:blipFill>
        <p:spPr>
          <a:xfrm>
            <a:off x="4937760" y="1371600"/>
            <a:ext cx="219456" cy="219456"/>
          </a:xfrm>
          <a:prstGeom prst="rect">
            <a:avLst/>
          </a:prstGeom>
        </p:spPr>
      </p:pic>
      <p:sp>
        <p:nvSpPr>
          <p:cNvPr id="18" name="Text 13"/>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Costo della verifica contro rischio</a:t>
            </a:r>
            <a:endParaRPr lang="en-US" sz="1300" dirty="0"/>
          </a:p>
        </p:txBody>
      </p:sp>
      <p:sp>
        <p:nvSpPr>
          <p:cNvPr id="19" name="Text 14"/>
          <p:cNvSpPr txBox="1"/>
          <p:nvPr/>
        </p:nvSpPr>
        <p:spPr>
          <a:xfrm>
            <a:off x="4828032" y="1810512"/>
            <a:ext cx="3694176" cy="452628"/>
          </a:xfrm>
          <a:prstGeom prst="rect">
            <a:avLst/>
          </a:prstGeom>
          <a:noFill/>
          <a:ln/>
        </p:spPr>
        <p:txBody>
          <a:bodyPr wrap="square" lIns="0" tIns="0" rIns="0" bIns="0" rtlCol="0" anchor="t"/>
          <a:lstStyle/>
          <a:p>
            <a:pPr indent="0" marL="0">
              <a:buNone/>
            </a:pPr>
            <a:r>
              <a:rPr lang="en-US" sz="1200" dirty="0">
                <a:solidFill>
                  <a:schemeClr val="tx2"/>
                </a:solidFill>
              </a:rPr>
              <a:t>Dieci minuti contro una figuraccia con un cliente importante</a:t>
            </a:r>
            <a:endParaRPr lang="en-US" sz="1200" dirty="0"/>
          </a:p>
        </p:txBody>
      </p:sp>
      <p:sp>
        <p:nvSpPr>
          <p:cNvPr id="20" name="Il costo di non usare l'AI"/>
          <p:cNvSpPr/>
          <p:nvPr/>
        </p:nvSpPr>
        <p:spPr>
          <a:xfrm>
            <a:off x="457200" y="2537460"/>
            <a:ext cx="4023360" cy="1257300"/>
          </a:xfrm>
          <a:prstGeom prst="roundRect">
            <a:avLst>
              <a:gd name="adj" fmla="val 5818"/>
            </a:avLst>
          </a:prstGeom>
          <a:solidFill>
            <a:schemeClr val="bg2"/>
          </a:solidFill>
          <a:ln/>
        </p:spPr>
      </p:sp>
      <p:sp>
        <p:nvSpPr>
          <p:cNvPr id="21" name="cerchio FiXCircle"/>
          <p:cNvSpPr/>
          <p:nvPr/>
        </p:nvSpPr>
        <p:spPr>
          <a:xfrm>
            <a:off x="621792" y="2702052"/>
            <a:ext cx="438912" cy="438912"/>
          </a:xfrm>
          <a:prstGeom prst="ellipse">
            <a:avLst/>
          </a:prstGeom>
          <a:solidFill>
            <a:schemeClr val="accent1"/>
          </a:solidFill>
          <a:ln/>
        </p:spPr>
      </p:sp>
      <p:pic>
        <p:nvPicPr>
          <p:cNvPr id="22" name="Image 2" descr="FiXCircle">    </p:cNvPr>
          <p:cNvPicPr>
            <a:picLocks noChangeAspect="1"/>
          </p:cNvPicPr>
          <p:nvPr/>
        </p:nvPicPr>
        <p:blipFill>
          <a:blip r:embed="rId3"/>
          <a:stretch>
            <a:fillRect/>
          </a:stretch>
        </p:blipFill>
        <p:spPr>
          <a:xfrm>
            <a:off x="731520" y="2811780"/>
            <a:ext cx="219456" cy="219456"/>
          </a:xfrm>
          <a:prstGeom prst="rect">
            <a:avLst/>
          </a:prstGeom>
        </p:spPr>
      </p:pic>
      <p:sp>
        <p:nvSpPr>
          <p:cNvPr id="23" name="Text 17"/>
          <p:cNvSpPr txBox="1"/>
          <p:nvPr/>
        </p:nvSpPr>
        <p:spPr>
          <a:xfrm>
            <a:off x="1170432" y="26654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Il costo di non usare l'AI</a:t>
            </a:r>
            <a:endParaRPr lang="en-US" sz="1300" dirty="0"/>
          </a:p>
        </p:txBody>
      </p:sp>
      <p:sp>
        <p:nvSpPr>
          <p:cNvPr id="24" name="Text 18"/>
          <p:cNvSpPr txBox="1"/>
          <p:nvPr/>
        </p:nvSpPr>
        <p:spPr>
          <a:xfrm>
            <a:off x="621792" y="3250692"/>
            <a:ext cx="3694176" cy="452628"/>
          </a:xfrm>
          <a:prstGeom prst="rect">
            <a:avLst/>
          </a:prstGeom>
          <a:noFill/>
          <a:ln/>
        </p:spPr>
        <p:txBody>
          <a:bodyPr wrap="square" lIns="0" tIns="0" rIns="0" bIns="0" rtlCol="0" anchor="t"/>
          <a:lstStyle/>
          <a:p>
            <a:pPr indent="0" marL="0">
              <a:buNone/>
            </a:pPr>
            <a:r>
              <a:rPr lang="en-US" sz="1200" dirty="0">
                <a:solidFill>
                  <a:schemeClr val="tx2"/>
                </a:solidFill>
              </a:rPr>
              <a:t>Se verificare costa più che fare da sé, forse non è lo strumento giusto</a:t>
            </a:r>
            <a:endParaRPr lang="en-US" sz="1200" dirty="0"/>
          </a:p>
        </p:txBody>
      </p:sp>
      <p:sp>
        <p:nvSpPr>
          <p:cNvPr id="25" name="Riutilizzare le verifiche"/>
          <p:cNvSpPr/>
          <p:nvPr/>
        </p:nvSpPr>
        <p:spPr>
          <a:xfrm>
            <a:off x="4663440" y="2537460"/>
            <a:ext cx="4023360" cy="1257300"/>
          </a:xfrm>
          <a:prstGeom prst="roundRect">
            <a:avLst>
              <a:gd name="adj" fmla="val 5818"/>
            </a:avLst>
          </a:prstGeom>
          <a:solidFill>
            <a:schemeClr val="bg2"/>
          </a:solidFill>
          <a:ln/>
        </p:spPr>
      </p:sp>
      <p:sp>
        <p:nvSpPr>
          <p:cNvPr id="26" name="cerchio FiRepeat"/>
          <p:cNvSpPr/>
          <p:nvPr/>
        </p:nvSpPr>
        <p:spPr>
          <a:xfrm>
            <a:off x="4828032" y="2702052"/>
            <a:ext cx="438912" cy="438912"/>
          </a:xfrm>
          <a:prstGeom prst="ellipse">
            <a:avLst/>
          </a:prstGeom>
          <a:solidFill>
            <a:schemeClr val="accent1"/>
          </a:solidFill>
          <a:ln/>
        </p:spPr>
      </p:sp>
      <p:pic>
        <p:nvPicPr>
          <p:cNvPr id="27" name="Image 3" descr="FiRepeat">    </p:cNvPr>
          <p:cNvPicPr>
            <a:picLocks noChangeAspect="1"/>
          </p:cNvPicPr>
          <p:nvPr/>
        </p:nvPicPr>
        <p:blipFill>
          <a:blip r:embed="rId4"/>
          <a:stretch>
            <a:fillRect/>
          </a:stretch>
        </p:blipFill>
        <p:spPr>
          <a:xfrm>
            <a:off x="4937760" y="2811780"/>
            <a:ext cx="219456" cy="219456"/>
          </a:xfrm>
          <a:prstGeom prst="rect">
            <a:avLst/>
          </a:prstGeom>
        </p:spPr>
      </p:pic>
      <p:sp>
        <p:nvSpPr>
          <p:cNvPr id="28" name="Text 21"/>
          <p:cNvSpPr txBox="1"/>
          <p:nvPr/>
        </p:nvSpPr>
        <p:spPr>
          <a:xfrm>
            <a:off x="5376672" y="26654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Riutilizzare le verifiche</a:t>
            </a:r>
            <a:endParaRPr lang="en-US" sz="1300" dirty="0"/>
          </a:p>
        </p:txBody>
      </p:sp>
      <p:sp>
        <p:nvSpPr>
          <p:cNvPr id="29" name="Text 22"/>
          <p:cNvSpPr txBox="1"/>
          <p:nvPr/>
        </p:nvSpPr>
        <p:spPr>
          <a:xfrm>
            <a:off x="4828032" y="3250692"/>
            <a:ext cx="3694176" cy="452628"/>
          </a:xfrm>
          <a:prstGeom prst="rect">
            <a:avLst/>
          </a:prstGeom>
          <a:noFill/>
          <a:ln/>
        </p:spPr>
        <p:txBody>
          <a:bodyPr wrap="square" lIns="0" tIns="0" rIns="0" bIns="0" rtlCol="0" anchor="t"/>
          <a:lstStyle/>
          <a:p>
            <a:pPr indent="0" marL="0">
              <a:buNone/>
            </a:pPr>
            <a:r>
              <a:rPr lang="en-US" sz="1200" dirty="0">
                <a:solidFill>
                  <a:schemeClr val="tx2"/>
                </a:solidFill>
              </a:rPr>
              <a:t>Per i compiti ricorrenti: verifica iniziale su un campione, poi controlli più leggeri</a:t>
            </a:r>
            <a:endParaRPr lang="en-US" sz="1200" dirty="0"/>
          </a:p>
        </p:txBody>
      </p:sp>
      <p:sp>
        <p:nvSpPr>
          <p:cNvPr id="30" name="messaggio"/>
          <p:cNvSpPr/>
          <p:nvPr/>
        </p:nvSpPr>
        <p:spPr>
          <a:xfrm>
            <a:off x="457200" y="3977640"/>
            <a:ext cx="8229600" cy="548640"/>
          </a:xfrm>
          <a:prstGeom prst="roundRect">
            <a:avLst>
              <a:gd name="adj" fmla="val 13333"/>
            </a:avLst>
          </a:prstGeom>
          <a:solidFill>
            <a:schemeClr val="tx1"/>
          </a:solidFill>
          <a:ln/>
        </p:spPr>
      </p:sp>
      <p:sp>
        <p:nvSpPr>
          <p:cNvPr id="31" name="Text 2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Verifica proporzionata: abbastanza per l'uso previsto, non di più, non di meno.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incertezze residue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Rendere esplicite"/>
          <p:cNvSpPr/>
          <p:nvPr/>
        </p:nvSpPr>
        <p:spPr>
          <a:xfrm>
            <a:off x="457200" y="1097280"/>
            <a:ext cx="2615184" cy="1920240"/>
          </a:xfrm>
          <a:prstGeom prst="roundRect">
            <a:avLst>
              <a:gd name="adj" fmla="val 3810"/>
            </a:avLst>
          </a:prstGeom>
          <a:solidFill>
            <a:schemeClr val="bg2"/>
          </a:solidFill>
          <a:ln/>
        </p:spPr>
      </p:sp>
      <p:sp>
        <p:nvSpPr>
          <p:cNvPr id="11" name="cerchio FiEye"/>
          <p:cNvSpPr/>
          <p:nvPr/>
        </p:nvSpPr>
        <p:spPr>
          <a:xfrm>
            <a:off x="640080" y="1234440"/>
            <a:ext cx="502920" cy="502920"/>
          </a:xfrm>
          <a:prstGeom prst="ellipse">
            <a:avLst/>
          </a:prstGeom>
          <a:solidFill>
            <a:schemeClr val="accent1"/>
          </a:solidFill>
          <a:ln/>
        </p:spPr>
      </p:sp>
      <p:pic>
        <p:nvPicPr>
          <p:cNvPr id="12" name="Image 0" descr="FiEye">    </p:cNvPr>
          <p:cNvPicPr>
            <a:picLocks noChangeAspect="1"/>
          </p:cNvPicPr>
          <p:nvPr/>
        </p:nvPicPr>
        <p:blipFill>
          <a:blip r:embed="rId1"/>
          <a:stretch>
            <a:fillRect/>
          </a:stretch>
        </p:blipFill>
        <p:spPr>
          <a:xfrm>
            <a:off x="765810" y="1360170"/>
            <a:ext cx="251460" cy="251460"/>
          </a:xfrm>
          <a:prstGeom prst="rect">
            <a:avLst/>
          </a:prstGeom>
        </p:spPr>
      </p:pic>
      <p:sp>
        <p:nvSpPr>
          <p:cNvPr id="13" name="Text 9"/>
          <p:cNvSpPr txBox="1"/>
          <p:nvPr/>
        </p:nvSpPr>
        <p:spPr>
          <a:xfrm>
            <a:off x="1280160" y="1234440"/>
            <a:ext cx="1737360" cy="502920"/>
          </a:xfrm>
          <a:prstGeom prst="rect">
            <a:avLst/>
          </a:prstGeom>
          <a:noFill/>
          <a:ln/>
        </p:spPr>
        <p:txBody>
          <a:bodyPr wrap="square" lIns="0" tIns="0" rIns="0" bIns="0" rtlCol="0" anchor="ctr"/>
          <a:lstStyle/>
          <a:p>
            <a:pPr indent="0" marL="0">
              <a:buNone/>
            </a:pPr>
            <a:r>
              <a:rPr lang="en-US" sz="1400" b="1" dirty="0">
                <a:solidFill>
                  <a:schemeClr val="tx1"/>
                </a:solidFill>
              </a:rPr>
              <a:t>1. Rendere esplicite</a:t>
            </a:r>
            <a:endParaRPr lang="en-US" sz="1400" dirty="0"/>
          </a:p>
        </p:txBody>
      </p:sp>
      <p:sp>
        <p:nvSpPr>
          <p:cNvPr id="14" name="Text 10"/>
          <p:cNvSpPr txBox="1"/>
          <p:nvPr/>
        </p:nvSpPr>
        <p:spPr>
          <a:xfrm>
            <a:off x="640080" y="1920240"/>
            <a:ext cx="2249424" cy="914400"/>
          </a:xfrm>
          <a:prstGeom prst="rect">
            <a:avLst/>
          </a:prstGeom>
          <a:noFill/>
          <a:ln/>
        </p:spPr>
        <p:txBody>
          <a:bodyPr wrap="square" lIns="0" tIns="0" rIns="0" bIns="0" rtlCol="0" anchor="t"/>
          <a:lstStyle/>
          <a:p>
            <a:pPr indent="0" marL="0">
              <a:buNone/>
            </a:pPr>
            <a:r>
              <a:rPr lang="en-US" sz="1300" dirty="0">
                <a:solidFill>
                  <a:schemeClr val="tx2"/>
                </a:solidFill>
              </a:rPr>
              <a:t>Che cosa non sappiamo con certezza?</a:t>
            </a:r>
            <a:endParaRPr lang="en-US" sz="1300" dirty="0"/>
          </a:p>
        </p:txBody>
      </p:sp>
      <p:sp>
        <p:nvSpPr>
          <p:cNvPr id="15" name="freccia"/>
          <p:cNvSpPr/>
          <p:nvPr/>
        </p:nvSpPr>
        <p:spPr>
          <a:xfrm>
            <a:off x="3090672" y="1920240"/>
            <a:ext cx="155448" cy="292608"/>
          </a:xfrm>
          <a:prstGeom prst="rightArrow">
            <a:avLst/>
          </a:prstGeom>
          <a:solidFill>
            <a:schemeClr val="accent2"/>
          </a:solidFill>
          <a:ln/>
        </p:spPr>
      </p:sp>
      <p:sp>
        <p:nvSpPr>
          <p:cNvPr id="16" name="Valutarne l'impatto"/>
          <p:cNvSpPr/>
          <p:nvPr/>
        </p:nvSpPr>
        <p:spPr>
          <a:xfrm>
            <a:off x="3264408" y="1097280"/>
            <a:ext cx="2615184" cy="1920240"/>
          </a:xfrm>
          <a:prstGeom prst="roundRect">
            <a:avLst>
              <a:gd name="adj" fmla="val 3810"/>
            </a:avLst>
          </a:prstGeom>
          <a:solidFill>
            <a:schemeClr val="bg2"/>
          </a:solidFill>
          <a:ln/>
        </p:spPr>
      </p:sp>
      <p:sp>
        <p:nvSpPr>
          <p:cNvPr id="17" name="cerchio FiActivity"/>
          <p:cNvSpPr/>
          <p:nvPr/>
        </p:nvSpPr>
        <p:spPr>
          <a:xfrm>
            <a:off x="3447288" y="1234440"/>
            <a:ext cx="502920" cy="502920"/>
          </a:xfrm>
          <a:prstGeom prst="ellipse">
            <a:avLst/>
          </a:prstGeom>
          <a:solidFill>
            <a:schemeClr val="accent1"/>
          </a:solidFill>
          <a:ln/>
        </p:spPr>
      </p:sp>
      <p:pic>
        <p:nvPicPr>
          <p:cNvPr id="18" name="Image 1" descr="FiActivity">    </p:cNvPr>
          <p:cNvPicPr>
            <a:picLocks noChangeAspect="1"/>
          </p:cNvPicPr>
          <p:nvPr/>
        </p:nvPicPr>
        <p:blipFill>
          <a:blip r:embed="rId2"/>
          <a:stretch>
            <a:fillRect/>
          </a:stretch>
        </p:blipFill>
        <p:spPr>
          <a:xfrm>
            <a:off x="3573018" y="1360170"/>
            <a:ext cx="251460" cy="251460"/>
          </a:xfrm>
          <a:prstGeom prst="rect">
            <a:avLst/>
          </a:prstGeom>
        </p:spPr>
      </p:pic>
      <p:sp>
        <p:nvSpPr>
          <p:cNvPr id="19" name="Text 14"/>
          <p:cNvSpPr txBox="1"/>
          <p:nvPr/>
        </p:nvSpPr>
        <p:spPr>
          <a:xfrm>
            <a:off x="4087368" y="1234440"/>
            <a:ext cx="1737360" cy="502920"/>
          </a:xfrm>
          <a:prstGeom prst="rect">
            <a:avLst/>
          </a:prstGeom>
          <a:noFill/>
          <a:ln/>
        </p:spPr>
        <p:txBody>
          <a:bodyPr wrap="square" lIns="0" tIns="0" rIns="0" bIns="0" rtlCol="0" anchor="ctr"/>
          <a:lstStyle/>
          <a:p>
            <a:pPr indent="0" marL="0">
              <a:buNone/>
            </a:pPr>
            <a:r>
              <a:rPr lang="en-US" sz="1400" b="1" dirty="0">
                <a:solidFill>
                  <a:schemeClr val="tx1"/>
                </a:solidFill>
              </a:rPr>
              <a:t>2. Valutarne l'impatto</a:t>
            </a:r>
            <a:endParaRPr lang="en-US" sz="1400" dirty="0"/>
          </a:p>
        </p:txBody>
      </p:sp>
      <p:sp>
        <p:nvSpPr>
          <p:cNvPr id="20" name="Text 15"/>
          <p:cNvSpPr txBox="1"/>
          <p:nvPr/>
        </p:nvSpPr>
        <p:spPr>
          <a:xfrm>
            <a:off x="3447288" y="1920240"/>
            <a:ext cx="2249424" cy="914400"/>
          </a:xfrm>
          <a:prstGeom prst="rect">
            <a:avLst/>
          </a:prstGeom>
          <a:noFill/>
          <a:ln/>
        </p:spPr>
        <p:txBody>
          <a:bodyPr wrap="square" lIns="0" tIns="0" rIns="0" bIns="0" rtlCol="0" anchor="t"/>
          <a:lstStyle/>
          <a:p>
            <a:pPr indent="0" marL="0">
              <a:buNone/>
            </a:pPr>
            <a:r>
              <a:rPr lang="en-US" sz="1300" dirty="0">
                <a:solidFill>
                  <a:schemeClr val="tx2"/>
                </a:solidFill>
              </a:rPr>
              <a:t>Se fosse sbagliato, cambierebbe la conclusione?</a:t>
            </a:r>
            <a:endParaRPr lang="en-US" sz="1300" dirty="0"/>
          </a:p>
        </p:txBody>
      </p:sp>
      <p:sp>
        <p:nvSpPr>
          <p:cNvPr id="21" name="freccia"/>
          <p:cNvSpPr/>
          <p:nvPr/>
        </p:nvSpPr>
        <p:spPr>
          <a:xfrm>
            <a:off x="5897880" y="1920240"/>
            <a:ext cx="155448" cy="292608"/>
          </a:xfrm>
          <a:prstGeom prst="rightArrow">
            <a:avLst/>
          </a:prstGeom>
          <a:solidFill>
            <a:schemeClr val="accent2"/>
          </a:solidFill>
          <a:ln/>
        </p:spPr>
      </p:sp>
      <p:sp>
        <p:nvSpPr>
          <p:cNvPr id="22" name="Decidere"/>
          <p:cNvSpPr/>
          <p:nvPr/>
        </p:nvSpPr>
        <p:spPr>
          <a:xfrm>
            <a:off x="6071616" y="1097280"/>
            <a:ext cx="2615184" cy="1920240"/>
          </a:xfrm>
          <a:prstGeom prst="roundRect">
            <a:avLst>
              <a:gd name="adj" fmla="val 3810"/>
            </a:avLst>
          </a:prstGeom>
          <a:solidFill>
            <a:schemeClr val="accent6"/>
          </a:solidFill>
          <a:ln/>
        </p:spPr>
      </p:sp>
      <p:sp>
        <p:nvSpPr>
          <p:cNvPr id="23" name="cerchio FiCheckSquare"/>
          <p:cNvSpPr/>
          <p:nvPr/>
        </p:nvSpPr>
        <p:spPr>
          <a:xfrm>
            <a:off x="6254496" y="1234440"/>
            <a:ext cx="502920" cy="502920"/>
          </a:xfrm>
          <a:prstGeom prst="ellipse">
            <a:avLst/>
          </a:prstGeom>
          <a:solidFill>
            <a:schemeClr val="accent1"/>
          </a:solidFill>
          <a:ln/>
        </p:spPr>
      </p:sp>
      <p:pic>
        <p:nvPicPr>
          <p:cNvPr id="24" name="Image 2" descr="FiCheckSquare">    </p:cNvPr>
          <p:cNvPicPr>
            <a:picLocks noChangeAspect="1"/>
          </p:cNvPicPr>
          <p:nvPr/>
        </p:nvPicPr>
        <p:blipFill>
          <a:blip r:embed="rId3"/>
          <a:stretch>
            <a:fillRect/>
          </a:stretch>
        </p:blipFill>
        <p:spPr>
          <a:xfrm>
            <a:off x="6380226" y="1360170"/>
            <a:ext cx="251460" cy="251460"/>
          </a:xfrm>
          <a:prstGeom prst="rect">
            <a:avLst/>
          </a:prstGeom>
        </p:spPr>
      </p:pic>
      <p:sp>
        <p:nvSpPr>
          <p:cNvPr id="25" name="Text 19"/>
          <p:cNvSpPr txBox="1"/>
          <p:nvPr/>
        </p:nvSpPr>
        <p:spPr>
          <a:xfrm>
            <a:off x="6894576" y="1234440"/>
            <a:ext cx="1737360" cy="502920"/>
          </a:xfrm>
          <a:prstGeom prst="rect">
            <a:avLst/>
          </a:prstGeom>
          <a:noFill/>
          <a:ln/>
        </p:spPr>
        <p:txBody>
          <a:bodyPr wrap="square" lIns="0" tIns="0" rIns="0" bIns="0" rtlCol="0" anchor="ctr"/>
          <a:lstStyle/>
          <a:p>
            <a:pPr indent="0" marL="0">
              <a:buNone/>
            </a:pPr>
            <a:r>
              <a:rPr lang="en-US" sz="1400" b="1" dirty="0">
                <a:solidFill>
                  <a:schemeClr val="tx1"/>
                </a:solidFill>
              </a:rPr>
              <a:t>3. Decidere</a:t>
            </a:r>
            <a:endParaRPr lang="en-US" sz="1400" dirty="0"/>
          </a:p>
        </p:txBody>
      </p:sp>
      <p:sp>
        <p:nvSpPr>
          <p:cNvPr id="26" name="Text 20"/>
          <p:cNvSpPr txBox="1"/>
          <p:nvPr/>
        </p:nvSpPr>
        <p:spPr>
          <a:xfrm>
            <a:off x="6254496" y="1920240"/>
            <a:ext cx="2249424" cy="914400"/>
          </a:xfrm>
          <a:prstGeom prst="rect">
            <a:avLst/>
          </a:prstGeom>
          <a:noFill/>
          <a:ln/>
        </p:spPr>
        <p:txBody>
          <a:bodyPr wrap="square" lIns="0" tIns="0" rIns="0" bIns="0" rtlCol="0" anchor="t"/>
          <a:lstStyle/>
          <a:p>
            <a:pPr indent="0" marL="0">
              <a:buNone/>
            </a:pPr>
            <a:r>
              <a:rPr lang="en-US" sz="1300" dirty="0">
                <a:solidFill>
                  <a:schemeClr val="tx2"/>
                </a:solidFill>
              </a:rPr>
              <a:t>Accettare, ridurre, comunicare o rinunciare</a:t>
            </a:r>
            <a:endParaRPr lang="en-US" sz="1300" dirty="0"/>
          </a:p>
        </p:txBody>
      </p:sp>
      <p:sp>
        <p:nvSpPr>
          <p:cNvPr id="27" name="messaggio"/>
          <p:cNvSpPr/>
          <p:nvPr/>
        </p:nvSpPr>
        <p:spPr>
          <a:xfrm>
            <a:off x="457200" y="3200400"/>
            <a:ext cx="8229600" cy="640080"/>
          </a:xfrm>
          <a:prstGeom prst="roundRect">
            <a:avLst>
              <a:gd name="adj" fmla="val 11429"/>
            </a:avLst>
          </a:prstGeom>
          <a:solidFill>
            <a:schemeClr val="tx1"/>
          </a:solidFill>
          <a:ln/>
        </p:spPr>
      </p:sp>
      <p:sp>
        <p:nvSpPr>
          <p:cNvPr id="28" name="Text 22"/>
          <p:cNvSpPr txBox="1"/>
          <p:nvPr/>
        </p:nvSpPr>
        <p:spPr>
          <a:xfrm>
            <a:off x="640080" y="3200400"/>
            <a:ext cx="7863840" cy="640080"/>
          </a:xfrm>
          <a:prstGeom prst="rect">
            <a:avLst/>
          </a:prstGeom>
          <a:noFill/>
          <a:ln/>
        </p:spPr>
        <p:txBody>
          <a:bodyPr wrap="square" lIns="0" tIns="0" rIns="0" bIns="0" rtlCol="0" anchor="ctr"/>
          <a:lstStyle/>
          <a:p>
            <a:pPr indent="0" marL="0">
              <a:buNone/>
            </a:pPr>
            <a:r>
              <a:rPr lang="en-US" sz="1400" dirty="0">
                <a:solidFill>
                  <a:schemeClr val="bg1"/>
                </a:solidFill>
              </a:rPr>
              <a:t>La decisione tiene conto di ciò che resta incerto, non solo di ciò che è stato verificato.</a:t>
            </a:r>
            <a:endParaRPr lang="en-US" sz="1400" dirty="0"/>
          </a:p>
        </p:txBody>
      </p:sp>
      <p:sp>
        <p:nvSpPr>
          <p:cNvPr id="29" name="Text 23"/>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300" i="1" dirty="0">
                <a:solidFill>
                  <a:schemeClr val="tx1"/>
                </a:solidFill>
              </a:rPr>
              <a:t>Comunicare l'incertezza con onestà, per esempio indicando che un dato è stimato, è un segno di professionalità.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specialistiche e decisione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esperto"/>
          <p:cNvSpPr/>
          <p:nvPr/>
        </p:nvSpPr>
        <p:spPr>
          <a:xfrm>
            <a:off x="457200" y="1097280"/>
            <a:ext cx="8229600" cy="822960"/>
          </a:xfrm>
          <a:prstGeom prst="roundRect">
            <a:avLst>
              <a:gd name="adj" fmla="val 8889"/>
            </a:avLst>
          </a:prstGeom>
          <a:solidFill>
            <a:schemeClr val="bg2"/>
          </a:solidFill>
          <a:ln/>
        </p:spPr>
      </p:sp>
      <p:sp>
        <p:nvSpPr>
          <p:cNvPr id="11" name="cerchio FiAward"/>
          <p:cNvSpPr/>
          <p:nvPr/>
        </p:nvSpPr>
        <p:spPr>
          <a:xfrm>
            <a:off x="640080" y="1280160"/>
            <a:ext cx="457200" cy="457200"/>
          </a:xfrm>
          <a:prstGeom prst="ellipse">
            <a:avLst/>
          </a:prstGeom>
          <a:solidFill>
            <a:schemeClr val="accent1"/>
          </a:solidFill>
          <a:ln/>
        </p:spPr>
      </p:sp>
      <p:pic>
        <p:nvPicPr>
          <p:cNvPr id="12" name="Image 0" descr="FiAward">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1234440" y="1097280"/>
            <a:ext cx="7315200" cy="822960"/>
          </a:xfrm>
          <a:prstGeom prst="rect">
            <a:avLst/>
          </a:prstGeom>
          <a:noFill/>
          <a:ln/>
        </p:spPr>
        <p:txBody>
          <a:bodyPr wrap="square" lIns="0" tIns="0" rIns="0" bIns="0" rtlCol="0" anchor="ctr"/>
          <a:lstStyle/>
          <a:p>
            <a:pPr indent="0" marL="0">
              <a:buNone/>
            </a:pPr>
            <a:r>
              <a:rPr lang="en-US" sz="1300" b="1" dirty="0">
                <a:solidFill>
                  <a:schemeClr val="tx1"/>
                </a:solidFill>
              </a:rPr>
              <a:t>Coinvolgere un esperto </a:t>
            </a:r>
            <a:pPr indent="0" marL="0">
              <a:buNone/>
            </a:pPr>
            <a:r>
              <a:rPr lang="en-US" sz="1300" dirty="0">
                <a:solidFill>
                  <a:schemeClr val="tx2"/>
                </a:solidFill>
              </a:rPr>
              <a:t>quando mancano le competenze per riconoscere gli errori e le conseguenze sono rilevanti: aspetti legali, fiscali, medici, tecnici, di sicurezza.</a:t>
            </a:r>
            <a:endParaRPr lang="en-US" sz="1300" dirty="0"/>
          </a:p>
        </p:txBody>
      </p:sp>
      <p:sp>
        <p:nvSpPr>
          <p:cNvPr id="14" name="Accettare"/>
          <p:cNvSpPr/>
          <p:nvPr/>
        </p:nvSpPr>
        <p:spPr>
          <a:xfrm>
            <a:off x="457200" y="2103120"/>
            <a:ext cx="1965960" cy="1828800"/>
          </a:xfrm>
          <a:prstGeom prst="roundRect">
            <a:avLst>
              <a:gd name="adj" fmla="val 4000"/>
            </a:avLst>
          </a:prstGeom>
          <a:solidFill>
            <a:schemeClr val="accent1"/>
          </a:solidFill>
          <a:ln/>
        </p:spPr>
      </p:sp>
      <p:sp>
        <p:nvSpPr>
          <p:cNvPr id="15" name="cerchio FiCheck"/>
          <p:cNvSpPr/>
          <p:nvPr/>
        </p:nvSpPr>
        <p:spPr>
          <a:xfrm>
            <a:off x="1170432" y="2212848"/>
            <a:ext cx="530352" cy="530352"/>
          </a:xfrm>
          <a:prstGeom prst="ellipse">
            <a:avLst/>
          </a:prstGeom>
          <a:solidFill>
            <a:schemeClr val="bg1"/>
          </a:solidFill>
          <a:ln/>
        </p:spPr>
      </p:sp>
      <p:pic>
        <p:nvPicPr>
          <p:cNvPr id="16" name="Image 1" descr="FiCheck">    </p:cNvPr>
          <p:cNvPicPr>
            <a:picLocks noChangeAspect="1"/>
          </p:cNvPicPr>
          <p:nvPr/>
        </p:nvPicPr>
        <p:blipFill>
          <a:blip r:embed="rId2"/>
          <a:stretch>
            <a:fillRect/>
          </a:stretch>
        </p:blipFill>
        <p:spPr>
          <a:xfrm>
            <a:off x="1303020" y="2345436"/>
            <a:ext cx="265176" cy="265176"/>
          </a:xfrm>
          <a:prstGeom prst="rect">
            <a:avLst/>
          </a:prstGeom>
        </p:spPr>
      </p:pic>
      <p:sp>
        <p:nvSpPr>
          <p:cNvPr id="17" name="Text 12"/>
          <p:cNvSpPr txBox="1"/>
          <p:nvPr/>
        </p:nvSpPr>
        <p:spPr>
          <a:xfrm>
            <a:off x="548640" y="2788920"/>
            <a:ext cx="1783080" cy="365760"/>
          </a:xfrm>
          <a:prstGeom prst="rect">
            <a:avLst/>
          </a:prstGeom>
          <a:noFill/>
          <a:ln/>
        </p:spPr>
        <p:txBody>
          <a:bodyPr wrap="square" lIns="0" tIns="0" rIns="0" bIns="0" rtlCol="0" anchor="t"/>
          <a:lstStyle/>
          <a:p>
            <a:pPr algn="ctr" indent="0" marL="0">
              <a:buNone/>
            </a:pPr>
            <a:r>
              <a:rPr lang="en-US" sz="1500" b="1" dirty="0">
                <a:solidFill>
                  <a:schemeClr val="bg1"/>
                </a:solidFill>
              </a:rPr>
              <a:t>Accettare</a:t>
            </a:r>
            <a:endParaRPr lang="en-US" sz="1500" dirty="0"/>
          </a:p>
        </p:txBody>
      </p:sp>
      <p:sp>
        <p:nvSpPr>
          <p:cNvPr id="18" name="Text 13"/>
          <p:cNvSpPr txBox="1"/>
          <p:nvPr/>
        </p:nvSpPr>
        <p:spPr>
          <a:xfrm>
            <a:off x="594360" y="3154680"/>
            <a:ext cx="1691640" cy="731520"/>
          </a:xfrm>
          <a:prstGeom prst="rect">
            <a:avLst/>
          </a:prstGeom>
          <a:noFill/>
          <a:ln/>
        </p:spPr>
        <p:txBody>
          <a:bodyPr wrap="square" lIns="0" tIns="0" rIns="0" bIns="0" rtlCol="0" anchor="t"/>
          <a:lstStyle/>
          <a:p>
            <a:pPr algn="ctr" indent="0" marL="0">
              <a:buNone/>
            </a:pPr>
            <a:r>
              <a:rPr lang="en-US" sz="1100" dirty="0">
                <a:solidFill>
                  <a:schemeClr val="bg1"/>
                </a:solidFill>
              </a:rPr>
              <a:t>Adeguato allo scopo, incertezze accettabili</a:t>
            </a:r>
            <a:endParaRPr lang="en-US" sz="1100" dirty="0"/>
          </a:p>
        </p:txBody>
      </p:sp>
      <p:sp>
        <p:nvSpPr>
          <p:cNvPr id="19" name="Modificare"/>
          <p:cNvSpPr/>
          <p:nvPr/>
        </p:nvSpPr>
        <p:spPr>
          <a:xfrm>
            <a:off x="2560320" y="2103120"/>
            <a:ext cx="1965960" cy="1828800"/>
          </a:xfrm>
          <a:prstGeom prst="roundRect">
            <a:avLst>
              <a:gd name="adj" fmla="val 4000"/>
            </a:avLst>
          </a:prstGeom>
          <a:solidFill>
            <a:schemeClr val="accent6"/>
          </a:solidFill>
          <a:ln/>
        </p:spPr>
      </p:sp>
      <p:sp>
        <p:nvSpPr>
          <p:cNvPr id="20" name="cerchio FiEdit"/>
          <p:cNvSpPr/>
          <p:nvPr/>
        </p:nvSpPr>
        <p:spPr>
          <a:xfrm>
            <a:off x="3273552" y="2212848"/>
            <a:ext cx="530352" cy="530352"/>
          </a:xfrm>
          <a:prstGeom prst="ellipse">
            <a:avLst/>
          </a:prstGeom>
          <a:solidFill>
            <a:schemeClr val="accent1"/>
          </a:solidFill>
          <a:ln/>
        </p:spPr>
      </p:sp>
      <p:pic>
        <p:nvPicPr>
          <p:cNvPr id="21" name="Image 2" descr="FiEdit">    </p:cNvPr>
          <p:cNvPicPr>
            <a:picLocks noChangeAspect="1"/>
          </p:cNvPicPr>
          <p:nvPr/>
        </p:nvPicPr>
        <p:blipFill>
          <a:blip r:embed="rId3"/>
          <a:stretch>
            <a:fillRect/>
          </a:stretch>
        </p:blipFill>
        <p:spPr>
          <a:xfrm>
            <a:off x="3406140" y="2345436"/>
            <a:ext cx="265176" cy="265176"/>
          </a:xfrm>
          <a:prstGeom prst="rect">
            <a:avLst/>
          </a:prstGeom>
        </p:spPr>
      </p:pic>
      <p:sp>
        <p:nvSpPr>
          <p:cNvPr id="22" name="Text 16"/>
          <p:cNvSpPr txBox="1"/>
          <p:nvPr/>
        </p:nvSpPr>
        <p:spPr>
          <a:xfrm>
            <a:off x="2651760" y="278892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Modificare</a:t>
            </a:r>
            <a:endParaRPr lang="en-US" sz="1500" dirty="0"/>
          </a:p>
        </p:txBody>
      </p:sp>
      <p:sp>
        <p:nvSpPr>
          <p:cNvPr id="23" name="Text 17"/>
          <p:cNvSpPr txBox="1"/>
          <p:nvPr/>
        </p:nvSpPr>
        <p:spPr>
          <a:xfrm>
            <a:off x="2697480" y="3154680"/>
            <a:ext cx="1691640" cy="731520"/>
          </a:xfrm>
          <a:prstGeom prst="rect">
            <a:avLst/>
          </a:prstGeom>
          <a:noFill/>
          <a:ln/>
        </p:spPr>
        <p:txBody>
          <a:bodyPr wrap="square" lIns="0" tIns="0" rIns="0" bIns="0" rtlCol="0" anchor="t"/>
          <a:lstStyle/>
          <a:p>
            <a:pPr algn="ctr" indent="0" marL="0">
              <a:buNone/>
            </a:pPr>
            <a:r>
              <a:rPr lang="en-US" sz="1100" dirty="0">
                <a:solidFill>
                  <a:schemeClr val="tx1"/>
                </a:solidFill>
              </a:rPr>
              <a:t>Utilizzabile dopo correzioni e integrazioni</a:t>
            </a:r>
            <a:endParaRPr lang="en-US" sz="1100" dirty="0"/>
          </a:p>
        </p:txBody>
      </p:sp>
      <p:sp>
        <p:nvSpPr>
          <p:cNvPr id="24" name="Approfondire"/>
          <p:cNvSpPr/>
          <p:nvPr/>
        </p:nvSpPr>
        <p:spPr>
          <a:xfrm>
            <a:off x="4663440" y="2103120"/>
            <a:ext cx="1965960" cy="1828800"/>
          </a:xfrm>
          <a:prstGeom prst="roundRect">
            <a:avLst>
              <a:gd name="adj" fmla="val 4000"/>
            </a:avLst>
          </a:prstGeom>
          <a:solidFill>
            <a:schemeClr val="bg2"/>
          </a:solidFill>
          <a:ln/>
        </p:spPr>
      </p:sp>
      <p:sp>
        <p:nvSpPr>
          <p:cNvPr id="25" name="cerchio FiSearch"/>
          <p:cNvSpPr/>
          <p:nvPr/>
        </p:nvSpPr>
        <p:spPr>
          <a:xfrm>
            <a:off x="5376672" y="2212848"/>
            <a:ext cx="530352" cy="530352"/>
          </a:xfrm>
          <a:prstGeom prst="ellipse">
            <a:avLst/>
          </a:prstGeom>
          <a:solidFill>
            <a:schemeClr val="accent1"/>
          </a:solidFill>
          <a:ln/>
        </p:spPr>
      </p:sp>
      <p:pic>
        <p:nvPicPr>
          <p:cNvPr id="26" name="Image 3" descr="FiSearch">    </p:cNvPr>
          <p:cNvPicPr>
            <a:picLocks noChangeAspect="1"/>
          </p:cNvPicPr>
          <p:nvPr/>
        </p:nvPicPr>
        <p:blipFill>
          <a:blip r:embed="rId4"/>
          <a:stretch>
            <a:fillRect/>
          </a:stretch>
        </p:blipFill>
        <p:spPr>
          <a:xfrm>
            <a:off x="5509260" y="2345436"/>
            <a:ext cx="265176" cy="265176"/>
          </a:xfrm>
          <a:prstGeom prst="rect">
            <a:avLst/>
          </a:prstGeom>
        </p:spPr>
      </p:pic>
      <p:sp>
        <p:nvSpPr>
          <p:cNvPr id="27" name="Text 20"/>
          <p:cNvSpPr txBox="1"/>
          <p:nvPr/>
        </p:nvSpPr>
        <p:spPr>
          <a:xfrm>
            <a:off x="4754880" y="278892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Approfondire</a:t>
            </a:r>
            <a:endParaRPr lang="en-US" sz="1500" dirty="0"/>
          </a:p>
        </p:txBody>
      </p:sp>
      <p:sp>
        <p:nvSpPr>
          <p:cNvPr id="28" name="Text 21"/>
          <p:cNvSpPr txBox="1"/>
          <p:nvPr/>
        </p:nvSpPr>
        <p:spPr>
          <a:xfrm>
            <a:off x="4800600" y="3154680"/>
            <a:ext cx="1691640" cy="731520"/>
          </a:xfrm>
          <a:prstGeom prst="rect">
            <a:avLst/>
          </a:prstGeom>
          <a:noFill/>
          <a:ln/>
        </p:spPr>
        <p:txBody>
          <a:bodyPr wrap="square" lIns="0" tIns="0" rIns="0" bIns="0" rtlCol="0" anchor="t"/>
          <a:lstStyle/>
          <a:p>
            <a:pPr algn="ctr" indent="0" marL="0">
              <a:buNone/>
            </a:pPr>
            <a:r>
              <a:rPr lang="en-US" sz="1100" dirty="0">
                <a:solidFill>
                  <a:schemeClr val="tx1"/>
                </a:solidFill>
              </a:rPr>
              <a:t>Servono verifiche, informazioni o un esperto</a:t>
            </a:r>
            <a:endParaRPr lang="en-US" sz="1100" dirty="0"/>
          </a:p>
        </p:txBody>
      </p:sp>
      <p:sp>
        <p:nvSpPr>
          <p:cNvPr id="29" name="Rifiutare"/>
          <p:cNvSpPr/>
          <p:nvPr/>
        </p:nvSpPr>
        <p:spPr>
          <a:xfrm>
            <a:off x="6766560" y="2103120"/>
            <a:ext cx="1965960" cy="1828800"/>
          </a:xfrm>
          <a:prstGeom prst="roundRect">
            <a:avLst>
              <a:gd name="adj" fmla="val 4000"/>
            </a:avLst>
          </a:prstGeom>
          <a:solidFill>
            <a:schemeClr val="tx1"/>
          </a:solidFill>
          <a:ln/>
        </p:spPr>
      </p:sp>
      <p:sp>
        <p:nvSpPr>
          <p:cNvPr id="30" name="cerchio FiXCircle"/>
          <p:cNvSpPr/>
          <p:nvPr/>
        </p:nvSpPr>
        <p:spPr>
          <a:xfrm>
            <a:off x="7479792" y="2212848"/>
            <a:ext cx="530352" cy="530352"/>
          </a:xfrm>
          <a:prstGeom prst="ellipse">
            <a:avLst/>
          </a:prstGeom>
          <a:solidFill>
            <a:schemeClr val="bg1"/>
          </a:solidFill>
          <a:ln/>
        </p:spPr>
      </p:sp>
      <p:pic>
        <p:nvPicPr>
          <p:cNvPr id="31" name="Image 4" descr="FiXCircle">    </p:cNvPr>
          <p:cNvPicPr>
            <a:picLocks noChangeAspect="1"/>
          </p:cNvPicPr>
          <p:nvPr/>
        </p:nvPicPr>
        <p:blipFill>
          <a:blip r:embed="rId5"/>
          <a:stretch>
            <a:fillRect/>
          </a:stretch>
        </p:blipFill>
        <p:spPr>
          <a:xfrm>
            <a:off x="7612380" y="2345436"/>
            <a:ext cx="265176" cy="265176"/>
          </a:xfrm>
          <a:prstGeom prst="rect">
            <a:avLst/>
          </a:prstGeom>
        </p:spPr>
      </p:pic>
      <p:sp>
        <p:nvSpPr>
          <p:cNvPr id="32" name="Text 24"/>
          <p:cNvSpPr txBox="1"/>
          <p:nvPr/>
        </p:nvSpPr>
        <p:spPr>
          <a:xfrm>
            <a:off x="6858000" y="2788920"/>
            <a:ext cx="1783080" cy="365760"/>
          </a:xfrm>
          <a:prstGeom prst="rect">
            <a:avLst/>
          </a:prstGeom>
          <a:noFill/>
          <a:ln/>
        </p:spPr>
        <p:txBody>
          <a:bodyPr wrap="square" lIns="0" tIns="0" rIns="0" bIns="0" rtlCol="0" anchor="t"/>
          <a:lstStyle/>
          <a:p>
            <a:pPr algn="ctr" indent="0" marL="0">
              <a:buNone/>
            </a:pPr>
            <a:r>
              <a:rPr lang="en-US" sz="1500" b="1" dirty="0">
                <a:solidFill>
                  <a:schemeClr val="bg1"/>
                </a:solidFill>
              </a:rPr>
              <a:t>Rifiutare</a:t>
            </a:r>
            <a:endParaRPr lang="en-US" sz="1500" dirty="0"/>
          </a:p>
        </p:txBody>
      </p:sp>
      <p:sp>
        <p:nvSpPr>
          <p:cNvPr id="33" name="Text 25"/>
          <p:cNvSpPr txBox="1"/>
          <p:nvPr/>
        </p:nvSpPr>
        <p:spPr>
          <a:xfrm>
            <a:off x="6903720" y="3154680"/>
            <a:ext cx="1691640" cy="731520"/>
          </a:xfrm>
          <a:prstGeom prst="rect">
            <a:avLst/>
          </a:prstGeom>
          <a:noFill/>
          <a:ln/>
        </p:spPr>
        <p:txBody>
          <a:bodyPr wrap="square" lIns="0" tIns="0" rIns="0" bIns="0" rtlCol="0" anchor="t"/>
          <a:lstStyle/>
          <a:p>
            <a:pPr algn="ctr" indent="0" marL="0">
              <a:buNone/>
            </a:pPr>
            <a:r>
              <a:rPr lang="en-US" sz="1100" dirty="0">
                <a:solidFill>
                  <a:schemeClr val="bg1"/>
                </a:solidFill>
              </a:rPr>
              <a:t>Non adeguato: errori sostanziali o incertezze troppo alte</a:t>
            </a:r>
            <a:endParaRPr lang="en-US" sz="1100" dirty="0"/>
          </a:p>
        </p:txBody>
      </p:sp>
      <p:sp>
        <p:nvSpPr>
          <p:cNvPr id="34" name="Text 26"/>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Rifiutare non è un fallimento: è l'esito corretto quando l'output non regge all'esame.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Documentare e assumere la responsabilità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scheda Documentare, quando necessario"/>
          <p:cNvSpPr/>
          <p:nvPr/>
        </p:nvSpPr>
        <p:spPr>
          <a:xfrm>
            <a:off x="457200" y="1097280"/>
            <a:ext cx="3977640" cy="2743200"/>
          </a:xfrm>
          <a:prstGeom prst="roundRect">
            <a:avLst>
              <a:gd name="adj" fmla="val 2667"/>
            </a:avLst>
          </a:prstGeom>
          <a:solidFill>
            <a:schemeClr val="bg2"/>
          </a:solidFill>
          <a:ln/>
        </p:spPr>
      </p:sp>
      <p:sp>
        <p:nvSpPr>
          <p:cNvPr id="11" name="cerchio FiFileText"/>
          <p:cNvSpPr/>
          <p:nvPr/>
        </p:nvSpPr>
        <p:spPr>
          <a:xfrm>
            <a:off x="640080" y="1280160"/>
            <a:ext cx="457200" cy="457200"/>
          </a:xfrm>
          <a:prstGeom prst="ellipse">
            <a:avLst/>
          </a:prstGeom>
          <a:solidFill>
            <a:schemeClr val="accent1"/>
          </a:solidFill>
          <a:ln/>
        </p:spPr>
      </p:sp>
      <p:pic>
        <p:nvPicPr>
          <p:cNvPr id="12" name="Image 0" descr="FiFileText">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Documentare, quando necessario</a:t>
            </a:r>
            <a:endParaRPr lang="en-US" sz="1500" dirty="0"/>
          </a:p>
        </p:txBody>
      </p:sp>
      <p:sp>
        <p:nvSpPr>
          <p:cNvPr id="14" name="Text 10"/>
          <p:cNvSpPr txBox="1"/>
          <p:nvPr/>
        </p:nvSpPr>
        <p:spPr>
          <a:xfrm>
            <a:off x="640080" y="2231136"/>
            <a:ext cx="3611880"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Che cosa è stato verificato, con quali fonti, da chi, quando; quali incertezze restano.</a:t>
            </a:r>
            <a:endParaRPr lang="en-US" sz="1200" dirty="0"/>
          </a:p>
          <a:p>
            <a:pPr marL="177800" indent="-177800">
              <a:spcAft>
                <a:spcPts val="300"/>
              </a:spcAft>
              <a:buSzPct val="100000"/>
              <a:buChar char="•"/>
            </a:pPr>
            <a:r>
              <a:rPr lang="en-US" sz="1200" dirty="0">
                <a:solidFill>
                  <a:schemeClr val="tx2"/>
                </a:solidFill>
              </a:rPr>
              <a:t>Per ciò che potrebbe essere riesaminato o contestato</a:t>
            </a:r>
            <a:endParaRPr lang="en-US" sz="1200" dirty="0"/>
          </a:p>
          <a:p>
            <a:pPr marL="177800" indent="-177800">
              <a:spcAft>
                <a:spcPts val="300"/>
              </a:spcAft>
              <a:buSzPct val="100000"/>
              <a:buChar char="•"/>
            </a:pPr>
            <a:r>
              <a:rPr lang="en-US" sz="1200" dirty="0">
                <a:solidFill>
                  <a:schemeClr val="tx2"/>
                </a:solidFill>
              </a:rPr>
              <a:t>Permette di ricostruire, correggere, imparare</a:t>
            </a:r>
            <a:endParaRPr lang="en-US" sz="1200" dirty="0"/>
          </a:p>
        </p:txBody>
      </p:sp>
      <p:sp>
        <p:nvSpPr>
          <p:cNvPr id="15" name="responsabilità"/>
          <p:cNvSpPr/>
          <p:nvPr/>
        </p:nvSpPr>
        <p:spPr>
          <a:xfrm>
            <a:off x="4709160" y="1097280"/>
            <a:ext cx="3977640" cy="2743200"/>
          </a:xfrm>
          <a:prstGeom prst="roundRect">
            <a:avLst>
              <a:gd name="adj" fmla="val 2667"/>
            </a:avLst>
          </a:prstGeom>
          <a:solidFill>
            <a:schemeClr val="tx1"/>
          </a:solidFill>
          <a:ln/>
        </p:spPr>
      </p:sp>
      <p:sp>
        <p:nvSpPr>
          <p:cNvPr id="16" name="cerchio FiUserCheck"/>
          <p:cNvSpPr/>
          <p:nvPr/>
        </p:nvSpPr>
        <p:spPr>
          <a:xfrm>
            <a:off x="4937760" y="1280160"/>
            <a:ext cx="548640" cy="548640"/>
          </a:xfrm>
          <a:prstGeom prst="ellipse">
            <a:avLst/>
          </a:prstGeom>
          <a:solidFill>
            <a:schemeClr val="accent1"/>
          </a:solidFill>
          <a:ln/>
        </p:spPr>
      </p:sp>
      <p:pic>
        <p:nvPicPr>
          <p:cNvPr id="17" name="Image 1" descr="FiUserCheck">    </p:cNvPr>
          <p:cNvPicPr>
            <a:picLocks noChangeAspect="1"/>
          </p:cNvPicPr>
          <p:nvPr/>
        </p:nvPicPr>
        <p:blipFill>
          <a:blip r:embed="rId2"/>
          <a:stretch>
            <a:fillRect/>
          </a:stretch>
        </p:blipFill>
        <p:spPr>
          <a:xfrm>
            <a:off x="5074920" y="1417320"/>
            <a:ext cx="274320" cy="274320"/>
          </a:xfrm>
          <a:prstGeom prst="rect">
            <a:avLst/>
          </a:prstGeom>
        </p:spPr>
      </p:pic>
      <p:sp>
        <p:nvSpPr>
          <p:cNvPr id="18" name="Text 13"/>
          <p:cNvSpPr txBox="1"/>
          <p:nvPr/>
        </p:nvSpPr>
        <p:spPr>
          <a:xfrm>
            <a:off x="4937760" y="1965960"/>
            <a:ext cx="3566160" cy="914400"/>
          </a:xfrm>
          <a:prstGeom prst="rect">
            <a:avLst/>
          </a:prstGeom>
          <a:noFill/>
          <a:ln/>
        </p:spPr>
        <p:txBody>
          <a:bodyPr wrap="square" lIns="0" tIns="0" rIns="0" bIns="0" rtlCol="0" anchor="t"/>
          <a:lstStyle/>
          <a:p>
            <a:pPr indent="0" marL="0">
              <a:buNone/>
            </a:pPr>
            <a:r>
              <a:rPr lang="en-US" sz="1600" b="1" dirty="0">
                <a:solidFill>
                  <a:schemeClr val="bg1"/>
                </a:solidFill>
              </a:rPr>
              <a:t>Decidere di usare un risultato significa assumersene la responsabilità.</a:t>
            </a:r>
            <a:endParaRPr lang="en-US" sz="1600" dirty="0"/>
          </a:p>
        </p:txBody>
      </p:sp>
      <p:sp>
        <p:nvSpPr>
          <p:cNvPr id="19" name="Text 14"/>
          <p:cNvSpPr txBox="1"/>
          <p:nvPr/>
        </p:nvSpPr>
        <p:spPr>
          <a:xfrm>
            <a:off x="4937760" y="2926080"/>
            <a:ext cx="3566160" cy="777240"/>
          </a:xfrm>
          <a:prstGeom prst="rect">
            <a:avLst/>
          </a:prstGeom>
          <a:noFill/>
          <a:ln/>
        </p:spPr>
        <p:txBody>
          <a:bodyPr wrap="square" lIns="0" tIns="0" rIns="0" bIns="0" rtlCol="0" anchor="t"/>
          <a:lstStyle/>
          <a:p>
            <a:pPr indent="0" marL="0">
              <a:buNone/>
            </a:pPr>
            <a:r>
              <a:rPr lang="en-US" sz="1300" dirty="0">
                <a:solidFill>
                  <a:schemeClr val="accent3"/>
                </a:solidFill>
              </a:rPr>
              <a:t>Chi usa un output dell'AI ne risponde come se l'avesse prodotto personalmente.</a:t>
            </a:r>
            <a:endParaRPr lang="en-US" sz="1300" dirty="0"/>
          </a:p>
        </p:txBody>
      </p:sp>
      <p:sp>
        <p:nvSpPr>
          <p:cNvPr id="20" name="messaggio"/>
          <p:cNvSpPr/>
          <p:nvPr/>
        </p:nvSpPr>
        <p:spPr>
          <a:xfrm>
            <a:off x="457200" y="4023360"/>
            <a:ext cx="8229600" cy="502920"/>
          </a:xfrm>
          <a:prstGeom prst="roundRect">
            <a:avLst>
              <a:gd name="adj" fmla="val 14545"/>
            </a:avLst>
          </a:prstGeom>
          <a:solidFill>
            <a:schemeClr val="tx1"/>
          </a:solidFill>
          <a:ln/>
        </p:spPr>
      </p:sp>
      <p:sp>
        <p:nvSpPr>
          <p:cNvPr id="21" name="Text 16"/>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Valutare, verificare e decidere non sono attività accessorie, ma parte essenziale dell'uso consapevole dell'AI.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Validare significa decidere se un output, con le verifiche appropriate e le incertezze residue, sia adeguato a uno specifico utilizzo.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7.8  ·  Validazione e responsabilità nell'uso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548640"/>
          </a:xfrm>
          <a:prstGeom prst="roundRect">
            <a:avLst>
              <a:gd name="adj" fmla="val 13333"/>
            </a:avLst>
          </a:prstGeom>
          <a:solidFill>
            <a:schemeClr val="bg2"/>
          </a:solidFill>
          <a:ln/>
        </p:spPr>
      </p:sp>
      <p:sp>
        <p:nvSpPr>
          <p:cNvPr id="5" name="Text 2"/>
          <p:cNvSpPr txBox="1"/>
          <p:nvPr/>
        </p:nvSpPr>
        <p:spPr>
          <a:xfrm>
            <a:off x="548640" y="102412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51560"/>
            <a:ext cx="3474720" cy="256032"/>
          </a:xfrm>
          <a:prstGeom prst="rect">
            <a:avLst/>
          </a:prstGeom>
          <a:noFill/>
          <a:ln/>
        </p:spPr>
        <p:txBody>
          <a:bodyPr wrap="square" lIns="0" tIns="0" rIns="0" bIns="0" rtlCol="0" anchor="t"/>
          <a:lstStyle/>
          <a:p>
            <a:pPr indent="0" marL="0">
              <a:buNone/>
            </a:pPr>
            <a:r>
              <a:rPr lang="en-US" sz="1100" b="1" dirty="0">
                <a:solidFill>
                  <a:schemeClr val="tx1"/>
                </a:solidFill>
              </a:rPr>
              <a:t>Convincente o corretta?</a:t>
            </a:r>
            <a:endParaRPr lang="en-US" sz="1100" dirty="0"/>
          </a:p>
        </p:txBody>
      </p:sp>
      <p:sp>
        <p:nvSpPr>
          <p:cNvPr id="7" name="Text 4"/>
          <p:cNvSpPr txBox="1"/>
          <p:nvPr/>
        </p:nvSpPr>
        <p:spPr>
          <a:xfrm>
            <a:off x="960120" y="1298448"/>
            <a:ext cx="3474720" cy="256032"/>
          </a:xfrm>
          <a:prstGeom prst="rect">
            <a:avLst/>
          </a:prstGeom>
          <a:noFill/>
          <a:ln/>
        </p:spPr>
        <p:txBody>
          <a:bodyPr wrap="square" lIns="0" tIns="0" rIns="0" bIns="0" rtlCol="0" anchor="t"/>
          <a:lstStyle/>
          <a:p>
            <a:pPr indent="0" marL="0">
              <a:buNone/>
            </a:pPr>
            <a:r>
              <a:rPr lang="en-US" sz="1000" dirty="0">
                <a:solidFill>
                  <a:schemeClr val="tx2"/>
                </a:solidFill>
              </a:rPr>
              <a:t>Sostanza separata dalla forma, sulle evidenze</a:t>
            </a:r>
            <a:endParaRPr lang="en-US" sz="1000" dirty="0"/>
          </a:p>
        </p:txBody>
      </p:sp>
      <p:sp>
        <p:nvSpPr>
          <p:cNvPr id="8" name="risposta 2"/>
          <p:cNvSpPr/>
          <p:nvPr/>
        </p:nvSpPr>
        <p:spPr>
          <a:xfrm>
            <a:off x="4663440" y="1024128"/>
            <a:ext cx="4023360" cy="548640"/>
          </a:xfrm>
          <a:prstGeom prst="roundRect">
            <a:avLst>
              <a:gd name="adj" fmla="val 13333"/>
            </a:avLst>
          </a:prstGeom>
          <a:solidFill>
            <a:schemeClr val="bg2"/>
          </a:solidFill>
          <a:ln/>
        </p:spPr>
      </p:sp>
      <p:sp>
        <p:nvSpPr>
          <p:cNvPr id="9" name="Text 6"/>
          <p:cNvSpPr txBox="1"/>
          <p:nvPr/>
        </p:nvSpPr>
        <p:spPr>
          <a:xfrm>
            <a:off x="4754880" y="102412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51560"/>
            <a:ext cx="3474720" cy="256032"/>
          </a:xfrm>
          <a:prstGeom prst="rect">
            <a:avLst/>
          </a:prstGeom>
          <a:noFill/>
          <a:ln/>
        </p:spPr>
        <p:txBody>
          <a:bodyPr wrap="square" lIns="0" tIns="0" rIns="0" bIns="0" rtlCol="0" anchor="t"/>
          <a:lstStyle/>
          <a:p>
            <a:pPr indent="0" marL="0">
              <a:buNone/>
            </a:pPr>
            <a:r>
              <a:rPr lang="en-US" sz="1100" b="1" dirty="0">
                <a:solidFill>
                  <a:schemeClr val="tx1"/>
                </a:solidFill>
              </a:rPr>
              <a:t>Che cosa rende un output utilizzabile?</a:t>
            </a:r>
            <a:endParaRPr lang="en-US" sz="1100" dirty="0"/>
          </a:p>
        </p:txBody>
      </p:sp>
      <p:sp>
        <p:nvSpPr>
          <p:cNvPr id="11" name="Text 8"/>
          <p:cNvSpPr txBox="1"/>
          <p:nvPr/>
        </p:nvSpPr>
        <p:spPr>
          <a:xfrm>
            <a:off x="5166360" y="1298448"/>
            <a:ext cx="3474720" cy="256032"/>
          </a:xfrm>
          <a:prstGeom prst="rect">
            <a:avLst/>
          </a:prstGeom>
          <a:noFill/>
          <a:ln/>
        </p:spPr>
        <p:txBody>
          <a:bodyPr wrap="square" lIns="0" tIns="0" rIns="0" bIns="0" rtlCol="0" anchor="t"/>
          <a:lstStyle/>
          <a:p>
            <a:pPr indent="0" marL="0">
              <a:buNone/>
            </a:pPr>
            <a:r>
              <a:rPr lang="en-US" sz="1000" dirty="0">
                <a:solidFill>
                  <a:schemeClr val="tx2"/>
                </a:solidFill>
              </a:rPr>
              <a:t>Accuratezza, pertinenza, completezza, coerenza</a:t>
            </a:r>
            <a:endParaRPr lang="en-US" sz="1000" dirty="0"/>
          </a:p>
        </p:txBody>
      </p:sp>
      <p:sp>
        <p:nvSpPr>
          <p:cNvPr id="12" name="risposta 3"/>
          <p:cNvSpPr/>
          <p:nvPr/>
        </p:nvSpPr>
        <p:spPr>
          <a:xfrm>
            <a:off x="457200" y="1627632"/>
            <a:ext cx="4023360" cy="548640"/>
          </a:xfrm>
          <a:prstGeom prst="roundRect">
            <a:avLst>
              <a:gd name="adj" fmla="val 13333"/>
            </a:avLst>
          </a:prstGeom>
          <a:solidFill>
            <a:schemeClr val="bg2"/>
          </a:solidFill>
          <a:ln/>
        </p:spPr>
      </p:sp>
      <p:sp>
        <p:nvSpPr>
          <p:cNvPr id="13" name="Text 10"/>
          <p:cNvSpPr txBox="1"/>
          <p:nvPr/>
        </p:nvSpPr>
        <p:spPr>
          <a:xfrm>
            <a:off x="548640" y="1627632"/>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655064"/>
            <a:ext cx="3474720" cy="256032"/>
          </a:xfrm>
          <a:prstGeom prst="rect">
            <a:avLst/>
          </a:prstGeom>
          <a:noFill/>
          <a:ln/>
        </p:spPr>
        <p:txBody>
          <a:bodyPr wrap="square" lIns="0" tIns="0" rIns="0" bIns="0" rtlCol="0" anchor="t"/>
          <a:lstStyle/>
          <a:p>
            <a:pPr indent="0" marL="0">
              <a:buNone/>
            </a:pPr>
            <a:r>
              <a:rPr lang="en-US" sz="1100" b="1" dirty="0">
                <a:solidFill>
                  <a:schemeClr val="tx1"/>
                </a:solidFill>
              </a:rPr>
              <a:t>Che cosa manca?</a:t>
            </a:r>
            <a:endParaRPr lang="en-US" sz="1100" dirty="0"/>
          </a:p>
        </p:txBody>
      </p:sp>
      <p:sp>
        <p:nvSpPr>
          <p:cNvPr id="15" name="Text 12"/>
          <p:cNvSpPr txBox="1"/>
          <p:nvPr/>
        </p:nvSpPr>
        <p:spPr>
          <a:xfrm>
            <a:off x="960120" y="1901952"/>
            <a:ext cx="3474720" cy="256032"/>
          </a:xfrm>
          <a:prstGeom prst="rect">
            <a:avLst/>
          </a:prstGeom>
          <a:noFill/>
          <a:ln/>
        </p:spPr>
        <p:txBody>
          <a:bodyPr wrap="square" lIns="0" tIns="0" rIns="0" bIns="0" rtlCol="0" anchor="t"/>
          <a:lstStyle/>
          <a:p>
            <a:pPr indent="0" marL="0">
              <a:buNone/>
            </a:pPr>
            <a:r>
              <a:rPr lang="en-US" sz="1000" dirty="0">
                <a:solidFill>
                  <a:schemeClr val="tx2"/>
                </a:solidFill>
              </a:rPr>
              <a:t>Attese, eccezioni, l'altra metà, la fonte</a:t>
            </a:r>
            <a:endParaRPr lang="en-US" sz="1000" dirty="0"/>
          </a:p>
        </p:txBody>
      </p:sp>
      <p:sp>
        <p:nvSpPr>
          <p:cNvPr id="16" name="risposta 4"/>
          <p:cNvSpPr/>
          <p:nvPr/>
        </p:nvSpPr>
        <p:spPr>
          <a:xfrm>
            <a:off x="4663440" y="1627632"/>
            <a:ext cx="4023360" cy="548640"/>
          </a:xfrm>
          <a:prstGeom prst="roundRect">
            <a:avLst>
              <a:gd name="adj" fmla="val 13333"/>
            </a:avLst>
          </a:prstGeom>
          <a:solidFill>
            <a:schemeClr val="bg2"/>
          </a:solidFill>
          <a:ln/>
        </p:spPr>
      </p:sp>
      <p:sp>
        <p:nvSpPr>
          <p:cNvPr id="17" name="Text 14"/>
          <p:cNvSpPr txBox="1"/>
          <p:nvPr/>
        </p:nvSpPr>
        <p:spPr>
          <a:xfrm>
            <a:off x="4754880" y="1627632"/>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655064"/>
            <a:ext cx="3474720" cy="256032"/>
          </a:xfrm>
          <a:prstGeom prst="rect">
            <a:avLst/>
          </a:prstGeom>
          <a:noFill/>
          <a:ln/>
        </p:spPr>
        <p:txBody>
          <a:bodyPr wrap="square" lIns="0" tIns="0" rIns="0" bIns="0" rtlCol="0" anchor="t"/>
          <a:lstStyle/>
          <a:p>
            <a:pPr indent="0" marL="0">
              <a:buNone/>
            </a:pPr>
            <a:r>
              <a:rPr lang="en-US" sz="1100" b="1" dirty="0">
                <a:solidFill>
                  <a:schemeClr val="tx1"/>
                </a:solidFill>
              </a:rPr>
              <a:t>La fonte sostiene l'affermazione?</a:t>
            </a:r>
            <a:endParaRPr lang="en-US" sz="1100" dirty="0"/>
          </a:p>
        </p:txBody>
      </p:sp>
      <p:sp>
        <p:nvSpPr>
          <p:cNvPr id="19" name="Text 16"/>
          <p:cNvSpPr txBox="1"/>
          <p:nvPr/>
        </p:nvSpPr>
        <p:spPr>
          <a:xfrm>
            <a:off x="5166360" y="1901952"/>
            <a:ext cx="3474720" cy="256032"/>
          </a:xfrm>
          <a:prstGeom prst="rect">
            <a:avLst/>
          </a:prstGeom>
          <a:noFill/>
          <a:ln/>
        </p:spPr>
        <p:txBody>
          <a:bodyPr wrap="square" lIns="0" tIns="0" rIns="0" bIns="0" rtlCol="0" anchor="t"/>
          <a:lstStyle/>
          <a:p>
            <a:pPr indent="0" marL="0">
              <a:buNone/>
            </a:pPr>
            <a:r>
              <a:rPr lang="en-US" sz="1000" dirty="0">
                <a:solidFill>
                  <a:schemeClr val="tx2"/>
                </a:solidFill>
              </a:rPr>
              <a:t>Autentica, pertinente, di supporto</a:t>
            </a:r>
            <a:endParaRPr lang="en-US" sz="1000" dirty="0"/>
          </a:p>
        </p:txBody>
      </p:sp>
      <p:sp>
        <p:nvSpPr>
          <p:cNvPr id="20" name="risposta 5"/>
          <p:cNvSpPr/>
          <p:nvPr/>
        </p:nvSpPr>
        <p:spPr>
          <a:xfrm>
            <a:off x="457200" y="2231136"/>
            <a:ext cx="4023360" cy="548640"/>
          </a:xfrm>
          <a:prstGeom prst="roundRect">
            <a:avLst>
              <a:gd name="adj" fmla="val 13333"/>
            </a:avLst>
          </a:prstGeom>
          <a:solidFill>
            <a:schemeClr val="bg2"/>
          </a:solidFill>
          <a:ln/>
        </p:spPr>
      </p:sp>
      <p:sp>
        <p:nvSpPr>
          <p:cNvPr id="21" name="Text 18"/>
          <p:cNvSpPr txBox="1"/>
          <p:nvPr/>
        </p:nvSpPr>
        <p:spPr>
          <a:xfrm>
            <a:off x="548640" y="2231136"/>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258568"/>
            <a:ext cx="3474720" cy="256032"/>
          </a:xfrm>
          <a:prstGeom prst="rect">
            <a:avLst/>
          </a:prstGeom>
          <a:noFill/>
          <a:ln/>
        </p:spPr>
        <p:txBody>
          <a:bodyPr wrap="square" lIns="0" tIns="0" rIns="0" bIns="0" rtlCol="0" anchor="t"/>
          <a:lstStyle/>
          <a:p>
            <a:pPr indent="0" marL="0">
              <a:buNone/>
            </a:pPr>
            <a:r>
              <a:rPr lang="en-US" sz="1100" b="1" dirty="0">
                <a:solidFill>
                  <a:schemeClr val="tx1"/>
                </a:solidFill>
              </a:rPr>
              <a:t>Premesse e conclusioni?</a:t>
            </a:r>
            <a:endParaRPr lang="en-US" sz="1100" dirty="0"/>
          </a:p>
        </p:txBody>
      </p:sp>
      <p:sp>
        <p:nvSpPr>
          <p:cNvPr id="23" name="Text 20"/>
          <p:cNvSpPr txBox="1"/>
          <p:nvPr/>
        </p:nvSpPr>
        <p:spPr>
          <a:xfrm>
            <a:off x="960120" y="2505456"/>
            <a:ext cx="3474720" cy="256032"/>
          </a:xfrm>
          <a:prstGeom prst="rect">
            <a:avLst/>
          </a:prstGeom>
          <a:noFill/>
          <a:ln/>
        </p:spPr>
        <p:txBody>
          <a:bodyPr wrap="square" lIns="0" tIns="0" rIns="0" bIns="0" rtlCol="0" anchor="t"/>
          <a:lstStyle/>
          <a:p>
            <a:pPr indent="0" marL="0">
              <a:buNone/>
            </a:pPr>
            <a:r>
              <a:rPr lang="en-US" sz="1000" dirty="0">
                <a:solidFill>
                  <a:schemeClr val="tx2"/>
                </a:solidFill>
              </a:rPr>
              <a:t>Scomporre e cercare i difetti tipici</a:t>
            </a:r>
            <a:endParaRPr lang="en-US" sz="1000" dirty="0"/>
          </a:p>
        </p:txBody>
      </p:sp>
      <p:sp>
        <p:nvSpPr>
          <p:cNvPr id="24" name="risposta 6"/>
          <p:cNvSpPr/>
          <p:nvPr/>
        </p:nvSpPr>
        <p:spPr>
          <a:xfrm>
            <a:off x="4663440" y="2231136"/>
            <a:ext cx="4023360" cy="548640"/>
          </a:xfrm>
          <a:prstGeom prst="roundRect">
            <a:avLst>
              <a:gd name="adj" fmla="val 13333"/>
            </a:avLst>
          </a:prstGeom>
          <a:solidFill>
            <a:schemeClr val="bg2"/>
          </a:solidFill>
          <a:ln/>
        </p:spPr>
      </p:sp>
      <p:sp>
        <p:nvSpPr>
          <p:cNvPr id="25" name="Text 22"/>
          <p:cNvSpPr txBox="1"/>
          <p:nvPr/>
        </p:nvSpPr>
        <p:spPr>
          <a:xfrm>
            <a:off x="4754880" y="2231136"/>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258568"/>
            <a:ext cx="3474720" cy="256032"/>
          </a:xfrm>
          <a:prstGeom prst="rect">
            <a:avLst/>
          </a:prstGeom>
          <a:noFill/>
          <a:ln/>
        </p:spPr>
        <p:txBody>
          <a:bodyPr wrap="square" lIns="0" tIns="0" rIns="0" bIns="0" rtlCol="0" anchor="t"/>
          <a:lstStyle/>
          <a:p>
            <a:pPr indent="0" marL="0">
              <a:buNone/>
            </a:pPr>
            <a:r>
              <a:rPr lang="en-US" sz="1100" b="1" dirty="0">
                <a:solidFill>
                  <a:schemeClr val="tx1"/>
                </a:solidFill>
              </a:rPr>
              <a:t>Numeri, formule, grafici?</a:t>
            </a:r>
            <a:endParaRPr lang="en-US" sz="1100" dirty="0"/>
          </a:p>
        </p:txBody>
      </p:sp>
      <p:sp>
        <p:nvSpPr>
          <p:cNvPr id="27" name="Text 24"/>
          <p:cNvSpPr txBox="1"/>
          <p:nvPr/>
        </p:nvSpPr>
        <p:spPr>
          <a:xfrm>
            <a:off x="5166360" y="2505456"/>
            <a:ext cx="3474720" cy="256032"/>
          </a:xfrm>
          <a:prstGeom prst="rect">
            <a:avLst/>
          </a:prstGeom>
          <a:noFill/>
          <a:ln/>
        </p:spPr>
        <p:txBody>
          <a:bodyPr wrap="square" lIns="0" tIns="0" rIns="0" bIns="0" rtlCol="0" anchor="t"/>
          <a:lstStyle/>
          <a:p>
            <a:pPr indent="0" marL="0">
              <a:buNone/>
            </a:pPr>
            <a:r>
              <a:rPr lang="en-US" sz="1000" dirty="0">
                <a:solidFill>
                  <a:schemeClr val="tx2"/>
                </a:solidFill>
              </a:rPr>
              <a:t>Dati, unità, plausibilità, ricalcolo</a:t>
            </a:r>
            <a:endParaRPr lang="en-US" sz="1000" dirty="0"/>
          </a:p>
        </p:txBody>
      </p:sp>
      <p:sp>
        <p:nvSpPr>
          <p:cNvPr id="28" name="risposta 7"/>
          <p:cNvSpPr/>
          <p:nvPr/>
        </p:nvSpPr>
        <p:spPr>
          <a:xfrm>
            <a:off x="457200" y="2834640"/>
            <a:ext cx="4023360" cy="548640"/>
          </a:xfrm>
          <a:prstGeom prst="roundRect">
            <a:avLst>
              <a:gd name="adj" fmla="val 13333"/>
            </a:avLst>
          </a:prstGeom>
          <a:solidFill>
            <a:schemeClr val="bg2"/>
          </a:solidFill>
          <a:ln/>
        </p:spPr>
      </p:sp>
      <p:sp>
        <p:nvSpPr>
          <p:cNvPr id="29" name="Text 26"/>
          <p:cNvSpPr txBox="1"/>
          <p:nvPr/>
        </p:nvSpPr>
        <p:spPr>
          <a:xfrm>
            <a:off x="548640" y="2834640"/>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2862072"/>
            <a:ext cx="3474720" cy="256032"/>
          </a:xfrm>
          <a:prstGeom prst="rect">
            <a:avLst/>
          </a:prstGeom>
          <a:noFill/>
          <a:ln/>
        </p:spPr>
        <p:txBody>
          <a:bodyPr wrap="square" lIns="0" tIns="0" rIns="0" bIns="0" rtlCol="0" anchor="t"/>
          <a:lstStyle/>
          <a:p>
            <a:pPr indent="0" marL="0">
              <a:buNone/>
            </a:pPr>
            <a:r>
              <a:rPr lang="en-US" sz="1100" b="1" dirty="0">
                <a:solidFill>
                  <a:schemeClr val="tx1"/>
                </a:solidFill>
              </a:rPr>
              <a:t>Autoverifica o verifica?</a:t>
            </a:r>
            <a:endParaRPr lang="en-US" sz="1100" dirty="0"/>
          </a:p>
        </p:txBody>
      </p:sp>
      <p:sp>
        <p:nvSpPr>
          <p:cNvPr id="31" name="Text 28"/>
          <p:cNvSpPr txBox="1"/>
          <p:nvPr/>
        </p:nvSpPr>
        <p:spPr>
          <a:xfrm>
            <a:off x="960120" y="3108960"/>
            <a:ext cx="3474720" cy="256032"/>
          </a:xfrm>
          <a:prstGeom prst="rect">
            <a:avLst/>
          </a:prstGeom>
          <a:noFill/>
          <a:ln/>
        </p:spPr>
        <p:txBody>
          <a:bodyPr wrap="square" lIns="0" tIns="0" rIns="0" bIns="0" rtlCol="0" anchor="t"/>
          <a:lstStyle/>
          <a:p>
            <a:pPr indent="0" marL="0">
              <a:buNone/>
            </a:pPr>
            <a:r>
              <a:rPr lang="en-US" sz="1000" dirty="0">
                <a:solidFill>
                  <a:schemeClr val="tx2"/>
                </a:solidFill>
              </a:rPr>
              <a:t>La prima trova dubbi, la seconda prove</a:t>
            </a:r>
            <a:endParaRPr lang="en-US" sz="1000" dirty="0"/>
          </a:p>
        </p:txBody>
      </p:sp>
      <p:sp>
        <p:nvSpPr>
          <p:cNvPr id="32" name="risposta 8"/>
          <p:cNvSpPr/>
          <p:nvPr/>
        </p:nvSpPr>
        <p:spPr>
          <a:xfrm>
            <a:off x="4663440" y="2834640"/>
            <a:ext cx="4023360" cy="548640"/>
          </a:xfrm>
          <a:prstGeom prst="roundRect">
            <a:avLst>
              <a:gd name="adj" fmla="val 13333"/>
            </a:avLst>
          </a:prstGeom>
          <a:solidFill>
            <a:schemeClr val="bg2"/>
          </a:solidFill>
          <a:ln/>
        </p:spPr>
      </p:sp>
      <p:sp>
        <p:nvSpPr>
          <p:cNvPr id="33" name="Text 30"/>
          <p:cNvSpPr txBox="1"/>
          <p:nvPr/>
        </p:nvSpPr>
        <p:spPr>
          <a:xfrm>
            <a:off x="4754880" y="2834640"/>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2862072"/>
            <a:ext cx="3474720" cy="256032"/>
          </a:xfrm>
          <a:prstGeom prst="rect">
            <a:avLst/>
          </a:prstGeom>
          <a:noFill/>
          <a:ln/>
        </p:spPr>
        <p:txBody>
          <a:bodyPr wrap="square" lIns="0" tIns="0" rIns="0" bIns="0" rtlCol="0" anchor="t"/>
          <a:lstStyle/>
          <a:p>
            <a:pPr indent="0" marL="0">
              <a:buNone/>
            </a:pPr>
            <a:r>
              <a:rPr lang="en-US" sz="1100" b="1" dirty="0">
                <a:solidFill>
                  <a:schemeClr val="tx1"/>
                </a:solidFill>
              </a:rPr>
              <a:t>Quali bias?</a:t>
            </a:r>
            <a:endParaRPr lang="en-US" sz="1100" dirty="0"/>
          </a:p>
        </p:txBody>
      </p:sp>
      <p:sp>
        <p:nvSpPr>
          <p:cNvPr id="35" name="Text 32"/>
          <p:cNvSpPr txBox="1"/>
          <p:nvPr/>
        </p:nvSpPr>
        <p:spPr>
          <a:xfrm>
            <a:off x="5166360" y="3108960"/>
            <a:ext cx="3474720" cy="256032"/>
          </a:xfrm>
          <a:prstGeom prst="rect">
            <a:avLst/>
          </a:prstGeom>
          <a:noFill/>
          <a:ln/>
        </p:spPr>
        <p:txBody>
          <a:bodyPr wrap="square" lIns="0" tIns="0" rIns="0" bIns="0" rtlCol="0" anchor="t"/>
          <a:lstStyle/>
          <a:p>
            <a:pPr indent="0" marL="0">
              <a:buNone/>
            </a:pPr>
            <a:r>
              <a:rPr lang="en-US" sz="1000" dirty="0">
                <a:solidFill>
                  <a:schemeClr val="tx2"/>
                </a:solidFill>
              </a:rPr>
              <a:t>Conferma, automazione, fluidità, sfiducia</a:t>
            </a:r>
            <a:endParaRPr lang="en-US" sz="1000" dirty="0"/>
          </a:p>
        </p:txBody>
      </p:sp>
      <p:sp>
        <p:nvSpPr>
          <p:cNvPr id="36" name="risposta 9"/>
          <p:cNvSpPr/>
          <p:nvPr/>
        </p:nvSpPr>
        <p:spPr>
          <a:xfrm>
            <a:off x="457200" y="3438144"/>
            <a:ext cx="4023360" cy="548640"/>
          </a:xfrm>
          <a:prstGeom prst="roundRect">
            <a:avLst>
              <a:gd name="adj" fmla="val 13333"/>
            </a:avLst>
          </a:prstGeom>
          <a:solidFill>
            <a:schemeClr val="bg2"/>
          </a:solidFill>
          <a:ln/>
        </p:spPr>
      </p:sp>
      <p:sp>
        <p:nvSpPr>
          <p:cNvPr id="37" name="Text 34"/>
          <p:cNvSpPr txBox="1"/>
          <p:nvPr/>
        </p:nvSpPr>
        <p:spPr>
          <a:xfrm>
            <a:off x="548640" y="3438144"/>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465576"/>
            <a:ext cx="3474720" cy="256032"/>
          </a:xfrm>
          <a:prstGeom prst="rect">
            <a:avLst/>
          </a:prstGeom>
          <a:noFill/>
          <a:ln/>
        </p:spPr>
        <p:txBody>
          <a:bodyPr wrap="square" lIns="0" tIns="0" rIns="0" bIns="0" rtlCol="0" anchor="t"/>
          <a:lstStyle/>
          <a:p>
            <a:pPr indent="0" marL="0">
              <a:buNone/>
            </a:pPr>
            <a:r>
              <a:rPr lang="en-US" sz="1100" b="1" dirty="0">
                <a:solidFill>
                  <a:schemeClr val="tx1"/>
                </a:solidFill>
              </a:rPr>
              <a:t>Fatti o incertezze?</a:t>
            </a:r>
            <a:endParaRPr lang="en-US" sz="1100" dirty="0"/>
          </a:p>
        </p:txBody>
      </p:sp>
      <p:sp>
        <p:nvSpPr>
          <p:cNvPr id="39" name="Text 36"/>
          <p:cNvSpPr txBox="1"/>
          <p:nvPr/>
        </p:nvSpPr>
        <p:spPr>
          <a:xfrm>
            <a:off x="960120" y="3712464"/>
            <a:ext cx="3474720" cy="256032"/>
          </a:xfrm>
          <a:prstGeom prst="rect">
            <a:avLst/>
          </a:prstGeom>
          <a:noFill/>
          <a:ln/>
        </p:spPr>
        <p:txBody>
          <a:bodyPr wrap="square" lIns="0" tIns="0" rIns="0" bIns="0" rtlCol="0" anchor="t"/>
          <a:lstStyle/>
          <a:p>
            <a:pPr indent="0" marL="0">
              <a:buNone/>
            </a:pPr>
            <a:r>
              <a:rPr lang="en-US" sz="1000" dirty="0">
                <a:solidFill>
                  <a:schemeClr val="tx2"/>
                </a:solidFill>
              </a:rPr>
              <a:t>Livelli diversi, il tono non li rivela</a:t>
            </a:r>
            <a:endParaRPr lang="en-US" sz="1000" dirty="0"/>
          </a:p>
        </p:txBody>
      </p:sp>
      <p:sp>
        <p:nvSpPr>
          <p:cNvPr id="40" name="risposta 10"/>
          <p:cNvSpPr/>
          <p:nvPr/>
        </p:nvSpPr>
        <p:spPr>
          <a:xfrm>
            <a:off x="4663440" y="3438144"/>
            <a:ext cx="4023360" cy="548640"/>
          </a:xfrm>
          <a:prstGeom prst="roundRect">
            <a:avLst>
              <a:gd name="adj" fmla="val 13333"/>
            </a:avLst>
          </a:prstGeom>
          <a:solidFill>
            <a:schemeClr val="bg2"/>
          </a:solidFill>
          <a:ln/>
        </p:spPr>
      </p:sp>
      <p:sp>
        <p:nvSpPr>
          <p:cNvPr id="41" name="Text 38"/>
          <p:cNvSpPr txBox="1"/>
          <p:nvPr/>
        </p:nvSpPr>
        <p:spPr>
          <a:xfrm>
            <a:off x="4754880" y="3438144"/>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42" name="Text 39"/>
          <p:cNvSpPr txBox="1"/>
          <p:nvPr/>
        </p:nvSpPr>
        <p:spPr>
          <a:xfrm>
            <a:off x="5166360" y="3465576"/>
            <a:ext cx="3474720" cy="256032"/>
          </a:xfrm>
          <a:prstGeom prst="rect">
            <a:avLst/>
          </a:prstGeom>
          <a:noFill/>
          <a:ln/>
        </p:spPr>
        <p:txBody>
          <a:bodyPr wrap="square" lIns="0" tIns="0" rIns="0" bIns="0" rtlCol="0" anchor="t"/>
          <a:lstStyle/>
          <a:p>
            <a:pPr indent="0" marL="0">
              <a:buNone/>
            </a:pPr>
            <a:r>
              <a:rPr lang="en-US" sz="1100" b="1" dirty="0">
                <a:solidFill>
                  <a:schemeClr val="tx1"/>
                </a:solidFill>
              </a:rPr>
              <a:t>Quale livello di verifica?</a:t>
            </a:r>
            <a:endParaRPr lang="en-US" sz="1100" dirty="0"/>
          </a:p>
        </p:txBody>
      </p:sp>
      <p:sp>
        <p:nvSpPr>
          <p:cNvPr id="43" name="Text 40"/>
          <p:cNvSpPr txBox="1"/>
          <p:nvPr/>
        </p:nvSpPr>
        <p:spPr>
          <a:xfrm>
            <a:off x="5166360" y="3712464"/>
            <a:ext cx="3474720" cy="256032"/>
          </a:xfrm>
          <a:prstGeom prst="rect">
            <a:avLst/>
          </a:prstGeom>
          <a:noFill/>
          <a:ln/>
        </p:spPr>
        <p:txBody>
          <a:bodyPr wrap="square" lIns="0" tIns="0" rIns="0" bIns="0" rtlCol="0" anchor="t"/>
          <a:lstStyle/>
          <a:p>
            <a:pPr indent="0" marL="0">
              <a:buNone/>
            </a:pPr>
            <a:r>
              <a:rPr lang="en-US" sz="1000" dirty="0">
                <a:solidFill>
                  <a:schemeClr val="tx2"/>
                </a:solidFill>
              </a:rPr>
              <a:t>Proporzionato a probabilità e impatto</a:t>
            </a:r>
            <a:endParaRPr lang="en-US" sz="1000" dirty="0"/>
          </a:p>
        </p:txBody>
      </p:sp>
      <p:sp>
        <p:nvSpPr>
          <p:cNvPr id="44" name="risposta 11"/>
          <p:cNvSpPr/>
          <p:nvPr/>
        </p:nvSpPr>
        <p:spPr>
          <a:xfrm>
            <a:off x="457200" y="4041648"/>
            <a:ext cx="4023360" cy="548640"/>
          </a:xfrm>
          <a:prstGeom prst="roundRect">
            <a:avLst>
              <a:gd name="adj" fmla="val 13333"/>
            </a:avLst>
          </a:prstGeom>
          <a:solidFill>
            <a:schemeClr val="bg2"/>
          </a:solidFill>
          <a:ln/>
        </p:spPr>
      </p:sp>
      <p:sp>
        <p:nvSpPr>
          <p:cNvPr id="45" name="Text 42"/>
          <p:cNvSpPr txBox="1"/>
          <p:nvPr/>
        </p:nvSpPr>
        <p:spPr>
          <a:xfrm>
            <a:off x="548640" y="404164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46" name="Text 43"/>
          <p:cNvSpPr txBox="1"/>
          <p:nvPr/>
        </p:nvSpPr>
        <p:spPr>
          <a:xfrm>
            <a:off x="960120" y="4069080"/>
            <a:ext cx="3474720" cy="256032"/>
          </a:xfrm>
          <a:prstGeom prst="rect">
            <a:avLst/>
          </a:prstGeom>
          <a:noFill/>
          <a:ln/>
        </p:spPr>
        <p:txBody>
          <a:bodyPr wrap="square" lIns="0" tIns="0" rIns="0" bIns="0" rtlCol="0" anchor="t"/>
          <a:lstStyle/>
          <a:p>
            <a:pPr indent="0" marL="0">
              <a:buNone/>
            </a:pPr>
            <a:r>
              <a:rPr lang="en-US" sz="1100" b="1" dirty="0">
                <a:solidFill>
                  <a:schemeClr val="tx1"/>
                </a:solidFill>
              </a:rPr>
              <a:t>Esperto o rifiuto?</a:t>
            </a:r>
            <a:endParaRPr lang="en-US" sz="1100" dirty="0"/>
          </a:p>
        </p:txBody>
      </p:sp>
      <p:sp>
        <p:nvSpPr>
          <p:cNvPr id="47" name="Text 44"/>
          <p:cNvSpPr txBox="1"/>
          <p:nvPr/>
        </p:nvSpPr>
        <p:spPr>
          <a:xfrm>
            <a:off x="960120" y="4315968"/>
            <a:ext cx="3474720" cy="256032"/>
          </a:xfrm>
          <a:prstGeom prst="rect">
            <a:avLst/>
          </a:prstGeom>
          <a:noFill/>
          <a:ln/>
        </p:spPr>
        <p:txBody>
          <a:bodyPr wrap="square" lIns="0" tIns="0" rIns="0" bIns="0" rtlCol="0" anchor="t"/>
          <a:lstStyle/>
          <a:p>
            <a:pPr indent="0" marL="0">
              <a:buNone/>
            </a:pPr>
            <a:r>
              <a:rPr lang="en-US" sz="1000" dirty="0">
                <a:solidFill>
                  <a:schemeClr val="tx2"/>
                </a:solidFill>
              </a:rPr>
              <a:t>Competenze mancanti, conseguenze, incertezza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plausibilità e correttezza</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Valutare pertinenza, accuratezza, completezza, coerenza</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Identificare le affermazioni da verificare</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Controllare fonti in modo indipendente</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Riconoscere conclusioni non giustificate</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Individuare omissioni, ipotesi, eccezioni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Verificare dati e calcoli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autoverifica e verifica indipendente</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Riconoscere i propri bias e regolare la fiducia</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fatti, supposizioni, incertezze</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Controlli proporzionati al rischio</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Accettare, modificare, approfondire, rifiutare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verificare, decidere: una scheda pratica</a:t>
            </a:r>
            <a:endParaRPr lang="en-US" sz="2600" dirty="0"/>
          </a:p>
        </p:txBody>
      </p:sp>
      <p:sp>
        <p:nvSpPr>
          <p:cNvPr id="4" name="Valutare"/>
          <p:cNvSpPr/>
          <p:nvPr/>
        </p:nvSpPr>
        <p:spPr>
          <a:xfrm>
            <a:off x="457200" y="1051560"/>
            <a:ext cx="2615184" cy="2743200"/>
          </a:xfrm>
          <a:prstGeom prst="roundRect">
            <a:avLst>
              <a:gd name="adj" fmla="val 2797"/>
            </a:avLst>
          </a:prstGeom>
          <a:solidFill>
            <a:schemeClr val="bg2"/>
          </a:solidFill>
          <a:ln/>
        </p:spPr>
      </p:sp>
      <p:sp>
        <p:nvSpPr>
          <p:cNvPr id="5" name="Text 2"/>
          <p:cNvSpPr txBox="1"/>
          <p:nvPr/>
        </p:nvSpPr>
        <p:spPr>
          <a:xfrm>
            <a:off x="640080"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Valutare</a:t>
            </a:r>
            <a:endParaRPr lang="en-US" sz="1800" dirty="0"/>
          </a:p>
        </p:txBody>
      </p:sp>
      <p:sp>
        <p:nvSpPr>
          <p:cNvPr id="6" name="Text 3"/>
          <p:cNvSpPr txBox="1"/>
          <p:nvPr/>
        </p:nvSpPr>
        <p:spPr>
          <a:xfrm>
            <a:off x="640080" y="1600200"/>
            <a:ext cx="2286000" cy="21031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Che cosa sostiene? Fatti, opinioni, ipotesi, interpretazioni</a:t>
            </a:r>
            <a:endParaRPr lang="en-US" sz="1200" dirty="0"/>
          </a:p>
          <a:p>
            <a:pPr marL="177800" indent="-177800">
              <a:spcAft>
                <a:spcPts val="600"/>
              </a:spcAft>
              <a:buSzPct val="100000"/>
              <a:buChar char="•"/>
            </a:pPr>
            <a:r>
              <a:rPr lang="en-US" sz="1200" dirty="0">
                <a:solidFill>
                  <a:schemeClr val="tx1"/>
                </a:solidFill>
              </a:rPr>
              <a:t>Pertinente, completo, coerente? Che cosa manca?</a:t>
            </a:r>
            <a:endParaRPr lang="en-US" sz="1200" dirty="0"/>
          </a:p>
          <a:p>
            <a:pPr marL="177800" indent="-177800">
              <a:spcAft>
                <a:spcPts val="600"/>
              </a:spcAft>
              <a:buSzPct val="100000"/>
              <a:buChar char="•"/>
            </a:pPr>
            <a:r>
              <a:rPr lang="en-US" sz="1200" dirty="0">
                <a:solidFill>
                  <a:schemeClr val="tx1"/>
                </a:solidFill>
              </a:rPr>
              <a:t>Il ragionamento regge?</a:t>
            </a:r>
            <a:endParaRPr lang="en-US" sz="1200" dirty="0"/>
          </a:p>
        </p:txBody>
      </p:sp>
      <p:sp>
        <p:nvSpPr>
          <p:cNvPr id="7" name="Verificare"/>
          <p:cNvSpPr/>
          <p:nvPr/>
        </p:nvSpPr>
        <p:spPr>
          <a:xfrm>
            <a:off x="3264408" y="1051560"/>
            <a:ext cx="2615184" cy="2743200"/>
          </a:xfrm>
          <a:prstGeom prst="roundRect">
            <a:avLst>
              <a:gd name="adj" fmla="val 2797"/>
            </a:avLst>
          </a:prstGeom>
          <a:solidFill>
            <a:schemeClr val="accent6"/>
          </a:solidFill>
          <a:ln/>
        </p:spPr>
      </p:sp>
      <p:sp>
        <p:nvSpPr>
          <p:cNvPr id="8" name="Text 5"/>
          <p:cNvSpPr txBox="1"/>
          <p:nvPr/>
        </p:nvSpPr>
        <p:spPr>
          <a:xfrm>
            <a:off x="3447288"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Verificare</a:t>
            </a:r>
            <a:endParaRPr lang="en-US" sz="1800" dirty="0"/>
          </a:p>
        </p:txBody>
      </p:sp>
      <p:sp>
        <p:nvSpPr>
          <p:cNvPr id="9" name="Text 6"/>
          <p:cNvSpPr txBox="1"/>
          <p:nvPr/>
        </p:nvSpPr>
        <p:spPr>
          <a:xfrm>
            <a:off x="3447288" y="1600200"/>
            <a:ext cx="2286000" cy="21031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Punti critici: importanza, rischio, visibilità</a:t>
            </a:r>
            <a:endParaRPr lang="en-US" sz="1200" dirty="0"/>
          </a:p>
          <a:p>
            <a:pPr marL="177800" indent="-177800">
              <a:spcAft>
                <a:spcPts val="600"/>
              </a:spcAft>
              <a:buSzPct val="100000"/>
              <a:buChar char="•"/>
            </a:pPr>
            <a:r>
              <a:rPr lang="en-US" sz="1200" dirty="0">
                <a:solidFill>
                  <a:schemeClr val="tx1"/>
                </a:solidFill>
              </a:rPr>
              <a:t>Fonti primarie e indipendenti; ricalcolo dei numeri</a:t>
            </a:r>
            <a:endParaRPr lang="en-US" sz="1200" dirty="0"/>
          </a:p>
          <a:p>
            <a:pPr marL="177800" indent="-177800">
              <a:spcAft>
                <a:spcPts val="600"/>
              </a:spcAft>
              <a:buSzPct val="100000"/>
              <a:buChar char="•"/>
            </a:pPr>
            <a:r>
              <a:rPr lang="en-US" sz="1200" dirty="0">
                <a:solidFill>
                  <a:schemeClr val="tx1"/>
                </a:solidFill>
              </a:rPr>
              <a:t>Revisione assistita per trovare i dubbi, non come prova</a:t>
            </a:r>
            <a:endParaRPr lang="en-US" sz="1200" dirty="0"/>
          </a:p>
        </p:txBody>
      </p:sp>
      <p:sp>
        <p:nvSpPr>
          <p:cNvPr id="10" name="Decidere"/>
          <p:cNvSpPr/>
          <p:nvPr/>
        </p:nvSpPr>
        <p:spPr>
          <a:xfrm>
            <a:off x="6071616" y="1051560"/>
            <a:ext cx="2615184" cy="2743200"/>
          </a:xfrm>
          <a:prstGeom prst="roundRect">
            <a:avLst>
              <a:gd name="adj" fmla="val 2797"/>
            </a:avLst>
          </a:prstGeom>
          <a:solidFill>
            <a:schemeClr val="bg2"/>
          </a:solidFill>
          <a:ln/>
        </p:spPr>
      </p:sp>
      <p:sp>
        <p:nvSpPr>
          <p:cNvPr id="11" name="Text 8"/>
          <p:cNvSpPr txBox="1"/>
          <p:nvPr/>
        </p:nvSpPr>
        <p:spPr>
          <a:xfrm>
            <a:off x="6254496"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Decidere</a:t>
            </a:r>
            <a:endParaRPr lang="en-US" sz="1800" dirty="0"/>
          </a:p>
        </p:txBody>
      </p:sp>
      <p:sp>
        <p:nvSpPr>
          <p:cNvPr id="12" name="Text 9"/>
          <p:cNvSpPr txBox="1"/>
          <p:nvPr/>
        </p:nvSpPr>
        <p:spPr>
          <a:xfrm>
            <a:off x="6254496" y="1600200"/>
            <a:ext cx="2286000" cy="21031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Adeguato allo scopo? Quali incertezze restano?</a:t>
            </a:r>
            <a:endParaRPr lang="en-US" sz="1200" dirty="0"/>
          </a:p>
          <a:p>
            <a:pPr marL="177800" indent="-177800">
              <a:spcAft>
                <a:spcPts val="600"/>
              </a:spcAft>
              <a:buSzPct val="100000"/>
              <a:buChar char="•"/>
            </a:pPr>
            <a:r>
              <a:rPr lang="en-US" sz="1200" dirty="0">
                <a:solidFill>
                  <a:schemeClr val="tx1"/>
                </a:solidFill>
              </a:rPr>
              <a:t>Serve un esperto?</a:t>
            </a:r>
            <a:endParaRPr lang="en-US" sz="1200" dirty="0"/>
          </a:p>
          <a:p>
            <a:pPr marL="177800" indent="-177800">
              <a:spcAft>
                <a:spcPts val="600"/>
              </a:spcAft>
              <a:buSzPct val="100000"/>
              <a:buChar char="•"/>
            </a:pPr>
            <a:r>
              <a:rPr lang="en-US" sz="1200" dirty="0">
                <a:solidFill>
                  <a:schemeClr val="tx1"/>
                </a:solidFill>
              </a:rPr>
              <a:t>Accettare, modificare, approfondire, rifiutare; documentare</a:t>
            </a:r>
            <a:endParaRPr lang="en-US" sz="1200" dirty="0"/>
          </a:p>
        </p:txBody>
      </p:sp>
      <p:sp>
        <p:nvSpPr>
          <p:cNvPr id="13" name="messaggio"/>
          <p:cNvSpPr/>
          <p:nvPr/>
        </p:nvSpPr>
        <p:spPr>
          <a:xfrm>
            <a:off x="457200" y="3931920"/>
            <a:ext cx="8229600" cy="594360"/>
          </a:xfrm>
          <a:prstGeom prst="roundRect">
            <a:avLst>
              <a:gd name="adj" fmla="val 12308"/>
            </a:avLst>
          </a:prstGeom>
          <a:solidFill>
            <a:schemeClr val="tx1"/>
          </a:solidFill>
          <a:ln/>
        </p:spPr>
      </p:sp>
      <p:sp>
        <p:nvSpPr>
          <p:cNvPr id="14" name="Text 11"/>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Sempre: attenzione ai propri bias. Opinione prima di leggere, stessi controlli per ciò che piace e ciò che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Feather"/>
          <p:cNvSpPr/>
          <p:nvPr/>
        </p:nvSpPr>
        <p:spPr>
          <a:xfrm>
            <a:off x="621792" y="1216152"/>
            <a:ext cx="457200" cy="457200"/>
          </a:xfrm>
          <a:prstGeom prst="ellipse">
            <a:avLst/>
          </a:prstGeom>
          <a:solidFill>
            <a:schemeClr val="accent5"/>
          </a:solidFill>
          <a:ln/>
        </p:spPr>
      </p:sp>
      <p:pic>
        <p:nvPicPr>
          <p:cNvPr id="6" name="Image 0" descr="FiFeather">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scritto bene, quindi è giusto"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La forma non dice nulla sulla sostanza</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7.2</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Link"/>
          <p:cNvSpPr/>
          <p:nvPr/>
        </p:nvSpPr>
        <p:spPr>
          <a:xfrm>
            <a:off x="4828032" y="1216152"/>
            <a:ext cx="457200" cy="457200"/>
          </a:xfrm>
          <a:prstGeom prst="ellipse">
            <a:avLst/>
          </a:prstGeom>
          <a:solidFill>
            <a:schemeClr val="accent5"/>
          </a:solidFill>
          <a:ln/>
        </p:spPr>
      </p:sp>
      <p:pic>
        <p:nvPicPr>
          <p:cNvPr id="12" name="Image 1" descr="FiLink">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"C'è la fonte, quindi è vero"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Autentica, pertinente, di supporto</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7.3</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Hash"/>
          <p:cNvSpPr/>
          <p:nvPr/>
        </p:nvSpPr>
        <p:spPr>
          <a:xfrm>
            <a:off x="621792" y="2377440"/>
            <a:ext cx="457200" cy="457200"/>
          </a:xfrm>
          <a:prstGeom prst="ellipse">
            <a:avLst/>
          </a:prstGeom>
          <a:solidFill>
            <a:schemeClr val="accent5"/>
          </a:solidFill>
          <a:ln/>
        </p:spPr>
      </p:sp>
      <p:pic>
        <p:nvPicPr>
          <p:cNvPr id="18" name="Image 2" descr="FiHash">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 numeri tornano"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Ricalcolare con uno strumento indipendente</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7.5</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Repeat"/>
          <p:cNvSpPr/>
          <p:nvPr/>
        </p:nvSpPr>
        <p:spPr>
          <a:xfrm>
            <a:off x="4828032" y="2377440"/>
            <a:ext cx="457200" cy="457200"/>
          </a:xfrm>
          <a:prstGeom prst="ellipse">
            <a:avLst/>
          </a:prstGeom>
          <a:solidFill>
            <a:schemeClr val="accent5"/>
          </a:solidFill>
          <a:ln/>
        </p:spPr>
      </p:sp>
      <p:pic>
        <p:nvPicPr>
          <p:cNvPr id="24" name="Image 3" descr="FiRepeat">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"Gliel'ho chiesto due volte"</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Chiedere conferma non è verificare</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7.6</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ThumbsUp"/>
          <p:cNvSpPr/>
          <p:nvPr/>
        </p:nvSpPr>
        <p:spPr>
          <a:xfrm>
            <a:off x="621792" y="3538728"/>
            <a:ext cx="457200" cy="457200"/>
          </a:xfrm>
          <a:prstGeom prst="ellipse">
            <a:avLst/>
          </a:prstGeom>
          <a:solidFill>
            <a:schemeClr val="accent5"/>
          </a:solidFill>
          <a:ln/>
        </p:spPr>
      </p:sp>
      <p:pic>
        <p:nvPicPr>
          <p:cNvPr id="30" name="Image 4" descr="FiThumbsUp">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"Verifico ciò che non mi convince"</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Stessa severità con ciò che piace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7.7</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Sliders"/>
          <p:cNvSpPr/>
          <p:nvPr/>
        </p:nvSpPr>
        <p:spPr>
          <a:xfrm>
            <a:off x="4828032" y="3538728"/>
            <a:ext cx="457200" cy="457200"/>
          </a:xfrm>
          <a:prstGeom prst="ellipse">
            <a:avLst/>
          </a:prstGeom>
          <a:solidFill>
            <a:schemeClr val="accent5"/>
          </a:solidFill>
          <a:ln/>
        </p:spPr>
      </p:sp>
      <p:pic>
        <p:nvPicPr>
          <p:cNvPr id="36" name="Image 5" descr="FiSliders">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"Verifico tutto allo stesso modo"</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Controlli proporzionati al rischio</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7.8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completat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AREE COMPLETATE</a:t>
            </a:r>
            <a:endParaRPr lang="en-US" sz="1200" dirty="0"/>
          </a:p>
        </p:txBody>
      </p:sp>
      <p:sp>
        <p:nvSpPr>
          <p:cNvPr id="6" name="Text 3"/>
          <p:cNvSpPr txBox="1"/>
          <p:nvPr/>
        </p:nvSpPr>
        <p:spPr>
          <a:xfrm>
            <a:off x="685800" y="1600200"/>
            <a:ext cx="3566160" cy="320040"/>
          </a:xfrm>
          <a:prstGeom prst="rect">
            <a:avLst/>
          </a:prstGeom>
          <a:noFill/>
          <a:ln/>
        </p:spPr>
        <p:txBody>
          <a:bodyPr wrap="square" lIns="0" tIns="0" rIns="0" bIns="0" rtlCol="0" anchor="t"/>
          <a:lstStyle/>
          <a:p>
            <a:pPr indent="0" marL="0">
              <a:buNone/>
            </a:pPr>
            <a:r>
              <a:rPr lang="en-US" sz="1500" b="1" dirty="0">
                <a:solidFill>
                  <a:schemeClr val="tx1"/>
                </a:solidFill>
              </a:rPr>
              <a:t>Comprendere l'AI</a:t>
            </a:r>
            <a:endParaRPr lang="en-US" sz="1500" dirty="0"/>
          </a:p>
        </p:txBody>
      </p:sp>
      <p:sp>
        <p:nvSpPr>
          <p:cNvPr id="7" name="Text 4"/>
          <p:cNvSpPr txBox="1"/>
          <p:nvPr/>
        </p:nvSpPr>
        <p:spPr>
          <a:xfrm>
            <a:off x="685800" y="1920240"/>
            <a:ext cx="3566160" cy="548640"/>
          </a:xfrm>
          <a:prstGeom prst="rect">
            <a:avLst/>
          </a:prstGeom>
          <a:noFill/>
          <a:ln/>
        </p:spPr>
        <p:txBody>
          <a:bodyPr wrap="square" lIns="0" tIns="0" rIns="0" bIns="0" rtlCol="0" anchor="t"/>
          <a:lstStyle/>
          <a:p>
            <a:pPr indent="0" marL="0">
              <a:buNone/>
            </a:pPr>
            <a:r>
              <a:rPr lang="en-US" sz="1200" dirty="0">
                <a:solidFill>
                  <a:schemeClr val="tx2"/>
                </a:solidFill>
              </a:rPr>
              <a:t>Temi 1-4: rilevanza, funzionamento, affidabilità, ecosistema</a:t>
            </a:r>
            <a:endParaRPr lang="en-US" sz="1200" dirty="0"/>
          </a:p>
        </p:txBody>
      </p:sp>
      <p:sp>
        <p:nvSpPr>
          <p:cNvPr id="8" name="Text 5"/>
          <p:cNvSpPr txBox="1"/>
          <p:nvPr/>
        </p:nvSpPr>
        <p:spPr>
          <a:xfrm>
            <a:off x="685800" y="2606040"/>
            <a:ext cx="3566160" cy="320040"/>
          </a:xfrm>
          <a:prstGeom prst="rect">
            <a:avLst/>
          </a:prstGeom>
          <a:noFill/>
          <a:ln/>
        </p:spPr>
        <p:txBody>
          <a:bodyPr wrap="square" lIns="0" tIns="0" rIns="0" bIns="0" rtlCol="0" anchor="t"/>
          <a:lstStyle/>
          <a:p>
            <a:pPr indent="0" marL="0">
              <a:buNone/>
            </a:pPr>
            <a:r>
              <a:rPr lang="en-US" sz="1500" b="1" dirty="0">
                <a:solidFill>
                  <a:schemeClr val="tx1"/>
                </a:solidFill>
              </a:rPr>
              <a:t>Interagire con l'AI</a:t>
            </a:r>
            <a:endParaRPr lang="en-US" sz="1500" dirty="0"/>
          </a:p>
        </p:txBody>
      </p:sp>
      <p:sp>
        <p:nvSpPr>
          <p:cNvPr id="9" name="Text 6"/>
          <p:cNvSpPr txBox="1"/>
          <p:nvPr/>
        </p:nvSpPr>
        <p:spPr>
          <a:xfrm>
            <a:off x="685800" y="2926080"/>
            <a:ext cx="3566160" cy="548640"/>
          </a:xfrm>
          <a:prstGeom prst="rect">
            <a:avLst/>
          </a:prstGeom>
          <a:noFill/>
          <a:ln/>
        </p:spPr>
        <p:txBody>
          <a:bodyPr wrap="square" lIns="0" tIns="0" rIns="0" bIns="0" rtlCol="0" anchor="t"/>
          <a:lstStyle/>
          <a:p>
            <a:pPr indent="0" marL="0">
              <a:buNone/>
            </a:pPr>
            <a:r>
              <a:rPr lang="en-US" sz="1200" dirty="0">
                <a:solidFill>
                  <a:schemeClr val="tx2"/>
                </a:solidFill>
              </a:rPr>
              <a:t>Temi 5-7: dialogo, prompting, verifica e pensiero critico</a:t>
            </a:r>
            <a:endParaRPr lang="en-US" sz="1200" dirty="0"/>
          </a:p>
        </p:txBody>
      </p:sp>
      <p:sp>
        <p:nvSpPr>
          <p:cNvPr id="10" name="prossimi"/>
          <p:cNvSpPr/>
          <p:nvPr/>
        </p:nvSpPr>
        <p:spPr>
          <a:xfrm>
            <a:off x="4709160" y="1097280"/>
            <a:ext cx="3977640" cy="3429000"/>
          </a:xfrm>
          <a:prstGeom prst="roundRect">
            <a:avLst>
              <a:gd name="adj" fmla="val 2133"/>
            </a:avLst>
          </a:prstGeom>
          <a:solidFill>
            <a:schemeClr val="tx1"/>
          </a:solidFill>
          <a:ln/>
        </p:spPr>
      </p:sp>
      <p:sp>
        <p:nvSpPr>
          <p:cNvPr id="11" name="Text 8"/>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NUOVA AREA</a:t>
            </a:r>
            <a:endParaRPr lang="en-US" sz="1200" dirty="0"/>
          </a:p>
        </p:txBody>
      </p:sp>
      <p:sp>
        <p:nvSpPr>
          <p:cNvPr id="12" name="Text 9"/>
          <p:cNvSpPr txBox="1"/>
          <p:nvPr/>
        </p:nvSpPr>
        <p:spPr>
          <a:xfrm>
            <a:off x="4937760" y="1572768"/>
            <a:ext cx="3566160" cy="365760"/>
          </a:xfrm>
          <a:prstGeom prst="rect">
            <a:avLst/>
          </a:prstGeom>
          <a:noFill/>
          <a:ln/>
        </p:spPr>
        <p:txBody>
          <a:bodyPr wrap="square" lIns="0" tIns="0" rIns="0" bIns="0" rtlCol="0" anchor="t"/>
          <a:lstStyle/>
          <a:p>
            <a:pPr indent="0" marL="0">
              <a:buNone/>
            </a:pPr>
            <a:r>
              <a:rPr lang="en-US" sz="1500" b="1" dirty="0">
                <a:solidFill>
                  <a:schemeClr val="bg1"/>
                </a:solidFill>
              </a:rPr>
              <a:t>Esplorare le possibilità dell'AI</a:t>
            </a:r>
            <a:endParaRPr lang="en-US" sz="1500" dirty="0"/>
          </a:p>
        </p:txBody>
      </p:sp>
      <p:sp>
        <p:nvSpPr>
          <p:cNvPr id="13" name="Text 10"/>
          <p:cNvSpPr txBox="1"/>
          <p:nvPr/>
        </p:nvSpPr>
        <p:spPr>
          <a:xfrm>
            <a:off x="4937760" y="2011680"/>
            <a:ext cx="3566160" cy="548640"/>
          </a:xfrm>
          <a:prstGeom prst="rect">
            <a:avLst/>
          </a:prstGeom>
          <a:noFill/>
          <a:ln/>
        </p:spPr>
        <p:txBody>
          <a:bodyPr wrap="square" lIns="0" tIns="0" rIns="0" bIns="0" rtlCol="0" anchor="t"/>
          <a:lstStyle/>
          <a:p>
            <a:pPr indent="0" marL="0">
              <a:buNone/>
            </a:pPr>
            <a:r>
              <a:rPr lang="en-US" sz="1400" b="1" dirty="0">
                <a:solidFill>
                  <a:schemeClr val="accent6"/>
                </a:solidFill>
              </a:rPr>
              <a:t>Tema 8: AI per testi, documenti e conoscenza</a:t>
            </a:r>
            <a:endParaRPr lang="en-US" sz="1400" dirty="0"/>
          </a:p>
        </p:txBody>
      </p:sp>
      <p:sp>
        <p:nvSpPr>
          <p:cNvPr id="14" name="Text 11"/>
          <p:cNvSpPr txBox="1"/>
          <p:nvPr/>
        </p:nvSpPr>
        <p:spPr>
          <a:xfrm>
            <a:off x="4937760" y="260604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Generare e trasformare testi</a:t>
            </a:r>
            <a:endParaRPr lang="en-US" sz="1200" dirty="0"/>
          </a:p>
          <a:p>
            <a:pPr marL="177800" indent="-177800">
              <a:spcAft>
                <a:spcPts val="500"/>
              </a:spcAft>
              <a:buSzPct val="100000"/>
              <a:buChar char="•"/>
            </a:pPr>
            <a:r>
              <a:rPr lang="en-US" sz="1200" dirty="0">
                <a:solidFill>
                  <a:schemeClr val="bg1"/>
                </a:solidFill>
              </a:rPr>
              <a:t>Sintesi, estrazione, confronto</a:t>
            </a:r>
            <a:endParaRPr lang="en-US" sz="1200" dirty="0"/>
          </a:p>
          <a:p>
            <a:pPr marL="177800" indent="-177800">
              <a:spcAft>
                <a:spcPts val="500"/>
              </a:spcAft>
              <a:buSzPct val="100000"/>
              <a:buChar char="•"/>
            </a:pPr>
            <a:r>
              <a:rPr lang="en-US" sz="1200" dirty="0">
                <a:solidFill>
                  <a:schemeClr val="bg1"/>
                </a:solidFill>
              </a:rPr>
              <a:t>Ricerca e conoscenza interrogabile</a:t>
            </a:r>
            <a:endParaRPr lang="en-US" sz="1200" dirty="0"/>
          </a:p>
        </p:txBody>
      </p:sp>
      <p:sp>
        <p:nvSpPr>
          <p:cNvPr id="15" name="Text 12"/>
          <p:cNvSpPr txBox="1"/>
          <p:nvPr/>
        </p:nvSpPr>
        <p:spPr>
          <a:xfrm>
            <a:off x="4937760" y="3931920"/>
            <a:ext cx="3566160" cy="320040"/>
          </a:xfrm>
          <a:prstGeom prst="rect">
            <a:avLst/>
          </a:prstGeom>
          <a:noFill/>
          <a:ln/>
        </p:spPr>
        <p:txBody>
          <a:bodyPr wrap="square" lIns="0" tIns="0" rIns="0" bIns="0" rtlCol="0" anchor="t"/>
          <a:lstStyle/>
          <a:p>
            <a:pPr indent="0" marL="0">
              <a:buNone/>
            </a:pPr>
            <a:r>
              <a:rPr lang="en-US" sz="1200" i="1" dirty="0">
                <a:solidFill>
                  <a:schemeClr val="accent3"/>
                </a:solidFill>
              </a:rPr>
              <a:t>Poi il Tema 9: AI per dati e analisi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Reber, R., Schwarz, N. (1999). Effects of Perceptual Fluency on Judgments of Truth. Consciousness and Cognition, 8(3), 338-342.</a:t>
            </a:r>
            <a:endParaRPr lang="en-US" sz="1300" dirty="0"/>
          </a:p>
          <a:p>
            <a:pPr marL="177800" indent="-177800">
              <a:spcAft>
                <a:spcPts val="1000"/>
              </a:spcAft>
              <a:buSzPct val="100000"/>
              <a:buChar char="•"/>
            </a:pPr>
            <a:r>
              <a:rPr lang="en-US" sz="1300" dirty="0">
                <a:solidFill>
                  <a:schemeClr val="tx1"/>
                </a:solidFill>
              </a:rPr>
              <a:t>Parasuraman, R., Manzey, D. H. (2010). Complacency and Bias in Human Use of Automation: An Attentional Integration. Human Factors, 52(3), 381-410.</a:t>
            </a:r>
            <a:endParaRPr lang="en-US" sz="1300" dirty="0"/>
          </a:p>
          <a:p>
            <a:pPr marL="177800" indent="-177800">
              <a:spcAft>
                <a:spcPts val="1000"/>
              </a:spcAft>
              <a:buSzPct val="100000"/>
              <a:buChar char="•"/>
            </a:pPr>
            <a:r>
              <a:rPr lang="en-US" sz="1300" dirty="0">
                <a:solidFill>
                  <a:schemeClr val="tx1"/>
                </a:solidFill>
              </a:rPr>
              <a:t>Mata v. Avianca, Inc., U.S. District Court, Southern District of New York, giugno 2023.</a:t>
            </a:r>
            <a:endParaRPr lang="en-US" sz="1300" dirty="0"/>
          </a:p>
          <a:p>
            <a:pPr marL="177800" indent="-177800">
              <a:spcAft>
                <a:spcPts val="1000"/>
              </a:spcAft>
              <a:buSzPct val="100000"/>
              <a:buChar char="•"/>
            </a:pPr>
            <a:r>
              <a:rPr lang="en-US" sz="1300" dirty="0">
                <a:solidFill>
                  <a:schemeClr val="tx1"/>
                </a:solidFill>
              </a:rPr>
              <a:t>Sharma, M. et al. (2024). Towards Understanding Sycophancy in Language Models. ICLR 2024 (Anthropic).</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7: Verifica degli output e pensiero critico</dc:title>
  <dc:subject>Percorso AI Literacy</dc:subject>
  <dc:creator>Percorso AI Literacy</dc:creator>
  <cp:lastModifiedBy>Percorso AI Literacy</cp:lastModifiedBy>
  <cp:revision>1</cp:revision>
  <dcterms:created xsi:type="dcterms:W3CDTF">2026-10-09T12:31:07Z</dcterms:created>
  <dcterms:modified xsi:type="dcterms:W3CDTF">2026-10-09T12:31:07Z</dcterms:modified>
</cp:coreProperties>
</file>