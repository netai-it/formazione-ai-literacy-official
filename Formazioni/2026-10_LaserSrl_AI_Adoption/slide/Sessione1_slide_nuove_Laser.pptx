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charts/chart1.xml" ContentType="application/vnd.openxmlformats-officedocument.drawingml.chart+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3"/>
  </p:notesMasterIdLst>
  <p:sldIdLst>
    <p:sldId id="256" r:id="rId2"/>
    <p:sldId id="257" r:id="rId3"/>
    <p:sldId id="258" r:id="rId4"/>
    <p:sldId id="259" r:id="rId5"/>
    <p:sldId id="260" r:id="rId6"/>
    <p:sldId id="262" r:id="rId7"/>
    <p:sldId id="272" r:id="rId8"/>
    <p:sldId id="278" r:id="rId9"/>
    <p:sldId id="279" r:id="rId10"/>
    <p:sldId id="276" r:id="rId11"/>
    <p:sldId id="280" r:id="rId12"/>
    <p:sldId id="281" r:id="rId13"/>
    <p:sldId id="282" r:id="rId14"/>
    <p:sldId id="283" r:id="rId15"/>
    <p:sldId id="284" r:id="rId16"/>
    <p:sldId id="285" r:id="rId17"/>
    <p:sldId id="287" r:id="rId18"/>
    <p:sldId id="288" r:id="rId19"/>
    <p:sldId id="290" r:id="rId20"/>
    <p:sldId id="291" r:id="rId21"/>
    <p:sldId id="292" r:id="rId22"/>
    <p:sldId id="294" r:id="rId23"/>
    <p:sldId id="295" r:id="rId24"/>
    <p:sldId id="296" r:id="rId25"/>
    <p:sldId id="297" r:id="rId26"/>
    <p:sldId id="273" r:id="rId27"/>
    <p:sldId id="298" r:id="rId28"/>
    <p:sldId id="299" r:id="rId29"/>
    <p:sldId id="300" r:id="rId30"/>
    <p:sldId id="301" r:id="rId31"/>
    <p:sldId id="302" r:id="rId32"/>
    <p:sldId id="303" r:id="rId33"/>
    <p:sldId id="304" r:id="rId34"/>
    <p:sldId id="305" r:id="rId35"/>
    <p:sldId id="306" r:id="rId36"/>
    <p:sldId id="307" r:id="rId37"/>
    <p:sldId id="277" r:id="rId38"/>
    <p:sldId id="308" r:id="rId39"/>
    <p:sldId id="309" r:id="rId40"/>
    <p:sldId id="310" r:id="rId41"/>
    <p:sldId id="311" r:id="rId42"/>
    <p:sldId id="312" r:id="rId43"/>
    <p:sldId id="286" r:id="rId44"/>
    <p:sldId id="313" r:id="rId45"/>
    <p:sldId id="314" r:id="rId46"/>
    <p:sldId id="289" r:id="rId47"/>
    <p:sldId id="315" r:id="rId48"/>
    <p:sldId id="316" r:id="rId49"/>
    <p:sldId id="317" r:id="rId50"/>
    <p:sldId id="318" r:id="rId51"/>
    <p:sldId id="319" r:id="rId52"/>
    <p:sldId id="320" r:id="rId53"/>
    <p:sldId id="321" r:id="rId54"/>
    <p:sldId id="322" r:id="rId55"/>
    <p:sldId id="323" r:id="rId56"/>
    <p:sldId id="324" r:id="rId57"/>
    <p:sldId id="325" r:id="rId58"/>
    <p:sldId id="326" r:id="rId59"/>
    <p:sldId id="327" r:id="rId60"/>
    <p:sldId id="328" r:id="rId61"/>
    <p:sldId id="274" r:id="rId62"/>
    <p:sldId id="329" r:id="rId63"/>
    <p:sldId id="330" r:id="rId64"/>
    <p:sldId id="331" r:id="rId65"/>
    <p:sldId id="332" r:id="rId66"/>
    <p:sldId id="333" r:id="rId67"/>
    <p:sldId id="334" r:id="rId68"/>
    <p:sldId id="335" r:id="rId69"/>
    <p:sldId id="336" r:id="rId70"/>
    <p:sldId id="337" r:id="rId71"/>
    <p:sldId id="338" r:id="rId72"/>
    <p:sldId id="339" r:id="rId73"/>
    <p:sldId id="340" r:id="rId74"/>
    <p:sldId id="341" r:id="rId75"/>
    <p:sldId id="342" r:id="rId76"/>
    <p:sldId id="343" r:id="rId77"/>
    <p:sldId id="344" r:id="rId78"/>
    <p:sldId id="345" r:id="rId79"/>
    <p:sldId id="346" r:id="rId80"/>
    <p:sldId id="347" r:id="rId81"/>
    <p:sldId id="348" r:id="rId82"/>
    <p:sldId id="349" r:id="rId83"/>
    <p:sldId id="350" r:id="rId84"/>
    <p:sldId id="351" r:id="rId85"/>
    <p:sldId id="352" r:id="rId86"/>
    <p:sldId id="353" r:id="rId87"/>
    <p:sldId id="354" r:id="rId88"/>
    <p:sldId id="355" r:id="rId89"/>
    <p:sldId id="356" r:id="rId90"/>
    <p:sldId id="357" r:id="rId91"/>
    <p:sldId id="263" r:id="rId92"/>
    <p:sldId id="358" r:id="rId93"/>
    <p:sldId id="264" r:id="rId94"/>
    <p:sldId id="265" r:id="rId95"/>
    <p:sldId id="266" r:id="rId96"/>
    <p:sldId id="267" r:id="rId97"/>
    <p:sldId id="268" r:id="rId98"/>
    <p:sldId id="269" r:id="rId99"/>
    <p:sldId id="275" r:id="rId100"/>
    <p:sldId id="270" r:id="rId101"/>
    <p:sldId id="271" r:id="rId10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C3BB9BB4-3D30-E415-8DC5-37F6A1A49D49}">
          <p14:sldIdLst>
            <p14:sldId id="256"/>
            <p14:sldId id="257"/>
            <p14:sldId id="258"/>
            <p14:sldId id="259"/>
            <p14:sldId id="260"/>
            <p14:sldId id="262"/>
            <p14:sldId id="272"/>
            <p14:sldId id="278"/>
            <p14:sldId id="279"/>
            <p14:sldId id="276"/>
            <p14:sldId id="280"/>
            <p14:sldId id="281"/>
            <p14:sldId id="282"/>
            <p14:sldId id="283"/>
            <p14:sldId id="284"/>
            <p14:sldId id="285"/>
            <p14:sldId id="287"/>
            <p14:sldId id="288"/>
            <p14:sldId id="290"/>
            <p14:sldId id="291"/>
            <p14:sldId id="292"/>
            <p14:sldId id="294"/>
            <p14:sldId id="295"/>
            <p14:sldId id="296"/>
            <p14:sldId id="297"/>
            <p14:sldId id="273"/>
            <p14:sldId id="298"/>
            <p14:sldId id="299"/>
            <p14:sldId id="300"/>
            <p14:sldId id="301"/>
            <p14:sldId id="302"/>
            <p14:sldId id="303"/>
            <p14:sldId id="304"/>
            <p14:sldId id="305"/>
            <p14:sldId id="306"/>
            <p14:sldId id="307"/>
            <p14:sldId id="277"/>
            <p14:sldId id="308"/>
            <p14:sldId id="309"/>
            <p14:sldId id="310"/>
            <p14:sldId id="311"/>
            <p14:sldId id="312"/>
            <p14:sldId id="286"/>
            <p14:sldId id="313"/>
            <p14:sldId id="314"/>
            <p14:sldId id="289"/>
            <p14:sldId id="315"/>
            <p14:sldId id="316"/>
            <p14:sldId id="317"/>
            <p14:sldId id="318"/>
            <p14:sldId id="319"/>
            <p14:sldId id="320"/>
            <p14:sldId id="321"/>
            <p14:sldId id="322"/>
            <p14:sldId id="323"/>
            <p14:sldId id="324"/>
            <p14:sldId id="325"/>
            <p14:sldId id="326"/>
            <p14:sldId id="327"/>
            <p14:sldId id="328"/>
            <p14:sldId id="274"/>
            <p14:sldId id="329"/>
            <p14:sldId id="330"/>
            <p14:sldId id="331"/>
            <p14:sldId id="332"/>
            <p14:sldId id="333"/>
            <p14:sldId id="334"/>
            <p14:sldId id="335"/>
            <p14:sldId id="336"/>
            <p14:sldId id="337"/>
            <p14:sldId id="338"/>
            <p14:sldId id="339"/>
            <p14:sldId id="340"/>
            <p14:sldId id="341"/>
            <p14:sldId id="342"/>
            <p14:sldId id="343"/>
            <p14:sldId id="344"/>
            <p14:sldId id="345"/>
            <p14:sldId id="346"/>
            <p14:sldId id="347"/>
            <p14:sldId id="348"/>
            <p14:sldId id="349"/>
            <p14:sldId id="350"/>
            <p14:sldId id="351"/>
            <p14:sldId id="352"/>
            <p14:sldId id="353"/>
            <p14:sldId id="354"/>
            <p14:sldId id="355"/>
            <p14:sldId id="356"/>
            <p14:sldId id="357"/>
          </p14:sldIdLst>
        </p14:section>
        <p14:section name="Limiti ed errori" id="{24C89B44-E5C8-B41E-C827-ADF61D49CAF2}">
          <p14:sldIdLst>
            <p14:sldId id="263"/>
          </p14:sldIdLst>
        </p14:section>
        <p14:section name="L'AI in Laser" id="{2E6046B8-D80E-A317-F930-00554509571A}">
          <p14:sldIdLst>
            <p14:sldId id="358"/>
            <p14:sldId id="264"/>
            <p14:sldId id="265"/>
            <p14:sldId id="266"/>
            <p14:sldId id="267"/>
            <p14:sldId id="268"/>
            <p14:sldId id="269"/>
            <p14:sldId id="275"/>
          </p14:sldIdLst>
        </p14:section>
        <p14:section name="Chiusura" id="{92EF9562-6C42-8CBB-24CF-EC1D33184B1E}">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9"/>
    <p:restoredTop sz="65757"/>
  </p:normalViewPr>
  <p:slideViewPr>
    <p:cSldViewPr snapToGrid="0" snapToObjects="1">
      <p:cViewPr varScale="1">
        <p:scale>
          <a:sx n="120" d="100"/>
          <a:sy n="120" d="100"/>
        </p:scale>
        <p:origin x="201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ableStyles" Target="tableStyle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charts/_rels/chart1.xml.rels><?xml version="1.0" encoding="UTF-8" standalone="yes"?>
<Relationships xmlns="http://schemas.openxmlformats.org/package/2006/relationships"><Relationship Id="rId1" Type="http://schemas.openxmlformats.org/officeDocument/2006/relationships/package" Target="../embeddings/Foglio_di_lavoro_di_Microsoft_Excel.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c:style val="2"/>
  <c:chart>
    <c:autoTitleDeleted val="1"/>
    <c:plotArea>
      <c:layout/>
      <c:barChart>
        <c:barDir val="bar"/>
        <c:grouping val="clustered"/>
        <c:varyColors val="0"/>
        <c:ser>
          <c:idx val="0"/>
          <c:order val="0"/>
          <c:tx>
            <c:strRef>
              <c:f>Sheet1!$B$1</c:f>
              <c:strCache>
                <c:ptCount val="1"/>
                <c:pt idx="0">
                  <c:v>Probabilità</c:v>
                </c:pt>
              </c:strCache>
            </c:strRef>
          </c:tx>
          <c:spPr>
            <a:solidFill>
              <a:srgbClr val="2E7D7A"/>
            </a:solidFill>
            <a:effectLst/>
          </c:spPr>
          <c:invertIfNegative val="0"/>
          <c:dLbls>
            <c:numFmt formatCode="0%" sourceLinked="0"/>
            <c:spPr>
              <a:noFill/>
              <a:ln>
                <a:noFill/>
              </a:ln>
              <a:effectLst/>
            </c:spPr>
            <c:txPr>
              <a:bodyPr/>
              <a:lstStyle/>
              <a:p>
                <a:pPr>
                  <a:defRPr sz="1200" b="0" i="0" u="none" strike="noStrike">
                    <a:solidFill>
                      <a:srgbClr val="22262B"/>
                    </a:solidFill>
                    <a:latin typeface="+mn-lt"/>
                  </a:defRPr>
                </a:pPr>
                <a:endParaRPr lang="it-I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sereno</c:v>
                </c:pt>
                <c:pt idx="1">
                  <c:v>nuvoloso</c:v>
                </c:pt>
                <c:pt idx="2">
                  <c:v>azzurro</c:v>
                </c:pt>
                <c:pt idx="3">
                  <c:v>coperto</c:v>
                </c:pt>
                <c:pt idx="4">
                  <c:v>limpido</c:v>
                </c:pt>
                <c:pt idx="5">
                  <c:v>frigorifero</c:v>
                </c:pt>
              </c:strCache>
            </c:strRef>
          </c:cat>
          <c:val>
            <c:numRef>
              <c:f>Sheet1!$B$2:$B$7</c:f>
              <c:numCache>
                <c:formatCode>General</c:formatCode>
                <c:ptCount val="6"/>
                <c:pt idx="0">
                  <c:v>0.38</c:v>
                </c:pt>
                <c:pt idx="1">
                  <c:v>0.27</c:v>
                </c:pt>
                <c:pt idx="2">
                  <c:v>0.17</c:v>
                </c:pt>
                <c:pt idx="3">
                  <c:v>0.1</c:v>
                </c:pt>
                <c:pt idx="4">
                  <c:v>7.0000000000000007E-2</c:v>
                </c:pt>
                <c:pt idx="5">
                  <c:v>1E-3</c:v>
                </c:pt>
              </c:numCache>
            </c:numRef>
          </c:val>
          <c:extLst>
            <c:ext xmlns:c16="http://schemas.microsoft.com/office/drawing/2014/chart" uri="{C3380CC4-5D6E-409C-BE32-E72D297353CC}">
              <c16:uniqueId val="{00000000-0DBD-9A42-99D3-28B7013E27FA}"/>
            </c:ext>
          </c:extLst>
        </c:ser>
        <c:dLbls>
          <c:showLegendKey val="0"/>
          <c:showVal val="1"/>
          <c:showCatName val="0"/>
          <c:showSerName val="0"/>
          <c:showPercent val="0"/>
          <c:showBubbleSize val="0"/>
        </c:dLbls>
        <c:gapWidth val="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515C"/>
                </a:solidFill>
                <a:latin typeface="+mn-lt"/>
              </a:defRPr>
            </a:pPr>
            <a:endParaRPr lang="en-US"/>
          </a:p>
        </c:txPr>
        <c:crossAx val="2094734552"/>
        <c:crosses val="autoZero"/>
        <c:auto val="1"/>
        <c:lblAlgn val="ctr"/>
        <c:lblOffset val="100"/>
        <c:noMultiLvlLbl val="1"/>
      </c:catAx>
      <c:valAx>
        <c:axId val="2094734552"/>
        <c:scaling>
          <c:orientation val="minMax"/>
          <c:max val="0.5"/>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7372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it.wikipedia.org/wiki/Alex_Krizhevsky?action=edit&amp;redlink=1"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s://it.wikipedia.org/wiki/Geoffrey_Hinton"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Percorso A e B. Benvenuti. Questa è la prima di tre sessioni dedicate all'intelligenza artificiale in azienda. Oggi non parliamo ancora di strumenti specifici né di progetti: costruiamo un linguaggio comune. Vogliamo capire che cosa è davvero l'AI, come funziona a grandi linee, che cosa sa fare bene e dove invece sbaglia, e perché il controllo delle persone resta decisivo. Alla fine della mattinata guarderemo insieme dove l'AI può essere utile in un'azienda come la vostra, reparto per reparto. Non servono conoscenze tecniche: se qualcosa non è chiaro, fermatemi pure.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Percorso A e B. Il percorso è fatto di tre sessioni da quattro ore, e ognuna costruisce sulla precedente. Oggi, nella prima, capiamo l'AI senza tecnicismi: che cos'è, come funziona, che cosa sa fare e quali sono i suoi limiti. Nella seconda passiamo agli strumenti: vedremo Copilot e altri assistenti, impareremo a scrivere richieste efficaci, guarderemo tre esempi concreti su documenti, richieste dei clienti e ticket di assistenza, e parleremo di AI nei processi, nel service e nel prodotto. Nella terza parleremo di regole: uso sicuro, GDPR, AI Act, NIS2, riservatezza. E chiuderemo costruendo una proposta di roadmap, con uno o due progetti concreti da cui partire. Il filo conduttore sono i casi d'uso: le idee che raccoglieremo oggi diventano la materia della terza sessione.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Percorso A. Prima di cominciare, vorrei capire da dove partiamo, perché il gruppo è misto e le esperienze sono diverse. Tre domande, per alzata di mano. Prima: chi ha già usato almeno una volta uno strumento di AI, come ChatGPT, Copilot o simili, anche solo per curiosità? Seconda: per che cosa? Scrivere un'email, tradurre, cercare informazioni, riassumere un documento? Terza: che cosa vi aspettate da queste sessioni, e c'è qualcosa che vi preoccupa? Annoto le risposte: le riprenderemo alla fine della giornata e nelle prossime sessioni. Non ci sono risposte giuste o sbagliate, e chi non ha mai usato questi strumenti è nella posizione migliore per farsi un'idea senza preconcetti.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Percorso A. Un piccolo gioco per rompere il ghiaccio. Dividiamoci in squadre, per esempio per tavolo o per reparto. Vi leggo sei affermazioni sull'intelligenza artificiale: per ognuna, ogni squadra decide se è vera o falsa, e scrive la risposta su un foglio. Avete un minuto per affermazione, quindi circa sei minuti in tutto. Poi vediamo le risposte insieme nella slide successiva, e per ognuna spiego il perché. Non conta vincere: conta accorgersi di quante idee diffuse sull'AI sono imprecise. Molte di queste affermazioni torneranno durante la giornata.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Percorso B: il formatore legge le affermazioni e dà subito la risposta. Percorso A: si usa dopo il gioco a squadre per svelare le risposte. Prima affermazione: l'AI capisce quello che scrive. Falso, almeno nel senso umano del termine: i modelli linguistici generano testo a partire da regolarità apprese su enormi quantità di dati. Il risultato può sembrare comprensione, ed è spesso utile, ma non c'è un'intenzione né un'esperienza del mondo. Seconda: se risponde con sicurezza, la risposta è affidabile. Falso, ed è forse l'equivoco più pericoloso: il tono sicuro e la scrittura fluida non dicono nulla sulla correttezza. Terza: la stessa domanda può dare risposte diverse. Vero: questi sistemi sono probabilistici, e la variabilità è normale. Quarta: se carico un documento, l'AI lo legge tutto e non sbaglia. Falso: può perdere parti, interpretare male tabelle o scansioni, e sbagliare comunque. Quinta: l'AI può servire anche in officina e in assistenza tecnica. Vero: non è solo uno strumento da ufficio, lo vedremo nella mappa per reparto. Sesta: con l'AI la responsabilità passa allo strumento. Falso: la responsabilità resta sempre delle persone e dell'azienda. Riprenderemo ciascuno di questi punti nel corso della giornata.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Percorso A. Vi presento uno strumento che useremo per tutte e tre le sessioni: il parcheggio dei casi d'uso. È questo cartellone, diviso in colonne, una per reparto. Ogni volta che, durante le sessioni, vi viene in mente un'attività in cui l'AI potrebbe aiutare, la scrivete su un post-it e la attaccate nella colonna del vostro reparto. Non serve che l'idea sia completa o sicura: basta una riga, per esempio 'cercare nei manuali la soluzione di un allarme'. Una sola regola: niente nomi di clienti, prezzi o dati riservati, scrivete l'attività, non il caso specifico. Alla fine di ogni sessione riporterò i post-it in una lavagna digitale. Nella terza sessione partiremo proprio da qui per scegliere i progetti: più idee raccogliamo, migliore sarà la scelta.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08994-9C04-92E2-480C-CB6E974D89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C65715-8B14-8A9E-A1AE-33FA46BC70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E9EB61-DD7F-E2B2-B44C-D11E7E6D7494}"/>
              </a:ext>
            </a:extLst>
          </p:cNvPr>
          <p:cNvSpPr>
            <a:spLocks noGrp="1"/>
          </p:cNvSpPr>
          <p:nvPr>
            <p:ph type="body" idx="1"/>
          </p:nvPr>
        </p:nvSpPr>
        <p:spPr/>
        <p:txBody>
          <a:bodyPr/>
          <a:lstStyle/>
          <a:p>
            <a:r>
              <a:rPr lang="en-US" dirty="0"/>
              <a:t>Percorso A e B. Benvenuti. Questa è la prima di tre sessioni dedicate all'intelligenza artificiale in azienda. Oggi non parliamo ancora di strumenti specifici né di progetti: costruiamo un linguaggio comune. Vogliamo capire che cosa è davvero l'AI, come funziona a grandi linee, che cosa sa fare bene e dove invece sbaglia, e perché il controllo delle persone resta decisivo. Alla fine della mattinata guarderemo insieme dove l'AI può essere utile in un'azienda come la vostra, reparto per reparto. Non servono conoscenze tecniche: se qualcosa non è chiaro, fermatemi pure.</a:t>
            </a:r>
          </a:p>
        </p:txBody>
      </p:sp>
      <p:sp>
        <p:nvSpPr>
          <p:cNvPr id="4" name="Slide Number Placeholder 3">
            <a:extLst>
              <a:ext uri="{FF2B5EF4-FFF2-40B4-BE49-F238E27FC236}">
                <a16:creationId xmlns:a16="http://schemas.microsoft.com/office/drawing/2014/main" id="{CE98FD45-5D67-0B3F-3F71-32AE463A5316}"/>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605133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linea del tempo serve a dare un colpo d'occhio sull'intera traiettoria, senza entrare nei dettagli. 1950: Alan Turing pone la domanda sulle macchine pensanti. 1956: con il seminario di Dartmouth nasce la disciplina, il cui nome era stato proposto </a:t>
            </a:r>
            <a:r>
              <a:rPr lang="en-US" dirty="0" err="1"/>
              <a:t>l'anno</a:t>
            </a:r>
            <a:r>
              <a:rPr lang="en-US" dirty="0"/>
              <a:t> prima, </a:t>
            </a:r>
            <a:r>
              <a:rPr lang="en-US" dirty="0" err="1"/>
              <a:t>si</a:t>
            </a:r>
            <a:r>
              <a:rPr lang="en-US" dirty="0"/>
              <a:t> </a:t>
            </a:r>
            <a:r>
              <a:rPr lang="en-US" dirty="0" err="1"/>
              <a:t>inizia</a:t>
            </a:r>
            <a:r>
              <a:rPr lang="en-US" dirty="0"/>
              <a:t> a </a:t>
            </a:r>
            <a:r>
              <a:rPr lang="en-US" dirty="0" err="1"/>
              <a:t>parlare</a:t>
            </a:r>
            <a:r>
              <a:rPr lang="en-US" dirty="0"/>
              <a:t> di </a:t>
            </a:r>
            <a:r>
              <a:rPr lang="en-US" dirty="0" err="1"/>
              <a:t>intelligenza</a:t>
            </a:r>
            <a:r>
              <a:rPr lang="en-US" dirty="0"/>
              <a:t> </a:t>
            </a:r>
            <a:r>
              <a:rPr lang="en-US" dirty="0" err="1"/>
              <a:t>artificale</a:t>
            </a:r>
            <a:r>
              <a:rPr lang="en-US" dirty="0"/>
              <a:t> . 1958: Frank Rosenblatt presenta il perceptron, uno dei primi modelli di neurone artificiale, antenato lontano delle reti neurali di oggi. Anni Settanta e Ottanta: si diffondono i sistemi esperti, che codificano la conoscenza di specialisti in </a:t>
            </a:r>
            <a:r>
              <a:rPr lang="en-US" dirty="0" err="1"/>
              <a:t>regole</a:t>
            </a:r>
            <a:r>
              <a:rPr lang="en-US" dirty="0"/>
              <a:t> ( </a:t>
            </a:r>
            <a:r>
              <a:rPr lang="en-US" dirty="0" err="1"/>
              <a:t>diagnosi</a:t>
            </a:r>
            <a:r>
              <a:rPr lang="en-US" dirty="0"/>
              <a:t> medica </a:t>
            </a:r>
            <a:r>
              <a:rPr lang="en-US" dirty="0" err="1"/>
              <a:t>oppure</a:t>
            </a:r>
            <a:r>
              <a:rPr lang="en-US" dirty="0"/>
              <a:t> la </a:t>
            </a:r>
            <a:r>
              <a:rPr lang="en-US" dirty="0" err="1"/>
              <a:t>configurazione</a:t>
            </a:r>
            <a:r>
              <a:rPr lang="en-US" dirty="0"/>
              <a:t> di </a:t>
            </a:r>
            <a:r>
              <a:rPr lang="en-US" dirty="0" err="1"/>
              <a:t>sistemi</a:t>
            </a:r>
            <a:r>
              <a:rPr lang="en-US" dirty="0"/>
              <a:t> </a:t>
            </a:r>
            <a:r>
              <a:rPr lang="en-US" dirty="0" err="1"/>
              <a:t>complessi</a:t>
            </a:r>
            <a:r>
              <a:rPr lang="en-US" dirty="0"/>
              <a:t>). 1997: il computer Deep Blue di IBM batte il campione del mondo di scacchi Garry Kasparov, un traguardo simbolico raggiunto però con un sistema altamente specializzato. 2012: una rete neurale profonda (AlexNet) vince nettamente una competizione di riconoscimento delle immagini basata sul dataset ImageNet, segnando la svolta del deep learning. 2017: ricercatori di Google pubblicano l'architettura Transformer, alla base dei moderni modelli linguistici. 2022: il lancio pubblico di ChatGPT porta l'AI generativa al grande pubblico. Messaggio: ciò che vediamo oggi è l'ultimo tratto di una lunga </a:t>
            </a:r>
            <a:r>
              <a:rPr lang="en-US" dirty="0" err="1"/>
              <a:t>strada</a:t>
            </a:r>
            <a:r>
              <a:rPr lang="en-US" dirty="0"/>
              <a:t>.</a:t>
            </a:r>
          </a:p>
          <a:p>
            <a:endParaRPr lang="en-US" dirty="0"/>
          </a:p>
          <a:p>
            <a:r>
              <a:rPr lang="en-US" dirty="0"/>
              <a:t>ALEXNET : I</a:t>
            </a:r>
            <a:r>
              <a:rPr lang="it-IT" sz="1200" b="1" i="0" kern="1200" dirty="0" err="1">
                <a:solidFill>
                  <a:schemeClr val="tx1"/>
                </a:solidFill>
                <a:effectLst/>
                <a:latin typeface="+mn-lt"/>
                <a:ea typeface="+mn-ea"/>
                <a:cs typeface="+mn-cs"/>
              </a:rPr>
              <a:t>lya</a:t>
            </a:r>
            <a:r>
              <a:rPr lang="it-IT" sz="1200" b="1" i="0" kern="1200" dirty="0">
                <a:solidFill>
                  <a:schemeClr val="tx1"/>
                </a:solidFill>
                <a:effectLst/>
                <a:latin typeface="+mn-lt"/>
                <a:ea typeface="+mn-ea"/>
                <a:cs typeface="+mn-cs"/>
              </a:rPr>
              <a:t> </a:t>
            </a:r>
            <a:r>
              <a:rPr lang="it-IT" sz="1200" b="1" i="0" kern="1200" dirty="0" err="1">
                <a:solidFill>
                  <a:schemeClr val="tx1"/>
                </a:solidFill>
                <a:effectLst/>
                <a:latin typeface="+mn-lt"/>
                <a:ea typeface="+mn-ea"/>
                <a:cs typeface="+mn-cs"/>
              </a:rPr>
              <a:t>Sutskever</a:t>
            </a:r>
            <a:r>
              <a:rPr lang="it-IT" sz="1200" b="1" i="0" kern="1200" dirty="0">
                <a:solidFill>
                  <a:schemeClr val="tx1"/>
                </a:solidFill>
                <a:effectLst/>
                <a:latin typeface="+mn-lt"/>
                <a:ea typeface="+mn-ea"/>
                <a:cs typeface="+mn-cs"/>
              </a:rPr>
              <a:t> , </a:t>
            </a:r>
            <a:r>
              <a:rPr lang="it-IT" sz="1200" b="0" i="0" u="sng" kern="1200" dirty="0">
                <a:solidFill>
                  <a:schemeClr val="tx1"/>
                </a:solidFill>
                <a:effectLst/>
                <a:latin typeface="+mn-lt"/>
                <a:ea typeface="+mn-ea"/>
                <a:cs typeface="+mn-cs"/>
                <a:hlinkClick r:id="rId3" tooltip="Alex Krizhevsky (la pagina non esiste)"/>
              </a:rPr>
              <a:t>Alex Krizhevsky</a:t>
            </a:r>
            <a:r>
              <a:rPr lang="it-IT" sz="1200" b="0" i="0" u="sng" kern="1200" dirty="0">
                <a:solidFill>
                  <a:schemeClr val="tx1"/>
                </a:solidFill>
                <a:effectLst/>
                <a:latin typeface="+mn-lt"/>
                <a:ea typeface="+mn-ea"/>
                <a:cs typeface="+mn-cs"/>
              </a:rPr>
              <a:t> . </a:t>
            </a:r>
            <a:r>
              <a:rPr lang="it-IT" sz="1200" b="0" i="0" u="none" strike="noStrike" kern="1200" dirty="0">
                <a:solidFill>
                  <a:schemeClr val="tx1"/>
                </a:solidFill>
                <a:effectLst/>
                <a:latin typeface="+mn-lt"/>
                <a:ea typeface="+mn-ea"/>
                <a:cs typeface="+mn-cs"/>
                <a:hlinkClick r:id="rId4"/>
              </a:rPr>
              <a:t>Geoffrey Hinton</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Ecco i cinque fattori. La potenza di calcolo, grazie soprattutto ai processori grafici (GPU) e al cloud. I dati, resi disponibili in quantità enormi dalla digitalizzazione e da internet. Gli algoritmi e le architetture, migliorati in modo decisivo, con l'architettura Transformer del 2017 come tappa cruciale. I modelli di grandi dimensioni, resi possibili dalla combinazione dei tre fattori precedenti. Infine gli investimenti e le infrastrutture, cioè i capitali, i data center e gli ecosistemi industriali che hanno permesso di passare dalla ricerca ai prodotti. Il punto chiave è il rafforzamento reciproco: più dati richiedono più calcolo; più calcolo permette modelli più grandi; risultati migliori attirano più investimenti, che finanziano più calcolo. Nelle prossime slide vediamo brevemente ciascun fattore.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quinto fattore è economico e industriale. Addestrare e far funzionare i grandi modelli richiede capitali ingenti: data center, chip, energia, competenze specialistiche. Negli ultimi anni le grandi aziende tecnologiche e numerose startup hanno investito somme molto elevate, e attorno all'AI è nato un intero ecosistema: produttori di chip, fornitori di cloud, sviluppatori di modelli, aziende che costruiscono applicazioni sopra i modelli, consulenti e integratori. Un aspetto importante per le aziende utenti: grazie a questo ecosistema, le capacità AI arrivano sotto forma di servizi pronti, accessibili via abbonamento o tramite API, cioè interfacce che permettono ai software di comunicare tra loro, senza dover costruire nulla da zero. Evitare in aula di citare cifre puntuali sugli investimenti, che cambiano molto rapidamente: se servono numeri aggiornati, verificarli poco prima della sessione. Va anche ricordato che l'infrastruttura dell'AI ha costi e impatti rilevanti, per esempio in termini di consumo energetico: è un tema emergente da tenere presente.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Entriamo in uno dei sottotemi a priorità alta. L'AI generativa non ha soltanto aggiunto nuove capacità tecniche: ha cambiato chi può usare l'AI e come. Fino a pochi anni fa l'AI era qualcosa che lavorava dietro le quinte, progettato da specialisti. Oggi chiunque può interagire direttamente con un sistema AI scrivendo una frase. È questa combinazione di nuove capacità e accessibilità che spiega la centralità attuale del tema.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Gran parte dell'AI tradizionale svolge compiti di analisi: classifica (questa email è spam o no? questo pezzo è difettoso o no?) oppure prevede (quanto venderemo il mese prossimo? qual è la probabilità che questo cliente abbandoni il servizio?). L'output è un'etichetta, un numero, una probabilità. L'AI generativa produce invece contenuti nuovi: un testo, un'immagine, un frammento di codice, una sintesi, una traduzione. Contenuti che non esistevano prima nella forma in cui vengono prodotti, anche se derivano da ciò che il modello ha appreso. È importante sottolineare che le due famiglie non sono in competizione: in azienda convivono e spesso si combinano. Un sistema predittivo può individuare i clienti a rischio di abbandono, e un sistema generativo può aiutare a preparare un messaggio personalizzato per ciascuno di loro, che una persona poi verifica. La classificazione più precisa tra AI predittiva, discriminativa e generativa sarà affrontata nel Tema 2.</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Questo è il cuore della svolta. La storia dell'informatica può essere letta anche come una storia delle interfacce, cioè di come le persone comunicano con i computer. All'inizio servivano comandi testuali precisi, da imparare a memoria. Poi le interfacce grafiche, con finestre, icone e mouse, hanno reso il computer accessibile a milioni di persone. Gli schermi touch e le app hanno fatto lo stesso con gli smartphone. Con l'AI generativa l'interfaccia diventa il linguaggio naturale: possiamo chiedere ciò che ci serve con parole nostre, in italiano, senza conoscere comandi o linguaggi di programmazione, e possiamo correggere e affinare la richiesta come in una conversazione. Questo abbassa drasticamente la barriera d'ingresso. Attenzione però: scrivere in linguaggio naturale è facile, scrivere richieste efficaci è una competenza che si impara. Il dialogo con l'AI e le tecniche per formulare buone richieste sono approfonditi nei Temi 5 e 6.</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30 novembre 2022 OpenAI rende disponibile al pubblico ChatGPT. Nel giro di poche settimane il servizio raggiunge milioni di utenti; secondo stime riportate all'epoca dalla stampa (analisi di UBS citata da Reuters, febbraio 2023), circa 100 milioni di utenti mensili in due mesi, un ritmo di adozione mai visto prima per un'applicazione consumer. Nei mesi e negli anni successivi altri sviluppatori hanno lanciato i propri assistenti, e le funzioni di AI generativa sono state integrate nei software di uso quotidiano: suite di produttività, motori di ricerca, sistemi operativi, strumenti di sviluppo, CRM. Oggi l'AI generativa arriva quindi in tre forme principali: assistenti conversazionali a cui ci si rivolge direttamente; funzioni AI integrate negli strumenti che già usiamo; e servizi accessibili via API, che le aziende incorporano nei propri sistemi. Non ci soffermiamo sui singoli prodotti: il confronto tra modelli e piattaforme è oggetto del Tema 4. Se necessario, aggiornare i riferimenti alla situazione del mercato al momento della sessione.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 generativa non si limita al testo. Oggi esistono sistemi in grado di generare testi (email, report, sintesi, traduzioni), immagini a partire da una descrizione, codice informatico, audio e voce sintetica, video, e di lavorare su dati strutturati come tabelle e fogli di calcolo. Molti sistemi sono multimodali, cioè capaci di ricevere e produrre più tipi di contenuto: per esempio descrivere una fotografia, leggere un grafico o trasformare una registrazione in un verbale. È utile far notare che la maturità non è la stessa per tutti i tipi di contenuto, e che qualità e affidabilità variano a seconda del compito: lo vedremo nel sottotema 1.6 e lo approfondiremo nel Tema 3. Domanda per il gruppo: quali di questi tipi di contenuto producete più spesso nel vostro lavoro quotidiano?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altro sottotema ad alta priorità. Nel linguaggio comune, e talvolta anche nel marketing dei fornitori, digitalizzazione, automazione e AI vengono spesso confusi. Chiarire le differenze ci aiuta a capire che cosa è davvero nuovo nell'AI, a valutare meglio le proposte che riceviamo e a riconoscere che spesso la soluzione migliore a un problema non è l'AI, ma una buona digitalizzazione o una semplice automazione.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Vediamo come i quattro passaggi possono coesistere nello stesso processo aziendale, usando un esempio semplice: la gestione delle email che i clienti inviano all'assistenza. Digitalizzazione: le email arrivano in una casella condivisa e vengono registrate nel CRM, con lo storico di ogni cliente consultabile. Automazione a regole: una regola invia subito una conferma di ricezione e inoltra all'amministrazione tutte le richieste provenienti da un determinato indirizzo o con determinate parole nell'oggetto. Apprendimento dai dati: un modello addestrato sulle richieste passate classifica ogni nuova email per categoria e urgenza, anche quando non contiene le parole previste dalle regole. AI generativa: un assistente riassume la richiesta, recupera le informazioni pertinenti e propone una bozza di risposta, che l'operatore controlla, modifica e invia. Il messaggio è che non si tratta di alternative: ciascuna tecnologia fa ciò che sa fare meglio. E la persona resta nel processo, con un ruolo diverso. Suggerimento: chiedere ai partecipanti di individuare i quattro livelli in un processo che conoscono bene.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è una distinzione concettuale che useremo molto nel resto del percorso. Il software tradizionale è deterministico: a parità di input, produce sempre lo stesso output, perché segue istruzioni precise scritte da programmatori. Se una calcolatrice sbaglia, c'è un errore nel programma, che può essere trovato e corretto. I sistemi AI basati sull'apprendimento, e in particolare quelli generativi, sono invece probabilistici: producono l'output più plausibile in base a ciò che hanno appreso e al contesto. Questo significa che possono produrre risposte diverse alla stessa domanda e che possono sbagliare anche quando funzionano 'correttamente', perché un risultato plausibile non è necessariamente un risultato vero. La conseguenza pratica è importante: con il software deterministico ci si può fidare del risultato una volta collaudato il programma; con i sistemi probabilistici occorre una verifica proporzionata all'importanza del risultato. Restiamo a livello generale: il meccanismo della variabilità sarà spiegato nel Tema 2 e le cause degli errori nel Tema 3.</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Arriviamo alla domanda più vicina all'esperienza dei partecipanti: perché tutto questo riguarda la nostra azienda? In questo sottotema vediamo perché l'AI è considerata una tecnologia trasversale, quali effetti potenziali può avere su produttività, qualità e innovazione, come cambia il lavoro e quali implicazioni competitive comporta. Chiuderemo con una distinzione decisiva: quella tra potenziale tecnologico e valore effettivamente realizzato. Ricordare che non entreremo nei casi d'uso specifici di ciascuna funzione né nei metodi di valutazione del valore: le applicazioni per tipo di attività sono nei Temi 8-11, il valore e la valutazione delle opportunità nei Temi 12 e 15.</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differenza di molte tecnologie che riguardano una sola funzione (pensiamo a un software di contabilità o a un sistema di gestione del magazzino), l'AI, e in particolare l'AI generativa, tocca potenzialmente tutte le funzioni, perché quasi tutte lavorano con informazioni, testi, dati e comunicazione. In questa slide ci sono solo esempi indicativi, citati per dare un'idea dell'ampiezza: marketing e comunicazione per la produzione di contenuti; vendite per la preparazione degli incontri e delle offerte; assistenza clienti per lo smistamento e le risposte; risorse umane per gli annunci e la formazione; amministrazione e finanza per l'elaborazione dei documenti; operations e produzione per la manutenzione predittiva e il controllo qualità; IT per lo sviluppo e il supporto; legale e compliance per l'analisi preliminare dei documenti. Non approfondire i singoli casi: le applicazioni per tipo di attività sono nei Temi 8-11, l'individuazione delle opportunità nel Tema 15. Il messaggio è l'ampiezza: proprio perché è trasversale, l'AI richiede consapevolezza diffusa e non solo competenze in un singolo reparto.</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 è spesso descritta come una tecnologia abilitante, o di uso generale, come lo sono state in passato l'elettricità o internet. Una tecnologia abilitante non è un prodotto in sé, ma una capacità che può essere incorporata in molti contesti diversi, rendendo possibili cose nuove o facendo meglio quelle esistenti. Per l'AI questo vale su quattro piani. Nelle funzioni: supporta il lavoro delle persone nelle diverse aree aziendali, come abbiamo visto. Nei prodotti: può essere incorporata in ciò che l'azienda vende, per esempio un macchinario che segnala in anticipo i propri guasti o un software con funzioni intelligenti. Nei servizi: può cambiare il modo in cui l'azienda serve i clienti, per esempio con un'assistenza disponibile in qualsiasi orario per le richieste più semplici. Nei processi: può ridisegnare il modo in cui il lavoro viene organizzato, non solo velocizzare singoli compiti. Il paragone con l'elettricità è utile anche per un altro motivo: i benefici economici delle grandi tecnologie abilitanti si sono manifestati pienamente solo quando le organizzazioni hanno ripensato i propri processi, e questo ha richiesto tempo.</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 può produrre effetti su tre dimensioni principali. Produttività: svolgere certe attività in meno tempo, per esempio una prima bozza di documento o la sintesi di materiali lunghi. Qualità: migliorare l'output, per esempio con testi più chiari, controlli più sistematici, analisi più complete. Innovazione: rendere possibili cose prima non praticabili, come nuovi servizi o l'esplorazione rapida di molte alternative. Sottolineare la parola 'potenziali'. Un esempio di evidenza empirica: lo studio di Erik Brynjolfsson, Danielle Li e Lindsey Raymond, pubblicato nel 2025 sul </a:t>
            </a:r>
            <a:r>
              <a:rPr lang="en-US" b="1" dirty="0"/>
              <a:t>Quarterly Journal of Economics</a:t>
            </a:r>
            <a:r>
              <a:rPr lang="en-US" dirty="0"/>
              <a:t>, condotto su 5.172 operatori di assistenza clienti di un'azienda di software, ha rilevato che l'introduzione di un assistente basato su AI generativa ha aumentato in media del 15% il numero di problemi risolti per ora. L'aumento è stato del 36% per gli operatori meno qualificati, mentre per i più qualificati non si è osservato un aumento di produttività. Una precisazione utile se qualcuno conosce lo studio: la prima versione del 2023, ancora molto citata, riportava valori leggermente diversi, 14% e 34%. È un risultato interessante perché mostra due cose: i benefici possono essere reali e misurabili, ma non sono uguali per tutti. È un singolo studio in un contesto specifico: non va generalizzato automaticamente ad altri contesti. Fonte: Brynjolfsson, Li, Raymond, 'Generative AI at Work', The Quarterly Journal of Economics, 140(2), 2025. Lo studio è ripreso nel Tema 12, dedicato alla creazione di valore.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L'impatto dell'AI sul lavoro è uno dei temi che generano più preoccupazioni, ed è giusto affrontarlo con equilibrio. Un primo concetto utile: l'AI agisce soprattutto sulle singole attività, più che sui ruoli nel loro complesso. Un ruolo è fatto di molte attività diverse: alcune possono essere automatizzate, altre supportate dall'AI, altre restano essenzialmente umane, come le relazioni, il giudizio in situazioni complesse e la responsabilità delle decisioni. Un secondo concetto: in molti casi l'AI aumenta le capacità delle persone invece di sostituirle; la persona resta responsabile del risultato, ma cambia il modo in cui lavora. Questo sposta il valore verso competenze come saper formulare bene un problema, valutare criticamente un output, integrare l'AI nel proprio flusso di lavoro e mantenere le competenze di dominio necessarie per accorgersi degli errori. È onesto riconoscere che gli effetti complessivi sull'occupazione sono ancora oggetto di studio e dibattito, e che alcune attività e professioni potranno essere trasformate in modo significativo. Evitare in aula sia rassicurazioni assolute sia scenari catastrofici.</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 ha anche implicazioni competitive, che è bene considerare senza enfasi eccessiva. Primo: quando una capacità diventa ampiamente disponibile, il suo uso tende a diventare uno standard. Se tutti i concorrenti usano l'AI per rispondere più rapidamente ai clienti, non usarla può diventare uno svantaggio, mentre usarla non è più di per sé un vantaggio. Secondo: il vantaggio duraturo raramente deriva dallo strumento in sé, che è accessibile a tutti, ma da ciò che è specifico dell'azienda: la conoscenza del proprio mercato, la qualità dei propri dati, i processi, le competenze delle persone e la capacità di imparare in fretta. Terzo: possono cambiare le aspettative dei clienti, per esempio sui tempi di risposta o sulla personalizzazione. Quarto: l'AI può abbassare le barriere d'ingresso in alcuni settori, favorendo nuovi concorrenti. Restiamo a livello di consapevolezza: le valutazioni strategiche e organizzative sono oggetto dei Temi 12, 15 e 16. Domanda per il gruppo: nel nostro settore, quali di queste dinamiche vediamo già?</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a:t>
            </a:r>
            <a:r>
              <a:rPr lang="en-US" dirty="0" err="1"/>
              <a:t>potenziale</a:t>
            </a:r>
            <a:r>
              <a:rPr lang="en-US" dirty="0"/>
              <a:t> tecnologico è ciò che l'AI potrebbe fare; il valore realizzato è il beneficio che l'azienda ottiene davvero. Tra i due c'è un percorso con diversi passaggi, e a ciascuno corrisponde un possibile ostacolo. Prima di tutto bisogna individuare un problema reale da risolvere, non adottare l'AI per moda: molti progetti partono dalla tecnologia e cercano poi un problema. Poi la soluzione va integrata nei processi, con dati adeguati e strumenti compatibili. Quindi deve essere adottata dalle persone, che devono sapere come usarla, fidarsi il giusto e trovarla utile. Infine il valore va misurato, confrontando i risultati con la situazione di partenza e tenendo conto anche dei costi, compreso il tempo necessario per verificare gli output. A ogni passaggio parte del potenziale può andare perso: per questo è frequente che le iniziative AI producano meno valore di quanto ci si aspettasse. Non entriamo nei metodi di valutazione del valore, oggetto dei Temi 12 e 15: qui ci interessa la consapevolezza della distanza tra potenziale e valore.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1DA79-0798-3381-6F84-28237BB333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1063EA-B4AF-D49A-BD35-3EBA81B844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372A7E-E4BE-4A92-BC6D-C48BDC8C5A35}"/>
              </a:ext>
            </a:extLst>
          </p:cNvPr>
          <p:cNvSpPr>
            <a:spLocks noGrp="1"/>
          </p:cNvSpPr>
          <p:nvPr>
            <p:ph type="body" idx="1"/>
          </p:nvPr>
        </p:nvSpPr>
        <p:spPr/>
        <p:txBody>
          <a:bodyPr/>
          <a:lstStyle/>
          <a:p>
            <a:r>
              <a:rPr lang="en-US" dirty="0"/>
              <a:t>Percorso A e B. Benvenuti. Questa è la prima di tre sessioni dedicate all'intelligenza artificiale in azienda. Oggi non parliamo ancora di strumenti specifici né di progetti: costruiamo un linguaggio comune. Vogliamo capire che cosa è davvero l'AI, come funziona a grandi linee, che cosa sa fare bene e dove invece sbaglia, e perché il controllo delle persone resta decisivo. Alla fine della mattinata guarderemo insieme dove l'AI può essere utile in un'azienda come la vostra, reparto per reparto. Non servono conoscenze tecniche: se qualcosa non è chiaro, fermatemi pure.</a:t>
            </a:r>
          </a:p>
        </p:txBody>
      </p:sp>
      <p:sp>
        <p:nvSpPr>
          <p:cNvPr id="4" name="Slide Number Placeholder 3">
            <a:extLst>
              <a:ext uri="{FF2B5EF4-FFF2-40B4-BE49-F238E27FC236}">
                <a16:creationId xmlns:a16="http://schemas.microsoft.com/office/drawing/2014/main" id="{FEA8FB6C-61C3-1F5D-57BD-CC46E2406E19}"/>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3087698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 esiste una definizione di AI universalmente condivisa, ma oggi ne abbiamo una molto autorevole e rilevante per le aziende europee: quella del Regolamento europeo sull'Intelligenza Artificiale, l'AI Act (Regolamento UE 2024/1689, articolo 3), che riprende in larga parte la definizione dell'OCSE. In sintesi, un sistema di AI è un sistema automatizzato, progettato per funzionare con livelli di autonomia variabili, che può adattarsi dopo la messa in funzione e che, per obiettivi espliciti o impliciti, deduce dagli input che riceve come generare output quali previsioni, contenuti, raccomandazioni o decisioni, in grado di influenzare ambienti fisici o virtuali. La parola chiave è 'deduce': a differenza del software tradizionale, che esegue istruzioni scritte riga per riga, un sistema AI ricava come produrre il risultato a partire da ciò che ha appreso o da una base di conoscenza. Non è necessario memorizzare la definizione: basta coglierne gli elementi. La definizione non è stata modificata dal Digital Omnibus del 2026 (Regolamento UE 2026/1744), che ha cambiato altre parti dell'AI Act. Il quadro normativo è approfondito nel Tema 18; qui ci interessa come definizione di riferimento.</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integrazione del sottotema riguarda un fenomeno psicologico più che tecnico. Nel 1966 Joseph Weizenbaum, ricercatore al MIT, creò ELIZA, un programma molto semplice che simulava uno psicoterapeuta riformulando le frasi dell'utente come domande, sulla base di poche regole. Se l'utente scriveva 'sono triste per mio padre', ELIZA poteva rispondere 'parlami della tua famiglia'. Nonostante la semplicità del meccanismo, molte persone attribuivano al programma comprensione ed empatia, e alcune gli confidavano questioni personali. Weizenbaum ne rimase colpito e preoccupato. Da allora si parla di 'effetto ELIZA': la tendenza ad attribuire comprensione e qualità umane a un sistema che produce linguaggio in modo convincente. Con gli assistenti AI di oggi l'effetto è molto più forte, perché il linguaggio è molto più fluente, il tono è naturale e i sistemi usano espressioni come 'penso', 'mi dispiace', 'capisco'. Queste formule </a:t>
            </a:r>
            <a:r>
              <a:rPr lang="en-US" b="1" dirty="0"/>
              <a:t>sono il risultato dell'addestramento su testi umani </a:t>
            </a:r>
            <a:r>
              <a:rPr lang="en-US" dirty="0"/>
              <a:t>e di scelte di progettazione: non sono, di per sé, prova di pensieri o emozioni. Riconoscere questa tendenza in noi stessi è il primo passo per usare l'AI in modo lucido.</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 Tema 1 abbiamo visto come si sono succeduti storicamente diversi approcci all'AI. Ora li riprendiamo da un altro punto di vista: non la storia, ma la classificazione. Vedremo l'AI simbolica, il Machine Learning, il Deep Learning, la distinzione tra AI predittiva, discriminativa e generativa e l'AI multimodale. Un'avvertenza importante fin dall'inizio: queste categorie non sono caselle mutuamente esclusive, perché rispondono a criteri di classificazione diversi.</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etichette che si sentono più spesso rispondono a domande diverse. Prima domanda: come viene costruita la conoscenza del sistema? Con regole scritte da persone (AI simbolica) oppure apprendendo dai dati (Machine Learning). Seconda domanda: con quale tecnica si apprende? Con metodi di Machine Learning 'classico' oppure con reti neurali profonde (Deep Learning). Terza domanda: che cosa produce il sistema? Una previsione, una classificazione o un contenuto nuovo (AI predittiva, discriminativa, generativa). Quarta domanda: quali tipi di dati tratta? Un solo tipo oppure più tipi insieme (unimodale o multimodale). Ne segue che uno stesso sistema appartiene contemporaneamente a più categorie. Un grande modello linguistico come quelli degli assistenti AI, per esempio, è un sistema di Machine Learning, basato sul Deep Learning, generativo e spesso multimodale. Per questo chiedersi se un sistema sia 'Deep Learning o AI generativa' è come chiedersi se un'auto sia 'diesel o station wagon': sono due aspetti diversi.</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Nell'AI</a:t>
            </a:r>
            <a:r>
              <a:rPr lang="en-US" dirty="0"/>
              <a:t> simbolica la conoscenza è scritta esplicitamente da persone, sotto forma di regole, alberi decisionali o basi di conoscenza. Il sistema applica queste regole ai casi che riceve. È trasparente, perché possiamo sempre leggere la regola applicata, e prevedibile, ma fatica con i casi non previsti e con le attività in cui le regole sono difficili da formulare. Nel Machine Learning nessuno scrive le regole: il sistema le ricava dagli esempi, individuando regolarità nei dati. È adatto a problemi complessi e sfumati, ma il suo comportamento dipende dalla qualità dei dati e può essere meno facile da spiegare. Nella pratica aziendale i due approcci convivono spesso nello stesso sistema: per esempio un modello di Machine Learning stima il rischio di una transazione, e una regola esplicita stabilisce che sopra una certa soglia serve sempre un controllo umano.</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Deep Learning è la famiglia di tecniche di Machine Learning basata sulle reti neurali artificiali con molti strati. Il nome 'rete neurale' deriva da una lontana ispirazione al cervello, ma è bene chiarire che una rete neurale artificiale non è un cervello in miniatura: è una struttura matematica. Funziona così, a livello intuitivo. L'input, per esempio i pixel di un'immagine, entra nel primo strato. Ogni 'neurone' artificiale riceve valori dai neuroni dello strato precedente, li combina pesandoli in modo diverso e passa il risultato allo strato successivo. Strato dopo strato, la rete costruisce rappresentazioni sempre più astratte: nel caso delle immagini, i primi strati reagiscono a bordi e linee, quelli intermedi a forme e parti di oggetti, gli ultimi a concetti come 'volto' o 'auto'. I pesi delle connessioni sono i parametri che vengono regolati durante l'addestramento, come vedremo nel sottotema 2.3. Il vantaggio del Deep Learning è che impara da solo quali caratteristiche dei dati sono utili, senza che qualcuno debba indicarle. Non entriamo nella matematica: per i nostri scopi basta questa immagine di strati che trasformano progressivamente l'informazione.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classificazione guarda a che cosa produce il sistema. L'AI predittiva stima un valore o un evento futuro a partire dai dati storici: quante unità venderemo il mese prossimo, quando una macchina avrà probabilmente bisogno di manutenzione, quale cliente rischia di abbandonarci. L'AI discriminativa assegna un input a una categoria, distinguendo tra classi: questa email è spam o no, questo pezzo è conforme o difettoso, questa recensione è positiva o negativa. Nella pratica predittiva e discriminativa si sovrappongono molto, e spesso si parla genericamente di 'AI analitica' o 'tradizionale'. L'AI generativa, infine, produce contenuti nuovi, come testi, immagini, codice o audio, coerenti con ciò che ha appreso. Anche qui i confini non sono rigidi: un modello generativo può essere usato per classificare (basta chiedergli 'questa recensione è positiva o negativa?'), e le tre funzioni possono combinarsi nello stesso processo. Domanda per il gruppo: nei processi della nostra azienda, quali esempi riconoscete per ciascuna delle tre categorie?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modalità è un tipo di dato: testo, immagini, audio, video, ma anche dati tabellari o segnali di sensori. I primi sistemi AI erano quasi sempre unimodali, cioè lavoravano su un solo tipo di dato. I sistemi multimodali possono ricevere in input e, in alcuni casi, produrre in output tipi di dati diversi, mettendoli in relazione tra loro. Esempi concreti: fotografare un documento cartaceo e chiedere di estrarne i dati principali; caricare un grafico e chiedere di commentarlo; trasformare la registrazione di una riunione in un verbale; descrivere a parole un'immagine da generare; porre una domanda a voce e ricevere una risposta parlata. La multimodalità amplia molto i casi d'uso, perché gran parte delle informazioni aziendali non è solo testo: pensiamo a disegni tecnici, foto di prodotti, moduli scansionati, registrazioni di chiamate. Come sempre, le prestazioni non sono uniformi: un sistema può leggere molto bene un testo stampato e meno bene una tabella complessa o una scrittura a mano.</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concetto chiave del sottotema dice che approcci diversi sono adatti a problemi diversi. Questa tabella lo rende concreto, con alcuni esempi indicativi. Se le regole sono chiare, stabili e verificabili, come il calcolo di uno sconto contrattuale, un sistema a regole o un normale software deterministico è spesso la scelta migliore: è più economico, prevedibile e verificabile. Se dobbiamo stimare un valore a partire da dati storici strutturati, come la domanda futura, il Machine Learning predittivo è lo strumento naturale. Se dobbiamo riconoscere difetti in immagini, il Deep Learning discriminativo è oggi lo standard. Se dobbiamo scrivere bozze, riassumere o riformulare testi, l'AI generativa è la più adatta. Se le informazioni arrivano in forme diverse, come foto, documenti scansionati e testo, serve un sistema multimodale. Il messaggio pratico: davanti a un problema, la domanda giusta non è 'come possiamo usare l'AI generativa?', ma 'qual è l'approccio più adatto a questo problema?'. A volte la risposta non è nemmeno l'AI.</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Entriamo nel meccanismo dell'apprendimento automatico. È uno dei sottotemi in cui due concetti vanno compresi bene: la differenza tra addestramento e inferenza, che chiarisce molti equivoci sull'uso quotidiano dell'AI. Vedremo che cosa significa apprendere dai dati, che ruolo hanno gli esempi, che cosa sono i parametri e perché la vera prova di un modello è la capacità di generalizzare a casi nuovi. Ricordiamo che non tutti i sistemi AI apprendono dai dati: i sistemi a regole, per esempio, no. Qui parliamo dei sistemi di Machine Learning.</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Partiamo da un esempio familiare: stimare il prezzo di un appartamento. </a:t>
            </a:r>
          </a:p>
          <a:p>
            <a:r>
              <a:rPr lang="en-US" dirty="0"/>
              <a:t>Un agente immobiliare esperto lo fa in base all'esperienza: ha visto centinaia di vendite e sa, più o meno, quanto incidono la zona, la superficie, il piano, lo stato dell'immobile. </a:t>
            </a:r>
          </a:p>
          <a:p>
            <a:r>
              <a:rPr lang="en-US" dirty="0" err="1"/>
              <a:t>Nessuno</a:t>
            </a:r>
            <a:r>
              <a:rPr lang="en-US" dirty="0"/>
              <a:t> gli ha dato una formula: l'ha ricavata dagli </a:t>
            </a:r>
            <a:r>
              <a:rPr lang="en-US" dirty="0" err="1"/>
              <a:t>esempi</a:t>
            </a:r>
            <a:r>
              <a:rPr lang="en-US" dirty="0"/>
              <a:t>.</a:t>
            </a:r>
          </a:p>
          <a:p>
            <a:endParaRPr lang="en-US" dirty="0"/>
          </a:p>
          <a:p>
            <a:r>
              <a:rPr lang="en-US" dirty="0"/>
              <a:t> Un sistema di Machine Learning fa qualcosa di simile, in modo matematico e su scala molto più ampia. Riceve migliaia di esempi di vendite passate, ciascuno con le caratteristiche dell'immobile e il prezzo effettivo, e </a:t>
            </a:r>
            <a:r>
              <a:rPr lang="en-US" b="1" dirty="0"/>
              <a:t>cerca la relazione che collega le caratteristiche al prezzo</a:t>
            </a:r>
            <a:r>
              <a:rPr lang="en-US" dirty="0"/>
              <a:t>. Alla fine dell'addestramento ottiene un modello: una sorta di formula, molto complessa, che può applicare a un appartamento nuovo per stimarne il prezzo. Il sistema non 'sa' che cos'è un appartamento: ha individuato regolarità numeriche nei dati. Ed è proprio per questo che la qualità e la rappresentatività degli esempi sono così importanti: se nei dati mancano certi tipi di immobili, il modello non saprà valutarli bene.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 esempi da cui un sistema apprende possono essere di tipo diverso, e questo dà origine a tre modalità principali di apprendimento. Basta conoscerle a grandi linee. Nell'apprendimento supervisionato ogni esempio è accompagnato dalla risposta corretta, detta etichetta: email marcate come spam o non spam, immagini di pezzi marcate come conformi o difettosi, vendite passate con il prezzo effettivo. È la modalità più diffusa nelle applicazioni aziendali. Nell'apprendimento non supervisionato non ci sono etichette: il sistema cerca da solo strutture nei dati, per esempio gruppi di clienti con comportamenti d'acquisto simili, utili per la segmentazione. Nell'apprendimento per rinforzo il sistema impara per tentativi, ricevendo un segnale positivo o negativo in base al risultato delle sue azioni; è usato per esempio nei giochi, nella robotica e, come vedremo, anche per affinare i modelli linguistici sulla base delle preferenze umane. In tutti i casi vale lo stesso principio: il modello può essere buono solo quanto gli esempi da cui ha imparato. Dati scarsi, sbagliati o non rappresentativi producono modelli scarsi, sbagliati o distorti; il tema dei bias sarà approfondito nel Tema 3.</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Dove 'vive' ciò che un modello ha appreso? Nei suoi parametri. I parametri sono valori numerici interni al modello, come i pesi delle connessioni di una rete neurale che abbiamo visto prima. Un'immagine utile è quella di un enorme mixer audio con moltissime manopole: ogni manopola regola quanto conta un certo segnale nel produrre il risultato. All'inizio dell'addestramento le manopole sono in posizioni casuali e il modello produce risultati senza senso. L'addestramento consiste nel regolarle, poco alla volta, finché il modello produce risultati corretti sugli esempi. I modelli semplici hanno poche decine o centinaia di parametri. I grandi modelli linguistici ne hanno miliardi: GPT-3, presentato nel 2020, ne aveva 175 miliardi, e molti modelli recenti sono più grandi, anche se spesso le dimensioni non vengono rese pubbliche. Due precisazioni importanti. Primo: i parametri non contengono una copia ordinata dei dati di addestramento, come un archivio, ma una rappresentazione distribuita delle regolarità apprese. Secondo: una volta terminato l'addestramento, i parametri restano fissi durante l'uso normale; quando parliamo con un assistente, non stiamo modificando i suoi parametri.</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Vediamo il meccanismo dell'addestramento in quattro passaggi, ripetuti moltissime volte. Primo: il modello riceve un esempio e produce una previsione, usando i parametri attuali. Secondo: la previsione viene confrontata con la risposta corretta. Terzo: si misura l'errore, cioè quanto la previsione si discosta dalla risposta corretta. Quarto: i parametri vengono aggiustati leggermente, nella direzione che riduce l'errore. Poi si passa all'esempio successivo, e così via, per milioni o miliardi di volte. Il procedimento matematico che calcola in che direzione aggiustare ogni parametro si chiama ottimizzazione, e nelle reti neurali usa la retropropagazione dell'errore che abbiamo citato nel Tema 1: non serve conoscerne i dettagli. Per i grandi modelli questo processo richiede settimane o mesi di calcolo su migliaia di processori specializzati, con costi molto elevati. È per questo che l'addestramento di un grande modello è un'attività svolta da pochi grandi sviluppatori, e non qualcosa che avviene mentre lo usiamo.</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è una delle distinzioni da comprendere bene. L'addestramento è la fase in cui il modello apprende: si usano grandi quantità di dati, i parametri vengono modificati, servono enormi risorse di calcolo e il processo avviene una volta, o comunque raramente, prima che il modello venga messo a disposizione. L'inferenza è la fase in cui il modello viene usato: riceve un input nuovo, per esempio la nostra domanda, e produce un output applicando i parametri già appresi, che restano invariati. Avviene ogni volta che qualcuno usa il sistema, richiede risorse molto minori per singola richiesta e tempi brevi. Perché è importante saperlo? Perché chiarisce molti equivoci. Quando usiamo un assistente AI, siamo in fase di inferenza: correggere una risposta o fornire un'informazione non 'insegna' al modello in modo permanente. Un fornitore può eventualmente usare le conversazioni per addestrare versioni future, ma si tratta di un processo separato, regolato dalle condizioni d'uso del servizio: un aspetto importante da verificare quando si condividono dati aziendali, che riprenderemo nei Temi 14 e 17.</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Arriviamo ai Large Language Models, i modelli linguistici di grandi dimensioni che stanno alla base degli assistenti AI che usiamo ogni giorno. È uno dei concetti da comprendere bene. Vedremo che cosa sono, come rappresentano il linguaggio attraverso i token, l'idea dell'architettura Transformer e del meccanismo di attenzione, come generano le risposte, quali capacità mostrano e perché uno stesso modello può affrontare compiti molto diversi. Un'avvertenza: spesso si sente dire che un LLM è 'solo un completamento automatico evoluto'. C'è del vero, ma è una semplificazione che rischia di essere fuorviante, e vedremo perché.</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Large Language Model, o LLM, è un modello di Deep Learning addestrato su enormi quantità di testo per elaborare e generare linguaggio. Scomponiamo il nome. 'Language Model', modello linguistico: un modello che ha appreso le regolarità del linguaggio, cioè come le parole e le frasi si combinano, e che in questo modo ha catturato anche molte informazioni sul mondo e molte strutture di ragionamento presenti nei testi. 'Large', di grandi dimensioni: grande per numero di parametri, che sono miliardi, per quantità di testo di addestramento, che include libri, siti web, articoli, codice e molto altro, e per potenza di calcolo usata. L'addestramento di un LLM moderno avviene tipicamente in due grandi fasi. La prima è il pre-addestramento, in cui il modello impara dal testo prevedendo, miliardi di volte, quale parte di testo viene dopo. La seconda è l'affinamento, in cui il modello viene ulteriormente addestrato con esempi di istruzioni e risposte di qualità e con il feedback umano, per diventare un assistente che segue le istruzioni, risponde in modo utile e rispetta regole di sicurezza. È questa seconda fase a trasformare un modello che 'continua testi' in un assistente conversazionale.</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LLM non legge il testo lettera per lettera né parola per parola, ma in unità chiamate token. Un token può essere una parola intera, una parte di parola, un segno di punteggiatura o uno spazio seguito da una parola. Le parole comuni sono spesso un solo token; quelle lunghe o rare vengono spezzate in più pezzi. L'esempio in slide è illustrativo: la suddivisione effettiva dipende dal modello. Ogni token corrisponde a un numero in un vocabolario di decine o centinaia di migliaia di elementi, e il modello lavora su sequenze di questi numeri. Perché i token sono importanti per chi usa l'AI? Per tre ragioni pratiche. Primo: i limiti dei modelli, come la lunghezza massima di testo che possono considerare, sono misurati in token, e anche i costi dei servizi a consumo sono spesso calcolati in token. Secondo: a parità di contenuto, lingue diverse richiedono un numero diverso di token; l'italiano di solito ne richiede un po' più dell'inglese, perché i vocabolari dei modelli sono costruiti su testi in gran parte inglesi. Terzo: alcuni comportamenti curiosi dei modelli, come le difficoltà a contare le lettere di una parola, si spiegano proprio con il fatto che il modello non vede le singole lettere ma i token.</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volta suddiviso il testo in token, il modello trasforma ciascun token in una rappresentazione numerica chiamata embedding: una lunga lista di numeri che si può immaginare come una posizione in uno spazio con moltissime dimensioni. La proprietà fondamentale di questo spazio è che token e concetti con significati simili si trovano in posizioni vicine. Nella slide lo rappresentiamo in due dimensioni, a scopo puramente illustrativo: i documenti commerciali come fattura, preventivo e ordine stanno vicini tra loro; gli animali domestici formano un altro gruppo; le città un altro ancora. Queste posizioni non sono decise da qualcuno, ma emergono durante l'addestramento, perché parole usate in contesti simili finiscono per avere rappresentazioni simili. E, cosa ancora più importante, durante l'elaborazione la rappresentazione di ogni token viene arricchita dal contesto in cui si trova, come vedremo tra poco con il meccanismo di attenzione. È questa capacità di rappresentare il significato, e non solo la forma delle parole, che permette a un LLM di capire che 'fattura' e 'documento contabile' sono collegati, anche se non condividono nessuna lettera. Gli embedding sono anche alla base della ricerca semantica usata nei sistemi RAG, di cui parleremo nel sottotema 2.6.</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Quasi tutti i grandi modelli linguistici attuali si basano sull'architettura Transformer, introdotta nel 2017 da ricercatori di Google nell'articolo 'Attention Is All You Need'. L'idea centrale è il meccanismo di attenzione. Per interpretare ogni parola, il modello considera tutte le altre parole del testo e stabilisce quanto ciascuna sia rilevante, cioè quanta 'attenzione' dedicarle. Prendiamo la parola 'pesca'. Nella frase 'Ho mangiato una pesca matura' il suo significato è determinato da 'mangiato' e 'matura': è un frutto. Nella frase 'Domenica andiamo a pesca sul lago' è determinato da 'andiamo' e 'lago': è un'attività. Il meccanismo di attenzione permette al modello di collegare ogni parola a quelle che ne chiariscono il significato, anche se sono lontane nel testo, per esempio un pronome che si riferisce a un nome citato tre frasi prima. Nei modelli reali questo avviene in molti strati successivi e con molte 'teste' di attenzione in parallelo, ciascuna sensibile a relazioni diverse. Un vantaggio pratico del Transformer è che elabora i token in parallelo anziché uno alla volta, e per questo si presta molto bene all'addestramento su larga scala con le GPU. Non serve approfondire oltre: il concetto da ricordare è che il modello interpreta ogni parola alla luce del contesto.</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 genera il testo un LLM? Un token alla volta. Il modello riceve l'intero testo disponibile, cioè le istruzioni, la nostra richiesta e quanto ha già scritto, e calcola, per ogni token del suo vocabolario, la probabilità che sia quello giusto per continuare. Poi ne sceglie uno, lo aggiunge al testo e ripete l'intero processo per il token successivo, considerando anche quello appena aggiunto. Una risposta di qualche paragrafo richiede quindi centinaia di questi cicli, ed è per questo che negli assistenti vediamo spesso la risposta comparire progressivamente. Nell'esempio, dopo 'Oggi il cielo è', il modello assegna probabilità più alte a parole come 'sereno', 'nuvoloso' o 'azzurro' e molto basse a parole incoerenti. Le percentuali in slide sono illustrative. Due conseguenze importanti. Primo: il modello non scrive prima la risposta completa per poi mostrarla; la costruisce passo dopo passo, e ogni scelta condiziona le successive. Secondo: la scelta del token non è sempre quella più probabile, ma avviene con un certo grado di casualità controllata. Questo spiega la variabilità delle risposte, che approfondiremo nel sottotema 2.7.</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È vero che il meccanismo di base di un LLM consiste nel prevedere il token successivo, ed è per questo che talvolta lo si descrive come un 'completamento automatico evoluto', simile ai suggerimenti della tastiera dello smartphone. Ma fermarsi qui sarebbe fuorviante, per almeno tre ragioni. Primo, la scala e la ricchezza delle rappresentazioni: per prevedere bene il testo successivo in miliardi di casi diversi, il modello deve sviluppare rappresentazioni interne di grammatica, significato, fatti, relazioni logiche e stili, molto al di là della semplice frequenza delle parole. Il suggeritore della tastiera guarda poche parole; un LLM considera l'intero contesto. Secondo, l'affinamento: i modelli usati negli assistenti sono addestrati a seguire istruzioni, a dialogare e a rispondere in modo utile, non solo a continuare un testo. Terzo, il contesto: un LLM produce la risposta tenendo conto delle istruzioni, dei documenti forniti e della conversazione, e spesso è integrato con strumenti esterni come la ricerca. All'estremo opposto, va evitato anche l'errore inverso: il fatto che queste capacità siano notevoli non significa che il modello capisca nel senso umano o che non sbagli. La descrizione più corretta è quella del concetto chiave: un LLM genera output usando regolarità apprese e il contesto disponibile.</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Dopo aver visto come funziona un modello, guardiamo che cosa succede quando lo usiamo. Seguiremo il percorso di una richiesta, dall'input all'output, e chiariremo alcuni concetti molto pratici: la finestra di contesto, la cronologia della conversazione, la differenza tra contesto temporaneo e memoria persistente e la differenza tra il modello e l'applicazione che lo integra. È uno dei sottotemi con le ricadute più dirette sull'uso quotidiano. Ricordiamo che il dialogo con l'AI e le tecniche per scrivere prompt efficaci sono oggetto dei Temi 5 e 6: qui ci interessa capire il meccanismo.</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prompt è il testo che inviamo al sistema: la nostra domanda o richiesta. Ma il modello, in realtà, riceve molto di più del solo messaggio che scriviamo. Riceve un insieme di informazioni che l'applicazione compone e gli passa a ogni richiesta. Le istruzioni di sistema, impostate dall'applicazione o dall'azienda, che definiscono il comportamento dell'assistente, il tono, le regole da rispettare, e che di solito l'utente non vede. La cronologia della conversazione, cioè i messaggi precedenti. Eventuali documenti, file o risultati di ricerche aggiunti al contesto. E infine il nostro messaggio. Tutto questo insieme costituisce l'input effettivo del modello. L'output è la risposta generata, che può essere testo ma anche, nei sistemi multimodali, un'immagine, un file o un'azione eseguita tramite uno strumento. Il messaggio pratico è che la risposta non dipende solo da ciò che scriviamo, ma da tutto ciò che il modello riceve: per questo due persone che fanno la stessa domanda in applicazioni diverse, o in conversazioni diverse, possono ottenere risposte diverse.</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finestra di contesto è la quantità massima di testo, misurata in token, che il modello può considerare in una singola elaborazione. Comprende tutto: istruzioni di sistema, cronologia, documenti, il nostro messaggio e anche la risposta che sta generando. Un'immagine utile è quella di una scrivania: il modello può lavorare solo con i fogli che ci stanno sopra; ciò che non è sulla scrivania, per lui, non esiste. Le dimensioni variano molto da modello a modello e sono cresciute rapidamente negli ultimi anni: da poche migliaia di token dei primi assistenti a centinaia di migliaia o più nei modelli recenti, sufficienti per interi libri o raccolte di documenti. Che cosa succede quando la scrivania è piena? Dipende dall'applicazione: le parti più vecchie della conversazione possono essere escluse o riassunte, oppure il sistema segnala che il limite è stato raggiunto. Inoltre, una finestra più grande non significa attenzione uniforme su tutto: alcune ricerche, come lo studio 'Lost in the Middle' di Liu e colleghi (pubblicato nel 2024), hanno mostrato che i modelli possono trascurare informazioni collocate nel mezzo di contesti molto lunghi. Il messaggio pratico: fornire il contesto giusto conta più che fornirne tanto.</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Distinguiamo due modi in cui un sistema può 'tenere a mente' le informazioni. Il contesto temporaneo è tutto ciò che si trova nella finestra di contesto durante una conversazione: vale solo per quella conversazione e scompare quando ne iniziamo una nuova. È il meccanismo di base, sempre presente. La memoria persistente è una funzione che alcune applicazioni offrono: il sistema salva certe informazioni, come preferenze, dati sul nostro ruolo o progetti in corso, e le reinserisce automaticamente nel contesto delle conversazioni future. È importante capire che anche la memoria persistente non modifica il modello: è l'applicazione che archivia le informazioni e le ripresenta al modello come parte del contesto. Le funzioni di memoria variano molto tra i prodotti: alcune sono automatiche, altre si attivano su richiesta, quasi sempre l'utente può vederle, modificarle o disattivarle. Dal punto di vista aziendale questo ha implicazioni rilevanti: è bene sapere che cosa viene memorizzato, dove e per quanto tempo, soprattutto quando si lavora con informazioni riservate. Questi aspetti sono ripresi nei Temi 14 e 17, per la protezione dei dati, e nel Tema 4, per il confronto tra strumenti.</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Ultima distinzione del sottotema, molto importante: il modello e l'applicazione che lo integra non sono la stessa cosa. Il modello è il motore: il sistema addestrato che elabora token e genera risposte. L'applicazione, o prodotto, è tutto ciò che sta intorno: l'interfaccia con cui interagiamo, le istruzioni di sistema, le funzioni di ricerca sul web, la possibilità di caricare file, i collegamenti ad altri strumenti e servizi aziendali, la memoria, i filtri di sicurezza, le regole su come vengono trattati i dati. Un paragone utile è quello dell'automobile: il motore è fondamentale, ma l'esperienza di guida dipende anche dal resto della vettura. Per questo lo stesso modello può comportarsi in modo diverso in prodotti diversi, e due prodotti con modelli diversi possono offrire funzioni simili. Alcuni comportamenti che attribuiamo 'all'AI' sono in realtà dovuti all'applicazione: per esempio la capacità di citare fonti aggiornate dipende dalla presenza di una funzione di ricerca, non dal modello in sé. Quando valutiamo uno strumento, quindi, conviene chiedersi sia quale modello usa sia quali componenti offre. Il confronto tra prodotti e piattaforme è oggetto del Tema 4.</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Questo sottotema risponde a una domanda fondamentale per l'uso professionale dell'AI: da dove provengono le informazioni contenute in una risposta? Distingueremo le informazioni apprese durante l'addestramento, quelle fornite durante l'interazione e quelle recuperate da fonti e strumenti esterni. Vedremo i limiti temporali della conoscenza dei modelli, il concetto di grounding e, a livello introduttivo, la Retrieval-Augmented Generation, o RAG. Infine metteremo a confronto le diverse modalità per adattare un sistema AI a un contesto specifico. Non insegneremo a costruire una soluzione RAG: ci interessa capire il concetto.</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informazioni che un sistema AI usa per rispondere possono avere tre origini. La prima è l'addestramento: tutto ciò che il modello ha appreso dagli enormi corpus di testo, incorporato nei parametri. È una conoscenza ampia, ma generale, ferma a una certa data e non verificabile direttamente: il modello non sa indicare con certezza da quale testo abbia appreso una certa informazione. La seconda è l'interazione: ciò che forniamo noi durante la conversazione, come istruzioni, testi incollati, documenti allegati. È specifica e aggiornata quanto lo è il materiale che forniamo, e resta nel contesto temporaneo. La terza sono le fonti e gli strumenti esterni: ricerche sul web, basi documentali aziendali, database, altri software collegati, interrogati dall'applicazione al momento della richiesta. Permettono di accedere a informazioni aggiornate o riservate che il modello non ha mai visto in addestramento. In una stessa risposta possono convivere tutte e tre le fonti: per esempio il modello usa la conoscenza generale per capire la domanda e formulare la risposta, ma prende i dati specifici da un documento allegato o da una ricerca. Saper riconoscere da quale fonte proviene un'informazione è essenziale per valutarne l'affidabilità.</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Ogni modello ha una data limite della conoscenza, chiamata in inglese knowledge cutoff: il momento fino al quale arrivano i dati di addestramento. Di ciò che è accaduto dopo, il modello non sa nulla, a meno che l'informazione non gli venga fornita nel contesto o recuperata con una ricerca. Inoltre, tra la data limite e il momento in cui il modello viene messo a disposizione passano spesso diversi mesi, e il modello può poi restare in uso per mesi o anni. Il risultato è che il divario tra ciò che il modello sa e la realtà attuale tende a crescere nel tempo. Esempi tipici di informazioni soggette a questo limite: normative modificate di recente, prezzi e listini, organigrammi, versioni di software, notizie di attualità, risultati sportivi, cariche pubbliche. Un aspetto delicato è che il modello non sempre segnala di non essere aggiornato: può rispondere con sicurezza fornendo un'informazione che era corretta in passato ma non lo è più. Indicazioni pratiche: per tutto ciò che può essere cambiato di recente, usare strumenti con ricerca abilitata o fornire documenti aggiornati, e verificare le informazioni sensibili al tempo. Molti fornitori indicano pubblicamente la data limite dei propri modelli.</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Grounding, che possiamo tradurre come ancoraggio, indica la pratica di basare le risposte di un sistema AI su fonti specifiche e verificabili, invece che solo sulla conoscenza generale incorporata nel modello. Un sistema 'ancorato' riceve nel contesto i documenti o i dati pertinenti, viene istruito a rispondere sulla base di quelli e, idealmente, indica da quale fonte proviene ciascuna informazione, permettendo all'utente di verificarla. Il grounding porta tre benefici principali: risposte più precise e pertinenti al nostro contesto, aggiornamento, perché le fonti possono essere più recenti della data limite del modello, e verificabilità, grazie ai riferimenti alle fonti. Esempi comuni sono l'assistente che risponde citando i risultati di una ricerca web, oppure quello che risponde alle domande dei dipendenti sulla base delle procedure interne, indicando il documento di riferimento. Attenzione però: il grounding riduce gli errori ma non li elimina. Il sistema può interpretare male una fonte, combinare informazioni in modo scorretto, o la fonte stessa può essere sbagliata o non aggiornata. Per questo la possibilità di controllare le fonti citate è preziosa: va usata.</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Retrieval-Augmented Generation, abbreviata in RAG e traducibile come 'generazione aumentata dal recupero', è la tecnica più diffusa per realizzare il grounding su grandi raccolte di documenti. Il termine è stato introdotto nel 2020 da un gruppo di ricercatori di Facebook AI Research (oggi Meta), University College London e New York University, con primo autore Patrick Lewis. Il problema che risolve è questo: un'azienda può avere migliaia di documenti, troppi per inserirli tutti nella finestra di contesto a ogni domanda. Il funzionamento, a livello concettuale, avviene in quattro passaggi. Primo: l'utente pone una domanda. Secondo, il recupero: il sistema cerca nella base documentale, preparata in precedenza, i passaggi più pertinenti alla domanda, spesso usando la ricerca semantica basata sugli embedding che abbiamo visto, che trova i testi simili per significato e non solo per parole uguali. Terzo, l'aumento: i passaggi trovati vengono inseriti nel contesto insieme alla domanda. Quarto, la generazione: il modello formula la risposta sulla base di quei passaggi, idealmente citandoli. Il punto chiave: il modello non viene riaddestrato. I documenti restano fuori dal modello, possono essere aggiornati in qualsiasi momento, e l'accesso può essere limitato in base ai permessi degli utenti. La qualità del risultato dipende molto dalla qualità dei documenti e del recupero. Le condizioni per usare la RAG sui documenti aziendali sono trattate nel Tema 14.</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integrazione del sottotema mette a confronto quattro modi per adattare un sistema AI alle esigenze di un'azienda o di un'attività. Sono spesso confusi, ma funzionano in modo molto diverso. Le istruzioni: indicazioni su ruolo, tono, formato, regole da seguire, fornite nel prompt o nelle istruzioni di sistema. Sono il modo più semplice e immediato, non modificano il modello e funzionano bene per orientarne il comportamento. I documenti nel contesto: allegare o incollare i materiali pertinenti alla conversazione. Ideale per lavorare su contenuti specifici e limitati, nei limiti della finestra di contesto. Il recupero da basi informative, cioè la RAG: adatto quando i documenti sono molti, cambiano spesso o devono essere accessibili a molte persone con permessi diversi. Neppure questo modifica il modello. Il fine-tuning, o affinamento: un addestramento aggiuntivo del modello su esempi specifici, che modifica effettivamente una parte dei parametri. È utile soprattutto per insegnare uno stile, un formato o un comportamento ricorrente, ma richiede dati di qualità, competenze e costi, ed è meno adatto per aggiungere conoscenze che cambiano spesso, perché ogni aggiornamento richiederebbe un nuovo addestramento. Nella pratica, la maggior parte delle esigenze aziendali si risolve con le prime tre modalità, spesso combinate.</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Chiudiamo il sottotema con tre equivoci molto diffusi, che conviene smontare esplicitamente. Primo equivoco: 'se carico un documento, il modello lo impara'. In realtà il documento entra nel contesto temporaneo della conversazione: il modello lo legge e lo usa per rispondere, ma i suoi parametri non cambiano. In una nuova conversazione il documento non sarà più disponibile, salvo funzioni specifiche dell'applicazione, come progetti o memorie. Secondo equivoco: 'se collego l'AI ai documenti aziendali, il modello viene addestrato sui nostri dati'. Con la RAG il modello consulta i documenti al momento della domanda, ma non viene riaddestrato. Questo non significa che la questione dei dati sia irrilevante: le condizioni contrattuali del servizio stabiliscono se e come i dati possono essere usati dal fornitore, ed è un aspetto da verificare sempre. Terzo equivoco: 'il modello sa tutto ciò che è su internet ed è sempre aggiornato'. La conoscenza incorporata è ferma alla data limite e non è un archivio completo; l'accesso a informazioni aggiornate dipende dalla presenza di strumenti di ricerca. Domanda per il gruppo: avevate qualcuno di questi dubbi?</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C1865-0433-6FB5-AB5C-FCD8A267FB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EA440F-A694-1D34-7391-E4F2DDF423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5BFC39-3E40-A455-E00E-65650AD32B59}"/>
              </a:ext>
            </a:extLst>
          </p:cNvPr>
          <p:cNvSpPr>
            <a:spLocks noGrp="1"/>
          </p:cNvSpPr>
          <p:nvPr>
            <p:ph type="body" idx="1"/>
          </p:nvPr>
        </p:nvSpPr>
        <p:spPr/>
        <p:txBody>
          <a:bodyPr/>
          <a:lstStyle/>
          <a:p>
            <a:r>
              <a:rPr lang="en-US" dirty="0"/>
              <a:t>Percorso A e B. Benvenuti. Questa è la prima di tre sessioni dedicate all'intelligenza artificiale in azienda. Oggi non parliamo ancora di strumenti specifici né di progetti: costruiamo un linguaggio comune. Vogliamo capire che cosa è davvero l'AI, come funziona a grandi linee, che cosa sa fare bene e dove invece sbaglia, e perché il controllo delle persone resta decisivo. Alla fine della mattinata guarderemo insieme dove l'AI può essere utile in un'azienda come la vostra, reparto per reparto. Non servono conoscenze tecniche: se qualcosa non è chiaro, fermatemi pure.</a:t>
            </a:r>
          </a:p>
        </p:txBody>
      </p:sp>
      <p:sp>
        <p:nvSpPr>
          <p:cNvPr id="4" name="Slide Number Placeholder 3">
            <a:extLst>
              <a:ext uri="{FF2B5EF4-FFF2-40B4-BE49-F238E27FC236}">
                <a16:creationId xmlns:a16="http://schemas.microsoft.com/office/drawing/2014/main" id="{3DA617E1-2CD6-3E25-5D4B-17CCC1B82E7C}"/>
              </a:ext>
            </a:extLst>
          </p:cNvPr>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378508451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slide sintetizza lo spirito dell'intero modulo. Immaginiamo una scala. A un estremo c'è la fiducia eccessiva: si accetta qualunque risposta perché è scritta bene, si copiano dati senza controllarli, si delegano decisioni importanti. Il rischio è usare informazioni false o distorte, con conseguenze anche gravi. All'altro estremo c'è la sfiducia totale: si scarta l'AI perché 'sbaglia', anche per attività in cui sarebbe molto utile e facilmente verificabile. Il rischio è perdere opportunità reali e restare indietro. In mezzo c'è la fiducia calibrata: il livello di fiducia e di controllo viene regolato in base al compito, al sistema e alle conseguenze di un possibile errore. Per scrivere la bozza di un'email interna basta una rilettura; per un dato da inserire in un contratto serve una verifica sulla fonte; per una decisione che riguarda la salute o la sicurezza di una persona l'AI può essere al massimo un supporto per un esperto. Domanda per il gruppo: in quale punto della scala vi collochereste oggi?</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Ecco le sette famiglie di capacità principali dei sistemi AI attuali, in particolare di quelli generativi. L'elaborazione e la generazione del linguaggio: comprendere richieste, scrivere, riformulare, tradurre. La generazione, trasformazione e sintesi di contenuti: produrre bozze, riassumere documenti lunghi, cambiare formato, tono o lunghezza di un testo. La classificazione e l'estrazione di informazioni: assegnare categorie, estrarre dati strutturati da testi non strutturati, come importi e scadenze da un contratto. L'individuazione di schemi e l'analisi di dati: trovare tendenze, anomalie, temi ricorrenti, per esempio in un insieme di feedback dei clienti. L'elaborazione multimodale: lavorare su immagini, audio, video oltre che sul testo. Il supporto ad attività cognitive: ragionare su un problema, pianificare, valutare alternative, generare idee; lo approfondiamo nel sottotema 3.2. Infine l'interazione con strumenti esterni, quando il sistema la prevede: cercare sul web, eseguire codice per fare calcoli, leggere file, collegarsi ad altri software aziendali. Quest'ultima capacità è particolarmente importante, perché cambia molto l'affidabilità del risultato: un calcolo eseguito da codice è molto più affidabile di uno 'stimato' dal modello.</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 Tema 2 abbiamo distinto il modello dall'applicazione che lo integra. Questa distinzione ha una conseguenza diretta sulle capacità. Alcune dipendono soprattutto dal modello: la qualità della scrittura, la capacità di ragionamento, la comprensione di immagini. Altre dipendono dall'applicazione: la possibilità di cercare sul web, di eseguire codice, di leggere file di grandi dimensioni, di collegarsi a sistemi aziendali, di ricordare informazioni tra conversazioni. Due strumenti basati su modelli simili possono quindi avere capacità molto diverse, e lo stesso strumento può cambiare capacità nel tempo, con gli aggiornamenti o in base alla versione o al piano di abbonamento. In pratica: prima di affidare un compito a uno strumento AI, conviene verificare quali funzioni offre davvero. Per esempio, chiedere un'informazione aggiornata a un sistema senza ricerca web, o un calcolo complesso a un sistema senza esecuzione di codice, espone a errori evitabili. Il confronto tra prodotti e piattaforme specifiche è oggetto del Tema 4.</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delle capacità più utili dell'AI nel </a:t>
            </a:r>
            <a:r>
              <a:rPr lang="en-US" b="1" dirty="0"/>
              <a:t>problem solving </a:t>
            </a:r>
            <a:r>
              <a:rPr lang="en-US" dirty="0"/>
              <a:t>è aiutare a strutturare il lavoro. Può scomporre un problema complesso in sotto-problemi più gestibili, proporre un piano con fasi e dipendenze, generare alternative diverse e confrontarle secondo criteri espliciti, evidenziando pro, contro e rischi. Questo è prezioso soprattutto all'inizio di un'attività, quando serve mettere ordine, e come controllo per non dimenticare aspetti importanti. Lo schema in slide mostra il percorso tipico. Ma ci sono due limiti da tenere presenti. Primo: la qualità della scomposizione e del confronto dipende dalle informazioni fornite; se mancano vincoli importanti, come il budget, le persone disponibili o una scadenza, il piano può essere elegante ma irrealistico. Secondo: le valutazioni comparative dell'AI possono apparire oggettive, ma riflettono i criteri che le sono stati dati o che ha scelto implicitamente, e possono essere influenzate da come è formulata la domanda, come vedremo parlando di bias. Per questo l'ultimo passaggio, la scelta, resta a chi ha la responsabilità e la conoscenza del contesto.</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 generativa è un potente strumento di supporto creativo. I suoi punti di forza sono evidenti: produce in pochi secondi molte idee e varianti, combina concetti di ambiti diversi, propone formulazioni alternative, aiuta a superare il blocco della pagina bianca e può assumere punti di vista differenti, per esempio quello di un cliente scettico. Ci sono però alcuni limiti da conoscere. Le idee tendono verso ciò che è frequente nei dati di addestramento, quindi verso soluzioni plausibili e convenzionali, più che davvero originali. Il sistema non conosce i vincoli specifici, la storia e la cultura della nostra organizzazione, se non gli vengono forniti. E c'è un effetto collettivo interessante: uno studio di Anil Doshi e Oliver Hauser, pubblicato su Science Advances nel 2024, ha osservato che i racconti scritti con l'aiuto di idee generate dall'AI venivano giudicati più creativi a livello individuale, soprattutto per gli autori meno creativi, ma erano più simili tra loro. In altre parole, l'AI può migliorare il singolo contributo e ridurre la varietà complessiva. Il suggerimento pratico: usare l'AI per ampliare il ventaglio di idee, non per sostituire il confronto tra persone, e considerare le proposte come materiale grezzo da selezionare, combinare e sviluppare.</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Entriamo in uno dei sottotemi da comprendere in modo approfondito. Le allucinazioni sono probabilmente il limite più noto dei sistemi generativi, e uno dei più insidiosi, perché si presentano nella stessa forma delle risposte corrette. Vedremo che cosa sono, quali forme assumono, perché si verificano, a livello concettuale, e perché la plausibilità di una risposta non coincide con la sua veridicità. Ci soffermeremo poi sull'autorevolezza apparente, cioè sul rischio di credere a ciò che è scritto bene.</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Nei sistemi generativi si parla di allucinazione quando il sistema produce un contenuto presentato come vero ma falso, inesatto o privo di fondamento</a:t>
            </a:r>
            <a:r>
              <a:rPr lang="en-US" dirty="0"/>
              <a:t>. </a:t>
            </a:r>
          </a:p>
          <a:p>
            <a:endParaRPr lang="en-US" dirty="0"/>
          </a:p>
          <a:p>
            <a:r>
              <a:rPr lang="en-US" dirty="0"/>
              <a:t>Il termine è entrato nell'uso comune, anche se è una metafora imperfetta: il sistema non 'vede' cose che non ci sono, ma genera testo plausibile che non corrisponde ai fatti. Possiamo distinguere tre forme. Informazioni inventate: fatti, eventi, persone, dati o documenti che non esistono. Informazioni inesatte: elementi reali ma riportati in modo sbagliato, per esempio una data spostata di un anno, un numero errato, una norma attribuita all'articolo sbagliato, una citazione modificata. Informazioni prive di fondamento: affermazioni che potrebbero anche essere vere, ma che non derivano da nessuna fonte disponibile; per esempio, quando chiediamo un riassunto di un documento e il sistema aggiunge un'informazione che il documento non contiene. Quest'ultima forma è particolarmente rilevante in azienda, perché si presenta proprio quando pensiamo di essere al sicuro, cioè quando abbiamo fornito noi il documento.</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forma di allucinazione particolarmente insidiosa riguarda le fonti. Un sistema generativo può produrre riferimenti bibliografici con autori, titoli, riviste e anni del tutto verosimili ma inesistenti; link a pagine che non esistono; citazioni attribuite a persone reali che non le hanno mai pronunciate; riferimenti normativi o giurisprudenziali inventati. Il caso più noto è avvenuto negli Stati Uniti nel 2023, nella causa Mata contro Avianca davanti a un tribunale federale di New York. Gli avvocati di una delle parti depositarono una memoria che citava diversi precedenti giudiziari. Quei precedenti, con tanto di nomi delle parti, numeri e citazioni testuali, erano stati generati da ChatGPT e non esistevano. Il giudice sanzionò gli avvocati e lo studio. Il caso è istruttivo per due ragioni: i riferimenti erano formalmente perfetti, e gli avvocati avevano persino chiesto al sistema se i casi fossero reali, ricevendo una conferma. Da allora episodi simili si sono ripetuti in diversi paesi. La lezione: una fonte citata dall'AI va trattata come un'indicazione da verificare, non come una prova. Se la fonte non si trova, va considerata inesistente.</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Senza ripetere il funzionamento visto nel Tema 2, richiamiamo i meccanismi che spiegano le allucinazioni. Primo: un modello linguistico genera il testo più plausibile in base alle regolarità apprese, e non possiede un meccanismo interno che verifichi ogni affermazione rispetto ai fatti. Plausibile e vero coincidono spesso, ma non sempre. Secondo: la conoscenza incorporata è incompleta e imprecisa, soprattutto su argomenti di nicchia, dettagli specifici e informazioni poco presenti nei dati di addestramento; dove la conoscenza è scarsa, il modello tende a ricostruire. Terzo: la conoscenza è ferma alla data limite, e le informazioni successive non sono note. Quarto: i modelli tendono a dare comunque una risposta invece di ammettere di non sapere. Un'analisi pubblicata nel 2025 da ricercatori di OpenAI sostiene che una causa sia proprio il modo in cui i modelli vengono addestrati e valutati, che spesso premia una risposta azzardata più di un'ammissione di incertezza, come uno studente che in un test a crocette tira a indovinare. Quinto: le domande stesse possono indurre l'errore, per esempio quando contengono una premessa falsa ('perché la legge X ha abolito Y?') che il modello asseconda. I sistemi più recenti allucinano in genere meno dei precedenti, soprattutto con ricerca e grounding, ma il fenomeno non è stato eliminato.</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integrazione del sottotema riguarda il nostro modo di reagire alle risposte, più che il sistema. Le persone tendono ad attribuire credibilità ai contenuti in base a segnali di forma: un tono sicuro, un linguaggio tecnico appropriato, una struttura ordinata con titoli ed elenchi, la presenza di numeri precisi e di citazioni. Nella comunicazione umana questi segnali sono spesso correlati alla competenza: chi scrive bene di un argomento di solito lo conosce. Con i sistemi generativi questa correlazione si rompe, perché il sistema produce sempre testi ben formulati, sia quando sono corretti sia quando non lo sono, e di norma non esprime dubbi in modo proporzionato all'incertezza reale. Risultato: le risposte sbagliate sono persuasive quanto quelle giuste. I segnali di forma vanno quindi sostituiti con segnali di sostanza: la presenza di fonti verificabili e la loro effettiva consultazione; la coerenza con fonti indipendenti; la coerenza interna della risposta; la nostra competenza sull'argomento. Una precisazione: quando un sistema dichiara di non essere sicuro, è un'informazione utile; ma l'assenza di dubbi non è una garanzia.</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allucinazioni non si distribuiscono in modo uniforme: alcune situazioni ne aumentano la probabilità. Conoscerle aiuta a dosare l'attenzione. Dettagli specifici: numeri, date, nomi propri, importi, percentuali. Argomenti di nicchia, locali o specialistici, poco presenti nei dati di addestramento, come una normativa regionale o un prodotto poco noto. Fonti e citazioni, come abbiamo visto. Eventi recenti, successivi alla data limite, se il sistema non usa la ricerca. Domande con premesse false o tendenziose, che il sistema tende ad assecondare. Richieste che vanno oltre i documenti forniti: se chiediamo a un sistema di rispondere su un documento e la risposta non c'è, può colmare il vuoto con un'invenzione. Testi lunghi e compiti articolati, in cui aumentano le occasioni di errore. Al contrario, il rischio è più basso quando il compito è trasformare un testo che forniamo noi, per esempio riformularlo o tradurlo, e quando il risultato è facile da controllare. Suggerimento: chiedere ai partecipanti quali di queste situazioni ricorrono nel loro lavoro.</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Passiamo dalle allucinazioni, che sono errori su singoli fatti, ai bias, che sono distorsioni sistematiche. La differenza è importante: un'allucinazione è una risposta sbagliata; un bias è una tendenza ricorrente a sbilanciare le risposte in una certa direzione. Vedremo che cosa significa bias, da dove nascono le distorsioni, come il contesto e le istruzioni le influenzano, che cosa sono stereotipi e rappresentazioni non equilibrate, e un fenomeno molto rilevante nell'uso quotidiano: la tendenza dei sistemi ad assecondare l'utente.</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statistica e nell'AI, un bias è una distorsione sistematica: una tendenza ricorrente a scostarsi in una certa direzione da una rappresentazione corretta o equilibrata. La differenza con un errore casuale è fondamentale. Un errore casuale si presenta in modo imprevedibile, in direzioni diverse, e tende a compensarsi. Un bias va sempre nella stessa direzione, e per questo non si compensa: si accumula. L'analogia della bilancia lo rende chiaro: una bilancia imprecisa dà valori un po' sopra e un po' sotto; una bilancia starata segna sempre cento grammi in più. Nell'AI i bias possono riguardare molti aspetti: la rappresentazione di gruppi sociali, di genere, di età, di provenienza geografica; la prospettiva culturale, per esempio quella anglosassone, dominante nei dati di addestramento; la preferenza per certe fonti, posizioni o soluzioni. Un punto da chiarire: il termine 'bias' non implica un'intenzione. Le distorsioni nascono quasi sempre dai dati, dai processi e dal contesto, non da una volontà di discriminare. Ma gli effetti possono essere reali, e la responsabilità di riconoscerli e gestirli resta a chi usa il sistema.</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distorsioni possono entrare nel sistema in tre punti. Il primo sono i dati di addestramento. I modelli apprendono da testi e immagini prodotti da persone, che riflettono la società con le sue disuguaglianze e i suoi stereotipi. Inoltre i dati non sono equilibrati: alcune lingue, culture, punti di vista e gruppi sono molto più rappresentati di altri. Ciò che è sovrarappresentato tende a diventare il 'normale' per il modello. Il secondo è il processo di addestramento e affinamento. Le scelte su quali dati includere, come filtrarli, quali comportamenti premiare durante l'affinamento con feedback umano possono introdurre ulteriori orientamenti, anche con l'intento di correggerne altri. Il terzo è il contesto d'uso: le istruzioni di sistema, la formulazione delle nostre domande, i documenti che forniamo. Anche questi possono orientare le risposte in una direzione. Un esempio storico istruttivo, anche se precedente all'AI generativa: nel 2018 Reuters riportò che Amazon aveva abbandonato un sistema sperimentale di selezione dei curricula, addestrato sulle assunzioni dei dieci anni precedenti, in prevalenza maschili. Il sistema aveva imparato a penalizzare i curricula che contenevano la parola 'women's', come in 'capitana della squadra femminile di scacchi'. Nessuno lo aveva programmato per discriminare: lo aveva appreso dai </a:t>
            </a:r>
            <a:r>
              <a:rPr lang="en-US" dirty="0" err="1"/>
              <a:t>dati</a:t>
            </a:r>
            <a:r>
              <a:rPr lang="en-US" dirty="0"/>
              <a:t>.</a:t>
            </a:r>
          </a:p>
          <a:p>
            <a:endParaRPr lang="en-US" dirty="0"/>
          </a:p>
          <a:p>
            <a:r>
              <a:rPr lang="it-IT" dirty="0"/>
              <a:t>il caso Amazon è un esempio storico di un </a:t>
            </a:r>
            <a:r>
              <a:rPr lang="it-IT" b="1" dirty="0"/>
              <a:t>sistema sperimentale </a:t>
            </a:r>
            <a:r>
              <a:rPr lang="it-IT" dirty="0"/>
              <a:t>di selezione, non una dimostrazione che tutti gli strumenti AI per le risorse umane siano discriminatori.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distorsioni non vengono solo dai dati: possiamo introdurle noi, con il modo in cui formuliamo le richieste. Un modello linguistico prosegue e sviluppa il contesto che riceve, quindi una domanda orientata tende a produrre una risposta orientata. L'esempio in slide lo mostra. Se chiediamo 'Perché il fornitore A è la scelta migliore?', la domanda presuppone già la conclusione, e il sistema tenderà a elencare argomenti a favore di A. Se chiediamo 'Quali sono vantaggi e svantaggi dei fornitori A e B rispetto a questi criteri?', otteniamo un confronto più equilibrato. Lo stesso vale per i documenti che forniamo: se diamo al sistema solo materiali favorevoli a una tesi, la sua sintesi rifletterà quella tesi. E vale per le istruzioni di sistema impostate da chi configura lo strumento. La conseguenza pratica: quando usiamo l'AI per analizzare, confrontare o valutare, formulare richieste neutre, esplicitare i criteri, chiedere anche gli argomenti contrari. Le tecniche di formulazione sono sviluppate nel Tema 6; qui ci interessa la consapevolezza del </a:t>
            </a:r>
            <a:r>
              <a:rPr lang="en-US" dirty="0" err="1"/>
              <a:t>meccanismo</a:t>
            </a:r>
            <a:r>
              <a:rPr lang="en-US" dirty="0"/>
              <a:t>.</a:t>
            </a:r>
          </a:p>
          <a:p>
            <a:endParaRPr lang="en-US" dirty="0"/>
          </a:p>
          <a:p>
            <a:r>
              <a:rPr lang="it-IT" dirty="0"/>
              <a:t>La formulazione delle richieste, le informazioni fornite e i criteri espliciti aiutano a ottenere confronti più equilibrati.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fenomeni si combinano in modo particolarmente insidioso. Il primo è nostro: il bias di conferma, cioè la tendenza umana a cercare, notare e ricordare le informazioni che confermano ciò che già pensiamo. Il secondo è del sistema: la tendenza ad assecondare l'utente, che in inglese si chiama sycophancy, traducibile come compiacenza o piaggeria. I modelli affinati con il feedback umano imparano che le risposte che danno ragione alle persone tendono a essere apprezzate, e possono quindi sviluppare la tendenza a concordare con le opinioni dell'utente, a lodare il suo lavoro più del dovuto, o a cambiare una risposta corretta quando l'utente insiste. Una ricerca di Anthropic pubblicata nel 2023 (Sharma e colleghi) ha documentato questo comportamento in diversi assistenti AI. Lo schema in slide mostra il circolo: io ho un'ipotesi, la formulo nella domanda, il sistema la asseconda, io mi convinco ancora di più. Esempi pratici: chiedere 'questa proposta è buona, vero?' invece di 'quali sono i punti deboli di questa proposta?'; ribattere 'sei sicuro? Io credo che sia X' e vedere il sistema cambiare idea. Contromisure: chiedere esplicitamente critiche e obiezioni, non rivelare la propria preferenza quando si chiede una valutazione, e diffidare delle risposte che ci danno ragione troppo facilmente. I fornitori stanno lavorando per ridurre il fenomeno, ma conviene tenerlo presente.</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Dopo aver visto le principali fonti di errore, facciamo un passo indietro e chiediamoci come si valutano, in generale, le prestazioni di un sistema AI. È un sottotema da comprendere in modo approfondito, ma senza entrare in metriche statistiche. Distingueremo concetti che spesso si confondono, come accuratezza, affidabilità, consistenza e utilità; vedremo perché le prestazioni cambiano da compito a compito e con piccole variazioni dell'input; perché benchmark e dimostrazioni non bastano; e perché conta l'affidabilità del sistema completo, non solo del modello.</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Nel linguaggio comune questi termini si usano come sinonimi, ma indicano cose diverse. </a:t>
            </a:r>
          </a:p>
          <a:p>
            <a:r>
              <a:rPr lang="en-US" b="1" dirty="0" err="1"/>
              <a:t>L'accuratezza</a:t>
            </a:r>
            <a:r>
              <a:rPr lang="en-US" b="1" dirty="0"/>
              <a:t> è la corrispondenza tra il risultato e la realtà o la risposta corretta</a:t>
            </a:r>
            <a:r>
              <a:rPr lang="en-US" dirty="0"/>
              <a:t>: quanto spesso il sistema ha ragione. </a:t>
            </a:r>
          </a:p>
          <a:p>
            <a:r>
              <a:rPr lang="en-US" dirty="0" err="1"/>
              <a:t>L'affidabilità</a:t>
            </a:r>
            <a:r>
              <a:rPr lang="en-US" dirty="0"/>
              <a:t> è la capacità di mantenere un livello di qualità adeguato in modo costante, nelle condizioni d'uso reali, compresi i casi difficili: </a:t>
            </a:r>
            <a:r>
              <a:rPr lang="en-US" b="1" dirty="0"/>
              <a:t>possiamo contare su quel sistema per quel compito? </a:t>
            </a:r>
          </a:p>
          <a:p>
            <a:r>
              <a:rPr lang="en-US" b="1" dirty="0"/>
              <a:t>La consistenza è la coerenza dei risultati: risposte simili a richieste simili, </a:t>
            </a:r>
            <a:r>
              <a:rPr lang="en-US" dirty="0"/>
              <a:t>nessuna contraddizione interna, stesso trattamento per casi equivalenti. </a:t>
            </a:r>
          </a:p>
          <a:p>
            <a:endParaRPr lang="en-US" dirty="0"/>
          </a:p>
          <a:p>
            <a:r>
              <a:rPr lang="en-US" b="1" dirty="0" err="1"/>
              <a:t>L'utilità</a:t>
            </a:r>
            <a:r>
              <a:rPr lang="en-US" b="1" dirty="0"/>
              <a:t> è il valore che il risultato porta a chi lo usa</a:t>
            </a:r>
            <a:r>
              <a:rPr lang="en-US" dirty="0"/>
              <a:t>: fa risparmiare tempo, migliora il lavoro, aiuta a decidere? Le quattro dimensioni non coincidono. Un sistema può essere accurato nel novanta per cento dei casi ma poco affidabile, se non sappiamo prevedere quando sbaglia. Può essere molto consistente e sistematicamente sbagliato, come abbiamo visto nel Tema 2. E un risultato imperfetto può essere molto utile: una bozza con qualche errore che fa risparmiare un'ora di lavoro, se l'errore è facile da correggere. Per valutare un sistema, bisogna chiedersi quale di queste dimensioni conta di più per il compito specifico.</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stesso modello può funzionare molto bene in un compito e male in un altro, anche se i due compiti sembrano simili. È la 'frontiera tecnologica frastagliata' descritta da Dell'Acqua e colleghi in uno studio su 758 consulenti, pubblicato nel 2026 sulla rivista Organization Science e citato anche nel Tema 1: compiti apparentemente simili possono stare da parti opposte del confine di ciò che l'AI sa fare bene. Lo schema in slide propone un profilo qualitativo di un ipotetico assistente generico: non sono misure, ma un modo per visualizzare l'idea. Ottimo nel riformulare e correggere testi, molto buono nelle sintesi e nelle traduzioni, buono nell'estrarre dati da documenti ben strutturati, più incerto su calcoli complessi senza strumenti, su fatti specifici senza fonti e su conteggi precisi. Perché? Perché le prestazioni dipendono da quanto il compito somiglia a ciò che il modello ha visto in addestramento, da quanto richiede conoscenze precise rispetto a competenze linguistiche, da quanto il risultato richiede esattezza assoluta, e dalla disponibilità di strumenti adatti. Il profilo reale varia da sistema a sistema e cambia con gli aggiornamenti. La conseguenza pratica è importante: non si può dire 'questo modello è affidabile' in generale. Si può dire, al massimo, 'questo sistema si è dimostrato affidabile per questo compito, in </a:t>
            </a:r>
            <a:r>
              <a:rPr lang="en-US" dirty="0" err="1"/>
              <a:t>queste</a:t>
            </a:r>
            <a:r>
              <a:rPr lang="en-US" dirty="0"/>
              <a:t> </a:t>
            </a:r>
            <a:r>
              <a:rPr lang="en-US" dirty="0" err="1"/>
              <a:t>condizioni</a:t>
            </a:r>
            <a:r>
              <a:rPr lang="en-US" dirty="0"/>
              <a:t>’.</a:t>
            </a:r>
          </a:p>
          <a:p>
            <a:endParaRPr lang="en-US" dirty="0"/>
          </a:p>
          <a:p>
            <a:r>
              <a:rPr lang="it-IT" dirty="0"/>
              <a:t>un sistema con strumenti di calcolo e accesso alle fonti può comportarsi in modo molto diverso da uno che produce soltanto testo.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benchmark e dimostrazioni non bastano, come si valuta un sistema per un uso specifico? Senza entrare in metodologie quantitative, possiamo indicare un approccio semplice, applicabile anche da chi non è tecnico. </a:t>
            </a:r>
          </a:p>
          <a:p>
            <a:r>
              <a:rPr lang="en-US" dirty="0"/>
              <a:t>Primo: definire con precisione il compito e che cosa si intende per risultato </a:t>
            </a:r>
            <a:r>
              <a:rPr lang="en-US" dirty="0" err="1"/>
              <a:t>buono</a:t>
            </a:r>
            <a:r>
              <a:rPr lang="en-US" dirty="0"/>
              <a:t>.</a:t>
            </a:r>
          </a:p>
          <a:p>
            <a:r>
              <a:rPr lang="en-US" dirty="0"/>
              <a:t>Secondo: raccogliere un insieme di casi reali, rappresentativi della varietà che incontreremo, compresi i casi difficili, insoliti e ambigui, non solo quelli tipici. </a:t>
            </a:r>
          </a:p>
          <a:p>
            <a:r>
              <a:rPr lang="en-US" dirty="0"/>
              <a:t>Terzo: confrontare i risultati del sistema con quelli attesi, possibilmente con il giudizio di una persona competente. </a:t>
            </a:r>
          </a:p>
          <a:p>
            <a:r>
              <a:rPr lang="en-US" dirty="0"/>
              <a:t>Quarto: annotare dove e come il sistema sbaglia: non conta solo quanti errori fa, ma di che tipo sono, quanto sono gravi e quanto sono facili da individuare. </a:t>
            </a:r>
          </a:p>
          <a:p>
            <a:r>
              <a:rPr lang="en-US" dirty="0"/>
              <a:t>Quinto: ripetere la valutazione nel tempo, perché modelli, applicazioni e dati </a:t>
            </a:r>
            <a:r>
              <a:rPr lang="en-US" dirty="0" err="1"/>
              <a:t>cambiano</a:t>
            </a:r>
            <a:r>
              <a:rPr lang="en-US" dirty="0"/>
              <a:t>.</a:t>
            </a:r>
          </a:p>
          <a:p>
            <a:endParaRPr lang="en-US" dirty="0"/>
          </a:p>
          <a:p>
            <a:r>
              <a:rPr lang="en-US" dirty="0"/>
              <a:t> Un esempio: prima di usare l'AI per estrarre dati dalle fatture dei fornitori, provarla su cinquanta fatture reali di formati diversi, comprese quelle scansionate male, e controllare campo per campo. Questo approccio porta a una conclusione molto più utile di qualunque benchmark generico. La progettazione strutturata di queste valutazioni, con criteri di successo e insuccesso definiti prima, è trattata nel Tema 15.</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Quando valutiamo l'affidabilità, dobbiamo guardare al sistema completo, non solo al modello. Nel Tema 2 abbiamo visto che il modello è il motore di un'applicazione più ampia. Allo stesso modo, il risultato che arriva sulla nostra scrivania dipende da una catena di elementi: la qualità dei dati e dei documenti disponibili; il modo in cui vengono recuperate le informazioni, per esempio in un sistema RAG; il modello; le istruzioni e la configurazione dell'applicazione; gli strumenti collegati; e infine la persona che usa e controlla il risultato. Come in ogni catena, l'affidabilità complessiva dipende anche dagli anelli più deboli. Un ottimo modello collegato a un archivio documentale disordinato, con versioni obsolete delle procedure, darà risposte obsolete. Un sistema ben configurato usato da una persona che non controlla nulla produrrà errori non intercettati. Al contrario, un modello meno potente, ma con buone fonti, istruzioni chiare e controlli adeguati, può dare risultati più affidabili. Per questo quando un progetto AI non funziona, la causa non è sempre 'il modello'.</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verifica richiede competenza: per accorgersi di un errore bisogna saperne abbastanza sull'argomento. È un punto delicato, perché l'AI è particolarmente attraente proprio quando non conosciamo bene un tema, ed è proprio allora che siamo meno in grado di controllarla. La regola pratica è che chi verifica deve avere le competenze necessarie per quel tipo di output, o deve coinvolgere chi le ha. Un secondo rischio da conoscere è l'automation bias, o pregiudizio di automazione: la tendenza, documentata da decenni di studi in settori come l'aviazione e la medicina (per una sintesi, Parasuraman e Manzey, 2010), a fidarsi eccessivamente dei sistemi automatici e a ridurre l'attenzione quando funzionano bene la maggior parte delle volte. Più un sistema è affidabile, più rischiamo di non accorgerci del suo errore occasionale. Infine, la verifica deve essere proporzionata. Lo schema in slide propone tre livelli indicativi. Verifica leggera, cioè una rilettura critica, per bozze interne, idee e testi a basso impatto. Verifica standard, cioè controllo dei fatti principali, dei numeri e delle fonti, per documenti che escono dal gruppo di lavoro. Verifica approfondita, con controllo su fonti indipendenti e revisione di un esperto, per contenuti con conseguenze legali, economiche, di sicurezza o reputazionali rilevanti.</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Ultimo sottotema, che raccoglie tutto il modulo in una capacità decisionale. Abbiamo visto che cosa sa fare l'AI, dove sbaglia, come valutarla e come verificarla. Ora la domanda è: in quali attività usarla, con quale ruolo, e quando invece limitarne o evitarne l'uso? Ci concentriamo sulla compatibilità tra capacità, affidabilità e rischio del compito. La selezione dei progetti e il calcolo del ROI sono trattati nei Temi 12 e 15; privacy, sicurezza, normativa e policy nei Temi 17 e 18.</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primo passo è distinguere due domande. La prima: il sistema è tecnicamente in grado di svolgere il compito? Spesso la risposta è sì: può scrivere una valutazione di un collaboratore, rispondere a una domanda medica, redigere un parere legale, decidere a quale cliente concedere una dilazione. La seconda: è opportuno usarlo per questo compito, in questo modo? Qui la risposta dipende da altri fattori: quanto è affidabile per quel compito specifico, quanto è grave un errore, se possiamo verificare il risultato, chi ne subisce le conseguenze, che cosa prevedono le regole aziendali e le normative. Il fatto che un sistema produca un risultato convincente non significa che sia opportuno affidargli quel compito. È la stessa logica che applichiamo alle persone: un neoassunto brillante può scrivere un contratto, ma non lo facciamo firmare senza una revisione. Il concetto chiave del sottotema lo esprime chiaramente: l'AI va usata quando le sue prestazioni e i controlli disponibili sono compatibili con il rischio del compito, non soltanto quando sembra capace di eseguirlo.</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decidere, dobbiamo partire dalle conseguenze di un possibile errore. Possiamo valutarle con quattro domande. Quanto è grave l'errore? Una frase poco elegante in una bozza interna ha conseguenze trascurabili; un importo sbagliato in un'offerta o un'informazione errata a un cliente possono avere conseguenze economiche, legali o reputazionali serie. È reversibile? Un errore in una bozza si corregge facilmente; un'email inviata a mille clienti, un pagamento eseguito, una decisione comunicata a un candidato sono difficili o impossibili da annullare. Chi ne subisce le conseguenze? Un errore che resta a noi è diverso da uno che ricade su clienti, collaboratori, cittadini, soprattutto se riguarda i loro diritti, la loro salute o la loro situazione economica. È rilevabile? Alcuni errori si notano subito, altri restano nascosti a lungo, come un dato sbagliato in un report che alimenta decisioni successive. Più le risposte a queste domande indicano gravità, irreversibilità, impatto su terzi e difficoltà di rilevazione, più l'uso dell'AI richiede cautela.</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Combinando l'impatto di un errore con la facilità di verifica, otteniamo una matrice utile per orientare le decisioni. Basso impatto e verifica facile: bozze di email interne, idee, riformulazioni, sintesi per uso personale. Qui l'AI può essere usata liberamente, con una rilettura. Basso impatto ma verifica difficile: per esempio ricerche esplorative su temi che non conosciamo. L'uso è possibile, ma i risultati vanno trattati come indicazioni da approfondire, non come conclusioni. Alto impatto ma verifica facile: per esempio un'offerta commerciale o un documento contrattuale preparato a partire da dati che possiamo controllare. L'AI può essere un ottimo supporto, con verifica sistematica prima dell'uso. Alto impatto e verifica difficile: per esempio decisioni su persone, valutazioni legali, mediche o di sicurezza, dove l'errore è grave e difficile da individuare. Qui l'uso va limitato a un supporto per esperti competenti, oppure evitato. La matrice è indicativa: serve a ragionare, non a sostituire il giudizio e le regole aziendali. Suggerimento: chiedere ai partecipanti di collocare nella matrice tre attività del proprio lavoro.</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Decidere di usare l'AI non è una scelta tutto o niente: possiamo affidarle ruoli diversi. Lo spettro in slide ne propone tre. Supporto: l'AI aiuta la persona, che svolge il compito e decide. Per esempio, suggerisce idee, prepara una bozza, sintetizza materiali; la persona usa ciò che ritiene utile. È il ruolo più diffuso e, in genere, quello con il rischio più basso. Supervisione: l'AI svolge il compito, la persona controlla ogni risultato prima che venga usato. Per esempio, l'AI propone le risposte ai clienti, un operatore le verifica e le invia. Il rischio dipende dalla qualità reale del controllo, e dal rischio di automation bias. Delega: l'AI svolge il compito in autonomia, e la persona interviene solo su eccezioni o a campione. Per esempio, la classificazione automatica di documenti a basso impatto. Richiede un'affidabilità dimostrata nel contesto specifico, conseguenze limitate degli errori e un monitoraggio continuo. Con la diffusione di sistemi sempre più autonomi, spesso chiamati agenti, capaci di svolgere sequenze di azioni, la scelta del ruolo diventa ancora più importante. Il principio: più autonomia diamo, più devono essere alte l'affidabilità dimostrata e basse le conseguenze degli errori.</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Possiamo ora indicare alcune situazioni in cui è opportuno limitare o evitare l'uso dell'AI, o riservarlo a un ruolo di supporto per persone competenti. Quando il compito richiede competenze specialistiche che chi usa lo strumento non possiede, e non è possibile coinvolgere un esperto: se non siamo in grado di valutare il risultato, non possiamo verificarlo. Quando le conseguenze di un errore sono gravi o irreversibili, e non esistono controlli adeguati. Quando il compito riguarda decisioni con effetti significativi sulle persone, come selezione, valutazione, accesso a servizi, salute e sicurezza, che richiedono giudizio umano, trasparenza e spesso garanzie specifiche previste dalla normativa. Quando non è possibile verificare il risultato, né sulla fonte né con una competenza adeguata. Quando servono informazioni aggiornate o interne che il sistema non ha e non può recuperare. Quando sono coinvolti dati riservati e lo strumento non è autorizzato a trattarli: un tema approfondito nel Tema 17. Infine, quando l'attività ha un valore proprio nel fatto di essere svolta da una persona: un messaggio personale di condoglianze, un colloquio delicato, un'attività formativa che serve a imparare.</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Concludiamo il sottotema, e il modulo, con il principio che li tiene insieme: la responsabilità delle decisioni e dei risultati resta alle persone. Un sistema AI non può essere responsabile di un errore: non risponde delle conseguenze, non può essere chiamato a giustificarsi, non ha obblighi professionali. Quando usiamo un risultato prodotto con l'AI, in un documento, in una comunicazione o in una decisione, ne diventiamo responsabili come se l'avessimo prodotto noi. 'L'ha scritto l'AI' non è una giustificazione, né verso un cliente, né verso l'azienda, né in sede legale, come mostra il caso degli avvocati di New York. Questo principio ha tre implicazioni pratiche. Primo: chi usa l'AI deve sapere che cosa sta usando, cioè conoscerne capacità e limiti: è lo scopo di questo modulo. Secondo: deve mettere in atto controlli proporzionati alle conseguenze. Terzo: deve sapere quando non usarla, o quando coinvolgere qualcun altro. Le regole organizzative, le responsabilità formali e la normativa, a partire dall'AI Act, sono affrontate nel Tema 18. Qui ci interessa la consapevolezza individuale: l'AI può fare molto del lavoro, ma la responsabilità del risultato non si delega.</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Percorso A e B. Proviamo dal vivo. Faccio a Copilot tre domande, senza allegare nessun documento. La prima riguarda un forno a tunnel chiamato TF-900: è un modello che non esiste, l'ho inventato per questo corso. La seconda chiede un dato tecnico preciso, la coppia di serraggio dei bulloni del bruciatore, sempre del forno inesistente. La terza riguarda la vostra azienda: che cosa produce e da quando esiste. Mentre guardiamo le risposte, osserviamo tre cose. Risponde comunque, con sicurezza, oppure dice che non conosce questo modello? Se dà numeri o date, da dove li prende? Cita fonti che possiamo controllare? Nel percorso A, chiedo a voi di giudicare ogni risposta: affidabile, da verificare o inventata. Se Copilot dice di non sapere, è un buon segnale, e lo commentiamo. Se inventa, abbiamo appena visto un'allucinazione: una risposta plausibile, ben scritta e falsa. Nota per il formatore: provare prima i prompt almeno tre volte, e tenere pronti gli screenshot o il video se la rete non funziona.</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99EA6-D7F0-0CD6-F683-17E4D9B180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278A2C-79FD-8249-CDAF-0E73DB25B9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AFE396-D490-7A2D-A86B-1E97F4AD1105}"/>
              </a:ext>
            </a:extLst>
          </p:cNvPr>
          <p:cNvSpPr>
            <a:spLocks noGrp="1"/>
          </p:cNvSpPr>
          <p:nvPr>
            <p:ph type="body" idx="1"/>
          </p:nvPr>
        </p:nvSpPr>
        <p:spPr/>
        <p:txBody>
          <a:bodyPr/>
          <a:lstStyle/>
          <a:p>
            <a:r>
              <a:rPr lang="en-US" dirty="0"/>
              <a:t>Percorso A e B. Benvenuti. Questa è la prima di tre sessioni dedicate all'intelligenza artificiale in azienda. Oggi non parliamo ancora di strumenti specifici né di progetti: costruiamo un linguaggio comune. Vogliamo capire che cosa è davvero l'AI, come funziona a grandi linee, che cosa sa fare bene e dove invece sbaglia, e perché il controllo delle persone resta decisivo. Alla fine della mattinata guarderemo insieme dove l'AI può essere utile in un'azienda come la vostra, reparto per reparto. Non servono conoscenze tecniche: se qualcosa non è chiaro, fermatemi pure.</a:t>
            </a:r>
          </a:p>
        </p:txBody>
      </p:sp>
      <p:sp>
        <p:nvSpPr>
          <p:cNvPr id="4" name="Slide Number Placeholder 3">
            <a:extLst>
              <a:ext uri="{FF2B5EF4-FFF2-40B4-BE49-F238E27FC236}">
                <a16:creationId xmlns:a16="http://schemas.microsoft.com/office/drawing/2014/main" id="{E4CD59B9-C2C5-E9F8-FCB0-FF9EB46ADF61}"/>
              </a:ext>
            </a:extLst>
          </p:cNvPr>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99652911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Percorso A e B. Portiamo quello che abbiamo visto dentro la vostra azienda. Questa mappa propone due esempi di uso dell'AI per ciascun reparto. Sono esempi indicativi, pensati per un costruttore di macchine, non una lista di progetti decisi. Nel tecnico: cercare nelle specifiche e nei documenti di commessa, preparare bozze di manuali. In produzione: istruzioni di lavoro e liste di controllo, sintesi dei passaggi di turno. In qualità: analisi delle non conformità e bozze di rapporti 8D. Nel service: aiuto nella ricerca dei guasti partendo da manuali e ticket, report d'intervento dettati a voce. Nel commerciale: estrarre requisiti e lacune dal capitolato del cliente, tradurre per i clienti esteri. In amministrazione: bozze di solleciti, supporto alle riconciliazioni. Nelle risorse umane: materiali di onboarding e formazione interna; non, invece, la selezione o la valutazione delle persone, che la normativa europea considera ad alto rischio. Nel percorso A, chiedo a ciascuno di aggiungere un esempio del proprio reparto, su un post-it. Nel percorso B, chiedo almeno un pensiero: quale di questi esempi vi sembra più vicino al vostro lavoro?</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Percorso A e B. Per un costruttore di macchine, l'AI può stare in tre luoghi diversi, ed è utile distinguerli perché richiedono investimenti, tempi e attenzioni diverse. Il primo è l'ufficio, cioè l'AI interna: aiuta le persone di Laser a lavorare su documenti, offerte, manuali, ticket. Si può iniziare subito con gli strumenti già disponibili, come Copilot, con regole chiare sui dati. Il secondo luogo sono i clienti: servizi che Laser offre a chi compra le sue macchine, per esempio un assistente per i manuali, un aiuto a identificare i ricambi, un supporto multilingua. Richiedono più cura, perché l'errore arriva fuori dall'azienda. Il terzo luogo è la macchina stessa: controllo visivo dei prodotti all'uscita del forno, rilevazione di anomalie, manutenzione predittiva, ottimizzazione dei consumi. È il terreno più promettente per il futuro, ma richiede dati, investimenti e un'attenzione particolare alle norme, come vedremo nella terza sessione. Da qui una domanda per voi, che mi aiuta a preparare la prossima sessione: le vostre macchine raccolgono dati? Temperature, allarmi, consumi, teleassistenza?</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Percorso A e B. Chi lavora con il Lean conosce gli sprechi della produzione: attese, movimenti inutili, rilavorazioni. Ma c'è un'altra categoria di sprechi, meno visibile: quelli legati alle informazioni. Ne proponiamo sette. Cercare: il tempo speso a trovare un disegno, una procedura, la soluzione già adottata in una commessa passata. Ricopiare: dati trascritti a mano da un'email a un foglio, da un foglio a un gestionale. Aspettare: un'informazione che manca e blocca il lavoro di qualcun altro. Rifare: un'offerta o un documento da correggere perché un requisito era sfuggito. Correggere: errori nati da dati non allineati tra sistemi diversi. Chiedere a voce: conoscenze che stanno solo nella testa di alcune persone, e che si ottengono solo telefonando a loro. Tradurre: manuali, offerte e comunicazioni per i clienti esteri. Questi sprechi sono il punto di partenza giusto per cercare dove l'AI può aiutare: partiamo dal problema, non dallo strumento. Attenzione, però: non tutti si risolvono con l'AI. A volte basta un archivio ordinato o un modulo ben fatto.</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Percorso A. Adesso tocca a voi. L'esercizio dura circa quaranta minuti. Primo passo, quindici minuti, individuale: pensate alla vostra settimana di lavoro e scrivete su un post-it ogni momento in cui perdete tempo con le informazioni, usando le sette categorie che abbiamo appena visto. Un post-it per spreco, con una frase e il reparto. Secondo passo, quindici minuti, per reparto: attaccate i post-it sul cartellone, raggruppate quelli simili e scegliete i due o tre più frequenti o più fastidiosi. Terzo passo, dieci minuti, tutti insieme: ogni reparto racconta i suoi due o tre sprechi principali. Ricordate la regola: descrivete l'attività, non il cliente o il caso specifico, e niente dati riservati. Non cercate ancora la soluzione: per ora ci interessa solo vedere dove si perde tempo. Le soluzioni le cercheremo nella seconda sessione.</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Percorso B. Ecco come potrebbe apparire una mappa degli sprechi in un costruttore di macchine. È un esempio inventato, non una fotografia della vostra azienda: serve a rendere concreto il ragionamento. Nel tecnico lo spreco più tipico è cercare: dove abbiamo già risolto questo problema, in quale commessa, con quale disegno? In produzione è aspettare: il montaggio si ferma perché manca un'informazione dall'ufficio tecnico. In qualità è ricopiare: i dati delle non conformità passano da un'email a un foglio e poi al gestionale. Nel service è chiedere a voce: la diagnosi dipende dal tecnico esperto disponibile al telefono. Nel commerciale è rifare: un'offerta va rivista perché un requisito del capitolato era sfuggito. In amministrazione è correggere: dati delle commesse non allineati tra sistemi. E tradurre attraversa più reparti: manuali, offerte e comunicazioni per i clienti esteri. Vi chiedo di tenere a mente questa mappa: quali di questi sprechi riconoscete anche da voi? Quali mancano?</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Percorso B. Come si passa da uno spreco a un'opportunità? Con tre domande, nell'ordine. Primo: qual è lo spreco, cioè che cosa succede, quanto spesso, a chi. Secondo: qual è la causa. Terzo: qual è la soluzione migliore, e solo a questo punto ci chiediamo se l'AI ne fa parte. Tre esempi. Cercare le soluzioni già trovate: la causa è che la conoscenza è sparsa tra commesse, email e persone; la soluzione può essere un archivio ordinato e, sopra, un assistente AI che risponde citando i documenti. Qui l'AI aiuta, ma solo se prima mettiamo ordine. Ricopiare dati da un sistema all'altro: la causa è che i sistemi non si parlano; la soluzione migliore spesso è un modulo strutturato o un'integrazione tra i sistemi, senza AI. Rifare le offerte per un requisito sfuggito: la causa è che i capitolati sono lunghi e diversi tra loro; una scheda requisiti standard aiuta, e l'AI può estrarre i requisiti e segnalare quelli mancanti, lasciando le decisioni al commerciale. Il messaggio: prima il problema, poi lo strumento.</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0365B-E93E-B28F-A806-74EE81638B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D59D91-C1DF-BBD6-010A-8C25199C47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553A87-1054-0891-ED85-A1358EB3B298}"/>
              </a:ext>
            </a:extLst>
          </p:cNvPr>
          <p:cNvSpPr>
            <a:spLocks noGrp="1"/>
          </p:cNvSpPr>
          <p:nvPr>
            <p:ph type="body" idx="1"/>
          </p:nvPr>
        </p:nvSpPr>
        <p:spPr/>
        <p:txBody>
          <a:bodyPr/>
          <a:lstStyle/>
          <a:p>
            <a:r>
              <a:rPr lang="en-US" dirty="0"/>
              <a:t>Percorso A e B. Benvenuti. Questa è la prima di tre sessioni dedicate all'intelligenza artificiale in azienda. Oggi non parliamo ancora di strumenti specifici né di progetti: costruiamo un linguaggio comune. Vogliamo capire che cosa è davvero l'AI, come funziona a grandi linee, che cosa sa fare bene e dove invece sbaglia, e perché il controllo delle persone resta decisivo. Alla fine della mattinata guarderemo insieme dove l'AI può essere utile in un'azienda come la vostra, reparto per reparto. Non servono conoscenze tecniche: se qualcosa non è chiaro, fermatemi pure.</a:t>
            </a:r>
          </a:p>
        </p:txBody>
      </p:sp>
      <p:sp>
        <p:nvSpPr>
          <p:cNvPr id="4" name="Slide Number Placeholder 3">
            <a:extLst>
              <a:ext uri="{FF2B5EF4-FFF2-40B4-BE49-F238E27FC236}">
                <a16:creationId xmlns:a16="http://schemas.microsoft.com/office/drawing/2014/main" id="{66C64FE5-3C01-F5D9-86C8-CEAEE9F1949D}"/>
              </a:ext>
            </a:extLst>
          </p:cNvPr>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4063096537"/>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Percorso A e B. Un piccolo compito per la prossima volta, facoltativo ma molto utile. Scegliete un'attività reale del vostro lavoro, non riservata: per esempio riassumere un documento interno non riservato, riscrivere un'email in modo più chiaro, tradurre un testo, preparare una lista di controllo. Provatela con Copilot, cioè con lo strumento autorizzato dall'azienda, non con account personali. Poi annotate quattro cose: che cosa avete chiesto, che risultato avete ottenuto, quali errori avete trovato, e quanto tempo vi ha fatto risparmiare o perdere. Le regole sono quelle di oggi: niente dati riservati, niente dati personali, nessun nome di cliente, e verificate sempre il risultato prima di usarlo. All'inizio della seconda sessione raccogliamo le vostre esperienze: anche quelle andate male sono preziose, anzi spesso lo sono di più.</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Percorso A e B. Riassumiamo la giornata in cinque punti. Primo: l'AI non è una tecnologia sola, e non è una mente; è un insieme di sistemi che apprendono regolarità dai dati e producono previsioni, classificazioni o contenuti. Secondo: i modelli linguistici generano risposte plausibili, che possono essere utili ma anche sbagliate; la variabilità è normale, e il tono sicuro non è una garanzia. Terzo: gli errori tipici sono le allucinazioni, i bias e le omissioni, e si riducono dando all'AI fonti affidabili e verificando i risultati in proporzione all'importanza del compito. Quarto: il controllo resta umano, e la responsabilità anche. Quinto: l'AI può aiutare in tutti i reparti, partendo dagli sprechi informativi e non dallo strumento. Nella prossima sessione passeremo agli strumenti: Copilot, come scrivere richieste efficaci, tre esempi concreti e le applicazioni nei processi, nel service e nel prodotto. Grazie, e ci vediamo alla prossima sessione. Se ci sono domande, questo è il momento.</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OLO">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1097280"/>
            <a:ext cx="7863840" cy="365760"/>
          </a:xfrm>
          <a:prstGeom prst="rect">
            <a:avLst/>
          </a:prstGeom>
          <a:noFill/>
          <a:ln/>
        </p:spPr>
        <p:txBody>
          <a:bodyPr wrap="square" rtlCol="0"/>
          <a:lstStyle>
            <a:lvl1pPr marL="0" indent="0">
              <a:buNone/>
              <a:defRPr lang="en-US" sz="1300" b="1" kern="0" spc="200" dirty="0">
                <a:solidFill>
                  <a:schemeClr val="accent1"/>
                </a:solidFill>
              </a:defRPr>
            </a:lvl1pPr>
          </a:lstStyle>
          <a:p>
            <a:pPr marL="0" indent="0">
              <a:buNone/>
            </a:pPr>
            <a:endParaRPr lang="en-US" sz="1300" dirty="0"/>
          </a:p>
        </p:txBody>
      </p:sp>
      <p:sp>
        <p:nvSpPr>
          <p:cNvPr id="3" name="Text 0"/>
          <p:cNvSpPr>
            <a:spLocks noGrp="1"/>
          </p:cNvSpPr>
          <p:nvPr>
            <p:ph type="title" idx="101" hasCustomPrompt="1"/>
          </p:nvPr>
        </p:nvSpPr>
        <p:spPr>
          <a:xfrm>
            <a:off x="640080" y="1554480"/>
            <a:ext cx="7863840" cy="146304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4" name="Text 0"/>
          <p:cNvSpPr>
            <a:spLocks noGrp="1"/>
          </p:cNvSpPr>
          <p:nvPr>
            <p:ph type="body" idx="102" hasCustomPrompt="1"/>
          </p:nvPr>
        </p:nvSpPr>
        <p:spPr>
          <a:xfrm>
            <a:off x="640080" y="3154680"/>
            <a:ext cx="7863840" cy="822960"/>
          </a:xfrm>
          <a:prstGeom prst="rect">
            <a:avLst/>
          </a:prstGeom>
          <a:noFill/>
          <a:ln/>
        </p:spPr>
        <p:txBody>
          <a:bodyPr wrap="square" rtlCol="0"/>
          <a:lstStyle>
            <a:lvl1pPr marL="0" indent="0">
              <a:buNone/>
              <a:defRPr lang="en-US" sz="1600" dirty="0">
                <a:solidFill>
                  <a:schemeClr val="accent3"/>
                </a:solidFill>
              </a:defRPr>
            </a:lvl1pPr>
          </a:lstStyle>
          <a:p>
            <a:pPr marL="0" indent="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ZION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rtlCol="0"/>
          <a:lstStyle>
            <a:lvl1pPr marL="0" indent="0">
              <a:buNone/>
              <a:defRPr lang="en-US" sz="6000" b="1" dirty="0">
                <a:solidFill>
                  <a:schemeClr val="accent1"/>
                </a:solidFill>
              </a:defRPr>
            </a:lvl1pPr>
          </a:lstStyle>
          <a:p>
            <a:pPr marL="0" indent="0">
              <a:buNone/>
            </a:pPr>
            <a:endParaRPr lang="en-US"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rtlCol="0"/>
          <a:lstStyle>
            <a:lvl1pPr marL="0" indent="0">
              <a:buNone/>
              <a:defRPr lang="en-US" sz="1600" dirty="0">
                <a:solidFill>
                  <a:schemeClr val="accent3"/>
                </a:solidFill>
              </a:defRPr>
            </a:lvl1pPr>
          </a:lstStyle>
          <a:p>
            <a:pPr marL="0" indent="0">
              <a:buNone/>
            </a:pPr>
            <a:endParaRPr lang="en-US" sz="1600" dirty="0"/>
          </a:p>
        </p:txBody>
      </p:sp>
      <p:sp>
        <p:nvSpPr>
          <p:cNvPr id="5" name="Text 0"/>
          <p:cNvSpPr/>
          <p:nvPr/>
        </p:nvSpPr>
        <p:spPr>
          <a:xfrm>
            <a:off x="640080" y="4663440"/>
            <a:ext cx="6400800" cy="274320"/>
          </a:xfrm>
          <a:prstGeom prst="rect">
            <a:avLst/>
          </a:prstGeom>
          <a:noFill/>
          <a:ln/>
        </p:spPr>
        <p:txBody>
          <a:bodyPr wrap="square" lIns="0" tIns="0" rIns="0" bIns="0" rtlCol="0" anchor="ctr"/>
          <a:lstStyle/>
          <a:p>
            <a:pPr marL="0" indent="0">
              <a:buNone/>
            </a:pPr>
            <a:r>
              <a:rPr lang="en-US" sz="900" dirty="0">
                <a:solidFill>
                  <a:schemeClr val="accent2"/>
                </a:solidFill>
              </a:rPr>
              <a:t>AI Adoption  ·  Laser Srl  ·  Sessione 1  ·  Capire l'AI senza tecnicismi</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en-US" b="0"/>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TO">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rtlCol="0"/>
          <a:lstStyle>
            <a:lvl1pPr marL="0" indent="0" algn="l">
              <a:buNone/>
              <a:defRPr lang="en-US" sz="2600" b="1" dirty="0">
                <a:solidFill>
                  <a:schemeClr val="tx1"/>
                </a:solidFill>
              </a:defRPr>
            </a:lvl1pPr>
          </a:lstStyle>
          <a:p>
            <a:pPr marL="0" indent="0" algn="l">
              <a:buNone/>
            </a:pPr>
            <a:endParaRPr lang="en-US" sz="2600" dirty="0"/>
          </a:p>
        </p:txBody>
      </p:sp>
      <p:sp>
        <p:nvSpPr>
          <p:cNvPr id="3" name="Text 0"/>
          <p:cNvSpPr/>
          <p:nvPr/>
        </p:nvSpPr>
        <p:spPr>
          <a:xfrm>
            <a:off x="457200" y="4754880"/>
            <a:ext cx="6400800" cy="228600"/>
          </a:xfrm>
          <a:prstGeom prst="rect">
            <a:avLst/>
          </a:prstGeom>
          <a:noFill/>
          <a:ln/>
        </p:spPr>
        <p:txBody>
          <a:bodyPr wrap="square" lIns="0" tIns="0" rIns="0" bIns="0" rtlCol="0" anchor="ctr"/>
          <a:lstStyle/>
          <a:p>
            <a:pPr marL="0" indent="0">
              <a:buNone/>
            </a:pPr>
            <a:r>
              <a:rPr lang="en-US" sz="900" dirty="0">
                <a:solidFill>
                  <a:schemeClr val="accent2"/>
                </a:solidFill>
              </a:rPr>
              <a:t>AI Adoption  ·  Laser Srl  ·  Sessione 1  ·  Capire l'AI senza tecnicismi</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en-US" b="0"/>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IAVE">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822960" y="1143000"/>
            <a:ext cx="5486400" cy="320040"/>
          </a:xfrm>
          <a:prstGeom prst="rect">
            <a:avLst/>
          </a:prstGeom>
          <a:noFill/>
          <a:ln/>
        </p:spPr>
        <p:txBody>
          <a:bodyPr wrap="square" lIns="0" tIns="0" rIns="0" bIns="0" rtlCol="0" anchor="ctr"/>
          <a:lstStyle/>
          <a:p>
            <a:pPr marL="0" indent="0">
              <a:buNone/>
            </a:pPr>
            <a:r>
              <a:rPr lang="en-US" sz="1300" b="1" kern="0" spc="300" dirty="0">
                <a:solidFill>
                  <a:schemeClr val="accent1"/>
                </a:solidFill>
              </a:rPr>
              <a:t>CONCETTO CHIAVE</a:t>
            </a:r>
            <a:endParaRPr lang="en-US" sz="1300" dirty="0"/>
          </a:p>
        </p:txBody>
      </p:sp>
      <p:sp>
        <p:nvSpPr>
          <p:cNvPr id="3" name="Text 1"/>
          <p:cNvSpPr>
            <a:spLocks noGrp="1"/>
          </p:cNvSpPr>
          <p:nvPr>
            <p:ph type="body" idx="101" hasCustomPrompt="1"/>
          </p:nvPr>
        </p:nvSpPr>
        <p:spPr>
          <a:xfrm>
            <a:off x="822960" y="1600200"/>
            <a:ext cx="7498080" cy="2011680"/>
          </a:xfrm>
          <a:prstGeom prst="rect">
            <a:avLst/>
          </a:prstGeom>
          <a:noFill/>
          <a:ln/>
        </p:spPr>
        <p:txBody>
          <a:bodyPr wrap="square" rtlCol="0"/>
          <a:lstStyle>
            <a:lvl1pPr marL="0" indent="0">
              <a:buNone/>
              <a:defRPr lang="en-US" sz="2600" dirty="0">
                <a:solidFill>
                  <a:schemeClr val="bg1"/>
                </a:solidFill>
              </a:defRPr>
            </a:lvl1pPr>
          </a:lstStyle>
          <a:p>
            <a:pPr marL="0" indent="0">
              <a:buNone/>
            </a:pPr>
            <a:endParaRPr lang="en-US" sz="2600" dirty="0"/>
          </a:p>
        </p:txBody>
      </p:sp>
      <p:sp>
        <p:nvSpPr>
          <p:cNvPr id="4" name="Text 1"/>
          <p:cNvSpPr>
            <a:spLocks noGrp="1"/>
          </p:cNvSpPr>
          <p:nvPr>
            <p:ph type="body" idx="102" hasCustomPrompt="1"/>
          </p:nvPr>
        </p:nvSpPr>
        <p:spPr>
          <a:xfrm>
            <a:off x="822960" y="3794760"/>
            <a:ext cx="7498080" cy="365760"/>
          </a:xfrm>
          <a:prstGeom prst="rect">
            <a:avLst/>
          </a:prstGeom>
          <a:noFill/>
          <a:ln/>
        </p:spPr>
        <p:txBody>
          <a:bodyPr wrap="square" rtlCol="0"/>
          <a:lstStyle>
            <a:lvl1pPr marL="0" indent="0">
              <a:buNone/>
              <a:defRPr lang="en-US" sz="1300" dirty="0">
                <a:solidFill>
                  <a:schemeClr val="accent3"/>
                </a:solidFill>
              </a:defRPr>
            </a:lvl1pPr>
          </a:lstStyle>
          <a:p>
            <a:pPr marL="0" indent="0">
              <a:buNone/>
            </a:pPr>
            <a:endParaRPr lang="en-US" sz="1300" dirty="0"/>
          </a:p>
        </p:txBody>
      </p:sp>
      <p:sp>
        <p:nvSpPr>
          <p:cNvPr id="5" name="Text 1"/>
          <p:cNvSpPr/>
          <p:nvPr/>
        </p:nvSpPr>
        <p:spPr>
          <a:xfrm>
            <a:off x="822960" y="4663440"/>
            <a:ext cx="6400800" cy="274320"/>
          </a:xfrm>
          <a:prstGeom prst="rect">
            <a:avLst/>
          </a:prstGeom>
          <a:noFill/>
          <a:ln/>
        </p:spPr>
        <p:txBody>
          <a:bodyPr wrap="square" lIns="0" tIns="0" rIns="0" bIns="0" rtlCol="0" anchor="ctr"/>
          <a:lstStyle/>
          <a:p>
            <a:pPr marL="0" indent="0">
              <a:buNone/>
            </a:pPr>
            <a:r>
              <a:rPr lang="en-US" sz="900" dirty="0">
                <a:solidFill>
                  <a:schemeClr val="accent2"/>
                </a:solidFill>
              </a:rPr>
              <a:t>AI Adoption  ·  Laser Srl  ·  Sessione 1  ·  Capire l'AI senza tecnicismi</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en-US" b="0"/>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32.png"/><Relationship Id="rId7"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34.png"/><Relationship Id="rId10" Type="http://schemas.openxmlformats.org/officeDocument/2006/relationships/image" Target="../media/image36.png"/><Relationship Id="rId4" Type="http://schemas.openxmlformats.org/officeDocument/2006/relationships/image" Target="../media/image33.png"/><Relationship Id="rId9"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42.png"/><Relationship Id="rId4" Type="http://schemas.openxmlformats.org/officeDocument/2006/relationships/image" Target="../media/image41.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1.png"/><Relationship Id="rId5" Type="http://schemas.openxmlformats.org/officeDocument/2006/relationships/image" Target="../media/image44.png"/><Relationship Id="rId4" Type="http://schemas.openxmlformats.org/officeDocument/2006/relationships/image" Target="../media/image43.png"/></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7.xml"/><Relationship Id="rId1" Type="http://schemas.openxmlformats.org/officeDocument/2006/relationships/slideLayout" Target="../slideLayouts/slideLayout4.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8.xml"/><Relationship Id="rId1" Type="http://schemas.openxmlformats.org/officeDocument/2006/relationships/slideLayout" Target="../slideLayouts/slideLayout4.xml"/><Relationship Id="rId6" Type="http://schemas.openxmlformats.org/officeDocument/2006/relationships/image" Target="../media/image43.png"/><Relationship Id="rId5" Type="http://schemas.openxmlformats.org/officeDocument/2006/relationships/image" Target="../media/image53.png"/><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55.png"/></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4.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8.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41.png"/><Relationship Id="rId4" Type="http://schemas.openxmlformats.org/officeDocument/2006/relationships/image" Target="../media/image39.png"/></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61.png"/><Relationship Id="rId2" Type="http://schemas.openxmlformats.org/officeDocument/2006/relationships/notesSlide" Target="../notesSlides/notesSlide40.xml"/><Relationship Id="rId1" Type="http://schemas.openxmlformats.org/officeDocument/2006/relationships/slideLayout" Target="../slideLayouts/slideLayout4.xml"/><Relationship Id="rId6" Type="http://schemas.openxmlformats.org/officeDocument/2006/relationships/image" Target="../media/image51.png"/><Relationship Id="rId5" Type="http://schemas.openxmlformats.org/officeDocument/2006/relationships/image" Target="../media/image60.png"/><Relationship Id="rId4" Type="http://schemas.openxmlformats.org/officeDocument/2006/relationships/image" Target="../media/image59.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4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4.xml"/><Relationship Id="rId1" Type="http://schemas.openxmlformats.org/officeDocument/2006/relationships/slideLayout" Target="../slideLayouts/slideLayout4.xml"/><Relationship Id="rId5" Type="http://schemas.openxmlformats.org/officeDocument/2006/relationships/image" Target="../media/image64.png"/><Relationship Id="rId4" Type="http://schemas.openxmlformats.org/officeDocument/2006/relationships/image" Target="../media/image63.png"/></Relationships>
</file>

<file path=ppt/slides/_rels/slide4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5.xml"/><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33.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51.png"/><Relationship Id="rId2" Type="http://schemas.openxmlformats.org/officeDocument/2006/relationships/notesSlide" Target="../notesSlides/notesSlide48.xml"/><Relationship Id="rId1" Type="http://schemas.openxmlformats.org/officeDocument/2006/relationships/slideLayout" Target="../slideLayouts/slideLayout4.xml"/><Relationship Id="rId6" Type="http://schemas.openxmlformats.org/officeDocument/2006/relationships/image" Target="../media/image66.png"/><Relationship Id="rId5" Type="http://schemas.openxmlformats.org/officeDocument/2006/relationships/image" Target="../media/image31.png"/><Relationship Id="rId4" Type="http://schemas.openxmlformats.org/officeDocument/2006/relationships/image" Target="../media/image44.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1.xml"/><Relationship Id="rId1" Type="http://schemas.openxmlformats.org/officeDocument/2006/relationships/slideLayout" Target="../slideLayouts/slideLayout4.xml"/><Relationship Id="rId5" Type="http://schemas.openxmlformats.org/officeDocument/2006/relationships/image" Target="../media/image65.png"/><Relationship Id="rId4" Type="http://schemas.openxmlformats.org/officeDocument/2006/relationships/image" Target="../media/image67.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68.png"/><Relationship Id="rId7" Type="http://schemas.openxmlformats.org/officeDocument/2006/relationships/image" Target="../media/image69.png"/><Relationship Id="rId2" Type="http://schemas.openxmlformats.org/officeDocument/2006/relationships/notesSlide" Target="../notesSlides/notesSlide53.xml"/><Relationship Id="rId1" Type="http://schemas.openxmlformats.org/officeDocument/2006/relationships/slideLayout" Target="../slideLayouts/slideLayout4.xml"/><Relationship Id="rId6" Type="http://schemas.openxmlformats.org/officeDocument/2006/relationships/image" Target="../media/image24.png"/><Relationship Id="rId5" Type="http://schemas.openxmlformats.org/officeDocument/2006/relationships/image" Target="../media/image66.png"/><Relationship Id="rId4" Type="http://schemas.openxmlformats.org/officeDocument/2006/relationships/image" Target="../media/image63.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5.xml"/><Relationship Id="rId1" Type="http://schemas.openxmlformats.org/officeDocument/2006/relationships/slideLayout" Target="../slideLayouts/slideLayout4.xml"/><Relationship Id="rId5" Type="http://schemas.openxmlformats.org/officeDocument/2006/relationships/image" Target="../media/image63.png"/><Relationship Id="rId4" Type="http://schemas.openxmlformats.org/officeDocument/2006/relationships/image" Target="../media/image66.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71.png"/><Relationship Id="rId2" Type="http://schemas.openxmlformats.org/officeDocument/2006/relationships/notesSlide" Target="../notesSlides/notesSlide57.xml"/><Relationship Id="rId1" Type="http://schemas.openxmlformats.org/officeDocument/2006/relationships/slideLayout" Target="../slideLayouts/slideLayout4.xml"/><Relationship Id="rId6" Type="http://schemas.openxmlformats.org/officeDocument/2006/relationships/image" Target="../media/image70.png"/><Relationship Id="rId5" Type="http://schemas.openxmlformats.org/officeDocument/2006/relationships/image" Target="../media/image40.png"/><Relationship Id="rId4" Type="http://schemas.openxmlformats.org/officeDocument/2006/relationships/image" Target="../media/image65.png"/></Relationships>
</file>

<file path=ppt/slides/_rels/slide5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8.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73.png"/><Relationship Id="rId4" Type="http://schemas.openxmlformats.org/officeDocument/2006/relationships/image" Target="../media/image72.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62.xml"/><Relationship Id="rId1" Type="http://schemas.openxmlformats.org/officeDocument/2006/relationships/slideLayout" Target="../slideLayouts/slideLayout4.xml"/><Relationship Id="rId5" Type="http://schemas.openxmlformats.org/officeDocument/2006/relationships/image" Target="../media/image76.png"/><Relationship Id="rId4" Type="http://schemas.openxmlformats.org/officeDocument/2006/relationships/image" Target="../media/image75.png"/></Relationships>
</file>

<file path=ppt/slides/_rels/slide6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63.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55.png"/><Relationship Id="rId4" Type="http://schemas.openxmlformats.org/officeDocument/2006/relationships/image" Target="../media/image25.png"/><Relationship Id="rId9" Type="http://schemas.openxmlformats.org/officeDocument/2006/relationships/image" Target="../media/image2.png"/></Relationships>
</file>

<file path=ppt/slides/_rels/slide6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4.xml"/><Relationship Id="rId1" Type="http://schemas.openxmlformats.org/officeDocument/2006/relationships/slideLayout" Target="../slideLayouts/slideLayout4.xml"/><Relationship Id="rId5" Type="http://schemas.openxmlformats.org/officeDocument/2006/relationships/image" Target="../media/image70.png"/><Relationship Id="rId4" Type="http://schemas.openxmlformats.org/officeDocument/2006/relationships/image" Target="../media/image77.png"/></Relationships>
</file>

<file path=ppt/slides/_rels/slide65.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37.png"/><Relationship Id="rId7" Type="http://schemas.openxmlformats.org/officeDocument/2006/relationships/image" Target="../media/image51.png"/><Relationship Id="rId2" Type="http://schemas.openxmlformats.org/officeDocument/2006/relationships/notesSlide" Target="../notesSlides/notesSlide65.xml"/><Relationship Id="rId1" Type="http://schemas.openxmlformats.org/officeDocument/2006/relationships/slideLayout" Target="../slideLayouts/slideLayout4.xml"/><Relationship Id="rId6" Type="http://schemas.openxmlformats.org/officeDocument/2006/relationships/image" Target="../media/image39.png"/><Relationship Id="rId5" Type="http://schemas.openxmlformats.org/officeDocument/2006/relationships/image" Target="../media/image54.png"/><Relationship Id="rId10" Type="http://schemas.openxmlformats.org/officeDocument/2006/relationships/image" Target="../media/image43.png"/><Relationship Id="rId4" Type="http://schemas.openxmlformats.org/officeDocument/2006/relationships/image" Target="../media/image23.png"/><Relationship Id="rId9" Type="http://schemas.openxmlformats.org/officeDocument/2006/relationships/image" Target="../media/image56.png"/></Relationships>
</file>

<file path=ppt/slides/_rels/slide6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6.xml"/><Relationship Id="rId1" Type="http://schemas.openxmlformats.org/officeDocument/2006/relationships/slideLayout" Target="../slideLayouts/slideLayout4.xml"/><Relationship Id="rId4" Type="http://schemas.openxmlformats.org/officeDocument/2006/relationships/image" Target="../media/image56.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68.xml"/><Relationship Id="rId1" Type="http://schemas.openxmlformats.org/officeDocument/2006/relationships/slideLayout" Target="../slideLayouts/slideLayout4.xml"/><Relationship Id="rId5" Type="http://schemas.openxmlformats.org/officeDocument/2006/relationships/image" Target="../media/image81.png"/><Relationship Id="rId4" Type="http://schemas.openxmlformats.org/officeDocument/2006/relationships/image" Target="../media/image80.png"/></Relationships>
</file>

<file path=ppt/slides/_rels/slide6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69.xml"/><Relationship Id="rId1" Type="http://schemas.openxmlformats.org/officeDocument/2006/relationships/slideLayout" Target="../slideLayouts/slideLayout4.xml"/><Relationship Id="rId6" Type="http://schemas.openxmlformats.org/officeDocument/2006/relationships/image" Target="../media/image25.png"/><Relationship Id="rId5" Type="http://schemas.openxmlformats.org/officeDocument/2006/relationships/image" Target="../media/image52.png"/><Relationship Id="rId4" Type="http://schemas.openxmlformats.org/officeDocument/2006/relationships/image" Target="../media/image24.png"/></Relationships>
</file>

<file path=ppt/slides/_rels/slide70.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6.png"/><Relationship Id="rId2" Type="http://schemas.openxmlformats.org/officeDocument/2006/relationships/notesSlide" Target="../notesSlides/notesSlide70.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83.png"/><Relationship Id="rId4" Type="http://schemas.openxmlformats.org/officeDocument/2006/relationships/image" Target="../media/image10.png"/></Relationships>
</file>

<file path=ppt/slides/_rels/slide71.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84.png"/><Relationship Id="rId7" Type="http://schemas.openxmlformats.org/officeDocument/2006/relationships/image" Target="../media/image88.png"/><Relationship Id="rId2" Type="http://schemas.openxmlformats.org/officeDocument/2006/relationships/notesSlide" Target="../notesSlides/notesSlide71.xml"/><Relationship Id="rId1" Type="http://schemas.openxmlformats.org/officeDocument/2006/relationships/slideLayout" Target="../slideLayouts/slideLayout4.xml"/><Relationship Id="rId6" Type="http://schemas.openxmlformats.org/officeDocument/2006/relationships/image" Target="../media/image87.png"/><Relationship Id="rId5" Type="http://schemas.openxmlformats.org/officeDocument/2006/relationships/image" Target="../media/image86.png"/><Relationship Id="rId10" Type="http://schemas.openxmlformats.org/officeDocument/2006/relationships/image" Target="../media/image53.png"/><Relationship Id="rId4" Type="http://schemas.openxmlformats.org/officeDocument/2006/relationships/image" Target="../media/image85.png"/><Relationship Id="rId9" Type="http://schemas.openxmlformats.org/officeDocument/2006/relationships/image" Target="../media/image89.png"/></Relationships>
</file>

<file path=ppt/slides/_rels/slide72.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88.png"/><Relationship Id="rId7" Type="http://schemas.openxmlformats.org/officeDocument/2006/relationships/image" Target="../media/image6.png"/><Relationship Id="rId2" Type="http://schemas.openxmlformats.org/officeDocument/2006/relationships/notesSlide" Target="../notesSlides/notesSlide72.xml"/><Relationship Id="rId1" Type="http://schemas.openxmlformats.org/officeDocument/2006/relationships/slideLayout" Target="../slideLayouts/slideLayout4.xml"/><Relationship Id="rId6" Type="http://schemas.openxmlformats.org/officeDocument/2006/relationships/image" Target="../media/image83.png"/><Relationship Id="rId5" Type="http://schemas.openxmlformats.org/officeDocument/2006/relationships/image" Target="../media/image89.png"/><Relationship Id="rId4" Type="http://schemas.openxmlformats.org/officeDocument/2006/relationships/image" Target="../media/image90.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4.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7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5.xml"/><Relationship Id="rId1" Type="http://schemas.openxmlformats.org/officeDocument/2006/relationships/slideLayout" Target="../slideLayouts/slideLayout4.xml"/><Relationship Id="rId5" Type="http://schemas.openxmlformats.org/officeDocument/2006/relationships/image" Target="../media/image22.png"/><Relationship Id="rId4" Type="http://schemas.openxmlformats.org/officeDocument/2006/relationships/image" Target="../media/image68.png"/></Relationships>
</file>

<file path=ppt/slides/_rels/slide76.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76.xml"/><Relationship Id="rId1" Type="http://schemas.openxmlformats.org/officeDocument/2006/relationships/slideLayout" Target="../slideLayouts/slideLayout4.xml"/><Relationship Id="rId4" Type="http://schemas.openxmlformats.org/officeDocument/2006/relationships/image" Target="../media/image51.png"/></Relationships>
</file>

<file path=ppt/slides/_rels/slide7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77.xml"/><Relationship Id="rId1" Type="http://schemas.openxmlformats.org/officeDocument/2006/relationships/slideLayout" Target="../slideLayouts/slideLayout4.xml"/><Relationship Id="rId4" Type="http://schemas.openxmlformats.org/officeDocument/2006/relationships/image" Target="../media/image74.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79.xml"/><Relationship Id="rId1" Type="http://schemas.openxmlformats.org/officeDocument/2006/relationships/slideLayout" Target="../slideLayouts/slideLayout4.xml"/><Relationship Id="rId6" Type="http://schemas.openxmlformats.org/officeDocument/2006/relationships/image" Target="../media/image41.png"/><Relationship Id="rId5" Type="http://schemas.openxmlformats.org/officeDocument/2006/relationships/image" Target="../media/image61.png"/><Relationship Id="rId4" Type="http://schemas.openxmlformats.org/officeDocument/2006/relationships/image" Target="../media/image36.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14.png"/><Relationship Id="rId2" Type="http://schemas.openxmlformats.org/officeDocument/2006/relationships/notesSlide" Target="../notesSlides/notesSlide81.xml"/><Relationship Id="rId1" Type="http://schemas.openxmlformats.org/officeDocument/2006/relationships/slideLayout" Target="../slideLayouts/slideLayout4.xml"/><Relationship Id="rId6" Type="http://schemas.openxmlformats.org/officeDocument/2006/relationships/image" Target="../media/image71.png"/><Relationship Id="rId5" Type="http://schemas.openxmlformats.org/officeDocument/2006/relationships/image" Target="../media/image59.png"/><Relationship Id="rId4" Type="http://schemas.openxmlformats.org/officeDocument/2006/relationships/image" Target="../media/image93.png"/></Relationships>
</file>

<file path=ppt/slides/_rels/slide82.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0.png"/><Relationship Id="rId7" Type="http://schemas.openxmlformats.org/officeDocument/2006/relationships/image" Target="../media/image2.png"/><Relationship Id="rId2" Type="http://schemas.openxmlformats.org/officeDocument/2006/relationships/notesSlide" Target="../notesSlides/notesSlide82.xml"/><Relationship Id="rId1" Type="http://schemas.openxmlformats.org/officeDocument/2006/relationships/slideLayout" Target="../slideLayouts/slideLayout4.xml"/><Relationship Id="rId6" Type="http://schemas.openxmlformats.org/officeDocument/2006/relationships/image" Target="../media/image68.png"/><Relationship Id="rId5" Type="http://schemas.openxmlformats.org/officeDocument/2006/relationships/image" Target="../media/image94.png"/><Relationship Id="rId4" Type="http://schemas.openxmlformats.org/officeDocument/2006/relationships/image" Target="../media/image72.png"/></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5.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8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86.xml"/><Relationship Id="rId1" Type="http://schemas.openxmlformats.org/officeDocument/2006/relationships/slideLayout" Target="../slideLayouts/slideLayout4.xml"/><Relationship Id="rId6" Type="http://schemas.openxmlformats.org/officeDocument/2006/relationships/image" Target="../media/image96.png"/><Relationship Id="rId5" Type="http://schemas.openxmlformats.org/officeDocument/2006/relationships/image" Target="../media/image4.png"/><Relationship Id="rId4" Type="http://schemas.openxmlformats.org/officeDocument/2006/relationships/image" Target="../media/image95.pn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88.xml"/><Relationship Id="rId1" Type="http://schemas.openxmlformats.org/officeDocument/2006/relationships/slideLayout" Target="../slideLayouts/slideLayout4.xml"/><Relationship Id="rId5" Type="http://schemas.openxmlformats.org/officeDocument/2006/relationships/image" Target="../media/image94.png"/><Relationship Id="rId4" Type="http://schemas.openxmlformats.org/officeDocument/2006/relationships/image" Target="../media/image31.png"/></Relationships>
</file>

<file path=ppt/slides/_rels/slide89.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image" Target="../media/image41.png"/><Relationship Id="rId7" Type="http://schemas.openxmlformats.org/officeDocument/2006/relationships/image" Target="../media/image7.png"/><Relationship Id="rId2" Type="http://schemas.openxmlformats.org/officeDocument/2006/relationships/notesSlide" Target="../notesSlides/notesSlide89.xml"/><Relationship Id="rId1" Type="http://schemas.openxmlformats.org/officeDocument/2006/relationships/slideLayout" Target="../slideLayouts/slideLayout4.xml"/><Relationship Id="rId6" Type="http://schemas.openxmlformats.org/officeDocument/2006/relationships/image" Target="../media/image72.png"/><Relationship Id="rId5" Type="http://schemas.openxmlformats.org/officeDocument/2006/relationships/image" Target="../media/image4.png"/><Relationship Id="rId4" Type="http://schemas.openxmlformats.org/officeDocument/2006/relationships/image" Target="../media/image97.png"/></Relationships>
</file>

<file path=ppt/slides/_rels/slide9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0.xml"/><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1.xml"/><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4.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image" Target="../media/image4.png"/></Relationships>
</file>

<file path=ppt/slides/_rels/slide95.xml.rels><?xml version="1.0" encoding="UTF-8" standalone="yes"?>
<Relationships xmlns="http://schemas.openxmlformats.org/package/2006/relationships"><Relationship Id="rId8" Type="http://schemas.openxmlformats.org/officeDocument/2006/relationships/image" Target="../media/image99.png"/><Relationship Id="rId3" Type="http://schemas.openxmlformats.org/officeDocument/2006/relationships/image" Target="../media/image72.png"/><Relationship Id="rId7" Type="http://schemas.openxmlformats.org/officeDocument/2006/relationships/image" Target="../media/image71.png"/><Relationship Id="rId2" Type="http://schemas.openxmlformats.org/officeDocument/2006/relationships/notesSlide" Target="../notesSlides/notesSlide95.xml"/><Relationship Id="rId1" Type="http://schemas.openxmlformats.org/officeDocument/2006/relationships/slideLayout" Target="../slideLayouts/slideLayout4.xml"/><Relationship Id="rId6" Type="http://schemas.openxmlformats.org/officeDocument/2006/relationships/image" Target="../media/image95.png"/><Relationship Id="rId5" Type="http://schemas.openxmlformats.org/officeDocument/2006/relationships/image" Target="../media/image40.png"/><Relationship Id="rId4" Type="http://schemas.openxmlformats.org/officeDocument/2006/relationships/image" Target="../media/image87.png"/><Relationship Id="rId9" Type="http://schemas.openxmlformats.org/officeDocument/2006/relationships/image" Target="../media/image63.png"/></Relationships>
</file>

<file path=ppt/slides/_rels/slide9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96.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36.png"/><Relationship Id="rId2" Type="http://schemas.openxmlformats.org/officeDocument/2006/relationships/notesSlide" Target="../notesSlides/notesSlide100.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101.png"/><Relationship Id="rId4" Type="http://schemas.openxmlformats.org/officeDocument/2006/relationships/image" Target="../media/image100.png"/></Relationships>
</file>

<file path=ppt/slides/_rels/slide101.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10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1097280"/>
            <a:ext cx="7863840" cy="365760"/>
          </a:xfrm>
          <a:prstGeom prst="rect">
            <a:avLst/>
          </a:prstGeom>
          <a:noFill/>
          <a:ln/>
        </p:spPr>
        <p:txBody>
          <a:bodyPr wrap="square" lIns="0" tIns="0" rIns="0" bIns="0" rtlCol="0"/>
          <a:lstStyle/>
          <a:p>
            <a:pPr marL="0" indent="0">
              <a:buNone/>
            </a:pPr>
            <a:r>
              <a:rPr lang="en-US" sz="1300" b="1" kern="0" spc="200" dirty="0">
                <a:solidFill>
                  <a:schemeClr val="accent1"/>
                </a:solidFill>
              </a:rPr>
              <a:t>AI ADOPTION  ·  LASER SRL  ·  SESSIONE 1 DI 3</a:t>
            </a:r>
            <a:endParaRPr lang="en-US" sz="1300" dirty="0"/>
          </a:p>
        </p:txBody>
      </p:sp>
      <p:sp>
        <p:nvSpPr>
          <p:cNvPr id="3" name="Text 0"/>
          <p:cNvSpPr>
            <a:spLocks noGrp="1"/>
          </p:cNvSpPr>
          <p:nvPr>
            <p:ph type="title" idx="101" hasCustomPrompt="1"/>
          </p:nvPr>
        </p:nvSpPr>
        <p:spPr>
          <a:xfrm>
            <a:off x="640080" y="1554480"/>
            <a:ext cx="7863840" cy="1463040"/>
          </a:xfrm>
          <a:prstGeom prst="rect">
            <a:avLst/>
          </a:prstGeom>
          <a:noFill/>
          <a:ln/>
        </p:spPr>
        <p:txBody>
          <a:bodyPr wrap="square" lIns="0" tIns="0" rIns="0" bIns="0" rtlCol="0" anchor="t"/>
          <a:lstStyle/>
          <a:p>
            <a:pPr marL="0" indent="0" algn="l">
              <a:buNone/>
            </a:pPr>
            <a:r>
              <a:rPr lang="en-US" sz="3600" b="1" dirty="0" err="1">
                <a:solidFill>
                  <a:schemeClr val="bg1"/>
                </a:solidFill>
              </a:rPr>
              <a:t>Percorso</a:t>
            </a:r>
            <a:r>
              <a:rPr lang="en-US" sz="3600" b="1" dirty="0">
                <a:solidFill>
                  <a:schemeClr val="bg1"/>
                </a:solidFill>
              </a:rPr>
              <a:t> Ai – Adoption – Laser </a:t>
            </a:r>
            <a:r>
              <a:rPr lang="en-US" sz="3600" b="1" dirty="0" err="1">
                <a:solidFill>
                  <a:schemeClr val="bg1"/>
                </a:solidFill>
              </a:rPr>
              <a:t>Srl</a:t>
            </a:r>
            <a:endParaRPr lang="en-US" sz="3600" dirty="0"/>
          </a:p>
        </p:txBody>
      </p:sp>
      <p:sp>
        <p:nvSpPr>
          <p:cNvPr id="4" name="Text 0"/>
          <p:cNvSpPr>
            <a:spLocks noGrp="1"/>
          </p:cNvSpPr>
          <p:nvPr>
            <p:ph type="body" idx="102" hasCustomPrompt="1"/>
          </p:nvPr>
        </p:nvSpPr>
        <p:spPr>
          <a:xfrm>
            <a:off x="640080" y="3154680"/>
            <a:ext cx="7863840" cy="822960"/>
          </a:xfrm>
          <a:prstGeom prst="rect">
            <a:avLst/>
          </a:prstGeom>
          <a:noFill/>
          <a:ln/>
        </p:spPr>
        <p:txBody>
          <a:bodyPr wrap="square" lIns="0" tIns="0" rIns="0" bIns="0" rtlCol="0" anchor="t"/>
          <a:lstStyle/>
          <a:p>
            <a:pPr marL="0" indent="0">
              <a:buNone/>
            </a:pPr>
            <a:r>
              <a:rPr lang="en-US" sz="1600" dirty="0">
                <a:solidFill>
                  <a:schemeClr val="accent3"/>
                </a:solidFill>
              </a:rPr>
              <a:t>Che cos'è, come funziona, che cosa sa fare e dove sbaglia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Il percorso in tre sessioni</a:t>
            </a:r>
            <a:endParaRPr lang="en-US" sz="2600" dirty="0"/>
          </a:p>
        </p:txBody>
      </p:sp>
      <p:sp>
        <p:nvSpPr>
          <p:cNvPr id="6" name="sessione 1"/>
          <p:cNvSpPr/>
          <p:nvPr/>
        </p:nvSpPr>
        <p:spPr>
          <a:xfrm>
            <a:off x="457200" y="1097280"/>
            <a:ext cx="2606040" cy="2697480"/>
          </a:xfrm>
          <a:prstGeom prst="roundRect">
            <a:avLst>
              <a:gd name="adj" fmla="val 2807"/>
            </a:avLst>
          </a:prstGeom>
          <a:solidFill>
            <a:schemeClr val="accent6"/>
          </a:solidFill>
          <a:ln/>
        </p:spPr>
        <p:txBody>
          <a:bodyPr/>
          <a:lstStyle/>
          <a:p>
            <a:endParaRPr lang="it-IT"/>
          </a:p>
        </p:txBody>
      </p:sp>
      <p:sp>
        <p:nvSpPr>
          <p:cNvPr id="7" name="cerchio FiBookOpen"/>
          <p:cNvSpPr/>
          <p:nvPr/>
        </p:nvSpPr>
        <p:spPr>
          <a:xfrm>
            <a:off x="640080" y="1261872"/>
            <a:ext cx="457200" cy="457200"/>
          </a:xfrm>
          <a:prstGeom prst="ellipse">
            <a:avLst/>
          </a:prstGeom>
          <a:solidFill>
            <a:schemeClr val="accent1"/>
          </a:solidFill>
          <a:ln/>
        </p:spPr>
        <p:txBody>
          <a:bodyPr/>
          <a:lstStyle/>
          <a:p>
            <a:endParaRPr lang="it-IT"/>
          </a:p>
        </p:txBody>
      </p:sp>
      <p:pic>
        <p:nvPicPr>
          <p:cNvPr id="8" name="Image 0" descr="FiBookOpen"/>
          <p:cNvPicPr>
            <a:picLocks noChangeAspect="1"/>
          </p:cNvPicPr>
          <p:nvPr/>
        </p:nvPicPr>
        <p:blipFill>
          <a:blip r:embed="rId3"/>
          <a:stretch>
            <a:fillRect/>
          </a:stretch>
        </p:blipFill>
        <p:spPr>
          <a:xfrm>
            <a:off x="754380" y="1376172"/>
            <a:ext cx="228600" cy="228600"/>
          </a:xfrm>
          <a:prstGeom prst="rect">
            <a:avLst/>
          </a:prstGeom>
        </p:spPr>
      </p:pic>
      <p:sp>
        <p:nvSpPr>
          <p:cNvPr id="9" name="Text 5"/>
          <p:cNvSpPr txBox="1"/>
          <p:nvPr/>
        </p:nvSpPr>
        <p:spPr>
          <a:xfrm>
            <a:off x="1207008" y="1261872"/>
            <a:ext cx="1737360" cy="228600"/>
          </a:xfrm>
          <a:prstGeom prst="rect">
            <a:avLst/>
          </a:prstGeom>
          <a:noFill/>
          <a:ln/>
        </p:spPr>
        <p:txBody>
          <a:bodyPr wrap="square" lIns="0" tIns="0" rIns="0" bIns="0" rtlCol="0" anchor="t"/>
          <a:lstStyle/>
          <a:p>
            <a:pPr marL="0" indent="0">
              <a:buNone/>
            </a:pPr>
            <a:r>
              <a:rPr lang="en-US" sz="1000" b="1" kern="0" spc="100" dirty="0">
                <a:solidFill>
                  <a:schemeClr val="accent1"/>
                </a:solidFill>
              </a:rPr>
              <a:t>SESSIONE 1</a:t>
            </a:r>
            <a:endParaRPr lang="en-US" sz="1000" dirty="0"/>
          </a:p>
        </p:txBody>
      </p:sp>
      <p:sp>
        <p:nvSpPr>
          <p:cNvPr id="10" name="Text 6"/>
          <p:cNvSpPr txBox="1"/>
          <p:nvPr/>
        </p:nvSpPr>
        <p:spPr>
          <a:xfrm>
            <a:off x="1207008" y="1481328"/>
            <a:ext cx="1783080" cy="274320"/>
          </a:xfrm>
          <a:prstGeom prst="rect">
            <a:avLst/>
          </a:prstGeom>
          <a:noFill/>
          <a:ln/>
        </p:spPr>
        <p:txBody>
          <a:bodyPr wrap="square" lIns="0" tIns="0" rIns="0" bIns="0" rtlCol="0" anchor="t"/>
          <a:lstStyle/>
          <a:p>
            <a:pPr marL="0" indent="0">
              <a:buNone/>
            </a:pPr>
            <a:r>
              <a:rPr lang="en-US" sz="1500" b="1" dirty="0">
                <a:solidFill>
                  <a:schemeClr val="tx1"/>
                </a:solidFill>
              </a:rPr>
              <a:t>Capire l'AI</a:t>
            </a:r>
            <a:endParaRPr lang="en-US" sz="1500" dirty="0"/>
          </a:p>
        </p:txBody>
      </p:sp>
      <p:sp>
        <p:nvSpPr>
          <p:cNvPr id="11" name="Text 7"/>
          <p:cNvSpPr txBox="1"/>
          <p:nvPr/>
        </p:nvSpPr>
        <p:spPr>
          <a:xfrm>
            <a:off x="640080" y="1965960"/>
            <a:ext cx="2286000" cy="16916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2"/>
                </a:solidFill>
              </a:rPr>
              <a:t>Che cos'è e come funziona</a:t>
            </a:r>
            <a:endParaRPr lang="en-US" sz="1300" dirty="0"/>
          </a:p>
          <a:p>
            <a:pPr marL="177800" indent="-177800">
              <a:spcAft>
                <a:spcPts val="600"/>
              </a:spcAft>
              <a:buSzPct val="100000"/>
              <a:buChar char="•"/>
            </a:pPr>
            <a:r>
              <a:rPr lang="en-US" sz="1300" dirty="0">
                <a:solidFill>
                  <a:schemeClr val="tx2"/>
                </a:solidFill>
              </a:rPr>
              <a:t>Che cosa sa fare, dove sbaglia</a:t>
            </a:r>
            <a:endParaRPr lang="en-US" sz="1300" dirty="0"/>
          </a:p>
          <a:p>
            <a:pPr marL="177800" indent="-177800">
              <a:spcAft>
                <a:spcPts val="600"/>
              </a:spcAft>
              <a:buSzPct val="100000"/>
              <a:buChar char="•"/>
            </a:pPr>
            <a:r>
              <a:rPr lang="en-US" sz="1300" dirty="0">
                <a:solidFill>
                  <a:schemeClr val="tx2"/>
                </a:solidFill>
              </a:rPr>
              <a:t>Dove serve in Laser</a:t>
            </a:r>
            <a:endParaRPr lang="en-US" sz="1300" dirty="0"/>
          </a:p>
        </p:txBody>
      </p:sp>
      <p:sp>
        <p:nvSpPr>
          <p:cNvPr id="12" name="freccia"/>
          <p:cNvSpPr/>
          <p:nvPr/>
        </p:nvSpPr>
        <p:spPr>
          <a:xfrm>
            <a:off x="3081528" y="2286000"/>
            <a:ext cx="146304" cy="292608"/>
          </a:xfrm>
          <a:prstGeom prst="rightArrow">
            <a:avLst/>
          </a:prstGeom>
          <a:solidFill>
            <a:schemeClr val="accent2"/>
          </a:solidFill>
          <a:ln/>
        </p:spPr>
        <p:txBody>
          <a:bodyPr/>
          <a:lstStyle/>
          <a:p>
            <a:endParaRPr lang="it-IT"/>
          </a:p>
        </p:txBody>
      </p:sp>
      <p:sp>
        <p:nvSpPr>
          <p:cNvPr id="13" name="sessione 2"/>
          <p:cNvSpPr/>
          <p:nvPr/>
        </p:nvSpPr>
        <p:spPr>
          <a:xfrm>
            <a:off x="3246120" y="1097280"/>
            <a:ext cx="2606040" cy="2697480"/>
          </a:xfrm>
          <a:prstGeom prst="roundRect">
            <a:avLst>
              <a:gd name="adj" fmla="val 2807"/>
            </a:avLst>
          </a:prstGeom>
          <a:solidFill>
            <a:schemeClr val="bg2"/>
          </a:solidFill>
          <a:ln/>
        </p:spPr>
        <p:txBody>
          <a:bodyPr/>
          <a:lstStyle/>
          <a:p>
            <a:endParaRPr lang="it-IT"/>
          </a:p>
        </p:txBody>
      </p:sp>
      <p:sp>
        <p:nvSpPr>
          <p:cNvPr id="14" name="cerchio FiTool"/>
          <p:cNvSpPr/>
          <p:nvPr/>
        </p:nvSpPr>
        <p:spPr>
          <a:xfrm>
            <a:off x="3429000" y="1261872"/>
            <a:ext cx="457200" cy="457200"/>
          </a:xfrm>
          <a:prstGeom prst="ellipse">
            <a:avLst/>
          </a:prstGeom>
          <a:solidFill>
            <a:schemeClr val="accent1"/>
          </a:solidFill>
          <a:ln/>
        </p:spPr>
        <p:txBody>
          <a:bodyPr/>
          <a:lstStyle/>
          <a:p>
            <a:endParaRPr lang="it-IT"/>
          </a:p>
        </p:txBody>
      </p:sp>
      <p:pic>
        <p:nvPicPr>
          <p:cNvPr id="15" name="Image 1" descr="FiTool"/>
          <p:cNvPicPr>
            <a:picLocks noChangeAspect="1"/>
          </p:cNvPicPr>
          <p:nvPr/>
        </p:nvPicPr>
        <p:blipFill>
          <a:blip r:embed="rId4"/>
          <a:stretch>
            <a:fillRect/>
          </a:stretch>
        </p:blipFill>
        <p:spPr>
          <a:xfrm>
            <a:off x="3543300" y="1376172"/>
            <a:ext cx="228600" cy="228600"/>
          </a:xfrm>
          <a:prstGeom prst="rect">
            <a:avLst/>
          </a:prstGeom>
        </p:spPr>
      </p:pic>
      <p:sp>
        <p:nvSpPr>
          <p:cNvPr id="16" name="Text 11"/>
          <p:cNvSpPr txBox="1"/>
          <p:nvPr/>
        </p:nvSpPr>
        <p:spPr>
          <a:xfrm>
            <a:off x="3995928" y="1261872"/>
            <a:ext cx="1737360" cy="228600"/>
          </a:xfrm>
          <a:prstGeom prst="rect">
            <a:avLst/>
          </a:prstGeom>
          <a:noFill/>
          <a:ln/>
        </p:spPr>
        <p:txBody>
          <a:bodyPr wrap="square" lIns="0" tIns="0" rIns="0" bIns="0" rtlCol="0" anchor="t"/>
          <a:lstStyle/>
          <a:p>
            <a:pPr marL="0" indent="0">
              <a:buNone/>
            </a:pPr>
            <a:r>
              <a:rPr lang="en-US" sz="1000" b="1" kern="0" spc="100" dirty="0">
                <a:solidFill>
                  <a:schemeClr val="accent1"/>
                </a:solidFill>
              </a:rPr>
              <a:t>SESSIONE 2</a:t>
            </a:r>
            <a:endParaRPr lang="en-US" sz="1000" dirty="0"/>
          </a:p>
        </p:txBody>
      </p:sp>
      <p:sp>
        <p:nvSpPr>
          <p:cNvPr id="17" name="Text 12"/>
          <p:cNvSpPr txBox="1"/>
          <p:nvPr/>
        </p:nvSpPr>
        <p:spPr>
          <a:xfrm>
            <a:off x="3995928" y="1481328"/>
            <a:ext cx="1783080" cy="274320"/>
          </a:xfrm>
          <a:prstGeom prst="rect">
            <a:avLst/>
          </a:prstGeom>
          <a:noFill/>
          <a:ln/>
        </p:spPr>
        <p:txBody>
          <a:bodyPr wrap="square" lIns="0" tIns="0" rIns="0" bIns="0" rtlCol="0" anchor="t"/>
          <a:lstStyle/>
          <a:p>
            <a:pPr marL="0" indent="0">
              <a:buNone/>
            </a:pPr>
            <a:r>
              <a:rPr lang="en-US" sz="1500" b="1" dirty="0">
                <a:solidFill>
                  <a:schemeClr val="tx1"/>
                </a:solidFill>
              </a:rPr>
              <a:t>Strumenti e applicazioni</a:t>
            </a:r>
            <a:endParaRPr lang="en-US" sz="1500" dirty="0"/>
          </a:p>
        </p:txBody>
      </p:sp>
      <p:sp>
        <p:nvSpPr>
          <p:cNvPr id="18" name="Text 13"/>
          <p:cNvSpPr txBox="1"/>
          <p:nvPr/>
        </p:nvSpPr>
        <p:spPr>
          <a:xfrm>
            <a:off x="3429000" y="1965960"/>
            <a:ext cx="2286000" cy="16916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2"/>
                </a:solidFill>
              </a:rPr>
              <a:t>Copilot e assistenti AI</a:t>
            </a:r>
            <a:endParaRPr lang="en-US" sz="1300" dirty="0"/>
          </a:p>
          <a:p>
            <a:pPr marL="177800" indent="-177800">
              <a:spcAft>
                <a:spcPts val="600"/>
              </a:spcAft>
              <a:buSzPct val="100000"/>
              <a:buChar char="•"/>
            </a:pPr>
            <a:r>
              <a:rPr lang="en-US" sz="1300" dirty="0">
                <a:solidFill>
                  <a:schemeClr val="tx2"/>
                </a:solidFill>
              </a:rPr>
              <a:t>Richieste efficaci, demo</a:t>
            </a:r>
            <a:endParaRPr lang="en-US" sz="1300" dirty="0"/>
          </a:p>
          <a:p>
            <a:pPr marL="177800" indent="-177800">
              <a:spcAft>
                <a:spcPts val="600"/>
              </a:spcAft>
              <a:buSzPct val="100000"/>
              <a:buChar char="•"/>
            </a:pPr>
            <a:r>
              <a:rPr lang="en-US" sz="1300" dirty="0">
                <a:solidFill>
                  <a:schemeClr val="tx2"/>
                </a:solidFill>
              </a:rPr>
              <a:t>Processi, service, prodotto</a:t>
            </a:r>
            <a:endParaRPr lang="en-US" sz="1300" dirty="0"/>
          </a:p>
        </p:txBody>
      </p:sp>
      <p:sp>
        <p:nvSpPr>
          <p:cNvPr id="19" name="freccia"/>
          <p:cNvSpPr/>
          <p:nvPr/>
        </p:nvSpPr>
        <p:spPr>
          <a:xfrm>
            <a:off x="5870448" y="2286000"/>
            <a:ext cx="146304" cy="292608"/>
          </a:xfrm>
          <a:prstGeom prst="rightArrow">
            <a:avLst/>
          </a:prstGeom>
          <a:solidFill>
            <a:schemeClr val="accent2"/>
          </a:solidFill>
          <a:ln/>
        </p:spPr>
        <p:txBody>
          <a:bodyPr/>
          <a:lstStyle/>
          <a:p>
            <a:endParaRPr lang="it-IT"/>
          </a:p>
        </p:txBody>
      </p:sp>
      <p:sp>
        <p:nvSpPr>
          <p:cNvPr id="20" name="sessione 3"/>
          <p:cNvSpPr/>
          <p:nvPr/>
        </p:nvSpPr>
        <p:spPr>
          <a:xfrm>
            <a:off x="6035040" y="1097280"/>
            <a:ext cx="2606040" cy="2697480"/>
          </a:xfrm>
          <a:prstGeom prst="roundRect">
            <a:avLst>
              <a:gd name="adj" fmla="val 2807"/>
            </a:avLst>
          </a:prstGeom>
          <a:solidFill>
            <a:schemeClr val="bg2"/>
          </a:solidFill>
          <a:ln/>
        </p:spPr>
        <p:txBody>
          <a:bodyPr/>
          <a:lstStyle/>
          <a:p>
            <a:endParaRPr lang="it-IT"/>
          </a:p>
        </p:txBody>
      </p:sp>
      <p:sp>
        <p:nvSpPr>
          <p:cNvPr id="21" name="cerchio FiMap"/>
          <p:cNvSpPr/>
          <p:nvPr/>
        </p:nvSpPr>
        <p:spPr>
          <a:xfrm>
            <a:off x="6217920" y="1261872"/>
            <a:ext cx="457200" cy="457200"/>
          </a:xfrm>
          <a:prstGeom prst="ellipse">
            <a:avLst/>
          </a:prstGeom>
          <a:solidFill>
            <a:schemeClr val="accent1"/>
          </a:solidFill>
          <a:ln/>
        </p:spPr>
        <p:txBody>
          <a:bodyPr/>
          <a:lstStyle/>
          <a:p>
            <a:endParaRPr lang="it-IT"/>
          </a:p>
        </p:txBody>
      </p:sp>
      <p:pic>
        <p:nvPicPr>
          <p:cNvPr id="22" name="Image 2" descr="FiMap"/>
          <p:cNvPicPr>
            <a:picLocks noChangeAspect="1"/>
          </p:cNvPicPr>
          <p:nvPr/>
        </p:nvPicPr>
        <p:blipFill>
          <a:blip r:embed="rId5"/>
          <a:stretch>
            <a:fillRect/>
          </a:stretch>
        </p:blipFill>
        <p:spPr>
          <a:xfrm>
            <a:off x="6332220" y="1376172"/>
            <a:ext cx="228600" cy="228600"/>
          </a:xfrm>
          <a:prstGeom prst="rect">
            <a:avLst/>
          </a:prstGeom>
        </p:spPr>
      </p:pic>
      <p:sp>
        <p:nvSpPr>
          <p:cNvPr id="23" name="Text 17"/>
          <p:cNvSpPr txBox="1"/>
          <p:nvPr/>
        </p:nvSpPr>
        <p:spPr>
          <a:xfrm>
            <a:off x="6784848" y="1261872"/>
            <a:ext cx="1737360" cy="228600"/>
          </a:xfrm>
          <a:prstGeom prst="rect">
            <a:avLst/>
          </a:prstGeom>
          <a:noFill/>
          <a:ln/>
        </p:spPr>
        <p:txBody>
          <a:bodyPr wrap="square" lIns="0" tIns="0" rIns="0" bIns="0" rtlCol="0" anchor="t"/>
          <a:lstStyle/>
          <a:p>
            <a:pPr marL="0" indent="0">
              <a:buNone/>
            </a:pPr>
            <a:r>
              <a:rPr lang="en-US" sz="1000" b="1" kern="0" spc="100" dirty="0">
                <a:solidFill>
                  <a:schemeClr val="accent1"/>
                </a:solidFill>
              </a:rPr>
              <a:t>SESSIONE 3</a:t>
            </a:r>
            <a:endParaRPr lang="en-US" sz="1000" dirty="0"/>
          </a:p>
        </p:txBody>
      </p:sp>
      <p:sp>
        <p:nvSpPr>
          <p:cNvPr id="24" name="Text 18"/>
          <p:cNvSpPr txBox="1"/>
          <p:nvPr/>
        </p:nvSpPr>
        <p:spPr>
          <a:xfrm>
            <a:off x="6784848" y="1481328"/>
            <a:ext cx="1783080" cy="274320"/>
          </a:xfrm>
          <a:prstGeom prst="rect">
            <a:avLst/>
          </a:prstGeom>
          <a:noFill/>
          <a:ln/>
        </p:spPr>
        <p:txBody>
          <a:bodyPr wrap="square" lIns="0" tIns="0" rIns="0" bIns="0" rtlCol="0" anchor="t"/>
          <a:lstStyle/>
          <a:p>
            <a:pPr marL="0" indent="0">
              <a:buNone/>
            </a:pPr>
            <a:r>
              <a:rPr lang="en-US" sz="1500" b="1" dirty="0">
                <a:solidFill>
                  <a:schemeClr val="tx1"/>
                </a:solidFill>
              </a:rPr>
              <a:t>Regole e roadmap</a:t>
            </a:r>
            <a:endParaRPr lang="en-US" sz="1500" dirty="0"/>
          </a:p>
        </p:txBody>
      </p:sp>
      <p:sp>
        <p:nvSpPr>
          <p:cNvPr id="25" name="Text 19"/>
          <p:cNvSpPr txBox="1"/>
          <p:nvPr/>
        </p:nvSpPr>
        <p:spPr>
          <a:xfrm>
            <a:off x="6217920" y="1965960"/>
            <a:ext cx="2286000" cy="16916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2"/>
                </a:solidFill>
              </a:rPr>
              <a:t>Uso sicuro e normativa</a:t>
            </a:r>
            <a:endParaRPr lang="en-US" sz="1300" dirty="0"/>
          </a:p>
          <a:p>
            <a:pPr marL="177800" indent="-177800">
              <a:spcAft>
                <a:spcPts val="600"/>
              </a:spcAft>
              <a:buSzPct val="100000"/>
              <a:buChar char="•"/>
            </a:pPr>
            <a:r>
              <a:rPr lang="en-US" sz="1300" dirty="0">
                <a:solidFill>
                  <a:schemeClr val="tx2"/>
                </a:solidFill>
              </a:rPr>
              <a:t>Governance minima</a:t>
            </a:r>
            <a:endParaRPr lang="en-US" sz="1300" dirty="0"/>
          </a:p>
          <a:p>
            <a:pPr marL="177800" indent="-177800">
              <a:spcAft>
                <a:spcPts val="600"/>
              </a:spcAft>
              <a:buSzPct val="100000"/>
              <a:buChar char="•"/>
            </a:pPr>
            <a:r>
              <a:rPr lang="en-US" sz="1300" dirty="0">
                <a:solidFill>
                  <a:schemeClr val="tx2"/>
                </a:solidFill>
              </a:rPr>
              <a:t>Casi d'uso, schede progetto</a:t>
            </a:r>
            <a:endParaRPr lang="en-US"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Da dove partiamo</a:t>
            </a:r>
            <a:endParaRPr lang="en-US" sz="2600" dirty="0"/>
          </a:p>
        </p:txBody>
      </p:sp>
      <p:sp>
        <p:nvSpPr>
          <p:cNvPr id="6" name="domanda 1"/>
          <p:cNvSpPr/>
          <p:nvPr/>
        </p:nvSpPr>
        <p:spPr>
          <a:xfrm>
            <a:off x="457200" y="1097280"/>
            <a:ext cx="8229600" cy="896112"/>
          </a:xfrm>
          <a:prstGeom prst="roundRect">
            <a:avLst>
              <a:gd name="adj" fmla="val 8163"/>
            </a:avLst>
          </a:prstGeom>
          <a:solidFill>
            <a:schemeClr val="bg2"/>
          </a:solidFill>
          <a:ln w="9525">
            <a:solidFill>
              <a:schemeClr val="accent3"/>
            </a:solidFill>
            <a:prstDash val="solid"/>
          </a:ln>
        </p:spPr>
        <p:txBody>
          <a:bodyPr/>
          <a:lstStyle/>
          <a:p>
            <a:endParaRPr lang="it-IT"/>
          </a:p>
        </p:txBody>
      </p:sp>
      <p:sp>
        <p:nvSpPr>
          <p:cNvPr id="7" name="cerchio FiUsers"/>
          <p:cNvSpPr/>
          <p:nvPr/>
        </p:nvSpPr>
        <p:spPr>
          <a:xfrm>
            <a:off x="640080" y="1298448"/>
            <a:ext cx="493776" cy="493776"/>
          </a:xfrm>
          <a:prstGeom prst="ellipse">
            <a:avLst/>
          </a:prstGeom>
          <a:solidFill>
            <a:schemeClr val="accent1"/>
          </a:solidFill>
          <a:ln/>
        </p:spPr>
        <p:txBody>
          <a:bodyPr/>
          <a:lstStyle/>
          <a:p>
            <a:endParaRPr lang="it-IT"/>
          </a:p>
        </p:txBody>
      </p:sp>
      <p:pic>
        <p:nvPicPr>
          <p:cNvPr id="8" name="Image 0" descr="FiUsers"/>
          <p:cNvPicPr>
            <a:picLocks noChangeAspect="1"/>
          </p:cNvPicPr>
          <p:nvPr/>
        </p:nvPicPr>
        <p:blipFill>
          <a:blip r:embed="rId3"/>
          <a:stretch>
            <a:fillRect/>
          </a:stretch>
        </p:blipFill>
        <p:spPr>
          <a:xfrm>
            <a:off x="763524" y="1421892"/>
            <a:ext cx="246888" cy="246888"/>
          </a:xfrm>
          <a:prstGeom prst="rect">
            <a:avLst/>
          </a:prstGeom>
        </p:spPr>
      </p:pic>
      <p:sp>
        <p:nvSpPr>
          <p:cNvPr id="9" name="Text 5"/>
          <p:cNvSpPr txBox="1"/>
          <p:nvPr/>
        </p:nvSpPr>
        <p:spPr>
          <a:xfrm>
            <a:off x="1371600" y="1225296"/>
            <a:ext cx="7132320" cy="347472"/>
          </a:xfrm>
          <a:prstGeom prst="rect">
            <a:avLst/>
          </a:prstGeom>
          <a:noFill/>
          <a:ln/>
        </p:spPr>
        <p:txBody>
          <a:bodyPr wrap="square" lIns="0" tIns="0" rIns="0" bIns="0" rtlCol="0" anchor="t"/>
          <a:lstStyle/>
          <a:p>
            <a:pPr marL="0" indent="0">
              <a:buNone/>
            </a:pPr>
            <a:r>
              <a:rPr lang="en-US" sz="1700" b="1" dirty="0">
                <a:solidFill>
                  <a:schemeClr val="tx1"/>
                </a:solidFill>
              </a:rPr>
              <a:t>Chi ha già usato uno strumento di AI?</a:t>
            </a:r>
            <a:endParaRPr lang="en-US" sz="1700" dirty="0"/>
          </a:p>
        </p:txBody>
      </p:sp>
      <p:sp>
        <p:nvSpPr>
          <p:cNvPr id="10" name="Text 6"/>
          <p:cNvSpPr txBox="1"/>
          <p:nvPr/>
        </p:nvSpPr>
        <p:spPr>
          <a:xfrm>
            <a:off x="1371600" y="1572768"/>
            <a:ext cx="7132320" cy="320040"/>
          </a:xfrm>
          <a:prstGeom prst="rect">
            <a:avLst/>
          </a:prstGeom>
          <a:noFill/>
          <a:ln/>
        </p:spPr>
        <p:txBody>
          <a:bodyPr wrap="square" lIns="0" tIns="0" rIns="0" bIns="0" rtlCol="0" anchor="t"/>
          <a:lstStyle/>
          <a:p>
            <a:pPr marL="0" indent="0">
              <a:buNone/>
            </a:pPr>
            <a:r>
              <a:rPr lang="en-US" sz="1300" dirty="0">
                <a:solidFill>
                  <a:schemeClr val="tx2"/>
                </a:solidFill>
              </a:rPr>
              <a:t>ChatGPT, Copilot, Gemini, traduttori, assistenti nel telefono</a:t>
            </a:r>
            <a:endParaRPr lang="en-US" sz="1300" dirty="0"/>
          </a:p>
        </p:txBody>
      </p:sp>
      <p:sp>
        <p:nvSpPr>
          <p:cNvPr id="11" name="domanda 2"/>
          <p:cNvSpPr/>
          <p:nvPr/>
        </p:nvSpPr>
        <p:spPr>
          <a:xfrm>
            <a:off x="457200" y="2121408"/>
            <a:ext cx="8229600" cy="896112"/>
          </a:xfrm>
          <a:prstGeom prst="roundRect">
            <a:avLst>
              <a:gd name="adj" fmla="val 8163"/>
            </a:avLst>
          </a:prstGeom>
          <a:solidFill>
            <a:schemeClr val="bg1"/>
          </a:solidFill>
          <a:ln w="9525">
            <a:solidFill>
              <a:schemeClr val="accent3"/>
            </a:solidFill>
            <a:prstDash val="solid"/>
          </a:ln>
        </p:spPr>
        <p:txBody>
          <a:bodyPr/>
          <a:lstStyle/>
          <a:p>
            <a:endParaRPr lang="it-IT"/>
          </a:p>
        </p:txBody>
      </p:sp>
      <p:sp>
        <p:nvSpPr>
          <p:cNvPr id="12" name="cerchio FiEdit3"/>
          <p:cNvSpPr/>
          <p:nvPr/>
        </p:nvSpPr>
        <p:spPr>
          <a:xfrm>
            <a:off x="640080" y="2322576"/>
            <a:ext cx="493776" cy="493776"/>
          </a:xfrm>
          <a:prstGeom prst="ellipse">
            <a:avLst/>
          </a:prstGeom>
          <a:solidFill>
            <a:schemeClr val="accent1"/>
          </a:solidFill>
          <a:ln/>
        </p:spPr>
        <p:txBody>
          <a:bodyPr/>
          <a:lstStyle/>
          <a:p>
            <a:endParaRPr lang="it-IT"/>
          </a:p>
        </p:txBody>
      </p:sp>
      <p:pic>
        <p:nvPicPr>
          <p:cNvPr id="13" name="Image 1" descr="FiEdit3"/>
          <p:cNvPicPr>
            <a:picLocks noChangeAspect="1"/>
          </p:cNvPicPr>
          <p:nvPr/>
        </p:nvPicPr>
        <p:blipFill>
          <a:blip r:embed="rId4"/>
          <a:stretch>
            <a:fillRect/>
          </a:stretch>
        </p:blipFill>
        <p:spPr>
          <a:xfrm>
            <a:off x="763524" y="2446020"/>
            <a:ext cx="246888" cy="246888"/>
          </a:xfrm>
          <a:prstGeom prst="rect">
            <a:avLst/>
          </a:prstGeom>
        </p:spPr>
      </p:pic>
      <p:sp>
        <p:nvSpPr>
          <p:cNvPr id="14" name="Text 9"/>
          <p:cNvSpPr txBox="1"/>
          <p:nvPr/>
        </p:nvSpPr>
        <p:spPr>
          <a:xfrm>
            <a:off x="1371600" y="2249424"/>
            <a:ext cx="7132320" cy="347472"/>
          </a:xfrm>
          <a:prstGeom prst="rect">
            <a:avLst/>
          </a:prstGeom>
          <a:noFill/>
          <a:ln/>
        </p:spPr>
        <p:txBody>
          <a:bodyPr wrap="square" lIns="0" tIns="0" rIns="0" bIns="0" rtlCol="0" anchor="t"/>
          <a:lstStyle/>
          <a:p>
            <a:pPr marL="0" indent="0">
              <a:buNone/>
            </a:pPr>
            <a:r>
              <a:rPr lang="en-US" sz="1700" b="1" dirty="0">
                <a:solidFill>
                  <a:schemeClr val="tx1"/>
                </a:solidFill>
              </a:rPr>
              <a:t>Per che cosa?</a:t>
            </a:r>
            <a:endParaRPr lang="en-US" sz="1700" dirty="0"/>
          </a:p>
        </p:txBody>
      </p:sp>
      <p:sp>
        <p:nvSpPr>
          <p:cNvPr id="15" name="Text 10"/>
          <p:cNvSpPr txBox="1"/>
          <p:nvPr/>
        </p:nvSpPr>
        <p:spPr>
          <a:xfrm>
            <a:off x="1371600" y="2596896"/>
            <a:ext cx="7132320" cy="320040"/>
          </a:xfrm>
          <a:prstGeom prst="rect">
            <a:avLst/>
          </a:prstGeom>
          <a:noFill/>
          <a:ln/>
        </p:spPr>
        <p:txBody>
          <a:bodyPr wrap="square" lIns="0" tIns="0" rIns="0" bIns="0" rtlCol="0" anchor="t"/>
          <a:lstStyle/>
          <a:p>
            <a:pPr marL="0" indent="0">
              <a:buNone/>
            </a:pPr>
            <a:r>
              <a:rPr lang="en-US" sz="1300" dirty="0">
                <a:solidFill>
                  <a:schemeClr val="tx2"/>
                </a:solidFill>
              </a:rPr>
              <a:t>Email, traduzioni, ricerche, riassunti, idee, altro</a:t>
            </a:r>
            <a:endParaRPr lang="en-US" sz="1300" dirty="0"/>
          </a:p>
        </p:txBody>
      </p:sp>
      <p:sp>
        <p:nvSpPr>
          <p:cNvPr id="16" name="domanda 3"/>
          <p:cNvSpPr/>
          <p:nvPr/>
        </p:nvSpPr>
        <p:spPr>
          <a:xfrm>
            <a:off x="457200" y="3145536"/>
            <a:ext cx="8229600" cy="896112"/>
          </a:xfrm>
          <a:prstGeom prst="roundRect">
            <a:avLst>
              <a:gd name="adj" fmla="val 8163"/>
            </a:avLst>
          </a:prstGeom>
          <a:solidFill>
            <a:schemeClr val="bg2"/>
          </a:solidFill>
          <a:ln w="9525">
            <a:solidFill>
              <a:schemeClr val="accent3"/>
            </a:solidFill>
            <a:prstDash val="solid"/>
          </a:ln>
        </p:spPr>
        <p:txBody>
          <a:bodyPr/>
          <a:lstStyle/>
          <a:p>
            <a:endParaRPr lang="it-IT"/>
          </a:p>
        </p:txBody>
      </p:sp>
      <p:sp>
        <p:nvSpPr>
          <p:cNvPr id="17" name="cerchio FiHelpCircle"/>
          <p:cNvSpPr/>
          <p:nvPr/>
        </p:nvSpPr>
        <p:spPr>
          <a:xfrm>
            <a:off x="640080" y="3346704"/>
            <a:ext cx="493776" cy="493776"/>
          </a:xfrm>
          <a:prstGeom prst="ellipse">
            <a:avLst/>
          </a:prstGeom>
          <a:solidFill>
            <a:schemeClr val="accent1"/>
          </a:solidFill>
          <a:ln/>
        </p:spPr>
        <p:txBody>
          <a:bodyPr/>
          <a:lstStyle/>
          <a:p>
            <a:endParaRPr lang="it-IT"/>
          </a:p>
        </p:txBody>
      </p:sp>
      <p:pic>
        <p:nvPicPr>
          <p:cNvPr id="18" name="Image 2" descr="FiHelpCircle"/>
          <p:cNvPicPr>
            <a:picLocks noChangeAspect="1"/>
          </p:cNvPicPr>
          <p:nvPr/>
        </p:nvPicPr>
        <p:blipFill>
          <a:blip r:embed="rId5"/>
          <a:stretch>
            <a:fillRect/>
          </a:stretch>
        </p:blipFill>
        <p:spPr>
          <a:xfrm>
            <a:off x="763524" y="3470148"/>
            <a:ext cx="246888" cy="246888"/>
          </a:xfrm>
          <a:prstGeom prst="rect">
            <a:avLst/>
          </a:prstGeom>
        </p:spPr>
      </p:pic>
      <p:sp>
        <p:nvSpPr>
          <p:cNvPr id="19" name="Text 13"/>
          <p:cNvSpPr txBox="1"/>
          <p:nvPr/>
        </p:nvSpPr>
        <p:spPr>
          <a:xfrm>
            <a:off x="1371600" y="3273552"/>
            <a:ext cx="7132320" cy="347472"/>
          </a:xfrm>
          <a:prstGeom prst="rect">
            <a:avLst/>
          </a:prstGeom>
          <a:noFill/>
          <a:ln/>
        </p:spPr>
        <p:txBody>
          <a:bodyPr wrap="square" lIns="0" tIns="0" rIns="0" bIns="0" rtlCol="0" anchor="t"/>
          <a:lstStyle/>
          <a:p>
            <a:pPr marL="0" indent="0">
              <a:buNone/>
            </a:pPr>
            <a:r>
              <a:rPr lang="en-US" sz="1700" b="1" dirty="0">
                <a:solidFill>
                  <a:schemeClr val="tx1"/>
                </a:solidFill>
              </a:rPr>
              <a:t>Che cosa vi aspettate? Che cosa vi preoccupa?</a:t>
            </a:r>
            <a:endParaRPr lang="en-US" sz="1700" dirty="0"/>
          </a:p>
        </p:txBody>
      </p:sp>
      <p:sp>
        <p:nvSpPr>
          <p:cNvPr id="20" name="Text 14"/>
          <p:cNvSpPr txBox="1"/>
          <p:nvPr/>
        </p:nvSpPr>
        <p:spPr>
          <a:xfrm>
            <a:off x="1371600" y="3621024"/>
            <a:ext cx="7132320" cy="320040"/>
          </a:xfrm>
          <a:prstGeom prst="rect">
            <a:avLst/>
          </a:prstGeom>
          <a:noFill/>
          <a:ln/>
        </p:spPr>
        <p:txBody>
          <a:bodyPr wrap="square" lIns="0" tIns="0" rIns="0" bIns="0" rtlCol="0" anchor="t"/>
          <a:lstStyle/>
          <a:p>
            <a:pPr marL="0" indent="0">
              <a:buNone/>
            </a:pPr>
            <a:r>
              <a:rPr lang="en-US" sz="1300" dirty="0">
                <a:solidFill>
                  <a:schemeClr val="tx2"/>
                </a:solidFill>
              </a:rPr>
              <a:t>Aspettative, dubbi, timori: tutto è utile</a:t>
            </a:r>
            <a:endParaRPr lang="en-US" sz="1300" dirty="0"/>
          </a:p>
        </p:txBody>
      </p:sp>
      <p:sp>
        <p:nvSpPr>
          <p:cNvPr id="21" name="Text 15"/>
          <p:cNvSpPr txBox="1"/>
          <p:nvPr/>
        </p:nvSpPr>
        <p:spPr>
          <a:xfrm>
            <a:off x="457200" y="4224528"/>
            <a:ext cx="8229600" cy="274320"/>
          </a:xfrm>
          <a:prstGeom prst="rect">
            <a:avLst/>
          </a:prstGeom>
          <a:noFill/>
          <a:ln/>
        </p:spPr>
        <p:txBody>
          <a:bodyPr wrap="square" lIns="0" tIns="0" rIns="0" bIns="0" rtlCol="0" anchor="t"/>
          <a:lstStyle/>
          <a:p>
            <a:pPr marL="0" indent="0">
              <a:buNone/>
            </a:pPr>
            <a:r>
              <a:rPr lang="en-US" sz="1200" i="1" dirty="0">
                <a:solidFill>
                  <a:schemeClr val="accent4"/>
                </a:solidFill>
              </a:rPr>
              <a:t>Per alzata di mano: le risposte tornano a fine giornata.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Vero o falso?</a:t>
            </a:r>
            <a:endParaRPr lang="en-US" sz="2600" dirty="0"/>
          </a:p>
        </p:txBody>
      </p:sp>
      <p:sp>
        <p:nvSpPr>
          <p:cNvPr id="6" name="affermazione 1"/>
          <p:cNvSpPr/>
          <p:nvPr/>
        </p:nvSpPr>
        <p:spPr>
          <a:xfrm>
            <a:off x="457200" y="1097280"/>
            <a:ext cx="4069080" cy="822960"/>
          </a:xfrm>
          <a:prstGeom prst="roundRect">
            <a:avLst>
              <a:gd name="adj" fmla="val 8889"/>
            </a:avLst>
          </a:prstGeom>
          <a:solidFill>
            <a:schemeClr val="bg2"/>
          </a:solidFill>
          <a:ln/>
        </p:spPr>
        <p:txBody>
          <a:bodyPr/>
          <a:lstStyle/>
          <a:p>
            <a:endParaRPr lang="it-IT"/>
          </a:p>
        </p:txBody>
      </p:sp>
      <p:sp>
        <p:nvSpPr>
          <p:cNvPr id="7" name="Text 4"/>
          <p:cNvSpPr txBox="1"/>
          <p:nvPr/>
        </p:nvSpPr>
        <p:spPr>
          <a:xfrm>
            <a:off x="594360" y="1097280"/>
            <a:ext cx="365760" cy="822960"/>
          </a:xfrm>
          <a:prstGeom prst="rect">
            <a:avLst/>
          </a:prstGeom>
          <a:noFill/>
          <a:ln/>
        </p:spPr>
        <p:txBody>
          <a:bodyPr wrap="square" lIns="0" tIns="0" rIns="0" bIns="0" rtlCol="0" anchor="ctr"/>
          <a:lstStyle/>
          <a:p>
            <a:pPr marL="0" indent="0">
              <a:buNone/>
            </a:pPr>
            <a:r>
              <a:rPr lang="en-US" sz="2200" b="1" dirty="0">
                <a:solidFill>
                  <a:schemeClr val="accent1"/>
                </a:solidFill>
              </a:rPr>
              <a:t>1</a:t>
            </a:r>
            <a:endParaRPr lang="en-US" sz="2200" dirty="0"/>
          </a:p>
        </p:txBody>
      </p:sp>
      <p:sp>
        <p:nvSpPr>
          <p:cNvPr id="8" name="Text 5"/>
          <p:cNvSpPr txBox="1"/>
          <p:nvPr/>
        </p:nvSpPr>
        <p:spPr>
          <a:xfrm>
            <a:off x="1005840" y="1097280"/>
            <a:ext cx="3383280" cy="822960"/>
          </a:xfrm>
          <a:prstGeom prst="rect">
            <a:avLst/>
          </a:prstGeom>
          <a:noFill/>
          <a:ln/>
        </p:spPr>
        <p:txBody>
          <a:bodyPr wrap="square" lIns="0" tIns="0" rIns="0" bIns="0" rtlCol="0" anchor="ctr"/>
          <a:lstStyle/>
          <a:p>
            <a:pPr marL="0" indent="0">
              <a:buNone/>
            </a:pPr>
            <a:r>
              <a:rPr lang="en-US" sz="1400" dirty="0">
                <a:solidFill>
                  <a:schemeClr val="tx1"/>
                </a:solidFill>
              </a:rPr>
              <a:t>L’ Ai </a:t>
            </a:r>
            <a:r>
              <a:rPr lang="en-US" sz="1400" dirty="0" err="1">
                <a:solidFill>
                  <a:schemeClr val="tx1"/>
                </a:solidFill>
              </a:rPr>
              <a:t>può</a:t>
            </a:r>
            <a:r>
              <a:rPr lang="en-US" sz="1400" dirty="0">
                <a:solidFill>
                  <a:schemeClr val="tx1"/>
                </a:solidFill>
              </a:rPr>
              <a:t> </a:t>
            </a:r>
            <a:r>
              <a:rPr lang="en-US" sz="1400" dirty="0" err="1">
                <a:solidFill>
                  <a:schemeClr val="tx1"/>
                </a:solidFill>
              </a:rPr>
              <a:t>aiutare</a:t>
            </a:r>
            <a:r>
              <a:rPr lang="en-US" sz="1400" dirty="0">
                <a:solidFill>
                  <a:schemeClr val="tx1"/>
                </a:solidFill>
              </a:rPr>
              <a:t> </a:t>
            </a:r>
            <a:r>
              <a:rPr lang="en-US" sz="1400" dirty="0" err="1">
                <a:solidFill>
                  <a:schemeClr val="tx1"/>
                </a:solidFill>
              </a:rPr>
              <a:t>anche</a:t>
            </a:r>
            <a:r>
              <a:rPr lang="en-US" sz="1400" dirty="0">
                <a:solidFill>
                  <a:schemeClr val="tx1"/>
                </a:solidFill>
              </a:rPr>
              <a:t> in </a:t>
            </a:r>
            <a:r>
              <a:rPr lang="en-US" sz="1400" dirty="0" err="1">
                <a:solidFill>
                  <a:schemeClr val="tx1"/>
                </a:solidFill>
              </a:rPr>
              <a:t>produzione</a:t>
            </a:r>
            <a:r>
              <a:rPr lang="en-US" sz="1400" dirty="0">
                <a:solidFill>
                  <a:schemeClr val="tx1"/>
                </a:solidFill>
              </a:rPr>
              <a:t> e </a:t>
            </a:r>
            <a:r>
              <a:rPr lang="en-US" sz="1400" dirty="0" err="1">
                <a:solidFill>
                  <a:schemeClr val="tx1"/>
                </a:solidFill>
              </a:rPr>
              <a:t>assistenza</a:t>
            </a:r>
            <a:r>
              <a:rPr lang="en-US" sz="1400" dirty="0">
                <a:solidFill>
                  <a:schemeClr val="tx1"/>
                </a:solidFill>
              </a:rPr>
              <a:t> </a:t>
            </a:r>
            <a:r>
              <a:rPr lang="en-US" sz="1400" dirty="0" err="1">
                <a:solidFill>
                  <a:schemeClr val="tx1"/>
                </a:solidFill>
              </a:rPr>
              <a:t>tecnica</a:t>
            </a:r>
            <a:r>
              <a:rPr lang="en-US" sz="1400" dirty="0">
                <a:solidFill>
                  <a:schemeClr val="tx1"/>
                </a:solidFill>
              </a:rPr>
              <a:t>.</a:t>
            </a:r>
            <a:endParaRPr lang="en-US" sz="1400" dirty="0"/>
          </a:p>
        </p:txBody>
      </p:sp>
      <p:sp>
        <p:nvSpPr>
          <p:cNvPr id="9" name="affermazione 2"/>
          <p:cNvSpPr/>
          <p:nvPr/>
        </p:nvSpPr>
        <p:spPr>
          <a:xfrm>
            <a:off x="4617720" y="1097280"/>
            <a:ext cx="4069080" cy="822960"/>
          </a:xfrm>
          <a:prstGeom prst="roundRect">
            <a:avLst>
              <a:gd name="adj" fmla="val 8889"/>
            </a:avLst>
          </a:prstGeom>
          <a:solidFill>
            <a:schemeClr val="bg2"/>
          </a:solidFill>
          <a:ln/>
        </p:spPr>
        <p:txBody>
          <a:bodyPr/>
          <a:lstStyle/>
          <a:p>
            <a:endParaRPr lang="it-IT"/>
          </a:p>
        </p:txBody>
      </p:sp>
      <p:sp>
        <p:nvSpPr>
          <p:cNvPr id="10" name="Text 7"/>
          <p:cNvSpPr txBox="1"/>
          <p:nvPr/>
        </p:nvSpPr>
        <p:spPr>
          <a:xfrm>
            <a:off x="4754880" y="1097280"/>
            <a:ext cx="365760" cy="822960"/>
          </a:xfrm>
          <a:prstGeom prst="rect">
            <a:avLst/>
          </a:prstGeom>
          <a:noFill/>
          <a:ln/>
        </p:spPr>
        <p:txBody>
          <a:bodyPr wrap="square" lIns="0" tIns="0" rIns="0" bIns="0" rtlCol="0" anchor="ctr"/>
          <a:lstStyle/>
          <a:p>
            <a:pPr marL="0" indent="0">
              <a:buNone/>
            </a:pPr>
            <a:r>
              <a:rPr lang="en-US" sz="2200" b="1" dirty="0">
                <a:solidFill>
                  <a:schemeClr val="accent1"/>
                </a:solidFill>
              </a:rPr>
              <a:t>2</a:t>
            </a:r>
            <a:endParaRPr lang="en-US" sz="2200" dirty="0"/>
          </a:p>
        </p:txBody>
      </p:sp>
      <p:sp>
        <p:nvSpPr>
          <p:cNvPr id="11" name="Text 8"/>
          <p:cNvSpPr txBox="1"/>
          <p:nvPr/>
        </p:nvSpPr>
        <p:spPr>
          <a:xfrm>
            <a:off x="5166360" y="1097280"/>
            <a:ext cx="3383280" cy="822960"/>
          </a:xfrm>
          <a:prstGeom prst="rect">
            <a:avLst/>
          </a:prstGeom>
          <a:noFill/>
          <a:ln/>
        </p:spPr>
        <p:txBody>
          <a:bodyPr wrap="square" lIns="0" tIns="0" rIns="0" bIns="0" rtlCol="0" anchor="ctr"/>
          <a:lstStyle/>
          <a:p>
            <a:pPr marL="0" indent="0">
              <a:buNone/>
            </a:pPr>
            <a:r>
              <a:rPr lang="en-US" sz="1400" dirty="0">
                <a:solidFill>
                  <a:schemeClr val="tx1"/>
                </a:solidFill>
              </a:rPr>
              <a:t>Se risponde con sicurezza, </a:t>
            </a:r>
            <a:r>
              <a:rPr lang="en-US" sz="1400" dirty="0" err="1">
                <a:solidFill>
                  <a:schemeClr val="tx1"/>
                </a:solidFill>
              </a:rPr>
              <a:t>è</a:t>
            </a:r>
            <a:r>
              <a:rPr lang="en-US" sz="1400" dirty="0">
                <a:solidFill>
                  <a:schemeClr val="tx1"/>
                </a:solidFill>
              </a:rPr>
              <a:t> </a:t>
            </a:r>
            <a:r>
              <a:rPr lang="en-US" sz="1400" dirty="0" err="1">
                <a:solidFill>
                  <a:schemeClr val="tx1"/>
                </a:solidFill>
              </a:rPr>
              <a:t>sicuramente</a:t>
            </a:r>
            <a:r>
              <a:rPr lang="en-US" sz="1400" dirty="0">
                <a:solidFill>
                  <a:schemeClr val="tx1"/>
                </a:solidFill>
              </a:rPr>
              <a:t> </a:t>
            </a:r>
            <a:r>
              <a:rPr lang="en-US" sz="1400" dirty="0" err="1">
                <a:solidFill>
                  <a:schemeClr val="tx1"/>
                </a:solidFill>
              </a:rPr>
              <a:t>corretta</a:t>
            </a:r>
            <a:r>
              <a:rPr lang="en-US" sz="1400" dirty="0">
                <a:solidFill>
                  <a:schemeClr val="tx1"/>
                </a:solidFill>
              </a:rPr>
              <a:t>.</a:t>
            </a:r>
            <a:endParaRPr lang="en-US" sz="1400" dirty="0"/>
          </a:p>
        </p:txBody>
      </p:sp>
      <p:sp>
        <p:nvSpPr>
          <p:cNvPr id="12" name="affermazione 3"/>
          <p:cNvSpPr/>
          <p:nvPr/>
        </p:nvSpPr>
        <p:spPr>
          <a:xfrm>
            <a:off x="457200" y="2057400"/>
            <a:ext cx="4069080" cy="822960"/>
          </a:xfrm>
          <a:prstGeom prst="roundRect">
            <a:avLst>
              <a:gd name="adj" fmla="val 8889"/>
            </a:avLst>
          </a:prstGeom>
          <a:solidFill>
            <a:schemeClr val="bg2"/>
          </a:solidFill>
          <a:ln/>
        </p:spPr>
        <p:txBody>
          <a:bodyPr/>
          <a:lstStyle/>
          <a:p>
            <a:endParaRPr lang="it-IT"/>
          </a:p>
        </p:txBody>
      </p:sp>
      <p:sp>
        <p:nvSpPr>
          <p:cNvPr id="13" name="Text 10"/>
          <p:cNvSpPr txBox="1"/>
          <p:nvPr/>
        </p:nvSpPr>
        <p:spPr>
          <a:xfrm>
            <a:off x="594360" y="2057400"/>
            <a:ext cx="365760" cy="822960"/>
          </a:xfrm>
          <a:prstGeom prst="rect">
            <a:avLst/>
          </a:prstGeom>
          <a:noFill/>
          <a:ln/>
        </p:spPr>
        <p:txBody>
          <a:bodyPr wrap="square" lIns="0" tIns="0" rIns="0" bIns="0" rtlCol="0" anchor="ctr"/>
          <a:lstStyle/>
          <a:p>
            <a:pPr marL="0" indent="0">
              <a:buNone/>
            </a:pPr>
            <a:r>
              <a:rPr lang="en-US" sz="2200" b="1" dirty="0">
                <a:solidFill>
                  <a:schemeClr val="accent1"/>
                </a:solidFill>
              </a:rPr>
              <a:t>3</a:t>
            </a:r>
            <a:endParaRPr lang="en-US" sz="2200" dirty="0"/>
          </a:p>
        </p:txBody>
      </p:sp>
      <p:sp>
        <p:nvSpPr>
          <p:cNvPr id="14" name="Text 11"/>
          <p:cNvSpPr txBox="1"/>
          <p:nvPr/>
        </p:nvSpPr>
        <p:spPr>
          <a:xfrm>
            <a:off x="1005840" y="2057400"/>
            <a:ext cx="3383280" cy="822960"/>
          </a:xfrm>
          <a:prstGeom prst="rect">
            <a:avLst/>
          </a:prstGeom>
          <a:noFill/>
          <a:ln/>
        </p:spPr>
        <p:txBody>
          <a:bodyPr wrap="square" lIns="0" tIns="0" rIns="0" bIns="0" rtlCol="0" anchor="ctr"/>
          <a:lstStyle/>
          <a:p>
            <a:pPr marL="0" indent="0">
              <a:buNone/>
            </a:pPr>
            <a:r>
              <a:rPr lang="en-US" sz="1400" dirty="0">
                <a:solidFill>
                  <a:schemeClr val="tx1"/>
                </a:solidFill>
              </a:rPr>
              <a:t>La stessa domanda </a:t>
            </a:r>
            <a:r>
              <a:rPr lang="en-US" sz="1400" dirty="0" err="1">
                <a:solidFill>
                  <a:schemeClr val="tx1"/>
                </a:solidFill>
              </a:rPr>
              <a:t>può</a:t>
            </a:r>
            <a:r>
              <a:rPr lang="en-US" sz="1400" dirty="0">
                <a:solidFill>
                  <a:schemeClr val="tx1"/>
                </a:solidFill>
              </a:rPr>
              <a:t> </a:t>
            </a:r>
            <a:r>
              <a:rPr lang="en-US" sz="1400" dirty="0" err="1">
                <a:solidFill>
                  <a:schemeClr val="tx1"/>
                </a:solidFill>
              </a:rPr>
              <a:t>produrre</a:t>
            </a:r>
            <a:r>
              <a:rPr lang="en-US" sz="1400" dirty="0">
                <a:solidFill>
                  <a:schemeClr val="tx1"/>
                </a:solidFill>
              </a:rPr>
              <a:t> </a:t>
            </a:r>
            <a:r>
              <a:rPr lang="en-US" sz="1400" dirty="0" err="1">
                <a:solidFill>
                  <a:schemeClr val="tx1"/>
                </a:solidFill>
              </a:rPr>
              <a:t>risultati</a:t>
            </a:r>
            <a:r>
              <a:rPr lang="en-US" sz="1400" dirty="0">
                <a:solidFill>
                  <a:schemeClr val="tx1"/>
                </a:solidFill>
              </a:rPr>
              <a:t> </a:t>
            </a:r>
            <a:r>
              <a:rPr lang="en-US" sz="1400" dirty="0" err="1">
                <a:solidFill>
                  <a:schemeClr val="tx1"/>
                </a:solidFill>
              </a:rPr>
              <a:t>differenti</a:t>
            </a:r>
            <a:endParaRPr lang="en-US" sz="1400" dirty="0"/>
          </a:p>
        </p:txBody>
      </p:sp>
      <p:sp>
        <p:nvSpPr>
          <p:cNvPr id="15" name="affermazione 4"/>
          <p:cNvSpPr/>
          <p:nvPr/>
        </p:nvSpPr>
        <p:spPr>
          <a:xfrm>
            <a:off x="4617720" y="2057400"/>
            <a:ext cx="4069080" cy="822960"/>
          </a:xfrm>
          <a:prstGeom prst="roundRect">
            <a:avLst>
              <a:gd name="adj" fmla="val 8889"/>
            </a:avLst>
          </a:prstGeom>
          <a:solidFill>
            <a:schemeClr val="bg2"/>
          </a:solidFill>
          <a:ln/>
        </p:spPr>
        <p:txBody>
          <a:bodyPr/>
          <a:lstStyle/>
          <a:p>
            <a:endParaRPr lang="it-IT"/>
          </a:p>
        </p:txBody>
      </p:sp>
      <p:sp>
        <p:nvSpPr>
          <p:cNvPr id="16" name="Text 13"/>
          <p:cNvSpPr txBox="1"/>
          <p:nvPr/>
        </p:nvSpPr>
        <p:spPr>
          <a:xfrm>
            <a:off x="4754880" y="2057400"/>
            <a:ext cx="365760" cy="822960"/>
          </a:xfrm>
          <a:prstGeom prst="rect">
            <a:avLst/>
          </a:prstGeom>
          <a:noFill/>
          <a:ln/>
        </p:spPr>
        <p:txBody>
          <a:bodyPr wrap="square" lIns="0" tIns="0" rIns="0" bIns="0" rtlCol="0" anchor="ctr"/>
          <a:lstStyle/>
          <a:p>
            <a:pPr marL="0" indent="0">
              <a:buNone/>
            </a:pPr>
            <a:r>
              <a:rPr lang="en-US" sz="2200" b="1" dirty="0">
                <a:solidFill>
                  <a:schemeClr val="accent1"/>
                </a:solidFill>
              </a:rPr>
              <a:t>4</a:t>
            </a:r>
            <a:endParaRPr lang="en-US" sz="2200" dirty="0"/>
          </a:p>
        </p:txBody>
      </p:sp>
      <p:sp>
        <p:nvSpPr>
          <p:cNvPr id="17" name="Text 14"/>
          <p:cNvSpPr txBox="1"/>
          <p:nvPr/>
        </p:nvSpPr>
        <p:spPr>
          <a:xfrm>
            <a:off x="5166360" y="2057400"/>
            <a:ext cx="3383280" cy="822960"/>
          </a:xfrm>
          <a:prstGeom prst="rect">
            <a:avLst/>
          </a:prstGeom>
          <a:noFill/>
          <a:ln/>
        </p:spPr>
        <p:txBody>
          <a:bodyPr wrap="square" lIns="0" tIns="0" rIns="0" bIns="0" rtlCol="0" anchor="ctr"/>
          <a:lstStyle/>
          <a:p>
            <a:pPr marL="0" indent="0">
              <a:buNone/>
            </a:pPr>
            <a:r>
              <a:rPr lang="en-US" sz="1400" dirty="0">
                <a:solidFill>
                  <a:schemeClr val="tx1"/>
                </a:solidFill>
              </a:rPr>
              <a:t>Per </a:t>
            </a:r>
            <a:r>
              <a:rPr lang="en-US" sz="1400" dirty="0" err="1">
                <a:solidFill>
                  <a:schemeClr val="tx1"/>
                </a:solidFill>
              </a:rPr>
              <a:t>utilizzare</a:t>
            </a:r>
            <a:r>
              <a:rPr lang="en-US" sz="1400" dirty="0">
                <a:solidFill>
                  <a:schemeClr val="tx1"/>
                </a:solidFill>
              </a:rPr>
              <a:t> </a:t>
            </a:r>
            <a:r>
              <a:rPr lang="en-US" sz="1400" dirty="0" err="1">
                <a:solidFill>
                  <a:schemeClr val="tx1"/>
                </a:solidFill>
              </a:rPr>
              <a:t>l’Ai</a:t>
            </a:r>
            <a:r>
              <a:rPr lang="en-US" sz="1400" dirty="0">
                <a:solidFill>
                  <a:schemeClr val="tx1"/>
                </a:solidFill>
              </a:rPr>
              <a:t> </a:t>
            </a:r>
            <a:r>
              <a:rPr lang="en-US" sz="1400" dirty="0" err="1">
                <a:solidFill>
                  <a:schemeClr val="tx1"/>
                </a:solidFill>
              </a:rPr>
              <a:t>bisogna</a:t>
            </a:r>
            <a:r>
              <a:rPr lang="en-US" sz="1400" dirty="0">
                <a:solidFill>
                  <a:schemeClr val="tx1"/>
                </a:solidFill>
              </a:rPr>
              <a:t> </a:t>
            </a:r>
            <a:r>
              <a:rPr lang="en-US" sz="1400" dirty="0" err="1">
                <a:solidFill>
                  <a:schemeClr val="tx1"/>
                </a:solidFill>
              </a:rPr>
              <a:t>saper</a:t>
            </a:r>
            <a:r>
              <a:rPr lang="en-US" sz="1400" dirty="0">
                <a:solidFill>
                  <a:schemeClr val="tx1"/>
                </a:solidFill>
              </a:rPr>
              <a:t> </a:t>
            </a:r>
            <a:r>
              <a:rPr lang="en-US" sz="1400" dirty="0" err="1">
                <a:solidFill>
                  <a:schemeClr val="tx1"/>
                </a:solidFill>
              </a:rPr>
              <a:t>programmare</a:t>
            </a:r>
            <a:endParaRPr lang="en-US" sz="1400" dirty="0"/>
          </a:p>
        </p:txBody>
      </p:sp>
      <p:sp>
        <p:nvSpPr>
          <p:cNvPr id="19" name="Text 16"/>
          <p:cNvSpPr txBox="1"/>
          <p:nvPr/>
        </p:nvSpPr>
        <p:spPr>
          <a:xfrm>
            <a:off x="594360" y="3017520"/>
            <a:ext cx="365760" cy="822960"/>
          </a:xfrm>
          <a:prstGeom prst="rect">
            <a:avLst/>
          </a:prstGeom>
          <a:noFill/>
          <a:ln/>
        </p:spPr>
        <p:txBody>
          <a:bodyPr wrap="square" lIns="0" tIns="0" rIns="0" bIns="0" rtlCol="0" anchor="ctr"/>
          <a:lstStyle/>
          <a:p>
            <a:pPr marL="0" indent="0">
              <a:buNone/>
            </a:pPr>
            <a:endParaRPr lang="en-US" sz="2200" dirty="0"/>
          </a:p>
        </p:txBody>
      </p:sp>
      <p:sp>
        <p:nvSpPr>
          <p:cNvPr id="24" name="messaggio"/>
          <p:cNvSpPr/>
          <p:nvPr/>
        </p:nvSpPr>
        <p:spPr>
          <a:xfrm>
            <a:off x="457200" y="3345180"/>
            <a:ext cx="8229600" cy="548640"/>
          </a:xfrm>
          <a:prstGeom prst="roundRect">
            <a:avLst>
              <a:gd name="adj" fmla="val 13333"/>
            </a:avLst>
          </a:prstGeom>
          <a:solidFill>
            <a:schemeClr val="accent1"/>
          </a:solidFill>
          <a:ln/>
        </p:spPr>
        <p:txBody>
          <a:bodyPr/>
          <a:lstStyle/>
          <a:p>
            <a:endParaRPr lang="it-IT"/>
          </a:p>
        </p:txBody>
      </p:sp>
      <p:sp>
        <p:nvSpPr>
          <p:cNvPr id="25" name="Text 22"/>
          <p:cNvSpPr txBox="1"/>
          <p:nvPr/>
        </p:nvSpPr>
        <p:spPr>
          <a:xfrm>
            <a:off x="640080" y="3345180"/>
            <a:ext cx="7863840" cy="548640"/>
          </a:xfrm>
          <a:prstGeom prst="rect">
            <a:avLst/>
          </a:prstGeom>
          <a:noFill/>
          <a:ln/>
        </p:spPr>
        <p:txBody>
          <a:bodyPr wrap="square" lIns="0" tIns="0" rIns="0" bIns="0" rtlCol="0" anchor="ctr"/>
          <a:lstStyle/>
          <a:p>
            <a:pPr marL="0" indent="0">
              <a:buNone/>
            </a:pPr>
            <a:r>
              <a:rPr lang="en-US" sz="1400" dirty="0">
                <a:solidFill>
                  <a:schemeClr val="bg1"/>
                </a:solidFill>
              </a:rPr>
              <a:t>Per ogni affermazione: vera o falsa? Un </a:t>
            </a:r>
            <a:r>
              <a:rPr lang="en-US" sz="1400" dirty="0" err="1">
                <a:solidFill>
                  <a:schemeClr val="bg1"/>
                </a:solidFill>
              </a:rPr>
              <a:t>minuto</a:t>
            </a:r>
            <a:r>
              <a:rPr lang="en-US" sz="1400" dirty="0">
                <a:solidFill>
                  <a:schemeClr val="bg1"/>
                </a:solidFill>
              </a:rPr>
              <a:t>.</a:t>
            </a:r>
            <a:endParaRPr lang="en-US"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err="1">
                <a:solidFill>
                  <a:schemeClr val="tx1"/>
                </a:solidFill>
              </a:rPr>
              <a:t>Affermazioni</a:t>
            </a:r>
            <a:r>
              <a:rPr lang="en-US" sz="2600" b="1" dirty="0">
                <a:solidFill>
                  <a:schemeClr val="tx1"/>
                </a:solidFill>
              </a:rPr>
              <a:t> </a:t>
            </a:r>
            <a:r>
              <a:rPr lang="en-US" sz="2600" b="1" dirty="0" err="1">
                <a:solidFill>
                  <a:schemeClr val="tx1"/>
                </a:solidFill>
              </a:rPr>
              <a:t>sull'AI</a:t>
            </a:r>
            <a:r>
              <a:rPr lang="en-US" sz="2600" b="1" dirty="0">
                <a:solidFill>
                  <a:schemeClr val="tx1"/>
                </a:solidFill>
              </a:rPr>
              <a:t>: le risposte</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040967070"/>
              </p:ext>
            </p:extLst>
          </p:nvPr>
        </p:nvGraphicFramePr>
        <p:xfrm>
          <a:off x="457200" y="1024128"/>
          <a:ext cx="8229600" cy="2377440"/>
        </p:xfrm>
        <a:graphic>
          <a:graphicData uri="http://schemas.openxmlformats.org/drawingml/2006/table">
            <a:tbl>
              <a:tblPr/>
              <a:tblGrid>
                <a:gridCol w="32004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3749040">
                  <a:extLst>
                    <a:ext uri="{9D8B030D-6E8A-4147-A177-3AD203B41FA5}">
                      <a16:colId xmlns:a16="http://schemas.microsoft.com/office/drawing/2014/main" val="20003"/>
                    </a:ext>
                  </a:extLst>
                </a:gridCol>
              </a:tblGrid>
              <a:tr h="475488">
                <a:tc>
                  <a:txBody>
                    <a:bodyPr/>
                    <a:lstStyle/>
                    <a:p>
                      <a:pPr marL="0" indent="0">
                        <a:buNone/>
                      </a:pPr>
                      <a:r>
                        <a:rPr lang="en-US" sz="1150" b="1" dirty="0">
                          <a:solidFill>
                            <a:schemeClr val="tx1"/>
                          </a:solidFill>
                        </a:rPr>
                        <a:t>#</a:t>
                      </a:r>
                      <a:endParaRPr lang="en-US" sz="115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150" b="1" dirty="0">
                          <a:solidFill>
                            <a:schemeClr val="bg1"/>
                          </a:solidFill>
                        </a:rPr>
                        <a:t>Affermazione</a:t>
                      </a:r>
                      <a:endParaRPr lang="en-US" sz="115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150" b="1" dirty="0">
                          <a:solidFill>
                            <a:schemeClr val="bg1"/>
                          </a:solidFill>
                        </a:rPr>
                        <a:t>V/F</a:t>
                      </a:r>
                      <a:endParaRPr lang="en-US" sz="115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150" b="1" dirty="0">
                          <a:solidFill>
                            <a:schemeClr val="bg1"/>
                          </a:solidFill>
                        </a:rPr>
                        <a:t>Perché</a:t>
                      </a:r>
                      <a:endParaRPr lang="en-US" sz="115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75488">
                <a:tc>
                  <a:txBody>
                    <a:bodyPr/>
                    <a:lstStyle/>
                    <a:p>
                      <a:pPr marL="0" indent="0">
                        <a:buNone/>
                      </a:pPr>
                      <a:r>
                        <a:rPr lang="en-US" sz="1150" b="1" dirty="0">
                          <a:solidFill>
                            <a:schemeClr val="tx1"/>
                          </a:solidFill>
                        </a:rPr>
                        <a:t>1</a:t>
                      </a:r>
                      <a:endParaRPr lang="en-US" sz="115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150" dirty="0">
                          <a:solidFill>
                            <a:schemeClr val="tx1"/>
                          </a:solidFill>
                        </a:rPr>
                        <a:t>L’AI </a:t>
                      </a:r>
                      <a:r>
                        <a:rPr lang="en-US" sz="1150" dirty="0" err="1">
                          <a:solidFill>
                            <a:schemeClr val="tx1"/>
                          </a:solidFill>
                        </a:rPr>
                        <a:t>può</a:t>
                      </a:r>
                      <a:r>
                        <a:rPr lang="en-US" sz="1150" dirty="0">
                          <a:solidFill>
                            <a:schemeClr val="tx1"/>
                          </a:solidFill>
                        </a:rPr>
                        <a:t> </a:t>
                      </a:r>
                      <a:r>
                        <a:rPr lang="en-US" sz="1150" dirty="0" err="1">
                          <a:solidFill>
                            <a:schemeClr val="tx1"/>
                          </a:solidFill>
                        </a:rPr>
                        <a:t>aiutare</a:t>
                      </a:r>
                      <a:r>
                        <a:rPr lang="en-US" sz="1150" dirty="0">
                          <a:solidFill>
                            <a:schemeClr val="tx1"/>
                          </a:solidFill>
                        </a:rPr>
                        <a:t> </a:t>
                      </a:r>
                      <a:r>
                        <a:rPr lang="en-US" sz="1150" dirty="0" err="1">
                          <a:solidFill>
                            <a:schemeClr val="tx1"/>
                          </a:solidFill>
                        </a:rPr>
                        <a:t>anche</a:t>
                      </a:r>
                      <a:r>
                        <a:rPr lang="en-US" sz="1150" dirty="0">
                          <a:solidFill>
                            <a:schemeClr val="tx1"/>
                          </a:solidFill>
                        </a:rPr>
                        <a:t> in </a:t>
                      </a:r>
                      <a:r>
                        <a:rPr lang="en-US" sz="1150" dirty="0" err="1">
                          <a:solidFill>
                            <a:schemeClr val="tx1"/>
                          </a:solidFill>
                        </a:rPr>
                        <a:t>produzione</a:t>
                      </a:r>
                      <a:r>
                        <a:rPr lang="en-US" sz="1150" dirty="0">
                          <a:solidFill>
                            <a:schemeClr val="tx1"/>
                          </a:solidFill>
                        </a:rPr>
                        <a:t> e </a:t>
                      </a:r>
                      <a:r>
                        <a:rPr lang="en-US" sz="1150" dirty="0" err="1">
                          <a:solidFill>
                            <a:schemeClr val="tx1"/>
                          </a:solidFill>
                        </a:rPr>
                        <a:t>assistenza</a:t>
                      </a:r>
                      <a:r>
                        <a:rPr lang="en-US" sz="1150" dirty="0">
                          <a:solidFill>
                            <a:schemeClr val="tx1"/>
                          </a:solidFill>
                        </a:rPr>
                        <a:t> </a:t>
                      </a:r>
                      <a:r>
                        <a:rPr lang="en-US" sz="1150" dirty="0" err="1">
                          <a:solidFill>
                            <a:schemeClr val="tx1"/>
                          </a:solidFill>
                        </a:rPr>
                        <a:t>tecnica</a:t>
                      </a:r>
                      <a:endParaRPr lang="en-US" sz="115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150" dirty="0">
                          <a:solidFill>
                            <a:schemeClr val="tx1"/>
                          </a:solidFill>
                        </a:rPr>
                        <a:t>Vero</a:t>
                      </a:r>
                      <a:endParaRPr lang="en-US" sz="115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150" dirty="0">
                          <a:solidFill>
                            <a:schemeClr val="tx1"/>
                          </a:solidFill>
                        </a:rPr>
                        <a:t>Con </a:t>
                      </a:r>
                      <a:r>
                        <a:rPr lang="en-US" sz="1150" dirty="0" err="1">
                          <a:solidFill>
                            <a:schemeClr val="tx1"/>
                          </a:solidFill>
                        </a:rPr>
                        <a:t>dei</a:t>
                      </a:r>
                      <a:r>
                        <a:rPr lang="en-US" sz="1150" dirty="0">
                          <a:solidFill>
                            <a:schemeClr val="tx1"/>
                          </a:solidFill>
                        </a:rPr>
                        <a:t> </a:t>
                      </a:r>
                      <a:r>
                        <a:rPr lang="en-US" sz="1150" dirty="0" err="1">
                          <a:solidFill>
                            <a:schemeClr val="tx1"/>
                          </a:solidFill>
                        </a:rPr>
                        <a:t>limiti</a:t>
                      </a:r>
                      <a:endParaRPr lang="en-US" sz="115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75488">
                <a:tc>
                  <a:txBody>
                    <a:bodyPr/>
                    <a:lstStyle/>
                    <a:p>
                      <a:pPr marL="0" indent="0">
                        <a:buNone/>
                      </a:pPr>
                      <a:r>
                        <a:rPr lang="en-US" sz="1150" b="1" dirty="0">
                          <a:solidFill>
                            <a:schemeClr val="tx1"/>
                          </a:solidFill>
                        </a:rPr>
                        <a:t>2</a:t>
                      </a:r>
                      <a:endParaRPr lang="en-US" sz="115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150" dirty="0">
                          <a:solidFill>
                            <a:schemeClr val="tx1"/>
                          </a:solidFill>
                        </a:rPr>
                        <a:t>Se risponde con sicurezza, </a:t>
                      </a:r>
                      <a:r>
                        <a:rPr lang="en-US" sz="1150" dirty="0" err="1">
                          <a:solidFill>
                            <a:schemeClr val="tx1"/>
                          </a:solidFill>
                        </a:rPr>
                        <a:t>è</a:t>
                      </a:r>
                      <a:r>
                        <a:rPr lang="en-US" sz="1150" dirty="0">
                          <a:solidFill>
                            <a:schemeClr val="tx1"/>
                          </a:solidFill>
                        </a:rPr>
                        <a:t> </a:t>
                      </a:r>
                      <a:r>
                        <a:rPr lang="en-US" sz="1150" dirty="0" err="1">
                          <a:solidFill>
                            <a:schemeClr val="tx1"/>
                          </a:solidFill>
                        </a:rPr>
                        <a:t>sicuramente</a:t>
                      </a:r>
                      <a:r>
                        <a:rPr lang="en-US" sz="1150" dirty="0">
                          <a:solidFill>
                            <a:schemeClr val="tx1"/>
                          </a:solidFill>
                        </a:rPr>
                        <a:t> </a:t>
                      </a:r>
                      <a:r>
                        <a:rPr lang="en-US" sz="1150" dirty="0" err="1">
                          <a:solidFill>
                            <a:schemeClr val="tx1"/>
                          </a:solidFill>
                        </a:rPr>
                        <a:t>corretta</a:t>
                      </a:r>
                      <a:endParaRPr lang="en-US" sz="115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150" dirty="0">
                          <a:solidFill>
                            <a:schemeClr val="tx1"/>
                          </a:solidFill>
                        </a:rPr>
                        <a:t>Falso</a:t>
                      </a:r>
                      <a:endParaRPr lang="en-US" sz="115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150" dirty="0">
                          <a:solidFill>
                            <a:schemeClr val="tx1"/>
                          </a:solidFill>
                        </a:rPr>
                        <a:t>Tono sicuro e scrittura fluida non dimostrano la correttezza</a:t>
                      </a:r>
                      <a:endParaRPr lang="en-US" sz="115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75488">
                <a:tc>
                  <a:txBody>
                    <a:bodyPr/>
                    <a:lstStyle/>
                    <a:p>
                      <a:pPr marL="0" indent="0">
                        <a:buNone/>
                      </a:pPr>
                      <a:r>
                        <a:rPr lang="en-US" sz="1150" b="1" dirty="0">
                          <a:solidFill>
                            <a:schemeClr val="tx1"/>
                          </a:solidFill>
                        </a:rPr>
                        <a:t>3</a:t>
                      </a:r>
                      <a:endParaRPr lang="en-US" sz="115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150" dirty="0">
                          <a:solidFill>
                            <a:schemeClr val="tx1"/>
                          </a:solidFill>
                        </a:rPr>
                        <a:t>La stessa domanda </a:t>
                      </a:r>
                      <a:r>
                        <a:rPr lang="en-US" sz="1150" dirty="0" err="1">
                          <a:solidFill>
                            <a:schemeClr val="tx1"/>
                          </a:solidFill>
                        </a:rPr>
                        <a:t>può</a:t>
                      </a:r>
                      <a:r>
                        <a:rPr lang="en-US" sz="1150" dirty="0">
                          <a:solidFill>
                            <a:schemeClr val="tx1"/>
                          </a:solidFill>
                        </a:rPr>
                        <a:t> </a:t>
                      </a:r>
                      <a:r>
                        <a:rPr lang="en-US" sz="1150" dirty="0" err="1">
                          <a:solidFill>
                            <a:schemeClr val="tx1"/>
                          </a:solidFill>
                        </a:rPr>
                        <a:t>produrre</a:t>
                      </a:r>
                      <a:r>
                        <a:rPr lang="en-US" sz="1150" dirty="0">
                          <a:solidFill>
                            <a:schemeClr val="tx1"/>
                          </a:solidFill>
                        </a:rPr>
                        <a:t> </a:t>
                      </a:r>
                      <a:r>
                        <a:rPr lang="en-US" sz="1150" dirty="0" err="1">
                          <a:solidFill>
                            <a:schemeClr val="tx1"/>
                          </a:solidFill>
                        </a:rPr>
                        <a:t>risultati</a:t>
                      </a:r>
                      <a:r>
                        <a:rPr lang="en-US" sz="1150" dirty="0">
                          <a:solidFill>
                            <a:schemeClr val="tx1"/>
                          </a:solidFill>
                        </a:rPr>
                        <a:t> </a:t>
                      </a:r>
                      <a:r>
                        <a:rPr lang="en-US" sz="1150" dirty="0" err="1">
                          <a:solidFill>
                            <a:schemeClr val="tx1"/>
                          </a:solidFill>
                        </a:rPr>
                        <a:t>differenti</a:t>
                      </a:r>
                      <a:endParaRPr lang="en-US" sz="115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150" dirty="0">
                          <a:solidFill>
                            <a:schemeClr val="tx1"/>
                          </a:solidFill>
                        </a:rPr>
                        <a:t>Vero</a:t>
                      </a:r>
                      <a:endParaRPr lang="en-US" sz="115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150" dirty="0">
                          <a:solidFill>
                            <a:schemeClr val="tx1"/>
                          </a:solidFill>
                        </a:rPr>
                        <a:t>Sistemi probabilistici: la variabilità è normale</a:t>
                      </a:r>
                      <a:endParaRPr lang="en-US" sz="115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75488">
                <a:tc>
                  <a:txBody>
                    <a:bodyPr/>
                    <a:lstStyle/>
                    <a:p>
                      <a:pPr marL="0" indent="0">
                        <a:buNone/>
                      </a:pPr>
                      <a:r>
                        <a:rPr lang="en-US" sz="1150" b="1" dirty="0">
                          <a:solidFill>
                            <a:schemeClr val="tx1"/>
                          </a:solidFill>
                        </a:rPr>
                        <a:t>4</a:t>
                      </a:r>
                      <a:endParaRPr lang="en-US" sz="115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150" dirty="0">
                          <a:solidFill>
                            <a:schemeClr val="tx1"/>
                          </a:solidFill>
                        </a:rPr>
                        <a:t>Per </a:t>
                      </a:r>
                      <a:r>
                        <a:rPr lang="en-US" sz="1150" dirty="0" err="1">
                          <a:solidFill>
                            <a:schemeClr val="tx1"/>
                          </a:solidFill>
                        </a:rPr>
                        <a:t>utilizzare</a:t>
                      </a:r>
                      <a:r>
                        <a:rPr lang="en-US" sz="1150" dirty="0">
                          <a:solidFill>
                            <a:schemeClr val="tx1"/>
                          </a:solidFill>
                        </a:rPr>
                        <a:t> </a:t>
                      </a:r>
                      <a:r>
                        <a:rPr lang="en-US" sz="1150" dirty="0" err="1">
                          <a:solidFill>
                            <a:schemeClr val="tx1"/>
                          </a:solidFill>
                        </a:rPr>
                        <a:t>l’Ai</a:t>
                      </a:r>
                      <a:r>
                        <a:rPr lang="en-US" sz="1150" dirty="0">
                          <a:solidFill>
                            <a:schemeClr val="tx1"/>
                          </a:solidFill>
                        </a:rPr>
                        <a:t> </a:t>
                      </a:r>
                      <a:r>
                        <a:rPr lang="en-US" sz="1150" dirty="0" err="1">
                          <a:solidFill>
                            <a:schemeClr val="tx1"/>
                          </a:solidFill>
                        </a:rPr>
                        <a:t>bisogna</a:t>
                      </a:r>
                      <a:r>
                        <a:rPr lang="en-US" sz="1150" dirty="0">
                          <a:solidFill>
                            <a:schemeClr val="tx1"/>
                          </a:solidFill>
                        </a:rPr>
                        <a:t> </a:t>
                      </a:r>
                      <a:r>
                        <a:rPr lang="en-US" sz="1150" dirty="0" err="1">
                          <a:solidFill>
                            <a:schemeClr val="tx1"/>
                          </a:solidFill>
                        </a:rPr>
                        <a:t>saper</a:t>
                      </a:r>
                      <a:r>
                        <a:rPr lang="en-US" sz="1150" dirty="0">
                          <a:solidFill>
                            <a:schemeClr val="tx1"/>
                          </a:solidFill>
                        </a:rPr>
                        <a:t> </a:t>
                      </a:r>
                      <a:r>
                        <a:rPr lang="en-US" sz="1150" dirty="0" err="1">
                          <a:solidFill>
                            <a:schemeClr val="tx1"/>
                          </a:solidFill>
                        </a:rPr>
                        <a:t>programmare</a:t>
                      </a:r>
                      <a:endParaRPr lang="en-US" sz="115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150" dirty="0">
                          <a:solidFill>
                            <a:schemeClr val="tx1"/>
                          </a:solidFill>
                        </a:rPr>
                        <a:t>Falso</a:t>
                      </a:r>
                      <a:endParaRPr lang="en-US" sz="115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en-US" sz="1150" dirty="0">
                          <a:solidFill>
                            <a:schemeClr val="tx1"/>
                          </a:solidFill>
                        </a:rPr>
                        <a:t>I </a:t>
                      </a:r>
                      <a:r>
                        <a:rPr lang="en-US" sz="1150" dirty="0" err="1">
                          <a:solidFill>
                            <a:schemeClr val="tx1"/>
                          </a:solidFill>
                        </a:rPr>
                        <a:t>modelli</a:t>
                      </a:r>
                      <a:r>
                        <a:rPr lang="en-US" sz="1150" dirty="0">
                          <a:solidFill>
                            <a:schemeClr val="tx1"/>
                          </a:solidFill>
                        </a:rPr>
                        <a:t> </a:t>
                      </a:r>
                      <a:r>
                        <a:rPr lang="en-US" sz="1150" dirty="0" err="1">
                          <a:solidFill>
                            <a:schemeClr val="tx1"/>
                          </a:solidFill>
                        </a:rPr>
                        <a:t>moderni</a:t>
                      </a:r>
                      <a:r>
                        <a:rPr lang="en-US" sz="1150" dirty="0">
                          <a:solidFill>
                            <a:schemeClr val="tx1"/>
                          </a:solidFill>
                        </a:rPr>
                        <a:t> </a:t>
                      </a:r>
                      <a:r>
                        <a:rPr lang="en-US" sz="1150" dirty="0" err="1">
                          <a:solidFill>
                            <a:schemeClr val="tx1"/>
                          </a:solidFill>
                        </a:rPr>
                        <a:t>hanno</a:t>
                      </a:r>
                      <a:r>
                        <a:rPr lang="en-US" sz="1150" dirty="0">
                          <a:solidFill>
                            <a:schemeClr val="tx1"/>
                          </a:solidFill>
                        </a:rPr>
                        <a:t> </a:t>
                      </a:r>
                      <a:r>
                        <a:rPr lang="en-US" sz="1150" dirty="0" err="1">
                          <a:solidFill>
                            <a:schemeClr val="tx1"/>
                          </a:solidFill>
                        </a:rPr>
                        <a:t>reso</a:t>
                      </a:r>
                      <a:r>
                        <a:rPr lang="en-US" sz="1150" dirty="0">
                          <a:solidFill>
                            <a:schemeClr val="tx1"/>
                          </a:solidFill>
                        </a:rPr>
                        <a:t> </a:t>
                      </a:r>
                      <a:r>
                        <a:rPr lang="en-US" sz="1150" dirty="0" err="1">
                          <a:solidFill>
                            <a:schemeClr val="tx1"/>
                          </a:solidFill>
                        </a:rPr>
                        <a:t>l’Ai</a:t>
                      </a:r>
                      <a:r>
                        <a:rPr lang="en-US" sz="1150" dirty="0">
                          <a:solidFill>
                            <a:schemeClr val="tx1"/>
                          </a:solidFill>
                        </a:rPr>
                        <a:t> </a:t>
                      </a:r>
                      <a:r>
                        <a:rPr lang="en-US" sz="1150" dirty="0" err="1">
                          <a:solidFill>
                            <a:schemeClr val="tx1"/>
                          </a:solidFill>
                        </a:rPr>
                        <a:t>fruibile</a:t>
                      </a:r>
                      <a:r>
                        <a:rPr lang="en-US" sz="1150" dirty="0">
                          <a:solidFill>
                            <a:schemeClr val="tx1"/>
                          </a:solidFill>
                        </a:rPr>
                        <a:t> da un </a:t>
                      </a:r>
                      <a:r>
                        <a:rPr lang="en-US" sz="1150" dirty="0" err="1">
                          <a:solidFill>
                            <a:schemeClr val="tx1"/>
                          </a:solidFill>
                        </a:rPr>
                        <a:t>ampio</a:t>
                      </a:r>
                      <a:r>
                        <a:rPr lang="en-US" sz="1150" dirty="0">
                          <a:solidFill>
                            <a:schemeClr val="tx1"/>
                          </a:solidFill>
                        </a:rPr>
                        <a:t> </a:t>
                      </a:r>
                      <a:r>
                        <a:rPr lang="en-US" sz="1150" dirty="0" err="1">
                          <a:solidFill>
                            <a:schemeClr val="tx1"/>
                          </a:solidFill>
                        </a:rPr>
                        <a:t>pubblico</a:t>
                      </a:r>
                      <a:endParaRPr lang="en-US" sz="115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Il nostro </a:t>
            </a:r>
            <a:r>
              <a:rPr lang="en-US" sz="2600" b="1" dirty="0" err="1">
                <a:solidFill>
                  <a:schemeClr val="tx1"/>
                </a:solidFill>
              </a:rPr>
              <a:t>spazio</a:t>
            </a:r>
            <a:r>
              <a:rPr lang="en-US" sz="2600" b="1" dirty="0">
                <a:solidFill>
                  <a:schemeClr val="tx1"/>
                </a:solidFill>
              </a:rPr>
              <a:t> di Lavoro: </a:t>
            </a:r>
            <a:r>
              <a:rPr lang="en-US" sz="2600" b="1" dirty="0" err="1">
                <a:solidFill>
                  <a:schemeClr val="tx1"/>
                </a:solidFill>
              </a:rPr>
              <a:t>problemi</a:t>
            </a:r>
            <a:r>
              <a:rPr lang="en-US" sz="2600" b="1" dirty="0">
                <a:solidFill>
                  <a:schemeClr val="tx1"/>
                </a:solidFill>
              </a:rPr>
              <a:t> e </a:t>
            </a:r>
            <a:r>
              <a:rPr lang="en-US" sz="2600" b="1" dirty="0" err="1">
                <a:solidFill>
                  <a:schemeClr val="tx1"/>
                </a:solidFill>
              </a:rPr>
              <a:t>opportunità</a:t>
            </a:r>
            <a:endParaRPr lang="en-US" sz="2600" dirty="0"/>
          </a:p>
        </p:txBody>
      </p:sp>
      <p:sp>
        <p:nvSpPr>
          <p:cNvPr id="6" name="blocco Tecnico"/>
          <p:cNvSpPr/>
          <p:nvPr/>
        </p:nvSpPr>
        <p:spPr>
          <a:xfrm>
            <a:off x="457200" y="1097280"/>
            <a:ext cx="1097280" cy="384048"/>
          </a:xfrm>
          <a:prstGeom prst="roundRect">
            <a:avLst>
              <a:gd name="adj" fmla="val 28571"/>
            </a:avLst>
          </a:prstGeom>
          <a:solidFill>
            <a:schemeClr val="tx2"/>
          </a:solidFill>
          <a:ln/>
        </p:spPr>
        <p:txBody>
          <a:bodyPr/>
          <a:lstStyle/>
          <a:p>
            <a:endParaRPr lang="it-IT"/>
          </a:p>
        </p:txBody>
      </p:sp>
      <p:sp>
        <p:nvSpPr>
          <p:cNvPr id="7" name="Text 4"/>
          <p:cNvSpPr txBox="1"/>
          <p:nvPr/>
        </p:nvSpPr>
        <p:spPr>
          <a:xfrm>
            <a:off x="502920" y="1097280"/>
            <a:ext cx="1005840" cy="384048"/>
          </a:xfrm>
          <a:prstGeom prst="rect">
            <a:avLst/>
          </a:prstGeom>
          <a:noFill/>
          <a:ln/>
        </p:spPr>
        <p:txBody>
          <a:bodyPr wrap="square" lIns="0" tIns="0" rIns="0" bIns="0" rtlCol="0" anchor="ctr"/>
          <a:lstStyle/>
          <a:p>
            <a:pPr marL="0" indent="0" algn="ctr">
              <a:buNone/>
            </a:pPr>
            <a:r>
              <a:rPr lang="en-US" sz="1100" b="1" dirty="0">
                <a:solidFill>
                  <a:schemeClr val="bg1"/>
                </a:solidFill>
              </a:rPr>
              <a:t>Tecnico</a:t>
            </a:r>
            <a:endParaRPr lang="en-US" sz="1100" dirty="0"/>
          </a:p>
        </p:txBody>
      </p:sp>
      <p:sp>
        <p:nvSpPr>
          <p:cNvPr id="8" name="colonna Tecnico"/>
          <p:cNvSpPr/>
          <p:nvPr/>
        </p:nvSpPr>
        <p:spPr>
          <a:xfrm>
            <a:off x="457200" y="1554480"/>
            <a:ext cx="1097280" cy="1554480"/>
          </a:xfrm>
          <a:prstGeom prst="roundRect">
            <a:avLst>
              <a:gd name="adj" fmla="val 6667"/>
            </a:avLst>
          </a:prstGeom>
          <a:solidFill>
            <a:schemeClr val="bg2"/>
          </a:solidFill>
          <a:ln/>
        </p:spPr>
        <p:txBody>
          <a:bodyPr/>
          <a:lstStyle/>
          <a:p>
            <a:endParaRPr lang="it-IT"/>
          </a:p>
        </p:txBody>
      </p:sp>
      <p:sp>
        <p:nvSpPr>
          <p:cNvPr id="9" name="blocco Produzione"/>
          <p:cNvSpPr/>
          <p:nvPr/>
        </p:nvSpPr>
        <p:spPr>
          <a:xfrm>
            <a:off x="1636776" y="1097280"/>
            <a:ext cx="1097280" cy="384048"/>
          </a:xfrm>
          <a:prstGeom prst="roundRect">
            <a:avLst>
              <a:gd name="adj" fmla="val 28571"/>
            </a:avLst>
          </a:prstGeom>
          <a:solidFill>
            <a:schemeClr val="tx2"/>
          </a:solidFill>
          <a:ln/>
        </p:spPr>
        <p:txBody>
          <a:bodyPr/>
          <a:lstStyle/>
          <a:p>
            <a:endParaRPr lang="it-IT"/>
          </a:p>
        </p:txBody>
      </p:sp>
      <p:sp>
        <p:nvSpPr>
          <p:cNvPr id="10" name="Text 7"/>
          <p:cNvSpPr txBox="1"/>
          <p:nvPr/>
        </p:nvSpPr>
        <p:spPr>
          <a:xfrm>
            <a:off x="1682496" y="1097280"/>
            <a:ext cx="1005840" cy="384048"/>
          </a:xfrm>
          <a:prstGeom prst="rect">
            <a:avLst/>
          </a:prstGeom>
          <a:noFill/>
          <a:ln/>
        </p:spPr>
        <p:txBody>
          <a:bodyPr wrap="square" lIns="0" tIns="0" rIns="0" bIns="0" rtlCol="0" anchor="ctr"/>
          <a:lstStyle/>
          <a:p>
            <a:pPr marL="0" indent="0" algn="ctr">
              <a:buNone/>
            </a:pPr>
            <a:r>
              <a:rPr lang="en-US" sz="1100" b="1" dirty="0">
                <a:solidFill>
                  <a:schemeClr val="bg1"/>
                </a:solidFill>
              </a:rPr>
              <a:t>Produzione</a:t>
            </a:r>
            <a:endParaRPr lang="en-US" sz="1100" dirty="0"/>
          </a:p>
        </p:txBody>
      </p:sp>
      <p:sp>
        <p:nvSpPr>
          <p:cNvPr id="11" name="colonna Produzione"/>
          <p:cNvSpPr/>
          <p:nvPr/>
        </p:nvSpPr>
        <p:spPr>
          <a:xfrm>
            <a:off x="1636776" y="1554480"/>
            <a:ext cx="1097280" cy="1554480"/>
          </a:xfrm>
          <a:prstGeom prst="roundRect">
            <a:avLst>
              <a:gd name="adj" fmla="val 6667"/>
            </a:avLst>
          </a:prstGeom>
          <a:solidFill>
            <a:schemeClr val="bg2"/>
          </a:solidFill>
          <a:ln/>
        </p:spPr>
        <p:txBody>
          <a:bodyPr/>
          <a:lstStyle/>
          <a:p>
            <a:endParaRPr lang="it-IT"/>
          </a:p>
        </p:txBody>
      </p:sp>
      <p:sp>
        <p:nvSpPr>
          <p:cNvPr id="12" name="blocco Qualità"/>
          <p:cNvSpPr/>
          <p:nvPr/>
        </p:nvSpPr>
        <p:spPr>
          <a:xfrm>
            <a:off x="2816352" y="1097280"/>
            <a:ext cx="1097280" cy="384048"/>
          </a:xfrm>
          <a:prstGeom prst="roundRect">
            <a:avLst>
              <a:gd name="adj" fmla="val 28571"/>
            </a:avLst>
          </a:prstGeom>
          <a:solidFill>
            <a:schemeClr val="tx2"/>
          </a:solidFill>
          <a:ln/>
        </p:spPr>
        <p:txBody>
          <a:bodyPr/>
          <a:lstStyle/>
          <a:p>
            <a:endParaRPr lang="it-IT"/>
          </a:p>
        </p:txBody>
      </p:sp>
      <p:sp>
        <p:nvSpPr>
          <p:cNvPr id="13" name="Text 10"/>
          <p:cNvSpPr txBox="1"/>
          <p:nvPr/>
        </p:nvSpPr>
        <p:spPr>
          <a:xfrm>
            <a:off x="2862072" y="1097280"/>
            <a:ext cx="1005840" cy="384048"/>
          </a:xfrm>
          <a:prstGeom prst="rect">
            <a:avLst/>
          </a:prstGeom>
          <a:noFill/>
          <a:ln/>
        </p:spPr>
        <p:txBody>
          <a:bodyPr wrap="square" lIns="0" tIns="0" rIns="0" bIns="0" rtlCol="0" anchor="ctr"/>
          <a:lstStyle/>
          <a:p>
            <a:pPr marL="0" indent="0" algn="ctr">
              <a:buNone/>
            </a:pPr>
            <a:r>
              <a:rPr lang="en-US" sz="1100" b="1" dirty="0">
                <a:solidFill>
                  <a:schemeClr val="bg1"/>
                </a:solidFill>
              </a:rPr>
              <a:t>Qualità</a:t>
            </a:r>
            <a:endParaRPr lang="en-US" sz="1100" dirty="0"/>
          </a:p>
        </p:txBody>
      </p:sp>
      <p:sp>
        <p:nvSpPr>
          <p:cNvPr id="14" name="colonna Qualità"/>
          <p:cNvSpPr/>
          <p:nvPr/>
        </p:nvSpPr>
        <p:spPr>
          <a:xfrm>
            <a:off x="2816352" y="1554480"/>
            <a:ext cx="1097280" cy="1554480"/>
          </a:xfrm>
          <a:prstGeom prst="roundRect">
            <a:avLst>
              <a:gd name="adj" fmla="val 6667"/>
            </a:avLst>
          </a:prstGeom>
          <a:solidFill>
            <a:schemeClr val="bg2"/>
          </a:solidFill>
          <a:ln/>
        </p:spPr>
        <p:txBody>
          <a:bodyPr/>
          <a:lstStyle/>
          <a:p>
            <a:endParaRPr lang="it-IT"/>
          </a:p>
        </p:txBody>
      </p:sp>
      <p:sp>
        <p:nvSpPr>
          <p:cNvPr id="15" name="blocco Service"/>
          <p:cNvSpPr/>
          <p:nvPr/>
        </p:nvSpPr>
        <p:spPr>
          <a:xfrm>
            <a:off x="3995928" y="1097280"/>
            <a:ext cx="1097280" cy="384048"/>
          </a:xfrm>
          <a:prstGeom prst="roundRect">
            <a:avLst>
              <a:gd name="adj" fmla="val 28571"/>
            </a:avLst>
          </a:prstGeom>
          <a:solidFill>
            <a:schemeClr val="tx2"/>
          </a:solidFill>
          <a:ln/>
        </p:spPr>
        <p:txBody>
          <a:bodyPr/>
          <a:lstStyle/>
          <a:p>
            <a:endParaRPr lang="it-IT"/>
          </a:p>
        </p:txBody>
      </p:sp>
      <p:sp>
        <p:nvSpPr>
          <p:cNvPr id="16" name="Text 13"/>
          <p:cNvSpPr txBox="1"/>
          <p:nvPr/>
        </p:nvSpPr>
        <p:spPr>
          <a:xfrm>
            <a:off x="4041648" y="1097280"/>
            <a:ext cx="1005840" cy="384048"/>
          </a:xfrm>
          <a:prstGeom prst="rect">
            <a:avLst/>
          </a:prstGeom>
          <a:noFill/>
          <a:ln/>
        </p:spPr>
        <p:txBody>
          <a:bodyPr wrap="square" lIns="0" tIns="0" rIns="0" bIns="0" rtlCol="0" anchor="ctr"/>
          <a:lstStyle/>
          <a:p>
            <a:pPr marL="0" indent="0" algn="ctr">
              <a:buNone/>
            </a:pPr>
            <a:r>
              <a:rPr lang="en-US" sz="1100" b="1" dirty="0">
                <a:solidFill>
                  <a:schemeClr val="bg1"/>
                </a:solidFill>
              </a:rPr>
              <a:t>Service</a:t>
            </a:r>
            <a:endParaRPr lang="en-US" sz="1100" dirty="0"/>
          </a:p>
        </p:txBody>
      </p:sp>
      <p:sp>
        <p:nvSpPr>
          <p:cNvPr id="17" name="colonna Service"/>
          <p:cNvSpPr/>
          <p:nvPr/>
        </p:nvSpPr>
        <p:spPr>
          <a:xfrm>
            <a:off x="3995928" y="1554480"/>
            <a:ext cx="1097280" cy="1554480"/>
          </a:xfrm>
          <a:prstGeom prst="roundRect">
            <a:avLst>
              <a:gd name="adj" fmla="val 6667"/>
            </a:avLst>
          </a:prstGeom>
          <a:solidFill>
            <a:schemeClr val="bg2"/>
          </a:solidFill>
          <a:ln/>
        </p:spPr>
        <p:txBody>
          <a:bodyPr/>
          <a:lstStyle/>
          <a:p>
            <a:endParaRPr lang="it-IT"/>
          </a:p>
        </p:txBody>
      </p:sp>
      <p:sp>
        <p:nvSpPr>
          <p:cNvPr id="18" name="blocco Commerciale"/>
          <p:cNvSpPr/>
          <p:nvPr/>
        </p:nvSpPr>
        <p:spPr>
          <a:xfrm>
            <a:off x="5175504" y="1097280"/>
            <a:ext cx="1097280" cy="384048"/>
          </a:xfrm>
          <a:prstGeom prst="roundRect">
            <a:avLst>
              <a:gd name="adj" fmla="val 28571"/>
            </a:avLst>
          </a:prstGeom>
          <a:solidFill>
            <a:schemeClr val="tx2"/>
          </a:solidFill>
          <a:ln/>
        </p:spPr>
        <p:txBody>
          <a:bodyPr/>
          <a:lstStyle/>
          <a:p>
            <a:endParaRPr lang="it-IT"/>
          </a:p>
        </p:txBody>
      </p:sp>
      <p:sp>
        <p:nvSpPr>
          <p:cNvPr id="19" name="Text 16"/>
          <p:cNvSpPr txBox="1"/>
          <p:nvPr/>
        </p:nvSpPr>
        <p:spPr>
          <a:xfrm>
            <a:off x="5221224" y="1097280"/>
            <a:ext cx="1005840" cy="384048"/>
          </a:xfrm>
          <a:prstGeom prst="rect">
            <a:avLst/>
          </a:prstGeom>
          <a:noFill/>
          <a:ln/>
        </p:spPr>
        <p:txBody>
          <a:bodyPr wrap="square" lIns="0" tIns="0" rIns="0" bIns="0" rtlCol="0" anchor="ctr"/>
          <a:lstStyle/>
          <a:p>
            <a:pPr marL="0" indent="0" algn="ctr">
              <a:buNone/>
            </a:pPr>
            <a:r>
              <a:rPr lang="en-US" sz="1100" b="1" dirty="0">
                <a:solidFill>
                  <a:schemeClr val="bg1"/>
                </a:solidFill>
              </a:rPr>
              <a:t>Commerciale</a:t>
            </a:r>
            <a:endParaRPr lang="en-US" sz="1100" dirty="0"/>
          </a:p>
        </p:txBody>
      </p:sp>
      <p:sp>
        <p:nvSpPr>
          <p:cNvPr id="20" name="colonna Commerciale"/>
          <p:cNvSpPr/>
          <p:nvPr/>
        </p:nvSpPr>
        <p:spPr>
          <a:xfrm>
            <a:off x="5175504" y="1554480"/>
            <a:ext cx="1097280" cy="1554480"/>
          </a:xfrm>
          <a:prstGeom prst="roundRect">
            <a:avLst>
              <a:gd name="adj" fmla="val 6667"/>
            </a:avLst>
          </a:prstGeom>
          <a:solidFill>
            <a:schemeClr val="bg2"/>
          </a:solidFill>
          <a:ln/>
        </p:spPr>
        <p:txBody>
          <a:bodyPr/>
          <a:lstStyle/>
          <a:p>
            <a:endParaRPr lang="it-IT"/>
          </a:p>
        </p:txBody>
      </p:sp>
      <p:sp>
        <p:nvSpPr>
          <p:cNvPr id="21" name="blocco Amministrazione"/>
          <p:cNvSpPr/>
          <p:nvPr/>
        </p:nvSpPr>
        <p:spPr>
          <a:xfrm>
            <a:off x="6355080" y="1097280"/>
            <a:ext cx="1097280" cy="384048"/>
          </a:xfrm>
          <a:prstGeom prst="roundRect">
            <a:avLst>
              <a:gd name="adj" fmla="val 28571"/>
            </a:avLst>
          </a:prstGeom>
          <a:solidFill>
            <a:schemeClr val="tx2"/>
          </a:solidFill>
          <a:ln/>
        </p:spPr>
        <p:txBody>
          <a:bodyPr/>
          <a:lstStyle/>
          <a:p>
            <a:endParaRPr lang="it-IT"/>
          </a:p>
        </p:txBody>
      </p:sp>
      <p:sp>
        <p:nvSpPr>
          <p:cNvPr id="22" name="Text 19"/>
          <p:cNvSpPr txBox="1"/>
          <p:nvPr/>
        </p:nvSpPr>
        <p:spPr>
          <a:xfrm>
            <a:off x="6400800" y="1097280"/>
            <a:ext cx="1005840" cy="384048"/>
          </a:xfrm>
          <a:prstGeom prst="rect">
            <a:avLst/>
          </a:prstGeom>
          <a:noFill/>
          <a:ln/>
        </p:spPr>
        <p:txBody>
          <a:bodyPr wrap="square" lIns="0" tIns="0" rIns="0" bIns="0" rtlCol="0" anchor="ctr"/>
          <a:lstStyle/>
          <a:p>
            <a:pPr marL="0" indent="0" algn="ctr">
              <a:buNone/>
            </a:pPr>
            <a:r>
              <a:rPr lang="en-US" sz="1100" b="1" dirty="0">
                <a:solidFill>
                  <a:schemeClr val="bg1"/>
                </a:solidFill>
              </a:rPr>
              <a:t>Amministrazione</a:t>
            </a:r>
            <a:endParaRPr lang="en-US" sz="1100" dirty="0"/>
          </a:p>
        </p:txBody>
      </p:sp>
      <p:sp>
        <p:nvSpPr>
          <p:cNvPr id="23" name="colonna Amministrazione"/>
          <p:cNvSpPr/>
          <p:nvPr/>
        </p:nvSpPr>
        <p:spPr>
          <a:xfrm>
            <a:off x="6355080" y="1554480"/>
            <a:ext cx="1097280" cy="1554480"/>
          </a:xfrm>
          <a:prstGeom prst="roundRect">
            <a:avLst>
              <a:gd name="adj" fmla="val 6667"/>
            </a:avLst>
          </a:prstGeom>
          <a:solidFill>
            <a:schemeClr val="bg2"/>
          </a:solidFill>
          <a:ln/>
        </p:spPr>
        <p:txBody>
          <a:bodyPr/>
          <a:lstStyle/>
          <a:p>
            <a:endParaRPr lang="it-IT"/>
          </a:p>
        </p:txBody>
      </p:sp>
      <p:sp>
        <p:nvSpPr>
          <p:cNvPr id="24" name="blocco HR"/>
          <p:cNvSpPr/>
          <p:nvPr/>
        </p:nvSpPr>
        <p:spPr>
          <a:xfrm>
            <a:off x="7534656" y="1097280"/>
            <a:ext cx="1097280" cy="384048"/>
          </a:xfrm>
          <a:prstGeom prst="roundRect">
            <a:avLst>
              <a:gd name="adj" fmla="val 28571"/>
            </a:avLst>
          </a:prstGeom>
          <a:solidFill>
            <a:schemeClr val="tx2"/>
          </a:solidFill>
          <a:ln/>
        </p:spPr>
        <p:txBody>
          <a:bodyPr/>
          <a:lstStyle/>
          <a:p>
            <a:endParaRPr lang="it-IT"/>
          </a:p>
        </p:txBody>
      </p:sp>
      <p:sp>
        <p:nvSpPr>
          <p:cNvPr id="25" name="Text 22"/>
          <p:cNvSpPr txBox="1"/>
          <p:nvPr/>
        </p:nvSpPr>
        <p:spPr>
          <a:xfrm>
            <a:off x="7580376" y="1097280"/>
            <a:ext cx="1005840" cy="384048"/>
          </a:xfrm>
          <a:prstGeom prst="rect">
            <a:avLst/>
          </a:prstGeom>
          <a:noFill/>
          <a:ln/>
        </p:spPr>
        <p:txBody>
          <a:bodyPr wrap="square" lIns="0" tIns="0" rIns="0" bIns="0" rtlCol="0" anchor="ctr"/>
          <a:lstStyle/>
          <a:p>
            <a:pPr marL="0" indent="0" algn="ctr">
              <a:buNone/>
            </a:pPr>
            <a:r>
              <a:rPr lang="en-US" sz="1100" b="1" dirty="0">
                <a:solidFill>
                  <a:schemeClr val="bg1"/>
                </a:solidFill>
              </a:rPr>
              <a:t>HR</a:t>
            </a:r>
            <a:endParaRPr lang="en-US" sz="1100" dirty="0"/>
          </a:p>
        </p:txBody>
      </p:sp>
      <p:sp>
        <p:nvSpPr>
          <p:cNvPr id="26" name="colonna HR"/>
          <p:cNvSpPr/>
          <p:nvPr/>
        </p:nvSpPr>
        <p:spPr>
          <a:xfrm>
            <a:off x="7534656" y="1554480"/>
            <a:ext cx="1097280" cy="1554480"/>
          </a:xfrm>
          <a:prstGeom prst="roundRect">
            <a:avLst>
              <a:gd name="adj" fmla="val 6667"/>
            </a:avLst>
          </a:prstGeom>
          <a:solidFill>
            <a:schemeClr val="bg2"/>
          </a:solidFill>
          <a:ln/>
        </p:spPr>
        <p:txBody>
          <a:bodyPr/>
          <a:lstStyle/>
          <a:p>
            <a:endParaRPr lang="it-IT"/>
          </a:p>
        </p:txBody>
      </p:sp>
      <p:sp>
        <p:nvSpPr>
          <p:cNvPr id="27" name="post-it"/>
          <p:cNvSpPr/>
          <p:nvPr/>
        </p:nvSpPr>
        <p:spPr>
          <a:xfrm>
            <a:off x="548640" y="1691640"/>
            <a:ext cx="914400" cy="548640"/>
          </a:xfrm>
          <a:prstGeom prst="rect">
            <a:avLst/>
          </a:prstGeom>
          <a:solidFill>
            <a:srgbClr val="F2E3C6"/>
          </a:solidFill>
          <a:ln/>
          <a:effectLst>
            <a:outerShdw blurRad="38100" dist="12700" dir="2700000" algn="bl" rotWithShape="0">
              <a:srgbClr val="000000">
                <a:alpha val="15000"/>
              </a:srgbClr>
            </a:outerShdw>
          </a:effectLst>
        </p:spPr>
        <p:txBody>
          <a:bodyPr/>
          <a:lstStyle/>
          <a:p>
            <a:endParaRPr lang="it-IT"/>
          </a:p>
        </p:txBody>
      </p:sp>
      <p:sp>
        <p:nvSpPr>
          <p:cNvPr id="28" name="Text 25"/>
          <p:cNvSpPr txBox="1"/>
          <p:nvPr/>
        </p:nvSpPr>
        <p:spPr>
          <a:xfrm>
            <a:off x="594360" y="1691640"/>
            <a:ext cx="822960" cy="548640"/>
          </a:xfrm>
          <a:prstGeom prst="rect">
            <a:avLst/>
          </a:prstGeom>
          <a:noFill/>
          <a:ln/>
        </p:spPr>
        <p:txBody>
          <a:bodyPr wrap="square" lIns="0" tIns="0" rIns="0" bIns="0" rtlCol="0" anchor="ctr"/>
          <a:lstStyle/>
          <a:p>
            <a:pPr marL="0" indent="0" algn="ctr">
              <a:buNone/>
            </a:pPr>
            <a:r>
              <a:rPr lang="en-US" sz="900" dirty="0">
                <a:solidFill>
                  <a:schemeClr val="tx1"/>
                </a:solidFill>
              </a:rPr>
              <a:t>Cercare nei disegni</a:t>
            </a:r>
            <a:endParaRPr lang="en-US" sz="900" dirty="0"/>
          </a:p>
        </p:txBody>
      </p:sp>
      <p:sp>
        <p:nvSpPr>
          <p:cNvPr id="29" name="post-it"/>
          <p:cNvSpPr/>
          <p:nvPr/>
        </p:nvSpPr>
        <p:spPr>
          <a:xfrm>
            <a:off x="4087368" y="1691640"/>
            <a:ext cx="914400" cy="548640"/>
          </a:xfrm>
          <a:prstGeom prst="rect">
            <a:avLst/>
          </a:prstGeom>
          <a:solidFill>
            <a:srgbClr val="F2E3C6"/>
          </a:solidFill>
          <a:ln/>
          <a:effectLst>
            <a:outerShdw blurRad="38100" dist="12700" dir="2700000" algn="bl" rotWithShape="0">
              <a:srgbClr val="000000">
                <a:alpha val="15000"/>
              </a:srgbClr>
            </a:outerShdw>
          </a:effectLst>
        </p:spPr>
        <p:txBody>
          <a:bodyPr/>
          <a:lstStyle/>
          <a:p>
            <a:endParaRPr lang="it-IT"/>
          </a:p>
        </p:txBody>
      </p:sp>
      <p:sp>
        <p:nvSpPr>
          <p:cNvPr id="30" name="Text 27"/>
          <p:cNvSpPr txBox="1"/>
          <p:nvPr/>
        </p:nvSpPr>
        <p:spPr>
          <a:xfrm>
            <a:off x="4133088" y="1691640"/>
            <a:ext cx="822960" cy="548640"/>
          </a:xfrm>
          <a:prstGeom prst="rect">
            <a:avLst/>
          </a:prstGeom>
          <a:noFill/>
          <a:ln/>
        </p:spPr>
        <p:txBody>
          <a:bodyPr wrap="square" lIns="0" tIns="0" rIns="0" bIns="0" rtlCol="0" anchor="ctr"/>
          <a:lstStyle/>
          <a:p>
            <a:pPr marL="0" indent="0" algn="ctr">
              <a:buNone/>
            </a:pPr>
            <a:r>
              <a:rPr lang="en-US" sz="900" dirty="0">
                <a:solidFill>
                  <a:schemeClr val="tx1"/>
                </a:solidFill>
              </a:rPr>
              <a:t>Soluzione di un allarme</a:t>
            </a:r>
            <a:endParaRPr lang="en-US" sz="900" dirty="0"/>
          </a:p>
        </p:txBody>
      </p:sp>
      <p:sp>
        <p:nvSpPr>
          <p:cNvPr id="31" name="post-it"/>
          <p:cNvSpPr/>
          <p:nvPr/>
        </p:nvSpPr>
        <p:spPr>
          <a:xfrm>
            <a:off x="5266944" y="1691640"/>
            <a:ext cx="914400" cy="548640"/>
          </a:xfrm>
          <a:prstGeom prst="rect">
            <a:avLst/>
          </a:prstGeom>
          <a:solidFill>
            <a:srgbClr val="F2E3C6"/>
          </a:solidFill>
          <a:ln/>
          <a:effectLst>
            <a:outerShdw blurRad="38100" dist="12700" dir="2700000" algn="bl" rotWithShape="0">
              <a:srgbClr val="000000">
                <a:alpha val="15000"/>
              </a:srgbClr>
            </a:outerShdw>
          </a:effectLst>
        </p:spPr>
        <p:txBody>
          <a:bodyPr/>
          <a:lstStyle/>
          <a:p>
            <a:endParaRPr lang="it-IT"/>
          </a:p>
        </p:txBody>
      </p:sp>
      <p:sp>
        <p:nvSpPr>
          <p:cNvPr id="32" name="Text 29"/>
          <p:cNvSpPr txBox="1"/>
          <p:nvPr/>
        </p:nvSpPr>
        <p:spPr>
          <a:xfrm>
            <a:off x="5312664" y="1691640"/>
            <a:ext cx="822960" cy="548640"/>
          </a:xfrm>
          <a:prstGeom prst="rect">
            <a:avLst/>
          </a:prstGeom>
          <a:noFill/>
          <a:ln/>
        </p:spPr>
        <p:txBody>
          <a:bodyPr wrap="square" lIns="0" tIns="0" rIns="0" bIns="0" rtlCol="0" anchor="ctr"/>
          <a:lstStyle/>
          <a:p>
            <a:pPr marL="0" indent="0" algn="ctr">
              <a:buNone/>
            </a:pPr>
            <a:r>
              <a:rPr lang="en-US" sz="900" dirty="0">
                <a:solidFill>
                  <a:schemeClr val="tx1"/>
                </a:solidFill>
              </a:rPr>
              <a:t>Leggere il capitolato</a:t>
            </a:r>
            <a:endParaRPr lang="en-US" sz="900" dirty="0"/>
          </a:p>
        </p:txBody>
      </p:sp>
      <p:sp>
        <p:nvSpPr>
          <p:cNvPr id="33" name="post-it"/>
          <p:cNvSpPr/>
          <p:nvPr/>
        </p:nvSpPr>
        <p:spPr>
          <a:xfrm>
            <a:off x="4087368" y="2331720"/>
            <a:ext cx="914400" cy="548640"/>
          </a:xfrm>
          <a:prstGeom prst="rect">
            <a:avLst/>
          </a:prstGeom>
          <a:solidFill>
            <a:srgbClr val="F2E3C6"/>
          </a:solidFill>
          <a:ln/>
          <a:effectLst>
            <a:outerShdw blurRad="38100" dist="12700" dir="2700000" algn="bl" rotWithShape="0">
              <a:srgbClr val="000000">
                <a:alpha val="15000"/>
              </a:srgbClr>
            </a:outerShdw>
          </a:effectLst>
        </p:spPr>
        <p:txBody>
          <a:bodyPr/>
          <a:lstStyle/>
          <a:p>
            <a:endParaRPr lang="it-IT"/>
          </a:p>
        </p:txBody>
      </p:sp>
      <p:sp>
        <p:nvSpPr>
          <p:cNvPr id="34" name="Text 31"/>
          <p:cNvSpPr txBox="1"/>
          <p:nvPr/>
        </p:nvSpPr>
        <p:spPr>
          <a:xfrm>
            <a:off x="4133088" y="2331720"/>
            <a:ext cx="822960" cy="548640"/>
          </a:xfrm>
          <a:prstGeom prst="rect">
            <a:avLst/>
          </a:prstGeom>
          <a:noFill/>
          <a:ln/>
        </p:spPr>
        <p:txBody>
          <a:bodyPr wrap="square" lIns="0" tIns="0" rIns="0" bIns="0" rtlCol="0" anchor="ctr"/>
          <a:lstStyle/>
          <a:p>
            <a:pPr marL="0" indent="0" algn="ctr">
              <a:buNone/>
            </a:pPr>
            <a:r>
              <a:rPr lang="en-US" sz="900" dirty="0">
                <a:solidFill>
                  <a:schemeClr val="tx1"/>
                </a:solidFill>
              </a:rPr>
              <a:t>Report d'intervento</a:t>
            </a:r>
            <a:endParaRPr lang="en-US" sz="900" dirty="0"/>
          </a:p>
        </p:txBody>
      </p:sp>
      <p:sp>
        <p:nvSpPr>
          <p:cNvPr id="35" name="scheda Un'idea, un post-it"/>
          <p:cNvSpPr/>
          <p:nvPr/>
        </p:nvSpPr>
        <p:spPr>
          <a:xfrm>
            <a:off x="457200" y="3291840"/>
            <a:ext cx="3538728" cy="1188720"/>
          </a:xfrm>
          <a:prstGeom prst="roundRect">
            <a:avLst>
              <a:gd name="adj" fmla="val 6154"/>
            </a:avLst>
          </a:prstGeom>
          <a:solidFill>
            <a:schemeClr val="bg2"/>
          </a:solidFill>
          <a:ln/>
        </p:spPr>
        <p:txBody>
          <a:bodyPr/>
          <a:lstStyle/>
          <a:p>
            <a:endParaRPr lang="it-IT"/>
          </a:p>
        </p:txBody>
      </p:sp>
      <p:sp>
        <p:nvSpPr>
          <p:cNvPr id="36" name="cerchio FiEdit3"/>
          <p:cNvSpPr/>
          <p:nvPr/>
        </p:nvSpPr>
        <p:spPr>
          <a:xfrm>
            <a:off x="640080" y="3474720"/>
            <a:ext cx="457200" cy="457200"/>
          </a:xfrm>
          <a:prstGeom prst="ellipse">
            <a:avLst/>
          </a:prstGeom>
          <a:solidFill>
            <a:schemeClr val="accent1"/>
          </a:solidFill>
          <a:ln/>
        </p:spPr>
        <p:txBody>
          <a:bodyPr/>
          <a:lstStyle/>
          <a:p>
            <a:endParaRPr lang="it-IT"/>
          </a:p>
        </p:txBody>
      </p:sp>
      <p:pic>
        <p:nvPicPr>
          <p:cNvPr id="37" name="Image 0" descr="FiEdit3"/>
          <p:cNvPicPr>
            <a:picLocks noChangeAspect="1"/>
          </p:cNvPicPr>
          <p:nvPr/>
        </p:nvPicPr>
        <p:blipFill>
          <a:blip r:embed="rId3"/>
          <a:stretch>
            <a:fillRect/>
          </a:stretch>
        </p:blipFill>
        <p:spPr>
          <a:xfrm>
            <a:off x="754380" y="3589020"/>
            <a:ext cx="228600" cy="228600"/>
          </a:xfrm>
          <a:prstGeom prst="rect">
            <a:avLst/>
          </a:prstGeom>
        </p:spPr>
      </p:pic>
      <p:sp>
        <p:nvSpPr>
          <p:cNvPr id="38" name="Text 34"/>
          <p:cNvSpPr txBox="1"/>
          <p:nvPr/>
        </p:nvSpPr>
        <p:spPr>
          <a:xfrm>
            <a:off x="1234440" y="3474720"/>
            <a:ext cx="3063240" cy="457200"/>
          </a:xfrm>
          <a:prstGeom prst="rect">
            <a:avLst/>
          </a:prstGeom>
          <a:noFill/>
          <a:ln/>
        </p:spPr>
        <p:txBody>
          <a:bodyPr wrap="square" lIns="0" tIns="0" rIns="0" bIns="0" rtlCol="0" anchor="ctr"/>
          <a:lstStyle/>
          <a:p>
            <a:pPr marL="0" indent="0">
              <a:buNone/>
            </a:pPr>
            <a:r>
              <a:rPr lang="en-US" sz="1400" b="1" dirty="0">
                <a:solidFill>
                  <a:schemeClr val="tx1"/>
                </a:solidFill>
              </a:rPr>
              <a:t>Un </a:t>
            </a:r>
            <a:r>
              <a:rPr lang="en-US" sz="1400" b="1" dirty="0" err="1">
                <a:solidFill>
                  <a:schemeClr val="tx1"/>
                </a:solidFill>
              </a:rPr>
              <a:t>problema</a:t>
            </a:r>
            <a:r>
              <a:rPr lang="en-US" sz="1400" b="1" dirty="0">
                <a:solidFill>
                  <a:schemeClr val="tx1"/>
                </a:solidFill>
              </a:rPr>
              <a:t>, un post-it</a:t>
            </a:r>
            <a:endParaRPr lang="en-US" sz="1400" dirty="0"/>
          </a:p>
        </p:txBody>
      </p:sp>
      <p:sp>
        <p:nvSpPr>
          <p:cNvPr id="39" name="Text 35"/>
          <p:cNvSpPr txBox="1"/>
          <p:nvPr/>
        </p:nvSpPr>
        <p:spPr>
          <a:xfrm>
            <a:off x="640080" y="4069080"/>
            <a:ext cx="3657600" cy="301752"/>
          </a:xfrm>
          <a:prstGeom prst="rect">
            <a:avLst/>
          </a:prstGeom>
          <a:noFill/>
          <a:ln/>
        </p:spPr>
        <p:txBody>
          <a:bodyPr wrap="square" lIns="0" tIns="0" rIns="0" bIns="0" rtlCol="0" anchor="t"/>
          <a:lstStyle/>
          <a:p>
            <a:pPr marL="0" indent="0">
              <a:buNone/>
            </a:pPr>
            <a:r>
              <a:rPr lang="en-US" sz="1200" dirty="0" err="1">
                <a:solidFill>
                  <a:schemeClr val="tx2"/>
                </a:solidFill>
              </a:rPr>
              <a:t>Raccogliamo</a:t>
            </a:r>
            <a:r>
              <a:rPr lang="en-US" sz="1200" dirty="0">
                <a:solidFill>
                  <a:schemeClr val="tx2"/>
                </a:solidFill>
              </a:rPr>
              <a:t> </a:t>
            </a:r>
            <a:r>
              <a:rPr lang="en-US" sz="1200" dirty="0" err="1">
                <a:solidFill>
                  <a:schemeClr val="tx2"/>
                </a:solidFill>
              </a:rPr>
              <a:t>attività</a:t>
            </a:r>
            <a:r>
              <a:rPr lang="en-US" sz="1200" dirty="0">
                <a:solidFill>
                  <a:schemeClr val="tx2"/>
                </a:solidFill>
              </a:rPr>
              <a:t> </a:t>
            </a:r>
            <a:r>
              <a:rPr lang="en-US" sz="1200" dirty="0" err="1">
                <a:solidFill>
                  <a:schemeClr val="tx2"/>
                </a:solidFill>
              </a:rPr>
              <a:t>difficili</a:t>
            </a:r>
            <a:r>
              <a:rPr lang="en-US" sz="1200" dirty="0">
                <a:solidFill>
                  <a:schemeClr val="tx2"/>
                </a:solidFill>
              </a:rPr>
              <a:t>, repetitive o </a:t>
            </a:r>
            <a:r>
              <a:rPr lang="en-US" sz="1200" dirty="0" err="1">
                <a:solidFill>
                  <a:schemeClr val="tx2"/>
                </a:solidFill>
              </a:rPr>
              <a:t>migliorabili</a:t>
            </a:r>
            <a:endParaRPr lang="en-US" sz="1200" dirty="0"/>
          </a:p>
        </p:txBody>
      </p:sp>
      <p:sp>
        <p:nvSpPr>
          <p:cNvPr id="40" name="scheda Una sola regola"/>
          <p:cNvSpPr/>
          <p:nvPr/>
        </p:nvSpPr>
        <p:spPr>
          <a:xfrm>
            <a:off x="4663440" y="3291840"/>
            <a:ext cx="4023360" cy="1188720"/>
          </a:xfrm>
          <a:prstGeom prst="roundRect">
            <a:avLst>
              <a:gd name="adj" fmla="val 6154"/>
            </a:avLst>
          </a:prstGeom>
          <a:solidFill>
            <a:schemeClr val="accent6"/>
          </a:solidFill>
          <a:ln/>
        </p:spPr>
        <p:txBody>
          <a:bodyPr/>
          <a:lstStyle/>
          <a:p>
            <a:endParaRPr lang="it-IT"/>
          </a:p>
        </p:txBody>
      </p:sp>
      <p:sp>
        <p:nvSpPr>
          <p:cNvPr id="41" name="cerchio FiLock"/>
          <p:cNvSpPr/>
          <p:nvPr/>
        </p:nvSpPr>
        <p:spPr>
          <a:xfrm>
            <a:off x="4846320" y="3474720"/>
            <a:ext cx="457200" cy="457200"/>
          </a:xfrm>
          <a:prstGeom prst="ellipse">
            <a:avLst/>
          </a:prstGeom>
          <a:solidFill>
            <a:schemeClr val="accent1"/>
          </a:solidFill>
          <a:ln/>
        </p:spPr>
        <p:txBody>
          <a:bodyPr/>
          <a:lstStyle/>
          <a:p>
            <a:endParaRPr lang="it-IT"/>
          </a:p>
        </p:txBody>
      </p:sp>
      <p:pic>
        <p:nvPicPr>
          <p:cNvPr id="42" name="Image 1" descr="FiLock"/>
          <p:cNvPicPr>
            <a:picLocks noChangeAspect="1"/>
          </p:cNvPicPr>
          <p:nvPr/>
        </p:nvPicPr>
        <p:blipFill>
          <a:blip r:embed="rId4"/>
          <a:stretch>
            <a:fillRect/>
          </a:stretch>
        </p:blipFill>
        <p:spPr>
          <a:xfrm>
            <a:off x="4960620" y="3589020"/>
            <a:ext cx="228600" cy="228600"/>
          </a:xfrm>
          <a:prstGeom prst="rect">
            <a:avLst/>
          </a:prstGeom>
        </p:spPr>
      </p:pic>
      <p:sp>
        <p:nvSpPr>
          <p:cNvPr id="43" name="Text 38"/>
          <p:cNvSpPr txBox="1"/>
          <p:nvPr/>
        </p:nvSpPr>
        <p:spPr>
          <a:xfrm>
            <a:off x="5440680" y="3474720"/>
            <a:ext cx="3063240" cy="457200"/>
          </a:xfrm>
          <a:prstGeom prst="rect">
            <a:avLst/>
          </a:prstGeom>
          <a:noFill/>
          <a:ln/>
        </p:spPr>
        <p:txBody>
          <a:bodyPr wrap="square" lIns="0" tIns="0" rIns="0" bIns="0" rtlCol="0" anchor="ctr"/>
          <a:lstStyle/>
          <a:p>
            <a:pPr marL="0" indent="0">
              <a:buNone/>
            </a:pPr>
            <a:r>
              <a:rPr lang="en-US" sz="1400" b="1" dirty="0">
                <a:solidFill>
                  <a:schemeClr val="tx1"/>
                </a:solidFill>
              </a:rPr>
              <a:t>Niente </a:t>
            </a:r>
            <a:r>
              <a:rPr lang="en-US" sz="1400" b="1" dirty="0" err="1">
                <a:solidFill>
                  <a:schemeClr val="tx1"/>
                </a:solidFill>
              </a:rPr>
              <a:t>informazioni</a:t>
            </a:r>
            <a:r>
              <a:rPr lang="en-US" sz="1400" b="1" dirty="0">
                <a:solidFill>
                  <a:schemeClr val="tx1"/>
                </a:solidFill>
              </a:rPr>
              <a:t> </a:t>
            </a:r>
            <a:r>
              <a:rPr lang="en-US" sz="1400" b="1" dirty="0" err="1">
                <a:solidFill>
                  <a:schemeClr val="tx1"/>
                </a:solidFill>
              </a:rPr>
              <a:t>riservate</a:t>
            </a:r>
            <a:endParaRPr lang="en-US" sz="1400" dirty="0"/>
          </a:p>
        </p:txBody>
      </p:sp>
      <p:sp>
        <p:nvSpPr>
          <p:cNvPr id="44" name="Text 39"/>
          <p:cNvSpPr txBox="1"/>
          <p:nvPr/>
        </p:nvSpPr>
        <p:spPr>
          <a:xfrm>
            <a:off x="4846320" y="4069080"/>
            <a:ext cx="3657600" cy="301752"/>
          </a:xfrm>
          <a:prstGeom prst="rect">
            <a:avLst/>
          </a:prstGeom>
          <a:noFill/>
          <a:ln/>
        </p:spPr>
        <p:txBody>
          <a:bodyPr wrap="square" lIns="0" tIns="0" rIns="0" bIns="0" rtlCol="0" anchor="t"/>
          <a:lstStyle/>
          <a:p>
            <a:pPr marL="0" indent="0">
              <a:buNone/>
            </a:pPr>
            <a:r>
              <a:rPr lang="en-US" sz="1200" dirty="0" err="1">
                <a:solidFill>
                  <a:schemeClr val="tx2"/>
                </a:solidFill>
              </a:rPr>
              <a:t>Utilizziamo</a:t>
            </a:r>
            <a:r>
              <a:rPr lang="en-US" sz="1200" dirty="0">
                <a:solidFill>
                  <a:schemeClr val="tx2"/>
                </a:solidFill>
              </a:rPr>
              <a:t> </a:t>
            </a:r>
            <a:r>
              <a:rPr lang="en-US" sz="1200" dirty="0" err="1">
                <a:solidFill>
                  <a:schemeClr val="tx2"/>
                </a:solidFill>
              </a:rPr>
              <a:t>descrizioni</a:t>
            </a:r>
            <a:r>
              <a:rPr lang="en-US" sz="1200" dirty="0">
                <a:solidFill>
                  <a:schemeClr val="tx2"/>
                </a:solidFill>
              </a:rPr>
              <a:t> </a:t>
            </a:r>
            <a:r>
              <a:rPr lang="en-US" sz="1200" dirty="0" err="1">
                <a:solidFill>
                  <a:schemeClr val="tx2"/>
                </a:solidFill>
              </a:rPr>
              <a:t>generiche</a:t>
            </a:r>
            <a:r>
              <a:rPr lang="en-US" sz="1200" dirty="0">
                <a:solidFill>
                  <a:schemeClr val="tx2"/>
                </a:solidFill>
              </a:rPr>
              <a:t> delle </a:t>
            </a:r>
            <a:r>
              <a:rPr lang="en-US" sz="1200" dirty="0" err="1">
                <a:solidFill>
                  <a:schemeClr val="tx2"/>
                </a:solidFill>
              </a:rPr>
              <a:t>attività</a:t>
            </a:r>
            <a:endParaRPr lang="en-US"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B31E1-467B-01EE-29F4-19744A5DFFC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0AB83CB-7BC9-9B1A-1416-C63915DD329F}"/>
              </a:ext>
            </a:extLst>
          </p:cNvPr>
          <p:cNvSpPr>
            <a:spLocks noGrp="1"/>
          </p:cNvSpPr>
          <p:nvPr>
            <p:ph type="body" idx="100" hasCustomPrompt="1"/>
          </p:nvPr>
        </p:nvSpPr>
        <p:spPr>
          <a:xfrm>
            <a:off x="640080" y="1097280"/>
            <a:ext cx="7863840" cy="365760"/>
          </a:xfrm>
          <a:prstGeom prst="rect">
            <a:avLst/>
          </a:prstGeom>
          <a:noFill/>
          <a:ln/>
        </p:spPr>
        <p:txBody>
          <a:bodyPr wrap="square" lIns="0" tIns="0" rIns="0" bIns="0" rtlCol="0"/>
          <a:lstStyle/>
          <a:p>
            <a:pPr marL="0" indent="0">
              <a:buNone/>
            </a:pPr>
            <a:r>
              <a:rPr lang="en-US" sz="1300" b="1" kern="0" spc="200" dirty="0">
                <a:solidFill>
                  <a:schemeClr val="accent1"/>
                </a:solidFill>
              </a:rPr>
              <a:t>AI ADOPTION  ·  LASER SRL  ·  SESSIONE 1 DI 3</a:t>
            </a:r>
            <a:endParaRPr lang="en-US" sz="1300" dirty="0"/>
          </a:p>
        </p:txBody>
      </p:sp>
      <p:sp>
        <p:nvSpPr>
          <p:cNvPr id="3" name="Text 0">
            <a:extLst>
              <a:ext uri="{FF2B5EF4-FFF2-40B4-BE49-F238E27FC236}">
                <a16:creationId xmlns:a16="http://schemas.microsoft.com/office/drawing/2014/main" id="{C3415790-2344-53B4-1827-9C638257CAC0}"/>
              </a:ext>
            </a:extLst>
          </p:cNvPr>
          <p:cNvSpPr>
            <a:spLocks noGrp="1"/>
          </p:cNvSpPr>
          <p:nvPr>
            <p:ph type="title" idx="101" hasCustomPrompt="1"/>
          </p:nvPr>
        </p:nvSpPr>
        <p:spPr>
          <a:xfrm>
            <a:off x="640080" y="1554480"/>
            <a:ext cx="7863840" cy="1463040"/>
          </a:xfrm>
          <a:prstGeom prst="rect">
            <a:avLst/>
          </a:prstGeom>
          <a:noFill/>
          <a:ln/>
        </p:spPr>
        <p:txBody>
          <a:bodyPr wrap="square" lIns="0" tIns="0" rIns="0" bIns="0" rtlCol="0" anchor="t"/>
          <a:lstStyle/>
          <a:p>
            <a:pPr marL="0" indent="0" algn="l">
              <a:buNone/>
            </a:pPr>
            <a:r>
              <a:rPr lang="en-US" sz="3600" b="1" dirty="0" err="1">
                <a:solidFill>
                  <a:schemeClr val="bg1"/>
                </a:solidFill>
              </a:rPr>
              <a:t>Evoluzione</a:t>
            </a:r>
            <a:r>
              <a:rPr lang="en-US" sz="3600" b="1" dirty="0">
                <a:solidFill>
                  <a:schemeClr val="bg1"/>
                </a:solidFill>
              </a:rPr>
              <a:t> e </a:t>
            </a:r>
            <a:r>
              <a:rPr lang="en-US" sz="3600" b="1" dirty="0" err="1">
                <a:solidFill>
                  <a:schemeClr val="bg1"/>
                </a:solidFill>
              </a:rPr>
              <a:t>rilevanza</a:t>
            </a:r>
            <a:r>
              <a:rPr lang="en-US" sz="3600" b="1" dirty="0">
                <a:solidFill>
                  <a:schemeClr val="bg1"/>
                </a:solidFill>
              </a:rPr>
              <a:t> </a:t>
            </a:r>
            <a:r>
              <a:rPr lang="en-US" sz="3600" b="1" dirty="0" err="1">
                <a:solidFill>
                  <a:schemeClr val="bg1"/>
                </a:solidFill>
              </a:rPr>
              <a:t>dell’intelligenza</a:t>
            </a:r>
            <a:r>
              <a:rPr lang="en-US" sz="3600" b="1" dirty="0">
                <a:solidFill>
                  <a:schemeClr val="bg1"/>
                </a:solidFill>
              </a:rPr>
              <a:t> </a:t>
            </a:r>
            <a:r>
              <a:rPr lang="en-US" sz="3600" b="1" dirty="0" err="1">
                <a:solidFill>
                  <a:schemeClr val="bg1"/>
                </a:solidFill>
              </a:rPr>
              <a:t>Artificiale</a:t>
            </a:r>
            <a:endParaRPr lang="en-US" sz="3600" dirty="0"/>
          </a:p>
        </p:txBody>
      </p:sp>
      <p:sp>
        <p:nvSpPr>
          <p:cNvPr id="4" name="Text 0">
            <a:extLst>
              <a:ext uri="{FF2B5EF4-FFF2-40B4-BE49-F238E27FC236}">
                <a16:creationId xmlns:a16="http://schemas.microsoft.com/office/drawing/2014/main" id="{7C6F723D-CA1B-94B9-BE2D-AB6173EB6D5D}"/>
              </a:ext>
            </a:extLst>
          </p:cNvPr>
          <p:cNvSpPr>
            <a:spLocks noGrp="1"/>
          </p:cNvSpPr>
          <p:nvPr>
            <p:ph type="body" idx="102" hasCustomPrompt="1"/>
          </p:nvPr>
        </p:nvSpPr>
        <p:spPr>
          <a:xfrm>
            <a:off x="640080" y="3154680"/>
            <a:ext cx="7863840" cy="822960"/>
          </a:xfrm>
          <a:prstGeom prst="rect">
            <a:avLst/>
          </a:prstGeom>
          <a:noFill/>
          <a:ln/>
        </p:spPr>
        <p:txBody>
          <a:bodyPr wrap="square" lIns="0" tIns="0" rIns="0" bIns="0" rtlCol="0" anchor="t"/>
          <a:lstStyle/>
          <a:p>
            <a:pPr marL="0" indent="0">
              <a:buNone/>
            </a:pPr>
            <a:r>
              <a:rPr lang="en-US" dirty="0"/>
              <a:t>Primo Tema – </a:t>
            </a:r>
            <a:r>
              <a:rPr lang="en-US" dirty="0" err="1"/>
              <a:t>Giornata</a:t>
            </a:r>
            <a:r>
              <a:rPr lang="en-US" dirty="0"/>
              <a:t> 1</a:t>
            </a:r>
            <a:endParaRPr lang="en-US" sz="1600" dirty="0"/>
          </a:p>
        </p:txBody>
      </p:sp>
    </p:spTree>
    <p:extLst>
      <p:ext uri="{BB962C8B-B14F-4D97-AF65-F5344CB8AC3E}">
        <p14:creationId xmlns:p14="http://schemas.microsoft.com/office/powerpoint/2010/main" val="26275156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Oltre settant'anni di evoluzione</a:t>
            </a:r>
            <a:endParaRPr lang="it-IT" sz="2600" dirty="0"/>
          </a:p>
        </p:txBody>
      </p:sp>
      <p:sp>
        <p:nvSpPr>
          <p:cNvPr id="4" name="linea del tempo"/>
          <p:cNvSpPr/>
          <p:nvPr/>
        </p:nvSpPr>
        <p:spPr>
          <a:xfrm>
            <a:off x="457200" y="2788920"/>
            <a:ext cx="8229600" cy="0"/>
          </a:xfrm>
          <a:prstGeom prst="line">
            <a:avLst/>
          </a:prstGeom>
          <a:noFill/>
          <a:ln w="25400">
            <a:solidFill>
              <a:schemeClr val="accent3"/>
            </a:solidFill>
            <a:prstDash val="solid"/>
          </a:ln>
        </p:spPr>
        <p:txBody>
          <a:bodyPr/>
          <a:lstStyle/>
          <a:p>
            <a:endParaRPr lang="it-IT" dirty="0"/>
          </a:p>
        </p:txBody>
      </p:sp>
      <p:sp>
        <p:nvSpPr>
          <p:cNvPr id="5" name="tappa 1950"/>
          <p:cNvSpPr/>
          <p:nvPr/>
        </p:nvSpPr>
        <p:spPr>
          <a:xfrm>
            <a:off x="1060704" y="2688336"/>
            <a:ext cx="201168" cy="201168"/>
          </a:xfrm>
          <a:prstGeom prst="ellipse">
            <a:avLst/>
          </a:prstGeom>
          <a:solidFill>
            <a:schemeClr val="bg1"/>
          </a:solidFill>
          <a:ln w="25400">
            <a:solidFill>
              <a:schemeClr val="accent1"/>
            </a:solidFill>
            <a:prstDash val="solid"/>
          </a:ln>
        </p:spPr>
        <p:txBody>
          <a:bodyPr/>
          <a:lstStyle/>
          <a:p>
            <a:endParaRPr lang="it-IT" dirty="0"/>
          </a:p>
        </p:txBody>
      </p:sp>
      <p:sp>
        <p:nvSpPr>
          <p:cNvPr id="6" name="connettore 1950"/>
          <p:cNvSpPr/>
          <p:nvPr/>
        </p:nvSpPr>
        <p:spPr>
          <a:xfrm>
            <a:off x="1161288" y="2286000"/>
            <a:ext cx="0" cy="402336"/>
          </a:xfrm>
          <a:prstGeom prst="line">
            <a:avLst/>
          </a:prstGeom>
          <a:noFill/>
          <a:ln w="12700">
            <a:solidFill>
              <a:schemeClr val="accent3"/>
            </a:solidFill>
            <a:prstDash val="solid"/>
          </a:ln>
        </p:spPr>
        <p:txBody>
          <a:bodyPr/>
          <a:lstStyle/>
          <a:p>
            <a:endParaRPr lang="it-IT" dirty="0"/>
          </a:p>
        </p:txBody>
      </p:sp>
      <p:sp>
        <p:nvSpPr>
          <p:cNvPr id="7" name="Text 4"/>
          <p:cNvSpPr txBox="1"/>
          <p:nvPr/>
        </p:nvSpPr>
        <p:spPr>
          <a:xfrm>
            <a:off x="502920" y="1143000"/>
            <a:ext cx="1316736" cy="292608"/>
          </a:xfrm>
          <a:prstGeom prst="rect">
            <a:avLst/>
          </a:prstGeom>
          <a:noFill/>
          <a:ln/>
        </p:spPr>
        <p:txBody>
          <a:bodyPr wrap="square" lIns="0" tIns="0" rIns="0" bIns="0" rtlCol="0" anchor="t"/>
          <a:lstStyle/>
          <a:p>
            <a:pPr marL="0" indent="0" algn="ctr">
              <a:buNone/>
            </a:pPr>
            <a:r>
              <a:rPr lang="it-IT" sz="1400" b="1" dirty="0">
                <a:solidFill>
                  <a:schemeClr val="accent1"/>
                </a:solidFill>
              </a:rPr>
              <a:t>1950</a:t>
            </a:r>
            <a:endParaRPr lang="it-IT" sz="1400" dirty="0"/>
          </a:p>
        </p:txBody>
      </p:sp>
      <p:sp>
        <p:nvSpPr>
          <p:cNvPr id="8" name="Text 5"/>
          <p:cNvSpPr txBox="1"/>
          <p:nvPr/>
        </p:nvSpPr>
        <p:spPr>
          <a:xfrm>
            <a:off x="502920" y="1435608"/>
            <a:ext cx="1316736" cy="822960"/>
          </a:xfrm>
          <a:prstGeom prst="rect">
            <a:avLst/>
          </a:prstGeom>
          <a:noFill/>
          <a:ln/>
        </p:spPr>
        <p:txBody>
          <a:bodyPr wrap="square" lIns="0" tIns="0" rIns="0" bIns="0" rtlCol="0" anchor="t"/>
          <a:lstStyle/>
          <a:p>
            <a:pPr marL="0" indent="0" algn="ctr">
              <a:buNone/>
            </a:pPr>
            <a:r>
              <a:rPr lang="it-IT" sz="1200" dirty="0">
                <a:solidFill>
                  <a:schemeClr val="tx2"/>
                </a:solidFill>
              </a:rPr>
              <a:t>Turing: le macchine possono pensare?</a:t>
            </a:r>
            <a:endParaRPr lang="it-IT" sz="1200" dirty="0"/>
          </a:p>
        </p:txBody>
      </p:sp>
      <p:sp>
        <p:nvSpPr>
          <p:cNvPr id="9" name="tappa 1956"/>
          <p:cNvSpPr/>
          <p:nvPr/>
        </p:nvSpPr>
        <p:spPr>
          <a:xfrm>
            <a:off x="2034540" y="2688336"/>
            <a:ext cx="201168" cy="201168"/>
          </a:xfrm>
          <a:prstGeom prst="ellipse">
            <a:avLst/>
          </a:prstGeom>
          <a:solidFill>
            <a:schemeClr val="bg1"/>
          </a:solidFill>
          <a:ln w="25400">
            <a:solidFill>
              <a:schemeClr val="accent1"/>
            </a:solidFill>
            <a:prstDash val="solid"/>
          </a:ln>
        </p:spPr>
        <p:txBody>
          <a:bodyPr/>
          <a:lstStyle/>
          <a:p>
            <a:endParaRPr lang="it-IT" dirty="0"/>
          </a:p>
        </p:txBody>
      </p:sp>
      <p:sp>
        <p:nvSpPr>
          <p:cNvPr id="10" name="connettore 1956"/>
          <p:cNvSpPr/>
          <p:nvPr/>
        </p:nvSpPr>
        <p:spPr>
          <a:xfrm>
            <a:off x="2135124" y="2889504"/>
            <a:ext cx="0" cy="402336"/>
          </a:xfrm>
          <a:prstGeom prst="line">
            <a:avLst/>
          </a:prstGeom>
          <a:noFill/>
          <a:ln w="12700">
            <a:solidFill>
              <a:schemeClr val="accent3"/>
            </a:solidFill>
            <a:prstDash val="solid"/>
          </a:ln>
        </p:spPr>
        <p:txBody>
          <a:bodyPr/>
          <a:lstStyle/>
          <a:p>
            <a:endParaRPr lang="it-IT" dirty="0"/>
          </a:p>
        </p:txBody>
      </p:sp>
      <p:sp>
        <p:nvSpPr>
          <p:cNvPr id="11" name="Text 8"/>
          <p:cNvSpPr txBox="1"/>
          <p:nvPr/>
        </p:nvSpPr>
        <p:spPr>
          <a:xfrm>
            <a:off x="1476756" y="3337560"/>
            <a:ext cx="1316736" cy="292608"/>
          </a:xfrm>
          <a:prstGeom prst="rect">
            <a:avLst/>
          </a:prstGeom>
          <a:noFill/>
          <a:ln/>
        </p:spPr>
        <p:txBody>
          <a:bodyPr wrap="square" lIns="0" tIns="0" rIns="0" bIns="0" rtlCol="0" anchor="t"/>
          <a:lstStyle/>
          <a:p>
            <a:pPr marL="0" indent="0" algn="ctr">
              <a:buNone/>
            </a:pPr>
            <a:r>
              <a:rPr lang="it-IT" sz="1400" b="1" dirty="0">
                <a:solidFill>
                  <a:schemeClr val="accent1"/>
                </a:solidFill>
              </a:rPr>
              <a:t>1956</a:t>
            </a:r>
            <a:endParaRPr lang="it-IT" sz="1400" dirty="0"/>
          </a:p>
        </p:txBody>
      </p:sp>
      <p:sp>
        <p:nvSpPr>
          <p:cNvPr id="12" name="Text 9"/>
          <p:cNvSpPr txBox="1"/>
          <p:nvPr/>
        </p:nvSpPr>
        <p:spPr>
          <a:xfrm>
            <a:off x="1476756" y="3630168"/>
            <a:ext cx="1316736" cy="822960"/>
          </a:xfrm>
          <a:prstGeom prst="rect">
            <a:avLst/>
          </a:prstGeom>
          <a:noFill/>
          <a:ln/>
        </p:spPr>
        <p:txBody>
          <a:bodyPr wrap="square" lIns="0" tIns="0" rIns="0" bIns="0" rtlCol="0" anchor="t"/>
          <a:lstStyle/>
          <a:p>
            <a:pPr marL="0" indent="0" algn="ctr">
              <a:buNone/>
            </a:pPr>
            <a:r>
              <a:rPr lang="it-IT" sz="1200" dirty="0">
                <a:solidFill>
                  <a:schemeClr val="tx2"/>
                </a:solidFill>
              </a:rPr>
              <a:t>Dartmouth: nasce la disciplina</a:t>
            </a:r>
            <a:endParaRPr lang="it-IT" sz="1200" dirty="0"/>
          </a:p>
        </p:txBody>
      </p:sp>
      <p:sp>
        <p:nvSpPr>
          <p:cNvPr id="13" name="tappa 1958"/>
          <p:cNvSpPr/>
          <p:nvPr/>
        </p:nvSpPr>
        <p:spPr>
          <a:xfrm>
            <a:off x="3008376" y="2688336"/>
            <a:ext cx="201168" cy="201168"/>
          </a:xfrm>
          <a:prstGeom prst="ellipse">
            <a:avLst/>
          </a:prstGeom>
          <a:solidFill>
            <a:schemeClr val="bg1"/>
          </a:solidFill>
          <a:ln w="25400">
            <a:solidFill>
              <a:schemeClr val="accent1"/>
            </a:solidFill>
            <a:prstDash val="solid"/>
          </a:ln>
        </p:spPr>
        <p:txBody>
          <a:bodyPr/>
          <a:lstStyle/>
          <a:p>
            <a:endParaRPr lang="it-IT" dirty="0"/>
          </a:p>
        </p:txBody>
      </p:sp>
      <p:sp>
        <p:nvSpPr>
          <p:cNvPr id="14" name="connettore 1958"/>
          <p:cNvSpPr/>
          <p:nvPr/>
        </p:nvSpPr>
        <p:spPr>
          <a:xfrm>
            <a:off x="3108960" y="2286000"/>
            <a:ext cx="0" cy="402336"/>
          </a:xfrm>
          <a:prstGeom prst="line">
            <a:avLst/>
          </a:prstGeom>
          <a:noFill/>
          <a:ln w="12700">
            <a:solidFill>
              <a:schemeClr val="accent3"/>
            </a:solidFill>
            <a:prstDash val="solid"/>
          </a:ln>
        </p:spPr>
        <p:txBody>
          <a:bodyPr/>
          <a:lstStyle/>
          <a:p>
            <a:endParaRPr lang="it-IT" dirty="0"/>
          </a:p>
        </p:txBody>
      </p:sp>
      <p:sp>
        <p:nvSpPr>
          <p:cNvPr id="15" name="Text 12"/>
          <p:cNvSpPr txBox="1"/>
          <p:nvPr/>
        </p:nvSpPr>
        <p:spPr>
          <a:xfrm>
            <a:off x="2450592" y="1143000"/>
            <a:ext cx="1316736" cy="292608"/>
          </a:xfrm>
          <a:prstGeom prst="rect">
            <a:avLst/>
          </a:prstGeom>
          <a:noFill/>
          <a:ln/>
        </p:spPr>
        <p:txBody>
          <a:bodyPr wrap="square" lIns="0" tIns="0" rIns="0" bIns="0" rtlCol="0" anchor="t"/>
          <a:lstStyle/>
          <a:p>
            <a:pPr marL="0" indent="0" algn="ctr">
              <a:buNone/>
            </a:pPr>
            <a:r>
              <a:rPr lang="it-IT" sz="1400" b="1" dirty="0">
                <a:solidFill>
                  <a:schemeClr val="accent1"/>
                </a:solidFill>
              </a:rPr>
              <a:t>1958</a:t>
            </a:r>
            <a:endParaRPr lang="it-IT" sz="1400" dirty="0"/>
          </a:p>
        </p:txBody>
      </p:sp>
      <p:sp>
        <p:nvSpPr>
          <p:cNvPr id="16" name="Text 13"/>
          <p:cNvSpPr txBox="1"/>
          <p:nvPr/>
        </p:nvSpPr>
        <p:spPr>
          <a:xfrm>
            <a:off x="2450592" y="1435608"/>
            <a:ext cx="1316736" cy="822960"/>
          </a:xfrm>
          <a:prstGeom prst="rect">
            <a:avLst/>
          </a:prstGeom>
          <a:noFill/>
          <a:ln/>
        </p:spPr>
        <p:txBody>
          <a:bodyPr wrap="square" lIns="0" tIns="0" rIns="0" bIns="0" rtlCol="0" anchor="t"/>
          <a:lstStyle/>
          <a:p>
            <a:pPr marL="0" indent="0" algn="ctr">
              <a:buNone/>
            </a:pPr>
            <a:r>
              <a:rPr lang="it-IT" sz="1200" dirty="0" err="1">
                <a:solidFill>
                  <a:schemeClr val="tx2"/>
                </a:solidFill>
              </a:rPr>
              <a:t>Perceptron</a:t>
            </a:r>
            <a:r>
              <a:rPr lang="it-IT" sz="1200" dirty="0">
                <a:solidFill>
                  <a:schemeClr val="tx2"/>
                </a:solidFill>
              </a:rPr>
              <a:t>: primo neurone artificiale</a:t>
            </a:r>
            <a:endParaRPr lang="it-IT" sz="1200" dirty="0"/>
          </a:p>
        </p:txBody>
      </p:sp>
      <p:sp>
        <p:nvSpPr>
          <p:cNvPr id="17" name="tappa Anni '70-'80"/>
          <p:cNvSpPr/>
          <p:nvPr/>
        </p:nvSpPr>
        <p:spPr>
          <a:xfrm>
            <a:off x="3982212" y="2688336"/>
            <a:ext cx="201168" cy="201168"/>
          </a:xfrm>
          <a:prstGeom prst="ellipse">
            <a:avLst/>
          </a:prstGeom>
          <a:solidFill>
            <a:schemeClr val="bg1"/>
          </a:solidFill>
          <a:ln w="25400">
            <a:solidFill>
              <a:schemeClr val="accent1"/>
            </a:solidFill>
            <a:prstDash val="solid"/>
          </a:ln>
        </p:spPr>
        <p:txBody>
          <a:bodyPr/>
          <a:lstStyle/>
          <a:p>
            <a:endParaRPr lang="it-IT" dirty="0"/>
          </a:p>
        </p:txBody>
      </p:sp>
      <p:sp>
        <p:nvSpPr>
          <p:cNvPr id="18" name="connettore Anni '70-'80"/>
          <p:cNvSpPr/>
          <p:nvPr/>
        </p:nvSpPr>
        <p:spPr>
          <a:xfrm>
            <a:off x="4082796" y="2889504"/>
            <a:ext cx="0" cy="402336"/>
          </a:xfrm>
          <a:prstGeom prst="line">
            <a:avLst/>
          </a:prstGeom>
          <a:noFill/>
          <a:ln w="12700">
            <a:solidFill>
              <a:schemeClr val="accent3"/>
            </a:solidFill>
            <a:prstDash val="solid"/>
          </a:ln>
        </p:spPr>
        <p:txBody>
          <a:bodyPr/>
          <a:lstStyle/>
          <a:p>
            <a:endParaRPr lang="it-IT" dirty="0"/>
          </a:p>
        </p:txBody>
      </p:sp>
      <p:sp>
        <p:nvSpPr>
          <p:cNvPr id="19" name="Text 16"/>
          <p:cNvSpPr txBox="1"/>
          <p:nvPr/>
        </p:nvSpPr>
        <p:spPr>
          <a:xfrm>
            <a:off x="3424428" y="3337560"/>
            <a:ext cx="1316736" cy="292608"/>
          </a:xfrm>
          <a:prstGeom prst="rect">
            <a:avLst/>
          </a:prstGeom>
          <a:noFill/>
          <a:ln/>
        </p:spPr>
        <p:txBody>
          <a:bodyPr wrap="square" lIns="0" tIns="0" rIns="0" bIns="0" rtlCol="0" anchor="t"/>
          <a:lstStyle/>
          <a:p>
            <a:pPr marL="0" indent="0" algn="ctr">
              <a:buNone/>
            </a:pPr>
            <a:r>
              <a:rPr lang="it-IT" sz="1400" b="1" dirty="0">
                <a:solidFill>
                  <a:schemeClr val="accent1"/>
                </a:solidFill>
              </a:rPr>
              <a:t>Anni '70-'80</a:t>
            </a:r>
            <a:endParaRPr lang="it-IT" sz="1400" dirty="0"/>
          </a:p>
        </p:txBody>
      </p:sp>
      <p:sp>
        <p:nvSpPr>
          <p:cNvPr id="20" name="Text 17"/>
          <p:cNvSpPr txBox="1"/>
          <p:nvPr/>
        </p:nvSpPr>
        <p:spPr>
          <a:xfrm>
            <a:off x="3424428" y="3630168"/>
            <a:ext cx="1316736" cy="822960"/>
          </a:xfrm>
          <a:prstGeom prst="rect">
            <a:avLst/>
          </a:prstGeom>
          <a:noFill/>
          <a:ln/>
        </p:spPr>
        <p:txBody>
          <a:bodyPr wrap="square" lIns="0" tIns="0" rIns="0" bIns="0" rtlCol="0" anchor="t"/>
          <a:lstStyle/>
          <a:p>
            <a:pPr marL="0" indent="0" algn="ctr">
              <a:buNone/>
            </a:pPr>
            <a:r>
              <a:rPr lang="it-IT" sz="1200" dirty="0">
                <a:solidFill>
                  <a:schemeClr val="tx2"/>
                </a:solidFill>
              </a:rPr>
              <a:t>Diffusione dei sistemi esperti</a:t>
            </a:r>
            <a:endParaRPr lang="it-IT" sz="1200" dirty="0"/>
          </a:p>
        </p:txBody>
      </p:sp>
      <p:sp>
        <p:nvSpPr>
          <p:cNvPr id="21" name="tappa 1997"/>
          <p:cNvSpPr/>
          <p:nvPr/>
        </p:nvSpPr>
        <p:spPr>
          <a:xfrm>
            <a:off x="4956048" y="2688336"/>
            <a:ext cx="201168" cy="201168"/>
          </a:xfrm>
          <a:prstGeom prst="ellipse">
            <a:avLst/>
          </a:prstGeom>
          <a:solidFill>
            <a:schemeClr val="bg1"/>
          </a:solidFill>
          <a:ln w="25400">
            <a:solidFill>
              <a:schemeClr val="accent1"/>
            </a:solidFill>
            <a:prstDash val="solid"/>
          </a:ln>
        </p:spPr>
        <p:txBody>
          <a:bodyPr/>
          <a:lstStyle/>
          <a:p>
            <a:endParaRPr lang="it-IT" dirty="0"/>
          </a:p>
        </p:txBody>
      </p:sp>
      <p:sp>
        <p:nvSpPr>
          <p:cNvPr id="22" name="connettore 1997"/>
          <p:cNvSpPr/>
          <p:nvPr/>
        </p:nvSpPr>
        <p:spPr>
          <a:xfrm>
            <a:off x="5056632" y="2286000"/>
            <a:ext cx="0" cy="402336"/>
          </a:xfrm>
          <a:prstGeom prst="line">
            <a:avLst/>
          </a:prstGeom>
          <a:noFill/>
          <a:ln w="12700">
            <a:solidFill>
              <a:schemeClr val="accent3"/>
            </a:solidFill>
            <a:prstDash val="solid"/>
          </a:ln>
        </p:spPr>
        <p:txBody>
          <a:bodyPr/>
          <a:lstStyle/>
          <a:p>
            <a:endParaRPr lang="it-IT" dirty="0"/>
          </a:p>
        </p:txBody>
      </p:sp>
      <p:sp>
        <p:nvSpPr>
          <p:cNvPr id="23" name="Text 20"/>
          <p:cNvSpPr txBox="1"/>
          <p:nvPr/>
        </p:nvSpPr>
        <p:spPr>
          <a:xfrm>
            <a:off x="4398264" y="1143000"/>
            <a:ext cx="1316736" cy="292608"/>
          </a:xfrm>
          <a:prstGeom prst="rect">
            <a:avLst/>
          </a:prstGeom>
          <a:noFill/>
          <a:ln/>
        </p:spPr>
        <p:txBody>
          <a:bodyPr wrap="square" lIns="0" tIns="0" rIns="0" bIns="0" rtlCol="0" anchor="t"/>
          <a:lstStyle/>
          <a:p>
            <a:pPr marL="0" indent="0" algn="ctr">
              <a:buNone/>
            </a:pPr>
            <a:r>
              <a:rPr lang="it-IT" sz="1400" b="1" dirty="0">
                <a:solidFill>
                  <a:schemeClr val="accent1"/>
                </a:solidFill>
              </a:rPr>
              <a:t>1997</a:t>
            </a:r>
            <a:endParaRPr lang="it-IT" sz="1400" dirty="0"/>
          </a:p>
        </p:txBody>
      </p:sp>
      <p:sp>
        <p:nvSpPr>
          <p:cNvPr id="24" name="Text 21"/>
          <p:cNvSpPr txBox="1"/>
          <p:nvPr/>
        </p:nvSpPr>
        <p:spPr>
          <a:xfrm>
            <a:off x="4398264" y="1435608"/>
            <a:ext cx="1316736" cy="822960"/>
          </a:xfrm>
          <a:prstGeom prst="rect">
            <a:avLst/>
          </a:prstGeom>
          <a:noFill/>
          <a:ln/>
        </p:spPr>
        <p:txBody>
          <a:bodyPr wrap="square" lIns="0" tIns="0" rIns="0" bIns="0" rtlCol="0" anchor="t"/>
          <a:lstStyle/>
          <a:p>
            <a:pPr marL="0" indent="0" algn="ctr">
              <a:buNone/>
            </a:pPr>
            <a:r>
              <a:rPr lang="it-IT" sz="1200" dirty="0">
                <a:solidFill>
                  <a:schemeClr val="tx2"/>
                </a:solidFill>
              </a:rPr>
              <a:t>Deep Blue batte Kasparov a scacchi</a:t>
            </a:r>
            <a:endParaRPr lang="it-IT" sz="1200" dirty="0"/>
          </a:p>
        </p:txBody>
      </p:sp>
      <p:sp>
        <p:nvSpPr>
          <p:cNvPr id="25" name="tappa 2012"/>
          <p:cNvSpPr/>
          <p:nvPr/>
        </p:nvSpPr>
        <p:spPr>
          <a:xfrm>
            <a:off x="5929884" y="2688336"/>
            <a:ext cx="201168" cy="201168"/>
          </a:xfrm>
          <a:prstGeom prst="ellipse">
            <a:avLst/>
          </a:prstGeom>
          <a:solidFill>
            <a:schemeClr val="bg1"/>
          </a:solidFill>
          <a:ln w="25400">
            <a:solidFill>
              <a:schemeClr val="accent1"/>
            </a:solidFill>
            <a:prstDash val="solid"/>
          </a:ln>
        </p:spPr>
        <p:txBody>
          <a:bodyPr/>
          <a:lstStyle/>
          <a:p>
            <a:endParaRPr lang="it-IT" dirty="0"/>
          </a:p>
        </p:txBody>
      </p:sp>
      <p:sp>
        <p:nvSpPr>
          <p:cNvPr id="26" name="connettore 2012"/>
          <p:cNvSpPr/>
          <p:nvPr/>
        </p:nvSpPr>
        <p:spPr>
          <a:xfrm>
            <a:off x="6030468" y="2889504"/>
            <a:ext cx="0" cy="402336"/>
          </a:xfrm>
          <a:prstGeom prst="line">
            <a:avLst/>
          </a:prstGeom>
          <a:noFill/>
          <a:ln w="12700">
            <a:solidFill>
              <a:schemeClr val="accent3"/>
            </a:solidFill>
            <a:prstDash val="solid"/>
          </a:ln>
        </p:spPr>
        <p:txBody>
          <a:bodyPr/>
          <a:lstStyle/>
          <a:p>
            <a:endParaRPr lang="it-IT" dirty="0"/>
          </a:p>
        </p:txBody>
      </p:sp>
      <p:sp>
        <p:nvSpPr>
          <p:cNvPr id="27" name="Text 24"/>
          <p:cNvSpPr txBox="1"/>
          <p:nvPr/>
        </p:nvSpPr>
        <p:spPr>
          <a:xfrm>
            <a:off x="5372100" y="3337560"/>
            <a:ext cx="1316736" cy="292608"/>
          </a:xfrm>
          <a:prstGeom prst="rect">
            <a:avLst/>
          </a:prstGeom>
          <a:noFill/>
          <a:ln/>
        </p:spPr>
        <p:txBody>
          <a:bodyPr wrap="square" lIns="0" tIns="0" rIns="0" bIns="0" rtlCol="0" anchor="t"/>
          <a:lstStyle/>
          <a:p>
            <a:pPr marL="0" indent="0" algn="ctr">
              <a:buNone/>
            </a:pPr>
            <a:r>
              <a:rPr lang="it-IT" sz="1400" b="1" dirty="0">
                <a:solidFill>
                  <a:schemeClr val="accent1"/>
                </a:solidFill>
              </a:rPr>
              <a:t>2012</a:t>
            </a:r>
            <a:endParaRPr lang="it-IT" sz="1400" dirty="0"/>
          </a:p>
        </p:txBody>
      </p:sp>
      <p:sp>
        <p:nvSpPr>
          <p:cNvPr id="28" name="Text 25"/>
          <p:cNvSpPr txBox="1"/>
          <p:nvPr/>
        </p:nvSpPr>
        <p:spPr>
          <a:xfrm>
            <a:off x="5372100" y="3630168"/>
            <a:ext cx="1316736" cy="822960"/>
          </a:xfrm>
          <a:prstGeom prst="rect">
            <a:avLst/>
          </a:prstGeom>
          <a:noFill/>
          <a:ln/>
        </p:spPr>
        <p:txBody>
          <a:bodyPr wrap="square" lIns="0" tIns="0" rIns="0" bIns="0" rtlCol="0" anchor="t"/>
          <a:lstStyle/>
          <a:p>
            <a:pPr marL="0" indent="0" algn="ctr">
              <a:buNone/>
            </a:pPr>
            <a:r>
              <a:rPr lang="it-IT" sz="1200" dirty="0" err="1">
                <a:solidFill>
                  <a:schemeClr val="tx2"/>
                </a:solidFill>
              </a:rPr>
              <a:t>AlexNet</a:t>
            </a:r>
            <a:endParaRPr lang="it-IT" sz="1200" dirty="0"/>
          </a:p>
        </p:txBody>
      </p:sp>
      <p:sp>
        <p:nvSpPr>
          <p:cNvPr id="29" name="tappa 2017"/>
          <p:cNvSpPr/>
          <p:nvPr/>
        </p:nvSpPr>
        <p:spPr>
          <a:xfrm>
            <a:off x="6903720" y="2688336"/>
            <a:ext cx="201168" cy="201168"/>
          </a:xfrm>
          <a:prstGeom prst="ellipse">
            <a:avLst/>
          </a:prstGeom>
          <a:solidFill>
            <a:schemeClr val="bg1"/>
          </a:solidFill>
          <a:ln w="25400">
            <a:solidFill>
              <a:schemeClr val="accent1"/>
            </a:solidFill>
            <a:prstDash val="solid"/>
          </a:ln>
        </p:spPr>
        <p:txBody>
          <a:bodyPr/>
          <a:lstStyle/>
          <a:p>
            <a:endParaRPr lang="it-IT" dirty="0"/>
          </a:p>
        </p:txBody>
      </p:sp>
      <p:sp>
        <p:nvSpPr>
          <p:cNvPr id="30" name="connettore 2017"/>
          <p:cNvSpPr/>
          <p:nvPr/>
        </p:nvSpPr>
        <p:spPr>
          <a:xfrm>
            <a:off x="7004304" y="2286000"/>
            <a:ext cx="0" cy="402336"/>
          </a:xfrm>
          <a:prstGeom prst="line">
            <a:avLst/>
          </a:prstGeom>
          <a:noFill/>
          <a:ln w="12700">
            <a:solidFill>
              <a:schemeClr val="accent3"/>
            </a:solidFill>
            <a:prstDash val="solid"/>
          </a:ln>
        </p:spPr>
        <p:txBody>
          <a:bodyPr/>
          <a:lstStyle/>
          <a:p>
            <a:endParaRPr lang="it-IT" dirty="0"/>
          </a:p>
        </p:txBody>
      </p:sp>
      <p:sp>
        <p:nvSpPr>
          <p:cNvPr id="31" name="Text 28"/>
          <p:cNvSpPr txBox="1"/>
          <p:nvPr/>
        </p:nvSpPr>
        <p:spPr>
          <a:xfrm>
            <a:off x="6345936" y="1143000"/>
            <a:ext cx="1316736" cy="292608"/>
          </a:xfrm>
          <a:prstGeom prst="rect">
            <a:avLst/>
          </a:prstGeom>
          <a:noFill/>
          <a:ln/>
        </p:spPr>
        <p:txBody>
          <a:bodyPr wrap="square" lIns="0" tIns="0" rIns="0" bIns="0" rtlCol="0" anchor="t"/>
          <a:lstStyle/>
          <a:p>
            <a:pPr marL="0" indent="0" algn="ctr">
              <a:buNone/>
            </a:pPr>
            <a:r>
              <a:rPr lang="it-IT" sz="1400" b="1" dirty="0">
                <a:solidFill>
                  <a:schemeClr val="accent1"/>
                </a:solidFill>
              </a:rPr>
              <a:t>2017</a:t>
            </a:r>
            <a:endParaRPr lang="it-IT" sz="1400" dirty="0"/>
          </a:p>
        </p:txBody>
      </p:sp>
      <p:sp>
        <p:nvSpPr>
          <p:cNvPr id="32" name="Text 29"/>
          <p:cNvSpPr txBox="1"/>
          <p:nvPr/>
        </p:nvSpPr>
        <p:spPr>
          <a:xfrm>
            <a:off x="6345936" y="1435608"/>
            <a:ext cx="1316736" cy="822960"/>
          </a:xfrm>
          <a:prstGeom prst="rect">
            <a:avLst/>
          </a:prstGeom>
          <a:noFill/>
          <a:ln/>
        </p:spPr>
        <p:txBody>
          <a:bodyPr wrap="square" lIns="0" tIns="0" rIns="0" bIns="0" rtlCol="0" anchor="t"/>
          <a:lstStyle/>
          <a:p>
            <a:pPr marL="0" indent="0" algn="ctr">
              <a:buNone/>
            </a:pPr>
            <a:r>
              <a:rPr lang="it-IT" sz="1200" dirty="0">
                <a:solidFill>
                  <a:schemeClr val="tx2"/>
                </a:solidFill>
              </a:rPr>
              <a:t>Architettura Transformer</a:t>
            </a:r>
            <a:endParaRPr lang="it-IT" sz="1200" dirty="0"/>
          </a:p>
        </p:txBody>
      </p:sp>
      <p:sp>
        <p:nvSpPr>
          <p:cNvPr id="33" name="tappa 2022"/>
          <p:cNvSpPr/>
          <p:nvPr/>
        </p:nvSpPr>
        <p:spPr>
          <a:xfrm>
            <a:off x="7877556" y="2688336"/>
            <a:ext cx="201168" cy="201168"/>
          </a:xfrm>
          <a:prstGeom prst="ellipse">
            <a:avLst/>
          </a:prstGeom>
          <a:solidFill>
            <a:schemeClr val="accent1"/>
          </a:solidFill>
          <a:ln w="25400">
            <a:solidFill>
              <a:schemeClr val="accent1"/>
            </a:solidFill>
            <a:prstDash val="solid"/>
          </a:ln>
        </p:spPr>
        <p:txBody>
          <a:bodyPr/>
          <a:lstStyle/>
          <a:p>
            <a:endParaRPr lang="it-IT" dirty="0"/>
          </a:p>
        </p:txBody>
      </p:sp>
      <p:sp>
        <p:nvSpPr>
          <p:cNvPr id="34" name="connettore 2022"/>
          <p:cNvSpPr/>
          <p:nvPr/>
        </p:nvSpPr>
        <p:spPr>
          <a:xfrm>
            <a:off x="7978140" y="2889504"/>
            <a:ext cx="0" cy="402336"/>
          </a:xfrm>
          <a:prstGeom prst="line">
            <a:avLst/>
          </a:prstGeom>
          <a:noFill/>
          <a:ln w="12700">
            <a:solidFill>
              <a:schemeClr val="accent3"/>
            </a:solidFill>
            <a:prstDash val="solid"/>
          </a:ln>
        </p:spPr>
        <p:txBody>
          <a:bodyPr/>
          <a:lstStyle/>
          <a:p>
            <a:endParaRPr lang="it-IT" dirty="0"/>
          </a:p>
        </p:txBody>
      </p:sp>
      <p:sp>
        <p:nvSpPr>
          <p:cNvPr id="35" name="Text 32"/>
          <p:cNvSpPr txBox="1"/>
          <p:nvPr/>
        </p:nvSpPr>
        <p:spPr>
          <a:xfrm>
            <a:off x="7319772" y="3337560"/>
            <a:ext cx="1316736" cy="292608"/>
          </a:xfrm>
          <a:prstGeom prst="rect">
            <a:avLst/>
          </a:prstGeom>
          <a:noFill/>
          <a:ln/>
        </p:spPr>
        <p:txBody>
          <a:bodyPr wrap="square" lIns="0" tIns="0" rIns="0" bIns="0" rtlCol="0" anchor="t"/>
          <a:lstStyle/>
          <a:p>
            <a:pPr marL="0" indent="0" algn="ctr">
              <a:buNone/>
            </a:pPr>
            <a:r>
              <a:rPr lang="it-IT" sz="1400" b="1" dirty="0">
                <a:solidFill>
                  <a:schemeClr val="accent1"/>
                </a:solidFill>
              </a:rPr>
              <a:t>2022</a:t>
            </a:r>
            <a:endParaRPr lang="it-IT" sz="1400" dirty="0"/>
          </a:p>
        </p:txBody>
      </p:sp>
      <p:sp>
        <p:nvSpPr>
          <p:cNvPr id="36" name="Text 33"/>
          <p:cNvSpPr txBox="1"/>
          <p:nvPr/>
        </p:nvSpPr>
        <p:spPr>
          <a:xfrm>
            <a:off x="7319772" y="3630168"/>
            <a:ext cx="1316736" cy="822960"/>
          </a:xfrm>
          <a:prstGeom prst="rect">
            <a:avLst/>
          </a:prstGeom>
          <a:noFill/>
          <a:ln/>
        </p:spPr>
        <p:txBody>
          <a:bodyPr wrap="square" lIns="0" tIns="0" rIns="0" bIns="0" rtlCol="0" anchor="t"/>
          <a:lstStyle/>
          <a:p>
            <a:pPr marL="0" indent="0" algn="ctr">
              <a:buNone/>
            </a:pPr>
            <a:r>
              <a:rPr lang="it-IT" sz="1200" dirty="0">
                <a:solidFill>
                  <a:schemeClr val="tx2"/>
                </a:solidFill>
              </a:rPr>
              <a:t>ChatGPT porta l'AI generativa al pubblico</a:t>
            </a:r>
            <a:endParaRPr lang="it-IT"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8</a:t>
            </a:fld>
            <a:endParaRPr lang="it-IT" dirty="0"/>
          </a:p>
        </p:txBody>
      </p:sp>
      <p:pic>
        <p:nvPicPr>
          <p:cNvPr id="38" name="Immagine 37" descr="Alexnet, The Ai Model That Started It All, Released In Source Code Form ...">
            <a:extLst>
              <a:ext uri="{FF2B5EF4-FFF2-40B4-BE49-F238E27FC236}">
                <a16:creationId xmlns:a16="http://schemas.microsoft.com/office/drawing/2014/main" id="{FAE4AE88-9140-C470-A636-AF0F3DB1B4DF}"/>
              </a:ext>
            </a:extLst>
          </p:cNvPr>
          <p:cNvPicPr>
            <a:picLocks noChangeAspect="1"/>
          </p:cNvPicPr>
          <p:nvPr/>
        </p:nvPicPr>
        <p:blipFill>
          <a:blip r:embed="rId3"/>
          <a:stretch>
            <a:fillRect/>
          </a:stretch>
        </p:blipFill>
        <p:spPr>
          <a:xfrm>
            <a:off x="5340401" y="3942127"/>
            <a:ext cx="1348435" cy="89611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Cinque fattori che si rafforzano a vicenda</a:t>
            </a:r>
            <a:endParaRPr lang="it-IT" sz="2600" dirty="0"/>
          </a:p>
        </p:txBody>
      </p:sp>
      <p:sp>
        <p:nvSpPr>
          <p:cNvPr id="4" name="fattore Potenza di calcolo"/>
          <p:cNvSpPr/>
          <p:nvPr/>
        </p:nvSpPr>
        <p:spPr>
          <a:xfrm>
            <a:off x="457200" y="1143000"/>
            <a:ext cx="1517904" cy="2331720"/>
          </a:xfrm>
          <a:prstGeom prst="roundRect">
            <a:avLst>
              <a:gd name="adj" fmla="val 4819"/>
            </a:avLst>
          </a:prstGeom>
          <a:solidFill>
            <a:schemeClr val="bg2"/>
          </a:solidFill>
          <a:ln/>
        </p:spPr>
        <p:txBody>
          <a:bodyPr/>
          <a:lstStyle/>
          <a:p>
            <a:endParaRPr lang="it-IT" dirty="0"/>
          </a:p>
        </p:txBody>
      </p:sp>
      <p:sp>
        <p:nvSpPr>
          <p:cNvPr id="5" name="cerchio FiCpu"/>
          <p:cNvSpPr/>
          <p:nvPr/>
        </p:nvSpPr>
        <p:spPr>
          <a:xfrm>
            <a:off x="941832" y="1325880"/>
            <a:ext cx="548640" cy="548640"/>
          </a:xfrm>
          <a:prstGeom prst="ellipse">
            <a:avLst/>
          </a:prstGeom>
          <a:solidFill>
            <a:schemeClr val="accent1"/>
          </a:solidFill>
          <a:ln/>
        </p:spPr>
        <p:txBody>
          <a:bodyPr/>
          <a:lstStyle/>
          <a:p>
            <a:endParaRPr lang="it-IT" dirty="0"/>
          </a:p>
        </p:txBody>
      </p:sp>
      <p:pic>
        <p:nvPicPr>
          <p:cNvPr id="6" name="Image 0" descr="FiCpu"/>
          <p:cNvPicPr>
            <a:picLocks noChangeAspect="1"/>
          </p:cNvPicPr>
          <p:nvPr/>
        </p:nvPicPr>
        <p:blipFill>
          <a:blip r:embed="rId3"/>
          <a:stretch>
            <a:fillRect/>
          </a:stretch>
        </p:blipFill>
        <p:spPr>
          <a:xfrm>
            <a:off x="1078992" y="1463040"/>
            <a:ext cx="274320" cy="274320"/>
          </a:xfrm>
          <a:prstGeom prst="rect">
            <a:avLst/>
          </a:prstGeom>
        </p:spPr>
      </p:pic>
      <p:sp>
        <p:nvSpPr>
          <p:cNvPr id="7" name="Text 3"/>
          <p:cNvSpPr txBox="1"/>
          <p:nvPr/>
        </p:nvSpPr>
        <p:spPr>
          <a:xfrm>
            <a:off x="548640" y="2011680"/>
            <a:ext cx="1335024" cy="594360"/>
          </a:xfrm>
          <a:prstGeom prst="rect">
            <a:avLst/>
          </a:prstGeom>
          <a:noFill/>
          <a:ln/>
        </p:spPr>
        <p:txBody>
          <a:bodyPr wrap="square" lIns="0" tIns="0" rIns="0" bIns="0" rtlCol="0" anchor="ctr"/>
          <a:lstStyle/>
          <a:p>
            <a:pPr marL="0" indent="0" algn="ctr">
              <a:buNone/>
            </a:pPr>
            <a:r>
              <a:rPr lang="it-IT" sz="1400" b="1" dirty="0">
                <a:solidFill>
                  <a:schemeClr val="tx1"/>
                </a:solidFill>
              </a:rPr>
              <a:t>Potenza di calcolo</a:t>
            </a:r>
            <a:endParaRPr lang="it-IT" sz="1400" dirty="0"/>
          </a:p>
        </p:txBody>
      </p:sp>
      <p:sp>
        <p:nvSpPr>
          <p:cNvPr id="8" name="Text 4"/>
          <p:cNvSpPr txBox="1"/>
          <p:nvPr/>
        </p:nvSpPr>
        <p:spPr>
          <a:xfrm>
            <a:off x="548640" y="2651760"/>
            <a:ext cx="1335024" cy="731520"/>
          </a:xfrm>
          <a:prstGeom prst="rect">
            <a:avLst/>
          </a:prstGeom>
          <a:noFill/>
          <a:ln/>
        </p:spPr>
        <p:txBody>
          <a:bodyPr wrap="square" lIns="0" tIns="0" rIns="0" bIns="0" rtlCol="0" anchor="t"/>
          <a:lstStyle/>
          <a:p>
            <a:pPr marL="0" indent="0" algn="ctr">
              <a:buNone/>
            </a:pPr>
            <a:r>
              <a:rPr lang="it-IT" sz="1200" dirty="0">
                <a:solidFill>
                  <a:schemeClr val="tx2"/>
                </a:solidFill>
              </a:rPr>
              <a:t>GPU, chip specializzati, cloud</a:t>
            </a:r>
            <a:endParaRPr lang="it-IT" sz="1200" dirty="0"/>
          </a:p>
        </p:txBody>
      </p:sp>
      <p:sp>
        <p:nvSpPr>
          <p:cNvPr id="9" name="fattore Dati"/>
          <p:cNvSpPr/>
          <p:nvPr/>
        </p:nvSpPr>
        <p:spPr>
          <a:xfrm>
            <a:off x="2139696" y="1143000"/>
            <a:ext cx="1517904" cy="2331720"/>
          </a:xfrm>
          <a:prstGeom prst="roundRect">
            <a:avLst>
              <a:gd name="adj" fmla="val 4819"/>
            </a:avLst>
          </a:prstGeom>
          <a:solidFill>
            <a:schemeClr val="bg2"/>
          </a:solidFill>
          <a:ln/>
        </p:spPr>
        <p:txBody>
          <a:bodyPr/>
          <a:lstStyle/>
          <a:p>
            <a:endParaRPr lang="it-IT" dirty="0"/>
          </a:p>
        </p:txBody>
      </p:sp>
      <p:sp>
        <p:nvSpPr>
          <p:cNvPr id="10" name="cerchio FiDatabase"/>
          <p:cNvSpPr/>
          <p:nvPr/>
        </p:nvSpPr>
        <p:spPr>
          <a:xfrm>
            <a:off x="2624328" y="1325880"/>
            <a:ext cx="548640" cy="548640"/>
          </a:xfrm>
          <a:prstGeom prst="ellipse">
            <a:avLst/>
          </a:prstGeom>
          <a:solidFill>
            <a:schemeClr val="accent1"/>
          </a:solidFill>
          <a:ln/>
        </p:spPr>
        <p:txBody>
          <a:bodyPr/>
          <a:lstStyle/>
          <a:p>
            <a:endParaRPr lang="it-IT" dirty="0"/>
          </a:p>
        </p:txBody>
      </p:sp>
      <p:pic>
        <p:nvPicPr>
          <p:cNvPr id="11" name="Image 1" descr="FiDatabase"/>
          <p:cNvPicPr>
            <a:picLocks noChangeAspect="1"/>
          </p:cNvPicPr>
          <p:nvPr/>
        </p:nvPicPr>
        <p:blipFill>
          <a:blip r:embed="rId4"/>
          <a:stretch>
            <a:fillRect/>
          </a:stretch>
        </p:blipFill>
        <p:spPr>
          <a:xfrm>
            <a:off x="2761488" y="1463040"/>
            <a:ext cx="274320" cy="274320"/>
          </a:xfrm>
          <a:prstGeom prst="rect">
            <a:avLst/>
          </a:prstGeom>
        </p:spPr>
      </p:pic>
      <p:sp>
        <p:nvSpPr>
          <p:cNvPr id="12" name="Text 7"/>
          <p:cNvSpPr txBox="1"/>
          <p:nvPr/>
        </p:nvSpPr>
        <p:spPr>
          <a:xfrm>
            <a:off x="2231136" y="2011680"/>
            <a:ext cx="1335024" cy="594360"/>
          </a:xfrm>
          <a:prstGeom prst="rect">
            <a:avLst/>
          </a:prstGeom>
          <a:noFill/>
          <a:ln/>
        </p:spPr>
        <p:txBody>
          <a:bodyPr wrap="square" lIns="0" tIns="0" rIns="0" bIns="0" rtlCol="0" anchor="ctr"/>
          <a:lstStyle/>
          <a:p>
            <a:pPr marL="0" indent="0" algn="ctr">
              <a:buNone/>
            </a:pPr>
            <a:r>
              <a:rPr lang="it-IT" sz="1400" b="1" dirty="0">
                <a:solidFill>
                  <a:schemeClr val="tx1"/>
                </a:solidFill>
              </a:rPr>
              <a:t>Dati</a:t>
            </a:r>
            <a:endParaRPr lang="it-IT" sz="1400" dirty="0"/>
          </a:p>
        </p:txBody>
      </p:sp>
      <p:sp>
        <p:nvSpPr>
          <p:cNvPr id="13" name="Text 8"/>
          <p:cNvSpPr txBox="1"/>
          <p:nvPr/>
        </p:nvSpPr>
        <p:spPr>
          <a:xfrm>
            <a:off x="2231136" y="2651760"/>
            <a:ext cx="1335024" cy="731520"/>
          </a:xfrm>
          <a:prstGeom prst="rect">
            <a:avLst/>
          </a:prstGeom>
          <a:noFill/>
          <a:ln/>
        </p:spPr>
        <p:txBody>
          <a:bodyPr wrap="square" lIns="0" tIns="0" rIns="0" bIns="0" rtlCol="0" anchor="t"/>
          <a:lstStyle/>
          <a:p>
            <a:pPr marL="0" indent="0" algn="ctr">
              <a:buNone/>
            </a:pPr>
            <a:r>
              <a:rPr lang="it-IT" sz="1200" dirty="0">
                <a:solidFill>
                  <a:schemeClr val="tx2"/>
                </a:solidFill>
              </a:rPr>
              <a:t>Digitalizzazione e internet</a:t>
            </a:r>
            <a:endParaRPr lang="it-IT" sz="1200" dirty="0"/>
          </a:p>
        </p:txBody>
      </p:sp>
      <p:sp>
        <p:nvSpPr>
          <p:cNvPr id="14" name="fattore Algoritmi e architetture"/>
          <p:cNvSpPr/>
          <p:nvPr/>
        </p:nvSpPr>
        <p:spPr>
          <a:xfrm>
            <a:off x="3822192" y="1143000"/>
            <a:ext cx="1517904" cy="2331720"/>
          </a:xfrm>
          <a:prstGeom prst="roundRect">
            <a:avLst>
              <a:gd name="adj" fmla="val 4819"/>
            </a:avLst>
          </a:prstGeom>
          <a:solidFill>
            <a:schemeClr val="bg2"/>
          </a:solidFill>
          <a:ln/>
        </p:spPr>
        <p:txBody>
          <a:bodyPr/>
          <a:lstStyle/>
          <a:p>
            <a:endParaRPr lang="it-IT" dirty="0"/>
          </a:p>
        </p:txBody>
      </p:sp>
      <p:sp>
        <p:nvSpPr>
          <p:cNvPr id="15" name="cerchio FiGitBranch"/>
          <p:cNvSpPr/>
          <p:nvPr/>
        </p:nvSpPr>
        <p:spPr>
          <a:xfrm>
            <a:off x="4306824" y="1325880"/>
            <a:ext cx="548640" cy="548640"/>
          </a:xfrm>
          <a:prstGeom prst="ellipse">
            <a:avLst/>
          </a:prstGeom>
          <a:solidFill>
            <a:schemeClr val="accent1"/>
          </a:solidFill>
          <a:ln/>
        </p:spPr>
        <p:txBody>
          <a:bodyPr/>
          <a:lstStyle/>
          <a:p>
            <a:endParaRPr lang="it-IT" dirty="0"/>
          </a:p>
        </p:txBody>
      </p:sp>
      <p:pic>
        <p:nvPicPr>
          <p:cNvPr id="16" name="Image 2" descr="FiGitBranch"/>
          <p:cNvPicPr>
            <a:picLocks noChangeAspect="1"/>
          </p:cNvPicPr>
          <p:nvPr/>
        </p:nvPicPr>
        <p:blipFill>
          <a:blip r:embed="rId5"/>
          <a:stretch>
            <a:fillRect/>
          </a:stretch>
        </p:blipFill>
        <p:spPr>
          <a:xfrm>
            <a:off x="4443984" y="1463040"/>
            <a:ext cx="274320" cy="274320"/>
          </a:xfrm>
          <a:prstGeom prst="rect">
            <a:avLst/>
          </a:prstGeom>
        </p:spPr>
      </p:pic>
      <p:sp>
        <p:nvSpPr>
          <p:cNvPr id="17" name="Text 11"/>
          <p:cNvSpPr txBox="1"/>
          <p:nvPr/>
        </p:nvSpPr>
        <p:spPr>
          <a:xfrm>
            <a:off x="3913632" y="2011680"/>
            <a:ext cx="1335024" cy="594360"/>
          </a:xfrm>
          <a:prstGeom prst="rect">
            <a:avLst/>
          </a:prstGeom>
          <a:noFill/>
          <a:ln/>
        </p:spPr>
        <p:txBody>
          <a:bodyPr wrap="square" lIns="0" tIns="0" rIns="0" bIns="0" rtlCol="0" anchor="ctr"/>
          <a:lstStyle/>
          <a:p>
            <a:pPr marL="0" indent="0" algn="ctr">
              <a:buNone/>
            </a:pPr>
            <a:r>
              <a:rPr lang="it-IT" sz="1400" b="1" dirty="0">
                <a:solidFill>
                  <a:schemeClr val="tx1"/>
                </a:solidFill>
              </a:rPr>
              <a:t>Algoritmi e architetture</a:t>
            </a:r>
            <a:endParaRPr lang="it-IT" sz="1400" dirty="0"/>
          </a:p>
        </p:txBody>
      </p:sp>
      <p:sp>
        <p:nvSpPr>
          <p:cNvPr id="18" name="Text 12"/>
          <p:cNvSpPr txBox="1"/>
          <p:nvPr/>
        </p:nvSpPr>
        <p:spPr>
          <a:xfrm>
            <a:off x="3913632" y="2651760"/>
            <a:ext cx="1335024" cy="731520"/>
          </a:xfrm>
          <a:prstGeom prst="rect">
            <a:avLst/>
          </a:prstGeom>
          <a:noFill/>
          <a:ln/>
        </p:spPr>
        <p:txBody>
          <a:bodyPr wrap="square" lIns="0" tIns="0" rIns="0" bIns="0" rtlCol="0" anchor="t"/>
          <a:lstStyle/>
          <a:p>
            <a:pPr marL="0" indent="0" algn="ctr">
              <a:buNone/>
            </a:pPr>
            <a:r>
              <a:rPr lang="it-IT" sz="1200" dirty="0">
                <a:solidFill>
                  <a:schemeClr val="tx2"/>
                </a:solidFill>
              </a:rPr>
              <a:t>Deep learning, Transformer</a:t>
            </a:r>
            <a:endParaRPr lang="it-IT" sz="1200" dirty="0"/>
          </a:p>
        </p:txBody>
      </p:sp>
      <p:sp>
        <p:nvSpPr>
          <p:cNvPr id="19" name="fattore Modelli di grandi dimensioni"/>
          <p:cNvSpPr/>
          <p:nvPr/>
        </p:nvSpPr>
        <p:spPr>
          <a:xfrm>
            <a:off x="5504688" y="1143000"/>
            <a:ext cx="1517904" cy="2331720"/>
          </a:xfrm>
          <a:prstGeom prst="roundRect">
            <a:avLst>
              <a:gd name="adj" fmla="val 4819"/>
            </a:avLst>
          </a:prstGeom>
          <a:solidFill>
            <a:schemeClr val="bg2"/>
          </a:solidFill>
          <a:ln/>
        </p:spPr>
        <p:txBody>
          <a:bodyPr/>
          <a:lstStyle/>
          <a:p>
            <a:endParaRPr lang="it-IT" dirty="0"/>
          </a:p>
        </p:txBody>
      </p:sp>
      <p:sp>
        <p:nvSpPr>
          <p:cNvPr id="20" name="cerchio FiMaximize2"/>
          <p:cNvSpPr/>
          <p:nvPr/>
        </p:nvSpPr>
        <p:spPr>
          <a:xfrm>
            <a:off x="5989320" y="1325880"/>
            <a:ext cx="548640" cy="548640"/>
          </a:xfrm>
          <a:prstGeom prst="ellipse">
            <a:avLst/>
          </a:prstGeom>
          <a:solidFill>
            <a:schemeClr val="accent1"/>
          </a:solidFill>
          <a:ln/>
        </p:spPr>
        <p:txBody>
          <a:bodyPr/>
          <a:lstStyle/>
          <a:p>
            <a:endParaRPr lang="it-IT" dirty="0"/>
          </a:p>
        </p:txBody>
      </p:sp>
      <p:pic>
        <p:nvPicPr>
          <p:cNvPr id="21" name="Image 3" descr="FiMaximize2"/>
          <p:cNvPicPr>
            <a:picLocks noChangeAspect="1"/>
          </p:cNvPicPr>
          <p:nvPr/>
        </p:nvPicPr>
        <p:blipFill>
          <a:blip r:embed="rId6"/>
          <a:stretch>
            <a:fillRect/>
          </a:stretch>
        </p:blipFill>
        <p:spPr>
          <a:xfrm>
            <a:off x="6126480" y="1463040"/>
            <a:ext cx="274320" cy="274320"/>
          </a:xfrm>
          <a:prstGeom prst="rect">
            <a:avLst/>
          </a:prstGeom>
        </p:spPr>
      </p:pic>
      <p:sp>
        <p:nvSpPr>
          <p:cNvPr id="22" name="Text 15"/>
          <p:cNvSpPr txBox="1"/>
          <p:nvPr/>
        </p:nvSpPr>
        <p:spPr>
          <a:xfrm>
            <a:off x="5596128" y="2011680"/>
            <a:ext cx="1335024" cy="594360"/>
          </a:xfrm>
          <a:prstGeom prst="rect">
            <a:avLst/>
          </a:prstGeom>
          <a:noFill/>
          <a:ln/>
        </p:spPr>
        <p:txBody>
          <a:bodyPr wrap="square" lIns="0" tIns="0" rIns="0" bIns="0" rtlCol="0" anchor="ctr"/>
          <a:lstStyle/>
          <a:p>
            <a:pPr marL="0" indent="0" algn="ctr">
              <a:buNone/>
            </a:pPr>
            <a:r>
              <a:rPr lang="it-IT" sz="1400" b="1" dirty="0">
                <a:solidFill>
                  <a:schemeClr val="tx1"/>
                </a:solidFill>
              </a:rPr>
              <a:t>Modelli di grandi dimensioni</a:t>
            </a:r>
            <a:endParaRPr lang="it-IT" sz="1400" dirty="0"/>
          </a:p>
        </p:txBody>
      </p:sp>
      <p:sp>
        <p:nvSpPr>
          <p:cNvPr id="23" name="Text 16"/>
          <p:cNvSpPr txBox="1"/>
          <p:nvPr/>
        </p:nvSpPr>
        <p:spPr>
          <a:xfrm>
            <a:off x="5596128" y="2651760"/>
            <a:ext cx="1335024" cy="731520"/>
          </a:xfrm>
          <a:prstGeom prst="rect">
            <a:avLst/>
          </a:prstGeom>
          <a:noFill/>
          <a:ln/>
        </p:spPr>
        <p:txBody>
          <a:bodyPr wrap="square" lIns="0" tIns="0" rIns="0" bIns="0" rtlCol="0" anchor="t"/>
          <a:lstStyle/>
          <a:p>
            <a:pPr marL="0" indent="0" algn="ctr">
              <a:buNone/>
            </a:pPr>
            <a:r>
              <a:rPr lang="it-IT" sz="1200" dirty="0">
                <a:solidFill>
                  <a:schemeClr val="tx2"/>
                </a:solidFill>
              </a:rPr>
              <a:t>Più parametri, dati e calcolo</a:t>
            </a:r>
            <a:endParaRPr lang="it-IT" sz="1200" dirty="0"/>
          </a:p>
        </p:txBody>
      </p:sp>
      <p:sp>
        <p:nvSpPr>
          <p:cNvPr id="24" name="fattore Investimenti e infrastrutture"/>
          <p:cNvSpPr/>
          <p:nvPr/>
        </p:nvSpPr>
        <p:spPr>
          <a:xfrm>
            <a:off x="7187184" y="1143000"/>
            <a:ext cx="1517904" cy="2331720"/>
          </a:xfrm>
          <a:prstGeom prst="roundRect">
            <a:avLst>
              <a:gd name="adj" fmla="val 4819"/>
            </a:avLst>
          </a:prstGeom>
          <a:solidFill>
            <a:schemeClr val="bg2"/>
          </a:solidFill>
          <a:ln/>
        </p:spPr>
        <p:txBody>
          <a:bodyPr/>
          <a:lstStyle/>
          <a:p>
            <a:endParaRPr lang="it-IT" dirty="0"/>
          </a:p>
        </p:txBody>
      </p:sp>
      <p:sp>
        <p:nvSpPr>
          <p:cNvPr id="25" name="cerchio FiServer"/>
          <p:cNvSpPr/>
          <p:nvPr/>
        </p:nvSpPr>
        <p:spPr>
          <a:xfrm>
            <a:off x="7671816" y="1325880"/>
            <a:ext cx="548640" cy="548640"/>
          </a:xfrm>
          <a:prstGeom prst="ellipse">
            <a:avLst/>
          </a:prstGeom>
          <a:solidFill>
            <a:schemeClr val="accent1"/>
          </a:solidFill>
          <a:ln/>
        </p:spPr>
        <p:txBody>
          <a:bodyPr/>
          <a:lstStyle/>
          <a:p>
            <a:endParaRPr lang="it-IT" dirty="0"/>
          </a:p>
        </p:txBody>
      </p:sp>
      <p:pic>
        <p:nvPicPr>
          <p:cNvPr id="26" name="Image 4" descr="FiServer"/>
          <p:cNvPicPr>
            <a:picLocks noChangeAspect="1"/>
          </p:cNvPicPr>
          <p:nvPr/>
        </p:nvPicPr>
        <p:blipFill>
          <a:blip r:embed="rId7"/>
          <a:stretch>
            <a:fillRect/>
          </a:stretch>
        </p:blipFill>
        <p:spPr>
          <a:xfrm>
            <a:off x="7808976" y="1463040"/>
            <a:ext cx="274320" cy="274320"/>
          </a:xfrm>
          <a:prstGeom prst="rect">
            <a:avLst/>
          </a:prstGeom>
        </p:spPr>
      </p:pic>
      <p:sp>
        <p:nvSpPr>
          <p:cNvPr id="27" name="Text 19"/>
          <p:cNvSpPr txBox="1"/>
          <p:nvPr/>
        </p:nvSpPr>
        <p:spPr>
          <a:xfrm>
            <a:off x="7278624" y="2011680"/>
            <a:ext cx="1335024" cy="594360"/>
          </a:xfrm>
          <a:prstGeom prst="rect">
            <a:avLst/>
          </a:prstGeom>
          <a:noFill/>
          <a:ln/>
        </p:spPr>
        <p:txBody>
          <a:bodyPr wrap="square" lIns="0" tIns="0" rIns="0" bIns="0" rtlCol="0" anchor="ctr"/>
          <a:lstStyle/>
          <a:p>
            <a:pPr marL="0" indent="0" algn="ctr">
              <a:buNone/>
            </a:pPr>
            <a:r>
              <a:rPr lang="it-IT" sz="1400" b="1" dirty="0">
                <a:solidFill>
                  <a:schemeClr val="tx1"/>
                </a:solidFill>
              </a:rPr>
              <a:t>Investimenti e infrastrutture</a:t>
            </a:r>
            <a:endParaRPr lang="it-IT" sz="1400" dirty="0"/>
          </a:p>
        </p:txBody>
      </p:sp>
      <p:sp>
        <p:nvSpPr>
          <p:cNvPr id="28" name="Text 20"/>
          <p:cNvSpPr txBox="1"/>
          <p:nvPr/>
        </p:nvSpPr>
        <p:spPr>
          <a:xfrm>
            <a:off x="7278624" y="2651760"/>
            <a:ext cx="1335024" cy="731520"/>
          </a:xfrm>
          <a:prstGeom prst="rect">
            <a:avLst/>
          </a:prstGeom>
          <a:noFill/>
          <a:ln/>
        </p:spPr>
        <p:txBody>
          <a:bodyPr wrap="square" lIns="0" tIns="0" rIns="0" bIns="0" rtlCol="0" anchor="t"/>
          <a:lstStyle/>
          <a:p>
            <a:pPr marL="0" indent="0" algn="ctr">
              <a:buNone/>
            </a:pPr>
            <a:r>
              <a:rPr lang="it-IT" sz="1200" dirty="0">
                <a:solidFill>
                  <a:schemeClr val="tx2"/>
                </a:solidFill>
              </a:rPr>
              <a:t>Capitali, data center, ecosistemi</a:t>
            </a:r>
            <a:endParaRPr lang="it-IT" sz="1200" dirty="0"/>
          </a:p>
        </p:txBody>
      </p:sp>
      <p:sp>
        <p:nvSpPr>
          <p:cNvPr id="29" name="sintesi convergenza"/>
          <p:cNvSpPr/>
          <p:nvPr/>
        </p:nvSpPr>
        <p:spPr>
          <a:xfrm>
            <a:off x="457200" y="3703320"/>
            <a:ext cx="8229600" cy="822960"/>
          </a:xfrm>
          <a:prstGeom prst="roundRect">
            <a:avLst>
              <a:gd name="adj" fmla="val 8889"/>
            </a:avLst>
          </a:prstGeom>
          <a:solidFill>
            <a:schemeClr val="accent6"/>
          </a:solidFill>
          <a:ln/>
        </p:spPr>
        <p:txBody>
          <a:bodyPr/>
          <a:lstStyle/>
          <a:p>
            <a:endParaRPr lang="it-IT" dirty="0"/>
          </a:p>
        </p:txBody>
      </p:sp>
      <p:sp>
        <p:nvSpPr>
          <p:cNvPr id="30" name="cerchio FiRefreshCw"/>
          <p:cNvSpPr/>
          <p:nvPr/>
        </p:nvSpPr>
        <p:spPr>
          <a:xfrm>
            <a:off x="640080" y="3858768"/>
            <a:ext cx="512064" cy="512064"/>
          </a:xfrm>
          <a:prstGeom prst="ellipse">
            <a:avLst/>
          </a:prstGeom>
          <a:solidFill>
            <a:schemeClr val="accent1"/>
          </a:solidFill>
          <a:ln/>
        </p:spPr>
        <p:txBody>
          <a:bodyPr/>
          <a:lstStyle/>
          <a:p>
            <a:endParaRPr lang="it-IT" dirty="0"/>
          </a:p>
        </p:txBody>
      </p:sp>
      <p:pic>
        <p:nvPicPr>
          <p:cNvPr id="31" name="Image 5" descr="FiRefreshCw"/>
          <p:cNvPicPr>
            <a:picLocks noChangeAspect="1"/>
          </p:cNvPicPr>
          <p:nvPr/>
        </p:nvPicPr>
        <p:blipFill>
          <a:blip r:embed="rId8"/>
          <a:stretch>
            <a:fillRect/>
          </a:stretch>
        </p:blipFill>
        <p:spPr>
          <a:xfrm>
            <a:off x="768096" y="3986784"/>
            <a:ext cx="256032" cy="256032"/>
          </a:xfrm>
          <a:prstGeom prst="rect">
            <a:avLst/>
          </a:prstGeom>
        </p:spPr>
      </p:pic>
      <p:sp>
        <p:nvSpPr>
          <p:cNvPr id="32" name="Text 23"/>
          <p:cNvSpPr txBox="1"/>
          <p:nvPr/>
        </p:nvSpPr>
        <p:spPr>
          <a:xfrm>
            <a:off x="1325880" y="3749040"/>
            <a:ext cx="7223760" cy="731520"/>
          </a:xfrm>
          <a:prstGeom prst="rect">
            <a:avLst/>
          </a:prstGeom>
          <a:noFill/>
          <a:ln/>
        </p:spPr>
        <p:txBody>
          <a:bodyPr wrap="square" lIns="0" tIns="0" rIns="0" bIns="0" rtlCol="0" anchor="ctr"/>
          <a:lstStyle/>
          <a:p>
            <a:pPr marL="0" indent="0">
              <a:buNone/>
            </a:pPr>
            <a:r>
              <a:rPr lang="it-IT" sz="1400" dirty="0">
                <a:solidFill>
                  <a:schemeClr val="tx1"/>
                </a:solidFill>
              </a:rPr>
              <a:t>Un circolo che si autoalimenta: più dati richiedono più calcolo, il calcolo permette modelli più grandi, i risultati attirano investimenti che finanziano nuovo calcolo.</a:t>
            </a:r>
            <a:endParaRPr lang="it-IT"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9</a:t>
            </a:fld>
            <a:endParaRPr lang="it-IT"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Investimenti e infrastrutture tecnologiche</a:t>
            </a:r>
            <a:endParaRPr lang="it-IT" sz="2600" dirty="0"/>
          </a:p>
        </p:txBody>
      </p:sp>
      <p:sp>
        <p:nvSpPr>
          <p:cNvPr id="4" name="livello Applicazioni e servizi"/>
          <p:cNvSpPr/>
          <p:nvPr/>
        </p:nvSpPr>
        <p:spPr>
          <a:xfrm>
            <a:off x="457200" y="1097280"/>
            <a:ext cx="4937760" cy="731520"/>
          </a:xfrm>
          <a:prstGeom prst="roundRect">
            <a:avLst>
              <a:gd name="adj" fmla="val 10000"/>
            </a:avLst>
          </a:prstGeom>
          <a:solidFill>
            <a:schemeClr val="accent1"/>
          </a:solidFill>
          <a:ln/>
        </p:spPr>
        <p:txBody>
          <a:bodyPr/>
          <a:lstStyle/>
          <a:p>
            <a:endParaRPr lang="it-IT" dirty="0"/>
          </a:p>
        </p:txBody>
      </p:sp>
      <p:sp>
        <p:nvSpPr>
          <p:cNvPr id="5" name="Text 2"/>
          <p:cNvSpPr txBox="1"/>
          <p:nvPr/>
        </p:nvSpPr>
        <p:spPr>
          <a:xfrm>
            <a:off x="457200" y="1097280"/>
            <a:ext cx="4937760" cy="731520"/>
          </a:xfrm>
          <a:prstGeom prst="rect">
            <a:avLst/>
          </a:prstGeom>
          <a:noFill/>
          <a:ln/>
        </p:spPr>
        <p:txBody>
          <a:bodyPr wrap="square" lIns="0" tIns="0" rIns="0" bIns="0" rtlCol="0" anchor="ctr"/>
          <a:lstStyle/>
          <a:p>
            <a:pPr marL="0" indent="0" algn="ctr">
              <a:buNone/>
            </a:pPr>
            <a:r>
              <a:rPr lang="it-IT" sz="1500" b="1" dirty="0">
                <a:solidFill>
                  <a:schemeClr val="bg1"/>
                </a:solidFill>
              </a:rPr>
              <a:t>Applicazioni e servizi</a:t>
            </a:r>
            <a:endParaRPr lang="it-IT" sz="1500" dirty="0"/>
          </a:p>
        </p:txBody>
      </p:sp>
      <p:sp>
        <p:nvSpPr>
          <p:cNvPr id="6" name="livello Modelli"/>
          <p:cNvSpPr/>
          <p:nvPr/>
        </p:nvSpPr>
        <p:spPr>
          <a:xfrm>
            <a:off x="685800" y="1965960"/>
            <a:ext cx="4480560" cy="731520"/>
          </a:xfrm>
          <a:prstGeom prst="roundRect">
            <a:avLst>
              <a:gd name="adj" fmla="val 10000"/>
            </a:avLst>
          </a:prstGeom>
          <a:solidFill>
            <a:schemeClr val="bg2"/>
          </a:solidFill>
          <a:ln/>
        </p:spPr>
        <p:txBody>
          <a:bodyPr/>
          <a:lstStyle/>
          <a:p>
            <a:endParaRPr lang="it-IT" dirty="0"/>
          </a:p>
        </p:txBody>
      </p:sp>
      <p:sp>
        <p:nvSpPr>
          <p:cNvPr id="7" name="Text 4"/>
          <p:cNvSpPr txBox="1"/>
          <p:nvPr/>
        </p:nvSpPr>
        <p:spPr>
          <a:xfrm>
            <a:off x="685800" y="1965960"/>
            <a:ext cx="4480560" cy="731520"/>
          </a:xfrm>
          <a:prstGeom prst="rect">
            <a:avLst/>
          </a:prstGeom>
          <a:noFill/>
          <a:ln/>
        </p:spPr>
        <p:txBody>
          <a:bodyPr wrap="square" lIns="0" tIns="0" rIns="0" bIns="0" rtlCol="0" anchor="ctr"/>
          <a:lstStyle/>
          <a:p>
            <a:pPr marL="0" indent="0" algn="ctr">
              <a:buNone/>
            </a:pPr>
            <a:r>
              <a:rPr lang="it-IT" sz="1500" b="1" dirty="0">
                <a:solidFill>
                  <a:schemeClr val="tx1"/>
                </a:solidFill>
              </a:rPr>
              <a:t>Modelli</a:t>
            </a:r>
            <a:endParaRPr lang="it-IT" sz="1500" dirty="0"/>
          </a:p>
        </p:txBody>
      </p:sp>
      <p:sp>
        <p:nvSpPr>
          <p:cNvPr id="8" name="livello Cloud e data center"/>
          <p:cNvSpPr/>
          <p:nvPr/>
        </p:nvSpPr>
        <p:spPr>
          <a:xfrm>
            <a:off x="914400" y="2834640"/>
            <a:ext cx="4023360" cy="731520"/>
          </a:xfrm>
          <a:prstGeom prst="roundRect">
            <a:avLst>
              <a:gd name="adj" fmla="val 10000"/>
            </a:avLst>
          </a:prstGeom>
          <a:solidFill>
            <a:schemeClr val="bg2"/>
          </a:solidFill>
          <a:ln/>
        </p:spPr>
        <p:txBody>
          <a:bodyPr/>
          <a:lstStyle/>
          <a:p>
            <a:endParaRPr lang="it-IT" dirty="0"/>
          </a:p>
        </p:txBody>
      </p:sp>
      <p:sp>
        <p:nvSpPr>
          <p:cNvPr id="9" name="Text 6"/>
          <p:cNvSpPr txBox="1"/>
          <p:nvPr/>
        </p:nvSpPr>
        <p:spPr>
          <a:xfrm>
            <a:off x="914400" y="2834640"/>
            <a:ext cx="4023360" cy="731520"/>
          </a:xfrm>
          <a:prstGeom prst="rect">
            <a:avLst/>
          </a:prstGeom>
          <a:noFill/>
          <a:ln/>
        </p:spPr>
        <p:txBody>
          <a:bodyPr wrap="square" lIns="0" tIns="0" rIns="0" bIns="0" rtlCol="0" anchor="ctr"/>
          <a:lstStyle/>
          <a:p>
            <a:pPr marL="0" indent="0" algn="ctr">
              <a:buNone/>
            </a:pPr>
            <a:r>
              <a:rPr lang="it-IT" sz="1500" b="1" dirty="0">
                <a:solidFill>
                  <a:schemeClr val="tx1"/>
                </a:solidFill>
              </a:rPr>
              <a:t>Cloud e data center</a:t>
            </a:r>
            <a:endParaRPr lang="it-IT" sz="1500" dirty="0"/>
          </a:p>
        </p:txBody>
      </p:sp>
      <p:sp>
        <p:nvSpPr>
          <p:cNvPr id="10" name="livello Chip ed energia"/>
          <p:cNvSpPr/>
          <p:nvPr/>
        </p:nvSpPr>
        <p:spPr>
          <a:xfrm>
            <a:off x="1143000" y="3703320"/>
            <a:ext cx="3566160" cy="731520"/>
          </a:xfrm>
          <a:prstGeom prst="roundRect">
            <a:avLst>
              <a:gd name="adj" fmla="val 10000"/>
            </a:avLst>
          </a:prstGeom>
          <a:solidFill>
            <a:schemeClr val="bg2"/>
          </a:solidFill>
          <a:ln/>
        </p:spPr>
        <p:txBody>
          <a:bodyPr/>
          <a:lstStyle/>
          <a:p>
            <a:endParaRPr lang="it-IT" dirty="0"/>
          </a:p>
        </p:txBody>
      </p:sp>
      <p:sp>
        <p:nvSpPr>
          <p:cNvPr id="11" name="Text 8"/>
          <p:cNvSpPr txBox="1"/>
          <p:nvPr/>
        </p:nvSpPr>
        <p:spPr>
          <a:xfrm>
            <a:off x="1143000" y="3703320"/>
            <a:ext cx="3566160" cy="731520"/>
          </a:xfrm>
          <a:prstGeom prst="rect">
            <a:avLst/>
          </a:prstGeom>
          <a:noFill/>
          <a:ln/>
        </p:spPr>
        <p:txBody>
          <a:bodyPr wrap="square" lIns="0" tIns="0" rIns="0" bIns="0" rtlCol="0" anchor="ctr"/>
          <a:lstStyle/>
          <a:p>
            <a:pPr marL="0" indent="0" algn="ctr">
              <a:buNone/>
            </a:pPr>
            <a:r>
              <a:rPr lang="it-IT" sz="1500" b="1" dirty="0">
                <a:solidFill>
                  <a:schemeClr val="tx1"/>
                </a:solidFill>
              </a:rPr>
              <a:t>Chip ed energia</a:t>
            </a:r>
            <a:endParaRPr lang="it-IT" sz="1500" dirty="0"/>
          </a:p>
        </p:txBody>
      </p:sp>
      <p:sp>
        <p:nvSpPr>
          <p:cNvPr id="12" name="Text 9"/>
          <p:cNvSpPr txBox="1"/>
          <p:nvPr/>
        </p:nvSpPr>
        <p:spPr>
          <a:xfrm>
            <a:off x="457200" y="4526280"/>
            <a:ext cx="4937760" cy="228600"/>
          </a:xfrm>
          <a:prstGeom prst="rect">
            <a:avLst/>
          </a:prstGeom>
          <a:noFill/>
          <a:ln/>
        </p:spPr>
        <p:txBody>
          <a:bodyPr wrap="square" lIns="0" tIns="0" rIns="0" bIns="0" rtlCol="0" anchor="t"/>
          <a:lstStyle/>
          <a:p>
            <a:pPr marL="0" indent="0" algn="ctr">
              <a:buNone/>
            </a:pPr>
            <a:r>
              <a:rPr lang="it-IT" sz="1000" dirty="0">
                <a:solidFill>
                  <a:schemeClr val="accent2"/>
                </a:solidFill>
              </a:rPr>
              <a:t>La filiera dell'AI</a:t>
            </a:r>
            <a:endParaRPr lang="it-IT" sz="1000" dirty="0"/>
          </a:p>
        </p:txBody>
      </p:sp>
      <p:sp>
        <p:nvSpPr>
          <p:cNvPr id="13" name="scheda Per le aziende utenti"/>
          <p:cNvSpPr/>
          <p:nvPr/>
        </p:nvSpPr>
        <p:spPr>
          <a:xfrm>
            <a:off x="5669280" y="1097280"/>
            <a:ext cx="3017520" cy="1691640"/>
          </a:xfrm>
          <a:prstGeom prst="roundRect">
            <a:avLst>
              <a:gd name="adj" fmla="val 4324"/>
            </a:avLst>
          </a:prstGeom>
          <a:solidFill>
            <a:schemeClr val="bg2"/>
          </a:solidFill>
          <a:ln/>
        </p:spPr>
        <p:txBody>
          <a:bodyPr/>
          <a:lstStyle/>
          <a:p>
            <a:endParaRPr lang="it-IT" dirty="0"/>
          </a:p>
        </p:txBody>
      </p:sp>
      <p:sp>
        <p:nvSpPr>
          <p:cNvPr id="14" name="cerchio FiBriefcase"/>
          <p:cNvSpPr/>
          <p:nvPr/>
        </p:nvSpPr>
        <p:spPr>
          <a:xfrm>
            <a:off x="5852160" y="1280160"/>
            <a:ext cx="457200" cy="457200"/>
          </a:xfrm>
          <a:prstGeom prst="ellipse">
            <a:avLst/>
          </a:prstGeom>
          <a:solidFill>
            <a:schemeClr val="accent1"/>
          </a:solidFill>
          <a:ln/>
        </p:spPr>
        <p:txBody>
          <a:bodyPr/>
          <a:lstStyle/>
          <a:p>
            <a:endParaRPr lang="it-IT" dirty="0"/>
          </a:p>
        </p:txBody>
      </p:sp>
      <p:pic>
        <p:nvPicPr>
          <p:cNvPr id="15" name="Image 0" descr="FiBriefcase"/>
          <p:cNvPicPr>
            <a:picLocks noChangeAspect="1"/>
          </p:cNvPicPr>
          <p:nvPr/>
        </p:nvPicPr>
        <p:blipFill>
          <a:blip r:embed="rId3"/>
          <a:stretch>
            <a:fillRect/>
          </a:stretch>
        </p:blipFill>
        <p:spPr>
          <a:xfrm>
            <a:off x="5966460" y="1394460"/>
            <a:ext cx="228600" cy="228600"/>
          </a:xfrm>
          <a:prstGeom prst="rect">
            <a:avLst/>
          </a:prstGeom>
        </p:spPr>
      </p:pic>
      <p:sp>
        <p:nvSpPr>
          <p:cNvPr id="16" name="Text 12"/>
          <p:cNvSpPr txBox="1"/>
          <p:nvPr/>
        </p:nvSpPr>
        <p:spPr>
          <a:xfrm>
            <a:off x="6446520" y="1280160"/>
            <a:ext cx="2057400" cy="457200"/>
          </a:xfrm>
          <a:prstGeom prst="rect">
            <a:avLst/>
          </a:prstGeom>
          <a:noFill/>
          <a:ln/>
        </p:spPr>
        <p:txBody>
          <a:bodyPr wrap="square" lIns="0" tIns="0" rIns="0" bIns="0" rtlCol="0" anchor="ctr"/>
          <a:lstStyle/>
          <a:p>
            <a:pPr marL="0" indent="0">
              <a:buNone/>
            </a:pPr>
            <a:r>
              <a:rPr lang="it-IT" sz="1500" b="1" dirty="0">
                <a:solidFill>
                  <a:schemeClr val="tx1"/>
                </a:solidFill>
              </a:rPr>
              <a:t>Per le aziende utenti</a:t>
            </a:r>
            <a:endParaRPr lang="it-IT" sz="1500" dirty="0"/>
          </a:p>
        </p:txBody>
      </p:sp>
      <p:sp>
        <p:nvSpPr>
          <p:cNvPr id="17" name="Text 13"/>
          <p:cNvSpPr txBox="1"/>
          <p:nvPr/>
        </p:nvSpPr>
        <p:spPr>
          <a:xfrm>
            <a:off x="5852160" y="1874520"/>
            <a:ext cx="2651760" cy="804672"/>
          </a:xfrm>
          <a:prstGeom prst="rect">
            <a:avLst/>
          </a:prstGeom>
          <a:noFill/>
          <a:ln/>
        </p:spPr>
        <p:txBody>
          <a:bodyPr wrap="square" lIns="0" tIns="0" rIns="0" bIns="0" rtlCol="0" anchor="t"/>
          <a:lstStyle/>
          <a:p>
            <a:pPr marL="0" indent="0">
              <a:buNone/>
            </a:pPr>
            <a:r>
              <a:rPr lang="it-IT" sz="1300" dirty="0">
                <a:solidFill>
                  <a:schemeClr val="tx2"/>
                </a:solidFill>
              </a:rPr>
              <a:t>Le capacità AI arrivano come servizi pronti: abbonamenti, funzioni integrate, API</a:t>
            </a:r>
            <a:endParaRPr lang="it-IT" sz="1300" dirty="0"/>
          </a:p>
        </p:txBody>
      </p:sp>
      <p:sp>
        <p:nvSpPr>
          <p:cNvPr id="18" name="scheda Costi e impatti"/>
          <p:cNvSpPr/>
          <p:nvPr/>
        </p:nvSpPr>
        <p:spPr>
          <a:xfrm>
            <a:off x="5669280" y="2926080"/>
            <a:ext cx="3017520" cy="1600200"/>
          </a:xfrm>
          <a:prstGeom prst="roundRect">
            <a:avLst>
              <a:gd name="adj" fmla="val 4571"/>
            </a:avLst>
          </a:prstGeom>
          <a:solidFill>
            <a:schemeClr val="bg2"/>
          </a:solidFill>
          <a:ln/>
        </p:spPr>
        <p:txBody>
          <a:bodyPr/>
          <a:lstStyle/>
          <a:p>
            <a:endParaRPr lang="it-IT" dirty="0"/>
          </a:p>
        </p:txBody>
      </p:sp>
      <p:sp>
        <p:nvSpPr>
          <p:cNvPr id="19" name="cerchio FiZap"/>
          <p:cNvSpPr/>
          <p:nvPr/>
        </p:nvSpPr>
        <p:spPr>
          <a:xfrm>
            <a:off x="5852160" y="3108960"/>
            <a:ext cx="457200" cy="457200"/>
          </a:xfrm>
          <a:prstGeom prst="ellipse">
            <a:avLst/>
          </a:prstGeom>
          <a:solidFill>
            <a:schemeClr val="accent1"/>
          </a:solidFill>
          <a:ln/>
        </p:spPr>
        <p:txBody>
          <a:bodyPr/>
          <a:lstStyle/>
          <a:p>
            <a:endParaRPr lang="it-IT" dirty="0"/>
          </a:p>
        </p:txBody>
      </p:sp>
      <p:pic>
        <p:nvPicPr>
          <p:cNvPr id="20" name="Image 1" descr="FiZap"/>
          <p:cNvPicPr>
            <a:picLocks noChangeAspect="1"/>
          </p:cNvPicPr>
          <p:nvPr/>
        </p:nvPicPr>
        <p:blipFill>
          <a:blip r:embed="rId4"/>
          <a:stretch>
            <a:fillRect/>
          </a:stretch>
        </p:blipFill>
        <p:spPr>
          <a:xfrm>
            <a:off x="5966460" y="3223260"/>
            <a:ext cx="228600" cy="228600"/>
          </a:xfrm>
          <a:prstGeom prst="rect">
            <a:avLst/>
          </a:prstGeom>
        </p:spPr>
      </p:pic>
      <p:sp>
        <p:nvSpPr>
          <p:cNvPr id="21" name="Text 16"/>
          <p:cNvSpPr txBox="1"/>
          <p:nvPr/>
        </p:nvSpPr>
        <p:spPr>
          <a:xfrm>
            <a:off x="6446520" y="3108960"/>
            <a:ext cx="2057400" cy="457200"/>
          </a:xfrm>
          <a:prstGeom prst="rect">
            <a:avLst/>
          </a:prstGeom>
          <a:noFill/>
          <a:ln/>
        </p:spPr>
        <p:txBody>
          <a:bodyPr wrap="square" lIns="0" tIns="0" rIns="0" bIns="0" rtlCol="0" anchor="ctr"/>
          <a:lstStyle/>
          <a:p>
            <a:pPr marL="0" indent="0">
              <a:buNone/>
            </a:pPr>
            <a:r>
              <a:rPr lang="it-IT" sz="1500" b="1" dirty="0">
                <a:solidFill>
                  <a:schemeClr val="tx1"/>
                </a:solidFill>
              </a:rPr>
              <a:t>Costi e impatti</a:t>
            </a:r>
            <a:endParaRPr lang="it-IT" sz="1500" dirty="0"/>
          </a:p>
        </p:txBody>
      </p:sp>
      <p:sp>
        <p:nvSpPr>
          <p:cNvPr id="22" name="Text 17"/>
          <p:cNvSpPr txBox="1"/>
          <p:nvPr/>
        </p:nvSpPr>
        <p:spPr>
          <a:xfrm>
            <a:off x="5852160" y="3703320"/>
            <a:ext cx="2651760" cy="713232"/>
          </a:xfrm>
          <a:prstGeom prst="rect">
            <a:avLst/>
          </a:prstGeom>
          <a:noFill/>
          <a:ln/>
        </p:spPr>
        <p:txBody>
          <a:bodyPr wrap="square" lIns="0" tIns="0" rIns="0" bIns="0" rtlCol="0" anchor="t"/>
          <a:lstStyle/>
          <a:p>
            <a:pPr marL="0" indent="0">
              <a:buNone/>
            </a:pPr>
            <a:r>
              <a:rPr lang="it-IT" sz="1300" dirty="0">
                <a:solidFill>
                  <a:schemeClr val="tx2"/>
                </a:solidFill>
              </a:rPr>
              <a:t>Infrastrutture costose ed energivore: un tema emergente da considerare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10</a:t>
            </a:fld>
            <a:endParaRPr lang="it-IT"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it-IT" sz="6000" b="1" dirty="0">
                <a:solidFill>
                  <a:schemeClr val="accent1"/>
                </a:solidFill>
              </a:rPr>
              <a:t>1.3</a:t>
            </a:r>
            <a:endParaRPr lang="it-IT"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it-IT" sz="3200" b="1" dirty="0">
                <a:solidFill>
                  <a:schemeClr val="bg1"/>
                </a:solidFill>
              </a:rPr>
              <a:t>La svolta dell'AI generativa</a:t>
            </a:r>
            <a:endParaRPr lang="it-IT"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it-IT" sz="1600" dirty="0">
                <a:solidFill>
                  <a:schemeClr val="accent3"/>
                </a:solidFill>
              </a:rPr>
              <a:t>Dall'AI che classifica e prevede all'AI che genera contenuti, usando il linguaggio naturale</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11</a:t>
            </a:fld>
            <a:endParaRPr lang="it-IT"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Dal classificare e prevedere al generare</a:t>
            </a:r>
            <a:endParaRPr lang="it-IT" sz="2600" dirty="0"/>
          </a:p>
        </p:txBody>
      </p:sp>
      <p:sp>
        <p:nvSpPr>
          <p:cNvPr id="4" name="scheda AI che classifica e prevede"/>
          <p:cNvSpPr/>
          <p:nvPr/>
        </p:nvSpPr>
        <p:spPr>
          <a:xfrm>
            <a:off x="457200" y="1097280"/>
            <a:ext cx="3931920" cy="3429000"/>
          </a:xfrm>
          <a:prstGeom prst="roundRect">
            <a:avLst>
              <a:gd name="adj" fmla="val 2133"/>
            </a:avLst>
          </a:prstGeom>
          <a:solidFill>
            <a:schemeClr val="bg2"/>
          </a:solidFill>
          <a:ln/>
        </p:spPr>
        <p:txBody>
          <a:bodyPr/>
          <a:lstStyle/>
          <a:p>
            <a:endParaRPr lang="it-IT" dirty="0"/>
          </a:p>
        </p:txBody>
      </p:sp>
      <p:sp>
        <p:nvSpPr>
          <p:cNvPr id="5" name="cerchio FiBarChart2"/>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BarChart2"/>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3566160" cy="347472"/>
          </a:xfrm>
          <a:prstGeom prst="rect">
            <a:avLst/>
          </a:prstGeom>
          <a:noFill/>
          <a:ln/>
        </p:spPr>
        <p:txBody>
          <a:bodyPr wrap="square" lIns="0" tIns="0" rIns="0" bIns="0" rtlCol="0" anchor="t"/>
          <a:lstStyle/>
          <a:p>
            <a:pPr marL="0" indent="0">
              <a:buNone/>
            </a:pPr>
            <a:r>
              <a:rPr lang="it-IT" sz="1600" b="1" dirty="0">
                <a:solidFill>
                  <a:schemeClr val="tx1"/>
                </a:solidFill>
              </a:rPr>
              <a:t>AI che classifica e prevede</a:t>
            </a:r>
            <a:endParaRPr lang="it-IT" sz="1600" dirty="0"/>
          </a:p>
        </p:txBody>
      </p:sp>
      <p:sp>
        <p:nvSpPr>
          <p:cNvPr id="8" name="Text 4"/>
          <p:cNvSpPr txBox="1"/>
          <p:nvPr/>
        </p:nvSpPr>
        <p:spPr>
          <a:xfrm>
            <a:off x="640080" y="2231136"/>
            <a:ext cx="3566160" cy="2185416"/>
          </a:xfrm>
          <a:prstGeom prst="rect">
            <a:avLst/>
          </a:prstGeom>
          <a:noFill/>
          <a:ln/>
        </p:spPr>
        <p:txBody>
          <a:bodyPr wrap="square" lIns="0" tIns="0" rIns="0" bIns="0" rtlCol="0" anchor="t"/>
          <a:lstStyle/>
          <a:p>
            <a:pPr marL="0" indent="0">
              <a:spcAft>
                <a:spcPts val="800"/>
              </a:spcAft>
              <a:buNone/>
            </a:pPr>
            <a:r>
              <a:rPr lang="it-IT" sz="1300" b="1" dirty="0">
                <a:solidFill>
                  <a:schemeClr val="tx2"/>
                </a:solidFill>
              </a:rPr>
              <a:t>Output: un'etichetta, un numero, una probabilità</a:t>
            </a:r>
            <a:endParaRPr lang="it-IT" sz="1300" dirty="0"/>
          </a:p>
          <a:p>
            <a:pPr marL="177800" indent="-177800">
              <a:spcAft>
                <a:spcPts val="300"/>
              </a:spcAft>
              <a:buSzPct val="100000"/>
              <a:buChar char="•"/>
            </a:pPr>
            <a:r>
              <a:rPr lang="it-IT" sz="1300" dirty="0">
                <a:solidFill>
                  <a:schemeClr val="tx2"/>
                </a:solidFill>
              </a:rPr>
              <a:t>Questa email è spam?</a:t>
            </a:r>
            <a:endParaRPr lang="it-IT" sz="1300" dirty="0"/>
          </a:p>
          <a:p>
            <a:pPr marL="177800" indent="-177800">
              <a:spcAft>
                <a:spcPts val="300"/>
              </a:spcAft>
              <a:buSzPct val="100000"/>
              <a:buChar char="•"/>
            </a:pPr>
            <a:r>
              <a:rPr lang="it-IT" sz="1300" dirty="0">
                <a:solidFill>
                  <a:schemeClr val="tx2"/>
                </a:solidFill>
              </a:rPr>
              <a:t>Questo pezzo è difettoso?</a:t>
            </a:r>
            <a:endParaRPr lang="it-IT" sz="1300" dirty="0"/>
          </a:p>
          <a:p>
            <a:pPr marL="177800" indent="-177800">
              <a:spcAft>
                <a:spcPts val="300"/>
              </a:spcAft>
              <a:buSzPct val="100000"/>
              <a:buChar char="•"/>
            </a:pPr>
            <a:r>
              <a:rPr lang="it-IT" sz="1300" dirty="0">
                <a:solidFill>
                  <a:schemeClr val="tx2"/>
                </a:solidFill>
              </a:rPr>
              <a:t>Quanto venderemo il mese prossimo?</a:t>
            </a:r>
            <a:endParaRPr lang="it-IT" sz="1300" dirty="0"/>
          </a:p>
          <a:p>
            <a:pPr marL="177800" indent="-177800">
              <a:spcAft>
                <a:spcPts val="300"/>
              </a:spcAft>
              <a:buSzPct val="100000"/>
              <a:buChar char="•"/>
            </a:pPr>
            <a:r>
              <a:rPr lang="it-IT" sz="1300" dirty="0">
                <a:solidFill>
                  <a:schemeClr val="tx2"/>
                </a:solidFill>
              </a:rPr>
              <a:t>Questo cliente rischia di abbandonarci?</a:t>
            </a:r>
            <a:endParaRPr lang="it-IT" sz="1300" dirty="0"/>
          </a:p>
        </p:txBody>
      </p:sp>
      <p:sp>
        <p:nvSpPr>
          <p:cNvPr id="9" name="freccia"/>
          <p:cNvSpPr/>
          <p:nvPr/>
        </p:nvSpPr>
        <p:spPr>
          <a:xfrm>
            <a:off x="4526280" y="2651760"/>
            <a:ext cx="502920" cy="292608"/>
          </a:xfrm>
          <a:prstGeom prst="rightArrow">
            <a:avLst/>
          </a:prstGeom>
          <a:solidFill>
            <a:schemeClr val="accent1"/>
          </a:solidFill>
          <a:ln/>
        </p:spPr>
        <p:txBody>
          <a:bodyPr/>
          <a:lstStyle/>
          <a:p>
            <a:endParaRPr lang="it-IT" dirty="0"/>
          </a:p>
        </p:txBody>
      </p:sp>
      <p:sp>
        <p:nvSpPr>
          <p:cNvPr id="10" name="scheda AI che genera"/>
          <p:cNvSpPr/>
          <p:nvPr/>
        </p:nvSpPr>
        <p:spPr>
          <a:xfrm>
            <a:off x="5166360" y="1097280"/>
            <a:ext cx="3520440" cy="3429000"/>
          </a:xfrm>
          <a:prstGeom prst="roundRect">
            <a:avLst>
              <a:gd name="adj" fmla="val 2133"/>
            </a:avLst>
          </a:prstGeom>
          <a:solidFill>
            <a:schemeClr val="accent6"/>
          </a:solidFill>
          <a:ln/>
        </p:spPr>
        <p:txBody>
          <a:bodyPr/>
          <a:lstStyle/>
          <a:p>
            <a:endParaRPr lang="it-IT" dirty="0"/>
          </a:p>
        </p:txBody>
      </p:sp>
      <p:sp>
        <p:nvSpPr>
          <p:cNvPr id="11" name="cerchio FiEdit3"/>
          <p:cNvSpPr/>
          <p:nvPr/>
        </p:nvSpPr>
        <p:spPr>
          <a:xfrm>
            <a:off x="5349240" y="1280160"/>
            <a:ext cx="457200" cy="457200"/>
          </a:xfrm>
          <a:prstGeom prst="ellipse">
            <a:avLst/>
          </a:prstGeom>
          <a:solidFill>
            <a:schemeClr val="accent1"/>
          </a:solidFill>
          <a:ln/>
        </p:spPr>
        <p:txBody>
          <a:bodyPr/>
          <a:lstStyle/>
          <a:p>
            <a:endParaRPr lang="it-IT" dirty="0"/>
          </a:p>
        </p:txBody>
      </p:sp>
      <p:pic>
        <p:nvPicPr>
          <p:cNvPr id="12" name="Image 1" descr="FiEdit3"/>
          <p:cNvPicPr>
            <a:picLocks noChangeAspect="1"/>
          </p:cNvPicPr>
          <p:nvPr/>
        </p:nvPicPr>
        <p:blipFill>
          <a:blip r:embed="rId4"/>
          <a:stretch>
            <a:fillRect/>
          </a:stretch>
        </p:blipFill>
        <p:spPr>
          <a:xfrm>
            <a:off x="5463540" y="1394460"/>
            <a:ext cx="228600" cy="228600"/>
          </a:xfrm>
          <a:prstGeom prst="rect">
            <a:avLst/>
          </a:prstGeom>
        </p:spPr>
      </p:pic>
      <p:sp>
        <p:nvSpPr>
          <p:cNvPr id="13" name="Text 8"/>
          <p:cNvSpPr txBox="1"/>
          <p:nvPr/>
        </p:nvSpPr>
        <p:spPr>
          <a:xfrm>
            <a:off x="5349240" y="1847088"/>
            <a:ext cx="3154680" cy="347472"/>
          </a:xfrm>
          <a:prstGeom prst="rect">
            <a:avLst/>
          </a:prstGeom>
          <a:noFill/>
          <a:ln/>
        </p:spPr>
        <p:txBody>
          <a:bodyPr wrap="square" lIns="0" tIns="0" rIns="0" bIns="0" rtlCol="0" anchor="t"/>
          <a:lstStyle/>
          <a:p>
            <a:pPr marL="0" indent="0">
              <a:buNone/>
            </a:pPr>
            <a:r>
              <a:rPr lang="it-IT" sz="1600" b="1" dirty="0">
                <a:solidFill>
                  <a:schemeClr val="tx1"/>
                </a:solidFill>
              </a:rPr>
              <a:t>AI che genera</a:t>
            </a:r>
            <a:endParaRPr lang="it-IT" sz="1600" dirty="0"/>
          </a:p>
        </p:txBody>
      </p:sp>
      <p:sp>
        <p:nvSpPr>
          <p:cNvPr id="14" name="Text 9"/>
          <p:cNvSpPr txBox="1"/>
          <p:nvPr/>
        </p:nvSpPr>
        <p:spPr>
          <a:xfrm>
            <a:off x="5349240" y="2231136"/>
            <a:ext cx="3154680" cy="2185416"/>
          </a:xfrm>
          <a:prstGeom prst="rect">
            <a:avLst/>
          </a:prstGeom>
          <a:noFill/>
          <a:ln/>
        </p:spPr>
        <p:txBody>
          <a:bodyPr wrap="square" lIns="0" tIns="0" rIns="0" bIns="0" rtlCol="0" anchor="t"/>
          <a:lstStyle/>
          <a:p>
            <a:pPr marL="0" indent="0">
              <a:spcAft>
                <a:spcPts val="800"/>
              </a:spcAft>
              <a:buNone/>
            </a:pPr>
            <a:r>
              <a:rPr lang="it-IT" sz="1300" b="1" dirty="0">
                <a:solidFill>
                  <a:schemeClr val="tx2"/>
                </a:solidFill>
              </a:rPr>
              <a:t>Output: un contenuto nuovo</a:t>
            </a:r>
            <a:endParaRPr lang="it-IT" sz="1300" dirty="0"/>
          </a:p>
          <a:p>
            <a:pPr marL="177800" indent="-177800">
              <a:spcAft>
                <a:spcPts val="300"/>
              </a:spcAft>
              <a:buSzPct val="100000"/>
              <a:buChar char="•"/>
            </a:pPr>
            <a:r>
              <a:rPr lang="it-IT" sz="1300" dirty="0">
                <a:solidFill>
                  <a:schemeClr val="tx2"/>
                </a:solidFill>
              </a:rPr>
              <a:t>Scrivi una bozza di risposta</a:t>
            </a:r>
            <a:endParaRPr lang="it-IT" sz="1300" dirty="0"/>
          </a:p>
          <a:p>
            <a:pPr marL="177800" indent="-177800">
              <a:spcAft>
                <a:spcPts val="300"/>
              </a:spcAft>
              <a:buSzPct val="100000"/>
              <a:buChar char="•"/>
            </a:pPr>
            <a:r>
              <a:rPr lang="it-IT" sz="1300" dirty="0">
                <a:solidFill>
                  <a:schemeClr val="tx2"/>
                </a:solidFill>
              </a:rPr>
              <a:t>Riassumi questo documento</a:t>
            </a:r>
            <a:endParaRPr lang="it-IT" sz="1300" dirty="0"/>
          </a:p>
          <a:p>
            <a:pPr marL="177800" indent="-177800">
              <a:spcAft>
                <a:spcPts val="300"/>
              </a:spcAft>
              <a:buSzPct val="100000"/>
              <a:buChar char="•"/>
            </a:pPr>
            <a:r>
              <a:rPr lang="it-IT" sz="1300" dirty="0">
                <a:solidFill>
                  <a:schemeClr val="tx2"/>
                </a:solidFill>
              </a:rPr>
              <a:t>Traduci questa offerta</a:t>
            </a:r>
            <a:endParaRPr lang="it-IT" sz="1300" dirty="0"/>
          </a:p>
          <a:p>
            <a:pPr marL="177800" indent="-177800">
              <a:spcAft>
                <a:spcPts val="300"/>
              </a:spcAft>
              <a:buSzPct val="100000"/>
              <a:buChar char="•"/>
            </a:pPr>
            <a:r>
              <a:rPr lang="it-IT" sz="1300" dirty="0">
                <a:solidFill>
                  <a:schemeClr val="tx2"/>
                </a:solidFill>
              </a:rPr>
              <a:t>Proponi tre titoli per l'articolo</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12</a:t>
            </a:fld>
            <a:endParaRPr lang="it-IT"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Il linguaggio naturale diventa l'interfaccia</a:t>
            </a:r>
            <a:endParaRPr lang="it-IT" sz="2600" dirty="0"/>
          </a:p>
        </p:txBody>
      </p:sp>
      <p:sp>
        <p:nvSpPr>
          <p:cNvPr id="4" name="Riga di comando"/>
          <p:cNvSpPr/>
          <p:nvPr/>
        </p:nvSpPr>
        <p:spPr>
          <a:xfrm>
            <a:off x="457200" y="1188720"/>
            <a:ext cx="1874520" cy="2377440"/>
          </a:xfrm>
          <a:prstGeom prst="roundRect">
            <a:avLst>
              <a:gd name="adj" fmla="val 3902"/>
            </a:avLst>
          </a:prstGeom>
          <a:solidFill>
            <a:schemeClr val="bg2"/>
          </a:solidFill>
          <a:ln/>
        </p:spPr>
        <p:txBody>
          <a:bodyPr/>
          <a:lstStyle/>
          <a:p>
            <a:endParaRPr lang="it-IT" dirty="0"/>
          </a:p>
        </p:txBody>
      </p:sp>
      <p:sp>
        <p:nvSpPr>
          <p:cNvPr id="5" name="cerchio FiTerminal"/>
          <p:cNvSpPr/>
          <p:nvPr/>
        </p:nvSpPr>
        <p:spPr>
          <a:xfrm>
            <a:off x="1115568" y="1371600"/>
            <a:ext cx="566928" cy="566928"/>
          </a:xfrm>
          <a:prstGeom prst="ellipse">
            <a:avLst/>
          </a:prstGeom>
          <a:solidFill>
            <a:schemeClr val="accent1"/>
          </a:solidFill>
          <a:ln/>
        </p:spPr>
        <p:txBody>
          <a:bodyPr/>
          <a:lstStyle/>
          <a:p>
            <a:endParaRPr lang="it-IT" dirty="0"/>
          </a:p>
        </p:txBody>
      </p:sp>
      <p:pic>
        <p:nvPicPr>
          <p:cNvPr id="6" name="Image 0" descr="FiTerminal"/>
          <p:cNvPicPr>
            <a:picLocks noChangeAspect="1"/>
          </p:cNvPicPr>
          <p:nvPr/>
        </p:nvPicPr>
        <p:blipFill>
          <a:blip r:embed="rId3"/>
          <a:stretch>
            <a:fillRect/>
          </a:stretch>
        </p:blipFill>
        <p:spPr>
          <a:xfrm>
            <a:off x="1257300" y="1513332"/>
            <a:ext cx="283464" cy="283464"/>
          </a:xfrm>
          <a:prstGeom prst="rect">
            <a:avLst/>
          </a:prstGeom>
        </p:spPr>
      </p:pic>
      <p:sp>
        <p:nvSpPr>
          <p:cNvPr id="7" name="Text 3"/>
          <p:cNvSpPr txBox="1"/>
          <p:nvPr/>
        </p:nvSpPr>
        <p:spPr>
          <a:xfrm>
            <a:off x="566928" y="2103120"/>
            <a:ext cx="1655064" cy="548640"/>
          </a:xfrm>
          <a:prstGeom prst="rect">
            <a:avLst/>
          </a:prstGeom>
          <a:noFill/>
          <a:ln/>
        </p:spPr>
        <p:txBody>
          <a:bodyPr wrap="square" lIns="0" tIns="0" rIns="0" bIns="0" rtlCol="0" anchor="ctr"/>
          <a:lstStyle/>
          <a:p>
            <a:pPr marL="0" indent="0" algn="ctr">
              <a:buNone/>
            </a:pPr>
            <a:r>
              <a:rPr lang="it-IT" sz="1500" b="1" dirty="0">
                <a:solidFill>
                  <a:schemeClr val="tx1"/>
                </a:solidFill>
              </a:rPr>
              <a:t>Riga di comando</a:t>
            </a:r>
            <a:endParaRPr lang="it-IT" sz="1500" dirty="0"/>
          </a:p>
        </p:txBody>
      </p:sp>
      <p:sp>
        <p:nvSpPr>
          <p:cNvPr id="8" name="Text 4"/>
          <p:cNvSpPr txBox="1"/>
          <p:nvPr/>
        </p:nvSpPr>
        <p:spPr>
          <a:xfrm>
            <a:off x="566928" y="2697480"/>
            <a:ext cx="1655064" cy="731520"/>
          </a:xfrm>
          <a:prstGeom prst="rect">
            <a:avLst/>
          </a:prstGeom>
          <a:noFill/>
          <a:ln/>
        </p:spPr>
        <p:txBody>
          <a:bodyPr wrap="square" lIns="0" tIns="0" rIns="0" bIns="0" rtlCol="0" anchor="t"/>
          <a:lstStyle/>
          <a:p>
            <a:pPr marL="0" indent="0" algn="ctr">
              <a:buNone/>
            </a:pPr>
            <a:r>
              <a:rPr lang="it-IT" sz="1300" dirty="0">
                <a:solidFill>
                  <a:schemeClr val="tx2"/>
                </a:solidFill>
              </a:rPr>
              <a:t>Comandi precisi da memorizzare</a:t>
            </a:r>
            <a:endParaRPr lang="it-IT" sz="1300" dirty="0"/>
          </a:p>
        </p:txBody>
      </p:sp>
      <p:sp>
        <p:nvSpPr>
          <p:cNvPr id="9" name="freccia"/>
          <p:cNvSpPr/>
          <p:nvPr/>
        </p:nvSpPr>
        <p:spPr>
          <a:xfrm>
            <a:off x="2350008" y="2240280"/>
            <a:ext cx="219456" cy="292608"/>
          </a:xfrm>
          <a:prstGeom prst="rightArrow">
            <a:avLst/>
          </a:prstGeom>
          <a:solidFill>
            <a:schemeClr val="accent2"/>
          </a:solidFill>
          <a:ln/>
        </p:spPr>
        <p:txBody>
          <a:bodyPr/>
          <a:lstStyle/>
          <a:p>
            <a:endParaRPr lang="it-IT" dirty="0"/>
          </a:p>
        </p:txBody>
      </p:sp>
      <p:sp>
        <p:nvSpPr>
          <p:cNvPr id="10" name="Interfaccia grafica"/>
          <p:cNvSpPr/>
          <p:nvPr/>
        </p:nvSpPr>
        <p:spPr>
          <a:xfrm>
            <a:off x="2587752" y="1188720"/>
            <a:ext cx="1874520" cy="2377440"/>
          </a:xfrm>
          <a:prstGeom prst="roundRect">
            <a:avLst>
              <a:gd name="adj" fmla="val 3902"/>
            </a:avLst>
          </a:prstGeom>
          <a:solidFill>
            <a:schemeClr val="bg2"/>
          </a:solidFill>
          <a:ln/>
        </p:spPr>
        <p:txBody>
          <a:bodyPr/>
          <a:lstStyle/>
          <a:p>
            <a:endParaRPr lang="it-IT" dirty="0"/>
          </a:p>
        </p:txBody>
      </p:sp>
      <p:sp>
        <p:nvSpPr>
          <p:cNvPr id="11" name="cerchio FiMonitor"/>
          <p:cNvSpPr/>
          <p:nvPr/>
        </p:nvSpPr>
        <p:spPr>
          <a:xfrm>
            <a:off x="3246120" y="1371600"/>
            <a:ext cx="566928" cy="566928"/>
          </a:xfrm>
          <a:prstGeom prst="ellipse">
            <a:avLst/>
          </a:prstGeom>
          <a:solidFill>
            <a:schemeClr val="accent1"/>
          </a:solidFill>
          <a:ln/>
        </p:spPr>
        <p:txBody>
          <a:bodyPr/>
          <a:lstStyle/>
          <a:p>
            <a:endParaRPr lang="it-IT" dirty="0"/>
          </a:p>
        </p:txBody>
      </p:sp>
      <p:pic>
        <p:nvPicPr>
          <p:cNvPr id="12" name="Image 1" descr="FiMonitor"/>
          <p:cNvPicPr>
            <a:picLocks noChangeAspect="1"/>
          </p:cNvPicPr>
          <p:nvPr/>
        </p:nvPicPr>
        <p:blipFill>
          <a:blip r:embed="rId4"/>
          <a:stretch>
            <a:fillRect/>
          </a:stretch>
        </p:blipFill>
        <p:spPr>
          <a:xfrm>
            <a:off x="3387852" y="1513332"/>
            <a:ext cx="283464" cy="283464"/>
          </a:xfrm>
          <a:prstGeom prst="rect">
            <a:avLst/>
          </a:prstGeom>
        </p:spPr>
      </p:pic>
      <p:sp>
        <p:nvSpPr>
          <p:cNvPr id="13" name="Text 8"/>
          <p:cNvSpPr txBox="1"/>
          <p:nvPr/>
        </p:nvSpPr>
        <p:spPr>
          <a:xfrm>
            <a:off x="2697480" y="2103120"/>
            <a:ext cx="1655064" cy="548640"/>
          </a:xfrm>
          <a:prstGeom prst="rect">
            <a:avLst/>
          </a:prstGeom>
          <a:noFill/>
          <a:ln/>
        </p:spPr>
        <p:txBody>
          <a:bodyPr wrap="square" lIns="0" tIns="0" rIns="0" bIns="0" rtlCol="0" anchor="ctr"/>
          <a:lstStyle/>
          <a:p>
            <a:pPr marL="0" indent="0" algn="ctr">
              <a:buNone/>
            </a:pPr>
            <a:r>
              <a:rPr lang="it-IT" sz="1500" b="1" dirty="0">
                <a:solidFill>
                  <a:schemeClr val="tx1"/>
                </a:solidFill>
              </a:rPr>
              <a:t>Interfaccia grafica</a:t>
            </a:r>
            <a:endParaRPr lang="it-IT" sz="1500" dirty="0"/>
          </a:p>
        </p:txBody>
      </p:sp>
      <p:sp>
        <p:nvSpPr>
          <p:cNvPr id="14" name="Text 9"/>
          <p:cNvSpPr txBox="1"/>
          <p:nvPr/>
        </p:nvSpPr>
        <p:spPr>
          <a:xfrm>
            <a:off x="2697480" y="2697480"/>
            <a:ext cx="1655064" cy="731520"/>
          </a:xfrm>
          <a:prstGeom prst="rect">
            <a:avLst/>
          </a:prstGeom>
          <a:noFill/>
          <a:ln/>
        </p:spPr>
        <p:txBody>
          <a:bodyPr wrap="square" lIns="0" tIns="0" rIns="0" bIns="0" rtlCol="0" anchor="t"/>
          <a:lstStyle/>
          <a:p>
            <a:pPr marL="0" indent="0" algn="ctr">
              <a:buNone/>
            </a:pPr>
            <a:r>
              <a:rPr lang="it-IT" sz="1300" dirty="0">
                <a:solidFill>
                  <a:schemeClr val="tx2"/>
                </a:solidFill>
              </a:rPr>
              <a:t>Finestre, icone, mouse</a:t>
            </a:r>
            <a:endParaRPr lang="it-IT" sz="1300" dirty="0"/>
          </a:p>
        </p:txBody>
      </p:sp>
      <p:sp>
        <p:nvSpPr>
          <p:cNvPr id="15" name="freccia"/>
          <p:cNvSpPr/>
          <p:nvPr/>
        </p:nvSpPr>
        <p:spPr>
          <a:xfrm>
            <a:off x="4480560" y="2240280"/>
            <a:ext cx="219456" cy="292608"/>
          </a:xfrm>
          <a:prstGeom prst="rightArrow">
            <a:avLst/>
          </a:prstGeom>
          <a:solidFill>
            <a:schemeClr val="accent2"/>
          </a:solidFill>
          <a:ln/>
        </p:spPr>
        <p:txBody>
          <a:bodyPr/>
          <a:lstStyle/>
          <a:p>
            <a:endParaRPr lang="it-IT" dirty="0"/>
          </a:p>
        </p:txBody>
      </p:sp>
      <p:sp>
        <p:nvSpPr>
          <p:cNvPr id="16" name="Touch e app"/>
          <p:cNvSpPr/>
          <p:nvPr/>
        </p:nvSpPr>
        <p:spPr>
          <a:xfrm>
            <a:off x="4718304" y="1188720"/>
            <a:ext cx="1874520" cy="2377440"/>
          </a:xfrm>
          <a:prstGeom prst="roundRect">
            <a:avLst>
              <a:gd name="adj" fmla="val 3902"/>
            </a:avLst>
          </a:prstGeom>
          <a:solidFill>
            <a:schemeClr val="bg2"/>
          </a:solidFill>
          <a:ln/>
        </p:spPr>
        <p:txBody>
          <a:bodyPr/>
          <a:lstStyle/>
          <a:p>
            <a:endParaRPr lang="it-IT" dirty="0"/>
          </a:p>
        </p:txBody>
      </p:sp>
      <p:sp>
        <p:nvSpPr>
          <p:cNvPr id="17" name="cerchio FiSmartphone"/>
          <p:cNvSpPr/>
          <p:nvPr/>
        </p:nvSpPr>
        <p:spPr>
          <a:xfrm>
            <a:off x="5376672" y="1371600"/>
            <a:ext cx="566928" cy="566928"/>
          </a:xfrm>
          <a:prstGeom prst="ellipse">
            <a:avLst/>
          </a:prstGeom>
          <a:solidFill>
            <a:schemeClr val="accent1"/>
          </a:solidFill>
          <a:ln/>
        </p:spPr>
        <p:txBody>
          <a:bodyPr/>
          <a:lstStyle/>
          <a:p>
            <a:endParaRPr lang="it-IT" dirty="0"/>
          </a:p>
        </p:txBody>
      </p:sp>
      <p:pic>
        <p:nvPicPr>
          <p:cNvPr id="18" name="Image 2" descr="FiSmartphone"/>
          <p:cNvPicPr>
            <a:picLocks noChangeAspect="1"/>
          </p:cNvPicPr>
          <p:nvPr/>
        </p:nvPicPr>
        <p:blipFill>
          <a:blip r:embed="rId5"/>
          <a:stretch>
            <a:fillRect/>
          </a:stretch>
        </p:blipFill>
        <p:spPr>
          <a:xfrm>
            <a:off x="5518404" y="1513332"/>
            <a:ext cx="283464" cy="283464"/>
          </a:xfrm>
          <a:prstGeom prst="rect">
            <a:avLst/>
          </a:prstGeom>
        </p:spPr>
      </p:pic>
      <p:sp>
        <p:nvSpPr>
          <p:cNvPr id="19" name="Text 13"/>
          <p:cNvSpPr txBox="1"/>
          <p:nvPr/>
        </p:nvSpPr>
        <p:spPr>
          <a:xfrm>
            <a:off x="4828032" y="2103120"/>
            <a:ext cx="1655064" cy="548640"/>
          </a:xfrm>
          <a:prstGeom prst="rect">
            <a:avLst/>
          </a:prstGeom>
          <a:noFill/>
          <a:ln/>
        </p:spPr>
        <p:txBody>
          <a:bodyPr wrap="square" lIns="0" tIns="0" rIns="0" bIns="0" rtlCol="0" anchor="ctr"/>
          <a:lstStyle/>
          <a:p>
            <a:pPr marL="0" indent="0" algn="ctr">
              <a:buNone/>
            </a:pPr>
            <a:r>
              <a:rPr lang="it-IT" sz="1500" b="1" dirty="0">
                <a:solidFill>
                  <a:schemeClr val="tx1"/>
                </a:solidFill>
              </a:rPr>
              <a:t>Touch e app</a:t>
            </a:r>
            <a:endParaRPr lang="it-IT" sz="1500" dirty="0"/>
          </a:p>
        </p:txBody>
      </p:sp>
      <p:sp>
        <p:nvSpPr>
          <p:cNvPr id="20" name="Text 14"/>
          <p:cNvSpPr txBox="1"/>
          <p:nvPr/>
        </p:nvSpPr>
        <p:spPr>
          <a:xfrm>
            <a:off x="4828032" y="2697480"/>
            <a:ext cx="1655064" cy="731520"/>
          </a:xfrm>
          <a:prstGeom prst="rect">
            <a:avLst/>
          </a:prstGeom>
          <a:noFill/>
          <a:ln/>
        </p:spPr>
        <p:txBody>
          <a:bodyPr wrap="square" lIns="0" tIns="0" rIns="0" bIns="0" rtlCol="0" anchor="t"/>
          <a:lstStyle/>
          <a:p>
            <a:pPr marL="0" indent="0" algn="ctr">
              <a:buNone/>
            </a:pPr>
            <a:r>
              <a:rPr lang="it-IT" sz="1300" dirty="0">
                <a:solidFill>
                  <a:schemeClr val="tx2"/>
                </a:solidFill>
              </a:rPr>
              <a:t>Gesti intuitivi, sempre con sé</a:t>
            </a:r>
            <a:endParaRPr lang="it-IT" sz="1300" dirty="0"/>
          </a:p>
        </p:txBody>
      </p:sp>
      <p:sp>
        <p:nvSpPr>
          <p:cNvPr id="21" name="freccia"/>
          <p:cNvSpPr/>
          <p:nvPr/>
        </p:nvSpPr>
        <p:spPr>
          <a:xfrm>
            <a:off x="6611112" y="2240280"/>
            <a:ext cx="219456" cy="292608"/>
          </a:xfrm>
          <a:prstGeom prst="rightArrow">
            <a:avLst/>
          </a:prstGeom>
          <a:solidFill>
            <a:schemeClr val="accent2"/>
          </a:solidFill>
          <a:ln/>
        </p:spPr>
        <p:txBody>
          <a:bodyPr/>
          <a:lstStyle/>
          <a:p>
            <a:endParaRPr lang="it-IT" dirty="0"/>
          </a:p>
        </p:txBody>
      </p:sp>
      <p:sp>
        <p:nvSpPr>
          <p:cNvPr id="22" name="Linguaggio naturale"/>
          <p:cNvSpPr/>
          <p:nvPr/>
        </p:nvSpPr>
        <p:spPr>
          <a:xfrm>
            <a:off x="6848856" y="1188720"/>
            <a:ext cx="1874520" cy="2377440"/>
          </a:xfrm>
          <a:prstGeom prst="roundRect">
            <a:avLst>
              <a:gd name="adj" fmla="val 3902"/>
            </a:avLst>
          </a:prstGeom>
          <a:solidFill>
            <a:schemeClr val="accent1"/>
          </a:solidFill>
          <a:ln/>
        </p:spPr>
        <p:txBody>
          <a:bodyPr/>
          <a:lstStyle/>
          <a:p>
            <a:endParaRPr lang="it-IT" dirty="0"/>
          </a:p>
        </p:txBody>
      </p:sp>
      <p:sp>
        <p:nvSpPr>
          <p:cNvPr id="23" name="cerchio FiMessageCircle"/>
          <p:cNvSpPr/>
          <p:nvPr/>
        </p:nvSpPr>
        <p:spPr>
          <a:xfrm>
            <a:off x="7507224" y="1371600"/>
            <a:ext cx="566928" cy="566928"/>
          </a:xfrm>
          <a:prstGeom prst="ellipse">
            <a:avLst/>
          </a:prstGeom>
          <a:solidFill>
            <a:schemeClr val="bg1"/>
          </a:solidFill>
          <a:ln/>
        </p:spPr>
        <p:txBody>
          <a:bodyPr/>
          <a:lstStyle/>
          <a:p>
            <a:endParaRPr lang="it-IT" dirty="0"/>
          </a:p>
        </p:txBody>
      </p:sp>
      <p:pic>
        <p:nvPicPr>
          <p:cNvPr id="24" name="Image 3" descr="FiMessageCircle"/>
          <p:cNvPicPr>
            <a:picLocks noChangeAspect="1"/>
          </p:cNvPicPr>
          <p:nvPr/>
        </p:nvPicPr>
        <p:blipFill>
          <a:blip r:embed="rId6"/>
          <a:stretch>
            <a:fillRect/>
          </a:stretch>
        </p:blipFill>
        <p:spPr>
          <a:xfrm>
            <a:off x="7648956" y="1513332"/>
            <a:ext cx="283464" cy="283464"/>
          </a:xfrm>
          <a:prstGeom prst="rect">
            <a:avLst/>
          </a:prstGeom>
        </p:spPr>
      </p:pic>
      <p:sp>
        <p:nvSpPr>
          <p:cNvPr id="25" name="Text 18"/>
          <p:cNvSpPr txBox="1"/>
          <p:nvPr/>
        </p:nvSpPr>
        <p:spPr>
          <a:xfrm>
            <a:off x="6958584" y="2103120"/>
            <a:ext cx="1655064" cy="548640"/>
          </a:xfrm>
          <a:prstGeom prst="rect">
            <a:avLst/>
          </a:prstGeom>
          <a:noFill/>
          <a:ln/>
        </p:spPr>
        <p:txBody>
          <a:bodyPr wrap="square" lIns="0" tIns="0" rIns="0" bIns="0" rtlCol="0" anchor="ctr"/>
          <a:lstStyle/>
          <a:p>
            <a:pPr marL="0" indent="0" algn="ctr">
              <a:buNone/>
            </a:pPr>
            <a:r>
              <a:rPr lang="it-IT" sz="1500" b="1" dirty="0">
                <a:solidFill>
                  <a:schemeClr val="bg1"/>
                </a:solidFill>
              </a:rPr>
              <a:t>Linguaggio naturale</a:t>
            </a:r>
            <a:endParaRPr lang="it-IT" sz="1500" dirty="0"/>
          </a:p>
        </p:txBody>
      </p:sp>
      <p:sp>
        <p:nvSpPr>
          <p:cNvPr id="26" name="Text 19"/>
          <p:cNvSpPr txBox="1"/>
          <p:nvPr/>
        </p:nvSpPr>
        <p:spPr>
          <a:xfrm>
            <a:off x="6958584" y="2697480"/>
            <a:ext cx="1655064" cy="731520"/>
          </a:xfrm>
          <a:prstGeom prst="rect">
            <a:avLst/>
          </a:prstGeom>
          <a:noFill/>
          <a:ln/>
        </p:spPr>
        <p:txBody>
          <a:bodyPr wrap="square" lIns="0" tIns="0" rIns="0" bIns="0" rtlCol="0" anchor="t"/>
          <a:lstStyle/>
          <a:p>
            <a:pPr marL="0" indent="0" algn="ctr">
              <a:buNone/>
            </a:pPr>
            <a:r>
              <a:rPr lang="it-IT" sz="1300" dirty="0">
                <a:solidFill>
                  <a:schemeClr val="bg1"/>
                </a:solidFill>
              </a:rPr>
              <a:t>Chiediamo con parole nostre</a:t>
            </a:r>
            <a:endParaRPr lang="it-IT" sz="1300" dirty="0"/>
          </a:p>
        </p:txBody>
      </p:sp>
      <p:sp>
        <p:nvSpPr>
          <p:cNvPr id="27" name="Text 20"/>
          <p:cNvSpPr txBox="1"/>
          <p:nvPr/>
        </p:nvSpPr>
        <p:spPr>
          <a:xfrm>
            <a:off x="457200" y="3886200"/>
            <a:ext cx="8229600" cy="457200"/>
          </a:xfrm>
          <a:prstGeom prst="rect">
            <a:avLst/>
          </a:prstGeom>
          <a:noFill/>
          <a:ln/>
        </p:spPr>
        <p:txBody>
          <a:bodyPr wrap="square" lIns="0" tIns="0" rIns="0" bIns="0" rtlCol="0" anchor="t"/>
          <a:lstStyle/>
          <a:p>
            <a:pPr marL="0" indent="0">
              <a:buNone/>
            </a:pPr>
            <a:r>
              <a:rPr lang="it-IT" sz="1400" i="1" dirty="0">
                <a:solidFill>
                  <a:schemeClr val="tx1"/>
                </a:solidFill>
              </a:rPr>
              <a:t>Il linguaggio naturale permette a molte più persone di accedere alle capacità </a:t>
            </a:r>
            <a:r>
              <a:rPr lang="it-IT" sz="1400" i="1" dirty="0" err="1">
                <a:solidFill>
                  <a:schemeClr val="tx1"/>
                </a:solidFill>
              </a:rPr>
              <a:t>dell’Ai</a:t>
            </a:r>
            <a:r>
              <a:rPr lang="it-IT" sz="1400" i="1" dirty="0">
                <a:solidFill>
                  <a:schemeClr val="tx1"/>
                </a:solidFill>
              </a:rPr>
              <a:t>. Imparare a formulare richieste efficaci consente di sfruttarne meglio il potenziale</a:t>
            </a:r>
            <a:endParaRPr lang="it-IT"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13</a:t>
            </a:fld>
            <a:endParaRPr lang="it-IT"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La diffusione di chatbot e assistenti AI</a:t>
            </a:r>
            <a:endParaRPr lang="it-IT" sz="2600" dirty="0"/>
          </a:p>
        </p:txBody>
      </p:sp>
      <p:sp>
        <p:nvSpPr>
          <p:cNvPr id="4" name="callout novembre 2022"/>
          <p:cNvSpPr/>
          <p:nvPr/>
        </p:nvSpPr>
        <p:spPr>
          <a:xfrm>
            <a:off x="457200" y="1097280"/>
            <a:ext cx="3108960" cy="3429000"/>
          </a:xfrm>
          <a:prstGeom prst="roundRect">
            <a:avLst>
              <a:gd name="adj" fmla="val 2353"/>
            </a:avLst>
          </a:prstGeom>
          <a:solidFill>
            <a:schemeClr val="tx1"/>
          </a:solidFill>
          <a:ln/>
        </p:spPr>
        <p:txBody>
          <a:bodyPr/>
          <a:lstStyle/>
          <a:p>
            <a:endParaRPr lang="it-IT" dirty="0"/>
          </a:p>
        </p:txBody>
      </p:sp>
      <p:sp>
        <p:nvSpPr>
          <p:cNvPr id="5" name="Text 2"/>
          <p:cNvSpPr txBox="1"/>
          <p:nvPr/>
        </p:nvSpPr>
        <p:spPr>
          <a:xfrm>
            <a:off x="685800" y="1325880"/>
            <a:ext cx="2743200" cy="548640"/>
          </a:xfrm>
          <a:prstGeom prst="rect">
            <a:avLst/>
          </a:prstGeom>
          <a:noFill/>
          <a:ln/>
        </p:spPr>
        <p:txBody>
          <a:bodyPr wrap="square" lIns="0" tIns="0" rIns="0" bIns="0" rtlCol="0" anchor="t"/>
          <a:lstStyle/>
          <a:p>
            <a:pPr marL="0" indent="0">
              <a:buNone/>
            </a:pPr>
            <a:r>
              <a:rPr lang="it-IT" sz="2800" b="1" dirty="0">
                <a:solidFill>
                  <a:schemeClr val="accent1"/>
                </a:solidFill>
              </a:rPr>
              <a:t>Novembre 2022</a:t>
            </a:r>
            <a:endParaRPr lang="it-IT" sz="2800" dirty="0"/>
          </a:p>
        </p:txBody>
      </p:sp>
      <p:sp>
        <p:nvSpPr>
          <p:cNvPr id="6" name="Text 3"/>
          <p:cNvSpPr txBox="1"/>
          <p:nvPr/>
        </p:nvSpPr>
        <p:spPr>
          <a:xfrm>
            <a:off x="685800" y="1965960"/>
            <a:ext cx="2697480" cy="2103120"/>
          </a:xfrm>
          <a:prstGeom prst="rect">
            <a:avLst/>
          </a:prstGeom>
          <a:noFill/>
          <a:ln/>
        </p:spPr>
        <p:txBody>
          <a:bodyPr wrap="square" lIns="0" tIns="0" rIns="0" bIns="0" rtlCol="0" anchor="t"/>
          <a:lstStyle/>
          <a:p>
            <a:pPr marL="0" indent="0">
              <a:buNone/>
            </a:pPr>
            <a:r>
              <a:rPr lang="it-IT" sz="1400" dirty="0">
                <a:solidFill>
                  <a:schemeClr val="bg1"/>
                </a:solidFill>
              </a:rPr>
              <a:t>Il lancio pubblico di ChatGPT porta l'AI generativa a un pubblico di massa.</a:t>
            </a:r>
            <a:endParaRPr lang="it-IT" sz="1400" dirty="0"/>
          </a:p>
          <a:p>
            <a:pPr marL="0" indent="0">
              <a:buNone/>
            </a:pPr>
            <a:endParaRPr lang="it-IT" sz="1400" dirty="0"/>
          </a:p>
          <a:p>
            <a:pPr marL="0" indent="0">
              <a:buNone/>
            </a:pPr>
            <a:r>
              <a:rPr lang="it-IT" sz="1400" dirty="0">
                <a:solidFill>
                  <a:schemeClr val="bg1"/>
                </a:solidFill>
              </a:rPr>
              <a:t>Secondo stime dell'epoca, circa 100 milioni di utenti in due mesi.</a:t>
            </a:r>
            <a:endParaRPr lang="it-IT" sz="1400" dirty="0"/>
          </a:p>
        </p:txBody>
      </p:sp>
      <p:sp>
        <p:nvSpPr>
          <p:cNvPr id="7" name="Text 4"/>
          <p:cNvSpPr txBox="1"/>
          <p:nvPr/>
        </p:nvSpPr>
        <p:spPr>
          <a:xfrm>
            <a:off x="685800" y="4114800"/>
            <a:ext cx="2743200" cy="274320"/>
          </a:xfrm>
          <a:prstGeom prst="rect">
            <a:avLst/>
          </a:prstGeom>
          <a:noFill/>
          <a:ln/>
        </p:spPr>
        <p:txBody>
          <a:bodyPr wrap="square" lIns="0" tIns="0" rIns="0" bIns="0" rtlCol="0" anchor="t"/>
          <a:lstStyle/>
          <a:p>
            <a:pPr marL="0" indent="0">
              <a:buNone/>
            </a:pPr>
            <a:r>
              <a:rPr lang="it-IT" sz="1000" dirty="0">
                <a:solidFill>
                  <a:schemeClr val="accent3"/>
                </a:solidFill>
              </a:rPr>
              <a:t>Fonte: stima UBS riportata da Reuters, 2023</a:t>
            </a:r>
            <a:endParaRPr lang="it-IT" sz="1000" dirty="0"/>
          </a:p>
        </p:txBody>
      </p:sp>
      <p:sp>
        <p:nvSpPr>
          <p:cNvPr id="8" name="Text 5"/>
          <p:cNvSpPr txBox="1"/>
          <p:nvPr/>
        </p:nvSpPr>
        <p:spPr>
          <a:xfrm>
            <a:off x="3840480" y="1097280"/>
            <a:ext cx="4846320" cy="320040"/>
          </a:xfrm>
          <a:prstGeom prst="rect">
            <a:avLst/>
          </a:prstGeom>
          <a:noFill/>
          <a:ln/>
        </p:spPr>
        <p:txBody>
          <a:bodyPr wrap="square" lIns="0" tIns="0" rIns="0" bIns="0" rtlCol="0" anchor="t"/>
          <a:lstStyle/>
          <a:p>
            <a:pPr marL="0" indent="0">
              <a:buNone/>
            </a:pPr>
            <a:r>
              <a:rPr lang="it-IT" sz="1500" b="1" dirty="0">
                <a:solidFill>
                  <a:schemeClr val="tx1"/>
                </a:solidFill>
              </a:rPr>
              <a:t>Tre forme in cui l'AI generativa arriva a noi</a:t>
            </a:r>
            <a:endParaRPr lang="it-IT" sz="1500" dirty="0"/>
          </a:p>
        </p:txBody>
      </p:sp>
      <p:sp>
        <p:nvSpPr>
          <p:cNvPr id="9" name="cerchio FiMessageSquare"/>
          <p:cNvSpPr/>
          <p:nvPr/>
        </p:nvSpPr>
        <p:spPr>
          <a:xfrm>
            <a:off x="3840480" y="1554480"/>
            <a:ext cx="502920" cy="502920"/>
          </a:xfrm>
          <a:prstGeom prst="ellipse">
            <a:avLst/>
          </a:prstGeom>
          <a:solidFill>
            <a:schemeClr val="accent1"/>
          </a:solidFill>
          <a:ln/>
        </p:spPr>
        <p:txBody>
          <a:bodyPr/>
          <a:lstStyle/>
          <a:p>
            <a:endParaRPr lang="it-IT" dirty="0"/>
          </a:p>
        </p:txBody>
      </p:sp>
      <p:pic>
        <p:nvPicPr>
          <p:cNvPr id="10" name="Image 0" descr="FiMessageSquare"/>
          <p:cNvPicPr>
            <a:picLocks noChangeAspect="1"/>
          </p:cNvPicPr>
          <p:nvPr/>
        </p:nvPicPr>
        <p:blipFill>
          <a:blip r:embed="rId3"/>
          <a:stretch>
            <a:fillRect/>
          </a:stretch>
        </p:blipFill>
        <p:spPr>
          <a:xfrm>
            <a:off x="3966210" y="1680210"/>
            <a:ext cx="251460" cy="251460"/>
          </a:xfrm>
          <a:prstGeom prst="rect">
            <a:avLst/>
          </a:prstGeom>
        </p:spPr>
      </p:pic>
      <p:sp>
        <p:nvSpPr>
          <p:cNvPr id="11" name="Text 7"/>
          <p:cNvSpPr txBox="1"/>
          <p:nvPr/>
        </p:nvSpPr>
        <p:spPr>
          <a:xfrm>
            <a:off x="4526280" y="1527048"/>
            <a:ext cx="4160520" cy="292608"/>
          </a:xfrm>
          <a:prstGeom prst="rect">
            <a:avLst/>
          </a:prstGeom>
          <a:noFill/>
          <a:ln/>
        </p:spPr>
        <p:txBody>
          <a:bodyPr wrap="square" lIns="0" tIns="0" rIns="0" bIns="0" rtlCol="0" anchor="t"/>
          <a:lstStyle/>
          <a:p>
            <a:pPr marL="0" indent="0">
              <a:buNone/>
            </a:pPr>
            <a:r>
              <a:rPr lang="it-IT" sz="1500" b="1" dirty="0">
                <a:solidFill>
                  <a:schemeClr val="tx1"/>
                </a:solidFill>
              </a:rPr>
              <a:t>Assistenti conversazionali</a:t>
            </a:r>
            <a:endParaRPr lang="it-IT" sz="1500" dirty="0"/>
          </a:p>
        </p:txBody>
      </p:sp>
      <p:sp>
        <p:nvSpPr>
          <p:cNvPr id="12" name="Text 8"/>
          <p:cNvSpPr txBox="1"/>
          <p:nvPr/>
        </p:nvSpPr>
        <p:spPr>
          <a:xfrm>
            <a:off x="4526280" y="1828800"/>
            <a:ext cx="4160520" cy="548640"/>
          </a:xfrm>
          <a:prstGeom prst="rect">
            <a:avLst/>
          </a:prstGeom>
          <a:noFill/>
          <a:ln/>
        </p:spPr>
        <p:txBody>
          <a:bodyPr wrap="square" lIns="0" tIns="0" rIns="0" bIns="0" rtlCol="0" anchor="t"/>
          <a:lstStyle/>
          <a:p>
            <a:pPr marL="0" indent="0">
              <a:buNone/>
            </a:pPr>
            <a:r>
              <a:rPr lang="it-IT" sz="1300" dirty="0">
                <a:solidFill>
                  <a:schemeClr val="tx2"/>
                </a:solidFill>
              </a:rPr>
              <a:t>Ci si rivolge direttamente al sistema con domande e richieste</a:t>
            </a:r>
            <a:endParaRPr lang="it-IT" sz="1300" dirty="0"/>
          </a:p>
        </p:txBody>
      </p:sp>
      <p:sp>
        <p:nvSpPr>
          <p:cNvPr id="13" name="cerchio FiGrid"/>
          <p:cNvSpPr/>
          <p:nvPr/>
        </p:nvSpPr>
        <p:spPr>
          <a:xfrm>
            <a:off x="3840480" y="2560320"/>
            <a:ext cx="502920" cy="502920"/>
          </a:xfrm>
          <a:prstGeom prst="ellipse">
            <a:avLst/>
          </a:prstGeom>
          <a:solidFill>
            <a:schemeClr val="accent1"/>
          </a:solidFill>
          <a:ln/>
        </p:spPr>
        <p:txBody>
          <a:bodyPr/>
          <a:lstStyle/>
          <a:p>
            <a:endParaRPr lang="it-IT" dirty="0"/>
          </a:p>
        </p:txBody>
      </p:sp>
      <p:pic>
        <p:nvPicPr>
          <p:cNvPr id="14" name="Image 1" descr="FiGrid"/>
          <p:cNvPicPr>
            <a:picLocks noChangeAspect="1"/>
          </p:cNvPicPr>
          <p:nvPr/>
        </p:nvPicPr>
        <p:blipFill>
          <a:blip r:embed="rId4"/>
          <a:stretch>
            <a:fillRect/>
          </a:stretch>
        </p:blipFill>
        <p:spPr>
          <a:xfrm>
            <a:off x="3966210" y="2686050"/>
            <a:ext cx="251460" cy="251460"/>
          </a:xfrm>
          <a:prstGeom prst="rect">
            <a:avLst/>
          </a:prstGeom>
        </p:spPr>
      </p:pic>
      <p:sp>
        <p:nvSpPr>
          <p:cNvPr id="15" name="Text 10"/>
          <p:cNvSpPr txBox="1"/>
          <p:nvPr/>
        </p:nvSpPr>
        <p:spPr>
          <a:xfrm>
            <a:off x="4526280" y="2532888"/>
            <a:ext cx="4160520" cy="292608"/>
          </a:xfrm>
          <a:prstGeom prst="rect">
            <a:avLst/>
          </a:prstGeom>
          <a:noFill/>
          <a:ln/>
        </p:spPr>
        <p:txBody>
          <a:bodyPr wrap="square" lIns="0" tIns="0" rIns="0" bIns="0" rtlCol="0" anchor="t"/>
          <a:lstStyle/>
          <a:p>
            <a:pPr marL="0" indent="0">
              <a:buNone/>
            </a:pPr>
            <a:r>
              <a:rPr lang="it-IT" sz="1500" b="1" dirty="0">
                <a:solidFill>
                  <a:schemeClr val="tx1"/>
                </a:solidFill>
              </a:rPr>
              <a:t>Funzioni integrate</a:t>
            </a:r>
            <a:endParaRPr lang="it-IT" sz="1500" dirty="0"/>
          </a:p>
        </p:txBody>
      </p:sp>
      <p:sp>
        <p:nvSpPr>
          <p:cNvPr id="16" name="Text 11"/>
          <p:cNvSpPr txBox="1"/>
          <p:nvPr/>
        </p:nvSpPr>
        <p:spPr>
          <a:xfrm>
            <a:off x="4526280" y="2834640"/>
            <a:ext cx="4160520" cy="548640"/>
          </a:xfrm>
          <a:prstGeom prst="rect">
            <a:avLst/>
          </a:prstGeom>
          <a:noFill/>
          <a:ln/>
        </p:spPr>
        <p:txBody>
          <a:bodyPr wrap="square" lIns="0" tIns="0" rIns="0" bIns="0" rtlCol="0" anchor="t"/>
          <a:lstStyle/>
          <a:p>
            <a:pPr marL="0" indent="0">
              <a:buNone/>
            </a:pPr>
            <a:r>
              <a:rPr lang="it-IT" sz="1300" dirty="0">
                <a:solidFill>
                  <a:schemeClr val="tx2"/>
                </a:solidFill>
              </a:rPr>
              <a:t>L'AI compare dentro software già in uso: email, documenti, CRM</a:t>
            </a:r>
            <a:endParaRPr lang="it-IT" sz="1300" dirty="0"/>
          </a:p>
        </p:txBody>
      </p:sp>
      <p:sp>
        <p:nvSpPr>
          <p:cNvPr id="17" name="cerchio FiLink"/>
          <p:cNvSpPr/>
          <p:nvPr/>
        </p:nvSpPr>
        <p:spPr>
          <a:xfrm>
            <a:off x="3840480" y="3566160"/>
            <a:ext cx="502920" cy="502920"/>
          </a:xfrm>
          <a:prstGeom prst="ellipse">
            <a:avLst/>
          </a:prstGeom>
          <a:solidFill>
            <a:schemeClr val="accent1"/>
          </a:solidFill>
          <a:ln/>
        </p:spPr>
        <p:txBody>
          <a:bodyPr/>
          <a:lstStyle/>
          <a:p>
            <a:endParaRPr lang="it-IT" dirty="0"/>
          </a:p>
        </p:txBody>
      </p:sp>
      <p:pic>
        <p:nvPicPr>
          <p:cNvPr id="18" name="Image 2" descr="FiLink"/>
          <p:cNvPicPr>
            <a:picLocks noChangeAspect="1"/>
          </p:cNvPicPr>
          <p:nvPr/>
        </p:nvPicPr>
        <p:blipFill>
          <a:blip r:embed="rId5"/>
          <a:stretch>
            <a:fillRect/>
          </a:stretch>
        </p:blipFill>
        <p:spPr>
          <a:xfrm>
            <a:off x="3966210" y="3691890"/>
            <a:ext cx="251460" cy="251460"/>
          </a:xfrm>
          <a:prstGeom prst="rect">
            <a:avLst/>
          </a:prstGeom>
        </p:spPr>
      </p:pic>
      <p:sp>
        <p:nvSpPr>
          <p:cNvPr id="19" name="Text 13"/>
          <p:cNvSpPr txBox="1"/>
          <p:nvPr/>
        </p:nvSpPr>
        <p:spPr>
          <a:xfrm>
            <a:off x="4526280" y="3538728"/>
            <a:ext cx="4160520" cy="292608"/>
          </a:xfrm>
          <a:prstGeom prst="rect">
            <a:avLst/>
          </a:prstGeom>
          <a:noFill/>
          <a:ln/>
        </p:spPr>
        <p:txBody>
          <a:bodyPr wrap="square" lIns="0" tIns="0" rIns="0" bIns="0" rtlCol="0" anchor="t"/>
          <a:lstStyle/>
          <a:p>
            <a:pPr marL="0" indent="0">
              <a:buNone/>
            </a:pPr>
            <a:r>
              <a:rPr lang="it-IT" sz="1500" b="1" dirty="0">
                <a:solidFill>
                  <a:schemeClr val="tx1"/>
                </a:solidFill>
              </a:rPr>
              <a:t>Servizi via API</a:t>
            </a:r>
            <a:endParaRPr lang="it-IT" sz="1500" dirty="0"/>
          </a:p>
        </p:txBody>
      </p:sp>
      <p:sp>
        <p:nvSpPr>
          <p:cNvPr id="20" name="Text 14"/>
          <p:cNvSpPr txBox="1"/>
          <p:nvPr/>
        </p:nvSpPr>
        <p:spPr>
          <a:xfrm>
            <a:off x="4526280" y="3840480"/>
            <a:ext cx="4160520" cy="548640"/>
          </a:xfrm>
          <a:prstGeom prst="rect">
            <a:avLst/>
          </a:prstGeom>
          <a:noFill/>
          <a:ln/>
        </p:spPr>
        <p:txBody>
          <a:bodyPr wrap="square" lIns="0" tIns="0" rIns="0" bIns="0" rtlCol="0" anchor="t"/>
          <a:lstStyle/>
          <a:p>
            <a:pPr marL="0" indent="0">
              <a:buNone/>
            </a:pPr>
            <a:r>
              <a:rPr lang="it-IT" sz="1300" dirty="0">
                <a:solidFill>
                  <a:schemeClr val="tx2"/>
                </a:solidFill>
              </a:rPr>
              <a:t>Le aziende incorporano i modelli nei propri sistemi e prodotti</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14</a:t>
            </a:fld>
            <a:endParaRPr lang="it-IT"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Che cosa può generare l'AI</a:t>
            </a:r>
            <a:endParaRPr lang="it-IT" sz="2600" dirty="0"/>
          </a:p>
        </p:txBody>
      </p:sp>
      <p:sp>
        <p:nvSpPr>
          <p:cNvPr id="4" name="Testi"/>
          <p:cNvSpPr/>
          <p:nvPr/>
        </p:nvSpPr>
        <p:spPr>
          <a:xfrm>
            <a:off x="457200" y="1097280"/>
            <a:ext cx="2615184" cy="1417320"/>
          </a:xfrm>
          <a:prstGeom prst="roundRect">
            <a:avLst>
              <a:gd name="adj" fmla="val 5161"/>
            </a:avLst>
          </a:prstGeom>
          <a:solidFill>
            <a:schemeClr val="bg2"/>
          </a:solidFill>
          <a:ln/>
        </p:spPr>
        <p:txBody>
          <a:bodyPr/>
          <a:lstStyle/>
          <a:p>
            <a:endParaRPr lang="it-IT" dirty="0"/>
          </a:p>
        </p:txBody>
      </p:sp>
      <p:sp>
        <p:nvSpPr>
          <p:cNvPr id="5" name="cerchio FiFileText"/>
          <p:cNvSpPr/>
          <p:nvPr/>
        </p:nvSpPr>
        <p:spPr>
          <a:xfrm>
            <a:off x="640080" y="1325880"/>
            <a:ext cx="548640" cy="548640"/>
          </a:xfrm>
          <a:prstGeom prst="ellipse">
            <a:avLst/>
          </a:prstGeom>
          <a:solidFill>
            <a:schemeClr val="accent1"/>
          </a:solidFill>
          <a:ln/>
        </p:spPr>
        <p:txBody>
          <a:bodyPr/>
          <a:lstStyle/>
          <a:p>
            <a:endParaRPr lang="it-IT" dirty="0"/>
          </a:p>
        </p:txBody>
      </p:sp>
      <p:pic>
        <p:nvPicPr>
          <p:cNvPr id="6" name="Image 0" descr="FiFileText"/>
          <p:cNvPicPr>
            <a:picLocks noChangeAspect="1"/>
          </p:cNvPicPr>
          <p:nvPr/>
        </p:nvPicPr>
        <p:blipFill>
          <a:blip r:embed="rId3"/>
          <a:stretch>
            <a:fillRect/>
          </a:stretch>
        </p:blipFill>
        <p:spPr>
          <a:xfrm>
            <a:off x="777240" y="1463040"/>
            <a:ext cx="274320" cy="274320"/>
          </a:xfrm>
          <a:prstGeom prst="rect">
            <a:avLst/>
          </a:prstGeom>
        </p:spPr>
      </p:pic>
      <p:sp>
        <p:nvSpPr>
          <p:cNvPr id="7" name="Text 3"/>
          <p:cNvSpPr txBox="1"/>
          <p:nvPr/>
        </p:nvSpPr>
        <p:spPr>
          <a:xfrm>
            <a:off x="1325880" y="1325880"/>
            <a:ext cx="1645920" cy="365760"/>
          </a:xfrm>
          <a:prstGeom prst="rect">
            <a:avLst/>
          </a:prstGeom>
          <a:noFill/>
          <a:ln/>
        </p:spPr>
        <p:txBody>
          <a:bodyPr wrap="square" lIns="0" tIns="0" rIns="0" bIns="0" rtlCol="0" anchor="t"/>
          <a:lstStyle/>
          <a:p>
            <a:pPr marL="0" indent="0">
              <a:buNone/>
            </a:pPr>
            <a:r>
              <a:rPr lang="it-IT" sz="1600" b="1" dirty="0">
                <a:solidFill>
                  <a:schemeClr val="tx1"/>
                </a:solidFill>
              </a:rPr>
              <a:t>Testi</a:t>
            </a:r>
            <a:endParaRPr lang="it-IT" sz="1600" dirty="0"/>
          </a:p>
        </p:txBody>
      </p:sp>
      <p:sp>
        <p:nvSpPr>
          <p:cNvPr id="8" name="Text 4"/>
          <p:cNvSpPr txBox="1"/>
          <p:nvPr/>
        </p:nvSpPr>
        <p:spPr>
          <a:xfrm>
            <a:off x="1325880" y="1709928"/>
            <a:ext cx="1645920" cy="685800"/>
          </a:xfrm>
          <a:prstGeom prst="rect">
            <a:avLst/>
          </a:prstGeom>
          <a:noFill/>
          <a:ln/>
        </p:spPr>
        <p:txBody>
          <a:bodyPr wrap="square" lIns="0" tIns="0" rIns="0" bIns="0" rtlCol="0" anchor="t"/>
          <a:lstStyle/>
          <a:p>
            <a:pPr marL="0" indent="0">
              <a:buNone/>
            </a:pPr>
            <a:r>
              <a:rPr lang="it-IT" sz="1300" dirty="0">
                <a:solidFill>
                  <a:schemeClr val="tx2"/>
                </a:solidFill>
              </a:rPr>
              <a:t>Email, report, sintesi, traduzioni</a:t>
            </a:r>
            <a:endParaRPr lang="it-IT" sz="1300" dirty="0"/>
          </a:p>
        </p:txBody>
      </p:sp>
      <p:sp>
        <p:nvSpPr>
          <p:cNvPr id="9" name="Immagini"/>
          <p:cNvSpPr/>
          <p:nvPr/>
        </p:nvSpPr>
        <p:spPr>
          <a:xfrm>
            <a:off x="3264408" y="1097280"/>
            <a:ext cx="2615184" cy="1417320"/>
          </a:xfrm>
          <a:prstGeom prst="roundRect">
            <a:avLst>
              <a:gd name="adj" fmla="val 5161"/>
            </a:avLst>
          </a:prstGeom>
          <a:solidFill>
            <a:schemeClr val="bg2"/>
          </a:solidFill>
          <a:ln/>
        </p:spPr>
        <p:txBody>
          <a:bodyPr/>
          <a:lstStyle/>
          <a:p>
            <a:endParaRPr lang="it-IT" dirty="0"/>
          </a:p>
        </p:txBody>
      </p:sp>
      <p:sp>
        <p:nvSpPr>
          <p:cNvPr id="10" name="cerchio FiImage"/>
          <p:cNvSpPr/>
          <p:nvPr/>
        </p:nvSpPr>
        <p:spPr>
          <a:xfrm>
            <a:off x="3447288" y="1325880"/>
            <a:ext cx="548640" cy="548640"/>
          </a:xfrm>
          <a:prstGeom prst="ellipse">
            <a:avLst/>
          </a:prstGeom>
          <a:solidFill>
            <a:schemeClr val="accent1"/>
          </a:solidFill>
          <a:ln/>
        </p:spPr>
        <p:txBody>
          <a:bodyPr/>
          <a:lstStyle/>
          <a:p>
            <a:endParaRPr lang="it-IT" dirty="0"/>
          </a:p>
        </p:txBody>
      </p:sp>
      <p:pic>
        <p:nvPicPr>
          <p:cNvPr id="11" name="Image 1" descr="FiImage"/>
          <p:cNvPicPr>
            <a:picLocks noChangeAspect="1"/>
          </p:cNvPicPr>
          <p:nvPr/>
        </p:nvPicPr>
        <p:blipFill>
          <a:blip r:embed="rId4"/>
          <a:stretch>
            <a:fillRect/>
          </a:stretch>
        </p:blipFill>
        <p:spPr>
          <a:xfrm>
            <a:off x="3584448" y="1463040"/>
            <a:ext cx="274320" cy="274320"/>
          </a:xfrm>
          <a:prstGeom prst="rect">
            <a:avLst/>
          </a:prstGeom>
        </p:spPr>
      </p:pic>
      <p:sp>
        <p:nvSpPr>
          <p:cNvPr id="12" name="Text 7"/>
          <p:cNvSpPr txBox="1"/>
          <p:nvPr/>
        </p:nvSpPr>
        <p:spPr>
          <a:xfrm>
            <a:off x="4133088" y="1325880"/>
            <a:ext cx="1645920" cy="365760"/>
          </a:xfrm>
          <a:prstGeom prst="rect">
            <a:avLst/>
          </a:prstGeom>
          <a:noFill/>
          <a:ln/>
        </p:spPr>
        <p:txBody>
          <a:bodyPr wrap="square" lIns="0" tIns="0" rIns="0" bIns="0" rtlCol="0" anchor="t"/>
          <a:lstStyle/>
          <a:p>
            <a:pPr marL="0" indent="0">
              <a:buNone/>
            </a:pPr>
            <a:r>
              <a:rPr lang="it-IT" sz="1600" b="1" dirty="0">
                <a:solidFill>
                  <a:schemeClr val="tx1"/>
                </a:solidFill>
              </a:rPr>
              <a:t>Immagini</a:t>
            </a:r>
            <a:endParaRPr lang="it-IT" sz="1600" dirty="0"/>
          </a:p>
        </p:txBody>
      </p:sp>
      <p:sp>
        <p:nvSpPr>
          <p:cNvPr id="13" name="Text 8"/>
          <p:cNvSpPr txBox="1"/>
          <p:nvPr/>
        </p:nvSpPr>
        <p:spPr>
          <a:xfrm>
            <a:off x="4133088" y="1709928"/>
            <a:ext cx="1645920" cy="685800"/>
          </a:xfrm>
          <a:prstGeom prst="rect">
            <a:avLst/>
          </a:prstGeom>
          <a:noFill/>
          <a:ln/>
        </p:spPr>
        <p:txBody>
          <a:bodyPr wrap="square" lIns="0" tIns="0" rIns="0" bIns="0" rtlCol="0" anchor="t"/>
          <a:lstStyle/>
          <a:p>
            <a:pPr marL="0" indent="0">
              <a:buNone/>
            </a:pPr>
            <a:r>
              <a:rPr lang="it-IT" sz="1300" dirty="0">
                <a:solidFill>
                  <a:schemeClr val="tx2"/>
                </a:solidFill>
              </a:rPr>
              <a:t>Illustrazioni e grafiche da una descrizione</a:t>
            </a:r>
            <a:endParaRPr lang="it-IT" sz="1300" dirty="0"/>
          </a:p>
        </p:txBody>
      </p:sp>
      <p:sp>
        <p:nvSpPr>
          <p:cNvPr id="14" name="Codice"/>
          <p:cNvSpPr/>
          <p:nvPr/>
        </p:nvSpPr>
        <p:spPr>
          <a:xfrm>
            <a:off x="6071616" y="1097280"/>
            <a:ext cx="2615184" cy="1417320"/>
          </a:xfrm>
          <a:prstGeom prst="roundRect">
            <a:avLst>
              <a:gd name="adj" fmla="val 5161"/>
            </a:avLst>
          </a:prstGeom>
          <a:solidFill>
            <a:schemeClr val="bg2"/>
          </a:solidFill>
          <a:ln/>
        </p:spPr>
        <p:txBody>
          <a:bodyPr/>
          <a:lstStyle/>
          <a:p>
            <a:endParaRPr lang="it-IT" dirty="0"/>
          </a:p>
        </p:txBody>
      </p:sp>
      <p:sp>
        <p:nvSpPr>
          <p:cNvPr id="15" name="cerchio FiCode"/>
          <p:cNvSpPr/>
          <p:nvPr/>
        </p:nvSpPr>
        <p:spPr>
          <a:xfrm>
            <a:off x="6254496" y="1325880"/>
            <a:ext cx="548640" cy="548640"/>
          </a:xfrm>
          <a:prstGeom prst="ellipse">
            <a:avLst/>
          </a:prstGeom>
          <a:solidFill>
            <a:schemeClr val="accent1"/>
          </a:solidFill>
          <a:ln/>
        </p:spPr>
        <p:txBody>
          <a:bodyPr/>
          <a:lstStyle/>
          <a:p>
            <a:endParaRPr lang="it-IT" dirty="0"/>
          </a:p>
        </p:txBody>
      </p:sp>
      <p:pic>
        <p:nvPicPr>
          <p:cNvPr id="16" name="Image 2" descr="FiCode"/>
          <p:cNvPicPr>
            <a:picLocks noChangeAspect="1"/>
          </p:cNvPicPr>
          <p:nvPr/>
        </p:nvPicPr>
        <p:blipFill>
          <a:blip r:embed="rId5"/>
          <a:stretch>
            <a:fillRect/>
          </a:stretch>
        </p:blipFill>
        <p:spPr>
          <a:xfrm>
            <a:off x="6391656" y="1463040"/>
            <a:ext cx="274320" cy="274320"/>
          </a:xfrm>
          <a:prstGeom prst="rect">
            <a:avLst/>
          </a:prstGeom>
        </p:spPr>
      </p:pic>
      <p:sp>
        <p:nvSpPr>
          <p:cNvPr id="17" name="Text 11"/>
          <p:cNvSpPr txBox="1"/>
          <p:nvPr/>
        </p:nvSpPr>
        <p:spPr>
          <a:xfrm>
            <a:off x="6940296" y="1325880"/>
            <a:ext cx="1645920" cy="365760"/>
          </a:xfrm>
          <a:prstGeom prst="rect">
            <a:avLst/>
          </a:prstGeom>
          <a:noFill/>
          <a:ln/>
        </p:spPr>
        <p:txBody>
          <a:bodyPr wrap="square" lIns="0" tIns="0" rIns="0" bIns="0" rtlCol="0" anchor="t"/>
          <a:lstStyle/>
          <a:p>
            <a:pPr marL="0" indent="0">
              <a:buNone/>
            </a:pPr>
            <a:r>
              <a:rPr lang="it-IT" sz="1600" b="1" dirty="0">
                <a:solidFill>
                  <a:schemeClr val="tx1"/>
                </a:solidFill>
              </a:rPr>
              <a:t>Codice</a:t>
            </a:r>
            <a:endParaRPr lang="it-IT" sz="1600" dirty="0"/>
          </a:p>
        </p:txBody>
      </p:sp>
      <p:sp>
        <p:nvSpPr>
          <p:cNvPr id="18" name="Text 12"/>
          <p:cNvSpPr txBox="1"/>
          <p:nvPr/>
        </p:nvSpPr>
        <p:spPr>
          <a:xfrm>
            <a:off x="6940296" y="1709928"/>
            <a:ext cx="1645920" cy="685800"/>
          </a:xfrm>
          <a:prstGeom prst="rect">
            <a:avLst/>
          </a:prstGeom>
          <a:noFill/>
          <a:ln/>
        </p:spPr>
        <p:txBody>
          <a:bodyPr wrap="square" lIns="0" tIns="0" rIns="0" bIns="0" rtlCol="0" anchor="t"/>
          <a:lstStyle/>
          <a:p>
            <a:pPr marL="0" indent="0">
              <a:buNone/>
            </a:pPr>
            <a:r>
              <a:rPr lang="it-IT" sz="1300" dirty="0">
                <a:solidFill>
                  <a:schemeClr val="tx2"/>
                </a:solidFill>
              </a:rPr>
              <a:t>Programmi, formule, script, query</a:t>
            </a:r>
            <a:endParaRPr lang="it-IT" sz="1300" dirty="0"/>
          </a:p>
        </p:txBody>
      </p:sp>
      <p:sp>
        <p:nvSpPr>
          <p:cNvPr id="19" name="Audio e voce"/>
          <p:cNvSpPr/>
          <p:nvPr/>
        </p:nvSpPr>
        <p:spPr>
          <a:xfrm>
            <a:off x="457200" y="2697480"/>
            <a:ext cx="2615184" cy="1417320"/>
          </a:xfrm>
          <a:prstGeom prst="roundRect">
            <a:avLst>
              <a:gd name="adj" fmla="val 5161"/>
            </a:avLst>
          </a:prstGeom>
          <a:solidFill>
            <a:schemeClr val="bg2"/>
          </a:solidFill>
          <a:ln/>
        </p:spPr>
        <p:txBody>
          <a:bodyPr/>
          <a:lstStyle/>
          <a:p>
            <a:endParaRPr lang="it-IT" dirty="0"/>
          </a:p>
        </p:txBody>
      </p:sp>
      <p:sp>
        <p:nvSpPr>
          <p:cNvPr id="20" name="cerchio FiMic"/>
          <p:cNvSpPr/>
          <p:nvPr/>
        </p:nvSpPr>
        <p:spPr>
          <a:xfrm>
            <a:off x="640080" y="2926080"/>
            <a:ext cx="548640" cy="548640"/>
          </a:xfrm>
          <a:prstGeom prst="ellipse">
            <a:avLst/>
          </a:prstGeom>
          <a:solidFill>
            <a:schemeClr val="accent1"/>
          </a:solidFill>
          <a:ln/>
        </p:spPr>
        <p:txBody>
          <a:bodyPr/>
          <a:lstStyle/>
          <a:p>
            <a:endParaRPr lang="it-IT" dirty="0"/>
          </a:p>
        </p:txBody>
      </p:sp>
      <p:pic>
        <p:nvPicPr>
          <p:cNvPr id="21" name="Image 3" descr="FiMic"/>
          <p:cNvPicPr>
            <a:picLocks noChangeAspect="1"/>
          </p:cNvPicPr>
          <p:nvPr/>
        </p:nvPicPr>
        <p:blipFill>
          <a:blip r:embed="rId6"/>
          <a:stretch>
            <a:fillRect/>
          </a:stretch>
        </p:blipFill>
        <p:spPr>
          <a:xfrm>
            <a:off x="777240" y="3063240"/>
            <a:ext cx="274320" cy="274320"/>
          </a:xfrm>
          <a:prstGeom prst="rect">
            <a:avLst/>
          </a:prstGeom>
        </p:spPr>
      </p:pic>
      <p:sp>
        <p:nvSpPr>
          <p:cNvPr id="22" name="Text 15"/>
          <p:cNvSpPr txBox="1"/>
          <p:nvPr/>
        </p:nvSpPr>
        <p:spPr>
          <a:xfrm>
            <a:off x="1325880" y="2926080"/>
            <a:ext cx="1645920" cy="365760"/>
          </a:xfrm>
          <a:prstGeom prst="rect">
            <a:avLst/>
          </a:prstGeom>
          <a:noFill/>
          <a:ln/>
        </p:spPr>
        <p:txBody>
          <a:bodyPr wrap="square" lIns="0" tIns="0" rIns="0" bIns="0" rtlCol="0" anchor="t"/>
          <a:lstStyle/>
          <a:p>
            <a:pPr marL="0" indent="0">
              <a:buNone/>
            </a:pPr>
            <a:r>
              <a:rPr lang="it-IT" sz="1600" b="1" dirty="0">
                <a:solidFill>
                  <a:schemeClr val="tx1"/>
                </a:solidFill>
              </a:rPr>
              <a:t>Audio e voce</a:t>
            </a:r>
            <a:endParaRPr lang="it-IT" sz="1600" dirty="0"/>
          </a:p>
        </p:txBody>
      </p:sp>
      <p:sp>
        <p:nvSpPr>
          <p:cNvPr id="23" name="Text 16"/>
          <p:cNvSpPr txBox="1"/>
          <p:nvPr/>
        </p:nvSpPr>
        <p:spPr>
          <a:xfrm>
            <a:off x="1325880" y="3310128"/>
            <a:ext cx="1645920" cy="685800"/>
          </a:xfrm>
          <a:prstGeom prst="rect">
            <a:avLst/>
          </a:prstGeom>
          <a:noFill/>
          <a:ln/>
        </p:spPr>
        <p:txBody>
          <a:bodyPr wrap="square" lIns="0" tIns="0" rIns="0" bIns="0" rtlCol="0" anchor="t"/>
          <a:lstStyle/>
          <a:p>
            <a:pPr marL="0" indent="0">
              <a:buNone/>
            </a:pPr>
            <a:r>
              <a:rPr lang="it-IT" sz="1300" dirty="0">
                <a:solidFill>
                  <a:schemeClr val="tx2"/>
                </a:solidFill>
              </a:rPr>
              <a:t>Voce sintetica, trascrizioni</a:t>
            </a:r>
            <a:endParaRPr lang="it-IT" sz="1300" dirty="0"/>
          </a:p>
        </p:txBody>
      </p:sp>
      <p:sp>
        <p:nvSpPr>
          <p:cNvPr id="24" name="Video"/>
          <p:cNvSpPr/>
          <p:nvPr/>
        </p:nvSpPr>
        <p:spPr>
          <a:xfrm>
            <a:off x="3264408" y="2697480"/>
            <a:ext cx="2615184" cy="1417320"/>
          </a:xfrm>
          <a:prstGeom prst="roundRect">
            <a:avLst>
              <a:gd name="adj" fmla="val 5161"/>
            </a:avLst>
          </a:prstGeom>
          <a:solidFill>
            <a:schemeClr val="bg2"/>
          </a:solidFill>
          <a:ln/>
        </p:spPr>
        <p:txBody>
          <a:bodyPr/>
          <a:lstStyle/>
          <a:p>
            <a:endParaRPr lang="it-IT" dirty="0"/>
          </a:p>
        </p:txBody>
      </p:sp>
      <p:sp>
        <p:nvSpPr>
          <p:cNvPr id="25" name="cerchio FiFilm"/>
          <p:cNvSpPr/>
          <p:nvPr/>
        </p:nvSpPr>
        <p:spPr>
          <a:xfrm>
            <a:off x="3447288" y="2926080"/>
            <a:ext cx="548640" cy="548640"/>
          </a:xfrm>
          <a:prstGeom prst="ellipse">
            <a:avLst/>
          </a:prstGeom>
          <a:solidFill>
            <a:schemeClr val="accent1"/>
          </a:solidFill>
          <a:ln/>
        </p:spPr>
        <p:txBody>
          <a:bodyPr/>
          <a:lstStyle/>
          <a:p>
            <a:endParaRPr lang="it-IT" dirty="0"/>
          </a:p>
        </p:txBody>
      </p:sp>
      <p:pic>
        <p:nvPicPr>
          <p:cNvPr id="26" name="Image 4" descr="FiFilm"/>
          <p:cNvPicPr>
            <a:picLocks noChangeAspect="1"/>
          </p:cNvPicPr>
          <p:nvPr/>
        </p:nvPicPr>
        <p:blipFill>
          <a:blip r:embed="rId7"/>
          <a:stretch>
            <a:fillRect/>
          </a:stretch>
        </p:blipFill>
        <p:spPr>
          <a:xfrm>
            <a:off x="3584448" y="3063240"/>
            <a:ext cx="274320" cy="274320"/>
          </a:xfrm>
          <a:prstGeom prst="rect">
            <a:avLst/>
          </a:prstGeom>
        </p:spPr>
      </p:pic>
      <p:sp>
        <p:nvSpPr>
          <p:cNvPr id="27" name="Text 19"/>
          <p:cNvSpPr txBox="1"/>
          <p:nvPr/>
        </p:nvSpPr>
        <p:spPr>
          <a:xfrm>
            <a:off x="4133088" y="2926080"/>
            <a:ext cx="1645920" cy="365760"/>
          </a:xfrm>
          <a:prstGeom prst="rect">
            <a:avLst/>
          </a:prstGeom>
          <a:noFill/>
          <a:ln/>
        </p:spPr>
        <p:txBody>
          <a:bodyPr wrap="square" lIns="0" tIns="0" rIns="0" bIns="0" rtlCol="0" anchor="t"/>
          <a:lstStyle/>
          <a:p>
            <a:pPr marL="0" indent="0">
              <a:buNone/>
            </a:pPr>
            <a:r>
              <a:rPr lang="it-IT" sz="1600" b="1" dirty="0">
                <a:solidFill>
                  <a:schemeClr val="tx1"/>
                </a:solidFill>
              </a:rPr>
              <a:t>Video</a:t>
            </a:r>
            <a:endParaRPr lang="it-IT" sz="1600" dirty="0"/>
          </a:p>
        </p:txBody>
      </p:sp>
      <p:sp>
        <p:nvSpPr>
          <p:cNvPr id="28" name="Text 20"/>
          <p:cNvSpPr txBox="1"/>
          <p:nvPr/>
        </p:nvSpPr>
        <p:spPr>
          <a:xfrm>
            <a:off x="4133088" y="3310128"/>
            <a:ext cx="1645920" cy="685800"/>
          </a:xfrm>
          <a:prstGeom prst="rect">
            <a:avLst/>
          </a:prstGeom>
          <a:noFill/>
          <a:ln/>
        </p:spPr>
        <p:txBody>
          <a:bodyPr wrap="square" lIns="0" tIns="0" rIns="0" bIns="0" rtlCol="0" anchor="t"/>
          <a:lstStyle/>
          <a:p>
            <a:pPr marL="0" indent="0">
              <a:buNone/>
            </a:pPr>
            <a:r>
              <a:rPr lang="it-IT" sz="1300" dirty="0">
                <a:solidFill>
                  <a:schemeClr val="tx2"/>
                </a:solidFill>
              </a:rPr>
              <a:t>Clip e animazioni da testo o immagini</a:t>
            </a:r>
            <a:endParaRPr lang="it-IT" sz="1300" dirty="0"/>
          </a:p>
        </p:txBody>
      </p:sp>
      <p:sp>
        <p:nvSpPr>
          <p:cNvPr id="29" name="Dati e tabelle"/>
          <p:cNvSpPr/>
          <p:nvPr/>
        </p:nvSpPr>
        <p:spPr>
          <a:xfrm>
            <a:off x="6071616" y="2697480"/>
            <a:ext cx="2615184" cy="1417320"/>
          </a:xfrm>
          <a:prstGeom prst="roundRect">
            <a:avLst>
              <a:gd name="adj" fmla="val 5161"/>
            </a:avLst>
          </a:prstGeom>
          <a:solidFill>
            <a:schemeClr val="bg2"/>
          </a:solidFill>
          <a:ln/>
        </p:spPr>
        <p:txBody>
          <a:bodyPr/>
          <a:lstStyle/>
          <a:p>
            <a:endParaRPr lang="it-IT" dirty="0"/>
          </a:p>
        </p:txBody>
      </p:sp>
      <p:sp>
        <p:nvSpPr>
          <p:cNvPr id="34" name="Text 25"/>
          <p:cNvSpPr txBox="1"/>
          <p:nvPr/>
        </p:nvSpPr>
        <p:spPr>
          <a:xfrm>
            <a:off x="457200" y="4343400"/>
            <a:ext cx="8229600" cy="320040"/>
          </a:xfrm>
          <a:prstGeom prst="rect">
            <a:avLst/>
          </a:prstGeom>
          <a:noFill/>
          <a:ln/>
        </p:spPr>
        <p:txBody>
          <a:bodyPr wrap="square" lIns="0" tIns="0" rIns="0" bIns="0" rtlCol="0" anchor="t"/>
          <a:lstStyle/>
          <a:p>
            <a:pPr marL="0" indent="0">
              <a:buNone/>
            </a:pPr>
            <a:r>
              <a:rPr lang="it-IT" sz="1300" i="1" dirty="0">
                <a:solidFill>
                  <a:schemeClr val="tx1"/>
                </a:solidFill>
              </a:rPr>
              <a:t>Molti sistemi sono multimodali: ricevono e producono più tipi di contenuto.</a:t>
            </a:r>
            <a:endParaRPr lang="it-IT"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15</a:t>
            </a:fld>
            <a:endParaRPr lang="it-IT"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it-IT" sz="6000" b="1" dirty="0">
                <a:solidFill>
                  <a:schemeClr val="accent1"/>
                </a:solidFill>
              </a:rPr>
              <a:t>1.4</a:t>
            </a:r>
            <a:endParaRPr lang="it-IT"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it-IT" sz="3200" b="1" dirty="0">
                <a:solidFill>
                  <a:schemeClr val="bg1"/>
                </a:solidFill>
              </a:rPr>
              <a:t>Dalla digitalizzazione all'Intelligenza Artificiale</a:t>
            </a:r>
            <a:endParaRPr lang="it-IT"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it-IT" sz="1600" dirty="0">
                <a:solidFill>
                  <a:schemeClr val="accent3"/>
                </a:solidFill>
              </a:rPr>
              <a:t>Concetti collegati ma distinti, che possono coesistere nello stesso processo</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16</a:t>
            </a:fld>
            <a:endParaRPr lang="it-IT"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Un esempio: la gestione delle richieste dei clienti</a:t>
            </a:r>
            <a:endParaRPr lang="it-IT" sz="2600" dirty="0"/>
          </a:p>
        </p:txBody>
      </p:sp>
      <p:sp>
        <p:nvSpPr>
          <p:cNvPr id="4" name="cerchio FiMail"/>
          <p:cNvSpPr/>
          <p:nvPr/>
        </p:nvSpPr>
        <p:spPr>
          <a:xfrm>
            <a:off x="457200" y="2057400"/>
            <a:ext cx="731520" cy="731520"/>
          </a:xfrm>
          <a:prstGeom prst="ellipse">
            <a:avLst/>
          </a:prstGeom>
          <a:solidFill>
            <a:schemeClr val="accent1"/>
          </a:solidFill>
          <a:ln/>
        </p:spPr>
        <p:txBody>
          <a:bodyPr/>
          <a:lstStyle/>
          <a:p>
            <a:endParaRPr lang="it-IT" dirty="0"/>
          </a:p>
        </p:txBody>
      </p:sp>
      <p:pic>
        <p:nvPicPr>
          <p:cNvPr id="5" name="Image 0" descr="FiMail"/>
          <p:cNvPicPr>
            <a:picLocks noChangeAspect="1"/>
          </p:cNvPicPr>
          <p:nvPr/>
        </p:nvPicPr>
        <p:blipFill>
          <a:blip r:embed="rId3"/>
          <a:stretch>
            <a:fillRect/>
          </a:stretch>
        </p:blipFill>
        <p:spPr>
          <a:xfrm>
            <a:off x="640080" y="2240280"/>
            <a:ext cx="365760" cy="365760"/>
          </a:xfrm>
          <a:prstGeom prst="rect">
            <a:avLst/>
          </a:prstGeom>
        </p:spPr>
      </p:pic>
      <p:sp>
        <p:nvSpPr>
          <p:cNvPr id="6" name="Text 2"/>
          <p:cNvSpPr txBox="1"/>
          <p:nvPr/>
        </p:nvSpPr>
        <p:spPr>
          <a:xfrm>
            <a:off x="182880" y="2834640"/>
            <a:ext cx="1280160" cy="457200"/>
          </a:xfrm>
          <a:prstGeom prst="rect">
            <a:avLst/>
          </a:prstGeom>
          <a:noFill/>
          <a:ln/>
        </p:spPr>
        <p:txBody>
          <a:bodyPr wrap="square" lIns="0" tIns="0" rIns="0" bIns="0" rtlCol="0" anchor="t"/>
          <a:lstStyle/>
          <a:p>
            <a:pPr marL="0" indent="0" algn="ctr">
              <a:buNone/>
            </a:pPr>
            <a:r>
              <a:rPr lang="it-IT" sz="1200" b="1" dirty="0">
                <a:solidFill>
                  <a:schemeClr val="tx1"/>
                </a:solidFill>
              </a:rPr>
              <a:t>Email del cliente</a:t>
            </a:r>
            <a:endParaRPr lang="it-IT" sz="1200" dirty="0"/>
          </a:p>
        </p:txBody>
      </p:sp>
      <p:sp>
        <p:nvSpPr>
          <p:cNvPr id="7" name="fase Digitalizzazione"/>
          <p:cNvSpPr/>
          <p:nvPr/>
        </p:nvSpPr>
        <p:spPr>
          <a:xfrm>
            <a:off x="1508760" y="1188720"/>
            <a:ext cx="1673352" cy="2651760"/>
          </a:xfrm>
          <a:prstGeom prst="roundRect">
            <a:avLst>
              <a:gd name="adj" fmla="val 4372"/>
            </a:avLst>
          </a:prstGeom>
          <a:solidFill>
            <a:schemeClr val="bg2"/>
          </a:solidFill>
          <a:ln/>
        </p:spPr>
        <p:txBody>
          <a:bodyPr/>
          <a:lstStyle/>
          <a:p>
            <a:endParaRPr lang="it-IT" dirty="0"/>
          </a:p>
        </p:txBody>
      </p:sp>
      <p:sp>
        <p:nvSpPr>
          <p:cNvPr id="8" name="Text 4"/>
          <p:cNvSpPr txBox="1"/>
          <p:nvPr/>
        </p:nvSpPr>
        <p:spPr>
          <a:xfrm>
            <a:off x="1645920" y="1298448"/>
            <a:ext cx="457200" cy="411480"/>
          </a:xfrm>
          <a:prstGeom prst="rect">
            <a:avLst/>
          </a:prstGeom>
          <a:noFill/>
          <a:ln/>
        </p:spPr>
        <p:txBody>
          <a:bodyPr wrap="square" lIns="0" tIns="0" rIns="0" bIns="0" rtlCol="0" anchor="t"/>
          <a:lstStyle/>
          <a:p>
            <a:pPr marL="0" indent="0">
              <a:buNone/>
            </a:pPr>
            <a:r>
              <a:rPr lang="it-IT" sz="2200" b="1" dirty="0">
                <a:solidFill>
                  <a:schemeClr val="accent1"/>
                </a:solidFill>
              </a:rPr>
              <a:t>1</a:t>
            </a:r>
            <a:endParaRPr lang="it-IT" sz="2200" dirty="0"/>
          </a:p>
        </p:txBody>
      </p:sp>
      <p:sp>
        <p:nvSpPr>
          <p:cNvPr id="9" name="Text 5"/>
          <p:cNvSpPr txBox="1"/>
          <p:nvPr/>
        </p:nvSpPr>
        <p:spPr>
          <a:xfrm>
            <a:off x="1645920" y="1737360"/>
            <a:ext cx="1417320" cy="594360"/>
          </a:xfrm>
          <a:prstGeom prst="rect">
            <a:avLst/>
          </a:prstGeom>
          <a:noFill/>
          <a:ln/>
        </p:spPr>
        <p:txBody>
          <a:bodyPr wrap="square" lIns="0" tIns="0" rIns="0" bIns="0" rtlCol="0" anchor="t"/>
          <a:lstStyle/>
          <a:p>
            <a:pPr marL="0" indent="0">
              <a:buNone/>
            </a:pPr>
            <a:r>
              <a:rPr lang="it-IT" sz="1300" b="1" dirty="0">
                <a:solidFill>
                  <a:schemeClr val="tx1"/>
                </a:solidFill>
              </a:rPr>
              <a:t>Digitalizzazione</a:t>
            </a:r>
            <a:endParaRPr lang="it-IT" sz="1300" dirty="0"/>
          </a:p>
        </p:txBody>
      </p:sp>
      <p:sp>
        <p:nvSpPr>
          <p:cNvPr id="10" name="Text 6"/>
          <p:cNvSpPr txBox="1"/>
          <p:nvPr/>
        </p:nvSpPr>
        <p:spPr>
          <a:xfrm>
            <a:off x="1645920" y="2359152"/>
            <a:ext cx="1417320" cy="1371600"/>
          </a:xfrm>
          <a:prstGeom prst="rect">
            <a:avLst/>
          </a:prstGeom>
          <a:noFill/>
          <a:ln/>
        </p:spPr>
        <p:txBody>
          <a:bodyPr wrap="square" lIns="0" tIns="0" rIns="0" bIns="0" rtlCol="0" anchor="t"/>
          <a:lstStyle/>
          <a:p>
            <a:pPr marL="0" indent="0">
              <a:buNone/>
            </a:pPr>
            <a:r>
              <a:rPr lang="it-IT" sz="1200" dirty="0">
                <a:solidFill>
                  <a:schemeClr val="tx2"/>
                </a:solidFill>
              </a:rPr>
              <a:t>Le email arrivano in una casella condivisa e sono registrate nel CRM</a:t>
            </a:r>
            <a:endParaRPr lang="it-IT" sz="1200" dirty="0"/>
          </a:p>
        </p:txBody>
      </p:sp>
      <p:sp>
        <p:nvSpPr>
          <p:cNvPr id="11" name="fase Automazione a regole"/>
          <p:cNvSpPr/>
          <p:nvPr/>
        </p:nvSpPr>
        <p:spPr>
          <a:xfrm>
            <a:off x="3319272" y="1188720"/>
            <a:ext cx="1673352" cy="2651760"/>
          </a:xfrm>
          <a:prstGeom prst="roundRect">
            <a:avLst>
              <a:gd name="adj" fmla="val 4372"/>
            </a:avLst>
          </a:prstGeom>
          <a:solidFill>
            <a:schemeClr val="bg2"/>
          </a:solidFill>
          <a:ln/>
        </p:spPr>
        <p:txBody>
          <a:bodyPr/>
          <a:lstStyle/>
          <a:p>
            <a:endParaRPr lang="it-IT" dirty="0"/>
          </a:p>
        </p:txBody>
      </p:sp>
      <p:sp>
        <p:nvSpPr>
          <p:cNvPr id="12" name="Text 8"/>
          <p:cNvSpPr txBox="1"/>
          <p:nvPr/>
        </p:nvSpPr>
        <p:spPr>
          <a:xfrm>
            <a:off x="3456432" y="1298448"/>
            <a:ext cx="457200" cy="411480"/>
          </a:xfrm>
          <a:prstGeom prst="rect">
            <a:avLst/>
          </a:prstGeom>
          <a:noFill/>
          <a:ln/>
        </p:spPr>
        <p:txBody>
          <a:bodyPr wrap="square" lIns="0" tIns="0" rIns="0" bIns="0" rtlCol="0" anchor="t"/>
          <a:lstStyle/>
          <a:p>
            <a:pPr marL="0" indent="0">
              <a:buNone/>
            </a:pPr>
            <a:r>
              <a:rPr lang="it-IT" sz="2200" b="1" dirty="0">
                <a:solidFill>
                  <a:schemeClr val="accent1"/>
                </a:solidFill>
              </a:rPr>
              <a:t>2</a:t>
            </a:r>
            <a:endParaRPr lang="it-IT" sz="2200" dirty="0"/>
          </a:p>
        </p:txBody>
      </p:sp>
      <p:sp>
        <p:nvSpPr>
          <p:cNvPr id="13" name="Text 9"/>
          <p:cNvSpPr txBox="1"/>
          <p:nvPr/>
        </p:nvSpPr>
        <p:spPr>
          <a:xfrm>
            <a:off x="3456432" y="1737360"/>
            <a:ext cx="1417320" cy="594360"/>
          </a:xfrm>
          <a:prstGeom prst="rect">
            <a:avLst/>
          </a:prstGeom>
          <a:noFill/>
          <a:ln/>
        </p:spPr>
        <p:txBody>
          <a:bodyPr wrap="square" lIns="0" tIns="0" rIns="0" bIns="0" rtlCol="0" anchor="t"/>
          <a:lstStyle/>
          <a:p>
            <a:pPr marL="0" indent="0">
              <a:buNone/>
            </a:pPr>
            <a:r>
              <a:rPr lang="it-IT" sz="1300" b="1" dirty="0">
                <a:solidFill>
                  <a:schemeClr val="tx1"/>
                </a:solidFill>
              </a:rPr>
              <a:t>Automazione a regole</a:t>
            </a:r>
            <a:endParaRPr lang="it-IT" sz="1300" dirty="0"/>
          </a:p>
        </p:txBody>
      </p:sp>
      <p:sp>
        <p:nvSpPr>
          <p:cNvPr id="14" name="Text 10"/>
          <p:cNvSpPr txBox="1"/>
          <p:nvPr/>
        </p:nvSpPr>
        <p:spPr>
          <a:xfrm>
            <a:off x="3456432" y="2359152"/>
            <a:ext cx="1417320" cy="1371600"/>
          </a:xfrm>
          <a:prstGeom prst="rect">
            <a:avLst/>
          </a:prstGeom>
          <a:noFill/>
          <a:ln/>
        </p:spPr>
        <p:txBody>
          <a:bodyPr wrap="square" lIns="0" tIns="0" rIns="0" bIns="0" rtlCol="0" anchor="t"/>
          <a:lstStyle/>
          <a:p>
            <a:pPr marL="0" indent="0">
              <a:buNone/>
            </a:pPr>
            <a:r>
              <a:rPr lang="it-IT" sz="1200" dirty="0">
                <a:solidFill>
                  <a:schemeClr val="tx2"/>
                </a:solidFill>
              </a:rPr>
              <a:t>Conferma di ricezione automatica e inoltro in base a regole fisse</a:t>
            </a:r>
            <a:endParaRPr lang="it-IT" sz="1200" dirty="0"/>
          </a:p>
        </p:txBody>
      </p:sp>
      <p:sp>
        <p:nvSpPr>
          <p:cNvPr id="15" name="fase Apprendimento dai dati"/>
          <p:cNvSpPr/>
          <p:nvPr/>
        </p:nvSpPr>
        <p:spPr>
          <a:xfrm>
            <a:off x="5129784" y="1188720"/>
            <a:ext cx="1673352" cy="2651760"/>
          </a:xfrm>
          <a:prstGeom prst="roundRect">
            <a:avLst>
              <a:gd name="adj" fmla="val 4372"/>
            </a:avLst>
          </a:prstGeom>
          <a:solidFill>
            <a:schemeClr val="bg2"/>
          </a:solidFill>
          <a:ln/>
        </p:spPr>
        <p:txBody>
          <a:bodyPr/>
          <a:lstStyle/>
          <a:p>
            <a:endParaRPr lang="it-IT" dirty="0"/>
          </a:p>
        </p:txBody>
      </p:sp>
      <p:sp>
        <p:nvSpPr>
          <p:cNvPr id="16" name="Text 12"/>
          <p:cNvSpPr txBox="1"/>
          <p:nvPr/>
        </p:nvSpPr>
        <p:spPr>
          <a:xfrm>
            <a:off x="5266944" y="1298448"/>
            <a:ext cx="457200" cy="411480"/>
          </a:xfrm>
          <a:prstGeom prst="rect">
            <a:avLst/>
          </a:prstGeom>
          <a:noFill/>
          <a:ln/>
        </p:spPr>
        <p:txBody>
          <a:bodyPr wrap="square" lIns="0" tIns="0" rIns="0" bIns="0" rtlCol="0" anchor="t"/>
          <a:lstStyle/>
          <a:p>
            <a:pPr marL="0" indent="0">
              <a:buNone/>
            </a:pPr>
            <a:r>
              <a:rPr lang="it-IT" sz="2200" b="1" dirty="0">
                <a:solidFill>
                  <a:schemeClr val="accent1"/>
                </a:solidFill>
              </a:rPr>
              <a:t>3</a:t>
            </a:r>
            <a:endParaRPr lang="it-IT" sz="2200" dirty="0"/>
          </a:p>
        </p:txBody>
      </p:sp>
      <p:sp>
        <p:nvSpPr>
          <p:cNvPr id="17" name="Text 13"/>
          <p:cNvSpPr txBox="1"/>
          <p:nvPr/>
        </p:nvSpPr>
        <p:spPr>
          <a:xfrm>
            <a:off x="5266944" y="1737360"/>
            <a:ext cx="1417320" cy="594360"/>
          </a:xfrm>
          <a:prstGeom prst="rect">
            <a:avLst/>
          </a:prstGeom>
          <a:noFill/>
          <a:ln/>
        </p:spPr>
        <p:txBody>
          <a:bodyPr wrap="square" lIns="0" tIns="0" rIns="0" bIns="0" rtlCol="0" anchor="t"/>
          <a:lstStyle/>
          <a:p>
            <a:pPr marL="0" indent="0">
              <a:buNone/>
            </a:pPr>
            <a:r>
              <a:rPr lang="it-IT" sz="1300" b="1" dirty="0">
                <a:solidFill>
                  <a:schemeClr val="tx1"/>
                </a:solidFill>
              </a:rPr>
              <a:t>Apprendimento dai dati</a:t>
            </a:r>
            <a:endParaRPr lang="it-IT" sz="1300" dirty="0"/>
          </a:p>
        </p:txBody>
      </p:sp>
      <p:sp>
        <p:nvSpPr>
          <p:cNvPr id="18" name="Text 14"/>
          <p:cNvSpPr txBox="1"/>
          <p:nvPr/>
        </p:nvSpPr>
        <p:spPr>
          <a:xfrm>
            <a:off x="5266944" y="2359152"/>
            <a:ext cx="1417320" cy="1371600"/>
          </a:xfrm>
          <a:prstGeom prst="rect">
            <a:avLst/>
          </a:prstGeom>
          <a:noFill/>
          <a:ln/>
        </p:spPr>
        <p:txBody>
          <a:bodyPr wrap="square" lIns="0" tIns="0" rIns="0" bIns="0" rtlCol="0" anchor="t"/>
          <a:lstStyle/>
          <a:p>
            <a:pPr marL="0" indent="0">
              <a:buNone/>
            </a:pPr>
            <a:r>
              <a:rPr lang="it-IT" sz="1200" dirty="0">
                <a:solidFill>
                  <a:schemeClr val="tx2"/>
                </a:solidFill>
              </a:rPr>
              <a:t>Un modello classifica ogni richiesta per categoria e urgenza</a:t>
            </a:r>
            <a:endParaRPr lang="it-IT" sz="1200" dirty="0"/>
          </a:p>
        </p:txBody>
      </p:sp>
      <p:sp>
        <p:nvSpPr>
          <p:cNvPr id="19" name="fase AI generativa"/>
          <p:cNvSpPr/>
          <p:nvPr/>
        </p:nvSpPr>
        <p:spPr>
          <a:xfrm>
            <a:off x="6940296" y="1188720"/>
            <a:ext cx="1673352" cy="2651760"/>
          </a:xfrm>
          <a:prstGeom prst="roundRect">
            <a:avLst>
              <a:gd name="adj" fmla="val 4372"/>
            </a:avLst>
          </a:prstGeom>
          <a:solidFill>
            <a:schemeClr val="accent6"/>
          </a:solidFill>
          <a:ln/>
        </p:spPr>
        <p:txBody>
          <a:bodyPr/>
          <a:lstStyle/>
          <a:p>
            <a:endParaRPr lang="it-IT" dirty="0"/>
          </a:p>
        </p:txBody>
      </p:sp>
      <p:sp>
        <p:nvSpPr>
          <p:cNvPr id="20" name="Text 16"/>
          <p:cNvSpPr txBox="1"/>
          <p:nvPr/>
        </p:nvSpPr>
        <p:spPr>
          <a:xfrm>
            <a:off x="7077456" y="1298448"/>
            <a:ext cx="457200" cy="411480"/>
          </a:xfrm>
          <a:prstGeom prst="rect">
            <a:avLst/>
          </a:prstGeom>
          <a:noFill/>
          <a:ln/>
        </p:spPr>
        <p:txBody>
          <a:bodyPr wrap="square" lIns="0" tIns="0" rIns="0" bIns="0" rtlCol="0" anchor="t"/>
          <a:lstStyle/>
          <a:p>
            <a:pPr marL="0" indent="0">
              <a:buNone/>
            </a:pPr>
            <a:r>
              <a:rPr lang="it-IT" sz="2200" b="1" dirty="0">
                <a:solidFill>
                  <a:schemeClr val="accent1"/>
                </a:solidFill>
              </a:rPr>
              <a:t>4</a:t>
            </a:r>
            <a:endParaRPr lang="it-IT" sz="2200" dirty="0"/>
          </a:p>
        </p:txBody>
      </p:sp>
      <p:sp>
        <p:nvSpPr>
          <p:cNvPr id="21" name="Text 17"/>
          <p:cNvSpPr txBox="1"/>
          <p:nvPr/>
        </p:nvSpPr>
        <p:spPr>
          <a:xfrm>
            <a:off x="7077456" y="1737360"/>
            <a:ext cx="1417320" cy="594360"/>
          </a:xfrm>
          <a:prstGeom prst="rect">
            <a:avLst/>
          </a:prstGeom>
          <a:noFill/>
          <a:ln/>
        </p:spPr>
        <p:txBody>
          <a:bodyPr wrap="square" lIns="0" tIns="0" rIns="0" bIns="0" rtlCol="0" anchor="t"/>
          <a:lstStyle/>
          <a:p>
            <a:pPr marL="0" indent="0">
              <a:buNone/>
            </a:pPr>
            <a:r>
              <a:rPr lang="it-IT" sz="1300" b="1" dirty="0">
                <a:solidFill>
                  <a:schemeClr val="tx1"/>
                </a:solidFill>
              </a:rPr>
              <a:t>AI generativa</a:t>
            </a:r>
            <a:endParaRPr lang="it-IT" sz="1300" dirty="0"/>
          </a:p>
        </p:txBody>
      </p:sp>
      <p:sp>
        <p:nvSpPr>
          <p:cNvPr id="22" name="Text 18"/>
          <p:cNvSpPr txBox="1"/>
          <p:nvPr/>
        </p:nvSpPr>
        <p:spPr>
          <a:xfrm>
            <a:off x="7077456" y="2359152"/>
            <a:ext cx="1417320" cy="1371600"/>
          </a:xfrm>
          <a:prstGeom prst="rect">
            <a:avLst/>
          </a:prstGeom>
          <a:noFill/>
          <a:ln/>
        </p:spPr>
        <p:txBody>
          <a:bodyPr wrap="square" lIns="0" tIns="0" rIns="0" bIns="0" rtlCol="0" anchor="t"/>
          <a:lstStyle/>
          <a:p>
            <a:pPr marL="0" indent="0">
              <a:buNone/>
            </a:pPr>
            <a:r>
              <a:rPr lang="it-IT" sz="1200" dirty="0">
                <a:solidFill>
                  <a:schemeClr val="tx2"/>
                </a:solidFill>
              </a:rPr>
              <a:t>Sintesi della richiesta e bozza di risposta</a:t>
            </a:r>
            <a:endParaRPr lang="it-IT" sz="1200" dirty="0"/>
          </a:p>
        </p:txBody>
      </p:sp>
      <p:sp>
        <p:nvSpPr>
          <p:cNvPr id="23" name="operatore"/>
          <p:cNvSpPr/>
          <p:nvPr/>
        </p:nvSpPr>
        <p:spPr>
          <a:xfrm>
            <a:off x="1508760" y="3977640"/>
            <a:ext cx="7178040" cy="548640"/>
          </a:xfrm>
          <a:prstGeom prst="roundRect">
            <a:avLst>
              <a:gd name="adj" fmla="val 13333"/>
            </a:avLst>
          </a:prstGeom>
          <a:solidFill>
            <a:schemeClr val="tx1"/>
          </a:solidFill>
          <a:ln/>
        </p:spPr>
        <p:txBody>
          <a:bodyPr/>
          <a:lstStyle/>
          <a:p>
            <a:endParaRPr lang="it-IT" dirty="0"/>
          </a:p>
        </p:txBody>
      </p:sp>
      <p:sp>
        <p:nvSpPr>
          <p:cNvPr id="24" name="cerchio FiUserCheck"/>
          <p:cNvSpPr/>
          <p:nvPr/>
        </p:nvSpPr>
        <p:spPr>
          <a:xfrm>
            <a:off x="1645920" y="4041648"/>
            <a:ext cx="420624" cy="420624"/>
          </a:xfrm>
          <a:prstGeom prst="ellipse">
            <a:avLst/>
          </a:prstGeom>
          <a:solidFill>
            <a:schemeClr val="accent1"/>
          </a:solidFill>
          <a:ln/>
        </p:spPr>
        <p:txBody>
          <a:bodyPr/>
          <a:lstStyle/>
          <a:p>
            <a:endParaRPr lang="it-IT" dirty="0"/>
          </a:p>
        </p:txBody>
      </p:sp>
      <p:pic>
        <p:nvPicPr>
          <p:cNvPr id="25" name="Image 1" descr="FiUserCheck"/>
          <p:cNvPicPr>
            <a:picLocks noChangeAspect="1"/>
          </p:cNvPicPr>
          <p:nvPr/>
        </p:nvPicPr>
        <p:blipFill>
          <a:blip r:embed="rId4"/>
          <a:stretch>
            <a:fillRect/>
          </a:stretch>
        </p:blipFill>
        <p:spPr>
          <a:xfrm>
            <a:off x="1751076" y="4146804"/>
            <a:ext cx="210312" cy="210312"/>
          </a:xfrm>
          <a:prstGeom prst="rect">
            <a:avLst/>
          </a:prstGeom>
        </p:spPr>
      </p:pic>
      <p:sp>
        <p:nvSpPr>
          <p:cNvPr id="26" name="Text 21"/>
          <p:cNvSpPr txBox="1"/>
          <p:nvPr/>
        </p:nvSpPr>
        <p:spPr>
          <a:xfrm>
            <a:off x="2240280" y="3977640"/>
            <a:ext cx="6309360" cy="548640"/>
          </a:xfrm>
          <a:prstGeom prst="rect">
            <a:avLst/>
          </a:prstGeom>
          <a:noFill/>
          <a:ln/>
        </p:spPr>
        <p:txBody>
          <a:bodyPr wrap="square" lIns="0" tIns="0" rIns="0" bIns="0" rtlCol="0" anchor="ctr"/>
          <a:lstStyle/>
          <a:p>
            <a:pPr marL="0" indent="0">
              <a:buNone/>
            </a:pPr>
            <a:r>
              <a:rPr lang="it-IT" sz="1400" dirty="0">
                <a:solidFill>
                  <a:schemeClr val="bg1"/>
                </a:solidFill>
              </a:rPr>
              <a:t>L'operatore verifica, modifica e invia la risposta</a:t>
            </a:r>
            <a:endParaRPr lang="it-IT"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17</a:t>
            </a:fld>
            <a:endParaRPr lang="it-IT"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Sistema deterministico e sistemi probabilistici</a:t>
            </a:r>
            <a:endParaRPr lang="it-IT" sz="2600" dirty="0"/>
          </a:p>
        </p:txBody>
      </p:sp>
      <p:graphicFrame>
        <p:nvGraphicFramePr>
          <p:cNvPr id="34" name="Table 0"/>
          <p:cNvGraphicFramePr>
            <a:graphicFrameLocks noGrp="1"/>
          </p:cNvGraphicFramePr>
          <p:nvPr/>
        </p:nvGraphicFramePr>
        <p:xfrm>
          <a:off x="457200" y="1097280"/>
          <a:ext cx="8229600" cy="3072384"/>
        </p:xfrm>
        <a:graphic>
          <a:graphicData uri="http://schemas.openxmlformats.org/drawingml/2006/table">
            <a:tbl>
              <a:tblPr/>
              <a:tblGrid>
                <a:gridCol w="146304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512064">
                <a:tc>
                  <a:txBody>
                    <a:bodyPr/>
                    <a:lstStyle/>
                    <a:p>
                      <a:pPr marL="0" indent="0">
                        <a:buNone/>
                      </a:pPr>
                      <a:endParaRPr lang="it-IT"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b="1" dirty="0">
                          <a:solidFill>
                            <a:schemeClr val="bg1"/>
                          </a:solidFill>
                        </a:rPr>
                        <a:t>Sistema deterministico</a:t>
                      </a:r>
                      <a:endParaRPr lang="it-IT"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it-IT" sz="1300" b="1" dirty="0">
                          <a:solidFill>
                            <a:schemeClr val="bg1"/>
                          </a:solidFill>
                        </a:rPr>
                        <a:t>Sistema probabilistico</a:t>
                      </a:r>
                      <a:endParaRPr lang="it-IT"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12064">
                <a:tc>
                  <a:txBody>
                    <a:bodyPr/>
                    <a:lstStyle/>
                    <a:p>
                      <a:pPr marL="0" indent="0">
                        <a:buNone/>
                      </a:pPr>
                      <a:r>
                        <a:rPr lang="it-IT" sz="1300" b="1" dirty="0">
                          <a:solidFill>
                            <a:schemeClr val="tx1"/>
                          </a:solidFill>
                        </a:rPr>
                        <a:t>Logica</a:t>
                      </a:r>
                      <a:endParaRPr lang="it-IT"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dirty="0">
                          <a:solidFill>
                            <a:schemeClr val="tx1"/>
                          </a:solidFill>
                        </a:rPr>
                        <a:t>Istruzioni scritte da persone</a:t>
                      </a:r>
                      <a:endParaRPr lang="it-IT"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dirty="0">
                          <a:solidFill>
                            <a:schemeClr val="tx1"/>
                          </a:solidFill>
                        </a:rPr>
                        <a:t>Regolarità apprese dai dati</a:t>
                      </a:r>
                      <a:endParaRPr lang="it-IT"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512064">
                <a:tc>
                  <a:txBody>
                    <a:bodyPr/>
                    <a:lstStyle/>
                    <a:p>
                      <a:pPr marL="0" indent="0">
                        <a:buNone/>
                      </a:pPr>
                      <a:r>
                        <a:rPr lang="it-IT" sz="1300" b="1" dirty="0">
                          <a:solidFill>
                            <a:schemeClr val="tx1"/>
                          </a:solidFill>
                        </a:rPr>
                        <a:t>Stesso input</a:t>
                      </a:r>
                      <a:endParaRPr lang="it-IT"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dirty="0">
                          <a:solidFill>
                            <a:schemeClr val="tx1"/>
                          </a:solidFill>
                        </a:rPr>
                        <a:t>Sempre lo stesso output</a:t>
                      </a:r>
                      <a:endParaRPr lang="it-IT"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dirty="0">
                          <a:solidFill>
                            <a:schemeClr val="tx1"/>
                          </a:solidFill>
                        </a:rPr>
                        <a:t>Output anche diversi</a:t>
                      </a:r>
                      <a:endParaRPr lang="it-IT"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2"/>
                  </a:ext>
                </a:extLst>
              </a:tr>
              <a:tr h="512064">
                <a:tc>
                  <a:txBody>
                    <a:bodyPr/>
                    <a:lstStyle/>
                    <a:p>
                      <a:pPr marL="0" indent="0">
                        <a:buNone/>
                      </a:pPr>
                      <a:r>
                        <a:rPr lang="it-IT" sz="1300" b="1" dirty="0">
                          <a:solidFill>
                            <a:schemeClr val="tx1"/>
                          </a:solidFill>
                        </a:rPr>
                        <a:t>Errori</a:t>
                      </a:r>
                      <a:endParaRPr lang="it-IT"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dirty="0">
                          <a:solidFill>
                            <a:schemeClr val="tx1"/>
                          </a:solidFill>
                        </a:rPr>
                        <a:t>Difetti del programma, correggibili</a:t>
                      </a:r>
                      <a:endParaRPr lang="it-IT"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dirty="0">
                          <a:solidFill>
                            <a:schemeClr val="tx1"/>
                          </a:solidFill>
                        </a:rPr>
                        <a:t>Risultati plausibili ma non sempre corretti</a:t>
                      </a:r>
                      <a:endParaRPr lang="it-IT"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3"/>
                  </a:ext>
                </a:extLst>
              </a:tr>
              <a:tr h="512064">
                <a:tc>
                  <a:txBody>
                    <a:bodyPr/>
                    <a:lstStyle/>
                    <a:p>
                      <a:pPr marL="0" indent="0">
                        <a:buNone/>
                      </a:pPr>
                      <a:r>
                        <a:rPr lang="it-IT" sz="1300" b="1" dirty="0">
                          <a:solidFill>
                            <a:schemeClr val="tx1"/>
                          </a:solidFill>
                        </a:rPr>
                        <a:t>Verifica</a:t>
                      </a:r>
                      <a:endParaRPr lang="it-IT"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dirty="0">
                          <a:solidFill>
                            <a:schemeClr val="tx1"/>
                          </a:solidFill>
                        </a:rPr>
                        <a:t>Collaudo del programma</a:t>
                      </a:r>
                      <a:endParaRPr lang="it-IT"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dirty="0">
                          <a:solidFill>
                            <a:schemeClr val="tx1"/>
                          </a:solidFill>
                        </a:rPr>
                        <a:t>Verifica proporzionata all'importanza</a:t>
                      </a:r>
                      <a:endParaRPr lang="it-IT"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4"/>
                  </a:ext>
                </a:extLst>
              </a:tr>
              <a:tr h="512064">
                <a:tc>
                  <a:txBody>
                    <a:bodyPr/>
                    <a:lstStyle/>
                    <a:p>
                      <a:pPr marL="0" indent="0">
                        <a:buNone/>
                      </a:pPr>
                      <a:r>
                        <a:rPr lang="it-IT" sz="1300" b="1" dirty="0">
                          <a:solidFill>
                            <a:schemeClr val="tx1"/>
                          </a:solidFill>
                        </a:rPr>
                        <a:t>Esempi</a:t>
                      </a:r>
                      <a:endParaRPr lang="it-IT"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dirty="0">
                          <a:solidFill>
                            <a:schemeClr val="tx1"/>
                          </a:solidFill>
                        </a:rPr>
                        <a:t>Calcolo IVA, gestionale, foglio di calcolo</a:t>
                      </a:r>
                      <a:endParaRPr lang="it-IT"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dirty="0">
                          <a:solidFill>
                            <a:schemeClr val="tx1"/>
                          </a:solidFill>
                        </a:rPr>
                        <a:t>Classificazione email, assistente che scrive</a:t>
                      </a:r>
                      <a:endParaRPr lang="it-IT"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18</a:t>
            </a:fld>
            <a:endParaRPr lang="it-IT"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it-IT" sz="6000" b="1" dirty="0">
                <a:solidFill>
                  <a:schemeClr val="accent1"/>
                </a:solidFill>
              </a:rPr>
              <a:t>1.5</a:t>
            </a:r>
            <a:endParaRPr lang="it-IT"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it-IT" sz="3200" b="1" dirty="0">
                <a:solidFill>
                  <a:schemeClr val="bg1"/>
                </a:solidFill>
              </a:rPr>
              <a:t>Rilevanza dell'AI per le aziende</a:t>
            </a:r>
            <a:endParaRPr lang="it-IT"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it-IT" sz="1600" dirty="0">
                <a:solidFill>
                  <a:schemeClr val="accent3"/>
                </a:solidFill>
              </a:rPr>
              <a:t>Una tecnologia abilitante e trasversale: il valore nasce da applicazioni appropriate a problemi reali</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19</a:t>
            </a:fld>
            <a:endParaRPr lang="it-IT"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Un'applicazione trasversale alle funzioni aziendali</a:t>
            </a:r>
            <a:endParaRPr lang="it-IT" sz="2600" dirty="0"/>
          </a:p>
        </p:txBody>
      </p:sp>
      <p:sp>
        <p:nvSpPr>
          <p:cNvPr id="4" name="Marketing"/>
          <p:cNvSpPr/>
          <p:nvPr/>
        </p:nvSpPr>
        <p:spPr>
          <a:xfrm>
            <a:off x="457200" y="1097280"/>
            <a:ext cx="1965960" cy="1463040"/>
          </a:xfrm>
          <a:prstGeom prst="roundRect">
            <a:avLst>
              <a:gd name="adj" fmla="val 5000"/>
            </a:avLst>
          </a:prstGeom>
          <a:solidFill>
            <a:schemeClr val="bg2"/>
          </a:solidFill>
          <a:ln/>
        </p:spPr>
        <p:txBody>
          <a:bodyPr/>
          <a:lstStyle/>
          <a:p>
            <a:endParaRPr lang="it-IT" dirty="0"/>
          </a:p>
        </p:txBody>
      </p:sp>
      <p:sp>
        <p:nvSpPr>
          <p:cNvPr id="5" name="cerchio FiSpeaker"/>
          <p:cNvSpPr/>
          <p:nvPr/>
        </p:nvSpPr>
        <p:spPr>
          <a:xfrm>
            <a:off x="621792" y="1261872"/>
            <a:ext cx="457200" cy="457200"/>
          </a:xfrm>
          <a:prstGeom prst="ellipse">
            <a:avLst/>
          </a:prstGeom>
          <a:solidFill>
            <a:schemeClr val="accent1"/>
          </a:solidFill>
          <a:ln/>
        </p:spPr>
        <p:txBody>
          <a:bodyPr/>
          <a:lstStyle/>
          <a:p>
            <a:endParaRPr lang="it-IT" dirty="0"/>
          </a:p>
        </p:txBody>
      </p:sp>
      <p:pic>
        <p:nvPicPr>
          <p:cNvPr id="6" name="Image 0" descr="FiSpeaker"/>
          <p:cNvPicPr>
            <a:picLocks noChangeAspect="1"/>
          </p:cNvPicPr>
          <p:nvPr/>
        </p:nvPicPr>
        <p:blipFill>
          <a:blip r:embed="rId3"/>
          <a:stretch>
            <a:fillRect/>
          </a:stretch>
        </p:blipFill>
        <p:spPr>
          <a:xfrm>
            <a:off x="736092" y="1376172"/>
            <a:ext cx="228600" cy="228600"/>
          </a:xfrm>
          <a:prstGeom prst="rect">
            <a:avLst/>
          </a:prstGeom>
        </p:spPr>
      </p:pic>
      <p:sp>
        <p:nvSpPr>
          <p:cNvPr id="7" name="Text 3"/>
          <p:cNvSpPr txBox="1"/>
          <p:nvPr/>
        </p:nvSpPr>
        <p:spPr>
          <a:xfrm>
            <a:off x="621792" y="1810512"/>
            <a:ext cx="1691640" cy="320040"/>
          </a:xfrm>
          <a:prstGeom prst="rect">
            <a:avLst/>
          </a:prstGeom>
          <a:noFill/>
          <a:ln/>
        </p:spPr>
        <p:txBody>
          <a:bodyPr wrap="square" lIns="0" tIns="0" rIns="0" bIns="0" rtlCol="0" anchor="t"/>
          <a:lstStyle/>
          <a:p>
            <a:pPr marL="0" indent="0">
              <a:buNone/>
            </a:pPr>
            <a:r>
              <a:rPr lang="it-IT" sz="1300" b="1" dirty="0">
                <a:solidFill>
                  <a:schemeClr val="tx1"/>
                </a:solidFill>
              </a:rPr>
              <a:t>Marketing</a:t>
            </a:r>
            <a:endParaRPr lang="it-IT" sz="1300" dirty="0"/>
          </a:p>
        </p:txBody>
      </p:sp>
      <p:sp>
        <p:nvSpPr>
          <p:cNvPr id="8" name="Text 4"/>
          <p:cNvSpPr txBox="1"/>
          <p:nvPr/>
        </p:nvSpPr>
        <p:spPr>
          <a:xfrm>
            <a:off x="621792" y="2176272"/>
            <a:ext cx="1691640" cy="320040"/>
          </a:xfrm>
          <a:prstGeom prst="rect">
            <a:avLst/>
          </a:prstGeom>
          <a:noFill/>
          <a:ln/>
        </p:spPr>
        <p:txBody>
          <a:bodyPr wrap="square" lIns="0" tIns="0" rIns="0" bIns="0" rtlCol="0" anchor="t"/>
          <a:lstStyle/>
          <a:p>
            <a:pPr marL="0" indent="0">
              <a:buNone/>
            </a:pPr>
            <a:r>
              <a:rPr lang="it-IT" sz="1200" dirty="0">
                <a:solidFill>
                  <a:schemeClr val="tx2"/>
                </a:solidFill>
              </a:rPr>
              <a:t>Contenuti e analisi</a:t>
            </a:r>
            <a:endParaRPr lang="it-IT" sz="1200" dirty="0"/>
          </a:p>
        </p:txBody>
      </p:sp>
      <p:sp>
        <p:nvSpPr>
          <p:cNvPr id="9" name="Vendite"/>
          <p:cNvSpPr/>
          <p:nvPr/>
        </p:nvSpPr>
        <p:spPr>
          <a:xfrm>
            <a:off x="2560320" y="1097280"/>
            <a:ext cx="1965960" cy="1463040"/>
          </a:xfrm>
          <a:prstGeom prst="roundRect">
            <a:avLst>
              <a:gd name="adj" fmla="val 5000"/>
            </a:avLst>
          </a:prstGeom>
          <a:solidFill>
            <a:schemeClr val="bg2"/>
          </a:solidFill>
          <a:ln/>
        </p:spPr>
        <p:txBody>
          <a:bodyPr/>
          <a:lstStyle/>
          <a:p>
            <a:endParaRPr lang="it-IT" dirty="0"/>
          </a:p>
        </p:txBody>
      </p:sp>
      <p:sp>
        <p:nvSpPr>
          <p:cNvPr id="10" name="cerchio FiTrendingUp"/>
          <p:cNvSpPr/>
          <p:nvPr/>
        </p:nvSpPr>
        <p:spPr>
          <a:xfrm>
            <a:off x="2724912" y="1261872"/>
            <a:ext cx="457200" cy="457200"/>
          </a:xfrm>
          <a:prstGeom prst="ellipse">
            <a:avLst/>
          </a:prstGeom>
          <a:solidFill>
            <a:schemeClr val="accent1"/>
          </a:solidFill>
          <a:ln/>
        </p:spPr>
        <p:txBody>
          <a:bodyPr/>
          <a:lstStyle/>
          <a:p>
            <a:endParaRPr lang="it-IT" dirty="0"/>
          </a:p>
        </p:txBody>
      </p:sp>
      <p:pic>
        <p:nvPicPr>
          <p:cNvPr id="11" name="Image 1" descr="FiTrendingUp"/>
          <p:cNvPicPr>
            <a:picLocks noChangeAspect="1"/>
          </p:cNvPicPr>
          <p:nvPr/>
        </p:nvPicPr>
        <p:blipFill>
          <a:blip r:embed="rId4"/>
          <a:stretch>
            <a:fillRect/>
          </a:stretch>
        </p:blipFill>
        <p:spPr>
          <a:xfrm>
            <a:off x="2839212" y="1376172"/>
            <a:ext cx="228600" cy="228600"/>
          </a:xfrm>
          <a:prstGeom prst="rect">
            <a:avLst/>
          </a:prstGeom>
        </p:spPr>
      </p:pic>
      <p:sp>
        <p:nvSpPr>
          <p:cNvPr id="12" name="Text 7"/>
          <p:cNvSpPr txBox="1"/>
          <p:nvPr/>
        </p:nvSpPr>
        <p:spPr>
          <a:xfrm>
            <a:off x="2724912" y="1810512"/>
            <a:ext cx="1691640" cy="320040"/>
          </a:xfrm>
          <a:prstGeom prst="rect">
            <a:avLst/>
          </a:prstGeom>
          <a:noFill/>
          <a:ln/>
        </p:spPr>
        <p:txBody>
          <a:bodyPr wrap="square" lIns="0" tIns="0" rIns="0" bIns="0" rtlCol="0" anchor="t"/>
          <a:lstStyle/>
          <a:p>
            <a:pPr marL="0" indent="0">
              <a:buNone/>
            </a:pPr>
            <a:r>
              <a:rPr lang="it-IT" sz="1300" b="1" dirty="0">
                <a:solidFill>
                  <a:schemeClr val="tx1"/>
                </a:solidFill>
              </a:rPr>
              <a:t>Vendite</a:t>
            </a:r>
            <a:endParaRPr lang="it-IT" sz="1300" dirty="0"/>
          </a:p>
        </p:txBody>
      </p:sp>
      <p:sp>
        <p:nvSpPr>
          <p:cNvPr id="13" name="Text 8"/>
          <p:cNvSpPr txBox="1"/>
          <p:nvPr/>
        </p:nvSpPr>
        <p:spPr>
          <a:xfrm>
            <a:off x="2724912" y="2176272"/>
            <a:ext cx="1691640" cy="320040"/>
          </a:xfrm>
          <a:prstGeom prst="rect">
            <a:avLst/>
          </a:prstGeom>
          <a:noFill/>
          <a:ln/>
        </p:spPr>
        <p:txBody>
          <a:bodyPr wrap="square" lIns="0" tIns="0" rIns="0" bIns="0" rtlCol="0" anchor="t"/>
          <a:lstStyle/>
          <a:p>
            <a:pPr marL="0" indent="0">
              <a:buNone/>
            </a:pPr>
            <a:r>
              <a:rPr lang="it-IT" sz="1200" dirty="0">
                <a:solidFill>
                  <a:schemeClr val="tx2"/>
                </a:solidFill>
              </a:rPr>
              <a:t>Incontri e offerte</a:t>
            </a:r>
            <a:endParaRPr lang="it-IT" sz="1200" dirty="0"/>
          </a:p>
        </p:txBody>
      </p:sp>
      <p:sp>
        <p:nvSpPr>
          <p:cNvPr id="14" name="Assistenza clienti"/>
          <p:cNvSpPr/>
          <p:nvPr/>
        </p:nvSpPr>
        <p:spPr>
          <a:xfrm>
            <a:off x="4663440" y="1097280"/>
            <a:ext cx="1965960" cy="1463040"/>
          </a:xfrm>
          <a:prstGeom prst="roundRect">
            <a:avLst>
              <a:gd name="adj" fmla="val 5000"/>
            </a:avLst>
          </a:prstGeom>
          <a:solidFill>
            <a:schemeClr val="bg2"/>
          </a:solidFill>
          <a:ln/>
        </p:spPr>
        <p:txBody>
          <a:bodyPr/>
          <a:lstStyle/>
          <a:p>
            <a:endParaRPr lang="it-IT" dirty="0"/>
          </a:p>
        </p:txBody>
      </p:sp>
      <p:sp>
        <p:nvSpPr>
          <p:cNvPr id="15" name="cerchio FiHeadphones"/>
          <p:cNvSpPr/>
          <p:nvPr/>
        </p:nvSpPr>
        <p:spPr>
          <a:xfrm>
            <a:off x="4828032" y="1261872"/>
            <a:ext cx="457200" cy="457200"/>
          </a:xfrm>
          <a:prstGeom prst="ellipse">
            <a:avLst/>
          </a:prstGeom>
          <a:solidFill>
            <a:schemeClr val="accent1"/>
          </a:solidFill>
          <a:ln/>
        </p:spPr>
        <p:txBody>
          <a:bodyPr/>
          <a:lstStyle/>
          <a:p>
            <a:endParaRPr lang="it-IT" dirty="0"/>
          </a:p>
        </p:txBody>
      </p:sp>
      <p:pic>
        <p:nvPicPr>
          <p:cNvPr id="16" name="Image 2" descr="FiHeadphones"/>
          <p:cNvPicPr>
            <a:picLocks noChangeAspect="1"/>
          </p:cNvPicPr>
          <p:nvPr/>
        </p:nvPicPr>
        <p:blipFill>
          <a:blip r:embed="rId5"/>
          <a:stretch>
            <a:fillRect/>
          </a:stretch>
        </p:blipFill>
        <p:spPr>
          <a:xfrm>
            <a:off x="4942332" y="1376172"/>
            <a:ext cx="228600" cy="228600"/>
          </a:xfrm>
          <a:prstGeom prst="rect">
            <a:avLst/>
          </a:prstGeom>
        </p:spPr>
      </p:pic>
      <p:sp>
        <p:nvSpPr>
          <p:cNvPr id="17" name="Text 11"/>
          <p:cNvSpPr txBox="1"/>
          <p:nvPr/>
        </p:nvSpPr>
        <p:spPr>
          <a:xfrm>
            <a:off x="4828032" y="1810512"/>
            <a:ext cx="1691640" cy="320040"/>
          </a:xfrm>
          <a:prstGeom prst="rect">
            <a:avLst/>
          </a:prstGeom>
          <a:noFill/>
          <a:ln/>
        </p:spPr>
        <p:txBody>
          <a:bodyPr wrap="square" lIns="0" tIns="0" rIns="0" bIns="0" rtlCol="0" anchor="t"/>
          <a:lstStyle/>
          <a:p>
            <a:pPr marL="0" indent="0">
              <a:buNone/>
            </a:pPr>
            <a:r>
              <a:rPr lang="it-IT" sz="1300" b="1" dirty="0">
                <a:solidFill>
                  <a:schemeClr val="tx1"/>
                </a:solidFill>
              </a:rPr>
              <a:t>Assistenza clienti</a:t>
            </a:r>
            <a:endParaRPr lang="it-IT" sz="1300" dirty="0"/>
          </a:p>
        </p:txBody>
      </p:sp>
      <p:sp>
        <p:nvSpPr>
          <p:cNvPr id="18" name="Text 12"/>
          <p:cNvSpPr txBox="1"/>
          <p:nvPr/>
        </p:nvSpPr>
        <p:spPr>
          <a:xfrm>
            <a:off x="4828032" y="2176272"/>
            <a:ext cx="1691640" cy="320040"/>
          </a:xfrm>
          <a:prstGeom prst="rect">
            <a:avLst/>
          </a:prstGeom>
          <a:noFill/>
          <a:ln/>
        </p:spPr>
        <p:txBody>
          <a:bodyPr wrap="square" lIns="0" tIns="0" rIns="0" bIns="0" rtlCol="0" anchor="t"/>
          <a:lstStyle/>
          <a:p>
            <a:pPr marL="0" indent="0">
              <a:buNone/>
            </a:pPr>
            <a:r>
              <a:rPr lang="it-IT" sz="1200" dirty="0">
                <a:solidFill>
                  <a:schemeClr val="tx2"/>
                </a:solidFill>
              </a:rPr>
              <a:t>Smistamento e risposte</a:t>
            </a:r>
            <a:endParaRPr lang="it-IT" sz="1200" dirty="0"/>
          </a:p>
        </p:txBody>
      </p:sp>
      <p:sp>
        <p:nvSpPr>
          <p:cNvPr id="19" name="Risorse umane"/>
          <p:cNvSpPr/>
          <p:nvPr/>
        </p:nvSpPr>
        <p:spPr>
          <a:xfrm>
            <a:off x="6766560" y="1097280"/>
            <a:ext cx="1965960" cy="1463040"/>
          </a:xfrm>
          <a:prstGeom prst="roundRect">
            <a:avLst>
              <a:gd name="adj" fmla="val 5000"/>
            </a:avLst>
          </a:prstGeom>
          <a:solidFill>
            <a:schemeClr val="bg2"/>
          </a:solidFill>
          <a:ln/>
        </p:spPr>
        <p:txBody>
          <a:bodyPr/>
          <a:lstStyle/>
          <a:p>
            <a:endParaRPr lang="it-IT" dirty="0"/>
          </a:p>
        </p:txBody>
      </p:sp>
      <p:sp>
        <p:nvSpPr>
          <p:cNvPr id="20" name="cerchio FiUsers"/>
          <p:cNvSpPr/>
          <p:nvPr/>
        </p:nvSpPr>
        <p:spPr>
          <a:xfrm>
            <a:off x="6931152" y="1261872"/>
            <a:ext cx="457200" cy="457200"/>
          </a:xfrm>
          <a:prstGeom prst="ellipse">
            <a:avLst/>
          </a:prstGeom>
          <a:solidFill>
            <a:schemeClr val="accent1"/>
          </a:solidFill>
          <a:ln/>
        </p:spPr>
        <p:txBody>
          <a:bodyPr/>
          <a:lstStyle/>
          <a:p>
            <a:endParaRPr lang="it-IT" dirty="0"/>
          </a:p>
        </p:txBody>
      </p:sp>
      <p:pic>
        <p:nvPicPr>
          <p:cNvPr id="21" name="Image 3" descr="FiUsers"/>
          <p:cNvPicPr>
            <a:picLocks noChangeAspect="1"/>
          </p:cNvPicPr>
          <p:nvPr/>
        </p:nvPicPr>
        <p:blipFill>
          <a:blip r:embed="rId6"/>
          <a:stretch>
            <a:fillRect/>
          </a:stretch>
        </p:blipFill>
        <p:spPr>
          <a:xfrm>
            <a:off x="7045452" y="1376172"/>
            <a:ext cx="228600" cy="228600"/>
          </a:xfrm>
          <a:prstGeom prst="rect">
            <a:avLst/>
          </a:prstGeom>
        </p:spPr>
      </p:pic>
      <p:sp>
        <p:nvSpPr>
          <p:cNvPr id="22" name="Text 15"/>
          <p:cNvSpPr txBox="1"/>
          <p:nvPr/>
        </p:nvSpPr>
        <p:spPr>
          <a:xfrm>
            <a:off x="6931152" y="1810512"/>
            <a:ext cx="1691640" cy="320040"/>
          </a:xfrm>
          <a:prstGeom prst="rect">
            <a:avLst/>
          </a:prstGeom>
          <a:noFill/>
          <a:ln/>
        </p:spPr>
        <p:txBody>
          <a:bodyPr wrap="square" lIns="0" tIns="0" rIns="0" bIns="0" rtlCol="0" anchor="t"/>
          <a:lstStyle/>
          <a:p>
            <a:pPr marL="0" indent="0">
              <a:buNone/>
            </a:pPr>
            <a:r>
              <a:rPr lang="it-IT" sz="1300" b="1" dirty="0">
                <a:solidFill>
                  <a:schemeClr val="tx1"/>
                </a:solidFill>
              </a:rPr>
              <a:t>Risorse umane</a:t>
            </a:r>
            <a:endParaRPr lang="it-IT" sz="1300" dirty="0"/>
          </a:p>
        </p:txBody>
      </p:sp>
      <p:sp>
        <p:nvSpPr>
          <p:cNvPr id="23" name="Text 16"/>
          <p:cNvSpPr txBox="1"/>
          <p:nvPr/>
        </p:nvSpPr>
        <p:spPr>
          <a:xfrm>
            <a:off x="6931152" y="2176272"/>
            <a:ext cx="1691640" cy="320040"/>
          </a:xfrm>
          <a:prstGeom prst="rect">
            <a:avLst/>
          </a:prstGeom>
          <a:noFill/>
          <a:ln/>
        </p:spPr>
        <p:txBody>
          <a:bodyPr wrap="square" lIns="0" tIns="0" rIns="0" bIns="0" rtlCol="0" anchor="t"/>
          <a:lstStyle/>
          <a:p>
            <a:pPr marL="0" indent="0">
              <a:buNone/>
            </a:pPr>
            <a:r>
              <a:rPr lang="it-IT" sz="1200" dirty="0">
                <a:solidFill>
                  <a:schemeClr val="tx2"/>
                </a:solidFill>
              </a:rPr>
              <a:t>Annunci, formazione</a:t>
            </a:r>
            <a:endParaRPr lang="it-IT" sz="1200" dirty="0"/>
          </a:p>
        </p:txBody>
      </p:sp>
      <p:sp>
        <p:nvSpPr>
          <p:cNvPr id="24" name="Amministrazione"/>
          <p:cNvSpPr/>
          <p:nvPr/>
        </p:nvSpPr>
        <p:spPr>
          <a:xfrm>
            <a:off x="457200" y="2697480"/>
            <a:ext cx="1965960" cy="1463040"/>
          </a:xfrm>
          <a:prstGeom prst="roundRect">
            <a:avLst>
              <a:gd name="adj" fmla="val 5000"/>
            </a:avLst>
          </a:prstGeom>
          <a:solidFill>
            <a:schemeClr val="bg2"/>
          </a:solidFill>
          <a:ln/>
        </p:spPr>
        <p:txBody>
          <a:bodyPr/>
          <a:lstStyle/>
          <a:p>
            <a:endParaRPr lang="it-IT" dirty="0"/>
          </a:p>
        </p:txBody>
      </p:sp>
      <p:sp>
        <p:nvSpPr>
          <p:cNvPr id="25" name="cerchio FiDollarSign"/>
          <p:cNvSpPr/>
          <p:nvPr/>
        </p:nvSpPr>
        <p:spPr>
          <a:xfrm>
            <a:off x="621792" y="2862072"/>
            <a:ext cx="457200" cy="457200"/>
          </a:xfrm>
          <a:prstGeom prst="ellipse">
            <a:avLst/>
          </a:prstGeom>
          <a:solidFill>
            <a:schemeClr val="accent1"/>
          </a:solidFill>
          <a:ln/>
        </p:spPr>
        <p:txBody>
          <a:bodyPr/>
          <a:lstStyle/>
          <a:p>
            <a:endParaRPr lang="it-IT" dirty="0"/>
          </a:p>
        </p:txBody>
      </p:sp>
      <p:pic>
        <p:nvPicPr>
          <p:cNvPr id="26" name="Image 4" descr="FiDollarSign"/>
          <p:cNvPicPr>
            <a:picLocks noChangeAspect="1"/>
          </p:cNvPicPr>
          <p:nvPr/>
        </p:nvPicPr>
        <p:blipFill>
          <a:blip r:embed="rId7"/>
          <a:stretch>
            <a:fillRect/>
          </a:stretch>
        </p:blipFill>
        <p:spPr>
          <a:xfrm>
            <a:off x="736092" y="2976372"/>
            <a:ext cx="228600" cy="228600"/>
          </a:xfrm>
          <a:prstGeom prst="rect">
            <a:avLst/>
          </a:prstGeom>
        </p:spPr>
      </p:pic>
      <p:sp>
        <p:nvSpPr>
          <p:cNvPr id="27" name="Text 19"/>
          <p:cNvSpPr txBox="1"/>
          <p:nvPr/>
        </p:nvSpPr>
        <p:spPr>
          <a:xfrm>
            <a:off x="621792" y="3410712"/>
            <a:ext cx="1691640" cy="320040"/>
          </a:xfrm>
          <a:prstGeom prst="rect">
            <a:avLst/>
          </a:prstGeom>
          <a:noFill/>
          <a:ln/>
        </p:spPr>
        <p:txBody>
          <a:bodyPr wrap="square" lIns="0" tIns="0" rIns="0" bIns="0" rtlCol="0" anchor="t"/>
          <a:lstStyle/>
          <a:p>
            <a:pPr marL="0" indent="0">
              <a:buNone/>
            </a:pPr>
            <a:r>
              <a:rPr lang="it-IT" sz="1300" b="1" dirty="0">
                <a:solidFill>
                  <a:schemeClr val="tx1"/>
                </a:solidFill>
              </a:rPr>
              <a:t>Amministrazione</a:t>
            </a:r>
            <a:endParaRPr lang="it-IT" sz="1300" dirty="0"/>
          </a:p>
        </p:txBody>
      </p:sp>
      <p:sp>
        <p:nvSpPr>
          <p:cNvPr id="28" name="Text 20"/>
          <p:cNvSpPr txBox="1"/>
          <p:nvPr/>
        </p:nvSpPr>
        <p:spPr>
          <a:xfrm>
            <a:off x="621792" y="3776472"/>
            <a:ext cx="1691640" cy="320040"/>
          </a:xfrm>
          <a:prstGeom prst="rect">
            <a:avLst/>
          </a:prstGeom>
          <a:noFill/>
          <a:ln/>
        </p:spPr>
        <p:txBody>
          <a:bodyPr wrap="square" lIns="0" tIns="0" rIns="0" bIns="0" rtlCol="0" anchor="t"/>
          <a:lstStyle/>
          <a:p>
            <a:pPr marL="0" indent="0">
              <a:buNone/>
            </a:pPr>
            <a:r>
              <a:rPr lang="it-IT" sz="1200" dirty="0">
                <a:solidFill>
                  <a:schemeClr val="tx2"/>
                </a:solidFill>
              </a:rPr>
              <a:t>Elaborazione documenti</a:t>
            </a:r>
            <a:endParaRPr lang="it-IT" sz="1200" dirty="0"/>
          </a:p>
        </p:txBody>
      </p:sp>
      <p:sp>
        <p:nvSpPr>
          <p:cNvPr id="29" name="Produzione"/>
          <p:cNvSpPr/>
          <p:nvPr/>
        </p:nvSpPr>
        <p:spPr>
          <a:xfrm>
            <a:off x="2560320" y="2697480"/>
            <a:ext cx="1965960" cy="1463040"/>
          </a:xfrm>
          <a:prstGeom prst="roundRect">
            <a:avLst>
              <a:gd name="adj" fmla="val 5000"/>
            </a:avLst>
          </a:prstGeom>
          <a:solidFill>
            <a:schemeClr val="bg2"/>
          </a:solidFill>
          <a:ln/>
        </p:spPr>
        <p:txBody>
          <a:bodyPr/>
          <a:lstStyle/>
          <a:p>
            <a:endParaRPr lang="it-IT" dirty="0"/>
          </a:p>
        </p:txBody>
      </p:sp>
      <p:sp>
        <p:nvSpPr>
          <p:cNvPr id="30" name="cerchio FiTool"/>
          <p:cNvSpPr/>
          <p:nvPr/>
        </p:nvSpPr>
        <p:spPr>
          <a:xfrm>
            <a:off x="2724912" y="2862072"/>
            <a:ext cx="457200" cy="457200"/>
          </a:xfrm>
          <a:prstGeom prst="ellipse">
            <a:avLst/>
          </a:prstGeom>
          <a:solidFill>
            <a:schemeClr val="accent1"/>
          </a:solidFill>
          <a:ln/>
        </p:spPr>
        <p:txBody>
          <a:bodyPr/>
          <a:lstStyle/>
          <a:p>
            <a:endParaRPr lang="it-IT" dirty="0"/>
          </a:p>
        </p:txBody>
      </p:sp>
      <p:pic>
        <p:nvPicPr>
          <p:cNvPr id="31" name="Image 5" descr="FiTool"/>
          <p:cNvPicPr>
            <a:picLocks noChangeAspect="1"/>
          </p:cNvPicPr>
          <p:nvPr/>
        </p:nvPicPr>
        <p:blipFill>
          <a:blip r:embed="rId8"/>
          <a:stretch>
            <a:fillRect/>
          </a:stretch>
        </p:blipFill>
        <p:spPr>
          <a:xfrm>
            <a:off x="2839212" y="2976372"/>
            <a:ext cx="228600" cy="228600"/>
          </a:xfrm>
          <a:prstGeom prst="rect">
            <a:avLst/>
          </a:prstGeom>
        </p:spPr>
      </p:pic>
      <p:sp>
        <p:nvSpPr>
          <p:cNvPr id="32" name="Text 23"/>
          <p:cNvSpPr txBox="1"/>
          <p:nvPr/>
        </p:nvSpPr>
        <p:spPr>
          <a:xfrm>
            <a:off x="2724912" y="3410712"/>
            <a:ext cx="1691640" cy="320040"/>
          </a:xfrm>
          <a:prstGeom prst="rect">
            <a:avLst/>
          </a:prstGeom>
          <a:noFill/>
          <a:ln/>
        </p:spPr>
        <p:txBody>
          <a:bodyPr wrap="square" lIns="0" tIns="0" rIns="0" bIns="0" rtlCol="0" anchor="t"/>
          <a:lstStyle/>
          <a:p>
            <a:pPr marL="0" indent="0">
              <a:buNone/>
            </a:pPr>
            <a:r>
              <a:rPr lang="it-IT" sz="1300" b="1" dirty="0">
                <a:solidFill>
                  <a:schemeClr val="tx1"/>
                </a:solidFill>
              </a:rPr>
              <a:t>Produzione</a:t>
            </a:r>
            <a:endParaRPr lang="it-IT" sz="1300" dirty="0"/>
          </a:p>
        </p:txBody>
      </p:sp>
      <p:sp>
        <p:nvSpPr>
          <p:cNvPr id="33" name="Text 24"/>
          <p:cNvSpPr txBox="1"/>
          <p:nvPr/>
        </p:nvSpPr>
        <p:spPr>
          <a:xfrm>
            <a:off x="2724912" y="3776472"/>
            <a:ext cx="1691640" cy="320040"/>
          </a:xfrm>
          <a:prstGeom prst="rect">
            <a:avLst/>
          </a:prstGeom>
          <a:noFill/>
          <a:ln/>
        </p:spPr>
        <p:txBody>
          <a:bodyPr wrap="square" lIns="0" tIns="0" rIns="0" bIns="0" rtlCol="0" anchor="t"/>
          <a:lstStyle/>
          <a:p>
            <a:pPr marL="0" indent="0">
              <a:buNone/>
            </a:pPr>
            <a:r>
              <a:rPr lang="it-IT" sz="1200" dirty="0">
                <a:solidFill>
                  <a:schemeClr val="tx2"/>
                </a:solidFill>
              </a:rPr>
              <a:t>Manutenzione, qualità</a:t>
            </a:r>
            <a:endParaRPr lang="it-IT" sz="1200" dirty="0"/>
          </a:p>
        </p:txBody>
      </p:sp>
      <p:sp>
        <p:nvSpPr>
          <p:cNvPr id="34" name="IT"/>
          <p:cNvSpPr/>
          <p:nvPr/>
        </p:nvSpPr>
        <p:spPr>
          <a:xfrm>
            <a:off x="4663440" y="2697480"/>
            <a:ext cx="1965960" cy="1463040"/>
          </a:xfrm>
          <a:prstGeom prst="roundRect">
            <a:avLst>
              <a:gd name="adj" fmla="val 5000"/>
            </a:avLst>
          </a:prstGeom>
          <a:solidFill>
            <a:schemeClr val="bg2"/>
          </a:solidFill>
          <a:ln/>
        </p:spPr>
        <p:txBody>
          <a:bodyPr/>
          <a:lstStyle/>
          <a:p>
            <a:endParaRPr lang="it-IT" dirty="0"/>
          </a:p>
        </p:txBody>
      </p:sp>
      <p:sp>
        <p:nvSpPr>
          <p:cNvPr id="35" name="cerchio FiCode"/>
          <p:cNvSpPr/>
          <p:nvPr/>
        </p:nvSpPr>
        <p:spPr>
          <a:xfrm>
            <a:off x="4828032" y="2862072"/>
            <a:ext cx="457200" cy="457200"/>
          </a:xfrm>
          <a:prstGeom prst="ellipse">
            <a:avLst/>
          </a:prstGeom>
          <a:solidFill>
            <a:schemeClr val="accent1"/>
          </a:solidFill>
          <a:ln/>
        </p:spPr>
        <p:txBody>
          <a:bodyPr/>
          <a:lstStyle/>
          <a:p>
            <a:endParaRPr lang="it-IT" dirty="0"/>
          </a:p>
        </p:txBody>
      </p:sp>
      <p:pic>
        <p:nvPicPr>
          <p:cNvPr id="36" name="Image 6" descr="FiCode"/>
          <p:cNvPicPr>
            <a:picLocks noChangeAspect="1"/>
          </p:cNvPicPr>
          <p:nvPr/>
        </p:nvPicPr>
        <p:blipFill>
          <a:blip r:embed="rId9"/>
          <a:stretch>
            <a:fillRect/>
          </a:stretch>
        </p:blipFill>
        <p:spPr>
          <a:xfrm>
            <a:off x="4942332" y="2976372"/>
            <a:ext cx="228600" cy="228600"/>
          </a:xfrm>
          <a:prstGeom prst="rect">
            <a:avLst/>
          </a:prstGeom>
        </p:spPr>
      </p:pic>
      <p:sp>
        <p:nvSpPr>
          <p:cNvPr id="37" name="Text 27"/>
          <p:cNvSpPr txBox="1"/>
          <p:nvPr/>
        </p:nvSpPr>
        <p:spPr>
          <a:xfrm>
            <a:off x="4828032" y="3410712"/>
            <a:ext cx="1691640" cy="320040"/>
          </a:xfrm>
          <a:prstGeom prst="rect">
            <a:avLst/>
          </a:prstGeom>
          <a:noFill/>
          <a:ln/>
        </p:spPr>
        <p:txBody>
          <a:bodyPr wrap="square" lIns="0" tIns="0" rIns="0" bIns="0" rtlCol="0" anchor="t"/>
          <a:lstStyle/>
          <a:p>
            <a:pPr marL="0" indent="0">
              <a:buNone/>
            </a:pPr>
            <a:r>
              <a:rPr lang="it-IT" sz="1300" b="1" dirty="0">
                <a:solidFill>
                  <a:schemeClr val="tx1"/>
                </a:solidFill>
              </a:rPr>
              <a:t>IT</a:t>
            </a:r>
            <a:endParaRPr lang="it-IT" sz="1300" dirty="0"/>
          </a:p>
        </p:txBody>
      </p:sp>
      <p:sp>
        <p:nvSpPr>
          <p:cNvPr id="38" name="Text 28"/>
          <p:cNvSpPr txBox="1"/>
          <p:nvPr/>
        </p:nvSpPr>
        <p:spPr>
          <a:xfrm>
            <a:off x="4828032" y="3776472"/>
            <a:ext cx="1691640" cy="320040"/>
          </a:xfrm>
          <a:prstGeom prst="rect">
            <a:avLst/>
          </a:prstGeom>
          <a:noFill/>
          <a:ln/>
        </p:spPr>
        <p:txBody>
          <a:bodyPr wrap="square" lIns="0" tIns="0" rIns="0" bIns="0" rtlCol="0" anchor="t"/>
          <a:lstStyle/>
          <a:p>
            <a:pPr marL="0" indent="0">
              <a:buNone/>
            </a:pPr>
            <a:r>
              <a:rPr lang="it-IT" sz="1200" dirty="0">
                <a:solidFill>
                  <a:schemeClr val="tx2"/>
                </a:solidFill>
              </a:rPr>
              <a:t>Sviluppo e supporto</a:t>
            </a:r>
            <a:endParaRPr lang="it-IT" sz="1200" dirty="0"/>
          </a:p>
        </p:txBody>
      </p:sp>
      <p:sp>
        <p:nvSpPr>
          <p:cNvPr id="39" name="Legale e compliance"/>
          <p:cNvSpPr/>
          <p:nvPr/>
        </p:nvSpPr>
        <p:spPr>
          <a:xfrm>
            <a:off x="6766560" y="2697480"/>
            <a:ext cx="1965960" cy="1463040"/>
          </a:xfrm>
          <a:prstGeom prst="roundRect">
            <a:avLst>
              <a:gd name="adj" fmla="val 5000"/>
            </a:avLst>
          </a:prstGeom>
          <a:solidFill>
            <a:schemeClr val="bg2"/>
          </a:solidFill>
          <a:ln/>
        </p:spPr>
        <p:txBody>
          <a:bodyPr/>
          <a:lstStyle/>
          <a:p>
            <a:endParaRPr lang="it-IT" dirty="0"/>
          </a:p>
        </p:txBody>
      </p:sp>
      <p:sp>
        <p:nvSpPr>
          <p:cNvPr id="40" name="cerchio FiShield"/>
          <p:cNvSpPr/>
          <p:nvPr/>
        </p:nvSpPr>
        <p:spPr>
          <a:xfrm>
            <a:off x="6931152" y="2862072"/>
            <a:ext cx="457200" cy="457200"/>
          </a:xfrm>
          <a:prstGeom prst="ellipse">
            <a:avLst/>
          </a:prstGeom>
          <a:solidFill>
            <a:schemeClr val="accent1"/>
          </a:solidFill>
          <a:ln/>
        </p:spPr>
        <p:txBody>
          <a:bodyPr/>
          <a:lstStyle/>
          <a:p>
            <a:endParaRPr lang="it-IT" dirty="0"/>
          </a:p>
        </p:txBody>
      </p:sp>
      <p:pic>
        <p:nvPicPr>
          <p:cNvPr id="41" name="Image 7" descr="FiShield"/>
          <p:cNvPicPr>
            <a:picLocks noChangeAspect="1"/>
          </p:cNvPicPr>
          <p:nvPr/>
        </p:nvPicPr>
        <p:blipFill>
          <a:blip r:embed="rId10"/>
          <a:stretch>
            <a:fillRect/>
          </a:stretch>
        </p:blipFill>
        <p:spPr>
          <a:xfrm>
            <a:off x="7045452" y="2976372"/>
            <a:ext cx="228600" cy="228600"/>
          </a:xfrm>
          <a:prstGeom prst="rect">
            <a:avLst/>
          </a:prstGeom>
        </p:spPr>
      </p:pic>
      <p:sp>
        <p:nvSpPr>
          <p:cNvPr id="42" name="Text 31"/>
          <p:cNvSpPr txBox="1"/>
          <p:nvPr/>
        </p:nvSpPr>
        <p:spPr>
          <a:xfrm>
            <a:off x="6931152" y="3410712"/>
            <a:ext cx="1691640" cy="320040"/>
          </a:xfrm>
          <a:prstGeom prst="rect">
            <a:avLst/>
          </a:prstGeom>
          <a:noFill/>
          <a:ln/>
        </p:spPr>
        <p:txBody>
          <a:bodyPr wrap="square" lIns="0" tIns="0" rIns="0" bIns="0" rtlCol="0" anchor="t"/>
          <a:lstStyle/>
          <a:p>
            <a:pPr marL="0" indent="0">
              <a:buNone/>
            </a:pPr>
            <a:r>
              <a:rPr lang="it-IT" sz="1300" b="1" dirty="0">
                <a:solidFill>
                  <a:schemeClr val="tx1"/>
                </a:solidFill>
              </a:rPr>
              <a:t>Legale e compliance</a:t>
            </a:r>
            <a:endParaRPr lang="it-IT" sz="1300" dirty="0"/>
          </a:p>
        </p:txBody>
      </p:sp>
      <p:sp>
        <p:nvSpPr>
          <p:cNvPr id="43" name="Text 32"/>
          <p:cNvSpPr txBox="1"/>
          <p:nvPr/>
        </p:nvSpPr>
        <p:spPr>
          <a:xfrm>
            <a:off x="6931152" y="3776472"/>
            <a:ext cx="1691640" cy="320040"/>
          </a:xfrm>
          <a:prstGeom prst="rect">
            <a:avLst/>
          </a:prstGeom>
          <a:noFill/>
          <a:ln/>
        </p:spPr>
        <p:txBody>
          <a:bodyPr wrap="square" lIns="0" tIns="0" rIns="0" bIns="0" rtlCol="0" anchor="t"/>
          <a:lstStyle/>
          <a:p>
            <a:pPr marL="0" indent="0">
              <a:buNone/>
            </a:pPr>
            <a:r>
              <a:rPr lang="it-IT" sz="1200" dirty="0">
                <a:solidFill>
                  <a:schemeClr val="tx2"/>
                </a:solidFill>
              </a:rPr>
              <a:t>Analisi dei documenti</a:t>
            </a:r>
            <a:endParaRPr lang="it-IT" sz="1200" dirty="0"/>
          </a:p>
        </p:txBody>
      </p:sp>
      <p:sp>
        <p:nvSpPr>
          <p:cNvPr id="44" name="Text 33"/>
          <p:cNvSpPr txBox="1"/>
          <p:nvPr/>
        </p:nvSpPr>
        <p:spPr>
          <a:xfrm>
            <a:off x="457200" y="4343400"/>
            <a:ext cx="8229600" cy="320040"/>
          </a:xfrm>
          <a:prstGeom prst="rect">
            <a:avLst/>
          </a:prstGeom>
          <a:noFill/>
          <a:ln/>
        </p:spPr>
        <p:txBody>
          <a:bodyPr wrap="square" lIns="0" tIns="0" rIns="0" bIns="0" rtlCol="0" anchor="t"/>
          <a:lstStyle/>
          <a:p>
            <a:pPr marL="0" indent="0">
              <a:buNone/>
            </a:pPr>
            <a:r>
              <a:rPr lang="it-IT" sz="1200" i="1" dirty="0">
                <a:solidFill>
                  <a:schemeClr val="accent2"/>
                </a:solidFill>
              </a:rPr>
              <a:t>Esempi indicativi, a scopo illustrativo.</a:t>
            </a:r>
            <a:endParaRPr lang="it-IT"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20</a:t>
            </a:fld>
            <a:endParaRPr lang="it-IT"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L'AI come tecnologia abilitante</a:t>
            </a:r>
            <a:endParaRPr lang="it-IT" sz="2600" dirty="0"/>
          </a:p>
        </p:txBody>
      </p:sp>
      <p:sp>
        <p:nvSpPr>
          <p:cNvPr id="4" name="centro AI"/>
          <p:cNvSpPr/>
          <p:nvPr/>
        </p:nvSpPr>
        <p:spPr>
          <a:xfrm>
            <a:off x="3611880" y="2011680"/>
            <a:ext cx="1920240" cy="1463040"/>
          </a:xfrm>
          <a:prstGeom prst="ellipse">
            <a:avLst/>
          </a:prstGeom>
          <a:solidFill>
            <a:schemeClr val="accent1"/>
          </a:solidFill>
          <a:ln/>
        </p:spPr>
        <p:txBody>
          <a:bodyPr/>
          <a:lstStyle/>
          <a:p>
            <a:endParaRPr lang="it-IT" dirty="0"/>
          </a:p>
        </p:txBody>
      </p:sp>
      <p:sp>
        <p:nvSpPr>
          <p:cNvPr id="5" name="Text 2"/>
          <p:cNvSpPr txBox="1"/>
          <p:nvPr/>
        </p:nvSpPr>
        <p:spPr>
          <a:xfrm>
            <a:off x="3611880" y="2011680"/>
            <a:ext cx="1920240" cy="1463040"/>
          </a:xfrm>
          <a:prstGeom prst="rect">
            <a:avLst/>
          </a:prstGeom>
          <a:noFill/>
          <a:ln/>
        </p:spPr>
        <p:txBody>
          <a:bodyPr wrap="square" lIns="0" tIns="0" rIns="0" bIns="0" rtlCol="0" anchor="ctr"/>
          <a:lstStyle/>
          <a:p>
            <a:pPr marL="0" indent="0" algn="ctr">
              <a:buNone/>
            </a:pPr>
            <a:r>
              <a:rPr lang="it-IT" sz="1600" b="1" dirty="0">
                <a:solidFill>
                  <a:schemeClr val="bg1"/>
                </a:solidFill>
              </a:rPr>
              <a:t>AI</a:t>
            </a:r>
            <a:endParaRPr lang="it-IT" sz="1600" dirty="0"/>
          </a:p>
          <a:p>
            <a:pPr marL="0" indent="0" algn="ctr">
              <a:buNone/>
            </a:pPr>
            <a:r>
              <a:rPr lang="it-IT" sz="1600" b="1" dirty="0">
                <a:solidFill>
                  <a:schemeClr val="bg1"/>
                </a:solidFill>
              </a:rPr>
              <a:t>abilitante</a:t>
            </a:r>
            <a:endParaRPr lang="it-IT" sz="1600" dirty="0"/>
          </a:p>
        </p:txBody>
      </p:sp>
      <p:sp>
        <p:nvSpPr>
          <p:cNvPr id="6" name="Funzioni"/>
          <p:cNvSpPr/>
          <p:nvPr/>
        </p:nvSpPr>
        <p:spPr>
          <a:xfrm>
            <a:off x="457200" y="1097280"/>
            <a:ext cx="3017520" cy="1463040"/>
          </a:xfrm>
          <a:prstGeom prst="roundRect">
            <a:avLst>
              <a:gd name="adj" fmla="val 5000"/>
            </a:avLst>
          </a:prstGeom>
          <a:solidFill>
            <a:schemeClr val="bg2"/>
          </a:solidFill>
          <a:ln/>
        </p:spPr>
        <p:txBody>
          <a:bodyPr/>
          <a:lstStyle/>
          <a:p>
            <a:endParaRPr lang="it-IT" dirty="0"/>
          </a:p>
        </p:txBody>
      </p:sp>
      <p:sp>
        <p:nvSpPr>
          <p:cNvPr id="7" name="cerchio FiBriefcase"/>
          <p:cNvSpPr/>
          <p:nvPr/>
        </p:nvSpPr>
        <p:spPr>
          <a:xfrm>
            <a:off x="640080" y="1280160"/>
            <a:ext cx="457200" cy="457200"/>
          </a:xfrm>
          <a:prstGeom prst="ellipse">
            <a:avLst/>
          </a:prstGeom>
          <a:solidFill>
            <a:schemeClr val="accent1"/>
          </a:solidFill>
          <a:ln/>
        </p:spPr>
        <p:txBody>
          <a:bodyPr/>
          <a:lstStyle/>
          <a:p>
            <a:endParaRPr lang="it-IT" dirty="0"/>
          </a:p>
        </p:txBody>
      </p:sp>
      <p:pic>
        <p:nvPicPr>
          <p:cNvPr id="8" name="Image 0" descr="FiBriefcase"/>
          <p:cNvPicPr>
            <a:picLocks noChangeAspect="1"/>
          </p:cNvPicPr>
          <p:nvPr/>
        </p:nvPicPr>
        <p:blipFill>
          <a:blip r:embed="rId3"/>
          <a:stretch>
            <a:fillRect/>
          </a:stretch>
        </p:blipFill>
        <p:spPr>
          <a:xfrm>
            <a:off x="754380" y="1394460"/>
            <a:ext cx="228600" cy="228600"/>
          </a:xfrm>
          <a:prstGeom prst="rect">
            <a:avLst/>
          </a:prstGeom>
        </p:spPr>
      </p:pic>
      <p:sp>
        <p:nvSpPr>
          <p:cNvPr id="9" name="Text 5"/>
          <p:cNvSpPr txBox="1"/>
          <p:nvPr/>
        </p:nvSpPr>
        <p:spPr>
          <a:xfrm>
            <a:off x="1234440" y="1325880"/>
            <a:ext cx="2103120" cy="365760"/>
          </a:xfrm>
          <a:prstGeom prst="rect">
            <a:avLst/>
          </a:prstGeom>
          <a:noFill/>
          <a:ln/>
        </p:spPr>
        <p:txBody>
          <a:bodyPr wrap="square" lIns="0" tIns="0" rIns="0" bIns="0" rtlCol="0" anchor="t"/>
          <a:lstStyle/>
          <a:p>
            <a:pPr marL="0" indent="0">
              <a:buNone/>
            </a:pPr>
            <a:r>
              <a:rPr lang="it-IT" sz="1600" b="1" dirty="0">
                <a:solidFill>
                  <a:schemeClr val="tx1"/>
                </a:solidFill>
              </a:rPr>
              <a:t>Funzioni</a:t>
            </a:r>
            <a:endParaRPr lang="it-IT" sz="1600" dirty="0"/>
          </a:p>
        </p:txBody>
      </p:sp>
      <p:sp>
        <p:nvSpPr>
          <p:cNvPr id="10" name="Text 6"/>
          <p:cNvSpPr txBox="1"/>
          <p:nvPr/>
        </p:nvSpPr>
        <p:spPr>
          <a:xfrm>
            <a:off x="640080" y="1828800"/>
            <a:ext cx="2697480" cy="640080"/>
          </a:xfrm>
          <a:prstGeom prst="rect">
            <a:avLst/>
          </a:prstGeom>
          <a:noFill/>
          <a:ln/>
        </p:spPr>
        <p:txBody>
          <a:bodyPr wrap="square" lIns="0" tIns="0" rIns="0" bIns="0" rtlCol="0" anchor="t"/>
          <a:lstStyle/>
          <a:p>
            <a:pPr marL="0" indent="0">
              <a:buNone/>
            </a:pPr>
            <a:r>
              <a:rPr lang="it-IT" sz="1300" dirty="0">
                <a:solidFill>
                  <a:schemeClr val="tx2"/>
                </a:solidFill>
              </a:rPr>
              <a:t>Supporta il lavoro delle persone nelle diverse aree aziendali</a:t>
            </a:r>
            <a:endParaRPr lang="it-IT" sz="1300" dirty="0"/>
          </a:p>
        </p:txBody>
      </p:sp>
      <p:sp>
        <p:nvSpPr>
          <p:cNvPr id="11" name="Prodotti"/>
          <p:cNvSpPr/>
          <p:nvPr/>
        </p:nvSpPr>
        <p:spPr>
          <a:xfrm>
            <a:off x="5669280" y="1097280"/>
            <a:ext cx="3017520" cy="1463040"/>
          </a:xfrm>
          <a:prstGeom prst="roundRect">
            <a:avLst>
              <a:gd name="adj" fmla="val 5000"/>
            </a:avLst>
          </a:prstGeom>
          <a:solidFill>
            <a:schemeClr val="bg2"/>
          </a:solidFill>
          <a:ln/>
        </p:spPr>
        <p:txBody>
          <a:bodyPr/>
          <a:lstStyle/>
          <a:p>
            <a:endParaRPr lang="it-IT" dirty="0"/>
          </a:p>
        </p:txBody>
      </p:sp>
      <p:sp>
        <p:nvSpPr>
          <p:cNvPr id="12" name="cerchio FiBox"/>
          <p:cNvSpPr/>
          <p:nvPr/>
        </p:nvSpPr>
        <p:spPr>
          <a:xfrm>
            <a:off x="5852160" y="1280160"/>
            <a:ext cx="457200" cy="457200"/>
          </a:xfrm>
          <a:prstGeom prst="ellipse">
            <a:avLst/>
          </a:prstGeom>
          <a:solidFill>
            <a:schemeClr val="accent1"/>
          </a:solidFill>
          <a:ln/>
        </p:spPr>
        <p:txBody>
          <a:bodyPr/>
          <a:lstStyle/>
          <a:p>
            <a:endParaRPr lang="it-IT" dirty="0"/>
          </a:p>
        </p:txBody>
      </p:sp>
      <p:pic>
        <p:nvPicPr>
          <p:cNvPr id="13" name="Image 1" descr="FiBox"/>
          <p:cNvPicPr>
            <a:picLocks noChangeAspect="1"/>
          </p:cNvPicPr>
          <p:nvPr/>
        </p:nvPicPr>
        <p:blipFill>
          <a:blip r:embed="rId4"/>
          <a:stretch>
            <a:fillRect/>
          </a:stretch>
        </p:blipFill>
        <p:spPr>
          <a:xfrm>
            <a:off x="5966460" y="1394460"/>
            <a:ext cx="228600" cy="228600"/>
          </a:xfrm>
          <a:prstGeom prst="rect">
            <a:avLst/>
          </a:prstGeom>
        </p:spPr>
      </p:pic>
      <p:sp>
        <p:nvSpPr>
          <p:cNvPr id="14" name="Text 9"/>
          <p:cNvSpPr txBox="1"/>
          <p:nvPr/>
        </p:nvSpPr>
        <p:spPr>
          <a:xfrm>
            <a:off x="6446520" y="1325880"/>
            <a:ext cx="2103120" cy="365760"/>
          </a:xfrm>
          <a:prstGeom prst="rect">
            <a:avLst/>
          </a:prstGeom>
          <a:noFill/>
          <a:ln/>
        </p:spPr>
        <p:txBody>
          <a:bodyPr wrap="square" lIns="0" tIns="0" rIns="0" bIns="0" rtlCol="0" anchor="t"/>
          <a:lstStyle/>
          <a:p>
            <a:pPr marL="0" indent="0">
              <a:buNone/>
            </a:pPr>
            <a:r>
              <a:rPr lang="it-IT" sz="1600" b="1" dirty="0">
                <a:solidFill>
                  <a:schemeClr val="tx1"/>
                </a:solidFill>
              </a:rPr>
              <a:t>Prodotti</a:t>
            </a:r>
            <a:endParaRPr lang="it-IT" sz="1600" dirty="0"/>
          </a:p>
        </p:txBody>
      </p:sp>
      <p:sp>
        <p:nvSpPr>
          <p:cNvPr id="15" name="Text 10"/>
          <p:cNvSpPr txBox="1"/>
          <p:nvPr/>
        </p:nvSpPr>
        <p:spPr>
          <a:xfrm>
            <a:off x="5852160" y="1828800"/>
            <a:ext cx="2697480" cy="640080"/>
          </a:xfrm>
          <a:prstGeom prst="rect">
            <a:avLst/>
          </a:prstGeom>
          <a:noFill/>
          <a:ln/>
        </p:spPr>
        <p:txBody>
          <a:bodyPr wrap="square" lIns="0" tIns="0" rIns="0" bIns="0" rtlCol="0" anchor="t"/>
          <a:lstStyle/>
          <a:p>
            <a:pPr marL="0" indent="0">
              <a:buNone/>
            </a:pPr>
            <a:r>
              <a:rPr lang="it-IT" sz="1300" dirty="0">
                <a:solidFill>
                  <a:schemeClr val="tx2"/>
                </a:solidFill>
              </a:rPr>
              <a:t>Viene incorporata in ciò che l'azienda vende</a:t>
            </a:r>
            <a:endParaRPr lang="it-IT" sz="1300" dirty="0"/>
          </a:p>
        </p:txBody>
      </p:sp>
      <p:sp>
        <p:nvSpPr>
          <p:cNvPr id="16" name="Servizi"/>
          <p:cNvSpPr/>
          <p:nvPr/>
        </p:nvSpPr>
        <p:spPr>
          <a:xfrm>
            <a:off x="457200" y="3063240"/>
            <a:ext cx="3017520" cy="1463040"/>
          </a:xfrm>
          <a:prstGeom prst="roundRect">
            <a:avLst>
              <a:gd name="adj" fmla="val 5000"/>
            </a:avLst>
          </a:prstGeom>
          <a:solidFill>
            <a:schemeClr val="bg2"/>
          </a:solidFill>
          <a:ln/>
        </p:spPr>
        <p:txBody>
          <a:bodyPr/>
          <a:lstStyle/>
          <a:p>
            <a:endParaRPr lang="it-IT" dirty="0"/>
          </a:p>
        </p:txBody>
      </p:sp>
      <p:sp>
        <p:nvSpPr>
          <p:cNvPr id="17" name="cerchio FiSmile"/>
          <p:cNvSpPr/>
          <p:nvPr/>
        </p:nvSpPr>
        <p:spPr>
          <a:xfrm>
            <a:off x="640080" y="3246120"/>
            <a:ext cx="457200" cy="457200"/>
          </a:xfrm>
          <a:prstGeom prst="ellipse">
            <a:avLst/>
          </a:prstGeom>
          <a:solidFill>
            <a:schemeClr val="accent1"/>
          </a:solidFill>
          <a:ln/>
        </p:spPr>
        <p:txBody>
          <a:bodyPr/>
          <a:lstStyle/>
          <a:p>
            <a:endParaRPr lang="it-IT" dirty="0"/>
          </a:p>
        </p:txBody>
      </p:sp>
      <p:pic>
        <p:nvPicPr>
          <p:cNvPr id="18" name="Image 2" descr="FiSmile"/>
          <p:cNvPicPr>
            <a:picLocks noChangeAspect="1"/>
          </p:cNvPicPr>
          <p:nvPr/>
        </p:nvPicPr>
        <p:blipFill>
          <a:blip r:embed="rId5"/>
          <a:stretch>
            <a:fillRect/>
          </a:stretch>
        </p:blipFill>
        <p:spPr>
          <a:xfrm>
            <a:off x="754380" y="3360420"/>
            <a:ext cx="228600" cy="228600"/>
          </a:xfrm>
          <a:prstGeom prst="rect">
            <a:avLst/>
          </a:prstGeom>
        </p:spPr>
      </p:pic>
      <p:sp>
        <p:nvSpPr>
          <p:cNvPr id="19" name="Text 13"/>
          <p:cNvSpPr txBox="1"/>
          <p:nvPr/>
        </p:nvSpPr>
        <p:spPr>
          <a:xfrm>
            <a:off x="1234440" y="3291840"/>
            <a:ext cx="2103120" cy="365760"/>
          </a:xfrm>
          <a:prstGeom prst="rect">
            <a:avLst/>
          </a:prstGeom>
          <a:noFill/>
          <a:ln/>
        </p:spPr>
        <p:txBody>
          <a:bodyPr wrap="square" lIns="0" tIns="0" rIns="0" bIns="0" rtlCol="0" anchor="t"/>
          <a:lstStyle/>
          <a:p>
            <a:pPr marL="0" indent="0">
              <a:buNone/>
            </a:pPr>
            <a:r>
              <a:rPr lang="it-IT" sz="1600" b="1" dirty="0">
                <a:solidFill>
                  <a:schemeClr val="tx1"/>
                </a:solidFill>
              </a:rPr>
              <a:t>Servizi</a:t>
            </a:r>
            <a:endParaRPr lang="it-IT" sz="1600" dirty="0"/>
          </a:p>
        </p:txBody>
      </p:sp>
      <p:sp>
        <p:nvSpPr>
          <p:cNvPr id="20" name="Text 14"/>
          <p:cNvSpPr txBox="1"/>
          <p:nvPr/>
        </p:nvSpPr>
        <p:spPr>
          <a:xfrm>
            <a:off x="640080" y="3794760"/>
            <a:ext cx="2697480" cy="640080"/>
          </a:xfrm>
          <a:prstGeom prst="rect">
            <a:avLst/>
          </a:prstGeom>
          <a:noFill/>
          <a:ln/>
        </p:spPr>
        <p:txBody>
          <a:bodyPr wrap="square" lIns="0" tIns="0" rIns="0" bIns="0" rtlCol="0" anchor="t"/>
          <a:lstStyle/>
          <a:p>
            <a:pPr marL="0" indent="0">
              <a:buNone/>
            </a:pPr>
            <a:r>
              <a:rPr lang="it-IT" sz="1300" dirty="0">
                <a:solidFill>
                  <a:schemeClr val="tx2"/>
                </a:solidFill>
              </a:rPr>
              <a:t>Cambia il modo in cui l'azienda serve i clienti</a:t>
            </a:r>
            <a:endParaRPr lang="it-IT" sz="1300" dirty="0"/>
          </a:p>
        </p:txBody>
      </p:sp>
      <p:sp>
        <p:nvSpPr>
          <p:cNvPr id="21" name="Processi"/>
          <p:cNvSpPr/>
          <p:nvPr/>
        </p:nvSpPr>
        <p:spPr>
          <a:xfrm>
            <a:off x="5669280" y="3063240"/>
            <a:ext cx="3017520" cy="1463040"/>
          </a:xfrm>
          <a:prstGeom prst="roundRect">
            <a:avLst>
              <a:gd name="adj" fmla="val 5000"/>
            </a:avLst>
          </a:prstGeom>
          <a:solidFill>
            <a:schemeClr val="bg2"/>
          </a:solidFill>
          <a:ln/>
        </p:spPr>
        <p:txBody>
          <a:bodyPr/>
          <a:lstStyle/>
          <a:p>
            <a:endParaRPr lang="it-IT" dirty="0"/>
          </a:p>
        </p:txBody>
      </p:sp>
      <p:sp>
        <p:nvSpPr>
          <p:cNvPr id="22" name="cerchio FiShuffle"/>
          <p:cNvSpPr/>
          <p:nvPr/>
        </p:nvSpPr>
        <p:spPr>
          <a:xfrm>
            <a:off x="5852160" y="3246120"/>
            <a:ext cx="457200" cy="457200"/>
          </a:xfrm>
          <a:prstGeom prst="ellipse">
            <a:avLst/>
          </a:prstGeom>
          <a:solidFill>
            <a:schemeClr val="accent1"/>
          </a:solidFill>
          <a:ln/>
        </p:spPr>
        <p:txBody>
          <a:bodyPr/>
          <a:lstStyle/>
          <a:p>
            <a:endParaRPr lang="it-IT" dirty="0"/>
          </a:p>
        </p:txBody>
      </p:sp>
      <p:pic>
        <p:nvPicPr>
          <p:cNvPr id="23" name="Image 3" descr="FiShuffle"/>
          <p:cNvPicPr>
            <a:picLocks noChangeAspect="1"/>
          </p:cNvPicPr>
          <p:nvPr/>
        </p:nvPicPr>
        <p:blipFill>
          <a:blip r:embed="rId6"/>
          <a:stretch>
            <a:fillRect/>
          </a:stretch>
        </p:blipFill>
        <p:spPr>
          <a:xfrm>
            <a:off x="5966460" y="3360420"/>
            <a:ext cx="228600" cy="228600"/>
          </a:xfrm>
          <a:prstGeom prst="rect">
            <a:avLst/>
          </a:prstGeom>
        </p:spPr>
      </p:pic>
      <p:sp>
        <p:nvSpPr>
          <p:cNvPr id="24" name="Text 17"/>
          <p:cNvSpPr txBox="1"/>
          <p:nvPr/>
        </p:nvSpPr>
        <p:spPr>
          <a:xfrm>
            <a:off x="6446520" y="3291840"/>
            <a:ext cx="2103120" cy="365760"/>
          </a:xfrm>
          <a:prstGeom prst="rect">
            <a:avLst/>
          </a:prstGeom>
          <a:noFill/>
          <a:ln/>
        </p:spPr>
        <p:txBody>
          <a:bodyPr wrap="square" lIns="0" tIns="0" rIns="0" bIns="0" rtlCol="0" anchor="t"/>
          <a:lstStyle/>
          <a:p>
            <a:pPr marL="0" indent="0">
              <a:buNone/>
            </a:pPr>
            <a:r>
              <a:rPr lang="it-IT" sz="1600" b="1" dirty="0">
                <a:solidFill>
                  <a:schemeClr val="tx1"/>
                </a:solidFill>
              </a:rPr>
              <a:t>Processi</a:t>
            </a:r>
            <a:endParaRPr lang="it-IT" sz="1600" dirty="0"/>
          </a:p>
        </p:txBody>
      </p:sp>
      <p:sp>
        <p:nvSpPr>
          <p:cNvPr id="25" name="Text 18"/>
          <p:cNvSpPr txBox="1"/>
          <p:nvPr/>
        </p:nvSpPr>
        <p:spPr>
          <a:xfrm>
            <a:off x="5852160" y="3794760"/>
            <a:ext cx="2697480" cy="640080"/>
          </a:xfrm>
          <a:prstGeom prst="rect">
            <a:avLst/>
          </a:prstGeom>
          <a:noFill/>
          <a:ln/>
        </p:spPr>
        <p:txBody>
          <a:bodyPr wrap="square" lIns="0" tIns="0" rIns="0" bIns="0" rtlCol="0" anchor="t"/>
          <a:lstStyle/>
          <a:p>
            <a:pPr marL="0" indent="0">
              <a:buNone/>
            </a:pPr>
            <a:r>
              <a:rPr lang="it-IT" sz="1300" dirty="0">
                <a:solidFill>
                  <a:schemeClr val="tx2"/>
                </a:solidFill>
              </a:rPr>
              <a:t>Ridisegna l'organizzazione del lavoro, non solo i singoli compiti</a:t>
            </a:r>
            <a:endParaRPr lang="it-IT"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21</a:t>
            </a:fld>
            <a:endParaRPr lang="it-IT"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Effetti potenziali: produttività, qualità, innovazione</a:t>
            </a:r>
            <a:endParaRPr lang="it-IT" sz="2600" dirty="0"/>
          </a:p>
        </p:txBody>
      </p:sp>
      <p:sp>
        <p:nvSpPr>
          <p:cNvPr id="4" name="Produttività"/>
          <p:cNvSpPr/>
          <p:nvPr/>
        </p:nvSpPr>
        <p:spPr>
          <a:xfrm>
            <a:off x="457200" y="1097280"/>
            <a:ext cx="4206240" cy="1024128"/>
          </a:xfrm>
          <a:prstGeom prst="roundRect">
            <a:avLst>
              <a:gd name="adj" fmla="val 7143"/>
            </a:avLst>
          </a:prstGeom>
          <a:solidFill>
            <a:schemeClr val="bg2"/>
          </a:solidFill>
          <a:ln/>
        </p:spPr>
        <p:txBody>
          <a:bodyPr/>
          <a:lstStyle/>
          <a:p>
            <a:endParaRPr lang="it-IT" dirty="0"/>
          </a:p>
        </p:txBody>
      </p:sp>
      <p:sp>
        <p:nvSpPr>
          <p:cNvPr id="5" name="cerchio FiClock"/>
          <p:cNvSpPr/>
          <p:nvPr/>
        </p:nvSpPr>
        <p:spPr>
          <a:xfrm>
            <a:off x="640080" y="1353312"/>
            <a:ext cx="512064" cy="512064"/>
          </a:xfrm>
          <a:prstGeom prst="ellipse">
            <a:avLst/>
          </a:prstGeom>
          <a:solidFill>
            <a:schemeClr val="accent1"/>
          </a:solidFill>
          <a:ln/>
        </p:spPr>
        <p:txBody>
          <a:bodyPr/>
          <a:lstStyle/>
          <a:p>
            <a:endParaRPr lang="it-IT" dirty="0"/>
          </a:p>
        </p:txBody>
      </p:sp>
      <p:pic>
        <p:nvPicPr>
          <p:cNvPr id="6" name="Image 0" descr="FiClock"/>
          <p:cNvPicPr>
            <a:picLocks noChangeAspect="1"/>
          </p:cNvPicPr>
          <p:nvPr/>
        </p:nvPicPr>
        <p:blipFill>
          <a:blip r:embed="rId3"/>
          <a:stretch>
            <a:fillRect/>
          </a:stretch>
        </p:blipFill>
        <p:spPr>
          <a:xfrm>
            <a:off x="768096" y="1481328"/>
            <a:ext cx="256032" cy="256032"/>
          </a:xfrm>
          <a:prstGeom prst="rect">
            <a:avLst/>
          </a:prstGeom>
        </p:spPr>
      </p:pic>
      <p:sp>
        <p:nvSpPr>
          <p:cNvPr id="7" name="Text 3"/>
          <p:cNvSpPr txBox="1"/>
          <p:nvPr/>
        </p:nvSpPr>
        <p:spPr>
          <a:xfrm>
            <a:off x="1325880" y="1234440"/>
            <a:ext cx="3200400" cy="347472"/>
          </a:xfrm>
          <a:prstGeom prst="rect">
            <a:avLst/>
          </a:prstGeom>
          <a:noFill/>
          <a:ln/>
        </p:spPr>
        <p:txBody>
          <a:bodyPr wrap="square" lIns="0" tIns="0" rIns="0" bIns="0" rtlCol="0" anchor="t"/>
          <a:lstStyle/>
          <a:p>
            <a:pPr marL="0" indent="0">
              <a:buNone/>
            </a:pPr>
            <a:r>
              <a:rPr lang="it-IT" sz="1600" b="1" dirty="0">
                <a:solidFill>
                  <a:schemeClr val="tx1"/>
                </a:solidFill>
              </a:rPr>
              <a:t>Produttività</a:t>
            </a:r>
            <a:endParaRPr lang="it-IT" sz="1600" dirty="0"/>
          </a:p>
        </p:txBody>
      </p:sp>
      <p:sp>
        <p:nvSpPr>
          <p:cNvPr id="8" name="Text 4"/>
          <p:cNvSpPr txBox="1"/>
          <p:nvPr/>
        </p:nvSpPr>
        <p:spPr>
          <a:xfrm>
            <a:off x="1325880" y="1600200"/>
            <a:ext cx="3200400" cy="457200"/>
          </a:xfrm>
          <a:prstGeom prst="rect">
            <a:avLst/>
          </a:prstGeom>
          <a:noFill/>
          <a:ln/>
        </p:spPr>
        <p:txBody>
          <a:bodyPr wrap="square" lIns="0" tIns="0" rIns="0" bIns="0" rtlCol="0" anchor="t"/>
          <a:lstStyle/>
          <a:p>
            <a:pPr marL="0" indent="0">
              <a:buNone/>
            </a:pPr>
            <a:r>
              <a:rPr lang="it-IT" sz="1300" dirty="0">
                <a:solidFill>
                  <a:schemeClr val="tx2"/>
                </a:solidFill>
              </a:rPr>
              <a:t>Svolgere alcune attività in meno tempo</a:t>
            </a:r>
            <a:endParaRPr lang="it-IT" sz="1300" dirty="0"/>
          </a:p>
        </p:txBody>
      </p:sp>
      <p:sp>
        <p:nvSpPr>
          <p:cNvPr id="9" name="Qualità"/>
          <p:cNvSpPr/>
          <p:nvPr/>
        </p:nvSpPr>
        <p:spPr>
          <a:xfrm>
            <a:off x="457200" y="2258568"/>
            <a:ext cx="4206240" cy="1024128"/>
          </a:xfrm>
          <a:prstGeom prst="roundRect">
            <a:avLst>
              <a:gd name="adj" fmla="val 7143"/>
            </a:avLst>
          </a:prstGeom>
          <a:solidFill>
            <a:schemeClr val="bg2"/>
          </a:solidFill>
          <a:ln/>
        </p:spPr>
        <p:txBody>
          <a:bodyPr/>
          <a:lstStyle/>
          <a:p>
            <a:endParaRPr lang="it-IT" dirty="0"/>
          </a:p>
        </p:txBody>
      </p:sp>
      <p:sp>
        <p:nvSpPr>
          <p:cNvPr id="10" name="cerchio FiAward"/>
          <p:cNvSpPr/>
          <p:nvPr/>
        </p:nvSpPr>
        <p:spPr>
          <a:xfrm>
            <a:off x="640080" y="2514600"/>
            <a:ext cx="512064" cy="512064"/>
          </a:xfrm>
          <a:prstGeom prst="ellipse">
            <a:avLst/>
          </a:prstGeom>
          <a:solidFill>
            <a:schemeClr val="accent1"/>
          </a:solidFill>
          <a:ln/>
        </p:spPr>
        <p:txBody>
          <a:bodyPr/>
          <a:lstStyle/>
          <a:p>
            <a:endParaRPr lang="it-IT" dirty="0"/>
          </a:p>
        </p:txBody>
      </p:sp>
      <p:pic>
        <p:nvPicPr>
          <p:cNvPr id="11" name="Image 1" descr="FiAward"/>
          <p:cNvPicPr>
            <a:picLocks noChangeAspect="1"/>
          </p:cNvPicPr>
          <p:nvPr/>
        </p:nvPicPr>
        <p:blipFill>
          <a:blip r:embed="rId4"/>
          <a:stretch>
            <a:fillRect/>
          </a:stretch>
        </p:blipFill>
        <p:spPr>
          <a:xfrm>
            <a:off x="768096" y="2642616"/>
            <a:ext cx="256032" cy="256032"/>
          </a:xfrm>
          <a:prstGeom prst="rect">
            <a:avLst/>
          </a:prstGeom>
        </p:spPr>
      </p:pic>
      <p:sp>
        <p:nvSpPr>
          <p:cNvPr id="12" name="Text 7"/>
          <p:cNvSpPr txBox="1"/>
          <p:nvPr/>
        </p:nvSpPr>
        <p:spPr>
          <a:xfrm>
            <a:off x="1325880" y="2395728"/>
            <a:ext cx="3200400" cy="347472"/>
          </a:xfrm>
          <a:prstGeom prst="rect">
            <a:avLst/>
          </a:prstGeom>
          <a:noFill/>
          <a:ln/>
        </p:spPr>
        <p:txBody>
          <a:bodyPr wrap="square" lIns="0" tIns="0" rIns="0" bIns="0" rtlCol="0" anchor="t"/>
          <a:lstStyle/>
          <a:p>
            <a:pPr marL="0" indent="0">
              <a:buNone/>
            </a:pPr>
            <a:r>
              <a:rPr lang="it-IT" sz="1600" b="1" dirty="0">
                <a:solidFill>
                  <a:schemeClr val="tx1"/>
                </a:solidFill>
              </a:rPr>
              <a:t>Qualità</a:t>
            </a:r>
            <a:endParaRPr lang="it-IT" sz="1600" dirty="0"/>
          </a:p>
        </p:txBody>
      </p:sp>
      <p:sp>
        <p:nvSpPr>
          <p:cNvPr id="13" name="Text 8"/>
          <p:cNvSpPr txBox="1"/>
          <p:nvPr/>
        </p:nvSpPr>
        <p:spPr>
          <a:xfrm>
            <a:off x="1325880" y="2761488"/>
            <a:ext cx="3200400" cy="457200"/>
          </a:xfrm>
          <a:prstGeom prst="rect">
            <a:avLst/>
          </a:prstGeom>
          <a:noFill/>
          <a:ln/>
        </p:spPr>
        <p:txBody>
          <a:bodyPr wrap="square" lIns="0" tIns="0" rIns="0" bIns="0" rtlCol="0" anchor="t"/>
          <a:lstStyle/>
          <a:p>
            <a:pPr marL="0" indent="0">
              <a:buNone/>
            </a:pPr>
            <a:r>
              <a:rPr lang="it-IT" sz="1300" dirty="0">
                <a:solidFill>
                  <a:schemeClr val="tx2"/>
                </a:solidFill>
              </a:rPr>
              <a:t>Output più chiari, completi e controllati</a:t>
            </a:r>
            <a:endParaRPr lang="it-IT" sz="1300" dirty="0"/>
          </a:p>
        </p:txBody>
      </p:sp>
      <p:sp>
        <p:nvSpPr>
          <p:cNvPr id="14" name="Innovazione"/>
          <p:cNvSpPr/>
          <p:nvPr/>
        </p:nvSpPr>
        <p:spPr>
          <a:xfrm>
            <a:off x="457200" y="3419856"/>
            <a:ext cx="4206240" cy="1024128"/>
          </a:xfrm>
          <a:prstGeom prst="roundRect">
            <a:avLst>
              <a:gd name="adj" fmla="val 7143"/>
            </a:avLst>
          </a:prstGeom>
          <a:solidFill>
            <a:schemeClr val="bg2"/>
          </a:solidFill>
          <a:ln/>
        </p:spPr>
        <p:txBody>
          <a:bodyPr/>
          <a:lstStyle/>
          <a:p>
            <a:endParaRPr lang="it-IT" dirty="0"/>
          </a:p>
        </p:txBody>
      </p:sp>
      <p:sp>
        <p:nvSpPr>
          <p:cNvPr id="15" name="cerchio FiStar"/>
          <p:cNvSpPr/>
          <p:nvPr/>
        </p:nvSpPr>
        <p:spPr>
          <a:xfrm>
            <a:off x="640080" y="3675888"/>
            <a:ext cx="512064" cy="512064"/>
          </a:xfrm>
          <a:prstGeom prst="ellipse">
            <a:avLst/>
          </a:prstGeom>
          <a:solidFill>
            <a:schemeClr val="accent1"/>
          </a:solidFill>
          <a:ln/>
        </p:spPr>
        <p:txBody>
          <a:bodyPr/>
          <a:lstStyle/>
          <a:p>
            <a:endParaRPr lang="it-IT" dirty="0"/>
          </a:p>
        </p:txBody>
      </p:sp>
      <p:pic>
        <p:nvPicPr>
          <p:cNvPr id="16" name="Image 2" descr="FiStar"/>
          <p:cNvPicPr>
            <a:picLocks noChangeAspect="1"/>
          </p:cNvPicPr>
          <p:nvPr/>
        </p:nvPicPr>
        <p:blipFill>
          <a:blip r:embed="rId5"/>
          <a:stretch>
            <a:fillRect/>
          </a:stretch>
        </p:blipFill>
        <p:spPr>
          <a:xfrm>
            <a:off x="768096" y="3803904"/>
            <a:ext cx="256032" cy="256032"/>
          </a:xfrm>
          <a:prstGeom prst="rect">
            <a:avLst/>
          </a:prstGeom>
        </p:spPr>
      </p:pic>
      <p:sp>
        <p:nvSpPr>
          <p:cNvPr id="17" name="Text 11"/>
          <p:cNvSpPr txBox="1"/>
          <p:nvPr/>
        </p:nvSpPr>
        <p:spPr>
          <a:xfrm>
            <a:off x="1325880" y="3557016"/>
            <a:ext cx="3200400" cy="347472"/>
          </a:xfrm>
          <a:prstGeom prst="rect">
            <a:avLst/>
          </a:prstGeom>
          <a:noFill/>
          <a:ln/>
        </p:spPr>
        <p:txBody>
          <a:bodyPr wrap="square" lIns="0" tIns="0" rIns="0" bIns="0" rtlCol="0" anchor="t"/>
          <a:lstStyle/>
          <a:p>
            <a:pPr marL="0" indent="0">
              <a:buNone/>
            </a:pPr>
            <a:r>
              <a:rPr lang="it-IT" sz="1600" b="1" dirty="0">
                <a:solidFill>
                  <a:schemeClr val="tx1"/>
                </a:solidFill>
              </a:rPr>
              <a:t>Innovazione</a:t>
            </a:r>
            <a:endParaRPr lang="it-IT" sz="1600" dirty="0"/>
          </a:p>
        </p:txBody>
      </p:sp>
      <p:sp>
        <p:nvSpPr>
          <p:cNvPr id="18" name="Text 12"/>
          <p:cNvSpPr txBox="1"/>
          <p:nvPr/>
        </p:nvSpPr>
        <p:spPr>
          <a:xfrm>
            <a:off x="1325880" y="3922776"/>
            <a:ext cx="3200400" cy="457200"/>
          </a:xfrm>
          <a:prstGeom prst="rect">
            <a:avLst/>
          </a:prstGeom>
          <a:noFill/>
          <a:ln/>
        </p:spPr>
        <p:txBody>
          <a:bodyPr wrap="square" lIns="0" tIns="0" rIns="0" bIns="0" rtlCol="0" anchor="t"/>
          <a:lstStyle/>
          <a:p>
            <a:pPr marL="0" indent="0">
              <a:buNone/>
            </a:pPr>
            <a:r>
              <a:rPr lang="it-IT" sz="1300" dirty="0">
                <a:solidFill>
                  <a:schemeClr val="tx2"/>
                </a:solidFill>
              </a:rPr>
              <a:t>Rendere possibili cose prima non praticabili</a:t>
            </a:r>
            <a:endParaRPr lang="it-IT" sz="1300" dirty="0"/>
          </a:p>
        </p:txBody>
      </p:sp>
      <p:sp>
        <p:nvSpPr>
          <p:cNvPr id="19" name="evidenza studio"/>
          <p:cNvSpPr/>
          <p:nvPr/>
        </p:nvSpPr>
        <p:spPr>
          <a:xfrm>
            <a:off x="4937760" y="1097280"/>
            <a:ext cx="3749040" cy="3429000"/>
          </a:xfrm>
          <a:prstGeom prst="roundRect">
            <a:avLst>
              <a:gd name="adj" fmla="val 2133"/>
            </a:avLst>
          </a:prstGeom>
          <a:solidFill>
            <a:schemeClr val="tx1"/>
          </a:solidFill>
          <a:ln/>
        </p:spPr>
        <p:txBody>
          <a:bodyPr/>
          <a:lstStyle/>
          <a:p>
            <a:endParaRPr lang="it-IT" dirty="0"/>
          </a:p>
        </p:txBody>
      </p:sp>
      <p:sp>
        <p:nvSpPr>
          <p:cNvPr id="20" name="Text 14"/>
          <p:cNvSpPr txBox="1"/>
          <p:nvPr/>
        </p:nvSpPr>
        <p:spPr>
          <a:xfrm>
            <a:off x="5166360" y="1234440"/>
            <a:ext cx="3291840" cy="274320"/>
          </a:xfrm>
          <a:prstGeom prst="rect">
            <a:avLst/>
          </a:prstGeom>
          <a:noFill/>
          <a:ln/>
        </p:spPr>
        <p:txBody>
          <a:bodyPr wrap="square" lIns="0" tIns="0" rIns="0" bIns="0" rtlCol="0" anchor="t"/>
          <a:lstStyle/>
          <a:p>
            <a:pPr marL="0" indent="0">
              <a:buNone/>
            </a:pPr>
            <a:r>
              <a:rPr lang="it-IT" sz="1100" b="1" kern="0" spc="200" dirty="0">
                <a:solidFill>
                  <a:schemeClr val="accent3"/>
                </a:solidFill>
              </a:rPr>
              <a:t>UN ESEMPIO DI EVIDENZA (circa 5000 operatori di customer care)</a:t>
            </a:r>
            <a:endParaRPr lang="it-IT" sz="1100" dirty="0"/>
          </a:p>
        </p:txBody>
      </p:sp>
      <p:sp>
        <p:nvSpPr>
          <p:cNvPr id="21" name="Text 15"/>
          <p:cNvSpPr txBox="1"/>
          <p:nvPr/>
        </p:nvSpPr>
        <p:spPr>
          <a:xfrm>
            <a:off x="5166360" y="1554480"/>
            <a:ext cx="1737360" cy="731520"/>
          </a:xfrm>
          <a:prstGeom prst="rect">
            <a:avLst/>
          </a:prstGeom>
          <a:noFill/>
          <a:ln/>
        </p:spPr>
        <p:txBody>
          <a:bodyPr wrap="square" lIns="0" tIns="0" rIns="0" bIns="0" rtlCol="0" anchor="t"/>
          <a:lstStyle/>
          <a:p>
            <a:pPr marL="0" indent="0">
              <a:buNone/>
            </a:pPr>
            <a:r>
              <a:rPr lang="it-IT" sz="4000" b="1" dirty="0">
                <a:solidFill>
                  <a:schemeClr val="accent1"/>
                </a:solidFill>
              </a:rPr>
              <a:t>+15%</a:t>
            </a:r>
            <a:endParaRPr lang="it-IT" sz="4000" dirty="0"/>
          </a:p>
        </p:txBody>
      </p:sp>
      <p:sp>
        <p:nvSpPr>
          <p:cNvPr id="22" name="Text 16"/>
          <p:cNvSpPr txBox="1"/>
          <p:nvPr/>
        </p:nvSpPr>
        <p:spPr>
          <a:xfrm>
            <a:off x="6903720" y="1554480"/>
            <a:ext cx="1737360" cy="731520"/>
          </a:xfrm>
          <a:prstGeom prst="rect">
            <a:avLst/>
          </a:prstGeom>
          <a:noFill/>
          <a:ln/>
        </p:spPr>
        <p:txBody>
          <a:bodyPr wrap="square" lIns="0" tIns="0" rIns="0" bIns="0" rtlCol="0" anchor="t"/>
          <a:lstStyle/>
          <a:p>
            <a:pPr marL="0" indent="0">
              <a:buNone/>
            </a:pPr>
            <a:r>
              <a:rPr lang="it-IT" sz="4000" b="1" dirty="0">
                <a:solidFill>
                  <a:schemeClr val="bg1"/>
                </a:solidFill>
              </a:rPr>
              <a:t>+36%</a:t>
            </a:r>
            <a:endParaRPr lang="it-IT" sz="4000" dirty="0"/>
          </a:p>
        </p:txBody>
      </p:sp>
      <p:sp>
        <p:nvSpPr>
          <p:cNvPr id="23" name="Text 17"/>
          <p:cNvSpPr txBox="1"/>
          <p:nvPr/>
        </p:nvSpPr>
        <p:spPr>
          <a:xfrm>
            <a:off x="5166360" y="2286000"/>
            <a:ext cx="1645920" cy="548640"/>
          </a:xfrm>
          <a:prstGeom prst="rect">
            <a:avLst/>
          </a:prstGeom>
          <a:noFill/>
          <a:ln/>
        </p:spPr>
        <p:txBody>
          <a:bodyPr wrap="square" lIns="0" tIns="0" rIns="0" bIns="0" rtlCol="0" anchor="t"/>
          <a:lstStyle/>
          <a:p>
            <a:pPr marL="0" indent="0">
              <a:buNone/>
            </a:pPr>
            <a:r>
              <a:rPr lang="it-IT" sz="1200" dirty="0">
                <a:solidFill>
                  <a:schemeClr val="bg1"/>
                </a:solidFill>
              </a:rPr>
              <a:t>problemi risolti per ora, in media</a:t>
            </a:r>
            <a:endParaRPr lang="it-IT" sz="1200" dirty="0"/>
          </a:p>
        </p:txBody>
      </p:sp>
      <p:sp>
        <p:nvSpPr>
          <p:cNvPr id="24" name="Text 18"/>
          <p:cNvSpPr txBox="1"/>
          <p:nvPr/>
        </p:nvSpPr>
        <p:spPr>
          <a:xfrm>
            <a:off x="6903720" y="2286000"/>
            <a:ext cx="1645920" cy="548640"/>
          </a:xfrm>
          <a:prstGeom prst="rect">
            <a:avLst/>
          </a:prstGeom>
          <a:noFill/>
          <a:ln/>
        </p:spPr>
        <p:txBody>
          <a:bodyPr wrap="square" lIns="0" tIns="0" rIns="0" bIns="0" rtlCol="0" anchor="t"/>
          <a:lstStyle/>
          <a:p>
            <a:pPr marL="0" indent="0">
              <a:buNone/>
            </a:pPr>
            <a:r>
              <a:rPr lang="it-IT" sz="1200" dirty="0">
                <a:solidFill>
                  <a:schemeClr val="bg1"/>
                </a:solidFill>
              </a:rPr>
              <a:t>per gli operatori con minore esperienza </a:t>
            </a:r>
            <a:endParaRPr lang="it-IT" sz="1200" dirty="0"/>
          </a:p>
        </p:txBody>
      </p:sp>
      <p:sp>
        <p:nvSpPr>
          <p:cNvPr id="25" name="Text 19"/>
          <p:cNvSpPr txBox="1"/>
          <p:nvPr/>
        </p:nvSpPr>
        <p:spPr>
          <a:xfrm>
            <a:off x="5166360" y="2926080"/>
            <a:ext cx="3337560" cy="914400"/>
          </a:xfrm>
          <a:prstGeom prst="rect">
            <a:avLst/>
          </a:prstGeom>
          <a:noFill/>
          <a:ln/>
        </p:spPr>
        <p:txBody>
          <a:bodyPr wrap="square" lIns="0" tIns="0" rIns="0" bIns="0" rtlCol="0" anchor="t"/>
          <a:lstStyle/>
          <a:p>
            <a:pPr marL="0" indent="0">
              <a:buNone/>
            </a:pPr>
            <a:r>
              <a:rPr lang="it-IT" sz="1300" dirty="0">
                <a:solidFill>
                  <a:schemeClr val="accent3"/>
                </a:solidFill>
              </a:rPr>
              <a:t>Studi sul campo mostrano che l’AI può migliorare significativamente le prestazioni in determinate attività. L’entità dei benefici varia in funzione del compito, delle competenze e delle modalità di utilizzo</a:t>
            </a:r>
            <a:endParaRPr lang="it-IT" sz="1300" dirty="0"/>
          </a:p>
        </p:txBody>
      </p:sp>
      <p:sp>
        <p:nvSpPr>
          <p:cNvPr id="26" name="Text 20"/>
          <p:cNvSpPr txBox="1"/>
          <p:nvPr/>
        </p:nvSpPr>
        <p:spPr>
          <a:xfrm>
            <a:off x="5166360" y="4114800"/>
            <a:ext cx="3337560" cy="274320"/>
          </a:xfrm>
          <a:prstGeom prst="rect">
            <a:avLst/>
          </a:prstGeom>
          <a:noFill/>
          <a:ln/>
        </p:spPr>
        <p:txBody>
          <a:bodyPr wrap="square" lIns="0" tIns="0" rIns="0" bIns="0" rtlCol="0" anchor="t"/>
          <a:lstStyle/>
          <a:p>
            <a:pPr marL="0" indent="0">
              <a:buNone/>
            </a:pPr>
            <a:r>
              <a:rPr lang="it-IT" sz="1000" dirty="0">
                <a:solidFill>
                  <a:schemeClr val="accent2"/>
                </a:solidFill>
              </a:rPr>
              <a:t>Fonte: </a:t>
            </a:r>
            <a:r>
              <a:rPr lang="it-IT" sz="1000" dirty="0" err="1">
                <a:solidFill>
                  <a:schemeClr val="accent2"/>
                </a:solidFill>
              </a:rPr>
              <a:t>Brynjolfsson</a:t>
            </a:r>
            <a:r>
              <a:rPr lang="it-IT" sz="1000" dirty="0">
                <a:solidFill>
                  <a:schemeClr val="accent2"/>
                </a:solidFill>
              </a:rPr>
              <a:t>, Li, Raymond, QJE, 2025</a:t>
            </a:r>
            <a:endParaRPr lang="it-IT" sz="10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22</a:t>
            </a:fld>
            <a:endParaRPr lang="it-IT"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Come evolvono il lavoro e le competenze</a:t>
            </a:r>
            <a:endParaRPr lang="it-IT" sz="2600" dirty="0"/>
          </a:p>
        </p:txBody>
      </p:sp>
      <p:sp>
        <p:nvSpPr>
          <p:cNvPr id="4" name="Text 1"/>
          <p:cNvSpPr txBox="1"/>
          <p:nvPr/>
        </p:nvSpPr>
        <p:spPr>
          <a:xfrm>
            <a:off x="457200" y="1051560"/>
            <a:ext cx="4114800" cy="320040"/>
          </a:xfrm>
          <a:prstGeom prst="rect">
            <a:avLst/>
          </a:prstGeom>
          <a:noFill/>
          <a:ln/>
        </p:spPr>
        <p:txBody>
          <a:bodyPr wrap="square" lIns="0" tIns="0" rIns="0" bIns="0" rtlCol="0" anchor="t"/>
          <a:lstStyle/>
          <a:p>
            <a:pPr marL="0" indent="0">
              <a:buNone/>
            </a:pPr>
            <a:r>
              <a:rPr lang="it-IT" sz="1400" b="1" dirty="0">
                <a:solidFill>
                  <a:schemeClr val="tx1"/>
                </a:solidFill>
              </a:rPr>
              <a:t>Un ruolo è fatto di molte attività</a:t>
            </a:r>
            <a:endParaRPr lang="it-IT" sz="1400" dirty="0"/>
          </a:p>
        </p:txBody>
      </p:sp>
      <p:sp>
        <p:nvSpPr>
          <p:cNvPr id="5" name="Attività automatizzabili"/>
          <p:cNvSpPr/>
          <p:nvPr/>
        </p:nvSpPr>
        <p:spPr>
          <a:xfrm>
            <a:off x="457200" y="1463040"/>
            <a:ext cx="4023360" cy="841248"/>
          </a:xfrm>
          <a:prstGeom prst="roundRect">
            <a:avLst>
              <a:gd name="adj" fmla="val 8696"/>
            </a:avLst>
          </a:prstGeom>
          <a:solidFill>
            <a:schemeClr val="accent1"/>
          </a:solidFill>
          <a:ln/>
        </p:spPr>
        <p:txBody>
          <a:bodyPr/>
          <a:lstStyle/>
          <a:p>
            <a:endParaRPr lang="it-IT" dirty="0"/>
          </a:p>
        </p:txBody>
      </p:sp>
      <p:sp>
        <p:nvSpPr>
          <p:cNvPr id="6" name="Text 3"/>
          <p:cNvSpPr txBox="1"/>
          <p:nvPr/>
        </p:nvSpPr>
        <p:spPr>
          <a:xfrm>
            <a:off x="640080" y="1463040"/>
            <a:ext cx="3657600" cy="841248"/>
          </a:xfrm>
          <a:prstGeom prst="rect">
            <a:avLst/>
          </a:prstGeom>
          <a:noFill/>
          <a:ln/>
        </p:spPr>
        <p:txBody>
          <a:bodyPr wrap="square" lIns="0" tIns="0" rIns="0" bIns="0" rtlCol="0" anchor="ctr"/>
          <a:lstStyle/>
          <a:p>
            <a:pPr marL="0" indent="0">
              <a:buNone/>
            </a:pPr>
            <a:r>
              <a:rPr lang="it-IT" sz="1400" b="1" dirty="0">
                <a:solidFill>
                  <a:schemeClr val="bg1"/>
                </a:solidFill>
              </a:rPr>
              <a:t>Attività automatizzabili</a:t>
            </a:r>
            <a:endParaRPr lang="it-IT" sz="1400" dirty="0"/>
          </a:p>
        </p:txBody>
      </p:sp>
      <p:sp>
        <p:nvSpPr>
          <p:cNvPr id="7" name="Attività supportate dall'AI"/>
          <p:cNvSpPr/>
          <p:nvPr/>
        </p:nvSpPr>
        <p:spPr>
          <a:xfrm>
            <a:off x="457200" y="2450592"/>
            <a:ext cx="4023360" cy="841248"/>
          </a:xfrm>
          <a:prstGeom prst="roundRect">
            <a:avLst>
              <a:gd name="adj" fmla="val 8696"/>
            </a:avLst>
          </a:prstGeom>
          <a:solidFill>
            <a:schemeClr val="accent6"/>
          </a:solidFill>
          <a:ln/>
        </p:spPr>
        <p:txBody>
          <a:bodyPr/>
          <a:lstStyle/>
          <a:p>
            <a:endParaRPr lang="it-IT" dirty="0"/>
          </a:p>
        </p:txBody>
      </p:sp>
      <p:sp>
        <p:nvSpPr>
          <p:cNvPr id="8" name="Text 5"/>
          <p:cNvSpPr txBox="1"/>
          <p:nvPr/>
        </p:nvSpPr>
        <p:spPr>
          <a:xfrm>
            <a:off x="640080" y="2450592"/>
            <a:ext cx="3657600" cy="841248"/>
          </a:xfrm>
          <a:prstGeom prst="rect">
            <a:avLst/>
          </a:prstGeom>
          <a:noFill/>
          <a:ln/>
        </p:spPr>
        <p:txBody>
          <a:bodyPr wrap="square" lIns="0" tIns="0" rIns="0" bIns="0" rtlCol="0" anchor="ctr"/>
          <a:lstStyle/>
          <a:p>
            <a:pPr marL="0" indent="0">
              <a:buNone/>
            </a:pPr>
            <a:r>
              <a:rPr lang="it-IT" sz="1400" b="1" dirty="0">
                <a:solidFill>
                  <a:schemeClr val="tx1"/>
                </a:solidFill>
              </a:rPr>
              <a:t>Attività supportate dall'AI</a:t>
            </a:r>
            <a:endParaRPr lang="it-IT" sz="1400" dirty="0"/>
          </a:p>
        </p:txBody>
      </p:sp>
      <p:sp>
        <p:nvSpPr>
          <p:cNvPr id="9" name="Attività essenzialmente umane: relazioni, giudizio, responsabilità"/>
          <p:cNvSpPr/>
          <p:nvPr/>
        </p:nvSpPr>
        <p:spPr>
          <a:xfrm>
            <a:off x="457200" y="3438144"/>
            <a:ext cx="4023360" cy="841248"/>
          </a:xfrm>
          <a:prstGeom prst="roundRect">
            <a:avLst>
              <a:gd name="adj" fmla="val 8696"/>
            </a:avLst>
          </a:prstGeom>
          <a:solidFill>
            <a:schemeClr val="bg2"/>
          </a:solidFill>
          <a:ln/>
        </p:spPr>
        <p:txBody>
          <a:bodyPr/>
          <a:lstStyle/>
          <a:p>
            <a:endParaRPr lang="it-IT" dirty="0"/>
          </a:p>
        </p:txBody>
      </p:sp>
      <p:sp>
        <p:nvSpPr>
          <p:cNvPr id="10" name="Text 7"/>
          <p:cNvSpPr txBox="1"/>
          <p:nvPr/>
        </p:nvSpPr>
        <p:spPr>
          <a:xfrm>
            <a:off x="640080" y="3438144"/>
            <a:ext cx="3657600" cy="841248"/>
          </a:xfrm>
          <a:prstGeom prst="rect">
            <a:avLst/>
          </a:prstGeom>
          <a:noFill/>
          <a:ln/>
        </p:spPr>
        <p:txBody>
          <a:bodyPr wrap="square" lIns="0" tIns="0" rIns="0" bIns="0" rtlCol="0" anchor="ctr"/>
          <a:lstStyle/>
          <a:p>
            <a:pPr marL="0" indent="0">
              <a:buNone/>
            </a:pPr>
            <a:r>
              <a:rPr lang="it-IT" sz="1400" b="1" dirty="0">
                <a:solidFill>
                  <a:schemeClr val="tx1"/>
                </a:solidFill>
              </a:rPr>
              <a:t>Attività essenzialmente umane: relazioni, giudizio, responsabilità</a:t>
            </a:r>
            <a:endParaRPr lang="it-IT" sz="1400" dirty="0"/>
          </a:p>
        </p:txBody>
      </p:sp>
      <p:sp>
        <p:nvSpPr>
          <p:cNvPr id="11" name="Text 8"/>
          <p:cNvSpPr txBox="1"/>
          <p:nvPr/>
        </p:nvSpPr>
        <p:spPr>
          <a:xfrm>
            <a:off x="4846320" y="1051560"/>
            <a:ext cx="3840480" cy="320040"/>
          </a:xfrm>
          <a:prstGeom prst="rect">
            <a:avLst/>
          </a:prstGeom>
          <a:noFill/>
          <a:ln/>
        </p:spPr>
        <p:txBody>
          <a:bodyPr wrap="square" lIns="0" tIns="0" rIns="0" bIns="0" rtlCol="0" anchor="t"/>
          <a:lstStyle/>
          <a:p>
            <a:pPr marL="0" indent="0">
              <a:buNone/>
            </a:pPr>
            <a:r>
              <a:rPr lang="it-IT" sz="1400" b="1" dirty="0">
                <a:solidFill>
                  <a:schemeClr val="tx1"/>
                </a:solidFill>
              </a:rPr>
              <a:t>Competenze che acquistano valore</a:t>
            </a:r>
            <a:endParaRPr lang="it-IT" sz="1400" dirty="0"/>
          </a:p>
        </p:txBody>
      </p:sp>
      <p:sp>
        <p:nvSpPr>
          <p:cNvPr id="12" name="cerchio FiHelpCircle"/>
          <p:cNvSpPr/>
          <p:nvPr/>
        </p:nvSpPr>
        <p:spPr>
          <a:xfrm>
            <a:off x="4846320" y="1481328"/>
            <a:ext cx="457200" cy="457200"/>
          </a:xfrm>
          <a:prstGeom prst="ellipse">
            <a:avLst/>
          </a:prstGeom>
          <a:solidFill>
            <a:schemeClr val="accent1"/>
          </a:solidFill>
          <a:ln/>
        </p:spPr>
        <p:txBody>
          <a:bodyPr/>
          <a:lstStyle/>
          <a:p>
            <a:endParaRPr lang="it-IT" dirty="0"/>
          </a:p>
        </p:txBody>
      </p:sp>
      <p:pic>
        <p:nvPicPr>
          <p:cNvPr id="13" name="Image 0" descr="FiHelpCircle"/>
          <p:cNvPicPr>
            <a:picLocks noChangeAspect="1"/>
          </p:cNvPicPr>
          <p:nvPr/>
        </p:nvPicPr>
        <p:blipFill>
          <a:blip r:embed="rId3"/>
          <a:stretch>
            <a:fillRect/>
          </a:stretch>
        </p:blipFill>
        <p:spPr>
          <a:xfrm>
            <a:off x="4960620" y="1595628"/>
            <a:ext cx="228600" cy="228600"/>
          </a:xfrm>
          <a:prstGeom prst="rect">
            <a:avLst/>
          </a:prstGeom>
        </p:spPr>
      </p:pic>
      <p:sp>
        <p:nvSpPr>
          <p:cNvPr id="14" name="Text 10"/>
          <p:cNvSpPr txBox="1"/>
          <p:nvPr/>
        </p:nvSpPr>
        <p:spPr>
          <a:xfrm>
            <a:off x="5486400" y="1481328"/>
            <a:ext cx="3200400" cy="457200"/>
          </a:xfrm>
          <a:prstGeom prst="rect">
            <a:avLst/>
          </a:prstGeom>
          <a:noFill/>
          <a:ln/>
        </p:spPr>
        <p:txBody>
          <a:bodyPr wrap="square" lIns="0" tIns="0" rIns="0" bIns="0" rtlCol="0" anchor="ctr"/>
          <a:lstStyle/>
          <a:p>
            <a:pPr marL="0" indent="0">
              <a:buNone/>
            </a:pPr>
            <a:r>
              <a:rPr lang="it-IT" sz="1400" dirty="0">
                <a:solidFill>
                  <a:schemeClr val="tx1"/>
                </a:solidFill>
              </a:rPr>
              <a:t>Formulare bene i problemi</a:t>
            </a:r>
            <a:endParaRPr lang="it-IT" sz="1400" dirty="0"/>
          </a:p>
        </p:txBody>
      </p:sp>
      <p:sp>
        <p:nvSpPr>
          <p:cNvPr id="15" name="cerchio FiEye"/>
          <p:cNvSpPr/>
          <p:nvPr/>
        </p:nvSpPr>
        <p:spPr>
          <a:xfrm>
            <a:off x="4846320" y="2231136"/>
            <a:ext cx="457200" cy="457200"/>
          </a:xfrm>
          <a:prstGeom prst="ellipse">
            <a:avLst/>
          </a:prstGeom>
          <a:solidFill>
            <a:schemeClr val="accent1"/>
          </a:solidFill>
          <a:ln/>
        </p:spPr>
        <p:txBody>
          <a:bodyPr/>
          <a:lstStyle/>
          <a:p>
            <a:endParaRPr lang="it-IT" dirty="0"/>
          </a:p>
        </p:txBody>
      </p:sp>
      <p:pic>
        <p:nvPicPr>
          <p:cNvPr id="16" name="Image 1" descr="FiEye"/>
          <p:cNvPicPr>
            <a:picLocks noChangeAspect="1"/>
          </p:cNvPicPr>
          <p:nvPr/>
        </p:nvPicPr>
        <p:blipFill>
          <a:blip r:embed="rId4"/>
          <a:stretch>
            <a:fillRect/>
          </a:stretch>
        </p:blipFill>
        <p:spPr>
          <a:xfrm>
            <a:off x="4960620" y="2345436"/>
            <a:ext cx="228600" cy="228600"/>
          </a:xfrm>
          <a:prstGeom prst="rect">
            <a:avLst/>
          </a:prstGeom>
        </p:spPr>
      </p:pic>
      <p:sp>
        <p:nvSpPr>
          <p:cNvPr id="17" name="Text 12"/>
          <p:cNvSpPr txBox="1"/>
          <p:nvPr/>
        </p:nvSpPr>
        <p:spPr>
          <a:xfrm>
            <a:off x="5486400" y="2231136"/>
            <a:ext cx="3200400" cy="457200"/>
          </a:xfrm>
          <a:prstGeom prst="rect">
            <a:avLst/>
          </a:prstGeom>
          <a:noFill/>
          <a:ln/>
        </p:spPr>
        <p:txBody>
          <a:bodyPr wrap="square" lIns="0" tIns="0" rIns="0" bIns="0" rtlCol="0" anchor="ctr"/>
          <a:lstStyle/>
          <a:p>
            <a:pPr marL="0" indent="0">
              <a:buNone/>
            </a:pPr>
            <a:r>
              <a:rPr lang="it-IT" sz="1400" dirty="0">
                <a:solidFill>
                  <a:schemeClr val="tx1"/>
                </a:solidFill>
              </a:rPr>
              <a:t>Valutare criticamente gli output</a:t>
            </a:r>
            <a:endParaRPr lang="it-IT" sz="1400" dirty="0"/>
          </a:p>
        </p:txBody>
      </p:sp>
      <p:sp>
        <p:nvSpPr>
          <p:cNvPr id="18" name="cerchio FiLayers"/>
          <p:cNvSpPr/>
          <p:nvPr/>
        </p:nvSpPr>
        <p:spPr>
          <a:xfrm>
            <a:off x="4846320" y="2980944"/>
            <a:ext cx="457200" cy="457200"/>
          </a:xfrm>
          <a:prstGeom prst="ellipse">
            <a:avLst/>
          </a:prstGeom>
          <a:solidFill>
            <a:schemeClr val="accent1"/>
          </a:solidFill>
          <a:ln/>
        </p:spPr>
        <p:txBody>
          <a:bodyPr/>
          <a:lstStyle/>
          <a:p>
            <a:endParaRPr lang="it-IT" dirty="0"/>
          </a:p>
        </p:txBody>
      </p:sp>
      <p:pic>
        <p:nvPicPr>
          <p:cNvPr id="19" name="Image 2" descr="FiLayers"/>
          <p:cNvPicPr>
            <a:picLocks noChangeAspect="1"/>
          </p:cNvPicPr>
          <p:nvPr/>
        </p:nvPicPr>
        <p:blipFill>
          <a:blip r:embed="rId5"/>
          <a:stretch>
            <a:fillRect/>
          </a:stretch>
        </p:blipFill>
        <p:spPr>
          <a:xfrm>
            <a:off x="4960620" y="3095244"/>
            <a:ext cx="228600" cy="228600"/>
          </a:xfrm>
          <a:prstGeom prst="rect">
            <a:avLst/>
          </a:prstGeom>
        </p:spPr>
      </p:pic>
      <p:sp>
        <p:nvSpPr>
          <p:cNvPr id="20" name="Text 14"/>
          <p:cNvSpPr txBox="1"/>
          <p:nvPr/>
        </p:nvSpPr>
        <p:spPr>
          <a:xfrm>
            <a:off x="5486400" y="2980944"/>
            <a:ext cx="3200400" cy="457200"/>
          </a:xfrm>
          <a:prstGeom prst="rect">
            <a:avLst/>
          </a:prstGeom>
          <a:noFill/>
          <a:ln/>
        </p:spPr>
        <p:txBody>
          <a:bodyPr wrap="square" lIns="0" tIns="0" rIns="0" bIns="0" rtlCol="0" anchor="ctr"/>
          <a:lstStyle/>
          <a:p>
            <a:pPr marL="0" indent="0">
              <a:buNone/>
            </a:pPr>
            <a:r>
              <a:rPr lang="it-IT" sz="1400" dirty="0">
                <a:solidFill>
                  <a:schemeClr val="tx1"/>
                </a:solidFill>
              </a:rPr>
              <a:t>Integrare l'AI nel proprio lavoro</a:t>
            </a:r>
            <a:endParaRPr lang="it-IT" sz="1400" dirty="0"/>
          </a:p>
        </p:txBody>
      </p:sp>
      <p:sp>
        <p:nvSpPr>
          <p:cNvPr id="21" name="cerchio FiBookOpen"/>
          <p:cNvSpPr/>
          <p:nvPr/>
        </p:nvSpPr>
        <p:spPr>
          <a:xfrm>
            <a:off x="4846320" y="3730752"/>
            <a:ext cx="457200" cy="457200"/>
          </a:xfrm>
          <a:prstGeom prst="ellipse">
            <a:avLst/>
          </a:prstGeom>
          <a:solidFill>
            <a:schemeClr val="accent1"/>
          </a:solidFill>
          <a:ln/>
        </p:spPr>
        <p:txBody>
          <a:bodyPr/>
          <a:lstStyle/>
          <a:p>
            <a:endParaRPr lang="it-IT" dirty="0"/>
          </a:p>
        </p:txBody>
      </p:sp>
      <p:pic>
        <p:nvPicPr>
          <p:cNvPr id="22" name="Image 3" descr="FiBookOpen"/>
          <p:cNvPicPr>
            <a:picLocks noChangeAspect="1"/>
          </p:cNvPicPr>
          <p:nvPr/>
        </p:nvPicPr>
        <p:blipFill>
          <a:blip r:embed="rId6"/>
          <a:stretch>
            <a:fillRect/>
          </a:stretch>
        </p:blipFill>
        <p:spPr>
          <a:xfrm>
            <a:off x="4960620" y="3845052"/>
            <a:ext cx="228600" cy="228600"/>
          </a:xfrm>
          <a:prstGeom prst="rect">
            <a:avLst/>
          </a:prstGeom>
        </p:spPr>
      </p:pic>
      <p:sp>
        <p:nvSpPr>
          <p:cNvPr id="23" name="Text 16"/>
          <p:cNvSpPr txBox="1"/>
          <p:nvPr/>
        </p:nvSpPr>
        <p:spPr>
          <a:xfrm>
            <a:off x="5486400" y="3730752"/>
            <a:ext cx="3200400" cy="457200"/>
          </a:xfrm>
          <a:prstGeom prst="rect">
            <a:avLst/>
          </a:prstGeom>
          <a:noFill/>
          <a:ln/>
        </p:spPr>
        <p:txBody>
          <a:bodyPr wrap="square" lIns="0" tIns="0" rIns="0" bIns="0" rtlCol="0" anchor="ctr"/>
          <a:lstStyle/>
          <a:p>
            <a:pPr marL="0" indent="0">
              <a:buNone/>
            </a:pPr>
            <a:r>
              <a:rPr lang="it-IT" sz="1400" dirty="0">
                <a:solidFill>
                  <a:schemeClr val="tx1"/>
                </a:solidFill>
              </a:rPr>
              <a:t>Mantenere la competenza di dominio</a:t>
            </a:r>
            <a:endParaRPr lang="it-IT"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23</a:t>
            </a:fld>
            <a:endParaRPr lang="it-IT"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Possibili implicazioni competitive</a:t>
            </a:r>
            <a:endParaRPr lang="it-IT" sz="2600" dirty="0"/>
          </a:p>
        </p:txBody>
      </p:sp>
      <p:sp>
        <p:nvSpPr>
          <p:cNvPr id="4" name="scheda Da vantaggio a standard"/>
          <p:cNvSpPr/>
          <p:nvPr/>
        </p:nvSpPr>
        <p:spPr>
          <a:xfrm>
            <a:off x="457200" y="1097280"/>
            <a:ext cx="3977640" cy="1600200"/>
          </a:xfrm>
          <a:prstGeom prst="roundRect">
            <a:avLst>
              <a:gd name="adj" fmla="val 4571"/>
            </a:avLst>
          </a:prstGeom>
          <a:solidFill>
            <a:schemeClr val="bg2"/>
          </a:solidFill>
          <a:ln/>
        </p:spPr>
        <p:txBody>
          <a:bodyPr/>
          <a:lstStyle/>
          <a:p>
            <a:endParaRPr lang="it-IT" dirty="0"/>
          </a:p>
        </p:txBody>
      </p:sp>
      <p:sp>
        <p:nvSpPr>
          <p:cNvPr id="5" name="cerchio FiMinusCircle"/>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MinusCircle"/>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1234440" y="1280160"/>
            <a:ext cx="3017520" cy="457200"/>
          </a:xfrm>
          <a:prstGeom prst="rect">
            <a:avLst/>
          </a:prstGeom>
          <a:noFill/>
          <a:ln/>
        </p:spPr>
        <p:txBody>
          <a:bodyPr wrap="square" lIns="0" tIns="0" rIns="0" bIns="0" rtlCol="0" anchor="ctr"/>
          <a:lstStyle/>
          <a:p>
            <a:pPr marL="0" indent="0">
              <a:buNone/>
            </a:pPr>
            <a:r>
              <a:rPr lang="it-IT" sz="1500" b="1" dirty="0">
                <a:solidFill>
                  <a:schemeClr val="tx1"/>
                </a:solidFill>
              </a:rPr>
              <a:t>Da vantaggio a standard</a:t>
            </a:r>
            <a:endParaRPr lang="it-IT" sz="1500" dirty="0"/>
          </a:p>
        </p:txBody>
      </p:sp>
      <p:sp>
        <p:nvSpPr>
          <p:cNvPr id="8" name="Text 4"/>
          <p:cNvSpPr txBox="1"/>
          <p:nvPr/>
        </p:nvSpPr>
        <p:spPr>
          <a:xfrm>
            <a:off x="640080" y="1824228"/>
            <a:ext cx="3611880" cy="713232"/>
          </a:xfrm>
          <a:prstGeom prst="rect">
            <a:avLst/>
          </a:prstGeom>
          <a:noFill/>
          <a:ln/>
        </p:spPr>
        <p:txBody>
          <a:bodyPr wrap="square" lIns="0" tIns="0" rIns="0" bIns="0" rtlCol="0" anchor="t"/>
          <a:lstStyle/>
          <a:p>
            <a:pPr marL="0" indent="0">
              <a:buNone/>
            </a:pPr>
            <a:r>
              <a:rPr lang="it-IT" sz="1300" dirty="0">
                <a:solidFill>
                  <a:schemeClr val="tx2"/>
                </a:solidFill>
              </a:rPr>
              <a:t>Quando le capacità AI diventano ampiamente accessibili, il vantaggio competitivo dipende sempre più da come vengono integrate in competenze, processi e servizi distintivi</a:t>
            </a:r>
            <a:endParaRPr lang="it-IT" sz="1300" dirty="0"/>
          </a:p>
        </p:txBody>
      </p:sp>
      <p:sp>
        <p:nvSpPr>
          <p:cNvPr id="9" name="scheda Il vantaggio è in ciò che è specifico"/>
          <p:cNvSpPr/>
          <p:nvPr/>
        </p:nvSpPr>
        <p:spPr>
          <a:xfrm>
            <a:off x="4709160" y="1097280"/>
            <a:ext cx="3977640" cy="1600200"/>
          </a:xfrm>
          <a:prstGeom prst="roundRect">
            <a:avLst>
              <a:gd name="adj" fmla="val 4571"/>
            </a:avLst>
          </a:prstGeom>
          <a:solidFill>
            <a:schemeClr val="accent6"/>
          </a:solidFill>
          <a:ln/>
        </p:spPr>
        <p:txBody>
          <a:bodyPr/>
          <a:lstStyle/>
          <a:p>
            <a:endParaRPr lang="it-IT" dirty="0"/>
          </a:p>
        </p:txBody>
      </p:sp>
      <p:sp>
        <p:nvSpPr>
          <p:cNvPr id="10" name="cerchio FiKey"/>
          <p:cNvSpPr/>
          <p:nvPr/>
        </p:nvSpPr>
        <p:spPr>
          <a:xfrm>
            <a:off x="4892040" y="1280160"/>
            <a:ext cx="457200" cy="457200"/>
          </a:xfrm>
          <a:prstGeom prst="ellipse">
            <a:avLst/>
          </a:prstGeom>
          <a:solidFill>
            <a:schemeClr val="accent1"/>
          </a:solidFill>
          <a:ln/>
        </p:spPr>
        <p:txBody>
          <a:bodyPr/>
          <a:lstStyle/>
          <a:p>
            <a:endParaRPr lang="it-IT" dirty="0"/>
          </a:p>
        </p:txBody>
      </p:sp>
      <p:pic>
        <p:nvPicPr>
          <p:cNvPr id="11" name="Image 1" descr="FiKey"/>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5486400" y="1280160"/>
            <a:ext cx="3017520" cy="457200"/>
          </a:xfrm>
          <a:prstGeom prst="rect">
            <a:avLst/>
          </a:prstGeom>
          <a:noFill/>
          <a:ln/>
        </p:spPr>
        <p:txBody>
          <a:bodyPr wrap="square" lIns="0" tIns="0" rIns="0" bIns="0" rtlCol="0" anchor="ctr"/>
          <a:lstStyle/>
          <a:p>
            <a:pPr marL="0" indent="0">
              <a:buNone/>
            </a:pPr>
            <a:r>
              <a:rPr lang="it-IT" sz="1500" b="1" dirty="0">
                <a:solidFill>
                  <a:schemeClr val="tx1"/>
                </a:solidFill>
              </a:rPr>
              <a:t>Il vantaggio è in ciò che è specifico</a:t>
            </a:r>
            <a:endParaRPr lang="it-IT" sz="1500" dirty="0"/>
          </a:p>
        </p:txBody>
      </p:sp>
      <p:sp>
        <p:nvSpPr>
          <p:cNvPr id="13" name="Text 8"/>
          <p:cNvSpPr txBox="1"/>
          <p:nvPr/>
        </p:nvSpPr>
        <p:spPr>
          <a:xfrm>
            <a:off x="4892040" y="1874520"/>
            <a:ext cx="3611880" cy="713232"/>
          </a:xfrm>
          <a:prstGeom prst="rect">
            <a:avLst/>
          </a:prstGeom>
          <a:noFill/>
          <a:ln/>
        </p:spPr>
        <p:txBody>
          <a:bodyPr wrap="square" lIns="0" tIns="0" rIns="0" bIns="0" rtlCol="0" anchor="t"/>
          <a:lstStyle/>
          <a:p>
            <a:pPr marL="0" indent="0">
              <a:buNone/>
            </a:pPr>
            <a:r>
              <a:rPr lang="it-IT" sz="1300" dirty="0">
                <a:solidFill>
                  <a:schemeClr val="tx2"/>
                </a:solidFill>
              </a:rPr>
              <a:t>Conoscenza del mercato, dati, processi, persone, capacità di apprendere</a:t>
            </a:r>
            <a:endParaRPr lang="it-IT" sz="1300" dirty="0"/>
          </a:p>
        </p:txBody>
      </p:sp>
      <p:sp>
        <p:nvSpPr>
          <p:cNvPr id="14" name="scheda Cambiano le aspettative"/>
          <p:cNvSpPr/>
          <p:nvPr/>
        </p:nvSpPr>
        <p:spPr>
          <a:xfrm>
            <a:off x="457200" y="2834640"/>
            <a:ext cx="3977640" cy="1600200"/>
          </a:xfrm>
          <a:prstGeom prst="roundRect">
            <a:avLst>
              <a:gd name="adj" fmla="val 4571"/>
            </a:avLst>
          </a:prstGeom>
          <a:solidFill>
            <a:schemeClr val="bg2"/>
          </a:solidFill>
          <a:ln/>
        </p:spPr>
        <p:txBody>
          <a:bodyPr/>
          <a:lstStyle/>
          <a:p>
            <a:endParaRPr lang="it-IT" dirty="0"/>
          </a:p>
        </p:txBody>
      </p:sp>
      <p:sp>
        <p:nvSpPr>
          <p:cNvPr id="15" name="cerchio FiUserPlus"/>
          <p:cNvSpPr/>
          <p:nvPr/>
        </p:nvSpPr>
        <p:spPr>
          <a:xfrm>
            <a:off x="640080" y="3017520"/>
            <a:ext cx="457200" cy="457200"/>
          </a:xfrm>
          <a:prstGeom prst="ellipse">
            <a:avLst/>
          </a:prstGeom>
          <a:solidFill>
            <a:schemeClr val="accent1"/>
          </a:solidFill>
          <a:ln/>
        </p:spPr>
        <p:txBody>
          <a:bodyPr/>
          <a:lstStyle/>
          <a:p>
            <a:endParaRPr lang="it-IT" dirty="0"/>
          </a:p>
        </p:txBody>
      </p:sp>
      <p:pic>
        <p:nvPicPr>
          <p:cNvPr id="16" name="Image 2" descr="FiUserPlus"/>
          <p:cNvPicPr>
            <a:picLocks noChangeAspect="1"/>
          </p:cNvPicPr>
          <p:nvPr/>
        </p:nvPicPr>
        <p:blipFill>
          <a:blip r:embed="rId5"/>
          <a:stretch>
            <a:fillRect/>
          </a:stretch>
        </p:blipFill>
        <p:spPr>
          <a:xfrm>
            <a:off x="754380" y="3131820"/>
            <a:ext cx="228600" cy="228600"/>
          </a:xfrm>
          <a:prstGeom prst="rect">
            <a:avLst/>
          </a:prstGeom>
        </p:spPr>
      </p:pic>
      <p:sp>
        <p:nvSpPr>
          <p:cNvPr id="17" name="Text 11"/>
          <p:cNvSpPr txBox="1"/>
          <p:nvPr/>
        </p:nvSpPr>
        <p:spPr>
          <a:xfrm>
            <a:off x="1234440" y="3017520"/>
            <a:ext cx="3017520" cy="457200"/>
          </a:xfrm>
          <a:prstGeom prst="rect">
            <a:avLst/>
          </a:prstGeom>
          <a:noFill/>
          <a:ln/>
        </p:spPr>
        <p:txBody>
          <a:bodyPr wrap="square" lIns="0" tIns="0" rIns="0" bIns="0" rtlCol="0" anchor="ctr"/>
          <a:lstStyle/>
          <a:p>
            <a:pPr marL="0" indent="0">
              <a:buNone/>
            </a:pPr>
            <a:r>
              <a:rPr lang="it-IT" sz="1500" b="1" dirty="0">
                <a:solidFill>
                  <a:schemeClr val="tx1"/>
                </a:solidFill>
              </a:rPr>
              <a:t>Cambiano le aspettative</a:t>
            </a:r>
            <a:endParaRPr lang="it-IT" sz="1500" dirty="0"/>
          </a:p>
        </p:txBody>
      </p:sp>
      <p:sp>
        <p:nvSpPr>
          <p:cNvPr id="18" name="Text 12"/>
          <p:cNvSpPr txBox="1"/>
          <p:nvPr/>
        </p:nvSpPr>
        <p:spPr>
          <a:xfrm>
            <a:off x="640080" y="3611880"/>
            <a:ext cx="3611880" cy="713232"/>
          </a:xfrm>
          <a:prstGeom prst="rect">
            <a:avLst/>
          </a:prstGeom>
          <a:noFill/>
          <a:ln/>
        </p:spPr>
        <p:txBody>
          <a:bodyPr wrap="square" lIns="0" tIns="0" rIns="0" bIns="0" rtlCol="0" anchor="t"/>
          <a:lstStyle/>
          <a:p>
            <a:pPr marL="0" indent="0">
              <a:buNone/>
            </a:pPr>
            <a:r>
              <a:rPr lang="it-IT" sz="1300" dirty="0">
                <a:solidFill>
                  <a:schemeClr val="tx2"/>
                </a:solidFill>
              </a:rPr>
              <a:t>I clienti si abituano a risposte più rapide e personalizzate</a:t>
            </a:r>
            <a:endParaRPr lang="it-IT" sz="1300" dirty="0"/>
          </a:p>
        </p:txBody>
      </p:sp>
      <p:sp>
        <p:nvSpPr>
          <p:cNvPr id="19" name="scheda Nuovi concorrenti"/>
          <p:cNvSpPr/>
          <p:nvPr/>
        </p:nvSpPr>
        <p:spPr>
          <a:xfrm>
            <a:off x="4709160" y="2834640"/>
            <a:ext cx="3977640" cy="1600200"/>
          </a:xfrm>
          <a:prstGeom prst="roundRect">
            <a:avLst>
              <a:gd name="adj" fmla="val 4571"/>
            </a:avLst>
          </a:prstGeom>
          <a:solidFill>
            <a:schemeClr val="bg2"/>
          </a:solidFill>
          <a:ln/>
        </p:spPr>
        <p:txBody>
          <a:bodyPr/>
          <a:lstStyle/>
          <a:p>
            <a:endParaRPr lang="it-IT" dirty="0"/>
          </a:p>
        </p:txBody>
      </p:sp>
      <p:sp>
        <p:nvSpPr>
          <p:cNvPr id="20" name="cerchio FiLogIn"/>
          <p:cNvSpPr/>
          <p:nvPr/>
        </p:nvSpPr>
        <p:spPr>
          <a:xfrm>
            <a:off x="4892040" y="3017520"/>
            <a:ext cx="457200" cy="457200"/>
          </a:xfrm>
          <a:prstGeom prst="ellipse">
            <a:avLst/>
          </a:prstGeom>
          <a:solidFill>
            <a:schemeClr val="accent1"/>
          </a:solidFill>
          <a:ln/>
        </p:spPr>
        <p:txBody>
          <a:bodyPr/>
          <a:lstStyle/>
          <a:p>
            <a:endParaRPr lang="it-IT" dirty="0"/>
          </a:p>
        </p:txBody>
      </p:sp>
      <p:pic>
        <p:nvPicPr>
          <p:cNvPr id="21" name="Image 3" descr="FiLogIn"/>
          <p:cNvPicPr>
            <a:picLocks noChangeAspect="1"/>
          </p:cNvPicPr>
          <p:nvPr/>
        </p:nvPicPr>
        <p:blipFill>
          <a:blip r:embed="rId6"/>
          <a:stretch>
            <a:fillRect/>
          </a:stretch>
        </p:blipFill>
        <p:spPr>
          <a:xfrm>
            <a:off x="5006340" y="3131820"/>
            <a:ext cx="228600" cy="228600"/>
          </a:xfrm>
          <a:prstGeom prst="rect">
            <a:avLst/>
          </a:prstGeom>
        </p:spPr>
      </p:pic>
      <p:sp>
        <p:nvSpPr>
          <p:cNvPr id="22" name="Text 15"/>
          <p:cNvSpPr txBox="1"/>
          <p:nvPr/>
        </p:nvSpPr>
        <p:spPr>
          <a:xfrm>
            <a:off x="5486400" y="3017520"/>
            <a:ext cx="3017520" cy="457200"/>
          </a:xfrm>
          <a:prstGeom prst="rect">
            <a:avLst/>
          </a:prstGeom>
          <a:noFill/>
          <a:ln/>
        </p:spPr>
        <p:txBody>
          <a:bodyPr wrap="square" lIns="0" tIns="0" rIns="0" bIns="0" rtlCol="0" anchor="ctr"/>
          <a:lstStyle/>
          <a:p>
            <a:pPr marL="0" indent="0">
              <a:buNone/>
            </a:pPr>
            <a:r>
              <a:rPr lang="it-IT" sz="1500" b="1" dirty="0">
                <a:solidFill>
                  <a:schemeClr val="tx1"/>
                </a:solidFill>
              </a:rPr>
              <a:t>Nuovi concorrenti</a:t>
            </a:r>
            <a:endParaRPr lang="it-IT" sz="1500" dirty="0"/>
          </a:p>
        </p:txBody>
      </p:sp>
      <p:sp>
        <p:nvSpPr>
          <p:cNvPr id="23" name="Text 16"/>
          <p:cNvSpPr txBox="1"/>
          <p:nvPr/>
        </p:nvSpPr>
        <p:spPr>
          <a:xfrm>
            <a:off x="4892040" y="3611880"/>
            <a:ext cx="3611880" cy="713232"/>
          </a:xfrm>
          <a:prstGeom prst="rect">
            <a:avLst/>
          </a:prstGeom>
          <a:noFill/>
          <a:ln/>
        </p:spPr>
        <p:txBody>
          <a:bodyPr wrap="square" lIns="0" tIns="0" rIns="0" bIns="0" rtlCol="0" anchor="t"/>
          <a:lstStyle/>
          <a:p>
            <a:pPr marL="0" indent="0">
              <a:buNone/>
            </a:pPr>
            <a:r>
              <a:rPr lang="it-IT" sz="1300" dirty="0">
                <a:solidFill>
                  <a:schemeClr val="tx2"/>
                </a:solidFill>
              </a:rPr>
              <a:t>In alcuni settori si abbassano le barriere d'ingresso</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24</a:t>
            </a:fld>
            <a:endParaRPr lang="it-IT"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Dal potenziale tecnologico al valore realizzato</a:t>
            </a:r>
            <a:endParaRPr lang="it-IT" sz="2600" dirty="0"/>
          </a:p>
        </p:txBody>
      </p:sp>
      <p:sp>
        <p:nvSpPr>
          <p:cNvPr id="4" name="imbuto Potenziale tecnologico"/>
          <p:cNvSpPr/>
          <p:nvPr/>
        </p:nvSpPr>
        <p:spPr>
          <a:xfrm>
            <a:off x="466344" y="1097280"/>
            <a:ext cx="5102352" cy="585216"/>
          </a:xfrm>
          <a:prstGeom prst="roundRect">
            <a:avLst>
              <a:gd name="adj" fmla="val 12500"/>
            </a:avLst>
          </a:prstGeom>
          <a:solidFill>
            <a:schemeClr val="tx2"/>
          </a:solidFill>
          <a:ln/>
        </p:spPr>
        <p:txBody>
          <a:bodyPr/>
          <a:lstStyle/>
          <a:p>
            <a:endParaRPr lang="it-IT" dirty="0"/>
          </a:p>
        </p:txBody>
      </p:sp>
      <p:sp>
        <p:nvSpPr>
          <p:cNvPr id="5" name="Text 2"/>
          <p:cNvSpPr txBox="1"/>
          <p:nvPr/>
        </p:nvSpPr>
        <p:spPr>
          <a:xfrm>
            <a:off x="466344" y="1097280"/>
            <a:ext cx="5102352" cy="585216"/>
          </a:xfrm>
          <a:prstGeom prst="rect">
            <a:avLst/>
          </a:prstGeom>
          <a:noFill/>
          <a:ln/>
        </p:spPr>
        <p:txBody>
          <a:bodyPr wrap="square" lIns="0" tIns="0" rIns="0" bIns="0" rtlCol="0" anchor="ctr"/>
          <a:lstStyle/>
          <a:p>
            <a:pPr marL="0" indent="0" algn="ctr">
              <a:buNone/>
            </a:pPr>
            <a:r>
              <a:rPr lang="it-IT" sz="1400" b="1" dirty="0">
                <a:solidFill>
                  <a:schemeClr val="bg1"/>
                </a:solidFill>
              </a:rPr>
              <a:t>Potenziale tecnologico</a:t>
            </a:r>
            <a:endParaRPr lang="it-IT" sz="1400" dirty="0"/>
          </a:p>
        </p:txBody>
      </p:sp>
      <p:sp>
        <p:nvSpPr>
          <p:cNvPr id="6" name="Text 3"/>
          <p:cNvSpPr txBox="1"/>
          <p:nvPr/>
        </p:nvSpPr>
        <p:spPr>
          <a:xfrm>
            <a:off x="5806440" y="1097280"/>
            <a:ext cx="2880360" cy="585216"/>
          </a:xfrm>
          <a:prstGeom prst="rect">
            <a:avLst/>
          </a:prstGeom>
          <a:noFill/>
          <a:ln/>
        </p:spPr>
        <p:txBody>
          <a:bodyPr wrap="square" lIns="0" tIns="0" rIns="0" bIns="0" rtlCol="0" anchor="ctr"/>
          <a:lstStyle/>
          <a:p>
            <a:pPr marL="0" indent="0">
              <a:buNone/>
            </a:pPr>
            <a:r>
              <a:rPr lang="it-IT" sz="1300" dirty="0">
                <a:solidFill>
                  <a:schemeClr val="tx2"/>
                </a:solidFill>
              </a:rPr>
              <a:t>Ciò che l'AI potrebbe fare</a:t>
            </a:r>
            <a:endParaRPr lang="it-IT" sz="1300" dirty="0"/>
          </a:p>
        </p:txBody>
      </p:sp>
      <p:sp>
        <p:nvSpPr>
          <p:cNvPr id="7" name="imbuto Problema reale"/>
          <p:cNvSpPr/>
          <p:nvPr/>
        </p:nvSpPr>
        <p:spPr>
          <a:xfrm>
            <a:off x="749808" y="1792224"/>
            <a:ext cx="4535424" cy="585216"/>
          </a:xfrm>
          <a:prstGeom prst="roundRect">
            <a:avLst>
              <a:gd name="adj" fmla="val 12500"/>
            </a:avLst>
          </a:prstGeom>
          <a:solidFill>
            <a:schemeClr val="bg2"/>
          </a:solidFill>
          <a:ln/>
        </p:spPr>
        <p:txBody>
          <a:bodyPr/>
          <a:lstStyle/>
          <a:p>
            <a:endParaRPr lang="it-IT" dirty="0"/>
          </a:p>
        </p:txBody>
      </p:sp>
      <p:sp>
        <p:nvSpPr>
          <p:cNvPr id="8" name="Text 5"/>
          <p:cNvSpPr txBox="1"/>
          <p:nvPr/>
        </p:nvSpPr>
        <p:spPr>
          <a:xfrm>
            <a:off x="749808" y="1792224"/>
            <a:ext cx="4535424" cy="585216"/>
          </a:xfrm>
          <a:prstGeom prst="rect">
            <a:avLst/>
          </a:prstGeom>
          <a:noFill/>
          <a:ln/>
        </p:spPr>
        <p:txBody>
          <a:bodyPr wrap="square" lIns="0" tIns="0" rIns="0" bIns="0" rtlCol="0" anchor="ctr"/>
          <a:lstStyle/>
          <a:p>
            <a:pPr marL="0" indent="0" algn="ctr">
              <a:buNone/>
            </a:pPr>
            <a:r>
              <a:rPr lang="it-IT" sz="1400" b="1" dirty="0">
                <a:solidFill>
                  <a:schemeClr val="tx1"/>
                </a:solidFill>
              </a:rPr>
              <a:t>Problema reale</a:t>
            </a:r>
            <a:endParaRPr lang="it-IT" sz="1400" dirty="0"/>
          </a:p>
        </p:txBody>
      </p:sp>
      <p:sp>
        <p:nvSpPr>
          <p:cNvPr id="9" name="Text 6"/>
          <p:cNvSpPr txBox="1"/>
          <p:nvPr/>
        </p:nvSpPr>
        <p:spPr>
          <a:xfrm>
            <a:off x="5806440" y="1792224"/>
            <a:ext cx="2880360" cy="585216"/>
          </a:xfrm>
          <a:prstGeom prst="rect">
            <a:avLst/>
          </a:prstGeom>
          <a:noFill/>
          <a:ln/>
        </p:spPr>
        <p:txBody>
          <a:bodyPr wrap="square" lIns="0" tIns="0" rIns="0" bIns="0" rtlCol="0" anchor="ctr"/>
          <a:lstStyle/>
          <a:p>
            <a:pPr marL="0" indent="0">
              <a:buNone/>
            </a:pPr>
            <a:r>
              <a:rPr lang="it-IT" sz="1300" dirty="0">
                <a:solidFill>
                  <a:schemeClr val="tx2"/>
                </a:solidFill>
              </a:rPr>
              <a:t>Un bisogno concreto e rilevante</a:t>
            </a:r>
            <a:endParaRPr lang="it-IT" sz="1300" dirty="0"/>
          </a:p>
        </p:txBody>
      </p:sp>
      <p:sp>
        <p:nvSpPr>
          <p:cNvPr id="10" name="imbuto Integrazione nei processi"/>
          <p:cNvSpPr/>
          <p:nvPr/>
        </p:nvSpPr>
        <p:spPr>
          <a:xfrm>
            <a:off x="1033272" y="2487168"/>
            <a:ext cx="3968496" cy="585216"/>
          </a:xfrm>
          <a:prstGeom prst="roundRect">
            <a:avLst>
              <a:gd name="adj" fmla="val 12500"/>
            </a:avLst>
          </a:prstGeom>
          <a:solidFill>
            <a:schemeClr val="bg2"/>
          </a:solidFill>
          <a:ln/>
        </p:spPr>
        <p:txBody>
          <a:bodyPr/>
          <a:lstStyle/>
          <a:p>
            <a:endParaRPr lang="it-IT" dirty="0"/>
          </a:p>
        </p:txBody>
      </p:sp>
      <p:sp>
        <p:nvSpPr>
          <p:cNvPr id="11" name="Text 8"/>
          <p:cNvSpPr txBox="1"/>
          <p:nvPr/>
        </p:nvSpPr>
        <p:spPr>
          <a:xfrm>
            <a:off x="1033272" y="2487168"/>
            <a:ext cx="3968496" cy="585216"/>
          </a:xfrm>
          <a:prstGeom prst="rect">
            <a:avLst/>
          </a:prstGeom>
          <a:noFill/>
          <a:ln/>
        </p:spPr>
        <p:txBody>
          <a:bodyPr wrap="square" lIns="0" tIns="0" rIns="0" bIns="0" rtlCol="0" anchor="ctr"/>
          <a:lstStyle/>
          <a:p>
            <a:pPr marL="0" indent="0" algn="ctr">
              <a:buNone/>
            </a:pPr>
            <a:r>
              <a:rPr lang="it-IT" sz="1400" b="1" dirty="0">
                <a:solidFill>
                  <a:schemeClr val="tx1"/>
                </a:solidFill>
              </a:rPr>
              <a:t>Integrazione nei processi</a:t>
            </a:r>
            <a:endParaRPr lang="it-IT" sz="1400" dirty="0"/>
          </a:p>
        </p:txBody>
      </p:sp>
      <p:sp>
        <p:nvSpPr>
          <p:cNvPr id="12" name="Text 9"/>
          <p:cNvSpPr txBox="1"/>
          <p:nvPr/>
        </p:nvSpPr>
        <p:spPr>
          <a:xfrm>
            <a:off x="5806440" y="2487168"/>
            <a:ext cx="2880360" cy="585216"/>
          </a:xfrm>
          <a:prstGeom prst="rect">
            <a:avLst/>
          </a:prstGeom>
          <a:noFill/>
          <a:ln/>
        </p:spPr>
        <p:txBody>
          <a:bodyPr wrap="square" lIns="0" tIns="0" rIns="0" bIns="0" rtlCol="0" anchor="ctr"/>
          <a:lstStyle/>
          <a:p>
            <a:pPr marL="0" indent="0">
              <a:buNone/>
            </a:pPr>
            <a:r>
              <a:rPr lang="it-IT" sz="1300" dirty="0">
                <a:solidFill>
                  <a:schemeClr val="tx2"/>
                </a:solidFill>
              </a:rPr>
              <a:t>Dati, strumenti, flussi di lavoro</a:t>
            </a:r>
            <a:endParaRPr lang="it-IT" sz="1300" dirty="0"/>
          </a:p>
        </p:txBody>
      </p:sp>
      <p:sp>
        <p:nvSpPr>
          <p:cNvPr id="13" name="imbuto Adozione delle persone"/>
          <p:cNvSpPr/>
          <p:nvPr/>
        </p:nvSpPr>
        <p:spPr>
          <a:xfrm>
            <a:off x="1316736" y="3182112"/>
            <a:ext cx="3401568" cy="585216"/>
          </a:xfrm>
          <a:prstGeom prst="roundRect">
            <a:avLst>
              <a:gd name="adj" fmla="val 12500"/>
            </a:avLst>
          </a:prstGeom>
          <a:solidFill>
            <a:schemeClr val="bg2"/>
          </a:solidFill>
          <a:ln/>
        </p:spPr>
        <p:txBody>
          <a:bodyPr/>
          <a:lstStyle/>
          <a:p>
            <a:endParaRPr lang="it-IT" dirty="0"/>
          </a:p>
        </p:txBody>
      </p:sp>
      <p:sp>
        <p:nvSpPr>
          <p:cNvPr id="14" name="Text 11"/>
          <p:cNvSpPr txBox="1"/>
          <p:nvPr/>
        </p:nvSpPr>
        <p:spPr>
          <a:xfrm>
            <a:off x="1316736" y="3182112"/>
            <a:ext cx="3401568" cy="585216"/>
          </a:xfrm>
          <a:prstGeom prst="rect">
            <a:avLst/>
          </a:prstGeom>
          <a:noFill/>
          <a:ln/>
        </p:spPr>
        <p:txBody>
          <a:bodyPr wrap="square" lIns="0" tIns="0" rIns="0" bIns="0" rtlCol="0" anchor="ctr"/>
          <a:lstStyle/>
          <a:p>
            <a:pPr marL="0" indent="0" algn="ctr">
              <a:buNone/>
            </a:pPr>
            <a:r>
              <a:rPr lang="it-IT" sz="1400" b="1" dirty="0">
                <a:solidFill>
                  <a:schemeClr val="tx1"/>
                </a:solidFill>
              </a:rPr>
              <a:t>Adozione delle persone</a:t>
            </a:r>
            <a:endParaRPr lang="it-IT" sz="1400" dirty="0"/>
          </a:p>
        </p:txBody>
      </p:sp>
      <p:sp>
        <p:nvSpPr>
          <p:cNvPr id="15" name="Text 12"/>
          <p:cNvSpPr txBox="1"/>
          <p:nvPr/>
        </p:nvSpPr>
        <p:spPr>
          <a:xfrm>
            <a:off x="5806440" y="3182112"/>
            <a:ext cx="2880360" cy="585216"/>
          </a:xfrm>
          <a:prstGeom prst="rect">
            <a:avLst/>
          </a:prstGeom>
          <a:noFill/>
          <a:ln/>
        </p:spPr>
        <p:txBody>
          <a:bodyPr wrap="square" lIns="0" tIns="0" rIns="0" bIns="0" rtlCol="0" anchor="ctr"/>
          <a:lstStyle/>
          <a:p>
            <a:pPr marL="0" indent="0">
              <a:buNone/>
            </a:pPr>
            <a:r>
              <a:rPr lang="it-IT" sz="1300" dirty="0">
                <a:solidFill>
                  <a:schemeClr val="tx2"/>
                </a:solidFill>
              </a:rPr>
              <a:t>Competenze, fiducia, utilità percepita</a:t>
            </a:r>
            <a:endParaRPr lang="it-IT" sz="1300" dirty="0"/>
          </a:p>
        </p:txBody>
      </p:sp>
      <p:sp>
        <p:nvSpPr>
          <p:cNvPr id="16" name="imbuto Valore misurato"/>
          <p:cNvSpPr/>
          <p:nvPr/>
        </p:nvSpPr>
        <p:spPr>
          <a:xfrm>
            <a:off x="1600200" y="3877056"/>
            <a:ext cx="2834640" cy="585216"/>
          </a:xfrm>
          <a:prstGeom prst="roundRect">
            <a:avLst>
              <a:gd name="adj" fmla="val 12500"/>
            </a:avLst>
          </a:prstGeom>
          <a:solidFill>
            <a:schemeClr val="accent1"/>
          </a:solidFill>
          <a:ln/>
        </p:spPr>
        <p:txBody>
          <a:bodyPr/>
          <a:lstStyle/>
          <a:p>
            <a:endParaRPr lang="it-IT" dirty="0"/>
          </a:p>
        </p:txBody>
      </p:sp>
      <p:sp>
        <p:nvSpPr>
          <p:cNvPr id="17" name="Text 14"/>
          <p:cNvSpPr txBox="1"/>
          <p:nvPr/>
        </p:nvSpPr>
        <p:spPr>
          <a:xfrm>
            <a:off x="1600200" y="3877056"/>
            <a:ext cx="2834640" cy="585216"/>
          </a:xfrm>
          <a:prstGeom prst="rect">
            <a:avLst/>
          </a:prstGeom>
          <a:noFill/>
          <a:ln/>
        </p:spPr>
        <p:txBody>
          <a:bodyPr wrap="square" lIns="0" tIns="0" rIns="0" bIns="0" rtlCol="0" anchor="ctr"/>
          <a:lstStyle/>
          <a:p>
            <a:pPr marL="0" indent="0" algn="ctr">
              <a:buNone/>
            </a:pPr>
            <a:r>
              <a:rPr lang="it-IT" sz="1400" b="1" dirty="0">
                <a:solidFill>
                  <a:schemeClr val="bg1"/>
                </a:solidFill>
              </a:rPr>
              <a:t>Valore misurato</a:t>
            </a:r>
            <a:endParaRPr lang="it-IT" sz="1400" dirty="0"/>
          </a:p>
        </p:txBody>
      </p:sp>
      <p:sp>
        <p:nvSpPr>
          <p:cNvPr id="18" name="Text 15"/>
          <p:cNvSpPr txBox="1"/>
          <p:nvPr/>
        </p:nvSpPr>
        <p:spPr>
          <a:xfrm>
            <a:off x="5806440" y="3877056"/>
            <a:ext cx="2880360" cy="585216"/>
          </a:xfrm>
          <a:prstGeom prst="rect">
            <a:avLst/>
          </a:prstGeom>
          <a:noFill/>
          <a:ln/>
        </p:spPr>
        <p:txBody>
          <a:bodyPr wrap="square" lIns="0" tIns="0" rIns="0" bIns="0" rtlCol="0" anchor="ctr"/>
          <a:lstStyle/>
          <a:p>
            <a:pPr marL="0" indent="0">
              <a:buNone/>
            </a:pPr>
            <a:r>
              <a:rPr lang="it-IT" sz="1300" dirty="0">
                <a:solidFill>
                  <a:schemeClr val="tx2"/>
                </a:solidFill>
              </a:rPr>
              <a:t>Benefici reali al netto dei costi</a:t>
            </a:r>
            <a:endParaRPr lang="it-IT" sz="1300" dirty="0"/>
          </a:p>
        </p:txBody>
      </p:sp>
      <p:sp>
        <p:nvSpPr>
          <p:cNvPr id="19" name="Text 16"/>
          <p:cNvSpPr txBox="1"/>
          <p:nvPr/>
        </p:nvSpPr>
        <p:spPr>
          <a:xfrm>
            <a:off x="457199" y="4572000"/>
            <a:ext cx="8039819" cy="228600"/>
          </a:xfrm>
          <a:prstGeom prst="rect">
            <a:avLst/>
          </a:prstGeom>
          <a:noFill/>
          <a:ln/>
        </p:spPr>
        <p:txBody>
          <a:bodyPr wrap="square" lIns="0" tIns="0" rIns="0" bIns="0" rtlCol="0" anchor="t"/>
          <a:lstStyle/>
          <a:p>
            <a:pPr marL="0" indent="0">
              <a:buNone/>
            </a:pPr>
            <a:r>
              <a:rPr lang="it-IT" sz="1100" i="1" dirty="0">
                <a:solidFill>
                  <a:schemeClr val="accent2"/>
                </a:solidFill>
              </a:rPr>
              <a:t>Il valore dell’AI si costruisce collegando le capacità tecnologiche a problemi reali, processi adeguati e competenze delle persone </a:t>
            </a:r>
            <a:endParaRPr lang="it-IT"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25</a:t>
            </a:fld>
            <a:endParaRPr lang="it-IT"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C08F6-C20E-5F17-56C6-180F4AA30EF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D68275A-D750-8CC0-0997-453DC42F7D60}"/>
              </a:ext>
            </a:extLst>
          </p:cNvPr>
          <p:cNvSpPr>
            <a:spLocks noGrp="1"/>
          </p:cNvSpPr>
          <p:nvPr>
            <p:ph type="body" idx="100" hasCustomPrompt="1"/>
          </p:nvPr>
        </p:nvSpPr>
        <p:spPr>
          <a:xfrm>
            <a:off x="640080" y="1097280"/>
            <a:ext cx="7863840" cy="365760"/>
          </a:xfrm>
          <a:prstGeom prst="rect">
            <a:avLst/>
          </a:prstGeom>
          <a:noFill/>
          <a:ln/>
        </p:spPr>
        <p:txBody>
          <a:bodyPr wrap="square" lIns="0" tIns="0" rIns="0" bIns="0" rtlCol="0"/>
          <a:lstStyle/>
          <a:p>
            <a:pPr marL="0" indent="0">
              <a:buNone/>
            </a:pPr>
            <a:r>
              <a:rPr lang="en-US" sz="1300" b="1" kern="0" spc="200" dirty="0">
                <a:solidFill>
                  <a:schemeClr val="accent1"/>
                </a:solidFill>
              </a:rPr>
              <a:t>AI ADOPTION  ·  LASER SRL  ·  SESSIONE 1 DI 3</a:t>
            </a:r>
            <a:endParaRPr lang="en-US" sz="1300" dirty="0"/>
          </a:p>
        </p:txBody>
      </p:sp>
      <p:sp>
        <p:nvSpPr>
          <p:cNvPr id="3" name="Text 0">
            <a:extLst>
              <a:ext uri="{FF2B5EF4-FFF2-40B4-BE49-F238E27FC236}">
                <a16:creationId xmlns:a16="http://schemas.microsoft.com/office/drawing/2014/main" id="{411CC301-50BD-A556-768E-3067B8E393DD}"/>
              </a:ext>
            </a:extLst>
          </p:cNvPr>
          <p:cNvSpPr>
            <a:spLocks noGrp="1"/>
          </p:cNvSpPr>
          <p:nvPr>
            <p:ph type="title" idx="101" hasCustomPrompt="1"/>
          </p:nvPr>
        </p:nvSpPr>
        <p:spPr>
          <a:xfrm>
            <a:off x="640080" y="1554480"/>
            <a:ext cx="7863840" cy="1463040"/>
          </a:xfrm>
          <a:prstGeom prst="rect">
            <a:avLst/>
          </a:prstGeom>
          <a:noFill/>
          <a:ln/>
        </p:spPr>
        <p:txBody>
          <a:bodyPr wrap="square" lIns="0" tIns="0" rIns="0" bIns="0" rtlCol="0" anchor="t"/>
          <a:lstStyle/>
          <a:p>
            <a:pPr marL="0" indent="0" algn="l">
              <a:buNone/>
            </a:pPr>
            <a:r>
              <a:rPr lang="en-US" sz="3600" b="1" dirty="0">
                <a:solidFill>
                  <a:schemeClr val="bg1"/>
                </a:solidFill>
              </a:rPr>
              <a:t>Fondamenti e </a:t>
            </a:r>
            <a:r>
              <a:rPr lang="en-US" sz="3600" b="1" dirty="0" err="1">
                <a:solidFill>
                  <a:schemeClr val="bg1"/>
                </a:solidFill>
              </a:rPr>
              <a:t>funzionamento</a:t>
            </a:r>
            <a:r>
              <a:rPr lang="en-US" sz="3600" b="1" dirty="0">
                <a:solidFill>
                  <a:schemeClr val="bg1"/>
                </a:solidFill>
              </a:rPr>
              <a:t> </a:t>
            </a:r>
            <a:r>
              <a:rPr lang="en-US" sz="3600" b="1" dirty="0" err="1">
                <a:solidFill>
                  <a:schemeClr val="bg1"/>
                </a:solidFill>
              </a:rPr>
              <a:t>dell’Ai</a:t>
            </a:r>
            <a:endParaRPr lang="en-US" sz="3600" dirty="0"/>
          </a:p>
        </p:txBody>
      </p:sp>
      <p:sp>
        <p:nvSpPr>
          <p:cNvPr id="4" name="Text 0">
            <a:extLst>
              <a:ext uri="{FF2B5EF4-FFF2-40B4-BE49-F238E27FC236}">
                <a16:creationId xmlns:a16="http://schemas.microsoft.com/office/drawing/2014/main" id="{66998D74-79C9-E793-EF76-124E41B26827}"/>
              </a:ext>
            </a:extLst>
          </p:cNvPr>
          <p:cNvSpPr>
            <a:spLocks noGrp="1"/>
          </p:cNvSpPr>
          <p:nvPr>
            <p:ph type="body" idx="102" hasCustomPrompt="1"/>
          </p:nvPr>
        </p:nvSpPr>
        <p:spPr>
          <a:xfrm>
            <a:off x="640080" y="3154680"/>
            <a:ext cx="7863840" cy="822960"/>
          </a:xfrm>
          <a:prstGeom prst="rect">
            <a:avLst/>
          </a:prstGeom>
          <a:noFill/>
          <a:ln/>
        </p:spPr>
        <p:txBody>
          <a:bodyPr wrap="square" lIns="0" tIns="0" rIns="0" bIns="0" rtlCol="0" anchor="t"/>
          <a:lstStyle/>
          <a:p>
            <a:pPr marL="0" indent="0">
              <a:buNone/>
            </a:pPr>
            <a:r>
              <a:rPr lang="en-US" dirty="0" err="1"/>
              <a:t>SecondoTema</a:t>
            </a:r>
            <a:r>
              <a:rPr lang="en-US" dirty="0"/>
              <a:t> – </a:t>
            </a:r>
            <a:r>
              <a:rPr lang="en-US" dirty="0" err="1"/>
              <a:t>Giornata</a:t>
            </a:r>
            <a:r>
              <a:rPr lang="en-US" dirty="0"/>
              <a:t> 1</a:t>
            </a:r>
            <a:endParaRPr lang="en-US" sz="1600" dirty="0"/>
          </a:p>
        </p:txBody>
      </p:sp>
    </p:spTree>
    <p:extLst>
      <p:ext uri="{BB962C8B-B14F-4D97-AF65-F5344CB8AC3E}">
        <p14:creationId xmlns:p14="http://schemas.microsoft.com/office/powerpoint/2010/main" val="26791993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Una definizione operativa</a:t>
            </a:r>
            <a:endParaRPr lang="it-IT" sz="2600" noProof="0" dirty="0"/>
          </a:p>
        </p:txBody>
      </p:sp>
      <p:sp>
        <p:nvSpPr>
          <p:cNvPr id="4" name="definizione"/>
          <p:cNvSpPr/>
          <p:nvPr/>
        </p:nvSpPr>
        <p:spPr>
          <a:xfrm>
            <a:off x="457200" y="1097280"/>
            <a:ext cx="4206240" cy="3429000"/>
          </a:xfrm>
          <a:prstGeom prst="roundRect">
            <a:avLst>
              <a:gd name="adj" fmla="val 2133"/>
            </a:avLst>
          </a:prstGeom>
          <a:solidFill>
            <a:schemeClr val="tx1"/>
          </a:solidFill>
          <a:ln/>
        </p:spPr>
        <p:txBody>
          <a:bodyPr/>
          <a:lstStyle/>
          <a:p>
            <a:endParaRPr lang="it-IT" noProof="0" dirty="0"/>
          </a:p>
        </p:txBody>
      </p:sp>
      <p:sp>
        <p:nvSpPr>
          <p:cNvPr id="5" name="Text 2"/>
          <p:cNvSpPr txBox="1"/>
          <p:nvPr/>
        </p:nvSpPr>
        <p:spPr>
          <a:xfrm>
            <a:off x="685800" y="1261872"/>
            <a:ext cx="3749040" cy="274320"/>
          </a:xfrm>
          <a:prstGeom prst="rect">
            <a:avLst/>
          </a:prstGeom>
          <a:noFill/>
          <a:ln/>
        </p:spPr>
        <p:txBody>
          <a:bodyPr wrap="square" lIns="0" tIns="0" rIns="0" bIns="0" rtlCol="0" anchor="t"/>
          <a:lstStyle/>
          <a:p>
            <a:pPr marL="0" indent="0">
              <a:buNone/>
            </a:pPr>
            <a:r>
              <a:rPr lang="it-IT" sz="1100" b="1" kern="0" spc="200" noProof="0" dirty="0">
                <a:solidFill>
                  <a:schemeClr val="accent1"/>
                </a:solidFill>
              </a:rPr>
              <a:t>LA DEFINIZIONE DELL'AI ACT, IN SINTESI</a:t>
            </a:r>
            <a:endParaRPr lang="it-IT" sz="1100" noProof="0" dirty="0"/>
          </a:p>
        </p:txBody>
      </p:sp>
      <p:sp>
        <p:nvSpPr>
          <p:cNvPr id="6" name="Text 3"/>
          <p:cNvSpPr txBox="1"/>
          <p:nvPr/>
        </p:nvSpPr>
        <p:spPr>
          <a:xfrm>
            <a:off x="685800" y="1645920"/>
            <a:ext cx="3749040" cy="2194560"/>
          </a:xfrm>
          <a:prstGeom prst="rect">
            <a:avLst/>
          </a:prstGeom>
          <a:noFill/>
          <a:ln/>
        </p:spPr>
        <p:txBody>
          <a:bodyPr wrap="square" lIns="0" tIns="0" rIns="0" bIns="0" rtlCol="0" anchor="t"/>
          <a:lstStyle/>
          <a:p>
            <a:pPr marL="0" indent="0">
              <a:buNone/>
            </a:pPr>
            <a:r>
              <a:rPr lang="it-IT" sz="1500" noProof="0" dirty="0">
                <a:solidFill>
                  <a:schemeClr val="bg1"/>
                </a:solidFill>
              </a:rPr>
              <a:t>Un sistema automatizzato che, con livelli di autonomia variabili, deduce dagli input che riceve come generare output (previsioni, contenuti, raccomandazioni, decisioni) in grado di influenzare ambienti fisici o virtuali.</a:t>
            </a:r>
            <a:endParaRPr lang="it-IT" sz="1500" noProof="0" dirty="0"/>
          </a:p>
        </p:txBody>
      </p:sp>
      <p:sp>
        <p:nvSpPr>
          <p:cNvPr id="7" name="Text 4"/>
          <p:cNvSpPr txBox="1"/>
          <p:nvPr/>
        </p:nvSpPr>
        <p:spPr>
          <a:xfrm>
            <a:off x="685800" y="4114800"/>
            <a:ext cx="3749040" cy="274320"/>
          </a:xfrm>
          <a:prstGeom prst="rect">
            <a:avLst/>
          </a:prstGeom>
          <a:noFill/>
          <a:ln/>
        </p:spPr>
        <p:txBody>
          <a:bodyPr wrap="square" lIns="0" tIns="0" rIns="0" bIns="0" rtlCol="0" anchor="t"/>
          <a:lstStyle/>
          <a:p>
            <a:pPr marL="0" indent="0">
              <a:buNone/>
            </a:pPr>
            <a:r>
              <a:rPr lang="it-IT" sz="1000" noProof="0" dirty="0">
                <a:solidFill>
                  <a:schemeClr val="accent3"/>
                </a:solidFill>
              </a:rPr>
              <a:t>Fonte: Regolamento UE 2024/1689, art. 3</a:t>
            </a:r>
            <a:endParaRPr lang="it-IT" sz="1000" noProof="0" dirty="0"/>
          </a:p>
        </p:txBody>
      </p:sp>
      <p:sp>
        <p:nvSpPr>
          <p:cNvPr id="8" name="cerchio FiInbox"/>
          <p:cNvSpPr/>
          <p:nvPr/>
        </p:nvSpPr>
        <p:spPr>
          <a:xfrm>
            <a:off x="4937760" y="1097280"/>
            <a:ext cx="457200" cy="457200"/>
          </a:xfrm>
          <a:prstGeom prst="ellipse">
            <a:avLst/>
          </a:prstGeom>
          <a:solidFill>
            <a:schemeClr val="accent1"/>
          </a:solidFill>
          <a:ln/>
        </p:spPr>
        <p:txBody>
          <a:bodyPr/>
          <a:lstStyle/>
          <a:p>
            <a:endParaRPr lang="it-IT" noProof="0" dirty="0"/>
          </a:p>
        </p:txBody>
      </p:sp>
      <p:pic>
        <p:nvPicPr>
          <p:cNvPr id="9" name="Image 0" descr="FiInbox"/>
          <p:cNvPicPr>
            <a:picLocks noChangeAspect="1"/>
          </p:cNvPicPr>
          <p:nvPr/>
        </p:nvPicPr>
        <p:blipFill>
          <a:blip r:embed="rId3"/>
          <a:stretch>
            <a:fillRect/>
          </a:stretch>
        </p:blipFill>
        <p:spPr>
          <a:xfrm>
            <a:off x="5052060" y="1211580"/>
            <a:ext cx="228600" cy="228600"/>
          </a:xfrm>
          <a:prstGeom prst="rect">
            <a:avLst/>
          </a:prstGeom>
        </p:spPr>
      </p:pic>
      <p:sp>
        <p:nvSpPr>
          <p:cNvPr id="10" name="Text 6"/>
          <p:cNvSpPr txBox="1"/>
          <p:nvPr/>
        </p:nvSpPr>
        <p:spPr>
          <a:xfrm>
            <a:off x="5532120" y="1060704"/>
            <a:ext cx="3154680" cy="274320"/>
          </a:xfrm>
          <a:prstGeom prst="rect">
            <a:avLst/>
          </a:prstGeom>
          <a:noFill/>
          <a:ln/>
        </p:spPr>
        <p:txBody>
          <a:bodyPr wrap="square" lIns="0" tIns="0" rIns="0" bIns="0" rtlCol="0" anchor="t"/>
          <a:lstStyle/>
          <a:p>
            <a:pPr marL="0" indent="0">
              <a:buNone/>
            </a:pPr>
            <a:r>
              <a:rPr lang="it-IT" sz="1400" b="1" noProof="0" dirty="0">
                <a:solidFill>
                  <a:schemeClr val="tx1"/>
                </a:solidFill>
              </a:rPr>
              <a:t>Riceve input</a:t>
            </a:r>
            <a:endParaRPr lang="it-IT" sz="1400" noProof="0" dirty="0"/>
          </a:p>
        </p:txBody>
      </p:sp>
      <p:sp>
        <p:nvSpPr>
          <p:cNvPr id="11" name="Text 7"/>
          <p:cNvSpPr txBox="1"/>
          <p:nvPr/>
        </p:nvSpPr>
        <p:spPr>
          <a:xfrm>
            <a:off x="5532120" y="1344168"/>
            <a:ext cx="3154680" cy="457200"/>
          </a:xfrm>
          <a:prstGeom prst="rect">
            <a:avLst/>
          </a:prstGeom>
          <a:noFill/>
          <a:ln/>
        </p:spPr>
        <p:txBody>
          <a:bodyPr wrap="square" lIns="0" tIns="0" rIns="0" bIns="0" rtlCol="0" anchor="t"/>
          <a:lstStyle/>
          <a:p>
            <a:pPr marL="0" indent="0">
              <a:buNone/>
            </a:pPr>
            <a:r>
              <a:rPr lang="it-IT" sz="1200" noProof="0" dirty="0">
                <a:solidFill>
                  <a:schemeClr val="tx2"/>
                </a:solidFill>
              </a:rPr>
              <a:t>Dati, testi, immagini, segnali</a:t>
            </a:r>
            <a:endParaRPr lang="it-IT" sz="1200" noProof="0" dirty="0"/>
          </a:p>
        </p:txBody>
      </p:sp>
      <p:sp>
        <p:nvSpPr>
          <p:cNvPr id="12" name="cerchio FiCpu"/>
          <p:cNvSpPr/>
          <p:nvPr/>
        </p:nvSpPr>
        <p:spPr>
          <a:xfrm>
            <a:off x="4937760" y="1965960"/>
            <a:ext cx="457200" cy="457200"/>
          </a:xfrm>
          <a:prstGeom prst="ellipse">
            <a:avLst/>
          </a:prstGeom>
          <a:solidFill>
            <a:schemeClr val="accent1"/>
          </a:solidFill>
          <a:ln/>
        </p:spPr>
        <p:txBody>
          <a:bodyPr/>
          <a:lstStyle/>
          <a:p>
            <a:endParaRPr lang="it-IT" noProof="0" dirty="0"/>
          </a:p>
        </p:txBody>
      </p:sp>
      <p:pic>
        <p:nvPicPr>
          <p:cNvPr id="13" name="Image 1" descr="FiCpu"/>
          <p:cNvPicPr>
            <a:picLocks noChangeAspect="1"/>
          </p:cNvPicPr>
          <p:nvPr/>
        </p:nvPicPr>
        <p:blipFill>
          <a:blip r:embed="rId4"/>
          <a:stretch>
            <a:fillRect/>
          </a:stretch>
        </p:blipFill>
        <p:spPr>
          <a:xfrm>
            <a:off x="5052060" y="2080260"/>
            <a:ext cx="228600" cy="228600"/>
          </a:xfrm>
          <a:prstGeom prst="rect">
            <a:avLst/>
          </a:prstGeom>
        </p:spPr>
      </p:pic>
      <p:sp>
        <p:nvSpPr>
          <p:cNvPr id="14" name="Text 9"/>
          <p:cNvSpPr txBox="1"/>
          <p:nvPr/>
        </p:nvSpPr>
        <p:spPr>
          <a:xfrm>
            <a:off x="5532120" y="1929384"/>
            <a:ext cx="3154680" cy="274320"/>
          </a:xfrm>
          <a:prstGeom prst="rect">
            <a:avLst/>
          </a:prstGeom>
          <a:noFill/>
          <a:ln/>
        </p:spPr>
        <p:txBody>
          <a:bodyPr wrap="square" lIns="0" tIns="0" rIns="0" bIns="0" rtlCol="0" anchor="t"/>
          <a:lstStyle/>
          <a:p>
            <a:pPr marL="0" indent="0">
              <a:buNone/>
            </a:pPr>
            <a:r>
              <a:rPr lang="it-IT" sz="1400" b="1" noProof="0" dirty="0">
                <a:solidFill>
                  <a:schemeClr val="tx1"/>
                </a:solidFill>
              </a:rPr>
              <a:t>Deduce come rispondere</a:t>
            </a:r>
            <a:endParaRPr lang="it-IT" sz="1400" noProof="0" dirty="0"/>
          </a:p>
        </p:txBody>
      </p:sp>
      <p:sp>
        <p:nvSpPr>
          <p:cNvPr id="15" name="Text 10"/>
          <p:cNvSpPr txBox="1"/>
          <p:nvPr/>
        </p:nvSpPr>
        <p:spPr>
          <a:xfrm>
            <a:off x="5532120" y="2212848"/>
            <a:ext cx="3154680" cy="457200"/>
          </a:xfrm>
          <a:prstGeom prst="rect">
            <a:avLst/>
          </a:prstGeom>
          <a:noFill/>
          <a:ln/>
        </p:spPr>
        <p:txBody>
          <a:bodyPr wrap="square" lIns="0" tIns="0" rIns="0" bIns="0" rtlCol="0" anchor="t"/>
          <a:lstStyle/>
          <a:p>
            <a:pPr marL="0" indent="0">
              <a:buNone/>
            </a:pPr>
            <a:r>
              <a:rPr lang="it-IT" sz="1200" noProof="0" dirty="0">
                <a:solidFill>
                  <a:schemeClr val="tx2"/>
                </a:solidFill>
              </a:rPr>
              <a:t>Non esegue solo istruzioni scritte riga per riga</a:t>
            </a:r>
            <a:endParaRPr lang="it-IT" sz="1200" noProof="0" dirty="0"/>
          </a:p>
        </p:txBody>
      </p:sp>
      <p:sp>
        <p:nvSpPr>
          <p:cNvPr id="16" name="cerchio FiSend"/>
          <p:cNvSpPr/>
          <p:nvPr/>
        </p:nvSpPr>
        <p:spPr>
          <a:xfrm>
            <a:off x="4937760" y="2834640"/>
            <a:ext cx="457200" cy="457200"/>
          </a:xfrm>
          <a:prstGeom prst="ellipse">
            <a:avLst/>
          </a:prstGeom>
          <a:solidFill>
            <a:schemeClr val="accent1"/>
          </a:solidFill>
          <a:ln/>
        </p:spPr>
        <p:txBody>
          <a:bodyPr/>
          <a:lstStyle/>
          <a:p>
            <a:endParaRPr lang="it-IT" noProof="0" dirty="0"/>
          </a:p>
        </p:txBody>
      </p:sp>
      <p:pic>
        <p:nvPicPr>
          <p:cNvPr id="17" name="Image 2" descr="FiSend"/>
          <p:cNvPicPr>
            <a:picLocks noChangeAspect="1"/>
          </p:cNvPicPr>
          <p:nvPr/>
        </p:nvPicPr>
        <p:blipFill>
          <a:blip r:embed="rId5"/>
          <a:stretch>
            <a:fillRect/>
          </a:stretch>
        </p:blipFill>
        <p:spPr>
          <a:xfrm>
            <a:off x="5052060" y="2948940"/>
            <a:ext cx="228600" cy="228600"/>
          </a:xfrm>
          <a:prstGeom prst="rect">
            <a:avLst/>
          </a:prstGeom>
        </p:spPr>
      </p:pic>
      <p:sp>
        <p:nvSpPr>
          <p:cNvPr id="18" name="Text 12"/>
          <p:cNvSpPr txBox="1"/>
          <p:nvPr/>
        </p:nvSpPr>
        <p:spPr>
          <a:xfrm>
            <a:off x="5532120" y="2798064"/>
            <a:ext cx="3154680" cy="274320"/>
          </a:xfrm>
          <a:prstGeom prst="rect">
            <a:avLst/>
          </a:prstGeom>
          <a:noFill/>
          <a:ln/>
        </p:spPr>
        <p:txBody>
          <a:bodyPr wrap="square" lIns="0" tIns="0" rIns="0" bIns="0" rtlCol="0" anchor="t"/>
          <a:lstStyle/>
          <a:p>
            <a:pPr marL="0" indent="0">
              <a:buNone/>
            </a:pPr>
            <a:r>
              <a:rPr lang="it-IT" sz="1400" b="1" noProof="0" dirty="0">
                <a:solidFill>
                  <a:schemeClr val="tx1"/>
                </a:solidFill>
              </a:rPr>
              <a:t>Produce output</a:t>
            </a:r>
            <a:endParaRPr lang="it-IT" sz="1400" noProof="0" dirty="0"/>
          </a:p>
        </p:txBody>
      </p:sp>
      <p:sp>
        <p:nvSpPr>
          <p:cNvPr id="19" name="Text 13"/>
          <p:cNvSpPr txBox="1"/>
          <p:nvPr/>
        </p:nvSpPr>
        <p:spPr>
          <a:xfrm>
            <a:off x="5532120" y="3081528"/>
            <a:ext cx="3154680" cy="457200"/>
          </a:xfrm>
          <a:prstGeom prst="rect">
            <a:avLst/>
          </a:prstGeom>
          <a:noFill/>
          <a:ln/>
        </p:spPr>
        <p:txBody>
          <a:bodyPr wrap="square" lIns="0" tIns="0" rIns="0" bIns="0" rtlCol="0" anchor="t"/>
          <a:lstStyle/>
          <a:p>
            <a:pPr marL="0" indent="0">
              <a:buNone/>
            </a:pPr>
            <a:r>
              <a:rPr lang="it-IT" sz="1200" noProof="0" dirty="0">
                <a:solidFill>
                  <a:schemeClr val="tx2"/>
                </a:solidFill>
              </a:rPr>
              <a:t>Previsioni, contenuti, raccomandazioni, decisioni</a:t>
            </a:r>
            <a:endParaRPr lang="it-IT" sz="1200" noProof="0" dirty="0"/>
          </a:p>
        </p:txBody>
      </p:sp>
      <p:sp>
        <p:nvSpPr>
          <p:cNvPr id="20" name="cerchio FiSliders"/>
          <p:cNvSpPr/>
          <p:nvPr/>
        </p:nvSpPr>
        <p:spPr>
          <a:xfrm>
            <a:off x="4937760" y="3703320"/>
            <a:ext cx="457200" cy="457200"/>
          </a:xfrm>
          <a:prstGeom prst="ellipse">
            <a:avLst/>
          </a:prstGeom>
          <a:solidFill>
            <a:schemeClr val="accent1"/>
          </a:solidFill>
          <a:ln/>
        </p:spPr>
        <p:txBody>
          <a:bodyPr/>
          <a:lstStyle/>
          <a:p>
            <a:endParaRPr lang="it-IT" noProof="0" dirty="0"/>
          </a:p>
        </p:txBody>
      </p:sp>
      <p:pic>
        <p:nvPicPr>
          <p:cNvPr id="21" name="Image 3" descr="FiSliders"/>
          <p:cNvPicPr>
            <a:picLocks noChangeAspect="1"/>
          </p:cNvPicPr>
          <p:nvPr/>
        </p:nvPicPr>
        <p:blipFill>
          <a:blip r:embed="rId6"/>
          <a:stretch>
            <a:fillRect/>
          </a:stretch>
        </p:blipFill>
        <p:spPr>
          <a:xfrm>
            <a:off x="5052060" y="3817620"/>
            <a:ext cx="228600" cy="228600"/>
          </a:xfrm>
          <a:prstGeom prst="rect">
            <a:avLst/>
          </a:prstGeom>
        </p:spPr>
      </p:pic>
      <p:sp>
        <p:nvSpPr>
          <p:cNvPr id="22" name="Text 15"/>
          <p:cNvSpPr txBox="1"/>
          <p:nvPr/>
        </p:nvSpPr>
        <p:spPr>
          <a:xfrm>
            <a:off x="5532120" y="3666744"/>
            <a:ext cx="3154680" cy="274320"/>
          </a:xfrm>
          <a:prstGeom prst="rect">
            <a:avLst/>
          </a:prstGeom>
          <a:noFill/>
          <a:ln/>
        </p:spPr>
        <p:txBody>
          <a:bodyPr wrap="square" lIns="0" tIns="0" rIns="0" bIns="0" rtlCol="0" anchor="t"/>
          <a:lstStyle/>
          <a:p>
            <a:pPr marL="0" indent="0">
              <a:buNone/>
            </a:pPr>
            <a:r>
              <a:rPr lang="it-IT" sz="1400" b="1" noProof="0" dirty="0">
                <a:solidFill>
                  <a:schemeClr val="tx1"/>
                </a:solidFill>
              </a:rPr>
              <a:t>Autonomia variabile</a:t>
            </a:r>
            <a:endParaRPr lang="it-IT" sz="1400" noProof="0" dirty="0"/>
          </a:p>
        </p:txBody>
      </p:sp>
      <p:sp>
        <p:nvSpPr>
          <p:cNvPr id="23" name="Text 16"/>
          <p:cNvSpPr txBox="1"/>
          <p:nvPr/>
        </p:nvSpPr>
        <p:spPr>
          <a:xfrm>
            <a:off x="5532120" y="3950208"/>
            <a:ext cx="3154680" cy="457200"/>
          </a:xfrm>
          <a:prstGeom prst="rect">
            <a:avLst/>
          </a:prstGeom>
          <a:noFill/>
          <a:ln/>
        </p:spPr>
        <p:txBody>
          <a:bodyPr wrap="square" lIns="0" tIns="0" rIns="0" bIns="0" rtlCol="0" anchor="t"/>
          <a:lstStyle/>
          <a:p>
            <a:pPr marL="0" indent="0">
              <a:buNone/>
            </a:pPr>
            <a:r>
              <a:rPr lang="it-IT" sz="1200" noProof="0" dirty="0">
                <a:solidFill>
                  <a:schemeClr val="tx2"/>
                </a:solidFill>
              </a:rPr>
              <a:t>Da semplice supporto ad azione autonoma</a:t>
            </a:r>
            <a:endParaRPr lang="it-IT" sz="12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noProof="0" smtClean="0"/>
              <a:t>27</a:t>
            </a:fld>
            <a:endParaRPr lang="it-IT" noProof="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Comprensione apparente: l'effetto ELIZA</a:t>
            </a:r>
            <a:endParaRPr lang="it-IT" sz="2600" noProof="0" dirty="0"/>
          </a:p>
        </p:txBody>
      </p:sp>
      <p:sp>
        <p:nvSpPr>
          <p:cNvPr id="4" name="ELIZA"/>
          <p:cNvSpPr/>
          <p:nvPr/>
        </p:nvSpPr>
        <p:spPr>
          <a:xfrm>
            <a:off x="457200" y="1097280"/>
            <a:ext cx="3657600" cy="3429000"/>
          </a:xfrm>
          <a:prstGeom prst="roundRect">
            <a:avLst>
              <a:gd name="adj" fmla="val 2133"/>
            </a:avLst>
          </a:prstGeom>
          <a:solidFill>
            <a:schemeClr val="bg2"/>
          </a:solidFill>
          <a:ln/>
        </p:spPr>
        <p:txBody>
          <a:bodyPr/>
          <a:lstStyle/>
          <a:p>
            <a:endParaRPr lang="it-IT" noProof="0" dirty="0"/>
          </a:p>
        </p:txBody>
      </p:sp>
      <p:sp>
        <p:nvSpPr>
          <p:cNvPr id="5" name="Text 2"/>
          <p:cNvSpPr txBox="1"/>
          <p:nvPr/>
        </p:nvSpPr>
        <p:spPr>
          <a:xfrm>
            <a:off x="640080" y="1234440"/>
            <a:ext cx="3291840" cy="365760"/>
          </a:xfrm>
          <a:prstGeom prst="rect">
            <a:avLst/>
          </a:prstGeom>
          <a:noFill/>
          <a:ln/>
        </p:spPr>
        <p:txBody>
          <a:bodyPr wrap="square" lIns="0" tIns="0" rIns="0" bIns="0" rtlCol="0" anchor="t"/>
          <a:lstStyle/>
          <a:p>
            <a:pPr marL="0" indent="0">
              <a:buNone/>
            </a:pPr>
            <a:r>
              <a:rPr lang="it-IT" sz="1800" b="1" noProof="0" dirty="0">
                <a:solidFill>
                  <a:schemeClr val="accent1"/>
                </a:solidFill>
              </a:rPr>
              <a:t>1966: ELIZA</a:t>
            </a:r>
            <a:endParaRPr lang="it-IT" sz="1800" noProof="0" dirty="0"/>
          </a:p>
        </p:txBody>
      </p:sp>
      <p:sp>
        <p:nvSpPr>
          <p:cNvPr id="6" name="Text 3"/>
          <p:cNvSpPr txBox="1"/>
          <p:nvPr/>
        </p:nvSpPr>
        <p:spPr>
          <a:xfrm>
            <a:off x="640080" y="1627632"/>
            <a:ext cx="3291840" cy="502920"/>
          </a:xfrm>
          <a:prstGeom prst="rect">
            <a:avLst/>
          </a:prstGeom>
          <a:noFill/>
          <a:ln/>
        </p:spPr>
        <p:txBody>
          <a:bodyPr wrap="square" lIns="0" tIns="0" rIns="0" bIns="0" rtlCol="0" anchor="t"/>
          <a:lstStyle/>
          <a:p>
            <a:pPr marL="0" indent="0">
              <a:buNone/>
            </a:pPr>
            <a:r>
              <a:rPr lang="it-IT" sz="1300" noProof="0" dirty="0">
                <a:solidFill>
                  <a:schemeClr val="tx2"/>
                </a:solidFill>
              </a:rPr>
              <a:t>Un programma di poche regole che simulava uno psicoterapeuta</a:t>
            </a:r>
            <a:endParaRPr lang="it-IT" sz="1300" noProof="0" dirty="0"/>
          </a:p>
        </p:txBody>
      </p:sp>
      <p:sp>
        <p:nvSpPr>
          <p:cNvPr id="7" name="blocco Sono triste per mio padre"/>
          <p:cNvSpPr/>
          <p:nvPr/>
        </p:nvSpPr>
        <p:spPr>
          <a:xfrm>
            <a:off x="640080" y="2240280"/>
            <a:ext cx="2743200" cy="457200"/>
          </a:xfrm>
          <a:prstGeom prst="roundRect">
            <a:avLst>
              <a:gd name="adj" fmla="val 24000"/>
            </a:avLst>
          </a:prstGeom>
          <a:solidFill>
            <a:schemeClr val="bg1"/>
          </a:solidFill>
          <a:ln/>
        </p:spPr>
        <p:txBody>
          <a:bodyPr/>
          <a:lstStyle/>
          <a:p>
            <a:endParaRPr lang="it-IT" noProof="0" dirty="0"/>
          </a:p>
        </p:txBody>
      </p:sp>
      <p:sp>
        <p:nvSpPr>
          <p:cNvPr id="8" name="Text 5"/>
          <p:cNvSpPr txBox="1"/>
          <p:nvPr/>
        </p:nvSpPr>
        <p:spPr>
          <a:xfrm>
            <a:off x="685800" y="2240280"/>
            <a:ext cx="2651760" cy="457200"/>
          </a:xfrm>
          <a:prstGeom prst="rect">
            <a:avLst/>
          </a:prstGeom>
          <a:noFill/>
          <a:ln/>
        </p:spPr>
        <p:txBody>
          <a:bodyPr wrap="square" lIns="0" tIns="0" rIns="0" bIns="0" rtlCol="0" anchor="ctr"/>
          <a:lstStyle/>
          <a:p>
            <a:pPr marL="0" indent="0" algn="ctr">
              <a:buNone/>
            </a:pPr>
            <a:r>
              <a:rPr lang="it-IT" sz="1200" noProof="0" dirty="0">
                <a:solidFill>
                  <a:schemeClr val="tx1"/>
                </a:solidFill>
              </a:rPr>
              <a:t>Sono triste per mio padre</a:t>
            </a:r>
            <a:endParaRPr lang="it-IT" sz="1200" noProof="0" dirty="0"/>
          </a:p>
        </p:txBody>
      </p:sp>
      <p:sp>
        <p:nvSpPr>
          <p:cNvPr id="9" name="blocco Parlami della tua famiglia"/>
          <p:cNvSpPr/>
          <p:nvPr/>
        </p:nvSpPr>
        <p:spPr>
          <a:xfrm>
            <a:off x="1188720" y="2788920"/>
            <a:ext cx="2743200" cy="457200"/>
          </a:xfrm>
          <a:prstGeom prst="roundRect">
            <a:avLst>
              <a:gd name="adj" fmla="val 24000"/>
            </a:avLst>
          </a:prstGeom>
          <a:solidFill>
            <a:schemeClr val="accent1"/>
          </a:solidFill>
          <a:ln/>
        </p:spPr>
        <p:txBody>
          <a:bodyPr/>
          <a:lstStyle/>
          <a:p>
            <a:endParaRPr lang="it-IT" noProof="0" dirty="0"/>
          </a:p>
        </p:txBody>
      </p:sp>
      <p:sp>
        <p:nvSpPr>
          <p:cNvPr id="10" name="Text 7"/>
          <p:cNvSpPr txBox="1"/>
          <p:nvPr/>
        </p:nvSpPr>
        <p:spPr>
          <a:xfrm>
            <a:off x="1234440" y="2788920"/>
            <a:ext cx="2651760" cy="457200"/>
          </a:xfrm>
          <a:prstGeom prst="rect">
            <a:avLst/>
          </a:prstGeom>
          <a:noFill/>
          <a:ln/>
        </p:spPr>
        <p:txBody>
          <a:bodyPr wrap="square" lIns="0" tIns="0" rIns="0" bIns="0" rtlCol="0" anchor="ctr"/>
          <a:lstStyle/>
          <a:p>
            <a:pPr marL="0" indent="0" algn="ctr">
              <a:buNone/>
            </a:pPr>
            <a:r>
              <a:rPr lang="it-IT" sz="1200" noProof="0" dirty="0">
                <a:solidFill>
                  <a:schemeClr val="bg1"/>
                </a:solidFill>
              </a:rPr>
              <a:t>Parlami della tua famiglia</a:t>
            </a:r>
            <a:endParaRPr lang="it-IT" sz="1200" noProof="0" dirty="0"/>
          </a:p>
        </p:txBody>
      </p:sp>
      <p:sp>
        <p:nvSpPr>
          <p:cNvPr id="11" name="Text 8"/>
          <p:cNvSpPr txBox="1"/>
          <p:nvPr/>
        </p:nvSpPr>
        <p:spPr>
          <a:xfrm>
            <a:off x="640080" y="3429000"/>
            <a:ext cx="3291840" cy="548640"/>
          </a:xfrm>
          <a:prstGeom prst="rect">
            <a:avLst/>
          </a:prstGeom>
          <a:noFill/>
          <a:ln/>
        </p:spPr>
        <p:txBody>
          <a:bodyPr wrap="square" lIns="0" tIns="0" rIns="0" bIns="0" rtlCol="0" anchor="t"/>
          <a:lstStyle/>
          <a:p>
            <a:pPr marL="0" indent="0">
              <a:buNone/>
            </a:pPr>
            <a:r>
              <a:rPr lang="it-IT" sz="1300" i="1" noProof="0" dirty="0">
                <a:solidFill>
                  <a:schemeClr val="tx1"/>
                </a:solidFill>
              </a:rPr>
              <a:t>Molti utenti gli attribuivano comprensione ed empatia.</a:t>
            </a:r>
            <a:endParaRPr lang="it-IT" sz="1300" noProof="0" dirty="0"/>
          </a:p>
        </p:txBody>
      </p:sp>
      <p:sp>
        <p:nvSpPr>
          <p:cNvPr id="12" name="Text 9"/>
          <p:cNvSpPr txBox="1"/>
          <p:nvPr/>
        </p:nvSpPr>
        <p:spPr>
          <a:xfrm>
            <a:off x="640080" y="4160520"/>
            <a:ext cx="3291840" cy="274320"/>
          </a:xfrm>
          <a:prstGeom prst="rect">
            <a:avLst/>
          </a:prstGeom>
          <a:noFill/>
          <a:ln/>
        </p:spPr>
        <p:txBody>
          <a:bodyPr wrap="square" lIns="0" tIns="0" rIns="0" bIns="0" rtlCol="0" anchor="t"/>
          <a:lstStyle/>
          <a:p>
            <a:pPr marL="0" indent="0">
              <a:buNone/>
            </a:pPr>
            <a:r>
              <a:rPr lang="it-IT" sz="1000" noProof="0" dirty="0">
                <a:solidFill>
                  <a:schemeClr val="accent2"/>
                </a:solidFill>
              </a:rPr>
              <a:t>Fonte: </a:t>
            </a:r>
            <a:r>
              <a:rPr lang="it-IT" sz="1000" noProof="0" dirty="0" err="1">
                <a:solidFill>
                  <a:schemeClr val="accent2"/>
                </a:solidFill>
              </a:rPr>
              <a:t>Weizenbaum</a:t>
            </a:r>
            <a:r>
              <a:rPr lang="it-IT" sz="1000" noProof="0" dirty="0">
                <a:solidFill>
                  <a:schemeClr val="accent2"/>
                </a:solidFill>
              </a:rPr>
              <a:t>, 1966</a:t>
            </a:r>
            <a:endParaRPr lang="it-IT" sz="1000" noProof="0" dirty="0"/>
          </a:p>
        </p:txBody>
      </p:sp>
      <p:sp>
        <p:nvSpPr>
          <p:cNvPr id="13" name="Text 10"/>
          <p:cNvSpPr txBox="1"/>
          <p:nvPr/>
        </p:nvSpPr>
        <p:spPr>
          <a:xfrm>
            <a:off x="4434840" y="1097280"/>
            <a:ext cx="4206240" cy="320040"/>
          </a:xfrm>
          <a:prstGeom prst="rect">
            <a:avLst/>
          </a:prstGeom>
          <a:noFill/>
          <a:ln/>
        </p:spPr>
        <p:txBody>
          <a:bodyPr wrap="square" lIns="0" tIns="0" rIns="0" bIns="0" rtlCol="0" anchor="t"/>
          <a:lstStyle/>
          <a:p>
            <a:pPr marL="0" indent="0">
              <a:buNone/>
            </a:pPr>
            <a:r>
              <a:rPr lang="it-IT" sz="1600" b="1" noProof="0" dirty="0">
                <a:solidFill>
                  <a:schemeClr val="tx1"/>
                </a:solidFill>
              </a:rPr>
              <a:t>L'effetto ELIZA oggi</a:t>
            </a:r>
            <a:endParaRPr lang="it-IT" sz="1600" noProof="0" dirty="0"/>
          </a:p>
        </p:txBody>
      </p:sp>
      <p:sp>
        <p:nvSpPr>
          <p:cNvPr id="14" name="cerchio FiMessageCircle"/>
          <p:cNvSpPr/>
          <p:nvPr/>
        </p:nvSpPr>
        <p:spPr>
          <a:xfrm>
            <a:off x="4434840" y="1554480"/>
            <a:ext cx="457200" cy="457200"/>
          </a:xfrm>
          <a:prstGeom prst="ellipse">
            <a:avLst/>
          </a:prstGeom>
          <a:solidFill>
            <a:schemeClr val="accent1"/>
          </a:solidFill>
          <a:ln/>
        </p:spPr>
        <p:txBody>
          <a:bodyPr/>
          <a:lstStyle/>
          <a:p>
            <a:endParaRPr lang="it-IT" noProof="0" dirty="0"/>
          </a:p>
        </p:txBody>
      </p:sp>
      <p:pic>
        <p:nvPicPr>
          <p:cNvPr id="15" name="Image 0" descr="FiMessageCircle"/>
          <p:cNvPicPr>
            <a:picLocks noChangeAspect="1"/>
          </p:cNvPicPr>
          <p:nvPr/>
        </p:nvPicPr>
        <p:blipFill>
          <a:blip r:embed="rId3"/>
          <a:stretch>
            <a:fillRect/>
          </a:stretch>
        </p:blipFill>
        <p:spPr>
          <a:xfrm>
            <a:off x="4549140" y="1668780"/>
            <a:ext cx="228600" cy="228600"/>
          </a:xfrm>
          <a:prstGeom prst="rect">
            <a:avLst/>
          </a:prstGeom>
        </p:spPr>
      </p:pic>
      <p:sp>
        <p:nvSpPr>
          <p:cNvPr id="16" name="Text 12"/>
          <p:cNvSpPr txBox="1"/>
          <p:nvPr/>
        </p:nvSpPr>
        <p:spPr>
          <a:xfrm>
            <a:off x="5029200" y="1554480"/>
            <a:ext cx="3657600" cy="457200"/>
          </a:xfrm>
          <a:prstGeom prst="rect">
            <a:avLst/>
          </a:prstGeom>
          <a:noFill/>
          <a:ln/>
        </p:spPr>
        <p:txBody>
          <a:bodyPr wrap="square" lIns="0" tIns="0" rIns="0" bIns="0" rtlCol="0" anchor="ctr"/>
          <a:lstStyle/>
          <a:p>
            <a:pPr marL="0" indent="0">
              <a:buNone/>
            </a:pPr>
            <a:r>
              <a:rPr lang="it-IT" sz="1400" noProof="0" dirty="0">
                <a:solidFill>
                  <a:schemeClr val="tx1"/>
                </a:solidFill>
              </a:rPr>
              <a:t>Linguaggio molto più fluente e naturale</a:t>
            </a:r>
            <a:endParaRPr lang="it-IT" sz="1400" noProof="0" dirty="0"/>
          </a:p>
        </p:txBody>
      </p:sp>
      <p:sp>
        <p:nvSpPr>
          <p:cNvPr id="17" name="cerchio FiSmile"/>
          <p:cNvSpPr/>
          <p:nvPr/>
        </p:nvSpPr>
        <p:spPr>
          <a:xfrm>
            <a:off x="4434840" y="2286000"/>
            <a:ext cx="457200" cy="457200"/>
          </a:xfrm>
          <a:prstGeom prst="ellipse">
            <a:avLst/>
          </a:prstGeom>
          <a:solidFill>
            <a:schemeClr val="accent1"/>
          </a:solidFill>
          <a:ln/>
        </p:spPr>
        <p:txBody>
          <a:bodyPr/>
          <a:lstStyle/>
          <a:p>
            <a:endParaRPr lang="it-IT" noProof="0" dirty="0"/>
          </a:p>
        </p:txBody>
      </p:sp>
      <p:pic>
        <p:nvPicPr>
          <p:cNvPr id="18" name="Image 1" descr="FiSmile"/>
          <p:cNvPicPr>
            <a:picLocks noChangeAspect="1"/>
          </p:cNvPicPr>
          <p:nvPr/>
        </p:nvPicPr>
        <p:blipFill>
          <a:blip r:embed="rId4"/>
          <a:stretch>
            <a:fillRect/>
          </a:stretch>
        </p:blipFill>
        <p:spPr>
          <a:xfrm>
            <a:off x="4549140" y="2400300"/>
            <a:ext cx="228600" cy="228600"/>
          </a:xfrm>
          <a:prstGeom prst="rect">
            <a:avLst/>
          </a:prstGeom>
        </p:spPr>
      </p:pic>
      <p:sp>
        <p:nvSpPr>
          <p:cNvPr id="19" name="Text 14"/>
          <p:cNvSpPr txBox="1"/>
          <p:nvPr/>
        </p:nvSpPr>
        <p:spPr>
          <a:xfrm>
            <a:off x="5029200" y="2286000"/>
            <a:ext cx="3657600" cy="457200"/>
          </a:xfrm>
          <a:prstGeom prst="rect">
            <a:avLst/>
          </a:prstGeom>
          <a:noFill/>
          <a:ln/>
        </p:spPr>
        <p:txBody>
          <a:bodyPr wrap="square" lIns="0" tIns="0" rIns="0" bIns="0" rtlCol="0" anchor="ctr"/>
          <a:lstStyle/>
          <a:p>
            <a:pPr marL="0" indent="0">
              <a:buNone/>
            </a:pPr>
            <a:r>
              <a:rPr lang="it-IT" sz="1400" noProof="0" dirty="0">
                <a:solidFill>
                  <a:schemeClr val="tx1"/>
                </a:solidFill>
              </a:rPr>
              <a:t>Espressioni come "penso", "mi dispiace", "capisco"</a:t>
            </a:r>
            <a:endParaRPr lang="it-IT" sz="1400" noProof="0" dirty="0"/>
          </a:p>
        </p:txBody>
      </p:sp>
      <p:sp>
        <p:nvSpPr>
          <p:cNvPr id="20" name="cerchio FiUser"/>
          <p:cNvSpPr/>
          <p:nvPr/>
        </p:nvSpPr>
        <p:spPr>
          <a:xfrm>
            <a:off x="4434840" y="3017520"/>
            <a:ext cx="457200" cy="457200"/>
          </a:xfrm>
          <a:prstGeom prst="ellipse">
            <a:avLst/>
          </a:prstGeom>
          <a:solidFill>
            <a:schemeClr val="accent1"/>
          </a:solidFill>
          <a:ln/>
        </p:spPr>
        <p:txBody>
          <a:bodyPr/>
          <a:lstStyle/>
          <a:p>
            <a:endParaRPr lang="it-IT" noProof="0" dirty="0"/>
          </a:p>
        </p:txBody>
      </p:sp>
      <p:pic>
        <p:nvPicPr>
          <p:cNvPr id="21" name="Image 2" descr="FiUser"/>
          <p:cNvPicPr>
            <a:picLocks noChangeAspect="1"/>
          </p:cNvPicPr>
          <p:nvPr/>
        </p:nvPicPr>
        <p:blipFill>
          <a:blip r:embed="rId5"/>
          <a:stretch>
            <a:fillRect/>
          </a:stretch>
        </p:blipFill>
        <p:spPr>
          <a:xfrm>
            <a:off x="4549140" y="3131820"/>
            <a:ext cx="228600" cy="228600"/>
          </a:xfrm>
          <a:prstGeom prst="rect">
            <a:avLst/>
          </a:prstGeom>
        </p:spPr>
      </p:pic>
      <p:sp>
        <p:nvSpPr>
          <p:cNvPr id="22" name="Text 16"/>
          <p:cNvSpPr txBox="1"/>
          <p:nvPr/>
        </p:nvSpPr>
        <p:spPr>
          <a:xfrm>
            <a:off x="5029200" y="3017520"/>
            <a:ext cx="3657600" cy="457200"/>
          </a:xfrm>
          <a:prstGeom prst="rect">
            <a:avLst/>
          </a:prstGeom>
          <a:noFill/>
          <a:ln/>
        </p:spPr>
        <p:txBody>
          <a:bodyPr wrap="square" lIns="0" tIns="0" rIns="0" bIns="0" rtlCol="0" anchor="ctr"/>
          <a:lstStyle/>
          <a:p>
            <a:pPr marL="0" indent="0">
              <a:buNone/>
            </a:pPr>
            <a:r>
              <a:rPr lang="it-IT" sz="1400" noProof="0" dirty="0">
                <a:solidFill>
                  <a:schemeClr val="tx1"/>
                </a:solidFill>
              </a:rPr>
              <a:t>Interfacce conversazionali che invitano al dialogo</a:t>
            </a:r>
            <a:endParaRPr lang="it-IT" sz="1400" noProof="0" dirty="0"/>
          </a:p>
        </p:txBody>
      </p:sp>
      <p:sp>
        <p:nvSpPr>
          <p:cNvPr id="23" name="cerchio FiEye"/>
          <p:cNvSpPr/>
          <p:nvPr/>
        </p:nvSpPr>
        <p:spPr>
          <a:xfrm>
            <a:off x="4434840" y="3749040"/>
            <a:ext cx="457200" cy="457200"/>
          </a:xfrm>
          <a:prstGeom prst="ellipse">
            <a:avLst/>
          </a:prstGeom>
          <a:solidFill>
            <a:schemeClr val="accent5"/>
          </a:solidFill>
          <a:ln/>
        </p:spPr>
        <p:txBody>
          <a:bodyPr/>
          <a:lstStyle/>
          <a:p>
            <a:endParaRPr lang="it-IT" noProof="0" dirty="0"/>
          </a:p>
        </p:txBody>
      </p:sp>
      <p:pic>
        <p:nvPicPr>
          <p:cNvPr id="24" name="Image 3" descr="FiEye"/>
          <p:cNvPicPr>
            <a:picLocks noChangeAspect="1"/>
          </p:cNvPicPr>
          <p:nvPr/>
        </p:nvPicPr>
        <p:blipFill>
          <a:blip r:embed="rId6"/>
          <a:stretch>
            <a:fillRect/>
          </a:stretch>
        </p:blipFill>
        <p:spPr>
          <a:xfrm>
            <a:off x="4549140" y="3863340"/>
            <a:ext cx="228600" cy="228600"/>
          </a:xfrm>
          <a:prstGeom prst="rect">
            <a:avLst/>
          </a:prstGeom>
        </p:spPr>
      </p:pic>
      <p:sp>
        <p:nvSpPr>
          <p:cNvPr id="25" name="Text 18"/>
          <p:cNvSpPr txBox="1"/>
          <p:nvPr/>
        </p:nvSpPr>
        <p:spPr>
          <a:xfrm>
            <a:off x="5029200" y="3749040"/>
            <a:ext cx="3657600" cy="457200"/>
          </a:xfrm>
          <a:prstGeom prst="rect">
            <a:avLst/>
          </a:prstGeom>
          <a:noFill/>
          <a:ln/>
        </p:spPr>
        <p:txBody>
          <a:bodyPr wrap="square" lIns="0" tIns="0" rIns="0" bIns="0" rtlCol="0" anchor="ctr"/>
          <a:lstStyle/>
          <a:p>
            <a:pPr marL="0" indent="0">
              <a:buNone/>
            </a:pPr>
            <a:r>
              <a:rPr lang="it-IT" sz="1400" b="1" noProof="0" dirty="0">
                <a:solidFill>
                  <a:schemeClr val="tx1"/>
                </a:solidFill>
              </a:rPr>
              <a:t>Formule apprese da testi umani: non provano pensieri o emozioni</a:t>
            </a:r>
            <a:endParaRPr lang="it-IT" sz="1400" noProof="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noProof="0" smtClean="0"/>
              <a:t>28</a:t>
            </a:fld>
            <a:endParaRPr lang="it-IT" noProof="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it-IT" sz="6000" b="1" noProof="0" dirty="0">
                <a:solidFill>
                  <a:schemeClr val="accent1"/>
                </a:solidFill>
              </a:rPr>
              <a:t>2.2</a:t>
            </a:r>
            <a:endParaRPr lang="it-IT" sz="6000" noProof="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it-IT" sz="3200" b="1" noProof="0" dirty="0">
                <a:solidFill>
                  <a:schemeClr val="bg1"/>
                </a:solidFill>
              </a:rPr>
              <a:t>Le principali categorie di AI</a:t>
            </a:r>
            <a:endParaRPr lang="it-IT" sz="3200" noProof="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it-IT" sz="1600" noProof="0" dirty="0">
                <a:solidFill>
                  <a:schemeClr val="accent3"/>
                </a:solidFill>
              </a:rPr>
              <a:t>Approcci e capacità differenti, adatti a problemi differenti</a:t>
            </a:r>
            <a:endParaRPr lang="it-IT" sz="1600" noProof="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noProof="0" smtClean="0"/>
              <a:t>29</a:t>
            </a:fld>
            <a:endParaRPr lang="it-IT" noProof="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Quattro criteri di classificazione diversi</a:t>
            </a:r>
            <a:endParaRPr lang="it-IT" sz="2600" noProof="0" dirty="0"/>
          </a:p>
        </p:txBody>
      </p:sp>
      <p:graphicFrame>
        <p:nvGraphicFramePr>
          <p:cNvPr id="15" name="Table 0"/>
          <p:cNvGraphicFramePr>
            <a:graphicFrameLocks noGrp="1"/>
          </p:cNvGraphicFramePr>
          <p:nvPr>
            <p:extLst>
              <p:ext uri="{D42A27DB-BD31-4B8C-83A1-F6EECF244321}">
                <p14:modId xmlns:p14="http://schemas.microsoft.com/office/powerpoint/2010/main" val="400310655"/>
              </p:ext>
            </p:extLst>
          </p:nvPr>
        </p:nvGraphicFramePr>
        <p:xfrm>
          <a:off x="457200" y="1097280"/>
          <a:ext cx="8229600" cy="2377440"/>
        </p:xfrm>
        <a:graphic>
          <a:graphicData uri="http://schemas.openxmlformats.org/drawingml/2006/table">
            <a:tbl>
              <a:tblPr/>
              <a:tblGrid>
                <a:gridCol w="27432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475488">
                <a:tc>
                  <a:txBody>
                    <a:bodyPr/>
                    <a:lstStyle/>
                    <a:p>
                      <a:pPr marL="0" indent="0">
                        <a:buNone/>
                      </a:pPr>
                      <a:r>
                        <a:rPr lang="it-IT" sz="1300" b="1" noProof="0" dirty="0">
                          <a:solidFill>
                            <a:schemeClr val="bg1"/>
                          </a:solidFill>
                        </a:rPr>
                        <a:t>Domanda</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it-IT" sz="1300" b="1" noProof="0" dirty="0">
                          <a:solidFill>
                            <a:schemeClr val="bg1"/>
                          </a:solidFill>
                        </a:rPr>
                        <a:t>Criterio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it-IT" sz="1300" b="1" noProof="0" dirty="0">
                          <a:solidFill>
                            <a:schemeClr val="bg1"/>
                          </a:solidFill>
                        </a:rPr>
                        <a:t>Categorie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75488">
                <a:tc>
                  <a:txBody>
                    <a:bodyPr/>
                    <a:lstStyle/>
                    <a:p>
                      <a:pPr marL="0" indent="0">
                        <a:buNone/>
                      </a:pPr>
                      <a:r>
                        <a:rPr lang="it-IT" sz="1300" b="1" noProof="0" dirty="0">
                          <a:solidFill>
                            <a:schemeClr val="tx1"/>
                          </a:solidFill>
                        </a:rPr>
                        <a:t>Come costruisce la conoscenza?</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Approccio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AI simbolica a regole  /  Machine Learning</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475488">
                <a:tc>
                  <a:txBody>
                    <a:bodyPr/>
                    <a:lstStyle/>
                    <a:p>
                      <a:pPr marL="0" indent="0">
                        <a:buNone/>
                      </a:pPr>
                      <a:r>
                        <a:rPr lang="it-IT" sz="1300" b="1" noProof="0" dirty="0">
                          <a:solidFill>
                            <a:schemeClr val="tx1"/>
                          </a:solidFill>
                        </a:rPr>
                        <a:t>Con quale tecnica apprende?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Tecnica</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ML classico  /  Deep Learning</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2"/>
                  </a:ext>
                </a:extLst>
              </a:tr>
              <a:tr h="475488">
                <a:tc>
                  <a:txBody>
                    <a:bodyPr/>
                    <a:lstStyle/>
                    <a:p>
                      <a:pPr marL="0" indent="0">
                        <a:buNone/>
                      </a:pPr>
                      <a:r>
                        <a:rPr lang="it-IT" sz="1300" b="1" noProof="0" dirty="0">
                          <a:solidFill>
                            <a:schemeClr val="tx1"/>
                          </a:solidFill>
                        </a:rPr>
                        <a:t>Che cosa produce?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Funzione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Predittiva  /  </a:t>
                      </a:r>
                      <a:r>
                        <a:rPr lang="it-IT" sz="1300" noProof="0" dirty="0" err="1">
                          <a:solidFill>
                            <a:schemeClr val="tx1"/>
                          </a:solidFill>
                        </a:rPr>
                        <a:t>Classificativa</a:t>
                      </a:r>
                      <a:r>
                        <a:rPr lang="it-IT" sz="1300" noProof="0" dirty="0">
                          <a:solidFill>
                            <a:schemeClr val="tx1"/>
                          </a:solidFill>
                        </a:rPr>
                        <a:t>  /  Generativa</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3"/>
                  </a:ext>
                </a:extLst>
              </a:tr>
              <a:tr h="475488">
                <a:tc>
                  <a:txBody>
                    <a:bodyPr/>
                    <a:lstStyle/>
                    <a:p>
                      <a:pPr marL="0" indent="0">
                        <a:buNone/>
                      </a:pPr>
                      <a:r>
                        <a:rPr lang="it-IT" sz="1300" b="1" noProof="0" dirty="0">
                          <a:solidFill>
                            <a:schemeClr val="tx1"/>
                          </a:solidFill>
                        </a:rPr>
                        <a:t>Quali dati tratta?</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Modalità</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Unimodale  /  Multimodale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4"/>
                  </a:ext>
                </a:extLst>
              </a:tr>
            </a:tbl>
          </a:graphicData>
        </a:graphic>
      </p:graphicFrame>
      <p:sp>
        <p:nvSpPr>
          <p:cNvPr id="5" name="esempio LLM"/>
          <p:cNvSpPr/>
          <p:nvPr/>
        </p:nvSpPr>
        <p:spPr>
          <a:xfrm>
            <a:off x="457200" y="3611880"/>
            <a:ext cx="8229600" cy="914400"/>
          </a:xfrm>
          <a:prstGeom prst="roundRect">
            <a:avLst>
              <a:gd name="adj" fmla="val 8000"/>
            </a:avLst>
          </a:prstGeom>
          <a:solidFill>
            <a:schemeClr val="tx1"/>
          </a:solidFill>
          <a:ln/>
        </p:spPr>
        <p:txBody>
          <a:bodyPr/>
          <a:lstStyle/>
          <a:p>
            <a:endParaRPr lang="it-IT" noProof="0" dirty="0"/>
          </a:p>
        </p:txBody>
      </p:sp>
      <p:sp>
        <p:nvSpPr>
          <p:cNvPr id="6" name="cerchio FiLayers"/>
          <p:cNvSpPr/>
          <p:nvPr/>
        </p:nvSpPr>
        <p:spPr>
          <a:xfrm>
            <a:off x="640080" y="3813048"/>
            <a:ext cx="512064" cy="512064"/>
          </a:xfrm>
          <a:prstGeom prst="ellipse">
            <a:avLst/>
          </a:prstGeom>
          <a:solidFill>
            <a:schemeClr val="accent1"/>
          </a:solidFill>
          <a:ln/>
        </p:spPr>
        <p:txBody>
          <a:bodyPr/>
          <a:lstStyle/>
          <a:p>
            <a:endParaRPr lang="it-IT" noProof="0" dirty="0"/>
          </a:p>
        </p:txBody>
      </p:sp>
      <p:pic>
        <p:nvPicPr>
          <p:cNvPr id="7" name="Image 0" descr="FiLayers"/>
          <p:cNvPicPr>
            <a:picLocks noChangeAspect="1"/>
          </p:cNvPicPr>
          <p:nvPr/>
        </p:nvPicPr>
        <p:blipFill>
          <a:blip r:embed="rId3"/>
          <a:stretch>
            <a:fillRect/>
          </a:stretch>
        </p:blipFill>
        <p:spPr>
          <a:xfrm>
            <a:off x="768096" y="3941064"/>
            <a:ext cx="256032" cy="256032"/>
          </a:xfrm>
          <a:prstGeom prst="rect">
            <a:avLst/>
          </a:prstGeom>
        </p:spPr>
      </p:pic>
      <p:sp>
        <p:nvSpPr>
          <p:cNvPr id="8" name="Text 3"/>
          <p:cNvSpPr txBox="1"/>
          <p:nvPr/>
        </p:nvSpPr>
        <p:spPr>
          <a:xfrm>
            <a:off x="1325880" y="3611880"/>
            <a:ext cx="7223760" cy="914400"/>
          </a:xfrm>
          <a:prstGeom prst="rect">
            <a:avLst/>
          </a:prstGeom>
          <a:noFill/>
          <a:ln/>
        </p:spPr>
        <p:txBody>
          <a:bodyPr wrap="square" lIns="0" tIns="0" rIns="0" bIns="0" rtlCol="0" anchor="ctr"/>
          <a:lstStyle/>
          <a:p>
            <a:pPr marL="0" indent="0">
              <a:buNone/>
            </a:pPr>
            <a:r>
              <a:rPr lang="it-IT" sz="1500" noProof="0" dirty="0">
                <a:solidFill>
                  <a:schemeClr val="accent3"/>
                </a:solidFill>
              </a:rPr>
              <a:t>Un grande modello linguistico è insieme: </a:t>
            </a:r>
            <a:r>
              <a:rPr lang="it-IT" sz="1500" b="1" noProof="0" dirty="0">
                <a:solidFill>
                  <a:schemeClr val="bg1"/>
                </a:solidFill>
              </a:rPr>
              <a:t>Machine Learning, Deep Learning, generativo e spesso multimodale.</a:t>
            </a:r>
            <a:endParaRPr lang="it-IT" sz="15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noProof="0" smtClean="0"/>
              <a:t>30</a:t>
            </a:fld>
            <a:endParaRPr lang="it-IT" noProof="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AI simbolica e Machine Learning</a:t>
            </a:r>
            <a:endParaRPr lang="it-IT" sz="2600" noProof="0" dirty="0"/>
          </a:p>
        </p:txBody>
      </p:sp>
      <p:sp>
        <p:nvSpPr>
          <p:cNvPr id="4" name="scheda AI simbolica a regole"/>
          <p:cNvSpPr/>
          <p:nvPr/>
        </p:nvSpPr>
        <p:spPr>
          <a:xfrm>
            <a:off x="457200" y="1097280"/>
            <a:ext cx="3977640" cy="3429000"/>
          </a:xfrm>
          <a:prstGeom prst="roundRect">
            <a:avLst>
              <a:gd name="adj" fmla="val 2133"/>
            </a:avLst>
          </a:prstGeom>
          <a:solidFill>
            <a:schemeClr val="bg2"/>
          </a:solidFill>
          <a:ln/>
        </p:spPr>
        <p:txBody>
          <a:bodyPr/>
          <a:lstStyle/>
          <a:p>
            <a:endParaRPr lang="it-IT" noProof="0" dirty="0"/>
          </a:p>
        </p:txBody>
      </p:sp>
      <p:sp>
        <p:nvSpPr>
          <p:cNvPr id="5" name="cerchio FiList"/>
          <p:cNvSpPr/>
          <p:nvPr/>
        </p:nvSpPr>
        <p:spPr>
          <a:xfrm>
            <a:off x="640080" y="1280160"/>
            <a:ext cx="457200" cy="457200"/>
          </a:xfrm>
          <a:prstGeom prst="ellipse">
            <a:avLst/>
          </a:prstGeom>
          <a:solidFill>
            <a:schemeClr val="accent1"/>
          </a:solidFill>
          <a:ln/>
        </p:spPr>
        <p:txBody>
          <a:bodyPr/>
          <a:lstStyle/>
          <a:p>
            <a:endParaRPr lang="it-IT" noProof="0" dirty="0"/>
          </a:p>
        </p:txBody>
      </p:sp>
      <p:pic>
        <p:nvPicPr>
          <p:cNvPr id="6" name="Image 0" descr="FiList"/>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marL="0" indent="0">
              <a:buNone/>
            </a:pPr>
            <a:r>
              <a:rPr lang="it-IT" sz="1600" b="1" noProof="0" dirty="0">
                <a:solidFill>
                  <a:schemeClr val="tx1"/>
                </a:solidFill>
              </a:rPr>
              <a:t>AI simbolica a regole</a:t>
            </a:r>
            <a:endParaRPr lang="it-IT" sz="1600" noProof="0" dirty="0"/>
          </a:p>
        </p:txBody>
      </p:sp>
      <p:sp>
        <p:nvSpPr>
          <p:cNvPr id="8" name="Text 4"/>
          <p:cNvSpPr txBox="1"/>
          <p:nvPr/>
        </p:nvSpPr>
        <p:spPr>
          <a:xfrm>
            <a:off x="640080" y="2231136"/>
            <a:ext cx="3611880" cy="2185416"/>
          </a:xfrm>
          <a:prstGeom prst="rect">
            <a:avLst/>
          </a:prstGeom>
          <a:noFill/>
          <a:ln/>
        </p:spPr>
        <p:txBody>
          <a:bodyPr wrap="square" lIns="0" tIns="0" rIns="0" bIns="0" rtlCol="0" anchor="t"/>
          <a:lstStyle/>
          <a:p>
            <a:pPr marL="0" indent="0">
              <a:spcAft>
                <a:spcPts val="800"/>
              </a:spcAft>
              <a:buNone/>
            </a:pPr>
            <a:r>
              <a:rPr lang="it-IT" sz="1300" b="1" noProof="0" dirty="0">
                <a:solidFill>
                  <a:schemeClr val="accent1"/>
                </a:solidFill>
              </a:rPr>
              <a:t>Le persone scrivono le regole</a:t>
            </a:r>
            <a:endParaRPr lang="it-IT" sz="1300" noProof="0" dirty="0"/>
          </a:p>
          <a:p>
            <a:pPr marL="177800" indent="-177800">
              <a:spcAft>
                <a:spcPts val="300"/>
              </a:spcAft>
              <a:buSzPct val="100000"/>
              <a:buChar char="•"/>
            </a:pPr>
            <a:r>
              <a:rPr lang="it-IT" sz="1300" noProof="0" dirty="0">
                <a:solidFill>
                  <a:schemeClr val="tx2"/>
                </a:solidFill>
              </a:rPr>
              <a:t>Trasparente: si legge la regola applicata</a:t>
            </a:r>
            <a:endParaRPr lang="it-IT" sz="1300" noProof="0" dirty="0"/>
          </a:p>
          <a:p>
            <a:pPr marL="177800" indent="-177800">
              <a:spcAft>
                <a:spcPts val="300"/>
              </a:spcAft>
              <a:buSzPct val="100000"/>
              <a:buChar char="•"/>
            </a:pPr>
            <a:r>
              <a:rPr lang="it-IT" sz="1300" noProof="0" dirty="0">
                <a:solidFill>
                  <a:schemeClr val="tx2"/>
                </a:solidFill>
              </a:rPr>
              <a:t>Prevedibile e controllabile</a:t>
            </a:r>
            <a:endParaRPr lang="it-IT" sz="1300" noProof="0" dirty="0"/>
          </a:p>
          <a:p>
            <a:pPr marL="177800" indent="-177800">
              <a:spcAft>
                <a:spcPts val="300"/>
              </a:spcAft>
              <a:buSzPct val="100000"/>
              <a:buChar char="•"/>
            </a:pPr>
            <a:r>
              <a:rPr lang="it-IT" sz="1300" noProof="0" dirty="0">
                <a:solidFill>
                  <a:schemeClr val="tx2"/>
                </a:solidFill>
              </a:rPr>
              <a:t>Fragile con i casi non previsti</a:t>
            </a:r>
            <a:endParaRPr lang="it-IT" sz="1300" noProof="0" dirty="0"/>
          </a:p>
          <a:p>
            <a:pPr marL="177800" indent="-177800">
              <a:spcAft>
                <a:spcPts val="300"/>
              </a:spcAft>
              <a:buSzPct val="100000"/>
              <a:buChar char="•"/>
            </a:pPr>
            <a:r>
              <a:rPr lang="it-IT" sz="1300" noProof="0" dirty="0">
                <a:solidFill>
                  <a:schemeClr val="tx2"/>
                </a:solidFill>
              </a:rPr>
              <a:t>Difficile per conoscenze intuitive</a:t>
            </a:r>
            <a:endParaRPr lang="it-IT" sz="1300" noProof="0" dirty="0"/>
          </a:p>
        </p:txBody>
      </p:sp>
      <p:sp>
        <p:nvSpPr>
          <p:cNvPr id="9" name="scheda Machine Learning"/>
          <p:cNvSpPr/>
          <p:nvPr/>
        </p:nvSpPr>
        <p:spPr>
          <a:xfrm>
            <a:off x="4709160" y="1097280"/>
            <a:ext cx="3977640" cy="3429000"/>
          </a:xfrm>
          <a:prstGeom prst="roundRect">
            <a:avLst>
              <a:gd name="adj" fmla="val 2133"/>
            </a:avLst>
          </a:prstGeom>
          <a:solidFill>
            <a:schemeClr val="accent6"/>
          </a:solidFill>
          <a:ln/>
        </p:spPr>
        <p:txBody>
          <a:bodyPr/>
          <a:lstStyle/>
          <a:p>
            <a:endParaRPr lang="it-IT" noProof="0" dirty="0"/>
          </a:p>
        </p:txBody>
      </p:sp>
      <p:sp>
        <p:nvSpPr>
          <p:cNvPr id="10" name="cerchio FiTrendingUp"/>
          <p:cNvSpPr/>
          <p:nvPr/>
        </p:nvSpPr>
        <p:spPr>
          <a:xfrm>
            <a:off x="4892040" y="1280160"/>
            <a:ext cx="457200" cy="457200"/>
          </a:xfrm>
          <a:prstGeom prst="ellipse">
            <a:avLst/>
          </a:prstGeom>
          <a:solidFill>
            <a:schemeClr val="accent1"/>
          </a:solidFill>
          <a:ln/>
        </p:spPr>
        <p:txBody>
          <a:bodyPr/>
          <a:lstStyle/>
          <a:p>
            <a:endParaRPr lang="it-IT" noProof="0" dirty="0"/>
          </a:p>
        </p:txBody>
      </p:sp>
      <p:pic>
        <p:nvPicPr>
          <p:cNvPr id="11" name="Image 1" descr="FiTrendingUp"/>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marL="0" indent="0">
              <a:buNone/>
            </a:pPr>
            <a:r>
              <a:rPr lang="it-IT" sz="1600" b="1" noProof="0" dirty="0">
                <a:solidFill>
                  <a:schemeClr val="tx1"/>
                </a:solidFill>
              </a:rPr>
              <a:t>Machine Learning</a:t>
            </a:r>
            <a:endParaRPr lang="it-IT" sz="1600" noProof="0" dirty="0"/>
          </a:p>
        </p:txBody>
      </p:sp>
      <p:sp>
        <p:nvSpPr>
          <p:cNvPr id="13" name="Text 8"/>
          <p:cNvSpPr txBox="1"/>
          <p:nvPr/>
        </p:nvSpPr>
        <p:spPr>
          <a:xfrm>
            <a:off x="4892040" y="2231136"/>
            <a:ext cx="3611880" cy="2185416"/>
          </a:xfrm>
          <a:prstGeom prst="rect">
            <a:avLst/>
          </a:prstGeom>
          <a:noFill/>
          <a:ln/>
        </p:spPr>
        <p:txBody>
          <a:bodyPr wrap="square" lIns="0" tIns="0" rIns="0" bIns="0" rtlCol="0" anchor="t"/>
          <a:lstStyle/>
          <a:p>
            <a:pPr marL="0" indent="0">
              <a:spcAft>
                <a:spcPts val="800"/>
              </a:spcAft>
              <a:buNone/>
            </a:pPr>
            <a:r>
              <a:rPr lang="it-IT" sz="1300" b="1" noProof="0" dirty="0">
                <a:solidFill>
                  <a:schemeClr val="accent1"/>
                </a:solidFill>
              </a:rPr>
              <a:t>Il sistema ricava le regole dagli esempi</a:t>
            </a:r>
            <a:endParaRPr lang="it-IT" sz="1300" noProof="0" dirty="0"/>
          </a:p>
          <a:p>
            <a:pPr marL="177800" indent="-177800">
              <a:spcAft>
                <a:spcPts val="300"/>
              </a:spcAft>
              <a:buSzPct val="100000"/>
              <a:buChar char="•"/>
            </a:pPr>
            <a:r>
              <a:rPr lang="it-IT" sz="1300" noProof="0" dirty="0">
                <a:solidFill>
                  <a:schemeClr val="tx2"/>
                </a:solidFill>
              </a:rPr>
              <a:t>Adatto a problemi complessi e sfumati</a:t>
            </a:r>
            <a:endParaRPr lang="it-IT" sz="1300" noProof="0" dirty="0"/>
          </a:p>
          <a:p>
            <a:pPr marL="177800" indent="-177800">
              <a:spcAft>
                <a:spcPts val="300"/>
              </a:spcAft>
              <a:buSzPct val="100000"/>
              <a:buChar char="•"/>
            </a:pPr>
            <a:r>
              <a:rPr lang="it-IT" sz="1300" noProof="0" dirty="0">
                <a:solidFill>
                  <a:schemeClr val="tx2"/>
                </a:solidFill>
              </a:rPr>
              <a:t>Dipende dalla qualità dei dati</a:t>
            </a:r>
            <a:endParaRPr lang="it-IT" sz="1300" noProof="0" dirty="0"/>
          </a:p>
          <a:p>
            <a:pPr marL="177800" indent="-177800">
              <a:spcAft>
                <a:spcPts val="300"/>
              </a:spcAft>
              <a:buSzPct val="100000"/>
              <a:buChar char="•"/>
            </a:pPr>
            <a:r>
              <a:rPr lang="it-IT" sz="1300" noProof="0" dirty="0">
                <a:solidFill>
                  <a:schemeClr val="tx2"/>
                </a:solidFill>
              </a:rPr>
              <a:t>Talvolta meno facile da spiegare</a:t>
            </a:r>
            <a:endParaRPr lang="it-IT" sz="1300" noProof="0" dirty="0"/>
          </a:p>
          <a:p>
            <a:pPr marL="177800" indent="-177800">
              <a:spcAft>
                <a:spcPts val="300"/>
              </a:spcAft>
              <a:buSzPct val="100000"/>
              <a:buChar char="•"/>
            </a:pPr>
            <a:r>
              <a:rPr lang="it-IT" sz="1300" noProof="0" dirty="0">
                <a:solidFill>
                  <a:schemeClr val="tx2"/>
                </a:solidFill>
              </a:rPr>
              <a:t>Spesso combinato con regole esplicite</a:t>
            </a:r>
            <a:endParaRPr lang="it-IT" sz="13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noProof="0" smtClean="0"/>
              <a:t>31</a:t>
            </a:fld>
            <a:endParaRPr lang="it-IT" noProof="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Deep Learning e reti neurali</a:t>
            </a:r>
            <a:endParaRPr lang="it-IT" sz="2600" noProof="0" dirty="0"/>
          </a:p>
        </p:txBody>
      </p:sp>
      <p:sp>
        <p:nvSpPr>
          <p:cNvPr id="4" name="connessione"/>
          <p:cNvSpPr/>
          <p:nvPr/>
        </p:nvSpPr>
        <p:spPr>
          <a:xfrm flipV="1">
            <a:off x="960120" y="2080260"/>
            <a:ext cx="1188720" cy="342900"/>
          </a:xfrm>
          <a:prstGeom prst="line">
            <a:avLst/>
          </a:prstGeom>
          <a:noFill/>
          <a:ln w="9525">
            <a:solidFill>
              <a:schemeClr val="accent3"/>
            </a:solidFill>
            <a:prstDash val="solid"/>
          </a:ln>
        </p:spPr>
        <p:txBody>
          <a:bodyPr/>
          <a:lstStyle/>
          <a:p>
            <a:endParaRPr lang="it-IT" noProof="0" dirty="0"/>
          </a:p>
        </p:txBody>
      </p:sp>
      <p:sp>
        <p:nvSpPr>
          <p:cNvPr id="5" name="connessione"/>
          <p:cNvSpPr/>
          <p:nvPr/>
        </p:nvSpPr>
        <p:spPr>
          <a:xfrm>
            <a:off x="960120" y="2423160"/>
            <a:ext cx="1188720" cy="342900"/>
          </a:xfrm>
          <a:prstGeom prst="line">
            <a:avLst/>
          </a:prstGeom>
          <a:noFill/>
          <a:ln w="9525">
            <a:solidFill>
              <a:schemeClr val="accent3"/>
            </a:solidFill>
            <a:prstDash val="solid"/>
          </a:ln>
        </p:spPr>
        <p:txBody>
          <a:bodyPr/>
          <a:lstStyle/>
          <a:p>
            <a:endParaRPr lang="it-IT" noProof="0" dirty="0"/>
          </a:p>
        </p:txBody>
      </p:sp>
      <p:sp>
        <p:nvSpPr>
          <p:cNvPr id="6" name="connessione"/>
          <p:cNvSpPr/>
          <p:nvPr/>
        </p:nvSpPr>
        <p:spPr>
          <a:xfrm>
            <a:off x="960120" y="2423160"/>
            <a:ext cx="1188720" cy="1028700"/>
          </a:xfrm>
          <a:prstGeom prst="line">
            <a:avLst/>
          </a:prstGeom>
          <a:noFill/>
          <a:ln w="9525">
            <a:solidFill>
              <a:schemeClr val="accent3"/>
            </a:solidFill>
            <a:prstDash val="solid"/>
          </a:ln>
        </p:spPr>
        <p:txBody>
          <a:bodyPr/>
          <a:lstStyle/>
          <a:p>
            <a:endParaRPr lang="it-IT" noProof="0" dirty="0"/>
          </a:p>
        </p:txBody>
      </p:sp>
      <p:sp>
        <p:nvSpPr>
          <p:cNvPr id="7" name="connessione"/>
          <p:cNvSpPr/>
          <p:nvPr/>
        </p:nvSpPr>
        <p:spPr>
          <a:xfrm>
            <a:off x="960120" y="2423160"/>
            <a:ext cx="1188720" cy="1714500"/>
          </a:xfrm>
          <a:prstGeom prst="line">
            <a:avLst/>
          </a:prstGeom>
          <a:noFill/>
          <a:ln w="9525">
            <a:solidFill>
              <a:schemeClr val="accent3"/>
            </a:solidFill>
            <a:prstDash val="solid"/>
          </a:ln>
        </p:spPr>
        <p:txBody>
          <a:bodyPr/>
          <a:lstStyle/>
          <a:p>
            <a:endParaRPr lang="it-IT" noProof="0" dirty="0"/>
          </a:p>
        </p:txBody>
      </p:sp>
      <p:sp>
        <p:nvSpPr>
          <p:cNvPr id="8" name="connessione"/>
          <p:cNvSpPr/>
          <p:nvPr/>
        </p:nvSpPr>
        <p:spPr>
          <a:xfrm flipV="1">
            <a:off x="960120" y="2080260"/>
            <a:ext cx="1188720" cy="1028700"/>
          </a:xfrm>
          <a:prstGeom prst="line">
            <a:avLst/>
          </a:prstGeom>
          <a:noFill/>
          <a:ln w="9525">
            <a:solidFill>
              <a:schemeClr val="accent3"/>
            </a:solidFill>
            <a:prstDash val="solid"/>
          </a:ln>
        </p:spPr>
        <p:txBody>
          <a:bodyPr/>
          <a:lstStyle/>
          <a:p>
            <a:endParaRPr lang="it-IT" noProof="0" dirty="0"/>
          </a:p>
        </p:txBody>
      </p:sp>
      <p:sp>
        <p:nvSpPr>
          <p:cNvPr id="9" name="connessione"/>
          <p:cNvSpPr/>
          <p:nvPr/>
        </p:nvSpPr>
        <p:spPr>
          <a:xfrm flipV="1">
            <a:off x="960120" y="2766060"/>
            <a:ext cx="1188720" cy="342900"/>
          </a:xfrm>
          <a:prstGeom prst="line">
            <a:avLst/>
          </a:prstGeom>
          <a:noFill/>
          <a:ln w="9525">
            <a:solidFill>
              <a:schemeClr val="accent3"/>
            </a:solidFill>
            <a:prstDash val="solid"/>
          </a:ln>
        </p:spPr>
        <p:txBody>
          <a:bodyPr/>
          <a:lstStyle/>
          <a:p>
            <a:endParaRPr lang="it-IT" noProof="0" dirty="0"/>
          </a:p>
        </p:txBody>
      </p:sp>
      <p:sp>
        <p:nvSpPr>
          <p:cNvPr id="10" name="connessione"/>
          <p:cNvSpPr/>
          <p:nvPr/>
        </p:nvSpPr>
        <p:spPr>
          <a:xfrm>
            <a:off x="960120" y="3108960"/>
            <a:ext cx="1188720" cy="342900"/>
          </a:xfrm>
          <a:prstGeom prst="line">
            <a:avLst/>
          </a:prstGeom>
          <a:noFill/>
          <a:ln w="9525">
            <a:solidFill>
              <a:schemeClr val="accent3"/>
            </a:solidFill>
            <a:prstDash val="solid"/>
          </a:ln>
        </p:spPr>
        <p:txBody>
          <a:bodyPr/>
          <a:lstStyle/>
          <a:p>
            <a:endParaRPr lang="it-IT" noProof="0" dirty="0"/>
          </a:p>
        </p:txBody>
      </p:sp>
      <p:sp>
        <p:nvSpPr>
          <p:cNvPr id="11" name="connessione"/>
          <p:cNvSpPr/>
          <p:nvPr/>
        </p:nvSpPr>
        <p:spPr>
          <a:xfrm>
            <a:off x="960120" y="3108960"/>
            <a:ext cx="1188720" cy="1028700"/>
          </a:xfrm>
          <a:prstGeom prst="line">
            <a:avLst/>
          </a:prstGeom>
          <a:noFill/>
          <a:ln w="9525">
            <a:solidFill>
              <a:schemeClr val="accent3"/>
            </a:solidFill>
            <a:prstDash val="solid"/>
          </a:ln>
        </p:spPr>
        <p:txBody>
          <a:bodyPr/>
          <a:lstStyle/>
          <a:p>
            <a:endParaRPr lang="it-IT" noProof="0" dirty="0"/>
          </a:p>
        </p:txBody>
      </p:sp>
      <p:sp>
        <p:nvSpPr>
          <p:cNvPr id="12" name="connessione"/>
          <p:cNvSpPr/>
          <p:nvPr/>
        </p:nvSpPr>
        <p:spPr>
          <a:xfrm flipV="1">
            <a:off x="960120" y="2080260"/>
            <a:ext cx="1188720" cy="1714500"/>
          </a:xfrm>
          <a:prstGeom prst="line">
            <a:avLst/>
          </a:prstGeom>
          <a:noFill/>
          <a:ln w="9525">
            <a:solidFill>
              <a:schemeClr val="accent3"/>
            </a:solidFill>
            <a:prstDash val="solid"/>
          </a:ln>
        </p:spPr>
        <p:txBody>
          <a:bodyPr/>
          <a:lstStyle/>
          <a:p>
            <a:endParaRPr lang="it-IT" noProof="0" dirty="0"/>
          </a:p>
        </p:txBody>
      </p:sp>
      <p:sp>
        <p:nvSpPr>
          <p:cNvPr id="13" name="connessione"/>
          <p:cNvSpPr/>
          <p:nvPr/>
        </p:nvSpPr>
        <p:spPr>
          <a:xfrm flipV="1">
            <a:off x="960120" y="2766060"/>
            <a:ext cx="1188720" cy="1028700"/>
          </a:xfrm>
          <a:prstGeom prst="line">
            <a:avLst/>
          </a:prstGeom>
          <a:noFill/>
          <a:ln w="9525">
            <a:solidFill>
              <a:schemeClr val="accent3"/>
            </a:solidFill>
            <a:prstDash val="solid"/>
          </a:ln>
        </p:spPr>
        <p:txBody>
          <a:bodyPr/>
          <a:lstStyle/>
          <a:p>
            <a:endParaRPr lang="it-IT" noProof="0" dirty="0"/>
          </a:p>
        </p:txBody>
      </p:sp>
      <p:sp>
        <p:nvSpPr>
          <p:cNvPr id="14" name="connessione"/>
          <p:cNvSpPr/>
          <p:nvPr/>
        </p:nvSpPr>
        <p:spPr>
          <a:xfrm flipV="1">
            <a:off x="960120" y="3451860"/>
            <a:ext cx="1188720" cy="342900"/>
          </a:xfrm>
          <a:prstGeom prst="line">
            <a:avLst/>
          </a:prstGeom>
          <a:noFill/>
          <a:ln w="9525">
            <a:solidFill>
              <a:schemeClr val="accent3"/>
            </a:solidFill>
            <a:prstDash val="solid"/>
          </a:ln>
        </p:spPr>
        <p:txBody>
          <a:bodyPr/>
          <a:lstStyle/>
          <a:p>
            <a:endParaRPr lang="it-IT" noProof="0" dirty="0"/>
          </a:p>
        </p:txBody>
      </p:sp>
      <p:sp>
        <p:nvSpPr>
          <p:cNvPr id="15" name="connessione"/>
          <p:cNvSpPr/>
          <p:nvPr/>
        </p:nvSpPr>
        <p:spPr>
          <a:xfrm>
            <a:off x="960120" y="3794760"/>
            <a:ext cx="1188720" cy="342900"/>
          </a:xfrm>
          <a:prstGeom prst="line">
            <a:avLst/>
          </a:prstGeom>
          <a:noFill/>
          <a:ln w="9525">
            <a:solidFill>
              <a:schemeClr val="accent3"/>
            </a:solidFill>
            <a:prstDash val="solid"/>
          </a:ln>
        </p:spPr>
        <p:txBody>
          <a:bodyPr/>
          <a:lstStyle/>
          <a:p>
            <a:endParaRPr lang="it-IT" noProof="0" dirty="0"/>
          </a:p>
        </p:txBody>
      </p:sp>
      <p:sp>
        <p:nvSpPr>
          <p:cNvPr id="16" name="connessione"/>
          <p:cNvSpPr/>
          <p:nvPr/>
        </p:nvSpPr>
        <p:spPr>
          <a:xfrm>
            <a:off x="2148840" y="2080260"/>
            <a:ext cx="1188720" cy="0"/>
          </a:xfrm>
          <a:prstGeom prst="line">
            <a:avLst/>
          </a:prstGeom>
          <a:noFill/>
          <a:ln w="9525">
            <a:solidFill>
              <a:schemeClr val="accent3"/>
            </a:solidFill>
            <a:prstDash val="solid"/>
          </a:ln>
        </p:spPr>
        <p:txBody>
          <a:bodyPr/>
          <a:lstStyle/>
          <a:p>
            <a:endParaRPr lang="it-IT" noProof="0" dirty="0"/>
          </a:p>
        </p:txBody>
      </p:sp>
      <p:sp>
        <p:nvSpPr>
          <p:cNvPr id="17" name="connessione"/>
          <p:cNvSpPr/>
          <p:nvPr/>
        </p:nvSpPr>
        <p:spPr>
          <a:xfrm>
            <a:off x="2148840" y="2080260"/>
            <a:ext cx="1188720" cy="685800"/>
          </a:xfrm>
          <a:prstGeom prst="line">
            <a:avLst/>
          </a:prstGeom>
          <a:noFill/>
          <a:ln w="9525">
            <a:solidFill>
              <a:schemeClr val="accent3"/>
            </a:solidFill>
            <a:prstDash val="solid"/>
          </a:ln>
        </p:spPr>
        <p:txBody>
          <a:bodyPr/>
          <a:lstStyle/>
          <a:p>
            <a:endParaRPr lang="it-IT" noProof="0" dirty="0"/>
          </a:p>
        </p:txBody>
      </p:sp>
      <p:sp>
        <p:nvSpPr>
          <p:cNvPr id="18" name="connessione"/>
          <p:cNvSpPr/>
          <p:nvPr/>
        </p:nvSpPr>
        <p:spPr>
          <a:xfrm>
            <a:off x="2148840" y="2080260"/>
            <a:ext cx="1188720" cy="1371600"/>
          </a:xfrm>
          <a:prstGeom prst="line">
            <a:avLst/>
          </a:prstGeom>
          <a:noFill/>
          <a:ln w="9525">
            <a:solidFill>
              <a:schemeClr val="accent3"/>
            </a:solidFill>
            <a:prstDash val="solid"/>
          </a:ln>
        </p:spPr>
        <p:txBody>
          <a:bodyPr/>
          <a:lstStyle/>
          <a:p>
            <a:endParaRPr lang="it-IT" noProof="0" dirty="0"/>
          </a:p>
        </p:txBody>
      </p:sp>
      <p:sp>
        <p:nvSpPr>
          <p:cNvPr id="19" name="connessione"/>
          <p:cNvSpPr/>
          <p:nvPr/>
        </p:nvSpPr>
        <p:spPr>
          <a:xfrm>
            <a:off x="2148840" y="2080260"/>
            <a:ext cx="1188720" cy="2057400"/>
          </a:xfrm>
          <a:prstGeom prst="line">
            <a:avLst/>
          </a:prstGeom>
          <a:noFill/>
          <a:ln w="9525">
            <a:solidFill>
              <a:schemeClr val="accent3"/>
            </a:solidFill>
            <a:prstDash val="solid"/>
          </a:ln>
        </p:spPr>
        <p:txBody>
          <a:bodyPr/>
          <a:lstStyle/>
          <a:p>
            <a:endParaRPr lang="it-IT" noProof="0" dirty="0"/>
          </a:p>
        </p:txBody>
      </p:sp>
      <p:sp>
        <p:nvSpPr>
          <p:cNvPr id="20" name="connessione"/>
          <p:cNvSpPr/>
          <p:nvPr/>
        </p:nvSpPr>
        <p:spPr>
          <a:xfrm flipV="1">
            <a:off x="2148840" y="2080260"/>
            <a:ext cx="1188720" cy="685800"/>
          </a:xfrm>
          <a:prstGeom prst="line">
            <a:avLst/>
          </a:prstGeom>
          <a:noFill/>
          <a:ln w="9525">
            <a:solidFill>
              <a:schemeClr val="accent3"/>
            </a:solidFill>
            <a:prstDash val="solid"/>
          </a:ln>
        </p:spPr>
        <p:txBody>
          <a:bodyPr/>
          <a:lstStyle/>
          <a:p>
            <a:endParaRPr lang="it-IT" noProof="0" dirty="0"/>
          </a:p>
        </p:txBody>
      </p:sp>
      <p:sp>
        <p:nvSpPr>
          <p:cNvPr id="21" name="connessione"/>
          <p:cNvSpPr/>
          <p:nvPr/>
        </p:nvSpPr>
        <p:spPr>
          <a:xfrm>
            <a:off x="2148840" y="2766060"/>
            <a:ext cx="1188720" cy="0"/>
          </a:xfrm>
          <a:prstGeom prst="line">
            <a:avLst/>
          </a:prstGeom>
          <a:noFill/>
          <a:ln w="9525">
            <a:solidFill>
              <a:schemeClr val="accent3"/>
            </a:solidFill>
            <a:prstDash val="solid"/>
          </a:ln>
        </p:spPr>
        <p:txBody>
          <a:bodyPr/>
          <a:lstStyle/>
          <a:p>
            <a:endParaRPr lang="it-IT" noProof="0" dirty="0"/>
          </a:p>
        </p:txBody>
      </p:sp>
      <p:sp>
        <p:nvSpPr>
          <p:cNvPr id="22" name="connessione"/>
          <p:cNvSpPr/>
          <p:nvPr/>
        </p:nvSpPr>
        <p:spPr>
          <a:xfrm>
            <a:off x="2148840" y="2766060"/>
            <a:ext cx="1188720" cy="685800"/>
          </a:xfrm>
          <a:prstGeom prst="line">
            <a:avLst/>
          </a:prstGeom>
          <a:noFill/>
          <a:ln w="9525">
            <a:solidFill>
              <a:schemeClr val="accent3"/>
            </a:solidFill>
            <a:prstDash val="solid"/>
          </a:ln>
        </p:spPr>
        <p:txBody>
          <a:bodyPr/>
          <a:lstStyle/>
          <a:p>
            <a:endParaRPr lang="it-IT" noProof="0" dirty="0"/>
          </a:p>
        </p:txBody>
      </p:sp>
      <p:sp>
        <p:nvSpPr>
          <p:cNvPr id="23" name="connessione"/>
          <p:cNvSpPr/>
          <p:nvPr/>
        </p:nvSpPr>
        <p:spPr>
          <a:xfrm>
            <a:off x="2148840" y="2766060"/>
            <a:ext cx="1188720" cy="1371600"/>
          </a:xfrm>
          <a:prstGeom prst="line">
            <a:avLst/>
          </a:prstGeom>
          <a:noFill/>
          <a:ln w="9525">
            <a:solidFill>
              <a:schemeClr val="accent3"/>
            </a:solidFill>
            <a:prstDash val="solid"/>
          </a:ln>
        </p:spPr>
        <p:txBody>
          <a:bodyPr/>
          <a:lstStyle/>
          <a:p>
            <a:endParaRPr lang="it-IT" noProof="0" dirty="0"/>
          </a:p>
        </p:txBody>
      </p:sp>
      <p:sp>
        <p:nvSpPr>
          <p:cNvPr id="24" name="connessione"/>
          <p:cNvSpPr/>
          <p:nvPr/>
        </p:nvSpPr>
        <p:spPr>
          <a:xfrm flipV="1">
            <a:off x="2148840" y="2080260"/>
            <a:ext cx="1188720" cy="1371600"/>
          </a:xfrm>
          <a:prstGeom prst="line">
            <a:avLst/>
          </a:prstGeom>
          <a:noFill/>
          <a:ln w="9525">
            <a:solidFill>
              <a:schemeClr val="accent3"/>
            </a:solidFill>
            <a:prstDash val="solid"/>
          </a:ln>
        </p:spPr>
        <p:txBody>
          <a:bodyPr/>
          <a:lstStyle/>
          <a:p>
            <a:endParaRPr lang="it-IT" noProof="0" dirty="0"/>
          </a:p>
        </p:txBody>
      </p:sp>
      <p:sp>
        <p:nvSpPr>
          <p:cNvPr id="25" name="connessione"/>
          <p:cNvSpPr/>
          <p:nvPr/>
        </p:nvSpPr>
        <p:spPr>
          <a:xfrm flipV="1">
            <a:off x="2148840" y="2766060"/>
            <a:ext cx="1188720" cy="685800"/>
          </a:xfrm>
          <a:prstGeom prst="line">
            <a:avLst/>
          </a:prstGeom>
          <a:noFill/>
          <a:ln w="9525">
            <a:solidFill>
              <a:schemeClr val="accent3"/>
            </a:solidFill>
            <a:prstDash val="solid"/>
          </a:ln>
        </p:spPr>
        <p:txBody>
          <a:bodyPr/>
          <a:lstStyle/>
          <a:p>
            <a:endParaRPr lang="it-IT" noProof="0" dirty="0"/>
          </a:p>
        </p:txBody>
      </p:sp>
      <p:sp>
        <p:nvSpPr>
          <p:cNvPr id="26" name="connessione"/>
          <p:cNvSpPr/>
          <p:nvPr/>
        </p:nvSpPr>
        <p:spPr>
          <a:xfrm>
            <a:off x="2148840" y="3451860"/>
            <a:ext cx="1188720" cy="0"/>
          </a:xfrm>
          <a:prstGeom prst="line">
            <a:avLst/>
          </a:prstGeom>
          <a:noFill/>
          <a:ln w="9525">
            <a:solidFill>
              <a:schemeClr val="accent3"/>
            </a:solidFill>
            <a:prstDash val="solid"/>
          </a:ln>
        </p:spPr>
        <p:txBody>
          <a:bodyPr/>
          <a:lstStyle/>
          <a:p>
            <a:endParaRPr lang="it-IT" noProof="0" dirty="0"/>
          </a:p>
        </p:txBody>
      </p:sp>
      <p:sp>
        <p:nvSpPr>
          <p:cNvPr id="27" name="connessione"/>
          <p:cNvSpPr/>
          <p:nvPr/>
        </p:nvSpPr>
        <p:spPr>
          <a:xfrm>
            <a:off x="2148840" y="3451860"/>
            <a:ext cx="1188720" cy="685800"/>
          </a:xfrm>
          <a:prstGeom prst="line">
            <a:avLst/>
          </a:prstGeom>
          <a:noFill/>
          <a:ln w="9525">
            <a:solidFill>
              <a:schemeClr val="accent3"/>
            </a:solidFill>
            <a:prstDash val="solid"/>
          </a:ln>
        </p:spPr>
        <p:txBody>
          <a:bodyPr/>
          <a:lstStyle/>
          <a:p>
            <a:endParaRPr lang="it-IT" noProof="0" dirty="0"/>
          </a:p>
        </p:txBody>
      </p:sp>
      <p:sp>
        <p:nvSpPr>
          <p:cNvPr id="28" name="connessione"/>
          <p:cNvSpPr/>
          <p:nvPr/>
        </p:nvSpPr>
        <p:spPr>
          <a:xfrm flipV="1">
            <a:off x="2148840" y="2080260"/>
            <a:ext cx="1188720" cy="2057400"/>
          </a:xfrm>
          <a:prstGeom prst="line">
            <a:avLst/>
          </a:prstGeom>
          <a:noFill/>
          <a:ln w="9525">
            <a:solidFill>
              <a:schemeClr val="accent3"/>
            </a:solidFill>
            <a:prstDash val="solid"/>
          </a:ln>
        </p:spPr>
        <p:txBody>
          <a:bodyPr/>
          <a:lstStyle/>
          <a:p>
            <a:endParaRPr lang="it-IT" noProof="0" dirty="0"/>
          </a:p>
        </p:txBody>
      </p:sp>
      <p:sp>
        <p:nvSpPr>
          <p:cNvPr id="29" name="connessione"/>
          <p:cNvSpPr/>
          <p:nvPr/>
        </p:nvSpPr>
        <p:spPr>
          <a:xfrm flipV="1">
            <a:off x="2148840" y="2766060"/>
            <a:ext cx="1188720" cy="1371600"/>
          </a:xfrm>
          <a:prstGeom prst="line">
            <a:avLst/>
          </a:prstGeom>
          <a:noFill/>
          <a:ln w="9525">
            <a:solidFill>
              <a:schemeClr val="accent3"/>
            </a:solidFill>
            <a:prstDash val="solid"/>
          </a:ln>
        </p:spPr>
        <p:txBody>
          <a:bodyPr/>
          <a:lstStyle/>
          <a:p>
            <a:endParaRPr lang="it-IT" noProof="0" dirty="0"/>
          </a:p>
        </p:txBody>
      </p:sp>
      <p:sp>
        <p:nvSpPr>
          <p:cNvPr id="30" name="connessione"/>
          <p:cNvSpPr/>
          <p:nvPr/>
        </p:nvSpPr>
        <p:spPr>
          <a:xfrm flipV="1">
            <a:off x="2148840" y="3451860"/>
            <a:ext cx="1188720" cy="685800"/>
          </a:xfrm>
          <a:prstGeom prst="line">
            <a:avLst/>
          </a:prstGeom>
          <a:noFill/>
          <a:ln w="9525">
            <a:solidFill>
              <a:schemeClr val="accent3"/>
            </a:solidFill>
            <a:prstDash val="solid"/>
          </a:ln>
        </p:spPr>
        <p:txBody>
          <a:bodyPr/>
          <a:lstStyle/>
          <a:p>
            <a:endParaRPr lang="it-IT" noProof="0" dirty="0"/>
          </a:p>
        </p:txBody>
      </p:sp>
      <p:sp>
        <p:nvSpPr>
          <p:cNvPr id="31" name="connessione"/>
          <p:cNvSpPr/>
          <p:nvPr/>
        </p:nvSpPr>
        <p:spPr>
          <a:xfrm>
            <a:off x="2148840" y="4137660"/>
            <a:ext cx="1188720" cy="0"/>
          </a:xfrm>
          <a:prstGeom prst="line">
            <a:avLst/>
          </a:prstGeom>
          <a:noFill/>
          <a:ln w="9525">
            <a:solidFill>
              <a:schemeClr val="accent3"/>
            </a:solidFill>
            <a:prstDash val="solid"/>
          </a:ln>
        </p:spPr>
        <p:txBody>
          <a:bodyPr/>
          <a:lstStyle/>
          <a:p>
            <a:endParaRPr lang="it-IT" noProof="0" dirty="0"/>
          </a:p>
        </p:txBody>
      </p:sp>
      <p:sp>
        <p:nvSpPr>
          <p:cNvPr id="32" name="connessione"/>
          <p:cNvSpPr/>
          <p:nvPr/>
        </p:nvSpPr>
        <p:spPr>
          <a:xfrm>
            <a:off x="3337560" y="2080260"/>
            <a:ext cx="1188720" cy="685800"/>
          </a:xfrm>
          <a:prstGeom prst="line">
            <a:avLst/>
          </a:prstGeom>
          <a:noFill/>
          <a:ln w="9525">
            <a:solidFill>
              <a:schemeClr val="accent3"/>
            </a:solidFill>
            <a:prstDash val="solid"/>
          </a:ln>
        </p:spPr>
        <p:txBody>
          <a:bodyPr/>
          <a:lstStyle/>
          <a:p>
            <a:endParaRPr lang="it-IT" noProof="0" dirty="0"/>
          </a:p>
        </p:txBody>
      </p:sp>
      <p:sp>
        <p:nvSpPr>
          <p:cNvPr id="33" name="connessione"/>
          <p:cNvSpPr/>
          <p:nvPr/>
        </p:nvSpPr>
        <p:spPr>
          <a:xfrm>
            <a:off x="3337560" y="2080260"/>
            <a:ext cx="1188720" cy="1371600"/>
          </a:xfrm>
          <a:prstGeom prst="line">
            <a:avLst/>
          </a:prstGeom>
          <a:noFill/>
          <a:ln w="9525">
            <a:solidFill>
              <a:schemeClr val="accent3"/>
            </a:solidFill>
            <a:prstDash val="solid"/>
          </a:ln>
        </p:spPr>
        <p:txBody>
          <a:bodyPr/>
          <a:lstStyle/>
          <a:p>
            <a:endParaRPr lang="it-IT" noProof="0" dirty="0"/>
          </a:p>
        </p:txBody>
      </p:sp>
      <p:sp>
        <p:nvSpPr>
          <p:cNvPr id="34" name="connessione"/>
          <p:cNvSpPr/>
          <p:nvPr/>
        </p:nvSpPr>
        <p:spPr>
          <a:xfrm>
            <a:off x="3337560" y="2766060"/>
            <a:ext cx="1188720" cy="0"/>
          </a:xfrm>
          <a:prstGeom prst="line">
            <a:avLst/>
          </a:prstGeom>
          <a:noFill/>
          <a:ln w="9525">
            <a:solidFill>
              <a:schemeClr val="accent3"/>
            </a:solidFill>
            <a:prstDash val="solid"/>
          </a:ln>
        </p:spPr>
        <p:txBody>
          <a:bodyPr/>
          <a:lstStyle/>
          <a:p>
            <a:endParaRPr lang="it-IT" noProof="0" dirty="0"/>
          </a:p>
        </p:txBody>
      </p:sp>
      <p:sp>
        <p:nvSpPr>
          <p:cNvPr id="35" name="connessione"/>
          <p:cNvSpPr/>
          <p:nvPr/>
        </p:nvSpPr>
        <p:spPr>
          <a:xfrm>
            <a:off x="3337560" y="2766060"/>
            <a:ext cx="1188720" cy="685800"/>
          </a:xfrm>
          <a:prstGeom prst="line">
            <a:avLst/>
          </a:prstGeom>
          <a:noFill/>
          <a:ln w="9525">
            <a:solidFill>
              <a:schemeClr val="accent3"/>
            </a:solidFill>
            <a:prstDash val="solid"/>
          </a:ln>
        </p:spPr>
        <p:txBody>
          <a:bodyPr/>
          <a:lstStyle/>
          <a:p>
            <a:endParaRPr lang="it-IT" noProof="0" dirty="0"/>
          </a:p>
        </p:txBody>
      </p:sp>
      <p:sp>
        <p:nvSpPr>
          <p:cNvPr id="36" name="connessione"/>
          <p:cNvSpPr/>
          <p:nvPr/>
        </p:nvSpPr>
        <p:spPr>
          <a:xfrm flipV="1">
            <a:off x="3337560" y="2766060"/>
            <a:ext cx="1188720" cy="685800"/>
          </a:xfrm>
          <a:prstGeom prst="line">
            <a:avLst/>
          </a:prstGeom>
          <a:noFill/>
          <a:ln w="9525">
            <a:solidFill>
              <a:schemeClr val="accent3"/>
            </a:solidFill>
            <a:prstDash val="solid"/>
          </a:ln>
        </p:spPr>
        <p:txBody>
          <a:bodyPr/>
          <a:lstStyle/>
          <a:p>
            <a:endParaRPr lang="it-IT" noProof="0" dirty="0"/>
          </a:p>
        </p:txBody>
      </p:sp>
      <p:sp>
        <p:nvSpPr>
          <p:cNvPr id="37" name="connessione"/>
          <p:cNvSpPr/>
          <p:nvPr/>
        </p:nvSpPr>
        <p:spPr>
          <a:xfrm>
            <a:off x="3337560" y="3451860"/>
            <a:ext cx="1188720" cy="0"/>
          </a:xfrm>
          <a:prstGeom prst="line">
            <a:avLst/>
          </a:prstGeom>
          <a:noFill/>
          <a:ln w="9525">
            <a:solidFill>
              <a:schemeClr val="accent3"/>
            </a:solidFill>
            <a:prstDash val="solid"/>
          </a:ln>
        </p:spPr>
        <p:txBody>
          <a:bodyPr/>
          <a:lstStyle/>
          <a:p>
            <a:endParaRPr lang="it-IT" noProof="0" dirty="0"/>
          </a:p>
        </p:txBody>
      </p:sp>
      <p:sp>
        <p:nvSpPr>
          <p:cNvPr id="38" name="connessione"/>
          <p:cNvSpPr/>
          <p:nvPr/>
        </p:nvSpPr>
        <p:spPr>
          <a:xfrm flipV="1">
            <a:off x="3337560" y="2766060"/>
            <a:ext cx="1188720" cy="1371600"/>
          </a:xfrm>
          <a:prstGeom prst="line">
            <a:avLst/>
          </a:prstGeom>
          <a:noFill/>
          <a:ln w="9525">
            <a:solidFill>
              <a:schemeClr val="accent3"/>
            </a:solidFill>
            <a:prstDash val="solid"/>
          </a:ln>
        </p:spPr>
        <p:txBody>
          <a:bodyPr/>
          <a:lstStyle/>
          <a:p>
            <a:endParaRPr lang="it-IT" noProof="0" dirty="0"/>
          </a:p>
        </p:txBody>
      </p:sp>
      <p:sp>
        <p:nvSpPr>
          <p:cNvPr id="39" name="connessione"/>
          <p:cNvSpPr/>
          <p:nvPr/>
        </p:nvSpPr>
        <p:spPr>
          <a:xfrm flipV="1">
            <a:off x="3337560" y="3451860"/>
            <a:ext cx="1188720" cy="685800"/>
          </a:xfrm>
          <a:prstGeom prst="line">
            <a:avLst/>
          </a:prstGeom>
          <a:noFill/>
          <a:ln w="9525">
            <a:solidFill>
              <a:schemeClr val="accent3"/>
            </a:solidFill>
            <a:prstDash val="solid"/>
          </a:ln>
        </p:spPr>
        <p:txBody>
          <a:bodyPr/>
          <a:lstStyle/>
          <a:p>
            <a:endParaRPr lang="it-IT" noProof="0" dirty="0"/>
          </a:p>
        </p:txBody>
      </p:sp>
      <p:sp>
        <p:nvSpPr>
          <p:cNvPr id="40" name="neurone"/>
          <p:cNvSpPr/>
          <p:nvPr/>
        </p:nvSpPr>
        <p:spPr>
          <a:xfrm>
            <a:off x="822960" y="2286000"/>
            <a:ext cx="274320" cy="274320"/>
          </a:xfrm>
          <a:prstGeom prst="ellipse">
            <a:avLst/>
          </a:prstGeom>
          <a:solidFill>
            <a:schemeClr val="tx2"/>
          </a:solidFill>
          <a:ln/>
        </p:spPr>
        <p:txBody>
          <a:bodyPr/>
          <a:lstStyle/>
          <a:p>
            <a:endParaRPr lang="it-IT" noProof="0" dirty="0"/>
          </a:p>
        </p:txBody>
      </p:sp>
      <p:sp>
        <p:nvSpPr>
          <p:cNvPr id="41" name="neurone"/>
          <p:cNvSpPr/>
          <p:nvPr/>
        </p:nvSpPr>
        <p:spPr>
          <a:xfrm>
            <a:off x="822960" y="2971800"/>
            <a:ext cx="274320" cy="274320"/>
          </a:xfrm>
          <a:prstGeom prst="ellipse">
            <a:avLst/>
          </a:prstGeom>
          <a:solidFill>
            <a:schemeClr val="tx2"/>
          </a:solidFill>
          <a:ln/>
        </p:spPr>
        <p:txBody>
          <a:bodyPr/>
          <a:lstStyle/>
          <a:p>
            <a:endParaRPr lang="it-IT" noProof="0" dirty="0"/>
          </a:p>
        </p:txBody>
      </p:sp>
      <p:sp>
        <p:nvSpPr>
          <p:cNvPr id="42" name="neurone"/>
          <p:cNvSpPr/>
          <p:nvPr/>
        </p:nvSpPr>
        <p:spPr>
          <a:xfrm>
            <a:off x="822960" y="3657600"/>
            <a:ext cx="274320" cy="274320"/>
          </a:xfrm>
          <a:prstGeom prst="ellipse">
            <a:avLst/>
          </a:prstGeom>
          <a:solidFill>
            <a:schemeClr val="tx2"/>
          </a:solidFill>
          <a:ln/>
        </p:spPr>
        <p:txBody>
          <a:bodyPr/>
          <a:lstStyle/>
          <a:p>
            <a:endParaRPr lang="it-IT" noProof="0" dirty="0"/>
          </a:p>
        </p:txBody>
      </p:sp>
      <p:sp>
        <p:nvSpPr>
          <p:cNvPr id="43" name="neurone"/>
          <p:cNvSpPr/>
          <p:nvPr/>
        </p:nvSpPr>
        <p:spPr>
          <a:xfrm>
            <a:off x="2011680" y="1943100"/>
            <a:ext cx="274320" cy="274320"/>
          </a:xfrm>
          <a:prstGeom prst="ellipse">
            <a:avLst/>
          </a:prstGeom>
          <a:solidFill>
            <a:schemeClr val="accent1"/>
          </a:solidFill>
          <a:ln/>
        </p:spPr>
        <p:txBody>
          <a:bodyPr/>
          <a:lstStyle/>
          <a:p>
            <a:endParaRPr lang="it-IT" noProof="0" dirty="0"/>
          </a:p>
        </p:txBody>
      </p:sp>
      <p:sp>
        <p:nvSpPr>
          <p:cNvPr id="44" name="neurone"/>
          <p:cNvSpPr/>
          <p:nvPr/>
        </p:nvSpPr>
        <p:spPr>
          <a:xfrm>
            <a:off x="2011680" y="2628900"/>
            <a:ext cx="274320" cy="274320"/>
          </a:xfrm>
          <a:prstGeom prst="ellipse">
            <a:avLst/>
          </a:prstGeom>
          <a:solidFill>
            <a:schemeClr val="accent1"/>
          </a:solidFill>
          <a:ln/>
        </p:spPr>
        <p:txBody>
          <a:bodyPr/>
          <a:lstStyle/>
          <a:p>
            <a:endParaRPr lang="it-IT" noProof="0" dirty="0"/>
          </a:p>
        </p:txBody>
      </p:sp>
      <p:sp>
        <p:nvSpPr>
          <p:cNvPr id="45" name="neurone"/>
          <p:cNvSpPr/>
          <p:nvPr/>
        </p:nvSpPr>
        <p:spPr>
          <a:xfrm>
            <a:off x="2011680" y="3314700"/>
            <a:ext cx="274320" cy="274320"/>
          </a:xfrm>
          <a:prstGeom prst="ellipse">
            <a:avLst/>
          </a:prstGeom>
          <a:solidFill>
            <a:schemeClr val="accent1"/>
          </a:solidFill>
          <a:ln/>
        </p:spPr>
        <p:txBody>
          <a:bodyPr/>
          <a:lstStyle/>
          <a:p>
            <a:endParaRPr lang="it-IT" noProof="0" dirty="0"/>
          </a:p>
        </p:txBody>
      </p:sp>
      <p:sp>
        <p:nvSpPr>
          <p:cNvPr id="46" name="neurone"/>
          <p:cNvSpPr/>
          <p:nvPr/>
        </p:nvSpPr>
        <p:spPr>
          <a:xfrm>
            <a:off x="2011680" y="4000500"/>
            <a:ext cx="274320" cy="274320"/>
          </a:xfrm>
          <a:prstGeom prst="ellipse">
            <a:avLst/>
          </a:prstGeom>
          <a:solidFill>
            <a:schemeClr val="accent1"/>
          </a:solidFill>
          <a:ln/>
        </p:spPr>
        <p:txBody>
          <a:bodyPr/>
          <a:lstStyle/>
          <a:p>
            <a:endParaRPr lang="it-IT" noProof="0" dirty="0"/>
          </a:p>
        </p:txBody>
      </p:sp>
      <p:sp>
        <p:nvSpPr>
          <p:cNvPr id="47" name="neurone"/>
          <p:cNvSpPr/>
          <p:nvPr/>
        </p:nvSpPr>
        <p:spPr>
          <a:xfrm>
            <a:off x="3200400" y="1943100"/>
            <a:ext cx="274320" cy="274320"/>
          </a:xfrm>
          <a:prstGeom prst="ellipse">
            <a:avLst/>
          </a:prstGeom>
          <a:solidFill>
            <a:schemeClr val="accent1"/>
          </a:solidFill>
          <a:ln/>
        </p:spPr>
        <p:txBody>
          <a:bodyPr/>
          <a:lstStyle/>
          <a:p>
            <a:endParaRPr lang="it-IT" noProof="0" dirty="0"/>
          </a:p>
        </p:txBody>
      </p:sp>
      <p:sp>
        <p:nvSpPr>
          <p:cNvPr id="48" name="neurone"/>
          <p:cNvSpPr/>
          <p:nvPr/>
        </p:nvSpPr>
        <p:spPr>
          <a:xfrm>
            <a:off x="3200400" y="2628900"/>
            <a:ext cx="274320" cy="274320"/>
          </a:xfrm>
          <a:prstGeom prst="ellipse">
            <a:avLst/>
          </a:prstGeom>
          <a:solidFill>
            <a:schemeClr val="accent1"/>
          </a:solidFill>
          <a:ln/>
        </p:spPr>
        <p:txBody>
          <a:bodyPr/>
          <a:lstStyle/>
          <a:p>
            <a:endParaRPr lang="it-IT" noProof="0" dirty="0"/>
          </a:p>
        </p:txBody>
      </p:sp>
      <p:sp>
        <p:nvSpPr>
          <p:cNvPr id="49" name="neurone"/>
          <p:cNvSpPr/>
          <p:nvPr/>
        </p:nvSpPr>
        <p:spPr>
          <a:xfrm>
            <a:off x="3200400" y="3314700"/>
            <a:ext cx="274320" cy="274320"/>
          </a:xfrm>
          <a:prstGeom prst="ellipse">
            <a:avLst/>
          </a:prstGeom>
          <a:solidFill>
            <a:schemeClr val="accent1"/>
          </a:solidFill>
          <a:ln/>
        </p:spPr>
        <p:txBody>
          <a:bodyPr/>
          <a:lstStyle/>
          <a:p>
            <a:endParaRPr lang="it-IT" noProof="0" dirty="0"/>
          </a:p>
        </p:txBody>
      </p:sp>
      <p:sp>
        <p:nvSpPr>
          <p:cNvPr id="50" name="neurone"/>
          <p:cNvSpPr/>
          <p:nvPr/>
        </p:nvSpPr>
        <p:spPr>
          <a:xfrm>
            <a:off x="3200400" y="4000500"/>
            <a:ext cx="274320" cy="274320"/>
          </a:xfrm>
          <a:prstGeom prst="ellipse">
            <a:avLst/>
          </a:prstGeom>
          <a:solidFill>
            <a:schemeClr val="accent1"/>
          </a:solidFill>
          <a:ln/>
        </p:spPr>
        <p:txBody>
          <a:bodyPr/>
          <a:lstStyle/>
          <a:p>
            <a:endParaRPr lang="it-IT" noProof="0" dirty="0"/>
          </a:p>
        </p:txBody>
      </p:sp>
      <p:sp>
        <p:nvSpPr>
          <p:cNvPr id="51" name="neurone"/>
          <p:cNvSpPr/>
          <p:nvPr/>
        </p:nvSpPr>
        <p:spPr>
          <a:xfrm>
            <a:off x="4389120" y="2628900"/>
            <a:ext cx="274320" cy="274320"/>
          </a:xfrm>
          <a:prstGeom prst="ellipse">
            <a:avLst/>
          </a:prstGeom>
          <a:solidFill>
            <a:schemeClr val="tx2"/>
          </a:solidFill>
          <a:ln/>
        </p:spPr>
        <p:txBody>
          <a:bodyPr/>
          <a:lstStyle/>
          <a:p>
            <a:endParaRPr lang="it-IT" noProof="0" dirty="0"/>
          </a:p>
        </p:txBody>
      </p:sp>
      <p:sp>
        <p:nvSpPr>
          <p:cNvPr id="52" name="neurone"/>
          <p:cNvSpPr/>
          <p:nvPr/>
        </p:nvSpPr>
        <p:spPr>
          <a:xfrm>
            <a:off x="4389120" y="3314700"/>
            <a:ext cx="274320" cy="274320"/>
          </a:xfrm>
          <a:prstGeom prst="ellipse">
            <a:avLst/>
          </a:prstGeom>
          <a:solidFill>
            <a:schemeClr val="tx2"/>
          </a:solidFill>
          <a:ln/>
        </p:spPr>
        <p:txBody>
          <a:bodyPr/>
          <a:lstStyle/>
          <a:p>
            <a:endParaRPr lang="it-IT" noProof="0" dirty="0"/>
          </a:p>
        </p:txBody>
      </p:sp>
      <p:sp>
        <p:nvSpPr>
          <p:cNvPr id="53" name="Text 50"/>
          <p:cNvSpPr txBox="1"/>
          <p:nvPr/>
        </p:nvSpPr>
        <p:spPr>
          <a:xfrm>
            <a:off x="411480" y="1143000"/>
            <a:ext cx="1097280" cy="320040"/>
          </a:xfrm>
          <a:prstGeom prst="rect">
            <a:avLst/>
          </a:prstGeom>
          <a:noFill/>
          <a:ln/>
        </p:spPr>
        <p:txBody>
          <a:bodyPr wrap="square" lIns="0" tIns="0" rIns="0" bIns="0" rtlCol="0" anchor="t"/>
          <a:lstStyle/>
          <a:p>
            <a:pPr marL="0" indent="0" algn="ctr">
              <a:buNone/>
            </a:pPr>
            <a:r>
              <a:rPr lang="it-IT" sz="1100" b="1" noProof="0" dirty="0">
                <a:solidFill>
                  <a:schemeClr val="tx2"/>
                </a:solidFill>
              </a:rPr>
              <a:t>Input</a:t>
            </a:r>
            <a:endParaRPr lang="it-IT" sz="1100" noProof="0" dirty="0"/>
          </a:p>
        </p:txBody>
      </p:sp>
      <p:sp>
        <p:nvSpPr>
          <p:cNvPr id="54" name="Text 51"/>
          <p:cNvSpPr txBox="1"/>
          <p:nvPr/>
        </p:nvSpPr>
        <p:spPr>
          <a:xfrm>
            <a:off x="1600200" y="1143000"/>
            <a:ext cx="1097280" cy="320040"/>
          </a:xfrm>
          <a:prstGeom prst="rect">
            <a:avLst/>
          </a:prstGeom>
          <a:noFill/>
          <a:ln/>
        </p:spPr>
        <p:txBody>
          <a:bodyPr wrap="square" lIns="0" tIns="0" rIns="0" bIns="0" rtlCol="0" anchor="t"/>
          <a:lstStyle/>
          <a:p>
            <a:pPr marL="0" indent="0" algn="ctr">
              <a:buNone/>
            </a:pPr>
            <a:r>
              <a:rPr lang="it-IT" sz="1100" b="1" noProof="0" dirty="0">
                <a:solidFill>
                  <a:schemeClr val="tx2"/>
                </a:solidFill>
              </a:rPr>
              <a:t>Strato nascosto</a:t>
            </a:r>
            <a:endParaRPr lang="it-IT" sz="1100" noProof="0" dirty="0"/>
          </a:p>
        </p:txBody>
      </p:sp>
      <p:sp>
        <p:nvSpPr>
          <p:cNvPr id="55" name="Text 52"/>
          <p:cNvSpPr txBox="1"/>
          <p:nvPr/>
        </p:nvSpPr>
        <p:spPr>
          <a:xfrm>
            <a:off x="2788920" y="1143000"/>
            <a:ext cx="1097280" cy="320040"/>
          </a:xfrm>
          <a:prstGeom prst="rect">
            <a:avLst/>
          </a:prstGeom>
          <a:noFill/>
          <a:ln/>
        </p:spPr>
        <p:txBody>
          <a:bodyPr wrap="square" lIns="0" tIns="0" rIns="0" bIns="0" rtlCol="0" anchor="t"/>
          <a:lstStyle/>
          <a:p>
            <a:pPr marL="0" indent="0" algn="ctr">
              <a:buNone/>
            </a:pPr>
            <a:r>
              <a:rPr lang="it-IT" sz="1100" b="1" noProof="0" dirty="0">
                <a:solidFill>
                  <a:schemeClr val="tx2"/>
                </a:solidFill>
              </a:rPr>
              <a:t>Strato nascosto</a:t>
            </a:r>
            <a:endParaRPr lang="it-IT" sz="1100" noProof="0" dirty="0"/>
          </a:p>
        </p:txBody>
      </p:sp>
      <p:sp>
        <p:nvSpPr>
          <p:cNvPr id="56" name="Text 53"/>
          <p:cNvSpPr txBox="1"/>
          <p:nvPr/>
        </p:nvSpPr>
        <p:spPr>
          <a:xfrm>
            <a:off x="3977640" y="1143000"/>
            <a:ext cx="1097280" cy="320040"/>
          </a:xfrm>
          <a:prstGeom prst="rect">
            <a:avLst/>
          </a:prstGeom>
          <a:noFill/>
          <a:ln/>
        </p:spPr>
        <p:txBody>
          <a:bodyPr wrap="square" lIns="0" tIns="0" rIns="0" bIns="0" rtlCol="0" anchor="t"/>
          <a:lstStyle/>
          <a:p>
            <a:pPr marL="0" indent="0" algn="ctr">
              <a:buNone/>
            </a:pPr>
            <a:r>
              <a:rPr lang="it-IT" sz="1100" b="1" noProof="0" dirty="0">
                <a:solidFill>
                  <a:schemeClr val="tx2"/>
                </a:solidFill>
              </a:rPr>
              <a:t>Output</a:t>
            </a:r>
            <a:endParaRPr lang="it-IT" sz="1100" noProof="0" dirty="0"/>
          </a:p>
        </p:txBody>
      </p:sp>
      <p:sp>
        <p:nvSpPr>
          <p:cNvPr id="57" name="Text 54"/>
          <p:cNvSpPr txBox="1"/>
          <p:nvPr/>
        </p:nvSpPr>
        <p:spPr>
          <a:xfrm>
            <a:off x="457200" y="4434840"/>
            <a:ext cx="4572000" cy="274320"/>
          </a:xfrm>
          <a:prstGeom prst="rect">
            <a:avLst/>
          </a:prstGeom>
          <a:noFill/>
          <a:ln/>
        </p:spPr>
        <p:txBody>
          <a:bodyPr wrap="square" lIns="0" tIns="0" rIns="0" bIns="0" rtlCol="0" anchor="t"/>
          <a:lstStyle/>
          <a:p>
            <a:pPr marL="0" indent="0" algn="ctr">
              <a:buNone/>
            </a:pPr>
            <a:r>
              <a:rPr lang="it-IT" sz="1100" i="1" noProof="0" dirty="0">
                <a:solidFill>
                  <a:schemeClr val="accent2"/>
                </a:solidFill>
              </a:rPr>
              <a:t>Dai pixel ai concetti</a:t>
            </a:r>
            <a:endParaRPr lang="it-IT" sz="1100" noProof="0" dirty="0"/>
          </a:p>
        </p:txBody>
      </p:sp>
      <p:sp>
        <p:nvSpPr>
          <p:cNvPr id="58" name="Text 55"/>
          <p:cNvSpPr txBox="1"/>
          <p:nvPr/>
        </p:nvSpPr>
        <p:spPr>
          <a:xfrm>
            <a:off x="5303520" y="1097280"/>
            <a:ext cx="3383280" cy="320040"/>
          </a:xfrm>
          <a:prstGeom prst="rect">
            <a:avLst/>
          </a:prstGeom>
          <a:noFill/>
          <a:ln/>
        </p:spPr>
        <p:txBody>
          <a:bodyPr wrap="square" lIns="0" tIns="0" rIns="0" bIns="0" rtlCol="0" anchor="t"/>
          <a:lstStyle/>
          <a:p>
            <a:pPr marL="0" indent="0">
              <a:buNone/>
            </a:pPr>
            <a:r>
              <a:rPr lang="it-IT" sz="1500" b="1" noProof="0" dirty="0">
                <a:solidFill>
                  <a:schemeClr val="tx1"/>
                </a:solidFill>
              </a:rPr>
              <a:t>Rappresentazioni sempre più astratte</a:t>
            </a:r>
            <a:endParaRPr lang="it-IT" sz="1500" noProof="0" dirty="0"/>
          </a:p>
        </p:txBody>
      </p:sp>
      <p:sp>
        <p:nvSpPr>
          <p:cNvPr id="59" name="Bordi e linee"/>
          <p:cNvSpPr/>
          <p:nvPr/>
        </p:nvSpPr>
        <p:spPr>
          <a:xfrm>
            <a:off x="5303520" y="1554480"/>
            <a:ext cx="3383280" cy="658368"/>
          </a:xfrm>
          <a:prstGeom prst="roundRect">
            <a:avLst>
              <a:gd name="adj" fmla="val 11111"/>
            </a:avLst>
          </a:prstGeom>
          <a:solidFill>
            <a:schemeClr val="bg2"/>
          </a:solidFill>
          <a:ln/>
        </p:spPr>
        <p:txBody>
          <a:bodyPr/>
          <a:lstStyle/>
          <a:p>
            <a:endParaRPr lang="it-IT" noProof="0" dirty="0"/>
          </a:p>
        </p:txBody>
      </p:sp>
      <p:sp>
        <p:nvSpPr>
          <p:cNvPr id="60" name="Text 57"/>
          <p:cNvSpPr txBox="1"/>
          <p:nvPr/>
        </p:nvSpPr>
        <p:spPr>
          <a:xfrm>
            <a:off x="5486400" y="1609344"/>
            <a:ext cx="3108960" cy="292608"/>
          </a:xfrm>
          <a:prstGeom prst="rect">
            <a:avLst/>
          </a:prstGeom>
          <a:noFill/>
          <a:ln/>
        </p:spPr>
        <p:txBody>
          <a:bodyPr wrap="square" lIns="0" tIns="0" rIns="0" bIns="0" rtlCol="0" anchor="t"/>
          <a:lstStyle/>
          <a:p>
            <a:pPr marL="0" indent="0">
              <a:buNone/>
            </a:pPr>
            <a:r>
              <a:rPr lang="it-IT" sz="1400" b="1" noProof="0" dirty="0">
                <a:solidFill>
                  <a:schemeClr val="tx1"/>
                </a:solidFill>
              </a:rPr>
              <a:t>Bordi e linee</a:t>
            </a:r>
            <a:endParaRPr lang="it-IT" sz="1400" noProof="0" dirty="0"/>
          </a:p>
        </p:txBody>
      </p:sp>
      <p:sp>
        <p:nvSpPr>
          <p:cNvPr id="61" name="Text 58"/>
          <p:cNvSpPr txBox="1"/>
          <p:nvPr/>
        </p:nvSpPr>
        <p:spPr>
          <a:xfrm>
            <a:off x="5486400" y="1901952"/>
            <a:ext cx="3108960" cy="256032"/>
          </a:xfrm>
          <a:prstGeom prst="rect">
            <a:avLst/>
          </a:prstGeom>
          <a:noFill/>
          <a:ln/>
        </p:spPr>
        <p:txBody>
          <a:bodyPr wrap="square" lIns="0" tIns="0" rIns="0" bIns="0" rtlCol="0" anchor="t"/>
          <a:lstStyle/>
          <a:p>
            <a:pPr marL="0" indent="0">
              <a:buNone/>
            </a:pPr>
            <a:r>
              <a:rPr lang="it-IT" sz="1200" noProof="0" dirty="0">
                <a:solidFill>
                  <a:schemeClr val="tx2"/>
                </a:solidFill>
              </a:rPr>
              <a:t>I primi strati</a:t>
            </a:r>
            <a:endParaRPr lang="it-IT" sz="1200" noProof="0" dirty="0"/>
          </a:p>
        </p:txBody>
      </p:sp>
      <p:sp>
        <p:nvSpPr>
          <p:cNvPr id="62" name="Forme e parti di oggetti"/>
          <p:cNvSpPr/>
          <p:nvPr/>
        </p:nvSpPr>
        <p:spPr>
          <a:xfrm>
            <a:off x="5303520" y="2331720"/>
            <a:ext cx="3383280" cy="658368"/>
          </a:xfrm>
          <a:prstGeom prst="roundRect">
            <a:avLst>
              <a:gd name="adj" fmla="val 11111"/>
            </a:avLst>
          </a:prstGeom>
          <a:solidFill>
            <a:schemeClr val="bg2"/>
          </a:solidFill>
          <a:ln/>
        </p:spPr>
        <p:txBody>
          <a:bodyPr/>
          <a:lstStyle/>
          <a:p>
            <a:endParaRPr lang="it-IT" noProof="0" dirty="0"/>
          </a:p>
        </p:txBody>
      </p:sp>
      <p:sp>
        <p:nvSpPr>
          <p:cNvPr id="63" name="Text 60"/>
          <p:cNvSpPr txBox="1"/>
          <p:nvPr/>
        </p:nvSpPr>
        <p:spPr>
          <a:xfrm>
            <a:off x="5486400" y="2386584"/>
            <a:ext cx="3108960" cy="292608"/>
          </a:xfrm>
          <a:prstGeom prst="rect">
            <a:avLst/>
          </a:prstGeom>
          <a:noFill/>
          <a:ln/>
        </p:spPr>
        <p:txBody>
          <a:bodyPr wrap="square" lIns="0" tIns="0" rIns="0" bIns="0" rtlCol="0" anchor="t"/>
          <a:lstStyle/>
          <a:p>
            <a:pPr marL="0" indent="0">
              <a:buNone/>
            </a:pPr>
            <a:r>
              <a:rPr lang="it-IT" sz="1400" b="1" noProof="0" dirty="0">
                <a:solidFill>
                  <a:schemeClr val="tx1"/>
                </a:solidFill>
              </a:rPr>
              <a:t>Forme e parti di oggetti</a:t>
            </a:r>
            <a:endParaRPr lang="it-IT" sz="1400" noProof="0" dirty="0"/>
          </a:p>
        </p:txBody>
      </p:sp>
      <p:sp>
        <p:nvSpPr>
          <p:cNvPr id="64" name="Text 61"/>
          <p:cNvSpPr txBox="1"/>
          <p:nvPr/>
        </p:nvSpPr>
        <p:spPr>
          <a:xfrm>
            <a:off x="5486400" y="2679192"/>
            <a:ext cx="3108960" cy="256032"/>
          </a:xfrm>
          <a:prstGeom prst="rect">
            <a:avLst/>
          </a:prstGeom>
          <a:noFill/>
          <a:ln/>
        </p:spPr>
        <p:txBody>
          <a:bodyPr wrap="square" lIns="0" tIns="0" rIns="0" bIns="0" rtlCol="0" anchor="t"/>
          <a:lstStyle/>
          <a:p>
            <a:pPr marL="0" indent="0">
              <a:buNone/>
            </a:pPr>
            <a:r>
              <a:rPr lang="it-IT" sz="1200" noProof="0" dirty="0">
                <a:solidFill>
                  <a:schemeClr val="tx2"/>
                </a:solidFill>
              </a:rPr>
              <a:t>Gli strati intermedi</a:t>
            </a:r>
            <a:endParaRPr lang="it-IT" sz="1200" noProof="0" dirty="0"/>
          </a:p>
        </p:txBody>
      </p:sp>
      <p:sp>
        <p:nvSpPr>
          <p:cNvPr id="65" name="Concetti: &quot;volto&quot;, &quot;auto&quot;"/>
          <p:cNvSpPr/>
          <p:nvPr/>
        </p:nvSpPr>
        <p:spPr>
          <a:xfrm>
            <a:off x="5303520" y="3108960"/>
            <a:ext cx="3383280" cy="658368"/>
          </a:xfrm>
          <a:prstGeom prst="roundRect">
            <a:avLst>
              <a:gd name="adj" fmla="val 11111"/>
            </a:avLst>
          </a:prstGeom>
          <a:solidFill>
            <a:schemeClr val="accent6"/>
          </a:solidFill>
          <a:ln/>
        </p:spPr>
        <p:txBody>
          <a:bodyPr/>
          <a:lstStyle/>
          <a:p>
            <a:endParaRPr lang="it-IT" noProof="0" dirty="0"/>
          </a:p>
        </p:txBody>
      </p:sp>
      <p:sp>
        <p:nvSpPr>
          <p:cNvPr id="66" name="Text 63"/>
          <p:cNvSpPr txBox="1"/>
          <p:nvPr/>
        </p:nvSpPr>
        <p:spPr>
          <a:xfrm>
            <a:off x="5486400" y="3163824"/>
            <a:ext cx="3108960" cy="292608"/>
          </a:xfrm>
          <a:prstGeom prst="rect">
            <a:avLst/>
          </a:prstGeom>
          <a:noFill/>
          <a:ln/>
        </p:spPr>
        <p:txBody>
          <a:bodyPr wrap="square" lIns="0" tIns="0" rIns="0" bIns="0" rtlCol="0" anchor="t"/>
          <a:lstStyle/>
          <a:p>
            <a:pPr marL="0" indent="0">
              <a:buNone/>
            </a:pPr>
            <a:r>
              <a:rPr lang="it-IT" sz="1400" b="1" noProof="0" dirty="0">
                <a:solidFill>
                  <a:schemeClr val="tx1"/>
                </a:solidFill>
              </a:rPr>
              <a:t>Concetti: "volto", "auto"</a:t>
            </a:r>
            <a:endParaRPr lang="it-IT" sz="1400" noProof="0" dirty="0"/>
          </a:p>
        </p:txBody>
      </p:sp>
      <p:sp>
        <p:nvSpPr>
          <p:cNvPr id="67" name="Text 64"/>
          <p:cNvSpPr txBox="1"/>
          <p:nvPr/>
        </p:nvSpPr>
        <p:spPr>
          <a:xfrm>
            <a:off x="5486400" y="3456432"/>
            <a:ext cx="3108960" cy="256032"/>
          </a:xfrm>
          <a:prstGeom prst="rect">
            <a:avLst/>
          </a:prstGeom>
          <a:noFill/>
          <a:ln/>
        </p:spPr>
        <p:txBody>
          <a:bodyPr wrap="square" lIns="0" tIns="0" rIns="0" bIns="0" rtlCol="0" anchor="t"/>
          <a:lstStyle/>
          <a:p>
            <a:pPr marL="0" indent="0">
              <a:buNone/>
            </a:pPr>
            <a:r>
              <a:rPr lang="it-IT" sz="1200" noProof="0" dirty="0">
                <a:solidFill>
                  <a:schemeClr val="tx2"/>
                </a:solidFill>
              </a:rPr>
              <a:t>Gli ultimi strati</a:t>
            </a:r>
            <a:endParaRPr lang="it-IT" sz="1200" noProof="0" dirty="0"/>
          </a:p>
        </p:txBody>
      </p:sp>
      <p:sp>
        <p:nvSpPr>
          <p:cNvPr id="68" name="Text 65"/>
          <p:cNvSpPr txBox="1"/>
          <p:nvPr/>
        </p:nvSpPr>
        <p:spPr>
          <a:xfrm>
            <a:off x="5303520" y="3977640"/>
            <a:ext cx="3383280" cy="548640"/>
          </a:xfrm>
          <a:prstGeom prst="rect">
            <a:avLst/>
          </a:prstGeom>
          <a:noFill/>
          <a:ln/>
        </p:spPr>
        <p:txBody>
          <a:bodyPr wrap="square" lIns="0" tIns="0" rIns="0" bIns="0" rtlCol="0" anchor="t"/>
          <a:lstStyle/>
          <a:p>
            <a:pPr marL="0" indent="0">
              <a:buNone/>
            </a:pPr>
            <a:r>
              <a:rPr lang="it-IT" sz="1200" i="1" noProof="0" dirty="0">
                <a:solidFill>
                  <a:schemeClr val="tx2"/>
                </a:solidFill>
              </a:rPr>
              <a:t>Una struttura matematica ispirata al cervello, non un cervello in miniatura.</a:t>
            </a:r>
            <a:endParaRPr lang="it-IT" sz="1200" noProof="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noProof="0" smtClean="0"/>
              <a:t>32</a:t>
            </a:fld>
            <a:endParaRPr lang="it-IT" noProof="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AI predittiva, </a:t>
            </a:r>
            <a:r>
              <a:rPr lang="it-IT" sz="2600" b="1" noProof="0" dirty="0" err="1">
                <a:solidFill>
                  <a:schemeClr val="tx1"/>
                </a:solidFill>
              </a:rPr>
              <a:t>classificativa</a:t>
            </a:r>
            <a:r>
              <a:rPr lang="it-IT" sz="2600" b="1" noProof="0" dirty="0">
                <a:solidFill>
                  <a:schemeClr val="tx1"/>
                </a:solidFill>
              </a:rPr>
              <a:t> e generativa</a:t>
            </a:r>
            <a:endParaRPr lang="it-IT" sz="2600" noProof="0" dirty="0"/>
          </a:p>
        </p:txBody>
      </p:sp>
      <p:sp>
        <p:nvSpPr>
          <p:cNvPr id="4" name="scheda Predittiva"/>
          <p:cNvSpPr/>
          <p:nvPr/>
        </p:nvSpPr>
        <p:spPr>
          <a:xfrm>
            <a:off x="457200" y="1097280"/>
            <a:ext cx="2615184" cy="3154680"/>
          </a:xfrm>
          <a:prstGeom prst="roundRect">
            <a:avLst>
              <a:gd name="adj" fmla="val 2797"/>
            </a:avLst>
          </a:prstGeom>
          <a:solidFill>
            <a:schemeClr val="bg2"/>
          </a:solidFill>
          <a:ln/>
        </p:spPr>
        <p:txBody>
          <a:bodyPr/>
          <a:lstStyle/>
          <a:p>
            <a:endParaRPr lang="it-IT" noProof="0" dirty="0"/>
          </a:p>
        </p:txBody>
      </p:sp>
      <p:sp>
        <p:nvSpPr>
          <p:cNvPr id="5" name="cerchio FiTrendingUp"/>
          <p:cNvSpPr/>
          <p:nvPr/>
        </p:nvSpPr>
        <p:spPr>
          <a:xfrm>
            <a:off x="640080" y="1280160"/>
            <a:ext cx="457200" cy="457200"/>
          </a:xfrm>
          <a:prstGeom prst="ellipse">
            <a:avLst/>
          </a:prstGeom>
          <a:solidFill>
            <a:schemeClr val="accent1"/>
          </a:solidFill>
          <a:ln/>
        </p:spPr>
        <p:txBody>
          <a:bodyPr/>
          <a:lstStyle/>
          <a:p>
            <a:endParaRPr lang="it-IT" noProof="0" dirty="0"/>
          </a:p>
        </p:txBody>
      </p:sp>
      <p:pic>
        <p:nvPicPr>
          <p:cNvPr id="6" name="Image 0" descr="FiTrendingUp"/>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2249424" cy="347472"/>
          </a:xfrm>
          <a:prstGeom prst="rect">
            <a:avLst/>
          </a:prstGeom>
          <a:noFill/>
          <a:ln/>
        </p:spPr>
        <p:txBody>
          <a:bodyPr wrap="square" lIns="0" tIns="0" rIns="0" bIns="0" rtlCol="0" anchor="t"/>
          <a:lstStyle/>
          <a:p>
            <a:pPr marL="0" indent="0">
              <a:buNone/>
            </a:pPr>
            <a:r>
              <a:rPr lang="it-IT" sz="1600" b="1" noProof="0" dirty="0">
                <a:solidFill>
                  <a:schemeClr val="tx1"/>
                </a:solidFill>
              </a:rPr>
              <a:t>Predittiva</a:t>
            </a:r>
            <a:endParaRPr lang="it-IT" sz="1600" noProof="0" dirty="0"/>
          </a:p>
        </p:txBody>
      </p:sp>
      <p:sp>
        <p:nvSpPr>
          <p:cNvPr id="8" name="Text 4"/>
          <p:cNvSpPr txBox="1"/>
          <p:nvPr/>
        </p:nvSpPr>
        <p:spPr>
          <a:xfrm>
            <a:off x="640080" y="2231136"/>
            <a:ext cx="2249424" cy="1911096"/>
          </a:xfrm>
          <a:prstGeom prst="rect">
            <a:avLst/>
          </a:prstGeom>
          <a:noFill/>
          <a:ln/>
        </p:spPr>
        <p:txBody>
          <a:bodyPr wrap="square" lIns="0" tIns="0" rIns="0" bIns="0" rtlCol="0" anchor="t"/>
          <a:lstStyle/>
          <a:p>
            <a:pPr marL="0" indent="0">
              <a:spcAft>
                <a:spcPts val="800"/>
              </a:spcAft>
              <a:buNone/>
            </a:pPr>
            <a:r>
              <a:rPr lang="it-IT" sz="1300" b="1" noProof="0" dirty="0">
                <a:solidFill>
                  <a:schemeClr val="accent1"/>
                </a:solidFill>
              </a:rPr>
              <a:t>Stima un valore o un evento futuro</a:t>
            </a:r>
            <a:endParaRPr lang="it-IT" sz="1300" noProof="0" dirty="0"/>
          </a:p>
          <a:p>
            <a:pPr marL="177800" indent="-177800">
              <a:spcAft>
                <a:spcPts val="300"/>
              </a:spcAft>
              <a:buSzPct val="100000"/>
              <a:buChar char="•"/>
            </a:pPr>
            <a:r>
              <a:rPr lang="it-IT" sz="1300" noProof="0" dirty="0">
                <a:solidFill>
                  <a:schemeClr val="tx2"/>
                </a:solidFill>
              </a:rPr>
              <a:t>Vendite del prossimo mese</a:t>
            </a:r>
            <a:endParaRPr lang="it-IT" sz="1300" noProof="0" dirty="0"/>
          </a:p>
          <a:p>
            <a:pPr marL="177800" indent="-177800">
              <a:spcAft>
                <a:spcPts val="300"/>
              </a:spcAft>
              <a:buSzPct val="100000"/>
              <a:buChar char="•"/>
            </a:pPr>
            <a:r>
              <a:rPr lang="it-IT" sz="1300" noProof="0" dirty="0">
                <a:solidFill>
                  <a:schemeClr val="tx2"/>
                </a:solidFill>
              </a:rPr>
              <a:t>Manutenzione di un macchinario</a:t>
            </a:r>
            <a:endParaRPr lang="it-IT" sz="1300" noProof="0" dirty="0"/>
          </a:p>
          <a:p>
            <a:pPr marL="177800" indent="-177800">
              <a:spcAft>
                <a:spcPts val="300"/>
              </a:spcAft>
              <a:buSzPct val="100000"/>
              <a:buChar char="•"/>
            </a:pPr>
            <a:r>
              <a:rPr lang="it-IT" sz="1300" noProof="0" dirty="0">
                <a:solidFill>
                  <a:schemeClr val="tx2"/>
                </a:solidFill>
              </a:rPr>
              <a:t>Rischio di abbandono di un cliente</a:t>
            </a:r>
            <a:endParaRPr lang="it-IT" sz="1300" noProof="0" dirty="0"/>
          </a:p>
        </p:txBody>
      </p:sp>
      <p:sp>
        <p:nvSpPr>
          <p:cNvPr id="9" name="scheda Discriminativa"/>
          <p:cNvSpPr/>
          <p:nvPr/>
        </p:nvSpPr>
        <p:spPr>
          <a:xfrm>
            <a:off x="3264408" y="1097280"/>
            <a:ext cx="2615184" cy="3154680"/>
          </a:xfrm>
          <a:prstGeom prst="roundRect">
            <a:avLst>
              <a:gd name="adj" fmla="val 2797"/>
            </a:avLst>
          </a:prstGeom>
          <a:solidFill>
            <a:schemeClr val="bg2"/>
          </a:solidFill>
          <a:ln/>
        </p:spPr>
        <p:txBody>
          <a:bodyPr/>
          <a:lstStyle/>
          <a:p>
            <a:endParaRPr lang="it-IT" noProof="0" dirty="0"/>
          </a:p>
        </p:txBody>
      </p:sp>
      <p:sp>
        <p:nvSpPr>
          <p:cNvPr id="10" name="cerchio FiFilter"/>
          <p:cNvSpPr/>
          <p:nvPr/>
        </p:nvSpPr>
        <p:spPr>
          <a:xfrm>
            <a:off x="3447288" y="1280160"/>
            <a:ext cx="457200" cy="457200"/>
          </a:xfrm>
          <a:prstGeom prst="ellipse">
            <a:avLst/>
          </a:prstGeom>
          <a:solidFill>
            <a:schemeClr val="accent1"/>
          </a:solidFill>
          <a:ln/>
        </p:spPr>
        <p:txBody>
          <a:bodyPr/>
          <a:lstStyle/>
          <a:p>
            <a:endParaRPr lang="it-IT" noProof="0" dirty="0"/>
          </a:p>
        </p:txBody>
      </p:sp>
      <p:pic>
        <p:nvPicPr>
          <p:cNvPr id="11" name="Image 1" descr="FiFilter"/>
          <p:cNvPicPr>
            <a:picLocks noChangeAspect="1"/>
          </p:cNvPicPr>
          <p:nvPr/>
        </p:nvPicPr>
        <p:blipFill>
          <a:blip r:embed="rId4"/>
          <a:stretch>
            <a:fillRect/>
          </a:stretch>
        </p:blipFill>
        <p:spPr>
          <a:xfrm>
            <a:off x="3561588" y="1394460"/>
            <a:ext cx="228600" cy="228600"/>
          </a:xfrm>
          <a:prstGeom prst="rect">
            <a:avLst/>
          </a:prstGeom>
        </p:spPr>
      </p:pic>
      <p:sp>
        <p:nvSpPr>
          <p:cNvPr id="12" name="Text 7"/>
          <p:cNvSpPr txBox="1"/>
          <p:nvPr/>
        </p:nvSpPr>
        <p:spPr>
          <a:xfrm>
            <a:off x="3447288" y="1847088"/>
            <a:ext cx="2249424" cy="347472"/>
          </a:xfrm>
          <a:prstGeom prst="rect">
            <a:avLst/>
          </a:prstGeom>
          <a:noFill/>
          <a:ln/>
        </p:spPr>
        <p:txBody>
          <a:bodyPr wrap="square" lIns="0" tIns="0" rIns="0" bIns="0" rtlCol="0" anchor="t"/>
          <a:lstStyle/>
          <a:p>
            <a:pPr marL="0" indent="0">
              <a:buNone/>
            </a:pPr>
            <a:r>
              <a:rPr lang="it-IT" sz="1600" b="1" noProof="0" dirty="0" err="1">
                <a:solidFill>
                  <a:schemeClr val="tx1"/>
                </a:solidFill>
              </a:rPr>
              <a:t>Classificativa</a:t>
            </a:r>
            <a:endParaRPr lang="it-IT" sz="1600" noProof="0" dirty="0"/>
          </a:p>
        </p:txBody>
      </p:sp>
      <p:sp>
        <p:nvSpPr>
          <p:cNvPr id="13" name="Text 8"/>
          <p:cNvSpPr txBox="1"/>
          <p:nvPr/>
        </p:nvSpPr>
        <p:spPr>
          <a:xfrm>
            <a:off x="3447288" y="2231136"/>
            <a:ext cx="2249424" cy="1911096"/>
          </a:xfrm>
          <a:prstGeom prst="rect">
            <a:avLst/>
          </a:prstGeom>
          <a:noFill/>
          <a:ln/>
        </p:spPr>
        <p:txBody>
          <a:bodyPr wrap="square" lIns="0" tIns="0" rIns="0" bIns="0" rtlCol="0" anchor="t"/>
          <a:lstStyle/>
          <a:p>
            <a:pPr marL="0" indent="0">
              <a:spcAft>
                <a:spcPts val="800"/>
              </a:spcAft>
              <a:buNone/>
            </a:pPr>
            <a:r>
              <a:rPr lang="it-IT" sz="1300" b="1" noProof="0" dirty="0">
                <a:solidFill>
                  <a:schemeClr val="accent1"/>
                </a:solidFill>
              </a:rPr>
              <a:t>Assegna un input a una categoria</a:t>
            </a:r>
            <a:endParaRPr lang="it-IT" sz="1300" noProof="0" dirty="0"/>
          </a:p>
          <a:p>
            <a:pPr marL="177800" indent="-177800">
              <a:spcAft>
                <a:spcPts val="300"/>
              </a:spcAft>
              <a:buSzPct val="100000"/>
              <a:buChar char="•"/>
            </a:pPr>
            <a:r>
              <a:rPr lang="it-IT" sz="1300" noProof="0" dirty="0">
                <a:solidFill>
                  <a:schemeClr val="tx2"/>
                </a:solidFill>
              </a:rPr>
              <a:t>Spam o non spam</a:t>
            </a:r>
            <a:endParaRPr lang="it-IT" sz="1300" noProof="0" dirty="0"/>
          </a:p>
          <a:p>
            <a:pPr marL="177800" indent="-177800">
              <a:spcAft>
                <a:spcPts val="300"/>
              </a:spcAft>
              <a:buSzPct val="100000"/>
              <a:buChar char="•"/>
            </a:pPr>
            <a:r>
              <a:rPr lang="it-IT" sz="1300" noProof="0" dirty="0">
                <a:solidFill>
                  <a:schemeClr val="tx2"/>
                </a:solidFill>
              </a:rPr>
              <a:t>Pezzo conforme o difettoso</a:t>
            </a:r>
            <a:endParaRPr lang="it-IT" sz="1300" noProof="0" dirty="0"/>
          </a:p>
          <a:p>
            <a:pPr marL="177800" indent="-177800">
              <a:spcAft>
                <a:spcPts val="300"/>
              </a:spcAft>
              <a:buSzPct val="100000"/>
              <a:buChar char="•"/>
            </a:pPr>
            <a:r>
              <a:rPr lang="it-IT" sz="1300" noProof="0" dirty="0">
                <a:solidFill>
                  <a:schemeClr val="tx2"/>
                </a:solidFill>
              </a:rPr>
              <a:t>Recensione positiva o negativa</a:t>
            </a:r>
            <a:endParaRPr lang="it-IT" sz="1300" noProof="0" dirty="0"/>
          </a:p>
        </p:txBody>
      </p:sp>
      <p:sp>
        <p:nvSpPr>
          <p:cNvPr id="14" name="scheda Generativa"/>
          <p:cNvSpPr/>
          <p:nvPr/>
        </p:nvSpPr>
        <p:spPr>
          <a:xfrm>
            <a:off x="6071616" y="1097280"/>
            <a:ext cx="2615184" cy="3154680"/>
          </a:xfrm>
          <a:prstGeom prst="roundRect">
            <a:avLst>
              <a:gd name="adj" fmla="val 2797"/>
            </a:avLst>
          </a:prstGeom>
          <a:solidFill>
            <a:schemeClr val="accent6"/>
          </a:solidFill>
          <a:ln/>
        </p:spPr>
        <p:txBody>
          <a:bodyPr/>
          <a:lstStyle/>
          <a:p>
            <a:endParaRPr lang="it-IT" noProof="0" dirty="0"/>
          </a:p>
        </p:txBody>
      </p:sp>
      <p:sp>
        <p:nvSpPr>
          <p:cNvPr id="15" name="cerchio FiEdit3"/>
          <p:cNvSpPr/>
          <p:nvPr/>
        </p:nvSpPr>
        <p:spPr>
          <a:xfrm>
            <a:off x="6254496" y="1280160"/>
            <a:ext cx="457200" cy="457200"/>
          </a:xfrm>
          <a:prstGeom prst="ellipse">
            <a:avLst/>
          </a:prstGeom>
          <a:solidFill>
            <a:schemeClr val="accent1"/>
          </a:solidFill>
          <a:ln/>
        </p:spPr>
        <p:txBody>
          <a:bodyPr/>
          <a:lstStyle/>
          <a:p>
            <a:endParaRPr lang="it-IT" noProof="0" dirty="0"/>
          </a:p>
        </p:txBody>
      </p:sp>
      <p:pic>
        <p:nvPicPr>
          <p:cNvPr id="16" name="Image 2" descr="FiEdit3"/>
          <p:cNvPicPr>
            <a:picLocks noChangeAspect="1"/>
          </p:cNvPicPr>
          <p:nvPr/>
        </p:nvPicPr>
        <p:blipFill>
          <a:blip r:embed="rId5"/>
          <a:stretch>
            <a:fillRect/>
          </a:stretch>
        </p:blipFill>
        <p:spPr>
          <a:xfrm>
            <a:off x="6368796" y="1394460"/>
            <a:ext cx="228600" cy="228600"/>
          </a:xfrm>
          <a:prstGeom prst="rect">
            <a:avLst/>
          </a:prstGeom>
        </p:spPr>
      </p:pic>
      <p:sp>
        <p:nvSpPr>
          <p:cNvPr id="17" name="Text 11"/>
          <p:cNvSpPr txBox="1"/>
          <p:nvPr/>
        </p:nvSpPr>
        <p:spPr>
          <a:xfrm>
            <a:off x="6254496" y="1847088"/>
            <a:ext cx="2249424" cy="347472"/>
          </a:xfrm>
          <a:prstGeom prst="rect">
            <a:avLst/>
          </a:prstGeom>
          <a:noFill/>
          <a:ln/>
        </p:spPr>
        <p:txBody>
          <a:bodyPr wrap="square" lIns="0" tIns="0" rIns="0" bIns="0" rtlCol="0" anchor="t"/>
          <a:lstStyle/>
          <a:p>
            <a:pPr marL="0" indent="0">
              <a:buNone/>
            </a:pPr>
            <a:r>
              <a:rPr lang="it-IT" sz="1600" b="1" noProof="0" dirty="0">
                <a:solidFill>
                  <a:schemeClr val="tx1"/>
                </a:solidFill>
              </a:rPr>
              <a:t>Generativa</a:t>
            </a:r>
            <a:endParaRPr lang="it-IT" sz="1600" noProof="0" dirty="0"/>
          </a:p>
        </p:txBody>
      </p:sp>
      <p:sp>
        <p:nvSpPr>
          <p:cNvPr id="18" name="Text 12"/>
          <p:cNvSpPr txBox="1"/>
          <p:nvPr/>
        </p:nvSpPr>
        <p:spPr>
          <a:xfrm>
            <a:off x="6254496" y="2231136"/>
            <a:ext cx="2249424" cy="1911096"/>
          </a:xfrm>
          <a:prstGeom prst="rect">
            <a:avLst/>
          </a:prstGeom>
          <a:noFill/>
          <a:ln/>
        </p:spPr>
        <p:txBody>
          <a:bodyPr wrap="square" lIns="0" tIns="0" rIns="0" bIns="0" rtlCol="0" anchor="t"/>
          <a:lstStyle/>
          <a:p>
            <a:pPr marL="0" indent="0">
              <a:spcAft>
                <a:spcPts val="800"/>
              </a:spcAft>
              <a:buNone/>
            </a:pPr>
            <a:r>
              <a:rPr lang="it-IT" sz="1300" b="1" noProof="0" dirty="0">
                <a:solidFill>
                  <a:schemeClr val="accent1"/>
                </a:solidFill>
              </a:rPr>
              <a:t>Produce contenuti nuovi</a:t>
            </a:r>
            <a:endParaRPr lang="it-IT" sz="1300" noProof="0" dirty="0"/>
          </a:p>
          <a:p>
            <a:pPr marL="177800" indent="-177800">
              <a:spcAft>
                <a:spcPts val="300"/>
              </a:spcAft>
              <a:buSzPct val="100000"/>
              <a:buChar char="•"/>
            </a:pPr>
            <a:r>
              <a:rPr lang="it-IT" sz="1300" noProof="0" dirty="0">
                <a:solidFill>
                  <a:schemeClr val="tx2"/>
                </a:solidFill>
              </a:rPr>
              <a:t>Bozza di una email</a:t>
            </a:r>
            <a:endParaRPr lang="it-IT" sz="1300" noProof="0" dirty="0"/>
          </a:p>
          <a:p>
            <a:pPr marL="177800" indent="-177800">
              <a:spcAft>
                <a:spcPts val="300"/>
              </a:spcAft>
              <a:buSzPct val="100000"/>
              <a:buChar char="•"/>
            </a:pPr>
            <a:r>
              <a:rPr lang="it-IT" sz="1300" noProof="0" dirty="0">
                <a:solidFill>
                  <a:schemeClr val="tx2"/>
                </a:solidFill>
              </a:rPr>
              <a:t>Sintesi di un documento</a:t>
            </a:r>
            <a:endParaRPr lang="it-IT" sz="1300" noProof="0" dirty="0"/>
          </a:p>
          <a:p>
            <a:pPr marL="177800" indent="-177800">
              <a:spcAft>
                <a:spcPts val="300"/>
              </a:spcAft>
              <a:buSzPct val="100000"/>
              <a:buChar char="•"/>
            </a:pPr>
            <a:r>
              <a:rPr lang="it-IT" sz="1300" noProof="0" dirty="0">
                <a:solidFill>
                  <a:schemeClr val="tx2"/>
                </a:solidFill>
              </a:rPr>
              <a:t>Immagine da una descrizione</a:t>
            </a:r>
            <a:endParaRPr lang="it-IT" sz="1300" noProof="0" dirty="0"/>
          </a:p>
        </p:txBody>
      </p:sp>
      <p:sp>
        <p:nvSpPr>
          <p:cNvPr id="19" name="Text 13"/>
          <p:cNvSpPr txBox="1"/>
          <p:nvPr/>
        </p:nvSpPr>
        <p:spPr>
          <a:xfrm>
            <a:off x="457200" y="4343400"/>
            <a:ext cx="8229600" cy="320040"/>
          </a:xfrm>
          <a:prstGeom prst="rect">
            <a:avLst/>
          </a:prstGeom>
          <a:noFill/>
          <a:ln/>
        </p:spPr>
        <p:txBody>
          <a:bodyPr wrap="square" lIns="0" tIns="0" rIns="0" bIns="0" rtlCol="0" anchor="t"/>
          <a:lstStyle/>
          <a:p>
            <a:pPr marL="0" indent="0">
              <a:buNone/>
            </a:pPr>
            <a:r>
              <a:rPr lang="it-IT" sz="1300" i="1" noProof="0" dirty="0">
                <a:solidFill>
                  <a:schemeClr val="tx1"/>
                </a:solidFill>
              </a:rPr>
              <a:t>I confini non sono rigidi: le tre funzioni si combinano spesso nello stesso processo.</a:t>
            </a:r>
            <a:endParaRPr lang="it-IT" sz="13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noProof="0" smtClean="0"/>
              <a:t>33</a:t>
            </a:fld>
            <a:endParaRPr lang="it-IT" noProof="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AI multimodale</a:t>
            </a:r>
            <a:endParaRPr lang="it-IT" sz="2600" noProof="0" dirty="0"/>
          </a:p>
        </p:txBody>
      </p:sp>
      <p:sp>
        <p:nvSpPr>
          <p:cNvPr id="4" name="modello multimodale"/>
          <p:cNvSpPr/>
          <p:nvPr/>
        </p:nvSpPr>
        <p:spPr>
          <a:xfrm>
            <a:off x="3246120" y="2148840"/>
            <a:ext cx="2651760" cy="1188720"/>
          </a:xfrm>
          <a:prstGeom prst="roundRect">
            <a:avLst>
              <a:gd name="adj" fmla="val 6154"/>
            </a:avLst>
          </a:prstGeom>
          <a:solidFill>
            <a:schemeClr val="accent1"/>
          </a:solidFill>
          <a:ln/>
        </p:spPr>
        <p:txBody>
          <a:bodyPr/>
          <a:lstStyle/>
          <a:p>
            <a:endParaRPr lang="it-IT" noProof="0" dirty="0"/>
          </a:p>
        </p:txBody>
      </p:sp>
      <p:sp>
        <p:nvSpPr>
          <p:cNvPr id="5" name="Text 2"/>
          <p:cNvSpPr txBox="1"/>
          <p:nvPr/>
        </p:nvSpPr>
        <p:spPr>
          <a:xfrm>
            <a:off x="3291840" y="2148840"/>
            <a:ext cx="2560320" cy="1188720"/>
          </a:xfrm>
          <a:prstGeom prst="rect">
            <a:avLst/>
          </a:prstGeom>
          <a:noFill/>
          <a:ln/>
        </p:spPr>
        <p:txBody>
          <a:bodyPr wrap="square" lIns="0" tIns="0" rIns="0" bIns="0" rtlCol="0" anchor="ctr"/>
          <a:lstStyle/>
          <a:p>
            <a:pPr marL="0" indent="0" algn="ctr">
              <a:buNone/>
            </a:pPr>
            <a:r>
              <a:rPr lang="it-IT" sz="1600" b="1" noProof="0" dirty="0">
                <a:solidFill>
                  <a:schemeClr val="bg1"/>
                </a:solidFill>
              </a:rPr>
              <a:t>Modello multimodale</a:t>
            </a:r>
            <a:endParaRPr lang="it-IT" sz="1600" noProof="0" dirty="0"/>
          </a:p>
        </p:txBody>
      </p:sp>
      <p:sp>
        <p:nvSpPr>
          <p:cNvPr id="6" name="cerchio FiFileText"/>
          <p:cNvSpPr/>
          <p:nvPr/>
        </p:nvSpPr>
        <p:spPr>
          <a:xfrm>
            <a:off x="457200" y="1097280"/>
            <a:ext cx="502920" cy="502920"/>
          </a:xfrm>
          <a:prstGeom prst="ellipse">
            <a:avLst/>
          </a:prstGeom>
          <a:solidFill>
            <a:schemeClr val="accent1"/>
          </a:solidFill>
          <a:ln/>
        </p:spPr>
        <p:txBody>
          <a:bodyPr/>
          <a:lstStyle/>
          <a:p>
            <a:endParaRPr lang="it-IT" noProof="0" dirty="0"/>
          </a:p>
        </p:txBody>
      </p:sp>
      <p:pic>
        <p:nvPicPr>
          <p:cNvPr id="7" name="Image 0" descr="FiFileText"/>
          <p:cNvPicPr>
            <a:picLocks noChangeAspect="1"/>
          </p:cNvPicPr>
          <p:nvPr/>
        </p:nvPicPr>
        <p:blipFill>
          <a:blip r:embed="rId3"/>
          <a:stretch>
            <a:fillRect/>
          </a:stretch>
        </p:blipFill>
        <p:spPr>
          <a:xfrm>
            <a:off x="582930" y="1223010"/>
            <a:ext cx="251460" cy="251460"/>
          </a:xfrm>
          <a:prstGeom prst="rect">
            <a:avLst/>
          </a:prstGeom>
        </p:spPr>
      </p:pic>
      <p:sp>
        <p:nvSpPr>
          <p:cNvPr id="8" name="Text 4"/>
          <p:cNvSpPr txBox="1"/>
          <p:nvPr/>
        </p:nvSpPr>
        <p:spPr>
          <a:xfrm>
            <a:off x="1051560" y="1097280"/>
            <a:ext cx="1280160" cy="502920"/>
          </a:xfrm>
          <a:prstGeom prst="rect">
            <a:avLst/>
          </a:prstGeom>
          <a:noFill/>
          <a:ln/>
        </p:spPr>
        <p:txBody>
          <a:bodyPr wrap="square" lIns="0" tIns="0" rIns="0" bIns="0" rtlCol="0" anchor="ctr"/>
          <a:lstStyle/>
          <a:p>
            <a:pPr marL="0" indent="0">
              <a:buNone/>
            </a:pPr>
            <a:r>
              <a:rPr lang="it-IT" sz="1400" b="1" noProof="0" dirty="0">
                <a:solidFill>
                  <a:schemeClr val="tx1"/>
                </a:solidFill>
              </a:rPr>
              <a:t>Testo</a:t>
            </a:r>
            <a:endParaRPr lang="it-IT" sz="1400" noProof="0" dirty="0"/>
          </a:p>
        </p:txBody>
      </p:sp>
      <p:sp>
        <p:nvSpPr>
          <p:cNvPr id="9" name="cerchio FiImage"/>
          <p:cNvSpPr/>
          <p:nvPr/>
        </p:nvSpPr>
        <p:spPr>
          <a:xfrm>
            <a:off x="457200" y="1783080"/>
            <a:ext cx="502920" cy="502920"/>
          </a:xfrm>
          <a:prstGeom prst="ellipse">
            <a:avLst/>
          </a:prstGeom>
          <a:solidFill>
            <a:schemeClr val="accent1"/>
          </a:solidFill>
          <a:ln/>
        </p:spPr>
        <p:txBody>
          <a:bodyPr/>
          <a:lstStyle/>
          <a:p>
            <a:endParaRPr lang="it-IT" noProof="0" dirty="0"/>
          </a:p>
        </p:txBody>
      </p:sp>
      <p:pic>
        <p:nvPicPr>
          <p:cNvPr id="10" name="Image 1" descr="FiImage"/>
          <p:cNvPicPr>
            <a:picLocks noChangeAspect="1"/>
          </p:cNvPicPr>
          <p:nvPr/>
        </p:nvPicPr>
        <p:blipFill>
          <a:blip r:embed="rId4"/>
          <a:stretch>
            <a:fillRect/>
          </a:stretch>
        </p:blipFill>
        <p:spPr>
          <a:xfrm>
            <a:off x="582930" y="1908810"/>
            <a:ext cx="251460" cy="251460"/>
          </a:xfrm>
          <a:prstGeom prst="rect">
            <a:avLst/>
          </a:prstGeom>
        </p:spPr>
      </p:pic>
      <p:sp>
        <p:nvSpPr>
          <p:cNvPr id="11" name="Text 6"/>
          <p:cNvSpPr txBox="1"/>
          <p:nvPr/>
        </p:nvSpPr>
        <p:spPr>
          <a:xfrm>
            <a:off x="1051560" y="1783080"/>
            <a:ext cx="1280160" cy="502920"/>
          </a:xfrm>
          <a:prstGeom prst="rect">
            <a:avLst/>
          </a:prstGeom>
          <a:noFill/>
          <a:ln/>
        </p:spPr>
        <p:txBody>
          <a:bodyPr wrap="square" lIns="0" tIns="0" rIns="0" bIns="0" rtlCol="0" anchor="ctr"/>
          <a:lstStyle/>
          <a:p>
            <a:pPr marL="0" indent="0">
              <a:buNone/>
            </a:pPr>
            <a:r>
              <a:rPr lang="it-IT" sz="1400" b="1" noProof="0" dirty="0">
                <a:solidFill>
                  <a:schemeClr val="tx1"/>
                </a:solidFill>
              </a:rPr>
              <a:t>Immagini</a:t>
            </a:r>
            <a:endParaRPr lang="it-IT" sz="1400" noProof="0" dirty="0"/>
          </a:p>
        </p:txBody>
      </p:sp>
      <p:sp>
        <p:nvSpPr>
          <p:cNvPr id="12" name="cerchio FiMic"/>
          <p:cNvSpPr/>
          <p:nvPr/>
        </p:nvSpPr>
        <p:spPr>
          <a:xfrm>
            <a:off x="457200" y="2468880"/>
            <a:ext cx="502920" cy="502920"/>
          </a:xfrm>
          <a:prstGeom prst="ellipse">
            <a:avLst/>
          </a:prstGeom>
          <a:solidFill>
            <a:schemeClr val="accent1"/>
          </a:solidFill>
          <a:ln/>
        </p:spPr>
        <p:txBody>
          <a:bodyPr/>
          <a:lstStyle/>
          <a:p>
            <a:endParaRPr lang="it-IT" noProof="0" dirty="0"/>
          </a:p>
        </p:txBody>
      </p:sp>
      <p:pic>
        <p:nvPicPr>
          <p:cNvPr id="13" name="Image 2" descr="FiMic"/>
          <p:cNvPicPr>
            <a:picLocks noChangeAspect="1"/>
          </p:cNvPicPr>
          <p:nvPr/>
        </p:nvPicPr>
        <p:blipFill>
          <a:blip r:embed="rId5"/>
          <a:stretch>
            <a:fillRect/>
          </a:stretch>
        </p:blipFill>
        <p:spPr>
          <a:xfrm>
            <a:off x="582930" y="2594610"/>
            <a:ext cx="251460" cy="251460"/>
          </a:xfrm>
          <a:prstGeom prst="rect">
            <a:avLst/>
          </a:prstGeom>
        </p:spPr>
      </p:pic>
      <p:sp>
        <p:nvSpPr>
          <p:cNvPr id="14" name="Text 8"/>
          <p:cNvSpPr txBox="1"/>
          <p:nvPr/>
        </p:nvSpPr>
        <p:spPr>
          <a:xfrm>
            <a:off x="1051560" y="2468880"/>
            <a:ext cx="1280160" cy="502920"/>
          </a:xfrm>
          <a:prstGeom prst="rect">
            <a:avLst/>
          </a:prstGeom>
          <a:noFill/>
          <a:ln/>
        </p:spPr>
        <p:txBody>
          <a:bodyPr wrap="square" lIns="0" tIns="0" rIns="0" bIns="0" rtlCol="0" anchor="ctr"/>
          <a:lstStyle/>
          <a:p>
            <a:pPr marL="0" indent="0">
              <a:buNone/>
            </a:pPr>
            <a:r>
              <a:rPr lang="it-IT" sz="1400" b="1" noProof="0" dirty="0">
                <a:solidFill>
                  <a:schemeClr val="tx1"/>
                </a:solidFill>
              </a:rPr>
              <a:t>Audio</a:t>
            </a:r>
            <a:endParaRPr lang="it-IT" sz="1400" noProof="0" dirty="0"/>
          </a:p>
        </p:txBody>
      </p:sp>
      <p:sp>
        <p:nvSpPr>
          <p:cNvPr id="15" name="cerchio FiFilm"/>
          <p:cNvSpPr/>
          <p:nvPr/>
        </p:nvSpPr>
        <p:spPr>
          <a:xfrm>
            <a:off x="457200" y="3154680"/>
            <a:ext cx="502920" cy="502920"/>
          </a:xfrm>
          <a:prstGeom prst="ellipse">
            <a:avLst/>
          </a:prstGeom>
          <a:solidFill>
            <a:schemeClr val="accent1"/>
          </a:solidFill>
          <a:ln/>
        </p:spPr>
        <p:txBody>
          <a:bodyPr/>
          <a:lstStyle/>
          <a:p>
            <a:endParaRPr lang="it-IT" noProof="0" dirty="0"/>
          </a:p>
        </p:txBody>
      </p:sp>
      <p:pic>
        <p:nvPicPr>
          <p:cNvPr id="16" name="Image 3" descr="FiFilm"/>
          <p:cNvPicPr>
            <a:picLocks noChangeAspect="1"/>
          </p:cNvPicPr>
          <p:nvPr/>
        </p:nvPicPr>
        <p:blipFill>
          <a:blip r:embed="rId6"/>
          <a:stretch>
            <a:fillRect/>
          </a:stretch>
        </p:blipFill>
        <p:spPr>
          <a:xfrm>
            <a:off x="582930" y="3280410"/>
            <a:ext cx="251460" cy="251460"/>
          </a:xfrm>
          <a:prstGeom prst="rect">
            <a:avLst/>
          </a:prstGeom>
        </p:spPr>
      </p:pic>
      <p:sp>
        <p:nvSpPr>
          <p:cNvPr id="17" name="Text 10"/>
          <p:cNvSpPr txBox="1"/>
          <p:nvPr/>
        </p:nvSpPr>
        <p:spPr>
          <a:xfrm>
            <a:off x="1051560" y="3154680"/>
            <a:ext cx="1280160" cy="502920"/>
          </a:xfrm>
          <a:prstGeom prst="rect">
            <a:avLst/>
          </a:prstGeom>
          <a:noFill/>
          <a:ln/>
        </p:spPr>
        <p:txBody>
          <a:bodyPr wrap="square" lIns="0" tIns="0" rIns="0" bIns="0" rtlCol="0" anchor="ctr"/>
          <a:lstStyle/>
          <a:p>
            <a:pPr marL="0" indent="0">
              <a:buNone/>
            </a:pPr>
            <a:r>
              <a:rPr lang="it-IT" sz="1400" b="1" noProof="0" dirty="0">
                <a:solidFill>
                  <a:schemeClr val="tx1"/>
                </a:solidFill>
              </a:rPr>
              <a:t>Video</a:t>
            </a:r>
            <a:endParaRPr lang="it-IT" sz="1400" noProof="0" dirty="0"/>
          </a:p>
        </p:txBody>
      </p:sp>
      <p:sp>
        <p:nvSpPr>
          <p:cNvPr id="18" name="cerchio FiGrid"/>
          <p:cNvSpPr/>
          <p:nvPr/>
        </p:nvSpPr>
        <p:spPr>
          <a:xfrm>
            <a:off x="457200" y="3840480"/>
            <a:ext cx="502920" cy="502920"/>
          </a:xfrm>
          <a:prstGeom prst="ellipse">
            <a:avLst/>
          </a:prstGeom>
          <a:solidFill>
            <a:schemeClr val="accent1"/>
          </a:solidFill>
          <a:ln/>
        </p:spPr>
        <p:txBody>
          <a:bodyPr/>
          <a:lstStyle/>
          <a:p>
            <a:endParaRPr lang="it-IT" noProof="0" dirty="0"/>
          </a:p>
        </p:txBody>
      </p:sp>
      <p:pic>
        <p:nvPicPr>
          <p:cNvPr id="19" name="Image 4" descr="FiGrid"/>
          <p:cNvPicPr>
            <a:picLocks noChangeAspect="1"/>
          </p:cNvPicPr>
          <p:nvPr/>
        </p:nvPicPr>
        <p:blipFill>
          <a:blip r:embed="rId7"/>
          <a:stretch>
            <a:fillRect/>
          </a:stretch>
        </p:blipFill>
        <p:spPr>
          <a:xfrm>
            <a:off x="582930" y="3966210"/>
            <a:ext cx="251460" cy="251460"/>
          </a:xfrm>
          <a:prstGeom prst="rect">
            <a:avLst/>
          </a:prstGeom>
        </p:spPr>
      </p:pic>
      <p:sp>
        <p:nvSpPr>
          <p:cNvPr id="20" name="Text 12"/>
          <p:cNvSpPr txBox="1"/>
          <p:nvPr/>
        </p:nvSpPr>
        <p:spPr>
          <a:xfrm>
            <a:off x="1051560" y="3840480"/>
            <a:ext cx="1280160" cy="502920"/>
          </a:xfrm>
          <a:prstGeom prst="rect">
            <a:avLst/>
          </a:prstGeom>
          <a:noFill/>
          <a:ln/>
        </p:spPr>
        <p:txBody>
          <a:bodyPr wrap="square" lIns="0" tIns="0" rIns="0" bIns="0" rtlCol="0" anchor="ctr"/>
          <a:lstStyle/>
          <a:p>
            <a:pPr marL="0" indent="0">
              <a:buNone/>
            </a:pPr>
            <a:r>
              <a:rPr lang="it-IT" sz="1400" b="1" noProof="0" dirty="0">
                <a:solidFill>
                  <a:schemeClr val="tx1"/>
                </a:solidFill>
              </a:rPr>
              <a:t>Tabelle</a:t>
            </a:r>
            <a:endParaRPr lang="it-IT" sz="1400" noProof="0" dirty="0"/>
          </a:p>
        </p:txBody>
      </p:sp>
      <p:sp>
        <p:nvSpPr>
          <p:cNvPr id="21" name="freccia"/>
          <p:cNvSpPr/>
          <p:nvPr/>
        </p:nvSpPr>
        <p:spPr>
          <a:xfrm>
            <a:off x="2377440" y="2596896"/>
            <a:ext cx="731520" cy="292608"/>
          </a:xfrm>
          <a:prstGeom prst="rightArrow">
            <a:avLst/>
          </a:prstGeom>
          <a:solidFill>
            <a:schemeClr val="accent2"/>
          </a:solidFill>
          <a:ln/>
        </p:spPr>
        <p:txBody>
          <a:bodyPr/>
          <a:lstStyle/>
          <a:p>
            <a:endParaRPr lang="it-IT" noProof="0" dirty="0"/>
          </a:p>
        </p:txBody>
      </p:sp>
      <p:sp>
        <p:nvSpPr>
          <p:cNvPr id="22" name="freccia"/>
          <p:cNvSpPr/>
          <p:nvPr/>
        </p:nvSpPr>
        <p:spPr>
          <a:xfrm>
            <a:off x="6035040" y="2596896"/>
            <a:ext cx="548640" cy="292608"/>
          </a:xfrm>
          <a:prstGeom prst="rightArrow">
            <a:avLst/>
          </a:prstGeom>
          <a:solidFill>
            <a:schemeClr val="accent2"/>
          </a:solidFill>
          <a:ln/>
        </p:spPr>
        <p:txBody>
          <a:bodyPr/>
          <a:lstStyle/>
          <a:p>
            <a:endParaRPr lang="it-IT" noProof="0" dirty="0"/>
          </a:p>
        </p:txBody>
      </p:sp>
      <p:sp>
        <p:nvSpPr>
          <p:cNvPr id="23" name="Text 15"/>
          <p:cNvSpPr txBox="1"/>
          <p:nvPr/>
        </p:nvSpPr>
        <p:spPr>
          <a:xfrm>
            <a:off x="6720840" y="1097280"/>
            <a:ext cx="1965960" cy="274320"/>
          </a:xfrm>
          <a:prstGeom prst="rect">
            <a:avLst/>
          </a:prstGeom>
          <a:noFill/>
          <a:ln/>
        </p:spPr>
        <p:txBody>
          <a:bodyPr wrap="square" lIns="0" tIns="0" rIns="0" bIns="0" rtlCol="0" anchor="t"/>
          <a:lstStyle/>
          <a:p>
            <a:pPr marL="0" indent="0">
              <a:buNone/>
            </a:pPr>
            <a:r>
              <a:rPr lang="it-IT" sz="1400" b="1" noProof="0" dirty="0">
                <a:solidFill>
                  <a:schemeClr val="tx1"/>
                </a:solidFill>
              </a:rPr>
              <a:t>Esempi</a:t>
            </a:r>
            <a:endParaRPr lang="it-IT" sz="1400" noProof="0" dirty="0"/>
          </a:p>
        </p:txBody>
      </p:sp>
      <p:sp>
        <p:nvSpPr>
          <p:cNvPr id="24" name="Estrarre i dati da un documento fotografato"/>
          <p:cNvSpPr/>
          <p:nvPr/>
        </p:nvSpPr>
        <p:spPr>
          <a:xfrm>
            <a:off x="6720840" y="1463040"/>
            <a:ext cx="1965960" cy="685800"/>
          </a:xfrm>
          <a:prstGeom prst="roundRect">
            <a:avLst>
              <a:gd name="adj" fmla="val 10667"/>
            </a:avLst>
          </a:prstGeom>
          <a:solidFill>
            <a:schemeClr val="bg2"/>
          </a:solidFill>
          <a:ln/>
        </p:spPr>
        <p:txBody>
          <a:bodyPr/>
          <a:lstStyle/>
          <a:p>
            <a:endParaRPr lang="it-IT" noProof="0" dirty="0"/>
          </a:p>
        </p:txBody>
      </p:sp>
      <p:sp>
        <p:nvSpPr>
          <p:cNvPr id="25" name="Text 17"/>
          <p:cNvSpPr txBox="1"/>
          <p:nvPr/>
        </p:nvSpPr>
        <p:spPr>
          <a:xfrm>
            <a:off x="6812280" y="1463040"/>
            <a:ext cx="1783080" cy="685800"/>
          </a:xfrm>
          <a:prstGeom prst="rect">
            <a:avLst/>
          </a:prstGeom>
          <a:noFill/>
          <a:ln/>
        </p:spPr>
        <p:txBody>
          <a:bodyPr wrap="square" lIns="0" tIns="0" rIns="0" bIns="0" rtlCol="0" anchor="ctr"/>
          <a:lstStyle/>
          <a:p>
            <a:pPr marL="0" indent="0">
              <a:buNone/>
            </a:pPr>
            <a:r>
              <a:rPr lang="it-IT" sz="1200" noProof="0" dirty="0">
                <a:solidFill>
                  <a:schemeClr val="tx1"/>
                </a:solidFill>
              </a:rPr>
              <a:t>Estrarre i dati da un documento fotografato</a:t>
            </a:r>
            <a:endParaRPr lang="it-IT" sz="1200" noProof="0" dirty="0"/>
          </a:p>
        </p:txBody>
      </p:sp>
      <p:sp>
        <p:nvSpPr>
          <p:cNvPr id="26" name="Commentare un grafico"/>
          <p:cNvSpPr/>
          <p:nvPr/>
        </p:nvSpPr>
        <p:spPr>
          <a:xfrm>
            <a:off x="6720840" y="2240280"/>
            <a:ext cx="1965960" cy="685800"/>
          </a:xfrm>
          <a:prstGeom prst="roundRect">
            <a:avLst>
              <a:gd name="adj" fmla="val 10667"/>
            </a:avLst>
          </a:prstGeom>
          <a:solidFill>
            <a:schemeClr val="bg2"/>
          </a:solidFill>
          <a:ln/>
        </p:spPr>
        <p:txBody>
          <a:bodyPr/>
          <a:lstStyle/>
          <a:p>
            <a:endParaRPr lang="it-IT" noProof="0" dirty="0"/>
          </a:p>
        </p:txBody>
      </p:sp>
      <p:sp>
        <p:nvSpPr>
          <p:cNvPr id="27" name="Text 19"/>
          <p:cNvSpPr txBox="1"/>
          <p:nvPr/>
        </p:nvSpPr>
        <p:spPr>
          <a:xfrm>
            <a:off x="6812280" y="2240280"/>
            <a:ext cx="1783080" cy="685800"/>
          </a:xfrm>
          <a:prstGeom prst="rect">
            <a:avLst/>
          </a:prstGeom>
          <a:noFill/>
          <a:ln/>
        </p:spPr>
        <p:txBody>
          <a:bodyPr wrap="square" lIns="0" tIns="0" rIns="0" bIns="0" rtlCol="0" anchor="ctr"/>
          <a:lstStyle/>
          <a:p>
            <a:pPr marL="0" indent="0">
              <a:buNone/>
            </a:pPr>
            <a:r>
              <a:rPr lang="it-IT" sz="1200" noProof="0" dirty="0">
                <a:solidFill>
                  <a:schemeClr val="tx1"/>
                </a:solidFill>
              </a:rPr>
              <a:t>Commentare un grafico</a:t>
            </a:r>
            <a:endParaRPr lang="it-IT" sz="1200" noProof="0" dirty="0"/>
          </a:p>
        </p:txBody>
      </p:sp>
      <p:sp>
        <p:nvSpPr>
          <p:cNvPr id="28" name="Dalla registrazione al verbale"/>
          <p:cNvSpPr/>
          <p:nvPr/>
        </p:nvSpPr>
        <p:spPr>
          <a:xfrm>
            <a:off x="6720840" y="3017520"/>
            <a:ext cx="1965960" cy="685800"/>
          </a:xfrm>
          <a:prstGeom prst="roundRect">
            <a:avLst>
              <a:gd name="adj" fmla="val 10667"/>
            </a:avLst>
          </a:prstGeom>
          <a:solidFill>
            <a:schemeClr val="bg2"/>
          </a:solidFill>
          <a:ln/>
        </p:spPr>
        <p:txBody>
          <a:bodyPr/>
          <a:lstStyle/>
          <a:p>
            <a:endParaRPr lang="it-IT" noProof="0" dirty="0"/>
          </a:p>
        </p:txBody>
      </p:sp>
      <p:sp>
        <p:nvSpPr>
          <p:cNvPr id="29" name="Text 21"/>
          <p:cNvSpPr txBox="1"/>
          <p:nvPr/>
        </p:nvSpPr>
        <p:spPr>
          <a:xfrm>
            <a:off x="6812280" y="3017520"/>
            <a:ext cx="1783080" cy="685800"/>
          </a:xfrm>
          <a:prstGeom prst="rect">
            <a:avLst/>
          </a:prstGeom>
          <a:noFill/>
          <a:ln/>
        </p:spPr>
        <p:txBody>
          <a:bodyPr wrap="square" lIns="0" tIns="0" rIns="0" bIns="0" rtlCol="0" anchor="ctr"/>
          <a:lstStyle/>
          <a:p>
            <a:pPr marL="0" indent="0">
              <a:buNone/>
            </a:pPr>
            <a:r>
              <a:rPr lang="it-IT" sz="1200" noProof="0" dirty="0">
                <a:solidFill>
                  <a:schemeClr val="tx1"/>
                </a:solidFill>
              </a:rPr>
              <a:t>Dalla registrazione al verbale</a:t>
            </a:r>
            <a:endParaRPr lang="it-IT" sz="1200" noProof="0" dirty="0"/>
          </a:p>
        </p:txBody>
      </p:sp>
      <p:sp>
        <p:nvSpPr>
          <p:cNvPr id="30" name="Domanda a voce, risposta parlata"/>
          <p:cNvSpPr/>
          <p:nvPr/>
        </p:nvSpPr>
        <p:spPr>
          <a:xfrm>
            <a:off x="6720840" y="3794760"/>
            <a:ext cx="1965960" cy="685800"/>
          </a:xfrm>
          <a:prstGeom prst="roundRect">
            <a:avLst>
              <a:gd name="adj" fmla="val 10667"/>
            </a:avLst>
          </a:prstGeom>
          <a:solidFill>
            <a:schemeClr val="bg2"/>
          </a:solidFill>
          <a:ln/>
        </p:spPr>
        <p:txBody>
          <a:bodyPr/>
          <a:lstStyle/>
          <a:p>
            <a:endParaRPr lang="it-IT" noProof="0" dirty="0"/>
          </a:p>
        </p:txBody>
      </p:sp>
      <p:sp>
        <p:nvSpPr>
          <p:cNvPr id="31" name="Text 23"/>
          <p:cNvSpPr txBox="1"/>
          <p:nvPr/>
        </p:nvSpPr>
        <p:spPr>
          <a:xfrm>
            <a:off x="6812280" y="3794760"/>
            <a:ext cx="1783080" cy="685800"/>
          </a:xfrm>
          <a:prstGeom prst="rect">
            <a:avLst/>
          </a:prstGeom>
          <a:noFill/>
          <a:ln/>
        </p:spPr>
        <p:txBody>
          <a:bodyPr wrap="square" lIns="0" tIns="0" rIns="0" bIns="0" rtlCol="0" anchor="ctr"/>
          <a:lstStyle/>
          <a:p>
            <a:pPr marL="0" indent="0">
              <a:buNone/>
            </a:pPr>
            <a:r>
              <a:rPr lang="it-IT" sz="1200" noProof="0" dirty="0">
                <a:solidFill>
                  <a:schemeClr val="tx1"/>
                </a:solidFill>
              </a:rPr>
              <a:t>Domanda a voce, risposta parlata</a:t>
            </a:r>
            <a:endParaRPr lang="it-IT" sz="1200" noProof="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noProof="0" smtClean="0"/>
              <a:t>34</a:t>
            </a:fld>
            <a:endParaRPr lang="it-IT" noProof="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Quale approccio per quale problema</a:t>
            </a:r>
            <a:endParaRPr lang="it-IT" sz="2600" noProof="0" dirty="0"/>
          </a:p>
        </p:txBody>
      </p:sp>
      <p:graphicFrame>
        <p:nvGraphicFramePr>
          <p:cNvPr id="20" name="Table 0"/>
          <p:cNvGraphicFramePr>
            <a:graphicFrameLocks noGrp="1"/>
          </p:cNvGraphicFramePr>
          <p:nvPr>
            <p:extLst>
              <p:ext uri="{D42A27DB-BD31-4B8C-83A1-F6EECF244321}">
                <p14:modId xmlns:p14="http://schemas.microsoft.com/office/powerpoint/2010/main" val="4026927673"/>
              </p:ext>
            </p:extLst>
          </p:nvPr>
        </p:nvGraphicFramePr>
        <p:xfrm>
          <a:off x="457200" y="1097280"/>
          <a:ext cx="8229600" cy="3072384"/>
        </p:xfrm>
        <a:graphic>
          <a:graphicData uri="http://schemas.openxmlformats.org/drawingml/2006/table">
            <a:tbl>
              <a:tblPr/>
              <a:tblGrid>
                <a:gridCol w="493776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tblGrid>
              <a:tr h="512064">
                <a:tc>
                  <a:txBody>
                    <a:bodyPr/>
                    <a:lstStyle/>
                    <a:p>
                      <a:pPr marL="0" indent="0">
                        <a:buNone/>
                      </a:pPr>
                      <a:r>
                        <a:rPr lang="it-IT" sz="1300" b="1" noProof="0" dirty="0">
                          <a:solidFill>
                            <a:schemeClr val="bg1"/>
                          </a:solidFill>
                        </a:rPr>
                        <a:t>Problema</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it-IT" sz="1300" b="1" noProof="0" dirty="0">
                          <a:solidFill>
                            <a:schemeClr val="bg1"/>
                          </a:solidFill>
                        </a:rPr>
                        <a:t>Approccio più adatto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12064">
                <a:tc>
                  <a:txBody>
                    <a:bodyPr/>
                    <a:lstStyle/>
                    <a:p>
                      <a:pPr marL="0" indent="0">
                        <a:buNone/>
                      </a:pPr>
                      <a:r>
                        <a:rPr lang="it-IT" sz="1300" b="1" noProof="0" dirty="0">
                          <a:solidFill>
                            <a:schemeClr val="tx1"/>
                          </a:solidFill>
                        </a:rPr>
                        <a:t>Regole chiare e stabili (calcolo di uno sconto contrattuale)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Regole o software tradizionale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512064">
                <a:tc>
                  <a:txBody>
                    <a:bodyPr/>
                    <a:lstStyle/>
                    <a:p>
                      <a:pPr marL="0" indent="0">
                        <a:buNone/>
                      </a:pPr>
                      <a:r>
                        <a:rPr lang="it-IT" sz="1300" b="1" noProof="0" dirty="0">
                          <a:solidFill>
                            <a:schemeClr val="tx1"/>
                          </a:solidFill>
                        </a:rPr>
                        <a:t>Stimare un valore da dati storici (domanda futura)</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Machine Learning predittivo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2"/>
                  </a:ext>
                </a:extLst>
              </a:tr>
              <a:tr h="512064">
                <a:tc>
                  <a:txBody>
                    <a:bodyPr/>
                    <a:lstStyle/>
                    <a:p>
                      <a:pPr marL="0" indent="0">
                        <a:buNone/>
                      </a:pPr>
                      <a:r>
                        <a:rPr lang="it-IT" sz="1300" b="1" noProof="0" dirty="0">
                          <a:solidFill>
                            <a:schemeClr val="tx1"/>
                          </a:solidFill>
                        </a:rPr>
                        <a:t>Riconoscere difetti in immagini di prodotti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Deep Learning </a:t>
                      </a:r>
                      <a:r>
                        <a:rPr lang="it-IT" sz="1300" noProof="0" dirty="0" err="1">
                          <a:solidFill>
                            <a:schemeClr val="tx1"/>
                          </a:solidFill>
                        </a:rPr>
                        <a:t>classificativo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3"/>
                  </a:ext>
                </a:extLst>
              </a:tr>
              <a:tr h="512064">
                <a:tc>
                  <a:txBody>
                    <a:bodyPr/>
                    <a:lstStyle/>
                    <a:p>
                      <a:pPr marL="0" indent="0">
                        <a:buNone/>
                      </a:pPr>
                      <a:r>
                        <a:rPr lang="it-IT" sz="1300" b="1" noProof="0" dirty="0">
                          <a:solidFill>
                            <a:schemeClr val="tx1"/>
                          </a:solidFill>
                        </a:rPr>
                        <a:t>Scrivere bozze, riassumere, riformulare testi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AI generativa</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4"/>
                  </a:ext>
                </a:extLst>
              </a:tr>
              <a:tr h="512064">
                <a:tc>
                  <a:txBody>
                    <a:bodyPr/>
                    <a:lstStyle/>
                    <a:p>
                      <a:pPr marL="0" indent="0">
                        <a:buNone/>
                      </a:pPr>
                      <a:r>
                        <a:rPr lang="it-IT" sz="1300" b="1" noProof="0" dirty="0">
                          <a:solidFill>
                            <a:schemeClr val="tx1"/>
                          </a:solidFill>
                        </a:rPr>
                        <a:t>Informazioni in forme diverse (foto, scansioni, testo)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AI multimodale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5"/>
                  </a:ext>
                </a:extLst>
              </a:tr>
            </a:tbl>
          </a:graphicData>
        </a:graphic>
      </p:graphicFrame>
      <p:sp>
        <p:nvSpPr>
          <p:cNvPr id="5" name="Text 1"/>
          <p:cNvSpPr txBox="1"/>
          <p:nvPr/>
        </p:nvSpPr>
        <p:spPr>
          <a:xfrm>
            <a:off x="457200" y="4297680"/>
            <a:ext cx="8229600" cy="320040"/>
          </a:xfrm>
          <a:prstGeom prst="rect">
            <a:avLst/>
          </a:prstGeom>
          <a:noFill/>
          <a:ln/>
        </p:spPr>
        <p:txBody>
          <a:bodyPr wrap="square" lIns="0" tIns="0" rIns="0" bIns="0" rtlCol="0" anchor="t"/>
          <a:lstStyle/>
          <a:p>
            <a:pPr marL="0" indent="0">
              <a:buNone/>
            </a:pPr>
            <a:r>
              <a:rPr lang="it-IT" sz="1300" i="1" noProof="0" dirty="0">
                <a:solidFill>
                  <a:schemeClr val="tx1"/>
                </a:solidFill>
              </a:rPr>
              <a:t>La domanda giusta: qual è l'approccio più adatto a questo problema? A volte non è l'AI.</a:t>
            </a:r>
            <a:endParaRPr lang="it-IT" sz="13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noProof="0" smtClean="0"/>
              <a:t>35</a:t>
            </a:fld>
            <a:endParaRPr lang="it-IT" noProof="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it-IT" sz="6000" b="1" noProof="0" dirty="0">
                <a:solidFill>
                  <a:schemeClr val="accent1"/>
                </a:solidFill>
              </a:rPr>
              <a:t>2.3</a:t>
            </a:r>
            <a:endParaRPr lang="it-IT" sz="6000" noProof="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it-IT" sz="3200" b="1" noProof="0" dirty="0">
                <a:solidFill>
                  <a:schemeClr val="bg1"/>
                </a:solidFill>
              </a:rPr>
              <a:t>Come un sistema AI apprende dai dati</a:t>
            </a:r>
            <a:endParaRPr lang="it-IT" sz="3200" noProof="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it-IT" sz="1600" noProof="0" dirty="0">
                <a:solidFill>
                  <a:schemeClr val="accent3"/>
                </a:solidFill>
              </a:rPr>
              <a:t>L'addestramento modifica i parametri del modello; l'inferenza usa il modello per elaborare nuovi input</a:t>
            </a:r>
            <a:endParaRPr lang="it-IT" sz="1600" noProof="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noProof="0" smtClean="0"/>
              <a:t>36</a:t>
            </a:fld>
            <a:endParaRPr lang="it-IT" noProof="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Che cosa significa apprendere dai dati</a:t>
            </a:r>
            <a:endParaRPr lang="it-IT" sz="2600" noProof="0" dirty="0"/>
          </a:p>
        </p:txBody>
      </p:sp>
      <p:sp>
        <p:nvSpPr>
          <p:cNvPr id="4" name="Text 1"/>
          <p:cNvSpPr txBox="1"/>
          <p:nvPr/>
        </p:nvSpPr>
        <p:spPr>
          <a:xfrm>
            <a:off x="457200" y="1051560"/>
            <a:ext cx="5715000" cy="274320"/>
          </a:xfrm>
          <a:prstGeom prst="rect">
            <a:avLst/>
          </a:prstGeom>
          <a:noFill/>
          <a:ln/>
        </p:spPr>
        <p:txBody>
          <a:bodyPr wrap="square" lIns="0" tIns="0" rIns="0" bIns="0" rtlCol="0" anchor="t"/>
          <a:lstStyle/>
          <a:p>
            <a:pPr marL="0" indent="0">
              <a:buNone/>
            </a:pPr>
            <a:r>
              <a:rPr lang="it-IT" sz="1300" b="1" noProof="0" dirty="0">
                <a:solidFill>
                  <a:schemeClr val="tx2"/>
                </a:solidFill>
              </a:rPr>
              <a:t>Stimare il prezzo di un appartamento: decine, centinaia, migliaia di esempi</a:t>
            </a:r>
            <a:endParaRPr lang="it-IT" sz="1300" noProof="0" dirty="0"/>
          </a:p>
        </p:txBody>
      </p:sp>
      <p:graphicFrame>
        <p:nvGraphicFramePr>
          <p:cNvPr id="23" name="Table 0"/>
          <p:cNvGraphicFramePr>
            <a:graphicFrameLocks noGrp="1"/>
          </p:cNvGraphicFramePr>
          <p:nvPr/>
        </p:nvGraphicFramePr>
        <p:xfrm>
          <a:off x="457200" y="1371600"/>
          <a:ext cx="3291840" cy="2057400"/>
        </p:xfrm>
        <a:graphic>
          <a:graphicData uri="http://schemas.openxmlformats.org/drawingml/2006/table">
            <a:tbl>
              <a:tblPr/>
              <a:tblGrid>
                <a:gridCol w="91440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tblGrid>
              <a:tr h="411480">
                <a:tc>
                  <a:txBody>
                    <a:bodyPr/>
                    <a:lstStyle/>
                    <a:p>
                      <a:pPr marL="0" indent="0">
                        <a:buNone/>
                      </a:pPr>
                      <a:r>
                        <a:rPr lang="it-IT" sz="1100" b="1" noProof="0" dirty="0">
                          <a:solidFill>
                            <a:schemeClr val="bg1"/>
                          </a:solidFill>
                        </a:rPr>
                        <a:t>Zona</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it-IT" sz="1100" b="1" noProof="0" dirty="0">
                          <a:solidFill>
                            <a:schemeClr val="bg1"/>
                          </a:solidFill>
                        </a:rPr>
                        <a:t>Superficie</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it-IT" sz="1100" b="1" noProof="0" dirty="0">
                          <a:solidFill>
                            <a:schemeClr val="bg1"/>
                          </a:solidFill>
                        </a:rPr>
                        <a:t>Piano</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it-IT" sz="1100" b="1" noProof="0" dirty="0">
                          <a:solidFill>
                            <a:schemeClr val="bg1"/>
                          </a:solidFill>
                        </a:rPr>
                        <a:t>Prezzo</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11480">
                <a:tc>
                  <a:txBody>
                    <a:bodyPr/>
                    <a:lstStyle/>
                    <a:p>
                      <a:pPr marL="0" indent="0">
                        <a:buNone/>
                      </a:pPr>
                      <a:r>
                        <a:rPr lang="it-IT" sz="1100" b="1" noProof="0" dirty="0">
                          <a:solidFill>
                            <a:schemeClr val="tx1"/>
                          </a:solidFill>
                        </a:rPr>
                        <a:t>Centro</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100" noProof="0" dirty="0">
                          <a:solidFill>
                            <a:schemeClr val="tx1"/>
                          </a:solidFill>
                        </a:rPr>
                        <a:t>80 m²</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100" noProof="0" dirty="0">
                          <a:solidFill>
                            <a:schemeClr val="tx1"/>
                          </a:solidFill>
                        </a:rPr>
                        <a:t>3</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100" noProof="0" dirty="0">
                          <a:solidFill>
                            <a:schemeClr val="tx1"/>
                          </a:solidFill>
                        </a:rPr>
                        <a:t>320.000 €</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411480">
                <a:tc>
                  <a:txBody>
                    <a:bodyPr/>
                    <a:lstStyle/>
                    <a:p>
                      <a:pPr marL="0" indent="0">
                        <a:buNone/>
                      </a:pPr>
                      <a:r>
                        <a:rPr lang="it-IT" sz="1100" b="1" noProof="0" dirty="0">
                          <a:solidFill>
                            <a:schemeClr val="tx1"/>
                          </a:solidFill>
                        </a:rPr>
                        <a:t>Periferia</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100" noProof="0" dirty="0">
                          <a:solidFill>
                            <a:schemeClr val="tx1"/>
                          </a:solidFill>
                        </a:rPr>
                        <a:t>95 m²</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100" noProof="0" dirty="0">
                          <a:solidFill>
                            <a:schemeClr val="tx1"/>
                          </a:solidFill>
                        </a:rPr>
                        <a:t>1</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100" noProof="0" dirty="0">
                          <a:solidFill>
                            <a:schemeClr val="tx1"/>
                          </a:solidFill>
                        </a:rPr>
                        <a:t>210.000 €</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2"/>
                  </a:ext>
                </a:extLst>
              </a:tr>
              <a:tr h="411480">
                <a:tc>
                  <a:txBody>
                    <a:bodyPr/>
                    <a:lstStyle/>
                    <a:p>
                      <a:pPr marL="0" indent="0">
                        <a:buNone/>
                      </a:pPr>
                      <a:r>
                        <a:rPr lang="it-IT" sz="1100" b="1" noProof="0" dirty="0">
                          <a:solidFill>
                            <a:schemeClr val="tx1"/>
                          </a:solidFill>
                        </a:rPr>
                        <a:t>Semicentro</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100" noProof="0" dirty="0">
                          <a:solidFill>
                            <a:schemeClr val="tx1"/>
                          </a:solidFill>
                        </a:rPr>
                        <a:t>60 m²</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100" noProof="0" dirty="0">
                          <a:solidFill>
                            <a:schemeClr val="tx1"/>
                          </a:solidFill>
                        </a:rPr>
                        <a:t>5</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100" noProof="0" dirty="0">
                          <a:solidFill>
                            <a:schemeClr val="tx1"/>
                          </a:solidFill>
                        </a:rPr>
                        <a:t>195.000 €</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3"/>
                  </a:ext>
                </a:extLst>
              </a:tr>
              <a:tr h="411480">
                <a:tc>
                  <a:txBody>
                    <a:bodyPr/>
                    <a:lstStyle/>
                    <a:p>
                      <a:pPr marL="0" indent="0">
                        <a:buNone/>
                      </a:pPr>
                      <a:r>
                        <a:rPr lang="it-IT" sz="1100" b="1" noProof="0" dirty="0">
                          <a:solidFill>
                            <a:schemeClr val="tx1"/>
                          </a:solidFill>
                        </a:rPr>
                        <a:t>...</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100" noProof="0" dirty="0">
                          <a:solidFill>
                            <a:schemeClr val="tx1"/>
                          </a:solidFill>
                        </a:rPr>
                        <a:t>...</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100" noProof="0" dirty="0">
                          <a:solidFill>
                            <a:schemeClr val="tx1"/>
                          </a:solidFill>
                        </a:rPr>
                        <a:t>...</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100" noProof="0" dirty="0">
                          <a:solidFill>
                            <a:schemeClr val="tx1"/>
                          </a:solidFill>
                        </a:rPr>
                        <a:t>...</a:t>
                      </a:r>
                      <a:endParaRPr lang="it-IT" sz="11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4"/>
                  </a:ext>
                </a:extLst>
              </a:tr>
            </a:tbl>
          </a:graphicData>
        </a:graphic>
      </p:graphicFrame>
      <p:sp>
        <p:nvSpPr>
          <p:cNvPr id="6" name="freccia"/>
          <p:cNvSpPr/>
          <p:nvPr/>
        </p:nvSpPr>
        <p:spPr>
          <a:xfrm>
            <a:off x="3886200" y="2240280"/>
            <a:ext cx="457200" cy="292608"/>
          </a:xfrm>
          <a:prstGeom prst="rightArrow">
            <a:avLst/>
          </a:prstGeom>
          <a:solidFill>
            <a:schemeClr val="accent1"/>
          </a:solidFill>
          <a:ln/>
        </p:spPr>
        <p:txBody>
          <a:bodyPr/>
          <a:lstStyle/>
          <a:p>
            <a:endParaRPr lang="it-IT" noProof="0" dirty="0"/>
          </a:p>
        </p:txBody>
      </p:sp>
      <p:sp>
        <p:nvSpPr>
          <p:cNvPr id="7" name="addestramento"/>
          <p:cNvSpPr/>
          <p:nvPr/>
        </p:nvSpPr>
        <p:spPr>
          <a:xfrm>
            <a:off x="4480560" y="1783080"/>
            <a:ext cx="1737360" cy="1234440"/>
          </a:xfrm>
          <a:prstGeom prst="roundRect">
            <a:avLst>
              <a:gd name="adj" fmla="val 5926"/>
            </a:avLst>
          </a:prstGeom>
          <a:solidFill>
            <a:schemeClr val="accent1"/>
          </a:solidFill>
          <a:ln/>
        </p:spPr>
        <p:txBody>
          <a:bodyPr/>
          <a:lstStyle/>
          <a:p>
            <a:endParaRPr lang="it-IT" noProof="0" dirty="0"/>
          </a:p>
        </p:txBody>
      </p:sp>
      <p:sp>
        <p:nvSpPr>
          <p:cNvPr id="8" name="Text 4"/>
          <p:cNvSpPr txBox="1"/>
          <p:nvPr/>
        </p:nvSpPr>
        <p:spPr>
          <a:xfrm>
            <a:off x="4526280" y="1783080"/>
            <a:ext cx="1645920" cy="548640"/>
          </a:xfrm>
          <a:prstGeom prst="rect">
            <a:avLst/>
          </a:prstGeom>
          <a:noFill/>
          <a:ln/>
        </p:spPr>
        <p:txBody>
          <a:bodyPr wrap="square" lIns="0" tIns="0" rIns="0" bIns="0" rtlCol="0" anchor="b"/>
          <a:lstStyle/>
          <a:p>
            <a:pPr marL="0" indent="0" algn="ctr">
              <a:buNone/>
            </a:pPr>
            <a:r>
              <a:rPr lang="it-IT" sz="1400" b="1" noProof="0" dirty="0">
                <a:solidFill>
                  <a:schemeClr val="bg1"/>
                </a:solidFill>
              </a:rPr>
              <a:t>Addestramento</a:t>
            </a:r>
            <a:endParaRPr lang="it-IT" sz="1400" noProof="0" dirty="0"/>
          </a:p>
        </p:txBody>
      </p:sp>
      <p:sp>
        <p:nvSpPr>
          <p:cNvPr id="9" name="Text 5"/>
          <p:cNvSpPr txBox="1"/>
          <p:nvPr/>
        </p:nvSpPr>
        <p:spPr>
          <a:xfrm>
            <a:off x="4572000" y="2331720"/>
            <a:ext cx="1554480" cy="640080"/>
          </a:xfrm>
          <a:prstGeom prst="rect">
            <a:avLst/>
          </a:prstGeom>
          <a:noFill/>
          <a:ln/>
        </p:spPr>
        <p:txBody>
          <a:bodyPr wrap="square" lIns="0" tIns="0" rIns="0" bIns="0" rtlCol="0" anchor="t"/>
          <a:lstStyle/>
          <a:p>
            <a:pPr marL="0" indent="0" algn="ctr">
              <a:buNone/>
            </a:pPr>
            <a:r>
              <a:rPr lang="it-IT" sz="1100" noProof="0" dirty="0">
                <a:solidFill>
                  <a:schemeClr val="bg1"/>
                </a:solidFill>
              </a:rPr>
              <a:t>cerca la relazione tra caratteristiche e prezzo</a:t>
            </a:r>
            <a:endParaRPr lang="it-IT" sz="1100" noProof="0" dirty="0"/>
          </a:p>
        </p:txBody>
      </p:sp>
      <p:sp>
        <p:nvSpPr>
          <p:cNvPr id="10" name="freccia"/>
          <p:cNvSpPr/>
          <p:nvPr/>
        </p:nvSpPr>
        <p:spPr>
          <a:xfrm>
            <a:off x="6355080" y="2240280"/>
            <a:ext cx="457200" cy="292608"/>
          </a:xfrm>
          <a:prstGeom prst="rightArrow">
            <a:avLst/>
          </a:prstGeom>
          <a:solidFill>
            <a:schemeClr val="accent1"/>
          </a:solidFill>
          <a:ln/>
        </p:spPr>
        <p:txBody>
          <a:bodyPr/>
          <a:lstStyle/>
          <a:p>
            <a:endParaRPr lang="it-IT" noProof="0" dirty="0"/>
          </a:p>
        </p:txBody>
      </p:sp>
      <p:sp>
        <p:nvSpPr>
          <p:cNvPr id="11" name="modello"/>
          <p:cNvSpPr/>
          <p:nvPr/>
        </p:nvSpPr>
        <p:spPr>
          <a:xfrm>
            <a:off x="6949440" y="1783080"/>
            <a:ext cx="1737360" cy="1234440"/>
          </a:xfrm>
          <a:prstGeom prst="roundRect">
            <a:avLst>
              <a:gd name="adj" fmla="val 5926"/>
            </a:avLst>
          </a:prstGeom>
          <a:solidFill>
            <a:schemeClr val="accent6"/>
          </a:solidFill>
          <a:ln/>
        </p:spPr>
        <p:txBody>
          <a:bodyPr/>
          <a:lstStyle/>
          <a:p>
            <a:endParaRPr lang="it-IT" noProof="0" dirty="0"/>
          </a:p>
        </p:txBody>
      </p:sp>
      <p:sp>
        <p:nvSpPr>
          <p:cNvPr id="12" name="Text 8"/>
          <p:cNvSpPr txBox="1"/>
          <p:nvPr/>
        </p:nvSpPr>
        <p:spPr>
          <a:xfrm>
            <a:off x="6995160" y="1783080"/>
            <a:ext cx="1645920" cy="548640"/>
          </a:xfrm>
          <a:prstGeom prst="rect">
            <a:avLst/>
          </a:prstGeom>
          <a:noFill/>
          <a:ln/>
        </p:spPr>
        <p:txBody>
          <a:bodyPr wrap="square" lIns="0" tIns="0" rIns="0" bIns="0" rtlCol="0" anchor="b"/>
          <a:lstStyle/>
          <a:p>
            <a:pPr marL="0" indent="0" algn="ctr">
              <a:buNone/>
            </a:pPr>
            <a:r>
              <a:rPr lang="it-IT" sz="1400" b="1" noProof="0" dirty="0">
                <a:solidFill>
                  <a:schemeClr val="tx1"/>
                </a:solidFill>
              </a:rPr>
              <a:t>Modello</a:t>
            </a:r>
            <a:endParaRPr lang="it-IT" sz="1400" noProof="0" dirty="0"/>
          </a:p>
        </p:txBody>
      </p:sp>
      <p:sp>
        <p:nvSpPr>
          <p:cNvPr id="13" name="Text 9"/>
          <p:cNvSpPr txBox="1"/>
          <p:nvPr/>
        </p:nvSpPr>
        <p:spPr>
          <a:xfrm>
            <a:off x="7040880" y="2331720"/>
            <a:ext cx="1554480" cy="640080"/>
          </a:xfrm>
          <a:prstGeom prst="rect">
            <a:avLst/>
          </a:prstGeom>
          <a:noFill/>
          <a:ln/>
        </p:spPr>
        <p:txBody>
          <a:bodyPr wrap="square" lIns="0" tIns="0" rIns="0" bIns="0" rtlCol="0" anchor="t"/>
          <a:lstStyle/>
          <a:p>
            <a:pPr marL="0" indent="0" algn="ctr">
              <a:buNone/>
            </a:pPr>
            <a:r>
              <a:rPr lang="it-IT" sz="1100" noProof="0" dirty="0">
                <a:solidFill>
                  <a:schemeClr val="tx2"/>
                </a:solidFill>
              </a:rPr>
              <a:t>applicabile a un appartamento nuovo</a:t>
            </a:r>
            <a:endParaRPr lang="it-IT" sz="1100" noProof="0" dirty="0"/>
          </a:p>
        </p:txBody>
      </p:sp>
      <p:sp>
        <p:nvSpPr>
          <p:cNvPr id="14" name="nota"/>
          <p:cNvSpPr/>
          <p:nvPr/>
        </p:nvSpPr>
        <p:spPr>
          <a:xfrm>
            <a:off x="4480560" y="3429000"/>
            <a:ext cx="4206240" cy="1097280"/>
          </a:xfrm>
          <a:prstGeom prst="roundRect">
            <a:avLst>
              <a:gd name="adj" fmla="val 6667"/>
            </a:avLst>
          </a:prstGeom>
          <a:solidFill>
            <a:schemeClr val="bg2"/>
          </a:solidFill>
          <a:ln/>
        </p:spPr>
        <p:txBody>
          <a:bodyPr/>
          <a:lstStyle/>
          <a:p>
            <a:endParaRPr lang="it-IT" noProof="0" dirty="0"/>
          </a:p>
        </p:txBody>
      </p:sp>
      <p:sp>
        <p:nvSpPr>
          <p:cNvPr id="15" name="cerchio FiAlertCircle"/>
          <p:cNvSpPr/>
          <p:nvPr/>
        </p:nvSpPr>
        <p:spPr>
          <a:xfrm>
            <a:off x="4663440" y="3721608"/>
            <a:ext cx="502920" cy="502920"/>
          </a:xfrm>
          <a:prstGeom prst="ellipse">
            <a:avLst/>
          </a:prstGeom>
          <a:solidFill>
            <a:schemeClr val="accent2"/>
          </a:solidFill>
          <a:ln/>
        </p:spPr>
        <p:txBody>
          <a:bodyPr/>
          <a:lstStyle/>
          <a:p>
            <a:endParaRPr lang="it-IT" noProof="0" dirty="0"/>
          </a:p>
        </p:txBody>
      </p:sp>
      <p:pic>
        <p:nvPicPr>
          <p:cNvPr id="16" name="Image 0" descr="FiAlertCircle"/>
          <p:cNvPicPr>
            <a:picLocks noChangeAspect="1"/>
          </p:cNvPicPr>
          <p:nvPr/>
        </p:nvPicPr>
        <p:blipFill>
          <a:blip r:embed="rId3"/>
          <a:stretch>
            <a:fillRect/>
          </a:stretch>
        </p:blipFill>
        <p:spPr>
          <a:xfrm>
            <a:off x="4789170" y="3847338"/>
            <a:ext cx="251460" cy="251460"/>
          </a:xfrm>
          <a:prstGeom prst="rect">
            <a:avLst/>
          </a:prstGeom>
        </p:spPr>
      </p:pic>
      <p:sp>
        <p:nvSpPr>
          <p:cNvPr id="17" name="Text 12"/>
          <p:cNvSpPr txBox="1"/>
          <p:nvPr/>
        </p:nvSpPr>
        <p:spPr>
          <a:xfrm>
            <a:off x="5303520" y="3429000"/>
            <a:ext cx="3291840" cy="1097280"/>
          </a:xfrm>
          <a:prstGeom prst="rect">
            <a:avLst/>
          </a:prstGeom>
          <a:noFill/>
          <a:ln/>
        </p:spPr>
        <p:txBody>
          <a:bodyPr wrap="square" lIns="0" tIns="0" rIns="0" bIns="0" rtlCol="0" anchor="ctr"/>
          <a:lstStyle/>
          <a:p>
            <a:pPr marL="0" indent="0">
              <a:buNone/>
            </a:pPr>
            <a:r>
              <a:rPr lang="it-IT" sz="1300" noProof="0" dirty="0">
                <a:solidFill>
                  <a:schemeClr val="tx1"/>
                </a:solidFill>
              </a:rPr>
              <a:t>Il modello individua regolarità numeriche: se nei dati mancano certi casi, non saprà valutarli bene.</a:t>
            </a:r>
            <a:endParaRPr lang="it-IT" sz="13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noProof="0" smtClean="0"/>
              <a:t>37</a:t>
            </a:fld>
            <a:endParaRPr lang="it-IT" noProof="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Dati di addestramento ed esempi</a:t>
            </a:r>
            <a:endParaRPr lang="it-IT" sz="2600" noProof="0" dirty="0"/>
          </a:p>
        </p:txBody>
      </p:sp>
      <p:sp>
        <p:nvSpPr>
          <p:cNvPr id="4" name="scheda Supervisionato"/>
          <p:cNvSpPr/>
          <p:nvPr/>
        </p:nvSpPr>
        <p:spPr>
          <a:xfrm>
            <a:off x="457200" y="1097280"/>
            <a:ext cx="2615184" cy="2514600"/>
          </a:xfrm>
          <a:prstGeom prst="roundRect">
            <a:avLst>
              <a:gd name="adj" fmla="val 2909"/>
            </a:avLst>
          </a:prstGeom>
          <a:solidFill>
            <a:schemeClr val="accent6"/>
          </a:solidFill>
          <a:ln/>
        </p:spPr>
        <p:txBody>
          <a:bodyPr/>
          <a:lstStyle/>
          <a:p>
            <a:endParaRPr lang="it-IT" noProof="0" dirty="0"/>
          </a:p>
        </p:txBody>
      </p:sp>
      <p:sp>
        <p:nvSpPr>
          <p:cNvPr id="5" name="cerchio FiTag"/>
          <p:cNvSpPr/>
          <p:nvPr/>
        </p:nvSpPr>
        <p:spPr>
          <a:xfrm>
            <a:off x="640080" y="1280160"/>
            <a:ext cx="457200" cy="457200"/>
          </a:xfrm>
          <a:prstGeom prst="ellipse">
            <a:avLst/>
          </a:prstGeom>
          <a:solidFill>
            <a:schemeClr val="accent1"/>
          </a:solidFill>
          <a:ln/>
        </p:spPr>
        <p:txBody>
          <a:bodyPr/>
          <a:lstStyle/>
          <a:p>
            <a:endParaRPr lang="it-IT" noProof="0" dirty="0"/>
          </a:p>
        </p:txBody>
      </p:sp>
      <p:pic>
        <p:nvPicPr>
          <p:cNvPr id="6" name="Image 0" descr="FiTag"/>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2249424" cy="347472"/>
          </a:xfrm>
          <a:prstGeom prst="rect">
            <a:avLst/>
          </a:prstGeom>
          <a:noFill/>
          <a:ln/>
        </p:spPr>
        <p:txBody>
          <a:bodyPr wrap="square" lIns="0" tIns="0" rIns="0" bIns="0" rtlCol="0" anchor="t"/>
          <a:lstStyle/>
          <a:p>
            <a:pPr marL="0" indent="0">
              <a:buNone/>
            </a:pPr>
            <a:r>
              <a:rPr lang="it-IT" sz="1600" b="1" noProof="0" dirty="0">
                <a:solidFill>
                  <a:schemeClr val="tx1"/>
                </a:solidFill>
              </a:rPr>
              <a:t>Supervisionato</a:t>
            </a:r>
            <a:endParaRPr lang="it-IT" sz="1600" noProof="0" dirty="0"/>
          </a:p>
        </p:txBody>
      </p:sp>
      <p:sp>
        <p:nvSpPr>
          <p:cNvPr id="8" name="Text 4"/>
          <p:cNvSpPr txBox="1"/>
          <p:nvPr/>
        </p:nvSpPr>
        <p:spPr>
          <a:xfrm>
            <a:off x="640080" y="2231136"/>
            <a:ext cx="2249424" cy="1271016"/>
          </a:xfrm>
          <a:prstGeom prst="rect">
            <a:avLst/>
          </a:prstGeom>
          <a:noFill/>
          <a:ln/>
        </p:spPr>
        <p:txBody>
          <a:bodyPr wrap="square" lIns="0" tIns="0" rIns="0" bIns="0" rtlCol="0" anchor="t"/>
          <a:lstStyle/>
          <a:p>
            <a:pPr marL="0" indent="0">
              <a:spcAft>
                <a:spcPts val="800"/>
              </a:spcAft>
              <a:buNone/>
            </a:pPr>
            <a:r>
              <a:rPr lang="it-IT" sz="1300" b="1" noProof="0" dirty="0">
                <a:solidFill>
                  <a:schemeClr val="tx1"/>
                </a:solidFill>
              </a:rPr>
              <a:t>Esempi con la risposta corretta (etichetta)</a:t>
            </a:r>
            <a:endParaRPr lang="it-IT" sz="1300" noProof="0" dirty="0"/>
          </a:p>
          <a:p>
            <a:pPr marL="0" indent="0">
              <a:buNone/>
            </a:pPr>
            <a:r>
              <a:rPr lang="it-IT" sz="1300" noProof="0" dirty="0">
                <a:solidFill>
                  <a:schemeClr val="tx2"/>
                </a:solidFill>
              </a:rPr>
              <a:t>Esempio: Email spam o non spam, pezzi conformi o difettosi</a:t>
            </a:r>
            <a:endParaRPr lang="it-IT" sz="1300" noProof="0" dirty="0"/>
          </a:p>
        </p:txBody>
      </p:sp>
      <p:sp>
        <p:nvSpPr>
          <p:cNvPr id="9" name="scheda Non supervisionato"/>
          <p:cNvSpPr/>
          <p:nvPr/>
        </p:nvSpPr>
        <p:spPr>
          <a:xfrm>
            <a:off x="3264408" y="1097280"/>
            <a:ext cx="2615184" cy="2514600"/>
          </a:xfrm>
          <a:prstGeom prst="roundRect">
            <a:avLst>
              <a:gd name="adj" fmla="val 2909"/>
            </a:avLst>
          </a:prstGeom>
          <a:solidFill>
            <a:schemeClr val="bg2"/>
          </a:solidFill>
          <a:ln/>
        </p:spPr>
        <p:txBody>
          <a:bodyPr/>
          <a:lstStyle/>
          <a:p>
            <a:endParaRPr lang="it-IT" noProof="0" dirty="0"/>
          </a:p>
        </p:txBody>
      </p:sp>
      <p:sp>
        <p:nvSpPr>
          <p:cNvPr id="10" name="cerchio FiShuffle"/>
          <p:cNvSpPr/>
          <p:nvPr/>
        </p:nvSpPr>
        <p:spPr>
          <a:xfrm>
            <a:off x="3447288" y="1280160"/>
            <a:ext cx="457200" cy="457200"/>
          </a:xfrm>
          <a:prstGeom prst="ellipse">
            <a:avLst/>
          </a:prstGeom>
          <a:solidFill>
            <a:schemeClr val="accent1"/>
          </a:solidFill>
          <a:ln/>
        </p:spPr>
        <p:txBody>
          <a:bodyPr/>
          <a:lstStyle/>
          <a:p>
            <a:endParaRPr lang="it-IT" noProof="0" dirty="0"/>
          </a:p>
        </p:txBody>
      </p:sp>
      <p:pic>
        <p:nvPicPr>
          <p:cNvPr id="11" name="Image 1" descr="FiShuffle"/>
          <p:cNvPicPr>
            <a:picLocks noChangeAspect="1"/>
          </p:cNvPicPr>
          <p:nvPr/>
        </p:nvPicPr>
        <p:blipFill>
          <a:blip r:embed="rId4"/>
          <a:stretch>
            <a:fillRect/>
          </a:stretch>
        </p:blipFill>
        <p:spPr>
          <a:xfrm>
            <a:off x="3561588" y="1394460"/>
            <a:ext cx="228600" cy="228600"/>
          </a:xfrm>
          <a:prstGeom prst="rect">
            <a:avLst/>
          </a:prstGeom>
        </p:spPr>
      </p:pic>
      <p:sp>
        <p:nvSpPr>
          <p:cNvPr id="12" name="Text 7"/>
          <p:cNvSpPr txBox="1"/>
          <p:nvPr/>
        </p:nvSpPr>
        <p:spPr>
          <a:xfrm>
            <a:off x="3447288" y="1847088"/>
            <a:ext cx="2249424" cy="347472"/>
          </a:xfrm>
          <a:prstGeom prst="rect">
            <a:avLst/>
          </a:prstGeom>
          <a:noFill/>
          <a:ln/>
        </p:spPr>
        <p:txBody>
          <a:bodyPr wrap="square" lIns="0" tIns="0" rIns="0" bIns="0" rtlCol="0" anchor="t"/>
          <a:lstStyle/>
          <a:p>
            <a:pPr marL="0" indent="0">
              <a:buNone/>
            </a:pPr>
            <a:r>
              <a:rPr lang="it-IT" sz="1600" b="1" noProof="0" dirty="0">
                <a:solidFill>
                  <a:schemeClr val="tx1"/>
                </a:solidFill>
              </a:rPr>
              <a:t>Non supervisionato</a:t>
            </a:r>
            <a:endParaRPr lang="it-IT" sz="1600" noProof="0" dirty="0"/>
          </a:p>
        </p:txBody>
      </p:sp>
      <p:sp>
        <p:nvSpPr>
          <p:cNvPr id="13" name="Text 8"/>
          <p:cNvSpPr txBox="1"/>
          <p:nvPr/>
        </p:nvSpPr>
        <p:spPr>
          <a:xfrm>
            <a:off x="3447288" y="2231136"/>
            <a:ext cx="2249424" cy="1271016"/>
          </a:xfrm>
          <a:prstGeom prst="rect">
            <a:avLst/>
          </a:prstGeom>
          <a:noFill/>
          <a:ln/>
        </p:spPr>
        <p:txBody>
          <a:bodyPr wrap="square" lIns="0" tIns="0" rIns="0" bIns="0" rtlCol="0" anchor="t"/>
          <a:lstStyle/>
          <a:p>
            <a:pPr marL="0" indent="0">
              <a:spcAft>
                <a:spcPts val="800"/>
              </a:spcAft>
              <a:buNone/>
            </a:pPr>
            <a:r>
              <a:rPr lang="it-IT" sz="1300" b="1" noProof="0" dirty="0">
                <a:solidFill>
                  <a:schemeClr val="tx1"/>
                </a:solidFill>
              </a:rPr>
              <a:t>Nessuna etichetta: il sistema cerca strutture</a:t>
            </a:r>
            <a:endParaRPr lang="it-IT" sz="1300" noProof="0" dirty="0"/>
          </a:p>
          <a:p>
            <a:pPr marL="0" indent="0">
              <a:buNone/>
            </a:pPr>
            <a:r>
              <a:rPr lang="it-IT" sz="1300" noProof="0" dirty="0">
                <a:solidFill>
                  <a:schemeClr val="tx2"/>
                </a:solidFill>
              </a:rPr>
              <a:t>Esempio: Gruppi di clienti con comportamenti simili</a:t>
            </a:r>
            <a:endParaRPr lang="it-IT" sz="1300" noProof="0" dirty="0"/>
          </a:p>
        </p:txBody>
      </p:sp>
      <p:sp>
        <p:nvSpPr>
          <p:cNvPr id="14" name="scheda Per rinforzo"/>
          <p:cNvSpPr/>
          <p:nvPr/>
        </p:nvSpPr>
        <p:spPr>
          <a:xfrm>
            <a:off x="6071616" y="1097280"/>
            <a:ext cx="2615184" cy="2514600"/>
          </a:xfrm>
          <a:prstGeom prst="roundRect">
            <a:avLst>
              <a:gd name="adj" fmla="val 2909"/>
            </a:avLst>
          </a:prstGeom>
          <a:solidFill>
            <a:schemeClr val="bg2"/>
          </a:solidFill>
          <a:ln/>
        </p:spPr>
        <p:txBody>
          <a:bodyPr/>
          <a:lstStyle/>
          <a:p>
            <a:endParaRPr lang="it-IT" noProof="0" dirty="0"/>
          </a:p>
        </p:txBody>
      </p:sp>
      <p:sp>
        <p:nvSpPr>
          <p:cNvPr id="15" name="cerchio FiAward"/>
          <p:cNvSpPr/>
          <p:nvPr/>
        </p:nvSpPr>
        <p:spPr>
          <a:xfrm>
            <a:off x="6254496" y="1280160"/>
            <a:ext cx="457200" cy="457200"/>
          </a:xfrm>
          <a:prstGeom prst="ellipse">
            <a:avLst/>
          </a:prstGeom>
          <a:solidFill>
            <a:schemeClr val="accent1"/>
          </a:solidFill>
          <a:ln/>
        </p:spPr>
        <p:txBody>
          <a:bodyPr/>
          <a:lstStyle/>
          <a:p>
            <a:endParaRPr lang="it-IT" noProof="0" dirty="0"/>
          </a:p>
        </p:txBody>
      </p:sp>
      <p:pic>
        <p:nvPicPr>
          <p:cNvPr id="16" name="Image 2" descr="FiAward"/>
          <p:cNvPicPr>
            <a:picLocks noChangeAspect="1"/>
          </p:cNvPicPr>
          <p:nvPr/>
        </p:nvPicPr>
        <p:blipFill>
          <a:blip r:embed="rId5"/>
          <a:stretch>
            <a:fillRect/>
          </a:stretch>
        </p:blipFill>
        <p:spPr>
          <a:xfrm>
            <a:off x="6368796" y="1394460"/>
            <a:ext cx="228600" cy="228600"/>
          </a:xfrm>
          <a:prstGeom prst="rect">
            <a:avLst/>
          </a:prstGeom>
        </p:spPr>
      </p:pic>
      <p:sp>
        <p:nvSpPr>
          <p:cNvPr id="17" name="Text 11"/>
          <p:cNvSpPr txBox="1"/>
          <p:nvPr/>
        </p:nvSpPr>
        <p:spPr>
          <a:xfrm>
            <a:off x="6254496" y="1847088"/>
            <a:ext cx="2249424" cy="347472"/>
          </a:xfrm>
          <a:prstGeom prst="rect">
            <a:avLst/>
          </a:prstGeom>
          <a:noFill/>
          <a:ln/>
        </p:spPr>
        <p:txBody>
          <a:bodyPr wrap="square" lIns="0" tIns="0" rIns="0" bIns="0" rtlCol="0" anchor="t"/>
          <a:lstStyle/>
          <a:p>
            <a:pPr marL="0" indent="0">
              <a:buNone/>
            </a:pPr>
            <a:r>
              <a:rPr lang="it-IT" sz="1600" b="1" noProof="0" dirty="0">
                <a:solidFill>
                  <a:schemeClr val="tx1"/>
                </a:solidFill>
              </a:rPr>
              <a:t>Per rinforzo</a:t>
            </a:r>
            <a:endParaRPr lang="it-IT" sz="1600" noProof="0" dirty="0"/>
          </a:p>
        </p:txBody>
      </p:sp>
      <p:sp>
        <p:nvSpPr>
          <p:cNvPr id="18" name="Text 12"/>
          <p:cNvSpPr txBox="1"/>
          <p:nvPr/>
        </p:nvSpPr>
        <p:spPr>
          <a:xfrm>
            <a:off x="6254496" y="2231136"/>
            <a:ext cx="2249424" cy="1271016"/>
          </a:xfrm>
          <a:prstGeom prst="rect">
            <a:avLst/>
          </a:prstGeom>
          <a:noFill/>
          <a:ln/>
        </p:spPr>
        <p:txBody>
          <a:bodyPr wrap="square" lIns="0" tIns="0" rIns="0" bIns="0" rtlCol="0" anchor="t"/>
          <a:lstStyle/>
          <a:p>
            <a:pPr marL="0" indent="0">
              <a:spcAft>
                <a:spcPts val="800"/>
              </a:spcAft>
              <a:buNone/>
            </a:pPr>
            <a:r>
              <a:rPr lang="it-IT" sz="1300" b="1" noProof="0" dirty="0">
                <a:solidFill>
                  <a:schemeClr val="tx1"/>
                </a:solidFill>
              </a:rPr>
              <a:t>Impara per tentativi, con segnali positivi o negativi</a:t>
            </a:r>
            <a:endParaRPr lang="it-IT" sz="1300" noProof="0" dirty="0"/>
          </a:p>
          <a:p>
            <a:pPr marL="0" indent="0">
              <a:buNone/>
            </a:pPr>
            <a:r>
              <a:rPr lang="it-IT" sz="1300" noProof="0" dirty="0">
                <a:solidFill>
                  <a:schemeClr val="tx2"/>
                </a:solidFill>
              </a:rPr>
              <a:t>Esempio: Giochi, robotica, affinamento dei modelli linguistici</a:t>
            </a:r>
            <a:endParaRPr lang="it-IT" sz="1300" noProof="0" dirty="0"/>
          </a:p>
        </p:txBody>
      </p:sp>
      <p:sp>
        <p:nvSpPr>
          <p:cNvPr id="19" name="principio dati"/>
          <p:cNvSpPr/>
          <p:nvPr/>
        </p:nvSpPr>
        <p:spPr>
          <a:xfrm>
            <a:off x="457200" y="3749040"/>
            <a:ext cx="8229600" cy="777240"/>
          </a:xfrm>
          <a:prstGeom prst="roundRect">
            <a:avLst>
              <a:gd name="adj" fmla="val 9412"/>
            </a:avLst>
          </a:prstGeom>
          <a:solidFill>
            <a:schemeClr val="tx1"/>
          </a:solidFill>
          <a:ln/>
        </p:spPr>
        <p:txBody>
          <a:bodyPr/>
          <a:lstStyle/>
          <a:p>
            <a:endParaRPr lang="it-IT" noProof="0" dirty="0"/>
          </a:p>
        </p:txBody>
      </p:sp>
      <p:sp>
        <p:nvSpPr>
          <p:cNvPr id="20" name="cerchio FiDatabase"/>
          <p:cNvSpPr/>
          <p:nvPr/>
        </p:nvSpPr>
        <p:spPr>
          <a:xfrm>
            <a:off x="640080" y="3877056"/>
            <a:ext cx="512064" cy="512064"/>
          </a:xfrm>
          <a:prstGeom prst="ellipse">
            <a:avLst/>
          </a:prstGeom>
          <a:solidFill>
            <a:schemeClr val="accent1"/>
          </a:solidFill>
          <a:ln/>
        </p:spPr>
        <p:txBody>
          <a:bodyPr/>
          <a:lstStyle/>
          <a:p>
            <a:endParaRPr lang="it-IT" noProof="0" dirty="0"/>
          </a:p>
        </p:txBody>
      </p:sp>
      <p:pic>
        <p:nvPicPr>
          <p:cNvPr id="21" name="Image 3" descr="FiDatabase"/>
          <p:cNvPicPr>
            <a:picLocks noChangeAspect="1"/>
          </p:cNvPicPr>
          <p:nvPr/>
        </p:nvPicPr>
        <p:blipFill>
          <a:blip r:embed="rId6"/>
          <a:stretch>
            <a:fillRect/>
          </a:stretch>
        </p:blipFill>
        <p:spPr>
          <a:xfrm>
            <a:off x="768096" y="4005072"/>
            <a:ext cx="256032" cy="256032"/>
          </a:xfrm>
          <a:prstGeom prst="rect">
            <a:avLst/>
          </a:prstGeom>
        </p:spPr>
      </p:pic>
      <p:sp>
        <p:nvSpPr>
          <p:cNvPr id="22" name="Text 15"/>
          <p:cNvSpPr txBox="1"/>
          <p:nvPr/>
        </p:nvSpPr>
        <p:spPr>
          <a:xfrm>
            <a:off x="1325880" y="3749040"/>
            <a:ext cx="7223760" cy="777240"/>
          </a:xfrm>
          <a:prstGeom prst="rect">
            <a:avLst/>
          </a:prstGeom>
          <a:noFill/>
          <a:ln/>
        </p:spPr>
        <p:txBody>
          <a:bodyPr wrap="square" lIns="0" tIns="0" rIns="0" bIns="0" rtlCol="0" anchor="ctr"/>
          <a:lstStyle/>
          <a:p>
            <a:pPr marL="0" indent="0">
              <a:buNone/>
            </a:pPr>
            <a:r>
              <a:rPr lang="it-IT" sz="1500" noProof="0" dirty="0">
                <a:solidFill>
                  <a:schemeClr val="bg1"/>
                </a:solidFill>
              </a:rPr>
              <a:t>La qualità e la rappresentatività dei dati di addestramento influenzano le capacità del modello. Metodi e obiettivi di apprendimento contribuiscono a determinarne le prestazioni</a:t>
            </a:r>
            <a:endParaRPr lang="it-IT" sz="15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noProof="0" smtClean="0"/>
              <a:t>38</a:t>
            </a:fld>
            <a:endParaRPr lang="it-IT" noProof="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I parametri del modello</a:t>
            </a:r>
            <a:endParaRPr lang="it-IT" sz="2600" noProof="0" dirty="0"/>
          </a:p>
        </p:txBody>
      </p:sp>
      <p:sp>
        <p:nvSpPr>
          <p:cNvPr id="4" name="analogia manopole"/>
          <p:cNvSpPr/>
          <p:nvPr/>
        </p:nvSpPr>
        <p:spPr>
          <a:xfrm>
            <a:off x="457200" y="1097280"/>
            <a:ext cx="4206240" cy="3429000"/>
          </a:xfrm>
          <a:prstGeom prst="roundRect">
            <a:avLst>
              <a:gd name="adj" fmla="val 2133"/>
            </a:avLst>
          </a:prstGeom>
          <a:solidFill>
            <a:schemeClr val="bg2"/>
          </a:solidFill>
          <a:ln/>
        </p:spPr>
        <p:txBody>
          <a:bodyPr/>
          <a:lstStyle/>
          <a:p>
            <a:endParaRPr lang="it-IT" noProof="0" dirty="0"/>
          </a:p>
        </p:txBody>
      </p:sp>
      <p:sp>
        <p:nvSpPr>
          <p:cNvPr id="5" name="Text 2"/>
          <p:cNvSpPr txBox="1"/>
          <p:nvPr/>
        </p:nvSpPr>
        <p:spPr>
          <a:xfrm>
            <a:off x="640080" y="1234440"/>
            <a:ext cx="3840480" cy="320040"/>
          </a:xfrm>
          <a:prstGeom prst="rect">
            <a:avLst/>
          </a:prstGeom>
          <a:noFill/>
          <a:ln/>
        </p:spPr>
        <p:txBody>
          <a:bodyPr wrap="square" lIns="0" tIns="0" rIns="0" bIns="0" rtlCol="0" anchor="t"/>
          <a:lstStyle/>
          <a:p>
            <a:pPr marL="0" indent="0">
              <a:buNone/>
            </a:pPr>
            <a:r>
              <a:rPr lang="it-IT" sz="1400" b="1" noProof="0" dirty="0">
                <a:solidFill>
                  <a:schemeClr val="tx1"/>
                </a:solidFill>
              </a:rPr>
              <a:t>Un'analogia: un mixer con moltissime manopole</a:t>
            </a:r>
            <a:endParaRPr lang="it-IT" sz="1400" noProof="0" dirty="0"/>
          </a:p>
        </p:txBody>
      </p:sp>
      <p:sp>
        <p:nvSpPr>
          <p:cNvPr id="6" name="manopola"/>
          <p:cNvSpPr/>
          <p:nvPr/>
        </p:nvSpPr>
        <p:spPr>
          <a:xfrm>
            <a:off x="777240" y="1783080"/>
            <a:ext cx="310896" cy="310896"/>
          </a:xfrm>
          <a:prstGeom prst="ellipse">
            <a:avLst/>
          </a:prstGeom>
          <a:solidFill>
            <a:schemeClr val="accent1"/>
          </a:solidFill>
          <a:ln w="12700">
            <a:solidFill>
              <a:schemeClr val="accent1"/>
            </a:solidFill>
            <a:prstDash val="solid"/>
          </a:ln>
        </p:spPr>
        <p:txBody>
          <a:bodyPr/>
          <a:lstStyle/>
          <a:p>
            <a:endParaRPr lang="it-IT" noProof="0" dirty="0"/>
          </a:p>
        </p:txBody>
      </p:sp>
      <p:sp>
        <p:nvSpPr>
          <p:cNvPr id="7" name="manopola"/>
          <p:cNvSpPr/>
          <p:nvPr/>
        </p:nvSpPr>
        <p:spPr>
          <a:xfrm>
            <a:off x="1234440" y="178308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8" name="manopola"/>
          <p:cNvSpPr/>
          <p:nvPr/>
        </p:nvSpPr>
        <p:spPr>
          <a:xfrm>
            <a:off x="1691640" y="178308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9" name="manopola"/>
          <p:cNvSpPr/>
          <p:nvPr/>
        </p:nvSpPr>
        <p:spPr>
          <a:xfrm>
            <a:off x="2148840" y="178308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10" name="manopola"/>
          <p:cNvSpPr/>
          <p:nvPr/>
        </p:nvSpPr>
        <p:spPr>
          <a:xfrm>
            <a:off x="2606040" y="178308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11" name="manopola"/>
          <p:cNvSpPr/>
          <p:nvPr/>
        </p:nvSpPr>
        <p:spPr>
          <a:xfrm>
            <a:off x="3063240" y="1783080"/>
            <a:ext cx="310896" cy="310896"/>
          </a:xfrm>
          <a:prstGeom prst="ellipse">
            <a:avLst/>
          </a:prstGeom>
          <a:solidFill>
            <a:schemeClr val="accent1"/>
          </a:solidFill>
          <a:ln w="12700">
            <a:solidFill>
              <a:schemeClr val="accent1"/>
            </a:solidFill>
            <a:prstDash val="solid"/>
          </a:ln>
        </p:spPr>
        <p:txBody>
          <a:bodyPr/>
          <a:lstStyle/>
          <a:p>
            <a:endParaRPr lang="it-IT" noProof="0" dirty="0"/>
          </a:p>
        </p:txBody>
      </p:sp>
      <p:sp>
        <p:nvSpPr>
          <p:cNvPr id="12" name="manopola"/>
          <p:cNvSpPr/>
          <p:nvPr/>
        </p:nvSpPr>
        <p:spPr>
          <a:xfrm>
            <a:off x="3520440" y="178308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13" name="manopola"/>
          <p:cNvSpPr/>
          <p:nvPr/>
        </p:nvSpPr>
        <p:spPr>
          <a:xfrm>
            <a:off x="3977640" y="178308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14" name="manopola"/>
          <p:cNvSpPr/>
          <p:nvPr/>
        </p:nvSpPr>
        <p:spPr>
          <a:xfrm>
            <a:off x="777240" y="228600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15" name="manopola"/>
          <p:cNvSpPr/>
          <p:nvPr/>
        </p:nvSpPr>
        <p:spPr>
          <a:xfrm>
            <a:off x="1234440" y="228600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16" name="manopola"/>
          <p:cNvSpPr/>
          <p:nvPr/>
        </p:nvSpPr>
        <p:spPr>
          <a:xfrm>
            <a:off x="1691640" y="2286000"/>
            <a:ext cx="310896" cy="310896"/>
          </a:xfrm>
          <a:prstGeom prst="ellipse">
            <a:avLst/>
          </a:prstGeom>
          <a:solidFill>
            <a:schemeClr val="accent1"/>
          </a:solidFill>
          <a:ln w="12700">
            <a:solidFill>
              <a:schemeClr val="accent1"/>
            </a:solidFill>
            <a:prstDash val="solid"/>
          </a:ln>
        </p:spPr>
        <p:txBody>
          <a:bodyPr/>
          <a:lstStyle/>
          <a:p>
            <a:endParaRPr lang="it-IT" noProof="0" dirty="0"/>
          </a:p>
        </p:txBody>
      </p:sp>
      <p:sp>
        <p:nvSpPr>
          <p:cNvPr id="17" name="manopola"/>
          <p:cNvSpPr/>
          <p:nvPr/>
        </p:nvSpPr>
        <p:spPr>
          <a:xfrm>
            <a:off x="2148840" y="228600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18" name="manopola"/>
          <p:cNvSpPr/>
          <p:nvPr/>
        </p:nvSpPr>
        <p:spPr>
          <a:xfrm>
            <a:off x="2606040" y="228600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19" name="manopola"/>
          <p:cNvSpPr/>
          <p:nvPr/>
        </p:nvSpPr>
        <p:spPr>
          <a:xfrm>
            <a:off x="3063240" y="228600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20" name="manopola"/>
          <p:cNvSpPr/>
          <p:nvPr/>
        </p:nvSpPr>
        <p:spPr>
          <a:xfrm>
            <a:off x="3520440" y="228600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21" name="manopola"/>
          <p:cNvSpPr/>
          <p:nvPr/>
        </p:nvSpPr>
        <p:spPr>
          <a:xfrm>
            <a:off x="3977640" y="2286000"/>
            <a:ext cx="310896" cy="310896"/>
          </a:xfrm>
          <a:prstGeom prst="ellipse">
            <a:avLst/>
          </a:prstGeom>
          <a:solidFill>
            <a:schemeClr val="accent1"/>
          </a:solidFill>
          <a:ln w="12700">
            <a:solidFill>
              <a:schemeClr val="accent1"/>
            </a:solidFill>
            <a:prstDash val="solid"/>
          </a:ln>
        </p:spPr>
        <p:txBody>
          <a:bodyPr/>
          <a:lstStyle/>
          <a:p>
            <a:endParaRPr lang="it-IT" noProof="0" dirty="0"/>
          </a:p>
        </p:txBody>
      </p:sp>
      <p:sp>
        <p:nvSpPr>
          <p:cNvPr id="22" name="manopola"/>
          <p:cNvSpPr/>
          <p:nvPr/>
        </p:nvSpPr>
        <p:spPr>
          <a:xfrm>
            <a:off x="777240" y="278892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23" name="manopola"/>
          <p:cNvSpPr/>
          <p:nvPr/>
        </p:nvSpPr>
        <p:spPr>
          <a:xfrm>
            <a:off x="1234440" y="278892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24" name="manopola"/>
          <p:cNvSpPr/>
          <p:nvPr/>
        </p:nvSpPr>
        <p:spPr>
          <a:xfrm>
            <a:off x="1691640" y="278892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25" name="manopola"/>
          <p:cNvSpPr/>
          <p:nvPr/>
        </p:nvSpPr>
        <p:spPr>
          <a:xfrm>
            <a:off x="2148840" y="278892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26" name="manopola"/>
          <p:cNvSpPr/>
          <p:nvPr/>
        </p:nvSpPr>
        <p:spPr>
          <a:xfrm>
            <a:off x="2606040" y="2788920"/>
            <a:ext cx="310896" cy="310896"/>
          </a:xfrm>
          <a:prstGeom prst="ellipse">
            <a:avLst/>
          </a:prstGeom>
          <a:solidFill>
            <a:schemeClr val="accent1"/>
          </a:solidFill>
          <a:ln w="12700">
            <a:solidFill>
              <a:schemeClr val="accent1"/>
            </a:solidFill>
            <a:prstDash val="solid"/>
          </a:ln>
        </p:spPr>
        <p:txBody>
          <a:bodyPr/>
          <a:lstStyle/>
          <a:p>
            <a:endParaRPr lang="it-IT" noProof="0" dirty="0"/>
          </a:p>
        </p:txBody>
      </p:sp>
      <p:sp>
        <p:nvSpPr>
          <p:cNvPr id="27" name="manopola"/>
          <p:cNvSpPr/>
          <p:nvPr/>
        </p:nvSpPr>
        <p:spPr>
          <a:xfrm>
            <a:off x="3063240" y="278892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28" name="manopola"/>
          <p:cNvSpPr/>
          <p:nvPr/>
        </p:nvSpPr>
        <p:spPr>
          <a:xfrm>
            <a:off x="3520440" y="278892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29" name="manopola"/>
          <p:cNvSpPr/>
          <p:nvPr/>
        </p:nvSpPr>
        <p:spPr>
          <a:xfrm>
            <a:off x="3977640" y="2788920"/>
            <a:ext cx="310896" cy="310896"/>
          </a:xfrm>
          <a:prstGeom prst="ellipse">
            <a:avLst/>
          </a:prstGeom>
          <a:solidFill>
            <a:schemeClr val="bg1"/>
          </a:solidFill>
          <a:ln w="12700">
            <a:solidFill>
              <a:schemeClr val="accent1"/>
            </a:solidFill>
            <a:prstDash val="solid"/>
          </a:ln>
        </p:spPr>
        <p:txBody>
          <a:bodyPr/>
          <a:lstStyle/>
          <a:p>
            <a:endParaRPr lang="it-IT" noProof="0" dirty="0"/>
          </a:p>
        </p:txBody>
      </p:sp>
      <p:sp>
        <p:nvSpPr>
          <p:cNvPr id="30" name="Text 27"/>
          <p:cNvSpPr txBox="1"/>
          <p:nvPr/>
        </p:nvSpPr>
        <p:spPr>
          <a:xfrm>
            <a:off x="640080" y="3383280"/>
            <a:ext cx="3840480" cy="1005840"/>
          </a:xfrm>
          <a:prstGeom prst="rect">
            <a:avLst/>
          </a:prstGeom>
          <a:noFill/>
          <a:ln/>
        </p:spPr>
        <p:txBody>
          <a:bodyPr wrap="square" lIns="0" tIns="0" rIns="0" bIns="0" rtlCol="0" anchor="t"/>
          <a:lstStyle/>
          <a:p>
            <a:pPr marL="0" indent="0">
              <a:buNone/>
            </a:pPr>
            <a:r>
              <a:rPr lang="it-IT" sz="1300" noProof="0" dirty="0">
                <a:solidFill>
                  <a:schemeClr val="tx2"/>
                </a:solidFill>
              </a:rPr>
              <a:t>Ogni parametro regola quanto conta un segnale. L'addestramento le regola poco alla volta, finché i risultati sono corretti sugli esempi.</a:t>
            </a:r>
            <a:endParaRPr lang="it-IT" sz="1300" noProof="0" dirty="0"/>
          </a:p>
        </p:txBody>
      </p:sp>
      <p:sp>
        <p:nvSpPr>
          <p:cNvPr id="31" name="callout parametri"/>
          <p:cNvSpPr/>
          <p:nvPr/>
        </p:nvSpPr>
        <p:spPr>
          <a:xfrm>
            <a:off x="4937760" y="1097280"/>
            <a:ext cx="3749040" cy="1600200"/>
          </a:xfrm>
          <a:prstGeom prst="roundRect">
            <a:avLst>
              <a:gd name="adj" fmla="val 4571"/>
            </a:avLst>
          </a:prstGeom>
          <a:solidFill>
            <a:schemeClr val="tx1"/>
          </a:solidFill>
          <a:ln/>
        </p:spPr>
        <p:txBody>
          <a:bodyPr/>
          <a:lstStyle/>
          <a:p>
            <a:endParaRPr lang="it-IT" noProof="0" dirty="0"/>
          </a:p>
        </p:txBody>
      </p:sp>
      <p:sp>
        <p:nvSpPr>
          <p:cNvPr id="32" name="Text 29"/>
          <p:cNvSpPr txBox="1"/>
          <p:nvPr/>
        </p:nvSpPr>
        <p:spPr>
          <a:xfrm>
            <a:off x="5120640" y="1188720"/>
            <a:ext cx="3383280" cy="685800"/>
          </a:xfrm>
          <a:prstGeom prst="rect">
            <a:avLst/>
          </a:prstGeom>
          <a:noFill/>
          <a:ln/>
        </p:spPr>
        <p:txBody>
          <a:bodyPr wrap="square" lIns="0" tIns="0" rIns="0" bIns="0" rtlCol="0" anchor="t"/>
          <a:lstStyle/>
          <a:p>
            <a:pPr marL="0" indent="0">
              <a:buNone/>
            </a:pPr>
            <a:r>
              <a:rPr lang="it-IT" sz="3400" b="1" noProof="0" dirty="0">
                <a:solidFill>
                  <a:schemeClr val="accent1"/>
                </a:solidFill>
              </a:rPr>
              <a:t>175 miliardi</a:t>
            </a:r>
            <a:endParaRPr lang="it-IT" sz="3400" noProof="0" dirty="0"/>
          </a:p>
        </p:txBody>
      </p:sp>
      <p:sp>
        <p:nvSpPr>
          <p:cNvPr id="33" name="Text 30"/>
          <p:cNvSpPr txBox="1"/>
          <p:nvPr/>
        </p:nvSpPr>
        <p:spPr>
          <a:xfrm>
            <a:off x="5120640" y="1920240"/>
            <a:ext cx="3383280" cy="640080"/>
          </a:xfrm>
          <a:prstGeom prst="rect">
            <a:avLst/>
          </a:prstGeom>
          <a:noFill/>
          <a:ln/>
        </p:spPr>
        <p:txBody>
          <a:bodyPr wrap="square" lIns="0" tIns="0" rIns="0" bIns="0" rtlCol="0" anchor="t"/>
          <a:lstStyle/>
          <a:p>
            <a:pPr marL="0" indent="0">
              <a:buNone/>
            </a:pPr>
            <a:r>
              <a:rPr lang="it-IT" sz="1300" noProof="0" dirty="0">
                <a:solidFill>
                  <a:schemeClr val="bg1"/>
                </a:solidFill>
              </a:rPr>
              <a:t>i parametri di GPT-3 (2020). Molti modelli recenti sono più grandi.</a:t>
            </a:r>
            <a:endParaRPr lang="it-IT" sz="1300" noProof="0" dirty="0"/>
          </a:p>
        </p:txBody>
      </p:sp>
      <p:sp>
        <p:nvSpPr>
          <p:cNvPr id="34" name="scheda Fissi durante l'uso"/>
          <p:cNvSpPr/>
          <p:nvPr/>
        </p:nvSpPr>
        <p:spPr>
          <a:xfrm>
            <a:off x="4937760" y="2834640"/>
            <a:ext cx="3749040" cy="1691640"/>
          </a:xfrm>
          <a:prstGeom prst="roundRect">
            <a:avLst>
              <a:gd name="adj" fmla="val 4324"/>
            </a:avLst>
          </a:prstGeom>
          <a:solidFill>
            <a:schemeClr val="bg2"/>
          </a:solidFill>
          <a:ln/>
        </p:spPr>
        <p:txBody>
          <a:bodyPr/>
          <a:lstStyle/>
          <a:p>
            <a:endParaRPr lang="it-IT" noProof="0" dirty="0"/>
          </a:p>
        </p:txBody>
      </p:sp>
      <p:sp>
        <p:nvSpPr>
          <p:cNvPr id="35" name="cerchio FiLock"/>
          <p:cNvSpPr/>
          <p:nvPr/>
        </p:nvSpPr>
        <p:spPr>
          <a:xfrm>
            <a:off x="5120640" y="3017520"/>
            <a:ext cx="457200" cy="457200"/>
          </a:xfrm>
          <a:prstGeom prst="ellipse">
            <a:avLst/>
          </a:prstGeom>
          <a:solidFill>
            <a:schemeClr val="accent1"/>
          </a:solidFill>
          <a:ln/>
        </p:spPr>
        <p:txBody>
          <a:bodyPr/>
          <a:lstStyle/>
          <a:p>
            <a:endParaRPr lang="it-IT" noProof="0" dirty="0"/>
          </a:p>
        </p:txBody>
      </p:sp>
      <p:pic>
        <p:nvPicPr>
          <p:cNvPr id="36" name="Image 0" descr="FiLock"/>
          <p:cNvPicPr>
            <a:picLocks noChangeAspect="1"/>
          </p:cNvPicPr>
          <p:nvPr/>
        </p:nvPicPr>
        <p:blipFill>
          <a:blip r:embed="rId3"/>
          <a:stretch>
            <a:fillRect/>
          </a:stretch>
        </p:blipFill>
        <p:spPr>
          <a:xfrm>
            <a:off x="5234940" y="3131820"/>
            <a:ext cx="228600" cy="228600"/>
          </a:xfrm>
          <a:prstGeom prst="rect">
            <a:avLst/>
          </a:prstGeom>
        </p:spPr>
      </p:pic>
      <p:sp>
        <p:nvSpPr>
          <p:cNvPr id="37" name="Text 33"/>
          <p:cNvSpPr txBox="1"/>
          <p:nvPr/>
        </p:nvSpPr>
        <p:spPr>
          <a:xfrm>
            <a:off x="5715000" y="3017520"/>
            <a:ext cx="2788920" cy="457200"/>
          </a:xfrm>
          <a:prstGeom prst="rect">
            <a:avLst/>
          </a:prstGeom>
          <a:noFill/>
          <a:ln/>
        </p:spPr>
        <p:txBody>
          <a:bodyPr wrap="square" lIns="0" tIns="0" rIns="0" bIns="0" rtlCol="0" anchor="ctr"/>
          <a:lstStyle/>
          <a:p>
            <a:pPr marL="0" indent="0">
              <a:buNone/>
            </a:pPr>
            <a:r>
              <a:rPr lang="it-IT" sz="1500" b="1" noProof="0" dirty="0">
                <a:solidFill>
                  <a:schemeClr val="tx1"/>
                </a:solidFill>
              </a:rPr>
              <a:t>Fissi durante l'uso</a:t>
            </a:r>
            <a:endParaRPr lang="it-IT" sz="1500" noProof="0" dirty="0"/>
          </a:p>
        </p:txBody>
      </p:sp>
      <p:sp>
        <p:nvSpPr>
          <p:cNvPr id="38" name="Text 34"/>
          <p:cNvSpPr txBox="1"/>
          <p:nvPr/>
        </p:nvSpPr>
        <p:spPr>
          <a:xfrm>
            <a:off x="5120640" y="3611880"/>
            <a:ext cx="3383280" cy="804672"/>
          </a:xfrm>
          <a:prstGeom prst="rect">
            <a:avLst/>
          </a:prstGeom>
          <a:noFill/>
          <a:ln/>
        </p:spPr>
        <p:txBody>
          <a:bodyPr wrap="square" lIns="0" tIns="0" rIns="0" bIns="0" rtlCol="0" anchor="t"/>
          <a:lstStyle/>
          <a:p>
            <a:pPr marL="0" indent="0">
              <a:buNone/>
            </a:pPr>
            <a:r>
              <a:rPr lang="it-IT" sz="1300" noProof="0" dirty="0">
                <a:solidFill>
                  <a:schemeClr val="tx2"/>
                </a:solidFill>
              </a:rPr>
              <a:t>Non sono un archivio dei dati ma una rappresentazione delle regolarità. Usando l'assistente non li modifichiamo.</a:t>
            </a:r>
            <a:endParaRPr lang="it-IT" sz="1300" noProof="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noProof="0" smtClean="0"/>
              <a:t>39</a:t>
            </a:fld>
            <a:endParaRPr lang="it-IT" noProof="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Il ciclo di addestramento</a:t>
            </a:r>
            <a:endParaRPr lang="it-IT" sz="2600" noProof="0" dirty="0"/>
          </a:p>
        </p:txBody>
      </p:sp>
      <p:sp>
        <p:nvSpPr>
          <p:cNvPr id="4" name="Previsione"/>
          <p:cNvSpPr/>
          <p:nvPr/>
        </p:nvSpPr>
        <p:spPr>
          <a:xfrm>
            <a:off x="457200" y="1188720"/>
            <a:ext cx="1874520" cy="2331720"/>
          </a:xfrm>
          <a:prstGeom prst="roundRect">
            <a:avLst>
              <a:gd name="adj" fmla="val 3902"/>
            </a:avLst>
          </a:prstGeom>
          <a:solidFill>
            <a:schemeClr val="bg2"/>
          </a:solidFill>
          <a:ln/>
        </p:spPr>
        <p:txBody>
          <a:bodyPr/>
          <a:lstStyle/>
          <a:p>
            <a:endParaRPr lang="it-IT" noProof="0" dirty="0"/>
          </a:p>
        </p:txBody>
      </p:sp>
      <p:sp>
        <p:nvSpPr>
          <p:cNvPr id="5" name="cerchio FiPlayCircle"/>
          <p:cNvSpPr/>
          <p:nvPr/>
        </p:nvSpPr>
        <p:spPr>
          <a:xfrm>
            <a:off x="1115568" y="1371600"/>
            <a:ext cx="548640" cy="548640"/>
          </a:xfrm>
          <a:prstGeom prst="ellipse">
            <a:avLst/>
          </a:prstGeom>
          <a:solidFill>
            <a:schemeClr val="accent1"/>
          </a:solidFill>
          <a:ln/>
        </p:spPr>
        <p:txBody>
          <a:bodyPr/>
          <a:lstStyle/>
          <a:p>
            <a:endParaRPr lang="it-IT" noProof="0" dirty="0"/>
          </a:p>
        </p:txBody>
      </p:sp>
      <p:pic>
        <p:nvPicPr>
          <p:cNvPr id="6" name="Image 0" descr="FiPlayCircle"/>
          <p:cNvPicPr>
            <a:picLocks noChangeAspect="1"/>
          </p:cNvPicPr>
          <p:nvPr/>
        </p:nvPicPr>
        <p:blipFill>
          <a:blip r:embed="rId3"/>
          <a:stretch>
            <a:fillRect/>
          </a:stretch>
        </p:blipFill>
        <p:spPr>
          <a:xfrm>
            <a:off x="1252728" y="1508760"/>
            <a:ext cx="274320" cy="274320"/>
          </a:xfrm>
          <a:prstGeom prst="rect">
            <a:avLst/>
          </a:prstGeom>
        </p:spPr>
      </p:pic>
      <p:sp>
        <p:nvSpPr>
          <p:cNvPr id="7" name="Text 3"/>
          <p:cNvSpPr txBox="1"/>
          <p:nvPr/>
        </p:nvSpPr>
        <p:spPr>
          <a:xfrm>
            <a:off x="566928" y="2011680"/>
            <a:ext cx="1655064" cy="365760"/>
          </a:xfrm>
          <a:prstGeom prst="rect">
            <a:avLst/>
          </a:prstGeom>
          <a:noFill/>
          <a:ln/>
        </p:spPr>
        <p:txBody>
          <a:bodyPr wrap="square" lIns="0" tIns="0" rIns="0" bIns="0" rtlCol="0" anchor="t"/>
          <a:lstStyle/>
          <a:p>
            <a:pPr marL="0" indent="0" algn="ctr">
              <a:buNone/>
            </a:pPr>
            <a:r>
              <a:rPr lang="it-IT" sz="1500" b="1" noProof="0" dirty="0">
                <a:solidFill>
                  <a:schemeClr val="tx1"/>
                </a:solidFill>
              </a:rPr>
              <a:t>1. Previsione</a:t>
            </a:r>
            <a:endParaRPr lang="it-IT" sz="1500" noProof="0" dirty="0"/>
          </a:p>
        </p:txBody>
      </p:sp>
      <p:sp>
        <p:nvSpPr>
          <p:cNvPr id="8" name="Text 4"/>
          <p:cNvSpPr txBox="1"/>
          <p:nvPr/>
        </p:nvSpPr>
        <p:spPr>
          <a:xfrm>
            <a:off x="594360" y="2423160"/>
            <a:ext cx="1600200" cy="1005840"/>
          </a:xfrm>
          <a:prstGeom prst="rect">
            <a:avLst/>
          </a:prstGeom>
          <a:noFill/>
          <a:ln/>
        </p:spPr>
        <p:txBody>
          <a:bodyPr wrap="square" lIns="0" tIns="0" rIns="0" bIns="0" rtlCol="0" anchor="t"/>
          <a:lstStyle/>
          <a:p>
            <a:pPr marL="0" indent="0" algn="ctr">
              <a:buNone/>
            </a:pPr>
            <a:r>
              <a:rPr lang="it-IT" sz="1200" noProof="0" dirty="0">
                <a:solidFill>
                  <a:schemeClr val="tx2"/>
                </a:solidFill>
              </a:rPr>
              <a:t>Il modello elabora un esempio con i parametri attuali</a:t>
            </a:r>
            <a:endParaRPr lang="it-IT" sz="1200" noProof="0" dirty="0"/>
          </a:p>
        </p:txBody>
      </p:sp>
      <p:sp>
        <p:nvSpPr>
          <p:cNvPr id="9" name="freccia"/>
          <p:cNvSpPr/>
          <p:nvPr/>
        </p:nvSpPr>
        <p:spPr>
          <a:xfrm>
            <a:off x="2350008" y="2194560"/>
            <a:ext cx="219456" cy="292608"/>
          </a:xfrm>
          <a:prstGeom prst="rightArrow">
            <a:avLst/>
          </a:prstGeom>
          <a:solidFill>
            <a:schemeClr val="accent2"/>
          </a:solidFill>
          <a:ln/>
        </p:spPr>
        <p:txBody>
          <a:bodyPr/>
          <a:lstStyle/>
          <a:p>
            <a:endParaRPr lang="it-IT" noProof="0" dirty="0"/>
          </a:p>
        </p:txBody>
      </p:sp>
      <p:sp>
        <p:nvSpPr>
          <p:cNvPr id="10" name="Confronto"/>
          <p:cNvSpPr/>
          <p:nvPr/>
        </p:nvSpPr>
        <p:spPr>
          <a:xfrm>
            <a:off x="2587752" y="1188720"/>
            <a:ext cx="1874520" cy="2331720"/>
          </a:xfrm>
          <a:prstGeom prst="roundRect">
            <a:avLst>
              <a:gd name="adj" fmla="val 3902"/>
            </a:avLst>
          </a:prstGeom>
          <a:solidFill>
            <a:schemeClr val="bg2"/>
          </a:solidFill>
          <a:ln/>
        </p:spPr>
        <p:txBody>
          <a:bodyPr/>
          <a:lstStyle/>
          <a:p>
            <a:endParaRPr lang="it-IT" noProof="0" dirty="0"/>
          </a:p>
        </p:txBody>
      </p:sp>
      <p:sp>
        <p:nvSpPr>
          <p:cNvPr id="11" name="cerchio FiColumns"/>
          <p:cNvSpPr/>
          <p:nvPr/>
        </p:nvSpPr>
        <p:spPr>
          <a:xfrm>
            <a:off x="3246120" y="1371600"/>
            <a:ext cx="548640" cy="548640"/>
          </a:xfrm>
          <a:prstGeom prst="ellipse">
            <a:avLst/>
          </a:prstGeom>
          <a:solidFill>
            <a:schemeClr val="accent1"/>
          </a:solidFill>
          <a:ln/>
        </p:spPr>
        <p:txBody>
          <a:bodyPr/>
          <a:lstStyle/>
          <a:p>
            <a:endParaRPr lang="it-IT" noProof="0" dirty="0"/>
          </a:p>
        </p:txBody>
      </p:sp>
      <p:pic>
        <p:nvPicPr>
          <p:cNvPr id="12" name="Image 1" descr="FiColumns"/>
          <p:cNvPicPr>
            <a:picLocks noChangeAspect="1"/>
          </p:cNvPicPr>
          <p:nvPr/>
        </p:nvPicPr>
        <p:blipFill>
          <a:blip r:embed="rId4"/>
          <a:stretch>
            <a:fillRect/>
          </a:stretch>
        </p:blipFill>
        <p:spPr>
          <a:xfrm>
            <a:off x="3383280" y="1508760"/>
            <a:ext cx="274320" cy="274320"/>
          </a:xfrm>
          <a:prstGeom prst="rect">
            <a:avLst/>
          </a:prstGeom>
        </p:spPr>
      </p:pic>
      <p:sp>
        <p:nvSpPr>
          <p:cNvPr id="13" name="Text 8"/>
          <p:cNvSpPr txBox="1"/>
          <p:nvPr/>
        </p:nvSpPr>
        <p:spPr>
          <a:xfrm>
            <a:off x="2697480" y="2011680"/>
            <a:ext cx="1655064" cy="365760"/>
          </a:xfrm>
          <a:prstGeom prst="rect">
            <a:avLst/>
          </a:prstGeom>
          <a:noFill/>
          <a:ln/>
        </p:spPr>
        <p:txBody>
          <a:bodyPr wrap="square" lIns="0" tIns="0" rIns="0" bIns="0" rtlCol="0" anchor="t"/>
          <a:lstStyle/>
          <a:p>
            <a:pPr marL="0" indent="0" algn="ctr">
              <a:buNone/>
            </a:pPr>
            <a:r>
              <a:rPr lang="it-IT" sz="1500" b="1" noProof="0" dirty="0">
                <a:solidFill>
                  <a:schemeClr val="tx1"/>
                </a:solidFill>
              </a:rPr>
              <a:t>2. Confronto</a:t>
            </a:r>
            <a:endParaRPr lang="it-IT" sz="1500" noProof="0" dirty="0"/>
          </a:p>
        </p:txBody>
      </p:sp>
      <p:sp>
        <p:nvSpPr>
          <p:cNvPr id="14" name="Text 9"/>
          <p:cNvSpPr txBox="1"/>
          <p:nvPr/>
        </p:nvSpPr>
        <p:spPr>
          <a:xfrm>
            <a:off x="2724912" y="2423160"/>
            <a:ext cx="1600200" cy="1005840"/>
          </a:xfrm>
          <a:prstGeom prst="rect">
            <a:avLst/>
          </a:prstGeom>
          <a:noFill/>
          <a:ln/>
        </p:spPr>
        <p:txBody>
          <a:bodyPr wrap="square" lIns="0" tIns="0" rIns="0" bIns="0" rtlCol="0" anchor="t"/>
          <a:lstStyle/>
          <a:p>
            <a:pPr marL="0" indent="0" algn="ctr">
              <a:buNone/>
            </a:pPr>
            <a:r>
              <a:rPr lang="it-IT" sz="1200" noProof="0" dirty="0">
                <a:solidFill>
                  <a:schemeClr val="tx2"/>
                </a:solidFill>
              </a:rPr>
              <a:t>La previsione è confrontata con la risposta corretta</a:t>
            </a:r>
            <a:endParaRPr lang="it-IT" sz="1200" noProof="0" dirty="0"/>
          </a:p>
        </p:txBody>
      </p:sp>
      <p:sp>
        <p:nvSpPr>
          <p:cNvPr id="15" name="freccia"/>
          <p:cNvSpPr/>
          <p:nvPr/>
        </p:nvSpPr>
        <p:spPr>
          <a:xfrm>
            <a:off x="4480560" y="2194560"/>
            <a:ext cx="219456" cy="292608"/>
          </a:xfrm>
          <a:prstGeom prst="rightArrow">
            <a:avLst/>
          </a:prstGeom>
          <a:solidFill>
            <a:schemeClr val="accent2"/>
          </a:solidFill>
          <a:ln/>
        </p:spPr>
        <p:txBody>
          <a:bodyPr/>
          <a:lstStyle/>
          <a:p>
            <a:endParaRPr lang="it-IT" noProof="0" dirty="0"/>
          </a:p>
        </p:txBody>
      </p:sp>
      <p:sp>
        <p:nvSpPr>
          <p:cNvPr id="16" name="Errore"/>
          <p:cNvSpPr/>
          <p:nvPr/>
        </p:nvSpPr>
        <p:spPr>
          <a:xfrm>
            <a:off x="4718304" y="1188720"/>
            <a:ext cx="1874520" cy="2331720"/>
          </a:xfrm>
          <a:prstGeom prst="roundRect">
            <a:avLst>
              <a:gd name="adj" fmla="val 3902"/>
            </a:avLst>
          </a:prstGeom>
          <a:solidFill>
            <a:schemeClr val="bg2"/>
          </a:solidFill>
          <a:ln/>
        </p:spPr>
        <p:txBody>
          <a:bodyPr/>
          <a:lstStyle/>
          <a:p>
            <a:endParaRPr lang="it-IT" noProof="0" dirty="0"/>
          </a:p>
        </p:txBody>
      </p:sp>
      <p:sp>
        <p:nvSpPr>
          <p:cNvPr id="17" name="cerchio FiActivity"/>
          <p:cNvSpPr/>
          <p:nvPr/>
        </p:nvSpPr>
        <p:spPr>
          <a:xfrm>
            <a:off x="5376672" y="1371600"/>
            <a:ext cx="548640" cy="548640"/>
          </a:xfrm>
          <a:prstGeom prst="ellipse">
            <a:avLst/>
          </a:prstGeom>
          <a:solidFill>
            <a:schemeClr val="accent1"/>
          </a:solidFill>
          <a:ln/>
        </p:spPr>
        <p:txBody>
          <a:bodyPr/>
          <a:lstStyle/>
          <a:p>
            <a:endParaRPr lang="it-IT" noProof="0" dirty="0"/>
          </a:p>
        </p:txBody>
      </p:sp>
      <p:pic>
        <p:nvPicPr>
          <p:cNvPr id="18" name="Image 2" descr="FiActivity"/>
          <p:cNvPicPr>
            <a:picLocks noChangeAspect="1"/>
          </p:cNvPicPr>
          <p:nvPr/>
        </p:nvPicPr>
        <p:blipFill>
          <a:blip r:embed="rId5"/>
          <a:stretch>
            <a:fillRect/>
          </a:stretch>
        </p:blipFill>
        <p:spPr>
          <a:xfrm>
            <a:off x="5513832" y="1508760"/>
            <a:ext cx="274320" cy="274320"/>
          </a:xfrm>
          <a:prstGeom prst="rect">
            <a:avLst/>
          </a:prstGeom>
        </p:spPr>
      </p:pic>
      <p:sp>
        <p:nvSpPr>
          <p:cNvPr id="19" name="Text 13"/>
          <p:cNvSpPr txBox="1"/>
          <p:nvPr/>
        </p:nvSpPr>
        <p:spPr>
          <a:xfrm>
            <a:off x="4828032" y="2011680"/>
            <a:ext cx="1655064" cy="365760"/>
          </a:xfrm>
          <a:prstGeom prst="rect">
            <a:avLst/>
          </a:prstGeom>
          <a:noFill/>
          <a:ln/>
        </p:spPr>
        <p:txBody>
          <a:bodyPr wrap="square" lIns="0" tIns="0" rIns="0" bIns="0" rtlCol="0" anchor="t"/>
          <a:lstStyle/>
          <a:p>
            <a:pPr marL="0" indent="0" algn="ctr">
              <a:buNone/>
            </a:pPr>
            <a:r>
              <a:rPr lang="it-IT" sz="1500" b="1" noProof="0" dirty="0">
                <a:solidFill>
                  <a:schemeClr val="tx1"/>
                </a:solidFill>
              </a:rPr>
              <a:t>3. Errore</a:t>
            </a:r>
            <a:endParaRPr lang="it-IT" sz="1500" noProof="0" dirty="0"/>
          </a:p>
        </p:txBody>
      </p:sp>
      <p:sp>
        <p:nvSpPr>
          <p:cNvPr id="20" name="Text 14"/>
          <p:cNvSpPr txBox="1"/>
          <p:nvPr/>
        </p:nvSpPr>
        <p:spPr>
          <a:xfrm>
            <a:off x="4855464" y="2423160"/>
            <a:ext cx="1600200" cy="1005840"/>
          </a:xfrm>
          <a:prstGeom prst="rect">
            <a:avLst/>
          </a:prstGeom>
          <a:noFill/>
          <a:ln/>
        </p:spPr>
        <p:txBody>
          <a:bodyPr wrap="square" lIns="0" tIns="0" rIns="0" bIns="0" rtlCol="0" anchor="t"/>
          <a:lstStyle/>
          <a:p>
            <a:pPr marL="0" indent="0" algn="ctr">
              <a:buNone/>
            </a:pPr>
            <a:r>
              <a:rPr lang="it-IT" sz="1200" noProof="0" dirty="0">
                <a:solidFill>
                  <a:schemeClr val="tx2"/>
                </a:solidFill>
              </a:rPr>
              <a:t>Si misura quanto la previsione si discosta</a:t>
            </a:r>
            <a:endParaRPr lang="it-IT" sz="1200" noProof="0" dirty="0"/>
          </a:p>
        </p:txBody>
      </p:sp>
      <p:sp>
        <p:nvSpPr>
          <p:cNvPr id="21" name="freccia"/>
          <p:cNvSpPr/>
          <p:nvPr/>
        </p:nvSpPr>
        <p:spPr>
          <a:xfrm>
            <a:off x="6611112" y="2194560"/>
            <a:ext cx="219456" cy="292608"/>
          </a:xfrm>
          <a:prstGeom prst="rightArrow">
            <a:avLst/>
          </a:prstGeom>
          <a:solidFill>
            <a:schemeClr val="accent2"/>
          </a:solidFill>
          <a:ln/>
        </p:spPr>
        <p:txBody>
          <a:bodyPr/>
          <a:lstStyle/>
          <a:p>
            <a:endParaRPr lang="it-IT" noProof="0" dirty="0"/>
          </a:p>
        </p:txBody>
      </p:sp>
      <p:sp>
        <p:nvSpPr>
          <p:cNvPr id="22" name="Aggiustamento"/>
          <p:cNvSpPr/>
          <p:nvPr/>
        </p:nvSpPr>
        <p:spPr>
          <a:xfrm>
            <a:off x="6848856" y="1188720"/>
            <a:ext cx="1874520" cy="2331720"/>
          </a:xfrm>
          <a:prstGeom prst="roundRect">
            <a:avLst>
              <a:gd name="adj" fmla="val 3902"/>
            </a:avLst>
          </a:prstGeom>
          <a:solidFill>
            <a:schemeClr val="accent6"/>
          </a:solidFill>
          <a:ln/>
        </p:spPr>
        <p:txBody>
          <a:bodyPr/>
          <a:lstStyle/>
          <a:p>
            <a:endParaRPr lang="it-IT" noProof="0" dirty="0"/>
          </a:p>
        </p:txBody>
      </p:sp>
      <p:sp>
        <p:nvSpPr>
          <p:cNvPr id="23" name="cerchio FiSliders"/>
          <p:cNvSpPr/>
          <p:nvPr/>
        </p:nvSpPr>
        <p:spPr>
          <a:xfrm>
            <a:off x="7507224" y="1371600"/>
            <a:ext cx="548640" cy="548640"/>
          </a:xfrm>
          <a:prstGeom prst="ellipse">
            <a:avLst/>
          </a:prstGeom>
          <a:solidFill>
            <a:schemeClr val="accent1"/>
          </a:solidFill>
          <a:ln/>
        </p:spPr>
        <p:txBody>
          <a:bodyPr/>
          <a:lstStyle/>
          <a:p>
            <a:endParaRPr lang="it-IT" noProof="0" dirty="0"/>
          </a:p>
        </p:txBody>
      </p:sp>
      <p:pic>
        <p:nvPicPr>
          <p:cNvPr id="24" name="Image 3" descr="FiSliders"/>
          <p:cNvPicPr>
            <a:picLocks noChangeAspect="1"/>
          </p:cNvPicPr>
          <p:nvPr/>
        </p:nvPicPr>
        <p:blipFill>
          <a:blip r:embed="rId6"/>
          <a:stretch>
            <a:fillRect/>
          </a:stretch>
        </p:blipFill>
        <p:spPr>
          <a:xfrm>
            <a:off x="7644384" y="1508760"/>
            <a:ext cx="274320" cy="274320"/>
          </a:xfrm>
          <a:prstGeom prst="rect">
            <a:avLst/>
          </a:prstGeom>
        </p:spPr>
      </p:pic>
      <p:sp>
        <p:nvSpPr>
          <p:cNvPr id="25" name="Text 18"/>
          <p:cNvSpPr txBox="1"/>
          <p:nvPr/>
        </p:nvSpPr>
        <p:spPr>
          <a:xfrm>
            <a:off x="6958584" y="2011680"/>
            <a:ext cx="1655064" cy="365760"/>
          </a:xfrm>
          <a:prstGeom prst="rect">
            <a:avLst/>
          </a:prstGeom>
          <a:noFill/>
          <a:ln/>
        </p:spPr>
        <p:txBody>
          <a:bodyPr wrap="square" lIns="0" tIns="0" rIns="0" bIns="0" rtlCol="0" anchor="t"/>
          <a:lstStyle/>
          <a:p>
            <a:pPr marL="0" indent="0" algn="ctr">
              <a:buNone/>
            </a:pPr>
            <a:r>
              <a:rPr lang="it-IT" sz="1500" b="1" noProof="0" dirty="0">
                <a:solidFill>
                  <a:schemeClr val="tx1"/>
                </a:solidFill>
              </a:rPr>
              <a:t>4. Aggiustamento</a:t>
            </a:r>
            <a:endParaRPr lang="it-IT" sz="1500" noProof="0" dirty="0"/>
          </a:p>
        </p:txBody>
      </p:sp>
      <p:sp>
        <p:nvSpPr>
          <p:cNvPr id="26" name="Text 19"/>
          <p:cNvSpPr txBox="1"/>
          <p:nvPr/>
        </p:nvSpPr>
        <p:spPr>
          <a:xfrm>
            <a:off x="6986016" y="2423160"/>
            <a:ext cx="1600200" cy="1005840"/>
          </a:xfrm>
          <a:prstGeom prst="rect">
            <a:avLst/>
          </a:prstGeom>
          <a:noFill/>
          <a:ln/>
        </p:spPr>
        <p:txBody>
          <a:bodyPr wrap="square" lIns="0" tIns="0" rIns="0" bIns="0" rtlCol="0" anchor="t"/>
          <a:lstStyle/>
          <a:p>
            <a:pPr marL="0" indent="0" algn="ctr">
              <a:buNone/>
            </a:pPr>
            <a:r>
              <a:rPr lang="it-IT" sz="1200" noProof="0" dirty="0">
                <a:solidFill>
                  <a:schemeClr val="tx2"/>
                </a:solidFill>
              </a:rPr>
              <a:t>I parametri si modificano per ridurre l'errore</a:t>
            </a:r>
            <a:endParaRPr lang="it-IT" sz="1200" noProof="0" dirty="0"/>
          </a:p>
        </p:txBody>
      </p:sp>
      <p:sp>
        <p:nvSpPr>
          <p:cNvPr id="27" name="ripetizione"/>
          <p:cNvSpPr/>
          <p:nvPr/>
        </p:nvSpPr>
        <p:spPr>
          <a:xfrm>
            <a:off x="457200" y="3703320"/>
            <a:ext cx="8229600" cy="822960"/>
          </a:xfrm>
          <a:prstGeom prst="roundRect">
            <a:avLst>
              <a:gd name="adj" fmla="val 8889"/>
            </a:avLst>
          </a:prstGeom>
          <a:solidFill>
            <a:schemeClr val="tx1"/>
          </a:solidFill>
          <a:ln/>
        </p:spPr>
        <p:txBody>
          <a:bodyPr/>
          <a:lstStyle/>
          <a:p>
            <a:endParaRPr lang="it-IT" noProof="0" dirty="0"/>
          </a:p>
        </p:txBody>
      </p:sp>
      <p:sp>
        <p:nvSpPr>
          <p:cNvPr id="28" name="cerchio FiRepeat"/>
          <p:cNvSpPr/>
          <p:nvPr/>
        </p:nvSpPr>
        <p:spPr>
          <a:xfrm>
            <a:off x="640080" y="3840480"/>
            <a:ext cx="548640" cy="548640"/>
          </a:xfrm>
          <a:prstGeom prst="ellipse">
            <a:avLst/>
          </a:prstGeom>
          <a:solidFill>
            <a:schemeClr val="accent1"/>
          </a:solidFill>
          <a:ln/>
        </p:spPr>
        <p:txBody>
          <a:bodyPr/>
          <a:lstStyle/>
          <a:p>
            <a:endParaRPr lang="it-IT" noProof="0" dirty="0"/>
          </a:p>
        </p:txBody>
      </p:sp>
      <p:pic>
        <p:nvPicPr>
          <p:cNvPr id="29" name="Image 4" descr="FiRepeat"/>
          <p:cNvPicPr>
            <a:picLocks noChangeAspect="1"/>
          </p:cNvPicPr>
          <p:nvPr/>
        </p:nvPicPr>
        <p:blipFill>
          <a:blip r:embed="rId7"/>
          <a:stretch>
            <a:fillRect/>
          </a:stretch>
        </p:blipFill>
        <p:spPr>
          <a:xfrm>
            <a:off x="777240" y="3977640"/>
            <a:ext cx="274320" cy="274320"/>
          </a:xfrm>
          <a:prstGeom prst="rect">
            <a:avLst/>
          </a:prstGeom>
        </p:spPr>
      </p:pic>
      <p:sp>
        <p:nvSpPr>
          <p:cNvPr id="30" name="Text 22"/>
          <p:cNvSpPr txBox="1"/>
          <p:nvPr/>
        </p:nvSpPr>
        <p:spPr>
          <a:xfrm>
            <a:off x="1371600" y="3703320"/>
            <a:ext cx="7178040" cy="822960"/>
          </a:xfrm>
          <a:prstGeom prst="rect">
            <a:avLst/>
          </a:prstGeom>
          <a:noFill/>
          <a:ln/>
        </p:spPr>
        <p:txBody>
          <a:bodyPr wrap="square" lIns="0" tIns="0" rIns="0" bIns="0" rtlCol="0" anchor="ctr"/>
          <a:lstStyle/>
          <a:p>
            <a:pPr marL="0" indent="0">
              <a:buNone/>
            </a:pPr>
            <a:r>
              <a:rPr lang="it-IT" sz="1400" noProof="0" dirty="0">
                <a:solidFill>
                  <a:schemeClr val="bg1"/>
                </a:solidFill>
              </a:rPr>
              <a:t>Ripetuto milioni o miliardi di volte. Per i grandi modelli servono settimane o mesi di calcolo: non avviene mentre li usiamo.</a:t>
            </a:r>
            <a:endParaRPr lang="it-IT" sz="1400" noProof="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noProof="0" smtClean="0"/>
              <a:t>40</a:t>
            </a:fld>
            <a:endParaRPr lang="it-IT" noProof="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Addestramento e inferenza</a:t>
            </a:r>
            <a:endParaRPr lang="it-IT" sz="2600" noProof="0" dirty="0"/>
          </a:p>
        </p:txBody>
      </p:sp>
      <p:graphicFrame>
        <p:nvGraphicFramePr>
          <p:cNvPr id="29" name="Table 0"/>
          <p:cNvGraphicFramePr>
            <a:graphicFrameLocks noGrp="1"/>
          </p:cNvGraphicFramePr>
          <p:nvPr/>
        </p:nvGraphicFramePr>
        <p:xfrm>
          <a:off x="457200" y="1097280"/>
          <a:ext cx="8229600" cy="3008376"/>
        </p:xfrm>
        <a:graphic>
          <a:graphicData uri="http://schemas.openxmlformats.org/drawingml/2006/table">
            <a:tbl>
              <a:tblPr/>
              <a:tblGrid>
                <a:gridCol w="173736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tblGrid>
              <a:tr h="429768">
                <a:tc>
                  <a:txBody>
                    <a:bodyPr/>
                    <a:lstStyle/>
                    <a:p>
                      <a:pPr marL="0" indent="0">
                        <a:buNone/>
                      </a:pP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b="1" noProof="0" dirty="0">
                          <a:solidFill>
                            <a:schemeClr val="bg1"/>
                          </a:solidFill>
                        </a:rPr>
                        <a:t>Addestramento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it-IT" sz="1300" b="1" noProof="0" dirty="0">
                          <a:solidFill>
                            <a:schemeClr val="bg1"/>
                          </a:solidFill>
                        </a:rPr>
                        <a:t>Inferenza</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29768">
                <a:tc>
                  <a:txBody>
                    <a:bodyPr/>
                    <a:lstStyle/>
                    <a:p>
                      <a:pPr marL="0" indent="0">
                        <a:buNone/>
                      </a:pPr>
                      <a:r>
                        <a:rPr lang="it-IT" sz="1300" b="1" noProof="0" dirty="0">
                          <a:solidFill>
                            <a:schemeClr val="tx1"/>
                          </a:solidFill>
                        </a:rPr>
                        <a:t>Che cosa avviene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Il modello apprende dagli esempi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Il modello elabora un nuovo input</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429768">
                <a:tc>
                  <a:txBody>
                    <a:bodyPr/>
                    <a:lstStyle/>
                    <a:p>
                      <a:pPr marL="0" indent="0">
                        <a:buNone/>
                      </a:pPr>
                      <a:r>
                        <a:rPr lang="it-IT" sz="1300" b="1" noProof="0" dirty="0">
                          <a:solidFill>
                            <a:schemeClr val="tx1"/>
                          </a:solidFill>
                        </a:rPr>
                        <a:t>Parametri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Vengono modificati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Restano invariati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2"/>
                  </a:ext>
                </a:extLst>
              </a:tr>
              <a:tr h="429768">
                <a:tc>
                  <a:txBody>
                    <a:bodyPr/>
                    <a:lstStyle/>
                    <a:p>
                      <a:pPr marL="0" indent="0">
                        <a:buNone/>
                      </a:pPr>
                      <a:r>
                        <a:rPr lang="it-IT" sz="1300" b="1" noProof="0" dirty="0">
                          <a:solidFill>
                            <a:schemeClr val="tx1"/>
                          </a:solidFill>
                        </a:rPr>
                        <a:t>Dati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Grandi quantità di esempi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La singola richiesta e il suo contesto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3"/>
                  </a:ext>
                </a:extLst>
              </a:tr>
              <a:tr h="429768">
                <a:tc>
                  <a:txBody>
                    <a:bodyPr/>
                    <a:lstStyle/>
                    <a:p>
                      <a:pPr marL="0" indent="0">
                        <a:buNone/>
                      </a:pPr>
                      <a:r>
                        <a:rPr lang="it-IT" sz="1300" b="1" noProof="0" dirty="0">
                          <a:solidFill>
                            <a:schemeClr val="tx1"/>
                          </a:solidFill>
                        </a:rPr>
                        <a:t>Quando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Prima della messa a disposizione, raramente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Ogni volta che il sistema viene usato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4"/>
                  </a:ext>
                </a:extLst>
              </a:tr>
              <a:tr h="429768">
                <a:tc>
                  <a:txBody>
                    <a:bodyPr/>
                    <a:lstStyle/>
                    <a:p>
                      <a:pPr marL="0" indent="0">
                        <a:buNone/>
                      </a:pPr>
                      <a:r>
                        <a:rPr lang="it-IT" sz="1300" b="1" noProof="0" dirty="0">
                          <a:solidFill>
                            <a:schemeClr val="tx1"/>
                          </a:solidFill>
                        </a:rPr>
                        <a:t>Risorse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Enormi: settimane o mesi di calcolo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Molto minori, tempi brevi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5"/>
                  </a:ext>
                </a:extLst>
              </a:tr>
              <a:tr h="429768">
                <a:tc>
                  <a:txBody>
                    <a:bodyPr/>
                    <a:lstStyle/>
                    <a:p>
                      <a:pPr marL="0" indent="0">
                        <a:buNone/>
                      </a:pPr>
                      <a:r>
                        <a:rPr lang="it-IT" sz="1300" b="1" noProof="0" dirty="0">
                          <a:solidFill>
                            <a:schemeClr val="tx1"/>
                          </a:solidFill>
                        </a:rPr>
                        <a:t>Chi lo fa</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Lo sviluppatore del modello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Chiunque usi il sistema</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6"/>
                  </a:ext>
                </a:extLst>
              </a:tr>
            </a:tbl>
          </a:graphicData>
        </a:graphic>
      </p:graphicFrame>
      <p:sp>
        <p:nvSpPr>
          <p:cNvPr id="5" name="Text 1"/>
          <p:cNvSpPr txBox="1"/>
          <p:nvPr/>
        </p:nvSpPr>
        <p:spPr>
          <a:xfrm>
            <a:off x="457200" y="4251960"/>
            <a:ext cx="8229600" cy="320040"/>
          </a:xfrm>
          <a:prstGeom prst="rect">
            <a:avLst/>
          </a:prstGeom>
          <a:noFill/>
          <a:ln/>
        </p:spPr>
        <p:txBody>
          <a:bodyPr wrap="square" lIns="0" tIns="0" rIns="0" bIns="0" rtlCol="0" anchor="t"/>
          <a:lstStyle/>
          <a:p>
            <a:pPr marL="0" indent="0">
              <a:buNone/>
            </a:pPr>
            <a:r>
              <a:rPr lang="it-IT" sz="1300" i="1" noProof="0" dirty="0">
                <a:solidFill>
                  <a:schemeClr val="tx1"/>
                </a:solidFill>
              </a:rPr>
              <a:t>Quando usiamo un assistente siamo in inferenza: correggerlo non lo riaddestra.</a:t>
            </a:r>
            <a:endParaRPr lang="it-IT" sz="13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noProof="0" smtClean="0"/>
              <a:t>41</a:t>
            </a:fld>
            <a:endParaRPr lang="it-IT" noProof="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it-IT" sz="6000" b="1" noProof="0" dirty="0">
                <a:solidFill>
                  <a:schemeClr val="accent1"/>
                </a:solidFill>
              </a:rPr>
              <a:t>2.4</a:t>
            </a:r>
            <a:endParaRPr lang="it-IT" sz="6000" noProof="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it-IT" sz="3200" b="1" noProof="0" dirty="0">
                <a:solidFill>
                  <a:schemeClr val="bg1"/>
                </a:solidFill>
              </a:rPr>
              <a:t>Che cosa sono i Large Language Models</a:t>
            </a:r>
            <a:endParaRPr lang="it-IT" sz="3200" noProof="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it-IT" sz="1600" noProof="0" dirty="0">
                <a:solidFill>
                  <a:schemeClr val="accent3"/>
                </a:solidFill>
              </a:rPr>
              <a:t>Generano output usando regolarità apprese e il contesto disponibile: non sono solo un completamento automatico</a:t>
            </a:r>
            <a:endParaRPr lang="it-IT" sz="1600" noProof="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noProof="0" smtClean="0"/>
              <a:t>42</a:t>
            </a:fld>
            <a:endParaRPr lang="it-IT" noProof="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Un modello linguistico di grandi dimensioni</a:t>
            </a:r>
            <a:endParaRPr lang="it-IT" sz="2600" noProof="0" dirty="0"/>
          </a:p>
        </p:txBody>
      </p:sp>
      <p:sp>
        <p:nvSpPr>
          <p:cNvPr id="4" name="definizione LLM"/>
          <p:cNvSpPr/>
          <p:nvPr/>
        </p:nvSpPr>
        <p:spPr>
          <a:xfrm>
            <a:off x="457200" y="1097280"/>
            <a:ext cx="3657600" cy="3429000"/>
          </a:xfrm>
          <a:prstGeom prst="roundRect">
            <a:avLst>
              <a:gd name="adj" fmla="val 2133"/>
            </a:avLst>
          </a:prstGeom>
          <a:solidFill>
            <a:schemeClr val="tx1"/>
          </a:solidFill>
          <a:ln/>
        </p:spPr>
        <p:txBody>
          <a:bodyPr/>
          <a:lstStyle/>
          <a:p>
            <a:endParaRPr lang="it-IT" noProof="0" dirty="0"/>
          </a:p>
        </p:txBody>
      </p:sp>
      <p:sp>
        <p:nvSpPr>
          <p:cNvPr id="5" name="Text 2"/>
          <p:cNvSpPr txBox="1"/>
          <p:nvPr/>
        </p:nvSpPr>
        <p:spPr>
          <a:xfrm>
            <a:off x="685800" y="1261872"/>
            <a:ext cx="3200400" cy="274320"/>
          </a:xfrm>
          <a:prstGeom prst="rect">
            <a:avLst/>
          </a:prstGeom>
          <a:noFill/>
          <a:ln/>
        </p:spPr>
        <p:txBody>
          <a:bodyPr wrap="square" lIns="0" tIns="0" rIns="0" bIns="0" rtlCol="0" anchor="t"/>
          <a:lstStyle/>
          <a:p>
            <a:pPr marL="0" indent="0">
              <a:buNone/>
            </a:pPr>
            <a:r>
              <a:rPr lang="it-IT" sz="1100" b="1" kern="0" spc="200" noProof="0" dirty="0">
                <a:solidFill>
                  <a:schemeClr val="accent1"/>
                </a:solidFill>
              </a:rPr>
              <a:t>LARGE LANGUAGE MODEL</a:t>
            </a:r>
            <a:endParaRPr lang="it-IT" sz="1100" noProof="0" dirty="0"/>
          </a:p>
        </p:txBody>
      </p:sp>
      <p:sp>
        <p:nvSpPr>
          <p:cNvPr id="6" name="Text 3"/>
          <p:cNvSpPr txBox="1"/>
          <p:nvPr/>
        </p:nvSpPr>
        <p:spPr>
          <a:xfrm>
            <a:off x="685800" y="1645920"/>
            <a:ext cx="3200400" cy="1280160"/>
          </a:xfrm>
          <a:prstGeom prst="rect">
            <a:avLst/>
          </a:prstGeom>
          <a:noFill/>
          <a:ln/>
        </p:spPr>
        <p:txBody>
          <a:bodyPr wrap="square" lIns="0" tIns="0" rIns="0" bIns="0" rtlCol="0" anchor="t"/>
          <a:lstStyle/>
          <a:p>
            <a:pPr marL="0" indent="0">
              <a:buNone/>
            </a:pPr>
            <a:r>
              <a:rPr lang="it-IT" sz="1600" noProof="0" dirty="0">
                <a:solidFill>
                  <a:schemeClr val="bg1"/>
                </a:solidFill>
              </a:rPr>
              <a:t>Un modello di Deep Learning addestrato su enormi quantità di testo per elaborare e generare linguaggio.</a:t>
            </a:r>
            <a:endParaRPr lang="it-IT" sz="1600" noProof="0" dirty="0"/>
          </a:p>
        </p:txBody>
      </p:sp>
      <p:sp>
        <p:nvSpPr>
          <p:cNvPr id="7" name="Text 4"/>
          <p:cNvSpPr txBox="1"/>
          <p:nvPr/>
        </p:nvSpPr>
        <p:spPr>
          <a:xfrm>
            <a:off x="685800" y="2971800"/>
            <a:ext cx="3200400" cy="274320"/>
          </a:xfrm>
          <a:prstGeom prst="rect">
            <a:avLst/>
          </a:prstGeom>
          <a:noFill/>
          <a:ln/>
        </p:spPr>
        <p:txBody>
          <a:bodyPr wrap="square" lIns="0" tIns="0" rIns="0" bIns="0" rtlCol="0" anchor="t"/>
          <a:lstStyle/>
          <a:p>
            <a:pPr marL="0" indent="0">
              <a:buNone/>
            </a:pPr>
            <a:r>
              <a:rPr lang="it-IT" sz="1300" b="1" noProof="0" dirty="0">
                <a:solidFill>
                  <a:schemeClr val="accent1"/>
                </a:solidFill>
              </a:rPr>
              <a:t>Large</a:t>
            </a:r>
            <a:endParaRPr lang="it-IT" sz="1300" noProof="0" dirty="0"/>
          </a:p>
        </p:txBody>
      </p:sp>
      <p:sp>
        <p:nvSpPr>
          <p:cNvPr id="8" name="Text 5"/>
          <p:cNvSpPr txBox="1"/>
          <p:nvPr/>
        </p:nvSpPr>
        <p:spPr>
          <a:xfrm>
            <a:off x="685800" y="3227832"/>
            <a:ext cx="3200400" cy="457200"/>
          </a:xfrm>
          <a:prstGeom prst="rect">
            <a:avLst/>
          </a:prstGeom>
          <a:noFill/>
          <a:ln/>
        </p:spPr>
        <p:txBody>
          <a:bodyPr wrap="square" lIns="0" tIns="0" rIns="0" bIns="0" rtlCol="0" anchor="t"/>
          <a:lstStyle/>
          <a:p>
            <a:pPr marL="0" indent="0">
              <a:buNone/>
            </a:pPr>
            <a:r>
              <a:rPr lang="it-IT" sz="1100" noProof="0" dirty="0">
                <a:solidFill>
                  <a:schemeClr val="accent3"/>
                </a:solidFill>
              </a:rPr>
              <a:t>Miliardi di parametri, enormi quantità di testo e di calcolo</a:t>
            </a:r>
            <a:endParaRPr lang="it-IT" sz="1100" noProof="0" dirty="0"/>
          </a:p>
        </p:txBody>
      </p:sp>
      <p:sp>
        <p:nvSpPr>
          <p:cNvPr id="9" name="Text 6"/>
          <p:cNvSpPr txBox="1"/>
          <p:nvPr/>
        </p:nvSpPr>
        <p:spPr>
          <a:xfrm>
            <a:off x="685800" y="3703320"/>
            <a:ext cx="3200400" cy="274320"/>
          </a:xfrm>
          <a:prstGeom prst="rect">
            <a:avLst/>
          </a:prstGeom>
          <a:noFill/>
          <a:ln/>
        </p:spPr>
        <p:txBody>
          <a:bodyPr wrap="square" lIns="0" tIns="0" rIns="0" bIns="0" rtlCol="0" anchor="t"/>
          <a:lstStyle/>
          <a:p>
            <a:pPr marL="0" indent="0">
              <a:buNone/>
            </a:pPr>
            <a:r>
              <a:rPr lang="it-IT" sz="1300" b="1" noProof="0" dirty="0">
                <a:solidFill>
                  <a:schemeClr val="accent1"/>
                </a:solidFill>
              </a:rPr>
              <a:t>Language Model</a:t>
            </a:r>
            <a:endParaRPr lang="it-IT" sz="1300" noProof="0" dirty="0"/>
          </a:p>
        </p:txBody>
      </p:sp>
      <p:sp>
        <p:nvSpPr>
          <p:cNvPr id="10" name="Text 7"/>
          <p:cNvSpPr txBox="1"/>
          <p:nvPr/>
        </p:nvSpPr>
        <p:spPr>
          <a:xfrm>
            <a:off x="685800" y="3959352"/>
            <a:ext cx="3200400" cy="457200"/>
          </a:xfrm>
          <a:prstGeom prst="rect">
            <a:avLst/>
          </a:prstGeom>
          <a:noFill/>
          <a:ln/>
        </p:spPr>
        <p:txBody>
          <a:bodyPr wrap="square" lIns="0" tIns="0" rIns="0" bIns="0" rtlCol="0" anchor="t"/>
          <a:lstStyle/>
          <a:p>
            <a:pPr marL="0" indent="0">
              <a:buNone/>
            </a:pPr>
            <a:r>
              <a:rPr lang="it-IT" sz="1100" noProof="0" dirty="0">
                <a:solidFill>
                  <a:schemeClr val="accent3"/>
                </a:solidFill>
              </a:rPr>
              <a:t>Ha appreso le regolarità del linguaggio e, con esse, molte informazioni e strutture di ragionamento</a:t>
            </a:r>
            <a:endParaRPr lang="it-IT" sz="1100" noProof="0" dirty="0"/>
          </a:p>
        </p:txBody>
      </p:sp>
      <p:sp>
        <p:nvSpPr>
          <p:cNvPr id="11" name="Text 8"/>
          <p:cNvSpPr txBox="1"/>
          <p:nvPr/>
        </p:nvSpPr>
        <p:spPr>
          <a:xfrm>
            <a:off x="4434840" y="1097280"/>
            <a:ext cx="4206240" cy="320040"/>
          </a:xfrm>
          <a:prstGeom prst="rect">
            <a:avLst/>
          </a:prstGeom>
          <a:noFill/>
          <a:ln/>
        </p:spPr>
        <p:txBody>
          <a:bodyPr wrap="square" lIns="0" tIns="0" rIns="0" bIns="0" rtlCol="0" anchor="t"/>
          <a:lstStyle/>
          <a:p>
            <a:pPr marL="0" indent="0">
              <a:buNone/>
            </a:pPr>
            <a:r>
              <a:rPr lang="it-IT" sz="1500" b="1" noProof="0" dirty="0">
                <a:solidFill>
                  <a:schemeClr val="tx1"/>
                </a:solidFill>
              </a:rPr>
              <a:t>Due fasi di addestramento</a:t>
            </a:r>
            <a:endParaRPr lang="it-IT" sz="1500" noProof="0" dirty="0"/>
          </a:p>
        </p:txBody>
      </p:sp>
      <p:sp>
        <p:nvSpPr>
          <p:cNvPr id="12" name="scheda 1. Pre-addestramento"/>
          <p:cNvSpPr/>
          <p:nvPr/>
        </p:nvSpPr>
        <p:spPr>
          <a:xfrm>
            <a:off x="4434840" y="1508760"/>
            <a:ext cx="4251960" cy="1417320"/>
          </a:xfrm>
          <a:prstGeom prst="roundRect">
            <a:avLst>
              <a:gd name="adj" fmla="val 5161"/>
            </a:avLst>
          </a:prstGeom>
          <a:solidFill>
            <a:schemeClr val="bg2"/>
          </a:solidFill>
          <a:ln/>
        </p:spPr>
        <p:txBody>
          <a:bodyPr/>
          <a:lstStyle/>
          <a:p>
            <a:endParaRPr lang="it-IT" noProof="0" dirty="0"/>
          </a:p>
        </p:txBody>
      </p:sp>
      <p:sp>
        <p:nvSpPr>
          <p:cNvPr id="13" name="cerchio FiBookOpen"/>
          <p:cNvSpPr/>
          <p:nvPr/>
        </p:nvSpPr>
        <p:spPr>
          <a:xfrm>
            <a:off x="4617720" y="1691640"/>
            <a:ext cx="457200" cy="457200"/>
          </a:xfrm>
          <a:prstGeom prst="ellipse">
            <a:avLst/>
          </a:prstGeom>
          <a:solidFill>
            <a:schemeClr val="accent1"/>
          </a:solidFill>
          <a:ln/>
        </p:spPr>
        <p:txBody>
          <a:bodyPr/>
          <a:lstStyle/>
          <a:p>
            <a:endParaRPr lang="it-IT" noProof="0" dirty="0"/>
          </a:p>
        </p:txBody>
      </p:sp>
      <p:pic>
        <p:nvPicPr>
          <p:cNvPr id="14" name="Image 0" descr="FiBookOpen"/>
          <p:cNvPicPr>
            <a:picLocks noChangeAspect="1"/>
          </p:cNvPicPr>
          <p:nvPr/>
        </p:nvPicPr>
        <p:blipFill>
          <a:blip r:embed="rId3"/>
          <a:stretch>
            <a:fillRect/>
          </a:stretch>
        </p:blipFill>
        <p:spPr>
          <a:xfrm>
            <a:off x="4732020" y="1805940"/>
            <a:ext cx="228600" cy="228600"/>
          </a:xfrm>
          <a:prstGeom prst="rect">
            <a:avLst/>
          </a:prstGeom>
        </p:spPr>
      </p:pic>
      <p:sp>
        <p:nvSpPr>
          <p:cNvPr id="15" name="Text 11"/>
          <p:cNvSpPr txBox="1"/>
          <p:nvPr/>
        </p:nvSpPr>
        <p:spPr>
          <a:xfrm>
            <a:off x="5212080" y="1691640"/>
            <a:ext cx="3291840" cy="457200"/>
          </a:xfrm>
          <a:prstGeom prst="rect">
            <a:avLst/>
          </a:prstGeom>
          <a:noFill/>
          <a:ln/>
        </p:spPr>
        <p:txBody>
          <a:bodyPr wrap="square" lIns="0" tIns="0" rIns="0" bIns="0" rtlCol="0" anchor="ctr"/>
          <a:lstStyle/>
          <a:p>
            <a:pPr marL="0" indent="0">
              <a:buNone/>
            </a:pPr>
            <a:r>
              <a:rPr lang="it-IT" sz="1500" b="1" noProof="0" dirty="0">
                <a:solidFill>
                  <a:schemeClr val="tx1"/>
                </a:solidFill>
              </a:rPr>
              <a:t>1. Pre-addestramento</a:t>
            </a:r>
            <a:endParaRPr lang="it-IT" sz="1500" noProof="0" dirty="0"/>
          </a:p>
        </p:txBody>
      </p:sp>
      <p:sp>
        <p:nvSpPr>
          <p:cNvPr id="16" name="Text 12"/>
          <p:cNvSpPr txBox="1"/>
          <p:nvPr/>
        </p:nvSpPr>
        <p:spPr>
          <a:xfrm>
            <a:off x="4617720" y="2286000"/>
            <a:ext cx="3886200" cy="530352"/>
          </a:xfrm>
          <a:prstGeom prst="rect">
            <a:avLst/>
          </a:prstGeom>
          <a:noFill/>
          <a:ln/>
        </p:spPr>
        <p:txBody>
          <a:bodyPr wrap="square" lIns="0" tIns="0" rIns="0" bIns="0" rtlCol="0" anchor="t"/>
          <a:lstStyle/>
          <a:p>
            <a:pPr marL="0" indent="0">
              <a:buNone/>
            </a:pPr>
            <a:r>
              <a:rPr lang="it-IT" sz="1300" noProof="0" dirty="0">
                <a:solidFill>
                  <a:schemeClr val="tx2"/>
                </a:solidFill>
              </a:rPr>
              <a:t>Impara dal testo prevedendo, miliardi di volte, quale parte viene dopo.</a:t>
            </a:r>
            <a:endParaRPr lang="it-IT" sz="1300" noProof="0" dirty="0"/>
          </a:p>
        </p:txBody>
      </p:sp>
      <p:sp>
        <p:nvSpPr>
          <p:cNvPr id="17" name="scheda 2. Affinamento"/>
          <p:cNvSpPr/>
          <p:nvPr/>
        </p:nvSpPr>
        <p:spPr>
          <a:xfrm>
            <a:off x="4434840" y="3063240"/>
            <a:ext cx="4251960" cy="1463040"/>
          </a:xfrm>
          <a:prstGeom prst="roundRect">
            <a:avLst>
              <a:gd name="adj" fmla="val 5000"/>
            </a:avLst>
          </a:prstGeom>
          <a:solidFill>
            <a:schemeClr val="accent6"/>
          </a:solidFill>
          <a:ln/>
        </p:spPr>
        <p:txBody>
          <a:bodyPr/>
          <a:lstStyle/>
          <a:p>
            <a:endParaRPr lang="it-IT" noProof="0" dirty="0"/>
          </a:p>
        </p:txBody>
      </p:sp>
      <p:sp>
        <p:nvSpPr>
          <p:cNvPr id="18" name="cerchio FiUserCheck"/>
          <p:cNvSpPr/>
          <p:nvPr/>
        </p:nvSpPr>
        <p:spPr>
          <a:xfrm>
            <a:off x="4617720" y="3246120"/>
            <a:ext cx="457200" cy="457200"/>
          </a:xfrm>
          <a:prstGeom prst="ellipse">
            <a:avLst/>
          </a:prstGeom>
          <a:solidFill>
            <a:schemeClr val="accent1"/>
          </a:solidFill>
          <a:ln/>
        </p:spPr>
        <p:txBody>
          <a:bodyPr/>
          <a:lstStyle/>
          <a:p>
            <a:endParaRPr lang="it-IT" noProof="0" dirty="0"/>
          </a:p>
        </p:txBody>
      </p:sp>
      <p:pic>
        <p:nvPicPr>
          <p:cNvPr id="19" name="Image 1" descr="FiUserCheck"/>
          <p:cNvPicPr>
            <a:picLocks noChangeAspect="1"/>
          </p:cNvPicPr>
          <p:nvPr/>
        </p:nvPicPr>
        <p:blipFill>
          <a:blip r:embed="rId4"/>
          <a:stretch>
            <a:fillRect/>
          </a:stretch>
        </p:blipFill>
        <p:spPr>
          <a:xfrm>
            <a:off x="4732020" y="3360420"/>
            <a:ext cx="228600" cy="228600"/>
          </a:xfrm>
          <a:prstGeom prst="rect">
            <a:avLst/>
          </a:prstGeom>
        </p:spPr>
      </p:pic>
      <p:sp>
        <p:nvSpPr>
          <p:cNvPr id="20" name="Text 15"/>
          <p:cNvSpPr txBox="1"/>
          <p:nvPr/>
        </p:nvSpPr>
        <p:spPr>
          <a:xfrm>
            <a:off x="5212080" y="3246120"/>
            <a:ext cx="3291840" cy="457200"/>
          </a:xfrm>
          <a:prstGeom prst="rect">
            <a:avLst/>
          </a:prstGeom>
          <a:noFill/>
          <a:ln/>
        </p:spPr>
        <p:txBody>
          <a:bodyPr wrap="square" lIns="0" tIns="0" rIns="0" bIns="0" rtlCol="0" anchor="ctr"/>
          <a:lstStyle/>
          <a:p>
            <a:pPr marL="0" indent="0">
              <a:buNone/>
            </a:pPr>
            <a:r>
              <a:rPr lang="it-IT" sz="1500" b="1" noProof="0" dirty="0">
                <a:solidFill>
                  <a:schemeClr val="tx1"/>
                </a:solidFill>
              </a:rPr>
              <a:t>2. Affinamento</a:t>
            </a:r>
            <a:endParaRPr lang="it-IT" sz="1500" noProof="0" dirty="0"/>
          </a:p>
        </p:txBody>
      </p:sp>
      <p:sp>
        <p:nvSpPr>
          <p:cNvPr id="21" name="Text 16"/>
          <p:cNvSpPr txBox="1"/>
          <p:nvPr/>
        </p:nvSpPr>
        <p:spPr>
          <a:xfrm>
            <a:off x="4617720" y="3840480"/>
            <a:ext cx="3886200" cy="576072"/>
          </a:xfrm>
          <a:prstGeom prst="rect">
            <a:avLst/>
          </a:prstGeom>
          <a:noFill/>
          <a:ln/>
        </p:spPr>
        <p:txBody>
          <a:bodyPr wrap="square" lIns="0" tIns="0" rIns="0" bIns="0" rtlCol="0" anchor="t"/>
          <a:lstStyle/>
          <a:p>
            <a:pPr marL="0" indent="0">
              <a:buNone/>
            </a:pPr>
            <a:r>
              <a:rPr lang="it-IT" sz="1300" noProof="0" dirty="0">
                <a:solidFill>
                  <a:schemeClr val="tx2"/>
                </a:solidFill>
              </a:rPr>
              <a:t>Esempi di istruzioni e feedback umano: diventa un assistente utile e sicuro.</a:t>
            </a:r>
            <a:endParaRPr lang="it-IT" sz="13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noProof="0" smtClean="0"/>
              <a:t>43</a:t>
            </a:fld>
            <a:endParaRPr lang="it-IT" noProof="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I token: come il modello vede il testo</a:t>
            </a:r>
            <a:endParaRPr lang="it-IT" sz="2600" noProof="0" dirty="0"/>
          </a:p>
        </p:txBody>
      </p:sp>
      <p:sp>
        <p:nvSpPr>
          <p:cNvPr id="4" name="Text 1"/>
          <p:cNvSpPr txBox="1"/>
          <p:nvPr/>
        </p:nvSpPr>
        <p:spPr>
          <a:xfrm>
            <a:off x="457200" y="1097280"/>
            <a:ext cx="1828800" cy="274320"/>
          </a:xfrm>
          <a:prstGeom prst="rect">
            <a:avLst/>
          </a:prstGeom>
          <a:noFill/>
          <a:ln/>
        </p:spPr>
        <p:txBody>
          <a:bodyPr wrap="square" lIns="0" tIns="0" rIns="0" bIns="0" rtlCol="0" anchor="t"/>
          <a:lstStyle/>
          <a:p>
            <a:pPr marL="0" indent="0">
              <a:buNone/>
            </a:pPr>
            <a:r>
              <a:rPr lang="it-IT" sz="1200" b="1" noProof="0" dirty="0">
                <a:solidFill>
                  <a:schemeClr val="accent2"/>
                </a:solidFill>
              </a:rPr>
              <a:t>Testo</a:t>
            </a:r>
            <a:endParaRPr lang="it-IT" sz="1200" noProof="0" dirty="0"/>
          </a:p>
        </p:txBody>
      </p:sp>
      <p:sp>
        <p:nvSpPr>
          <p:cNvPr id="5" name="frase"/>
          <p:cNvSpPr/>
          <p:nvPr/>
        </p:nvSpPr>
        <p:spPr>
          <a:xfrm>
            <a:off x="457200" y="1371600"/>
            <a:ext cx="8229600" cy="548640"/>
          </a:xfrm>
          <a:prstGeom prst="roundRect">
            <a:avLst>
              <a:gd name="adj" fmla="val 13333"/>
            </a:avLst>
          </a:prstGeom>
          <a:solidFill>
            <a:schemeClr val="bg2"/>
          </a:solidFill>
          <a:ln/>
        </p:spPr>
        <p:txBody>
          <a:bodyPr/>
          <a:lstStyle/>
          <a:p>
            <a:endParaRPr lang="it-IT" noProof="0" dirty="0"/>
          </a:p>
        </p:txBody>
      </p:sp>
      <p:sp>
        <p:nvSpPr>
          <p:cNvPr id="6" name="Text 3"/>
          <p:cNvSpPr txBox="1"/>
          <p:nvPr/>
        </p:nvSpPr>
        <p:spPr>
          <a:xfrm>
            <a:off x="640080" y="1371600"/>
            <a:ext cx="7863840" cy="548640"/>
          </a:xfrm>
          <a:prstGeom prst="rect">
            <a:avLst/>
          </a:prstGeom>
          <a:noFill/>
          <a:ln/>
        </p:spPr>
        <p:txBody>
          <a:bodyPr wrap="square" lIns="0" tIns="0" rIns="0" bIns="0" rtlCol="0" anchor="ctr"/>
          <a:lstStyle/>
          <a:p>
            <a:pPr marL="0" indent="0">
              <a:buNone/>
            </a:pPr>
            <a:r>
              <a:rPr lang="it-IT" sz="1800" noProof="0" dirty="0">
                <a:solidFill>
                  <a:schemeClr val="tx1"/>
                </a:solidFill>
              </a:rPr>
              <a:t>L'intelligenza artificiale cambia il lavoro.</a:t>
            </a:r>
            <a:endParaRPr lang="it-IT" sz="1800" noProof="0" dirty="0"/>
          </a:p>
        </p:txBody>
      </p:sp>
      <p:sp>
        <p:nvSpPr>
          <p:cNvPr id="7" name="Text 4"/>
          <p:cNvSpPr txBox="1"/>
          <p:nvPr/>
        </p:nvSpPr>
        <p:spPr>
          <a:xfrm>
            <a:off x="457200" y="2103120"/>
            <a:ext cx="3657600" cy="274320"/>
          </a:xfrm>
          <a:prstGeom prst="rect">
            <a:avLst/>
          </a:prstGeom>
          <a:noFill/>
          <a:ln/>
        </p:spPr>
        <p:txBody>
          <a:bodyPr wrap="square" lIns="0" tIns="0" rIns="0" bIns="0" rtlCol="0" anchor="t"/>
          <a:lstStyle/>
          <a:p>
            <a:pPr marL="0" indent="0">
              <a:buNone/>
            </a:pPr>
            <a:r>
              <a:rPr lang="it-IT" sz="1200" b="1" noProof="0" dirty="0">
                <a:solidFill>
                  <a:schemeClr val="accent2"/>
                </a:solidFill>
              </a:rPr>
              <a:t>Token (esempio illustrativo)</a:t>
            </a:r>
            <a:endParaRPr lang="it-IT" sz="1200" noProof="0" dirty="0"/>
          </a:p>
        </p:txBody>
      </p:sp>
      <p:sp>
        <p:nvSpPr>
          <p:cNvPr id="8" name="token 0"/>
          <p:cNvSpPr/>
          <p:nvPr/>
        </p:nvSpPr>
        <p:spPr>
          <a:xfrm>
            <a:off x="457200" y="2423160"/>
            <a:ext cx="502920" cy="502920"/>
          </a:xfrm>
          <a:prstGeom prst="roundRect">
            <a:avLst>
              <a:gd name="adj" fmla="val 10909"/>
            </a:avLst>
          </a:prstGeom>
          <a:solidFill>
            <a:schemeClr val="accent1"/>
          </a:solidFill>
          <a:ln/>
        </p:spPr>
        <p:txBody>
          <a:bodyPr/>
          <a:lstStyle/>
          <a:p>
            <a:endParaRPr lang="it-IT" noProof="0" dirty="0"/>
          </a:p>
        </p:txBody>
      </p:sp>
      <p:sp>
        <p:nvSpPr>
          <p:cNvPr id="9" name="Text 6"/>
          <p:cNvSpPr txBox="1"/>
          <p:nvPr/>
        </p:nvSpPr>
        <p:spPr>
          <a:xfrm>
            <a:off x="457200" y="2423160"/>
            <a:ext cx="502920" cy="502920"/>
          </a:xfrm>
          <a:prstGeom prst="rect">
            <a:avLst/>
          </a:prstGeom>
          <a:noFill/>
          <a:ln/>
        </p:spPr>
        <p:txBody>
          <a:bodyPr wrap="square" lIns="0" tIns="0" rIns="0" bIns="0" rtlCol="0" anchor="ctr"/>
          <a:lstStyle/>
          <a:p>
            <a:pPr marL="0" indent="0" algn="ctr">
              <a:buNone/>
            </a:pPr>
            <a:r>
              <a:rPr lang="it-IT" sz="1400" b="1" noProof="0" dirty="0">
                <a:solidFill>
                  <a:schemeClr val="bg1"/>
                </a:solidFill>
              </a:rPr>
              <a:t>L'</a:t>
            </a:r>
            <a:endParaRPr lang="it-IT" sz="1400" noProof="0" dirty="0"/>
          </a:p>
        </p:txBody>
      </p:sp>
      <p:sp>
        <p:nvSpPr>
          <p:cNvPr id="10" name="token 1"/>
          <p:cNvSpPr/>
          <p:nvPr/>
        </p:nvSpPr>
        <p:spPr>
          <a:xfrm>
            <a:off x="1014984" y="2423160"/>
            <a:ext cx="777240" cy="502920"/>
          </a:xfrm>
          <a:prstGeom prst="roundRect">
            <a:avLst>
              <a:gd name="adj" fmla="val 10909"/>
            </a:avLst>
          </a:prstGeom>
          <a:solidFill>
            <a:schemeClr val="accent6"/>
          </a:solidFill>
          <a:ln/>
        </p:spPr>
        <p:txBody>
          <a:bodyPr/>
          <a:lstStyle/>
          <a:p>
            <a:endParaRPr lang="it-IT" noProof="0" dirty="0"/>
          </a:p>
        </p:txBody>
      </p:sp>
      <p:sp>
        <p:nvSpPr>
          <p:cNvPr id="11" name="Text 8"/>
          <p:cNvSpPr txBox="1"/>
          <p:nvPr/>
        </p:nvSpPr>
        <p:spPr>
          <a:xfrm>
            <a:off x="1014984" y="2423160"/>
            <a:ext cx="777240" cy="502920"/>
          </a:xfrm>
          <a:prstGeom prst="rect">
            <a:avLst/>
          </a:prstGeom>
          <a:noFill/>
          <a:ln/>
        </p:spPr>
        <p:txBody>
          <a:bodyPr wrap="square" lIns="0" tIns="0" rIns="0" bIns="0" rtlCol="0" anchor="ctr"/>
          <a:lstStyle/>
          <a:p>
            <a:pPr marL="0" indent="0" algn="ctr">
              <a:buNone/>
            </a:pPr>
            <a:r>
              <a:rPr lang="it-IT" sz="1400" b="1" noProof="0" dirty="0" err="1">
                <a:solidFill>
                  <a:schemeClr val="tx1"/>
                </a:solidFill>
              </a:rPr>
              <a:t>intel</a:t>
            </a:r>
            <a:endParaRPr lang="it-IT" sz="1400" noProof="0" dirty="0"/>
          </a:p>
        </p:txBody>
      </p:sp>
      <p:sp>
        <p:nvSpPr>
          <p:cNvPr id="12" name="token 2"/>
          <p:cNvSpPr/>
          <p:nvPr/>
        </p:nvSpPr>
        <p:spPr>
          <a:xfrm>
            <a:off x="1847088" y="2423160"/>
            <a:ext cx="960120" cy="502920"/>
          </a:xfrm>
          <a:prstGeom prst="roundRect">
            <a:avLst>
              <a:gd name="adj" fmla="val 10909"/>
            </a:avLst>
          </a:prstGeom>
          <a:solidFill>
            <a:schemeClr val="accent1"/>
          </a:solidFill>
          <a:ln/>
        </p:spPr>
        <p:txBody>
          <a:bodyPr/>
          <a:lstStyle/>
          <a:p>
            <a:endParaRPr lang="it-IT" noProof="0" dirty="0"/>
          </a:p>
        </p:txBody>
      </p:sp>
      <p:sp>
        <p:nvSpPr>
          <p:cNvPr id="13" name="Text 10"/>
          <p:cNvSpPr txBox="1"/>
          <p:nvPr/>
        </p:nvSpPr>
        <p:spPr>
          <a:xfrm>
            <a:off x="1847088" y="2423160"/>
            <a:ext cx="960120" cy="502920"/>
          </a:xfrm>
          <a:prstGeom prst="rect">
            <a:avLst/>
          </a:prstGeom>
          <a:noFill/>
          <a:ln/>
        </p:spPr>
        <p:txBody>
          <a:bodyPr wrap="square" lIns="0" tIns="0" rIns="0" bIns="0" rtlCol="0" anchor="ctr"/>
          <a:lstStyle/>
          <a:p>
            <a:pPr marL="0" indent="0" algn="ctr">
              <a:buNone/>
            </a:pPr>
            <a:r>
              <a:rPr lang="it-IT" sz="1400" b="1" noProof="0" dirty="0" err="1">
                <a:solidFill>
                  <a:schemeClr val="bg1"/>
                </a:solidFill>
              </a:rPr>
              <a:t>ligenza</a:t>
            </a:r>
            <a:endParaRPr lang="it-IT" sz="1400" noProof="0" dirty="0"/>
          </a:p>
        </p:txBody>
      </p:sp>
      <p:sp>
        <p:nvSpPr>
          <p:cNvPr id="14" name="token 3"/>
          <p:cNvSpPr/>
          <p:nvPr/>
        </p:nvSpPr>
        <p:spPr>
          <a:xfrm>
            <a:off x="2862072" y="2423160"/>
            <a:ext cx="960120" cy="502920"/>
          </a:xfrm>
          <a:prstGeom prst="roundRect">
            <a:avLst>
              <a:gd name="adj" fmla="val 10909"/>
            </a:avLst>
          </a:prstGeom>
          <a:solidFill>
            <a:schemeClr val="accent6"/>
          </a:solidFill>
          <a:ln/>
        </p:spPr>
        <p:txBody>
          <a:bodyPr/>
          <a:lstStyle/>
          <a:p>
            <a:endParaRPr lang="it-IT" noProof="0" dirty="0"/>
          </a:p>
        </p:txBody>
      </p:sp>
      <p:sp>
        <p:nvSpPr>
          <p:cNvPr id="15" name="Text 12"/>
          <p:cNvSpPr txBox="1"/>
          <p:nvPr/>
        </p:nvSpPr>
        <p:spPr>
          <a:xfrm>
            <a:off x="2862072" y="2423160"/>
            <a:ext cx="960120" cy="502920"/>
          </a:xfrm>
          <a:prstGeom prst="rect">
            <a:avLst/>
          </a:prstGeom>
          <a:noFill/>
          <a:ln/>
        </p:spPr>
        <p:txBody>
          <a:bodyPr wrap="square" lIns="0" tIns="0" rIns="0" bIns="0" rtlCol="0" anchor="ctr"/>
          <a:lstStyle/>
          <a:p>
            <a:pPr marL="0" indent="0" algn="ctr">
              <a:buNone/>
            </a:pPr>
            <a:r>
              <a:rPr lang="it-IT" sz="1400" b="1" noProof="0" dirty="0">
                <a:solidFill>
                  <a:schemeClr val="tx1"/>
                </a:solidFill>
              </a:rPr>
              <a:t>·</a:t>
            </a:r>
            <a:r>
              <a:rPr lang="it-IT" sz="1400" b="1" noProof="0" dirty="0" err="1">
                <a:solidFill>
                  <a:schemeClr val="tx1"/>
                </a:solidFill>
              </a:rPr>
              <a:t>artific</a:t>
            </a:r>
            <a:endParaRPr lang="it-IT" sz="1400" noProof="0" dirty="0"/>
          </a:p>
        </p:txBody>
      </p:sp>
      <p:sp>
        <p:nvSpPr>
          <p:cNvPr id="16" name="token 4"/>
          <p:cNvSpPr/>
          <p:nvPr/>
        </p:nvSpPr>
        <p:spPr>
          <a:xfrm>
            <a:off x="3877056" y="2423160"/>
            <a:ext cx="640080" cy="502920"/>
          </a:xfrm>
          <a:prstGeom prst="roundRect">
            <a:avLst>
              <a:gd name="adj" fmla="val 10909"/>
            </a:avLst>
          </a:prstGeom>
          <a:solidFill>
            <a:schemeClr val="accent1"/>
          </a:solidFill>
          <a:ln/>
        </p:spPr>
        <p:txBody>
          <a:bodyPr/>
          <a:lstStyle/>
          <a:p>
            <a:endParaRPr lang="it-IT" noProof="0" dirty="0"/>
          </a:p>
        </p:txBody>
      </p:sp>
      <p:sp>
        <p:nvSpPr>
          <p:cNvPr id="17" name="Text 14"/>
          <p:cNvSpPr txBox="1"/>
          <p:nvPr/>
        </p:nvSpPr>
        <p:spPr>
          <a:xfrm>
            <a:off x="3877056" y="2423160"/>
            <a:ext cx="640080" cy="502920"/>
          </a:xfrm>
          <a:prstGeom prst="rect">
            <a:avLst/>
          </a:prstGeom>
          <a:noFill/>
          <a:ln/>
        </p:spPr>
        <p:txBody>
          <a:bodyPr wrap="square" lIns="0" tIns="0" rIns="0" bIns="0" rtlCol="0" anchor="ctr"/>
          <a:lstStyle/>
          <a:p>
            <a:pPr marL="0" indent="0" algn="ctr">
              <a:buNone/>
            </a:pPr>
            <a:r>
              <a:rPr lang="it-IT" sz="1400" b="1" noProof="0" dirty="0" err="1">
                <a:solidFill>
                  <a:schemeClr val="bg1"/>
                </a:solidFill>
              </a:rPr>
              <a:t>iale</a:t>
            </a:r>
            <a:endParaRPr lang="it-IT" sz="1400" noProof="0" dirty="0"/>
          </a:p>
        </p:txBody>
      </p:sp>
      <p:sp>
        <p:nvSpPr>
          <p:cNvPr id="18" name="token 5"/>
          <p:cNvSpPr/>
          <p:nvPr/>
        </p:nvSpPr>
        <p:spPr>
          <a:xfrm>
            <a:off x="4572000" y="2423160"/>
            <a:ext cx="1005840" cy="502920"/>
          </a:xfrm>
          <a:prstGeom prst="roundRect">
            <a:avLst>
              <a:gd name="adj" fmla="val 10909"/>
            </a:avLst>
          </a:prstGeom>
          <a:solidFill>
            <a:schemeClr val="accent6"/>
          </a:solidFill>
          <a:ln/>
        </p:spPr>
        <p:txBody>
          <a:bodyPr/>
          <a:lstStyle/>
          <a:p>
            <a:endParaRPr lang="it-IT" noProof="0" dirty="0"/>
          </a:p>
        </p:txBody>
      </p:sp>
      <p:sp>
        <p:nvSpPr>
          <p:cNvPr id="19" name="Text 16"/>
          <p:cNvSpPr txBox="1"/>
          <p:nvPr/>
        </p:nvSpPr>
        <p:spPr>
          <a:xfrm>
            <a:off x="4572000" y="2423160"/>
            <a:ext cx="1005840" cy="502920"/>
          </a:xfrm>
          <a:prstGeom prst="rect">
            <a:avLst/>
          </a:prstGeom>
          <a:noFill/>
          <a:ln/>
        </p:spPr>
        <p:txBody>
          <a:bodyPr wrap="square" lIns="0" tIns="0" rIns="0" bIns="0" rtlCol="0" anchor="ctr"/>
          <a:lstStyle/>
          <a:p>
            <a:pPr marL="0" indent="0" algn="ctr">
              <a:buNone/>
            </a:pPr>
            <a:r>
              <a:rPr lang="it-IT" sz="1400" b="1" noProof="0" dirty="0">
                <a:solidFill>
                  <a:schemeClr val="tx1"/>
                </a:solidFill>
              </a:rPr>
              <a:t>·cambia</a:t>
            </a:r>
            <a:endParaRPr lang="it-IT" sz="1400" noProof="0" dirty="0"/>
          </a:p>
        </p:txBody>
      </p:sp>
      <p:sp>
        <p:nvSpPr>
          <p:cNvPr id="20" name="token 6"/>
          <p:cNvSpPr/>
          <p:nvPr/>
        </p:nvSpPr>
        <p:spPr>
          <a:xfrm>
            <a:off x="5632704" y="2423160"/>
            <a:ext cx="502920" cy="502920"/>
          </a:xfrm>
          <a:prstGeom prst="roundRect">
            <a:avLst>
              <a:gd name="adj" fmla="val 10909"/>
            </a:avLst>
          </a:prstGeom>
          <a:solidFill>
            <a:schemeClr val="accent1"/>
          </a:solidFill>
          <a:ln/>
        </p:spPr>
        <p:txBody>
          <a:bodyPr/>
          <a:lstStyle/>
          <a:p>
            <a:endParaRPr lang="it-IT" noProof="0" dirty="0"/>
          </a:p>
        </p:txBody>
      </p:sp>
      <p:sp>
        <p:nvSpPr>
          <p:cNvPr id="21" name="Text 18"/>
          <p:cNvSpPr txBox="1"/>
          <p:nvPr/>
        </p:nvSpPr>
        <p:spPr>
          <a:xfrm>
            <a:off x="5632704" y="2423160"/>
            <a:ext cx="502920" cy="502920"/>
          </a:xfrm>
          <a:prstGeom prst="rect">
            <a:avLst/>
          </a:prstGeom>
          <a:noFill/>
          <a:ln/>
        </p:spPr>
        <p:txBody>
          <a:bodyPr wrap="square" lIns="0" tIns="0" rIns="0" bIns="0" rtlCol="0" anchor="ctr"/>
          <a:lstStyle/>
          <a:p>
            <a:pPr marL="0" indent="0" algn="ctr">
              <a:buNone/>
            </a:pPr>
            <a:r>
              <a:rPr lang="it-IT" sz="1400" b="1" noProof="0" dirty="0">
                <a:solidFill>
                  <a:schemeClr val="bg1"/>
                </a:solidFill>
              </a:rPr>
              <a:t>·il</a:t>
            </a:r>
            <a:endParaRPr lang="it-IT" sz="1400" noProof="0" dirty="0"/>
          </a:p>
        </p:txBody>
      </p:sp>
      <p:sp>
        <p:nvSpPr>
          <p:cNvPr id="22" name="token 7"/>
          <p:cNvSpPr/>
          <p:nvPr/>
        </p:nvSpPr>
        <p:spPr>
          <a:xfrm>
            <a:off x="6190488" y="2423160"/>
            <a:ext cx="960120" cy="502920"/>
          </a:xfrm>
          <a:prstGeom prst="roundRect">
            <a:avLst>
              <a:gd name="adj" fmla="val 10909"/>
            </a:avLst>
          </a:prstGeom>
          <a:solidFill>
            <a:schemeClr val="accent6"/>
          </a:solidFill>
          <a:ln/>
        </p:spPr>
        <p:txBody>
          <a:bodyPr/>
          <a:lstStyle/>
          <a:p>
            <a:endParaRPr lang="it-IT" noProof="0" dirty="0"/>
          </a:p>
        </p:txBody>
      </p:sp>
      <p:sp>
        <p:nvSpPr>
          <p:cNvPr id="23" name="Text 20"/>
          <p:cNvSpPr txBox="1"/>
          <p:nvPr/>
        </p:nvSpPr>
        <p:spPr>
          <a:xfrm>
            <a:off x="6190488" y="2423160"/>
            <a:ext cx="960120" cy="502920"/>
          </a:xfrm>
          <a:prstGeom prst="rect">
            <a:avLst/>
          </a:prstGeom>
          <a:noFill/>
          <a:ln/>
        </p:spPr>
        <p:txBody>
          <a:bodyPr wrap="square" lIns="0" tIns="0" rIns="0" bIns="0" rtlCol="0" anchor="ctr"/>
          <a:lstStyle/>
          <a:p>
            <a:pPr marL="0" indent="0" algn="ctr">
              <a:buNone/>
            </a:pPr>
            <a:r>
              <a:rPr lang="it-IT" sz="1400" b="1" noProof="0" dirty="0">
                <a:solidFill>
                  <a:schemeClr val="tx1"/>
                </a:solidFill>
              </a:rPr>
              <a:t>·lavoro</a:t>
            </a:r>
            <a:endParaRPr lang="it-IT" sz="1400" noProof="0" dirty="0"/>
          </a:p>
        </p:txBody>
      </p:sp>
      <p:sp>
        <p:nvSpPr>
          <p:cNvPr id="24" name="token 8"/>
          <p:cNvSpPr/>
          <p:nvPr/>
        </p:nvSpPr>
        <p:spPr>
          <a:xfrm>
            <a:off x="7205472" y="2423160"/>
            <a:ext cx="365760" cy="502920"/>
          </a:xfrm>
          <a:prstGeom prst="roundRect">
            <a:avLst>
              <a:gd name="adj" fmla="val 15000"/>
            </a:avLst>
          </a:prstGeom>
          <a:solidFill>
            <a:schemeClr val="accent1"/>
          </a:solidFill>
          <a:ln/>
        </p:spPr>
        <p:txBody>
          <a:bodyPr/>
          <a:lstStyle/>
          <a:p>
            <a:endParaRPr lang="it-IT" noProof="0" dirty="0"/>
          </a:p>
        </p:txBody>
      </p:sp>
      <p:sp>
        <p:nvSpPr>
          <p:cNvPr id="25" name="Text 22"/>
          <p:cNvSpPr txBox="1"/>
          <p:nvPr/>
        </p:nvSpPr>
        <p:spPr>
          <a:xfrm>
            <a:off x="7205472" y="2423160"/>
            <a:ext cx="365760" cy="502920"/>
          </a:xfrm>
          <a:prstGeom prst="rect">
            <a:avLst/>
          </a:prstGeom>
          <a:noFill/>
          <a:ln/>
        </p:spPr>
        <p:txBody>
          <a:bodyPr wrap="square" lIns="0" tIns="0" rIns="0" bIns="0" rtlCol="0" anchor="ctr"/>
          <a:lstStyle/>
          <a:p>
            <a:pPr marL="0" indent="0" algn="ctr">
              <a:buNone/>
            </a:pPr>
            <a:r>
              <a:rPr lang="it-IT" sz="1400" b="1" noProof="0" dirty="0">
                <a:solidFill>
                  <a:schemeClr val="bg1"/>
                </a:solidFill>
              </a:rPr>
              <a:t>.</a:t>
            </a:r>
            <a:endParaRPr lang="it-IT" sz="1400" noProof="0" dirty="0"/>
          </a:p>
        </p:txBody>
      </p:sp>
      <p:sp>
        <p:nvSpPr>
          <p:cNvPr id="26" name="Text 23"/>
          <p:cNvSpPr txBox="1"/>
          <p:nvPr/>
        </p:nvSpPr>
        <p:spPr>
          <a:xfrm>
            <a:off x="457200" y="2971800"/>
            <a:ext cx="5486400" cy="274320"/>
          </a:xfrm>
          <a:prstGeom prst="rect">
            <a:avLst/>
          </a:prstGeom>
          <a:noFill/>
          <a:ln/>
        </p:spPr>
        <p:txBody>
          <a:bodyPr wrap="square" lIns="0" tIns="0" rIns="0" bIns="0" rtlCol="0" anchor="t"/>
          <a:lstStyle/>
          <a:p>
            <a:pPr marL="0" indent="0">
              <a:buNone/>
            </a:pPr>
            <a:r>
              <a:rPr lang="it-IT" sz="1000" i="1" noProof="0" dirty="0">
                <a:solidFill>
                  <a:schemeClr val="accent2"/>
                </a:solidFill>
              </a:rPr>
              <a:t>· indica uno spazio. La suddivisione reale dipende dal modello.</a:t>
            </a:r>
            <a:endParaRPr lang="it-IT" sz="1000" noProof="0" dirty="0"/>
          </a:p>
        </p:txBody>
      </p:sp>
      <p:sp>
        <p:nvSpPr>
          <p:cNvPr id="27" name="Limiti e costi in token"/>
          <p:cNvSpPr/>
          <p:nvPr/>
        </p:nvSpPr>
        <p:spPr>
          <a:xfrm>
            <a:off x="457200" y="3429000"/>
            <a:ext cx="2615184" cy="1097280"/>
          </a:xfrm>
          <a:prstGeom prst="roundRect">
            <a:avLst>
              <a:gd name="adj" fmla="val 6667"/>
            </a:avLst>
          </a:prstGeom>
          <a:solidFill>
            <a:schemeClr val="bg2"/>
          </a:solidFill>
          <a:ln/>
        </p:spPr>
        <p:txBody>
          <a:bodyPr/>
          <a:lstStyle/>
          <a:p>
            <a:endParaRPr lang="it-IT" noProof="0" dirty="0"/>
          </a:p>
        </p:txBody>
      </p:sp>
      <p:sp>
        <p:nvSpPr>
          <p:cNvPr id="28" name="cerchio FiMaximize"/>
          <p:cNvSpPr/>
          <p:nvPr/>
        </p:nvSpPr>
        <p:spPr>
          <a:xfrm>
            <a:off x="621792" y="3721608"/>
            <a:ext cx="502920" cy="502920"/>
          </a:xfrm>
          <a:prstGeom prst="ellipse">
            <a:avLst/>
          </a:prstGeom>
          <a:solidFill>
            <a:schemeClr val="accent1"/>
          </a:solidFill>
          <a:ln/>
        </p:spPr>
        <p:txBody>
          <a:bodyPr/>
          <a:lstStyle/>
          <a:p>
            <a:endParaRPr lang="it-IT" noProof="0" dirty="0"/>
          </a:p>
        </p:txBody>
      </p:sp>
      <p:pic>
        <p:nvPicPr>
          <p:cNvPr id="29" name="Image 0" descr="FiMaximize"/>
          <p:cNvPicPr>
            <a:picLocks noChangeAspect="1"/>
          </p:cNvPicPr>
          <p:nvPr/>
        </p:nvPicPr>
        <p:blipFill>
          <a:blip r:embed="rId3"/>
          <a:stretch>
            <a:fillRect/>
          </a:stretch>
        </p:blipFill>
        <p:spPr>
          <a:xfrm>
            <a:off x="747522" y="3847338"/>
            <a:ext cx="251460" cy="251460"/>
          </a:xfrm>
          <a:prstGeom prst="rect">
            <a:avLst/>
          </a:prstGeom>
        </p:spPr>
      </p:pic>
      <p:sp>
        <p:nvSpPr>
          <p:cNvPr id="30" name="Text 26"/>
          <p:cNvSpPr txBox="1"/>
          <p:nvPr/>
        </p:nvSpPr>
        <p:spPr>
          <a:xfrm>
            <a:off x="1234440" y="3429000"/>
            <a:ext cx="1737360" cy="1097280"/>
          </a:xfrm>
          <a:prstGeom prst="rect">
            <a:avLst/>
          </a:prstGeom>
          <a:noFill/>
          <a:ln/>
        </p:spPr>
        <p:txBody>
          <a:bodyPr wrap="square" lIns="0" tIns="0" rIns="0" bIns="0" rtlCol="0" anchor="ctr"/>
          <a:lstStyle/>
          <a:p>
            <a:pPr marL="0" indent="0">
              <a:buNone/>
            </a:pPr>
            <a:r>
              <a:rPr lang="it-IT" sz="1300" b="1" noProof="0" dirty="0">
                <a:solidFill>
                  <a:schemeClr val="tx1"/>
                </a:solidFill>
              </a:rPr>
              <a:t>Limiti e costi in token</a:t>
            </a:r>
            <a:endParaRPr lang="it-IT" sz="1300" noProof="0" dirty="0"/>
          </a:p>
        </p:txBody>
      </p:sp>
      <p:sp>
        <p:nvSpPr>
          <p:cNvPr id="31" name="L'italiano usa più token dell'inglese"/>
          <p:cNvSpPr/>
          <p:nvPr/>
        </p:nvSpPr>
        <p:spPr>
          <a:xfrm>
            <a:off x="3264408" y="3429000"/>
            <a:ext cx="2615184" cy="1097280"/>
          </a:xfrm>
          <a:prstGeom prst="roundRect">
            <a:avLst>
              <a:gd name="adj" fmla="val 6667"/>
            </a:avLst>
          </a:prstGeom>
          <a:solidFill>
            <a:schemeClr val="bg2"/>
          </a:solidFill>
          <a:ln/>
        </p:spPr>
        <p:txBody>
          <a:bodyPr/>
          <a:lstStyle/>
          <a:p>
            <a:endParaRPr lang="it-IT" noProof="0" dirty="0"/>
          </a:p>
        </p:txBody>
      </p:sp>
      <p:sp>
        <p:nvSpPr>
          <p:cNvPr id="32" name="cerchio FiGlobe"/>
          <p:cNvSpPr/>
          <p:nvPr/>
        </p:nvSpPr>
        <p:spPr>
          <a:xfrm>
            <a:off x="3429000" y="3721608"/>
            <a:ext cx="502920" cy="502920"/>
          </a:xfrm>
          <a:prstGeom prst="ellipse">
            <a:avLst/>
          </a:prstGeom>
          <a:solidFill>
            <a:schemeClr val="accent1"/>
          </a:solidFill>
          <a:ln/>
        </p:spPr>
        <p:txBody>
          <a:bodyPr/>
          <a:lstStyle/>
          <a:p>
            <a:endParaRPr lang="it-IT" noProof="0" dirty="0"/>
          </a:p>
        </p:txBody>
      </p:sp>
      <p:pic>
        <p:nvPicPr>
          <p:cNvPr id="33" name="Image 1" descr="FiGlobe"/>
          <p:cNvPicPr>
            <a:picLocks noChangeAspect="1"/>
          </p:cNvPicPr>
          <p:nvPr/>
        </p:nvPicPr>
        <p:blipFill>
          <a:blip r:embed="rId4"/>
          <a:stretch>
            <a:fillRect/>
          </a:stretch>
        </p:blipFill>
        <p:spPr>
          <a:xfrm>
            <a:off x="3554730" y="3847338"/>
            <a:ext cx="251460" cy="251460"/>
          </a:xfrm>
          <a:prstGeom prst="rect">
            <a:avLst/>
          </a:prstGeom>
        </p:spPr>
      </p:pic>
      <p:sp>
        <p:nvSpPr>
          <p:cNvPr id="34" name="Text 29"/>
          <p:cNvSpPr txBox="1"/>
          <p:nvPr/>
        </p:nvSpPr>
        <p:spPr>
          <a:xfrm>
            <a:off x="4041648" y="3429000"/>
            <a:ext cx="1737360" cy="1097280"/>
          </a:xfrm>
          <a:prstGeom prst="rect">
            <a:avLst/>
          </a:prstGeom>
          <a:noFill/>
          <a:ln/>
        </p:spPr>
        <p:txBody>
          <a:bodyPr wrap="square" lIns="0" tIns="0" rIns="0" bIns="0" rtlCol="0" anchor="ctr"/>
          <a:lstStyle/>
          <a:p>
            <a:pPr marL="0" indent="0">
              <a:buNone/>
            </a:pPr>
            <a:r>
              <a:rPr lang="it-IT" sz="1300" b="1" noProof="0" dirty="0">
                <a:solidFill>
                  <a:schemeClr val="tx1"/>
                </a:solidFill>
              </a:rPr>
              <a:t>Numero di token dipende dalla lingua</a:t>
            </a:r>
            <a:endParaRPr lang="it-IT" sz="1300" noProof="0" dirty="0"/>
          </a:p>
        </p:txBody>
      </p:sp>
      <p:sp>
        <p:nvSpPr>
          <p:cNvPr id="35" name="Il modello non vede le singole lettere"/>
          <p:cNvSpPr/>
          <p:nvPr/>
        </p:nvSpPr>
        <p:spPr>
          <a:xfrm>
            <a:off x="6071616" y="3429000"/>
            <a:ext cx="2615184" cy="1097280"/>
          </a:xfrm>
          <a:prstGeom prst="roundRect">
            <a:avLst>
              <a:gd name="adj" fmla="val 6667"/>
            </a:avLst>
          </a:prstGeom>
          <a:solidFill>
            <a:schemeClr val="bg2"/>
          </a:solidFill>
          <a:ln/>
        </p:spPr>
        <p:txBody>
          <a:bodyPr/>
          <a:lstStyle/>
          <a:p>
            <a:endParaRPr lang="it-IT" noProof="0" dirty="0"/>
          </a:p>
        </p:txBody>
      </p:sp>
      <p:sp>
        <p:nvSpPr>
          <p:cNvPr id="36" name="cerchio FiType"/>
          <p:cNvSpPr/>
          <p:nvPr/>
        </p:nvSpPr>
        <p:spPr>
          <a:xfrm>
            <a:off x="6236208" y="3721608"/>
            <a:ext cx="502920" cy="502920"/>
          </a:xfrm>
          <a:prstGeom prst="ellipse">
            <a:avLst/>
          </a:prstGeom>
          <a:solidFill>
            <a:schemeClr val="accent1"/>
          </a:solidFill>
          <a:ln/>
        </p:spPr>
        <p:txBody>
          <a:bodyPr/>
          <a:lstStyle/>
          <a:p>
            <a:endParaRPr lang="it-IT" noProof="0" dirty="0"/>
          </a:p>
        </p:txBody>
      </p:sp>
      <p:pic>
        <p:nvPicPr>
          <p:cNvPr id="37" name="Image 2" descr="FiType"/>
          <p:cNvPicPr>
            <a:picLocks noChangeAspect="1"/>
          </p:cNvPicPr>
          <p:nvPr/>
        </p:nvPicPr>
        <p:blipFill>
          <a:blip r:embed="rId5"/>
          <a:stretch>
            <a:fillRect/>
          </a:stretch>
        </p:blipFill>
        <p:spPr>
          <a:xfrm>
            <a:off x="6361938" y="3847338"/>
            <a:ext cx="251460" cy="251460"/>
          </a:xfrm>
          <a:prstGeom prst="rect">
            <a:avLst/>
          </a:prstGeom>
        </p:spPr>
      </p:pic>
      <p:sp>
        <p:nvSpPr>
          <p:cNvPr id="38" name="Text 32"/>
          <p:cNvSpPr txBox="1"/>
          <p:nvPr/>
        </p:nvSpPr>
        <p:spPr>
          <a:xfrm>
            <a:off x="6848856" y="3429000"/>
            <a:ext cx="1737360" cy="1097280"/>
          </a:xfrm>
          <a:prstGeom prst="rect">
            <a:avLst/>
          </a:prstGeom>
          <a:noFill/>
          <a:ln/>
        </p:spPr>
        <p:txBody>
          <a:bodyPr wrap="square" lIns="0" tIns="0" rIns="0" bIns="0" rtlCol="0" anchor="ctr"/>
          <a:lstStyle/>
          <a:p>
            <a:pPr marL="0" indent="0">
              <a:buNone/>
            </a:pPr>
            <a:r>
              <a:rPr lang="it-IT" sz="1300" b="1" noProof="0" dirty="0">
                <a:solidFill>
                  <a:schemeClr val="tx1"/>
                </a:solidFill>
              </a:rPr>
              <a:t>Alcuni token possono rappresentare singoli caratteri.</a:t>
            </a:r>
            <a:endParaRPr lang="it-IT" sz="1300" noProof="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noProof="0" smtClean="0"/>
              <a:t>44</a:t>
            </a:fld>
            <a:endParaRPr lang="it-IT" noProof="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Rappresentare il significato</a:t>
            </a:r>
            <a:endParaRPr lang="it-IT" sz="2600" noProof="0" dirty="0"/>
          </a:p>
        </p:txBody>
      </p:sp>
      <p:sp>
        <p:nvSpPr>
          <p:cNvPr id="4" name="spazio semantico"/>
          <p:cNvSpPr/>
          <p:nvPr/>
        </p:nvSpPr>
        <p:spPr>
          <a:xfrm>
            <a:off x="457200" y="1097280"/>
            <a:ext cx="4937760" cy="3429000"/>
          </a:xfrm>
          <a:prstGeom prst="roundRect">
            <a:avLst>
              <a:gd name="adj" fmla="val 2133"/>
            </a:avLst>
          </a:prstGeom>
          <a:solidFill>
            <a:schemeClr val="bg2"/>
          </a:solidFill>
          <a:ln/>
        </p:spPr>
        <p:txBody>
          <a:bodyPr/>
          <a:lstStyle/>
          <a:p>
            <a:endParaRPr lang="it-IT" noProof="0" dirty="0"/>
          </a:p>
        </p:txBody>
      </p:sp>
      <p:sp>
        <p:nvSpPr>
          <p:cNvPr id="5" name="punto fattura"/>
          <p:cNvSpPr/>
          <p:nvPr/>
        </p:nvSpPr>
        <p:spPr>
          <a:xfrm>
            <a:off x="914400" y="1554480"/>
            <a:ext cx="164592" cy="164592"/>
          </a:xfrm>
          <a:prstGeom prst="ellipse">
            <a:avLst/>
          </a:prstGeom>
          <a:solidFill>
            <a:schemeClr val="accent1"/>
          </a:solidFill>
          <a:ln/>
        </p:spPr>
        <p:txBody>
          <a:bodyPr/>
          <a:lstStyle/>
          <a:p>
            <a:endParaRPr lang="it-IT" noProof="0" dirty="0"/>
          </a:p>
        </p:txBody>
      </p:sp>
      <p:sp>
        <p:nvSpPr>
          <p:cNvPr id="6" name="Text 3"/>
          <p:cNvSpPr txBox="1"/>
          <p:nvPr/>
        </p:nvSpPr>
        <p:spPr>
          <a:xfrm>
            <a:off x="1133856" y="1490472"/>
            <a:ext cx="1097280" cy="292608"/>
          </a:xfrm>
          <a:prstGeom prst="rect">
            <a:avLst/>
          </a:prstGeom>
          <a:noFill/>
          <a:ln/>
        </p:spPr>
        <p:txBody>
          <a:bodyPr wrap="square" lIns="0" tIns="0" rIns="0" bIns="0" rtlCol="0" anchor="t"/>
          <a:lstStyle/>
          <a:p>
            <a:pPr marL="0" indent="0">
              <a:buNone/>
            </a:pPr>
            <a:r>
              <a:rPr lang="it-IT" sz="1300" b="1" noProof="0" dirty="0">
                <a:solidFill>
                  <a:schemeClr val="tx1"/>
                </a:solidFill>
              </a:rPr>
              <a:t>fattura</a:t>
            </a:r>
            <a:endParaRPr lang="it-IT" sz="1300" noProof="0" dirty="0"/>
          </a:p>
        </p:txBody>
      </p:sp>
      <p:sp>
        <p:nvSpPr>
          <p:cNvPr id="7" name="punto preventivo"/>
          <p:cNvSpPr/>
          <p:nvPr/>
        </p:nvSpPr>
        <p:spPr>
          <a:xfrm>
            <a:off x="1463040" y="1965960"/>
            <a:ext cx="164592" cy="164592"/>
          </a:xfrm>
          <a:prstGeom prst="ellipse">
            <a:avLst/>
          </a:prstGeom>
          <a:solidFill>
            <a:schemeClr val="accent1"/>
          </a:solidFill>
          <a:ln/>
        </p:spPr>
        <p:txBody>
          <a:bodyPr/>
          <a:lstStyle/>
          <a:p>
            <a:endParaRPr lang="it-IT" noProof="0" dirty="0"/>
          </a:p>
        </p:txBody>
      </p:sp>
      <p:sp>
        <p:nvSpPr>
          <p:cNvPr id="8" name="Text 5"/>
          <p:cNvSpPr txBox="1"/>
          <p:nvPr/>
        </p:nvSpPr>
        <p:spPr>
          <a:xfrm>
            <a:off x="1682496" y="1901952"/>
            <a:ext cx="1097280" cy="292608"/>
          </a:xfrm>
          <a:prstGeom prst="rect">
            <a:avLst/>
          </a:prstGeom>
          <a:noFill/>
          <a:ln/>
        </p:spPr>
        <p:txBody>
          <a:bodyPr wrap="square" lIns="0" tIns="0" rIns="0" bIns="0" rtlCol="0" anchor="t"/>
          <a:lstStyle/>
          <a:p>
            <a:pPr marL="0" indent="0">
              <a:buNone/>
            </a:pPr>
            <a:r>
              <a:rPr lang="it-IT" sz="1300" b="1" noProof="0" dirty="0">
                <a:solidFill>
                  <a:schemeClr val="tx1"/>
                </a:solidFill>
              </a:rPr>
              <a:t>preventivo</a:t>
            </a:r>
            <a:endParaRPr lang="it-IT" sz="1300" noProof="0" dirty="0"/>
          </a:p>
        </p:txBody>
      </p:sp>
      <p:sp>
        <p:nvSpPr>
          <p:cNvPr id="9" name="punto ordine"/>
          <p:cNvSpPr/>
          <p:nvPr/>
        </p:nvSpPr>
        <p:spPr>
          <a:xfrm>
            <a:off x="777240" y="2240280"/>
            <a:ext cx="164592" cy="164592"/>
          </a:xfrm>
          <a:prstGeom prst="ellipse">
            <a:avLst/>
          </a:prstGeom>
          <a:solidFill>
            <a:schemeClr val="accent1"/>
          </a:solidFill>
          <a:ln/>
        </p:spPr>
        <p:txBody>
          <a:bodyPr/>
          <a:lstStyle/>
          <a:p>
            <a:endParaRPr lang="it-IT" noProof="0" dirty="0"/>
          </a:p>
        </p:txBody>
      </p:sp>
      <p:sp>
        <p:nvSpPr>
          <p:cNvPr id="10" name="Text 7"/>
          <p:cNvSpPr txBox="1"/>
          <p:nvPr/>
        </p:nvSpPr>
        <p:spPr>
          <a:xfrm>
            <a:off x="996696" y="2176272"/>
            <a:ext cx="1097280" cy="292608"/>
          </a:xfrm>
          <a:prstGeom prst="rect">
            <a:avLst/>
          </a:prstGeom>
          <a:noFill/>
          <a:ln/>
        </p:spPr>
        <p:txBody>
          <a:bodyPr wrap="square" lIns="0" tIns="0" rIns="0" bIns="0" rtlCol="0" anchor="t"/>
          <a:lstStyle/>
          <a:p>
            <a:pPr marL="0" indent="0">
              <a:buNone/>
            </a:pPr>
            <a:r>
              <a:rPr lang="it-IT" sz="1300" b="1" noProof="0" dirty="0">
                <a:solidFill>
                  <a:schemeClr val="tx1"/>
                </a:solidFill>
              </a:rPr>
              <a:t>ordine</a:t>
            </a:r>
            <a:endParaRPr lang="it-IT" sz="1300" noProof="0" dirty="0"/>
          </a:p>
        </p:txBody>
      </p:sp>
      <p:sp>
        <p:nvSpPr>
          <p:cNvPr id="11" name="punto cane"/>
          <p:cNvSpPr/>
          <p:nvPr/>
        </p:nvSpPr>
        <p:spPr>
          <a:xfrm>
            <a:off x="3474720" y="1508760"/>
            <a:ext cx="164592" cy="164592"/>
          </a:xfrm>
          <a:prstGeom prst="ellipse">
            <a:avLst/>
          </a:prstGeom>
          <a:solidFill>
            <a:schemeClr val="accent5"/>
          </a:solidFill>
          <a:ln/>
        </p:spPr>
        <p:txBody>
          <a:bodyPr/>
          <a:lstStyle/>
          <a:p>
            <a:endParaRPr lang="it-IT" noProof="0" dirty="0"/>
          </a:p>
        </p:txBody>
      </p:sp>
      <p:sp>
        <p:nvSpPr>
          <p:cNvPr id="12" name="Text 9"/>
          <p:cNvSpPr txBox="1"/>
          <p:nvPr/>
        </p:nvSpPr>
        <p:spPr>
          <a:xfrm>
            <a:off x="3694176" y="1444752"/>
            <a:ext cx="1097280" cy="292608"/>
          </a:xfrm>
          <a:prstGeom prst="rect">
            <a:avLst/>
          </a:prstGeom>
          <a:noFill/>
          <a:ln/>
        </p:spPr>
        <p:txBody>
          <a:bodyPr wrap="square" lIns="0" tIns="0" rIns="0" bIns="0" rtlCol="0" anchor="t"/>
          <a:lstStyle/>
          <a:p>
            <a:pPr marL="0" indent="0">
              <a:buNone/>
            </a:pPr>
            <a:r>
              <a:rPr lang="it-IT" sz="1300" b="1" noProof="0" dirty="0">
                <a:solidFill>
                  <a:schemeClr val="tx1"/>
                </a:solidFill>
              </a:rPr>
              <a:t>cane</a:t>
            </a:r>
            <a:endParaRPr lang="it-IT" sz="1300" noProof="0" dirty="0"/>
          </a:p>
        </p:txBody>
      </p:sp>
      <p:sp>
        <p:nvSpPr>
          <p:cNvPr id="13" name="punto gatto"/>
          <p:cNvSpPr/>
          <p:nvPr/>
        </p:nvSpPr>
        <p:spPr>
          <a:xfrm>
            <a:off x="4069080" y="1783080"/>
            <a:ext cx="164592" cy="164592"/>
          </a:xfrm>
          <a:prstGeom prst="ellipse">
            <a:avLst/>
          </a:prstGeom>
          <a:solidFill>
            <a:schemeClr val="accent5"/>
          </a:solidFill>
          <a:ln/>
        </p:spPr>
        <p:txBody>
          <a:bodyPr/>
          <a:lstStyle/>
          <a:p>
            <a:endParaRPr lang="it-IT" noProof="0" dirty="0"/>
          </a:p>
        </p:txBody>
      </p:sp>
      <p:sp>
        <p:nvSpPr>
          <p:cNvPr id="14" name="Text 11"/>
          <p:cNvSpPr txBox="1"/>
          <p:nvPr/>
        </p:nvSpPr>
        <p:spPr>
          <a:xfrm>
            <a:off x="4288536" y="1719072"/>
            <a:ext cx="1097280" cy="292608"/>
          </a:xfrm>
          <a:prstGeom prst="rect">
            <a:avLst/>
          </a:prstGeom>
          <a:noFill/>
          <a:ln/>
        </p:spPr>
        <p:txBody>
          <a:bodyPr wrap="square" lIns="0" tIns="0" rIns="0" bIns="0" rtlCol="0" anchor="t"/>
          <a:lstStyle/>
          <a:p>
            <a:pPr marL="0" indent="0">
              <a:buNone/>
            </a:pPr>
            <a:r>
              <a:rPr lang="it-IT" sz="1300" b="1" noProof="0" dirty="0">
                <a:solidFill>
                  <a:schemeClr val="tx1"/>
                </a:solidFill>
              </a:rPr>
              <a:t>gatto</a:t>
            </a:r>
            <a:endParaRPr lang="it-IT" sz="1300" noProof="0" dirty="0"/>
          </a:p>
        </p:txBody>
      </p:sp>
      <p:sp>
        <p:nvSpPr>
          <p:cNvPr id="15" name="punto criceto"/>
          <p:cNvSpPr/>
          <p:nvPr/>
        </p:nvSpPr>
        <p:spPr>
          <a:xfrm>
            <a:off x="3611880" y="2194560"/>
            <a:ext cx="164592" cy="164592"/>
          </a:xfrm>
          <a:prstGeom prst="ellipse">
            <a:avLst/>
          </a:prstGeom>
          <a:solidFill>
            <a:schemeClr val="accent5"/>
          </a:solidFill>
          <a:ln/>
        </p:spPr>
        <p:txBody>
          <a:bodyPr/>
          <a:lstStyle/>
          <a:p>
            <a:endParaRPr lang="it-IT" noProof="0" dirty="0"/>
          </a:p>
        </p:txBody>
      </p:sp>
      <p:sp>
        <p:nvSpPr>
          <p:cNvPr id="16" name="Text 13"/>
          <p:cNvSpPr txBox="1"/>
          <p:nvPr/>
        </p:nvSpPr>
        <p:spPr>
          <a:xfrm>
            <a:off x="3831336" y="2130552"/>
            <a:ext cx="1097280" cy="292608"/>
          </a:xfrm>
          <a:prstGeom prst="rect">
            <a:avLst/>
          </a:prstGeom>
          <a:noFill/>
          <a:ln/>
        </p:spPr>
        <p:txBody>
          <a:bodyPr wrap="square" lIns="0" tIns="0" rIns="0" bIns="0" rtlCol="0" anchor="t"/>
          <a:lstStyle/>
          <a:p>
            <a:pPr marL="0" indent="0">
              <a:buNone/>
            </a:pPr>
            <a:r>
              <a:rPr lang="it-IT" sz="1300" b="1" noProof="0" dirty="0">
                <a:solidFill>
                  <a:schemeClr val="tx1"/>
                </a:solidFill>
              </a:rPr>
              <a:t>criceto</a:t>
            </a:r>
            <a:endParaRPr lang="it-IT" sz="1300" noProof="0" dirty="0"/>
          </a:p>
        </p:txBody>
      </p:sp>
      <p:sp>
        <p:nvSpPr>
          <p:cNvPr id="17" name="punto Roma"/>
          <p:cNvSpPr/>
          <p:nvPr/>
        </p:nvSpPr>
        <p:spPr>
          <a:xfrm>
            <a:off x="2103120" y="3291840"/>
            <a:ext cx="164592" cy="164592"/>
          </a:xfrm>
          <a:prstGeom prst="ellipse">
            <a:avLst/>
          </a:prstGeom>
          <a:solidFill>
            <a:schemeClr val="tx2"/>
          </a:solidFill>
          <a:ln/>
        </p:spPr>
        <p:txBody>
          <a:bodyPr/>
          <a:lstStyle/>
          <a:p>
            <a:endParaRPr lang="it-IT" noProof="0" dirty="0"/>
          </a:p>
        </p:txBody>
      </p:sp>
      <p:sp>
        <p:nvSpPr>
          <p:cNvPr id="18" name="Text 15"/>
          <p:cNvSpPr txBox="1"/>
          <p:nvPr/>
        </p:nvSpPr>
        <p:spPr>
          <a:xfrm>
            <a:off x="2322576" y="3227832"/>
            <a:ext cx="1097280" cy="292608"/>
          </a:xfrm>
          <a:prstGeom prst="rect">
            <a:avLst/>
          </a:prstGeom>
          <a:noFill/>
          <a:ln/>
        </p:spPr>
        <p:txBody>
          <a:bodyPr wrap="square" lIns="0" tIns="0" rIns="0" bIns="0" rtlCol="0" anchor="t"/>
          <a:lstStyle/>
          <a:p>
            <a:pPr marL="0" indent="0">
              <a:buNone/>
            </a:pPr>
            <a:r>
              <a:rPr lang="it-IT" sz="1300" b="1" noProof="0" dirty="0">
                <a:solidFill>
                  <a:schemeClr val="tx1"/>
                </a:solidFill>
              </a:rPr>
              <a:t>Roma</a:t>
            </a:r>
            <a:endParaRPr lang="it-IT" sz="1300" noProof="0" dirty="0"/>
          </a:p>
        </p:txBody>
      </p:sp>
      <p:sp>
        <p:nvSpPr>
          <p:cNvPr id="19" name="punto Milano"/>
          <p:cNvSpPr/>
          <p:nvPr/>
        </p:nvSpPr>
        <p:spPr>
          <a:xfrm>
            <a:off x="2788920" y="3611880"/>
            <a:ext cx="164592" cy="164592"/>
          </a:xfrm>
          <a:prstGeom prst="ellipse">
            <a:avLst/>
          </a:prstGeom>
          <a:solidFill>
            <a:schemeClr val="tx2"/>
          </a:solidFill>
          <a:ln/>
        </p:spPr>
        <p:txBody>
          <a:bodyPr/>
          <a:lstStyle/>
          <a:p>
            <a:endParaRPr lang="it-IT" noProof="0" dirty="0"/>
          </a:p>
        </p:txBody>
      </p:sp>
      <p:sp>
        <p:nvSpPr>
          <p:cNvPr id="20" name="Text 17"/>
          <p:cNvSpPr txBox="1"/>
          <p:nvPr/>
        </p:nvSpPr>
        <p:spPr>
          <a:xfrm>
            <a:off x="3008376" y="3547872"/>
            <a:ext cx="1097280" cy="292608"/>
          </a:xfrm>
          <a:prstGeom prst="rect">
            <a:avLst/>
          </a:prstGeom>
          <a:noFill/>
          <a:ln/>
        </p:spPr>
        <p:txBody>
          <a:bodyPr wrap="square" lIns="0" tIns="0" rIns="0" bIns="0" rtlCol="0" anchor="t"/>
          <a:lstStyle/>
          <a:p>
            <a:pPr marL="0" indent="0">
              <a:buNone/>
            </a:pPr>
            <a:r>
              <a:rPr lang="it-IT" sz="1300" b="1" noProof="0" dirty="0">
                <a:solidFill>
                  <a:schemeClr val="tx1"/>
                </a:solidFill>
              </a:rPr>
              <a:t>Milano</a:t>
            </a:r>
            <a:endParaRPr lang="it-IT" sz="1300" noProof="0" dirty="0"/>
          </a:p>
        </p:txBody>
      </p:sp>
      <p:sp>
        <p:nvSpPr>
          <p:cNvPr id="21" name="punto Napoli"/>
          <p:cNvSpPr/>
          <p:nvPr/>
        </p:nvSpPr>
        <p:spPr>
          <a:xfrm>
            <a:off x="2011680" y="3886200"/>
            <a:ext cx="164592" cy="164592"/>
          </a:xfrm>
          <a:prstGeom prst="ellipse">
            <a:avLst/>
          </a:prstGeom>
          <a:solidFill>
            <a:schemeClr val="tx2"/>
          </a:solidFill>
          <a:ln/>
        </p:spPr>
        <p:txBody>
          <a:bodyPr/>
          <a:lstStyle/>
          <a:p>
            <a:endParaRPr lang="it-IT" noProof="0" dirty="0"/>
          </a:p>
        </p:txBody>
      </p:sp>
      <p:sp>
        <p:nvSpPr>
          <p:cNvPr id="22" name="Text 19"/>
          <p:cNvSpPr txBox="1"/>
          <p:nvPr/>
        </p:nvSpPr>
        <p:spPr>
          <a:xfrm>
            <a:off x="2231136" y="3822192"/>
            <a:ext cx="1097280" cy="292608"/>
          </a:xfrm>
          <a:prstGeom prst="rect">
            <a:avLst/>
          </a:prstGeom>
          <a:noFill/>
          <a:ln/>
        </p:spPr>
        <p:txBody>
          <a:bodyPr wrap="square" lIns="0" tIns="0" rIns="0" bIns="0" rtlCol="0" anchor="t"/>
          <a:lstStyle/>
          <a:p>
            <a:pPr marL="0" indent="0">
              <a:buNone/>
            </a:pPr>
            <a:r>
              <a:rPr lang="it-IT" sz="1300" b="1" noProof="0" dirty="0">
                <a:solidFill>
                  <a:schemeClr val="tx1"/>
                </a:solidFill>
              </a:rPr>
              <a:t>Napoli</a:t>
            </a:r>
            <a:endParaRPr lang="it-IT" sz="1300" noProof="0" dirty="0"/>
          </a:p>
        </p:txBody>
      </p:sp>
      <p:sp>
        <p:nvSpPr>
          <p:cNvPr id="23" name="Text 20"/>
          <p:cNvSpPr txBox="1"/>
          <p:nvPr/>
        </p:nvSpPr>
        <p:spPr>
          <a:xfrm>
            <a:off x="640080" y="4206240"/>
            <a:ext cx="4572000" cy="274320"/>
          </a:xfrm>
          <a:prstGeom prst="rect">
            <a:avLst/>
          </a:prstGeom>
          <a:noFill/>
          <a:ln/>
        </p:spPr>
        <p:txBody>
          <a:bodyPr wrap="square" lIns="0" tIns="0" rIns="0" bIns="0" rtlCol="0" anchor="t"/>
          <a:lstStyle/>
          <a:p>
            <a:pPr marL="0" indent="0">
              <a:buNone/>
            </a:pPr>
            <a:r>
              <a:rPr lang="it-IT" sz="1000" i="1" noProof="0" dirty="0">
                <a:solidFill>
                  <a:schemeClr val="accent2"/>
                </a:solidFill>
              </a:rPr>
              <a:t>Rappresentazione illustrativa in due dimensioni</a:t>
            </a:r>
            <a:endParaRPr lang="it-IT" sz="1000" noProof="0" dirty="0"/>
          </a:p>
        </p:txBody>
      </p:sp>
      <p:sp>
        <p:nvSpPr>
          <p:cNvPr id="24" name="cerchio FiTarget"/>
          <p:cNvSpPr/>
          <p:nvPr/>
        </p:nvSpPr>
        <p:spPr>
          <a:xfrm>
            <a:off x="5669280" y="1143000"/>
            <a:ext cx="457200" cy="457200"/>
          </a:xfrm>
          <a:prstGeom prst="ellipse">
            <a:avLst/>
          </a:prstGeom>
          <a:solidFill>
            <a:schemeClr val="accent1"/>
          </a:solidFill>
          <a:ln/>
        </p:spPr>
        <p:txBody>
          <a:bodyPr/>
          <a:lstStyle/>
          <a:p>
            <a:endParaRPr lang="it-IT" noProof="0" dirty="0"/>
          </a:p>
        </p:txBody>
      </p:sp>
      <p:pic>
        <p:nvPicPr>
          <p:cNvPr id="25" name="Image 0" descr="FiTarget"/>
          <p:cNvPicPr>
            <a:picLocks noChangeAspect="1"/>
          </p:cNvPicPr>
          <p:nvPr/>
        </p:nvPicPr>
        <p:blipFill>
          <a:blip r:embed="rId3"/>
          <a:stretch>
            <a:fillRect/>
          </a:stretch>
        </p:blipFill>
        <p:spPr>
          <a:xfrm>
            <a:off x="5783580" y="1257300"/>
            <a:ext cx="228600" cy="228600"/>
          </a:xfrm>
          <a:prstGeom prst="rect">
            <a:avLst/>
          </a:prstGeom>
        </p:spPr>
      </p:pic>
      <p:sp>
        <p:nvSpPr>
          <p:cNvPr id="26" name="Text 22"/>
          <p:cNvSpPr txBox="1"/>
          <p:nvPr/>
        </p:nvSpPr>
        <p:spPr>
          <a:xfrm>
            <a:off x="6263640" y="1115568"/>
            <a:ext cx="2423160" cy="502920"/>
          </a:xfrm>
          <a:prstGeom prst="rect">
            <a:avLst/>
          </a:prstGeom>
          <a:noFill/>
          <a:ln/>
        </p:spPr>
        <p:txBody>
          <a:bodyPr wrap="square" lIns="0" tIns="0" rIns="0" bIns="0" rtlCol="0" anchor="t"/>
          <a:lstStyle/>
          <a:p>
            <a:pPr marL="0" indent="0">
              <a:buNone/>
            </a:pPr>
            <a:r>
              <a:rPr lang="it-IT" sz="1300" b="1" noProof="0" dirty="0">
                <a:solidFill>
                  <a:schemeClr val="tx1"/>
                </a:solidFill>
              </a:rPr>
              <a:t>Significati simili, posizioni vicine</a:t>
            </a:r>
            <a:endParaRPr lang="it-IT" sz="1300" noProof="0" dirty="0"/>
          </a:p>
        </p:txBody>
      </p:sp>
      <p:sp>
        <p:nvSpPr>
          <p:cNvPr id="27" name="Text 23"/>
          <p:cNvSpPr txBox="1"/>
          <p:nvPr/>
        </p:nvSpPr>
        <p:spPr>
          <a:xfrm>
            <a:off x="6263640" y="1600200"/>
            <a:ext cx="2423160" cy="548640"/>
          </a:xfrm>
          <a:prstGeom prst="rect">
            <a:avLst/>
          </a:prstGeom>
          <a:noFill/>
          <a:ln/>
        </p:spPr>
        <p:txBody>
          <a:bodyPr wrap="square" lIns="0" tIns="0" rIns="0" bIns="0" rtlCol="0" anchor="t"/>
          <a:lstStyle/>
          <a:p>
            <a:pPr marL="0" indent="0">
              <a:buNone/>
            </a:pPr>
            <a:r>
              <a:rPr lang="it-IT" sz="1100" noProof="0" dirty="0">
                <a:solidFill>
                  <a:schemeClr val="tx2"/>
                </a:solidFill>
              </a:rPr>
              <a:t>Ogni token diventa una lista di numeri: una posizione in uno spazio</a:t>
            </a:r>
            <a:endParaRPr lang="it-IT" sz="1100" noProof="0" dirty="0"/>
          </a:p>
        </p:txBody>
      </p:sp>
      <p:sp>
        <p:nvSpPr>
          <p:cNvPr id="28" name="cerchio FiTrendingUp"/>
          <p:cNvSpPr/>
          <p:nvPr/>
        </p:nvSpPr>
        <p:spPr>
          <a:xfrm>
            <a:off x="5669280" y="2258568"/>
            <a:ext cx="457200" cy="457200"/>
          </a:xfrm>
          <a:prstGeom prst="ellipse">
            <a:avLst/>
          </a:prstGeom>
          <a:solidFill>
            <a:schemeClr val="accent1"/>
          </a:solidFill>
          <a:ln/>
        </p:spPr>
        <p:txBody>
          <a:bodyPr/>
          <a:lstStyle/>
          <a:p>
            <a:endParaRPr lang="it-IT" noProof="0" dirty="0"/>
          </a:p>
        </p:txBody>
      </p:sp>
      <p:pic>
        <p:nvPicPr>
          <p:cNvPr id="29" name="Image 1" descr="FiTrendingUp"/>
          <p:cNvPicPr>
            <a:picLocks noChangeAspect="1"/>
          </p:cNvPicPr>
          <p:nvPr/>
        </p:nvPicPr>
        <p:blipFill>
          <a:blip r:embed="rId4"/>
          <a:stretch>
            <a:fillRect/>
          </a:stretch>
        </p:blipFill>
        <p:spPr>
          <a:xfrm>
            <a:off x="5783580" y="2372868"/>
            <a:ext cx="228600" cy="228600"/>
          </a:xfrm>
          <a:prstGeom prst="rect">
            <a:avLst/>
          </a:prstGeom>
        </p:spPr>
      </p:pic>
      <p:sp>
        <p:nvSpPr>
          <p:cNvPr id="30" name="Text 25"/>
          <p:cNvSpPr txBox="1"/>
          <p:nvPr/>
        </p:nvSpPr>
        <p:spPr>
          <a:xfrm>
            <a:off x="6263640" y="2231136"/>
            <a:ext cx="2423160" cy="502920"/>
          </a:xfrm>
          <a:prstGeom prst="rect">
            <a:avLst/>
          </a:prstGeom>
          <a:noFill/>
          <a:ln/>
        </p:spPr>
        <p:txBody>
          <a:bodyPr wrap="square" lIns="0" tIns="0" rIns="0" bIns="0" rtlCol="0" anchor="t"/>
          <a:lstStyle/>
          <a:p>
            <a:pPr marL="0" indent="0">
              <a:buNone/>
            </a:pPr>
            <a:r>
              <a:rPr lang="it-IT" sz="1300" b="1" noProof="0" dirty="0">
                <a:solidFill>
                  <a:schemeClr val="tx1"/>
                </a:solidFill>
              </a:rPr>
              <a:t>Emergono dall'addestramento</a:t>
            </a:r>
            <a:endParaRPr lang="it-IT" sz="1300" noProof="0" dirty="0"/>
          </a:p>
        </p:txBody>
      </p:sp>
      <p:sp>
        <p:nvSpPr>
          <p:cNvPr id="31" name="Text 26"/>
          <p:cNvSpPr txBox="1"/>
          <p:nvPr/>
        </p:nvSpPr>
        <p:spPr>
          <a:xfrm>
            <a:off x="6263640" y="2715768"/>
            <a:ext cx="2423160" cy="548640"/>
          </a:xfrm>
          <a:prstGeom prst="rect">
            <a:avLst/>
          </a:prstGeom>
          <a:noFill/>
          <a:ln/>
        </p:spPr>
        <p:txBody>
          <a:bodyPr wrap="square" lIns="0" tIns="0" rIns="0" bIns="0" rtlCol="0" anchor="t"/>
          <a:lstStyle/>
          <a:p>
            <a:pPr marL="0" indent="0">
              <a:buNone/>
            </a:pPr>
            <a:r>
              <a:rPr lang="it-IT" sz="1100" noProof="0" dirty="0">
                <a:solidFill>
                  <a:schemeClr val="tx2"/>
                </a:solidFill>
              </a:rPr>
              <a:t>Parole usate in contesti simili hanno rappresentazioni simili</a:t>
            </a:r>
            <a:endParaRPr lang="it-IT" sz="1100" noProof="0" dirty="0"/>
          </a:p>
        </p:txBody>
      </p:sp>
      <p:sp>
        <p:nvSpPr>
          <p:cNvPr id="32" name="cerchio FiLink"/>
          <p:cNvSpPr/>
          <p:nvPr/>
        </p:nvSpPr>
        <p:spPr>
          <a:xfrm>
            <a:off x="5669280" y="3374136"/>
            <a:ext cx="457200" cy="457200"/>
          </a:xfrm>
          <a:prstGeom prst="ellipse">
            <a:avLst/>
          </a:prstGeom>
          <a:solidFill>
            <a:schemeClr val="accent1"/>
          </a:solidFill>
          <a:ln/>
        </p:spPr>
        <p:txBody>
          <a:bodyPr/>
          <a:lstStyle/>
          <a:p>
            <a:endParaRPr lang="it-IT" noProof="0" dirty="0"/>
          </a:p>
        </p:txBody>
      </p:sp>
      <p:pic>
        <p:nvPicPr>
          <p:cNvPr id="33" name="Image 2" descr="FiLink"/>
          <p:cNvPicPr>
            <a:picLocks noChangeAspect="1"/>
          </p:cNvPicPr>
          <p:nvPr/>
        </p:nvPicPr>
        <p:blipFill>
          <a:blip r:embed="rId5"/>
          <a:stretch>
            <a:fillRect/>
          </a:stretch>
        </p:blipFill>
        <p:spPr>
          <a:xfrm>
            <a:off x="5783580" y="3488436"/>
            <a:ext cx="228600" cy="228600"/>
          </a:xfrm>
          <a:prstGeom prst="rect">
            <a:avLst/>
          </a:prstGeom>
        </p:spPr>
      </p:pic>
      <p:sp>
        <p:nvSpPr>
          <p:cNvPr id="34" name="Text 28"/>
          <p:cNvSpPr txBox="1"/>
          <p:nvPr/>
        </p:nvSpPr>
        <p:spPr>
          <a:xfrm>
            <a:off x="6263640" y="3346704"/>
            <a:ext cx="2423160" cy="502920"/>
          </a:xfrm>
          <a:prstGeom prst="rect">
            <a:avLst/>
          </a:prstGeom>
          <a:noFill/>
          <a:ln/>
        </p:spPr>
        <p:txBody>
          <a:bodyPr wrap="square" lIns="0" tIns="0" rIns="0" bIns="0" rtlCol="0" anchor="t"/>
          <a:lstStyle/>
          <a:p>
            <a:pPr marL="0" indent="0">
              <a:buNone/>
            </a:pPr>
            <a:r>
              <a:rPr lang="it-IT" sz="1300" b="1" noProof="0" dirty="0">
                <a:solidFill>
                  <a:schemeClr val="tx1"/>
                </a:solidFill>
              </a:rPr>
              <a:t>Arricchite dal contesto</a:t>
            </a:r>
            <a:endParaRPr lang="it-IT" sz="1300" noProof="0" dirty="0"/>
          </a:p>
        </p:txBody>
      </p:sp>
      <p:sp>
        <p:nvSpPr>
          <p:cNvPr id="35" name="Text 29"/>
          <p:cNvSpPr txBox="1"/>
          <p:nvPr/>
        </p:nvSpPr>
        <p:spPr>
          <a:xfrm>
            <a:off x="6263640" y="3831336"/>
            <a:ext cx="2423160" cy="548640"/>
          </a:xfrm>
          <a:prstGeom prst="rect">
            <a:avLst/>
          </a:prstGeom>
          <a:noFill/>
          <a:ln/>
        </p:spPr>
        <p:txBody>
          <a:bodyPr wrap="square" lIns="0" tIns="0" rIns="0" bIns="0" rtlCol="0" anchor="t"/>
          <a:lstStyle/>
          <a:p>
            <a:pPr marL="0" indent="0">
              <a:buNone/>
            </a:pPr>
            <a:r>
              <a:rPr lang="it-IT" sz="1100" noProof="0" dirty="0">
                <a:solidFill>
                  <a:schemeClr val="tx2"/>
                </a:solidFill>
              </a:rPr>
              <a:t>Il significato di ogni token si precisa in base alla frase</a:t>
            </a:r>
            <a:endParaRPr lang="it-IT" sz="1100" noProof="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noProof="0" smtClean="0"/>
              <a:t>45</a:t>
            </a:fld>
            <a:endParaRPr lang="it-IT" noProof="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Il Transformer e il meccanismo di attenzione</a:t>
            </a:r>
            <a:endParaRPr lang="it-IT" sz="2600" noProof="0" dirty="0"/>
          </a:p>
        </p:txBody>
      </p:sp>
      <p:sp>
        <p:nvSpPr>
          <p:cNvPr id="4" name="blocco Ho"/>
          <p:cNvSpPr/>
          <p:nvPr/>
        </p:nvSpPr>
        <p:spPr>
          <a:xfrm>
            <a:off x="457200" y="1645920"/>
            <a:ext cx="512064" cy="502920"/>
          </a:xfrm>
          <a:prstGeom prst="roundRect">
            <a:avLst>
              <a:gd name="adj" fmla="val 21818"/>
            </a:avLst>
          </a:prstGeom>
          <a:solidFill>
            <a:schemeClr val="bg2"/>
          </a:solidFill>
          <a:ln/>
        </p:spPr>
        <p:txBody>
          <a:bodyPr/>
          <a:lstStyle/>
          <a:p>
            <a:endParaRPr lang="it-IT" noProof="0" dirty="0"/>
          </a:p>
        </p:txBody>
      </p:sp>
      <p:sp>
        <p:nvSpPr>
          <p:cNvPr id="5" name="Text 2"/>
          <p:cNvSpPr txBox="1"/>
          <p:nvPr/>
        </p:nvSpPr>
        <p:spPr>
          <a:xfrm>
            <a:off x="502920" y="1645920"/>
            <a:ext cx="420624" cy="502920"/>
          </a:xfrm>
          <a:prstGeom prst="rect">
            <a:avLst/>
          </a:prstGeom>
          <a:noFill/>
          <a:ln/>
        </p:spPr>
        <p:txBody>
          <a:bodyPr wrap="square" lIns="0" tIns="0" rIns="0" bIns="0" rtlCol="0" anchor="ctr"/>
          <a:lstStyle/>
          <a:p>
            <a:pPr marL="0" indent="0" algn="ctr">
              <a:buNone/>
            </a:pPr>
            <a:r>
              <a:rPr lang="it-IT" sz="1400" noProof="0" dirty="0">
                <a:solidFill>
                  <a:schemeClr val="tx1"/>
                </a:solidFill>
              </a:rPr>
              <a:t>Ho</a:t>
            </a:r>
            <a:endParaRPr lang="it-IT" sz="1400" noProof="0" dirty="0"/>
          </a:p>
        </p:txBody>
      </p:sp>
      <p:sp>
        <p:nvSpPr>
          <p:cNvPr id="6" name="blocco mangiato"/>
          <p:cNvSpPr/>
          <p:nvPr/>
        </p:nvSpPr>
        <p:spPr>
          <a:xfrm>
            <a:off x="1060704" y="1645920"/>
            <a:ext cx="1170432" cy="502920"/>
          </a:xfrm>
          <a:prstGeom prst="roundRect">
            <a:avLst>
              <a:gd name="adj" fmla="val 21818"/>
            </a:avLst>
          </a:prstGeom>
          <a:solidFill>
            <a:schemeClr val="accent6"/>
          </a:solidFill>
          <a:ln w="12700">
            <a:solidFill>
              <a:schemeClr val="accent1"/>
            </a:solidFill>
            <a:prstDash val="solid"/>
          </a:ln>
        </p:spPr>
        <p:txBody>
          <a:bodyPr/>
          <a:lstStyle/>
          <a:p>
            <a:endParaRPr lang="it-IT" noProof="0" dirty="0"/>
          </a:p>
        </p:txBody>
      </p:sp>
      <p:sp>
        <p:nvSpPr>
          <p:cNvPr id="7" name="Text 4"/>
          <p:cNvSpPr txBox="1"/>
          <p:nvPr/>
        </p:nvSpPr>
        <p:spPr>
          <a:xfrm>
            <a:off x="1106424" y="1645920"/>
            <a:ext cx="1078992" cy="502920"/>
          </a:xfrm>
          <a:prstGeom prst="rect">
            <a:avLst/>
          </a:prstGeom>
          <a:noFill/>
          <a:ln/>
        </p:spPr>
        <p:txBody>
          <a:bodyPr wrap="square" lIns="0" tIns="0" rIns="0" bIns="0" rtlCol="0" anchor="ctr"/>
          <a:lstStyle/>
          <a:p>
            <a:pPr marL="0" indent="0" algn="ctr">
              <a:buNone/>
            </a:pPr>
            <a:r>
              <a:rPr lang="it-IT" sz="1400" b="1" noProof="0" dirty="0">
                <a:solidFill>
                  <a:schemeClr val="tx1"/>
                </a:solidFill>
              </a:rPr>
              <a:t>mangiato</a:t>
            </a:r>
            <a:endParaRPr lang="it-IT" sz="1400" noProof="0" dirty="0"/>
          </a:p>
        </p:txBody>
      </p:sp>
      <p:sp>
        <p:nvSpPr>
          <p:cNvPr id="8" name="blocco una"/>
          <p:cNvSpPr/>
          <p:nvPr/>
        </p:nvSpPr>
        <p:spPr>
          <a:xfrm>
            <a:off x="2322576" y="1645920"/>
            <a:ext cx="621792" cy="502920"/>
          </a:xfrm>
          <a:prstGeom prst="roundRect">
            <a:avLst>
              <a:gd name="adj" fmla="val 21818"/>
            </a:avLst>
          </a:prstGeom>
          <a:solidFill>
            <a:schemeClr val="bg2"/>
          </a:solidFill>
          <a:ln/>
        </p:spPr>
        <p:txBody>
          <a:bodyPr/>
          <a:lstStyle/>
          <a:p>
            <a:endParaRPr lang="it-IT" noProof="0" dirty="0"/>
          </a:p>
        </p:txBody>
      </p:sp>
      <p:sp>
        <p:nvSpPr>
          <p:cNvPr id="9" name="Text 6"/>
          <p:cNvSpPr txBox="1"/>
          <p:nvPr/>
        </p:nvSpPr>
        <p:spPr>
          <a:xfrm>
            <a:off x="2368296" y="1645920"/>
            <a:ext cx="530352" cy="502920"/>
          </a:xfrm>
          <a:prstGeom prst="rect">
            <a:avLst/>
          </a:prstGeom>
          <a:noFill/>
          <a:ln/>
        </p:spPr>
        <p:txBody>
          <a:bodyPr wrap="square" lIns="0" tIns="0" rIns="0" bIns="0" rtlCol="0" anchor="ctr"/>
          <a:lstStyle/>
          <a:p>
            <a:pPr marL="0" indent="0" algn="ctr">
              <a:buNone/>
            </a:pPr>
            <a:r>
              <a:rPr lang="it-IT" sz="1400" noProof="0" dirty="0">
                <a:solidFill>
                  <a:schemeClr val="tx1"/>
                </a:solidFill>
              </a:rPr>
              <a:t>una</a:t>
            </a:r>
            <a:endParaRPr lang="it-IT" sz="1400" noProof="0" dirty="0"/>
          </a:p>
        </p:txBody>
      </p:sp>
      <p:sp>
        <p:nvSpPr>
          <p:cNvPr id="10" name="blocco pesca"/>
          <p:cNvSpPr/>
          <p:nvPr/>
        </p:nvSpPr>
        <p:spPr>
          <a:xfrm>
            <a:off x="3035808" y="1645920"/>
            <a:ext cx="841248" cy="502920"/>
          </a:xfrm>
          <a:prstGeom prst="roundRect">
            <a:avLst>
              <a:gd name="adj" fmla="val 21818"/>
            </a:avLst>
          </a:prstGeom>
          <a:solidFill>
            <a:schemeClr val="accent1"/>
          </a:solidFill>
          <a:ln/>
        </p:spPr>
        <p:txBody>
          <a:bodyPr/>
          <a:lstStyle/>
          <a:p>
            <a:endParaRPr lang="it-IT" noProof="0" dirty="0"/>
          </a:p>
        </p:txBody>
      </p:sp>
      <p:sp>
        <p:nvSpPr>
          <p:cNvPr id="11" name="Text 8"/>
          <p:cNvSpPr txBox="1"/>
          <p:nvPr/>
        </p:nvSpPr>
        <p:spPr>
          <a:xfrm>
            <a:off x="3081528" y="1645920"/>
            <a:ext cx="749808" cy="502920"/>
          </a:xfrm>
          <a:prstGeom prst="rect">
            <a:avLst/>
          </a:prstGeom>
          <a:noFill/>
          <a:ln/>
        </p:spPr>
        <p:txBody>
          <a:bodyPr wrap="square" lIns="0" tIns="0" rIns="0" bIns="0" rtlCol="0" anchor="ctr"/>
          <a:lstStyle/>
          <a:p>
            <a:pPr marL="0" indent="0" algn="ctr">
              <a:buNone/>
            </a:pPr>
            <a:r>
              <a:rPr lang="it-IT" sz="1400" b="1" noProof="0" dirty="0">
                <a:solidFill>
                  <a:schemeClr val="bg1"/>
                </a:solidFill>
              </a:rPr>
              <a:t>pesca</a:t>
            </a:r>
            <a:endParaRPr lang="it-IT" sz="1400" noProof="0" dirty="0"/>
          </a:p>
        </p:txBody>
      </p:sp>
      <p:sp>
        <p:nvSpPr>
          <p:cNvPr id="12" name="blocco matura"/>
          <p:cNvSpPr/>
          <p:nvPr/>
        </p:nvSpPr>
        <p:spPr>
          <a:xfrm>
            <a:off x="3968496" y="1645920"/>
            <a:ext cx="950976" cy="502920"/>
          </a:xfrm>
          <a:prstGeom prst="roundRect">
            <a:avLst>
              <a:gd name="adj" fmla="val 21818"/>
            </a:avLst>
          </a:prstGeom>
          <a:solidFill>
            <a:schemeClr val="accent6"/>
          </a:solidFill>
          <a:ln w="12700">
            <a:solidFill>
              <a:schemeClr val="accent1"/>
            </a:solidFill>
            <a:prstDash val="solid"/>
          </a:ln>
        </p:spPr>
        <p:txBody>
          <a:bodyPr/>
          <a:lstStyle/>
          <a:p>
            <a:endParaRPr lang="it-IT" noProof="0" dirty="0"/>
          </a:p>
        </p:txBody>
      </p:sp>
      <p:sp>
        <p:nvSpPr>
          <p:cNvPr id="13" name="Text 10"/>
          <p:cNvSpPr txBox="1"/>
          <p:nvPr/>
        </p:nvSpPr>
        <p:spPr>
          <a:xfrm>
            <a:off x="4014216" y="1645920"/>
            <a:ext cx="859536" cy="502920"/>
          </a:xfrm>
          <a:prstGeom prst="rect">
            <a:avLst/>
          </a:prstGeom>
          <a:noFill/>
          <a:ln/>
        </p:spPr>
        <p:txBody>
          <a:bodyPr wrap="square" lIns="0" tIns="0" rIns="0" bIns="0" rtlCol="0" anchor="ctr"/>
          <a:lstStyle/>
          <a:p>
            <a:pPr marL="0" indent="0" algn="ctr">
              <a:buNone/>
            </a:pPr>
            <a:r>
              <a:rPr lang="it-IT" sz="1400" b="1" noProof="0" dirty="0">
                <a:solidFill>
                  <a:schemeClr val="tx1"/>
                </a:solidFill>
              </a:rPr>
              <a:t>matura</a:t>
            </a:r>
            <a:endParaRPr lang="it-IT" sz="1400" noProof="0" dirty="0"/>
          </a:p>
        </p:txBody>
      </p:sp>
      <p:sp>
        <p:nvSpPr>
          <p:cNvPr id="14" name="attenzione"/>
          <p:cNvSpPr/>
          <p:nvPr/>
        </p:nvSpPr>
        <p:spPr>
          <a:xfrm>
            <a:off x="1645920" y="1280160"/>
            <a:ext cx="1810512" cy="731520"/>
          </a:xfrm>
          <a:prstGeom prst="arc">
            <a:avLst>
              <a:gd name="adj1" fmla="val 10800000"/>
              <a:gd name="adj2" fmla="val 0"/>
            </a:avLst>
          </a:prstGeom>
          <a:ln w="19050">
            <a:solidFill>
              <a:schemeClr val="accent1"/>
            </a:solidFill>
            <a:prstDash val="solid"/>
          </a:ln>
        </p:spPr>
        <p:txBody>
          <a:bodyPr/>
          <a:lstStyle/>
          <a:p>
            <a:endParaRPr lang="it-IT" noProof="0" dirty="0"/>
          </a:p>
        </p:txBody>
      </p:sp>
      <p:sp>
        <p:nvSpPr>
          <p:cNvPr id="15" name="attenzione"/>
          <p:cNvSpPr/>
          <p:nvPr/>
        </p:nvSpPr>
        <p:spPr>
          <a:xfrm>
            <a:off x="3456432" y="1280160"/>
            <a:ext cx="987552" cy="731520"/>
          </a:xfrm>
          <a:prstGeom prst="arc">
            <a:avLst>
              <a:gd name="adj1" fmla="val 10800000"/>
              <a:gd name="adj2" fmla="val 0"/>
            </a:avLst>
          </a:prstGeom>
          <a:ln w="19050">
            <a:solidFill>
              <a:schemeClr val="accent1"/>
            </a:solidFill>
            <a:prstDash val="solid"/>
          </a:ln>
        </p:spPr>
        <p:txBody>
          <a:bodyPr/>
          <a:lstStyle/>
          <a:p>
            <a:endParaRPr lang="it-IT" noProof="0" dirty="0"/>
          </a:p>
        </p:txBody>
      </p:sp>
      <p:sp>
        <p:nvSpPr>
          <p:cNvPr id="16" name="Text 13"/>
          <p:cNvSpPr txBox="1"/>
          <p:nvPr/>
        </p:nvSpPr>
        <p:spPr>
          <a:xfrm>
            <a:off x="6126480" y="1645920"/>
            <a:ext cx="2926080" cy="502920"/>
          </a:xfrm>
          <a:prstGeom prst="rect">
            <a:avLst/>
          </a:prstGeom>
          <a:noFill/>
          <a:ln/>
        </p:spPr>
        <p:txBody>
          <a:bodyPr wrap="square" lIns="0" tIns="0" rIns="0" bIns="0" rtlCol="0" anchor="ctr"/>
          <a:lstStyle/>
          <a:p>
            <a:pPr marL="0" indent="0">
              <a:buNone/>
            </a:pPr>
            <a:r>
              <a:rPr lang="it-IT" sz="1500" b="1" noProof="0" dirty="0">
                <a:solidFill>
                  <a:schemeClr val="accent1"/>
                </a:solidFill>
              </a:rPr>
              <a:t>"pesca" = un frutto</a:t>
            </a:r>
            <a:endParaRPr lang="it-IT" sz="1500" noProof="0" dirty="0"/>
          </a:p>
        </p:txBody>
      </p:sp>
      <p:sp>
        <p:nvSpPr>
          <p:cNvPr id="17" name="blocco Domenica"/>
          <p:cNvSpPr/>
          <p:nvPr/>
        </p:nvSpPr>
        <p:spPr>
          <a:xfrm>
            <a:off x="457200" y="3063240"/>
            <a:ext cx="1170432" cy="502920"/>
          </a:xfrm>
          <a:prstGeom prst="roundRect">
            <a:avLst>
              <a:gd name="adj" fmla="val 21818"/>
            </a:avLst>
          </a:prstGeom>
          <a:solidFill>
            <a:schemeClr val="bg2"/>
          </a:solidFill>
          <a:ln/>
        </p:spPr>
        <p:txBody>
          <a:bodyPr/>
          <a:lstStyle/>
          <a:p>
            <a:endParaRPr lang="it-IT" noProof="0" dirty="0"/>
          </a:p>
        </p:txBody>
      </p:sp>
      <p:sp>
        <p:nvSpPr>
          <p:cNvPr id="18" name="Text 15"/>
          <p:cNvSpPr txBox="1"/>
          <p:nvPr/>
        </p:nvSpPr>
        <p:spPr>
          <a:xfrm>
            <a:off x="502920" y="3063240"/>
            <a:ext cx="1078992" cy="502920"/>
          </a:xfrm>
          <a:prstGeom prst="rect">
            <a:avLst/>
          </a:prstGeom>
          <a:noFill/>
          <a:ln/>
        </p:spPr>
        <p:txBody>
          <a:bodyPr wrap="square" lIns="0" tIns="0" rIns="0" bIns="0" rtlCol="0" anchor="ctr"/>
          <a:lstStyle/>
          <a:p>
            <a:pPr marL="0" indent="0" algn="ctr">
              <a:buNone/>
            </a:pPr>
            <a:r>
              <a:rPr lang="it-IT" sz="1400" noProof="0" dirty="0">
                <a:solidFill>
                  <a:schemeClr val="tx1"/>
                </a:solidFill>
              </a:rPr>
              <a:t>Domenica</a:t>
            </a:r>
            <a:endParaRPr lang="it-IT" sz="1400" noProof="0" dirty="0"/>
          </a:p>
        </p:txBody>
      </p:sp>
      <p:sp>
        <p:nvSpPr>
          <p:cNvPr id="19" name="blocco andiamo"/>
          <p:cNvSpPr/>
          <p:nvPr/>
        </p:nvSpPr>
        <p:spPr>
          <a:xfrm>
            <a:off x="1719072" y="3063240"/>
            <a:ext cx="1060704" cy="502920"/>
          </a:xfrm>
          <a:prstGeom prst="roundRect">
            <a:avLst>
              <a:gd name="adj" fmla="val 21818"/>
            </a:avLst>
          </a:prstGeom>
          <a:solidFill>
            <a:schemeClr val="accent6"/>
          </a:solidFill>
          <a:ln w="12700">
            <a:solidFill>
              <a:schemeClr val="accent1"/>
            </a:solidFill>
            <a:prstDash val="solid"/>
          </a:ln>
        </p:spPr>
        <p:txBody>
          <a:bodyPr/>
          <a:lstStyle/>
          <a:p>
            <a:endParaRPr lang="it-IT" noProof="0" dirty="0"/>
          </a:p>
        </p:txBody>
      </p:sp>
      <p:sp>
        <p:nvSpPr>
          <p:cNvPr id="20" name="Text 17"/>
          <p:cNvSpPr txBox="1"/>
          <p:nvPr/>
        </p:nvSpPr>
        <p:spPr>
          <a:xfrm>
            <a:off x="1764792" y="3063240"/>
            <a:ext cx="969264" cy="502920"/>
          </a:xfrm>
          <a:prstGeom prst="rect">
            <a:avLst/>
          </a:prstGeom>
          <a:noFill/>
          <a:ln/>
        </p:spPr>
        <p:txBody>
          <a:bodyPr wrap="square" lIns="0" tIns="0" rIns="0" bIns="0" rtlCol="0" anchor="ctr"/>
          <a:lstStyle/>
          <a:p>
            <a:pPr marL="0" indent="0" algn="ctr">
              <a:buNone/>
            </a:pPr>
            <a:r>
              <a:rPr lang="it-IT" sz="1400" b="1" noProof="0" dirty="0">
                <a:solidFill>
                  <a:schemeClr val="tx1"/>
                </a:solidFill>
              </a:rPr>
              <a:t>andiamo</a:t>
            </a:r>
            <a:endParaRPr lang="it-IT" sz="1400" noProof="0" dirty="0"/>
          </a:p>
        </p:txBody>
      </p:sp>
      <p:sp>
        <p:nvSpPr>
          <p:cNvPr id="21" name="blocco a"/>
          <p:cNvSpPr/>
          <p:nvPr/>
        </p:nvSpPr>
        <p:spPr>
          <a:xfrm>
            <a:off x="2871216" y="3063240"/>
            <a:ext cx="402336" cy="502920"/>
          </a:xfrm>
          <a:prstGeom prst="roundRect">
            <a:avLst>
              <a:gd name="adj" fmla="val 27273"/>
            </a:avLst>
          </a:prstGeom>
          <a:solidFill>
            <a:schemeClr val="bg2"/>
          </a:solidFill>
          <a:ln/>
        </p:spPr>
        <p:txBody>
          <a:bodyPr/>
          <a:lstStyle/>
          <a:p>
            <a:endParaRPr lang="it-IT" noProof="0" dirty="0"/>
          </a:p>
        </p:txBody>
      </p:sp>
      <p:sp>
        <p:nvSpPr>
          <p:cNvPr id="22" name="Text 19"/>
          <p:cNvSpPr txBox="1"/>
          <p:nvPr/>
        </p:nvSpPr>
        <p:spPr>
          <a:xfrm>
            <a:off x="2916936" y="3063240"/>
            <a:ext cx="310896" cy="502920"/>
          </a:xfrm>
          <a:prstGeom prst="rect">
            <a:avLst/>
          </a:prstGeom>
          <a:noFill/>
          <a:ln/>
        </p:spPr>
        <p:txBody>
          <a:bodyPr wrap="square" lIns="0" tIns="0" rIns="0" bIns="0" rtlCol="0" anchor="ctr"/>
          <a:lstStyle/>
          <a:p>
            <a:pPr marL="0" indent="0" algn="ctr">
              <a:buNone/>
            </a:pPr>
            <a:r>
              <a:rPr lang="it-IT" sz="1400" noProof="0" dirty="0">
                <a:solidFill>
                  <a:schemeClr val="tx1"/>
                </a:solidFill>
              </a:rPr>
              <a:t>a</a:t>
            </a:r>
            <a:endParaRPr lang="it-IT" sz="1400" noProof="0" dirty="0"/>
          </a:p>
        </p:txBody>
      </p:sp>
      <p:sp>
        <p:nvSpPr>
          <p:cNvPr id="23" name="blocco pesca"/>
          <p:cNvSpPr/>
          <p:nvPr/>
        </p:nvSpPr>
        <p:spPr>
          <a:xfrm>
            <a:off x="3364992" y="3063240"/>
            <a:ext cx="841248" cy="502920"/>
          </a:xfrm>
          <a:prstGeom prst="roundRect">
            <a:avLst>
              <a:gd name="adj" fmla="val 21818"/>
            </a:avLst>
          </a:prstGeom>
          <a:solidFill>
            <a:schemeClr val="accent1"/>
          </a:solidFill>
          <a:ln/>
        </p:spPr>
        <p:txBody>
          <a:bodyPr/>
          <a:lstStyle/>
          <a:p>
            <a:endParaRPr lang="it-IT" noProof="0" dirty="0"/>
          </a:p>
        </p:txBody>
      </p:sp>
      <p:sp>
        <p:nvSpPr>
          <p:cNvPr id="24" name="Text 21"/>
          <p:cNvSpPr txBox="1"/>
          <p:nvPr/>
        </p:nvSpPr>
        <p:spPr>
          <a:xfrm>
            <a:off x="3410712" y="3063240"/>
            <a:ext cx="749808" cy="502920"/>
          </a:xfrm>
          <a:prstGeom prst="rect">
            <a:avLst/>
          </a:prstGeom>
          <a:noFill/>
          <a:ln/>
        </p:spPr>
        <p:txBody>
          <a:bodyPr wrap="square" lIns="0" tIns="0" rIns="0" bIns="0" rtlCol="0" anchor="ctr"/>
          <a:lstStyle/>
          <a:p>
            <a:pPr marL="0" indent="0" algn="ctr">
              <a:buNone/>
            </a:pPr>
            <a:r>
              <a:rPr lang="it-IT" sz="1400" b="1" noProof="0" dirty="0">
                <a:solidFill>
                  <a:schemeClr val="bg1"/>
                </a:solidFill>
              </a:rPr>
              <a:t>pesca</a:t>
            </a:r>
            <a:endParaRPr lang="it-IT" sz="1400" noProof="0" dirty="0"/>
          </a:p>
        </p:txBody>
      </p:sp>
      <p:sp>
        <p:nvSpPr>
          <p:cNvPr id="25" name="blocco sul"/>
          <p:cNvSpPr/>
          <p:nvPr/>
        </p:nvSpPr>
        <p:spPr>
          <a:xfrm>
            <a:off x="4297680" y="3063240"/>
            <a:ext cx="621792" cy="502920"/>
          </a:xfrm>
          <a:prstGeom prst="roundRect">
            <a:avLst>
              <a:gd name="adj" fmla="val 21818"/>
            </a:avLst>
          </a:prstGeom>
          <a:solidFill>
            <a:schemeClr val="bg2"/>
          </a:solidFill>
          <a:ln/>
        </p:spPr>
        <p:txBody>
          <a:bodyPr/>
          <a:lstStyle/>
          <a:p>
            <a:endParaRPr lang="it-IT" noProof="0" dirty="0"/>
          </a:p>
        </p:txBody>
      </p:sp>
      <p:sp>
        <p:nvSpPr>
          <p:cNvPr id="26" name="Text 23"/>
          <p:cNvSpPr txBox="1"/>
          <p:nvPr/>
        </p:nvSpPr>
        <p:spPr>
          <a:xfrm>
            <a:off x="4343400" y="3063240"/>
            <a:ext cx="530352" cy="502920"/>
          </a:xfrm>
          <a:prstGeom prst="rect">
            <a:avLst/>
          </a:prstGeom>
          <a:noFill/>
          <a:ln/>
        </p:spPr>
        <p:txBody>
          <a:bodyPr wrap="square" lIns="0" tIns="0" rIns="0" bIns="0" rtlCol="0" anchor="ctr"/>
          <a:lstStyle/>
          <a:p>
            <a:pPr marL="0" indent="0" algn="ctr">
              <a:buNone/>
            </a:pPr>
            <a:r>
              <a:rPr lang="it-IT" sz="1400" noProof="0" dirty="0">
                <a:solidFill>
                  <a:schemeClr val="tx1"/>
                </a:solidFill>
              </a:rPr>
              <a:t>sul</a:t>
            </a:r>
            <a:endParaRPr lang="it-IT" sz="1400" noProof="0" dirty="0"/>
          </a:p>
        </p:txBody>
      </p:sp>
      <p:sp>
        <p:nvSpPr>
          <p:cNvPr id="27" name="blocco lago"/>
          <p:cNvSpPr/>
          <p:nvPr/>
        </p:nvSpPr>
        <p:spPr>
          <a:xfrm>
            <a:off x="5010912" y="3063240"/>
            <a:ext cx="731520" cy="502920"/>
          </a:xfrm>
          <a:prstGeom prst="roundRect">
            <a:avLst>
              <a:gd name="adj" fmla="val 21818"/>
            </a:avLst>
          </a:prstGeom>
          <a:solidFill>
            <a:schemeClr val="accent6"/>
          </a:solidFill>
          <a:ln w="12700">
            <a:solidFill>
              <a:schemeClr val="accent1"/>
            </a:solidFill>
            <a:prstDash val="solid"/>
          </a:ln>
        </p:spPr>
        <p:txBody>
          <a:bodyPr/>
          <a:lstStyle/>
          <a:p>
            <a:endParaRPr lang="it-IT" noProof="0" dirty="0"/>
          </a:p>
        </p:txBody>
      </p:sp>
      <p:sp>
        <p:nvSpPr>
          <p:cNvPr id="28" name="Text 25"/>
          <p:cNvSpPr txBox="1"/>
          <p:nvPr/>
        </p:nvSpPr>
        <p:spPr>
          <a:xfrm>
            <a:off x="5056632" y="3063240"/>
            <a:ext cx="640080" cy="502920"/>
          </a:xfrm>
          <a:prstGeom prst="rect">
            <a:avLst/>
          </a:prstGeom>
          <a:noFill/>
          <a:ln/>
        </p:spPr>
        <p:txBody>
          <a:bodyPr wrap="square" lIns="0" tIns="0" rIns="0" bIns="0" rtlCol="0" anchor="ctr"/>
          <a:lstStyle/>
          <a:p>
            <a:pPr marL="0" indent="0" algn="ctr">
              <a:buNone/>
            </a:pPr>
            <a:r>
              <a:rPr lang="it-IT" sz="1400" b="1" noProof="0" dirty="0">
                <a:solidFill>
                  <a:schemeClr val="tx1"/>
                </a:solidFill>
              </a:rPr>
              <a:t>lago</a:t>
            </a:r>
            <a:endParaRPr lang="it-IT" sz="1400" noProof="0" dirty="0"/>
          </a:p>
        </p:txBody>
      </p:sp>
      <p:sp>
        <p:nvSpPr>
          <p:cNvPr id="29" name="attenzione"/>
          <p:cNvSpPr/>
          <p:nvPr/>
        </p:nvSpPr>
        <p:spPr>
          <a:xfrm>
            <a:off x="2249424" y="2697480"/>
            <a:ext cx="1536192" cy="731520"/>
          </a:xfrm>
          <a:prstGeom prst="arc">
            <a:avLst>
              <a:gd name="adj1" fmla="val 10800000"/>
              <a:gd name="adj2" fmla="val 0"/>
            </a:avLst>
          </a:prstGeom>
          <a:ln w="19050">
            <a:solidFill>
              <a:schemeClr val="accent1"/>
            </a:solidFill>
            <a:prstDash val="solid"/>
          </a:ln>
        </p:spPr>
        <p:txBody>
          <a:bodyPr/>
          <a:lstStyle/>
          <a:p>
            <a:endParaRPr lang="it-IT" noProof="0" dirty="0"/>
          </a:p>
        </p:txBody>
      </p:sp>
      <p:sp>
        <p:nvSpPr>
          <p:cNvPr id="30" name="attenzione"/>
          <p:cNvSpPr/>
          <p:nvPr/>
        </p:nvSpPr>
        <p:spPr>
          <a:xfrm>
            <a:off x="3785616" y="2697480"/>
            <a:ext cx="1591056" cy="731520"/>
          </a:xfrm>
          <a:prstGeom prst="arc">
            <a:avLst>
              <a:gd name="adj1" fmla="val 10800000"/>
              <a:gd name="adj2" fmla="val 0"/>
            </a:avLst>
          </a:prstGeom>
          <a:ln w="19050">
            <a:solidFill>
              <a:schemeClr val="accent1"/>
            </a:solidFill>
            <a:prstDash val="solid"/>
          </a:ln>
        </p:spPr>
        <p:txBody>
          <a:bodyPr/>
          <a:lstStyle/>
          <a:p>
            <a:endParaRPr lang="it-IT" noProof="0" dirty="0"/>
          </a:p>
        </p:txBody>
      </p:sp>
      <p:sp>
        <p:nvSpPr>
          <p:cNvPr id="31" name="Text 28"/>
          <p:cNvSpPr txBox="1"/>
          <p:nvPr/>
        </p:nvSpPr>
        <p:spPr>
          <a:xfrm>
            <a:off x="6126480" y="3063240"/>
            <a:ext cx="2926080" cy="502920"/>
          </a:xfrm>
          <a:prstGeom prst="rect">
            <a:avLst/>
          </a:prstGeom>
          <a:noFill/>
          <a:ln/>
        </p:spPr>
        <p:txBody>
          <a:bodyPr wrap="square" lIns="0" tIns="0" rIns="0" bIns="0" rtlCol="0" anchor="ctr"/>
          <a:lstStyle/>
          <a:p>
            <a:pPr marL="0" indent="0">
              <a:buNone/>
            </a:pPr>
            <a:r>
              <a:rPr lang="it-IT" sz="1500" b="1" noProof="0" dirty="0">
                <a:solidFill>
                  <a:schemeClr val="accent1"/>
                </a:solidFill>
              </a:rPr>
              <a:t>"pesca" = un'attività</a:t>
            </a:r>
            <a:endParaRPr lang="it-IT" sz="1500" noProof="0" dirty="0"/>
          </a:p>
        </p:txBody>
      </p:sp>
      <p:sp>
        <p:nvSpPr>
          <p:cNvPr id="32" name="messaggio attenzione"/>
          <p:cNvSpPr/>
          <p:nvPr/>
        </p:nvSpPr>
        <p:spPr>
          <a:xfrm>
            <a:off x="457200" y="3840480"/>
            <a:ext cx="8229600" cy="685800"/>
          </a:xfrm>
          <a:prstGeom prst="roundRect">
            <a:avLst>
              <a:gd name="adj" fmla="val 10667"/>
            </a:avLst>
          </a:prstGeom>
          <a:solidFill>
            <a:schemeClr val="tx1"/>
          </a:solidFill>
          <a:ln/>
        </p:spPr>
        <p:txBody>
          <a:bodyPr/>
          <a:lstStyle/>
          <a:p>
            <a:endParaRPr lang="it-IT" noProof="0" dirty="0"/>
          </a:p>
        </p:txBody>
      </p:sp>
      <p:sp>
        <p:nvSpPr>
          <p:cNvPr id="33" name="Text 30"/>
          <p:cNvSpPr txBox="1"/>
          <p:nvPr/>
        </p:nvSpPr>
        <p:spPr>
          <a:xfrm>
            <a:off x="640080" y="3840480"/>
            <a:ext cx="7863840" cy="685800"/>
          </a:xfrm>
          <a:prstGeom prst="rect">
            <a:avLst/>
          </a:prstGeom>
          <a:noFill/>
          <a:ln/>
        </p:spPr>
        <p:txBody>
          <a:bodyPr wrap="square" lIns="0" tIns="0" rIns="0" bIns="0" rtlCol="0" anchor="ctr"/>
          <a:lstStyle/>
          <a:p>
            <a:pPr marL="0" indent="0">
              <a:buNone/>
            </a:pPr>
            <a:r>
              <a:rPr lang="it-IT" sz="1500" noProof="0" dirty="0">
                <a:solidFill>
                  <a:schemeClr val="bg1"/>
                </a:solidFill>
              </a:rPr>
              <a:t>Il modello interpreta ogni parola alla luce di tutte le altre, anche lontane nel testo.</a:t>
            </a:r>
            <a:endParaRPr lang="it-IT" sz="1500" noProof="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noProof="0" smtClean="0"/>
              <a:t>46</a:t>
            </a:fld>
            <a:endParaRPr lang="it-IT" noProof="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Come viene generata una risposta</a:t>
            </a:r>
            <a:endParaRPr lang="it-IT" sz="2600" noProof="0" dirty="0"/>
          </a:p>
        </p:txBody>
      </p:sp>
      <p:sp>
        <p:nvSpPr>
          <p:cNvPr id="4" name="blocco 1. Testo disponibile"/>
          <p:cNvSpPr/>
          <p:nvPr/>
        </p:nvSpPr>
        <p:spPr>
          <a:xfrm>
            <a:off x="457200" y="1143000"/>
            <a:ext cx="2926080" cy="566928"/>
          </a:xfrm>
          <a:prstGeom prst="roundRect">
            <a:avLst>
              <a:gd name="adj" fmla="val 19355"/>
            </a:avLst>
          </a:prstGeom>
          <a:solidFill>
            <a:schemeClr val="bg2"/>
          </a:solidFill>
          <a:ln/>
        </p:spPr>
        <p:txBody>
          <a:bodyPr/>
          <a:lstStyle/>
          <a:p>
            <a:endParaRPr lang="it-IT" noProof="0" dirty="0"/>
          </a:p>
        </p:txBody>
      </p:sp>
      <p:sp>
        <p:nvSpPr>
          <p:cNvPr id="5" name="Text 2"/>
          <p:cNvSpPr txBox="1"/>
          <p:nvPr/>
        </p:nvSpPr>
        <p:spPr>
          <a:xfrm>
            <a:off x="502920" y="1143000"/>
            <a:ext cx="2834640" cy="566928"/>
          </a:xfrm>
          <a:prstGeom prst="rect">
            <a:avLst/>
          </a:prstGeom>
          <a:noFill/>
          <a:ln/>
        </p:spPr>
        <p:txBody>
          <a:bodyPr wrap="square" lIns="0" tIns="0" rIns="0" bIns="0" rtlCol="0" anchor="ctr"/>
          <a:lstStyle/>
          <a:p>
            <a:pPr marL="0" indent="0" algn="ctr">
              <a:buNone/>
            </a:pPr>
            <a:r>
              <a:rPr lang="it-IT" sz="1400" b="1" noProof="0" dirty="0">
                <a:solidFill>
                  <a:schemeClr val="tx1"/>
                </a:solidFill>
              </a:rPr>
              <a:t>1. Testo disponibile</a:t>
            </a:r>
            <a:endParaRPr lang="it-IT" sz="1400" noProof="0" dirty="0"/>
          </a:p>
        </p:txBody>
      </p:sp>
      <p:sp>
        <p:nvSpPr>
          <p:cNvPr id="6" name="freccia giù"/>
          <p:cNvSpPr/>
          <p:nvPr/>
        </p:nvSpPr>
        <p:spPr>
          <a:xfrm>
            <a:off x="1783080" y="1728216"/>
            <a:ext cx="274320" cy="182880"/>
          </a:xfrm>
          <a:prstGeom prst="downArrow">
            <a:avLst/>
          </a:prstGeom>
          <a:solidFill>
            <a:schemeClr val="accent2"/>
          </a:solidFill>
          <a:ln/>
        </p:spPr>
        <p:txBody>
          <a:bodyPr/>
          <a:lstStyle/>
          <a:p>
            <a:endParaRPr lang="it-IT" noProof="0" dirty="0"/>
          </a:p>
        </p:txBody>
      </p:sp>
      <p:sp>
        <p:nvSpPr>
          <p:cNvPr id="7" name="blocco 2. Probabilità per ogni token"/>
          <p:cNvSpPr/>
          <p:nvPr/>
        </p:nvSpPr>
        <p:spPr>
          <a:xfrm>
            <a:off x="457200" y="1920240"/>
            <a:ext cx="2926080" cy="566928"/>
          </a:xfrm>
          <a:prstGeom prst="roundRect">
            <a:avLst>
              <a:gd name="adj" fmla="val 19355"/>
            </a:avLst>
          </a:prstGeom>
          <a:solidFill>
            <a:schemeClr val="bg2"/>
          </a:solidFill>
          <a:ln/>
        </p:spPr>
        <p:txBody>
          <a:bodyPr/>
          <a:lstStyle/>
          <a:p>
            <a:endParaRPr lang="it-IT" noProof="0" dirty="0"/>
          </a:p>
        </p:txBody>
      </p:sp>
      <p:sp>
        <p:nvSpPr>
          <p:cNvPr id="8" name="Text 5"/>
          <p:cNvSpPr txBox="1"/>
          <p:nvPr/>
        </p:nvSpPr>
        <p:spPr>
          <a:xfrm>
            <a:off x="502920" y="1920240"/>
            <a:ext cx="2834640" cy="566928"/>
          </a:xfrm>
          <a:prstGeom prst="rect">
            <a:avLst/>
          </a:prstGeom>
          <a:noFill/>
          <a:ln/>
        </p:spPr>
        <p:txBody>
          <a:bodyPr wrap="square" lIns="0" tIns="0" rIns="0" bIns="0" rtlCol="0" anchor="ctr"/>
          <a:lstStyle/>
          <a:p>
            <a:pPr marL="0" indent="0" algn="ctr">
              <a:buNone/>
            </a:pPr>
            <a:r>
              <a:rPr lang="it-IT" sz="1400" b="1" noProof="0" dirty="0">
                <a:solidFill>
                  <a:schemeClr val="tx1"/>
                </a:solidFill>
              </a:rPr>
              <a:t>2. Probabilità per ogni token</a:t>
            </a:r>
            <a:endParaRPr lang="it-IT" sz="1400" noProof="0" dirty="0"/>
          </a:p>
        </p:txBody>
      </p:sp>
      <p:sp>
        <p:nvSpPr>
          <p:cNvPr id="9" name="freccia giù"/>
          <p:cNvSpPr/>
          <p:nvPr/>
        </p:nvSpPr>
        <p:spPr>
          <a:xfrm>
            <a:off x="1783080" y="2505456"/>
            <a:ext cx="274320" cy="182880"/>
          </a:xfrm>
          <a:prstGeom prst="downArrow">
            <a:avLst/>
          </a:prstGeom>
          <a:solidFill>
            <a:schemeClr val="accent2"/>
          </a:solidFill>
          <a:ln/>
        </p:spPr>
        <p:txBody>
          <a:bodyPr/>
          <a:lstStyle/>
          <a:p>
            <a:endParaRPr lang="it-IT" noProof="0" dirty="0"/>
          </a:p>
        </p:txBody>
      </p:sp>
      <p:sp>
        <p:nvSpPr>
          <p:cNvPr id="10" name="blocco 3. Scelta di un token"/>
          <p:cNvSpPr/>
          <p:nvPr/>
        </p:nvSpPr>
        <p:spPr>
          <a:xfrm>
            <a:off x="457200" y="2697480"/>
            <a:ext cx="2926080" cy="566928"/>
          </a:xfrm>
          <a:prstGeom prst="roundRect">
            <a:avLst>
              <a:gd name="adj" fmla="val 19355"/>
            </a:avLst>
          </a:prstGeom>
          <a:solidFill>
            <a:schemeClr val="accent1"/>
          </a:solidFill>
          <a:ln/>
        </p:spPr>
        <p:txBody>
          <a:bodyPr/>
          <a:lstStyle/>
          <a:p>
            <a:endParaRPr lang="it-IT" noProof="0" dirty="0"/>
          </a:p>
        </p:txBody>
      </p:sp>
      <p:sp>
        <p:nvSpPr>
          <p:cNvPr id="11" name="Text 8"/>
          <p:cNvSpPr txBox="1"/>
          <p:nvPr/>
        </p:nvSpPr>
        <p:spPr>
          <a:xfrm>
            <a:off x="502920" y="2697480"/>
            <a:ext cx="2834640" cy="566928"/>
          </a:xfrm>
          <a:prstGeom prst="rect">
            <a:avLst/>
          </a:prstGeom>
          <a:noFill/>
          <a:ln/>
        </p:spPr>
        <p:txBody>
          <a:bodyPr wrap="square" lIns="0" tIns="0" rIns="0" bIns="0" rtlCol="0" anchor="ctr"/>
          <a:lstStyle/>
          <a:p>
            <a:pPr marL="0" indent="0" algn="ctr">
              <a:buNone/>
            </a:pPr>
            <a:r>
              <a:rPr lang="it-IT" sz="1400" b="1" noProof="0" dirty="0">
                <a:solidFill>
                  <a:schemeClr val="bg1"/>
                </a:solidFill>
              </a:rPr>
              <a:t>3. Scelta di un token</a:t>
            </a:r>
            <a:endParaRPr lang="it-IT" sz="1400" noProof="0" dirty="0"/>
          </a:p>
        </p:txBody>
      </p:sp>
      <p:sp>
        <p:nvSpPr>
          <p:cNvPr id="12" name="freccia giù"/>
          <p:cNvSpPr/>
          <p:nvPr/>
        </p:nvSpPr>
        <p:spPr>
          <a:xfrm>
            <a:off x="1783080" y="3282696"/>
            <a:ext cx="274320" cy="182880"/>
          </a:xfrm>
          <a:prstGeom prst="downArrow">
            <a:avLst/>
          </a:prstGeom>
          <a:solidFill>
            <a:schemeClr val="accent2"/>
          </a:solidFill>
          <a:ln/>
        </p:spPr>
        <p:txBody>
          <a:bodyPr/>
          <a:lstStyle/>
          <a:p>
            <a:endParaRPr lang="it-IT" noProof="0" dirty="0"/>
          </a:p>
        </p:txBody>
      </p:sp>
      <p:sp>
        <p:nvSpPr>
          <p:cNvPr id="13" name="blocco 4. Aggiunta al testo"/>
          <p:cNvSpPr/>
          <p:nvPr/>
        </p:nvSpPr>
        <p:spPr>
          <a:xfrm>
            <a:off x="457200" y="3474720"/>
            <a:ext cx="2926080" cy="566928"/>
          </a:xfrm>
          <a:prstGeom prst="roundRect">
            <a:avLst>
              <a:gd name="adj" fmla="val 19355"/>
            </a:avLst>
          </a:prstGeom>
          <a:solidFill>
            <a:schemeClr val="bg2"/>
          </a:solidFill>
          <a:ln/>
        </p:spPr>
        <p:txBody>
          <a:bodyPr/>
          <a:lstStyle/>
          <a:p>
            <a:endParaRPr lang="it-IT" noProof="0" dirty="0"/>
          </a:p>
        </p:txBody>
      </p:sp>
      <p:sp>
        <p:nvSpPr>
          <p:cNvPr id="14" name="Text 11"/>
          <p:cNvSpPr txBox="1"/>
          <p:nvPr/>
        </p:nvSpPr>
        <p:spPr>
          <a:xfrm>
            <a:off x="502920" y="3474720"/>
            <a:ext cx="2834640" cy="566928"/>
          </a:xfrm>
          <a:prstGeom prst="rect">
            <a:avLst/>
          </a:prstGeom>
          <a:noFill/>
          <a:ln/>
        </p:spPr>
        <p:txBody>
          <a:bodyPr wrap="square" lIns="0" tIns="0" rIns="0" bIns="0" rtlCol="0" anchor="ctr"/>
          <a:lstStyle/>
          <a:p>
            <a:pPr marL="0" indent="0" algn="ctr">
              <a:buNone/>
            </a:pPr>
            <a:r>
              <a:rPr lang="it-IT" sz="1400" b="1" noProof="0" dirty="0">
                <a:solidFill>
                  <a:schemeClr val="tx1"/>
                </a:solidFill>
              </a:rPr>
              <a:t>4. Aggiunta al testo</a:t>
            </a:r>
            <a:endParaRPr lang="it-IT" sz="1400" noProof="0" dirty="0"/>
          </a:p>
        </p:txBody>
      </p:sp>
      <p:sp>
        <p:nvSpPr>
          <p:cNvPr id="15" name="Text 12"/>
          <p:cNvSpPr txBox="1"/>
          <p:nvPr/>
        </p:nvSpPr>
        <p:spPr>
          <a:xfrm>
            <a:off x="457200" y="4251960"/>
            <a:ext cx="3108960" cy="411480"/>
          </a:xfrm>
          <a:prstGeom prst="rect">
            <a:avLst/>
          </a:prstGeom>
          <a:noFill/>
          <a:ln/>
        </p:spPr>
        <p:txBody>
          <a:bodyPr wrap="square" lIns="0" tIns="0" rIns="0" bIns="0" rtlCol="0" anchor="t"/>
          <a:lstStyle/>
          <a:p>
            <a:pPr marL="0" indent="0">
              <a:buNone/>
            </a:pPr>
            <a:r>
              <a:rPr lang="it-IT" sz="1200" i="1" noProof="0" dirty="0">
                <a:solidFill>
                  <a:schemeClr val="tx2"/>
                </a:solidFill>
              </a:rPr>
              <a:t>Si ripete per ogni token: centinaia di cicli per una risposta.</a:t>
            </a:r>
            <a:endParaRPr lang="it-IT" sz="1200" noProof="0" dirty="0"/>
          </a:p>
        </p:txBody>
      </p:sp>
      <p:sp>
        <p:nvSpPr>
          <p:cNvPr id="16" name="prompt esempio"/>
          <p:cNvSpPr/>
          <p:nvPr/>
        </p:nvSpPr>
        <p:spPr>
          <a:xfrm>
            <a:off x="3749040" y="1097280"/>
            <a:ext cx="4937760" cy="502920"/>
          </a:xfrm>
          <a:prstGeom prst="roundRect">
            <a:avLst>
              <a:gd name="adj" fmla="val 14545"/>
            </a:avLst>
          </a:prstGeom>
          <a:solidFill>
            <a:schemeClr val="bg2"/>
          </a:solidFill>
          <a:ln/>
        </p:spPr>
        <p:txBody>
          <a:bodyPr/>
          <a:lstStyle/>
          <a:p>
            <a:endParaRPr lang="it-IT" noProof="0" dirty="0"/>
          </a:p>
        </p:txBody>
      </p:sp>
      <p:sp>
        <p:nvSpPr>
          <p:cNvPr id="17" name="Text 14"/>
          <p:cNvSpPr txBox="1"/>
          <p:nvPr/>
        </p:nvSpPr>
        <p:spPr>
          <a:xfrm>
            <a:off x="3931920" y="1097280"/>
            <a:ext cx="4572000" cy="502920"/>
          </a:xfrm>
          <a:prstGeom prst="rect">
            <a:avLst/>
          </a:prstGeom>
          <a:noFill/>
          <a:ln/>
        </p:spPr>
        <p:txBody>
          <a:bodyPr wrap="square" lIns="0" tIns="0" rIns="0" bIns="0" rtlCol="0" anchor="ctr"/>
          <a:lstStyle/>
          <a:p>
            <a:pPr marL="0" indent="0">
              <a:buNone/>
            </a:pPr>
            <a:r>
              <a:rPr lang="it-IT" sz="1600" noProof="0" dirty="0">
                <a:solidFill>
                  <a:schemeClr val="tx1"/>
                </a:solidFill>
              </a:rPr>
              <a:t>Oggi il cielo è </a:t>
            </a:r>
            <a:r>
              <a:rPr lang="it-IT" sz="1600" b="1" noProof="0" dirty="0">
                <a:solidFill>
                  <a:schemeClr val="accent1"/>
                </a:solidFill>
              </a:rPr>
              <a:t>...</a:t>
            </a:r>
            <a:endParaRPr lang="it-IT" sz="1600" noProof="0" dirty="0"/>
          </a:p>
        </p:txBody>
      </p:sp>
      <p:graphicFrame>
        <p:nvGraphicFramePr>
          <p:cNvPr id="18" name="Chart 0"/>
          <p:cNvGraphicFramePr/>
          <p:nvPr/>
        </p:nvGraphicFramePr>
        <p:xfrm>
          <a:off x="3749040" y="1691640"/>
          <a:ext cx="4937760" cy="2651760"/>
        </p:xfrm>
        <a:graphic>
          <a:graphicData uri="http://schemas.openxmlformats.org/drawingml/2006/chart">
            <c:chart xmlns:c="http://schemas.openxmlformats.org/drawingml/2006/chart" xmlns:r="http://schemas.openxmlformats.org/officeDocument/2006/relationships" r:id="rId3"/>
          </a:graphicData>
        </a:graphic>
      </p:graphicFrame>
      <p:sp>
        <p:nvSpPr>
          <p:cNvPr id="19" name="Text 15"/>
          <p:cNvSpPr txBox="1"/>
          <p:nvPr/>
        </p:nvSpPr>
        <p:spPr>
          <a:xfrm>
            <a:off x="3749040" y="4389120"/>
            <a:ext cx="4937760" cy="274320"/>
          </a:xfrm>
          <a:prstGeom prst="rect">
            <a:avLst/>
          </a:prstGeom>
          <a:noFill/>
          <a:ln/>
        </p:spPr>
        <p:txBody>
          <a:bodyPr wrap="square" lIns="0" tIns="0" rIns="0" bIns="0" rtlCol="0" anchor="t"/>
          <a:lstStyle/>
          <a:p>
            <a:pPr marL="0" indent="0">
              <a:buNone/>
            </a:pPr>
            <a:r>
              <a:rPr lang="it-IT" sz="1000" i="1" noProof="0" dirty="0">
                <a:solidFill>
                  <a:schemeClr val="accent2"/>
                </a:solidFill>
              </a:rPr>
              <a:t>Probabilità del token successivo, valori illustrativi</a:t>
            </a:r>
            <a:endParaRPr lang="it-IT" sz="10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noProof="0" smtClean="0"/>
              <a:t>47</a:t>
            </a:fld>
            <a:endParaRPr lang="it-IT" noProof="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Più di un completamento automatico</a:t>
            </a:r>
            <a:endParaRPr lang="it-IT" sz="2600" noProof="0" dirty="0"/>
          </a:p>
        </p:txBody>
      </p:sp>
      <p:sp>
        <p:nvSpPr>
          <p:cNvPr id="4" name="scheda Il suggeritore della tastiera"/>
          <p:cNvSpPr/>
          <p:nvPr/>
        </p:nvSpPr>
        <p:spPr>
          <a:xfrm>
            <a:off x="457200" y="1097280"/>
            <a:ext cx="2615184" cy="2468880"/>
          </a:xfrm>
          <a:prstGeom prst="roundRect">
            <a:avLst>
              <a:gd name="adj" fmla="val 2963"/>
            </a:avLst>
          </a:prstGeom>
          <a:solidFill>
            <a:schemeClr val="bg2"/>
          </a:solidFill>
          <a:ln/>
        </p:spPr>
        <p:txBody>
          <a:bodyPr/>
          <a:lstStyle/>
          <a:p>
            <a:endParaRPr lang="it-IT" noProof="0" dirty="0"/>
          </a:p>
        </p:txBody>
      </p:sp>
      <p:sp>
        <p:nvSpPr>
          <p:cNvPr id="5" name="cerchio FiSmartphone"/>
          <p:cNvSpPr/>
          <p:nvPr/>
        </p:nvSpPr>
        <p:spPr>
          <a:xfrm>
            <a:off x="640080" y="1280160"/>
            <a:ext cx="457200" cy="457200"/>
          </a:xfrm>
          <a:prstGeom prst="ellipse">
            <a:avLst/>
          </a:prstGeom>
          <a:solidFill>
            <a:schemeClr val="accent1"/>
          </a:solidFill>
          <a:ln/>
        </p:spPr>
        <p:txBody>
          <a:bodyPr/>
          <a:lstStyle/>
          <a:p>
            <a:endParaRPr lang="it-IT" noProof="0" dirty="0"/>
          </a:p>
        </p:txBody>
      </p:sp>
      <p:pic>
        <p:nvPicPr>
          <p:cNvPr id="6" name="Image 0" descr="FiSmartphone"/>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2249424" cy="347472"/>
          </a:xfrm>
          <a:prstGeom prst="rect">
            <a:avLst/>
          </a:prstGeom>
          <a:noFill/>
          <a:ln/>
        </p:spPr>
        <p:txBody>
          <a:bodyPr wrap="square" lIns="0" tIns="0" rIns="0" bIns="0" rtlCol="0" anchor="t"/>
          <a:lstStyle/>
          <a:p>
            <a:pPr marL="0" indent="0">
              <a:buNone/>
            </a:pPr>
            <a:r>
              <a:rPr lang="it-IT" sz="1500" b="1" noProof="0" dirty="0">
                <a:solidFill>
                  <a:schemeClr val="tx1"/>
                </a:solidFill>
              </a:rPr>
              <a:t>Il suggeritore della tastiera</a:t>
            </a:r>
            <a:endParaRPr lang="it-IT" sz="1500" noProof="0" dirty="0"/>
          </a:p>
        </p:txBody>
      </p:sp>
      <p:sp>
        <p:nvSpPr>
          <p:cNvPr id="8" name="Text 4"/>
          <p:cNvSpPr txBox="1"/>
          <p:nvPr/>
        </p:nvSpPr>
        <p:spPr>
          <a:xfrm>
            <a:off x="640080" y="2231136"/>
            <a:ext cx="2249424" cy="1225296"/>
          </a:xfrm>
          <a:prstGeom prst="rect">
            <a:avLst/>
          </a:prstGeom>
          <a:noFill/>
          <a:ln/>
        </p:spPr>
        <p:txBody>
          <a:bodyPr wrap="square" lIns="0" tIns="0" rIns="0" bIns="0" rtlCol="0" anchor="t"/>
          <a:lstStyle/>
          <a:p>
            <a:pPr marL="0" indent="0">
              <a:buNone/>
            </a:pPr>
            <a:r>
              <a:rPr lang="it-IT" sz="1300" noProof="0" dirty="0">
                <a:solidFill>
                  <a:schemeClr val="tx2"/>
                </a:solidFill>
              </a:rPr>
              <a:t>Guarda poche parole precedenti e propone la più frequente.</a:t>
            </a:r>
            <a:endParaRPr lang="it-IT" sz="1300" noProof="0" dirty="0"/>
          </a:p>
        </p:txBody>
      </p:sp>
      <p:sp>
        <p:nvSpPr>
          <p:cNvPr id="9" name="freccia"/>
          <p:cNvSpPr/>
          <p:nvPr/>
        </p:nvSpPr>
        <p:spPr>
          <a:xfrm>
            <a:off x="3154680" y="2194560"/>
            <a:ext cx="457200" cy="292608"/>
          </a:xfrm>
          <a:prstGeom prst="rightArrow">
            <a:avLst/>
          </a:prstGeom>
          <a:solidFill>
            <a:schemeClr val="accent1"/>
          </a:solidFill>
          <a:ln/>
        </p:spPr>
        <p:txBody>
          <a:bodyPr/>
          <a:lstStyle/>
          <a:p>
            <a:endParaRPr lang="it-IT" noProof="0" dirty="0"/>
          </a:p>
        </p:txBody>
      </p:sp>
      <p:sp>
        <p:nvSpPr>
          <p:cNvPr id="10" name="LLM"/>
          <p:cNvSpPr/>
          <p:nvPr/>
        </p:nvSpPr>
        <p:spPr>
          <a:xfrm>
            <a:off x="3703320" y="1097280"/>
            <a:ext cx="4983480" cy="2468880"/>
          </a:xfrm>
          <a:prstGeom prst="roundRect">
            <a:avLst>
              <a:gd name="adj" fmla="val 2963"/>
            </a:avLst>
          </a:prstGeom>
          <a:solidFill>
            <a:schemeClr val="accent6"/>
          </a:solidFill>
          <a:ln/>
        </p:spPr>
        <p:txBody>
          <a:bodyPr/>
          <a:lstStyle/>
          <a:p>
            <a:endParaRPr lang="it-IT" noProof="0" dirty="0"/>
          </a:p>
        </p:txBody>
      </p:sp>
      <p:sp>
        <p:nvSpPr>
          <p:cNvPr id="11" name="Text 7"/>
          <p:cNvSpPr txBox="1"/>
          <p:nvPr/>
        </p:nvSpPr>
        <p:spPr>
          <a:xfrm>
            <a:off x="3886200" y="1207008"/>
            <a:ext cx="4572000" cy="320040"/>
          </a:xfrm>
          <a:prstGeom prst="rect">
            <a:avLst/>
          </a:prstGeom>
          <a:noFill/>
          <a:ln/>
        </p:spPr>
        <p:txBody>
          <a:bodyPr wrap="square" lIns="0" tIns="0" rIns="0" bIns="0" rtlCol="0" anchor="t"/>
          <a:lstStyle/>
          <a:p>
            <a:pPr marL="0" indent="0">
              <a:buNone/>
            </a:pPr>
            <a:r>
              <a:rPr lang="it-IT" sz="1600" b="1" noProof="0" dirty="0">
                <a:solidFill>
                  <a:schemeClr val="tx1"/>
                </a:solidFill>
              </a:rPr>
              <a:t>Un LLM</a:t>
            </a:r>
            <a:endParaRPr lang="it-IT" sz="1600" noProof="0" dirty="0"/>
          </a:p>
        </p:txBody>
      </p:sp>
      <p:sp>
        <p:nvSpPr>
          <p:cNvPr id="12" name="cerchio FiLayers"/>
          <p:cNvSpPr/>
          <p:nvPr/>
        </p:nvSpPr>
        <p:spPr>
          <a:xfrm>
            <a:off x="3886200" y="1627632"/>
            <a:ext cx="411480" cy="411480"/>
          </a:xfrm>
          <a:prstGeom prst="ellipse">
            <a:avLst/>
          </a:prstGeom>
          <a:solidFill>
            <a:schemeClr val="accent1"/>
          </a:solidFill>
          <a:ln/>
        </p:spPr>
        <p:txBody>
          <a:bodyPr/>
          <a:lstStyle/>
          <a:p>
            <a:endParaRPr lang="it-IT" noProof="0" dirty="0"/>
          </a:p>
        </p:txBody>
      </p:sp>
      <p:pic>
        <p:nvPicPr>
          <p:cNvPr id="13" name="Image 1" descr="FiLayers"/>
          <p:cNvPicPr>
            <a:picLocks noChangeAspect="1"/>
          </p:cNvPicPr>
          <p:nvPr/>
        </p:nvPicPr>
        <p:blipFill>
          <a:blip r:embed="rId4"/>
          <a:stretch>
            <a:fillRect/>
          </a:stretch>
        </p:blipFill>
        <p:spPr>
          <a:xfrm>
            <a:off x="3989070" y="1730502"/>
            <a:ext cx="205740" cy="205740"/>
          </a:xfrm>
          <a:prstGeom prst="rect">
            <a:avLst/>
          </a:prstGeom>
        </p:spPr>
      </p:pic>
      <p:sp>
        <p:nvSpPr>
          <p:cNvPr id="14" name="Text 9"/>
          <p:cNvSpPr txBox="1"/>
          <p:nvPr/>
        </p:nvSpPr>
        <p:spPr>
          <a:xfrm>
            <a:off x="4434840" y="1627632"/>
            <a:ext cx="4114800" cy="502920"/>
          </a:xfrm>
          <a:prstGeom prst="rect">
            <a:avLst/>
          </a:prstGeom>
          <a:noFill/>
          <a:ln/>
        </p:spPr>
        <p:txBody>
          <a:bodyPr wrap="square" lIns="0" tIns="0" rIns="0" bIns="0" rtlCol="0" anchor="ctr"/>
          <a:lstStyle/>
          <a:p>
            <a:pPr marL="0" indent="0">
              <a:buNone/>
            </a:pPr>
            <a:r>
              <a:rPr lang="it-IT" sz="1200" b="1" noProof="0" dirty="0">
                <a:solidFill>
                  <a:schemeClr val="tx1"/>
                </a:solidFill>
              </a:rPr>
              <a:t>Rappresentazioni ricche: </a:t>
            </a:r>
            <a:r>
              <a:rPr lang="it-IT" sz="1200" noProof="0" dirty="0">
                <a:solidFill>
                  <a:schemeClr val="tx2"/>
                </a:solidFill>
              </a:rPr>
              <a:t>Grammatica, significato, fatti, relazioni logiche</a:t>
            </a:r>
            <a:endParaRPr lang="it-IT" sz="1200" noProof="0" dirty="0"/>
          </a:p>
        </p:txBody>
      </p:sp>
      <p:sp>
        <p:nvSpPr>
          <p:cNvPr id="15" name="cerchio FiUserCheck"/>
          <p:cNvSpPr/>
          <p:nvPr/>
        </p:nvSpPr>
        <p:spPr>
          <a:xfrm>
            <a:off x="3886200" y="2267712"/>
            <a:ext cx="411480" cy="411480"/>
          </a:xfrm>
          <a:prstGeom prst="ellipse">
            <a:avLst/>
          </a:prstGeom>
          <a:solidFill>
            <a:schemeClr val="accent1"/>
          </a:solidFill>
          <a:ln/>
        </p:spPr>
        <p:txBody>
          <a:bodyPr/>
          <a:lstStyle/>
          <a:p>
            <a:endParaRPr lang="it-IT" noProof="0" dirty="0"/>
          </a:p>
        </p:txBody>
      </p:sp>
      <p:pic>
        <p:nvPicPr>
          <p:cNvPr id="16" name="Image 2" descr="FiUserCheck"/>
          <p:cNvPicPr>
            <a:picLocks noChangeAspect="1"/>
          </p:cNvPicPr>
          <p:nvPr/>
        </p:nvPicPr>
        <p:blipFill>
          <a:blip r:embed="rId5"/>
          <a:stretch>
            <a:fillRect/>
          </a:stretch>
        </p:blipFill>
        <p:spPr>
          <a:xfrm>
            <a:off x="3989070" y="2370582"/>
            <a:ext cx="205740" cy="205740"/>
          </a:xfrm>
          <a:prstGeom prst="rect">
            <a:avLst/>
          </a:prstGeom>
        </p:spPr>
      </p:pic>
      <p:sp>
        <p:nvSpPr>
          <p:cNvPr id="17" name="Text 11"/>
          <p:cNvSpPr txBox="1"/>
          <p:nvPr/>
        </p:nvSpPr>
        <p:spPr>
          <a:xfrm>
            <a:off x="4434840" y="2267712"/>
            <a:ext cx="4114800" cy="502920"/>
          </a:xfrm>
          <a:prstGeom prst="rect">
            <a:avLst/>
          </a:prstGeom>
          <a:noFill/>
          <a:ln/>
        </p:spPr>
        <p:txBody>
          <a:bodyPr wrap="square" lIns="0" tIns="0" rIns="0" bIns="0" rtlCol="0" anchor="ctr"/>
          <a:lstStyle/>
          <a:p>
            <a:pPr marL="0" indent="0">
              <a:buNone/>
            </a:pPr>
            <a:r>
              <a:rPr lang="it-IT" sz="1200" b="1" noProof="0" dirty="0">
                <a:solidFill>
                  <a:schemeClr val="tx1"/>
                </a:solidFill>
              </a:rPr>
              <a:t>Affinato per seguire istruzioni: </a:t>
            </a:r>
            <a:r>
              <a:rPr lang="it-IT" sz="1200" noProof="0" dirty="0">
                <a:solidFill>
                  <a:schemeClr val="tx2"/>
                </a:solidFill>
              </a:rPr>
              <a:t>Dialoga e risponde in modo utile</a:t>
            </a:r>
            <a:endParaRPr lang="it-IT" sz="1200" noProof="0" dirty="0"/>
          </a:p>
        </p:txBody>
      </p:sp>
      <p:sp>
        <p:nvSpPr>
          <p:cNvPr id="18" name="cerchio FiPaperclip"/>
          <p:cNvSpPr/>
          <p:nvPr/>
        </p:nvSpPr>
        <p:spPr>
          <a:xfrm>
            <a:off x="3886200" y="2907792"/>
            <a:ext cx="411480" cy="411480"/>
          </a:xfrm>
          <a:prstGeom prst="ellipse">
            <a:avLst/>
          </a:prstGeom>
          <a:solidFill>
            <a:schemeClr val="accent1"/>
          </a:solidFill>
          <a:ln/>
        </p:spPr>
        <p:txBody>
          <a:bodyPr/>
          <a:lstStyle/>
          <a:p>
            <a:endParaRPr lang="it-IT" noProof="0" dirty="0"/>
          </a:p>
        </p:txBody>
      </p:sp>
      <p:pic>
        <p:nvPicPr>
          <p:cNvPr id="19" name="Image 3" descr="FiPaperclip"/>
          <p:cNvPicPr>
            <a:picLocks noChangeAspect="1"/>
          </p:cNvPicPr>
          <p:nvPr/>
        </p:nvPicPr>
        <p:blipFill>
          <a:blip r:embed="rId6"/>
          <a:stretch>
            <a:fillRect/>
          </a:stretch>
        </p:blipFill>
        <p:spPr>
          <a:xfrm>
            <a:off x="3989070" y="3010662"/>
            <a:ext cx="205740" cy="205740"/>
          </a:xfrm>
          <a:prstGeom prst="rect">
            <a:avLst/>
          </a:prstGeom>
        </p:spPr>
      </p:pic>
      <p:sp>
        <p:nvSpPr>
          <p:cNvPr id="20" name="Text 13"/>
          <p:cNvSpPr txBox="1"/>
          <p:nvPr/>
        </p:nvSpPr>
        <p:spPr>
          <a:xfrm>
            <a:off x="4434840" y="2907792"/>
            <a:ext cx="4114800" cy="502920"/>
          </a:xfrm>
          <a:prstGeom prst="rect">
            <a:avLst/>
          </a:prstGeom>
          <a:noFill/>
          <a:ln/>
        </p:spPr>
        <p:txBody>
          <a:bodyPr wrap="square" lIns="0" tIns="0" rIns="0" bIns="0" rtlCol="0" anchor="ctr"/>
          <a:lstStyle/>
          <a:p>
            <a:pPr marL="0" indent="0">
              <a:buNone/>
            </a:pPr>
            <a:r>
              <a:rPr lang="it-IT" sz="1200" b="1" noProof="0" dirty="0">
                <a:solidFill>
                  <a:schemeClr val="tx1"/>
                </a:solidFill>
              </a:rPr>
              <a:t>Può utilizzare le informazioni disponibili nel contesto: </a:t>
            </a:r>
            <a:r>
              <a:rPr lang="it-IT" sz="1200" noProof="0" dirty="0">
                <a:solidFill>
                  <a:schemeClr val="tx2"/>
                </a:solidFill>
              </a:rPr>
              <a:t>Istruzioni, documenti, conversazione, strumenti</a:t>
            </a:r>
            <a:endParaRPr lang="it-IT" sz="1200" noProof="0" dirty="0"/>
          </a:p>
        </p:txBody>
      </p:sp>
      <p:sp>
        <p:nvSpPr>
          <p:cNvPr id="21" name="equilibrio"/>
          <p:cNvSpPr/>
          <p:nvPr/>
        </p:nvSpPr>
        <p:spPr>
          <a:xfrm>
            <a:off x="457200" y="3749040"/>
            <a:ext cx="8229600" cy="777240"/>
          </a:xfrm>
          <a:prstGeom prst="roundRect">
            <a:avLst>
              <a:gd name="adj" fmla="val 9412"/>
            </a:avLst>
          </a:prstGeom>
          <a:solidFill>
            <a:schemeClr val="bg2"/>
          </a:solidFill>
          <a:ln/>
        </p:spPr>
        <p:txBody>
          <a:bodyPr/>
          <a:lstStyle/>
          <a:p>
            <a:endParaRPr lang="it-IT" noProof="0" dirty="0"/>
          </a:p>
        </p:txBody>
      </p:sp>
      <p:sp>
        <p:nvSpPr>
          <p:cNvPr id="22" name="cerchio FiSliders"/>
          <p:cNvSpPr/>
          <p:nvPr/>
        </p:nvSpPr>
        <p:spPr>
          <a:xfrm>
            <a:off x="640080" y="3867912"/>
            <a:ext cx="512064" cy="512064"/>
          </a:xfrm>
          <a:prstGeom prst="ellipse">
            <a:avLst/>
          </a:prstGeom>
          <a:solidFill>
            <a:schemeClr val="accent2"/>
          </a:solidFill>
          <a:ln/>
        </p:spPr>
        <p:txBody>
          <a:bodyPr/>
          <a:lstStyle/>
          <a:p>
            <a:endParaRPr lang="it-IT" noProof="0" dirty="0"/>
          </a:p>
        </p:txBody>
      </p:sp>
      <p:pic>
        <p:nvPicPr>
          <p:cNvPr id="23" name="Image 4" descr="FiSliders"/>
          <p:cNvPicPr>
            <a:picLocks noChangeAspect="1"/>
          </p:cNvPicPr>
          <p:nvPr/>
        </p:nvPicPr>
        <p:blipFill>
          <a:blip r:embed="rId7"/>
          <a:stretch>
            <a:fillRect/>
          </a:stretch>
        </p:blipFill>
        <p:spPr>
          <a:xfrm>
            <a:off x="768096" y="3995928"/>
            <a:ext cx="256032" cy="256032"/>
          </a:xfrm>
          <a:prstGeom prst="rect">
            <a:avLst/>
          </a:prstGeom>
        </p:spPr>
      </p:pic>
      <p:sp>
        <p:nvSpPr>
          <p:cNvPr id="24" name="Text 16"/>
          <p:cNvSpPr txBox="1"/>
          <p:nvPr/>
        </p:nvSpPr>
        <p:spPr>
          <a:xfrm>
            <a:off x="1325880" y="3749040"/>
            <a:ext cx="7223760" cy="777240"/>
          </a:xfrm>
          <a:prstGeom prst="rect">
            <a:avLst/>
          </a:prstGeom>
          <a:noFill/>
          <a:ln/>
        </p:spPr>
        <p:txBody>
          <a:bodyPr wrap="square" lIns="0" tIns="0" rIns="0" bIns="0" rtlCol="0" anchor="ctr"/>
          <a:lstStyle/>
          <a:p>
            <a:pPr marL="0" indent="0">
              <a:buNone/>
            </a:pPr>
            <a:r>
              <a:rPr lang="it-IT" sz="1300" noProof="0" dirty="0">
                <a:solidFill>
                  <a:schemeClr val="tx1"/>
                </a:solidFill>
              </a:rPr>
              <a:t>I Large Language Models apprendono rappresentazioni complesse del linguaggio e delle relazioni presenti nei dati. Questo consente loro di affrontare numerosi compiti attraverso istruzioni e contesto, con prestazioni da valutare in funzione dell'utilizzo.</a:t>
            </a:r>
            <a:endParaRPr lang="it-IT" sz="13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noProof="0" smtClean="0"/>
              <a:t>48</a:t>
            </a:fld>
            <a:endParaRPr lang="it-IT" noProof="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it-IT" sz="6000" b="1" noProof="0" dirty="0">
                <a:solidFill>
                  <a:schemeClr val="accent1"/>
                </a:solidFill>
              </a:rPr>
              <a:t>2.5</a:t>
            </a:r>
            <a:endParaRPr lang="it-IT" sz="6000" noProof="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it-IT" sz="3200" b="1" noProof="0" dirty="0">
                <a:solidFill>
                  <a:schemeClr val="bg1"/>
                </a:solidFill>
              </a:rPr>
              <a:t>Come funziona un'interazione con l'AI</a:t>
            </a:r>
            <a:endParaRPr lang="it-IT" sz="3200" noProof="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it-IT" sz="1600" noProof="0" dirty="0">
                <a:solidFill>
                  <a:schemeClr val="accent3"/>
                </a:solidFill>
              </a:rPr>
              <a:t>Il risultato dipende dalle informazioni rese disponibili; modello e prodotto non coincidono sempre</a:t>
            </a:r>
            <a:endParaRPr lang="it-IT" sz="1600" noProof="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noProof="0" smtClean="0"/>
              <a:t>49</a:t>
            </a:fld>
            <a:endParaRPr lang="it-IT" noProof="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Input, prompt e output</a:t>
            </a:r>
            <a:endParaRPr lang="it-IT" sz="2600" noProof="0" dirty="0"/>
          </a:p>
        </p:txBody>
      </p:sp>
      <p:sp>
        <p:nvSpPr>
          <p:cNvPr id="4" name="Text 1"/>
          <p:cNvSpPr txBox="1"/>
          <p:nvPr/>
        </p:nvSpPr>
        <p:spPr>
          <a:xfrm>
            <a:off x="457200" y="1051560"/>
            <a:ext cx="3657600" cy="274320"/>
          </a:xfrm>
          <a:prstGeom prst="rect">
            <a:avLst/>
          </a:prstGeom>
          <a:noFill/>
          <a:ln/>
        </p:spPr>
        <p:txBody>
          <a:bodyPr wrap="square" lIns="0" tIns="0" rIns="0" bIns="0" rtlCol="0" anchor="t"/>
          <a:lstStyle/>
          <a:p>
            <a:pPr marL="0" indent="0">
              <a:buNone/>
            </a:pPr>
            <a:r>
              <a:rPr lang="it-IT" sz="1300" b="1" noProof="0" dirty="0">
                <a:solidFill>
                  <a:schemeClr val="accent2"/>
                </a:solidFill>
              </a:rPr>
              <a:t>Ciò che il modello riceve</a:t>
            </a:r>
            <a:endParaRPr lang="it-IT" sz="1300" noProof="0" dirty="0"/>
          </a:p>
        </p:txBody>
      </p:sp>
      <p:sp>
        <p:nvSpPr>
          <p:cNvPr id="5" name="Istruzioni di sistema"/>
          <p:cNvSpPr/>
          <p:nvPr/>
        </p:nvSpPr>
        <p:spPr>
          <a:xfrm>
            <a:off x="457200" y="1371600"/>
            <a:ext cx="3840480" cy="676656"/>
          </a:xfrm>
          <a:prstGeom prst="roundRect">
            <a:avLst>
              <a:gd name="adj" fmla="val 10811"/>
            </a:avLst>
          </a:prstGeom>
          <a:solidFill>
            <a:schemeClr val="bg2"/>
          </a:solidFill>
          <a:ln/>
        </p:spPr>
        <p:txBody>
          <a:bodyPr/>
          <a:lstStyle/>
          <a:p>
            <a:endParaRPr lang="it-IT" noProof="0" dirty="0"/>
          </a:p>
        </p:txBody>
      </p:sp>
      <p:sp>
        <p:nvSpPr>
          <p:cNvPr id="6" name="Text 3"/>
          <p:cNvSpPr txBox="1"/>
          <p:nvPr/>
        </p:nvSpPr>
        <p:spPr>
          <a:xfrm>
            <a:off x="640080" y="1426464"/>
            <a:ext cx="3566160" cy="292608"/>
          </a:xfrm>
          <a:prstGeom prst="rect">
            <a:avLst/>
          </a:prstGeom>
          <a:noFill/>
          <a:ln/>
        </p:spPr>
        <p:txBody>
          <a:bodyPr wrap="square" lIns="0" tIns="0" rIns="0" bIns="0" rtlCol="0" anchor="t"/>
          <a:lstStyle/>
          <a:p>
            <a:pPr marL="0" indent="0">
              <a:buNone/>
            </a:pPr>
            <a:r>
              <a:rPr lang="it-IT" sz="1400" b="1" noProof="0" dirty="0">
                <a:solidFill>
                  <a:schemeClr val="tx1"/>
                </a:solidFill>
              </a:rPr>
              <a:t>Istruzioni di sistema</a:t>
            </a:r>
            <a:endParaRPr lang="it-IT" sz="1400" noProof="0" dirty="0"/>
          </a:p>
        </p:txBody>
      </p:sp>
      <p:sp>
        <p:nvSpPr>
          <p:cNvPr id="7" name="Text 4"/>
          <p:cNvSpPr txBox="1"/>
          <p:nvPr/>
        </p:nvSpPr>
        <p:spPr>
          <a:xfrm>
            <a:off x="640080" y="1719072"/>
            <a:ext cx="3566160" cy="274320"/>
          </a:xfrm>
          <a:prstGeom prst="rect">
            <a:avLst/>
          </a:prstGeom>
          <a:noFill/>
          <a:ln/>
        </p:spPr>
        <p:txBody>
          <a:bodyPr wrap="square" lIns="0" tIns="0" rIns="0" bIns="0" rtlCol="0" anchor="t"/>
          <a:lstStyle/>
          <a:p>
            <a:pPr marL="0" indent="0">
              <a:buNone/>
            </a:pPr>
            <a:r>
              <a:rPr lang="it-IT" sz="1200" noProof="0" dirty="0">
                <a:solidFill>
                  <a:schemeClr val="tx2"/>
                </a:solidFill>
              </a:rPr>
              <a:t>Impostate dall'applicazione, di solito invisibili</a:t>
            </a:r>
            <a:endParaRPr lang="it-IT" sz="1200" noProof="0" dirty="0"/>
          </a:p>
        </p:txBody>
      </p:sp>
      <p:sp>
        <p:nvSpPr>
          <p:cNvPr id="8" name="Cronologia della conversazione"/>
          <p:cNvSpPr/>
          <p:nvPr/>
        </p:nvSpPr>
        <p:spPr>
          <a:xfrm>
            <a:off x="457200" y="2157984"/>
            <a:ext cx="3840480" cy="676656"/>
          </a:xfrm>
          <a:prstGeom prst="roundRect">
            <a:avLst>
              <a:gd name="adj" fmla="val 10811"/>
            </a:avLst>
          </a:prstGeom>
          <a:solidFill>
            <a:schemeClr val="bg2"/>
          </a:solidFill>
          <a:ln/>
        </p:spPr>
        <p:txBody>
          <a:bodyPr/>
          <a:lstStyle/>
          <a:p>
            <a:endParaRPr lang="it-IT" noProof="0" dirty="0"/>
          </a:p>
        </p:txBody>
      </p:sp>
      <p:sp>
        <p:nvSpPr>
          <p:cNvPr id="9" name="Text 6"/>
          <p:cNvSpPr txBox="1"/>
          <p:nvPr/>
        </p:nvSpPr>
        <p:spPr>
          <a:xfrm>
            <a:off x="640080" y="2212848"/>
            <a:ext cx="3566160" cy="292608"/>
          </a:xfrm>
          <a:prstGeom prst="rect">
            <a:avLst/>
          </a:prstGeom>
          <a:noFill/>
          <a:ln/>
        </p:spPr>
        <p:txBody>
          <a:bodyPr wrap="square" lIns="0" tIns="0" rIns="0" bIns="0" rtlCol="0" anchor="t"/>
          <a:lstStyle/>
          <a:p>
            <a:pPr marL="0" indent="0">
              <a:buNone/>
            </a:pPr>
            <a:r>
              <a:rPr lang="it-IT" sz="1400" b="1" noProof="0" dirty="0">
                <a:solidFill>
                  <a:schemeClr val="tx1"/>
                </a:solidFill>
              </a:rPr>
              <a:t>Cronologia della conversazione</a:t>
            </a:r>
            <a:endParaRPr lang="it-IT" sz="1400" noProof="0" dirty="0"/>
          </a:p>
        </p:txBody>
      </p:sp>
      <p:sp>
        <p:nvSpPr>
          <p:cNvPr id="10" name="Text 7"/>
          <p:cNvSpPr txBox="1"/>
          <p:nvPr/>
        </p:nvSpPr>
        <p:spPr>
          <a:xfrm>
            <a:off x="640080" y="2505456"/>
            <a:ext cx="3566160" cy="274320"/>
          </a:xfrm>
          <a:prstGeom prst="rect">
            <a:avLst/>
          </a:prstGeom>
          <a:noFill/>
          <a:ln/>
        </p:spPr>
        <p:txBody>
          <a:bodyPr wrap="square" lIns="0" tIns="0" rIns="0" bIns="0" rtlCol="0" anchor="t"/>
          <a:lstStyle/>
          <a:p>
            <a:pPr marL="0" indent="0">
              <a:buNone/>
            </a:pPr>
            <a:r>
              <a:rPr lang="it-IT" sz="1200" noProof="0" dirty="0">
                <a:solidFill>
                  <a:schemeClr val="tx2"/>
                </a:solidFill>
              </a:rPr>
              <a:t>I messaggi precedenti</a:t>
            </a:r>
            <a:endParaRPr lang="it-IT" sz="1200" noProof="0" dirty="0"/>
          </a:p>
        </p:txBody>
      </p:sp>
      <p:sp>
        <p:nvSpPr>
          <p:cNvPr id="11" name="Documenti e risultati di ricerca"/>
          <p:cNvSpPr/>
          <p:nvPr/>
        </p:nvSpPr>
        <p:spPr>
          <a:xfrm>
            <a:off x="457200" y="2944368"/>
            <a:ext cx="3840480" cy="676656"/>
          </a:xfrm>
          <a:prstGeom prst="roundRect">
            <a:avLst>
              <a:gd name="adj" fmla="val 10811"/>
            </a:avLst>
          </a:prstGeom>
          <a:solidFill>
            <a:schemeClr val="bg2"/>
          </a:solidFill>
          <a:ln/>
        </p:spPr>
        <p:txBody>
          <a:bodyPr/>
          <a:lstStyle/>
          <a:p>
            <a:endParaRPr lang="it-IT" noProof="0" dirty="0"/>
          </a:p>
        </p:txBody>
      </p:sp>
      <p:sp>
        <p:nvSpPr>
          <p:cNvPr id="12" name="Text 9"/>
          <p:cNvSpPr txBox="1"/>
          <p:nvPr/>
        </p:nvSpPr>
        <p:spPr>
          <a:xfrm>
            <a:off x="640080" y="2999232"/>
            <a:ext cx="3566160" cy="292608"/>
          </a:xfrm>
          <a:prstGeom prst="rect">
            <a:avLst/>
          </a:prstGeom>
          <a:noFill/>
          <a:ln/>
        </p:spPr>
        <p:txBody>
          <a:bodyPr wrap="square" lIns="0" tIns="0" rIns="0" bIns="0" rtlCol="0" anchor="t"/>
          <a:lstStyle/>
          <a:p>
            <a:pPr marL="0" indent="0">
              <a:buNone/>
            </a:pPr>
            <a:r>
              <a:rPr lang="it-IT" sz="1400" b="1" noProof="0" dirty="0">
                <a:solidFill>
                  <a:schemeClr val="tx1"/>
                </a:solidFill>
              </a:rPr>
              <a:t>Documenti e risultati di ricerca</a:t>
            </a:r>
            <a:endParaRPr lang="it-IT" sz="1400" noProof="0" dirty="0"/>
          </a:p>
        </p:txBody>
      </p:sp>
      <p:sp>
        <p:nvSpPr>
          <p:cNvPr id="13" name="Text 10"/>
          <p:cNvSpPr txBox="1"/>
          <p:nvPr/>
        </p:nvSpPr>
        <p:spPr>
          <a:xfrm>
            <a:off x="640080" y="3291840"/>
            <a:ext cx="3566160" cy="274320"/>
          </a:xfrm>
          <a:prstGeom prst="rect">
            <a:avLst/>
          </a:prstGeom>
          <a:noFill/>
          <a:ln/>
        </p:spPr>
        <p:txBody>
          <a:bodyPr wrap="square" lIns="0" tIns="0" rIns="0" bIns="0" rtlCol="0" anchor="t"/>
          <a:lstStyle/>
          <a:p>
            <a:pPr marL="0" indent="0">
              <a:buNone/>
            </a:pPr>
            <a:r>
              <a:rPr lang="it-IT" sz="1200" noProof="0" dirty="0">
                <a:solidFill>
                  <a:schemeClr val="tx2"/>
                </a:solidFill>
              </a:rPr>
              <a:t>File allegati, fonti recuperate</a:t>
            </a:r>
            <a:endParaRPr lang="it-IT" sz="1200" noProof="0" dirty="0"/>
          </a:p>
        </p:txBody>
      </p:sp>
      <p:sp>
        <p:nvSpPr>
          <p:cNvPr id="14" name="Il nostro messaggio"/>
          <p:cNvSpPr/>
          <p:nvPr/>
        </p:nvSpPr>
        <p:spPr>
          <a:xfrm>
            <a:off x="457200" y="3730752"/>
            <a:ext cx="3840480" cy="676656"/>
          </a:xfrm>
          <a:prstGeom prst="roundRect">
            <a:avLst>
              <a:gd name="adj" fmla="val 10811"/>
            </a:avLst>
          </a:prstGeom>
          <a:solidFill>
            <a:schemeClr val="accent6"/>
          </a:solidFill>
          <a:ln/>
        </p:spPr>
        <p:txBody>
          <a:bodyPr/>
          <a:lstStyle/>
          <a:p>
            <a:endParaRPr lang="it-IT" noProof="0" dirty="0"/>
          </a:p>
        </p:txBody>
      </p:sp>
      <p:sp>
        <p:nvSpPr>
          <p:cNvPr id="15" name="Text 12"/>
          <p:cNvSpPr txBox="1"/>
          <p:nvPr/>
        </p:nvSpPr>
        <p:spPr>
          <a:xfrm>
            <a:off x="640080" y="3785616"/>
            <a:ext cx="3566160" cy="292608"/>
          </a:xfrm>
          <a:prstGeom prst="rect">
            <a:avLst/>
          </a:prstGeom>
          <a:noFill/>
          <a:ln/>
        </p:spPr>
        <p:txBody>
          <a:bodyPr wrap="square" lIns="0" tIns="0" rIns="0" bIns="0" rtlCol="0" anchor="t"/>
          <a:lstStyle/>
          <a:p>
            <a:pPr marL="0" indent="0">
              <a:buNone/>
            </a:pPr>
            <a:r>
              <a:rPr lang="it-IT" sz="1400" b="1" noProof="0" dirty="0">
                <a:solidFill>
                  <a:schemeClr val="tx1"/>
                </a:solidFill>
              </a:rPr>
              <a:t>Il nostro messaggio</a:t>
            </a:r>
            <a:endParaRPr lang="it-IT" sz="1400" noProof="0" dirty="0"/>
          </a:p>
        </p:txBody>
      </p:sp>
      <p:sp>
        <p:nvSpPr>
          <p:cNvPr id="16" name="Text 13"/>
          <p:cNvSpPr txBox="1"/>
          <p:nvPr/>
        </p:nvSpPr>
        <p:spPr>
          <a:xfrm>
            <a:off x="640080" y="4078224"/>
            <a:ext cx="3566160" cy="274320"/>
          </a:xfrm>
          <a:prstGeom prst="rect">
            <a:avLst/>
          </a:prstGeom>
          <a:noFill/>
          <a:ln/>
        </p:spPr>
        <p:txBody>
          <a:bodyPr wrap="square" lIns="0" tIns="0" rIns="0" bIns="0" rtlCol="0" anchor="t"/>
          <a:lstStyle/>
          <a:p>
            <a:pPr marL="0" indent="0">
              <a:buNone/>
            </a:pPr>
            <a:r>
              <a:rPr lang="it-IT" sz="1200" noProof="0" dirty="0">
                <a:solidFill>
                  <a:schemeClr val="tx2"/>
                </a:solidFill>
              </a:rPr>
              <a:t>La richiesta che scriviamo: il prompt</a:t>
            </a:r>
            <a:endParaRPr lang="it-IT" sz="1200" noProof="0" dirty="0"/>
          </a:p>
        </p:txBody>
      </p:sp>
      <p:sp>
        <p:nvSpPr>
          <p:cNvPr id="17" name="freccia"/>
          <p:cNvSpPr/>
          <p:nvPr/>
        </p:nvSpPr>
        <p:spPr>
          <a:xfrm>
            <a:off x="4434840" y="2606040"/>
            <a:ext cx="457200" cy="292608"/>
          </a:xfrm>
          <a:prstGeom prst="rightArrow">
            <a:avLst/>
          </a:prstGeom>
          <a:solidFill>
            <a:schemeClr val="accent1"/>
          </a:solidFill>
          <a:ln/>
        </p:spPr>
        <p:txBody>
          <a:bodyPr/>
          <a:lstStyle/>
          <a:p>
            <a:endParaRPr lang="it-IT" noProof="0" dirty="0"/>
          </a:p>
        </p:txBody>
      </p:sp>
      <p:sp>
        <p:nvSpPr>
          <p:cNvPr id="18" name="modello"/>
          <p:cNvSpPr/>
          <p:nvPr/>
        </p:nvSpPr>
        <p:spPr>
          <a:xfrm>
            <a:off x="5029200" y="2103120"/>
            <a:ext cx="1463040" cy="1280160"/>
          </a:xfrm>
          <a:prstGeom prst="roundRect">
            <a:avLst>
              <a:gd name="adj" fmla="val 5714"/>
            </a:avLst>
          </a:prstGeom>
          <a:solidFill>
            <a:schemeClr val="accent1"/>
          </a:solidFill>
          <a:ln/>
        </p:spPr>
        <p:txBody>
          <a:bodyPr/>
          <a:lstStyle/>
          <a:p>
            <a:endParaRPr lang="it-IT" noProof="0" dirty="0"/>
          </a:p>
        </p:txBody>
      </p:sp>
      <p:sp>
        <p:nvSpPr>
          <p:cNvPr id="19" name="Text 16"/>
          <p:cNvSpPr txBox="1"/>
          <p:nvPr/>
        </p:nvSpPr>
        <p:spPr>
          <a:xfrm>
            <a:off x="5029200" y="2103120"/>
            <a:ext cx="1463040" cy="1280160"/>
          </a:xfrm>
          <a:prstGeom prst="rect">
            <a:avLst/>
          </a:prstGeom>
          <a:noFill/>
          <a:ln/>
        </p:spPr>
        <p:txBody>
          <a:bodyPr wrap="square" lIns="0" tIns="0" rIns="0" bIns="0" rtlCol="0" anchor="ctr"/>
          <a:lstStyle/>
          <a:p>
            <a:pPr marL="0" indent="0" algn="ctr">
              <a:buNone/>
            </a:pPr>
            <a:r>
              <a:rPr lang="it-IT" sz="1600" b="1" noProof="0" dirty="0">
                <a:solidFill>
                  <a:schemeClr val="bg1"/>
                </a:solidFill>
              </a:rPr>
              <a:t>Modello</a:t>
            </a:r>
            <a:endParaRPr lang="it-IT" sz="1600" noProof="0" dirty="0"/>
          </a:p>
        </p:txBody>
      </p:sp>
      <p:sp>
        <p:nvSpPr>
          <p:cNvPr id="20" name="freccia"/>
          <p:cNvSpPr/>
          <p:nvPr/>
        </p:nvSpPr>
        <p:spPr>
          <a:xfrm>
            <a:off x="6583680" y="2606040"/>
            <a:ext cx="411480" cy="292608"/>
          </a:xfrm>
          <a:prstGeom prst="rightArrow">
            <a:avLst/>
          </a:prstGeom>
          <a:solidFill>
            <a:schemeClr val="accent1"/>
          </a:solidFill>
          <a:ln/>
        </p:spPr>
        <p:txBody>
          <a:bodyPr/>
          <a:lstStyle/>
          <a:p>
            <a:endParaRPr lang="it-IT" noProof="0" dirty="0"/>
          </a:p>
        </p:txBody>
      </p:sp>
      <p:sp>
        <p:nvSpPr>
          <p:cNvPr id="21" name="output"/>
          <p:cNvSpPr/>
          <p:nvPr/>
        </p:nvSpPr>
        <p:spPr>
          <a:xfrm>
            <a:off x="7086600" y="2103120"/>
            <a:ext cx="1600200" cy="1280160"/>
          </a:xfrm>
          <a:prstGeom prst="roundRect">
            <a:avLst>
              <a:gd name="adj" fmla="val 5714"/>
            </a:avLst>
          </a:prstGeom>
          <a:solidFill>
            <a:schemeClr val="tx1"/>
          </a:solidFill>
          <a:ln/>
        </p:spPr>
        <p:txBody>
          <a:bodyPr/>
          <a:lstStyle/>
          <a:p>
            <a:endParaRPr lang="it-IT" noProof="0" dirty="0"/>
          </a:p>
        </p:txBody>
      </p:sp>
      <p:sp>
        <p:nvSpPr>
          <p:cNvPr id="22" name="Text 19"/>
          <p:cNvSpPr txBox="1"/>
          <p:nvPr/>
        </p:nvSpPr>
        <p:spPr>
          <a:xfrm>
            <a:off x="7132320" y="2194560"/>
            <a:ext cx="1508760" cy="365760"/>
          </a:xfrm>
          <a:prstGeom prst="rect">
            <a:avLst/>
          </a:prstGeom>
          <a:noFill/>
          <a:ln/>
        </p:spPr>
        <p:txBody>
          <a:bodyPr wrap="square" lIns="0" tIns="0" rIns="0" bIns="0" rtlCol="0" anchor="t"/>
          <a:lstStyle/>
          <a:p>
            <a:pPr marL="0" indent="0" algn="ctr">
              <a:buNone/>
            </a:pPr>
            <a:r>
              <a:rPr lang="it-IT" sz="1600" b="1" noProof="0" dirty="0">
                <a:solidFill>
                  <a:schemeClr val="bg1"/>
                </a:solidFill>
              </a:rPr>
              <a:t>Output</a:t>
            </a:r>
            <a:endParaRPr lang="it-IT" sz="1600" noProof="0" dirty="0"/>
          </a:p>
        </p:txBody>
      </p:sp>
      <p:sp>
        <p:nvSpPr>
          <p:cNvPr id="23" name="Text 20"/>
          <p:cNvSpPr txBox="1"/>
          <p:nvPr/>
        </p:nvSpPr>
        <p:spPr>
          <a:xfrm>
            <a:off x="7178040" y="2606040"/>
            <a:ext cx="1417320" cy="685800"/>
          </a:xfrm>
          <a:prstGeom prst="rect">
            <a:avLst/>
          </a:prstGeom>
          <a:noFill/>
          <a:ln/>
        </p:spPr>
        <p:txBody>
          <a:bodyPr wrap="square" lIns="0" tIns="0" rIns="0" bIns="0" rtlCol="0" anchor="t"/>
          <a:lstStyle/>
          <a:p>
            <a:pPr marL="0" indent="0" algn="ctr">
              <a:buNone/>
            </a:pPr>
            <a:r>
              <a:rPr lang="it-IT" sz="1200" noProof="0" dirty="0">
                <a:solidFill>
                  <a:schemeClr val="accent3"/>
                </a:solidFill>
              </a:rPr>
              <a:t>Testo, immagine, file, azione</a:t>
            </a:r>
            <a:endParaRPr lang="it-IT" sz="12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noProof="0" smtClean="0"/>
              <a:t>50</a:t>
            </a:fld>
            <a:endParaRPr lang="it-IT" noProof="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La finestra di contesto</a:t>
            </a:r>
            <a:endParaRPr lang="it-IT" sz="2600" noProof="0" dirty="0"/>
          </a:p>
        </p:txBody>
      </p:sp>
      <p:sp>
        <p:nvSpPr>
          <p:cNvPr id="4" name="finestra"/>
          <p:cNvSpPr/>
          <p:nvPr/>
        </p:nvSpPr>
        <p:spPr>
          <a:xfrm>
            <a:off x="457200" y="1097280"/>
            <a:ext cx="4754880" cy="3429000"/>
          </a:xfrm>
          <a:prstGeom prst="roundRect">
            <a:avLst>
              <a:gd name="adj" fmla="val 2133"/>
            </a:avLst>
          </a:prstGeom>
          <a:solidFill>
            <a:schemeClr val="bg2"/>
          </a:solidFill>
          <a:ln w="25400">
            <a:solidFill>
              <a:schemeClr val="accent1"/>
            </a:solidFill>
            <a:prstDash val="dash"/>
          </a:ln>
        </p:spPr>
        <p:txBody>
          <a:bodyPr/>
          <a:lstStyle/>
          <a:p>
            <a:endParaRPr lang="it-IT" noProof="0" dirty="0"/>
          </a:p>
        </p:txBody>
      </p:sp>
      <p:sp>
        <p:nvSpPr>
          <p:cNvPr id="5" name="Text 2"/>
          <p:cNvSpPr txBox="1"/>
          <p:nvPr/>
        </p:nvSpPr>
        <p:spPr>
          <a:xfrm>
            <a:off x="640080" y="1188720"/>
            <a:ext cx="4389120" cy="320040"/>
          </a:xfrm>
          <a:prstGeom prst="rect">
            <a:avLst/>
          </a:prstGeom>
          <a:noFill/>
          <a:ln/>
        </p:spPr>
        <p:txBody>
          <a:bodyPr wrap="square" lIns="0" tIns="0" rIns="0" bIns="0" rtlCol="0" anchor="t"/>
          <a:lstStyle/>
          <a:p>
            <a:pPr marL="0" indent="0">
              <a:buNone/>
            </a:pPr>
            <a:r>
              <a:rPr lang="it-IT" sz="1400" b="1" noProof="0" dirty="0">
                <a:solidFill>
                  <a:schemeClr val="accent1"/>
                </a:solidFill>
              </a:rPr>
              <a:t>Finestra di contesto</a:t>
            </a:r>
            <a:endParaRPr lang="it-IT" sz="1400" noProof="0" dirty="0"/>
          </a:p>
        </p:txBody>
      </p:sp>
      <p:sp>
        <p:nvSpPr>
          <p:cNvPr id="6" name="blocco Istruzioni di sistema"/>
          <p:cNvSpPr/>
          <p:nvPr/>
        </p:nvSpPr>
        <p:spPr>
          <a:xfrm>
            <a:off x="685800" y="1600200"/>
            <a:ext cx="4297680" cy="420624"/>
          </a:xfrm>
          <a:prstGeom prst="roundRect">
            <a:avLst>
              <a:gd name="adj" fmla="val 26087"/>
            </a:avLst>
          </a:prstGeom>
          <a:solidFill>
            <a:schemeClr val="bg1"/>
          </a:solidFill>
          <a:ln/>
        </p:spPr>
        <p:txBody>
          <a:bodyPr/>
          <a:lstStyle/>
          <a:p>
            <a:endParaRPr lang="it-IT" noProof="0" dirty="0"/>
          </a:p>
        </p:txBody>
      </p:sp>
      <p:sp>
        <p:nvSpPr>
          <p:cNvPr id="7" name="Text 4"/>
          <p:cNvSpPr txBox="1"/>
          <p:nvPr/>
        </p:nvSpPr>
        <p:spPr>
          <a:xfrm>
            <a:off x="731520" y="1600200"/>
            <a:ext cx="4206240" cy="420624"/>
          </a:xfrm>
          <a:prstGeom prst="rect">
            <a:avLst/>
          </a:prstGeom>
          <a:noFill/>
          <a:ln/>
        </p:spPr>
        <p:txBody>
          <a:bodyPr wrap="square" lIns="0" tIns="0" rIns="0" bIns="0" rtlCol="0" anchor="ctr"/>
          <a:lstStyle/>
          <a:p>
            <a:pPr marL="0" indent="0" algn="ctr">
              <a:buNone/>
            </a:pPr>
            <a:r>
              <a:rPr lang="it-IT" sz="1300" b="1" noProof="0" dirty="0">
                <a:solidFill>
                  <a:schemeClr val="tx1"/>
                </a:solidFill>
              </a:rPr>
              <a:t>Istruzioni di sistema</a:t>
            </a:r>
            <a:endParaRPr lang="it-IT" sz="1300" noProof="0" dirty="0"/>
          </a:p>
        </p:txBody>
      </p:sp>
      <p:sp>
        <p:nvSpPr>
          <p:cNvPr id="8" name="blocco Cronologia della conversazione"/>
          <p:cNvSpPr/>
          <p:nvPr/>
        </p:nvSpPr>
        <p:spPr>
          <a:xfrm>
            <a:off x="685800" y="2121408"/>
            <a:ext cx="4297680" cy="420624"/>
          </a:xfrm>
          <a:prstGeom prst="roundRect">
            <a:avLst>
              <a:gd name="adj" fmla="val 26087"/>
            </a:avLst>
          </a:prstGeom>
          <a:solidFill>
            <a:schemeClr val="bg1"/>
          </a:solidFill>
          <a:ln/>
        </p:spPr>
        <p:txBody>
          <a:bodyPr/>
          <a:lstStyle/>
          <a:p>
            <a:endParaRPr lang="it-IT" noProof="0" dirty="0"/>
          </a:p>
        </p:txBody>
      </p:sp>
      <p:sp>
        <p:nvSpPr>
          <p:cNvPr id="9" name="Text 6"/>
          <p:cNvSpPr txBox="1"/>
          <p:nvPr/>
        </p:nvSpPr>
        <p:spPr>
          <a:xfrm>
            <a:off x="731520" y="2121408"/>
            <a:ext cx="4206240" cy="420624"/>
          </a:xfrm>
          <a:prstGeom prst="rect">
            <a:avLst/>
          </a:prstGeom>
          <a:noFill/>
          <a:ln/>
        </p:spPr>
        <p:txBody>
          <a:bodyPr wrap="square" lIns="0" tIns="0" rIns="0" bIns="0" rtlCol="0" anchor="ctr"/>
          <a:lstStyle/>
          <a:p>
            <a:pPr marL="0" indent="0" algn="ctr">
              <a:buNone/>
            </a:pPr>
            <a:r>
              <a:rPr lang="it-IT" sz="1300" b="1" noProof="0" dirty="0">
                <a:solidFill>
                  <a:schemeClr val="tx1"/>
                </a:solidFill>
              </a:rPr>
              <a:t>Cronologia della conversazione</a:t>
            </a:r>
            <a:endParaRPr lang="it-IT" sz="1300" noProof="0" dirty="0"/>
          </a:p>
        </p:txBody>
      </p:sp>
      <p:sp>
        <p:nvSpPr>
          <p:cNvPr id="10" name="blocco Documenti allegati"/>
          <p:cNvSpPr/>
          <p:nvPr/>
        </p:nvSpPr>
        <p:spPr>
          <a:xfrm>
            <a:off x="685800" y="2642616"/>
            <a:ext cx="4297680" cy="420624"/>
          </a:xfrm>
          <a:prstGeom prst="roundRect">
            <a:avLst>
              <a:gd name="adj" fmla="val 26087"/>
            </a:avLst>
          </a:prstGeom>
          <a:solidFill>
            <a:schemeClr val="bg1"/>
          </a:solidFill>
          <a:ln/>
        </p:spPr>
        <p:txBody>
          <a:bodyPr/>
          <a:lstStyle/>
          <a:p>
            <a:endParaRPr lang="it-IT" noProof="0" dirty="0"/>
          </a:p>
        </p:txBody>
      </p:sp>
      <p:sp>
        <p:nvSpPr>
          <p:cNvPr id="11" name="Text 8"/>
          <p:cNvSpPr txBox="1"/>
          <p:nvPr/>
        </p:nvSpPr>
        <p:spPr>
          <a:xfrm>
            <a:off x="731520" y="2642616"/>
            <a:ext cx="4206240" cy="420624"/>
          </a:xfrm>
          <a:prstGeom prst="rect">
            <a:avLst/>
          </a:prstGeom>
          <a:noFill/>
          <a:ln/>
        </p:spPr>
        <p:txBody>
          <a:bodyPr wrap="square" lIns="0" tIns="0" rIns="0" bIns="0" rtlCol="0" anchor="ctr"/>
          <a:lstStyle/>
          <a:p>
            <a:pPr marL="0" indent="0" algn="ctr">
              <a:buNone/>
            </a:pPr>
            <a:r>
              <a:rPr lang="it-IT" sz="1300" b="1" noProof="0" dirty="0">
                <a:solidFill>
                  <a:schemeClr val="tx1"/>
                </a:solidFill>
              </a:rPr>
              <a:t>Documenti allegati</a:t>
            </a:r>
            <a:endParaRPr lang="it-IT" sz="1300" noProof="0" dirty="0"/>
          </a:p>
        </p:txBody>
      </p:sp>
      <p:sp>
        <p:nvSpPr>
          <p:cNvPr id="12" name="blocco Il nostro messaggio"/>
          <p:cNvSpPr/>
          <p:nvPr/>
        </p:nvSpPr>
        <p:spPr>
          <a:xfrm>
            <a:off x="685800" y="3163824"/>
            <a:ext cx="4297680" cy="420624"/>
          </a:xfrm>
          <a:prstGeom prst="roundRect">
            <a:avLst>
              <a:gd name="adj" fmla="val 26087"/>
            </a:avLst>
          </a:prstGeom>
          <a:solidFill>
            <a:schemeClr val="accent6"/>
          </a:solidFill>
          <a:ln/>
        </p:spPr>
        <p:txBody>
          <a:bodyPr/>
          <a:lstStyle/>
          <a:p>
            <a:endParaRPr lang="it-IT" noProof="0" dirty="0"/>
          </a:p>
        </p:txBody>
      </p:sp>
      <p:sp>
        <p:nvSpPr>
          <p:cNvPr id="13" name="Text 10"/>
          <p:cNvSpPr txBox="1"/>
          <p:nvPr/>
        </p:nvSpPr>
        <p:spPr>
          <a:xfrm>
            <a:off x="731520" y="3163824"/>
            <a:ext cx="4206240" cy="420624"/>
          </a:xfrm>
          <a:prstGeom prst="rect">
            <a:avLst/>
          </a:prstGeom>
          <a:noFill/>
          <a:ln/>
        </p:spPr>
        <p:txBody>
          <a:bodyPr wrap="square" lIns="0" tIns="0" rIns="0" bIns="0" rtlCol="0" anchor="ctr"/>
          <a:lstStyle/>
          <a:p>
            <a:pPr marL="0" indent="0" algn="ctr">
              <a:buNone/>
            </a:pPr>
            <a:r>
              <a:rPr lang="it-IT" sz="1300" b="1" noProof="0" dirty="0">
                <a:solidFill>
                  <a:schemeClr val="tx1"/>
                </a:solidFill>
              </a:rPr>
              <a:t>Il nostro messaggio</a:t>
            </a:r>
            <a:endParaRPr lang="it-IT" sz="1300" noProof="0" dirty="0"/>
          </a:p>
        </p:txBody>
      </p:sp>
      <p:sp>
        <p:nvSpPr>
          <p:cNvPr id="14" name="blocco Risposta in generazione"/>
          <p:cNvSpPr/>
          <p:nvPr/>
        </p:nvSpPr>
        <p:spPr>
          <a:xfrm>
            <a:off x="685800" y="3685032"/>
            <a:ext cx="4297680" cy="420624"/>
          </a:xfrm>
          <a:prstGeom prst="roundRect">
            <a:avLst>
              <a:gd name="adj" fmla="val 26087"/>
            </a:avLst>
          </a:prstGeom>
          <a:solidFill>
            <a:schemeClr val="accent1"/>
          </a:solidFill>
          <a:ln/>
        </p:spPr>
        <p:txBody>
          <a:bodyPr/>
          <a:lstStyle/>
          <a:p>
            <a:endParaRPr lang="it-IT" noProof="0" dirty="0"/>
          </a:p>
        </p:txBody>
      </p:sp>
      <p:sp>
        <p:nvSpPr>
          <p:cNvPr id="15" name="Text 12"/>
          <p:cNvSpPr txBox="1"/>
          <p:nvPr/>
        </p:nvSpPr>
        <p:spPr>
          <a:xfrm>
            <a:off x="731520" y="3685032"/>
            <a:ext cx="4206240" cy="420624"/>
          </a:xfrm>
          <a:prstGeom prst="rect">
            <a:avLst/>
          </a:prstGeom>
          <a:noFill/>
          <a:ln/>
        </p:spPr>
        <p:txBody>
          <a:bodyPr wrap="square" lIns="0" tIns="0" rIns="0" bIns="0" rtlCol="0" anchor="ctr"/>
          <a:lstStyle/>
          <a:p>
            <a:pPr marL="0" indent="0" algn="ctr">
              <a:buNone/>
            </a:pPr>
            <a:r>
              <a:rPr lang="it-IT" sz="1300" b="1" noProof="0" dirty="0">
                <a:solidFill>
                  <a:schemeClr val="bg1"/>
                </a:solidFill>
              </a:rPr>
              <a:t>Risposta in generazione</a:t>
            </a:r>
            <a:endParaRPr lang="it-IT" sz="1300" noProof="0" dirty="0"/>
          </a:p>
        </p:txBody>
      </p:sp>
      <p:sp>
        <p:nvSpPr>
          <p:cNvPr id="16" name="Text 13"/>
          <p:cNvSpPr txBox="1"/>
          <p:nvPr/>
        </p:nvSpPr>
        <p:spPr>
          <a:xfrm>
            <a:off x="640080" y="4187952"/>
            <a:ext cx="4389120" cy="228600"/>
          </a:xfrm>
          <a:prstGeom prst="rect">
            <a:avLst/>
          </a:prstGeom>
          <a:noFill/>
          <a:ln/>
        </p:spPr>
        <p:txBody>
          <a:bodyPr wrap="square" lIns="0" tIns="0" rIns="0" bIns="0" rtlCol="0" anchor="t"/>
          <a:lstStyle/>
          <a:p>
            <a:pPr marL="0" indent="0">
              <a:buNone/>
            </a:pPr>
            <a:r>
              <a:rPr lang="it-IT" sz="1000" i="1" noProof="0" dirty="0">
                <a:solidFill>
                  <a:schemeClr val="accent2"/>
                </a:solidFill>
              </a:rPr>
              <a:t>Ciò che non entra nella finestra, per il modello non esiste.</a:t>
            </a:r>
            <a:endParaRPr lang="it-IT" sz="1000" noProof="0" dirty="0"/>
          </a:p>
        </p:txBody>
      </p:sp>
      <p:sp>
        <p:nvSpPr>
          <p:cNvPr id="17" name="cerchio FiMaximize2"/>
          <p:cNvSpPr/>
          <p:nvPr/>
        </p:nvSpPr>
        <p:spPr>
          <a:xfrm>
            <a:off x="5486400" y="1143000"/>
            <a:ext cx="457200" cy="457200"/>
          </a:xfrm>
          <a:prstGeom prst="ellipse">
            <a:avLst/>
          </a:prstGeom>
          <a:solidFill>
            <a:schemeClr val="accent1"/>
          </a:solidFill>
          <a:ln/>
        </p:spPr>
        <p:txBody>
          <a:bodyPr/>
          <a:lstStyle/>
          <a:p>
            <a:endParaRPr lang="it-IT" noProof="0" dirty="0"/>
          </a:p>
        </p:txBody>
      </p:sp>
      <p:pic>
        <p:nvPicPr>
          <p:cNvPr id="18" name="Image 0" descr="FiMaximize2"/>
          <p:cNvPicPr>
            <a:picLocks noChangeAspect="1"/>
          </p:cNvPicPr>
          <p:nvPr/>
        </p:nvPicPr>
        <p:blipFill>
          <a:blip r:embed="rId3"/>
          <a:stretch>
            <a:fillRect/>
          </a:stretch>
        </p:blipFill>
        <p:spPr>
          <a:xfrm>
            <a:off x="5600700" y="1257300"/>
            <a:ext cx="228600" cy="228600"/>
          </a:xfrm>
          <a:prstGeom prst="rect">
            <a:avLst/>
          </a:prstGeom>
        </p:spPr>
      </p:pic>
      <p:sp>
        <p:nvSpPr>
          <p:cNvPr id="19" name="Text 15"/>
          <p:cNvSpPr txBox="1"/>
          <p:nvPr/>
        </p:nvSpPr>
        <p:spPr>
          <a:xfrm>
            <a:off x="6080760" y="1115568"/>
            <a:ext cx="2606040" cy="502920"/>
          </a:xfrm>
          <a:prstGeom prst="rect">
            <a:avLst/>
          </a:prstGeom>
          <a:noFill/>
          <a:ln/>
        </p:spPr>
        <p:txBody>
          <a:bodyPr wrap="square" lIns="0" tIns="0" rIns="0" bIns="0" rtlCol="0" anchor="t"/>
          <a:lstStyle/>
          <a:p>
            <a:pPr marL="0" indent="0">
              <a:buNone/>
            </a:pPr>
            <a:r>
              <a:rPr lang="it-IT" sz="1300" b="1" noProof="0" dirty="0">
                <a:solidFill>
                  <a:schemeClr val="tx1"/>
                </a:solidFill>
              </a:rPr>
              <a:t>Misurata in token</a:t>
            </a:r>
            <a:endParaRPr lang="it-IT" sz="1300" noProof="0" dirty="0"/>
          </a:p>
        </p:txBody>
      </p:sp>
      <p:sp>
        <p:nvSpPr>
          <p:cNvPr id="20" name="Text 16"/>
          <p:cNvSpPr txBox="1"/>
          <p:nvPr/>
        </p:nvSpPr>
        <p:spPr>
          <a:xfrm>
            <a:off x="6080760" y="1600200"/>
            <a:ext cx="2606040" cy="548640"/>
          </a:xfrm>
          <a:prstGeom prst="rect">
            <a:avLst/>
          </a:prstGeom>
          <a:noFill/>
          <a:ln/>
        </p:spPr>
        <p:txBody>
          <a:bodyPr wrap="square" lIns="0" tIns="0" rIns="0" bIns="0" rtlCol="0" anchor="t"/>
          <a:lstStyle/>
          <a:p>
            <a:pPr marL="0" indent="0">
              <a:buNone/>
            </a:pPr>
            <a:r>
              <a:rPr lang="it-IT" sz="1100" noProof="0" dirty="0">
                <a:solidFill>
                  <a:schemeClr val="tx2"/>
                </a:solidFill>
              </a:rPr>
              <a:t>Da poche migliaia a centinaia di migliaia o più, secondo il modello</a:t>
            </a:r>
            <a:endParaRPr lang="it-IT" sz="1100" noProof="0" dirty="0"/>
          </a:p>
        </p:txBody>
      </p:sp>
      <p:sp>
        <p:nvSpPr>
          <p:cNvPr id="21" name="cerchio FiScissors"/>
          <p:cNvSpPr/>
          <p:nvPr/>
        </p:nvSpPr>
        <p:spPr>
          <a:xfrm>
            <a:off x="5486400" y="2258568"/>
            <a:ext cx="457200" cy="457200"/>
          </a:xfrm>
          <a:prstGeom prst="ellipse">
            <a:avLst/>
          </a:prstGeom>
          <a:solidFill>
            <a:schemeClr val="accent1"/>
          </a:solidFill>
          <a:ln/>
        </p:spPr>
        <p:txBody>
          <a:bodyPr/>
          <a:lstStyle/>
          <a:p>
            <a:endParaRPr lang="it-IT" noProof="0" dirty="0"/>
          </a:p>
        </p:txBody>
      </p:sp>
      <p:pic>
        <p:nvPicPr>
          <p:cNvPr id="22" name="Image 1" descr="FiScissors"/>
          <p:cNvPicPr>
            <a:picLocks noChangeAspect="1"/>
          </p:cNvPicPr>
          <p:nvPr/>
        </p:nvPicPr>
        <p:blipFill>
          <a:blip r:embed="rId4"/>
          <a:stretch>
            <a:fillRect/>
          </a:stretch>
        </p:blipFill>
        <p:spPr>
          <a:xfrm>
            <a:off x="5600700" y="2372868"/>
            <a:ext cx="228600" cy="228600"/>
          </a:xfrm>
          <a:prstGeom prst="rect">
            <a:avLst/>
          </a:prstGeom>
        </p:spPr>
      </p:pic>
      <p:sp>
        <p:nvSpPr>
          <p:cNvPr id="23" name="Text 18"/>
          <p:cNvSpPr txBox="1"/>
          <p:nvPr/>
        </p:nvSpPr>
        <p:spPr>
          <a:xfrm>
            <a:off x="6080760" y="2231136"/>
            <a:ext cx="2606040" cy="502920"/>
          </a:xfrm>
          <a:prstGeom prst="rect">
            <a:avLst/>
          </a:prstGeom>
          <a:noFill/>
          <a:ln/>
        </p:spPr>
        <p:txBody>
          <a:bodyPr wrap="square" lIns="0" tIns="0" rIns="0" bIns="0" rtlCol="0" anchor="t"/>
          <a:lstStyle/>
          <a:p>
            <a:pPr marL="0" indent="0">
              <a:buNone/>
            </a:pPr>
            <a:r>
              <a:rPr lang="it-IT" sz="1300" b="1" noProof="0" dirty="0">
                <a:solidFill>
                  <a:schemeClr val="tx1"/>
                </a:solidFill>
              </a:rPr>
              <a:t>Quando è piena</a:t>
            </a:r>
            <a:endParaRPr lang="it-IT" sz="1300" noProof="0" dirty="0"/>
          </a:p>
        </p:txBody>
      </p:sp>
      <p:sp>
        <p:nvSpPr>
          <p:cNvPr id="24" name="Text 19"/>
          <p:cNvSpPr txBox="1"/>
          <p:nvPr/>
        </p:nvSpPr>
        <p:spPr>
          <a:xfrm>
            <a:off x="6080760" y="2715768"/>
            <a:ext cx="2606040" cy="548640"/>
          </a:xfrm>
          <a:prstGeom prst="rect">
            <a:avLst/>
          </a:prstGeom>
          <a:noFill/>
          <a:ln/>
        </p:spPr>
        <p:txBody>
          <a:bodyPr wrap="square" lIns="0" tIns="0" rIns="0" bIns="0" rtlCol="0" anchor="t"/>
          <a:lstStyle/>
          <a:p>
            <a:pPr marL="0" indent="0">
              <a:buNone/>
            </a:pPr>
            <a:r>
              <a:rPr lang="it-IT" sz="1100" noProof="0" dirty="0">
                <a:solidFill>
                  <a:schemeClr val="tx2"/>
                </a:solidFill>
              </a:rPr>
              <a:t>Le parti più vecchie possono essere escluse o riassunte</a:t>
            </a:r>
            <a:endParaRPr lang="it-IT" sz="1100" noProof="0" dirty="0"/>
          </a:p>
        </p:txBody>
      </p:sp>
      <p:sp>
        <p:nvSpPr>
          <p:cNvPr id="25" name="cerchio FiTarget"/>
          <p:cNvSpPr/>
          <p:nvPr/>
        </p:nvSpPr>
        <p:spPr>
          <a:xfrm>
            <a:off x="5486400" y="3374136"/>
            <a:ext cx="457200" cy="457200"/>
          </a:xfrm>
          <a:prstGeom prst="ellipse">
            <a:avLst/>
          </a:prstGeom>
          <a:solidFill>
            <a:schemeClr val="accent1"/>
          </a:solidFill>
          <a:ln/>
        </p:spPr>
        <p:txBody>
          <a:bodyPr/>
          <a:lstStyle/>
          <a:p>
            <a:endParaRPr lang="it-IT" noProof="0" dirty="0"/>
          </a:p>
        </p:txBody>
      </p:sp>
      <p:pic>
        <p:nvPicPr>
          <p:cNvPr id="26" name="Image 2" descr="FiTarget"/>
          <p:cNvPicPr>
            <a:picLocks noChangeAspect="1"/>
          </p:cNvPicPr>
          <p:nvPr/>
        </p:nvPicPr>
        <p:blipFill>
          <a:blip r:embed="rId5"/>
          <a:stretch>
            <a:fillRect/>
          </a:stretch>
        </p:blipFill>
        <p:spPr>
          <a:xfrm>
            <a:off x="5600700" y="3488436"/>
            <a:ext cx="228600" cy="228600"/>
          </a:xfrm>
          <a:prstGeom prst="rect">
            <a:avLst/>
          </a:prstGeom>
        </p:spPr>
      </p:pic>
      <p:sp>
        <p:nvSpPr>
          <p:cNvPr id="27" name="Text 21"/>
          <p:cNvSpPr txBox="1"/>
          <p:nvPr/>
        </p:nvSpPr>
        <p:spPr>
          <a:xfrm>
            <a:off x="6080760" y="3346704"/>
            <a:ext cx="2606040" cy="502920"/>
          </a:xfrm>
          <a:prstGeom prst="rect">
            <a:avLst/>
          </a:prstGeom>
          <a:noFill/>
          <a:ln/>
        </p:spPr>
        <p:txBody>
          <a:bodyPr wrap="square" lIns="0" tIns="0" rIns="0" bIns="0" rtlCol="0" anchor="t"/>
          <a:lstStyle/>
          <a:p>
            <a:pPr marL="0" indent="0">
              <a:buNone/>
            </a:pPr>
            <a:r>
              <a:rPr lang="it-IT" sz="1300" b="1" noProof="0" dirty="0">
                <a:solidFill>
                  <a:schemeClr val="tx1"/>
                </a:solidFill>
              </a:rPr>
              <a:t>Il contesto giusto conta più della quantità</a:t>
            </a:r>
            <a:endParaRPr lang="it-IT" sz="1300" noProof="0" dirty="0"/>
          </a:p>
        </p:txBody>
      </p:sp>
      <p:sp>
        <p:nvSpPr>
          <p:cNvPr id="28" name="Text 22"/>
          <p:cNvSpPr txBox="1"/>
          <p:nvPr/>
        </p:nvSpPr>
        <p:spPr>
          <a:xfrm>
            <a:off x="6080760" y="3831336"/>
            <a:ext cx="2606040" cy="548640"/>
          </a:xfrm>
          <a:prstGeom prst="rect">
            <a:avLst/>
          </a:prstGeom>
          <a:noFill/>
          <a:ln/>
        </p:spPr>
        <p:txBody>
          <a:bodyPr wrap="square" lIns="0" tIns="0" rIns="0" bIns="0" rtlCol="0" anchor="t"/>
          <a:lstStyle/>
          <a:p>
            <a:pPr marL="0" indent="0">
              <a:buNone/>
            </a:pPr>
            <a:r>
              <a:rPr lang="it-IT" sz="1100" noProof="0" dirty="0">
                <a:solidFill>
                  <a:schemeClr val="tx2"/>
                </a:solidFill>
              </a:rPr>
              <a:t>Informazioni nel mezzo di testi lunghi possono essere trascurate</a:t>
            </a:r>
            <a:endParaRPr lang="it-IT" sz="1100" noProof="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noProof="0" smtClean="0"/>
              <a:t>51</a:t>
            </a:fld>
            <a:endParaRPr lang="it-IT" noProof="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Contesto temporaneo e memoria persistente</a:t>
            </a:r>
            <a:endParaRPr lang="it-IT" sz="2600" noProof="0" dirty="0"/>
          </a:p>
        </p:txBody>
      </p:sp>
      <p:graphicFrame>
        <p:nvGraphicFramePr>
          <p:cNvPr id="46" name="Table 0"/>
          <p:cNvGraphicFramePr>
            <a:graphicFrameLocks noGrp="1"/>
          </p:cNvGraphicFramePr>
          <p:nvPr/>
        </p:nvGraphicFramePr>
        <p:xfrm>
          <a:off x="457200" y="1097280"/>
          <a:ext cx="8229600" cy="3017520"/>
        </p:xfrm>
        <a:graphic>
          <a:graphicData uri="http://schemas.openxmlformats.org/drawingml/2006/table">
            <a:tbl>
              <a:tblPr/>
              <a:tblGrid>
                <a:gridCol w="18288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502920">
                <a:tc>
                  <a:txBody>
                    <a:bodyPr/>
                    <a:lstStyle/>
                    <a:p>
                      <a:pPr marL="0" indent="0">
                        <a:buNone/>
                      </a:pP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b="1" noProof="0" dirty="0">
                          <a:solidFill>
                            <a:schemeClr val="bg1"/>
                          </a:solidFill>
                        </a:rPr>
                        <a:t>Contesto temporaneo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it-IT" sz="1300" b="1" noProof="0" dirty="0">
                          <a:solidFill>
                            <a:schemeClr val="bg1"/>
                          </a:solidFill>
                        </a:rPr>
                        <a:t>Memoria persistente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502920">
                <a:tc>
                  <a:txBody>
                    <a:bodyPr/>
                    <a:lstStyle/>
                    <a:p>
                      <a:pPr marL="0" indent="0">
                        <a:buNone/>
                      </a:pPr>
                      <a:r>
                        <a:rPr lang="it-IT" sz="1300" b="1" noProof="0" dirty="0">
                          <a:solidFill>
                            <a:schemeClr val="tx1"/>
                          </a:solidFill>
                        </a:rPr>
                        <a:t>Che cos'è</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Ciò che è nella finestra di contesto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Informazioni salvate dall'applicazione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1"/>
                  </a:ext>
                </a:extLst>
              </a:tr>
              <a:tr h="502920">
                <a:tc>
                  <a:txBody>
                    <a:bodyPr/>
                    <a:lstStyle/>
                    <a:p>
                      <a:pPr marL="0" indent="0">
                        <a:buNone/>
                      </a:pPr>
                      <a:r>
                        <a:rPr lang="it-IT" sz="1300" b="1" noProof="0" dirty="0">
                          <a:solidFill>
                            <a:schemeClr val="tx1"/>
                          </a:solidFill>
                        </a:rPr>
                        <a:t>Durata</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Una conversazione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Tra più conversazioni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2"/>
                  </a:ext>
                </a:extLst>
              </a:tr>
              <a:tr h="502920">
                <a:tc>
                  <a:txBody>
                    <a:bodyPr/>
                    <a:lstStyle/>
                    <a:p>
                      <a:pPr marL="0" indent="0">
                        <a:buNone/>
                      </a:pPr>
                      <a:r>
                        <a:rPr lang="it-IT" sz="1300" b="1" noProof="0" dirty="0">
                          <a:solidFill>
                            <a:schemeClr val="tx1"/>
                          </a:solidFill>
                        </a:rPr>
                        <a:t>Chi la gestisce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Meccanismo di base del sistema</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Funzione specifica di alcune applicazioni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3"/>
                  </a:ext>
                </a:extLst>
              </a:tr>
              <a:tr h="502920">
                <a:tc>
                  <a:txBody>
                    <a:bodyPr/>
                    <a:lstStyle/>
                    <a:p>
                      <a:pPr marL="0" indent="0">
                        <a:buNone/>
                      </a:pPr>
                      <a:r>
                        <a:rPr lang="it-IT" sz="1300" b="1" noProof="0" dirty="0">
                          <a:solidFill>
                            <a:schemeClr val="tx1"/>
                          </a:solidFill>
                        </a:rPr>
                        <a:t>Esempio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Il documento allegato a questa chat</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"Lavoro nell'ufficio acquisti" ricordato in futuro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4"/>
                  </a:ext>
                </a:extLst>
              </a:tr>
              <a:tr h="502920">
                <a:tc>
                  <a:txBody>
                    <a:bodyPr/>
                    <a:lstStyle/>
                    <a:p>
                      <a:pPr marL="0" indent="0">
                        <a:buNone/>
                      </a:pPr>
                      <a:r>
                        <a:rPr lang="it-IT" sz="1300" b="1" noProof="0" dirty="0">
                          <a:solidFill>
                            <a:schemeClr val="tx1"/>
                          </a:solidFill>
                        </a:rPr>
                        <a:t>Modifica il modello?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No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No: viene reinserita nel contesto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extLst>
                  <a:ext uri="{0D108BD9-81ED-4DB2-BD59-A6C34878D82A}">
                    <a16:rowId xmlns:a16="http://schemas.microsoft.com/office/drawing/2014/main" val="10005"/>
                  </a:ext>
                </a:extLst>
              </a:tr>
            </a:tbl>
          </a:graphicData>
        </a:graphic>
      </p:graphicFrame>
      <p:sp>
        <p:nvSpPr>
          <p:cNvPr id="5" name="Text 1"/>
          <p:cNvSpPr txBox="1"/>
          <p:nvPr/>
        </p:nvSpPr>
        <p:spPr>
          <a:xfrm>
            <a:off x="457200" y="4251960"/>
            <a:ext cx="8229600" cy="320040"/>
          </a:xfrm>
          <a:prstGeom prst="rect">
            <a:avLst/>
          </a:prstGeom>
          <a:noFill/>
          <a:ln/>
        </p:spPr>
        <p:txBody>
          <a:bodyPr wrap="square" lIns="0" tIns="0" rIns="0" bIns="0" rtlCol="0" anchor="t"/>
          <a:lstStyle/>
          <a:p>
            <a:pPr marL="0" indent="0">
              <a:buNone/>
            </a:pPr>
            <a:r>
              <a:rPr lang="it-IT" sz="1300" i="1" noProof="0" dirty="0">
                <a:solidFill>
                  <a:schemeClr val="tx1"/>
                </a:solidFill>
              </a:rPr>
              <a:t>In azienda: sapere che cosa viene memorizzato, dove e per quanto tempo.</a:t>
            </a:r>
            <a:endParaRPr lang="it-IT" sz="13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noProof="0" smtClean="0"/>
              <a:t>52</a:t>
            </a:fld>
            <a:endParaRPr lang="it-IT" noProof="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Il modello e l'applicazione</a:t>
            </a:r>
            <a:endParaRPr lang="it-IT" sz="2600" noProof="0" dirty="0"/>
          </a:p>
        </p:txBody>
      </p:sp>
      <p:sp>
        <p:nvSpPr>
          <p:cNvPr id="4" name="applicazione"/>
          <p:cNvSpPr/>
          <p:nvPr/>
        </p:nvSpPr>
        <p:spPr>
          <a:xfrm>
            <a:off x="457200" y="1097280"/>
            <a:ext cx="5486400" cy="3429000"/>
          </a:xfrm>
          <a:prstGeom prst="roundRect">
            <a:avLst>
              <a:gd name="adj" fmla="val 2133"/>
            </a:avLst>
          </a:prstGeom>
          <a:solidFill>
            <a:schemeClr val="bg2"/>
          </a:solidFill>
          <a:ln/>
        </p:spPr>
        <p:txBody>
          <a:bodyPr/>
          <a:lstStyle/>
          <a:p>
            <a:endParaRPr lang="it-IT" noProof="0" dirty="0"/>
          </a:p>
        </p:txBody>
      </p:sp>
      <p:sp>
        <p:nvSpPr>
          <p:cNvPr id="5" name="Text 2"/>
          <p:cNvSpPr txBox="1"/>
          <p:nvPr/>
        </p:nvSpPr>
        <p:spPr>
          <a:xfrm>
            <a:off x="640080" y="1188720"/>
            <a:ext cx="5120640" cy="320040"/>
          </a:xfrm>
          <a:prstGeom prst="rect">
            <a:avLst/>
          </a:prstGeom>
          <a:noFill/>
          <a:ln/>
        </p:spPr>
        <p:txBody>
          <a:bodyPr wrap="square" lIns="0" tIns="0" rIns="0" bIns="0" rtlCol="0" anchor="t"/>
          <a:lstStyle/>
          <a:p>
            <a:pPr marL="0" indent="0">
              <a:buNone/>
            </a:pPr>
            <a:r>
              <a:rPr lang="it-IT" sz="1500" b="1" noProof="0" dirty="0">
                <a:solidFill>
                  <a:schemeClr val="tx1"/>
                </a:solidFill>
              </a:rPr>
              <a:t>Applicazione</a:t>
            </a:r>
            <a:endParaRPr lang="it-IT" sz="1500" noProof="0" dirty="0"/>
          </a:p>
        </p:txBody>
      </p:sp>
      <p:sp>
        <p:nvSpPr>
          <p:cNvPr id="6" name="modello centro"/>
          <p:cNvSpPr/>
          <p:nvPr/>
        </p:nvSpPr>
        <p:spPr>
          <a:xfrm>
            <a:off x="2331720" y="2240280"/>
            <a:ext cx="1737360" cy="1188720"/>
          </a:xfrm>
          <a:prstGeom prst="roundRect">
            <a:avLst>
              <a:gd name="adj" fmla="val 6154"/>
            </a:avLst>
          </a:prstGeom>
          <a:solidFill>
            <a:schemeClr val="accent1"/>
          </a:solidFill>
          <a:ln/>
        </p:spPr>
        <p:txBody>
          <a:bodyPr/>
          <a:lstStyle/>
          <a:p>
            <a:endParaRPr lang="it-IT" noProof="0" dirty="0"/>
          </a:p>
        </p:txBody>
      </p:sp>
      <p:sp>
        <p:nvSpPr>
          <p:cNvPr id="7" name="Text 4"/>
          <p:cNvSpPr txBox="1"/>
          <p:nvPr/>
        </p:nvSpPr>
        <p:spPr>
          <a:xfrm>
            <a:off x="2331720" y="2240280"/>
            <a:ext cx="1737360" cy="1188720"/>
          </a:xfrm>
          <a:prstGeom prst="rect">
            <a:avLst/>
          </a:prstGeom>
          <a:noFill/>
          <a:ln/>
        </p:spPr>
        <p:txBody>
          <a:bodyPr wrap="square" lIns="0" tIns="0" rIns="0" bIns="0" rtlCol="0" anchor="ctr"/>
          <a:lstStyle/>
          <a:p>
            <a:pPr marL="0" indent="0" algn="ctr">
              <a:buNone/>
            </a:pPr>
            <a:r>
              <a:rPr lang="it-IT" sz="1700" b="1" noProof="0" dirty="0">
                <a:solidFill>
                  <a:schemeClr val="bg1"/>
                </a:solidFill>
              </a:rPr>
              <a:t>Modello</a:t>
            </a:r>
            <a:endParaRPr lang="it-IT" sz="1700" noProof="0" dirty="0"/>
          </a:p>
        </p:txBody>
      </p:sp>
      <p:sp>
        <p:nvSpPr>
          <p:cNvPr id="8" name="cerchio FiSettings"/>
          <p:cNvSpPr/>
          <p:nvPr/>
        </p:nvSpPr>
        <p:spPr>
          <a:xfrm>
            <a:off x="640080" y="1737360"/>
            <a:ext cx="384048" cy="384048"/>
          </a:xfrm>
          <a:prstGeom prst="ellipse">
            <a:avLst/>
          </a:prstGeom>
          <a:solidFill>
            <a:schemeClr val="accent1"/>
          </a:solidFill>
          <a:ln/>
        </p:spPr>
        <p:txBody>
          <a:bodyPr/>
          <a:lstStyle/>
          <a:p>
            <a:endParaRPr lang="it-IT" noProof="0" dirty="0"/>
          </a:p>
        </p:txBody>
      </p:sp>
      <p:pic>
        <p:nvPicPr>
          <p:cNvPr id="9" name="Image 0" descr="FiSettings"/>
          <p:cNvPicPr>
            <a:picLocks noChangeAspect="1"/>
          </p:cNvPicPr>
          <p:nvPr/>
        </p:nvPicPr>
        <p:blipFill>
          <a:blip r:embed="rId3"/>
          <a:stretch>
            <a:fillRect/>
          </a:stretch>
        </p:blipFill>
        <p:spPr>
          <a:xfrm>
            <a:off x="736092" y="1833372"/>
            <a:ext cx="192024" cy="192024"/>
          </a:xfrm>
          <a:prstGeom prst="rect">
            <a:avLst/>
          </a:prstGeom>
        </p:spPr>
      </p:pic>
      <p:sp>
        <p:nvSpPr>
          <p:cNvPr id="10" name="Text 6"/>
          <p:cNvSpPr txBox="1"/>
          <p:nvPr/>
        </p:nvSpPr>
        <p:spPr>
          <a:xfrm>
            <a:off x="1097280" y="1645920"/>
            <a:ext cx="1234440" cy="566928"/>
          </a:xfrm>
          <a:prstGeom prst="rect">
            <a:avLst/>
          </a:prstGeom>
          <a:noFill/>
          <a:ln/>
        </p:spPr>
        <p:txBody>
          <a:bodyPr wrap="square" lIns="0" tIns="0" rIns="0" bIns="0" rtlCol="0" anchor="ctr"/>
          <a:lstStyle/>
          <a:p>
            <a:pPr marL="0" indent="0">
              <a:buNone/>
            </a:pPr>
            <a:r>
              <a:rPr lang="it-IT" sz="1200" b="1" noProof="0" dirty="0">
                <a:solidFill>
                  <a:schemeClr val="tx1"/>
                </a:solidFill>
              </a:rPr>
              <a:t>Istruzioni di sistema</a:t>
            </a:r>
            <a:endParaRPr lang="it-IT" sz="1200" noProof="0" dirty="0"/>
          </a:p>
        </p:txBody>
      </p:sp>
      <p:sp>
        <p:nvSpPr>
          <p:cNvPr id="11" name="cerchio FiGlobe"/>
          <p:cNvSpPr/>
          <p:nvPr/>
        </p:nvSpPr>
        <p:spPr>
          <a:xfrm>
            <a:off x="640080" y="2606040"/>
            <a:ext cx="384048" cy="384048"/>
          </a:xfrm>
          <a:prstGeom prst="ellipse">
            <a:avLst/>
          </a:prstGeom>
          <a:solidFill>
            <a:schemeClr val="accent1"/>
          </a:solidFill>
          <a:ln/>
        </p:spPr>
        <p:txBody>
          <a:bodyPr/>
          <a:lstStyle/>
          <a:p>
            <a:endParaRPr lang="it-IT" noProof="0" dirty="0"/>
          </a:p>
        </p:txBody>
      </p:sp>
      <p:pic>
        <p:nvPicPr>
          <p:cNvPr id="12" name="Image 1" descr="FiGlobe"/>
          <p:cNvPicPr>
            <a:picLocks noChangeAspect="1"/>
          </p:cNvPicPr>
          <p:nvPr/>
        </p:nvPicPr>
        <p:blipFill>
          <a:blip r:embed="rId4"/>
          <a:stretch>
            <a:fillRect/>
          </a:stretch>
        </p:blipFill>
        <p:spPr>
          <a:xfrm>
            <a:off x="736092" y="2702052"/>
            <a:ext cx="192024" cy="192024"/>
          </a:xfrm>
          <a:prstGeom prst="rect">
            <a:avLst/>
          </a:prstGeom>
        </p:spPr>
      </p:pic>
      <p:sp>
        <p:nvSpPr>
          <p:cNvPr id="13" name="Text 8"/>
          <p:cNvSpPr txBox="1"/>
          <p:nvPr/>
        </p:nvSpPr>
        <p:spPr>
          <a:xfrm>
            <a:off x="1097280" y="2514600"/>
            <a:ext cx="1234440" cy="566928"/>
          </a:xfrm>
          <a:prstGeom prst="rect">
            <a:avLst/>
          </a:prstGeom>
          <a:noFill/>
          <a:ln/>
        </p:spPr>
        <p:txBody>
          <a:bodyPr wrap="square" lIns="0" tIns="0" rIns="0" bIns="0" rtlCol="0" anchor="ctr"/>
          <a:lstStyle/>
          <a:p>
            <a:pPr marL="0" indent="0">
              <a:buNone/>
            </a:pPr>
            <a:r>
              <a:rPr lang="it-IT" sz="1200" b="1" noProof="0" dirty="0">
                <a:solidFill>
                  <a:schemeClr val="tx1"/>
                </a:solidFill>
              </a:rPr>
              <a:t>Ricerca sul web</a:t>
            </a:r>
            <a:endParaRPr lang="it-IT" sz="1200" noProof="0" dirty="0"/>
          </a:p>
        </p:txBody>
      </p:sp>
      <p:sp>
        <p:nvSpPr>
          <p:cNvPr id="14" name="cerchio FiPaperclip"/>
          <p:cNvSpPr/>
          <p:nvPr/>
        </p:nvSpPr>
        <p:spPr>
          <a:xfrm>
            <a:off x="640080" y="3474720"/>
            <a:ext cx="384048" cy="384048"/>
          </a:xfrm>
          <a:prstGeom prst="ellipse">
            <a:avLst/>
          </a:prstGeom>
          <a:solidFill>
            <a:schemeClr val="accent1"/>
          </a:solidFill>
          <a:ln/>
        </p:spPr>
        <p:txBody>
          <a:bodyPr/>
          <a:lstStyle/>
          <a:p>
            <a:endParaRPr lang="it-IT" noProof="0" dirty="0"/>
          </a:p>
        </p:txBody>
      </p:sp>
      <p:pic>
        <p:nvPicPr>
          <p:cNvPr id="15" name="Image 2" descr="FiPaperclip"/>
          <p:cNvPicPr>
            <a:picLocks noChangeAspect="1"/>
          </p:cNvPicPr>
          <p:nvPr/>
        </p:nvPicPr>
        <p:blipFill>
          <a:blip r:embed="rId5"/>
          <a:stretch>
            <a:fillRect/>
          </a:stretch>
        </p:blipFill>
        <p:spPr>
          <a:xfrm>
            <a:off x="736092" y="3570732"/>
            <a:ext cx="192024" cy="192024"/>
          </a:xfrm>
          <a:prstGeom prst="rect">
            <a:avLst/>
          </a:prstGeom>
        </p:spPr>
      </p:pic>
      <p:sp>
        <p:nvSpPr>
          <p:cNvPr id="16" name="Text 10"/>
          <p:cNvSpPr txBox="1"/>
          <p:nvPr/>
        </p:nvSpPr>
        <p:spPr>
          <a:xfrm>
            <a:off x="1097280" y="3383280"/>
            <a:ext cx="1234440" cy="566928"/>
          </a:xfrm>
          <a:prstGeom prst="rect">
            <a:avLst/>
          </a:prstGeom>
          <a:noFill/>
          <a:ln/>
        </p:spPr>
        <p:txBody>
          <a:bodyPr wrap="square" lIns="0" tIns="0" rIns="0" bIns="0" rtlCol="0" anchor="ctr"/>
          <a:lstStyle/>
          <a:p>
            <a:pPr marL="0" indent="0">
              <a:buNone/>
            </a:pPr>
            <a:r>
              <a:rPr lang="it-IT" sz="1200" b="1" noProof="0" dirty="0">
                <a:solidFill>
                  <a:schemeClr val="tx1"/>
                </a:solidFill>
              </a:rPr>
              <a:t>Caricamento di file</a:t>
            </a:r>
            <a:endParaRPr lang="it-IT" sz="1200" noProof="0" dirty="0"/>
          </a:p>
        </p:txBody>
      </p:sp>
      <p:sp>
        <p:nvSpPr>
          <p:cNvPr id="17" name="cerchio FiLink"/>
          <p:cNvSpPr/>
          <p:nvPr/>
        </p:nvSpPr>
        <p:spPr>
          <a:xfrm>
            <a:off x="4251960" y="1737360"/>
            <a:ext cx="384048" cy="384048"/>
          </a:xfrm>
          <a:prstGeom prst="ellipse">
            <a:avLst/>
          </a:prstGeom>
          <a:solidFill>
            <a:schemeClr val="accent1"/>
          </a:solidFill>
          <a:ln/>
        </p:spPr>
        <p:txBody>
          <a:bodyPr/>
          <a:lstStyle/>
          <a:p>
            <a:endParaRPr lang="it-IT" noProof="0" dirty="0"/>
          </a:p>
        </p:txBody>
      </p:sp>
      <p:pic>
        <p:nvPicPr>
          <p:cNvPr id="18" name="Image 3" descr="FiLink"/>
          <p:cNvPicPr>
            <a:picLocks noChangeAspect="1"/>
          </p:cNvPicPr>
          <p:nvPr/>
        </p:nvPicPr>
        <p:blipFill>
          <a:blip r:embed="rId6"/>
          <a:stretch>
            <a:fillRect/>
          </a:stretch>
        </p:blipFill>
        <p:spPr>
          <a:xfrm>
            <a:off x="4347972" y="1833372"/>
            <a:ext cx="192024" cy="192024"/>
          </a:xfrm>
          <a:prstGeom prst="rect">
            <a:avLst/>
          </a:prstGeom>
        </p:spPr>
      </p:pic>
      <p:sp>
        <p:nvSpPr>
          <p:cNvPr id="19" name="Text 12"/>
          <p:cNvSpPr txBox="1"/>
          <p:nvPr/>
        </p:nvSpPr>
        <p:spPr>
          <a:xfrm>
            <a:off x="4709160" y="1645920"/>
            <a:ext cx="1234440" cy="566928"/>
          </a:xfrm>
          <a:prstGeom prst="rect">
            <a:avLst/>
          </a:prstGeom>
          <a:noFill/>
          <a:ln/>
        </p:spPr>
        <p:txBody>
          <a:bodyPr wrap="square" lIns="0" tIns="0" rIns="0" bIns="0" rtlCol="0" anchor="ctr"/>
          <a:lstStyle/>
          <a:p>
            <a:pPr marL="0" indent="0">
              <a:buNone/>
            </a:pPr>
            <a:r>
              <a:rPr lang="it-IT" sz="1200" b="1" noProof="0" dirty="0">
                <a:solidFill>
                  <a:schemeClr val="tx1"/>
                </a:solidFill>
              </a:rPr>
              <a:t>Collegamenti a strumenti</a:t>
            </a:r>
            <a:endParaRPr lang="it-IT" sz="1200" noProof="0" dirty="0"/>
          </a:p>
        </p:txBody>
      </p:sp>
      <p:sp>
        <p:nvSpPr>
          <p:cNvPr id="20" name="cerchio FiSave"/>
          <p:cNvSpPr/>
          <p:nvPr/>
        </p:nvSpPr>
        <p:spPr>
          <a:xfrm>
            <a:off x="4251960" y="2606040"/>
            <a:ext cx="384048" cy="384048"/>
          </a:xfrm>
          <a:prstGeom prst="ellipse">
            <a:avLst/>
          </a:prstGeom>
          <a:solidFill>
            <a:schemeClr val="accent1"/>
          </a:solidFill>
          <a:ln/>
        </p:spPr>
        <p:txBody>
          <a:bodyPr/>
          <a:lstStyle/>
          <a:p>
            <a:endParaRPr lang="it-IT" noProof="0" dirty="0"/>
          </a:p>
        </p:txBody>
      </p:sp>
      <p:pic>
        <p:nvPicPr>
          <p:cNvPr id="21" name="Image 4" descr="FiSave"/>
          <p:cNvPicPr>
            <a:picLocks noChangeAspect="1"/>
          </p:cNvPicPr>
          <p:nvPr/>
        </p:nvPicPr>
        <p:blipFill>
          <a:blip r:embed="rId7"/>
          <a:stretch>
            <a:fillRect/>
          </a:stretch>
        </p:blipFill>
        <p:spPr>
          <a:xfrm>
            <a:off x="4347972" y="2702052"/>
            <a:ext cx="192024" cy="192024"/>
          </a:xfrm>
          <a:prstGeom prst="rect">
            <a:avLst/>
          </a:prstGeom>
        </p:spPr>
      </p:pic>
      <p:sp>
        <p:nvSpPr>
          <p:cNvPr id="22" name="Text 14"/>
          <p:cNvSpPr txBox="1"/>
          <p:nvPr/>
        </p:nvSpPr>
        <p:spPr>
          <a:xfrm>
            <a:off x="4709160" y="2514600"/>
            <a:ext cx="1234440" cy="566928"/>
          </a:xfrm>
          <a:prstGeom prst="rect">
            <a:avLst/>
          </a:prstGeom>
          <a:noFill/>
          <a:ln/>
        </p:spPr>
        <p:txBody>
          <a:bodyPr wrap="square" lIns="0" tIns="0" rIns="0" bIns="0" rtlCol="0" anchor="ctr"/>
          <a:lstStyle/>
          <a:p>
            <a:pPr marL="0" indent="0">
              <a:buNone/>
            </a:pPr>
            <a:r>
              <a:rPr lang="it-IT" sz="1200" b="1" noProof="0" dirty="0">
                <a:solidFill>
                  <a:schemeClr val="tx1"/>
                </a:solidFill>
              </a:rPr>
              <a:t>Memoria</a:t>
            </a:r>
            <a:endParaRPr lang="it-IT" sz="1200" noProof="0" dirty="0"/>
          </a:p>
        </p:txBody>
      </p:sp>
      <p:sp>
        <p:nvSpPr>
          <p:cNvPr id="23" name="cerchio FiShield"/>
          <p:cNvSpPr/>
          <p:nvPr/>
        </p:nvSpPr>
        <p:spPr>
          <a:xfrm>
            <a:off x="4251960" y="3474720"/>
            <a:ext cx="384048" cy="384048"/>
          </a:xfrm>
          <a:prstGeom prst="ellipse">
            <a:avLst/>
          </a:prstGeom>
          <a:solidFill>
            <a:schemeClr val="accent1"/>
          </a:solidFill>
          <a:ln/>
        </p:spPr>
        <p:txBody>
          <a:bodyPr/>
          <a:lstStyle/>
          <a:p>
            <a:endParaRPr lang="it-IT" noProof="0" dirty="0"/>
          </a:p>
        </p:txBody>
      </p:sp>
      <p:pic>
        <p:nvPicPr>
          <p:cNvPr id="24" name="Image 5" descr="FiShield"/>
          <p:cNvPicPr>
            <a:picLocks noChangeAspect="1"/>
          </p:cNvPicPr>
          <p:nvPr/>
        </p:nvPicPr>
        <p:blipFill>
          <a:blip r:embed="rId8"/>
          <a:stretch>
            <a:fillRect/>
          </a:stretch>
        </p:blipFill>
        <p:spPr>
          <a:xfrm>
            <a:off x="4347972" y="3570732"/>
            <a:ext cx="192024" cy="192024"/>
          </a:xfrm>
          <a:prstGeom prst="rect">
            <a:avLst/>
          </a:prstGeom>
        </p:spPr>
      </p:pic>
      <p:sp>
        <p:nvSpPr>
          <p:cNvPr id="25" name="Text 16"/>
          <p:cNvSpPr txBox="1"/>
          <p:nvPr/>
        </p:nvSpPr>
        <p:spPr>
          <a:xfrm>
            <a:off x="4709160" y="3383280"/>
            <a:ext cx="1234440" cy="566928"/>
          </a:xfrm>
          <a:prstGeom prst="rect">
            <a:avLst/>
          </a:prstGeom>
          <a:noFill/>
          <a:ln/>
        </p:spPr>
        <p:txBody>
          <a:bodyPr wrap="square" lIns="0" tIns="0" rIns="0" bIns="0" rtlCol="0" anchor="ctr"/>
          <a:lstStyle/>
          <a:p>
            <a:pPr marL="0" indent="0">
              <a:buNone/>
            </a:pPr>
            <a:r>
              <a:rPr lang="it-IT" sz="1200" b="1" noProof="0" dirty="0">
                <a:solidFill>
                  <a:schemeClr val="tx1"/>
                </a:solidFill>
              </a:rPr>
              <a:t>Filtri e regole sui dati</a:t>
            </a:r>
            <a:endParaRPr lang="it-IT" sz="1200" noProof="0" dirty="0"/>
          </a:p>
        </p:txBody>
      </p:sp>
      <p:sp>
        <p:nvSpPr>
          <p:cNvPr id="26" name="Text 17"/>
          <p:cNvSpPr txBox="1"/>
          <p:nvPr/>
        </p:nvSpPr>
        <p:spPr>
          <a:xfrm>
            <a:off x="640080" y="4206240"/>
            <a:ext cx="5120640" cy="274320"/>
          </a:xfrm>
          <a:prstGeom prst="rect">
            <a:avLst/>
          </a:prstGeom>
          <a:noFill/>
          <a:ln/>
        </p:spPr>
        <p:txBody>
          <a:bodyPr wrap="square" lIns="0" tIns="0" rIns="0" bIns="0" rtlCol="0" anchor="t"/>
          <a:lstStyle/>
          <a:p>
            <a:pPr marL="0" indent="0">
              <a:buNone/>
            </a:pPr>
            <a:r>
              <a:rPr lang="it-IT" sz="1000" i="1" noProof="0" dirty="0">
                <a:solidFill>
                  <a:schemeClr val="accent2"/>
                </a:solidFill>
              </a:rPr>
              <a:t>Più interfaccia, ovviamente</a:t>
            </a:r>
            <a:endParaRPr lang="it-IT" sz="1000" noProof="0" dirty="0"/>
          </a:p>
        </p:txBody>
      </p:sp>
      <p:sp>
        <p:nvSpPr>
          <p:cNvPr id="27" name="scheda Lo stesso modello"/>
          <p:cNvSpPr/>
          <p:nvPr/>
        </p:nvSpPr>
        <p:spPr>
          <a:xfrm>
            <a:off x="6217920" y="1097280"/>
            <a:ext cx="2468880" cy="1600200"/>
          </a:xfrm>
          <a:prstGeom prst="roundRect">
            <a:avLst>
              <a:gd name="adj" fmla="val 4571"/>
            </a:avLst>
          </a:prstGeom>
          <a:solidFill>
            <a:schemeClr val="bg2"/>
          </a:solidFill>
          <a:ln/>
        </p:spPr>
        <p:txBody>
          <a:bodyPr/>
          <a:lstStyle/>
          <a:p>
            <a:endParaRPr lang="it-IT" noProof="0" dirty="0"/>
          </a:p>
        </p:txBody>
      </p:sp>
      <p:sp>
        <p:nvSpPr>
          <p:cNvPr id="28" name="Text 19"/>
          <p:cNvSpPr txBox="1"/>
          <p:nvPr/>
        </p:nvSpPr>
        <p:spPr>
          <a:xfrm>
            <a:off x="6400800" y="1280160"/>
            <a:ext cx="2103120" cy="347472"/>
          </a:xfrm>
          <a:prstGeom prst="rect">
            <a:avLst/>
          </a:prstGeom>
          <a:noFill/>
          <a:ln/>
        </p:spPr>
        <p:txBody>
          <a:bodyPr wrap="square" lIns="0" tIns="0" rIns="0" bIns="0" rtlCol="0" anchor="t"/>
          <a:lstStyle/>
          <a:p>
            <a:pPr marL="0" indent="0">
              <a:buNone/>
            </a:pPr>
            <a:r>
              <a:rPr lang="it-IT" sz="1400" b="1" noProof="0" dirty="0">
                <a:solidFill>
                  <a:schemeClr val="tx1"/>
                </a:solidFill>
              </a:rPr>
              <a:t>Lo stesso modello</a:t>
            </a:r>
            <a:endParaRPr lang="it-IT" sz="1400" noProof="0" dirty="0"/>
          </a:p>
        </p:txBody>
      </p:sp>
      <p:sp>
        <p:nvSpPr>
          <p:cNvPr id="29" name="Text 20"/>
          <p:cNvSpPr txBox="1"/>
          <p:nvPr/>
        </p:nvSpPr>
        <p:spPr>
          <a:xfrm>
            <a:off x="6400800" y="1664208"/>
            <a:ext cx="2103120" cy="923544"/>
          </a:xfrm>
          <a:prstGeom prst="rect">
            <a:avLst/>
          </a:prstGeom>
          <a:noFill/>
          <a:ln/>
        </p:spPr>
        <p:txBody>
          <a:bodyPr wrap="square" lIns="0" tIns="0" rIns="0" bIns="0" rtlCol="0" anchor="t"/>
          <a:lstStyle/>
          <a:p>
            <a:pPr marL="0" indent="0">
              <a:buNone/>
            </a:pPr>
            <a:r>
              <a:rPr lang="it-IT" sz="1200" noProof="0" dirty="0">
                <a:solidFill>
                  <a:schemeClr val="tx2"/>
                </a:solidFill>
              </a:rPr>
              <a:t>può comportarsi in modo diverso in prodotti diversi.</a:t>
            </a:r>
            <a:endParaRPr lang="it-IT" sz="1200" noProof="0" dirty="0"/>
          </a:p>
        </p:txBody>
      </p:sp>
      <p:sp>
        <p:nvSpPr>
          <p:cNvPr id="30" name="scheda Fonti aggiornate"/>
          <p:cNvSpPr/>
          <p:nvPr/>
        </p:nvSpPr>
        <p:spPr>
          <a:xfrm>
            <a:off x="6217920" y="2880360"/>
            <a:ext cx="2468880" cy="1645920"/>
          </a:xfrm>
          <a:prstGeom prst="roundRect">
            <a:avLst>
              <a:gd name="adj" fmla="val 4444"/>
            </a:avLst>
          </a:prstGeom>
          <a:solidFill>
            <a:schemeClr val="accent6"/>
          </a:solidFill>
          <a:ln/>
        </p:spPr>
        <p:txBody>
          <a:bodyPr/>
          <a:lstStyle/>
          <a:p>
            <a:endParaRPr lang="it-IT" noProof="0" dirty="0"/>
          </a:p>
        </p:txBody>
      </p:sp>
      <p:sp>
        <p:nvSpPr>
          <p:cNvPr id="31" name="Text 22"/>
          <p:cNvSpPr txBox="1"/>
          <p:nvPr/>
        </p:nvSpPr>
        <p:spPr>
          <a:xfrm>
            <a:off x="6400800" y="3063240"/>
            <a:ext cx="2103120" cy="347472"/>
          </a:xfrm>
          <a:prstGeom prst="rect">
            <a:avLst/>
          </a:prstGeom>
          <a:noFill/>
          <a:ln/>
        </p:spPr>
        <p:txBody>
          <a:bodyPr wrap="square" lIns="0" tIns="0" rIns="0" bIns="0" rtlCol="0" anchor="t"/>
          <a:lstStyle/>
          <a:p>
            <a:pPr marL="0" indent="0">
              <a:buNone/>
            </a:pPr>
            <a:r>
              <a:rPr lang="it-IT" sz="1400" b="1" noProof="0" dirty="0">
                <a:solidFill>
                  <a:schemeClr val="tx1"/>
                </a:solidFill>
              </a:rPr>
              <a:t>Fonti aggiornate</a:t>
            </a:r>
            <a:endParaRPr lang="it-IT" sz="1400" noProof="0" dirty="0"/>
          </a:p>
        </p:txBody>
      </p:sp>
      <p:sp>
        <p:nvSpPr>
          <p:cNvPr id="32" name="Text 23"/>
          <p:cNvSpPr txBox="1"/>
          <p:nvPr/>
        </p:nvSpPr>
        <p:spPr>
          <a:xfrm>
            <a:off x="6400800" y="3447288"/>
            <a:ext cx="2103120" cy="969264"/>
          </a:xfrm>
          <a:prstGeom prst="rect">
            <a:avLst/>
          </a:prstGeom>
          <a:noFill/>
          <a:ln/>
        </p:spPr>
        <p:txBody>
          <a:bodyPr wrap="square" lIns="0" tIns="0" rIns="0" bIns="0" rtlCol="0" anchor="t"/>
          <a:lstStyle/>
          <a:p>
            <a:pPr marL="0" indent="0">
              <a:buNone/>
            </a:pPr>
            <a:r>
              <a:rPr lang="it-IT" sz="1200" noProof="0" dirty="0">
                <a:solidFill>
                  <a:schemeClr val="tx2"/>
                </a:solidFill>
              </a:rPr>
              <a:t>dipendono da una funzione di ricerca dell'applicazione, non dal modello in sé.</a:t>
            </a:r>
            <a:endParaRPr lang="it-IT" sz="1200" noProof="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noProof="0" smtClean="0"/>
              <a:t>53</a:t>
            </a:fld>
            <a:endParaRPr lang="it-IT" noProof="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it-IT" sz="6000" b="1" noProof="0" dirty="0">
                <a:solidFill>
                  <a:schemeClr val="accent1"/>
                </a:solidFill>
              </a:rPr>
              <a:t>2.6</a:t>
            </a:r>
            <a:endParaRPr lang="it-IT" sz="6000" noProof="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it-IT" sz="3200" b="1" noProof="0" dirty="0">
                <a:solidFill>
                  <a:schemeClr val="bg1"/>
                </a:solidFill>
              </a:rPr>
              <a:t>Conoscenza e fonti informative</a:t>
            </a:r>
            <a:endParaRPr lang="it-IT" sz="3200" noProof="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it-IT" sz="1600" noProof="0" dirty="0">
                <a:solidFill>
                  <a:schemeClr val="accent3"/>
                </a:solidFill>
              </a:rPr>
              <a:t>Fornire un documento o collegare una fonte non significa necessariamente riaddestrare il modello</a:t>
            </a:r>
            <a:endParaRPr lang="it-IT" sz="1600" noProof="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noProof="0" smtClean="0"/>
              <a:t>54</a:t>
            </a:fld>
            <a:endParaRPr lang="it-IT" noProof="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Tre fonti di informazione</a:t>
            </a:r>
            <a:endParaRPr lang="it-IT" sz="2600" noProof="0" dirty="0"/>
          </a:p>
        </p:txBody>
      </p:sp>
      <p:sp>
        <p:nvSpPr>
          <p:cNvPr id="4" name="scheda Addestramento"/>
          <p:cNvSpPr/>
          <p:nvPr/>
        </p:nvSpPr>
        <p:spPr>
          <a:xfrm>
            <a:off x="457200" y="1097280"/>
            <a:ext cx="2615184" cy="3429000"/>
          </a:xfrm>
          <a:prstGeom prst="roundRect">
            <a:avLst>
              <a:gd name="adj" fmla="val 2797"/>
            </a:avLst>
          </a:prstGeom>
          <a:solidFill>
            <a:schemeClr val="bg2"/>
          </a:solidFill>
          <a:ln/>
        </p:spPr>
        <p:txBody>
          <a:bodyPr/>
          <a:lstStyle/>
          <a:p>
            <a:endParaRPr lang="it-IT" noProof="0" dirty="0"/>
          </a:p>
        </p:txBody>
      </p:sp>
      <p:sp>
        <p:nvSpPr>
          <p:cNvPr id="5" name="cerchio FiDatabase"/>
          <p:cNvSpPr/>
          <p:nvPr/>
        </p:nvSpPr>
        <p:spPr>
          <a:xfrm>
            <a:off x="640080" y="1280160"/>
            <a:ext cx="457200" cy="457200"/>
          </a:xfrm>
          <a:prstGeom prst="ellipse">
            <a:avLst/>
          </a:prstGeom>
          <a:solidFill>
            <a:schemeClr val="accent1"/>
          </a:solidFill>
          <a:ln/>
        </p:spPr>
        <p:txBody>
          <a:bodyPr/>
          <a:lstStyle/>
          <a:p>
            <a:endParaRPr lang="it-IT" noProof="0" dirty="0"/>
          </a:p>
        </p:txBody>
      </p:sp>
      <p:pic>
        <p:nvPicPr>
          <p:cNvPr id="6" name="Image 0" descr="FiDatabase"/>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2249424" cy="347472"/>
          </a:xfrm>
          <a:prstGeom prst="rect">
            <a:avLst/>
          </a:prstGeom>
          <a:noFill/>
          <a:ln/>
        </p:spPr>
        <p:txBody>
          <a:bodyPr wrap="square" lIns="0" tIns="0" rIns="0" bIns="0" rtlCol="0" anchor="t"/>
          <a:lstStyle/>
          <a:p>
            <a:pPr marL="0" indent="0">
              <a:buNone/>
            </a:pPr>
            <a:r>
              <a:rPr lang="it-IT" sz="1600" b="1" noProof="0" dirty="0">
                <a:solidFill>
                  <a:schemeClr val="tx1"/>
                </a:solidFill>
              </a:rPr>
              <a:t>Addestramento</a:t>
            </a:r>
            <a:endParaRPr lang="it-IT" sz="1600" noProof="0" dirty="0"/>
          </a:p>
        </p:txBody>
      </p:sp>
      <p:sp>
        <p:nvSpPr>
          <p:cNvPr id="8" name="Text 4"/>
          <p:cNvSpPr txBox="1"/>
          <p:nvPr/>
        </p:nvSpPr>
        <p:spPr>
          <a:xfrm>
            <a:off x="640080" y="2231136"/>
            <a:ext cx="2249424" cy="2185416"/>
          </a:xfrm>
          <a:prstGeom prst="rect">
            <a:avLst/>
          </a:prstGeom>
          <a:noFill/>
          <a:ln/>
        </p:spPr>
        <p:txBody>
          <a:bodyPr wrap="square" lIns="0" tIns="0" rIns="0" bIns="0" rtlCol="0" anchor="t"/>
          <a:lstStyle/>
          <a:p>
            <a:pPr marL="0" indent="0">
              <a:spcAft>
                <a:spcPts val="800"/>
              </a:spcAft>
              <a:buNone/>
            </a:pPr>
            <a:r>
              <a:rPr lang="it-IT" sz="1300" b="1" noProof="0" dirty="0">
                <a:solidFill>
                  <a:schemeClr val="tx1"/>
                </a:solidFill>
              </a:rPr>
              <a:t>Appresa dai testi di addestramento e incorporata nei parametri</a:t>
            </a:r>
            <a:endParaRPr lang="it-IT" sz="1300" noProof="0" dirty="0"/>
          </a:p>
          <a:p>
            <a:pPr marL="177800" indent="-177800">
              <a:spcAft>
                <a:spcPts val="300"/>
              </a:spcAft>
              <a:buSzPct val="100000"/>
              <a:buChar char="•"/>
            </a:pPr>
            <a:r>
              <a:rPr lang="it-IT" sz="1300" noProof="0" dirty="0">
                <a:solidFill>
                  <a:schemeClr val="tx2"/>
                </a:solidFill>
              </a:rPr>
              <a:t>Ampia e generale</a:t>
            </a:r>
            <a:endParaRPr lang="it-IT" sz="1300" noProof="0" dirty="0"/>
          </a:p>
          <a:p>
            <a:pPr marL="177800" indent="-177800">
              <a:spcAft>
                <a:spcPts val="300"/>
              </a:spcAft>
              <a:buSzPct val="100000"/>
              <a:buChar char="•"/>
            </a:pPr>
            <a:r>
              <a:rPr lang="it-IT" sz="1300" noProof="0" dirty="0">
                <a:solidFill>
                  <a:schemeClr val="tx2"/>
                </a:solidFill>
              </a:rPr>
              <a:t>Ferma a una certa data</a:t>
            </a:r>
            <a:endParaRPr lang="it-IT" sz="1300" noProof="0" dirty="0"/>
          </a:p>
          <a:p>
            <a:pPr marL="177800" indent="-177800">
              <a:spcAft>
                <a:spcPts val="300"/>
              </a:spcAft>
              <a:buSzPct val="100000"/>
              <a:buChar char="•"/>
            </a:pPr>
            <a:r>
              <a:rPr lang="it-IT" sz="1300" noProof="0" dirty="0">
                <a:solidFill>
                  <a:schemeClr val="tx2"/>
                </a:solidFill>
              </a:rPr>
              <a:t>Non verificabile direttamente</a:t>
            </a:r>
            <a:endParaRPr lang="it-IT" sz="1300" noProof="0" dirty="0"/>
          </a:p>
        </p:txBody>
      </p:sp>
      <p:sp>
        <p:nvSpPr>
          <p:cNvPr id="9" name="scheda Interazione"/>
          <p:cNvSpPr/>
          <p:nvPr/>
        </p:nvSpPr>
        <p:spPr>
          <a:xfrm>
            <a:off x="3264408" y="1097280"/>
            <a:ext cx="2615184" cy="3429000"/>
          </a:xfrm>
          <a:prstGeom prst="roundRect">
            <a:avLst>
              <a:gd name="adj" fmla="val 2797"/>
            </a:avLst>
          </a:prstGeom>
          <a:solidFill>
            <a:schemeClr val="accent6"/>
          </a:solidFill>
          <a:ln/>
        </p:spPr>
        <p:txBody>
          <a:bodyPr/>
          <a:lstStyle/>
          <a:p>
            <a:endParaRPr lang="it-IT" noProof="0" dirty="0"/>
          </a:p>
        </p:txBody>
      </p:sp>
      <p:sp>
        <p:nvSpPr>
          <p:cNvPr id="10" name="cerchio FiPaperclip"/>
          <p:cNvSpPr/>
          <p:nvPr/>
        </p:nvSpPr>
        <p:spPr>
          <a:xfrm>
            <a:off x="3447288" y="1280160"/>
            <a:ext cx="457200" cy="457200"/>
          </a:xfrm>
          <a:prstGeom prst="ellipse">
            <a:avLst/>
          </a:prstGeom>
          <a:solidFill>
            <a:schemeClr val="accent1"/>
          </a:solidFill>
          <a:ln/>
        </p:spPr>
        <p:txBody>
          <a:bodyPr/>
          <a:lstStyle/>
          <a:p>
            <a:endParaRPr lang="it-IT" noProof="0" dirty="0"/>
          </a:p>
        </p:txBody>
      </p:sp>
      <p:pic>
        <p:nvPicPr>
          <p:cNvPr id="11" name="Image 1" descr="FiPaperclip"/>
          <p:cNvPicPr>
            <a:picLocks noChangeAspect="1"/>
          </p:cNvPicPr>
          <p:nvPr/>
        </p:nvPicPr>
        <p:blipFill>
          <a:blip r:embed="rId4"/>
          <a:stretch>
            <a:fillRect/>
          </a:stretch>
        </p:blipFill>
        <p:spPr>
          <a:xfrm>
            <a:off x="3561588" y="1394460"/>
            <a:ext cx="228600" cy="228600"/>
          </a:xfrm>
          <a:prstGeom prst="rect">
            <a:avLst/>
          </a:prstGeom>
        </p:spPr>
      </p:pic>
      <p:sp>
        <p:nvSpPr>
          <p:cNvPr id="12" name="Text 7"/>
          <p:cNvSpPr txBox="1"/>
          <p:nvPr/>
        </p:nvSpPr>
        <p:spPr>
          <a:xfrm>
            <a:off x="3447288" y="1847088"/>
            <a:ext cx="2249424" cy="347472"/>
          </a:xfrm>
          <a:prstGeom prst="rect">
            <a:avLst/>
          </a:prstGeom>
          <a:noFill/>
          <a:ln/>
        </p:spPr>
        <p:txBody>
          <a:bodyPr wrap="square" lIns="0" tIns="0" rIns="0" bIns="0" rtlCol="0" anchor="t"/>
          <a:lstStyle/>
          <a:p>
            <a:pPr marL="0" indent="0">
              <a:buNone/>
            </a:pPr>
            <a:r>
              <a:rPr lang="it-IT" sz="1600" b="1" noProof="0" dirty="0">
                <a:solidFill>
                  <a:schemeClr val="tx1"/>
                </a:solidFill>
              </a:rPr>
              <a:t>Interazione</a:t>
            </a:r>
            <a:endParaRPr lang="it-IT" sz="1600" noProof="0" dirty="0"/>
          </a:p>
        </p:txBody>
      </p:sp>
      <p:sp>
        <p:nvSpPr>
          <p:cNvPr id="13" name="Text 8"/>
          <p:cNvSpPr txBox="1"/>
          <p:nvPr/>
        </p:nvSpPr>
        <p:spPr>
          <a:xfrm>
            <a:off x="3447288" y="2231136"/>
            <a:ext cx="2249424" cy="2185416"/>
          </a:xfrm>
          <a:prstGeom prst="rect">
            <a:avLst/>
          </a:prstGeom>
          <a:noFill/>
          <a:ln/>
        </p:spPr>
        <p:txBody>
          <a:bodyPr wrap="square" lIns="0" tIns="0" rIns="0" bIns="0" rtlCol="0" anchor="t"/>
          <a:lstStyle/>
          <a:p>
            <a:pPr marL="0" indent="0">
              <a:spcAft>
                <a:spcPts val="800"/>
              </a:spcAft>
              <a:buNone/>
            </a:pPr>
            <a:r>
              <a:rPr lang="it-IT" sz="1300" b="1" noProof="0" dirty="0">
                <a:solidFill>
                  <a:schemeClr val="tx1"/>
                </a:solidFill>
              </a:rPr>
              <a:t>Fornita da noi durante la conversazione</a:t>
            </a:r>
            <a:endParaRPr lang="it-IT" sz="1300" noProof="0" dirty="0"/>
          </a:p>
          <a:p>
            <a:pPr marL="177800" indent="-177800">
              <a:spcAft>
                <a:spcPts val="300"/>
              </a:spcAft>
              <a:buSzPct val="100000"/>
              <a:buChar char="•"/>
            </a:pPr>
            <a:r>
              <a:rPr lang="it-IT" sz="1300" noProof="0" dirty="0">
                <a:solidFill>
                  <a:schemeClr val="tx2"/>
                </a:solidFill>
              </a:rPr>
              <a:t>Istruzioni, testi, documenti</a:t>
            </a:r>
            <a:endParaRPr lang="it-IT" sz="1300" noProof="0" dirty="0"/>
          </a:p>
          <a:p>
            <a:pPr marL="177800" indent="-177800">
              <a:spcAft>
                <a:spcPts val="300"/>
              </a:spcAft>
              <a:buSzPct val="100000"/>
              <a:buChar char="•"/>
            </a:pPr>
            <a:r>
              <a:rPr lang="it-IT" sz="1300" noProof="0" dirty="0">
                <a:solidFill>
                  <a:schemeClr val="tx2"/>
                </a:solidFill>
              </a:rPr>
              <a:t>Specifica e controllabile</a:t>
            </a:r>
            <a:endParaRPr lang="it-IT" sz="1300" noProof="0" dirty="0"/>
          </a:p>
          <a:p>
            <a:pPr marL="177800" indent="-177800">
              <a:spcAft>
                <a:spcPts val="300"/>
              </a:spcAft>
              <a:buSzPct val="100000"/>
              <a:buChar char="•"/>
            </a:pPr>
            <a:r>
              <a:rPr lang="it-IT" sz="1300" noProof="0" dirty="0">
                <a:solidFill>
                  <a:schemeClr val="tx2"/>
                </a:solidFill>
              </a:rPr>
              <a:t>Vale nel contesto temporaneo</a:t>
            </a:r>
            <a:endParaRPr lang="it-IT" sz="1300" noProof="0" dirty="0"/>
          </a:p>
        </p:txBody>
      </p:sp>
      <p:sp>
        <p:nvSpPr>
          <p:cNvPr id="14" name="scheda Fonti esterne"/>
          <p:cNvSpPr/>
          <p:nvPr/>
        </p:nvSpPr>
        <p:spPr>
          <a:xfrm>
            <a:off x="6071616" y="1097280"/>
            <a:ext cx="2615184" cy="3429000"/>
          </a:xfrm>
          <a:prstGeom prst="roundRect">
            <a:avLst>
              <a:gd name="adj" fmla="val 2797"/>
            </a:avLst>
          </a:prstGeom>
          <a:solidFill>
            <a:schemeClr val="bg2"/>
          </a:solidFill>
          <a:ln/>
        </p:spPr>
        <p:txBody>
          <a:bodyPr/>
          <a:lstStyle/>
          <a:p>
            <a:endParaRPr lang="it-IT" noProof="0" dirty="0"/>
          </a:p>
        </p:txBody>
      </p:sp>
      <p:sp>
        <p:nvSpPr>
          <p:cNvPr id="15" name="cerchio FiGlobe"/>
          <p:cNvSpPr/>
          <p:nvPr/>
        </p:nvSpPr>
        <p:spPr>
          <a:xfrm>
            <a:off x="6254496" y="1280160"/>
            <a:ext cx="457200" cy="457200"/>
          </a:xfrm>
          <a:prstGeom prst="ellipse">
            <a:avLst/>
          </a:prstGeom>
          <a:solidFill>
            <a:schemeClr val="accent1"/>
          </a:solidFill>
          <a:ln/>
        </p:spPr>
        <p:txBody>
          <a:bodyPr/>
          <a:lstStyle/>
          <a:p>
            <a:endParaRPr lang="it-IT" noProof="0" dirty="0"/>
          </a:p>
        </p:txBody>
      </p:sp>
      <p:pic>
        <p:nvPicPr>
          <p:cNvPr id="16" name="Image 2" descr="FiGlobe"/>
          <p:cNvPicPr>
            <a:picLocks noChangeAspect="1"/>
          </p:cNvPicPr>
          <p:nvPr/>
        </p:nvPicPr>
        <p:blipFill>
          <a:blip r:embed="rId5"/>
          <a:stretch>
            <a:fillRect/>
          </a:stretch>
        </p:blipFill>
        <p:spPr>
          <a:xfrm>
            <a:off x="6368796" y="1394460"/>
            <a:ext cx="228600" cy="228600"/>
          </a:xfrm>
          <a:prstGeom prst="rect">
            <a:avLst/>
          </a:prstGeom>
        </p:spPr>
      </p:pic>
      <p:sp>
        <p:nvSpPr>
          <p:cNvPr id="17" name="Text 11"/>
          <p:cNvSpPr txBox="1"/>
          <p:nvPr/>
        </p:nvSpPr>
        <p:spPr>
          <a:xfrm>
            <a:off x="6254496" y="1847088"/>
            <a:ext cx="2249424" cy="347472"/>
          </a:xfrm>
          <a:prstGeom prst="rect">
            <a:avLst/>
          </a:prstGeom>
          <a:noFill/>
          <a:ln/>
        </p:spPr>
        <p:txBody>
          <a:bodyPr wrap="square" lIns="0" tIns="0" rIns="0" bIns="0" rtlCol="0" anchor="t"/>
          <a:lstStyle/>
          <a:p>
            <a:pPr marL="0" indent="0">
              <a:buNone/>
            </a:pPr>
            <a:r>
              <a:rPr lang="it-IT" sz="1600" b="1" noProof="0" dirty="0">
                <a:solidFill>
                  <a:schemeClr val="tx1"/>
                </a:solidFill>
              </a:rPr>
              <a:t>Fonti esterne</a:t>
            </a:r>
            <a:endParaRPr lang="it-IT" sz="1600" noProof="0" dirty="0"/>
          </a:p>
        </p:txBody>
      </p:sp>
      <p:sp>
        <p:nvSpPr>
          <p:cNvPr id="18" name="Text 12"/>
          <p:cNvSpPr txBox="1"/>
          <p:nvPr/>
        </p:nvSpPr>
        <p:spPr>
          <a:xfrm>
            <a:off x="6254496" y="2231136"/>
            <a:ext cx="2249424" cy="2185416"/>
          </a:xfrm>
          <a:prstGeom prst="rect">
            <a:avLst/>
          </a:prstGeom>
          <a:noFill/>
          <a:ln/>
        </p:spPr>
        <p:txBody>
          <a:bodyPr wrap="square" lIns="0" tIns="0" rIns="0" bIns="0" rtlCol="0" anchor="t"/>
          <a:lstStyle/>
          <a:p>
            <a:pPr marL="0" indent="0">
              <a:spcAft>
                <a:spcPts val="800"/>
              </a:spcAft>
              <a:buNone/>
            </a:pPr>
            <a:r>
              <a:rPr lang="it-IT" sz="1300" b="1" noProof="0" dirty="0">
                <a:solidFill>
                  <a:schemeClr val="tx1"/>
                </a:solidFill>
              </a:rPr>
              <a:t>Recuperata dall'applicazione al momento della richiesta</a:t>
            </a:r>
            <a:endParaRPr lang="it-IT" sz="1300" noProof="0" dirty="0"/>
          </a:p>
          <a:p>
            <a:pPr marL="177800" indent="-177800">
              <a:spcAft>
                <a:spcPts val="300"/>
              </a:spcAft>
              <a:buSzPct val="100000"/>
              <a:buChar char="•"/>
            </a:pPr>
            <a:r>
              <a:rPr lang="it-IT" sz="1300" noProof="0" dirty="0">
                <a:solidFill>
                  <a:schemeClr val="tx2"/>
                </a:solidFill>
              </a:rPr>
              <a:t>Web, basi documentali, database</a:t>
            </a:r>
            <a:endParaRPr lang="it-IT" sz="1300" noProof="0" dirty="0"/>
          </a:p>
          <a:p>
            <a:pPr marL="177800" indent="-177800">
              <a:spcAft>
                <a:spcPts val="300"/>
              </a:spcAft>
              <a:buSzPct val="100000"/>
              <a:buChar char="•"/>
            </a:pPr>
            <a:r>
              <a:rPr lang="it-IT" sz="1300" noProof="0" dirty="0">
                <a:solidFill>
                  <a:schemeClr val="tx2"/>
                </a:solidFill>
              </a:rPr>
              <a:t>Aggiornata o riservata</a:t>
            </a:r>
            <a:endParaRPr lang="it-IT" sz="1300" noProof="0" dirty="0"/>
          </a:p>
          <a:p>
            <a:pPr marL="177800" indent="-177800">
              <a:spcAft>
                <a:spcPts val="300"/>
              </a:spcAft>
              <a:buSzPct val="100000"/>
              <a:buChar char="•"/>
            </a:pPr>
            <a:r>
              <a:rPr lang="it-IT" sz="1300" noProof="0" dirty="0">
                <a:solidFill>
                  <a:schemeClr val="tx2"/>
                </a:solidFill>
              </a:rPr>
              <a:t>Dipende dalla qualità della fonte</a:t>
            </a:r>
            <a:endParaRPr lang="it-IT" sz="13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noProof="0" smtClean="0"/>
              <a:t>55</a:t>
            </a:fld>
            <a:endParaRPr lang="it-IT" noProof="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Aggiornamento dei dati e limiti temporali</a:t>
            </a:r>
            <a:endParaRPr lang="it-IT" sz="2600" noProof="0" dirty="0"/>
          </a:p>
        </p:txBody>
      </p:sp>
      <p:sp>
        <p:nvSpPr>
          <p:cNvPr id="4" name="periodo addestramento"/>
          <p:cNvSpPr/>
          <p:nvPr/>
        </p:nvSpPr>
        <p:spPr>
          <a:xfrm>
            <a:off x="457200" y="1600200"/>
            <a:ext cx="4754880" cy="640080"/>
          </a:xfrm>
          <a:prstGeom prst="rect">
            <a:avLst/>
          </a:prstGeom>
          <a:solidFill>
            <a:schemeClr val="accent1"/>
          </a:solidFill>
          <a:ln/>
        </p:spPr>
        <p:txBody>
          <a:bodyPr/>
          <a:lstStyle/>
          <a:p>
            <a:endParaRPr lang="it-IT" noProof="0" dirty="0"/>
          </a:p>
        </p:txBody>
      </p:sp>
      <p:sp>
        <p:nvSpPr>
          <p:cNvPr id="5" name="Text 2"/>
          <p:cNvSpPr txBox="1"/>
          <p:nvPr/>
        </p:nvSpPr>
        <p:spPr>
          <a:xfrm>
            <a:off x="548640" y="1600200"/>
            <a:ext cx="4572000" cy="640080"/>
          </a:xfrm>
          <a:prstGeom prst="rect">
            <a:avLst/>
          </a:prstGeom>
          <a:noFill/>
          <a:ln/>
        </p:spPr>
        <p:txBody>
          <a:bodyPr wrap="square" lIns="0" tIns="0" rIns="0" bIns="0" rtlCol="0" anchor="ctr"/>
          <a:lstStyle/>
          <a:p>
            <a:pPr marL="0" indent="0">
              <a:buNone/>
            </a:pPr>
            <a:r>
              <a:rPr lang="it-IT" sz="1500" b="1" noProof="0" dirty="0">
                <a:solidFill>
                  <a:schemeClr val="bg1"/>
                </a:solidFill>
              </a:rPr>
              <a:t>Dati di addestramento</a:t>
            </a:r>
            <a:endParaRPr lang="it-IT" sz="1500" noProof="0" dirty="0"/>
          </a:p>
        </p:txBody>
      </p:sp>
      <p:sp>
        <p:nvSpPr>
          <p:cNvPr id="6" name="periodo sconosciuto"/>
          <p:cNvSpPr/>
          <p:nvPr/>
        </p:nvSpPr>
        <p:spPr>
          <a:xfrm>
            <a:off x="5212080" y="1600200"/>
            <a:ext cx="3474720" cy="640080"/>
          </a:xfrm>
          <a:prstGeom prst="rect">
            <a:avLst/>
          </a:prstGeom>
          <a:solidFill>
            <a:schemeClr val="bg2"/>
          </a:solidFill>
          <a:ln w="12700">
            <a:solidFill>
              <a:schemeClr val="accent3"/>
            </a:solidFill>
            <a:prstDash val="dash"/>
          </a:ln>
        </p:spPr>
        <p:txBody>
          <a:bodyPr/>
          <a:lstStyle/>
          <a:p>
            <a:endParaRPr lang="it-IT" noProof="0" dirty="0"/>
          </a:p>
        </p:txBody>
      </p:sp>
      <p:sp>
        <p:nvSpPr>
          <p:cNvPr id="7" name="Text 4"/>
          <p:cNvSpPr txBox="1"/>
          <p:nvPr/>
        </p:nvSpPr>
        <p:spPr>
          <a:xfrm>
            <a:off x="5303520" y="1600200"/>
            <a:ext cx="3291840" cy="640080"/>
          </a:xfrm>
          <a:prstGeom prst="rect">
            <a:avLst/>
          </a:prstGeom>
          <a:noFill/>
          <a:ln/>
        </p:spPr>
        <p:txBody>
          <a:bodyPr wrap="square" lIns="0" tIns="0" rIns="0" bIns="0" rtlCol="0" anchor="ctr"/>
          <a:lstStyle/>
          <a:p>
            <a:pPr marL="0" indent="0">
              <a:buNone/>
            </a:pPr>
            <a:r>
              <a:rPr lang="it-IT" sz="1300" b="1" noProof="0" dirty="0">
                <a:solidFill>
                  <a:schemeClr val="tx2"/>
                </a:solidFill>
              </a:rPr>
              <a:t>Eventi successivi: sconosciuti al modello</a:t>
            </a:r>
            <a:endParaRPr lang="it-IT" sz="1300" noProof="0" dirty="0"/>
          </a:p>
        </p:txBody>
      </p:sp>
      <p:sp>
        <p:nvSpPr>
          <p:cNvPr id="8" name="cutoff"/>
          <p:cNvSpPr/>
          <p:nvPr/>
        </p:nvSpPr>
        <p:spPr>
          <a:xfrm>
            <a:off x="5212080" y="1325880"/>
            <a:ext cx="0" cy="1188720"/>
          </a:xfrm>
          <a:prstGeom prst="line">
            <a:avLst/>
          </a:prstGeom>
          <a:noFill/>
          <a:ln w="31750">
            <a:solidFill>
              <a:schemeClr val="accent5"/>
            </a:solidFill>
            <a:prstDash val="solid"/>
          </a:ln>
        </p:spPr>
        <p:txBody>
          <a:bodyPr/>
          <a:lstStyle/>
          <a:p>
            <a:endParaRPr lang="it-IT" noProof="0" dirty="0"/>
          </a:p>
        </p:txBody>
      </p:sp>
      <p:sp>
        <p:nvSpPr>
          <p:cNvPr id="9" name="Text 6"/>
          <p:cNvSpPr txBox="1"/>
          <p:nvPr/>
        </p:nvSpPr>
        <p:spPr>
          <a:xfrm>
            <a:off x="4297680" y="2560320"/>
            <a:ext cx="1828800" cy="274320"/>
          </a:xfrm>
          <a:prstGeom prst="rect">
            <a:avLst/>
          </a:prstGeom>
          <a:noFill/>
          <a:ln/>
        </p:spPr>
        <p:txBody>
          <a:bodyPr wrap="square" lIns="0" tIns="0" rIns="0" bIns="0" rtlCol="0" anchor="t"/>
          <a:lstStyle/>
          <a:p>
            <a:pPr marL="0" indent="0" algn="ctr">
              <a:buNone/>
            </a:pPr>
            <a:r>
              <a:rPr lang="it-IT" sz="1200" b="1" noProof="0" dirty="0">
                <a:solidFill>
                  <a:schemeClr val="accent5"/>
                </a:solidFill>
              </a:rPr>
              <a:t>Data limite (cutoff)</a:t>
            </a:r>
            <a:endParaRPr lang="it-IT" sz="1200" noProof="0" dirty="0"/>
          </a:p>
        </p:txBody>
      </p:sp>
      <p:sp>
        <p:nvSpPr>
          <p:cNvPr id="10" name="Text 7"/>
          <p:cNvSpPr txBox="1"/>
          <p:nvPr/>
        </p:nvSpPr>
        <p:spPr>
          <a:xfrm>
            <a:off x="8046720" y="2560320"/>
            <a:ext cx="640080" cy="274320"/>
          </a:xfrm>
          <a:prstGeom prst="rect">
            <a:avLst/>
          </a:prstGeom>
          <a:noFill/>
          <a:ln/>
        </p:spPr>
        <p:txBody>
          <a:bodyPr wrap="square" lIns="0" tIns="0" rIns="0" bIns="0" rtlCol="0" anchor="t"/>
          <a:lstStyle/>
          <a:p>
            <a:pPr marL="0" indent="0" algn="r">
              <a:buNone/>
            </a:pPr>
            <a:r>
              <a:rPr lang="it-IT" sz="1200" b="1" noProof="0" dirty="0">
                <a:solidFill>
                  <a:schemeClr val="tx1"/>
                </a:solidFill>
              </a:rPr>
              <a:t>Oggi</a:t>
            </a:r>
            <a:endParaRPr lang="it-IT" sz="1200" noProof="0" dirty="0"/>
          </a:p>
        </p:txBody>
      </p:sp>
      <p:sp>
        <p:nvSpPr>
          <p:cNvPr id="11" name="Text 8"/>
          <p:cNvSpPr txBox="1"/>
          <p:nvPr/>
        </p:nvSpPr>
        <p:spPr>
          <a:xfrm>
            <a:off x="457200" y="3017520"/>
            <a:ext cx="8229600" cy="274320"/>
          </a:xfrm>
          <a:prstGeom prst="rect">
            <a:avLst/>
          </a:prstGeom>
          <a:noFill/>
          <a:ln/>
        </p:spPr>
        <p:txBody>
          <a:bodyPr wrap="square" lIns="0" tIns="0" rIns="0" bIns="0" rtlCol="0" anchor="t"/>
          <a:lstStyle/>
          <a:p>
            <a:pPr marL="0" indent="0">
              <a:buNone/>
            </a:pPr>
            <a:r>
              <a:rPr lang="it-IT" sz="1300" b="1" noProof="0" dirty="0">
                <a:solidFill>
                  <a:schemeClr val="tx1"/>
                </a:solidFill>
              </a:rPr>
              <a:t>Informazioni a rischio di essere superate</a:t>
            </a:r>
            <a:endParaRPr lang="it-IT" sz="1300" noProof="0" dirty="0"/>
          </a:p>
        </p:txBody>
      </p:sp>
      <p:sp>
        <p:nvSpPr>
          <p:cNvPr id="12" name="blocco Normative recenti"/>
          <p:cNvSpPr/>
          <p:nvPr/>
        </p:nvSpPr>
        <p:spPr>
          <a:xfrm>
            <a:off x="457200" y="3383280"/>
            <a:ext cx="1536192" cy="457200"/>
          </a:xfrm>
          <a:prstGeom prst="roundRect">
            <a:avLst>
              <a:gd name="adj" fmla="val 24000"/>
            </a:avLst>
          </a:prstGeom>
          <a:solidFill>
            <a:schemeClr val="bg1"/>
          </a:solidFill>
          <a:ln w="12700">
            <a:solidFill>
              <a:schemeClr val="accent3"/>
            </a:solidFill>
            <a:prstDash val="solid"/>
          </a:ln>
        </p:spPr>
        <p:txBody>
          <a:bodyPr/>
          <a:lstStyle/>
          <a:p>
            <a:endParaRPr lang="it-IT" noProof="0" dirty="0"/>
          </a:p>
        </p:txBody>
      </p:sp>
      <p:sp>
        <p:nvSpPr>
          <p:cNvPr id="13" name="Text 10"/>
          <p:cNvSpPr txBox="1"/>
          <p:nvPr/>
        </p:nvSpPr>
        <p:spPr>
          <a:xfrm>
            <a:off x="502920" y="3383280"/>
            <a:ext cx="1444752" cy="457200"/>
          </a:xfrm>
          <a:prstGeom prst="rect">
            <a:avLst/>
          </a:prstGeom>
          <a:noFill/>
          <a:ln/>
        </p:spPr>
        <p:txBody>
          <a:bodyPr wrap="square" lIns="0" tIns="0" rIns="0" bIns="0" rtlCol="0" anchor="ctr"/>
          <a:lstStyle/>
          <a:p>
            <a:pPr marL="0" indent="0" algn="ctr">
              <a:buNone/>
            </a:pPr>
            <a:r>
              <a:rPr lang="it-IT" sz="1200" b="1" noProof="0" dirty="0">
                <a:solidFill>
                  <a:schemeClr val="tx1"/>
                </a:solidFill>
              </a:rPr>
              <a:t>Normative recenti</a:t>
            </a:r>
            <a:endParaRPr lang="it-IT" sz="1200" noProof="0" dirty="0"/>
          </a:p>
        </p:txBody>
      </p:sp>
      <p:sp>
        <p:nvSpPr>
          <p:cNvPr id="14" name="blocco Prezzi e listini"/>
          <p:cNvSpPr/>
          <p:nvPr/>
        </p:nvSpPr>
        <p:spPr>
          <a:xfrm>
            <a:off x="2103120" y="3383280"/>
            <a:ext cx="1536192" cy="457200"/>
          </a:xfrm>
          <a:prstGeom prst="roundRect">
            <a:avLst>
              <a:gd name="adj" fmla="val 24000"/>
            </a:avLst>
          </a:prstGeom>
          <a:solidFill>
            <a:schemeClr val="bg1"/>
          </a:solidFill>
          <a:ln w="12700">
            <a:solidFill>
              <a:schemeClr val="accent3"/>
            </a:solidFill>
            <a:prstDash val="solid"/>
          </a:ln>
        </p:spPr>
        <p:txBody>
          <a:bodyPr/>
          <a:lstStyle/>
          <a:p>
            <a:endParaRPr lang="it-IT" noProof="0" dirty="0"/>
          </a:p>
        </p:txBody>
      </p:sp>
      <p:sp>
        <p:nvSpPr>
          <p:cNvPr id="15" name="Text 12"/>
          <p:cNvSpPr txBox="1"/>
          <p:nvPr/>
        </p:nvSpPr>
        <p:spPr>
          <a:xfrm>
            <a:off x="2148840" y="3383280"/>
            <a:ext cx="1444752" cy="457200"/>
          </a:xfrm>
          <a:prstGeom prst="rect">
            <a:avLst/>
          </a:prstGeom>
          <a:noFill/>
          <a:ln/>
        </p:spPr>
        <p:txBody>
          <a:bodyPr wrap="square" lIns="0" tIns="0" rIns="0" bIns="0" rtlCol="0" anchor="ctr"/>
          <a:lstStyle/>
          <a:p>
            <a:pPr marL="0" indent="0" algn="ctr">
              <a:buNone/>
            </a:pPr>
            <a:r>
              <a:rPr lang="it-IT" sz="1200" b="1" noProof="0" dirty="0">
                <a:solidFill>
                  <a:schemeClr val="tx1"/>
                </a:solidFill>
              </a:rPr>
              <a:t>Prezzi e listini</a:t>
            </a:r>
            <a:endParaRPr lang="it-IT" sz="1200" noProof="0" dirty="0"/>
          </a:p>
        </p:txBody>
      </p:sp>
      <p:sp>
        <p:nvSpPr>
          <p:cNvPr id="16" name="blocco Organigrammi"/>
          <p:cNvSpPr/>
          <p:nvPr/>
        </p:nvSpPr>
        <p:spPr>
          <a:xfrm>
            <a:off x="3749040" y="3383280"/>
            <a:ext cx="1536192" cy="457200"/>
          </a:xfrm>
          <a:prstGeom prst="roundRect">
            <a:avLst>
              <a:gd name="adj" fmla="val 24000"/>
            </a:avLst>
          </a:prstGeom>
          <a:solidFill>
            <a:schemeClr val="bg1"/>
          </a:solidFill>
          <a:ln w="12700">
            <a:solidFill>
              <a:schemeClr val="accent3"/>
            </a:solidFill>
            <a:prstDash val="solid"/>
          </a:ln>
        </p:spPr>
        <p:txBody>
          <a:bodyPr/>
          <a:lstStyle/>
          <a:p>
            <a:endParaRPr lang="it-IT" noProof="0" dirty="0"/>
          </a:p>
        </p:txBody>
      </p:sp>
      <p:sp>
        <p:nvSpPr>
          <p:cNvPr id="17" name="Text 14"/>
          <p:cNvSpPr txBox="1"/>
          <p:nvPr/>
        </p:nvSpPr>
        <p:spPr>
          <a:xfrm>
            <a:off x="3794760" y="3383280"/>
            <a:ext cx="1444752" cy="457200"/>
          </a:xfrm>
          <a:prstGeom prst="rect">
            <a:avLst/>
          </a:prstGeom>
          <a:noFill/>
          <a:ln/>
        </p:spPr>
        <p:txBody>
          <a:bodyPr wrap="square" lIns="0" tIns="0" rIns="0" bIns="0" rtlCol="0" anchor="ctr"/>
          <a:lstStyle/>
          <a:p>
            <a:pPr marL="0" indent="0" algn="ctr">
              <a:buNone/>
            </a:pPr>
            <a:r>
              <a:rPr lang="it-IT" sz="1200" b="1" noProof="0" dirty="0">
                <a:solidFill>
                  <a:schemeClr val="tx1"/>
                </a:solidFill>
              </a:rPr>
              <a:t>Organigrammi</a:t>
            </a:r>
            <a:endParaRPr lang="it-IT" sz="1200" noProof="0" dirty="0"/>
          </a:p>
        </p:txBody>
      </p:sp>
      <p:sp>
        <p:nvSpPr>
          <p:cNvPr id="18" name="blocco Versioni software"/>
          <p:cNvSpPr/>
          <p:nvPr/>
        </p:nvSpPr>
        <p:spPr>
          <a:xfrm>
            <a:off x="5394960" y="3383280"/>
            <a:ext cx="1536192" cy="457200"/>
          </a:xfrm>
          <a:prstGeom prst="roundRect">
            <a:avLst>
              <a:gd name="adj" fmla="val 24000"/>
            </a:avLst>
          </a:prstGeom>
          <a:solidFill>
            <a:schemeClr val="bg1"/>
          </a:solidFill>
          <a:ln w="12700">
            <a:solidFill>
              <a:schemeClr val="accent3"/>
            </a:solidFill>
            <a:prstDash val="solid"/>
          </a:ln>
        </p:spPr>
        <p:txBody>
          <a:bodyPr/>
          <a:lstStyle/>
          <a:p>
            <a:endParaRPr lang="it-IT" noProof="0" dirty="0"/>
          </a:p>
        </p:txBody>
      </p:sp>
      <p:sp>
        <p:nvSpPr>
          <p:cNvPr id="19" name="Text 16"/>
          <p:cNvSpPr txBox="1"/>
          <p:nvPr/>
        </p:nvSpPr>
        <p:spPr>
          <a:xfrm>
            <a:off x="5440680" y="3383280"/>
            <a:ext cx="1444752" cy="457200"/>
          </a:xfrm>
          <a:prstGeom prst="rect">
            <a:avLst/>
          </a:prstGeom>
          <a:noFill/>
          <a:ln/>
        </p:spPr>
        <p:txBody>
          <a:bodyPr wrap="square" lIns="0" tIns="0" rIns="0" bIns="0" rtlCol="0" anchor="ctr"/>
          <a:lstStyle/>
          <a:p>
            <a:pPr marL="0" indent="0" algn="ctr">
              <a:buNone/>
            </a:pPr>
            <a:r>
              <a:rPr lang="it-IT" sz="1200" b="1" noProof="0" dirty="0">
                <a:solidFill>
                  <a:schemeClr val="tx1"/>
                </a:solidFill>
              </a:rPr>
              <a:t>Versioni software</a:t>
            </a:r>
            <a:endParaRPr lang="it-IT" sz="1200" noProof="0" dirty="0"/>
          </a:p>
        </p:txBody>
      </p:sp>
      <p:sp>
        <p:nvSpPr>
          <p:cNvPr id="20" name="blocco Notizie e attualità"/>
          <p:cNvSpPr/>
          <p:nvPr/>
        </p:nvSpPr>
        <p:spPr>
          <a:xfrm>
            <a:off x="7040880" y="3383280"/>
            <a:ext cx="1536192" cy="457200"/>
          </a:xfrm>
          <a:prstGeom prst="roundRect">
            <a:avLst>
              <a:gd name="adj" fmla="val 24000"/>
            </a:avLst>
          </a:prstGeom>
          <a:solidFill>
            <a:schemeClr val="bg1"/>
          </a:solidFill>
          <a:ln w="12700">
            <a:solidFill>
              <a:schemeClr val="accent3"/>
            </a:solidFill>
            <a:prstDash val="solid"/>
          </a:ln>
        </p:spPr>
        <p:txBody>
          <a:bodyPr/>
          <a:lstStyle/>
          <a:p>
            <a:endParaRPr lang="it-IT" noProof="0" dirty="0"/>
          </a:p>
        </p:txBody>
      </p:sp>
      <p:sp>
        <p:nvSpPr>
          <p:cNvPr id="21" name="Text 18"/>
          <p:cNvSpPr txBox="1"/>
          <p:nvPr/>
        </p:nvSpPr>
        <p:spPr>
          <a:xfrm>
            <a:off x="7086600" y="3383280"/>
            <a:ext cx="1444752" cy="457200"/>
          </a:xfrm>
          <a:prstGeom prst="rect">
            <a:avLst/>
          </a:prstGeom>
          <a:noFill/>
          <a:ln/>
        </p:spPr>
        <p:txBody>
          <a:bodyPr wrap="square" lIns="0" tIns="0" rIns="0" bIns="0" rtlCol="0" anchor="ctr"/>
          <a:lstStyle/>
          <a:p>
            <a:pPr marL="0" indent="0" algn="ctr">
              <a:buNone/>
            </a:pPr>
            <a:r>
              <a:rPr lang="it-IT" sz="1200" b="1" noProof="0" dirty="0">
                <a:solidFill>
                  <a:schemeClr val="tx1"/>
                </a:solidFill>
              </a:rPr>
              <a:t>Notizie e attualità</a:t>
            </a:r>
            <a:endParaRPr lang="it-IT" sz="1200" noProof="0" dirty="0"/>
          </a:p>
        </p:txBody>
      </p:sp>
      <p:sp>
        <p:nvSpPr>
          <p:cNvPr id="22" name="Text 19"/>
          <p:cNvSpPr txBox="1"/>
          <p:nvPr/>
        </p:nvSpPr>
        <p:spPr>
          <a:xfrm>
            <a:off x="457200" y="4069080"/>
            <a:ext cx="8229600" cy="457200"/>
          </a:xfrm>
          <a:prstGeom prst="rect">
            <a:avLst/>
          </a:prstGeom>
          <a:noFill/>
          <a:ln/>
        </p:spPr>
        <p:txBody>
          <a:bodyPr wrap="square" lIns="0" tIns="0" rIns="0" bIns="0" rtlCol="0" anchor="t"/>
          <a:lstStyle/>
          <a:p>
            <a:pPr marL="0" indent="0">
              <a:buNone/>
            </a:pPr>
            <a:r>
              <a:rPr lang="it-IT" sz="1300" i="1" noProof="0" dirty="0">
                <a:solidFill>
                  <a:schemeClr val="tx1"/>
                </a:solidFill>
              </a:rPr>
              <a:t>Il modello non sempre segnala di non essere aggiornato: usare la ricerca o documenti recenti e verificare.</a:t>
            </a:r>
            <a:endParaRPr lang="it-IT" sz="13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noProof="0" smtClean="0"/>
              <a:t>56</a:t>
            </a:fld>
            <a:endParaRPr lang="it-IT" noProof="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Grounding: ancorare le risposte alle fonti</a:t>
            </a:r>
            <a:endParaRPr lang="it-IT" sz="2600" noProof="0" dirty="0"/>
          </a:p>
        </p:txBody>
      </p:sp>
      <p:sp>
        <p:nvSpPr>
          <p:cNvPr id="4" name="Procedura acquisti"/>
          <p:cNvSpPr/>
          <p:nvPr/>
        </p:nvSpPr>
        <p:spPr>
          <a:xfrm>
            <a:off x="457200" y="1143000"/>
            <a:ext cx="2194560" cy="658368"/>
          </a:xfrm>
          <a:prstGeom prst="roundRect">
            <a:avLst>
              <a:gd name="adj" fmla="val 11111"/>
            </a:avLst>
          </a:prstGeom>
          <a:solidFill>
            <a:schemeClr val="bg2"/>
          </a:solidFill>
          <a:ln/>
        </p:spPr>
        <p:txBody>
          <a:bodyPr/>
          <a:lstStyle/>
          <a:p>
            <a:endParaRPr lang="it-IT" noProof="0" dirty="0"/>
          </a:p>
        </p:txBody>
      </p:sp>
      <p:sp>
        <p:nvSpPr>
          <p:cNvPr id="5" name="cerchio FiFileText"/>
          <p:cNvSpPr/>
          <p:nvPr/>
        </p:nvSpPr>
        <p:spPr>
          <a:xfrm>
            <a:off x="594360" y="1261872"/>
            <a:ext cx="420624" cy="420624"/>
          </a:xfrm>
          <a:prstGeom prst="ellipse">
            <a:avLst/>
          </a:prstGeom>
          <a:solidFill>
            <a:schemeClr val="accent1"/>
          </a:solidFill>
          <a:ln/>
        </p:spPr>
        <p:txBody>
          <a:bodyPr/>
          <a:lstStyle/>
          <a:p>
            <a:endParaRPr lang="it-IT" noProof="0" dirty="0"/>
          </a:p>
        </p:txBody>
      </p:sp>
      <p:pic>
        <p:nvPicPr>
          <p:cNvPr id="6" name="Image 0" descr="FiFileText"/>
          <p:cNvPicPr>
            <a:picLocks noChangeAspect="1"/>
          </p:cNvPicPr>
          <p:nvPr/>
        </p:nvPicPr>
        <p:blipFill>
          <a:blip r:embed="rId3"/>
          <a:stretch>
            <a:fillRect/>
          </a:stretch>
        </p:blipFill>
        <p:spPr>
          <a:xfrm>
            <a:off x="699516" y="1367028"/>
            <a:ext cx="210312" cy="210312"/>
          </a:xfrm>
          <a:prstGeom prst="rect">
            <a:avLst/>
          </a:prstGeom>
        </p:spPr>
      </p:pic>
      <p:sp>
        <p:nvSpPr>
          <p:cNvPr id="7" name="Text 3"/>
          <p:cNvSpPr txBox="1"/>
          <p:nvPr/>
        </p:nvSpPr>
        <p:spPr>
          <a:xfrm>
            <a:off x="1097280" y="1143000"/>
            <a:ext cx="1508760" cy="658368"/>
          </a:xfrm>
          <a:prstGeom prst="rect">
            <a:avLst/>
          </a:prstGeom>
          <a:noFill/>
          <a:ln/>
        </p:spPr>
        <p:txBody>
          <a:bodyPr wrap="square" lIns="0" tIns="0" rIns="0" bIns="0" rtlCol="0" anchor="ctr"/>
          <a:lstStyle/>
          <a:p>
            <a:pPr marL="0" indent="0">
              <a:buNone/>
            </a:pPr>
            <a:r>
              <a:rPr lang="it-IT" sz="1200" b="1" noProof="0" dirty="0">
                <a:solidFill>
                  <a:schemeClr val="tx1"/>
                </a:solidFill>
              </a:rPr>
              <a:t>Procedura acquisti</a:t>
            </a:r>
            <a:endParaRPr lang="it-IT" sz="1200" noProof="0" dirty="0"/>
          </a:p>
        </p:txBody>
      </p:sp>
      <p:sp>
        <p:nvSpPr>
          <p:cNvPr id="8" name="collegamento fonte"/>
          <p:cNvSpPr/>
          <p:nvPr/>
        </p:nvSpPr>
        <p:spPr>
          <a:xfrm>
            <a:off x="2651760" y="1472184"/>
            <a:ext cx="822960" cy="630936"/>
          </a:xfrm>
          <a:prstGeom prst="line">
            <a:avLst/>
          </a:prstGeom>
          <a:noFill/>
          <a:ln w="19050">
            <a:solidFill>
              <a:schemeClr val="accent1"/>
            </a:solidFill>
            <a:prstDash val="solid"/>
          </a:ln>
        </p:spPr>
        <p:txBody>
          <a:bodyPr/>
          <a:lstStyle/>
          <a:p>
            <a:endParaRPr lang="it-IT" noProof="0" dirty="0"/>
          </a:p>
        </p:txBody>
      </p:sp>
      <p:sp>
        <p:nvSpPr>
          <p:cNvPr id="9" name="Listino 2026"/>
          <p:cNvSpPr/>
          <p:nvPr/>
        </p:nvSpPr>
        <p:spPr>
          <a:xfrm>
            <a:off x="457200" y="1965960"/>
            <a:ext cx="2194560" cy="658368"/>
          </a:xfrm>
          <a:prstGeom prst="roundRect">
            <a:avLst>
              <a:gd name="adj" fmla="val 11111"/>
            </a:avLst>
          </a:prstGeom>
          <a:solidFill>
            <a:schemeClr val="bg2"/>
          </a:solidFill>
          <a:ln/>
        </p:spPr>
        <p:txBody>
          <a:bodyPr/>
          <a:lstStyle/>
          <a:p>
            <a:endParaRPr lang="it-IT" noProof="0" dirty="0"/>
          </a:p>
        </p:txBody>
      </p:sp>
      <p:sp>
        <p:nvSpPr>
          <p:cNvPr id="10" name="cerchio FiFileText"/>
          <p:cNvSpPr/>
          <p:nvPr/>
        </p:nvSpPr>
        <p:spPr>
          <a:xfrm>
            <a:off x="594360" y="2084832"/>
            <a:ext cx="420624" cy="420624"/>
          </a:xfrm>
          <a:prstGeom prst="ellipse">
            <a:avLst/>
          </a:prstGeom>
          <a:solidFill>
            <a:schemeClr val="accent1"/>
          </a:solidFill>
          <a:ln/>
        </p:spPr>
        <p:txBody>
          <a:bodyPr/>
          <a:lstStyle/>
          <a:p>
            <a:endParaRPr lang="it-IT" noProof="0" dirty="0"/>
          </a:p>
        </p:txBody>
      </p:sp>
      <p:pic>
        <p:nvPicPr>
          <p:cNvPr id="11" name="Image 1" descr="FiFileText"/>
          <p:cNvPicPr>
            <a:picLocks noChangeAspect="1"/>
          </p:cNvPicPr>
          <p:nvPr/>
        </p:nvPicPr>
        <p:blipFill>
          <a:blip r:embed="rId3"/>
          <a:stretch>
            <a:fillRect/>
          </a:stretch>
        </p:blipFill>
        <p:spPr>
          <a:xfrm>
            <a:off x="699516" y="2189988"/>
            <a:ext cx="210312" cy="210312"/>
          </a:xfrm>
          <a:prstGeom prst="rect">
            <a:avLst/>
          </a:prstGeom>
        </p:spPr>
      </p:pic>
      <p:sp>
        <p:nvSpPr>
          <p:cNvPr id="12" name="Text 7"/>
          <p:cNvSpPr txBox="1"/>
          <p:nvPr/>
        </p:nvSpPr>
        <p:spPr>
          <a:xfrm>
            <a:off x="1097280" y="1965960"/>
            <a:ext cx="1508760" cy="658368"/>
          </a:xfrm>
          <a:prstGeom prst="rect">
            <a:avLst/>
          </a:prstGeom>
          <a:noFill/>
          <a:ln/>
        </p:spPr>
        <p:txBody>
          <a:bodyPr wrap="square" lIns="0" tIns="0" rIns="0" bIns="0" rtlCol="0" anchor="ctr"/>
          <a:lstStyle/>
          <a:p>
            <a:pPr marL="0" indent="0">
              <a:buNone/>
            </a:pPr>
            <a:r>
              <a:rPr lang="it-IT" sz="1200" b="1" noProof="0" dirty="0">
                <a:solidFill>
                  <a:schemeClr val="tx1"/>
                </a:solidFill>
              </a:rPr>
              <a:t>Listino 2026</a:t>
            </a:r>
            <a:endParaRPr lang="it-IT" sz="1200" noProof="0" dirty="0"/>
          </a:p>
        </p:txBody>
      </p:sp>
      <p:sp>
        <p:nvSpPr>
          <p:cNvPr id="13" name="collegamento fonte"/>
          <p:cNvSpPr/>
          <p:nvPr/>
        </p:nvSpPr>
        <p:spPr>
          <a:xfrm flipV="1">
            <a:off x="2651760" y="2103120"/>
            <a:ext cx="822960" cy="192024"/>
          </a:xfrm>
          <a:prstGeom prst="line">
            <a:avLst/>
          </a:prstGeom>
          <a:noFill/>
          <a:ln w="19050">
            <a:solidFill>
              <a:schemeClr val="accent1"/>
            </a:solidFill>
            <a:prstDash val="solid"/>
          </a:ln>
        </p:spPr>
        <p:txBody>
          <a:bodyPr/>
          <a:lstStyle/>
          <a:p>
            <a:endParaRPr lang="it-IT" noProof="0" dirty="0"/>
          </a:p>
        </p:txBody>
      </p:sp>
      <p:sp>
        <p:nvSpPr>
          <p:cNvPr id="14" name="Contratto quadro"/>
          <p:cNvSpPr/>
          <p:nvPr/>
        </p:nvSpPr>
        <p:spPr>
          <a:xfrm>
            <a:off x="457200" y="2788920"/>
            <a:ext cx="2194560" cy="658368"/>
          </a:xfrm>
          <a:prstGeom prst="roundRect">
            <a:avLst>
              <a:gd name="adj" fmla="val 11111"/>
            </a:avLst>
          </a:prstGeom>
          <a:solidFill>
            <a:schemeClr val="bg2"/>
          </a:solidFill>
          <a:ln/>
        </p:spPr>
        <p:txBody>
          <a:bodyPr/>
          <a:lstStyle/>
          <a:p>
            <a:endParaRPr lang="it-IT" noProof="0" dirty="0"/>
          </a:p>
        </p:txBody>
      </p:sp>
      <p:sp>
        <p:nvSpPr>
          <p:cNvPr id="15" name="cerchio FiFileText"/>
          <p:cNvSpPr/>
          <p:nvPr/>
        </p:nvSpPr>
        <p:spPr>
          <a:xfrm>
            <a:off x="594360" y="2907792"/>
            <a:ext cx="420624" cy="420624"/>
          </a:xfrm>
          <a:prstGeom prst="ellipse">
            <a:avLst/>
          </a:prstGeom>
          <a:solidFill>
            <a:schemeClr val="accent1"/>
          </a:solidFill>
          <a:ln/>
        </p:spPr>
        <p:txBody>
          <a:bodyPr/>
          <a:lstStyle/>
          <a:p>
            <a:endParaRPr lang="it-IT" noProof="0" dirty="0"/>
          </a:p>
        </p:txBody>
      </p:sp>
      <p:pic>
        <p:nvPicPr>
          <p:cNvPr id="16" name="Image 2" descr="FiFileText"/>
          <p:cNvPicPr>
            <a:picLocks noChangeAspect="1"/>
          </p:cNvPicPr>
          <p:nvPr/>
        </p:nvPicPr>
        <p:blipFill>
          <a:blip r:embed="rId3"/>
          <a:stretch>
            <a:fillRect/>
          </a:stretch>
        </p:blipFill>
        <p:spPr>
          <a:xfrm>
            <a:off x="699516" y="3012948"/>
            <a:ext cx="210312" cy="210312"/>
          </a:xfrm>
          <a:prstGeom prst="rect">
            <a:avLst/>
          </a:prstGeom>
        </p:spPr>
      </p:pic>
      <p:sp>
        <p:nvSpPr>
          <p:cNvPr id="17" name="Text 11"/>
          <p:cNvSpPr txBox="1"/>
          <p:nvPr/>
        </p:nvSpPr>
        <p:spPr>
          <a:xfrm>
            <a:off x="1097280" y="2788920"/>
            <a:ext cx="1508760" cy="658368"/>
          </a:xfrm>
          <a:prstGeom prst="rect">
            <a:avLst/>
          </a:prstGeom>
          <a:noFill/>
          <a:ln/>
        </p:spPr>
        <p:txBody>
          <a:bodyPr wrap="square" lIns="0" tIns="0" rIns="0" bIns="0" rtlCol="0" anchor="ctr"/>
          <a:lstStyle/>
          <a:p>
            <a:pPr marL="0" indent="0">
              <a:buNone/>
            </a:pPr>
            <a:r>
              <a:rPr lang="it-IT" sz="1200" b="1" noProof="0" dirty="0">
                <a:solidFill>
                  <a:schemeClr val="tx1"/>
                </a:solidFill>
              </a:rPr>
              <a:t>Contratto quadro</a:t>
            </a:r>
            <a:endParaRPr lang="it-IT" sz="1200" noProof="0" dirty="0"/>
          </a:p>
        </p:txBody>
      </p:sp>
      <p:sp>
        <p:nvSpPr>
          <p:cNvPr id="18" name="collegamento fonte"/>
          <p:cNvSpPr/>
          <p:nvPr/>
        </p:nvSpPr>
        <p:spPr>
          <a:xfrm flipV="1">
            <a:off x="2651760" y="2103120"/>
            <a:ext cx="822960" cy="1014984"/>
          </a:xfrm>
          <a:prstGeom prst="line">
            <a:avLst/>
          </a:prstGeom>
          <a:noFill/>
          <a:ln w="19050">
            <a:solidFill>
              <a:schemeClr val="accent1"/>
            </a:solidFill>
            <a:prstDash val="solid"/>
          </a:ln>
        </p:spPr>
        <p:txBody>
          <a:bodyPr/>
          <a:lstStyle/>
          <a:p>
            <a:endParaRPr lang="it-IT" noProof="0" dirty="0"/>
          </a:p>
        </p:txBody>
      </p:sp>
      <p:sp>
        <p:nvSpPr>
          <p:cNvPr id="19" name="risposta ancorata"/>
          <p:cNvSpPr/>
          <p:nvPr/>
        </p:nvSpPr>
        <p:spPr>
          <a:xfrm>
            <a:off x="3474720" y="1645920"/>
            <a:ext cx="1920240" cy="914400"/>
          </a:xfrm>
          <a:prstGeom prst="roundRect">
            <a:avLst>
              <a:gd name="adj" fmla="val 8000"/>
            </a:avLst>
          </a:prstGeom>
          <a:solidFill>
            <a:schemeClr val="accent1"/>
          </a:solidFill>
          <a:ln/>
        </p:spPr>
        <p:txBody>
          <a:bodyPr/>
          <a:lstStyle/>
          <a:p>
            <a:endParaRPr lang="it-IT" noProof="0" dirty="0"/>
          </a:p>
        </p:txBody>
      </p:sp>
      <p:sp>
        <p:nvSpPr>
          <p:cNvPr id="20" name="Text 14"/>
          <p:cNvSpPr txBox="1"/>
          <p:nvPr/>
        </p:nvSpPr>
        <p:spPr>
          <a:xfrm>
            <a:off x="3520440" y="1645920"/>
            <a:ext cx="1828800" cy="914400"/>
          </a:xfrm>
          <a:prstGeom prst="rect">
            <a:avLst/>
          </a:prstGeom>
          <a:noFill/>
          <a:ln/>
        </p:spPr>
        <p:txBody>
          <a:bodyPr wrap="square" lIns="0" tIns="0" rIns="0" bIns="0" rtlCol="0" anchor="ctr"/>
          <a:lstStyle/>
          <a:p>
            <a:pPr marL="0" indent="0" algn="ctr">
              <a:buNone/>
            </a:pPr>
            <a:r>
              <a:rPr lang="it-IT" sz="1300" b="1" noProof="0" dirty="0">
                <a:solidFill>
                  <a:schemeClr val="bg1"/>
                </a:solidFill>
              </a:rPr>
              <a:t>Risposta ancorata alle fonti</a:t>
            </a:r>
            <a:endParaRPr lang="it-IT" sz="1300" noProof="0" dirty="0"/>
          </a:p>
        </p:txBody>
      </p:sp>
      <p:sp>
        <p:nvSpPr>
          <p:cNvPr id="21" name="Text 15"/>
          <p:cNvSpPr txBox="1"/>
          <p:nvPr/>
        </p:nvSpPr>
        <p:spPr>
          <a:xfrm>
            <a:off x="3291840" y="2606040"/>
            <a:ext cx="2286000" cy="365760"/>
          </a:xfrm>
          <a:prstGeom prst="rect">
            <a:avLst/>
          </a:prstGeom>
          <a:noFill/>
          <a:ln/>
        </p:spPr>
        <p:txBody>
          <a:bodyPr wrap="square" lIns="0" tIns="0" rIns="0" bIns="0" rtlCol="0" anchor="t"/>
          <a:lstStyle/>
          <a:p>
            <a:pPr marL="0" indent="0" algn="ctr">
              <a:buNone/>
            </a:pPr>
            <a:r>
              <a:rPr lang="it-IT" sz="1100" i="1" noProof="0" dirty="0">
                <a:solidFill>
                  <a:schemeClr val="tx2"/>
                </a:solidFill>
              </a:rPr>
              <a:t>con riferimenti verificabili [1] [2] [3]</a:t>
            </a:r>
            <a:endParaRPr lang="it-IT" sz="1100" noProof="0" dirty="0"/>
          </a:p>
        </p:txBody>
      </p:sp>
      <p:sp>
        <p:nvSpPr>
          <p:cNvPr id="22" name="Text 16"/>
          <p:cNvSpPr txBox="1"/>
          <p:nvPr/>
        </p:nvSpPr>
        <p:spPr>
          <a:xfrm>
            <a:off x="5760720" y="1097280"/>
            <a:ext cx="2926080" cy="274320"/>
          </a:xfrm>
          <a:prstGeom prst="rect">
            <a:avLst/>
          </a:prstGeom>
          <a:noFill/>
          <a:ln/>
        </p:spPr>
        <p:txBody>
          <a:bodyPr wrap="square" lIns="0" tIns="0" rIns="0" bIns="0" rtlCol="0" anchor="t"/>
          <a:lstStyle/>
          <a:p>
            <a:pPr marL="0" indent="0">
              <a:buNone/>
            </a:pPr>
            <a:r>
              <a:rPr lang="it-IT" sz="1400" b="1" noProof="0" dirty="0">
                <a:solidFill>
                  <a:schemeClr val="tx1"/>
                </a:solidFill>
              </a:rPr>
              <a:t>Benefici</a:t>
            </a:r>
            <a:endParaRPr lang="it-IT" sz="1400" noProof="0" dirty="0"/>
          </a:p>
        </p:txBody>
      </p:sp>
      <p:sp>
        <p:nvSpPr>
          <p:cNvPr id="23" name="cerchio FiTarget"/>
          <p:cNvSpPr/>
          <p:nvPr/>
        </p:nvSpPr>
        <p:spPr>
          <a:xfrm>
            <a:off x="5760720" y="1463040"/>
            <a:ext cx="411480" cy="411480"/>
          </a:xfrm>
          <a:prstGeom prst="ellipse">
            <a:avLst/>
          </a:prstGeom>
          <a:solidFill>
            <a:schemeClr val="accent1"/>
          </a:solidFill>
          <a:ln/>
        </p:spPr>
        <p:txBody>
          <a:bodyPr/>
          <a:lstStyle/>
          <a:p>
            <a:endParaRPr lang="it-IT" noProof="0" dirty="0"/>
          </a:p>
        </p:txBody>
      </p:sp>
      <p:pic>
        <p:nvPicPr>
          <p:cNvPr id="24" name="Image 3" descr="FiTarget"/>
          <p:cNvPicPr>
            <a:picLocks noChangeAspect="1"/>
          </p:cNvPicPr>
          <p:nvPr/>
        </p:nvPicPr>
        <p:blipFill>
          <a:blip r:embed="rId4"/>
          <a:stretch>
            <a:fillRect/>
          </a:stretch>
        </p:blipFill>
        <p:spPr>
          <a:xfrm>
            <a:off x="5863590" y="1565910"/>
            <a:ext cx="205740" cy="205740"/>
          </a:xfrm>
          <a:prstGeom prst="rect">
            <a:avLst/>
          </a:prstGeom>
        </p:spPr>
      </p:pic>
      <p:sp>
        <p:nvSpPr>
          <p:cNvPr id="25" name="Text 18"/>
          <p:cNvSpPr txBox="1"/>
          <p:nvPr/>
        </p:nvSpPr>
        <p:spPr>
          <a:xfrm>
            <a:off x="6309360" y="1463040"/>
            <a:ext cx="2377440" cy="411480"/>
          </a:xfrm>
          <a:prstGeom prst="rect">
            <a:avLst/>
          </a:prstGeom>
          <a:noFill/>
          <a:ln/>
        </p:spPr>
        <p:txBody>
          <a:bodyPr wrap="square" lIns="0" tIns="0" rIns="0" bIns="0" rtlCol="0" anchor="ctr"/>
          <a:lstStyle/>
          <a:p>
            <a:pPr marL="0" indent="0">
              <a:buNone/>
            </a:pPr>
            <a:r>
              <a:rPr lang="it-IT" sz="1300" noProof="0" dirty="0">
                <a:solidFill>
                  <a:schemeClr val="tx1"/>
                </a:solidFill>
              </a:rPr>
              <a:t>Più precise e pertinenti</a:t>
            </a:r>
            <a:endParaRPr lang="it-IT" sz="1300" noProof="0" dirty="0"/>
          </a:p>
        </p:txBody>
      </p:sp>
      <p:sp>
        <p:nvSpPr>
          <p:cNvPr id="26" name="cerchio FiClock"/>
          <p:cNvSpPr/>
          <p:nvPr/>
        </p:nvSpPr>
        <p:spPr>
          <a:xfrm>
            <a:off x="5760720" y="2057400"/>
            <a:ext cx="411480" cy="411480"/>
          </a:xfrm>
          <a:prstGeom prst="ellipse">
            <a:avLst/>
          </a:prstGeom>
          <a:solidFill>
            <a:schemeClr val="accent1"/>
          </a:solidFill>
          <a:ln/>
        </p:spPr>
        <p:txBody>
          <a:bodyPr/>
          <a:lstStyle/>
          <a:p>
            <a:endParaRPr lang="it-IT" noProof="0" dirty="0"/>
          </a:p>
        </p:txBody>
      </p:sp>
      <p:pic>
        <p:nvPicPr>
          <p:cNvPr id="27" name="Image 4" descr="FiClock"/>
          <p:cNvPicPr>
            <a:picLocks noChangeAspect="1"/>
          </p:cNvPicPr>
          <p:nvPr/>
        </p:nvPicPr>
        <p:blipFill>
          <a:blip r:embed="rId5"/>
          <a:stretch>
            <a:fillRect/>
          </a:stretch>
        </p:blipFill>
        <p:spPr>
          <a:xfrm>
            <a:off x="5863590" y="2160270"/>
            <a:ext cx="205740" cy="205740"/>
          </a:xfrm>
          <a:prstGeom prst="rect">
            <a:avLst/>
          </a:prstGeom>
        </p:spPr>
      </p:pic>
      <p:sp>
        <p:nvSpPr>
          <p:cNvPr id="28" name="Text 20"/>
          <p:cNvSpPr txBox="1"/>
          <p:nvPr/>
        </p:nvSpPr>
        <p:spPr>
          <a:xfrm>
            <a:off x="6309360" y="2057400"/>
            <a:ext cx="2377440" cy="411480"/>
          </a:xfrm>
          <a:prstGeom prst="rect">
            <a:avLst/>
          </a:prstGeom>
          <a:noFill/>
          <a:ln/>
        </p:spPr>
        <p:txBody>
          <a:bodyPr wrap="square" lIns="0" tIns="0" rIns="0" bIns="0" rtlCol="0" anchor="ctr"/>
          <a:lstStyle/>
          <a:p>
            <a:pPr marL="0" indent="0">
              <a:buNone/>
            </a:pPr>
            <a:r>
              <a:rPr lang="it-IT" sz="1300" noProof="0" dirty="0">
                <a:solidFill>
                  <a:schemeClr val="tx1"/>
                </a:solidFill>
              </a:rPr>
              <a:t>Più aggiornate del modello</a:t>
            </a:r>
            <a:endParaRPr lang="it-IT" sz="1300" noProof="0" dirty="0"/>
          </a:p>
        </p:txBody>
      </p:sp>
      <p:sp>
        <p:nvSpPr>
          <p:cNvPr id="29" name="cerchio FiCheckSquare"/>
          <p:cNvSpPr/>
          <p:nvPr/>
        </p:nvSpPr>
        <p:spPr>
          <a:xfrm>
            <a:off x="5760720" y="2651760"/>
            <a:ext cx="411480" cy="411480"/>
          </a:xfrm>
          <a:prstGeom prst="ellipse">
            <a:avLst/>
          </a:prstGeom>
          <a:solidFill>
            <a:schemeClr val="accent1"/>
          </a:solidFill>
          <a:ln/>
        </p:spPr>
        <p:txBody>
          <a:bodyPr/>
          <a:lstStyle/>
          <a:p>
            <a:endParaRPr lang="it-IT" noProof="0" dirty="0"/>
          </a:p>
        </p:txBody>
      </p:sp>
      <p:pic>
        <p:nvPicPr>
          <p:cNvPr id="30" name="Image 5" descr="FiCheckSquare"/>
          <p:cNvPicPr>
            <a:picLocks noChangeAspect="1"/>
          </p:cNvPicPr>
          <p:nvPr/>
        </p:nvPicPr>
        <p:blipFill>
          <a:blip r:embed="rId6"/>
          <a:stretch>
            <a:fillRect/>
          </a:stretch>
        </p:blipFill>
        <p:spPr>
          <a:xfrm>
            <a:off x="5863590" y="2754630"/>
            <a:ext cx="205740" cy="205740"/>
          </a:xfrm>
          <a:prstGeom prst="rect">
            <a:avLst/>
          </a:prstGeom>
        </p:spPr>
      </p:pic>
      <p:sp>
        <p:nvSpPr>
          <p:cNvPr id="31" name="Text 22"/>
          <p:cNvSpPr txBox="1"/>
          <p:nvPr/>
        </p:nvSpPr>
        <p:spPr>
          <a:xfrm>
            <a:off x="6309360" y="2651760"/>
            <a:ext cx="2377440" cy="411480"/>
          </a:xfrm>
          <a:prstGeom prst="rect">
            <a:avLst/>
          </a:prstGeom>
          <a:noFill/>
          <a:ln/>
        </p:spPr>
        <p:txBody>
          <a:bodyPr wrap="square" lIns="0" tIns="0" rIns="0" bIns="0" rtlCol="0" anchor="ctr"/>
          <a:lstStyle/>
          <a:p>
            <a:pPr marL="0" indent="0">
              <a:buNone/>
            </a:pPr>
            <a:r>
              <a:rPr lang="it-IT" sz="1300" noProof="0" dirty="0">
                <a:solidFill>
                  <a:schemeClr val="tx1"/>
                </a:solidFill>
              </a:rPr>
              <a:t>Verificabili tramite le fonti</a:t>
            </a:r>
            <a:endParaRPr lang="it-IT" sz="1300" noProof="0" dirty="0"/>
          </a:p>
        </p:txBody>
      </p:sp>
      <p:sp>
        <p:nvSpPr>
          <p:cNvPr id="32" name="limite grounding"/>
          <p:cNvSpPr/>
          <p:nvPr/>
        </p:nvSpPr>
        <p:spPr>
          <a:xfrm>
            <a:off x="457200" y="3703320"/>
            <a:ext cx="8229600" cy="822960"/>
          </a:xfrm>
          <a:prstGeom prst="roundRect">
            <a:avLst>
              <a:gd name="adj" fmla="val 8889"/>
            </a:avLst>
          </a:prstGeom>
          <a:solidFill>
            <a:schemeClr val="tx1"/>
          </a:solidFill>
          <a:ln/>
        </p:spPr>
        <p:txBody>
          <a:bodyPr/>
          <a:lstStyle/>
          <a:p>
            <a:endParaRPr lang="it-IT" noProof="0" dirty="0"/>
          </a:p>
        </p:txBody>
      </p:sp>
      <p:sp>
        <p:nvSpPr>
          <p:cNvPr id="33" name="cerchio FiAlertTriangle"/>
          <p:cNvSpPr/>
          <p:nvPr/>
        </p:nvSpPr>
        <p:spPr>
          <a:xfrm>
            <a:off x="640080" y="3858768"/>
            <a:ext cx="512064" cy="512064"/>
          </a:xfrm>
          <a:prstGeom prst="ellipse">
            <a:avLst/>
          </a:prstGeom>
          <a:solidFill>
            <a:schemeClr val="accent5"/>
          </a:solidFill>
          <a:ln/>
        </p:spPr>
        <p:txBody>
          <a:bodyPr/>
          <a:lstStyle/>
          <a:p>
            <a:endParaRPr lang="it-IT" noProof="0" dirty="0"/>
          </a:p>
        </p:txBody>
      </p:sp>
      <p:pic>
        <p:nvPicPr>
          <p:cNvPr id="34" name="Image 6" descr="FiAlertTriangle"/>
          <p:cNvPicPr>
            <a:picLocks noChangeAspect="1"/>
          </p:cNvPicPr>
          <p:nvPr/>
        </p:nvPicPr>
        <p:blipFill>
          <a:blip r:embed="rId7"/>
          <a:stretch>
            <a:fillRect/>
          </a:stretch>
        </p:blipFill>
        <p:spPr>
          <a:xfrm>
            <a:off x="768096" y="3986784"/>
            <a:ext cx="256032" cy="256032"/>
          </a:xfrm>
          <a:prstGeom prst="rect">
            <a:avLst/>
          </a:prstGeom>
        </p:spPr>
      </p:pic>
      <p:sp>
        <p:nvSpPr>
          <p:cNvPr id="35" name="Text 25"/>
          <p:cNvSpPr txBox="1"/>
          <p:nvPr/>
        </p:nvSpPr>
        <p:spPr>
          <a:xfrm>
            <a:off x="1325880" y="3703320"/>
            <a:ext cx="7223760" cy="822960"/>
          </a:xfrm>
          <a:prstGeom prst="rect">
            <a:avLst/>
          </a:prstGeom>
          <a:noFill/>
          <a:ln/>
        </p:spPr>
        <p:txBody>
          <a:bodyPr wrap="square" lIns="0" tIns="0" rIns="0" bIns="0" rtlCol="0" anchor="ctr"/>
          <a:lstStyle/>
          <a:p>
            <a:pPr marL="0" indent="0">
              <a:buNone/>
            </a:pPr>
            <a:r>
              <a:rPr lang="it-IT" sz="1300" noProof="0" dirty="0">
                <a:solidFill>
                  <a:schemeClr val="bg1"/>
                </a:solidFill>
              </a:rPr>
              <a:t>L'utilizzo di fonti pertinenti e verificabili può migliorare precisione, aggiornamento e tracciabilità delle risposte. La qualità delle fonti e la correttezza del loro utilizzo restano elementi da verificare.</a:t>
            </a:r>
            <a:endParaRPr lang="it-IT" sz="1300" noProof="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noProof="0" smtClean="0"/>
              <a:t>57</a:t>
            </a:fld>
            <a:endParaRPr lang="it-IT" noProof="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Introduzione alla </a:t>
            </a:r>
            <a:r>
              <a:rPr lang="it-IT" sz="2600" b="1" noProof="0" dirty="0" err="1">
                <a:solidFill>
                  <a:schemeClr val="tx1"/>
                </a:solidFill>
              </a:rPr>
              <a:t>Retrieval-Augmented</a:t>
            </a:r>
            <a:r>
              <a:rPr lang="it-IT" sz="2600" b="1" noProof="0" dirty="0">
                <a:solidFill>
                  <a:schemeClr val="tx1"/>
                </a:solidFill>
              </a:rPr>
              <a:t> Generation</a:t>
            </a:r>
            <a:endParaRPr lang="it-IT" sz="2600" noProof="0" dirty="0"/>
          </a:p>
        </p:txBody>
      </p:sp>
      <p:sp>
        <p:nvSpPr>
          <p:cNvPr id="4" name="Domanda"/>
          <p:cNvSpPr/>
          <p:nvPr/>
        </p:nvSpPr>
        <p:spPr>
          <a:xfrm>
            <a:off x="457200" y="1143000"/>
            <a:ext cx="1874520" cy="1783080"/>
          </a:xfrm>
          <a:prstGeom prst="roundRect">
            <a:avLst>
              <a:gd name="adj" fmla="val 4103"/>
            </a:avLst>
          </a:prstGeom>
          <a:solidFill>
            <a:schemeClr val="bg2"/>
          </a:solidFill>
          <a:ln/>
        </p:spPr>
        <p:txBody>
          <a:bodyPr/>
          <a:lstStyle/>
          <a:p>
            <a:endParaRPr lang="it-IT" noProof="0" dirty="0"/>
          </a:p>
        </p:txBody>
      </p:sp>
      <p:sp>
        <p:nvSpPr>
          <p:cNvPr id="5" name="cerchio FiHelpCircle"/>
          <p:cNvSpPr/>
          <p:nvPr/>
        </p:nvSpPr>
        <p:spPr>
          <a:xfrm>
            <a:off x="1115568" y="1280160"/>
            <a:ext cx="548640" cy="548640"/>
          </a:xfrm>
          <a:prstGeom prst="ellipse">
            <a:avLst/>
          </a:prstGeom>
          <a:solidFill>
            <a:schemeClr val="accent1"/>
          </a:solidFill>
          <a:ln/>
        </p:spPr>
        <p:txBody>
          <a:bodyPr/>
          <a:lstStyle/>
          <a:p>
            <a:endParaRPr lang="it-IT" noProof="0" dirty="0"/>
          </a:p>
        </p:txBody>
      </p:sp>
      <p:pic>
        <p:nvPicPr>
          <p:cNvPr id="6" name="Image 0" descr="FiHelpCircle"/>
          <p:cNvPicPr>
            <a:picLocks noChangeAspect="1"/>
          </p:cNvPicPr>
          <p:nvPr/>
        </p:nvPicPr>
        <p:blipFill>
          <a:blip r:embed="rId3"/>
          <a:stretch>
            <a:fillRect/>
          </a:stretch>
        </p:blipFill>
        <p:spPr>
          <a:xfrm>
            <a:off x="1252728" y="1417320"/>
            <a:ext cx="274320" cy="274320"/>
          </a:xfrm>
          <a:prstGeom prst="rect">
            <a:avLst/>
          </a:prstGeom>
        </p:spPr>
      </p:pic>
      <p:sp>
        <p:nvSpPr>
          <p:cNvPr id="7" name="Text 3"/>
          <p:cNvSpPr txBox="1"/>
          <p:nvPr/>
        </p:nvSpPr>
        <p:spPr>
          <a:xfrm>
            <a:off x="548640" y="1901952"/>
            <a:ext cx="1691640" cy="347472"/>
          </a:xfrm>
          <a:prstGeom prst="rect">
            <a:avLst/>
          </a:prstGeom>
          <a:noFill/>
          <a:ln/>
        </p:spPr>
        <p:txBody>
          <a:bodyPr wrap="square" lIns="0" tIns="0" rIns="0" bIns="0" rtlCol="0" anchor="t"/>
          <a:lstStyle/>
          <a:p>
            <a:pPr marL="0" indent="0" algn="ctr">
              <a:buNone/>
            </a:pPr>
            <a:r>
              <a:rPr lang="it-IT" sz="1500" b="1" noProof="0" dirty="0">
                <a:solidFill>
                  <a:schemeClr val="tx1"/>
                </a:solidFill>
              </a:rPr>
              <a:t>1. Domanda</a:t>
            </a:r>
            <a:endParaRPr lang="it-IT" sz="1500" noProof="0" dirty="0"/>
          </a:p>
        </p:txBody>
      </p:sp>
      <p:sp>
        <p:nvSpPr>
          <p:cNvPr id="8" name="Text 4"/>
          <p:cNvSpPr txBox="1"/>
          <p:nvPr/>
        </p:nvSpPr>
        <p:spPr>
          <a:xfrm>
            <a:off x="594360" y="2267712"/>
            <a:ext cx="1600200" cy="594360"/>
          </a:xfrm>
          <a:prstGeom prst="rect">
            <a:avLst/>
          </a:prstGeom>
          <a:noFill/>
          <a:ln/>
        </p:spPr>
        <p:txBody>
          <a:bodyPr wrap="square" lIns="0" tIns="0" rIns="0" bIns="0" rtlCol="0" anchor="t"/>
          <a:lstStyle/>
          <a:p>
            <a:pPr marL="0" indent="0" algn="ctr">
              <a:buNone/>
            </a:pPr>
            <a:r>
              <a:rPr lang="it-IT" sz="1200" noProof="0" dirty="0">
                <a:solidFill>
                  <a:schemeClr val="tx2"/>
                </a:solidFill>
              </a:rPr>
              <a:t>L'utente chiede</a:t>
            </a:r>
            <a:endParaRPr lang="it-IT" sz="1200" noProof="0" dirty="0"/>
          </a:p>
        </p:txBody>
      </p:sp>
      <p:sp>
        <p:nvSpPr>
          <p:cNvPr id="9" name="freccia"/>
          <p:cNvSpPr/>
          <p:nvPr/>
        </p:nvSpPr>
        <p:spPr>
          <a:xfrm>
            <a:off x="2350008" y="1901952"/>
            <a:ext cx="219456" cy="292608"/>
          </a:xfrm>
          <a:prstGeom prst="rightArrow">
            <a:avLst/>
          </a:prstGeom>
          <a:solidFill>
            <a:schemeClr val="accent2"/>
          </a:solidFill>
          <a:ln/>
        </p:spPr>
        <p:txBody>
          <a:bodyPr/>
          <a:lstStyle/>
          <a:p>
            <a:endParaRPr lang="it-IT" noProof="0" dirty="0"/>
          </a:p>
        </p:txBody>
      </p:sp>
      <p:sp>
        <p:nvSpPr>
          <p:cNvPr id="10" name="Recupero"/>
          <p:cNvSpPr/>
          <p:nvPr/>
        </p:nvSpPr>
        <p:spPr>
          <a:xfrm>
            <a:off x="2587752" y="1143000"/>
            <a:ext cx="1874520" cy="1783080"/>
          </a:xfrm>
          <a:prstGeom prst="roundRect">
            <a:avLst>
              <a:gd name="adj" fmla="val 4103"/>
            </a:avLst>
          </a:prstGeom>
          <a:solidFill>
            <a:schemeClr val="bg2"/>
          </a:solidFill>
          <a:ln/>
        </p:spPr>
        <p:txBody>
          <a:bodyPr/>
          <a:lstStyle/>
          <a:p>
            <a:endParaRPr lang="it-IT" noProof="0" dirty="0"/>
          </a:p>
        </p:txBody>
      </p:sp>
      <p:sp>
        <p:nvSpPr>
          <p:cNvPr id="11" name="cerchio FiSearch"/>
          <p:cNvSpPr/>
          <p:nvPr/>
        </p:nvSpPr>
        <p:spPr>
          <a:xfrm>
            <a:off x="3246120" y="1280160"/>
            <a:ext cx="548640" cy="548640"/>
          </a:xfrm>
          <a:prstGeom prst="ellipse">
            <a:avLst/>
          </a:prstGeom>
          <a:solidFill>
            <a:schemeClr val="accent1"/>
          </a:solidFill>
          <a:ln/>
        </p:spPr>
        <p:txBody>
          <a:bodyPr/>
          <a:lstStyle/>
          <a:p>
            <a:endParaRPr lang="it-IT" noProof="0" dirty="0"/>
          </a:p>
        </p:txBody>
      </p:sp>
      <p:pic>
        <p:nvPicPr>
          <p:cNvPr id="12" name="Image 1" descr="FiSearch"/>
          <p:cNvPicPr>
            <a:picLocks noChangeAspect="1"/>
          </p:cNvPicPr>
          <p:nvPr/>
        </p:nvPicPr>
        <p:blipFill>
          <a:blip r:embed="rId4"/>
          <a:stretch>
            <a:fillRect/>
          </a:stretch>
        </p:blipFill>
        <p:spPr>
          <a:xfrm>
            <a:off x="3383280" y="1417320"/>
            <a:ext cx="274320" cy="274320"/>
          </a:xfrm>
          <a:prstGeom prst="rect">
            <a:avLst/>
          </a:prstGeom>
        </p:spPr>
      </p:pic>
      <p:sp>
        <p:nvSpPr>
          <p:cNvPr id="13" name="Text 8"/>
          <p:cNvSpPr txBox="1"/>
          <p:nvPr/>
        </p:nvSpPr>
        <p:spPr>
          <a:xfrm>
            <a:off x="2679192" y="1901952"/>
            <a:ext cx="1691640" cy="347472"/>
          </a:xfrm>
          <a:prstGeom prst="rect">
            <a:avLst/>
          </a:prstGeom>
          <a:noFill/>
          <a:ln/>
        </p:spPr>
        <p:txBody>
          <a:bodyPr wrap="square" lIns="0" tIns="0" rIns="0" bIns="0" rtlCol="0" anchor="t"/>
          <a:lstStyle/>
          <a:p>
            <a:pPr marL="0" indent="0" algn="ctr">
              <a:buNone/>
            </a:pPr>
            <a:r>
              <a:rPr lang="it-IT" sz="1500" b="1" noProof="0" dirty="0">
                <a:solidFill>
                  <a:schemeClr val="tx1"/>
                </a:solidFill>
              </a:rPr>
              <a:t>2. Recupero</a:t>
            </a:r>
            <a:endParaRPr lang="it-IT" sz="1500" noProof="0" dirty="0"/>
          </a:p>
        </p:txBody>
      </p:sp>
      <p:sp>
        <p:nvSpPr>
          <p:cNvPr id="14" name="Text 9"/>
          <p:cNvSpPr txBox="1"/>
          <p:nvPr/>
        </p:nvSpPr>
        <p:spPr>
          <a:xfrm>
            <a:off x="2724912" y="2267712"/>
            <a:ext cx="1600200" cy="594360"/>
          </a:xfrm>
          <a:prstGeom prst="rect">
            <a:avLst/>
          </a:prstGeom>
          <a:noFill/>
          <a:ln/>
        </p:spPr>
        <p:txBody>
          <a:bodyPr wrap="square" lIns="0" tIns="0" rIns="0" bIns="0" rtlCol="0" anchor="t"/>
          <a:lstStyle/>
          <a:p>
            <a:pPr marL="0" indent="0" algn="ctr">
              <a:buNone/>
            </a:pPr>
            <a:r>
              <a:rPr lang="it-IT" sz="1200" noProof="0" dirty="0">
                <a:solidFill>
                  <a:schemeClr val="tx2"/>
                </a:solidFill>
              </a:rPr>
              <a:t>Si cercano i passaggi pertinenti</a:t>
            </a:r>
            <a:endParaRPr lang="it-IT" sz="1200" noProof="0" dirty="0"/>
          </a:p>
        </p:txBody>
      </p:sp>
      <p:sp>
        <p:nvSpPr>
          <p:cNvPr id="15" name="freccia"/>
          <p:cNvSpPr/>
          <p:nvPr/>
        </p:nvSpPr>
        <p:spPr>
          <a:xfrm>
            <a:off x="4480560" y="1901952"/>
            <a:ext cx="219456" cy="292608"/>
          </a:xfrm>
          <a:prstGeom prst="rightArrow">
            <a:avLst/>
          </a:prstGeom>
          <a:solidFill>
            <a:schemeClr val="accent2"/>
          </a:solidFill>
          <a:ln/>
        </p:spPr>
        <p:txBody>
          <a:bodyPr/>
          <a:lstStyle/>
          <a:p>
            <a:endParaRPr lang="it-IT" noProof="0" dirty="0"/>
          </a:p>
        </p:txBody>
      </p:sp>
      <p:sp>
        <p:nvSpPr>
          <p:cNvPr id="16" name="Aumento"/>
          <p:cNvSpPr/>
          <p:nvPr/>
        </p:nvSpPr>
        <p:spPr>
          <a:xfrm>
            <a:off x="4718304" y="1143000"/>
            <a:ext cx="1874520" cy="1783080"/>
          </a:xfrm>
          <a:prstGeom prst="roundRect">
            <a:avLst>
              <a:gd name="adj" fmla="val 4103"/>
            </a:avLst>
          </a:prstGeom>
          <a:solidFill>
            <a:schemeClr val="bg2"/>
          </a:solidFill>
          <a:ln/>
        </p:spPr>
        <p:txBody>
          <a:bodyPr/>
          <a:lstStyle/>
          <a:p>
            <a:endParaRPr lang="it-IT" noProof="0" dirty="0"/>
          </a:p>
        </p:txBody>
      </p:sp>
      <p:sp>
        <p:nvSpPr>
          <p:cNvPr id="17" name="cerchio FiPlusSquare"/>
          <p:cNvSpPr/>
          <p:nvPr/>
        </p:nvSpPr>
        <p:spPr>
          <a:xfrm>
            <a:off x="5376672" y="1280160"/>
            <a:ext cx="548640" cy="548640"/>
          </a:xfrm>
          <a:prstGeom prst="ellipse">
            <a:avLst/>
          </a:prstGeom>
          <a:solidFill>
            <a:schemeClr val="accent1"/>
          </a:solidFill>
          <a:ln/>
        </p:spPr>
        <p:txBody>
          <a:bodyPr/>
          <a:lstStyle/>
          <a:p>
            <a:endParaRPr lang="it-IT" noProof="0" dirty="0"/>
          </a:p>
        </p:txBody>
      </p:sp>
      <p:pic>
        <p:nvPicPr>
          <p:cNvPr id="18" name="Image 2" descr="FiPlusSquare"/>
          <p:cNvPicPr>
            <a:picLocks noChangeAspect="1"/>
          </p:cNvPicPr>
          <p:nvPr/>
        </p:nvPicPr>
        <p:blipFill>
          <a:blip r:embed="rId5"/>
          <a:stretch>
            <a:fillRect/>
          </a:stretch>
        </p:blipFill>
        <p:spPr>
          <a:xfrm>
            <a:off x="5513832" y="1417320"/>
            <a:ext cx="274320" cy="274320"/>
          </a:xfrm>
          <a:prstGeom prst="rect">
            <a:avLst/>
          </a:prstGeom>
        </p:spPr>
      </p:pic>
      <p:sp>
        <p:nvSpPr>
          <p:cNvPr id="19" name="Text 13"/>
          <p:cNvSpPr txBox="1"/>
          <p:nvPr/>
        </p:nvSpPr>
        <p:spPr>
          <a:xfrm>
            <a:off x="4809744" y="1901952"/>
            <a:ext cx="1691640" cy="347472"/>
          </a:xfrm>
          <a:prstGeom prst="rect">
            <a:avLst/>
          </a:prstGeom>
          <a:noFill/>
          <a:ln/>
        </p:spPr>
        <p:txBody>
          <a:bodyPr wrap="square" lIns="0" tIns="0" rIns="0" bIns="0" rtlCol="0" anchor="t"/>
          <a:lstStyle/>
          <a:p>
            <a:pPr marL="0" indent="0" algn="ctr">
              <a:buNone/>
            </a:pPr>
            <a:r>
              <a:rPr lang="it-IT" sz="1500" b="1" noProof="0" dirty="0">
                <a:solidFill>
                  <a:schemeClr val="tx1"/>
                </a:solidFill>
              </a:rPr>
              <a:t>3. Aumento</a:t>
            </a:r>
            <a:endParaRPr lang="it-IT" sz="1500" noProof="0" dirty="0"/>
          </a:p>
        </p:txBody>
      </p:sp>
      <p:sp>
        <p:nvSpPr>
          <p:cNvPr id="20" name="Text 14"/>
          <p:cNvSpPr txBox="1"/>
          <p:nvPr/>
        </p:nvSpPr>
        <p:spPr>
          <a:xfrm>
            <a:off x="4855464" y="2267712"/>
            <a:ext cx="1600200" cy="594360"/>
          </a:xfrm>
          <a:prstGeom prst="rect">
            <a:avLst/>
          </a:prstGeom>
          <a:noFill/>
          <a:ln/>
        </p:spPr>
        <p:txBody>
          <a:bodyPr wrap="square" lIns="0" tIns="0" rIns="0" bIns="0" rtlCol="0" anchor="t"/>
          <a:lstStyle/>
          <a:p>
            <a:pPr marL="0" indent="0" algn="ctr">
              <a:buNone/>
            </a:pPr>
            <a:r>
              <a:rPr lang="it-IT" sz="1200" noProof="0" dirty="0">
                <a:solidFill>
                  <a:schemeClr val="tx2"/>
                </a:solidFill>
              </a:rPr>
              <a:t>I passaggi entrano nel contesto</a:t>
            </a:r>
            <a:endParaRPr lang="it-IT" sz="1200" noProof="0" dirty="0"/>
          </a:p>
        </p:txBody>
      </p:sp>
      <p:sp>
        <p:nvSpPr>
          <p:cNvPr id="21" name="freccia"/>
          <p:cNvSpPr/>
          <p:nvPr/>
        </p:nvSpPr>
        <p:spPr>
          <a:xfrm>
            <a:off x="6611112" y="1901952"/>
            <a:ext cx="219456" cy="292608"/>
          </a:xfrm>
          <a:prstGeom prst="rightArrow">
            <a:avLst/>
          </a:prstGeom>
          <a:solidFill>
            <a:schemeClr val="accent2"/>
          </a:solidFill>
          <a:ln/>
        </p:spPr>
        <p:txBody>
          <a:bodyPr/>
          <a:lstStyle/>
          <a:p>
            <a:endParaRPr lang="it-IT" noProof="0" dirty="0"/>
          </a:p>
        </p:txBody>
      </p:sp>
      <p:sp>
        <p:nvSpPr>
          <p:cNvPr id="22" name="Generazione"/>
          <p:cNvSpPr/>
          <p:nvPr/>
        </p:nvSpPr>
        <p:spPr>
          <a:xfrm>
            <a:off x="6848856" y="1143000"/>
            <a:ext cx="1874520" cy="1783080"/>
          </a:xfrm>
          <a:prstGeom prst="roundRect">
            <a:avLst>
              <a:gd name="adj" fmla="val 4103"/>
            </a:avLst>
          </a:prstGeom>
          <a:solidFill>
            <a:schemeClr val="accent6"/>
          </a:solidFill>
          <a:ln/>
        </p:spPr>
        <p:txBody>
          <a:bodyPr/>
          <a:lstStyle/>
          <a:p>
            <a:endParaRPr lang="it-IT" noProof="0" dirty="0"/>
          </a:p>
        </p:txBody>
      </p:sp>
      <p:sp>
        <p:nvSpPr>
          <p:cNvPr id="23" name="cerchio FiMessageSquare"/>
          <p:cNvSpPr/>
          <p:nvPr/>
        </p:nvSpPr>
        <p:spPr>
          <a:xfrm>
            <a:off x="7507224" y="1280160"/>
            <a:ext cx="548640" cy="548640"/>
          </a:xfrm>
          <a:prstGeom prst="ellipse">
            <a:avLst/>
          </a:prstGeom>
          <a:solidFill>
            <a:schemeClr val="accent1"/>
          </a:solidFill>
          <a:ln/>
        </p:spPr>
        <p:txBody>
          <a:bodyPr/>
          <a:lstStyle/>
          <a:p>
            <a:endParaRPr lang="it-IT" noProof="0" dirty="0"/>
          </a:p>
        </p:txBody>
      </p:sp>
      <p:pic>
        <p:nvPicPr>
          <p:cNvPr id="24" name="Image 3" descr="FiMessageSquare"/>
          <p:cNvPicPr>
            <a:picLocks noChangeAspect="1"/>
          </p:cNvPicPr>
          <p:nvPr/>
        </p:nvPicPr>
        <p:blipFill>
          <a:blip r:embed="rId6"/>
          <a:stretch>
            <a:fillRect/>
          </a:stretch>
        </p:blipFill>
        <p:spPr>
          <a:xfrm>
            <a:off x="7644384" y="1417320"/>
            <a:ext cx="274320" cy="274320"/>
          </a:xfrm>
          <a:prstGeom prst="rect">
            <a:avLst/>
          </a:prstGeom>
        </p:spPr>
      </p:pic>
      <p:sp>
        <p:nvSpPr>
          <p:cNvPr id="25" name="Text 18"/>
          <p:cNvSpPr txBox="1"/>
          <p:nvPr/>
        </p:nvSpPr>
        <p:spPr>
          <a:xfrm>
            <a:off x="6940296" y="1901952"/>
            <a:ext cx="1691640" cy="347472"/>
          </a:xfrm>
          <a:prstGeom prst="rect">
            <a:avLst/>
          </a:prstGeom>
          <a:noFill/>
          <a:ln/>
        </p:spPr>
        <p:txBody>
          <a:bodyPr wrap="square" lIns="0" tIns="0" rIns="0" bIns="0" rtlCol="0" anchor="t"/>
          <a:lstStyle/>
          <a:p>
            <a:pPr marL="0" indent="0" algn="ctr">
              <a:buNone/>
            </a:pPr>
            <a:r>
              <a:rPr lang="it-IT" sz="1500" b="1" noProof="0" dirty="0">
                <a:solidFill>
                  <a:schemeClr val="tx1"/>
                </a:solidFill>
              </a:rPr>
              <a:t>4. Generazione</a:t>
            </a:r>
            <a:endParaRPr lang="it-IT" sz="1500" noProof="0" dirty="0"/>
          </a:p>
        </p:txBody>
      </p:sp>
      <p:sp>
        <p:nvSpPr>
          <p:cNvPr id="26" name="Text 19"/>
          <p:cNvSpPr txBox="1"/>
          <p:nvPr/>
        </p:nvSpPr>
        <p:spPr>
          <a:xfrm>
            <a:off x="6986016" y="2267712"/>
            <a:ext cx="1600200" cy="594360"/>
          </a:xfrm>
          <a:prstGeom prst="rect">
            <a:avLst/>
          </a:prstGeom>
          <a:noFill/>
          <a:ln/>
        </p:spPr>
        <p:txBody>
          <a:bodyPr wrap="square" lIns="0" tIns="0" rIns="0" bIns="0" rtlCol="0" anchor="t"/>
          <a:lstStyle/>
          <a:p>
            <a:pPr marL="0" indent="0" algn="ctr">
              <a:buNone/>
            </a:pPr>
            <a:r>
              <a:rPr lang="it-IT" sz="1200" noProof="0" dirty="0">
                <a:solidFill>
                  <a:schemeClr val="tx2"/>
                </a:solidFill>
              </a:rPr>
              <a:t>Il modello risponde citando le fonti</a:t>
            </a:r>
            <a:endParaRPr lang="it-IT" sz="1200" noProof="0" dirty="0"/>
          </a:p>
        </p:txBody>
      </p:sp>
      <p:sp>
        <p:nvSpPr>
          <p:cNvPr id="27" name="base documentale"/>
          <p:cNvSpPr/>
          <p:nvPr/>
        </p:nvSpPr>
        <p:spPr>
          <a:xfrm>
            <a:off x="2587752" y="3108960"/>
            <a:ext cx="1874520" cy="685800"/>
          </a:xfrm>
          <a:prstGeom prst="roundRect">
            <a:avLst>
              <a:gd name="adj" fmla="val 10667"/>
            </a:avLst>
          </a:prstGeom>
          <a:solidFill>
            <a:schemeClr val="tx1"/>
          </a:solidFill>
          <a:ln/>
        </p:spPr>
        <p:txBody>
          <a:bodyPr/>
          <a:lstStyle/>
          <a:p>
            <a:endParaRPr lang="it-IT" noProof="0" dirty="0"/>
          </a:p>
        </p:txBody>
      </p:sp>
      <p:sp>
        <p:nvSpPr>
          <p:cNvPr id="28" name="Text 21"/>
          <p:cNvSpPr txBox="1"/>
          <p:nvPr/>
        </p:nvSpPr>
        <p:spPr>
          <a:xfrm>
            <a:off x="2606040" y="3108960"/>
            <a:ext cx="1828800" cy="685800"/>
          </a:xfrm>
          <a:prstGeom prst="rect">
            <a:avLst/>
          </a:prstGeom>
          <a:noFill/>
          <a:ln/>
        </p:spPr>
        <p:txBody>
          <a:bodyPr wrap="square" lIns="0" tIns="0" rIns="0" bIns="0" rtlCol="0" anchor="ctr"/>
          <a:lstStyle/>
          <a:p>
            <a:pPr marL="0" indent="0" algn="ctr">
              <a:buNone/>
            </a:pPr>
            <a:r>
              <a:rPr lang="it-IT" sz="1300" b="1" noProof="0" dirty="0">
                <a:solidFill>
                  <a:schemeClr val="bg1"/>
                </a:solidFill>
              </a:rPr>
              <a:t>Base documentale</a:t>
            </a:r>
            <a:endParaRPr lang="it-IT" sz="1300" noProof="0" dirty="0"/>
          </a:p>
        </p:txBody>
      </p:sp>
      <p:sp>
        <p:nvSpPr>
          <p:cNvPr id="29" name="freccia su"/>
          <p:cNvSpPr/>
          <p:nvPr/>
        </p:nvSpPr>
        <p:spPr>
          <a:xfrm>
            <a:off x="3383280" y="2926080"/>
            <a:ext cx="320040" cy="182880"/>
          </a:xfrm>
          <a:prstGeom prst="upArrow">
            <a:avLst/>
          </a:prstGeom>
          <a:solidFill>
            <a:schemeClr val="accent2"/>
          </a:solidFill>
          <a:ln/>
        </p:spPr>
        <p:txBody>
          <a:bodyPr/>
          <a:lstStyle/>
          <a:p>
            <a:endParaRPr lang="it-IT" noProof="0" dirty="0"/>
          </a:p>
        </p:txBody>
      </p:sp>
      <p:sp>
        <p:nvSpPr>
          <p:cNvPr id="30" name="blocco Il modello non viene riaddestrato"/>
          <p:cNvSpPr/>
          <p:nvPr/>
        </p:nvSpPr>
        <p:spPr>
          <a:xfrm>
            <a:off x="457200" y="3977640"/>
            <a:ext cx="2615184" cy="548640"/>
          </a:xfrm>
          <a:prstGeom prst="roundRect">
            <a:avLst>
              <a:gd name="adj" fmla="val 20000"/>
            </a:avLst>
          </a:prstGeom>
          <a:solidFill>
            <a:schemeClr val="accent6"/>
          </a:solidFill>
          <a:ln/>
        </p:spPr>
        <p:txBody>
          <a:bodyPr/>
          <a:lstStyle/>
          <a:p>
            <a:endParaRPr lang="it-IT" noProof="0" dirty="0"/>
          </a:p>
        </p:txBody>
      </p:sp>
      <p:sp>
        <p:nvSpPr>
          <p:cNvPr id="31" name="Text 24"/>
          <p:cNvSpPr txBox="1"/>
          <p:nvPr/>
        </p:nvSpPr>
        <p:spPr>
          <a:xfrm>
            <a:off x="502920" y="3977640"/>
            <a:ext cx="2523744" cy="548640"/>
          </a:xfrm>
          <a:prstGeom prst="rect">
            <a:avLst/>
          </a:prstGeom>
          <a:noFill/>
          <a:ln/>
        </p:spPr>
        <p:txBody>
          <a:bodyPr wrap="square" lIns="0" tIns="0" rIns="0" bIns="0" rtlCol="0" anchor="ctr"/>
          <a:lstStyle/>
          <a:p>
            <a:pPr marL="0" indent="0" algn="ctr">
              <a:buNone/>
            </a:pPr>
            <a:r>
              <a:rPr lang="it-IT" sz="1200" b="1" noProof="0" dirty="0">
                <a:solidFill>
                  <a:schemeClr val="tx1"/>
                </a:solidFill>
              </a:rPr>
              <a:t>Il modello non viene riaddestrato</a:t>
            </a:r>
            <a:endParaRPr lang="it-IT" sz="1200" noProof="0" dirty="0"/>
          </a:p>
        </p:txBody>
      </p:sp>
      <p:sp>
        <p:nvSpPr>
          <p:cNvPr id="32" name="blocco I documenti si aggiornano in qualsiasi momento"/>
          <p:cNvSpPr/>
          <p:nvPr/>
        </p:nvSpPr>
        <p:spPr>
          <a:xfrm>
            <a:off x="3264408" y="3977640"/>
            <a:ext cx="2615184" cy="548640"/>
          </a:xfrm>
          <a:prstGeom prst="roundRect">
            <a:avLst>
              <a:gd name="adj" fmla="val 20000"/>
            </a:avLst>
          </a:prstGeom>
          <a:solidFill>
            <a:schemeClr val="accent6"/>
          </a:solidFill>
          <a:ln/>
        </p:spPr>
        <p:txBody>
          <a:bodyPr/>
          <a:lstStyle/>
          <a:p>
            <a:endParaRPr lang="it-IT" noProof="0" dirty="0"/>
          </a:p>
        </p:txBody>
      </p:sp>
      <p:sp>
        <p:nvSpPr>
          <p:cNvPr id="33" name="Text 26"/>
          <p:cNvSpPr txBox="1"/>
          <p:nvPr/>
        </p:nvSpPr>
        <p:spPr>
          <a:xfrm>
            <a:off x="3310128" y="3977640"/>
            <a:ext cx="2523744" cy="548640"/>
          </a:xfrm>
          <a:prstGeom prst="rect">
            <a:avLst/>
          </a:prstGeom>
          <a:noFill/>
          <a:ln/>
        </p:spPr>
        <p:txBody>
          <a:bodyPr wrap="square" lIns="0" tIns="0" rIns="0" bIns="0" rtlCol="0" anchor="ctr"/>
          <a:lstStyle/>
          <a:p>
            <a:pPr marL="0" indent="0" algn="ctr">
              <a:buNone/>
            </a:pPr>
            <a:r>
              <a:rPr lang="it-IT" sz="1200" b="1" noProof="0" dirty="0">
                <a:solidFill>
                  <a:schemeClr val="tx1"/>
                </a:solidFill>
              </a:rPr>
              <a:t>I documenti si aggiornano in qualsiasi momento</a:t>
            </a:r>
            <a:endParaRPr lang="it-IT" sz="1200" noProof="0" dirty="0"/>
          </a:p>
        </p:txBody>
      </p:sp>
      <p:sp>
        <p:nvSpPr>
          <p:cNvPr id="34" name="blocco L'accesso può seguire i permessi degli utenti"/>
          <p:cNvSpPr/>
          <p:nvPr/>
        </p:nvSpPr>
        <p:spPr>
          <a:xfrm>
            <a:off x="6071616" y="3977640"/>
            <a:ext cx="2615184" cy="548640"/>
          </a:xfrm>
          <a:prstGeom prst="roundRect">
            <a:avLst>
              <a:gd name="adj" fmla="val 20000"/>
            </a:avLst>
          </a:prstGeom>
          <a:solidFill>
            <a:schemeClr val="accent6"/>
          </a:solidFill>
          <a:ln/>
        </p:spPr>
        <p:txBody>
          <a:bodyPr/>
          <a:lstStyle/>
          <a:p>
            <a:endParaRPr lang="it-IT" noProof="0" dirty="0"/>
          </a:p>
        </p:txBody>
      </p:sp>
      <p:sp>
        <p:nvSpPr>
          <p:cNvPr id="35" name="Text 28"/>
          <p:cNvSpPr txBox="1"/>
          <p:nvPr/>
        </p:nvSpPr>
        <p:spPr>
          <a:xfrm>
            <a:off x="6117336" y="3977640"/>
            <a:ext cx="2523744" cy="548640"/>
          </a:xfrm>
          <a:prstGeom prst="rect">
            <a:avLst/>
          </a:prstGeom>
          <a:noFill/>
          <a:ln/>
        </p:spPr>
        <p:txBody>
          <a:bodyPr wrap="square" lIns="0" tIns="0" rIns="0" bIns="0" rtlCol="0" anchor="ctr"/>
          <a:lstStyle/>
          <a:p>
            <a:pPr marL="0" indent="0" algn="ctr">
              <a:buNone/>
            </a:pPr>
            <a:r>
              <a:rPr lang="it-IT" sz="1200" b="1" noProof="0" dirty="0">
                <a:solidFill>
                  <a:schemeClr val="tx1"/>
                </a:solidFill>
              </a:rPr>
              <a:t>L'accesso può seguire i permessi degli utenti</a:t>
            </a:r>
            <a:endParaRPr lang="it-IT" sz="1200" noProof="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noProof="0" smtClean="0"/>
              <a:t>58</a:t>
            </a:fld>
            <a:endParaRPr lang="it-IT" noProof="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Adattare un sistema AI a un contesto specifico</a:t>
            </a:r>
            <a:endParaRPr lang="it-IT" sz="2600" noProof="0" dirty="0"/>
          </a:p>
        </p:txBody>
      </p:sp>
      <p:graphicFrame>
        <p:nvGraphicFramePr>
          <p:cNvPr id="55" name="Table 0"/>
          <p:cNvGraphicFramePr>
            <a:graphicFrameLocks noGrp="1"/>
          </p:cNvGraphicFramePr>
          <p:nvPr/>
        </p:nvGraphicFramePr>
        <p:xfrm>
          <a:off x="457200" y="1097280"/>
          <a:ext cx="8229600" cy="2834640"/>
        </p:xfrm>
        <a:graphic>
          <a:graphicData uri="http://schemas.openxmlformats.org/drawingml/2006/table">
            <a:tbl>
              <a:tblPr/>
              <a:tblGrid>
                <a:gridCol w="20116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566928">
                <a:tc>
                  <a:txBody>
                    <a:bodyPr/>
                    <a:lstStyle/>
                    <a:p>
                      <a:pPr marL="0" indent="0">
                        <a:buNone/>
                      </a:pPr>
                      <a:r>
                        <a:rPr lang="it-IT" sz="1300" b="1" noProof="0" dirty="0">
                          <a:solidFill>
                            <a:schemeClr val="bg1"/>
                          </a:solidFill>
                        </a:rPr>
                        <a:t>Modalità</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it-IT" sz="1300" b="1" noProof="0" dirty="0">
                          <a:solidFill>
                            <a:schemeClr val="bg1"/>
                          </a:solidFill>
                        </a:rPr>
                        <a:t>Che cosa fa</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it-IT" sz="1300" b="1" noProof="0" dirty="0">
                          <a:solidFill>
                            <a:schemeClr val="bg1"/>
                          </a:solidFill>
                        </a:rPr>
                        <a:t>Modifica il modello?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marL="0" indent="0">
                        <a:buNone/>
                      </a:pPr>
                      <a:r>
                        <a:rPr lang="it-IT" sz="1300" b="1" noProof="0" dirty="0">
                          <a:solidFill>
                            <a:schemeClr val="bg1"/>
                          </a:solidFill>
                        </a:rPr>
                        <a:t>Quando è utile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66928">
                <a:tc>
                  <a:txBody>
                    <a:bodyPr/>
                    <a:lstStyle/>
                    <a:p>
                      <a:pPr marL="0" indent="0">
                        <a:buNone/>
                      </a:pPr>
                      <a:r>
                        <a:rPr lang="it-IT" sz="1300" b="1" noProof="0" dirty="0">
                          <a:solidFill>
                            <a:schemeClr val="tx1"/>
                          </a:solidFill>
                        </a:rPr>
                        <a:t>Istruzioni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Indica ruolo, tono, formato, regole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No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300" noProof="0" dirty="0">
                          <a:solidFill>
                            <a:schemeClr val="tx1"/>
                          </a:solidFill>
                        </a:rPr>
                        <a:t>Orientare il comportamento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66928">
                <a:tc>
                  <a:txBody>
                    <a:bodyPr/>
                    <a:lstStyle/>
                    <a:p>
                      <a:pPr marL="0" indent="0">
                        <a:buNone/>
                      </a:pPr>
                      <a:r>
                        <a:rPr lang="it-IT" sz="1300" b="1" noProof="0" dirty="0">
                          <a:solidFill>
                            <a:schemeClr val="tx1"/>
                          </a:solidFill>
                        </a:rPr>
                        <a:t>Documenti nel contesto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Fornisce i materiali nella conversazione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No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300" noProof="0" dirty="0">
                          <a:solidFill>
                            <a:schemeClr val="tx1"/>
                          </a:solidFill>
                        </a:rPr>
                        <a:t>Contenuti specifici e limitati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66928">
                <a:tc>
                  <a:txBody>
                    <a:bodyPr/>
                    <a:lstStyle/>
                    <a:p>
                      <a:pPr marL="0" indent="0">
                        <a:buNone/>
                      </a:pPr>
                      <a:r>
                        <a:rPr lang="it-IT" sz="1300" b="1" noProof="0" dirty="0">
                          <a:solidFill>
                            <a:schemeClr val="tx1"/>
                          </a:solidFill>
                        </a:rPr>
                        <a:t>Recupero da basi informative (RAG)</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Cerca i passaggi pertinenti in molti documenti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No</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300" noProof="0" dirty="0">
                          <a:solidFill>
                            <a:schemeClr val="tx1"/>
                          </a:solidFill>
                        </a:rPr>
                        <a:t>Molti documenti, aggiornati spesso, con permessi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66928">
                <a:tc>
                  <a:txBody>
                    <a:bodyPr/>
                    <a:lstStyle/>
                    <a:p>
                      <a:pPr marL="0" indent="0">
                        <a:buNone/>
                      </a:pPr>
                      <a:r>
                        <a:rPr lang="it-IT" sz="1300" b="1" noProof="0" dirty="0">
                          <a:solidFill>
                            <a:schemeClr val="tx1"/>
                          </a:solidFill>
                        </a:rPr>
                        <a:t>Fine-tuning</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it-IT" sz="1300" noProof="0" dirty="0">
                          <a:solidFill>
                            <a:schemeClr val="tx1"/>
                          </a:solidFill>
                        </a:rPr>
                        <a:t>Addestramento aggiuntivo su esempi specifici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buNone/>
                      </a:pPr>
                      <a:r>
                        <a:rPr lang="it-IT" sz="1300" noProof="0" dirty="0">
                          <a:solidFill>
                            <a:schemeClr val="tx1"/>
                          </a:solidFill>
                        </a:rPr>
                        <a:t>Sì, in parte</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it-IT" sz="1300" noProof="0" dirty="0">
                          <a:solidFill>
                            <a:schemeClr val="tx1"/>
                          </a:solidFill>
                        </a:rPr>
                        <a:t>Stile, formato, comportamenti ricorrenti</a:t>
                      </a:r>
                      <a:endParaRPr lang="it-IT" sz="1300" noProof="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5" name="Text 1"/>
          <p:cNvSpPr txBox="1"/>
          <p:nvPr/>
        </p:nvSpPr>
        <p:spPr>
          <a:xfrm>
            <a:off x="457200" y="4251960"/>
            <a:ext cx="8229600" cy="320040"/>
          </a:xfrm>
          <a:prstGeom prst="rect">
            <a:avLst/>
          </a:prstGeom>
          <a:noFill/>
          <a:ln/>
        </p:spPr>
        <p:txBody>
          <a:bodyPr wrap="square" lIns="0" tIns="0" rIns="0" bIns="0" rtlCol="0" anchor="t"/>
          <a:lstStyle/>
          <a:p>
            <a:pPr marL="0" indent="0">
              <a:buNone/>
            </a:pPr>
            <a:r>
              <a:rPr lang="it-IT" sz="1300" i="1" noProof="0" dirty="0">
                <a:solidFill>
                  <a:schemeClr val="tx1"/>
                </a:solidFill>
              </a:rPr>
              <a:t>La maggior parte delle esigenze aziendali si risolve con le prime tre modalità, spesso combinate.</a:t>
            </a:r>
            <a:endParaRPr lang="it-IT" sz="13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noProof="0" smtClean="0"/>
              <a:t>59</a:t>
            </a:fld>
            <a:endParaRPr lang="it-IT" noProof="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noProof="0" dirty="0">
                <a:solidFill>
                  <a:schemeClr val="tx1"/>
                </a:solidFill>
              </a:rPr>
              <a:t>Tre equivoci frequenti</a:t>
            </a:r>
            <a:endParaRPr lang="it-IT" sz="2600" noProof="0" dirty="0"/>
          </a:p>
        </p:txBody>
      </p:sp>
      <p:sp>
        <p:nvSpPr>
          <p:cNvPr id="4" name="equivoco 1"/>
          <p:cNvSpPr/>
          <p:nvPr/>
        </p:nvSpPr>
        <p:spPr>
          <a:xfrm>
            <a:off x="457200" y="1097280"/>
            <a:ext cx="3657600" cy="1005840"/>
          </a:xfrm>
          <a:prstGeom prst="roundRect">
            <a:avLst>
              <a:gd name="adj" fmla="val 7273"/>
            </a:avLst>
          </a:prstGeom>
          <a:solidFill>
            <a:schemeClr val="bg2"/>
          </a:solidFill>
          <a:ln/>
        </p:spPr>
        <p:txBody>
          <a:bodyPr/>
          <a:lstStyle/>
          <a:p>
            <a:endParaRPr lang="it-IT" noProof="0" dirty="0"/>
          </a:p>
        </p:txBody>
      </p:sp>
      <p:sp>
        <p:nvSpPr>
          <p:cNvPr id="5" name="Text 2"/>
          <p:cNvSpPr txBox="1"/>
          <p:nvPr/>
        </p:nvSpPr>
        <p:spPr>
          <a:xfrm>
            <a:off x="640080" y="1097280"/>
            <a:ext cx="3337560" cy="1005840"/>
          </a:xfrm>
          <a:prstGeom prst="rect">
            <a:avLst/>
          </a:prstGeom>
          <a:noFill/>
          <a:ln/>
        </p:spPr>
        <p:txBody>
          <a:bodyPr wrap="square" lIns="0" tIns="0" rIns="0" bIns="0" rtlCol="0" anchor="ctr"/>
          <a:lstStyle/>
          <a:p>
            <a:pPr marL="0" indent="0">
              <a:buNone/>
            </a:pPr>
            <a:r>
              <a:rPr lang="it-IT" sz="1300" b="1" noProof="0" dirty="0">
                <a:solidFill>
                  <a:schemeClr val="accent5"/>
                </a:solidFill>
              </a:rPr>
              <a:t>Equivoco: </a:t>
            </a:r>
            <a:r>
              <a:rPr lang="it-IT" sz="1300" noProof="0" dirty="0">
                <a:solidFill>
                  <a:schemeClr val="tx1"/>
                </a:solidFill>
              </a:rPr>
              <a:t>Se carico un documento, il modello lo impara</a:t>
            </a:r>
            <a:endParaRPr lang="it-IT" sz="1300" noProof="0" dirty="0"/>
          </a:p>
        </p:txBody>
      </p:sp>
      <p:sp>
        <p:nvSpPr>
          <p:cNvPr id="6" name="freccia"/>
          <p:cNvSpPr/>
          <p:nvPr/>
        </p:nvSpPr>
        <p:spPr>
          <a:xfrm>
            <a:off x="4206240" y="1453896"/>
            <a:ext cx="320040" cy="292608"/>
          </a:xfrm>
          <a:prstGeom prst="rightArrow">
            <a:avLst/>
          </a:prstGeom>
          <a:solidFill>
            <a:schemeClr val="accent1"/>
          </a:solidFill>
          <a:ln/>
        </p:spPr>
        <p:txBody>
          <a:bodyPr/>
          <a:lstStyle/>
          <a:p>
            <a:endParaRPr lang="it-IT" noProof="0" dirty="0"/>
          </a:p>
        </p:txBody>
      </p:sp>
      <p:sp>
        <p:nvSpPr>
          <p:cNvPr id="7" name="realtà 1"/>
          <p:cNvSpPr/>
          <p:nvPr/>
        </p:nvSpPr>
        <p:spPr>
          <a:xfrm>
            <a:off x="4617720" y="1097280"/>
            <a:ext cx="4069080" cy="1005840"/>
          </a:xfrm>
          <a:prstGeom prst="roundRect">
            <a:avLst>
              <a:gd name="adj" fmla="val 7273"/>
            </a:avLst>
          </a:prstGeom>
          <a:solidFill>
            <a:schemeClr val="accent6"/>
          </a:solidFill>
          <a:ln/>
        </p:spPr>
        <p:txBody>
          <a:bodyPr/>
          <a:lstStyle/>
          <a:p>
            <a:endParaRPr lang="it-IT" noProof="0" dirty="0"/>
          </a:p>
        </p:txBody>
      </p:sp>
      <p:sp>
        <p:nvSpPr>
          <p:cNvPr id="8" name="Text 5"/>
          <p:cNvSpPr txBox="1"/>
          <p:nvPr/>
        </p:nvSpPr>
        <p:spPr>
          <a:xfrm>
            <a:off x="4800600" y="1097280"/>
            <a:ext cx="3749040" cy="1005840"/>
          </a:xfrm>
          <a:prstGeom prst="rect">
            <a:avLst/>
          </a:prstGeom>
          <a:noFill/>
          <a:ln/>
        </p:spPr>
        <p:txBody>
          <a:bodyPr wrap="square" lIns="0" tIns="0" rIns="0" bIns="0" rtlCol="0" anchor="ctr"/>
          <a:lstStyle/>
          <a:p>
            <a:pPr marL="0" indent="0">
              <a:buNone/>
            </a:pPr>
            <a:r>
              <a:rPr lang="it-IT" sz="1200" noProof="0" dirty="0">
                <a:solidFill>
                  <a:schemeClr val="tx1"/>
                </a:solidFill>
              </a:rPr>
              <a:t>Il documento entra nel contesto temporaneo: il modello lo usa, ma i parametri non cambiano</a:t>
            </a:r>
            <a:endParaRPr lang="it-IT" sz="1200" noProof="0" dirty="0"/>
          </a:p>
        </p:txBody>
      </p:sp>
      <p:sp>
        <p:nvSpPr>
          <p:cNvPr id="9" name="equivoco 2"/>
          <p:cNvSpPr/>
          <p:nvPr/>
        </p:nvSpPr>
        <p:spPr>
          <a:xfrm>
            <a:off x="457200" y="2240280"/>
            <a:ext cx="3657600" cy="1005840"/>
          </a:xfrm>
          <a:prstGeom prst="roundRect">
            <a:avLst>
              <a:gd name="adj" fmla="val 7273"/>
            </a:avLst>
          </a:prstGeom>
          <a:solidFill>
            <a:schemeClr val="bg2"/>
          </a:solidFill>
          <a:ln/>
        </p:spPr>
        <p:txBody>
          <a:bodyPr/>
          <a:lstStyle/>
          <a:p>
            <a:endParaRPr lang="it-IT" noProof="0" dirty="0"/>
          </a:p>
        </p:txBody>
      </p:sp>
      <p:sp>
        <p:nvSpPr>
          <p:cNvPr id="10" name="Text 7"/>
          <p:cNvSpPr txBox="1"/>
          <p:nvPr/>
        </p:nvSpPr>
        <p:spPr>
          <a:xfrm>
            <a:off x="640080" y="2240280"/>
            <a:ext cx="3337560" cy="1005840"/>
          </a:xfrm>
          <a:prstGeom prst="rect">
            <a:avLst/>
          </a:prstGeom>
          <a:noFill/>
          <a:ln/>
        </p:spPr>
        <p:txBody>
          <a:bodyPr wrap="square" lIns="0" tIns="0" rIns="0" bIns="0" rtlCol="0" anchor="ctr"/>
          <a:lstStyle/>
          <a:p>
            <a:pPr marL="0" indent="0">
              <a:buNone/>
            </a:pPr>
            <a:r>
              <a:rPr lang="it-IT" sz="1300" b="1" noProof="0" dirty="0">
                <a:solidFill>
                  <a:schemeClr val="accent5"/>
                </a:solidFill>
              </a:rPr>
              <a:t>Equivoco: </a:t>
            </a:r>
            <a:r>
              <a:rPr lang="it-IT" sz="1300" noProof="0" dirty="0">
                <a:solidFill>
                  <a:schemeClr val="tx1"/>
                </a:solidFill>
              </a:rPr>
              <a:t>Se collego i documenti aziendali, il modello si addestra sui nostri dati</a:t>
            </a:r>
            <a:endParaRPr lang="it-IT" sz="1300" noProof="0" dirty="0"/>
          </a:p>
        </p:txBody>
      </p:sp>
      <p:sp>
        <p:nvSpPr>
          <p:cNvPr id="11" name="freccia"/>
          <p:cNvSpPr/>
          <p:nvPr/>
        </p:nvSpPr>
        <p:spPr>
          <a:xfrm>
            <a:off x="4206240" y="2596896"/>
            <a:ext cx="320040" cy="292608"/>
          </a:xfrm>
          <a:prstGeom prst="rightArrow">
            <a:avLst/>
          </a:prstGeom>
          <a:solidFill>
            <a:schemeClr val="accent1"/>
          </a:solidFill>
          <a:ln/>
        </p:spPr>
        <p:txBody>
          <a:bodyPr/>
          <a:lstStyle/>
          <a:p>
            <a:endParaRPr lang="it-IT" noProof="0" dirty="0"/>
          </a:p>
        </p:txBody>
      </p:sp>
      <p:sp>
        <p:nvSpPr>
          <p:cNvPr id="12" name="realtà 2"/>
          <p:cNvSpPr/>
          <p:nvPr/>
        </p:nvSpPr>
        <p:spPr>
          <a:xfrm>
            <a:off x="4617720" y="2240280"/>
            <a:ext cx="4069080" cy="1005840"/>
          </a:xfrm>
          <a:prstGeom prst="roundRect">
            <a:avLst>
              <a:gd name="adj" fmla="val 7273"/>
            </a:avLst>
          </a:prstGeom>
          <a:solidFill>
            <a:schemeClr val="accent6"/>
          </a:solidFill>
          <a:ln/>
        </p:spPr>
        <p:txBody>
          <a:bodyPr/>
          <a:lstStyle/>
          <a:p>
            <a:endParaRPr lang="it-IT" noProof="0" dirty="0"/>
          </a:p>
        </p:txBody>
      </p:sp>
      <p:sp>
        <p:nvSpPr>
          <p:cNvPr id="13" name="Text 10"/>
          <p:cNvSpPr txBox="1"/>
          <p:nvPr/>
        </p:nvSpPr>
        <p:spPr>
          <a:xfrm>
            <a:off x="4800600" y="2240280"/>
            <a:ext cx="3749040" cy="1005840"/>
          </a:xfrm>
          <a:prstGeom prst="rect">
            <a:avLst/>
          </a:prstGeom>
          <a:noFill/>
          <a:ln/>
        </p:spPr>
        <p:txBody>
          <a:bodyPr wrap="square" lIns="0" tIns="0" rIns="0" bIns="0" rtlCol="0" anchor="ctr"/>
          <a:lstStyle/>
          <a:p>
            <a:pPr marL="0" indent="0">
              <a:buNone/>
            </a:pPr>
            <a:r>
              <a:rPr lang="it-IT" sz="1200" noProof="0" dirty="0">
                <a:solidFill>
                  <a:schemeClr val="tx1"/>
                </a:solidFill>
              </a:rPr>
              <a:t>Con la RAG il modello consulta i documenti, non si riaddestra. L'uso dei dati da parte del fornitore dipende dalle condizioni contrattuali</a:t>
            </a:r>
            <a:endParaRPr lang="it-IT" sz="1200" noProof="0" dirty="0"/>
          </a:p>
        </p:txBody>
      </p:sp>
      <p:sp>
        <p:nvSpPr>
          <p:cNvPr id="14" name="equivoco 3"/>
          <p:cNvSpPr/>
          <p:nvPr/>
        </p:nvSpPr>
        <p:spPr>
          <a:xfrm>
            <a:off x="457200" y="3383280"/>
            <a:ext cx="3657600" cy="1005840"/>
          </a:xfrm>
          <a:prstGeom prst="roundRect">
            <a:avLst>
              <a:gd name="adj" fmla="val 7273"/>
            </a:avLst>
          </a:prstGeom>
          <a:solidFill>
            <a:schemeClr val="bg2"/>
          </a:solidFill>
          <a:ln/>
        </p:spPr>
        <p:txBody>
          <a:bodyPr/>
          <a:lstStyle/>
          <a:p>
            <a:endParaRPr lang="it-IT" noProof="0" dirty="0"/>
          </a:p>
        </p:txBody>
      </p:sp>
      <p:sp>
        <p:nvSpPr>
          <p:cNvPr id="15" name="Text 12"/>
          <p:cNvSpPr txBox="1"/>
          <p:nvPr/>
        </p:nvSpPr>
        <p:spPr>
          <a:xfrm>
            <a:off x="640080" y="3383280"/>
            <a:ext cx="3337560" cy="1005840"/>
          </a:xfrm>
          <a:prstGeom prst="rect">
            <a:avLst/>
          </a:prstGeom>
          <a:noFill/>
          <a:ln/>
        </p:spPr>
        <p:txBody>
          <a:bodyPr wrap="square" lIns="0" tIns="0" rIns="0" bIns="0" rtlCol="0" anchor="ctr"/>
          <a:lstStyle/>
          <a:p>
            <a:pPr marL="0" indent="0">
              <a:buNone/>
            </a:pPr>
            <a:r>
              <a:rPr lang="it-IT" sz="1300" b="1" noProof="0" dirty="0">
                <a:solidFill>
                  <a:schemeClr val="accent5"/>
                </a:solidFill>
              </a:rPr>
              <a:t>Equivoco: </a:t>
            </a:r>
            <a:r>
              <a:rPr lang="it-IT" sz="1300" noProof="0" dirty="0">
                <a:solidFill>
                  <a:schemeClr val="tx1"/>
                </a:solidFill>
              </a:rPr>
              <a:t>Il modello sa tutto ciò che è su internet ed è aggiornato</a:t>
            </a:r>
            <a:endParaRPr lang="it-IT" sz="1300" noProof="0" dirty="0"/>
          </a:p>
        </p:txBody>
      </p:sp>
      <p:sp>
        <p:nvSpPr>
          <p:cNvPr id="16" name="freccia"/>
          <p:cNvSpPr/>
          <p:nvPr/>
        </p:nvSpPr>
        <p:spPr>
          <a:xfrm>
            <a:off x="4206240" y="3739896"/>
            <a:ext cx="320040" cy="292608"/>
          </a:xfrm>
          <a:prstGeom prst="rightArrow">
            <a:avLst/>
          </a:prstGeom>
          <a:solidFill>
            <a:schemeClr val="accent1"/>
          </a:solidFill>
          <a:ln/>
        </p:spPr>
        <p:txBody>
          <a:bodyPr/>
          <a:lstStyle/>
          <a:p>
            <a:endParaRPr lang="it-IT" noProof="0" dirty="0"/>
          </a:p>
        </p:txBody>
      </p:sp>
      <p:sp>
        <p:nvSpPr>
          <p:cNvPr id="17" name="realtà 3"/>
          <p:cNvSpPr/>
          <p:nvPr/>
        </p:nvSpPr>
        <p:spPr>
          <a:xfrm>
            <a:off x="4617720" y="3383280"/>
            <a:ext cx="4069080" cy="1005840"/>
          </a:xfrm>
          <a:prstGeom prst="roundRect">
            <a:avLst>
              <a:gd name="adj" fmla="val 7273"/>
            </a:avLst>
          </a:prstGeom>
          <a:solidFill>
            <a:schemeClr val="accent6"/>
          </a:solidFill>
          <a:ln/>
        </p:spPr>
        <p:txBody>
          <a:bodyPr/>
          <a:lstStyle/>
          <a:p>
            <a:endParaRPr lang="it-IT" noProof="0" dirty="0"/>
          </a:p>
        </p:txBody>
      </p:sp>
      <p:sp>
        <p:nvSpPr>
          <p:cNvPr id="18" name="Text 15"/>
          <p:cNvSpPr txBox="1"/>
          <p:nvPr/>
        </p:nvSpPr>
        <p:spPr>
          <a:xfrm>
            <a:off x="4800600" y="3383280"/>
            <a:ext cx="3749040" cy="1005840"/>
          </a:xfrm>
          <a:prstGeom prst="rect">
            <a:avLst/>
          </a:prstGeom>
          <a:noFill/>
          <a:ln/>
        </p:spPr>
        <p:txBody>
          <a:bodyPr wrap="square" lIns="0" tIns="0" rIns="0" bIns="0" rtlCol="0" anchor="ctr"/>
          <a:lstStyle/>
          <a:p>
            <a:pPr marL="0" indent="0">
              <a:buNone/>
            </a:pPr>
            <a:r>
              <a:rPr lang="it-IT" sz="1200" noProof="0" dirty="0">
                <a:solidFill>
                  <a:schemeClr val="tx1"/>
                </a:solidFill>
              </a:rPr>
              <a:t>La conoscenza è ferma alla data limite; l'aggiornamento dipende dagli strumenti di ricerca</a:t>
            </a:r>
            <a:endParaRPr lang="it-IT" sz="1200" noProof="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it-IT" b="0" noProof="0" smtClean="0"/>
              <a:t>60</a:t>
            </a:fld>
            <a:endParaRPr lang="it-IT" noProof="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83F4D-8264-D1FB-3D59-A8C8C11FF7F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77E4DB9-6466-55C3-8E40-60C5DC39D69F}"/>
              </a:ext>
            </a:extLst>
          </p:cNvPr>
          <p:cNvSpPr>
            <a:spLocks noGrp="1"/>
          </p:cNvSpPr>
          <p:nvPr>
            <p:ph type="body" idx="100" hasCustomPrompt="1"/>
          </p:nvPr>
        </p:nvSpPr>
        <p:spPr>
          <a:xfrm>
            <a:off x="640080" y="1097280"/>
            <a:ext cx="7863840" cy="365760"/>
          </a:xfrm>
          <a:prstGeom prst="rect">
            <a:avLst/>
          </a:prstGeom>
          <a:noFill/>
          <a:ln/>
        </p:spPr>
        <p:txBody>
          <a:bodyPr wrap="square" lIns="0" tIns="0" rIns="0" bIns="0" rtlCol="0"/>
          <a:lstStyle/>
          <a:p>
            <a:pPr marL="0" indent="0">
              <a:buNone/>
            </a:pPr>
            <a:r>
              <a:rPr lang="en-US" sz="1300" b="1" kern="0" spc="200" dirty="0">
                <a:solidFill>
                  <a:schemeClr val="accent1"/>
                </a:solidFill>
              </a:rPr>
              <a:t>AI ADOPTION  ·  LASER SRL  ·  SESSIONE 1 DI 3</a:t>
            </a:r>
            <a:endParaRPr lang="en-US" sz="1300" dirty="0"/>
          </a:p>
        </p:txBody>
      </p:sp>
      <p:sp>
        <p:nvSpPr>
          <p:cNvPr id="3" name="Text 0">
            <a:extLst>
              <a:ext uri="{FF2B5EF4-FFF2-40B4-BE49-F238E27FC236}">
                <a16:creationId xmlns:a16="http://schemas.microsoft.com/office/drawing/2014/main" id="{8B9E7441-22FB-1468-7F8C-BFD5D46E492D}"/>
              </a:ext>
            </a:extLst>
          </p:cNvPr>
          <p:cNvSpPr>
            <a:spLocks noGrp="1"/>
          </p:cNvSpPr>
          <p:nvPr>
            <p:ph type="title" idx="101" hasCustomPrompt="1"/>
          </p:nvPr>
        </p:nvSpPr>
        <p:spPr>
          <a:xfrm>
            <a:off x="640080" y="1554480"/>
            <a:ext cx="7863840" cy="1463040"/>
          </a:xfrm>
          <a:prstGeom prst="rect">
            <a:avLst/>
          </a:prstGeom>
          <a:noFill/>
          <a:ln/>
        </p:spPr>
        <p:txBody>
          <a:bodyPr wrap="square" lIns="0" tIns="0" rIns="0" bIns="0" rtlCol="0" anchor="t"/>
          <a:lstStyle/>
          <a:p>
            <a:pPr marL="0" indent="0" algn="l">
              <a:buNone/>
            </a:pPr>
            <a:r>
              <a:rPr lang="en-US" sz="3600" b="1" dirty="0" err="1">
                <a:solidFill>
                  <a:schemeClr val="bg1"/>
                </a:solidFill>
              </a:rPr>
              <a:t>Capacità</a:t>
            </a:r>
            <a:r>
              <a:rPr lang="en-US" sz="3600" b="1" dirty="0">
                <a:solidFill>
                  <a:schemeClr val="bg1"/>
                </a:solidFill>
              </a:rPr>
              <a:t>, </a:t>
            </a:r>
            <a:r>
              <a:rPr lang="en-US" sz="3600" b="1" dirty="0" err="1">
                <a:solidFill>
                  <a:schemeClr val="bg1"/>
                </a:solidFill>
              </a:rPr>
              <a:t>limiti</a:t>
            </a:r>
            <a:r>
              <a:rPr lang="en-US" sz="3600" b="1" dirty="0">
                <a:solidFill>
                  <a:schemeClr val="bg1"/>
                </a:solidFill>
              </a:rPr>
              <a:t> e </a:t>
            </a:r>
            <a:r>
              <a:rPr lang="en-US" sz="3600" b="1" dirty="0" err="1">
                <a:solidFill>
                  <a:schemeClr val="bg1"/>
                </a:solidFill>
              </a:rPr>
              <a:t>affidabilità</a:t>
            </a:r>
            <a:r>
              <a:rPr lang="en-US" sz="3600" b="1" dirty="0">
                <a:solidFill>
                  <a:schemeClr val="bg1"/>
                </a:solidFill>
              </a:rPr>
              <a:t> </a:t>
            </a:r>
            <a:r>
              <a:rPr lang="en-US" sz="3600" b="1" dirty="0" err="1">
                <a:solidFill>
                  <a:schemeClr val="bg1"/>
                </a:solidFill>
              </a:rPr>
              <a:t>dell’Intelligenza</a:t>
            </a:r>
            <a:r>
              <a:rPr lang="en-US" sz="3600" b="1" dirty="0">
                <a:solidFill>
                  <a:schemeClr val="bg1"/>
                </a:solidFill>
              </a:rPr>
              <a:t> </a:t>
            </a:r>
            <a:r>
              <a:rPr lang="en-US" sz="3600" b="1" dirty="0" err="1">
                <a:solidFill>
                  <a:schemeClr val="bg1"/>
                </a:solidFill>
              </a:rPr>
              <a:t>Artificiale</a:t>
            </a:r>
            <a:endParaRPr lang="en-US" sz="3600" dirty="0"/>
          </a:p>
        </p:txBody>
      </p:sp>
      <p:sp>
        <p:nvSpPr>
          <p:cNvPr id="4" name="Text 0">
            <a:extLst>
              <a:ext uri="{FF2B5EF4-FFF2-40B4-BE49-F238E27FC236}">
                <a16:creationId xmlns:a16="http://schemas.microsoft.com/office/drawing/2014/main" id="{88B23B9A-507D-E4E1-E1EE-CF25E261179B}"/>
              </a:ext>
            </a:extLst>
          </p:cNvPr>
          <p:cNvSpPr>
            <a:spLocks noGrp="1"/>
          </p:cNvSpPr>
          <p:nvPr>
            <p:ph type="body" idx="102" hasCustomPrompt="1"/>
          </p:nvPr>
        </p:nvSpPr>
        <p:spPr>
          <a:xfrm>
            <a:off x="640080" y="3154680"/>
            <a:ext cx="7863840" cy="822960"/>
          </a:xfrm>
          <a:prstGeom prst="rect">
            <a:avLst/>
          </a:prstGeom>
          <a:noFill/>
          <a:ln/>
        </p:spPr>
        <p:txBody>
          <a:bodyPr wrap="square" lIns="0" tIns="0" rIns="0" bIns="0" rtlCol="0" anchor="t"/>
          <a:lstStyle/>
          <a:p>
            <a:pPr marL="0" indent="0">
              <a:buNone/>
            </a:pPr>
            <a:r>
              <a:rPr lang="en-US" dirty="0"/>
              <a:t>Terzo Tema – </a:t>
            </a:r>
            <a:r>
              <a:rPr lang="en-US" dirty="0" err="1"/>
              <a:t>Giornata</a:t>
            </a:r>
            <a:r>
              <a:rPr lang="en-US" dirty="0"/>
              <a:t> 1</a:t>
            </a:r>
            <a:endParaRPr lang="en-US" sz="1600" dirty="0"/>
          </a:p>
        </p:txBody>
      </p:sp>
    </p:spTree>
    <p:extLst>
      <p:ext uri="{BB962C8B-B14F-4D97-AF65-F5344CB8AC3E}">
        <p14:creationId xmlns:p14="http://schemas.microsoft.com/office/powerpoint/2010/main" val="8166321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Calibrare la fiducia</a:t>
            </a:r>
            <a:endParaRPr lang="it-IT" sz="2600" dirty="0"/>
          </a:p>
        </p:txBody>
      </p:sp>
      <p:sp>
        <p:nvSpPr>
          <p:cNvPr id="4" name="Fiducia eccessiva"/>
          <p:cNvSpPr/>
          <p:nvPr/>
        </p:nvSpPr>
        <p:spPr>
          <a:xfrm>
            <a:off x="457200" y="1188720"/>
            <a:ext cx="2615184" cy="2514600"/>
          </a:xfrm>
          <a:prstGeom prst="roundRect">
            <a:avLst>
              <a:gd name="adj" fmla="val 2909"/>
            </a:avLst>
          </a:prstGeom>
          <a:solidFill>
            <a:schemeClr val="bg2"/>
          </a:solidFill>
          <a:ln/>
        </p:spPr>
        <p:txBody>
          <a:bodyPr/>
          <a:lstStyle/>
          <a:p>
            <a:endParaRPr lang="it-IT" dirty="0"/>
          </a:p>
        </p:txBody>
      </p:sp>
      <p:sp>
        <p:nvSpPr>
          <p:cNvPr id="5" name="cerchio FiThumbsUp"/>
          <p:cNvSpPr/>
          <p:nvPr/>
        </p:nvSpPr>
        <p:spPr>
          <a:xfrm>
            <a:off x="1463040" y="1371600"/>
            <a:ext cx="603504" cy="603504"/>
          </a:xfrm>
          <a:prstGeom prst="ellipse">
            <a:avLst/>
          </a:prstGeom>
          <a:solidFill>
            <a:schemeClr val="accent2"/>
          </a:solidFill>
          <a:ln/>
        </p:spPr>
        <p:txBody>
          <a:bodyPr/>
          <a:lstStyle/>
          <a:p>
            <a:endParaRPr lang="it-IT" dirty="0"/>
          </a:p>
        </p:txBody>
      </p:sp>
      <p:pic>
        <p:nvPicPr>
          <p:cNvPr id="6" name="Image 0" descr="FiThumbsUp"/>
          <p:cNvPicPr>
            <a:picLocks noChangeAspect="1"/>
          </p:cNvPicPr>
          <p:nvPr/>
        </p:nvPicPr>
        <p:blipFill>
          <a:blip r:embed="rId3"/>
          <a:stretch>
            <a:fillRect/>
          </a:stretch>
        </p:blipFill>
        <p:spPr>
          <a:xfrm>
            <a:off x="1613916" y="1522476"/>
            <a:ext cx="301752" cy="301752"/>
          </a:xfrm>
          <a:prstGeom prst="rect">
            <a:avLst/>
          </a:prstGeom>
        </p:spPr>
      </p:pic>
      <p:sp>
        <p:nvSpPr>
          <p:cNvPr id="7" name="Text 3"/>
          <p:cNvSpPr txBox="1"/>
          <p:nvPr/>
        </p:nvSpPr>
        <p:spPr>
          <a:xfrm>
            <a:off x="594360" y="2103120"/>
            <a:ext cx="2340864" cy="365760"/>
          </a:xfrm>
          <a:prstGeom prst="rect">
            <a:avLst/>
          </a:prstGeom>
          <a:noFill/>
          <a:ln/>
        </p:spPr>
        <p:txBody>
          <a:bodyPr wrap="square" lIns="0" tIns="0" rIns="0" bIns="0" rtlCol="0" anchor="t"/>
          <a:lstStyle/>
          <a:p>
            <a:pPr marL="0" indent="0" algn="ctr">
              <a:buNone/>
            </a:pPr>
            <a:r>
              <a:rPr lang="it-IT" sz="1700" b="1" dirty="0">
                <a:solidFill>
                  <a:schemeClr val="tx1"/>
                </a:solidFill>
              </a:rPr>
              <a:t>Fiducia eccessiva</a:t>
            </a:r>
            <a:endParaRPr lang="it-IT" sz="1700" dirty="0"/>
          </a:p>
        </p:txBody>
      </p:sp>
      <p:sp>
        <p:nvSpPr>
          <p:cNvPr id="8" name="Text 4"/>
          <p:cNvSpPr txBox="1"/>
          <p:nvPr/>
        </p:nvSpPr>
        <p:spPr>
          <a:xfrm>
            <a:off x="640080" y="2514600"/>
            <a:ext cx="2249424" cy="594360"/>
          </a:xfrm>
          <a:prstGeom prst="rect">
            <a:avLst/>
          </a:prstGeom>
          <a:noFill/>
          <a:ln/>
        </p:spPr>
        <p:txBody>
          <a:bodyPr wrap="square" lIns="0" tIns="0" rIns="0" bIns="0" rtlCol="0" anchor="t"/>
          <a:lstStyle/>
          <a:p>
            <a:pPr marL="0" indent="0" algn="ctr">
              <a:buNone/>
            </a:pPr>
            <a:r>
              <a:rPr lang="it-IT" sz="1300" dirty="0">
                <a:solidFill>
                  <a:schemeClr val="tx1"/>
                </a:solidFill>
              </a:rPr>
              <a:t>Si accetta tutto perché è scritto bene</a:t>
            </a:r>
            <a:endParaRPr lang="it-IT" sz="1300" dirty="0"/>
          </a:p>
        </p:txBody>
      </p:sp>
      <p:sp>
        <p:nvSpPr>
          <p:cNvPr id="9" name="Text 5"/>
          <p:cNvSpPr txBox="1"/>
          <p:nvPr/>
        </p:nvSpPr>
        <p:spPr>
          <a:xfrm>
            <a:off x="640080" y="3154680"/>
            <a:ext cx="2249424" cy="457200"/>
          </a:xfrm>
          <a:prstGeom prst="rect">
            <a:avLst/>
          </a:prstGeom>
          <a:noFill/>
          <a:ln/>
        </p:spPr>
        <p:txBody>
          <a:bodyPr wrap="square" lIns="0" tIns="0" rIns="0" bIns="0" rtlCol="0" anchor="t"/>
          <a:lstStyle/>
          <a:p>
            <a:pPr marL="0" indent="0" algn="ctr">
              <a:buNone/>
            </a:pPr>
            <a:r>
              <a:rPr lang="it-IT" sz="1200" b="1" dirty="0">
                <a:solidFill>
                  <a:schemeClr val="accent5"/>
                </a:solidFill>
              </a:rPr>
              <a:t>Rischio: errori e decisioni sbagliate</a:t>
            </a:r>
            <a:endParaRPr lang="it-IT" sz="1200" dirty="0"/>
          </a:p>
        </p:txBody>
      </p:sp>
      <p:sp>
        <p:nvSpPr>
          <p:cNvPr id="10" name="Fiducia calibrata"/>
          <p:cNvSpPr/>
          <p:nvPr/>
        </p:nvSpPr>
        <p:spPr>
          <a:xfrm>
            <a:off x="3264408" y="1188720"/>
            <a:ext cx="2615184" cy="2514600"/>
          </a:xfrm>
          <a:prstGeom prst="roundRect">
            <a:avLst>
              <a:gd name="adj" fmla="val 2909"/>
            </a:avLst>
          </a:prstGeom>
          <a:solidFill>
            <a:schemeClr val="accent1"/>
          </a:solidFill>
          <a:ln/>
        </p:spPr>
        <p:txBody>
          <a:bodyPr/>
          <a:lstStyle/>
          <a:p>
            <a:endParaRPr lang="it-IT" dirty="0"/>
          </a:p>
        </p:txBody>
      </p:sp>
      <p:sp>
        <p:nvSpPr>
          <p:cNvPr id="11" name="cerchio FiSliders"/>
          <p:cNvSpPr/>
          <p:nvPr/>
        </p:nvSpPr>
        <p:spPr>
          <a:xfrm>
            <a:off x="4270248" y="1371600"/>
            <a:ext cx="603504" cy="603504"/>
          </a:xfrm>
          <a:prstGeom prst="ellipse">
            <a:avLst/>
          </a:prstGeom>
          <a:solidFill>
            <a:schemeClr val="bg1"/>
          </a:solidFill>
          <a:ln/>
        </p:spPr>
        <p:txBody>
          <a:bodyPr/>
          <a:lstStyle/>
          <a:p>
            <a:endParaRPr lang="it-IT" dirty="0"/>
          </a:p>
        </p:txBody>
      </p:sp>
      <p:pic>
        <p:nvPicPr>
          <p:cNvPr id="12" name="Image 1" descr="FiSliders"/>
          <p:cNvPicPr>
            <a:picLocks noChangeAspect="1"/>
          </p:cNvPicPr>
          <p:nvPr/>
        </p:nvPicPr>
        <p:blipFill>
          <a:blip r:embed="rId4"/>
          <a:stretch>
            <a:fillRect/>
          </a:stretch>
        </p:blipFill>
        <p:spPr>
          <a:xfrm>
            <a:off x="4421124" y="1522476"/>
            <a:ext cx="301752" cy="301752"/>
          </a:xfrm>
          <a:prstGeom prst="rect">
            <a:avLst/>
          </a:prstGeom>
        </p:spPr>
      </p:pic>
      <p:sp>
        <p:nvSpPr>
          <p:cNvPr id="13" name="Text 8"/>
          <p:cNvSpPr txBox="1"/>
          <p:nvPr/>
        </p:nvSpPr>
        <p:spPr>
          <a:xfrm>
            <a:off x="3401568" y="2103120"/>
            <a:ext cx="2340864" cy="365760"/>
          </a:xfrm>
          <a:prstGeom prst="rect">
            <a:avLst/>
          </a:prstGeom>
          <a:noFill/>
          <a:ln/>
        </p:spPr>
        <p:txBody>
          <a:bodyPr wrap="square" lIns="0" tIns="0" rIns="0" bIns="0" rtlCol="0" anchor="t"/>
          <a:lstStyle/>
          <a:p>
            <a:pPr marL="0" indent="0" algn="ctr">
              <a:buNone/>
            </a:pPr>
            <a:r>
              <a:rPr lang="it-IT" sz="1700" b="1" dirty="0">
                <a:solidFill>
                  <a:schemeClr val="bg1"/>
                </a:solidFill>
              </a:rPr>
              <a:t>Fiducia calibrata</a:t>
            </a:r>
            <a:endParaRPr lang="it-IT" sz="1700" dirty="0"/>
          </a:p>
        </p:txBody>
      </p:sp>
      <p:sp>
        <p:nvSpPr>
          <p:cNvPr id="14" name="Text 9"/>
          <p:cNvSpPr txBox="1"/>
          <p:nvPr/>
        </p:nvSpPr>
        <p:spPr>
          <a:xfrm>
            <a:off x="3447288" y="2514600"/>
            <a:ext cx="2249424" cy="594360"/>
          </a:xfrm>
          <a:prstGeom prst="rect">
            <a:avLst/>
          </a:prstGeom>
          <a:noFill/>
          <a:ln/>
        </p:spPr>
        <p:txBody>
          <a:bodyPr wrap="square" lIns="0" tIns="0" rIns="0" bIns="0" rtlCol="0" anchor="t"/>
          <a:lstStyle/>
          <a:p>
            <a:pPr marL="0" indent="0" algn="ctr">
              <a:buNone/>
            </a:pPr>
            <a:r>
              <a:rPr lang="it-IT" sz="1300" dirty="0">
                <a:solidFill>
                  <a:schemeClr val="bg1"/>
                </a:solidFill>
              </a:rPr>
              <a:t>Fiducia e controlli regolati su compito, sistema e conseguenze</a:t>
            </a:r>
            <a:endParaRPr lang="it-IT" sz="1300" dirty="0"/>
          </a:p>
        </p:txBody>
      </p:sp>
      <p:sp>
        <p:nvSpPr>
          <p:cNvPr id="15" name="Text 10"/>
          <p:cNvSpPr txBox="1"/>
          <p:nvPr/>
        </p:nvSpPr>
        <p:spPr>
          <a:xfrm>
            <a:off x="3447288" y="3154680"/>
            <a:ext cx="2249424" cy="457200"/>
          </a:xfrm>
          <a:prstGeom prst="rect">
            <a:avLst/>
          </a:prstGeom>
          <a:noFill/>
          <a:ln/>
        </p:spPr>
        <p:txBody>
          <a:bodyPr wrap="square" lIns="0" tIns="0" rIns="0" bIns="0" rtlCol="0" anchor="t"/>
          <a:lstStyle/>
          <a:p>
            <a:pPr marL="0" indent="0" algn="ctr">
              <a:buNone/>
            </a:pPr>
            <a:r>
              <a:rPr lang="it-IT" sz="1200" b="1" dirty="0">
                <a:solidFill>
                  <a:schemeClr val="accent6"/>
                </a:solidFill>
              </a:rPr>
              <a:t>L'obiettivo di questo modulo</a:t>
            </a:r>
            <a:endParaRPr lang="it-IT" sz="1200" dirty="0"/>
          </a:p>
        </p:txBody>
      </p:sp>
      <p:sp>
        <p:nvSpPr>
          <p:cNvPr id="16" name="Sfiducia totale"/>
          <p:cNvSpPr/>
          <p:nvPr/>
        </p:nvSpPr>
        <p:spPr>
          <a:xfrm>
            <a:off x="6071616" y="1188720"/>
            <a:ext cx="2615184" cy="2514600"/>
          </a:xfrm>
          <a:prstGeom prst="roundRect">
            <a:avLst>
              <a:gd name="adj" fmla="val 2909"/>
            </a:avLst>
          </a:prstGeom>
          <a:solidFill>
            <a:schemeClr val="bg2"/>
          </a:solidFill>
          <a:ln/>
        </p:spPr>
        <p:txBody>
          <a:bodyPr/>
          <a:lstStyle/>
          <a:p>
            <a:endParaRPr lang="it-IT" dirty="0"/>
          </a:p>
        </p:txBody>
      </p:sp>
      <p:sp>
        <p:nvSpPr>
          <p:cNvPr id="17" name="cerchio FiThumbsDown"/>
          <p:cNvSpPr/>
          <p:nvPr/>
        </p:nvSpPr>
        <p:spPr>
          <a:xfrm>
            <a:off x="7077456" y="1371600"/>
            <a:ext cx="603504" cy="603504"/>
          </a:xfrm>
          <a:prstGeom prst="ellipse">
            <a:avLst/>
          </a:prstGeom>
          <a:solidFill>
            <a:schemeClr val="accent2"/>
          </a:solidFill>
          <a:ln/>
        </p:spPr>
        <p:txBody>
          <a:bodyPr/>
          <a:lstStyle/>
          <a:p>
            <a:endParaRPr lang="it-IT" dirty="0"/>
          </a:p>
        </p:txBody>
      </p:sp>
      <p:pic>
        <p:nvPicPr>
          <p:cNvPr id="18" name="Image 2" descr="FiThumbsDown"/>
          <p:cNvPicPr>
            <a:picLocks noChangeAspect="1"/>
          </p:cNvPicPr>
          <p:nvPr/>
        </p:nvPicPr>
        <p:blipFill>
          <a:blip r:embed="rId5"/>
          <a:stretch>
            <a:fillRect/>
          </a:stretch>
        </p:blipFill>
        <p:spPr>
          <a:xfrm>
            <a:off x="7228332" y="1522476"/>
            <a:ext cx="301752" cy="301752"/>
          </a:xfrm>
          <a:prstGeom prst="rect">
            <a:avLst/>
          </a:prstGeom>
        </p:spPr>
      </p:pic>
      <p:sp>
        <p:nvSpPr>
          <p:cNvPr id="19" name="Text 13"/>
          <p:cNvSpPr txBox="1"/>
          <p:nvPr/>
        </p:nvSpPr>
        <p:spPr>
          <a:xfrm>
            <a:off x="6208776" y="2103120"/>
            <a:ext cx="2340864" cy="365760"/>
          </a:xfrm>
          <a:prstGeom prst="rect">
            <a:avLst/>
          </a:prstGeom>
          <a:noFill/>
          <a:ln/>
        </p:spPr>
        <p:txBody>
          <a:bodyPr wrap="square" lIns="0" tIns="0" rIns="0" bIns="0" rtlCol="0" anchor="t"/>
          <a:lstStyle/>
          <a:p>
            <a:pPr marL="0" indent="0" algn="ctr">
              <a:buNone/>
            </a:pPr>
            <a:r>
              <a:rPr lang="it-IT" sz="1700" b="1" dirty="0">
                <a:solidFill>
                  <a:schemeClr val="tx1"/>
                </a:solidFill>
              </a:rPr>
              <a:t>Sfiducia totale</a:t>
            </a:r>
            <a:endParaRPr lang="it-IT" sz="1700" dirty="0"/>
          </a:p>
        </p:txBody>
      </p:sp>
      <p:sp>
        <p:nvSpPr>
          <p:cNvPr id="20" name="Text 14"/>
          <p:cNvSpPr txBox="1"/>
          <p:nvPr/>
        </p:nvSpPr>
        <p:spPr>
          <a:xfrm>
            <a:off x="6254496" y="2514600"/>
            <a:ext cx="2249424" cy="594360"/>
          </a:xfrm>
          <a:prstGeom prst="rect">
            <a:avLst/>
          </a:prstGeom>
          <a:noFill/>
          <a:ln/>
        </p:spPr>
        <p:txBody>
          <a:bodyPr wrap="square" lIns="0" tIns="0" rIns="0" bIns="0" rtlCol="0" anchor="t"/>
          <a:lstStyle/>
          <a:p>
            <a:pPr marL="0" indent="0" algn="ctr">
              <a:buNone/>
            </a:pPr>
            <a:r>
              <a:rPr lang="it-IT" sz="1300" dirty="0">
                <a:solidFill>
                  <a:schemeClr val="tx1"/>
                </a:solidFill>
              </a:rPr>
              <a:t>Si scarta l'AI perché "sbaglia"</a:t>
            </a:r>
            <a:endParaRPr lang="it-IT" sz="1300" dirty="0"/>
          </a:p>
        </p:txBody>
      </p:sp>
      <p:sp>
        <p:nvSpPr>
          <p:cNvPr id="21" name="Text 15"/>
          <p:cNvSpPr txBox="1"/>
          <p:nvPr/>
        </p:nvSpPr>
        <p:spPr>
          <a:xfrm>
            <a:off x="6254496" y="3154680"/>
            <a:ext cx="2249424" cy="457200"/>
          </a:xfrm>
          <a:prstGeom prst="rect">
            <a:avLst/>
          </a:prstGeom>
          <a:noFill/>
          <a:ln/>
        </p:spPr>
        <p:txBody>
          <a:bodyPr wrap="square" lIns="0" tIns="0" rIns="0" bIns="0" rtlCol="0" anchor="t"/>
          <a:lstStyle/>
          <a:p>
            <a:pPr marL="0" indent="0" algn="ctr">
              <a:buNone/>
            </a:pPr>
            <a:r>
              <a:rPr lang="it-IT" sz="1200" b="1" dirty="0">
                <a:solidFill>
                  <a:schemeClr val="accent5"/>
                </a:solidFill>
              </a:rPr>
              <a:t>Rischio: perdere opportunità reali</a:t>
            </a:r>
            <a:endParaRPr lang="it-IT" sz="1200" dirty="0"/>
          </a:p>
        </p:txBody>
      </p:sp>
      <p:sp>
        <p:nvSpPr>
          <p:cNvPr id="22" name="messaggio"/>
          <p:cNvSpPr/>
          <p:nvPr/>
        </p:nvSpPr>
        <p:spPr>
          <a:xfrm>
            <a:off x="457200" y="3886200"/>
            <a:ext cx="8229600" cy="640080"/>
          </a:xfrm>
          <a:prstGeom prst="roundRect">
            <a:avLst>
              <a:gd name="adj" fmla="val 11429"/>
            </a:avLst>
          </a:prstGeom>
          <a:solidFill>
            <a:schemeClr val="tx1"/>
          </a:solidFill>
          <a:ln/>
        </p:spPr>
        <p:txBody>
          <a:bodyPr/>
          <a:lstStyle/>
          <a:p>
            <a:endParaRPr lang="it-IT" dirty="0"/>
          </a:p>
        </p:txBody>
      </p:sp>
      <p:sp>
        <p:nvSpPr>
          <p:cNvPr id="23" name="Text 17"/>
          <p:cNvSpPr txBox="1"/>
          <p:nvPr/>
        </p:nvSpPr>
        <p:spPr>
          <a:xfrm>
            <a:off x="640080" y="3886200"/>
            <a:ext cx="7863840" cy="640080"/>
          </a:xfrm>
          <a:prstGeom prst="rect">
            <a:avLst/>
          </a:prstGeom>
          <a:noFill/>
          <a:ln/>
        </p:spPr>
        <p:txBody>
          <a:bodyPr wrap="square" lIns="0" tIns="0" rIns="0" bIns="0" rtlCol="0" anchor="ctr"/>
          <a:lstStyle/>
          <a:p>
            <a:pPr marL="0" indent="0">
              <a:buNone/>
            </a:pPr>
            <a:r>
              <a:rPr lang="it-IT" sz="1400" dirty="0">
                <a:solidFill>
                  <a:schemeClr val="bg1"/>
                </a:solidFill>
              </a:rPr>
              <a:t>L'obiettivo non è fidarsi sempre o non fidarsi mai, ma imparare a riconoscere quando e come utilizzare l'AI per ottenere risultati utili e affidabili.</a:t>
            </a:r>
            <a:endParaRPr lang="it-IT"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62</a:t>
            </a:fld>
            <a:endParaRPr lang="it-IT"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Una mappa delle capacità</a:t>
            </a:r>
            <a:endParaRPr lang="it-IT" sz="2600" dirty="0"/>
          </a:p>
        </p:txBody>
      </p:sp>
      <p:sp>
        <p:nvSpPr>
          <p:cNvPr id="4" name="Linguaggio"/>
          <p:cNvSpPr/>
          <p:nvPr/>
        </p:nvSpPr>
        <p:spPr>
          <a:xfrm>
            <a:off x="457200" y="1097280"/>
            <a:ext cx="1920240" cy="1508760"/>
          </a:xfrm>
          <a:prstGeom prst="roundRect">
            <a:avLst>
              <a:gd name="adj" fmla="val 4848"/>
            </a:avLst>
          </a:prstGeom>
          <a:solidFill>
            <a:schemeClr val="bg2"/>
          </a:solidFill>
          <a:ln/>
        </p:spPr>
        <p:txBody>
          <a:bodyPr/>
          <a:lstStyle/>
          <a:p>
            <a:endParaRPr lang="it-IT" dirty="0"/>
          </a:p>
        </p:txBody>
      </p:sp>
      <p:sp>
        <p:nvSpPr>
          <p:cNvPr id="5" name="cerchio FiMessageSquare"/>
          <p:cNvSpPr/>
          <p:nvPr/>
        </p:nvSpPr>
        <p:spPr>
          <a:xfrm>
            <a:off x="621792" y="1261872"/>
            <a:ext cx="438912" cy="438912"/>
          </a:xfrm>
          <a:prstGeom prst="ellipse">
            <a:avLst/>
          </a:prstGeom>
          <a:solidFill>
            <a:schemeClr val="accent1"/>
          </a:solidFill>
          <a:ln/>
        </p:spPr>
        <p:txBody>
          <a:bodyPr/>
          <a:lstStyle/>
          <a:p>
            <a:endParaRPr lang="it-IT" dirty="0"/>
          </a:p>
        </p:txBody>
      </p:sp>
      <p:pic>
        <p:nvPicPr>
          <p:cNvPr id="6" name="Image 0" descr="FiMessageSquare"/>
          <p:cNvPicPr>
            <a:picLocks noChangeAspect="1"/>
          </p:cNvPicPr>
          <p:nvPr/>
        </p:nvPicPr>
        <p:blipFill>
          <a:blip r:embed="rId3"/>
          <a:stretch>
            <a:fillRect/>
          </a:stretch>
        </p:blipFill>
        <p:spPr>
          <a:xfrm>
            <a:off x="731520" y="1371600"/>
            <a:ext cx="219456" cy="219456"/>
          </a:xfrm>
          <a:prstGeom prst="rect">
            <a:avLst/>
          </a:prstGeom>
        </p:spPr>
      </p:pic>
      <p:sp>
        <p:nvSpPr>
          <p:cNvPr id="7" name="Text 3"/>
          <p:cNvSpPr txBox="1"/>
          <p:nvPr/>
        </p:nvSpPr>
        <p:spPr>
          <a:xfrm>
            <a:off x="1170432" y="1225296"/>
            <a:ext cx="1097280" cy="512064"/>
          </a:xfrm>
          <a:prstGeom prst="rect">
            <a:avLst/>
          </a:prstGeom>
          <a:noFill/>
          <a:ln/>
        </p:spPr>
        <p:txBody>
          <a:bodyPr wrap="square" lIns="0" tIns="0" rIns="0" bIns="0" rtlCol="0" anchor="ctr"/>
          <a:lstStyle/>
          <a:p>
            <a:pPr marL="0" indent="0">
              <a:buNone/>
            </a:pPr>
            <a:r>
              <a:rPr lang="it-IT" sz="1300" b="1" dirty="0">
                <a:solidFill>
                  <a:schemeClr val="tx1"/>
                </a:solidFill>
              </a:rPr>
              <a:t>Linguaggio</a:t>
            </a:r>
            <a:endParaRPr lang="it-IT" sz="1300" dirty="0"/>
          </a:p>
        </p:txBody>
      </p:sp>
      <p:sp>
        <p:nvSpPr>
          <p:cNvPr id="8" name="Text 4"/>
          <p:cNvSpPr txBox="1"/>
          <p:nvPr/>
        </p:nvSpPr>
        <p:spPr>
          <a:xfrm>
            <a:off x="621792" y="1810512"/>
            <a:ext cx="1591056" cy="704088"/>
          </a:xfrm>
          <a:prstGeom prst="rect">
            <a:avLst/>
          </a:prstGeom>
          <a:noFill/>
          <a:ln/>
        </p:spPr>
        <p:txBody>
          <a:bodyPr wrap="square" lIns="0" tIns="0" rIns="0" bIns="0" rtlCol="0" anchor="t"/>
          <a:lstStyle/>
          <a:p>
            <a:pPr marL="0" indent="0">
              <a:buNone/>
            </a:pPr>
            <a:r>
              <a:rPr lang="it-IT" sz="1200" dirty="0">
                <a:solidFill>
                  <a:schemeClr val="tx2"/>
                </a:solidFill>
              </a:rPr>
              <a:t>Comprendere, scrivere, riformulare, tradurre</a:t>
            </a:r>
            <a:endParaRPr lang="it-IT" sz="1200" dirty="0"/>
          </a:p>
        </p:txBody>
      </p:sp>
      <p:sp>
        <p:nvSpPr>
          <p:cNvPr id="9" name="Contenuti"/>
          <p:cNvSpPr/>
          <p:nvPr/>
        </p:nvSpPr>
        <p:spPr>
          <a:xfrm>
            <a:off x="2560320" y="1097280"/>
            <a:ext cx="1920240" cy="1508760"/>
          </a:xfrm>
          <a:prstGeom prst="roundRect">
            <a:avLst>
              <a:gd name="adj" fmla="val 4848"/>
            </a:avLst>
          </a:prstGeom>
          <a:solidFill>
            <a:schemeClr val="bg2"/>
          </a:solidFill>
          <a:ln/>
        </p:spPr>
        <p:txBody>
          <a:bodyPr/>
          <a:lstStyle/>
          <a:p>
            <a:endParaRPr lang="it-IT" dirty="0"/>
          </a:p>
        </p:txBody>
      </p:sp>
      <p:sp>
        <p:nvSpPr>
          <p:cNvPr id="10" name="cerchio FiFileText"/>
          <p:cNvSpPr/>
          <p:nvPr/>
        </p:nvSpPr>
        <p:spPr>
          <a:xfrm>
            <a:off x="2724912" y="1261872"/>
            <a:ext cx="438912" cy="438912"/>
          </a:xfrm>
          <a:prstGeom prst="ellipse">
            <a:avLst/>
          </a:prstGeom>
          <a:solidFill>
            <a:schemeClr val="accent1"/>
          </a:solidFill>
          <a:ln/>
        </p:spPr>
        <p:txBody>
          <a:bodyPr/>
          <a:lstStyle/>
          <a:p>
            <a:endParaRPr lang="it-IT" dirty="0"/>
          </a:p>
        </p:txBody>
      </p:sp>
      <p:pic>
        <p:nvPicPr>
          <p:cNvPr id="11" name="Image 1" descr="FiFileText"/>
          <p:cNvPicPr>
            <a:picLocks noChangeAspect="1"/>
          </p:cNvPicPr>
          <p:nvPr/>
        </p:nvPicPr>
        <p:blipFill>
          <a:blip r:embed="rId4"/>
          <a:stretch>
            <a:fillRect/>
          </a:stretch>
        </p:blipFill>
        <p:spPr>
          <a:xfrm>
            <a:off x="2834640" y="1371600"/>
            <a:ext cx="219456" cy="219456"/>
          </a:xfrm>
          <a:prstGeom prst="rect">
            <a:avLst/>
          </a:prstGeom>
        </p:spPr>
      </p:pic>
      <p:sp>
        <p:nvSpPr>
          <p:cNvPr id="12" name="Text 7"/>
          <p:cNvSpPr txBox="1"/>
          <p:nvPr/>
        </p:nvSpPr>
        <p:spPr>
          <a:xfrm>
            <a:off x="3273552" y="1225296"/>
            <a:ext cx="1097280" cy="512064"/>
          </a:xfrm>
          <a:prstGeom prst="rect">
            <a:avLst/>
          </a:prstGeom>
          <a:noFill/>
          <a:ln/>
        </p:spPr>
        <p:txBody>
          <a:bodyPr wrap="square" lIns="0" tIns="0" rIns="0" bIns="0" rtlCol="0" anchor="ctr"/>
          <a:lstStyle/>
          <a:p>
            <a:pPr marL="0" indent="0">
              <a:buNone/>
            </a:pPr>
            <a:r>
              <a:rPr lang="it-IT" sz="1300" b="1" dirty="0">
                <a:solidFill>
                  <a:schemeClr val="tx1"/>
                </a:solidFill>
              </a:rPr>
              <a:t>Contenuti</a:t>
            </a:r>
            <a:endParaRPr lang="it-IT" sz="1300" dirty="0"/>
          </a:p>
        </p:txBody>
      </p:sp>
      <p:sp>
        <p:nvSpPr>
          <p:cNvPr id="13" name="Text 8"/>
          <p:cNvSpPr txBox="1"/>
          <p:nvPr/>
        </p:nvSpPr>
        <p:spPr>
          <a:xfrm>
            <a:off x="2724912" y="1810512"/>
            <a:ext cx="1591056" cy="704088"/>
          </a:xfrm>
          <a:prstGeom prst="rect">
            <a:avLst/>
          </a:prstGeom>
          <a:noFill/>
          <a:ln/>
        </p:spPr>
        <p:txBody>
          <a:bodyPr wrap="square" lIns="0" tIns="0" rIns="0" bIns="0" rtlCol="0" anchor="t"/>
          <a:lstStyle/>
          <a:p>
            <a:pPr marL="0" indent="0">
              <a:buNone/>
            </a:pPr>
            <a:r>
              <a:rPr lang="it-IT" sz="1200" dirty="0">
                <a:solidFill>
                  <a:schemeClr val="tx2"/>
                </a:solidFill>
              </a:rPr>
              <a:t>Generare, trasformare, sintetizzare</a:t>
            </a:r>
            <a:endParaRPr lang="it-IT" sz="1200" dirty="0"/>
          </a:p>
        </p:txBody>
      </p:sp>
      <p:sp>
        <p:nvSpPr>
          <p:cNvPr id="14" name="Classificazione ed estrazione"/>
          <p:cNvSpPr/>
          <p:nvPr/>
        </p:nvSpPr>
        <p:spPr>
          <a:xfrm>
            <a:off x="4663440" y="1097280"/>
            <a:ext cx="1920240" cy="1508760"/>
          </a:xfrm>
          <a:prstGeom prst="roundRect">
            <a:avLst>
              <a:gd name="adj" fmla="val 4848"/>
            </a:avLst>
          </a:prstGeom>
          <a:solidFill>
            <a:schemeClr val="bg2"/>
          </a:solidFill>
          <a:ln/>
        </p:spPr>
        <p:txBody>
          <a:bodyPr/>
          <a:lstStyle/>
          <a:p>
            <a:endParaRPr lang="it-IT" dirty="0"/>
          </a:p>
        </p:txBody>
      </p:sp>
      <p:sp>
        <p:nvSpPr>
          <p:cNvPr id="15" name="cerchio FiFilter"/>
          <p:cNvSpPr/>
          <p:nvPr/>
        </p:nvSpPr>
        <p:spPr>
          <a:xfrm>
            <a:off x="4828032" y="1261872"/>
            <a:ext cx="438912" cy="438912"/>
          </a:xfrm>
          <a:prstGeom prst="ellipse">
            <a:avLst/>
          </a:prstGeom>
          <a:solidFill>
            <a:schemeClr val="accent1"/>
          </a:solidFill>
          <a:ln/>
        </p:spPr>
        <p:txBody>
          <a:bodyPr/>
          <a:lstStyle/>
          <a:p>
            <a:endParaRPr lang="it-IT" dirty="0"/>
          </a:p>
        </p:txBody>
      </p:sp>
      <p:pic>
        <p:nvPicPr>
          <p:cNvPr id="16" name="Image 2" descr="FiFilter"/>
          <p:cNvPicPr>
            <a:picLocks noChangeAspect="1"/>
          </p:cNvPicPr>
          <p:nvPr/>
        </p:nvPicPr>
        <p:blipFill>
          <a:blip r:embed="rId5"/>
          <a:stretch>
            <a:fillRect/>
          </a:stretch>
        </p:blipFill>
        <p:spPr>
          <a:xfrm>
            <a:off x="4937760" y="1371600"/>
            <a:ext cx="219456" cy="219456"/>
          </a:xfrm>
          <a:prstGeom prst="rect">
            <a:avLst/>
          </a:prstGeom>
        </p:spPr>
      </p:pic>
      <p:sp>
        <p:nvSpPr>
          <p:cNvPr id="17" name="Text 11"/>
          <p:cNvSpPr txBox="1"/>
          <p:nvPr/>
        </p:nvSpPr>
        <p:spPr>
          <a:xfrm>
            <a:off x="5376672" y="1225296"/>
            <a:ext cx="1097280" cy="512064"/>
          </a:xfrm>
          <a:prstGeom prst="rect">
            <a:avLst/>
          </a:prstGeom>
          <a:noFill/>
          <a:ln/>
        </p:spPr>
        <p:txBody>
          <a:bodyPr wrap="square" lIns="0" tIns="0" rIns="0" bIns="0" rtlCol="0" anchor="ctr"/>
          <a:lstStyle/>
          <a:p>
            <a:pPr marL="0" indent="0">
              <a:buNone/>
            </a:pPr>
            <a:r>
              <a:rPr lang="it-IT" sz="1300" b="1" dirty="0">
                <a:solidFill>
                  <a:schemeClr val="tx1"/>
                </a:solidFill>
              </a:rPr>
              <a:t>Classificazione ed estrazione</a:t>
            </a:r>
            <a:endParaRPr lang="it-IT" sz="1300" dirty="0"/>
          </a:p>
        </p:txBody>
      </p:sp>
      <p:sp>
        <p:nvSpPr>
          <p:cNvPr id="18" name="Text 12"/>
          <p:cNvSpPr txBox="1"/>
          <p:nvPr/>
        </p:nvSpPr>
        <p:spPr>
          <a:xfrm>
            <a:off x="4828032" y="1810512"/>
            <a:ext cx="1591056" cy="704088"/>
          </a:xfrm>
          <a:prstGeom prst="rect">
            <a:avLst/>
          </a:prstGeom>
          <a:noFill/>
          <a:ln/>
        </p:spPr>
        <p:txBody>
          <a:bodyPr wrap="square" lIns="0" tIns="0" rIns="0" bIns="0" rtlCol="0" anchor="t"/>
          <a:lstStyle/>
          <a:p>
            <a:pPr marL="0" indent="0">
              <a:buNone/>
            </a:pPr>
            <a:r>
              <a:rPr lang="it-IT" sz="1200" dirty="0">
                <a:solidFill>
                  <a:schemeClr val="tx2"/>
                </a:solidFill>
              </a:rPr>
              <a:t>Categorie, dati da testi non strutturati</a:t>
            </a:r>
            <a:endParaRPr lang="it-IT" sz="1200" dirty="0"/>
          </a:p>
        </p:txBody>
      </p:sp>
      <p:sp>
        <p:nvSpPr>
          <p:cNvPr id="19" name="Schemi e analisi di dati"/>
          <p:cNvSpPr/>
          <p:nvPr/>
        </p:nvSpPr>
        <p:spPr>
          <a:xfrm>
            <a:off x="6766560" y="1097280"/>
            <a:ext cx="1920240" cy="1508760"/>
          </a:xfrm>
          <a:prstGeom prst="roundRect">
            <a:avLst>
              <a:gd name="adj" fmla="val 4848"/>
            </a:avLst>
          </a:prstGeom>
          <a:solidFill>
            <a:schemeClr val="bg2"/>
          </a:solidFill>
          <a:ln/>
        </p:spPr>
        <p:txBody>
          <a:bodyPr/>
          <a:lstStyle/>
          <a:p>
            <a:endParaRPr lang="it-IT" dirty="0"/>
          </a:p>
        </p:txBody>
      </p:sp>
      <p:sp>
        <p:nvSpPr>
          <p:cNvPr id="20" name="cerchio FiBarChart2"/>
          <p:cNvSpPr/>
          <p:nvPr/>
        </p:nvSpPr>
        <p:spPr>
          <a:xfrm>
            <a:off x="6931152" y="1261872"/>
            <a:ext cx="438912" cy="438912"/>
          </a:xfrm>
          <a:prstGeom prst="ellipse">
            <a:avLst/>
          </a:prstGeom>
          <a:solidFill>
            <a:schemeClr val="accent1"/>
          </a:solidFill>
          <a:ln/>
        </p:spPr>
        <p:txBody>
          <a:bodyPr/>
          <a:lstStyle/>
          <a:p>
            <a:endParaRPr lang="it-IT" dirty="0"/>
          </a:p>
        </p:txBody>
      </p:sp>
      <p:pic>
        <p:nvPicPr>
          <p:cNvPr id="21" name="Image 3" descr="FiBarChart2"/>
          <p:cNvPicPr>
            <a:picLocks noChangeAspect="1"/>
          </p:cNvPicPr>
          <p:nvPr/>
        </p:nvPicPr>
        <p:blipFill>
          <a:blip r:embed="rId6"/>
          <a:stretch>
            <a:fillRect/>
          </a:stretch>
        </p:blipFill>
        <p:spPr>
          <a:xfrm>
            <a:off x="7040880" y="1371600"/>
            <a:ext cx="219456" cy="219456"/>
          </a:xfrm>
          <a:prstGeom prst="rect">
            <a:avLst/>
          </a:prstGeom>
        </p:spPr>
      </p:pic>
      <p:sp>
        <p:nvSpPr>
          <p:cNvPr id="22" name="Text 15"/>
          <p:cNvSpPr txBox="1"/>
          <p:nvPr/>
        </p:nvSpPr>
        <p:spPr>
          <a:xfrm>
            <a:off x="7479792" y="1225296"/>
            <a:ext cx="1097280" cy="512064"/>
          </a:xfrm>
          <a:prstGeom prst="rect">
            <a:avLst/>
          </a:prstGeom>
          <a:noFill/>
          <a:ln/>
        </p:spPr>
        <p:txBody>
          <a:bodyPr wrap="square" lIns="0" tIns="0" rIns="0" bIns="0" rtlCol="0" anchor="ctr"/>
          <a:lstStyle/>
          <a:p>
            <a:pPr marL="0" indent="0">
              <a:buNone/>
            </a:pPr>
            <a:r>
              <a:rPr lang="it-IT" sz="1300" b="1" dirty="0">
                <a:solidFill>
                  <a:schemeClr val="tx1"/>
                </a:solidFill>
              </a:rPr>
              <a:t>Schemi e analisi di dati</a:t>
            </a:r>
            <a:endParaRPr lang="it-IT" sz="1300" dirty="0"/>
          </a:p>
        </p:txBody>
      </p:sp>
      <p:sp>
        <p:nvSpPr>
          <p:cNvPr id="23" name="Text 16"/>
          <p:cNvSpPr txBox="1"/>
          <p:nvPr/>
        </p:nvSpPr>
        <p:spPr>
          <a:xfrm>
            <a:off x="6931152" y="1810512"/>
            <a:ext cx="1591056" cy="704088"/>
          </a:xfrm>
          <a:prstGeom prst="rect">
            <a:avLst/>
          </a:prstGeom>
          <a:noFill/>
          <a:ln/>
        </p:spPr>
        <p:txBody>
          <a:bodyPr wrap="square" lIns="0" tIns="0" rIns="0" bIns="0" rtlCol="0" anchor="t"/>
          <a:lstStyle/>
          <a:p>
            <a:pPr marL="0" indent="0">
              <a:buNone/>
            </a:pPr>
            <a:r>
              <a:rPr lang="it-IT" sz="1200" dirty="0">
                <a:solidFill>
                  <a:schemeClr val="tx2"/>
                </a:solidFill>
              </a:rPr>
              <a:t>Tendenze, anomalie, temi ricorrenti</a:t>
            </a:r>
            <a:endParaRPr lang="it-IT" sz="1200" dirty="0"/>
          </a:p>
        </p:txBody>
      </p:sp>
      <p:sp>
        <p:nvSpPr>
          <p:cNvPr id="24" name="Multimodalità"/>
          <p:cNvSpPr/>
          <p:nvPr/>
        </p:nvSpPr>
        <p:spPr>
          <a:xfrm>
            <a:off x="457200" y="2788920"/>
            <a:ext cx="2621280" cy="1508760"/>
          </a:xfrm>
          <a:prstGeom prst="roundRect">
            <a:avLst>
              <a:gd name="adj" fmla="val 4848"/>
            </a:avLst>
          </a:prstGeom>
          <a:solidFill>
            <a:schemeClr val="bg2"/>
          </a:solidFill>
          <a:ln/>
        </p:spPr>
        <p:txBody>
          <a:bodyPr/>
          <a:lstStyle/>
          <a:p>
            <a:endParaRPr lang="it-IT" dirty="0"/>
          </a:p>
        </p:txBody>
      </p:sp>
      <p:sp>
        <p:nvSpPr>
          <p:cNvPr id="25" name="cerchio FiImage"/>
          <p:cNvSpPr/>
          <p:nvPr/>
        </p:nvSpPr>
        <p:spPr>
          <a:xfrm>
            <a:off x="621792" y="2953512"/>
            <a:ext cx="438912" cy="438912"/>
          </a:xfrm>
          <a:prstGeom prst="ellipse">
            <a:avLst/>
          </a:prstGeom>
          <a:solidFill>
            <a:schemeClr val="accent1"/>
          </a:solidFill>
          <a:ln/>
        </p:spPr>
        <p:txBody>
          <a:bodyPr/>
          <a:lstStyle/>
          <a:p>
            <a:endParaRPr lang="it-IT" dirty="0"/>
          </a:p>
        </p:txBody>
      </p:sp>
      <p:pic>
        <p:nvPicPr>
          <p:cNvPr id="26" name="Image 4" descr="FiImage"/>
          <p:cNvPicPr>
            <a:picLocks noChangeAspect="1"/>
          </p:cNvPicPr>
          <p:nvPr/>
        </p:nvPicPr>
        <p:blipFill>
          <a:blip r:embed="rId7"/>
          <a:stretch>
            <a:fillRect/>
          </a:stretch>
        </p:blipFill>
        <p:spPr>
          <a:xfrm>
            <a:off x="731520" y="3063240"/>
            <a:ext cx="219456" cy="219456"/>
          </a:xfrm>
          <a:prstGeom prst="rect">
            <a:avLst/>
          </a:prstGeom>
        </p:spPr>
      </p:pic>
      <p:sp>
        <p:nvSpPr>
          <p:cNvPr id="27" name="Text 19"/>
          <p:cNvSpPr txBox="1"/>
          <p:nvPr/>
        </p:nvSpPr>
        <p:spPr>
          <a:xfrm>
            <a:off x="1170432" y="2916936"/>
            <a:ext cx="1798320" cy="512064"/>
          </a:xfrm>
          <a:prstGeom prst="rect">
            <a:avLst/>
          </a:prstGeom>
          <a:noFill/>
          <a:ln/>
        </p:spPr>
        <p:txBody>
          <a:bodyPr wrap="square" lIns="0" tIns="0" rIns="0" bIns="0" rtlCol="0" anchor="ctr"/>
          <a:lstStyle/>
          <a:p>
            <a:pPr marL="0" indent="0">
              <a:buNone/>
            </a:pPr>
            <a:r>
              <a:rPr lang="it-IT" sz="1300" b="1" dirty="0">
                <a:solidFill>
                  <a:schemeClr val="tx1"/>
                </a:solidFill>
              </a:rPr>
              <a:t>Multimodalità</a:t>
            </a:r>
            <a:endParaRPr lang="it-IT" sz="1300" dirty="0"/>
          </a:p>
        </p:txBody>
      </p:sp>
      <p:sp>
        <p:nvSpPr>
          <p:cNvPr id="28" name="Text 20"/>
          <p:cNvSpPr txBox="1"/>
          <p:nvPr/>
        </p:nvSpPr>
        <p:spPr>
          <a:xfrm>
            <a:off x="621792" y="3502152"/>
            <a:ext cx="2292096" cy="704088"/>
          </a:xfrm>
          <a:prstGeom prst="rect">
            <a:avLst/>
          </a:prstGeom>
          <a:noFill/>
          <a:ln/>
        </p:spPr>
        <p:txBody>
          <a:bodyPr wrap="square" lIns="0" tIns="0" rIns="0" bIns="0" rtlCol="0" anchor="t"/>
          <a:lstStyle/>
          <a:p>
            <a:pPr marL="0" indent="0">
              <a:buNone/>
            </a:pPr>
            <a:r>
              <a:rPr lang="it-IT" sz="1200" dirty="0">
                <a:solidFill>
                  <a:schemeClr val="tx2"/>
                </a:solidFill>
              </a:rPr>
              <a:t>Testo, immagini, audio e video</a:t>
            </a:r>
            <a:endParaRPr lang="it-IT" sz="1200" dirty="0"/>
          </a:p>
        </p:txBody>
      </p:sp>
      <p:sp>
        <p:nvSpPr>
          <p:cNvPr id="29" name="Supporto cognitivo"/>
          <p:cNvSpPr/>
          <p:nvPr/>
        </p:nvSpPr>
        <p:spPr>
          <a:xfrm>
            <a:off x="3261360" y="2788920"/>
            <a:ext cx="2621280" cy="1508760"/>
          </a:xfrm>
          <a:prstGeom prst="roundRect">
            <a:avLst>
              <a:gd name="adj" fmla="val 4848"/>
            </a:avLst>
          </a:prstGeom>
          <a:solidFill>
            <a:schemeClr val="bg2"/>
          </a:solidFill>
          <a:ln/>
        </p:spPr>
        <p:txBody>
          <a:bodyPr/>
          <a:lstStyle/>
          <a:p>
            <a:endParaRPr lang="it-IT" dirty="0"/>
          </a:p>
        </p:txBody>
      </p:sp>
      <p:sp>
        <p:nvSpPr>
          <p:cNvPr id="30" name="cerchio FiGitBranch"/>
          <p:cNvSpPr/>
          <p:nvPr/>
        </p:nvSpPr>
        <p:spPr>
          <a:xfrm>
            <a:off x="3425952" y="2953512"/>
            <a:ext cx="438912" cy="438912"/>
          </a:xfrm>
          <a:prstGeom prst="ellipse">
            <a:avLst/>
          </a:prstGeom>
          <a:solidFill>
            <a:schemeClr val="accent1"/>
          </a:solidFill>
          <a:ln/>
        </p:spPr>
        <p:txBody>
          <a:bodyPr/>
          <a:lstStyle/>
          <a:p>
            <a:endParaRPr lang="it-IT" dirty="0"/>
          </a:p>
        </p:txBody>
      </p:sp>
      <p:pic>
        <p:nvPicPr>
          <p:cNvPr id="31" name="Image 5" descr="FiGitBranch"/>
          <p:cNvPicPr>
            <a:picLocks noChangeAspect="1"/>
          </p:cNvPicPr>
          <p:nvPr/>
        </p:nvPicPr>
        <p:blipFill>
          <a:blip r:embed="rId8"/>
          <a:stretch>
            <a:fillRect/>
          </a:stretch>
        </p:blipFill>
        <p:spPr>
          <a:xfrm>
            <a:off x="3535680" y="3063240"/>
            <a:ext cx="219456" cy="219456"/>
          </a:xfrm>
          <a:prstGeom prst="rect">
            <a:avLst/>
          </a:prstGeom>
        </p:spPr>
      </p:pic>
      <p:sp>
        <p:nvSpPr>
          <p:cNvPr id="32" name="Text 23"/>
          <p:cNvSpPr txBox="1"/>
          <p:nvPr/>
        </p:nvSpPr>
        <p:spPr>
          <a:xfrm>
            <a:off x="3974592" y="2916936"/>
            <a:ext cx="1798320" cy="512064"/>
          </a:xfrm>
          <a:prstGeom prst="rect">
            <a:avLst/>
          </a:prstGeom>
          <a:noFill/>
          <a:ln/>
        </p:spPr>
        <p:txBody>
          <a:bodyPr wrap="square" lIns="0" tIns="0" rIns="0" bIns="0" rtlCol="0" anchor="ctr"/>
          <a:lstStyle/>
          <a:p>
            <a:pPr marL="0" indent="0">
              <a:buNone/>
            </a:pPr>
            <a:r>
              <a:rPr lang="it-IT" sz="1300" b="1" dirty="0">
                <a:solidFill>
                  <a:schemeClr val="tx1"/>
                </a:solidFill>
              </a:rPr>
              <a:t>Supporto cognitivo</a:t>
            </a:r>
            <a:endParaRPr lang="it-IT" sz="1300" dirty="0"/>
          </a:p>
        </p:txBody>
      </p:sp>
      <p:sp>
        <p:nvSpPr>
          <p:cNvPr id="33" name="Text 24"/>
          <p:cNvSpPr txBox="1"/>
          <p:nvPr/>
        </p:nvSpPr>
        <p:spPr>
          <a:xfrm>
            <a:off x="3425952" y="3502152"/>
            <a:ext cx="2292096" cy="704088"/>
          </a:xfrm>
          <a:prstGeom prst="rect">
            <a:avLst/>
          </a:prstGeom>
          <a:noFill/>
          <a:ln/>
        </p:spPr>
        <p:txBody>
          <a:bodyPr wrap="square" lIns="0" tIns="0" rIns="0" bIns="0" rtlCol="0" anchor="t"/>
          <a:lstStyle/>
          <a:p>
            <a:pPr marL="0" indent="0">
              <a:buNone/>
            </a:pPr>
            <a:r>
              <a:rPr lang="it-IT" sz="1200" dirty="0">
                <a:solidFill>
                  <a:schemeClr val="tx2"/>
                </a:solidFill>
              </a:rPr>
              <a:t>Ragionare, pianificare, generare idee</a:t>
            </a:r>
            <a:endParaRPr lang="it-IT" sz="1200" dirty="0"/>
          </a:p>
        </p:txBody>
      </p:sp>
      <p:sp>
        <p:nvSpPr>
          <p:cNvPr id="34" name="Strumenti esterni"/>
          <p:cNvSpPr/>
          <p:nvPr/>
        </p:nvSpPr>
        <p:spPr>
          <a:xfrm>
            <a:off x="6065520" y="2788920"/>
            <a:ext cx="2621280" cy="1508760"/>
          </a:xfrm>
          <a:prstGeom prst="roundRect">
            <a:avLst>
              <a:gd name="adj" fmla="val 4848"/>
            </a:avLst>
          </a:prstGeom>
          <a:solidFill>
            <a:schemeClr val="accent6"/>
          </a:solidFill>
          <a:ln/>
        </p:spPr>
        <p:txBody>
          <a:bodyPr/>
          <a:lstStyle/>
          <a:p>
            <a:endParaRPr lang="it-IT" dirty="0"/>
          </a:p>
        </p:txBody>
      </p:sp>
      <p:sp>
        <p:nvSpPr>
          <p:cNvPr id="35" name="cerchio FiTool"/>
          <p:cNvSpPr/>
          <p:nvPr/>
        </p:nvSpPr>
        <p:spPr>
          <a:xfrm>
            <a:off x="6230112" y="2953512"/>
            <a:ext cx="438912" cy="438912"/>
          </a:xfrm>
          <a:prstGeom prst="ellipse">
            <a:avLst/>
          </a:prstGeom>
          <a:solidFill>
            <a:schemeClr val="accent1"/>
          </a:solidFill>
          <a:ln/>
        </p:spPr>
        <p:txBody>
          <a:bodyPr/>
          <a:lstStyle/>
          <a:p>
            <a:endParaRPr lang="it-IT" dirty="0"/>
          </a:p>
        </p:txBody>
      </p:sp>
      <p:pic>
        <p:nvPicPr>
          <p:cNvPr id="36" name="Image 6" descr="FiTool"/>
          <p:cNvPicPr>
            <a:picLocks noChangeAspect="1"/>
          </p:cNvPicPr>
          <p:nvPr/>
        </p:nvPicPr>
        <p:blipFill>
          <a:blip r:embed="rId9"/>
          <a:stretch>
            <a:fillRect/>
          </a:stretch>
        </p:blipFill>
        <p:spPr>
          <a:xfrm>
            <a:off x="6339840" y="3063240"/>
            <a:ext cx="219456" cy="219456"/>
          </a:xfrm>
          <a:prstGeom prst="rect">
            <a:avLst/>
          </a:prstGeom>
        </p:spPr>
      </p:pic>
      <p:sp>
        <p:nvSpPr>
          <p:cNvPr id="37" name="Text 27"/>
          <p:cNvSpPr txBox="1"/>
          <p:nvPr/>
        </p:nvSpPr>
        <p:spPr>
          <a:xfrm>
            <a:off x="6778752" y="2916936"/>
            <a:ext cx="1798320" cy="512064"/>
          </a:xfrm>
          <a:prstGeom prst="rect">
            <a:avLst/>
          </a:prstGeom>
          <a:noFill/>
          <a:ln/>
        </p:spPr>
        <p:txBody>
          <a:bodyPr wrap="square" lIns="0" tIns="0" rIns="0" bIns="0" rtlCol="0" anchor="ctr"/>
          <a:lstStyle/>
          <a:p>
            <a:pPr marL="0" indent="0">
              <a:buNone/>
            </a:pPr>
            <a:r>
              <a:rPr lang="it-IT" sz="1300" b="1" dirty="0">
                <a:solidFill>
                  <a:schemeClr val="tx1"/>
                </a:solidFill>
              </a:rPr>
              <a:t>Strumenti esterni</a:t>
            </a:r>
            <a:endParaRPr lang="it-IT" sz="1300" dirty="0"/>
          </a:p>
        </p:txBody>
      </p:sp>
      <p:sp>
        <p:nvSpPr>
          <p:cNvPr id="38" name="Text 28"/>
          <p:cNvSpPr txBox="1"/>
          <p:nvPr/>
        </p:nvSpPr>
        <p:spPr>
          <a:xfrm>
            <a:off x="6230112" y="3502152"/>
            <a:ext cx="2292096" cy="704088"/>
          </a:xfrm>
          <a:prstGeom prst="rect">
            <a:avLst/>
          </a:prstGeom>
          <a:noFill/>
          <a:ln/>
        </p:spPr>
        <p:txBody>
          <a:bodyPr wrap="square" lIns="0" tIns="0" rIns="0" bIns="0" rtlCol="0" anchor="t"/>
          <a:lstStyle/>
          <a:p>
            <a:pPr marL="0" indent="0">
              <a:buNone/>
            </a:pPr>
            <a:r>
              <a:rPr lang="it-IT" sz="1200" dirty="0">
                <a:solidFill>
                  <a:schemeClr val="tx2"/>
                </a:solidFill>
              </a:rPr>
              <a:t>Ricerca, esecuzione di codice, file, software</a:t>
            </a:r>
            <a:endParaRPr lang="it-IT" sz="1200" dirty="0"/>
          </a:p>
        </p:txBody>
      </p:sp>
      <p:sp>
        <p:nvSpPr>
          <p:cNvPr id="39" name="Text 29"/>
          <p:cNvSpPr txBox="1"/>
          <p:nvPr/>
        </p:nvSpPr>
        <p:spPr>
          <a:xfrm>
            <a:off x="457200" y="4389120"/>
            <a:ext cx="8229600" cy="274320"/>
          </a:xfrm>
          <a:prstGeom prst="rect">
            <a:avLst/>
          </a:prstGeom>
          <a:noFill/>
          <a:ln/>
        </p:spPr>
        <p:txBody>
          <a:bodyPr wrap="square" lIns="0" tIns="0" rIns="0" bIns="0" rtlCol="0" anchor="t"/>
          <a:lstStyle/>
          <a:p>
            <a:pPr marL="0" indent="0">
              <a:buNone/>
            </a:pPr>
            <a:r>
              <a:rPr lang="it-IT" sz="1200" i="1" dirty="0">
                <a:solidFill>
                  <a:schemeClr val="tx2"/>
                </a:solidFill>
              </a:rPr>
              <a:t>Alcune capacità, come l'uso di strumenti, dipendono dal sistema e non sono sempre disponibili.</a:t>
            </a:r>
            <a:endParaRPr lang="it-IT"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63</a:t>
            </a:fld>
            <a:endParaRPr lang="it-IT"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Non tutti i sistemi hanno le stesse capacità</a:t>
            </a:r>
            <a:endParaRPr lang="it-IT" sz="2600" dirty="0"/>
          </a:p>
        </p:txBody>
      </p:sp>
      <p:sp>
        <p:nvSpPr>
          <p:cNvPr id="4" name="scheda Dipendono soprattutto dal modello"/>
          <p:cNvSpPr/>
          <p:nvPr/>
        </p:nvSpPr>
        <p:spPr>
          <a:xfrm>
            <a:off x="457200" y="1097280"/>
            <a:ext cx="3977640" cy="2331720"/>
          </a:xfrm>
          <a:prstGeom prst="roundRect">
            <a:avLst>
              <a:gd name="adj" fmla="val 3137"/>
            </a:avLst>
          </a:prstGeom>
          <a:solidFill>
            <a:schemeClr val="bg2"/>
          </a:solidFill>
          <a:ln/>
        </p:spPr>
        <p:txBody>
          <a:bodyPr/>
          <a:lstStyle/>
          <a:p>
            <a:endParaRPr lang="it-IT" dirty="0"/>
          </a:p>
        </p:txBody>
      </p:sp>
      <p:sp>
        <p:nvSpPr>
          <p:cNvPr id="5" name="cerchio FiCpu"/>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Cpu"/>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marL="0" indent="0">
              <a:buNone/>
            </a:pPr>
            <a:r>
              <a:rPr lang="it-IT" sz="1500" b="1" dirty="0">
                <a:solidFill>
                  <a:schemeClr val="tx1"/>
                </a:solidFill>
              </a:rPr>
              <a:t>Dipendono soprattutto dal modello</a:t>
            </a:r>
            <a:endParaRPr lang="it-IT" sz="1500" dirty="0"/>
          </a:p>
        </p:txBody>
      </p:sp>
      <p:sp>
        <p:nvSpPr>
          <p:cNvPr id="8" name="Text 4"/>
          <p:cNvSpPr txBox="1"/>
          <p:nvPr/>
        </p:nvSpPr>
        <p:spPr>
          <a:xfrm>
            <a:off x="640080" y="2231136"/>
            <a:ext cx="3611880" cy="1088136"/>
          </a:xfrm>
          <a:prstGeom prst="rect">
            <a:avLst/>
          </a:prstGeom>
          <a:noFill/>
          <a:ln/>
        </p:spPr>
        <p:txBody>
          <a:bodyPr wrap="square" lIns="0" tIns="0" rIns="0" bIns="0" rtlCol="0" anchor="t"/>
          <a:lstStyle/>
          <a:p>
            <a:pPr marL="177800" indent="-177800">
              <a:spcAft>
                <a:spcPts val="300"/>
              </a:spcAft>
              <a:buSzPct val="100000"/>
              <a:buChar char="•"/>
            </a:pPr>
            <a:r>
              <a:rPr lang="it-IT" sz="1300" dirty="0">
                <a:solidFill>
                  <a:schemeClr val="tx2"/>
                </a:solidFill>
              </a:rPr>
              <a:t>Qualità della scrittura</a:t>
            </a:r>
            <a:endParaRPr lang="it-IT" sz="1300" dirty="0"/>
          </a:p>
          <a:p>
            <a:pPr marL="177800" indent="-177800">
              <a:spcAft>
                <a:spcPts val="300"/>
              </a:spcAft>
              <a:buSzPct val="100000"/>
              <a:buChar char="•"/>
            </a:pPr>
            <a:r>
              <a:rPr lang="it-IT" sz="1300" dirty="0">
                <a:solidFill>
                  <a:schemeClr val="tx2"/>
                </a:solidFill>
              </a:rPr>
              <a:t>Capacità di ragionamento</a:t>
            </a:r>
            <a:endParaRPr lang="it-IT" sz="1300" dirty="0"/>
          </a:p>
          <a:p>
            <a:pPr marL="177800" indent="-177800">
              <a:spcAft>
                <a:spcPts val="300"/>
              </a:spcAft>
              <a:buSzPct val="100000"/>
              <a:buChar char="•"/>
            </a:pPr>
            <a:r>
              <a:rPr lang="it-IT" sz="1300" dirty="0">
                <a:solidFill>
                  <a:schemeClr val="tx2"/>
                </a:solidFill>
              </a:rPr>
              <a:t>Comprensione di immagini e audio</a:t>
            </a:r>
            <a:endParaRPr lang="it-IT" sz="1300" dirty="0"/>
          </a:p>
        </p:txBody>
      </p:sp>
      <p:sp>
        <p:nvSpPr>
          <p:cNvPr id="9" name="scheda Dipendono dall'applicazione"/>
          <p:cNvSpPr/>
          <p:nvPr/>
        </p:nvSpPr>
        <p:spPr>
          <a:xfrm>
            <a:off x="4709160" y="1097280"/>
            <a:ext cx="3977640" cy="2331720"/>
          </a:xfrm>
          <a:prstGeom prst="roundRect">
            <a:avLst>
              <a:gd name="adj" fmla="val 3137"/>
            </a:avLst>
          </a:prstGeom>
          <a:solidFill>
            <a:schemeClr val="accent6"/>
          </a:solidFill>
          <a:ln/>
        </p:spPr>
        <p:txBody>
          <a:bodyPr/>
          <a:lstStyle/>
          <a:p>
            <a:endParaRPr lang="it-IT" dirty="0"/>
          </a:p>
        </p:txBody>
      </p:sp>
      <p:sp>
        <p:nvSpPr>
          <p:cNvPr id="10" name="cerchio FiPackage"/>
          <p:cNvSpPr/>
          <p:nvPr/>
        </p:nvSpPr>
        <p:spPr>
          <a:xfrm>
            <a:off x="4892040" y="1280160"/>
            <a:ext cx="457200" cy="457200"/>
          </a:xfrm>
          <a:prstGeom prst="ellipse">
            <a:avLst/>
          </a:prstGeom>
          <a:solidFill>
            <a:schemeClr val="accent1"/>
          </a:solidFill>
          <a:ln/>
        </p:spPr>
        <p:txBody>
          <a:bodyPr/>
          <a:lstStyle/>
          <a:p>
            <a:endParaRPr lang="it-IT" dirty="0"/>
          </a:p>
        </p:txBody>
      </p:sp>
      <p:pic>
        <p:nvPicPr>
          <p:cNvPr id="11" name="Image 1" descr="FiPackage"/>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marL="0" indent="0">
              <a:buNone/>
            </a:pPr>
            <a:r>
              <a:rPr lang="it-IT" sz="1500" b="1" dirty="0">
                <a:solidFill>
                  <a:schemeClr val="tx1"/>
                </a:solidFill>
              </a:rPr>
              <a:t>Dipendono dall'applicazione</a:t>
            </a:r>
            <a:endParaRPr lang="it-IT" sz="1500" dirty="0"/>
          </a:p>
        </p:txBody>
      </p:sp>
      <p:sp>
        <p:nvSpPr>
          <p:cNvPr id="13" name="Text 8"/>
          <p:cNvSpPr txBox="1"/>
          <p:nvPr/>
        </p:nvSpPr>
        <p:spPr>
          <a:xfrm>
            <a:off x="4892040" y="2231136"/>
            <a:ext cx="3611880" cy="1088136"/>
          </a:xfrm>
          <a:prstGeom prst="rect">
            <a:avLst/>
          </a:prstGeom>
          <a:noFill/>
          <a:ln/>
        </p:spPr>
        <p:txBody>
          <a:bodyPr wrap="square" lIns="0" tIns="0" rIns="0" bIns="0" rtlCol="0" anchor="t"/>
          <a:lstStyle/>
          <a:p>
            <a:pPr marL="177800" indent="-177800">
              <a:spcAft>
                <a:spcPts val="300"/>
              </a:spcAft>
              <a:buSzPct val="100000"/>
              <a:buChar char="•"/>
            </a:pPr>
            <a:r>
              <a:rPr lang="it-IT" sz="1300" dirty="0">
                <a:solidFill>
                  <a:schemeClr val="tx2"/>
                </a:solidFill>
              </a:rPr>
              <a:t>Ricerca sul web, esecuzione di codice</a:t>
            </a:r>
            <a:endParaRPr lang="it-IT" sz="1300" dirty="0"/>
          </a:p>
          <a:p>
            <a:pPr marL="177800" indent="-177800">
              <a:spcAft>
                <a:spcPts val="300"/>
              </a:spcAft>
              <a:buSzPct val="100000"/>
              <a:buChar char="•"/>
            </a:pPr>
            <a:r>
              <a:rPr lang="it-IT" sz="1300" dirty="0">
                <a:solidFill>
                  <a:schemeClr val="tx2"/>
                </a:solidFill>
              </a:rPr>
              <a:t>Lettura di file, collegamenti a sistemi aziendali</a:t>
            </a:r>
            <a:endParaRPr lang="it-IT" sz="1300" dirty="0"/>
          </a:p>
          <a:p>
            <a:pPr marL="177800" indent="-177800">
              <a:spcAft>
                <a:spcPts val="300"/>
              </a:spcAft>
              <a:buSzPct val="100000"/>
              <a:buChar char="•"/>
            </a:pPr>
            <a:r>
              <a:rPr lang="it-IT" sz="1300" dirty="0">
                <a:solidFill>
                  <a:schemeClr val="tx2"/>
                </a:solidFill>
              </a:rPr>
              <a:t>Memoria tra conversazioni</a:t>
            </a:r>
            <a:endParaRPr lang="it-IT" sz="1300" dirty="0"/>
          </a:p>
        </p:txBody>
      </p:sp>
      <p:sp>
        <p:nvSpPr>
          <p:cNvPr id="14" name="verifica funzioni"/>
          <p:cNvSpPr/>
          <p:nvPr/>
        </p:nvSpPr>
        <p:spPr>
          <a:xfrm>
            <a:off x="457200" y="3611880"/>
            <a:ext cx="8229600" cy="914400"/>
          </a:xfrm>
          <a:prstGeom prst="roundRect">
            <a:avLst>
              <a:gd name="adj" fmla="val 8000"/>
            </a:avLst>
          </a:prstGeom>
          <a:solidFill>
            <a:schemeClr val="tx1"/>
          </a:solidFill>
          <a:ln/>
        </p:spPr>
        <p:txBody>
          <a:bodyPr/>
          <a:lstStyle/>
          <a:p>
            <a:endParaRPr lang="it-IT" dirty="0"/>
          </a:p>
        </p:txBody>
      </p:sp>
      <p:sp>
        <p:nvSpPr>
          <p:cNvPr id="15" name="cerchio FiCheckSquare"/>
          <p:cNvSpPr/>
          <p:nvPr/>
        </p:nvSpPr>
        <p:spPr>
          <a:xfrm>
            <a:off x="640080" y="3813048"/>
            <a:ext cx="512064" cy="512064"/>
          </a:xfrm>
          <a:prstGeom prst="ellipse">
            <a:avLst/>
          </a:prstGeom>
          <a:solidFill>
            <a:schemeClr val="accent1"/>
          </a:solidFill>
          <a:ln/>
        </p:spPr>
        <p:txBody>
          <a:bodyPr/>
          <a:lstStyle/>
          <a:p>
            <a:endParaRPr lang="it-IT" dirty="0"/>
          </a:p>
        </p:txBody>
      </p:sp>
      <p:pic>
        <p:nvPicPr>
          <p:cNvPr id="16" name="Image 2" descr="FiCheckSquare"/>
          <p:cNvPicPr>
            <a:picLocks noChangeAspect="1"/>
          </p:cNvPicPr>
          <p:nvPr/>
        </p:nvPicPr>
        <p:blipFill>
          <a:blip r:embed="rId5"/>
          <a:stretch>
            <a:fillRect/>
          </a:stretch>
        </p:blipFill>
        <p:spPr>
          <a:xfrm>
            <a:off x="768096" y="3941064"/>
            <a:ext cx="256032" cy="256032"/>
          </a:xfrm>
          <a:prstGeom prst="rect">
            <a:avLst/>
          </a:prstGeom>
        </p:spPr>
      </p:pic>
      <p:sp>
        <p:nvSpPr>
          <p:cNvPr id="17" name="Text 11"/>
          <p:cNvSpPr txBox="1"/>
          <p:nvPr/>
        </p:nvSpPr>
        <p:spPr>
          <a:xfrm>
            <a:off x="1325880" y="3611880"/>
            <a:ext cx="7223760" cy="914400"/>
          </a:xfrm>
          <a:prstGeom prst="rect">
            <a:avLst/>
          </a:prstGeom>
          <a:noFill/>
          <a:ln/>
        </p:spPr>
        <p:txBody>
          <a:bodyPr wrap="square" lIns="0" tIns="0" rIns="0" bIns="0" rtlCol="0" anchor="ctr"/>
          <a:lstStyle/>
          <a:p>
            <a:pPr marL="0" indent="0">
              <a:buNone/>
            </a:pPr>
            <a:r>
              <a:rPr lang="it-IT" sz="1300" dirty="0">
                <a:solidFill>
                  <a:schemeClr val="bg1"/>
                </a:solidFill>
              </a:rPr>
              <a:t>Prima di affidare un compito, verificare quali funzioni lo strumento offre davvero: informazioni aggiornate senza ricerca, o calcoli senza esecuzione di codice, espongono a errori evitabili.</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64</a:t>
            </a:fld>
            <a:endParaRPr lang="it-IT"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Scomporre, pianificare, valutare alternative</a:t>
            </a:r>
            <a:endParaRPr lang="it-IT" sz="2600" dirty="0"/>
          </a:p>
        </p:txBody>
      </p:sp>
      <p:sp>
        <p:nvSpPr>
          <p:cNvPr id="4" name="Problema complesso"/>
          <p:cNvSpPr/>
          <p:nvPr/>
        </p:nvSpPr>
        <p:spPr>
          <a:xfrm>
            <a:off x="457200" y="1188720"/>
            <a:ext cx="1261872" cy="1600200"/>
          </a:xfrm>
          <a:prstGeom prst="roundRect">
            <a:avLst>
              <a:gd name="adj" fmla="val 5797"/>
            </a:avLst>
          </a:prstGeom>
          <a:solidFill>
            <a:schemeClr val="bg2"/>
          </a:solidFill>
          <a:ln/>
        </p:spPr>
        <p:txBody>
          <a:bodyPr/>
          <a:lstStyle/>
          <a:p>
            <a:endParaRPr lang="it-IT" dirty="0"/>
          </a:p>
        </p:txBody>
      </p:sp>
      <p:sp>
        <p:nvSpPr>
          <p:cNvPr id="5" name="cerchio FiBox"/>
          <p:cNvSpPr/>
          <p:nvPr/>
        </p:nvSpPr>
        <p:spPr>
          <a:xfrm>
            <a:off x="841248" y="1325880"/>
            <a:ext cx="502920" cy="502920"/>
          </a:xfrm>
          <a:prstGeom prst="ellipse">
            <a:avLst/>
          </a:prstGeom>
          <a:solidFill>
            <a:schemeClr val="accent1"/>
          </a:solidFill>
          <a:ln/>
        </p:spPr>
        <p:txBody>
          <a:bodyPr/>
          <a:lstStyle/>
          <a:p>
            <a:endParaRPr lang="it-IT" dirty="0"/>
          </a:p>
        </p:txBody>
      </p:sp>
      <p:pic>
        <p:nvPicPr>
          <p:cNvPr id="6" name="Image 0" descr="FiBox"/>
          <p:cNvPicPr>
            <a:picLocks noChangeAspect="1"/>
          </p:cNvPicPr>
          <p:nvPr/>
        </p:nvPicPr>
        <p:blipFill>
          <a:blip r:embed="rId3"/>
          <a:stretch>
            <a:fillRect/>
          </a:stretch>
        </p:blipFill>
        <p:spPr>
          <a:xfrm>
            <a:off x="966978" y="1451610"/>
            <a:ext cx="251460" cy="251460"/>
          </a:xfrm>
          <a:prstGeom prst="rect">
            <a:avLst/>
          </a:prstGeom>
        </p:spPr>
      </p:pic>
      <p:sp>
        <p:nvSpPr>
          <p:cNvPr id="7" name="Text 3"/>
          <p:cNvSpPr txBox="1"/>
          <p:nvPr/>
        </p:nvSpPr>
        <p:spPr>
          <a:xfrm>
            <a:off x="530352" y="1920240"/>
            <a:ext cx="1115568" cy="777240"/>
          </a:xfrm>
          <a:prstGeom prst="rect">
            <a:avLst/>
          </a:prstGeom>
          <a:noFill/>
          <a:ln/>
        </p:spPr>
        <p:txBody>
          <a:bodyPr wrap="square" lIns="0" tIns="0" rIns="0" bIns="0" rtlCol="0" anchor="ctr"/>
          <a:lstStyle/>
          <a:p>
            <a:pPr marL="0" indent="0" algn="ctr">
              <a:buNone/>
            </a:pPr>
            <a:r>
              <a:rPr lang="it-IT" sz="1300" b="1" dirty="0">
                <a:solidFill>
                  <a:schemeClr val="tx1"/>
                </a:solidFill>
              </a:rPr>
              <a:t>Problema complesso</a:t>
            </a:r>
            <a:endParaRPr lang="it-IT" sz="1300" dirty="0"/>
          </a:p>
        </p:txBody>
      </p:sp>
      <p:sp>
        <p:nvSpPr>
          <p:cNvPr id="8" name="Sotto-problemi"/>
          <p:cNvSpPr/>
          <p:nvPr/>
        </p:nvSpPr>
        <p:spPr>
          <a:xfrm>
            <a:off x="1874520" y="1188720"/>
            <a:ext cx="1261872" cy="1600200"/>
          </a:xfrm>
          <a:prstGeom prst="roundRect">
            <a:avLst>
              <a:gd name="adj" fmla="val 5797"/>
            </a:avLst>
          </a:prstGeom>
          <a:solidFill>
            <a:schemeClr val="bg2"/>
          </a:solidFill>
          <a:ln/>
        </p:spPr>
        <p:txBody>
          <a:bodyPr/>
          <a:lstStyle/>
          <a:p>
            <a:endParaRPr lang="it-IT" dirty="0"/>
          </a:p>
        </p:txBody>
      </p:sp>
      <p:sp>
        <p:nvSpPr>
          <p:cNvPr id="9" name="cerchio FiGrid"/>
          <p:cNvSpPr/>
          <p:nvPr/>
        </p:nvSpPr>
        <p:spPr>
          <a:xfrm>
            <a:off x="2258568" y="1325880"/>
            <a:ext cx="502920" cy="502920"/>
          </a:xfrm>
          <a:prstGeom prst="ellipse">
            <a:avLst/>
          </a:prstGeom>
          <a:solidFill>
            <a:schemeClr val="accent1"/>
          </a:solidFill>
          <a:ln/>
        </p:spPr>
        <p:txBody>
          <a:bodyPr/>
          <a:lstStyle/>
          <a:p>
            <a:endParaRPr lang="it-IT" dirty="0"/>
          </a:p>
        </p:txBody>
      </p:sp>
      <p:pic>
        <p:nvPicPr>
          <p:cNvPr id="10" name="Image 1" descr="FiGrid"/>
          <p:cNvPicPr>
            <a:picLocks noChangeAspect="1"/>
          </p:cNvPicPr>
          <p:nvPr/>
        </p:nvPicPr>
        <p:blipFill>
          <a:blip r:embed="rId4"/>
          <a:stretch>
            <a:fillRect/>
          </a:stretch>
        </p:blipFill>
        <p:spPr>
          <a:xfrm>
            <a:off x="2384298" y="1451610"/>
            <a:ext cx="251460" cy="251460"/>
          </a:xfrm>
          <a:prstGeom prst="rect">
            <a:avLst/>
          </a:prstGeom>
        </p:spPr>
      </p:pic>
      <p:sp>
        <p:nvSpPr>
          <p:cNvPr id="11" name="Text 6"/>
          <p:cNvSpPr txBox="1"/>
          <p:nvPr/>
        </p:nvSpPr>
        <p:spPr>
          <a:xfrm>
            <a:off x="1947672" y="1920240"/>
            <a:ext cx="1115568" cy="777240"/>
          </a:xfrm>
          <a:prstGeom prst="rect">
            <a:avLst/>
          </a:prstGeom>
          <a:noFill/>
          <a:ln/>
        </p:spPr>
        <p:txBody>
          <a:bodyPr wrap="square" lIns="0" tIns="0" rIns="0" bIns="0" rtlCol="0" anchor="ctr"/>
          <a:lstStyle/>
          <a:p>
            <a:pPr marL="0" indent="0" algn="ctr">
              <a:buNone/>
            </a:pPr>
            <a:r>
              <a:rPr lang="it-IT" sz="1300" b="1" dirty="0">
                <a:solidFill>
                  <a:schemeClr val="tx1"/>
                </a:solidFill>
              </a:rPr>
              <a:t>Sotto-problemi</a:t>
            </a:r>
            <a:endParaRPr lang="it-IT" sz="1300" dirty="0"/>
          </a:p>
        </p:txBody>
      </p:sp>
      <p:sp>
        <p:nvSpPr>
          <p:cNvPr id="12" name="Piano e fasi"/>
          <p:cNvSpPr/>
          <p:nvPr/>
        </p:nvSpPr>
        <p:spPr>
          <a:xfrm>
            <a:off x="3291840" y="1188720"/>
            <a:ext cx="1261872" cy="1600200"/>
          </a:xfrm>
          <a:prstGeom prst="roundRect">
            <a:avLst>
              <a:gd name="adj" fmla="val 5797"/>
            </a:avLst>
          </a:prstGeom>
          <a:solidFill>
            <a:schemeClr val="bg2"/>
          </a:solidFill>
          <a:ln/>
        </p:spPr>
        <p:txBody>
          <a:bodyPr/>
          <a:lstStyle/>
          <a:p>
            <a:endParaRPr lang="it-IT" dirty="0"/>
          </a:p>
        </p:txBody>
      </p:sp>
      <p:sp>
        <p:nvSpPr>
          <p:cNvPr id="13" name="cerchio FiList"/>
          <p:cNvSpPr/>
          <p:nvPr/>
        </p:nvSpPr>
        <p:spPr>
          <a:xfrm>
            <a:off x="3675888" y="1325880"/>
            <a:ext cx="502920" cy="502920"/>
          </a:xfrm>
          <a:prstGeom prst="ellipse">
            <a:avLst/>
          </a:prstGeom>
          <a:solidFill>
            <a:schemeClr val="accent1"/>
          </a:solidFill>
          <a:ln/>
        </p:spPr>
        <p:txBody>
          <a:bodyPr/>
          <a:lstStyle/>
          <a:p>
            <a:endParaRPr lang="it-IT" dirty="0"/>
          </a:p>
        </p:txBody>
      </p:sp>
      <p:pic>
        <p:nvPicPr>
          <p:cNvPr id="14" name="Image 2" descr="FiList"/>
          <p:cNvPicPr>
            <a:picLocks noChangeAspect="1"/>
          </p:cNvPicPr>
          <p:nvPr/>
        </p:nvPicPr>
        <p:blipFill>
          <a:blip r:embed="rId5"/>
          <a:stretch>
            <a:fillRect/>
          </a:stretch>
        </p:blipFill>
        <p:spPr>
          <a:xfrm>
            <a:off x="3801618" y="1451610"/>
            <a:ext cx="251460" cy="251460"/>
          </a:xfrm>
          <a:prstGeom prst="rect">
            <a:avLst/>
          </a:prstGeom>
        </p:spPr>
      </p:pic>
      <p:sp>
        <p:nvSpPr>
          <p:cNvPr id="15" name="Text 9"/>
          <p:cNvSpPr txBox="1"/>
          <p:nvPr/>
        </p:nvSpPr>
        <p:spPr>
          <a:xfrm>
            <a:off x="3364992" y="1920240"/>
            <a:ext cx="1115568" cy="777240"/>
          </a:xfrm>
          <a:prstGeom prst="rect">
            <a:avLst/>
          </a:prstGeom>
          <a:noFill/>
          <a:ln/>
        </p:spPr>
        <p:txBody>
          <a:bodyPr wrap="square" lIns="0" tIns="0" rIns="0" bIns="0" rtlCol="0" anchor="ctr"/>
          <a:lstStyle/>
          <a:p>
            <a:pPr marL="0" indent="0" algn="ctr">
              <a:buNone/>
            </a:pPr>
            <a:r>
              <a:rPr lang="it-IT" sz="1300" b="1" dirty="0">
                <a:solidFill>
                  <a:schemeClr val="tx1"/>
                </a:solidFill>
              </a:rPr>
              <a:t>Piano e fasi</a:t>
            </a:r>
            <a:endParaRPr lang="it-IT" sz="1300" dirty="0"/>
          </a:p>
        </p:txBody>
      </p:sp>
      <p:sp>
        <p:nvSpPr>
          <p:cNvPr id="16" name="Alternative"/>
          <p:cNvSpPr/>
          <p:nvPr/>
        </p:nvSpPr>
        <p:spPr>
          <a:xfrm>
            <a:off x="4709160" y="1188720"/>
            <a:ext cx="1261872" cy="1600200"/>
          </a:xfrm>
          <a:prstGeom prst="roundRect">
            <a:avLst>
              <a:gd name="adj" fmla="val 5797"/>
            </a:avLst>
          </a:prstGeom>
          <a:solidFill>
            <a:schemeClr val="bg2"/>
          </a:solidFill>
          <a:ln/>
        </p:spPr>
        <p:txBody>
          <a:bodyPr/>
          <a:lstStyle/>
          <a:p>
            <a:endParaRPr lang="it-IT" dirty="0"/>
          </a:p>
        </p:txBody>
      </p:sp>
      <p:sp>
        <p:nvSpPr>
          <p:cNvPr id="17" name="cerchio FiShuffle"/>
          <p:cNvSpPr/>
          <p:nvPr/>
        </p:nvSpPr>
        <p:spPr>
          <a:xfrm>
            <a:off x="5093208" y="1325880"/>
            <a:ext cx="502920" cy="502920"/>
          </a:xfrm>
          <a:prstGeom prst="ellipse">
            <a:avLst/>
          </a:prstGeom>
          <a:solidFill>
            <a:schemeClr val="accent1"/>
          </a:solidFill>
          <a:ln/>
        </p:spPr>
        <p:txBody>
          <a:bodyPr/>
          <a:lstStyle/>
          <a:p>
            <a:endParaRPr lang="it-IT" dirty="0"/>
          </a:p>
        </p:txBody>
      </p:sp>
      <p:pic>
        <p:nvPicPr>
          <p:cNvPr id="18" name="Image 3" descr="FiShuffle"/>
          <p:cNvPicPr>
            <a:picLocks noChangeAspect="1"/>
          </p:cNvPicPr>
          <p:nvPr/>
        </p:nvPicPr>
        <p:blipFill>
          <a:blip r:embed="rId6"/>
          <a:stretch>
            <a:fillRect/>
          </a:stretch>
        </p:blipFill>
        <p:spPr>
          <a:xfrm>
            <a:off x="5218938" y="1451610"/>
            <a:ext cx="251460" cy="251460"/>
          </a:xfrm>
          <a:prstGeom prst="rect">
            <a:avLst/>
          </a:prstGeom>
        </p:spPr>
      </p:pic>
      <p:sp>
        <p:nvSpPr>
          <p:cNvPr id="19" name="Text 12"/>
          <p:cNvSpPr txBox="1"/>
          <p:nvPr/>
        </p:nvSpPr>
        <p:spPr>
          <a:xfrm>
            <a:off x="4782312" y="1920240"/>
            <a:ext cx="1115568" cy="777240"/>
          </a:xfrm>
          <a:prstGeom prst="rect">
            <a:avLst/>
          </a:prstGeom>
          <a:noFill/>
          <a:ln/>
        </p:spPr>
        <p:txBody>
          <a:bodyPr wrap="square" lIns="0" tIns="0" rIns="0" bIns="0" rtlCol="0" anchor="ctr"/>
          <a:lstStyle/>
          <a:p>
            <a:pPr marL="0" indent="0" algn="ctr">
              <a:buNone/>
            </a:pPr>
            <a:r>
              <a:rPr lang="it-IT" sz="1300" b="1" dirty="0">
                <a:solidFill>
                  <a:schemeClr val="tx1"/>
                </a:solidFill>
              </a:rPr>
              <a:t>Alternative</a:t>
            </a:r>
            <a:endParaRPr lang="it-IT" sz="1300" dirty="0"/>
          </a:p>
        </p:txBody>
      </p:sp>
      <p:sp>
        <p:nvSpPr>
          <p:cNvPr id="20" name="Confronto per criteri"/>
          <p:cNvSpPr/>
          <p:nvPr/>
        </p:nvSpPr>
        <p:spPr>
          <a:xfrm>
            <a:off x="6126480" y="1188720"/>
            <a:ext cx="1261872" cy="1600200"/>
          </a:xfrm>
          <a:prstGeom prst="roundRect">
            <a:avLst>
              <a:gd name="adj" fmla="val 5797"/>
            </a:avLst>
          </a:prstGeom>
          <a:solidFill>
            <a:schemeClr val="bg2"/>
          </a:solidFill>
          <a:ln/>
        </p:spPr>
        <p:txBody>
          <a:bodyPr/>
          <a:lstStyle/>
          <a:p>
            <a:endParaRPr lang="it-IT" dirty="0"/>
          </a:p>
        </p:txBody>
      </p:sp>
      <p:sp>
        <p:nvSpPr>
          <p:cNvPr id="21" name="cerchio FiSliders"/>
          <p:cNvSpPr/>
          <p:nvPr/>
        </p:nvSpPr>
        <p:spPr>
          <a:xfrm>
            <a:off x="6510528" y="1325880"/>
            <a:ext cx="502920" cy="502920"/>
          </a:xfrm>
          <a:prstGeom prst="ellipse">
            <a:avLst/>
          </a:prstGeom>
          <a:solidFill>
            <a:schemeClr val="accent1"/>
          </a:solidFill>
          <a:ln/>
        </p:spPr>
        <p:txBody>
          <a:bodyPr/>
          <a:lstStyle/>
          <a:p>
            <a:endParaRPr lang="it-IT" dirty="0"/>
          </a:p>
        </p:txBody>
      </p:sp>
      <p:pic>
        <p:nvPicPr>
          <p:cNvPr id="22" name="Image 4" descr="FiSliders"/>
          <p:cNvPicPr>
            <a:picLocks noChangeAspect="1"/>
          </p:cNvPicPr>
          <p:nvPr/>
        </p:nvPicPr>
        <p:blipFill>
          <a:blip r:embed="rId7"/>
          <a:stretch>
            <a:fillRect/>
          </a:stretch>
        </p:blipFill>
        <p:spPr>
          <a:xfrm>
            <a:off x="6636258" y="1451610"/>
            <a:ext cx="251460" cy="251460"/>
          </a:xfrm>
          <a:prstGeom prst="rect">
            <a:avLst/>
          </a:prstGeom>
        </p:spPr>
      </p:pic>
      <p:sp>
        <p:nvSpPr>
          <p:cNvPr id="23" name="Text 15"/>
          <p:cNvSpPr txBox="1"/>
          <p:nvPr/>
        </p:nvSpPr>
        <p:spPr>
          <a:xfrm>
            <a:off x="6199632" y="1920240"/>
            <a:ext cx="1115568" cy="777240"/>
          </a:xfrm>
          <a:prstGeom prst="rect">
            <a:avLst/>
          </a:prstGeom>
          <a:noFill/>
          <a:ln/>
        </p:spPr>
        <p:txBody>
          <a:bodyPr wrap="square" lIns="0" tIns="0" rIns="0" bIns="0" rtlCol="0" anchor="ctr"/>
          <a:lstStyle/>
          <a:p>
            <a:pPr marL="0" indent="0" algn="ctr">
              <a:buNone/>
            </a:pPr>
            <a:r>
              <a:rPr lang="it-IT" sz="1300" b="1" dirty="0">
                <a:solidFill>
                  <a:schemeClr val="tx1"/>
                </a:solidFill>
              </a:rPr>
              <a:t>Confronto per criteri</a:t>
            </a:r>
            <a:endParaRPr lang="it-IT" sz="1300" dirty="0"/>
          </a:p>
        </p:txBody>
      </p:sp>
      <p:sp>
        <p:nvSpPr>
          <p:cNvPr id="24" name="Scelta della persona"/>
          <p:cNvSpPr/>
          <p:nvPr/>
        </p:nvSpPr>
        <p:spPr>
          <a:xfrm>
            <a:off x="7543800" y="1188720"/>
            <a:ext cx="1261872" cy="1600200"/>
          </a:xfrm>
          <a:prstGeom prst="roundRect">
            <a:avLst>
              <a:gd name="adj" fmla="val 5797"/>
            </a:avLst>
          </a:prstGeom>
          <a:solidFill>
            <a:schemeClr val="accent1"/>
          </a:solidFill>
          <a:ln/>
        </p:spPr>
        <p:txBody>
          <a:bodyPr/>
          <a:lstStyle/>
          <a:p>
            <a:endParaRPr lang="it-IT" dirty="0"/>
          </a:p>
        </p:txBody>
      </p:sp>
      <p:sp>
        <p:nvSpPr>
          <p:cNvPr id="25" name="cerchio FiUserCheck"/>
          <p:cNvSpPr/>
          <p:nvPr/>
        </p:nvSpPr>
        <p:spPr>
          <a:xfrm>
            <a:off x="7927848" y="1325880"/>
            <a:ext cx="502920" cy="502920"/>
          </a:xfrm>
          <a:prstGeom prst="ellipse">
            <a:avLst/>
          </a:prstGeom>
          <a:solidFill>
            <a:schemeClr val="bg1"/>
          </a:solidFill>
          <a:ln/>
        </p:spPr>
        <p:txBody>
          <a:bodyPr/>
          <a:lstStyle/>
          <a:p>
            <a:endParaRPr lang="it-IT" dirty="0"/>
          </a:p>
        </p:txBody>
      </p:sp>
      <p:pic>
        <p:nvPicPr>
          <p:cNvPr id="26" name="Image 5" descr="FiUserCheck"/>
          <p:cNvPicPr>
            <a:picLocks noChangeAspect="1"/>
          </p:cNvPicPr>
          <p:nvPr/>
        </p:nvPicPr>
        <p:blipFill>
          <a:blip r:embed="rId8"/>
          <a:stretch>
            <a:fillRect/>
          </a:stretch>
        </p:blipFill>
        <p:spPr>
          <a:xfrm>
            <a:off x="8053578" y="1451610"/>
            <a:ext cx="251460" cy="251460"/>
          </a:xfrm>
          <a:prstGeom prst="rect">
            <a:avLst/>
          </a:prstGeom>
        </p:spPr>
      </p:pic>
      <p:sp>
        <p:nvSpPr>
          <p:cNvPr id="27" name="Text 18"/>
          <p:cNvSpPr txBox="1"/>
          <p:nvPr/>
        </p:nvSpPr>
        <p:spPr>
          <a:xfrm>
            <a:off x="7616952" y="1920240"/>
            <a:ext cx="1115568" cy="777240"/>
          </a:xfrm>
          <a:prstGeom prst="rect">
            <a:avLst/>
          </a:prstGeom>
          <a:noFill/>
          <a:ln/>
        </p:spPr>
        <p:txBody>
          <a:bodyPr wrap="square" lIns="0" tIns="0" rIns="0" bIns="0" rtlCol="0" anchor="ctr"/>
          <a:lstStyle/>
          <a:p>
            <a:pPr marL="0" indent="0" algn="ctr">
              <a:buNone/>
            </a:pPr>
            <a:r>
              <a:rPr lang="it-IT" sz="1300" b="1" dirty="0">
                <a:solidFill>
                  <a:schemeClr val="bg1"/>
                </a:solidFill>
              </a:rPr>
              <a:t>Scelta della persona</a:t>
            </a:r>
            <a:endParaRPr lang="it-IT" sz="1300" dirty="0"/>
          </a:p>
        </p:txBody>
      </p:sp>
      <p:sp>
        <p:nvSpPr>
          <p:cNvPr id="28" name="scheda Dipende dalle informazioni"/>
          <p:cNvSpPr/>
          <p:nvPr/>
        </p:nvSpPr>
        <p:spPr>
          <a:xfrm>
            <a:off x="457200" y="3017520"/>
            <a:ext cx="3977640" cy="1508760"/>
          </a:xfrm>
          <a:prstGeom prst="roundRect">
            <a:avLst>
              <a:gd name="adj" fmla="val 4848"/>
            </a:avLst>
          </a:prstGeom>
          <a:solidFill>
            <a:schemeClr val="bg2"/>
          </a:solidFill>
          <a:ln/>
        </p:spPr>
        <p:txBody>
          <a:bodyPr/>
          <a:lstStyle/>
          <a:p>
            <a:endParaRPr lang="it-IT" dirty="0"/>
          </a:p>
        </p:txBody>
      </p:sp>
      <p:sp>
        <p:nvSpPr>
          <p:cNvPr id="29" name="cerchio FiAlertCircle"/>
          <p:cNvSpPr/>
          <p:nvPr/>
        </p:nvSpPr>
        <p:spPr>
          <a:xfrm>
            <a:off x="640080" y="3200400"/>
            <a:ext cx="457200" cy="457200"/>
          </a:xfrm>
          <a:prstGeom prst="ellipse">
            <a:avLst/>
          </a:prstGeom>
          <a:solidFill>
            <a:schemeClr val="accent1"/>
          </a:solidFill>
          <a:ln/>
        </p:spPr>
        <p:txBody>
          <a:bodyPr/>
          <a:lstStyle/>
          <a:p>
            <a:endParaRPr lang="it-IT" dirty="0"/>
          </a:p>
        </p:txBody>
      </p:sp>
      <p:pic>
        <p:nvPicPr>
          <p:cNvPr id="30" name="Image 6" descr="FiAlertCircle"/>
          <p:cNvPicPr>
            <a:picLocks noChangeAspect="1"/>
          </p:cNvPicPr>
          <p:nvPr/>
        </p:nvPicPr>
        <p:blipFill>
          <a:blip r:embed="rId9"/>
          <a:stretch>
            <a:fillRect/>
          </a:stretch>
        </p:blipFill>
        <p:spPr>
          <a:xfrm>
            <a:off x="754380" y="3314700"/>
            <a:ext cx="228600" cy="228600"/>
          </a:xfrm>
          <a:prstGeom prst="rect">
            <a:avLst/>
          </a:prstGeom>
        </p:spPr>
      </p:pic>
      <p:sp>
        <p:nvSpPr>
          <p:cNvPr id="31" name="Text 21"/>
          <p:cNvSpPr txBox="1"/>
          <p:nvPr/>
        </p:nvSpPr>
        <p:spPr>
          <a:xfrm>
            <a:off x="1234440" y="3200400"/>
            <a:ext cx="3017520" cy="457200"/>
          </a:xfrm>
          <a:prstGeom prst="rect">
            <a:avLst/>
          </a:prstGeom>
          <a:noFill/>
          <a:ln/>
        </p:spPr>
        <p:txBody>
          <a:bodyPr wrap="square" lIns="0" tIns="0" rIns="0" bIns="0" rtlCol="0" anchor="ctr"/>
          <a:lstStyle/>
          <a:p>
            <a:pPr marL="0" indent="0">
              <a:buNone/>
            </a:pPr>
            <a:r>
              <a:rPr lang="it-IT" sz="1500" b="1" dirty="0">
                <a:solidFill>
                  <a:schemeClr val="tx1"/>
                </a:solidFill>
              </a:rPr>
              <a:t>Dipende dalle informazioni</a:t>
            </a:r>
            <a:endParaRPr lang="it-IT" sz="1500" dirty="0"/>
          </a:p>
        </p:txBody>
      </p:sp>
      <p:sp>
        <p:nvSpPr>
          <p:cNvPr id="32" name="Text 22"/>
          <p:cNvSpPr txBox="1"/>
          <p:nvPr/>
        </p:nvSpPr>
        <p:spPr>
          <a:xfrm>
            <a:off x="640080" y="3794760"/>
            <a:ext cx="3611880" cy="621792"/>
          </a:xfrm>
          <a:prstGeom prst="rect">
            <a:avLst/>
          </a:prstGeom>
          <a:noFill/>
          <a:ln/>
        </p:spPr>
        <p:txBody>
          <a:bodyPr wrap="square" lIns="0" tIns="0" rIns="0" bIns="0" rtlCol="0" anchor="t"/>
          <a:lstStyle/>
          <a:p>
            <a:pPr marL="0" indent="0">
              <a:buNone/>
            </a:pPr>
            <a:r>
              <a:rPr lang="it-IT" sz="1200" dirty="0">
                <a:solidFill>
                  <a:schemeClr val="tx2"/>
                </a:solidFill>
              </a:rPr>
              <a:t>Fornire obiettivi, risorse, budget e scadenze permette all’AI di elaborare piani più pertinenti e utilizzabili.</a:t>
            </a:r>
            <a:endParaRPr lang="it-IT" sz="1200" dirty="0"/>
          </a:p>
        </p:txBody>
      </p:sp>
      <p:sp>
        <p:nvSpPr>
          <p:cNvPr id="33" name="scheda Oggettività apparente"/>
          <p:cNvSpPr/>
          <p:nvPr/>
        </p:nvSpPr>
        <p:spPr>
          <a:xfrm>
            <a:off x="4709160" y="3017520"/>
            <a:ext cx="3977640" cy="1508760"/>
          </a:xfrm>
          <a:prstGeom prst="roundRect">
            <a:avLst>
              <a:gd name="adj" fmla="val 4848"/>
            </a:avLst>
          </a:prstGeom>
          <a:solidFill>
            <a:schemeClr val="bg2"/>
          </a:solidFill>
          <a:ln/>
        </p:spPr>
        <p:txBody>
          <a:bodyPr/>
          <a:lstStyle/>
          <a:p>
            <a:endParaRPr lang="it-IT" dirty="0"/>
          </a:p>
        </p:txBody>
      </p:sp>
      <p:sp>
        <p:nvSpPr>
          <p:cNvPr id="34" name="cerchio FiEye"/>
          <p:cNvSpPr/>
          <p:nvPr/>
        </p:nvSpPr>
        <p:spPr>
          <a:xfrm>
            <a:off x="4892040" y="3200400"/>
            <a:ext cx="457200" cy="457200"/>
          </a:xfrm>
          <a:prstGeom prst="ellipse">
            <a:avLst/>
          </a:prstGeom>
          <a:solidFill>
            <a:schemeClr val="accent1"/>
          </a:solidFill>
          <a:ln/>
        </p:spPr>
        <p:txBody>
          <a:bodyPr/>
          <a:lstStyle/>
          <a:p>
            <a:endParaRPr lang="it-IT" dirty="0"/>
          </a:p>
        </p:txBody>
      </p:sp>
      <p:pic>
        <p:nvPicPr>
          <p:cNvPr id="35" name="Image 7" descr="FiEye"/>
          <p:cNvPicPr>
            <a:picLocks noChangeAspect="1"/>
          </p:cNvPicPr>
          <p:nvPr/>
        </p:nvPicPr>
        <p:blipFill>
          <a:blip r:embed="rId10"/>
          <a:stretch>
            <a:fillRect/>
          </a:stretch>
        </p:blipFill>
        <p:spPr>
          <a:xfrm>
            <a:off x="5006340" y="3314700"/>
            <a:ext cx="228600" cy="228600"/>
          </a:xfrm>
          <a:prstGeom prst="rect">
            <a:avLst/>
          </a:prstGeom>
        </p:spPr>
      </p:pic>
      <p:sp>
        <p:nvSpPr>
          <p:cNvPr id="36" name="Text 25"/>
          <p:cNvSpPr txBox="1"/>
          <p:nvPr/>
        </p:nvSpPr>
        <p:spPr>
          <a:xfrm>
            <a:off x="5486400" y="3200400"/>
            <a:ext cx="3017520" cy="457200"/>
          </a:xfrm>
          <a:prstGeom prst="rect">
            <a:avLst/>
          </a:prstGeom>
          <a:noFill/>
          <a:ln/>
        </p:spPr>
        <p:txBody>
          <a:bodyPr wrap="square" lIns="0" tIns="0" rIns="0" bIns="0" rtlCol="0" anchor="ctr"/>
          <a:lstStyle/>
          <a:p>
            <a:pPr marL="0" indent="0">
              <a:buNone/>
            </a:pPr>
            <a:r>
              <a:rPr lang="it-IT" sz="1500" b="1" dirty="0">
                <a:solidFill>
                  <a:schemeClr val="tx1"/>
                </a:solidFill>
              </a:rPr>
              <a:t>Oggettività apparente</a:t>
            </a:r>
            <a:endParaRPr lang="it-IT" sz="1500" dirty="0"/>
          </a:p>
        </p:txBody>
      </p:sp>
      <p:sp>
        <p:nvSpPr>
          <p:cNvPr id="37" name="Text 26"/>
          <p:cNvSpPr txBox="1"/>
          <p:nvPr/>
        </p:nvSpPr>
        <p:spPr>
          <a:xfrm>
            <a:off x="4892040" y="3794760"/>
            <a:ext cx="3611880" cy="621792"/>
          </a:xfrm>
          <a:prstGeom prst="rect">
            <a:avLst/>
          </a:prstGeom>
          <a:noFill/>
          <a:ln/>
        </p:spPr>
        <p:txBody>
          <a:bodyPr wrap="square" lIns="0" tIns="0" rIns="0" bIns="0" rtlCol="0" anchor="t"/>
          <a:lstStyle/>
          <a:p>
            <a:pPr marL="0" indent="0">
              <a:buNone/>
            </a:pPr>
            <a:r>
              <a:rPr lang="it-IT" sz="1200" dirty="0">
                <a:solidFill>
                  <a:schemeClr val="tx2"/>
                </a:solidFill>
              </a:rPr>
              <a:t>Definire criteri espliciti aiuta a confrontare le alternative in modo più trasparente e strutturato.</a:t>
            </a:r>
            <a:endParaRPr lang="it-IT"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65</a:t>
            </a:fld>
            <a:endParaRPr lang="it-IT"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Generazione di idee e supporto creativo</a:t>
            </a:r>
            <a:endParaRPr lang="it-IT" sz="2600" dirty="0"/>
          </a:p>
        </p:txBody>
      </p:sp>
      <p:sp>
        <p:nvSpPr>
          <p:cNvPr id="4" name="scheda Punti di forza"/>
          <p:cNvSpPr/>
          <p:nvPr/>
        </p:nvSpPr>
        <p:spPr>
          <a:xfrm>
            <a:off x="457200" y="1097280"/>
            <a:ext cx="3977640" cy="2194560"/>
          </a:xfrm>
          <a:prstGeom prst="roundRect">
            <a:avLst>
              <a:gd name="adj" fmla="val 3333"/>
            </a:avLst>
          </a:prstGeom>
          <a:solidFill>
            <a:schemeClr val="accent6"/>
          </a:solidFill>
          <a:ln/>
        </p:spPr>
        <p:txBody>
          <a:bodyPr/>
          <a:lstStyle/>
          <a:p>
            <a:endParaRPr lang="it-IT" dirty="0"/>
          </a:p>
        </p:txBody>
      </p:sp>
      <p:sp>
        <p:nvSpPr>
          <p:cNvPr id="5" name="cerchio FiZap"/>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Zap"/>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marL="0" indent="0">
              <a:buNone/>
            </a:pPr>
            <a:r>
              <a:rPr lang="it-IT" sz="1500" b="1" dirty="0">
                <a:solidFill>
                  <a:schemeClr val="tx1"/>
                </a:solidFill>
              </a:rPr>
              <a:t>Punti di forza</a:t>
            </a:r>
            <a:endParaRPr lang="it-IT" sz="1500" dirty="0"/>
          </a:p>
        </p:txBody>
      </p:sp>
      <p:sp>
        <p:nvSpPr>
          <p:cNvPr id="8" name="Text 4"/>
          <p:cNvSpPr txBox="1"/>
          <p:nvPr/>
        </p:nvSpPr>
        <p:spPr>
          <a:xfrm>
            <a:off x="640080" y="2231136"/>
            <a:ext cx="3611880" cy="950976"/>
          </a:xfrm>
          <a:prstGeom prst="rect">
            <a:avLst/>
          </a:prstGeom>
          <a:noFill/>
          <a:ln/>
        </p:spPr>
        <p:txBody>
          <a:bodyPr wrap="square" lIns="0" tIns="0" rIns="0" bIns="0" rtlCol="0" anchor="t"/>
          <a:lstStyle/>
          <a:p>
            <a:pPr marL="177800" indent="-177800">
              <a:spcAft>
                <a:spcPts val="200"/>
              </a:spcAft>
              <a:buSzPct val="100000"/>
              <a:buChar char="•"/>
            </a:pPr>
            <a:r>
              <a:rPr lang="it-IT" sz="1300" dirty="0">
                <a:solidFill>
                  <a:schemeClr val="tx2"/>
                </a:solidFill>
              </a:rPr>
              <a:t>Molte idee e varianti in pochi secondi</a:t>
            </a:r>
            <a:endParaRPr lang="it-IT" sz="1300" dirty="0"/>
          </a:p>
          <a:p>
            <a:pPr marL="177800" indent="-177800">
              <a:spcAft>
                <a:spcPts val="200"/>
              </a:spcAft>
              <a:buSzPct val="100000"/>
              <a:buChar char="•"/>
            </a:pPr>
            <a:r>
              <a:rPr lang="it-IT" sz="1300" dirty="0">
                <a:solidFill>
                  <a:schemeClr val="tx2"/>
                </a:solidFill>
              </a:rPr>
              <a:t>Combinazioni tra ambiti diversi</a:t>
            </a:r>
            <a:endParaRPr lang="it-IT" sz="1300" dirty="0"/>
          </a:p>
          <a:p>
            <a:pPr marL="177800" indent="-177800">
              <a:spcAft>
                <a:spcPts val="200"/>
              </a:spcAft>
              <a:buSzPct val="100000"/>
              <a:buChar char="•"/>
            </a:pPr>
            <a:r>
              <a:rPr lang="it-IT" sz="1300" dirty="0">
                <a:solidFill>
                  <a:schemeClr val="tx2"/>
                </a:solidFill>
              </a:rPr>
              <a:t>Superare la pagina bianca</a:t>
            </a:r>
            <a:endParaRPr lang="it-IT" sz="1300" dirty="0"/>
          </a:p>
          <a:p>
            <a:pPr marL="177800" indent="-177800">
              <a:spcAft>
                <a:spcPts val="200"/>
              </a:spcAft>
              <a:buSzPct val="100000"/>
              <a:buChar char="•"/>
            </a:pPr>
            <a:r>
              <a:rPr lang="it-IT" sz="1300" dirty="0">
                <a:solidFill>
                  <a:schemeClr val="tx2"/>
                </a:solidFill>
              </a:rPr>
              <a:t>Assumere punti di vista diversi</a:t>
            </a:r>
            <a:endParaRPr lang="it-IT" sz="1300" dirty="0"/>
          </a:p>
        </p:txBody>
      </p:sp>
      <p:sp>
        <p:nvSpPr>
          <p:cNvPr id="9" name="scheda Limiti"/>
          <p:cNvSpPr/>
          <p:nvPr/>
        </p:nvSpPr>
        <p:spPr>
          <a:xfrm>
            <a:off x="4709160" y="1097280"/>
            <a:ext cx="3977640" cy="2194560"/>
          </a:xfrm>
          <a:prstGeom prst="roundRect">
            <a:avLst>
              <a:gd name="adj" fmla="val 3333"/>
            </a:avLst>
          </a:prstGeom>
          <a:solidFill>
            <a:schemeClr val="bg2"/>
          </a:solidFill>
          <a:ln/>
        </p:spPr>
        <p:txBody>
          <a:bodyPr/>
          <a:lstStyle/>
          <a:p>
            <a:endParaRPr lang="it-IT" dirty="0"/>
          </a:p>
        </p:txBody>
      </p:sp>
      <p:sp>
        <p:nvSpPr>
          <p:cNvPr id="10" name="cerchio FiAlertCircle"/>
          <p:cNvSpPr/>
          <p:nvPr/>
        </p:nvSpPr>
        <p:spPr>
          <a:xfrm>
            <a:off x="4892040" y="1280160"/>
            <a:ext cx="457200" cy="457200"/>
          </a:xfrm>
          <a:prstGeom prst="ellipse">
            <a:avLst/>
          </a:prstGeom>
          <a:solidFill>
            <a:schemeClr val="accent1"/>
          </a:solidFill>
          <a:ln/>
        </p:spPr>
        <p:txBody>
          <a:bodyPr/>
          <a:lstStyle/>
          <a:p>
            <a:endParaRPr lang="it-IT" dirty="0"/>
          </a:p>
        </p:txBody>
      </p:sp>
      <p:pic>
        <p:nvPicPr>
          <p:cNvPr id="11" name="Image 1" descr="FiAlertCircle"/>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marL="0" indent="0">
              <a:buNone/>
            </a:pPr>
            <a:r>
              <a:rPr lang="it-IT" sz="1500" b="1" dirty="0">
                <a:solidFill>
                  <a:schemeClr val="tx1"/>
                </a:solidFill>
              </a:rPr>
              <a:t>Limiti</a:t>
            </a:r>
            <a:endParaRPr lang="it-IT" sz="1500" dirty="0"/>
          </a:p>
        </p:txBody>
      </p:sp>
      <p:sp>
        <p:nvSpPr>
          <p:cNvPr id="13" name="Text 8"/>
          <p:cNvSpPr txBox="1"/>
          <p:nvPr/>
        </p:nvSpPr>
        <p:spPr>
          <a:xfrm>
            <a:off x="4892040" y="2231136"/>
            <a:ext cx="3611880" cy="950976"/>
          </a:xfrm>
          <a:prstGeom prst="rect">
            <a:avLst/>
          </a:prstGeom>
          <a:noFill/>
          <a:ln/>
        </p:spPr>
        <p:txBody>
          <a:bodyPr wrap="square" lIns="0" tIns="0" rIns="0" bIns="0" rtlCol="0" anchor="t"/>
          <a:lstStyle/>
          <a:p>
            <a:pPr marL="177800" indent="-177800">
              <a:spcAft>
                <a:spcPts val="200"/>
              </a:spcAft>
              <a:buSzPct val="100000"/>
              <a:buChar char="•"/>
            </a:pPr>
            <a:r>
              <a:rPr lang="it-IT" sz="1300" dirty="0">
                <a:solidFill>
                  <a:schemeClr val="tx2"/>
                </a:solidFill>
              </a:rPr>
              <a:t>Tende a soluzioni plausibili e convenzionali</a:t>
            </a:r>
            <a:endParaRPr lang="it-IT" sz="1300" dirty="0"/>
          </a:p>
          <a:p>
            <a:pPr marL="177800" indent="-177800">
              <a:spcAft>
                <a:spcPts val="200"/>
              </a:spcAft>
              <a:buSzPct val="100000"/>
              <a:buChar char="•"/>
            </a:pPr>
            <a:r>
              <a:rPr lang="it-IT" sz="1300" dirty="0">
                <a:solidFill>
                  <a:schemeClr val="tx2"/>
                </a:solidFill>
              </a:rPr>
              <a:t>Non conosce vincoli e cultura dell'organizzazione</a:t>
            </a:r>
            <a:endParaRPr lang="it-IT" sz="1300" dirty="0"/>
          </a:p>
          <a:p>
            <a:pPr marL="177800" indent="-177800">
              <a:spcAft>
                <a:spcPts val="200"/>
              </a:spcAft>
              <a:buSzPct val="100000"/>
              <a:buChar char="•"/>
            </a:pPr>
            <a:r>
              <a:rPr lang="it-IT" sz="1300" dirty="0">
                <a:solidFill>
                  <a:schemeClr val="tx2"/>
                </a:solidFill>
              </a:rPr>
              <a:t>Può ridurre la varietà complessiva delle idee</a:t>
            </a:r>
            <a:endParaRPr lang="it-IT" sz="1300" dirty="0"/>
          </a:p>
        </p:txBody>
      </p:sp>
      <p:sp>
        <p:nvSpPr>
          <p:cNvPr id="14" name="studio creatività"/>
          <p:cNvSpPr/>
          <p:nvPr/>
        </p:nvSpPr>
        <p:spPr>
          <a:xfrm>
            <a:off x="457200" y="3474720"/>
            <a:ext cx="8229600" cy="1051560"/>
          </a:xfrm>
          <a:prstGeom prst="roundRect">
            <a:avLst>
              <a:gd name="adj" fmla="val 6957"/>
            </a:avLst>
          </a:prstGeom>
          <a:solidFill>
            <a:schemeClr val="tx1"/>
          </a:solidFill>
          <a:ln/>
        </p:spPr>
        <p:txBody>
          <a:bodyPr/>
          <a:lstStyle/>
          <a:p>
            <a:endParaRPr lang="it-IT" dirty="0"/>
          </a:p>
        </p:txBody>
      </p:sp>
      <p:sp>
        <p:nvSpPr>
          <p:cNvPr id="15" name="Text 10"/>
          <p:cNvSpPr txBox="1"/>
          <p:nvPr/>
        </p:nvSpPr>
        <p:spPr>
          <a:xfrm>
            <a:off x="640080" y="3566160"/>
            <a:ext cx="3657600" cy="256032"/>
          </a:xfrm>
          <a:prstGeom prst="rect">
            <a:avLst/>
          </a:prstGeom>
          <a:noFill/>
          <a:ln/>
        </p:spPr>
        <p:txBody>
          <a:bodyPr wrap="square" lIns="0" tIns="0" rIns="0" bIns="0" rtlCol="0" anchor="t"/>
          <a:lstStyle/>
          <a:p>
            <a:pPr marL="0" indent="0">
              <a:buNone/>
            </a:pPr>
            <a:r>
              <a:rPr lang="it-IT" sz="1000" b="1" kern="0" spc="200" dirty="0">
                <a:solidFill>
                  <a:schemeClr val="accent3"/>
                </a:solidFill>
              </a:rPr>
              <a:t>UN ESEMPIO DI EVIDENZA</a:t>
            </a:r>
            <a:endParaRPr lang="it-IT" sz="1000" dirty="0"/>
          </a:p>
        </p:txBody>
      </p:sp>
      <p:sp>
        <p:nvSpPr>
          <p:cNvPr id="16" name="Text 11"/>
          <p:cNvSpPr txBox="1"/>
          <p:nvPr/>
        </p:nvSpPr>
        <p:spPr>
          <a:xfrm>
            <a:off x="640080" y="3772051"/>
            <a:ext cx="7863840" cy="411480"/>
          </a:xfrm>
          <a:prstGeom prst="rect">
            <a:avLst/>
          </a:prstGeom>
          <a:noFill/>
          <a:ln/>
        </p:spPr>
        <p:txBody>
          <a:bodyPr wrap="square" lIns="0" tIns="0" rIns="0" bIns="0" rtlCol="0" anchor="t"/>
          <a:lstStyle/>
          <a:p>
            <a:pPr marL="0" indent="0">
              <a:buNone/>
            </a:pPr>
            <a:r>
              <a:rPr lang="it-IT" sz="1400" dirty="0">
                <a:solidFill>
                  <a:schemeClr val="bg1"/>
                </a:solidFill>
              </a:rPr>
              <a:t>L'AI può ampliare e accelerare la generazione di idee. Per ottenere maggiore varietà è utile esplorare prospettive differenti e integrare il contributo umano.</a:t>
            </a:r>
            <a:endParaRPr lang="it-IT" sz="1400" dirty="0"/>
          </a:p>
        </p:txBody>
      </p:sp>
      <p:sp>
        <p:nvSpPr>
          <p:cNvPr id="17" name="Text 12"/>
          <p:cNvSpPr txBox="1"/>
          <p:nvPr/>
        </p:nvSpPr>
        <p:spPr>
          <a:xfrm>
            <a:off x="640080" y="4233672"/>
            <a:ext cx="7315200" cy="228600"/>
          </a:xfrm>
          <a:prstGeom prst="rect">
            <a:avLst/>
          </a:prstGeom>
          <a:noFill/>
          <a:ln/>
        </p:spPr>
        <p:txBody>
          <a:bodyPr wrap="square" lIns="0" tIns="0" rIns="0" bIns="0" rtlCol="0" anchor="t"/>
          <a:lstStyle/>
          <a:p>
            <a:pPr marL="0" indent="0">
              <a:buNone/>
            </a:pPr>
            <a:r>
              <a:rPr lang="it-IT" sz="1000" dirty="0">
                <a:solidFill>
                  <a:schemeClr val="accent2"/>
                </a:solidFill>
              </a:rPr>
              <a:t>Fonte: Doshi e Hauser, Science </a:t>
            </a:r>
            <a:r>
              <a:rPr lang="it-IT" sz="1000" dirty="0" err="1">
                <a:solidFill>
                  <a:schemeClr val="accent2"/>
                </a:solidFill>
              </a:rPr>
              <a:t>Advances</a:t>
            </a:r>
            <a:r>
              <a:rPr lang="it-IT" sz="1000" dirty="0">
                <a:solidFill>
                  <a:schemeClr val="accent2"/>
                </a:solidFill>
              </a:rPr>
              <a:t>, 2024</a:t>
            </a:r>
            <a:endParaRPr lang="it-IT"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66</a:t>
            </a:fld>
            <a:endParaRPr lang="it-IT"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it-IT" sz="6000" b="1" dirty="0">
                <a:solidFill>
                  <a:schemeClr val="accent1"/>
                </a:solidFill>
              </a:rPr>
              <a:t>3.3</a:t>
            </a:r>
            <a:endParaRPr lang="it-IT"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it-IT" sz="3200" b="1" dirty="0">
                <a:solidFill>
                  <a:schemeClr val="bg1"/>
                </a:solidFill>
              </a:rPr>
              <a:t>Allucinazioni e informazioni false</a:t>
            </a:r>
            <a:endParaRPr lang="it-IT"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it-IT" sz="1600" dirty="0">
                <a:solidFill>
                  <a:schemeClr val="accent3"/>
                </a:solidFill>
              </a:rPr>
              <a:t>La fluidità o la sicurezza del tono non dimostra che un'affermazione sia corretta o verificata</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67</a:t>
            </a:fld>
            <a:endParaRPr lang="it-IT"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Che cos'è un'allucinazione</a:t>
            </a:r>
            <a:endParaRPr lang="it-IT" sz="2600" dirty="0"/>
          </a:p>
        </p:txBody>
      </p:sp>
      <p:sp>
        <p:nvSpPr>
          <p:cNvPr id="4" name="scheda Inventate"/>
          <p:cNvSpPr/>
          <p:nvPr/>
        </p:nvSpPr>
        <p:spPr>
          <a:xfrm>
            <a:off x="457200" y="1097280"/>
            <a:ext cx="2615184" cy="2514600"/>
          </a:xfrm>
          <a:prstGeom prst="roundRect">
            <a:avLst>
              <a:gd name="adj" fmla="val 2909"/>
            </a:avLst>
          </a:prstGeom>
          <a:solidFill>
            <a:schemeClr val="bg2"/>
          </a:solidFill>
          <a:ln/>
        </p:spPr>
        <p:txBody>
          <a:bodyPr/>
          <a:lstStyle/>
          <a:p>
            <a:endParaRPr lang="it-IT" dirty="0"/>
          </a:p>
        </p:txBody>
      </p:sp>
      <p:sp>
        <p:nvSpPr>
          <p:cNvPr id="5" name="cerchio FiPlusCircle"/>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PlusCircle"/>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2249424" cy="347472"/>
          </a:xfrm>
          <a:prstGeom prst="rect">
            <a:avLst/>
          </a:prstGeom>
          <a:noFill/>
          <a:ln/>
        </p:spPr>
        <p:txBody>
          <a:bodyPr wrap="square" lIns="0" tIns="0" rIns="0" bIns="0" rtlCol="0" anchor="t"/>
          <a:lstStyle/>
          <a:p>
            <a:pPr marL="0" indent="0">
              <a:buNone/>
            </a:pPr>
            <a:r>
              <a:rPr lang="it-IT" sz="1600" b="1" dirty="0">
                <a:solidFill>
                  <a:schemeClr val="tx1"/>
                </a:solidFill>
              </a:rPr>
              <a:t>Inventate</a:t>
            </a:r>
            <a:endParaRPr lang="it-IT" sz="1600" dirty="0"/>
          </a:p>
        </p:txBody>
      </p:sp>
      <p:sp>
        <p:nvSpPr>
          <p:cNvPr id="8" name="Text 4"/>
          <p:cNvSpPr txBox="1"/>
          <p:nvPr/>
        </p:nvSpPr>
        <p:spPr>
          <a:xfrm>
            <a:off x="640080" y="2231136"/>
            <a:ext cx="2249424" cy="1271016"/>
          </a:xfrm>
          <a:prstGeom prst="rect">
            <a:avLst/>
          </a:prstGeom>
          <a:noFill/>
          <a:ln/>
        </p:spPr>
        <p:txBody>
          <a:bodyPr wrap="square" lIns="0" tIns="0" rIns="0" bIns="0" rtlCol="0" anchor="t"/>
          <a:lstStyle/>
          <a:p>
            <a:pPr marL="0" indent="0">
              <a:spcAft>
                <a:spcPts val="800"/>
              </a:spcAft>
              <a:buNone/>
            </a:pPr>
            <a:r>
              <a:rPr lang="it-IT" sz="1300" b="1" dirty="0">
                <a:solidFill>
                  <a:schemeClr val="tx1"/>
                </a:solidFill>
              </a:rPr>
              <a:t>Fatti, persone, dati o documenti che non esistono</a:t>
            </a:r>
            <a:endParaRPr lang="it-IT" sz="1300" dirty="0"/>
          </a:p>
          <a:p>
            <a:pPr marL="0" indent="0">
              <a:buNone/>
            </a:pPr>
            <a:r>
              <a:rPr lang="it-IT" sz="1300" dirty="0">
                <a:solidFill>
                  <a:schemeClr val="tx2"/>
                </a:solidFill>
              </a:rPr>
              <a:t>Esempio: Una sentenza mai pronunciata</a:t>
            </a:r>
            <a:endParaRPr lang="it-IT" sz="1300" dirty="0"/>
          </a:p>
        </p:txBody>
      </p:sp>
      <p:sp>
        <p:nvSpPr>
          <p:cNvPr id="9" name="scheda Inesatte"/>
          <p:cNvSpPr/>
          <p:nvPr/>
        </p:nvSpPr>
        <p:spPr>
          <a:xfrm>
            <a:off x="3264408" y="1097280"/>
            <a:ext cx="2615184" cy="2514600"/>
          </a:xfrm>
          <a:prstGeom prst="roundRect">
            <a:avLst>
              <a:gd name="adj" fmla="val 2909"/>
            </a:avLst>
          </a:prstGeom>
          <a:solidFill>
            <a:schemeClr val="bg2"/>
          </a:solidFill>
          <a:ln/>
        </p:spPr>
        <p:txBody>
          <a:bodyPr/>
          <a:lstStyle/>
          <a:p>
            <a:endParaRPr lang="it-IT" dirty="0"/>
          </a:p>
        </p:txBody>
      </p:sp>
      <p:sp>
        <p:nvSpPr>
          <p:cNvPr id="10" name="cerchio FiEdit"/>
          <p:cNvSpPr/>
          <p:nvPr/>
        </p:nvSpPr>
        <p:spPr>
          <a:xfrm>
            <a:off x="3447288" y="1280160"/>
            <a:ext cx="457200" cy="457200"/>
          </a:xfrm>
          <a:prstGeom prst="ellipse">
            <a:avLst/>
          </a:prstGeom>
          <a:solidFill>
            <a:schemeClr val="accent1"/>
          </a:solidFill>
          <a:ln/>
        </p:spPr>
        <p:txBody>
          <a:bodyPr/>
          <a:lstStyle/>
          <a:p>
            <a:endParaRPr lang="it-IT" dirty="0"/>
          </a:p>
        </p:txBody>
      </p:sp>
      <p:pic>
        <p:nvPicPr>
          <p:cNvPr id="11" name="Image 1" descr="FiEdit"/>
          <p:cNvPicPr>
            <a:picLocks noChangeAspect="1"/>
          </p:cNvPicPr>
          <p:nvPr/>
        </p:nvPicPr>
        <p:blipFill>
          <a:blip r:embed="rId4"/>
          <a:stretch>
            <a:fillRect/>
          </a:stretch>
        </p:blipFill>
        <p:spPr>
          <a:xfrm>
            <a:off x="3561588" y="1394460"/>
            <a:ext cx="228600" cy="228600"/>
          </a:xfrm>
          <a:prstGeom prst="rect">
            <a:avLst/>
          </a:prstGeom>
        </p:spPr>
      </p:pic>
      <p:sp>
        <p:nvSpPr>
          <p:cNvPr id="12" name="Text 7"/>
          <p:cNvSpPr txBox="1"/>
          <p:nvPr/>
        </p:nvSpPr>
        <p:spPr>
          <a:xfrm>
            <a:off x="3447288" y="1847088"/>
            <a:ext cx="2249424" cy="347472"/>
          </a:xfrm>
          <a:prstGeom prst="rect">
            <a:avLst/>
          </a:prstGeom>
          <a:noFill/>
          <a:ln/>
        </p:spPr>
        <p:txBody>
          <a:bodyPr wrap="square" lIns="0" tIns="0" rIns="0" bIns="0" rtlCol="0" anchor="t"/>
          <a:lstStyle/>
          <a:p>
            <a:pPr marL="0" indent="0">
              <a:buNone/>
            </a:pPr>
            <a:r>
              <a:rPr lang="it-IT" sz="1600" b="1" dirty="0">
                <a:solidFill>
                  <a:schemeClr val="tx1"/>
                </a:solidFill>
              </a:rPr>
              <a:t>Inesatte</a:t>
            </a:r>
            <a:endParaRPr lang="it-IT" sz="1600" dirty="0"/>
          </a:p>
        </p:txBody>
      </p:sp>
      <p:sp>
        <p:nvSpPr>
          <p:cNvPr id="13" name="Text 8"/>
          <p:cNvSpPr txBox="1"/>
          <p:nvPr/>
        </p:nvSpPr>
        <p:spPr>
          <a:xfrm>
            <a:off x="3447288" y="2231136"/>
            <a:ext cx="2249424" cy="1271016"/>
          </a:xfrm>
          <a:prstGeom prst="rect">
            <a:avLst/>
          </a:prstGeom>
          <a:noFill/>
          <a:ln/>
        </p:spPr>
        <p:txBody>
          <a:bodyPr wrap="square" lIns="0" tIns="0" rIns="0" bIns="0" rtlCol="0" anchor="t"/>
          <a:lstStyle/>
          <a:p>
            <a:pPr marL="0" indent="0">
              <a:spcAft>
                <a:spcPts val="800"/>
              </a:spcAft>
              <a:buNone/>
            </a:pPr>
            <a:r>
              <a:rPr lang="it-IT" sz="1300" b="1" dirty="0">
                <a:solidFill>
                  <a:schemeClr val="tx1"/>
                </a:solidFill>
              </a:rPr>
              <a:t>Elementi reali riportati in modo sbagliato</a:t>
            </a:r>
            <a:endParaRPr lang="it-IT" sz="1300" dirty="0"/>
          </a:p>
          <a:p>
            <a:pPr marL="0" indent="0">
              <a:buNone/>
            </a:pPr>
            <a:r>
              <a:rPr lang="it-IT" sz="1300" dirty="0">
                <a:solidFill>
                  <a:schemeClr val="tx2"/>
                </a:solidFill>
              </a:rPr>
              <a:t>Esempio: Una data spostata, un numero errato, l'articolo sbagliato</a:t>
            </a:r>
            <a:endParaRPr lang="it-IT" sz="1300" dirty="0"/>
          </a:p>
        </p:txBody>
      </p:sp>
      <p:sp>
        <p:nvSpPr>
          <p:cNvPr id="14" name="scheda Prive di fondamento"/>
          <p:cNvSpPr/>
          <p:nvPr/>
        </p:nvSpPr>
        <p:spPr>
          <a:xfrm>
            <a:off x="6071616" y="1097280"/>
            <a:ext cx="2615184" cy="2514600"/>
          </a:xfrm>
          <a:prstGeom prst="roundRect">
            <a:avLst>
              <a:gd name="adj" fmla="val 2909"/>
            </a:avLst>
          </a:prstGeom>
          <a:solidFill>
            <a:schemeClr val="accent6"/>
          </a:solidFill>
          <a:ln/>
        </p:spPr>
        <p:txBody>
          <a:bodyPr/>
          <a:lstStyle/>
          <a:p>
            <a:endParaRPr lang="it-IT" dirty="0"/>
          </a:p>
        </p:txBody>
      </p:sp>
      <p:sp>
        <p:nvSpPr>
          <p:cNvPr id="15" name="cerchio FiLink2"/>
          <p:cNvSpPr/>
          <p:nvPr/>
        </p:nvSpPr>
        <p:spPr>
          <a:xfrm>
            <a:off x="6254496" y="1280160"/>
            <a:ext cx="457200" cy="457200"/>
          </a:xfrm>
          <a:prstGeom prst="ellipse">
            <a:avLst/>
          </a:prstGeom>
          <a:solidFill>
            <a:schemeClr val="accent1"/>
          </a:solidFill>
          <a:ln/>
        </p:spPr>
        <p:txBody>
          <a:bodyPr/>
          <a:lstStyle/>
          <a:p>
            <a:endParaRPr lang="it-IT" dirty="0"/>
          </a:p>
        </p:txBody>
      </p:sp>
      <p:pic>
        <p:nvPicPr>
          <p:cNvPr id="16" name="Image 2" descr="FiLink2"/>
          <p:cNvPicPr>
            <a:picLocks noChangeAspect="1"/>
          </p:cNvPicPr>
          <p:nvPr/>
        </p:nvPicPr>
        <p:blipFill>
          <a:blip r:embed="rId5"/>
          <a:stretch>
            <a:fillRect/>
          </a:stretch>
        </p:blipFill>
        <p:spPr>
          <a:xfrm>
            <a:off x="6368796" y="1394460"/>
            <a:ext cx="228600" cy="228600"/>
          </a:xfrm>
          <a:prstGeom prst="rect">
            <a:avLst/>
          </a:prstGeom>
        </p:spPr>
      </p:pic>
      <p:sp>
        <p:nvSpPr>
          <p:cNvPr id="17" name="Text 11"/>
          <p:cNvSpPr txBox="1"/>
          <p:nvPr/>
        </p:nvSpPr>
        <p:spPr>
          <a:xfrm>
            <a:off x="6254496" y="1847088"/>
            <a:ext cx="2249424" cy="347472"/>
          </a:xfrm>
          <a:prstGeom prst="rect">
            <a:avLst/>
          </a:prstGeom>
          <a:noFill/>
          <a:ln/>
        </p:spPr>
        <p:txBody>
          <a:bodyPr wrap="square" lIns="0" tIns="0" rIns="0" bIns="0" rtlCol="0" anchor="t"/>
          <a:lstStyle/>
          <a:p>
            <a:pPr marL="0" indent="0">
              <a:buNone/>
            </a:pPr>
            <a:r>
              <a:rPr lang="it-IT" sz="1600" b="1" dirty="0">
                <a:solidFill>
                  <a:schemeClr val="tx1"/>
                </a:solidFill>
              </a:rPr>
              <a:t>Prive di fondamento</a:t>
            </a:r>
            <a:endParaRPr lang="it-IT" sz="1600" dirty="0"/>
          </a:p>
        </p:txBody>
      </p:sp>
      <p:sp>
        <p:nvSpPr>
          <p:cNvPr id="18" name="Text 12"/>
          <p:cNvSpPr txBox="1"/>
          <p:nvPr/>
        </p:nvSpPr>
        <p:spPr>
          <a:xfrm>
            <a:off x="6254496" y="2231136"/>
            <a:ext cx="2249424" cy="1271016"/>
          </a:xfrm>
          <a:prstGeom prst="rect">
            <a:avLst/>
          </a:prstGeom>
          <a:noFill/>
          <a:ln/>
        </p:spPr>
        <p:txBody>
          <a:bodyPr wrap="square" lIns="0" tIns="0" rIns="0" bIns="0" rtlCol="0" anchor="t"/>
          <a:lstStyle/>
          <a:p>
            <a:pPr marL="0" indent="0">
              <a:spcAft>
                <a:spcPts val="800"/>
              </a:spcAft>
              <a:buNone/>
            </a:pPr>
            <a:r>
              <a:rPr lang="it-IT" sz="1300" b="1" dirty="0">
                <a:solidFill>
                  <a:schemeClr val="tx1"/>
                </a:solidFill>
              </a:rPr>
              <a:t>Affermazioni non supportate dalle fonti disponibili</a:t>
            </a:r>
            <a:endParaRPr lang="it-IT" sz="1300" dirty="0"/>
          </a:p>
          <a:p>
            <a:pPr marL="0" indent="0">
              <a:buNone/>
            </a:pPr>
            <a:r>
              <a:rPr lang="it-IT" sz="1300" dirty="0">
                <a:solidFill>
                  <a:schemeClr val="tx2"/>
                </a:solidFill>
              </a:rPr>
              <a:t>Esempio: Un riassunto che aggiunge ciò che il documento non dice</a:t>
            </a:r>
            <a:endParaRPr lang="it-IT" sz="1300" dirty="0"/>
          </a:p>
        </p:txBody>
      </p:sp>
      <p:sp>
        <p:nvSpPr>
          <p:cNvPr id="19" name="messaggio"/>
          <p:cNvSpPr/>
          <p:nvPr/>
        </p:nvSpPr>
        <p:spPr>
          <a:xfrm>
            <a:off x="457200" y="3794760"/>
            <a:ext cx="8229600" cy="731520"/>
          </a:xfrm>
          <a:prstGeom prst="roundRect">
            <a:avLst>
              <a:gd name="adj" fmla="val 10000"/>
            </a:avLst>
          </a:prstGeom>
          <a:solidFill>
            <a:schemeClr val="tx1"/>
          </a:solidFill>
          <a:ln/>
        </p:spPr>
        <p:txBody>
          <a:bodyPr/>
          <a:lstStyle/>
          <a:p>
            <a:endParaRPr lang="it-IT" dirty="0"/>
          </a:p>
        </p:txBody>
      </p:sp>
      <p:sp>
        <p:nvSpPr>
          <p:cNvPr id="20" name="Text 14"/>
          <p:cNvSpPr txBox="1"/>
          <p:nvPr/>
        </p:nvSpPr>
        <p:spPr>
          <a:xfrm>
            <a:off x="640080" y="3794760"/>
            <a:ext cx="7863840" cy="731520"/>
          </a:xfrm>
          <a:prstGeom prst="rect">
            <a:avLst/>
          </a:prstGeom>
          <a:noFill/>
          <a:ln/>
        </p:spPr>
        <p:txBody>
          <a:bodyPr wrap="square" lIns="0" tIns="0" rIns="0" bIns="0" rtlCol="0" anchor="ctr"/>
          <a:lstStyle/>
          <a:p>
            <a:pPr marL="0" indent="0">
              <a:buNone/>
            </a:pPr>
            <a:r>
              <a:rPr lang="it-IT" sz="1400" dirty="0">
                <a:solidFill>
                  <a:schemeClr val="bg1"/>
                </a:solidFill>
              </a:rPr>
              <a:t>Contenuti presentati come veri, nella stessa forma delle risposte corrette.</a:t>
            </a:r>
            <a:endParaRPr lang="it-IT"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68</a:t>
            </a:fld>
            <a:endParaRPr lang="it-IT"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Citazioni, riferimenti e fonti inesistenti</a:t>
            </a:r>
            <a:endParaRPr lang="it-IT" sz="2600" dirty="0"/>
          </a:p>
        </p:txBody>
      </p:sp>
      <p:sp>
        <p:nvSpPr>
          <p:cNvPr id="4" name="caso Avianca"/>
          <p:cNvSpPr/>
          <p:nvPr/>
        </p:nvSpPr>
        <p:spPr>
          <a:xfrm>
            <a:off x="457200" y="1097280"/>
            <a:ext cx="4206240" cy="3429000"/>
          </a:xfrm>
          <a:prstGeom prst="roundRect">
            <a:avLst>
              <a:gd name="adj" fmla="val 2133"/>
            </a:avLst>
          </a:prstGeom>
          <a:solidFill>
            <a:schemeClr val="tx1"/>
          </a:solidFill>
          <a:ln/>
        </p:spPr>
        <p:txBody>
          <a:bodyPr/>
          <a:lstStyle/>
          <a:p>
            <a:endParaRPr lang="it-IT" dirty="0"/>
          </a:p>
        </p:txBody>
      </p:sp>
      <p:sp>
        <p:nvSpPr>
          <p:cNvPr id="5" name="Text 2"/>
          <p:cNvSpPr txBox="1"/>
          <p:nvPr/>
        </p:nvSpPr>
        <p:spPr>
          <a:xfrm>
            <a:off x="685800" y="1261872"/>
            <a:ext cx="3749040" cy="274320"/>
          </a:xfrm>
          <a:prstGeom prst="rect">
            <a:avLst/>
          </a:prstGeom>
          <a:noFill/>
          <a:ln/>
        </p:spPr>
        <p:txBody>
          <a:bodyPr wrap="square" lIns="0" tIns="0" rIns="0" bIns="0" rtlCol="0" anchor="t"/>
          <a:lstStyle/>
          <a:p>
            <a:pPr marL="0" indent="0">
              <a:buNone/>
            </a:pPr>
            <a:r>
              <a:rPr lang="it-IT" sz="1100" b="1" kern="0" spc="200" dirty="0">
                <a:solidFill>
                  <a:schemeClr val="accent1"/>
                </a:solidFill>
              </a:rPr>
              <a:t>UN CASO REALE</a:t>
            </a:r>
            <a:endParaRPr lang="it-IT" sz="1100" dirty="0"/>
          </a:p>
        </p:txBody>
      </p:sp>
      <p:sp>
        <p:nvSpPr>
          <p:cNvPr id="6" name="Text 3"/>
          <p:cNvSpPr txBox="1"/>
          <p:nvPr/>
        </p:nvSpPr>
        <p:spPr>
          <a:xfrm>
            <a:off x="685800" y="1554480"/>
            <a:ext cx="3749040" cy="365760"/>
          </a:xfrm>
          <a:prstGeom prst="rect">
            <a:avLst/>
          </a:prstGeom>
          <a:noFill/>
          <a:ln/>
        </p:spPr>
        <p:txBody>
          <a:bodyPr wrap="square" lIns="0" tIns="0" rIns="0" bIns="0" rtlCol="0" anchor="t"/>
          <a:lstStyle/>
          <a:p>
            <a:pPr marL="0" indent="0">
              <a:buNone/>
            </a:pPr>
            <a:r>
              <a:rPr lang="it-IT" sz="1700" b="1" dirty="0">
                <a:solidFill>
                  <a:schemeClr val="bg1"/>
                </a:solidFill>
              </a:rPr>
              <a:t>Mata contro Avianca, New York, 2023</a:t>
            </a:r>
            <a:endParaRPr lang="it-IT" sz="1700" dirty="0"/>
          </a:p>
        </p:txBody>
      </p:sp>
      <p:sp>
        <p:nvSpPr>
          <p:cNvPr id="7" name="Text 4"/>
          <p:cNvSpPr txBox="1"/>
          <p:nvPr/>
        </p:nvSpPr>
        <p:spPr>
          <a:xfrm>
            <a:off x="685800" y="2011680"/>
            <a:ext cx="3749040" cy="2011680"/>
          </a:xfrm>
          <a:prstGeom prst="rect">
            <a:avLst/>
          </a:prstGeom>
          <a:noFill/>
          <a:ln/>
        </p:spPr>
        <p:txBody>
          <a:bodyPr wrap="square" lIns="0" tIns="0" rIns="0" bIns="0" rtlCol="0" anchor="t"/>
          <a:lstStyle/>
          <a:p>
            <a:pPr marL="177800" indent="-177800">
              <a:spcAft>
                <a:spcPts val="500"/>
              </a:spcAft>
              <a:buSzPct val="100000"/>
              <a:buChar char="•"/>
            </a:pPr>
            <a:r>
              <a:rPr lang="it-IT" sz="1300" dirty="0">
                <a:solidFill>
                  <a:schemeClr val="accent3"/>
                </a:solidFill>
              </a:rPr>
              <a:t>Una memoria legale cita precedenti generati da ChatGPT</a:t>
            </a:r>
            <a:endParaRPr lang="it-IT" sz="1300" dirty="0"/>
          </a:p>
          <a:p>
            <a:pPr marL="177800" indent="-177800">
              <a:spcAft>
                <a:spcPts val="500"/>
              </a:spcAft>
              <a:buSzPct val="100000"/>
              <a:buChar char="•"/>
            </a:pPr>
            <a:r>
              <a:rPr lang="it-IT" sz="1300" dirty="0">
                <a:solidFill>
                  <a:schemeClr val="accent3"/>
                </a:solidFill>
              </a:rPr>
              <a:t>Nomi, numeri e citazioni formalmente perfetti, ma inesistenti</a:t>
            </a:r>
            <a:endParaRPr lang="it-IT" sz="1300" dirty="0"/>
          </a:p>
          <a:p>
            <a:pPr marL="177800" indent="-177800">
              <a:spcAft>
                <a:spcPts val="500"/>
              </a:spcAft>
              <a:buSzPct val="100000"/>
              <a:buChar char="•"/>
            </a:pPr>
            <a:r>
              <a:rPr lang="it-IT" sz="1300" dirty="0">
                <a:solidFill>
                  <a:schemeClr val="accent3"/>
                </a:solidFill>
              </a:rPr>
              <a:t>Il sistema aveva "confermato" che i casi erano reali</a:t>
            </a:r>
            <a:endParaRPr lang="it-IT" sz="1300" dirty="0"/>
          </a:p>
          <a:p>
            <a:pPr marL="177800" indent="-177800">
              <a:spcAft>
                <a:spcPts val="500"/>
              </a:spcAft>
              <a:buSzPct val="100000"/>
              <a:buChar char="•"/>
            </a:pPr>
            <a:r>
              <a:rPr lang="it-IT" sz="1300" dirty="0">
                <a:solidFill>
                  <a:schemeClr val="accent3"/>
                </a:solidFill>
              </a:rPr>
              <a:t>Il giudice sanziona avvocati e studio</a:t>
            </a:r>
            <a:endParaRPr lang="it-IT" sz="1300" dirty="0"/>
          </a:p>
        </p:txBody>
      </p:sp>
      <p:sp>
        <p:nvSpPr>
          <p:cNvPr id="8" name="Text 5"/>
          <p:cNvSpPr txBox="1"/>
          <p:nvPr/>
        </p:nvSpPr>
        <p:spPr>
          <a:xfrm>
            <a:off x="685800" y="4160520"/>
            <a:ext cx="3840480" cy="274320"/>
          </a:xfrm>
          <a:prstGeom prst="rect">
            <a:avLst/>
          </a:prstGeom>
          <a:noFill/>
          <a:ln/>
        </p:spPr>
        <p:txBody>
          <a:bodyPr wrap="square" lIns="0" tIns="0" rIns="0" bIns="0" rtlCol="0" anchor="t"/>
          <a:lstStyle/>
          <a:p>
            <a:pPr marL="0" indent="0">
              <a:buNone/>
            </a:pPr>
            <a:r>
              <a:rPr lang="it-IT" sz="1000" dirty="0">
                <a:solidFill>
                  <a:schemeClr val="accent2"/>
                </a:solidFill>
              </a:rPr>
              <a:t>Fonte: Tribunale distrettuale degli Stati Uniti, S.D.N.Y., giugno 2023</a:t>
            </a:r>
            <a:endParaRPr lang="it-IT" sz="1000" dirty="0"/>
          </a:p>
        </p:txBody>
      </p:sp>
      <p:sp>
        <p:nvSpPr>
          <p:cNvPr id="9" name="Text 6"/>
          <p:cNvSpPr txBox="1"/>
          <p:nvPr/>
        </p:nvSpPr>
        <p:spPr>
          <a:xfrm>
            <a:off x="4937760" y="1097280"/>
            <a:ext cx="3749040" cy="320040"/>
          </a:xfrm>
          <a:prstGeom prst="rect">
            <a:avLst/>
          </a:prstGeom>
          <a:noFill/>
          <a:ln/>
        </p:spPr>
        <p:txBody>
          <a:bodyPr wrap="square" lIns="0" tIns="0" rIns="0" bIns="0" rtlCol="0" anchor="t"/>
          <a:lstStyle/>
          <a:p>
            <a:pPr marL="0" indent="0">
              <a:buNone/>
            </a:pPr>
            <a:r>
              <a:rPr lang="it-IT" sz="1500" b="1" dirty="0">
                <a:solidFill>
                  <a:schemeClr val="tx1"/>
                </a:solidFill>
              </a:rPr>
              <a:t>Forme frequenti</a:t>
            </a:r>
            <a:endParaRPr lang="it-IT" sz="1500" dirty="0"/>
          </a:p>
        </p:txBody>
      </p:sp>
      <p:sp>
        <p:nvSpPr>
          <p:cNvPr id="10" name="cerchio FiBook"/>
          <p:cNvSpPr/>
          <p:nvPr/>
        </p:nvSpPr>
        <p:spPr>
          <a:xfrm>
            <a:off x="4937760" y="1554480"/>
            <a:ext cx="438912" cy="438912"/>
          </a:xfrm>
          <a:prstGeom prst="ellipse">
            <a:avLst/>
          </a:prstGeom>
          <a:solidFill>
            <a:schemeClr val="accent1"/>
          </a:solidFill>
          <a:ln/>
        </p:spPr>
        <p:txBody>
          <a:bodyPr/>
          <a:lstStyle/>
          <a:p>
            <a:endParaRPr lang="it-IT" dirty="0"/>
          </a:p>
        </p:txBody>
      </p:sp>
      <p:pic>
        <p:nvPicPr>
          <p:cNvPr id="11" name="Image 0" descr="FiBook"/>
          <p:cNvPicPr>
            <a:picLocks noChangeAspect="1"/>
          </p:cNvPicPr>
          <p:nvPr/>
        </p:nvPicPr>
        <p:blipFill>
          <a:blip r:embed="rId3"/>
          <a:stretch>
            <a:fillRect/>
          </a:stretch>
        </p:blipFill>
        <p:spPr>
          <a:xfrm>
            <a:off x="5047488" y="1664208"/>
            <a:ext cx="219456" cy="219456"/>
          </a:xfrm>
          <a:prstGeom prst="rect">
            <a:avLst/>
          </a:prstGeom>
        </p:spPr>
      </p:pic>
      <p:sp>
        <p:nvSpPr>
          <p:cNvPr id="12" name="Text 8"/>
          <p:cNvSpPr txBox="1"/>
          <p:nvPr/>
        </p:nvSpPr>
        <p:spPr>
          <a:xfrm>
            <a:off x="5532120" y="1554480"/>
            <a:ext cx="3154680" cy="438912"/>
          </a:xfrm>
          <a:prstGeom prst="rect">
            <a:avLst/>
          </a:prstGeom>
          <a:noFill/>
          <a:ln/>
        </p:spPr>
        <p:txBody>
          <a:bodyPr wrap="square" lIns="0" tIns="0" rIns="0" bIns="0" rtlCol="0" anchor="ctr"/>
          <a:lstStyle/>
          <a:p>
            <a:pPr marL="0" indent="0">
              <a:buNone/>
            </a:pPr>
            <a:r>
              <a:rPr lang="it-IT" sz="1300" dirty="0">
                <a:solidFill>
                  <a:schemeClr val="tx1"/>
                </a:solidFill>
              </a:rPr>
              <a:t>Riferimenti bibliografici verosimili ma inesistenti</a:t>
            </a:r>
            <a:endParaRPr lang="it-IT" sz="1300" dirty="0"/>
          </a:p>
        </p:txBody>
      </p:sp>
      <p:sp>
        <p:nvSpPr>
          <p:cNvPr id="13" name="cerchio FiLink"/>
          <p:cNvSpPr/>
          <p:nvPr/>
        </p:nvSpPr>
        <p:spPr>
          <a:xfrm>
            <a:off x="4937760" y="2176272"/>
            <a:ext cx="438912" cy="438912"/>
          </a:xfrm>
          <a:prstGeom prst="ellipse">
            <a:avLst/>
          </a:prstGeom>
          <a:solidFill>
            <a:schemeClr val="accent1"/>
          </a:solidFill>
          <a:ln/>
        </p:spPr>
        <p:txBody>
          <a:bodyPr/>
          <a:lstStyle/>
          <a:p>
            <a:endParaRPr lang="it-IT" dirty="0"/>
          </a:p>
        </p:txBody>
      </p:sp>
      <p:pic>
        <p:nvPicPr>
          <p:cNvPr id="14" name="Image 1" descr="FiLink"/>
          <p:cNvPicPr>
            <a:picLocks noChangeAspect="1"/>
          </p:cNvPicPr>
          <p:nvPr/>
        </p:nvPicPr>
        <p:blipFill>
          <a:blip r:embed="rId4"/>
          <a:stretch>
            <a:fillRect/>
          </a:stretch>
        </p:blipFill>
        <p:spPr>
          <a:xfrm>
            <a:off x="5047488" y="2286000"/>
            <a:ext cx="219456" cy="219456"/>
          </a:xfrm>
          <a:prstGeom prst="rect">
            <a:avLst/>
          </a:prstGeom>
        </p:spPr>
      </p:pic>
      <p:sp>
        <p:nvSpPr>
          <p:cNvPr id="15" name="Text 10"/>
          <p:cNvSpPr txBox="1"/>
          <p:nvPr/>
        </p:nvSpPr>
        <p:spPr>
          <a:xfrm>
            <a:off x="5532120" y="2176272"/>
            <a:ext cx="3154680" cy="438912"/>
          </a:xfrm>
          <a:prstGeom prst="rect">
            <a:avLst/>
          </a:prstGeom>
          <a:noFill/>
          <a:ln/>
        </p:spPr>
        <p:txBody>
          <a:bodyPr wrap="square" lIns="0" tIns="0" rIns="0" bIns="0" rtlCol="0" anchor="ctr"/>
          <a:lstStyle/>
          <a:p>
            <a:pPr marL="0" indent="0">
              <a:buNone/>
            </a:pPr>
            <a:r>
              <a:rPr lang="it-IT" sz="1300" dirty="0">
                <a:solidFill>
                  <a:schemeClr val="tx1"/>
                </a:solidFill>
              </a:rPr>
              <a:t>Link a pagine che non esistono</a:t>
            </a:r>
            <a:endParaRPr lang="it-IT" sz="1300" dirty="0"/>
          </a:p>
        </p:txBody>
      </p:sp>
      <p:sp>
        <p:nvSpPr>
          <p:cNvPr id="16" name="cerchio FiMessageCircle"/>
          <p:cNvSpPr/>
          <p:nvPr/>
        </p:nvSpPr>
        <p:spPr>
          <a:xfrm>
            <a:off x="4937760" y="2798064"/>
            <a:ext cx="438912" cy="438912"/>
          </a:xfrm>
          <a:prstGeom prst="ellipse">
            <a:avLst/>
          </a:prstGeom>
          <a:solidFill>
            <a:schemeClr val="accent1"/>
          </a:solidFill>
          <a:ln/>
        </p:spPr>
        <p:txBody>
          <a:bodyPr/>
          <a:lstStyle/>
          <a:p>
            <a:endParaRPr lang="it-IT" dirty="0"/>
          </a:p>
        </p:txBody>
      </p:sp>
      <p:pic>
        <p:nvPicPr>
          <p:cNvPr id="17" name="Image 2" descr="FiMessageCircle"/>
          <p:cNvPicPr>
            <a:picLocks noChangeAspect="1"/>
          </p:cNvPicPr>
          <p:nvPr/>
        </p:nvPicPr>
        <p:blipFill>
          <a:blip r:embed="rId5"/>
          <a:stretch>
            <a:fillRect/>
          </a:stretch>
        </p:blipFill>
        <p:spPr>
          <a:xfrm>
            <a:off x="5047488" y="2907792"/>
            <a:ext cx="219456" cy="219456"/>
          </a:xfrm>
          <a:prstGeom prst="rect">
            <a:avLst/>
          </a:prstGeom>
        </p:spPr>
      </p:pic>
      <p:sp>
        <p:nvSpPr>
          <p:cNvPr id="18" name="Text 12"/>
          <p:cNvSpPr txBox="1"/>
          <p:nvPr/>
        </p:nvSpPr>
        <p:spPr>
          <a:xfrm>
            <a:off x="5532120" y="2798064"/>
            <a:ext cx="3154680" cy="438912"/>
          </a:xfrm>
          <a:prstGeom prst="rect">
            <a:avLst/>
          </a:prstGeom>
          <a:noFill/>
          <a:ln/>
        </p:spPr>
        <p:txBody>
          <a:bodyPr wrap="square" lIns="0" tIns="0" rIns="0" bIns="0" rtlCol="0" anchor="ctr"/>
          <a:lstStyle/>
          <a:p>
            <a:pPr marL="0" indent="0">
              <a:buNone/>
            </a:pPr>
            <a:r>
              <a:rPr lang="it-IT" sz="1300" dirty="0">
                <a:solidFill>
                  <a:schemeClr val="tx1"/>
                </a:solidFill>
              </a:rPr>
              <a:t>Citazioni attribuite a persone reali</a:t>
            </a:r>
            <a:endParaRPr lang="it-IT" sz="1300" dirty="0"/>
          </a:p>
        </p:txBody>
      </p:sp>
      <p:sp>
        <p:nvSpPr>
          <p:cNvPr id="19" name="cerchio FiFileText"/>
          <p:cNvSpPr/>
          <p:nvPr/>
        </p:nvSpPr>
        <p:spPr>
          <a:xfrm>
            <a:off x="4937760" y="3419856"/>
            <a:ext cx="438912" cy="438912"/>
          </a:xfrm>
          <a:prstGeom prst="ellipse">
            <a:avLst/>
          </a:prstGeom>
          <a:solidFill>
            <a:schemeClr val="accent1"/>
          </a:solidFill>
          <a:ln/>
        </p:spPr>
        <p:txBody>
          <a:bodyPr/>
          <a:lstStyle/>
          <a:p>
            <a:endParaRPr lang="it-IT" dirty="0"/>
          </a:p>
        </p:txBody>
      </p:sp>
      <p:pic>
        <p:nvPicPr>
          <p:cNvPr id="20" name="Image 3" descr="FiFileText"/>
          <p:cNvPicPr>
            <a:picLocks noChangeAspect="1"/>
          </p:cNvPicPr>
          <p:nvPr/>
        </p:nvPicPr>
        <p:blipFill>
          <a:blip r:embed="rId6"/>
          <a:stretch>
            <a:fillRect/>
          </a:stretch>
        </p:blipFill>
        <p:spPr>
          <a:xfrm>
            <a:off x="5047488" y="3529584"/>
            <a:ext cx="219456" cy="219456"/>
          </a:xfrm>
          <a:prstGeom prst="rect">
            <a:avLst/>
          </a:prstGeom>
        </p:spPr>
      </p:pic>
      <p:sp>
        <p:nvSpPr>
          <p:cNvPr id="21" name="Text 14"/>
          <p:cNvSpPr txBox="1"/>
          <p:nvPr/>
        </p:nvSpPr>
        <p:spPr>
          <a:xfrm>
            <a:off x="5532120" y="3419856"/>
            <a:ext cx="3154680" cy="438912"/>
          </a:xfrm>
          <a:prstGeom prst="rect">
            <a:avLst/>
          </a:prstGeom>
          <a:noFill/>
          <a:ln/>
        </p:spPr>
        <p:txBody>
          <a:bodyPr wrap="square" lIns="0" tIns="0" rIns="0" bIns="0" rtlCol="0" anchor="ctr"/>
          <a:lstStyle/>
          <a:p>
            <a:pPr marL="0" indent="0">
              <a:buNone/>
            </a:pPr>
            <a:r>
              <a:rPr lang="it-IT" sz="1300" dirty="0">
                <a:solidFill>
                  <a:schemeClr val="tx1"/>
                </a:solidFill>
              </a:rPr>
              <a:t>Norme o sentenze inventate</a:t>
            </a:r>
            <a:endParaRPr lang="it-IT" sz="1300" dirty="0"/>
          </a:p>
        </p:txBody>
      </p:sp>
      <p:sp>
        <p:nvSpPr>
          <p:cNvPr id="22" name="regola fonti"/>
          <p:cNvSpPr/>
          <p:nvPr/>
        </p:nvSpPr>
        <p:spPr>
          <a:xfrm>
            <a:off x="4937760" y="4069080"/>
            <a:ext cx="3749040" cy="457200"/>
          </a:xfrm>
          <a:prstGeom prst="roundRect">
            <a:avLst>
              <a:gd name="adj" fmla="val 16000"/>
            </a:avLst>
          </a:prstGeom>
          <a:solidFill>
            <a:schemeClr val="accent6"/>
          </a:solidFill>
          <a:ln/>
        </p:spPr>
        <p:txBody>
          <a:bodyPr/>
          <a:lstStyle/>
          <a:p>
            <a:endParaRPr lang="it-IT" dirty="0"/>
          </a:p>
        </p:txBody>
      </p:sp>
      <p:sp>
        <p:nvSpPr>
          <p:cNvPr id="23" name="Text 16"/>
          <p:cNvSpPr txBox="1"/>
          <p:nvPr/>
        </p:nvSpPr>
        <p:spPr>
          <a:xfrm>
            <a:off x="5029200" y="4069080"/>
            <a:ext cx="3566160" cy="457200"/>
          </a:xfrm>
          <a:prstGeom prst="rect">
            <a:avLst/>
          </a:prstGeom>
          <a:noFill/>
          <a:ln/>
        </p:spPr>
        <p:txBody>
          <a:bodyPr wrap="square" lIns="0" tIns="0" rIns="0" bIns="0" rtlCol="0" anchor="ctr"/>
          <a:lstStyle/>
          <a:p>
            <a:pPr marL="0" indent="0">
              <a:buNone/>
            </a:pPr>
            <a:r>
              <a:rPr lang="it-IT" sz="1300" b="1" dirty="0">
                <a:solidFill>
                  <a:schemeClr val="tx1"/>
                </a:solidFill>
              </a:rPr>
              <a:t>Una fonte citata è un'indicazione da verificare</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69</a:t>
            </a:fld>
            <a:endParaRPr lang="it-IT"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Perché si verificano le allucinazioni</a:t>
            </a:r>
            <a:endParaRPr lang="it-IT" sz="2600" dirty="0"/>
          </a:p>
        </p:txBody>
      </p:sp>
      <p:sp>
        <p:nvSpPr>
          <p:cNvPr id="4" name="Generazione plausibile"/>
          <p:cNvSpPr/>
          <p:nvPr/>
        </p:nvSpPr>
        <p:spPr>
          <a:xfrm>
            <a:off x="457200" y="1097280"/>
            <a:ext cx="2621280" cy="1417320"/>
          </a:xfrm>
          <a:prstGeom prst="roundRect">
            <a:avLst>
              <a:gd name="adj" fmla="val 5161"/>
            </a:avLst>
          </a:prstGeom>
          <a:solidFill>
            <a:schemeClr val="bg2"/>
          </a:solidFill>
          <a:ln/>
        </p:spPr>
        <p:txBody>
          <a:bodyPr/>
          <a:lstStyle/>
          <a:p>
            <a:endParaRPr lang="it-IT" dirty="0"/>
          </a:p>
        </p:txBody>
      </p:sp>
      <p:sp>
        <p:nvSpPr>
          <p:cNvPr id="5" name="cerchio FiShuffle"/>
          <p:cNvSpPr/>
          <p:nvPr/>
        </p:nvSpPr>
        <p:spPr>
          <a:xfrm>
            <a:off x="621792" y="1261872"/>
            <a:ext cx="438912" cy="438912"/>
          </a:xfrm>
          <a:prstGeom prst="ellipse">
            <a:avLst/>
          </a:prstGeom>
          <a:solidFill>
            <a:schemeClr val="accent1"/>
          </a:solidFill>
          <a:ln/>
        </p:spPr>
        <p:txBody>
          <a:bodyPr/>
          <a:lstStyle/>
          <a:p>
            <a:endParaRPr lang="it-IT" dirty="0"/>
          </a:p>
        </p:txBody>
      </p:sp>
      <p:pic>
        <p:nvPicPr>
          <p:cNvPr id="6" name="Image 0" descr="FiShuffle"/>
          <p:cNvPicPr>
            <a:picLocks noChangeAspect="1"/>
          </p:cNvPicPr>
          <p:nvPr/>
        </p:nvPicPr>
        <p:blipFill>
          <a:blip r:embed="rId3"/>
          <a:stretch>
            <a:fillRect/>
          </a:stretch>
        </p:blipFill>
        <p:spPr>
          <a:xfrm>
            <a:off x="731520" y="1371600"/>
            <a:ext cx="219456" cy="219456"/>
          </a:xfrm>
          <a:prstGeom prst="rect">
            <a:avLst/>
          </a:prstGeom>
        </p:spPr>
      </p:pic>
      <p:sp>
        <p:nvSpPr>
          <p:cNvPr id="7" name="Text 3"/>
          <p:cNvSpPr txBox="1"/>
          <p:nvPr/>
        </p:nvSpPr>
        <p:spPr>
          <a:xfrm>
            <a:off x="1170432" y="1225296"/>
            <a:ext cx="1798320" cy="512064"/>
          </a:xfrm>
          <a:prstGeom prst="rect">
            <a:avLst/>
          </a:prstGeom>
          <a:noFill/>
          <a:ln/>
        </p:spPr>
        <p:txBody>
          <a:bodyPr wrap="square" lIns="0" tIns="0" rIns="0" bIns="0" rtlCol="0" anchor="ctr"/>
          <a:lstStyle/>
          <a:p>
            <a:pPr marL="0" indent="0">
              <a:buNone/>
            </a:pPr>
            <a:r>
              <a:rPr lang="it-IT" sz="1300" b="1" dirty="0">
                <a:solidFill>
                  <a:schemeClr val="tx1"/>
                </a:solidFill>
              </a:rPr>
              <a:t>Generazione plausibile</a:t>
            </a:r>
            <a:endParaRPr lang="it-IT" sz="1300" dirty="0"/>
          </a:p>
        </p:txBody>
      </p:sp>
      <p:sp>
        <p:nvSpPr>
          <p:cNvPr id="8" name="Text 4"/>
          <p:cNvSpPr txBox="1"/>
          <p:nvPr/>
        </p:nvSpPr>
        <p:spPr>
          <a:xfrm>
            <a:off x="621792" y="1728216"/>
            <a:ext cx="2292096" cy="612648"/>
          </a:xfrm>
          <a:prstGeom prst="rect">
            <a:avLst/>
          </a:prstGeom>
          <a:noFill/>
          <a:ln/>
        </p:spPr>
        <p:txBody>
          <a:bodyPr wrap="square" lIns="0" tIns="0" rIns="0" bIns="0" rtlCol="0" anchor="t"/>
          <a:lstStyle/>
          <a:p>
            <a:pPr marL="0" indent="0" algn="just">
              <a:buNone/>
            </a:pPr>
            <a:r>
              <a:rPr lang="it-IT" sz="1200" dirty="0">
                <a:solidFill>
                  <a:schemeClr val="tx2"/>
                </a:solidFill>
              </a:rPr>
              <a:t>La generazione di una risposta non garantisce che ogni affermazione venga verificata rispetto a fonti affidabili.</a:t>
            </a:r>
            <a:endParaRPr lang="it-IT" sz="1200" dirty="0"/>
          </a:p>
        </p:txBody>
      </p:sp>
      <p:sp>
        <p:nvSpPr>
          <p:cNvPr id="9" name="Conoscenza incompleta"/>
          <p:cNvSpPr/>
          <p:nvPr/>
        </p:nvSpPr>
        <p:spPr>
          <a:xfrm>
            <a:off x="3261360" y="1097280"/>
            <a:ext cx="2621280" cy="1417320"/>
          </a:xfrm>
          <a:prstGeom prst="roundRect">
            <a:avLst>
              <a:gd name="adj" fmla="val 5161"/>
            </a:avLst>
          </a:prstGeom>
          <a:solidFill>
            <a:schemeClr val="bg2"/>
          </a:solidFill>
          <a:ln/>
        </p:spPr>
        <p:txBody>
          <a:bodyPr/>
          <a:lstStyle/>
          <a:p>
            <a:endParaRPr lang="it-IT" dirty="0"/>
          </a:p>
        </p:txBody>
      </p:sp>
      <p:sp>
        <p:nvSpPr>
          <p:cNvPr id="10" name="cerchio FiDatabase"/>
          <p:cNvSpPr/>
          <p:nvPr/>
        </p:nvSpPr>
        <p:spPr>
          <a:xfrm>
            <a:off x="3425952" y="1261872"/>
            <a:ext cx="438912" cy="438912"/>
          </a:xfrm>
          <a:prstGeom prst="ellipse">
            <a:avLst/>
          </a:prstGeom>
          <a:solidFill>
            <a:schemeClr val="accent1"/>
          </a:solidFill>
          <a:ln/>
        </p:spPr>
        <p:txBody>
          <a:bodyPr/>
          <a:lstStyle/>
          <a:p>
            <a:endParaRPr lang="it-IT" dirty="0"/>
          </a:p>
        </p:txBody>
      </p:sp>
      <p:pic>
        <p:nvPicPr>
          <p:cNvPr id="11" name="Image 1" descr="FiDatabase"/>
          <p:cNvPicPr>
            <a:picLocks noChangeAspect="1"/>
          </p:cNvPicPr>
          <p:nvPr/>
        </p:nvPicPr>
        <p:blipFill>
          <a:blip r:embed="rId4"/>
          <a:stretch>
            <a:fillRect/>
          </a:stretch>
        </p:blipFill>
        <p:spPr>
          <a:xfrm>
            <a:off x="3535680" y="1371600"/>
            <a:ext cx="219456" cy="219456"/>
          </a:xfrm>
          <a:prstGeom prst="rect">
            <a:avLst/>
          </a:prstGeom>
        </p:spPr>
      </p:pic>
      <p:sp>
        <p:nvSpPr>
          <p:cNvPr id="12" name="Text 7"/>
          <p:cNvSpPr txBox="1"/>
          <p:nvPr/>
        </p:nvSpPr>
        <p:spPr>
          <a:xfrm>
            <a:off x="3974592" y="1225296"/>
            <a:ext cx="1798320" cy="512064"/>
          </a:xfrm>
          <a:prstGeom prst="rect">
            <a:avLst/>
          </a:prstGeom>
          <a:noFill/>
          <a:ln/>
        </p:spPr>
        <p:txBody>
          <a:bodyPr wrap="square" lIns="0" tIns="0" rIns="0" bIns="0" rtlCol="0" anchor="ctr"/>
          <a:lstStyle/>
          <a:p>
            <a:pPr marL="0" indent="0">
              <a:buNone/>
            </a:pPr>
            <a:r>
              <a:rPr lang="it-IT" sz="1300" b="1" dirty="0">
                <a:solidFill>
                  <a:schemeClr val="tx1"/>
                </a:solidFill>
              </a:rPr>
              <a:t>Conoscenza incompleta</a:t>
            </a:r>
            <a:endParaRPr lang="it-IT" sz="1300" dirty="0"/>
          </a:p>
        </p:txBody>
      </p:sp>
      <p:sp>
        <p:nvSpPr>
          <p:cNvPr id="13" name="Text 8"/>
          <p:cNvSpPr txBox="1"/>
          <p:nvPr/>
        </p:nvSpPr>
        <p:spPr>
          <a:xfrm>
            <a:off x="3425952" y="1810512"/>
            <a:ext cx="2292096" cy="612648"/>
          </a:xfrm>
          <a:prstGeom prst="rect">
            <a:avLst/>
          </a:prstGeom>
          <a:noFill/>
          <a:ln/>
        </p:spPr>
        <p:txBody>
          <a:bodyPr wrap="square" lIns="0" tIns="0" rIns="0" bIns="0" rtlCol="0" anchor="t"/>
          <a:lstStyle/>
          <a:p>
            <a:pPr marL="0" indent="0">
              <a:buNone/>
            </a:pPr>
            <a:r>
              <a:rPr lang="it-IT" sz="1200" dirty="0">
                <a:solidFill>
                  <a:schemeClr val="tx2"/>
                </a:solidFill>
              </a:rPr>
              <a:t>Su dettagli e argomenti di nicchia il modello ricostruisce</a:t>
            </a:r>
            <a:endParaRPr lang="it-IT" sz="1200" dirty="0"/>
          </a:p>
        </p:txBody>
      </p:sp>
      <p:sp>
        <p:nvSpPr>
          <p:cNvPr id="14" name="Data limite"/>
          <p:cNvSpPr/>
          <p:nvPr/>
        </p:nvSpPr>
        <p:spPr>
          <a:xfrm>
            <a:off x="6065520" y="1097280"/>
            <a:ext cx="2621280" cy="1417320"/>
          </a:xfrm>
          <a:prstGeom prst="roundRect">
            <a:avLst>
              <a:gd name="adj" fmla="val 5161"/>
            </a:avLst>
          </a:prstGeom>
          <a:solidFill>
            <a:schemeClr val="bg2"/>
          </a:solidFill>
          <a:ln/>
        </p:spPr>
        <p:txBody>
          <a:bodyPr/>
          <a:lstStyle/>
          <a:p>
            <a:endParaRPr lang="it-IT" dirty="0"/>
          </a:p>
        </p:txBody>
      </p:sp>
      <p:sp>
        <p:nvSpPr>
          <p:cNvPr id="15" name="cerchio FiCalendar"/>
          <p:cNvSpPr/>
          <p:nvPr/>
        </p:nvSpPr>
        <p:spPr>
          <a:xfrm>
            <a:off x="6230112" y="1261872"/>
            <a:ext cx="438912" cy="438912"/>
          </a:xfrm>
          <a:prstGeom prst="ellipse">
            <a:avLst/>
          </a:prstGeom>
          <a:solidFill>
            <a:schemeClr val="accent1"/>
          </a:solidFill>
          <a:ln/>
        </p:spPr>
        <p:txBody>
          <a:bodyPr/>
          <a:lstStyle/>
          <a:p>
            <a:endParaRPr lang="it-IT" dirty="0"/>
          </a:p>
        </p:txBody>
      </p:sp>
      <p:pic>
        <p:nvPicPr>
          <p:cNvPr id="16" name="Image 2" descr="FiCalendar"/>
          <p:cNvPicPr>
            <a:picLocks noChangeAspect="1"/>
          </p:cNvPicPr>
          <p:nvPr/>
        </p:nvPicPr>
        <p:blipFill>
          <a:blip r:embed="rId5"/>
          <a:stretch>
            <a:fillRect/>
          </a:stretch>
        </p:blipFill>
        <p:spPr>
          <a:xfrm>
            <a:off x="6339840" y="1371600"/>
            <a:ext cx="219456" cy="219456"/>
          </a:xfrm>
          <a:prstGeom prst="rect">
            <a:avLst/>
          </a:prstGeom>
        </p:spPr>
      </p:pic>
      <p:sp>
        <p:nvSpPr>
          <p:cNvPr id="17" name="Text 11"/>
          <p:cNvSpPr txBox="1"/>
          <p:nvPr/>
        </p:nvSpPr>
        <p:spPr>
          <a:xfrm>
            <a:off x="6778752" y="1225296"/>
            <a:ext cx="1798320" cy="512064"/>
          </a:xfrm>
          <a:prstGeom prst="rect">
            <a:avLst/>
          </a:prstGeom>
          <a:noFill/>
          <a:ln/>
        </p:spPr>
        <p:txBody>
          <a:bodyPr wrap="square" lIns="0" tIns="0" rIns="0" bIns="0" rtlCol="0" anchor="ctr"/>
          <a:lstStyle/>
          <a:p>
            <a:pPr marL="0" indent="0">
              <a:buNone/>
            </a:pPr>
            <a:r>
              <a:rPr lang="it-IT" sz="1300" b="1" dirty="0">
                <a:solidFill>
                  <a:schemeClr val="tx1"/>
                </a:solidFill>
              </a:rPr>
              <a:t>Data limite</a:t>
            </a:r>
            <a:endParaRPr lang="it-IT" sz="1300" dirty="0"/>
          </a:p>
        </p:txBody>
      </p:sp>
      <p:sp>
        <p:nvSpPr>
          <p:cNvPr id="18" name="Text 12"/>
          <p:cNvSpPr txBox="1"/>
          <p:nvPr/>
        </p:nvSpPr>
        <p:spPr>
          <a:xfrm>
            <a:off x="6230112" y="1810512"/>
            <a:ext cx="2292096" cy="612648"/>
          </a:xfrm>
          <a:prstGeom prst="rect">
            <a:avLst/>
          </a:prstGeom>
          <a:noFill/>
          <a:ln/>
        </p:spPr>
        <p:txBody>
          <a:bodyPr wrap="square" lIns="0" tIns="0" rIns="0" bIns="0" rtlCol="0" anchor="t"/>
          <a:lstStyle/>
          <a:p>
            <a:pPr marL="0" indent="0">
              <a:buNone/>
            </a:pPr>
            <a:r>
              <a:rPr lang="it-IT" sz="1200" dirty="0">
                <a:solidFill>
                  <a:schemeClr val="tx2"/>
                </a:solidFill>
              </a:rPr>
              <a:t>Le informazioni successive non sono note</a:t>
            </a:r>
            <a:endParaRPr lang="it-IT" sz="1200" dirty="0"/>
          </a:p>
        </p:txBody>
      </p:sp>
      <p:sp>
        <p:nvSpPr>
          <p:cNvPr id="19" name="Tendenza a rispondere comunque"/>
          <p:cNvSpPr/>
          <p:nvPr/>
        </p:nvSpPr>
        <p:spPr>
          <a:xfrm>
            <a:off x="457200" y="2697480"/>
            <a:ext cx="4023360" cy="1188720"/>
          </a:xfrm>
          <a:prstGeom prst="roundRect">
            <a:avLst>
              <a:gd name="adj" fmla="val 6154"/>
            </a:avLst>
          </a:prstGeom>
          <a:solidFill>
            <a:schemeClr val="bg2"/>
          </a:solidFill>
          <a:ln/>
        </p:spPr>
        <p:txBody>
          <a:bodyPr/>
          <a:lstStyle/>
          <a:p>
            <a:endParaRPr lang="it-IT" dirty="0"/>
          </a:p>
        </p:txBody>
      </p:sp>
      <p:sp>
        <p:nvSpPr>
          <p:cNvPr id="20" name="cerchio FiMessageSquare"/>
          <p:cNvSpPr/>
          <p:nvPr/>
        </p:nvSpPr>
        <p:spPr>
          <a:xfrm>
            <a:off x="621792" y="2862072"/>
            <a:ext cx="438912" cy="438912"/>
          </a:xfrm>
          <a:prstGeom prst="ellipse">
            <a:avLst/>
          </a:prstGeom>
          <a:solidFill>
            <a:schemeClr val="accent1"/>
          </a:solidFill>
          <a:ln/>
        </p:spPr>
        <p:txBody>
          <a:bodyPr/>
          <a:lstStyle/>
          <a:p>
            <a:endParaRPr lang="it-IT" dirty="0"/>
          </a:p>
        </p:txBody>
      </p:sp>
      <p:pic>
        <p:nvPicPr>
          <p:cNvPr id="21" name="Image 3" descr="FiMessageSquare"/>
          <p:cNvPicPr>
            <a:picLocks noChangeAspect="1"/>
          </p:cNvPicPr>
          <p:nvPr/>
        </p:nvPicPr>
        <p:blipFill>
          <a:blip r:embed="rId6"/>
          <a:stretch>
            <a:fillRect/>
          </a:stretch>
        </p:blipFill>
        <p:spPr>
          <a:xfrm>
            <a:off x="731520" y="2971800"/>
            <a:ext cx="219456" cy="219456"/>
          </a:xfrm>
          <a:prstGeom prst="rect">
            <a:avLst/>
          </a:prstGeom>
        </p:spPr>
      </p:pic>
      <p:sp>
        <p:nvSpPr>
          <p:cNvPr id="22" name="Text 15"/>
          <p:cNvSpPr txBox="1"/>
          <p:nvPr/>
        </p:nvSpPr>
        <p:spPr>
          <a:xfrm>
            <a:off x="1170432" y="2825496"/>
            <a:ext cx="3200400" cy="512064"/>
          </a:xfrm>
          <a:prstGeom prst="rect">
            <a:avLst/>
          </a:prstGeom>
          <a:noFill/>
          <a:ln/>
        </p:spPr>
        <p:txBody>
          <a:bodyPr wrap="square" lIns="0" tIns="0" rIns="0" bIns="0" rtlCol="0" anchor="ctr"/>
          <a:lstStyle/>
          <a:p>
            <a:pPr marL="0" indent="0">
              <a:buNone/>
            </a:pPr>
            <a:r>
              <a:rPr lang="it-IT" sz="1300" b="1" dirty="0">
                <a:solidFill>
                  <a:schemeClr val="tx1"/>
                </a:solidFill>
              </a:rPr>
              <a:t>Tendenza a rispondere comunque</a:t>
            </a:r>
            <a:endParaRPr lang="it-IT" sz="1300" dirty="0"/>
          </a:p>
        </p:txBody>
      </p:sp>
      <p:sp>
        <p:nvSpPr>
          <p:cNvPr id="23" name="Text 16"/>
          <p:cNvSpPr txBox="1"/>
          <p:nvPr/>
        </p:nvSpPr>
        <p:spPr>
          <a:xfrm>
            <a:off x="621792" y="3410712"/>
            <a:ext cx="3694176" cy="384048"/>
          </a:xfrm>
          <a:prstGeom prst="rect">
            <a:avLst/>
          </a:prstGeom>
          <a:noFill/>
          <a:ln/>
        </p:spPr>
        <p:txBody>
          <a:bodyPr wrap="square" lIns="0" tIns="0" rIns="0" bIns="0" rtlCol="0" anchor="t"/>
          <a:lstStyle/>
          <a:p>
            <a:pPr marL="0" indent="0">
              <a:buNone/>
            </a:pPr>
            <a:r>
              <a:rPr lang="it-IT" sz="1200" dirty="0">
                <a:solidFill>
                  <a:schemeClr val="tx2"/>
                </a:solidFill>
              </a:rPr>
              <a:t>L'addestramento può premiare il tirare a indovinare</a:t>
            </a:r>
            <a:endParaRPr lang="it-IT" sz="1200" dirty="0"/>
          </a:p>
        </p:txBody>
      </p:sp>
      <p:sp>
        <p:nvSpPr>
          <p:cNvPr id="24" name="Premesse false"/>
          <p:cNvSpPr/>
          <p:nvPr/>
        </p:nvSpPr>
        <p:spPr>
          <a:xfrm>
            <a:off x="4663440" y="2697480"/>
            <a:ext cx="4023360" cy="1188720"/>
          </a:xfrm>
          <a:prstGeom prst="roundRect">
            <a:avLst>
              <a:gd name="adj" fmla="val 6154"/>
            </a:avLst>
          </a:prstGeom>
          <a:solidFill>
            <a:schemeClr val="bg2"/>
          </a:solidFill>
          <a:ln/>
        </p:spPr>
        <p:txBody>
          <a:bodyPr/>
          <a:lstStyle/>
          <a:p>
            <a:endParaRPr lang="it-IT" dirty="0"/>
          </a:p>
        </p:txBody>
      </p:sp>
      <p:sp>
        <p:nvSpPr>
          <p:cNvPr id="25" name="cerchio FiHelpCircle"/>
          <p:cNvSpPr/>
          <p:nvPr/>
        </p:nvSpPr>
        <p:spPr>
          <a:xfrm>
            <a:off x="4828032" y="2862072"/>
            <a:ext cx="438912" cy="438912"/>
          </a:xfrm>
          <a:prstGeom prst="ellipse">
            <a:avLst/>
          </a:prstGeom>
          <a:solidFill>
            <a:schemeClr val="accent1"/>
          </a:solidFill>
          <a:ln/>
        </p:spPr>
        <p:txBody>
          <a:bodyPr/>
          <a:lstStyle/>
          <a:p>
            <a:endParaRPr lang="it-IT" dirty="0"/>
          </a:p>
        </p:txBody>
      </p:sp>
      <p:pic>
        <p:nvPicPr>
          <p:cNvPr id="26" name="Image 4" descr="FiHelpCircle"/>
          <p:cNvPicPr>
            <a:picLocks noChangeAspect="1"/>
          </p:cNvPicPr>
          <p:nvPr/>
        </p:nvPicPr>
        <p:blipFill>
          <a:blip r:embed="rId7"/>
          <a:stretch>
            <a:fillRect/>
          </a:stretch>
        </p:blipFill>
        <p:spPr>
          <a:xfrm>
            <a:off x="4937760" y="2971800"/>
            <a:ext cx="219456" cy="219456"/>
          </a:xfrm>
          <a:prstGeom prst="rect">
            <a:avLst/>
          </a:prstGeom>
        </p:spPr>
      </p:pic>
      <p:sp>
        <p:nvSpPr>
          <p:cNvPr id="27" name="Text 19"/>
          <p:cNvSpPr txBox="1"/>
          <p:nvPr/>
        </p:nvSpPr>
        <p:spPr>
          <a:xfrm>
            <a:off x="5376672" y="2825496"/>
            <a:ext cx="3200400" cy="512064"/>
          </a:xfrm>
          <a:prstGeom prst="rect">
            <a:avLst/>
          </a:prstGeom>
          <a:noFill/>
          <a:ln/>
        </p:spPr>
        <p:txBody>
          <a:bodyPr wrap="square" lIns="0" tIns="0" rIns="0" bIns="0" rtlCol="0" anchor="ctr"/>
          <a:lstStyle/>
          <a:p>
            <a:pPr marL="0" indent="0">
              <a:buNone/>
            </a:pPr>
            <a:r>
              <a:rPr lang="it-IT" sz="1300" b="1" dirty="0">
                <a:solidFill>
                  <a:schemeClr val="tx1"/>
                </a:solidFill>
              </a:rPr>
              <a:t>Premesse false</a:t>
            </a:r>
            <a:endParaRPr lang="it-IT" sz="1300" dirty="0"/>
          </a:p>
        </p:txBody>
      </p:sp>
      <p:sp>
        <p:nvSpPr>
          <p:cNvPr id="28" name="Text 20"/>
          <p:cNvSpPr txBox="1"/>
          <p:nvPr/>
        </p:nvSpPr>
        <p:spPr>
          <a:xfrm>
            <a:off x="4828032" y="3410712"/>
            <a:ext cx="3694176" cy="384048"/>
          </a:xfrm>
          <a:prstGeom prst="rect">
            <a:avLst/>
          </a:prstGeom>
          <a:noFill/>
          <a:ln/>
        </p:spPr>
        <p:txBody>
          <a:bodyPr wrap="square" lIns="0" tIns="0" rIns="0" bIns="0" rtlCol="0" anchor="t"/>
          <a:lstStyle/>
          <a:p>
            <a:pPr marL="0" indent="0">
              <a:buNone/>
            </a:pPr>
            <a:r>
              <a:rPr lang="it-IT" sz="1200" dirty="0">
                <a:solidFill>
                  <a:schemeClr val="tx2"/>
                </a:solidFill>
              </a:rPr>
              <a:t>La domanda stessa può indurre l'errore</a:t>
            </a:r>
            <a:endParaRPr lang="it-IT" sz="1200" dirty="0"/>
          </a:p>
        </p:txBody>
      </p:sp>
      <p:sp>
        <p:nvSpPr>
          <p:cNvPr id="29" name="Text 21"/>
          <p:cNvSpPr txBox="1"/>
          <p:nvPr/>
        </p:nvSpPr>
        <p:spPr>
          <a:xfrm>
            <a:off x="457200" y="4069080"/>
            <a:ext cx="8229600" cy="457200"/>
          </a:xfrm>
          <a:prstGeom prst="rect">
            <a:avLst/>
          </a:prstGeom>
          <a:noFill/>
          <a:ln/>
        </p:spPr>
        <p:txBody>
          <a:bodyPr wrap="square" lIns="0" tIns="0" rIns="0" bIns="0" rtlCol="0" anchor="t"/>
          <a:lstStyle/>
          <a:p>
            <a:pPr marL="0" indent="0">
              <a:buNone/>
            </a:pPr>
            <a:r>
              <a:rPr lang="it-IT" sz="1300" i="1" dirty="0">
                <a:solidFill>
                  <a:schemeClr val="tx1"/>
                </a:solidFill>
              </a:rPr>
              <a:t>L'utilizzo di fonti pertinenti, strumenti di ricerca e procedure di verifica può ridurre il rischio di informazioni errate.</a:t>
            </a:r>
            <a:endParaRPr lang="it-IT"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70</a:t>
            </a:fld>
            <a:endParaRPr lang="it-IT"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L'autorevolezza apparente</a:t>
            </a:r>
            <a:endParaRPr lang="it-IT" sz="2600" dirty="0"/>
          </a:p>
        </p:txBody>
      </p:sp>
      <p:sp>
        <p:nvSpPr>
          <p:cNvPr id="4" name="Text 1"/>
          <p:cNvSpPr txBox="1"/>
          <p:nvPr/>
        </p:nvSpPr>
        <p:spPr>
          <a:xfrm>
            <a:off x="457200" y="1051560"/>
            <a:ext cx="3977640" cy="320040"/>
          </a:xfrm>
          <a:prstGeom prst="rect">
            <a:avLst/>
          </a:prstGeom>
          <a:noFill/>
          <a:ln/>
        </p:spPr>
        <p:txBody>
          <a:bodyPr wrap="square" lIns="0" tIns="0" rIns="0" bIns="0" rtlCol="0" anchor="t"/>
          <a:lstStyle/>
          <a:p>
            <a:pPr marL="0" indent="0">
              <a:buNone/>
            </a:pPr>
            <a:r>
              <a:rPr lang="it-IT" sz="1500" b="1" dirty="0">
                <a:solidFill>
                  <a:schemeClr val="accent5"/>
                </a:solidFill>
              </a:rPr>
              <a:t>Segnali di forma: non sufficienti</a:t>
            </a:r>
            <a:endParaRPr lang="it-IT" sz="1500" dirty="0"/>
          </a:p>
        </p:txBody>
      </p:sp>
      <p:sp>
        <p:nvSpPr>
          <p:cNvPr id="5" name="Text 2"/>
          <p:cNvSpPr txBox="1"/>
          <p:nvPr/>
        </p:nvSpPr>
        <p:spPr>
          <a:xfrm>
            <a:off x="4709160" y="1051560"/>
            <a:ext cx="3977640" cy="320040"/>
          </a:xfrm>
          <a:prstGeom prst="rect">
            <a:avLst/>
          </a:prstGeom>
          <a:noFill/>
          <a:ln/>
        </p:spPr>
        <p:txBody>
          <a:bodyPr wrap="square" lIns="0" tIns="0" rIns="0" bIns="0" rtlCol="0" anchor="t"/>
          <a:lstStyle/>
          <a:p>
            <a:pPr marL="0" indent="0">
              <a:buNone/>
            </a:pPr>
            <a:r>
              <a:rPr lang="it-IT" sz="1500" b="1" dirty="0">
                <a:solidFill>
                  <a:schemeClr val="accent1"/>
                </a:solidFill>
              </a:rPr>
              <a:t>Segnali di sostanza: affidabili</a:t>
            </a:r>
            <a:endParaRPr lang="it-IT" sz="1500" dirty="0"/>
          </a:p>
        </p:txBody>
      </p:sp>
      <p:sp>
        <p:nvSpPr>
          <p:cNvPr id="6" name="Tono sicuro e assertivo"/>
          <p:cNvSpPr/>
          <p:nvPr/>
        </p:nvSpPr>
        <p:spPr>
          <a:xfrm>
            <a:off x="457200" y="1463040"/>
            <a:ext cx="3977640" cy="548640"/>
          </a:xfrm>
          <a:prstGeom prst="roundRect">
            <a:avLst>
              <a:gd name="adj" fmla="val 13333"/>
            </a:avLst>
          </a:prstGeom>
          <a:solidFill>
            <a:schemeClr val="bg2"/>
          </a:solidFill>
          <a:ln/>
        </p:spPr>
        <p:txBody>
          <a:bodyPr/>
          <a:lstStyle/>
          <a:p>
            <a:endParaRPr lang="it-IT" dirty="0"/>
          </a:p>
        </p:txBody>
      </p:sp>
      <p:sp>
        <p:nvSpPr>
          <p:cNvPr id="7" name="cerchio FiVolume2"/>
          <p:cNvSpPr/>
          <p:nvPr/>
        </p:nvSpPr>
        <p:spPr>
          <a:xfrm>
            <a:off x="548640" y="1527048"/>
            <a:ext cx="420624" cy="420624"/>
          </a:xfrm>
          <a:prstGeom prst="ellipse">
            <a:avLst/>
          </a:prstGeom>
          <a:solidFill>
            <a:schemeClr val="accent2"/>
          </a:solidFill>
          <a:ln/>
        </p:spPr>
        <p:txBody>
          <a:bodyPr/>
          <a:lstStyle/>
          <a:p>
            <a:endParaRPr lang="it-IT" dirty="0"/>
          </a:p>
        </p:txBody>
      </p:sp>
      <p:pic>
        <p:nvPicPr>
          <p:cNvPr id="8" name="Image 0" descr="FiVolume2"/>
          <p:cNvPicPr>
            <a:picLocks noChangeAspect="1"/>
          </p:cNvPicPr>
          <p:nvPr/>
        </p:nvPicPr>
        <p:blipFill>
          <a:blip r:embed="rId3"/>
          <a:stretch>
            <a:fillRect/>
          </a:stretch>
        </p:blipFill>
        <p:spPr>
          <a:xfrm>
            <a:off x="653796" y="1632204"/>
            <a:ext cx="210312" cy="210312"/>
          </a:xfrm>
          <a:prstGeom prst="rect">
            <a:avLst/>
          </a:prstGeom>
        </p:spPr>
      </p:pic>
      <p:sp>
        <p:nvSpPr>
          <p:cNvPr id="9" name="Text 5"/>
          <p:cNvSpPr txBox="1"/>
          <p:nvPr/>
        </p:nvSpPr>
        <p:spPr>
          <a:xfrm>
            <a:off x="1097280" y="1463040"/>
            <a:ext cx="3246120" cy="548640"/>
          </a:xfrm>
          <a:prstGeom prst="rect">
            <a:avLst/>
          </a:prstGeom>
          <a:noFill/>
          <a:ln/>
        </p:spPr>
        <p:txBody>
          <a:bodyPr wrap="square" lIns="0" tIns="0" rIns="0" bIns="0" rtlCol="0" anchor="ctr"/>
          <a:lstStyle/>
          <a:p>
            <a:pPr marL="0" indent="0">
              <a:buNone/>
            </a:pPr>
            <a:r>
              <a:rPr lang="it-IT" sz="1300" dirty="0">
                <a:solidFill>
                  <a:schemeClr val="tx1"/>
                </a:solidFill>
              </a:rPr>
              <a:t>Tono sicuro e assertivo</a:t>
            </a:r>
            <a:endParaRPr lang="it-IT" sz="1300" dirty="0"/>
          </a:p>
        </p:txBody>
      </p:sp>
      <p:sp>
        <p:nvSpPr>
          <p:cNvPr id="10" name="Fonti verificabili, effettivamente consultate"/>
          <p:cNvSpPr/>
          <p:nvPr/>
        </p:nvSpPr>
        <p:spPr>
          <a:xfrm>
            <a:off x="4709160" y="1463040"/>
            <a:ext cx="3977640" cy="548640"/>
          </a:xfrm>
          <a:prstGeom prst="roundRect">
            <a:avLst>
              <a:gd name="adj" fmla="val 13333"/>
            </a:avLst>
          </a:prstGeom>
          <a:solidFill>
            <a:schemeClr val="accent6"/>
          </a:solidFill>
          <a:ln/>
        </p:spPr>
        <p:txBody>
          <a:bodyPr/>
          <a:lstStyle/>
          <a:p>
            <a:endParaRPr lang="it-IT" dirty="0"/>
          </a:p>
        </p:txBody>
      </p:sp>
      <p:sp>
        <p:nvSpPr>
          <p:cNvPr id="11" name="cerchio FiExternalLink"/>
          <p:cNvSpPr/>
          <p:nvPr/>
        </p:nvSpPr>
        <p:spPr>
          <a:xfrm>
            <a:off x="4800600" y="1527048"/>
            <a:ext cx="420624" cy="420624"/>
          </a:xfrm>
          <a:prstGeom prst="ellipse">
            <a:avLst/>
          </a:prstGeom>
          <a:solidFill>
            <a:schemeClr val="accent1"/>
          </a:solidFill>
          <a:ln/>
        </p:spPr>
        <p:txBody>
          <a:bodyPr/>
          <a:lstStyle/>
          <a:p>
            <a:endParaRPr lang="it-IT" dirty="0"/>
          </a:p>
        </p:txBody>
      </p:sp>
      <p:pic>
        <p:nvPicPr>
          <p:cNvPr id="12" name="Image 1" descr="FiExternalLink"/>
          <p:cNvPicPr>
            <a:picLocks noChangeAspect="1"/>
          </p:cNvPicPr>
          <p:nvPr/>
        </p:nvPicPr>
        <p:blipFill>
          <a:blip r:embed="rId4"/>
          <a:stretch>
            <a:fillRect/>
          </a:stretch>
        </p:blipFill>
        <p:spPr>
          <a:xfrm>
            <a:off x="4905756" y="1632204"/>
            <a:ext cx="210312" cy="210312"/>
          </a:xfrm>
          <a:prstGeom prst="rect">
            <a:avLst/>
          </a:prstGeom>
        </p:spPr>
      </p:pic>
      <p:sp>
        <p:nvSpPr>
          <p:cNvPr id="13" name="Text 8"/>
          <p:cNvSpPr txBox="1"/>
          <p:nvPr/>
        </p:nvSpPr>
        <p:spPr>
          <a:xfrm>
            <a:off x="5349240" y="1463040"/>
            <a:ext cx="3246120" cy="548640"/>
          </a:xfrm>
          <a:prstGeom prst="rect">
            <a:avLst/>
          </a:prstGeom>
          <a:noFill/>
          <a:ln/>
        </p:spPr>
        <p:txBody>
          <a:bodyPr wrap="square" lIns="0" tIns="0" rIns="0" bIns="0" rtlCol="0" anchor="ctr"/>
          <a:lstStyle/>
          <a:p>
            <a:pPr marL="0" indent="0">
              <a:buNone/>
            </a:pPr>
            <a:r>
              <a:rPr lang="it-IT" sz="1300" dirty="0">
                <a:solidFill>
                  <a:schemeClr val="tx1"/>
                </a:solidFill>
              </a:rPr>
              <a:t>Fonti verificabili, effettivamente consultate</a:t>
            </a:r>
            <a:endParaRPr lang="it-IT" sz="1300" dirty="0"/>
          </a:p>
        </p:txBody>
      </p:sp>
      <p:sp>
        <p:nvSpPr>
          <p:cNvPr id="14" name="Struttura ordinata, titoli ed elenchi"/>
          <p:cNvSpPr/>
          <p:nvPr/>
        </p:nvSpPr>
        <p:spPr>
          <a:xfrm>
            <a:off x="457200" y="2121408"/>
            <a:ext cx="3977640" cy="548640"/>
          </a:xfrm>
          <a:prstGeom prst="roundRect">
            <a:avLst>
              <a:gd name="adj" fmla="val 13333"/>
            </a:avLst>
          </a:prstGeom>
          <a:solidFill>
            <a:schemeClr val="bg2"/>
          </a:solidFill>
          <a:ln/>
        </p:spPr>
        <p:txBody>
          <a:bodyPr/>
          <a:lstStyle/>
          <a:p>
            <a:endParaRPr lang="it-IT" dirty="0"/>
          </a:p>
        </p:txBody>
      </p:sp>
      <p:sp>
        <p:nvSpPr>
          <p:cNvPr id="15" name="cerchio FiAlignLeft"/>
          <p:cNvSpPr/>
          <p:nvPr/>
        </p:nvSpPr>
        <p:spPr>
          <a:xfrm>
            <a:off x="548640" y="2185416"/>
            <a:ext cx="420624" cy="420624"/>
          </a:xfrm>
          <a:prstGeom prst="ellipse">
            <a:avLst/>
          </a:prstGeom>
          <a:solidFill>
            <a:schemeClr val="accent2"/>
          </a:solidFill>
          <a:ln/>
        </p:spPr>
        <p:txBody>
          <a:bodyPr/>
          <a:lstStyle/>
          <a:p>
            <a:endParaRPr lang="it-IT" dirty="0"/>
          </a:p>
        </p:txBody>
      </p:sp>
      <p:pic>
        <p:nvPicPr>
          <p:cNvPr id="16" name="Image 2" descr="FiAlignLeft"/>
          <p:cNvPicPr>
            <a:picLocks noChangeAspect="1"/>
          </p:cNvPicPr>
          <p:nvPr/>
        </p:nvPicPr>
        <p:blipFill>
          <a:blip r:embed="rId5"/>
          <a:stretch>
            <a:fillRect/>
          </a:stretch>
        </p:blipFill>
        <p:spPr>
          <a:xfrm>
            <a:off x="653796" y="2290572"/>
            <a:ext cx="210312" cy="210312"/>
          </a:xfrm>
          <a:prstGeom prst="rect">
            <a:avLst/>
          </a:prstGeom>
        </p:spPr>
      </p:pic>
      <p:sp>
        <p:nvSpPr>
          <p:cNvPr id="17" name="Text 11"/>
          <p:cNvSpPr txBox="1"/>
          <p:nvPr/>
        </p:nvSpPr>
        <p:spPr>
          <a:xfrm>
            <a:off x="1097280" y="2121408"/>
            <a:ext cx="3246120" cy="548640"/>
          </a:xfrm>
          <a:prstGeom prst="rect">
            <a:avLst/>
          </a:prstGeom>
          <a:noFill/>
          <a:ln/>
        </p:spPr>
        <p:txBody>
          <a:bodyPr wrap="square" lIns="0" tIns="0" rIns="0" bIns="0" rtlCol="0" anchor="ctr"/>
          <a:lstStyle/>
          <a:p>
            <a:pPr marL="0" indent="0">
              <a:buNone/>
            </a:pPr>
            <a:r>
              <a:rPr lang="it-IT" sz="1300" dirty="0">
                <a:solidFill>
                  <a:schemeClr val="tx1"/>
                </a:solidFill>
              </a:rPr>
              <a:t>Struttura ordinata, titoli ed elenchi</a:t>
            </a:r>
            <a:endParaRPr lang="it-IT" sz="1300" dirty="0"/>
          </a:p>
        </p:txBody>
      </p:sp>
      <p:sp>
        <p:nvSpPr>
          <p:cNvPr id="18" name="Coerenza con fonti indipendenti"/>
          <p:cNvSpPr/>
          <p:nvPr/>
        </p:nvSpPr>
        <p:spPr>
          <a:xfrm>
            <a:off x="4709160" y="2121408"/>
            <a:ext cx="3977640" cy="548640"/>
          </a:xfrm>
          <a:prstGeom prst="roundRect">
            <a:avLst>
              <a:gd name="adj" fmla="val 13333"/>
            </a:avLst>
          </a:prstGeom>
          <a:solidFill>
            <a:schemeClr val="accent6"/>
          </a:solidFill>
          <a:ln/>
        </p:spPr>
        <p:txBody>
          <a:bodyPr/>
          <a:lstStyle/>
          <a:p>
            <a:endParaRPr lang="it-IT" dirty="0"/>
          </a:p>
        </p:txBody>
      </p:sp>
      <p:sp>
        <p:nvSpPr>
          <p:cNvPr id="19" name="cerchio FiCopy"/>
          <p:cNvSpPr/>
          <p:nvPr/>
        </p:nvSpPr>
        <p:spPr>
          <a:xfrm>
            <a:off x="4800600" y="2185416"/>
            <a:ext cx="420624" cy="420624"/>
          </a:xfrm>
          <a:prstGeom prst="ellipse">
            <a:avLst/>
          </a:prstGeom>
          <a:solidFill>
            <a:schemeClr val="accent1"/>
          </a:solidFill>
          <a:ln/>
        </p:spPr>
        <p:txBody>
          <a:bodyPr/>
          <a:lstStyle/>
          <a:p>
            <a:endParaRPr lang="it-IT" dirty="0"/>
          </a:p>
        </p:txBody>
      </p:sp>
      <p:pic>
        <p:nvPicPr>
          <p:cNvPr id="20" name="Image 3" descr="FiCopy"/>
          <p:cNvPicPr>
            <a:picLocks noChangeAspect="1"/>
          </p:cNvPicPr>
          <p:nvPr/>
        </p:nvPicPr>
        <p:blipFill>
          <a:blip r:embed="rId6"/>
          <a:stretch>
            <a:fillRect/>
          </a:stretch>
        </p:blipFill>
        <p:spPr>
          <a:xfrm>
            <a:off x="4905756" y="2290572"/>
            <a:ext cx="210312" cy="210312"/>
          </a:xfrm>
          <a:prstGeom prst="rect">
            <a:avLst/>
          </a:prstGeom>
        </p:spPr>
      </p:pic>
      <p:sp>
        <p:nvSpPr>
          <p:cNvPr id="21" name="Text 14"/>
          <p:cNvSpPr txBox="1"/>
          <p:nvPr/>
        </p:nvSpPr>
        <p:spPr>
          <a:xfrm>
            <a:off x="5349240" y="2121408"/>
            <a:ext cx="3246120" cy="548640"/>
          </a:xfrm>
          <a:prstGeom prst="rect">
            <a:avLst/>
          </a:prstGeom>
          <a:noFill/>
          <a:ln/>
        </p:spPr>
        <p:txBody>
          <a:bodyPr wrap="square" lIns="0" tIns="0" rIns="0" bIns="0" rtlCol="0" anchor="ctr"/>
          <a:lstStyle/>
          <a:p>
            <a:pPr marL="0" indent="0">
              <a:buNone/>
            </a:pPr>
            <a:r>
              <a:rPr lang="it-IT" sz="1300" dirty="0">
                <a:solidFill>
                  <a:schemeClr val="tx1"/>
                </a:solidFill>
              </a:rPr>
              <a:t>Coerenza con fonti indipendenti</a:t>
            </a:r>
            <a:endParaRPr lang="it-IT" sz="1300" dirty="0"/>
          </a:p>
        </p:txBody>
      </p:sp>
      <p:sp>
        <p:nvSpPr>
          <p:cNvPr id="22" name="Numeri precisi e dettagli"/>
          <p:cNvSpPr/>
          <p:nvPr/>
        </p:nvSpPr>
        <p:spPr>
          <a:xfrm>
            <a:off x="457200" y="2779776"/>
            <a:ext cx="3977640" cy="548640"/>
          </a:xfrm>
          <a:prstGeom prst="roundRect">
            <a:avLst>
              <a:gd name="adj" fmla="val 13333"/>
            </a:avLst>
          </a:prstGeom>
          <a:solidFill>
            <a:schemeClr val="bg2"/>
          </a:solidFill>
          <a:ln/>
        </p:spPr>
        <p:txBody>
          <a:bodyPr/>
          <a:lstStyle/>
          <a:p>
            <a:endParaRPr lang="it-IT" dirty="0"/>
          </a:p>
        </p:txBody>
      </p:sp>
      <p:sp>
        <p:nvSpPr>
          <p:cNvPr id="23" name="cerchio FiHash"/>
          <p:cNvSpPr/>
          <p:nvPr/>
        </p:nvSpPr>
        <p:spPr>
          <a:xfrm>
            <a:off x="548640" y="2843784"/>
            <a:ext cx="420624" cy="420624"/>
          </a:xfrm>
          <a:prstGeom prst="ellipse">
            <a:avLst/>
          </a:prstGeom>
          <a:solidFill>
            <a:schemeClr val="accent2"/>
          </a:solidFill>
          <a:ln/>
        </p:spPr>
        <p:txBody>
          <a:bodyPr/>
          <a:lstStyle/>
          <a:p>
            <a:endParaRPr lang="it-IT" dirty="0"/>
          </a:p>
        </p:txBody>
      </p:sp>
      <p:pic>
        <p:nvPicPr>
          <p:cNvPr id="24" name="Image 4" descr="FiHash"/>
          <p:cNvPicPr>
            <a:picLocks noChangeAspect="1"/>
          </p:cNvPicPr>
          <p:nvPr/>
        </p:nvPicPr>
        <p:blipFill>
          <a:blip r:embed="rId7"/>
          <a:stretch>
            <a:fillRect/>
          </a:stretch>
        </p:blipFill>
        <p:spPr>
          <a:xfrm>
            <a:off x="653796" y="2948940"/>
            <a:ext cx="210312" cy="210312"/>
          </a:xfrm>
          <a:prstGeom prst="rect">
            <a:avLst/>
          </a:prstGeom>
        </p:spPr>
      </p:pic>
      <p:sp>
        <p:nvSpPr>
          <p:cNvPr id="25" name="Text 17"/>
          <p:cNvSpPr txBox="1"/>
          <p:nvPr/>
        </p:nvSpPr>
        <p:spPr>
          <a:xfrm>
            <a:off x="1097280" y="2779776"/>
            <a:ext cx="3246120" cy="548640"/>
          </a:xfrm>
          <a:prstGeom prst="rect">
            <a:avLst/>
          </a:prstGeom>
          <a:noFill/>
          <a:ln/>
        </p:spPr>
        <p:txBody>
          <a:bodyPr wrap="square" lIns="0" tIns="0" rIns="0" bIns="0" rtlCol="0" anchor="ctr"/>
          <a:lstStyle/>
          <a:p>
            <a:pPr marL="0" indent="0">
              <a:buNone/>
            </a:pPr>
            <a:r>
              <a:rPr lang="it-IT" sz="1300" dirty="0">
                <a:solidFill>
                  <a:schemeClr val="tx1"/>
                </a:solidFill>
              </a:rPr>
              <a:t>Numeri precisi e dettagli</a:t>
            </a:r>
            <a:endParaRPr lang="it-IT" sz="1300" dirty="0"/>
          </a:p>
        </p:txBody>
      </p:sp>
      <p:sp>
        <p:nvSpPr>
          <p:cNvPr id="26" name="Coerenza interna della risposta"/>
          <p:cNvSpPr/>
          <p:nvPr/>
        </p:nvSpPr>
        <p:spPr>
          <a:xfrm>
            <a:off x="4709160" y="2779776"/>
            <a:ext cx="3977640" cy="548640"/>
          </a:xfrm>
          <a:prstGeom prst="roundRect">
            <a:avLst>
              <a:gd name="adj" fmla="val 13333"/>
            </a:avLst>
          </a:prstGeom>
          <a:solidFill>
            <a:schemeClr val="accent6"/>
          </a:solidFill>
          <a:ln/>
        </p:spPr>
        <p:txBody>
          <a:bodyPr/>
          <a:lstStyle/>
          <a:p>
            <a:endParaRPr lang="it-IT" dirty="0"/>
          </a:p>
        </p:txBody>
      </p:sp>
      <p:sp>
        <p:nvSpPr>
          <p:cNvPr id="27" name="cerchio FiCheckSquare"/>
          <p:cNvSpPr/>
          <p:nvPr/>
        </p:nvSpPr>
        <p:spPr>
          <a:xfrm>
            <a:off x="4800600" y="2843784"/>
            <a:ext cx="420624" cy="420624"/>
          </a:xfrm>
          <a:prstGeom prst="ellipse">
            <a:avLst/>
          </a:prstGeom>
          <a:solidFill>
            <a:schemeClr val="accent1"/>
          </a:solidFill>
          <a:ln/>
        </p:spPr>
        <p:txBody>
          <a:bodyPr/>
          <a:lstStyle/>
          <a:p>
            <a:endParaRPr lang="it-IT" dirty="0"/>
          </a:p>
        </p:txBody>
      </p:sp>
      <p:pic>
        <p:nvPicPr>
          <p:cNvPr id="28" name="Image 5" descr="FiCheckSquare"/>
          <p:cNvPicPr>
            <a:picLocks noChangeAspect="1"/>
          </p:cNvPicPr>
          <p:nvPr/>
        </p:nvPicPr>
        <p:blipFill>
          <a:blip r:embed="rId8"/>
          <a:stretch>
            <a:fillRect/>
          </a:stretch>
        </p:blipFill>
        <p:spPr>
          <a:xfrm>
            <a:off x="4905756" y="2948940"/>
            <a:ext cx="210312" cy="210312"/>
          </a:xfrm>
          <a:prstGeom prst="rect">
            <a:avLst/>
          </a:prstGeom>
        </p:spPr>
      </p:pic>
      <p:sp>
        <p:nvSpPr>
          <p:cNvPr id="29" name="Text 20"/>
          <p:cNvSpPr txBox="1"/>
          <p:nvPr/>
        </p:nvSpPr>
        <p:spPr>
          <a:xfrm>
            <a:off x="5349240" y="2779776"/>
            <a:ext cx="3246120" cy="548640"/>
          </a:xfrm>
          <a:prstGeom prst="rect">
            <a:avLst/>
          </a:prstGeom>
          <a:noFill/>
          <a:ln/>
        </p:spPr>
        <p:txBody>
          <a:bodyPr wrap="square" lIns="0" tIns="0" rIns="0" bIns="0" rtlCol="0" anchor="ctr"/>
          <a:lstStyle/>
          <a:p>
            <a:pPr marL="0" indent="0">
              <a:buNone/>
            </a:pPr>
            <a:r>
              <a:rPr lang="it-IT" sz="1300" dirty="0">
                <a:solidFill>
                  <a:schemeClr val="tx1"/>
                </a:solidFill>
              </a:rPr>
              <a:t>Coerenza interna della risposta</a:t>
            </a:r>
            <a:endParaRPr lang="it-IT" sz="1300" dirty="0"/>
          </a:p>
        </p:txBody>
      </p:sp>
      <p:sp>
        <p:nvSpPr>
          <p:cNvPr id="30" name="Citazioni e riferimenti"/>
          <p:cNvSpPr/>
          <p:nvPr/>
        </p:nvSpPr>
        <p:spPr>
          <a:xfrm>
            <a:off x="457200" y="3438144"/>
            <a:ext cx="3977640" cy="548640"/>
          </a:xfrm>
          <a:prstGeom prst="roundRect">
            <a:avLst>
              <a:gd name="adj" fmla="val 13333"/>
            </a:avLst>
          </a:prstGeom>
          <a:solidFill>
            <a:schemeClr val="bg2"/>
          </a:solidFill>
          <a:ln/>
        </p:spPr>
        <p:txBody>
          <a:bodyPr/>
          <a:lstStyle/>
          <a:p>
            <a:endParaRPr lang="it-IT" dirty="0"/>
          </a:p>
        </p:txBody>
      </p:sp>
      <p:sp>
        <p:nvSpPr>
          <p:cNvPr id="31" name="cerchio FiBookmark"/>
          <p:cNvSpPr/>
          <p:nvPr/>
        </p:nvSpPr>
        <p:spPr>
          <a:xfrm>
            <a:off x="548640" y="3502152"/>
            <a:ext cx="420624" cy="420624"/>
          </a:xfrm>
          <a:prstGeom prst="ellipse">
            <a:avLst/>
          </a:prstGeom>
          <a:solidFill>
            <a:schemeClr val="accent2"/>
          </a:solidFill>
          <a:ln/>
        </p:spPr>
        <p:txBody>
          <a:bodyPr/>
          <a:lstStyle/>
          <a:p>
            <a:endParaRPr lang="it-IT" dirty="0"/>
          </a:p>
        </p:txBody>
      </p:sp>
      <p:pic>
        <p:nvPicPr>
          <p:cNvPr id="32" name="Image 6" descr="FiBookmark"/>
          <p:cNvPicPr>
            <a:picLocks noChangeAspect="1"/>
          </p:cNvPicPr>
          <p:nvPr/>
        </p:nvPicPr>
        <p:blipFill>
          <a:blip r:embed="rId9"/>
          <a:stretch>
            <a:fillRect/>
          </a:stretch>
        </p:blipFill>
        <p:spPr>
          <a:xfrm>
            <a:off x="653796" y="3607308"/>
            <a:ext cx="210312" cy="210312"/>
          </a:xfrm>
          <a:prstGeom prst="rect">
            <a:avLst/>
          </a:prstGeom>
        </p:spPr>
      </p:pic>
      <p:sp>
        <p:nvSpPr>
          <p:cNvPr id="33" name="Text 23"/>
          <p:cNvSpPr txBox="1"/>
          <p:nvPr/>
        </p:nvSpPr>
        <p:spPr>
          <a:xfrm>
            <a:off x="1097280" y="3438144"/>
            <a:ext cx="3246120" cy="548640"/>
          </a:xfrm>
          <a:prstGeom prst="rect">
            <a:avLst/>
          </a:prstGeom>
          <a:noFill/>
          <a:ln/>
        </p:spPr>
        <p:txBody>
          <a:bodyPr wrap="square" lIns="0" tIns="0" rIns="0" bIns="0" rtlCol="0" anchor="ctr"/>
          <a:lstStyle/>
          <a:p>
            <a:pPr marL="0" indent="0">
              <a:buNone/>
            </a:pPr>
            <a:r>
              <a:rPr lang="it-IT" sz="1300" dirty="0">
                <a:solidFill>
                  <a:schemeClr val="tx1"/>
                </a:solidFill>
              </a:rPr>
              <a:t>Citazioni e riferimenti</a:t>
            </a:r>
            <a:endParaRPr lang="it-IT" sz="1300" dirty="0"/>
          </a:p>
        </p:txBody>
      </p:sp>
      <p:sp>
        <p:nvSpPr>
          <p:cNvPr id="34" name="La propria competenza sull'argomento"/>
          <p:cNvSpPr/>
          <p:nvPr/>
        </p:nvSpPr>
        <p:spPr>
          <a:xfrm>
            <a:off x="4709160" y="3438144"/>
            <a:ext cx="3977640" cy="548640"/>
          </a:xfrm>
          <a:prstGeom prst="roundRect">
            <a:avLst>
              <a:gd name="adj" fmla="val 13333"/>
            </a:avLst>
          </a:prstGeom>
          <a:solidFill>
            <a:schemeClr val="accent6"/>
          </a:solidFill>
          <a:ln/>
        </p:spPr>
        <p:txBody>
          <a:bodyPr/>
          <a:lstStyle/>
          <a:p>
            <a:endParaRPr lang="it-IT" dirty="0"/>
          </a:p>
        </p:txBody>
      </p:sp>
      <p:sp>
        <p:nvSpPr>
          <p:cNvPr id="35" name="cerchio FiUser"/>
          <p:cNvSpPr/>
          <p:nvPr/>
        </p:nvSpPr>
        <p:spPr>
          <a:xfrm>
            <a:off x="4800600" y="3502152"/>
            <a:ext cx="420624" cy="420624"/>
          </a:xfrm>
          <a:prstGeom prst="ellipse">
            <a:avLst/>
          </a:prstGeom>
          <a:solidFill>
            <a:schemeClr val="accent1"/>
          </a:solidFill>
          <a:ln/>
        </p:spPr>
        <p:txBody>
          <a:bodyPr/>
          <a:lstStyle/>
          <a:p>
            <a:endParaRPr lang="it-IT" dirty="0"/>
          </a:p>
        </p:txBody>
      </p:sp>
      <p:pic>
        <p:nvPicPr>
          <p:cNvPr id="36" name="Image 7" descr="FiUser"/>
          <p:cNvPicPr>
            <a:picLocks noChangeAspect="1"/>
          </p:cNvPicPr>
          <p:nvPr/>
        </p:nvPicPr>
        <p:blipFill>
          <a:blip r:embed="rId10"/>
          <a:stretch>
            <a:fillRect/>
          </a:stretch>
        </p:blipFill>
        <p:spPr>
          <a:xfrm>
            <a:off x="4905756" y="3607308"/>
            <a:ext cx="210312" cy="210312"/>
          </a:xfrm>
          <a:prstGeom prst="rect">
            <a:avLst/>
          </a:prstGeom>
        </p:spPr>
      </p:pic>
      <p:sp>
        <p:nvSpPr>
          <p:cNvPr id="37" name="Text 26"/>
          <p:cNvSpPr txBox="1"/>
          <p:nvPr/>
        </p:nvSpPr>
        <p:spPr>
          <a:xfrm>
            <a:off x="5349240" y="3438144"/>
            <a:ext cx="3246120" cy="548640"/>
          </a:xfrm>
          <a:prstGeom prst="rect">
            <a:avLst/>
          </a:prstGeom>
          <a:noFill/>
          <a:ln/>
        </p:spPr>
        <p:txBody>
          <a:bodyPr wrap="square" lIns="0" tIns="0" rIns="0" bIns="0" rtlCol="0" anchor="ctr"/>
          <a:lstStyle/>
          <a:p>
            <a:pPr marL="0" indent="0">
              <a:buNone/>
            </a:pPr>
            <a:r>
              <a:rPr lang="it-IT" sz="1300" dirty="0">
                <a:solidFill>
                  <a:schemeClr val="tx1"/>
                </a:solidFill>
              </a:rPr>
              <a:t>La propria competenza sull'argomento</a:t>
            </a:r>
            <a:endParaRPr lang="it-IT" sz="1300" dirty="0"/>
          </a:p>
        </p:txBody>
      </p:sp>
      <p:sp>
        <p:nvSpPr>
          <p:cNvPr id="38" name="messaggio"/>
          <p:cNvSpPr/>
          <p:nvPr/>
        </p:nvSpPr>
        <p:spPr>
          <a:xfrm>
            <a:off x="457200" y="4114800"/>
            <a:ext cx="8229600" cy="457200"/>
          </a:xfrm>
          <a:prstGeom prst="roundRect">
            <a:avLst>
              <a:gd name="adj" fmla="val 16000"/>
            </a:avLst>
          </a:prstGeom>
          <a:solidFill>
            <a:schemeClr val="tx1"/>
          </a:solidFill>
          <a:ln/>
        </p:spPr>
        <p:txBody>
          <a:bodyPr/>
          <a:lstStyle/>
          <a:p>
            <a:endParaRPr lang="it-IT" dirty="0"/>
          </a:p>
        </p:txBody>
      </p:sp>
      <p:sp>
        <p:nvSpPr>
          <p:cNvPr id="39" name="Text 28"/>
          <p:cNvSpPr txBox="1"/>
          <p:nvPr/>
        </p:nvSpPr>
        <p:spPr>
          <a:xfrm>
            <a:off x="640080" y="4114800"/>
            <a:ext cx="7863840" cy="457200"/>
          </a:xfrm>
          <a:prstGeom prst="rect">
            <a:avLst/>
          </a:prstGeom>
          <a:noFill/>
          <a:ln/>
        </p:spPr>
        <p:txBody>
          <a:bodyPr wrap="square" lIns="0" tIns="0" rIns="0" bIns="0" rtlCol="0" anchor="ctr"/>
          <a:lstStyle/>
          <a:p>
            <a:pPr marL="0" indent="0">
              <a:buNone/>
            </a:pPr>
            <a:r>
              <a:rPr lang="it-IT" sz="1300" dirty="0">
                <a:solidFill>
                  <a:schemeClr val="bg1"/>
                </a:solidFill>
              </a:rPr>
              <a:t>La qualità della scrittura non basta a dimostrare la correttezza: fonti, dati e verifiche sono gli elementi decisivi.</a:t>
            </a:r>
            <a:endParaRPr lang="it-IT"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71</a:t>
            </a:fld>
            <a:endParaRPr lang="it-IT"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Attività che richiedono livelli diversi di </a:t>
            </a:r>
            <a:r>
              <a:rPr lang="it-IT" sz="2600" b="1" dirty="0" err="1">
                <a:solidFill>
                  <a:schemeClr val="tx1"/>
                </a:solidFill>
              </a:rPr>
              <a:t>verfica</a:t>
            </a:r>
            <a:endParaRPr lang="it-IT" sz="2600" dirty="0"/>
          </a:p>
        </p:txBody>
      </p:sp>
      <p:sp>
        <p:nvSpPr>
          <p:cNvPr id="4" name="Text 1"/>
          <p:cNvSpPr txBox="1"/>
          <p:nvPr/>
        </p:nvSpPr>
        <p:spPr>
          <a:xfrm>
            <a:off x="457200" y="1051560"/>
            <a:ext cx="5486400" cy="274320"/>
          </a:xfrm>
          <a:prstGeom prst="rect">
            <a:avLst/>
          </a:prstGeom>
          <a:noFill/>
          <a:ln/>
        </p:spPr>
        <p:txBody>
          <a:bodyPr wrap="square" lIns="0" tIns="0" rIns="0" bIns="0" rtlCol="0" anchor="t"/>
          <a:lstStyle/>
          <a:p>
            <a:pPr marL="0" indent="0">
              <a:buNone/>
            </a:pPr>
            <a:r>
              <a:rPr lang="it-IT" sz="1400" b="1" dirty="0">
                <a:solidFill>
                  <a:schemeClr val="accent5"/>
                </a:solidFill>
              </a:rPr>
              <a:t>Rischio più alto</a:t>
            </a:r>
            <a:endParaRPr lang="it-IT" sz="1400" dirty="0"/>
          </a:p>
        </p:txBody>
      </p:sp>
      <p:sp>
        <p:nvSpPr>
          <p:cNvPr id="5" name="Numeri, date, nomi, importi"/>
          <p:cNvSpPr/>
          <p:nvPr/>
        </p:nvSpPr>
        <p:spPr>
          <a:xfrm>
            <a:off x="457200" y="1417320"/>
            <a:ext cx="2606040" cy="713232"/>
          </a:xfrm>
          <a:prstGeom prst="roundRect">
            <a:avLst>
              <a:gd name="adj" fmla="val 10256"/>
            </a:avLst>
          </a:prstGeom>
          <a:solidFill>
            <a:schemeClr val="bg2"/>
          </a:solidFill>
          <a:ln/>
        </p:spPr>
        <p:txBody>
          <a:bodyPr/>
          <a:lstStyle/>
          <a:p>
            <a:endParaRPr lang="it-IT" dirty="0"/>
          </a:p>
        </p:txBody>
      </p:sp>
      <p:sp>
        <p:nvSpPr>
          <p:cNvPr id="6" name="cerchio FiHash"/>
          <p:cNvSpPr/>
          <p:nvPr/>
        </p:nvSpPr>
        <p:spPr>
          <a:xfrm>
            <a:off x="566928" y="1545336"/>
            <a:ext cx="457200" cy="457200"/>
          </a:xfrm>
          <a:prstGeom prst="ellipse">
            <a:avLst/>
          </a:prstGeom>
          <a:solidFill>
            <a:schemeClr val="accent5"/>
          </a:solidFill>
          <a:ln/>
        </p:spPr>
        <p:txBody>
          <a:bodyPr/>
          <a:lstStyle/>
          <a:p>
            <a:endParaRPr lang="it-IT" dirty="0"/>
          </a:p>
        </p:txBody>
      </p:sp>
      <p:pic>
        <p:nvPicPr>
          <p:cNvPr id="7" name="Image 0" descr="FiHash"/>
          <p:cNvPicPr>
            <a:picLocks noChangeAspect="1"/>
          </p:cNvPicPr>
          <p:nvPr/>
        </p:nvPicPr>
        <p:blipFill>
          <a:blip r:embed="rId3"/>
          <a:stretch>
            <a:fillRect/>
          </a:stretch>
        </p:blipFill>
        <p:spPr>
          <a:xfrm>
            <a:off x="681228" y="1659636"/>
            <a:ext cx="228600" cy="228600"/>
          </a:xfrm>
          <a:prstGeom prst="rect">
            <a:avLst/>
          </a:prstGeom>
        </p:spPr>
      </p:pic>
      <p:sp>
        <p:nvSpPr>
          <p:cNvPr id="8" name="Text 4"/>
          <p:cNvSpPr txBox="1"/>
          <p:nvPr/>
        </p:nvSpPr>
        <p:spPr>
          <a:xfrm>
            <a:off x="1115568" y="1417320"/>
            <a:ext cx="1874520" cy="713232"/>
          </a:xfrm>
          <a:prstGeom prst="rect">
            <a:avLst/>
          </a:prstGeom>
          <a:noFill/>
          <a:ln/>
        </p:spPr>
        <p:txBody>
          <a:bodyPr wrap="square" lIns="0" tIns="0" rIns="0" bIns="0" rtlCol="0" anchor="ctr"/>
          <a:lstStyle/>
          <a:p>
            <a:pPr marL="0" indent="0">
              <a:buNone/>
            </a:pPr>
            <a:r>
              <a:rPr lang="it-IT" sz="1200" b="1" dirty="0">
                <a:solidFill>
                  <a:schemeClr val="tx1"/>
                </a:solidFill>
              </a:rPr>
              <a:t>Numeri, date, nomi, importi</a:t>
            </a:r>
            <a:endParaRPr lang="it-IT" sz="1200" dirty="0"/>
          </a:p>
        </p:txBody>
      </p:sp>
      <p:sp>
        <p:nvSpPr>
          <p:cNvPr id="9" name="Argomenti di nicchia, locali, specialistici"/>
          <p:cNvSpPr/>
          <p:nvPr/>
        </p:nvSpPr>
        <p:spPr>
          <a:xfrm>
            <a:off x="3200400" y="1417320"/>
            <a:ext cx="2606040" cy="713232"/>
          </a:xfrm>
          <a:prstGeom prst="roundRect">
            <a:avLst>
              <a:gd name="adj" fmla="val 10256"/>
            </a:avLst>
          </a:prstGeom>
          <a:solidFill>
            <a:schemeClr val="bg2"/>
          </a:solidFill>
          <a:ln/>
        </p:spPr>
        <p:txBody>
          <a:bodyPr/>
          <a:lstStyle/>
          <a:p>
            <a:endParaRPr lang="it-IT" dirty="0"/>
          </a:p>
        </p:txBody>
      </p:sp>
      <p:sp>
        <p:nvSpPr>
          <p:cNvPr id="10" name="cerchio FiMapPin"/>
          <p:cNvSpPr/>
          <p:nvPr/>
        </p:nvSpPr>
        <p:spPr>
          <a:xfrm>
            <a:off x="3310128" y="1545336"/>
            <a:ext cx="457200" cy="457200"/>
          </a:xfrm>
          <a:prstGeom prst="ellipse">
            <a:avLst/>
          </a:prstGeom>
          <a:solidFill>
            <a:schemeClr val="accent5"/>
          </a:solidFill>
          <a:ln/>
        </p:spPr>
        <p:txBody>
          <a:bodyPr/>
          <a:lstStyle/>
          <a:p>
            <a:endParaRPr lang="it-IT" dirty="0"/>
          </a:p>
        </p:txBody>
      </p:sp>
      <p:pic>
        <p:nvPicPr>
          <p:cNvPr id="11" name="Image 1" descr="FiMapPin"/>
          <p:cNvPicPr>
            <a:picLocks noChangeAspect="1"/>
          </p:cNvPicPr>
          <p:nvPr/>
        </p:nvPicPr>
        <p:blipFill>
          <a:blip r:embed="rId4"/>
          <a:stretch>
            <a:fillRect/>
          </a:stretch>
        </p:blipFill>
        <p:spPr>
          <a:xfrm>
            <a:off x="3424428" y="1659636"/>
            <a:ext cx="228600" cy="228600"/>
          </a:xfrm>
          <a:prstGeom prst="rect">
            <a:avLst/>
          </a:prstGeom>
        </p:spPr>
      </p:pic>
      <p:sp>
        <p:nvSpPr>
          <p:cNvPr id="12" name="Text 7"/>
          <p:cNvSpPr txBox="1"/>
          <p:nvPr/>
        </p:nvSpPr>
        <p:spPr>
          <a:xfrm>
            <a:off x="3858768" y="1417320"/>
            <a:ext cx="1874520" cy="713232"/>
          </a:xfrm>
          <a:prstGeom prst="rect">
            <a:avLst/>
          </a:prstGeom>
          <a:noFill/>
          <a:ln/>
        </p:spPr>
        <p:txBody>
          <a:bodyPr wrap="square" lIns="0" tIns="0" rIns="0" bIns="0" rtlCol="0" anchor="ctr"/>
          <a:lstStyle/>
          <a:p>
            <a:pPr marL="0" indent="0">
              <a:buNone/>
            </a:pPr>
            <a:r>
              <a:rPr lang="it-IT" sz="1200" b="1" dirty="0">
                <a:solidFill>
                  <a:schemeClr val="tx1"/>
                </a:solidFill>
              </a:rPr>
              <a:t>Argomenti di nicchia, locali, specialistici</a:t>
            </a:r>
            <a:endParaRPr lang="it-IT" sz="1200" dirty="0"/>
          </a:p>
        </p:txBody>
      </p:sp>
      <p:sp>
        <p:nvSpPr>
          <p:cNvPr id="13" name="Fonti e citazioni"/>
          <p:cNvSpPr/>
          <p:nvPr/>
        </p:nvSpPr>
        <p:spPr>
          <a:xfrm>
            <a:off x="457200" y="2258568"/>
            <a:ext cx="2606040" cy="713232"/>
          </a:xfrm>
          <a:prstGeom prst="roundRect">
            <a:avLst>
              <a:gd name="adj" fmla="val 10256"/>
            </a:avLst>
          </a:prstGeom>
          <a:solidFill>
            <a:schemeClr val="bg2"/>
          </a:solidFill>
          <a:ln/>
        </p:spPr>
        <p:txBody>
          <a:bodyPr/>
          <a:lstStyle/>
          <a:p>
            <a:endParaRPr lang="it-IT" dirty="0"/>
          </a:p>
        </p:txBody>
      </p:sp>
      <p:sp>
        <p:nvSpPr>
          <p:cNvPr id="14" name="cerchio FiBookmark"/>
          <p:cNvSpPr/>
          <p:nvPr/>
        </p:nvSpPr>
        <p:spPr>
          <a:xfrm>
            <a:off x="566928" y="2386584"/>
            <a:ext cx="457200" cy="457200"/>
          </a:xfrm>
          <a:prstGeom prst="ellipse">
            <a:avLst/>
          </a:prstGeom>
          <a:solidFill>
            <a:schemeClr val="accent5"/>
          </a:solidFill>
          <a:ln/>
        </p:spPr>
        <p:txBody>
          <a:bodyPr/>
          <a:lstStyle/>
          <a:p>
            <a:endParaRPr lang="it-IT" dirty="0"/>
          </a:p>
        </p:txBody>
      </p:sp>
      <p:pic>
        <p:nvPicPr>
          <p:cNvPr id="15" name="Image 2" descr="FiBookmark"/>
          <p:cNvPicPr>
            <a:picLocks noChangeAspect="1"/>
          </p:cNvPicPr>
          <p:nvPr/>
        </p:nvPicPr>
        <p:blipFill>
          <a:blip r:embed="rId5"/>
          <a:stretch>
            <a:fillRect/>
          </a:stretch>
        </p:blipFill>
        <p:spPr>
          <a:xfrm>
            <a:off x="681228" y="2500884"/>
            <a:ext cx="228600" cy="228600"/>
          </a:xfrm>
          <a:prstGeom prst="rect">
            <a:avLst/>
          </a:prstGeom>
        </p:spPr>
      </p:pic>
      <p:sp>
        <p:nvSpPr>
          <p:cNvPr id="16" name="Text 10"/>
          <p:cNvSpPr txBox="1"/>
          <p:nvPr/>
        </p:nvSpPr>
        <p:spPr>
          <a:xfrm>
            <a:off x="1115568" y="2258568"/>
            <a:ext cx="1874520" cy="713232"/>
          </a:xfrm>
          <a:prstGeom prst="rect">
            <a:avLst/>
          </a:prstGeom>
          <a:noFill/>
          <a:ln/>
        </p:spPr>
        <p:txBody>
          <a:bodyPr wrap="square" lIns="0" tIns="0" rIns="0" bIns="0" rtlCol="0" anchor="ctr"/>
          <a:lstStyle/>
          <a:p>
            <a:pPr marL="0" indent="0">
              <a:buNone/>
            </a:pPr>
            <a:r>
              <a:rPr lang="it-IT" sz="1200" b="1" dirty="0">
                <a:solidFill>
                  <a:schemeClr val="tx1"/>
                </a:solidFill>
              </a:rPr>
              <a:t>Fonti e citazioni</a:t>
            </a:r>
            <a:endParaRPr lang="it-IT" sz="1200" dirty="0"/>
          </a:p>
        </p:txBody>
      </p:sp>
      <p:sp>
        <p:nvSpPr>
          <p:cNvPr id="17" name="Eventi recenti senza ricerca"/>
          <p:cNvSpPr/>
          <p:nvPr/>
        </p:nvSpPr>
        <p:spPr>
          <a:xfrm>
            <a:off x="3200400" y="2258568"/>
            <a:ext cx="2606040" cy="713232"/>
          </a:xfrm>
          <a:prstGeom prst="roundRect">
            <a:avLst>
              <a:gd name="adj" fmla="val 10256"/>
            </a:avLst>
          </a:prstGeom>
          <a:solidFill>
            <a:schemeClr val="bg2"/>
          </a:solidFill>
          <a:ln/>
        </p:spPr>
        <p:txBody>
          <a:bodyPr/>
          <a:lstStyle/>
          <a:p>
            <a:endParaRPr lang="it-IT" dirty="0"/>
          </a:p>
        </p:txBody>
      </p:sp>
      <p:sp>
        <p:nvSpPr>
          <p:cNvPr id="18" name="cerchio FiCalendar"/>
          <p:cNvSpPr/>
          <p:nvPr/>
        </p:nvSpPr>
        <p:spPr>
          <a:xfrm>
            <a:off x="3310128" y="2386584"/>
            <a:ext cx="457200" cy="457200"/>
          </a:xfrm>
          <a:prstGeom prst="ellipse">
            <a:avLst/>
          </a:prstGeom>
          <a:solidFill>
            <a:schemeClr val="accent5"/>
          </a:solidFill>
          <a:ln/>
        </p:spPr>
        <p:txBody>
          <a:bodyPr/>
          <a:lstStyle/>
          <a:p>
            <a:endParaRPr lang="it-IT" dirty="0"/>
          </a:p>
        </p:txBody>
      </p:sp>
      <p:pic>
        <p:nvPicPr>
          <p:cNvPr id="19" name="Image 3" descr="FiCalendar"/>
          <p:cNvPicPr>
            <a:picLocks noChangeAspect="1"/>
          </p:cNvPicPr>
          <p:nvPr/>
        </p:nvPicPr>
        <p:blipFill>
          <a:blip r:embed="rId6"/>
          <a:stretch>
            <a:fillRect/>
          </a:stretch>
        </p:blipFill>
        <p:spPr>
          <a:xfrm>
            <a:off x="3424428" y="2500884"/>
            <a:ext cx="228600" cy="228600"/>
          </a:xfrm>
          <a:prstGeom prst="rect">
            <a:avLst/>
          </a:prstGeom>
        </p:spPr>
      </p:pic>
      <p:sp>
        <p:nvSpPr>
          <p:cNvPr id="20" name="Text 13"/>
          <p:cNvSpPr txBox="1"/>
          <p:nvPr/>
        </p:nvSpPr>
        <p:spPr>
          <a:xfrm>
            <a:off x="3858768" y="2258568"/>
            <a:ext cx="1874520" cy="713232"/>
          </a:xfrm>
          <a:prstGeom prst="rect">
            <a:avLst/>
          </a:prstGeom>
          <a:noFill/>
          <a:ln/>
        </p:spPr>
        <p:txBody>
          <a:bodyPr wrap="square" lIns="0" tIns="0" rIns="0" bIns="0" rtlCol="0" anchor="ctr"/>
          <a:lstStyle/>
          <a:p>
            <a:pPr marL="0" indent="0">
              <a:buNone/>
            </a:pPr>
            <a:r>
              <a:rPr lang="it-IT" sz="1200" b="1" dirty="0">
                <a:solidFill>
                  <a:schemeClr val="tx1"/>
                </a:solidFill>
              </a:rPr>
              <a:t>Eventi recenti senza ricerca</a:t>
            </a:r>
            <a:endParaRPr lang="it-IT" sz="1200" dirty="0"/>
          </a:p>
        </p:txBody>
      </p:sp>
      <p:sp>
        <p:nvSpPr>
          <p:cNvPr id="21" name="Domande con premesse false"/>
          <p:cNvSpPr/>
          <p:nvPr/>
        </p:nvSpPr>
        <p:spPr>
          <a:xfrm>
            <a:off x="457200" y="3099816"/>
            <a:ext cx="2606040" cy="713232"/>
          </a:xfrm>
          <a:prstGeom prst="roundRect">
            <a:avLst>
              <a:gd name="adj" fmla="val 10256"/>
            </a:avLst>
          </a:prstGeom>
          <a:solidFill>
            <a:schemeClr val="bg2"/>
          </a:solidFill>
          <a:ln/>
        </p:spPr>
        <p:txBody>
          <a:bodyPr/>
          <a:lstStyle/>
          <a:p>
            <a:endParaRPr lang="it-IT" dirty="0"/>
          </a:p>
        </p:txBody>
      </p:sp>
      <p:sp>
        <p:nvSpPr>
          <p:cNvPr id="22" name="cerchio FiHelpCircle"/>
          <p:cNvSpPr/>
          <p:nvPr/>
        </p:nvSpPr>
        <p:spPr>
          <a:xfrm>
            <a:off x="566928" y="3227832"/>
            <a:ext cx="457200" cy="457200"/>
          </a:xfrm>
          <a:prstGeom prst="ellipse">
            <a:avLst/>
          </a:prstGeom>
          <a:solidFill>
            <a:schemeClr val="accent5"/>
          </a:solidFill>
          <a:ln/>
        </p:spPr>
        <p:txBody>
          <a:bodyPr/>
          <a:lstStyle/>
          <a:p>
            <a:endParaRPr lang="it-IT" dirty="0"/>
          </a:p>
        </p:txBody>
      </p:sp>
      <p:pic>
        <p:nvPicPr>
          <p:cNvPr id="23" name="Image 4" descr="FiHelpCircle"/>
          <p:cNvPicPr>
            <a:picLocks noChangeAspect="1"/>
          </p:cNvPicPr>
          <p:nvPr/>
        </p:nvPicPr>
        <p:blipFill>
          <a:blip r:embed="rId7"/>
          <a:stretch>
            <a:fillRect/>
          </a:stretch>
        </p:blipFill>
        <p:spPr>
          <a:xfrm>
            <a:off x="681228" y="3342132"/>
            <a:ext cx="228600" cy="228600"/>
          </a:xfrm>
          <a:prstGeom prst="rect">
            <a:avLst/>
          </a:prstGeom>
        </p:spPr>
      </p:pic>
      <p:sp>
        <p:nvSpPr>
          <p:cNvPr id="24" name="Text 16"/>
          <p:cNvSpPr txBox="1"/>
          <p:nvPr/>
        </p:nvSpPr>
        <p:spPr>
          <a:xfrm>
            <a:off x="1115568" y="3099816"/>
            <a:ext cx="1874520" cy="713232"/>
          </a:xfrm>
          <a:prstGeom prst="rect">
            <a:avLst/>
          </a:prstGeom>
          <a:noFill/>
          <a:ln/>
        </p:spPr>
        <p:txBody>
          <a:bodyPr wrap="square" lIns="0" tIns="0" rIns="0" bIns="0" rtlCol="0" anchor="ctr"/>
          <a:lstStyle/>
          <a:p>
            <a:pPr marL="0" indent="0">
              <a:buNone/>
            </a:pPr>
            <a:r>
              <a:rPr lang="it-IT" sz="1200" b="1" dirty="0">
                <a:solidFill>
                  <a:schemeClr val="tx1"/>
                </a:solidFill>
              </a:rPr>
              <a:t>Domande con premesse false</a:t>
            </a:r>
            <a:endParaRPr lang="it-IT" sz="1200" dirty="0"/>
          </a:p>
        </p:txBody>
      </p:sp>
      <p:sp>
        <p:nvSpPr>
          <p:cNvPr id="25" name="Risposte oltre i documenti forniti"/>
          <p:cNvSpPr/>
          <p:nvPr/>
        </p:nvSpPr>
        <p:spPr>
          <a:xfrm>
            <a:off x="3200400" y="3099816"/>
            <a:ext cx="2606040" cy="713232"/>
          </a:xfrm>
          <a:prstGeom prst="roundRect">
            <a:avLst>
              <a:gd name="adj" fmla="val 10256"/>
            </a:avLst>
          </a:prstGeom>
          <a:solidFill>
            <a:schemeClr val="bg2"/>
          </a:solidFill>
          <a:ln/>
        </p:spPr>
        <p:txBody>
          <a:bodyPr/>
          <a:lstStyle/>
          <a:p>
            <a:endParaRPr lang="it-IT" dirty="0"/>
          </a:p>
        </p:txBody>
      </p:sp>
      <p:sp>
        <p:nvSpPr>
          <p:cNvPr id="26" name="cerchio FiFileMinus"/>
          <p:cNvSpPr/>
          <p:nvPr/>
        </p:nvSpPr>
        <p:spPr>
          <a:xfrm>
            <a:off x="3310128" y="3227832"/>
            <a:ext cx="457200" cy="457200"/>
          </a:xfrm>
          <a:prstGeom prst="ellipse">
            <a:avLst/>
          </a:prstGeom>
          <a:solidFill>
            <a:schemeClr val="accent5"/>
          </a:solidFill>
          <a:ln/>
        </p:spPr>
        <p:txBody>
          <a:bodyPr/>
          <a:lstStyle/>
          <a:p>
            <a:endParaRPr lang="it-IT" dirty="0"/>
          </a:p>
        </p:txBody>
      </p:sp>
      <p:pic>
        <p:nvPicPr>
          <p:cNvPr id="27" name="Image 5" descr="FiFileMinus"/>
          <p:cNvPicPr>
            <a:picLocks noChangeAspect="1"/>
          </p:cNvPicPr>
          <p:nvPr/>
        </p:nvPicPr>
        <p:blipFill>
          <a:blip r:embed="rId8"/>
          <a:stretch>
            <a:fillRect/>
          </a:stretch>
        </p:blipFill>
        <p:spPr>
          <a:xfrm>
            <a:off x="3424428" y="3342132"/>
            <a:ext cx="228600" cy="228600"/>
          </a:xfrm>
          <a:prstGeom prst="rect">
            <a:avLst/>
          </a:prstGeom>
        </p:spPr>
      </p:pic>
      <p:sp>
        <p:nvSpPr>
          <p:cNvPr id="28" name="Text 19"/>
          <p:cNvSpPr txBox="1"/>
          <p:nvPr/>
        </p:nvSpPr>
        <p:spPr>
          <a:xfrm>
            <a:off x="3858768" y="3099816"/>
            <a:ext cx="1874520" cy="713232"/>
          </a:xfrm>
          <a:prstGeom prst="rect">
            <a:avLst/>
          </a:prstGeom>
          <a:noFill/>
          <a:ln/>
        </p:spPr>
        <p:txBody>
          <a:bodyPr wrap="square" lIns="0" tIns="0" rIns="0" bIns="0" rtlCol="0" anchor="ctr"/>
          <a:lstStyle/>
          <a:p>
            <a:pPr marL="0" indent="0">
              <a:buNone/>
            </a:pPr>
            <a:r>
              <a:rPr lang="it-IT" sz="1200" b="1" dirty="0">
                <a:solidFill>
                  <a:schemeClr val="tx1"/>
                </a:solidFill>
              </a:rPr>
              <a:t>Risposte oltre i documenti forniti</a:t>
            </a:r>
            <a:endParaRPr lang="it-IT" sz="1200" dirty="0"/>
          </a:p>
        </p:txBody>
      </p:sp>
      <p:sp>
        <p:nvSpPr>
          <p:cNvPr id="29" name="rischio basso"/>
          <p:cNvSpPr/>
          <p:nvPr/>
        </p:nvSpPr>
        <p:spPr>
          <a:xfrm>
            <a:off x="6080760" y="1051560"/>
            <a:ext cx="2606040" cy="3474720"/>
          </a:xfrm>
          <a:prstGeom prst="roundRect">
            <a:avLst>
              <a:gd name="adj" fmla="val 2807"/>
            </a:avLst>
          </a:prstGeom>
          <a:solidFill>
            <a:schemeClr val="accent6"/>
          </a:solidFill>
          <a:ln/>
        </p:spPr>
        <p:txBody>
          <a:bodyPr/>
          <a:lstStyle/>
          <a:p>
            <a:endParaRPr lang="it-IT" dirty="0"/>
          </a:p>
        </p:txBody>
      </p:sp>
      <p:sp>
        <p:nvSpPr>
          <p:cNvPr id="30" name="Text 21"/>
          <p:cNvSpPr txBox="1"/>
          <p:nvPr/>
        </p:nvSpPr>
        <p:spPr>
          <a:xfrm>
            <a:off x="6263640" y="1188720"/>
            <a:ext cx="2286000" cy="320040"/>
          </a:xfrm>
          <a:prstGeom prst="rect">
            <a:avLst/>
          </a:prstGeom>
          <a:noFill/>
          <a:ln/>
        </p:spPr>
        <p:txBody>
          <a:bodyPr wrap="square" lIns="0" tIns="0" rIns="0" bIns="0" rtlCol="0" anchor="t"/>
          <a:lstStyle/>
          <a:p>
            <a:pPr marL="0" indent="0">
              <a:buNone/>
            </a:pPr>
            <a:r>
              <a:rPr lang="it-IT" sz="1400" b="1" dirty="0">
                <a:solidFill>
                  <a:schemeClr val="accent1"/>
                </a:solidFill>
              </a:rPr>
              <a:t>Rischio più basso</a:t>
            </a:r>
            <a:endParaRPr lang="it-IT" sz="1400" dirty="0"/>
          </a:p>
        </p:txBody>
      </p:sp>
      <p:sp>
        <p:nvSpPr>
          <p:cNvPr id="31" name="Text 22"/>
          <p:cNvSpPr txBox="1"/>
          <p:nvPr/>
        </p:nvSpPr>
        <p:spPr>
          <a:xfrm>
            <a:off x="6263640" y="1645920"/>
            <a:ext cx="2286000" cy="2743200"/>
          </a:xfrm>
          <a:prstGeom prst="rect">
            <a:avLst/>
          </a:prstGeom>
          <a:noFill/>
          <a:ln/>
        </p:spPr>
        <p:txBody>
          <a:bodyPr wrap="square" lIns="0" tIns="0" rIns="0" bIns="0" rtlCol="0" anchor="t"/>
          <a:lstStyle/>
          <a:p>
            <a:pPr marL="177800" indent="-177800">
              <a:spcAft>
                <a:spcPts val="800"/>
              </a:spcAft>
              <a:buSzPct val="100000"/>
              <a:buChar char="•"/>
            </a:pPr>
            <a:r>
              <a:rPr lang="it-IT" sz="1300" dirty="0">
                <a:solidFill>
                  <a:schemeClr val="tx1"/>
                </a:solidFill>
              </a:rPr>
              <a:t>Trasformare un testo fornito: riformulare, tradurre, correggere</a:t>
            </a:r>
            <a:endParaRPr lang="it-IT" sz="1300" dirty="0"/>
          </a:p>
          <a:p>
            <a:pPr marL="177800" indent="-177800">
              <a:spcAft>
                <a:spcPts val="800"/>
              </a:spcAft>
              <a:buSzPct val="100000"/>
              <a:buChar char="•"/>
            </a:pPr>
            <a:r>
              <a:rPr lang="it-IT" sz="1300" dirty="0">
                <a:solidFill>
                  <a:schemeClr val="tx1"/>
                </a:solidFill>
              </a:rPr>
              <a:t>Compiti brevi e ben delimitati</a:t>
            </a:r>
            <a:endParaRPr lang="it-IT" sz="1300" dirty="0"/>
          </a:p>
          <a:p>
            <a:pPr marL="177800" indent="-177800">
              <a:spcAft>
                <a:spcPts val="800"/>
              </a:spcAft>
              <a:buSzPct val="100000"/>
              <a:buChar char="•"/>
            </a:pPr>
            <a:r>
              <a:rPr lang="it-IT" sz="1300" dirty="0">
                <a:solidFill>
                  <a:schemeClr val="tx1"/>
                </a:solidFill>
              </a:rPr>
              <a:t>Risultati facili da controllare</a:t>
            </a:r>
            <a:endParaRPr lang="it-IT" sz="1300" dirty="0"/>
          </a:p>
        </p:txBody>
      </p:sp>
      <p:sp>
        <p:nvSpPr>
          <p:cNvPr id="32" name="Text 23"/>
          <p:cNvSpPr txBox="1"/>
          <p:nvPr/>
        </p:nvSpPr>
        <p:spPr>
          <a:xfrm>
            <a:off x="457200" y="4023360"/>
            <a:ext cx="5394960" cy="502920"/>
          </a:xfrm>
          <a:prstGeom prst="rect">
            <a:avLst/>
          </a:prstGeom>
          <a:noFill/>
          <a:ln/>
        </p:spPr>
        <p:txBody>
          <a:bodyPr wrap="square" lIns="0" tIns="0" rIns="0" bIns="0" rtlCol="0" anchor="t"/>
          <a:lstStyle/>
          <a:p>
            <a:pPr marL="0" indent="0">
              <a:buNone/>
            </a:pPr>
            <a:r>
              <a:rPr lang="it-IT" sz="1200" i="1" dirty="0">
                <a:solidFill>
                  <a:schemeClr val="tx2"/>
                </a:solidFill>
              </a:rPr>
              <a:t>Anche testi lunghi e compiti articolati aumentano le occasioni di errore.</a:t>
            </a:r>
            <a:endParaRPr lang="it-IT"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72</a:t>
            </a:fld>
            <a:endParaRPr lang="it-IT"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it-IT" sz="6000" b="1" dirty="0">
                <a:solidFill>
                  <a:schemeClr val="accent1"/>
                </a:solidFill>
              </a:rPr>
              <a:t>3.4</a:t>
            </a:r>
            <a:endParaRPr lang="it-IT"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it-IT" sz="3200" b="1" dirty="0">
                <a:solidFill>
                  <a:schemeClr val="bg1"/>
                </a:solidFill>
              </a:rPr>
              <a:t>Bias e distorsioni nei risultati</a:t>
            </a:r>
            <a:endParaRPr lang="it-IT"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it-IT" sz="1600" dirty="0">
                <a:solidFill>
                  <a:schemeClr val="accent3"/>
                </a:solidFill>
              </a:rPr>
              <a:t>Riconoscere le distorsioni permette di valutare meglio i risultati dell'AI e progettare utilizzi più equi e affidabili.</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73</a:t>
            </a:fld>
            <a:endParaRPr lang="it-IT"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Che cosa sono </a:t>
            </a:r>
            <a:r>
              <a:rPr lang="it-IT" sz="2600" b="1" dirty="0" err="1">
                <a:solidFill>
                  <a:schemeClr val="tx1"/>
                </a:solidFill>
              </a:rPr>
              <a:t>bias</a:t>
            </a:r>
            <a:r>
              <a:rPr lang="it-IT" sz="2600" b="1" dirty="0">
                <a:solidFill>
                  <a:schemeClr val="tx1"/>
                </a:solidFill>
              </a:rPr>
              <a:t> e distorsioni</a:t>
            </a:r>
            <a:endParaRPr lang="it-IT" sz="2600" dirty="0"/>
          </a:p>
        </p:txBody>
      </p:sp>
      <p:sp>
        <p:nvSpPr>
          <p:cNvPr id="4" name="scheda Errore casuale"/>
          <p:cNvSpPr/>
          <p:nvPr/>
        </p:nvSpPr>
        <p:spPr>
          <a:xfrm>
            <a:off x="457200" y="1097280"/>
            <a:ext cx="3977640" cy="2011680"/>
          </a:xfrm>
          <a:prstGeom prst="roundRect">
            <a:avLst>
              <a:gd name="adj" fmla="val 3636"/>
            </a:avLst>
          </a:prstGeom>
          <a:solidFill>
            <a:schemeClr val="bg2"/>
          </a:solidFill>
          <a:ln/>
        </p:spPr>
        <p:txBody>
          <a:bodyPr/>
          <a:lstStyle/>
          <a:p>
            <a:endParaRPr lang="it-IT" dirty="0"/>
          </a:p>
        </p:txBody>
      </p:sp>
      <p:sp>
        <p:nvSpPr>
          <p:cNvPr id="5" name="cerchio FiShuffle"/>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Shuffle"/>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1234440" y="1280160"/>
            <a:ext cx="3017520" cy="457200"/>
          </a:xfrm>
          <a:prstGeom prst="rect">
            <a:avLst/>
          </a:prstGeom>
          <a:noFill/>
          <a:ln/>
        </p:spPr>
        <p:txBody>
          <a:bodyPr wrap="square" lIns="0" tIns="0" rIns="0" bIns="0" rtlCol="0" anchor="ctr"/>
          <a:lstStyle/>
          <a:p>
            <a:pPr marL="0" indent="0">
              <a:buNone/>
            </a:pPr>
            <a:r>
              <a:rPr lang="it-IT" sz="1500" b="1" dirty="0">
                <a:solidFill>
                  <a:schemeClr val="tx1"/>
                </a:solidFill>
              </a:rPr>
              <a:t>Errore casuale</a:t>
            </a:r>
            <a:endParaRPr lang="it-IT" sz="1500" dirty="0"/>
          </a:p>
        </p:txBody>
      </p:sp>
      <p:sp>
        <p:nvSpPr>
          <p:cNvPr id="8" name="Text 4"/>
          <p:cNvSpPr txBox="1"/>
          <p:nvPr/>
        </p:nvSpPr>
        <p:spPr>
          <a:xfrm>
            <a:off x="640080" y="1874520"/>
            <a:ext cx="3611880" cy="1124712"/>
          </a:xfrm>
          <a:prstGeom prst="rect">
            <a:avLst/>
          </a:prstGeom>
          <a:noFill/>
          <a:ln/>
        </p:spPr>
        <p:txBody>
          <a:bodyPr wrap="square" lIns="0" tIns="0" rIns="0" bIns="0" rtlCol="0" anchor="t"/>
          <a:lstStyle/>
          <a:p>
            <a:pPr marL="0" indent="0">
              <a:buNone/>
            </a:pPr>
            <a:r>
              <a:rPr lang="it-IT" sz="1300" dirty="0">
                <a:solidFill>
                  <a:schemeClr val="tx2"/>
                </a:solidFill>
              </a:rPr>
              <a:t>Imprevedibile, in direzioni diverse, tende a compensarsi.</a:t>
            </a:r>
            <a:endParaRPr lang="it-IT" sz="1300" dirty="0"/>
          </a:p>
          <a:p>
            <a:pPr marL="0" indent="0">
              <a:buNone/>
            </a:pPr>
            <a:endParaRPr lang="it-IT" sz="1300" dirty="0"/>
          </a:p>
          <a:p>
            <a:pPr marL="0" indent="0">
              <a:buNone/>
            </a:pPr>
            <a:r>
              <a:rPr lang="it-IT" sz="1300" dirty="0">
                <a:solidFill>
                  <a:schemeClr val="tx2"/>
                </a:solidFill>
              </a:rPr>
              <a:t>Come una pesata imprecisa: un po' sopra, un po' sotto.</a:t>
            </a:r>
            <a:endParaRPr lang="it-IT" sz="1300" dirty="0"/>
          </a:p>
        </p:txBody>
      </p:sp>
      <p:sp>
        <p:nvSpPr>
          <p:cNvPr id="9" name="scheda Bias (distorsione sistematica)"/>
          <p:cNvSpPr/>
          <p:nvPr/>
        </p:nvSpPr>
        <p:spPr>
          <a:xfrm>
            <a:off x="4709160" y="1097280"/>
            <a:ext cx="3977640" cy="2011680"/>
          </a:xfrm>
          <a:prstGeom prst="roundRect">
            <a:avLst>
              <a:gd name="adj" fmla="val 3636"/>
            </a:avLst>
          </a:prstGeom>
          <a:solidFill>
            <a:schemeClr val="accent6"/>
          </a:solidFill>
          <a:ln/>
        </p:spPr>
        <p:txBody>
          <a:bodyPr/>
          <a:lstStyle/>
          <a:p>
            <a:endParaRPr lang="it-IT" dirty="0"/>
          </a:p>
        </p:txBody>
      </p:sp>
      <p:sp>
        <p:nvSpPr>
          <p:cNvPr id="10" name="cerchio FiTrendingUp"/>
          <p:cNvSpPr/>
          <p:nvPr/>
        </p:nvSpPr>
        <p:spPr>
          <a:xfrm>
            <a:off x="4892040" y="1280160"/>
            <a:ext cx="457200" cy="457200"/>
          </a:xfrm>
          <a:prstGeom prst="ellipse">
            <a:avLst/>
          </a:prstGeom>
          <a:solidFill>
            <a:schemeClr val="accent1"/>
          </a:solidFill>
          <a:ln/>
        </p:spPr>
        <p:txBody>
          <a:bodyPr/>
          <a:lstStyle/>
          <a:p>
            <a:endParaRPr lang="it-IT" dirty="0"/>
          </a:p>
        </p:txBody>
      </p:sp>
      <p:pic>
        <p:nvPicPr>
          <p:cNvPr id="11" name="Image 1" descr="FiTrendingUp"/>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5486400" y="1280160"/>
            <a:ext cx="3017520" cy="457200"/>
          </a:xfrm>
          <a:prstGeom prst="rect">
            <a:avLst/>
          </a:prstGeom>
          <a:noFill/>
          <a:ln/>
        </p:spPr>
        <p:txBody>
          <a:bodyPr wrap="square" lIns="0" tIns="0" rIns="0" bIns="0" rtlCol="0" anchor="ctr"/>
          <a:lstStyle/>
          <a:p>
            <a:pPr marL="0" indent="0">
              <a:buNone/>
            </a:pPr>
            <a:r>
              <a:rPr lang="it-IT" sz="1500" b="1" dirty="0">
                <a:solidFill>
                  <a:schemeClr val="tx1"/>
                </a:solidFill>
              </a:rPr>
              <a:t>Bias (distorsione sistematica)</a:t>
            </a:r>
            <a:endParaRPr lang="it-IT" sz="1500" dirty="0"/>
          </a:p>
        </p:txBody>
      </p:sp>
      <p:sp>
        <p:nvSpPr>
          <p:cNvPr id="13" name="Text 8"/>
          <p:cNvSpPr txBox="1"/>
          <p:nvPr/>
        </p:nvSpPr>
        <p:spPr>
          <a:xfrm>
            <a:off x="4892040" y="1874520"/>
            <a:ext cx="3611880" cy="1124712"/>
          </a:xfrm>
          <a:prstGeom prst="rect">
            <a:avLst/>
          </a:prstGeom>
          <a:noFill/>
          <a:ln/>
        </p:spPr>
        <p:txBody>
          <a:bodyPr wrap="square" lIns="0" tIns="0" rIns="0" bIns="0" rtlCol="0" anchor="t"/>
          <a:lstStyle/>
          <a:p>
            <a:pPr marL="0" indent="0">
              <a:buNone/>
            </a:pPr>
            <a:r>
              <a:rPr lang="it-IT" sz="1300" dirty="0">
                <a:solidFill>
                  <a:schemeClr val="tx2"/>
                </a:solidFill>
              </a:rPr>
              <a:t>Sempre nella stessa direzione: non si compensa, si accumula.</a:t>
            </a:r>
            <a:endParaRPr lang="it-IT" sz="1300" dirty="0"/>
          </a:p>
          <a:p>
            <a:pPr marL="0" indent="0">
              <a:buNone/>
            </a:pPr>
            <a:endParaRPr lang="it-IT" sz="1300" dirty="0"/>
          </a:p>
          <a:p>
            <a:pPr marL="0" indent="0">
              <a:buNone/>
            </a:pPr>
            <a:r>
              <a:rPr lang="it-IT" sz="1300" dirty="0">
                <a:solidFill>
                  <a:schemeClr val="tx2"/>
                </a:solidFill>
              </a:rPr>
              <a:t>Come una bilancia starata: sempre 100 grammi in più.</a:t>
            </a:r>
            <a:endParaRPr lang="it-IT" sz="1300" dirty="0"/>
          </a:p>
        </p:txBody>
      </p:sp>
      <p:sp>
        <p:nvSpPr>
          <p:cNvPr id="14" name="Text 9"/>
          <p:cNvSpPr txBox="1"/>
          <p:nvPr/>
        </p:nvSpPr>
        <p:spPr>
          <a:xfrm>
            <a:off x="457200" y="3291840"/>
            <a:ext cx="8229600" cy="274320"/>
          </a:xfrm>
          <a:prstGeom prst="rect">
            <a:avLst/>
          </a:prstGeom>
          <a:noFill/>
          <a:ln/>
        </p:spPr>
        <p:txBody>
          <a:bodyPr wrap="square" lIns="0" tIns="0" rIns="0" bIns="0" rtlCol="0" anchor="t"/>
          <a:lstStyle/>
          <a:p>
            <a:pPr marL="0" indent="0">
              <a:buNone/>
            </a:pPr>
            <a:r>
              <a:rPr lang="it-IT" sz="1400" b="1" dirty="0">
                <a:solidFill>
                  <a:schemeClr val="tx1"/>
                </a:solidFill>
              </a:rPr>
              <a:t>Che cosa può riguardare</a:t>
            </a:r>
            <a:endParaRPr lang="it-IT" sz="1400" dirty="0"/>
          </a:p>
        </p:txBody>
      </p:sp>
      <p:sp>
        <p:nvSpPr>
          <p:cNvPr id="15" name="blocco Gruppi sociali, genere, età"/>
          <p:cNvSpPr/>
          <p:nvPr/>
        </p:nvSpPr>
        <p:spPr>
          <a:xfrm>
            <a:off x="457200" y="3657600"/>
            <a:ext cx="1965960" cy="502920"/>
          </a:xfrm>
          <a:prstGeom prst="roundRect">
            <a:avLst>
              <a:gd name="adj" fmla="val 21818"/>
            </a:avLst>
          </a:prstGeom>
          <a:solidFill>
            <a:schemeClr val="bg1"/>
          </a:solidFill>
          <a:ln w="12700">
            <a:solidFill>
              <a:schemeClr val="accent3"/>
            </a:solidFill>
            <a:prstDash val="solid"/>
          </a:ln>
        </p:spPr>
        <p:txBody>
          <a:bodyPr/>
          <a:lstStyle/>
          <a:p>
            <a:endParaRPr lang="it-IT" dirty="0"/>
          </a:p>
        </p:txBody>
      </p:sp>
      <p:sp>
        <p:nvSpPr>
          <p:cNvPr id="16" name="Text 11"/>
          <p:cNvSpPr txBox="1"/>
          <p:nvPr/>
        </p:nvSpPr>
        <p:spPr>
          <a:xfrm>
            <a:off x="502920" y="3657600"/>
            <a:ext cx="1874520" cy="502920"/>
          </a:xfrm>
          <a:prstGeom prst="rect">
            <a:avLst/>
          </a:prstGeom>
          <a:noFill/>
          <a:ln/>
        </p:spPr>
        <p:txBody>
          <a:bodyPr wrap="square" lIns="0" tIns="0" rIns="0" bIns="0" rtlCol="0" anchor="ctr"/>
          <a:lstStyle/>
          <a:p>
            <a:pPr marL="0" indent="0" algn="ctr">
              <a:buNone/>
            </a:pPr>
            <a:r>
              <a:rPr lang="it-IT" sz="1200" b="1" dirty="0">
                <a:solidFill>
                  <a:schemeClr val="tx1"/>
                </a:solidFill>
              </a:rPr>
              <a:t>Gruppi sociali, genere, età</a:t>
            </a:r>
            <a:endParaRPr lang="it-IT" sz="1200" dirty="0"/>
          </a:p>
        </p:txBody>
      </p:sp>
      <p:sp>
        <p:nvSpPr>
          <p:cNvPr id="17" name="blocco Prospettiva culturale e geografica"/>
          <p:cNvSpPr/>
          <p:nvPr/>
        </p:nvSpPr>
        <p:spPr>
          <a:xfrm>
            <a:off x="2560320" y="3657600"/>
            <a:ext cx="1965960" cy="502920"/>
          </a:xfrm>
          <a:prstGeom prst="roundRect">
            <a:avLst>
              <a:gd name="adj" fmla="val 21818"/>
            </a:avLst>
          </a:prstGeom>
          <a:solidFill>
            <a:schemeClr val="bg1"/>
          </a:solidFill>
          <a:ln w="12700">
            <a:solidFill>
              <a:schemeClr val="accent3"/>
            </a:solidFill>
            <a:prstDash val="solid"/>
          </a:ln>
        </p:spPr>
        <p:txBody>
          <a:bodyPr/>
          <a:lstStyle/>
          <a:p>
            <a:endParaRPr lang="it-IT" dirty="0"/>
          </a:p>
        </p:txBody>
      </p:sp>
      <p:sp>
        <p:nvSpPr>
          <p:cNvPr id="18" name="Text 13"/>
          <p:cNvSpPr txBox="1"/>
          <p:nvPr/>
        </p:nvSpPr>
        <p:spPr>
          <a:xfrm>
            <a:off x="2606040" y="3657600"/>
            <a:ext cx="1874520" cy="502920"/>
          </a:xfrm>
          <a:prstGeom prst="rect">
            <a:avLst/>
          </a:prstGeom>
          <a:noFill/>
          <a:ln/>
        </p:spPr>
        <p:txBody>
          <a:bodyPr wrap="square" lIns="0" tIns="0" rIns="0" bIns="0" rtlCol="0" anchor="ctr"/>
          <a:lstStyle/>
          <a:p>
            <a:pPr marL="0" indent="0" algn="ctr">
              <a:buNone/>
            </a:pPr>
            <a:r>
              <a:rPr lang="it-IT" sz="1200" b="1" dirty="0">
                <a:solidFill>
                  <a:schemeClr val="tx1"/>
                </a:solidFill>
              </a:rPr>
              <a:t>Prospettiva culturale e geografica</a:t>
            </a:r>
            <a:endParaRPr lang="it-IT" sz="1200" dirty="0"/>
          </a:p>
        </p:txBody>
      </p:sp>
      <p:sp>
        <p:nvSpPr>
          <p:cNvPr id="19" name="blocco Preferenza per fonti o posizioni"/>
          <p:cNvSpPr/>
          <p:nvPr/>
        </p:nvSpPr>
        <p:spPr>
          <a:xfrm>
            <a:off x="4663440" y="3657600"/>
            <a:ext cx="1965960" cy="502920"/>
          </a:xfrm>
          <a:prstGeom prst="roundRect">
            <a:avLst>
              <a:gd name="adj" fmla="val 21818"/>
            </a:avLst>
          </a:prstGeom>
          <a:solidFill>
            <a:schemeClr val="bg1"/>
          </a:solidFill>
          <a:ln w="12700">
            <a:solidFill>
              <a:schemeClr val="accent3"/>
            </a:solidFill>
            <a:prstDash val="solid"/>
          </a:ln>
        </p:spPr>
        <p:txBody>
          <a:bodyPr/>
          <a:lstStyle/>
          <a:p>
            <a:endParaRPr lang="it-IT" dirty="0"/>
          </a:p>
        </p:txBody>
      </p:sp>
      <p:sp>
        <p:nvSpPr>
          <p:cNvPr id="20" name="Text 15"/>
          <p:cNvSpPr txBox="1"/>
          <p:nvPr/>
        </p:nvSpPr>
        <p:spPr>
          <a:xfrm>
            <a:off x="4709160" y="3657600"/>
            <a:ext cx="1874520" cy="502920"/>
          </a:xfrm>
          <a:prstGeom prst="rect">
            <a:avLst/>
          </a:prstGeom>
          <a:noFill/>
          <a:ln/>
        </p:spPr>
        <p:txBody>
          <a:bodyPr wrap="square" lIns="0" tIns="0" rIns="0" bIns="0" rtlCol="0" anchor="ctr"/>
          <a:lstStyle/>
          <a:p>
            <a:pPr marL="0" indent="0" algn="ctr">
              <a:buNone/>
            </a:pPr>
            <a:r>
              <a:rPr lang="it-IT" sz="1200" b="1" dirty="0">
                <a:solidFill>
                  <a:schemeClr val="tx1"/>
                </a:solidFill>
              </a:rPr>
              <a:t>Preferenza per fonti o posizioni</a:t>
            </a:r>
            <a:endParaRPr lang="it-IT" sz="1200" dirty="0"/>
          </a:p>
        </p:txBody>
      </p:sp>
      <p:sp>
        <p:nvSpPr>
          <p:cNvPr id="21" name="blocco Soluzioni proposte"/>
          <p:cNvSpPr/>
          <p:nvPr/>
        </p:nvSpPr>
        <p:spPr>
          <a:xfrm>
            <a:off x="6766560" y="3657600"/>
            <a:ext cx="1965960" cy="502920"/>
          </a:xfrm>
          <a:prstGeom prst="roundRect">
            <a:avLst>
              <a:gd name="adj" fmla="val 21818"/>
            </a:avLst>
          </a:prstGeom>
          <a:solidFill>
            <a:schemeClr val="bg1"/>
          </a:solidFill>
          <a:ln w="12700">
            <a:solidFill>
              <a:schemeClr val="accent3"/>
            </a:solidFill>
            <a:prstDash val="solid"/>
          </a:ln>
        </p:spPr>
        <p:txBody>
          <a:bodyPr/>
          <a:lstStyle/>
          <a:p>
            <a:endParaRPr lang="it-IT" dirty="0"/>
          </a:p>
        </p:txBody>
      </p:sp>
      <p:sp>
        <p:nvSpPr>
          <p:cNvPr id="22" name="Text 17"/>
          <p:cNvSpPr txBox="1"/>
          <p:nvPr/>
        </p:nvSpPr>
        <p:spPr>
          <a:xfrm>
            <a:off x="6812280" y="3657600"/>
            <a:ext cx="1874520" cy="502920"/>
          </a:xfrm>
          <a:prstGeom prst="rect">
            <a:avLst/>
          </a:prstGeom>
          <a:noFill/>
          <a:ln/>
        </p:spPr>
        <p:txBody>
          <a:bodyPr wrap="square" lIns="0" tIns="0" rIns="0" bIns="0" rtlCol="0" anchor="ctr"/>
          <a:lstStyle/>
          <a:p>
            <a:pPr marL="0" indent="0" algn="ctr">
              <a:buNone/>
            </a:pPr>
            <a:r>
              <a:rPr lang="it-IT" sz="1200" b="1" dirty="0">
                <a:solidFill>
                  <a:schemeClr val="tx1"/>
                </a:solidFill>
              </a:rPr>
              <a:t>Soluzioni proposte</a:t>
            </a:r>
            <a:endParaRPr lang="it-IT" sz="1200" dirty="0"/>
          </a:p>
        </p:txBody>
      </p:sp>
      <p:sp>
        <p:nvSpPr>
          <p:cNvPr id="23" name="Text 18"/>
          <p:cNvSpPr txBox="1"/>
          <p:nvPr/>
        </p:nvSpPr>
        <p:spPr>
          <a:xfrm>
            <a:off x="457200" y="4297680"/>
            <a:ext cx="8229600" cy="274320"/>
          </a:xfrm>
          <a:prstGeom prst="rect">
            <a:avLst/>
          </a:prstGeom>
          <a:noFill/>
          <a:ln/>
        </p:spPr>
        <p:txBody>
          <a:bodyPr wrap="square" lIns="0" tIns="0" rIns="0" bIns="0" rtlCol="0" anchor="t"/>
          <a:lstStyle/>
          <a:p>
            <a:pPr marL="0" indent="0">
              <a:buNone/>
            </a:pPr>
            <a:r>
              <a:rPr lang="it-IT" sz="1200" i="1" dirty="0">
                <a:solidFill>
                  <a:schemeClr val="tx2"/>
                </a:solidFill>
              </a:rPr>
              <a:t>Non implica intenzione, ma gli effetti possono essere reali.</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74</a:t>
            </a:fld>
            <a:endParaRPr lang="it-IT"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Da dove nascono le distorsioni</a:t>
            </a:r>
            <a:endParaRPr lang="it-IT" sz="2600" dirty="0"/>
          </a:p>
        </p:txBody>
      </p:sp>
      <p:sp>
        <p:nvSpPr>
          <p:cNvPr id="4" name="Dati di addestramento"/>
          <p:cNvSpPr/>
          <p:nvPr/>
        </p:nvSpPr>
        <p:spPr>
          <a:xfrm>
            <a:off x="457200" y="1097280"/>
            <a:ext cx="1691640" cy="2103120"/>
          </a:xfrm>
          <a:prstGeom prst="roundRect">
            <a:avLst>
              <a:gd name="adj" fmla="val 4324"/>
            </a:avLst>
          </a:prstGeom>
          <a:solidFill>
            <a:schemeClr val="bg2"/>
          </a:solidFill>
          <a:ln/>
        </p:spPr>
        <p:txBody>
          <a:bodyPr/>
          <a:lstStyle/>
          <a:p>
            <a:endParaRPr lang="it-IT" dirty="0"/>
          </a:p>
        </p:txBody>
      </p:sp>
      <p:sp>
        <p:nvSpPr>
          <p:cNvPr id="5" name="cerchio FiDatabase"/>
          <p:cNvSpPr/>
          <p:nvPr/>
        </p:nvSpPr>
        <p:spPr>
          <a:xfrm>
            <a:off x="1024128" y="1234440"/>
            <a:ext cx="548640" cy="548640"/>
          </a:xfrm>
          <a:prstGeom prst="ellipse">
            <a:avLst/>
          </a:prstGeom>
          <a:solidFill>
            <a:schemeClr val="accent1"/>
          </a:solidFill>
          <a:ln/>
        </p:spPr>
        <p:txBody>
          <a:bodyPr/>
          <a:lstStyle/>
          <a:p>
            <a:endParaRPr lang="it-IT" dirty="0"/>
          </a:p>
        </p:txBody>
      </p:sp>
      <p:pic>
        <p:nvPicPr>
          <p:cNvPr id="6" name="Image 0" descr="FiDatabase"/>
          <p:cNvPicPr>
            <a:picLocks noChangeAspect="1"/>
          </p:cNvPicPr>
          <p:nvPr/>
        </p:nvPicPr>
        <p:blipFill>
          <a:blip r:embed="rId3"/>
          <a:stretch>
            <a:fillRect/>
          </a:stretch>
        </p:blipFill>
        <p:spPr>
          <a:xfrm>
            <a:off x="1161288" y="1371600"/>
            <a:ext cx="274320" cy="274320"/>
          </a:xfrm>
          <a:prstGeom prst="rect">
            <a:avLst/>
          </a:prstGeom>
        </p:spPr>
      </p:pic>
      <p:sp>
        <p:nvSpPr>
          <p:cNvPr id="7" name="Text 3"/>
          <p:cNvSpPr txBox="1"/>
          <p:nvPr/>
        </p:nvSpPr>
        <p:spPr>
          <a:xfrm>
            <a:off x="548640" y="1828800"/>
            <a:ext cx="1508760" cy="502920"/>
          </a:xfrm>
          <a:prstGeom prst="rect">
            <a:avLst/>
          </a:prstGeom>
          <a:noFill/>
          <a:ln/>
        </p:spPr>
        <p:txBody>
          <a:bodyPr wrap="square" lIns="0" tIns="0" rIns="0" bIns="0" rtlCol="0" anchor="ctr"/>
          <a:lstStyle/>
          <a:p>
            <a:pPr marL="0" indent="0" algn="ctr">
              <a:buNone/>
            </a:pPr>
            <a:r>
              <a:rPr lang="it-IT" sz="1300" b="1" dirty="0">
                <a:solidFill>
                  <a:schemeClr val="tx1"/>
                </a:solidFill>
              </a:rPr>
              <a:t>Dati di addestramento</a:t>
            </a:r>
            <a:endParaRPr lang="it-IT" sz="1300" dirty="0"/>
          </a:p>
        </p:txBody>
      </p:sp>
      <p:sp>
        <p:nvSpPr>
          <p:cNvPr id="8" name="Text 4"/>
          <p:cNvSpPr txBox="1"/>
          <p:nvPr/>
        </p:nvSpPr>
        <p:spPr>
          <a:xfrm>
            <a:off x="566928" y="2359152"/>
            <a:ext cx="1472184" cy="777240"/>
          </a:xfrm>
          <a:prstGeom prst="rect">
            <a:avLst/>
          </a:prstGeom>
          <a:noFill/>
          <a:ln/>
        </p:spPr>
        <p:txBody>
          <a:bodyPr wrap="square" lIns="0" tIns="0" rIns="0" bIns="0" rtlCol="0" anchor="t"/>
          <a:lstStyle/>
          <a:p>
            <a:pPr marL="0" indent="0" algn="ctr">
              <a:buNone/>
            </a:pPr>
            <a:r>
              <a:rPr lang="it-IT" sz="1100" dirty="0">
                <a:solidFill>
                  <a:schemeClr val="tx2"/>
                </a:solidFill>
              </a:rPr>
              <a:t>Riflettono stereotipi e squilibri di rappresentazione</a:t>
            </a:r>
            <a:endParaRPr lang="it-IT" sz="1100" dirty="0"/>
          </a:p>
        </p:txBody>
      </p:sp>
      <p:sp>
        <p:nvSpPr>
          <p:cNvPr id="9" name="freccia"/>
          <p:cNvSpPr/>
          <p:nvPr/>
        </p:nvSpPr>
        <p:spPr>
          <a:xfrm>
            <a:off x="2157984" y="2011680"/>
            <a:ext cx="164592" cy="292608"/>
          </a:xfrm>
          <a:prstGeom prst="rightArrow">
            <a:avLst/>
          </a:prstGeom>
          <a:solidFill>
            <a:schemeClr val="accent2"/>
          </a:solidFill>
          <a:ln/>
        </p:spPr>
        <p:txBody>
          <a:bodyPr/>
          <a:lstStyle/>
          <a:p>
            <a:endParaRPr lang="it-IT" dirty="0"/>
          </a:p>
        </p:txBody>
      </p:sp>
      <p:sp>
        <p:nvSpPr>
          <p:cNvPr id="10" name="Addestramento e affinamento"/>
          <p:cNvSpPr/>
          <p:nvPr/>
        </p:nvSpPr>
        <p:spPr>
          <a:xfrm>
            <a:off x="2331720" y="1097280"/>
            <a:ext cx="1691640" cy="2103120"/>
          </a:xfrm>
          <a:prstGeom prst="roundRect">
            <a:avLst>
              <a:gd name="adj" fmla="val 4324"/>
            </a:avLst>
          </a:prstGeom>
          <a:solidFill>
            <a:schemeClr val="bg2"/>
          </a:solidFill>
          <a:ln/>
        </p:spPr>
        <p:txBody>
          <a:bodyPr/>
          <a:lstStyle/>
          <a:p>
            <a:endParaRPr lang="it-IT" dirty="0"/>
          </a:p>
        </p:txBody>
      </p:sp>
      <p:sp>
        <p:nvSpPr>
          <p:cNvPr id="11" name="cerchio FiSettings"/>
          <p:cNvSpPr/>
          <p:nvPr/>
        </p:nvSpPr>
        <p:spPr>
          <a:xfrm>
            <a:off x="2898648" y="1234440"/>
            <a:ext cx="548640" cy="548640"/>
          </a:xfrm>
          <a:prstGeom prst="ellipse">
            <a:avLst/>
          </a:prstGeom>
          <a:solidFill>
            <a:schemeClr val="accent1"/>
          </a:solidFill>
          <a:ln/>
        </p:spPr>
        <p:txBody>
          <a:bodyPr/>
          <a:lstStyle/>
          <a:p>
            <a:endParaRPr lang="it-IT" dirty="0"/>
          </a:p>
        </p:txBody>
      </p:sp>
      <p:pic>
        <p:nvPicPr>
          <p:cNvPr id="12" name="Image 1" descr="FiSettings"/>
          <p:cNvPicPr>
            <a:picLocks noChangeAspect="1"/>
          </p:cNvPicPr>
          <p:nvPr/>
        </p:nvPicPr>
        <p:blipFill>
          <a:blip r:embed="rId4"/>
          <a:stretch>
            <a:fillRect/>
          </a:stretch>
        </p:blipFill>
        <p:spPr>
          <a:xfrm>
            <a:off x="3035808" y="1371600"/>
            <a:ext cx="274320" cy="274320"/>
          </a:xfrm>
          <a:prstGeom prst="rect">
            <a:avLst/>
          </a:prstGeom>
        </p:spPr>
      </p:pic>
      <p:sp>
        <p:nvSpPr>
          <p:cNvPr id="13" name="Text 8"/>
          <p:cNvSpPr txBox="1"/>
          <p:nvPr/>
        </p:nvSpPr>
        <p:spPr>
          <a:xfrm>
            <a:off x="2423160" y="1828800"/>
            <a:ext cx="1508760" cy="502920"/>
          </a:xfrm>
          <a:prstGeom prst="rect">
            <a:avLst/>
          </a:prstGeom>
          <a:noFill/>
          <a:ln/>
        </p:spPr>
        <p:txBody>
          <a:bodyPr wrap="square" lIns="0" tIns="0" rIns="0" bIns="0" rtlCol="0" anchor="ctr"/>
          <a:lstStyle/>
          <a:p>
            <a:pPr marL="0" indent="0" algn="ctr">
              <a:buNone/>
            </a:pPr>
            <a:r>
              <a:rPr lang="it-IT" sz="1300" b="1" dirty="0">
                <a:solidFill>
                  <a:schemeClr val="tx1"/>
                </a:solidFill>
              </a:rPr>
              <a:t>Addestramento e affinamento</a:t>
            </a:r>
            <a:endParaRPr lang="it-IT" sz="1300" dirty="0"/>
          </a:p>
        </p:txBody>
      </p:sp>
      <p:sp>
        <p:nvSpPr>
          <p:cNvPr id="14" name="Text 9"/>
          <p:cNvSpPr txBox="1"/>
          <p:nvPr/>
        </p:nvSpPr>
        <p:spPr>
          <a:xfrm>
            <a:off x="2441448" y="2359152"/>
            <a:ext cx="1472184" cy="777240"/>
          </a:xfrm>
          <a:prstGeom prst="rect">
            <a:avLst/>
          </a:prstGeom>
          <a:noFill/>
          <a:ln/>
        </p:spPr>
        <p:txBody>
          <a:bodyPr wrap="square" lIns="0" tIns="0" rIns="0" bIns="0" rtlCol="0" anchor="t"/>
          <a:lstStyle/>
          <a:p>
            <a:pPr marL="0" indent="0" algn="ctr">
              <a:buNone/>
            </a:pPr>
            <a:r>
              <a:rPr lang="it-IT" sz="1100" dirty="0">
                <a:solidFill>
                  <a:schemeClr val="tx2"/>
                </a:solidFill>
              </a:rPr>
              <a:t>Scelte su dati, filtri e comportamenti premiati</a:t>
            </a:r>
            <a:endParaRPr lang="it-IT" sz="1100" dirty="0"/>
          </a:p>
        </p:txBody>
      </p:sp>
      <p:sp>
        <p:nvSpPr>
          <p:cNvPr id="15" name="freccia"/>
          <p:cNvSpPr/>
          <p:nvPr/>
        </p:nvSpPr>
        <p:spPr>
          <a:xfrm>
            <a:off x="4032504" y="2011680"/>
            <a:ext cx="164592" cy="292608"/>
          </a:xfrm>
          <a:prstGeom prst="rightArrow">
            <a:avLst/>
          </a:prstGeom>
          <a:solidFill>
            <a:schemeClr val="accent2"/>
          </a:solidFill>
          <a:ln/>
        </p:spPr>
        <p:txBody>
          <a:bodyPr/>
          <a:lstStyle/>
          <a:p>
            <a:endParaRPr lang="it-IT" dirty="0"/>
          </a:p>
        </p:txBody>
      </p:sp>
      <p:sp>
        <p:nvSpPr>
          <p:cNvPr id="16" name="Contesto d'uso"/>
          <p:cNvSpPr/>
          <p:nvPr/>
        </p:nvSpPr>
        <p:spPr>
          <a:xfrm>
            <a:off x="4206240" y="1097280"/>
            <a:ext cx="1691640" cy="2103120"/>
          </a:xfrm>
          <a:prstGeom prst="roundRect">
            <a:avLst>
              <a:gd name="adj" fmla="val 4324"/>
            </a:avLst>
          </a:prstGeom>
          <a:solidFill>
            <a:schemeClr val="bg2"/>
          </a:solidFill>
          <a:ln/>
        </p:spPr>
        <p:txBody>
          <a:bodyPr/>
          <a:lstStyle/>
          <a:p>
            <a:endParaRPr lang="it-IT" dirty="0"/>
          </a:p>
        </p:txBody>
      </p:sp>
      <p:sp>
        <p:nvSpPr>
          <p:cNvPr id="17" name="cerchio FiMessageSquare"/>
          <p:cNvSpPr/>
          <p:nvPr/>
        </p:nvSpPr>
        <p:spPr>
          <a:xfrm>
            <a:off x="4773168" y="1234440"/>
            <a:ext cx="548640" cy="548640"/>
          </a:xfrm>
          <a:prstGeom prst="ellipse">
            <a:avLst/>
          </a:prstGeom>
          <a:solidFill>
            <a:schemeClr val="accent1"/>
          </a:solidFill>
          <a:ln/>
        </p:spPr>
        <p:txBody>
          <a:bodyPr/>
          <a:lstStyle/>
          <a:p>
            <a:endParaRPr lang="it-IT" dirty="0"/>
          </a:p>
        </p:txBody>
      </p:sp>
      <p:pic>
        <p:nvPicPr>
          <p:cNvPr id="18" name="Image 2" descr="FiMessageSquare"/>
          <p:cNvPicPr>
            <a:picLocks noChangeAspect="1"/>
          </p:cNvPicPr>
          <p:nvPr/>
        </p:nvPicPr>
        <p:blipFill>
          <a:blip r:embed="rId5"/>
          <a:stretch>
            <a:fillRect/>
          </a:stretch>
        </p:blipFill>
        <p:spPr>
          <a:xfrm>
            <a:off x="4910328" y="1371600"/>
            <a:ext cx="274320" cy="274320"/>
          </a:xfrm>
          <a:prstGeom prst="rect">
            <a:avLst/>
          </a:prstGeom>
        </p:spPr>
      </p:pic>
      <p:sp>
        <p:nvSpPr>
          <p:cNvPr id="19" name="Text 13"/>
          <p:cNvSpPr txBox="1"/>
          <p:nvPr/>
        </p:nvSpPr>
        <p:spPr>
          <a:xfrm>
            <a:off x="4297680" y="1828800"/>
            <a:ext cx="1508760" cy="502920"/>
          </a:xfrm>
          <a:prstGeom prst="rect">
            <a:avLst/>
          </a:prstGeom>
          <a:noFill/>
          <a:ln/>
        </p:spPr>
        <p:txBody>
          <a:bodyPr wrap="square" lIns="0" tIns="0" rIns="0" bIns="0" rtlCol="0" anchor="ctr"/>
          <a:lstStyle/>
          <a:p>
            <a:pPr marL="0" indent="0" algn="ctr">
              <a:buNone/>
            </a:pPr>
            <a:r>
              <a:rPr lang="it-IT" sz="1300" b="1" dirty="0">
                <a:solidFill>
                  <a:schemeClr val="tx1"/>
                </a:solidFill>
              </a:rPr>
              <a:t>Contesto d'uso</a:t>
            </a:r>
            <a:endParaRPr lang="it-IT" sz="1300" dirty="0"/>
          </a:p>
        </p:txBody>
      </p:sp>
      <p:sp>
        <p:nvSpPr>
          <p:cNvPr id="20" name="Text 14"/>
          <p:cNvSpPr txBox="1"/>
          <p:nvPr/>
        </p:nvSpPr>
        <p:spPr>
          <a:xfrm>
            <a:off x="4315968" y="2359152"/>
            <a:ext cx="1472184" cy="777240"/>
          </a:xfrm>
          <a:prstGeom prst="rect">
            <a:avLst/>
          </a:prstGeom>
          <a:noFill/>
          <a:ln/>
        </p:spPr>
        <p:txBody>
          <a:bodyPr wrap="square" lIns="0" tIns="0" rIns="0" bIns="0" rtlCol="0" anchor="t"/>
          <a:lstStyle/>
          <a:p>
            <a:pPr marL="0" indent="0" algn="ctr">
              <a:buNone/>
            </a:pPr>
            <a:r>
              <a:rPr lang="it-IT" sz="1100" dirty="0">
                <a:solidFill>
                  <a:schemeClr val="tx2"/>
                </a:solidFill>
              </a:rPr>
              <a:t>Istruzioni, formulazione delle domande, documenti</a:t>
            </a:r>
            <a:endParaRPr lang="it-IT" sz="1100" dirty="0"/>
          </a:p>
        </p:txBody>
      </p:sp>
      <p:sp>
        <p:nvSpPr>
          <p:cNvPr id="21" name="sintesi origini"/>
          <p:cNvSpPr/>
          <p:nvPr/>
        </p:nvSpPr>
        <p:spPr>
          <a:xfrm>
            <a:off x="457200" y="3383280"/>
            <a:ext cx="5440680" cy="1143000"/>
          </a:xfrm>
          <a:prstGeom prst="roundRect">
            <a:avLst>
              <a:gd name="adj" fmla="val 6400"/>
            </a:avLst>
          </a:prstGeom>
          <a:solidFill>
            <a:schemeClr val="accent6"/>
          </a:solidFill>
          <a:ln/>
        </p:spPr>
        <p:txBody>
          <a:bodyPr/>
          <a:lstStyle/>
          <a:p>
            <a:endParaRPr lang="it-IT" dirty="0"/>
          </a:p>
        </p:txBody>
      </p:sp>
      <p:sp>
        <p:nvSpPr>
          <p:cNvPr id="22" name="Text 16"/>
          <p:cNvSpPr txBox="1"/>
          <p:nvPr/>
        </p:nvSpPr>
        <p:spPr>
          <a:xfrm>
            <a:off x="640080" y="3383280"/>
            <a:ext cx="5120640" cy="1143000"/>
          </a:xfrm>
          <a:prstGeom prst="rect">
            <a:avLst/>
          </a:prstGeom>
          <a:noFill/>
          <a:ln/>
        </p:spPr>
        <p:txBody>
          <a:bodyPr wrap="square" lIns="0" tIns="0" rIns="0" bIns="0" rtlCol="0" anchor="ctr"/>
          <a:lstStyle/>
          <a:p>
            <a:pPr marL="0" indent="0">
              <a:buNone/>
            </a:pPr>
            <a:r>
              <a:rPr lang="it-IT" sz="1400" dirty="0">
                <a:solidFill>
                  <a:schemeClr val="tx1"/>
                </a:solidFill>
              </a:rPr>
              <a:t>Dati non rappresentativi e scelte di progettazione possono introdurre distorsioni sistematiche. La valutazione su casi e gruppi differenti aiuta a identificarle.</a:t>
            </a:r>
            <a:endParaRPr lang="it-IT" sz="1400" dirty="0"/>
          </a:p>
        </p:txBody>
      </p:sp>
      <p:sp>
        <p:nvSpPr>
          <p:cNvPr id="23" name="caso Amazon"/>
          <p:cNvSpPr/>
          <p:nvPr/>
        </p:nvSpPr>
        <p:spPr>
          <a:xfrm>
            <a:off x="6126480" y="1097280"/>
            <a:ext cx="2560320" cy="3429000"/>
          </a:xfrm>
          <a:prstGeom prst="roundRect">
            <a:avLst>
              <a:gd name="adj" fmla="val 2857"/>
            </a:avLst>
          </a:prstGeom>
          <a:solidFill>
            <a:schemeClr val="tx1"/>
          </a:solidFill>
          <a:ln/>
        </p:spPr>
        <p:txBody>
          <a:bodyPr/>
          <a:lstStyle/>
          <a:p>
            <a:endParaRPr lang="it-IT" dirty="0"/>
          </a:p>
        </p:txBody>
      </p:sp>
      <p:sp>
        <p:nvSpPr>
          <p:cNvPr id="24" name="Text 18"/>
          <p:cNvSpPr txBox="1"/>
          <p:nvPr/>
        </p:nvSpPr>
        <p:spPr>
          <a:xfrm>
            <a:off x="6309360" y="1234440"/>
            <a:ext cx="2194560" cy="274320"/>
          </a:xfrm>
          <a:prstGeom prst="rect">
            <a:avLst/>
          </a:prstGeom>
          <a:noFill/>
          <a:ln/>
        </p:spPr>
        <p:txBody>
          <a:bodyPr wrap="square" lIns="0" tIns="0" rIns="0" bIns="0" rtlCol="0" anchor="t"/>
          <a:lstStyle/>
          <a:p>
            <a:pPr marL="0" indent="0">
              <a:buNone/>
            </a:pPr>
            <a:r>
              <a:rPr lang="it-IT" sz="1000" b="1" kern="0" spc="200" dirty="0">
                <a:solidFill>
                  <a:schemeClr val="accent1"/>
                </a:solidFill>
              </a:rPr>
              <a:t>UN CASO NOTO</a:t>
            </a:r>
            <a:endParaRPr lang="it-IT" sz="1000" dirty="0"/>
          </a:p>
        </p:txBody>
      </p:sp>
      <p:sp>
        <p:nvSpPr>
          <p:cNvPr id="25" name="Text 19"/>
          <p:cNvSpPr txBox="1"/>
          <p:nvPr/>
        </p:nvSpPr>
        <p:spPr>
          <a:xfrm>
            <a:off x="6309360" y="1508760"/>
            <a:ext cx="2240280" cy="548640"/>
          </a:xfrm>
          <a:prstGeom prst="rect">
            <a:avLst/>
          </a:prstGeom>
          <a:noFill/>
          <a:ln/>
        </p:spPr>
        <p:txBody>
          <a:bodyPr wrap="square" lIns="0" tIns="0" rIns="0" bIns="0" rtlCol="0" anchor="t"/>
          <a:lstStyle/>
          <a:p>
            <a:pPr marL="0" indent="0">
              <a:buNone/>
            </a:pPr>
            <a:r>
              <a:rPr lang="it-IT" sz="1400" b="1" dirty="0">
                <a:solidFill>
                  <a:schemeClr val="bg1"/>
                </a:solidFill>
              </a:rPr>
              <a:t>Selezione dei curricula, 2018</a:t>
            </a:r>
            <a:endParaRPr lang="it-IT" sz="1400" dirty="0"/>
          </a:p>
        </p:txBody>
      </p:sp>
      <p:sp>
        <p:nvSpPr>
          <p:cNvPr id="26" name="Text 20"/>
          <p:cNvSpPr txBox="1"/>
          <p:nvPr/>
        </p:nvSpPr>
        <p:spPr>
          <a:xfrm>
            <a:off x="6309360" y="2103120"/>
            <a:ext cx="2240280" cy="1828800"/>
          </a:xfrm>
          <a:prstGeom prst="rect">
            <a:avLst/>
          </a:prstGeom>
          <a:noFill/>
          <a:ln/>
        </p:spPr>
        <p:txBody>
          <a:bodyPr wrap="square" lIns="0" tIns="0" rIns="0" bIns="0" rtlCol="0" anchor="t"/>
          <a:lstStyle/>
          <a:p>
            <a:pPr marL="0" indent="0">
              <a:buNone/>
            </a:pPr>
            <a:r>
              <a:rPr lang="it-IT" sz="1200" dirty="0">
                <a:solidFill>
                  <a:schemeClr val="accent3"/>
                </a:solidFill>
              </a:rPr>
              <a:t>Addestrato su dieci anni di assunzioni in prevalenza maschili, il sistema penalizzava i curricula con la parola "women". Fu abbandonato.</a:t>
            </a:r>
            <a:endParaRPr lang="it-IT" sz="1200" dirty="0"/>
          </a:p>
        </p:txBody>
      </p:sp>
      <p:sp>
        <p:nvSpPr>
          <p:cNvPr id="27" name="Text 21"/>
          <p:cNvSpPr txBox="1"/>
          <p:nvPr/>
        </p:nvSpPr>
        <p:spPr>
          <a:xfrm>
            <a:off x="6309360" y="4160520"/>
            <a:ext cx="2240280" cy="274320"/>
          </a:xfrm>
          <a:prstGeom prst="rect">
            <a:avLst/>
          </a:prstGeom>
          <a:noFill/>
          <a:ln/>
        </p:spPr>
        <p:txBody>
          <a:bodyPr wrap="square" lIns="0" tIns="0" rIns="0" bIns="0" rtlCol="0" anchor="t"/>
          <a:lstStyle/>
          <a:p>
            <a:pPr marL="0" indent="0">
              <a:buNone/>
            </a:pPr>
            <a:r>
              <a:rPr lang="it-IT" sz="1000" dirty="0">
                <a:solidFill>
                  <a:schemeClr val="accent2"/>
                </a:solidFill>
              </a:rPr>
              <a:t>Fonte: Reuters, ottobre 2018</a:t>
            </a:r>
            <a:endParaRPr lang="it-IT" sz="10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75</a:t>
            </a:fld>
            <a:endParaRPr lang="it-IT"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L'influenza del contesto e delle istruzioni</a:t>
            </a:r>
            <a:endParaRPr lang="it-IT" sz="2600" dirty="0"/>
          </a:p>
        </p:txBody>
      </p:sp>
      <p:sp>
        <p:nvSpPr>
          <p:cNvPr id="4" name="scheda Domanda orientata"/>
          <p:cNvSpPr/>
          <p:nvPr/>
        </p:nvSpPr>
        <p:spPr>
          <a:xfrm>
            <a:off x="457200" y="1097280"/>
            <a:ext cx="3977640" cy="2286000"/>
          </a:xfrm>
          <a:prstGeom prst="roundRect">
            <a:avLst>
              <a:gd name="adj" fmla="val 3200"/>
            </a:avLst>
          </a:prstGeom>
          <a:solidFill>
            <a:schemeClr val="bg2"/>
          </a:solidFill>
          <a:ln/>
        </p:spPr>
        <p:txBody>
          <a:bodyPr/>
          <a:lstStyle/>
          <a:p>
            <a:endParaRPr lang="it-IT" dirty="0"/>
          </a:p>
        </p:txBody>
      </p:sp>
      <p:sp>
        <p:nvSpPr>
          <p:cNvPr id="5" name="cerchio FiArrowRight"/>
          <p:cNvSpPr/>
          <p:nvPr/>
        </p:nvSpPr>
        <p:spPr>
          <a:xfrm>
            <a:off x="640080" y="1280160"/>
            <a:ext cx="457200" cy="457200"/>
          </a:xfrm>
          <a:prstGeom prst="ellipse">
            <a:avLst/>
          </a:prstGeom>
          <a:solidFill>
            <a:schemeClr val="accent5"/>
          </a:solidFill>
          <a:ln/>
        </p:spPr>
        <p:txBody>
          <a:bodyPr/>
          <a:lstStyle/>
          <a:p>
            <a:endParaRPr lang="it-IT" dirty="0"/>
          </a:p>
        </p:txBody>
      </p:sp>
      <p:pic>
        <p:nvPicPr>
          <p:cNvPr id="6" name="Image 0" descr="FiArrowRight"/>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marL="0" indent="0">
              <a:buNone/>
            </a:pPr>
            <a:r>
              <a:rPr lang="it-IT" sz="1500" b="1" dirty="0">
                <a:solidFill>
                  <a:schemeClr val="tx1"/>
                </a:solidFill>
              </a:rPr>
              <a:t>Domanda orientata</a:t>
            </a:r>
            <a:endParaRPr lang="it-IT" sz="1500" dirty="0"/>
          </a:p>
        </p:txBody>
      </p:sp>
      <p:sp>
        <p:nvSpPr>
          <p:cNvPr id="8" name="Text 4"/>
          <p:cNvSpPr txBox="1"/>
          <p:nvPr/>
        </p:nvSpPr>
        <p:spPr>
          <a:xfrm>
            <a:off x="640080" y="2231136"/>
            <a:ext cx="3611880" cy="1042416"/>
          </a:xfrm>
          <a:prstGeom prst="rect">
            <a:avLst/>
          </a:prstGeom>
          <a:noFill/>
          <a:ln/>
        </p:spPr>
        <p:txBody>
          <a:bodyPr wrap="square" lIns="0" tIns="0" rIns="0" bIns="0" rtlCol="0" anchor="t"/>
          <a:lstStyle/>
          <a:p>
            <a:pPr marL="0" indent="0">
              <a:spcAft>
                <a:spcPts val="1000"/>
              </a:spcAft>
              <a:buNone/>
            </a:pPr>
            <a:r>
              <a:rPr lang="it-IT" sz="1300" b="1" i="1" dirty="0">
                <a:solidFill>
                  <a:schemeClr val="tx1"/>
                </a:solidFill>
              </a:rPr>
              <a:t>"Perché il fornitore A è la scelta migliore?"</a:t>
            </a:r>
            <a:endParaRPr lang="it-IT" sz="1300" dirty="0"/>
          </a:p>
          <a:p>
            <a:pPr marL="0" indent="0">
              <a:buNone/>
            </a:pPr>
            <a:r>
              <a:rPr lang="it-IT" sz="1300" dirty="0">
                <a:solidFill>
                  <a:schemeClr val="tx2"/>
                </a:solidFill>
              </a:rPr>
              <a:t>Presuppone la conclusione: la risposta elencherà argomenti a favore di A.</a:t>
            </a:r>
            <a:endParaRPr lang="it-IT" sz="1300" dirty="0"/>
          </a:p>
        </p:txBody>
      </p:sp>
      <p:sp>
        <p:nvSpPr>
          <p:cNvPr id="9" name="scheda Domanda neutra"/>
          <p:cNvSpPr/>
          <p:nvPr/>
        </p:nvSpPr>
        <p:spPr>
          <a:xfrm>
            <a:off x="4709160" y="1097280"/>
            <a:ext cx="3977640" cy="2286000"/>
          </a:xfrm>
          <a:prstGeom prst="roundRect">
            <a:avLst>
              <a:gd name="adj" fmla="val 3200"/>
            </a:avLst>
          </a:prstGeom>
          <a:solidFill>
            <a:schemeClr val="accent6"/>
          </a:solidFill>
          <a:ln/>
        </p:spPr>
        <p:txBody>
          <a:bodyPr/>
          <a:lstStyle/>
          <a:p>
            <a:endParaRPr lang="it-IT" dirty="0"/>
          </a:p>
        </p:txBody>
      </p:sp>
      <p:sp>
        <p:nvSpPr>
          <p:cNvPr id="10" name="cerchio FiSliders"/>
          <p:cNvSpPr/>
          <p:nvPr/>
        </p:nvSpPr>
        <p:spPr>
          <a:xfrm>
            <a:off x="4892040" y="1280160"/>
            <a:ext cx="457200" cy="457200"/>
          </a:xfrm>
          <a:prstGeom prst="ellipse">
            <a:avLst/>
          </a:prstGeom>
          <a:solidFill>
            <a:schemeClr val="accent1"/>
          </a:solidFill>
          <a:ln/>
        </p:spPr>
        <p:txBody>
          <a:bodyPr/>
          <a:lstStyle/>
          <a:p>
            <a:endParaRPr lang="it-IT" dirty="0"/>
          </a:p>
        </p:txBody>
      </p:sp>
      <p:pic>
        <p:nvPicPr>
          <p:cNvPr id="11" name="Image 1" descr="FiSliders"/>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marL="0" indent="0">
              <a:buNone/>
            </a:pPr>
            <a:r>
              <a:rPr lang="it-IT" sz="1500" b="1" dirty="0">
                <a:solidFill>
                  <a:schemeClr val="tx1"/>
                </a:solidFill>
              </a:rPr>
              <a:t>Domanda neutra</a:t>
            </a:r>
            <a:endParaRPr lang="it-IT" sz="1500" dirty="0"/>
          </a:p>
        </p:txBody>
      </p:sp>
      <p:sp>
        <p:nvSpPr>
          <p:cNvPr id="13" name="Text 8"/>
          <p:cNvSpPr txBox="1"/>
          <p:nvPr/>
        </p:nvSpPr>
        <p:spPr>
          <a:xfrm>
            <a:off x="4892040" y="2231136"/>
            <a:ext cx="3611880" cy="1042416"/>
          </a:xfrm>
          <a:prstGeom prst="rect">
            <a:avLst/>
          </a:prstGeom>
          <a:noFill/>
          <a:ln/>
        </p:spPr>
        <p:txBody>
          <a:bodyPr wrap="square" lIns="0" tIns="0" rIns="0" bIns="0" rtlCol="0" anchor="t"/>
          <a:lstStyle/>
          <a:p>
            <a:pPr marL="0" indent="0">
              <a:spcAft>
                <a:spcPts val="1000"/>
              </a:spcAft>
              <a:buNone/>
            </a:pPr>
            <a:r>
              <a:rPr lang="it-IT" sz="1300" b="1" i="1" dirty="0">
                <a:solidFill>
                  <a:schemeClr val="tx1"/>
                </a:solidFill>
              </a:rPr>
              <a:t>"Quali sono vantaggi e svantaggi di A e B rispetto a questi criteri?"</a:t>
            </a:r>
            <a:endParaRPr lang="it-IT" sz="1300" dirty="0"/>
          </a:p>
          <a:p>
            <a:pPr marL="0" indent="0">
              <a:buNone/>
            </a:pPr>
            <a:r>
              <a:rPr lang="it-IT" sz="1300" dirty="0">
                <a:solidFill>
                  <a:schemeClr val="tx2"/>
                </a:solidFill>
              </a:rPr>
              <a:t>Favorisce un confronto più equilibrato.</a:t>
            </a:r>
            <a:endParaRPr lang="it-IT" sz="1300" dirty="0"/>
          </a:p>
        </p:txBody>
      </p:sp>
      <p:sp>
        <p:nvSpPr>
          <p:cNvPr id="14" name="Text 9"/>
          <p:cNvSpPr txBox="1"/>
          <p:nvPr/>
        </p:nvSpPr>
        <p:spPr>
          <a:xfrm>
            <a:off x="457200" y="3566160"/>
            <a:ext cx="8229600" cy="274320"/>
          </a:xfrm>
          <a:prstGeom prst="rect">
            <a:avLst/>
          </a:prstGeom>
          <a:noFill/>
          <a:ln/>
        </p:spPr>
        <p:txBody>
          <a:bodyPr wrap="square" lIns="0" tIns="0" rIns="0" bIns="0" rtlCol="0" anchor="t"/>
          <a:lstStyle/>
          <a:p>
            <a:pPr marL="0" indent="0">
              <a:buNone/>
            </a:pPr>
            <a:r>
              <a:rPr lang="it-IT" sz="1400" b="1" dirty="0">
                <a:solidFill>
                  <a:schemeClr val="tx1"/>
                </a:solidFill>
              </a:rPr>
              <a:t>Possono orientare le risposte</a:t>
            </a:r>
            <a:endParaRPr lang="it-IT" sz="1400" dirty="0"/>
          </a:p>
        </p:txBody>
      </p:sp>
      <p:sp>
        <p:nvSpPr>
          <p:cNvPr id="15" name="blocco La formulazione della domanda"/>
          <p:cNvSpPr/>
          <p:nvPr/>
        </p:nvSpPr>
        <p:spPr>
          <a:xfrm>
            <a:off x="457200" y="3931920"/>
            <a:ext cx="2615184" cy="548640"/>
          </a:xfrm>
          <a:prstGeom prst="roundRect">
            <a:avLst>
              <a:gd name="adj" fmla="val 20000"/>
            </a:avLst>
          </a:prstGeom>
          <a:solidFill>
            <a:schemeClr val="bg2"/>
          </a:solidFill>
          <a:ln/>
        </p:spPr>
        <p:txBody>
          <a:bodyPr/>
          <a:lstStyle/>
          <a:p>
            <a:endParaRPr lang="it-IT" dirty="0"/>
          </a:p>
        </p:txBody>
      </p:sp>
      <p:sp>
        <p:nvSpPr>
          <p:cNvPr id="16" name="Text 11"/>
          <p:cNvSpPr txBox="1"/>
          <p:nvPr/>
        </p:nvSpPr>
        <p:spPr>
          <a:xfrm>
            <a:off x="502920" y="3931920"/>
            <a:ext cx="2523744" cy="548640"/>
          </a:xfrm>
          <a:prstGeom prst="rect">
            <a:avLst/>
          </a:prstGeom>
          <a:noFill/>
          <a:ln/>
        </p:spPr>
        <p:txBody>
          <a:bodyPr wrap="square" lIns="0" tIns="0" rIns="0" bIns="0" rtlCol="0" anchor="ctr"/>
          <a:lstStyle/>
          <a:p>
            <a:pPr marL="0" indent="0" algn="ctr">
              <a:buNone/>
            </a:pPr>
            <a:r>
              <a:rPr lang="it-IT" sz="1300" b="1" dirty="0">
                <a:solidFill>
                  <a:schemeClr val="tx1"/>
                </a:solidFill>
              </a:rPr>
              <a:t>La formulazione della domanda</a:t>
            </a:r>
            <a:endParaRPr lang="it-IT" sz="1300" dirty="0"/>
          </a:p>
        </p:txBody>
      </p:sp>
      <p:sp>
        <p:nvSpPr>
          <p:cNvPr id="17" name="blocco I documenti forniti"/>
          <p:cNvSpPr/>
          <p:nvPr/>
        </p:nvSpPr>
        <p:spPr>
          <a:xfrm>
            <a:off x="3264408" y="3931920"/>
            <a:ext cx="2615184" cy="548640"/>
          </a:xfrm>
          <a:prstGeom prst="roundRect">
            <a:avLst>
              <a:gd name="adj" fmla="val 20000"/>
            </a:avLst>
          </a:prstGeom>
          <a:solidFill>
            <a:schemeClr val="bg2"/>
          </a:solidFill>
          <a:ln/>
        </p:spPr>
        <p:txBody>
          <a:bodyPr/>
          <a:lstStyle/>
          <a:p>
            <a:endParaRPr lang="it-IT" dirty="0"/>
          </a:p>
        </p:txBody>
      </p:sp>
      <p:sp>
        <p:nvSpPr>
          <p:cNvPr id="18" name="Text 13"/>
          <p:cNvSpPr txBox="1"/>
          <p:nvPr/>
        </p:nvSpPr>
        <p:spPr>
          <a:xfrm>
            <a:off x="3310128" y="3931920"/>
            <a:ext cx="2523744" cy="548640"/>
          </a:xfrm>
          <a:prstGeom prst="rect">
            <a:avLst/>
          </a:prstGeom>
          <a:noFill/>
          <a:ln/>
        </p:spPr>
        <p:txBody>
          <a:bodyPr wrap="square" lIns="0" tIns="0" rIns="0" bIns="0" rtlCol="0" anchor="ctr"/>
          <a:lstStyle/>
          <a:p>
            <a:pPr marL="0" indent="0" algn="ctr">
              <a:buNone/>
            </a:pPr>
            <a:r>
              <a:rPr lang="it-IT" sz="1300" b="1" dirty="0">
                <a:solidFill>
                  <a:schemeClr val="tx1"/>
                </a:solidFill>
              </a:rPr>
              <a:t>I documenti forniti</a:t>
            </a:r>
            <a:endParaRPr lang="it-IT" sz="1300" dirty="0"/>
          </a:p>
        </p:txBody>
      </p:sp>
      <p:sp>
        <p:nvSpPr>
          <p:cNvPr id="19" name="blocco Le istruzioni di sistema"/>
          <p:cNvSpPr/>
          <p:nvPr/>
        </p:nvSpPr>
        <p:spPr>
          <a:xfrm>
            <a:off x="6071616" y="3931920"/>
            <a:ext cx="2615184" cy="548640"/>
          </a:xfrm>
          <a:prstGeom prst="roundRect">
            <a:avLst>
              <a:gd name="adj" fmla="val 20000"/>
            </a:avLst>
          </a:prstGeom>
          <a:solidFill>
            <a:schemeClr val="bg2"/>
          </a:solidFill>
          <a:ln/>
        </p:spPr>
        <p:txBody>
          <a:bodyPr/>
          <a:lstStyle/>
          <a:p>
            <a:endParaRPr lang="it-IT" dirty="0"/>
          </a:p>
        </p:txBody>
      </p:sp>
      <p:sp>
        <p:nvSpPr>
          <p:cNvPr id="20" name="Text 15"/>
          <p:cNvSpPr txBox="1"/>
          <p:nvPr/>
        </p:nvSpPr>
        <p:spPr>
          <a:xfrm>
            <a:off x="6117336" y="3931920"/>
            <a:ext cx="2523744" cy="548640"/>
          </a:xfrm>
          <a:prstGeom prst="rect">
            <a:avLst/>
          </a:prstGeom>
          <a:noFill/>
          <a:ln/>
        </p:spPr>
        <p:txBody>
          <a:bodyPr wrap="square" lIns="0" tIns="0" rIns="0" bIns="0" rtlCol="0" anchor="ctr"/>
          <a:lstStyle/>
          <a:p>
            <a:pPr marL="0" indent="0" algn="ctr">
              <a:buNone/>
            </a:pPr>
            <a:r>
              <a:rPr lang="it-IT" sz="1300" b="1" dirty="0">
                <a:solidFill>
                  <a:schemeClr val="tx1"/>
                </a:solidFill>
              </a:rPr>
              <a:t>Le istruzioni di sistema</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76</a:t>
            </a:fld>
            <a:endParaRPr lang="it-IT"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Bias di conferma e tendenza ad assecondare</a:t>
            </a:r>
            <a:endParaRPr lang="it-IT" sz="2600" dirty="0"/>
          </a:p>
        </p:txBody>
      </p:sp>
      <p:sp>
        <p:nvSpPr>
          <p:cNvPr id="4" name="blocco La mia ipotesi"/>
          <p:cNvSpPr/>
          <p:nvPr/>
        </p:nvSpPr>
        <p:spPr>
          <a:xfrm>
            <a:off x="457200" y="1188720"/>
            <a:ext cx="1920240" cy="777240"/>
          </a:xfrm>
          <a:prstGeom prst="roundRect">
            <a:avLst>
              <a:gd name="adj" fmla="val 14118"/>
            </a:avLst>
          </a:prstGeom>
          <a:solidFill>
            <a:schemeClr val="bg2"/>
          </a:solidFill>
          <a:ln/>
        </p:spPr>
        <p:txBody>
          <a:bodyPr/>
          <a:lstStyle/>
          <a:p>
            <a:endParaRPr lang="it-IT" dirty="0"/>
          </a:p>
        </p:txBody>
      </p:sp>
      <p:sp>
        <p:nvSpPr>
          <p:cNvPr id="5" name="Text 2"/>
          <p:cNvSpPr txBox="1"/>
          <p:nvPr/>
        </p:nvSpPr>
        <p:spPr>
          <a:xfrm>
            <a:off x="502920" y="1188720"/>
            <a:ext cx="1828800" cy="777240"/>
          </a:xfrm>
          <a:prstGeom prst="rect">
            <a:avLst/>
          </a:prstGeom>
          <a:noFill/>
          <a:ln/>
        </p:spPr>
        <p:txBody>
          <a:bodyPr wrap="square" lIns="0" tIns="0" rIns="0" bIns="0" rtlCol="0" anchor="ctr"/>
          <a:lstStyle/>
          <a:p>
            <a:pPr marL="0" indent="0" algn="ctr">
              <a:buNone/>
            </a:pPr>
            <a:r>
              <a:rPr lang="it-IT" sz="1300" b="1" dirty="0">
                <a:solidFill>
                  <a:schemeClr val="tx1"/>
                </a:solidFill>
              </a:rPr>
              <a:t>La mia ipotesi</a:t>
            </a:r>
            <a:endParaRPr lang="it-IT" sz="1300" dirty="0"/>
          </a:p>
        </p:txBody>
      </p:sp>
      <p:sp>
        <p:nvSpPr>
          <p:cNvPr id="6" name="blocco La formulo nella domanda"/>
          <p:cNvSpPr/>
          <p:nvPr/>
        </p:nvSpPr>
        <p:spPr>
          <a:xfrm>
            <a:off x="2606040" y="1188720"/>
            <a:ext cx="1920240" cy="777240"/>
          </a:xfrm>
          <a:prstGeom prst="roundRect">
            <a:avLst>
              <a:gd name="adj" fmla="val 14118"/>
            </a:avLst>
          </a:prstGeom>
          <a:solidFill>
            <a:schemeClr val="bg2"/>
          </a:solidFill>
          <a:ln/>
        </p:spPr>
        <p:txBody>
          <a:bodyPr/>
          <a:lstStyle/>
          <a:p>
            <a:endParaRPr lang="it-IT" dirty="0"/>
          </a:p>
        </p:txBody>
      </p:sp>
      <p:sp>
        <p:nvSpPr>
          <p:cNvPr id="7" name="Text 4"/>
          <p:cNvSpPr txBox="1"/>
          <p:nvPr/>
        </p:nvSpPr>
        <p:spPr>
          <a:xfrm>
            <a:off x="2651760" y="1188720"/>
            <a:ext cx="1828800" cy="777240"/>
          </a:xfrm>
          <a:prstGeom prst="rect">
            <a:avLst/>
          </a:prstGeom>
          <a:noFill/>
          <a:ln/>
        </p:spPr>
        <p:txBody>
          <a:bodyPr wrap="square" lIns="0" tIns="0" rIns="0" bIns="0" rtlCol="0" anchor="ctr"/>
          <a:lstStyle/>
          <a:p>
            <a:pPr marL="0" indent="0" algn="ctr">
              <a:buNone/>
            </a:pPr>
            <a:r>
              <a:rPr lang="it-IT" sz="1300" b="1" dirty="0">
                <a:solidFill>
                  <a:schemeClr val="tx1"/>
                </a:solidFill>
              </a:rPr>
              <a:t>La formulo nella domanda</a:t>
            </a:r>
            <a:endParaRPr lang="it-IT" sz="1300" dirty="0"/>
          </a:p>
        </p:txBody>
      </p:sp>
      <p:sp>
        <p:nvSpPr>
          <p:cNvPr id="8" name="blocco Il sistema la asseconda"/>
          <p:cNvSpPr/>
          <p:nvPr/>
        </p:nvSpPr>
        <p:spPr>
          <a:xfrm>
            <a:off x="2606040" y="2743200"/>
            <a:ext cx="1920240" cy="777240"/>
          </a:xfrm>
          <a:prstGeom prst="roundRect">
            <a:avLst>
              <a:gd name="adj" fmla="val 14118"/>
            </a:avLst>
          </a:prstGeom>
          <a:solidFill>
            <a:schemeClr val="accent1"/>
          </a:solidFill>
          <a:ln/>
        </p:spPr>
        <p:txBody>
          <a:bodyPr/>
          <a:lstStyle/>
          <a:p>
            <a:endParaRPr lang="it-IT" dirty="0"/>
          </a:p>
        </p:txBody>
      </p:sp>
      <p:sp>
        <p:nvSpPr>
          <p:cNvPr id="9" name="Text 6"/>
          <p:cNvSpPr txBox="1"/>
          <p:nvPr/>
        </p:nvSpPr>
        <p:spPr>
          <a:xfrm>
            <a:off x="2651760" y="2743200"/>
            <a:ext cx="1828800" cy="777240"/>
          </a:xfrm>
          <a:prstGeom prst="rect">
            <a:avLst/>
          </a:prstGeom>
          <a:noFill/>
          <a:ln/>
        </p:spPr>
        <p:txBody>
          <a:bodyPr wrap="square" lIns="0" tIns="0" rIns="0" bIns="0" rtlCol="0" anchor="ctr"/>
          <a:lstStyle/>
          <a:p>
            <a:pPr marL="0" indent="0" algn="ctr">
              <a:buNone/>
            </a:pPr>
            <a:r>
              <a:rPr lang="it-IT" sz="1300" b="1" dirty="0">
                <a:solidFill>
                  <a:schemeClr val="bg1"/>
                </a:solidFill>
              </a:rPr>
              <a:t>Il sistema la asseconda</a:t>
            </a:r>
            <a:endParaRPr lang="it-IT" sz="1300" dirty="0"/>
          </a:p>
        </p:txBody>
      </p:sp>
      <p:sp>
        <p:nvSpPr>
          <p:cNvPr id="10" name="blocco Mi convinco ancora di più"/>
          <p:cNvSpPr/>
          <p:nvPr/>
        </p:nvSpPr>
        <p:spPr>
          <a:xfrm>
            <a:off x="457200" y="2743200"/>
            <a:ext cx="1920240" cy="777240"/>
          </a:xfrm>
          <a:prstGeom prst="roundRect">
            <a:avLst>
              <a:gd name="adj" fmla="val 14118"/>
            </a:avLst>
          </a:prstGeom>
          <a:solidFill>
            <a:schemeClr val="bg2"/>
          </a:solidFill>
          <a:ln/>
        </p:spPr>
        <p:txBody>
          <a:bodyPr/>
          <a:lstStyle/>
          <a:p>
            <a:endParaRPr lang="it-IT" dirty="0"/>
          </a:p>
        </p:txBody>
      </p:sp>
      <p:sp>
        <p:nvSpPr>
          <p:cNvPr id="11" name="Text 8"/>
          <p:cNvSpPr txBox="1"/>
          <p:nvPr/>
        </p:nvSpPr>
        <p:spPr>
          <a:xfrm>
            <a:off x="502920" y="2743200"/>
            <a:ext cx="1828800" cy="777240"/>
          </a:xfrm>
          <a:prstGeom prst="rect">
            <a:avLst/>
          </a:prstGeom>
          <a:noFill/>
          <a:ln/>
        </p:spPr>
        <p:txBody>
          <a:bodyPr wrap="square" lIns="0" tIns="0" rIns="0" bIns="0" rtlCol="0" anchor="ctr"/>
          <a:lstStyle/>
          <a:p>
            <a:pPr marL="0" indent="0" algn="ctr">
              <a:buNone/>
            </a:pPr>
            <a:r>
              <a:rPr lang="it-IT" sz="1300" b="1" dirty="0">
                <a:solidFill>
                  <a:schemeClr val="tx1"/>
                </a:solidFill>
              </a:rPr>
              <a:t>Mi convinco ancora di più</a:t>
            </a:r>
            <a:endParaRPr lang="it-IT" sz="1300" dirty="0"/>
          </a:p>
        </p:txBody>
      </p:sp>
      <p:sp>
        <p:nvSpPr>
          <p:cNvPr id="12" name="freccia"/>
          <p:cNvSpPr/>
          <p:nvPr/>
        </p:nvSpPr>
        <p:spPr>
          <a:xfrm>
            <a:off x="2377440" y="1435608"/>
            <a:ext cx="228600" cy="292608"/>
          </a:xfrm>
          <a:prstGeom prst="rightArrow">
            <a:avLst/>
          </a:prstGeom>
          <a:solidFill>
            <a:schemeClr val="accent2"/>
          </a:solidFill>
          <a:ln/>
        </p:spPr>
        <p:txBody>
          <a:bodyPr/>
          <a:lstStyle/>
          <a:p>
            <a:endParaRPr lang="it-IT" dirty="0"/>
          </a:p>
        </p:txBody>
      </p:sp>
      <p:sp>
        <p:nvSpPr>
          <p:cNvPr id="13" name="freccia giù"/>
          <p:cNvSpPr/>
          <p:nvPr/>
        </p:nvSpPr>
        <p:spPr>
          <a:xfrm>
            <a:off x="3429000" y="2057400"/>
            <a:ext cx="292608" cy="594360"/>
          </a:xfrm>
          <a:prstGeom prst="downArrow">
            <a:avLst/>
          </a:prstGeom>
          <a:solidFill>
            <a:schemeClr val="accent2"/>
          </a:solidFill>
          <a:ln/>
        </p:spPr>
        <p:txBody>
          <a:bodyPr/>
          <a:lstStyle/>
          <a:p>
            <a:endParaRPr lang="it-IT" dirty="0"/>
          </a:p>
        </p:txBody>
      </p:sp>
      <p:sp>
        <p:nvSpPr>
          <p:cNvPr id="14" name="freccia sinistra"/>
          <p:cNvSpPr/>
          <p:nvPr/>
        </p:nvSpPr>
        <p:spPr>
          <a:xfrm>
            <a:off x="2377440" y="2990088"/>
            <a:ext cx="228600" cy="292608"/>
          </a:xfrm>
          <a:prstGeom prst="leftArrow">
            <a:avLst/>
          </a:prstGeom>
          <a:solidFill>
            <a:schemeClr val="accent2"/>
          </a:solidFill>
          <a:ln/>
        </p:spPr>
        <p:txBody>
          <a:bodyPr/>
          <a:lstStyle/>
          <a:p>
            <a:endParaRPr lang="it-IT" dirty="0"/>
          </a:p>
        </p:txBody>
      </p:sp>
      <p:sp>
        <p:nvSpPr>
          <p:cNvPr id="15" name="freccia su"/>
          <p:cNvSpPr/>
          <p:nvPr/>
        </p:nvSpPr>
        <p:spPr>
          <a:xfrm>
            <a:off x="1280160" y="2057400"/>
            <a:ext cx="292608" cy="594360"/>
          </a:xfrm>
          <a:prstGeom prst="upArrow">
            <a:avLst/>
          </a:prstGeom>
          <a:solidFill>
            <a:schemeClr val="accent2"/>
          </a:solidFill>
          <a:ln/>
        </p:spPr>
        <p:txBody>
          <a:bodyPr/>
          <a:lstStyle/>
          <a:p>
            <a:endParaRPr lang="it-IT" dirty="0"/>
          </a:p>
        </p:txBody>
      </p:sp>
      <p:sp>
        <p:nvSpPr>
          <p:cNvPr id="16" name="Text 13"/>
          <p:cNvSpPr txBox="1"/>
          <p:nvPr/>
        </p:nvSpPr>
        <p:spPr>
          <a:xfrm>
            <a:off x="457200" y="3657600"/>
            <a:ext cx="4114800" cy="274320"/>
          </a:xfrm>
          <a:prstGeom prst="rect">
            <a:avLst/>
          </a:prstGeom>
          <a:noFill/>
          <a:ln/>
        </p:spPr>
        <p:txBody>
          <a:bodyPr wrap="square" lIns="0" tIns="0" rIns="0" bIns="0" rtlCol="0" anchor="t"/>
          <a:lstStyle/>
          <a:p>
            <a:pPr marL="0" indent="0">
              <a:buNone/>
            </a:pPr>
            <a:r>
              <a:rPr lang="it-IT" sz="1000" dirty="0">
                <a:solidFill>
                  <a:schemeClr val="accent2"/>
                </a:solidFill>
              </a:rPr>
              <a:t>Fonte: Sharma et al., </a:t>
            </a:r>
            <a:r>
              <a:rPr lang="it-IT" sz="1000" dirty="0" err="1">
                <a:solidFill>
                  <a:schemeClr val="accent2"/>
                </a:solidFill>
              </a:rPr>
              <a:t>Anthropic</a:t>
            </a:r>
            <a:r>
              <a:rPr lang="it-IT" sz="1000" dirty="0">
                <a:solidFill>
                  <a:schemeClr val="accent2"/>
                </a:solidFill>
              </a:rPr>
              <a:t>, 2023</a:t>
            </a:r>
            <a:endParaRPr lang="it-IT" sz="1000" dirty="0"/>
          </a:p>
        </p:txBody>
      </p:sp>
      <p:sp>
        <p:nvSpPr>
          <p:cNvPr id="17" name="scheda Bias di conferma (nostro)"/>
          <p:cNvSpPr/>
          <p:nvPr/>
        </p:nvSpPr>
        <p:spPr>
          <a:xfrm>
            <a:off x="4846320" y="1097280"/>
            <a:ext cx="3840480" cy="1371600"/>
          </a:xfrm>
          <a:prstGeom prst="roundRect">
            <a:avLst>
              <a:gd name="adj" fmla="val 5333"/>
            </a:avLst>
          </a:prstGeom>
          <a:solidFill>
            <a:schemeClr val="bg2"/>
          </a:solidFill>
          <a:ln/>
        </p:spPr>
        <p:txBody>
          <a:bodyPr/>
          <a:lstStyle/>
          <a:p>
            <a:endParaRPr lang="it-IT" dirty="0"/>
          </a:p>
        </p:txBody>
      </p:sp>
      <p:sp>
        <p:nvSpPr>
          <p:cNvPr id="18" name="cerchio FiUser"/>
          <p:cNvSpPr/>
          <p:nvPr/>
        </p:nvSpPr>
        <p:spPr>
          <a:xfrm>
            <a:off x="5029200" y="1280160"/>
            <a:ext cx="457200" cy="457200"/>
          </a:xfrm>
          <a:prstGeom prst="ellipse">
            <a:avLst/>
          </a:prstGeom>
          <a:solidFill>
            <a:schemeClr val="accent1"/>
          </a:solidFill>
          <a:ln/>
        </p:spPr>
        <p:txBody>
          <a:bodyPr/>
          <a:lstStyle/>
          <a:p>
            <a:endParaRPr lang="it-IT" dirty="0"/>
          </a:p>
        </p:txBody>
      </p:sp>
      <p:pic>
        <p:nvPicPr>
          <p:cNvPr id="19" name="Image 0" descr="FiUser"/>
          <p:cNvPicPr>
            <a:picLocks noChangeAspect="1"/>
          </p:cNvPicPr>
          <p:nvPr/>
        </p:nvPicPr>
        <p:blipFill>
          <a:blip r:embed="rId3"/>
          <a:stretch>
            <a:fillRect/>
          </a:stretch>
        </p:blipFill>
        <p:spPr>
          <a:xfrm>
            <a:off x="5143500" y="1394460"/>
            <a:ext cx="228600" cy="228600"/>
          </a:xfrm>
          <a:prstGeom prst="rect">
            <a:avLst/>
          </a:prstGeom>
        </p:spPr>
      </p:pic>
      <p:sp>
        <p:nvSpPr>
          <p:cNvPr id="20" name="Text 16"/>
          <p:cNvSpPr txBox="1"/>
          <p:nvPr/>
        </p:nvSpPr>
        <p:spPr>
          <a:xfrm>
            <a:off x="5623560" y="1280160"/>
            <a:ext cx="2880360" cy="457200"/>
          </a:xfrm>
          <a:prstGeom prst="rect">
            <a:avLst/>
          </a:prstGeom>
          <a:noFill/>
          <a:ln/>
        </p:spPr>
        <p:txBody>
          <a:bodyPr wrap="square" lIns="0" tIns="0" rIns="0" bIns="0" rtlCol="0" anchor="ctr"/>
          <a:lstStyle/>
          <a:p>
            <a:pPr marL="0" indent="0">
              <a:buNone/>
            </a:pPr>
            <a:r>
              <a:rPr lang="it-IT" sz="1500" b="1" dirty="0">
                <a:solidFill>
                  <a:schemeClr val="tx1"/>
                </a:solidFill>
              </a:rPr>
              <a:t>Bias di conferma (nostro)</a:t>
            </a:r>
            <a:endParaRPr lang="it-IT" sz="1500" dirty="0"/>
          </a:p>
        </p:txBody>
      </p:sp>
      <p:sp>
        <p:nvSpPr>
          <p:cNvPr id="21" name="Text 17"/>
          <p:cNvSpPr txBox="1"/>
          <p:nvPr/>
        </p:nvSpPr>
        <p:spPr>
          <a:xfrm>
            <a:off x="5029200" y="1874520"/>
            <a:ext cx="3474720" cy="484632"/>
          </a:xfrm>
          <a:prstGeom prst="rect">
            <a:avLst/>
          </a:prstGeom>
          <a:noFill/>
          <a:ln/>
        </p:spPr>
        <p:txBody>
          <a:bodyPr wrap="square" lIns="0" tIns="0" rIns="0" bIns="0" rtlCol="0" anchor="t"/>
          <a:lstStyle/>
          <a:p>
            <a:pPr marL="0" indent="0">
              <a:buNone/>
            </a:pPr>
            <a:r>
              <a:rPr lang="it-IT" sz="1200" dirty="0">
                <a:solidFill>
                  <a:schemeClr val="tx2"/>
                </a:solidFill>
              </a:rPr>
              <a:t>Notiamo e ricordiamo ciò che conferma quello che già pensiamo.</a:t>
            </a:r>
            <a:endParaRPr lang="it-IT" sz="1200" dirty="0"/>
          </a:p>
        </p:txBody>
      </p:sp>
      <p:sp>
        <p:nvSpPr>
          <p:cNvPr id="22" name="scheda Sycophancy (del sistema)"/>
          <p:cNvSpPr/>
          <p:nvPr/>
        </p:nvSpPr>
        <p:spPr>
          <a:xfrm>
            <a:off x="4846320" y="2651760"/>
            <a:ext cx="3840480" cy="1234440"/>
          </a:xfrm>
          <a:prstGeom prst="roundRect">
            <a:avLst>
              <a:gd name="adj" fmla="val 5926"/>
            </a:avLst>
          </a:prstGeom>
          <a:solidFill>
            <a:schemeClr val="accent6"/>
          </a:solidFill>
          <a:ln/>
        </p:spPr>
        <p:txBody>
          <a:bodyPr/>
          <a:lstStyle/>
          <a:p>
            <a:endParaRPr lang="it-IT" dirty="0"/>
          </a:p>
        </p:txBody>
      </p:sp>
      <p:sp>
        <p:nvSpPr>
          <p:cNvPr id="23" name="cerchio FiThumbsUp"/>
          <p:cNvSpPr/>
          <p:nvPr/>
        </p:nvSpPr>
        <p:spPr>
          <a:xfrm>
            <a:off x="5029200" y="2834640"/>
            <a:ext cx="457200" cy="457200"/>
          </a:xfrm>
          <a:prstGeom prst="ellipse">
            <a:avLst/>
          </a:prstGeom>
          <a:solidFill>
            <a:schemeClr val="accent1"/>
          </a:solidFill>
          <a:ln/>
        </p:spPr>
        <p:txBody>
          <a:bodyPr/>
          <a:lstStyle/>
          <a:p>
            <a:endParaRPr lang="it-IT" dirty="0"/>
          </a:p>
        </p:txBody>
      </p:sp>
      <p:pic>
        <p:nvPicPr>
          <p:cNvPr id="24" name="Image 1" descr="FiThumbsUp"/>
          <p:cNvPicPr>
            <a:picLocks noChangeAspect="1"/>
          </p:cNvPicPr>
          <p:nvPr/>
        </p:nvPicPr>
        <p:blipFill>
          <a:blip r:embed="rId4"/>
          <a:stretch>
            <a:fillRect/>
          </a:stretch>
        </p:blipFill>
        <p:spPr>
          <a:xfrm>
            <a:off x="5143500" y="2948940"/>
            <a:ext cx="228600" cy="228600"/>
          </a:xfrm>
          <a:prstGeom prst="rect">
            <a:avLst/>
          </a:prstGeom>
        </p:spPr>
      </p:pic>
      <p:sp>
        <p:nvSpPr>
          <p:cNvPr id="25" name="Text 20"/>
          <p:cNvSpPr txBox="1"/>
          <p:nvPr/>
        </p:nvSpPr>
        <p:spPr>
          <a:xfrm>
            <a:off x="5623560" y="2834640"/>
            <a:ext cx="2880360" cy="457200"/>
          </a:xfrm>
          <a:prstGeom prst="rect">
            <a:avLst/>
          </a:prstGeom>
          <a:noFill/>
          <a:ln/>
        </p:spPr>
        <p:txBody>
          <a:bodyPr wrap="square" lIns="0" tIns="0" rIns="0" bIns="0" rtlCol="0" anchor="ctr"/>
          <a:lstStyle/>
          <a:p>
            <a:pPr marL="0" indent="0">
              <a:buNone/>
            </a:pPr>
            <a:r>
              <a:rPr lang="it-IT" sz="1500" b="1" dirty="0" err="1">
                <a:solidFill>
                  <a:schemeClr val="tx1"/>
                </a:solidFill>
              </a:rPr>
              <a:t>Sycophancy</a:t>
            </a:r>
            <a:r>
              <a:rPr lang="it-IT" sz="1500" b="1" dirty="0">
                <a:solidFill>
                  <a:schemeClr val="tx1"/>
                </a:solidFill>
              </a:rPr>
              <a:t> (del sistema)</a:t>
            </a:r>
            <a:endParaRPr lang="it-IT" sz="1500" dirty="0"/>
          </a:p>
        </p:txBody>
      </p:sp>
      <p:sp>
        <p:nvSpPr>
          <p:cNvPr id="26" name="Text 21"/>
          <p:cNvSpPr txBox="1"/>
          <p:nvPr/>
        </p:nvSpPr>
        <p:spPr>
          <a:xfrm>
            <a:off x="5029200" y="3429000"/>
            <a:ext cx="3474720" cy="347472"/>
          </a:xfrm>
          <a:prstGeom prst="rect">
            <a:avLst/>
          </a:prstGeom>
          <a:noFill/>
          <a:ln/>
        </p:spPr>
        <p:txBody>
          <a:bodyPr wrap="square" lIns="0" tIns="0" rIns="0" bIns="0" rtlCol="0" anchor="t"/>
          <a:lstStyle/>
          <a:p>
            <a:pPr marL="0" indent="0">
              <a:buNone/>
            </a:pPr>
            <a:r>
              <a:rPr lang="it-IT" sz="1200" dirty="0">
                <a:solidFill>
                  <a:schemeClr val="tx2"/>
                </a:solidFill>
              </a:rPr>
              <a:t>Tende a darci ragione, a lodare troppo, a cambiare una risposta corretta se insistiamo.</a:t>
            </a:r>
            <a:endParaRPr lang="it-IT" sz="1200" dirty="0"/>
          </a:p>
        </p:txBody>
      </p:sp>
      <p:sp>
        <p:nvSpPr>
          <p:cNvPr id="27" name="messaggio"/>
          <p:cNvSpPr/>
          <p:nvPr/>
        </p:nvSpPr>
        <p:spPr>
          <a:xfrm>
            <a:off x="457200" y="4023360"/>
            <a:ext cx="8229600" cy="502920"/>
          </a:xfrm>
          <a:prstGeom prst="roundRect">
            <a:avLst>
              <a:gd name="adj" fmla="val 14545"/>
            </a:avLst>
          </a:prstGeom>
          <a:solidFill>
            <a:schemeClr val="bg2"/>
          </a:solidFill>
          <a:ln/>
        </p:spPr>
        <p:txBody>
          <a:bodyPr/>
          <a:lstStyle/>
          <a:p>
            <a:endParaRPr lang="it-IT" dirty="0"/>
          </a:p>
        </p:txBody>
      </p:sp>
      <p:sp>
        <p:nvSpPr>
          <p:cNvPr id="28" name="Text 23"/>
          <p:cNvSpPr txBox="1"/>
          <p:nvPr/>
        </p:nvSpPr>
        <p:spPr>
          <a:xfrm>
            <a:off x="640080" y="4023360"/>
            <a:ext cx="7863840" cy="502920"/>
          </a:xfrm>
          <a:prstGeom prst="rect">
            <a:avLst/>
          </a:prstGeom>
          <a:noFill/>
          <a:ln/>
        </p:spPr>
        <p:txBody>
          <a:bodyPr wrap="square" lIns="0" tIns="0" rIns="0" bIns="0" rtlCol="0" anchor="ctr"/>
          <a:lstStyle/>
          <a:p>
            <a:pPr marL="0" indent="0">
              <a:buNone/>
            </a:pPr>
            <a:r>
              <a:rPr lang="it-IT" sz="1200" dirty="0">
                <a:solidFill>
                  <a:schemeClr val="tx1"/>
                </a:solidFill>
              </a:rPr>
              <a:t>Per valutare un'ipotesi, chiedere esplicitamente controargomentazioni, alternative ed evidenze contrarie. Quando possibile, presentare il problema senza suggerire la risposta desiderata.</a:t>
            </a:r>
            <a:endParaRPr lang="it-IT"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77</a:t>
            </a:fld>
            <a:endParaRPr lang="it-IT"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it-IT" sz="6000" b="1" dirty="0">
                <a:solidFill>
                  <a:schemeClr val="accent1"/>
                </a:solidFill>
              </a:rPr>
              <a:t>3.5</a:t>
            </a:r>
            <a:endParaRPr lang="it-IT"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it-IT" sz="3200" b="1" dirty="0">
                <a:solidFill>
                  <a:schemeClr val="bg1"/>
                </a:solidFill>
              </a:rPr>
              <a:t>Accuratezza, affidabilità e consistenza</a:t>
            </a:r>
            <a:endParaRPr lang="it-IT"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it-IT" sz="1600" dirty="0">
                <a:solidFill>
                  <a:schemeClr val="accent3"/>
                </a:solidFill>
              </a:rPr>
              <a:t>L'affidabilità non è una proprietà unica e universale di un modello: va valutata per compiti e condizioni d'uso specifici</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78</a:t>
            </a:fld>
            <a:endParaRPr lang="it-IT"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Quattro concetti da distinguere</a:t>
            </a:r>
            <a:endParaRPr lang="it-IT" sz="2600" dirty="0"/>
          </a:p>
        </p:txBody>
      </p:sp>
      <p:sp>
        <p:nvSpPr>
          <p:cNvPr id="4" name="Accuratezza"/>
          <p:cNvSpPr/>
          <p:nvPr/>
        </p:nvSpPr>
        <p:spPr>
          <a:xfrm>
            <a:off x="457200" y="1097280"/>
            <a:ext cx="1920240" cy="1920240"/>
          </a:xfrm>
          <a:prstGeom prst="roundRect">
            <a:avLst>
              <a:gd name="adj" fmla="val 3810"/>
            </a:avLst>
          </a:prstGeom>
          <a:solidFill>
            <a:schemeClr val="bg2"/>
          </a:solidFill>
          <a:ln/>
        </p:spPr>
        <p:txBody>
          <a:bodyPr/>
          <a:lstStyle/>
          <a:p>
            <a:endParaRPr lang="it-IT" dirty="0"/>
          </a:p>
        </p:txBody>
      </p:sp>
      <p:sp>
        <p:nvSpPr>
          <p:cNvPr id="5" name="cerchio FiTarget"/>
          <p:cNvSpPr/>
          <p:nvPr/>
        </p:nvSpPr>
        <p:spPr>
          <a:xfrm>
            <a:off x="621792" y="1261872"/>
            <a:ext cx="438912" cy="438912"/>
          </a:xfrm>
          <a:prstGeom prst="ellipse">
            <a:avLst/>
          </a:prstGeom>
          <a:solidFill>
            <a:schemeClr val="accent1"/>
          </a:solidFill>
          <a:ln/>
        </p:spPr>
        <p:txBody>
          <a:bodyPr/>
          <a:lstStyle/>
          <a:p>
            <a:endParaRPr lang="it-IT" dirty="0"/>
          </a:p>
        </p:txBody>
      </p:sp>
      <p:pic>
        <p:nvPicPr>
          <p:cNvPr id="6" name="Image 0" descr="FiTarget"/>
          <p:cNvPicPr>
            <a:picLocks noChangeAspect="1"/>
          </p:cNvPicPr>
          <p:nvPr/>
        </p:nvPicPr>
        <p:blipFill>
          <a:blip r:embed="rId3"/>
          <a:stretch>
            <a:fillRect/>
          </a:stretch>
        </p:blipFill>
        <p:spPr>
          <a:xfrm>
            <a:off x="731520" y="1371600"/>
            <a:ext cx="219456" cy="219456"/>
          </a:xfrm>
          <a:prstGeom prst="rect">
            <a:avLst/>
          </a:prstGeom>
        </p:spPr>
      </p:pic>
      <p:sp>
        <p:nvSpPr>
          <p:cNvPr id="7" name="Text 3"/>
          <p:cNvSpPr txBox="1"/>
          <p:nvPr/>
        </p:nvSpPr>
        <p:spPr>
          <a:xfrm>
            <a:off x="1170432" y="1225296"/>
            <a:ext cx="1097280" cy="512064"/>
          </a:xfrm>
          <a:prstGeom prst="rect">
            <a:avLst/>
          </a:prstGeom>
          <a:noFill/>
          <a:ln/>
        </p:spPr>
        <p:txBody>
          <a:bodyPr wrap="square" lIns="0" tIns="0" rIns="0" bIns="0" rtlCol="0" anchor="ctr"/>
          <a:lstStyle/>
          <a:p>
            <a:pPr marL="0" indent="0">
              <a:buNone/>
            </a:pPr>
            <a:r>
              <a:rPr lang="it-IT" sz="1400" b="1" dirty="0">
                <a:solidFill>
                  <a:schemeClr val="tx1"/>
                </a:solidFill>
              </a:rPr>
              <a:t>Accuratezza</a:t>
            </a:r>
            <a:endParaRPr lang="it-IT" sz="1400" dirty="0"/>
          </a:p>
        </p:txBody>
      </p:sp>
      <p:sp>
        <p:nvSpPr>
          <p:cNvPr id="8" name="Text 4"/>
          <p:cNvSpPr txBox="1"/>
          <p:nvPr/>
        </p:nvSpPr>
        <p:spPr>
          <a:xfrm>
            <a:off x="621792" y="1810512"/>
            <a:ext cx="1591056" cy="1115568"/>
          </a:xfrm>
          <a:prstGeom prst="rect">
            <a:avLst/>
          </a:prstGeom>
          <a:noFill/>
          <a:ln/>
        </p:spPr>
        <p:txBody>
          <a:bodyPr wrap="square" lIns="0" tIns="0" rIns="0" bIns="0" rtlCol="0" anchor="t"/>
          <a:lstStyle/>
          <a:p>
            <a:pPr marL="0" indent="0">
              <a:buNone/>
            </a:pPr>
            <a:r>
              <a:rPr lang="it-IT" sz="1200" dirty="0">
                <a:solidFill>
                  <a:schemeClr val="tx2"/>
                </a:solidFill>
              </a:rPr>
              <a:t>Quanto spesso il risultato corrisponde alla risposta corretta</a:t>
            </a:r>
            <a:endParaRPr lang="it-IT" sz="1200" dirty="0"/>
          </a:p>
        </p:txBody>
      </p:sp>
      <p:sp>
        <p:nvSpPr>
          <p:cNvPr id="9" name="Affidabilità"/>
          <p:cNvSpPr/>
          <p:nvPr/>
        </p:nvSpPr>
        <p:spPr>
          <a:xfrm>
            <a:off x="2560320" y="1097280"/>
            <a:ext cx="1920240" cy="1920240"/>
          </a:xfrm>
          <a:prstGeom prst="roundRect">
            <a:avLst>
              <a:gd name="adj" fmla="val 3810"/>
            </a:avLst>
          </a:prstGeom>
          <a:solidFill>
            <a:schemeClr val="accent6"/>
          </a:solidFill>
          <a:ln/>
        </p:spPr>
        <p:txBody>
          <a:bodyPr/>
          <a:lstStyle/>
          <a:p>
            <a:endParaRPr lang="it-IT" dirty="0"/>
          </a:p>
        </p:txBody>
      </p:sp>
      <p:sp>
        <p:nvSpPr>
          <p:cNvPr id="10" name="cerchio FiShield"/>
          <p:cNvSpPr/>
          <p:nvPr/>
        </p:nvSpPr>
        <p:spPr>
          <a:xfrm>
            <a:off x="2724912" y="1261872"/>
            <a:ext cx="438912" cy="438912"/>
          </a:xfrm>
          <a:prstGeom prst="ellipse">
            <a:avLst/>
          </a:prstGeom>
          <a:solidFill>
            <a:schemeClr val="accent1"/>
          </a:solidFill>
          <a:ln/>
        </p:spPr>
        <p:txBody>
          <a:bodyPr/>
          <a:lstStyle/>
          <a:p>
            <a:endParaRPr lang="it-IT" dirty="0"/>
          </a:p>
        </p:txBody>
      </p:sp>
      <p:pic>
        <p:nvPicPr>
          <p:cNvPr id="11" name="Image 1" descr="FiShield"/>
          <p:cNvPicPr>
            <a:picLocks noChangeAspect="1"/>
          </p:cNvPicPr>
          <p:nvPr/>
        </p:nvPicPr>
        <p:blipFill>
          <a:blip r:embed="rId4"/>
          <a:stretch>
            <a:fillRect/>
          </a:stretch>
        </p:blipFill>
        <p:spPr>
          <a:xfrm>
            <a:off x="2834640" y="1371600"/>
            <a:ext cx="219456" cy="219456"/>
          </a:xfrm>
          <a:prstGeom prst="rect">
            <a:avLst/>
          </a:prstGeom>
        </p:spPr>
      </p:pic>
      <p:sp>
        <p:nvSpPr>
          <p:cNvPr id="12" name="Text 7"/>
          <p:cNvSpPr txBox="1"/>
          <p:nvPr/>
        </p:nvSpPr>
        <p:spPr>
          <a:xfrm>
            <a:off x="3273552" y="1225296"/>
            <a:ext cx="1097280" cy="512064"/>
          </a:xfrm>
          <a:prstGeom prst="rect">
            <a:avLst/>
          </a:prstGeom>
          <a:noFill/>
          <a:ln/>
        </p:spPr>
        <p:txBody>
          <a:bodyPr wrap="square" lIns="0" tIns="0" rIns="0" bIns="0" rtlCol="0" anchor="ctr"/>
          <a:lstStyle/>
          <a:p>
            <a:pPr marL="0" indent="0">
              <a:buNone/>
            </a:pPr>
            <a:r>
              <a:rPr lang="it-IT" sz="1400" b="1" dirty="0">
                <a:solidFill>
                  <a:schemeClr val="tx1"/>
                </a:solidFill>
              </a:rPr>
              <a:t>Affidabilità</a:t>
            </a:r>
            <a:endParaRPr lang="it-IT" sz="1400" dirty="0"/>
          </a:p>
        </p:txBody>
      </p:sp>
      <p:sp>
        <p:nvSpPr>
          <p:cNvPr id="13" name="Text 8"/>
          <p:cNvSpPr txBox="1"/>
          <p:nvPr/>
        </p:nvSpPr>
        <p:spPr>
          <a:xfrm>
            <a:off x="2724912" y="1810512"/>
            <a:ext cx="1591056" cy="1115568"/>
          </a:xfrm>
          <a:prstGeom prst="rect">
            <a:avLst/>
          </a:prstGeom>
          <a:noFill/>
          <a:ln/>
        </p:spPr>
        <p:txBody>
          <a:bodyPr wrap="square" lIns="0" tIns="0" rIns="0" bIns="0" rtlCol="0" anchor="t"/>
          <a:lstStyle/>
          <a:p>
            <a:pPr marL="0" indent="0">
              <a:buNone/>
            </a:pPr>
            <a:r>
              <a:rPr lang="it-IT" sz="1200" dirty="0">
                <a:solidFill>
                  <a:schemeClr val="tx2"/>
                </a:solidFill>
              </a:rPr>
              <a:t>Qualità adeguata in modo costante, nelle condizioni reali</a:t>
            </a:r>
            <a:endParaRPr lang="it-IT" sz="1200" dirty="0"/>
          </a:p>
        </p:txBody>
      </p:sp>
      <p:sp>
        <p:nvSpPr>
          <p:cNvPr id="14" name="Consistenza"/>
          <p:cNvSpPr/>
          <p:nvPr/>
        </p:nvSpPr>
        <p:spPr>
          <a:xfrm>
            <a:off x="4663440" y="1097280"/>
            <a:ext cx="1920240" cy="1920240"/>
          </a:xfrm>
          <a:prstGeom prst="roundRect">
            <a:avLst>
              <a:gd name="adj" fmla="val 3810"/>
            </a:avLst>
          </a:prstGeom>
          <a:solidFill>
            <a:schemeClr val="bg2"/>
          </a:solidFill>
          <a:ln/>
        </p:spPr>
        <p:txBody>
          <a:bodyPr/>
          <a:lstStyle/>
          <a:p>
            <a:endParaRPr lang="it-IT" dirty="0"/>
          </a:p>
        </p:txBody>
      </p:sp>
      <p:sp>
        <p:nvSpPr>
          <p:cNvPr id="15" name="cerchio FiRepeat"/>
          <p:cNvSpPr/>
          <p:nvPr/>
        </p:nvSpPr>
        <p:spPr>
          <a:xfrm>
            <a:off x="4828032" y="1261872"/>
            <a:ext cx="438912" cy="438912"/>
          </a:xfrm>
          <a:prstGeom prst="ellipse">
            <a:avLst/>
          </a:prstGeom>
          <a:solidFill>
            <a:schemeClr val="accent1"/>
          </a:solidFill>
          <a:ln/>
        </p:spPr>
        <p:txBody>
          <a:bodyPr/>
          <a:lstStyle/>
          <a:p>
            <a:endParaRPr lang="it-IT" dirty="0"/>
          </a:p>
        </p:txBody>
      </p:sp>
      <p:pic>
        <p:nvPicPr>
          <p:cNvPr id="16" name="Image 2" descr="FiRepeat"/>
          <p:cNvPicPr>
            <a:picLocks noChangeAspect="1"/>
          </p:cNvPicPr>
          <p:nvPr/>
        </p:nvPicPr>
        <p:blipFill>
          <a:blip r:embed="rId5"/>
          <a:stretch>
            <a:fillRect/>
          </a:stretch>
        </p:blipFill>
        <p:spPr>
          <a:xfrm>
            <a:off x="4937760" y="1371600"/>
            <a:ext cx="219456" cy="219456"/>
          </a:xfrm>
          <a:prstGeom prst="rect">
            <a:avLst/>
          </a:prstGeom>
        </p:spPr>
      </p:pic>
      <p:sp>
        <p:nvSpPr>
          <p:cNvPr id="17" name="Text 11"/>
          <p:cNvSpPr txBox="1"/>
          <p:nvPr/>
        </p:nvSpPr>
        <p:spPr>
          <a:xfrm>
            <a:off x="5376672" y="1225296"/>
            <a:ext cx="1097280" cy="512064"/>
          </a:xfrm>
          <a:prstGeom prst="rect">
            <a:avLst/>
          </a:prstGeom>
          <a:noFill/>
          <a:ln/>
        </p:spPr>
        <p:txBody>
          <a:bodyPr wrap="square" lIns="0" tIns="0" rIns="0" bIns="0" rtlCol="0" anchor="ctr"/>
          <a:lstStyle/>
          <a:p>
            <a:pPr marL="0" indent="0">
              <a:buNone/>
            </a:pPr>
            <a:r>
              <a:rPr lang="it-IT" sz="1400" b="1" dirty="0">
                <a:solidFill>
                  <a:schemeClr val="tx1"/>
                </a:solidFill>
              </a:rPr>
              <a:t>Consistenza</a:t>
            </a:r>
            <a:endParaRPr lang="it-IT" sz="1400" dirty="0"/>
          </a:p>
        </p:txBody>
      </p:sp>
      <p:sp>
        <p:nvSpPr>
          <p:cNvPr id="18" name="Text 12"/>
          <p:cNvSpPr txBox="1"/>
          <p:nvPr/>
        </p:nvSpPr>
        <p:spPr>
          <a:xfrm>
            <a:off x="4828032" y="1810512"/>
            <a:ext cx="1591056" cy="1115568"/>
          </a:xfrm>
          <a:prstGeom prst="rect">
            <a:avLst/>
          </a:prstGeom>
          <a:noFill/>
          <a:ln/>
        </p:spPr>
        <p:txBody>
          <a:bodyPr wrap="square" lIns="0" tIns="0" rIns="0" bIns="0" rtlCol="0" anchor="t"/>
          <a:lstStyle/>
          <a:p>
            <a:pPr marL="0" indent="0">
              <a:buNone/>
            </a:pPr>
            <a:r>
              <a:rPr lang="it-IT" sz="1200" dirty="0">
                <a:solidFill>
                  <a:schemeClr val="tx2"/>
                </a:solidFill>
              </a:rPr>
              <a:t>Risposte coerenti a richieste simili, senza contraddizioni</a:t>
            </a:r>
            <a:endParaRPr lang="it-IT" sz="1200" dirty="0"/>
          </a:p>
        </p:txBody>
      </p:sp>
      <p:sp>
        <p:nvSpPr>
          <p:cNvPr id="19" name="Utilità"/>
          <p:cNvSpPr/>
          <p:nvPr/>
        </p:nvSpPr>
        <p:spPr>
          <a:xfrm>
            <a:off x="6766560" y="1097280"/>
            <a:ext cx="1920240" cy="1920240"/>
          </a:xfrm>
          <a:prstGeom prst="roundRect">
            <a:avLst>
              <a:gd name="adj" fmla="val 3810"/>
            </a:avLst>
          </a:prstGeom>
          <a:solidFill>
            <a:schemeClr val="bg2"/>
          </a:solidFill>
          <a:ln/>
        </p:spPr>
        <p:txBody>
          <a:bodyPr/>
          <a:lstStyle/>
          <a:p>
            <a:endParaRPr lang="it-IT" dirty="0"/>
          </a:p>
        </p:txBody>
      </p:sp>
      <p:sp>
        <p:nvSpPr>
          <p:cNvPr id="20" name="cerchio FiAward"/>
          <p:cNvSpPr/>
          <p:nvPr/>
        </p:nvSpPr>
        <p:spPr>
          <a:xfrm>
            <a:off x="6931152" y="1261872"/>
            <a:ext cx="438912" cy="438912"/>
          </a:xfrm>
          <a:prstGeom prst="ellipse">
            <a:avLst/>
          </a:prstGeom>
          <a:solidFill>
            <a:schemeClr val="accent1"/>
          </a:solidFill>
          <a:ln/>
        </p:spPr>
        <p:txBody>
          <a:bodyPr/>
          <a:lstStyle/>
          <a:p>
            <a:endParaRPr lang="it-IT" dirty="0"/>
          </a:p>
        </p:txBody>
      </p:sp>
      <p:pic>
        <p:nvPicPr>
          <p:cNvPr id="21" name="Image 3" descr="FiAward"/>
          <p:cNvPicPr>
            <a:picLocks noChangeAspect="1"/>
          </p:cNvPicPr>
          <p:nvPr/>
        </p:nvPicPr>
        <p:blipFill>
          <a:blip r:embed="rId6"/>
          <a:stretch>
            <a:fillRect/>
          </a:stretch>
        </p:blipFill>
        <p:spPr>
          <a:xfrm>
            <a:off x="7040880" y="1371600"/>
            <a:ext cx="219456" cy="219456"/>
          </a:xfrm>
          <a:prstGeom prst="rect">
            <a:avLst/>
          </a:prstGeom>
        </p:spPr>
      </p:pic>
      <p:sp>
        <p:nvSpPr>
          <p:cNvPr id="22" name="Text 15"/>
          <p:cNvSpPr txBox="1"/>
          <p:nvPr/>
        </p:nvSpPr>
        <p:spPr>
          <a:xfrm>
            <a:off x="7479792" y="1225296"/>
            <a:ext cx="1097280" cy="512064"/>
          </a:xfrm>
          <a:prstGeom prst="rect">
            <a:avLst/>
          </a:prstGeom>
          <a:noFill/>
          <a:ln/>
        </p:spPr>
        <p:txBody>
          <a:bodyPr wrap="square" lIns="0" tIns="0" rIns="0" bIns="0" rtlCol="0" anchor="ctr"/>
          <a:lstStyle/>
          <a:p>
            <a:pPr marL="0" indent="0">
              <a:buNone/>
            </a:pPr>
            <a:r>
              <a:rPr lang="it-IT" sz="1400" b="1" dirty="0">
                <a:solidFill>
                  <a:schemeClr val="tx1"/>
                </a:solidFill>
              </a:rPr>
              <a:t>Utilità</a:t>
            </a:r>
            <a:endParaRPr lang="it-IT" sz="1400" dirty="0"/>
          </a:p>
        </p:txBody>
      </p:sp>
      <p:sp>
        <p:nvSpPr>
          <p:cNvPr id="23" name="Text 16"/>
          <p:cNvSpPr txBox="1"/>
          <p:nvPr/>
        </p:nvSpPr>
        <p:spPr>
          <a:xfrm>
            <a:off x="6931152" y="1810512"/>
            <a:ext cx="1591056" cy="1115568"/>
          </a:xfrm>
          <a:prstGeom prst="rect">
            <a:avLst/>
          </a:prstGeom>
          <a:noFill/>
          <a:ln/>
        </p:spPr>
        <p:txBody>
          <a:bodyPr wrap="square" lIns="0" tIns="0" rIns="0" bIns="0" rtlCol="0" anchor="t"/>
          <a:lstStyle/>
          <a:p>
            <a:pPr marL="0" indent="0">
              <a:buNone/>
            </a:pPr>
            <a:r>
              <a:rPr lang="it-IT" sz="1200" dirty="0">
                <a:solidFill>
                  <a:schemeClr val="tx2"/>
                </a:solidFill>
              </a:rPr>
              <a:t>Il valore che il risultato porta a chi lo usa</a:t>
            </a:r>
            <a:endParaRPr lang="it-IT" sz="1200" dirty="0"/>
          </a:p>
        </p:txBody>
      </p:sp>
      <p:sp>
        <p:nvSpPr>
          <p:cNvPr id="24" name="Text 17"/>
          <p:cNvSpPr txBox="1"/>
          <p:nvPr/>
        </p:nvSpPr>
        <p:spPr>
          <a:xfrm>
            <a:off x="457200" y="3200400"/>
            <a:ext cx="8229600" cy="274320"/>
          </a:xfrm>
          <a:prstGeom prst="rect">
            <a:avLst/>
          </a:prstGeom>
          <a:noFill/>
          <a:ln/>
        </p:spPr>
        <p:txBody>
          <a:bodyPr wrap="square" lIns="0" tIns="0" rIns="0" bIns="0" rtlCol="0" anchor="t"/>
          <a:lstStyle/>
          <a:p>
            <a:pPr marL="0" indent="0">
              <a:buNone/>
            </a:pPr>
            <a:r>
              <a:rPr lang="it-IT" sz="1400" b="1" dirty="0">
                <a:solidFill>
                  <a:schemeClr val="tx1"/>
                </a:solidFill>
              </a:rPr>
              <a:t>Non coincidono</a:t>
            </a:r>
            <a:endParaRPr lang="it-IT" sz="1400" dirty="0"/>
          </a:p>
        </p:txBody>
      </p:sp>
      <p:sp>
        <p:nvSpPr>
          <p:cNvPr id="25" name="Accurato al 90% ma poco affidabile, se non sappiamo quando sbaglia"/>
          <p:cNvSpPr/>
          <p:nvPr/>
        </p:nvSpPr>
        <p:spPr>
          <a:xfrm>
            <a:off x="457200" y="3566160"/>
            <a:ext cx="2615184" cy="960120"/>
          </a:xfrm>
          <a:prstGeom prst="roundRect">
            <a:avLst>
              <a:gd name="adj" fmla="val 7619"/>
            </a:avLst>
          </a:prstGeom>
          <a:solidFill>
            <a:schemeClr val="bg2"/>
          </a:solidFill>
          <a:ln/>
        </p:spPr>
        <p:txBody>
          <a:bodyPr/>
          <a:lstStyle/>
          <a:p>
            <a:endParaRPr lang="it-IT" dirty="0"/>
          </a:p>
        </p:txBody>
      </p:sp>
      <p:sp>
        <p:nvSpPr>
          <p:cNvPr id="26" name="Text 19"/>
          <p:cNvSpPr txBox="1"/>
          <p:nvPr/>
        </p:nvSpPr>
        <p:spPr>
          <a:xfrm>
            <a:off x="594360" y="3566160"/>
            <a:ext cx="2340864" cy="960120"/>
          </a:xfrm>
          <a:prstGeom prst="rect">
            <a:avLst/>
          </a:prstGeom>
          <a:noFill/>
          <a:ln/>
        </p:spPr>
        <p:txBody>
          <a:bodyPr wrap="square" lIns="0" tIns="0" rIns="0" bIns="0" rtlCol="0" anchor="ctr"/>
          <a:lstStyle/>
          <a:p>
            <a:pPr marL="0" indent="0" algn="just">
              <a:buNone/>
            </a:pPr>
            <a:r>
              <a:rPr lang="it-IT" sz="1200" dirty="0">
                <a:solidFill>
                  <a:schemeClr val="tx1"/>
                </a:solidFill>
              </a:rPr>
              <a:t>Accurato al 90% nei test, ma non necessariamente affidabile in ogni situazione operativa.</a:t>
            </a:r>
            <a:endParaRPr lang="it-IT" sz="1200" dirty="0"/>
          </a:p>
        </p:txBody>
      </p:sp>
      <p:sp>
        <p:nvSpPr>
          <p:cNvPr id="27" name="Molto consistente, ma sistematicamente sbagliato"/>
          <p:cNvSpPr/>
          <p:nvPr/>
        </p:nvSpPr>
        <p:spPr>
          <a:xfrm>
            <a:off x="3264408" y="3566160"/>
            <a:ext cx="2615184" cy="960120"/>
          </a:xfrm>
          <a:prstGeom prst="roundRect">
            <a:avLst>
              <a:gd name="adj" fmla="val 7619"/>
            </a:avLst>
          </a:prstGeom>
          <a:solidFill>
            <a:schemeClr val="bg2"/>
          </a:solidFill>
          <a:ln/>
        </p:spPr>
        <p:txBody>
          <a:bodyPr/>
          <a:lstStyle/>
          <a:p>
            <a:endParaRPr lang="it-IT" dirty="0"/>
          </a:p>
        </p:txBody>
      </p:sp>
      <p:sp>
        <p:nvSpPr>
          <p:cNvPr id="28" name="Text 21"/>
          <p:cNvSpPr txBox="1"/>
          <p:nvPr/>
        </p:nvSpPr>
        <p:spPr>
          <a:xfrm>
            <a:off x="3401568" y="3566160"/>
            <a:ext cx="2340864" cy="960120"/>
          </a:xfrm>
          <a:prstGeom prst="rect">
            <a:avLst/>
          </a:prstGeom>
          <a:noFill/>
          <a:ln/>
        </p:spPr>
        <p:txBody>
          <a:bodyPr wrap="square" lIns="0" tIns="0" rIns="0" bIns="0" rtlCol="0" anchor="ctr"/>
          <a:lstStyle/>
          <a:p>
            <a:pPr marL="0" indent="0">
              <a:buNone/>
            </a:pPr>
            <a:r>
              <a:rPr lang="it-IT" sz="1200" dirty="0">
                <a:solidFill>
                  <a:schemeClr val="tx1"/>
                </a:solidFill>
              </a:rPr>
              <a:t>Molto consistente, ma sistematicamente sbagliato</a:t>
            </a:r>
            <a:endParaRPr lang="it-IT" sz="1200" dirty="0"/>
          </a:p>
        </p:txBody>
      </p:sp>
      <p:sp>
        <p:nvSpPr>
          <p:cNvPr id="29" name="Imperfetto ma utile: una bozza facile da correggere"/>
          <p:cNvSpPr/>
          <p:nvPr/>
        </p:nvSpPr>
        <p:spPr>
          <a:xfrm>
            <a:off x="6071616" y="3566160"/>
            <a:ext cx="2615184" cy="960120"/>
          </a:xfrm>
          <a:prstGeom prst="roundRect">
            <a:avLst>
              <a:gd name="adj" fmla="val 7619"/>
            </a:avLst>
          </a:prstGeom>
          <a:solidFill>
            <a:schemeClr val="bg2"/>
          </a:solidFill>
          <a:ln/>
        </p:spPr>
        <p:txBody>
          <a:bodyPr/>
          <a:lstStyle/>
          <a:p>
            <a:endParaRPr lang="it-IT" dirty="0"/>
          </a:p>
        </p:txBody>
      </p:sp>
      <p:sp>
        <p:nvSpPr>
          <p:cNvPr id="30" name="Text 23"/>
          <p:cNvSpPr txBox="1"/>
          <p:nvPr/>
        </p:nvSpPr>
        <p:spPr>
          <a:xfrm>
            <a:off x="6208776" y="3566160"/>
            <a:ext cx="2340864" cy="960120"/>
          </a:xfrm>
          <a:prstGeom prst="rect">
            <a:avLst/>
          </a:prstGeom>
          <a:noFill/>
          <a:ln/>
        </p:spPr>
        <p:txBody>
          <a:bodyPr wrap="square" lIns="0" tIns="0" rIns="0" bIns="0" rtlCol="0" anchor="ctr"/>
          <a:lstStyle/>
          <a:p>
            <a:pPr marL="0" indent="0">
              <a:buNone/>
            </a:pPr>
            <a:r>
              <a:rPr lang="it-IT" sz="1200" dirty="0">
                <a:solidFill>
                  <a:schemeClr val="tx1"/>
                </a:solidFill>
              </a:rPr>
              <a:t>Imperfetto ma utile: una bozza facile da correggere</a:t>
            </a:r>
            <a:endParaRPr lang="it-IT"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79</a:t>
            </a:fld>
            <a:endParaRPr lang="it-IT"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Prestazioni diverse in base al compito</a:t>
            </a:r>
            <a:endParaRPr lang="it-IT" sz="2600" dirty="0"/>
          </a:p>
        </p:txBody>
      </p:sp>
      <p:sp>
        <p:nvSpPr>
          <p:cNvPr id="4" name="Text 1"/>
          <p:cNvSpPr txBox="1"/>
          <p:nvPr/>
        </p:nvSpPr>
        <p:spPr>
          <a:xfrm>
            <a:off x="457200" y="1188720"/>
            <a:ext cx="3108960" cy="384048"/>
          </a:xfrm>
          <a:prstGeom prst="rect">
            <a:avLst/>
          </a:prstGeom>
          <a:noFill/>
          <a:ln/>
        </p:spPr>
        <p:txBody>
          <a:bodyPr wrap="square" lIns="0" tIns="0" rIns="0" bIns="0" rtlCol="0" anchor="ctr"/>
          <a:lstStyle/>
          <a:p>
            <a:pPr marL="0" indent="0">
              <a:buNone/>
            </a:pPr>
            <a:r>
              <a:rPr lang="it-IT" sz="1300" dirty="0">
                <a:solidFill>
                  <a:schemeClr val="tx1"/>
                </a:solidFill>
              </a:rPr>
              <a:t>Riformulare e correggere testi</a:t>
            </a:r>
            <a:endParaRPr lang="it-IT" sz="1300" dirty="0"/>
          </a:p>
        </p:txBody>
      </p:sp>
      <p:sp>
        <p:nvSpPr>
          <p:cNvPr id="5" name="barra base"/>
          <p:cNvSpPr/>
          <p:nvPr/>
        </p:nvSpPr>
        <p:spPr>
          <a:xfrm>
            <a:off x="3657600" y="1280160"/>
            <a:ext cx="2743200" cy="219456"/>
          </a:xfrm>
          <a:prstGeom prst="rect">
            <a:avLst/>
          </a:prstGeom>
          <a:solidFill>
            <a:schemeClr val="bg2"/>
          </a:solidFill>
          <a:ln/>
        </p:spPr>
        <p:txBody>
          <a:bodyPr/>
          <a:lstStyle/>
          <a:p>
            <a:endParaRPr lang="it-IT" dirty="0"/>
          </a:p>
        </p:txBody>
      </p:sp>
      <p:sp>
        <p:nvSpPr>
          <p:cNvPr id="6" name="barra profilo"/>
          <p:cNvSpPr/>
          <p:nvPr/>
        </p:nvSpPr>
        <p:spPr>
          <a:xfrm>
            <a:off x="3657600" y="1280160"/>
            <a:ext cx="2606040" cy="219456"/>
          </a:xfrm>
          <a:prstGeom prst="rect">
            <a:avLst/>
          </a:prstGeom>
          <a:solidFill>
            <a:schemeClr val="accent1"/>
          </a:solidFill>
          <a:ln/>
        </p:spPr>
        <p:txBody>
          <a:bodyPr/>
          <a:lstStyle/>
          <a:p>
            <a:endParaRPr lang="it-IT" dirty="0"/>
          </a:p>
        </p:txBody>
      </p:sp>
      <p:sp>
        <p:nvSpPr>
          <p:cNvPr id="7" name="Text 4"/>
          <p:cNvSpPr txBox="1"/>
          <p:nvPr/>
        </p:nvSpPr>
        <p:spPr>
          <a:xfrm>
            <a:off x="457200" y="1664208"/>
            <a:ext cx="3108960" cy="384048"/>
          </a:xfrm>
          <a:prstGeom prst="rect">
            <a:avLst/>
          </a:prstGeom>
          <a:noFill/>
          <a:ln/>
        </p:spPr>
        <p:txBody>
          <a:bodyPr wrap="square" lIns="0" tIns="0" rIns="0" bIns="0" rtlCol="0" anchor="ctr"/>
          <a:lstStyle/>
          <a:p>
            <a:pPr marL="0" indent="0">
              <a:buNone/>
            </a:pPr>
            <a:r>
              <a:rPr lang="it-IT" sz="1300" dirty="0">
                <a:solidFill>
                  <a:schemeClr val="tx1"/>
                </a:solidFill>
              </a:rPr>
              <a:t>Sintetizzare e tradurre</a:t>
            </a:r>
            <a:endParaRPr lang="it-IT" sz="1300" dirty="0"/>
          </a:p>
        </p:txBody>
      </p:sp>
      <p:sp>
        <p:nvSpPr>
          <p:cNvPr id="8" name="barra base"/>
          <p:cNvSpPr/>
          <p:nvPr/>
        </p:nvSpPr>
        <p:spPr>
          <a:xfrm>
            <a:off x="3657600" y="1755648"/>
            <a:ext cx="2743200" cy="219456"/>
          </a:xfrm>
          <a:prstGeom prst="rect">
            <a:avLst/>
          </a:prstGeom>
          <a:solidFill>
            <a:schemeClr val="bg2"/>
          </a:solidFill>
          <a:ln/>
        </p:spPr>
        <p:txBody>
          <a:bodyPr/>
          <a:lstStyle/>
          <a:p>
            <a:endParaRPr lang="it-IT" dirty="0"/>
          </a:p>
        </p:txBody>
      </p:sp>
      <p:sp>
        <p:nvSpPr>
          <p:cNvPr id="9" name="barra profilo"/>
          <p:cNvSpPr/>
          <p:nvPr/>
        </p:nvSpPr>
        <p:spPr>
          <a:xfrm>
            <a:off x="3657600" y="1755648"/>
            <a:ext cx="2331720" cy="219456"/>
          </a:xfrm>
          <a:prstGeom prst="rect">
            <a:avLst/>
          </a:prstGeom>
          <a:solidFill>
            <a:schemeClr val="accent1"/>
          </a:solidFill>
          <a:ln/>
        </p:spPr>
        <p:txBody>
          <a:bodyPr/>
          <a:lstStyle/>
          <a:p>
            <a:endParaRPr lang="it-IT" dirty="0"/>
          </a:p>
        </p:txBody>
      </p:sp>
      <p:sp>
        <p:nvSpPr>
          <p:cNvPr id="10" name="Text 7"/>
          <p:cNvSpPr txBox="1"/>
          <p:nvPr/>
        </p:nvSpPr>
        <p:spPr>
          <a:xfrm>
            <a:off x="457200" y="2139696"/>
            <a:ext cx="3108960" cy="384048"/>
          </a:xfrm>
          <a:prstGeom prst="rect">
            <a:avLst/>
          </a:prstGeom>
          <a:noFill/>
          <a:ln/>
        </p:spPr>
        <p:txBody>
          <a:bodyPr wrap="square" lIns="0" tIns="0" rIns="0" bIns="0" rtlCol="0" anchor="ctr"/>
          <a:lstStyle/>
          <a:p>
            <a:pPr marL="0" indent="0">
              <a:buNone/>
            </a:pPr>
            <a:r>
              <a:rPr lang="it-IT" sz="1300" dirty="0">
                <a:solidFill>
                  <a:schemeClr val="tx1"/>
                </a:solidFill>
              </a:rPr>
              <a:t>Estrarre dati da documenti strutturati</a:t>
            </a:r>
            <a:endParaRPr lang="it-IT" sz="1300" dirty="0"/>
          </a:p>
        </p:txBody>
      </p:sp>
      <p:sp>
        <p:nvSpPr>
          <p:cNvPr id="11" name="barra base"/>
          <p:cNvSpPr/>
          <p:nvPr/>
        </p:nvSpPr>
        <p:spPr>
          <a:xfrm>
            <a:off x="3657600" y="2231136"/>
            <a:ext cx="2743200" cy="219456"/>
          </a:xfrm>
          <a:prstGeom prst="rect">
            <a:avLst/>
          </a:prstGeom>
          <a:solidFill>
            <a:schemeClr val="bg2"/>
          </a:solidFill>
          <a:ln/>
        </p:spPr>
        <p:txBody>
          <a:bodyPr/>
          <a:lstStyle/>
          <a:p>
            <a:endParaRPr lang="it-IT" dirty="0"/>
          </a:p>
        </p:txBody>
      </p:sp>
      <p:sp>
        <p:nvSpPr>
          <p:cNvPr id="12" name="barra profilo"/>
          <p:cNvSpPr/>
          <p:nvPr/>
        </p:nvSpPr>
        <p:spPr>
          <a:xfrm>
            <a:off x="3657600" y="2231136"/>
            <a:ext cx="2057400" cy="219456"/>
          </a:xfrm>
          <a:prstGeom prst="rect">
            <a:avLst/>
          </a:prstGeom>
          <a:solidFill>
            <a:schemeClr val="accent1"/>
          </a:solidFill>
          <a:ln/>
        </p:spPr>
        <p:txBody>
          <a:bodyPr/>
          <a:lstStyle/>
          <a:p>
            <a:endParaRPr lang="it-IT" dirty="0"/>
          </a:p>
        </p:txBody>
      </p:sp>
      <p:sp>
        <p:nvSpPr>
          <p:cNvPr id="13" name="Text 10"/>
          <p:cNvSpPr txBox="1"/>
          <p:nvPr/>
        </p:nvSpPr>
        <p:spPr>
          <a:xfrm>
            <a:off x="457200" y="2615184"/>
            <a:ext cx="3108960" cy="384048"/>
          </a:xfrm>
          <a:prstGeom prst="rect">
            <a:avLst/>
          </a:prstGeom>
          <a:noFill/>
          <a:ln/>
        </p:spPr>
        <p:txBody>
          <a:bodyPr wrap="square" lIns="0" tIns="0" rIns="0" bIns="0" rtlCol="0" anchor="ctr"/>
          <a:lstStyle/>
          <a:p>
            <a:pPr marL="0" indent="0">
              <a:buNone/>
            </a:pPr>
            <a:r>
              <a:rPr lang="it-IT" sz="1300" dirty="0">
                <a:solidFill>
                  <a:schemeClr val="tx1"/>
                </a:solidFill>
              </a:rPr>
              <a:t>Calcoli complessi senza strumenti</a:t>
            </a:r>
            <a:endParaRPr lang="it-IT" sz="1300" dirty="0"/>
          </a:p>
        </p:txBody>
      </p:sp>
      <p:sp>
        <p:nvSpPr>
          <p:cNvPr id="14" name="barra base"/>
          <p:cNvSpPr/>
          <p:nvPr/>
        </p:nvSpPr>
        <p:spPr>
          <a:xfrm>
            <a:off x="3657600" y="2706624"/>
            <a:ext cx="2743200" cy="219456"/>
          </a:xfrm>
          <a:prstGeom prst="rect">
            <a:avLst/>
          </a:prstGeom>
          <a:solidFill>
            <a:schemeClr val="bg2"/>
          </a:solidFill>
          <a:ln/>
        </p:spPr>
        <p:txBody>
          <a:bodyPr/>
          <a:lstStyle/>
          <a:p>
            <a:endParaRPr lang="it-IT" dirty="0"/>
          </a:p>
        </p:txBody>
      </p:sp>
      <p:sp>
        <p:nvSpPr>
          <p:cNvPr id="15" name="barra profilo"/>
          <p:cNvSpPr/>
          <p:nvPr/>
        </p:nvSpPr>
        <p:spPr>
          <a:xfrm>
            <a:off x="3657600" y="2706624"/>
            <a:ext cx="1234440" cy="219456"/>
          </a:xfrm>
          <a:prstGeom prst="rect">
            <a:avLst/>
          </a:prstGeom>
          <a:solidFill>
            <a:schemeClr val="accent5"/>
          </a:solidFill>
          <a:ln/>
        </p:spPr>
        <p:txBody>
          <a:bodyPr/>
          <a:lstStyle/>
          <a:p>
            <a:endParaRPr lang="it-IT" dirty="0"/>
          </a:p>
        </p:txBody>
      </p:sp>
      <p:sp>
        <p:nvSpPr>
          <p:cNvPr id="16" name="Text 13"/>
          <p:cNvSpPr txBox="1"/>
          <p:nvPr/>
        </p:nvSpPr>
        <p:spPr>
          <a:xfrm>
            <a:off x="457200" y="3090672"/>
            <a:ext cx="3108960" cy="384048"/>
          </a:xfrm>
          <a:prstGeom prst="rect">
            <a:avLst/>
          </a:prstGeom>
          <a:noFill/>
          <a:ln/>
        </p:spPr>
        <p:txBody>
          <a:bodyPr wrap="square" lIns="0" tIns="0" rIns="0" bIns="0" rtlCol="0" anchor="ctr"/>
          <a:lstStyle/>
          <a:p>
            <a:pPr marL="0" indent="0">
              <a:buNone/>
            </a:pPr>
            <a:r>
              <a:rPr lang="it-IT" sz="1300" dirty="0">
                <a:solidFill>
                  <a:schemeClr val="tx1"/>
                </a:solidFill>
              </a:rPr>
              <a:t>Fatti specifici senza fonti</a:t>
            </a:r>
            <a:endParaRPr lang="it-IT" sz="1300" dirty="0"/>
          </a:p>
        </p:txBody>
      </p:sp>
      <p:sp>
        <p:nvSpPr>
          <p:cNvPr id="17" name="barra base"/>
          <p:cNvSpPr/>
          <p:nvPr/>
        </p:nvSpPr>
        <p:spPr>
          <a:xfrm>
            <a:off x="3657600" y="3182112"/>
            <a:ext cx="2743200" cy="219456"/>
          </a:xfrm>
          <a:prstGeom prst="rect">
            <a:avLst/>
          </a:prstGeom>
          <a:solidFill>
            <a:schemeClr val="bg2"/>
          </a:solidFill>
          <a:ln/>
        </p:spPr>
        <p:txBody>
          <a:bodyPr/>
          <a:lstStyle/>
          <a:p>
            <a:endParaRPr lang="it-IT" dirty="0"/>
          </a:p>
        </p:txBody>
      </p:sp>
      <p:sp>
        <p:nvSpPr>
          <p:cNvPr id="18" name="barra profilo"/>
          <p:cNvSpPr/>
          <p:nvPr/>
        </p:nvSpPr>
        <p:spPr>
          <a:xfrm>
            <a:off x="3657600" y="3182112"/>
            <a:ext cx="1097280" cy="219456"/>
          </a:xfrm>
          <a:prstGeom prst="rect">
            <a:avLst/>
          </a:prstGeom>
          <a:solidFill>
            <a:schemeClr val="accent5"/>
          </a:solidFill>
          <a:ln/>
        </p:spPr>
        <p:txBody>
          <a:bodyPr/>
          <a:lstStyle/>
          <a:p>
            <a:endParaRPr lang="it-IT" dirty="0"/>
          </a:p>
        </p:txBody>
      </p:sp>
      <p:sp>
        <p:nvSpPr>
          <p:cNvPr id="19" name="Text 16"/>
          <p:cNvSpPr txBox="1"/>
          <p:nvPr/>
        </p:nvSpPr>
        <p:spPr>
          <a:xfrm>
            <a:off x="457200" y="3566160"/>
            <a:ext cx="3108960" cy="384048"/>
          </a:xfrm>
          <a:prstGeom prst="rect">
            <a:avLst/>
          </a:prstGeom>
          <a:noFill/>
          <a:ln/>
        </p:spPr>
        <p:txBody>
          <a:bodyPr wrap="square" lIns="0" tIns="0" rIns="0" bIns="0" rtlCol="0" anchor="ctr"/>
          <a:lstStyle/>
          <a:p>
            <a:pPr marL="0" indent="0">
              <a:buNone/>
            </a:pPr>
            <a:r>
              <a:rPr lang="it-IT" sz="1300" dirty="0">
                <a:solidFill>
                  <a:schemeClr val="tx1"/>
                </a:solidFill>
              </a:rPr>
              <a:t>Conteggi precisi (parole, lettere)</a:t>
            </a:r>
            <a:endParaRPr lang="it-IT" sz="1300" dirty="0"/>
          </a:p>
        </p:txBody>
      </p:sp>
      <p:sp>
        <p:nvSpPr>
          <p:cNvPr id="20" name="barra base"/>
          <p:cNvSpPr/>
          <p:nvPr/>
        </p:nvSpPr>
        <p:spPr>
          <a:xfrm>
            <a:off x="3657600" y="3657600"/>
            <a:ext cx="2743200" cy="219456"/>
          </a:xfrm>
          <a:prstGeom prst="rect">
            <a:avLst/>
          </a:prstGeom>
          <a:solidFill>
            <a:schemeClr val="bg2"/>
          </a:solidFill>
          <a:ln/>
        </p:spPr>
        <p:txBody>
          <a:bodyPr/>
          <a:lstStyle/>
          <a:p>
            <a:endParaRPr lang="it-IT" dirty="0"/>
          </a:p>
        </p:txBody>
      </p:sp>
      <p:sp>
        <p:nvSpPr>
          <p:cNvPr id="21" name="barra profilo"/>
          <p:cNvSpPr/>
          <p:nvPr/>
        </p:nvSpPr>
        <p:spPr>
          <a:xfrm>
            <a:off x="3657600" y="3657600"/>
            <a:ext cx="960120" cy="219456"/>
          </a:xfrm>
          <a:prstGeom prst="rect">
            <a:avLst/>
          </a:prstGeom>
          <a:solidFill>
            <a:schemeClr val="accent5"/>
          </a:solidFill>
          <a:ln/>
        </p:spPr>
        <p:txBody>
          <a:bodyPr/>
          <a:lstStyle/>
          <a:p>
            <a:endParaRPr lang="it-IT" dirty="0"/>
          </a:p>
        </p:txBody>
      </p:sp>
      <p:sp>
        <p:nvSpPr>
          <p:cNvPr id="22" name="Text 19"/>
          <p:cNvSpPr txBox="1"/>
          <p:nvPr/>
        </p:nvSpPr>
        <p:spPr>
          <a:xfrm>
            <a:off x="457200" y="4069080"/>
            <a:ext cx="5943600" cy="274320"/>
          </a:xfrm>
          <a:prstGeom prst="rect">
            <a:avLst/>
          </a:prstGeom>
          <a:noFill/>
          <a:ln/>
        </p:spPr>
        <p:txBody>
          <a:bodyPr wrap="square" lIns="0" tIns="0" rIns="0" bIns="0" rtlCol="0" anchor="t"/>
          <a:lstStyle/>
          <a:p>
            <a:pPr marL="0" indent="0">
              <a:buNone/>
            </a:pPr>
            <a:r>
              <a:rPr lang="it-IT" sz="1000" i="1" dirty="0">
                <a:solidFill>
                  <a:schemeClr val="accent2"/>
                </a:solidFill>
              </a:rPr>
              <a:t>Profilo qualitativo di un ipotetico assistente, a scopo illustrativo</a:t>
            </a:r>
            <a:endParaRPr lang="it-IT" sz="1000" dirty="0"/>
          </a:p>
        </p:txBody>
      </p:sp>
      <p:sp>
        <p:nvSpPr>
          <p:cNvPr id="23" name="messaggio profilo"/>
          <p:cNvSpPr/>
          <p:nvPr/>
        </p:nvSpPr>
        <p:spPr>
          <a:xfrm>
            <a:off x="6675120" y="1097280"/>
            <a:ext cx="2011680" cy="3429000"/>
          </a:xfrm>
          <a:prstGeom prst="roundRect">
            <a:avLst>
              <a:gd name="adj" fmla="val 3636"/>
            </a:avLst>
          </a:prstGeom>
          <a:solidFill>
            <a:schemeClr val="tx1"/>
          </a:solidFill>
          <a:ln/>
        </p:spPr>
        <p:txBody>
          <a:bodyPr/>
          <a:lstStyle/>
          <a:p>
            <a:endParaRPr lang="it-IT" dirty="0"/>
          </a:p>
        </p:txBody>
      </p:sp>
      <p:sp>
        <p:nvSpPr>
          <p:cNvPr id="24" name="Text 21"/>
          <p:cNvSpPr txBox="1"/>
          <p:nvPr/>
        </p:nvSpPr>
        <p:spPr>
          <a:xfrm>
            <a:off x="6812280" y="1188720"/>
            <a:ext cx="1783080" cy="3246120"/>
          </a:xfrm>
          <a:prstGeom prst="rect">
            <a:avLst/>
          </a:prstGeom>
          <a:noFill/>
          <a:ln/>
        </p:spPr>
        <p:txBody>
          <a:bodyPr wrap="square" lIns="0" tIns="0" rIns="0" bIns="0" rtlCol="0" anchor="ctr"/>
          <a:lstStyle/>
          <a:p>
            <a:pPr marL="0" indent="0">
              <a:buNone/>
            </a:pPr>
            <a:r>
              <a:rPr lang="it-IT" sz="1400" dirty="0">
                <a:solidFill>
                  <a:schemeClr val="bg1"/>
                </a:solidFill>
              </a:rPr>
              <a:t>Non "questo modello è affidabile", ma "è affidabile per questo compito, in queste condizioni".</a:t>
            </a:r>
            <a:endParaRPr lang="it-IT"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80</a:t>
            </a:fld>
            <a:endParaRPr lang="it-IT"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Come verificare il valore e l’affidabilità </a:t>
            </a:r>
            <a:r>
              <a:rPr lang="it-IT" sz="2600" b="1" dirty="0" err="1">
                <a:solidFill>
                  <a:schemeClr val="tx1"/>
                </a:solidFill>
              </a:rPr>
              <a:t>dell’Ai</a:t>
            </a:r>
            <a:r>
              <a:rPr lang="it-IT" sz="2600" b="1" dirty="0">
                <a:solidFill>
                  <a:schemeClr val="tx1"/>
                </a:solidFill>
              </a:rPr>
              <a:t> nei casi reali</a:t>
            </a:r>
            <a:endParaRPr lang="it-IT" sz="2600" dirty="0"/>
          </a:p>
        </p:txBody>
      </p:sp>
      <p:sp>
        <p:nvSpPr>
          <p:cNvPr id="4" name="Definire il compito"/>
          <p:cNvSpPr/>
          <p:nvPr/>
        </p:nvSpPr>
        <p:spPr>
          <a:xfrm>
            <a:off x="457200" y="1143000"/>
            <a:ext cx="1536192" cy="2148840"/>
          </a:xfrm>
          <a:prstGeom prst="roundRect">
            <a:avLst>
              <a:gd name="adj" fmla="val 4762"/>
            </a:avLst>
          </a:prstGeom>
          <a:solidFill>
            <a:schemeClr val="bg2"/>
          </a:solidFill>
          <a:ln/>
        </p:spPr>
        <p:txBody>
          <a:bodyPr/>
          <a:lstStyle/>
          <a:p>
            <a:endParaRPr lang="it-IT" dirty="0"/>
          </a:p>
        </p:txBody>
      </p:sp>
      <p:sp>
        <p:nvSpPr>
          <p:cNvPr id="5" name="cerchio FiTarget"/>
          <p:cNvSpPr/>
          <p:nvPr/>
        </p:nvSpPr>
        <p:spPr>
          <a:xfrm>
            <a:off x="969264" y="1280160"/>
            <a:ext cx="512064" cy="512064"/>
          </a:xfrm>
          <a:prstGeom prst="ellipse">
            <a:avLst/>
          </a:prstGeom>
          <a:solidFill>
            <a:schemeClr val="accent1"/>
          </a:solidFill>
          <a:ln/>
        </p:spPr>
        <p:txBody>
          <a:bodyPr/>
          <a:lstStyle/>
          <a:p>
            <a:endParaRPr lang="it-IT" dirty="0"/>
          </a:p>
        </p:txBody>
      </p:sp>
      <p:pic>
        <p:nvPicPr>
          <p:cNvPr id="6" name="Image 0" descr="FiTarget"/>
          <p:cNvPicPr>
            <a:picLocks noChangeAspect="1"/>
          </p:cNvPicPr>
          <p:nvPr/>
        </p:nvPicPr>
        <p:blipFill>
          <a:blip r:embed="rId3"/>
          <a:stretch>
            <a:fillRect/>
          </a:stretch>
        </p:blipFill>
        <p:spPr>
          <a:xfrm>
            <a:off x="1097280" y="1408176"/>
            <a:ext cx="256032" cy="256032"/>
          </a:xfrm>
          <a:prstGeom prst="rect">
            <a:avLst/>
          </a:prstGeom>
        </p:spPr>
      </p:pic>
      <p:sp>
        <p:nvSpPr>
          <p:cNvPr id="7" name="Text 3"/>
          <p:cNvSpPr txBox="1"/>
          <p:nvPr/>
        </p:nvSpPr>
        <p:spPr>
          <a:xfrm>
            <a:off x="530352" y="1874520"/>
            <a:ext cx="1389888" cy="548640"/>
          </a:xfrm>
          <a:prstGeom prst="rect">
            <a:avLst/>
          </a:prstGeom>
          <a:noFill/>
          <a:ln/>
        </p:spPr>
        <p:txBody>
          <a:bodyPr wrap="square" lIns="0" tIns="0" rIns="0" bIns="0" rtlCol="0" anchor="ctr"/>
          <a:lstStyle/>
          <a:p>
            <a:pPr marL="0" indent="0" algn="ctr">
              <a:buNone/>
            </a:pPr>
            <a:r>
              <a:rPr lang="it-IT" sz="1300" b="1" dirty="0">
                <a:solidFill>
                  <a:schemeClr val="tx1"/>
                </a:solidFill>
              </a:rPr>
              <a:t>1. Definire il compito</a:t>
            </a:r>
            <a:endParaRPr lang="it-IT" sz="1300" dirty="0"/>
          </a:p>
        </p:txBody>
      </p:sp>
      <p:sp>
        <p:nvSpPr>
          <p:cNvPr id="8" name="Text 4"/>
          <p:cNvSpPr txBox="1"/>
          <p:nvPr/>
        </p:nvSpPr>
        <p:spPr>
          <a:xfrm>
            <a:off x="548640" y="2450592"/>
            <a:ext cx="1353312" cy="777240"/>
          </a:xfrm>
          <a:prstGeom prst="rect">
            <a:avLst/>
          </a:prstGeom>
          <a:noFill/>
          <a:ln/>
        </p:spPr>
        <p:txBody>
          <a:bodyPr wrap="square" lIns="0" tIns="0" rIns="0" bIns="0" rtlCol="0" anchor="t"/>
          <a:lstStyle/>
          <a:p>
            <a:pPr marL="0" indent="0" algn="ctr">
              <a:buNone/>
            </a:pPr>
            <a:r>
              <a:rPr lang="it-IT" sz="1100" dirty="0">
                <a:solidFill>
                  <a:schemeClr val="tx2"/>
                </a:solidFill>
              </a:rPr>
              <a:t>Che cosa significa un buon risultato</a:t>
            </a:r>
            <a:endParaRPr lang="it-IT" sz="1100" dirty="0"/>
          </a:p>
        </p:txBody>
      </p:sp>
      <p:sp>
        <p:nvSpPr>
          <p:cNvPr id="9" name="Raccogliere casi reali"/>
          <p:cNvSpPr/>
          <p:nvPr/>
        </p:nvSpPr>
        <p:spPr>
          <a:xfrm>
            <a:off x="2139696" y="1143000"/>
            <a:ext cx="1536192" cy="2148840"/>
          </a:xfrm>
          <a:prstGeom prst="roundRect">
            <a:avLst>
              <a:gd name="adj" fmla="val 4762"/>
            </a:avLst>
          </a:prstGeom>
          <a:solidFill>
            <a:schemeClr val="bg2"/>
          </a:solidFill>
          <a:ln/>
        </p:spPr>
        <p:txBody>
          <a:bodyPr/>
          <a:lstStyle/>
          <a:p>
            <a:endParaRPr lang="it-IT" dirty="0"/>
          </a:p>
        </p:txBody>
      </p:sp>
      <p:sp>
        <p:nvSpPr>
          <p:cNvPr id="10" name="cerchio FiFolder"/>
          <p:cNvSpPr/>
          <p:nvPr/>
        </p:nvSpPr>
        <p:spPr>
          <a:xfrm>
            <a:off x="2651760" y="1280160"/>
            <a:ext cx="512064" cy="512064"/>
          </a:xfrm>
          <a:prstGeom prst="ellipse">
            <a:avLst/>
          </a:prstGeom>
          <a:solidFill>
            <a:schemeClr val="accent1"/>
          </a:solidFill>
          <a:ln/>
        </p:spPr>
        <p:txBody>
          <a:bodyPr/>
          <a:lstStyle/>
          <a:p>
            <a:endParaRPr lang="it-IT" dirty="0"/>
          </a:p>
        </p:txBody>
      </p:sp>
      <p:pic>
        <p:nvPicPr>
          <p:cNvPr id="11" name="Image 1" descr="FiFolder"/>
          <p:cNvPicPr>
            <a:picLocks noChangeAspect="1"/>
          </p:cNvPicPr>
          <p:nvPr/>
        </p:nvPicPr>
        <p:blipFill>
          <a:blip r:embed="rId4"/>
          <a:stretch>
            <a:fillRect/>
          </a:stretch>
        </p:blipFill>
        <p:spPr>
          <a:xfrm>
            <a:off x="2779776" y="1408176"/>
            <a:ext cx="256032" cy="256032"/>
          </a:xfrm>
          <a:prstGeom prst="rect">
            <a:avLst/>
          </a:prstGeom>
        </p:spPr>
      </p:pic>
      <p:sp>
        <p:nvSpPr>
          <p:cNvPr id="12" name="Text 7"/>
          <p:cNvSpPr txBox="1"/>
          <p:nvPr/>
        </p:nvSpPr>
        <p:spPr>
          <a:xfrm>
            <a:off x="2212848" y="1874520"/>
            <a:ext cx="1389888" cy="548640"/>
          </a:xfrm>
          <a:prstGeom prst="rect">
            <a:avLst/>
          </a:prstGeom>
          <a:noFill/>
          <a:ln/>
        </p:spPr>
        <p:txBody>
          <a:bodyPr wrap="square" lIns="0" tIns="0" rIns="0" bIns="0" rtlCol="0" anchor="ctr"/>
          <a:lstStyle/>
          <a:p>
            <a:pPr marL="0" indent="0" algn="ctr">
              <a:buNone/>
            </a:pPr>
            <a:r>
              <a:rPr lang="it-IT" sz="1300" b="1" dirty="0">
                <a:solidFill>
                  <a:schemeClr val="tx1"/>
                </a:solidFill>
              </a:rPr>
              <a:t>2. Raccogliere casi reali</a:t>
            </a:r>
            <a:endParaRPr lang="it-IT" sz="1300" dirty="0"/>
          </a:p>
        </p:txBody>
      </p:sp>
      <p:sp>
        <p:nvSpPr>
          <p:cNvPr id="13" name="Text 8"/>
          <p:cNvSpPr txBox="1"/>
          <p:nvPr/>
        </p:nvSpPr>
        <p:spPr>
          <a:xfrm>
            <a:off x="2231136" y="2450592"/>
            <a:ext cx="1353312" cy="777240"/>
          </a:xfrm>
          <a:prstGeom prst="rect">
            <a:avLst/>
          </a:prstGeom>
          <a:noFill/>
          <a:ln/>
        </p:spPr>
        <p:txBody>
          <a:bodyPr wrap="square" lIns="0" tIns="0" rIns="0" bIns="0" rtlCol="0" anchor="t"/>
          <a:lstStyle/>
          <a:p>
            <a:pPr marL="0" indent="0" algn="ctr">
              <a:buNone/>
            </a:pPr>
            <a:r>
              <a:rPr lang="it-IT" sz="1100" dirty="0">
                <a:solidFill>
                  <a:schemeClr val="tx2"/>
                </a:solidFill>
              </a:rPr>
              <a:t>Anche difficili, insoliti, ambigui</a:t>
            </a:r>
            <a:endParaRPr lang="it-IT" sz="1100" dirty="0"/>
          </a:p>
        </p:txBody>
      </p:sp>
      <p:sp>
        <p:nvSpPr>
          <p:cNvPr id="14" name="Confrontare"/>
          <p:cNvSpPr/>
          <p:nvPr/>
        </p:nvSpPr>
        <p:spPr>
          <a:xfrm>
            <a:off x="3822192" y="1143000"/>
            <a:ext cx="1536192" cy="2148840"/>
          </a:xfrm>
          <a:prstGeom prst="roundRect">
            <a:avLst>
              <a:gd name="adj" fmla="val 4762"/>
            </a:avLst>
          </a:prstGeom>
          <a:solidFill>
            <a:schemeClr val="bg2"/>
          </a:solidFill>
          <a:ln/>
        </p:spPr>
        <p:txBody>
          <a:bodyPr/>
          <a:lstStyle/>
          <a:p>
            <a:endParaRPr lang="it-IT" dirty="0"/>
          </a:p>
        </p:txBody>
      </p:sp>
      <p:sp>
        <p:nvSpPr>
          <p:cNvPr id="15" name="cerchio FiColumns"/>
          <p:cNvSpPr/>
          <p:nvPr/>
        </p:nvSpPr>
        <p:spPr>
          <a:xfrm>
            <a:off x="4334256" y="1280160"/>
            <a:ext cx="512064" cy="512064"/>
          </a:xfrm>
          <a:prstGeom prst="ellipse">
            <a:avLst/>
          </a:prstGeom>
          <a:solidFill>
            <a:schemeClr val="accent1"/>
          </a:solidFill>
          <a:ln/>
        </p:spPr>
        <p:txBody>
          <a:bodyPr/>
          <a:lstStyle/>
          <a:p>
            <a:endParaRPr lang="it-IT" dirty="0"/>
          </a:p>
        </p:txBody>
      </p:sp>
      <p:pic>
        <p:nvPicPr>
          <p:cNvPr id="16" name="Image 2" descr="FiColumns"/>
          <p:cNvPicPr>
            <a:picLocks noChangeAspect="1"/>
          </p:cNvPicPr>
          <p:nvPr/>
        </p:nvPicPr>
        <p:blipFill>
          <a:blip r:embed="rId5"/>
          <a:stretch>
            <a:fillRect/>
          </a:stretch>
        </p:blipFill>
        <p:spPr>
          <a:xfrm>
            <a:off x="4462272" y="1408176"/>
            <a:ext cx="256032" cy="256032"/>
          </a:xfrm>
          <a:prstGeom prst="rect">
            <a:avLst/>
          </a:prstGeom>
        </p:spPr>
      </p:pic>
      <p:sp>
        <p:nvSpPr>
          <p:cNvPr id="17" name="Text 11"/>
          <p:cNvSpPr txBox="1"/>
          <p:nvPr/>
        </p:nvSpPr>
        <p:spPr>
          <a:xfrm>
            <a:off x="3895344" y="1874520"/>
            <a:ext cx="1389888" cy="548640"/>
          </a:xfrm>
          <a:prstGeom prst="rect">
            <a:avLst/>
          </a:prstGeom>
          <a:noFill/>
          <a:ln/>
        </p:spPr>
        <p:txBody>
          <a:bodyPr wrap="square" lIns="0" tIns="0" rIns="0" bIns="0" rtlCol="0" anchor="ctr"/>
          <a:lstStyle/>
          <a:p>
            <a:pPr marL="0" indent="0" algn="ctr">
              <a:buNone/>
            </a:pPr>
            <a:r>
              <a:rPr lang="it-IT" sz="1300" b="1" dirty="0">
                <a:solidFill>
                  <a:schemeClr val="tx1"/>
                </a:solidFill>
              </a:rPr>
              <a:t>3. Confrontare</a:t>
            </a:r>
            <a:endParaRPr lang="it-IT" sz="1300" dirty="0"/>
          </a:p>
        </p:txBody>
      </p:sp>
      <p:sp>
        <p:nvSpPr>
          <p:cNvPr id="18" name="Text 12"/>
          <p:cNvSpPr txBox="1"/>
          <p:nvPr/>
        </p:nvSpPr>
        <p:spPr>
          <a:xfrm>
            <a:off x="3913632" y="2450592"/>
            <a:ext cx="1353312" cy="777240"/>
          </a:xfrm>
          <a:prstGeom prst="rect">
            <a:avLst/>
          </a:prstGeom>
          <a:noFill/>
          <a:ln/>
        </p:spPr>
        <p:txBody>
          <a:bodyPr wrap="square" lIns="0" tIns="0" rIns="0" bIns="0" rtlCol="0" anchor="t"/>
          <a:lstStyle/>
          <a:p>
            <a:pPr marL="0" indent="0" algn="ctr">
              <a:buNone/>
            </a:pPr>
            <a:r>
              <a:rPr lang="it-IT" sz="1100" dirty="0">
                <a:solidFill>
                  <a:schemeClr val="tx2"/>
                </a:solidFill>
              </a:rPr>
              <a:t>Con il risultato atteso e il giudizio esperto</a:t>
            </a:r>
            <a:endParaRPr lang="it-IT" sz="1100" dirty="0"/>
          </a:p>
        </p:txBody>
      </p:sp>
      <p:sp>
        <p:nvSpPr>
          <p:cNvPr id="19" name="Analizzare gli errori"/>
          <p:cNvSpPr/>
          <p:nvPr/>
        </p:nvSpPr>
        <p:spPr>
          <a:xfrm>
            <a:off x="5504688" y="1143000"/>
            <a:ext cx="1536192" cy="2148840"/>
          </a:xfrm>
          <a:prstGeom prst="roundRect">
            <a:avLst>
              <a:gd name="adj" fmla="val 4762"/>
            </a:avLst>
          </a:prstGeom>
          <a:solidFill>
            <a:schemeClr val="accent6"/>
          </a:solidFill>
          <a:ln/>
        </p:spPr>
        <p:txBody>
          <a:bodyPr/>
          <a:lstStyle/>
          <a:p>
            <a:endParaRPr lang="it-IT" dirty="0"/>
          </a:p>
        </p:txBody>
      </p:sp>
      <p:sp>
        <p:nvSpPr>
          <p:cNvPr id="20" name="cerchio FiAlertTriangle"/>
          <p:cNvSpPr/>
          <p:nvPr/>
        </p:nvSpPr>
        <p:spPr>
          <a:xfrm>
            <a:off x="6016752" y="1280160"/>
            <a:ext cx="512064" cy="512064"/>
          </a:xfrm>
          <a:prstGeom prst="ellipse">
            <a:avLst/>
          </a:prstGeom>
          <a:solidFill>
            <a:schemeClr val="accent1"/>
          </a:solidFill>
          <a:ln/>
        </p:spPr>
        <p:txBody>
          <a:bodyPr/>
          <a:lstStyle/>
          <a:p>
            <a:endParaRPr lang="it-IT" dirty="0"/>
          </a:p>
        </p:txBody>
      </p:sp>
      <p:pic>
        <p:nvPicPr>
          <p:cNvPr id="21" name="Image 3" descr="FiAlertTriangle"/>
          <p:cNvPicPr>
            <a:picLocks noChangeAspect="1"/>
          </p:cNvPicPr>
          <p:nvPr/>
        </p:nvPicPr>
        <p:blipFill>
          <a:blip r:embed="rId6"/>
          <a:stretch>
            <a:fillRect/>
          </a:stretch>
        </p:blipFill>
        <p:spPr>
          <a:xfrm>
            <a:off x="6144768" y="1408176"/>
            <a:ext cx="256032" cy="256032"/>
          </a:xfrm>
          <a:prstGeom prst="rect">
            <a:avLst/>
          </a:prstGeom>
        </p:spPr>
      </p:pic>
      <p:sp>
        <p:nvSpPr>
          <p:cNvPr id="22" name="Text 15"/>
          <p:cNvSpPr txBox="1"/>
          <p:nvPr/>
        </p:nvSpPr>
        <p:spPr>
          <a:xfrm>
            <a:off x="5577840" y="1874520"/>
            <a:ext cx="1389888" cy="548640"/>
          </a:xfrm>
          <a:prstGeom prst="rect">
            <a:avLst/>
          </a:prstGeom>
          <a:noFill/>
          <a:ln/>
        </p:spPr>
        <p:txBody>
          <a:bodyPr wrap="square" lIns="0" tIns="0" rIns="0" bIns="0" rtlCol="0" anchor="ctr"/>
          <a:lstStyle/>
          <a:p>
            <a:pPr marL="0" indent="0" algn="ctr">
              <a:buNone/>
            </a:pPr>
            <a:r>
              <a:rPr lang="it-IT" sz="1300" b="1" dirty="0">
                <a:solidFill>
                  <a:schemeClr val="tx1"/>
                </a:solidFill>
              </a:rPr>
              <a:t>4. Analizzare gli errori</a:t>
            </a:r>
            <a:endParaRPr lang="it-IT" sz="1300" dirty="0"/>
          </a:p>
        </p:txBody>
      </p:sp>
      <p:sp>
        <p:nvSpPr>
          <p:cNvPr id="23" name="Text 16"/>
          <p:cNvSpPr txBox="1"/>
          <p:nvPr/>
        </p:nvSpPr>
        <p:spPr>
          <a:xfrm>
            <a:off x="5596128" y="2450592"/>
            <a:ext cx="1353312" cy="777240"/>
          </a:xfrm>
          <a:prstGeom prst="rect">
            <a:avLst/>
          </a:prstGeom>
          <a:noFill/>
          <a:ln/>
        </p:spPr>
        <p:txBody>
          <a:bodyPr wrap="square" lIns="0" tIns="0" rIns="0" bIns="0" rtlCol="0" anchor="t"/>
          <a:lstStyle/>
          <a:p>
            <a:pPr marL="0" indent="0" algn="ctr">
              <a:buNone/>
            </a:pPr>
            <a:r>
              <a:rPr lang="it-IT" sz="1100" dirty="0">
                <a:solidFill>
                  <a:schemeClr val="tx2"/>
                </a:solidFill>
              </a:rPr>
              <a:t>Tipo, gravità, facilità di individuazione</a:t>
            </a:r>
            <a:endParaRPr lang="it-IT" sz="1100" dirty="0"/>
          </a:p>
        </p:txBody>
      </p:sp>
      <p:sp>
        <p:nvSpPr>
          <p:cNvPr id="24" name="Ripetere nel tempo"/>
          <p:cNvSpPr/>
          <p:nvPr/>
        </p:nvSpPr>
        <p:spPr>
          <a:xfrm>
            <a:off x="7187184" y="1143000"/>
            <a:ext cx="1536192" cy="2148840"/>
          </a:xfrm>
          <a:prstGeom prst="roundRect">
            <a:avLst>
              <a:gd name="adj" fmla="val 4762"/>
            </a:avLst>
          </a:prstGeom>
          <a:solidFill>
            <a:schemeClr val="bg2"/>
          </a:solidFill>
          <a:ln/>
        </p:spPr>
        <p:txBody>
          <a:bodyPr/>
          <a:lstStyle/>
          <a:p>
            <a:endParaRPr lang="it-IT" dirty="0"/>
          </a:p>
        </p:txBody>
      </p:sp>
      <p:sp>
        <p:nvSpPr>
          <p:cNvPr id="25" name="cerchio FiRefreshCw"/>
          <p:cNvSpPr/>
          <p:nvPr/>
        </p:nvSpPr>
        <p:spPr>
          <a:xfrm>
            <a:off x="7699248" y="1280160"/>
            <a:ext cx="512064" cy="512064"/>
          </a:xfrm>
          <a:prstGeom prst="ellipse">
            <a:avLst/>
          </a:prstGeom>
          <a:solidFill>
            <a:schemeClr val="accent1"/>
          </a:solidFill>
          <a:ln/>
        </p:spPr>
        <p:txBody>
          <a:bodyPr/>
          <a:lstStyle/>
          <a:p>
            <a:endParaRPr lang="it-IT" dirty="0"/>
          </a:p>
        </p:txBody>
      </p:sp>
      <p:pic>
        <p:nvPicPr>
          <p:cNvPr id="26" name="Image 4" descr="FiRefreshCw"/>
          <p:cNvPicPr>
            <a:picLocks noChangeAspect="1"/>
          </p:cNvPicPr>
          <p:nvPr/>
        </p:nvPicPr>
        <p:blipFill>
          <a:blip r:embed="rId7"/>
          <a:stretch>
            <a:fillRect/>
          </a:stretch>
        </p:blipFill>
        <p:spPr>
          <a:xfrm>
            <a:off x="7827264" y="1408176"/>
            <a:ext cx="256032" cy="256032"/>
          </a:xfrm>
          <a:prstGeom prst="rect">
            <a:avLst/>
          </a:prstGeom>
        </p:spPr>
      </p:pic>
      <p:sp>
        <p:nvSpPr>
          <p:cNvPr id="27" name="Text 19"/>
          <p:cNvSpPr txBox="1"/>
          <p:nvPr/>
        </p:nvSpPr>
        <p:spPr>
          <a:xfrm>
            <a:off x="7260336" y="1874520"/>
            <a:ext cx="1389888" cy="548640"/>
          </a:xfrm>
          <a:prstGeom prst="rect">
            <a:avLst/>
          </a:prstGeom>
          <a:noFill/>
          <a:ln/>
        </p:spPr>
        <p:txBody>
          <a:bodyPr wrap="square" lIns="0" tIns="0" rIns="0" bIns="0" rtlCol="0" anchor="ctr"/>
          <a:lstStyle/>
          <a:p>
            <a:pPr marL="0" indent="0" algn="ctr">
              <a:buNone/>
            </a:pPr>
            <a:r>
              <a:rPr lang="it-IT" sz="1300" b="1" dirty="0">
                <a:solidFill>
                  <a:schemeClr val="tx1"/>
                </a:solidFill>
              </a:rPr>
              <a:t>5. Ripetere nel tempo</a:t>
            </a:r>
            <a:endParaRPr lang="it-IT" sz="1300" dirty="0"/>
          </a:p>
        </p:txBody>
      </p:sp>
      <p:sp>
        <p:nvSpPr>
          <p:cNvPr id="28" name="Text 20"/>
          <p:cNvSpPr txBox="1"/>
          <p:nvPr/>
        </p:nvSpPr>
        <p:spPr>
          <a:xfrm>
            <a:off x="7278624" y="2450592"/>
            <a:ext cx="1353312" cy="777240"/>
          </a:xfrm>
          <a:prstGeom prst="rect">
            <a:avLst/>
          </a:prstGeom>
          <a:noFill/>
          <a:ln/>
        </p:spPr>
        <p:txBody>
          <a:bodyPr wrap="square" lIns="0" tIns="0" rIns="0" bIns="0" rtlCol="0" anchor="t"/>
          <a:lstStyle/>
          <a:p>
            <a:pPr marL="0" indent="0" algn="ctr">
              <a:buNone/>
            </a:pPr>
            <a:r>
              <a:rPr lang="it-IT" sz="1100" dirty="0">
                <a:solidFill>
                  <a:schemeClr val="tx2"/>
                </a:solidFill>
              </a:rPr>
              <a:t>Modelli e dati cambiano</a:t>
            </a:r>
            <a:endParaRPr lang="it-IT" sz="1100" dirty="0"/>
          </a:p>
        </p:txBody>
      </p:sp>
      <p:sp>
        <p:nvSpPr>
          <p:cNvPr id="29" name="esempio fatture"/>
          <p:cNvSpPr/>
          <p:nvPr/>
        </p:nvSpPr>
        <p:spPr>
          <a:xfrm>
            <a:off x="457200" y="3474720"/>
            <a:ext cx="8229600" cy="1051560"/>
          </a:xfrm>
          <a:prstGeom prst="roundRect">
            <a:avLst>
              <a:gd name="adj" fmla="val 6957"/>
            </a:avLst>
          </a:prstGeom>
          <a:solidFill>
            <a:schemeClr val="tx1"/>
          </a:solidFill>
          <a:ln/>
        </p:spPr>
        <p:txBody>
          <a:bodyPr/>
          <a:lstStyle/>
          <a:p>
            <a:endParaRPr lang="it-IT" dirty="0"/>
          </a:p>
        </p:txBody>
      </p:sp>
      <p:sp>
        <p:nvSpPr>
          <p:cNvPr id="30" name="Text 22"/>
          <p:cNvSpPr txBox="1"/>
          <p:nvPr/>
        </p:nvSpPr>
        <p:spPr>
          <a:xfrm>
            <a:off x="640080" y="3566160"/>
            <a:ext cx="1828800" cy="256032"/>
          </a:xfrm>
          <a:prstGeom prst="rect">
            <a:avLst/>
          </a:prstGeom>
          <a:noFill/>
          <a:ln/>
        </p:spPr>
        <p:txBody>
          <a:bodyPr wrap="square" lIns="0" tIns="0" rIns="0" bIns="0" rtlCol="0" anchor="t"/>
          <a:lstStyle/>
          <a:p>
            <a:pPr marL="0" indent="0">
              <a:buNone/>
            </a:pPr>
            <a:r>
              <a:rPr lang="it-IT" sz="1000" b="1" kern="0" spc="200" dirty="0">
                <a:solidFill>
                  <a:schemeClr val="accent1"/>
                </a:solidFill>
              </a:rPr>
              <a:t>ESEMPIO</a:t>
            </a:r>
            <a:endParaRPr lang="it-IT" sz="1000" dirty="0"/>
          </a:p>
        </p:txBody>
      </p:sp>
      <p:sp>
        <p:nvSpPr>
          <p:cNvPr id="31" name="Text 23"/>
          <p:cNvSpPr txBox="1"/>
          <p:nvPr/>
        </p:nvSpPr>
        <p:spPr>
          <a:xfrm>
            <a:off x="640080" y="3822192"/>
            <a:ext cx="7863840" cy="640080"/>
          </a:xfrm>
          <a:prstGeom prst="rect">
            <a:avLst/>
          </a:prstGeom>
          <a:noFill/>
          <a:ln/>
        </p:spPr>
        <p:txBody>
          <a:bodyPr wrap="square" lIns="0" tIns="0" rIns="0" bIns="0" rtlCol="0" anchor="t"/>
          <a:lstStyle/>
          <a:p>
            <a:pPr marL="0" indent="0">
              <a:buNone/>
            </a:pPr>
            <a:r>
              <a:rPr lang="it-IT" sz="1300" dirty="0">
                <a:solidFill>
                  <a:schemeClr val="bg1"/>
                </a:solidFill>
              </a:rPr>
              <a:t>Prima di usare l'AI per estrarre dati dalle fatture: provarla su 50 fatture reali di formati diversi, comprese quelle scansionate male, e controllare campo per campo.</a:t>
            </a:r>
            <a:endParaRPr lang="it-IT"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81</a:t>
            </a:fld>
            <a:endParaRPr lang="it-IT"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Il modello e il sistema completo</a:t>
            </a:r>
            <a:endParaRPr lang="it-IT" sz="2600" dirty="0"/>
          </a:p>
        </p:txBody>
      </p:sp>
      <p:sp>
        <p:nvSpPr>
          <p:cNvPr id="4" name="anello Dati e documenti"/>
          <p:cNvSpPr/>
          <p:nvPr/>
        </p:nvSpPr>
        <p:spPr>
          <a:xfrm>
            <a:off x="457200" y="1280160"/>
            <a:ext cx="1261872" cy="1737360"/>
          </a:xfrm>
          <a:prstGeom prst="roundRect">
            <a:avLst>
              <a:gd name="adj" fmla="val 21739"/>
            </a:avLst>
          </a:prstGeom>
          <a:solidFill>
            <a:schemeClr val="bg2"/>
          </a:solidFill>
          <a:ln w="19050">
            <a:solidFill>
              <a:schemeClr val="accent1"/>
            </a:solidFill>
            <a:prstDash val="solid"/>
          </a:ln>
        </p:spPr>
        <p:txBody>
          <a:bodyPr/>
          <a:lstStyle/>
          <a:p>
            <a:endParaRPr lang="it-IT" dirty="0"/>
          </a:p>
        </p:txBody>
      </p:sp>
      <p:sp>
        <p:nvSpPr>
          <p:cNvPr id="5" name="cerchio FiDatabase"/>
          <p:cNvSpPr/>
          <p:nvPr/>
        </p:nvSpPr>
        <p:spPr>
          <a:xfrm>
            <a:off x="841248" y="1463040"/>
            <a:ext cx="502920" cy="502920"/>
          </a:xfrm>
          <a:prstGeom prst="ellipse">
            <a:avLst/>
          </a:prstGeom>
          <a:solidFill>
            <a:schemeClr val="accent1"/>
          </a:solidFill>
          <a:ln/>
        </p:spPr>
        <p:txBody>
          <a:bodyPr/>
          <a:lstStyle/>
          <a:p>
            <a:endParaRPr lang="it-IT" dirty="0"/>
          </a:p>
        </p:txBody>
      </p:sp>
      <p:pic>
        <p:nvPicPr>
          <p:cNvPr id="6" name="Image 0" descr="FiDatabase"/>
          <p:cNvPicPr>
            <a:picLocks noChangeAspect="1"/>
          </p:cNvPicPr>
          <p:nvPr/>
        </p:nvPicPr>
        <p:blipFill>
          <a:blip r:embed="rId3"/>
          <a:stretch>
            <a:fillRect/>
          </a:stretch>
        </p:blipFill>
        <p:spPr>
          <a:xfrm>
            <a:off x="966978" y="1588770"/>
            <a:ext cx="251460" cy="251460"/>
          </a:xfrm>
          <a:prstGeom prst="rect">
            <a:avLst/>
          </a:prstGeom>
        </p:spPr>
      </p:pic>
      <p:sp>
        <p:nvSpPr>
          <p:cNvPr id="7" name="Text 3"/>
          <p:cNvSpPr txBox="1"/>
          <p:nvPr/>
        </p:nvSpPr>
        <p:spPr>
          <a:xfrm>
            <a:off x="530352" y="2057400"/>
            <a:ext cx="1115568" cy="822960"/>
          </a:xfrm>
          <a:prstGeom prst="rect">
            <a:avLst/>
          </a:prstGeom>
          <a:noFill/>
          <a:ln/>
        </p:spPr>
        <p:txBody>
          <a:bodyPr wrap="square" lIns="0" tIns="0" rIns="0" bIns="0" rtlCol="0" anchor="ctr"/>
          <a:lstStyle/>
          <a:p>
            <a:pPr marL="0" indent="0" algn="ctr">
              <a:buNone/>
            </a:pPr>
            <a:r>
              <a:rPr lang="it-IT" sz="1200" b="1" dirty="0">
                <a:solidFill>
                  <a:schemeClr val="tx1"/>
                </a:solidFill>
              </a:rPr>
              <a:t>Dati e documenti</a:t>
            </a:r>
            <a:endParaRPr lang="it-IT" sz="1200" dirty="0"/>
          </a:p>
        </p:txBody>
      </p:sp>
      <p:sp>
        <p:nvSpPr>
          <p:cNvPr id="8" name="collegamento"/>
          <p:cNvSpPr/>
          <p:nvPr/>
        </p:nvSpPr>
        <p:spPr>
          <a:xfrm>
            <a:off x="1719072" y="2148840"/>
            <a:ext cx="155448" cy="0"/>
          </a:xfrm>
          <a:prstGeom prst="line">
            <a:avLst/>
          </a:prstGeom>
          <a:noFill/>
          <a:ln w="38100">
            <a:solidFill>
              <a:schemeClr val="accent1"/>
            </a:solidFill>
            <a:prstDash val="solid"/>
          </a:ln>
        </p:spPr>
        <p:txBody>
          <a:bodyPr/>
          <a:lstStyle/>
          <a:p>
            <a:endParaRPr lang="it-IT" dirty="0"/>
          </a:p>
        </p:txBody>
      </p:sp>
      <p:sp>
        <p:nvSpPr>
          <p:cNvPr id="9" name="anello Recupero delle informazioni"/>
          <p:cNvSpPr/>
          <p:nvPr/>
        </p:nvSpPr>
        <p:spPr>
          <a:xfrm>
            <a:off x="1874520" y="1280160"/>
            <a:ext cx="1261872" cy="1737360"/>
          </a:xfrm>
          <a:prstGeom prst="roundRect">
            <a:avLst>
              <a:gd name="adj" fmla="val 21739"/>
            </a:avLst>
          </a:prstGeom>
          <a:solidFill>
            <a:schemeClr val="bg2"/>
          </a:solidFill>
          <a:ln w="19050">
            <a:solidFill>
              <a:schemeClr val="accent1"/>
            </a:solidFill>
            <a:prstDash val="solid"/>
          </a:ln>
        </p:spPr>
        <p:txBody>
          <a:bodyPr/>
          <a:lstStyle/>
          <a:p>
            <a:endParaRPr lang="it-IT" dirty="0"/>
          </a:p>
        </p:txBody>
      </p:sp>
      <p:sp>
        <p:nvSpPr>
          <p:cNvPr id="10" name="cerchio FiSearch"/>
          <p:cNvSpPr/>
          <p:nvPr/>
        </p:nvSpPr>
        <p:spPr>
          <a:xfrm>
            <a:off x="2258568" y="1463040"/>
            <a:ext cx="502920" cy="502920"/>
          </a:xfrm>
          <a:prstGeom prst="ellipse">
            <a:avLst/>
          </a:prstGeom>
          <a:solidFill>
            <a:schemeClr val="accent1"/>
          </a:solidFill>
          <a:ln/>
        </p:spPr>
        <p:txBody>
          <a:bodyPr/>
          <a:lstStyle/>
          <a:p>
            <a:endParaRPr lang="it-IT" dirty="0"/>
          </a:p>
        </p:txBody>
      </p:sp>
      <p:pic>
        <p:nvPicPr>
          <p:cNvPr id="11" name="Image 1" descr="FiSearch"/>
          <p:cNvPicPr>
            <a:picLocks noChangeAspect="1"/>
          </p:cNvPicPr>
          <p:nvPr/>
        </p:nvPicPr>
        <p:blipFill>
          <a:blip r:embed="rId4"/>
          <a:stretch>
            <a:fillRect/>
          </a:stretch>
        </p:blipFill>
        <p:spPr>
          <a:xfrm>
            <a:off x="2384298" y="1588770"/>
            <a:ext cx="251460" cy="251460"/>
          </a:xfrm>
          <a:prstGeom prst="rect">
            <a:avLst/>
          </a:prstGeom>
        </p:spPr>
      </p:pic>
      <p:sp>
        <p:nvSpPr>
          <p:cNvPr id="12" name="Text 7"/>
          <p:cNvSpPr txBox="1"/>
          <p:nvPr/>
        </p:nvSpPr>
        <p:spPr>
          <a:xfrm>
            <a:off x="1947672" y="2057400"/>
            <a:ext cx="1115568" cy="822960"/>
          </a:xfrm>
          <a:prstGeom prst="rect">
            <a:avLst/>
          </a:prstGeom>
          <a:noFill/>
          <a:ln/>
        </p:spPr>
        <p:txBody>
          <a:bodyPr wrap="square" lIns="0" tIns="0" rIns="0" bIns="0" rtlCol="0" anchor="ctr"/>
          <a:lstStyle/>
          <a:p>
            <a:pPr marL="0" indent="0" algn="ctr">
              <a:buNone/>
            </a:pPr>
            <a:r>
              <a:rPr lang="it-IT" sz="1200" b="1" dirty="0">
                <a:solidFill>
                  <a:schemeClr val="tx1"/>
                </a:solidFill>
              </a:rPr>
              <a:t>Recupero delle informazioni</a:t>
            </a:r>
            <a:endParaRPr lang="it-IT" sz="1200" dirty="0"/>
          </a:p>
        </p:txBody>
      </p:sp>
      <p:sp>
        <p:nvSpPr>
          <p:cNvPr id="13" name="collegamento"/>
          <p:cNvSpPr/>
          <p:nvPr/>
        </p:nvSpPr>
        <p:spPr>
          <a:xfrm>
            <a:off x="3136392" y="2148840"/>
            <a:ext cx="155448" cy="0"/>
          </a:xfrm>
          <a:prstGeom prst="line">
            <a:avLst/>
          </a:prstGeom>
          <a:noFill/>
          <a:ln w="38100">
            <a:solidFill>
              <a:schemeClr val="accent1"/>
            </a:solidFill>
            <a:prstDash val="solid"/>
          </a:ln>
        </p:spPr>
        <p:txBody>
          <a:bodyPr/>
          <a:lstStyle/>
          <a:p>
            <a:endParaRPr lang="it-IT" dirty="0"/>
          </a:p>
        </p:txBody>
      </p:sp>
      <p:sp>
        <p:nvSpPr>
          <p:cNvPr id="14" name="anello Modello"/>
          <p:cNvSpPr/>
          <p:nvPr/>
        </p:nvSpPr>
        <p:spPr>
          <a:xfrm>
            <a:off x="3291840" y="1280160"/>
            <a:ext cx="1261872" cy="1737360"/>
          </a:xfrm>
          <a:prstGeom prst="roundRect">
            <a:avLst>
              <a:gd name="adj" fmla="val 21739"/>
            </a:avLst>
          </a:prstGeom>
          <a:solidFill>
            <a:schemeClr val="accent1"/>
          </a:solidFill>
          <a:ln w="19050">
            <a:solidFill>
              <a:schemeClr val="accent1"/>
            </a:solidFill>
            <a:prstDash val="solid"/>
          </a:ln>
        </p:spPr>
        <p:txBody>
          <a:bodyPr/>
          <a:lstStyle/>
          <a:p>
            <a:endParaRPr lang="it-IT" dirty="0"/>
          </a:p>
        </p:txBody>
      </p:sp>
      <p:sp>
        <p:nvSpPr>
          <p:cNvPr id="15" name="cerchio FiCpu"/>
          <p:cNvSpPr/>
          <p:nvPr/>
        </p:nvSpPr>
        <p:spPr>
          <a:xfrm>
            <a:off x="3675888" y="1463040"/>
            <a:ext cx="502920" cy="502920"/>
          </a:xfrm>
          <a:prstGeom prst="ellipse">
            <a:avLst/>
          </a:prstGeom>
          <a:solidFill>
            <a:schemeClr val="bg1"/>
          </a:solidFill>
          <a:ln/>
        </p:spPr>
        <p:txBody>
          <a:bodyPr/>
          <a:lstStyle/>
          <a:p>
            <a:endParaRPr lang="it-IT" dirty="0"/>
          </a:p>
        </p:txBody>
      </p:sp>
      <p:pic>
        <p:nvPicPr>
          <p:cNvPr id="16" name="Image 2" descr="FiCpu"/>
          <p:cNvPicPr>
            <a:picLocks noChangeAspect="1"/>
          </p:cNvPicPr>
          <p:nvPr/>
        </p:nvPicPr>
        <p:blipFill>
          <a:blip r:embed="rId5"/>
          <a:stretch>
            <a:fillRect/>
          </a:stretch>
        </p:blipFill>
        <p:spPr>
          <a:xfrm>
            <a:off x="3801618" y="1588770"/>
            <a:ext cx="251460" cy="251460"/>
          </a:xfrm>
          <a:prstGeom prst="rect">
            <a:avLst/>
          </a:prstGeom>
        </p:spPr>
      </p:pic>
      <p:sp>
        <p:nvSpPr>
          <p:cNvPr id="17" name="Text 11"/>
          <p:cNvSpPr txBox="1"/>
          <p:nvPr/>
        </p:nvSpPr>
        <p:spPr>
          <a:xfrm>
            <a:off x="3364992" y="2057400"/>
            <a:ext cx="1115568" cy="822960"/>
          </a:xfrm>
          <a:prstGeom prst="rect">
            <a:avLst/>
          </a:prstGeom>
          <a:noFill/>
          <a:ln/>
        </p:spPr>
        <p:txBody>
          <a:bodyPr wrap="square" lIns="0" tIns="0" rIns="0" bIns="0" rtlCol="0" anchor="ctr"/>
          <a:lstStyle/>
          <a:p>
            <a:pPr marL="0" indent="0" algn="ctr">
              <a:buNone/>
            </a:pPr>
            <a:r>
              <a:rPr lang="it-IT" sz="1200" b="1" dirty="0">
                <a:solidFill>
                  <a:schemeClr val="bg1"/>
                </a:solidFill>
              </a:rPr>
              <a:t>Modello</a:t>
            </a:r>
            <a:endParaRPr lang="it-IT" sz="1200" dirty="0"/>
          </a:p>
        </p:txBody>
      </p:sp>
      <p:sp>
        <p:nvSpPr>
          <p:cNvPr id="18" name="collegamento"/>
          <p:cNvSpPr/>
          <p:nvPr/>
        </p:nvSpPr>
        <p:spPr>
          <a:xfrm>
            <a:off x="4553712" y="2148840"/>
            <a:ext cx="155448" cy="0"/>
          </a:xfrm>
          <a:prstGeom prst="line">
            <a:avLst/>
          </a:prstGeom>
          <a:noFill/>
          <a:ln w="38100">
            <a:solidFill>
              <a:schemeClr val="accent1"/>
            </a:solidFill>
            <a:prstDash val="solid"/>
          </a:ln>
        </p:spPr>
        <p:txBody>
          <a:bodyPr/>
          <a:lstStyle/>
          <a:p>
            <a:endParaRPr lang="it-IT" dirty="0"/>
          </a:p>
        </p:txBody>
      </p:sp>
      <p:sp>
        <p:nvSpPr>
          <p:cNvPr id="19" name="anello Istruzioni e configurazione"/>
          <p:cNvSpPr/>
          <p:nvPr/>
        </p:nvSpPr>
        <p:spPr>
          <a:xfrm>
            <a:off x="4709160" y="1280160"/>
            <a:ext cx="1261872" cy="1737360"/>
          </a:xfrm>
          <a:prstGeom prst="roundRect">
            <a:avLst>
              <a:gd name="adj" fmla="val 21739"/>
            </a:avLst>
          </a:prstGeom>
          <a:solidFill>
            <a:schemeClr val="bg2"/>
          </a:solidFill>
          <a:ln w="19050">
            <a:solidFill>
              <a:schemeClr val="accent1"/>
            </a:solidFill>
            <a:prstDash val="solid"/>
          </a:ln>
        </p:spPr>
        <p:txBody>
          <a:bodyPr/>
          <a:lstStyle/>
          <a:p>
            <a:endParaRPr lang="it-IT" dirty="0"/>
          </a:p>
        </p:txBody>
      </p:sp>
      <p:sp>
        <p:nvSpPr>
          <p:cNvPr id="20" name="cerchio FiSettings"/>
          <p:cNvSpPr/>
          <p:nvPr/>
        </p:nvSpPr>
        <p:spPr>
          <a:xfrm>
            <a:off x="5093208" y="1463040"/>
            <a:ext cx="502920" cy="502920"/>
          </a:xfrm>
          <a:prstGeom prst="ellipse">
            <a:avLst/>
          </a:prstGeom>
          <a:solidFill>
            <a:schemeClr val="accent1"/>
          </a:solidFill>
          <a:ln/>
        </p:spPr>
        <p:txBody>
          <a:bodyPr/>
          <a:lstStyle/>
          <a:p>
            <a:endParaRPr lang="it-IT" dirty="0"/>
          </a:p>
        </p:txBody>
      </p:sp>
      <p:pic>
        <p:nvPicPr>
          <p:cNvPr id="21" name="Image 3" descr="FiSettings"/>
          <p:cNvPicPr>
            <a:picLocks noChangeAspect="1"/>
          </p:cNvPicPr>
          <p:nvPr/>
        </p:nvPicPr>
        <p:blipFill>
          <a:blip r:embed="rId6"/>
          <a:stretch>
            <a:fillRect/>
          </a:stretch>
        </p:blipFill>
        <p:spPr>
          <a:xfrm>
            <a:off x="5218938" y="1588770"/>
            <a:ext cx="251460" cy="251460"/>
          </a:xfrm>
          <a:prstGeom prst="rect">
            <a:avLst/>
          </a:prstGeom>
        </p:spPr>
      </p:pic>
      <p:sp>
        <p:nvSpPr>
          <p:cNvPr id="22" name="Text 15"/>
          <p:cNvSpPr txBox="1"/>
          <p:nvPr/>
        </p:nvSpPr>
        <p:spPr>
          <a:xfrm>
            <a:off x="4782312" y="2057400"/>
            <a:ext cx="1115568" cy="822960"/>
          </a:xfrm>
          <a:prstGeom prst="rect">
            <a:avLst/>
          </a:prstGeom>
          <a:noFill/>
          <a:ln/>
        </p:spPr>
        <p:txBody>
          <a:bodyPr wrap="square" lIns="0" tIns="0" rIns="0" bIns="0" rtlCol="0" anchor="ctr"/>
          <a:lstStyle/>
          <a:p>
            <a:pPr marL="0" indent="0" algn="ctr">
              <a:buNone/>
            </a:pPr>
            <a:r>
              <a:rPr lang="it-IT" sz="1200" b="1" dirty="0">
                <a:solidFill>
                  <a:schemeClr val="tx1"/>
                </a:solidFill>
              </a:rPr>
              <a:t>Istruzioni e configurazione</a:t>
            </a:r>
            <a:endParaRPr lang="it-IT" sz="1200" dirty="0"/>
          </a:p>
        </p:txBody>
      </p:sp>
      <p:sp>
        <p:nvSpPr>
          <p:cNvPr id="23" name="collegamento"/>
          <p:cNvSpPr/>
          <p:nvPr/>
        </p:nvSpPr>
        <p:spPr>
          <a:xfrm>
            <a:off x="5971032" y="2148840"/>
            <a:ext cx="155448" cy="0"/>
          </a:xfrm>
          <a:prstGeom prst="line">
            <a:avLst/>
          </a:prstGeom>
          <a:noFill/>
          <a:ln w="38100">
            <a:solidFill>
              <a:schemeClr val="accent1"/>
            </a:solidFill>
            <a:prstDash val="solid"/>
          </a:ln>
        </p:spPr>
        <p:txBody>
          <a:bodyPr/>
          <a:lstStyle/>
          <a:p>
            <a:endParaRPr lang="it-IT" dirty="0"/>
          </a:p>
        </p:txBody>
      </p:sp>
      <p:sp>
        <p:nvSpPr>
          <p:cNvPr id="24" name="anello Strumenti collegati"/>
          <p:cNvSpPr/>
          <p:nvPr/>
        </p:nvSpPr>
        <p:spPr>
          <a:xfrm>
            <a:off x="6126480" y="1280160"/>
            <a:ext cx="1261872" cy="1737360"/>
          </a:xfrm>
          <a:prstGeom prst="roundRect">
            <a:avLst>
              <a:gd name="adj" fmla="val 21739"/>
            </a:avLst>
          </a:prstGeom>
          <a:solidFill>
            <a:schemeClr val="bg2"/>
          </a:solidFill>
          <a:ln w="19050">
            <a:solidFill>
              <a:schemeClr val="accent1"/>
            </a:solidFill>
            <a:prstDash val="solid"/>
          </a:ln>
        </p:spPr>
        <p:txBody>
          <a:bodyPr/>
          <a:lstStyle/>
          <a:p>
            <a:endParaRPr lang="it-IT" dirty="0"/>
          </a:p>
        </p:txBody>
      </p:sp>
      <p:sp>
        <p:nvSpPr>
          <p:cNvPr id="25" name="cerchio FiTool"/>
          <p:cNvSpPr/>
          <p:nvPr/>
        </p:nvSpPr>
        <p:spPr>
          <a:xfrm>
            <a:off x="6510528" y="1463040"/>
            <a:ext cx="502920" cy="502920"/>
          </a:xfrm>
          <a:prstGeom prst="ellipse">
            <a:avLst/>
          </a:prstGeom>
          <a:solidFill>
            <a:schemeClr val="accent1"/>
          </a:solidFill>
          <a:ln/>
        </p:spPr>
        <p:txBody>
          <a:bodyPr/>
          <a:lstStyle/>
          <a:p>
            <a:endParaRPr lang="it-IT" dirty="0"/>
          </a:p>
        </p:txBody>
      </p:sp>
      <p:pic>
        <p:nvPicPr>
          <p:cNvPr id="26" name="Image 4" descr="FiTool"/>
          <p:cNvPicPr>
            <a:picLocks noChangeAspect="1"/>
          </p:cNvPicPr>
          <p:nvPr/>
        </p:nvPicPr>
        <p:blipFill>
          <a:blip r:embed="rId7"/>
          <a:stretch>
            <a:fillRect/>
          </a:stretch>
        </p:blipFill>
        <p:spPr>
          <a:xfrm>
            <a:off x="6636258" y="1588770"/>
            <a:ext cx="251460" cy="251460"/>
          </a:xfrm>
          <a:prstGeom prst="rect">
            <a:avLst/>
          </a:prstGeom>
        </p:spPr>
      </p:pic>
      <p:sp>
        <p:nvSpPr>
          <p:cNvPr id="27" name="Text 19"/>
          <p:cNvSpPr txBox="1"/>
          <p:nvPr/>
        </p:nvSpPr>
        <p:spPr>
          <a:xfrm>
            <a:off x="6199632" y="2057400"/>
            <a:ext cx="1115568" cy="822960"/>
          </a:xfrm>
          <a:prstGeom prst="rect">
            <a:avLst/>
          </a:prstGeom>
          <a:noFill/>
          <a:ln/>
        </p:spPr>
        <p:txBody>
          <a:bodyPr wrap="square" lIns="0" tIns="0" rIns="0" bIns="0" rtlCol="0" anchor="ctr"/>
          <a:lstStyle/>
          <a:p>
            <a:pPr marL="0" indent="0" algn="ctr">
              <a:buNone/>
            </a:pPr>
            <a:r>
              <a:rPr lang="it-IT" sz="1200" b="1" dirty="0">
                <a:solidFill>
                  <a:schemeClr val="tx1"/>
                </a:solidFill>
              </a:rPr>
              <a:t>Strumenti collegati</a:t>
            </a:r>
            <a:endParaRPr lang="it-IT" sz="1200" dirty="0"/>
          </a:p>
        </p:txBody>
      </p:sp>
      <p:sp>
        <p:nvSpPr>
          <p:cNvPr id="28" name="collegamento"/>
          <p:cNvSpPr/>
          <p:nvPr/>
        </p:nvSpPr>
        <p:spPr>
          <a:xfrm>
            <a:off x="7388352" y="2148840"/>
            <a:ext cx="155448" cy="0"/>
          </a:xfrm>
          <a:prstGeom prst="line">
            <a:avLst/>
          </a:prstGeom>
          <a:noFill/>
          <a:ln w="38100">
            <a:solidFill>
              <a:schemeClr val="accent1"/>
            </a:solidFill>
            <a:prstDash val="solid"/>
          </a:ln>
        </p:spPr>
        <p:txBody>
          <a:bodyPr/>
          <a:lstStyle/>
          <a:p>
            <a:endParaRPr lang="it-IT" dirty="0"/>
          </a:p>
        </p:txBody>
      </p:sp>
      <p:sp>
        <p:nvSpPr>
          <p:cNvPr id="29" name="anello Persona che usa e controlla"/>
          <p:cNvSpPr/>
          <p:nvPr/>
        </p:nvSpPr>
        <p:spPr>
          <a:xfrm>
            <a:off x="7543800" y="1280160"/>
            <a:ext cx="1261872" cy="1737360"/>
          </a:xfrm>
          <a:prstGeom prst="roundRect">
            <a:avLst>
              <a:gd name="adj" fmla="val 21739"/>
            </a:avLst>
          </a:prstGeom>
          <a:solidFill>
            <a:schemeClr val="bg2"/>
          </a:solidFill>
          <a:ln w="19050">
            <a:solidFill>
              <a:schemeClr val="accent1"/>
            </a:solidFill>
            <a:prstDash val="solid"/>
          </a:ln>
        </p:spPr>
        <p:txBody>
          <a:bodyPr/>
          <a:lstStyle/>
          <a:p>
            <a:endParaRPr lang="it-IT" dirty="0"/>
          </a:p>
        </p:txBody>
      </p:sp>
      <p:sp>
        <p:nvSpPr>
          <p:cNvPr id="30" name="cerchio FiUserCheck"/>
          <p:cNvSpPr/>
          <p:nvPr/>
        </p:nvSpPr>
        <p:spPr>
          <a:xfrm>
            <a:off x="7927848" y="1463040"/>
            <a:ext cx="502920" cy="502920"/>
          </a:xfrm>
          <a:prstGeom prst="ellipse">
            <a:avLst/>
          </a:prstGeom>
          <a:solidFill>
            <a:schemeClr val="accent1"/>
          </a:solidFill>
          <a:ln/>
        </p:spPr>
        <p:txBody>
          <a:bodyPr/>
          <a:lstStyle/>
          <a:p>
            <a:endParaRPr lang="it-IT" dirty="0"/>
          </a:p>
        </p:txBody>
      </p:sp>
      <p:pic>
        <p:nvPicPr>
          <p:cNvPr id="31" name="Image 5" descr="FiUserCheck"/>
          <p:cNvPicPr>
            <a:picLocks noChangeAspect="1"/>
          </p:cNvPicPr>
          <p:nvPr/>
        </p:nvPicPr>
        <p:blipFill>
          <a:blip r:embed="rId8"/>
          <a:stretch>
            <a:fillRect/>
          </a:stretch>
        </p:blipFill>
        <p:spPr>
          <a:xfrm>
            <a:off x="8053578" y="1588770"/>
            <a:ext cx="251460" cy="251460"/>
          </a:xfrm>
          <a:prstGeom prst="rect">
            <a:avLst/>
          </a:prstGeom>
        </p:spPr>
      </p:pic>
      <p:sp>
        <p:nvSpPr>
          <p:cNvPr id="32" name="Text 23"/>
          <p:cNvSpPr txBox="1"/>
          <p:nvPr/>
        </p:nvSpPr>
        <p:spPr>
          <a:xfrm>
            <a:off x="7616952" y="2057400"/>
            <a:ext cx="1115568" cy="822960"/>
          </a:xfrm>
          <a:prstGeom prst="rect">
            <a:avLst/>
          </a:prstGeom>
          <a:noFill/>
          <a:ln/>
        </p:spPr>
        <p:txBody>
          <a:bodyPr wrap="square" lIns="0" tIns="0" rIns="0" bIns="0" rtlCol="0" anchor="ctr"/>
          <a:lstStyle/>
          <a:p>
            <a:pPr marL="0" indent="0" algn="ctr">
              <a:buNone/>
            </a:pPr>
            <a:r>
              <a:rPr lang="it-IT" sz="1200" b="1" dirty="0">
                <a:solidFill>
                  <a:schemeClr val="tx1"/>
                </a:solidFill>
              </a:rPr>
              <a:t>Persona che usa e controlla</a:t>
            </a:r>
            <a:endParaRPr lang="it-IT" sz="1200" dirty="0"/>
          </a:p>
        </p:txBody>
      </p:sp>
      <p:sp>
        <p:nvSpPr>
          <p:cNvPr id="33" name="Text 24"/>
          <p:cNvSpPr txBox="1"/>
          <p:nvPr/>
        </p:nvSpPr>
        <p:spPr>
          <a:xfrm>
            <a:off x="457200" y="3154680"/>
            <a:ext cx="8229600" cy="320040"/>
          </a:xfrm>
          <a:prstGeom prst="rect">
            <a:avLst/>
          </a:prstGeom>
          <a:noFill/>
          <a:ln/>
        </p:spPr>
        <p:txBody>
          <a:bodyPr wrap="square" lIns="0" tIns="0" rIns="0" bIns="0" rtlCol="0" anchor="t"/>
          <a:lstStyle/>
          <a:p>
            <a:pPr marL="0" indent="0" algn="ctr">
              <a:buNone/>
            </a:pPr>
            <a:r>
              <a:rPr lang="it-IT" sz="1400" b="1" dirty="0">
                <a:solidFill>
                  <a:schemeClr val="tx1"/>
                </a:solidFill>
              </a:rPr>
              <a:t>Fonti, modello, configurazione, strumenti e supervisione contribuiscono insieme alla qualità del risultato.</a:t>
            </a:r>
            <a:endParaRPr lang="it-IT" sz="1400" dirty="0"/>
          </a:p>
        </p:txBody>
      </p:sp>
      <p:sp>
        <p:nvSpPr>
          <p:cNvPr id="34" name="scheda Ottimo modello + archivio obsoleto"/>
          <p:cNvSpPr/>
          <p:nvPr/>
        </p:nvSpPr>
        <p:spPr>
          <a:xfrm>
            <a:off x="457200" y="3520440"/>
            <a:ext cx="3977640" cy="1051560"/>
          </a:xfrm>
          <a:prstGeom prst="roundRect">
            <a:avLst>
              <a:gd name="adj" fmla="val 6957"/>
            </a:avLst>
          </a:prstGeom>
          <a:solidFill>
            <a:schemeClr val="bg2"/>
          </a:solidFill>
          <a:ln/>
        </p:spPr>
        <p:txBody>
          <a:bodyPr/>
          <a:lstStyle/>
          <a:p>
            <a:endParaRPr lang="it-IT" dirty="0"/>
          </a:p>
        </p:txBody>
      </p:sp>
      <p:sp>
        <p:nvSpPr>
          <p:cNvPr id="35" name="Text 26"/>
          <p:cNvSpPr txBox="1"/>
          <p:nvPr/>
        </p:nvSpPr>
        <p:spPr>
          <a:xfrm>
            <a:off x="640080" y="3703320"/>
            <a:ext cx="3611880" cy="347472"/>
          </a:xfrm>
          <a:prstGeom prst="rect">
            <a:avLst/>
          </a:prstGeom>
          <a:noFill/>
          <a:ln/>
        </p:spPr>
        <p:txBody>
          <a:bodyPr wrap="square" lIns="0" tIns="0" rIns="0" bIns="0" rtlCol="0" anchor="t"/>
          <a:lstStyle/>
          <a:p>
            <a:pPr marL="0" indent="0">
              <a:buNone/>
            </a:pPr>
            <a:r>
              <a:rPr lang="it-IT" sz="1300" b="1" dirty="0">
                <a:solidFill>
                  <a:schemeClr val="tx1"/>
                </a:solidFill>
              </a:rPr>
              <a:t>Ottimo modello + archivio obsoleto</a:t>
            </a:r>
            <a:endParaRPr lang="it-IT" sz="1300" dirty="0"/>
          </a:p>
        </p:txBody>
      </p:sp>
      <p:sp>
        <p:nvSpPr>
          <p:cNvPr id="36" name="Text 27"/>
          <p:cNvSpPr txBox="1"/>
          <p:nvPr/>
        </p:nvSpPr>
        <p:spPr>
          <a:xfrm>
            <a:off x="640080" y="4087368"/>
            <a:ext cx="3611880" cy="374904"/>
          </a:xfrm>
          <a:prstGeom prst="rect">
            <a:avLst/>
          </a:prstGeom>
          <a:noFill/>
          <a:ln/>
        </p:spPr>
        <p:txBody>
          <a:bodyPr wrap="square" lIns="0" tIns="0" rIns="0" bIns="0" rtlCol="0" anchor="t"/>
          <a:lstStyle/>
          <a:p>
            <a:pPr marL="0" indent="0">
              <a:buNone/>
            </a:pPr>
            <a:r>
              <a:rPr lang="it-IT" sz="1200" dirty="0">
                <a:solidFill>
                  <a:schemeClr val="tx2"/>
                </a:solidFill>
              </a:rPr>
              <a:t>= risposte obsolete</a:t>
            </a:r>
            <a:endParaRPr lang="it-IT" sz="1200" dirty="0"/>
          </a:p>
        </p:txBody>
      </p:sp>
      <p:sp>
        <p:nvSpPr>
          <p:cNvPr id="37" name="scheda Buone fonti + istruzioni chiare + controlli"/>
          <p:cNvSpPr/>
          <p:nvPr/>
        </p:nvSpPr>
        <p:spPr>
          <a:xfrm>
            <a:off x="4709160" y="3520440"/>
            <a:ext cx="3977640" cy="1051560"/>
          </a:xfrm>
          <a:prstGeom prst="roundRect">
            <a:avLst>
              <a:gd name="adj" fmla="val 6957"/>
            </a:avLst>
          </a:prstGeom>
          <a:solidFill>
            <a:schemeClr val="accent6"/>
          </a:solidFill>
          <a:ln/>
        </p:spPr>
        <p:txBody>
          <a:bodyPr/>
          <a:lstStyle/>
          <a:p>
            <a:endParaRPr lang="it-IT" dirty="0"/>
          </a:p>
        </p:txBody>
      </p:sp>
      <p:sp>
        <p:nvSpPr>
          <p:cNvPr id="38" name="Text 29"/>
          <p:cNvSpPr txBox="1"/>
          <p:nvPr/>
        </p:nvSpPr>
        <p:spPr>
          <a:xfrm>
            <a:off x="4892040" y="3703320"/>
            <a:ext cx="3611880" cy="347472"/>
          </a:xfrm>
          <a:prstGeom prst="rect">
            <a:avLst/>
          </a:prstGeom>
          <a:noFill/>
          <a:ln/>
        </p:spPr>
        <p:txBody>
          <a:bodyPr wrap="square" lIns="0" tIns="0" rIns="0" bIns="0" rtlCol="0" anchor="t"/>
          <a:lstStyle/>
          <a:p>
            <a:pPr marL="0" indent="0">
              <a:buNone/>
            </a:pPr>
            <a:r>
              <a:rPr lang="it-IT" sz="1300" b="1" dirty="0">
                <a:solidFill>
                  <a:schemeClr val="tx1"/>
                </a:solidFill>
              </a:rPr>
              <a:t>Buone fonti + istruzioni chiare + controlli</a:t>
            </a:r>
            <a:endParaRPr lang="it-IT" sz="1300" dirty="0"/>
          </a:p>
        </p:txBody>
      </p:sp>
      <p:sp>
        <p:nvSpPr>
          <p:cNvPr id="39" name="Text 30"/>
          <p:cNvSpPr txBox="1"/>
          <p:nvPr/>
        </p:nvSpPr>
        <p:spPr>
          <a:xfrm>
            <a:off x="4892040" y="4087368"/>
            <a:ext cx="3611880" cy="374904"/>
          </a:xfrm>
          <a:prstGeom prst="rect">
            <a:avLst/>
          </a:prstGeom>
          <a:noFill/>
          <a:ln/>
        </p:spPr>
        <p:txBody>
          <a:bodyPr wrap="square" lIns="0" tIns="0" rIns="0" bIns="0" rtlCol="0" anchor="t"/>
          <a:lstStyle/>
          <a:p>
            <a:pPr marL="0" indent="0">
              <a:buNone/>
            </a:pPr>
            <a:r>
              <a:rPr lang="it-IT" sz="1200" dirty="0">
                <a:solidFill>
                  <a:schemeClr val="tx2"/>
                </a:solidFill>
              </a:rPr>
              <a:t>= risultati più affidabili, anche con un modello meno potente</a:t>
            </a:r>
            <a:endParaRPr lang="it-IT"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82</a:t>
            </a:fld>
            <a:endParaRPr lang="it-IT"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Supervisione umana e verifica proporzionata</a:t>
            </a:r>
            <a:endParaRPr lang="it-IT" sz="2600" dirty="0"/>
          </a:p>
        </p:txBody>
      </p:sp>
      <p:sp>
        <p:nvSpPr>
          <p:cNvPr id="4" name="Leggera"/>
          <p:cNvSpPr/>
          <p:nvPr/>
        </p:nvSpPr>
        <p:spPr>
          <a:xfrm>
            <a:off x="457200" y="2194560"/>
            <a:ext cx="2615184" cy="1554480"/>
          </a:xfrm>
          <a:prstGeom prst="roundRect">
            <a:avLst>
              <a:gd name="adj" fmla="val 4706"/>
            </a:avLst>
          </a:prstGeom>
          <a:solidFill>
            <a:schemeClr val="bg2"/>
          </a:solidFill>
          <a:ln/>
        </p:spPr>
        <p:txBody>
          <a:bodyPr/>
          <a:lstStyle/>
          <a:p>
            <a:endParaRPr lang="it-IT" dirty="0"/>
          </a:p>
        </p:txBody>
      </p:sp>
      <p:sp>
        <p:nvSpPr>
          <p:cNvPr id="5" name="Text 2"/>
          <p:cNvSpPr txBox="1"/>
          <p:nvPr/>
        </p:nvSpPr>
        <p:spPr>
          <a:xfrm>
            <a:off x="640080" y="2304288"/>
            <a:ext cx="2286000" cy="347472"/>
          </a:xfrm>
          <a:prstGeom prst="rect">
            <a:avLst/>
          </a:prstGeom>
          <a:noFill/>
          <a:ln/>
        </p:spPr>
        <p:txBody>
          <a:bodyPr wrap="square" lIns="0" tIns="0" rIns="0" bIns="0" rtlCol="0" anchor="t"/>
          <a:lstStyle/>
          <a:p>
            <a:pPr marL="0" indent="0">
              <a:buNone/>
            </a:pPr>
            <a:r>
              <a:rPr lang="it-IT" sz="1600" b="1" dirty="0">
                <a:solidFill>
                  <a:schemeClr val="tx1"/>
                </a:solidFill>
              </a:rPr>
              <a:t>Verifica leggera</a:t>
            </a:r>
            <a:endParaRPr lang="it-IT" sz="1600" dirty="0"/>
          </a:p>
        </p:txBody>
      </p:sp>
      <p:sp>
        <p:nvSpPr>
          <p:cNvPr id="6" name="Text 3"/>
          <p:cNvSpPr txBox="1"/>
          <p:nvPr/>
        </p:nvSpPr>
        <p:spPr>
          <a:xfrm>
            <a:off x="640080" y="2670048"/>
            <a:ext cx="2286000" cy="457200"/>
          </a:xfrm>
          <a:prstGeom prst="rect">
            <a:avLst/>
          </a:prstGeom>
          <a:noFill/>
          <a:ln/>
        </p:spPr>
        <p:txBody>
          <a:bodyPr wrap="square" lIns="0" tIns="0" rIns="0" bIns="0" rtlCol="0" anchor="t"/>
          <a:lstStyle/>
          <a:p>
            <a:pPr marL="0" indent="0">
              <a:buNone/>
            </a:pPr>
            <a:r>
              <a:rPr lang="it-IT" sz="1300" b="1" dirty="0">
                <a:solidFill>
                  <a:schemeClr val="accent1"/>
                </a:solidFill>
              </a:rPr>
              <a:t>Rilettura critica</a:t>
            </a:r>
            <a:endParaRPr lang="it-IT" sz="1300" dirty="0"/>
          </a:p>
        </p:txBody>
      </p:sp>
      <p:sp>
        <p:nvSpPr>
          <p:cNvPr id="7" name="Text 4"/>
          <p:cNvSpPr txBox="1"/>
          <p:nvPr/>
        </p:nvSpPr>
        <p:spPr>
          <a:xfrm>
            <a:off x="640080" y="3108960"/>
            <a:ext cx="2286000" cy="548640"/>
          </a:xfrm>
          <a:prstGeom prst="rect">
            <a:avLst/>
          </a:prstGeom>
          <a:noFill/>
          <a:ln/>
        </p:spPr>
        <p:txBody>
          <a:bodyPr wrap="square" lIns="0" tIns="0" rIns="0" bIns="0" rtlCol="0" anchor="t"/>
          <a:lstStyle/>
          <a:p>
            <a:pPr marL="0" indent="0">
              <a:buNone/>
            </a:pPr>
            <a:r>
              <a:rPr lang="it-IT" sz="1200" dirty="0">
                <a:solidFill>
                  <a:schemeClr val="tx1"/>
                </a:solidFill>
              </a:rPr>
              <a:t>Bozze interne, idee, testi a basso impatto</a:t>
            </a:r>
            <a:endParaRPr lang="it-IT" sz="1200" dirty="0"/>
          </a:p>
        </p:txBody>
      </p:sp>
      <p:sp>
        <p:nvSpPr>
          <p:cNvPr id="8" name="Standard"/>
          <p:cNvSpPr/>
          <p:nvPr/>
        </p:nvSpPr>
        <p:spPr>
          <a:xfrm>
            <a:off x="3264408" y="1828800"/>
            <a:ext cx="2615184" cy="1920240"/>
          </a:xfrm>
          <a:prstGeom prst="roundRect">
            <a:avLst>
              <a:gd name="adj" fmla="val 3810"/>
            </a:avLst>
          </a:prstGeom>
          <a:solidFill>
            <a:schemeClr val="accent6"/>
          </a:solidFill>
          <a:ln/>
        </p:spPr>
        <p:txBody>
          <a:bodyPr/>
          <a:lstStyle/>
          <a:p>
            <a:endParaRPr lang="it-IT" dirty="0"/>
          </a:p>
        </p:txBody>
      </p:sp>
      <p:sp>
        <p:nvSpPr>
          <p:cNvPr id="9" name="Text 6"/>
          <p:cNvSpPr txBox="1"/>
          <p:nvPr/>
        </p:nvSpPr>
        <p:spPr>
          <a:xfrm>
            <a:off x="3447288" y="1938528"/>
            <a:ext cx="2286000" cy="347472"/>
          </a:xfrm>
          <a:prstGeom prst="rect">
            <a:avLst/>
          </a:prstGeom>
          <a:noFill/>
          <a:ln/>
        </p:spPr>
        <p:txBody>
          <a:bodyPr wrap="square" lIns="0" tIns="0" rIns="0" bIns="0" rtlCol="0" anchor="t"/>
          <a:lstStyle/>
          <a:p>
            <a:pPr marL="0" indent="0">
              <a:buNone/>
            </a:pPr>
            <a:r>
              <a:rPr lang="it-IT" sz="1600" b="1" dirty="0">
                <a:solidFill>
                  <a:schemeClr val="tx1"/>
                </a:solidFill>
              </a:rPr>
              <a:t>Verifica standard</a:t>
            </a:r>
            <a:endParaRPr lang="it-IT" sz="1600" dirty="0"/>
          </a:p>
        </p:txBody>
      </p:sp>
      <p:sp>
        <p:nvSpPr>
          <p:cNvPr id="10" name="Text 7"/>
          <p:cNvSpPr txBox="1"/>
          <p:nvPr/>
        </p:nvSpPr>
        <p:spPr>
          <a:xfrm>
            <a:off x="3447288" y="2304288"/>
            <a:ext cx="2286000" cy="457200"/>
          </a:xfrm>
          <a:prstGeom prst="rect">
            <a:avLst/>
          </a:prstGeom>
          <a:noFill/>
          <a:ln/>
        </p:spPr>
        <p:txBody>
          <a:bodyPr wrap="square" lIns="0" tIns="0" rIns="0" bIns="0" rtlCol="0" anchor="t"/>
          <a:lstStyle/>
          <a:p>
            <a:pPr marL="0" indent="0">
              <a:buNone/>
            </a:pPr>
            <a:r>
              <a:rPr lang="it-IT" sz="1300" b="1" dirty="0">
                <a:solidFill>
                  <a:schemeClr val="accent1"/>
                </a:solidFill>
              </a:rPr>
              <a:t>Fatti principali, numeri, fonti</a:t>
            </a:r>
            <a:endParaRPr lang="it-IT" sz="1300" dirty="0"/>
          </a:p>
        </p:txBody>
      </p:sp>
      <p:sp>
        <p:nvSpPr>
          <p:cNvPr id="11" name="Text 8"/>
          <p:cNvSpPr txBox="1"/>
          <p:nvPr/>
        </p:nvSpPr>
        <p:spPr>
          <a:xfrm>
            <a:off x="3447288" y="2743200"/>
            <a:ext cx="2286000" cy="914400"/>
          </a:xfrm>
          <a:prstGeom prst="rect">
            <a:avLst/>
          </a:prstGeom>
          <a:noFill/>
          <a:ln/>
        </p:spPr>
        <p:txBody>
          <a:bodyPr wrap="square" lIns="0" tIns="0" rIns="0" bIns="0" rtlCol="0" anchor="t"/>
          <a:lstStyle/>
          <a:p>
            <a:pPr marL="0" indent="0">
              <a:buNone/>
            </a:pPr>
            <a:r>
              <a:rPr lang="it-IT" sz="1200" dirty="0">
                <a:solidFill>
                  <a:schemeClr val="tx1"/>
                </a:solidFill>
              </a:rPr>
              <a:t>Documenti che escono dal gruppo di lavoro</a:t>
            </a:r>
            <a:endParaRPr lang="it-IT" sz="1200" dirty="0"/>
          </a:p>
        </p:txBody>
      </p:sp>
      <p:sp>
        <p:nvSpPr>
          <p:cNvPr id="12" name="Approfondita"/>
          <p:cNvSpPr/>
          <p:nvPr/>
        </p:nvSpPr>
        <p:spPr>
          <a:xfrm>
            <a:off x="6071616" y="1463040"/>
            <a:ext cx="2615184" cy="2286000"/>
          </a:xfrm>
          <a:prstGeom prst="roundRect">
            <a:avLst>
              <a:gd name="adj" fmla="val 3200"/>
            </a:avLst>
          </a:prstGeom>
          <a:solidFill>
            <a:schemeClr val="accent1"/>
          </a:solidFill>
          <a:ln/>
        </p:spPr>
        <p:txBody>
          <a:bodyPr/>
          <a:lstStyle/>
          <a:p>
            <a:endParaRPr lang="it-IT" dirty="0"/>
          </a:p>
        </p:txBody>
      </p:sp>
      <p:sp>
        <p:nvSpPr>
          <p:cNvPr id="13" name="Text 10"/>
          <p:cNvSpPr txBox="1"/>
          <p:nvPr/>
        </p:nvSpPr>
        <p:spPr>
          <a:xfrm>
            <a:off x="6254496" y="1572768"/>
            <a:ext cx="2286000" cy="347472"/>
          </a:xfrm>
          <a:prstGeom prst="rect">
            <a:avLst/>
          </a:prstGeom>
          <a:noFill/>
          <a:ln/>
        </p:spPr>
        <p:txBody>
          <a:bodyPr wrap="square" lIns="0" tIns="0" rIns="0" bIns="0" rtlCol="0" anchor="t"/>
          <a:lstStyle/>
          <a:p>
            <a:pPr marL="0" indent="0">
              <a:buNone/>
            </a:pPr>
            <a:r>
              <a:rPr lang="it-IT" sz="1600" b="1" dirty="0">
                <a:solidFill>
                  <a:schemeClr val="bg1"/>
                </a:solidFill>
              </a:rPr>
              <a:t>Verifica approfondita</a:t>
            </a:r>
            <a:endParaRPr lang="it-IT" sz="1600" dirty="0"/>
          </a:p>
        </p:txBody>
      </p:sp>
      <p:sp>
        <p:nvSpPr>
          <p:cNvPr id="14" name="Text 11"/>
          <p:cNvSpPr txBox="1"/>
          <p:nvPr/>
        </p:nvSpPr>
        <p:spPr>
          <a:xfrm>
            <a:off x="6254496" y="1938528"/>
            <a:ext cx="2286000" cy="457200"/>
          </a:xfrm>
          <a:prstGeom prst="rect">
            <a:avLst/>
          </a:prstGeom>
          <a:noFill/>
          <a:ln/>
        </p:spPr>
        <p:txBody>
          <a:bodyPr wrap="square" lIns="0" tIns="0" rIns="0" bIns="0" rtlCol="0" anchor="t"/>
          <a:lstStyle/>
          <a:p>
            <a:pPr marL="0" indent="0">
              <a:buNone/>
            </a:pPr>
            <a:r>
              <a:rPr lang="it-IT" sz="1300" b="1" dirty="0">
                <a:solidFill>
                  <a:schemeClr val="accent6"/>
                </a:solidFill>
              </a:rPr>
              <a:t>Fonti indipendenti e revisione esperta</a:t>
            </a:r>
            <a:endParaRPr lang="it-IT" sz="1300" dirty="0"/>
          </a:p>
        </p:txBody>
      </p:sp>
      <p:sp>
        <p:nvSpPr>
          <p:cNvPr id="15" name="Text 12"/>
          <p:cNvSpPr txBox="1"/>
          <p:nvPr/>
        </p:nvSpPr>
        <p:spPr>
          <a:xfrm>
            <a:off x="6254496" y="2377440"/>
            <a:ext cx="2286000" cy="1280160"/>
          </a:xfrm>
          <a:prstGeom prst="rect">
            <a:avLst/>
          </a:prstGeom>
          <a:noFill/>
          <a:ln/>
        </p:spPr>
        <p:txBody>
          <a:bodyPr wrap="square" lIns="0" tIns="0" rIns="0" bIns="0" rtlCol="0" anchor="t"/>
          <a:lstStyle/>
          <a:p>
            <a:pPr marL="0" indent="0">
              <a:buNone/>
            </a:pPr>
            <a:r>
              <a:rPr lang="it-IT" sz="1200" dirty="0">
                <a:solidFill>
                  <a:schemeClr val="bg1"/>
                </a:solidFill>
              </a:rPr>
              <a:t>Conseguenze legali, economiche, di sicurezza, reputazionali</a:t>
            </a:r>
            <a:endParaRPr lang="it-IT" sz="1200" dirty="0"/>
          </a:p>
        </p:txBody>
      </p:sp>
      <p:sp>
        <p:nvSpPr>
          <p:cNvPr id="16" name="scheda Chi verifica deve avere le competenze"/>
          <p:cNvSpPr/>
          <p:nvPr/>
        </p:nvSpPr>
        <p:spPr>
          <a:xfrm>
            <a:off x="457200" y="3886200"/>
            <a:ext cx="3977640" cy="685800"/>
          </a:xfrm>
          <a:prstGeom prst="roundRect">
            <a:avLst>
              <a:gd name="adj" fmla="val 10667"/>
            </a:avLst>
          </a:prstGeom>
          <a:solidFill>
            <a:schemeClr val="bg2"/>
          </a:solidFill>
          <a:ln/>
        </p:spPr>
        <p:txBody>
          <a:bodyPr/>
          <a:lstStyle/>
          <a:p>
            <a:endParaRPr lang="it-IT" dirty="0"/>
          </a:p>
        </p:txBody>
      </p:sp>
      <p:sp>
        <p:nvSpPr>
          <p:cNvPr id="17" name="Text 14"/>
          <p:cNvSpPr txBox="1"/>
          <p:nvPr/>
        </p:nvSpPr>
        <p:spPr>
          <a:xfrm>
            <a:off x="640080" y="4069080"/>
            <a:ext cx="3611880" cy="347472"/>
          </a:xfrm>
          <a:prstGeom prst="rect">
            <a:avLst/>
          </a:prstGeom>
          <a:noFill/>
          <a:ln/>
        </p:spPr>
        <p:txBody>
          <a:bodyPr wrap="square" lIns="0" tIns="0" rIns="0" bIns="0" rtlCol="0" anchor="t"/>
          <a:lstStyle/>
          <a:p>
            <a:pPr marL="0" indent="0">
              <a:buNone/>
            </a:pPr>
            <a:r>
              <a:rPr lang="it-IT" sz="1300" b="1" dirty="0">
                <a:solidFill>
                  <a:schemeClr val="tx1"/>
                </a:solidFill>
              </a:rPr>
              <a:t>Chi verifica deve avere le competenze</a:t>
            </a:r>
            <a:endParaRPr lang="it-IT" sz="1300" dirty="0"/>
          </a:p>
        </p:txBody>
      </p:sp>
      <p:sp>
        <p:nvSpPr>
          <p:cNvPr id="18" name="scheda Automation bias: più funziona, meno controlliamo"/>
          <p:cNvSpPr/>
          <p:nvPr/>
        </p:nvSpPr>
        <p:spPr>
          <a:xfrm>
            <a:off x="4709160" y="3886200"/>
            <a:ext cx="3977640" cy="685800"/>
          </a:xfrm>
          <a:prstGeom prst="roundRect">
            <a:avLst>
              <a:gd name="adj" fmla="val 10667"/>
            </a:avLst>
          </a:prstGeom>
          <a:solidFill>
            <a:schemeClr val="bg2"/>
          </a:solidFill>
          <a:ln/>
        </p:spPr>
        <p:txBody>
          <a:bodyPr/>
          <a:lstStyle/>
          <a:p>
            <a:endParaRPr lang="it-IT" dirty="0"/>
          </a:p>
        </p:txBody>
      </p:sp>
      <p:sp>
        <p:nvSpPr>
          <p:cNvPr id="19" name="Text 16"/>
          <p:cNvSpPr txBox="1"/>
          <p:nvPr/>
        </p:nvSpPr>
        <p:spPr>
          <a:xfrm>
            <a:off x="4892040" y="3951514"/>
            <a:ext cx="3611880" cy="347472"/>
          </a:xfrm>
          <a:prstGeom prst="rect">
            <a:avLst/>
          </a:prstGeom>
          <a:noFill/>
          <a:ln/>
        </p:spPr>
        <p:txBody>
          <a:bodyPr wrap="square" lIns="0" tIns="0" rIns="0" bIns="0" rtlCol="0" anchor="t"/>
          <a:lstStyle/>
          <a:p>
            <a:pPr marL="0" indent="0">
              <a:buNone/>
            </a:pPr>
            <a:r>
              <a:rPr lang="it-IT" sz="1300" b="1" dirty="0">
                <a:solidFill>
                  <a:schemeClr val="tx1"/>
                </a:solidFill>
              </a:rPr>
              <a:t>Automation </a:t>
            </a:r>
            <a:r>
              <a:rPr lang="it-IT" sz="1300" b="1" dirty="0" err="1">
                <a:solidFill>
                  <a:schemeClr val="tx1"/>
                </a:solidFill>
              </a:rPr>
              <a:t>bias</a:t>
            </a:r>
            <a:r>
              <a:rPr lang="it-IT" sz="1300" b="1" dirty="0">
                <a:solidFill>
                  <a:schemeClr val="tx1"/>
                </a:solidFill>
              </a:rPr>
              <a:t>: </a:t>
            </a:r>
            <a:r>
              <a:rPr lang="it-IT" sz="1300" dirty="0">
                <a:solidFill>
                  <a:schemeClr val="tx1"/>
                </a:solidFill>
              </a:rPr>
              <a:t>Quando un sistema funziona bene abitualmente, possiamo essere portati a controllarne meno criticamente i risultati.</a:t>
            </a:r>
            <a:endParaRPr lang="it-IT"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83</a:t>
            </a:fld>
            <a:endParaRPr lang="it-IT"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640080" y="914400"/>
            <a:ext cx="3657600" cy="1005840"/>
          </a:xfrm>
          <a:prstGeom prst="rect">
            <a:avLst/>
          </a:prstGeom>
          <a:noFill/>
          <a:ln/>
        </p:spPr>
        <p:txBody>
          <a:bodyPr wrap="square" lIns="0" tIns="0" rIns="0" bIns="0" rtlCol="0" anchor="b"/>
          <a:lstStyle/>
          <a:p>
            <a:pPr marL="0" indent="0">
              <a:buNone/>
            </a:pPr>
            <a:r>
              <a:rPr lang="it-IT" sz="6000" b="1" dirty="0">
                <a:solidFill>
                  <a:schemeClr val="accent1"/>
                </a:solidFill>
              </a:rPr>
              <a:t>3.8</a:t>
            </a:r>
            <a:endParaRPr lang="it-IT" sz="6000" dirty="0"/>
          </a:p>
        </p:txBody>
      </p:sp>
      <p:sp>
        <p:nvSpPr>
          <p:cNvPr id="3" name="Text 0"/>
          <p:cNvSpPr>
            <a:spLocks noGrp="1"/>
          </p:cNvSpPr>
          <p:nvPr>
            <p:ph type="title" idx="101" hasCustomPrompt="1"/>
          </p:nvPr>
        </p:nvSpPr>
        <p:spPr>
          <a:xfrm>
            <a:off x="640080" y="2057400"/>
            <a:ext cx="7863840" cy="914400"/>
          </a:xfrm>
          <a:prstGeom prst="rect">
            <a:avLst/>
          </a:prstGeom>
          <a:noFill/>
          <a:ln/>
        </p:spPr>
        <p:txBody>
          <a:bodyPr wrap="square" lIns="0" tIns="0" rIns="0" bIns="0" rtlCol="0" anchor="t"/>
          <a:lstStyle/>
          <a:p>
            <a:pPr marL="0" indent="0" algn="l">
              <a:buNone/>
            </a:pPr>
            <a:r>
              <a:rPr lang="it-IT" sz="3200" b="1" dirty="0">
                <a:solidFill>
                  <a:schemeClr val="bg1"/>
                </a:solidFill>
              </a:rPr>
              <a:t>Quando utilizzare o limitare l'AI</a:t>
            </a:r>
            <a:endParaRPr lang="it-IT" sz="3200" dirty="0"/>
          </a:p>
        </p:txBody>
      </p:sp>
      <p:sp>
        <p:nvSpPr>
          <p:cNvPr id="4" name="Text 0"/>
          <p:cNvSpPr>
            <a:spLocks noGrp="1"/>
          </p:cNvSpPr>
          <p:nvPr>
            <p:ph type="body" idx="102" hasCustomPrompt="1"/>
          </p:nvPr>
        </p:nvSpPr>
        <p:spPr>
          <a:xfrm>
            <a:off x="640080" y="3063240"/>
            <a:ext cx="7315200" cy="1097280"/>
          </a:xfrm>
          <a:prstGeom prst="rect">
            <a:avLst/>
          </a:prstGeom>
          <a:noFill/>
          <a:ln/>
        </p:spPr>
        <p:txBody>
          <a:bodyPr wrap="square" lIns="0" tIns="0" rIns="0" bIns="0" rtlCol="0" anchor="t"/>
          <a:lstStyle/>
          <a:p>
            <a:pPr marL="0" indent="0">
              <a:buNone/>
            </a:pPr>
            <a:r>
              <a:rPr lang="it-IT" sz="1600" dirty="0">
                <a:solidFill>
                  <a:schemeClr val="accent3"/>
                </a:solidFill>
              </a:rPr>
              <a:t>Scegliere il livello di utilizzo dell'AI in funzione del valore atteso, dell'affidabilità richiesta e dei controlli disponibili.</a:t>
            </a:r>
            <a:endParaRPr lang="it-IT"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84</a:t>
            </a:fld>
            <a:endParaRPr lang="it-IT"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Possibilità tecnica e opportunità di utilizzo</a:t>
            </a:r>
            <a:endParaRPr lang="it-IT" sz="2600" dirty="0"/>
          </a:p>
        </p:txBody>
      </p:sp>
      <p:sp>
        <p:nvSpPr>
          <p:cNvPr id="4" name="scheda Può farlo?"/>
          <p:cNvSpPr/>
          <p:nvPr/>
        </p:nvSpPr>
        <p:spPr>
          <a:xfrm>
            <a:off x="457200" y="1097280"/>
            <a:ext cx="3977640" cy="2286000"/>
          </a:xfrm>
          <a:prstGeom prst="roundRect">
            <a:avLst>
              <a:gd name="adj" fmla="val 3200"/>
            </a:avLst>
          </a:prstGeom>
          <a:solidFill>
            <a:schemeClr val="bg2"/>
          </a:solidFill>
          <a:ln/>
        </p:spPr>
        <p:txBody>
          <a:bodyPr/>
          <a:lstStyle/>
          <a:p>
            <a:endParaRPr lang="it-IT" dirty="0"/>
          </a:p>
        </p:txBody>
      </p:sp>
      <p:sp>
        <p:nvSpPr>
          <p:cNvPr id="5" name="cerchio FiCpu"/>
          <p:cNvSpPr/>
          <p:nvPr/>
        </p:nvSpPr>
        <p:spPr>
          <a:xfrm>
            <a:off x="640080" y="1280160"/>
            <a:ext cx="457200" cy="457200"/>
          </a:xfrm>
          <a:prstGeom prst="ellipse">
            <a:avLst/>
          </a:prstGeom>
          <a:solidFill>
            <a:schemeClr val="accent1"/>
          </a:solidFill>
          <a:ln/>
        </p:spPr>
        <p:txBody>
          <a:bodyPr/>
          <a:lstStyle/>
          <a:p>
            <a:endParaRPr lang="it-IT" dirty="0"/>
          </a:p>
        </p:txBody>
      </p:sp>
      <p:pic>
        <p:nvPicPr>
          <p:cNvPr id="6" name="Image 0" descr="FiCpu"/>
          <p:cNvPicPr>
            <a:picLocks noChangeAspect="1"/>
          </p:cNvPicPr>
          <p:nvPr/>
        </p:nvPicPr>
        <p:blipFill>
          <a:blip r:embed="rId3"/>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marL="0" indent="0">
              <a:buNone/>
            </a:pPr>
            <a:r>
              <a:rPr lang="it-IT" sz="1700" b="1" dirty="0">
                <a:solidFill>
                  <a:schemeClr val="tx1"/>
                </a:solidFill>
              </a:rPr>
              <a:t>Può farlo?</a:t>
            </a:r>
            <a:endParaRPr lang="it-IT" sz="1700" dirty="0"/>
          </a:p>
        </p:txBody>
      </p:sp>
      <p:sp>
        <p:nvSpPr>
          <p:cNvPr id="8" name="Text 4"/>
          <p:cNvSpPr txBox="1"/>
          <p:nvPr/>
        </p:nvSpPr>
        <p:spPr>
          <a:xfrm>
            <a:off x="640080" y="2231136"/>
            <a:ext cx="3611880" cy="1042416"/>
          </a:xfrm>
          <a:prstGeom prst="rect">
            <a:avLst/>
          </a:prstGeom>
          <a:noFill/>
          <a:ln/>
        </p:spPr>
        <p:txBody>
          <a:bodyPr wrap="square" lIns="0" tIns="0" rIns="0" bIns="0" rtlCol="0" anchor="t"/>
          <a:lstStyle/>
          <a:p>
            <a:pPr marL="0" indent="0">
              <a:buNone/>
            </a:pPr>
            <a:r>
              <a:rPr lang="it-IT" sz="1300" dirty="0">
                <a:solidFill>
                  <a:schemeClr val="tx2"/>
                </a:solidFill>
              </a:rPr>
              <a:t>Possibilità tecnica.</a:t>
            </a:r>
            <a:endParaRPr lang="it-IT" sz="1300" dirty="0"/>
          </a:p>
          <a:p>
            <a:pPr marL="0" indent="0">
              <a:buNone/>
            </a:pPr>
            <a:endParaRPr lang="it-IT" sz="1300" dirty="0"/>
          </a:p>
          <a:p>
            <a:pPr marL="0" indent="0">
              <a:buNone/>
            </a:pPr>
            <a:r>
              <a:rPr lang="it-IT" sz="1300" dirty="0">
                <a:solidFill>
                  <a:schemeClr val="tx2"/>
                </a:solidFill>
              </a:rPr>
              <a:t>Spesso sì: valutazioni, risposte mediche, pareri legali, decisioni su clienti.</a:t>
            </a:r>
            <a:endParaRPr lang="it-IT" sz="1300" dirty="0"/>
          </a:p>
        </p:txBody>
      </p:sp>
      <p:sp>
        <p:nvSpPr>
          <p:cNvPr id="9" name="scheda È opportuno farlo?"/>
          <p:cNvSpPr/>
          <p:nvPr/>
        </p:nvSpPr>
        <p:spPr>
          <a:xfrm>
            <a:off x="4709160" y="1097280"/>
            <a:ext cx="3977640" cy="2286000"/>
          </a:xfrm>
          <a:prstGeom prst="roundRect">
            <a:avLst>
              <a:gd name="adj" fmla="val 3200"/>
            </a:avLst>
          </a:prstGeom>
          <a:solidFill>
            <a:schemeClr val="accent6"/>
          </a:solidFill>
          <a:ln/>
        </p:spPr>
        <p:txBody>
          <a:bodyPr/>
          <a:lstStyle/>
          <a:p>
            <a:endParaRPr lang="it-IT" dirty="0"/>
          </a:p>
        </p:txBody>
      </p:sp>
      <p:sp>
        <p:nvSpPr>
          <p:cNvPr id="10" name="cerchio FiHelpCircle"/>
          <p:cNvSpPr/>
          <p:nvPr/>
        </p:nvSpPr>
        <p:spPr>
          <a:xfrm>
            <a:off x="4892040" y="1280160"/>
            <a:ext cx="457200" cy="457200"/>
          </a:xfrm>
          <a:prstGeom prst="ellipse">
            <a:avLst/>
          </a:prstGeom>
          <a:solidFill>
            <a:schemeClr val="accent1"/>
          </a:solidFill>
          <a:ln/>
        </p:spPr>
        <p:txBody>
          <a:bodyPr/>
          <a:lstStyle/>
          <a:p>
            <a:endParaRPr lang="it-IT" dirty="0"/>
          </a:p>
        </p:txBody>
      </p:sp>
      <p:pic>
        <p:nvPicPr>
          <p:cNvPr id="11" name="Image 1" descr="FiHelpCircle"/>
          <p:cNvPicPr>
            <a:picLocks noChangeAspect="1"/>
          </p:cNvPicPr>
          <p:nvPr/>
        </p:nvPicPr>
        <p:blipFill>
          <a:blip r:embed="rId4"/>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marL="0" indent="0">
              <a:buNone/>
            </a:pPr>
            <a:r>
              <a:rPr lang="it-IT" sz="1700" b="1" dirty="0">
                <a:solidFill>
                  <a:schemeClr val="tx1"/>
                </a:solidFill>
              </a:rPr>
              <a:t>È opportuno farlo?</a:t>
            </a:r>
            <a:endParaRPr lang="it-IT" sz="1700" dirty="0"/>
          </a:p>
        </p:txBody>
      </p:sp>
      <p:sp>
        <p:nvSpPr>
          <p:cNvPr id="13" name="Text 8"/>
          <p:cNvSpPr txBox="1"/>
          <p:nvPr/>
        </p:nvSpPr>
        <p:spPr>
          <a:xfrm>
            <a:off x="4892040" y="2231136"/>
            <a:ext cx="3611880" cy="1042416"/>
          </a:xfrm>
          <a:prstGeom prst="rect">
            <a:avLst/>
          </a:prstGeom>
          <a:noFill/>
          <a:ln/>
        </p:spPr>
        <p:txBody>
          <a:bodyPr wrap="square" lIns="0" tIns="0" rIns="0" bIns="0" rtlCol="0" anchor="t"/>
          <a:lstStyle/>
          <a:p>
            <a:pPr marL="177800" indent="-177800">
              <a:spcAft>
                <a:spcPts val="100"/>
              </a:spcAft>
              <a:buSzPct val="100000"/>
              <a:buChar char="•"/>
            </a:pPr>
            <a:r>
              <a:rPr lang="it-IT" sz="1300" dirty="0">
                <a:solidFill>
                  <a:schemeClr val="tx2"/>
                </a:solidFill>
              </a:rPr>
              <a:t>Affidabilità per quel compito</a:t>
            </a:r>
            <a:endParaRPr lang="it-IT" sz="1300" dirty="0"/>
          </a:p>
          <a:p>
            <a:pPr marL="177800" indent="-177800">
              <a:spcAft>
                <a:spcPts val="100"/>
              </a:spcAft>
              <a:buSzPct val="100000"/>
              <a:buChar char="•"/>
            </a:pPr>
            <a:r>
              <a:rPr lang="it-IT" sz="1300" dirty="0">
                <a:solidFill>
                  <a:schemeClr val="tx2"/>
                </a:solidFill>
              </a:rPr>
              <a:t>Gravità di un errore</a:t>
            </a:r>
            <a:endParaRPr lang="it-IT" sz="1300" dirty="0"/>
          </a:p>
          <a:p>
            <a:pPr marL="177800" indent="-177800">
              <a:spcAft>
                <a:spcPts val="100"/>
              </a:spcAft>
              <a:buSzPct val="100000"/>
              <a:buChar char="•"/>
            </a:pPr>
            <a:r>
              <a:rPr lang="it-IT" sz="1300" dirty="0">
                <a:solidFill>
                  <a:schemeClr val="tx2"/>
                </a:solidFill>
              </a:rPr>
              <a:t>Possibilità di verificare</a:t>
            </a:r>
            <a:endParaRPr lang="it-IT" sz="1300" dirty="0"/>
          </a:p>
          <a:p>
            <a:pPr marL="177800" indent="-177800">
              <a:spcAft>
                <a:spcPts val="100"/>
              </a:spcAft>
              <a:buSzPct val="100000"/>
              <a:buChar char="•"/>
            </a:pPr>
            <a:r>
              <a:rPr lang="it-IT" sz="1300" dirty="0">
                <a:solidFill>
                  <a:schemeClr val="tx2"/>
                </a:solidFill>
              </a:rPr>
              <a:t>Chi subisce le conseguenze</a:t>
            </a:r>
            <a:endParaRPr lang="it-IT" sz="1300" dirty="0"/>
          </a:p>
          <a:p>
            <a:pPr marL="177800" indent="-177800">
              <a:spcAft>
                <a:spcPts val="100"/>
              </a:spcAft>
              <a:buSzPct val="100000"/>
              <a:buChar char="•"/>
            </a:pPr>
            <a:r>
              <a:rPr lang="it-IT" sz="1300" dirty="0">
                <a:solidFill>
                  <a:schemeClr val="tx2"/>
                </a:solidFill>
              </a:rPr>
              <a:t>Regole aziendali e normative</a:t>
            </a:r>
            <a:endParaRPr lang="it-IT" sz="1300" dirty="0"/>
          </a:p>
        </p:txBody>
      </p:sp>
      <p:sp>
        <p:nvSpPr>
          <p:cNvPr id="14" name="messaggio"/>
          <p:cNvSpPr/>
          <p:nvPr/>
        </p:nvSpPr>
        <p:spPr>
          <a:xfrm>
            <a:off x="457200" y="3566160"/>
            <a:ext cx="8229600" cy="960120"/>
          </a:xfrm>
          <a:prstGeom prst="roundRect">
            <a:avLst>
              <a:gd name="adj" fmla="val 7619"/>
            </a:avLst>
          </a:prstGeom>
          <a:solidFill>
            <a:schemeClr val="tx1"/>
          </a:solidFill>
          <a:ln/>
        </p:spPr>
        <p:txBody>
          <a:bodyPr/>
          <a:lstStyle/>
          <a:p>
            <a:endParaRPr lang="it-IT" dirty="0"/>
          </a:p>
        </p:txBody>
      </p:sp>
      <p:sp>
        <p:nvSpPr>
          <p:cNvPr id="15" name="Text 10"/>
          <p:cNvSpPr txBox="1"/>
          <p:nvPr/>
        </p:nvSpPr>
        <p:spPr>
          <a:xfrm>
            <a:off x="640080" y="3566160"/>
            <a:ext cx="7863840" cy="960120"/>
          </a:xfrm>
          <a:prstGeom prst="rect">
            <a:avLst/>
          </a:prstGeom>
          <a:noFill/>
          <a:ln/>
        </p:spPr>
        <p:txBody>
          <a:bodyPr wrap="square" lIns="0" tIns="0" rIns="0" bIns="0" rtlCol="0" anchor="ctr"/>
          <a:lstStyle/>
          <a:p>
            <a:pPr marL="0" indent="0">
              <a:buNone/>
            </a:pPr>
            <a:r>
              <a:rPr lang="it-IT" sz="1400" dirty="0">
                <a:solidFill>
                  <a:schemeClr val="bg1"/>
                </a:solidFill>
              </a:rPr>
              <a:t>Un neoassunto brillante può scrivere un contratto, ma non lo facciamo firmare senza revisione.</a:t>
            </a:r>
            <a:endParaRPr lang="it-IT"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85</a:t>
            </a:fld>
            <a:endParaRPr lang="it-IT"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Le conseguenze di un errore</a:t>
            </a:r>
            <a:endParaRPr lang="it-IT" sz="2600" dirty="0"/>
          </a:p>
        </p:txBody>
      </p:sp>
      <p:sp>
        <p:nvSpPr>
          <p:cNvPr id="4" name="Gravità"/>
          <p:cNvSpPr/>
          <p:nvPr/>
        </p:nvSpPr>
        <p:spPr>
          <a:xfrm>
            <a:off x="457200" y="1097280"/>
            <a:ext cx="4023360" cy="1211580"/>
          </a:xfrm>
          <a:prstGeom prst="roundRect">
            <a:avLst>
              <a:gd name="adj" fmla="val 6038"/>
            </a:avLst>
          </a:prstGeom>
          <a:solidFill>
            <a:schemeClr val="bg2"/>
          </a:solidFill>
          <a:ln/>
        </p:spPr>
        <p:txBody>
          <a:bodyPr/>
          <a:lstStyle/>
          <a:p>
            <a:endParaRPr lang="it-IT" dirty="0"/>
          </a:p>
        </p:txBody>
      </p:sp>
      <p:sp>
        <p:nvSpPr>
          <p:cNvPr id="5" name="cerchio FiAlertTriangle"/>
          <p:cNvSpPr/>
          <p:nvPr/>
        </p:nvSpPr>
        <p:spPr>
          <a:xfrm>
            <a:off x="621792" y="1261872"/>
            <a:ext cx="438912" cy="438912"/>
          </a:xfrm>
          <a:prstGeom prst="ellipse">
            <a:avLst/>
          </a:prstGeom>
          <a:solidFill>
            <a:schemeClr val="accent1"/>
          </a:solidFill>
          <a:ln/>
        </p:spPr>
        <p:txBody>
          <a:bodyPr/>
          <a:lstStyle/>
          <a:p>
            <a:endParaRPr lang="it-IT" dirty="0"/>
          </a:p>
        </p:txBody>
      </p:sp>
      <p:pic>
        <p:nvPicPr>
          <p:cNvPr id="6" name="Image 0" descr="FiAlertTriangle"/>
          <p:cNvPicPr>
            <a:picLocks noChangeAspect="1"/>
          </p:cNvPicPr>
          <p:nvPr/>
        </p:nvPicPr>
        <p:blipFill>
          <a:blip r:embed="rId3"/>
          <a:stretch>
            <a:fillRect/>
          </a:stretch>
        </p:blipFill>
        <p:spPr>
          <a:xfrm>
            <a:off x="731520" y="1371600"/>
            <a:ext cx="219456" cy="219456"/>
          </a:xfrm>
          <a:prstGeom prst="rect">
            <a:avLst/>
          </a:prstGeom>
        </p:spPr>
      </p:pic>
      <p:sp>
        <p:nvSpPr>
          <p:cNvPr id="7" name="Text 3"/>
          <p:cNvSpPr txBox="1"/>
          <p:nvPr/>
        </p:nvSpPr>
        <p:spPr>
          <a:xfrm>
            <a:off x="1170432" y="1225296"/>
            <a:ext cx="3200400" cy="512064"/>
          </a:xfrm>
          <a:prstGeom prst="rect">
            <a:avLst/>
          </a:prstGeom>
          <a:noFill/>
          <a:ln/>
        </p:spPr>
        <p:txBody>
          <a:bodyPr wrap="square" lIns="0" tIns="0" rIns="0" bIns="0" rtlCol="0" anchor="ctr"/>
          <a:lstStyle/>
          <a:p>
            <a:pPr marL="0" indent="0">
              <a:buNone/>
            </a:pPr>
            <a:r>
              <a:rPr lang="it-IT" sz="1500" b="1" dirty="0">
                <a:solidFill>
                  <a:schemeClr val="tx1"/>
                </a:solidFill>
              </a:rPr>
              <a:t>Gravità</a:t>
            </a:r>
            <a:endParaRPr lang="it-IT" sz="1500" dirty="0"/>
          </a:p>
        </p:txBody>
      </p:sp>
      <p:sp>
        <p:nvSpPr>
          <p:cNvPr id="8" name="Text 4"/>
          <p:cNvSpPr txBox="1"/>
          <p:nvPr/>
        </p:nvSpPr>
        <p:spPr>
          <a:xfrm>
            <a:off x="621792" y="1810512"/>
            <a:ext cx="3694176" cy="406908"/>
          </a:xfrm>
          <a:prstGeom prst="rect">
            <a:avLst/>
          </a:prstGeom>
          <a:noFill/>
          <a:ln/>
        </p:spPr>
        <p:txBody>
          <a:bodyPr wrap="square" lIns="0" tIns="0" rIns="0" bIns="0" rtlCol="0" anchor="t"/>
          <a:lstStyle/>
          <a:p>
            <a:pPr marL="0" indent="0">
              <a:buNone/>
            </a:pPr>
            <a:r>
              <a:rPr lang="it-IT" sz="1300" dirty="0">
                <a:solidFill>
                  <a:schemeClr val="tx2"/>
                </a:solidFill>
              </a:rPr>
              <a:t>Una frase poco elegante o un importo sbagliato in un'offerta?</a:t>
            </a:r>
            <a:endParaRPr lang="it-IT" sz="1300" dirty="0"/>
          </a:p>
        </p:txBody>
      </p:sp>
      <p:sp>
        <p:nvSpPr>
          <p:cNvPr id="9" name="Reversibilità"/>
          <p:cNvSpPr/>
          <p:nvPr/>
        </p:nvSpPr>
        <p:spPr>
          <a:xfrm>
            <a:off x="4663440" y="1097280"/>
            <a:ext cx="4023360" cy="1211580"/>
          </a:xfrm>
          <a:prstGeom prst="roundRect">
            <a:avLst>
              <a:gd name="adj" fmla="val 6038"/>
            </a:avLst>
          </a:prstGeom>
          <a:solidFill>
            <a:schemeClr val="bg2"/>
          </a:solidFill>
          <a:ln/>
        </p:spPr>
        <p:txBody>
          <a:bodyPr/>
          <a:lstStyle/>
          <a:p>
            <a:endParaRPr lang="it-IT" dirty="0"/>
          </a:p>
        </p:txBody>
      </p:sp>
      <p:sp>
        <p:nvSpPr>
          <p:cNvPr id="10" name="cerchio FiRotateCcw"/>
          <p:cNvSpPr/>
          <p:nvPr/>
        </p:nvSpPr>
        <p:spPr>
          <a:xfrm>
            <a:off x="4828032" y="1261872"/>
            <a:ext cx="438912" cy="438912"/>
          </a:xfrm>
          <a:prstGeom prst="ellipse">
            <a:avLst/>
          </a:prstGeom>
          <a:solidFill>
            <a:schemeClr val="accent1"/>
          </a:solidFill>
          <a:ln/>
        </p:spPr>
        <p:txBody>
          <a:bodyPr/>
          <a:lstStyle/>
          <a:p>
            <a:endParaRPr lang="it-IT" dirty="0"/>
          </a:p>
        </p:txBody>
      </p:sp>
      <p:pic>
        <p:nvPicPr>
          <p:cNvPr id="11" name="Image 1" descr="FiRotateCcw"/>
          <p:cNvPicPr>
            <a:picLocks noChangeAspect="1"/>
          </p:cNvPicPr>
          <p:nvPr/>
        </p:nvPicPr>
        <p:blipFill>
          <a:blip r:embed="rId4"/>
          <a:stretch>
            <a:fillRect/>
          </a:stretch>
        </p:blipFill>
        <p:spPr>
          <a:xfrm>
            <a:off x="4937760" y="1371600"/>
            <a:ext cx="219456" cy="219456"/>
          </a:xfrm>
          <a:prstGeom prst="rect">
            <a:avLst/>
          </a:prstGeom>
        </p:spPr>
      </p:pic>
      <p:sp>
        <p:nvSpPr>
          <p:cNvPr id="12" name="Text 7"/>
          <p:cNvSpPr txBox="1"/>
          <p:nvPr/>
        </p:nvSpPr>
        <p:spPr>
          <a:xfrm>
            <a:off x="5376672" y="1225296"/>
            <a:ext cx="3200400" cy="512064"/>
          </a:xfrm>
          <a:prstGeom prst="rect">
            <a:avLst/>
          </a:prstGeom>
          <a:noFill/>
          <a:ln/>
        </p:spPr>
        <p:txBody>
          <a:bodyPr wrap="square" lIns="0" tIns="0" rIns="0" bIns="0" rtlCol="0" anchor="ctr"/>
          <a:lstStyle/>
          <a:p>
            <a:pPr marL="0" indent="0">
              <a:buNone/>
            </a:pPr>
            <a:r>
              <a:rPr lang="it-IT" sz="1500" b="1" dirty="0">
                <a:solidFill>
                  <a:schemeClr val="tx1"/>
                </a:solidFill>
              </a:rPr>
              <a:t>Reversibilità</a:t>
            </a:r>
            <a:endParaRPr lang="it-IT" sz="1500" dirty="0"/>
          </a:p>
        </p:txBody>
      </p:sp>
      <p:sp>
        <p:nvSpPr>
          <p:cNvPr id="13" name="Text 8"/>
          <p:cNvSpPr txBox="1"/>
          <p:nvPr/>
        </p:nvSpPr>
        <p:spPr>
          <a:xfrm>
            <a:off x="4828032" y="1810512"/>
            <a:ext cx="3694176" cy="406908"/>
          </a:xfrm>
          <a:prstGeom prst="rect">
            <a:avLst/>
          </a:prstGeom>
          <a:noFill/>
          <a:ln/>
        </p:spPr>
        <p:txBody>
          <a:bodyPr wrap="square" lIns="0" tIns="0" rIns="0" bIns="0" rtlCol="0" anchor="t"/>
          <a:lstStyle/>
          <a:p>
            <a:pPr marL="0" indent="0">
              <a:buNone/>
            </a:pPr>
            <a:r>
              <a:rPr lang="it-IT" sz="1300" dirty="0">
                <a:solidFill>
                  <a:schemeClr val="tx2"/>
                </a:solidFill>
              </a:rPr>
              <a:t>Una bozza da correggere o un'email inviata a mille clienti?</a:t>
            </a:r>
            <a:endParaRPr lang="it-IT" sz="1300" dirty="0"/>
          </a:p>
        </p:txBody>
      </p:sp>
      <p:sp>
        <p:nvSpPr>
          <p:cNvPr id="14" name="Chi ne subisce le conseguenze"/>
          <p:cNvSpPr/>
          <p:nvPr/>
        </p:nvSpPr>
        <p:spPr>
          <a:xfrm>
            <a:off x="457200" y="2491740"/>
            <a:ext cx="4023360" cy="1211580"/>
          </a:xfrm>
          <a:prstGeom prst="roundRect">
            <a:avLst>
              <a:gd name="adj" fmla="val 6038"/>
            </a:avLst>
          </a:prstGeom>
          <a:solidFill>
            <a:schemeClr val="bg2"/>
          </a:solidFill>
          <a:ln/>
        </p:spPr>
        <p:txBody>
          <a:bodyPr/>
          <a:lstStyle/>
          <a:p>
            <a:endParaRPr lang="it-IT" dirty="0"/>
          </a:p>
        </p:txBody>
      </p:sp>
      <p:sp>
        <p:nvSpPr>
          <p:cNvPr id="15" name="cerchio FiUsers"/>
          <p:cNvSpPr/>
          <p:nvPr/>
        </p:nvSpPr>
        <p:spPr>
          <a:xfrm>
            <a:off x="621792" y="2656332"/>
            <a:ext cx="438912" cy="438912"/>
          </a:xfrm>
          <a:prstGeom prst="ellipse">
            <a:avLst/>
          </a:prstGeom>
          <a:solidFill>
            <a:schemeClr val="accent1"/>
          </a:solidFill>
          <a:ln/>
        </p:spPr>
        <p:txBody>
          <a:bodyPr/>
          <a:lstStyle/>
          <a:p>
            <a:endParaRPr lang="it-IT" dirty="0"/>
          </a:p>
        </p:txBody>
      </p:sp>
      <p:pic>
        <p:nvPicPr>
          <p:cNvPr id="16" name="Image 2" descr="FiUsers"/>
          <p:cNvPicPr>
            <a:picLocks noChangeAspect="1"/>
          </p:cNvPicPr>
          <p:nvPr/>
        </p:nvPicPr>
        <p:blipFill>
          <a:blip r:embed="rId5"/>
          <a:stretch>
            <a:fillRect/>
          </a:stretch>
        </p:blipFill>
        <p:spPr>
          <a:xfrm>
            <a:off x="731520" y="2766060"/>
            <a:ext cx="219456" cy="219456"/>
          </a:xfrm>
          <a:prstGeom prst="rect">
            <a:avLst/>
          </a:prstGeom>
        </p:spPr>
      </p:pic>
      <p:sp>
        <p:nvSpPr>
          <p:cNvPr id="17" name="Text 11"/>
          <p:cNvSpPr txBox="1"/>
          <p:nvPr/>
        </p:nvSpPr>
        <p:spPr>
          <a:xfrm>
            <a:off x="1170432" y="2619756"/>
            <a:ext cx="3200400" cy="512064"/>
          </a:xfrm>
          <a:prstGeom prst="rect">
            <a:avLst/>
          </a:prstGeom>
          <a:noFill/>
          <a:ln/>
        </p:spPr>
        <p:txBody>
          <a:bodyPr wrap="square" lIns="0" tIns="0" rIns="0" bIns="0" rtlCol="0" anchor="ctr"/>
          <a:lstStyle/>
          <a:p>
            <a:pPr marL="0" indent="0">
              <a:buNone/>
            </a:pPr>
            <a:r>
              <a:rPr lang="it-IT" sz="1500" b="1" dirty="0">
                <a:solidFill>
                  <a:schemeClr val="tx1"/>
                </a:solidFill>
              </a:rPr>
              <a:t>Chi ne subisce le conseguenze</a:t>
            </a:r>
            <a:endParaRPr lang="it-IT" sz="1500" dirty="0"/>
          </a:p>
        </p:txBody>
      </p:sp>
      <p:sp>
        <p:nvSpPr>
          <p:cNvPr id="18" name="Text 12"/>
          <p:cNvSpPr txBox="1"/>
          <p:nvPr/>
        </p:nvSpPr>
        <p:spPr>
          <a:xfrm>
            <a:off x="621792" y="3204972"/>
            <a:ext cx="3694176" cy="406908"/>
          </a:xfrm>
          <a:prstGeom prst="rect">
            <a:avLst/>
          </a:prstGeom>
          <a:noFill/>
          <a:ln/>
        </p:spPr>
        <p:txBody>
          <a:bodyPr wrap="square" lIns="0" tIns="0" rIns="0" bIns="0" rtlCol="0" anchor="t"/>
          <a:lstStyle/>
          <a:p>
            <a:pPr marL="0" indent="0">
              <a:buNone/>
            </a:pPr>
            <a:r>
              <a:rPr lang="it-IT" sz="1300" dirty="0">
                <a:solidFill>
                  <a:schemeClr val="tx2"/>
                </a:solidFill>
              </a:rPr>
              <a:t>Resta a noi o ricade su clienti, collaboratori, cittadini?</a:t>
            </a:r>
            <a:endParaRPr lang="it-IT" sz="1300" dirty="0"/>
          </a:p>
        </p:txBody>
      </p:sp>
      <p:sp>
        <p:nvSpPr>
          <p:cNvPr id="19" name="Rilevabilità"/>
          <p:cNvSpPr/>
          <p:nvPr/>
        </p:nvSpPr>
        <p:spPr>
          <a:xfrm>
            <a:off x="4663440" y="2491740"/>
            <a:ext cx="4023360" cy="1211580"/>
          </a:xfrm>
          <a:prstGeom prst="roundRect">
            <a:avLst>
              <a:gd name="adj" fmla="val 6038"/>
            </a:avLst>
          </a:prstGeom>
          <a:solidFill>
            <a:schemeClr val="bg2"/>
          </a:solidFill>
          <a:ln/>
        </p:spPr>
        <p:txBody>
          <a:bodyPr/>
          <a:lstStyle/>
          <a:p>
            <a:endParaRPr lang="it-IT" dirty="0"/>
          </a:p>
        </p:txBody>
      </p:sp>
      <p:sp>
        <p:nvSpPr>
          <p:cNvPr id="20" name="cerchio FiEyeOff"/>
          <p:cNvSpPr/>
          <p:nvPr/>
        </p:nvSpPr>
        <p:spPr>
          <a:xfrm>
            <a:off x="4828032" y="2656332"/>
            <a:ext cx="438912" cy="438912"/>
          </a:xfrm>
          <a:prstGeom prst="ellipse">
            <a:avLst/>
          </a:prstGeom>
          <a:solidFill>
            <a:schemeClr val="accent1"/>
          </a:solidFill>
          <a:ln/>
        </p:spPr>
        <p:txBody>
          <a:bodyPr/>
          <a:lstStyle/>
          <a:p>
            <a:endParaRPr lang="it-IT" dirty="0"/>
          </a:p>
        </p:txBody>
      </p:sp>
      <p:pic>
        <p:nvPicPr>
          <p:cNvPr id="21" name="Image 3" descr="FiEyeOff"/>
          <p:cNvPicPr>
            <a:picLocks noChangeAspect="1"/>
          </p:cNvPicPr>
          <p:nvPr/>
        </p:nvPicPr>
        <p:blipFill>
          <a:blip r:embed="rId6"/>
          <a:stretch>
            <a:fillRect/>
          </a:stretch>
        </p:blipFill>
        <p:spPr>
          <a:xfrm>
            <a:off x="4937760" y="2766060"/>
            <a:ext cx="219456" cy="219456"/>
          </a:xfrm>
          <a:prstGeom prst="rect">
            <a:avLst/>
          </a:prstGeom>
        </p:spPr>
      </p:pic>
      <p:sp>
        <p:nvSpPr>
          <p:cNvPr id="22" name="Text 15"/>
          <p:cNvSpPr txBox="1"/>
          <p:nvPr/>
        </p:nvSpPr>
        <p:spPr>
          <a:xfrm>
            <a:off x="5376672" y="2619756"/>
            <a:ext cx="3200400" cy="512064"/>
          </a:xfrm>
          <a:prstGeom prst="rect">
            <a:avLst/>
          </a:prstGeom>
          <a:noFill/>
          <a:ln/>
        </p:spPr>
        <p:txBody>
          <a:bodyPr wrap="square" lIns="0" tIns="0" rIns="0" bIns="0" rtlCol="0" anchor="ctr"/>
          <a:lstStyle/>
          <a:p>
            <a:pPr marL="0" indent="0">
              <a:buNone/>
            </a:pPr>
            <a:r>
              <a:rPr lang="it-IT" sz="1500" b="1" dirty="0">
                <a:solidFill>
                  <a:schemeClr val="tx1"/>
                </a:solidFill>
              </a:rPr>
              <a:t>Rilevabilità</a:t>
            </a:r>
            <a:endParaRPr lang="it-IT" sz="1500" dirty="0"/>
          </a:p>
        </p:txBody>
      </p:sp>
      <p:sp>
        <p:nvSpPr>
          <p:cNvPr id="23" name="Text 16"/>
          <p:cNvSpPr txBox="1"/>
          <p:nvPr/>
        </p:nvSpPr>
        <p:spPr>
          <a:xfrm>
            <a:off x="4828032" y="3204972"/>
            <a:ext cx="3694176" cy="406908"/>
          </a:xfrm>
          <a:prstGeom prst="rect">
            <a:avLst/>
          </a:prstGeom>
          <a:noFill/>
          <a:ln/>
        </p:spPr>
        <p:txBody>
          <a:bodyPr wrap="square" lIns="0" tIns="0" rIns="0" bIns="0" rtlCol="0" anchor="t"/>
          <a:lstStyle/>
          <a:p>
            <a:pPr marL="0" indent="0">
              <a:buNone/>
            </a:pPr>
            <a:r>
              <a:rPr lang="it-IT" sz="1300" dirty="0">
                <a:solidFill>
                  <a:schemeClr val="tx2"/>
                </a:solidFill>
              </a:rPr>
              <a:t>Si nota subito o resta nascosto e si propaga?</a:t>
            </a:r>
            <a:endParaRPr lang="it-IT" sz="1300" dirty="0"/>
          </a:p>
        </p:txBody>
      </p:sp>
      <p:sp>
        <p:nvSpPr>
          <p:cNvPr id="24" name="messaggio"/>
          <p:cNvSpPr/>
          <p:nvPr/>
        </p:nvSpPr>
        <p:spPr>
          <a:xfrm>
            <a:off x="457200" y="3886200"/>
            <a:ext cx="8229600" cy="640080"/>
          </a:xfrm>
          <a:prstGeom prst="roundRect">
            <a:avLst>
              <a:gd name="adj" fmla="val 11429"/>
            </a:avLst>
          </a:prstGeom>
          <a:solidFill>
            <a:schemeClr val="tx1"/>
          </a:solidFill>
          <a:ln/>
        </p:spPr>
        <p:txBody>
          <a:bodyPr/>
          <a:lstStyle/>
          <a:p>
            <a:endParaRPr lang="it-IT" dirty="0"/>
          </a:p>
        </p:txBody>
      </p:sp>
      <p:sp>
        <p:nvSpPr>
          <p:cNvPr id="25" name="Text 18"/>
          <p:cNvSpPr txBox="1"/>
          <p:nvPr/>
        </p:nvSpPr>
        <p:spPr>
          <a:xfrm>
            <a:off x="640080" y="3886200"/>
            <a:ext cx="7863840" cy="640080"/>
          </a:xfrm>
          <a:prstGeom prst="rect">
            <a:avLst/>
          </a:prstGeom>
          <a:noFill/>
          <a:ln/>
        </p:spPr>
        <p:txBody>
          <a:bodyPr wrap="square" lIns="0" tIns="0" rIns="0" bIns="0" rtlCol="0" anchor="ctr"/>
          <a:lstStyle/>
          <a:p>
            <a:pPr marL="0" indent="0">
              <a:buNone/>
            </a:pPr>
            <a:r>
              <a:rPr lang="it-IT" sz="1400" dirty="0">
                <a:solidFill>
                  <a:schemeClr val="bg1"/>
                </a:solidFill>
              </a:rPr>
              <a:t>Più gravità, irreversibilità, impatto su terzi e difficoltà di rilevazione: più cautela.</a:t>
            </a:r>
            <a:endParaRPr lang="it-IT" sz="14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86</a:t>
            </a:fld>
            <a:endParaRPr lang="it-IT"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Attività a basso e alto impatto</a:t>
            </a:r>
            <a:endParaRPr lang="it-IT" sz="2600" dirty="0"/>
          </a:p>
        </p:txBody>
      </p:sp>
      <p:sp>
        <p:nvSpPr>
          <p:cNvPr id="4" name="Text 1"/>
          <p:cNvSpPr txBox="1"/>
          <p:nvPr/>
        </p:nvSpPr>
        <p:spPr>
          <a:xfrm>
            <a:off x="1463040" y="1051560"/>
            <a:ext cx="3474720" cy="274320"/>
          </a:xfrm>
          <a:prstGeom prst="rect">
            <a:avLst/>
          </a:prstGeom>
          <a:noFill/>
          <a:ln/>
        </p:spPr>
        <p:txBody>
          <a:bodyPr wrap="square" lIns="0" tIns="0" rIns="0" bIns="0" rtlCol="0" anchor="t"/>
          <a:lstStyle/>
          <a:p>
            <a:pPr marL="0" indent="0" algn="ctr">
              <a:buNone/>
            </a:pPr>
            <a:r>
              <a:rPr lang="it-IT" sz="1200" b="1" dirty="0">
                <a:solidFill>
                  <a:schemeClr val="accent2"/>
                </a:solidFill>
              </a:rPr>
              <a:t>Verifica facile</a:t>
            </a:r>
            <a:endParaRPr lang="it-IT" sz="1200" dirty="0"/>
          </a:p>
        </p:txBody>
      </p:sp>
      <p:sp>
        <p:nvSpPr>
          <p:cNvPr id="5" name="Text 2"/>
          <p:cNvSpPr txBox="1"/>
          <p:nvPr/>
        </p:nvSpPr>
        <p:spPr>
          <a:xfrm>
            <a:off x="5029200" y="1051560"/>
            <a:ext cx="3474720" cy="274320"/>
          </a:xfrm>
          <a:prstGeom prst="rect">
            <a:avLst/>
          </a:prstGeom>
          <a:noFill/>
          <a:ln/>
        </p:spPr>
        <p:txBody>
          <a:bodyPr wrap="square" lIns="0" tIns="0" rIns="0" bIns="0" rtlCol="0" anchor="t"/>
          <a:lstStyle/>
          <a:p>
            <a:pPr marL="0" indent="0" algn="ctr">
              <a:buNone/>
            </a:pPr>
            <a:r>
              <a:rPr lang="it-IT" sz="1200" b="1" dirty="0">
                <a:solidFill>
                  <a:schemeClr val="accent2"/>
                </a:solidFill>
              </a:rPr>
              <a:t>Verifica difficile</a:t>
            </a:r>
            <a:endParaRPr lang="it-IT" sz="1200" dirty="0"/>
          </a:p>
        </p:txBody>
      </p:sp>
      <p:sp>
        <p:nvSpPr>
          <p:cNvPr id="6" name="Text 3"/>
          <p:cNvSpPr txBox="1"/>
          <p:nvPr/>
        </p:nvSpPr>
        <p:spPr>
          <a:xfrm>
            <a:off x="457200" y="1371600"/>
            <a:ext cx="914400" cy="1463040"/>
          </a:xfrm>
          <a:prstGeom prst="rect">
            <a:avLst/>
          </a:prstGeom>
          <a:noFill/>
          <a:ln/>
        </p:spPr>
        <p:txBody>
          <a:bodyPr wrap="square" lIns="0" tIns="0" rIns="0" bIns="0" rtlCol="0" anchor="ctr"/>
          <a:lstStyle/>
          <a:p>
            <a:pPr marL="0" indent="0">
              <a:buNone/>
            </a:pPr>
            <a:r>
              <a:rPr lang="it-IT" sz="1200" b="1" dirty="0">
                <a:solidFill>
                  <a:schemeClr val="accent2"/>
                </a:solidFill>
              </a:rPr>
              <a:t>Basso impatto</a:t>
            </a:r>
            <a:endParaRPr lang="it-IT" sz="1200" dirty="0"/>
          </a:p>
        </p:txBody>
      </p:sp>
      <p:sp>
        <p:nvSpPr>
          <p:cNvPr id="7" name="Text 4"/>
          <p:cNvSpPr txBox="1"/>
          <p:nvPr/>
        </p:nvSpPr>
        <p:spPr>
          <a:xfrm>
            <a:off x="457200" y="2971800"/>
            <a:ext cx="914400" cy="1463040"/>
          </a:xfrm>
          <a:prstGeom prst="rect">
            <a:avLst/>
          </a:prstGeom>
          <a:noFill/>
          <a:ln/>
        </p:spPr>
        <p:txBody>
          <a:bodyPr wrap="square" lIns="0" tIns="0" rIns="0" bIns="0" rtlCol="0" anchor="ctr"/>
          <a:lstStyle/>
          <a:p>
            <a:pPr marL="0" indent="0">
              <a:buNone/>
            </a:pPr>
            <a:r>
              <a:rPr lang="it-IT" sz="1200" b="1" dirty="0">
                <a:solidFill>
                  <a:schemeClr val="accent2"/>
                </a:solidFill>
              </a:rPr>
              <a:t>Alto impatto</a:t>
            </a:r>
            <a:endParaRPr lang="it-IT" sz="1200" dirty="0"/>
          </a:p>
        </p:txBody>
      </p:sp>
      <p:sp>
        <p:nvSpPr>
          <p:cNvPr id="8" name="Usare liberamente"/>
          <p:cNvSpPr/>
          <p:nvPr/>
        </p:nvSpPr>
        <p:spPr>
          <a:xfrm>
            <a:off x="1463040" y="1371600"/>
            <a:ext cx="3429000" cy="1463040"/>
          </a:xfrm>
          <a:prstGeom prst="roundRect">
            <a:avLst>
              <a:gd name="adj" fmla="val 5000"/>
            </a:avLst>
          </a:prstGeom>
          <a:solidFill>
            <a:schemeClr val="accent6"/>
          </a:solidFill>
          <a:ln/>
        </p:spPr>
        <p:txBody>
          <a:bodyPr/>
          <a:lstStyle/>
          <a:p>
            <a:endParaRPr lang="it-IT" dirty="0"/>
          </a:p>
        </p:txBody>
      </p:sp>
      <p:sp>
        <p:nvSpPr>
          <p:cNvPr id="9" name="Text 6"/>
          <p:cNvSpPr txBox="1"/>
          <p:nvPr/>
        </p:nvSpPr>
        <p:spPr>
          <a:xfrm>
            <a:off x="1645920" y="1463040"/>
            <a:ext cx="3063240" cy="347472"/>
          </a:xfrm>
          <a:prstGeom prst="rect">
            <a:avLst/>
          </a:prstGeom>
          <a:noFill/>
          <a:ln/>
        </p:spPr>
        <p:txBody>
          <a:bodyPr wrap="square" lIns="0" tIns="0" rIns="0" bIns="0" rtlCol="0" anchor="t"/>
          <a:lstStyle/>
          <a:p>
            <a:pPr marL="0" indent="0">
              <a:buNone/>
            </a:pPr>
            <a:r>
              <a:rPr lang="it-IT" sz="1500" b="1" dirty="0">
                <a:solidFill>
                  <a:schemeClr val="tx1"/>
                </a:solidFill>
              </a:rPr>
              <a:t>Utilizzo diretto con controllo leggero</a:t>
            </a:r>
            <a:endParaRPr lang="it-IT" sz="1500" dirty="0"/>
          </a:p>
        </p:txBody>
      </p:sp>
      <p:sp>
        <p:nvSpPr>
          <p:cNvPr id="10" name="Text 7"/>
          <p:cNvSpPr txBox="1"/>
          <p:nvPr/>
        </p:nvSpPr>
        <p:spPr>
          <a:xfrm>
            <a:off x="1645920" y="1828800"/>
            <a:ext cx="3063240" cy="292608"/>
          </a:xfrm>
          <a:prstGeom prst="rect">
            <a:avLst/>
          </a:prstGeom>
          <a:noFill/>
          <a:ln/>
        </p:spPr>
        <p:txBody>
          <a:bodyPr wrap="square" lIns="0" tIns="0" rIns="0" bIns="0" rtlCol="0" anchor="t"/>
          <a:lstStyle/>
          <a:p>
            <a:pPr marL="0" indent="0">
              <a:buNone/>
            </a:pPr>
            <a:r>
              <a:rPr lang="it-IT" sz="1200" b="1" dirty="0">
                <a:solidFill>
                  <a:schemeClr val="accent1"/>
                </a:solidFill>
              </a:rPr>
              <a:t>Con una rilettura</a:t>
            </a:r>
            <a:endParaRPr lang="it-IT" sz="1200" dirty="0"/>
          </a:p>
        </p:txBody>
      </p:sp>
      <p:sp>
        <p:nvSpPr>
          <p:cNvPr id="11" name="Text 8"/>
          <p:cNvSpPr txBox="1"/>
          <p:nvPr/>
        </p:nvSpPr>
        <p:spPr>
          <a:xfrm>
            <a:off x="1645920" y="2148840"/>
            <a:ext cx="3063240" cy="640080"/>
          </a:xfrm>
          <a:prstGeom prst="rect">
            <a:avLst/>
          </a:prstGeom>
          <a:noFill/>
          <a:ln/>
        </p:spPr>
        <p:txBody>
          <a:bodyPr wrap="square" lIns="0" tIns="0" rIns="0" bIns="0" rtlCol="0" anchor="t"/>
          <a:lstStyle/>
          <a:p>
            <a:pPr marL="0" indent="0">
              <a:buNone/>
            </a:pPr>
            <a:r>
              <a:rPr lang="it-IT" sz="1200" dirty="0">
                <a:solidFill>
                  <a:schemeClr val="tx1"/>
                </a:solidFill>
              </a:rPr>
              <a:t>Bozze interne, idee, riformulazioni</a:t>
            </a:r>
            <a:endParaRPr lang="it-IT" sz="1200" dirty="0"/>
          </a:p>
        </p:txBody>
      </p:sp>
      <p:sp>
        <p:nvSpPr>
          <p:cNvPr id="12" name="Usare come indicazione"/>
          <p:cNvSpPr/>
          <p:nvPr/>
        </p:nvSpPr>
        <p:spPr>
          <a:xfrm>
            <a:off x="5029200" y="1371600"/>
            <a:ext cx="3429000" cy="1463040"/>
          </a:xfrm>
          <a:prstGeom prst="roundRect">
            <a:avLst>
              <a:gd name="adj" fmla="val 5000"/>
            </a:avLst>
          </a:prstGeom>
          <a:solidFill>
            <a:schemeClr val="bg2"/>
          </a:solidFill>
          <a:ln/>
        </p:spPr>
        <p:txBody>
          <a:bodyPr/>
          <a:lstStyle/>
          <a:p>
            <a:endParaRPr lang="it-IT" dirty="0"/>
          </a:p>
        </p:txBody>
      </p:sp>
      <p:sp>
        <p:nvSpPr>
          <p:cNvPr id="13" name="Text 10"/>
          <p:cNvSpPr txBox="1"/>
          <p:nvPr/>
        </p:nvSpPr>
        <p:spPr>
          <a:xfrm>
            <a:off x="5212080" y="1463040"/>
            <a:ext cx="3063240" cy="347472"/>
          </a:xfrm>
          <a:prstGeom prst="rect">
            <a:avLst/>
          </a:prstGeom>
          <a:noFill/>
          <a:ln/>
        </p:spPr>
        <p:txBody>
          <a:bodyPr wrap="square" lIns="0" tIns="0" rIns="0" bIns="0" rtlCol="0" anchor="t"/>
          <a:lstStyle/>
          <a:p>
            <a:pPr marL="0" indent="0">
              <a:buNone/>
            </a:pPr>
            <a:r>
              <a:rPr lang="it-IT" sz="1500" b="1" dirty="0">
                <a:solidFill>
                  <a:schemeClr val="tx1"/>
                </a:solidFill>
              </a:rPr>
              <a:t>Usare come indicazione</a:t>
            </a:r>
            <a:endParaRPr lang="it-IT" sz="1500" dirty="0"/>
          </a:p>
        </p:txBody>
      </p:sp>
      <p:sp>
        <p:nvSpPr>
          <p:cNvPr id="14" name="Text 11"/>
          <p:cNvSpPr txBox="1"/>
          <p:nvPr/>
        </p:nvSpPr>
        <p:spPr>
          <a:xfrm>
            <a:off x="5212080" y="1828800"/>
            <a:ext cx="3063240" cy="292608"/>
          </a:xfrm>
          <a:prstGeom prst="rect">
            <a:avLst/>
          </a:prstGeom>
          <a:noFill/>
          <a:ln/>
        </p:spPr>
        <p:txBody>
          <a:bodyPr wrap="square" lIns="0" tIns="0" rIns="0" bIns="0" rtlCol="0" anchor="t"/>
          <a:lstStyle/>
          <a:p>
            <a:pPr marL="0" indent="0">
              <a:buNone/>
            </a:pPr>
            <a:r>
              <a:rPr lang="it-IT" sz="1200" b="1" dirty="0">
                <a:solidFill>
                  <a:schemeClr val="accent1"/>
                </a:solidFill>
              </a:rPr>
              <a:t>Da approfondire, non conclusioni</a:t>
            </a:r>
            <a:endParaRPr lang="it-IT" sz="1200" dirty="0"/>
          </a:p>
        </p:txBody>
      </p:sp>
      <p:sp>
        <p:nvSpPr>
          <p:cNvPr id="15" name="Text 12"/>
          <p:cNvSpPr txBox="1"/>
          <p:nvPr/>
        </p:nvSpPr>
        <p:spPr>
          <a:xfrm>
            <a:off x="5212080" y="2148840"/>
            <a:ext cx="3063240" cy="640080"/>
          </a:xfrm>
          <a:prstGeom prst="rect">
            <a:avLst/>
          </a:prstGeom>
          <a:noFill/>
          <a:ln/>
        </p:spPr>
        <p:txBody>
          <a:bodyPr wrap="square" lIns="0" tIns="0" rIns="0" bIns="0" rtlCol="0" anchor="t"/>
          <a:lstStyle/>
          <a:p>
            <a:pPr marL="0" indent="0">
              <a:buNone/>
            </a:pPr>
            <a:r>
              <a:rPr lang="it-IT" sz="1200" dirty="0">
                <a:solidFill>
                  <a:schemeClr val="tx1"/>
                </a:solidFill>
              </a:rPr>
              <a:t>Ricerche esplorative su temi poco noti</a:t>
            </a:r>
            <a:endParaRPr lang="it-IT" sz="1200" dirty="0"/>
          </a:p>
        </p:txBody>
      </p:sp>
      <p:sp>
        <p:nvSpPr>
          <p:cNvPr id="16" name="Usare con verifica sistematica"/>
          <p:cNvSpPr/>
          <p:nvPr/>
        </p:nvSpPr>
        <p:spPr>
          <a:xfrm>
            <a:off x="1463040" y="2971800"/>
            <a:ext cx="3429000" cy="1463040"/>
          </a:xfrm>
          <a:prstGeom prst="roundRect">
            <a:avLst>
              <a:gd name="adj" fmla="val 5000"/>
            </a:avLst>
          </a:prstGeom>
          <a:solidFill>
            <a:schemeClr val="bg2"/>
          </a:solidFill>
          <a:ln/>
        </p:spPr>
        <p:txBody>
          <a:bodyPr/>
          <a:lstStyle/>
          <a:p>
            <a:endParaRPr lang="it-IT" dirty="0"/>
          </a:p>
        </p:txBody>
      </p:sp>
      <p:sp>
        <p:nvSpPr>
          <p:cNvPr id="17" name="Text 14"/>
          <p:cNvSpPr txBox="1"/>
          <p:nvPr/>
        </p:nvSpPr>
        <p:spPr>
          <a:xfrm>
            <a:off x="1645920" y="3063240"/>
            <a:ext cx="3063240" cy="347472"/>
          </a:xfrm>
          <a:prstGeom prst="rect">
            <a:avLst/>
          </a:prstGeom>
          <a:noFill/>
          <a:ln/>
        </p:spPr>
        <p:txBody>
          <a:bodyPr wrap="square" lIns="0" tIns="0" rIns="0" bIns="0" rtlCol="0" anchor="t"/>
          <a:lstStyle/>
          <a:p>
            <a:pPr marL="0" indent="0">
              <a:buNone/>
            </a:pPr>
            <a:r>
              <a:rPr lang="it-IT" sz="1500" b="1" dirty="0">
                <a:solidFill>
                  <a:schemeClr val="tx1"/>
                </a:solidFill>
              </a:rPr>
              <a:t>Usare con verifica sistematica</a:t>
            </a:r>
            <a:endParaRPr lang="it-IT" sz="1500" dirty="0"/>
          </a:p>
        </p:txBody>
      </p:sp>
      <p:sp>
        <p:nvSpPr>
          <p:cNvPr id="18" name="Text 15"/>
          <p:cNvSpPr txBox="1"/>
          <p:nvPr/>
        </p:nvSpPr>
        <p:spPr>
          <a:xfrm>
            <a:off x="1645920" y="3429000"/>
            <a:ext cx="3063240" cy="292608"/>
          </a:xfrm>
          <a:prstGeom prst="rect">
            <a:avLst/>
          </a:prstGeom>
          <a:noFill/>
          <a:ln/>
        </p:spPr>
        <p:txBody>
          <a:bodyPr wrap="square" lIns="0" tIns="0" rIns="0" bIns="0" rtlCol="0" anchor="t"/>
          <a:lstStyle/>
          <a:p>
            <a:pPr marL="0" indent="0">
              <a:buNone/>
            </a:pPr>
            <a:r>
              <a:rPr lang="it-IT" sz="1200" b="1" dirty="0">
                <a:solidFill>
                  <a:schemeClr val="accent1"/>
                </a:solidFill>
              </a:rPr>
              <a:t>Controllo completo prima dell'uso</a:t>
            </a:r>
            <a:endParaRPr lang="it-IT" sz="1200" dirty="0"/>
          </a:p>
        </p:txBody>
      </p:sp>
      <p:sp>
        <p:nvSpPr>
          <p:cNvPr id="19" name="Text 16"/>
          <p:cNvSpPr txBox="1"/>
          <p:nvPr/>
        </p:nvSpPr>
        <p:spPr>
          <a:xfrm>
            <a:off x="1645920" y="3749040"/>
            <a:ext cx="3063240" cy="640080"/>
          </a:xfrm>
          <a:prstGeom prst="rect">
            <a:avLst/>
          </a:prstGeom>
          <a:noFill/>
          <a:ln/>
        </p:spPr>
        <p:txBody>
          <a:bodyPr wrap="square" lIns="0" tIns="0" rIns="0" bIns="0" rtlCol="0" anchor="t"/>
          <a:lstStyle/>
          <a:p>
            <a:pPr marL="0" indent="0">
              <a:buNone/>
            </a:pPr>
            <a:r>
              <a:rPr lang="it-IT" sz="1200" dirty="0">
                <a:solidFill>
                  <a:schemeClr val="tx1"/>
                </a:solidFill>
              </a:rPr>
              <a:t>Offerte, documenti da dati controllabili</a:t>
            </a:r>
            <a:endParaRPr lang="it-IT" sz="1200" dirty="0"/>
          </a:p>
        </p:txBody>
      </p:sp>
      <p:sp>
        <p:nvSpPr>
          <p:cNvPr id="20" name="Limitare o evitare"/>
          <p:cNvSpPr/>
          <p:nvPr/>
        </p:nvSpPr>
        <p:spPr>
          <a:xfrm>
            <a:off x="5029200" y="2971800"/>
            <a:ext cx="3429000" cy="1463040"/>
          </a:xfrm>
          <a:prstGeom prst="roundRect">
            <a:avLst>
              <a:gd name="adj" fmla="val 5000"/>
            </a:avLst>
          </a:prstGeom>
          <a:solidFill>
            <a:schemeClr val="tx1"/>
          </a:solidFill>
          <a:ln/>
        </p:spPr>
        <p:txBody>
          <a:bodyPr/>
          <a:lstStyle/>
          <a:p>
            <a:endParaRPr lang="it-IT" dirty="0"/>
          </a:p>
        </p:txBody>
      </p:sp>
      <p:sp>
        <p:nvSpPr>
          <p:cNvPr id="21" name="Text 18"/>
          <p:cNvSpPr txBox="1"/>
          <p:nvPr/>
        </p:nvSpPr>
        <p:spPr>
          <a:xfrm>
            <a:off x="5212080" y="3063240"/>
            <a:ext cx="3063240" cy="347472"/>
          </a:xfrm>
          <a:prstGeom prst="rect">
            <a:avLst/>
          </a:prstGeom>
          <a:noFill/>
          <a:ln/>
        </p:spPr>
        <p:txBody>
          <a:bodyPr wrap="square" lIns="0" tIns="0" rIns="0" bIns="0" rtlCol="0" anchor="t"/>
          <a:lstStyle/>
          <a:p>
            <a:pPr marL="0" indent="0">
              <a:buNone/>
            </a:pPr>
            <a:r>
              <a:rPr lang="it-IT" sz="1500" b="1" dirty="0">
                <a:solidFill>
                  <a:schemeClr val="bg1"/>
                </a:solidFill>
              </a:rPr>
              <a:t>Utilizzo subordinato a competenze</a:t>
            </a:r>
            <a:endParaRPr lang="it-IT" sz="1500" dirty="0"/>
          </a:p>
        </p:txBody>
      </p:sp>
      <p:sp>
        <p:nvSpPr>
          <p:cNvPr id="22" name="Text 19"/>
          <p:cNvSpPr txBox="1"/>
          <p:nvPr/>
        </p:nvSpPr>
        <p:spPr>
          <a:xfrm>
            <a:off x="5212080" y="3429000"/>
            <a:ext cx="3063240" cy="292608"/>
          </a:xfrm>
          <a:prstGeom prst="rect">
            <a:avLst/>
          </a:prstGeom>
          <a:noFill/>
          <a:ln/>
        </p:spPr>
        <p:txBody>
          <a:bodyPr wrap="square" lIns="0" tIns="0" rIns="0" bIns="0" rtlCol="0" anchor="t"/>
          <a:lstStyle/>
          <a:p>
            <a:pPr marL="0" indent="0">
              <a:buNone/>
            </a:pPr>
            <a:r>
              <a:rPr lang="it-IT" sz="1200" b="1" dirty="0">
                <a:solidFill>
                  <a:schemeClr val="accent6"/>
                </a:solidFill>
              </a:rPr>
              <a:t>Solo supporto a esperti competenti</a:t>
            </a:r>
            <a:endParaRPr lang="it-IT" sz="1200" dirty="0"/>
          </a:p>
        </p:txBody>
      </p:sp>
      <p:sp>
        <p:nvSpPr>
          <p:cNvPr id="23" name="Text 20"/>
          <p:cNvSpPr txBox="1"/>
          <p:nvPr/>
        </p:nvSpPr>
        <p:spPr>
          <a:xfrm>
            <a:off x="5212080" y="3749040"/>
            <a:ext cx="3063240" cy="640080"/>
          </a:xfrm>
          <a:prstGeom prst="rect">
            <a:avLst/>
          </a:prstGeom>
          <a:noFill/>
          <a:ln/>
        </p:spPr>
        <p:txBody>
          <a:bodyPr wrap="square" lIns="0" tIns="0" rIns="0" bIns="0" rtlCol="0" anchor="t"/>
          <a:lstStyle/>
          <a:p>
            <a:pPr marL="0" indent="0">
              <a:buNone/>
            </a:pPr>
            <a:r>
              <a:rPr lang="it-IT" sz="1200" dirty="0">
                <a:solidFill>
                  <a:schemeClr val="bg1"/>
                </a:solidFill>
              </a:rPr>
              <a:t>Decisioni su persone, valutazioni legali, mediche, di sicurezza</a:t>
            </a:r>
            <a:endParaRPr lang="it-IT"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87</a:t>
            </a:fld>
            <a:endParaRPr lang="it-IT"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Supporto, supervisione e delega</a:t>
            </a:r>
            <a:endParaRPr lang="it-IT" sz="2600" dirty="0"/>
          </a:p>
        </p:txBody>
      </p:sp>
      <p:sp>
        <p:nvSpPr>
          <p:cNvPr id="4" name="Supporto"/>
          <p:cNvSpPr/>
          <p:nvPr/>
        </p:nvSpPr>
        <p:spPr>
          <a:xfrm>
            <a:off x="457200" y="1417320"/>
            <a:ext cx="2615184" cy="2377440"/>
          </a:xfrm>
          <a:prstGeom prst="roundRect">
            <a:avLst>
              <a:gd name="adj" fmla="val 3077"/>
            </a:avLst>
          </a:prstGeom>
          <a:solidFill>
            <a:schemeClr val="bg2"/>
          </a:solidFill>
          <a:ln/>
        </p:spPr>
        <p:txBody>
          <a:bodyPr/>
          <a:lstStyle/>
          <a:p>
            <a:endParaRPr lang="it-IT" dirty="0"/>
          </a:p>
        </p:txBody>
      </p:sp>
      <p:sp>
        <p:nvSpPr>
          <p:cNvPr id="5" name="cerchio FiUser"/>
          <p:cNvSpPr/>
          <p:nvPr/>
        </p:nvSpPr>
        <p:spPr>
          <a:xfrm>
            <a:off x="640080" y="1572768"/>
            <a:ext cx="502920" cy="502920"/>
          </a:xfrm>
          <a:prstGeom prst="ellipse">
            <a:avLst/>
          </a:prstGeom>
          <a:solidFill>
            <a:schemeClr val="accent1"/>
          </a:solidFill>
          <a:ln/>
        </p:spPr>
        <p:txBody>
          <a:bodyPr/>
          <a:lstStyle/>
          <a:p>
            <a:endParaRPr lang="it-IT" dirty="0"/>
          </a:p>
        </p:txBody>
      </p:sp>
      <p:pic>
        <p:nvPicPr>
          <p:cNvPr id="6" name="Image 0" descr="FiUser"/>
          <p:cNvPicPr>
            <a:picLocks noChangeAspect="1"/>
          </p:cNvPicPr>
          <p:nvPr/>
        </p:nvPicPr>
        <p:blipFill>
          <a:blip r:embed="rId3"/>
          <a:stretch>
            <a:fillRect/>
          </a:stretch>
        </p:blipFill>
        <p:spPr>
          <a:xfrm>
            <a:off x="765810" y="1698498"/>
            <a:ext cx="251460" cy="251460"/>
          </a:xfrm>
          <a:prstGeom prst="rect">
            <a:avLst/>
          </a:prstGeom>
        </p:spPr>
      </p:pic>
      <p:sp>
        <p:nvSpPr>
          <p:cNvPr id="7" name="Text 3"/>
          <p:cNvSpPr txBox="1"/>
          <p:nvPr/>
        </p:nvSpPr>
        <p:spPr>
          <a:xfrm>
            <a:off x="1280160" y="1572768"/>
            <a:ext cx="1645920" cy="502920"/>
          </a:xfrm>
          <a:prstGeom prst="rect">
            <a:avLst/>
          </a:prstGeom>
          <a:noFill/>
          <a:ln/>
        </p:spPr>
        <p:txBody>
          <a:bodyPr wrap="square" lIns="0" tIns="0" rIns="0" bIns="0" rtlCol="0" anchor="ctr"/>
          <a:lstStyle/>
          <a:p>
            <a:pPr marL="0" indent="0">
              <a:buNone/>
            </a:pPr>
            <a:r>
              <a:rPr lang="it-IT" sz="1700" b="1" dirty="0">
                <a:solidFill>
                  <a:schemeClr val="tx1"/>
                </a:solidFill>
              </a:rPr>
              <a:t>Supporto</a:t>
            </a:r>
            <a:endParaRPr lang="it-IT" sz="1700" dirty="0"/>
          </a:p>
        </p:txBody>
      </p:sp>
      <p:sp>
        <p:nvSpPr>
          <p:cNvPr id="8" name="Text 4"/>
          <p:cNvSpPr txBox="1"/>
          <p:nvPr/>
        </p:nvSpPr>
        <p:spPr>
          <a:xfrm>
            <a:off x="640080" y="2240280"/>
            <a:ext cx="2249424" cy="731520"/>
          </a:xfrm>
          <a:prstGeom prst="rect">
            <a:avLst/>
          </a:prstGeom>
          <a:noFill/>
          <a:ln/>
        </p:spPr>
        <p:txBody>
          <a:bodyPr wrap="square" lIns="0" tIns="0" rIns="0" bIns="0" rtlCol="0" anchor="t"/>
          <a:lstStyle/>
          <a:p>
            <a:pPr marL="0" indent="0">
              <a:buNone/>
            </a:pPr>
            <a:r>
              <a:rPr lang="it-IT" sz="1300" b="1" dirty="0">
                <a:solidFill>
                  <a:schemeClr val="tx1"/>
                </a:solidFill>
              </a:rPr>
              <a:t>L'AI aiuta, la persona svolge il compito e decide</a:t>
            </a:r>
            <a:endParaRPr lang="it-IT" sz="1300" dirty="0"/>
          </a:p>
        </p:txBody>
      </p:sp>
      <p:sp>
        <p:nvSpPr>
          <p:cNvPr id="9" name="Text 5"/>
          <p:cNvSpPr txBox="1"/>
          <p:nvPr/>
        </p:nvSpPr>
        <p:spPr>
          <a:xfrm>
            <a:off x="640080" y="3017520"/>
            <a:ext cx="2249424" cy="685800"/>
          </a:xfrm>
          <a:prstGeom prst="rect">
            <a:avLst/>
          </a:prstGeom>
          <a:noFill/>
          <a:ln/>
        </p:spPr>
        <p:txBody>
          <a:bodyPr wrap="square" lIns="0" tIns="0" rIns="0" bIns="0" rtlCol="0" anchor="t"/>
          <a:lstStyle/>
          <a:p>
            <a:pPr marL="0" indent="0">
              <a:buNone/>
            </a:pPr>
            <a:r>
              <a:rPr lang="it-IT" sz="1200" dirty="0">
                <a:solidFill>
                  <a:schemeClr val="tx1"/>
                </a:solidFill>
              </a:rPr>
              <a:t>Esempio: Idee, bozze, sintesi</a:t>
            </a:r>
            <a:endParaRPr lang="it-IT" sz="1200" dirty="0"/>
          </a:p>
        </p:txBody>
      </p:sp>
      <p:sp>
        <p:nvSpPr>
          <p:cNvPr id="10" name="Supervisione"/>
          <p:cNvSpPr/>
          <p:nvPr/>
        </p:nvSpPr>
        <p:spPr>
          <a:xfrm>
            <a:off x="3264408" y="1417320"/>
            <a:ext cx="2615184" cy="2377440"/>
          </a:xfrm>
          <a:prstGeom prst="roundRect">
            <a:avLst>
              <a:gd name="adj" fmla="val 3077"/>
            </a:avLst>
          </a:prstGeom>
          <a:solidFill>
            <a:schemeClr val="accent6"/>
          </a:solidFill>
          <a:ln/>
        </p:spPr>
        <p:txBody>
          <a:bodyPr/>
          <a:lstStyle/>
          <a:p>
            <a:endParaRPr lang="it-IT" dirty="0"/>
          </a:p>
        </p:txBody>
      </p:sp>
      <p:sp>
        <p:nvSpPr>
          <p:cNvPr id="11" name="cerchio FiUserCheck"/>
          <p:cNvSpPr/>
          <p:nvPr/>
        </p:nvSpPr>
        <p:spPr>
          <a:xfrm>
            <a:off x="3447288" y="1572768"/>
            <a:ext cx="502920" cy="502920"/>
          </a:xfrm>
          <a:prstGeom prst="ellipse">
            <a:avLst/>
          </a:prstGeom>
          <a:solidFill>
            <a:schemeClr val="accent1"/>
          </a:solidFill>
          <a:ln/>
        </p:spPr>
        <p:txBody>
          <a:bodyPr/>
          <a:lstStyle/>
          <a:p>
            <a:endParaRPr lang="it-IT" dirty="0"/>
          </a:p>
        </p:txBody>
      </p:sp>
      <p:pic>
        <p:nvPicPr>
          <p:cNvPr id="12" name="Image 1" descr="FiUserCheck"/>
          <p:cNvPicPr>
            <a:picLocks noChangeAspect="1"/>
          </p:cNvPicPr>
          <p:nvPr/>
        </p:nvPicPr>
        <p:blipFill>
          <a:blip r:embed="rId4"/>
          <a:stretch>
            <a:fillRect/>
          </a:stretch>
        </p:blipFill>
        <p:spPr>
          <a:xfrm>
            <a:off x="3573018" y="1698498"/>
            <a:ext cx="251460" cy="251460"/>
          </a:xfrm>
          <a:prstGeom prst="rect">
            <a:avLst/>
          </a:prstGeom>
        </p:spPr>
      </p:pic>
      <p:sp>
        <p:nvSpPr>
          <p:cNvPr id="13" name="Text 8"/>
          <p:cNvSpPr txBox="1"/>
          <p:nvPr/>
        </p:nvSpPr>
        <p:spPr>
          <a:xfrm>
            <a:off x="4087368" y="1572768"/>
            <a:ext cx="1645920" cy="502920"/>
          </a:xfrm>
          <a:prstGeom prst="rect">
            <a:avLst/>
          </a:prstGeom>
          <a:noFill/>
          <a:ln/>
        </p:spPr>
        <p:txBody>
          <a:bodyPr wrap="square" lIns="0" tIns="0" rIns="0" bIns="0" rtlCol="0" anchor="ctr"/>
          <a:lstStyle/>
          <a:p>
            <a:pPr marL="0" indent="0">
              <a:buNone/>
            </a:pPr>
            <a:r>
              <a:rPr lang="it-IT" sz="1700" b="1" dirty="0">
                <a:solidFill>
                  <a:schemeClr val="tx1"/>
                </a:solidFill>
              </a:rPr>
              <a:t>Supervisione</a:t>
            </a:r>
            <a:endParaRPr lang="it-IT" sz="1700" dirty="0"/>
          </a:p>
        </p:txBody>
      </p:sp>
      <p:sp>
        <p:nvSpPr>
          <p:cNvPr id="14" name="Text 9"/>
          <p:cNvSpPr txBox="1"/>
          <p:nvPr/>
        </p:nvSpPr>
        <p:spPr>
          <a:xfrm>
            <a:off x="3447288" y="2240280"/>
            <a:ext cx="2249424" cy="731520"/>
          </a:xfrm>
          <a:prstGeom prst="rect">
            <a:avLst/>
          </a:prstGeom>
          <a:noFill/>
          <a:ln/>
        </p:spPr>
        <p:txBody>
          <a:bodyPr wrap="square" lIns="0" tIns="0" rIns="0" bIns="0" rtlCol="0" anchor="t"/>
          <a:lstStyle/>
          <a:p>
            <a:pPr marL="0" indent="0">
              <a:buNone/>
            </a:pPr>
            <a:r>
              <a:rPr lang="it-IT" sz="1300" b="1" dirty="0">
                <a:solidFill>
                  <a:schemeClr val="tx1"/>
                </a:solidFill>
              </a:rPr>
              <a:t>L'AI svolge il compito, la persona controlla ogni risultato</a:t>
            </a:r>
            <a:endParaRPr lang="it-IT" sz="1300" dirty="0"/>
          </a:p>
        </p:txBody>
      </p:sp>
      <p:sp>
        <p:nvSpPr>
          <p:cNvPr id="15" name="Text 10"/>
          <p:cNvSpPr txBox="1"/>
          <p:nvPr/>
        </p:nvSpPr>
        <p:spPr>
          <a:xfrm>
            <a:off x="3447288" y="3017520"/>
            <a:ext cx="2249424" cy="685800"/>
          </a:xfrm>
          <a:prstGeom prst="rect">
            <a:avLst/>
          </a:prstGeom>
          <a:noFill/>
          <a:ln/>
        </p:spPr>
        <p:txBody>
          <a:bodyPr wrap="square" lIns="0" tIns="0" rIns="0" bIns="0" rtlCol="0" anchor="t"/>
          <a:lstStyle/>
          <a:p>
            <a:pPr marL="0" indent="0">
              <a:buNone/>
            </a:pPr>
            <a:r>
              <a:rPr lang="it-IT" sz="1200" dirty="0">
                <a:solidFill>
                  <a:schemeClr val="tx1"/>
                </a:solidFill>
              </a:rPr>
              <a:t>Esempio: Risposte ai clienti verificate da un operatore</a:t>
            </a:r>
            <a:endParaRPr lang="it-IT" sz="1200" dirty="0"/>
          </a:p>
        </p:txBody>
      </p:sp>
      <p:sp>
        <p:nvSpPr>
          <p:cNvPr id="16" name="Delega"/>
          <p:cNvSpPr/>
          <p:nvPr/>
        </p:nvSpPr>
        <p:spPr>
          <a:xfrm>
            <a:off x="6071616" y="1417320"/>
            <a:ext cx="2615184" cy="2377440"/>
          </a:xfrm>
          <a:prstGeom prst="roundRect">
            <a:avLst>
              <a:gd name="adj" fmla="val 3077"/>
            </a:avLst>
          </a:prstGeom>
          <a:solidFill>
            <a:schemeClr val="accent1"/>
          </a:solidFill>
          <a:ln/>
        </p:spPr>
        <p:txBody>
          <a:bodyPr/>
          <a:lstStyle/>
          <a:p>
            <a:endParaRPr lang="it-IT" dirty="0"/>
          </a:p>
        </p:txBody>
      </p:sp>
      <p:sp>
        <p:nvSpPr>
          <p:cNvPr id="17" name="cerchio FiCpu"/>
          <p:cNvSpPr/>
          <p:nvPr/>
        </p:nvSpPr>
        <p:spPr>
          <a:xfrm>
            <a:off x="6254496" y="1572768"/>
            <a:ext cx="502920" cy="502920"/>
          </a:xfrm>
          <a:prstGeom prst="ellipse">
            <a:avLst/>
          </a:prstGeom>
          <a:solidFill>
            <a:schemeClr val="bg1"/>
          </a:solidFill>
          <a:ln/>
        </p:spPr>
        <p:txBody>
          <a:bodyPr/>
          <a:lstStyle/>
          <a:p>
            <a:endParaRPr lang="it-IT" dirty="0"/>
          </a:p>
        </p:txBody>
      </p:sp>
      <p:pic>
        <p:nvPicPr>
          <p:cNvPr id="18" name="Image 2" descr="FiCpu"/>
          <p:cNvPicPr>
            <a:picLocks noChangeAspect="1"/>
          </p:cNvPicPr>
          <p:nvPr/>
        </p:nvPicPr>
        <p:blipFill>
          <a:blip r:embed="rId5"/>
          <a:stretch>
            <a:fillRect/>
          </a:stretch>
        </p:blipFill>
        <p:spPr>
          <a:xfrm>
            <a:off x="6380226" y="1698498"/>
            <a:ext cx="251460" cy="251460"/>
          </a:xfrm>
          <a:prstGeom prst="rect">
            <a:avLst/>
          </a:prstGeom>
        </p:spPr>
      </p:pic>
      <p:sp>
        <p:nvSpPr>
          <p:cNvPr id="19" name="Text 13"/>
          <p:cNvSpPr txBox="1"/>
          <p:nvPr/>
        </p:nvSpPr>
        <p:spPr>
          <a:xfrm>
            <a:off x="6894576" y="1572768"/>
            <a:ext cx="1645920" cy="502920"/>
          </a:xfrm>
          <a:prstGeom prst="rect">
            <a:avLst/>
          </a:prstGeom>
          <a:noFill/>
          <a:ln/>
        </p:spPr>
        <p:txBody>
          <a:bodyPr wrap="square" lIns="0" tIns="0" rIns="0" bIns="0" rtlCol="0" anchor="ctr"/>
          <a:lstStyle/>
          <a:p>
            <a:pPr marL="0" indent="0">
              <a:buNone/>
            </a:pPr>
            <a:r>
              <a:rPr lang="it-IT" sz="1700" b="1" dirty="0">
                <a:solidFill>
                  <a:schemeClr val="bg1"/>
                </a:solidFill>
              </a:rPr>
              <a:t>Delega</a:t>
            </a:r>
            <a:endParaRPr lang="it-IT" sz="1700" dirty="0"/>
          </a:p>
        </p:txBody>
      </p:sp>
      <p:sp>
        <p:nvSpPr>
          <p:cNvPr id="20" name="Text 14"/>
          <p:cNvSpPr txBox="1"/>
          <p:nvPr/>
        </p:nvSpPr>
        <p:spPr>
          <a:xfrm>
            <a:off x="6254496" y="2240280"/>
            <a:ext cx="2249424" cy="731520"/>
          </a:xfrm>
          <a:prstGeom prst="rect">
            <a:avLst/>
          </a:prstGeom>
          <a:noFill/>
          <a:ln/>
        </p:spPr>
        <p:txBody>
          <a:bodyPr wrap="square" lIns="0" tIns="0" rIns="0" bIns="0" rtlCol="0" anchor="t"/>
          <a:lstStyle/>
          <a:p>
            <a:pPr marL="0" indent="0">
              <a:buNone/>
            </a:pPr>
            <a:r>
              <a:rPr lang="it-IT" sz="1300" b="1" dirty="0">
                <a:solidFill>
                  <a:schemeClr val="bg1"/>
                </a:solidFill>
              </a:rPr>
              <a:t>L'AI agisce in autonomia, la persona interviene su eccezioni</a:t>
            </a:r>
            <a:endParaRPr lang="it-IT" sz="1300" dirty="0"/>
          </a:p>
        </p:txBody>
      </p:sp>
      <p:sp>
        <p:nvSpPr>
          <p:cNvPr id="21" name="Text 15"/>
          <p:cNvSpPr txBox="1"/>
          <p:nvPr/>
        </p:nvSpPr>
        <p:spPr>
          <a:xfrm>
            <a:off x="6254496" y="3017520"/>
            <a:ext cx="2249424" cy="685800"/>
          </a:xfrm>
          <a:prstGeom prst="rect">
            <a:avLst/>
          </a:prstGeom>
          <a:noFill/>
          <a:ln/>
        </p:spPr>
        <p:txBody>
          <a:bodyPr wrap="square" lIns="0" tIns="0" rIns="0" bIns="0" rtlCol="0" anchor="t"/>
          <a:lstStyle/>
          <a:p>
            <a:pPr marL="0" indent="0">
              <a:buNone/>
            </a:pPr>
            <a:r>
              <a:rPr lang="it-IT" sz="1200" dirty="0">
                <a:solidFill>
                  <a:schemeClr val="bg1"/>
                </a:solidFill>
              </a:rPr>
              <a:t>Esempio: Classificazione di documenti a basso impatto</a:t>
            </a:r>
            <a:endParaRPr lang="it-IT" sz="1200" dirty="0"/>
          </a:p>
        </p:txBody>
      </p:sp>
      <p:sp>
        <p:nvSpPr>
          <p:cNvPr id="22" name="autonomia"/>
          <p:cNvSpPr/>
          <p:nvPr/>
        </p:nvSpPr>
        <p:spPr>
          <a:xfrm>
            <a:off x="457200" y="1188720"/>
            <a:ext cx="8229600" cy="0"/>
          </a:xfrm>
          <a:prstGeom prst="line">
            <a:avLst/>
          </a:prstGeom>
          <a:noFill/>
          <a:ln w="25400">
            <a:solidFill>
              <a:schemeClr val="accent2"/>
            </a:solidFill>
            <a:prstDash val="solid"/>
            <a:tailEnd type="triangle"/>
          </a:ln>
        </p:spPr>
        <p:txBody>
          <a:bodyPr/>
          <a:lstStyle/>
          <a:p>
            <a:endParaRPr lang="it-IT" dirty="0"/>
          </a:p>
        </p:txBody>
      </p:sp>
      <p:sp>
        <p:nvSpPr>
          <p:cNvPr id="23" name="Text 17"/>
          <p:cNvSpPr txBox="1"/>
          <p:nvPr/>
        </p:nvSpPr>
        <p:spPr>
          <a:xfrm>
            <a:off x="5943600" y="960120"/>
            <a:ext cx="2743200" cy="228600"/>
          </a:xfrm>
          <a:prstGeom prst="rect">
            <a:avLst/>
          </a:prstGeom>
          <a:noFill/>
          <a:ln/>
        </p:spPr>
        <p:txBody>
          <a:bodyPr wrap="square" lIns="0" tIns="0" rIns="0" bIns="0" rtlCol="0" anchor="t"/>
          <a:lstStyle/>
          <a:p>
            <a:pPr marL="0" indent="0" algn="r">
              <a:buNone/>
            </a:pPr>
            <a:r>
              <a:rPr lang="it-IT" sz="1100" b="1" dirty="0">
                <a:solidFill>
                  <a:schemeClr val="accent2"/>
                </a:solidFill>
              </a:rPr>
              <a:t>Autonomia crescente</a:t>
            </a:r>
            <a:endParaRPr lang="it-IT" sz="1100" dirty="0"/>
          </a:p>
        </p:txBody>
      </p:sp>
      <p:sp>
        <p:nvSpPr>
          <p:cNvPr id="24" name="messaggio"/>
          <p:cNvSpPr/>
          <p:nvPr/>
        </p:nvSpPr>
        <p:spPr>
          <a:xfrm>
            <a:off x="457200" y="3977640"/>
            <a:ext cx="8229600" cy="548640"/>
          </a:xfrm>
          <a:prstGeom prst="roundRect">
            <a:avLst>
              <a:gd name="adj" fmla="val 13333"/>
            </a:avLst>
          </a:prstGeom>
          <a:solidFill>
            <a:schemeClr val="tx1"/>
          </a:solidFill>
          <a:ln/>
        </p:spPr>
        <p:txBody>
          <a:bodyPr/>
          <a:lstStyle/>
          <a:p>
            <a:endParaRPr lang="it-IT" dirty="0"/>
          </a:p>
        </p:txBody>
      </p:sp>
      <p:sp>
        <p:nvSpPr>
          <p:cNvPr id="25" name="Text 19"/>
          <p:cNvSpPr txBox="1"/>
          <p:nvPr/>
        </p:nvSpPr>
        <p:spPr>
          <a:xfrm>
            <a:off x="640080" y="3977640"/>
            <a:ext cx="7863840" cy="548640"/>
          </a:xfrm>
          <a:prstGeom prst="rect">
            <a:avLst/>
          </a:prstGeom>
          <a:noFill/>
          <a:ln/>
        </p:spPr>
        <p:txBody>
          <a:bodyPr wrap="square" lIns="0" tIns="0" rIns="0" bIns="0" rtlCol="0" anchor="ctr"/>
          <a:lstStyle/>
          <a:p>
            <a:pPr marL="0" indent="0">
              <a:buNone/>
            </a:pPr>
            <a:r>
              <a:rPr lang="it-IT" sz="1300" dirty="0">
                <a:solidFill>
                  <a:schemeClr val="bg1"/>
                </a:solidFill>
              </a:rPr>
              <a:t>Maggiore autonomia richiede affidabilità dimostrata, limiti operativi chiari, monitoraggio e meccanismi per intervenire quando necessario.</a:t>
            </a:r>
            <a:endParaRPr lang="it-IT"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88</a:t>
            </a:fld>
            <a:endParaRPr lang="it-IT"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Quando servono maggiori garanzie o strumenti differenti</a:t>
            </a:r>
            <a:endParaRPr lang="it-IT" sz="2600" dirty="0"/>
          </a:p>
        </p:txBody>
      </p:sp>
      <p:sp>
        <p:nvSpPr>
          <p:cNvPr id="4" name="Servono competenze che non abbiamo"/>
          <p:cNvSpPr/>
          <p:nvPr/>
        </p:nvSpPr>
        <p:spPr>
          <a:xfrm>
            <a:off x="457200" y="1097280"/>
            <a:ext cx="4023360" cy="1005840"/>
          </a:xfrm>
          <a:prstGeom prst="roundRect">
            <a:avLst>
              <a:gd name="adj" fmla="val 7273"/>
            </a:avLst>
          </a:prstGeom>
          <a:solidFill>
            <a:schemeClr val="bg2"/>
          </a:solidFill>
          <a:ln/>
        </p:spPr>
        <p:txBody>
          <a:bodyPr/>
          <a:lstStyle/>
          <a:p>
            <a:endParaRPr lang="it-IT" dirty="0"/>
          </a:p>
        </p:txBody>
      </p:sp>
      <p:sp>
        <p:nvSpPr>
          <p:cNvPr id="5" name="cerchio FiAward"/>
          <p:cNvSpPr/>
          <p:nvPr/>
        </p:nvSpPr>
        <p:spPr>
          <a:xfrm>
            <a:off x="621792" y="1344168"/>
            <a:ext cx="512064" cy="512064"/>
          </a:xfrm>
          <a:prstGeom prst="ellipse">
            <a:avLst/>
          </a:prstGeom>
          <a:solidFill>
            <a:schemeClr val="accent1"/>
          </a:solidFill>
          <a:ln/>
        </p:spPr>
        <p:txBody>
          <a:bodyPr/>
          <a:lstStyle/>
          <a:p>
            <a:endParaRPr lang="it-IT" dirty="0"/>
          </a:p>
        </p:txBody>
      </p:sp>
      <p:pic>
        <p:nvPicPr>
          <p:cNvPr id="6" name="Image 0" descr="FiAward"/>
          <p:cNvPicPr>
            <a:picLocks noChangeAspect="1"/>
          </p:cNvPicPr>
          <p:nvPr/>
        </p:nvPicPr>
        <p:blipFill>
          <a:blip r:embed="rId3"/>
          <a:stretch>
            <a:fillRect/>
          </a:stretch>
        </p:blipFill>
        <p:spPr>
          <a:xfrm>
            <a:off x="749808" y="1472184"/>
            <a:ext cx="256032" cy="256032"/>
          </a:xfrm>
          <a:prstGeom prst="rect">
            <a:avLst/>
          </a:prstGeom>
        </p:spPr>
      </p:pic>
      <p:sp>
        <p:nvSpPr>
          <p:cNvPr id="7" name="Text 3"/>
          <p:cNvSpPr txBox="1"/>
          <p:nvPr/>
        </p:nvSpPr>
        <p:spPr>
          <a:xfrm>
            <a:off x="1280160" y="1207008"/>
            <a:ext cx="3108960" cy="411480"/>
          </a:xfrm>
          <a:prstGeom prst="rect">
            <a:avLst/>
          </a:prstGeom>
          <a:noFill/>
          <a:ln/>
        </p:spPr>
        <p:txBody>
          <a:bodyPr wrap="square" lIns="0" tIns="0" rIns="0" bIns="0" rtlCol="0" anchor="ctr"/>
          <a:lstStyle/>
          <a:p>
            <a:pPr marL="0" indent="0">
              <a:buNone/>
            </a:pPr>
            <a:r>
              <a:rPr lang="it-IT" sz="1300" b="1" dirty="0">
                <a:solidFill>
                  <a:schemeClr val="tx1"/>
                </a:solidFill>
              </a:rPr>
              <a:t>Servono competenze che non abbiamo</a:t>
            </a:r>
            <a:endParaRPr lang="it-IT" sz="1300" dirty="0"/>
          </a:p>
        </p:txBody>
      </p:sp>
      <p:sp>
        <p:nvSpPr>
          <p:cNvPr id="8" name="Text 4"/>
          <p:cNvSpPr txBox="1"/>
          <p:nvPr/>
        </p:nvSpPr>
        <p:spPr>
          <a:xfrm>
            <a:off x="1280160" y="1600200"/>
            <a:ext cx="3108960" cy="411480"/>
          </a:xfrm>
          <a:prstGeom prst="rect">
            <a:avLst/>
          </a:prstGeom>
          <a:noFill/>
          <a:ln/>
        </p:spPr>
        <p:txBody>
          <a:bodyPr wrap="square" lIns="0" tIns="0" rIns="0" bIns="0" rtlCol="0" anchor="t"/>
          <a:lstStyle/>
          <a:p>
            <a:pPr marL="0" indent="0">
              <a:buNone/>
            </a:pPr>
            <a:r>
              <a:rPr lang="it-IT" sz="1200" dirty="0">
                <a:solidFill>
                  <a:schemeClr val="tx2"/>
                </a:solidFill>
              </a:rPr>
              <a:t>e non possiamo coinvolgere un esperto</a:t>
            </a:r>
            <a:endParaRPr lang="it-IT" sz="1200" dirty="0"/>
          </a:p>
        </p:txBody>
      </p:sp>
      <p:sp>
        <p:nvSpPr>
          <p:cNvPr id="9" name="Conseguenze gravi o irreversibili"/>
          <p:cNvSpPr/>
          <p:nvPr/>
        </p:nvSpPr>
        <p:spPr>
          <a:xfrm>
            <a:off x="4663440" y="1097280"/>
            <a:ext cx="4023360" cy="1005840"/>
          </a:xfrm>
          <a:prstGeom prst="roundRect">
            <a:avLst>
              <a:gd name="adj" fmla="val 7273"/>
            </a:avLst>
          </a:prstGeom>
          <a:solidFill>
            <a:schemeClr val="bg2"/>
          </a:solidFill>
          <a:ln/>
        </p:spPr>
        <p:txBody>
          <a:bodyPr/>
          <a:lstStyle/>
          <a:p>
            <a:endParaRPr lang="it-IT" dirty="0"/>
          </a:p>
        </p:txBody>
      </p:sp>
      <p:sp>
        <p:nvSpPr>
          <p:cNvPr id="10" name="cerchio FiAlertOctagon"/>
          <p:cNvSpPr/>
          <p:nvPr/>
        </p:nvSpPr>
        <p:spPr>
          <a:xfrm>
            <a:off x="4828032" y="1344168"/>
            <a:ext cx="512064" cy="512064"/>
          </a:xfrm>
          <a:prstGeom prst="ellipse">
            <a:avLst/>
          </a:prstGeom>
          <a:solidFill>
            <a:schemeClr val="accent5"/>
          </a:solidFill>
          <a:ln/>
        </p:spPr>
        <p:txBody>
          <a:bodyPr/>
          <a:lstStyle/>
          <a:p>
            <a:endParaRPr lang="it-IT" dirty="0"/>
          </a:p>
        </p:txBody>
      </p:sp>
      <p:pic>
        <p:nvPicPr>
          <p:cNvPr id="11" name="Image 1" descr="FiAlertOctagon"/>
          <p:cNvPicPr>
            <a:picLocks noChangeAspect="1"/>
          </p:cNvPicPr>
          <p:nvPr/>
        </p:nvPicPr>
        <p:blipFill>
          <a:blip r:embed="rId4"/>
          <a:stretch>
            <a:fillRect/>
          </a:stretch>
        </p:blipFill>
        <p:spPr>
          <a:xfrm>
            <a:off x="4956048" y="1472184"/>
            <a:ext cx="256032" cy="256032"/>
          </a:xfrm>
          <a:prstGeom prst="rect">
            <a:avLst/>
          </a:prstGeom>
        </p:spPr>
      </p:pic>
      <p:sp>
        <p:nvSpPr>
          <p:cNvPr id="12" name="Text 7"/>
          <p:cNvSpPr txBox="1"/>
          <p:nvPr/>
        </p:nvSpPr>
        <p:spPr>
          <a:xfrm>
            <a:off x="5486400" y="1207008"/>
            <a:ext cx="3108960" cy="411480"/>
          </a:xfrm>
          <a:prstGeom prst="rect">
            <a:avLst/>
          </a:prstGeom>
          <a:noFill/>
          <a:ln/>
        </p:spPr>
        <p:txBody>
          <a:bodyPr wrap="square" lIns="0" tIns="0" rIns="0" bIns="0" rtlCol="0" anchor="ctr"/>
          <a:lstStyle/>
          <a:p>
            <a:pPr marL="0" indent="0">
              <a:buNone/>
            </a:pPr>
            <a:r>
              <a:rPr lang="it-IT" sz="1300" b="1" dirty="0">
                <a:solidFill>
                  <a:schemeClr val="tx1"/>
                </a:solidFill>
              </a:rPr>
              <a:t>Conseguenze gravi o irreversibili</a:t>
            </a:r>
            <a:endParaRPr lang="it-IT" sz="1300" dirty="0"/>
          </a:p>
        </p:txBody>
      </p:sp>
      <p:sp>
        <p:nvSpPr>
          <p:cNvPr id="13" name="Text 8"/>
          <p:cNvSpPr txBox="1"/>
          <p:nvPr/>
        </p:nvSpPr>
        <p:spPr>
          <a:xfrm>
            <a:off x="5486400" y="1600200"/>
            <a:ext cx="3108960" cy="411480"/>
          </a:xfrm>
          <a:prstGeom prst="rect">
            <a:avLst/>
          </a:prstGeom>
          <a:noFill/>
          <a:ln/>
        </p:spPr>
        <p:txBody>
          <a:bodyPr wrap="square" lIns="0" tIns="0" rIns="0" bIns="0" rtlCol="0" anchor="t"/>
          <a:lstStyle/>
          <a:p>
            <a:pPr marL="0" indent="0">
              <a:buNone/>
            </a:pPr>
            <a:r>
              <a:rPr lang="it-IT" sz="1200" dirty="0">
                <a:solidFill>
                  <a:schemeClr val="tx2"/>
                </a:solidFill>
              </a:rPr>
              <a:t>senza controlli adeguati</a:t>
            </a:r>
            <a:endParaRPr lang="it-IT" sz="1200" dirty="0"/>
          </a:p>
        </p:txBody>
      </p:sp>
      <p:sp>
        <p:nvSpPr>
          <p:cNvPr id="14" name="Decisioni con effetti sulle persone"/>
          <p:cNvSpPr/>
          <p:nvPr/>
        </p:nvSpPr>
        <p:spPr>
          <a:xfrm>
            <a:off x="457200" y="2240280"/>
            <a:ext cx="4023360" cy="1005840"/>
          </a:xfrm>
          <a:prstGeom prst="roundRect">
            <a:avLst>
              <a:gd name="adj" fmla="val 7273"/>
            </a:avLst>
          </a:prstGeom>
          <a:solidFill>
            <a:schemeClr val="bg2"/>
          </a:solidFill>
          <a:ln/>
        </p:spPr>
        <p:txBody>
          <a:bodyPr/>
          <a:lstStyle/>
          <a:p>
            <a:endParaRPr lang="it-IT" dirty="0"/>
          </a:p>
        </p:txBody>
      </p:sp>
      <p:sp>
        <p:nvSpPr>
          <p:cNvPr id="15" name="cerchio FiUsers"/>
          <p:cNvSpPr/>
          <p:nvPr/>
        </p:nvSpPr>
        <p:spPr>
          <a:xfrm>
            <a:off x="621792" y="2487168"/>
            <a:ext cx="512064" cy="512064"/>
          </a:xfrm>
          <a:prstGeom prst="ellipse">
            <a:avLst/>
          </a:prstGeom>
          <a:solidFill>
            <a:schemeClr val="accent1"/>
          </a:solidFill>
          <a:ln/>
        </p:spPr>
        <p:txBody>
          <a:bodyPr/>
          <a:lstStyle/>
          <a:p>
            <a:endParaRPr lang="it-IT" dirty="0"/>
          </a:p>
        </p:txBody>
      </p:sp>
      <p:pic>
        <p:nvPicPr>
          <p:cNvPr id="16" name="Image 2" descr="FiUsers"/>
          <p:cNvPicPr>
            <a:picLocks noChangeAspect="1"/>
          </p:cNvPicPr>
          <p:nvPr/>
        </p:nvPicPr>
        <p:blipFill>
          <a:blip r:embed="rId5"/>
          <a:stretch>
            <a:fillRect/>
          </a:stretch>
        </p:blipFill>
        <p:spPr>
          <a:xfrm>
            <a:off x="749808" y="2615184"/>
            <a:ext cx="256032" cy="256032"/>
          </a:xfrm>
          <a:prstGeom prst="rect">
            <a:avLst/>
          </a:prstGeom>
        </p:spPr>
      </p:pic>
      <p:sp>
        <p:nvSpPr>
          <p:cNvPr id="17" name="Text 11"/>
          <p:cNvSpPr txBox="1"/>
          <p:nvPr/>
        </p:nvSpPr>
        <p:spPr>
          <a:xfrm>
            <a:off x="1280160" y="2350008"/>
            <a:ext cx="3108960" cy="411480"/>
          </a:xfrm>
          <a:prstGeom prst="rect">
            <a:avLst/>
          </a:prstGeom>
          <a:noFill/>
          <a:ln/>
        </p:spPr>
        <p:txBody>
          <a:bodyPr wrap="square" lIns="0" tIns="0" rIns="0" bIns="0" rtlCol="0" anchor="ctr"/>
          <a:lstStyle/>
          <a:p>
            <a:pPr marL="0" indent="0">
              <a:buNone/>
            </a:pPr>
            <a:r>
              <a:rPr lang="it-IT" sz="1300" b="1" dirty="0">
                <a:solidFill>
                  <a:schemeClr val="tx1"/>
                </a:solidFill>
              </a:rPr>
              <a:t>Decisioni con effetti sulle persone</a:t>
            </a:r>
            <a:endParaRPr lang="it-IT" sz="1300" dirty="0"/>
          </a:p>
        </p:txBody>
      </p:sp>
      <p:sp>
        <p:nvSpPr>
          <p:cNvPr id="18" name="Text 12"/>
          <p:cNvSpPr txBox="1"/>
          <p:nvPr/>
        </p:nvSpPr>
        <p:spPr>
          <a:xfrm>
            <a:off x="1280160" y="2743200"/>
            <a:ext cx="3108960" cy="411480"/>
          </a:xfrm>
          <a:prstGeom prst="rect">
            <a:avLst/>
          </a:prstGeom>
          <a:noFill/>
          <a:ln/>
        </p:spPr>
        <p:txBody>
          <a:bodyPr wrap="square" lIns="0" tIns="0" rIns="0" bIns="0" rtlCol="0" anchor="t"/>
          <a:lstStyle/>
          <a:p>
            <a:pPr marL="0" indent="0">
              <a:buNone/>
            </a:pPr>
            <a:r>
              <a:rPr lang="it-IT" sz="1200" dirty="0">
                <a:solidFill>
                  <a:schemeClr val="tx2"/>
                </a:solidFill>
              </a:rPr>
              <a:t>selezione, valutazione, servizi, salute, sicurezza</a:t>
            </a:r>
            <a:endParaRPr lang="it-IT" sz="1200" dirty="0"/>
          </a:p>
        </p:txBody>
      </p:sp>
      <p:sp>
        <p:nvSpPr>
          <p:cNvPr id="19" name="Risultato non verificabile"/>
          <p:cNvSpPr/>
          <p:nvPr/>
        </p:nvSpPr>
        <p:spPr>
          <a:xfrm>
            <a:off x="4663440" y="2240280"/>
            <a:ext cx="4023360" cy="1005840"/>
          </a:xfrm>
          <a:prstGeom prst="roundRect">
            <a:avLst>
              <a:gd name="adj" fmla="val 7273"/>
            </a:avLst>
          </a:prstGeom>
          <a:solidFill>
            <a:schemeClr val="bg2"/>
          </a:solidFill>
          <a:ln/>
        </p:spPr>
        <p:txBody>
          <a:bodyPr/>
          <a:lstStyle/>
          <a:p>
            <a:endParaRPr lang="it-IT" dirty="0"/>
          </a:p>
        </p:txBody>
      </p:sp>
      <p:sp>
        <p:nvSpPr>
          <p:cNvPr id="20" name="cerchio FiSearch"/>
          <p:cNvSpPr/>
          <p:nvPr/>
        </p:nvSpPr>
        <p:spPr>
          <a:xfrm>
            <a:off x="4828032" y="2487168"/>
            <a:ext cx="512064" cy="512064"/>
          </a:xfrm>
          <a:prstGeom prst="ellipse">
            <a:avLst/>
          </a:prstGeom>
          <a:solidFill>
            <a:schemeClr val="accent1"/>
          </a:solidFill>
          <a:ln/>
        </p:spPr>
        <p:txBody>
          <a:bodyPr/>
          <a:lstStyle/>
          <a:p>
            <a:endParaRPr lang="it-IT" dirty="0"/>
          </a:p>
        </p:txBody>
      </p:sp>
      <p:pic>
        <p:nvPicPr>
          <p:cNvPr id="21" name="Image 3" descr="FiSearch"/>
          <p:cNvPicPr>
            <a:picLocks noChangeAspect="1"/>
          </p:cNvPicPr>
          <p:nvPr/>
        </p:nvPicPr>
        <p:blipFill>
          <a:blip r:embed="rId6"/>
          <a:stretch>
            <a:fillRect/>
          </a:stretch>
        </p:blipFill>
        <p:spPr>
          <a:xfrm>
            <a:off x="4956048" y="2615184"/>
            <a:ext cx="256032" cy="256032"/>
          </a:xfrm>
          <a:prstGeom prst="rect">
            <a:avLst/>
          </a:prstGeom>
        </p:spPr>
      </p:pic>
      <p:sp>
        <p:nvSpPr>
          <p:cNvPr id="22" name="Text 15"/>
          <p:cNvSpPr txBox="1"/>
          <p:nvPr/>
        </p:nvSpPr>
        <p:spPr>
          <a:xfrm>
            <a:off x="5486400" y="2350008"/>
            <a:ext cx="3108960" cy="411480"/>
          </a:xfrm>
          <a:prstGeom prst="rect">
            <a:avLst/>
          </a:prstGeom>
          <a:noFill/>
          <a:ln/>
        </p:spPr>
        <p:txBody>
          <a:bodyPr wrap="square" lIns="0" tIns="0" rIns="0" bIns="0" rtlCol="0" anchor="ctr"/>
          <a:lstStyle/>
          <a:p>
            <a:pPr marL="0" indent="0">
              <a:buNone/>
            </a:pPr>
            <a:r>
              <a:rPr lang="it-IT" sz="1300" b="1" dirty="0">
                <a:solidFill>
                  <a:schemeClr val="tx1"/>
                </a:solidFill>
              </a:rPr>
              <a:t>Risultato non verificabile</a:t>
            </a:r>
            <a:endParaRPr lang="it-IT" sz="1300" dirty="0"/>
          </a:p>
        </p:txBody>
      </p:sp>
      <p:sp>
        <p:nvSpPr>
          <p:cNvPr id="23" name="Text 16"/>
          <p:cNvSpPr txBox="1"/>
          <p:nvPr/>
        </p:nvSpPr>
        <p:spPr>
          <a:xfrm>
            <a:off x="5486400" y="2743200"/>
            <a:ext cx="3108960" cy="411480"/>
          </a:xfrm>
          <a:prstGeom prst="rect">
            <a:avLst/>
          </a:prstGeom>
          <a:noFill/>
          <a:ln/>
        </p:spPr>
        <p:txBody>
          <a:bodyPr wrap="square" lIns="0" tIns="0" rIns="0" bIns="0" rtlCol="0" anchor="t"/>
          <a:lstStyle/>
          <a:p>
            <a:pPr marL="0" indent="0">
              <a:buNone/>
            </a:pPr>
            <a:r>
              <a:rPr lang="it-IT" sz="1200" dirty="0">
                <a:solidFill>
                  <a:schemeClr val="tx2"/>
                </a:solidFill>
              </a:rPr>
              <a:t>né su fonti né con competenza adeguata</a:t>
            </a:r>
            <a:endParaRPr lang="it-IT" sz="1200" dirty="0"/>
          </a:p>
        </p:txBody>
      </p:sp>
      <p:sp>
        <p:nvSpPr>
          <p:cNvPr id="24" name="Dati riservati"/>
          <p:cNvSpPr/>
          <p:nvPr/>
        </p:nvSpPr>
        <p:spPr>
          <a:xfrm>
            <a:off x="457200" y="3383280"/>
            <a:ext cx="4023360" cy="1005840"/>
          </a:xfrm>
          <a:prstGeom prst="roundRect">
            <a:avLst>
              <a:gd name="adj" fmla="val 7273"/>
            </a:avLst>
          </a:prstGeom>
          <a:solidFill>
            <a:schemeClr val="bg2"/>
          </a:solidFill>
          <a:ln/>
        </p:spPr>
        <p:txBody>
          <a:bodyPr/>
          <a:lstStyle/>
          <a:p>
            <a:endParaRPr lang="it-IT" dirty="0"/>
          </a:p>
        </p:txBody>
      </p:sp>
      <p:sp>
        <p:nvSpPr>
          <p:cNvPr id="25" name="cerchio FiLock"/>
          <p:cNvSpPr/>
          <p:nvPr/>
        </p:nvSpPr>
        <p:spPr>
          <a:xfrm>
            <a:off x="621792" y="3630168"/>
            <a:ext cx="512064" cy="512064"/>
          </a:xfrm>
          <a:prstGeom prst="ellipse">
            <a:avLst/>
          </a:prstGeom>
          <a:solidFill>
            <a:schemeClr val="accent1"/>
          </a:solidFill>
          <a:ln/>
        </p:spPr>
        <p:txBody>
          <a:bodyPr/>
          <a:lstStyle/>
          <a:p>
            <a:endParaRPr lang="it-IT" dirty="0"/>
          </a:p>
        </p:txBody>
      </p:sp>
      <p:pic>
        <p:nvPicPr>
          <p:cNvPr id="26" name="Image 4" descr="FiLock"/>
          <p:cNvPicPr>
            <a:picLocks noChangeAspect="1"/>
          </p:cNvPicPr>
          <p:nvPr/>
        </p:nvPicPr>
        <p:blipFill>
          <a:blip r:embed="rId7"/>
          <a:stretch>
            <a:fillRect/>
          </a:stretch>
        </p:blipFill>
        <p:spPr>
          <a:xfrm>
            <a:off x="749808" y="3758184"/>
            <a:ext cx="256032" cy="256032"/>
          </a:xfrm>
          <a:prstGeom prst="rect">
            <a:avLst/>
          </a:prstGeom>
        </p:spPr>
      </p:pic>
      <p:sp>
        <p:nvSpPr>
          <p:cNvPr id="27" name="Text 19"/>
          <p:cNvSpPr txBox="1"/>
          <p:nvPr/>
        </p:nvSpPr>
        <p:spPr>
          <a:xfrm>
            <a:off x="1280160" y="3493008"/>
            <a:ext cx="3108960" cy="411480"/>
          </a:xfrm>
          <a:prstGeom prst="rect">
            <a:avLst/>
          </a:prstGeom>
          <a:noFill/>
          <a:ln/>
        </p:spPr>
        <p:txBody>
          <a:bodyPr wrap="square" lIns="0" tIns="0" rIns="0" bIns="0" rtlCol="0" anchor="ctr"/>
          <a:lstStyle/>
          <a:p>
            <a:pPr marL="0" indent="0">
              <a:buNone/>
            </a:pPr>
            <a:r>
              <a:rPr lang="it-IT" sz="1300" b="1" dirty="0">
                <a:solidFill>
                  <a:schemeClr val="tx1"/>
                </a:solidFill>
              </a:rPr>
              <a:t>Dati riservati</a:t>
            </a:r>
            <a:endParaRPr lang="it-IT" sz="1300" dirty="0"/>
          </a:p>
        </p:txBody>
      </p:sp>
      <p:sp>
        <p:nvSpPr>
          <p:cNvPr id="28" name="Text 20"/>
          <p:cNvSpPr txBox="1"/>
          <p:nvPr/>
        </p:nvSpPr>
        <p:spPr>
          <a:xfrm>
            <a:off x="1280160" y="3886200"/>
            <a:ext cx="3108960" cy="411480"/>
          </a:xfrm>
          <a:prstGeom prst="rect">
            <a:avLst/>
          </a:prstGeom>
          <a:noFill/>
          <a:ln/>
        </p:spPr>
        <p:txBody>
          <a:bodyPr wrap="square" lIns="0" tIns="0" rIns="0" bIns="0" rtlCol="0" anchor="t"/>
          <a:lstStyle/>
          <a:p>
            <a:pPr marL="0" indent="0">
              <a:buNone/>
            </a:pPr>
            <a:r>
              <a:rPr lang="it-IT" sz="1200" dirty="0">
                <a:solidFill>
                  <a:schemeClr val="tx2"/>
                </a:solidFill>
              </a:rPr>
              <a:t>con strumenti non autorizzati</a:t>
            </a:r>
            <a:endParaRPr lang="it-IT" sz="1200" dirty="0"/>
          </a:p>
        </p:txBody>
      </p:sp>
      <p:sp>
        <p:nvSpPr>
          <p:cNvPr id="29" name="Il valore è nel contributo umano"/>
          <p:cNvSpPr/>
          <p:nvPr/>
        </p:nvSpPr>
        <p:spPr>
          <a:xfrm>
            <a:off x="4663440" y="3383280"/>
            <a:ext cx="4023360" cy="1005840"/>
          </a:xfrm>
          <a:prstGeom prst="roundRect">
            <a:avLst>
              <a:gd name="adj" fmla="val 7273"/>
            </a:avLst>
          </a:prstGeom>
          <a:solidFill>
            <a:schemeClr val="bg2"/>
          </a:solidFill>
          <a:ln/>
        </p:spPr>
        <p:txBody>
          <a:bodyPr/>
          <a:lstStyle/>
          <a:p>
            <a:endParaRPr lang="it-IT" dirty="0"/>
          </a:p>
        </p:txBody>
      </p:sp>
      <p:sp>
        <p:nvSpPr>
          <p:cNvPr id="30" name="cerchio FiHeart"/>
          <p:cNvSpPr/>
          <p:nvPr/>
        </p:nvSpPr>
        <p:spPr>
          <a:xfrm>
            <a:off x="4828032" y="3630168"/>
            <a:ext cx="512064" cy="512064"/>
          </a:xfrm>
          <a:prstGeom prst="ellipse">
            <a:avLst/>
          </a:prstGeom>
          <a:solidFill>
            <a:schemeClr val="accent1"/>
          </a:solidFill>
          <a:ln/>
        </p:spPr>
        <p:txBody>
          <a:bodyPr/>
          <a:lstStyle/>
          <a:p>
            <a:endParaRPr lang="it-IT" dirty="0"/>
          </a:p>
        </p:txBody>
      </p:sp>
      <p:pic>
        <p:nvPicPr>
          <p:cNvPr id="31" name="Image 5" descr="FiHeart"/>
          <p:cNvPicPr>
            <a:picLocks noChangeAspect="1"/>
          </p:cNvPicPr>
          <p:nvPr/>
        </p:nvPicPr>
        <p:blipFill>
          <a:blip r:embed="rId8"/>
          <a:stretch>
            <a:fillRect/>
          </a:stretch>
        </p:blipFill>
        <p:spPr>
          <a:xfrm>
            <a:off x="4956048" y="3758184"/>
            <a:ext cx="256032" cy="256032"/>
          </a:xfrm>
          <a:prstGeom prst="rect">
            <a:avLst/>
          </a:prstGeom>
        </p:spPr>
      </p:pic>
      <p:sp>
        <p:nvSpPr>
          <p:cNvPr id="32" name="Text 23"/>
          <p:cNvSpPr txBox="1"/>
          <p:nvPr/>
        </p:nvSpPr>
        <p:spPr>
          <a:xfrm>
            <a:off x="5486400" y="3493008"/>
            <a:ext cx="3108960" cy="411480"/>
          </a:xfrm>
          <a:prstGeom prst="rect">
            <a:avLst/>
          </a:prstGeom>
          <a:noFill/>
          <a:ln/>
        </p:spPr>
        <p:txBody>
          <a:bodyPr wrap="square" lIns="0" tIns="0" rIns="0" bIns="0" rtlCol="0" anchor="ctr"/>
          <a:lstStyle/>
          <a:p>
            <a:pPr marL="0" indent="0">
              <a:buNone/>
            </a:pPr>
            <a:r>
              <a:rPr lang="it-IT" sz="1300" b="1" dirty="0">
                <a:solidFill>
                  <a:schemeClr val="tx1"/>
                </a:solidFill>
              </a:rPr>
              <a:t>Il valore è nel contributo umano</a:t>
            </a:r>
            <a:endParaRPr lang="it-IT" sz="1300" dirty="0"/>
          </a:p>
        </p:txBody>
      </p:sp>
      <p:sp>
        <p:nvSpPr>
          <p:cNvPr id="33" name="Text 24"/>
          <p:cNvSpPr txBox="1"/>
          <p:nvPr/>
        </p:nvSpPr>
        <p:spPr>
          <a:xfrm>
            <a:off x="5486400" y="3886200"/>
            <a:ext cx="3108960" cy="411480"/>
          </a:xfrm>
          <a:prstGeom prst="rect">
            <a:avLst/>
          </a:prstGeom>
          <a:noFill/>
          <a:ln/>
        </p:spPr>
        <p:txBody>
          <a:bodyPr wrap="square" lIns="0" tIns="0" rIns="0" bIns="0" rtlCol="0" anchor="t"/>
          <a:lstStyle/>
          <a:p>
            <a:pPr marL="0" indent="0">
              <a:buNone/>
            </a:pPr>
            <a:r>
              <a:rPr lang="it-IT" sz="1200" dirty="0">
                <a:solidFill>
                  <a:schemeClr val="tx2"/>
                </a:solidFill>
              </a:rPr>
              <a:t>messaggi personali, colloqui delicati, apprendimento</a:t>
            </a:r>
            <a:endParaRPr lang="it-IT"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89</a:t>
            </a:fld>
            <a:endParaRPr lang="it-IT"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it-IT" sz="2600" b="1" dirty="0">
                <a:solidFill>
                  <a:schemeClr val="tx1"/>
                </a:solidFill>
              </a:rPr>
              <a:t>La responsabilità resta umana</a:t>
            </a:r>
            <a:endParaRPr lang="it-IT" sz="2600" dirty="0"/>
          </a:p>
        </p:txBody>
      </p:sp>
      <p:sp>
        <p:nvSpPr>
          <p:cNvPr id="4" name="principio responsabilità"/>
          <p:cNvSpPr/>
          <p:nvPr/>
        </p:nvSpPr>
        <p:spPr>
          <a:xfrm>
            <a:off x="457200" y="1097280"/>
            <a:ext cx="3977640" cy="3429000"/>
          </a:xfrm>
          <a:prstGeom prst="roundRect">
            <a:avLst>
              <a:gd name="adj" fmla="val 2133"/>
            </a:avLst>
          </a:prstGeom>
          <a:solidFill>
            <a:schemeClr val="tx1"/>
          </a:solidFill>
          <a:ln/>
        </p:spPr>
        <p:txBody>
          <a:bodyPr/>
          <a:lstStyle/>
          <a:p>
            <a:endParaRPr lang="it-IT" dirty="0"/>
          </a:p>
        </p:txBody>
      </p:sp>
      <p:sp>
        <p:nvSpPr>
          <p:cNvPr id="5" name="cerchio FiUserCheck"/>
          <p:cNvSpPr/>
          <p:nvPr/>
        </p:nvSpPr>
        <p:spPr>
          <a:xfrm>
            <a:off x="685800" y="1325880"/>
            <a:ext cx="640080" cy="640080"/>
          </a:xfrm>
          <a:prstGeom prst="ellipse">
            <a:avLst/>
          </a:prstGeom>
          <a:solidFill>
            <a:schemeClr val="accent1"/>
          </a:solidFill>
          <a:ln/>
        </p:spPr>
        <p:txBody>
          <a:bodyPr/>
          <a:lstStyle/>
          <a:p>
            <a:endParaRPr lang="it-IT" dirty="0"/>
          </a:p>
        </p:txBody>
      </p:sp>
      <p:pic>
        <p:nvPicPr>
          <p:cNvPr id="6" name="Image 0" descr="FiUserCheck"/>
          <p:cNvPicPr>
            <a:picLocks noChangeAspect="1"/>
          </p:cNvPicPr>
          <p:nvPr/>
        </p:nvPicPr>
        <p:blipFill>
          <a:blip r:embed="rId3"/>
          <a:stretch>
            <a:fillRect/>
          </a:stretch>
        </p:blipFill>
        <p:spPr>
          <a:xfrm>
            <a:off x="845820" y="1485900"/>
            <a:ext cx="320040" cy="320040"/>
          </a:xfrm>
          <a:prstGeom prst="rect">
            <a:avLst/>
          </a:prstGeom>
        </p:spPr>
      </p:pic>
      <p:sp>
        <p:nvSpPr>
          <p:cNvPr id="7" name="Text 3"/>
          <p:cNvSpPr txBox="1"/>
          <p:nvPr/>
        </p:nvSpPr>
        <p:spPr>
          <a:xfrm>
            <a:off x="685800" y="2148840"/>
            <a:ext cx="3520440" cy="1371600"/>
          </a:xfrm>
          <a:prstGeom prst="rect">
            <a:avLst/>
          </a:prstGeom>
          <a:noFill/>
          <a:ln/>
        </p:spPr>
        <p:txBody>
          <a:bodyPr wrap="square" lIns="0" tIns="0" rIns="0" bIns="0" rtlCol="0" anchor="t"/>
          <a:lstStyle/>
          <a:p>
            <a:pPr marL="0" indent="0" algn="just">
              <a:buNone/>
            </a:pPr>
            <a:r>
              <a:rPr lang="it-IT" sz="1600" dirty="0">
                <a:solidFill>
                  <a:schemeClr val="bg1"/>
                </a:solidFill>
              </a:rPr>
              <a:t>L'utilizzo dell'AI non elimina le responsabilità di persone e organizzazioni. Chi impiega i risultati deve rispettare gli obblighi applicabili e prevedere controlli adeguati al contesto.</a:t>
            </a:r>
            <a:endParaRPr lang="it-IT" sz="1600" dirty="0"/>
          </a:p>
        </p:txBody>
      </p:sp>
      <p:sp>
        <p:nvSpPr>
          <p:cNvPr id="8" name="Text 4"/>
          <p:cNvSpPr txBox="1"/>
          <p:nvPr/>
        </p:nvSpPr>
        <p:spPr>
          <a:xfrm>
            <a:off x="685800" y="3657600"/>
            <a:ext cx="3520440" cy="548640"/>
          </a:xfrm>
          <a:prstGeom prst="rect">
            <a:avLst/>
          </a:prstGeom>
          <a:noFill/>
          <a:ln/>
        </p:spPr>
        <p:txBody>
          <a:bodyPr wrap="square" lIns="0" tIns="0" rIns="0" bIns="0" rtlCol="0" anchor="t"/>
          <a:lstStyle/>
          <a:p>
            <a:pPr marL="0" indent="0">
              <a:buNone/>
            </a:pPr>
            <a:r>
              <a:rPr lang="it-IT" sz="1400" b="1" dirty="0">
                <a:solidFill>
                  <a:schemeClr val="accent1"/>
                </a:solidFill>
              </a:rPr>
              <a:t>"L'ha scritto l'AI" non è una giustificazione.</a:t>
            </a:r>
            <a:endParaRPr lang="it-IT" sz="1400" dirty="0"/>
          </a:p>
        </p:txBody>
      </p:sp>
      <p:sp>
        <p:nvSpPr>
          <p:cNvPr id="9" name="Text 5"/>
          <p:cNvSpPr txBox="1"/>
          <p:nvPr/>
        </p:nvSpPr>
        <p:spPr>
          <a:xfrm>
            <a:off x="4709160" y="1097280"/>
            <a:ext cx="3977640" cy="320040"/>
          </a:xfrm>
          <a:prstGeom prst="rect">
            <a:avLst/>
          </a:prstGeom>
          <a:noFill/>
          <a:ln/>
        </p:spPr>
        <p:txBody>
          <a:bodyPr wrap="square" lIns="0" tIns="0" rIns="0" bIns="0" rtlCol="0" anchor="t"/>
          <a:lstStyle/>
          <a:p>
            <a:pPr marL="0" indent="0">
              <a:buNone/>
            </a:pPr>
            <a:r>
              <a:rPr lang="it-IT" sz="1500" b="1" dirty="0">
                <a:solidFill>
                  <a:schemeClr val="tx1"/>
                </a:solidFill>
              </a:rPr>
              <a:t>Tre implicazioni</a:t>
            </a:r>
            <a:endParaRPr lang="it-IT" sz="1500" dirty="0"/>
          </a:p>
        </p:txBody>
      </p:sp>
      <p:sp>
        <p:nvSpPr>
          <p:cNvPr id="10" name="implicazione 1"/>
          <p:cNvSpPr/>
          <p:nvPr/>
        </p:nvSpPr>
        <p:spPr>
          <a:xfrm>
            <a:off x="4709160" y="1554480"/>
            <a:ext cx="3977640" cy="841248"/>
          </a:xfrm>
          <a:prstGeom prst="roundRect">
            <a:avLst>
              <a:gd name="adj" fmla="val 8696"/>
            </a:avLst>
          </a:prstGeom>
          <a:solidFill>
            <a:schemeClr val="bg2"/>
          </a:solidFill>
          <a:ln/>
        </p:spPr>
        <p:txBody>
          <a:bodyPr/>
          <a:lstStyle/>
          <a:p>
            <a:endParaRPr lang="it-IT" dirty="0"/>
          </a:p>
        </p:txBody>
      </p:sp>
      <p:sp>
        <p:nvSpPr>
          <p:cNvPr id="11" name="Text 7"/>
          <p:cNvSpPr txBox="1"/>
          <p:nvPr/>
        </p:nvSpPr>
        <p:spPr>
          <a:xfrm>
            <a:off x="4846320" y="1554480"/>
            <a:ext cx="457200" cy="841248"/>
          </a:xfrm>
          <a:prstGeom prst="rect">
            <a:avLst/>
          </a:prstGeom>
          <a:noFill/>
          <a:ln/>
        </p:spPr>
        <p:txBody>
          <a:bodyPr wrap="square" lIns="0" tIns="0" rIns="0" bIns="0" rtlCol="0" anchor="ctr"/>
          <a:lstStyle/>
          <a:p>
            <a:pPr marL="0" indent="0">
              <a:buNone/>
            </a:pPr>
            <a:r>
              <a:rPr lang="it-IT" sz="2400" b="1" dirty="0">
                <a:solidFill>
                  <a:schemeClr val="accent1"/>
                </a:solidFill>
              </a:rPr>
              <a:t>1</a:t>
            </a:r>
            <a:endParaRPr lang="it-IT" sz="2400" dirty="0"/>
          </a:p>
        </p:txBody>
      </p:sp>
      <p:sp>
        <p:nvSpPr>
          <p:cNvPr id="12" name="Text 8"/>
          <p:cNvSpPr txBox="1"/>
          <p:nvPr/>
        </p:nvSpPr>
        <p:spPr>
          <a:xfrm>
            <a:off x="5349240" y="1554480"/>
            <a:ext cx="3200400" cy="841248"/>
          </a:xfrm>
          <a:prstGeom prst="rect">
            <a:avLst/>
          </a:prstGeom>
          <a:noFill/>
          <a:ln/>
        </p:spPr>
        <p:txBody>
          <a:bodyPr wrap="square" lIns="0" tIns="0" rIns="0" bIns="0" rtlCol="0" anchor="ctr"/>
          <a:lstStyle/>
          <a:p>
            <a:pPr marL="0" indent="0">
              <a:buNone/>
            </a:pPr>
            <a:r>
              <a:rPr lang="it-IT" sz="1400" dirty="0">
                <a:solidFill>
                  <a:schemeClr val="tx1"/>
                </a:solidFill>
              </a:rPr>
              <a:t>Conoscere capacità e limiti dello strumento</a:t>
            </a:r>
            <a:endParaRPr lang="it-IT" sz="1400" dirty="0"/>
          </a:p>
        </p:txBody>
      </p:sp>
      <p:sp>
        <p:nvSpPr>
          <p:cNvPr id="13" name="implicazione 2"/>
          <p:cNvSpPr/>
          <p:nvPr/>
        </p:nvSpPr>
        <p:spPr>
          <a:xfrm>
            <a:off x="4709160" y="2542032"/>
            <a:ext cx="3977640" cy="841248"/>
          </a:xfrm>
          <a:prstGeom prst="roundRect">
            <a:avLst>
              <a:gd name="adj" fmla="val 8696"/>
            </a:avLst>
          </a:prstGeom>
          <a:solidFill>
            <a:schemeClr val="accent6"/>
          </a:solidFill>
          <a:ln/>
        </p:spPr>
        <p:txBody>
          <a:bodyPr/>
          <a:lstStyle/>
          <a:p>
            <a:endParaRPr lang="it-IT" dirty="0"/>
          </a:p>
        </p:txBody>
      </p:sp>
      <p:sp>
        <p:nvSpPr>
          <p:cNvPr id="14" name="Text 10"/>
          <p:cNvSpPr txBox="1"/>
          <p:nvPr/>
        </p:nvSpPr>
        <p:spPr>
          <a:xfrm>
            <a:off x="4846320" y="2542032"/>
            <a:ext cx="457200" cy="841248"/>
          </a:xfrm>
          <a:prstGeom prst="rect">
            <a:avLst/>
          </a:prstGeom>
          <a:noFill/>
          <a:ln/>
        </p:spPr>
        <p:txBody>
          <a:bodyPr wrap="square" lIns="0" tIns="0" rIns="0" bIns="0" rtlCol="0" anchor="ctr"/>
          <a:lstStyle/>
          <a:p>
            <a:pPr marL="0" indent="0">
              <a:buNone/>
            </a:pPr>
            <a:r>
              <a:rPr lang="it-IT" sz="2400" b="1" dirty="0">
                <a:solidFill>
                  <a:schemeClr val="accent1"/>
                </a:solidFill>
              </a:rPr>
              <a:t>2</a:t>
            </a:r>
            <a:endParaRPr lang="it-IT" sz="2400" dirty="0"/>
          </a:p>
        </p:txBody>
      </p:sp>
      <p:sp>
        <p:nvSpPr>
          <p:cNvPr id="15" name="Text 11"/>
          <p:cNvSpPr txBox="1"/>
          <p:nvPr/>
        </p:nvSpPr>
        <p:spPr>
          <a:xfrm>
            <a:off x="5349240" y="2542032"/>
            <a:ext cx="3200400" cy="841248"/>
          </a:xfrm>
          <a:prstGeom prst="rect">
            <a:avLst/>
          </a:prstGeom>
          <a:noFill/>
          <a:ln/>
        </p:spPr>
        <p:txBody>
          <a:bodyPr wrap="square" lIns="0" tIns="0" rIns="0" bIns="0" rtlCol="0" anchor="ctr"/>
          <a:lstStyle/>
          <a:p>
            <a:pPr marL="0" indent="0">
              <a:buNone/>
            </a:pPr>
            <a:r>
              <a:rPr lang="it-IT" sz="1400" dirty="0">
                <a:solidFill>
                  <a:schemeClr val="tx1"/>
                </a:solidFill>
              </a:rPr>
              <a:t>Controllare in modo proporzionato alle conseguenze</a:t>
            </a:r>
            <a:endParaRPr lang="it-IT" sz="1400" dirty="0"/>
          </a:p>
        </p:txBody>
      </p:sp>
      <p:sp>
        <p:nvSpPr>
          <p:cNvPr id="16" name="implicazione 3"/>
          <p:cNvSpPr/>
          <p:nvPr/>
        </p:nvSpPr>
        <p:spPr>
          <a:xfrm>
            <a:off x="4709160" y="3529584"/>
            <a:ext cx="3977640" cy="841248"/>
          </a:xfrm>
          <a:prstGeom prst="roundRect">
            <a:avLst>
              <a:gd name="adj" fmla="val 8696"/>
            </a:avLst>
          </a:prstGeom>
          <a:solidFill>
            <a:schemeClr val="bg2"/>
          </a:solidFill>
          <a:ln/>
        </p:spPr>
        <p:txBody>
          <a:bodyPr/>
          <a:lstStyle/>
          <a:p>
            <a:endParaRPr lang="it-IT" dirty="0"/>
          </a:p>
        </p:txBody>
      </p:sp>
      <p:sp>
        <p:nvSpPr>
          <p:cNvPr id="17" name="Text 13"/>
          <p:cNvSpPr txBox="1"/>
          <p:nvPr/>
        </p:nvSpPr>
        <p:spPr>
          <a:xfrm>
            <a:off x="4846320" y="3529584"/>
            <a:ext cx="457200" cy="841248"/>
          </a:xfrm>
          <a:prstGeom prst="rect">
            <a:avLst/>
          </a:prstGeom>
          <a:noFill/>
          <a:ln/>
        </p:spPr>
        <p:txBody>
          <a:bodyPr wrap="square" lIns="0" tIns="0" rIns="0" bIns="0" rtlCol="0" anchor="ctr"/>
          <a:lstStyle/>
          <a:p>
            <a:pPr marL="0" indent="0">
              <a:buNone/>
            </a:pPr>
            <a:r>
              <a:rPr lang="it-IT" sz="2400" b="1" dirty="0">
                <a:solidFill>
                  <a:schemeClr val="accent1"/>
                </a:solidFill>
              </a:rPr>
              <a:t>3</a:t>
            </a:r>
            <a:endParaRPr lang="it-IT" sz="2400" dirty="0"/>
          </a:p>
        </p:txBody>
      </p:sp>
      <p:sp>
        <p:nvSpPr>
          <p:cNvPr id="18" name="Text 14"/>
          <p:cNvSpPr txBox="1"/>
          <p:nvPr/>
        </p:nvSpPr>
        <p:spPr>
          <a:xfrm>
            <a:off x="5349240" y="3529584"/>
            <a:ext cx="3200400" cy="841248"/>
          </a:xfrm>
          <a:prstGeom prst="rect">
            <a:avLst/>
          </a:prstGeom>
          <a:noFill/>
          <a:ln/>
        </p:spPr>
        <p:txBody>
          <a:bodyPr wrap="square" lIns="0" tIns="0" rIns="0" bIns="0" rtlCol="0" anchor="ctr"/>
          <a:lstStyle/>
          <a:p>
            <a:pPr marL="0" indent="0">
              <a:buNone/>
            </a:pPr>
            <a:r>
              <a:rPr lang="it-IT" sz="1400" dirty="0">
                <a:solidFill>
                  <a:schemeClr val="tx1"/>
                </a:solidFill>
              </a:rPr>
              <a:t>Sapere quando non usarlo o chi coinvolgere</a:t>
            </a:r>
            <a:endParaRPr lang="it-IT"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2"/>
                </a:solidFill>
              </a:defRPr>
            </a:lvl1pPr>
          </a:lstStyle>
          <a:p>
            <a:pPr algn="r"/>
            <a:fld id="{F7021451-1387-4CA6-816F-3879F97B5CBC}" type="slidenum">
              <a:rPr lang="it-IT" b="0" smtClean="0"/>
              <a:t>90</a:t>
            </a:fld>
            <a:endParaRPr lang="it-IT"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Caccia all'allucinazione</a:t>
            </a:r>
            <a:endParaRPr lang="en-US" sz="2600" dirty="0"/>
          </a:p>
        </p:txBody>
      </p:sp>
      <p:sp>
        <p:nvSpPr>
          <p:cNvPr id="4" name="etichetta percorso"/>
          <p:cNvSpPr/>
          <p:nvPr/>
        </p:nvSpPr>
        <p:spPr>
          <a:xfrm>
            <a:off x="7452360" y="402336"/>
            <a:ext cx="1234440" cy="274320"/>
          </a:xfrm>
          <a:prstGeom prst="roundRect">
            <a:avLst>
              <a:gd name="adj" fmla="val 50000"/>
            </a:avLst>
          </a:prstGeom>
          <a:solidFill>
            <a:schemeClr val="bg2"/>
          </a:solidFill>
          <a:ln w="9525">
            <a:solidFill>
              <a:schemeClr val="accent1"/>
            </a:solidFill>
            <a:prstDash val="solid"/>
          </a:ln>
        </p:spPr>
        <p:txBody>
          <a:bodyPr/>
          <a:lstStyle/>
          <a:p>
            <a:endParaRPr lang="it-IT"/>
          </a:p>
        </p:txBody>
      </p:sp>
      <p:sp>
        <p:nvSpPr>
          <p:cNvPr id="5" name="Text 2"/>
          <p:cNvSpPr txBox="1"/>
          <p:nvPr/>
        </p:nvSpPr>
        <p:spPr>
          <a:xfrm>
            <a:off x="7452360" y="402336"/>
            <a:ext cx="1234440" cy="274320"/>
          </a:xfrm>
          <a:prstGeom prst="rect">
            <a:avLst/>
          </a:prstGeom>
          <a:noFill/>
          <a:ln/>
        </p:spPr>
        <p:txBody>
          <a:bodyPr wrap="square" lIns="0" tIns="0" rIns="0" bIns="0" rtlCol="0" anchor="ctr"/>
          <a:lstStyle/>
          <a:p>
            <a:pPr marL="0" indent="0" algn="ctr">
              <a:buNone/>
            </a:pPr>
            <a:r>
              <a:rPr lang="en-US" sz="1000" b="1" dirty="0">
                <a:solidFill>
                  <a:schemeClr val="accent1"/>
                </a:solidFill>
              </a:rPr>
              <a:t>Percorso A e B</a:t>
            </a:r>
            <a:endParaRPr lang="en-US" sz="1000" dirty="0"/>
          </a:p>
        </p:txBody>
      </p:sp>
      <p:sp>
        <p:nvSpPr>
          <p:cNvPr id="6" name="Text 3"/>
          <p:cNvSpPr txBox="1"/>
          <p:nvPr/>
        </p:nvSpPr>
        <p:spPr>
          <a:xfrm>
            <a:off x="457200" y="1005840"/>
            <a:ext cx="5120640" cy="292608"/>
          </a:xfrm>
          <a:prstGeom prst="rect">
            <a:avLst/>
          </a:prstGeom>
          <a:noFill/>
          <a:ln/>
        </p:spPr>
        <p:txBody>
          <a:bodyPr wrap="square" lIns="0" tIns="0" rIns="0" bIns="0" rtlCol="0" anchor="t"/>
          <a:lstStyle/>
          <a:p>
            <a:pPr marL="0" indent="0">
              <a:buNone/>
            </a:pPr>
            <a:r>
              <a:rPr lang="en-US" sz="1300" b="1" dirty="0">
                <a:solidFill>
                  <a:schemeClr val="tx1"/>
                </a:solidFill>
              </a:rPr>
              <a:t>Tre domande a Copilot, senza allegare documenti</a:t>
            </a:r>
            <a:endParaRPr lang="en-US" sz="1300" dirty="0"/>
          </a:p>
        </p:txBody>
      </p:sp>
      <p:sp>
        <p:nvSpPr>
          <p:cNvPr id="7" name="domanda 1"/>
          <p:cNvSpPr/>
          <p:nvPr/>
        </p:nvSpPr>
        <p:spPr>
          <a:xfrm>
            <a:off x="457200" y="1371600"/>
            <a:ext cx="5120640" cy="676656"/>
          </a:xfrm>
          <a:prstGeom prst="roundRect">
            <a:avLst>
              <a:gd name="adj" fmla="val 10811"/>
            </a:avLst>
          </a:prstGeom>
          <a:solidFill>
            <a:schemeClr val="bg2"/>
          </a:solidFill>
          <a:ln/>
        </p:spPr>
        <p:txBody>
          <a:bodyPr/>
          <a:lstStyle/>
          <a:p>
            <a:endParaRPr lang="it-IT"/>
          </a:p>
        </p:txBody>
      </p:sp>
      <p:sp>
        <p:nvSpPr>
          <p:cNvPr id="8" name="Text 5"/>
          <p:cNvSpPr txBox="1"/>
          <p:nvPr/>
        </p:nvSpPr>
        <p:spPr>
          <a:xfrm>
            <a:off x="594360" y="1371600"/>
            <a:ext cx="320040" cy="676656"/>
          </a:xfrm>
          <a:prstGeom prst="rect">
            <a:avLst/>
          </a:prstGeom>
          <a:noFill/>
          <a:ln/>
        </p:spPr>
        <p:txBody>
          <a:bodyPr wrap="square" lIns="0" tIns="0" rIns="0" bIns="0" rtlCol="0" anchor="ctr"/>
          <a:lstStyle/>
          <a:p>
            <a:pPr marL="0" indent="0">
              <a:buNone/>
            </a:pPr>
            <a:r>
              <a:rPr lang="en-US" sz="1800" b="1" dirty="0">
                <a:solidFill>
                  <a:schemeClr val="accent1"/>
                </a:solidFill>
              </a:rPr>
              <a:t>1</a:t>
            </a:r>
            <a:endParaRPr lang="en-US" sz="1800" dirty="0"/>
          </a:p>
        </p:txBody>
      </p:sp>
      <p:sp>
        <p:nvSpPr>
          <p:cNvPr id="9" name="Text 6"/>
          <p:cNvSpPr txBox="1"/>
          <p:nvPr/>
        </p:nvSpPr>
        <p:spPr>
          <a:xfrm>
            <a:off x="960120" y="1371600"/>
            <a:ext cx="4480560" cy="676656"/>
          </a:xfrm>
          <a:prstGeom prst="rect">
            <a:avLst/>
          </a:prstGeom>
          <a:noFill/>
          <a:ln/>
        </p:spPr>
        <p:txBody>
          <a:bodyPr wrap="square" lIns="0" tIns="0" rIns="0" bIns="0" rtlCol="0" anchor="ctr"/>
          <a:lstStyle/>
          <a:p>
            <a:pPr marL="0" indent="0">
              <a:buNone/>
            </a:pPr>
            <a:r>
              <a:rPr lang="en-US" sz="1250" i="1" dirty="0">
                <a:solidFill>
                  <a:schemeClr val="tx1"/>
                </a:solidFill>
              </a:rPr>
              <a:t>“Che cosa significa l'allarme A01 sul forno a tunnel TF‑900 e come si risolve?”</a:t>
            </a:r>
            <a:endParaRPr lang="en-US" sz="1250" dirty="0"/>
          </a:p>
        </p:txBody>
      </p:sp>
      <p:sp>
        <p:nvSpPr>
          <p:cNvPr id="10" name="domanda 2"/>
          <p:cNvSpPr/>
          <p:nvPr/>
        </p:nvSpPr>
        <p:spPr>
          <a:xfrm>
            <a:off x="457200" y="2157984"/>
            <a:ext cx="5120640" cy="676656"/>
          </a:xfrm>
          <a:prstGeom prst="roundRect">
            <a:avLst>
              <a:gd name="adj" fmla="val 10811"/>
            </a:avLst>
          </a:prstGeom>
          <a:solidFill>
            <a:schemeClr val="bg2"/>
          </a:solidFill>
          <a:ln/>
        </p:spPr>
        <p:txBody>
          <a:bodyPr/>
          <a:lstStyle/>
          <a:p>
            <a:endParaRPr lang="it-IT"/>
          </a:p>
        </p:txBody>
      </p:sp>
      <p:sp>
        <p:nvSpPr>
          <p:cNvPr id="11" name="Text 8"/>
          <p:cNvSpPr txBox="1"/>
          <p:nvPr/>
        </p:nvSpPr>
        <p:spPr>
          <a:xfrm>
            <a:off x="594360" y="2157984"/>
            <a:ext cx="320040" cy="676656"/>
          </a:xfrm>
          <a:prstGeom prst="rect">
            <a:avLst/>
          </a:prstGeom>
          <a:noFill/>
          <a:ln/>
        </p:spPr>
        <p:txBody>
          <a:bodyPr wrap="square" lIns="0" tIns="0" rIns="0" bIns="0" rtlCol="0" anchor="ctr"/>
          <a:lstStyle/>
          <a:p>
            <a:pPr marL="0" indent="0">
              <a:buNone/>
            </a:pPr>
            <a:r>
              <a:rPr lang="en-US" sz="1800" b="1" dirty="0">
                <a:solidFill>
                  <a:schemeClr val="accent1"/>
                </a:solidFill>
              </a:rPr>
              <a:t>2</a:t>
            </a:r>
            <a:endParaRPr lang="en-US" sz="1800" dirty="0"/>
          </a:p>
        </p:txBody>
      </p:sp>
      <p:sp>
        <p:nvSpPr>
          <p:cNvPr id="12" name="Text 9"/>
          <p:cNvSpPr txBox="1"/>
          <p:nvPr/>
        </p:nvSpPr>
        <p:spPr>
          <a:xfrm>
            <a:off x="960120" y="2157984"/>
            <a:ext cx="4480560" cy="676656"/>
          </a:xfrm>
          <a:prstGeom prst="rect">
            <a:avLst/>
          </a:prstGeom>
          <a:noFill/>
          <a:ln/>
        </p:spPr>
        <p:txBody>
          <a:bodyPr wrap="square" lIns="0" tIns="0" rIns="0" bIns="0" rtlCol="0" anchor="ctr"/>
          <a:lstStyle/>
          <a:p>
            <a:pPr marL="0" indent="0">
              <a:buNone/>
            </a:pPr>
            <a:r>
              <a:rPr lang="en-US" sz="1250" i="1" dirty="0">
                <a:solidFill>
                  <a:schemeClr val="tx1"/>
                </a:solidFill>
              </a:rPr>
              <a:t>“Qual è la coppia di serraggio dei bulloni del bruciatore del forno TF‑900?”</a:t>
            </a:r>
            <a:endParaRPr lang="en-US" sz="1250" dirty="0"/>
          </a:p>
        </p:txBody>
      </p:sp>
      <p:sp>
        <p:nvSpPr>
          <p:cNvPr id="13" name="domanda 3"/>
          <p:cNvSpPr/>
          <p:nvPr/>
        </p:nvSpPr>
        <p:spPr>
          <a:xfrm>
            <a:off x="457200" y="2944368"/>
            <a:ext cx="5120640" cy="676656"/>
          </a:xfrm>
          <a:prstGeom prst="roundRect">
            <a:avLst>
              <a:gd name="adj" fmla="val 10811"/>
            </a:avLst>
          </a:prstGeom>
          <a:solidFill>
            <a:schemeClr val="bg2"/>
          </a:solidFill>
          <a:ln/>
        </p:spPr>
        <p:txBody>
          <a:bodyPr/>
          <a:lstStyle/>
          <a:p>
            <a:endParaRPr lang="it-IT"/>
          </a:p>
        </p:txBody>
      </p:sp>
      <p:sp>
        <p:nvSpPr>
          <p:cNvPr id="14" name="Text 11"/>
          <p:cNvSpPr txBox="1"/>
          <p:nvPr/>
        </p:nvSpPr>
        <p:spPr>
          <a:xfrm>
            <a:off x="594360" y="2944368"/>
            <a:ext cx="320040" cy="676656"/>
          </a:xfrm>
          <a:prstGeom prst="rect">
            <a:avLst/>
          </a:prstGeom>
          <a:noFill/>
          <a:ln/>
        </p:spPr>
        <p:txBody>
          <a:bodyPr wrap="square" lIns="0" tIns="0" rIns="0" bIns="0" rtlCol="0" anchor="ctr"/>
          <a:lstStyle/>
          <a:p>
            <a:pPr marL="0" indent="0">
              <a:buNone/>
            </a:pPr>
            <a:r>
              <a:rPr lang="en-US" sz="1800" b="1" dirty="0">
                <a:solidFill>
                  <a:schemeClr val="accent1"/>
                </a:solidFill>
              </a:rPr>
              <a:t>3</a:t>
            </a:r>
            <a:endParaRPr lang="en-US" sz="1800" dirty="0"/>
          </a:p>
        </p:txBody>
      </p:sp>
      <p:sp>
        <p:nvSpPr>
          <p:cNvPr id="15" name="Text 12"/>
          <p:cNvSpPr txBox="1"/>
          <p:nvPr/>
        </p:nvSpPr>
        <p:spPr>
          <a:xfrm>
            <a:off x="960120" y="2944368"/>
            <a:ext cx="4480560" cy="676656"/>
          </a:xfrm>
          <a:prstGeom prst="rect">
            <a:avLst/>
          </a:prstGeom>
          <a:noFill/>
          <a:ln/>
        </p:spPr>
        <p:txBody>
          <a:bodyPr wrap="square" lIns="0" tIns="0" rIns="0" bIns="0" rtlCol="0" anchor="ctr"/>
          <a:lstStyle/>
          <a:p>
            <a:pPr marL="0" indent="0">
              <a:buNone/>
            </a:pPr>
            <a:r>
              <a:rPr lang="en-US" sz="1250" i="1" dirty="0">
                <a:solidFill>
                  <a:schemeClr val="tx1"/>
                </a:solidFill>
              </a:rPr>
              <a:t>“Che cosa produce Laser Srl di Zevio e da quanti anni esiste?”</a:t>
            </a:r>
            <a:endParaRPr lang="en-US" sz="1250" dirty="0"/>
          </a:p>
        </p:txBody>
      </p:sp>
      <p:sp>
        <p:nvSpPr>
          <p:cNvPr id="16" name="scheda Che cosa osserviamo"/>
          <p:cNvSpPr/>
          <p:nvPr/>
        </p:nvSpPr>
        <p:spPr>
          <a:xfrm>
            <a:off x="5806440" y="1005840"/>
            <a:ext cx="2880360" cy="2697480"/>
          </a:xfrm>
          <a:prstGeom prst="roundRect">
            <a:avLst>
              <a:gd name="adj" fmla="val 2712"/>
            </a:avLst>
          </a:prstGeom>
          <a:solidFill>
            <a:schemeClr val="accent6"/>
          </a:solidFill>
          <a:ln/>
        </p:spPr>
        <p:txBody>
          <a:bodyPr/>
          <a:lstStyle/>
          <a:p>
            <a:endParaRPr lang="it-IT"/>
          </a:p>
        </p:txBody>
      </p:sp>
      <p:sp>
        <p:nvSpPr>
          <p:cNvPr id="17" name="cerchio FiEye"/>
          <p:cNvSpPr/>
          <p:nvPr/>
        </p:nvSpPr>
        <p:spPr>
          <a:xfrm>
            <a:off x="5989320" y="1188720"/>
            <a:ext cx="457200" cy="457200"/>
          </a:xfrm>
          <a:prstGeom prst="ellipse">
            <a:avLst/>
          </a:prstGeom>
          <a:solidFill>
            <a:schemeClr val="accent1"/>
          </a:solidFill>
          <a:ln/>
        </p:spPr>
        <p:txBody>
          <a:bodyPr/>
          <a:lstStyle/>
          <a:p>
            <a:endParaRPr lang="it-IT"/>
          </a:p>
        </p:txBody>
      </p:sp>
      <p:pic>
        <p:nvPicPr>
          <p:cNvPr id="18" name="Image 0" descr="FiEye"/>
          <p:cNvPicPr>
            <a:picLocks noChangeAspect="1"/>
          </p:cNvPicPr>
          <p:nvPr/>
        </p:nvPicPr>
        <p:blipFill>
          <a:blip r:embed="rId3"/>
          <a:stretch>
            <a:fillRect/>
          </a:stretch>
        </p:blipFill>
        <p:spPr>
          <a:xfrm>
            <a:off x="6103620" y="1303020"/>
            <a:ext cx="228600" cy="228600"/>
          </a:xfrm>
          <a:prstGeom prst="rect">
            <a:avLst/>
          </a:prstGeom>
        </p:spPr>
      </p:pic>
      <p:sp>
        <p:nvSpPr>
          <p:cNvPr id="19" name="Text 15"/>
          <p:cNvSpPr txBox="1"/>
          <p:nvPr/>
        </p:nvSpPr>
        <p:spPr>
          <a:xfrm>
            <a:off x="5989320" y="1755648"/>
            <a:ext cx="2514600" cy="347472"/>
          </a:xfrm>
          <a:prstGeom prst="rect">
            <a:avLst/>
          </a:prstGeom>
          <a:noFill/>
          <a:ln/>
        </p:spPr>
        <p:txBody>
          <a:bodyPr wrap="square" lIns="0" tIns="0" rIns="0" bIns="0" rtlCol="0" anchor="t"/>
          <a:lstStyle/>
          <a:p>
            <a:pPr marL="0" indent="0">
              <a:buNone/>
            </a:pPr>
            <a:r>
              <a:rPr lang="en-US" sz="1500" b="1" dirty="0">
                <a:solidFill>
                  <a:schemeClr val="tx1"/>
                </a:solidFill>
              </a:rPr>
              <a:t>Che cosa osserviamo</a:t>
            </a:r>
            <a:endParaRPr lang="en-US" sz="1500" dirty="0"/>
          </a:p>
        </p:txBody>
      </p:sp>
      <p:sp>
        <p:nvSpPr>
          <p:cNvPr id="20" name="Text 16"/>
          <p:cNvSpPr txBox="1"/>
          <p:nvPr/>
        </p:nvSpPr>
        <p:spPr>
          <a:xfrm>
            <a:off x="5989320" y="2139696"/>
            <a:ext cx="2514600" cy="1453896"/>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chemeClr val="tx2"/>
                </a:solidFill>
              </a:rPr>
              <a:t>Risponde comunque o dice di non sapere?</a:t>
            </a:r>
            <a:endParaRPr lang="en-US" sz="1250" dirty="0"/>
          </a:p>
          <a:p>
            <a:pPr marL="177800" indent="-177800">
              <a:spcAft>
                <a:spcPts val="800"/>
              </a:spcAft>
              <a:buSzPct val="100000"/>
              <a:buChar char="•"/>
            </a:pPr>
            <a:r>
              <a:rPr lang="en-US" sz="1250" dirty="0">
                <a:solidFill>
                  <a:schemeClr val="tx2"/>
                </a:solidFill>
              </a:rPr>
              <a:t>Da dove vengono numeri e date?</a:t>
            </a:r>
            <a:endParaRPr lang="en-US" sz="1250" dirty="0"/>
          </a:p>
          <a:p>
            <a:pPr marL="177800" indent="-177800">
              <a:spcAft>
                <a:spcPts val="800"/>
              </a:spcAft>
              <a:buSzPct val="100000"/>
              <a:buChar char="•"/>
            </a:pPr>
            <a:r>
              <a:rPr lang="en-US" sz="1250" dirty="0">
                <a:solidFill>
                  <a:schemeClr val="tx2"/>
                </a:solidFill>
              </a:rPr>
              <a:t>Cita fonti che possiamo controllare?</a:t>
            </a:r>
            <a:endParaRPr lang="en-US" sz="1250" dirty="0"/>
          </a:p>
        </p:txBody>
      </p:sp>
      <p:sp>
        <p:nvSpPr>
          <p:cNvPr id="21" name="messaggio"/>
          <p:cNvSpPr/>
          <p:nvPr/>
        </p:nvSpPr>
        <p:spPr>
          <a:xfrm>
            <a:off x="457200" y="3886200"/>
            <a:ext cx="8229600" cy="594360"/>
          </a:xfrm>
          <a:prstGeom prst="roundRect">
            <a:avLst>
              <a:gd name="adj" fmla="val 12308"/>
            </a:avLst>
          </a:prstGeom>
          <a:solidFill>
            <a:schemeClr val="tx1"/>
          </a:solidFill>
          <a:ln/>
        </p:spPr>
        <p:txBody>
          <a:bodyPr/>
          <a:lstStyle/>
          <a:p>
            <a:endParaRPr lang="it-IT"/>
          </a:p>
        </p:txBody>
      </p:sp>
      <p:sp>
        <p:nvSpPr>
          <p:cNvPr id="22" name="Text 18"/>
          <p:cNvSpPr txBox="1"/>
          <p:nvPr/>
        </p:nvSpPr>
        <p:spPr>
          <a:xfrm>
            <a:off x="640080" y="3886200"/>
            <a:ext cx="7863840" cy="594360"/>
          </a:xfrm>
          <a:prstGeom prst="rect">
            <a:avLst/>
          </a:prstGeom>
          <a:noFill/>
          <a:ln/>
        </p:spPr>
        <p:txBody>
          <a:bodyPr wrap="square" lIns="0" tIns="0" rIns="0" bIns="0" rtlCol="0" anchor="ctr"/>
          <a:lstStyle/>
          <a:p>
            <a:pPr marL="0" indent="0">
              <a:buNone/>
            </a:pPr>
            <a:r>
              <a:rPr lang="en-US" sz="1300" dirty="0">
                <a:solidFill>
                  <a:schemeClr val="bg1"/>
                </a:solidFill>
              </a:rPr>
              <a:t>Il TF‑900 non esiste: è inventato per questo corso. Una risposta sicura su di lui è un'allucinazione.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en-US" b="0"/>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BF26D-4296-EBE9-7D3D-41CC0422C83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D71EB4B-8974-48AC-6088-D88B3BDBA5E2}"/>
              </a:ext>
            </a:extLst>
          </p:cNvPr>
          <p:cNvSpPr>
            <a:spLocks noGrp="1"/>
          </p:cNvSpPr>
          <p:nvPr>
            <p:ph type="body" idx="100" hasCustomPrompt="1"/>
          </p:nvPr>
        </p:nvSpPr>
        <p:spPr>
          <a:xfrm>
            <a:off x="640080" y="1097280"/>
            <a:ext cx="7863840" cy="365760"/>
          </a:xfrm>
          <a:prstGeom prst="rect">
            <a:avLst/>
          </a:prstGeom>
          <a:noFill/>
          <a:ln/>
        </p:spPr>
        <p:txBody>
          <a:bodyPr wrap="square" lIns="0" tIns="0" rIns="0" bIns="0" rtlCol="0"/>
          <a:lstStyle/>
          <a:p>
            <a:pPr marL="0" indent="0">
              <a:buNone/>
            </a:pPr>
            <a:r>
              <a:rPr lang="en-US" sz="1300" b="1" kern="0" spc="200" dirty="0">
                <a:solidFill>
                  <a:schemeClr val="accent1"/>
                </a:solidFill>
              </a:rPr>
              <a:t>AI ADOPTION  ·  LASER SRL  ·  SESSIONE 1 DI 3</a:t>
            </a:r>
            <a:endParaRPr lang="en-US" sz="1300" dirty="0"/>
          </a:p>
        </p:txBody>
      </p:sp>
      <p:sp>
        <p:nvSpPr>
          <p:cNvPr id="3" name="Text 0">
            <a:extLst>
              <a:ext uri="{FF2B5EF4-FFF2-40B4-BE49-F238E27FC236}">
                <a16:creationId xmlns:a16="http://schemas.microsoft.com/office/drawing/2014/main" id="{7E7A8D35-8991-DA2F-0945-349EC4CEFE85}"/>
              </a:ext>
            </a:extLst>
          </p:cNvPr>
          <p:cNvSpPr>
            <a:spLocks noGrp="1"/>
          </p:cNvSpPr>
          <p:nvPr>
            <p:ph type="title" idx="101" hasCustomPrompt="1"/>
          </p:nvPr>
        </p:nvSpPr>
        <p:spPr>
          <a:xfrm>
            <a:off x="640080" y="1554480"/>
            <a:ext cx="7863840" cy="1463040"/>
          </a:xfrm>
          <a:prstGeom prst="rect">
            <a:avLst/>
          </a:prstGeom>
          <a:noFill/>
          <a:ln/>
        </p:spPr>
        <p:txBody>
          <a:bodyPr wrap="square" lIns="0" tIns="0" rIns="0" bIns="0" rtlCol="0" anchor="t"/>
          <a:lstStyle/>
          <a:p>
            <a:pPr marL="0" indent="0" algn="l">
              <a:buNone/>
            </a:pPr>
            <a:r>
              <a:rPr lang="en-US" sz="3600" b="1" dirty="0">
                <a:solidFill>
                  <a:schemeClr val="bg1"/>
                </a:solidFill>
              </a:rPr>
              <a:t>Brainstorming</a:t>
            </a:r>
            <a:endParaRPr lang="en-US" sz="3600" dirty="0"/>
          </a:p>
        </p:txBody>
      </p:sp>
      <p:sp>
        <p:nvSpPr>
          <p:cNvPr id="4" name="Text 0">
            <a:extLst>
              <a:ext uri="{FF2B5EF4-FFF2-40B4-BE49-F238E27FC236}">
                <a16:creationId xmlns:a16="http://schemas.microsoft.com/office/drawing/2014/main" id="{6F9FAE77-F9AB-FA55-6EE4-CFEB1EB0C36B}"/>
              </a:ext>
            </a:extLst>
          </p:cNvPr>
          <p:cNvSpPr>
            <a:spLocks noGrp="1"/>
          </p:cNvSpPr>
          <p:nvPr>
            <p:ph type="body" idx="102" hasCustomPrompt="1"/>
          </p:nvPr>
        </p:nvSpPr>
        <p:spPr>
          <a:xfrm>
            <a:off x="640080" y="3154680"/>
            <a:ext cx="7863840" cy="822960"/>
          </a:xfrm>
          <a:prstGeom prst="rect">
            <a:avLst/>
          </a:prstGeom>
          <a:noFill/>
          <a:ln/>
        </p:spPr>
        <p:txBody>
          <a:bodyPr wrap="square" lIns="0" tIns="0" rIns="0" bIns="0" rtlCol="0" anchor="t"/>
          <a:lstStyle/>
          <a:p>
            <a:pPr marL="0" indent="0">
              <a:buNone/>
            </a:pPr>
            <a:r>
              <a:rPr lang="en-US" dirty="0"/>
              <a:t>Brainstorming– </a:t>
            </a:r>
            <a:r>
              <a:rPr lang="en-US" dirty="0" err="1"/>
              <a:t>Giornata</a:t>
            </a:r>
            <a:r>
              <a:rPr lang="en-US" dirty="0"/>
              <a:t> 1</a:t>
            </a:r>
            <a:endParaRPr lang="en-US" sz="1600" dirty="0"/>
          </a:p>
        </p:txBody>
      </p:sp>
    </p:spTree>
    <p:extLst>
      <p:ext uri="{BB962C8B-B14F-4D97-AF65-F5344CB8AC3E}">
        <p14:creationId xmlns:p14="http://schemas.microsoft.com/office/powerpoint/2010/main" val="243758100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0">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L'AI in Laser, reparto per reparto</a:t>
            </a:r>
            <a:endParaRPr lang="en-US" sz="2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3145536"/>
        </p:xfrm>
        <a:graphic>
          <a:graphicData uri="http://schemas.openxmlformats.org/drawingml/2006/table">
            <a:tbl>
              <a:tblPr/>
              <a:tblGrid>
                <a:gridCol w="1645920">
                  <a:extLst>
                    <a:ext uri="{9D8B030D-6E8A-4147-A177-3AD203B41FA5}">
                      <a16:colId xmlns:a16="http://schemas.microsoft.com/office/drawing/2014/main" val="20000"/>
                    </a:ext>
                  </a:extLst>
                </a:gridCol>
                <a:gridCol w="6583680">
                  <a:extLst>
                    <a:ext uri="{9D8B030D-6E8A-4147-A177-3AD203B41FA5}">
                      <a16:colId xmlns:a16="http://schemas.microsoft.com/office/drawing/2014/main" val="20001"/>
                    </a:ext>
                  </a:extLst>
                </a:gridCol>
              </a:tblGrid>
              <a:tr h="393192">
                <a:tc>
                  <a:txBody>
                    <a:bodyPr/>
                    <a:lstStyle/>
                    <a:p>
                      <a:pPr marL="0" indent="0">
                        <a:buNone/>
                      </a:pPr>
                      <a:r>
                        <a:rPr lang="en-US" sz="1200" b="1" dirty="0">
                          <a:solidFill>
                            <a:schemeClr val="bg1"/>
                          </a:solidFill>
                        </a:rPr>
                        <a:t>Reparto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Esempi di uso dell'AI (indicativi)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93192">
                <a:tc>
                  <a:txBody>
                    <a:bodyPr/>
                    <a:lstStyle/>
                    <a:p>
                      <a:pPr marL="0" indent="0">
                        <a:buNone/>
                      </a:pPr>
                      <a:r>
                        <a:rPr lang="en-US" sz="1200" b="1" dirty="0">
                          <a:solidFill>
                            <a:schemeClr val="tx1"/>
                          </a:solidFill>
                        </a:rPr>
                        <a:t>Tecnico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Ricerca in specifiche e documenti di commessa · bozze di manuali d'uso e manutenzione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93192">
                <a:tc>
                  <a:txBody>
                    <a:bodyPr/>
                    <a:lstStyle/>
                    <a:p>
                      <a:pPr marL="0" indent="0">
                        <a:buNone/>
                      </a:pPr>
                      <a:r>
                        <a:rPr lang="en-US" sz="1200" b="1" dirty="0">
                          <a:solidFill>
                            <a:schemeClr val="tx1"/>
                          </a:solidFill>
                        </a:rPr>
                        <a:t>Produzione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Istruzioni di lavoro e liste di controllo · sintesi dei passaggi di turno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93192">
                <a:tc>
                  <a:txBody>
                    <a:bodyPr/>
                    <a:lstStyle/>
                    <a:p>
                      <a:pPr marL="0" indent="0">
                        <a:buNone/>
                      </a:pPr>
                      <a:r>
                        <a:rPr lang="en-US" sz="1200" b="1" dirty="0">
                          <a:solidFill>
                            <a:schemeClr val="tx1"/>
                          </a:solidFill>
                        </a:rPr>
                        <a:t>Qualità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Analisi delle non conformità · bozze di rapporti 8D</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93192">
                <a:tc>
                  <a:txBody>
                    <a:bodyPr/>
                    <a:lstStyle/>
                    <a:p>
                      <a:pPr marL="0" indent="0">
                        <a:buNone/>
                      </a:pPr>
                      <a:r>
                        <a:rPr lang="en-US" sz="1200" b="1" dirty="0">
                          <a:solidFill>
                            <a:schemeClr val="tx1"/>
                          </a:solidFill>
                        </a:rPr>
                        <a:t>Service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Ricerca guasti su manuali e ticket · report d'intervento dettati a voce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93192">
                <a:tc>
                  <a:txBody>
                    <a:bodyPr/>
                    <a:lstStyle/>
                    <a:p>
                      <a:pPr marL="0" indent="0">
                        <a:buNone/>
                      </a:pPr>
                      <a:r>
                        <a:rPr lang="en-US" sz="1200" b="1" dirty="0">
                          <a:solidFill>
                            <a:schemeClr val="tx1"/>
                          </a:solidFill>
                        </a:rPr>
                        <a:t>Commerciale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Requisiti e lacune dal capitolato del cliente · traduzioni per clienti esteri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393192">
                <a:tc>
                  <a:txBody>
                    <a:bodyPr/>
                    <a:lstStyle/>
                    <a:p>
                      <a:pPr marL="0" indent="0">
                        <a:buNone/>
                      </a:pPr>
                      <a:r>
                        <a:rPr lang="en-US" sz="1200" b="1" dirty="0">
                          <a:solidFill>
                            <a:schemeClr val="tx1"/>
                          </a:solidFill>
                        </a:rPr>
                        <a:t>Amministrazione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Bozze di solleciti · supporto alle riconciliazioni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393192">
                <a:tc>
                  <a:txBody>
                    <a:bodyPr/>
                    <a:lstStyle/>
                    <a:p>
                      <a:pPr marL="0" indent="0">
                        <a:buNone/>
                      </a:pPr>
                      <a:r>
                        <a:rPr lang="en-US" sz="1200" b="1" dirty="0">
                          <a:solidFill>
                            <a:schemeClr val="tx1"/>
                          </a:solidFill>
                        </a:rPr>
                        <a:t>HR</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Onboarding e formazione interna (non selezione né valutazione delle persone)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bl>
          </a:graphicData>
        </a:graphic>
      </p:graphicFrame>
      <p:sp>
        <p:nvSpPr>
          <p:cNvPr id="7" name="Text 3"/>
          <p:cNvSpPr txBox="1"/>
          <p:nvPr/>
        </p:nvSpPr>
        <p:spPr>
          <a:xfrm>
            <a:off x="457200" y="4297680"/>
            <a:ext cx="8229600" cy="274320"/>
          </a:xfrm>
          <a:prstGeom prst="rect">
            <a:avLst/>
          </a:prstGeom>
          <a:noFill/>
          <a:ln/>
        </p:spPr>
        <p:txBody>
          <a:bodyPr wrap="square" lIns="0" tIns="0" rIns="0" bIns="0" rtlCol="0" anchor="t"/>
          <a:lstStyle/>
          <a:p>
            <a:pPr marL="0" indent="0">
              <a:buNone/>
            </a:pPr>
            <a:r>
              <a:rPr lang="en-US" sz="1200" i="1" dirty="0">
                <a:solidFill>
                  <a:schemeClr val="accent4"/>
                </a:solidFill>
              </a:rPr>
              <a:t>Esempi indicativi: la mappa si completa con chi conosce il lavoro.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en-US" b="0"/>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Tre luoghi dell'AI</a:t>
            </a:r>
            <a:endParaRPr lang="en-US" sz="2600" dirty="0"/>
          </a:p>
        </p:txBody>
      </p:sp>
      <p:sp>
        <p:nvSpPr>
          <p:cNvPr id="6" name="luogo In ufficio"/>
          <p:cNvSpPr/>
          <p:nvPr/>
        </p:nvSpPr>
        <p:spPr>
          <a:xfrm>
            <a:off x="457200" y="1051560"/>
            <a:ext cx="2606040" cy="2423160"/>
          </a:xfrm>
          <a:prstGeom prst="roundRect">
            <a:avLst>
              <a:gd name="adj" fmla="val 3019"/>
            </a:avLst>
          </a:prstGeom>
          <a:solidFill>
            <a:schemeClr val="bg2"/>
          </a:solidFill>
          <a:ln/>
        </p:spPr>
        <p:txBody>
          <a:bodyPr/>
          <a:lstStyle/>
          <a:p>
            <a:endParaRPr lang="it-IT"/>
          </a:p>
        </p:txBody>
      </p:sp>
      <p:sp>
        <p:nvSpPr>
          <p:cNvPr id="7" name="cerchio FiBriefcase"/>
          <p:cNvSpPr/>
          <p:nvPr/>
        </p:nvSpPr>
        <p:spPr>
          <a:xfrm>
            <a:off x="640080" y="1188720"/>
            <a:ext cx="457200" cy="457200"/>
          </a:xfrm>
          <a:prstGeom prst="ellipse">
            <a:avLst/>
          </a:prstGeom>
          <a:solidFill>
            <a:schemeClr val="accent1"/>
          </a:solidFill>
          <a:ln/>
        </p:spPr>
        <p:txBody>
          <a:bodyPr/>
          <a:lstStyle/>
          <a:p>
            <a:endParaRPr lang="it-IT"/>
          </a:p>
        </p:txBody>
      </p:sp>
      <p:pic>
        <p:nvPicPr>
          <p:cNvPr id="8" name="Image 0" descr="FiBriefcase"/>
          <p:cNvPicPr>
            <a:picLocks noChangeAspect="1"/>
          </p:cNvPicPr>
          <p:nvPr/>
        </p:nvPicPr>
        <p:blipFill>
          <a:blip r:embed="rId3"/>
          <a:stretch>
            <a:fillRect/>
          </a:stretch>
        </p:blipFill>
        <p:spPr>
          <a:xfrm>
            <a:off x="754380" y="1303020"/>
            <a:ext cx="228600" cy="228600"/>
          </a:xfrm>
          <a:prstGeom prst="rect">
            <a:avLst/>
          </a:prstGeom>
        </p:spPr>
      </p:pic>
      <p:sp>
        <p:nvSpPr>
          <p:cNvPr id="9" name="Text 5"/>
          <p:cNvSpPr txBox="1"/>
          <p:nvPr/>
        </p:nvSpPr>
        <p:spPr>
          <a:xfrm>
            <a:off x="1207008" y="1188720"/>
            <a:ext cx="1783080" cy="256032"/>
          </a:xfrm>
          <a:prstGeom prst="rect">
            <a:avLst/>
          </a:prstGeom>
          <a:noFill/>
          <a:ln/>
        </p:spPr>
        <p:txBody>
          <a:bodyPr wrap="square" lIns="0" tIns="0" rIns="0" bIns="0" rtlCol="0" anchor="t"/>
          <a:lstStyle/>
          <a:p>
            <a:pPr marL="0" indent="0">
              <a:buNone/>
            </a:pPr>
            <a:r>
              <a:rPr lang="en-US" sz="1500" b="1" dirty="0">
                <a:solidFill>
                  <a:schemeClr val="tx1"/>
                </a:solidFill>
              </a:rPr>
              <a:t>In ufficio</a:t>
            </a:r>
            <a:endParaRPr lang="en-US" sz="1500" dirty="0"/>
          </a:p>
        </p:txBody>
      </p:sp>
      <p:sp>
        <p:nvSpPr>
          <p:cNvPr id="10" name="Text 6"/>
          <p:cNvSpPr txBox="1"/>
          <p:nvPr/>
        </p:nvSpPr>
        <p:spPr>
          <a:xfrm>
            <a:off x="1207008" y="1426464"/>
            <a:ext cx="1783080" cy="237744"/>
          </a:xfrm>
          <a:prstGeom prst="rect">
            <a:avLst/>
          </a:prstGeom>
          <a:noFill/>
          <a:ln/>
        </p:spPr>
        <p:txBody>
          <a:bodyPr wrap="square" lIns="0" tIns="0" rIns="0" bIns="0" rtlCol="0" anchor="t"/>
          <a:lstStyle/>
          <a:p>
            <a:pPr marL="0" indent="0">
              <a:buNone/>
            </a:pPr>
            <a:r>
              <a:rPr lang="en-US" sz="1100" dirty="0">
                <a:solidFill>
                  <a:schemeClr val="accent1"/>
                </a:solidFill>
              </a:rPr>
              <a:t>AI interna</a:t>
            </a:r>
            <a:endParaRPr lang="en-US" sz="1100" dirty="0"/>
          </a:p>
        </p:txBody>
      </p:sp>
      <p:sp>
        <p:nvSpPr>
          <p:cNvPr id="11" name="Text 7"/>
          <p:cNvSpPr txBox="1"/>
          <p:nvPr/>
        </p:nvSpPr>
        <p:spPr>
          <a:xfrm>
            <a:off x="640080" y="2137410"/>
            <a:ext cx="2240280" cy="868680"/>
          </a:xfrm>
          <a:prstGeom prst="rect">
            <a:avLst/>
          </a:prstGeom>
          <a:noFill/>
          <a:ln/>
        </p:spPr>
        <p:txBody>
          <a:bodyPr wrap="square" lIns="0" tIns="0" rIns="0" bIns="0" rtlCol="0" anchor="t"/>
          <a:lstStyle/>
          <a:p>
            <a:pPr marL="0" indent="0">
              <a:buNone/>
            </a:pPr>
            <a:r>
              <a:rPr lang="en-US" sz="1300" dirty="0">
                <a:solidFill>
                  <a:schemeClr val="tx1"/>
                </a:solidFill>
              </a:rPr>
              <a:t>Documenti, offerte, manuali, ticket</a:t>
            </a:r>
            <a:endParaRPr lang="en-US" sz="1300" dirty="0"/>
          </a:p>
        </p:txBody>
      </p:sp>
      <p:sp>
        <p:nvSpPr>
          <p:cNvPr id="13" name="luogo Per i clienti"/>
          <p:cNvSpPr/>
          <p:nvPr/>
        </p:nvSpPr>
        <p:spPr>
          <a:xfrm>
            <a:off x="3246120" y="1051560"/>
            <a:ext cx="2606040" cy="2423160"/>
          </a:xfrm>
          <a:prstGeom prst="roundRect">
            <a:avLst>
              <a:gd name="adj" fmla="val 3019"/>
            </a:avLst>
          </a:prstGeom>
          <a:solidFill>
            <a:schemeClr val="bg2"/>
          </a:solidFill>
          <a:ln/>
        </p:spPr>
        <p:txBody>
          <a:bodyPr/>
          <a:lstStyle/>
          <a:p>
            <a:endParaRPr lang="it-IT"/>
          </a:p>
        </p:txBody>
      </p:sp>
      <p:sp>
        <p:nvSpPr>
          <p:cNvPr id="14" name="cerchio FiUsers"/>
          <p:cNvSpPr/>
          <p:nvPr/>
        </p:nvSpPr>
        <p:spPr>
          <a:xfrm>
            <a:off x="3429000" y="1188720"/>
            <a:ext cx="457200" cy="457200"/>
          </a:xfrm>
          <a:prstGeom prst="ellipse">
            <a:avLst/>
          </a:prstGeom>
          <a:solidFill>
            <a:schemeClr val="accent1"/>
          </a:solidFill>
          <a:ln/>
        </p:spPr>
        <p:txBody>
          <a:bodyPr/>
          <a:lstStyle/>
          <a:p>
            <a:endParaRPr lang="it-IT"/>
          </a:p>
        </p:txBody>
      </p:sp>
      <p:pic>
        <p:nvPicPr>
          <p:cNvPr id="15" name="Image 1" descr="FiUsers"/>
          <p:cNvPicPr>
            <a:picLocks noChangeAspect="1"/>
          </p:cNvPicPr>
          <p:nvPr/>
        </p:nvPicPr>
        <p:blipFill>
          <a:blip r:embed="rId4"/>
          <a:stretch>
            <a:fillRect/>
          </a:stretch>
        </p:blipFill>
        <p:spPr>
          <a:xfrm>
            <a:off x="3543300" y="1303020"/>
            <a:ext cx="228600" cy="228600"/>
          </a:xfrm>
          <a:prstGeom prst="rect">
            <a:avLst/>
          </a:prstGeom>
        </p:spPr>
      </p:pic>
      <p:sp>
        <p:nvSpPr>
          <p:cNvPr id="16" name="Text 11"/>
          <p:cNvSpPr txBox="1"/>
          <p:nvPr/>
        </p:nvSpPr>
        <p:spPr>
          <a:xfrm>
            <a:off x="3995928" y="1188720"/>
            <a:ext cx="1783080" cy="256032"/>
          </a:xfrm>
          <a:prstGeom prst="rect">
            <a:avLst/>
          </a:prstGeom>
          <a:noFill/>
          <a:ln/>
        </p:spPr>
        <p:txBody>
          <a:bodyPr wrap="square" lIns="0" tIns="0" rIns="0" bIns="0" rtlCol="0" anchor="t"/>
          <a:lstStyle/>
          <a:p>
            <a:pPr marL="0" indent="0">
              <a:buNone/>
            </a:pPr>
            <a:r>
              <a:rPr lang="en-US" sz="1500" b="1" dirty="0">
                <a:solidFill>
                  <a:schemeClr val="tx1"/>
                </a:solidFill>
              </a:rPr>
              <a:t>Per i clienti</a:t>
            </a:r>
            <a:endParaRPr lang="en-US" sz="1500" dirty="0"/>
          </a:p>
        </p:txBody>
      </p:sp>
      <p:sp>
        <p:nvSpPr>
          <p:cNvPr id="17" name="Text 12"/>
          <p:cNvSpPr txBox="1"/>
          <p:nvPr/>
        </p:nvSpPr>
        <p:spPr>
          <a:xfrm>
            <a:off x="3995928" y="1426464"/>
            <a:ext cx="1783080" cy="237744"/>
          </a:xfrm>
          <a:prstGeom prst="rect">
            <a:avLst/>
          </a:prstGeom>
          <a:noFill/>
          <a:ln/>
        </p:spPr>
        <p:txBody>
          <a:bodyPr wrap="square" lIns="0" tIns="0" rIns="0" bIns="0" rtlCol="0" anchor="t"/>
          <a:lstStyle/>
          <a:p>
            <a:pPr marL="0" indent="0">
              <a:buNone/>
            </a:pPr>
            <a:r>
              <a:rPr lang="en-US" sz="1100" dirty="0">
                <a:solidFill>
                  <a:schemeClr val="accent1"/>
                </a:solidFill>
              </a:rPr>
              <a:t>Servizi a chi compra le macchine</a:t>
            </a:r>
            <a:endParaRPr lang="en-US" sz="1100" dirty="0"/>
          </a:p>
        </p:txBody>
      </p:sp>
      <p:sp>
        <p:nvSpPr>
          <p:cNvPr id="18" name="Text 13"/>
          <p:cNvSpPr txBox="1"/>
          <p:nvPr/>
        </p:nvSpPr>
        <p:spPr>
          <a:xfrm>
            <a:off x="3429000" y="2167128"/>
            <a:ext cx="2240280" cy="868680"/>
          </a:xfrm>
          <a:prstGeom prst="rect">
            <a:avLst/>
          </a:prstGeom>
          <a:noFill/>
          <a:ln/>
        </p:spPr>
        <p:txBody>
          <a:bodyPr wrap="square" lIns="0" tIns="0" rIns="0" bIns="0" rtlCol="0" anchor="t"/>
          <a:lstStyle/>
          <a:p>
            <a:pPr marL="0" indent="0">
              <a:buNone/>
            </a:pPr>
            <a:r>
              <a:rPr lang="en-US" sz="1300" dirty="0">
                <a:solidFill>
                  <a:schemeClr val="tx1"/>
                </a:solidFill>
              </a:rPr>
              <a:t>Assistente sui manuali, ricambi, supporto multilingua</a:t>
            </a:r>
            <a:endParaRPr lang="en-US" sz="1300" dirty="0"/>
          </a:p>
        </p:txBody>
      </p:sp>
      <p:sp>
        <p:nvSpPr>
          <p:cNvPr id="20" name="luogo Nella macchina"/>
          <p:cNvSpPr/>
          <p:nvPr/>
        </p:nvSpPr>
        <p:spPr>
          <a:xfrm>
            <a:off x="6035040" y="1033272"/>
            <a:ext cx="2606040" cy="2423160"/>
          </a:xfrm>
          <a:prstGeom prst="roundRect">
            <a:avLst>
              <a:gd name="adj" fmla="val 3019"/>
            </a:avLst>
          </a:prstGeom>
          <a:solidFill>
            <a:schemeClr val="accent6"/>
          </a:solidFill>
          <a:ln/>
        </p:spPr>
        <p:txBody>
          <a:bodyPr/>
          <a:lstStyle/>
          <a:p>
            <a:endParaRPr lang="it-IT"/>
          </a:p>
        </p:txBody>
      </p:sp>
      <p:sp>
        <p:nvSpPr>
          <p:cNvPr id="21" name="cerchio FiCpu"/>
          <p:cNvSpPr/>
          <p:nvPr/>
        </p:nvSpPr>
        <p:spPr>
          <a:xfrm>
            <a:off x="6217920" y="1188720"/>
            <a:ext cx="457200" cy="457200"/>
          </a:xfrm>
          <a:prstGeom prst="ellipse">
            <a:avLst/>
          </a:prstGeom>
          <a:solidFill>
            <a:schemeClr val="accent1"/>
          </a:solidFill>
          <a:ln/>
        </p:spPr>
        <p:txBody>
          <a:bodyPr/>
          <a:lstStyle/>
          <a:p>
            <a:endParaRPr lang="it-IT"/>
          </a:p>
        </p:txBody>
      </p:sp>
      <p:pic>
        <p:nvPicPr>
          <p:cNvPr id="22" name="Image 2" descr="FiCpu"/>
          <p:cNvPicPr>
            <a:picLocks noChangeAspect="1"/>
          </p:cNvPicPr>
          <p:nvPr/>
        </p:nvPicPr>
        <p:blipFill>
          <a:blip r:embed="rId5"/>
          <a:stretch>
            <a:fillRect/>
          </a:stretch>
        </p:blipFill>
        <p:spPr>
          <a:xfrm>
            <a:off x="6332220" y="1303020"/>
            <a:ext cx="228600" cy="228600"/>
          </a:xfrm>
          <a:prstGeom prst="rect">
            <a:avLst/>
          </a:prstGeom>
        </p:spPr>
      </p:pic>
      <p:sp>
        <p:nvSpPr>
          <p:cNvPr id="23" name="Text 17"/>
          <p:cNvSpPr txBox="1"/>
          <p:nvPr/>
        </p:nvSpPr>
        <p:spPr>
          <a:xfrm>
            <a:off x="6784848" y="1188720"/>
            <a:ext cx="1783080" cy="256032"/>
          </a:xfrm>
          <a:prstGeom prst="rect">
            <a:avLst/>
          </a:prstGeom>
          <a:noFill/>
          <a:ln/>
        </p:spPr>
        <p:txBody>
          <a:bodyPr wrap="square" lIns="0" tIns="0" rIns="0" bIns="0" rtlCol="0" anchor="t"/>
          <a:lstStyle/>
          <a:p>
            <a:pPr marL="0" indent="0">
              <a:buNone/>
            </a:pPr>
            <a:r>
              <a:rPr lang="en-US" sz="1500" b="1" dirty="0">
                <a:solidFill>
                  <a:schemeClr val="tx1"/>
                </a:solidFill>
              </a:rPr>
              <a:t>Nella macchina</a:t>
            </a:r>
            <a:endParaRPr lang="en-US" sz="1500" dirty="0"/>
          </a:p>
        </p:txBody>
      </p:sp>
      <p:sp>
        <p:nvSpPr>
          <p:cNvPr id="24" name="Text 18"/>
          <p:cNvSpPr txBox="1"/>
          <p:nvPr/>
        </p:nvSpPr>
        <p:spPr>
          <a:xfrm>
            <a:off x="6784848" y="1426464"/>
            <a:ext cx="1783080" cy="237744"/>
          </a:xfrm>
          <a:prstGeom prst="rect">
            <a:avLst/>
          </a:prstGeom>
          <a:noFill/>
          <a:ln/>
        </p:spPr>
        <p:txBody>
          <a:bodyPr wrap="square" lIns="0" tIns="0" rIns="0" bIns="0" rtlCol="0" anchor="t"/>
          <a:lstStyle/>
          <a:p>
            <a:pPr marL="0" indent="0">
              <a:buNone/>
            </a:pPr>
            <a:r>
              <a:rPr lang="en-US" sz="1100" dirty="0">
                <a:solidFill>
                  <a:schemeClr val="accent1"/>
                </a:solidFill>
              </a:rPr>
              <a:t>AI nel prodotto</a:t>
            </a:r>
            <a:endParaRPr lang="en-US" sz="1100" dirty="0"/>
          </a:p>
        </p:txBody>
      </p:sp>
      <p:sp>
        <p:nvSpPr>
          <p:cNvPr id="25" name="Text 19"/>
          <p:cNvSpPr txBox="1"/>
          <p:nvPr/>
        </p:nvSpPr>
        <p:spPr>
          <a:xfrm>
            <a:off x="6217920" y="2167128"/>
            <a:ext cx="2240280" cy="868680"/>
          </a:xfrm>
          <a:prstGeom prst="rect">
            <a:avLst/>
          </a:prstGeom>
          <a:noFill/>
          <a:ln/>
        </p:spPr>
        <p:txBody>
          <a:bodyPr wrap="square" lIns="0" tIns="0" rIns="0" bIns="0" rtlCol="0" anchor="t"/>
          <a:lstStyle/>
          <a:p>
            <a:pPr marL="0" indent="0">
              <a:buNone/>
            </a:pPr>
            <a:r>
              <a:rPr lang="en-US" sz="1300" dirty="0">
                <a:solidFill>
                  <a:schemeClr val="tx1"/>
                </a:solidFill>
              </a:rPr>
              <a:t>Qualità visiva, anomalie, manutenzione predittiva, energia</a:t>
            </a:r>
            <a:endParaRPr lang="en-US" sz="1300" dirty="0"/>
          </a:p>
        </p:txBody>
      </p:sp>
      <p:sp>
        <p:nvSpPr>
          <p:cNvPr id="27" name="domanda"/>
          <p:cNvSpPr/>
          <p:nvPr/>
        </p:nvSpPr>
        <p:spPr>
          <a:xfrm>
            <a:off x="457200" y="3657600"/>
            <a:ext cx="8229600" cy="777240"/>
          </a:xfrm>
          <a:prstGeom prst="roundRect">
            <a:avLst>
              <a:gd name="adj" fmla="val 9412"/>
            </a:avLst>
          </a:prstGeom>
          <a:solidFill>
            <a:schemeClr val="tx1"/>
          </a:solidFill>
          <a:ln/>
        </p:spPr>
        <p:txBody>
          <a:bodyPr/>
          <a:lstStyle/>
          <a:p>
            <a:endParaRPr lang="it-IT"/>
          </a:p>
        </p:txBody>
      </p:sp>
      <p:sp>
        <p:nvSpPr>
          <p:cNvPr id="28" name="cerchio FiHelpCircle"/>
          <p:cNvSpPr/>
          <p:nvPr/>
        </p:nvSpPr>
        <p:spPr>
          <a:xfrm>
            <a:off x="640080" y="3794760"/>
            <a:ext cx="502920" cy="502920"/>
          </a:xfrm>
          <a:prstGeom prst="ellipse">
            <a:avLst/>
          </a:prstGeom>
          <a:solidFill>
            <a:schemeClr val="accent1"/>
          </a:solidFill>
          <a:ln/>
        </p:spPr>
        <p:txBody>
          <a:bodyPr/>
          <a:lstStyle/>
          <a:p>
            <a:endParaRPr lang="it-IT"/>
          </a:p>
        </p:txBody>
      </p:sp>
      <p:pic>
        <p:nvPicPr>
          <p:cNvPr id="29" name="Image 3" descr="FiHelpCircle"/>
          <p:cNvPicPr>
            <a:picLocks noChangeAspect="1"/>
          </p:cNvPicPr>
          <p:nvPr/>
        </p:nvPicPr>
        <p:blipFill>
          <a:blip r:embed="rId6"/>
          <a:stretch>
            <a:fillRect/>
          </a:stretch>
        </p:blipFill>
        <p:spPr>
          <a:xfrm>
            <a:off x="765810" y="3920490"/>
            <a:ext cx="251460" cy="251460"/>
          </a:xfrm>
          <a:prstGeom prst="rect">
            <a:avLst/>
          </a:prstGeom>
        </p:spPr>
      </p:pic>
      <p:sp>
        <p:nvSpPr>
          <p:cNvPr id="30" name="Text 23"/>
          <p:cNvSpPr txBox="1"/>
          <p:nvPr/>
        </p:nvSpPr>
        <p:spPr>
          <a:xfrm>
            <a:off x="1325880" y="3730752"/>
            <a:ext cx="7223760" cy="347472"/>
          </a:xfrm>
          <a:prstGeom prst="rect">
            <a:avLst/>
          </a:prstGeom>
          <a:noFill/>
          <a:ln/>
        </p:spPr>
        <p:txBody>
          <a:bodyPr wrap="square" lIns="0" tIns="0" rIns="0" bIns="0" rtlCol="0" anchor="ctr"/>
          <a:lstStyle/>
          <a:p>
            <a:pPr marL="0" indent="0">
              <a:buNone/>
            </a:pPr>
            <a:r>
              <a:rPr lang="en-US" sz="1500" b="1" dirty="0">
                <a:solidFill>
                  <a:schemeClr val="bg1"/>
                </a:solidFill>
              </a:rPr>
              <a:t>Una domanda per voi: le vostre macchine raccolgono dati?</a:t>
            </a:r>
            <a:endParaRPr lang="en-US" sz="1500" dirty="0"/>
          </a:p>
        </p:txBody>
      </p:sp>
      <p:sp>
        <p:nvSpPr>
          <p:cNvPr id="31" name="Text 24"/>
          <p:cNvSpPr txBox="1"/>
          <p:nvPr/>
        </p:nvSpPr>
        <p:spPr>
          <a:xfrm>
            <a:off x="1325880" y="4059936"/>
            <a:ext cx="7223760" cy="292608"/>
          </a:xfrm>
          <a:prstGeom prst="rect">
            <a:avLst/>
          </a:prstGeom>
          <a:noFill/>
          <a:ln/>
        </p:spPr>
        <p:txBody>
          <a:bodyPr wrap="square" lIns="0" tIns="0" rIns="0" bIns="0" rtlCol="0" anchor="ctr"/>
          <a:lstStyle/>
          <a:p>
            <a:pPr marL="0" indent="0">
              <a:buNone/>
            </a:pPr>
            <a:r>
              <a:rPr lang="en-US" sz="1200" dirty="0">
                <a:solidFill>
                  <a:schemeClr val="accent3"/>
                </a:solidFill>
              </a:rPr>
              <a:t>Temperature, allarmi, consumi, teleassistenza</a:t>
            </a:r>
            <a:endParaRPr lang="en-US"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en-US" b="0"/>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Sette sprechi informativi</a:t>
            </a:r>
            <a:endParaRPr lang="en-US" sz="2600" dirty="0"/>
          </a:p>
        </p:txBody>
      </p:sp>
      <p:sp>
        <p:nvSpPr>
          <p:cNvPr id="6" name="spreco Cercare"/>
          <p:cNvSpPr/>
          <p:nvPr/>
        </p:nvSpPr>
        <p:spPr>
          <a:xfrm>
            <a:off x="457200" y="1051560"/>
            <a:ext cx="1965960" cy="1325880"/>
          </a:xfrm>
          <a:prstGeom prst="roundRect">
            <a:avLst>
              <a:gd name="adj" fmla="val 5517"/>
            </a:avLst>
          </a:prstGeom>
          <a:solidFill>
            <a:schemeClr val="bg2"/>
          </a:solidFill>
          <a:ln/>
        </p:spPr>
        <p:txBody>
          <a:bodyPr/>
          <a:lstStyle/>
          <a:p>
            <a:endParaRPr lang="it-IT"/>
          </a:p>
        </p:txBody>
      </p:sp>
      <p:sp>
        <p:nvSpPr>
          <p:cNvPr id="7" name="cerchio FiSearch"/>
          <p:cNvSpPr/>
          <p:nvPr/>
        </p:nvSpPr>
        <p:spPr>
          <a:xfrm>
            <a:off x="594360" y="1188720"/>
            <a:ext cx="411480" cy="411480"/>
          </a:xfrm>
          <a:prstGeom prst="ellipse">
            <a:avLst/>
          </a:prstGeom>
          <a:solidFill>
            <a:schemeClr val="accent1"/>
          </a:solidFill>
          <a:ln/>
        </p:spPr>
        <p:txBody>
          <a:bodyPr/>
          <a:lstStyle/>
          <a:p>
            <a:endParaRPr lang="it-IT"/>
          </a:p>
        </p:txBody>
      </p:sp>
      <p:pic>
        <p:nvPicPr>
          <p:cNvPr id="8" name="Image 0" descr="FiSearch"/>
          <p:cNvPicPr>
            <a:picLocks noChangeAspect="1"/>
          </p:cNvPicPr>
          <p:nvPr/>
        </p:nvPicPr>
        <p:blipFill>
          <a:blip r:embed="rId3"/>
          <a:stretch>
            <a:fillRect/>
          </a:stretch>
        </p:blipFill>
        <p:spPr>
          <a:xfrm>
            <a:off x="697230" y="1291590"/>
            <a:ext cx="205740" cy="205740"/>
          </a:xfrm>
          <a:prstGeom prst="rect">
            <a:avLst/>
          </a:prstGeom>
        </p:spPr>
      </p:pic>
      <p:sp>
        <p:nvSpPr>
          <p:cNvPr id="9" name="Text 5"/>
          <p:cNvSpPr txBox="1"/>
          <p:nvPr/>
        </p:nvSpPr>
        <p:spPr>
          <a:xfrm>
            <a:off x="1097280" y="1188720"/>
            <a:ext cx="1280160" cy="411480"/>
          </a:xfrm>
          <a:prstGeom prst="rect">
            <a:avLst/>
          </a:prstGeom>
          <a:noFill/>
          <a:ln/>
        </p:spPr>
        <p:txBody>
          <a:bodyPr wrap="square" lIns="0" tIns="0" rIns="0" bIns="0" rtlCol="0" anchor="ctr"/>
          <a:lstStyle/>
          <a:p>
            <a:pPr marL="0" indent="0">
              <a:buNone/>
            </a:pPr>
            <a:r>
              <a:rPr lang="en-US" sz="1400" b="1" dirty="0">
                <a:solidFill>
                  <a:schemeClr val="tx1"/>
                </a:solidFill>
              </a:rPr>
              <a:t>Cercare</a:t>
            </a:r>
            <a:endParaRPr lang="en-US" sz="1400" dirty="0"/>
          </a:p>
        </p:txBody>
      </p:sp>
      <p:sp>
        <p:nvSpPr>
          <p:cNvPr id="10" name="Text 6"/>
          <p:cNvSpPr txBox="1"/>
          <p:nvPr/>
        </p:nvSpPr>
        <p:spPr>
          <a:xfrm>
            <a:off x="594360" y="1691640"/>
            <a:ext cx="1737360" cy="621792"/>
          </a:xfrm>
          <a:prstGeom prst="rect">
            <a:avLst/>
          </a:prstGeom>
          <a:noFill/>
          <a:ln/>
        </p:spPr>
        <p:txBody>
          <a:bodyPr wrap="square" lIns="0" tIns="0" rIns="0" bIns="0" rtlCol="0" anchor="t"/>
          <a:lstStyle/>
          <a:p>
            <a:pPr marL="0" indent="0">
              <a:buNone/>
            </a:pPr>
            <a:r>
              <a:rPr lang="en-US" sz="1150" dirty="0">
                <a:solidFill>
                  <a:schemeClr val="tx2"/>
                </a:solidFill>
              </a:rPr>
              <a:t>Disegni, procedure, soluzioni già trovate</a:t>
            </a:r>
            <a:endParaRPr lang="en-US" sz="1150" dirty="0"/>
          </a:p>
        </p:txBody>
      </p:sp>
      <p:sp>
        <p:nvSpPr>
          <p:cNvPr id="11" name="spreco Ricopiare"/>
          <p:cNvSpPr/>
          <p:nvPr/>
        </p:nvSpPr>
        <p:spPr>
          <a:xfrm>
            <a:off x="2542032" y="1051560"/>
            <a:ext cx="1965960" cy="1325880"/>
          </a:xfrm>
          <a:prstGeom prst="roundRect">
            <a:avLst>
              <a:gd name="adj" fmla="val 5517"/>
            </a:avLst>
          </a:prstGeom>
          <a:solidFill>
            <a:schemeClr val="bg2"/>
          </a:solidFill>
          <a:ln/>
        </p:spPr>
        <p:txBody>
          <a:bodyPr/>
          <a:lstStyle/>
          <a:p>
            <a:endParaRPr lang="it-IT"/>
          </a:p>
        </p:txBody>
      </p:sp>
      <p:sp>
        <p:nvSpPr>
          <p:cNvPr id="12" name="cerchio FiCopy"/>
          <p:cNvSpPr/>
          <p:nvPr/>
        </p:nvSpPr>
        <p:spPr>
          <a:xfrm>
            <a:off x="2679192" y="1188720"/>
            <a:ext cx="411480" cy="411480"/>
          </a:xfrm>
          <a:prstGeom prst="ellipse">
            <a:avLst/>
          </a:prstGeom>
          <a:solidFill>
            <a:schemeClr val="accent1"/>
          </a:solidFill>
          <a:ln/>
        </p:spPr>
        <p:txBody>
          <a:bodyPr/>
          <a:lstStyle/>
          <a:p>
            <a:endParaRPr lang="it-IT"/>
          </a:p>
        </p:txBody>
      </p:sp>
      <p:pic>
        <p:nvPicPr>
          <p:cNvPr id="13" name="Image 1" descr="FiCopy"/>
          <p:cNvPicPr>
            <a:picLocks noChangeAspect="1"/>
          </p:cNvPicPr>
          <p:nvPr/>
        </p:nvPicPr>
        <p:blipFill>
          <a:blip r:embed="rId4"/>
          <a:stretch>
            <a:fillRect/>
          </a:stretch>
        </p:blipFill>
        <p:spPr>
          <a:xfrm>
            <a:off x="2782062" y="1291590"/>
            <a:ext cx="205740" cy="205740"/>
          </a:xfrm>
          <a:prstGeom prst="rect">
            <a:avLst/>
          </a:prstGeom>
        </p:spPr>
      </p:pic>
      <p:sp>
        <p:nvSpPr>
          <p:cNvPr id="14" name="Text 9"/>
          <p:cNvSpPr txBox="1"/>
          <p:nvPr/>
        </p:nvSpPr>
        <p:spPr>
          <a:xfrm>
            <a:off x="3182112" y="1188720"/>
            <a:ext cx="1280160" cy="411480"/>
          </a:xfrm>
          <a:prstGeom prst="rect">
            <a:avLst/>
          </a:prstGeom>
          <a:noFill/>
          <a:ln/>
        </p:spPr>
        <p:txBody>
          <a:bodyPr wrap="square" lIns="0" tIns="0" rIns="0" bIns="0" rtlCol="0" anchor="ctr"/>
          <a:lstStyle/>
          <a:p>
            <a:pPr marL="0" indent="0">
              <a:buNone/>
            </a:pPr>
            <a:r>
              <a:rPr lang="en-US" sz="1400" b="1" dirty="0">
                <a:solidFill>
                  <a:schemeClr val="tx1"/>
                </a:solidFill>
              </a:rPr>
              <a:t>Ricopiare</a:t>
            </a:r>
            <a:endParaRPr lang="en-US" sz="1400" dirty="0"/>
          </a:p>
        </p:txBody>
      </p:sp>
      <p:sp>
        <p:nvSpPr>
          <p:cNvPr id="15" name="Text 10"/>
          <p:cNvSpPr txBox="1"/>
          <p:nvPr/>
        </p:nvSpPr>
        <p:spPr>
          <a:xfrm>
            <a:off x="2679192" y="1691640"/>
            <a:ext cx="1737360" cy="621792"/>
          </a:xfrm>
          <a:prstGeom prst="rect">
            <a:avLst/>
          </a:prstGeom>
          <a:noFill/>
          <a:ln/>
        </p:spPr>
        <p:txBody>
          <a:bodyPr wrap="square" lIns="0" tIns="0" rIns="0" bIns="0" rtlCol="0" anchor="t"/>
          <a:lstStyle/>
          <a:p>
            <a:pPr marL="0" indent="0">
              <a:buNone/>
            </a:pPr>
            <a:r>
              <a:rPr lang="en-US" sz="1150" dirty="0">
                <a:solidFill>
                  <a:schemeClr val="tx2"/>
                </a:solidFill>
              </a:rPr>
              <a:t>Da email a foglio, da foglio a gestionale</a:t>
            </a:r>
            <a:endParaRPr lang="en-US" sz="1150" dirty="0"/>
          </a:p>
        </p:txBody>
      </p:sp>
      <p:sp>
        <p:nvSpPr>
          <p:cNvPr id="16" name="spreco Aspettare"/>
          <p:cNvSpPr/>
          <p:nvPr/>
        </p:nvSpPr>
        <p:spPr>
          <a:xfrm>
            <a:off x="4626864" y="1051560"/>
            <a:ext cx="1965960" cy="1325880"/>
          </a:xfrm>
          <a:prstGeom prst="roundRect">
            <a:avLst>
              <a:gd name="adj" fmla="val 5517"/>
            </a:avLst>
          </a:prstGeom>
          <a:solidFill>
            <a:schemeClr val="bg2"/>
          </a:solidFill>
          <a:ln/>
        </p:spPr>
        <p:txBody>
          <a:bodyPr/>
          <a:lstStyle/>
          <a:p>
            <a:endParaRPr lang="it-IT"/>
          </a:p>
        </p:txBody>
      </p:sp>
      <p:sp>
        <p:nvSpPr>
          <p:cNvPr id="17" name="cerchio FiClock"/>
          <p:cNvSpPr/>
          <p:nvPr/>
        </p:nvSpPr>
        <p:spPr>
          <a:xfrm>
            <a:off x="4764024" y="1188720"/>
            <a:ext cx="411480" cy="411480"/>
          </a:xfrm>
          <a:prstGeom prst="ellipse">
            <a:avLst/>
          </a:prstGeom>
          <a:solidFill>
            <a:schemeClr val="accent1"/>
          </a:solidFill>
          <a:ln/>
        </p:spPr>
        <p:txBody>
          <a:bodyPr/>
          <a:lstStyle/>
          <a:p>
            <a:endParaRPr lang="it-IT"/>
          </a:p>
        </p:txBody>
      </p:sp>
      <p:pic>
        <p:nvPicPr>
          <p:cNvPr id="18" name="Image 2" descr="FiClock"/>
          <p:cNvPicPr>
            <a:picLocks noChangeAspect="1"/>
          </p:cNvPicPr>
          <p:nvPr/>
        </p:nvPicPr>
        <p:blipFill>
          <a:blip r:embed="rId5"/>
          <a:stretch>
            <a:fillRect/>
          </a:stretch>
        </p:blipFill>
        <p:spPr>
          <a:xfrm>
            <a:off x="4866894" y="1291590"/>
            <a:ext cx="205740" cy="205740"/>
          </a:xfrm>
          <a:prstGeom prst="rect">
            <a:avLst/>
          </a:prstGeom>
        </p:spPr>
      </p:pic>
      <p:sp>
        <p:nvSpPr>
          <p:cNvPr id="19" name="Text 13"/>
          <p:cNvSpPr txBox="1"/>
          <p:nvPr/>
        </p:nvSpPr>
        <p:spPr>
          <a:xfrm>
            <a:off x="5266944" y="1188720"/>
            <a:ext cx="1280160" cy="411480"/>
          </a:xfrm>
          <a:prstGeom prst="rect">
            <a:avLst/>
          </a:prstGeom>
          <a:noFill/>
          <a:ln/>
        </p:spPr>
        <p:txBody>
          <a:bodyPr wrap="square" lIns="0" tIns="0" rIns="0" bIns="0" rtlCol="0" anchor="ctr"/>
          <a:lstStyle/>
          <a:p>
            <a:pPr marL="0" indent="0">
              <a:buNone/>
            </a:pPr>
            <a:r>
              <a:rPr lang="en-US" sz="1400" b="1" dirty="0">
                <a:solidFill>
                  <a:schemeClr val="tx1"/>
                </a:solidFill>
              </a:rPr>
              <a:t>Aspettare</a:t>
            </a:r>
            <a:endParaRPr lang="en-US" sz="1400" dirty="0"/>
          </a:p>
        </p:txBody>
      </p:sp>
      <p:sp>
        <p:nvSpPr>
          <p:cNvPr id="20" name="Text 14"/>
          <p:cNvSpPr txBox="1"/>
          <p:nvPr/>
        </p:nvSpPr>
        <p:spPr>
          <a:xfrm>
            <a:off x="4764024" y="1691640"/>
            <a:ext cx="1737360" cy="621792"/>
          </a:xfrm>
          <a:prstGeom prst="rect">
            <a:avLst/>
          </a:prstGeom>
          <a:noFill/>
          <a:ln/>
        </p:spPr>
        <p:txBody>
          <a:bodyPr wrap="square" lIns="0" tIns="0" rIns="0" bIns="0" rtlCol="0" anchor="t"/>
          <a:lstStyle/>
          <a:p>
            <a:pPr marL="0" indent="0">
              <a:buNone/>
            </a:pPr>
            <a:r>
              <a:rPr lang="en-US" sz="1150" dirty="0">
                <a:solidFill>
                  <a:schemeClr val="tx2"/>
                </a:solidFill>
              </a:rPr>
              <a:t>Un'informazione che blocca il lavoro</a:t>
            </a:r>
            <a:endParaRPr lang="en-US" sz="1150" dirty="0"/>
          </a:p>
        </p:txBody>
      </p:sp>
      <p:sp>
        <p:nvSpPr>
          <p:cNvPr id="21" name="spreco Rifare"/>
          <p:cNvSpPr/>
          <p:nvPr/>
        </p:nvSpPr>
        <p:spPr>
          <a:xfrm>
            <a:off x="6711696" y="1051560"/>
            <a:ext cx="1965960" cy="1325880"/>
          </a:xfrm>
          <a:prstGeom prst="roundRect">
            <a:avLst>
              <a:gd name="adj" fmla="val 5517"/>
            </a:avLst>
          </a:prstGeom>
          <a:solidFill>
            <a:schemeClr val="bg2"/>
          </a:solidFill>
          <a:ln/>
        </p:spPr>
        <p:txBody>
          <a:bodyPr/>
          <a:lstStyle/>
          <a:p>
            <a:endParaRPr lang="it-IT"/>
          </a:p>
        </p:txBody>
      </p:sp>
      <p:sp>
        <p:nvSpPr>
          <p:cNvPr id="22" name="cerchio FiRotateCcw"/>
          <p:cNvSpPr/>
          <p:nvPr/>
        </p:nvSpPr>
        <p:spPr>
          <a:xfrm>
            <a:off x="6848856" y="1188720"/>
            <a:ext cx="411480" cy="411480"/>
          </a:xfrm>
          <a:prstGeom prst="ellipse">
            <a:avLst/>
          </a:prstGeom>
          <a:solidFill>
            <a:schemeClr val="accent1"/>
          </a:solidFill>
          <a:ln/>
        </p:spPr>
        <p:txBody>
          <a:bodyPr/>
          <a:lstStyle/>
          <a:p>
            <a:endParaRPr lang="it-IT"/>
          </a:p>
        </p:txBody>
      </p:sp>
      <p:pic>
        <p:nvPicPr>
          <p:cNvPr id="23" name="Image 3" descr="FiRotateCcw"/>
          <p:cNvPicPr>
            <a:picLocks noChangeAspect="1"/>
          </p:cNvPicPr>
          <p:nvPr/>
        </p:nvPicPr>
        <p:blipFill>
          <a:blip r:embed="rId6"/>
          <a:stretch>
            <a:fillRect/>
          </a:stretch>
        </p:blipFill>
        <p:spPr>
          <a:xfrm>
            <a:off x="6951726" y="1291590"/>
            <a:ext cx="205740" cy="205740"/>
          </a:xfrm>
          <a:prstGeom prst="rect">
            <a:avLst/>
          </a:prstGeom>
        </p:spPr>
      </p:pic>
      <p:sp>
        <p:nvSpPr>
          <p:cNvPr id="24" name="Text 17"/>
          <p:cNvSpPr txBox="1"/>
          <p:nvPr/>
        </p:nvSpPr>
        <p:spPr>
          <a:xfrm>
            <a:off x="7351776" y="1188720"/>
            <a:ext cx="1280160" cy="411480"/>
          </a:xfrm>
          <a:prstGeom prst="rect">
            <a:avLst/>
          </a:prstGeom>
          <a:noFill/>
          <a:ln/>
        </p:spPr>
        <p:txBody>
          <a:bodyPr wrap="square" lIns="0" tIns="0" rIns="0" bIns="0" rtlCol="0" anchor="ctr"/>
          <a:lstStyle/>
          <a:p>
            <a:pPr marL="0" indent="0">
              <a:buNone/>
            </a:pPr>
            <a:r>
              <a:rPr lang="en-US" sz="1400" b="1" dirty="0">
                <a:solidFill>
                  <a:schemeClr val="tx1"/>
                </a:solidFill>
              </a:rPr>
              <a:t>Rifare</a:t>
            </a:r>
            <a:endParaRPr lang="en-US" sz="1400" dirty="0"/>
          </a:p>
        </p:txBody>
      </p:sp>
      <p:sp>
        <p:nvSpPr>
          <p:cNvPr id="25" name="Text 18"/>
          <p:cNvSpPr txBox="1"/>
          <p:nvPr/>
        </p:nvSpPr>
        <p:spPr>
          <a:xfrm>
            <a:off x="6848856" y="1691640"/>
            <a:ext cx="1737360" cy="621792"/>
          </a:xfrm>
          <a:prstGeom prst="rect">
            <a:avLst/>
          </a:prstGeom>
          <a:noFill/>
          <a:ln/>
        </p:spPr>
        <p:txBody>
          <a:bodyPr wrap="square" lIns="0" tIns="0" rIns="0" bIns="0" rtlCol="0" anchor="t"/>
          <a:lstStyle/>
          <a:p>
            <a:pPr marL="0" indent="0">
              <a:buNone/>
            </a:pPr>
            <a:r>
              <a:rPr lang="en-US" sz="1150" dirty="0">
                <a:solidFill>
                  <a:schemeClr val="tx2"/>
                </a:solidFill>
              </a:rPr>
              <a:t>Offerte e documenti con requisiti sfuggiti</a:t>
            </a:r>
            <a:endParaRPr lang="en-US" sz="1150" dirty="0"/>
          </a:p>
        </p:txBody>
      </p:sp>
      <p:sp>
        <p:nvSpPr>
          <p:cNvPr id="26" name="spreco Correggere"/>
          <p:cNvSpPr/>
          <p:nvPr/>
        </p:nvSpPr>
        <p:spPr>
          <a:xfrm>
            <a:off x="457200" y="2514600"/>
            <a:ext cx="1965960" cy="1325880"/>
          </a:xfrm>
          <a:prstGeom prst="roundRect">
            <a:avLst>
              <a:gd name="adj" fmla="val 5517"/>
            </a:avLst>
          </a:prstGeom>
          <a:solidFill>
            <a:schemeClr val="bg2"/>
          </a:solidFill>
          <a:ln/>
        </p:spPr>
        <p:txBody>
          <a:bodyPr/>
          <a:lstStyle/>
          <a:p>
            <a:endParaRPr lang="it-IT"/>
          </a:p>
        </p:txBody>
      </p:sp>
      <p:sp>
        <p:nvSpPr>
          <p:cNvPr id="27" name="cerchio FiAlertTriangle"/>
          <p:cNvSpPr/>
          <p:nvPr/>
        </p:nvSpPr>
        <p:spPr>
          <a:xfrm>
            <a:off x="594360" y="2651760"/>
            <a:ext cx="411480" cy="411480"/>
          </a:xfrm>
          <a:prstGeom prst="ellipse">
            <a:avLst/>
          </a:prstGeom>
          <a:solidFill>
            <a:schemeClr val="accent1"/>
          </a:solidFill>
          <a:ln/>
        </p:spPr>
        <p:txBody>
          <a:bodyPr/>
          <a:lstStyle/>
          <a:p>
            <a:endParaRPr lang="it-IT"/>
          </a:p>
        </p:txBody>
      </p:sp>
      <p:pic>
        <p:nvPicPr>
          <p:cNvPr id="28" name="Image 4" descr="FiAlertTriangle"/>
          <p:cNvPicPr>
            <a:picLocks noChangeAspect="1"/>
          </p:cNvPicPr>
          <p:nvPr/>
        </p:nvPicPr>
        <p:blipFill>
          <a:blip r:embed="rId7"/>
          <a:stretch>
            <a:fillRect/>
          </a:stretch>
        </p:blipFill>
        <p:spPr>
          <a:xfrm>
            <a:off x="697230" y="2754630"/>
            <a:ext cx="205740" cy="205740"/>
          </a:xfrm>
          <a:prstGeom prst="rect">
            <a:avLst/>
          </a:prstGeom>
        </p:spPr>
      </p:pic>
      <p:sp>
        <p:nvSpPr>
          <p:cNvPr id="29" name="Text 21"/>
          <p:cNvSpPr txBox="1"/>
          <p:nvPr/>
        </p:nvSpPr>
        <p:spPr>
          <a:xfrm>
            <a:off x="1097280" y="2651760"/>
            <a:ext cx="1280160" cy="411480"/>
          </a:xfrm>
          <a:prstGeom prst="rect">
            <a:avLst/>
          </a:prstGeom>
          <a:noFill/>
          <a:ln/>
        </p:spPr>
        <p:txBody>
          <a:bodyPr wrap="square" lIns="0" tIns="0" rIns="0" bIns="0" rtlCol="0" anchor="ctr"/>
          <a:lstStyle/>
          <a:p>
            <a:pPr marL="0" indent="0">
              <a:buNone/>
            </a:pPr>
            <a:r>
              <a:rPr lang="en-US" sz="1400" b="1" dirty="0">
                <a:solidFill>
                  <a:schemeClr val="tx1"/>
                </a:solidFill>
              </a:rPr>
              <a:t>Correggere</a:t>
            </a:r>
            <a:endParaRPr lang="en-US" sz="1400" dirty="0"/>
          </a:p>
        </p:txBody>
      </p:sp>
      <p:sp>
        <p:nvSpPr>
          <p:cNvPr id="30" name="Text 22"/>
          <p:cNvSpPr txBox="1"/>
          <p:nvPr/>
        </p:nvSpPr>
        <p:spPr>
          <a:xfrm>
            <a:off x="594360" y="3154680"/>
            <a:ext cx="1737360" cy="621792"/>
          </a:xfrm>
          <a:prstGeom prst="rect">
            <a:avLst/>
          </a:prstGeom>
          <a:noFill/>
          <a:ln/>
        </p:spPr>
        <p:txBody>
          <a:bodyPr wrap="square" lIns="0" tIns="0" rIns="0" bIns="0" rtlCol="0" anchor="t"/>
          <a:lstStyle/>
          <a:p>
            <a:pPr marL="0" indent="0">
              <a:buNone/>
            </a:pPr>
            <a:r>
              <a:rPr lang="en-US" sz="1150" dirty="0">
                <a:solidFill>
                  <a:schemeClr val="tx2"/>
                </a:solidFill>
              </a:rPr>
              <a:t>Dati non allineati tra sistemi</a:t>
            </a:r>
            <a:endParaRPr lang="en-US" sz="1150" dirty="0"/>
          </a:p>
        </p:txBody>
      </p:sp>
      <p:sp>
        <p:nvSpPr>
          <p:cNvPr id="31" name="spreco Chiedere a voce"/>
          <p:cNvSpPr/>
          <p:nvPr/>
        </p:nvSpPr>
        <p:spPr>
          <a:xfrm>
            <a:off x="2542032" y="2514600"/>
            <a:ext cx="1965960" cy="1325880"/>
          </a:xfrm>
          <a:prstGeom prst="roundRect">
            <a:avLst>
              <a:gd name="adj" fmla="val 5517"/>
            </a:avLst>
          </a:prstGeom>
          <a:solidFill>
            <a:schemeClr val="bg2"/>
          </a:solidFill>
          <a:ln/>
        </p:spPr>
        <p:txBody>
          <a:bodyPr/>
          <a:lstStyle/>
          <a:p>
            <a:endParaRPr lang="it-IT"/>
          </a:p>
        </p:txBody>
      </p:sp>
      <p:sp>
        <p:nvSpPr>
          <p:cNvPr id="32" name="cerchio FiPhone"/>
          <p:cNvSpPr/>
          <p:nvPr/>
        </p:nvSpPr>
        <p:spPr>
          <a:xfrm>
            <a:off x="2679192" y="2651760"/>
            <a:ext cx="411480" cy="411480"/>
          </a:xfrm>
          <a:prstGeom prst="ellipse">
            <a:avLst/>
          </a:prstGeom>
          <a:solidFill>
            <a:schemeClr val="accent1"/>
          </a:solidFill>
          <a:ln/>
        </p:spPr>
        <p:txBody>
          <a:bodyPr/>
          <a:lstStyle/>
          <a:p>
            <a:endParaRPr lang="it-IT"/>
          </a:p>
        </p:txBody>
      </p:sp>
      <p:pic>
        <p:nvPicPr>
          <p:cNvPr id="33" name="Image 5" descr="FiPhone"/>
          <p:cNvPicPr>
            <a:picLocks noChangeAspect="1"/>
          </p:cNvPicPr>
          <p:nvPr/>
        </p:nvPicPr>
        <p:blipFill>
          <a:blip r:embed="rId8"/>
          <a:stretch>
            <a:fillRect/>
          </a:stretch>
        </p:blipFill>
        <p:spPr>
          <a:xfrm>
            <a:off x="2782062" y="2754630"/>
            <a:ext cx="205740" cy="205740"/>
          </a:xfrm>
          <a:prstGeom prst="rect">
            <a:avLst/>
          </a:prstGeom>
        </p:spPr>
      </p:pic>
      <p:sp>
        <p:nvSpPr>
          <p:cNvPr id="34" name="Text 25"/>
          <p:cNvSpPr txBox="1"/>
          <p:nvPr/>
        </p:nvSpPr>
        <p:spPr>
          <a:xfrm>
            <a:off x="3182112" y="2651760"/>
            <a:ext cx="1280160" cy="411480"/>
          </a:xfrm>
          <a:prstGeom prst="rect">
            <a:avLst/>
          </a:prstGeom>
          <a:noFill/>
          <a:ln/>
        </p:spPr>
        <p:txBody>
          <a:bodyPr wrap="square" lIns="0" tIns="0" rIns="0" bIns="0" rtlCol="0" anchor="ctr"/>
          <a:lstStyle/>
          <a:p>
            <a:pPr marL="0" indent="0">
              <a:buNone/>
            </a:pPr>
            <a:r>
              <a:rPr lang="en-US" sz="1400" b="1" dirty="0">
                <a:solidFill>
                  <a:schemeClr val="tx1"/>
                </a:solidFill>
              </a:rPr>
              <a:t>Chiedere a voce</a:t>
            </a:r>
            <a:endParaRPr lang="en-US" sz="1400" dirty="0"/>
          </a:p>
        </p:txBody>
      </p:sp>
      <p:sp>
        <p:nvSpPr>
          <p:cNvPr id="35" name="Text 26"/>
          <p:cNvSpPr txBox="1"/>
          <p:nvPr/>
        </p:nvSpPr>
        <p:spPr>
          <a:xfrm>
            <a:off x="2679192" y="3154680"/>
            <a:ext cx="1737360" cy="621792"/>
          </a:xfrm>
          <a:prstGeom prst="rect">
            <a:avLst/>
          </a:prstGeom>
          <a:noFill/>
          <a:ln/>
        </p:spPr>
        <p:txBody>
          <a:bodyPr wrap="square" lIns="0" tIns="0" rIns="0" bIns="0" rtlCol="0" anchor="t"/>
          <a:lstStyle/>
          <a:p>
            <a:pPr marL="0" indent="0">
              <a:buNone/>
            </a:pPr>
            <a:r>
              <a:rPr lang="en-US" sz="1150" dirty="0">
                <a:solidFill>
                  <a:schemeClr val="tx2"/>
                </a:solidFill>
              </a:rPr>
              <a:t>Conoscenze solo nella testa di alcuni</a:t>
            </a:r>
            <a:endParaRPr lang="en-US" sz="1150" dirty="0"/>
          </a:p>
        </p:txBody>
      </p:sp>
      <p:sp>
        <p:nvSpPr>
          <p:cNvPr id="36" name="spreco Tradurre"/>
          <p:cNvSpPr/>
          <p:nvPr/>
        </p:nvSpPr>
        <p:spPr>
          <a:xfrm>
            <a:off x="4626864" y="2514600"/>
            <a:ext cx="1965960" cy="1325880"/>
          </a:xfrm>
          <a:prstGeom prst="roundRect">
            <a:avLst>
              <a:gd name="adj" fmla="val 5517"/>
            </a:avLst>
          </a:prstGeom>
          <a:solidFill>
            <a:schemeClr val="bg2"/>
          </a:solidFill>
          <a:ln/>
        </p:spPr>
        <p:txBody>
          <a:bodyPr/>
          <a:lstStyle/>
          <a:p>
            <a:endParaRPr lang="it-IT"/>
          </a:p>
        </p:txBody>
      </p:sp>
      <p:sp>
        <p:nvSpPr>
          <p:cNvPr id="37" name="cerchio FiGlobe"/>
          <p:cNvSpPr/>
          <p:nvPr/>
        </p:nvSpPr>
        <p:spPr>
          <a:xfrm>
            <a:off x="4764024" y="2651760"/>
            <a:ext cx="411480" cy="411480"/>
          </a:xfrm>
          <a:prstGeom prst="ellipse">
            <a:avLst/>
          </a:prstGeom>
          <a:solidFill>
            <a:schemeClr val="accent1"/>
          </a:solidFill>
          <a:ln/>
        </p:spPr>
        <p:txBody>
          <a:bodyPr/>
          <a:lstStyle/>
          <a:p>
            <a:endParaRPr lang="it-IT"/>
          </a:p>
        </p:txBody>
      </p:sp>
      <p:pic>
        <p:nvPicPr>
          <p:cNvPr id="38" name="Image 6" descr="FiGlobe"/>
          <p:cNvPicPr>
            <a:picLocks noChangeAspect="1"/>
          </p:cNvPicPr>
          <p:nvPr/>
        </p:nvPicPr>
        <p:blipFill>
          <a:blip r:embed="rId9"/>
          <a:stretch>
            <a:fillRect/>
          </a:stretch>
        </p:blipFill>
        <p:spPr>
          <a:xfrm>
            <a:off x="4866894" y="2754630"/>
            <a:ext cx="205740" cy="205740"/>
          </a:xfrm>
          <a:prstGeom prst="rect">
            <a:avLst/>
          </a:prstGeom>
        </p:spPr>
      </p:pic>
      <p:sp>
        <p:nvSpPr>
          <p:cNvPr id="39" name="Text 29"/>
          <p:cNvSpPr txBox="1"/>
          <p:nvPr/>
        </p:nvSpPr>
        <p:spPr>
          <a:xfrm>
            <a:off x="5266944" y="2651760"/>
            <a:ext cx="1280160" cy="411480"/>
          </a:xfrm>
          <a:prstGeom prst="rect">
            <a:avLst/>
          </a:prstGeom>
          <a:noFill/>
          <a:ln/>
        </p:spPr>
        <p:txBody>
          <a:bodyPr wrap="square" lIns="0" tIns="0" rIns="0" bIns="0" rtlCol="0" anchor="ctr"/>
          <a:lstStyle/>
          <a:p>
            <a:pPr marL="0" indent="0">
              <a:buNone/>
            </a:pPr>
            <a:r>
              <a:rPr lang="en-US" sz="1400" b="1" dirty="0">
                <a:solidFill>
                  <a:schemeClr val="tx1"/>
                </a:solidFill>
              </a:rPr>
              <a:t>Tradurre</a:t>
            </a:r>
            <a:endParaRPr lang="en-US" sz="1400" dirty="0"/>
          </a:p>
        </p:txBody>
      </p:sp>
      <p:sp>
        <p:nvSpPr>
          <p:cNvPr id="40" name="Text 30"/>
          <p:cNvSpPr txBox="1"/>
          <p:nvPr/>
        </p:nvSpPr>
        <p:spPr>
          <a:xfrm>
            <a:off x="4764024" y="3154680"/>
            <a:ext cx="1737360" cy="621792"/>
          </a:xfrm>
          <a:prstGeom prst="rect">
            <a:avLst/>
          </a:prstGeom>
          <a:noFill/>
          <a:ln/>
        </p:spPr>
        <p:txBody>
          <a:bodyPr wrap="square" lIns="0" tIns="0" rIns="0" bIns="0" rtlCol="0" anchor="t"/>
          <a:lstStyle/>
          <a:p>
            <a:pPr marL="0" indent="0">
              <a:buNone/>
            </a:pPr>
            <a:r>
              <a:rPr lang="en-US" sz="1150" dirty="0">
                <a:solidFill>
                  <a:schemeClr val="tx2"/>
                </a:solidFill>
              </a:rPr>
              <a:t>Manuali e offerte per i clienti esteri</a:t>
            </a:r>
            <a:endParaRPr lang="en-US" sz="1150" dirty="0"/>
          </a:p>
        </p:txBody>
      </p:sp>
      <p:sp>
        <p:nvSpPr>
          <p:cNvPr id="41" name="messaggio"/>
          <p:cNvSpPr/>
          <p:nvPr/>
        </p:nvSpPr>
        <p:spPr>
          <a:xfrm>
            <a:off x="6711696" y="2514600"/>
            <a:ext cx="1965960" cy="1325880"/>
          </a:xfrm>
          <a:prstGeom prst="roundRect">
            <a:avLst>
              <a:gd name="adj" fmla="val 5517"/>
            </a:avLst>
          </a:prstGeom>
          <a:solidFill>
            <a:schemeClr val="tx1"/>
          </a:solidFill>
          <a:ln/>
        </p:spPr>
        <p:txBody>
          <a:bodyPr/>
          <a:lstStyle/>
          <a:p>
            <a:endParaRPr lang="it-IT"/>
          </a:p>
        </p:txBody>
      </p:sp>
      <p:sp>
        <p:nvSpPr>
          <p:cNvPr id="42" name="Text 32"/>
          <p:cNvSpPr txBox="1"/>
          <p:nvPr/>
        </p:nvSpPr>
        <p:spPr>
          <a:xfrm>
            <a:off x="6848856" y="2514600"/>
            <a:ext cx="1691640" cy="1325880"/>
          </a:xfrm>
          <a:prstGeom prst="rect">
            <a:avLst/>
          </a:prstGeom>
          <a:noFill/>
          <a:ln/>
        </p:spPr>
        <p:txBody>
          <a:bodyPr wrap="square" lIns="0" tIns="0" rIns="0" bIns="0" rtlCol="0" anchor="ctr"/>
          <a:lstStyle/>
          <a:p>
            <a:pPr marL="0" indent="0">
              <a:buNone/>
            </a:pPr>
            <a:r>
              <a:rPr lang="en-US" sz="1300" b="1" dirty="0">
                <a:solidFill>
                  <a:schemeClr val="bg1"/>
                </a:solidFill>
              </a:rPr>
              <a:t>Prima il problema, poi lo strumento. Non tutti si risolvono con l'AI.</a:t>
            </a:r>
            <a:endParaRPr lang="en-US"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en-US" b="0"/>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Esercizio: dove perdiamo tempo?</a:t>
            </a:r>
            <a:endParaRPr lang="en-US" sz="2600" dirty="0"/>
          </a:p>
        </p:txBody>
      </p:sp>
      <p:sp>
        <p:nvSpPr>
          <p:cNvPr id="6" name="passo 1"/>
          <p:cNvSpPr/>
          <p:nvPr/>
        </p:nvSpPr>
        <p:spPr>
          <a:xfrm>
            <a:off x="457200" y="1097280"/>
            <a:ext cx="2606040" cy="2103120"/>
          </a:xfrm>
          <a:prstGeom prst="roundRect">
            <a:avLst>
              <a:gd name="adj" fmla="val 3478"/>
            </a:avLst>
          </a:prstGeom>
          <a:solidFill>
            <a:schemeClr val="bg2"/>
          </a:solidFill>
          <a:ln/>
        </p:spPr>
        <p:txBody>
          <a:bodyPr/>
          <a:lstStyle/>
          <a:p>
            <a:endParaRPr lang="it-IT"/>
          </a:p>
        </p:txBody>
      </p:sp>
      <p:sp>
        <p:nvSpPr>
          <p:cNvPr id="7" name="Text 4"/>
          <p:cNvSpPr txBox="1"/>
          <p:nvPr/>
        </p:nvSpPr>
        <p:spPr>
          <a:xfrm>
            <a:off x="640080" y="1188720"/>
            <a:ext cx="1097280" cy="548640"/>
          </a:xfrm>
          <a:prstGeom prst="rect">
            <a:avLst/>
          </a:prstGeom>
          <a:noFill/>
          <a:ln/>
        </p:spPr>
        <p:txBody>
          <a:bodyPr wrap="square" lIns="0" tIns="0" rIns="0" bIns="0" rtlCol="0" anchor="t"/>
          <a:lstStyle/>
          <a:p>
            <a:pPr marL="0" indent="0">
              <a:buNone/>
            </a:pPr>
            <a:r>
              <a:rPr lang="en-US" sz="2800" b="1" dirty="0">
                <a:solidFill>
                  <a:schemeClr val="accent1"/>
                </a:solidFill>
              </a:rPr>
              <a:t>15'</a:t>
            </a:r>
            <a:endParaRPr lang="en-US" sz="2800" dirty="0"/>
          </a:p>
        </p:txBody>
      </p:sp>
      <p:sp>
        <p:nvSpPr>
          <p:cNvPr id="8" name="Text 5"/>
          <p:cNvSpPr txBox="1"/>
          <p:nvPr/>
        </p:nvSpPr>
        <p:spPr>
          <a:xfrm>
            <a:off x="640080" y="1783080"/>
            <a:ext cx="2240280" cy="320040"/>
          </a:xfrm>
          <a:prstGeom prst="rect">
            <a:avLst/>
          </a:prstGeom>
          <a:noFill/>
          <a:ln/>
        </p:spPr>
        <p:txBody>
          <a:bodyPr wrap="square" lIns="0" tIns="0" rIns="0" bIns="0" rtlCol="0" anchor="t"/>
          <a:lstStyle/>
          <a:p>
            <a:pPr marL="0" indent="0">
              <a:buNone/>
            </a:pPr>
            <a:r>
              <a:rPr lang="en-US" sz="1500" b="1" dirty="0" err="1">
                <a:solidFill>
                  <a:schemeClr val="tx1"/>
                </a:solidFill>
              </a:rPr>
              <a:t>Riflessione</a:t>
            </a:r>
            <a:r>
              <a:rPr lang="en-US" sz="1500" b="1" dirty="0">
                <a:solidFill>
                  <a:schemeClr val="tx1"/>
                </a:solidFill>
              </a:rPr>
              <a:t> </a:t>
            </a:r>
            <a:r>
              <a:rPr lang="en-US" sz="1500" b="1" dirty="0" err="1">
                <a:solidFill>
                  <a:schemeClr val="tx1"/>
                </a:solidFill>
              </a:rPr>
              <a:t>individuale</a:t>
            </a:r>
            <a:endParaRPr lang="en-US" sz="1500" dirty="0"/>
          </a:p>
        </p:txBody>
      </p:sp>
      <p:sp>
        <p:nvSpPr>
          <p:cNvPr id="9" name="Text 6"/>
          <p:cNvSpPr txBox="1"/>
          <p:nvPr/>
        </p:nvSpPr>
        <p:spPr>
          <a:xfrm>
            <a:off x="640080" y="2346960"/>
            <a:ext cx="2240280" cy="960120"/>
          </a:xfrm>
          <a:prstGeom prst="rect">
            <a:avLst/>
          </a:prstGeom>
          <a:noFill/>
          <a:ln/>
        </p:spPr>
        <p:txBody>
          <a:bodyPr wrap="square" lIns="0" tIns="0" rIns="0" bIns="0" rtlCol="0" anchor="t"/>
          <a:lstStyle/>
          <a:p>
            <a:pPr marL="0" indent="0">
              <a:buNone/>
            </a:pPr>
            <a:r>
              <a:rPr lang="en-US" sz="1300" dirty="0">
                <a:solidFill>
                  <a:schemeClr val="tx2"/>
                </a:solidFill>
              </a:rPr>
              <a:t>Un post-it per ogni spreco: una frase, il reparto, la categoria</a:t>
            </a:r>
            <a:endParaRPr lang="en-US" sz="1300" dirty="0"/>
          </a:p>
        </p:txBody>
      </p:sp>
      <p:sp>
        <p:nvSpPr>
          <p:cNvPr id="10" name="freccia"/>
          <p:cNvSpPr/>
          <p:nvPr/>
        </p:nvSpPr>
        <p:spPr>
          <a:xfrm>
            <a:off x="3081528" y="2011680"/>
            <a:ext cx="146304" cy="292608"/>
          </a:xfrm>
          <a:prstGeom prst="rightArrow">
            <a:avLst/>
          </a:prstGeom>
          <a:solidFill>
            <a:schemeClr val="accent2"/>
          </a:solidFill>
          <a:ln/>
        </p:spPr>
        <p:txBody>
          <a:bodyPr/>
          <a:lstStyle/>
          <a:p>
            <a:endParaRPr lang="it-IT"/>
          </a:p>
        </p:txBody>
      </p:sp>
      <p:sp>
        <p:nvSpPr>
          <p:cNvPr id="11" name="passo 2"/>
          <p:cNvSpPr/>
          <p:nvPr/>
        </p:nvSpPr>
        <p:spPr>
          <a:xfrm>
            <a:off x="3246120" y="1097280"/>
            <a:ext cx="2606040" cy="2103120"/>
          </a:xfrm>
          <a:prstGeom prst="roundRect">
            <a:avLst>
              <a:gd name="adj" fmla="val 3478"/>
            </a:avLst>
          </a:prstGeom>
          <a:solidFill>
            <a:schemeClr val="accent6"/>
          </a:solidFill>
          <a:ln/>
        </p:spPr>
        <p:txBody>
          <a:bodyPr/>
          <a:lstStyle/>
          <a:p>
            <a:endParaRPr lang="it-IT"/>
          </a:p>
        </p:txBody>
      </p:sp>
      <p:sp>
        <p:nvSpPr>
          <p:cNvPr id="12" name="Text 9"/>
          <p:cNvSpPr txBox="1"/>
          <p:nvPr/>
        </p:nvSpPr>
        <p:spPr>
          <a:xfrm>
            <a:off x="3429000" y="1188720"/>
            <a:ext cx="1097280" cy="548640"/>
          </a:xfrm>
          <a:prstGeom prst="rect">
            <a:avLst/>
          </a:prstGeom>
          <a:noFill/>
          <a:ln/>
        </p:spPr>
        <p:txBody>
          <a:bodyPr wrap="square" lIns="0" tIns="0" rIns="0" bIns="0" rtlCol="0" anchor="t"/>
          <a:lstStyle/>
          <a:p>
            <a:pPr marL="0" indent="0">
              <a:buNone/>
            </a:pPr>
            <a:r>
              <a:rPr lang="en-US" sz="2800" b="1" dirty="0">
                <a:solidFill>
                  <a:schemeClr val="accent1"/>
                </a:solidFill>
              </a:rPr>
              <a:t>15'</a:t>
            </a:r>
            <a:endParaRPr lang="en-US" sz="2800" dirty="0"/>
          </a:p>
        </p:txBody>
      </p:sp>
      <p:sp>
        <p:nvSpPr>
          <p:cNvPr id="13" name="Text 10"/>
          <p:cNvSpPr txBox="1"/>
          <p:nvPr/>
        </p:nvSpPr>
        <p:spPr>
          <a:xfrm>
            <a:off x="3429000" y="1783080"/>
            <a:ext cx="2240280" cy="320040"/>
          </a:xfrm>
          <a:prstGeom prst="rect">
            <a:avLst/>
          </a:prstGeom>
          <a:noFill/>
          <a:ln/>
        </p:spPr>
        <p:txBody>
          <a:bodyPr wrap="square" lIns="0" tIns="0" rIns="0" bIns="0" rtlCol="0" anchor="t"/>
          <a:lstStyle/>
          <a:p>
            <a:pPr marL="0" indent="0">
              <a:buNone/>
            </a:pPr>
            <a:r>
              <a:rPr lang="en-US" sz="1200" b="1" dirty="0" err="1"/>
              <a:t>Raggruppamento</a:t>
            </a:r>
            <a:r>
              <a:rPr lang="en-US" sz="1200" b="1" dirty="0"/>
              <a:t> per </a:t>
            </a:r>
            <a:r>
              <a:rPr lang="en-US" sz="1200" b="1" dirty="0" err="1"/>
              <a:t>reparto</a:t>
            </a:r>
            <a:r>
              <a:rPr lang="en-US" sz="1200" b="1" dirty="0"/>
              <a:t> </a:t>
            </a:r>
            <a:r>
              <a:rPr lang="en-US" sz="1200" b="1" dirty="0" err="1"/>
              <a:t>tipologia</a:t>
            </a:r>
            <a:endParaRPr lang="en-US" sz="1200" dirty="0"/>
          </a:p>
        </p:txBody>
      </p:sp>
      <p:sp>
        <p:nvSpPr>
          <p:cNvPr id="14" name="Text 11"/>
          <p:cNvSpPr txBox="1"/>
          <p:nvPr/>
        </p:nvSpPr>
        <p:spPr>
          <a:xfrm>
            <a:off x="3429000" y="2377440"/>
            <a:ext cx="2240280" cy="502920"/>
          </a:xfrm>
          <a:prstGeom prst="rect">
            <a:avLst/>
          </a:prstGeom>
          <a:noFill/>
          <a:ln/>
        </p:spPr>
        <p:txBody>
          <a:bodyPr wrap="square" lIns="0" tIns="0" rIns="0" bIns="0" rtlCol="0" anchor="t"/>
          <a:lstStyle/>
          <a:p>
            <a:pPr marL="0" indent="0">
              <a:buNone/>
            </a:pPr>
            <a:r>
              <a:rPr lang="en-US" sz="1300" dirty="0">
                <a:solidFill>
                  <a:schemeClr val="tx2"/>
                </a:solidFill>
              </a:rPr>
              <a:t>Raggruppare i </a:t>
            </a:r>
            <a:r>
              <a:rPr lang="en-US" sz="1300" dirty="0" err="1">
                <a:solidFill>
                  <a:schemeClr val="tx2"/>
                </a:solidFill>
              </a:rPr>
              <a:t>post-it</a:t>
            </a:r>
            <a:r>
              <a:rPr lang="en-US" sz="1300" dirty="0">
                <a:solidFill>
                  <a:schemeClr val="tx2"/>
                </a:solidFill>
              </a:rPr>
              <a:t> </a:t>
            </a:r>
            <a:r>
              <a:rPr lang="en-US" sz="1300" dirty="0" err="1">
                <a:solidFill>
                  <a:schemeClr val="tx2"/>
                </a:solidFill>
              </a:rPr>
              <a:t>simili</a:t>
            </a:r>
            <a:endParaRPr lang="en-US" sz="1300" dirty="0"/>
          </a:p>
        </p:txBody>
      </p:sp>
      <p:sp>
        <p:nvSpPr>
          <p:cNvPr id="15" name="freccia"/>
          <p:cNvSpPr/>
          <p:nvPr/>
        </p:nvSpPr>
        <p:spPr>
          <a:xfrm>
            <a:off x="5870448" y="2011680"/>
            <a:ext cx="146304" cy="292608"/>
          </a:xfrm>
          <a:prstGeom prst="rightArrow">
            <a:avLst/>
          </a:prstGeom>
          <a:solidFill>
            <a:schemeClr val="accent2"/>
          </a:solidFill>
          <a:ln/>
        </p:spPr>
        <p:txBody>
          <a:bodyPr/>
          <a:lstStyle/>
          <a:p>
            <a:endParaRPr lang="it-IT"/>
          </a:p>
        </p:txBody>
      </p:sp>
      <p:sp>
        <p:nvSpPr>
          <p:cNvPr id="16" name="passo 3"/>
          <p:cNvSpPr/>
          <p:nvPr/>
        </p:nvSpPr>
        <p:spPr>
          <a:xfrm>
            <a:off x="6035040" y="1097280"/>
            <a:ext cx="2606040" cy="2103120"/>
          </a:xfrm>
          <a:prstGeom prst="roundRect">
            <a:avLst>
              <a:gd name="adj" fmla="val 3478"/>
            </a:avLst>
          </a:prstGeom>
          <a:solidFill>
            <a:schemeClr val="bg2"/>
          </a:solidFill>
          <a:ln/>
        </p:spPr>
        <p:txBody>
          <a:bodyPr/>
          <a:lstStyle/>
          <a:p>
            <a:endParaRPr lang="it-IT"/>
          </a:p>
        </p:txBody>
      </p:sp>
      <p:sp>
        <p:nvSpPr>
          <p:cNvPr id="17" name="Text 14"/>
          <p:cNvSpPr txBox="1"/>
          <p:nvPr/>
        </p:nvSpPr>
        <p:spPr>
          <a:xfrm>
            <a:off x="6217920" y="1188720"/>
            <a:ext cx="1097280" cy="548640"/>
          </a:xfrm>
          <a:prstGeom prst="rect">
            <a:avLst/>
          </a:prstGeom>
          <a:noFill/>
          <a:ln/>
        </p:spPr>
        <p:txBody>
          <a:bodyPr wrap="square" lIns="0" tIns="0" rIns="0" bIns="0" rtlCol="0" anchor="t"/>
          <a:lstStyle/>
          <a:p>
            <a:pPr marL="0" indent="0">
              <a:buNone/>
            </a:pPr>
            <a:r>
              <a:rPr lang="en-US" sz="2800" b="1" dirty="0">
                <a:solidFill>
                  <a:schemeClr val="accent1"/>
                </a:solidFill>
              </a:rPr>
              <a:t>10'</a:t>
            </a:r>
            <a:endParaRPr lang="en-US" sz="2800" dirty="0"/>
          </a:p>
        </p:txBody>
      </p:sp>
      <p:sp>
        <p:nvSpPr>
          <p:cNvPr id="18" name="Text 15"/>
          <p:cNvSpPr txBox="1"/>
          <p:nvPr/>
        </p:nvSpPr>
        <p:spPr>
          <a:xfrm>
            <a:off x="6217920" y="1783080"/>
            <a:ext cx="2240280" cy="320040"/>
          </a:xfrm>
          <a:prstGeom prst="rect">
            <a:avLst/>
          </a:prstGeom>
          <a:noFill/>
          <a:ln/>
        </p:spPr>
        <p:txBody>
          <a:bodyPr wrap="square" lIns="0" tIns="0" rIns="0" bIns="0" rtlCol="0" anchor="t"/>
          <a:lstStyle/>
          <a:p>
            <a:pPr marL="0" indent="0">
              <a:buNone/>
            </a:pPr>
            <a:r>
              <a:rPr lang="en-US" sz="1500" b="1" dirty="0" err="1">
                <a:solidFill>
                  <a:schemeClr val="tx1"/>
                </a:solidFill>
              </a:rPr>
              <a:t>Discussione</a:t>
            </a:r>
            <a:r>
              <a:rPr lang="en-US" sz="1500" b="1" dirty="0">
                <a:solidFill>
                  <a:schemeClr val="tx1"/>
                </a:solidFill>
              </a:rPr>
              <a:t> Conclusiva</a:t>
            </a:r>
            <a:endParaRPr lang="en-US" sz="1500" dirty="0"/>
          </a:p>
        </p:txBody>
      </p:sp>
      <p:sp>
        <p:nvSpPr>
          <p:cNvPr id="19" name="Text 16"/>
          <p:cNvSpPr txBox="1"/>
          <p:nvPr/>
        </p:nvSpPr>
        <p:spPr>
          <a:xfrm>
            <a:off x="6217920" y="2308860"/>
            <a:ext cx="2240280" cy="640080"/>
          </a:xfrm>
          <a:prstGeom prst="rect">
            <a:avLst/>
          </a:prstGeom>
          <a:noFill/>
          <a:ln/>
        </p:spPr>
        <p:txBody>
          <a:bodyPr wrap="square" lIns="0" tIns="0" rIns="0" bIns="0" rtlCol="0" anchor="t"/>
          <a:lstStyle/>
          <a:p>
            <a:pPr marL="0" indent="0">
              <a:buNone/>
            </a:pPr>
            <a:r>
              <a:rPr lang="en-US" sz="1300" dirty="0" err="1">
                <a:solidFill>
                  <a:schemeClr val="tx2"/>
                </a:solidFill>
              </a:rPr>
              <a:t>Condividiamo</a:t>
            </a:r>
            <a:r>
              <a:rPr lang="en-US" sz="1300" dirty="0">
                <a:solidFill>
                  <a:schemeClr val="tx2"/>
                </a:solidFill>
              </a:rPr>
              <a:t> </a:t>
            </a:r>
            <a:r>
              <a:rPr lang="en-US" sz="1300" dirty="0" err="1">
                <a:solidFill>
                  <a:schemeClr val="tx2"/>
                </a:solidFill>
              </a:rPr>
              <a:t>gli</a:t>
            </a:r>
            <a:r>
              <a:rPr lang="en-US" sz="1300" dirty="0">
                <a:solidFill>
                  <a:schemeClr val="tx2"/>
                </a:solidFill>
              </a:rPr>
              <a:t> </a:t>
            </a:r>
            <a:r>
              <a:rPr lang="en-US" sz="1300" dirty="0" err="1">
                <a:solidFill>
                  <a:schemeClr val="tx2"/>
                </a:solidFill>
              </a:rPr>
              <a:t>sprechi</a:t>
            </a:r>
            <a:r>
              <a:rPr lang="en-US" sz="1300" dirty="0">
                <a:solidFill>
                  <a:schemeClr val="tx2"/>
                </a:solidFill>
              </a:rPr>
              <a:t> </a:t>
            </a:r>
            <a:r>
              <a:rPr lang="en-US" sz="1300" dirty="0" err="1">
                <a:solidFill>
                  <a:schemeClr val="tx2"/>
                </a:solidFill>
              </a:rPr>
              <a:t>individuati</a:t>
            </a:r>
            <a:endParaRPr lang="en-US" sz="1300" dirty="0"/>
          </a:p>
        </p:txBody>
      </p:sp>
      <p:sp>
        <p:nvSpPr>
          <p:cNvPr id="20" name="scheda Solo il problema"/>
          <p:cNvSpPr/>
          <p:nvPr/>
        </p:nvSpPr>
        <p:spPr>
          <a:xfrm>
            <a:off x="457200" y="3383280"/>
            <a:ext cx="4023360" cy="1097280"/>
          </a:xfrm>
          <a:prstGeom prst="roundRect">
            <a:avLst>
              <a:gd name="adj" fmla="val 6667"/>
            </a:avLst>
          </a:prstGeom>
          <a:solidFill>
            <a:schemeClr val="bg2"/>
          </a:solidFill>
          <a:ln/>
        </p:spPr>
        <p:txBody>
          <a:bodyPr/>
          <a:lstStyle/>
          <a:p>
            <a:endParaRPr lang="it-IT"/>
          </a:p>
        </p:txBody>
      </p:sp>
      <p:sp>
        <p:nvSpPr>
          <p:cNvPr id="21" name="cerchio FiTarget"/>
          <p:cNvSpPr/>
          <p:nvPr/>
        </p:nvSpPr>
        <p:spPr>
          <a:xfrm>
            <a:off x="640080" y="3566160"/>
            <a:ext cx="457200" cy="457200"/>
          </a:xfrm>
          <a:prstGeom prst="ellipse">
            <a:avLst/>
          </a:prstGeom>
          <a:solidFill>
            <a:schemeClr val="accent1"/>
          </a:solidFill>
          <a:ln/>
        </p:spPr>
        <p:txBody>
          <a:bodyPr/>
          <a:lstStyle/>
          <a:p>
            <a:endParaRPr lang="it-IT"/>
          </a:p>
        </p:txBody>
      </p:sp>
      <p:pic>
        <p:nvPicPr>
          <p:cNvPr id="22" name="Image 0" descr="FiTarget"/>
          <p:cNvPicPr>
            <a:picLocks noChangeAspect="1"/>
          </p:cNvPicPr>
          <p:nvPr/>
        </p:nvPicPr>
        <p:blipFill>
          <a:blip r:embed="rId3"/>
          <a:stretch>
            <a:fillRect/>
          </a:stretch>
        </p:blipFill>
        <p:spPr>
          <a:xfrm>
            <a:off x="754380" y="3680460"/>
            <a:ext cx="228600" cy="228600"/>
          </a:xfrm>
          <a:prstGeom prst="rect">
            <a:avLst/>
          </a:prstGeom>
        </p:spPr>
      </p:pic>
      <p:sp>
        <p:nvSpPr>
          <p:cNvPr id="23" name="Text 19"/>
          <p:cNvSpPr txBox="1"/>
          <p:nvPr/>
        </p:nvSpPr>
        <p:spPr>
          <a:xfrm>
            <a:off x="1234440" y="3566160"/>
            <a:ext cx="3063240" cy="457200"/>
          </a:xfrm>
          <a:prstGeom prst="rect">
            <a:avLst/>
          </a:prstGeom>
          <a:noFill/>
          <a:ln/>
        </p:spPr>
        <p:txBody>
          <a:bodyPr wrap="square" lIns="0" tIns="0" rIns="0" bIns="0" rtlCol="0" anchor="ctr"/>
          <a:lstStyle/>
          <a:p>
            <a:pPr marL="0" indent="0">
              <a:buNone/>
            </a:pPr>
            <a:r>
              <a:rPr lang="en-US" sz="1400" b="1" dirty="0">
                <a:solidFill>
                  <a:schemeClr val="tx1"/>
                </a:solidFill>
              </a:rPr>
              <a:t>Solo il problema</a:t>
            </a:r>
            <a:endParaRPr lang="en-US" sz="1400" dirty="0"/>
          </a:p>
        </p:txBody>
      </p:sp>
      <p:sp>
        <p:nvSpPr>
          <p:cNvPr id="24" name="Text 20"/>
          <p:cNvSpPr txBox="1"/>
          <p:nvPr/>
        </p:nvSpPr>
        <p:spPr>
          <a:xfrm>
            <a:off x="640080" y="4160520"/>
            <a:ext cx="3657600" cy="210312"/>
          </a:xfrm>
          <a:prstGeom prst="rect">
            <a:avLst/>
          </a:prstGeom>
          <a:noFill/>
          <a:ln/>
        </p:spPr>
        <p:txBody>
          <a:bodyPr wrap="square" lIns="0" tIns="0" rIns="0" bIns="0" rtlCol="0" anchor="t"/>
          <a:lstStyle/>
          <a:p>
            <a:pPr marL="0" indent="0">
              <a:buNone/>
            </a:pPr>
            <a:r>
              <a:rPr lang="en-US" sz="1200" dirty="0">
                <a:solidFill>
                  <a:schemeClr val="tx2"/>
                </a:solidFill>
              </a:rPr>
              <a:t>La soluzione la cerchiamo nella sessione 2.</a:t>
            </a:r>
            <a:endParaRPr lang="en-US" sz="1200" dirty="0"/>
          </a:p>
        </p:txBody>
      </p:sp>
      <p:sp>
        <p:nvSpPr>
          <p:cNvPr id="25" name="scheda Niente dati riservati"/>
          <p:cNvSpPr/>
          <p:nvPr/>
        </p:nvSpPr>
        <p:spPr>
          <a:xfrm>
            <a:off x="4663440" y="3383280"/>
            <a:ext cx="4023360" cy="1097280"/>
          </a:xfrm>
          <a:prstGeom prst="roundRect">
            <a:avLst>
              <a:gd name="adj" fmla="val 6667"/>
            </a:avLst>
          </a:prstGeom>
          <a:solidFill>
            <a:schemeClr val="accent6"/>
          </a:solidFill>
          <a:ln/>
        </p:spPr>
        <p:txBody>
          <a:bodyPr/>
          <a:lstStyle/>
          <a:p>
            <a:endParaRPr lang="it-IT"/>
          </a:p>
        </p:txBody>
      </p:sp>
      <p:sp>
        <p:nvSpPr>
          <p:cNvPr id="26" name="cerchio FiLock"/>
          <p:cNvSpPr/>
          <p:nvPr/>
        </p:nvSpPr>
        <p:spPr>
          <a:xfrm>
            <a:off x="4846320" y="3566160"/>
            <a:ext cx="457200" cy="457200"/>
          </a:xfrm>
          <a:prstGeom prst="ellipse">
            <a:avLst/>
          </a:prstGeom>
          <a:solidFill>
            <a:schemeClr val="accent1"/>
          </a:solidFill>
          <a:ln/>
        </p:spPr>
        <p:txBody>
          <a:bodyPr/>
          <a:lstStyle/>
          <a:p>
            <a:endParaRPr lang="it-IT"/>
          </a:p>
        </p:txBody>
      </p:sp>
      <p:pic>
        <p:nvPicPr>
          <p:cNvPr id="27" name="Image 1" descr="FiLock"/>
          <p:cNvPicPr>
            <a:picLocks noChangeAspect="1"/>
          </p:cNvPicPr>
          <p:nvPr/>
        </p:nvPicPr>
        <p:blipFill>
          <a:blip r:embed="rId4"/>
          <a:stretch>
            <a:fillRect/>
          </a:stretch>
        </p:blipFill>
        <p:spPr>
          <a:xfrm>
            <a:off x="4960620" y="3680460"/>
            <a:ext cx="228600" cy="228600"/>
          </a:xfrm>
          <a:prstGeom prst="rect">
            <a:avLst/>
          </a:prstGeom>
        </p:spPr>
      </p:pic>
      <p:sp>
        <p:nvSpPr>
          <p:cNvPr id="28" name="Text 23"/>
          <p:cNvSpPr txBox="1"/>
          <p:nvPr/>
        </p:nvSpPr>
        <p:spPr>
          <a:xfrm>
            <a:off x="5440680" y="3566160"/>
            <a:ext cx="3063240" cy="457200"/>
          </a:xfrm>
          <a:prstGeom prst="rect">
            <a:avLst/>
          </a:prstGeom>
          <a:noFill/>
          <a:ln/>
        </p:spPr>
        <p:txBody>
          <a:bodyPr wrap="square" lIns="0" tIns="0" rIns="0" bIns="0" rtlCol="0" anchor="ctr"/>
          <a:lstStyle/>
          <a:p>
            <a:pPr marL="0" indent="0">
              <a:buNone/>
            </a:pPr>
            <a:r>
              <a:rPr lang="en-US" sz="1400" b="1" dirty="0">
                <a:solidFill>
                  <a:schemeClr val="tx1"/>
                </a:solidFill>
              </a:rPr>
              <a:t>Niente dati riservati</a:t>
            </a:r>
            <a:endParaRPr lang="en-US" sz="1400" dirty="0"/>
          </a:p>
        </p:txBody>
      </p:sp>
      <p:sp>
        <p:nvSpPr>
          <p:cNvPr id="29" name="Text 24"/>
          <p:cNvSpPr txBox="1"/>
          <p:nvPr/>
        </p:nvSpPr>
        <p:spPr>
          <a:xfrm>
            <a:off x="4846320" y="4160520"/>
            <a:ext cx="3657600" cy="210312"/>
          </a:xfrm>
          <a:prstGeom prst="rect">
            <a:avLst/>
          </a:prstGeom>
          <a:noFill/>
          <a:ln/>
        </p:spPr>
        <p:txBody>
          <a:bodyPr wrap="square" lIns="0" tIns="0" rIns="0" bIns="0" rtlCol="0" anchor="t"/>
          <a:lstStyle/>
          <a:p>
            <a:pPr marL="0" indent="0">
              <a:buNone/>
            </a:pPr>
            <a:r>
              <a:rPr lang="en-US" sz="1200" dirty="0">
                <a:solidFill>
                  <a:schemeClr val="tx2"/>
                </a:solidFill>
              </a:rPr>
              <a:t>L'attività, non il cliente o il caso specifico.</a:t>
            </a:r>
            <a:endParaRPr lang="en-US" sz="12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en-US" b="0"/>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Mappa degli sprechi: un esempio</a:t>
            </a:r>
            <a:endParaRPr lang="en-US" sz="2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3218688"/>
        </p:xfrm>
        <a:graphic>
          <a:graphicData uri="http://schemas.openxmlformats.org/drawingml/2006/table">
            <a:tbl>
              <a:tblPr/>
              <a:tblGrid>
                <a:gridCol w="155448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5257800">
                  <a:extLst>
                    <a:ext uri="{9D8B030D-6E8A-4147-A177-3AD203B41FA5}">
                      <a16:colId xmlns:a16="http://schemas.microsoft.com/office/drawing/2014/main" val="20002"/>
                    </a:ext>
                  </a:extLst>
                </a:gridCol>
              </a:tblGrid>
              <a:tr h="402336">
                <a:tc>
                  <a:txBody>
                    <a:bodyPr/>
                    <a:lstStyle/>
                    <a:p>
                      <a:pPr marL="0" indent="0">
                        <a:buNone/>
                      </a:pPr>
                      <a:r>
                        <a:rPr lang="en-US" sz="1200" b="1" dirty="0">
                          <a:solidFill>
                            <a:schemeClr val="bg1"/>
                          </a:solidFill>
                        </a:rPr>
                        <a:t>Reparto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Spreco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marL="0" indent="0">
                        <a:buNone/>
                      </a:pPr>
                      <a:r>
                        <a:rPr lang="en-US" sz="1200" b="1" dirty="0">
                          <a:solidFill>
                            <a:schemeClr val="bg1"/>
                          </a:solidFill>
                        </a:rPr>
                        <a:t>Esempio (fittizio)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02336">
                <a:tc>
                  <a:txBody>
                    <a:bodyPr/>
                    <a:lstStyle/>
                    <a:p>
                      <a:pPr marL="0" indent="0">
                        <a:buNone/>
                      </a:pPr>
                      <a:r>
                        <a:rPr lang="en-US" sz="1200" b="1" dirty="0">
                          <a:solidFill>
                            <a:schemeClr val="tx1"/>
                          </a:solidFill>
                        </a:rPr>
                        <a:t>Tecnico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Cercare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en-US" sz="1200" dirty="0">
                          <a:solidFill>
                            <a:schemeClr val="tx1"/>
                          </a:solidFill>
                        </a:rPr>
                        <a:t>Dove abbiamo già risolto questo problema? In quale commessa?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02336">
                <a:tc>
                  <a:txBody>
                    <a:bodyPr/>
                    <a:lstStyle/>
                    <a:p>
                      <a:pPr marL="0" indent="0">
                        <a:buNone/>
                      </a:pPr>
                      <a:r>
                        <a:rPr lang="en-US" sz="1200" b="1" dirty="0">
                          <a:solidFill>
                            <a:schemeClr val="tx1"/>
                          </a:solidFill>
                        </a:rPr>
                        <a:t>Produzione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Aspettare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en-US" sz="1200" dirty="0">
                          <a:solidFill>
                            <a:schemeClr val="tx1"/>
                          </a:solidFill>
                        </a:rPr>
                        <a:t>Montaggio fermo per un'informazione dell'ufficio tecnico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02336">
                <a:tc>
                  <a:txBody>
                    <a:bodyPr/>
                    <a:lstStyle/>
                    <a:p>
                      <a:pPr marL="0" indent="0">
                        <a:buNone/>
                      </a:pPr>
                      <a:r>
                        <a:rPr lang="en-US" sz="1200" b="1" dirty="0">
                          <a:solidFill>
                            <a:schemeClr val="tx1"/>
                          </a:solidFill>
                        </a:rPr>
                        <a:t>Qualità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Ricopiare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en-US" sz="1200" dirty="0">
                          <a:solidFill>
                            <a:schemeClr val="tx1"/>
                          </a:solidFill>
                        </a:rPr>
                        <a:t>Non conformità da email a foglio, poi al gestionale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02336">
                <a:tc>
                  <a:txBody>
                    <a:bodyPr/>
                    <a:lstStyle/>
                    <a:p>
                      <a:pPr marL="0" indent="0">
                        <a:buNone/>
                      </a:pPr>
                      <a:r>
                        <a:rPr lang="en-US" sz="1200" b="1" dirty="0">
                          <a:solidFill>
                            <a:schemeClr val="tx1"/>
                          </a:solidFill>
                        </a:rPr>
                        <a:t>Service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Chiedere a voce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en-US" sz="1200" dirty="0">
                          <a:solidFill>
                            <a:schemeClr val="tx1"/>
                          </a:solidFill>
                        </a:rPr>
                        <a:t>La diagnosi dipende dal tecnico esperto al telefono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02336">
                <a:tc>
                  <a:txBody>
                    <a:bodyPr/>
                    <a:lstStyle/>
                    <a:p>
                      <a:pPr marL="0" indent="0">
                        <a:buNone/>
                      </a:pPr>
                      <a:r>
                        <a:rPr lang="en-US" sz="1200" b="1" dirty="0">
                          <a:solidFill>
                            <a:schemeClr val="tx1"/>
                          </a:solidFill>
                        </a:rPr>
                        <a:t>Commerciale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Rifare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en-US" sz="1200" dirty="0">
                          <a:solidFill>
                            <a:schemeClr val="tx1"/>
                          </a:solidFill>
                        </a:rPr>
                        <a:t>Offerta rivista per un requisito del capitolato sfuggito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402336">
                <a:tc>
                  <a:txBody>
                    <a:bodyPr/>
                    <a:lstStyle/>
                    <a:p>
                      <a:pPr marL="0" indent="0">
                        <a:buNone/>
                      </a:pPr>
                      <a:r>
                        <a:rPr lang="en-US" sz="1200" b="1" dirty="0">
                          <a:solidFill>
                            <a:schemeClr val="tx1"/>
                          </a:solidFill>
                        </a:rPr>
                        <a:t>Amministrazione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Correggere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en-US" sz="1200" dirty="0">
                          <a:solidFill>
                            <a:schemeClr val="tx1"/>
                          </a:solidFill>
                        </a:rPr>
                        <a:t>Dati di commessa non allineati tra sistemi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402336">
                <a:tc>
                  <a:txBody>
                    <a:bodyPr/>
                    <a:lstStyle/>
                    <a:p>
                      <a:pPr marL="0" indent="0">
                        <a:buNone/>
                      </a:pPr>
                      <a:r>
                        <a:rPr lang="en-US" sz="1200" b="1" dirty="0">
                          <a:solidFill>
                            <a:schemeClr val="tx1"/>
                          </a:solidFill>
                        </a:rPr>
                        <a:t>Più reparti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Tradurre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marL="0" indent="0">
                        <a:buNone/>
                      </a:pPr>
                      <a:r>
                        <a:rPr lang="en-US" sz="1200" dirty="0">
                          <a:solidFill>
                            <a:schemeClr val="tx1"/>
                          </a:solidFill>
                        </a:rPr>
                        <a:t>Manuali, offerte, email per i clienti esteri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bl>
          </a:graphicData>
        </a:graphic>
      </p:graphicFrame>
      <p:sp>
        <p:nvSpPr>
          <p:cNvPr id="7" name="Text 3"/>
          <p:cNvSpPr txBox="1"/>
          <p:nvPr/>
        </p:nvSpPr>
        <p:spPr>
          <a:xfrm>
            <a:off x="457200" y="4297680"/>
            <a:ext cx="8229600" cy="274320"/>
          </a:xfrm>
          <a:prstGeom prst="rect">
            <a:avLst/>
          </a:prstGeom>
          <a:noFill/>
          <a:ln/>
        </p:spPr>
        <p:txBody>
          <a:bodyPr wrap="square" lIns="0" tIns="0" rIns="0" bIns="0" rtlCol="0" anchor="t"/>
          <a:lstStyle/>
          <a:p>
            <a:pPr marL="0" indent="0">
              <a:buNone/>
            </a:pPr>
            <a:r>
              <a:rPr lang="en-US" sz="1200" i="1" dirty="0">
                <a:solidFill>
                  <a:schemeClr val="accent4"/>
                </a:solidFill>
              </a:rPr>
              <a:t>Esempio fittizio di un costruttore di macchine: quali sprechi riconoscete? Quali mancano?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en-US" b="0"/>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Dagli sprechi alle opportunità</a:t>
            </a:r>
            <a:endParaRPr lang="en-US" sz="2600" dirty="0"/>
          </a:p>
        </p:txBody>
      </p:sp>
      <p:sp>
        <p:nvSpPr>
          <p:cNvPr id="6" name="blocco Spreco"/>
          <p:cNvSpPr/>
          <p:nvPr/>
        </p:nvSpPr>
        <p:spPr>
          <a:xfrm>
            <a:off x="457200" y="1024128"/>
            <a:ext cx="1965960" cy="365760"/>
          </a:xfrm>
          <a:prstGeom prst="roundRect">
            <a:avLst>
              <a:gd name="adj" fmla="val 30000"/>
            </a:avLst>
          </a:prstGeom>
          <a:solidFill>
            <a:schemeClr val="tx2"/>
          </a:solidFill>
          <a:ln/>
        </p:spPr>
        <p:txBody>
          <a:bodyPr/>
          <a:lstStyle/>
          <a:p>
            <a:endParaRPr lang="it-IT"/>
          </a:p>
        </p:txBody>
      </p:sp>
      <p:sp>
        <p:nvSpPr>
          <p:cNvPr id="7" name="Text 4"/>
          <p:cNvSpPr txBox="1"/>
          <p:nvPr/>
        </p:nvSpPr>
        <p:spPr>
          <a:xfrm>
            <a:off x="502920" y="1024128"/>
            <a:ext cx="1874520" cy="365760"/>
          </a:xfrm>
          <a:prstGeom prst="rect">
            <a:avLst/>
          </a:prstGeom>
          <a:noFill/>
          <a:ln/>
        </p:spPr>
        <p:txBody>
          <a:bodyPr wrap="square" lIns="0" tIns="0" rIns="0" bIns="0" rtlCol="0" anchor="ctr"/>
          <a:lstStyle/>
          <a:p>
            <a:pPr marL="0" indent="0" algn="ctr">
              <a:buNone/>
            </a:pPr>
            <a:r>
              <a:rPr lang="en-US" sz="1200" b="1" dirty="0">
                <a:solidFill>
                  <a:schemeClr val="bg1"/>
                </a:solidFill>
              </a:rPr>
              <a:t>Spreco</a:t>
            </a:r>
            <a:endParaRPr lang="en-US" sz="1200" dirty="0"/>
          </a:p>
        </p:txBody>
      </p:sp>
      <p:sp>
        <p:nvSpPr>
          <p:cNvPr id="8" name="blocco Causa"/>
          <p:cNvSpPr/>
          <p:nvPr/>
        </p:nvSpPr>
        <p:spPr>
          <a:xfrm>
            <a:off x="2542032" y="1024128"/>
            <a:ext cx="1965960" cy="365760"/>
          </a:xfrm>
          <a:prstGeom prst="roundRect">
            <a:avLst>
              <a:gd name="adj" fmla="val 30000"/>
            </a:avLst>
          </a:prstGeom>
          <a:solidFill>
            <a:schemeClr val="tx2"/>
          </a:solidFill>
          <a:ln/>
        </p:spPr>
        <p:txBody>
          <a:bodyPr/>
          <a:lstStyle/>
          <a:p>
            <a:endParaRPr lang="it-IT"/>
          </a:p>
        </p:txBody>
      </p:sp>
      <p:sp>
        <p:nvSpPr>
          <p:cNvPr id="9" name="Text 6"/>
          <p:cNvSpPr txBox="1"/>
          <p:nvPr/>
        </p:nvSpPr>
        <p:spPr>
          <a:xfrm>
            <a:off x="2587752" y="1024128"/>
            <a:ext cx="1874520" cy="365760"/>
          </a:xfrm>
          <a:prstGeom prst="rect">
            <a:avLst/>
          </a:prstGeom>
          <a:noFill/>
          <a:ln/>
        </p:spPr>
        <p:txBody>
          <a:bodyPr wrap="square" lIns="0" tIns="0" rIns="0" bIns="0" rtlCol="0" anchor="ctr"/>
          <a:lstStyle/>
          <a:p>
            <a:pPr marL="0" indent="0" algn="ctr">
              <a:buNone/>
            </a:pPr>
            <a:r>
              <a:rPr lang="en-US" sz="1200" b="1" dirty="0">
                <a:solidFill>
                  <a:schemeClr val="bg1"/>
                </a:solidFill>
              </a:rPr>
              <a:t>Causa</a:t>
            </a:r>
            <a:endParaRPr lang="en-US" sz="1200" dirty="0"/>
          </a:p>
        </p:txBody>
      </p:sp>
      <p:sp>
        <p:nvSpPr>
          <p:cNvPr id="10" name="blocco Soluzione"/>
          <p:cNvSpPr/>
          <p:nvPr/>
        </p:nvSpPr>
        <p:spPr>
          <a:xfrm>
            <a:off x="4626864" y="1024128"/>
            <a:ext cx="1965960" cy="365760"/>
          </a:xfrm>
          <a:prstGeom prst="roundRect">
            <a:avLst>
              <a:gd name="adj" fmla="val 30000"/>
            </a:avLst>
          </a:prstGeom>
          <a:solidFill>
            <a:schemeClr val="tx2"/>
          </a:solidFill>
          <a:ln/>
        </p:spPr>
        <p:txBody>
          <a:bodyPr/>
          <a:lstStyle/>
          <a:p>
            <a:endParaRPr lang="it-IT"/>
          </a:p>
        </p:txBody>
      </p:sp>
      <p:sp>
        <p:nvSpPr>
          <p:cNvPr id="11" name="Text 8"/>
          <p:cNvSpPr txBox="1"/>
          <p:nvPr/>
        </p:nvSpPr>
        <p:spPr>
          <a:xfrm>
            <a:off x="4672584" y="1024128"/>
            <a:ext cx="1874520" cy="365760"/>
          </a:xfrm>
          <a:prstGeom prst="rect">
            <a:avLst/>
          </a:prstGeom>
          <a:noFill/>
          <a:ln/>
        </p:spPr>
        <p:txBody>
          <a:bodyPr wrap="square" lIns="0" tIns="0" rIns="0" bIns="0" rtlCol="0" anchor="ctr"/>
          <a:lstStyle/>
          <a:p>
            <a:pPr marL="0" indent="0" algn="ctr">
              <a:buNone/>
            </a:pPr>
            <a:r>
              <a:rPr lang="en-US" sz="1200" b="1" dirty="0">
                <a:solidFill>
                  <a:schemeClr val="bg1"/>
                </a:solidFill>
              </a:rPr>
              <a:t>Soluzione</a:t>
            </a:r>
            <a:endParaRPr lang="en-US" sz="1200" dirty="0"/>
          </a:p>
        </p:txBody>
      </p:sp>
      <p:sp>
        <p:nvSpPr>
          <p:cNvPr id="12" name="blocco Ruolo dell'AI"/>
          <p:cNvSpPr/>
          <p:nvPr/>
        </p:nvSpPr>
        <p:spPr>
          <a:xfrm>
            <a:off x="6711696" y="1024128"/>
            <a:ext cx="1965960" cy="365760"/>
          </a:xfrm>
          <a:prstGeom prst="roundRect">
            <a:avLst>
              <a:gd name="adj" fmla="val 30000"/>
            </a:avLst>
          </a:prstGeom>
          <a:solidFill>
            <a:schemeClr val="accent1"/>
          </a:solidFill>
          <a:ln/>
        </p:spPr>
        <p:txBody>
          <a:bodyPr/>
          <a:lstStyle/>
          <a:p>
            <a:endParaRPr lang="it-IT"/>
          </a:p>
        </p:txBody>
      </p:sp>
      <p:sp>
        <p:nvSpPr>
          <p:cNvPr id="13" name="Text 10"/>
          <p:cNvSpPr txBox="1"/>
          <p:nvPr/>
        </p:nvSpPr>
        <p:spPr>
          <a:xfrm>
            <a:off x="6757416" y="1024128"/>
            <a:ext cx="1874520" cy="365760"/>
          </a:xfrm>
          <a:prstGeom prst="rect">
            <a:avLst/>
          </a:prstGeom>
          <a:noFill/>
          <a:ln/>
        </p:spPr>
        <p:txBody>
          <a:bodyPr wrap="square" lIns="0" tIns="0" rIns="0" bIns="0" rtlCol="0" anchor="ctr"/>
          <a:lstStyle/>
          <a:p>
            <a:pPr marL="0" indent="0" algn="ctr">
              <a:buNone/>
            </a:pPr>
            <a:r>
              <a:rPr lang="en-US" sz="1200" b="1" dirty="0">
                <a:solidFill>
                  <a:schemeClr val="bg1"/>
                </a:solidFill>
              </a:rPr>
              <a:t>Ruolo dell'AI</a:t>
            </a:r>
            <a:endParaRPr lang="en-US" sz="1200" dirty="0"/>
          </a:p>
        </p:txBody>
      </p:sp>
      <p:sp>
        <p:nvSpPr>
          <p:cNvPr id="14" name="cella"/>
          <p:cNvSpPr/>
          <p:nvPr/>
        </p:nvSpPr>
        <p:spPr>
          <a:xfrm>
            <a:off x="457200" y="1481328"/>
            <a:ext cx="1965960" cy="777240"/>
          </a:xfrm>
          <a:prstGeom prst="roundRect">
            <a:avLst>
              <a:gd name="adj" fmla="val 9412"/>
            </a:avLst>
          </a:prstGeom>
          <a:solidFill>
            <a:schemeClr val="bg2"/>
          </a:solidFill>
          <a:ln/>
        </p:spPr>
        <p:txBody>
          <a:bodyPr/>
          <a:lstStyle/>
          <a:p>
            <a:endParaRPr lang="it-IT"/>
          </a:p>
        </p:txBody>
      </p:sp>
      <p:sp>
        <p:nvSpPr>
          <p:cNvPr id="15" name="Text 12"/>
          <p:cNvSpPr txBox="1"/>
          <p:nvPr/>
        </p:nvSpPr>
        <p:spPr>
          <a:xfrm>
            <a:off x="566928" y="1481328"/>
            <a:ext cx="1755648" cy="777240"/>
          </a:xfrm>
          <a:prstGeom prst="rect">
            <a:avLst/>
          </a:prstGeom>
          <a:noFill/>
          <a:ln/>
        </p:spPr>
        <p:txBody>
          <a:bodyPr wrap="square" lIns="0" tIns="0" rIns="0" bIns="0" rtlCol="0" anchor="ctr"/>
          <a:lstStyle/>
          <a:p>
            <a:pPr marL="0" indent="0">
              <a:buNone/>
            </a:pPr>
            <a:r>
              <a:rPr lang="en-US" sz="1150" b="1" dirty="0">
                <a:solidFill>
                  <a:schemeClr val="tx1"/>
                </a:solidFill>
              </a:rPr>
              <a:t>Cercare soluzioni già trovate</a:t>
            </a:r>
            <a:endParaRPr lang="en-US" sz="1150" dirty="0"/>
          </a:p>
        </p:txBody>
      </p:sp>
      <p:sp>
        <p:nvSpPr>
          <p:cNvPr id="16" name="cella"/>
          <p:cNvSpPr/>
          <p:nvPr/>
        </p:nvSpPr>
        <p:spPr>
          <a:xfrm>
            <a:off x="2542032" y="1481328"/>
            <a:ext cx="1965960" cy="777240"/>
          </a:xfrm>
          <a:prstGeom prst="roundRect">
            <a:avLst>
              <a:gd name="adj" fmla="val 9412"/>
            </a:avLst>
          </a:prstGeom>
          <a:solidFill>
            <a:schemeClr val="bg2"/>
          </a:solidFill>
          <a:ln/>
        </p:spPr>
        <p:txBody>
          <a:bodyPr/>
          <a:lstStyle/>
          <a:p>
            <a:endParaRPr lang="it-IT"/>
          </a:p>
        </p:txBody>
      </p:sp>
      <p:sp>
        <p:nvSpPr>
          <p:cNvPr id="17" name="Text 14"/>
          <p:cNvSpPr txBox="1"/>
          <p:nvPr/>
        </p:nvSpPr>
        <p:spPr>
          <a:xfrm>
            <a:off x="2651760" y="1481328"/>
            <a:ext cx="1755648" cy="777240"/>
          </a:xfrm>
          <a:prstGeom prst="rect">
            <a:avLst/>
          </a:prstGeom>
          <a:noFill/>
          <a:ln/>
        </p:spPr>
        <p:txBody>
          <a:bodyPr wrap="square" lIns="0" tIns="0" rIns="0" bIns="0" rtlCol="0" anchor="ctr"/>
          <a:lstStyle/>
          <a:p>
            <a:pPr marL="0" indent="0">
              <a:buNone/>
            </a:pPr>
            <a:r>
              <a:rPr lang="en-US" sz="1150" dirty="0">
                <a:solidFill>
                  <a:schemeClr val="tx1"/>
                </a:solidFill>
              </a:rPr>
              <a:t>Conoscenza sparsa tra commesse, email, persone</a:t>
            </a:r>
            <a:endParaRPr lang="en-US" sz="1150" dirty="0"/>
          </a:p>
        </p:txBody>
      </p:sp>
      <p:sp>
        <p:nvSpPr>
          <p:cNvPr id="18" name="cella"/>
          <p:cNvSpPr/>
          <p:nvPr/>
        </p:nvSpPr>
        <p:spPr>
          <a:xfrm>
            <a:off x="4626864" y="1481328"/>
            <a:ext cx="1965960" cy="777240"/>
          </a:xfrm>
          <a:prstGeom prst="roundRect">
            <a:avLst>
              <a:gd name="adj" fmla="val 9412"/>
            </a:avLst>
          </a:prstGeom>
          <a:solidFill>
            <a:schemeClr val="bg2"/>
          </a:solidFill>
          <a:ln/>
        </p:spPr>
        <p:txBody>
          <a:bodyPr/>
          <a:lstStyle/>
          <a:p>
            <a:endParaRPr lang="it-IT"/>
          </a:p>
        </p:txBody>
      </p:sp>
      <p:sp>
        <p:nvSpPr>
          <p:cNvPr id="19" name="Text 16"/>
          <p:cNvSpPr txBox="1"/>
          <p:nvPr/>
        </p:nvSpPr>
        <p:spPr>
          <a:xfrm>
            <a:off x="4736592" y="1481328"/>
            <a:ext cx="1755648" cy="777240"/>
          </a:xfrm>
          <a:prstGeom prst="rect">
            <a:avLst/>
          </a:prstGeom>
          <a:noFill/>
          <a:ln/>
        </p:spPr>
        <p:txBody>
          <a:bodyPr wrap="square" lIns="0" tIns="0" rIns="0" bIns="0" rtlCol="0" anchor="ctr"/>
          <a:lstStyle/>
          <a:p>
            <a:pPr marL="0" indent="0">
              <a:buNone/>
            </a:pPr>
            <a:r>
              <a:rPr lang="en-US" sz="1150" dirty="0">
                <a:solidFill>
                  <a:schemeClr val="tx1"/>
                </a:solidFill>
              </a:rPr>
              <a:t>Archivio ordinato + assistente che cita i documenti</a:t>
            </a:r>
            <a:endParaRPr lang="en-US" sz="1150" dirty="0"/>
          </a:p>
        </p:txBody>
      </p:sp>
      <p:sp>
        <p:nvSpPr>
          <p:cNvPr id="20" name="cella"/>
          <p:cNvSpPr/>
          <p:nvPr/>
        </p:nvSpPr>
        <p:spPr>
          <a:xfrm>
            <a:off x="6711696" y="1481328"/>
            <a:ext cx="1965960" cy="777240"/>
          </a:xfrm>
          <a:prstGeom prst="roundRect">
            <a:avLst>
              <a:gd name="adj" fmla="val 9412"/>
            </a:avLst>
          </a:prstGeom>
          <a:solidFill>
            <a:schemeClr val="accent6"/>
          </a:solidFill>
          <a:ln/>
        </p:spPr>
        <p:txBody>
          <a:bodyPr/>
          <a:lstStyle/>
          <a:p>
            <a:endParaRPr lang="it-IT"/>
          </a:p>
        </p:txBody>
      </p:sp>
      <p:sp>
        <p:nvSpPr>
          <p:cNvPr id="21" name="Text 18"/>
          <p:cNvSpPr txBox="1"/>
          <p:nvPr/>
        </p:nvSpPr>
        <p:spPr>
          <a:xfrm>
            <a:off x="6821424" y="1481328"/>
            <a:ext cx="1755648" cy="777240"/>
          </a:xfrm>
          <a:prstGeom prst="rect">
            <a:avLst/>
          </a:prstGeom>
          <a:noFill/>
          <a:ln/>
        </p:spPr>
        <p:txBody>
          <a:bodyPr wrap="square" lIns="0" tIns="0" rIns="0" bIns="0" rtlCol="0" anchor="ctr"/>
          <a:lstStyle/>
          <a:p>
            <a:pPr marL="0" indent="0">
              <a:buNone/>
            </a:pPr>
            <a:r>
              <a:rPr lang="en-US" sz="1150" dirty="0">
                <a:solidFill>
                  <a:schemeClr val="tx1"/>
                </a:solidFill>
              </a:rPr>
              <a:t>AI sì, dopo aver messo ordine</a:t>
            </a:r>
            <a:endParaRPr lang="en-US" sz="1150" dirty="0"/>
          </a:p>
        </p:txBody>
      </p:sp>
      <p:sp>
        <p:nvSpPr>
          <p:cNvPr id="22" name="cella"/>
          <p:cNvSpPr/>
          <p:nvPr/>
        </p:nvSpPr>
        <p:spPr>
          <a:xfrm>
            <a:off x="457200" y="2350008"/>
            <a:ext cx="1965960" cy="777240"/>
          </a:xfrm>
          <a:prstGeom prst="roundRect">
            <a:avLst>
              <a:gd name="adj" fmla="val 9412"/>
            </a:avLst>
          </a:prstGeom>
          <a:solidFill>
            <a:schemeClr val="bg2"/>
          </a:solidFill>
          <a:ln/>
        </p:spPr>
        <p:txBody>
          <a:bodyPr/>
          <a:lstStyle/>
          <a:p>
            <a:endParaRPr lang="it-IT"/>
          </a:p>
        </p:txBody>
      </p:sp>
      <p:sp>
        <p:nvSpPr>
          <p:cNvPr id="23" name="Text 20"/>
          <p:cNvSpPr txBox="1"/>
          <p:nvPr/>
        </p:nvSpPr>
        <p:spPr>
          <a:xfrm>
            <a:off x="566928" y="2350008"/>
            <a:ext cx="1755648" cy="777240"/>
          </a:xfrm>
          <a:prstGeom prst="rect">
            <a:avLst/>
          </a:prstGeom>
          <a:noFill/>
          <a:ln/>
        </p:spPr>
        <p:txBody>
          <a:bodyPr wrap="square" lIns="0" tIns="0" rIns="0" bIns="0" rtlCol="0" anchor="ctr"/>
          <a:lstStyle/>
          <a:p>
            <a:pPr marL="0" indent="0">
              <a:buNone/>
            </a:pPr>
            <a:r>
              <a:rPr lang="en-US" sz="1150" b="1" dirty="0">
                <a:solidFill>
                  <a:schemeClr val="tx1"/>
                </a:solidFill>
              </a:rPr>
              <a:t>Ricopiare tra sistemi</a:t>
            </a:r>
            <a:endParaRPr lang="en-US" sz="1150" dirty="0"/>
          </a:p>
        </p:txBody>
      </p:sp>
      <p:sp>
        <p:nvSpPr>
          <p:cNvPr id="24" name="cella"/>
          <p:cNvSpPr/>
          <p:nvPr/>
        </p:nvSpPr>
        <p:spPr>
          <a:xfrm>
            <a:off x="2542032" y="2350008"/>
            <a:ext cx="1965960" cy="777240"/>
          </a:xfrm>
          <a:prstGeom prst="roundRect">
            <a:avLst>
              <a:gd name="adj" fmla="val 9412"/>
            </a:avLst>
          </a:prstGeom>
          <a:solidFill>
            <a:schemeClr val="bg2"/>
          </a:solidFill>
          <a:ln/>
        </p:spPr>
        <p:txBody>
          <a:bodyPr/>
          <a:lstStyle/>
          <a:p>
            <a:endParaRPr lang="it-IT"/>
          </a:p>
        </p:txBody>
      </p:sp>
      <p:sp>
        <p:nvSpPr>
          <p:cNvPr id="25" name="Text 22"/>
          <p:cNvSpPr txBox="1"/>
          <p:nvPr/>
        </p:nvSpPr>
        <p:spPr>
          <a:xfrm>
            <a:off x="2651760" y="2350008"/>
            <a:ext cx="1755648" cy="777240"/>
          </a:xfrm>
          <a:prstGeom prst="rect">
            <a:avLst/>
          </a:prstGeom>
          <a:noFill/>
          <a:ln/>
        </p:spPr>
        <p:txBody>
          <a:bodyPr wrap="square" lIns="0" tIns="0" rIns="0" bIns="0" rtlCol="0" anchor="ctr"/>
          <a:lstStyle/>
          <a:p>
            <a:pPr marL="0" indent="0">
              <a:buNone/>
            </a:pPr>
            <a:r>
              <a:rPr lang="en-US" sz="1150" dirty="0">
                <a:solidFill>
                  <a:schemeClr val="tx1"/>
                </a:solidFill>
              </a:rPr>
              <a:t>I sistemi non si parlano</a:t>
            </a:r>
            <a:endParaRPr lang="en-US" sz="1150" dirty="0"/>
          </a:p>
        </p:txBody>
      </p:sp>
      <p:sp>
        <p:nvSpPr>
          <p:cNvPr id="26" name="cella"/>
          <p:cNvSpPr/>
          <p:nvPr/>
        </p:nvSpPr>
        <p:spPr>
          <a:xfrm>
            <a:off x="4626864" y="2350008"/>
            <a:ext cx="1965960" cy="777240"/>
          </a:xfrm>
          <a:prstGeom prst="roundRect">
            <a:avLst>
              <a:gd name="adj" fmla="val 9412"/>
            </a:avLst>
          </a:prstGeom>
          <a:solidFill>
            <a:schemeClr val="bg2"/>
          </a:solidFill>
          <a:ln/>
        </p:spPr>
        <p:txBody>
          <a:bodyPr/>
          <a:lstStyle/>
          <a:p>
            <a:endParaRPr lang="it-IT"/>
          </a:p>
        </p:txBody>
      </p:sp>
      <p:sp>
        <p:nvSpPr>
          <p:cNvPr id="27" name="Text 24"/>
          <p:cNvSpPr txBox="1"/>
          <p:nvPr/>
        </p:nvSpPr>
        <p:spPr>
          <a:xfrm>
            <a:off x="4736592" y="2350008"/>
            <a:ext cx="1755648" cy="777240"/>
          </a:xfrm>
          <a:prstGeom prst="rect">
            <a:avLst/>
          </a:prstGeom>
          <a:noFill/>
          <a:ln/>
        </p:spPr>
        <p:txBody>
          <a:bodyPr wrap="square" lIns="0" tIns="0" rIns="0" bIns="0" rtlCol="0" anchor="ctr"/>
          <a:lstStyle/>
          <a:p>
            <a:pPr marL="0" indent="0">
              <a:buNone/>
            </a:pPr>
            <a:r>
              <a:rPr lang="en-US" sz="1150" dirty="0">
                <a:solidFill>
                  <a:schemeClr val="tx1"/>
                </a:solidFill>
              </a:rPr>
              <a:t>Modulo strutturato o integrazione</a:t>
            </a:r>
            <a:endParaRPr lang="en-US" sz="1150" dirty="0"/>
          </a:p>
        </p:txBody>
      </p:sp>
      <p:sp>
        <p:nvSpPr>
          <p:cNvPr id="28" name="cella"/>
          <p:cNvSpPr/>
          <p:nvPr/>
        </p:nvSpPr>
        <p:spPr>
          <a:xfrm>
            <a:off x="6711696" y="2350008"/>
            <a:ext cx="1965960" cy="777240"/>
          </a:xfrm>
          <a:prstGeom prst="roundRect">
            <a:avLst>
              <a:gd name="adj" fmla="val 9412"/>
            </a:avLst>
          </a:prstGeom>
          <a:solidFill>
            <a:schemeClr val="accent6"/>
          </a:solidFill>
          <a:ln/>
        </p:spPr>
        <p:txBody>
          <a:bodyPr/>
          <a:lstStyle/>
          <a:p>
            <a:endParaRPr lang="it-IT"/>
          </a:p>
        </p:txBody>
      </p:sp>
      <p:sp>
        <p:nvSpPr>
          <p:cNvPr id="29" name="Text 26"/>
          <p:cNvSpPr txBox="1"/>
          <p:nvPr/>
        </p:nvSpPr>
        <p:spPr>
          <a:xfrm>
            <a:off x="6821424" y="2350008"/>
            <a:ext cx="1755648" cy="777240"/>
          </a:xfrm>
          <a:prstGeom prst="rect">
            <a:avLst/>
          </a:prstGeom>
          <a:noFill/>
          <a:ln/>
        </p:spPr>
        <p:txBody>
          <a:bodyPr wrap="square" lIns="0" tIns="0" rIns="0" bIns="0" rtlCol="0" anchor="ctr"/>
          <a:lstStyle/>
          <a:p>
            <a:pPr marL="0" indent="0">
              <a:buNone/>
            </a:pPr>
            <a:r>
              <a:rPr lang="en-US" sz="1150" dirty="0">
                <a:solidFill>
                  <a:schemeClr val="tx1"/>
                </a:solidFill>
              </a:rPr>
              <a:t>Spesso senza AI</a:t>
            </a:r>
            <a:endParaRPr lang="en-US" sz="1150" dirty="0"/>
          </a:p>
        </p:txBody>
      </p:sp>
      <p:sp>
        <p:nvSpPr>
          <p:cNvPr id="30" name="cella"/>
          <p:cNvSpPr/>
          <p:nvPr/>
        </p:nvSpPr>
        <p:spPr>
          <a:xfrm>
            <a:off x="457200" y="3218688"/>
            <a:ext cx="1965960" cy="777240"/>
          </a:xfrm>
          <a:prstGeom prst="roundRect">
            <a:avLst>
              <a:gd name="adj" fmla="val 9412"/>
            </a:avLst>
          </a:prstGeom>
          <a:solidFill>
            <a:schemeClr val="bg2"/>
          </a:solidFill>
          <a:ln/>
        </p:spPr>
        <p:txBody>
          <a:bodyPr/>
          <a:lstStyle/>
          <a:p>
            <a:endParaRPr lang="it-IT"/>
          </a:p>
        </p:txBody>
      </p:sp>
      <p:sp>
        <p:nvSpPr>
          <p:cNvPr id="31" name="Text 28"/>
          <p:cNvSpPr txBox="1"/>
          <p:nvPr/>
        </p:nvSpPr>
        <p:spPr>
          <a:xfrm>
            <a:off x="566928" y="3218688"/>
            <a:ext cx="1755648" cy="777240"/>
          </a:xfrm>
          <a:prstGeom prst="rect">
            <a:avLst/>
          </a:prstGeom>
          <a:noFill/>
          <a:ln/>
        </p:spPr>
        <p:txBody>
          <a:bodyPr wrap="square" lIns="0" tIns="0" rIns="0" bIns="0" rtlCol="0" anchor="ctr"/>
          <a:lstStyle/>
          <a:p>
            <a:pPr marL="0" indent="0">
              <a:buNone/>
            </a:pPr>
            <a:r>
              <a:rPr lang="en-US" sz="1150" b="1" dirty="0">
                <a:solidFill>
                  <a:schemeClr val="tx1"/>
                </a:solidFill>
              </a:rPr>
              <a:t>Rifare offerte</a:t>
            </a:r>
            <a:endParaRPr lang="en-US" sz="1150" dirty="0"/>
          </a:p>
        </p:txBody>
      </p:sp>
      <p:sp>
        <p:nvSpPr>
          <p:cNvPr id="32" name="cella"/>
          <p:cNvSpPr/>
          <p:nvPr/>
        </p:nvSpPr>
        <p:spPr>
          <a:xfrm>
            <a:off x="2542032" y="3218688"/>
            <a:ext cx="1965960" cy="777240"/>
          </a:xfrm>
          <a:prstGeom prst="roundRect">
            <a:avLst>
              <a:gd name="adj" fmla="val 9412"/>
            </a:avLst>
          </a:prstGeom>
          <a:solidFill>
            <a:schemeClr val="bg2"/>
          </a:solidFill>
          <a:ln/>
        </p:spPr>
        <p:txBody>
          <a:bodyPr/>
          <a:lstStyle/>
          <a:p>
            <a:endParaRPr lang="it-IT"/>
          </a:p>
        </p:txBody>
      </p:sp>
      <p:sp>
        <p:nvSpPr>
          <p:cNvPr id="33" name="Text 30"/>
          <p:cNvSpPr txBox="1"/>
          <p:nvPr/>
        </p:nvSpPr>
        <p:spPr>
          <a:xfrm>
            <a:off x="2651760" y="3218688"/>
            <a:ext cx="1755648" cy="777240"/>
          </a:xfrm>
          <a:prstGeom prst="rect">
            <a:avLst/>
          </a:prstGeom>
          <a:noFill/>
          <a:ln/>
        </p:spPr>
        <p:txBody>
          <a:bodyPr wrap="square" lIns="0" tIns="0" rIns="0" bIns="0" rtlCol="0" anchor="ctr"/>
          <a:lstStyle/>
          <a:p>
            <a:pPr marL="0" indent="0">
              <a:buNone/>
            </a:pPr>
            <a:r>
              <a:rPr lang="en-US" sz="1150" dirty="0">
                <a:solidFill>
                  <a:schemeClr val="tx1"/>
                </a:solidFill>
              </a:rPr>
              <a:t>Capitolati lunghi e diversi</a:t>
            </a:r>
            <a:endParaRPr lang="en-US" sz="1150" dirty="0"/>
          </a:p>
        </p:txBody>
      </p:sp>
      <p:sp>
        <p:nvSpPr>
          <p:cNvPr id="34" name="cella"/>
          <p:cNvSpPr/>
          <p:nvPr/>
        </p:nvSpPr>
        <p:spPr>
          <a:xfrm>
            <a:off x="4626864" y="3218688"/>
            <a:ext cx="1965960" cy="777240"/>
          </a:xfrm>
          <a:prstGeom prst="roundRect">
            <a:avLst>
              <a:gd name="adj" fmla="val 9412"/>
            </a:avLst>
          </a:prstGeom>
          <a:solidFill>
            <a:schemeClr val="bg2"/>
          </a:solidFill>
          <a:ln/>
        </p:spPr>
        <p:txBody>
          <a:bodyPr/>
          <a:lstStyle/>
          <a:p>
            <a:endParaRPr lang="it-IT"/>
          </a:p>
        </p:txBody>
      </p:sp>
      <p:sp>
        <p:nvSpPr>
          <p:cNvPr id="35" name="Text 32"/>
          <p:cNvSpPr txBox="1"/>
          <p:nvPr/>
        </p:nvSpPr>
        <p:spPr>
          <a:xfrm>
            <a:off x="4736592" y="3218688"/>
            <a:ext cx="1755648" cy="777240"/>
          </a:xfrm>
          <a:prstGeom prst="rect">
            <a:avLst/>
          </a:prstGeom>
          <a:noFill/>
          <a:ln/>
        </p:spPr>
        <p:txBody>
          <a:bodyPr wrap="square" lIns="0" tIns="0" rIns="0" bIns="0" rtlCol="0" anchor="ctr"/>
          <a:lstStyle/>
          <a:p>
            <a:pPr marL="0" indent="0">
              <a:buNone/>
            </a:pPr>
            <a:r>
              <a:rPr lang="en-US" sz="1150" dirty="0">
                <a:solidFill>
                  <a:schemeClr val="tx1"/>
                </a:solidFill>
              </a:rPr>
              <a:t>Scheda requisiti + AI che estrae e segnala le lacune</a:t>
            </a:r>
            <a:endParaRPr lang="en-US" sz="1150" dirty="0"/>
          </a:p>
        </p:txBody>
      </p:sp>
      <p:sp>
        <p:nvSpPr>
          <p:cNvPr id="36" name="cella"/>
          <p:cNvSpPr/>
          <p:nvPr/>
        </p:nvSpPr>
        <p:spPr>
          <a:xfrm>
            <a:off x="6711696" y="3218688"/>
            <a:ext cx="1965960" cy="777240"/>
          </a:xfrm>
          <a:prstGeom prst="roundRect">
            <a:avLst>
              <a:gd name="adj" fmla="val 9412"/>
            </a:avLst>
          </a:prstGeom>
          <a:solidFill>
            <a:schemeClr val="accent6"/>
          </a:solidFill>
          <a:ln/>
        </p:spPr>
        <p:txBody>
          <a:bodyPr/>
          <a:lstStyle/>
          <a:p>
            <a:endParaRPr lang="it-IT"/>
          </a:p>
        </p:txBody>
      </p:sp>
      <p:sp>
        <p:nvSpPr>
          <p:cNvPr id="37" name="Text 34"/>
          <p:cNvSpPr txBox="1"/>
          <p:nvPr/>
        </p:nvSpPr>
        <p:spPr>
          <a:xfrm>
            <a:off x="6821424" y="3218688"/>
            <a:ext cx="1755648" cy="777240"/>
          </a:xfrm>
          <a:prstGeom prst="rect">
            <a:avLst/>
          </a:prstGeom>
          <a:noFill/>
          <a:ln/>
        </p:spPr>
        <p:txBody>
          <a:bodyPr wrap="square" lIns="0" tIns="0" rIns="0" bIns="0" rtlCol="0" anchor="ctr"/>
          <a:lstStyle/>
          <a:p>
            <a:pPr marL="0" indent="0">
              <a:buNone/>
            </a:pPr>
            <a:r>
              <a:rPr lang="en-US" sz="1150" dirty="0">
                <a:solidFill>
                  <a:schemeClr val="tx1"/>
                </a:solidFill>
              </a:rPr>
              <a:t>AI sì, la decisione resta al commerciale</a:t>
            </a:r>
            <a:endParaRPr lang="en-US" sz="1150" dirty="0"/>
          </a:p>
        </p:txBody>
      </p:sp>
      <p:sp>
        <p:nvSpPr>
          <p:cNvPr id="38" name="messaggio"/>
          <p:cNvSpPr/>
          <p:nvPr/>
        </p:nvSpPr>
        <p:spPr>
          <a:xfrm>
            <a:off x="457200" y="4114800"/>
            <a:ext cx="8229600" cy="411480"/>
          </a:xfrm>
          <a:prstGeom prst="roundRect">
            <a:avLst>
              <a:gd name="adj" fmla="val 17778"/>
            </a:avLst>
          </a:prstGeom>
          <a:solidFill>
            <a:schemeClr val="tx1"/>
          </a:solidFill>
          <a:ln/>
        </p:spPr>
        <p:txBody>
          <a:bodyPr/>
          <a:lstStyle/>
          <a:p>
            <a:endParaRPr lang="it-IT"/>
          </a:p>
        </p:txBody>
      </p:sp>
      <p:sp>
        <p:nvSpPr>
          <p:cNvPr id="39" name="Text 36"/>
          <p:cNvSpPr txBox="1"/>
          <p:nvPr/>
        </p:nvSpPr>
        <p:spPr>
          <a:xfrm>
            <a:off x="640080" y="4114800"/>
            <a:ext cx="7863840" cy="411480"/>
          </a:xfrm>
          <a:prstGeom prst="rect">
            <a:avLst/>
          </a:prstGeom>
          <a:noFill/>
          <a:ln/>
        </p:spPr>
        <p:txBody>
          <a:bodyPr wrap="square" lIns="0" tIns="0" rIns="0" bIns="0" rtlCol="0" anchor="ctr"/>
          <a:lstStyle/>
          <a:p>
            <a:pPr marL="0" indent="0">
              <a:buNone/>
            </a:pPr>
            <a:r>
              <a:rPr lang="en-US" sz="1300" dirty="0">
                <a:solidFill>
                  <a:schemeClr val="bg1"/>
                </a:solidFill>
              </a:rPr>
              <a:t>Prima il problema, poi lo strumento.</a:t>
            </a:r>
            <a:endParaRPr lang="en-US"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en-US" b="0"/>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E94AF-89C8-9E3C-256D-D26E6E2EE90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F8C2FA3-587A-30F4-E288-B6186F11EA30}"/>
              </a:ext>
            </a:extLst>
          </p:cNvPr>
          <p:cNvSpPr>
            <a:spLocks noGrp="1"/>
          </p:cNvSpPr>
          <p:nvPr>
            <p:ph type="body" idx="100" hasCustomPrompt="1"/>
          </p:nvPr>
        </p:nvSpPr>
        <p:spPr>
          <a:xfrm>
            <a:off x="640080" y="1097280"/>
            <a:ext cx="7863840" cy="365760"/>
          </a:xfrm>
          <a:prstGeom prst="rect">
            <a:avLst/>
          </a:prstGeom>
          <a:noFill/>
          <a:ln/>
        </p:spPr>
        <p:txBody>
          <a:bodyPr wrap="square" lIns="0" tIns="0" rIns="0" bIns="0" rtlCol="0"/>
          <a:lstStyle/>
          <a:p>
            <a:pPr marL="0" indent="0">
              <a:buNone/>
            </a:pPr>
            <a:r>
              <a:rPr lang="en-US" sz="1300" b="1" kern="0" spc="200" dirty="0">
                <a:solidFill>
                  <a:schemeClr val="accent1"/>
                </a:solidFill>
              </a:rPr>
              <a:t>AI ADOPTION  ·  LASER SRL  ·  SESSIONE 1 DI 3</a:t>
            </a:r>
            <a:endParaRPr lang="en-US" sz="1300" dirty="0"/>
          </a:p>
        </p:txBody>
      </p:sp>
      <p:sp>
        <p:nvSpPr>
          <p:cNvPr id="3" name="Text 0">
            <a:extLst>
              <a:ext uri="{FF2B5EF4-FFF2-40B4-BE49-F238E27FC236}">
                <a16:creationId xmlns:a16="http://schemas.microsoft.com/office/drawing/2014/main" id="{8456E560-D639-8863-55D4-0B102EFD8B83}"/>
              </a:ext>
            </a:extLst>
          </p:cNvPr>
          <p:cNvSpPr>
            <a:spLocks noGrp="1"/>
          </p:cNvSpPr>
          <p:nvPr>
            <p:ph type="title" idx="101" hasCustomPrompt="1"/>
          </p:nvPr>
        </p:nvSpPr>
        <p:spPr>
          <a:xfrm>
            <a:off x="640080" y="1554480"/>
            <a:ext cx="7863840" cy="1463040"/>
          </a:xfrm>
          <a:prstGeom prst="rect">
            <a:avLst/>
          </a:prstGeom>
          <a:noFill/>
          <a:ln/>
        </p:spPr>
        <p:txBody>
          <a:bodyPr wrap="square" lIns="0" tIns="0" rIns="0" bIns="0" rtlCol="0" anchor="t"/>
          <a:lstStyle/>
          <a:p>
            <a:pPr marL="0" indent="0" algn="l">
              <a:buNone/>
            </a:pPr>
            <a:r>
              <a:rPr lang="en-US" sz="3600" b="1" dirty="0">
                <a:solidFill>
                  <a:schemeClr val="bg1"/>
                </a:solidFill>
              </a:rPr>
              <a:t>Brainstorming </a:t>
            </a:r>
            <a:r>
              <a:rPr lang="en-US" sz="3600" b="1" dirty="0" err="1">
                <a:solidFill>
                  <a:schemeClr val="bg1"/>
                </a:solidFill>
              </a:rPr>
              <a:t>Guidato</a:t>
            </a:r>
            <a:endParaRPr lang="en-US" sz="3600" dirty="0"/>
          </a:p>
        </p:txBody>
      </p:sp>
      <p:sp>
        <p:nvSpPr>
          <p:cNvPr id="4" name="Text 0">
            <a:extLst>
              <a:ext uri="{FF2B5EF4-FFF2-40B4-BE49-F238E27FC236}">
                <a16:creationId xmlns:a16="http://schemas.microsoft.com/office/drawing/2014/main" id="{7E10C743-2E11-0D16-D17D-16F6237DD8F0}"/>
              </a:ext>
            </a:extLst>
          </p:cNvPr>
          <p:cNvSpPr>
            <a:spLocks noGrp="1"/>
          </p:cNvSpPr>
          <p:nvPr>
            <p:ph type="body" idx="102" hasCustomPrompt="1"/>
          </p:nvPr>
        </p:nvSpPr>
        <p:spPr>
          <a:xfrm>
            <a:off x="640080" y="3154680"/>
            <a:ext cx="7863840" cy="822960"/>
          </a:xfrm>
          <a:prstGeom prst="rect">
            <a:avLst/>
          </a:prstGeom>
          <a:noFill/>
          <a:ln/>
        </p:spPr>
        <p:txBody>
          <a:bodyPr wrap="square" lIns="0" tIns="0" rIns="0" bIns="0" rtlCol="0" anchor="t"/>
          <a:lstStyle/>
          <a:p>
            <a:pPr marL="0" indent="0">
              <a:buNone/>
            </a:pPr>
            <a:r>
              <a:rPr lang="en-US" dirty="0"/>
              <a:t>Brainstorming– </a:t>
            </a:r>
            <a:r>
              <a:rPr lang="en-US" dirty="0" err="1"/>
              <a:t>Giornata</a:t>
            </a:r>
            <a:r>
              <a:rPr lang="en-US" dirty="0"/>
              <a:t> 1</a:t>
            </a:r>
            <a:endParaRPr lang="en-US" sz="1600" dirty="0"/>
          </a:p>
        </p:txBody>
      </p:sp>
    </p:spTree>
    <p:extLst>
      <p:ext uri="{BB962C8B-B14F-4D97-AF65-F5344CB8AC3E}">
        <p14:creationId xmlns:p14="http://schemas.microsoft.com/office/powerpoint/2010/main" val="424460395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0">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Da provare prima della prossima sessione</a:t>
            </a:r>
            <a:endParaRPr lang="en-US" sz="2600" dirty="0"/>
          </a:p>
        </p:txBody>
      </p:sp>
      <p:sp>
        <p:nvSpPr>
          <p:cNvPr id="6" name="passo Scegliete"/>
          <p:cNvSpPr/>
          <p:nvPr/>
        </p:nvSpPr>
        <p:spPr>
          <a:xfrm>
            <a:off x="457200" y="1097280"/>
            <a:ext cx="1965960" cy="1920240"/>
          </a:xfrm>
          <a:prstGeom prst="roundRect">
            <a:avLst>
              <a:gd name="adj" fmla="val 3810"/>
            </a:avLst>
          </a:prstGeom>
          <a:solidFill>
            <a:schemeClr val="bg2"/>
          </a:solidFill>
          <a:ln/>
        </p:spPr>
        <p:txBody>
          <a:bodyPr/>
          <a:lstStyle/>
          <a:p>
            <a:endParaRPr lang="it-IT"/>
          </a:p>
        </p:txBody>
      </p:sp>
      <p:sp>
        <p:nvSpPr>
          <p:cNvPr id="7" name="cerchio FiTarget"/>
          <p:cNvSpPr/>
          <p:nvPr/>
        </p:nvSpPr>
        <p:spPr>
          <a:xfrm>
            <a:off x="640080" y="1234440"/>
            <a:ext cx="502920" cy="502920"/>
          </a:xfrm>
          <a:prstGeom prst="ellipse">
            <a:avLst/>
          </a:prstGeom>
          <a:solidFill>
            <a:schemeClr val="accent1"/>
          </a:solidFill>
          <a:ln/>
        </p:spPr>
        <p:txBody>
          <a:bodyPr/>
          <a:lstStyle/>
          <a:p>
            <a:endParaRPr lang="it-IT"/>
          </a:p>
        </p:txBody>
      </p:sp>
      <p:pic>
        <p:nvPicPr>
          <p:cNvPr id="8" name="Image 0" descr="FiTarget"/>
          <p:cNvPicPr>
            <a:picLocks noChangeAspect="1"/>
          </p:cNvPicPr>
          <p:nvPr/>
        </p:nvPicPr>
        <p:blipFill>
          <a:blip r:embed="rId3"/>
          <a:stretch>
            <a:fillRect/>
          </a:stretch>
        </p:blipFill>
        <p:spPr>
          <a:xfrm>
            <a:off x="765810" y="1360170"/>
            <a:ext cx="251460" cy="251460"/>
          </a:xfrm>
          <a:prstGeom prst="rect">
            <a:avLst/>
          </a:prstGeom>
        </p:spPr>
      </p:pic>
      <p:sp>
        <p:nvSpPr>
          <p:cNvPr id="9" name="Text 5"/>
          <p:cNvSpPr txBox="1"/>
          <p:nvPr/>
        </p:nvSpPr>
        <p:spPr>
          <a:xfrm>
            <a:off x="640080" y="1847088"/>
            <a:ext cx="1645920" cy="320040"/>
          </a:xfrm>
          <a:prstGeom prst="rect">
            <a:avLst/>
          </a:prstGeom>
          <a:noFill/>
          <a:ln/>
        </p:spPr>
        <p:txBody>
          <a:bodyPr wrap="square" lIns="0" tIns="0" rIns="0" bIns="0" rtlCol="0" anchor="t"/>
          <a:lstStyle/>
          <a:p>
            <a:pPr marL="0" indent="0">
              <a:buNone/>
            </a:pPr>
            <a:r>
              <a:rPr lang="en-US" sz="1500" b="1" dirty="0">
                <a:solidFill>
                  <a:schemeClr val="tx1"/>
                </a:solidFill>
              </a:rPr>
              <a:t>Scegliete</a:t>
            </a:r>
            <a:endParaRPr lang="en-US" sz="1500" dirty="0"/>
          </a:p>
        </p:txBody>
      </p:sp>
      <p:sp>
        <p:nvSpPr>
          <p:cNvPr id="10" name="Text 6"/>
          <p:cNvSpPr txBox="1"/>
          <p:nvPr/>
        </p:nvSpPr>
        <p:spPr>
          <a:xfrm>
            <a:off x="640080" y="2194560"/>
            <a:ext cx="1645920" cy="731520"/>
          </a:xfrm>
          <a:prstGeom prst="rect">
            <a:avLst/>
          </a:prstGeom>
          <a:noFill/>
          <a:ln/>
        </p:spPr>
        <p:txBody>
          <a:bodyPr wrap="square" lIns="0" tIns="0" rIns="0" bIns="0" rtlCol="0" anchor="t"/>
          <a:lstStyle/>
          <a:p>
            <a:pPr marL="0" indent="0">
              <a:buNone/>
            </a:pPr>
            <a:r>
              <a:rPr lang="en-US" sz="1250" dirty="0">
                <a:solidFill>
                  <a:schemeClr val="tx2"/>
                </a:solidFill>
              </a:rPr>
              <a:t>Un'attività reale e non riservata</a:t>
            </a:r>
            <a:endParaRPr lang="en-US" sz="1250" dirty="0"/>
          </a:p>
        </p:txBody>
      </p:sp>
      <p:sp>
        <p:nvSpPr>
          <p:cNvPr id="11" name="passo Provate"/>
          <p:cNvSpPr/>
          <p:nvPr/>
        </p:nvSpPr>
        <p:spPr>
          <a:xfrm>
            <a:off x="2542032" y="1097280"/>
            <a:ext cx="1965960" cy="1920240"/>
          </a:xfrm>
          <a:prstGeom prst="roundRect">
            <a:avLst>
              <a:gd name="adj" fmla="val 3810"/>
            </a:avLst>
          </a:prstGeom>
          <a:solidFill>
            <a:schemeClr val="bg2"/>
          </a:solidFill>
          <a:ln/>
        </p:spPr>
        <p:txBody>
          <a:bodyPr/>
          <a:lstStyle/>
          <a:p>
            <a:endParaRPr lang="it-IT"/>
          </a:p>
        </p:txBody>
      </p:sp>
      <p:sp>
        <p:nvSpPr>
          <p:cNvPr id="12" name="cerchio FiPlay"/>
          <p:cNvSpPr/>
          <p:nvPr/>
        </p:nvSpPr>
        <p:spPr>
          <a:xfrm>
            <a:off x="2724912" y="1234440"/>
            <a:ext cx="502920" cy="502920"/>
          </a:xfrm>
          <a:prstGeom prst="ellipse">
            <a:avLst/>
          </a:prstGeom>
          <a:solidFill>
            <a:schemeClr val="accent1"/>
          </a:solidFill>
          <a:ln/>
        </p:spPr>
        <p:txBody>
          <a:bodyPr/>
          <a:lstStyle/>
          <a:p>
            <a:endParaRPr lang="it-IT"/>
          </a:p>
        </p:txBody>
      </p:sp>
      <p:pic>
        <p:nvPicPr>
          <p:cNvPr id="13" name="Image 1" descr="FiPlay"/>
          <p:cNvPicPr>
            <a:picLocks noChangeAspect="1"/>
          </p:cNvPicPr>
          <p:nvPr/>
        </p:nvPicPr>
        <p:blipFill>
          <a:blip r:embed="rId4"/>
          <a:stretch>
            <a:fillRect/>
          </a:stretch>
        </p:blipFill>
        <p:spPr>
          <a:xfrm>
            <a:off x="2850642" y="1360170"/>
            <a:ext cx="251460" cy="251460"/>
          </a:xfrm>
          <a:prstGeom prst="rect">
            <a:avLst/>
          </a:prstGeom>
        </p:spPr>
      </p:pic>
      <p:sp>
        <p:nvSpPr>
          <p:cNvPr id="14" name="Text 9"/>
          <p:cNvSpPr txBox="1"/>
          <p:nvPr/>
        </p:nvSpPr>
        <p:spPr>
          <a:xfrm>
            <a:off x="2724912" y="1847088"/>
            <a:ext cx="1645920" cy="320040"/>
          </a:xfrm>
          <a:prstGeom prst="rect">
            <a:avLst/>
          </a:prstGeom>
          <a:noFill/>
          <a:ln/>
        </p:spPr>
        <p:txBody>
          <a:bodyPr wrap="square" lIns="0" tIns="0" rIns="0" bIns="0" rtlCol="0" anchor="t"/>
          <a:lstStyle/>
          <a:p>
            <a:pPr marL="0" indent="0">
              <a:buNone/>
            </a:pPr>
            <a:r>
              <a:rPr lang="en-US" sz="1500" b="1" dirty="0">
                <a:solidFill>
                  <a:schemeClr val="tx1"/>
                </a:solidFill>
              </a:rPr>
              <a:t>Provate</a:t>
            </a:r>
            <a:endParaRPr lang="en-US" sz="1500" dirty="0"/>
          </a:p>
        </p:txBody>
      </p:sp>
      <p:sp>
        <p:nvSpPr>
          <p:cNvPr id="15" name="Text 10"/>
          <p:cNvSpPr txBox="1"/>
          <p:nvPr/>
        </p:nvSpPr>
        <p:spPr>
          <a:xfrm>
            <a:off x="2724912" y="2194560"/>
            <a:ext cx="1645920" cy="731520"/>
          </a:xfrm>
          <a:prstGeom prst="rect">
            <a:avLst/>
          </a:prstGeom>
          <a:noFill/>
          <a:ln/>
        </p:spPr>
        <p:txBody>
          <a:bodyPr wrap="square" lIns="0" tIns="0" rIns="0" bIns="0" rtlCol="0" anchor="t"/>
          <a:lstStyle/>
          <a:p>
            <a:pPr marL="0" indent="0">
              <a:buNone/>
            </a:pPr>
            <a:r>
              <a:rPr lang="en-US" sz="1250" dirty="0">
                <a:solidFill>
                  <a:schemeClr val="tx2"/>
                </a:solidFill>
              </a:rPr>
              <a:t>Con Copilot, lo strumento autorizzato</a:t>
            </a:r>
            <a:endParaRPr lang="en-US" sz="1250" dirty="0"/>
          </a:p>
        </p:txBody>
      </p:sp>
      <p:sp>
        <p:nvSpPr>
          <p:cNvPr id="16" name="passo Annotate"/>
          <p:cNvSpPr/>
          <p:nvPr/>
        </p:nvSpPr>
        <p:spPr>
          <a:xfrm>
            <a:off x="4626864" y="1097280"/>
            <a:ext cx="1965960" cy="1920240"/>
          </a:xfrm>
          <a:prstGeom prst="roundRect">
            <a:avLst>
              <a:gd name="adj" fmla="val 3810"/>
            </a:avLst>
          </a:prstGeom>
          <a:solidFill>
            <a:schemeClr val="bg2"/>
          </a:solidFill>
          <a:ln/>
        </p:spPr>
        <p:txBody>
          <a:bodyPr/>
          <a:lstStyle/>
          <a:p>
            <a:endParaRPr lang="it-IT"/>
          </a:p>
        </p:txBody>
      </p:sp>
      <p:sp>
        <p:nvSpPr>
          <p:cNvPr id="17" name="cerchio FiClipboard"/>
          <p:cNvSpPr/>
          <p:nvPr/>
        </p:nvSpPr>
        <p:spPr>
          <a:xfrm>
            <a:off x="4809744" y="1234440"/>
            <a:ext cx="502920" cy="502920"/>
          </a:xfrm>
          <a:prstGeom prst="ellipse">
            <a:avLst/>
          </a:prstGeom>
          <a:solidFill>
            <a:schemeClr val="accent1"/>
          </a:solidFill>
          <a:ln/>
        </p:spPr>
        <p:txBody>
          <a:bodyPr/>
          <a:lstStyle/>
          <a:p>
            <a:endParaRPr lang="it-IT"/>
          </a:p>
        </p:txBody>
      </p:sp>
      <p:pic>
        <p:nvPicPr>
          <p:cNvPr id="18" name="Image 2" descr="FiClipboard"/>
          <p:cNvPicPr>
            <a:picLocks noChangeAspect="1"/>
          </p:cNvPicPr>
          <p:nvPr/>
        </p:nvPicPr>
        <p:blipFill>
          <a:blip r:embed="rId5"/>
          <a:stretch>
            <a:fillRect/>
          </a:stretch>
        </p:blipFill>
        <p:spPr>
          <a:xfrm>
            <a:off x="4935474" y="1360170"/>
            <a:ext cx="251460" cy="251460"/>
          </a:xfrm>
          <a:prstGeom prst="rect">
            <a:avLst/>
          </a:prstGeom>
        </p:spPr>
      </p:pic>
      <p:sp>
        <p:nvSpPr>
          <p:cNvPr id="19" name="Text 13"/>
          <p:cNvSpPr txBox="1"/>
          <p:nvPr/>
        </p:nvSpPr>
        <p:spPr>
          <a:xfrm>
            <a:off x="4809744" y="1847088"/>
            <a:ext cx="1645920" cy="320040"/>
          </a:xfrm>
          <a:prstGeom prst="rect">
            <a:avLst/>
          </a:prstGeom>
          <a:noFill/>
          <a:ln/>
        </p:spPr>
        <p:txBody>
          <a:bodyPr wrap="square" lIns="0" tIns="0" rIns="0" bIns="0" rtlCol="0" anchor="t"/>
          <a:lstStyle/>
          <a:p>
            <a:pPr marL="0" indent="0">
              <a:buNone/>
            </a:pPr>
            <a:r>
              <a:rPr lang="en-US" sz="1500" b="1" dirty="0">
                <a:solidFill>
                  <a:schemeClr val="tx1"/>
                </a:solidFill>
              </a:rPr>
              <a:t>Annotate</a:t>
            </a:r>
            <a:endParaRPr lang="en-US" sz="1500" dirty="0"/>
          </a:p>
        </p:txBody>
      </p:sp>
      <p:sp>
        <p:nvSpPr>
          <p:cNvPr id="20" name="Text 14"/>
          <p:cNvSpPr txBox="1"/>
          <p:nvPr/>
        </p:nvSpPr>
        <p:spPr>
          <a:xfrm>
            <a:off x="4809744" y="2194560"/>
            <a:ext cx="1645920" cy="731520"/>
          </a:xfrm>
          <a:prstGeom prst="rect">
            <a:avLst/>
          </a:prstGeom>
          <a:noFill/>
          <a:ln/>
        </p:spPr>
        <p:txBody>
          <a:bodyPr wrap="square" lIns="0" tIns="0" rIns="0" bIns="0" rtlCol="0" anchor="t"/>
          <a:lstStyle/>
          <a:p>
            <a:pPr marL="0" indent="0">
              <a:buNone/>
            </a:pPr>
            <a:r>
              <a:rPr lang="en-US" sz="1250" dirty="0">
                <a:solidFill>
                  <a:schemeClr val="tx2"/>
                </a:solidFill>
              </a:rPr>
              <a:t>Richiesta, risultato, errori, tempo</a:t>
            </a:r>
            <a:endParaRPr lang="en-US" sz="1250" dirty="0"/>
          </a:p>
        </p:txBody>
      </p:sp>
      <p:sp>
        <p:nvSpPr>
          <p:cNvPr id="21" name="passo Raccontate"/>
          <p:cNvSpPr/>
          <p:nvPr/>
        </p:nvSpPr>
        <p:spPr>
          <a:xfrm>
            <a:off x="6711696" y="1097280"/>
            <a:ext cx="1965960" cy="1920240"/>
          </a:xfrm>
          <a:prstGeom prst="roundRect">
            <a:avLst>
              <a:gd name="adj" fmla="val 3810"/>
            </a:avLst>
          </a:prstGeom>
          <a:solidFill>
            <a:schemeClr val="bg2"/>
          </a:solidFill>
          <a:ln/>
        </p:spPr>
        <p:txBody>
          <a:bodyPr/>
          <a:lstStyle/>
          <a:p>
            <a:endParaRPr lang="it-IT"/>
          </a:p>
        </p:txBody>
      </p:sp>
      <p:sp>
        <p:nvSpPr>
          <p:cNvPr id="22" name="cerchio FiMessageSquare"/>
          <p:cNvSpPr/>
          <p:nvPr/>
        </p:nvSpPr>
        <p:spPr>
          <a:xfrm>
            <a:off x="6894576" y="1234440"/>
            <a:ext cx="502920" cy="502920"/>
          </a:xfrm>
          <a:prstGeom prst="ellipse">
            <a:avLst/>
          </a:prstGeom>
          <a:solidFill>
            <a:schemeClr val="accent1"/>
          </a:solidFill>
          <a:ln/>
        </p:spPr>
        <p:txBody>
          <a:bodyPr/>
          <a:lstStyle/>
          <a:p>
            <a:endParaRPr lang="it-IT"/>
          </a:p>
        </p:txBody>
      </p:sp>
      <p:pic>
        <p:nvPicPr>
          <p:cNvPr id="23" name="Image 3" descr="FiMessageSquare"/>
          <p:cNvPicPr>
            <a:picLocks noChangeAspect="1"/>
          </p:cNvPicPr>
          <p:nvPr/>
        </p:nvPicPr>
        <p:blipFill>
          <a:blip r:embed="rId6"/>
          <a:stretch>
            <a:fillRect/>
          </a:stretch>
        </p:blipFill>
        <p:spPr>
          <a:xfrm>
            <a:off x="7020306" y="1360170"/>
            <a:ext cx="251460" cy="251460"/>
          </a:xfrm>
          <a:prstGeom prst="rect">
            <a:avLst/>
          </a:prstGeom>
        </p:spPr>
      </p:pic>
      <p:sp>
        <p:nvSpPr>
          <p:cNvPr id="24" name="Text 17"/>
          <p:cNvSpPr txBox="1"/>
          <p:nvPr/>
        </p:nvSpPr>
        <p:spPr>
          <a:xfrm>
            <a:off x="6894576" y="1847088"/>
            <a:ext cx="1645920" cy="320040"/>
          </a:xfrm>
          <a:prstGeom prst="rect">
            <a:avLst/>
          </a:prstGeom>
          <a:noFill/>
          <a:ln/>
        </p:spPr>
        <p:txBody>
          <a:bodyPr wrap="square" lIns="0" tIns="0" rIns="0" bIns="0" rtlCol="0" anchor="t"/>
          <a:lstStyle/>
          <a:p>
            <a:pPr marL="0" indent="0">
              <a:buNone/>
            </a:pPr>
            <a:r>
              <a:rPr lang="en-US" sz="1500" b="1" dirty="0">
                <a:solidFill>
                  <a:schemeClr val="tx1"/>
                </a:solidFill>
              </a:rPr>
              <a:t>Raccontate</a:t>
            </a:r>
            <a:endParaRPr lang="en-US" sz="1500" dirty="0"/>
          </a:p>
        </p:txBody>
      </p:sp>
      <p:sp>
        <p:nvSpPr>
          <p:cNvPr id="25" name="Text 18"/>
          <p:cNvSpPr txBox="1"/>
          <p:nvPr/>
        </p:nvSpPr>
        <p:spPr>
          <a:xfrm>
            <a:off x="6894576" y="2194560"/>
            <a:ext cx="1645920" cy="731520"/>
          </a:xfrm>
          <a:prstGeom prst="rect">
            <a:avLst/>
          </a:prstGeom>
          <a:noFill/>
          <a:ln/>
        </p:spPr>
        <p:txBody>
          <a:bodyPr wrap="square" lIns="0" tIns="0" rIns="0" bIns="0" rtlCol="0" anchor="t"/>
          <a:lstStyle/>
          <a:p>
            <a:pPr marL="0" indent="0">
              <a:buNone/>
            </a:pPr>
            <a:r>
              <a:rPr lang="en-US" sz="1250" dirty="0">
                <a:solidFill>
                  <a:schemeClr val="tx2"/>
                </a:solidFill>
              </a:rPr>
              <a:t>All'inizio della sessione 2</a:t>
            </a:r>
            <a:endParaRPr lang="en-US" sz="1250" dirty="0"/>
          </a:p>
        </p:txBody>
      </p:sp>
      <p:sp>
        <p:nvSpPr>
          <p:cNvPr id="26" name="scheda Le regole di oggi"/>
          <p:cNvSpPr/>
          <p:nvPr/>
        </p:nvSpPr>
        <p:spPr>
          <a:xfrm>
            <a:off x="457200" y="3200400"/>
            <a:ext cx="8229600" cy="1234440"/>
          </a:xfrm>
          <a:prstGeom prst="roundRect">
            <a:avLst>
              <a:gd name="adj" fmla="val 5926"/>
            </a:avLst>
          </a:prstGeom>
          <a:solidFill>
            <a:schemeClr val="accent6"/>
          </a:solidFill>
          <a:ln/>
        </p:spPr>
        <p:txBody>
          <a:bodyPr/>
          <a:lstStyle/>
          <a:p>
            <a:endParaRPr lang="it-IT"/>
          </a:p>
        </p:txBody>
      </p:sp>
      <p:sp>
        <p:nvSpPr>
          <p:cNvPr id="27" name="cerchio FiShield"/>
          <p:cNvSpPr/>
          <p:nvPr/>
        </p:nvSpPr>
        <p:spPr>
          <a:xfrm>
            <a:off x="640080" y="3383280"/>
            <a:ext cx="457200" cy="457200"/>
          </a:xfrm>
          <a:prstGeom prst="ellipse">
            <a:avLst/>
          </a:prstGeom>
          <a:solidFill>
            <a:schemeClr val="accent1"/>
          </a:solidFill>
          <a:ln/>
        </p:spPr>
        <p:txBody>
          <a:bodyPr/>
          <a:lstStyle/>
          <a:p>
            <a:endParaRPr lang="it-IT"/>
          </a:p>
        </p:txBody>
      </p:sp>
      <p:pic>
        <p:nvPicPr>
          <p:cNvPr id="28" name="Image 4" descr="FiShield"/>
          <p:cNvPicPr>
            <a:picLocks noChangeAspect="1"/>
          </p:cNvPicPr>
          <p:nvPr/>
        </p:nvPicPr>
        <p:blipFill>
          <a:blip r:embed="rId7"/>
          <a:stretch>
            <a:fillRect/>
          </a:stretch>
        </p:blipFill>
        <p:spPr>
          <a:xfrm>
            <a:off x="754380" y="3497580"/>
            <a:ext cx="228600" cy="228600"/>
          </a:xfrm>
          <a:prstGeom prst="rect">
            <a:avLst/>
          </a:prstGeom>
        </p:spPr>
      </p:pic>
      <p:sp>
        <p:nvSpPr>
          <p:cNvPr id="29" name="Text 21"/>
          <p:cNvSpPr txBox="1"/>
          <p:nvPr/>
        </p:nvSpPr>
        <p:spPr>
          <a:xfrm>
            <a:off x="1234440" y="3383280"/>
            <a:ext cx="7269480" cy="457200"/>
          </a:xfrm>
          <a:prstGeom prst="rect">
            <a:avLst/>
          </a:prstGeom>
          <a:noFill/>
          <a:ln/>
        </p:spPr>
        <p:txBody>
          <a:bodyPr wrap="square" lIns="0" tIns="0" rIns="0" bIns="0" rtlCol="0" anchor="ctr"/>
          <a:lstStyle/>
          <a:p>
            <a:pPr marL="0" indent="0">
              <a:buNone/>
            </a:pPr>
            <a:r>
              <a:rPr lang="en-US" sz="1400" b="1" dirty="0">
                <a:solidFill>
                  <a:schemeClr val="tx1"/>
                </a:solidFill>
              </a:rPr>
              <a:t>Le regole di oggi</a:t>
            </a:r>
            <a:endParaRPr lang="en-US" sz="1400" dirty="0"/>
          </a:p>
        </p:txBody>
      </p:sp>
      <p:sp>
        <p:nvSpPr>
          <p:cNvPr id="30" name="Text 22"/>
          <p:cNvSpPr txBox="1"/>
          <p:nvPr/>
        </p:nvSpPr>
        <p:spPr>
          <a:xfrm>
            <a:off x="640080" y="3977640"/>
            <a:ext cx="7863840" cy="347472"/>
          </a:xfrm>
          <a:prstGeom prst="rect">
            <a:avLst/>
          </a:prstGeom>
          <a:noFill/>
          <a:ln/>
        </p:spPr>
        <p:txBody>
          <a:bodyPr wrap="square" lIns="0" tIns="0" rIns="0" bIns="0" rtlCol="0" anchor="t"/>
          <a:lstStyle/>
          <a:p>
            <a:pPr marL="0" indent="0">
              <a:buNone/>
            </a:pPr>
            <a:r>
              <a:rPr lang="en-US" sz="1300" dirty="0">
                <a:solidFill>
                  <a:schemeClr val="tx2"/>
                </a:solidFill>
              </a:rPr>
              <a:t>Niente dati riservati o personali, nessun nome di cliente, solo strumenti autorizzati. Verificate sempre il risultato prima di usarlo.</a:t>
            </a:r>
            <a:endParaRPr lang="en-US" sz="13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en-US" b="0"/>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640080"/>
          </a:xfrm>
          <a:prstGeom prst="rect">
            <a:avLst/>
          </a:prstGeom>
          <a:noFill/>
          <a:ln/>
        </p:spPr>
        <p:txBody>
          <a:bodyPr wrap="square" lIns="0" tIns="0" rIns="0" bIns="0" rtlCol="0" anchor="ctr"/>
          <a:lstStyle/>
          <a:p>
            <a:pPr marL="0" indent="0" algn="l">
              <a:buNone/>
            </a:pPr>
            <a:r>
              <a:rPr lang="en-US" sz="2600" b="1" dirty="0">
                <a:solidFill>
                  <a:schemeClr val="tx1"/>
                </a:solidFill>
              </a:rPr>
              <a:t>Che cosa abbiamo visto oggi</a:t>
            </a:r>
            <a:endParaRPr lang="en-US" sz="2600" dirty="0"/>
          </a:p>
        </p:txBody>
      </p:sp>
      <p:sp>
        <p:nvSpPr>
          <p:cNvPr id="6" name="punto 1"/>
          <p:cNvSpPr/>
          <p:nvPr/>
        </p:nvSpPr>
        <p:spPr>
          <a:xfrm>
            <a:off x="457200" y="1024128"/>
            <a:ext cx="5577840" cy="475488"/>
          </a:xfrm>
          <a:prstGeom prst="roundRect">
            <a:avLst>
              <a:gd name="adj" fmla="val 15385"/>
            </a:avLst>
          </a:prstGeom>
          <a:solidFill>
            <a:schemeClr val="bg2"/>
          </a:solidFill>
          <a:ln/>
        </p:spPr>
        <p:txBody>
          <a:bodyPr/>
          <a:lstStyle/>
          <a:p>
            <a:endParaRPr lang="it-IT"/>
          </a:p>
        </p:txBody>
      </p:sp>
      <p:sp>
        <p:nvSpPr>
          <p:cNvPr id="7" name="Text 4"/>
          <p:cNvSpPr txBox="1"/>
          <p:nvPr/>
        </p:nvSpPr>
        <p:spPr>
          <a:xfrm>
            <a:off x="566928" y="1024128"/>
            <a:ext cx="320040" cy="475488"/>
          </a:xfrm>
          <a:prstGeom prst="rect">
            <a:avLst/>
          </a:prstGeom>
          <a:noFill/>
          <a:ln/>
        </p:spPr>
        <p:txBody>
          <a:bodyPr wrap="square" lIns="0" tIns="0" rIns="0" bIns="0" rtlCol="0" anchor="ctr"/>
          <a:lstStyle/>
          <a:p>
            <a:pPr marL="0" indent="0">
              <a:buNone/>
            </a:pPr>
            <a:r>
              <a:rPr lang="en-US" sz="1500" b="1" dirty="0">
                <a:solidFill>
                  <a:schemeClr val="accent1"/>
                </a:solidFill>
              </a:rPr>
              <a:t>1</a:t>
            </a:r>
            <a:endParaRPr lang="en-US" sz="1500" dirty="0"/>
          </a:p>
        </p:txBody>
      </p:sp>
      <p:sp>
        <p:nvSpPr>
          <p:cNvPr id="8" name="Text 5"/>
          <p:cNvSpPr txBox="1"/>
          <p:nvPr/>
        </p:nvSpPr>
        <p:spPr>
          <a:xfrm>
            <a:off x="914400" y="1024128"/>
            <a:ext cx="5029200" cy="475488"/>
          </a:xfrm>
          <a:prstGeom prst="rect">
            <a:avLst/>
          </a:prstGeom>
          <a:noFill/>
          <a:ln/>
        </p:spPr>
        <p:txBody>
          <a:bodyPr wrap="square" lIns="0" tIns="0" rIns="0" bIns="0" rtlCol="0" anchor="ctr"/>
          <a:lstStyle/>
          <a:p>
            <a:pPr marL="0" indent="0">
              <a:buNone/>
            </a:pPr>
            <a:r>
              <a:rPr lang="en-US" sz="1200" dirty="0">
                <a:solidFill>
                  <a:schemeClr val="tx1"/>
                </a:solidFill>
              </a:rPr>
              <a:t>L’AI </a:t>
            </a:r>
            <a:r>
              <a:rPr lang="en-US" sz="1200" dirty="0" err="1">
                <a:solidFill>
                  <a:schemeClr val="tx1"/>
                </a:solidFill>
              </a:rPr>
              <a:t>offre</a:t>
            </a:r>
            <a:r>
              <a:rPr lang="en-US" sz="1200" dirty="0">
                <a:solidFill>
                  <a:schemeClr val="tx1"/>
                </a:solidFill>
              </a:rPr>
              <a:t> </a:t>
            </a:r>
            <a:r>
              <a:rPr lang="en-US" sz="1200" dirty="0" err="1">
                <a:solidFill>
                  <a:schemeClr val="tx1"/>
                </a:solidFill>
              </a:rPr>
              <a:t>capacità</a:t>
            </a:r>
            <a:r>
              <a:rPr lang="en-US" sz="1200" dirty="0">
                <a:solidFill>
                  <a:schemeClr val="tx1"/>
                </a:solidFill>
              </a:rPr>
              <a:t> </a:t>
            </a:r>
            <a:r>
              <a:rPr lang="en-US" sz="1200" dirty="0" err="1">
                <a:solidFill>
                  <a:schemeClr val="tx1"/>
                </a:solidFill>
              </a:rPr>
              <a:t>che</a:t>
            </a:r>
            <a:r>
              <a:rPr lang="en-US" sz="1200" dirty="0">
                <a:solidFill>
                  <a:schemeClr val="tx1"/>
                </a:solidFill>
              </a:rPr>
              <a:t> </a:t>
            </a:r>
            <a:r>
              <a:rPr lang="en-US" sz="1200" dirty="0" err="1">
                <a:solidFill>
                  <a:schemeClr val="tx1"/>
                </a:solidFill>
              </a:rPr>
              <a:t>possono</a:t>
            </a:r>
            <a:r>
              <a:rPr lang="en-US" sz="1200" dirty="0">
                <a:solidFill>
                  <a:schemeClr val="tx1"/>
                </a:solidFill>
              </a:rPr>
              <a:t> </a:t>
            </a:r>
            <a:r>
              <a:rPr lang="en-US" sz="1200" dirty="0" err="1">
                <a:solidFill>
                  <a:schemeClr val="tx1"/>
                </a:solidFill>
              </a:rPr>
              <a:t>ampliare</a:t>
            </a:r>
            <a:r>
              <a:rPr lang="en-US" sz="1200" dirty="0">
                <a:solidFill>
                  <a:schemeClr val="tx1"/>
                </a:solidFill>
              </a:rPr>
              <a:t> il Lavoro di </a:t>
            </a:r>
            <a:r>
              <a:rPr lang="en-US" sz="1200" dirty="0" err="1">
                <a:solidFill>
                  <a:schemeClr val="tx1"/>
                </a:solidFill>
              </a:rPr>
              <a:t>persone</a:t>
            </a:r>
            <a:r>
              <a:rPr lang="en-US" sz="1200" dirty="0">
                <a:solidFill>
                  <a:schemeClr val="tx1"/>
                </a:solidFill>
              </a:rPr>
              <a:t> e </a:t>
            </a:r>
            <a:r>
              <a:rPr lang="en-US" sz="1200" dirty="0" err="1">
                <a:solidFill>
                  <a:schemeClr val="tx1"/>
                </a:solidFill>
              </a:rPr>
              <a:t>organizzazioni</a:t>
            </a:r>
            <a:endParaRPr lang="en-US" sz="1200" dirty="0"/>
          </a:p>
        </p:txBody>
      </p:sp>
      <p:sp>
        <p:nvSpPr>
          <p:cNvPr id="9" name="punto 2"/>
          <p:cNvSpPr/>
          <p:nvPr/>
        </p:nvSpPr>
        <p:spPr>
          <a:xfrm>
            <a:off x="457200" y="1572768"/>
            <a:ext cx="5577840" cy="475488"/>
          </a:xfrm>
          <a:prstGeom prst="roundRect">
            <a:avLst>
              <a:gd name="adj" fmla="val 15385"/>
            </a:avLst>
          </a:prstGeom>
          <a:solidFill>
            <a:schemeClr val="bg1"/>
          </a:solidFill>
          <a:ln/>
        </p:spPr>
        <p:txBody>
          <a:bodyPr/>
          <a:lstStyle/>
          <a:p>
            <a:endParaRPr lang="it-IT"/>
          </a:p>
        </p:txBody>
      </p:sp>
      <p:sp>
        <p:nvSpPr>
          <p:cNvPr id="10" name="Text 7"/>
          <p:cNvSpPr txBox="1"/>
          <p:nvPr/>
        </p:nvSpPr>
        <p:spPr>
          <a:xfrm>
            <a:off x="566928" y="1572768"/>
            <a:ext cx="320040" cy="475488"/>
          </a:xfrm>
          <a:prstGeom prst="rect">
            <a:avLst/>
          </a:prstGeom>
          <a:noFill/>
          <a:ln/>
        </p:spPr>
        <p:txBody>
          <a:bodyPr wrap="square" lIns="0" tIns="0" rIns="0" bIns="0" rtlCol="0" anchor="ctr"/>
          <a:lstStyle/>
          <a:p>
            <a:pPr marL="0" indent="0">
              <a:buNone/>
            </a:pPr>
            <a:r>
              <a:rPr lang="en-US" sz="1500" b="1" dirty="0">
                <a:solidFill>
                  <a:schemeClr val="accent1"/>
                </a:solidFill>
              </a:rPr>
              <a:t>2</a:t>
            </a:r>
            <a:endParaRPr lang="en-US" sz="1500" dirty="0"/>
          </a:p>
        </p:txBody>
      </p:sp>
      <p:sp>
        <p:nvSpPr>
          <p:cNvPr id="11" name="Text 8"/>
          <p:cNvSpPr txBox="1"/>
          <p:nvPr/>
        </p:nvSpPr>
        <p:spPr>
          <a:xfrm>
            <a:off x="914400" y="1572768"/>
            <a:ext cx="5029200" cy="475488"/>
          </a:xfrm>
          <a:prstGeom prst="rect">
            <a:avLst/>
          </a:prstGeom>
          <a:noFill/>
          <a:ln/>
        </p:spPr>
        <p:txBody>
          <a:bodyPr wrap="square" lIns="0" tIns="0" rIns="0" bIns="0" rtlCol="0" anchor="ctr"/>
          <a:lstStyle/>
          <a:p>
            <a:pPr marL="0" indent="0">
              <a:buNone/>
            </a:pPr>
            <a:r>
              <a:rPr lang="en-US" sz="1200" dirty="0" err="1">
                <a:solidFill>
                  <a:schemeClr val="tx1"/>
                </a:solidFill>
              </a:rPr>
              <a:t>Esistono</a:t>
            </a:r>
            <a:r>
              <a:rPr lang="en-US" sz="1200" dirty="0">
                <a:solidFill>
                  <a:schemeClr val="tx1"/>
                </a:solidFill>
              </a:rPr>
              <a:t> </a:t>
            </a:r>
            <a:r>
              <a:rPr lang="en-US" sz="1200" dirty="0" err="1">
                <a:solidFill>
                  <a:schemeClr val="tx1"/>
                </a:solidFill>
              </a:rPr>
              <a:t>sistemi</a:t>
            </a:r>
            <a:r>
              <a:rPr lang="en-US" sz="1200" dirty="0">
                <a:solidFill>
                  <a:schemeClr val="tx1"/>
                </a:solidFill>
              </a:rPr>
              <a:t> Ai </a:t>
            </a:r>
            <a:r>
              <a:rPr lang="en-US" sz="1200" dirty="0" err="1">
                <a:solidFill>
                  <a:schemeClr val="tx1"/>
                </a:solidFill>
              </a:rPr>
              <a:t>diversi</a:t>
            </a:r>
            <a:r>
              <a:rPr lang="en-US" sz="1200" dirty="0">
                <a:solidFill>
                  <a:schemeClr val="tx1"/>
                </a:solidFill>
              </a:rPr>
              <a:t>, </a:t>
            </a:r>
            <a:r>
              <a:rPr lang="en-US" sz="1200" dirty="0" err="1">
                <a:solidFill>
                  <a:schemeClr val="tx1"/>
                </a:solidFill>
              </a:rPr>
              <a:t>adatti</a:t>
            </a:r>
            <a:r>
              <a:rPr lang="en-US" sz="1200" dirty="0">
                <a:solidFill>
                  <a:schemeClr val="tx1"/>
                </a:solidFill>
              </a:rPr>
              <a:t> a problem </a:t>
            </a:r>
            <a:r>
              <a:rPr lang="en-US" sz="1200" dirty="0" err="1">
                <a:solidFill>
                  <a:schemeClr val="tx1"/>
                </a:solidFill>
              </a:rPr>
              <a:t>differenti</a:t>
            </a:r>
            <a:endParaRPr lang="en-US" sz="1200" dirty="0"/>
          </a:p>
        </p:txBody>
      </p:sp>
      <p:sp>
        <p:nvSpPr>
          <p:cNvPr id="12" name="punto 3"/>
          <p:cNvSpPr/>
          <p:nvPr/>
        </p:nvSpPr>
        <p:spPr>
          <a:xfrm>
            <a:off x="457200" y="2121408"/>
            <a:ext cx="5577840" cy="475488"/>
          </a:xfrm>
          <a:prstGeom prst="roundRect">
            <a:avLst>
              <a:gd name="adj" fmla="val 15385"/>
            </a:avLst>
          </a:prstGeom>
          <a:solidFill>
            <a:schemeClr val="bg2"/>
          </a:solidFill>
          <a:ln/>
        </p:spPr>
        <p:txBody>
          <a:bodyPr/>
          <a:lstStyle/>
          <a:p>
            <a:endParaRPr lang="it-IT"/>
          </a:p>
        </p:txBody>
      </p:sp>
      <p:sp>
        <p:nvSpPr>
          <p:cNvPr id="13" name="Text 10"/>
          <p:cNvSpPr txBox="1"/>
          <p:nvPr/>
        </p:nvSpPr>
        <p:spPr>
          <a:xfrm>
            <a:off x="566928" y="2121408"/>
            <a:ext cx="320040" cy="475488"/>
          </a:xfrm>
          <a:prstGeom prst="rect">
            <a:avLst/>
          </a:prstGeom>
          <a:noFill/>
          <a:ln/>
        </p:spPr>
        <p:txBody>
          <a:bodyPr wrap="square" lIns="0" tIns="0" rIns="0" bIns="0" rtlCol="0" anchor="ctr"/>
          <a:lstStyle/>
          <a:p>
            <a:pPr marL="0" indent="0">
              <a:buNone/>
            </a:pPr>
            <a:r>
              <a:rPr lang="en-US" sz="1500" b="1" dirty="0">
                <a:solidFill>
                  <a:schemeClr val="accent1"/>
                </a:solidFill>
              </a:rPr>
              <a:t>3</a:t>
            </a:r>
            <a:endParaRPr lang="en-US" sz="1500" dirty="0"/>
          </a:p>
        </p:txBody>
      </p:sp>
      <p:sp>
        <p:nvSpPr>
          <p:cNvPr id="14" name="Text 11"/>
          <p:cNvSpPr txBox="1"/>
          <p:nvPr/>
        </p:nvSpPr>
        <p:spPr>
          <a:xfrm>
            <a:off x="914400" y="2121408"/>
            <a:ext cx="5029200" cy="475488"/>
          </a:xfrm>
          <a:prstGeom prst="rect">
            <a:avLst/>
          </a:prstGeom>
          <a:noFill/>
          <a:ln/>
        </p:spPr>
        <p:txBody>
          <a:bodyPr wrap="square" lIns="0" tIns="0" rIns="0" bIns="0" rtlCol="0" anchor="ctr"/>
          <a:lstStyle/>
          <a:p>
            <a:pPr marL="0" indent="0">
              <a:buNone/>
            </a:pPr>
            <a:r>
              <a:rPr lang="en-US" sz="1200" dirty="0">
                <a:solidFill>
                  <a:schemeClr val="tx1"/>
                </a:solidFill>
              </a:rPr>
              <a:t>I </a:t>
            </a:r>
            <a:r>
              <a:rPr lang="en-US" sz="1200" dirty="0" err="1">
                <a:solidFill>
                  <a:schemeClr val="tx1"/>
                </a:solidFill>
              </a:rPr>
              <a:t>risultati</a:t>
            </a:r>
            <a:r>
              <a:rPr lang="en-US" sz="1200" dirty="0">
                <a:solidFill>
                  <a:schemeClr val="tx1"/>
                </a:solidFill>
              </a:rPr>
              <a:t> </a:t>
            </a:r>
            <a:r>
              <a:rPr lang="en-US" sz="1200" dirty="0" err="1">
                <a:solidFill>
                  <a:schemeClr val="tx1"/>
                </a:solidFill>
              </a:rPr>
              <a:t>dipendono</a:t>
            </a:r>
            <a:r>
              <a:rPr lang="en-US" sz="1200" dirty="0">
                <a:solidFill>
                  <a:schemeClr val="tx1"/>
                </a:solidFill>
              </a:rPr>
              <a:t> da </a:t>
            </a:r>
            <a:r>
              <a:rPr lang="en-US" sz="1200" dirty="0" err="1">
                <a:solidFill>
                  <a:schemeClr val="tx1"/>
                </a:solidFill>
              </a:rPr>
              <a:t>modello</a:t>
            </a:r>
            <a:r>
              <a:rPr lang="en-US" sz="1200" dirty="0">
                <a:solidFill>
                  <a:schemeClr val="tx1"/>
                </a:solidFill>
              </a:rPr>
              <a:t>, </a:t>
            </a:r>
            <a:r>
              <a:rPr lang="en-US" sz="1200" dirty="0" err="1">
                <a:solidFill>
                  <a:schemeClr val="tx1"/>
                </a:solidFill>
              </a:rPr>
              <a:t>informazioni</a:t>
            </a:r>
            <a:r>
              <a:rPr lang="en-US" sz="1200" dirty="0">
                <a:solidFill>
                  <a:schemeClr val="tx1"/>
                </a:solidFill>
              </a:rPr>
              <a:t> </a:t>
            </a:r>
            <a:r>
              <a:rPr lang="en-US" sz="1200" dirty="0" err="1">
                <a:solidFill>
                  <a:schemeClr val="tx1"/>
                </a:solidFill>
              </a:rPr>
              <a:t>disponibili</a:t>
            </a:r>
            <a:r>
              <a:rPr lang="en-US" sz="1200" dirty="0">
                <a:solidFill>
                  <a:schemeClr val="tx1"/>
                </a:solidFill>
              </a:rPr>
              <a:t> e </a:t>
            </a:r>
            <a:r>
              <a:rPr lang="en-US" sz="1200" dirty="0" err="1">
                <a:solidFill>
                  <a:schemeClr val="tx1"/>
                </a:solidFill>
              </a:rPr>
              <a:t>modalità</a:t>
            </a:r>
            <a:r>
              <a:rPr lang="en-US" sz="1200" dirty="0">
                <a:solidFill>
                  <a:schemeClr val="tx1"/>
                </a:solidFill>
              </a:rPr>
              <a:t> di </a:t>
            </a:r>
            <a:r>
              <a:rPr lang="en-US" sz="1200" dirty="0" err="1">
                <a:solidFill>
                  <a:schemeClr val="tx1"/>
                </a:solidFill>
              </a:rPr>
              <a:t>utilizzo</a:t>
            </a:r>
            <a:r>
              <a:rPr lang="en-US" sz="1200" dirty="0">
                <a:solidFill>
                  <a:schemeClr val="tx1"/>
                </a:solidFill>
              </a:rPr>
              <a:t>.</a:t>
            </a:r>
            <a:endParaRPr lang="en-US" sz="1200" dirty="0"/>
          </a:p>
        </p:txBody>
      </p:sp>
      <p:sp>
        <p:nvSpPr>
          <p:cNvPr id="15" name="punto 4"/>
          <p:cNvSpPr/>
          <p:nvPr/>
        </p:nvSpPr>
        <p:spPr>
          <a:xfrm>
            <a:off x="457200" y="2670048"/>
            <a:ext cx="5577840" cy="475488"/>
          </a:xfrm>
          <a:prstGeom prst="roundRect">
            <a:avLst>
              <a:gd name="adj" fmla="val 15385"/>
            </a:avLst>
          </a:prstGeom>
          <a:solidFill>
            <a:schemeClr val="bg1"/>
          </a:solidFill>
          <a:ln/>
        </p:spPr>
        <p:txBody>
          <a:bodyPr/>
          <a:lstStyle/>
          <a:p>
            <a:endParaRPr lang="it-IT"/>
          </a:p>
        </p:txBody>
      </p:sp>
      <p:sp>
        <p:nvSpPr>
          <p:cNvPr id="16" name="Text 13"/>
          <p:cNvSpPr txBox="1"/>
          <p:nvPr/>
        </p:nvSpPr>
        <p:spPr>
          <a:xfrm>
            <a:off x="566928" y="2670048"/>
            <a:ext cx="320040" cy="475488"/>
          </a:xfrm>
          <a:prstGeom prst="rect">
            <a:avLst/>
          </a:prstGeom>
          <a:noFill/>
          <a:ln/>
        </p:spPr>
        <p:txBody>
          <a:bodyPr wrap="square" lIns="0" tIns="0" rIns="0" bIns="0" rtlCol="0" anchor="ctr"/>
          <a:lstStyle/>
          <a:p>
            <a:pPr marL="0" indent="0">
              <a:buNone/>
            </a:pPr>
            <a:r>
              <a:rPr lang="en-US" sz="1500" b="1" dirty="0">
                <a:solidFill>
                  <a:schemeClr val="accent1"/>
                </a:solidFill>
              </a:rPr>
              <a:t>4</a:t>
            </a:r>
            <a:endParaRPr lang="en-US" sz="1500" dirty="0"/>
          </a:p>
        </p:txBody>
      </p:sp>
      <p:sp>
        <p:nvSpPr>
          <p:cNvPr id="17" name="Text 14"/>
          <p:cNvSpPr txBox="1"/>
          <p:nvPr/>
        </p:nvSpPr>
        <p:spPr>
          <a:xfrm>
            <a:off x="914400" y="2670048"/>
            <a:ext cx="5029200" cy="475488"/>
          </a:xfrm>
          <a:prstGeom prst="rect">
            <a:avLst/>
          </a:prstGeom>
          <a:noFill/>
          <a:ln/>
        </p:spPr>
        <p:txBody>
          <a:bodyPr wrap="square" lIns="0" tIns="0" rIns="0" bIns="0" rtlCol="0" anchor="ctr"/>
          <a:lstStyle/>
          <a:p>
            <a:pPr marL="0" indent="0">
              <a:buNone/>
            </a:pPr>
            <a:r>
              <a:rPr lang="en-US" sz="1200" dirty="0" err="1">
                <a:solidFill>
                  <a:schemeClr val="tx1"/>
                </a:solidFill>
              </a:rPr>
              <a:t>Affidabilità</a:t>
            </a:r>
            <a:r>
              <a:rPr lang="en-US" sz="1200" dirty="0">
                <a:solidFill>
                  <a:schemeClr val="tx1"/>
                </a:solidFill>
              </a:rPr>
              <a:t> e </a:t>
            </a:r>
            <a:r>
              <a:rPr lang="en-US" sz="1200" dirty="0" err="1">
                <a:solidFill>
                  <a:schemeClr val="tx1"/>
                </a:solidFill>
              </a:rPr>
              <a:t>controllo</a:t>
            </a:r>
            <a:r>
              <a:rPr lang="en-US" sz="1200" dirty="0">
                <a:solidFill>
                  <a:schemeClr val="tx1"/>
                </a:solidFill>
              </a:rPr>
              <a:t> </a:t>
            </a:r>
            <a:r>
              <a:rPr lang="en-US" sz="1200" dirty="0" err="1">
                <a:solidFill>
                  <a:schemeClr val="tx1"/>
                </a:solidFill>
              </a:rPr>
              <a:t>devono</a:t>
            </a:r>
            <a:r>
              <a:rPr lang="en-US" sz="1200" dirty="0">
                <a:solidFill>
                  <a:schemeClr val="tx1"/>
                </a:solidFill>
              </a:rPr>
              <a:t> </a:t>
            </a:r>
            <a:r>
              <a:rPr lang="en-US" sz="1200" dirty="0" err="1">
                <a:solidFill>
                  <a:schemeClr val="tx1"/>
                </a:solidFill>
              </a:rPr>
              <a:t>essere</a:t>
            </a:r>
            <a:r>
              <a:rPr lang="en-US" sz="1200" dirty="0">
                <a:solidFill>
                  <a:schemeClr val="tx1"/>
                </a:solidFill>
              </a:rPr>
              <a:t> </a:t>
            </a:r>
            <a:r>
              <a:rPr lang="en-US" sz="1200" dirty="0" err="1">
                <a:solidFill>
                  <a:schemeClr val="tx1"/>
                </a:solidFill>
              </a:rPr>
              <a:t>proporzionati</a:t>
            </a:r>
            <a:r>
              <a:rPr lang="en-US" sz="1200" dirty="0">
                <a:solidFill>
                  <a:schemeClr val="tx1"/>
                </a:solidFill>
              </a:rPr>
              <a:t> </a:t>
            </a:r>
            <a:r>
              <a:rPr lang="en-US" sz="1200" dirty="0" err="1">
                <a:solidFill>
                  <a:schemeClr val="tx1"/>
                </a:solidFill>
              </a:rPr>
              <a:t>all’importanza</a:t>
            </a:r>
            <a:r>
              <a:rPr lang="en-US" sz="1200" dirty="0">
                <a:solidFill>
                  <a:schemeClr val="tx1"/>
                </a:solidFill>
              </a:rPr>
              <a:t> del </a:t>
            </a:r>
            <a:r>
              <a:rPr lang="en-US" sz="1200" dirty="0" err="1">
                <a:solidFill>
                  <a:schemeClr val="tx1"/>
                </a:solidFill>
              </a:rPr>
              <a:t>compito</a:t>
            </a:r>
            <a:r>
              <a:rPr lang="en-US" sz="1200" dirty="0">
                <a:solidFill>
                  <a:schemeClr val="tx1"/>
                </a:solidFill>
              </a:rPr>
              <a:t>.</a:t>
            </a:r>
            <a:endParaRPr lang="en-US" sz="1200" dirty="0"/>
          </a:p>
        </p:txBody>
      </p:sp>
      <p:sp>
        <p:nvSpPr>
          <p:cNvPr id="18" name="punto 5"/>
          <p:cNvSpPr/>
          <p:nvPr/>
        </p:nvSpPr>
        <p:spPr>
          <a:xfrm>
            <a:off x="457200" y="3218688"/>
            <a:ext cx="5577840" cy="475488"/>
          </a:xfrm>
          <a:prstGeom prst="roundRect">
            <a:avLst>
              <a:gd name="adj" fmla="val 15385"/>
            </a:avLst>
          </a:prstGeom>
          <a:solidFill>
            <a:schemeClr val="bg2"/>
          </a:solidFill>
          <a:ln/>
        </p:spPr>
        <p:txBody>
          <a:bodyPr/>
          <a:lstStyle/>
          <a:p>
            <a:endParaRPr lang="it-IT"/>
          </a:p>
        </p:txBody>
      </p:sp>
      <p:sp>
        <p:nvSpPr>
          <p:cNvPr id="19" name="Text 16"/>
          <p:cNvSpPr txBox="1"/>
          <p:nvPr/>
        </p:nvSpPr>
        <p:spPr>
          <a:xfrm>
            <a:off x="566928" y="3218688"/>
            <a:ext cx="320040" cy="475488"/>
          </a:xfrm>
          <a:prstGeom prst="rect">
            <a:avLst/>
          </a:prstGeom>
          <a:noFill/>
          <a:ln/>
        </p:spPr>
        <p:txBody>
          <a:bodyPr wrap="square" lIns="0" tIns="0" rIns="0" bIns="0" rtlCol="0" anchor="ctr"/>
          <a:lstStyle/>
          <a:p>
            <a:pPr marL="0" indent="0">
              <a:buNone/>
            </a:pPr>
            <a:r>
              <a:rPr lang="en-US" sz="1500" b="1" dirty="0">
                <a:solidFill>
                  <a:schemeClr val="accent1"/>
                </a:solidFill>
              </a:rPr>
              <a:t>5</a:t>
            </a:r>
            <a:endParaRPr lang="en-US" sz="1500" dirty="0"/>
          </a:p>
        </p:txBody>
      </p:sp>
      <p:sp>
        <p:nvSpPr>
          <p:cNvPr id="20" name="Text 17"/>
          <p:cNvSpPr txBox="1"/>
          <p:nvPr/>
        </p:nvSpPr>
        <p:spPr>
          <a:xfrm>
            <a:off x="886968" y="3218688"/>
            <a:ext cx="5029200" cy="475488"/>
          </a:xfrm>
          <a:prstGeom prst="rect">
            <a:avLst/>
          </a:prstGeom>
          <a:noFill/>
          <a:ln/>
        </p:spPr>
        <p:txBody>
          <a:bodyPr wrap="square" lIns="0" tIns="0" rIns="0" bIns="0" rtlCol="0" anchor="ctr"/>
          <a:lstStyle/>
          <a:p>
            <a:pPr marL="0" indent="0">
              <a:buNone/>
            </a:pPr>
            <a:r>
              <a:rPr lang="en-US" sz="1200" dirty="0">
                <a:solidFill>
                  <a:schemeClr val="tx1"/>
                </a:solidFill>
              </a:rPr>
              <a:t>Il </a:t>
            </a:r>
            <a:r>
              <a:rPr lang="en-US" sz="1200" dirty="0" err="1">
                <a:solidFill>
                  <a:schemeClr val="tx1"/>
                </a:solidFill>
              </a:rPr>
              <a:t>valore</a:t>
            </a:r>
            <a:r>
              <a:rPr lang="en-US" sz="1200" dirty="0">
                <a:solidFill>
                  <a:schemeClr val="tx1"/>
                </a:solidFill>
              </a:rPr>
              <a:t> </a:t>
            </a:r>
            <a:r>
              <a:rPr lang="en-US" sz="1200" dirty="0" err="1">
                <a:solidFill>
                  <a:schemeClr val="tx1"/>
                </a:solidFill>
              </a:rPr>
              <a:t>nasce</a:t>
            </a:r>
            <a:r>
              <a:rPr lang="en-US" sz="1200" dirty="0">
                <a:solidFill>
                  <a:schemeClr val="tx1"/>
                </a:solidFill>
              </a:rPr>
              <a:t> </a:t>
            </a:r>
            <a:r>
              <a:rPr lang="en-US" sz="1200" dirty="0" err="1">
                <a:solidFill>
                  <a:schemeClr val="tx1"/>
                </a:solidFill>
              </a:rPr>
              <a:t>dall’individuazione</a:t>
            </a:r>
            <a:r>
              <a:rPr lang="en-US" sz="1200" dirty="0">
                <a:solidFill>
                  <a:schemeClr val="tx1"/>
                </a:solidFill>
              </a:rPr>
              <a:t> di problem </a:t>
            </a:r>
            <a:r>
              <a:rPr lang="en-US" sz="1200" dirty="0" err="1">
                <a:solidFill>
                  <a:schemeClr val="tx1"/>
                </a:solidFill>
              </a:rPr>
              <a:t>reali</a:t>
            </a:r>
            <a:r>
              <a:rPr lang="en-US" sz="1200" dirty="0">
                <a:solidFill>
                  <a:schemeClr val="tx1"/>
                </a:solidFill>
              </a:rPr>
              <a:t> e </a:t>
            </a:r>
            <a:r>
              <a:rPr lang="en-US" sz="1200" dirty="0" err="1">
                <a:solidFill>
                  <a:schemeClr val="tx1"/>
                </a:solidFill>
              </a:rPr>
              <a:t>dalla</a:t>
            </a:r>
            <a:r>
              <a:rPr lang="en-US" sz="1200" dirty="0">
                <a:solidFill>
                  <a:schemeClr val="tx1"/>
                </a:solidFill>
              </a:rPr>
              <a:t> </a:t>
            </a:r>
            <a:r>
              <a:rPr lang="en-US" sz="1200" dirty="0" err="1">
                <a:solidFill>
                  <a:schemeClr val="tx1"/>
                </a:solidFill>
              </a:rPr>
              <a:t>verifica</a:t>
            </a:r>
            <a:r>
              <a:rPr lang="en-US" sz="1200" dirty="0">
                <a:solidFill>
                  <a:schemeClr val="tx1"/>
                </a:solidFill>
              </a:rPr>
              <a:t> delle </a:t>
            </a:r>
            <a:r>
              <a:rPr lang="en-US" sz="1200" dirty="0" err="1">
                <a:solidFill>
                  <a:schemeClr val="tx1"/>
                </a:solidFill>
              </a:rPr>
              <a:t>soluzioni</a:t>
            </a:r>
            <a:endParaRPr lang="en-US" sz="1200" dirty="0"/>
          </a:p>
        </p:txBody>
      </p:sp>
      <p:sp>
        <p:nvSpPr>
          <p:cNvPr id="21" name="scheda Sessione 2"/>
          <p:cNvSpPr/>
          <p:nvPr/>
        </p:nvSpPr>
        <p:spPr>
          <a:xfrm>
            <a:off x="6263640" y="1024128"/>
            <a:ext cx="2423160" cy="2670048"/>
          </a:xfrm>
          <a:prstGeom prst="roundRect">
            <a:avLst>
              <a:gd name="adj" fmla="val 3019"/>
            </a:avLst>
          </a:prstGeom>
          <a:solidFill>
            <a:schemeClr val="accent6"/>
          </a:solidFill>
          <a:ln/>
        </p:spPr>
        <p:txBody>
          <a:bodyPr/>
          <a:lstStyle/>
          <a:p>
            <a:endParaRPr lang="it-IT"/>
          </a:p>
        </p:txBody>
      </p:sp>
      <p:sp>
        <p:nvSpPr>
          <p:cNvPr id="22" name="cerchio FiArrowRight"/>
          <p:cNvSpPr/>
          <p:nvPr/>
        </p:nvSpPr>
        <p:spPr>
          <a:xfrm>
            <a:off x="6446520" y="1207008"/>
            <a:ext cx="457200" cy="457200"/>
          </a:xfrm>
          <a:prstGeom prst="ellipse">
            <a:avLst/>
          </a:prstGeom>
          <a:solidFill>
            <a:schemeClr val="accent1"/>
          </a:solidFill>
          <a:ln/>
        </p:spPr>
        <p:txBody>
          <a:bodyPr/>
          <a:lstStyle/>
          <a:p>
            <a:endParaRPr lang="it-IT"/>
          </a:p>
        </p:txBody>
      </p:sp>
      <p:pic>
        <p:nvPicPr>
          <p:cNvPr id="23" name="Image 0" descr="FiArrowRight"/>
          <p:cNvPicPr>
            <a:picLocks noChangeAspect="1"/>
          </p:cNvPicPr>
          <p:nvPr/>
        </p:nvPicPr>
        <p:blipFill>
          <a:blip r:embed="rId3"/>
          <a:stretch>
            <a:fillRect/>
          </a:stretch>
        </p:blipFill>
        <p:spPr>
          <a:xfrm>
            <a:off x="6560820" y="1321308"/>
            <a:ext cx="228600" cy="228600"/>
          </a:xfrm>
          <a:prstGeom prst="rect">
            <a:avLst/>
          </a:prstGeom>
        </p:spPr>
      </p:pic>
      <p:sp>
        <p:nvSpPr>
          <p:cNvPr id="24" name="Text 20"/>
          <p:cNvSpPr txBox="1"/>
          <p:nvPr/>
        </p:nvSpPr>
        <p:spPr>
          <a:xfrm>
            <a:off x="6446520" y="1773936"/>
            <a:ext cx="2057400" cy="347472"/>
          </a:xfrm>
          <a:prstGeom prst="rect">
            <a:avLst/>
          </a:prstGeom>
          <a:noFill/>
          <a:ln/>
        </p:spPr>
        <p:txBody>
          <a:bodyPr wrap="square" lIns="0" tIns="0" rIns="0" bIns="0" rtlCol="0" anchor="t"/>
          <a:lstStyle/>
          <a:p>
            <a:pPr marL="0" indent="0">
              <a:buNone/>
            </a:pPr>
            <a:r>
              <a:rPr lang="en-US" sz="1500" b="1" dirty="0">
                <a:solidFill>
                  <a:schemeClr val="tx1"/>
                </a:solidFill>
              </a:rPr>
              <a:t>Sessione 2</a:t>
            </a:r>
            <a:endParaRPr lang="en-US" sz="1500" dirty="0"/>
          </a:p>
        </p:txBody>
      </p:sp>
      <p:sp>
        <p:nvSpPr>
          <p:cNvPr id="25" name="Text 21"/>
          <p:cNvSpPr txBox="1"/>
          <p:nvPr/>
        </p:nvSpPr>
        <p:spPr>
          <a:xfrm>
            <a:off x="6446520" y="2157984"/>
            <a:ext cx="2057400" cy="1426464"/>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2"/>
                </a:solidFill>
              </a:rPr>
              <a:t>Casi </a:t>
            </a:r>
            <a:r>
              <a:rPr lang="en-US" sz="1250" dirty="0" err="1">
                <a:solidFill>
                  <a:schemeClr val="tx2"/>
                </a:solidFill>
              </a:rPr>
              <a:t>raccolti</a:t>
            </a:r>
            <a:endParaRPr lang="en-US" sz="1250" dirty="0"/>
          </a:p>
          <a:p>
            <a:pPr marL="177800" indent="-177800">
              <a:spcAft>
                <a:spcPts val="500"/>
              </a:spcAft>
              <a:buSzPct val="100000"/>
              <a:buChar char="•"/>
            </a:pPr>
            <a:r>
              <a:rPr lang="en-US" sz="1250" dirty="0">
                <a:solidFill>
                  <a:schemeClr val="tx2"/>
                </a:solidFill>
              </a:rPr>
              <a:t>Prompting</a:t>
            </a:r>
            <a:endParaRPr lang="en-US" sz="1250" dirty="0"/>
          </a:p>
          <a:p>
            <a:pPr marL="177800" indent="-177800">
              <a:spcAft>
                <a:spcPts val="500"/>
              </a:spcAft>
              <a:buSzPct val="100000"/>
              <a:buChar char="•"/>
            </a:pPr>
            <a:r>
              <a:rPr lang="en-US" sz="1250" dirty="0" err="1">
                <a:solidFill>
                  <a:schemeClr val="tx2"/>
                </a:solidFill>
              </a:rPr>
              <a:t>Strumenti</a:t>
            </a:r>
            <a:endParaRPr lang="en-US" sz="1250" dirty="0"/>
          </a:p>
          <a:p>
            <a:pPr marL="177800" indent="-177800">
              <a:spcAft>
                <a:spcPts val="500"/>
              </a:spcAft>
              <a:buSzPct val="100000"/>
              <a:buChar char="•"/>
            </a:pPr>
            <a:r>
              <a:rPr lang="en-US" sz="1250" dirty="0" err="1">
                <a:solidFill>
                  <a:schemeClr val="tx2"/>
                </a:solidFill>
              </a:rPr>
              <a:t>Dimostrazioni</a:t>
            </a:r>
            <a:r>
              <a:rPr lang="en-US" sz="1250" dirty="0">
                <a:solidFill>
                  <a:schemeClr val="tx2"/>
                </a:solidFill>
              </a:rPr>
              <a:t> e prime </a:t>
            </a:r>
            <a:r>
              <a:rPr lang="en-US" sz="1250" dirty="0" err="1">
                <a:solidFill>
                  <a:schemeClr val="tx2"/>
                </a:solidFill>
              </a:rPr>
              <a:t>sperimentazioni</a:t>
            </a:r>
            <a:endParaRPr lang="en-US" sz="1250" dirty="0"/>
          </a:p>
        </p:txBody>
      </p:sp>
      <p:sp>
        <p:nvSpPr>
          <p:cNvPr id="26" name="Text 22"/>
          <p:cNvSpPr txBox="1"/>
          <p:nvPr/>
        </p:nvSpPr>
        <p:spPr>
          <a:xfrm>
            <a:off x="457200" y="3931920"/>
            <a:ext cx="8229600" cy="457200"/>
          </a:xfrm>
          <a:prstGeom prst="rect">
            <a:avLst/>
          </a:prstGeom>
          <a:noFill/>
          <a:ln/>
        </p:spPr>
        <p:txBody>
          <a:bodyPr wrap="square" lIns="0" tIns="0" rIns="0" bIns="0" rtlCol="0" anchor="t"/>
          <a:lstStyle/>
          <a:p>
            <a:pPr marL="0" indent="0">
              <a:buNone/>
            </a:pPr>
            <a:r>
              <a:rPr lang="en-US" sz="2000" b="1" dirty="0">
                <a:solidFill>
                  <a:schemeClr val="accent1"/>
                </a:solidFill>
              </a:rPr>
              <a:t>Domande?</a:t>
            </a:r>
            <a:endParaRPr lang="en-US" sz="2000" dirty="0"/>
          </a:p>
        </p:txBody>
      </p:sp>
      <p:sp>
        <p:nvSpPr>
          <p:cNvPr id="3"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r"/>
            <a:fld id="{F7021451-1387-4CA6-816F-3879F97B5CBC}" type="slidenum">
              <a:rPr lang="en-US" b="0"/>
              <a:t>101</a:t>
            </a:fld>
            <a:endParaRPr lang="en-US"/>
          </a:p>
        </p:txBody>
      </p:sp>
    </p:spTree>
  </p:cSld>
  <p:clrMapOvr>
    <a:masterClrMapping/>
  </p:clrMapOvr>
</p:sld>
</file>

<file path=ppt/theme/theme1.xml><?xml version="1.0" encoding="utf-8"?>
<a:theme xmlns:a="http://schemas.openxmlformats.org/drawingml/2006/main" name="AI Literacy Neutro">
  <a:themeElements>
    <a:clrScheme name="AI Literacy Neutro">
      <a:dk1>
        <a:srgbClr val="22262B"/>
      </a:dk1>
      <a:lt1>
        <a:srgbClr val="FFFFFF"/>
      </a:lt1>
      <a:dk2>
        <a:srgbClr val="4A515C"/>
      </a:dk2>
      <a:lt2>
        <a:srgbClr val="F2F3F5"/>
      </a:lt2>
      <a:accent1>
        <a:srgbClr val="2E7D7A"/>
      </a:accent1>
      <a:accent2>
        <a:srgbClr val="8A939E"/>
      </a:accent2>
      <a:accent3>
        <a:srgbClr val="D5D9DE"/>
      </a:accent3>
      <a:accent4>
        <a:srgbClr val="5B6573"/>
      </a:accent4>
      <a:accent5>
        <a:srgbClr val="A86F1C"/>
      </a:accent5>
      <a:accent6>
        <a:srgbClr val="E6F0EF"/>
      </a:accent6>
      <a:hlink>
        <a:srgbClr val="2E7D7A"/>
      </a:hlink>
      <a:folHlink>
        <a:srgbClr val="5B6573"/>
      </a:folHlink>
    </a:clrScheme>
    <a:fontScheme name="AI Literacy Neutr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785</TotalTime>
  <Words>24834</Words>
  <Application>Microsoft Macintosh PowerPoint</Application>
  <PresentationFormat>Presentazione su schermo (16:9)</PresentationFormat>
  <Paragraphs>1499</Paragraphs>
  <Slides>101</Slides>
  <Notes>101</Notes>
  <HiddenSlides>9</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101</vt:i4>
      </vt:variant>
    </vt:vector>
  </HeadingPairs>
  <TitlesOfParts>
    <vt:vector size="105" baseType="lpstr">
      <vt:lpstr>Aptos</vt:lpstr>
      <vt:lpstr>Arial</vt:lpstr>
      <vt:lpstr>Calibri</vt:lpstr>
      <vt:lpstr>AI Literacy Neutro</vt:lpstr>
      <vt:lpstr>Percorso Ai – Adoption – Laser Srl</vt:lpstr>
      <vt:lpstr>Il percorso in tre sessioni</vt:lpstr>
      <vt:lpstr>Da dove partiamo</vt:lpstr>
      <vt:lpstr>Vero o falso?</vt:lpstr>
      <vt:lpstr>Affermazioni sull'AI: le risposte</vt:lpstr>
      <vt:lpstr>Il nostro spazio di Lavoro: problemi e opportunità</vt:lpstr>
      <vt:lpstr>Evoluzione e rilevanza dell’intelligenza Artificiale</vt:lpstr>
      <vt:lpstr>Oltre settant'anni di evoluzione</vt:lpstr>
      <vt:lpstr>Cinque fattori che si rafforzano a vicenda</vt:lpstr>
      <vt:lpstr>Investimenti e infrastrutture tecnologiche</vt:lpstr>
      <vt:lpstr>La svolta dell'AI generativa</vt:lpstr>
      <vt:lpstr>Dal classificare e prevedere al generare</vt:lpstr>
      <vt:lpstr>Il linguaggio naturale diventa l'interfaccia</vt:lpstr>
      <vt:lpstr>La diffusione di chatbot e assistenti AI</vt:lpstr>
      <vt:lpstr>Che cosa può generare l'AI</vt:lpstr>
      <vt:lpstr>Dalla digitalizzazione all'Intelligenza Artificiale</vt:lpstr>
      <vt:lpstr>Un esempio: la gestione delle richieste dei clienti</vt:lpstr>
      <vt:lpstr>Sistema deterministico e sistemi probabilistici</vt:lpstr>
      <vt:lpstr>Rilevanza dell'AI per le aziende</vt:lpstr>
      <vt:lpstr>Un'applicazione trasversale alle funzioni aziendali</vt:lpstr>
      <vt:lpstr>L'AI come tecnologia abilitante</vt:lpstr>
      <vt:lpstr>Effetti potenziali: produttività, qualità, innovazione</vt:lpstr>
      <vt:lpstr>Come evolvono il lavoro e le competenze</vt:lpstr>
      <vt:lpstr>Possibili implicazioni competitive</vt:lpstr>
      <vt:lpstr>Dal potenziale tecnologico al valore realizzato</vt:lpstr>
      <vt:lpstr>Fondamenti e funzionamento dell’Ai</vt:lpstr>
      <vt:lpstr>Una definizione operativa</vt:lpstr>
      <vt:lpstr>Comprensione apparente: l'effetto ELIZA</vt:lpstr>
      <vt:lpstr>Le principali categorie di AI</vt:lpstr>
      <vt:lpstr>Quattro criteri di classificazione diversi</vt:lpstr>
      <vt:lpstr>AI simbolica e Machine Learning</vt:lpstr>
      <vt:lpstr>Deep Learning e reti neurali</vt:lpstr>
      <vt:lpstr>AI predittiva, classificativa e generativa</vt:lpstr>
      <vt:lpstr>AI multimodale</vt:lpstr>
      <vt:lpstr>Quale approccio per quale problema</vt:lpstr>
      <vt:lpstr>Come un sistema AI apprende dai dati</vt:lpstr>
      <vt:lpstr>Che cosa significa apprendere dai dati</vt:lpstr>
      <vt:lpstr>Dati di addestramento ed esempi</vt:lpstr>
      <vt:lpstr>I parametri del modello</vt:lpstr>
      <vt:lpstr>Il ciclo di addestramento</vt:lpstr>
      <vt:lpstr>Addestramento e inferenza</vt:lpstr>
      <vt:lpstr>Che cosa sono i Large Language Models</vt:lpstr>
      <vt:lpstr>Un modello linguistico di grandi dimensioni</vt:lpstr>
      <vt:lpstr>I token: come il modello vede il testo</vt:lpstr>
      <vt:lpstr>Rappresentare il significato</vt:lpstr>
      <vt:lpstr>Il Transformer e il meccanismo di attenzione</vt:lpstr>
      <vt:lpstr>Come viene generata una risposta</vt:lpstr>
      <vt:lpstr>Più di un completamento automatico</vt:lpstr>
      <vt:lpstr>Come funziona un'interazione con l'AI</vt:lpstr>
      <vt:lpstr>Input, prompt e output</vt:lpstr>
      <vt:lpstr>La finestra di contesto</vt:lpstr>
      <vt:lpstr>Contesto temporaneo e memoria persistente</vt:lpstr>
      <vt:lpstr>Il modello e l'applicazione</vt:lpstr>
      <vt:lpstr>Conoscenza e fonti informative</vt:lpstr>
      <vt:lpstr>Tre fonti di informazione</vt:lpstr>
      <vt:lpstr>Aggiornamento dei dati e limiti temporali</vt:lpstr>
      <vt:lpstr>Grounding: ancorare le risposte alle fonti</vt:lpstr>
      <vt:lpstr>Introduzione alla Retrieval-Augmented Generation</vt:lpstr>
      <vt:lpstr>Adattare un sistema AI a un contesto specifico</vt:lpstr>
      <vt:lpstr>Tre equivoci frequenti</vt:lpstr>
      <vt:lpstr>Capacità, limiti e affidabilità dell’Intelligenza Artificiale</vt:lpstr>
      <vt:lpstr>Calibrare la fiducia</vt:lpstr>
      <vt:lpstr>Una mappa delle capacità</vt:lpstr>
      <vt:lpstr>Non tutti i sistemi hanno le stesse capacità</vt:lpstr>
      <vt:lpstr>Scomporre, pianificare, valutare alternative</vt:lpstr>
      <vt:lpstr>Generazione di idee e supporto creativo</vt:lpstr>
      <vt:lpstr>Allucinazioni e informazioni false</vt:lpstr>
      <vt:lpstr>Che cos'è un'allucinazione</vt:lpstr>
      <vt:lpstr>Citazioni, riferimenti e fonti inesistenti</vt:lpstr>
      <vt:lpstr>Perché si verificano le allucinazioni</vt:lpstr>
      <vt:lpstr>L'autorevolezza apparente</vt:lpstr>
      <vt:lpstr>Attività che richiedono livelli diversi di verfica</vt:lpstr>
      <vt:lpstr>Bias e distorsioni nei risultati</vt:lpstr>
      <vt:lpstr>Che cosa sono bias e distorsioni</vt:lpstr>
      <vt:lpstr>Da dove nascono le distorsioni</vt:lpstr>
      <vt:lpstr>L'influenza del contesto e delle istruzioni</vt:lpstr>
      <vt:lpstr>Bias di conferma e tendenza ad assecondare</vt:lpstr>
      <vt:lpstr>Accuratezza, affidabilità e consistenza</vt:lpstr>
      <vt:lpstr>Quattro concetti da distinguere</vt:lpstr>
      <vt:lpstr>Prestazioni diverse in base al compito</vt:lpstr>
      <vt:lpstr>Come verificare il valore e l’affidabilità dell’Ai nei casi reali</vt:lpstr>
      <vt:lpstr>Il modello e il sistema completo</vt:lpstr>
      <vt:lpstr>Supervisione umana e verifica proporzionata</vt:lpstr>
      <vt:lpstr>Quando utilizzare o limitare l'AI</vt:lpstr>
      <vt:lpstr>Possibilità tecnica e opportunità di utilizzo</vt:lpstr>
      <vt:lpstr>Le conseguenze di un errore</vt:lpstr>
      <vt:lpstr>Attività a basso e alto impatto</vt:lpstr>
      <vt:lpstr>Supporto, supervisione e delega</vt:lpstr>
      <vt:lpstr>Quando servono maggiori garanzie o strumenti differenti</vt:lpstr>
      <vt:lpstr>La responsabilità resta umana</vt:lpstr>
      <vt:lpstr>Caccia all'allucinazione</vt:lpstr>
      <vt:lpstr>Brainstorming</vt:lpstr>
      <vt:lpstr>L'AI in Laser, reparto per reparto</vt:lpstr>
      <vt:lpstr>Tre luoghi dell'AI</vt:lpstr>
      <vt:lpstr>Sette sprechi informativi</vt:lpstr>
      <vt:lpstr>Esercizio: dove perdiamo tempo?</vt:lpstr>
      <vt:lpstr>Mappa degli sprechi: un esempio</vt:lpstr>
      <vt:lpstr>Dagli sprechi alle opportunità</vt:lpstr>
      <vt:lpstr>Brainstorming Guidato</vt:lpstr>
      <vt:lpstr>Da provare prima della prossima sessione</vt:lpstr>
      <vt:lpstr>Che cosa abbiamo visto oggi</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Laser Srl · AI Adoption · Sessione 1 · Slide nuove</dc:title>
  <dc:subject>Percorso AI Literacy</dc:subject>
  <dc:creator>Percorso AI Literacy</dc:creator>
  <cp:lastModifiedBy>Michele Barchi</cp:lastModifiedBy>
  <cp:revision>33</cp:revision>
  <dcterms:created xsi:type="dcterms:W3CDTF">2026-10-12T14:29:19Z</dcterms:created>
  <dcterms:modified xsi:type="dcterms:W3CDTF">2026-10-14T09:19:19Z</dcterms:modified>
</cp:coreProperties>
</file>