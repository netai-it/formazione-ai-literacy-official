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2" r:id="rId7"/>
    <p:sldId id="272" r:id="rId8"/>
    <p:sldId id="273" r:id="rId9"/>
    <p:sldId id="274" r:id="rId10"/>
    <p:sldId id="263" r:id="rId11"/>
    <p:sldId id="264" r:id="rId12"/>
    <p:sldId id="265" r:id="rId13"/>
    <p:sldId id="266" r:id="rId14"/>
    <p:sldId id="267" r:id="rId15"/>
    <p:sldId id="268" r:id="rId16"/>
    <p:sldId id="269" r:id="rId17"/>
    <p:sldId id="275" r:id="rId18"/>
    <p:sldId id="270" r:id="rId19"/>
    <p:sldId id="271"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C3BB9BB4-3D30-E415-8DC5-37F6A1A49D49}">
          <p14:sldIdLst>
            <p14:sldId id="256"/>
            <p14:sldId id="257"/>
            <p14:sldId id="258"/>
            <p14:sldId id="259"/>
            <p14:sldId id="260"/>
            <p14:sldId id="262"/>
            <p14:sldId id="272"/>
            <p14:sldId id="273"/>
            <p14:sldId id="274"/>
          </p14:sldIdLst>
        </p14:section>
        <p14:section name="Limiti ed errori" id="{24C89B44-E5C8-B41E-C827-ADF61D49CAF2}">
          <p14:sldIdLst>
            <p14:sldId id="263"/>
          </p14:sldIdLst>
        </p14:section>
        <p14:section name="L'AI in Laser" id="{2E6046B8-D80E-A317-F930-00554509571A}">
          <p14:sldIdLst>
            <p14:sldId id="264"/>
            <p14:sldId id="265"/>
            <p14:sldId id="266"/>
            <p14:sldId id="267"/>
            <p14:sldId id="268"/>
            <p14:sldId id="269"/>
            <p14:sldId id="275"/>
          </p14:sldIdLst>
        </p14:section>
        <p14:section name="Chiusura" id="{92EF9562-6C42-8CBB-24CF-EC1D33184B1E}">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8" d="100"/>
          <a:sy n="168" d="100"/>
        </p:scale>
        <p:origin x="5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273725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Benvenuti. Questa è la prima di tre sessioni dedicate all'intelligenza artificiale in azienda. Oggi non parliamo ancora di strumenti specifici né di progetti: costruiamo un linguaggio comune. Vogliamo capire che cosa è davvero l'AI, come funziona a grandi linee, che cosa sa fare bene e dove invece sbaglia, e perché il controllo delle persone resta decisivo. Alla fine della mattinata guarderemo insieme dove l'AI può essere utile in un'azienda come la vostra, reparto per reparto. Non servono conoscenze tecniche: se qualcosa non è chiaro, fermatemi pure.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Il percorso è fatto di tre sessioni da quattro ore, e ognuna costruisce sulla precedente. Oggi, nella prima, capiamo l'AI senza tecnicismi: che cos'è, come funziona, che cosa sa fare e quali sono i suoi limiti. Nella seconda passiamo agli strumenti: vedremo Copilot e altri assistenti, impareremo a scrivere richieste efficaci, guarderemo tre esempi concreti su documenti, richieste dei clienti e ticket di assistenza, e parleremo di AI nei processi, nel service e nel prodotto. Nella terza parleremo di regole: uso sicuro, GDPR, AI Act, NIS2, riservatezza. E chiuderemo costruendo una proposta di roadmap, con uno o due progetti concreti da cui partire. Il filo conduttore sono i casi d'uso: le idee che raccoglieremo oggi diventano la materia della terza sessione.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Prima di cominciare, vorrei capire da dove partiamo, perché il gruppo è misto e le esperienze sono diverse. Tre domande, per alzata di mano. Prima: chi ha già usato almeno una volta uno strumento di AI, come ChatGPT, Copilot o simili, anche solo per curiosità? Seconda: per che cosa? Scrivere un'email, tradurre, cercare informazioni, riassumere un documento? Terza: che cosa vi aspettate da queste sessioni, e c'è qualcosa che vi preoccupa? Annoto le risposte: le riprenderemo alla fine della giornata e nelle prossime sessioni. Non ci sono risposte giuste o sbagliate, e chi non ha mai usato questi strumenti è nella posizione migliore per farsi un'idea senza preconcetti.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Un piccolo gioco per rompere il ghiaccio. Dividiamoci in squadre, per esempio per tavolo o per reparto. Vi leggo sei affermazioni sull'intelligenza artificiale: per ognuna, ogni squadra decide se è vera o falsa, e scrive la risposta su un foglio. Avete un minuto per affermazione, quindi circa sei minuti in tutto. Poi vediamo le risposte insieme nella slide successiva, e per ognuna spiego il perché. Non conta vincere: conta accorgersi di quante idee diffuse sull'AI sono imprecise. Molte di queste affermazioni torneranno durante la giornata.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B: il formatore legge le affermazioni e dà subito la risposta. Percorso A: si usa dopo il gioco a squadre per svelare le risposte. Prima affermazione: l'AI capisce quello che scrive. Falso, almeno nel senso umano del termine: i modelli linguistici generano testo a partire da regolarità apprese su enormi quantità di dati. Il risultato può sembrare comprensione, ed è spesso utile, ma non c'è un'intenzione né un'esperienza del mondo. Seconda: se risponde con sicurezza, la risposta è affidabile. Falso, ed è forse l'equivoco più pericoloso: il tono sicuro e la scrittura fluida non dicono nulla sulla correttezza. Terza: la stessa domanda può dare risposte diverse. Vero: questi sistemi sono probabilistici, e la variabilità è normale. Quarta: se carico un documento, l'AI lo legge tutto e non sbaglia. Falso: può perdere parti, interpretare male tabelle o scansioni, e sbagliare comunque. Quinta: l'AI può servire anche in officina e in assistenza tecnica. Vero: non è solo uno strumento da ufficio, lo vedremo nella mappa per reparto. Sesta: con l'AI la responsabilità passa allo strumento. Falso: la responsabilità resta sempre delle persone e dell'azienda. Riprenderemo ciascuno di questi punti nel corso della giornata.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Vi presento uno strumento che useremo per tutte e tre le sessioni: il parcheggio dei casi d'uso. È questo cartellone, diviso in colonne, una per reparto. Ogni volta che, durante le sessioni, vi viene in mente un'attività in cui l'AI potrebbe aiutare, la scrivete su un post-it e la attaccate nella colonna del vostro reparto. Non serve che l'idea sia completa o sicura: basta una riga, per esempio 'cercare nei manuali la soluzione di un allarme'. Una sola regola: niente nomi di clienti, prezzi o dati riservati, scrivete l'attività, non il caso specifico. Alla fine di ogni sessione riporterò i post-it in una lavagna digitale. Nella terza sessione partiremo proprio da qui per scegliere i progetti: più idee raccogliamo, migliore sarà la scelta.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08994-9C04-92E2-480C-CB6E974D89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C65715-8B14-8A9E-A1AE-33FA46BC70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E9EB61-DD7F-E2B2-B44C-D11E7E6D7494}"/>
              </a:ext>
            </a:extLst>
          </p:cNvPr>
          <p:cNvSpPr>
            <a:spLocks noGrp="1"/>
          </p:cNvSpPr>
          <p:nvPr>
            <p:ph type="body" idx="1"/>
          </p:nvPr>
        </p:nvSpPr>
        <p:spPr/>
        <p:txBody>
          <a:bodyPr/>
          <a:lstStyle/>
          <a:p>
            <a:r>
              <a:rPr lang="en-US" dirty="0"/>
              <a:t>Percorso A e B. Benvenuti. Questa è la prima di tre sessioni dedicate all'intelligenza artificiale in azienda. Oggi non parliamo ancora di strumenti specifici né di progetti: costruiamo un linguaggio comune. Vogliamo capire che cosa è davvero l'AI, come funziona a grandi linee, che cosa sa fare bene e dove invece sbaglia, e perché il controllo delle persone resta decisivo. Alla fine della mattinata guarderemo insieme dove l'AI può essere utile in un'azienda come la vostra, reparto per reparto. Non servono conoscenze tecniche: se qualcosa non è chiaro, fermatemi pure.</a:t>
            </a:r>
          </a:p>
        </p:txBody>
      </p:sp>
      <p:sp>
        <p:nvSpPr>
          <p:cNvPr id="4" name="Slide Number Placeholder 3">
            <a:extLst>
              <a:ext uri="{FF2B5EF4-FFF2-40B4-BE49-F238E27FC236}">
                <a16:creationId xmlns:a16="http://schemas.microsoft.com/office/drawing/2014/main" id="{CE98FD45-5D67-0B3F-3F71-32AE463A5316}"/>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605133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1DA79-0798-3381-6F84-28237BB3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1063EA-B4AF-D49A-BD35-3EBA81B844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372A7E-E4BE-4A92-BC6D-C48BDC8C5A35}"/>
              </a:ext>
            </a:extLst>
          </p:cNvPr>
          <p:cNvSpPr>
            <a:spLocks noGrp="1"/>
          </p:cNvSpPr>
          <p:nvPr>
            <p:ph type="body" idx="1"/>
          </p:nvPr>
        </p:nvSpPr>
        <p:spPr/>
        <p:txBody>
          <a:bodyPr/>
          <a:lstStyle/>
          <a:p>
            <a:r>
              <a:rPr lang="en-US" dirty="0"/>
              <a:t>Percorso A e B. Benvenuti. Questa è la prima di tre sessioni dedicate all'intelligenza artificiale in azienda. Oggi non parliamo ancora di strumenti specifici né di progetti: costruiamo un linguaggio comune. Vogliamo capire che cosa è davvero l'AI, come funziona a grandi linee, che cosa sa fare bene e dove invece sbaglia, e perché il controllo delle persone resta decisivo. Alla fine della mattinata guarderemo insieme dove l'AI può essere utile in un'azienda come la vostra, reparto per reparto. Non servono conoscenze tecniche: se qualcosa non è chiaro, fermatemi pure.</a:t>
            </a:r>
          </a:p>
        </p:txBody>
      </p:sp>
      <p:sp>
        <p:nvSpPr>
          <p:cNvPr id="4" name="Slide Number Placeholder 3">
            <a:extLst>
              <a:ext uri="{FF2B5EF4-FFF2-40B4-BE49-F238E27FC236}">
                <a16:creationId xmlns:a16="http://schemas.microsoft.com/office/drawing/2014/main" id="{FEA8FB6C-61C3-1F5D-57BD-CC46E2406E19}"/>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087698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C1865-0433-6FB5-AB5C-FCD8A267FB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EA440F-A694-1D34-7391-E4F2DDF423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5BFC39-3E40-A455-E00E-65650AD32B59}"/>
              </a:ext>
            </a:extLst>
          </p:cNvPr>
          <p:cNvSpPr>
            <a:spLocks noGrp="1"/>
          </p:cNvSpPr>
          <p:nvPr>
            <p:ph type="body" idx="1"/>
          </p:nvPr>
        </p:nvSpPr>
        <p:spPr/>
        <p:txBody>
          <a:bodyPr/>
          <a:lstStyle/>
          <a:p>
            <a:r>
              <a:rPr lang="en-US" dirty="0"/>
              <a:t>Percorso A e B. Benvenuti. Questa è la prima di tre sessioni dedicate all'intelligenza artificiale in azienda. Oggi non parliamo ancora di strumenti specifici né di progetti: costruiamo un linguaggio comune. Vogliamo capire che cosa è davvero l'AI, come funziona a grandi linee, che cosa sa fare bene e dove invece sbaglia, e perché il controllo delle persone resta decisivo. Alla fine della mattinata guarderemo insieme dove l'AI può essere utile in un'azienda come la vostra, reparto per reparto. Non servono conoscenze tecniche: se qualcosa non è chiaro, fermatemi pure.</a:t>
            </a:r>
          </a:p>
        </p:txBody>
      </p:sp>
      <p:sp>
        <p:nvSpPr>
          <p:cNvPr id="4" name="Slide Number Placeholder 3">
            <a:extLst>
              <a:ext uri="{FF2B5EF4-FFF2-40B4-BE49-F238E27FC236}">
                <a16:creationId xmlns:a16="http://schemas.microsoft.com/office/drawing/2014/main" id="{3DA617E1-2CD6-3E25-5D4B-17CCC1B82E7C}"/>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7850845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Proviamo dal vivo. Faccio a Copilot tre domande, senza allegare nessun documento. La prima riguarda un forno a tunnel chiamato TF-900: è un modello che non esiste, l'ho inventato per questo corso. La seconda chiede un dato tecnico preciso, la coppia di serraggio dei bulloni del bruciatore, sempre del forno inesistente. La terza riguarda la vostra azienda: che cosa produce e da quando esiste. Mentre guardiamo le risposte, osserviamo tre cose. Risponde comunque, con sicurezza, oppure dice che non conosce questo modello? Se dà numeri o date, da dove li prende? Cita fonti che possiamo controllare? Nel percorso A, chiedo a voi di giudicare ogni risposta: affidabile, da verificare o inventata. Se Copilot dice di non sapere, è un buon segnale, e lo commentiamo. Se inventa, abbiamo appena visto un'allucinazione: una risposta plausibile, ben scritta e falsa. Nota per il formatore: provare prima i prompt almeno tre volte, e tenere pronti gli screenshot o il video se la rete non funziona.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Portiamo quello che abbiamo visto dentro la vostra azienda. Questa mappa propone due esempi di uso dell'AI per ciascun reparto. Sono esempi indicativi, pensati per un costruttore di macchine, non una lista di progetti decisi. Nel tecnico: cercare nelle specifiche e nei documenti di commessa, preparare bozze di manuali. In produzione: istruzioni di lavoro e liste di controllo, sintesi dei passaggi di turno. In qualità: analisi delle non conformità e bozze di rapporti 8D. Nel service: aiuto nella ricerca dei guasti partendo da manuali e ticket, report d'intervento dettati a voce. Nel commerciale: estrarre requisiti e lacune dal capitolato del cliente, tradurre per i clienti esteri. In amministrazione: bozze di solleciti, supporto alle riconciliazioni. Nelle risorse umane: materiali di onboarding e formazione interna; non, invece, la selezione o la valutazione delle persone, che la normativa europea considera ad alto rischio. Nel percorso A, chiedo a ciascuno di aggiungere un esempio del proprio reparto, su un post-it. Nel percorso B, chiedo almeno un pensiero: quale di questi esempi vi sembra più vicino al vostro lavoro?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Per un costruttore di macchine, l'AI può stare in tre luoghi diversi, ed è utile distinguerli perché richiedono investimenti, tempi e attenzioni diverse. Il primo è l'ufficio, cioè l'AI interna: aiuta le persone di Laser a lavorare su documenti, offerte, manuali, ticket. Si può iniziare subito con gli strumenti già disponibili, come Copilot, con regole chiare sui dati. Il secondo luogo sono i clienti: servizi che Laser offre a chi compra le sue macchine, per esempio un assistente per i manuali, un aiuto a identificare i ricambi, un supporto multilingua. Richiedono più cura, perché l'errore arriva fuori dall'azienda. Il terzo luogo è la macchina stessa: controllo visivo dei prodotti all'uscita del forno, rilevazione di anomalie, manutenzione predittiva, ottimizzazione dei consumi. È il terreno più promettente per il futuro, ma richiede dati, investimenti e un'attenzione particolare alle norme, come vedremo nella terza sessione. Da qui una domanda per voi, che mi aiuta a preparare la prossima sessione: le vostre macchine raccolgono dati? Temperature, allarmi, consumi, teleassistenza?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Chi lavora con il Lean conosce gli sprechi della produzione: attese, movimenti inutili, rilavorazioni. Ma c'è un'altra categoria di sprechi, meno visibile: quelli legati alle informazioni. Ne proponiamo sette. Cercare: il tempo speso a trovare un disegno, una procedura, la soluzione già adottata in una commessa passata. Ricopiare: dati trascritti a mano da un'email a un foglio, da un foglio a un gestionale. Aspettare: un'informazione che manca e blocca il lavoro di qualcun altro. Rifare: un'offerta o un documento da correggere perché un requisito era sfuggito. Correggere: errori nati da dati non allineati tra sistemi diversi. Chiedere a voce: conoscenze che stanno solo nella testa di alcune persone, e che si ottengono solo telefonando a loro. Tradurre: manuali, offerte e comunicazioni per i clienti esteri. Questi sprechi sono il punto di partenza giusto per cercare dove l'AI può aiutare: partiamo dal problema, non dallo strumento. Attenzione, però: non tutti si risolvono con l'AI. A volte basta un archivio ordinato o un modulo ben fatto.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Adesso tocca a voi. L'esercizio dura circa quaranta minuti. Primo passo, quindici minuti, individuale: pensate alla vostra settimana di lavoro e scrivete su un post-it ogni momento in cui perdete tempo con le informazioni, usando le sette categorie che abbiamo appena visto. Un post-it per spreco, con una frase e il reparto. Secondo passo, quindici minuti, per reparto: attaccate i post-it sul cartellone, raggruppate quelli simili e scegliete i due o tre più frequenti o più fastidiosi. Terzo passo, dieci minuti, tutti insieme: ogni reparto racconta i suoi due o tre sprechi principali. Ricordate la regola: descrivete l'attività, non il cliente o il caso specifico, e niente dati riservati. Non cercate ancora la soluzione: per ora ci interessa solo vedere dove si perde tempo. Le soluzioni le cercheremo nella seconda sessione.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B. Ecco come potrebbe apparire una mappa degli sprechi in un costruttore di macchine. È un esempio inventato, non una fotografia della vostra azienda: serve a rendere concreto il ragionamento. Nel tecnico lo spreco più tipico è cercare: dove abbiamo già risolto questo problema, in quale commessa, con quale disegno? In produzione è aspettare: il montaggio si ferma perché manca un'informazione dall'ufficio tecnico. In qualità è ricopiare: i dati delle non conformità passano da un'email a un foglio e poi al gestionale. Nel service è chiedere a voce: la diagnosi dipende dal tecnico esperto disponibile al telefono. Nel commerciale è rifare: un'offerta va rivista perché un requisito del capitolato era sfuggito. In amministrazione è correggere: dati delle commesse non allineati tra sistemi. E tradurre attraversa più reparti: manuali, offerte e comunicazioni per i clienti esteri. Vi chiedo di tenere a mente questa mappa: quali di questi sprechi riconoscete anche da voi? Quali mancano?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B. Come si passa da uno spreco a un'opportunità? Con tre domande, nell'ordine. Primo: qual è lo spreco, cioè che cosa succede, quanto spesso, a chi. Secondo: qual è la causa. Terzo: qual è la soluzione migliore, e solo a questo punto ci chiediamo se l'AI ne fa parte. Tre esempi. Cercare le soluzioni già trovate: la causa è che la conoscenza è sparsa tra commesse, email e persone; la soluzione può essere un archivio ordinato e, sopra, un assistente AI che risponde citando i documenti. Qui l'AI aiuta, ma solo se prima mettiamo ordine. Ricopiare dati da un sistema all'altro: la causa è che i sistemi non si parlano; la soluzione migliore spesso è un modulo strutturato o un'integrazione tra i sistemi, senza AI. Rifare le offerte per un requisito sfuggito: la causa è che i capitolati sono lunghi e diversi tra loro; una scheda requisiti standard aiuta, e l'AI può estrarre i requisiti e segnalare quelli mancanti, lasciando le decisioni al commerciale. Il messaggio: prima il problema, poi lo strumento.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0365B-E93E-B28F-A806-74EE81638B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D59D91-C1DF-BBD6-010A-8C25199C47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553A87-1054-0891-ED85-A1358EB3B298}"/>
              </a:ext>
            </a:extLst>
          </p:cNvPr>
          <p:cNvSpPr>
            <a:spLocks noGrp="1"/>
          </p:cNvSpPr>
          <p:nvPr>
            <p:ph type="body" idx="1"/>
          </p:nvPr>
        </p:nvSpPr>
        <p:spPr/>
        <p:txBody>
          <a:bodyPr/>
          <a:lstStyle/>
          <a:p>
            <a:r>
              <a:rPr lang="en-US" dirty="0"/>
              <a:t>Percorso A e B. Benvenuti. Questa è la prima di tre sessioni dedicate all'intelligenza artificiale in azienda. Oggi non parliamo ancora di strumenti specifici né di progetti: costruiamo un linguaggio comune. Vogliamo capire che cosa è davvero l'AI, come funziona a grandi linee, che cosa sa fare bene e dove invece sbaglia, e perché il controllo delle persone resta decisivo. Alla fine della mattinata guarderemo insieme dove l'AI può essere utile in un'azienda come la vostra, reparto per reparto. Non servono conoscenze tecniche: se qualcosa non è chiaro, fermatemi pure.</a:t>
            </a:r>
          </a:p>
        </p:txBody>
      </p:sp>
      <p:sp>
        <p:nvSpPr>
          <p:cNvPr id="4" name="Slide Number Placeholder 3">
            <a:extLst>
              <a:ext uri="{FF2B5EF4-FFF2-40B4-BE49-F238E27FC236}">
                <a16:creationId xmlns:a16="http://schemas.microsoft.com/office/drawing/2014/main" id="{66C64FE5-3C01-F5D9-86C8-CEAEE9F1949D}"/>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40630965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Un piccolo compito per la prossima volta, facoltativo ma molto utile. Scegliete un'attività reale del vostro lavoro, non riservata: per esempio riassumere un documento interno non riservato, riscrivere un'email in modo più chiaro, tradurre un testo, preparare una lista di controllo. Provatela con Copilot, cioè con lo strumento autorizzato dall'azienda, non con account personali. Poi annotate quattro cose: che cosa avete chiesto, che risultato avete ottenuto, quali errori avete trovato, e quanto tempo vi ha fatto risparmiare o perdere. Le regole sono quelle di oggi: niente dati riservati, niente dati personali, nessun nome di cliente, e verificate sempre il risultato prima di usarlo. All'inizio della seconda sessione raccogliamo le vostre esperienze: anche quelle andate male sono preziose, anzi spesso lo sono di più.</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Riassumiamo la giornata in cinque punti. Primo: l'AI non è una tecnologia sola, e non è una mente; è un insieme di sistemi che apprendono regolarità dai dati e producono previsioni, classificazioni o contenuti. Secondo: i modelli linguistici generano risposte plausibili, che possono essere utili ma anche sbagliate; la variabilità è normale, e il tono sicuro non è una garanzia. Terzo: gli errori tipici sono le allucinazioni, i bias e le omissioni, e si riducono dando all'AI fonti affidabili e verificando i risultati in proporzione all'importanza del compito. Quarto: il controllo resta umano, e la responsabilità anche. Quinto: l'AI può aiutare in tutti i reparti, partendo dagli sprechi informativi e non dallo strumento. Nella prossima sessione passeremo agli strumenti: Copilot, come scrivere richieste efficaci, tre esempi concreti e le applicazioni nei processi, nel service e nel prodotto. Grazie, e ci vediamo alla prossima sessione. Se ci sono domande, questo è il momento.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rtlCol="0"/>
          <a:lstStyle>
            <a:lvl1pPr marL="0" indent="0">
              <a:buNone/>
              <a:defRPr lang="en-US" sz="1300" b="1" kern="0" spc="200" dirty="0">
                <a:solidFill>
                  <a:schemeClr val="accent1"/>
                </a:solidFill>
              </a:defRPr>
            </a:lvl1pPr>
          </a:lstStyle>
          <a:p>
            <a:pPr marL="0" indent="0">
              <a:buNone/>
            </a:pPr>
            <a:endParaRPr lang="en-US" sz="130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rtlCol="0"/>
          <a:lstStyle>
            <a:lvl1pPr marL="0" indent="0">
              <a:buNone/>
              <a:defRPr lang="en-US" sz="6000" b="1" dirty="0">
                <a:solidFill>
                  <a:schemeClr val="accent1"/>
                </a:solidFill>
              </a:defRPr>
            </a:lvl1pPr>
          </a:lstStyle>
          <a:p>
            <a:pPr marL="0" indent="0">
              <a:buNone/>
            </a:pP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Adoption  ·  Laser Srl  ·  Sessione 1  ·  Capire l'AI senza tecnicismi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rtlCol="0"/>
          <a:lstStyle>
            <a:lvl1pPr marL="0" indent="0" algn="l">
              <a:buNone/>
              <a:defRPr lang="en-US" sz="2600" b="1" dirty="0">
                <a:solidFill>
                  <a:schemeClr val="tx1"/>
                </a:solidFill>
              </a:defRPr>
            </a:lvl1pPr>
          </a:lstStyle>
          <a:p>
            <a:pPr marL="0" indent="0" algn="l">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marL="0" indent="0">
              <a:buNone/>
            </a:pPr>
            <a:r>
              <a:rPr lang="en-US" sz="900" dirty="0">
                <a:solidFill>
                  <a:schemeClr val="accent2"/>
                </a:solidFill>
              </a:rPr>
              <a:t>AI Adoption  ·  Laser Srl  ·  Sessione 1  ·  Capire l'AI senza tecnicismi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marL="0" indent="0">
              <a:buNone/>
            </a:pPr>
            <a:r>
              <a:rPr lang="en-US" sz="1300" b="1" kern="0" spc="300" dirty="0">
                <a:solidFill>
                  <a:schemeClr val="accent1"/>
                </a:solidFill>
              </a:rPr>
              <a:t>CONCETTO CHIAVE</a:t>
            </a:r>
            <a:endParaRPr lang="en-US" sz="1300" dirty="0"/>
          </a:p>
        </p:txBody>
      </p:sp>
      <p:sp>
        <p:nvSpPr>
          <p:cNvPr id="3" name="Text 1"/>
          <p:cNvSpPr>
            <a:spLocks noGrp="1"/>
          </p:cNvSpPr>
          <p:nvPr>
            <p:ph type="body" idx="101" hasCustomPrompt="1"/>
          </p:nvPr>
        </p:nvSpPr>
        <p:spPr>
          <a:xfrm>
            <a:off x="822960" y="1600200"/>
            <a:ext cx="7498080" cy="2011680"/>
          </a:xfrm>
          <a:prstGeom prst="rect">
            <a:avLst/>
          </a:prstGeom>
          <a:noFill/>
          <a:ln/>
        </p:spPr>
        <p:txBody>
          <a:bodyPr wrap="square" rtlCol="0"/>
          <a:lstStyle>
            <a:lvl1pPr marL="0" indent="0">
              <a:buNone/>
              <a:defRPr lang="en-US" sz="2600" dirty="0">
                <a:solidFill>
                  <a:schemeClr val="bg1"/>
                </a:solidFill>
              </a:defRPr>
            </a:lvl1pPr>
          </a:lstStyle>
          <a:p>
            <a:pPr marL="0" indent="0">
              <a:buNone/>
            </a:pPr>
            <a:endParaRPr lang="en-US" sz="2600" dirty="0"/>
          </a:p>
        </p:txBody>
      </p:sp>
      <p:sp>
        <p:nvSpPr>
          <p:cNvPr id="4" name="Text 1"/>
          <p:cNvSpPr>
            <a:spLocks noGrp="1"/>
          </p:cNvSpPr>
          <p:nvPr>
            <p:ph type="body" idx="102" hasCustomPrompt="1"/>
          </p:nvPr>
        </p:nvSpPr>
        <p:spPr>
          <a:xfrm>
            <a:off x="822960" y="3794760"/>
            <a:ext cx="7498080" cy="365760"/>
          </a:xfrm>
          <a:prstGeom prst="rect">
            <a:avLst/>
          </a:prstGeom>
          <a:noFill/>
          <a:ln/>
        </p:spPr>
        <p:txBody>
          <a:bodyPr wrap="square" rtlCol="0"/>
          <a:lstStyle>
            <a:lvl1pPr marL="0" indent="0">
              <a:buNone/>
              <a:defRPr lang="en-US" sz="1300" dirty="0">
                <a:solidFill>
                  <a:schemeClr val="accent3"/>
                </a:solidFill>
              </a:defRPr>
            </a:lvl1pPr>
          </a:lstStyle>
          <a:p>
            <a:pPr marL="0" indent="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Adoption  ·  Laser Srl  ·  Sessione 1  ·  Capire l'AI senza tecnicismi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4.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10.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AI ADOPTION  ·  LASER SRL  ·  SESSIONE 1 DI 3</a:t>
            </a:r>
            <a:endParaRPr lang="en-US" sz="130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a:solidFill>
                  <a:schemeClr val="bg1"/>
                </a:solidFill>
              </a:rPr>
              <a:t>Capire l'AI senza tecnicismi</a:t>
            </a:r>
            <a:endParaRPr lang="en-US" sz="360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sz="1600" dirty="0">
                <a:solidFill>
                  <a:schemeClr val="accent3"/>
                </a:solidFill>
              </a:rPr>
              <a:t>Che cos'è, come funziona, che cosa sa fare e dove sbaglia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Il percorso in tre sessioni</a:t>
            </a:r>
            <a:endParaRPr lang="en-US" sz="2600" dirty="0"/>
          </a:p>
        </p:txBody>
      </p:sp>
      <p:sp>
        <p:nvSpPr>
          <p:cNvPr id="6" name="sessione 1"/>
          <p:cNvSpPr/>
          <p:nvPr/>
        </p:nvSpPr>
        <p:spPr>
          <a:xfrm>
            <a:off x="457200" y="1097280"/>
            <a:ext cx="2606040" cy="2697480"/>
          </a:xfrm>
          <a:prstGeom prst="roundRect">
            <a:avLst>
              <a:gd name="adj" fmla="val 2807"/>
            </a:avLst>
          </a:prstGeom>
          <a:solidFill>
            <a:schemeClr val="accent6"/>
          </a:solidFill>
          <a:ln/>
        </p:spPr>
        <p:txBody>
          <a:bodyPr/>
          <a:lstStyle/>
          <a:p>
            <a:endParaRPr lang="it-IT"/>
          </a:p>
        </p:txBody>
      </p:sp>
      <p:sp>
        <p:nvSpPr>
          <p:cNvPr id="7" name="cerchio FiBookOpen"/>
          <p:cNvSpPr/>
          <p:nvPr/>
        </p:nvSpPr>
        <p:spPr>
          <a:xfrm>
            <a:off x="640080" y="1261872"/>
            <a:ext cx="457200" cy="457200"/>
          </a:xfrm>
          <a:prstGeom prst="ellipse">
            <a:avLst/>
          </a:prstGeom>
          <a:solidFill>
            <a:schemeClr val="accent1"/>
          </a:solidFill>
          <a:ln/>
        </p:spPr>
        <p:txBody>
          <a:bodyPr/>
          <a:lstStyle/>
          <a:p>
            <a:endParaRPr lang="it-IT"/>
          </a:p>
        </p:txBody>
      </p:sp>
      <p:pic>
        <p:nvPicPr>
          <p:cNvPr id="8" name="Image 0" descr="FiBookOpen"/>
          <p:cNvPicPr>
            <a:picLocks noChangeAspect="1"/>
          </p:cNvPicPr>
          <p:nvPr/>
        </p:nvPicPr>
        <p:blipFill>
          <a:blip r:embed="rId3"/>
          <a:stretch>
            <a:fillRect/>
          </a:stretch>
        </p:blipFill>
        <p:spPr>
          <a:xfrm>
            <a:off x="754380" y="1376172"/>
            <a:ext cx="228600" cy="228600"/>
          </a:xfrm>
          <a:prstGeom prst="rect">
            <a:avLst/>
          </a:prstGeom>
        </p:spPr>
      </p:pic>
      <p:sp>
        <p:nvSpPr>
          <p:cNvPr id="9" name="Text 5"/>
          <p:cNvSpPr txBox="1"/>
          <p:nvPr/>
        </p:nvSpPr>
        <p:spPr>
          <a:xfrm>
            <a:off x="1207008" y="1261872"/>
            <a:ext cx="1737360" cy="228600"/>
          </a:xfrm>
          <a:prstGeom prst="rect">
            <a:avLst/>
          </a:prstGeom>
          <a:noFill/>
          <a:ln/>
        </p:spPr>
        <p:txBody>
          <a:bodyPr wrap="square" lIns="0" tIns="0" rIns="0" bIns="0" rtlCol="0" anchor="t"/>
          <a:lstStyle/>
          <a:p>
            <a:pPr marL="0" indent="0">
              <a:buNone/>
            </a:pPr>
            <a:r>
              <a:rPr lang="en-US" sz="1000" b="1" kern="0" spc="100" dirty="0">
                <a:solidFill>
                  <a:schemeClr val="accent1"/>
                </a:solidFill>
              </a:rPr>
              <a:t>SESSIONE 1</a:t>
            </a:r>
            <a:endParaRPr lang="en-US" sz="1000" dirty="0"/>
          </a:p>
        </p:txBody>
      </p:sp>
      <p:sp>
        <p:nvSpPr>
          <p:cNvPr id="10" name="Text 6"/>
          <p:cNvSpPr txBox="1"/>
          <p:nvPr/>
        </p:nvSpPr>
        <p:spPr>
          <a:xfrm>
            <a:off x="1207008" y="1481328"/>
            <a:ext cx="1783080" cy="274320"/>
          </a:xfrm>
          <a:prstGeom prst="rect">
            <a:avLst/>
          </a:prstGeom>
          <a:noFill/>
          <a:ln/>
        </p:spPr>
        <p:txBody>
          <a:bodyPr wrap="square" lIns="0" tIns="0" rIns="0" bIns="0" rtlCol="0" anchor="t"/>
          <a:lstStyle/>
          <a:p>
            <a:pPr marL="0" indent="0">
              <a:buNone/>
            </a:pPr>
            <a:r>
              <a:rPr lang="en-US" sz="1500" b="1" dirty="0">
                <a:solidFill>
                  <a:schemeClr val="tx1"/>
                </a:solidFill>
              </a:rPr>
              <a:t>Capire l'AI</a:t>
            </a:r>
            <a:endParaRPr lang="en-US" sz="1500" dirty="0"/>
          </a:p>
        </p:txBody>
      </p:sp>
      <p:sp>
        <p:nvSpPr>
          <p:cNvPr id="11" name="Text 7"/>
          <p:cNvSpPr txBox="1"/>
          <p:nvPr/>
        </p:nvSpPr>
        <p:spPr>
          <a:xfrm>
            <a:off x="640080" y="1965960"/>
            <a:ext cx="2286000" cy="1691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Che cos'è e come funziona</a:t>
            </a:r>
            <a:endParaRPr lang="en-US" sz="1300" dirty="0"/>
          </a:p>
          <a:p>
            <a:pPr marL="177800" indent="-177800">
              <a:spcAft>
                <a:spcPts val="600"/>
              </a:spcAft>
              <a:buSzPct val="100000"/>
              <a:buChar char="•"/>
            </a:pPr>
            <a:r>
              <a:rPr lang="en-US" sz="1300" dirty="0">
                <a:solidFill>
                  <a:schemeClr val="tx2"/>
                </a:solidFill>
              </a:rPr>
              <a:t>Che cosa sa fare, dove sbaglia</a:t>
            </a:r>
            <a:endParaRPr lang="en-US" sz="1300" dirty="0"/>
          </a:p>
          <a:p>
            <a:pPr marL="177800" indent="-177800">
              <a:spcAft>
                <a:spcPts val="600"/>
              </a:spcAft>
              <a:buSzPct val="100000"/>
              <a:buChar char="•"/>
            </a:pPr>
            <a:r>
              <a:rPr lang="en-US" sz="1300" dirty="0">
                <a:solidFill>
                  <a:schemeClr val="tx2"/>
                </a:solidFill>
              </a:rPr>
              <a:t>Dove serve in Laser</a:t>
            </a:r>
            <a:endParaRPr lang="en-US" sz="1300" dirty="0"/>
          </a:p>
        </p:txBody>
      </p:sp>
      <p:sp>
        <p:nvSpPr>
          <p:cNvPr id="12" name="freccia"/>
          <p:cNvSpPr/>
          <p:nvPr/>
        </p:nvSpPr>
        <p:spPr>
          <a:xfrm>
            <a:off x="3081528" y="2286000"/>
            <a:ext cx="146304" cy="292608"/>
          </a:xfrm>
          <a:prstGeom prst="rightArrow">
            <a:avLst/>
          </a:prstGeom>
          <a:solidFill>
            <a:schemeClr val="accent2"/>
          </a:solidFill>
          <a:ln/>
        </p:spPr>
        <p:txBody>
          <a:bodyPr/>
          <a:lstStyle/>
          <a:p>
            <a:endParaRPr lang="it-IT"/>
          </a:p>
        </p:txBody>
      </p:sp>
      <p:sp>
        <p:nvSpPr>
          <p:cNvPr id="13" name="sessione 2"/>
          <p:cNvSpPr/>
          <p:nvPr/>
        </p:nvSpPr>
        <p:spPr>
          <a:xfrm>
            <a:off x="3246120" y="1097280"/>
            <a:ext cx="2606040" cy="2697480"/>
          </a:xfrm>
          <a:prstGeom prst="roundRect">
            <a:avLst>
              <a:gd name="adj" fmla="val 2807"/>
            </a:avLst>
          </a:prstGeom>
          <a:solidFill>
            <a:schemeClr val="bg2"/>
          </a:solidFill>
          <a:ln/>
        </p:spPr>
        <p:txBody>
          <a:bodyPr/>
          <a:lstStyle/>
          <a:p>
            <a:endParaRPr lang="it-IT"/>
          </a:p>
        </p:txBody>
      </p:sp>
      <p:sp>
        <p:nvSpPr>
          <p:cNvPr id="14" name="cerchio FiTool"/>
          <p:cNvSpPr/>
          <p:nvPr/>
        </p:nvSpPr>
        <p:spPr>
          <a:xfrm>
            <a:off x="3429000" y="1261872"/>
            <a:ext cx="457200" cy="457200"/>
          </a:xfrm>
          <a:prstGeom prst="ellipse">
            <a:avLst/>
          </a:prstGeom>
          <a:solidFill>
            <a:schemeClr val="accent1"/>
          </a:solidFill>
          <a:ln/>
        </p:spPr>
        <p:txBody>
          <a:bodyPr/>
          <a:lstStyle/>
          <a:p>
            <a:endParaRPr lang="it-IT"/>
          </a:p>
        </p:txBody>
      </p:sp>
      <p:pic>
        <p:nvPicPr>
          <p:cNvPr id="15" name="Image 1" descr="FiTool"/>
          <p:cNvPicPr>
            <a:picLocks noChangeAspect="1"/>
          </p:cNvPicPr>
          <p:nvPr/>
        </p:nvPicPr>
        <p:blipFill>
          <a:blip r:embed="rId4"/>
          <a:stretch>
            <a:fillRect/>
          </a:stretch>
        </p:blipFill>
        <p:spPr>
          <a:xfrm>
            <a:off x="3543300" y="1376172"/>
            <a:ext cx="228600" cy="228600"/>
          </a:xfrm>
          <a:prstGeom prst="rect">
            <a:avLst/>
          </a:prstGeom>
        </p:spPr>
      </p:pic>
      <p:sp>
        <p:nvSpPr>
          <p:cNvPr id="16" name="Text 11"/>
          <p:cNvSpPr txBox="1"/>
          <p:nvPr/>
        </p:nvSpPr>
        <p:spPr>
          <a:xfrm>
            <a:off x="3995928" y="1261872"/>
            <a:ext cx="1737360" cy="228600"/>
          </a:xfrm>
          <a:prstGeom prst="rect">
            <a:avLst/>
          </a:prstGeom>
          <a:noFill/>
          <a:ln/>
        </p:spPr>
        <p:txBody>
          <a:bodyPr wrap="square" lIns="0" tIns="0" rIns="0" bIns="0" rtlCol="0" anchor="t"/>
          <a:lstStyle/>
          <a:p>
            <a:pPr marL="0" indent="0">
              <a:buNone/>
            </a:pPr>
            <a:r>
              <a:rPr lang="en-US" sz="1000" b="1" kern="0" spc="100" dirty="0">
                <a:solidFill>
                  <a:schemeClr val="accent1"/>
                </a:solidFill>
              </a:rPr>
              <a:t>SESSIONE 2</a:t>
            </a:r>
            <a:endParaRPr lang="en-US" sz="1000" dirty="0"/>
          </a:p>
        </p:txBody>
      </p:sp>
      <p:sp>
        <p:nvSpPr>
          <p:cNvPr id="17" name="Text 12"/>
          <p:cNvSpPr txBox="1"/>
          <p:nvPr/>
        </p:nvSpPr>
        <p:spPr>
          <a:xfrm>
            <a:off x="3995928" y="1481328"/>
            <a:ext cx="1783080" cy="274320"/>
          </a:xfrm>
          <a:prstGeom prst="rect">
            <a:avLst/>
          </a:prstGeom>
          <a:noFill/>
          <a:ln/>
        </p:spPr>
        <p:txBody>
          <a:bodyPr wrap="square" lIns="0" tIns="0" rIns="0" bIns="0" rtlCol="0" anchor="t"/>
          <a:lstStyle/>
          <a:p>
            <a:pPr marL="0" indent="0">
              <a:buNone/>
            </a:pPr>
            <a:r>
              <a:rPr lang="en-US" sz="1500" b="1" dirty="0">
                <a:solidFill>
                  <a:schemeClr val="tx1"/>
                </a:solidFill>
              </a:rPr>
              <a:t>Strumenti e applicazioni</a:t>
            </a:r>
            <a:endParaRPr lang="en-US" sz="1500" dirty="0"/>
          </a:p>
        </p:txBody>
      </p:sp>
      <p:sp>
        <p:nvSpPr>
          <p:cNvPr id="18" name="Text 13"/>
          <p:cNvSpPr txBox="1"/>
          <p:nvPr/>
        </p:nvSpPr>
        <p:spPr>
          <a:xfrm>
            <a:off x="3429000" y="1965960"/>
            <a:ext cx="2286000" cy="1691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Copilot e assistenti AI</a:t>
            </a:r>
            <a:endParaRPr lang="en-US" sz="1300" dirty="0"/>
          </a:p>
          <a:p>
            <a:pPr marL="177800" indent="-177800">
              <a:spcAft>
                <a:spcPts val="600"/>
              </a:spcAft>
              <a:buSzPct val="100000"/>
              <a:buChar char="•"/>
            </a:pPr>
            <a:r>
              <a:rPr lang="en-US" sz="1300" dirty="0">
                <a:solidFill>
                  <a:schemeClr val="tx2"/>
                </a:solidFill>
              </a:rPr>
              <a:t>Richieste efficaci, demo</a:t>
            </a:r>
            <a:endParaRPr lang="en-US" sz="1300" dirty="0"/>
          </a:p>
          <a:p>
            <a:pPr marL="177800" indent="-177800">
              <a:spcAft>
                <a:spcPts val="600"/>
              </a:spcAft>
              <a:buSzPct val="100000"/>
              <a:buChar char="•"/>
            </a:pPr>
            <a:r>
              <a:rPr lang="en-US" sz="1300" dirty="0">
                <a:solidFill>
                  <a:schemeClr val="tx2"/>
                </a:solidFill>
              </a:rPr>
              <a:t>Processi, service, prodotto</a:t>
            </a:r>
            <a:endParaRPr lang="en-US" sz="1300" dirty="0"/>
          </a:p>
        </p:txBody>
      </p:sp>
      <p:sp>
        <p:nvSpPr>
          <p:cNvPr id="19" name="freccia"/>
          <p:cNvSpPr/>
          <p:nvPr/>
        </p:nvSpPr>
        <p:spPr>
          <a:xfrm>
            <a:off x="5870448" y="2286000"/>
            <a:ext cx="146304" cy="292608"/>
          </a:xfrm>
          <a:prstGeom prst="rightArrow">
            <a:avLst/>
          </a:prstGeom>
          <a:solidFill>
            <a:schemeClr val="accent2"/>
          </a:solidFill>
          <a:ln/>
        </p:spPr>
        <p:txBody>
          <a:bodyPr/>
          <a:lstStyle/>
          <a:p>
            <a:endParaRPr lang="it-IT"/>
          </a:p>
        </p:txBody>
      </p:sp>
      <p:sp>
        <p:nvSpPr>
          <p:cNvPr id="20" name="sessione 3"/>
          <p:cNvSpPr/>
          <p:nvPr/>
        </p:nvSpPr>
        <p:spPr>
          <a:xfrm>
            <a:off x="6035040" y="1097280"/>
            <a:ext cx="2606040" cy="2697480"/>
          </a:xfrm>
          <a:prstGeom prst="roundRect">
            <a:avLst>
              <a:gd name="adj" fmla="val 2807"/>
            </a:avLst>
          </a:prstGeom>
          <a:solidFill>
            <a:schemeClr val="bg2"/>
          </a:solidFill>
          <a:ln/>
        </p:spPr>
        <p:txBody>
          <a:bodyPr/>
          <a:lstStyle/>
          <a:p>
            <a:endParaRPr lang="it-IT"/>
          </a:p>
        </p:txBody>
      </p:sp>
      <p:sp>
        <p:nvSpPr>
          <p:cNvPr id="21" name="cerchio FiMap"/>
          <p:cNvSpPr/>
          <p:nvPr/>
        </p:nvSpPr>
        <p:spPr>
          <a:xfrm>
            <a:off x="6217920" y="1261872"/>
            <a:ext cx="457200" cy="457200"/>
          </a:xfrm>
          <a:prstGeom prst="ellipse">
            <a:avLst/>
          </a:prstGeom>
          <a:solidFill>
            <a:schemeClr val="accent1"/>
          </a:solidFill>
          <a:ln/>
        </p:spPr>
        <p:txBody>
          <a:bodyPr/>
          <a:lstStyle/>
          <a:p>
            <a:endParaRPr lang="it-IT"/>
          </a:p>
        </p:txBody>
      </p:sp>
      <p:pic>
        <p:nvPicPr>
          <p:cNvPr id="22" name="Image 2" descr="FiMap"/>
          <p:cNvPicPr>
            <a:picLocks noChangeAspect="1"/>
          </p:cNvPicPr>
          <p:nvPr/>
        </p:nvPicPr>
        <p:blipFill>
          <a:blip r:embed="rId5"/>
          <a:stretch>
            <a:fillRect/>
          </a:stretch>
        </p:blipFill>
        <p:spPr>
          <a:xfrm>
            <a:off x="6332220" y="1376172"/>
            <a:ext cx="228600" cy="228600"/>
          </a:xfrm>
          <a:prstGeom prst="rect">
            <a:avLst/>
          </a:prstGeom>
        </p:spPr>
      </p:pic>
      <p:sp>
        <p:nvSpPr>
          <p:cNvPr id="23" name="Text 17"/>
          <p:cNvSpPr txBox="1"/>
          <p:nvPr/>
        </p:nvSpPr>
        <p:spPr>
          <a:xfrm>
            <a:off x="6784848" y="1261872"/>
            <a:ext cx="1737360" cy="228600"/>
          </a:xfrm>
          <a:prstGeom prst="rect">
            <a:avLst/>
          </a:prstGeom>
          <a:noFill/>
          <a:ln/>
        </p:spPr>
        <p:txBody>
          <a:bodyPr wrap="square" lIns="0" tIns="0" rIns="0" bIns="0" rtlCol="0" anchor="t"/>
          <a:lstStyle/>
          <a:p>
            <a:pPr marL="0" indent="0">
              <a:buNone/>
            </a:pPr>
            <a:r>
              <a:rPr lang="en-US" sz="1000" b="1" kern="0" spc="100" dirty="0">
                <a:solidFill>
                  <a:schemeClr val="accent1"/>
                </a:solidFill>
              </a:rPr>
              <a:t>SESSIONE 3</a:t>
            </a:r>
            <a:endParaRPr lang="en-US" sz="1000" dirty="0"/>
          </a:p>
        </p:txBody>
      </p:sp>
      <p:sp>
        <p:nvSpPr>
          <p:cNvPr id="24" name="Text 18"/>
          <p:cNvSpPr txBox="1"/>
          <p:nvPr/>
        </p:nvSpPr>
        <p:spPr>
          <a:xfrm>
            <a:off x="6784848" y="1481328"/>
            <a:ext cx="1783080" cy="274320"/>
          </a:xfrm>
          <a:prstGeom prst="rect">
            <a:avLst/>
          </a:prstGeom>
          <a:noFill/>
          <a:ln/>
        </p:spPr>
        <p:txBody>
          <a:bodyPr wrap="square" lIns="0" tIns="0" rIns="0" bIns="0" rtlCol="0" anchor="t"/>
          <a:lstStyle/>
          <a:p>
            <a:pPr marL="0" indent="0">
              <a:buNone/>
            </a:pPr>
            <a:r>
              <a:rPr lang="en-US" sz="1500" b="1" dirty="0">
                <a:solidFill>
                  <a:schemeClr val="tx1"/>
                </a:solidFill>
              </a:rPr>
              <a:t>Regole e roadmap</a:t>
            </a:r>
            <a:endParaRPr lang="en-US" sz="1500" dirty="0"/>
          </a:p>
        </p:txBody>
      </p:sp>
      <p:sp>
        <p:nvSpPr>
          <p:cNvPr id="25" name="Text 19"/>
          <p:cNvSpPr txBox="1"/>
          <p:nvPr/>
        </p:nvSpPr>
        <p:spPr>
          <a:xfrm>
            <a:off x="6217920" y="1965960"/>
            <a:ext cx="2286000" cy="1691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Uso sicuro e normativa</a:t>
            </a:r>
            <a:endParaRPr lang="en-US" sz="1300" dirty="0"/>
          </a:p>
          <a:p>
            <a:pPr marL="177800" indent="-177800">
              <a:spcAft>
                <a:spcPts val="600"/>
              </a:spcAft>
              <a:buSzPct val="100000"/>
              <a:buChar char="•"/>
            </a:pPr>
            <a:r>
              <a:rPr lang="en-US" sz="1300" dirty="0">
                <a:solidFill>
                  <a:schemeClr val="tx2"/>
                </a:solidFill>
              </a:rPr>
              <a:t>Governance minima</a:t>
            </a:r>
            <a:endParaRPr lang="en-US" sz="1300" dirty="0"/>
          </a:p>
          <a:p>
            <a:pPr marL="177800" indent="-177800">
              <a:spcAft>
                <a:spcPts val="600"/>
              </a:spcAft>
              <a:buSzPct val="100000"/>
              <a:buChar char="•"/>
            </a:pPr>
            <a:r>
              <a:rPr lang="en-US" sz="1300" dirty="0">
                <a:solidFill>
                  <a:schemeClr val="tx2"/>
                </a:solidFill>
              </a:rPr>
              <a:t>Casi d'uso, schede progetto</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Da dove partiamo</a:t>
            </a:r>
            <a:endParaRPr lang="en-US" sz="2600" dirty="0"/>
          </a:p>
        </p:txBody>
      </p:sp>
      <p:sp>
        <p:nvSpPr>
          <p:cNvPr id="6" name="domanda 1"/>
          <p:cNvSpPr/>
          <p:nvPr/>
        </p:nvSpPr>
        <p:spPr>
          <a:xfrm>
            <a:off x="457200" y="1097280"/>
            <a:ext cx="8229600" cy="896112"/>
          </a:xfrm>
          <a:prstGeom prst="roundRect">
            <a:avLst>
              <a:gd name="adj" fmla="val 8163"/>
            </a:avLst>
          </a:prstGeom>
          <a:solidFill>
            <a:schemeClr val="bg2"/>
          </a:solidFill>
          <a:ln w="9525">
            <a:solidFill>
              <a:schemeClr val="accent3"/>
            </a:solidFill>
            <a:prstDash val="solid"/>
          </a:ln>
        </p:spPr>
        <p:txBody>
          <a:bodyPr/>
          <a:lstStyle/>
          <a:p>
            <a:endParaRPr lang="it-IT"/>
          </a:p>
        </p:txBody>
      </p:sp>
      <p:sp>
        <p:nvSpPr>
          <p:cNvPr id="7" name="cerchio FiUsers"/>
          <p:cNvSpPr/>
          <p:nvPr/>
        </p:nvSpPr>
        <p:spPr>
          <a:xfrm>
            <a:off x="640080" y="1298448"/>
            <a:ext cx="493776" cy="493776"/>
          </a:xfrm>
          <a:prstGeom prst="ellipse">
            <a:avLst/>
          </a:prstGeom>
          <a:solidFill>
            <a:schemeClr val="accent1"/>
          </a:solidFill>
          <a:ln/>
        </p:spPr>
        <p:txBody>
          <a:bodyPr/>
          <a:lstStyle/>
          <a:p>
            <a:endParaRPr lang="it-IT"/>
          </a:p>
        </p:txBody>
      </p:sp>
      <p:pic>
        <p:nvPicPr>
          <p:cNvPr id="8" name="Image 0" descr="FiUsers"/>
          <p:cNvPicPr>
            <a:picLocks noChangeAspect="1"/>
          </p:cNvPicPr>
          <p:nvPr/>
        </p:nvPicPr>
        <p:blipFill>
          <a:blip r:embed="rId3"/>
          <a:stretch>
            <a:fillRect/>
          </a:stretch>
        </p:blipFill>
        <p:spPr>
          <a:xfrm>
            <a:off x="763524" y="1421892"/>
            <a:ext cx="246888" cy="246888"/>
          </a:xfrm>
          <a:prstGeom prst="rect">
            <a:avLst/>
          </a:prstGeom>
        </p:spPr>
      </p:pic>
      <p:sp>
        <p:nvSpPr>
          <p:cNvPr id="9" name="Text 5"/>
          <p:cNvSpPr txBox="1"/>
          <p:nvPr/>
        </p:nvSpPr>
        <p:spPr>
          <a:xfrm>
            <a:off x="1371600" y="1225296"/>
            <a:ext cx="7132320" cy="347472"/>
          </a:xfrm>
          <a:prstGeom prst="rect">
            <a:avLst/>
          </a:prstGeom>
          <a:noFill/>
          <a:ln/>
        </p:spPr>
        <p:txBody>
          <a:bodyPr wrap="square" lIns="0" tIns="0" rIns="0" bIns="0" rtlCol="0" anchor="t"/>
          <a:lstStyle/>
          <a:p>
            <a:pPr marL="0" indent="0">
              <a:buNone/>
            </a:pPr>
            <a:r>
              <a:rPr lang="en-US" sz="1700" b="1" dirty="0">
                <a:solidFill>
                  <a:schemeClr val="tx1"/>
                </a:solidFill>
              </a:rPr>
              <a:t>Chi ha già usato uno strumento di AI?</a:t>
            </a:r>
            <a:endParaRPr lang="en-US" sz="1700" dirty="0"/>
          </a:p>
        </p:txBody>
      </p:sp>
      <p:sp>
        <p:nvSpPr>
          <p:cNvPr id="10" name="Text 6"/>
          <p:cNvSpPr txBox="1"/>
          <p:nvPr/>
        </p:nvSpPr>
        <p:spPr>
          <a:xfrm>
            <a:off x="1371600" y="1572768"/>
            <a:ext cx="7132320" cy="320040"/>
          </a:xfrm>
          <a:prstGeom prst="rect">
            <a:avLst/>
          </a:prstGeom>
          <a:noFill/>
          <a:ln/>
        </p:spPr>
        <p:txBody>
          <a:bodyPr wrap="square" lIns="0" tIns="0" rIns="0" bIns="0" rtlCol="0" anchor="t"/>
          <a:lstStyle/>
          <a:p>
            <a:pPr marL="0" indent="0">
              <a:buNone/>
            </a:pPr>
            <a:r>
              <a:rPr lang="en-US" sz="1300" dirty="0">
                <a:solidFill>
                  <a:schemeClr val="tx2"/>
                </a:solidFill>
              </a:rPr>
              <a:t>ChatGPT, Copilot, Gemini, traduttori, assistenti nel telefono</a:t>
            </a:r>
            <a:endParaRPr lang="en-US" sz="1300" dirty="0"/>
          </a:p>
        </p:txBody>
      </p:sp>
      <p:sp>
        <p:nvSpPr>
          <p:cNvPr id="11" name="domanda 2"/>
          <p:cNvSpPr/>
          <p:nvPr/>
        </p:nvSpPr>
        <p:spPr>
          <a:xfrm>
            <a:off x="457200" y="2121408"/>
            <a:ext cx="8229600" cy="896112"/>
          </a:xfrm>
          <a:prstGeom prst="roundRect">
            <a:avLst>
              <a:gd name="adj" fmla="val 8163"/>
            </a:avLst>
          </a:prstGeom>
          <a:solidFill>
            <a:schemeClr val="bg1"/>
          </a:solidFill>
          <a:ln w="9525">
            <a:solidFill>
              <a:schemeClr val="accent3"/>
            </a:solidFill>
            <a:prstDash val="solid"/>
          </a:ln>
        </p:spPr>
        <p:txBody>
          <a:bodyPr/>
          <a:lstStyle/>
          <a:p>
            <a:endParaRPr lang="it-IT"/>
          </a:p>
        </p:txBody>
      </p:sp>
      <p:sp>
        <p:nvSpPr>
          <p:cNvPr id="12" name="cerchio FiEdit3"/>
          <p:cNvSpPr/>
          <p:nvPr/>
        </p:nvSpPr>
        <p:spPr>
          <a:xfrm>
            <a:off x="640080" y="2322576"/>
            <a:ext cx="493776" cy="493776"/>
          </a:xfrm>
          <a:prstGeom prst="ellipse">
            <a:avLst/>
          </a:prstGeom>
          <a:solidFill>
            <a:schemeClr val="accent1"/>
          </a:solidFill>
          <a:ln/>
        </p:spPr>
        <p:txBody>
          <a:bodyPr/>
          <a:lstStyle/>
          <a:p>
            <a:endParaRPr lang="it-IT"/>
          </a:p>
        </p:txBody>
      </p:sp>
      <p:pic>
        <p:nvPicPr>
          <p:cNvPr id="13" name="Image 1" descr="FiEdit3"/>
          <p:cNvPicPr>
            <a:picLocks noChangeAspect="1"/>
          </p:cNvPicPr>
          <p:nvPr/>
        </p:nvPicPr>
        <p:blipFill>
          <a:blip r:embed="rId4"/>
          <a:stretch>
            <a:fillRect/>
          </a:stretch>
        </p:blipFill>
        <p:spPr>
          <a:xfrm>
            <a:off x="763524" y="2446020"/>
            <a:ext cx="246888" cy="246888"/>
          </a:xfrm>
          <a:prstGeom prst="rect">
            <a:avLst/>
          </a:prstGeom>
        </p:spPr>
      </p:pic>
      <p:sp>
        <p:nvSpPr>
          <p:cNvPr id="14" name="Text 9"/>
          <p:cNvSpPr txBox="1"/>
          <p:nvPr/>
        </p:nvSpPr>
        <p:spPr>
          <a:xfrm>
            <a:off x="1371600" y="2249424"/>
            <a:ext cx="7132320" cy="347472"/>
          </a:xfrm>
          <a:prstGeom prst="rect">
            <a:avLst/>
          </a:prstGeom>
          <a:noFill/>
          <a:ln/>
        </p:spPr>
        <p:txBody>
          <a:bodyPr wrap="square" lIns="0" tIns="0" rIns="0" bIns="0" rtlCol="0" anchor="t"/>
          <a:lstStyle/>
          <a:p>
            <a:pPr marL="0" indent="0">
              <a:buNone/>
            </a:pPr>
            <a:r>
              <a:rPr lang="en-US" sz="1700" b="1" dirty="0">
                <a:solidFill>
                  <a:schemeClr val="tx1"/>
                </a:solidFill>
              </a:rPr>
              <a:t>Per che cosa?</a:t>
            </a:r>
            <a:endParaRPr lang="en-US" sz="1700" dirty="0"/>
          </a:p>
        </p:txBody>
      </p:sp>
      <p:sp>
        <p:nvSpPr>
          <p:cNvPr id="15" name="Text 10"/>
          <p:cNvSpPr txBox="1"/>
          <p:nvPr/>
        </p:nvSpPr>
        <p:spPr>
          <a:xfrm>
            <a:off x="1371600" y="2596896"/>
            <a:ext cx="7132320" cy="320040"/>
          </a:xfrm>
          <a:prstGeom prst="rect">
            <a:avLst/>
          </a:prstGeom>
          <a:noFill/>
          <a:ln/>
        </p:spPr>
        <p:txBody>
          <a:bodyPr wrap="square" lIns="0" tIns="0" rIns="0" bIns="0" rtlCol="0" anchor="t"/>
          <a:lstStyle/>
          <a:p>
            <a:pPr marL="0" indent="0">
              <a:buNone/>
            </a:pPr>
            <a:r>
              <a:rPr lang="en-US" sz="1300" dirty="0">
                <a:solidFill>
                  <a:schemeClr val="tx2"/>
                </a:solidFill>
              </a:rPr>
              <a:t>Email, traduzioni, ricerche, riassunti, idee, altro</a:t>
            </a:r>
            <a:endParaRPr lang="en-US" sz="1300" dirty="0"/>
          </a:p>
        </p:txBody>
      </p:sp>
      <p:sp>
        <p:nvSpPr>
          <p:cNvPr id="16" name="domanda 3"/>
          <p:cNvSpPr/>
          <p:nvPr/>
        </p:nvSpPr>
        <p:spPr>
          <a:xfrm>
            <a:off x="457200" y="3145536"/>
            <a:ext cx="8229600" cy="896112"/>
          </a:xfrm>
          <a:prstGeom prst="roundRect">
            <a:avLst>
              <a:gd name="adj" fmla="val 8163"/>
            </a:avLst>
          </a:prstGeom>
          <a:solidFill>
            <a:schemeClr val="bg2"/>
          </a:solidFill>
          <a:ln w="9525">
            <a:solidFill>
              <a:schemeClr val="accent3"/>
            </a:solidFill>
            <a:prstDash val="solid"/>
          </a:ln>
        </p:spPr>
        <p:txBody>
          <a:bodyPr/>
          <a:lstStyle/>
          <a:p>
            <a:endParaRPr lang="it-IT"/>
          </a:p>
        </p:txBody>
      </p:sp>
      <p:sp>
        <p:nvSpPr>
          <p:cNvPr id="17" name="cerchio FiHelpCircle"/>
          <p:cNvSpPr/>
          <p:nvPr/>
        </p:nvSpPr>
        <p:spPr>
          <a:xfrm>
            <a:off x="640080" y="3346704"/>
            <a:ext cx="493776" cy="493776"/>
          </a:xfrm>
          <a:prstGeom prst="ellipse">
            <a:avLst/>
          </a:prstGeom>
          <a:solidFill>
            <a:schemeClr val="accent1"/>
          </a:solidFill>
          <a:ln/>
        </p:spPr>
        <p:txBody>
          <a:bodyPr/>
          <a:lstStyle/>
          <a:p>
            <a:endParaRPr lang="it-IT"/>
          </a:p>
        </p:txBody>
      </p:sp>
      <p:pic>
        <p:nvPicPr>
          <p:cNvPr id="18" name="Image 2" descr="FiHelpCircle"/>
          <p:cNvPicPr>
            <a:picLocks noChangeAspect="1"/>
          </p:cNvPicPr>
          <p:nvPr/>
        </p:nvPicPr>
        <p:blipFill>
          <a:blip r:embed="rId5"/>
          <a:stretch>
            <a:fillRect/>
          </a:stretch>
        </p:blipFill>
        <p:spPr>
          <a:xfrm>
            <a:off x="763524" y="3470148"/>
            <a:ext cx="246888" cy="246888"/>
          </a:xfrm>
          <a:prstGeom prst="rect">
            <a:avLst/>
          </a:prstGeom>
        </p:spPr>
      </p:pic>
      <p:sp>
        <p:nvSpPr>
          <p:cNvPr id="19" name="Text 13"/>
          <p:cNvSpPr txBox="1"/>
          <p:nvPr/>
        </p:nvSpPr>
        <p:spPr>
          <a:xfrm>
            <a:off x="1371600" y="3273552"/>
            <a:ext cx="7132320" cy="347472"/>
          </a:xfrm>
          <a:prstGeom prst="rect">
            <a:avLst/>
          </a:prstGeom>
          <a:noFill/>
          <a:ln/>
        </p:spPr>
        <p:txBody>
          <a:bodyPr wrap="square" lIns="0" tIns="0" rIns="0" bIns="0" rtlCol="0" anchor="t"/>
          <a:lstStyle/>
          <a:p>
            <a:pPr marL="0" indent="0">
              <a:buNone/>
            </a:pPr>
            <a:r>
              <a:rPr lang="en-US" sz="1700" b="1" dirty="0">
                <a:solidFill>
                  <a:schemeClr val="tx1"/>
                </a:solidFill>
              </a:rPr>
              <a:t>Che cosa vi aspettate? Che cosa vi preoccupa?</a:t>
            </a:r>
            <a:endParaRPr lang="en-US" sz="1700" dirty="0"/>
          </a:p>
        </p:txBody>
      </p:sp>
      <p:sp>
        <p:nvSpPr>
          <p:cNvPr id="20" name="Text 14"/>
          <p:cNvSpPr txBox="1"/>
          <p:nvPr/>
        </p:nvSpPr>
        <p:spPr>
          <a:xfrm>
            <a:off x="1371600" y="3621024"/>
            <a:ext cx="7132320" cy="320040"/>
          </a:xfrm>
          <a:prstGeom prst="rect">
            <a:avLst/>
          </a:prstGeom>
          <a:noFill/>
          <a:ln/>
        </p:spPr>
        <p:txBody>
          <a:bodyPr wrap="square" lIns="0" tIns="0" rIns="0" bIns="0" rtlCol="0" anchor="t"/>
          <a:lstStyle/>
          <a:p>
            <a:pPr marL="0" indent="0">
              <a:buNone/>
            </a:pPr>
            <a:r>
              <a:rPr lang="en-US" sz="1300" dirty="0">
                <a:solidFill>
                  <a:schemeClr val="tx2"/>
                </a:solidFill>
              </a:rPr>
              <a:t>Aspettative, dubbi, timori: tutto è utile</a:t>
            </a:r>
            <a:endParaRPr lang="en-US" sz="1300" dirty="0"/>
          </a:p>
        </p:txBody>
      </p:sp>
      <p:sp>
        <p:nvSpPr>
          <p:cNvPr id="21" name="Text 15"/>
          <p:cNvSpPr txBox="1"/>
          <p:nvPr/>
        </p:nvSpPr>
        <p:spPr>
          <a:xfrm>
            <a:off x="457200" y="4224528"/>
            <a:ext cx="8229600" cy="274320"/>
          </a:xfrm>
          <a:prstGeom prst="rect">
            <a:avLst/>
          </a:prstGeom>
          <a:noFill/>
          <a:ln/>
        </p:spPr>
        <p:txBody>
          <a:bodyPr wrap="square" lIns="0" tIns="0" rIns="0" bIns="0" rtlCol="0" anchor="t"/>
          <a:lstStyle/>
          <a:p>
            <a:pPr marL="0" indent="0">
              <a:buNone/>
            </a:pPr>
            <a:r>
              <a:rPr lang="en-US" sz="1200" i="1" dirty="0">
                <a:solidFill>
                  <a:schemeClr val="accent4"/>
                </a:solidFill>
              </a:rPr>
              <a:t>Per alzata di mano: le risposte tornano a fine giornata.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Vero o falso?</a:t>
            </a:r>
            <a:endParaRPr lang="en-US" sz="2600" dirty="0"/>
          </a:p>
        </p:txBody>
      </p:sp>
      <p:sp>
        <p:nvSpPr>
          <p:cNvPr id="6" name="affermazione 1"/>
          <p:cNvSpPr/>
          <p:nvPr/>
        </p:nvSpPr>
        <p:spPr>
          <a:xfrm>
            <a:off x="457200" y="1097280"/>
            <a:ext cx="4069080" cy="822960"/>
          </a:xfrm>
          <a:prstGeom prst="roundRect">
            <a:avLst>
              <a:gd name="adj" fmla="val 8889"/>
            </a:avLst>
          </a:prstGeom>
          <a:solidFill>
            <a:schemeClr val="bg2"/>
          </a:solidFill>
          <a:ln/>
        </p:spPr>
        <p:txBody>
          <a:bodyPr/>
          <a:lstStyle/>
          <a:p>
            <a:endParaRPr lang="it-IT"/>
          </a:p>
        </p:txBody>
      </p:sp>
      <p:sp>
        <p:nvSpPr>
          <p:cNvPr id="7" name="Text 4"/>
          <p:cNvSpPr txBox="1"/>
          <p:nvPr/>
        </p:nvSpPr>
        <p:spPr>
          <a:xfrm>
            <a:off x="594360" y="1097280"/>
            <a:ext cx="365760" cy="822960"/>
          </a:xfrm>
          <a:prstGeom prst="rect">
            <a:avLst/>
          </a:prstGeom>
          <a:noFill/>
          <a:ln/>
        </p:spPr>
        <p:txBody>
          <a:bodyPr wrap="square" lIns="0" tIns="0" rIns="0" bIns="0" rtlCol="0" anchor="ctr"/>
          <a:lstStyle/>
          <a:p>
            <a:pPr marL="0" indent="0">
              <a:buNone/>
            </a:pPr>
            <a:r>
              <a:rPr lang="en-US" sz="2200" b="1" dirty="0">
                <a:solidFill>
                  <a:schemeClr val="accent1"/>
                </a:solidFill>
              </a:rPr>
              <a:t>1</a:t>
            </a:r>
            <a:endParaRPr lang="en-US" sz="2200" dirty="0"/>
          </a:p>
        </p:txBody>
      </p:sp>
      <p:sp>
        <p:nvSpPr>
          <p:cNvPr id="8" name="Text 5"/>
          <p:cNvSpPr txBox="1"/>
          <p:nvPr/>
        </p:nvSpPr>
        <p:spPr>
          <a:xfrm>
            <a:off x="1005840" y="1097280"/>
            <a:ext cx="3383280" cy="822960"/>
          </a:xfrm>
          <a:prstGeom prst="rect">
            <a:avLst/>
          </a:prstGeom>
          <a:noFill/>
          <a:ln/>
        </p:spPr>
        <p:txBody>
          <a:bodyPr wrap="square" lIns="0" tIns="0" rIns="0" bIns="0" rtlCol="0" anchor="ctr"/>
          <a:lstStyle/>
          <a:p>
            <a:pPr marL="0" indent="0">
              <a:buNone/>
            </a:pPr>
            <a:r>
              <a:rPr lang="en-US" sz="1400" dirty="0">
                <a:solidFill>
                  <a:schemeClr val="tx1"/>
                </a:solidFill>
              </a:rPr>
              <a:t>L’ Ai </a:t>
            </a:r>
            <a:r>
              <a:rPr lang="en-US" sz="1400" dirty="0" err="1">
                <a:solidFill>
                  <a:schemeClr val="tx1"/>
                </a:solidFill>
              </a:rPr>
              <a:t>può</a:t>
            </a:r>
            <a:r>
              <a:rPr lang="en-US" sz="1400" dirty="0">
                <a:solidFill>
                  <a:schemeClr val="tx1"/>
                </a:solidFill>
              </a:rPr>
              <a:t> </a:t>
            </a:r>
            <a:r>
              <a:rPr lang="en-US" sz="1400" dirty="0" err="1">
                <a:solidFill>
                  <a:schemeClr val="tx1"/>
                </a:solidFill>
              </a:rPr>
              <a:t>aiutare</a:t>
            </a:r>
            <a:r>
              <a:rPr lang="en-US" sz="1400" dirty="0">
                <a:solidFill>
                  <a:schemeClr val="tx1"/>
                </a:solidFill>
              </a:rPr>
              <a:t> </a:t>
            </a:r>
            <a:r>
              <a:rPr lang="en-US" sz="1400" dirty="0" err="1">
                <a:solidFill>
                  <a:schemeClr val="tx1"/>
                </a:solidFill>
              </a:rPr>
              <a:t>anche</a:t>
            </a:r>
            <a:r>
              <a:rPr lang="en-US" sz="1400" dirty="0">
                <a:solidFill>
                  <a:schemeClr val="tx1"/>
                </a:solidFill>
              </a:rPr>
              <a:t> in </a:t>
            </a:r>
            <a:r>
              <a:rPr lang="en-US" sz="1400" dirty="0" err="1">
                <a:solidFill>
                  <a:schemeClr val="tx1"/>
                </a:solidFill>
              </a:rPr>
              <a:t>produzione</a:t>
            </a:r>
            <a:r>
              <a:rPr lang="en-US" sz="1400" dirty="0">
                <a:solidFill>
                  <a:schemeClr val="tx1"/>
                </a:solidFill>
              </a:rPr>
              <a:t> e </a:t>
            </a:r>
            <a:r>
              <a:rPr lang="en-US" sz="1400" dirty="0" err="1">
                <a:solidFill>
                  <a:schemeClr val="tx1"/>
                </a:solidFill>
              </a:rPr>
              <a:t>assistenza</a:t>
            </a:r>
            <a:r>
              <a:rPr lang="en-US" sz="1400" dirty="0">
                <a:solidFill>
                  <a:schemeClr val="tx1"/>
                </a:solidFill>
              </a:rPr>
              <a:t> </a:t>
            </a:r>
            <a:r>
              <a:rPr lang="en-US" sz="1400" dirty="0" err="1">
                <a:solidFill>
                  <a:schemeClr val="tx1"/>
                </a:solidFill>
              </a:rPr>
              <a:t>tecnica</a:t>
            </a:r>
            <a:r>
              <a:rPr lang="en-US" sz="1400" dirty="0">
                <a:solidFill>
                  <a:schemeClr val="tx1"/>
                </a:solidFill>
              </a:rPr>
              <a:t>.</a:t>
            </a:r>
            <a:endParaRPr lang="en-US" sz="1400" dirty="0"/>
          </a:p>
        </p:txBody>
      </p:sp>
      <p:sp>
        <p:nvSpPr>
          <p:cNvPr id="9" name="affermazione 2"/>
          <p:cNvSpPr/>
          <p:nvPr/>
        </p:nvSpPr>
        <p:spPr>
          <a:xfrm>
            <a:off x="4617720" y="1097280"/>
            <a:ext cx="4069080" cy="822960"/>
          </a:xfrm>
          <a:prstGeom prst="roundRect">
            <a:avLst>
              <a:gd name="adj" fmla="val 8889"/>
            </a:avLst>
          </a:prstGeom>
          <a:solidFill>
            <a:schemeClr val="bg2"/>
          </a:solidFill>
          <a:ln/>
        </p:spPr>
        <p:txBody>
          <a:bodyPr/>
          <a:lstStyle/>
          <a:p>
            <a:endParaRPr lang="it-IT"/>
          </a:p>
        </p:txBody>
      </p:sp>
      <p:sp>
        <p:nvSpPr>
          <p:cNvPr id="10" name="Text 7"/>
          <p:cNvSpPr txBox="1"/>
          <p:nvPr/>
        </p:nvSpPr>
        <p:spPr>
          <a:xfrm>
            <a:off x="4754880" y="1097280"/>
            <a:ext cx="365760" cy="822960"/>
          </a:xfrm>
          <a:prstGeom prst="rect">
            <a:avLst/>
          </a:prstGeom>
          <a:noFill/>
          <a:ln/>
        </p:spPr>
        <p:txBody>
          <a:bodyPr wrap="square" lIns="0" tIns="0" rIns="0" bIns="0" rtlCol="0" anchor="ctr"/>
          <a:lstStyle/>
          <a:p>
            <a:pPr marL="0" indent="0">
              <a:buNone/>
            </a:pPr>
            <a:r>
              <a:rPr lang="en-US" sz="2200" b="1" dirty="0">
                <a:solidFill>
                  <a:schemeClr val="accent1"/>
                </a:solidFill>
              </a:rPr>
              <a:t>2</a:t>
            </a:r>
            <a:endParaRPr lang="en-US" sz="2200" dirty="0"/>
          </a:p>
        </p:txBody>
      </p:sp>
      <p:sp>
        <p:nvSpPr>
          <p:cNvPr id="11" name="Text 8"/>
          <p:cNvSpPr txBox="1"/>
          <p:nvPr/>
        </p:nvSpPr>
        <p:spPr>
          <a:xfrm>
            <a:off x="5166360" y="1097280"/>
            <a:ext cx="3383280" cy="822960"/>
          </a:xfrm>
          <a:prstGeom prst="rect">
            <a:avLst/>
          </a:prstGeom>
          <a:noFill/>
          <a:ln/>
        </p:spPr>
        <p:txBody>
          <a:bodyPr wrap="square" lIns="0" tIns="0" rIns="0" bIns="0" rtlCol="0" anchor="ctr"/>
          <a:lstStyle/>
          <a:p>
            <a:pPr marL="0" indent="0">
              <a:buNone/>
            </a:pPr>
            <a:r>
              <a:rPr lang="en-US" sz="1400" dirty="0">
                <a:solidFill>
                  <a:schemeClr val="tx1"/>
                </a:solidFill>
              </a:rPr>
              <a:t>Se risponde con sicurezza, </a:t>
            </a:r>
            <a:r>
              <a:rPr lang="en-US" sz="1400" dirty="0" err="1">
                <a:solidFill>
                  <a:schemeClr val="tx1"/>
                </a:solidFill>
              </a:rPr>
              <a:t>è</a:t>
            </a:r>
            <a:r>
              <a:rPr lang="en-US" sz="1400" dirty="0">
                <a:solidFill>
                  <a:schemeClr val="tx1"/>
                </a:solidFill>
              </a:rPr>
              <a:t> </a:t>
            </a:r>
            <a:r>
              <a:rPr lang="en-US" sz="1400" dirty="0" err="1">
                <a:solidFill>
                  <a:schemeClr val="tx1"/>
                </a:solidFill>
              </a:rPr>
              <a:t>sicuramente</a:t>
            </a:r>
            <a:r>
              <a:rPr lang="en-US" sz="1400" dirty="0">
                <a:solidFill>
                  <a:schemeClr val="tx1"/>
                </a:solidFill>
              </a:rPr>
              <a:t> </a:t>
            </a:r>
            <a:r>
              <a:rPr lang="en-US" sz="1400" dirty="0" err="1">
                <a:solidFill>
                  <a:schemeClr val="tx1"/>
                </a:solidFill>
              </a:rPr>
              <a:t>corretta</a:t>
            </a:r>
            <a:r>
              <a:rPr lang="en-US" sz="1400" dirty="0">
                <a:solidFill>
                  <a:schemeClr val="tx1"/>
                </a:solidFill>
              </a:rPr>
              <a:t>.</a:t>
            </a:r>
            <a:endParaRPr lang="en-US" sz="1400" dirty="0"/>
          </a:p>
        </p:txBody>
      </p:sp>
      <p:sp>
        <p:nvSpPr>
          <p:cNvPr id="12" name="affermazione 3"/>
          <p:cNvSpPr/>
          <p:nvPr/>
        </p:nvSpPr>
        <p:spPr>
          <a:xfrm>
            <a:off x="457200" y="2057400"/>
            <a:ext cx="4069080" cy="822960"/>
          </a:xfrm>
          <a:prstGeom prst="roundRect">
            <a:avLst>
              <a:gd name="adj" fmla="val 8889"/>
            </a:avLst>
          </a:prstGeom>
          <a:solidFill>
            <a:schemeClr val="bg2"/>
          </a:solidFill>
          <a:ln/>
        </p:spPr>
        <p:txBody>
          <a:bodyPr/>
          <a:lstStyle/>
          <a:p>
            <a:endParaRPr lang="it-IT"/>
          </a:p>
        </p:txBody>
      </p:sp>
      <p:sp>
        <p:nvSpPr>
          <p:cNvPr id="13" name="Text 10"/>
          <p:cNvSpPr txBox="1"/>
          <p:nvPr/>
        </p:nvSpPr>
        <p:spPr>
          <a:xfrm>
            <a:off x="594360" y="2057400"/>
            <a:ext cx="365760" cy="822960"/>
          </a:xfrm>
          <a:prstGeom prst="rect">
            <a:avLst/>
          </a:prstGeom>
          <a:noFill/>
          <a:ln/>
        </p:spPr>
        <p:txBody>
          <a:bodyPr wrap="square" lIns="0" tIns="0" rIns="0" bIns="0" rtlCol="0" anchor="ctr"/>
          <a:lstStyle/>
          <a:p>
            <a:pPr marL="0" indent="0">
              <a:buNone/>
            </a:pPr>
            <a:r>
              <a:rPr lang="en-US" sz="2200" b="1" dirty="0">
                <a:solidFill>
                  <a:schemeClr val="accent1"/>
                </a:solidFill>
              </a:rPr>
              <a:t>3</a:t>
            </a:r>
            <a:endParaRPr lang="en-US" sz="2200" dirty="0"/>
          </a:p>
        </p:txBody>
      </p:sp>
      <p:sp>
        <p:nvSpPr>
          <p:cNvPr id="14" name="Text 11"/>
          <p:cNvSpPr txBox="1"/>
          <p:nvPr/>
        </p:nvSpPr>
        <p:spPr>
          <a:xfrm>
            <a:off x="1005840" y="2057400"/>
            <a:ext cx="3383280" cy="822960"/>
          </a:xfrm>
          <a:prstGeom prst="rect">
            <a:avLst/>
          </a:prstGeom>
          <a:noFill/>
          <a:ln/>
        </p:spPr>
        <p:txBody>
          <a:bodyPr wrap="square" lIns="0" tIns="0" rIns="0" bIns="0" rtlCol="0" anchor="ctr"/>
          <a:lstStyle/>
          <a:p>
            <a:pPr marL="0" indent="0">
              <a:buNone/>
            </a:pPr>
            <a:r>
              <a:rPr lang="en-US" sz="1400" dirty="0">
                <a:solidFill>
                  <a:schemeClr val="tx1"/>
                </a:solidFill>
              </a:rPr>
              <a:t>La stessa domanda </a:t>
            </a:r>
            <a:r>
              <a:rPr lang="en-US" sz="1400" dirty="0" err="1">
                <a:solidFill>
                  <a:schemeClr val="tx1"/>
                </a:solidFill>
              </a:rPr>
              <a:t>può</a:t>
            </a:r>
            <a:r>
              <a:rPr lang="en-US" sz="1400" dirty="0">
                <a:solidFill>
                  <a:schemeClr val="tx1"/>
                </a:solidFill>
              </a:rPr>
              <a:t> </a:t>
            </a:r>
            <a:r>
              <a:rPr lang="en-US" sz="1400" dirty="0" err="1">
                <a:solidFill>
                  <a:schemeClr val="tx1"/>
                </a:solidFill>
              </a:rPr>
              <a:t>produrre</a:t>
            </a:r>
            <a:r>
              <a:rPr lang="en-US" sz="1400" dirty="0">
                <a:solidFill>
                  <a:schemeClr val="tx1"/>
                </a:solidFill>
              </a:rPr>
              <a:t> </a:t>
            </a:r>
            <a:r>
              <a:rPr lang="en-US" sz="1400" dirty="0" err="1">
                <a:solidFill>
                  <a:schemeClr val="tx1"/>
                </a:solidFill>
              </a:rPr>
              <a:t>risultati</a:t>
            </a:r>
            <a:r>
              <a:rPr lang="en-US" sz="1400" dirty="0">
                <a:solidFill>
                  <a:schemeClr val="tx1"/>
                </a:solidFill>
              </a:rPr>
              <a:t> </a:t>
            </a:r>
            <a:r>
              <a:rPr lang="en-US" sz="1400" dirty="0" err="1">
                <a:solidFill>
                  <a:schemeClr val="tx1"/>
                </a:solidFill>
              </a:rPr>
              <a:t>differenti</a:t>
            </a:r>
            <a:endParaRPr lang="en-US" sz="1400" dirty="0"/>
          </a:p>
        </p:txBody>
      </p:sp>
      <p:sp>
        <p:nvSpPr>
          <p:cNvPr id="15" name="affermazione 4"/>
          <p:cNvSpPr/>
          <p:nvPr/>
        </p:nvSpPr>
        <p:spPr>
          <a:xfrm>
            <a:off x="4617720" y="2057400"/>
            <a:ext cx="4069080" cy="822960"/>
          </a:xfrm>
          <a:prstGeom prst="roundRect">
            <a:avLst>
              <a:gd name="adj" fmla="val 8889"/>
            </a:avLst>
          </a:prstGeom>
          <a:solidFill>
            <a:schemeClr val="bg2"/>
          </a:solidFill>
          <a:ln/>
        </p:spPr>
        <p:txBody>
          <a:bodyPr/>
          <a:lstStyle/>
          <a:p>
            <a:endParaRPr lang="it-IT"/>
          </a:p>
        </p:txBody>
      </p:sp>
      <p:sp>
        <p:nvSpPr>
          <p:cNvPr id="16" name="Text 13"/>
          <p:cNvSpPr txBox="1"/>
          <p:nvPr/>
        </p:nvSpPr>
        <p:spPr>
          <a:xfrm>
            <a:off x="4754880" y="2057400"/>
            <a:ext cx="365760" cy="822960"/>
          </a:xfrm>
          <a:prstGeom prst="rect">
            <a:avLst/>
          </a:prstGeom>
          <a:noFill/>
          <a:ln/>
        </p:spPr>
        <p:txBody>
          <a:bodyPr wrap="square" lIns="0" tIns="0" rIns="0" bIns="0" rtlCol="0" anchor="ctr"/>
          <a:lstStyle/>
          <a:p>
            <a:pPr marL="0" indent="0">
              <a:buNone/>
            </a:pPr>
            <a:r>
              <a:rPr lang="en-US" sz="2200" b="1" dirty="0">
                <a:solidFill>
                  <a:schemeClr val="accent1"/>
                </a:solidFill>
              </a:rPr>
              <a:t>4</a:t>
            </a:r>
            <a:endParaRPr lang="en-US" sz="2200" dirty="0"/>
          </a:p>
        </p:txBody>
      </p:sp>
      <p:sp>
        <p:nvSpPr>
          <p:cNvPr id="17" name="Text 14"/>
          <p:cNvSpPr txBox="1"/>
          <p:nvPr/>
        </p:nvSpPr>
        <p:spPr>
          <a:xfrm>
            <a:off x="5166360" y="2057400"/>
            <a:ext cx="3383280" cy="822960"/>
          </a:xfrm>
          <a:prstGeom prst="rect">
            <a:avLst/>
          </a:prstGeom>
          <a:noFill/>
          <a:ln/>
        </p:spPr>
        <p:txBody>
          <a:bodyPr wrap="square" lIns="0" tIns="0" rIns="0" bIns="0" rtlCol="0" anchor="ctr"/>
          <a:lstStyle/>
          <a:p>
            <a:pPr marL="0" indent="0">
              <a:buNone/>
            </a:pPr>
            <a:r>
              <a:rPr lang="en-US" sz="1400" dirty="0">
                <a:solidFill>
                  <a:schemeClr val="tx1"/>
                </a:solidFill>
              </a:rPr>
              <a:t>Per </a:t>
            </a:r>
            <a:r>
              <a:rPr lang="en-US" sz="1400" dirty="0" err="1">
                <a:solidFill>
                  <a:schemeClr val="tx1"/>
                </a:solidFill>
              </a:rPr>
              <a:t>utilizzare</a:t>
            </a:r>
            <a:r>
              <a:rPr lang="en-US" sz="1400" dirty="0">
                <a:solidFill>
                  <a:schemeClr val="tx1"/>
                </a:solidFill>
              </a:rPr>
              <a:t> </a:t>
            </a:r>
            <a:r>
              <a:rPr lang="en-US" sz="1400" dirty="0" err="1">
                <a:solidFill>
                  <a:schemeClr val="tx1"/>
                </a:solidFill>
              </a:rPr>
              <a:t>l’Ai</a:t>
            </a:r>
            <a:r>
              <a:rPr lang="en-US" sz="1400" dirty="0">
                <a:solidFill>
                  <a:schemeClr val="tx1"/>
                </a:solidFill>
              </a:rPr>
              <a:t> </a:t>
            </a:r>
            <a:r>
              <a:rPr lang="en-US" sz="1400" dirty="0" err="1">
                <a:solidFill>
                  <a:schemeClr val="tx1"/>
                </a:solidFill>
              </a:rPr>
              <a:t>bisogna</a:t>
            </a:r>
            <a:r>
              <a:rPr lang="en-US" sz="1400" dirty="0">
                <a:solidFill>
                  <a:schemeClr val="tx1"/>
                </a:solidFill>
              </a:rPr>
              <a:t> </a:t>
            </a:r>
            <a:r>
              <a:rPr lang="en-US" sz="1400" dirty="0" err="1">
                <a:solidFill>
                  <a:schemeClr val="tx1"/>
                </a:solidFill>
              </a:rPr>
              <a:t>saper</a:t>
            </a:r>
            <a:r>
              <a:rPr lang="en-US" sz="1400" dirty="0">
                <a:solidFill>
                  <a:schemeClr val="tx1"/>
                </a:solidFill>
              </a:rPr>
              <a:t> </a:t>
            </a:r>
            <a:r>
              <a:rPr lang="en-US" sz="1400" dirty="0" err="1">
                <a:solidFill>
                  <a:schemeClr val="tx1"/>
                </a:solidFill>
              </a:rPr>
              <a:t>programmare</a:t>
            </a:r>
            <a:endParaRPr lang="en-US" sz="1400" dirty="0"/>
          </a:p>
        </p:txBody>
      </p:sp>
      <p:sp>
        <p:nvSpPr>
          <p:cNvPr id="19" name="Text 16"/>
          <p:cNvSpPr txBox="1"/>
          <p:nvPr/>
        </p:nvSpPr>
        <p:spPr>
          <a:xfrm>
            <a:off x="594360" y="3017520"/>
            <a:ext cx="365760" cy="822960"/>
          </a:xfrm>
          <a:prstGeom prst="rect">
            <a:avLst/>
          </a:prstGeom>
          <a:noFill/>
          <a:ln/>
        </p:spPr>
        <p:txBody>
          <a:bodyPr wrap="square" lIns="0" tIns="0" rIns="0" bIns="0" rtlCol="0" anchor="ctr"/>
          <a:lstStyle/>
          <a:p>
            <a:pPr marL="0" indent="0">
              <a:buNone/>
            </a:pPr>
            <a:endParaRPr lang="en-US" sz="2200" dirty="0"/>
          </a:p>
        </p:txBody>
      </p:sp>
      <p:sp>
        <p:nvSpPr>
          <p:cNvPr id="24" name="messaggio"/>
          <p:cNvSpPr/>
          <p:nvPr/>
        </p:nvSpPr>
        <p:spPr>
          <a:xfrm>
            <a:off x="457200" y="3345180"/>
            <a:ext cx="8229600" cy="548640"/>
          </a:xfrm>
          <a:prstGeom prst="roundRect">
            <a:avLst>
              <a:gd name="adj" fmla="val 13333"/>
            </a:avLst>
          </a:prstGeom>
          <a:solidFill>
            <a:schemeClr val="accent1"/>
          </a:solidFill>
          <a:ln/>
        </p:spPr>
        <p:txBody>
          <a:bodyPr/>
          <a:lstStyle/>
          <a:p>
            <a:endParaRPr lang="it-IT"/>
          </a:p>
        </p:txBody>
      </p:sp>
      <p:sp>
        <p:nvSpPr>
          <p:cNvPr id="25" name="Text 22"/>
          <p:cNvSpPr txBox="1"/>
          <p:nvPr/>
        </p:nvSpPr>
        <p:spPr>
          <a:xfrm>
            <a:off x="640080" y="3345180"/>
            <a:ext cx="7863840" cy="548640"/>
          </a:xfrm>
          <a:prstGeom prst="rect">
            <a:avLst/>
          </a:prstGeom>
          <a:noFill/>
          <a:ln/>
        </p:spPr>
        <p:txBody>
          <a:bodyPr wrap="square" lIns="0" tIns="0" rIns="0" bIns="0" rtlCol="0" anchor="ctr"/>
          <a:lstStyle/>
          <a:p>
            <a:pPr marL="0" indent="0">
              <a:buNone/>
            </a:pPr>
            <a:r>
              <a:rPr lang="en-US" sz="1400" dirty="0">
                <a:solidFill>
                  <a:schemeClr val="bg1"/>
                </a:solidFill>
              </a:rPr>
              <a:t>Per ogni affermazione: vera o falsa? Un </a:t>
            </a:r>
            <a:r>
              <a:rPr lang="en-US" sz="1400" dirty="0" err="1">
                <a:solidFill>
                  <a:schemeClr val="bg1"/>
                </a:solidFill>
              </a:rPr>
              <a:t>minuto</a:t>
            </a:r>
            <a:r>
              <a:rPr lang="en-US" sz="1400" dirty="0">
                <a:solidFill>
                  <a:schemeClr val="bg1"/>
                </a:solidFill>
              </a:rPr>
              <a:t>.</a:t>
            </a:r>
            <a:endParaRPr lang="en-US"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Sei affermazioni sull'AI: le risposte</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040967070"/>
              </p:ext>
            </p:extLst>
          </p:nvPr>
        </p:nvGraphicFramePr>
        <p:xfrm>
          <a:off x="457200" y="1024128"/>
          <a:ext cx="8229600" cy="2377440"/>
        </p:xfrm>
        <a:graphic>
          <a:graphicData uri="http://schemas.openxmlformats.org/drawingml/2006/table">
            <a:tbl>
              <a:tblPr/>
              <a:tblGrid>
                <a:gridCol w="32004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3749040">
                  <a:extLst>
                    <a:ext uri="{9D8B030D-6E8A-4147-A177-3AD203B41FA5}">
                      <a16:colId xmlns:a16="http://schemas.microsoft.com/office/drawing/2014/main" val="20003"/>
                    </a:ext>
                  </a:extLst>
                </a:gridCol>
              </a:tblGrid>
              <a:tr h="475488">
                <a:tc>
                  <a:txBody>
                    <a:bodyPr/>
                    <a:lstStyle/>
                    <a:p>
                      <a:pPr marL="0" indent="0">
                        <a:buNone/>
                      </a:pPr>
                      <a:r>
                        <a:rPr lang="en-US" sz="1150" b="1" dirty="0">
                          <a:solidFill>
                            <a:schemeClr val="tx1"/>
                          </a:solidFill>
                        </a:rPr>
                        <a:t>#</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50" b="1" dirty="0">
                          <a:solidFill>
                            <a:schemeClr val="bg1"/>
                          </a:solidFill>
                        </a:rPr>
                        <a:t>Affermazione</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150" b="1" dirty="0">
                          <a:solidFill>
                            <a:schemeClr val="bg1"/>
                          </a:solidFill>
                        </a:rPr>
                        <a:t>V/F</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150" b="1" dirty="0">
                          <a:solidFill>
                            <a:schemeClr val="bg1"/>
                          </a:solidFill>
                        </a:rPr>
                        <a:t>Perché</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75488">
                <a:tc>
                  <a:txBody>
                    <a:bodyPr/>
                    <a:lstStyle/>
                    <a:p>
                      <a:pPr marL="0" indent="0">
                        <a:buNone/>
                      </a:pPr>
                      <a:r>
                        <a:rPr lang="en-US" sz="1150" b="1" dirty="0">
                          <a:solidFill>
                            <a:schemeClr val="tx1"/>
                          </a:solidFill>
                        </a:rPr>
                        <a:t>1</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50" dirty="0">
                          <a:solidFill>
                            <a:schemeClr val="tx1"/>
                          </a:solidFill>
                        </a:rPr>
                        <a:t>L’AI </a:t>
                      </a:r>
                      <a:r>
                        <a:rPr lang="en-US" sz="1150" dirty="0" err="1">
                          <a:solidFill>
                            <a:schemeClr val="tx1"/>
                          </a:solidFill>
                        </a:rPr>
                        <a:t>può</a:t>
                      </a:r>
                      <a:r>
                        <a:rPr lang="en-US" sz="1150" dirty="0">
                          <a:solidFill>
                            <a:schemeClr val="tx1"/>
                          </a:solidFill>
                        </a:rPr>
                        <a:t> </a:t>
                      </a:r>
                      <a:r>
                        <a:rPr lang="en-US" sz="1150" dirty="0" err="1">
                          <a:solidFill>
                            <a:schemeClr val="tx1"/>
                          </a:solidFill>
                        </a:rPr>
                        <a:t>aiutare</a:t>
                      </a:r>
                      <a:r>
                        <a:rPr lang="en-US" sz="1150" dirty="0">
                          <a:solidFill>
                            <a:schemeClr val="tx1"/>
                          </a:solidFill>
                        </a:rPr>
                        <a:t> </a:t>
                      </a:r>
                      <a:r>
                        <a:rPr lang="en-US" sz="1150" dirty="0" err="1">
                          <a:solidFill>
                            <a:schemeClr val="tx1"/>
                          </a:solidFill>
                        </a:rPr>
                        <a:t>anche</a:t>
                      </a:r>
                      <a:r>
                        <a:rPr lang="en-US" sz="1150" dirty="0">
                          <a:solidFill>
                            <a:schemeClr val="tx1"/>
                          </a:solidFill>
                        </a:rPr>
                        <a:t> in </a:t>
                      </a:r>
                      <a:r>
                        <a:rPr lang="en-US" sz="1150" dirty="0" err="1">
                          <a:solidFill>
                            <a:schemeClr val="tx1"/>
                          </a:solidFill>
                        </a:rPr>
                        <a:t>produzione</a:t>
                      </a:r>
                      <a:r>
                        <a:rPr lang="en-US" sz="1150" dirty="0">
                          <a:solidFill>
                            <a:schemeClr val="tx1"/>
                          </a:solidFill>
                        </a:rPr>
                        <a:t> e </a:t>
                      </a:r>
                      <a:r>
                        <a:rPr lang="en-US" sz="1150" dirty="0" err="1">
                          <a:solidFill>
                            <a:schemeClr val="tx1"/>
                          </a:solidFill>
                        </a:rPr>
                        <a:t>assistenza</a:t>
                      </a:r>
                      <a:r>
                        <a:rPr lang="en-US" sz="1150" dirty="0">
                          <a:solidFill>
                            <a:schemeClr val="tx1"/>
                          </a:solidFill>
                        </a:rPr>
                        <a:t> </a:t>
                      </a:r>
                      <a:r>
                        <a:rPr lang="en-US" sz="1150" dirty="0" err="1">
                          <a:solidFill>
                            <a:schemeClr val="tx1"/>
                          </a:solidFill>
                        </a:rPr>
                        <a:t>tecnica</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Vero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Con </a:t>
                      </a:r>
                      <a:r>
                        <a:rPr lang="en-US" sz="1150" dirty="0" err="1">
                          <a:solidFill>
                            <a:schemeClr val="tx1"/>
                          </a:solidFill>
                        </a:rPr>
                        <a:t>dei</a:t>
                      </a:r>
                      <a:r>
                        <a:rPr lang="en-US" sz="1150" dirty="0">
                          <a:solidFill>
                            <a:schemeClr val="tx1"/>
                          </a:solidFill>
                        </a:rPr>
                        <a:t> </a:t>
                      </a:r>
                      <a:r>
                        <a:rPr lang="en-US" sz="1150" dirty="0" err="1">
                          <a:solidFill>
                            <a:schemeClr val="tx1"/>
                          </a:solidFill>
                        </a:rPr>
                        <a:t>limiti</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75488">
                <a:tc>
                  <a:txBody>
                    <a:bodyPr/>
                    <a:lstStyle/>
                    <a:p>
                      <a:pPr marL="0" indent="0">
                        <a:buNone/>
                      </a:pPr>
                      <a:r>
                        <a:rPr lang="en-US" sz="1150" b="1" dirty="0">
                          <a:solidFill>
                            <a:schemeClr val="tx1"/>
                          </a:solidFill>
                        </a:rPr>
                        <a:t>2</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50" dirty="0">
                          <a:solidFill>
                            <a:schemeClr val="tx1"/>
                          </a:solidFill>
                        </a:rPr>
                        <a:t>Se risponde con sicurezza, </a:t>
                      </a:r>
                      <a:r>
                        <a:rPr lang="en-US" sz="1150" dirty="0" err="1">
                          <a:solidFill>
                            <a:schemeClr val="tx1"/>
                          </a:solidFill>
                        </a:rPr>
                        <a:t>è</a:t>
                      </a:r>
                      <a:r>
                        <a:rPr lang="en-US" sz="1150" dirty="0">
                          <a:solidFill>
                            <a:schemeClr val="tx1"/>
                          </a:solidFill>
                        </a:rPr>
                        <a:t> </a:t>
                      </a:r>
                      <a:r>
                        <a:rPr lang="en-US" sz="1150" dirty="0" err="1">
                          <a:solidFill>
                            <a:schemeClr val="tx1"/>
                          </a:solidFill>
                        </a:rPr>
                        <a:t>sicuramente</a:t>
                      </a:r>
                      <a:r>
                        <a:rPr lang="en-US" sz="1150" dirty="0">
                          <a:solidFill>
                            <a:schemeClr val="tx1"/>
                          </a:solidFill>
                        </a:rPr>
                        <a:t> </a:t>
                      </a:r>
                      <a:r>
                        <a:rPr lang="en-US" sz="1150" dirty="0" err="1">
                          <a:solidFill>
                            <a:schemeClr val="tx1"/>
                          </a:solidFill>
                        </a:rPr>
                        <a:t>corretta</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Falso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Tono sicuro e scrittura fluida non dimostrano la correttezza</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75488">
                <a:tc>
                  <a:txBody>
                    <a:bodyPr/>
                    <a:lstStyle/>
                    <a:p>
                      <a:pPr marL="0" indent="0">
                        <a:buNone/>
                      </a:pPr>
                      <a:r>
                        <a:rPr lang="en-US" sz="1150" b="1" dirty="0">
                          <a:solidFill>
                            <a:schemeClr val="tx1"/>
                          </a:solidFill>
                        </a:rPr>
                        <a:t>3</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50" dirty="0">
                          <a:solidFill>
                            <a:schemeClr val="tx1"/>
                          </a:solidFill>
                        </a:rPr>
                        <a:t>La stessa domanda </a:t>
                      </a:r>
                      <a:r>
                        <a:rPr lang="en-US" sz="1150" dirty="0" err="1">
                          <a:solidFill>
                            <a:schemeClr val="tx1"/>
                          </a:solidFill>
                        </a:rPr>
                        <a:t>può</a:t>
                      </a:r>
                      <a:r>
                        <a:rPr lang="en-US" sz="1150" dirty="0">
                          <a:solidFill>
                            <a:schemeClr val="tx1"/>
                          </a:solidFill>
                        </a:rPr>
                        <a:t> </a:t>
                      </a:r>
                      <a:r>
                        <a:rPr lang="en-US" sz="1150" dirty="0" err="1">
                          <a:solidFill>
                            <a:schemeClr val="tx1"/>
                          </a:solidFill>
                        </a:rPr>
                        <a:t>produrre</a:t>
                      </a:r>
                      <a:r>
                        <a:rPr lang="en-US" sz="1150" dirty="0">
                          <a:solidFill>
                            <a:schemeClr val="tx1"/>
                          </a:solidFill>
                        </a:rPr>
                        <a:t> </a:t>
                      </a:r>
                      <a:r>
                        <a:rPr lang="en-US" sz="1150" dirty="0" err="1">
                          <a:solidFill>
                            <a:schemeClr val="tx1"/>
                          </a:solidFill>
                        </a:rPr>
                        <a:t>risultati</a:t>
                      </a:r>
                      <a:r>
                        <a:rPr lang="en-US" sz="1150" dirty="0">
                          <a:solidFill>
                            <a:schemeClr val="tx1"/>
                          </a:solidFill>
                        </a:rPr>
                        <a:t> </a:t>
                      </a:r>
                      <a:r>
                        <a:rPr lang="en-US" sz="1150" dirty="0" err="1">
                          <a:solidFill>
                            <a:schemeClr val="tx1"/>
                          </a:solidFill>
                        </a:rPr>
                        <a:t>differenti</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Vero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Sistemi probabilistici: la variabilità è normale</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75488">
                <a:tc>
                  <a:txBody>
                    <a:bodyPr/>
                    <a:lstStyle/>
                    <a:p>
                      <a:pPr marL="0" indent="0">
                        <a:buNone/>
                      </a:pPr>
                      <a:r>
                        <a:rPr lang="en-US" sz="1150" b="1" dirty="0">
                          <a:solidFill>
                            <a:schemeClr val="tx1"/>
                          </a:solidFill>
                        </a:rPr>
                        <a:t>4</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50" dirty="0">
                          <a:solidFill>
                            <a:schemeClr val="tx1"/>
                          </a:solidFill>
                        </a:rPr>
                        <a:t>Per </a:t>
                      </a:r>
                      <a:r>
                        <a:rPr lang="en-US" sz="1150" dirty="0" err="1">
                          <a:solidFill>
                            <a:schemeClr val="tx1"/>
                          </a:solidFill>
                        </a:rPr>
                        <a:t>utilizzare</a:t>
                      </a:r>
                      <a:r>
                        <a:rPr lang="en-US" sz="1150" dirty="0">
                          <a:solidFill>
                            <a:schemeClr val="tx1"/>
                          </a:solidFill>
                        </a:rPr>
                        <a:t> </a:t>
                      </a:r>
                      <a:r>
                        <a:rPr lang="en-US" sz="1150" dirty="0" err="1">
                          <a:solidFill>
                            <a:schemeClr val="tx1"/>
                          </a:solidFill>
                        </a:rPr>
                        <a:t>l’Ai</a:t>
                      </a:r>
                      <a:r>
                        <a:rPr lang="en-US" sz="1150" dirty="0">
                          <a:solidFill>
                            <a:schemeClr val="tx1"/>
                          </a:solidFill>
                        </a:rPr>
                        <a:t> </a:t>
                      </a:r>
                      <a:r>
                        <a:rPr lang="en-US" sz="1150" dirty="0" err="1">
                          <a:solidFill>
                            <a:schemeClr val="tx1"/>
                          </a:solidFill>
                        </a:rPr>
                        <a:t>bisogna</a:t>
                      </a:r>
                      <a:r>
                        <a:rPr lang="en-US" sz="1150" dirty="0">
                          <a:solidFill>
                            <a:schemeClr val="tx1"/>
                          </a:solidFill>
                        </a:rPr>
                        <a:t> </a:t>
                      </a:r>
                      <a:r>
                        <a:rPr lang="en-US" sz="1150" dirty="0" err="1">
                          <a:solidFill>
                            <a:schemeClr val="tx1"/>
                          </a:solidFill>
                        </a:rPr>
                        <a:t>saper</a:t>
                      </a:r>
                      <a:r>
                        <a:rPr lang="en-US" sz="1150" dirty="0">
                          <a:solidFill>
                            <a:schemeClr val="tx1"/>
                          </a:solidFill>
                        </a:rPr>
                        <a:t> </a:t>
                      </a:r>
                      <a:r>
                        <a:rPr lang="en-US" sz="1150" dirty="0" err="1">
                          <a:solidFill>
                            <a:schemeClr val="tx1"/>
                          </a:solidFill>
                        </a:rPr>
                        <a:t>programmare</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Falso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I </a:t>
                      </a:r>
                      <a:r>
                        <a:rPr lang="en-US" sz="1150" dirty="0" err="1">
                          <a:solidFill>
                            <a:schemeClr val="tx1"/>
                          </a:solidFill>
                        </a:rPr>
                        <a:t>modelli</a:t>
                      </a:r>
                      <a:r>
                        <a:rPr lang="en-US" sz="1150" dirty="0">
                          <a:solidFill>
                            <a:schemeClr val="tx1"/>
                          </a:solidFill>
                        </a:rPr>
                        <a:t> </a:t>
                      </a:r>
                      <a:r>
                        <a:rPr lang="en-US" sz="1150" dirty="0" err="1">
                          <a:solidFill>
                            <a:schemeClr val="tx1"/>
                          </a:solidFill>
                        </a:rPr>
                        <a:t>moderni</a:t>
                      </a:r>
                      <a:r>
                        <a:rPr lang="en-US" sz="1150" dirty="0">
                          <a:solidFill>
                            <a:schemeClr val="tx1"/>
                          </a:solidFill>
                        </a:rPr>
                        <a:t> </a:t>
                      </a:r>
                      <a:r>
                        <a:rPr lang="en-US" sz="1150" dirty="0" err="1">
                          <a:solidFill>
                            <a:schemeClr val="tx1"/>
                          </a:solidFill>
                        </a:rPr>
                        <a:t>hanno</a:t>
                      </a:r>
                      <a:r>
                        <a:rPr lang="en-US" sz="1150" dirty="0">
                          <a:solidFill>
                            <a:schemeClr val="tx1"/>
                          </a:solidFill>
                        </a:rPr>
                        <a:t> </a:t>
                      </a:r>
                      <a:r>
                        <a:rPr lang="en-US" sz="1150" dirty="0" err="1">
                          <a:solidFill>
                            <a:schemeClr val="tx1"/>
                          </a:solidFill>
                        </a:rPr>
                        <a:t>reso</a:t>
                      </a:r>
                      <a:r>
                        <a:rPr lang="en-US" sz="1150" dirty="0">
                          <a:solidFill>
                            <a:schemeClr val="tx1"/>
                          </a:solidFill>
                        </a:rPr>
                        <a:t> </a:t>
                      </a:r>
                      <a:r>
                        <a:rPr lang="en-US" sz="1150" dirty="0" err="1">
                          <a:solidFill>
                            <a:schemeClr val="tx1"/>
                          </a:solidFill>
                        </a:rPr>
                        <a:t>l’Ai</a:t>
                      </a:r>
                      <a:r>
                        <a:rPr lang="en-US" sz="1150" dirty="0">
                          <a:solidFill>
                            <a:schemeClr val="tx1"/>
                          </a:solidFill>
                        </a:rPr>
                        <a:t> </a:t>
                      </a:r>
                      <a:r>
                        <a:rPr lang="en-US" sz="1150" dirty="0" err="1">
                          <a:solidFill>
                            <a:schemeClr val="tx1"/>
                          </a:solidFill>
                        </a:rPr>
                        <a:t>fruibile</a:t>
                      </a:r>
                      <a:r>
                        <a:rPr lang="en-US" sz="1150" dirty="0">
                          <a:solidFill>
                            <a:schemeClr val="tx1"/>
                          </a:solidFill>
                        </a:rPr>
                        <a:t> da un </a:t>
                      </a:r>
                      <a:r>
                        <a:rPr lang="en-US" sz="1150" dirty="0" err="1">
                          <a:solidFill>
                            <a:schemeClr val="tx1"/>
                          </a:solidFill>
                        </a:rPr>
                        <a:t>ampio</a:t>
                      </a:r>
                      <a:r>
                        <a:rPr lang="en-US" sz="1150" dirty="0">
                          <a:solidFill>
                            <a:schemeClr val="tx1"/>
                          </a:solidFill>
                        </a:rPr>
                        <a:t> </a:t>
                      </a:r>
                      <a:r>
                        <a:rPr lang="en-US" sz="1150" dirty="0" err="1">
                          <a:solidFill>
                            <a:schemeClr val="tx1"/>
                          </a:solidFill>
                        </a:rPr>
                        <a:t>pubblico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Il nostro </a:t>
            </a:r>
            <a:r>
              <a:rPr lang="en-US" sz="2600" b="1" dirty="0" err="1">
                <a:solidFill>
                  <a:schemeClr val="tx1"/>
                </a:solidFill>
              </a:rPr>
              <a:t>spazio</a:t>
            </a:r>
            <a:r>
              <a:rPr lang="en-US" sz="2600" b="1" dirty="0">
                <a:solidFill>
                  <a:schemeClr val="tx1"/>
                </a:solidFill>
              </a:rPr>
              <a:t> di Lavoro: </a:t>
            </a:r>
            <a:r>
              <a:rPr lang="en-US" sz="2600" b="1" dirty="0" err="1">
                <a:solidFill>
                  <a:schemeClr val="tx1"/>
                </a:solidFill>
              </a:rPr>
              <a:t>problemi</a:t>
            </a:r>
            <a:r>
              <a:rPr lang="en-US" sz="2600" b="1" dirty="0">
                <a:solidFill>
                  <a:schemeClr val="tx1"/>
                </a:solidFill>
              </a:rPr>
              <a:t> e </a:t>
            </a:r>
            <a:r>
              <a:rPr lang="en-US" sz="2600" b="1" dirty="0" err="1">
                <a:solidFill>
                  <a:schemeClr val="tx1"/>
                </a:solidFill>
              </a:rPr>
              <a:t>opportunità</a:t>
            </a:r>
            <a:endParaRPr lang="en-US" sz="2600" dirty="0"/>
          </a:p>
        </p:txBody>
      </p:sp>
      <p:sp>
        <p:nvSpPr>
          <p:cNvPr id="6" name="blocco Tecnico"/>
          <p:cNvSpPr/>
          <p:nvPr/>
        </p:nvSpPr>
        <p:spPr>
          <a:xfrm>
            <a:off x="457200" y="1097280"/>
            <a:ext cx="1097280" cy="384048"/>
          </a:xfrm>
          <a:prstGeom prst="roundRect">
            <a:avLst>
              <a:gd name="adj" fmla="val 28571"/>
            </a:avLst>
          </a:prstGeom>
          <a:solidFill>
            <a:schemeClr val="tx2"/>
          </a:solidFill>
          <a:ln/>
        </p:spPr>
        <p:txBody>
          <a:bodyPr/>
          <a:lstStyle/>
          <a:p>
            <a:endParaRPr lang="it-IT"/>
          </a:p>
        </p:txBody>
      </p:sp>
      <p:sp>
        <p:nvSpPr>
          <p:cNvPr id="7" name="Text 4"/>
          <p:cNvSpPr txBox="1"/>
          <p:nvPr/>
        </p:nvSpPr>
        <p:spPr>
          <a:xfrm>
            <a:off x="502920"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Tecnico</a:t>
            </a:r>
            <a:endParaRPr lang="en-US" sz="1100" dirty="0"/>
          </a:p>
        </p:txBody>
      </p:sp>
      <p:sp>
        <p:nvSpPr>
          <p:cNvPr id="8" name="colonna Tecnico"/>
          <p:cNvSpPr/>
          <p:nvPr/>
        </p:nvSpPr>
        <p:spPr>
          <a:xfrm>
            <a:off x="457200" y="1554480"/>
            <a:ext cx="1097280" cy="1554480"/>
          </a:xfrm>
          <a:prstGeom prst="roundRect">
            <a:avLst>
              <a:gd name="adj" fmla="val 6667"/>
            </a:avLst>
          </a:prstGeom>
          <a:solidFill>
            <a:schemeClr val="bg2"/>
          </a:solidFill>
          <a:ln/>
        </p:spPr>
        <p:txBody>
          <a:bodyPr/>
          <a:lstStyle/>
          <a:p>
            <a:endParaRPr lang="it-IT"/>
          </a:p>
        </p:txBody>
      </p:sp>
      <p:sp>
        <p:nvSpPr>
          <p:cNvPr id="9" name="blocco Produzione"/>
          <p:cNvSpPr/>
          <p:nvPr/>
        </p:nvSpPr>
        <p:spPr>
          <a:xfrm>
            <a:off x="1636776" y="1097280"/>
            <a:ext cx="1097280" cy="384048"/>
          </a:xfrm>
          <a:prstGeom prst="roundRect">
            <a:avLst>
              <a:gd name="adj" fmla="val 28571"/>
            </a:avLst>
          </a:prstGeom>
          <a:solidFill>
            <a:schemeClr val="tx2"/>
          </a:solidFill>
          <a:ln/>
        </p:spPr>
        <p:txBody>
          <a:bodyPr/>
          <a:lstStyle/>
          <a:p>
            <a:endParaRPr lang="it-IT"/>
          </a:p>
        </p:txBody>
      </p:sp>
      <p:sp>
        <p:nvSpPr>
          <p:cNvPr id="10" name="Text 7"/>
          <p:cNvSpPr txBox="1"/>
          <p:nvPr/>
        </p:nvSpPr>
        <p:spPr>
          <a:xfrm>
            <a:off x="1682496"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Produzione</a:t>
            </a:r>
            <a:endParaRPr lang="en-US" sz="1100" dirty="0"/>
          </a:p>
        </p:txBody>
      </p:sp>
      <p:sp>
        <p:nvSpPr>
          <p:cNvPr id="11" name="colonna Produzione"/>
          <p:cNvSpPr/>
          <p:nvPr/>
        </p:nvSpPr>
        <p:spPr>
          <a:xfrm>
            <a:off x="1636776" y="1554480"/>
            <a:ext cx="1097280" cy="1554480"/>
          </a:xfrm>
          <a:prstGeom prst="roundRect">
            <a:avLst>
              <a:gd name="adj" fmla="val 6667"/>
            </a:avLst>
          </a:prstGeom>
          <a:solidFill>
            <a:schemeClr val="bg2"/>
          </a:solidFill>
          <a:ln/>
        </p:spPr>
        <p:txBody>
          <a:bodyPr/>
          <a:lstStyle/>
          <a:p>
            <a:endParaRPr lang="it-IT"/>
          </a:p>
        </p:txBody>
      </p:sp>
      <p:sp>
        <p:nvSpPr>
          <p:cNvPr id="12" name="blocco Qualità"/>
          <p:cNvSpPr/>
          <p:nvPr/>
        </p:nvSpPr>
        <p:spPr>
          <a:xfrm>
            <a:off x="2816352" y="1097280"/>
            <a:ext cx="1097280" cy="384048"/>
          </a:xfrm>
          <a:prstGeom prst="roundRect">
            <a:avLst>
              <a:gd name="adj" fmla="val 28571"/>
            </a:avLst>
          </a:prstGeom>
          <a:solidFill>
            <a:schemeClr val="tx2"/>
          </a:solidFill>
          <a:ln/>
        </p:spPr>
        <p:txBody>
          <a:bodyPr/>
          <a:lstStyle/>
          <a:p>
            <a:endParaRPr lang="it-IT"/>
          </a:p>
        </p:txBody>
      </p:sp>
      <p:sp>
        <p:nvSpPr>
          <p:cNvPr id="13" name="Text 10"/>
          <p:cNvSpPr txBox="1"/>
          <p:nvPr/>
        </p:nvSpPr>
        <p:spPr>
          <a:xfrm>
            <a:off x="2862072"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Qualità</a:t>
            </a:r>
            <a:endParaRPr lang="en-US" sz="1100" dirty="0"/>
          </a:p>
        </p:txBody>
      </p:sp>
      <p:sp>
        <p:nvSpPr>
          <p:cNvPr id="14" name="colonna Qualità"/>
          <p:cNvSpPr/>
          <p:nvPr/>
        </p:nvSpPr>
        <p:spPr>
          <a:xfrm>
            <a:off x="2816352" y="1554480"/>
            <a:ext cx="1097280" cy="1554480"/>
          </a:xfrm>
          <a:prstGeom prst="roundRect">
            <a:avLst>
              <a:gd name="adj" fmla="val 6667"/>
            </a:avLst>
          </a:prstGeom>
          <a:solidFill>
            <a:schemeClr val="bg2"/>
          </a:solidFill>
          <a:ln/>
        </p:spPr>
        <p:txBody>
          <a:bodyPr/>
          <a:lstStyle/>
          <a:p>
            <a:endParaRPr lang="it-IT"/>
          </a:p>
        </p:txBody>
      </p:sp>
      <p:sp>
        <p:nvSpPr>
          <p:cNvPr id="15" name="blocco Service"/>
          <p:cNvSpPr/>
          <p:nvPr/>
        </p:nvSpPr>
        <p:spPr>
          <a:xfrm>
            <a:off x="3995928" y="1097280"/>
            <a:ext cx="1097280" cy="384048"/>
          </a:xfrm>
          <a:prstGeom prst="roundRect">
            <a:avLst>
              <a:gd name="adj" fmla="val 28571"/>
            </a:avLst>
          </a:prstGeom>
          <a:solidFill>
            <a:schemeClr val="tx2"/>
          </a:solidFill>
          <a:ln/>
        </p:spPr>
        <p:txBody>
          <a:bodyPr/>
          <a:lstStyle/>
          <a:p>
            <a:endParaRPr lang="it-IT"/>
          </a:p>
        </p:txBody>
      </p:sp>
      <p:sp>
        <p:nvSpPr>
          <p:cNvPr id="16" name="Text 13"/>
          <p:cNvSpPr txBox="1"/>
          <p:nvPr/>
        </p:nvSpPr>
        <p:spPr>
          <a:xfrm>
            <a:off x="4041648"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Service</a:t>
            </a:r>
            <a:endParaRPr lang="en-US" sz="1100" dirty="0"/>
          </a:p>
        </p:txBody>
      </p:sp>
      <p:sp>
        <p:nvSpPr>
          <p:cNvPr id="17" name="colonna Service"/>
          <p:cNvSpPr/>
          <p:nvPr/>
        </p:nvSpPr>
        <p:spPr>
          <a:xfrm>
            <a:off x="3995928" y="1554480"/>
            <a:ext cx="1097280" cy="1554480"/>
          </a:xfrm>
          <a:prstGeom prst="roundRect">
            <a:avLst>
              <a:gd name="adj" fmla="val 6667"/>
            </a:avLst>
          </a:prstGeom>
          <a:solidFill>
            <a:schemeClr val="bg2"/>
          </a:solidFill>
          <a:ln/>
        </p:spPr>
        <p:txBody>
          <a:bodyPr/>
          <a:lstStyle/>
          <a:p>
            <a:endParaRPr lang="it-IT"/>
          </a:p>
        </p:txBody>
      </p:sp>
      <p:sp>
        <p:nvSpPr>
          <p:cNvPr id="18" name="blocco Commerciale"/>
          <p:cNvSpPr/>
          <p:nvPr/>
        </p:nvSpPr>
        <p:spPr>
          <a:xfrm>
            <a:off x="5175504" y="1097280"/>
            <a:ext cx="1097280" cy="384048"/>
          </a:xfrm>
          <a:prstGeom prst="roundRect">
            <a:avLst>
              <a:gd name="adj" fmla="val 28571"/>
            </a:avLst>
          </a:prstGeom>
          <a:solidFill>
            <a:schemeClr val="tx2"/>
          </a:solidFill>
          <a:ln/>
        </p:spPr>
        <p:txBody>
          <a:bodyPr/>
          <a:lstStyle/>
          <a:p>
            <a:endParaRPr lang="it-IT"/>
          </a:p>
        </p:txBody>
      </p:sp>
      <p:sp>
        <p:nvSpPr>
          <p:cNvPr id="19" name="Text 16"/>
          <p:cNvSpPr txBox="1"/>
          <p:nvPr/>
        </p:nvSpPr>
        <p:spPr>
          <a:xfrm>
            <a:off x="5221224"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Commerciale</a:t>
            </a:r>
            <a:endParaRPr lang="en-US" sz="1100" dirty="0"/>
          </a:p>
        </p:txBody>
      </p:sp>
      <p:sp>
        <p:nvSpPr>
          <p:cNvPr id="20" name="colonna Commerciale"/>
          <p:cNvSpPr/>
          <p:nvPr/>
        </p:nvSpPr>
        <p:spPr>
          <a:xfrm>
            <a:off x="5175504" y="1554480"/>
            <a:ext cx="1097280" cy="1554480"/>
          </a:xfrm>
          <a:prstGeom prst="roundRect">
            <a:avLst>
              <a:gd name="adj" fmla="val 6667"/>
            </a:avLst>
          </a:prstGeom>
          <a:solidFill>
            <a:schemeClr val="bg2"/>
          </a:solidFill>
          <a:ln/>
        </p:spPr>
        <p:txBody>
          <a:bodyPr/>
          <a:lstStyle/>
          <a:p>
            <a:endParaRPr lang="it-IT"/>
          </a:p>
        </p:txBody>
      </p:sp>
      <p:sp>
        <p:nvSpPr>
          <p:cNvPr id="21" name="blocco Amministrazione"/>
          <p:cNvSpPr/>
          <p:nvPr/>
        </p:nvSpPr>
        <p:spPr>
          <a:xfrm>
            <a:off x="6355080" y="1097280"/>
            <a:ext cx="1097280" cy="384048"/>
          </a:xfrm>
          <a:prstGeom prst="roundRect">
            <a:avLst>
              <a:gd name="adj" fmla="val 28571"/>
            </a:avLst>
          </a:prstGeom>
          <a:solidFill>
            <a:schemeClr val="tx2"/>
          </a:solidFill>
          <a:ln/>
        </p:spPr>
        <p:txBody>
          <a:bodyPr/>
          <a:lstStyle/>
          <a:p>
            <a:endParaRPr lang="it-IT"/>
          </a:p>
        </p:txBody>
      </p:sp>
      <p:sp>
        <p:nvSpPr>
          <p:cNvPr id="22" name="Text 19"/>
          <p:cNvSpPr txBox="1"/>
          <p:nvPr/>
        </p:nvSpPr>
        <p:spPr>
          <a:xfrm>
            <a:off x="6400800"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Amministrazione</a:t>
            </a:r>
            <a:endParaRPr lang="en-US" sz="1100" dirty="0"/>
          </a:p>
        </p:txBody>
      </p:sp>
      <p:sp>
        <p:nvSpPr>
          <p:cNvPr id="23" name="colonna Amministrazione"/>
          <p:cNvSpPr/>
          <p:nvPr/>
        </p:nvSpPr>
        <p:spPr>
          <a:xfrm>
            <a:off x="6355080" y="1554480"/>
            <a:ext cx="1097280" cy="1554480"/>
          </a:xfrm>
          <a:prstGeom prst="roundRect">
            <a:avLst>
              <a:gd name="adj" fmla="val 6667"/>
            </a:avLst>
          </a:prstGeom>
          <a:solidFill>
            <a:schemeClr val="bg2"/>
          </a:solidFill>
          <a:ln/>
        </p:spPr>
        <p:txBody>
          <a:bodyPr/>
          <a:lstStyle/>
          <a:p>
            <a:endParaRPr lang="it-IT"/>
          </a:p>
        </p:txBody>
      </p:sp>
      <p:sp>
        <p:nvSpPr>
          <p:cNvPr id="24" name="blocco HR"/>
          <p:cNvSpPr/>
          <p:nvPr/>
        </p:nvSpPr>
        <p:spPr>
          <a:xfrm>
            <a:off x="7534656" y="1097280"/>
            <a:ext cx="1097280" cy="384048"/>
          </a:xfrm>
          <a:prstGeom prst="roundRect">
            <a:avLst>
              <a:gd name="adj" fmla="val 28571"/>
            </a:avLst>
          </a:prstGeom>
          <a:solidFill>
            <a:schemeClr val="tx2"/>
          </a:solidFill>
          <a:ln/>
        </p:spPr>
        <p:txBody>
          <a:bodyPr/>
          <a:lstStyle/>
          <a:p>
            <a:endParaRPr lang="it-IT"/>
          </a:p>
        </p:txBody>
      </p:sp>
      <p:sp>
        <p:nvSpPr>
          <p:cNvPr id="25" name="Text 22"/>
          <p:cNvSpPr txBox="1"/>
          <p:nvPr/>
        </p:nvSpPr>
        <p:spPr>
          <a:xfrm>
            <a:off x="7580376"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HR</a:t>
            </a:r>
            <a:endParaRPr lang="en-US" sz="1100" dirty="0"/>
          </a:p>
        </p:txBody>
      </p:sp>
      <p:sp>
        <p:nvSpPr>
          <p:cNvPr id="26" name="colonna HR"/>
          <p:cNvSpPr/>
          <p:nvPr/>
        </p:nvSpPr>
        <p:spPr>
          <a:xfrm>
            <a:off x="7534656" y="1554480"/>
            <a:ext cx="1097280" cy="1554480"/>
          </a:xfrm>
          <a:prstGeom prst="roundRect">
            <a:avLst>
              <a:gd name="adj" fmla="val 6667"/>
            </a:avLst>
          </a:prstGeom>
          <a:solidFill>
            <a:schemeClr val="bg2"/>
          </a:solidFill>
          <a:ln/>
        </p:spPr>
        <p:txBody>
          <a:bodyPr/>
          <a:lstStyle/>
          <a:p>
            <a:endParaRPr lang="it-IT"/>
          </a:p>
        </p:txBody>
      </p:sp>
      <p:sp>
        <p:nvSpPr>
          <p:cNvPr id="27" name="post-it"/>
          <p:cNvSpPr/>
          <p:nvPr/>
        </p:nvSpPr>
        <p:spPr>
          <a:xfrm>
            <a:off x="548640" y="1691640"/>
            <a:ext cx="914400" cy="548640"/>
          </a:xfrm>
          <a:prstGeom prst="rect">
            <a:avLst/>
          </a:prstGeom>
          <a:solidFill>
            <a:srgbClr val="F2E3C6"/>
          </a:solidFill>
          <a:ln/>
          <a:effectLst>
            <a:outerShdw blurRad="38100" dist="12700" dir="2700000" algn="bl" rotWithShape="0">
              <a:srgbClr val="000000">
                <a:alpha val="15000"/>
              </a:srgbClr>
            </a:outerShdw>
          </a:effectLst>
        </p:spPr>
        <p:txBody>
          <a:bodyPr/>
          <a:lstStyle/>
          <a:p>
            <a:endParaRPr lang="it-IT"/>
          </a:p>
        </p:txBody>
      </p:sp>
      <p:sp>
        <p:nvSpPr>
          <p:cNvPr id="28" name="Text 25"/>
          <p:cNvSpPr txBox="1"/>
          <p:nvPr/>
        </p:nvSpPr>
        <p:spPr>
          <a:xfrm>
            <a:off x="594360" y="1691640"/>
            <a:ext cx="822960" cy="548640"/>
          </a:xfrm>
          <a:prstGeom prst="rect">
            <a:avLst/>
          </a:prstGeom>
          <a:noFill/>
          <a:ln/>
        </p:spPr>
        <p:txBody>
          <a:bodyPr wrap="square" lIns="0" tIns="0" rIns="0" bIns="0" rtlCol="0" anchor="ctr"/>
          <a:lstStyle/>
          <a:p>
            <a:pPr marL="0" indent="0" algn="ctr">
              <a:buNone/>
            </a:pPr>
            <a:r>
              <a:rPr lang="en-US" sz="900" dirty="0">
                <a:solidFill>
                  <a:schemeClr val="tx1"/>
                </a:solidFill>
              </a:rPr>
              <a:t>Cercare nei disegni</a:t>
            </a:r>
            <a:endParaRPr lang="en-US" sz="900" dirty="0"/>
          </a:p>
        </p:txBody>
      </p:sp>
      <p:sp>
        <p:nvSpPr>
          <p:cNvPr id="29" name="post-it"/>
          <p:cNvSpPr/>
          <p:nvPr/>
        </p:nvSpPr>
        <p:spPr>
          <a:xfrm>
            <a:off x="4087368" y="1691640"/>
            <a:ext cx="914400" cy="548640"/>
          </a:xfrm>
          <a:prstGeom prst="rect">
            <a:avLst/>
          </a:prstGeom>
          <a:solidFill>
            <a:srgbClr val="F2E3C6"/>
          </a:solidFill>
          <a:ln/>
          <a:effectLst>
            <a:outerShdw blurRad="38100" dist="12700" dir="2700000" algn="bl" rotWithShape="0">
              <a:srgbClr val="000000">
                <a:alpha val="15000"/>
              </a:srgbClr>
            </a:outerShdw>
          </a:effectLst>
        </p:spPr>
        <p:txBody>
          <a:bodyPr/>
          <a:lstStyle/>
          <a:p>
            <a:endParaRPr lang="it-IT"/>
          </a:p>
        </p:txBody>
      </p:sp>
      <p:sp>
        <p:nvSpPr>
          <p:cNvPr id="30" name="Text 27"/>
          <p:cNvSpPr txBox="1"/>
          <p:nvPr/>
        </p:nvSpPr>
        <p:spPr>
          <a:xfrm>
            <a:off x="4133088" y="1691640"/>
            <a:ext cx="822960" cy="548640"/>
          </a:xfrm>
          <a:prstGeom prst="rect">
            <a:avLst/>
          </a:prstGeom>
          <a:noFill/>
          <a:ln/>
        </p:spPr>
        <p:txBody>
          <a:bodyPr wrap="square" lIns="0" tIns="0" rIns="0" bIns="0" rtlCol="0" anchor="ctr"/>
          <a:lstStyle/>
          <a:p>
            <a:pPr marL="0" indent="0" algn="ctr">
              <a:buNone/>
            </a:pPr>
            <a:r>
              <a:rPr lang="en-US" sz="900" dirty="0">
                <a:solidFill>
                  <a:schemeClr val="tx1"/>
                </a:solidFill>
              </a:rPr>
              <a:t>Soluzione di un allarme</a:t>
            </a:r>
            <a:endParaRPr lang="en-US" sz="900" dirty="0"/>
          </a:p>
        </p:txBody>
      </p:sp>
      <p:sp>
        <p:nvSpPr>
          <p:cNvPr id="31" name="post-it"/>
          <p:cNvSpPr/>
          <p:nvPr/>
        </p:nvSpPr>
        <p:spPr>
          <a:xfrm>
            <a:off x="5266944" y="1691640"/>
            <a:ext cx="914400" cy="548640"/>
          </a:xfrm>
          <a:prstGeom prst="rect">
            <a:avLst/>
          </a:prstGeom>
          <a:solidFill>
            <a:srgbClr val="F2E3C6"/>
          </a:solidFill>
          <a:ln/>
          <a:effectLst>
            <a:outerShdw blurRad="38100" dist="12700" dir="2700000" algn="bl" rotWithShape="0">
              <a:srgbClr val="000000">
                <a:alpha val="15000"/>
              </a:srgbClr>
            </a:outerShdw>
          </a:effectLst>
        </p:spPr>
        <p:txBody>
          <a:bodyPr/>
          <a:lstStyle/>
          <a:p>
            <a:endParaRPr lang="it-IT"/>
          </a:p>
        </p:txBody>
      </p:sp>
      <p:sp>
        <p:nvSpPr>
          <p:cNvPr id="32" name="Text 29"/>
          <p:cNvSpPr txBox="1"/>
          <p:nvPr/>
        </p:nvSpPr>
        <p:spPr>
          <a:xfrm>
            <a:off x="5312664" y="1691640"/>
            <a:ext cx="822960" cy="548640"/>
          </a:xfrm>
          <a:prstGeom prst="rect">
            <a:avLst/>
          </a:prstGeom>
          <a:noFill/>
          <a:ln/>
        </p:spPr>
        <p:txBody>
          <a:bodyPr wrap="square" lIns="0" tIns="0" rIns="0" bIns="0" rtlCol="0" anchor="ctr"/>
          <a:lstStyle/>
          <a:p>
            <a:pPr marL="0" indent="0" algn="ctr">
              <a:buNone/>
            </a:pPr>
            <a:r>
              <a:rPr lang="en-US" sz="900" dirty="0">
                <a:solidFill>
                  <a:schemeClr val="tx1"/>
                </a:solidFill>
              </a:rPr>
              <a:t>Leggere il capitolato</a:t>
            </a:r>
            <a:endParaRPr lang="en-US" sz="900" dirty="0"/>
          </a:p>
        </p:txBody>
      </p:sp>
      <p:sp>
        <p:nvSpPr>
          <p:cNvPr id="33" name="post-it"/>
          <p:cNvSpPr/>
          <p:nvPr/>
        </p:nvSpPr>
        <p:spPr>
          <a:xfrm>
            <a:off x="4087368" y="2331720"/>
            <a:ext cx="914400" cy="548640"/>
          </a:xfrm>
          <a:prstGeom prst="rect">
            <a:avLst/>
          </a:prstGeom>
          <a:solidFill>
            <a:srgbClr val="F2E3C6"/>
          </a:solidFill>
          <a:ln/>
          <a:effectLst>
            <a:outerShdw blurRad="38100" dist="12700" dir="2700000" algn="bl" rotWithShape="0">
              <a:srgbClr val="000000">
                <a:alpha val="15000"/>
              </a:srgbClr>
            </a:outerShdw>
          </a:effectLst>
        </p:spPr>
        <p:txBody>
          <a:bodyPr/>
          <a:lstStyle/>
          <a:p>
            <a:endParaRPr lang="it-IT"/>
          </a:p>
        </p:txBody>
      </p:sp>
      <p:sp>
        <p:nvSpPr>
          <p:cNvPr id="34" name="Text 31"/>
          <p:cNvSpPr txBox="1"/>
          <p:nvPr/>
        </p:nvSpPr>
        <p:spPr>
          <a:xfrm>
            <a:off x="4133088" y="2331720"/>
            <a:ext cx="822960" cy="548640"/>
          </a:xfrm>
          <a:prstGeom prst="rect">
            <a:avLst/>
          </a:prstGeom>
          <a:noFill/>
          <a:ln/>
        </p:spPr>
        <p:txBody>
          <a:bodyPr wrap="square" lIns="0" tIns="0" rIns="0" bIns="0" rtlCol="0" anchor="ctr"/>
          <a:lstStyle/>
          <a:p>
            <a:pPr marL="0" indent="0" algn="ctr">
              <a:buNone/>
            </a:pPr>
            <a:r>
              <a:rPr lang="en-US" sz="900" dirty="0">
                <a:solidFill>
                  <a:schemeClr val="tx1"/>
                </a:solidFill>
              </a:rPr>
              <a:t>Report d'intervento</a:t>
            </a:r>
            <a:endParaRPr lang="en-US" sz="900" dirty="0"/>
          </a:p>
        </p:txBody>
      </p:sp>
      <p:sp>
        <p:nvSpPr>
          <p:cNvPr id="35" name="scheda Un'idea, un post-it"/>
          <p:cNvSpPr/>
          <p:nvPr/>
        </p:nvSpPr>
        <p:spPr>
          <a:xfrm>
            <a:off x="457200" y="3291840"/>
            <a:ext cx="3538728" cy="1188720"/>
          </a:xfrm>
          <a:prstGeom prst="roundRect">
            <a:avLst>
              <a:gd name="adj" fmla="val 6154"/>
            </a:avLst>
          </a:prstGeom>
          <a:solidFill>
            <a:schemeClr val="bg2"/>
          </a:solidFill>
          <a:ln/>
        </p:spPr>
        <p:txBody>
          <a:bodyPr/>
          <a:lstStyle/>
          <a:p>
            <a:endParaRPr lang="it-IT"/>
          </a:p>
        </p:txBody>
      </p:sp>
      <p:sp>
        <p:nvSpPr>
          <p:cNvPr id="36" name="cerchio FiEdit3"/>
          <p:cNvSpPr/>
          <p:nvPr/>
        </p:nvSpPr>
        <p:spPr>
          <a:xfrm>
            <a:off x="640080" y="3474720"/>
            <a:ext cx="457200" cy="457200"/>
          </a:xfrm>
          <a:prstGeom prst="ellipse">
            <a:avLst/>
          </a:prstGeom>
          <a:solidFill>
            <a:schemeClr val="accent1"/>
          </a:solidFill>
          <a:ln/>
        </p:spPr>
        <p:txBody>
          <a:bodyPr/>
          <a:lstStyle/>
          <a:p>
            <a:endParaRPr lang="it-IT"/>
          </a:p>
        </p:txBody>
      </p:sp>
      <p:pic>
        <p:nvPicPr>
          <p:cNvPr id="37" name="Image 0" descr="FiEdit3"/>
          <p:cNvPicPr>
            <a:picLocks noChangeAspect="1"/>
          </p:cNvPicPr>
          <p:nvPr/>
        </p:nvPicPr>
        <p:blipFill>
          <a:blip r:embed="rId3"/>
          <a:stretch>
            <a:fillRect/>
          </a:stretch>
        </p:blipFill>
        <p:spPr>
          <a:xfrm>
            <a:off x="754380" y="3589020"/>
            <a:ext cx="228600" cy="228600"/>
          </a:xfrm>
          <a:prstGeom prst="rect">
            <a:avLst/>
          </a:prstGeom>
        </p:spPr>
      </p:pic>
      <p:sp>
        <p:nvSpPr>
          <p:cNvPr id="38" name="Text 34"/>
          <p:cNvSpPr txBox="1"/>
          <p:nvPr/>
        </p:nvSpPr>
        <p:spPr>
          <a:xfrm>
            <a:off x="1234440" y="3474720"/>
            <a:ext cx="3063240" cy="457200"/>
          </a:xfrm>
          <a:prstGeom prst="rect">
            <a:avLst/>
          </a:prstGeom>
          <a:noFill/>
          <a:ln/>
        </p:spPr>
        <p:txBody>
          <a:bodyPr wrap="square" lIns="0" tIns="0" rIns="0" bIns="0" rtlCol="0" anchor="ctr"/>
          <a:lstStyle/>
          <a:p>
            <a:pPr marL="0" indent="0">
              <a:buNone/>
            </a:pPr>
            <a:r>
              <a:rPr lang="en-US" sz="1400" b="1" dirty="0">
                <a:solidFill>
                  <a:schemeClr val="tx1"/>
                </a:solidFill>
              </a:rPr>
              <a:t>Un </a:t>
            </a:r>
            <a:r>
              <a:rPr lang="en-US" sz="1400" b="1" dirty="0" err="1">
                <a:solidFill>
                  <a:schemeClr val="tx1"/>
                </a:solidFill>
              </a:rPr>
              <a:t>problema</a:t>
            </a:r>
            <a:r>
              <a:rPr lang="en-US" sz="1400" b="1" dirty="0">
                <a:solidFill>
                  <a:schemeClr val="tx1"/>
                </a:solidFill>
              </a:rPr>
              <a:t>, un post-it</a:t>
            </a:r>
            <a:endParaRPr lang="en-US" sz="1400" dirty="0"/>
          </a:p>
        </p:txBody>
      </p:sp>
      <p:sp>
        <p:nvSpPr>
          <p:cNvPr id="39" name="Text 35"/>
          <p:cNvSpPr txBox="1"/>
          <p:nvPr/>
        </p:nvSpPr>
        <p:spPr>
          <a:xfrm>
            <a:off x="640080" y="4069080"/>
            <a:ext cx="3657600" cy="301752"/>
          </a:xfrm>
          <a:prstGeom prst="rect">
            <a:avLst/>
          </a:prstGeom>
          <a:noFill/>
          <a:ln/>
        </p:spPr>
        <p:txBody>
          <a:bodyPr wrap="square" lIns="0" tIns="0" rIns="0" bIns="0" rtlCol="0" anchor="t"/>
          <a:lstStyle/>
          <a:p>
            <a:pPr marL="0" indent="0">
              <a:buNone/>
            </a:pPr>
            <a:r>
              <a:rPr lang="en-US" sz="1200" dirty="0" err="1">
                <a:solidFill>
                  <a:schemeClr val="tx2"/>
                </a:solidFill>
              </a:rPr>
              <a:t>Raccogliamo</a:t>
            </a:r>
            <a:r>
              <a:rPr lang="en-US" sz="1200" dirty="0">
                <a:solidFill>
                  <a:schemeClr val="tx2"/>
                </a:solidFill>
              </a:rPr>
              <a:t> </a:t>
            </a:r>
            <a:r>
              <a:rPr lang="en-US" sz="1200" dirty="0" err="1">
                <a:solidFill>
                  <a:schemeClr val="tx2"/>
                </a:solidFill>
              </a:rPr>
              <a:t>attività</a:t>
            </a:r>
            <a:r>
              <a:rPr lang="en-US" sz="1200" dirty="0">
                <a:solidFill>
                  <a:schemeClr val="tx2"/>
                </a:solidFill>
              </a:rPr>
              <a:t> </a:t>
            </a:r>
            <a:r>
              <a:rPr lang="en-US" sz="1200" dirty="0" err="1">
                <a:solidFill>
                  <a:schemeClr val="tx2"/>
                </a:solidFill>
              </a:rPr>
              <a:t>difficili</a:t>
            </a:r>
            <a:r>
              <a:rPr lang="en-US" sz="1200" dirty="0">
                <a:solidFill>
                  <a:schemeClr val="tx2"/>
                </a:solidFill>
              </a:rPr>
              <a:t>, repetitive o </a:t>
            </a:r>
            <a:r>
              <a:rPr lang="en-US" sz="1200" dirty="0" err="1">
                <a:solidFill>
                  <a:schemeClr val="tx2"/>
                </a:solidFill>
              </a:rPr>
              <a:t>migliorabili</a:t>
            </a:r>
            <a:endParaRPr lang="en-US" sz="1200" dirty="0"/>
          </a:p>
        </p:txBody>
      </p:sp>
      <p:sp>
        <p:nvSpPr>
          <p:cNvPr id="40" name="scheda Una sola regola"/>
          <p:cNvSpPr/>
          <p:nvPr/>
        </p:nvSpPr>
        <p:spPr>
          <a:xfrm>
            <a:off x="4663440" y="3291840"/>
            <a:ext cx="4023360" cy="1188720"/>
          </a:xfrm>
          <a:prstGeom prst="roundRect">
            <a:avLst>
              <a:gd name="adj" fmla="val 6154"/>
            </a:avLst>
          </a:prstGeom>
          <a:solidFill>
            <a:schemeClr val="accent6"/>
          </a:solidFill>
          <a:ln/>
        </p:spPr>
        <p:txBody>
          <a:bodyPr/>
          <a:lstStyle/>
          <a:p>
            <a:endParaRPr lang="it-IT"/>
          </a:p>
        </p:txBody>
      </p:sp>
      <p:sp>
        <p:nvSpPr>
          <p:cNvPr id="41" name="cerchio FiLock"/>
          <p:cNvSpPr/>
          <p:nvPr/>
        </p:nvSpPr>
        <p:spPr>
          <a:xfrm>
            <a:off x="4846320" y="3474720"/>
            <a:ext cx="457200" cy="457200"/>
          </a:xfrm>
          <a:prstGeom prst="ellipse">
            <a:avLst/>
          </a:prstGeom>
          <a:solidFill>
            <a:schemeClr val="accent1"/>
          </a:solidFill>
          <a:ln/>
        </p:spPr>
        <p:txBody>
          <a:bodyPr/>
          <a:lstStyle/>
          <a:p>
            <a:endParaRPr lang="it-IT"/>
          </a:p>
        </p:txBody>
      </p:sp>
      <p:pic>
        <p:nvPicPr>
          <p:cNvPr id="42" name="Image 1" descr="FiLock"/>
          <p:cNvPicPr>
            <a:picLocks noChangeAspect="1"/>
          </p:cNvPicPr>
          <p:nvPr/>
        </p:nvPicPr>
        <p:blipFill>
          <a:blip r:embed="rId4"/>
          <a:stretch>
            <a:fillRect/>
          </a:stretch>
        </p:blipFill>
        <p:spPr>
          <a:xfrm>
            <a:off x="4960620" y="3589020"/>
            <a:ext cx="228600" cy="228600"/>
          </a:xfrm>
          <a:prstGeom prst="rect">
            <a:avLst/>
          </a:prstGeom>
        </p:spPr>
      </p:pic>
      <p:sp>
        <p:nvSpPr>
          <p:cNvPr id="43" name="Text 38"/>
          <p:cNvSpPr txBox="1"/>
          <p:nvPr/>
        </p:nvSpPr>
        <p:spPr>
          <a:xfrm>
            <a:off x="5440680" y="3474720"/>
            <a:ext cx="3063240" cy="457200"/>
          </a:xfrm>
          <a:prstGeom prst="rect">
            <a:avLst/>
          </a:prstGeom>
          <a:noFill/>
          <a:ln/>
        </p:spPr>
        <p:txBody>
          <a:bodyPr wrap="square" lIns="0" tIns="0" rIns="0" bIns="0" rtlCol="0" anchor="ctr"/>
          <a:lstStyle/>
          <a:p>
            <a:pPr marL="0" indent="0">
              <a:buNone/>
            </a:pPr>
            <a:r>
              <a:rPr lang="en-US" sz="1400" b="1" dirty="0">
                <a:solidFill>
                  <a:schemeClr val="tx1"/>
                </a:solidFill>
              </a:rPr>
              <a:t>Niente </a:t>
            </a:r>
            <a:r>
              <a:rPr lang="en-US" sz="1400" b="1" dirty="0" err="1">
                <a:solidFill>
                  <a:schemeClr val="tx1"/>
                </a:solidFill>
              </a:rPr>
              <a:t>informazioni</a:t>
            </a:r>
            <a:r>
              <a:rPr lang="en-US" sz="1400" b="1" dirty="0">
                <a:solidFill>
                  <a:schemeClr val="tx1"/>
                </a:solidFill>
              </a:rPr>
              <a:t> </a:t>
            </a:r>
            <a:r>
              <a:rPr lang="en-US" sz="1400" b="1" dirty="0" err="1">
                <a:solidFill>
                  <a:schemeClr val="tx1"/>
                </a:solidFill>
              </a:rPr>
              <a:t>riservate</a:t>
            </a:r>
            <a:endParaRPr lang="en-US" sz="1400" dirty="0"/>
          </a:p>
        </p:txBody>
      </p:sp>
      <p:sp>
        <p:nvSpPr>
          <p:cNvPr id="44" name="Text 39"/>
          <p:cNvSpPr txBox="1"/>
          <p:nvPr/>
        </p:nvSpPr>
        <p:spPr>
          <a:xfrm>
            <a:off x="4846320" y="4069080"/>
            <a:ext cx="3657600" cy="301752"/>
          </a:xfrm>
          <a:prstGeom prst="rect">
            <a:avLst/>
          </a:prstGeom>
          <a:noFill/>
          <a:ln/>
        </p:spPr>
        <p:txBody>
          <a:bodyPr wrap="square" lIns="0" tIns="0" rIns="0" bIns="0" rtlCol="0" anchor="t"/>
          <a:lstStyle/>
          <a:p>
            <a:pPr marL="0" indent="0">
              <a:buNone/>
            </a:pPr>
            <a:r>
              <a:rPr lang="en-US" sz="1200" dirty="0" err="1">
                <a:solidFill>
                  <a:schemeClr val="tx2"/>
                </a:solidFill>
              </a:rPr>
              <a:t>Utilizziamo</a:t>
            </a:r>
            <a:r>
              <a:rPr lang="en-US" sz="1200" dirty="0">
                <a:solidFill>
                  <a:schemeClr val="tx2"/>
                </a:solidFill>
              </a:rPr>
              <a:t> </a:t>
            </a:r>
            <a:r>
              <a:rPr lang="en-US" sz="1200" dirty="0" err="1">
                <a:solidFill>
                  <a:schemeClr val="tx2"/>
                </a:solidFill>
              </a:rPr>
              <a:t>descrizioni</a:t>
            </a:r>
            <a:r>
              <a:rPr lang="en-US" sz="1200" dirty="0">
                <a:solidFill>
                  <a:schemeClr val="tx2"/>
                </a:solidFill>
              </a:rPr>
              <a:t> </a:t>
            </a:r>
            <a:r>
              <a:rPr lang="en-US" sz="1200" dirty="0" err="1">
                <a:solidFill>
                  <a:schemeClr val="tx2"/>
                </a:solidFill>
              </a:rPr>
              <a:t>generiche</a:t>
            </a:r>
            <a:r>
              <a:rPr lang="en-US" sz="1200" dirty="0">
                <a:solidFill>
                  <a:schemeClr val="tx2"/>
                </a:solidFill>
              </a:rPr>
              <a:t> delle </a:t>
            </a:r>
            <a:r>
              <a:rPr lang="en-US" sz="1200" dirty="0" err="1">
                <a:solidFill>
                  <a:schemeClr val="tx2"/>
                </a:solidFill>
              </a:rPr>
              <a:t>attività</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B31E1-467B-01EE-29F4-19744A5DFFC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0AB83CB-7BC9-9B1A-1416-C63915DD329F}"/>
              </a:ext>
            </a:extLst>
          </p:cNvPr>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AI ADOPTION  ·  LASER SRL  ·  SESSIONE 1 DI 3</a:t>
            </a:r>
            <a:endParaRPr lang="en-US" sz="1300" dirty="0"/>
          </a:p>
        </p:txBody>
      </p:sp>
      <p:sp>
        <p:nvSpPr>
          <p:cNvPr id="3" name="Text 0">
            <a:extLst>
              <a:ext uri="{FF2B5EF4-FFF2-40B4-BE49-F238E27FC236}">
                <a16:creationId xmlns:a16="http://schemas.microsoft.com/office/drawing/2014/main" id="{C3415790-2344-53B4-1827-9C638257CAC0}"/>
              </a:ext>
            </a:extLst>
          </p:cNvPr>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err="1">
                <a:solidFill>
                  <a:schemeClr val="bg1"/>
                </a:solidFill>
              </a:rPr>
              <a:t>Evoluzione</a:t>
            </a:r>
            <a:r>
              <a:rPr lang="en-US" sz="3600" b="1" dirty="0">
                <a:solidFill>
                  <a:schemeClr val="bg1"/>
                </a:solidFill>
              </a:rPr>
              <a:t> e </a:t>
            </a:r>
            <a:r>
              <a:rPr lang="en-US" sz="3600" b="1" dirty="0" err="1">
                <a:solidFill>
                  <a:schemeClr val="bg1"/>
                </a:solidFill>
              </a:rPr>
              <a:t>rilevanza</a:t>
            </a:r>
            <a:r>
              <a:rPr lang="en-US" sz="3600" b="1" dirty="0">
                <a:solidFill>
                  <a:schemeClr val="bg1"/>
                </a:solidFill>
              </a:rPr>
              <a:t> </a:t>
            </a:r>
            <a:r>
              <a:rPr lang="en-US" sz="3600" b="1" dirty="0" err="1">
                <a:solidFill>
                  <a:schemeClr val="bg1"/>
                </a:solidFill>
              </a:rPr>
              <a:t>dell’intelligenza</a:t>
            </a:r>
            <a:r>
              <a:rPr lang="en-US" sz="3600" b="1" dirty="0">
                <a:solidFill>
                  <a:schemeClr val="bg1"/>
                </a:solidFill>
              </a:rPr>
              <a:t> </a:t>
            </a:r>
            <a:r>
              <a:rPr lang="en-US" sz="3600" b="1" dirty="0" err="1">
                <a:solidFill>
                  <a:schemeClr val="bg1"/>
                </a:solidFill>
              </a:rPr>
              <a:t>Artificiale</a:t>
            </a:r>
            <a:endParaRPr lang="en-US" sz="3600" dirty="0"/>
          </a:p>
        </p:txBody>
      </p:sp>
      <p:sp>
        <p:nvSpPr>
          <p:cNvPr id="4" name="Text 0">
            <a:extLst>
              <a:ext uri="{FF2B5EF4-FFF2-40B4-BE49-F238E27FC236}">
                <a16:creationId xmlns:a16="http://schemas.microsoft.com/office/drawing/2014/main" id="{7C6F723D-CA1B-94B9-BE2D-AB6173EB6D5D}"/>
              </a:ext>
            </a:extLst>
          </p:cNvPr>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dirty="0"/>
              <a:t>Primo Tema – </a:t>
            </a:r>
            <a:r>
              <a:rPr lang="en-US" dirty="0" err="1"/>
              <a:t>Giornata</a:t>
            </a:r>
            <a:r>
              <a:rPr lang="en-US" dirty="0"/>
              <a:t> 1</a:t>
            </a:r>
            <a:endParaRPr lang="en-US" sz="1600" dirty="0"/>
          </a:p>
        </p:txBody>
      </p:sp>
    </p:spTree>
    <p:extLst>
      <p:ext uri="{BB962C8B-B14F-4D97-AF65-F5344CB8AC3E}">
        <p14:creationId xmlns:p14="http://schemas.microsoft.com/office/powerpoint/2010/main" val="26275156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08F6-C20E-5F17-56C6-180F4AA30EF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D68275A-D750-8CC0-0997-453DC42F7D60}"/>
              </a:ext>
            </a:extLst>
          </p:cNvPr>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AI ADOPTION  ·  LASER SRL  ·  SESSIONE 1 DI 3</a:t>
            </a:r>
            <a:endParaRPr lang="en-US" sz="1300" dirty="0"/>
          </a:p>
        </p:txBody>
      </p:sp>
      <p:sp>
        <p:nvSpPr>
          <p:cNvPr id="3" name="Text 0">
            <a:extLst>
              <a:ext uri="{FF2B5EF4-FFF2-40B4-BE49-F238E27FC236}">
                <a16:creationId xmlns:a16="http://schemas.microsoft.com/office/drawing/2014/main" id="{411CC301-50BD-A556-768E-3067B8E393DD}"/>
              </a:ext>
            </a:extLst>
          </p:cNvPr>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a:solidFill>
                  <a:schemeClr val="bg1"/>
                </a:solidFill>
              </a:rPr>
              <a:t>Fondamenti e </a:t>
            </a:r>
            <a:r>
              <a:rPr lang="en-US" sz="3600" b="1" dirty="0" err="1">
                <a:solidFill>
                  <a:schemeClr val="bg1"/>
                </a:solidFill>
              </a:rPr>
              <a:t>funzionamento</a:t>
            </a:r>
            <a:r>
              <a:rPr lang="en-US" sz="3600" b="1" dirty="0">
                <a:solidFill>
                  <a:schemeClr val="bg1"/>
                </a:solidFill>
              </a:rPr>
              <a:t> </a:t>
            </a:r>
            <a:r>
              <a:rPr lang="en-US" sz="3600" b="1" dirty="0" err="1">
                <a:solidFill>
                  <a:schemeClr val="bg1"/>
                </a:solidFill>
              </a:rPr>
              <a:t>dell’Ai</a:t>
            </a:r>
            <a:endParaRPr lang="en-US" sz="3600" dirty="0"/>
          </a:p>
        </p:txBody>
      </p:sp>
      <p:sp>
        <p:nvSpPr>
          <p:cNvPr id="4" name="Text 0">
            <a:extLst>
              <a:ext uri="{FF2B5EF4-FFF2-40B4-BE49-F238E27FC236}">
                <a16:creationId xmlns:a16="http://schemas.microsoft.com/office/drawing/2014/main" id="{66998D74-79C9-E793-EF76-124E41B26827}"/>
              </a:ext>
            </a:extLst>
          </p:cNvPr>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dirty="0" err="1"/>
              <a:t>SecondoTema</a:t>
            </a:r>
            <a:r>
              <a:rPr lang="en-US" dirty="0"/>
              <a:t> – </a:t>
            </a:r>
            <a:r>
              <a:rPr lang="en-US" dirty="0" err="1"/>
              <a:t>Giornata</a:t>
            </a:r>
            <a:r>
              <a:rPr lang="en-US" dirty="0"/>
              <a:t> 1</a:t>
            </a:r>
            <a:endParaRPr lang="en-US" sz="1600" dirty="0"/>
          </a:p>
        </p:txBody>
      </p:sp>
    </p:spTree>
    <p:extLst>
      <p:ext uri="{BB962C8B-B14F-4D97-AF65-F5344CB8AC3E}">
        <p14:creationId xmlns:p14="http://schemas.microsoft.com/office/powerpoint/2010/main" val="26791993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83F4D-8264-D1FB-3D59-A8C8C11FF7F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77E4DB9-6466-55C3-8E40-60C5DC39D69F}"/>
              </a:ext>
            </a:extLst>
          </p:cNvPr>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AI ADOPTION  ·  LASER SRL  ·  SESSIONE 1 DI 3</a:t>
            </a:r>
            <a:endParaRPr lang="en-US" sz="1300" dirty="0"/>
          </a:p>
        </p:txBody>
      </p:sp>
      <p:sp>
        <p:nvSpPr>
          <p:cNvPr id="3" name="Text 0">
            <a:extLst>
              <a:ext uri="{FF2B5EF4-FFF2-40B4-BE49-F238E27FC236}">
                <a16:creationId xmlns:a16="http://schemas.microsoft.com/office/drawing/2014/main" id="{8B9E7441-22FB-1468-7F8C-BFD5D46E492D}"/>
              </a:ext>
            </a:extLst>
          </p:cNvPr>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err="1">
                <a:solidFill>
                  <a:schemeClr val="bg1"/>
                </a:solidFill>
              </a:rPr>
              <a:t>Capacità</a:t>
            </a:r>
            <a:r>
              <a:rPr lang="en-US" sz="3600" b="1" dirty="0">
                <a:solidFill>
                  <a:schemeClr val="bg1"/>
                </a:solidFill>
              </a:rPr>
              <a:t>, </a:t>
            </a:r>
            <a:r>
              <a:rPr lang="en-US" sz="3600" b="1" dirty="0" err="1">
                <a:solidFill>
                  <a:schemeClr val="bg1"/>
                </a:solidFill>
              </a:rPr>
              <a:t>limiti</a:t>
            </a:r>
            <a:r>
              <a:rPr lang="en-US" sz="3600" b="1" dirty="0">
                <a:solidFill>
                  <a:schemeClr val="bg1"/>
                </a:solidFill>
              </a:rPr>
              <a:t> e </a:t>
            </a:r>
            <a:r>
              <a:rPr lang="en-US" sz="3600" b="1" dirty="0" err="1">
                <a:solidFill>
                  <a:schemeClr val="bg1"/>
                </a:solidFill>
              </a:rPr>
              <a:t>affidabilità</a:t>
            </a:r>
            <a:r>
              <a:rPr lang="en-US" sz="3600" b="1" dirty="0">
                <a:solidFill>
                  <a:schemeClr val="bg1"/>
                </a:solidFill>
              </a:rPr>
              <a:t> </a:t>
            </a:r>
            <a:r>
              <a:rPr lang="en-US" sz="3600" b="1" dirty="0" err="1">
                <a:solidFill>
                  <a:schemeClr val="bg1"/>
                </a:solidFill>
              </a:rPr>
              <a:t>dell’AI</a:t>
            </a:r>
            <a:endParaRPr lang="en-US" sz="3600" dirty="0"/>
          </a:p>
        </p:txBody>
      </p:sp>
      <p:sp>
        <p:nvSpPr>
          <p:cNvPr id="4" name="Text 0">
            <a:extLst>
              <a:ext uri="{FF2B5EF4-FFF2-40B4-BE49-F238E27FC236}">
                <a16:creationId xmlns:a16="http://schemas.microsoft.com/office/drawing/2014/main" id="{88B23B9A-507D-E4E1-E1EE-CF25E261179B}"/>
              </a:ext>
            </a:extLst>
          </p:cNvPr>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dirty="0"/>
              <a:t>Terzo Tema – </a:t>
            </a:r>
            <a:r>
              <a:rPr lang="en-US" dirty="0" err="1"/>
              <a:t>Giornata</a:t>
            </a:r>
            <a:r>
              <a:rPr lang="en-US" dirty="0"/>
              <a:t> 1</a:t>
            </a:r>
            <a:endParaRPr lang="en-US" sz="1600" dirty="0"/>
          </a:p>
        </p:txBody>
      </p:sp>
    </p:spTree>
    <p:extLst>
      <p:ext uri="{BB962C8B-B14F-4D97-AF65-F5344CB8AC3E}">
        <p14:creationId xmlns:p14="http://schemas.microsoft.com/office/powerpoint/2010/main" val="8166321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Caccia all'allucinazione</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bg2"/>
          </a:solidFill>
          <a:ln w="9525">
            <a:solidFill>
              <a:schemeClr val="accent1"/>
            </a:solidFill>
            <a:prstDash val="solid"/>
          </a:ln>
        </p:spPr>
        <p:txBody>
          <a:bodyPr/>
          <a:lstStyle/>
          <a:p>
            <a:endParaRPr lang="it-IT"/>
          </a:p>
        </p:txBody>
      </p:sp>
      <p:sp>
        <p:nvSpPr>
          <p:cNvPr id="5" name="Text 2"/>
          <p:cNvSpPr txBox="1"/>
          <p:nvPr/>
        </p:nvSpPr>
        <p:spPr>
          <a:xfrm>
            <a:off x="7452360" y="402336"/>
            <a:ext cx="1234440" cy="274320"/>
          </a:xfrm>
          <a:prstGeom prst="rect">
            <a:avLst/>
          </a:prstGeom>
          <a:noFill/>
          <a:ln/>
        </p:spPr>
        <p:txBody>
          <a:bodyPr wrap="square" lIns="0" tIns="0" rIns="0" bIns="0" rtlCol="0" anchor="ctr"/>
          <a:lstStyle/>
          <a:p>
            <a:pPr marL="0" indent="0" algn="ctr">
              <a:buNone/>
            </a:pPr>
            <a:r>
              <a:rPr lang="en-US" sz="1000" b="1" dirty="0">
                <a:solidFill>
                  <a:schemeClr val="accent1"/>
                </a:solidFill>
              </a:rPr>
              <a:t>Percorso A e B</a:t>
            </a:r>
            <a:endParaRPr lang="en-US" sz="1000" dirty="0"/>
          </a:p>
        </p:txBody>
      </p:sp>
      <p:sp>
        <p:nvSpPr>
          <p:cNvPr id="6" name="Text 3"/>
          <p:cNvSpPr txBox="1"/>
          <p:nvPr/>
        </p:nvSpPr>
        <p:spPr>
          <a:xfrm>
            <a:off x="457200" y="1005840"/>
            <a:ext cx="5120640" cy="292608"/>
          </a:xfrm>
          <a:prstGeom prst="rect">
            <a:avLst/>
          </a:prstGeom>
          <a:noFill/>
          <a:ln/>
        </p:spPr>
        <p:txBody>
          <a:bodyPr wrap="square" lIns="0" tIns="0" rIns="0" bIns="0" rtlCol="0" anchor="t"/>
          <a:lstStyle/>
          <a:p>
            <a:pPr marL="0" indent="0">
              <a:buNone/>
            </a:pPr>
            <a:r>
              <a:rPr lang="en-US" sz="1300" b="1" dirty="0">
                <a:solidFill>
                  <a:schemeClr val="tx1"/>
                </a:solidFill>
              </a:rPr>
              <a:t>Tre domande a Copilot, senza allegare documenti</a:t>
            </a:r>
            <a:endParaRPr lang="en-US" sz="1300" dirty="0"/>
          </a:p>
        </p:txBody>
      </p:sp>
      <p:sp>
        <p:nvSpPr>
          <p:cNvPr id="7" name="domanda 1"/>
          <p:cNvSpPr/>
          <p:nvPr/>
        </p:nvSpPr>
        <p:spPr>
          <a:xfrm>
            <a:off x="457200" y="1371600"/>
            <a:ext cx="5120640" cy="676656"/>
          </a:xfrm>
          <a:prstGeom prst="roundRect">
            <a:avLst>
              <a:gd name="adj" fmla="val 10811"/>
            </a:avLst>
          </a:prstGeom>
          <a:solidFill>
            <a:schemeClr val="bg2"/>
          </a:solidFill>
          <a:ln/>
        </p:spPr>
        <p:txBody>
          <a:bodyPr/>
          <a:lstStyle/>
          <a:p>
            <a:endParaRPr lang="it-IT"/>
          </a:p>
        </p:txBody>
      </p:sp>
      <p:sp>
        <p:nvSpPr>
          <p:cNvPr id="8" name="Text 5"/>
          <p:cNvSpPr txBox="1"/>
          <p:nvPr/>
        </p:nvSpPr>
        <p:spPr>
          <a:xfrm>
            <a:off x="594360" y="1371600"/>
            <a:ext cx="320040" cy="676656"/>
          </a:xfrm>
          <a:prstGeom prst="rect">
            <a:avLst/>
          </a:prstGeom>
          <a:noFill/>
          <a:ln/>
        </p:spPr>
        <p:txBody>
          <a:bodyPr wrap="square" lIns="0" tIns="0" rIns="0" bIns="0" rtlCol="0" anchor="ctr"/>
          <a:lstStyle/>
          <a:p>
            <a:pPr marL="0" indent="0">
              <a:buNone/>
            </a:pPr>
            <a:r>
              <a:rPr lang="en-US" sz="1800" b="1" dirty="0">
                <a:solidFill>
                  <a:schemeClr val="accent1"/>
                </a:solidFill>
              </a:rPr>
              <a:t>1</a:t>
            </a:r>
            <a:endParaRPr lang="en-US" sz="1800" dirty="0"/>
          </a:p>
        </p:txBody>
      </p:sp>
      <p:sp>
        <p:nvSpPr>
          <p:cNvPr id="9" name="Text 6"/>
          <p:cNvSpPr txBox="1"/>
          <p:nvPr/>
        </p:nvSpPr>
        <p:spPr>
          <a:xfrm>
            <a:off x="960120" y="1371600"/>
            <a:ext cx="4480560" cy="676656"/>
          </a:xfrm>
          <a:prstGeom prst="rect">
            <a:avLst/>
          </a:prstGeom>
          <a:noFill/>
          <a:ln/>
        </p:spPr>
        <p:txBody>
          <a:bodyPr wrap="square" lIns="0" tIns="0" rIns="0" bIns="0" rtlCol="0" anchor="ctr"/>
          <a:lstStyle/>
          <a:p>
            <a:pPr marL="0" indent="0">
              <a:buNone/>
            </a:pPr>
            <a:r>
              <a:rPr lang="en-US" sz="1250" i="1" dirty="0">
                <a:solidFill>
                  <a:schemeClr val="tx1"/>
                </a:solidFill>
              </a:rPr>
              <a:t>“Che cosa significa l'allarme A01 sul forno a tunnel TF‑900 e come si risolve?”</a:t>
            </a:r>
            <a:endParaRPr lang="en-US" sz="1250" dirty="0"/>
          </a:p>
        </p:txBody>
      </p:sp>
      <p:sp>
        <p:nvSpPr>
          <p:cNvPr id="10" name="domanda 2"/>
          <p:cNvSpPr/>
          <p:nvPr/>
        </p:nvSpPr>
        <p:spPr>
          <a:xfrm>
            <a:off x="457200" y="2157984"/>
            <a:ext cx="5120640" cy="676656"/>
          </a:xfrm>
          <a:prstGeom prst="roundRect">
            <a:avLst>
              <a:gd name="adj" fmla="val 10811"/>
            </a:avLst>
          </a:prstGeom>
          <a:solidFill>
            <a:schemeClr val="bg2"/>
          </a:solidFill>
          <a:ln/>
        </p:spPr>
        <p:txBody>
          <a:bodyPr/>
          <a:lstStyle/>
          <a:p>
            <a:endParaRPr lang="it-IT"/>
          </a:p>
        </p:txBody>
      </p:sp>
      <p:sp>
        <p:nvSpPr>
          <p:cNvPr id="11" name="Text 8"/>
          <p:cNvSpPr txBox="1"/>
          <p:nvPr/>
        </p:nvSpPr>
        <p:spPr>
          <a:xfrm>
            <a:off x="594360" y="2157984"/>
            <a:ext cx="320040" cy="676656"/>
          </a:xfrm>
          <a:prstGeom prst="rect">
            <a:avLst/>
          </a:prstGeom>
          <a:noFill/>
          <a:ln/>
        </p:spPr>
        <p:txBody>
          <a:bodyPr wrap="square" lIns="0" tIns="0" rIns="0" bIns="0" rtlCol="0" anchor="ctr"/>
          <a:lstStyle/>
          <a:p>
            <a:pPr marL="0" indent="0">
              <a:buNone/>
            </a:pPr>
            <a:r>
              <a:rPr lang="en-US" sz="1800" b="1" dirty="0">
                <a:solidFill>
                  <a:schemeClr val="accent1"/>
                </a:solidFill>
              </a:rPr>
              <a:t>2</a:t>
            </a:r>
            <a:endParaRPr lang="en-US" sz="1800" dirty="0"/>
          </a:p>
        </p:txBody>
      </p:sp>
      <p:sp>
        <p:nvSpPr>
          <p:cNvPr id="12" name="Text 9"/>
          <p:cNvSpPr txBox="1"/>
          <p:nvPr/>
        </p:nvSpPr>
        <p:spPr>
          <a:xfrm>
            <a:off x="960120" y="2157984"/>
            <a:ext cx="4480560" cy="676656"/>
          </a:xfrm>
          <a:prstGeom prst="rect">
            <a:avLst/>
          </a:prstGeom>
          <a:noFill/>
          <a:ln/>
        </p:spPr>
        <p:txBody>
          <a:bodyPr wrap="square" lIns="0" tIns="0" rIns="0" bIns="0" rtlCol="0" anchor="ctr"/>
          <a:lstStyle/>
          <a:p>
            <a:pPr marL="0" indent="0">
              <a:buNone/>
            </a:pPr>
            <a:r>
              <a:rPr lang="en-US" sz="1250" i="1" dirty="0">
                <a:solidFill>
                  <a:schemeClr val="tx1"/>
                </a:solidFill>
              </a:rPr>
              <a:t>“Qual è la coppia di serraggio dei bulloni del bruciatore del forno TF‑900?”</a:t>
            </a:r>
            <a:endParaRPr lang="en-US" sz="1250" dirty="0"/>
          </a:p>
        </p:txBody>
      </p:sp>
      <p:sp>
        <p:nvSpPr>
          <p:cNvPr id="13" name="domanda 3"/>
          <p:cNvSpPr/>
          <p:nvPr/>
        </p:nvSpPr>
        <p:spPr>
          <a:xfrm>
            <a:off x="457200" y="2944368"/>
            <a:ext cx="5120640" cy="676656"/>
          </a:xfrm>
          <a:prstGeom prst="roundRect">
            <a:avLst>
              <a:gd name="adj" fmla="val 10811"/>
            </a:avLst>
          </a:prstGeom>
          <a:solidFill>
            <a:schemeClr val="bg2"/>
          </a:solidFill>
          <a:ln/>
        </p:spPr>
        <p:txBody>
          <a:bodyPr/>
          <a:lstStyle/>
          <a:p>
            <a:endParaRPr lang="it-IT"/>
          </a:p>
        </p:txBody>
      </p:sp>
      <p:sp>
        <p:nvSpPr>
          <p:cNvPr id="14" name="Text 11"/>
          <p:cNvSpPr txBox="1"/>
          <p:nvPr/>
        </p:nvSpPr>
        <p:spPr>
          <a:xfrm>
            <a:off x="594360" y="2944368"/>
            <a:ext cx="320040" cy="676656"/>
          </a:xfrm>
          <a:prstGeom prst="rect">
            <a:avLst/>
          </a:prstGeom>
          <a:noFill/>
          <a:ln/>
        </p:spPr>
        <p:txBody>
          <a:bodyPr wrap="square" lIns="0" tIns="0" rIns="0" bIns="0" rtlCol="0" anchor="ctr"/>
          <a:lstStyle/>
          <a:p>
            <a:pPr marL="0" indent="0">
              <a:buNone/>
            </a:pPr>
            <a:r>
              <a:rPr lang="en-US" sz="1800" b="1" dirty="0">
                <a:solidFill>
                  <a:schemeClr val="accent1"/>
                </a:solidFill>
              </a:rPr>
              <a:t>3</a:t>
            </a:r>
            <a:endParaRPr lang="en-US" sz="1800" dirty="0"/>
          </a:p>
        </p:txBody>
      </p:sp>
      <p:sp>
        <p:nvSpPr>
          <p:cNvPr id="15" name="Text 12"/>
          <p:cNvSpPr txBox="1"/>
          <p:nvPr/>
        </p:nvSpPr>
        <p:spPr>
          <a:xfrm>
            <a:off x="960120" y="2944368"/>
            <a:ext cx="4480560" cy="676656"/>
          </a:xfrm>
          <a:prstGeom prst="rect">
            <a:avLst/>
          </a:prstGeom>
          <a:noFill/>
          <a:ln/>
        </p:spPr>
        <p:txBody>
          <a:bodyPr wrap="square" lIns="0" tIns="0" rIns="0" bIns="0" rtlCol="0" anchor="ctr"/>
          <a:lstStyle/>
          <a:p>
            <a:pPr marL="0" indent="0">
              <a:buNone/>
            </a:pPr>
            <a:r>
              <a:rPr lang="en-US" sz="1250" i="1" dirty="0">
                <a:solidFill>
                  <a:schemeClr val="tx1"/>
                </a:solidFill>
              </a:rPr>
              <a:t>“Che cosa produce Laser Srl di Zevio e da quanti anni esiste?”</a:t>
            </a:r>
            <a:endParaRPr lang="en-US" sz="1250" dirty="0"/>
          </a:p>
        </p:txBody>
      </p:sp>
      <p:sp>
        <p:nvSpPr>
          <p:cNvPr id="16" name="scheda Che cosa osserviamo"/>
          <p:cNvSpPr/>
          <p:nvPr/>
        </p:nvSpPr>
        <p:spPr>
          <a:xfrm>
            <a:off x="5806440" y="1005840"/>
            <a:ext cx="2880360" cy="2697480"/>
          </a:xfrm>
          <a:prstGeom prst="roundRect">
            <a:avLst>
              <a:gd name="adj" fmla="val 2712"/>
            </a:avLst>
          </a:prstGeom>
          <a:solidFill>
            <a:schemeClr val="accent6"/>
          </a:solidFill>
          <a:ln/>
        </p:spPr>
        <p:txBody>
          <a:bodyPr/>
          <a:lstStyle/>
          <a:p>
            <a:endParaRPr lang="it-IT"/>
          </a:p>
        </p:txBody>
      </p:sp>
      <p:sp>
        <p:nvSpPr>
          <p:cNvPr id="17" name="cerchio FiEye"/>
          <p:cNvSpPr/>
          <p:nvPr/>
        </p:nvSpPr>
        <p:spPr>
          <a:xfrm>
            <a:off x="5989320" y="1188720"/>
            <a:ext cx="457200" cy="457200"/>
          </a:xfrm>
          <a:prstGeom prst="ellipse">
            <a:avLst/>
          </a:prstGeom>
          <a:solidFill>
            <a:schemeClr val="accent1"/>
          </a:solidFill>
          <a:ln/>
        </p:spPr>
        <p:txBody>
          <a:bodyPr/>
          <a:lstStyle/>
          <a:p>
            <a:endParaRPr lang="it-IT"/>
          </a:p>
        </p:txBody>
      </p:sp>
      <p:pic>
        <p:nvPicPr>
          <p:cNvPr id="18" name="Image 0" descr="FiEye"/>
          <p:cNvPicPr>
            <a:picLocks noChangeAspect="1"/>
          </p:cNvPicPr>
          <p:nvPr/>
        </p:nvPicPr>
        <p:blipFill>
          <a:blip r:embed="rId3"/>
          <a:stretch>
            <a:fillRect/>
          </a:stretch>
        </p:blipFill>
        <p:spPr>
          <a:xfrm>
            <a:off x="6103620" y="1303020"/>
            <a:ext cx="228600" cy="228600"/>
          </a:xfrm>
          <a:prstGeom prst="rect">
            <a:avLst/>
          </a:prstGeom>
        </p:spPr>
      </p:pic>
      <p:sp>
        <p:nvSpPr>
          <p:cNvPr id="19" name="Text 15"/>
          <p:cNvSpPr txBox="1"/>
          <p:nvPr/>
        </p:nvSpPr>
        <p:spPr>
          <a:xfrm>
            <a:off x="5989320" y="1755648"/>
            <a:ext cx="2514600" cy="347472"/>
          </a:xfrm>
          <a:prstGeom prst="rect">
            <a:avLst/>
          </a:prstGeom>
          <a:noFill/>
          <a:ln/>
        </p:spPr>
        <p:txBody>
          <a:bodyPr wrap="square" lIns="0" tIns="0" rIns="0" bIns="0" rtlCol="0" anchor="t"/>
          <a:lstStyle/>
          <a:p>
            <a:pPr marL="0" indent="0">
              <a:buNone/>
            </a:pPr>
            <a:r>
              <a:rPr lang="en-US" sz="1500" b="1" dirty="0">
                <a:solidFill>
                  <a:schemeClr val="tx1"/>
                </a:solidFill>
              </a:rPr>
              <a:t>Che cosa osserviamo</a:t>
            </a:r>
            <a:endParaRPr lang="en-US" sz="1500" dirty="0"/>
          </a:p>
        </p:txBody>
      </p:sp>
      <p:sp>
        <p:nvSpPr>
          <p:cNvPr id="20" name="Text 16"/>
          <p:cNvSpPr txBox="1"/>
          <p:nvPr/>
        </p:nvSpPr>
        <p:spPr>
          <a:xfrm>
            <a:off x="5989320" y="2139696"/>
            <a:ext cx="2514600" cy="1453896"/>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2"/>
                </a:solidFill>
              </a:rPr>
              <a:t>Risponde comunque o dice di non sapere?</a:t>
            </a:r>
            <a:endParaRPr lang="en-US" sz="1250" dirty="0"/>
          </a:p>
          <a:p>
            <a:pPr marL="177800" indent="-177800">
              <a:spcAft>
                <a:spcPts val="800"/>
              </a:spcAft>
              <a:buSzPct val="100000"/>
              <a:buChar char="•"/>
            </a:pPr>
            <a:r>
              <a:rPr lang="en-US" sz="1250" dirty="0">
                <a:solidFill>
                  <a:schemeClr val="tx2"/>
                </a:solidFill>
              </a:rPr>
              <a:t>Da dove vengono numeri e date?</a:t>
            </a:r>
            <a:endParaRPr lang="en-US" sz="1250" dirty="0"/>
          </a:p>
          <a:p>
            <a:pPr marL="177800" indent="-177800">
              <a:spcAft>
                <a:spcPts val="800"/>
              </a:spcAft>
              <a:buSzPct val="100000"/>
              <a:buChar char="•"/>
            </a:pPr>
            <a:r>
              <a:rPr lang="en-US" sz="1250" dirty="0">
                <a:solidFill>
                  <a:schemeClr val="tx2"/>
                </a:solidFill>
              </a:rPr>
              <a:t>Cita fonti che possiamo controllare?</a:t>
            </a:r>
            <a:endParaRPr lang="en-US" sz="1250" dirty="0"/>
          </a:p>
        </p:txBody>
      </p:sp>
      <p:sp>
        <p:nvSpPr>
          <p:cNvPr id="21" name="messaggio"/>
          <p:cNvSpPr/>
          <p:nvPr/>
        </p:nvSpPr>
        <p:spPr>
          <a:xfrm>
            <a:off x="457200" y="3886200"/>
            <a:ext cx="8229600" cy="594360"/>
          </a:xfrm>
          <a:prstGeom prst="roundRect">
            <a:avLst>
              <a:gd name="adj" fmla="val 12308"/>
            </a:avLst>
          </a:prstGeom>
          <a:solidFill>
            <a:schemeClr val="tx1"/>
          </a:solidFill>
          <a:ln/>
        </p:spPr>
        <p:txBody>
          <a:bodyPr/>
          <a:lstStyle/>
          <a:p>
            <a:endParaRPr lang="it-IT"/>
          </a:p>
        </p:txBody>
      </p:sp>
      <p:sp>
        <p:nvSpPr>
          <p:cNvPr id="22" name="Text 18"/>
          <p:cNvSpPr txBox="1"/>
          <p:nvPr/>
        </p:nvSpPr>
        <p:spPr>
          <a:xfrm>
            <a:off x="640080" y="3886200"/>
            <a:ext cx="7863840" cy="594360"/>
          </a:xfrm>
          <a:prstGeom prst="rect">
            <a:avLst/>
          </a:prstGeom>
          <a:noFill/>
          <a:ln/>
        </p:spPr>
        <p:txBody>
          <a:bodyPr wrap="square" lIns="0" tIns="0" rIns="0" bIns="0" rtlCol="0" anchor="ctr"/>
          <a:lstStyle/>
          <a:p>
            <a:pPr marL="0" indent="0">
              <a:buNone/>
            </a:pPr>
            <a:r>
              <a:rPr lang="en-US" sz="1300" dirty="0">
                <a:solidFill>
                  <a:schemeClr val="bg1"/>
                </a:solidFill>
              </a:rPr>
              <a:t>Il TF‑900 non esiste: è inventato per questo corso. Una risposta sicura su di lui è un'allucinazione.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L'AI in Laser, reparto per reparto</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145536"/>
        </p:xfrm>
        <a:graphic>
          <a:graphicData uri="http://schemas.openxmlformats.org/drawingml/2006/table">
            <a:tbl>
              <a:tblPr/>
              <a:tblGrid>
                <a:gridCol w="1645920">
                  <a:extLst>
                    <a:ext uri="{9D8B030D-6E8A-4147-A177-3AD203B41FA5}">
                      <a16:colId xmlns:a16="http://schemas.microsoft.com/office/drawing/2014/main" val="20000"/>
                    </a:ext>
                  </a:extLst>
                </a:gridCol>
                <a:gridCol w="6583680">
                  <a:extLst>
                    <a:ext uri="{9D8B030D-6E8A-4147-A177-3AD203B41FA5}">
                      <a16:colId xmlns:a16="http://schemas.microsoft.com/office/drawing/2014/main" val="20001"/>
                    </a:ext>
                  </a:extLst>
                </a:gridCol>
              </a:tblGrid>
              <a:tr h="393192">
                <a:tc>
                  <a:txBody>
                    <a:bodyPr/>
                    <a:lstStyle/>
                    <a:p>
                      <a:pPr marL="0" indent="0">
                        <a:buNone/>
                      </a:pPr>
                      <a:r>
                        <a:rPr lang="en-US" sz="1200" b="1" dirty="0">
                          <a:solidFill>
                            <a:schemeClr val="bg1"/>
                          </a:solidFill>
                        </a:rPr>
                        <a:t>Reparto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200" b="1" dirty="0">
                          <a:solidFill>
                            <a:schemeClr val="bg1"/>
                          </a:solidFill>
                        </a:rPr>
                        <a:t>Esempi di uso dell'AI (indicativi)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93192">
                <a:tc>
                  <a:txBody>
                    <a:bodyPr/>
                    <a:lstStyle/>
                    <a:p>
                      <a:pPr marL="0" indent="0">
                        <a:buNone/>
                      </a:pPr>
                      <a:r>
                        <a:rPr lang="en-US" sz="1200" b="1" dirty="0">
                          <a:solidFill>
                            <a:schemeClr val="tx1"/>
                          </a:solidFill>
                        </a:rPr>
                        <a:t>Tecnico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Ricerca in specifiche e documenti di commessa · bozze di manuali d'uso e manutenzione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393192">
                <a:tc>
                  <a:txBody>
                    <a:bodyPr/>
                    <a:lstStyle/>
                    <a:p>
                      <a:pPr marL="0" indent="0">
                        <a:buNone/>
                      </a:pPr>
                      <a:r>
                        <a:rPr lang="en-US" sz="1200" b="1" dirty="0">
                          <a:solidFill>
                            <a:schemeClr val="tx1"/>
                          </a:solidFill>
                        </a:rPr>
                        <a:t>Produzione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Istruzioni di lavoro e liste di controllo · sintesi dei passaggi di turno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393192">
                <a:tc>
                  <a:txBody>
                    <a:bodyPr/>
                    <a:lstStyle/>
                    <a:p>
                      <a:pPr marL="0" indent="0">
                        <a:buNone/>
                      </a:pPr>
                      <a:r>
                        <a:rPr lang="en-US" sz="1200" b="1" dirty="0">
                          <a:solidFill>
                            <a:schemeClr val="tx1"/>
                          </a:solidFill>
                        </a:rPr>
                        <a:t>Qualità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Analisi delle non conformità · bozze di rapporti 8D</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393192">
                <a:tc>
                  <a:txBody>
                    <a:bodyPr/>
                    <a:lstStyle/>
                    <a:p>
                      <a:pPr marL="0" indent="0">
                        <a:buNone/>
                      </a:pPr>
                      <a:r>
                        <a:rPr lang="en-US" sz="1200" b="1" dirty="0">
                          <a:solidFill>
                            <a:schemeClr val="tx1"/>
                          </a:solidFill>
                        </a:rPr>
                        <a:t>Service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Ricerca guasti su manuali e ticket · report d'intervento dettati a voce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393192">
                <a:tc>
                  <a:txBody>
                    <a:bodyPr/>
                    <a:lstStyle/>
                    <a:p>
                      <a:pPr marL="0" indent="0">
                        <a:buNone/>
                      </a:pPr>
                      <a:r>
                        <a:rPr lang="en-US" sz="1200" b="1" dirty="0">
                          <a:solidFill>
                            <a:schemeClr val="tx1"/>
                          </a:solidFill>
                        </a:rPr>
                        <a:t>Commerciale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Requisiti e lacune dal capitolato del cliente · traduzioni per clienti esteri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393192">
                <a:tc>
                  <a:txBody>
                    <a:bodyPr/>
                    <a:lstStyle/>
                    <a:p>
                      <a:pPr marL="0" indent="0">
                        <a:buNone/>
                      </a:pPr>
                      <a:r>
                        <a:rPr lang="en-US" sz="1200" b="1" dirty="0">
                          <a:solidFill>
                            <a:schemeClr val="tx1"/>
                          </a:solidFill>
                        </a:rPr>
                        <a:t>Amministrazione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Bozze di solleciti · supporto alle riconciliazioni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393192">
                <a:tc>
                  <a:txBody>
                    <a:bodyPr/>
                    <a:lstStyle/>
                    <a:p>
                      <a:pPr marL="0" indent="0">
                        <a:buNone/>
                      </a:pPr>
                      <a:r>
                        <a:rPr lang="en-US" sz="1200" b="1" dirty="0">
                          <a:solidFill>
                            <a:schemeClr val="tx1"/>
                          </a:solidFill>
                        </a:rPr>
                        <a:t>HR</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Onboarding e formazione interna (non selezione né valutazione delle persone)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bl>
          </a:graphicData>
        </a:graphic>
      </p:graphicFrame>
      <p:sp>
        <p:nvSpPr>
          <p:cNvPr id="7" name="Text 3"/>
          <p:cNvSpPr txBox="1"/>
          <p:nvPr/>
        </p:nvSpPr>
        <p:spPr>
          <a:xfrm>
            <a:off x="457200" y="4297680"/>
            <a:ext cx="8229600" cy="274320"/>
          </a:xfrm>
          <a:prstGeom prst="rect">
            <a:avLst/>
          </a:prstGeom>
          <a:noFill/>
          <a:ln/>
        </p:spPr>
        <p:txBody>
          <a:bodyPr wrap="square" lIns="0" tIns="0" rIns="0" bIns="0" rtlCol="0" anchor="t"/>
          <a:lstStyle/>
          <a:p>
            <a:pPr marL="0" indent="0">
              <a:buNone/>
            </a:pPr>
            <a:r>
              <a:rPr lang="en-US" sz="1200" i="1" dirty="0">
                <a:solidFill>
                  <a:schemeClr val="accent4"/>
                </a:solidFill>
              </a:rPr>
              <a:t>Esempi indicativi: la mappa si completa con chi conosce il lavoro.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Tre luoghi dell'AI</a:t>
            </a:r>
            <a:endParaRPr lang="en-US" sz="2600" dirty="0"/>
          </a:p>
        </p:txBody>
      </p:sp>
      <p:sp>
        <p:nvSpPr>
          <p:cNvPr id="6" name="luogo In ufficio"/>
          <p:cNvSpPr/>
          <p:nvPr/>
        </p:nvSpPr>
        <p:spPr>
          <a:xfrm>
            <a:off x="457200" y="1051560"/>
            <a:ext cx="2606040" cy="2423160"/>
          </a:xfrm>
          <a:prstGeom prst="roundRect">
            <a:avLst>
              <a:gd name="adj" fmla="val 3019"/>
            </a:avLst>
          </a:prstGeom>
          <a:solidFill>
            <a:schemeClr val="bg2"/>
          </a:solidFill>
          <a:ln/>
        </p:spPr>
        <p:txBody>
          <a:bodyPr/>
          <a:lstStyle/>
          <a:p>
            <a:endParaRPr lang="it-IT"/>
          </a:p>
        </p:txBody>
      </p:sp>
      <p:sp>
        <p:nvSpPr>
          <p:cNvPr id="7" name="cerchio FiBriefcase"/>
          <p:cNvSpPr/>
          <p:nvPr/>
        </p:nvSpPr>
        <p:spPr>
          <a:xfrm>
            <a:off x="640080" y="1188720"/>
            <a:ext cx="457200" cy="457200"/>
          </a:xfrm>
          <a:prstGeom prst="ellipse">
            <a:avLst/>
          </a:prstGeom>
          <a:solidFill>
            <a:schemeClr val="accent1"/>
          </a:solidFill>
          <a:ln/>
        </p:spPr>
        <p:txBody>
          <a:bodyPr/>
          <a:lstStyle/>
          <a:p>
            <a:endParaRPr lang="it-IT"/>
          </a:p>
        </p:txBody>
      </p:sp>
      <p:pic>
        <p:nvPicPr>
          <p:cNvPr id="8" name="Image 0" descr="FiBriefcase"/>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07008" y="1188720"/>
            <a:ext cx="1783080" cy="256032"/>
          </a:xfrm>
          <a:prstGeom prst="rect">
            <a:avLst/>
          </a:prstGeom>
          <a:noFill/>
          <a:ln/>
        </p:spPr>
        <p:txBody>
          <a:bodyPr wrap="square" lIns="0" tIns="0" rIns="0" bIns="0" rtlCol="0" anchor="t"/>
          <a:lstStyle/>
          <a:p>
            <a:pPr marL="0" indent="0">
              <a:buNone/>
            </a:pPr>
            <a:r>
              <a:rPr lang="en-US" sz="1500" b="1" dirty="0">
                <a:solidFill>
                  <a:schemeClr val="tx1"/>
                </a:solidFill>
              </a:rPr>
              <a:t>In ufficio</a:t>
            </a:r>
            <a:endParaRPr lang="en-US" sz="1500" dirty="0"/>
          </a:p>
        </p:txBody>
      </p:sp>
      <p:sp>
        <p:nvSpPr>
          <p:cNvPr id="10" name="Text 6"/>
          <p:cNvSpPr txBox="1"/>
          <p:nvPr/>
        </p:nvSpPr>
        <p:spPr>
          <a:xfrm>
            <a:off x="1207008" y="1426464"/>
            <a:ext cx="1783080" cy="237744"/>
          </a:xfrm>
          <a:prstGeom prst="rect">
            <a:avLst/>
          </a:prstGeom>
          <a:noFill/>
          <a:ln/>
        </p:spPr>
        <p:txBody>
          <a:bodyPr wrap="square" lIns="0" tIns="0" rIns="0" bIns="0" rtlCol="0" anchor="t"/>
          <a:lstStyle/>
          <a:p>
            <a:pPr marL="0" indent="0">
              <a:buNone/>
            </a:pPr>
            <a:r>
              <a:rPr lang="en-US" sz="1100" dirty="0">
                <a:solidFill>
                  <a:schemeClr val="accent1"/>
                </a:solidFill>
              </a:rPr>
              <a:t>AI interna</a:t>
            </a:r>
            <a:endParaRPr lang="en-US" sz="1100" dirty="0"/>
          </a:p>
        </p:txBody>
      </p:sp>
      <p:sp>
        <p:nvSpPr>
          <p:cNvPr id="11" name="Text 7"/>
          <p:cNvSpPr txBox="1"/>
          <p:nvPr/>
        </p:nvSpPr>
        <p:spPr>
          <a:xfrm>
            <a:off x="640080" y="2137410"/>
            <a:ext cx="2240280" cy="868680"/>
          </a:xfrm>
          <a:prstGeom prst="rect">
            <a:avLst/>
          </a:prstGeom>
          <a:noFill/>
          <a:ln/>
        </p:spPr>
        <p:txBody>
          <a:bodyPr wrap="square" lIns="0" tIns="0" rIns="0" bIns="0" rtlCol="0" anchor="t"/>
          <a:lstStyle/>
          <a:p>
            <a:pPr marL="0" indent="0">
              <a:buNone/>
            </a:pPr>
            <a:r>
              <a:rPr lang="en-US" sz="1300" dirty="0">
                <a:solidFill>
                  <a:schemeClr val="tx1"/>
                </a:solidFill>
              </a:rPr>
              <a:t>Documenti, offerte, manuali, ticket</a:t>
            </a:r>
            <a:endParaRPr lang="en-US" sz="1300" dirty="0"/>
          </a:p>
        </p:txBody>
      </p:sp>
      <p:sp>
        <p:nvSpPr>
          <p:cNvPr id="13" name="luogo Per i clienti"/>
          <p:cNvSpPr/>
          <p:nvPr/>
        </p:nvSpPr>
        <p:spPr>
          <a:xfrm>
            <a:off x="3246120" y="1051560"/>
            <a:ext cx="2606040" cy="2423160"/>
          </a:xfrm>
          <a:prstGeom prst="roundRect">
            <a:avLst>
              <a:gd name="adj" fmla="val 3019"/>
            </a:avLst>
          </a:prstGeom>
          <a:solidFill>
            <a:schemeClr val="bg2"/>
          </a:solidFill>
          <a:ln/>
        </p:spPr>
        <p:txBody>
          <a:bodyPr/>
          <a:lstStyle/>
          <a:p>
            <a:endParaRPr lang="it-IT"/>
          </a:p>
        </p:txBody>
      </p:sp>
      <p:sp>
        <p:nvSpPr>
          <p:cNvPr id="14" name="cerchio FiUsers"/>
          <p:cNvSpPr/>
          <p:nvPr/>
        </p:nvSpPr>
        <p:spPr>
          <a:xfrm>
            <a:off x="3429000" y="1188720"/>
            <a:ext cx="457200" cy="457200"/>
          </a:xfrm>
          <a:prstGeom prst="ellipse">
            <a:avLst/>
          </a:prstGeom>
          <a:solidFill>
            <a:schemeClr val="accent1"/>
          </a:solidFill>
          <a:ln/>
        </p:spPr>
        <p:txBody>
          <a:bodyPr/>
          <a:lstStyle/>
          <a:p>
            <a:endParaRPr lang="it-IT"/>
          </a:p>
        </p:txBody>
      </p:sp>
      <p:pic>
        <p:nvPicPr>
          <p:cNvPr id="15" name="Image 1" descr="FiUsers"/>
          <p:cNvPicPr>
            <a:picLocks noChangeAspect="1"/>
          </p:cNvPicPr>
          <p:nvPr/>
        </p:nvPicPr>
        <p:blipFill>
          <a:blip r:embed="rId4"/>
          <a:stretch>
            <a:fillRect/>
          </a:stretch>
        </p:blipFill>
        <p:spPr>
          <a:xfrm>
            <a:off x="3543300" y="1303020"/>
            <a:ext cx="228600" cy="228600"/>
          </a:xfrm>
          <a:prstGeom prst="rect">
            <a:avLst/>
          </a:prstGeom>
        </p:spPr>
      </p:pic>
      <p:sp>
        <p:nvSpPr>
          <p:cNvPr id="16" name="Text 11"/>
          <p:cNvSpPr txBox="1"/>
          <p:nvPr/>
        </p:nvSpPr>
        <p:spPr>
          <a:xfrm>
            <a:off x="3995928" y="1188720"/>
            <a:ext cx="1783080" cy="256032"/>
          </a:xfrm>
          <a:prstGeom prst="rect">
            <a:avLst/>
          </a:prstGeom>
          <a:noFill/>
          <a:ln/>
        </p:spPr>
        <p:txBody>
          <a:bodyPr wrap="square" lIns="0" tIns="0" rIns="0" bIns="0" rtlCol="0" anchor="t"/>
          <a:lstStyle/>
          <a:p>
            <a:pPr marL="0" indent="0">
              <a:buNone/>
            </a:pPr>
            <a:r>
              <a:rPr lang="en-US" sz="1500" b="1" dirty="0">
                <a:solidFill>
                  <a:schemeClr val="tx1"/>
                </a:solidFill>
              </a:rPr>
              <a:t>Per i clienti</a:t>
            </a:r>
            <a:endParaRPr lang="en-US" sz="1500" dirty="0"/>
          </a:p>
        </p:txBody>
      </p:sp>
      <p:sp>
        <p:nvSpPr>
          <p:cNvPr id="17" name="Text 12"/>
          <p:cNvSpPr txBox="1"/>
          <p:nvPr/>
        </p:nvSpPr>
        <p:spPr>
          <a:xfrm>
            <a:off x="3995928" y="1426464"/>
            <a:ext cx="1783080" cy="237744"/>
          </a:xfrm>
          <a:prstGeom prst="rect">
            <a:avLst/>
          </a:prstGeom>
          <a:noFill/>
          <a:ln/>
        </p:spPr>
        <p:txBody>
          <a:bodyPr wrap="square" lIns="0" tIns="0" rIns="0" bIns="0" rtlCol="0" anchor="t"/>
          <a:lstStyle/>
          <a:p>
            <a:pPr marL="0" indent="0">
              <a:buNone/>
            </a:pPr>
            <a:r>
              <a:rPr lang="en-US" sz="1100" dirty="0">
                <a:solidFill>
                  <a:schemeClr val="accent1"/>
                </a:solidFill>
              </a:rPr>
              <a:t>Servizi a chi compra le macchine</a:t>
            </a:r>
            <a:endParaRPr lang="en-US" sz="1100" dirty="0"/>
          </a:p>
        </p:txBody>
      </p:sp>
      <p:sp>
        <p:nvSpPr>
          <p:cNvPr id="18" name="Text 13"/>
          <p:cNvSpPr txBox="1"/>
          <p:nvPr/>
        </p:nvSpPr>
        <p:spPr>
          <a:xfrm>
            <a:off x="3429000" y="2167128"/>
            <a:ext cx="2240280" cy="868680"/>
          </a:xfrm>
          <a:prstGeom prst="rect">
            <a:avLst/>
          </a:prstGeom>
          <a:noFill/>
          <a:ln/>
        </p:spPr>
        <p:txBody>
          <a:bodyPr wrap="square" lIns="0" tIns="0" rIns="0" bIns="0" rtlCol="0" anchor="t"/>
          <a:lstStyle/>
          <a:p>
            <a:pPr marL="0" indent="0">
              <a:buNone/>
            </a:pPr>
            <a:r>
              <a:rPr lang="en-US" sz="1300" dirty="0">
                <a:solidFill>
                  <a:schemeClr val="tx1"/>
                </a:solidFill>
              </a:rPr>
              <a:t>Assistente sui manuali, ricambi, supporto multilingua</a:t>
            </a:r>
            <a:endParaRPr lang="en-US" sz="1300" dirty="0"/>
          </a:p>
        </p:txBody>
      </p:sp>
      <p:sp>
        <p:nvSpPr>
          <p:cNvPr id="20" name="luogo Nella macchina"/>
          <p:cNvSpPr/>
          <p:nvPr/>
        </p:nvSpPr>
        <p:spPr>
          <a:xfrm>
            <a:off x="6035040" y="1033272"/>
            <a:ext cx="2606040" cy="2423160"/>
          </a:xfrm>
          <a:prstGeom prst="roundRect">
            <a:avLst>
              <a:gd name="adj" fmla="val 3019"/>
            </a:avLst>
          </a:prstGeom>
          <a:solidFill>
            <a:schemeClr val="accent6"/>
          </a:solidFill>
          <a:ln/>
        </p:spPr>
        <p:txBody>
          <a:bodyPr/>
          <a:lstStyle/>
          <a:p>
            <a:endParaRPr lang="it-IT"/>
          </a:p>
        </p:txBody>
      </p:sp>
      <p:sp>
        <p:nvSpPr>
          <p:cNvPr id="21" name="cerchio FiCpu"/>
          <p:cNvSpPr/>
          <p:nvPr/>
        </p:nvSpPr>
        <p:spPr>
          <a:xfrm>
            <a:off x="6217920" y="1188720"/>
            <a:ext cx="457200" cy="457200"/>
          </a:xfrm>
          <a:prstGeom prst="ellipse">
            <a:avLst/>
          </a:prstGeom>
          <a:solidFill>
            <a:schemeClr val="accent1"/>
          </a:solidFill>
          <a:ln/>
        </p:spPr>
        <p:txBody>
          <a:bodyPr/>
          <a:lstStyle/>
          <a:p>
            <a:endParaRPr lang="it-IT"/>
          </a:p>
        </p:txBody>
      </p:sp>
      <p:pic>
        <p:nvPicPr>
          <p:cNvPr id="22" name="Image 2" descr="FiCpu"/>
          <p:cNvPicPr>
            <a:picLocks noChangeAspect="1"/>
          </p:cNvPicPr>
          <p:nvPr/>
        </p:nvPicPr>
        <p:blipFill>
          <a:blip r:embed="rId5"/>
          <a:stretch>
            <a:fillRect/>
          </a:stretch>
        </p:blipFill>
        <p:spPr>
          <a:xfrm>
            <a:off x="6332220" y="1303020"/>
            <a:ext cx="228600" cy="228600"/>
          </a:xfrm>
          <a:prstGeom prst="rect">
            <a:avLst/>
          </a:prstGeom>
        </p:spPr>
      </p:pic>
      <p:sp>
        <p:nvSpPr>
          <p:cNvPr id="23" name="Text 17"/>
          <p:cNvSpPr txBox="1"/>
          <p:nvPr/>
        </p:nvSpPr>
        <p:spPr>
          <a:xfrm>
            <a:off x="6784848" y="1188720"/>
            <a:ext cx="1783080" cy="256032"/>
          </a:xfrm>
          <a:prstGeom prst="rect">
            <a:avLst/>
          </a:prstGeom>
          <a:noFill/>
          <a:ln/>
        </p:spPr>
        <p:txBody>
          <a:bodyPr wrap="square" lIns="0" tIns="0" rIns="0" bIns="0" rtlCol="0" anchor="t"/>
          <a:lstStyle/>
          <a:p>
            <a:pPr marL="0" indent="0">
              <a:buNone/>
            </a:pPr>
            <a:r>
              <a:rPr lang="en-US" sz="1500" b="1" dirty="0">
                <a:solidFill>
                  <a:schemeClr val="tx1"/>
                </a:solidFill>
              </a:rPr>
              <a:t>Nella macchina</a:t>
            </a:r>
            <a:endParaRPr lang="en-US" sz="1500" dirty="0"/>
          </a:p>
        </p:txBody>
      </p:sp>
      <p:sp>
        <p:nvSpPr>
          <p:cNvPr id="24" name="Text 18"/>
          <p:cNvSpPr txBox="1"/>
          <p:nvPr/>
        </p:nvSpPr>
        <p:spPr>
          <a:xfrm>
            <a:off x="6784848" y="1426464"/>
            <a:ext cx="1783080" cy="237744"/>
          </a:xfrm>
          <a:prstGeom prst="rect">
            <a:avLst/>
          </a:prstGeom>
          <a:noFill/>
          <a:ln/>
        </p:spPr>
        <p:txBody>
          <a:bodyPr wrap="square" lIns="0" tIns="0" rIns="0" bIns="0" rtlCol="0" anchor="t"/>
          <a:lstStyle/>
          <a:p>
            <a:pPr marL="0" indent="0">
              <a:buNone/>
            </a:pPr>
            <a:r>
              <a:rPr lang="en-US" sz="1100" dirty="0">
                <a:solidFill>
                  <a:schemeClr val="accent1"/>
                </a:solidFill>
              </a:rPr>
              <a:t>AI nel prodotto</a:t>
            </a:r>
            <a:endParaRPr lang="en-US" sz="1100" dirty="0"/>
          </a:p>
        </p:txBody>
      </p:sp>
      <p:sp>
        <p:nvSpPr>
          <p:cNvPr id="25" name="Text 19"/>
          <p:cNvSpPr txBox="1"/>
          <p:nvPr/>
        </p:nvSpPr>
        <p:spPr>
          <a:xfrm>
            <a:off x="6217920" y="2167128"/>
            <a:ext cx="2240280" cy="868680"/>
          </a:xfrm>
          <a:prstGeom prst="rect">
            <a:avLst/>
          </a:prstGeom>
          <a:noFill/>
          <a:ln/>
        </p:spPr>
        <p:txBody>
          <a:bodyPr wrap="square" lIns="0" tIns="0" rIns="0" bIns="0" rtlCol="0" anchor="t"/>
          <a:lstStyle/>
          <a:p>
            <a:pPr marL="0" indent="0">
              <a:buNone/>
            </a:pPr>
            <a:r>
              <a:rPr lang="en-US" sz="1300" dirty="0">
                <a:solidFill>
                  <a:schemeClr val="tx1"/>
                </a:solidFill>
              </a:rPr>
              <a:t>Qualità visiva, anomalie, manutenzione predittiva, energia</a:t>
            </a:r>
            <a:endParaRPr lang="en-US" sz="1300" dirty="0"/>
          </a:p>
        </p:txBody>
      </p:sp>
      <p:sp>
        <p:nvSpPr>
          <p:cNvPr id="27" name="domanda"/>
          <p:cNvSpPr/>
          <p:nvPr/>
        </p:nvSpPr>
        <p:spPr>
          <a:xfrm>
            <a:off x="457200" y="3657600"/>
            <a:ext cx="8229600" cy="777240"/>
          </a:xfrm>
          <a:prstGeom prst="roundRect">
            <a:avLst>
              <a:gd name="adj" fmla="val 9412"/>
            </a:avLst>
          </a:prstGeom>
          <a:solidFill>
            <a:schemeClr val="tx1"/>
          </a:solidFill>
          <a:ln/>
        </p:spPr>
        <p:txBody>
          <a:bodyPr/>
          <a:lstStyle/>
          <a:p>
            <a:endParaRPr lang="it-IT"/>
          </a:p>
        </p:txBody>
      </p:sp>
      <p:sp>
        <p:nvSpPr>
          <p:cNvPr id="28" name="cerchio FiHelpCircle"/>
          <p:cNvSpPr/>
          <p:nvPr/>
        </p:nvSpPr>
        <p:spPr>
          <a:xfrm>
            <a:off x="640080" y="3794760"/>
            <a:ext cx="502920" cy="502920"/>
          </a:xfrm>
          <a:prstGeom prst="ellipse">
            <a:avLst/>
          </a:prstGeom>
          <a:solidFill>
            <a:schemeClr val="accent1"/>
          </a:solidFill>
          <a:ln/>
        </p:spPr>
        <p:txBody>
          <a:bodyPr/>
          <a:lstStyle/>
          <a:p>
            <a:endParaRPr lang="it-IT"/>
          </a:p>
        </p:txBody>
      </p:sp>
      <p:pic>
        <p:nvPicPr>
          <p:cNvPr id="29" name="Image 3" descr="FiHelpCircle"/>
          <p:cNvPicPr>
            <a:picLocks noChangeAspect="1"/>
          </p:cNvPicPr>
          <p:nvPr/>
        </p:nvPicPr>
        <p:blipFill>
          <a:blip r:embed="rId6"/>
          <a:stretch>
            <a:fillRect/>
          </a:stretch>
        </p:blipFill>
        <p:spPr>
          <a:xfrm>
            <a:off x="765810" y="3920490"/>
            <a:ext cx="251460" cy="251460"/>
          </a:xfrm>
          <a:prstGeom prst="rect">
            <a:avLst/>
          </a:prstGeom>
        </p:spPr>
      </p:pic>
      <p:sp>
        <p:nvSpPr>
          <p:cNvPr id="30" name="Text 23"/>
          <p:cNvSpPr txBox="1"/>
          <p:nvPr/>
        </p:nvSpPr>
        <p:spPr>
          <a:xfrm>
            <a:off x="1325880" y="3730752"/>
            <a:ext cx="7223760" cy="347472"/>
          </a:xfrm>
          <a:prstGeom prst="rect">
            <a:avLst/>
          </a:prstGeom>
          <a:noFill/>
          <a:ln/>
        </p:spPr>
        <p:txBody>
          <a:bodyPr wrap="square" lIns="0" tIns="0" rIns="0" bIns="0" rtlCol="0" anchor="ctr"/>
          <a:lstStyle/>
          <a:p>
            <a:pPr marL="0" indent="0">
              <a:buNone/>
            </a:pPr>
            <a:r>
              <a:rPr lang="en-US" sz="1500" b="1" dirty="0">
                <a:solidFill>
                  <a:schemeClr val="bg1"/>
                </a:solidFill>
              </a:rPr>
              <a:t>Una domanda per voi: le vostre macchine raccolgono dati?</a:t>
            </a:r>
            <a:endParaRPr lang="en-US" sz="1500" dirty="0"/>
          </a:p>
        </p:txBody>
      </p:sp>
      <p:sp>
        <p:nvSpPr>
          <p:cNvPr id="31" name="Text 24"/>
          <p:cNvSpPr txBox="1"/>
          <p:nvPr/>
        </p:nvSpPr>
        <p:spPr>
          <a:xfrm>
            <a:off x="1325880" y="4059936"/>
            <a:ext cx="7223760" cy="292608"/>
          </a:xfrm>
          <a:prstGeom prst="rect">
            <a:avLst/>
          </a:prstGeom>
          <a:noFill/>
          <a:ln/>
        </p:spPr>
        <p:txBody>
          <a:bodyPr wrap="square" lIns="0" tIns="0" rIns="0" bIns="0" rtlCol="0" anchor="ctr"/>
          <a:lstStyle/>
          <a:p>
            <a:pPr marL="0" indent="0">
              <a:buNone/>
            </a:pPr>
            <a:r>
              <a:rPr lang="en-US" sz="1200" dirty="0">
                <a:solidFill>
                  <a:schemeClr val="accent3"/>
                </a:solidFill>
              </a:rPr>
              <a:t>Temperature, allarmi, consumi, teleassistenza</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Sette sprechi informativi</a:t>
            </a:r>
            <a:endParaRPr lang="en-US" sz="2600" dirty="0"/>
          </a:p>
        </p:txBody>
      </p:sp>
      <p:sp>
        <p:nvSpPr>
          <p:cNvPr id="6" name="spreco Cercare"/>
          <p:cNvSpPr/>
          <p:nvPr/>
        </p:nvSpPr>
        <p:spPr>
          <a:xfrm>
            <a:off x="457200" y="1051560"/>
            <a:ext cx="1965960" cy="1325880"/>
          </a:xfrm>
          <a:prstGeom prst="roundRect">
            <a:avLst>
              <a:gd name="adj" fmla="val 5517"/>
            </a:avLst>
          </a:prstGeom>
          <a:solidFill>
            <a:schemeClr val="bg2"/>
          </a:solidFill>
          <a:ln/>
        </p:spPr>
        <p:txBody>
          <a:bodyPr/>
          <a:lstStyle/>
          <a:p>
            <a:endParaRPr lang="it-IT"/>
          </a:p>
        </p:txBody>
      </p:sp>
      <p:sp>
        <p:nvSpPr>
          <p:cNvPr id="7" name="cerchio FiSearch"/>
          <p:cNvSpPr/>
          <p:nvPr/>
        </p:nvSpPr>
        <p:spPr>
          <a:xfrm>
            <a:off x="594360" y="1188720"/>
            <a:ext cx="411480" cy="411480"/>
          </a:xfrm>
          <a:prstGeom prst="ellipse">
            <a:avLst/>
          </a:prstGeom>
          <a:solidFill>
            <a:schemeClr val="accent1"/>
          </a:solidFill>
          <a:ln/>
        </p:spPr>
        <p:txBody>
          <a:bodyPr/>
          <a:lstStyle/>
          <a:p>
            <a:endParaRPr lang="it-IT"/>
          </a:p>
        </p:txBody>
      </p:sp>
      <p:pic>
        <p:nvPicPr>
          <p:cNvPr id="8" name="Image 0" descr="FiSearch"/>
          <p:cNvPicPr>
            <a:picLocks noChangeAspect="1"/>
          </p:cNvPicPr>
          <p:nvPr/>
        </p:nvPicPr>
        <p:blipFill>
          <a:blip r:embed="rId3"/>
          <a:stretch>
            <a:fillRect/>
          </a:stretch>
        </p:blipFill>
        <p:spPr>
          <a:xfrm>
            <a:off x="697230" y="1291590"/>
            <a:ext cx="205740" cy="205740"/>
          </a:xfrm>
          <a:prstGeom prst="rect">
            <a:avLst/>
          </a:prstGeom>
        </p:spPr>
      </p:pic>
      <p:sp>
        <p:nvSpPr>
          <p:cNvPr id="9" name="Text 5"/>
          <p:cNvSpPr txBox="1"/>
          <p:nvPr/>
        </p:nvSpPr>
        <p:spPr>
          <a:xfrm>
            <a:off x="1097280" y="118872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Cercare</a:t>
            </a:r>
            <a:endParaRPr lang="en-US" sz="1400" dirty="0"/>
          </a:p>
        </p:txBody>
      </p:sp>
      <p:sp>
        <p:nvSpPr>
          <p:cNvPr id="10" name="Text 6"/>
          <p:cNvSpPr txBox="1"/>
          <p:nvPr/>
        </p:nvSpPr>
        <p:spPr>
          <a:xfrm>
            <a:off x="594360" y="1691640"/>
            <a:ext cx="1737360" cy="621792"/>
          </a:xfrm>
          <a:prstGeom prst="rect">
            <a:avLst/>
          </a:prstGeom>
          <a:noFill/>
          <a:ln/>
        </p:spPr>
        <p:txBody>
          <a:bodyPr wrap="square" lIns="0" tIns="0" rIns="0" bIns="0" rtlCol="0" anchor="t"/>
          <a:lstStyle/>
          <a:p>
            <a:pPr marL="0" indent="0">
              <a:buNone/>
            </a:pPr>
            <a:r>
              <a:rPr lang="en-US" sz="1150" dirty="0">
                <a:solidFill>
                  <a:schemeClr val="tx2"/>
                </a:solidFill>
              </a:rPr>
              <a:t>Disegni, procedure, soluzioni già trovate</a:t>
            </a:r>
            <a:endParaRPr lang="en-US" sz="1150" dirty="0"/>
          </a:p>
        </p:txBody>
      </p:sp>
      <p:sp>
        <p:nvSpPr>
          <p:cNvPr id="11" name="spreco Ricopiare"/>
          <p:cNvSpPr/>
          <p:nvPr/>
        </p:nvSpPr>
        <p:spPr>
          <a:xfrm>
            <a:off x="2542032" y="1051560"/>
            <a:ext cx="1965960" cy="1325880"/>
          </a:xfrm>
          <a:prstGeom prst="roundRect">
            <a:avLst>
              <a:gd name="adj" fmla="val 5517"/>
            </a:avLst>
          </a:prstGeom>
          <a:solidFill>
            <a:schemeClr val="bg2"/>
          </a:solidFill>
          <a:ln/>
        </p:spPr>
        <p:txBody>
          <a:bodyPr/>
          <a:lstStyle/>
          <a:p>
            <a:endParaRPr lang="it-IT"/>
          </a:p>
        </p:txBody>
      </p:sp>
      <p:sp>
        <p:nvSpPr>
          <p:cNvPr id="12" name="cerchio FiCopy"/>
          <p:cNvSpPr/>
          <p:nvPr/>
        </p:nvSpPr>
        <p:spPr>
          <a:xfrm>
            <a:off x="2679192" y="1188720"/>
            <a:ext cx="411480" cy="411480"/>
          </a:xfrm>
          <a:prstGeom prst="ellipse">
            <a:avLst/>
          </a:prstGeom>
          <a:solidFill>
            <a:schemeClr val="accent1"/>
          </a:solidFill>
          <a:ln/>
        </p:spPr>
        <p:txBody>
          <a:bodyPr/>
          <a:lstStyle/>
          <a:p>
            <a:endParaRPr lang="it-IT"/>
          </a:p>
        </p:txBody>
      </p:sp>
      <p:pic>
        <p:nvPicPr>
          <p:cNvPr id="13" name="Image 1" descr="FiCopy"/>
          <p:cNvPicPr>
            <a:picLocks noChangeAspect="1"/>
          </p:cNvPicPr>
          <p:nvPr/>
        </p:nvPicPr>
        <p:blipFill>
          <a:blip r:embed="rId4"/>
          <a:stretch>
            <a:fillRect/>
          </a:stretch>
        </p:blipFill>
        <p:spPr>
          <a:xfrm>
            <a:off x="2782062" y="1291590"/>
            <a:ext cx="205740" cy="205740"/>
          </a:xfrm>
          <a:prstGeom prst="rect">
            <a:avLst/>
          </a:prstGeom>
        </p:spPr>
      </p:pic>
      <p:sp>
        <p:nvSpPr>
          <p:cNvPr id="14" name="Text 9"/>
          <p:cNvSpPr txBox="1"/>
          <p:nvPr/>
        </p:nvSpPr>
        <p:spPr>
          <a:xfrm>
            <a:off x="3182112" y="118872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Ricopiare</a:t>
            </a:r>
            <a:endParaRPr lang="en-US" sz="1400" dirty="0"/>
          </a:p>
        </p:txBody>
      </p:sp>
      <p:sp>
        <p:nvSpPr>
          <p:cNvPr id="15" name="Text 10"/>
          <p:cNvSpPr txBox="1"/>
          <p:nvPr/>
        </p:nvSpPr>
        <p:spPr>
          <a:xfrm>
            <a:off x="2679192" y="1691640"/>
            <a:ext cx="1737360" cy="621792"/>
          </a:xfrm>
          <a:prstGeom prst="rect">
            <a:avLst/>
          </a:prstGeom>
          <a:noFill/>
          <a:ln/>
        </p:spPr>
        <p:txBody>
          <a:bodyPr wrap="square" lIns="0" tIns="0" rIns="0" bIns="0" rtlCol="0" anchor="t"/>
          <a:lstStyle/>
          <a:p>
            <a:pPr marL="0" indent="0">
              <a:buNone/>
            </a:pPr>
            <a:r>
              <a:rPr lang="en-US" sz="1150" dirty="0">
                <a:solidFill>
                  <a:schemeClr val="tx2"/>
                </a:solidFill>
              </a:rPr>
              <a:t>Da email a foglio, da foglio a gestionale</a:t>
            </a:r>
            <a:endParaRPr lang="en-US" sz="1150" dirty="0"/>
          </a:p>
        </p:txBody>
      </p:sp>
      <p:sp>
        <p:nvSpPr>
          <p:cNvPr id="16" name="spreco Aspettare"/>
          <p:cNvSpPr/>
          <p:nvPr/>
        </p:nvSpPr>
        <p:spPr>
          <a:xfrm>
            <a:off x="4626864" y="1051560"/>
            <a:ext cx="1965960" cy="1325880"/>
          </a:xfrm>
          <a:prstGeom prst="roundRect">
            <a:avLst>
              <a:gd name="adj" fmla="val 5517"/>
            </a:avLst>
          </a:prstGeom>
          <a:solidFill>
            <a:schemeClr val="bg2"/>
          </a:solidFill>
          <a:ln/>
        </p:spPr>
        <p:txBody>
          <a:bodyPr/>
          <a:lstStyle/>
          <a:p>
            <a:endParaRPr lang="it-IT"/>
          </a:p>
        </p:txBody>
      </p:sp>
      <p:sp>
        <p:nvSpPr>
          <p:cNvPr id="17" name="cerchio FiClock"/>
          <p:cNvSpPr/>
          <p:nvPr/>
        </p:nvSpPr>
        <p:spPr>
          <a:xfrm>
            <a:off x="4764024" y="1188720"/>
            <a:ext cx="411480" cy="411480"/>
          </a:xfrm>
          <a:prstGeom prst="ellipse">
            <a:avLst/>
          </a:prstGeom>
          <a:solidFill>
            <a:schemeClr val="accent1"/>
          </a:solidFill>
          <a:ln/>
        </p:spPr>
        <p:txBody>
          <a:bodyPr/>
          <a:lstStyle/>
          <a:p>
            <a:endParaRPr lang="it-IT"/>
          </a:p>
        </p:txBody>
      </p:sp>
      <p:pic>
        <p:nvPicPr>
          <p:cNvPr id="18" name="Image 2" descr="FiClock"/>
          <p:cNvPicPr>
            <a:picLocks noChangeAspect="1"/>
          </p:cNvPicPr>
          <p:nvPr/>
        </p:nvPicPr>
        <p:blipFill>
          <a:blip r:embed="rId5"/>
          <a:stretch>
            <a:fillRect/>
          </a:stretch>
        </p:blipFill>
        <p:spPr>
          <a:xfrm>
            <a:off x="4866894" y="1291590"/>
            <a:ext cx="205740" cy="205740"/>
          </a:xfrm>
          <a:prstGeom prst="rect">
            <a:avLst/>
          </a:prstGeom>
        </p:spPr>
      </p:pic>
      <p:sp>
        <p:nvSpPr>
          <p:cNvPr id="19" name="Text 13"/>
          <p:cNvSpPr txBox="1"/>
          <p:nvPr/>
        </p:nvSpPr>
        <p:spPr>
          <a:xfrm>
            <a:off x="5266944" y="118872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Aspettare</a:t>
            </a:r>
            <a:endParaRPr lang="en-US" sz="1400" dirty="0"/>
          </a:p>
        </p:txBody>
      </p:sp>
      <p:sp>
        <p:nvSpPr>
          <p:cNvPr id="20" name="Text 14"/>
          <p:cNvSpPr txBox="1"/>
          <p:nvPr/>
        </p:nvSpPr>
        <p:spPr>
          <a:xfrm>
            <a:off x="4764024" y="1691640"/>
            <a:ext cx="1737360" cy="621792"/>
          </a:xfrm>
          <a:prstGeom prst="rect">
            <a:avLst/>
          </a:prstGeom>
          <a:noFill/>
          <a:ln/>
        </p:spPr>
        <p:txBody>
          <a:bodyPr wrap="square" lIns="0" tIns="0" rIns="0" bIns="0" rtlCol="0" anchor="t"/>
          <a:lstStyle/>
          <a:p>
            <a:pPr marL="0" indent="0">
              <a:buNone/>
            </a:pPr>
            <a:r>
              <a:rPr lang="en-US" sz="1150" dirty="0">
                <a:solidFill>
                  <a:schemeClr val="tx2"/>
                </a:solidFill>
              </a:rPr>
              <a:t>Un'informazione che blocca il lavoro</a:t>
            </a:r>
            <a:endParaRPr lang="en-US" sz="1150" dirty="0"/>
          </a:p>
        </p:txBody>
      </p:sp>
      <p:sp>
        <p:nvSpPr>
          <p:cNvPr id="21" name="spreco Rifare"/>
          <p:cNvSpPr/>
          <p:nvPr/>
        </p:nvSpPr>
        <p:spPr>
          <a:xfrm>
            <a:off x="6711696" y="1051560"/>
            <a:ext cx="1965960" cy="1325880"/>
          </a:xfrm>
          <a:prstGeom prst="roundRect">
            <a:avLst>
              <a:gd name="adj" fmla="val 5517"/>
            </a:avLst>
          </a:prstGeom>
          <a:solidFill>
            <a:schemeClr val="bg2"/>
          </a:solidFill>
          <a:ln/>
        </p:spPr>
        <p:txBody>
          <a:bodyPr/>
          <a:lstStyle/>
          <a:p>
            <a:endParaRPr lang="it-IT"/>
          </a:p>
        </p:txBody>
      </p:sp>
      <p:sp>
        <p:nvSpPr>
          <p:cNvPr id="22" name="cerchio FiRotateCcw"/>
          <p:cNvSpPr/>
          <p:nvPr/>
        </p:nvSpPr>
        <p:spPr>
          <a:xfrm>
            <a:off x="6848856" y="1188720"/>
            <a:ext cx="411480" cy="411480"/>
          </a:xfrm>
          <a:prstGeom prst="ellipse">
            <a:avLst/>
          </a:prstGeom>
          <a:solidFill>
            <a:schemeClr val="accent1"/>
          </a:solidFill>
          <a:ln/>
        </p:spPr>
        <p:txBody>
          <a:bodyPr/>
          <a:lstStyle/>
          <a:p>
            <a:endParaRPr lang="it-IT"/>
          </a:p>
        </p:txBody>
      </p:sp>
      <p:pic>
        <p:nvPicPr>
          <p:cNvPr id="23" name="Image 3" descr="FiRotateCcw"/>
          <p:cNvPicPr>
            <a:picLocks noChangeAspect="1"/>
          </p:cNvPicPr>
          <p:nvPr/>
        </p:nvPicPr>
        <p:blipFill>
          <a:blip r:embed="rId6"/>
          <a:stretch>
            <a:fillRect/>
          </a:stretch>
        </p:blipFill>
        <p:spPr>
          <a:xfrm>
            <a:off x="6951726" y="1291590"/>
            <a:ext cx="205740" cy="205740"/>
          </a:xfrm>
          <a:prstGeom prst="rect">
            <a:avLst/>
          </a:prstGeom>
        </p:spPr>
      </p:pic>
      <p:sp>
        <p:nvSpPr>
          <p:cNvPr id="24" name="Text 17"/>
          <p:cNvSpPr txBox="1"/>
          <p:nvPr/>
        </p:nvSpPr>
        <p:spPr>
          <a:xfrm>
            <a:off x="7351776" y="118872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Rifare</a:t>
            </a:r>
            <a:endParaRPr lang="en-US" sz="1400" dirty="0"/>
          </a:p>
        </p:txBody>
      </p:sp>
      <p:sp>
        <p:nvSpPr>
          <p:cNvPr id="25" name="Text 18"/>
          <p:cNvSpPr txBox="1"/>
          <p:nvPr/>
        </p:nvSpPr>
        <p:spPr>
          <a:xfrm>
            <a:off x="6848856" y="1691640"/>
            <a:ext cx="1737360" cy="621792"/>
          </a:xfrm>
          <a:prstGeom prst="rect">
            <a:avLst/>
          </a:prstGeom>
          <a:noFill/>
          <a:ln/>
        </p:spPr>
        <p:txBody>
          <a:bodyPr wrap="square" lIns="0" tIns="0" rIns="0" bIns="0" rtlCol="0" anchor="t"/>
          <a:lstStyle/>
          <a:p>
            <a:pPr marL="0" indent="0">
              <a:buNone/>
            </a:pPr>
            <a:r>
              <a:rPr lang="en-US" sz="1150" dirty="0">
                <a:solidFill>
                  <a:schemeClr val="tx2"/>
                </a:solidFill>
              </a:rPr>
              <a:t>Offerte e documenti con requisiti sfuggiti</a:t>
            </a:r>
            <a:endParaRPr lang="en-US" sz="1150" dirty="0"/>
          </a:p>
        </p:txBody>
      </p:sp>
      <p:sp>
        <p:nvSpPr>
          <p:cNvPr id="26" name="spreco Correggere"/>
          <p:cNvSpPr/>
          <p:nvPr/>
        </p:nvSpPr>
        <p:spPr>
          <a:xfrm>
            <a:off x="457200" y="2514600"/>
            <a:ext cx="1965960" cy="1325880"/>
          </a:xfrm>
          <a:prstGeom prst="roundRect">
            <a:avLst>
              <a:gd name="adj" fmla="val 5517"/>
            </a:avLst>
          </a:prstGeom>
          <a:solidFill>
            <a:schemeClr val="bg2"/>
          </a:solidFill>
          <a:ln/>
        </p:spPr>
        <p:txBody>
          <a:bodyPr/>
          <a:lstStyle/>
          <a:p>
            <a:endParaRPr lang="it-IT"/>
          </a:p>
        </p:txBody>
      </p:sp>
      <p:sp>
        <p:nvSpPr>
          <p:cNvPr id="27" name="cerchio FiAlertTriangle"/>
          <p:cNvSpPr/>
          <p:nvPr/>
        </p:nvSpPr>
        <p:spPr>
          <a:xfrm>
            <a:off x="594360" y="2651760"/>
            <a:ext cx="411480" cy="411480"/>
          </a:xfrm>
          <a:prstGeom prst="ellipse">
            <a:avLst/>
          </a:prstGeom>
          <a:solidFill>
            <a:schemeClr val="accent1"/>
          </a:solidFill>
          <a:ln/>
        </p:spPr>
        <p:txBody>
          <a:bodyPr/>
          <a:lstStyle/>
          <a:p>
            <a:endParaRPr lang="it-IT"/>
          </a:p>
        </p:txBody>
      </p:sp>
      <p:pic>
        <p:nvPicPr>
          <p:cNvPr id="28" name="Image 4" descr="FiAlertTriangle"/>
          <p:cNvPicPr>
            <a:picLocks noChangeAspect="1"/>
          </p:cNvPicPr>
          <p:nvPr/>
        </p:nvPicPr>
        <p:blipFill>
          <a:blip r:embed="rId7"/>
          <a:stretch>
            <a:fillRect/>
          </a:stretch>
        </p:blipFill>
        <p:spPr>
          <a:xfrm>
            <a:off x="697230" y="2754630"/>
            <a:ext cx="205740" cy="205740"/>
          </a:xfrm>
          <a:prstGeom prst="rect">
            <a:avLst/>
          </a:prstGeom>
        </p:spPr>
      </p:pic>
      <p:sp>
        <p:nvSpPr>
          <p:cNvPr id="29" name="Text 21"/>
          <p:cNvSpPr txBox="1"/>
          <p:nvPr/>
        </p:nvSpPr>
        <p:spPr>
          <a:xfrm>
            <a:off x="1097280" y="265176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Correggere</a:t>
            </a:r>
            <a:endParaRPr lang="en-US" sz="1400" dirty="0"/>
          </a:p>
        </p:txBody>
      </p:sp>
      <p:sp>
        <p:nvSpPr>
          <p:cNvPr id="30" name="Text 22"/>
          <p:cNvSpPr txBox="1"/>
          <p:nvPr/>
        </p:nvSpPr>
        <p:spPr>
          <a:xfrm>
            <a:off x="594360" y="3154680"/>
            <a:ext cx="1737360" cy="621792"/>
          </a:xfrm>
          <a:prstGeom prst="rect">
            <a:avLst/>
          </a:prstGeom>
          <a:noFill/>
          <a:ln/>
        </p:spPr>
        <p:txBody>
          <a:bodyPr wrap="square" lIns="0" tIns="0" rIns="0" bIns="0" rtlCol="0" anchor="t"/>
          <a:lstStyle/>
          <a:p>
            <a:pPr marL="0" indent="0">
              <a:buNone/>
            </a:pPr>
            <a:r>
              <a:rPr lang="en-US" sz="1150" dirty="0">
                <a:solidFill>
                  <a:schemeClr val="tx2"/>
                </a:solidFill>
              </a:rPr>
              <a:t>Dati non allineati tra sistemi</a:t>
            </a:r>
            <a:endParaRPr lang="en-US" sz="1150" dirty="0"/>
          </a:p>
        </p:txBody>
      </p:sp>
      <p:sp>
        <p:nvSpPr>
          <p:cNvPr id="31" name="spreco Chiedere a voce"/>
          <p:cNvSpPr/>
          <p:nvPr/>
        </p:nvSpPr>
        <p:spPr>
          <a:xfrm>
            <a:off x="2542032" y="2514600"/>
            <a:ext cx="1965960" cy="1325880"/>
          </a:xfrm>
          <a:prstGeom prst="roundRect">
            <a:avLst>
              <a:gd name="adj" fmla="val 5517"/>
            </a:avLst>
          </a:prstGeom>
          <a:solidFill>
            <a:schemeClr val="bg2"/>
          </a:solidFill>
          <a:ln/>
        </p:spPr>
        <p:txBody>
          <a:bodyPr/>
          <a:lstStyle/>
          <a:p>
            <a:endParaRPr lang="it-IT"/>
          </a:p>
        </p:txBody>
      </p:sp>
      <p:sp>
        <p:nvSpPr>
          <p:cNvPr id="32" name="cerchio FiPhone"/>
          <p:cNvSpPr/>
          <p:nvPr/>
        </p:nvSpPr>
        <p:spPr>
          <a:xfrm>
            <a:off x="2679192" y="2651760"/>
            <a:ext cx="411480" cy="411480"/>
          </a:xfrm>
          <a:prstGeom prst="ellipse">
            <a:avLst/>
          </a:prstGeom>
          <a:solidFill>
            <a:schemeClr val="accent1"/>
          </a:solidFill>
          <a:ln/>
        </p:spPr>
        <p:txBody>
          <a:bodyPr/>
          <a:lstStyle/>
          <a:p>
            <a:endParaRPr lang="it-IT"/>
          </a:p>
        </p:txBody>
      </p:sp>
      <p:pic>
        <p:nvPicPr>
          <p:cNvPr id="33" name="Image 5" descr="FiPhone"/>
          <p:cNvPicPr>
            <a:picLocks noChangeAspect="1"/>
          </p:cNvPicPr>
          <p:nvPr/>
        </p:nvPicPr>
        <p:blipFill>
          <a:blip r:embed="rId8"/>
          <a:stretch>
            <a:fillRect/>
          </a:stretch>
        </p:blipFill>
        <p:spPr>
          <a:xfrm>
            <a:off x="2782062" y="2754630"/>
            <a:ext cx="205740" cy="205740"/>
          </a:xfrm>
          <a:prstGeom prst="rect">
            <a:avLst/>
          </a:prstGeom>
        </p:spPr>
      </p:pic>
      <p:sp>
        <p:nvSpPr>
          <p:cNvPr id="34" name="Text 25"/>
          <p:cNvSpPr txBox="1"/>
          <p:nvPr/>
        </p:nvSpPr>
        <p:spPr>
          <a:xfrm>
            <a:off x="3182112" y="265176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Chiedere a voce</a:t>
            </a:r>
            <a:endParaRPr lang="en-US" sz="1400" dirty="0"/>
          </a:p>
        </p:txBody>
      </p:sp>
      <p:sp>
        <p:nvSpPr>
          <p:cNvPr id="35" name="Text 26"/>
          <p:cNvSpPr txBox="1"/>
          <p:nvPr/>
        </p:nvSpPr>
        <p:spPr>
          <a:xfrm>
            <a:off x="2679192" y="3154680"/>
            <a:ext cx="1737360" cy="621792"/>
          </a:xfrm>
          <a:prstGeom prst="rect">
            <a:avLst/>
          </a:prstGeom>
          <a:noFill/>
          <a:ln/>
        </p:spPr>
        <p:txBody>
          <a:bodyPr wrap="square" lIns="0" tIns="0" rIns="0" bIns="0" rtlCol="0" anchor="t"/>
          <a:lstStyle/>
          <a:p>
            <a:pPr marL="0" indent="0">
              <a:buNone/>
            </a:pPr>
            <a:r>
              <a:rPr lang="en-US" sz="1150" dirty="0">
                <a:solidFill>
                  <a:schemeClr val="tx2"/>
                </a:solidFill>
              </a:rPr>
              <a:t>Conoscenze solo nella testa di alcuni</a:t>
            </a:r>
            <a:endParaRPr lang="en-US" sz="1150" dirty="0"/>
          </a:p>
        </p:txBody>
      </p:sp>
      <p:sp>
        <p:nvSpPr>
          <p:cNvPr id="36" name="spreco Tradurre"/>
          <p:cNvSpPr/>
          <p:nvPr/>
        </p:nvSpPr>
        <p:spPr>
          <a:xfrm>
            <a:off x="4626864" y="2514600"/>
            <a:ext cx="1965960" cy="1325880"/>
          </a:xfrm>
          <a:prstGeom prst="roundRect">
            <a:avLst>
              <a:gd name="adj" fmla="val 5517"/>
            </a:avLst>
          </a:prstGeom>
          <a:solidFill>
            <a:schemeClr val="bg2"/>
          </a:solidFill>
          <a:ln/>
        </p:spPr>
        <p:txBody>
          <a:bodyPr/>
          <a:lstStyle/>
          <a:p>
            <a:endParaRPr lang="it-IT"/>
          </a:p>
        </p:txBody>
      </p:sp>
      <p:sp>
        <p:nvSpPr>
          <p:cNvPr id="37" name="cerchio FiGlobe"/>
          <p:cNvSpPr/>
          <p:nvPr/>
        </p:nvSpPr>
        <p:spPr>
          <a:xfrm>
            <a:off x="4764024" y="2651760"/>
            <a:ext cx="411480" cy="411480"/>
          </a:xfrm>
          <a:prstGeom prst="ellipse">
            <a:avLst/>
          </a:prstGeom>
          <a:solidFill>
            <a:schemeClr val="accent1"/>
          </a:solidFill>
          <a:ln/>
        </p:spPr>
        <p:txBody>
          <a:bodyPr/>
          <a:lstStyle/>
          <a:p>
            <a:endParaRPr lang="it-IT"/>
          </a:p>
        </p:txBody>
      </p:sp>
      <p:pic>
        <p:nvPicPr>
          <p:cNvPr id="38" name="Image 6" descr="FiGlobe"/>
          <p:cNvPicPr>
            <a:picLocks noChangeAspect="1"/>
          </p:cNvPicPr>
          <p:nvPr/>
        </p:nvPicPr>
        <p:blipFill>
          <a:blip r:embed="rId9"/>
          <a:stretch>
            <a:fillRect/>
          </a:stretch>
        </p:blipFill>
        <p:spPr>
          <a:xfrm>
            <a:off x="4866894" y="2754630"/>
            <a:ext cx="205740" cy="205740"/>
          </a:xfrm>
          <a:prstGeom prst="rect">
            <a:avLst/>
          </a:prstGeom>
        </p:spPr>
      </p:pic>
      <p:sp>
        <p:nvSpPr>
          <p:cNvPr id="39" name="Text 29"/>
          <p:cNvSpPr txBox="1"/>
          <p:nvPr/>
        </p:nvSpPr>
        <p:spPr>
          <a:xfrm>
            <a:off x="5266944" y="265176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Tradurre</a:t>
            </a:r>
            <a:endParaRPr lang="en-US" sz="1400" dirty="0"/>
          </a:p>
        </p:txBody>
      </p:sp>
      <p:sp>
        <p:nvSpPr>
          <p:cNvPr id="40" name="Text 30"/>
          <p:cNvSpPr txBox="1"/>
          <p:nvPr/>
        </p:nvSpPr>
        <p:spPr>
          <a:xfrm>
            <a:off x="4764024" y="3154680"/>
            <a:ext cx="1737360" cy="621792"/>
          </a:xfrm>
          <a:prstGeom prst="rect">
            <a:avLst/>
          </a:prstGeom>
          <a:noFill/>
          <a:ln/>
        </p:spPr>
        <p:txBody>
          <a:bodyPr wrap="square" lIns="0" tIns="0" rIns="0" bIns="0" rtlCol="0" anchor="t"/>
          <a:lstStyle/>
          <a:p>
            <a:pPr marL="0" indent="0">
              <a:buNone/>
            </a:pPr>
            <a:r>
              <a:rPr lang="en-US" sz="1150" dirty="0">
                <a:solidFill>
                  <a:schemeClr val="tx2"/>
                </a:solidFill>
              </a:rPr>
              <a:t>Manuali e offerte per i clienti esteri</a:t>
            </a:r>
            <a:endParaRPr lang="en-US" sz="1150" dirty="0"/>
          </a:p>
        </p:txBody>
      </p:sp>
      <p:sp>
        <p:nvSpPr>
          <p:cNvPr id="41" name="messaggio"/>
          <p:cNvSpPr/>
          <p:nvPr/>
        </p:nvSpPr>
        <p:spPr>
          <a:xfrm>
            <a:off x="6711696" y="2514600"/>
            <a:ext cx="1965960" cy="1325880"/>
          </a:xfrm>
          <a:prstGeom prst="roundRect">
            <a:avLst>
              <a:gd name="adj" fmla="val 5517"/>
            </a:avLst>
          </a:prstGeom>
          <a:solidFill>
            <a:schemeClr val="tx1"/>
          </a:solidFill>
          <a:ln/>
        </p:spPr>
        <p:txBody>
          <a:bodyPr/>
          <a:lstStyle/>
          <a:p>
            <a:endParaRPr lang="it-IT"/>
          </a:p>
        </p:txBody>
      </p:sp>
      <p:sp>
        <p:nvSpPr>
          <p:cNvPr id="42" name="Text 32"/>
          <p:cNvSpPr txBox="1"/>
          <p:nvPr/>
        </p:nvSpPr>
        <p:spPr>
          <a:xfrm>
            <a:off x="6848856" y="2514600"/>
            <a:ext cx="1691640" cy="1325880"/>
          </a:xfrm>
          <a:prstGeom prst="rect">
            <a:avLst/>
          </a:prstGeom>
          <a:noFill/>
          <a:ln/>
        </p:spPr>
        <p:txBody>
          <a:bodyPr wrap="square" lIns="0" tIns="0" rIns="0" bIns="0" rtlCol="0" anchor="ctr"/>
          <a:lstStyle/>
          <a:p>
            <a:pPr marL="0" indent="0">
              <a:buNone/>
            </a:pPr>
            <a:r>
              <a:rPr lang="en-US" sz="1300" b="1" dirty="0">
                <a:solidFill>
                  <a:schemeClr val="bg1"/>
                </a:solidFill>
              </a:rPr>
              <a:t>Prima il problema, poi lo strumento. Non tutti si risolvono con l'AI.</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Esercizio: dove perdiamo tempo?</a:t>
            </a:r>
            <a:endParaRPr lang="en-US" sz="2600" dirty="0"/>
          </a:p>
        </p:txBody>
      </p:sp>
      <p:sp>
        <p:nvSpPr>
          <p:cNvPr id="6" name="passo 1"/>
          <p:cNvSpPr/>
          <p:nvPr/>
        </p:nvSpPr>
        <p:spPr>
          <a:xfrm>
            <a:off x="457200" y="1097280"/>
            <a:ext cx="2606040" cy="2103120"/>
          </a:xfrm>
          <a:prstGeom prst="roundRect">
            <a:avLst>
              <a:gd name="adj" fmla="val 3478"/>
            </a:avLst>
          </a:prstGeom>
          <a:solidFill>
            <a:schemeClr val="bg2"/>
          </a:solidFill>
          <a:ln/>
        </p:spPr>
        <p:txBody>
          <a:bodyPr/>
          <a:lstStyle/>
          <a:p>
            <a:endParaRPr lang="it-IT"/>
          </a:p>
        </p:txBody>
      </p:sp>
      <p:sp>
        <p:nvSpPr>
          <p:cNvPr id="7" name="Text 4"/>
          <p:cNvSpPr txBox="1"/>
          <p:nvPr/>
        </p:nvSpPr>
        <p:spPr>
          <a:xfrm>
            <a:off x="640080" y="1188720"/>
            <a:ext cx="1097280" cy="548640"/>
          </a:xfrm>
          <a:prstGeom prst="rect">
            <a:avLst/>
          </a:prstGeom>
          <a:noFill/>
          <a:ln/>
        </p:spPr>
        <p:txBody>
          <a:bodyPr wrap="square" lIns="0" tIns="0" rIns="0" bIns="0" rtlCol="0" anchor="t"/>
          <a:lstStyle/>
          <a:p>
            <a:pPr marL="0" indent="0">
              <a:buNone/>
            </a:pPr>
            <a:r>
              <a:rPr lang="en-US" sz="2800" b="1" dirty="0">
                <a:solidFill>
                  <a:schemeClr val="accent1"/>
                </a:solidFill>
              </a:rPr>
              <a:t>15'</a:t>
            </a:r>
            <a:endParaRPr lang="en-US" sz="2800" dirty="0"/>
          </a:p>
        </p:txBody>
      </p:sp>
      <p:sp>
        <p:nvSpPr>
          <p:cNvPr id="8" name="Text 5"/>
          <p:cNvSpPr txBox="1"/>
          <p:nvPr/>
        </p:nvSpPr>
        <p:spPr>
          <a:xfrm>
            <a:off x="640080" y="1783080"/>
            <a:ext cx="2240280" cy="320040"/>
          </a:xfrm>
          <a:prstGeom prst="rect">
            <a:avLst/>
          </a:prstGeom>
          <a:noFill/>
          <a:ln/>
        </p:spPr>
        <p:txBody>
          <a:bodyPr wrap="square" lIns="0" tIns="0" rIns="0" bIns="0" rtlCol="0" anchor="t"/>
          <a:lstStyle/>
          <a:p>
            <a:pPr marL="0" indent="0">
              <a:buNone/>
            </a:pPr>
            <a:r>
              <a:rPr lang="en-US" sz="1500" b="1" dirty="0" err="1">
                <a:solidFill>
                  <a:schemeClr val="tx1"/>
                </a:solidFill>
              </a:rPr>
              <a:t>Riflessione</a:t>
            </a:r>
            <a:r>
              <a:rPr lang="en-US" sz="1500" b="1" dirty="0">
                <a:solidFill>
                  <a:schemeClr val="tx1"/>
                </a:solidFill>
              </a:rPr>
              <a:t> </a:t>
            </a:r>
            <a:r>
              <a:rPr lang="en-US" sz="1500" b="1" dirty="0" err="1">
                <a:solidFill>
                  <a:schemeClr val="tx1"/>
                </a:solidFill>
              </a:rPr>
              <a:t>individuale</a:t>
            </a:r>
            <a:endParaRPr lang="en-US" sz="1500" dirty="0"/>
          </a:p>
        </p:txBody>
      </p:sp>
      <p:sp>
        <p:nvSpPr>
          <p:cNvPr id="9" name="Text 6"/>
          <p:cNvSpPr txBox="1"/>
          <p:nvPr/>
        </p:nvSpPr>
        <p:spPr>
          <a:xfrm>
            <a:off x="640080" y="2346960"/>
            <a:ext cx="2240280" cy="960120"/>
          </a:xfrm>
          <a:prstGeom prst="rect">
            <a:avLst/>
          </a:prstGeom>
          <a:noFill/>
          <a:ln/>
        </p:spPr>
        <p:txBody>
          <a:bodyPr wrap="square" lIns="0" tIns="0" rIns="0" bIns="0" rtlCol="0" anchor="t"/>
          <a:lstStyle/>
          <a:p>
            <a:pPr marL="0" indent="0">
              <a:buNone/>
            </a:pPr>
            <a:r>
              <a:rPr lang="en-US" sz="1300" dirty="0">
                <a:solidFill>
                  <a:schemeClr val="tx2"/>
                </a:solidFill>
              </a:rPr>
              <a:t>Un post-it per ogni spreco: una frase, il reparto, la categoria</a:t>
            </a:r>
            <a:endParaRPr lang="en-US" sz="1300" dirty="0"/>
          </a:p>
        </p:txBody>
      </p:sp>
      <p:sp>
        <p:nvSpPr>
          <p:cNvPr id="10" name="freccia"/>
          <p:cNvSpPr/>
          <p:nvPr/>
        </p:nvSpPr>
        <p:spPr>
          <a:xfrm>
            <a:off x="3081528" y="2011680"/>
            <a:ext cx="146304" cy="292608"/>
          </a:xfrm>
          <a:prstGeom prst="rightArrow">
            <a:avLst/>
          </a:prstGeom>
          <a:solidFill>
            <a:schemeClr val="accent2"/>
          </a:solidFill>
          <a:ln/>
        </p:spPr>
        <p:txBody>
          <a:bodyPr/>
          <a:lstStyle/>
          <a:p>
            <a:endParaRPr lang="it-IT"/>
          </a:p>
        </p:txBody>
      </p:sp>
      <p:sp>
        <p:nvSpPr>
          <p:cNvPr id="11" name="passo 2"/>
          <p:cNvSpPr/>
          <p:nvPr/>
        </p:nvSpPr>
        <p:spPr>
          <a:xfrm>
            <a:off x="3246120" y="1097280"/>
            <a:ext cx="2606040" cy="2103120"/>
          </a:xfrm>
          <a:prstGeom prst="roundRect">
            <a:avLst>
              <a:gd name="adj" fmla="val 3478"/>
            </a:avLst>
          </a:prstGeom>
          <a:solidFill>
            <a:schemeClr val="accent6"/>
          </a:solidFill>
          <a:ln/>
        </p:spPr>
        <p:txBody>
          <a:bodyPr/>
          <a:lstStyle/>
          <a:p>
            <a:endParaRPr lang="it-IT"/>
          </a:p>
        </p:txBody>
      </p:sp>
      <p:sp>
        <p:nvSpPr>
          <p:cNvPr id="12" name="Text 9"/>
          <p:cNvSpPr txBox="1"/>
          <p:nvPr/>
        </p:nvSpPr>
        <p:spPr>
          <a:xfrm>
            <a:off x="3429000" y="1188720"/>
            <a:ext cx="1097280" cy="548640"/>
          </a:xfrm>
          <a:prstGeom prst="rect">
            <a:avLst/>
          </a:prstGeom>
          <a:noFill/>
          <a:ln/>
        </p:spPr>
        <p:txBody>
          <a:bodyPr wrap="square" lIns="0" tIns="0" rIns="0" bIns="0" rtlCol="0" anchor="t"/>
          <a:lstStyle/>
          <a:p>
            <a:pPr marL="0" indent="0">
              <a:buNone/>
            </a:pPr>
            <a:r>
              <a:rPr lang="en-US" sz="2800" b="1" dirty="0">
                <a:solidFill>
                  <a:schemeClr val="accent1"/>
                </a:solidFill>
              </a:rPr>
              <a:t>15'</a:t>
            </a:r>
            <a:endParaRPr lang="en-US" sz="2800" dirty="0"/>
          </a:p>
        </p:txBody>
      </p:sp>
      <p:sp>
        <p:nvSpPr>
          <p:cNvPr id="13" name="Text 10"/>
          <p:cNvSpPr txBox="1"/>
          <p:nvPr/>
        </p:nvSpPr>
        <p:spPr>
          <a:xfrm>
            <a:off x="3429000" y="1783080"/>
            <a:ext cx="2240280" cy="320040"/>
          </a:xfrm>
          <a:prstGeom prst="rect">
            <a:avLst/>
          </a:prstGeom>
          <a:noFill/>
          <a:ln/>
        </p:spPr>
        <p:txBody>
          <a:bodyPr wrap="square" lIns="0" tIns="0" rIns="0" bIns="0" rtlCol="0" anchor="t"/>
          <a:lstStyle/>
          <a:p>
            <a:pPr marL="0" indent="0">
              <a:buNone/>
            </a:pPr>
            <a:r>
              <a:rPr lang="en-US" sz="1200" b="1" dirty="0" err="1"/>
              <a:t>Raggruppamento</a:t>
            </a:r>
            <a:r>
              <a:rPr lang="en-US" sz="1200" b="1" dirty="0"/>
              <a:t> per </a:t>
            </a:r>
            <a:r>
              <a:rPr lang="en-US" sz="1200" b="1" dirty="0" err="1"/>
              <a:t>reparto</a:t>
            </a:r>
            <a:r>
              <a:rPr lang="en-US" sz="1200" b="1" dirty="0"/>
              <a:t> </a:t>
            </a:r>
            <a:r>
              <a:rPr lang="en-US" sz="1200" b="1" dirty="0" err="1"/>
              <a:t>tipologia</a:t>
            </a:r>
            <a:endParaRPr lang="en-US" sz="1200" dirty="0"/>
          </a:p>
        </p:txBody>
      </p:sp>
      <p:sp>
        <p:nvSpPr>
          <p:cNvPr id="14" name="Text 11"/>
          <p:cNvSpPr txBox="1"/>
          <p:nvPr/>
        </p:nvSpPr>
        <p:spPr>
          <a:xfrm>
            <a:off x="3429000" y="2377440"/>
            <a:ext cx="2240280" cy="502920"/>
          </a:xfrm>
          <a:prstGeom prst="rect">
            <a:avLst/>
          </a:prstGeom>
          <a:noFill/>
          <a:ln/>
        </p:spPr>
        <p:txBody>
          <a:bodyPr wrap="square" lIns="0" tIns="0" rIns="0" bIns="0" rtlCol="0" anchor="t"/>
          <a:lstStyle/>
          <a:p>
            <a:pPr marL="0" indent="0">
              <a:buNone/>
            </a:pPr>
            <a:r>
              <a:rPr lang="en-US" sz="1300" dirty="0">
                <a:solidFill>
                  <a:schemeClr val="tx2"/>
                </a:solidFill>
              </a:rPr>
              <a:t>Raggruppare i </a:t>
            </a:r>
            <a:r>
              <a:rPr lang="en-US" sz="1300" dirty="0" err="1">
                <a:solidFill>
                  <a:schemeClr val="tx2"/>
                </a:solidFill>
              </a:rPr>
              <a:t>post-it</a:t>
            </a:r>
            <a:r>
              <a:rPr lang="en-US" sz="1300" dirty="0">
                <a:solidFill>
                  <a:schemeClr val="tx2"/>
                </a:solidFill>
              </a:rPr>
              <a:t> </a:t>
            </a:r>
            <a:r>
              <a:rPr lang="en-US" sz="1300" dirty="0" err="1">
                <a:solidFill>
                  <a:schemeClr val="tx2"/>
                </a:solidFill>
              </a:rPr>
              <a:t>simili</a:t>
            </a:r>
            <a:endParaRPr lang="en-US" sz="1300" dirty="0"/>
          </a:p>
        </p:txBody>
      </p:sp>
      <p:sp>
        <p:nvSpPr>
          <p:cNvPr id="15" name="freccia"/>
          <p:cNvSpPr/>
          <p:nvPr/>
        </p:nvSpPr>
        <p:spPr>
          <a:xfrm>
            <a:off x="5870448" y="2011680"/>
            <a:ext cx="146304" cy="292608"/>
          </a:xfrm>
          <a:prstGeom prst="rightArrow">
            <a:avLst/>
          </a:prstGeom>
          <a:solidFill>
            <a:schemeClr val="accent2"/>
          </a:solidFill>
          <a:ln/>
        </p:spPr>
        <p:txBody>
          <a:bodyPr/>
          <a:lstStyle/>
          <a:p>
            <a:endParaRPr lang="it-IT"/>
          </a:p>
        </p:txBody>
      </p:sp>
      <p:sp>
        <p:nvSpPr>
          <p:cNvPr id="16" name="passo 3"/>
          <p:cNvSpPr/>
          <p:nvPr/>
        </p:nvSpPr>
        <p:spPr>
          <a:xfrm>
            <a:off x="6035040" y="1097280"/>
            <a:ext cx="2606040" cy="2103120"/>
          </a:xfrm>
          <a:prstGeom prst="roundRect">
            <a:avLst>
              <a:gd name="adj" fmla="val 3478"/>
            </a:avLst>
          </a:prstGeom>
          <a:solidFill>
            <a:schemeClr val="bg2"/>
          </a:solidFill>
          <a:ln/>
        </p:spPr>
        <p:txBody>
          <a:bodyPr/>
          <a:lstStyle/>
          <a:p>
            <a:endParaRPr lang="it-IT"/>
          </a:p>
        </p:txBody>
      </p:sp>
      <p:sp>
        <p:nvSpPr>
          <p:cNvPr id="17" name="Text 14"/>
          <p:cNvSpPr txBox="1"/>
          <p:nvPr/>
        </p:nvSpPr>
        <p:spPr>
          <a:xfrm>
            <a:off x="6217920" y="1188720"/>
            <a:ext cx="1097280" cy="548640"/>
          </a:xfrm>
          <a:prstGeom prst="rect">
            <a:avLst/>
          </a:prstGeom>
          <a:noFill/>
          <a:ln/>
        </p:spPr>
        <p:txBody>
          <a:bodyPr wrap="square" lIns="0" tIns="0" rIns="0" bIns="0" rtlCol="0" anchor="t"/>
          <a:lstStyle/>
          <a:p>
            <a:pPr marL="0" indent="0">
              <a:buNone/>
            </a:pPr>
            <a:r>
              <a:rPr lang="en-US" sz="2800" b="1" dirty="0">
                <a:solidFill>
                  <a:schemeClr val="accent1"/>
                </a:solidFill>
              </a:rPr>
              <a:t>10'</a:t>
            </a:r>
            <a:endParaRPr lang="en-US" sz="2800" dirty="0"/>
          </a:p>
        </p:txBody>
      </p:sp>
      <p:sp>
        <p:nvSpPr>
          <p:cNvPr id="18" name="Text 15"/>
          <p:cNvSpPr txBox="1"/>
          <p:nvPr/>
        </p:nvSpPr>
        <p:spPr>
          <a:xfrm>
            <a:off x="6217920" y="1783080"/>
            <a:ext cx="2240280" cy="320040"/>
          </a:xfrm>
          <a:prstGeom prst="rect">
            <a:avLst/>
          </a:prstGeom>
          <a:noFill/>
          <a:ln/>
        </p:spPr>
        <p:txBody>
          <a:bodyPr wrap="square" lIns="0" tIns="0" rIns="0" bIns="0" rtlCol="0" anchor="t"/>
          <a:lstStyle/>
          <a:p>
            <a:pPr marL="0" indent="0">
              <a:buNone/>
            </a:pPr>
            <a:r>
              <a:rPr lang="en-US" sz="1500" b="1" dirty="0" err="1">
                <a:solidFill>
                  <a:schemeClr val="tx1"/>
                </a:solidFill>
              </a:rPr>
              <a:t>Discussione</a:t>
            </a:r>
            <a:r>
              <a:rPr lang="en-US" sz="1500" b="1" dirty="0">
                <a:solidFill>
                  <a:schemeClr val="tx1"/>
                </a:solidFill>
              </a:rPr>
              <a:t> Conclusiva</a:t>
            </a:r>
            <a:endParaRPr lang="en-US" sz="1500" dirty="0"/>
          </a:p>
        </p:txBody>
      </p:sp>
      <p:sp>
        <p:nvSpPr>
          <p:cNvPr id="19" name="Text 16"/>
          <p:cNvSpPr txBox="1"/>
          <p:nvPr/>
        </p:nvSpPr>
        <p:spPr>
          <a:xfrm>
            <a:off x="6217920" y="2308860"/>
            <a:ext cx="2240280" cy="640080"/>
          </a:xfrm>
          <a:prstGeom prst="rect">
            <a:avLst/>
          </a:prstGeom>
          <a:noFill/>
          <a:ln/>
        </p:spPr>
        <p:txBody>
          <a:bodyPr wrap="square" lIns="0" tIns="0" rIns="0" bIns="0" rtlCol="0" anchor="t"/>
          <a:lstStyle/>
          <a:p>
            <a:pPr marL="0" indent="0">
              <a:buNone/>
            </a:pPr>
            <a:r>
              <a:rPr lang="en-US" sz="1300" dirty="0" err="1">
                <a:solidFill>
                  <a:schemeClr val="tx2"/>
                </a:solidFill>
              </a:rPr>
              <a:t>Condividiamo</a:t>
            </a:r>
            <a:r>
              <a:rPr lang="en-US" sz="1300" dirty="0">
                <a:solidFill>
                  <a:schemeClr val="tx2"/>
                </a:solidFill>
              </a:rPr>
              <a:t> </a:t>
            </a:r>
            <a:r>
              <a:rPr lang="en-US" sz="1300" dirty="0" err="1">
                <a:solidFill>
                  <a:schemeClr val="tx2"/>
                </a:solidFill>
              </a:rPr>
              <a:t>gli</a:t>
            </a:r>
            <a:r>
              <a:rPr lang="en-US" sz="1300" dirty="0">
                <a:solidFill>
                  <a:schemeClr val="tx2"/>
                </a:solidFill>
              </a:rPr>
              <a:t> </a:t>
            </a:r>
            <a:r>
              <a:rPr lang="en-US" sz="1300" dirty="0" err="1">
                <a:solidFill>
                  <a:schemeClr val="tx2"/>
                </a:solidFill>
              </a:rPr>
              <a:t>sprechi</a:t>
            </a:r>
            <a:r>
              <a:rPr lang="en-US" sz="1300" dirty="0">
                <a:solidFill>
                  <a:schemeClr val="tx2"/>
                </a:solidFill>
              </a:rPr>
              <a:t> </a:t>
            </a:r>
            <a:r>
              <a:rPr lang="en-US" sz="1300" dirty="0" err="1">
                <a:solidFill>
                  <a:schemeClr val="tx2"/>
                </a:solidFill>
              </a:rPr>
              <a:t>individuati</a:t>
            </a:r>
            <a:endParaRPr lang="en-US" sz="1300" dirty="0"/>
          </a:p>
        </p:txBody>
      </p:sp>
      <p:sp>
        <p:nvSpPr>
          <p:cNvPr id="20" name="scheda Solo il problema"/>
          <p:cNvSpPr/>
          <p:nvPr/>
        </p:nvSpPr>
        <p:spPr>
          <a:xfrm>
            <a:off x="457200" y="3383280"/>
            <a:ext cx="4023360" cy="1097280"/>
          </a:xfrm>
          <a:prstGeom prst="roundRect">
            <a:avLst>
              <a:gd name="adj" fmla="val 6667"/>
            </a:avLst>
          </a:prstGeom>
          <a:solidFill>
            <a:schemeClr val="bg2"/>
          </a:solidFill>
          <a:ln/>
        </p:spPr>
        <p:txBody>
          <a:bodyPr/>
          <a:lstStyle/>
          <a:p>
            <a:endParaRPr lang="it-IT"/>
          </a:p>
        </p:txBody>
      </p:sp>
      <p:sp>
        <p:nvSpPr>
          <p:cNvPr id="21" name="cerchio FiTarget"/>
          <p:cNvSpPr/>
          <p:nvPr/>
        </p:nvSpPr>
        <p:spPr>
          <a:xfrm>
            <a:off x="640080" y="3566160"/>
            <a:ext cx="457200" cy="457200"/>
          </a:xfrm>
          <a:prstGeom prst="ellipse">
            <a:avLst/>
          </a:prstGeom>
          <a:solidFill>
            <a:schemeClr val="accent1"/>
          </a:solidFill>
          <a:ln/>
        </p:spPr>
        <p:txBody>
          <a:bodyPr/>
          <a:lstStyle/>
          <a:p>
            <a:endParaRPr lang="it-IT"/>
          </a:p>
        </p:txBody>
      </p:sp>
      <p:pic>
        <p:nvPicPr>
          <p:cNvPr id="22" name="Image 0" descr="FiTarget"/>
          <p:cNvPicPr>
            <a:picLocks noChangeAspect="1"/>
          </p:cNvPicPr>
          <p:nvPr/>
        </p:nvPicPr>
        <p:blipFill>
          <a:blip r:embed="rId3"/>
          <a:stretch>
            <a:fillRect/>
          </a:stretch>
        </p:blipFill>
        <p:spPr>
          <a:xfrm>
            <a:off x="754380" y="3680460"/>
            <a:ext cx="228600" cy="228600"/>
          </a:xfrm>
          <a:prstGeom prst="rect">
            <a:avLst/>
          </a:prstGeom>
        </p:spPr>
      </p:pic>
      <p:sp>
        <p:nvSpPr>
          <p:cNvPr id="23" name="Text 19"/>
          <p:cNvSpPr txBox="1"/>
          <p:nvPr/>
        </p:nvSpPr>
        <p:spPr>
          <a:xfrm>
            <a:off x="1234440" y="3566160"/>
            <a:ext cx="3063240" cy="457200"/>
          </a:xfrm>
          <a:prstGeom prst="rect">
            <a:avLst/>
          </a:prstGeom>
          <a:noFill/>
          <a:ln/>
        </p:spPr>
        <p:txBody>
          <a:bodyPr wrap="square" lIns="0" tIns="0" rIns="0" bIns="0" rtlCol="0" anchor="ctr"/>
          <a:lstStyle/>
          <a:p>
            <a:pPr marL="0" indent="0">
              <a:buNone/>
            </a:pPr>
            <a:r>
              <a:rPr lang="en-US" sz="1400" b="1" dirty="0">
                <a:solidFill>
                  <a:schemeClr val="tx1"/>
                </a:solidFill>
              </a:rPr>
              <a:t>Solo il problema</a:t>
            </a:r>
            <a:endParaRPr lang="en-US" sz="1400" dirty="0"/>
          </a:p>
        </p:txBody>
      </p:sp>
      <p:sp>
        <p:nvSpPr>
          <p:cNvPr id="24" name="Text 20"/>
          <p:cNvSpPr txBox="1"/>
          <p:nvPr/>
        </p:nvSpPr>
        <p:spPr>
          <a:xfrm>
            <a:off x="640080" y="4160520"/>
            <a:ext cx="3657600" cy="210312"/>
          </a:xfrm>
          <a:prstGeom prst="rect">
            <a:avLst/>
          </a:prstGeom>
          <a:noFill/>
          <a:ln/>
        </p:spPr>
        <p:txBody>
          <a:bodyPr wrap="square" lIns="0" tIns="0" rIns="0" bIns="0" rtlCol="0" anchor="t"/>
          <a:lstStyle/>
          <a:p>
            <a:pPr marL="0" indent="0">
              <a:buNone/>
            </a:pPr>
            <a:r>
              <a:rPr lang="en-US" sz="1200" dirty="0">
                <a:solidFill>
                  <a:schemeClr val="tx2"/>
                </a:solidFill>
              </a:rPr>
              <a:t>La soluzione la cerchiamo nella sessione 2.</a:t>
            </a:r>
            <a:endParaRPr lang="en-US" sz="1200" dirty="0"/>
          </a:p>
        </p:txBody>
      </p:sp>
      <p:sp>
        <p:nvSpPr>
          <p:cNvPr id="25" name="scheda Niente dati riservati"/>
          <p:cNvSpPr/>
          <p:nvPr/>
        </p:nvSpPr>
        <p:spPr>
          <a:xfrm>
            <a:off x="4663440" y="3383280"/>
            <a:ext cx="4023360" cy="1097280"/>
          </a:xfrm>
          <a:prstGeom prst="roundRect">
            <a:avLst>
              <a:gd name="adj" fmla="val 6667"/>
            </a:avLst>
          </a:prstGeom>
          <a:solidFill>
            <a:schemeClr val="accent6"/>
          </a:solidFill>
          <a:ln/>
        </p:spPr>
        <p:txBody>
          <a:bodyPr/>
          <a:lstStyle/>
          <a:p>
            <a:endParaRPr lang="it-IT"/>
          </a:p>
        </p:txBody>
      </p:sp>
      <p:sp>
        <p:nvSpPr>
          <p:cNvPr id="26" name="cerchio FiLock"/>
          <p:cNvSpPr/>
          <p:nvPr/>
        </p:nvSpPr>
        <p:spPr>
          <a:xfrm>
            <a:off x="4846320" y="3566160"/>
            <a:ext cx="457200" cy="457200"/>
          </a:xfrm>
          <a:prstGeom prst="ellipse">
            <a:avLst/>
          </a:prstGeom>
          <a:solidFill>
            <a:schemeClr val="accent1"/>
          </a:solidFill>
          <a:ln/>
        </p:spPr>
        <p:txBody>
          <a:bodyPr/>
          <a:lstStyle/>
          <a:p>
            <a:endParaRPr lang="it-IT"/>
          </a:p>
        </p:txBody>
      </p:sp>
      <p:pic>
        <p:nvPicPr>
          <p:cNvPr id="27" name="Image 1" descr="FiLock"/>
          <p:cNvPicPr>
            <a:picLocks noChangeAspect="1"/>
          </p:cNvPicPr>
          <p:nvPr/>
        </p:nvPicPr>
        <p:blipFill>
          <a:blip r:embed="rId4"/>
          <a:stretch>
            <a:fillRect/>
          </a:stretch>
        </p:blipFill>
        <p:spPr>
          <a:xfrm>
            <a:off x="4960620" y="3680460"/>
            <a:ext cx="228600" cy="228600"/>
          </a:xfrm>
          <a:prstGeom prst="rect">
            <a:avLst/>
          </a:prstGeom>
        </p:spPr>
      </p:pic>
      <p:sp>
        <p:nvSpPr>
          <p:cNvPr id="28" name="Text 23"/>
          <p:cNvSpPr txBox="1"/>
          <p:nvPr/>
        </p:nvSpPr>
        <p:spPr>
          <a:xfrm>
            <a:off x="5440680" y="3566160"/>
            <a:ext cx="3063240" cy="457200"/>
          </a:xfrm>
          <a:prstGeom prst="rect">
            <a:avLst/>
          </a:prstGeom>
          <a:noFill/>
          <a:ln/>
        </p:spPr>
        <p:txBody>
          <a:bodyPr wrap="square" lIns="0" tIns="0" rIns="0" bIns="0" rtlCol="0" anchor="ctr"/>
          <a:lstStyle/>
          <a:p>
            <a:pPr marL="0" indent="0">
              <a:buNone/>
            </a:pPr>
            <a:r>
              <a:rPr lang="en-US" sz="1400" b="1" dirty="0">
                <a:solidFill>
                  <a:schemeClr val="tx1"/>
                </a:solidFill>
              </a:rPr>
              <a:t>Niente dati riservati</a:t>
            </a:r>
            <a:endParaRPr lang="en-US" sz="1400" dirty="0"/>
          </a:p>
        </p:txBody>
      </p:sp>
      <p:sp>
        <p:nvSpPr>
          <p:cNvPr id="29" name="Text 24"/>
          <p:cNvSpPr txBox="1"/>
          <p:nvPr/>
        </p:nvSpPr>
        <p:spPr>
          <a:xfrm>
            <a:off x="4846320" y="4160520"/>
            <a:ext cx="3657600" cy="210312"/>
          </a:xfrm>
          <a:prstGeom prst="rect">
            <a:avLst/>
          </a:prstGeom>
          <a:noFill/>
          <a:ln/>
        </p:spPr>
        <p:txBody>
          <a:bodyPr wrap="square" lIns="0" tIns="0" rIns="0" bIns="0" rtlCol="0" anchor="t"/>
          <a:lstStyle/>
          <a:p>
            <a:pPr marL="0" indent="0">
              <a:buNone/>
            </a:pPr>
            <a:r>
              <a:rPr lang="en-US" sz="1200" dirty="0">
                <a:solidFill>
                  <a:schemeClr val="tx2"/>
                </a:solidFill>
              </a:rPr>
              <a:t>L'attività, non il cliente o il caso specifico.</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Mappa degli sprechi: un esempio</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218688"/>
        </p:xfrm>
        <a:graphic>
          <a:graphicData uri="http://schemas.openxmlformats.org/drawingml/2006/table">
            <a:tbl>
              <a:tblPr/>
              <a:tblGrid>
                <a:gridCol w="15544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5257800">
                  <a:extLst>
                    <a:ext uri="{9D8B030D-6E8A-4147-A177-3AD203B41FA5}">
                      <a16:colId xmlns:a16="http://schemas.microsoft.com/office/drawing/2014/main" val="20002"/>
                    </a:ext>
                  </a:extLst>
                </a:gridCol>
              </a:tblGrid>
              <a:tr h="402336">
                <a:tc>
                  <a:txBody>
                    <a:bodyPr/>
                    <a:lstStyle/>
                    <a:p>
                      <a:pPr marL="0" indent="0">
                        <a:buNone/>
                      </a:pPr>
                      <a:r>
                        <a:rPr lang="en-US" sz="1200" b="1" dirty="0">
                          <a:solidFill>
                            <a:schemeClr val="bg1"/>
                          </a:solidFill>
                        </a:rPr>
                        <a:t>Reparto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200" b="1" dirty="0">
                          <a:solidFill>
                            <a:schemeClr val="bg1"/>
                          </a:solidFill>
                        </a:rPr>
                        <a:t>Spreco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Esempio (fittizio)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02336">
                <a:tc>
                  <a:txBody>
                    <a:bodyPr/>
                    <a:lstStyle/>
                    <a:p>
                      <a:pPr marL="0" indent="0">
                        <a:buNone/>
                      </a:pPr>
                      <a:r>
                        <a:rPr lang="en-US" sz="1200" b="1" dirty="0">
                          <a:solidFill>
                            <a:schemeClr val="tx1"/>
                          </a:solidFill>
                        </a:rPr>
                        <a:t>Tecnico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Cercare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Dove abbiamo già risolto questo problema? In quale commessa?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02336">
                <a:tc>
                  <a:txBody>
                    <a:bodyPr/>
                    <a:lstStyle/>
                    <a:p>
                      <a:pPr marL="0" indent="0">
                        <a:buNone/>
                      </a:pPr>
                      <a:r>
                        <a:rPr lang="en-US" sz="1200" b="1" dirty="0">
                          <a:solidFill>
                            <a:schemeClr val="tx1"/>
                          </a:solidFill>
                        </a:rPr>
                        <a:t>Produzione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Aspettare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Montaggio fermo per un'informazione dell'ufficio tecnico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02336">
                <a:tc>
                  <a:txBody>
                    <a:bodyPr/>
                    <a:lstStyle/>
                    <a:p>
                      <a:pPr marL="0" indent="0">
                        <a:buNone/>
                      </a:pPr>
                      <a:r>
                        <a:rPr lang="en-US" sz="1200" b="1" dirty="0">
                          <a:solidFill>
                            <a:schemeClr val="tx1"/>
                          </a:solidFill>
                        </a:rPr>
                        <a:t>Qualità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Ricopiare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Non conformità da email a foglio, poi al gestionale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02336">
                <a:tc>
                  <a:txBody>
                    <a:bodyPr/>
                    <a:lstStyle/>
                    <a:p>
                      <a:pPr marL="0" indent="0">
                        <a:buNone/>
                      </a:pPr>
                      <a:r>
                        <a:rPr lang="en-US" sz="1200" b="1" dirty="0">
                          <a:solidFill>
                            <a:schemeClr val="tx1"/>
                          </a:solidFill>
                        </a:rPr>
                        <a:t>Service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Chiedere a voce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La diagnosi dipende dal tecnico esperto al telefono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402336">
                <a:tc>
                  <a:txBody>
                    <a:bodyPr/>
                    <a:lstStyle/>
                    <a:p>
                      <a:pPr marL="0" indent="0">
                        <a:buNone/>
                      </a:pPr>
                      <a:r>
                        <a:rPr lang="en-US" sz="1200" b="1" dirty="0">
                          <a:solidFill>
                            <a:schemeClr val="tx1"/>
                          </a:solidFill>
                        </a:rPr>
                        <a:t>Commerciale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Rifare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Offerta rivista per un requisito del capitolato sfuggito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02336">
                <a:tc>
                  <a:txBody>
                    <a:bodyPr/>
                    <a:lstStyle/>
                    <a:p>
                      <a:pPr marL="0" indent="0">
                        <a:buNone/>
                      </a:pPr>
                      <a:r>
                        <a:rPr lang="en-US" sz="1200" b="1" dirty="0">
                          <a:solidFill>
                            <a:schemeClr val="tx1"/>
                          </a:solidFill>
                        </a:rPr>
                        <a:t>Amministrazione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Correggere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Dati di commessa non allineati tra sistemi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402336">
                <a:tc>
                  <a:txBody>
                    <a:bodyPr/>
                    <a:lstStyle/>
                    <a:p>
                      <a:pPr marL="0" indent="0">
                        <a:buNone/>
                      </a:pPr>
                      <a:r>
                        <a:rPr lang="en-US" sz="1200" b="1" dirty="0">
                          <a:solidFill>
                            <a:schemeClr val="tx1"/>
                          </a:solidFill>
                        </a:rPr>
                        <a:t>Più reparti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Tradurre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Manuali, offerte, email per i clienti esteri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bl>
          </a:graphicData>
        </a:graphic>
      </p:graphicFrame>
      <p:sp>
        <p:nvSpPr>
          <p:cNvPr id="7" name="Text 3"/>
          <p:cNvSpPr txBox="1"/>
          <p:nvPr/>
        </p:nvSpPr>
        <p:spPr>
          <a:xfrm>
            <a:off x="457200" y="4297680"/>
            <a:ext cx="8229600" cy="274320"/>
          </a:xfrm>
          <a:prstGeom prst="rect">
            <a:avLst/>
          </a:prstGeom>
          <a:noFill/>
          <a:ln/>
        </p:spPr>
        <p:txBody>
          <a:bodyPr wrap="square" lIns="0" tIns="0" rIns="0" bIns="0" rtlCol="0" anchor="t"/>
          <a:lstStyle/>
          <a:p>
            <a:pPr marL="0" indent="0">
              <a:buNone/>
            </a:pPr>
            <a:r>
              <a:rPr lang="en-US" sz="1200" i="1" dirty="0">
                <a:solidFill>
                  <a:schemeClr val="accent4"/>
                </a:solidFill>
              </a:rPr>
              <a:t>Esempio fittizio di un costruttore di macchine: quali sprechi riconoscete? Quali mancano?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Dagli sprechi alle opportunità</a:t>
            </a:r>
            <a:endParaRPr lang="en-US" sz="2600" dirty="0"/>
          </a:p>
        </p:txBody>
      </p:sp>
      <p:sp>
        <p:nvSpPr>
          <p:cNvPr id="6" name="blocco Spreco"/>
          <p:cNvSpPr/>
          <p:nvPr/>
        </p:nvSpPr>
        <p:spPr>
          <a:xfrm>
            <a:off x="457200" y="1024128"/>
            <a:ext cx="1965960" cy="365760"/>
          </a:xfrm>
          <a:prstGeom prst="roundRect">
            <a:avLst>
              <a:gd name="adj" fmla="val 30000"/>
            </a:avLst>
          </a:prstGeom>
          <a:solidFill>
            <a:schemeClr val="tx2"/>
          </a:solidFill>
          <a:ln/>
        </p:spPr>
        <p:txBody>
          <a:bodyPr/>
          <a:lstStyle/>
          <a:p>
            <a:endParaRPr lang="it-IT"/>
          </a:p>
        </p:txBody>
      </p:sp>
      <p:sp>
        <p:nvSpPr>
          <p:cNvPr id="7" name="Text 4"/>
          <p:cNvSpPr txBox="1"/>
          <p:nvPr/>
        </p:nvSpPr>
        <p:spPr>
          <a:xfrm>
            <a:off x="502920" y="1024128"/>
            <a:ext cx="1874520" cy="365760"/>
          </a:xfrm>
          <a:prstGeom prst="rect">
            <a:avLst/>
          </a:prstGeom>
          <a:noFill/>
          <a:ln/>
        </p:spPr>
        <p:txBody>
          <a:bodyPr wrap="square" lIns="0" tIns="0" rIns="0" bIns="0" rtlCol="0" anchor="ctr"/>
          <a:lstStyle/>
          <a:p>
            <a:pPr marL="0" indent="0" algn="ctr">
              <a:buNone/>
            </a:pPr>
            <a:r>
              <a:rPr lang="en-US" sz="1200" b="1" dirty="0">
                <a:solidFill>
                  <a:schemeClr val="bg1"/>
                </a:solidFill>
              </a:rPr>
              <a:t>Spreco</a:t>
            </a:r>
            <a:endParaRPr lang="en-US" sz="1200" dirty="0"/>
          </a:p>
        </p:txBody>
      </p:sp>
      <p:sp>
        <p:nvSpPr>
          <p:cNvPr id="8" name="blocco Causa"/>
          <p:cNvSpPr/>
          <p:nvPr/>
        </p:nvSpPr>
        <p:spPr>
          <a:xfrm>
            <a:off x="2542032" y="1024128"/>
            <a:ext cx="1965960" cy="365760"/>
          </a:xfrm>
          <a:prstGeom prst="roundRect">
            <a:avLst>
              <a:gd name="adj" fmla="val 30000"/>
            </a:avLst>
          </a:prstGeom>
          <a:solidFill>
            <a:schemeClr val="tx2"/>
          </a:solidFill>
          <a:ln/>
        </p:spPr>
        <p:txBody>
          <a:bodyPr/>
          <a:lstStyle/>
          <a:p>
            <a:endParaRPr lang="it-IT"/>
          </a:p>
        </p:txBody>
      </p:sp>
      <p:sp>
        <p:nvSpPr>
          <p:cNvPr id="9" name="Text 6"/>
          <p:cNvSpPr txBox="1"/>
          <p:nvPr/>
        </p:nvSpPr>
        <p:spPr>
          <a:xfrm>
            <a:off x="2587752" y="1024128"/>
            <a:ext cx="1874520" cy="365760"/>
          </a:xfrm>
          <a:prstGeom prst="rect">
            <a:avLst/>
          </a:prstGeom>
          <a:noFill/>
          <a:ln/>
        </p:spPr>
        <p:txBody>
          <a:bodyPr wrap="square" lIns="0" tIns="0" rIns="0" bIns="0" rtlCol="0" anchor="ctr"/>
          <a:lstStyle/>
          <a:p>
            <a:pPr marL="0" indent="0" algn="ctr">
              <a:buNone/>
            </a:pPr>
            <a:r>
              <a:rPr lang="en-US" sz="1200" b="1" dirty="0">
                <a:solidFill>
                  <a:schemeClr val="bg1"/>
                </a:solidFill>
              </a:rPr>
              <a:t>Causa</a:t>
            </a:r>
            <a:endParaRPr lang="en-US" sz="1200" dirty="0"/>
          </a:p>
        </p:txBody>
      </p:sp>
      <p:sp>
        <p:nvSpPr>
          <p:cNvPr id="10" name="blocco Soluzione"/>
          <p:cNvSpPr/>
          <p:nvPr/>
        </p:nvSpPr>
        <p:spPr>
          <a:xfrm>
            <a:off x="4626864" y="1024128"/>
            <a:ext cx="1965960" cy="365760"/>
          </a:xfrm>
          <a:prstGeom prst="roundRect">
            <a:avLst>
              <a:gd name="adj" fmla="val 30000"/>
            </a:avLst>
          </a:prstGeom>
          <a:solidFill>
            <a:schemeClr val="tx2"/>
          </a:solidFill>
          <a:ln/>
        </p:spPr>
        <p:txBody>
          <a:bodyPr/>
          <a:lstStyle/>
          <a:p>
            <a:endParaRPr lang="it-IT"/>
          </a:p>
        </p:txBody>
      </p:sp>
      <p:sp>
        <p:nvSpPr>
          <p:cNvPr id="11" name="Text 8"/>
          <p:cNvSpPr txBox="1"/>
          <p:nvPr/>
        </p:nvSpPr>
        <p:spPr>
          <a:xfrm>
            <a:off x="4672584" y="1024128"/>
            <a:ext cx="1874520" cy="365760"/>
          </a:xfrm>
          <a:prstGeom prst="rect">
            <a:avLst/>
          </a:prstGeom>
          <a:noFill/>
          <a:ln/>
        </p:spPr>
        <p:txBody>
          <a:bodyPr wrap="square" lIns="0" tIns="0" rIns="0" bIns="0" rtlCol="0" anchor="ctr"/>
          <a:lstStyle/>
          <a:p>
            <a:pPr marL="0" indent="0" algn="ctr">
              <a:buNone/>
            </a:pPr>
            <a:r>
              <a:rPr lang="en-US" sz="1200" b="1" dirty="0">
                <a:solidFill>
                  <a:schemeClr val="bg1"/>
                </a:solidFill>
              </a:rPr>
              <a:t>Soluzione</a:t>
            </a:r>
            <a:endParaRPr lang="en-US" sz="1200" dirty="0"/>
          </a:p>
        </p:txBody>
      </p:sp>
      <p:sp>
        <p:nvSpPr>
          <p:cNvPr id="12" name="blocco Ruolo dell'AI"/>
          <p:cNvSpPr/>
          <p:nvPr/>
        </p:nvSpPr>
        <p:spPr>
          <a:xfrm>
            <a:off x="6711696" y="1024128"/>
            <a:ext cx="1965960" cy="365760"/>
          </a:xfrm>
          <a:prstGeom prst="roundRect">
            <a:avLst>
              <a:gd name="adj" fmla="val 30000"/>
            </a:avLst>
          </a:prstGeom>
          <a:solidFill>
            <a:schemeClr val="accent1"/>
          </a:solidFill>
          <a:ln/>
        </p:spPr>
        <p:txBody>
          <a:bodyPr/>
          <a:lstStyle/>
          <a:p>
            <a:endParaRPr lang="it-IT"/>
          </a:p>
        </p:txBody>
      </p:sp>
      <p:sp>
        <p:nvSpPr>
          <p:cNvPr id="13" name="Text 10"/>
          <p:cNvSpPr txBox="1"/>
          <p:nvPr/>
        </p:nvSpPr>
        <p:spPr>
          <a:xfrm>
            <a:off x="6757416" y="1024128"/>
            <a:ext cx="1874520" cy="365760"/>
          </a:xfrm>
          <a:prstGeom prst="rect">
            <a:avLst/>
          </a:prstGeom>
          <a:noFill/>
          <a:ln/>
        </p:spPr>
        <p:txBody>
          <a:bodyPr wrap="square" lIns="0" tIns="0" rIns="0" bIns="0" rtlCol="0" anchor="ctr"/>
          <a:lstStyle/>
          <a:p>
            <a:pPr marL="0" indent="0" algn="ctr">
              <a:buNone/>
            </a:pPr>
            <a:r>
              <a:rPr lang="en-US" sz="1200" b="1" dirty="0">
                <a:solidFill>
                  <a:schemeClr val="bg1"/>
                </a:solidFill>
              </a:rPr>
              <a:t>Ruolo dell'AI</a:t>
            </a:r>
            <a:endParaRPr lang="en-US" sz="1200" dirty="0"/>
          </a:p>
        </p:txBody>
      </p:sp>
      <p:sp>
        <p:nvSpPr>
          <p:cNvPr id="14" name="cella"/>
          <p:cNvSpPr/>
          <p:nvPr/>
        </p:nvSpPr>
        <p:spPr>
          <a:xfrm>
            <a:off x="457200" y="1481328"/>
            <a:ext cx="1965960" cy="777240"/>
          </a:xfrm>
          <a:prstGeom prst="roundRect">
            <a:avLst>
              <a:gd name="adj" fmla="val 9412"/>
            </a:avLst>
          </a:prstGeom>
          <a:solidFill>
            <a:schemeClr val="bg2"/>
          </a:solidFill>
          <a:ln/>
        </p:spPr>
        <p:txBody>
          <a:bodyPr/>
          <a:lstStyle/>
          <a:p>
            <a:endParaRPr lang="it-IT"/>
          </a:p>
        </p:txBody>
      </p:sp>
      <p:sp>
        <p:nvSpPr>
          <p:cNvPr id="15" name="Text 12"/>
          <p:cNvSpPr txBox="1"/>
          <p:nvPr/>
        </p:nvSpPr>
        <p:spPr>
          <a:xfrm>
            <a:off x="566928" y="1481328"/>
            <a:ext cx="1755648" cy="777240"/>
          </a:xfrm>
          <a:prstGeom prst="rect">
            <a:avLst/>
          </a:prstGeom>
          <a:noFill/>
          <a:ln/>
        </p:spPr>
        <p:txBody>
          <a:bodyPr wrap="square" lIns="0" tIns="0" rIns="0" bIns="0" rtlCol="0" anchor="ctr"/>
          <a:lstStyle/>
          <a:p>
            <a:pPr marL="0" indent="0">
              <a:buNone/>
            </a:pPr>
            <a:r>
              <a:rPr lang="en-US" sz="1150" b="1" dirty="0">
                <a:solidFill>
                  <a:schemeClr val="tx1"/>
                </a:solidFill>
              </a:rPr>
              <a:t>Cercare soluzioni già trovate</a:t>
            </a:r>
            <a:endParaRPr lang="en-US" sz="1150" dirty="0"/>
          </a:p>
        </p:txBody>
      </p:sp>
      <p:sp>
        <p:nvSpPr>
          <p:cNvPr id="16" name="cella"/>
          <p:cNvSpPr/>
          <p:nvPr/>
        </p:nvSpPr>
        <p:spPr>
          <a:xfrm>
            <a:off x="2542032" y="1481328"/>
            <a:ext cx="1965960" cy="777240"/>
          </a:xfrm>
          <a:prstGeom prst="roundRect">
            <a:avLst>
              <a:gd name="adj" fmla="val 9412"/>
            </a:avLst>
          </a:prstGeom>
          <a:solidFill>
            <a:schemeClr val="bg2"/>
          </a:solidFill>
          <a:ln/>
        </p:spPr>
        <p:txBody>
          <a:bodyPr/>
          <a:lstStyle/>
          <a:p>
            <a:endParaRPr lang="it-IT"/>
          </a:p>
        </p:txBody>
      </p:sp>
      <p:sp>
        <p:nvSpPr>
          <p:cNvPr id="17" name="Text 14"/>
          <p:cNvSpPr txBox="1"/>
          <p:nvPr/>
        </p:nvSpPr>
        <p:spPr>
          <a:xfrm>
            <a:off x="2651760" y="1481328"/>
            <a:ext cx="1755648" cy="777240"/>
          </a:xfrm>
          <a:prstGeom prst="rect">
            <a:avLst/>
          </a:prstGeom>
          <a:noFill/>
          <a:ln/>
        </p:spPr>
        <p:txBody>
          <a:bodyPr wrap="square" lIns="0" tIns="0" rIns="0" bIns="0" rtlCol="0" anchor="ctr"/>
          <a:lstStyle/>
          <a:p>
            <a:pPr marL="0" indent="0">
              <a:buNone/>
            </a:pPr>
            <a:r>
              <a:rPr lang="en-US" sz="1150" dirty="0">
                <a:solidFill>
                  <a:schemeClr val="tx1"/>
                </a:solidFill>
              </a:rPr>
              <a:t>Conoscenza sparsa tra commesse, email, persone</a:t>
            </a:r>
            <a:endParaRPr lang="en-US" sz="1150" dirty="0"/>
          </a:p>
        </p:txBody>
      </p:sp>
      <p:sp>
        <p:nvSpPr>
          <p:cNvPr id="18" name="cella"/>
          <p:cNvSpPr/>
          <p:nvPr/>
        </p:nvSpPr>
        <p:spPr>
          <a:xfrm>
            <a:off x="4626864" y="1481328"/>
            <a:ext cx="1965960" cy="777240"/>
          </a:xfrm>
          <a:prstGeom prst="roundRect">
            <a:avLst>
              <a:gd name="adj" fmla="val 9412"/>
            </a:avLst>
          </a:prstGeom>
          <a:solidFill>
            <a:schemeClr val="bg2"/>
          </a:solidFill>
          <a:ln/>
        </p:spPr>
        <p:txBody>
          <a:bodyPr/>
          <a:lstStyle/>
          <a:p>
            <a:endParaRPr lang="it-IT"/>
          </a:p>
        </p:txBody>
      </p:sp>
      <p:sp>
        <p:nvSpPr>
          <p:cNvPr id="19" name="Text 16"/>
          <p:cNvSpPr txBox="1"/>
          <p:nvPr/>
        </p:nvSpPr>
        <p:spPr>
          <a:xfrm>
            <a:off x="4736592" y="1481328"/>
            <a:ext cx="1755648" cy="777240"/>
          </a:xfrm>
          <a:prstGeom prst="rect">
            <a:avLst/>
          </a:prstGeom>
          <a:noFill/>
          <a:ln/>
        </p:spPr>
        <p:txBody>
          <a:bodyPr wrap="square" lIns="0" tIns="0" rIns="0" bIns="0" rtlCol="0" anchor="ctr"/>
          <a:lstStyle/>
          <a:p>
            <a:pPr marL="0" indent="0">
              <a:buNone/>
            </a:pPr>
            <a:r>
              <a:rPr lang="en-US" sz="1150" dirty="0">
                <a:solidFill>
                  <a:schemeClr val="tx1"/>
                </a:solidFill>
              </a:rPr>
              <a:t>Archivio ordinato + assistente che cita i documenti</a:t>
            </a:r>
            <a:endParaRPr lang="en-US" sz="1150" dirty="0"/>
          </a:p>
        </p:txBody>
      </p:sp>
      <p:sp>
        <p:nvSpPr>
          <p:cNvPr id="20" name="cella"/>
          <p:cNvSpPr/>
          <p:nvPr/>
        </p:nvSpPr>
        <p:spPr>
          <a:xfrm>
            <a:off x="6711696" y="1481328"/>
            <a:ext cx="1965960" cy="777240"/>
          </a:xfrm>
          <a:prstGeom prst="roundRect">
            <a:avLst>
              <a:gd name="adj" fmla="val 9412"/>
            </a:avLst>
          </a:prstGeom>
          <a:solidFill>
            <a:schemeClr val="accent6"/>
          </a:solidFill>
          <a:ln/>
        </p:spPr>
        <p:txBody>
          <a:bodyPr/>
          <a:lstStyle/>
          <a:p>
            <a:endParaRPr lang="it-IT"/>
          </a:p>
        </p:txBody>
      </p:sp>
      <p:sp>
        <p:nvSpPr>
          <p:cNvPr id="21" name="Text 18"/>
          <p:cNvSpPr txBox="1"/>
          <p:nvPr/>
        </p:nvSpPr>
        <p:spPr>
          <a:xfrm>
            <a:off x="6821424" y="1481328"/>
            <a:ext cx="1755648" cy="777240"/>
          </a:xfrm>
          <a:prstGeom prst="rect">
            <a:avLst/>
          </a:prstGeom>
          <a:noFill/>
          <a:ln/>
        </p:spPr>
        <p:txBody>
          <a:bodyPr wrap="square" lIns="0" tIns="0" rIns="0" bIns="0" rtlCol="0" anchor="ctr"/>
          <a:lstStyle/>
          <a:p>
            <a:pPr marL="0" indent="0">
              <a:buNone/>
            </a:pPr>
            <a:r>
              <a:rPr lang="en-US" sz="1150" dirty="0">
                <a:solidFill>
                  <a:schemeClr val="tx1"/>
                </a:solidFill>
              </a:rPr>
              <a:t>AI sì, dopo aver messo ordine</a:t>
            </a:r>
            <a:endParaRPr lang="en-US" sz="1150" dirty="0"/>
          </a:p>
        </p:txBody>
      </p:sp>
      <p:sp>
        <p:nvSpPr>
          <p:cNvPr id="22" name="cella"/>
          <p:cNvSpPr/>
          <p:nvPr/>
        </p:nvSpPr>
        <p:spPr>
          <a:xfrm>
            <a:off x="457200" y="2350008"/>
            <a:ext cx="1965960" cy="777240"/>
          </a:xfrm>
          <a:prstGeom prst="roundRect">
            <a:avLst>
              <a:gd name="adj" fmla="val 9412"/>
            </a:avLst>
          </a:prstGeom>
          <a:solidFill>
            <a:schemeClr val="bg2"/>
          </a:solidFill>
          <a:ln/>
        </p:spPr>
        <p:txBody>
          <a:bodyPr/>
          <a:lstStyle/>
          <a:p>
            <a:endParaRPr lang="it-IT"/>
          </a:p>
        </p:txBody>
      </p:sp>
      <p:sp>
        <p:nvSpPr>
          <p:cNvPr id="23" name="Text 20"/>
          <p:cNvSpPr txBox="1"/>
          <p:nvPr/>
        </p:nvSpPr>
        <p:spPr>
          <a:xfrm>
            <a:off x="566928" y="2350008"/>
            <a:ext cx="1755648" cy="777240"/>
          </a:xfrm>
          <a:prstGeom prst="rect">
            <a:avLst/>
          </a:prstGeom>
          <a:noFill/>
          <a:ln/>
        </p:spPr>
        <p:txBody>
          <a:bodyPr wrap="square" lIns="0" tIns="0" rIns="0" bIns="0" rtlCol="0" anchor="ctr"/>
          <a:lstStyle/>
          <a:p>
            <a:pPr marL="0" indent="0">
              <a:buNone/>
            </a:pPr>
            <a:r>
              <a:rPr lang="en-US" sz="1150" b="1" dirty="0">
                <a:solidFill>
                  <a:schemeClr val="tx1"/>
                </a:solidFill>
              </a:rPr>
              <a:t>Ricopiare tra sistemi</a:t>
            </a:r>
            <a:endParaRPr lang="en-US" sz="1150" dirty="0"/>
          </a:p>
        </p:txBody>
      </p:sp>
      <p:sp>
        <p:nvSpPr>
          <p:cNvPr id="24" name="cella"/>
          <p:cNvSpPr/>
          <p:nvPr/>
        </p:nvSpPr>
        <p:spPr>
          <a:xfrm>
            <a:off x="2542032" y="2350008"/>
            <a:ext cx="1965960" cy="777240"/>
          </a:xfrm>
          <a:prstGeom prst="roundRect">
            <a:avLst>
              <a:gd name="adj" fmla="val 9412"/>
            </a:avLst>
          </a:prstGeom>
          <a:solidFill>
            <a:schemeClr val="bg2"/>
          </a:solidFill>
          <a:ln/>
        </p:spPr>
        <p:txBody>
          <a:bodyPr/>
          <a:lstStyle/>
          <a:p>
            <a:endParaRPr lang="it-IT"/>
          </a:p>
        </p:txBody>
      </p:sp>
      <p:sp>
        <p:nvSpPr>
          <p:cNvPr id="25" name="Text 22"/>
          <p:cNvSpPr txBox="1"/>
          <p:nvPr/>
        </p:nvSpPr>
        <p:spPr>
          <a:xfrm>
            <a:off x="2651760" y="2350008"/>
            <a:ext cx="1755648" cy="777240"/>
          </a:xfrm>
          <a:prstGeom prst="rect">
            <a:avLst/>
          </a:prstGeom>
          <a:noFill/>
          <a:ln/>
        </p:spPr>
        <p:txBody>
          <a:bodyPr wrap="square" lIns="0" tIns="0" rIns="0" bIns="0" rtlCol="0" anchor="ctr"/>
          <a:lstStyle/>
          <a:p>
            <a:pPr marL="0" indent="0">
              <a:buNone/>
            </a:pPr>
            <a:r>
              <a:rPr lang="en-US" sz="1150" dirty="0">
                <a:solidFill>
                  <a:schemeClr val="tx1"/>
                </a:solidFill>
              </a:rPr>
              <a:t>I sistemi non si parlano</a:t>
            </a:r>
            <a:endParaRPr lang="en-US" sz="1150" dirty="0"/>
          </a:p>
        </p:txBody>
      </p:sp>
      <p:sp>
        <p:nvSpPr>
          <p:cNvPr id="26" name="cella"/>
          <p:cNvSpPr/>
          <p:nvPr/>
        </p:nvSpPr>
        <p:spPr>
          <a:xfrm>
            <a:off x="4626864" y="2350008"/>
            <a:ext cx="1965960" cy="777240"/>
          </a:xfrm>
          <a:prstGeom prst="roundRect">
            <a:avLst>
              <a:gd name="adj" fmla="val 9412"/>
            </a:avLst>
          </a:prstGeom>
          <a:solidFill>
            <a:schemeClr val="bg2"/>
          </a:solidFill>
          <a:ln/>
        </p:spPr>
        <p:txBody>
          <a:bodyPr/>
          <a:lstStyle/>
          <a:p>
            <a:endParaRPr lang="it-IT"/>
          </a:p>
        </p:txBody>
      </p:sp>
      <p:sp>
        <p:nvSpPr>
          <p:cNvPr id="27" name="Text 24"/>
          <p:cNvSpPr txBox="1"/>
          <p:nvPr/>
        </p:nvSpPr>
        <p:spPr>
          <a:xfrm>
            <a:off x="4736592" y="2350008"/>
            <a:ext cx="1755648" cy="777240"/>
          </a:xfrm>
          <a:prstGeom prst="rect">
            <a:avLst/>
          </a:prstGeom>
          <a:noFill/>
          <a:ln/>
        </p:spPr>
        <p:txBody>
          <a:bodyPr wrap="square" lIns="0" tIns="0" rIns="0" bIns="0" rtlCol="0" anchor="ctr"/>
          <a:lstStyle/>
          <a:p>
            <a:pPr marL="0" indent="0">
              <a:buNone/>
            </a:pPr>
            <a:r>
              <a:rPr lang="en-US" sz="1150" dirty="0">
                <a:solidFill>
                  <a:schemeClr val="tx1"/>
                </a:solidFill>
              </a:rPr>
              <a:t>Modulo strutturato o integrazione</a:t>
            </a:r>
            <a:endParaRPr lang="en-US" sz="1150" dirty="0"/>
          </a:p>
        </p:txBody>
      </p:sp>
      <p:sp>
        <p:nvSpPr>
          <p:cNvPr id="28" name="cella"/>
          <p:cNvSpPr/>
          <p:nvPr/>
        </p:nvSpPr>
        <p:spPr>
          <a:xfrm>
            <a:off x="6711696" y="2350008"/>
            <a:ext cx="1965960" cy="777240"/>
          </a:xfrm>
          <a:prstGeom prst="roundRect">
            <a:avLst>
              <a:gd name="adj" fmla="val 9412"/>
            </a:avLst>
          </a:prstGeom>
          <a:solidFill>
            <a:schemeClr val="accent6"/>
          </a:solidFill>
          <a:ln/>
        </p:spPr>
        <p:txBody>
          <a:bodyPr/>
          <a:lstStyle/>
          <a:p>
            <a:endParaRPr lang="it-IT"/>
          </a:p>
        </p:txBody>
      </p:sp>
      <p:sp>
        <p:nvSpPr>
          <p:cNvPr id="29" name="Text 26"/>
          <p:cNvSpPr txBox="1"/>
          <p:nvPr/>
        </p:nvSpPr>
        <p:spPr>
          <a:xfrm>
            <a:off x="6821424" y="2350008"/>
            <a:ext cx="1755648" cy="777240"/>
          </a:xfrm>
          <a:prstGeom prst="rect">
            <a:avLst/>
          </a:prstGeom>
          <a:noFill/>
          <a:ln/>
        </p:spPr>
        <p:txBody>
          <a:bodyPr wrap="square" lIns="0" tIns="0" rIns="0" bIns="0" rtlCol="0" anchor="ctr"/>
          <a:lstStyle/>
          <a:p>
            <a:pPr marL="0" indent="0">
              <a:buNone/>
            </a:pPr>
            <a:r>
              <a:rPr lang="en-US" sz="1150" dirty="0">
                <a:solidFill>
                  <a:schemeClr val="tx1"/>
                </a:solidFill>
              </a:rPr>
              <a:t>Spesso senza AI</a:t>
            </a:r>
            <a:endParaRPr lang="en-US" sz="1150" dirty="0"/>
          </a:p>
        </p:txBody>
      </p:sp>
      <p:sp>
        <p:nvSpPr>
          <p:cNvPr id="30" name="cella"/>
          <p:cNvSpPr/>
          <p:nvPr/>
        </p:nvSpPr>
        <p:spPr>
          <a:xfrm>
            <a:off x="457200" y="3218688"/>
            <a:ext cx="1965960" cy="777240"/>
          </a:xfrm>
          <a:prstGeom prst="roundRect">
            <a:avLst>
              <a:gd name="adj" fmla="val 9412"/>
            </a:avLst>
          </a:prstGeom>
          <a:solidFill>
            <a:schemeClr val="bg2"/>
          </a:solidFill>
          <a:ln/>
        </p:spPr>
        <p:txBody>
          <a:bodyPr/>
          <a:lstStyle/>
          <a:p>
            <a:endParaRPr lang="it-IT"/>
          </a:p>
        </p:txBody>
      </p:sp>
      <p:sp>
        <p:nvSpPr>
          <p:cNvPr id="31" name="Text 28"/>
          <p:cNvSpPr txBox="1"/>
          <p:nvPr/>
        </p:nvSpPr>
        <p:spPr>
          <a:xfrm>
            <a:off x="566928" y="3218688"/>
            <a:ext cx="1755648" cy="777240"/>
          </a:xfrm>
          <a:prstGeom prst="rect">
            <a:avLst/>
          </a:prstGeom>
          <a:noFill/>
          <a:ln/>
        </p:spPr>
        <p:txBody>
          <a:bodyPr wrap="square" lIns="0" tIns="0" rIns="0" bIns="0" rtlCol="0" anchor="ctr"/>
          <a:lstStyle/>
          <a:p>
            <a:pPr marL="0" indent="0">
              <a:buNone/>
            </a:pPr>
            <a:r>
              <a:rPr lang="en-US" sz="1150" b="1" dirty="0">
                <a:solidFill>
                  <a:schemeClr val="tx1"/>
                </a:solidFill>
              </a:rPr>
              <a:t>Rifare offerte</a:t>
            </a:r>
            <a:endParaRPr lang="en-US" sz="1150" dirty="0"/>
          </a:p>
        </p:txBody>
      </p:sp>
      <p:sp>
        <p:nvSpPr>
          <p:cNvPr id="32" name="cella"/>
          <p:cNvSpPr/>
          <p:nvPr/>
        </p:nvSpPr>
        <p:spPr>
          <a:xfrm>
            <a:off x="2542032" y="3218688"/>
            <a:ext cx="1965960" cy="777240"/>
          </a:xfrm>
          <a:prstGeom prst="roundRect">
            <a:avLst>
              <a:gd name="adj" fmla="val 9412"/>
            </a:avLst>
          </a:prstGeom>
          <a:solidFill>
            <a:schemeClr val="bg2"/>
          </a:solidFill>
          <a:ln/>
        </p:spPr>
        <p:txBody>
          <a:bodyPr/>
          <a:lstStyle/>
          <a:p>
            <a:endParaRPr lang="it-IT"/>
          </a:p>
        </p:txBody>
      </p:sp>
      <p:sp>
        <p:nvSpPr>
          <p:cNvPr id="33" name="Text 30"/>
          <p:cNvSpPr txBox="1"/>
          <p:nvPr/>
        </p:nvSpPr>
        <p:spPr>
          <a:xfrm>
            <a:off x="2651760" y="3218688"/>
            <a:ext cx="1755648" cy="777240"/>
          </a:xfrm>
          <a:prstGeom prst="rect">
            <a:avLst/>
          </a:prstGeom>
          <a:noFill/>
          <a:ln/>
        </p:spPr>
        <p:txBody>
          <a:bodyPr wrap="square" lIns="0" tIns="0" rIns="0" bIns="0" rtlCol="0" anchor="ctr"/>
          <a:lstStyle/>
          <a:p>
            <a:pPr marL="0" indent="0">
              <a:buNone/>
            </a:pPr>
            <a:r>
              <a:rPr lang="en-US" sz="1150" dirty="0">
                <a:solidFill>
                  <a:schemeClr val="tx1"/>
                </a:solidFill>
              </a:rPr>
              <a:t>Capitolati lunghi e diversi</a:t>
            </a:r>
            <a:endParaRPr lang="en-US" sz="1150" dirty="0"/>
          </a:p>
        </p:txBody>
      </p:sp>
      <p:sp>
        <p:nvSpPr>
          <p:cNvPr id="34" name="cella"/>
          <p:cNvSpPr/>
          <p:nvPr/>
        </p:nvSpPr>
        <p:spPr>
          <a:xfrm>
            <a:off x="4626864" y="3218688"/>
            <a:ext cx="1965960" cy="777240"/>
          </a:xfrm>
          <a:prstGeom prst="roundRect">
            <a:avLst>
              <a:gd name="adj" fmla="val 9412"/>
            </a:avLst>
          </a:prstGeom>
          <a:solidFill>
            <a:schemeClr val="bg2"/>
          </a:solidFill>
          <a:ln/>
        </p:spPr>
        <p:txBody>
          <a:bodyPr/>
          <a:lstStyle/>
          <a:p>
            <a:endParaRPr lang="it-IT"/>
          </a:p>
        </p:txBody>
      </p:sp>
      <p:sp>
        <p:nvSpPr>
          <p:cNvPr id="35" name="Text 32"/>
          <p:cNvSpPr txBox="1"/>
          <p:nvPr/>
        </p:nvSpPr>
        <p:spPr>
          <a:xfrm>
            <a:off x="4736592" y="3218688"/>
            <a:ext cx="1755648" cy="777240"/>
          </a:xfrm>
          <a:prstGeom prst="rect">
            <a:avLst/>
          </a:prstGeom>
          <a:noFill/>
          <a:ln/>
        </p:spPr>
        <p:txBody>
          <a:bodyPr wrap="square" lIns="0" tIns="0" rIns="0" bIns="0" rtlCol="0" anchor="ctr"/>
          <a:lstStyle/>
          <a:p>
            <a:pPr marL="0" indent="0">
              <a:buNone/>
            </a:pPr>
            <a:r>
              <a:rPr lang="en-US" sz="1150" dirty="0">
                <a:solidFill>
                  <a:schemeClr val="tx1"/>
                </a:solidFill>
              </a:rPr>
              <a:t>Scheda requisiti + AI che estrae e segnala le lacune</a:t>
            </a:r>
            <a:endParaRPr lang="en-US" sz="1150" dirty="0"/>
          </a:p>
        </p:txBody>
      </p:sp>
      <p:sp>
        <p:nvSpPr>
          <p:cNvPr id="36" name="cella"/>
          <p:cNvSpPr/>
          <p:nvPr/>
        </p:nvSpPr>
        <p:spPr>
          <a:xfrm>
            <a:off x="6711696" y="3218688"/>
            <a:ext cx="1965960" cy="777240"/>
          </a:xfrm>
          <a:prstGeom prst="roundRect">
            <a:avLst>
              <a:gd name="adj" fmla="val 9412"/>
            </a:avLst>
          </a:prstGeom>
          <a:solidFill>
            <a:schemeClr val="accent6"/>
          </a:solidFill>
          <a:ln/>
        </p:spPr>
        <p:txBody>
          <a:bodyPr/>
          <a:lstStyle/>
          <a:p>
            <a:endParaRPr lang="it-IT"/>
          </a:p>
        </p:txBody>
      </p:sp>
      <p:sp>
        <p:nvSpPr>
          <p:cNvPr id="37" name="Text 34"/>
          <p:cNvSpPr txBox="1"/>
          <p:nvPr/>
        </p:nvSpPr>
        <p:spPr>
          <a:xfrm>
            <a:off x="6821424" y="3218688"/>
            <a:ext cx="1755648" cy="777240"/>
          </a:xfrm>
          <a:prstGeom prst="rect">
            <a:avLst/>
          </a:prstGeom>
          <a:noFill/>
          <a:ln/>
        </p:spPr>
        <p:txBody>
          <a:bodyPr wrap="square" lIns="0" tIns="0" rIns="0" bIns="0" rtlCol="0" anchor="ctr"/>
          <a:lstStyle/>
          <a:p>
            <a:pPr marL="0" indent="0">
              <a:buNone/>
            </a:pPr>
            <a:r>
              <a:rPr lang="en-US" sz="1150" dirty="0">
                <a:solidFill>
                  <a:schemeClr val="tx1"/>
                </a:solidFill>
              </a:rPr>
              <a:t>AI sì, la decisione resta al commerciale</a:t>
            </a:r>
            <a:endParaRPr lang="en-US" sz="1150" dirty="0"/>
          </a:p>
        </p:txBody>
      </p:sp>
      <p:sp>
        <p:nvSpPr>
          <p:cNvPr id="38" name="messaggio"/>
          <p:cNvSpPr/>
          <p:nvPr/>
        </p:nvSpPr>
        <p:spPr>
          <a:xfrm>
            <a:off x="457200" y="4114800"/>
            <a:ext cx="8229600" cy="411480"/>
          </a:xfrm>
          <a:prstGeom prst="roundRect">
            <a:avLst>
              <a:gd name="adj" fmla="val 17778"/>
            </a:avLst>
          </a:prstGeom>
          <a:solidFill>
            <a:schemeClr val="tx1"/>
          </a:solidFill>
          <a:ln/>
        </p:spPr>
        <p:txBody>
          <a:bodyPr/>
          <a:lstStyle/>
          <a:p>
            <a:endParaRPr lang="it-IT"/>
          </a:p>
        </p:txBody>
      </p:sp>
      <p:sp>
        <p:nvSpPr>
          <p:cNvPr id="39" name="Text 36"/>
          <p:cNvSpPr txBox="1"/>
          <p:nvPr/>
        </p:nvSpPr>
        <p:spPr>
          <a:xfrm>
            <a:off x="640080" y="4114800"/>
            <a:ext cx="7863840" cy="411480"/>
          </a:xfrm>
          <a:prstGeom prst="rect">
            <a:avLst/>
          </a:prstGeom>
          <a:noFill/>
          <a:ln/>
        </p:spPr>
        <p:txBody>
          <a:bodyPr wrap="square" lIns="0" tIns="0" rIns="0" bIns="0" rtlCol="0" anchor="ctr"/>
          <a:lstStyle/>
          <a:p>
            <a:pPr marL="0" indent="0">
              <a:buNone/>
            </a:pPr>
            <a:r>
              <a:rPr lang="en-US" sz="1300" dirty="0">
                <a:solidFill>
                  <a:schemeClr val="bg1"/>
                </a:solidFill>
              </a:rPr>
              <a:t>Prima il problema, poi lo strumento.</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E94AF-89C8-9E3C-256D-D26E6E2EE90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F8C2FA3-587A-30F4-E288-B6186F11EA30}"/>
              </a:ext>
            </a:extLst>
          </p:cNvPr>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AI ADOPTION  ·  LASER SRL  ·  SESSIONE 1 DI 3</a:t>
            </a:r>
            <a:endParaRPr lang="en-US" sz="1300" dirty="0"/>
          </a:p>
        </p:txBody>
      </p:sp>
      <p:sp>
        <p:nvSpPr>
          <p:cNvPr id="3" name="Text 0">
            <a:extLst>
              <a:ext uri="{FF2B5EF4-FFF2-40B4-BE49-F238E27FC236}">
                <a16:creationId xmlns:a16="http://schemas.microsoft.com/office/drawing/2014/main" id="{8456E560-D639-8863-55D4-0B102EFD8B83}"/>
              </a:ext>
            </a:extLst>
          </p:cNvPr>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a:solidFill>
                  <a:schemeClr val="bg1"/>
                </a:solidFill>
              </a:rPr>
              <a:t>Brainstorming </a:t>
            </a:r>
            <a:r>
              <a:rPr lang="en-US" sz="3600" b="1" dirty="0" err="1">
                <a:solidFill>
                  <a:schemeClr val="bg1"/>
                </a:solidFill>
              </a:rPr>
              <a:t>Guidato</a:t>
            </a:r>
            <a:endParaRPr lang="en-US" sz="3600" dirty="0"/>
          </a:p>
        </p:txBody>
      </p:sp>
      <p:sp>
        <p:nvSpPr>
          <p:cNvPr id="4" name="Text 0">
            <a:extLst>
              <a:ext uri="{FF2B5EF4-FFF2-40B4-BE49-F238E27FC236}">
                <a16:creationId xmlns:a16="http://schemas.microsoft.com/office/drawing/2014/main" id="{7E10C743-2E11-0D16-D17D-16F6237DD8F0}"/>
              </a:ext>
            </a:extLst>
          </p:cNvPr>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dirty="0"/>
              <a:t>Brainstorming– </a:t>
            </a:r>
            <a:r>
              <a:rPr lang="en-US" dirty="0" err="1"/>
              <a:t>Giornata</a:t>
            </a:r>
            <a:r>
              <a:rPr lang="en-US" dirty="0"/>
              <a:t> 1</a:t>
            </a:r>
            <a:endParaRPr lang="en-US" sz="1600" dirty="0"/>
          </a:p>
        </p:txBody>
      </p:sp>
    </p:spTree>
    <p:extLst>
      <p:ext uri="{BB962C8B-B14F-4D97-AF65-F5344CB8AC3E}">
        <p14:creationId xmlns:p14="http://schemas.microsoft.com/office/powerpoint/2010/main" val="42446039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Da provare prima della prossima sessione</a:t>
            </a:r>
            <a:endParaRPr lang="en-US" sz="2600" dirty="0"/>
          </a:p>
        </p:txBody>
      </p:sp>
      <p:sp>
        <p:nvSpPr>
          <p:cNvPr id="6" name="passo Scegliete"/>
          <p:cNvSpPr/>
          <p:nvPr/>
        </p:nvSpPr>
        <p:spPr>
          <a:xfrm>
            <a:off x="457200" y="1097280"/>
            <a:ext cx="1965960" cy="1920240"/>
          </a:xfrm>
          <a:prstGeom prst="roundRect">
            <a:avLst>
              <a:gd name="adj" fmla="val 3810"/>
            </a:avLst>
          </a:prstGeom>
          <a:solidFill>
            <a:schemeClr val="bg2"/>
          </a:solidFill>
          <a:ln/>
        </p:spPr>
        <p:txBody>
          <a:bodyPr/>
          <a:lstStyle/>
          <a:p>
            <a:endParaRPr lang="it-IT"/>
          </a:p>
        </p:txBody>
      </p:sp>
      <p:sp>
        <p:nvSpPr>
          <p:cNvPr id="7" name="cerchio FiTarget"/>
          <p:cNvSpPr/>
          <p:nvPr/>
        </p:nvSpPr>
        <p:spPr>
          <a:xfrm>
            <a:off x="640080" y="1234440"/>
            <a:ext cx="502920" cy="502920"/>
          </a:xfrm>
          <a:prstGeom prst="ellipse">
            <a:avLst/>
          </a:prstGeom>
          <a:solidFill>
            <a:schemeClr val="accent1"/>
          </a:solidFill>
          <a:ln/>
        </p:spPr>
        <p:txBody>
          <a:bodyPr/>
          <a:lstStyle/>
          <a:p>
            <a:endParaRPr lang="it-IT"/>
          </a:p>
        </p:txBody>
      </p:sp>
      <p:pic>
        <p:nvPicPr>
          <p:cNvPr id="8" name="Image 0" descr="FiTarget"/>
          <p:cNvPicPr>
            <a:picLocks noChangeAspect="1"/>
          </p:cNvPicPr>
          <p:nvPr/>
        </p:nvPicPr>
        <p:blipFill>
          <a:blip r:embed="rId3"/>
          <a:stretch>
            <a:fillRect/>
          </a:stretch>
        </p:blipFill>
        <p:spPr>
          <a:xfrm>
            <a:off x="765810" y="1360170"/>
            <a:ext cx="251460" cy="251460"/>
          </a:xfrm>
          <a:prstGeom prst="rect">
            <a:avLst/>
          </a:prstGeom>
        </p:spPr>
      </p:pic>
      <p:sp>
        <p:nvSpPr>
          <p:cNvPr id="9" name="Text 5"/>
          <p:cNvSpPr txBox="1"/>
          <p:nvPr/>
        </p:nvSpPr>
        <p:spPr>
          <a:xfrm>
            <a:off x="640080" y="1847088"/>
            <a:ext cx="1645920" cy="320040"/>
          </a:xfrm>
          <a:prstGeom prst="rect">
            <a:avLst/>
          </a:prstGeom>
          <a:noFill/>
          <a:ln/>
        </p:spPr>
        <p:txBody>
          <a:bodyPr wrap="square" lIns="0" tIns="0" rIns="0" bIns="0" rtlCol="0" anchor="t"/>
          <a:lstStyle/>
          <a:p>
            <a:pPr marL="0" indent="0">
              <a:buNone/>
            </a:pPr>
            <a:r>
              <a:rPr lang="en-US" sz="1500" b="1" dirty="0">
                <a:solidFill>
                  <a:schemeClr val="tx1"/>
                </a:solidFill>
              </a:rPr>
              <a:t>Scegliete</a:t>
            </a:r>
            <a:endParaRPr lang="en-US" sz="1500" dirty="0"/>
          </a:p>
        </p:txBody>
      </p:sp>
      <p:sp>
        <p:nvSpPr>
          <p:cNvPr id="10" name="Text 6"/>
          <p:cNvSpPr txBox="1"/>
          <p:nvPr/>
        </p:nvSpPr>
        <p:spPr>
          <a:xfrm>
            <a:off x="640080" y="2194560"/>
            <a:ext cx="1645920" cy="731520"/>
          </a:xfrm>
          <a:prstGeom prst="rect">
            <a:avLst/>
          </a:prstGeom>
          <a:noFill/>
          <a:ln/>
        </p:spPr>
        <p:txBody>
          <a:bodyPr wrap="square" lIns="0" tIns="0" rIns="0" bIns="0" rtlCol="0" anchor="t"/>
          <a:lstStyle/>
          <a:p>
            <a:pPr marL="0" indent="0">
              <a:buNone/>
            </a:pPr>
            <a:r>
              <a:rPr lang="en-US" sz="1250" dirty="0">
                <a:solidFill>
                  <a:schemeClr val="tx2"/>
                </a:solidFill>
              </a:rPr>
              <a:t>Un'attività reale e non riservata</a:t>
            </a:r>
            <a:endParaRPr lang="en-US" sz="1250" dirty="0"/>
          </a:p>
        </p:txBody>
      </p:sp>
      <p:sp>
        <p:nvSpPr>
          <p:cNvPr id="11" name="passo Provate"/>
          <p:cNvSpPr/>
          <p:nvPr/>
        </p:nvSpPr>
        <p:spPr>
          <a:xfrm>
            <a:off x="2542032" y="1097280"/>
            <a:ext cx="1965960" cy="1920240"/>
          </a:xfrm>
          <a:prstGeom prst="roundRect">
            <a:avLst>
              <a:gd name="adj" fmla="val 3810"/>
            </a:avLst>
          </a:prstGeom>
          <a:solidFill>
            <a:schemeClr val="bg2"/>
          </a:solidFill>
          <a:ln/>
        </p:spPr>
        <p:txBody>
          <a:bodyPr/>
          <a:lstStyle/>
          <a:p>
            <a:endParaRPr lang="it-IT"/>
          </a:p>
        </p:txBody>
      </p:sp>
      <p:sp>
        <p:nvSpPr>
          <p:cNvPr id="12" name="cerchio FiPlay"/>
          <p:cNvSpPr/>
          <p:nvPr/>
        </p:nvSpPr>
        <p:spPr>
          <a:xfrm>
            <a:off x="2724912" y="1234440"/>
            <a:ext cx="502920" cy="502920"/>
          </a:xfrm>
          <a:prstGeom prst="ellipse">
            <a:avLst/>
          </a:prstGeom>
          <a:solidFill>
            <a:schemeClr val="accent1"/>
          </a:solidFill>
          <a:ln/>
        </p:spPr>
        <p:txBody>
          <a:bodyPr/>
          <a:lstStyle/>
          <a:p>
            <a:endParaRPr lang="it-IT"/>
          </a:p>
        </p:txBody>
      </p:sp>
      <p:pic>
        <p:nvPicPr>
          <p:cNvPr id="13" name="Image 1" descr="FiPlay"/>
          <p:cNvPicPr>
            <a:picLocks noChangeAspect="1"/>
          </p:cNvPicPr>
          <p:nvPr/>
        </p:nvPicPr>
        <p:blipFill>
          <a:blip r:embed="rId4"/>
          <a:stretch>
            <a:fillRect/>
          </a:stretch>
        </p:blipFill>
        <p:spPr>
          <a:xfrm>
            <a:off x="2850642" y="1360170"/>
            <a:ext cx="251460" cy="251460"/>
          </a:xfrm>
          <a:prstGeom prst="rect">
            <a:avLst/>
          </a:prstGeom>
        </p:spPr>
      </p:pic>
      <p:sp>
        <p:nvSpPr>
          <p:cNvPr id="14" name="Text 9"/>
          <p:cNvSpPr txBox="1"/>
          <p:nvPr/>
        </p:nvSpPr>
        <p:spPr>
          <a:xfrm>
            <a:off x="2724912" y="1847088"/>
            <a:ext cx="1645920" cy="320040"/>
          </a:xfrm>
          <a:prstGeom prst="rect">
            <a:avLst/>
          </a:prstGeom>
          <a:noFill/>
          <a:ln/>
        </p:spPr>
        <p:txBody>
          <a:bodyPr wrap="square" lIns="0" tIns="0" rIns="0" bIns="0" rtlCol="0" anchor="t"/>
          <a:lstStyle/>
          <a:p>
            <a:pPr marL="0" indent="0">
              <a:buNone/>
            </a:pPr>
            <a:r>
              <a:rPr lang="en-US" sz="1500" b="1" dirty="0">
                <a:solidFill>
                  <a:schemeClr val="tx1"/>
                </a:solidFill>
              </a:rPr>
              <a:t>Provate</a:t>
            </a:r>
            <a:endParaRPr lang="en-US" sz="1500" dirty="0"/>
          </a:p>
        </p:txBody>
      </p:sp>
      <p:sp>
        <p:nvSpPr>
          <p:cNvPr id="15" name="Text 10"/>
          <p:cNvSpPr txBox="1"/>
          <p:nvPr/>
        </p:nvSpPr>
        <p:spPr>
          <a:xfrm>
            <a:off x="2724912" y="2194560"/>
            <a:ext cx="1645920" cy="731520"/>
          </a:xfrm>
          <a:prstGeom prst="rect">
            <a:avLst/>
          </a:prstGeom>
          <a:noFill/>
          <a:ln/>
        </p:spPr>
        <p:txBody>
          <a:bodyPr wrap="square" lIns="0" tIns="0" rIns="0" bIns="0" rtlCol="0" anchor="t"/>
          <a:lstStyle/>
          <a:p>
            <a:pPr marL="0" indent="0">
              <a:buNone/>
            </a:pPr>
            <a:r>
              <a:rPr lang="en-US" sz="1250" dirty="0">
                <a:solidFill>
                  <a:schemeClr val="tx2"/>
                </a:solidFill>
              </a:rPr>
              <a:t>Con Copilot, lo strumento autorizzato</a:t>
            </a:r>
            <a:endParaRPr lang="en-US" sz="1250" dirty="0"/>
          </a:p>
        </p:txBody>
      </p:sp>
      <p:sp>
        <p:nvSpPr>
          <p:cNvPr id="16" name="passo Annotate"/>
          <p:cNvSpPr/>
          <p:nvPr/>
        </p:nvSpPr>
        <p:spPr>
          <a:xfrm>
            <a:off x="4626864" y="1097280"/>
            <a:ext cx="1965960" cy="1920240"/>
          </a:xfrm>
          <a:prstGeom prst="roundRect">
            <a:avLst>
              <a:gd name="adj" fmla="val 3810"/>
            </a:avLst>
          </a:prstGeom>
          <a:solidFill>
            <a:schemeClr val="bg2"/>
          </a:solidFill>
          <a:ln/>
        </p:spPr>
        <p:txBody>
          <a:bodyPr/>
          <a:lstStyle/>
          <a:p>
            <a:endParaRPr lang="it-IT"/>
          </a:p>
        </p:txBody>
      </p:sp>
      <p:sp>
        <p:nvSpPr>
          <p:cNvPr id="17" name="cerchio FiClipboard"/>
          <p:cNvSpPr/>
          <p:nvPr/>
        </p:nvSpPr>
        <p:spPr>
          <a:xfrm>
            <a:off x="4809744" y="1234440"/>
            <a:ext cx="502920" cy="502920"/>
          </a:xfrm>
          <a:prstGeom prst="ellipse">
            <a:avLst/>
          </a:prstGeom>
          <a:solidFill>
            <a:schemeClr val="accent1"/>
          </a:solidFill>
          <a:ln/>
        </p:spPr>
        <p:txBody>
          <a:bodyPr/>
          <a:lstStyle/>
          <a:p>
            <a:endParaRPr lang="it-IT"/>
          </a:p>
        </p:txBody>
      </p:sp>
      <p:pic>
        <p:nvPicPr>
          <p:cNvPr id="18" name="Image 2" descr="FiClipboard"/>
          <p:cNvPicPr>
            <a:picLocks noChangeAspect="1"/>
          </p:cNvPicPr>
          <p:nvPr/>
        </p:nvPicPr>
        <p:blipFill>
          <a:blip r:embed="rId5"/>
          <a:stretch>
            <a:fillRect/>
          </a:stretch>
        </p:blipFill>
        <p:spPr>
          <a:xfrm>
            <a:off x="4935474" y="1360170"/>
            <a:ext cx="251460" cy="251460"/>
          </a:xfrm>
          <a:prstGeom prst="rect">
            <a:avLst/>
          </a:prstGeom>
        </p:spPr>
      </p:pic>
      <p:sp>
        <p:nvSpPr>
          <p:cNvPr id="19" name="Text 13"/>
          <p:cNvSpPr txBox="1"/>
          <p:nvPr/>
        </p:nvSpPr>
        <p:spPr>
          <a:xfrm>
            <a:off x="4809744" y="1847088"/>
            <a:ext cx="1645920" cy="320040"/>
          </a:xfrm>
          <a:prstGeom prst="rect">
            <a:avLst/>
          </a:prstGeom>
          <a:noFill/>
          <a:ln/>
        </p:spPr>
        <p:txBody>
          <a:bodyPr wrap="square" lIns="0" tIns="0" rIns="0" bIns="0" rtlCol="0" anchor="t"/>
          <a:lstStyle/>
          <a:p>
            <a:pPr marL="0" indent="0">
              <a:buNone/>
            </a:pPr>
            <a:r>
              <a:rPr lang="en-US" sz="1500" b="1" dirty="0">
                <a:solidFill>
                  <a:schemeClr val="tx1"/>
                </a:solidFill>
              </a:rPr>
              <a:t>Annotate</a:t>
            </a:r>
            <a:endParaRPr lang="en-US" sz="1500" dirty="0"/>
          </a:p>
        </p:txBody>
      </p:sp>
      <p:sp>
        <p:nvSpPr>
          <p:cNvPr id="20" name="Text 14"/>
          <p:cNvSpPr txBox="1"/>
          <p:nvPr/>
        </p:nvSpPr>
        <p:spPr>
          <a:xfrm>
            <a:off x="4809744" y="2194560"/>
            <a:ext cx="1645920" cy="731520"/>
          </a:xfrm>
          <a:prstGeom prst="rect">
            <a:avLst/>
          </a:prstGeom>
          <a:noFill/>
          <a:ln/>
        </p:spPr>
        <p:txBody>
          <a:bodyPr wrap="square" lIns="0" tIns="0" rIns="0" bIns="0" rtlCol="0" anchor="t"/>
          <a:lstStyle/>
          <a:p>
            <a:pPr marL="0" indent="0">
              <a:buNone/>
            </a:pPr>
            <a:r>
              <a:rPr lang="en-US" sz="1250" dirty="0">
                <a:solidFill>
                  <a:schemeClr val="tx2"/>
                </a:solidFill>
              </a:rPr>
              <a:t>Richiesta, risultato, errori, tempo</a:t>
            </a:r>
            <a:endParaRPr lang="en-US" sz="1250" dirty="0"/>
          </a:p>
        </p:txBody>
      </p:sp>
      <p:sp>
        <p:nvSpPr>
          <p:cNvPr id="21" name="passo Raccontate"/>
          <p:cNvSpPr/>
          <p:nvPr/>
        </p:nvSpPr>
        <p:spPr>
          <a:xfrm>
            <a:off x="6711696" y="1097280"/>
            <a:ext cx="1965960" cy="1920240"/>
          </a:xfrm>
          <a:prstGeom prst="roundRect">
            <a:avLst>
              <a:gd name="adj" fmla="val 3810"/>
            </a:avLst>
          </a:prstGeom>
          <a:solidFill>
            <a:schemeClr val="bg2"/>
          </a:solidFill>
          <a:ln/>
        </p:spPr>
        <p:txBody>
          <a:bodyPr/>
          <a:lstStyle/>
          <a:p>
            <a:endParaRPr lang="it-IT"/>
          </a:p>
        </p:txBody>
      </p:sp>
      <p:sp>
        <p:nvSpPr>
          <p:cNvPr id="22" name="cerchio FiMessageSquare"/>
          <p:cNvSpPr/>
          <p:nvPr/>
        </p:nvSpPr>
        <p:spPr>
          <a:xfrm>
            <a:off x="6894576" y="1234440"/>
            <a:ext cx="502920" cy="502920"/>
          </a:xfrm>
          <a:prstGeom prst="ellipse">
            <a:avLst/>
          </a:prstGeom>
          <a:solidFill>
            <a:schemeClr val="accent1"/>
          </a:solidFill>
          <a:ln/>
        </p:spPr>
        <p:txBody>
          <a:bodyPr/>
          <a:lstStyle/>
          <a:p>
            <a:endParaRPr lang="it-IT"/>
          </a:p>
        </p:txBody>
      </p:sp>
      <p:pic>
        <p:nvPicPr>
          <p:cNvPr id="23" name="Image 3" descr="FiMessageSquare"/>
          <p:cNvPicPr>
            <a:picLocks noChangeAspect="1"/>
          </p:cNvPicPr>
          <p:nvPr/>
        </p:nvPicPr>
        <p:blipFill>
          <a:blip r:embed="rId6"/>
          <a:stretch>
            <a:fillRect/>
          </a:stretch>
        </p:blipFill>
        <p:spPr>
          <a:xfrm>
            <a:off x="7020306" y="1360170"/>
            <a:ext cx="251460" cy="251460"/>
          </a:xfrm>
          <a:prstGeom prst="rect">
            <a:avLst/>
          </a:prstGeom>
        </p:spPr>
      </p:pic>
      <p:sp>
        <p:nvSpPr>
          <p:cNvPr id="24" name="Text 17"/>
          <p:cNvSpPr txBox="1"/>
          <p:nvPr/>
        </p:nvSpPr>
        <p:spPr>
          <a:xfrm>
            <a:off x="6894576" y="1847088"/>
            <a:ext cx="1645920" cy="320040"/>
          </a:xfrm>
          <a:prstGeom prst="rect">
            <a:avLst/>
          </a:prstGeom>
          <a:noFill/>
          <a:ln/>
        </p:spPr>
        <p:txBody>
          <a:bodyPr wrap="square" lIns="0" tIns="0" rIns="0" bIns="0" rtlCol="0" anchor="t"/>
          <a:lstStyle/>
          <a:p>
            <a:pPr marL="0" indent="0">
              <a:buNone/>
            </a:pPr>
            <a:r>
              <a:rPr lang="en-US" sz="1500" b="1" dirty="0">
                <a:solidFill>
                  <a:schemeClr val="tx1"/>
                </a:solidFill>
              </a:rPr>
              <a:t>Raccontate</a:t>
            </a:r>
            <a:endParaRPr lang="en-US" sz="1500" dirty="0"/>
          </a:p>
        </p:txBody>
      </p:sp>
      <p:sp>
        <p:nvSpPr>
          <p:cNvPr id="25" name="Text 18"/>
          <p:cNvSpPr txBox="1"/>
          <p:nvPr/>
        </p:nvSpPr>
        <p:spPr>
          <a:xfrm>
            <a:off x="6894576" y="2194560"/>
            <a:ext cx="1645920" cy="731520"/>
          </a:xfrm>
          <a:prstGeom prst="rect">
            <a:avLst/>
          </a:prstGeom>
          <a:noFill/>
          <a:ln/>
        </p:spPr>
        <p:txBody>
          <a:bodyPr wrap="square" lIns="0" tIns="0" rIns="0" bIns="0" rtlCol="0" anchor="t"/>
          <a:lstStyle/>
          <a:p>
            <a:pPr marL="0" indent="0">
              <a:buNone/>
            </a:pPr>
            <a:r>
              <a:rPr lang="en-US" sz="1250" dirty="0">
                <a:solidFill>
                  <a:schemeClr val="tx2"/>
                </a:solidFill>
              </a:rPr>
              <a:t>All'inizio della sessione 2</a:t>
            </a:r>
            <a:endParaRPr lang="en-US" sz="1250" dirty="0"/>
          </a:p>
        </p:txBody>
      </p:sp>
      <p:sp>
        <p:nvSpPr>
          <p:cNvPr id="26" name="scheda Le regole di oggi"/>
          <p:cNvSpPr/>
          <p:nvPr/>
        </p:nvSpPr>
        <p:spPr>
          <a:xfrm>
            <a:off x="457200" y="3200400"/>
            <a:ext cx="8229600" cy="1234440"/>
          </a:xfrm>
          <a:prstGeom prst="roundRect">
            <a:avLst>
              <a:gd name="adj" fmla="val 5926"/>
            </a:avLst>
          </a:prstGeom>
          <a:solidFill>
            <a:schemeClr val="accent6"/>
          </a:solidFill>
          <a:ln/>
        </p:spPr>
        <p:txBody>
          <a:bodyPr/>
          <a:lstStyle/>
          <a:p>
            <a:endParaRPr lang="it-IT"/>
          </a:p>
        </p:txBody>
      </p:sp>
      <p:sp>
        <p:nvSpPr>
          <p:cNvPr id="27" name="cerchio FiShield"/>
          <p:cNvSpPr/>
          <p:nvPr/>
        </p:nvSpPr>
        <p:spPr>
          <a:xfrm>
            <a:off x="640080" y="3383280"/>
            <a:ext cx="457200" cy="457200"/>
          </a:xfrm>
          <a:prstGeom prst="ellipse">
            <a:avLst/>
          </a:prstGeom>
          <a:solidFill>
            <a:schemeClr val="accent1"/>
          </a:solidFill>
          <a:ln/>
        </p:spPr>
        <p:txBody>
          <a:bodyPr/>
          <a:lstStyle/>
          <a:p>
            <a:endParaRPr lang="it-IT"/>
          </a:p>
        </p:txBody>
      </p:sp>
      <p:pic>
        <p:nvPicPr>
          <p:cNvPr id="28" name="Image 4" descr="FiShield"/>
          <p:cNvPicPr>
            <a:picLocks noChangeAspect="1"/>
          </p:cNvPicPr>
          <p:nvPr/>
        </p:nvPicPr>
        <p:blipFill>
          <a:blip r:embed="rId7"/>
          <a:stretch>
            <a:fillRect/>
          </a:stretch>
        </p:blipFill>
        <p:spPr>
          <a:xfrm>
            <a:off x="754380" y="3497580"/>
            <a:ext cx="228600" cy="228600"/>
          </a:xfrm>
          <a:prstGeom prst="rect">
            <a:avLst/>
          </a:prstGeom>
        </p:spPr>
      </p:pic>
      <p:sp>
        <p:nvSpPr>
          <p:cNvPr id="29" name="Text 21"/>
          <p:cNvSpPr txBox="1"/>
          <p:nvPr/>
        </p:nvSpPr>
        <p:spPr>
          <a:xfrm>
            <a:off x="1234440" y="3383280"/>
            <a:ext cx="7269480" cy="457200"/>
          </a:xfrm>
          <a:prstGeom prst="rect">
            <a:avLst/>
          </a:prstGeom>
          <a:noFill/>
          <a:ln/>
        </p:spPr>
        <p:txBody>
          <a:bodyPr wrap="square" lIns="0" tIns="0" rIns="0" bIns="0" rtlCol="0" anchor="ctr"/>
          <a:lstStyle/>
          <a:p>
            <a:pPr marL="0" indent="0">
              <a:buNone/>
            </a:pPr>
            <a:r>
              <a:rPr lang="en-US" sz="1400" b="1" dirty="0">
                <a:solidFill>
                  <a:schemeClr val="tx1"/>
                </a:solidFill>
              </a:rPr>
              <a:t>Le regole di oggi</a:t>
            </a:r>
            <a:endParaRPr lang="en-US" sz="1400" dirty="0"/>
          </a:p>
        </p:txBody>
      </p:sp>
      <p:sp>
        <p:nvSpPr>
          <p:cNvPr id="30" name="Text 22"/>
          <p:cNvSpPr txBox="1"/>
          <p:nvPr/>
        </p:nvSpPr>
        <p:spPr>
          <a:xfrm>
            <a:off x="640080" y="3977640"/>
            <a:ext cx="7863840" cy="347472"/>
          </a:xfrm>
          <a:prstGeom prst="rect">
            <a:avLst/>
          </a:prstGeom>
          <a:noFill/>
          <a:ln/>
        </p:spPr>
        <p:txBody>
          <a:bodyPr wrap="square" lIns="0" tIns="0" rIns="0" bIns="0" rtlCol="0" anchor="t"/>
          <a:lstStyle/>
          <a:p>
            <a:pPr marL="0" indent="0">
              <a:buNone/>
            </a:pPr>
            <a:r>
              <a:rPr lang="en-US" sz="1300" dirty="0">
                <a:solidFill>
                  <a:schemeClr val="tx2"/>
                </a:solidFill>
              </a:rPr>
              <a:t>Niente dati riservati o personali, nessun nome di cliente, solo strumenti autorizzati. Verificate sempre il risultato prima di usarlo.</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Che cosa abbiamo visto oggi</a:t>
            </a:r>
            <a:endParaRPr lang="en-US" sz="2600" dirty="0"/>
          </a:p>
        </p:txBody>
      </p:sp>
      <p:sp>
        <p:nvSpPr>
          <p:cNvPr id="6" name="punto 1"/>
          <p:cNvSpPr/>
          <p:nvPr/>
        </p:nvSpPr>
        <p:spPr>
          <a:xfrm>
            <a:off x="457200" y="1024128"/>
            <a:ext cx="5577840" cy="475488"/>
          </a:xfrm>
          <a:prstGeom prst="roundRect">
            <a:avLst>
              <a:gd name="adj" fmla="val 15385"/>
            </a:avLst>
          </a:prstGeom>
          <a:solidFill>
            <a:schemeClr val="bg2"/>
          </a:solidFill>
          <a:ln/>
        </p:spPr>
        <p:txBody>
          <a:bodyPr/>
          <a:lstStyle/>
          <a:p>
            <a:endParaRPr lang="it-IT"/>
          </a:p>
        </p:txBody>
      </p:sp>
      <p:sp>
        <p:nvSpPr>
          <p:cNvPr id="7" name="Text 4"/>
          <p:cNvSpPr txBox="1"/>
          <p:nvPr/>
        </p:nvSpPr>
        <p:spPr>
          <a:xfrm>
            <a:off x="566928" y="1024128"/>
            <a:ext cx="320040" cy="475488"/>
          </a:xfrm>
          <a:prstGeom prst="rect">
            <a:avLst/>
          </a:prstGeom>
          <a:noFill/>
          <a:ln/>
        </p:spPr>
        <p:txBody>
          <a:bodyPr wrap="square" lIns="0" tIns="0" rIns="0" bIns="0" rtlCol="0" anchor="ctr"/>
          <a:lstStyle/>
          <a:p>
            <a:pPr marL="0" indent="0">
              <a:buNone/>
            </a:pPr>
            <a:r>
              <a:rPr lang="en-US" sz="1500" b="1" dirty="0">
                <a:solidFill>
                  <a:schemeClr val="accent1"/>
                </a:solidFill>
              </a:rPr>
              <a:t>1</a:t>
            </a:r>
            <a:endParaRPr lang="en-US" sz="1500" dirty="0"/>
          </a:p>
        </p:txBody>
      </p:sp>
      <p:sp>
        <p:nvSpPr>
          <p:cNvPr id="8" name="Text 5"/>
          <p:cNvSpPr txBox="1"/>
          <p:nvPr/>
        </p:nvSpPr>
        <p:spPr>
          <a:xfrm>
            <a:off x="914400" y="1024128"/>
            <a:ext cx="5029200" cy="475488"/>
          </a:xfrm>
          <a:prstGeom prst="rect">
            <a:avLst/>
          </a:prstGeom>
          <a:noFill/>
          <a:ln/>
        </p:spPr>
        <p:txBody>
          <a:bodyPr wrap="square" lIns="0" tIns="0" rIns="0" bIns="0" rtlCol="0" anchor="ctr"/>
          <a:lstStyle/>
          <a:p>
            <a:pPr marL="0" indent="0">
              <a:buNone/>
            </a:pPr>
            <a:r>
              <a:rPr lang="en-US" sz="1200" dirty="0">
                <a:solidFill>
                  <a:schemeClr val="tx1"/>
                </a:solidFill>
              </a:rPr>
              <a:t>L’AI </a:t>
            </a:r>
            <a:r>
              <a:rPr lang="en-US" sz="1200" dirty="0" err="1">
                <a:solidFill>
                  <a:schemeClr val="tx1"/>
                </a:solidFill>
              </a:rPr>
              <a:t>offre</a:t>
            </a:r>
            <a:r>
              <a:rPr lang="en-US" sz="1200" dirty="0">
                <a:solidFill>
                  <a:schemeClr val="tx1"/>
                </a:solidFill>
              </a:rPr>
              <a:t> </a:t>
            </a:r>
            <a:r>
              <a:rPr lang="en-US" sz="1200" dirty="0" err="1">
                <a:solidFill>
                  <a:schemeClr val="tx1"/>
                </a:solidFill>
              </a:rPr>
              <a:t>capacità</a:t>
            </a:r>
            <a:r>
              <a:rPr lang="en-US" sz="1200" dirty="0">
                <a:solidFill>
                  <a:schemeClr val="tx1"/>
                </a:solidFill>
              </a:rPr>
              <a:t> </a:t>
            </a:r>
            <a:r>
              <a:rPr lang="en-US" sz="1200" dirty="0" err="1">
                <a:solidFill>
                  <a:schemeClr val="tx1"/>
                </a:solidFill>
              </a:rPr>
              <a:t>che</a:t>
            </a:r>
            <a:r>
              <a:rPr lang="en-US" sz="1200" dirty="0">
                <a:solidFill>
                  <a:schemeClr val="tx1"/>
                </a:solidFill>
              </a:rPr>
              <a:t> </a:t>
            </a:r>
            <a:r>
              <a:rPr lang="en-US" sz="1200" dirty="0" err="1">
                <a:solidFill>
                  <a:schemeClr val="tx1"/>
                </a:solidFill>
              </a:rPr>
              <a:t>possono</a:t>
            </a:r>
            <a:r>
              <a:rPr lang="en-US" sz="1200" dirty="0">
                <a:solidFill>
                  <a:schemeClr val="tx1"/>
                </a:solidFill>
              </a:rPr>
              <a:t> </a:t>
            </a:r>
            <a:r>
              <a:rPr lang="en-US" sz="1200" dirty="0" err="1">
                <a:solidFill>
                  <a:schemeClr val="tx1"/>
                </a:solidFill>
              </a:rPr>
              <a:t>ampliare</a:t>
            </a:r>
            <a:r>
              <a:rPr lang="en-US" sz="1200" dirty="0">
                <a:solidFill>
                  <a:schemeClr val="tx1"/>
                </a:solidFill>
              </a:rPr>
              <a:t> il Lavoro di </a:t>
            </a:r>
            <a:r>
              <a:rPr lang="en-US" sz="1200" dirty="0" err="1">
                <a:solidFill>
                  <a:schemeClr val="tx1"/>
                </a:solidFill>
              </a:rPr>
              <a:t>persone</a:t>
            </a:r>
            <a:r>
              <a:rPr lang="en-US" sz="1200" dirty="0">
                <a:solidFill>
                  <a:schemeClr val="tx1"/>
                </a:solidFill>
              </a:rPr>
              <a:t> e </a:t>
            </a:r>
            <a:r>
              <a:rPr lang="en-US" sz="1200" dirty="0" err="1">
                <a:solidFill>
                  <a:schemeClr val="tx1"/>
                </a:solidFill>
              </a:rPr>
              <a:t>organizzazioni</a:t>
            </a:r>
            <a:endParaRPr lang="en-US" sz="1200" dirty="0"/>
          </a:p>
        </p:txBody>
      </p:sp>
      <p:sp>
        <p:nvSpPr>
          <p:cNvPr id="9" name="punto 2"/>
          <p:cNvSpPr/>
          <p:nvPr/>
        </p:nvSpPr>
        <p:spPr>
          <a:xfrm>
            <a:off x="457200" y="1572768"/>
            <a:ext cx="5577840" cy="475488"/>
          </a:xfrm>
          <a:prstGeom prst="roundRect">
            <a:avLst>
              <a:gd name="adj" fmla="val 15385"/>
            </a:avLst>
          </a:prstGeom>
          <a:solidFill>
            <a:schemeClr val="bg1"/>
          </a:solidFill>
          <a:ln/>
        </p:spPr>
        <p:txBody>
          <a:bodyPr/>
          <a:lstStyle/>
          <a:p>
            <a:endParaRPr lang="it-IT"/>
          </a:p>
        </p:txBody>
      </p:sp>
      <p:sp>
        <p:nvSpPr>
          <p:cNvPr id="10" name="Text 7"/>
          <p:cNvSpPr txBox="1"/>
          <p:nvPr/>
        </p:nvSpPr>
        <p:spPr>
          <a:xfrm>
            <a:off x="566928" y="1572768"/>
            <a:ext cx="320040" cy="475488"/>
          </a:xfrm>
          <a:prstGeom prst="rect">
            <a:avLst/>
          </a:prstGeom>
          <a:noFill/>
          <a:ln/>
        </p:spPr>
        <p:txBody>
          <a:bodyPr wrap="square" lIns="0" tIns="0" rIns="0" bIns="0" rtlCol="0" anchor="ctr"/>
          <a:lstStyle/>
          <a:p>
            <a:pPr marL="0" indent="0">
              <a:buNone/>
            </a:pPr>
            <a:r>
              <a:rPr lang="en-US" sz="1500" b="1" dirty="0">
                <a:solidFill>
                  <a:schemeClr val="accent1"/>
                </a:solidFill>
              </a:rPr>
              <a:t>2</a:t>
            </a:r>
            <a:endParaRPr lang="en-US" sz="1500" dirty="0"/>
          </a:p>
        </p:txBody>
      </p:sp>
      <p:sp>
        <p:nvSpPr>
          <p:cNvPr id="11" name="Text 8"/>
          <p:cNvSpPr txBox="1"/>
          <p:nvPr/>
        </p:nvSpPr>
        <p:spPr>
          <a:xfrm>
            <a:off x="914400" y="1572768"/>
            <a:ext cx="5029200" cy="475488"/>
          </a:xfrm>
          <a:prstGeom prst="rect">
            <a:avLst/>
          </a:prstGeom>
          <a:noFill/>
          <a:ln/>
        </p:spPr>
        <p:txBody>
          <a:bodyPr wrap="square" lIns="0" tIns="0" rIns="0" bIns="0" rtlCol="0" anchor="ctr"/>
          <a:lstStyle/>
          <a:p>
            <a:pPr marL="0" indent="0">
              <a:buNone/>
            </a:pPr>
            <a:r>
              <a:rPr lang="en-US" sz="1200" dirty="0" err="1">
                <a:solidFill>
                  <a:schemeClr val="tx1"/>
                </a:solidFill>
              </a:rPr>
              <a:t>Esistono</a:t>
            </a:r>
            <a:r>
              <a:rPr lang="en-US" sz="1200" dirty="0">
                <a:solidFill>
                  <a:schemeClr val="tx1"/>
                </a:solidFill>
              </a:rPr>
              <a:t> </a:t>
            </a:r>
            <a:r>
              <a:rPr lang="en-US" sz="1200" dirty="0" err="1">
                <a:solidFill>
                  <a:schemeClr val="tx1"/>
                </a:solidFill>
              </a:rPr>
              <a:t>sistemi</a:t>
            </a:r>
            <a:r>
              <a:rPr lang="en-US" sz="1200" dirty="0">
                <a:solidFill>
                  <a:schemeClr val="tx1"/>
                </a:solidFill>
              </a:rPr>
              <a:t> Ai </a:t>
            </a:r>
            <a:r>
              <a:rPr lang="en-US" sz="1200" dirty="0" err="1">
                <a:solidFill>
                  <a:schemeClr val="tx1"/>
                </a:solidFill>
              </a:rPr>
              <a:t>diversi</a:t>
            </a:r>
            <a:r>
              <a:rPr lang="en-US" sz="1200" dirty="0">
                <a:solidFill>
                  <a:schemeClr val="tx1"/>
                </a:solidFill>
              </a:rPr>
              <a:t>, </a:t>
            </a:r>
            <a:r>
              <a:rPr lang="en-US" sz="1200" dirty="0" err="1">
                <a:solidFill>
                  <a:schemeClr val="tx1"/>
                </a:solidFill>
              </a:rPr>
              <a:t>adatti</a:t>
            </a:r>
            <a:r>
              <a:rPr lang="en-US" sz="1200" dirty="0">
                <a:solidFill>
                  <a:schemeClr val="tx1"/>
                </a:solidFill>
              </a:rPr>
              <a:t> a problem </a:t>
            </a:r>
            <a:r>
              <a:rPr lang="en-US" sz="1200" dirty="0" err="1">
                <a:solidFill>
                  <a:schemeClr val="tx1"/>
                </a:solidFill>
              </a:rPr>
              <a:t>differenti</a:t>
            </a:r>
            <a:endParaRPr lang="en-US" sz="1200" dirty="0"/>
          </a:p>
        </p:txBody>
      </p:sp>
      <p:sp>
        <p:nvSpPr>
          <p:cNvPr id="12" name="punto 3"/>
          <p:cNvSpPr/>
          <p:nvPr/>
        </p:nvSpPr>
        <p:spPr>
          <a:xfrm>
            <a:off x="457200" y="2121408"/>
            <a:ext cx="5577840" cy="475488"/>
          </a:xfrm>
          <a:prstGeom prst="roundRect">
            <a:avLst>
              <a:gd name="adj" fmla="val 15385"/>
            </a:avLst>
          </a:prstGeom>
          <a:solidFill>
            <a:schemeClr val="bg2"/>
          </a:solidFill>
          <a:ln/>
        </p:spPr>
        <p:txBody>
          <a:bodyPr/>
          <a:lstStyle/>
          <a:p>
            <a:endParaRPr lang="it-IT"/>
          </a:p>
        </p:txBody>
      </p:sp>
      <p:sp>
        <p:nvSpPr>
          <p:cNvPr id="13" name="Text 10"/>
          <p:cNvSpPr txBox="1"/>
          <p:nvPr/>
        </p:nvSpPr>
        <p:spPr>
          <a:xfrm>
            <a:off x="566928" y="2121408"/>
            <a:ext cx="320040" cy="475488"/>
          </a:xfrm>
          <a:prstGeom prst="rect">
            <a:avLst/>
          </a:prstGeom>
          <a:noFill/>
          <a:ln/>
        </p:spPr>
        <p:txBody>
          <a:bodyPr wrap="square" lIns="0" tIns="0" rIns="0" bIns="0" rtlCol="0" anchor="ctr"/>
          <a:lstStyle/>
          <a:p>
            <a:pPr marL="0" indent="0">
              <a:buNone/>
            </a:pPr>
            <a:r>
              <a:rPr lang="en-US" sz="1500" b="1" dirty="0">
                <a:solidFill>
                  <a:schemeClr val="accent1"/>
                </a:solidFill>
              </a:rPr>
              <a:t>3</a:t>
            </a:r>
            <a:endParaRPr lang="en-US" sz="1500" dirty="0"/>
          </a:p>
        </p:txBody>
      </p:sp>
      <p:sp>
        <p:nvSpPr>
          <p:cNvPr id="14" name="Text 11"/>
          <p:cNvSpPr txBox="1"/>
          <p:nvPr/>
        </p:nvSpPr>
        <p:spPr>
          <a:xfrm>
            <a:off x="914400" y="2121408"/>
            <a:ext cx="5029200" cy="475488"/>
          </a:xfrm>
          <a:prstGeom prst="rect">
            <a:avLst/>
          </a:prstGeom>
          <a:noFill/>
          <a:ln/>
        </p:spPr>
        <p:txBody>
          <a:bodyPr wrap="square" lIns="0" tIns="0" rIns="0" bIns="0" rtlCol="0" anchor="ctr"/>
          <a:lstStyle/>
          <a:p>
            <a:pPr marL="0" indent="0">
              <a:buNone/>
            </a:pPr>
            <a:r>
              <a:rPr lang="en-US" sz="1200" dirty="0">
                <a:solidFill>
                  <a:schemeClr val="tx1"/>
                </a:solidFill>
              </a:rPr>
              <a:t>I </a:t>
            </a:r>
            <a:r>
              <a:rPr lang="en-US" sz="1200" dirty="0" err="1">
                <a:solidFill>
                  <a:schemeClr val="tx1"/>
                </a:solidFill>
              </a:rPr>
              <a:t>risultati</a:t>
            </a:r>
            <a:r>
              <a:rPr lang="en-US" sz="1200" dirty="0">
                <a:solidFill>
                  <a:schemeClr val="tx1"/>
                </a:solidFill>
              </a:rPr>
              <a:t> </a:t>
            </a:r>
            <a:r>
              <a:rPr lang="en-US" sz="1200" dirty="0" err="1">
                <a:solidFill>
                  <a:schemeClr val="tx1"/>
                </a:solidFill>
              </a:rPr>
              <a:t>dipendono</a:t>
            </a:r>
            <a:r>
              <a:rPr lang="en-US" sz="1200" dirty="0">
                <a:solidFill>
                  <a:schemeClr val="tx1"/>
                </a:solidFill>
              </a:rPr>
              <a:t> da </a:t>
            </a:r>
            <a:r>
              <a:rPr lang="en-US" sz="1200" dirty="0" err="1">
                <a:solidFill>
                  <a:schemeClr val="tx1"/>
                </a:solidFill>
              </a:rPr>
              <a:t>modello</a:t>
            </a:r>
            <a:r>
              <a:rPr lang="en-US" sz="1200" dirty="0">
                <a:solidFill>
                  <a:schemeClr val="tx1"/>
                </a:solidFill>
              </a:rPr>
              <a:t>, </a:t>
            </a:r>
            <a:r>
              <a:rPr lang="en-US" sz="1200" dirty="0" err="1">
                <a:solidFill>
                  <a:schemeClr val="tx1"/>
                </a:solidFill>
              </a:rPr>
              <a:t>informazioni</a:t>
            </a:r>
            <a:r>
              <a:rPr lang="en-US" sz="1200" dirty="0">
                <a:solidFill>
                  <a:schemeClr val="tx1"/>
                </a:solidFill>
              </a:rPr>
              <a:t> </a:t>
            </a:r>
            <a:r>
              <a:rPr lang="en-US" sz="1200" dirty="0" err="1">
                <a:solidFill>
                  <a:schemeClr val="tx1"/>
                </a:solidFill>
              </a:rPr>
              <a:t>disponibili</a:t>
            </a:r>
            <a:r>
              <a:rPr lang="en-US" sz="1200" dirty="0">
                <a:solidFill>
                  <a:schemeClr val="tx1"/>
                </a:solidFill>
              </a:rPr>
              <a:t> e </a:t>
            </a:r>
            <a:r>
              <a:rPr lang="en-US" sz="1200" dirty="0" err="1">
                <a:solidFill>
                  <a:schemeClr val="tx1"/>
                </a:solidFill>
              </a:rPr>
              <a:t>modalità</a:t>
            </a:r>
            <a:r>
              <a:rPr lang="en-US" sz="1200" dirty="0">
                <a:solidFill>
                  <a:schemeClr val="tx1"/>
                </a:solidFill>
              </a:rPr>
              <a:t> di </a:t>
            </a:r>
            <a:r>
              <a:rPr lang="en-US" sz="1200" dirty="0" err="1">
                <a:solidFill>
                  <a:schemeClr val="tx1"/>
                </a:solidFill>
              </a:rPr>
              <a:t>utilizzo</a:t>
            </a:r>
            <a:r>
              <a:rPr lang="en-US" sz="1200" dirty="0">
                <a:solidFill>
                  <a:schemeClr val="tx1"/>
                </a:solidFill>
              </a:rPr>
              <a:t>.</a:t>
            </a:r>
            <a:endParaRPr lang="en-US" sz="1200" dirty="0"/>
          </a:p>
        </p:txBody>
      </p:sp>
      <p:sp>
        <p:nvSpPr>
          <p:cNvPr id="15" name="punto 4"/>
          <p:cNvSpPr/>
          <p:nvPr/>
        </p:nvSpPr>
        <p:spPr>
          <a:xfrm>
            <a:off x="457200" y="2670048"/>
            <a:ext cx="5577840" cy="475488"/>
          </a:xfrm>
          <a:prstGeom prst="roundRect">
            <a:avLst>
              <a:gd name="adj" fmla="val 15385"/>
            </a:avLst>
          </a:prstGeom>
          <a:solidFill>
            <a:schemeClr val="bg1"/>
          </a:solidFill>
          <a:ln/>
        </p:spPr>
        <p:txBody>
          <a:bodyPr/>
          <a:lstStyle/>
          <a:p>
            <a:endParaRPr lang="it-IT"/>
          </a:p>
        </p:txBody>
      </p:sp>
      <p:sp>
        <p:nvSpPr>
          <p:cNvPr id="16" name="Text 13"/>
          <p:cNvSpPr txBox="1"/>
          <p:nvPr/>
        </p:nvSpPr>
        <p:spPr>
          <a:xfrm>
            <a:off x="566928" y="2670048"/>
            <a:ext cx="320040" cy="475488"/>
          </a:xfrm>
          <a:prstGeom prst="rect">
            <a:avLst/>
          </a:prstGeom>
          <a:noFill/>
          <a:ln/>
        </p:spPr>
        <p:txBody>
          <a:bodyPr wrap="square" lIns="0" tIns="0" rIns="0" bIns="0" rtlCol="0" anchor="ctr"/>
          <a:lstStyle/>
          <a:p>
            <a:pPr marL="0" indent="0">
              <a:buNone/>
            </a:pPr>
            <a:r>
              <a:rPr lang="en-US" sz="1500" b="1" dirty="0">
                <a:solidFill>
                  <a:schemeClr val="accent1"/>
                </a:solidFill>
              </a:rPr>
              <a:t>4</a:t>
            </a:r>
            <a:endParaRPr lang="en-US" sz="1500" dirty="0"/>
          </a:p>
        </p:txBody>
      </p:sp>
      <p:sp>
        <p:nvSpPr>
          <p:cNvPr id="17" name="Text 14"/>
          <p:cNvSpPr txBox="1"/>
          <p:nvPr/>
        </p:nvSpPr>
        <p:spPr>
          <a:xfrm>
            <a:off x="914400" y="2670048"/>
            <a:ext cx="5029200" cy="475488"/>
          </a:xfrm>
          <a:prstGeom prst="rect">
            <a:avLst/>
          </a:prstGeom>
          <a:noFill/>
          <a:ln/>
        </p:spPr>
        <p:txBody>
          <a:bodyPr wrap="square" lIns="0" tIns="0" rIns="0" bIns="0" rtlCol="0" anchor="ctr"/>
          <a:lstStyle/>
          <a:p>
            <a:pPr marL="0" indent="0">
              <a:buNone/>
            </a:pPr>
            <a:r>
              <a:rPr lang="en-US" sz="1200" dirty="0" err="1">
                <a:solidFill>
                  <a:schemeClr val="tx1"/>
                </a:solidFill>
              </a:rPr>
              <a:t>Affidabilità</a:t>
            </a:r>
            <a:r>
              <a:rPr lang="en-US" sz="1200" dirty="0">
                <a:solidFill>
                  <a:schemeClr val="tx1"/>
                </a:solidFill>
              </a:rPr>
              <a:t> e </a:t>
            </a:r>
            <a:r>
              <a:rPr lang="en-US" sz="1200" dirty="0" err="1">
                <a:solidFill>
                  <a:schemeClr val="tx1"/>
                </a:solidFill>
              </a:rPr>
              <a:t>controllo</a:t>
            </a:r>
            <a:r>
              <a:rPr lang="en-US" sz="1200" dirty="0">
                <a:solidFill>
                  <a:schemeClr val="tx1"/>
                </a:solidFill>
              </a:rPr>
              <a:t> </a:t>
            </a:r>
            <a:r>
              <a:rPr lang="en-US" sz="1200" dirty="0" err="1">
                <a:solidFill>
                  <a:schemeClr val="tx1"/>
                </a:solidFill>
              </a:rPr>
              <a:t>devono</a:t>
            </a:r>
            <a:r>
              <a:rPr lang="en-US" sz="1200" dirty="0">
                <a:solidFill>
                  <a:schemeClr val="tx1"/>
                </a:solidFill>
              </a:rPr>
              <a:t> </a:t>
            </a:r>
            <a:r>
              <a:rPr lang="en-US" sz="1200" dirty="0" err="1">
                <a:solidFill>
                  <a:schemeClr val="tx1"/>
                </a:solidFill>
              </a:rPr>
              <a:t>essere</a:t>
            </a:r>
            <a:r>
              <a:rPr lang="en-US" sz="1200" dirty="0">
                <a:solidFill>
                  <a:schemeClr val="tx1"/>
                </a:solidFill>
              </a:rPr>
              <a:t> </a:t>
            </a:r>
            <a:r>
              <a:rPr lang="en-US" sz="1200" dirty="0" err="1">
                <a:solidFill>
                  <a:schemeClr val="tx1"/>
                </a:solidFill>
              </a:rPr>
              <a:t>proporzionati</a:t>
            </a:r>
            <a:r>
              <a:rPr lang="en-US" sz="1200" dirty="0">
                <a:solidFill>
                  <a:schemeClr val="tx1"/>
                </a:solidFill>
              </a:rPr>
              <a:t> </a:t>
            </a:r>
            <a:r>
              <a:rPr lang="en-US" sz="1200" dirty="0" err="1">
                <a:solidFill>
                  <a:schemeClr val="tx1"/>
                </a:solidFill>
              </a:rPr>
              <a:t>all’importanza</a:t>
            </a:r>
            <a:r>
              <a:rPr lang="en-US" sz="1200" dirty="0">
                <a:solidFill>
                  <a:schemeClr val="tx1"/>
                </a:solidFill>
              </a:rPr>
              <a:t> del </a:t>
            </a:r>
            <a:r>
              <a:rPr lang="en-US" sz="1200" dirty="0" err="1">
                <a:solidFill>
                  <a:schemeClr val="tx1"/>
                </a:solidFill>
              </a:rPr>
              <a:t>compito</a:t>
            </a:r>
            <a:r>
              <a:rPr lang="en-US" sz="1200" dirty="0">
                <a:solidFill>
                  <a:schemeClr val="tx1"/>
                </a:solidFill>
              </a:rPr>
              <a:t>.</a:t>
            </a:r>
            <a:endParaRPr lang="en-US" sz="1200" dirty="0"/>
          </a:p>
        </p:txBody>
      </p:sp>
      <p:sp>
        <p:nvSpPr>
          <p:cNvPr id="18" name="punto 5"/>
          <p:cNvSpPr/>
          <p:nvPr/>
        </p:nvSpPr>
        <p:spPr>
          <a:xfrm>
            <a:off x="457200" y="3218688"/>
            <a:ext cx="5577840" cy="475488"/>
          </a:xfrm>
          <a:prstGeom prst="roundRect">
            <a:avLst>
              <a:gd name="adj" fmla="val 15385"/>
            </a:avLst>
          </a:prstGeom>
          <a:solidFill>
            <a:schemeClr val="bg2"/>
          </a:solidFill>
          <a:ln/>
        </p:spPr>
        <p:txBody>
          <a:bodyPr/>
          <a:lstStyle/>
          <a:p>
            <a:endParaRPr lang="it-IT"/>
          </a:p>
        </p:txBody>
      </p:sp>
      <p:sp>
        <p:nvSpPr>
          <p:cNvPr id="19" name="Text 16"/>
          <p:cNvSpPr txBox="1"/>
          <p:nvPr/>
        </p:nvSpPr>
        <p:spPr>
          <a:xfrm>
            <a:off x="566928" y="3218688"/>
            <a:ext cx="320040" cy="475488"/>
          </a:xfrm>
          <a:prstGeom prst="rect">
            <a:avLst/>
          </a:prstGeom>
          <a:noFill/>
          <a:ln/>
        </p:spPr>
        <p:txBody>
          <a:bodyPr wrap="square" lIns="0" tIns="0" rIns="0" bIns="0" rtlCol="0" anchor="ctr"/>
          <a:lstStyle/>
          <a:p>
            <a:pPr marL="0" indent="0">
              <a:buNone/>
            </a:pPr>
            <a:r>
              <a:rPr lang="en-US" sz="1500" b="1" dirty="0">
                <a:solidFill>
                  <a:schemeClr val="accent1"/>
                </a:solidFill>
              </a:rPr>
              <a:t>5</a:t>
            </a:r>
            <a:endParaRPr lang="en-US" sz="1500" dirty="0"/>
          </a:p>
        </p:txBody>
      </p:sp>
      <p:sp>
        <p:nvSpPr>
          <p:cNvPr id="20" name="Text 17"/>
          <p:cNvSpPr txBox="1"/>
          <p:nvPr/>
        </p:nvSpPr>
        <p:spPr>
          <a:xfrm>
            <a:off x="886968" y="3218688"/>
            <a:ext cx="5029200" cy="475488"/>
          </a:xfrm>
          <a:prstGeom prst="rect">
            <a:avLst/>
          </a:prstGeom>
          <a:noFill/>
          <a:ln/>
        </p:spPr>
        <p:txBody>
          <a:bodyPr wrap="square" lIns="0" tIns="0" rIns="0" bIns="0" rtlCol="0" anchor="ctr"/>
          <a:lstStyle/>
          <a:p>
            <a:pPr marL="0" indent="0">
              <a:buNone/>
            </a:pPr>
            <a:r>
              <a:rPr lang="en-US" sz="1200" dirty="0">
                <a:solidFill>
                  <a:schemeClr val="tx1"/>
                </a:solidFill>
              </a:rPr>
              <a:t>Il </a:t>
            </a:r>
            <a:r>
              <a:rPr lang="en-US" sz="1200" dirty="0" err="1">
                <a:solidFill>
                  <a:schemeClr val="tx1"/>
                </a:solidFill>
              </a:rPr>
              <a:t>valore</a:t>
            </a:r>
            <a:r>
              <a:rPr lang="en-US" sz="1200" dirty="0">
                <a:solidFill>
                  <a:schemeClr val="tx1"/>
                </a:solidFill>
              </a:rPr>
              <a:t> </a:t>
            </a:r>
            <a:r>
              <a:rPr lang="en-US" sz="1200" dirty="0" err="1">
                <a:solidFill>
                  <a:schemeClr val="tx1"/>
                </a:solidFill>
              </a:rPr>
              <a:t>nasce</a:t>
            </a:r>
            <a:r>
              <a:rPr lang="en-US" sz="1200" dirty="0">
                <a:solidFill>
                  <a:schemeClr val="tx1"/>
                </a:solidFill>
              </a:rPr>
              <a:t> </a:t>
            </a:r>
            <a:r>
              <a:rPr lang="en-US" sz="1200" dirty="0" err="1">
                <a:solidFill>
                  <a:schemeClr val="tx1"/>
                </a:solidFill>
              </a:rPr>
              <a:t>dall’individuazione</a:t>
            </a:r>
            <a:r>
              <a:rPr lang="en-US" sz="1200" dirty="0">
                <a:solidFill>
                  <a:schemeClr val="tx1"/>
                </a:solidFill>
              </a:rPr>
              <a:t> di problem </a:t>
            </a:r>
            <a:r>
              <a:rPr lang="en-US" sz="1200" dirty="0" err="1">
                <a:solidFill>
                  <a:schemeClr val="tx1"/>
                </a:solidFill>
              </a:rPr>
              <a:t>reali</a:t>
            </a:r>
            <a:r>
              <a:rPr lang="en-US" sz="1200" dirty="0">
                <a:solidFill>
                  <a:schemeClr val="tx1"/>
                </a:solidFill>
              </a:rPr>
              <a:t> e </a:t>
            </a:r>
            <a:r>
              <a:rPr lang="en-US" sz="1200" dirty="0" err="1">
                <a:solidFill>
                  <a:schemeClr val="tx1"/>
                </a:solidFill>
              </a:rPr>
              <a:t>dalla</a:t>
            </a:r>
            <a:r>
              <a:rPr lang="en-US" sz="1200" dirty="0">
                <a:solidFill>
                  <a:schemeClr val="tx1"/>
                </a:solidFill>
              </a:rPr>
              <a:t> </a:t>
            </a:r>
            <a:r>
              <a:rPr lang="en-US" sz="1200" dirty="0" err="1">
                <a:solidFill>
                  <a:schemeClr val="tx1"/>
                </a:solidFill>
              </a:rPr>
              <a:t>verifica</a:t>
            </a:r>
            <a:r>
              <a:rPr lang="en-US" sz="1200" dirty="0">
                <a:solidFill>
                  <a:schemeClr val="tx1"/>
                </a:solidFill>
              </a:rPr>
              <a:t> delle </a:t>
            </a:r>
            <a:r>
              <a:rPr lang="en-US" sz="1200" dirty="0" err="1">
                <a:solidFill>
                  <a:schemeClr val="tx1"/>
                </a:solidFill>
              </a:rPr>
              <a:t>soluzioni</a:t>
            </a:r>
            <a:endParaRPr lang="en-US" sz="1200" dirty="0"/>
          </a:p>
        </p:txBody>
      </p:sp>
      <p:sp>
        <p:nvSpPr>
          <p:cNvPr id="21" name="scheda Sessione 2"/>
          <p:cNvSpPr/>
          <p:nvPr/>
        </p:nvSpPr>
        <p:spPr>
          <a:xfrm>
            <a:off x="6263640" y="1024128"/>
            <a:ext cx="2423160" cy="2670048"/>
          </a:xfrm>
          <a:prstGeom prst="roundRect">
            <a:avLst>
              <a:gd name="adj" fmla="val 3019"/>
            </a:avLst>
          </a:prstGeom>
          <a:solidFill>
            <a:schemeClr val="accent6"/>
          </a:solidFill>
          <a:ln/>
        </p:spPr>
        <p:txBody>
          <a:bodyPr/>
          <a:lstStyle/>
          <a:p>
            <a:endParaRPr lang="it-IT"/>
          </a:p>
        </p:txBody>
      </p:sp>
      <p:sp>
        <p:nvSpPr>
          <p:cNvPr id="22" name="cerchio FiArrowRight"/>
          <p:cNvSpPr/>
          <p:nvPr/>
        </p:nvSpPr>
        <p:spPr>
          <a:xfrm>
            <a:off x="6446520" y="1207008"/>
            <a:ext cx="457200" cy="457200"/>
          </a:xfrm>
          <a:prstGeom prst="ellipse">
            <a:avLst/>
          </a:prstGeom>
          <a:solidFill>
            <a:schemeClr val="accent1"/>
          </a:solidFill>
          <a:ln/>
        </p:spPr>
        <p:txBody>
          <a:bodyPr/>
          <a:lstStyle/>
          <a:p>
            <a:endParaRPr lang="it-IT"/>
          </a:p>
        </p:txBody>
      </p:sp>
      <p:pic>
        <p:nvPicPr>
          <p:cNvPr id="23" name="Image 0" descr="FiArrowRight"/>
          <p:cNvPicPr>
            <a:picLocks noChangeAspect="1"/>
          </p:cNvPicPr>
          <p:nvPr/>
        </p:nvPicPr>
        <p:blipFill>
          <a:blip r:embed="rId3"/>
          <a:stretch>
            <a:fillRect/>
          </a:stretch>
        </p:blipFill>
        <p:spPr>
          <a:xfrm>
            <a:off x="6560820" y="1321308"/>
            <a:ext cx="228600" cy="228600"/>
          </a:xfrm>
          <a:prstGeom prst="rect">
            <a:avLst/>
          </a:prstGeom>
        </p:spPr>
      </p:pic>
      <p:sp>
        <p:nvSpPr>
          <p:cNvPr id="24" name="Text 20"/>
          <p:cNvSpPr txBox="1"/>
          <p:nvPr/>
        </p:nvSpPr>
        <p:spPr>
          <a:xfrm>
            <a:off x="6446520" y="1773936"/>
            <a:ext cx="2057400" cy="347472"/>
          </a:xfrm>
          <a:prstGeom prst="rect">
            <a:avLst/>
          </a:prstGeom>
          <a:noFill/>
          <a:ln/>
        </p:spPr>
        <p:txBody>
          <a:bodyPr wrap="square" lIns="0" tIns="0" rIns="0" bIns="0" rtlCol="0" anchor="t"/>
          <a:lstStyle/>
          <a:p>
            <a:pPr marL="0" indent="0">
              <a:buNone/>
            </a:pPr>
            <a:r>
              <a:rPr lang="en-US" sz="1500" b="1" dirty="0">
                <a:solidFill>
                  <a:schemeClr val="tx1"/>
                </a:solidFill>
              </a:rPr>
              <a:t>Sessione 2</a:t>
            </a:r>
            <a:endParaRPr lang="en-US" sz="1500" dirty="0"/>
          </a:p>
        </p:txBody>
      </p:sp>
      <p:sp>
        <p:nvSpPr>
          <p:cNvPr id="25" name="Text 21"/>
          <p:cNvSpPr txBox="1"/>
          <p:nvPr/>
        </p:nvSpPr>
        <p:spPr>
          <a:xfrm>
            <a:off x="6446520" y="2157984"/>
            <a:ext cx="2057400" cy="1426464"/>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2"/>
                </a:solidFill>
              </a:rPr>
              <a:t>Casi </a:t>
            </a:r>
            <a:r>
              <a:rPr lang="en-US" sz="1250" dirty="0" err="1">
                <a:solidFill>
                  <a:schemeClr val="tx2"/>
                </a:solidFill>
              </a:rPr>
              <a:t>raccolti</a:t>
            </a:r>
            <a:endParaRPr lang="en-US" sz="1250" dirty="0"/>
          </a:p>
          <a:p>
            <a:pPr marL="177800" indent="-177800">
              <a:spcAft>
                <a:spcPts val="500"/>
              </a:spcAft>
              <a:buSzPct val="100000"/>
              <a:buChar char="•"/>
            </a:pPr>
            <a:r>
              <a:rPr lang="en-US" sz="1250" dirty="0">
                <a:solidFill>
                  <a:schemeClr val="tx2"/>
                </a:solidFill>
              </a:rPr>
              <a:t>Prompting</a:t>
            </a:r>
            <a:endParaRPr lang="en-US" sz="1250" dirty="0"/>
          </a:p>
          <a:p>
            <a:pPr marL="177800" indent="-177800">
              <a:spcAft>
                <a:spcPts val="500"/>
              </a:spcAft>
              <a:buSzPct val="100000"/>
              <a:buChar char="•"/>
            </a:pPr>
            <a:r>
              <a:rPr lang="en-US" sz="1250" dirty="0" err="1">
                <a:solidFill>
                  <a:schemeClr val="tx2"/>
                </a:solidFill>
              </a:rPr>
              <a:t>Strumenti</a:t>
            </a:r>
            <a:endParaRPr lang="en-US" sz="1250" dirty="0"/>
          </a:p>
          <a:p>
            <a:pPr marL="177800" indent="-177800">
              <a:spcAft>
                <a:spcPts val="500"/>
              </a:spcAft>
              <a:buSzPct val="100000"/>
              <a:buChar char="•"/>
            </a:pPr>
            <a:r>
              <a:rPr lang="en-US" sz="1250" dirty="0" err="1">
                <a:solidFill>
                  <a:schemeClr val="tx2"/>
                </a:solidFill>
              </a:rPr>
              <a:t>Dimostrazioni</a:t>
            </a:r>
            <a:r>
              <a:rPr lang="en-US" sz="1250" dirty="0">
                <a:solidFill>
                  <a:schemeClr val="tx2"/>
                </a:solidFill>
              </a:rPr>
              <a:t> e prime </a:t>
            </a:r>
            <a:r>
              <a:rPr lang="en-US" sz="1250" dirty="0" err="1">
                <a:solidFill>
                  <a:schemeClr val="tx2"/>
                </a:solidFill>
              </a:rPr>
              <a:t>sperimentazioni</a:t>
            </a:r>
            <a:endParaRPr lang="en-US" sz="1250" dirty="0"/>
          </a:p>
        </p:txBody>
      </p:sp>
      <p:sp>
        <p:nvSpPr>
          <p:cNvPr id="26" name="Text 22"/>
          <p:cNvSpPr txBox="1"/>
          <p:nvPr/>
        </p:nvSpPr>
        <p:spPr>
          <a:xfrm>
            <a:off x="457200" y="3931920"/>
            <a:ext cx="8229600" cy="457200"/>
          </a:xfrm>
          <a:prstGeom prst="rect">
            <a:avLst/>
          </a:prstGeom>
          <a:noFill/>
          <a:ln/>
        </p:spPr>
        <p:txBody>
          <a:bodyPr wrap="square" lIns="0" tIns="0" rIns="0" bIns="0" rtlCol="0" anchor="t"/>
          <a:lstStyle/>
          <a:p>
            <a:pPr marL="0" indent="0">
              <a:buNone/>
            </a:pPr>
            <a:r>
              <a:rPr lang="en-US" sz="2000" b="1" dirty="0">
                <a:solidFill>
                  <a:schemeClr val="accent1"/>
                </a:solidFill>
              </a:rPr>
              <a:t>Domande?</a:t>
            </a:r>
            <a:endParaRPr lang="en-US" sz="20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19</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98</TotalTime>
  <Words>4186</Words>
  <Application>Microsoft Macintosh PowerPoint</Application>
  <PresentationFormat>Presentazione su schermo (16:9)</PresentationFormat>
  <Paragraphs>284</Paragraphs>
  <Slides>19</Slides>
  <Notes>19</Notes>
  <HiddenSlides>2</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19</vt:i4>
      </vt:variant>
    </vt:vector>
  </HeadingPairs>
  <TitlesOfParts>
    <vt:vector size="22" baseType="lpstr">
      <vt:lpstr>Arial</vt:lpstr>
      <vt:lpstr>Calibri</vt:lpstr>
      <vt:lpstr>AI Literacy Neutro</vt:lpstr>
      <vt:lpstr>Capire l'AI senza tecnicismi</vt:lpstr>
      <vt:lpstr>Il percorso in tre sessioni</vt:lpstr>
      <vt:lpstr>Da dove partiamo</vt:lpstr>
      <vt:lpstr>Vero o falso?</vt:lpstr>
      <vt:lpstr>Sei affermazioni sull'AI: le risposte</vt:lpstr>
      <vt:lpstr>Il nostro spazio di Lavoro: problemi e opportunità</vt:lpstr>
      <vt:lpstr>Evoluzione e rilevanza dell’intelligenza Artificiale</vt:lpstr>
      <vt:lpstr>Fondamenti e funzionamento dell’Ai</vt:lpstr>
      <vt:lpstr>Capacità, limiti e affidabilità dell’AI</vt:lpstr>
      <vt:lpstr>Caccia all'allucinazione</vt:lpstr>
      <vt:lpstr>L'AI in Laser, reparto per reparto</vt:lpstr>
      <vt:lpstr>Tre luoghi dell'AI</vt:lpstr>
      <vt:lpstr>Sette sprechi informativi</vt:lpstr>
      <vt:lpstr>Esercizio: dove perdiamo tempo?</vt:lpstr>
      <vt:lpstr>Mappa degli sprechi: un esempio</vt:lpstr>
      <vt:lpstr>Dagli sprechi alle opportunità</vt:lpstr>
      <vt:lpstr>Brainstorming Guidato</vt:lpstr>
      <vt:lpstr>Da provare prima della prossima sessione</vt:lpstr>
      <vt:lpstr>Che cosa abbiamo visto oggi</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Laser Srl · AI Adoption · Sessione 1 · Slide nuove</dc:title>
  <dc:subject>Percorso AI Literacy</dc:subject>
  <dc:creator>Percorso AI Literacy</dc:creator>
  <cp:lastModifiedBy>Michele Barchi</cp:lastModifiedBy>
  <cp:revision>6</cp:revision>
  <dcterms:created xsi:type="dcterms:W3CDTF">2026-10-12T14:29:19Z</dcterms:created>
  <dcterms:modified xsi:type="dcterms:W3CDTF">2026-10-13T10:34:35Z</dcterms:modified>
</cp:coreProperties>
</file>