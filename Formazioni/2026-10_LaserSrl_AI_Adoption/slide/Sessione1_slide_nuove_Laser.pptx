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1.xml" ContentType="application/vnd.openxmlformats-officedocument.drawingml.chart+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257" r:id="rId3"/>
    <p:sldId id="258" r:id="rId4"/>
    <p:sldId id="259" r:id="rId5"/>
    <p:sldId id="260" r:id="rId6"/>
    <p:sldId id="262" r:id="rId7"/>
    <p:sldId id="272" r:id="rId8"/>
    <p:sldId id="278" r:id="rId9"/>
    <p:sldId id="279" r:id="rId10"/>
    <p:sldId id="276" r:id="rId11"/>
    <p:sldId id="280" r:id="rId12"/>
    <p:sldId id="281" r:id="rId13"/>
    <p:sldId id="282" r:id="rId14"/>
    <p:sldId id="283" r:id="rId15"/>
    <p:sldId id="284" r:id="rId16"/>
    <p:sldId id="285" r:id="rId17"/>
    <p:sldId id="287" r:id="rId18"/>
    <p:sldId id="288" r:id="rId19"/>
    <p:sldId id="290" r:id="rId20"/>
    <p:sldId id="291" r:id="rId21"/>
    <p:sldId id="292" r:id="rId22"/>
    <p:sldId id="294" r:id="rId23"/>
    <p:sldId id="295" r:id="rId24"/>
    <p:sldId id="296" r:id="rId25"/>
    <p:sldId id="297" r:id="rId26"/>
    <p:sldId id="273" r:id="rId27"/>
    <p:sldId id="298" r:id="rId28"/>
    <p:sldId id="299" r:id="rId29"/>
    <p:sldId id="300" r:id="rId30"/>
    <p:sldId id="301" r:id="rId31"/>
    <p:sldId id="302" r:id="rId32"/>
    <p:sldId id="303" r:id="rId33"/>
    <p:sldId id="304" r:id="rId34"/>
    <p:sldId id="305" r:id="rId35"/>
    <p:sldId id="306" r:id="rId36"/>
    <p:sldId id="307" r:id="rId37"/>
    <p:sldId id="277" r:id="rId38"/>
    <p:sldId id="308" r:id="rId39"/>
    <p:sldId id="309" r:id="rId40"/>
    <p:sldId id="310" r:id="rId41"/>
    <p:sldId id="311" r:id="rId42"/>
    <p:sldId id="312" r:id="rId43"/>
    <p:sldId id="286" r:id="rId44"/>
    <p:sldId id="313" r:id="rId45"/>
    <p:sldId id="314" r:id="rId46"/>
    <p:sldId id="289" r:id="rId47"/>
    <p:sldId id="315" r:id="rId48"/>
    <p:sldId id="316" r:id="rId49"/>
    <p:sldId id="317" r:id="rId50"/>
    <p:sldId id="318" r:id="rId51"/>
    <p:sldId id="319" r:id="rId52"/>
    <p:sldId id="320" r:id="rId53"/>
    <p:sldId id="321" r:id="rId54"/>
    <p:sldId id="322" r:id="rId55"/>
    <p:sldId id="323" r:id="rId56"/>
    <p:sldId id="324" r:id="rId57"/>
    <p:sldId id="325" r:id="rId58"/>
    <p:sldId id="326" r:id="rId59"/>
    <p:sldId id="327" r:id="rId60"/>
    <p:sldId id="328" r:id="rId61"/>
    <p:sldId id="274" r:id="rId62"/>
    <p:sldId id="329" r:id="rId63"/>
    <p:sldId id="330" r:id="rId64"/>
    <p:sldId id="331" r:id="rId65"/>
    <p:sldId id="332" r:id="rId66"/>
    <p:sldId id="333" r:id="rId67"/>
    <p:sldId id="334" r:id="rId68"/>
    <p:sldId id="335" r:id="rId69"/>
    <p:sldId id="336" r:id="rId70"/>
    <p:sldId id="337" r:id="rId71"/>
    <p:sldId id="338" r:id="rId72"/>
    <p:sldId id="339" r:id="rId73"/>
    <p:sldId id="340" r:id="rId74"/>
    <p:sldId id="341" r:id="rId75"/>
    <p:sldId id="342" r:id="rId76"/>
    <p:sldId id="343" r:id="rId77"/>
    <p:sldId id="344" r:id="rId78"/>
    <p:sldId id="345" r:id="rId79"/>
    <p:sldId id="346" r:id="rId80"/>
    <p:sldId id="347" r:id="rId81"/>
    <p:sldId id="348" r:id="rId82"/>
    <p:sldId id="349" r:id="rId83"/>
    <p:sldId id="350" r:id="rId84"/>
    <p:sldId id="351" r:id="rId85"/>
    <p:sldId id="352" r:id="rId86"/>
    <p:sldId id="353" r:id="rId87"/>
    <p:sldId id="354" r:id="rId88"/>
    <p:sldId id="355" r:id="rId89"/>
    <p:sldId id="356" r:id="rId90"/>
    <p:sldId id="357" r:id="rId91"/>
    <p:sldId id="263" r:id="rId92"/>
    <p:sldId id="358" r:id="rId93"/>
    <p:sldId id="264" r:id="rId94"/>
    <p:sldId id="265" r:id="rId95"/>
    <p:sldId id="266" r:id="rId96"/>
    <p:sldId id="267" r:id="rId97"/>
    <p:sldId id="268" r:id="rId98"/>
    <p:sldId id="269" r:id="rId99"/>
    <p:sldId id="275" r:id="rId100"/>
    <p:sldId id="270" r:id="rId101"/>
    <p:sldId id="271" r:id="rId10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BB9BB4-3D30-E415-8DC5-37F6A1A49D49}">
          <p14:sldIdLst>
            <p14:sldId id="256"/>
            <p14:sldId id="257"/>
            <p14:sldId id="258"/>
            <p14:sldId id="259"/>
            <p14:sldId id="260"/>
            <p14:sldId id="262"/>
            <p14:sldId id="272"/>
            <p14:sldId id="278"/>
            <p14:sldId id="279"/>
            <p14:sldId id="276"/>
            <p14:sldId id="280"/>
            <p14:sldId id="281"/>
            <p14:sldId id="282"/>
            <p14:sldId id="283"/>
            <p14:sldId id="284"/>
            <p14:sldId id="285"/>
            <p14:sldId id="287"/>
            <p14:sldId id="288"/>
            <p14:sldId id="290"/>
            <p14:sldId id="291"/>
            <p14:sldId id="292"/>
            <p14:sldId id="294"/>
            <p14:sldId id="295"/>
            <p14:sldId id="296"/>
            <p14:sldId id="297"/>
            <p14:sldId id="273"/>
            <p14:sldId id="298"/>
            <p14:sldId id="299"/>
            <p14:sldId id="300"/>
            <p14:sldId id="301"/>
            <p14:sldId id="302"/>
            <p14:sldId id="303"/>
            <p14:sldId id="304"/>
            <p14:sldId id="305"/>
            <p14:sldId id="306"/>
            <p14:sldId id="307"/>
            <p14:sldId id="277"/>
            <p14:sldId id="308"/>
            <p14:sldId id="309"/>
            <p14:sldId id="310"/>
            <p14:sldId id="311"/>
            <p14:sldId id="312"/>
            <p14:sldId id="286"/>
            <p14:sldId id="313"/>
            <p14:sldId id="314"/>
            <p14:sldId id="289"/>
            <p14:sldId id="315"/>
            <p14:sldId id="316"/>
            <p14:sldId id="317"/>
            <p14:sldId id="318"/>
            <p14:sldId id="319"/>
            <p14:sldId id="320"/>
            <p14:sldId id="321"/>
            <p14:sldId id="322"/>
            <p14:sldId id="323"/>
            <p14:sldId id="324"/>
            <p14:sldId id="325"/>
            <p14:sldId id="326"/>
            <p14:sldId id="327"/>
            <p14:sldId id="328"/>
            <p14:sldId id="274"/>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Limiti ed errori" id="{24C89B44-E5C8-B41E-C827-ADF61D49CAF2}">
          <p14:sldIdLst>
            <p14:sldId id="263"/>
          </p14:sldIdLst>
        </p14:section>
        <p14:section name="L'AI in Laser" id="{2E6046B8-D80E-A317-F930-00554509571A}">
          <p14:sldIdLst>
            <p14:sldId id="358"/>
            <p14:sldId id="264"/>
            <p14:sldId id="265"/>
            <p14:sldId id="266"/>
            <p14:sldId id="267"/>
            <p14:sldId id="268"/>
            <p14:sldId id="269"/>
            <p14:sldId id="275"/>
          </p14:sldIdLst>
        </p14:section>
        <p14:section name="Chiusura" id="{92EF9562-6C42-8CBB-24CF-EC1D33184B1E}">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65757"/>
  </p:normalViewPr>
  <p:slideViewPr>
    <p:cSldViewPr snapToGrid="0" snapToObjects="1">
      <p:cViewPr varScale="1">
        <p:scale>
          <a:sx n="120" d="100"/>
          <a:sy n="120" d="100"/>
        </p:scale>
        <p:origin x="201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Foglio_di_lavoro_di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sereno</c:v>
                </c:pt>
                <c:pt idx="1">
                  <c:v>nuvoloso</c:v>
                </c:pt>
                <c:pt idx="2">
                  <c:v>azzurro</c:v>
                </c:pt>
                <c:pt idx="3">
                  <c:v>coperto</c:v>
                </c:pt>
                <c:pt idx="4">
                  <c:v>limpido</c:v>
                </c:pt>
                <c:pt idx="5">
                  <c:v>frigorifero</c:v>
                </c:pt>
              </c:strCache>
            </c:strRef>
          </c:cat>
          <c:val>
            <c:numRef>
              <c:f>Sheet1!$B$2:$B$7</c:f>
              <c:numCache>
                <c:formatCode>General</c:formatCode>
                <c:ptCount val="6"/>
                <c:pt idx="0">
                  <c:v>0.38</c:v>
                </c:pt>
                <c:pt idx="1">
                  <c:v>0.27</c:v>
                </c:pt>
                <c:pt idx="2">
                  <c:v>0.17</c:v>
                </c:pt>
                <c:pt idx="3">
                  <c:v>0.1</c:v>
                </c:pt>
                <c:pt idx="4">
                  <c:v>7.0000000000000007E-2</c:v>
                </c:pt>
                <c:pt idx="5">
                  <c:v>1E-3</c:v>
                </c:pt>
              </c:numCache>
            </c:numRef>
          </c:val>
          <c:extLst>
            <c:ext xmlns:c16="http://schemas.microsoft.com/office/drawing/2014/chart" uri="{C3380CC4-5D6E-409C-BE32-E72D297353CC}">
              <c16:uniqueId val="{00000000-0DBD-9A42-99D3-28B7013E27FA}"/>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0.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7372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it.wikipedia.org/wiki/Alex_Krizhevsky?action=edit&amp;redlink=1"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it.wikipedia.org/wiki/Geoffrey_Hinton"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Il percorso è fatto di tre sessioni da quattro ore, e ognuna costruisce sulla precedente. Oggi, nella prima, capiamo l'AI senza tecnicismi: che cos'è, come funziona, che cosa sa fare e quali sono i suoi limiti. Nella seconda passiamo agli strumenti: vedremo Copilot e altri assistenti, impareremo a scrivere richieste efficaci, guarderemo tre esempi concreti su documenti, richieste dei clienti e ticket di assistenza, e parleremo di AI nei processi, nel service e nel prodotto. Nella terza parleremo di regole: uso sicuro, GDPR, AI Act, NIS2, riservatezza. E chiuderemo costruendo una proposta di roadmap, con uno o due progetti concreti da cui partire. Il filo conduttore sono i casi d'uso: le idee che raccoglieremo oggi diventano la materia della terza sessione.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Prima di cominciare, vorrei capire da dove partiamo, perché il gruppo è misto e le esperienze sono diverse. Tre domande, per alzata di mano. Prima: chi ha già usato almeno una volta uno strumento di AI, come ChatGPT, Copilot o simili, anche solo per curiosità? Seconda: per che cosa? Scrivere un'email, tradurre, cercare informazioni, riassumere un documento? Terza: che cosa vi aspettate da queste sessioni, e c'è qualcosa che vi preoccupa? Annoto le risposte: le riprenderemo alla fine della giornata e nelle prossime sessioni. Non ci sono risposte giuste o sbagliate, e chi non ha mai usato questi strumenti è nella posizione migliore per farsi un'idea senza preconcetti.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Un piccolo gioco per rompere il ghiaccio. Dividiamoci in squadre, per esempio per tavolo o per reparto. Vi leggo sei affermazioni sull'intelligenza artificiale: per ognuna, ogni squadra decide se è vera o falsa, e scrive la risposta su un foglio. Avete un minuto per affermazione, quindi circa sei minuti in tutto. Poi vediamo le risposte insieme nella slide successiva, e per ognuna spiego il perché. Non conta vincere: conta accorgersi di quante idee diffuse sull'AI sono imprecise. Molte di queste affermazioni torneranno durante la giornata.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il formatore legge le affermazioni e dà subito la risposta. Percorso A: si usa dopo il gioco a squadre per svelare le risposte. Prima affermazione: l'AI capisce quello che scrive. Falso, almeno nel senso umano del termine: i modelli linguistici generano testo a partire da regolarità apprese su enormi quantità di dati. Il risultato può sembrare comprensione, ed è spesso utile, ma non c'è un'intenzione né un'esperienza del mondo. Seconda: se risponde con sicurezza, la risposta è affidabile. Falso, ed è forse l'equivoco più pericoloso: il tono sicuro e la scrittura fluida non dicono nulla sulla correttezza. Terza: la stessa domanda può dare risposte diverse. Vero: questi sistemi sono probabilistici, e la variabilità è normale. Quarta: se carico un documento, l'AI lo legge tutto e non sbaglia. Falso: può perdere parti, interpretare male tabelle o scansioni, e sbagliare comunque. Quinta: l'AI può servire anche in officina e in assistenza tecnica. Vero: non è solo uno strumento da ufficio, lo vedremo nella mappa per reparto. Sesta: con l'AI la responsabilità passa allo strumento. Falso: la responsabilità resta sempre delle persone e dell'azienda. Riprenderemo ciascuno di questi punti nel corso della giornata.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Vi presento uno strumento che useremo per tutte e tre le sessioni: il parcheggio dei casi d'uso. È questo cartellone, diviso in colonne, una per reparto. Ogni volta che, durante le sessioni, vi viene in mente un'attività in cui l'AI potrebbe aiutare, la scrivete su un post-it e la attaccate nella colonna del vostro reparto. Non serve che l'idea sia completa o sicura: basta una riga, per esempio 'cercare nei manuali la soluzione di un allarme'. Una sola regola: niente nomi di clienti, prezzi o dati riservati, scrivete l'attività, non il caso specifico. Alla fine di ogni sessione riporterò i post-it in una lavagna digitale. Nella terza sessione partiremo proprio da qui per scegliere i progetti: più idee raccogliamo, migliore sarà la scelta.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08994-9C04-92E2-480C-CB6E974D8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65715-8B14-8A9E-A1AE-33FA46BC70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E9EB61-DD7F-E2B2-B44C-D11E7E6D7494}"/>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CE98FD45-5D67-0B3F-3F71-32AE463A5316}"/>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605133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linea del tempo serve a dare un colpo d'occhio sull'intera traiettoria, senza entrare nei dettagli. 1950: Alan Turing pone la domanda sulle macchine pensanti. 1956: con il seminario di Dartmouth nasce la disciplina, il cui nome era stato proposto </a:t>
            </a:r>
            <a:r>
              <a:rPr lang="en-US" dirty="0" err="1"/>
              <a:t>l'anno</a:t>
            </a:r>
            <a:r>
              <a:rPr lang="en-US" dirty="0"/>
              <a:t> prima, </a:t>
            </a:r>
            <a:r>
              <a:rPr lang="en-US" dirty="0" err="1"/>
              <a:t>si</a:t>
            </a:r>
            <a:r>
              <a:rPr lang="en-US" dirty="0"/>
              <a:t> </a:t>
            </a:r>
            <a:r>
              <a:rPr lang="en-US" dirty="0" err="1"/>
              <a:t>inizia</a:t>
            </a:r>
            <a:r>
              <a:rPr lang="en-US" dirty="0"/>
              <a:t> a </a:t>
            </a:r>
            <a:r>
              <a:rPr lang="en-US" dirty="0" err="1"/>
              <a:t>parlare</a:t>
            </a:r>
            <a:r>
              <a:rPr lang="en-US" dirty="0"/>
              <a:t> di </a:t>
            </a:r>
            <a:r>
              <a:rPr lang="en-US" dirty="0" err="1"/>
              <a:t>intelligenza</a:t>
            </a:r>
            <a:r>
              <a:rPr lang="en-US" dirty="0"/>
              <a:t> </a:t>
            </a:r>
            <a:r>
              <a:rPr lang="en-US" dirty="0" err="1"/>
              <a:t>artificale</a:t>
            </a:r>
            <a:r>
              <a:rPr lang="en-US" dirty="0"/>
              <a:t> . 1958: Frank Rosenblatt presenta il perceptron, uno dei primi modelli di neurone artificiale, antenato lontano delle reti neurali di oggi. Anni Settanta e Ottanta: si diffondono i sistemi esperti, che codificano la conoscenza di specialisti in </a:t>
            </a:r>
            <a:r>
              <a:rPr lang="en-US" dirty="0" err="1"/>
              <a:t>regole</a:t>
            </a:r>
            <a:r>
              <a:rPr lang="en-US" dirty="0"/>
              <a:t> ( </a:t>
            </a:r>
            <a:r>
              <a:rPr lang="en-US" dirty="0" err="1"/>
              <a:t>diagnosi</a:t>
            </a:r>
            <a:r>
              <a:rPr lang="en-US" dirty="0"/>
              <a:t> medica </a:t>
            </a:r>
            <a:r>
              <a:rPr lang="en-US" dirty="0" err="1"/>
              <a:t>oppure</a:t>
            </a:r>
            <a:r>
              <a:rPr lang="en-US" dirty="0"/>
              <a:t> la </a:t>
            </a:r>
            <a:r>
              <a:rPr lang="en-US" dirty="0" err="1"/>
              <a:t>configurazione</a:t>
            </a:r>
            <a:r>
              <a:rPr lang="en-US" dirty="0"/>
              <a:t> di </a:t>
            </a:r>
            <a:r>
              <a:rPr lang="en-US" dirty="0" err="1"/>
              <a:t>sistemi</a:t>
            </a:r>
            <a:r>
              <a:rPr lang="en-US" dirty="0"/>
              <a:t> </a:t>
            </a:r>
            <a:r>
              <a:rPr lang="en-US" dirty="0" err="1"/>
              <a:t>complessi</a:t>
            </a:r>
            <a:r>
              <a:rPr lang="en-US" dirty="0"/>
              <a:t>). 1997: il computer Deep Blue di IBM batte il campione del mondo di scacchi Garry Kasparov, un traguardo simbolico raggiunto però con un sistema altamente specializzato. 2012: una rete neurale profonda (AlexNet) vince nettamente una competizione di riconoscimento delle immagini basata sul dataset ImageNet, segnando la svolta del deep learning. 2017: ricercatori di Google pubblicano l'architettura Transformer, alla base dei moderni modelli linguistici. 2022: il lancio pubblico di ChatGPT porta l'AI generativa al grande pubblico. Messaggio: ciò che vediamo oggi è l'ultimo tratto di una lunga </a:t>
            </a:r>
            <a:r>
              <a:rPr lang="en-US" dirty="0" err="1"/>
              <a:t>strada</a:t>
            </a:r>
            <a:r>
              <a:rPr lang="en-US" dirty="0"/>
              <a:t>.</a:t>
            </a:r>
          </a:p>
          <a:p>
            <a:endParaRPr lang="en-US" dirty="0"/>
          </a:p>
          <a:p>
            <a:r>
              <a:rPr lang="en-US" dirty="0"/>
              <a:t>ALEXNET : I</a:t>
            </a:r>
            <a:r>
              <a:rPr lang="it-IT" sz="1200" b="1" i="0" kern="1200" dirty="0" err="1">
                <a:solidFill>
                  <a:schemeClr val="tx1"/>
                </a:solidFill>
                <a:effectLst/>
                <a:latin typeface="+mn-lt"/>
                <a:ea typeface="+mn-ea"/>
                <a:cs typeface="+mn-cs"/>
              </a:rPr>
              <a:t>lya</a:t>
            </a:r>
            <a:r>
              <a:rPr lang="it-IT" sz="1200" b="1" i="0" kern="1200" dirty="0">
                <a:solidFill>
                  <a:schemeClr val="tx1"/>
                </a:solidFill>
                <a:effectLst/>
                <a:latin typeface="+mn-lt"/>
                <a:ea typeface="+mn-ea"/>
                <a:cs typeface="+mn-cs"/>
              </a:rPr>
              <a:t> </a:t>
            </a:r>
            <a:r>
              <a:rPr lang="it-IT" sz="1200" b="1" i="0" kern="1200" dirty="0" err="1">
                <a:solidFill>
                  <a:schemeClr val="tx1"/>
                </a:solidFill>
                <a:effectLst/>
                <a:latin typeface="+mn-lt"/>
                <a:ea typeface="+mn-ea"/>
                <a:cs typeface="+mn-cs"/>
              </a:rPr>
              <a:t>Sutskever</a:t>
            </a:r>
            <a:r>
              <a:rPr lang="it-IT" sz="1200" b="1" i="0" kern="1200" dirty="0">
                <a:solidFill>
                  <a:schemeClr val="tx1"/>
                </a:solidFill>
                <a:effectLst/>
                <a:latin typeface="+mn-lt"/>
                <a:ea typeface="+mn-ea"/>
                <a:cs typeface="+mn-cs"/>
              </a:rPr>
              <a:t> , </a:t>
            </a:r>
            <a:r>
              <a:rPr lang="it-IT" sz="1200" b="0" i="0" u="sng" kern="1200" dirty="0">
                <a:solidFill>
                  <a:schemeClr val="tx1"/>
                </a:solidFill>
                <a:effectLst/>
                <a:latin typeface="+mn-lt"/>
                <a:ea typeface="+mn-ea"/>
                <a:cs typeface="+mn-cs"/>
                <a:hlinkClick r:id="rId3" tooltip="Alex Krizhevsky (la pagina non esiste)"/>
              </a:rPr>
              <a:t>Alex Krizhevsky</a:t>
            </a:r>
            <a:r>
              <a:rPr lang="it-IT" sz="1200" b="0" i="0" u="sng" kern="1200" dirty="0">
                <a:solidFill>
                  <a:schemeClr val="tx1"/>
                </a:solidFill>
                <a:effectLst/>
                <a:latin typeface="+mn-lt"/>
                <a:ea typeface="+mn-ea"/>
                <a:cs typeface="+mn-cs"/>
              </a:rPr>
              <a:t> . </a:t>
            </a:r>
            <a:r>
              <a:rPr lang="it-IT" sz="1200" b="0" i="0" u="none" strike="noStrike" kern="1200" dirty="0">
                <a:solidFill>
                  <a:schemeClr val="tx1"/>
                </a:solidFill>
                <a:effectLst/>
                <a:latin typeface="+mn-lt"/>
                <a:ea typeface="+mn-ea"/>
                <a:cs typeface="+mn-cs"/>
                <a:hlinkClick r:id="rId4"/>
              </a:rPr>
              <a:t>Geoffrey Hinton</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fattori. La potenza di calcolo, grazie soprattutto ai processori grafici (GPU) e al cloud. I dati, resi disponibili in quantità enormi dalla digitalizzazione e da internet. Gli algoritmi e le architetture, migliorati in modo decisivo, con l'architettura Transformer del 2017 come tappa cruciale. I modelli di grandi dimensioni, resi possibili dalla combinazione dei tre fattori precedenti. Infine gli investimenti e le infrastrutture, cioè i capitali, i data center e gli ecosistemi industriali che hanno permesso di passare dalla ricerca ai prodotti. Il punto chiave è il rafforzamento reciproco: più dati richiedono più calcolo; più calcolo permette modelli più grandi; risultati migliori attirano più investimenti, che finanziano più calcolo. Nelle prossime slide vediamo brevemente ciascun fattore.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quinto fattore è economico e industriale. Addestrare e far funzionare i grandi modelli richiede capitali ingenti: data center, chip, energia, competenze specialistiche. Negli ultimi anni le grandi aziende tecnologiche e numerose startup hanno investito somme molto elevate, e attorno all'AI è nato un intero ecosistema: produttori di chip, fornitori di cloud, sviluppatori di modelli, aziende che costruiscono applicazioni sopra i modelli, consulenti e integratori. Un aspetto importante per le aziende utenti: grazie a questo ecosistema, le capacità AI arrivano sotto forma di servizi pronti, accessibili via abbonamento o tramite API, cioè interfacce che permettono ai software di comunicare tra loro, senza dover costruire nulla da zero. Evitare in aula di citare cifre puntuali sugli investimenti, che cambiano molto rapidamente: se servono numeri aggiornati, verificarli poco prima della sessione. Va anche ricordato che l'infrastruttura dell'AI ha costi e impatti rilevanti, per esempio in termini di consumo energetico: è un tema emergente da tenere presente.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a priorità alta. L'AI generativa non ha soltanto aggiunto nuove capacità tecniche: ha cambiato chi può usare l'AI e come. Fino a pochi anni fa l'AI era qualcosa che lavorava dietro le quinte, progettato da specialisti. Oggi chiunque può interagire direttamente con un sistema AI scrivendo una frase. È questa combinazione di nuove capacità e accessibilità che spiega la centralità attuale del tema.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 parte dell'AI tradizionale svolge compiti di analisi: classifica (questa email è spam o no? questo pezzo è difettoso o no?) oppure prevede (quanto venderemo il mese prossimo? qual è la probabilità che questo cliente abbandoni il servizio?). L'output è un'etichetta, un numero, una probabilità. L'AI generativa produce invece contenuti nuovi: un testo, un'immagine, un frammento di codice, una sintesi, una traduzione. Contenuti che non esistevano prima nella forma in cui vengono prodotti, anche se derivano da ciò che il modello ha appreso. È importante sottolineare che le due famiglie non sono in competizione: in azienda convivono e spesso si combinano. Un sistema predittivo può individuare i clienti a rischio di abbandono, e un sistema generativo può aiutare a preparare un messaggio personalizzato per ciascuno di loro, che una persona poi verifica. La classificazione più precisa tra AI predittiva, discriminativa e generativa sarà affrontata nel Tema 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il cuore della svolta. La storia dell'informatica può essere letta anche come una storia delle interfacce, cioè di come le persone comunicano con i computer. All'inizio servivano comandi testuali precisi, da imparare a memoria. Poi le interfacce grafiche, con finestre, icone e mouse, hanno reso il computer accessibile a milioni di persone. Gli schermi touch e le app hanno fatto lo stesso con gli smartphone. Con l'AI generativa l'interfaccia diventa il linguaggio naturale: possiamo chiedere ciò che ci serve con parole nostre, in italiano, senza conoscere comandi o linguaggi di programmazione, e possiamo correggere e affinare la richiesta come in una conversazione. Questo abbassa drasticamente la barriera d'ingresso. Attenzione però: scrivere in linguaggio naturale è facile, scrivere richieste efficaci è una competenza che si impara. Il dialogo con l'AI e le tecniche per formulare buone richieste sono approfonditi nei Temi 5 e 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30 novembre 2022 OpenAI rende disponibile al pubblico ChatGPT. Nel giro di poche settimane il servizio raggiunge milioni di utenti; secondo stime riportate all'epoca dalla stampa (analisi di UBS citata da Reuters, febbraio 2023), circa 100 milioni di utenti mensili in due mesi, un ritmo di adozione mai visto prima per un'applicazione consumer. Nei mesi e negli anni successivi altri sviluppatori hanno lanciato i propri assistenti, e le funzioni di AI generativa sono state integrate nei software di uso quotidiano: suite di produttività, motori di ricerca, sistemi operativi, strumenti di sviluppo, CRM. Oggi l'AI generativa arriva quindi in tre forme principali: assistenti conversazionali a cui ci si rivolge direttamente; funzioni AI integrate negli strumenti che già usiamo; e servizi accessibili via API, che le aziende incorporano nei propri sistemi. Non ci soffermiamo sui singoli prodotti: il confronto tra modelli e piattaforme è oggetto del Tema 4. Se necessario, aggiornare i riferimenti alla situazione del mercato al momento della sessione.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non si limita al testo. Oggi esistono sistemi in grado di generare testi (email, report, sintesi, traduzioni), immagini a partire da una descrizione, codice informatico, audio e voce sintetica, video, e di lavorare su dati strutturati come tabelle e fogli di calcolo. Molti sistemi sono multimodali, cioè capaci di ricevere e produrre più tipi di contenuto: per esempio descrivere una fotografia, leggere un grafico o trasformare una registrazione in un verbale. È utile far notare che la maturità non è la stessa per tutti i tipi di contenuto, e che qualità e affidabilità variano a seconda del compito: lo vedremo nel sottotema 1.6 e lo approfondiremo nel Tema 3. Domanda per il gruppo: quali di questi tipi di contenuto producete più spesso nel vostro lavoro quotidiano?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altro sottotema ad alta priorità. Nel linguaggio comune, e talvolta anche nel marketing dei fornitori, digitalizzazione, automazione e AI vengono spesso confusi. Chiarire le differenze ci aiuta a capire che cosa è davvero nuovo nell'AI, a valutare meglio le proposte che riceviamo e a riconoscere che spesso la soluzione migliore a un problema non è l'AI, ma una buona digitalizzazione o una semplice automazione.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come i quattro passaggi possono coesistere nello stesso processo aziendale, usando un esempio semplice: la gestione delle email che i clienti inviano all'assistenza. Digitalizzazione: le email arrivano in una casella condivisa e vengono registrate nel CRM, con lo storico di ogni cliente consultabile. Automazione a regole: una regola invia subito una conferma di ricezione e inoltra all'amministrazione tutte le richieste provenienti da un determinato indirizzo o con determinate parole nell'oggetto. Apprendimento dai dati: un modello addestrato sulle richieste passate classifica ogni nuova email per categoria e urgenza, anche quando non contiene le parole previste dalle regole. AI generativa: un assistente riassume la richiesta, recupera le informazioni pertinenti e propone una bozza di risposta, che l'operatore controlla, modifica e invia. Il messaggio è che non si tratta di alternative: ciascuna tecnologia fa ciò che sa fare meglio. E la persona resta nel processo, con un ruolo diverso. Suggerimento: chiedere ai partecipanti di individuare i quattro livelli in un processo che conoscono bene.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distinzione concettuale che useremo molto nel resto del percorso. Il software tradizionale è deterministico: a parità di input, produce sempre lo stesso output, perché segue istruzioni precise scritte da programmatori. Se una calcolatrice sbaglia, c'è un errore nel programma, che può essere trovato e corretto. I sistemi AI basati sull'apprendimento, e in particolare quelli generativi, sono invece probabilistici: producono l'output più plausibile in base a ciò che hanno appreso e al contesto. Questo significa che possono produrre risposte diverse alla stessa domanda e che possono sbagliare anche quando funzionano 'correttamente', perché un risultato plausibile non è necessariamente un risultato vero. La conseguenza pratica è importante: con il software deterministico ci si può fidare del risultato una volta collaudato il programma; con i sistemi probabilistici occorre una verifica proporzionata all'importanza del risultato. Restiamo a livello generale: il meccanismo della variabilità sarà spiegato nel Tema 2 e le cause degli errori nel Tema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domanda più vicina all'esperienza dei partecipanti: perché tutto questo riguarda la nostra azienda? In questo sottotema vediamo perché l'AI è considerata una tecnologia trasversale, quali effetti potenziali può avere su produttività, qualità e innovazione, come cambia il lavoro e quali implicazioni competitive comporta. Chiuderemo con una distinzione decisiva: quella tra potenziale tecnologico e valore effettivamente realizzato. Ricordare che non entreremo nei casi d'uso specifici di ciascuna funzione né nei metodi di valutazione del valore: le applicazioni per tipo di attività sono nei Temi 8-11, il valore e la valutazione delle opportunità nei Temi 12 e 15.</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differenza di molte tecnologie che riguardano una sola funzione (pensiamo a un software di contabilità o a un sistema di gestione del magazzino), l'AI, e in particolare l'AI generativa, tocca potenzialmente tutte le funzioni, perché quasi tutte lavorano con informazioni, testi, dati e comunicazione. In questa slide ci sono solo esempi indicativi, citati per dare un'idea dell'ampiezza: marketing e comunicazione per la produzione di contenuti; vendite per la preparazione degli incontri e delle offerte; assistenza clienti per lo smistamento e le risposte; risorse umane per gli annunci e la formazione; amministrazione e finanza per l'elaborazione dei documenti; operations e produzione per la manutenzione predittiva e il controllo qualità; IT per lo sviluppo e il supporto; legale e compliance per l'analisi preliminare dei documenti. Non approfondire i singoli casi: le applicazioni per tipo di attività sono nei Temi 8-11, l'individuazione delle opportunità nel Tema 15. Il messaggio è l'ampiezza: proprio perché è trasversale, l'AI richiede consapevolezza diffusa e non solo competenze in un singolo reparto.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è spesso descritta come una tecnologia abilitante, o di uso generale, come lo sono state in passato l'elettricità o internet. Una tecnologia abilitante non è un prodotto in sé, ma una capacità che può essere incorporata in molti contesti diversi, rendendo possibili cose nuove o facendo meglio quelle esistenti. Per l'AI questo vale su quattro piani. Nelle funzioni: supporta il lavoro delle persone nelle diverse aree aziendali, come abbiamo visto. Nei prodotti: può essere incorporata in ciò che l'azienda vende, per esempio un macchinario che segnala in anticipo i propri guasti o un software con funzioni intelligenti. Nei servizi: può cambiare il modo in cui l'azienda serve i clienti, per esempio con un'assistenza disponibile in qualsiasi orario per le richieste più semplici. Nei processi: può ridisegnare il modo in cui il lavoro viene organizzato, non solo velocizzare singoli compiti. Il paragone con l'elettricità è utile anche per un altro motivo: i benefici economici delle grandi tecnologie abilitanti si sono manifestati pienamente solo quando le organizzazioni hanno ripensato i propri processi, e questo ha richiesto tempo.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produrre effetti su tre dimensioni principali. Produttività: svolgere certe attività in meno tempo, per esempio una prima bozza di documento o la sintesi di materiali lunghi. Qualità: migliorare l'output, per esempio con testi più chiari, controlli più sistematici, analisi più complete. Innovazione: rendere possibili cose prima non praticabili, come nuovi servizi o l'esplorazione rapida di molte alternative. Sottolineare la parola 'potenziali'. Un esempio di evidenza empirica: lo studio di Erik Brynjolfsson, Danielle Li e Lindsey Raymond, pubblicato nel 2025 sul </a:t>
            </a:r>
            <a:r>
              <a:rPr lang="en-US" b="1" dirty="0"/>
              <a:t>Quarterly Journal of Economics</a:t>
            </a:r>
            <a:r>
              <a:rPr lang="en-US" dirty="0"/>
              <a:t>, condotto su 5.172 operatori di assistenza clienti di un'azienda di software, ha rilevato che l'introduzione di un assistente basato su AI generativa ha aumentato in media del 15% il numero di problemi risolti per ora. L'aumento è stato del 36% per gli operatori meno qualificati, mentre per i più qualificati non si è osservato un aumento di produttività. Una precisazione utile se qualcuno conosce lo studio: la prima versione del 2023, ancora molto citata, riportava valori leggermente diversi, 14% e 34%. È un risultato interessante perché mostra due cose: i benefici possono essere reali e misurabili, ma non sono uguali per tutti. È un singolo studio in un contesto specifico: non va generalizzato automaticamente ad altri contesti. Fonte: Brynjolfsson, Li, Raymond, 'Generative AI at Work', The Quarterly Journal of Economics, 140(2), 2025. Lo studio è ripreso nel Tema 12, dedicato alla creazione di valore.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L'impatto dell'AI sul lavoro è uno dei temi che generano più preoccupazioni, ed è giusto affrontarlo con equilibrio. Un primo concetto utile: l'AI agisce soprattutto sulle singole attività, più che sui ruoli nel loro complesso. Un ruolo è fatto di molte attività diverse: alcune possono essere automatizzate, altre supportate dall'AI, altre restano essenzialmente umane, come le relazioni, il giudizio in situazioni complesse e la responsabilità delle decisioni. Un secondo concetto: in molti casi l'AI aumenta le capacità delle persone invece di sostituirle; la persona resta responsabile del risultato, ma cambia il modo in cui lavora. Questo sposta il valore verso competenze come saper formulare bene un problema, valutare criticamente un output, integrare l'AI nel proprio flusso di lavoro e mantenere le competenze di dominio necessarie per accorgersi degli errori. È onesto riconoscere che gli effetti complessivi sull'occupazione sono ancora oggetto di studio e dibattito, e che alcune attività e professioni potranno essere trasformate in modo significativo. Evitare in aula sia rassicurazioni assolute sia scenari catastrofici.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ha anche implicazioni competitive, che è bene considerare senza enfasi eccessiva. Primo: quando una capacità diventa ampiamente disponibile, il suo uso tende a diventare uno standard. Se tutti i concorrenti usano l'AI per rispondere più rapidamente ai clienti, non usarla può diventare uno svantaggio, mentre usarla non è più di per sé un vantaggio. Secondo: il vantaggio duraturo raramente deriva dallo strumento in sé, che è accessibile a tutti, ma da ciò che è specifico dell'azienda: la conoscenza del proprio mercato, la qualità dei propri dati, i processi, le competenze delle persone e la capacità di imparare in fretta. Terzo: possono cambiare le aspettative dei clienti, per esempio sui tempi di risposta o sulla personalizzazione. Quarto: l'AI può abbassare le barriere d'ingresso in alcuni settori, favorendo nuovi concorrenti. Restiamo a livello di consapevolezza: le valutazioni strategiche e organizzative sono oggetto dei Temi 12, 15 e 16. Domanda per il gruppo: nel nostro settore, quali di queste dinamiche vediamo già?</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a:t>
            </a:r>
            <a:r>
              <a:rPr lang="en-US" dirty="0" err="1"/>
              <a:t>potenziale</a:t>
            </a:r>
            <a:r>
              <a:rPr lang="en-US" dirty="0"/>
              <a:t> tecnologico è ciò che l'AI potrebbe fare; il valore realizzato è il beneficio che l'azienda ottiene davvero. Tra i due c'è un percorso con diversi passaggi, e a ciascuno corrisponde un possibile ostacolo. Prima di tutto bisogna individuare un problema reale da risolvere, non adottare l'AI per moda: molti progetti partono dalla tecnologia e cercano poi un problema. Poi la soluzione va integrata nei processi, con dati adeguati e strumenti compatibili. Quindi deve essere adottata dalle persone, che devono sapere come usarla, fidarsi il giusto e trovarla utile. Infine il valore va misurato, confrontando i risultati con la situazione di partenza e tenendo conto anche dei costi, compreso il tempo necessario per verificare gli output. A ogni passaggio parte del potenziale può andare perso: per questo è frequente che le iniziative AI producano meno valore di quanto ci si aspettasse. Non entriamo nei metodi di valutazione del valore, oggetto dei Temi 12 e 15: qui ci interessa la consapevolezza della distanza tra potenziale e valore.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DA79-0798-3381-6F84-28237BB3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063EA-B4AF-D49A-BD35-3EBA81B844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372A7E-E4BE-4A92-BC6D-C48BDC8C5A35}"/>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FEA8FB6C-61C3-1F5D-57BD-CC46E2406E19}"/>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087698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a:t>
            </a:r>
            <a:r>
              <a:rPr lang="en-US" b="1" dirty="0"/>
              <a:t>sono il risultato dell'addestramento su testi umani </a:t>
            </a:r>
            <a:r>
              <a:rPr lang="en-US" dirty="0"/>
              <a:t>e di scelte di progettazione: non sono, di per sé, prova di pensieri o emozioni. Riconoscere questa tendenza in noi stessi è il primo passo per usare l'AI in modo lucido.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Nell'AI</a:t>
            </a:r>
            <a:r>
              <a:rPr lang="en-US" dirty="0"/>
              <a:t>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a:t>
            </a:r>
          </a:p>
          <a:p>
            <a:r>
              <a:rPr lang="en-US" dirty="0"/>
              <a:t>Un agente immobiliare esperto lo fa in base all'esperienza: ha visto centinaia di vendite e sa, più o meno, quanto incidono la zona, la superficie, il piano, lo stato dell'immobile. </a:t>
            </a:r>
          </a:p>
          <a:p>
            <a:r>
              <a:rPr lang="en-US" dirty="0" err="1"/>
              <a:t>Nessuno</a:t>
            </a:r>
            <a:r>
              <a:rPr lang="en-US" dirty="0"/>
              <a:t> gli ha dato una formula: l'ha ricavata dagli </a:t>
            </a:r>
            <a:r>
              <a:rPr lang="en-US" dirty="0" err="1"/>
              <a:t>esempi</a:t>
            </a:r>
            <a:r>
              <a:rPr lang="en-US" dirty="0"/>
              <a:t>.</a:t>
            </a:r>
          </a:p>
          <a:p>
            <a:endParaRPr lang="en-US" dirty="0"/>
          </a:p>
          <a:p>
            <a:r>
              <a:rPr lang="en-US" dirty="0"/>
              <a:t> Un sistema di Machine Learning fa qualcosa di simile, in modo matematico e su scala molto più ampia. Riceve migliaia di esempi di vendite passate, ciascuno con le caratteristiche dell'immobile e il prezzo effettivo, e </a:t>
            </a:r>
            <a:r>
              <a:rPr lang="en-US" b="1" dirty="0"/>
              <a:t>cerca la relazione che collega le caratteristiche al prezzo</a:t>
            </a:r>
            <a:r>
              <a:rPr lang="en-US" dirty="0"/>
              <a:t>.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C1865-0433-6FB5-AB5C-FCD8A267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A440F-A694-1D34-7391-E4F2DDF42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BFC39-3E40-A455-E00E-65650AD32B59}"/>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3DA617E1-2CD6-3E25-5D4B-17CCC1B82E7C}"/>
              </a:ext>
            </a:extLst>
          </p:cNvPr>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7850845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a:t>
            </a:r>
            <a:r>
              <a:rPr lang="en-US" b="1" dirty="0"/>
              <a:t>problem solving </a:t>
            </a:r>
            <a:r>
              <a:rPr lang="en-US" dirty="0"/>
              <a:t>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Nei sistemi generativi si parla di allucinazione quando il sistema produce un contenuto presentato come vero ma falso, inesatto o privo di fondamento</a:t>
            </a:r>
            <a:r>
              <a:rPr lang="en-US" dirty="0"/>
              <a:t>. </a:t>
            </a:r>
          </a:p>
          <a:p>
            <a:endParaRPr lang="en-US" dirty="0"/>
          </a:p>
          <a:p>
            <a:r>
              <a:rPr lang="en-US" dirty="0"/>
              <a:t>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a:t>
            </a:r>
            <a:r>
              <a:rPr lang="en-US" dirty="0" err="1"/>
              <a:t>dati</a:t>
            </a:r>
            <a:r>
              <a:rPr lang="en-US" dirty="0"/>
              <a:t>.</a:t>
            </a:r>
          </a:p>
          <a:p>
            <a:endParaRPr lang="en-US" dirty="0"/>
          </a:p>
          <a:p>
            <a:r>
              <a:rPr lang="it-IT" dirty="0"/>
              <a:t>il caso Amazon è un esempio storico di un </a:t>
            </a:r>
            <a:r>
              <a:rPr lang="it-IT" b="1" dirty="0"/>
              <a:t>sistema sperimentale </a:t>
            </a:r>
            <a:r>
              <a:rPr lang="it-IT" dirty="0"/>
              <a:t>di selezione, non una dimostrazione che tutti gli strumenti AI per le risorse umane siano discriminatori.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a:t>
            </a:r>
            <a:r>
              <a:rPr lang="en-US" dirty="0" err="1"/>
              <a:t>meccanismo</a:t>
            </a:r>
            <a:r>
              <a:rPr lang="en-US" dirty="0"/>
              <a:t>.</a:t>
            </a:r>
          </a:p>
          <a:p>
            <a:endParaRPr lang="en-US" dirty="0"/>
          </a:p>
          <a:p>
            <a:r>
              <a:rPr lang="it-IT" dirty="0"/>
              <a:t>La formulazione delle richieste, le informazioni fornite e i criteri espliciti aiutano a ottenere confronti più equilibrati.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a:t>
            </a:r>
          </a:p>
          <a:p>
            <a:r>
              <a:rPr lang="en-US" b="1" dirty="0" err="1"/>
              <a:t>L'accuratezza</a:t>
            </a:r>
            <a:r>
              <a:rPr lang="en-US" b="1" dirty="0"/>
              <a:t> è la corrispondenza tra il risultato e la realtà o la risposta corretta</a:t>
            </a:r>
            <a:r>
              <a:rPr lang="en-US" dirty="0"/>
              <a:t>: quanto spesso il sistema ha ragione. </a:t>
            </a:r>
          </a:p>
          <a:p>
            <a:r>
              <a:rPr lang="en-US" dirty="0" err="1"/>
              <a:t>L'affidabilità</a:t>
            </a:r>
            <a:r>
              <a:rPr lang="en-US" dirty="0"/>
              <a:t> è la capacità di mantenere un livello di qualità adeguato in modo costante, nelle condizioni d'uso reali, compresi i casi difficili: </a:t>
            </a:r>
            <a:r>
              <a:rPr lang="en-US" b="1" dirty="0"/>
              <a:t>possiamo contare su quel sistema per quel compito? </a:t>
            </a:r>
          </a:p>
          <a:p>
            <a:r>
              <a:rPr lang="en-US" b="1" dirty="0"/>
              <a:t>La consistenza è la coerenza dei risultati: risposte simili a richieste simili, </a:t>
            </a:r>
            <a:r>
              <a:rPr lang="en-US" dirty="0"/>
              <a:t>nessuna contraddizione interna, stesso trattamento per casi equivalenti. </a:t>
            </a:r>
          </a:p>
          <a:p>
            <a:endParaRPr lang="en-US" dirty="0"/>
          </a:p>
          <a:p>
            <a:r>
              <a:rPr lang="en-US" b="1" dirty="0" err="1"/>
              <a:t>L'utilità</a:t>
            </a:r>
            <a:r>
              <a:rPr lang="en-US" b="1" dirty="0"/>
              <a:t> è il valore che il risultato porta a chi lo usa</a:t>
            </a:r>
            <a:r>
              <a:rPr lang="en-US" dirty="0"/>
              <a:t>: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a:t>
            </a:r>
            <a:r>
              <a:rPr lang="en-US" dirty="0" err="1"/>
              <a:t>queste</a:t>
            </a:r>
            <a:r>
              <a:rPr lang="en-US" dirty="0"/>
              <a:t> </a:t>
            </a:r>
            <a:r>
              <a:rPr lang="en-US" dirty="0" err="1"/>
              <a:t>condizioni</a:t>
            </a:r>
            <a:r>
              <a:rPr lang="en-US" dirty="0"/>
              <a:t>’.</a:t>
            </a:r>
          </a:p>
          <a:p>
            <a:endParaRPr lang="en-US" dirty="0"/>
          </a:p>
          <a:p>
            <a:r>
              <a:rPr lang="it-IT" dirty="0"/>
              <a:t>un sistema con strumenti di calcolo e accesso alle fonti può comportarsi in modo molto diverso da uno che produce soltanto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a:t>
            </a:r>
          </a:p>
          <a:p>
            <a:r>
              <a:rPr lang="en-US" dirty="0"/>
              <a:t>Primo: definire con precisione il compito e che cosa si intende per risultato </a:t>
            </a:r>
            <a:r>
              <a:rPr lang="en-US" dirty="0" err="1"/>
              <a:t>buono</a:t>
            </a:r>
            <a:r>
              <a:rPr lang="en-US" dirty="0"/>
              <a:t>.</a:t>
            </a:r>
          </a:p>
          <a:p>
            <a:r>
              <a:rPr lang="en-US" dirty="0"/>
              <a:t>Secondo: raccogliere un insieme di casi reali, rappresentativi della varietà che incontreremo, compresi i casi difficili, insoliti e ambigui, non solo quelli tipici. </a:t>
            </a:r>
          </a:p>
          <a:p>
            <a:r>
              <a:rPr lang="en-US" dirty="0"/>
              <a:t>Terzo: confrontare i risultati del sistema con quelli attesi, possibilmente con il giudizio di una persona competente. </a:t>
            </a:r>
          </a:p>
          <a:p>
            <a:r>
              <a:rPr lang="en-US" dirty="0"/>
              <a:t>Quarto: annotare dove e come il sistema sbaglia: non conta solo quanti errori fa, ma di che tipo sono, quanto sono gravi e quanto sono facili da individuare. </a:t>
            </a:r>
          </a:p>
          <a:p>
            <a:r>
              <a:rPr lang="en-US" dirty="0"/>
              <a:t>Quinto: ripetere la valutazione nel tempo, perché modelli, applicazioni e dati </a:t>
            </a:r>
            <a:r>
              <a:rPr lang="en-US" dirty="0" err="1"/>
              <a:t>cambiano</a:t>
            </a:r>
            <a:r>
              <a:rPr lang="en-US" dirty="0"/>
              <a:t>.</a:t>
            </a:r>
          </a:p>
          <a:p>
            <a:endParaRPr lang="en-US" dirty="0"/>
          </a:p>
          <a:p>
            <a:r>
              <a:rPr lang="en-US" dirty="0"/>
              <a:t>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Proviamo dal vivo. Faccio a Copilot tre domande, senza allegare nessun documento. La prima riguarda un forno a tunnel chiamato TF-900: è un modello che non esiste, l'ho inventato per questo corso. La seconda chiede un dato tecnico preciso, la coppia di serraggio dei bulloni del bruciatore, sempre del forno inesistente. La terza riguarda la vostra azienda: che cosa produce e da quando esiste. Mentre guardiamo le risposte, osserviamo tre cose. Risponde comunque, con sicurezza, oppure dice che non conosce questo modello? Se dà numeri o date, da dove li prende? Cita fonti che possiamo controllare? Nel percorso A, chiedo a voi di giudicare ogni risposta: affidabile, da verificare o inventata. Se Copilot dice di non sapere, è un buon segnale, e lo commentiamo. Se inventa, abbiamo appena visto un'allucinazione: una risposta plausibile, ben scritta e falsa. Nota per il formatore: provare prima i prompt almeno tre volte, e tenere pronti gli screenshot o il video se la rete non funziona.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9EA6-D7F0-0CD6-F683-17E4D9B180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278A2C-79FD-8249-CDAF-0E73DB25B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FE396-D490-7A2D-A86B-1E97F4AD1105}"/>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E4CD59B9-C2C5-E9F8-FCB0-FF9EB46ADF61}"/>
              </a:ext>
            </a:extLst>
          </p:cNvPr>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9965291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Portiamo quello che abbiamo visto dentro la vostra azienda. Questa mappa propone due esempi di uso dell'AI per ciascun reparto. Sono esempi indicativi, pensati per un costruttore di macchine, non una lista di progetti decisi. Nel tecnico: cercare nelle specifiche e nei documenti di commessa, preparare bozze di manuali. In produzione: istruzioni di lavoro e liste di controllo, sintesi dei passaggi di turno. In qualità: analisi delle non conformità e bozze di rapporti 8D. Nel service: aiuto nella ricerca dei guasti partendo da manuali e ticket, report d'intervento dettati a voce. Nel commerciale: estrarre requisiti e lacune dal capitolato del cliente, tradurre per i clienti esteri. In amministrazione: bozze di solleciti, supporto alle riconciliazioni. Nelle risorse umane: materiali di onboarding e formazione interna; non, invece, la selezione o la valutazione delle persone, che la normativa europea considera ad alto rischio. Nel percorso A, chiedo a ciascuno di aggiungere un esempio del proprio reparto, su un post-it. Nel percorso B, chiedo almeno un pensiero: quale di questi esempi vi sembra più vicino al vostro lavoro?</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Per un costruttore di macchine, l'AI può stare in tre luoghi diversi, ed è utile distinguerli perché richiedono investimenti, tempi e attenzioni diverse. Il primo è l'ufficio, cioè l'AI interna: aiuta le persone di Laser a lavorare su documenti, offerte, manuali, ticket. Si può iniziare subito con gli strumenti già disponibili, come Copilot, con regole chiare sui dati. Il secondo luogo sono i clienti: servizi che Laser offre a chi compra le sue macchine, per esempio un assistente per i manuali, un aiuto a identificare i ricambi, un supporto multilingua. Richiedono più cura, perché l'errore arriva fuori dall'azienda. Il terzo luogo è la macchina stessa: controllo visivo dei prodotti all'uscita del forno, rilevazione di anomalie, manutenzione predittiva, ottimizzazione dei consumi. È il terreno più promettente per il futuro, ma richiede dati, investimenti e un'attenzione particolare alle norme, come vedremo nella terza sessione. Da qui una domanda per voi, che mi aiuta a preparare la prossima sessione: le vostre macchine raccolgono dati? Temperature, allarmi, consumi, teleassistenza?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Chi lavora con il Lean conosce gli sprechi della produzione: attese, movimenti inutili, rilavorazioni. Ma c'è un'altra categoria di sprechi, meno visibile: quelli legati alle informazioni. Ne proponiamo sette. Cercare: il tempo speso a trovare un disegno, una procedura, la soluzione già adottata in una commessa passata. Ricopiare: dati trascritti a mano da un'email a un foglio, da un foglio a un gestionale. Aspettare: un'informazione che manca e blocca il lavoro di qualcun altro. Rifare: un'offerta o un documento da correggere perché un requisito era sfuggito. Correggere: errori nati da dati non allineati tra sistemi diversi. Chiedere a voce: conoscenze che stanno solo nella testa di alcune persone, e che si ottengono solo telefonando a loro. Tradurre: manuali, offerte e comunicazioni per i clienti esteri. Questi sprechi sono il punto di partenza giusto per cercare dove l'AI può aiutare: partiamo dal problema, non dallo strumento. Attenzione, però: non tutti si risolvono con l'AI. A volte basta un archivio ordinato o un modulo ben fatto.</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Adesso tocca a voi. L'esercizio dura circa quaranta minuti. Primo passo, quindici minuti, individuale: pensate alla vostra settimana di lavoro e scrivete su un post-it ogni momento in cui perdete tempo con le informazioni, usando le sette categorie che abbiamo appena visto. Un post-it per spreco, con una frase e il reparto. Secondo passo, quindici minuti, per reparto: attaccate i post-it sul cartellone, raggruppate quelli simili e scegliete i due o tre più frequenti o più fastidiosi. Terzo passo, dieci minuti, tutti insieme: ogni reparto racconta i suoi due o tre sprechi principali. Ricordate la regola: descrivete l'attività, non il cliente o il caso specifico, e niente dati riservati. Non cercate ancora la soluzione: per ora ci interessa solo vedere dove si perde tempo. Le soluzioni le cercheremo nella seconda sessione.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Ecco come potrebbe apparire una mappa degli sprechi in un costruttore di macchine. È un esempio inventato, non una fotografia della vostra azienda: serve a rendere concreto il ragionamento. Nel tecnico lo spreco più tipico è cercare: dove abbiamo già risolto questo problema, in quale commessa, con quale disegno? In produzione è aspettare: il montaggio si ferma perché manca un'informazione dall'ufficio tecnico. In qualità è ricopiare: i dati delle non conformità passano da un'email a un foglio e poi al gestionale. Nel service è chiedere a voce: la diagnosi dipende dal tecnico esperto disponibile al telefono. Nel commerciale è rifare: un'offerta va rivista perché un requisito del capitolato era sfuggito. In amministrazione è correggere: dati delle commesse non allineati tra sistemi. E tradurre attraversa più reparti: manuali, offerte e comunicazioni per i clienti esteri. Vi chiedo di tenere a mente questa mappa: quali di questi sprechi riconoscete anche da voi? Quali mancano?</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Come si passa da uno spreco a un'opportunità? Con tre domande, nell'ordine. Primo: qual è lo spreco, cioè che cosa succede, quanto spesso, a chi. Secondo: qual è la causa. Terzo: qual è la soluzione migliore, e solo a questo punto ci chiediamo se l'AI ne fa parte. Tre esempi. Cercare le soluzioni già trovate: la causa è che la conoscenza è sparsa tra commesse, email e persone; la soluzione può essere un archivio ordinato e, sopra, un assistente AI che risponde citando i documenti. Qui l'AI aiuta, ma solo se prima mettiamo ordine. Ricopiare dati da un sistema all'altro: la causa è che i sistemi non si parlano; la soluzione migliore spesso è un modulo strutturato o un'integrazione tra i sistemi, senza AI. Rifare le offerte per un requisito sfuggito: la causa è che i capitolati sono lunghi e diversi tra loro; una scheda requisiti standard aiuta, e l'AI può estrarre i requisiti e segnalare quelli mancanti, lasciando le decisioni al commerciale. Il messaggio: prima il problema, poi lo strumento.</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0365B-E93E-B28F-A806-74EE81638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59D91-C1DF-BBD6-010A-8C25199C4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53A87-1054-0891-ED85-A1358EB3B298}"/>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66C64FE5-3C01-F5D9-86C8-CEAEE9F1949D}"/>
              </a:ext>
            </a:extLst>
          </p:cNvPr>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406309653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Un piccolo compito per la prossima volta, facoltativo ma molto utile. Scegliete un'attività reale del vostro lavoro, non riservata: per esempio riassumere un documento interno non riservato, riscrivere un'email in modo più chiaro, tradurre un testo, preparare una lista di controllo. Provatela con Copilot, cioè con lo strumento autorizzato dall'azienda, non con account personali. Poi annotate quattro cose: che cosa avete chiesto, che risultato avete ottenuto, quali errori avete trovato, e quanto tempo vi ha fatto risparmiare o perdere. Le regole sono quelle di oggi: niente dati riservati, niente dati personali, nessun nome di cliente, e verificate sempre il risultato prima di usarlo. All'inizio della seconda sessione raccogliamo le vostre esperienze: anche quelle andate male sono preziose, anzi spesso lo sono di più.</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Riassumiamo la giornata in cinque punti. Primo: l'AI non è una tecnologia sola, e non è una mente; è un insieme di sistemi che apprendono regolarità dai dati e producono previsioni, classificazioni o contenuti. Secondo: i modelli linguistici generano risposte plausibili, che possono essere utili ma anche sbagliate; la variabilità è normale, e il tono sicuro non è una garanzia. Terzo: gli errori tipici sono le allucinazioni, i bias e le omissioni, e si riducono dando all'AI fonti affidabili e verificando i risultati in proporzione all'importanza del compito. Quarto: il controllo resta umano, e la responsabilità anche. Quinto: l'AI può aiutare in tutti i reparti, partendo dagli sprechi informativi e non dallo strumento. Nella prossima sessione passeremo agli strumenti: Copilot, come scrivere richieste efficaci, tre esempi concreti e le applicazioni nei processi, nel service e nel prodotto. Grazie, e ci vediamo alla prossima sessione. Se ci sono domande, questo è il momento.</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2.png"/><Relationship Id="rId7"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1.png"/><Relationship Id="rId5" Type="http://schemas.openxmlformats.org/officeDocument/2006/relationships/image" Target="../media/image44.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image" Target="../media/image53.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55.png"/></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41.png"/><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60.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4.xml"/><Relationship Id="rId5" Type="http://schemas.openxmlformats.org/officeDocument/2006/relationships/image" Target="../media/image64.png"/><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5.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6.png"/><Relationship Id="rId5" Type="http://schemas.openxmlformats.org/officeDocument/2006/relationships/image" Target="../media/image31.pn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65.png"/><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68.png"/><Relationship Id="rId7" Type="http://schemas.openxmlformats.org/officeDocument/2006/relationships/image" Target="../media/image69.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66.png"/><Relationship Id="rId4" Type="http://schemas.openxmlformats.org/officeDocument/2006/relationships/image" Target="../media/image63.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71.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0.png"/><Relationship Id="rId4" Type="http://schemas.openxmlformats.org/officeDocument/2006/relationships/image" Target="../media/image65.png"/></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73.png"/><Relationship Id="rId4" Type="http://schemas.openxmlformats.org/officeDocument/2006/relationships/image" Target="../media/image72.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2.xml"/><Relationship Id="rId1" Type="http://schemas.openxmlformats.org/officeDocument/2006/relationships/slideLayout" Target="../slideLayouts/slideLayout4.xml"/><Relationship Id="rId5" Type="http://schemas.openxmlformats.org/officeDocument/2006/relationships/image" Target="../media/image76.png"/><Relationship Id="rId4" Type="http://schemas.openxmlformats.org/officeDocument/2006/relationships/image" Target="../media/image75.png"/></Relationships>
</file>

<file path=ppt/slides/_rels/slide6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55.png"/><Relationship Id="rId4" Type="http://schemas.openxmlformats.org/officeDocument/2006/relationships/image" Target="../media/image25.png"/><Relationship Id="rId9"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4.xml"/><Relationship Id="rId1" Type="http://schemas.openxmlformats.org/officeDocument/2006/relationships/slideLayout" Target="../slideLayouts/slideLayout4.xml"/><Relationship Id="rId5" Type="http://schemas.openxmlformats.org/officeDocument/2006/relationships/image" Target="../media/image70.png"/><Relationship Id="rId4" Type="http://schemas.openxmlformats.org/officeDocument/2006/relationships/image" Target="../media/image77.png"/></Relationships>
</file>

<file path=ppt/slides/_rels/slide65.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37.png"/><Relationship Id="rId7" Type="http://schemas.openxmlformats.org/officeDocument/2006/relationships/image" Target="../media/image51.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54.png"/><Relationship Id="rId10" Type="http://schemas.openxmlformats.org/officeDocument/2006/relationships/image" Target="../media/image43.png"/><Relationship Id="rId4" Type="http://schemas.openxmlformats.org/officeDocument/2006/relationships/image" Target="../media/image23.png"/><Relationship Id="rId9" Type="http://schemas.openxmlformats.org/officeDocument/2006/relationships/image" Target="../media/image56.png"/></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8.xml"/><Relationship Id="rId1" Type="http://schemas.openxmlformats.org/officeDocument/2006/relationships/slideLayout" Target="../slideLayouts/slideLayout4.xml"/><Relationship Id="rId5" Type="http://schemas.openxmlformats.org/officeDocument/2006/relationships/image" Target="../media/image81.png"/><Relationship Id="rId4" Type="http://schemas.openxmlformats.org/officeDocument/2006/relationships/image" Target="../media/image80.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2.png"/><Relationship Id="rId4" Type="http://schemas.openxmlformats.org/officeDocument/2006/relationships/image" Target="../media/image24.png"/></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6.png"/><Relationship Id="rId2" Type="http://schemas.openxmlformats.org/officeDocument/2006/relationships/notesSlide" Target="../notesSlides/notesSlide70.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83.png"/><Relationship Id="rId4" Type="http://schemas.openxmlformats.org/officeDocument/2006/relationships/image" Target="../media/image10.png"/></Relationships>
</file>

<file path=ppt/slides/_rels/slide71.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84.png"/><Relationship Id="rId7" Type="http://schemas.openxmlformats.org/officeDocument/2006/relationships/image" Target="../media/image88.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10" Type="http://schemas.openxmlformats.org/officeDocument/2006/relationships/image" Target="../media/image53.png"/><Relationship Id="rId4" Type="http://schemas.openxmlformats.org/officeDocument/2006/relationships/image" Target="../media/image85.png"/><Relationship Id="rId9" Type="http://schemas.openxmlformats.org/officeDocument/2006/relationships/image" Target="../media/image89.png"/></Relationships>
</file>

<file path=ppt/slides/_rels/slide7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8.png"/><Relationship Id="rId7"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4.xml"/><Relationship Id="rId6" Type="http://schemas.openxmlformats.org/officeDocument/2006/relationships/image" Target="../media/image83.png"/><Relationship Id="rId5" Type="http://schemas.openxmlformats.org/officeDocument/2006/relationships/image" Target="../media/image89.png"/><Relationship Id="rId4" Type="http://schemas.openxmlformats.org/officeDocument/2006/relationships/image" Target="../media/image90.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4.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7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5.xml"/><Relationship Id="rId1"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68.png"/></Relationships>
</file>

<file path=ppt/slides/_rels/slide7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76.xml"/><Relationship Id="rId1" Type="http://schemas.openxmlformats.org/officeDocument/2006/relationships/slideLayout" Target="../slideLayouts/slideLayout4.xml"/><Relationship Id="rId4" Type="http://schemas.openxmlformats.org/officeDocument/2006/relationships/image" Target="../media/image51.png"/></Relationships>
</file>

<file path=ppt/slides/_rels/slide7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7.xml"/><Relationship Id="rId1" Type="http://schemas.openxmlformats.org/officeDocument/2006/relationships/slideLayout" Target="../slideLayouts/slideLayout4.xml"/><Relationship Id="rId4" Type="http://schemas.openxmlformats.org/officeDocument/2006/relationships/image" Target="../media/image74.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9.xml"/><Relationship Id="rId1" Type="http://schemas.openxmlformats.org/officeDocument/2006/relationships/slideLayout" Target="../slideLayouts/slideLayout4.xml"/><Relationship Id="rId6" Type="http://schemas.openxmlformats.org/officeDocument/2006/relationships/image" Target="../media/image41.png"/><Relationship Id="rId5" Type="http://schemas.openxmlformats.org/officeDocument/2006/relationships/image" Target="../media/image61.png"/><Relationship Id="rId4" Type="http://schemas.openxmlformats.org/officeDocument/2006/relationships/image" Target="../media/image36.pn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14.png"/><Relationship Id="rId2" Type="http://schemas.openxmlformats.org/officeDocument/2006/relationships/notesSlide" Target="../notesSlides/notesSlide81.xml"/><Relationship Id="rId1" Type="http://schemas.openxmlformats.org/officeDocument/2006/relationships/slideLayout" Target="../slideLayouts/slideLayout4.xml"/><Relationship Id="rId6" Type="http://schemas.openxmlformats.org/officeDocument/2006/relationships/image" Target="../media/image71.png"/><Relationship Id="rId5" Type="http://schemas.openxmlformats.org/officeDocument/2006/relationships/image" Target="../media/image59.png"/><Relationship Id="rId4" Type="http://schemas.openxmlformats.org/officeDocument/2006/relationships/image" Target="../media/image93.png"/></Relationships>
</file>

<file path=ppt/slides/_rels/slide8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0.png"/><Relationship Id="rId7"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68.png"/><Relationship Id="rId5" Type="http://schemas.openxmlformats.org/officeDocument/2006/relationships/image" Target="../media/image94.png"/><Relationship Id="rId4" Type="http://schemas.openxmlformats.org/officeDocument/2006/relationships/image" Target="../media/image72.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5.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96.png"/><Relationship Id="rId5" Type="http://schemas.openxmlformats.org/officeDocument/2006/relationships/image" Target="../media/image4.png"/><Relationship Id="rId4" Type="http://schemas.openxmlformats.org/officeDocument/2006/relationships/image" Target="../media/image95.png"/></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31.png"/></Relationships>
</file>

<file path=ppt/slides/_rels/slide89.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image" Target="../media/image41.png"/><Relationship Id="rId7" Type="http://schemas.openxmlformats.org/officeDocument/2006/relationships/image" Target="../media/image7.png"/><Relationship Id="rId2" Type="http://schemas.openxmlformats.org/officeDocument/2006/relationships/notesSlide" Target="../notesSlides/notesSlide89.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97.png"/></Relationships>
</file>

<file path=ppt/slides/_rels/slide9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4.png"/></Relationships>
</file>

<file path=ppt/slides/_rels/slide9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72.png"/><Relationship Id="rId7" Type="http://schemas.openxmlformats.org/officeDocument/2006/relationships/image" Target="../media/image71.png"/><Relationship Id="rId2" Type="http://schemas.openxmlformats.org/officeDocument/2006/relationships/notesSlide" Target="../notesSlides/notesSlide95.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40.png"/><Relationship Id="rId4" Type="http://schemas.openxmlformats.org/officeDocument/2006/relationships/image" Target="../media/image87.png"/><Relationship Id="rId9" Type="http://schemas.openxmlformats.org/officeDocument/2006/relationships/image" Target="../media/image63.png"/></Relationships>
</file>

<file path=ppt/slides/_rels/slide9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36.png"/><Relationship Id="rId2" Type="http://schemas.openxmlformats.org/officeDocument/2006/relationships/notesSlide" Target="../notesSlides/notesSlide100.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101.png"/><Relationship Id="rId4" Type="http://schemas.openxmlformats.org/officeDocument/2006/relationships/image" Target="../media/image100.png"/></Relationships>
</file>

<file path=ppt/slides/_rels/slide10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Percorso</a:t>
            </a:r>
            <a:r>
              <a:rPr lang="en-US" sz="3600" b="1" dirty="0">
                <a:solidFill>
                  <a:schemeClr val="bg1"/>
                </a:solidFill>
              </a:rPr>
              <a:t> Ai – Adoption – Laser </a:t>
            </a:r>
            <a:r>
              <a:rPr lang="en-US" sz="3600" b="1" dirty="0" err="1">
                <a:solidFill>
                  <a:schemeClr val="bg1"/>
                </a:solidFill>
              </a:rPr>
              <a:t>Srl</a:t>
            </a: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sz="1600" dirty="0">
                <a:solidFill>
                  <a:schemeClr val="accent3"/>
                </a:solidFill>
              </a:rPr>
              <a:t>Che cos'è, come funziona, che cosa sa fare e dove sbaglia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in tre sessioni</a:t>
            </a:r>
            <a:endParaRPr lang="en-US" sz="2600" dirty="0"/>
          </a:p>
        </p:txBody>
      </p:sp>
      <p:sp>
        <p:nvSpPr>
          <p:cNvPr id="6" name="sessione 1"/>
          <p:cNvSpPr/>
          <p:nvPr/>
        </p:nvSpPr>
        <p:spPr>
          <a:xfrm>
            <a:off x="457200" y="1097280"/>
            <a:ext cx="2606040" cy="2697480"/>
          </a:xfrm>
          <a:prstGeom prst="roundRect">
            <a:avLst>
              <a:gd name="adj" fmla="val 2807"/>
            </a:avLst>
          </a:prstGeom>
          <a:solidFill>
            <a:schemeClr val="accent6"/>
          </a:solidFill>
          <a:ln/>
        </p:spPr>
        <p:txBody>
          <a:bodyPr/>
          <a:lstStyle/>
          <a:p>
            <a:endParaRPr lang="it-IT"/>
          </a:p>
        </p:txBody>
      </p:sp>
      <p:sp>
        <p:nvSpPr>
          <p:cNvPr id="7" name="cerchio FiBookOpen"/>
          <p:cNvSpPr/>
          <p:nvPr/>
        </p:nvSpPr>
        <p:spPr>
          <a:xfrm>
            <a:off x="640080" y="1261872"/>
            <a:ext cx="457200" cy="457200"/>
          </a:xfrm>
          <a:prstGeom prst="ellipse">
            <a:avLst/>
          </a:prstGeom>
          <a:solidFill>
            <a:schemeClr val="accent1"/>
          </a:solidFill>
          <a:ln/>
        </p:spPr>
        <p:txBody>
          <a:bodyPr/>
          <a:lstStyle/>
          <a:p>
            <a:endParaRPr lang="it-IT"/>
          </a:p>
        </p:txBody>
      </p:sp>
      <p:pic>
        <p:nvPicPr>
          <p:cNvPr id="8" name="Image 0" descr="FiBookOpen"/>
          <p:cNvPicPr>
            <a:picLocks noChangeAspect="1"/>
          </p:cNvPicPr>
          <p:nvPr/>
        </p:nvPicPr>
        <p:blipFill>
          <a:blip r:embed="rId3"/>
          <a:stretch>
            <a:fillRect/>
          </a:stretch>
        </p:blipFill>
        <p:spPr>
          <a:xfrm>
            <a:off x="754380" y="1376172"/>
            <a:ext cx="228600" cy="228600"/>
          </a:xfrm>
          <a:prstGeom prst="rect">
            <a:avLst/>
          </a:prstGeom>
        </p:spPr>
      </p:pic>
      <p:sp>
        <p:nvSpPr>
          <p:cNvPr id="9" name="Text 5"/>
          <p:cNvSpPr txBox="1"/>
          <p:nvPr/>
        </p:nvSpPr>
        <p:spPr>
          <a:xfrm>
            <a:off x="120700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1</a:t>
            </a:r>
            <a:endParaRPr lang="en-US" sz="1000" dirty="0"/>
          </a:p>
        </p:txBody>
      </p:sp>
      <p:sp>
        <p:nvSpPr>
          <p:cNvPr id="10" name="Text 6"/>
          <p:cNvSpPr txBox="1"/>
          <p:nvPr/>
        </p:nvSpPr>
        <p:spPr>
          <a:xfrm>
            <a:off x="120700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Capire l'AI</a:t>
            </a:r>
            <a:endParaRPr lang="en-US" sz="1500" dirty="0"/>
          </a:p>
        </p:txBody>
      </p:sp>
      <p:sp>
        <p:nvSpPr>
          <p:cNvPr id="11" name="Text 7"/>
          <p:cNvSpPr txBox="1"/>
          <p:nvPr/>
        </p:nvSpPr>
        <p:spPr>
          <a:xfrm>
            <a:off x="64008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Che cos'è e come funziona</a:t>
            </a:r>
            <a:endParaRPr lang="en-US" sz="1300" dirty="0"/>
          </a:p>
          <a:p>
            <a:pPr marL="177800" indent="-177800">
              <a:spcAft>
                <a:spcPts val="600"/>
              </a:spcAft>
              <a:buSzPct val="100000"/>
              <a:buChar char="•"/>
            </a:pPr>
            <a:r>
              <a:rPr lang="en-US" sz="1300" dirty="0">
                <a:solidFill>
                  <a:schemeClr val="tx2"/>
                </a:solidFill>
              </a:rPr>
              <a:t>Che cosa sa fare, dove sbaglia</a:t>
            </a:r>
            <a:endParaRPr lang="en-US" sz="1300" dirty="0"/>
          </a:p>
          <a:p>
            <a:pPr marL="177800" indent="-177800">
              <a:spcAft>
                <a:spcPts val="600"/>
              </a:spcAft>
              <a:buSzPct val="100000"/>
              <a:buChar char="•"/>
            </a:pPr>
            <a:r>
              <a:rPr lang="en-US" sz="1300" dirty="0">
                <a:solidFill>
                  <a:schemeClr val="tx2"/>
                </a:solidFill>
              </a:rPr>
              <a:t>Dove serve in Laser</a:t>
            </a:r>
            <a:endParaRPr lang="en-US" sz="1300" dirty="0"/>
          </a:p>
        </p:txBody>
      </p:sp>
      <p:sp>
        <p:nvSpPr>
          <p:cNvPr id="12" name="freccia"/>
          <p:cNvSpPr/>
          <p:nvPr/>
        </p:nvSpPr>
        <p:spPr>
          <a:xfrm>
            <a:off x="3081528" y="2286000"/>
            <a:ext cx="146304" cy="292608"/>
          </a:xfrm>
          <a:prstGeom prst="rightArrow">
            <a:avLst/>
          </a:prstGeom>
          <a:solidFill>
            <a:schemeClr val="accent2"/>
          </a:solidFill>
          <a:ln/>
        </p:spPr>
        <p:txBody>
          <a:bodyPr/>
          <a:lstStyle/>
          <a:p>
            <a:endParaRPr lang="it-IT"/>
          </a:p>
        </p:txBody>
      </p:sp>
      <p:sp>
        <p:nvSpPr>
          <p:cNvPr id="13" name="sessione 2"/>
          <p:cNvSpPr/>
          <p:nvPr/>
        </p:nvSpPr>
        <p:spPr>
          <a:xfrm>
            <a:off x="3246120" y="1097280"/>
            <a:ext cx="2606040" cy="2697480"/>
          </a:xfrm>
          <a:prstGeom prst="roundRect">
            <a:avLst>
              <a:gd name="adj" fmla="val 2807"/>
            </a:avLst>
          </a:prstGeom>
          <a:solidFill>
            <a:schemeClr val="bg2"/>
          </a:solidFill>
          <a:ln/>
        </p:spPr>
        <p:txBody>
          <a:bodyPr/>
          <a:lstStyle/>
          <a:p>
            <a:endParaRPr lang="it-IT"/>
          </a:p>
        </p:txBody>
      </p:sp>
      <p:sp>
        <p:nvSpPr>
          <p:cNvPr id="14" name="cerchio FiTool"/>
          <p:cNvSpPr/>
          <p:nvPr/>
        </p:nvSpPr>
        <p:spPr>
          <a:xfrm>
            <a:off x="3429000" y="1261872"/>
            <a:ext cx="457200" cy="457200"/>
          </a:xfrm>
          <a:prstGeom prst="ellipse">
            <a:avLst/>
          </a:prstGeom>
          <a:solidFill>
            <a:schemeClr val="accent1"/>
          </a:solidFill>
          <a:ln/>
        </p:spPr>
        <p:txBody>
          <a:bodyPr/>
          <a:lstStyle/>
          <a:p>
            <a:endParaRPr lang="it-IT"/>
          </a:p>
        </p:txBody>
      </p:sp>
      <p:pic>
        <p:nvPicPr>
          <p:cNvPr id="15" name="Image 1" descr="FiTool"/>
          <p:cNvPicPr>
            <a:picLocks noChangeAspect="1"/>
          </p:cNvPicPr>
          <p:nvPr/>
        </p:nvPicPr>
        <p:blipFill>
          <a:blip r:embed="rId4"/>
          <a:stretch>
            <a:fillRect/>
          </a:stretch>
        </p:blipFill>
        <p:spPr>
          <a:xfrm>
            <a:off x="3543300" y="1376172"/>
            <a:ext cx="228600" cy="228600"/>
          </a:xfrm>
          <a:prstGeom prst="rect">
            <a:avLst/>
          </a:prstGeom>
        </p:spPr>
      </p:pic>
      <p:sp>
        <p:nvSpPr>
          <p:cNvPr id="16" name="Text 11"/>
          <p:cNvSpPr txBox="1"/>
          <p:nvPr/>
        </p:nvSpPr>
        <p:spPr>
          <a:xfrm>
            <a:off x="399592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2</a:t>
            </a:r>
            <a:endParaRPr lang="en-US" sz="1000" dirty="0"/>
          </a:p>
        </p:txBody>
      </p:sp>
      <p:sp>
        <p:nvSpPr>
          <p:cNvPr id="17" name="Text 12"/>
          <p:cNvSpPr txBox="1"/>
          <p:nvPr/>
        </p:nvSpPr>
        <p:spPr>
          <a:xfrm>
            <a:off x="399592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Strumenti e applicazioni</a:t>
            </a:r>
            <a:endParaRPr lang="en-US" sz="1500" dirty="0"/>
          </a:p>
        </p:txBody>
      </p:sp>
      <p:sp>
        <p:nvSpPr>
          <p:cNvPr id="18" name="Text 13"/>
          <p:cNvSpPr txBox="1"/>
          <p:nvPr/>
        </p:nvSpPr>
        <p:spPr>
          <a:xfrm>
            <a:off x="342900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Copilot e assistenti AI</a:t>
            </a:r>
            <a:endParaRPr lang="en-US" sz="1300" dirty="0"/>
          </a:p>
          <a:p>
            <a:pPr marL="177800" indent="-177800">
              <a:spcAft>
                <a:spcPts val="600"/>
              </a:spcAft>
              <a:buSzPct val="100000"/>
              <a:buChar char="•"/>
            </a:pPr>
            <a:r>
              <a:rPr lang="en-US" sz="1300" dirty="0">
                <a:solidFill>
                  <a:schemeClr val="tx2"/>
                </a:solidFill>
              </a:rPr>
              <a:t>Richieste efficaci, demo</a:t>
            </a:r>
            <a:endParaRPr lang="en-US" sz="1300" dirty="0"/>
          </a:p>
          <a:p>
            <a:pPr marL="177800" indent="-177800">
              <a:spcAft>
                <a:spcPts val="600"/>
              </a:spcAft>
              <a:buSzPct val="100000"/>
              <a:buChar char="•"/>
            </a:pPr>
            <a:r>
              <a:rPr lang="en-US" sz="1300" dirty="0">
                <a:solidFill>
                  <a:schemeClr val="tx2"/>
                </a:solidFill>
              </a:rPr>
              <a:t>Processi, service, prodotto</a:t>
            </a:r>
            <a:endParaRPr lang="en-US" sz="1300" dirty="0"/>
          </a:p>
        </p:txBody>
      </p:sp>
      <p:sp>
        <p:nvSpPr>
          <p:cNvPr id="19" name="freccia"/>
          <p:cNvSpPr/>
          <p:nvPr/>
        </p:nvSpPr>
        <p:spPr>
          <a:xfrm>
            <a:off x="5870448" y="2286000"/>
            <a:ext cx="146304" cy="292608"/>
          </a:xfrm>
          <a:prstGeom prst="rightArrow">
            <a:avLst/>
          </a:prstGeom>
          <a:solidFill>
            <a:schemeClr val="accent2"/>
          </a:solidFill>
          <a:ln/>
        </p:spPr>
        <p:txBody>
          <a:bodyPr/>
          <a:lstStyle/>
          <a:p>
            <a:endParaRPr lang="it-IT"/>
          </a:p>
        </p:txBody>
      </p:sp>
      <p:sp>
        <p:nvSpPr>
          <p:cNvPr id="20" name="sessione 3"/>
          <p:cNvSpPr/>
          <p:nvPr/>
        </p:nvSpPr>
        <p:spPr>
          <a:xfrm>
            <a:off x="6035040" y="1097280"/>
            <a:ext cx="2606040" cy="2697480"/>
          </a:xfrm>
          <a:prstGeom prst="roundRect">
            <a:avLst>
              <a:gd name="adj" fmla="val 2807"/>
            </a:avLst>
          </a:prstGeom>
          <a:solidFill>
            <a:schemeClr val="bg2"/>
          </a:solidFill>
          <a:ln/>
        </p:spPr>
        <p:txBody>
          <a:bodyPr/>
          <a:lstStyle/>
          <a:p>
            <a:endParaRPr lang="it-IT"/>
          </a:p>
        </p:txBody>
      </p:sp>
      <p:sp>
        <p:nvSpPr>
          <p:cNvPr id="21" name="cerchio FiMap"/>
          <p:cNvSpPr/>
          <p:nvPr/>
        </p:nvSpPr>
        <p:spPr>
          <a:xfrm>
            <a:off x="6217920" y="1261872"/>
            <a:ext cx="457200" cy="457200"/>
          </a:xfrm>
          <a:prstGeom prst="ellipse">
            <a:avLst/>
          </a:prstGeom>
          <a:solidFill>
            <a:schemeClr val="accent1"/>
          </a:solidFill>
          <a:ln/>
        </p:spPr>
        <p:txBody>
          <a:bodyPr/>
          <a:lstStyle/>
          <a:p>
            <a:endParaRPr lang="it-IT"/>
          </a:p>
        </p:txBody>
      </p:sp>
      <p:pic>
        <p:nvPicPr>
          <p:cNvPr id="22" name="Image 2" descr="FiMap"/>
          <p:cNvPicPr>
            <a:picLocks noChangeAspect="1"/>
          </p:cNvPicPr>
          <p:nvPr/>
        </p:nvPicPr>
        <p:blipFill>
          <a:blip r:embed="rId5"/>
          <a:stretch>
            <a:fillRect/>
          </a:stretch>
        </p:blipFill>
        <p:spPr>
          <a:xfrm>
            <a:off x="6332220" y="1376172"/>
            <a:ext cx="228600" cy="228600"/>
          </a:xfrm>
          <a:prstGeom prst="rect">
            <a:avLst/>
          </a:prstGeom>
        </p:spPr>
      </p:pic>
      <p:sp>
        <p:nvSpPr>
          <p:cNvPr id="23" name="Text 17"/>
          <p:cNvSpPr txBox="1"/>
          <p:nvPr/>
        </p:nvSpPr>
        <p:spPr>
          <a:xfrm>
            <a:off x="678484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3</a:t>
            </a:r>
            <a:endParaRPr lang="en-US" sz="1000" dirty="0"/>
          </a:p>
        </p:txBody>
      </p:sp>
      <p:sp>
        <p:nvSpPr>
          <p:cNvPr id="24" name="Text 18"/>
          <p:cNvSpPr txBox="1"/>
          <p:nvPr/>
        </p:nvSpPr>
        <p:spPr>
          <a:xfrm>
            <a:off x="678484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Regole e roadmap</a:t>
            </a:r>
            <a:endParaRPr lang="en-US" sz="1500" dirty="0"/>
          </a:p>
        </p:txBody>
      </p:sp>
      <p:sp>
        <p:nvSpPr>
          <p:cNvPr id="25" name="Text 19"/>
          <p:cNvSpPr txBox="1"/>
          <p:nvPr/>
        </p:nvSpPr>
        <p:spPr>
          <a:xfrm>
            <a:off x="621792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Uso sicuro e normativa</a:t>
            </a:r>
            <a:endParaRPr lang="en-US" sz="1300" dirty="0"/>
          </a:p>
          <a:p>
            <a:pPr marL="177800" indent="-177800">
              <a:spcAft>
                <a:spcPts val="600"/>
              </a:spcAft>
              <a:buSzPct val="100000"/>
              <a:buChar char="•"/>
            </a:pPr>
            <a:r>
              <a:rPr lang="en-US" sz="1300" dirty="0">
                <a:solidFill>
                  <a:schemeClr val="tx2"/>
                </a:solidFill>
              </a:rPr>
              <a:t>Governance minima</a:t>
            </a:r>
            <a:endParaRPr lang="en-US" sz="1300" dirty="0"/>
          </a:p>
          <a:p>
            <a:pPr marL="177800" indent="-177800">
              <a:spcAft>
                <a:spcPts val="600"/>
              </a:spcAft>
              <a:buSzPct val="100000"/>
              <a:buChar char="•"/>
            </a:pPr>
            <a:r>
              <a:rPr lang="en-US" sz="1300" dirty="0">
                <a:solidFill>
                  <a:schemeClr val="tx2"/>
                </a:solidFill>
              </a:rPr>
              <a:t>Casi d'uso, schede progetto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dove partiamo</a:t>
            </a:r>
            <a:endParaRPr lang="en-US" sz="2600" dirty="0"/>
          </a:p>
        </p:txBody>
      </p:sp>
      <p:sp>
        <p:nvSpPr>
          <p:cNvPr id="6" name="domanda 1"/>
          <p:cNvSpPr/>
          <p:nvPr/>
        </p:nvSpPr>
        <p:spPr>
          <a:xfrm>
            <a:off x="457200" y="1097280"/>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7" name="cerchio FiUsers"/>
          <p:cNvSpPr/>
          <p:nvPr/>
        </p:nvSpPr>
        <p:spPr>
          <a:xfrm>
            <a:off x="640080" y="1298448"/>
            <a:ext cx="493776" cy="493776"/>
          </a:xfrm>
          <a:prstGeom prst="ellipse">
            <a:avLst/>
          </a:prstGeom>
          <a:solidFill>
            <a:schemeClr val="accent1"/>
          </a:solidFill>
          <a:ln/>
        </p:spPr>
        <p:txBody>
          <a:bodyPr/>
          <a:lstStyle/>
          <a:p>
            <a:endParaRPr lang="it-IT"/>
          </a:p>
        </p:txBody>
      </p:sp>
      <p:pic>
        <p:nvPicPr>
          <p:cNvPr id="8" name="Image 0" descr="FiUsers"/>
          <p:cNvPicPr>
            <a:picLocks noChangeAspect="1"/>
          </p:cNvPicPr>
          <p:nvPr/>
        </p:nvPicPr>
        <p:blipFill>
          <a:blip r:embed="rId3"/>
          <a:stretch>
            <a:fillRect/>
          </a:stretch>
        </p:blipFill>
        <p:spPr>
          <a:xfrm>
            <a:off x="763524" y="1421892"/>
            <a:ext cx="246888" cy="246888"/>
          </a:xfrm>
          <a:prstGeom prst="rect">
            <a:avLst/>
          </a:prstGeom>
        </p:spPr>
      </p:pic>
      <p:sp>
        <p:nvSpPr>
          <p:cNvPr id="9" name="Text 5"/>
          <p:cNvSpPr txBox="1"/>
          <p:nvPr/>
        </p:nvSpPr>
        <p:spPr>
          <a:xfrm>
            <a:off x="1371600" y="1225296"/>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Chi ha già usato uno strumento di AI?</a:t>
            </a:r>
            <a:endParaRPr lang="en-US" sz="1700" dirty="0"/>
          </a:p>
        </p:txBody>
      </p:sp>
      <p:sp>
        <p:nvSpPr>
          <p:cNvPr id="10" name="Text 6"/>
          <p:cNvSpPr txBox="1"/>
          <p:nvPr/>
        </p:nvSpPr>
        <p:spPr>
          <a:xfrm>
            <a:off x="1371600" y="1572768"/>
            <a:ext cx="7132320" cy="320040"/>
          </a:xfrm>
          <a:prstGeom prst="rect">
            <a:avLst/>
          </a:prstGeom>
          <a:noFill/>
          <a:ln/>
        </p:spPr>
        <p:txBody>
          <a:bodyPr wrap="square" lIns="0" tIns="0" rIns="0" bIns="0" rtlCol="0" anchor="t"/>
          <a:lstStyle/>
          <a:p>
            <a:pPr marL="0" indent="0">
              <a:buNone/>
            </a:pPr>
            <a:r>
              <a:rPr lang="en-US" sz="1300" dirty="0">
                <a:solidFill>
                  <a:schemeClr val="tx2"/>
                </a:solidFill>
              </a:rPr>
              <a:t>ChatGPT, Copilot, Gemini, traduttori, assistenti nel telefono</a:t>
            </a:r>
            <a:endParaRPr lang="en-US" sz="1300" dirty="0"/>
          </a:p>
        </p:txBody>
      </p:sp>
      <p:sp>
        <p:nvSpPr>
          <p:cNvPr id="11" name="domanda 2"/>
          <p:cNvSpPr/>
          <p:nvPr/>
        </p:nvSpPr>
        <p:spPr>
          <a:xfrm>
            <a:off x="457200" y="2121408"/>
            <a:ext cx="8229600" cy="896112"/>
          </a:xfrm>
          <a:prstGeom prst="roundRect">
            <a:avLst>
              <a:gd name="adj" fmla="val 8163"/>
            </a:avLst>
          </a:prstGeom>
          <a:solidFill>
            <a:schemeClr val="bg1"/>
          </a:solidFill>
          <a:ln w="9525">
            <a:solidFill>
              <a:schemeClr val="accent3"/>
            </a:solidFill>
            <a:prstDash val="solid"/>
          </a:ln>
        </p:spPr>
        <p:txBody>
          <a:bodyPr/>
          <a:lstStyle/>
          <a:p>
            <a:endParaRPr lang="it-IT"/>
          </a:p>
        </p:txBody>
      </p:sp>
      <p:sp>
        <p:nvSpPr>
          <p:cNvPr id="12" name="cerchio FiEdit3"/>
          <p:cNvSpPr/>
          <p:nvPr/>
        </p:nvSpPr>
        <p:spPr>
          <a:xfrm>
            <a:off x="640080" y="2322576"/>
            <a:ext cx="493776" cy="493776"/>
          </a:xfrm>
          <a:prstGeom prst="ellipse">
            <a:avLst/>
          </a:prstGeom>
          <a:solidFill>
            <a:schemeClr val="accent1"/>
          </a:solidFill>
          <a:ln/>
        </p:spPr>
        <p:txBody>
          <a:bodyPr/>
          <a:lstStyle/>
          <a:p>
            <a:endParaRPr lang="it-IT"/>
          </a:p>
        </p:txBody>
      </p:sp>
      <p:pic>
        <p:nvPicPr>
          <p:cNvPr id="13" name="Image 1" descr="FiEdit3"/>
          <p:cNvPicPr>
            <a:picLocks noChangeAspect="1"/>
          </p:cNvPicPr>
          <p:nvPr/>
        </p:nvPicPr>
        <p:blipFill>
          <a:blip r:embed="rId4"/>
          <a:stretch>
            <a:fillRect/>
          </a:stretch>
        </p:blipFill>
        <p:spPr>
          <a:xfrm>
            <a:off x="763524" y="2446020"/>
            <a:ext cx="246888" cy="246888"/>
          </a:xfrm>
          <a:prstGeom prst="rect">
            <a:avLst/>
          </a:prstGeom>
        </p:spPr>
      </p:pic>
      <p:sp>
        <p:nvSpPr>
          <p:cNvPr id="14" name="Text 9"/>
          <p:cNvSpPr txBox="1"/>
          <p:nvPr/>
        </p:nvSpPr>
        <p:spPr>
          <a:xfrm>
            <a:off x="1371600" y="2249424"/>
            <a:ext cx="7132320" cy="347472"/>
          </a:xfrm>
          <a:prstGeom prst="rect">
            <a:avLst/>
          </a:prstGeom>
          <a:noFill/>
          <a:ln/>
        </p:spPr>
        <p:txBody>
          <a:bodyPr wrap="square" lIns="0" tIns="0" rIns="0" bIns="0" rtlCol="0" anchor="t"/>
          <a:lstStyle/>
          <a:p>
            <a:pPr marL="0" indent="0">
              <a:buNone/>
            </a:pPr>
            <a:r>
              <a:rPr lang="en-US" sz="1700" b="1" dirty="0">
                <a:solidFill>
                  <a:schemeClr val="tx1"/>
                </a:solidFill>
              </a:rPr>
              <a:t>Per che cosa?</a:t>
            </a:r>
            <a:endParaRPr lang="en-US" sz="1700" dirty="0"/>
          </a:p>
        </p:txBody>
      </p:sp>
      <p:sp>
        <p:nvSpPr>
          <p:cNvPr id="15" name="Text 10"/>
          <p:cNvSpPr txBox="1"/>
          <p:nvPr/>
        </p:nvSpPr>
        <p:spPr>
          <a:xfrm>
            <a:off x="1371600" y="2596896"/>
            <a:ext cx="7132320" cy="320040"/>
          </a:xfrm>
          <a:prstGeom prst="rect">
            <a:avLst/>
          </a:prstGeom>
          <a:noFill/>
          <a:ln/>
        </p:spPr>
        <p:txBody>
          <a:bodyPr wrap="square" lIns="0" tIns="0" rIns="0" bIns="0" rtlCol="0" anchor="t"/>
          <a:lstStyle/>
          <a:p>
            <a:pPr marL="0" indent="0">
              <a:buNone/>
            </a:pPr>
            <a:r>
              <a:rPr lang="en-US" sz="1300" dirty="0">
                <a:solidFill>
                  <a:schemeClr val="tx2"/>
                </a:solidFill>
              </a:rPr>
              <a:t>Email, traduzioni, ricerche, riassunti, idee, altro</a:t>
            </a:r>
            <a:endParaRPr lang="en-US" sz="1300" dirty="0"/>
          </a:p>
        </p:txBody>
      </p:sp>
      <p:sp>
        <p:nvSpPr>
          <p:cNvPr id="16" name="domanda 3"/>
          <p:cNvSpPr/>
          <p:nvPr/>
        </p:nvSpPr>
        <p:spPr>
          <a:xfrm>
            <a:off x="457200" y="3145536"/>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17" name="cerchio FiHelpCircle"/>
          <p:cNvSpPr/>
          <p:nvPr/>
        </p:nvSpPr>
        <p:spPr>
          <a:xfrm>
            <a:off x="640080" y="3346704"/>
            <a:ext cx="493776" cy="493776"/>
          </a:xfrm>
          <a:prstGeom prst="ellipse">
            <a:avLst/>
          </a:prstGeom>
          <a:solidFill>
            <a:schemeClr val="accent1"/>
          </a:solidFill>
          <a:ln/>
        </p:spPr>
        <p:txBody>
          <a:bodyPr/>
          <a:lstStyle/>
          <a:p>
            <a:endParaRPr lang="it-IT"/>
          </a:p>
        </p:txBody>
      </p:sp>
      <p:pic>
        <p:nvPicPr>
          <p:cNvPr id="18" name="Image 2" descr="FiHelpCircle"/>
          <p:cNvPicPr>
            <a:picLocks noChangeAspect="1"/>
          </p:cNvPicPr>
          <p:nvPr/>
        </p:nvPicPr>
        <p:blipFill>
          <a:blip r:embed="rId5"/>
          <a:stretch>
            <a:fillRect/>
          </a:stretch>
        </p:blipFill>
        <p:spPr>
          <a:xfrm>
            <a:off x="763524" y="3470148"/>
            <a:ext cx="246888" cy="246888"/>
          </a:xfrm>
          <a:prstGeom prst="rect">
            <a:avLst/>
          </a:prstGeom>
        </p:spPr>
      </p:pic>
      <p:sp>
        <p:nvSpPr>
          <p:cNvPr id="19" name="Text 13"/>
          <p:cNvSpPr txBox="1"/>
          <p:nvPr/>
        </p:nvSpPr>
        <p:spPr>
          <a:xfrm>
            <a:off x="1371600" y="3273552"/>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Che cosa vi aspettate? Che cosa vi preoccupa?</a:t>
            </a:r>
            <a:endParaRPr lang="en-US" sz="1700" dirty="0"/>
          </a:p>
        </p:txBody>
      </p:sp>
      <p:sp>
        <p:nvSpPr>
          <p:cNvPr id="20" name="Text 14"/>
          <p:cNvSpPr txBox="1"/>
          <p:nvPr/>
        </p:nvSpPr>
        <p:spPr>
          <a:xfrm>
            <a:off x="1371600" y="3621024"/>
            <a:ext cx="7132320" cy="320040"/>
          </a:xfrm>
          <a:prstGeom prst="rect">
            <a:avLst/>
          </a:prstGeom>
          <a:noFill/>
          <a:ln/>
        </p:spPr>
        <p:txBody>
          <a:bodyPr wrap="square" lIns="0" tIns="0" rIns="0" bIns="0" rtlCol="0" anchor="t"/>
          <a:lstStyle/>
          <a:p>
            <a:pPr marL="0" indent="0">
              <a:buNone/>
            </a:pPr>
            <a:r>
              <a:rPr lang="en-US" sz="1300" dirty="0">
                <a:solidFill>
                  <a:schemeClr val="tx2"/>
                </a:solidFill>
              </a:rPr>
              <a:t>Aspettative, dubbi, timori: tutto è utile</a:t>
            </a:r>
            <a:endParaRPr lang="en-US" sz="1300" dirty="0"/>
          </a:p>
        </p:txBody>
      </p:sp>
      <p:sp>
        <p:nvSpPr>
          <p:cNvPr id="21" name="Text 15"/>
          <p:cNvSpPr txBox="1"/>
          <p:nvPr/>
        </p:nvSpPr>
        <p:spPr>
          <a:xfrm>
            <a:off x="457200" y="4224528"/>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Per alzata di mano: le risposte tornano a fine giornata.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Vero o falso?</a:t>
            </a:r>
            <a:endParaRPr lang="en-US" sz="2600" dirty="0"/>
          </a:p>
        </p:txBody>
      </p:sp>
      <p:sp>
        <p:nvSpPr>
          <p:cNvPr id="6" name="affermazione 1"/>
          <p:cNvSpPr/>
          <p:nvPr/>
        </p:nvSpPr>
        <p:spPr>
          <a:xfrm>
            <a:off x="457200" y="1097280"/>
            <a:ext cx="4069080" cy="822960"/>
          </a:xfrm>
          <a:prstGeom prst="roundRect">
            <a:avLst>
              <a:gd name="adj" fmla="val 8889"/>
            </a:avLst>
          </a:prstGeom>
          <a:solidFill>
            <a:schemeClr val="bg2"/>
          </a:solidFill>
          <a:ln/>
        </p:spPr>
        <p:txBody>
          <a:bodyPr/>
          <a:lstStyle/>
          <a:p>
            <a:endParaRPr lang="it-IT"/>
          </a:p>
        </p:txBody>
      </p:sp>
      <p:sp>
        <p:nvSpPr>
          <p:cNvPr id="7" name="Text 4"/>
          <p:cNvSpPr txBox="1"/>
          <p:nvPr/>
        </p:nvSpPr>
        <p:spPr>
          <a:xfrm>
            <a:off x="59436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1</a:t>
            </a:r>
            <a:endParaRPr lang="en-US" sz="2200" dirty="0"/>
          </a:p>
        </p:txBody>
      </p:sp>
      <p:sp>
        <p:nvSpPr>
          <p:cNvPr id="8" name="Text 5"/>
          <p:cNvSpPr txBox="1"/>
          <p:nvPr/>
        </p:nvSpPr>
        <p:spPr>
          <a:xfrm>
            <a:off x="100584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L’ Ai </a:t>
            </a:r>
            <a:r>
              <a:rPr lang="en-US" sz="1400" dirty="0" err="1">
                <a:solidFill>
                  <a:schemeClr val="tx1"/>
                </a:solidFill>
              </a:rPr>
              <a:t>può</a:t>
            </a:r>
            <a:r>
              <a:rPr lang="en-US" sz="1400" dirty="0">
                <a:solidFill>
                  <a:schemeClr val="tx1"/>
                </a:solidFill>
              </a:rPr>
              <a:t> </a:t>
            </a:r>
            <a:r>
              <a:rPr lang="en-US" sz="1400" dirty="0" err="1">
                <a:solidFill>
                  <a:schemeClr val="tx1"/>
                </a:solidFill>
              </a:rPr>
              <a:t>aiutare</a:t>
            </a:r>
            <a:r>
              <a:rPr lang="en-US" sz="1400" dirty="0">
                <a:solidFill>
                  <a:schemeClr val="tx1"/>
                </a:solidFill>
              </a:rPr>
              <a:t> </a:t>
            </a:r>
            <a:r>
              <a:rPr lang="en-US" sz="1400" dirty="0" err="1">
                <a:solidFill>
                  <a:schemeClr val="tx1"/>
                </a:solidFill>
              </a:rPr>
              <a:t>anche</a:t>
            </a:r>
            <a:r>
              <a:rPr lang="en-US" sz="1400" dirty="0">
                <a:solidFill>
                  <a:schemeClr val="tx1"/>
                </a:solidFill>
              </a:rPr>
              <a:t> in </a:t>
            </a:r>
            <a:r>
              <a:rPr lang="en-US" sz="1400" dirty="0" err="1">
                <a:solidFill>
                  <a:schemeClr val="tx1"/>
                </a:solidFill>
              </a:rPr>
              <a:t>produzione</a:t>
            </a:r>
            <a:r>
              <a:rPr lang="en-US" sz="1400" dirty="0">
                <a:solidFill>
                  <a:schemeClr val="tx1"/>
                </a:solidFill>
              </a:rPr>
              <a:t> e </a:t>
            </a:r>
            <a:r>
              <a:rPr lang="en-US" sz="1400" dirty="0" err="1">
                <a:solidFill>
                  <a:schemeClr val="tx1"/>
                </a:solidFill>
              </a:rPr>
              <a:t>assistenza</a:t>
            </a:r>
            <a:r>
              <a:rPr lang="en-US" sz="1400" dirty="0">
                <a:solidFill>
                  <a:schemeClr val="tx1"/>
                </a:solidFill>
              </a:rPr>
              <a:t> </a:t>
            </a:r>
            <a:r>
              <a:rPr lang="en-US" sz="1400" dirty="0" err="1">
                <a:solidFill>
                  <a:schemeClr val="tx1"/>
                </a:solidFill>
              </a:rPr>
              <a:t>tecnica</a:t>
            </a:r>
            <a:r>
              <a:rPr lang="en-US" sz="1400" dirty="0">
                <a:solidFill>
                  <a:schemeClr val="tx1"/>
                </a:solidFill>
              </a:rPr>
              <a:t>.</a:t>
            </a:r>
            <a:endParaRPr lang="en-US" sz="1400" dirty="0"/>
          </a:p>
        </p:txBody>
      </p:sp>
      <p:sp>
        <p:nvSpPr>
          <p:cNvPr id="9" name="affermazione 2"/>
          <p:cNvSpPr/>
          <p:nvPr/>
        </p:nvSpPr>
        <p:spPr>
          <a:xfrm>
            <a:off x="4617720" y="1097280"/>
            <a:ext cx="4069080" cy="822960"/>
          </a:xfrm>
          <a:prstGeom prst="roundRect">
            <a:avLst>
              <a:gd name="adj" fmla="val 8889"/>
            </a:avLst>
          </a:prstGeom>
          <a:solidFill>
            <a:schemeClr val="bg2"/>
          </a:solidFill>
          <a:ln/>
        </p:spPr>
        <p:txBody>
          <a:bodyPr/>
          <a:lstStyle/>
          <a:p>
            <a:endParaRPr lang="it-IT"/>
          </a:p>
        </p:txBody>
      </p:sp>
      <p:sp>
        <p:nvSpPr>
          <p:cNvPr id="10" name="Text 7"/>
          <p:cNvSpPr txBox="1"/>
          <p:nvPr/>
        </p:nvSpPr>
        <p:spPr>
          <a:xfrm>
            <a:off x="475488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2</a:t>
            </a:r>
            <a:endParaRPr lang="en-US" sz="2200" dirty="0"/>
          </a:p>
        </p:txBody>
      </p:sp>
      <p:sp>
        <p:nvSpPr>
          <p:cNvPr id="11" name="Text 8"/>
          <p:cNvSpPr txBox="1"/>
          <p:nvPr/>
        </p:nvSpPr>
        <p:spPr>
          <a:xfrm>
            <a:off x="516636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Se risponde con sicurezza, </a:t>
            </a:r>
            <a:r>
              <a:rPr lang="en-US" sz="1400" dirty="0" err="1">
                <a:solidFill>
                  <a:schemeClr val="tx1"/>
                </a:solidFill>
              </a:rPr>
              <a:t>è</a:t>
            </a:r>
            <a:r>
              <a:rPr lang="en-US" sz="1400" dirty="0">
                <a:solidFill>
                  <a:schemeClr val="tx1"/>
                </a:solidFill>
              </a:rPr>
              <a:t> </a:t>
            </a:r>
            <a:r>
              <a:rPr lang="en-US" sz="1400" dirty="0" err="1">
                <a:solidFill>
                  <a:schemeClr val="tx1"/>
                </a:solidFill>
              </a:rPr>
              <a:t>sicuramente</a:t>
            </a:r>
            <a:r>
              <a:rPr lang="en-US" sz="1400" dirty="0">
                <a:solidFill>
                  <a:schemeClr val="tx1"/>
                </a:solidFill>
              </a:rPr>
              <a:t> </a:t>
            </a:r>
            <a:r>
              <a:rPr lang="en-US" sz="1400" dirty="0" err="1">
                <a:solidFill>
                  <a:schemeClr val="tx1"/>
                </a:solidFill>
              </a:rPr>
              <a:t>corretta</a:t>
            </a:r>
            <a:r>
              <a:rPr lang="en-US" sz="1400" dirty="0">
                <a:solidFill>
                  <a:schemeClr val="tx1"/>
                </a:solidFill>
              </a:rPr>
              <a:t>.</a:t>
            </a:r>
            <a:endParaRPr lang="en-US" sz="1400" dirty="0"/>
          </a:p>
        </p:txBody>
      </p:sp>
      <p:sp>
        <p:nvSpPr>
          <p:cNvPr id="12" name="affermazione 3"/>
          <p:cNvSpPr/>
          <p:nvPr/>
        </p:nvSpPr>
        <p:spPr>
          <a:xfrm>
            <a:off x="457200" y="2057400"/>
            <a:ext cx="4069080" cy="822960"/>
          </a:xfrm>
          <a:prstGeom prst="roundRect">
            <a:avLst>
              <a:gd name="adj" fmla="val 8889"/>
            </a:avLst>
          </a:prstGeom>
          <a:solidFill>
            <a:schemeClr val="bg2"/>
          </a:solidFill>
          <a:ln/>
        </p:spPr>
        <p:txBody>
          <a:bodyPr/>
          <a:lstStyle/>
          <a:p>
            <a:endParaRPr lang="it-IT"/>
          </a:p>
        </p:txBody>
      </p:sp>
      <p:sp>
        <p:nvSpPr>
          <p:cNvPr id="13" name="Text 10"/>
          <p:cNvSpPr txBox="1"/>
          <p:nvPr/>
        </p:nvSpPr>
        <p:spPr>
          <a:xfrm>
            <a:off x="59436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3</a:t>
            </a:r>
            <a:endParaRPr lang="en-US" sz="2200" dirty="0"/>
          </a:p>
        </p:txBody>
      </p:sp>
      <p:sp>
        <p:nvSpPr>
          <p:cNvPr id="14" name="Text 11"/>
          <p:cNvSpPr txBox="1"/>
          <p:nvPr/>
        </p:nvSpPr>
        <p:spPr>
          <a:xfrm>
            <a:off x="100584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La stessa domanda </a:t>
            </a:r>
            <a:r>
              <a:rPr lang="en-US" sz="1400" dirty="0" err="1">
                <a:solidFill>
                  <a:schemeClr val="tx1"/>
                </a:solidFill>
              </a:rPr>
              <a:t>può</a:t>
            </a:r>
            <a:r>
              <a:rPr lang="en-US" sz="1400" dirty="0">
                <a:solidFill>
                  <a:schemeClr val="tx1"/>
                </a:solidFill>
              </a:rPr>
              <a:t> </a:t>
            </a:r>
            <a:r>
              <a:rPr lang="en-US" sz="1400" dirty="0" err="1">
                <a:solidFill>
                  <a:schemeClr val="tx1"/>
                </a:solidFill>
              </a:rPr>
              <a:t>produrre</a:t>
            </a:r>
            <a:r>
              <a:rPr lang="en-US" sz="1400" dirty="0">
                <a:solidFill>
                  <a:schemeClr val="tx1"/>
                </a:solidFill>
              </a:rPr>
              <a:t> </a:t>
            </a:r>
            <a:r>
              <a:rPr lang="en-US" sz="1400" dirty="0" err="1">
                <a:solidFill>
                  <a:schemeClr val="tx1"/>
                </a:solidFill>
              </a:rPr>
              <a:t>risultati</a:t>
            </a:r>
            <a:r>
              <a:rPr lang="en-US" sz="1400" dirty="0">
                <a:solidFill>
                  <a:schemeClr val="tx1"/>
                </a:solidFill>
              </a:rPr>
              <a:t> </a:t>
            </a:r>
            <a:r>
              <a:rPr lang="en-US" sz="1400" dirty="0" err="1">
                <a:solidFill>
                  <a:schemeClr val="tx1"/>
                </a:solidFill>
              </a:rPr>
              <a:t>differenti</a:t>
            </a:r>
            <a:endParaRPr lang="en-US" sz="1400" dirty="0"/>
          </a:p>
        </p:txBody>
      </p:sp>
      <p:sp>
        <p:nvSpPr>
          <p:cNvPr id="15" name="affermazione 4"/>
          <p:cNvSpPr/>
          <p:nvPr/>
        </p:nvSpPr>
        <p:spPr>
          <a:xfrm>
            <a:off x="4617720" y="2057400"/>
            <a:ext cx="4069080" cy="822960"/>
          </a:xfrm>
          <a:prstGeom prst="roundRect">
            <a:avLst>
              <a:gd name="adj" fmla="val 8889"/>
            </a:avLst>
          </a:prstGeom>
          <a:solidFill>
            <a:schemeClr val="bg2"/>
          </a:solidFill>
          <a:ln/>
        </p:spPr>
        <p:txBody>
          <a:bodyPr/>
          <a:lstStyle/>
          <a:p>
            <a:endParaRPr lang="it-IT"/>
          </a:p>
        </p:txBody>
      </p:sp>
      <p:sp>
        <p:nvSpPr>
          <p:cNvPr id="16" name="Text 13"/>
          <p:cNvSpPr txBox="1"/>
          <p:nvPr/>
        </p:nvSpPr>
        <p:spPr>
          <a:xfrm>
            <a:off x="475488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4</a:t>
            </a:r>
            <a:endParaRPr lang="en-US" sz="2200" dirty="0"/>
          </a:p>
        </p:txBody>
      </p:sp>
      <p:sp>
        <p:nvSpPr>
          <p:cNvPr id="17" name="Text 14"/>
          <p:cNvSpPr txBox="1"/>
          <p:nvPr/>
        </p:nvSpPr>
        <p:spPr>
          <a:xfrm>
            <a:off x="516636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Per </a:t>
            </a:r>
            <a:r>
              <a:rPr lang="en-US" sz="1400" dirty="0" err="1">
                <a:solidFill>
                  <a:schemeClr val="tx1"/>
                </a:solidFill>
              </a:rPr>
              <a:t>utilizzare</a:t>
            </a:r>
            <a:r>
              <a:rPr lang="en-US" sz="1400" dirty="0">
                <a:solidFill>
                  <a:schemeClr val="tx1"/>
                </a:solidFill>
              </a:rPr>
              <a:t> </a:t>
            </a:r>
            <a:r>
              <a:rPr lang="en-US" sz="1400" dirty="0" err="1">
                <a:solidFill>
                  <a:schemeClr val="tx1"/>
                </a:solidFill>
              </a:rPr>
              <a:t>l’Ai</a:t>
            </a:r>
            <a:r>
              <a:rPr lang="en-US" sz="1400" dirty="0">
                <a:solidFill>
                  <a:schemeClr val="tx1"/>
                </a:solidFill>
              </a:rPr>
              <a:t> </a:t>
            </a:r>
            <a:r>
              <a:rPr lang="en-US" sz="1400" dirty="0" err="1">
                <a:solidFill>
                  <a:schemeClr val="tx1"/>
                </a:solidFill>
              </a:rPr>
              <a:t>bisogna</a:t>
            </a:r>
            <a:r>
              <a:rPr lang="en-US" sz="1400" dirty="0">
                <a:solidFill>
                  <a:schemeClr val="tx1"/>
                </a:solidFill>
              </a:rPr>
              <a:t> </a:t>
            </a:r>
            <a:r>
              <a:rPr lang="en-US" sz="1400" dirty="0" err="1">
                <a:solidFill>
                  <a:schemeClr val="tx1"/>
                </a:solidFill>
              </a:rPr>
              <a:t>saper</a:t>
            </a:r>
            <a:r>
              <a:rPr lang="en-US" sz="1400" dirty="0">
                <a:solidFill>
                  <a:schemeClr val="tx1"/>
                </a:solidFill>
              </a:rPr>
              <a:t> </a:t>
            </a:r>
            <a:r>
              <a:rPr lang="en-US" sz="1400" dirty="0" err="1">
                <a:solidFill>
                  <a:schemeClr val="tx1"/>
                </a:solidFill>
              </a:rPr>
              <a:t>programmare</a:t>
            </a:r>
            <a:endParaRPr lang="en-US" sz="1400" dirty="0"/>
          </a:p>
        </p:txBody>
      </p:sp>
      <p:sp>
        <p:nvSpPr>
          <p:cNvPr id="19" name="Text 16"/>
          <p:cNvSpPr txBox="1"/>
          <p:nvPr/>
        </p:nvSpPr>
        <p:spPr>
          <a:xfrm>
            <a:off x="594360" y="3017520"/>
            <a:ext cx="365760" cy="822960"/>
          </a:xfrm>
          <a:prstGeom prst="rect">
            <a:avLst/>
          </a:prstGeom>
          <a:noFill/>
          <a:ln/>
        </p:spPr>
        <p:txBody>
          <a:bodyPr wrap="square" lIns="0" tIns="0" rIns="0" bIns="0" rtlCol="0" anchor="ctr"/>
          <a:lstStyle/>
          <a:p>
            <a:pPr marL="0" indent="0">
              <a:buNone/>
            </a:pPr>
            <a:endParaRPr lang="en-US" sz="2200" dirty="0"/>
          </a:p>
        </p:txBody>
      </p:sp>
      <p:sp>
        <p:nvSpPr>
          <p:cNvPr id="24" name="messaggio"/>
          <p:cNvSpPr/>
          <p:nvPr/>
        </p:nvSpPr>
        <p:spPr>
          <a:xfrm>
            <a:off x="457200" y="3345180"/>
            <a:ext cx="8229600" cy="548640"/>
          </a:xfrm>
          <a:prstGeom prst="roundRect">
            <a:avLst>
              <a:gd name="adj" fmla="val 13333"/>
            </a:avLst>
          </a:prstGeom>
          <a:solidFill>
            <a:schemeClr val="accent1"/>
          </a:solidFill>
          <a:ln/>
        </p:spPr>
        <p:txBody>
          <a:bodyPr/>
          <a:lstStyle/>
          <a:p>
            <a:endParaRPr lang="it-IT"/>
          </a:p>
        </p:txBody>
      </p:sp>
      <p:sp>
        <p:nvSpPr>
          <p:cNvPr id="25" name="Text 22"/>
          <p:cNvSpPr txBox="1"/>
          <p:nvPr/>
        </p:nvSpPr>
        <p:spPr>
          <a:xfrm>
            <a:off x="640080" y="3345180"/>
            <a:ext cx="7863840" cy="548640"/>
          </a:xfrm>
          <a:prstGeom prst="rect">
            <a:avLst/>
          </a:prstGeom>
          <a:noFill/>
          <a:ln/>
        </p:spPr>
        <p:txBody>
          <a:bodyPr wrap="square" lIns="0" tIns="0" rIns="0" bIns="0" rtlCol="0" anchor="ctr"/>
          <a:lstStyle/>
          <a:p>
            <a:pPr marL="0" indent="0">
              <a:buNone/>
            </a:pPr>
            <a:r>
              <a:rPr lang="en-US" sz="1400" dirty="0">
                <a:solidFill>
                  <a:schemeClr val="bg1"/>
                </a:solidFill>
              </a:rPr>
              <a:t>Per ogni affermazione: vera o falsa? Un </a:t>
            </a:r>
            <a:r>
              <a:rPr lang="en-US" sz="1400" dirty="0" err="1">
                <a:solidFill>
                  <a:schemeClr val="bg1"/>
                </a:solidFill>
              </a:rPr>
              <a:t>minuto</a:t>
            </a:r>
            <a:r>
              <a:rPr lang="en-US" sz="1400" dirty="0">
                <a:solidFill>
                  <a:schemeClr val="bg1"/>
                </a:solidFill>
              </a:rPr>
              <a:t>.</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err="1">
                <a:solidFill>
                  <a:schemeClr val="tx1"/>
                </a:solidFill>
              </a:rPr>
              <a:t>Affermazioni</a:t>
            </a:r>
            <a:r>
              <a:rPr lang="en-US" sz="2600" b="1" dirty="0">
                <a:solidFill>
                  <a:schemeClr val="tx1"/>
                </a:solidFill>
              </a:rPr>
              <a:t> </a:t>
            </a:r>
            <a:r>
              <a:rPr lang="en-US" sz="2600" b="1" dirty="0" err="1">
                <a:solidFill>
                  <a:schemeClr val="tx1"/>
                </a:solidFill>
              </a:rPr>
              <a:t>sull'AI</a:t>
            </a:r>
            <a:r>
              <a:rPr lang="en-US" sz="2600" b="1" dirty="0">
                <a:solidFill>
                  <a:schemeClr val="tx1"/>
                </a:solidFill>
              </a:rPr>
              <a:t>: le risposte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040967070"/>
              </p:ext>
            </p:extLst>
          </p:nvPr>
        </p:nvGraphicFramePr>
        <p:xfrm>
          <a:off x="457200" y="1024128"/>
          <a:ext cx="8229600" cy="2377440"/>
        </p:xfrm>
        <a:graphic>
          <a:graphicData uri="http://schemas.openxmlformats.org/drawingml/2006/table">
            <a:tbl>
              <a:tblPr/>
              <a:tblGrid>
                <a:gridCol w="32004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3749040">
                  <a:extLst>
                    <a:ext uri="{9D8B030D-6E8A-4147-A177-3AD203B41FA5}">
                      <a16:colId xmlns:a16="http://schemas.microsoft.com/office/drawing/2014/main" val="20003"/>
                    </a:ext>
                  </a:extLst>
                </a:gridCol>
              </a:tblGrid>
              <a:tr h="475488">
                <a:tc>
                  <a:txBody>
                    <a:bodyPr/>
                    <a:lstStyle/>
                    <a:p>
                      <a:pPr marL="0" indent="0">
                        <a:buNone/>
                      </a:pPr>
                      <a:r>
                        <a:rPr lang="en-US" sz="1150" b="1" dirty="0">
                          <a:solidFill>
                            <a:schemeClr val="tx1"/>
                          </a:solidFill>
                        </a:rPr>
                        <a:t>#</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b="1" dirty="0">
                          <a:solidFill>
                            <a:schemeClr val="bg1"/>
                          </a:solidFill>
                        </a:rPr>
                        <a:t>Affermazione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V/F</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Perché</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150" b="1" dirty="0">
                          <a:solidFill>
                            <a:schemeClr val="tx1"/>
                          </a:solidFill>
                        </a:rPr>
                        <a:t>1</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L’AI </a:t>
                      </a:r>
                      <a:r>
                        <a:rPr lang="en-US" sz="1150" dirty="0" err="1">
                          <a:solidFill>
                            <a:schemeClr val="tx1"/>
                          </a:solidFill>
                        </a:rPr>
                        <a:t>può</a:t>
                      </a:r>
                      <a:r>
                        <a:rPr lang="en-US" sz="1150" dirty="0">
                          <a:solidFill>
                            <a:schemeClr val="tx1"/>
                          </a:solidFill>
                        </a:rPr>
                        <a:t> </a:t>
                      </a:r>
                      <a:r>
                        <a:rPr lang="en-US" sz="1150" dirty="0" err="1">
                          <a:solidFill>
                            <a:schemeClr val="tx1"/>
                          </a:solidFill>
                        </a:rPr>
                        <a:t>aiutare</a:t>
                      </a:r>
                      <a:r>
                        <a:rPr lang="en-US" sz="1150" dirty="0">
                          <a:solidFill>
                            <a:schemeClr val="tx1"/>
                          </a:solidFill>
                        </a:rPr>
                        <a:t> </a:t>
                      </a:r>
                      <a:r>
                        <a:rPr lang="en-US" sz="1150" dirty="0" err="1">
                          <a:solidFill>
                            <a:schemeClr val="tx1"/>
                          </a:solidFill>
                        </a:rPr>
                        <a:t>anche</a:t>
                      </a:r>
                      <a:r>
                        <a:rPr lang="en-US" sz="1150" dirty="0">
                          <a:solidFill>
                            <a:schemeClr val="tx1"/>
                          </a:solidFill>
                        </a:rPr>
                        <a:t> in </a:t>
                      </a:r>
                      <a:r>
                        <a:rPr lang="en-US" sz="1150" dirty="0" err="1">
                          <a:solidFill>
                            <a:schemeClr val="tx1"/>
                          </a:solidFill>
                        </a:rPr>
                        <a:t>produzione</a:t>
                      </a:r>
                      <a:r>
                        <a:rPr lang="en-US" sz="1150" dirty="0">
                          <a:solidFill>
                            <a:schemeClr val="tx1"/>
                          </a:solidFill>
                        </a:rPr>
                        <a:t> e </a:t>
                      </a:r>
                      <a:r>
                        <a:rPr lang="en-US" sz="1150" dirty="0" err="1">
                          <a:solidFill>
                            <a:schemeClr val="tx1"/>
                          </a:solidFill>
                        </a:rPr>
                        <a:t>assistenza</a:t>
                      </a:r>
                      <a:r>
                        <a:rPr lang="en-US" sz="1150" dirty="0">
                          <a:solidFill>
                            <a:schemeClr val="tx1"/>
                          </a:solidFill>
                        </a:rPr>
                        <a:t> </a:t>
                      </a:r>
                      <a:r>
                        <a:rPr lang="en-US" sz="1150" dirty="0" err="1">
                          <a:solidFill>
                            <a:schemeClr val="tx1"/>
                          </a:solidFill>
                        </a:rPr>
                        <a:t>tecnica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Con </a:t>
                      </a:r>
                      <a:r>
                        <a:rPr lang="en-US" sz="1150" dirty="0" err="1">
                          <a:solidFill>
                            <a:schemeClr val="tx1"/>
                          </a:solidFill>
                        </a:rPr>
                        <a:t>dei</a:t>
                      </a:r>
                      <a:r>
                        <a:rPr lang="en-US" sz="1150" dirty="0">
                          <a:solidFill>
                            <a:schemeClr val="tx1"/>
                          </a:solidFill>
                        </a:rPr>
                        <a:t> </a:t>
                      </a:r>
                      <a:r>
                        <a:rPr lang="en-US" sz="1150" dirty="0" err="1">
                          <a:solidFill>
                            <a:schemeClr val="tx1"/>
                          </a:solidFill>
                        </a:rPr>
                        <a:t>limiti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150" b="1" dirty="0">
                          <a:solidFill>
                            <a:schemeClr val="tx1"/>
                          </a:solidFill>
                        </a:rPr>
                        <a:t>2</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Se risponde con sicurezza, </a:t>
                      </a:r>
                      <a:r>
                        <a:rPr lang="en-US" sz="1150" dirty="0" err="1">
                          <a:solidFill>
                            <a:schemeClr val="tx1"/>
                          </a:solidFill>
                        </a:rPr>
                        <a:t>è</a:t>
                      </a:r>
                      <a:r>
                        <a:rPr lang="en-US" sz="1150" dirty="0">
                          <a:solidFill>
                            <a:schemeClr val="tx1"/>
                          </a:solidFill>
                        </a:rPr>
                        <a:t> </a:t>
                      </a:r>
                      <a:r>
                        <a:rPr lang="en-US" sz="1150" dirty="0" err="1">
                          <a:solidFill>
                            <a:schemeClr val="tx1"/>
                          </a:solidFill>
                        </a:rPr>
                        <a:t>sicuramente</a:t>
                      </a:r>
                      <a:r>
                        <a:rPr lang="en-US" sz="1150" dirty="0">
                          <a:solidFill>
                            <a:schemeClr val="tx1"/>
                          </a:solidFill>
                        </a:rPr>
                        <a:t> </a:t>
                      </a:r>
                      <a:r>
                        <a:rPr lang="en-US" sz="1150" dirty="0" err="1">
                          <a:solidFill>
                            <a:schemeClr val="tx1"/>
                          </a:solidFill>
                        </a:rPr>
                        <a:t>corretta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Tono sicuro e scrittura fluida non dimostrano la correttezza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en-US" sz="1150" b="1" dirty="0">
                          <a:solidFill>
                            <a:schemeClr val="tx1"/>
                          </a:solidFill>
                        </a:rPr>
                        <a:t>3</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 stessa domanda </a:t>
                      </a:r>
                      <a:r>
                        <a:rPr lang="en-US" sz="1150" dirty="0" err="1">
                          <a:solidFill>
                            <a:schemeClr val="tx1"/>
                          </a:solidFill>
                        </a:rPr>
                        <a:t>può</a:t>
                      </a:r>
                      <a:r>
                        <a:rPr lang="en-US" sz="1150" dirty="0">
                          <a:solidFill>
                            <a:schemeClr val="tx1"/>
                          </a:solidFill>
                        </a:rPr>
                        <a:t> </a:t>
                      </a:r>
                      <a:r>
                        <a:rPr lang="en-US" sz="1150" dirty="0" err="1">
                          <a:solidFill>
                            <a:schemeClr val="tx1"/>
                          </a:solidFill>
                        </a:rPr>
                        <a:t>produrre</a:t>
                      </a:r>
                      <a:r>
                        <a:rPr lang="en-US" sz="1150" dirty="0">
                          <a:solidFill>
                            <a:schemeClr val="tx1"/>
                          </a:solidFill>
                        </a:rPr>
                        <a:t> </a:t>
                      </a:r>
                      <a:r>
                        <a:rPr lang="en-US" sz="1150" dirty="0" err="1">
                          <a:solidFill>
                            <a:schemeClr val="tx1"/>
                          </a:solidFill>
                        </a:rPr>
                        <a:t>risultati</a:t>
                      </a:r>
                      <a:r>
                        <a:rPr lang="en-US" sz="1150" dirty="0">
                          <a:solidFill>
                            <a:schemeClr val="tx1"/>
                          </a:solidFill>
                        </a:rPr>
                        <a:t> </a:t>
                      </a:r>
                      <a:r>
                        <a:rPr lang="en-US" sz="1150" dirty="0" err="1">
                          <a:solidFill>
                            <a:schemeClr val="tx1"/>
                          </a:solidFill>
                        </a:rPr>
                        <a:t>differenti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Sistemi probabilistici: la variabilità è normale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150" b="1" dirty="0">
                          <a:solidFill>
                            <a:schemeClr val="tx1"/>
                          </a:solidFill>
                        </a:rPr>
                        <a:t>4</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Per </a:t>
                      </a:r>
                      <a:r>
                        <a:rPr lang="en-US" sz="1150" dirty="0" err="1">
                          <a:solidFill>
                            <a:schemeClr val="tx1"/>
                          </a:solidFill>
                        </a:rPr>
                        <a:t>utilizzare</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bisogna</a:t>
                      </a:r>
                      <a:r>
                        <a:rPr lang="en-US" sz="1150" dirty="0">
                          <a:solidFill>
                            <a:schemeClr val="tx1"/>
                          </a:solidFill>
                        </a:rPr>
                        <a:t> </a:t>
                      </a:r>
                      <a:r>
                        <a:rPr lang="en-US" sz="1150" dirty="0" err="1">
                          <a:solidFill>
                            <a:schemeClr val="tx1"/>
                          </a:solidFill>
                        </a:rPr>
                        <a:t>saper</a:t>
                      </a:r>
                      <a:r>
                        <a:rPr lang="en-US" sz="1150" dirty="0">
                          <a:solidFill>
                            <a:schemeClr val="tx1"/>
                          </a:solidFill>
                        </a:rPr>
                        <a:t> </a:t>
                      </a:r>
                      <a:r>
                        <a:rPr lang="en-US" sz="1150" dirty="0" err="1">
                          <a:solidFill>
                            <a:schemeClr val="tx1"/>
                          </a:solidFill>
                        </a:rPr>
                        <a:t>programmare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I </a:t>
                      </a:r>
                      <a:r>
                        <a:rPr lang="en-US" sz="1150" dirty="0" err="1">
                          <a:solidFill>
                            <a:schemeClr val="tx1"/>
                          </a:solidFill>
                        </a:rPr>
                        <a:t>modelli</a:t>
                      </a:r>
                      <a:r>
                        <a:rPr lang="en-US" sz="1150" dirty="0">
                          <a:solidFill>
                            <a:schemeClr val="tx1"/>
                          </a:solidFill>
                        </a:rPr>
                        <a:t> </a:t>
                      </a:r>
                      <a:r>
                        <a:rPr lang="en-US" sz="1150" dirty="0" err="1">
                          <a:solidFill>
                            <a:schemeClr val="tx1"/>
                          </a:solidFill>
                        </a:rPr>
                        <a:t>moderni</a:t>
                      </a:r>
                      <a:r>
                        <a:rPr lang="en-US" sz="1150" dirty="0">
                          <a:solidFill>
                            <a:schemeClr val="tx1"/>
                          </a:solidFill>
                        </a:rPr>
                        <a:t> </a:t>
                      </a:r>
                      <a:r>
                        <a:rPr lang="en-US" sz="1150" dirty="0" err="1">
                          <a:solidFill>
                            <a:schemeClr val="tx1"/>
                          </a:solidFill>
                        </a:rPr>
                        <a:t>hanno</a:t>
                      </a:r>
                      <a:r>
                        <a:rPr lang="en-US" sz="1150" dirty="0">
                          <a:solidFill>
                            <a:schemeClr val="tx1"/>
                          </a:solidFill>
                        </a:rPr>
                        <a:t> </a:t>
                      </a:r>
                      <a:r>
                        <a:rPr lang="en-US" sz="1150" dirty="0" err="1">
                          <a:solidFill>
                            <a:schemeClr val="tx1"/>
                          </a:solidFill>
                        </a:rPr>
                        <a:t>reso</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fruibile</a:t>
                      </a:r>
                      <a:r>
                        <a:rPr lang="en-US" sz="1150" dirty="0">
                          <a:solidFill>
                            <a:schemeClr val="tx1"/>
                          </a:solidFill>
                        </a:rPr>
                        <a:t> da un </a:t>
                      </a:r>
                      <a:r>
                        <a:rPr lang="en-US" sz="1150" dirty="0" err="1">
                          <a:solidFill>
                            <a:schemeClr val="tx1"/>
                          </a:solidFill>
                        </a:rPr>
                        <a:t>ampio</a:t>
                      </a:r>
                      <a:r>
                        <a:rPr lang="en-US" sz="1150" dirty="0">
                          <a:solidFill>
                            <a:schemeClr val="tx1"/>
                          </a:solidFill>
                        </a:rPr>
                        <a:t> </a:t>
                      </a:r>
                      <a:r>
                        <a:rPr lang="en-US" sz="1150" dirty="0" err="1">
                          <a:solidFill>
                            <a:schemeClr val="tx1"/>
                          </a:solidFill>
                        </a:rPr>
                        <a:t>pubblico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nostro </a:t>
            </a:r>
            <a:r>
              <a:rPr lang="en-US" sz="2600" b="1" dirty="0" err="1">
                <a:solidFill>
                  <a:schemeClr val="tx1"/>
                </a:solidFill>
              </a:rPr>
              <a:t>spazio</a:t>
            </a:r>
            <a:r>
              <a:rPr lang="en-US" sz="2600" b="1" dirty="0">
                <a:solidFill>
                  <a:schemeClr val="tx1"/>
                </a:solidFill>
              </a:rPr>
              <a:t> di Lavoro: </a:t>
            </a:r>
            <a:r>
              <a:rPr lang="en-US" sz="2600" b="1" dirty="0" err="1">
                <a:solidFill>
                  <a:schemeClr val="tx1"/>
                </a:solidFill>
              </a:rPr>
              <a:t>problemi</a:t>
            </a:r>
            <a:r>
              <a:rPr lang="en-US" sz="2600" b="1" dirty="0">
                <a:solidFill>
                  <a:schemeClr val="tx1"/>
                </a:solidFill>
              </a:rPr>
              <a:t> e </a:t>
            </a:r>
            <a:r>
              <a:rPr lang="en-US" sz="2600" b="1" dirty="0" err="1">
                <a:solidFill>
                  <a:schemeClr val="tx1"/>
                </a:solidFill>
              </a:rPr>
              <a:t>opportunità</a:t>
            </a:r>
            <a:endParaRPr lang="en-US" sz="2600" dirty="0"/>
          </a:p>
        </p:txBody>
      </p:sp>
      <p:sp>
        <p:nvSpPr>
          <p:cNvPr id="6" name="blocco Tecnico"/>
          <p:cNvSpPr/>
          <p:nvPr/>
        </p:nvSpPr>
        <p:spPr>
          <a:xfrm>
            <a:off x="457200" y="1097280"/>
            <a:ext cx="1097280" cy="384048"/>
          </a:xfrm>
          <a:prstGeom prst="roundRect">
            <a:avLst>
              <a:gd name="adj" fmla="val 28571"/>
            </a:avLst>
          </a:prstGeom>
          <a:solidFill>
            <a:schemeClr val="tx2"/>
          </a:solidFill>
          <a:ln/>
        </p:spPr>
        <p:txBody>
          <a:bodyPr/>
          <a:lstStyle/>
          <a:p>
            <a:endParaRPr lang="it-IT"/>
          </a:p>
        </p:txBody>
      </p:sp>
      <p:sp>
        <p:nvSpPr>
          <p:cNvPr id="7" name="Text 4"/>
          <p:cNvSpPr txBox="1"/>
          <p:nvPr/>
        </p:nvSpPr>
        <p:spPr>
          <a:xfrm>
            <a:off x="50292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Tecnico</a:t>
            </a:r>
            <a:endParaRPr lang="en-US" sz="1100" dirty="0"/>
          </a:p>
        </p:txBody>
      </p:sp>
      <p:sp>
        <p:nvSpPr>
          <p:cNvPr id="8" name="colonna Tecnico"/>
          <p:cNvSpPr/>
          <p:nvPr/>
        </p:nvSpPr>
        <p:spPr>
          <a:xfrm>
            <a:off x="457200" y="1554480"/>
            <a:ext cx="1097280" cy="1554480"/>
          </a:xfrm>
          <a:prstGeom prst="roundRect">
            <a:avLst>
              <a:gd name="adj" fmla="val 6667"/>
            </a:avLst>
          </a:prstGeom>
          <a:solidFill>
            <a:schemeClr val="bg2"/>
          </a:solidFill>
          <a:ln/>
        </p:spPr>
        <p:txBody>
          <a:bodyPr/>
          <a:lstStyle/>
          <a:p>
            <a:endParaRPr lang="it-IT"/>
          </a:p>
        </p:txBody>
      </p:sp>
      <p:sp>
        <p:nvSpPr>
          <p:cNvPr id="9" name="blocco Produzione"/>
          <p:cNvSpPr/>
          <p:nvPr/>
        </p:nvSpPr>
        <p:spPr>
          <a:xfrm>
            <a:off x="1636776" y="1097280"/>
            <a:ext cx="1097280" cy="384048"/>
          </a:xfrm>
          <a:prstGeom prst="roundRect">
            <a:avLst>
              <a:gd name="adj" fmla="val 28571"/>
            </a:avLst>
          </a:prstGeom>
          <a:solidFill>
            <a:schemeClr val="tx2"/>
          </a:solidFill>
          <a:ln/>
        </p:spPr>
        <p:txBody>
          <a:bodyPr/>
          <a:lstStyle/>
          <a:p>
            <a:endParaRPr lang="it-IT"/>
          </a:p>
        </p:txBody>
      </p:sp>
      <p:sp>
        <p:nvSpPr>
          <p:cNvPr id="10" name="Text 7"/>
          <p:cNvSpPr txBox="1"/>
          <p:nvPr/>
        </p:nvSpPr>
        <p:spPr>
          <a:xfrm>
            <a:off x="168249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Produzione</a:t>
            </a:r>
            <a:endParaRPr lang="en-US" sz="1100" dirty="0"/>
          </a:p>
        </p:txBody>
      </p:sp>
      <p:sp>
        <p:nvSpPr>
          <p:cNvPr id="11" name="colonna Produzione"/>
          <p:cNvSpPr/>
          <p:nvPr/>
        </p:nvSpPr>
        <p:spPr>
          <a:xfrm>
            <a:off x="1636776" y="1554480"/>
            <a:ext cx="1097280" cy="1554480"/>
          </a:xfrm>
          <a:prstGeom prst="roundRect">
            <a:avLst>
              <a:gd name="adj" fmla="val 6667"/>
            </a:avLst>
          </a:prstGeom>
          <a:solidFill>
            <a:schemeClr val="bg2"/>
          </a:solidFill>
          <a:ln/>
        </p:spPr>
        <p:txBody>
          <a:bodyPr/>
          <a:lstStyle/>
          <a:p>
            <a:endParaRPr lang="it-IT"/>
          </a:p>
        </p:txBody>
      </p:sp>
      <p:sp>
        <p:nvSpPr>
          <p:cNvPr id="12" name="blocco Qualità"/>
          <p:cNvSpPr/>
          <p:nvPr/>
        </p:nvSpPr>
        <p:spPr>
          <a:xfrm>
            <a:off x="2816352" y="1097280"/>
            <a:ext cx="1097280" cy="384048"/>
          </a:xfrm>
          <a:prstGeom prst="roundRect">
            <a:avLst>
              <a:gd name="adj" fmla="val 28571"/>
            </a:avLst>
          </a:prstGeom>
          <a:solidFill>
            <a:schemeClr val="tx2"/>
          </a:solidFill>
          <a:ln/>
        </p:spPr>
        <p:txBody>
          <a:bodyPr/>
          <a:lstStyle/>
          <a:p>
            <a:endParaRPr lang="it-IT"/>
          </a:p>
        </p:txBody>
      </p:sp>
      <p:sp>
        <p:nvSpPr>
          <p:cNvPr id="13" name="Text 10"/>
          <p:cNvSpPr txBox="1"/>
          <p:nvPr/>
        </p:nvSpPr>
        <p:spPr>
          <a:xfrm>
            <a:off x="2862072"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Qualità</a:t>
            </a:r>
            <a:endParaRPr lang="en-US" sz="1100" dirty="0"/>
          </a:p>
        </p:txBody>
      </p:sp>
      <p:sp>
        <p:nvSpPr>
          <p:cNvPr id="14" name="colonna Qualità"/>
          <p:cNvSpPr/>
          <p:nvPr/>
        </p:nvSpPr>
        <p:spPr>
          <a:xfrm>
            <a:off x="2816352" y="1554480"/>
            <a:ext cx="1097280" cy="1554480"/>
          </a:xfrm>
          <a:prstGeom prst="roundRect">
            <a:avLst>
              <a:gd name="adj" fmla="val 6667"/>
            </a:avLst>
          </a:prstGeom>
          <a:solidFill>
            <a:schemeClr val="bg2"/>
          </a:solidFill>
          <a:ln/>
        </p:spPr>
        <p:txBody>
          <a:bodyPr/>
          <a:lstStyle/>
          <a:p>
            <a:endParaRPr lang="it-IT"/>
          </a:p>
        </p:txBody>
      </p:sp>
      <p:sp>
        <p:nvSpPr>
          <p:cNvPr id="15" name="blocco Service"/>
          <p:cNvSpPr/>
          <p:nvPr/>
        </p:nvSpPr>
        <p:spPr>
          <a:xfrm>
            <a:off x="3995928" y="1097280"/>
            <a:ext cx="1097280" cy="384048"/>
          </a:xfrm>
          <a:prstGeom prst="roundRect">
            <a:avLst>
              <a:gd name="adj" fmla="val 28571"/>
            </a:avLst>
          </a:prstGeom>
          <a:solidFill>
            <a:schemeClr val="tx2"/>
          </a:solidFill>
          <a:ln/>
        </p:spPr>
        <p:txBody>
          <a:bodyPr/>
          <a:lstStyle/>
          <a:p>
            <a:endParaRPr lang="it-IT"/>
          </a:p>
        </p:txBody>
      </p:sp>
      <p:sp>
        <p:nvSpPr>
          <p:cNvPr id="16" name="Text 13"/>
          <p:cNvSpPr txBox="1"/>
          <p:nvPr/>
        </p:nvSpPr>
        <p:spPr>
          <a:xfrm>
            <a:off x="4041648"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Service</a:t>
            </a:r>
            <a:endParaRPr lang="en-US" sz="1100" dirty="0"/>
          </a:p>
        </p:txBody>
      </p:sp>
      <p:sp>
        <p:nvSpPr>
          <p:cNvPr id="17" name="colonna Service"/>
          <p:cNvSpPr/>
          <p:nvPr/>
        </p:nvSpPr>
        <p:spPr>
          <a:xfrm>
            <a:off x="3995928" y="1554480"/>
            <a:ext cx="1097280" cy="1554480"/>
          </a:xfrm>
          <a:prstGeom prst="roundRect">
            <a:avLst>
              <a:gd name="adj" fmla="val 6667"/>
            </a:avLst>
          </a:prstGeom>
          <a:solidFill>
            <a:schemeClr val="bg2"/>
          </a:solidFill>
          <a:ln/>
        </p:spPr>
        <p:txBody>
          <a:bodyPr/>
          <a:lstStyle/>
          <a:p>
            <a:endParaRPr lang="it-IT"/>
          </a:p>
        </p:txBody>
      </p:sp>
      <p:sp>
        <p:nvSpPr>
          <p:cNvPr id="18" name="blocco Commerciale"/>
          <p:cNvSpPr/>
          <p:nvPr/>
        </p:nvSpPr>
        <p:spPr>
          <a:xfrm>
            <a:off x="5175504" y="1097280"/>
            <a:ext cx="1097280" cy="384048"/>
          </a:xfrm>
          <a:prstGeom prst="roundRect">
            <a:avLst>
              <a:gd name="adj" fmla="val 28571"/>
            </a:avLst>
          </a:prstGeom>
          <a:solidFill>
            <a:schemeClr val="tx2"/>
          </a:solidFill>
          <a:ln/>
        </p:spPr>
        <p:txBody>
          <a:bodyPr/>
          <a:lstStyle/>
          <a:p>
            <a:endParaRPr lang="it-IT"/>
          </a:p>
        </p:txBody>
      </p:sp>
      <p:sp>
        <p:nvSpPr>
          <p:cNvPr id="19" name="Text 16"/>
          <p:cNvSpPr txBox="1"/>
          <p:nvPr/>
        </p:nvSpPr>
        <p:spPr>
          <a:xfrm>
            <a:off x="5221224"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Commerciale</a:t>
            </a:r>
            <a:endParaRPr lang="en-US" sz="1100" dirty="0"/>
          </a:p>
        </p:txBody>
      </p:sp>
      <p:sp>
        <p:nvSpPr>
          <p:cNvPr id="20" name="colonna Commerciale"/>
          <p:cNvSpPr/>
          <p:nvPr/>
        </p:nvSpPr>
        <p:spPr>
          <a:xfrm>
            <a:off x="5175504" y="1554480"/>
            <a:ext cx="1097280" cy="1554480"/>
          </a:xfrm>
          <a:prstGeom prst="roundRect">
            <a:avLst>
              <a:gd name="adj" fmla="val 6667"/>
            </a:avLst>
          </a:prstGeom>
          <a:solidFill>
            <a:schemeClr val="bg2"/>
          </a:solidFill>
          <a:ln/>
        </p:spPr>
        <p:txBody>
          <a:bodyPr/>
          <a:lstStyle/>
          <a:p>
            <a:endParaRPr lang="it-IT"/>
          </a:p>
        </p:txBody>
      </p:sp>
      <p:sp>
        <p:nvSpPr>
          <p:cNvPr id="21" name="blocco Amministrazione"/>
          <p:cNvSpPr/>
          <p:nvPr/>
        </p:nvSpPr>
        <p:spPr>
          <a:xfrm>
            <a:off x="6355080" y="1097280"/>
            <a:ext cx="1097280" cy="384048"/>
          </a:xfrm>
          <a:prstGeom prst="roundRect">
            <a:avLst>
              <a:gd name="adj" fmla="val 28571"/>
            </a:avLst>
          </a:prstGeom>
          <a:solidFill>
            <a:schemeClr val="tx2"/>
          </a:solidFill>
          <a:ln/>
        </p:spPr>
        <p:txBody>
          <a:bodyPr/>
          <a:lstStyle/>
          <a:p>
            <a:endParaRPr lang="it-IT"/>
          </a:p>
        </p:txBody>
      </p:sp>
      <p:sp>
        <p:nvSpPr>
          <p:cNvPr id="22" name="Text 19"/>
          <p:cNvSpPr txBox="1"/>
          <p:nvPr/>
        </p:nvSpPr>
        <p:spPr>
          <a:xfrm>
            <a:off x="640080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Amministrazione</a:t>
            </a:r>
            <a:endParaRPr lang="en-US" sz="1100" dirty="0"/>
          </a:p>
        </p:txBody>
      </p:sp>
      <p:sp>
        <p:nvSpPr>
          <p:cNvPr id="23" name="colonna Amministrazione"/>
          <p:cNvSpPr/>
          <p:nvPr/>
        </p:nvSpPr>
        <p:spPr>
          <a:xfrm>
            <a:off x="6355080" y="1554480"/>
            <a:ext cx="1097280" cy="1554480"/>
          </a:xfrm>
          <a:prstGeom prst="roundRect">
            <a:avLst>
              <a:gd name="adj" fmla="val 6667"/>
            </a:avLst>
          </a:prstGeom>
          <a:solidFill>
            <a:schemeClr val="bg2"/>
          </a:solidFill>
          <a:ln/>
        </p:spPr>
        <p:txBody>
          <a:bodyPr/>
          <a:lstStyle/>
          <a:p>
            <a:endParaRPr lang="it-IT"/>
          </a:p>
        </p:txBody>
      </p:sp>
      <p:sp>
        <p:nvSpPr>
          <p:cNvPr id="24" name="blocco HR"/>
          <p:cNvSpPr/>
          <p:nvPr/>
        </p:nvSpPr>
        <p:spPr>
          <a:xfrm>
            <a:off x="7534656" y="1097280"/>
            <a:ext cx="1097280" cy="384048"/>
          </a:xfrm>
          <a:prstGeom prst="roundRect">
            <a:avLst>
              <a:gd name="adj" fmla="val 28571"/>
            </a:avLst>
          </a:prstGeom>
          <a:solidFill>
            <a:schemeClr val="tx2"/>
          </a:solidFill>
          <a:ln/>
        </p:spPr>
        <p:txBody>
          <a:bodyPr/>
          <a:lstStyle/>
          <a:p>
            <a:endParaRPr lang="it-IT"/>
          </a:p>
        </p:txBody>
      </p:sp>
      <p:sp>
        <p:nvSpPr>
          <p:cNvPr id="25" name="Text 22"/>
          <p:cNvSpPr txBox="1"/>
          <p:nvPr/>
        </p:nvSpPr>
        <p:spPr>
          <a:xfrm>
            <a:off x="758037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HR</a:t>
            </a:r>
            <a:endParaRPr lang="en-US" sz="1100" dirty="0"/>
          </a:p>
        </p:txBody>
      </p:sp>
      <p:sp>
        <p:nvSpPr>
          <p:cNvPr id="26" name="colonna HR"/>
          <p:cNvSpPr/>
          <p:nvPr/>
        </p:nvSpPr>
        <p:spPr>
          <a:xfrm>
            <a:off x="7534656" y="1554480"/>
            <a:ext cx="1097280" cy="1554480"/>
          </a:xfrm>
          <a:prstGeom prst="roundRect">
            <a:avLst>
              <a:gd name="adj" fmla="val 6667"/>
            </a:avLst>
          </a:prstGeom>
          <a:solidFill>
            <a:schemeClr val="bg2"/>
          </a:solidFill>
          <a:ln/>
        </p:spPr>
        <p:txBody>
          <a:bodyPr/>
          <a:lstStyle/>
          <a:p>
            <a:endParaRPr lang="it-IT"/>
          </a:p>
        </p:txBody>
      </p:sp>
      <p:sp>
        <p:nvSpPr>
          <p:cNvPr id="27" name="post-it"/>
          <p:cNvSpPr/>
          <p:nvPr/>
        </p:nvSpPr>
        <p:spPr>
          <a:xfrm>
            <a:off x="548640"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28" name="Text 25"/>
          <p:cNvSpPr txBox="1"/>
          <p:nvPr/>
        </p:nvSpPr>
        <p:spPr>
          <a:xfrm>
            <a:off x="594360"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Cercare nei disegni</a:t>
            </a:r>
            <a:endParaRPr lang="en-US" sz="900" dirty="0"/>
          </a:p>
        </p:txBody>
      </p:sp>
      <p:sp>
        <p:nvSpPr>
          <p:cNvPr id="29" name="post-it"/>
          <p:cNvSpPr/>
          <p:nvPr/>
        </p:nvSpPr>
        <p:spPr>
          <a:xfrm>
            <a:off x="4087368"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0" name="Text 27"/>
          <p:cNvSpPr txBox="1"/>
          <p:nvPr/>
        </p:nvSpPr>
        <p:spPr>
          <a:xfrm>
            <a:off x="4133088"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Soluzione di un allarme</a:t>
            </a:r>
            <a:endParaRPr lang="en-US" sz="900" dirty="0"/>
          </a:p>
        </p:txBody>
      </p:sp>
      <p:sp>
        <p:nvSpPr>
          <p:cNvPr id="31" name="post-it"/>
          <p:cNvSpPr/>
          <p:nvPr/>
        </p:nvSpPr>
        <p:spPr>
          <a:xfrm>
            <a:off x="5266944"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2" name="Text 29"/>
          <p:cNvSpPr txBox="1"/>
          <p:nvPr/>
        </p:nvSpPr>
        <p:spPr>
          <a:xfrm>
            <a:off x="5312664"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Leggere il capitolato</a:t>
            </a:r>
            <a:endParaRPr lang="en-US" sz="900" dirty="0"/>
          </a:p>
        </p:txBody>
      </p:sp>
      <p:sp>
        <p:nvSpPr>
          <p:cNvPr id="33" name="post-it"/>
          <p:cNvSpPr/>
          <p:nvPr/>
        </p:nvSpPr>
        <p:spPr>
          <a:xfrm>
            <a:off x="4087368" y="233172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4" name="Text 31"/>
          <p:cNvSpPr txBox="1"/>
          <p:nvPr/>
        </p:nvSpPr>
        <p:spPr>
          <a:xfrm>
            <a:off x="4133088" y="233172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Report d'intervento</a:t>
            </a:r>
            <a:endParaRPr lang="en-US" sz="900" dirty="0"/>
          </a:p>
        </p:txBody>
      </p:sp>
      <p:sp>
        <p:nvSpPr>
          <p:cNvPr id="35" name="scheda Un'idea, un post-it"/>
          <p:cNvSpPr/>
          <p:nvPr/>
        </p:nvSpPr>
        <p:spPr>
          <a:xfrm>
            <a:off x="457200" y="3291840"/>
            <a:ext cx="3538728" cy="1188720"/>
          </a:xfrm>
          <a:prstGeom prst="roundRect">
            <a:avLst>
              <a:gd name="adj" fmla="val 6154"/>
            </a:avLst>
          </a:prstGeom>
          <a:solidFill>
            <a:schemeClr val="bg2"/>
          </a:solidFill>
          <a:ln/>
        </p:spPr>
        <p:txBody>
          <a:bodyPr/>
          <a:lstStyle/>
          <a:p>
            <a:endParaRPr lang="it-IT"/>
          </a:p>
        </p:txBody>
      </p:sp>
      <p:sp>
        <p:nvSpPr>
          <p:cNvPr id="36" name="cerchio FiEdit3"/>
          <p:cNvSpPr/>
          <p:nvPr/>
        </p:nvSpPr>
        <p:spPr>
          <a:xfrm>
            <a:off x="640080" y="3474720"/>
            <a:ext cx="457200" cy="457200"/>
          </a:xfrm>
          <a:prstGeom prst="ellipse">
            <a:avLst/>
          </a:prstGeom>
          <a:solidFill>
            <a:schemeClr val="accent1"/>
          </a:solidFill>
          <a:ln/>
        </p:spPr>
        <p:txBody>
          <a:bodyPr/>
          <a:lstStyle/>
          <a:p>
            <a:endParaRPr lang="it-IT"/>
          </a:p>
        </p:txBody>
      </p:sp>
      <p:pic>
        <p:nvPicPr>
          <p:cNvPr id="37" name="Image 0" descr="FiEdit3"/>
          <p:cNvPicPr>
            <a:picLocks noChangeAspect="1"/>
          </p:cNvPicPr>
          <p:nvPr/>
        </p:nvPicPr>
        <p:blipFill>
          <a:blip r:embed="rId3"/>
          <a:stretch>
            <a:fillRect/>
          </a:stretch>
        </p:blipFill>
        <p:spPr>
          <a:xfrm>
            <a:off x="754380" y="3589020"/>
            <a:ext cx="228600" cy="228600"/>
          </a:xfrm>
          <a:prstGeom prst="rect">
            <a:avLst/>
          </a:prstGeom>
        </p:spPr>
      </p:pic>
      <p:sp>
        <p:nvSpPr>
          <p:cNvPr id="38" name="Text 34"/>
          <p:cNvSpPr txBox="1"/>
          <p:nvPr/>
        </p:nvSpPr>
        <p:spPr>
          <a:xfrm>
            <a:off x="123444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Un </a:t>
            </a:r>
            <a:r>
              <a:rPr lang="en-US" sz="1400" b="1" dirty="0" err="1">
                <a:solidFill>
                  <a:schemeClr val="tx1"/>
                </a:solidFill>
              </a:rPr>
              <a:t>problema</a:t>
            </a:r>
            <a:r>
              <a:rPr lang="en-US" sz="1400" b="1" dirty="0">
                <a:solidFill>
                  <a:schemeClr val="tx1"/>
                </a:solidFill>
              </a:rPr>
              <a:t>, un post-it</a:t>
            </a:r>
            <a:endParaRPr lang="en-US" sz="1400" dirty="0"/>
          </a:p>
        </p:txBody>
      </p:sp>
      <p:sp>
        <p:nvSpPr>
          <p:cNvPr id="39" name="Text 35"/>
          <p:cNvSpPr txBox="1"/>
          <p:nvPr/>
        </p:nvSpPr>
        <p:spPr>
          <a:xfrm>
            <a:off x="64008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Raccogliamo</a:t>
            </a:r>
            <a:r>
              <a:rPr lang="en-US" sz="1200" dirty="0">
                <a:solidFill>
                  <a:schemeClr val="tx2"/>
                </a:solidFill>
              </a:rPr>
              <a:t> </a:t>
            </a:r>
            <a:r>
              <a:rPr lang="en-US" sz="1200" dirty="0" err="1">
                <a:solidFill>
                  <a:schemeClr val="tx2"/>
                </a:solidFill>
              </a:rPr>
              <a:t>attività</a:t>
            </a:r>
            <a:r>
              <a:rPr lang="en-US" sz="1200" dirty="0">
                <a:solidFill>
                  <a:schemeClr val="tx2"/>
                </a:solidFill>
              </a:rPr>
              <a:t> </a:t>
            </a:r>
            <a:r>
              <a:rPr lang="en-US" sz="1200" dirty="0" err="1">
                <a:solidFill>
                  <a:schemeClr val="tx2"/>
                </a:solidFill>
              </a:rPr>
              <a:t>difficili</a:t>
            </a:r>
            <a:r>
              <a:rPr lang="en-US" sz="1200" dirty="0">
                <a:solidFill>
                  <a:schemeClr val="tx2"/>
                </a:solidFill>
              </a:rPr>
              <a:t>, repetitive o </a:t>
            </a:r>
            <a:r>
              <a:rPr lang="en-US" sz="1200" dirty="0" err="1">
                <a:solidFill>
                  <a:schemeClr val="tx2"/>
                </a:solidFill>
              </a:rPr>
              <a:t>migliorabili</a:t>
            </a:r>
            <a:endParaRPr lang="en-US" sz="1200" dirty="0"/>
          </a:p>
        </p:txBody>
      </p:sp>
      <p:sp>
        <p:nvSpPr>
          <p:cNvPr id="40" name="scheda Una sola regola"/>
          <p:cNvSpPr/>
          <p:nvPr/>
        </p:nvSpPr>
        <p:spPr>
          <a:xfrm>
            <a:off x="4663440" y="3291840"/>
            <a:ext cx="4023360" cy="1188720"/>
          </a:xfrm>
          <a:prstGeom prst="roundRect">
            <a:avLst>
              <a:gd name="adj" fmla="val 6154"/>
            </a:avLst>
          </a:prstGeom>
          <a:solidFill>
            <a:schemeClr val="accent6"/>
          </a:solidFill>
          <a:ln/>
        </p:spPr>
        <p:txBody>
          <a:bodyPr/>
          <a:lstStyle/>
          <a:p>
            <a:endParaRPr lang="it-IT"/>
          </a:p>
        </p:txBody>
      </p:sp>
      <p:sp>
        <p:nvSpPr>
          <p:cNvPr id="41" name="cerchio FiLock"/>
          <p:cNvSpPr/>
          <p:nvPr/>
        </p:nvSpPr>
        <p:spPr>
          <a:xfrm>
            <a:off x="4846320" y="3474720"/>
            <a:ext cx="457200" cy="457200"/>
          </a:xfrm>
          <a:prstGeom prst="ellipse">
            <a:avLst/>
          </a:prstGeom>
          <a:solidFill>
            <a:schemeClr val="accent1"/>
          </a:solidFill>
          <a:ln/>
        </p:spPr>
        <p:txBody>
          <a:bodyPr/>
          <a:lstStyle/>
          <a:p>
            <a:endParaRPr lang="it-IT"/>
          </a:p>
        </p:txBody>
      </p:sp>
      <p:pic>
        <p:nvPicPr>
          <p:cNvPr id="42" name="Image 1" descr="FiLock"/>
          <p:cNvPicPr>
            <a:picLocks noChangeAspect="1"/>
          </p:cNvPicPr>
          <p:nvPr/>
        </p:nvPicPr>
        <p:blipFill>
          <a:blip r:embed="rId4"/>
          <a:stretch>
            <a:fillRect/>
          </a:stretch>
        </p:blipFill>
        <p:spPr>
          <a:xfrm>
            <a:off x="4960620" y="3589020"/>
            <a:ext cx="228600" cy="228600"/>
          </a:xfrm>
          <a:prstGeom prst="rect">
            <a:avLst/>
          </a:prstGeom>
        </p:spPr>
      </p:pic>
      <p:sp>
        <p:nvSpPr>
          <p:cNvPr id="43" name="Text 38"/>
          <p:cNvSpPr txBox="1"/>
          <p:nvPr/>
        </p:nvSpPr>
        <p:spPr>
          <a:xfrm>
            <a:off x="544068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a:t>
            </a:r>
            <a:r>
              <a:rPr lang="en-US" sz="1400" b="1" dirty="0" err="1">
                <a:solidFill>
                  <a:schemeClr val="tx1"/>
                </a:solidFill>
              </a:rPr>
              <a:t>informazioni</a:t>
            </a:r>
            <a:r>
              <a:rPr lang="en-US" sz="1400" b="1" dirty="0">
                <a:solidFill>
                  <a:schemeClr val="tx1"/>
                </a:solidFill>
              </a:rPr>
              <a:t> </a:t>
            </a:r>
            <a:r>
              <a:rPr lang="en-US" sz="1400" b="1" dirty="0" err="1">
                <a:solidFill>
                  <a:schemeClr val="tx1"/>
                </a:solidFill>
              </a:rPr>
              <a:t>riservate</a:t>
            </a:r>
            <a:endParaRPr lang="en-US" sz="1400" dirty="0"/>
          </a:p>
        </p:txBody>
      </p:sp>
      <p:sp>
        <p:nvSpPr>
          <p:cNvPr id="44" name="Text 39"/>
          <p:cNvSpPr txBox="1"/>
          <p:nvPr/>
        </p:nvSpPr>
        <p:spPr>
          <a:xfrm>
            <a:off x="484632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Utilizziamo</a:t>
            </a:r>
            <a:r>
              <a:rPr lang="en-US" sz="1200" dirty="0">
                <a:solidFill>
                  <a:schemeClr val="tx2"/>
                </a:solidFill>
              </a:rPr>
              <a:t> </a:t>
            </a:r>
            <a:r>
              <a:rPr lang="en-US" sz="1200" dirty="0" err="1">
                <a:solidFill>
                  <a:schemeClr val="tx2"/>
                </a:solidFill>
              </a:rPr>
              <a:t>descrizioni</a:t>
            </a:r>
            <a:r>
              <a:rPr lang="en-US" sz="1200" dirty="0">
                <a:solidFill>
                  <a:schemeClr val="tx2"/>
                </a:solidFill>
              </a:rPr>
              <a:t> </a:t>
            </a:r>
            <a:r>
              <a:rPr lang="en-US" sz="1200" dirty="0" err="1">
                <a:solidFill>
                  <a:schemeClr val="tx2"/>
                </a:solidFill>
              </a:rPr>
              <a:t>generiche</a:t>
            </a:r>
            <a:r>
              <a:rPr lang="en-US" sz="1200" dirty="0">
                <a:solidFill>
                  <a:schemeClr val="tx2"/>
                </a:solidFill>
              </a:rPr>
              <a:t> delle </a:t>
            </a:r>
            <a:r>
              <a:rPr lang="en-US" sz="1200" dirty="0" err="1">
                <a:solidFill>
                  <a:schemeClr val="tx2"/>
                </a:solidFill>
              </a:rPr>
              <a:t>attività</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B31E1-467B-01EE-29F4-19744A5DFFC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AB83CB-7BC9-9B1A-1416-C63915DD32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C3415790-2344-53B4-1827-9C638257CAC0}"/>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Evoluzione</a:t>
            </a:r>
            <a:r>
              <a:rPr lang="en-US" sz="3600" b="1" dirty="0">
                <a:solidFill>
                  <a:schemeClr val="bg1"/>
                </a:solidFill>
              </a:rPr>
              <a:t> e </a:t>
            </a:r>
            <a:r>
              <a:rPr lang="en-US" sz="3600" b="1" dirty="0" err="1">
                <a:solidFill>
                  <a:schemeClr val="bg1"/>
                </a:solidFill>
              </a:rPr>
              <a:t>rilevanza</a:t>
            </a:r>
            <a:r>
              <a:rPr lang="en-US" sz="3600" b="1" dirty="0">
                <a:solidFill>
                  <a:schemeClr val="bg1"/>
                </a:solidFill>
              </a:rPr>
              <a:t> </a:t>
            </a:r>
            <a:r>
              <a:rPr lang="en-US" sz="3600" b="1" dirty="0" err="1">
                <a:solidFill>
                  <a:schemeClr val="bg1"/>
                </a:solidFill>
              </a:rPr>
              <a:t>dell’intelligenza</a:t>
            </a:r>
            <a:r>
              <a:rPr lang="en-US" sz="3600" b="1" dirty="0">
                <a:solidFill>
                  <a:schemeClr val="bg1"/>
                </a:solidFill>
              </a:rPr>
              <a:t> </a:t>
            </a:r>
            <a:r>
              <a:rPr lang="en-US" sz="3600" b="1" dirty="0" err="1">
                <a:solidFill>
                  <a:schemeClr val="bg1"/>
                </a:solidFill>
              </a:rPr>
              <a:t>Artificiale</a:t>
            </a:r>
            <a:endParaRPr lang="en-US" sz="3600" dirty="0"/>
          </a:p>
        </p:txBody>
      </p:sp>
      <p:sp>
        <p:nvSpPr>
          <p:cNvPr id="4" name="Text 0">
            <a:extLst>
              <a:ext uri="{FF2B5EF4-FFF2-40B4-BE49-F238E27FC236}">
                <a16:creationId xmlns:a16="http://schemas.microsoft.com/office/drawing/2014/main" id="{7C6F723D-CA1B-94B9-BE2D-AB6173EB6D5D}"/>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Primo Tema – </a:t>
            </a:r>
            <a:r>
              <a:rPr lang="en-US" dirty="0" err="1"/>
              <a:t>Giornata</a:t>
            </a:r>
            <a:r>
              <a:rPr lang="en-US" dirty="0"/>
              <a:t> 1</a:t>
            </a:r>
            <a:endParaRPr lang="en-US" sz="1600" dirty="0"/>
          </a:p>
        </p:txBody>
      </p:sp>
    </p:spTree>
    <p:extLst>
      <p:ext uri="{BB962C8B-B14F-4D97-AF65-F5344CB8AC3E}">
        <p14:creationId xmlns:p14="http://schemas.microsoft.com/office/powerpoint/2010/main" val="2627515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Oltre settant'anni di evoluzione</a:t>
            </a:r>
            <a:endParaRPr lang="it-IT" sz="2600" dirty="0"/>
          </a:p>
        </p:txBody>
      </p:sp>
      <p:sp>
        <p:nvSpPr>
          <p:cNvPr id="4" name="linea del tempo"/>
          <p:cNvSpPr/>
          <p:nvPr/>
        </p:nvSpPr>
        <p:spPr>
          <a:xfrm>
            <a:off x="457200" y="2788920"/>
            <a:ext cx="8229600" cy="0"/>
          </a:xfrm>
          <a:prstGeom prst="line">
            <a:avLst/>
          </a:prstGeom>
          <a:noFill/>
          <a:ln w="25400">
            <a:solidFill>
              <a:schemeClr val="accent3"/>
            </a:solidFill>
            <a:prstDash val="solid"/>
          </a:ln>
        </p:spPr>
        <p:txBody>
          <a:bodyPr/>
          <a:lstStyle/>
          <a:p>
            <a:endParaRPr lang="it-IT" dirty="0"/>
          </a:p>
        </p:txBody>
      </p:sp>
      <p:sp>
        <p:nvSpPr>
          <p:cNvPr id="5" name="tappa 1950"/>
          <p:cNvSpPr/>
          <p:nvPr/>
        </p:nvSpPr>
        <p:spPr>
          <a:xfrm>
            <a:off x="106070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6" name="connettore 1950"/>
          <p:cNvSpPr/>
          <p:nvPr/>
        </p:nvSpPr>
        <p:spPr>
          <a:xfrm>
            <a:off x="1161288" y="2286000"/>
            <a:ext cx="0" cy="402336"/>
          </a:xfrm>
          <a:prstGeom prst="line">
            <a:avLst/>
          </a:prstGeom>
          <a:noFill/>
          <a:ln w="12700">
            <a:solidFill>
              <a:schemeClr val="accent3"/>
            </a:solidFill>
            <a:prstDash val="solid"/>
          </a:ln>
        </p:spPr>
        <p:txBody>
          <a:bodyPr/>
          <a:lstStyle/>
          <a:p>
            <a:endParaRPr lang="it-IT" dirty="0"/>
          </a:p>
        </p:txBody>
      </p:sp>
      <p:sp>
        <p:nvSpPr>
          <p:cNvPr id="7" name="Text 4"/>
          <p:cNvSpPr txBox="1"/>
          <p:nvPr/>
        </p:nvSpPr>
        <p:spPr>
          <a:xfrm>
            <a:off x="502920"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1950</a:t>
            </a:r>
            <a:endParaRPr lang="it-IT" sz="1400" dirty="0"/>
          </a:p>
        </p:txBody>
      </p:sp>
      <p:sp>
        <p:nvSpPr>
          <p:cNvPr id="8" name="Text 5"/>
          <p:cNvSpPr txBox="1"/>
          <p:nvPr/>
        </p:nvSpPr>
        <p:spPr>
          <a:xfrm>
            <a:off x="502920"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Turing: le macchine possono pensare?</a:t>
            </a:r>
            <a:endParaRPr lang="it-IT" sz="1200" dirty="0"/>
          </a:p>
        </p:txBody>
      </p:sp>
      <p:sp>
        <p:nvSpPr>
          <p:cNvPr id="9" name="tappa 1956"/>
          <p:cNvSpPr/>
          <p:nvPr/>
        </p:nvSpPr>
        <p:spPr>
          <a:xfrm>
            <a:off x="203454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0" name="connettore 1956"/>
          <p:cNvSpPr/>
          <p:nvPr/>
        </p:nvSpPr>
        <p:spPr>
          <a:xfrm>
            <a:off x="2135124" y="2889504"/>
            <a:ext cx="0" cy="402336"/>
          </a:xfrm>
          <a:prstGeom prst="line">
            <a:avLst/>
          </a:prstGeom>
          <a:noFill/>
          <a:ln w="12700">
            <a:solidFill>
              <a:schemeClr val="accent3"/>
            </a:solidFill>
            <a:prstDash val="solid"/>
          </a:ln>
        </p:spPr>
        <p:txBody>
          <a:bodyPr/>
          <a:lstStyle/>
          <a:p>
            <a:endParaRPr lang="it-IT" dirty="0"/>
          </a:p>
        </p:txBody>
      </p:sp>
      <p:sp>
        <p:nvSpPr>
          <p:cNvPr id="11" name="Text 8"/>
          <p:cNvSpPr txBox="1"/>
          <p:nvPr/>
        </p:nvSpPr>
        <p:spPr>
          <a:xfrm>
            <a:off x="1476756"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1956</a:t>
            </a:r>
            <a:endParaRPr lang="it-IT" sz="1400" dirty="0"/>
          </a:p>
        </p:txBody>
      </p:sp>
      <p:sp>
        <p:nvSpPr>
          <p:cNvPr id="12" name="Text 9"/>
          <p:cNvSpPr txBox="1"/>
          <p:nvPr/>
        </p:nvSpPr>
        <p:spPr>
          <a:xfrm>
            <a:off x="1476756"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Dartmouth: nasce la disciplina</a:t>
            </a:r>
            <a:endParaRPr lang="it-IT" sz="1200" dirty="0"/>
          </a:p>
        </p:txBody>
      </p:sp>
      <p:sp>
        <p:nvSpPr>
          <p:cNvPr id="13" name="tappa 1958"/>
          <p:cNvSpPr/>
          <p:nvPr/>
        </p:nvSpPr>
        <p:spPr>
          <a:xfrm>
            <a:off x="3008376"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4" name="connettore 1958"/>
          <p:cNvSpPr/>
          <p:nvPr/>
        </p:nvSpPr>
        <p:spPr>
          <a:xfrm>
            <a:off x="3108960" y="2286000"/>
            <a:ext cx="0" cy="402336"/>
          </a:xfrm>
          <a:prstGeom prst="line">
            <a:avLst/>
          </a:prstGeom>
          <a:noFill/>
          <a:ln w="12700">
            <a:solidFill>
              <a:schemeClr val="accent3"/>
            </a:solidFill>
            <a:prstDash val="solid"/>
          </a:ln>
        </p:spPr>
        <p:txBody>
          <a:bodyPr/>
          <a:lstStyle/>
          <a:p>
            <a:endParaRPr lang="it-IT" dirty="0"/>
          </a:p>
        </p:txBody>
      </p:sp>
      <p:sp>
        <p:nvSpPr>
          <p:cNvPr id="15" name="Text 12"/>
          <p:cNvSpPr txBox="1"/>
          <p:nvPr/>
        </p:nvSpPr>
        <p:spPr>
          <a:xfrm>
            <a:off x="2450592"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1958</a:t>
            </a:r>
            <a:endParaRPr lang="it-IT" sz="1400" dirty="0"/>
          </a:p>
        </p:txBody>
      </p:sp>
      <p:sp>
        <p:nvSpPr>
          <p:cNvPr id="16" name="Text 13"/>
          <p:cNvSpPr txBox="1"/>
          <p:nvPr/>
        </p:nvSpPr>
        <p:spPr>
          <a:xfrm>
            <a:off x="2450592" y="1435608"/>
            <a:ext cx="1316736" cy="822960"/>
          </a:xfrm>
          <a:prstGeom prst="rect">
            <a:avLst/>
          </a:prstGeom>
          <a:noFill/>
          <a:ln/>
        </p:spPr>
        <p:txBody>
          <a:bodyPr wrap="square" lIns="0" tIns="0" rIns="0" bIns="0" rtlCol="0" anchor="t"/>
          <a:lstStyle/>
          <a:p>
            <a:pPr marL="0" indent="0" algn="ctr">
              <a:buNone/>
            </a:pPr>
            <a:r>
              <a:rPr lang="it-IT" sz="1200" dirty="0" err="1">
                <a:solidFill>
                  <a:schemeClr val="tx2"/>
                </a:solidFill>
              </a:rPr>
              <a:t>Perceptron</a:t>
            </a:r>
            <a:r>
              <a:rPr lang="it-IT" sz="1200" dirty="0">
                <a:solidFill>
                  <a:schemeClr val="tx2"/>
                </a:solidFill>
              </a:rPr>
              <a:t>: primo neurone artificiale</a:t>
            </a:r>
            <a:endParaRPr lang="it-IT" sz="1200" dirty="0"/>
          </a:p>
        </p:txBody>
      </p:sp>
      <p:sp>
        <p:nvSpPr>
          <p:cNvPr id="17" name="tappa Anni '70-'80"/>
          <p:cNvSpPr/>
          <p:nvPr/>
        </p:nvSpPr>
        <p:spPr>
          <a:xfrm>
            <a:off x="3982212"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8" name="connettore Anni '70-'80"/>
          <p:cNvSpPr/>
          <p:nvPr/>
        </p:nvSpPr>
        <p:spPr>
          <a:xfrm>
            <a:off x="4082796" y="2889504"/>
            <a:ext cx="0" cy="402336"/>
          </a:xfrm>
          <a:prstGeom prst="line">
            <a:avLst/>
          </a:prstGeom>
          <a:noFill/>
          <a:ln w="12700">
            <a:solidFill>
              <a:schemeClr val="accent3"/>
            </a:solidFill>
            <a:prstDash val="solid"/>
          </a:ln>
        </p:spPr>
        <p:txBody>
          <a:bodyPr/>
          <a:lstStyle/>
          <a:p>
            <a:endParaRPr lang="it-IT" dirty="0"/>
          </a:p>
        </p:txBody>
      </p:sp>
      <p:sp>
        <p:nvSpPr>
          <p:cNvPr id="19" name="Text 16"/>
          <p:cNvSpPr txBox="1"/>
          <p:nvPr/>
        </p:nvSpPr>
        <p:spPr>
          <a:xfrm>
            <a:off x="3424428"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Anni '70-'80</a:t>
            </a:r>
            <a:endParaRPr lang="it-IT" sz="1400" dirty="0"/>
          </a:p>
        </p:txBody>
      </p:sp>
      <p:sp>
        <p:nvSpPr>
          <p:cNvPr id="20" name="Text 17"/>
          <p:cNvSpPr txBox="1"/>
          <p:nvPr/>
        </p:nvSpPr>
        <p:spPr>
          <a:xfrm>
            <a:off x="3424428"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Diffusione dei sistemi esperti</a:t>
            </a:r>
            <a:endParaRPr lang="it-IT" sz="1200" dirty="0"/>
          </a:p>
        </p:txBody>
      </p:sp>
      <p:sp>
        <p:nvSpPr>
          <p:cNvPr id="21" name="tappa 1997"/>
          <p:cNvSpPr/>
          <p:nvPr/>
        </p:nvSpPr>
        <p:spPr>
          <a:xfrm>
            <a:off x="4956048"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2" name="connettore 1997"/>
          <p:cNvSpPr/>
          <p:nvPr/>
        </p:nvSpPr>
        <p:spPr>
          <a:xfrm>
            <a:off x="5056632" y="2286000"/>
            <a:ext cx="0" cy="402336"/>
          </a:xfrm>
          <a:prstGeom prst="line">
            <a:avLst/>
          </a:prstGeom>
          <a:noFill/>
          <a:ln w="12700">
            <a:solidFill>
              <a:schemeClr val="accent3"/>
            </a:solidFill>
            <a:prstDash val="solid"/>
          </a:ln>
        </p:spPr>
        <p:txBody>
          <a:bodyPr/>
          <a:lstStyle/>
          <a:p>
            <a:endParaRPr lang="it-IT" dirty="0"/>
          </a:p>
        </p:txBody>
      </p:sp>
      <p:sp>
        <p:nvSpPr>
          <p:cNvPr id="23" name="Text 20"/>
          <p:cNvSpPr txBox="1"/>
          <p:nvPr/>
        </p:nvSpPr>
        <p:spPr>
          <a:xfrm>
            <a:off x="4398264"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1997</a:t>
            </a:r>
            <a:endParaRPr lang="it-IT" sz="1400" dirty="0"/>
          </a:p>
        </p:txBody>
      </p:sp>
      <p:sp>
        <p:nvSpPr>
          <p:cNvPr id="24" name="Text 21"/>
          <p:cNvSpPr txBox="1"/>
          <p:nvPr/>
        </p:nvSpPr>
        <p:spPr>
          <a:xfrm>
            <a:off x="4398264"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Deep Blue batte Kasparov a scacchi</a:t>
            </a:r>
            <a:endParaRPr lang="it-IT" sz="1200" dirty="0"/>
          </a:p>
        </p:txBody>
      </p:sp>
      <p:sp>
        <p:nvSpPr>
          <p:cNvPr id="25" name="tappa 2012"/>
          <p:cNvSpPr/>
          <p:nvPr/>
        </p:nvSpPr>
        <p:spPr>
          <a:xfrm>
            <a:off x="592988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6" name="connettore 2012"/>
          <p:cNvSpPr/>
          <p:nvPr/>
        </p:nvSpPr>
        <p:spPr>
          <a:xfrm>
            <a:off x="6030468" y="2889504"/>
            <a:ext cx="0" cy="402336"/>
          </a:xfrm>
          <a:prstGeom prst="line">
            <a:avLst/>
          </a:prstGeom>
          <a:noFill/>
          <a:ln w="12700">
            <a:solidFill>
              <a:schemeClr val="accent3"/>
            </a:solidFill>
            <a:prstDash val="solid"/>
          </a:ln>
        </p:spPr>
        <p:txBody>
          <a:bodyPr/>
          <a:lstStyle/>
          <a:p>
            <a:endParaRPr lang="it-IT" dirty="0"/>
          </a:p>
        </p:txBody>
      </p:sp>
      <p:sp>
        <p:nvSpPr>
          <p:cNvPr id="27" name="Text 24"/>
          <p:cNvSpPr txBox="1"/>
          <p:nvPr/>
        </p:nvSpPr>
        <p:spPr>
          <a:xfrm>
            <a:off x="5372100"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2012</a:t>
            </a:r>
            <a:endParaRPr lang="it-IT" sz="1400" dirty="0"/>
          </a:p>
        </p:txBody>
      </p:sp>
      <p:sp>
        <p:nvSpPr>
          <p:cNvPr id="28" name="Text 25"/>
          <p:cNvSpPr txBox="1"/>
          <p:nvPr/>
        </p:nvSpPr>
        <p:spPr>
          <a:xfrm>
            <a:off x="5372100" y="3630168"/>
            <a:ext cx="1316736" cy="822960"/>
          </a:xfrm>
          <a:prstGeom prst="rect">
            <a:avLst/>
          </a:prstGeom>
          <a:noFill/>
          <a:ln/>
        </p:spPr>
        <p:txBody>
          <a:bodyPr wrap="square" lIns="0" tIns="0" rIns="0" bIns="0" rtlCol="0" anchor="t"/>
          <a:lstStyle/>
          <a:p>
            <a:pPr marL="0" indent="0" algn="ctr">
              <a:buNone/>
            </a:pPr>
            <a:r>
              <a:rPr lang="it-IT" sz="1200" dirty="0" err="1">
                <a:solidFill>
                  <a:schemeClr val="tx2"/>
                </a:solidFill>
              </a:rPr>
              <a:t>AlexNet</a:t>
            </a:r>
            <a:endParaRPr lang="it-IT" sz="1200" dirty="0"/>
          </a:p>
        </p:txBody>
      </p:sp>
      <p:sp>
        <p:nvSpPr>
          <p:cNvPr id="29" name="tappa 2017"/>
          <p:cNvSpPr/>
          <p:nvPr/>
        </p:nvSpPr>
        <p:spPr>
          <a:xfrm>
            <a:off x="690372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30" name="connettore 2017"/>
          <p:cNvSpPr/>
          <p:nvPr/>
        </p:nvSpPr>
        <p:spPr>
          <a:xfrm>
            <a:off x="7004304" y="2286000"/>
            <a:ext cx="0" cy="402336"/>
          </a:xfrm>
          <a:prstGeom prst="line">
            <a:avLst/>
          </a:prstGeom>
          <a:noFill/>
          <a:ln w="12700">
            <a:solidFill>
              <a:schemeClr val="accent3"/>
            </a:solidFill>
            <a:prstDash val="solid"/>
          </a:ln>
        </p:spPr>
        <p:txBody>
          <a:bodyPr/>
          <a:lstStyle/>
          <a:p>
            <a:endParaRPr lang="it-IT" dirty="0"/>
          </a:p>
        </p:txBody>
      </p:sp>
      <p:sp>
        <p:nvSpPr>
          <p:cNvPr id="31" name="Text 28"/>
          <p:cNvSpPr txBox="1"/>
          <p:nvPr/>
        </p:nvSpPr>
        <p:spPr>
          <a:xfrm>
            <a:off x="6345936"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2017</a:t>
            </a:r>
            <a:endParaRPr lang="it-IT" sz="1400" dirty="0"/>
          </a:p>
        </p:txBody>
      </p:sp>
      <p:sp>
        <p:nvSpPr>
          <p:cNvPr id="32" name="Text 29"/>
          <p:cNvSpPr txBox="1"/>
          <p:nvPr/>
        </p:nvSpPr>
        <p:spPr>
          <a:xfrm>
            <a:off x="6345936"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Architettura Transformer</a:t>
            </a:r>
            <a:endParaRPr lang="it-IT" sz="1200" dirty="0"/>
          </a:p>
        </p:txBody>
      </p:sp>
      <p:sp>
        <p:nvSpPr>
          <p:cNvPr id="33" name="tappa 2022"/>
          <p:cNvSpPr/>
          <p:nvPr/>
        </p:nvSpPr>
        <p:spPr>
          <a:xfrm>
            <a:off x="7877556" y="2688336"/>
            <a:ext cx="201168" cy="201168"/>
          </a:xfrm>
          <a:prstGeom prst="ellipse">
            <a:avLst/>
          </a:prstGeom>
          <a:solidFill>
            <a:schemeClr val="accent1"/>
          </a:solidFill>
          <a:ln w="25400">
            <a:solidFill>
              <a:schemeClr val="accent1"/>
            </a:solidFill>
            <a:prstDash val="solid"/>
          </a:ln>
        </p:spPr>
        <p:txBody>
          <a:bodyPr/>
          <a:lstStyle/>
          <a:p>
            <a:endParaRPr lang="it-IT" dirty="0"/>
          </a:p>
        </p:txBody>
      </p:sp>
      <p:sp>
        <p:nvSpPr>
          <p:cNvPr id="34" name="connettore 2022"/>
          <p:cNvSpPr/>
          <p:nvPr/>
        </p:nvSpPr>
        <p:spPr>
          <a:xfrm>
            <a:off x="7978140" y="2889504"/>
            <a:ext cx="0" cy="402336"/>
          </a:xfrm>
          <a:prstGeom prst="line">
            <a:avLst/>
          </a:prstGeom>
          <a:noFill/>
          <a:ln w="12700">
            <a:solidFill>
              <a:schemeClr val="accent3"/>
            </a:solidFill>
            <a:prstDash val="solid"/>
          </a:ln>
        </p:spPr>
        <p:txBody>
          <a:bodyPr/>
          <a:lstStyle/>
          <a:p>
            <a:endParaRPr lang="it-IT" dirty="0"/>
          </a:p>
        </p:txBody>
      </p:sp>
      <p:sp>
        <p:nvSpPr>
          <p:cNvPr id="35" name="Text 32"/>
          <p:cNvSpPr txBox="1"/>
          <p:nvPr/>
        </p:nvSpPr>
        <p:spPr>
          <a:xfrm>
            <a:off x="7319772"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2022</a:t>
            </a:r>
            <a:endParaRPr lang="it-IT" sz="1400" dirty="0"/>
          </a:p>
        </p:txBody>
      </p:sp>
      <p:sp>
        <p:nvSpPr>
          <p:cNvPr id="36" name="Text 33"/>
          <p:cNvSpPr txBox="1"/>
          <p:nvPr/>
        </p:nvSpPr>
        <p:spPr>
          <a:xfrm>
            <a:off x="7319772"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ChatGPT porta l'AI generativa al pubblico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a:t>
            </a:fld>
            <a:endParaRPr lang="it-IT" dirty="0"/>
          </a:p>
        </p:txBody>
      </p:sp>
      <p:pic>
        <p:nvPicPr>
          <p:cNvPr id="38" name="Immagine 37" descr="Alexnet, The Ai Model That Started It All, Released In Source Code Form ...">
            <a:extLst>
              <a:ext uri="{FF2B5EF4-FFF2-40B4-BE49-F238E27FC236}">
                <a16:creationId xmlns:a16="http://schemas.microsoft.com/office/drawing/2014/main" id="{FAE4AE88-9140-C470-A636-AF0F3DB1B4DF}"/>
              </a:ext>
            </a:extLst>
          </p:cNvPr>
          <p:cNvPicPr>
            <a:picLocks noChangeAspect="1"/>
          </p:cNvPicPr>
          <p:nvPr/>
        </p:nvPicPr>
        <p:blipFill>
          <a:blip r:embed="rId3"/>
          <a:stretch>
            <a:fillRect/>
          </a:stretch>
        </p:blipFill>
        <p:spPr>
          <a:xfrm>
            <a:off x="5340401" y="3942127"/>
            <a:ext cx="1348435" cy="89611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Cinque fattori che si rafforzano a vicenda</a:t>
            </a:r>
            <a:endParaRPr lang="it-IT" sz="2600" dirty="0"/>
          </a:p>
        </p:txBody>
      </p:sp>
      <p:sp>
        <p:nvSpPr>
          <p:cNvPr id="4" name="fattore Potenza di calcolo"/>
          <p:cNvSpPr/>
          <p:nvPr/>
        </p:nvSpPr>
        <p:spPr>
          <a:xfrm>
            <a:off x="457200" y="1143000"/>
            <a:ext cx="1517904" cy="2331720"/>
          </a:xfrm>
          <a:prstGeom prst="roundRect">
            <a:avLst>
              <a:gd name="adj" fmla="val 4819"/>
            </a:avLst>
          </a:prstGeom>
          <a:solidFill>
            <a:schemeClr val="bg2"/>
          </a:solidFill>
          <a:ln/>
        </p:spPr>
        <p:txBody>
          <a:bodyPr/>
          <a:lstStyle/>
          <a:p>
            <a:endParaRPr lang="it-IT" dirty="0"/>
          </a:p>
        </p:txBody>
      </p:sp>
      <p:sp>
        <p:nvSpPr>
          <p:cNvPr id="5" name="cerchio FiCpu"/>
          <p:cNvSpPr/>
          <p:nvPr/>
        </p:nvSpPr>
        <p:spPr>
          <a:xfrm>
            <a:off x="941832" y="1325880"/>
            <a:ext cx="548640" cy="54864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1078992" y="1463040"/>
            <a:ext cx="274320" cy="274320"/>
          </a:xfrm>
          <a:prstGeom prst="rect">
            <a:avLst/>
          </a:prstGeom>
        </p:spPr>
      </p:pic>
      <p:sp>
        <p:nvSpPr>
          <p:cNvPr id="7" name="Text 3"/>
          <p:cNvSpPr txBox="1"/>
          <p:nvPr/>
        </p:nvSpPr>
        <p:spPr>
          <a:xfrm>
            <a:off x="548640"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Potenza di calcolo</a:t>
            </a:r>
            <a:endParaRPr lang="it-IT" sz="1400" dirty="0"/>
          </a:p>
        </p:txBody>
      </p:sp>
      <p:sp>
        <p:nvSpPr>
          <p:cNvPr id="8" name="Text 4"/>
          <p:cNvSpPr txBox="1"/>
          <p:nvPr/>
        </p:nvSpPr>
        <p:spPr>
          <a:xfrm>
            <a:off x="548640"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GPU, chip specializzati, cloud</a:t>
            </a:r>
            <a:endParaRPr lang="it-IT" sz="1200" dirty="0"/>
          </a:p>
        </p:txBody>
      </p:sp>
      <p:sp>
        <p:nvSpPr>
          <p:cNvPr id="9" name="fattore Dati"/>
          <p:cNvSpPr/>
          <p:nvPr/>
        </p:nvSpPr>
        <p:spPr>
          <a:xfrm>
            <a:off x="2139696" y="1143000"/>
            <a:ext cx="1517904" cy="2331720"/>
          </a:xfrm>
          <a:prstGeom prst="roundRect">
            <a:avLst>
              <a:gd name="adj" fmla="val 4819"/>
            </a:avLst>
          </a:prstGeom>
          <a:solidFill>
            <a:schemeClr val="bg2"/>
          </a:solidFill>
          <a:ln/>
        </p:spPr>
        <p:txBody>
          <a:bodyPr/>
          <a:lstStyle/>
          <a:p>
            <a:endParaRPr lang="it-IT" dirty="0"/>
          </a:p>
        </p:txBody>
      </p:sp>
      <p:sp>
        <p:nvSpPr>
          <p:cNvPr id="10" name="cerchio FiDatabase"/>
          <p:cNvSpPr/>
          <p:nvPr/>
        </p:nvSpPr>
        <p:spPr>
          <a:xfrm>
            <a:off x="2624328" y="1325880"/>
            <a:ext cx="548640" cy="548640"/>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2761488" y="1463040"/>
            <a:ext cx="274320" cy="274320"/>
          </a:xfrm>
          <a:prstGeom prst="rect">
            <a:avLst/>
          </a:prstGeom>
        </p:spPr>
      </p:pic>
      <p:sp>
        <p:nvSpPr>
          <p:cNvPr id="12" name="Text 7"/>
          <p:cNvSpPr txBox="1"/>
          <p:nvPr/>
        </p:nvSpPr>
        <p:spPr>
          <a:xfrm>
            <a:off x="2231136"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Dati</a:t>
            </a:r>
            <a:endParaRPr lang="it-IT" sz="1400" dirty="0"/>
          </a:p>
        </p:txBody>
      </p:sp>
      <p:sp>
        <p:nvSpPr>
          <p:cNvPr id="13" name="Text 8"/>
          <p:cNvSpPr txBox="1"/>
          <p:nvPr/>
        </p:nvSpPr>
        <p:spPr>
          <a:xfrm>
            <a:off x="2231136"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Digitalizzazione e internet</a:t>
            </a:r>
            <a:endParaRPr lang="it-IT" sz="1200" dirty="0"/>
          </a:p>
        </p:txBody>
      </p:sp>
      <p:sp>
        <p:nvSpPr>
          <p:cNvPr id="14" name="fattore Algoritmi e architetture"/>
          <p:cNvSpPr/>
          <p:nvPr/>
        </p:nvSpPr>
        <p:spPr>
          <a:xfrm>
            <a:off x="3822192" y="1143000"/>
            <a:ext cx="1517904" cy="2331720"/>
          </a:xfrm>
          <a:prstGeom prst="roundRect">
            <a:avLst>
              <a:gd name="adj" fmla="val 4819"/>
            </a:avLst>
          </a:prstGeom>
          <a:solidFill>
            <a:schemeClr val="bg2"/>
          </a:solidFill>
          <a:ln/>
        </p:spPr>
        <p:txBody>
          <a:bodyPr/>
          <a:lstStyle/>
          <a:p>
            <a:endParaRPr lang="it-IT" dirty="0"/>
          </a:p>
        </p:txBody>
      </p:sp>
      <p:sp>
        <p:nvSpPr>
          <p:cNvPr id="15" name="cerchio FiGitBranch"/>
          <p:cNvSpPr/>
          <p:nvPr/>
        </p:nvSpPr>
        <p:spPr>
          <a:xfrm>
            <a:off x="4306824" y="1325880"/>
            <a:ext cx="548640" cy="548640"/>
          </a:xfrm>
          <a:prstGeom prst="ellipse">
            <a:avLst/>
          </a:prstGeom>
          <a:solidFill>
            <a:schemeClr val="accent1"/>
          </a:solidFill>
          <a:ln/>
        </p:spPr>
        <p:txBody>
          <a:bodyPr/>
          <a:lstStyle/>
          <a:p>
            <a:endParaRPr lang="it-IT" dirty="0"/>
          </a:p>
        </p:txBody>
      </p:sp>
      <p:pic>
        <p:nvPicPr>
          <p:cNvPr id="16" name="Image 2" descr="FiGitBranch"/>
          <p:cNvPicPr>
            <a:picLocks noChangeAspect="1"/>
          </p:cNvPicPr>
          <p:nvPr/>
        </p:nvPicPr>
        <p:blipFill>
          <a:blip r:embed="rId5"/>
          <a:stretch>
            <a:fillRect/>
          </a:stretch>
        </p:blipFill>
        <p:spPr>
          <a:xfrm>
            <a:off x="4443984" y="1463040"/>
            <a:ext cx="274320" cy="274320"/>
          </a:xfrm>
          <a:prstGeom prst="rect">
            <a:avLst/>
          </a:prstGeom>
        </p:spPr>
      </p:pic>
      <p:sp>
        <p:nvSpPr>
          <p:cNvPr id="17" name="Text 11"/>
          <p:cNvSpPr txBox="1"/>
          <p:nvPr/>
        </p:nvSpPr>
        <p:spPr>
          <a:xfrm>
            <a:off x="3913632"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Algoritmi e architetture</a:t>
            </a:r>
            <a:endParaRPr lang="it-IT" sz="1400" dirty="0"/>
          </a:p>
        </p:txBody>
      </p:sp>
      <p:sp>
        <p:nvSpPr>
          <p:cNvPr id="18" name="Text 12"/>
          <p:cNvSpPr txBox="1"/>
          <p:nvPr/>
        </p:nvSpPr>
        <p:spPr>
          <a:xfrm>
            <a:off x="3913632"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Deep learning, Transformer</a:t>
            </a:r>
            <a:endParaRPr lang="it-IT" sz="1200" dirty="0"/>
          </a:p>
        </p:txBody>
      </p:sp>
      <p:sp>
        <p:nvSpPr>
          <p:cNvPr id="19" name="fattore Modelli di grandi dimensioni"/>
          <p:cNvSpPr/>
          <p:nvPr/>
        </p:nvSpPr>
        <p:spPr>
          <a:xfrm>
            <a:off x="5504688" y="1143000"/>
            <a:ext cx="1517904" cy="2331720"/>
          </a:xfrm>
          <a:prstGeom prst="roundRect">
            <a:avLst>
              <a:gd name="adj" fmla="val 4819"/>
            </a:avLst>
          </a:prstGeom>
          <a:solidFill>
            <a:schemeClr val="bg2"/>
          </a:solidFill>
          <a:ln/>
        </p:spPr>
        <p:txBody>
          <a:bodyPr/>
          <a:lstStyle/>
          <a:p>
            <a:endParaRPr lang="it-IT" dirty="0"/>
          </a:p>
        </p:txBody>
      </p:sp>
      <p:sp>
        <p:nvSpPr>
          <p:cNvPr id="20" name="cerchio FiMaximize2"/>
          <p:cNvSpPr/>
          <p:nvPr/>
        </p:nvSpPr>
        <p:spPr>
          <a:xfrm>
            <a:off x="5989320" y="1325880"/>
            <a:ext cx="548640" cy="548640"/>
          </a:xfrm>
          <a:prstGeom prst="ellipse">
            <a:avLst/>
          </a:prstGeom>
          <a:solidFill>
            <a:schemeClr val="accent1"/>
          </a:solidFill>
          <a:ln/>
        </p:spPr>
        <p:txBody>
          <a:bodyPr/>
          <a:lstStyle/>
          <a:p>
            <a:endParaRPr lang="it-IT" dirty="0"/>
          </a:p>
        </p:txBody>
      </p:sp>
      <p:pic>
        <p:nvPicPr>
          <p:cNvPr id="21" name="Image 3" descr="FiMaximize2"/>
          <p:cNvPicPr>
            <a:picLocks noChangeAspect="1"/>
          </p:cNvPicPr>
          <p:nvPr/>
        </p:nvPicPr>
        <p:blipFill>
          <a:blip r:embed="rId6"/>
          <a:stretch>
            <a:fillRect/>
          </a:stretch>
        </p:blipFill>
        <p:spPr>
          <a:xfrm>
            <a:off x="6126480" y="1463040"/>
            <a:ext cx="274320" cy="274320"/>
          </a:xfrm>
          <a:prstGeom prst="rect">
            <a:avLst/>
          </a:prstGeom>
        </p:spPr>
      </p:pic>
      <p:sp>
        <p:nvSpPr>
          <p:cNvPr id="22" name="Text 15"/>
          <p:cNvSpPr txBox="1"/>
          <p:nvPr/>
        </p:nvSpPr>
        <p:spPr>
          <a:xfrm>
            <a:off x="5596128"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Modelli di grandi dimensioni</a:t>
            </a:r>
            <a:endParaRPr lang="it-IT" sz="1400" dirty="0"/>
          </a:p>
        </p:txBody>
      </p:sp>
      <p:sp>
        <p:nvSpPr>
          <p:cNvPr id="23" name="Text 16"/>
          <p:cNvSpPr txBox="1"/>
          <p:nvPr/>
        </p:nvSpPr>
        <p:spPr>
          <a:xfrm>
            <a:off x="5596128"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Più parametri, dati e calcolo</a:t>
            </a:r>
            <a:endParaRPr lang="it-IT" sz="1200" dirty="0"/>
          </a:p>
        </p:txBody>
      </p:sp>
      <p:sp>
        <p:nvSpPr>
          <p:cNvPr id="24" name="fattore Investimenti e infrastrutture"/>
          <p:cNvSpPr/>
          <p:nvPr/>
        </p:nvSpPr>
        <p:spPr>
          <a:xfrm>
            <a:off x="7187184" y="1143000"/>
            <a:ext cx="1517904" cy="2331720"/>
          </a:xfrm>
          <a:prstGeom prst="roundRect">
            <a:avLst>
              <a:gd name="adj" fmla="val 4819"/>
            </a:avLst>
          </a:prstGeom>
          <a:solidFill>
            <a:schemeClr val="bg2"/>
          </a:solidFill>
          <a:ln/>
        </p:spPr>
        <p:txBody>
          <a:bodyPr/>
          <a:lstStyle/>
          <a:p>
            <a:endParaRPr lang="it-IT" dirty="0"/>
          </a:p>
        </p:txBody>
      </p:sp>
      <p:sp>
        <p:nvSpPr>
          <p:cNvPr id="25" name="cerchio FiServer"/>
          <p:cNvSpPr/>
          <p:nvPr/>
        </p:nvSpPr>
        <p:spPr>
          <a:xfrm>
            <a:off x="7671816" y="1325880"/>
            <a:ext cx="548640" cy="548640"/>
          </a:xfrm>
          <a:prstGeom prst="ellipse">
            <a:avLst/>
          </a:prstGeom>
          <a:solidFill>
            <a:schemeClr val="accent1"/>
          </a:solidFill>
          <a:ln/>
        </p:spPr>
        <p:txBody>
          <a:bodyPr/>
          <a:lstStyle/>
          <a:p>
            <a:endParaRPr lang="it-IT" dirty="0"/>
          </a:p>
        </p:txBody>
      </p:sp>
      <p:pic>
        <p:nvPicPr>
          <p:cNvPr id="26" name="Image 4" descr="FiServer"/>
          <p:cNvPicPr>
            <a:picLocks noChangeAspect="1"/>
          </p:cNvPicPr>
          <p:nvPr/>
        </p:nvPicPr>
        <p:blipFill>
          <a:blip r:embed="rId7"/>
          <a:stretch>
            <a:fillRect/>
          </a:stretch>
        </p:blipFill>
        <p:spPr>
          <a:xfrm>
            <a:off x="7808976" y="1463040"/>
            <a:ext cx="274320" cy="274320"/>
          </a:xfrm>
          <a:prstGeom prst="rect">
            <a:avLst/>
          </a:prstGeom>
        </p:spPr>
      </p:pic>
      <p:sp>
        <p:nvSpPr>
          <p:cNvPr id="27" name="Text 19"/>
          <p:cNvSpPr txBox="1"/>
          <p:nvPr/>
        </p:nvSpPr>
        <p:spPr>
          <a:xfrm>
            <a:off x="7278624"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Investimenti e infrastrutture</a:t>
            </a:r>
            <a:endParaRPr lang="it-IT" sz="1400" dirty="0"/>
          </a:p>
        </p:txBody>
      </p:sp>
      <p:sp>
        <p:nvSpPr>
          <p:cNvPr id="28" name="Text 20"/>
          <p:cNvSpPr txBox="1"/>
          <p:nvPr/>
        </p:nvSpPr>
        <p:spPr>
          <a:xfrm>
            <a:off x="7278624"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Capitali, data center, ecosistemi</a:t>
            </a:r>
            <a:endParaRPr lang="it-IT" sz="1200" dirty="0"/>
          </a:p>
        </p:txBody>
      </p:sp>
      <p:sp>
        <p:nvSpPr>
          <p:cNvPr id="29" name="sintesi convergenza"/>
          <p:cNvSpPr/>
          <p:nvPr/>
        </p:nvSpPr>
        <p:spPr>
          <a:xfrm>
            <a:off x="457200" y="3703320"/>
            <a:ext cx="8229600" cy="822960"/>
          </a:xfrm>
          <a:prstGeom prst="roundRect">
            <a:avLst>
              <a:gd name="adj" fmla="val 8889"/>
            </a:avLst>
          </a:prstGeom>
          <a:solidFill>
            <a:schemeClr val="accent6"/>
          </a:solidFill>
          <a:ln/>
        </p:spPr>
        <p:txBody>
          <a:bodyPr/>
          <a:lstStyle/>
          <a:p>
            <a:endParaRPr lang="it-IT" dirty="0"/>
          </a:p>
        </p:txBody>
      </p:sp>
      <p:sp>
        <p:nvSpPr>
          <p:cNvPr id="30" name="cerchio FiRefreshCw"/>
          <p:cNvSpPr/>
          <p:nvPr/>
        </p:nvSpPr>
        <p:spPr>
          <a:xfrm>
            <a:off x="640080" y="3858768"/>
            <a:ext cx="512064" cy="512064"/>
          </a:xfrm>
          <a:prstGeom prst="ellipse">
            <a:avLst/>
          </a:prstGeom>
          <a:solidFill>
            <a:schemeClr val="accent1"/>
          </a:solidFill>
          <a:ln/>
        </p:spPr>
        <p:txBody>
          <a:bodyPr/>
          <a:lstStyle/>
          <a:p>
            <a:endParaRPr lang="it-IT" dirty="0"/>
          </a:p>
        </p:txBody>
      </p:sp>
      <p:pic>
        <p:nvPicPr>
          <p:cNvPr id="31" name="Image 5" descr="FiRefreshCw"/>
          <p:cNvPicPr>
            <a:picLocks noChangeAspect="1"/>
          </p:cNvPicPr>
          <p:nvPr/>
        </p:nvPicPr>
        <p:blipFill>
          <a:blip r:embed="rId8"/>
          <a:stretch>
            <a:fillRect/>
          </a:stretch>
        </p:blipFill>
        <p:spPr>
          <a:xfrm>
            <a:off x="768096" y="3986784"/>
            <a:ext cx="256032" cy="256032"/>
          </a:xfrm>
          <a:prstGeom prst="rect">
            <a:avLst/>
          </a:prstGeom>
        </p:spPr>
      </p:pic>
      <p:sp>
        <p:nvSpPr>
          <p:cNvPr id="32" name="Text 23"/>
          <p:cNvSpPr txBox="1"/>
          <p:nvPr/>
        </p:nvSpPr>
        <p:spPr>
          <a:xfrm>
            <a:off x="1325880" y="3749040"/>
            <a:ext cx="7223760" cy="731520"/>
          </a:xfrm>
          <a:prstGeom prst="rect">
            <a:avLst/>
          </a:prstGeom>
          <a:noFill/>
          <a:ln/>
        </p:spPr>
        <p:txBody>
          <a:bodyPr wrap="square" lIns="0" tIns="0" rIns="0" bIns="0" rtlCol="0" anchor="ctr"/>
          <a:lstStyle/>
          <a:p>
            <a:pPr marL="0" indent="0">
              <a:buNone/>
            </a:pPr>
            <a:r>
              <a:rPr lang="it-IT" sz="1400" dirty="0">
                <a:solidFill>
                  <a:schemeClr val="tx1"/>
                </a:solidFill>
              </a:rPr>
              <a:t>Un circolo che si autoalimenta: più dati richiedono più calcolo, il calcolo permette modelli più grandi, i risultati attirano investimenti che finanziano nuovo calcolo.</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9</a:t>
            </a:fld>
            <a:endParaRPr lang="it-IT"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Investimenti e infrastrutture tecnologiche</a:t>
            </a:r>
            <a:endParaRPr lang="it-IT" sz="2600" dirty="0"/>
          </a:p>
        </p:txBody>
      </p:sp>
      <p:sp>
        <p:nvSpPr>
          <p:cNvPr id="4" name="livello Applicazioni e servizi"/>
          <p:cNvSpPr/>
          <p:nvPr/>
        </p:nvSpPr>
        <p:spPr>
          <a:xfrm>
            <a:off x="457200" y="1097280"/>
            <a:ext cx="4937760" cy="731520"/>
          </a:xfrm>
          <a:prstGeom prst="roundRect">
            <a:avLst>
              <a:gd name="adj" fmla="val 10000"/>
            </a:avLst>
          </a:prstGeom>
          <a:solidFill>
            <a:schemeClr val="accent1"/>
          </a:solidFill>
          <a:ln/>
        </p:spPr>
        <p:txBody>
          <a:bodyPr/>
          <a:lstStyle/>
          <a:p>
            <a:endParaRPr lang="it-IT" dirty="0"/>
          </a:p>
        </p:txBody>
      </p:sp>
      <p:sp>
        <p:nvSpPr>
          <p:cNvPr id="5" name="Text 2"/>
          <p:cNvSpPr txBox="1"/>
          <p:nvPr/>
        </p:nvSpPr>
        <p:spPr>
          <a:xfrm>
            <a:off x="457200" y="1097280"/>
            <a:ext cx="4937760" cy="731520"/>
          </a:xfrm>
          <a:prstGeom prst="rect">
            <a:avLst/>
          </a:prstGeom>
          <a:noFill/>
          <a:ln/>
        </p:spPr>
        <p:txBody>
          <a:bodyPr wrap="square" lIns="0" tIns="0" rIns="0" bIns="0" rtlCol="0" anchor="ctr"/>
          <a:lstStyle/>
          <a:p>
            <a:pPr marL="0" indent="0" algn="ctr">
              <a:buNone/>
            </a:pPr>
            <a:r>
              <a:rPr lang="it-IT" sz="1500" b="1" dirty="0">
                <a:solidFill>
                  <a:schemeClr val="bg1"/>
                </a:solidFill>
              </a:rPr>
              <a:t>Applicazioni e servizi</a:t>
            </a:r>
            <a:endParaRPr lang="it-IT" sz="1500" dirty="0"/>
          </a:p>
        </p:txBody>
      </p:sp>
      <p:sp>
        <p:nvSpPr>
          <p:cNvPr id="6" name="livello Modelli"/>
          <p:cNvSpPr/>
          <p:nvPr/>
        </p:nvSpPr>
        <p:spPr>
          <a:xfrm>
            <a:off x="685800" y="1965960"/>
            <a:ext cx="4480560" cy="731520"/>
          </a:xfrm>
          <a:prstGeom prst="roundRect">
            <a:avLst>
              <a:gd name="adj" fmla="val 10000"/>
            </a:avLst>
          </a:prstGeom>
          <a:solidFill>
            <a:schemeClr val="bg2"/>
          </a:solidFill>
          <a:ln/>
        </p:spPr>
        <p:txBody>
          <a:bodyPr/>
          <a:lstStyle/>
          <a:p>
            <a:endParaRPr lang="it-IT" dirty="0"/>
          </a:p>
        </p:txBody>
      </p:sp>
      <p:sp>
        <p:nvSpPr>
          <p:cNvPr id="7" name="Text 4"/>
          <p:cNvSpPr txBox="1"/>
          <p:nvPr/>
        </p:nvSpPr>
        <p:spPr>
          <a:xfrm>
            <a:off x="685800" y="1965960"/>
            <a:ext cx="4480560" cy="731520"/>
          </a:xfrm>
          <a:prstGeom prst="rect">
            <a:avLst/>
          </a:prstGeom>
          <a:noFill/>
          <a:ln/>
        </p:spPr>
        <p:txBody>
          <a:bodyPr wrap="square" lIns="0" tIns="0" rIns="0" bIns="0" rtlCol="0" anchor="ctr"/>
          <a:lstStyle/>
          <a:p>
            <a:pPr marL="0" indent="0" algn="ctr">
              <a:buNone/>
            </a:pPr>
            <a:r>
              <a:rPr lang="it-IT" sz="1500" b="1" dirty="0">
                <a:solidFill>
                  <a:schemeClr val="tx1"/>
                </a:solidFill>
              </a:rPr>
              <a:t>Modelli</a:t>
            </a:r>
            <a:endParaRPr lang="it-IT" sz="1500" dirty="0"/>
          </a:p>
        </p:txBody>
      </p:sp>
      <p:sp>
        <p:nvSpPr>
          <p:cNvPr id="8" name="livello Cloud e data center"/>
          <p:cNvSpPr/>
          <p:nvPr/>
        </p:nvSpPr>
        <p:spPr>
          <a:xfrm>
            <a:off x="914400" y="2834640"/>
            <a:ext cx="4023360" cy="731520"/>
          </a:xfrm>
          <a:prstGeom prst="roundRect">
            <a:avLst>
              <a:gd name="adj" fmla="val 10000"/>
            </a:avLst>
          </a:prstGeom>
          <a:solidFill>
            <a:schemeClr val="bg2"/>
          </a:solidFill>
          <a:ln/>
        </p:spPr>
        <p:txBody>
          <a:bodyPr/>
          <a:lstStyle/>
          <a:p>
            <a:endParaRPr lang="it-IT" dirty="0"/>
          </a:p>
        </p:txBody>
      </p:sp>
      <p:sp>
        <p:nvSpPr>
          <p:cNvPr id="9" name="Text 6"/>
          <p:cNvSpPr txBox="1"/>
          <p:nvPr/>
        </p:nvSpPr>
        <p:spPr>
          <a:xfrm>
            <a:off x="914400" y="2834640"/>
            <a:ext cx="4023360" cy="731520"/>
          </a:xfrm>
          <a:prstGeom prst="rect">
            <a:avLst/>
          </a:prstGeom>
          <a:noFill/>
          <a:ln/>
        </p:spPr>
        <p:txBody>
          <a:bodyPr wrap="square" lIns="0" tIns="0" rIns="0" bIns="0" rtlCol="0" anchor="ctr"/>
          <a:lstStyle/>
          <a:p>
            <a:pPr marL="0" indent="0" algn="ctr">
              <a:buNone/>
            </a:pPr>
            <a:r>
              <a:rPr lang="it-IT" sz="1500" b="1" dirty="0">
                <a:solidFill>
                  <a:schemeClr val="tx1"/>
                </a:solidFill>
              </a:rPr>
              <a:t>Cloud e data center</a:t>
            </a:r>
            <a:endParaRPr lang="it-IT" sz="1500" dirty="0"/>
          </a:p>
        </p:txBody>
      </p:sp>
      <p:sp>
        <p:nvSpPr>
          <p:cNvPr id="10" name="livello Chip ed energia"/>
          <p:cNvSpPr/>
          <p:nvPr/>
        </p:nvSpPr>
        <p:spPr>
          <a:xfrm>
            <a:off x="1143000" y="3703320"/>
            <a:ext cx="3566160" cy="731520"/>
          </a:xfrm>
          <a:prstGeom prst="roundRect">
            <a:avLst>
              <a:gd name="adj" fmla="val 10000"/>
            </a:avLst>
          </a:prstGeom>
          <a:solidFill>
            <a:schemeClr val="bg2"/>
          </a:solidFill>
          <a:ln/>
        </p:spPr>
        <p:txBody>
          <a:bodyPr/>
          <a:lstStyle/>
          <a:p>
            <a:endParaRPr lang="it-IT" dirty="0"/>
          </a:p>
        </p:txBody>
      </p:sp>
      <p:sp>
        <p:nvSpPr>
          <p:cNvPr id="11" name="Text 8"/>
          <p:cNvSpPr txBox="1"/>
          <p:nvPr/>
        </p:nvSpPr>
        <p:spPr>
          <a:xfrm>
            <a:off x="1143000" y="3703320"/>
            <a:ext cx="3566160" cy="731520"/>
          </a:xfrm>
          <a:prstGeom prst="rect">
            <a:avLst/>
          </a:prstGeom>
          <a:noFill/>
          <a:ln/>
        </p:spPr>
        <p:txBody>
          <a:bodyPr wrap="square" lIns="0" tIns="0" rIns="0" bIns="0" rtlCol="0" anchor="ctr"/>
          <a:lstStyle/>
          <a:p>
            <a:pPr marL="0" indent="0" algn="ctr">
              <a:buNone/>
            </a:pPr>
            <a:r>
              <a:rPr lang="it-IT" sz="1500" b="1" dirty="0">
                <a:solidFill>
                  <a:schemeClr val="tx1"/>
                </a:solidFill>
              </a:rPr>
              <a:t>Chip ed energia</a:t>
            </a:r>
            <a:endParaRPr lang="it-IT" sz="1500" dirty="0"/>
          </a:p>
        </p:txBody>
      </p:sp>
      <p:sp>
        <p:nvSpPr>
          <p:cNvPr id="12" name="Text 9"/>
          <p:cNvSpPr txBox="1"/>
          <p:nvPr/>
        </p:nvSpPr>
        <p:spPr>
          <a:xfrm>
            <a:off x="457200" y="4526280"/>
            <a:ext cx="4937760" cy="228600"/>
          </a:xfrm>
          <a:prstGeom prst="rect">
            <a:avLst/>
          </a:prstGeom>
          <a:noFill/>
          <a:ln/>
        </p:spPr>
        <p:txBody>
          <a:bodyPr wrap="square" lIns="0" tIns="0" rIns="0" bIns="0" rtlCol="0" anchor="t"/>
          <a:lstStyle/>
          <a:p>
            <a:pPr marL="0" indent="0" algn="ctr">
              <a:buNone/>
            </a:pPr>
            <a:r>
              <a:rPr lang="it-IT" sz="1000" dirty="0">
                <a:solidFill>
                  <a:schemeClr val="accent2"/>
                </a:solidFill>
              </a:rPr>
              <a:t>La filiera dell'AI</a:t>
            </a:r>
            <a:endParaRPr lang="it-IT" sz="1000" dirty="0"/>
          </a:p>
        </p:txBody>
      </p:sp>
      <p:sp>
        <p:nvSpPr>
          <p:cNvPr id="13" name="scheda Per le aziende utenti"/>
          <p:cNvSpPr/>
          <p:nvPr/>
        </p:nvSpPr>
        <p:spPr>
          <a:xfrm>
            <a:off x="5669280" y="1097280"/>
            <a:ext cx="3017520" cy="1691640"/>
          </a:xfrm>
          <a:prstGeom prst="roundRect">
            <a:avLst>
              <a:gd name="adj" fmla="val 4324"/>
            </a:avLst>
          </a:prstGeom>
          <a:solidFill>
            <a:schemeClr val="bg2"/>
          </a:solidFill>
          <a:ln/>
        </p:spPr>
        <p:txBody>
          <a:bodyPr/>
          <a:lstStyle/>
          <a:p>
            <a:endParaRPr lang="it-IT" dirty="0"/>
          </a:p>
        </p:txBody>
      </p:sp>
      <p:sp>
        <p:nvSpPr>
          <p:cNvPr id="14" name="cerchio FiBriefcase"/>
          <p:cNvSpPr/>
          <p:nvPr/>
        </p:nvSpPr>
        <p:spPr>
          <a:xfrm>
            <a:off x="5852160" y="1280160"/>
            <a:ext cx="457200" cy="457200"/>
          </a:xfrm>
          <a:prstGeom prst="ellipse">
            <a:avLst/>
          </a:prstGeom>
          <a:solidFill>
            <a:schemeClr val="accent1"/>
          </a:solidFill>
          <a:ln/>
        </p:spPr>
        <p:txBody>
          <a:bodyPr/>
          <a:lstStyle/>
          <a:p>
            <a:endParaRPr lang="it-IT" dirty="0"/>
          </a:p>
        </p:txBody>
      </p:sp>
      <p:pic>
        <p:nvPicPr>
          <p:cNvPr id="15" name="Image 0" descr="FiBriefcase"/>
          <p:cNvPicPr>
            <a:picLocks noChangeAspect="1"/>
          </p:cNvPicPr>
          <p:nvPr/>
        </p:nvPicPr>
        <p:blipFill>
          <a:blip r:embed="rId3"/>
          <a:stretch>
            <a:fillRect/>
          </a:stretch>
        </p:blipFill>
        <p:spPr>
          <a:xfrm>
            <a:off x="5966460" y="1394460"/>
            <a:ext cx="228600" cy="228600"/>
          </a:xfrm>
          <a:prstGeom prst="rect">
            <a:avLst/>
          </a:prstGeom>
        </p:spPr>
      </p:pic>
      <p:sp>
        <p:nvSpPr>
          <p:cNvPr id="16" name="Text 12"/>
          <p:cNvSpPr txBox="1"/>
          <p:nvPr/>
        </p:nvSpPr>
        <p:spPr>
          <a:xfrm>
            <a:off x="6446520" y="12801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Per le aziende utenti</a:t>
            </a:r>
            <a:endParaRPr lang="it-IT" sz="1500" dirty="0"/>
          </a:p>
        </p:txBody>
      </p:sp>
      <p:sp>
        <p:nvSpPr>
          <p:cNvPr id="17" name="Text 13"/>
          <p:cNvSpPr txBox="1"/>
          <p:nvPr/>
        </p:nvSpPr>
        <p:spPr>
          <a:xfrm>
            <a:off x="5852160" y="1874520"/>
            <a:ext cx="2651760" cy="804672"/>
          </a:xfrm>
          <a:prstGeom prst="rect">
            <a:avLst/>
          </a:prstGeom>
          <a:noFill/>
          <a:ln/>
        </p:spPr>
        <p:txBody>
          <a:bodyPr wrap="square" lIns="0" tIns="0" rIns="0" bIns="0" rtlCol="0" anchor="t"/>
          <a:lstStyle/>
          <a:p>
            <a:pPr marL="0" indent="0">
              <a:buNone/>
            </a:pPr>
            <a:r>
              <a:rPr lang="it-IT" sz="1300" dirty="0">
                <a:solidFill>
                  <a:schemeClr val="tx2"/>
                </a:solidFill>
              </a:rPr>
              <a:t>Le capacità AI arrivano come servizi pronti: abbonamenti, funzioni integrate, API</a:t>
            </a:r>
            <a:endParaRPr lang="it-IT" sz="1300" dirty="0"/>
          </a:p>
        </p:txBody>
      </p:sp>
      <p:sp>
        <p:nvSpPr>
          <p:cNvPr id="18" name="scheda Costi e impatti"/>
          <p:cNvSpPr/>
          <p:nvPr/>
        </p:nvSpPr>
        <p:spPr>
          <a:xfrm>
            <a:off x="5669280" y="2926080"/>
            <a:ext cx="3017520" cy="1600200"/>
          </a:xfrm>
          <a:prstGeom prst="roundRect">
            <a:avLst>
              <a:gd name="adj" fmla="val 4571"/>
            </a:avLst>
          </a:prstGeom>
          <a:solidFill>
            <a:schemeClr val="bg2"/>
          </a:solidFill>
          <a:ln/>
        </p:spPr>
        <p:txBody>
          <a:bodyPr/>
          <a:lstStyle/>
          <a:p>
            <a:endParaRPr lang="it-IT" dirty="0"/>
          </a:p>
        </p:txBody>
      </p:sp>
      <p:sp>
        <p:nvSpPr>
          <p:cNvPr id="19" name="cerchio FiZap"/>
          <p:cNvSpPr/>
          <p:nvPr/>
        </p:nvSpPr>
        <p:spPr>
          <a:xfrm>
            <a:off x="5852160" y="3108960"/>
            <a:ext cx="457200" cy="457200"/>
          </a:xfrm>
          <a:prstGeom prst="ellipse">
            <a:avLst/>
          </a:prstGeom>
          <a:solidFill>
            <a:schemeClr val="accent1"/>
          </a:solidFill>
          <a:ln/>
        </p:spPr>
        <p:txBody>
          <a:bodyPr/>
          <a:lstStyle/>
          <a:p>
            <a:endParaRPr lang="it-IT" dirty="0"/>
          </a:p>
        </p:txBody>
      </p:sp>
      <p:pic>
        <p:nvPicPr>
          <p:cNvPr id="20" name="Image 1" descr="FiZap"/>
          <p:cNvPicPr>
            <a:picLocks noChangeAspect="1"/>
          </p:cNvPicPr>
          <p:nvPr/>
        </p:nvPicPr>
        <p:blipFill>
          <a:blip r:embed="rId4"/>
          <a:stretch>
            <a:fillRect/>
          </a:stretch>
        </p:blipFill>
        <p:spPr>
          <a:xfrm>
            <a:off x="5966460" y="3223260"/>
            <a:ext cx="228600" cy="228600"/>
          </a:xfrm>
          <a:prstGeom prst="rect">
            <a:avLst/>
          </a:prstGeom>
        </p:spPr>
      </p:pic>
      <p:sp>
        <p:nvSpPr>
          <p:cNvPr id="21" name="Text 16"/>
          <p:cNvSpPr txBox="1"/>
          <p:nvPr/>
        </p:nvSpPr>
        <p:spPr>
          <a:xfrm>
            <a:off x="6446520" y="31089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Costi e impatti</a:t>
            </a:r>
            <a:endParaRPr lang="it-IT" sz="1500" dirty="0"/>
          </a:p>
        </p:txBody>
      </p:sp>
      <p:sp>
        <p:nvSpPr>
          <p:cNvPr id="22" name="Text 17"/>
          <p:cNvSpPr txBox="1"/>
          <p:nvPr/>
        </p:nvSpPr>
        <p:spPr>
          <a:xfrm>
            <a:off x="5852160" y="3703320"/>
            <a:ext cx="2651760" cy="713232"/>
          </a:xfrm>
          <a:prstGeom prst="rect">
            <a:avLst/>
          </a:prstGeom>
          <a:noFill/>
          <a:ln/>
        </p:spPr>
        <p:txBody>
          <a:bodyPr wrap="square" lIns="0" tIns="0" rIns="0" bIns="0" rtlCol="0" anchor="t"/>
          <a:lstStyle/>
          <a:p>
            <a:pPr marL="0" indent="0">
              <a:buNone/>
            </a:pPr>
            <a:r>
              <a:rPr lang="it-IT" sz="1300" dirty="0">
                <a:solidFill>
                  <a:schemeClr val="tx2"/>
                </a:solidFill>
              </a:rPr>
              <a:t>Infrastrutture costose ed energivore: un tema emergente da considerare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10</a:t>
            </a:fld>
            <a:endParaRPr lang="it-IT"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La svolta dell'AI generativa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Dall'AI che classifica e prevede all'AI che genera contenuti, usando il linguaggio naturale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11</a:t>
            </a:fld>
            <a:endParaRPr lang="it-IT"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classificare e prevedere al generare</a:t>
            </a:r>
            <a:endParaRPr lang="it-IT" sz="2600" dirty="0"/>
          </a:p>
        </p:txBody>
      </p:sp>
      <p:sp>
        <p:nvSpPr>
          <p:cNvPr id="4" name="scheda AI che classifica e prevede"/>
          <p:cNvSpPr/>
          <p:nvPr/>
        </p:nvSpPr>
        <p:spPr>
          <a:xfrm>
            <a:off x="457200" y="1097280"/>
            <a:ext cx="3931920" cy="3429000"/>
          </a:xfrm>
          <a:prstGeom prst="roundRect">
            <a:avLst>
              <a:gd name="adj" fmla="val 2133"/>
            </a:avLst>
          </a:prstGeom>
          <a:solidFill>
            <a:schemeClr val="bg2"/>
          </a:solidFill>
          <a:ln/>
        </p:spPr>
        <p:txBody>
          <a:bodyPr/>
          <a:lstStyle/>
          <a:p>
            <a:endParaRPr lang="it-IT" dirty="0"/>
          </a:p>
        </p:txBody>
      </p:sp>
      <p:sp>
        <p:nvSpPr>
          <p:cNvPr id="5" name="cerchio FiBarChart2"/>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arChart2"/>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566160" cy="347472"/>
          </a:xfrm>
          <a:prstGeom prst="rect">
            <a:avLst/>
          </a:prstGeom>
          <a:noFill/>
          <a:ln/>
        </p:spPr>
        <p:txBody>
          <a:bodyPr wrap="square" lIns="0" tIns="0" rIns="0" bIns="0" rtlCol="0" anchor="t"/>
          <a:lstStyle/>
          <a:p>
            <a:pPr marL="0" indent="0">
              <a:buNone/>
            </a:pPr>
            <a:r>
              <a:rPr lang="it-IT" sz="1600" b="1" dirty="0">
                <a:solidFill>
                  <a:schemeClr val="tx1"/>
                </a:solidFill>
              </a:rPr>
              <a:t>AI che classifica e prevede</a:t>
            </a:r>
            <a:endParaRPr lang="it-IT" sz="1600" dirty="0"/>
          </a:p>
        </p:txBody>
      </p:sp>
      <p:sp>
        <p:nvSpPr>
          <p:cNvPr id="8" name="Text 4"/>
          <p:cNvSpPr txBox="1"/>
          <p:nvPr/>
        </p:nvSpPr>
        <p:spPr>
          <a:xfrm>
            <a:off x="640080" y="2231136"/>
            <a:ext cx="356616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un'etichetta, un numero, una probabilità</a:t>
            </a:r>
            <a:endParaRPr lang="it-IT" sz="1300" dirty="0"/>
          </a:p>
          <a:p>
            <a:pPr marL="177800" indent="-177800">
              <a:spcAft>
                <a:spcPts val="300"/>
              </a:spcAft>
              <a:buSzPct val="100000"/>
              <a:buChar char="•"/>
            </a:pPr>
            <a:r>
              <a:rPr lang="it-IT" sz="1300" dirty="0">
                <a:solidFill>
                  <a:schemeClr val="tx2"/>
                </a:solidFill>
              </a:rPr>
              <a:t>Questa email è spam?</a:t>
            </a:r>
            <a:endParaRPr lang="it-IT" sz="1300" dirty="0"/>
          </a:p>
          <a:p>
            <a:pPr marL="177800" indent="-177800">
              <a:spcAft>
                <a:spcPts val="300"/>
              </a:spcAft>
              <a:buSzPct val="100000"/>
              <a:buChar char="•"/>
            </a:pPr>
            <a:r>
              <a:rPr lang="it-IT" sz="1300" dirty="0">
                <a:solidFill>
                  <a:schemeClr val="tx2"/>
                </a:solidFill>
              </a:rPr>
              <a:t>Questo pezzo è difettoso?</a:t>
            </a:r>
            <a:endParaRPr lang="it-IT" sz="1300" dirty="0"/>
          </a:p>
          <a:p>
            <a:pPr marL="177800" indent="-177800">
              <a:spcAft>
                <a:spcPts val="300"/>
              </a:spcAft>
              <a:buSzPct val="100000"/>
              <a:buChar char="•"/>
            </a:pPr>
            <a:r>
              <a:rPr lang="it-IT" sz="1300" dirty="0">
                <a:solidFill>
                  <a:schemeClr val="tx2"/>
                </a:solidFill>
              </a:rPr>
              <a:t>Quanto venderemo il mese prossimo?</a:t>
            </a:r>
            <a:endParaRPr lang="it-IT" sz="1300" dirty="0"/>
          </a:p>
          <a:p>
            <a:pPr marL="177800" indent="-177800">
              <a:spcAft>
                <a:spcPts val="300"/>
              </a:spcAft>
              <a:buSzPct val="100000"/>
              <a:buChar char="•"/>
            </a:pPr>
            <a:r>
              <a:rPr lang="it-IT" sz="1300" dirty="0">
                <a:solidFill>
                  <a:schemeClr val="tx2"/>
                </a:solidFill>
              </a:rPr>
              <a:t>Questo cliente rischia di abbandonarci?</a:t>
            </a:r>
            <a:endParaRPr lang="it-IT" sz="1300" dirty="0"/>
          </a:p>
        </p:txBody>
      </p:sp>
      <p:sp>
        <p:nvSpPr>
          <p:cNvPr id="9" name="freccia"/>
          <p:cNvSpPr/>
          <p:nvPr/>
        </p:nvSpPr>
        <p:spPr>
          <a:xfrm>
            <a:off x="4526280" y="2651760"/>
            <a:ext cx="502920" cy="292608"/>
          </a:xfrm>
          <a:prstGeom prst="rightArrow">
            <a:avLst/>
          </a:prstGeom>
          <a:solidFill>
            <a:schemeClr val="accent1"/>
          </a:solidFill>
          <a:ln/>
        </p:spPr>
        <p:txBody>
          <a:bodyPr/>
          <a:lstStyle/>
          <a:p>
            <a:endParaRPr lang="it-IT" dirty="0"/>
          </a:p>
        </p:txBody>
      </p:sp>
      <p:sp>
        <p:nvSpPr>
          <p:cNvPr id="10" name="scheda AI che genera"/>
          <p:cNvSpPr/>
          <p:nvPr/>
        </p:nvSpPr>
        <p:spPr>
          <a:xfrm>
            <a:off x="5166360" y="1097280"/>
            <a:ext cx="3520440" cy="3429000"/>
          </a:xfrm>
          <a:prstGeom prst="roundRect">
            <a:avLst>
              <a:gd name="adj" fmla="val 2133"/>
            </a:avLst>
          </a:prstGeom>
          <a:solidFill>
            <a:schemeClr val="accent6"/>
          </a:solidFill>
          <a:ln/>
        </p:spPr>
        <p:txBody>
          <a:bodyPr/>
          <a:lstStyle/>
          <a:p>
            <a:endParaRPr lang="it-IT" dirty="0"/>
          </a:p>
        </p:txBody>
      </p:sp>
      <p:sp>
        <p:nvSpPr>
          <p:cNvPr id="11" name="cerchio FiEdit3"/>
          <p:cNvSpPr/>
          <p:nvPr/>
        </p:nvSpPr>
        <p:spPr>
          <a:xfrm>
            <a:off x="5349240" y="1280160"/>
            <a:ext cx="457200" cy="457200"/>
          </a:xfrm>
          <a:prstGeom prst="ellipse">
            <a:avLst/>
          </a:prstGeom>
          <a:solidFill>
            <a:schemeClr val="accent1"/>
          </a:solidFill>
          <a:ln/>
        </p:spPr>
        <p:txBody>
          <a:bodyPr/>
          <a:lstStyle/>
          <a:p>
            <a:endParaRPr lang="it-IT" dirty="0"/>
          </a:p>
        </p:txBody>
      </p:sp>
      <p:pic>
        <p:nvPicPr>
          <p:cNvPr id="12" name="Image 1" descr="FiEdit3"/>
          <p:cNvPicPr>
            <a:picLocks noChangeAspect="1"/>
          </p:cNvPicPr>
          <p:nvPr/>
        </p:nvPicPr>
        <p:blipFill>
          <a:blip r:embed="rId4"/>
          <a:stretch>
            <a:fillRect/>
          </a:stretch>
        </p:blipFill>
        <p:spPr>
          <a:xfrm>
            <a:off x="5463540" y="1394460"/>
            <a:ext cx="228600" cy="228600"/>
          </a:xfrm>
          <a:prstGeom prst="rect">
            <a:avLst/>
          </a:prstGeom>
        </p:spPr>
      </p:pic>
      <p:sp>
        <p:nvSpPr>
          <p:cNvPr id="13" name="Text 8"/>
          <p:cNvSpPr txBox="1"/>
          <p:nvPr/>
        </p:nvSpPr>
        <p:spPr>
          <a:xfrm>
            <a:off x="5349240" y="1847088"/>
            <a:ext cx="3154680" cy="347472"/>
          </a:xfrm>
          <a:prstGeom prst="rect">
            <a:avLst/>
          </a:prstGeom>
          <a:noFill/>
          <a:ln/>
        </p:spPr>
        <p:txBody>
          <a:bodyPr wrap="square" lIns="0" tIns="0" rIns="0" bIns="0" rtlCol="0" anchor="t"/>
          <a:lstStyle/>
          <a:p>
            <a:pPr marL="0" indent="0">
              <a:buNone/>
            </a:pPr>
            <a:r>
              <a:rPr lang="it-IT" sz="1600" b="1" dirty="0">
                <a:solidFill>
                  <a:schemeClr val="tx1"/>
                </a:solidFill>
              </a:rPr>
              <a:t>AI che genera</a:t>
            </a:r>
            <a:endParaRPr lang="it-IT" sz="1600" dirty="0"/>
          </a:p>
        </p:txBody>
      </p:sp>
      <p:sp>
        <p:nvSpPr>
          <p:cNvPr id="14" name="Text 9"/>
          <p:cNvSpPr txBox="1"/>
          <p:nvPr/>
        </p:nvSpPr>
        <p:spPr>
          <a:xfrm>
            <a:off x="5349240" y="2231136"/>
            <a:ext cx="315468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 contenuto nuovo</a:t>
            </a:r>
            <a:endParaRPr lang="it-IT" sz="1300" dirty="0"/>
          </a:p>
          <a:p>
            <a:pPr marL="177800" indent="-177800">
              <a:spcAft>
                <a:spcPts val="300"/>
              </a:spcAft>
              <a:buSzPct val="100000"/>
              <a:buChar char="•"/>
            </a:pPr>
            <a:r>
              <a:rPr lang="it-IT" sz="1300" dirty="0">
                <a:solidFill>
                  <a:schemeClr val="tx2"/>
                </a:solidFill>
              </a:rPr>
              <a:t>Scrivi una bozza di risposta</a:t>
            </a:r>
            <a:endParaRPr lang="it-IT" sz="1300" dirty="0"/>
          </a:p>
          <a:p>
            <a:pPr marL="177800" indent="-177800">
              <a:spcAft>
                <a:spcPts val="300"/>
              </a:spcAft>
              <a:buSzPct val="100000"/>
              <a:buChar char="•"/>
            </a:pPr>
            <a:r>
              <a:rPr lang="it-IT" sz="1300" dirty="0">
                <a:solidFill>
                  <a:schemeClr val="tx2"/>
                </a:solidFill>
              </a:rPr>
              <a:t>Riassumi questo documento</a:t>
            </a:r>
            <a:endParaRPr lang="it-IT" sz="1300" dirty="0"/>
          </a:p>
          <a:p>
            <a:pPr marL="177800" indent="-177800">
              <a:spcAft>
                <a:spcPts val="300"/>
              </a:spcAft>
              <a:buSzPct val="100000"/>
              <a:buChar char="•"/>
            </a:pPr>
            <a:r>
              <a:rPr lang="it-IT" sz="1300" dirty="0">
                <a:solidFill>
                  <a:schemeClr val="tx2"/>
                </a:solidFill>
              </a:rPr>
              <a:t>Traduci questa offerta</a:t>
            </a:r>
            <a:endParaRPr lang="it-IT" sz="1300" dirty="0"/>
          </a:p>
          <a:p>
            <a:pPr marL="177800" indent="-177800">
              <a:spcAft>
                <a:spcPts val="300"/>
              </a:spcAft>
              <a:buSzPct val="100000"/>
              <a:buChar char="•"/>
            </a:pPr>
            <a:r>
              <a:rPr lang="it-IT" sz="1300" dirty="0">
                <a:solidFill>
                  <a:schemeClr val="tx2"/>
                </a:solidFill>
              </a:rPr>
              <a:t>Proponi tre titoli per l'articolo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12</a:t>
            </a:fld>
            <a:endParaRPr lang="it-IT"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linguaggio naturale diventa l'interfaccia</a:t>
            </a:r>
            <a:endParaRPr lang="it-IT" sz="2600" dirty="0"/>
          </a:p>
        </p:txBody>
      </p:sp>
      <p:sp>
        <p:nvSpPr>
          <p:cNvPr id="4" name="Riga di comando"/>
          <p:cNvSpPr/>
          <p:nvPr/>
        </p:nvSpPr>
        <p:spPr>
          <a:xfrm>
            <a:off x="457200" y="1188720"/>
            <a:ext cx="1874520" cy="2377440"/>
          </a:xfrm>
          <a:prstGeom prst="roundRect">
            <a:avLst>
              <a:gd name="adj" fmla="val 3902"/>
            </a:avLst>
          </a:prstGeom>
          <a:solidFill>
            <a:schemeClr val="bg2"/>
          </a:solidFill>
          <a:ln/>
        </p:spPr>
        <p:txBody>
          <a:bodyPr/>
          <a:lstStyle/>
          <a:p>
            <a:endParaRPr lang="it-IT" dirty="0"/>
          </a:p>
        </p:txBody>
      </p:sp>
      <p:sp>
        <p:nvSpPr>
          <p:cNvPr id="5" name="cerchio FiTerminal"/>
          <p:cNvSpPr/>
          <p:nvPr/>
        </p:nvSpPr>
        <p:spPr>
          <a:xfrm>
            <a:off x="1115568" y="1371600"/>
            <a:ext cx="566928" cy="566928"/>
          </a:xfrm>
          <a:prstGeom prst="ellipse">
            <a:avLst/>
          </a:prstGeom>
          <a:solidFill>
            <a:schemeClr val="accent1"/>
          </a:solidFill>
          <a:ln/>
        </p:spPr>
        <p:txBody>
          <a:bodyPr/>
          <a:lstStyle/>
          <a:p>
            <a:endParaRPr lang="it-IT" dirty="0"/>
          </a:p>
        </p:txBody>
      </p:sp>
      <p:pic>
        <p:nvPicPr>
          <p:cNvPr id="6" name="Image 0" descr="FiTerminal"/>
          <p:cNvPicPr>
            <a:picLocks noChangeAspect="1"/>
          </p:cNvPicPr>
          <p:nvPr/>
        </p:nvPicPr>
        <p:blipFill>
          <a:blip r:embed="rId3"/>
          <a:stretch>
            <a:fillRect/>
          </a:stretch>
        </p:blipFill>
        <p:spPr>
          <a:xfrm>
            <a:off x="1257300" y="1513332"/>
            <a:ext cx="283464" cy="283464"/>
          </a:xfrm>
          <a:prstGeom prst="rect">
            <a:avLst/>
          </a:prstGeom>
        </p:spPr>
      </p:pic>
      <p:sp>
        <p:nvSpPr>
          <p:cNvPr id="7" name="Text 3"/>
          <p:cNvSpPr txBox="1"/>
          <p:nvPr/>
        </p:nvSpPr>
        <p:spPr>
          <a:xfrm>
            <a:off x="566928"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Riga di comando</a:t>
            </a:r>
            <a:endParaRPr lang="it-IT" sz="1500" dirty="0"/>
          </a:p>
        </p:txBody>
      </p:sp>
      <p:sp>
        <p:nvSpPr>
          <p:cNvPr id="8" name="Text 4"/>
          <p:cNvSpPr txBox="1"/>
          <p:nvPr/>
        </p:nvSpPr>
        <p:spPr>
          <a:xfrm>
            <a:off x="566928"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Comandi precisi da memorizzare</a:t>
            </a:r>
            <a:endParaRPr lang="it-IT" sz="1300" dirty="0"/>
          </a:p>
        </p:txBody>
      </p:sp>
      <p:sp>
        <p:nvSpPr>
          <p:cNvPr id="9" name="freccia"/>
          <p:cNvSpPr/>
          <p:nvPr/>
        </p:nvSpPr>
        <p:spPr>
          <a:xfrm>
            <a:off x="2350008" y="2240280"/>
            <a:ext cx="219456" cy="292608"/>
          </a:xfrm>
          <a:prstGeom prst="rightArrow">
            <a:avLst/>
          </a:prstGeom>
          <a:solidFill>
            <a:schemeClr val="accent2"/>
          </a:solidFill>
          <a:ln/>
        </p:spPr>
        <p:txBody>
          <a:bodyPr/>
          <a:lstStyle/>
          <a:p>
            <a:endParaRPr lang="it-IT" dirty="0"/>
          </a:p>
        </p:txBody>
      </p:sp>
      <p:sp>
        <p:nvSpPr>
          <p:cNvPr id="10" name="Interfaccia grafica"/>
          <p:cNvSpPr/>
          <p:nvPr/>
        </p:nvSpPr>
        <p:spPr>
          <a:xfrm>
            <a:off x="2587752" y="1188720"/>
            <a:ext cx="1874520" cy="2377440"/>
          </a:xfrm>
          <a:prstGeom prst="roundRect">
            <a:avLst>
              <a:gd name="adj" fmla="val 3902"/>
            </a:avLst>
          </a:prstGeom>
          <a:solidFill>
            <a:schemeClr val="bg2"/>
          </a:solidFill>
          <a:ln/>
        </p:spPr>
        <p:txBody>
          <a:bodyPr/>
          <a:lstStyle/>
          <a:p>
            <a:endParaRPr lang="it-IT" dirty="0"/>
          </a:p>
        </p:txBody>
      </p:sp>
      <p:sp>
        <p:nvSpPr>
          <p:cNvPr id="11" name="cerchio FiMonitor"/>
          <p:cNvSpPr/>
          <p:nvPr/>
        </p:nvSpPr>
        <p:spPr>
          <a:xfrm>
            <a:off x="3246120" y="1371600"/>
            <a:ext cx="566928" cy="566928"/>
          </a:xfrm>
          <a:prstGeom prst="ellipse">
            <a:avLst/>
          </a:prstGeom>
          <a:solidFill>
            <a:schemeClr val="accent1"/>
          </a:solidFill>
          <a:ln/>
        </p:spPr>
        <p:txBody>
          <a:bodyPr/>
          <a:lstStyle/>
          <a:p>
            <a:endParaRPr lang="it-IT" dirty="0"/>
          </a:p>
        </p:txBody>
      </p:sp>
      <p:pic>
        <p:nvPicPr>
          <p:cNvPr id="12" name="Image 1" descr="FiMonitor"/>
          <p:cNvPicPr>
            <a:picLocks noChangeAspect="1"/>
          </p:cNvPicPr>
          <p:nvPr/>
        </p:nvPicPr>
        <p:blipFill>
          <a:blip r:embed="rId4"/>
          <a:stretch>
            <a:fillRect/>
          </a:stretch>
        </p:blipFill>
        <p:spPr>
          <a:xfrm>
            <a:off x="3387852" y="1513332"/>
            <a:ext cx="283464" cy="283464"/>
          </a:xfrm>
          <a:prstGeom prst="rect">
            <a:avLst/>
          </a:prstGeom>
        </p:spPr>
      </p:pic>
      <p:sp>
        <p:nvSpPr>
          <p:cNvPr id="13" name="Text 8"/>
          <p:cNvSpPr txBox="1"/>
          <p:nvPr/>
        </p:nvSpPr>
        <p:spPr>
          <a:xfrm>
            <a:off x="2697480"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Interfaccia grafica</a:t>
            </a:r>
            <a:endParaRPr lang="it-IT" sz="1500" dirty="0"/>
          </a:p>
        </p:txBody>
      </p:sp>
      <p:sp>
        <p:nvSpPr>
          <p:cNvPr id="14" name="Text 9"/>
          <p:cNvSpPr txBox="1"/>
          <p:nvPr/>
        </p:nvSpPr>
        <p:spPr>
          <a:xfrm>
            <a:off x="2697480"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Finestre, icone, mouse</a:t>
            </a:r>
            <a:endParaRPr lang="it-IT" sz="1300" dirty="0"/>
          </a:p>
        </p:txBody>
      </p:sp>
      <p:sp>
        <p:nvSpPr>
          <p:cNvPr id="15" name="freccia"/>
          <p:cNvSpPr/>
          <p:nvPr/>
        </p:nvSpPr>
        <p:spPr>
          <a:xfrm>
            <a:off x="4480560" y="2240280"/>
            <a:ext cx="219456" cy="292608"/>
          </a:xfrm>
          <a:prstGeom prst="rightArrow">
            <a:avLst/>
          </a:prstGeom>
          <a:solidFill>
            <a:schemeClr val="accent2"/>
          </a:solidFill>
          <a:ln/>
        </p:spPr>
        <p:txBody>
          <a:bodyPr/>
          <a:lstStyle/>
          <a:p>
            <a:endParaRPr lang="it-IT" dirty="0"/>
          </a:p>
        </p:txBody>
      </p:sp>
      <p:sp>
        <p:nvSpPr>
          <p:cNvPr id="16" name="Touch e app"/>
          <p:cNvSpPr/>
          <p:nvPr/>
        </p:nvSpPr>
        <p:spPr>
          <a:xfrm>
            <a:off x="4718304" y="1188720"/>
            <a:ext cx="1874520" cy="2377440"/>
          </a:xfrm>
          <a:prstGeom prst="roundRect">
            <a:avLst>
              <a:gd name="adj" fmla="val 3902"/>
            </a:avLst>
          </a:prstGeom>
          <a:solidFill>
            <a:schemeClr val="bg2"/>
          </a:solidFill>
          <a:ln/>
        </p:spPr>
        <p:txBody>
          <a:bodyPr/>
          <a:lstStyle/>
          <a:p>
            <a:endParaRPr lang="it-IT" dirty="0"/>
          </a:p>
        </p:txBody>
      </p:sp>
      <p:sp>
        <p:nvSpPr>
          <p:cNvPr id="17" name="cerchio FiSmartphone"/>
          <p:cNvSpPr/>
          <p:nvPr/>
        </p:nvSpPr>
        <p:spPr>
          <a:xfrm>
            <a:off x="5376672" y="1371600"/>
            <a:ext cx="566928" cy="566928"/>
          </a:xfrm>
          <a:prstGeom prst="ellipse">
            <a:avLst/>
          </a:prstGeom>
          <a:solidFill>
            <a:schemeClr val="accent1"/>
          </a:solidFill>
          <a:ln/>
        </p:spPr>
        <p:txBody>
          <a:bodyPr/>
          <a:lstStyle/>
          <a:p>
            <a:endParaRPr lang="it-IT" dirty="0"/>
          </a:p>
        </p:txBody>
      </p:sp>
      <p:pic>
        <p:nvPicPr>
          <p:cNvPr id="18" name="Image 2" descr="FiSmartphone"/>
          <p:cNvPicPr>
            <a:picLocks noChangeAspect="1"/>
          </p:cNvPicPr>
          <p:nvPr/>
        </p:nvPicPr>
        <p:blipFill>
          <a:blip r:embed="rId5"/>
          <a:stretch>
            <a:fillRect/>
          </a:stretch>
        </p:blipFill>
        <p:spPr>
          <a:xfrm>
            <a:off x="5518404" y="1513332"/>
            <a:ext cx="283464" cy="283464"/>
          </a:xfrm>
          <a:prstGeom prst="rect">
            <a:avLst/>
          </a:prstGeom>
        </p:spPr>
      </p:pic>
      <p:sp>
        <p:nvSpPr>
          <p:cNvPr id="19" name="Text 13"/>
          <p:cNvSpPr txBox="1"/>
          <p:nvPr/>
        </p:nvSpPr>
        <p:spPr>
          <a:xfrm>
            <a:off x="4828032"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Touch e app</a:t>
            </a:r>
            <a:endParaRPr lang="it-IT" sz="1500" dirty="0"/>
          </a:p>
        </p:txBody>
      </p:sp>
      <p:sp>
        <p:nvSpPr>
          <p:cNvPr id="20" name="Text 14"/>
          <p:cNvSpPr txBox="1"/>
          <p:nvPr/>
        </p:nvSpPr>
        <p:spPr>
          <a:xfrm>
            <a:off x="4828032"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Gesti intuitivi, sempre con sé</a:t>
            </a:r>
            <a:endParaRPr lang="it-IT" sz="1300" dirty="0"/>
          </a:p>
        </p:txBody>
      </p:sp>
      <p:sp>
        <p:nvSpPr>
          <p:cNvPr id="21" name="freccia"/>
          <p:cNvSpPr/>
          <p:nvPr/>
        </p:nvSpPr>
        <p:spPr>
          <a:xfrm>
            <a:off x="6611112" y="2240280"/>
            <a:ext cx="219456" cy="292608"/>
          </a:xfrm>
          <a:prstGeom prst="rightArrow">
            <a:avLst/>
          </a:prstGeom>
          <a:solidFill>
            <a:schemeClr val="accent2"/>
          </a:solidFill>
          <a:ln/>
        </p:spPr>
        <p:txBody>
          <a:bodyPr/>
          <a:lstStyle/>
          <a:p>
            <a:endParaRPr lang="it-IT" dirty="0"/>
          </a:p>
        </p:txBody>
      </p:sp>
      <p:sp>
        <p:nvSpPr>
          <p:cNvPr id="22" name="Linguaggio naturale"/>
          <p:cNvSpPr/>
          <p:nvPr/>
        </p:nvSpPr>
        <p:spPr>
          <a:xfrm>
            <a:off x="6848856" y="1188720"/>
            <a:ext cx="1874520" cy="2377440"/>
          </a:xfrm>
          <a:prstGeom prst="roundRect">
            <a:avLst>
              <a:gd name="adj" fmla="val 3902"/>
            </a:avLst>
          </a:prstGeom>
          <a:solidFill>
            <a:schemeClr val="accent1"/>
          </a:solidFill>
          <a:ln/>
        </p:spPr>
        <p:txBody>
          <a:bodyPr/>
          <a:lstStyle/>
          <a:p>
            <a:endParaRPr lang="it-IT" dirty="0"/>
          </a:p>
        </p:txBody>
      </p:sp>
      <p:sp>
        <p:nvSpPr>
          <p:cNvPr id="23" name="cerchio FiMessageCircle"/>
          <p:cNvSpPr/>
          <p:nvPr/>
        </p:nvSpPr>
        <p:spPr>
          <a:xfrm>
            <a:off x="7507224" y="1371600"/>
            <a:ext cx="566928" cy="566928"/>
          </a:xfrm>
          <a:prstGeom prst="ellipse">
            <a:avLst/>
          </a:prstGeom>
          <a:solidFill>
            <a:schemeClr val="bg1"/>
          </a:solidFill>
          <a:ln/>
        </p:spPr>
        <p:txBody>
          <a:bodyPr/>
          <a:lstStyle/>
          <a:p>
            <a:endParaRPr lang="it-IT" dirty="0"/>
          </a:p>
        </p:txBody>
      </p:sp>
      <p:pic>
        <p:nvPicPr>
          <p:cNvPr id="24" name="Image 3" descr="FiMessageCircle"/>
          <p:cNvPicPr>
            <a:picLocks noChangeAspect="1"/>
          </p:cNvPicPr>
          <p:nvPr/>
        </p:nvPicPr>
        <p:blipFill>
          <a:blip r:embed="rId6"/>
          <a:stretch>
            <a:fillRect/>
          </a:stretch>
        </p:blipFill>
        <p:spPr>
          <a:xfrm>
            <a:off x="7648956" y="1513332"/>
            <a:ext cx="283464" cy="283464"/>
          </a:xfrm>
          <a:prstGeom prst="rect">
            <a:avLst/>
          </a:prstGeom>
        </p:spPr>
      </p:pic>
      <p:sp>
        <p:nvSpPr>
          <p:cNvPr id="25" name="Text 18"/>
          <p:cNvSpPr txBox="1"/>
          <p:nvPr/>
        </p:nvSpPr>
        <p:spPr>
          <a:xfrm>
            <a:off x="6958584" y="2103120"/>
            <a:ext cx="1655064" cy="548640"/>
          </a:xfrm>
          <a:prstGeom prst="rect">
            <a:avLst/>
          </a:prstGeom>
          <a:noFill/>
          <a:ln/>
        </p:spPr>
        <p:txBody>
          <a:bodyPr wrap="square" lIns="0" tIns="0" rIns="0" bIns="0" rtlCol="0" anchor="ctr"/>
          <a:lstStyle/>
          <a:p>
            <a:pPr marL="0" indent="0" algn="ctr">
              <a:buNone/>
            </a:pPr>
            <a:r>
              <a:rPr lang="it-IT" sz="1500" b="1" dirty="0">
                <a:solidFill>
                  <a:schemeClr val="bg1"/>
                </a:solidFill>
              </a:rPr>
              <a:t>Linguaggio naturale</a:t>
            </a:r>
            <a:endParaRPr lang="it-IT" sz="1500" dirty="0"/>
          </a:p>
        </p:txBody>
      </p:sp>
      <p:sp>
        <p:nvSpPr>
          <p:cNvPr id="26" name="Text 19"/>
          <p:cNvSpPr txBox="1"/>
          <p:nvPr/>
        </p:nvSpPr>
        <p:spPr>
          <a:xfrm>
            <a:off x="6958584" y="2697480"/>
            <a:ext cx="1655064" cy="731520"/>
          </a:xfrm>
          <a:prstGeom prst="rect">
            <a:avLst/>
          </a:prstGeom>
          <a:noFill/>
          <a:ln/>
        </p:spPr>
        <p:txBody>
          <a:bodyPr wrap="square" lIns="0" tIns="0" rIns="0" bIns="0" rtlCol="0" anchor="t"/>
          <a:lstStyle/>
          <a:p>
            <a:pPr marL="0" indent="0" algn="ctr">
              <a:buNone/>
            </a:pPr>
            <a:r>
              <a:rPr lang="it-IT" sz="1300" dirty="0">
                <a:solidFill>
                  <a:schemeClr val="bg1"/>
                </a:solidFill>
              </a:rPr>
              <a:t>Chiediamo con parole nostre</a:t>
            </a:r>
            <a:endParaRPr lang="it-IT" sz="1300" dirty="0"/>
          </a:p>
        </p:txBody>
      </p:sp>
      <p:sp>
        <p:nvSpPr>
          <p:cNvPr id="27" name="Text 20"/>
          <p:cNvSpPr txBox="1"/>
          <p:nvPr/>
        </p:nvSpPr>
        <p:spPr>
          <a:xfrm>
            <a:off x="457200" y="3886200"/>
            <a:ext cx="8229600" cy="457200"/>
          </a:xfrm>
          <a:prstGeom prst="rect">
            <a:avLst/>
          </a:prstGeom>
          <a:noFill/>
          <a:ln/>
        </p:spPr>
        <p:txBody>
          <a:bodyPr wrap="square" lIns="0" tIns="0" rIns="0" bIns="0" rtlCol="0" anchor="t"/>
          <a:lstStyle/>
          <a:p>
            <a:pPr marL="0" indent="0">
              <a:buNone/>
            </a:pPr>
            <a:r>
              <a:rPr lang="it-IT" sz="1400" i="1" dirty="0">
                <a:solidFill>
                  <a:schemeClr val="tx1"/>
                </a:solidFill>
              </a:rPr>
              <a:t>Il linguaggio naturale permette a molte più persone di accedere alle capacità </a:t>
            </a:r>
            <a:r>
              <a:rPr lang="it-IT" sz="1400" i="1" dirty="0" err="1">
                <a:solidFill>
                  <a:schemeClr val="tx1"/>
                </a:solidFill>
              </a:rPr>
              <a:t>dell’Ai</a:t>
            </a:r>
            <a:r>
              <a:rPr lang="it-IT" sz="1400" i="1" dirty="0">
                <a:solidFill>
                  <a:schemeClr val="tx1"/>
                </a:solidFill>
              </a:rPr>
              <a:t>. Imparare a formulare richieste efficaci consente di sfruttarne meglio il potenziale</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13</a:t>
            </a:fld>
            <a:endParaRPr lang="it-IT"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diffusione di chatbot e assistenti AI</a:t>
            </a:r>
            <a:endParaRPr lang="it-IT" sz="2600" dirty="0"/>
          </a:p>
        </p:txBody>
      </p:sp>
      <p:sp>
        <p:nvSpPr>
          <p:cNvPr id="4" name="callout novembre 2022"/>
          <p:cNvSpPr/>
          <p:nvPr/>
        </p:nvSpPr>
        <p:spPr>
          <a:xfrm>
            <a:off x="457200" y="1097280"/>
            <a:ext cx="3108960" cy="3429000"/>
          </a:xfrm>
          <a:prstGeom prst="roundRect">
            <a:avLst>
              <a:gd name="adj" fmla="val 2353"/>
            </a:avLst>
          </a:prstGeom>
          <a:solidFill>
            <a:schemeClr val="tx1"/>
          </a:solidFill>
          <a:ln/>
        </p:spPr>
        <p:txBody>
          <a:bodyPr/>
          <a:lstStyle/>
          <a:p>
            <a:endParaRPr lang="it-IT" dirty="0"/>
          </a:p>
        </p:txBody>
      </p:sp>
      <p:sp>
        <p:nvSpPr>
          <p:cNvPr id="5" name="Text 2"/>
          <p:cNvSpPr txBox="1"/>
          <p:nvPr/>
        </p:nvSpPr>
        <p:spPr>
          <a:xfrm>
            <a:off x="685800" y="1325880"/>
            <a:ext cx="2743200" cy="548640"/>
          </a:xfrm>
          <a:prstGeom prst="rect">
            <a:avLst/>
          </a:prstGeom>
          <a:noFill/>
          <a:ln/>
        </p:spPr>
        <p:txBody>
          <a:bodyPr wrap="square" lIns="0" tIns="0" rIns="0" bIns="0" rtlCol="0" anchor="t"/>
          <a:lstStyle/>
          <a:p>
            <a:pPr marL="0" indent="0">
              <a:buNone/>
            </a:pPr>
            <a:r>
              <a:rPr lang="it-IT" sz="2800" b="1" dirty="0">
                <a:solidFill>
                  <a:schemeClr val="accent1"/>
                </a:solidFill>
              </a:rPr>
              <a:t>Novembre 2022</a:t>
            </a:r>
            <a:endParaRPr lang="it-IT" sz="2800" dirty="0"/>
          </a:p>
        </p:txBody>
      </p:sp>
      <p:sp>
        <p:nvSpPr>
          <p:cNvPr id="6" name="Text 3"/>
          <p:cNvSpPr txBox="1"/>
          <p:nvPr/>
        </p:nvSpPr>
        <p:spPr>
          <a:xfrm>
            <a:off x="685800" y="1965960"/>
            <a:ext cx="2697480" cy="2103120"/>
          </a:xfrm>
          <a:prstGeom prst="rect">
            <a:avLst/>
          </a:prstGeom>
          <a:noFill/>
          <a:ln/>
        </p:spPr>
        <p:txBody>
          <a:bodyPr wrap="square" lIns="0" tIns="0" rIns="0" bIns="0" rtlCol="0" anchor="t"/>
          <a:lstStyle/>
          <a:p>
            <a:pPr marL="0" indent="0">
              <a:buNone/>
            </a:pPr>
            <a:r>
              <a:rPr lang="it-IT" sz="1400" dirty="0">
                <a:solidFill>
                  <a:schemeClr val="bg1"/>
                </a:solidFill>
              </a:rPr>
              <a:t>Il lancio pubblico di ChatGPT porta l'AI generativa a un pubblico di massa.</a:t>
            </a:r>
            <a:endParaRPr lang="it-IT" sz="1400" dirty="0"/>
          </a:p>
          <a:p>
            <a:pPr marL="0" indent="0">
              <a:buNone/>
            </a:pPr>
            <a:endParaRPr lang="it-IT" sz="1400" dirty="0"/>
          </a:p>
          <a:p>
            <a:pPr marL="0" indent="0">
              <a:buNone/>
            </a:pPr>
            <a:r>
              <a:rPr lang="it-IT" sz="1400" dirty="0">
                <a:solidFill>
                  <a:schemeClr val="bg1"/>
                </a:solidFill>
              </a:rPr>
              <a:t>Secondo stime dell'epoca, circa 100 milioni di utenti in due mesi.</a:t>
            </a:r>
            <a:endParaRPr lang="it-IT" sz="1400" dirty="0"/>
          </a:p>
        </p:txBody>
      </p:sp>
      <p:sp>
        <p:nvSpPr>
          <p:cNvPr id="7" name="Text 4"/>
          <p:cNvSpPr txBox="1"/>
          <p:nvPr/>
        </p:nvSpPr>
        <p:spPr>
          <a:xfrm>
            <a:off x="685800" y="4114800"/>
            <a:ext cx="2743200" cy="274320"/>
          </a:xfrm>
          <a:prstGeom prst="rect">
            <a:avLst/>
          </a:prstGeom>
          <a:noFill/>
          <a:ln/>
        </p:spPr>
        <p:txBody>
          <a:bodyPr wrap="square" lIns="0" tIns="0" rIns="0" bIns="0" rtlCol="0" anchor="t"/>
          <a:lstStyle/>
          <a:p>
            <a:pPr marL="0" indent="0">
              <a:buNone/>
            </a:pPr>
            <a:r>
              <a:rPr lang="it-IT" sz="1000" dirty="0">
                <a:solidFill>
                  <a:schemeClr val="accent3"/>
                </a:solidFill>
              </a:rPr>
              <a:t>Fonte: stima UBS riportata da Reuters, 2023</a:t>
            </a:r>
            <a:endParaRPr lang="it-IT" sz="1000" dirty="0"/>
          </a:p>
        </p:txBody>
      </p:sp>
      <p:sp>
        <p:nvSpPr>
          <p:cNvPr id="8" name="Text 5"/>
          <p:cNvSpPr txBox="1"/>
          <p:nvPr/>
        </p:nvSpPr>
        <p:spPr>
          <a:xfrm>
            <a:off x="3840480" y="1097280"/>
            <a:ext cx="4846320" cy="320040"/>
          </a:xfrm>
          <a:prstGeom prst="rect">
            <a:avLst/>
          </a:prstGeom>
          <a:noFill/>
          <a:ln/>
        </p:spPr>
        <p:txBody>
          <a:bodyPr wrap="square" lIns="0" tIns="0" rIns="0" bIns="0" rtlCol="0" anchor="t"/>
          <a:lstStyle/>
          <a:p>
            <a:pPr marL="0" indent="0">
              <a:buNone/>
            </a:pPr>
            <a:r>
              <a:rPr lang="it-IT" sz="1500" b="1" dirty="0">
                <a:solidFill>
                  <a:schemeClr val="tx1"/>
                </a:solidFill>
              </a:rPr>
              <a:t>Tre forme in cui l'AI generativa arriva a noi</a:t>
            </a:r>
            <a:endParaRPr lang="it-IT" sz="1500" dirty="0"/>
          </a:p>
        </p:txBody>
      </p:sp>
      <p:sp>
        <p:nvSpPr>
          <p:cNvPr id="9" name="cerchio FiMessageSquare"/>
          <p:cNvSpPr/>
          <p:nvPr/>
        </p:nvSpPr>
        <p:spPr>
          <a:xfrm>
            <a:off x="3840480" y="1554480"/>
            <a:ext cx="502920" cy="502920"/>
          </a:xfrm>
          <a:prstGeom prst="ellipse">
            <a:avLst/>
          </a:prstGeom>
          <a:solidFill>
            <a:schemeClr val="accent1"/>
          </a:solidFill>
          <a:ln/>
        </p:spPr>
        <p:txBody>
          <a:bodyPr/>
          <a:lstStyle/>
          <a:p>
            <a:endParaRPr lang="it-IT" dirty="0"/>
          </a:p>
        </p:txBody>
      </p:sp>
      <p:pic>
        <p:nvPicPr>
          <p:cNvPr id="10" name="Image 0" descr="FiMessageSquare"/>
          <p:cNvPicPr>
            <a:picLocks noChangeAspect="1"/>
          </p:cNvPicPr>
          <p:nvPr/>
        </p:nvPicPr>
        <p:blipFill>
          <a:blip r:embed="rId3"/>
          <a:stretch>
            <a:fillRect/>
          </a:stretch>
        </p:blipFill>
        <p:spPr>
          <a:xfrm>
            <a:off x="3966210" y="1680210"/>
            <a:ext cx="251460" cy="251460"/>
          </a:xfrm>
          <a:prstGeom prst="rect">
            <a:avLst/>
          </a:prstGeom>
        </p:spPr>
      </p:pic>
      <p:sp>
        <p:nvSpPr>
          <p:cNvPr id="11" name="Text 7"/>
          <p:cNvSpPr txBox="1"/>
          <p:nvPr/>
        </p:nvSpPr>
        <p:spPr>
          <a:xfrm>
            <a:off x="4526280" y="1527048"/>
            <a:ext cx="4160520" cy="292608"/>
          </a:xfrm>
          <a:prstGeom prst="rect">
            <a:avLst/>
          </a:prstGeom>
          <a:noFill/>
          <a:ln/>
        </p:spPr>
        <p:txBody>
          <a:bodyPr wrap="square" lIns="0" tIns="0" rIns="0" bIns="0" rtlCol="0" anchor="t"/>
          <a:lstStyle/>
          <a:p>
            <a:pPr marL="0" indent="0">
              <a:buNone/>
            </a:pPr>
            <a:r>
              <a:rPr lang="it-IT" sz="1500" b="1" dirty="0">
                <a:solidFill>
                  <a:schemeClr val="tx1"/>
                </a:solidFill>
              </a:rPr>
              <a:t>Assistenti conversazionali</a:t>
            </a:r>
            <a:endParaRPr lang="it-IT" sz="1500" dirty="0"/>
          </a:p>
        </p:txBody>
      </p:sp>
      <p:sp>
        <p:nvSpPr>
          <p:cNvPr id="12" name="Text 8"/>
          <p:cNvSpPr txBox="1"/>
          <p:nvPr/>
        </p:nvSpPr>
        <p:spPr>
          <a:xfrm>
            <a:off x="4526280" y="1828800"/>
            <a:ext cx="4160520" cy="548640"/>
          </a:xfrm>
          <a:prstGeom prst="rect">
            <a:avLst/>
          </a:prstGeom>
          <a:noFill/>
          <a:ln/>
        </p:spPr>
        <p:txBody>
          <a:bodyPr wrap="square" lIns="0" tIns="0" rIns="0" bIns="0" rtlCol="0" anchor="t"/>
          <a:lstStyle/>
          <a:p>
            <a:pPr marL="0" indent="0">
              <a:buNone/>
            </a:pPr>
            <a:r>
              <a:rPr lang="it-IT" sz="1300" dirty="0">
                <a:solidFill>
                  <a:schemeClr val="tx2"/>
                </a:solidFill>
              </a:rPr>
              <a:t>Ci si rivolge direttamente al sistema con domande e richieste</a:t>
            </a:r>
            <a:endParaRPr lang="it-IT" sz="1300" dirty="0"/>
          </a:p>
        </p:txBody>
      </p:sp>
      <p:sp>
        <p:nvSpPr>
          <p:cNvPr id="13" name="cerchio FiGrid"/>
          <p:cNvSpPr/>
          <p:nvPr/>
        </p:nvSpPr>
        <p:spPr>
          <a:xfrm>
            <a:off x="3840480" y="2560320"/>
            <a:ext cx="502920" cy="502920"/>
          </a:xfrm>
          <a:prstGeom prst="ellipse">
            <a:avLst/>
          </a:prstGeom>
          <a:solidFill>
            <a:schemeClr val="accent1"/>
          </a:solidFill>
          <a:ln/>
        </p:spPr>
        <p:txBody>
          <a:bodyPr/>
          <a:lstStyle/>
          <a:p>
            <a:endParaRPr lang="it-IT" dirty="0"/>
          </a:p>
        </p:txBody>
      </p:sp>
      <p:pic>
        <p:nvPicPr>
          <p:cNvPr id="14" name="Image 1" descr="FiGrid"/>
          <p:cNvPicPr>
            <a:picLocks noChangeAspect="1"/>
          </p:cNvPicPr>
          <p:nvPr/>
        </p:nvPicPr>
        <p:blipFill>
          <a:blip r:embed="rId4"/>
          <a:stretch>
            <a:fillRect/>
          </a:stretch>
        </p:blipFill>
        <p:spPr>
          <a:xfrm>
            <a:off x="3966210" y="2686050"/>
            <a:ext cx="251460" cy="251460"/>
          </a:xfrm>
          <a:prstGeom prst="rect">
            <a:avLst/>
          </a:prstGeom>
        </p:spPr>
      </p:pic>
      <p:sp>
        <p:nvSpPr>
          <p:cNvPr id="15" name="Text 10"/>
          <p:cNvSpPr txBox="1"/>
          <p:nvPr/>
        </p:nvSpPr>
        <p:spPr>
          <a:xfrm>
            <a:off x="4526280" y="2532888"/>
            <a:ext cx="4160520" cy="292608"/>
          </a:xfrm>
          <a:prstGeom prst="rect">
            <a:avLst/>
          </a:prstGeom>
          <a:noFill/>
          <a:ln/>
        </p:spPr>
        <p:txBody>
          <a:bodyPr wrap="square" lIns="0" tIns="0" rIns="0" bIns="0" rtlCol="0" anchor="t"/>
          <a:lstStyle/>
          <a:p>
            <a:pPr marL="0" indent="0">
              <a:buNone/>
            </a:pPr>
            <a:r>
              <a:rPr lang="it-IT" sz="1500" b="1" dirty="0">
                <a:solidFill>
                  <a:schemeClr val="tx1"/>
                </a:solidFill>
              </a:rPr>
              <a:t>Funzioni integrate</a:t>
            </a:r>
            <a:endParaRPr lang="it-IT" sz="1500" dirty="0"/>
          </a:p>
        </p:txBody>
      </p:sp>
      <p:sp>
        <p:nvSpPr>
          <p:cNvPr id="16" name="Text 11"/>
          <p:cNvSpPr txBox="1"/>
          <p:nvPr/>
        </p:nvSpPr>
        <p:spPr>
          <a:xfrm>
            <a:off x="4526280" y="2834640"/>
            <a:ext cx="4160520" cy="548640"/>
          </a:xfrm>
          <a:prstGeom prst="rect">
            <a:avLst/>
          </a:prstGeom>
          <a:noFill/>
          <a:ln/>
        </p:spPr>
        <p:txBody>
          <a:bodyPr wrap="square" lIns="0" tIns="0" rIns="0" bIns="0" rtlCol="0" anchor="t"/>
          <a:lstStyle/>
          <a:p>
            <a:pPr marL="0" indent="0">
              <a:buNone/>
            </a:pPr>
            <a:r>
              <a:rPr lang="it-IT" sz="1300" dirty="0">
                <a:solidFill>
                  <a:schemeClr val="tx2"/>
                </a:solidFill>
              </a:rPr>
              <a:t>L'AI compare dentro software già in uso: email, documenti, CRM</a:t>
            </a:r>
            <a:endParaRPr lang="it-IT" sz="1300" dirty="0"/>
          </a:p>
        </p:txBody>
      </p:sp>
      <p:sp>
        <p:nvSpPr>
          <p:cNvPr id="17" name="cerchio FiLink"/>
          <p:cNvSpPr/>
          <p:nvPr/>
        </p:nvSpPr>
        <p:spPr>
          <a:xfrm>
            <a:off x="3840480" y="3566160"/>
            <a:ext cx="502920" cy="502920"/>
          </a:xfrm>
          <a:prstGeom prst="ellipse">
            <a:avLst/>
          </a:prstGeom>
          <a:solidFill>
            <a:schemeClr val="accent1"/>
          </a:solidFill>
          <a:ln/>
        </p:spPr>
        <p:txBody>
          <a:bodyPr/>
          <a:lstStyle/>
          <a:p>
            <a:endParaRPr lang="it-IT" dirty="0"/>
          </a:p>
        </p:txBody>
      </p:sp>
      <p:pic>
        <p:nvPicPr>
          <p:cNvPr id="18" name="Image 2" descr="FiLink"/>
          <p:cNvPicPr>
            <a:picLocks noChangeAspect="1"/>
          </p:cNvPicPr>
          <p:nvPr/>
        </p:nvPicPr>
        <p:blipFill>
          <a:blip r:embed="rId5"/>
          <a:stretch>
            <a:fillRect/>
          </a:stretch>
        </p:blipFill>
        <p:spPr>
          <a:xfrm>
            <a:off x="3966210" y="3691890"/>
            <a:ext cx="251460" cy="251460"/>
          </a:xfrm>
          <a:prstGeom prst="rect">
            <a:avLst/>
          </a:prstGeom>
        </p:spPr>
      </p:pic>
      <p:sp>
        <p:nvSpPr>
          <p:cNvPr id="19" name="Text 13"/>
          <p:cNvSpPr txBox="1"/>
          <p:nvPr/>
        </p:nvSpPr>
        <p:spPr>
          <a:xfrm>
            <a:off x="4526280" y="3538728"/>
            <a:ext cx="4160520" cy="292608"/>
          </a:xfrm>
          <a:prstGeom prst="rect">
            <a:avLst/>
          </a:prstGeom>
          <a:noFill/>
          <a:ln/>
        </p:spPr>
        <p:txBody>
          <a:bodyPr wrap="square" lIns="0" tIns="0" rIns="0" bIns="0" rtlCol="0" anchor="t"/>
          <a:lstStyle/>
          <a:p>
            <a:pPr marL="0" indent="0">
              <a:buNone/>
            </a:pPr>
            <a:r>
              <a:rPr lang="it-IT" sz="1500" b="1" dirty="0">
                <a:solidFill>
                  <a:schemeClr val="tx1"/>
                </a:solidFill>
              </a:rPr>
              <a:t>Servizi via API</a:t>
            </a:r>
            <a:endParaRPr lang="it-IT" sz="1500" dirty="0"/>
          </a:p>
        </p:txBody>
      </p:sp>
      <p:sp>
        <p:nvSpPr>
          <p:cNvPr id="20" name="Text 14"/>
          <p:cNvSpPr txBox="1"/>
          <p:nvPr/>
        </p:nvSpPr>
        <p:spPr>
          <a:xfrm>
            <a:off x="4526280" y="3840480"/>
            <a:ext cx="4160520" cy="548640"/>
          </a:xfrm>
          <a:prstGeom prst="rect">
            <a:avLst/>
          </a:prstGeom>
          <a:noFill/>
          <a:ln/>
        </p:spPr>
        <p:txBody>
          <a:bodyPr wrap="square" lIns="0" tIns="0" rIns="0" bIns="0" rtlCol="0" anchor="t"/>
          <a:lstStyle/>
          <a:p>
            <a:pPr marL="0" indent="0">
              <a:buNone/>
            </a:pPr>
            <a:r>
              <a:rPr lang="it-IT" sz="1300" dirty="0">
                <a:solidFill>
                  <a:schemeClr val="tx2"/>
                </a:solidFill>
              </a:rPr>
              <a:t>Le aziende incorporano i modelli nei propri sistemi e prodotti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14</a:t>
            </a:fld>
            <a:endParaRPr lang="it-IT"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può generare l'AI</a:t>
            </a:r>
            <a:endParaRPr lang="it-IT" sz="2600" dirty="0"/>
          </a:p>
        </p:txBody>
      </p:sp>
      <p:sp>
        <p:nvSpPr>
          <p:cNvPr id="4" name="Testi"/>
          <p:cNvSpPr/>
          <p:nvPr/>
        </p:nvSpPr>
        <p:spPr>
          <a:xfrm>
            <a:off x="457200" y="1097280"/>
            <a:ext cx="2615184" cy="1417320"/>
          </a:xfrm>
          <a:prstGeom prst="roundRect">
            <a:avLst>
              <a:gd name="adj" fmla="val 5161"/>
            </a:avLst>
          </a:prstGeom>
          <a:solidFill>
            <a:schemeClr val="bg2"/>
          </a:solidFill>
          <a:ln/>
        </p:spPr>
        <p:txBody>
          <a:bodyPr/>
          <a:lstStyle/>
          <a:p>
            <a:endParaRPr lang="it-IT" dirty="0"/>
          </a:p>
        </p:txBody>
      </p:sp>
      <p:sp>
        <p:nvSpPr>
          <p:cNvPr id="5" name="cerchio FiFileText"/>
          <p:cNvSpPr/>
          <p:nvPr/>
        </p:nvSpPr>
        <p:spPr>
          <a:xfrm>
            <a:off x="640080" y="1325880"/>
            <a:ext cx="548640" cy="548640"/>
          </a:xfrm>
          <a:prstGeom prst="ellipse">
            <a:avLst/>
          </a:prstGeom>
          <a:solidFill>
            <a:schemeClr val="accent1"/>
          </a:solidFill>
          <a:ln/>
        </p:spPr>
        <p:txBody>
          <a:bodyPr/>
          <a:lstStyle/>
          <a:p>
            <a:endParaRPr lang="it-IT" dirty="0"/>
          </a:p>
        </p:txBody>
      </p:sp>
      <p:pic>
        <p:nvPicPr>
          <p:cNvPr id="6" name="Image 0" descr="FiFileText"/>
          <p:cNvPicPr>
            <a:picLocks noChangeAspect="1"/>
          </p:cNvPicPr>
          <p:nvPr/>
        </p:nvPicPr>
        <p:blipFill>
          <a:blip r:embed="rId3"/>
          <a:stretch>
            <a:fillRect/>
          </a:stretch>
        </p:blipFill>
        <p:spPr>
          <a:xfrm>
            <a:off x="777240" y="1463040"/>
            <a:ext cx="274320" cy="274320"/>
          </a:xfrm>
          <a:prstGeom prst="rect">
            <a:avLst/>
          </a:prstGeom>
        </p:spPr>
      </p:pic>
      <p:sp>
        <p:nvSpPr>
          <p:cNvPr id="7" name="Text 3"/>
          <p:cNvSpPr txBox="1"/>
          <p:nvPr/>
        </p:nvSpPr>
        <p:spPr>
          <a:xfrm>
            <a:off x="1325880"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Testi</a:t>
            </a:r>
            <a:endParaRPr lang="it-IT" sz="1600" dirty="0"/>
          </a:p>
        </p:txBody>
      </p:sp>
      <p:sp>
        <p:nvSpPr>
          <p:cNvPr id="8" name="Text 4"/>
          <p:cNvSpPr txBox="1"/>
          <p:nvPr/>
        </p:nvSpPr>
        <p:spPr>
          <a:xfrm>
            <a:off x="1325880"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Email, report, sintesi, traduzioni</a:t>
            </a:r>
            <a:endParaRPr lang="it-IT" sz="1300" dirty="0"/>
          </a:p>
        </p:txBody>
      </p:sp>
      <p:sp>
        <p:nvSpPr>
          <p:cNvPr id="9" name="Immagini"/>
          <p:cNvSpPr/>
          <p:nvPr/>
        </p:nvSpPr>
        <p:spPr>
          <a:xfrm>
            <a:off x="3264408" y="1097280"/>
            <a:ext cx="2615184" cy="1417320"/>
          </a:xfrm>
          <a:prstGeom prst="roundRect">
            <a:avLst>
              <a:gd name="adj" fmla="val 5161"/>
            </a:avLst>
          </a:prstGeom>
          <a:solidFill>
            <a:schemeClr val="bg2"/>
          </a:solidFill>
          <a:ln/>
        </p:spPr>
        <p:txBody>
          <a:bodyPr/>
          <a:lstStyle/>
          <a:p>
            <a:endParaRPr lang="it-IT" dirty="0"/>
          </a:p>
        </p:txBody>
      </p:sp>
      <p:sp>
        <p:nvSpPr>
          <p:cNvPr id="10" name="cerchio FiImage"/>
          <p:cNvSpPr/>
          <p:nvPr/>
        </p:nvSpPr>
        <p:spPr>
          <a:xfrm>
            <a:off x="3447288" y="1325880"/>
            <a:ext cx="548640" cy="548640"/>
          </a:xfrm>
          <a:prstGeom prst="ellipse">
            <a:avLst/>
          </a:prstGeom>
          <a:solidFill>
            <a:schemeClr val="accent1"/>
          </a:solidFill>
          <a:ln/>
        </p:spPr>
        <p:txBody>
          <a:bodyPr/>
          <a:lstStyle/>
          <a:p>
            <a:endParaRPr lang="it-IT" dirty="0"/>
          </a:p>
        </p:txBody>
      </p:sp>
      <p:pic>
        <p:nvPicPr>
          <p:cNvPr id="11" name="Image 1" descr="FiImage"/>
          <p:cNvPicPr>
            <a:picLocks noChangeAspect="1"/>
          </p:cNvPicPr>
          <p:nvPr/>
        </p:nvPicPr>
        <p:blipFill>
          <a:blip r:embed="rId4"/>
          <a:stretch>
            <a:fillRect/>
          </a:stretch>
        </p:blipFill>
        <p:spPr>
          <a:xfrm>
            <a:off x="3584448" y="1463040"/>
            <a:ext cx="274320" cy="274320"/>
          </a:xfrm>
          <a:prstGeom prst="rect">
            <a:avLst/>
          </a:prstGeom>
        </p:spPr>
      </p:pic>
      <p:sp>
        <p:nvSpPr>
          <p:cNvPr id="12" name="Text 7"/>
          <p:cNvSpPr txBox="1"/>
          <p:nvPr/>
        </p:nvSpPr>
        <p:spPr>
          <a:xfrm>
            <a:off x="4133088"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Immagini</a:t>
            </a:r>
            <a:endParaRPr lang="it-IT" sz="1600" dirty="0"/>
          </a:p>
        </p:txBody>
      </p:sp>
      <p:sp>
        <p:nvSpPr>
          <p:cNvPr id="13" name="Text 8"/>
          <p:cNvSpPr txBox="1"/>
          <p:nvPr/>
        </p:nvSpPr>
        <p:spPr>
          <a:xfrm>
            <a:off x="4133088"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Illustrazioni e grafiche da una descrizione</a:t>
            </a:r>
            <a:endParaRPr lang="it-IT" sz="1300" dirty="0"/>
          </a:p>
        </p:txBody>
      </p:sp>
      <p:sp>
        <p:nvSpPr>
          <p:cNvPr id="14" name="Codice"/>
          <p:cNvSpPr/>
          <p:nvPr/>
        </p:nvSpPr>
        <p:spPr>
          <a:xfrm>
            <a:off x="6071616" y="1097280"/>
            <a:ext cx="2615184" cy="1417320"/>
          </a:xfrm>
          <a:prstGeom prst="roundRect">
            <a:avLst>
              <a:gd name="adj" fmla="val 5161"/>
            </a:avLst>
          </a:prstGeom>
          <a:solidFill>
            <a:schemeClr val="bg2"/>
          </a:solidFill>
          <a:ln/>
        </p:spPr>
        <p:txBody>
          <a:bodyPr/>
          <a:lstStyle/>
          <a:p>
            <a:endParaRPr lang="it-IT" dirty="0"/>
          </a:p>
        </p:txBody>
      </p:sp>
      <p:sp>
        <p:nvSpPr>
          <p:cNvPr id="15" name="cerchio FiCode"/>
          <p:cNvSpPr/>
          <p:nvPr/>
        </p:nvSpPr>
        <p:spPr>
          <a:xfrm>
            <a:off x="6254496" y="1325880"/>
            <a:ext cx="548640" cy="548640"/>
          </a:xfrm>
          <a:prstGeom prst="ellipse">
            <a:avLst/>
          </a:prstGeom>
          <a:solidFill>
            <a:schemeClr val="accent1"/>
          </a:solidFill>
          <a:ln/>
        </p:spPr>
        <p:txBody>
          <a:bodyPr/>
          <a:lstStyle/>
          <a:p>
            <a:endParaRPr lang="it-IT" dirty="0"/>
          </a:p>
        </p:txBody>
      </p:sp>
      <p:pic>
        <p:nvPicPr>
          <p:cNvPr id="16" name="Image 2" descr="FiCode"/>
          <p:cNvPicPr>
            <a:picLocks noChangeAspect="1"/>
          </p:cNvPicPr>
          <p:nvPr/>
        </p:nvPicPr>
        <p:blipFill>
          <a:blip r:embed="rId5"/>
          <a:stretch>
            <a:fillRect/>
          </a:stretch>
        </p:blipFill>
        <p:spPr>
          <a:xfrm>
            <a:off x="6391656" y="1463040"/>
            <a:ext cx="274320" cy="274320"/>
          </a:xfrm>
          <a:prstGeom prst="rect">
            <a:avLst/>
          </a:prstGeom>
        </p:spPr>
      </p:pic>
      <p:sp>
        <p:nvSpPr>
          <p:cNvPr id="17" name="Text 11"/>
          <p:cNvSpPr txBox="1"/>
          <p:nvPr/>
        </p:nvSpPr>
        <p:spPr>
          <a:xfrm>
            <a:off x="6940296"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Codice</a:t>
            </a:r>
            <a:endParaRPr lang="it-IT" sz="1600" dirty="0"/>
          </a:p>
        </p:txBody>
      </p:sp>
      <p:sp>
        <p:nvSpPr>
          <p:cNvPr id="18" name="Text 12"/>
          <p:cNvSpPr txBox="1"/>
          <p:nvPr/>
        </p:nvSpPr>
        <p:spPr>
          <a:xfrm>
            <a:off x="6940296"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Programmi, formule, script, query</a:t>
            </a:r>
            <a:endParaRPr lang="it-IT" sz="1300" dirty="0"/>
          </a:p>
        </p:txBody>
      </p:sp>
      <p:sp>
        <p:nvSpPr>
          <p:cNvPr id="19" name="Audio e voce"/>
          <p:cNvSpPr/>
          <p:nvPr/>
        </p:nvSpPr>
        <p:spPr>
          <a:xfrm>
            <a:off x="457200" y="2697480"/>
            <a:ext cx="2615184" cy="1417320"/>
          </a:xfrm>
          <a:prstGeom prst="roundRect">
            <a:avLst>
              <a:gd name="adj" fmla="val 5161"/>
            </a:avLst>
          </a:prstGeom>
          <a:solidFill>
            <a:schemeClr val="bg2"/>
          </a:solidFill>
          <a:ln/>
        </p:spPr>
        <p:txBody>
          <a:bodyPr/>
          <a:lstStyle/>
          <a:p>
            <a:endParaRPr lang="it-IT" dirty="0"/>
          </a:p>
        </p:txBody>
      </p:sp>
      <p:sp>
        <p:nvSpPr>
          <p:cNvPr id="20" name="cerchio FiMic"/>
          <p:cNvSpPr/>
          <p:nvPr/>
        </p:nvSpPr>
        <p:spPr>
          <a:xfrm>
            <a:off x="640080" y="2926080"/>
            <a:ext cx="548640" cy="548640"/>
          </a:xfrm>
          <a:prstGeom prst="ellipse">
            <a:avLst/>
          </a:prstGeom>
          <a:solidFill>
            <a:schemeClr val="accent1"/>
          </a:solidFill>
          <a:ln/>
        </p:spPr>
        <p:txBody>
          <a:bodyPr/>
          <a:lstStyle/>
          <a:p>
            <a:endParaRPr lang="it-IT" dirty="0"/>
          </a:p>
        </p:txBody>
      </p:sp>
      <p:pic>
        <p:nvPicPr>
          <p:cNvPr id="21" name="Image 3" descr="FiMic"/>
          <p:cNvPicPr>
            <a:picLocks noChangeAspect="1"/>
          </p:cNvPicPr>
          <p:nvPr/>
        </p:nvPicPr>
        <p:blipFill>
          <a:blip r:embed="rId6"/>
          <a:stretch>
            <a:fillRect/>
          </a:stretch>
        </p:blipFill>
        <p:spPr>
          <a:xfrm>
            <a:off x="777240" y="3063240"/>
            <a:ext cx="274320" cy="274320"/>
          </a:xfrm>
          <a:prstGeom prst="rect">
            <a:avLst/>
          </a:prstGeom>
        </p:spPr>
      </p:pic>
      <p:sp>
        <p:nvSpPr>
          <p:cNvPr id="22" name="Text 15"/>
          <p:cNvSpPr txBox="1"/>
          <p:nvPr/>
        </p:nvSpPr>
        <p:spPr>
          <a:xfrm>
            <a:off x="1325880"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Audio e voce</a:t>
            </a:r>
            <a:endParaRPr lang="it-IT" sz="1600" dirty="0"/>
          </a:p>
        </p:txBody>
      </p:sp>
      <p:sp>
        <p:nvSpPr>
          <p:cNvPr id="23" name="Text 16"/>
          <p:cNvSpPr txBox="1"/>
          <p:nvPr/>
        </p:nvSpPr>
        <p:spPr>
          <a:xfrm>
            <a:off x="1325880"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Voce sintetica, trascrizioni</a:t>
            </a:r>
            <a:endParaRPr lang="it-IT" sz="1300" dirty="0"/>
          </a:p>
        </p:txBody>
      </p:sp>
      <p:sp>
        <p:nvSpPr>
          <p:cNvPr id="24" name="Video"/>
          <p:cNvSpPr/>
          <p:nvPr/>
        </p:nvSpPr>
        <p:spPr>
          <a:xfrm>
            <a:off x="3264408" y="2697480"/>
            <a:ext cx="2615184" cy="1417320"/>
          </a:xfrm>
          <a:prstGeom prst="roundRect">
            <a:avLst>
              <a:gd name="adj" fmla="val 5161"/>
            </a:avLst>
          </a:prstGeom>
          <a:solidFill>
            <a:schemeClr val="bg2"/>
          </a:solidFill>
          <a:ln/>
        </p:spPr>
        <p:txBody>
          <a:bodyPr/>
          <a:lstStyle/>
          <a:p>
            <a:endParaRPr lang="it-IT" dirty="0"/>
          </a:p>
        </p:txBody>
      </p:sp>
      <p:sp>
        <p:nvSpPr>
          <p:cNvPr id="25" name="cerchio FiFilm"/>
          <p:cNvSpPr/>
          <p:nvPr/>
        </p:nvSpPr>
        <p:spPr>
          <a:xfrm>
            <a:off x="3447288" y="2926080"/>
            <a:ext cx="548640" cy="548640"/>
          </a:xfrm>
          <a:prstGeom prst="ellipse">
            <a:avLst/>
          </a:prstGeom>
          <a:solidFill>
            <a:schemeClr val="accent1"/>
          </a:solidFill>
          <a:ln/>
        </p:spPr>
        <p:txBody>
          <a:bodyPr/>
          <a:lstStyle/>
          <a:p>
            <a:endParaRPr lang="it-IT" dirty="0"/>
          </a:p>
        </p:txBody>
      </p:sp>
      <p:pic>
        <p:nvPicPr>
          <p:cNvPr id="26" name="Image 4" descr="FiFilm"/>
          <p:cNvPicPr>
            <a:picLocks noChangeAspect="1"/>
          </p:cNvPicPr>
          <p:nvPr/>
        </p:nvPicPr>
        <p:blipFill>
          <a:blip r:embed="rId7"/>
          <a:stretch>
            <a:fillRect/>
          </a:stretch>
        </p:blipFill>
        <p:spPr>
          <a:xfrm>
            <a:off x="3584448" y="3063240"/>
            <a:ext cx="274320" cy="274320"/>
          </a:xfrm>
          <a:prstGeom prst="rect">
            <a:avLst/>
          </a:prstGeom>
        </p:spPr>
      </p:pic>
      <p:sp>
        <p:nvSpPr>
          <p:cNvPr id="27" name="Text 19"/>
          <p:cNvSpPr txBox="1"/>
          <p:nvPr/>
        </p:nvSpPr>
        <p:spPr>
          <a:xfrm>
            <a:off x="4133088"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Video</a:t>
            </a:r>
            <a:endParaRPr lang="it-IT" sz="1600" dirty="0"/>
          </a:p>
        </p:txBody>
      </p:sp>
      <p:sp>
        <p:nvSpPr>
          <p:cNvPr id="28" name="Text 20"/>
          <p:cNvSpPr txBox="1"/>
          <p:nvPr/>
        </p:nvSpPr>
        <p:spPr>
          <a:xfrm>
            <a:off x="4133088"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Clip e animazioni da testo o immagini</a:t>
            </a:r>
            <a:endParaRPr lang="it-IT" sz="1300" dirty="0"/>
          </a:p>
        </p:txBody>
      </p:sp>
      <p:sp>
        <p:nvSpPr>
          <p:cNvPr id="29" name="Dati e tabelle"/>
          <p:cNvSpPr/>
          <p:nvPr/>
        </p:nvSpPr>
        <p:spPr>
          <a:xfrm>
            <a:off x="6071616" y="2697480"/>
            <a:ext cx="2615184" cy="1417320"/>
          </a:xfrm>
          <a:prstGeom prst="roundRect">
            <a:avLst>
              <a:gd name="adj" fmla="val 5161"/>
            </a:avLst>
          </a:prstGeom>
          <a:solidFill>
            <a:schemeClr val="bg2"/>
          </a:solidFill>
          <a:ln/>
        </p:spPr>
        <p:txBody>
          <a:bodyPr/>
          <a:lstStyle/>
          <a:p>
            <a:endParaRPr lang="it-IT" dirty="0"/>
          </a:p>
        </p:txBody>
      </p:sp>
      <p:sp>
        <p:nvSpPr>
          <p:cNvPr id="34" name="Text 25"/>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dirty="0">
                <a:solidFill>
                  <a:schemeClr val="tx1"/>
                </a:solidFill>
              </a:rPr>
              <a:t>Molti sistemi sono multimodali: ricevono e producono più tipi di contenuto.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15</a:t>
            </a:fld>
            <a:endParaRPr lang="it-IT"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Dalla digitalizzazione all'Intelligenza Artificiale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Concetti collegati ma distinti, che possono coesistere nello stesso processo</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16</a:t>
            </a:fld>
            <a:endParaRPr lang="it-IT"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 esempio: la gestione delle richieste dei clienti</a:t>
            </a:r>
            <a:endParaRPr lang="it-IT" sz="2600" dirty="0"/>
          </a:p>
        </p:txBody>
      </p:sp>
      <p:sp>
        <p:nvSpPr>
          <p:cNvPr id="4" name="cerchio FiMail"/>
          <p:cNvSpPr/>
          <p:nvPr/>
        </p:nvSpPr>
        <p:spPr>
          <a:xfrm>
            <a:off x="457200" y="2057400"/>
            <a:ext cx="731520" cy="731520"/>
          </a:xfrm>
          <a:prstGeom prst="ellipse">
            <a:avLst/>
          </a:prstGeom>
          <a:solidFill>
            <a:schemeClr val="accent1"/>
          </a:solidFill>
          <a:ln/>
        </p:spPr>
        <p:txBody>
          <a:bodyPr/>
          <a:lstStyle/>
          <a:p>
            <a:endParaRPr lang="it-IT" dirty="0"/>
          </a:p>
        </p:txBody>
      </p:sp>
      <p:pic>
        <p:nvPicPr>
          <p:cNvPr id="5" name="Image 0" descr="FiMail"/>
          <p:cNvPicPr>
            <a:picLocks noChangeAspect="1"/>
          </p:cNvPicPr>
          <p:nvPr/>
        </p:nvPicPr>
        <p:blipFill>
          <a:blip r:embed="rId3"/>
          <a:stretch>
            <a:fillRect/>
          </a:stretch>
        </p:blipFill>
        <p:spPr>
          <a:xfrm>
            <a:off x="640080" y="2240280"/>
            <a:ext cx="365760" cy="365760"/>
          </a:xfrm>
          <a:prstGeom prst="rect">
            <a:avLst/>
          </a:prstGeom>
        </p:spPr>
      </p:pic>
      <p:sp>
        <p:nvSpPr>
          <p:cNvPr id="6" name="Text 2"/>
          <p:cNvSpPr txBox="1"/>
          <p:nvPr/>
        </p:nvSpPr>
        <p:spPr>
          <a:xfrm>
            <a:off x="182880" y="2834640"/>
            <a:ext cx="1280160" cy="457200"/>
          </a:xfrm>
          <a:prstGeom prst="rect">
            <a:avLst/>
          </a:prstGeom>
          <a:noFill/>
          <a:ln/>
        </p:spPr>
        <p:txBody>
          <a:bodyPr wrap="square" lIns="0" tIns="0" rIns="0" bIns="0" rtlCol="0" anchor="t"/>
          <a:lstStyle/>
          <a:p>
            <a:pPr marL="0" indent="0" algn="ctr">
              <a:buNone/>
            </a:pPr>
            <a:r>
              <a:rPr lang="it-IT" sz="1200" b="1" dirty="0">
                <a:solidFill>
                  <a:schemeClr val="tx1"/>
                </a:solidFill>
              </a:rPr>
              <a:t>Email del cliente</a:t>
            </a:r>
            <a:endParaRPr lang="it-IT" sz="1200" dirty="0"/>
          </a:p>
        </p:txBody>
      </p:sp>
      <p:sp>
        <p:nvSpPr>
          <p:cNvPr id="7" name="fase Digitalizzazione"/>
          <p:cNvSpPr/>
          <p:nvPr/>
        </p:nvSpPr>
        <p:spPr>
          <a:xfrm>
            <a:off x="1508760" y="1188720"/>
            <a:ext cx="1673352" cy="2651760"/>
          </a:xfrm>
          <a:prstGeom prst="roundRect">
            <a:avLst>
              <a:gd name="adj" fmla="val 4372"/>
            </a:avLst>
          </a:prstGeom>
          <a:solidFill>
            <a:schemeClr val="bg2"/>
          </a:solidFill>
          <a:ln/>
        </p:spPr>
        <p:txBody>
          <a:bodyPr/>
          <a:lstStyle/>
          <a:p>
            <a:endParaRPr lang="it-IT" dirty="0"/>
          </a:p>
        </p:txBody>
      </p:sp>
      <p:sp>
        <p:nvSpPr>
          <p:cNvPr id="8" name="Text 4"/>
          <p:cNvSpPr txBox="1"/>
          <p:nvPr/>
        </p:nvSpPr>
        <p:spPr>
          <a:xfrm>
            <a:off x="1645920"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1</a:t>
            </a:r>
            <a:endParaRPr lang="it-IT" sz="2200" dirty="0"/>
          </a:p>
        </p:txBody>
      </p:sp>
      <p:sp>
        <p:nvSpPr>
          <p:cNvPr id="9" name="Text 5"/>
          <p:cNvSpPr txBox="1"/>
          <p:nvPr/>
        </p:nvSpPr>
        <p:spPr>
          <a:xfrm>
            <a:off x="1645920"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Digitalizzazione</a:t>
            </a:r>
            <a:endParaRPr lang="it-IT" sz="1300" dirty="0"/>
          </a:p>
        </p:txBody>
      </p:sp>
      <p:sp>
        <p:nvSpPr>
          <p:cNvPr id="10" name="Text 6"/>
          <p:cNvSpPr txBox="1"/>
          <p:nvPr/>
        </p:nvSpPr>
        <p:spPr>
          <a:xfrm>
            <a:off x="1645920"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Le email arrivano in una casella condivisa e sono registrate nel CRM</a:t>
            </a:r>
            <a:endParaRPr lang="it-IT" sz="1200" dirty="0"/>
          </a:p>
        </p:txBody>
      </p:sp>
      <p:sp>
        <p:nvSpPr>
          <p:cNvPr id="11" name="fase Automazione a regole"/>
          <p:cNvSpPr/>
          <p:nvPr/>
        </p:nvSpPr>
        <p:spPr>
          <a:xfrm>
            <a:off x="3319272" y="1188720"/>
            <a:ext cx="1673352" cy="2651760"/>
          </a:xfrm>
          <a:prstGeom prst="roundRect">
            <a:avLst>
              <a:gd name="adj" fmla="val 4372"/>
            </a:avLst>
          </a:prstGeom>
          <a:solidFill>
            <a:schemeClr val="bg2"/>
          </a:solidFill>
          <a:ln/>
        </p:spPr>
        <p:txBody>
          <a:bodyPr/>
          <a:lstStyle/>
          <a:p>
            <a:endParaRPr lang="it-IT" dirty="0"/>
          </a:p>
        </p:txBody>
      </p:sp>
      <p:sp>
        <p:nvSpPr>
          <p:cNvPr id="12" name="Text 8"/>
          <p:cNvSpPr txBox="1"/>
          <p:nvPr/>
        </p:nvSpPr>
        <p:spPr>
          <a:xfrm>
            <a:off x="3456432"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2</a:t>
            </a:r>
            <a:endParaRPr lang="it-IT" sz="2200" dirty="0"/>
          </a:p>
        </p:txBody>
      </p:sp>
      <p:sp>
        <p:nvSpPr>
          <p:cNvPr id="13" name="Text 9"/>
          <p:cNvSpPr txBox="1"/>
          <p:nvPr/>
        </p:nvSpPr>
        <p:spPr>
          <a:xfrm>
            <a:off x="3456432"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Automazione a regole</a:t>
            </a:r>
            <a:endParaRPr lang="it-IT" sz="1300" dirty="0"/>
          </a:p>
        </p:txBody>
      </p:sp>
      <p:sp>
        <p:nvSpPr>
          <p:cNvPr id="14" name="Text 10"/>
          <p:cNvSpPr txBox="1"/>
          <p:nvPr/>
        </p:nvSpPr>
        <p:spPr>
          <a:xfrm>
            <a:off x="3456432"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Conferma di ricezione automatica e inoltro in base a regole fisse</a:t>
            </a:r>
            <a:endParaRPr lang="it-IT" sz="1200" dirty="0"/>
          </a:p>
        </p:txBody>
      </p:sp>
      <p:sp>
        <p:nvSpPr>
          <p:cNvPr id="15" name="fase Apprendimento dai dati"/>
          <p:cNvSpPr/>
          <p:nvPr/>
        </p:nvSpPr>
        <p:spPr>
          <a:xfrm>
            <a:off x="5129784" y="1188720"/>
            <a:ext cx="1673352" cy="2651760"/>
          </a:xfrm>
          <a:prstGeom prst="roundRect">
            <a:avLst>
              <a:gd name="adj" fmla="val 4372"/>
            </a:avLst>
          </a:prstGeom>
          <a:solidFill>
            <a:schemeClr val="bg2"/>
          </a:solidFill>
          <a:ln/>
        </p:spPr>
        <p:txBody>
          <a:bodyPr/>
          <a:lstStyle/>
          <a:p>
            <a:endParaRPr lang="it-IT" dirty="0"/>
          </a:p>
        </p:txBody>
      </p:sp>
      <p:sp>
        <p:nvSpPr>
          <p:cNvPr id="16" name="Text 12"/>
          <p:cNvSpPr txBox="1"/>
          <p:nvPr/>
        </p:nvSpPr>
        <p:spPr>
          <a:xfrm>
            <a:off x="5266944"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3</a:t>
            </a:r>
            <a:endParaRPr lang="it-IT" sz="2200" dirty="0"/>
          </a:p>
        </p:txBody>
      </p:sp>
      <p:sp>
        <p:nvSpPr>
          <p:cNvPr id="17" name="Text 13"/>
          <p:cNvSpPr txBox="1"/>
          <p:nvPr/>
        </p:nvSpPr>
        <p:spPr>
          <a:xfrm>
            <a:off x="5266944"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Apprendimento dai dati</a:t>
            </a:r>
            <a:endParaRPr lang="it-IT" sz="1300" dirty="0"/>
          </a:p>
        </p:txBody>
      </p:sp>
      <p:sp>
        <p:nvSpPr>
          <p:cNvPr id="18" name="Text 14"/>
          <p:cNvSpPr txBox="1"/>
          <p:nvPr/>
        </p:nvSpPr>
        <p:spPr>
          <a:xfrm>
            <a:off x="5266944"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Un modello classifica ogni richiesta per categoria e urgenza</a:t>
            </a:r>
            <a:endParaRPr lang="it-IT" sz="1200" dirty="0"/>
          </a:p>
        </p:txBody>
      </p:sp>
      <p:sp>
        <p:nvSpPr>
          <p:cNvPr id="19" name="fase AI generativa"/>
          <p:cNvSpPr/>
          <p:nvPr/>
        </p:nvSpPr>
        <p:spPr>
          <a:xfrm>
            <a:off x="6940296" y="1188720"/>
            <a:ext cx="1673352" cy="2651760"/>
          </a:xfrm>
          <a:prstGeom prst="roundRect">
            <a:avLst>
              <a:gd name="adj" fmla="val 4372"/>
            </a:avLst>
          </a:prstGeom>
          <a:solidFill>
            <a:schemeClr val="accent6"/>
          </a:solidFill>
          <a:ln/>
        </p:spPr>
        <p:txBody>
          <a:bodyPr/>
          <a:lstStyle/>
          <a:p>
            <a:endParaRPr lang="it-IT" dirty="0"/>
          </a:p>
        </p:txBody>
      </p:sp>
      <p:sp>
        <p:nvSpPr>
          <p:cNvPr id="20" name="Text 16"/>
          <p:cNvSpPr txBox="1"/>
          <p:nvPr/>
        </p:nvSpPr>
        <p:spPr>
          <a:xfrm>
            <a:off x="7077456"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4</a:t>
            </a:r>
            <a:endParaRPr lang="it-IT" sz="2200" dirty="0"/>
          </a:p>
        </p:txBody>
      </p:sp>
      <p:sp>
        <p:nvSpPr>
          <p:cNvPr id="21" name="Text 17"/>
          <p:cNvSpPr txBox="1"/>
          <p:nvPr/>
        </p:nvSpPr>
        <p:spPr>
          <a:xfrm>
            <a:off x="7077456"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AI generativa</a:t>
            </a:r>
            <a:endParaRPr lang="it-IT" sz="1300" dirty="0"/>
          </a:p>
        </p:txBody>
      </p:sp>
      <p:sp>
        <p:nvSpPr>
          <p:cNvPr id="22" name="Text 18"/>
          <p:cNvSpPr txBox="1"/>
          <p:nvPr/>
        </p:nvSpPr>
        <p:spPr>
          <a:xfrm>
            <a:off x="7077456"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Sintesi della richiesta e bozza di risposta</a:t>
            </a:r>
            <a:endParaRPr lang="it-IT" sz="1200" dirty="0"/>
          </a:p>
        </p:txBody>
      </p:sp>
      <p:sp>
        <p:nvSpPr>
          <p:cNvPr id="23" name="operatore"/>
          <p:cNvSpPr/>
          <p:nvPr/>
        </p:nvSpPr>
        <p:spPr>
          <a:xfrm>
            <a:off x="1508760" y="3977640"/>
            <a:ext cx="7178040" cy="548640"/>
          </a:xfrm>
          <a:prstGeom prst="roundRect">
            <a:avLst>
              <a:gd name="adj" fmla="val 13333"/>
            </a:avLst>
          </a:prstGeom>
          <a:solidFill>
            <a:schemeClr val="tx1"/>
          </a:solidFill>
          <a:ln/>
        </p:spPr>
        <p:txBody>
          <a:bodyPr/>
          <a:lstStyle/>
          <a:p>
            <a:endParaRPr lang="it-IT" dirty="0"/>
          </a:p>
        </p:txBody>
      </p:sp>
      <p:sp>
        <p:nvSpPr>
          <p:cNvPr id="24" name="cerchio FiUserCheck"/>
          <p:cNvSpPr/>
          <p:nvPr/>
        </p:nvSpPr>
        <p:spPr>
          <a:xfrm>
            <a:off x="1645920" y="4041648"/>
            <a:ext cx="420624" cy="420624"/>
          </a:xfrm>
          <a:prstGeom prst="ellipse">
            <a:avLst/>
          </a:prstGeom>
          <a:solidFill>
            <a:schemeClr val="accent1"/>
          </a:solidFill>
          <a:ln/>
        </p:spPr>
        <p:txBody>
          <a:bodyPr/>
          <a:lstStyle/>
          <a:p>
            <a:endParaRPr lang="it-IT" dirty="0"/>
          </a:p>
        </p:txBody>
      </p:sp>
      <p:pic>
        <p:nvPicPr>
          <p:cNvPr id="25" name="Image 1" descr="FiUserCheck"/>
          <p:cNvPicPr>
            <a:picLocks noChangeAspect="1"/>
          </p:cNvPicPr>
          <p:nvPr/>
        </p:nvPicPr>
        <p:blipFill>
          <a:blip r:embed="rId4"/>
          <a:stretch>
            <a:fillRect/>
          </a:stretch>
        </p:blipFill>
        <p:spPr>
          <a:xfrm>
            <a:off x="1751076" y="4146804"/>
            <a:ext cx="210312" cy="210312"/>
          </a:xfrm>
          <a:prstGeom prst="rect">
            <a:avLst/>
          </a:prstGeom>
        </p:spPr>
      </p:pic>
      <p:sp>
        <p:nvSpPr>
          <p:cNvPr id="26" name="Text 21"/>
          <p:cNvSpPr txBox="1"/>
          <p:nvPr/>
        </p:nvSpPr>
        <p:spPr>
          <a:xfrm>
            <a:off x="2240280" y="3977640"/>
            <a:ext cx="6309360" cy="548640"/>
          </a:xfrm>
          <a:prstGeom prst="rect">
            <a:avLst/>
          </a:prstGeom>
          <a:noFill/>
          <a:ln/>
        </p:spPr>
        <p:txBody>
          <a:bodyPr wrap="square" lIns="0" tIns="0" rIns="0" bIns="0" rtlCol="0" anchor="ctr"/>
          <a:lstStyle/>
          <a:p>
            <a:pPr marL="0" indent="0">
              <a:buNone/>
            </a:pPr>
            <a:r>
              <a:rPr lang="it-IT" sz="1400" dirty="0">
                <a:solidFill>
                  <a:schemeClr val="bg1"/>
                </a:solidFill>
              </a:rPr>
              <a:t>L'operatore verifica, modifica e invia la risposta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17</a:t>
            </a:fld>
            <a:endParaRPr lang="it-IT"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Sistema deterministico e sistemi probabilistici</a:t>
            </a:r>
            <a:endParaRPr lang="it-IT" sz="2600" dirty="0"/>
          </a:p>
        </p:txBody>
      </p:sp>
      <p:graphicFrame>
        <p:nvGraphicFramePr>
          <p:cNvPr id="34" name="Table 0"/>
          <p:cNvGraphicFramePr>
            <a:graphicFrameLocks noGrp="1"/>
          </p:cNvGraphicFramePr>
          <p:nvPr/>
        </p:nvGraphicFramePr>
        <p:xfrm>
          <a:off x="457200" y="1097280"/>
          <a:ext cx="8229600" cy="3072384"/>
        </p:xfrm>
        <a:graphic>
          <a:graphicData uri="http://schemas.openxmlformats.org/drawingml/2006/table">
            <a:tbl>
              <a:tblPr/>
              <a:tblGrid>
                <a:gridCol w="14630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12064">
                <a:tc>
                  <a:txBody>
                    <a:bodyPr/>
                    <a:lstStyle/>
                    <a:p>
                      <a:pPr marL="0" indent="0">
                        <a:buNone/>
                      </a:pP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Sistema deterministico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Sistema probabilistico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dirty="0">
                          <a:solidFill>
                            <a:schemeClr val="tx1"/>
                          </a:solidFill>
                        </a:rPr>
                        <a:t>Logica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Istruzioni scritte da persone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Regolarità apprese dai dati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dirty="0">
                          <a:solidFill>
                            <a:schemeClr val="tx1"/>
                          </a:solidFill>
                        </a:rPr>
                        <a:t>Stesso input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Sempre lo stesso output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Output anche diversi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dirty="0">
                          <a:solidFill>
                            <a:schemeClr val="tx1"/>
                          </a:solidFill>
                        </a:rPr>
                        <a:t>Errori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Difetti del programma, correggibili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Risultati plausibili ma non sempre corretti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dirty="0">
                          <a:solidFill>
                            <a:schemeClr val="tx1"/>
                          </a:solidFill>
                        </a:rPr>
                        <a:t>Verifica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Collaudo del programma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Verifica proporzionata all'importanza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dirty="0">
                          <a:solidFill>
                            <a:schemeClr val="tx1"/>
                          </a:solidFill>
                        </a:rPr>
                        <a:t>Esempi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Calcolo IVA, gestionale, foglio di calcolo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Classificazione email, assistente che scrive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18</a:t>
            </a:fld>
            <a:endParaRPr lang="it-IT"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Rilevanza dell'AI per le aziende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Una tecnologia abilitante e trasversale: il valore nasce da applicazioni appropriate a problemi reali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19</a:t>
            </a:fld>
            <a:endParaRPr lang="it-IT"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Un'applicazione trasversale alle funzioni aziendali</a:t>
            </a:r>
            <a:endParaRPr lang="it-IT" sz="2600" dirty="0"/>
          </a:p>
        </p:txBody>
      </p:sp>
      <p:sp>
        <p:nvSpPr>
          <p:cNvPr id="4" name="Marketing"/>
          <p:cNvSpPr/>
          <p:nvPr/>
        </p:nvSpPr>
        <p:spPr>
          <a:xfrm>
            <a:off x="457200" y="1097280"/>
            <a:ext cx="1965960" cy="1463040"/>
          </a:xfrm>
          <a:prstGeom prst="roundRect">
            <a:avLst>
              <a:gd name="adj" fmla="val 5000"/>
            </a:avLst>
          </a:prstGeom>
          <a:solidFill>
            <a:schemeClr val="bg2"/>
          </a:solidFill>
          <a:ln/>
        </p:spPr>
        <p:txBody>
          <a:bodyPr/>
          <a:lstStyle/>
          <a:p>
            <a:endParaRPr lang="it-IT" dirty="0"/>
          </a:p>
        </p:txBody>
      </p:sp>
      <p:sp>
        <p:nvSpPr>
          <p:cNvPr id="5" name="cerchio FiSpeaker"/>
          <p:cNvSpPr/>
          <p:nvPr/>
        </p:nvSpPr>
        <p:spPr>
          <a:xfrm>
            <a:off x="621792" y="1261872"/>
            <a:ext cx="457200" cy="457200"/>
          </a:xfrm>
          <a:prstGeom prst="ellipse">
            <a:avLst/>
          </a:prstGeom>
          <a:solidFill>
            <a:schemeClr val="accent1"/>
          </a:solidFill>
          <a:ln/>
        </p:spPr>
        <p:txBody>
          <a:bodyPr/>
          <a:lstStyle/>
          <a:p>
            <a:endParaRPr lang="it-IT" dirty="0"/>
          </a:p>
        </p:txBody>
      </p:sp>
      <p:pic>
        <p:nvPicPr>
          <p:cNvPr id="6" name="Image 0" descr="FiSpeaker"/>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Marketing</a:t>
            </a:r>
            <a:endParaRPr lang="it-IT" sz="1300" dirty="0"/>
          </a:p>
        </p:txBody>
      </p:sp>
      <p:sp>
        <p:nvSpPr>
          <p:cNvPr id="8" name="Text 4"/>
          <p:cNvSpPr txBox="1"/>
          <p:nvPr/>
        </p:nvSpPr>
        <p:spPr>
          <a:xfrm>
            <a:off x="62179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Contenuti e analisi</a:t>
            </a:r>
            <a:endParaRPr lang="it-IT" sz="1200" dirty="0"/>
          </a:p>
        </p:txBody>
      </p:sp>
      <p:sp>
        <p:nvSpPr>
          <p:cNvPr id="9" name="Vendite"/>
          <p:cNvSpPr/>
          <p:nvPr/>
        </p:nvSpPr>
        <p:spPr>
          <a:xfrm>
            <a:off x="2560320" y="1097280"/>
            <a:ext cx="1965960" cy="1463040"/>
          </a:xfrm>
          <a:prstGeom prst="roundRect">
            <a:avLst>
              <a:gd name="adj" fmla="val 5000"/>
            </a:avLst>
          </a:prstGeom>
          <a:solidFill>
            <a:schemeClr val="bg2"/>
          </a:solidFill>
          <a:ln/>
        </p:spPr>
        <p:txBody>
          <a:bodyPr/>
          <a:lstStyle/>
          <a:p>
            <a:endParaRPr lang="it-IT" dirty="0"/>
          </a:p>
        </p:txBody>
      </p:sp>
      <p:sp>
        <p:nvSpPr>
          <p:cNvPr id="10" name="cerchio FiTrendingUp"/>
          <p:cNvSpPr/>
          <p:nvPr/>
        </p:nvSpPr>
        <p:spPr>
          <a:xfrm>
            <a:off x="2724912" y="1261872"/>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2839212" y="1376172"/>
            <a:ext cx="228600" cy="228600"/>
          </a:xfrm>
          <a:prstGeom prst="rect">
            <a:avLst/>
          </a:prstGeom>
        </p:spPr>
      </p:pic>
      <p:sp>
        <p:nvSpPr>
          <p:cNvPr id="12" name="Text 7"/>
          <p:cNvSpPr txBox="1"/>
          <p:nvPr/>
        </p:nvSpPr>
        <p:spPr>
          <a:xfrm>
            <a:off x="272491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Vendite</a:t>
            </a:r>
            <a:endParaRPr lang="it-IT" sz="1300" dirty="0"/>
          </a:p>
        </p:txBody>
      </p:sp>
      <p:sp>
        <p:nvSpPr>
          <p:cNvPr id="13" name="Text 8"/>
          <p:cNvSpPr txBox="1"/>
          <p:nvPr/>
        </p:nvSpPr>
        <p:spPr>
          <a:xfrm>
            <a:off x="272491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Incontri e offerte</a:t>
            </a:r>
            <a:endParaRPr lang="it-IT" sz="1200" dirty="0"/>
          </a:p>
        </p:txBody>
      </p:sp>
      <p:sp>
        <p:nvSpPr>
          <p:cNvPr id="14" name="Assistenza clienti"/>
          <p:cNvSpPr/>
          <p:nvPr/>
        </p:nvSpPr>
        <p:spPr>
          <a:xfrm>
            <a:off x="4663440" y="1097280"/>
            <a:ext cx="1965960" cy="1463040"/>
          </a:xfrm>
          <a:prstGeom prst="roundRect">
            <a:avLst>
              <a:gd name="adj" fmla="val 5000"/>
            </a:avLst>
          </a:prstGeom>
          <a:solidFill>
            <a:schemeClr val="bg2"/>
          </a:solidFill>
          <a:ln/>
        </p:spPr>
        <p:txBody>
          <a:bodyPr/>
          <a:lstStyle/>
          <a:p>
            <a:endParaRPr lang="it-IT" dirty="0"/>
          </a:p>
        </p:txBody>
      </p:sp>
      <p:sp>
        <p:nvSpPr>
          <p:cNvPr id="15" name="cerchio FiHeadphones"/>
          <p:cNvSpPr/>
          <p:nvPr/>
        </p:nvSpPr>
        <p:spPr>
          <a:xfrm>
            <a:off x="4828032" y="1261872"/>
            <a:ext cx="457200" cy="457200"/>
          </a:xfrm>
          <a:prstGeom prst="ellipse">
            <a:avLst/>
          </a:prstGeom>
          <a:solidFill>
            <a:schemeClr val="accent1"/>
          </a:solidFill>
          <a:ln/>
        </p:spPr>
        <p:txBody>
          <a:bodyPr/>
          <a:lstStyle/>
          <a:p>
            <a:endParaRPr lang="it-IT" dirty="0"/>
          </a:p>
        </p:txBody>
      </p:sp>
      <p:pic>
        <p:nvPicPr>
          <p:cNvPr id="16" name="Image 2" descr="FiHeadphones"/>
          <p:cNvPicPr>
            <a:picLocks noChangeAspect="1"/>
          </p:cNvPicPr>
          <p:nvPr/>
        </p:nvPicPr>
        <p:blipFill>
          <a:blip r:embed="rId5"/>
          <a:stretch>
            <a:fillRect/>
          </a:stretch>
        </p:blipFill>
        <p:spPr>
          <a:xfrm>
            <a:off x="4942332" y="1376172"/>
            <a:ext cx="228600" cy="228600"/>
          </a:xfrm>
          <a:prstGeom prst="rect">
            <a:avLst/>
          </a:prstGeom>
        </p:spPr>
      </p:pic>
      <p:sp>
        <p:nvSpPr>
          <p:cNvPr id="17" name="Text 11"/>
          <p:cNvSpPr txBox="1"/>
          <p:nvPr/>
        </p:nvSpPr>
        <p:spPr>
          <a:xfrm>
            <a:off x="482803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Assistenza clienti</a:t>
            </a:r>
            <a:endParaRPr lang="it-IT" sz="1300" dirty="0"/>
          </a:p>
        </p:txBody>
      </p:sp>
      <p:sp>
        <p:nvSpPr>
          <p:cNvPr id="18" name="Text 12"/>
          <p:cNvSpPr txBox="1"/>
          <p:nvPr/>
        </p:nvSpPr>
        <p:spPr>
          <a:xfrm>
            <a:off x="482803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Smistamento e risposte</a:t>
            </a:r>
            <a:endParaRPr lang="it-IT" sz="1200" dirty="0"/>
          </a:p>
        </p:txBody>
      </p:sp>
      <p:sp>
        <p:nvSpPr>
          <p:cNvPr id="19" name="Risorse umane"/>
          <p:cNvSpPr/>
          <p:nvPr/>
        </p:nvSpPr>
        <p:spPr>
          <a:xfrm>
            <a:off x="6766560" y="1097280"/>
            <a:ext cx="1965960" cy="1463040"/>
          </a:xfrm>
          <a:prstGeom prst="roundRect">
            <a:avLst>
              <a:gd name="adj" fmla="val 5000"/>
            </a:avLst>
          </a:prstGeom>
          <a:solidFill>
            <a:schemeClr val="bg2"/>
          </a:solidFill>
          <a:ln/>
        </p:spPr>
        <p:txBody>
          <a:bodyPr/>
          <a:lstStyle/>
          <a:p>
            <a:endParaRPr lang="it-IT" dirty="0"/>
          </a:p>
        </p:txBody>
      </p:sp>
      <p:sp>
        <p:nvSpPr>
          <p:cNvPr id="20" name="cerchio FiUsers"/>
          <p:cNvSpPr/>
          <p:nvPr/>
        </p:nvSpPr>
        <p:spPr>
          <a:xfrm>
            <a:off x="6931152" y="1261872"/>
            <a:ext cx="457200" cy="457200"/>
          </a:xfrm>
          <a:prstGeom prst="ellipse">
            <a:avLst/>
          </a:prstGeom>
          <a:solidFill>
            <a:schemeClr val="accent1"/>
          </a:solidFill>
          <a:ln/>
        </p:spPr>
        <p:txBody>
          <a:bodyPr/>
          <a:lstStyle/>
          <a:p>
            <a:endParaRPr lang="it-IT" dirty="0"/>
          </a:p>
        </p:txBody>
      </p:sp>
      <p:pic>
        <p:nvPicPr>
          <p:cNvPr id="21" name="Image 3" descr="FiUsers"/>
          <p:cNvPicPr>
            <a:picLocks noChangeAspect="1"/>
          </p:cNvPicPr>
          <p:nvPr/>
        </p:nvPicPr>
        <p:blipFill>
          <a:blip r:embed="rId6"/>
          <a:stretch>
            <a:fillRect/>
          </a:stretch>
        </p:blipFill>
        <p:spPr>
          <a:xfrm>
            <a:off x="7045452" y="1376172"/>
            <a:ext cx="228600" cy="228600"/>
          </a:xfrm>
          <a:prstGeom prst="rect">
            <a:avLst/>
          </a:prstGeom>
        </p:spPr>
      </p:pic>
      <p:sp>
        <p:nvSpPr>
          <p:cNvPr id="22" name="Text 15"/>
          <p:cNvSpPr txBox="1"/>
          <p:nvPr/>
        </p:nvSpPr>
        <p:spPr>
          <a:xfrm>
            <a:off x="693115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Risorse umane</a:t>
            </a:r>
            <a:endParaRPr lang="it-IT" sz="1300" dirty="0"/>
          </a:p>
        </p:txBody>
      </p:sp>
      <p:sp>
        <p:nvSpPr>
          <p:cNvPr id="23" name="Text 16"/>
          <p:cNvSpPr txBox="1"/>
          <p:nvPr/>
        </p:nvSpPr>
        <p:spPr>
          <a:xfrm>
            <a:off x="693115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Annunci, formazione</a:t>
            </a:r>
            <a:endParaRPr lang="it-IT" sz="1200" dirty="0"/>
          </a:p>
        </p:txBody>
      </p:sp>
      <p:sp>
        <p:nvSpPr>
          <p:cNvPr id="24" name="Amministrazione"/>
          <p:cNvSpPr/>
          <p:nvPr/>
        </p:nvSpPr>
        <p:spPr>
          <a:xfrm>
            <a:off x="457200" y="2697480"/>
            <a:ext cx="1965960" cy="1463040"/>
          </a:xfrm>
          <a:prstGeom prst="roundRect">
            <a:avLst>
              <a:gd name="adj" fmla="val 5000"/>
            </a:avLst>
          </a:prstGeom>
          <a:solidFill>
            <a:schemeClr val="bg2"/>
          </a:solidFill>
          <a:ln/>
        </p:spPr>
        <p:txBody>
          <a:bodyPr/>
          <a:lstStyle/>
          <a:p>
            <a:endParaRPr lang="it-IT" dirty="0"/>
          </a:p>
        </p:txBody>
      </p:sp>
      <p:sp>
        <p:nvSpPr>
          <p:cNvPr id="25" name="cerchio FiDollarSign"/>
          <p:cNvSpPr/>
          <p:nvPr/>
        </p:nvSpPr>
        <p:spPr>
          <a:xfrm>
            <a:off x="621792" y="2862072"/>
            <a:ext cx="457200" cy="457200"/>
          </a:xfrm>
          <a:prstGeom prst="ellipse">
            <a:avLst/>
          </a:prstGeom>
          <a:solidFill>
            <a:schemeClr val="accent1"/>
          </a:solidFill>
          <a:ln/>
        </p:spPr>
        <p:txBody>
          <a:bodyPr/>
          <a:lstStyle/>
          <a:p>
            <a:endParaRPr lang="it-IT" dirty="0"/>
          </a:p>
        </p:txBody>
      </p:sp>
      <p:pic>
        <p:nvPicPr>
          <p:cNvPr id="26" name="Image 4" descr="FiDollarSign"/>
          <p:cNvPicPr>
            <a:picLocks noChangeAspect="1"/>
          </p:cNvPicPr>
          <p:nvPr/>
        </p:nvPicPr>
        <p:blipFill>
          <a:blip r:embed="rId7"/>
          <a:stretch>
            <a:fillRect/>
          </a:stretch>
        </p:blipFill>
        <p:spPr>
          <a:xfrm>
            <a:off x="736092" y="2976372"/>
            <a:ext cx="228600" cy="228600"/>
          </a:xfrm>
          <a:prstGeom prst="rect">
            <a:avLst/>
          </a:prstGeom>
        </p:spPr>
      </p:pic>
      <p:sp>
        <p:nvSpPr>
          <p:cNvPr id="27" name="Text 19"/>
          <p:cNvSpPr txBox="1"/>
          <p:nvPr/>
        </p:nvSpPr>
        <p:spPr>
          <a:xfrm>
            <a:off x="62179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Amministrazione</a:t>
            </a:r>
            <a:endParaRPr lang="it-IT" sz="1300" dirty="0"/>
          </a:p>
        </p:txBody>
      </p:sp>
      <p:sp>
        <p:nvSpPr>
          <p:cNvPr id="28" name="Text 20"/>
          <p:cNvSpPr txBox="1"/>
          <p:nvPr/>
        </p:nvSpPr>
        <p:spPr>
          <a:xfrm>
            <a:off x="62179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Elaborazione documenti</a:t>
            </a:r>
            <a:endParaRPr lang="it-IT" sz="1200" dirty="0"/>
          </a:p>
        </p:txBody>
      </p:sp>
      <p:sp>
        <p:nvSpPr>
          <p:cNvPr id="29" name="Produzione"/>
          <p:cNvSpPr/>
          <p:nvPr/>
        </p:nvSpPr>
        <p:spPr>
          <a:xfrm>
            <a:off x="2560320" y="2697480"/>
            <a:ext cx="1965960" cy="1463040"/>
          </a:xfrm>
          <a:prstGeom prst="roundRect">
            <a:avLst>
              <a:gd name="adj" fmla="val 5000"/>
            </a:avLst>
          </a:prstGeom>
          <a:solidFill>
            <a:schemeClr val="bg2"/>
          </a:solidFill>
          <a:ln/>
        </p:spPr>
        <p:txBody>
          <a:bodyPr/>
          <a:lstStyle/>
          <a:p>
            <a:endParaRPr lang="it-IT" dirty="0"/>
          </a:p>
        </p:txBody>
      </p:sp>
      <p:sp>
        <p:nvSpPr>
          <p:cNvPr id="30" name="cerchio FiTool"/>
          <p:cNvSpPr/>
          <p:nvPr/>
        </p:nvSpPr>
        <p:spPr>
          <a:xfrm>
            <a:off x="2724912" y="2862072"/>
            <a:ext cx="457200" cy="457200"/>
          </a:xfrm>
          <a:prstGeom prst="ellipse">
            <a:avLst/>
          </a:prstGeom>
          <a:solidFill>
            <a:schemeClr val="accent1"/>
          </a:solidFill>
          <a:ln/>
        </p:spPr>
        <p:txBody>
          <a:bodyPr/>
          <a:lstStyle/>
          <a:p>
            <a:endParaRPr lang="it-IT" dirty="0"/>
          </a:p>
        </p:txBody>
      </p:sp>
      <p:pic>
        <p:nvPicPr>
          <p:cNvPr id="31" name="Image 5" descr="FiTool"/>
          <p:cNvPicPr>
            <a:picLocks noChangeAspect="1"/>
          </p:cNvPicPr>
          <p:nvPr/>
        </p:nvPicPr>
        <p:blipFill>
          <a:blip r:embed="rId8"/>
          <a:stretch>
            <a:fillRect/>
          </a:stretch>
        </p:blipFill>
        <p:spPr>
          <a:xfrm>
            <a:off x="2839212" y="2976372"/>
            <a:ext cx="228600" cy="228600"/>
          </a:xfrm>
          <a:prstGeom prst="rect">
            <a:avLst/>
          </a:prstGeom>
        </p:spPr>
      </p:pic>
      <p:sp>
        <p:nvSpPr>
          <p:cNvPr id="32" name="Text 23"/>
          <p:cNvSpPr txBox="1"/>
          <p:nvPr/>
        </p:nvSpPr>
        <p:spPr>
          <a:xfrm>
            <a:off x="272491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Produzione</a:t>
            </a:r>
            <a:endParaRPr lang="it-IT" sz="1300" dirty="0"/>
          </a:p>
        </p:txBody>
      </p:sp>
      <p:sp>
        <p:nvSpPr>
          <p:cNvPr id="33" name="Text 24"/>
          <p:cNvSpPr txBox="1"/>
          <p:nvPr/>
        </p:nvSpPr>
        <p:spPr>
          <a:xfrm>
            <a:off x="272491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Manutenzione, qualità</a:t>
            </a:r>
            <a:endParaRPr lang="it-IT" sz="1200" dirty="0"/>
          </a:p>
        </p:txBody>
      </p:sp>
      <p:sp>
        <p:nvSpPr>
          <p:cNvPr id="34" name="IT"/>
          <p:cNvSpPr/>
          <p:nvPr/>
        </p:nvSpPr>
        <p:spPr>
          <a:xfrm>
            <a:off x="4663440" y="2697480"/>
            <a:ext cx="1965960" cy="1463040"/>
          </a:xfrm>
          <a:prstGeom prst="roundRect">
            <a:avLst>
              <a:gd name="adj" fmla="val 5000"/>
            </a:avLst>
          </a:prstGeom>
          <a:solidFill>
            <a:schemeClr val="bg2"/>
          </a:solidFill>
          <a:ln/>
        </p:spPr>
        <p:txBody>
          <a:bodyPr/>
          <a:lstStyle/>
          <a:p>
            <a:endParaRPr lang="it-IT" dirty="0"/>
          </a:p>
        </p:txBody>
      </p:sp>
      <p:sp>
        <p:nvSpPr>
          <p:cNvPr id="35" name="cerchio FiCode"/>
          <p:cNvSpPr/>
          <p:nvPr/>
        </p:nvSpPr>
        <p:spPr>
          <a:xfrm>
            <a:off x="4828032" y="2862072"/>
            <a:ext cx="457200" cy="457200"/>
          </a:xfrm>
          <a:prstGeom prst="ellipse">
            <a:avLst/>
          </a:prstGeom>
          <a:solidFill>
            <a:schemeClr val="accent1"/>
          </a:solidFill>
          <a:ln/>
        </p:spPr>
        <p:txBody>
          <a:bodyPr/>
          <a:lstStyle/>
          <a:p>
            <a:endParaRPr lang="it-IT" dirty="0"/>
          </a:p>
        </p:txBody>
      </p:sp>
      <p:pic>
        <p:nvPicPr>
          <p:cNvPr id="36" name="Image 6" descr="FiCode"/>
          <p:cNvPicPr>
            <a:picLocks noChangeAspect="1"/>
          </p:cNvPicPr>
          <p:nvPr/>
        </p:nvPicPr>
        <p:blipFill>
          <a:blip r:embed="rId9"/>
          <a:stretch>
            <a:fillRect/>
          </a:stretch>
        </p:blipFill>
        <p:spPr>
          <a:xfrm>
            <a:off x="4942332" y="2976372"/>
            <a:ext cx="228600" cy="228600"/>
          </a:xfrm>
          <a:prstGeom prst="rect">
            <a:avLst/>
          </a:prstGeom>
        </p:spPr>
      </p:pic>
      <p:sp>
        <p:nvSpPr>
          <p:cNvPr id="37" name="Text 27"/>
          <p:cNvSpPr txBox="1"/>
          <p:nvPr/>
        </p:nvSpPr>
        <p:spPr>
          <a:xfrm>
            <a:off x="482803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IT</a:t>
            </a:r>
            <a:endParaRPr lang="it-IT" sz="1300" dirty="0"/>
          </a:p>
        </p:txBody>
      </p:sp>
      <p:sp>
        <p:nvSpPr>
          <p:cNvPr id="38" name="Text 28"/>
          <p:cNvSpPr txBox="1"/>
          <p:nvPr/>
        </p:nvSpPr>
        <p:spPr>
          <a:xfrm>
            <a:off x="482803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Sviluppo e supporto</a:t>
            </a:r>
            <a:endParaRPr lang="it-IT" sz="1200" dirty="0"/>
          </a:p>
        </p:txBody>
      </p:sp>
      <p:sp>
        <p:nvSpPr>
          <p:cNvPr id="39" name="Legale e compliance"/>
          <p:cNvSpPr/>
          <p:nvPr/>
        </p:nvSpPr>
        <p:spPr>
          <a:xfrm>
            <a:off x="6766560" y="2697480"/>
            <a:ext cx="1965960" cy="1463040"/>
          </a:xfrm>
          <a:prstGeom prst="roundRect">
            <a:avLst>
              <a:gd name="adj" fmla="val 5000"/>
            </a:avLst>
          </a:prstGeom>
          <a:solidFill>
            <a:schemeClr val="bg2"/>
          </a:solidFill>
          <a:ln/>
        </p:spPr>
        <p:txBody>
          <a:bodyPr/>
          <a:lstStyle/>
          <a:p>
            <a:endParaRPr lang="it-IT" dirty="0"/>
          </a:p>
        </p:txBody>
      </p:sp>
      <p:sp>
        <p:nvSpPr>
          <p:cNvPr id="40" name="cerchio FiShield"/>
          <p:cNvSpPr/>
          <p:nvPr/>
        </p:nvSpPr>
        <p:spPr>
          <a:xfrm>
            <a:off x="6931152" y="2862072"/>
            <a:ext cx="457200" cy="457200"/>
          </a:xfrm>
          <a:prstGeom prst="ellipse">
            <a:avLst/>
          </a:prstGeom>
          <a:solidFill>
            <a:schemeClr val="accent1"/>
          </a:solidFill>
          <a:ln/>
        </p:spPr>
        <p:txBody>
          <a:bodyPr/>
          <a:lstStyle/>
          <a:p>
            <a:endParaRPr lang="it-IT" dirty="0"/>
          </a:p>
        </p:txBody>
      </p:sp>
      <p:pic>
        <p:nvPicPr>
          <p:cNvPr id="41" name="Image 7" descr="FiShield"/>
          <p:cNvPicPr>
            <a:picLocks noChangeAspect="1"/>
          </p:cNvPicPr>
          <p:nvPr/>
        </p:nvPicPr>
        <p:blipFill>
          <a:blip r:embed="rId10"/>
          <a:stretch>
            <a:fillRect/>
          </a:stretch>
        </p:blipFill>
        <p:spPr>
          <a:xfrm>
            <a:off x="7045452" y="2976372"/>
            <a:ext cx="228600" cy="228600"/>
          </a:xfrm>
          <a:prstGeom prst="rect">
            <a:avLst/>
          </a:prstGeom>
        </p:spPr>
      </p:pic>
      <p:sp>
        <p:nvSpPr>
          <p:cNvPr id="42" name="Text 31"/>
          <p:cNvSpPr txBox="1"/>
          <p:nvPr/>
        </p:nvSpPr>
        <p:spPr>
          <a:xfrm>
            <a:off x="693115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Legale e compliance</a:t>
            </a:r>
            <a:endParaRPr lang="it-IT" sz="1300" dirty="0"/>
          </a:p>
        </p:txBody>
      </p:sp>
      <p:sp>
        <p:nvSpPr>
          <p:cNvPr id="43" name="Text 32"/>
          <p:cNvSpPr txBox="1"/>
          <p:nvPr/>
        </p:nvSpPr>
        <p:spPr>
          <a:xfrm>
            <a:off x="693115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Analisi dei documenti</a:t>
            </a:r>
            <a:endParaRPr lang="it-IT" sz="1200" dirty="0"/>
          </a:p>
        </p:txBody>
      </p:sp>
      <p:sp>
        <p:nvSpPr>
          <p:cNvPr id="44" name="Text 3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200" i="1" dirty="0">
                <a:solidFill>
                  <a:schemeClr val="accent2"/>
                </a:solidFill>
              </a:rPr>
              <a:t>Esempi indicativi, a scopo illustrativo.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20</a:t>
            </a:fld>
            <a:endParaRPr lang="it-IT"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L'AI come tecnologia abilitante</a:t>
            </a:r>
            <a:endParaRPr lang="it-IT" sz="2600" dirty="0"/>
          </a:p>
        </p:txBody>
      </p:sp>
      <p:sp>
        <p:nvSpPr>
          <p:cNvPr id="4" name="centro AI"/>
          <p:cNvSpPr/>
          <p:nvPr/>
        </p:nvSpPr>
        <p:spPr>
          <a:xfrm>
            <a:off x="3611880" y="2011680"/>
            <a:ext cx="1920240" cy="1463040"/>
          </a:xfrm>
          <a:prstGeom prst="ellipse">
            <a:avLst/>
          </a:prstGeom>
          <a:solidFill>
            <a:schemeClr val="accent1"/>
          </a:solidFill>
          <a:ln/>
        </p:spPr>
        <p:txBody>
          <a:bodyPr/>
          <a:lstStyle/>
          <a:p>
            <a:endParaRPr lang="it-IT" dirty="0"/>
          </a:p>
        </p:txBody>
      </p:sp>
      <p:sp>
        <p:nvSpPr>
          <p:cNvPr id="5" name="Text 2"/>
          <p:cNvSpPr txBox="1"/>
          <p:nvPr/>
        </p:nvSpPr>
        <p:spPr>
          <a:xfrm>
            <a:off x="3611880" y="2011680"/>
            <a:ext cx="1920240" cy="1463040"/>
          </a:xfrm>
          <a:prstGeom prst="rect">
            <a:avLst/>
          </a:prstGeom>
          <a:noFill/>
          <a:ln/>
        </p:spPr>
        <p:txBody>
          <a:bodyPr wrap="square" lIns="0" tIns="0" rIns="0" bIns="0" rtlCol="0" anchor="ctr"/>
          <a:lstStyle/>
          <a:p>
            <a:pPr marL="0" indent="0" algn="ctr">
              <a:buNone/>
            </a:pPr>
            <a:r>
              <a:rPr lang="it-IT" sz="1600" b="1" dirty="0">
                <a:solidFill>
                  <a:schemeClr val="bg1"/>
                </a:solidFill>
              </a:rPr>
              <a:t>AI</a:t>
            </a:r>
            <a:endParaRPr lang="it-IT" sz="1600" dirty="0"/>
          </a:p>
          <a:p>
            <a:pPr marL="0" indent="0" algn="ctr">
              <a:buNone/>
            </a:pPr>
            <a:r>
              <a:rPr lang="it-IT" sz="1600" b="1" dirty="0">
                <a:solidFill>
                  <a:schemeClr val="bg1"/>
                </a:solidFill>
              </a:rPr>
              <a:t>abilitante</a:t>
            </a:r>
            <a:endParaRPr lang="it-IT" sz="1600" dirty="0"/>
          </a:p>
        </p:txBody>
      </p:sp>
      <p:sp>
        <p:nvSpPr>
          <p:cNvPr id="6" name="Funzioni"/>
          <p:cNvSpPr/>
          <p:nvPr/>
        </p:nvSpPr>
        <p:spPr>
          <a:xfrm>
            <a:off x="457200" y="1097280"/>
            <a:ext cx="3017520" cy="1463040"/>
          </a:xfrm>
          <a:prstGeom prst="roundRect">
            <a:avLst>
              <a:gd name="adj" fmla="val 5000"/>
            </a:avLst>
          </a:prstGeom>
          <a:solidFill>
            <a:schemeClr val="bg2"/>
          </a:solidFill>
          <a:ln/>
        </p:spPr>
        <p:txBody>
          <a:bodyPr/>
          <a:lstStyle/>
          <a:p>
            <a:endParaRPr lang="it-IT" dirty="0"/>
          </a:p>
        </p:txBody>
      </p:sp>
      <p:sp>
        <p:nvSpPr>
          <p:cNvPr id="7" name="cerchio FiBriefcase"/>
          <p:cNvSpPr/>
          <p:nvPr/>
        </p:nvSpPr>
        <p:spPr>
          <a:xfrm>
            <a:off x="640080" y="1280160"/>
            <a:ext cx="457200" cy="457200"/>
          </a:xfrm>
          <a:prstGeom prst="ellipse">
            <a:avLst/>
          </a:prstGeom>
          <a:solidFill>
            <a:schemeClr val="accent1"/>
          </a:solidFill>
          <a:ln/>
        </p:spPr>
        <p:txBody>
          <a:bodyPr/>
          <a:lstStyle/>
          <a:p>
            <a:endParaRPr lang="it-IT" dirty="0"/>
          </a:p>
        </p:txBody>
      </p:sp>
      <p:pic>
        <p:nvPicPr>
          <p:cNvPr id="8" name="Image 0" descr="FiBriefcase"/>
          <p:cNvPicPr>
            <a:picLocks noChangeAspect="1"/>
          </p:cNvPicPr>
          <p:nvPr/>
        </p:nvPicPr>
        <p:blipFill>
          <a:blip r:embed="rId3"/>
          <a:stretch>
            <a:fillRect/>
          </a:stretch>
        </p:blipFill>
        <p:spPr>
          <a:xfrm>
            <a:off x="754380" y="1394460"/>
            <a:ext cx="228600" cy="228600"/>
          </a:xfrm>
          <a:prstGeom prst="rect">
            <a:avLst/>
          </a:prstGeom>
        </p:spPr>
      </p:pic>
      <p:sp>
        <p:nvSpPr>
          <p:cNvPr id="9" name="Text 5"/>
          <p:cNvSpPr txBox="1"/>
          <p:nvPr/>
        </p:nvSpPr>
        <p:spPr>
          <a:xfrm>
            <a:off x="123444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Funzioni</a:t>
            </a:r>
            <a:endParaRPr lang="it-IT" sz="1600" dirty="0"/>
          </a:p>
        </p:txBody>
      </p:sp>
      <p:sp>
        <p:nvSpPr>
          <p:cNvPr id="10" name="Text 6"/>
          <p:cNvSpPr txBox="1"/>
          <p:nvPr/>
        </p:nvSpPr>
        <p:spPr>
          <a:xfrm>
            <a:off x="64008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Supporta il lavoro delle persone nelle diverse aree aziendali</a:t>
            </a:r>
            <a:endParaRPr lang="it-IT" sz="1300" dirty="0"/>
          </a:p>
        </p:txBody>
      </p:sp>
      <p:sp>
        <p:nvSpPr>
          <p:cNvPr id="11" name="Prodotti"/>
          <p:cNvSpPr/>
          <p:nvPr/>
        </p:nvSpPr>
        <p:spPr>
          <a:xfrm>
            <a:off x="5669280" y="1097280"/>
            <a:ext cx="3017520" cy="1463040"/>
          </a:xfrm>
          <a:prstGeom prst="roundRect">
            <a:avLst>
              <a:gd name="adj" fmla="val 5000"/>
            </a:avLst>
          </a:prstGeom>
          <a:solidFill>
            <a:schemeClr val="bg2"/>
          </a:solidFill>
          <a:ln/>
        </p:spPr>
        <p:txBody>
          <a:bodyPr/>
          <a:lstStyle/>
          <a:p>
            <a:endParaRPr lang="it-IT" dirty="0"/>
          </a:p>
        </p:txBody>
      </p:sp>
      <p:sp>
        <p:nvSpPr>
          <p:cNvPr id="12" name="cerchio FiBox"/>
          <p:cNvSpPr/>
          <p:nvPr/>
        </p:nvSpPr>
        <p:spPr>
          <a:xfrm>
            <a:off x="5852160" y="1280160"/>
            <a:ext cx="457200" cy="457200"/>
          </a:xfrm>
          <a:prstGeom prst="ellipse">
            <a:avLst/>
          </a:prstGeom>
          <a:solidFill>
            <a:schemeClr val="accent1"/>
          </a:solidFill>
          <a:ln/>
        </p:spPr>
        <p:txBody>
          <a:bodyPr/>
          <a:lstStyle/>
          <a:p>
            <a:endParaRPr lang="it-IT" dirty="0"/>
          </a:p>
        </p:txBody>
      </p:sp>
      <p:pic>
        <p:nvPicPr>
          <p:cNvPr id="13" name="Image 1" descr="FiBox"/>
          <p:cNvPicPr>
            <a:picLocks noChangeAspect="1"/>
          </p:cNvPicPr>
          <p:nvPr/>
        </p:nvPicPr>
        <p:blipFill>
          <a:blip r:embed="rId4"/>
          <a:stretch>
            <a:fillRect/>
          </a:stretch>
        </p:blipFill>
        <p:spPr>
          <a:xfrm>
            <a:off x="5966460" y="1394460"/>
            <a:ext cx="228600" cy="228600"/>
          </a:xfrm>
          <a:prstGeom prst="rect">
            <a:avLst/>
          </a:prstGeom>
        </p:spPr>
      </p:pic>
      <p:sp>
        <p:nvSpPr>
          <p:cNvPr id="14" name="Text 9"/>
          <p:cNvSpPr txBox="1"/>
          <p:nvPr/>
        </p:nvSpPr>
        <p:spPr>
          <a:xfrm>
            <a:off x="644652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Prodotti</a:t>
            </a:r>
            <a:endParaRPr lang="it-IT" sz="1600" dirty="0"/>
          </a:p>
        </p:txBody>
      </p:sp>
      <p:sp>
        <p:nvSpPr>
          <p:cNvPr id="15" name="Text 10"/>
          <p:cNvSpPr txBox="1"/>
          <p:nvPr/>
        </p:nvSpPr>
        <p:spPr>
          <a:xfrm>
            <a:off x="585216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Viene incorporata in ciò che l'azienda vende</a:t>
            </a:r>
            <a:endParaRPr lang="it-IT" sz="1300" dirty="0"/>
          </a:p>
        </p:txBody>
      </p:sp>
      <p:sp>
        <p:nvSpPr>
          <p:cNvPr id="16" name="Servizi"/>
          <p:cNvSpPr/>
          <p:nvPr/>
        </p:nvSpPr>
        <p:spPr>
          <a:xfrm>
            <a:off x="457200" y="3063240"/>
            <a:ext cx="3017520" cy="1463040"/>
          </a:xfrm>
          <a:prstGeom prst="roundRect">
            <a:avLst>
              <a:gd name="adj" fmla="val 5000"/>
            </a:avLst>
          </a:prstGeom>
          <a:solidFill>
            <a:schemeClr val="bg2"/>
          </a:solidFill>
          <a:ln/>
        </p:spPr>
        <p:txBody>
          <a:bodyPr/>
          <a:lstStyle/>
          <a:p>
            <a:endParaRPr lang="it-IT" dirty="0"/>
          </a:p>
        </p:txBody>
      </p:sp>
      <p:sp>
        <p:nvSpPr>
          <p:cNvPr id="17" name="cerchio FiSmile"/>
          <p:cNvSpPr/>
          <p:nvPr/>
        </p:nvSpPr>
        <p:spPr>
          <a:xfrm>
            <a:off x="640080" y="3246120"/>
            <a:ext cx="457200" cy="457200"/>
          </a:xfrm>
          <a:prstGeom prst="ellipse">
            <a:avLst/>
          </a:prstGeom>
          <a:solidFill>
            <a:schemeClr val="accent1"/>
          </a:solidFill>
          <a:ln/>
        </p:spPr>
        <p:txBody>
          <a:bodyPr/>
          <a:lstStyle/>
          <a:p>
            <a:endParaRPr lang="it-IT" dirty="0"/>
          </a:p>
        </p:txBody>
      </p:sp>
      <p:pic>
        <p:nvPicPr>
          <p:cNvPr id="18" name="Image 2" descr="FiSmile"/>
          <p:cNvPicPr>
            <a:picLocks noChangeAspect="1"/>
          </p:cNvPicPr>
          <p:nvPr/>
        </p:nvPicPr>
        <p:blipFill>
          <a:blip r:embed="rId5"/>
          <a:stretch>
            <a:fillRect/>
          </a:stretch>
        </p:blipFill>
        <p:spPr>
          <a:xfrm>
            <a:off x="754380" y="3360420"/>
            <a:ext cx="228600" cy="228600"/>
          </a:xfrm>
          <a:prstGeom prst="rect">
            <a:avLst/>
          </a:prstGeom>
        </p:spPr>
      </p:pic>
      <p:sp>
        <p:nvSpPr>
          <p:cNvPr id="19" name="Text 13"/>
          <p:cNvSpPr txBox="1"/>
          <p:nvPr/>
        </p:nvSpPr>
        <p:spPr>
          <a:xfrm>
            <a:off x="123444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Servizi</a:t>
            </a:r>
            <a:endParaRPr lang="it-IT" sz="1600" dirty="0"/>
          </a:p>
        </p:txBody>
      </p:sp>
      <p:sp>
        <p:nvSpPr>
          <p:cNvPr id="20" name="Text 14"/>
          <p:cNvSpPr txBox="1"/>
          <p:nvPr/>
        </p:nvSpPr>
        <p:spPr>
          <a:xfrm>
            <a:off x="64008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Cambia il modo in cui l'azienda serve i clienti</a:t>
            </a:r>
            <a:endParaRPr lang="it-IT" sz="1300" dirty="0"/>
          </a:p>
        </p:txBody>
      </p:sp>
      <p:sp>
        <p:nvSpPr>
          <p:cNvPr id="21" name="Processi"/>
          <p:cNvSpPr/>
          <p:nvPr/>
        </p:nvSpPr>
        <p:spPr>
          <a:xfrm>
            <a:off x="5669280" y="3063240"/>
            <a:ext cx="3017520" cy="1463040"/>
          </a:xfrm>
          <a:prstGeom prst="roundRect">
            <a:avLst>
              <a:gd name="adj" fmla="val 5000"/>
            </a:avLst>
          </a:prstGeom>
          <a:solidFill>
            <a:schemeClr val="bg2"/>
          </a:solidFill>
          <a:ln/>
        </p:spPr>
        <p:txBody>
          <a:bodyPr/>
          <a:lstStyle/>
          <a:p>
            <a:endParaRPr lang="it-IT" dirty="0"/>
          </a:p>
        </p:txBody>
      </p:sp>
      <p:sp>
        <p:nvSpPr>
          <p:cNvPr id="22" name="cerchio FiShuffle"/>
          <p:cNvSpPr/>
          <p:nvPr/>
        </p:nvSpPr>
        <p:spPr>
          <a:xfrm>
            <a:off x="5852160" y="3246120"/>
            <a:ext cx="457200" cy="457200"/>
          </a:xfrm>
          <a:prstGeom prst="ellipse">
            <a:avLst/>
          </a:prstGeom>
          <a:solidFill>
            <a:schemeClr val="accent1"/>
          </a:solidFill>
          <a:ln/>
        </p:spPr>
        <p:txBody>
          <a:bodyPr/>
          <a:lstStyle/>
          <a:p>
            <a:endParaRPr lang="it-IT" dirty="0"/>
          </a:p>
        </p:txBody>
      </p:sp>
      <p:pic>
        <p:nvPicPr>
          <p:cNvPr id="23" name="Image 3" descr="FiShuffle"/>
          <p:cNvPicPr>
            <a:picLocks noChangeAspect="1"/>
          </p:cNvPicPr>
          <p:nvPr/>
        </p:nvPicPr>
        <p:blipFill>
          <a:blip r:embed="rId6"/>
          <a:stretch>
            <a:fillRect/>
          </a:stretch>
        </p:blipFill>
        <p:spPr>
          <a:xfrm>
            <a:off x="5966460" y="3360420"/>
            <a:ext cx="228600" cy="228600"/>
          </a:xfrm>
          <a:prstGeom prst="rect">
            <a:avLst/>
          </a:prstGeom>
        </p:spPr>
      </p:pic>
      <p:sp>
        <p:nvSpPr>
          <p:cNvPr id="24" name="Text 17"/>
          <p:cNvSpPr txBox="1"/>
          <p:nvPr/>
        </p:nvSpPr>
        <p:spPr>
          <a:xfrm>
            <a:off x="644652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Processi</a:t>
            </a:r>
            <a:endParaRPr lang="it-IT" sz="1600" dirty="0"/>
          </a:p>
        </p:txBody>
      </p:sp>
      <p:sp>
        <p:nvSpPr>
          <p:cNvPr id="25" name="Text 18"/>
          <p:cNvSpPr txBox="1"/>
          <p:nvPr/>
        </p:nvSpPr>
        <p:spPr>
          <a:xfrm>
            <a:off x="585216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Ridisegna l'organizzazione del lavoro, non solo i singoli compiti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21</a:t>
            </a:fld>
            <a:endParaRPr lang="it-IT"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Effetti potenziali: produttività, qualità, innovazione</a:t>
            </a:r>
            <a:endParaRPr lang="it-IT" sz="2600" dirty="0"/>
          </a:p>
        </p:txBody>
      </p:sp>
      <p:sp>
        <p:nvSpPr>
          <p:cNvPr id="4" name="Produttività"/>
          <p:cNvSpPr/>
          <p:nvPr/>
        </p:nvSpPr>
        <p:spPr>
          <a:xfrm>
            <a:off x="457200" y="1097280"/>
            <a:ext cx="4206240" cy="1024128"/>
          </a:xfrm>
          <a:prstGeom prst="roundRect">
            <a:avLst>
              <a:gd name="adj" fmla="val 7143"/>
            </a:avLst>
          </a:prstGeom>
          <a:solidFill>
            <a:schemeClr val="bg2"/>
          </a:solidFill>
          <a:ln/>
        </p:spPr>
        <p:txBody>
          <a:bodyPr/>
          <a:lstStyle/>
          <a:p>
            <a:endParaRPr lang="it-IT" dirty="0"/>
          </a:p>
        </p:txBody>
      </p:sp>
      <p:sp>
        <p:nvSpPr>
          <p:cNvPr id="5" name="cerchio FiClock"/>
          <p:cNvSpPr/>
          <p:nvPr/>
        </p:nvSpPr>
        <p:spPr>
          <a:xfrm>
            <a:off x="640080" y="1353312"/>
            <a:ext cx="512064" cy="512064"/>
          </a:xfrm>
          <a:prstGeom prst="ellipse">
            <a:avLst/>
          </a:prstGeom>
          <a:solidFill>
            <a:schemeClr val="accent1"/>
          </a:solidFill>
          <a:ln/>
        </p:spPr>
        <p:txBody>
          <a:bodyPr/>
          <a:lstStyle/>
          <a:p>
            <a:endParaRPr lang="it-IT" dirty="0"/>
          </a:p>
        </p:txBody>
      </p:sp>
      <p:pic>
        <p:nvPicPr>
          <p:cNvPr id="6" name="Image 0" descr="FiClock"/>
          <p:cNvPicPr>
            <a:picLocks noChangeAspect="1"/>
          </p:cNvPicPr>
          <p:nvPr/>
        </p:nvPicPr>
        <p:blipFill>
          <a:blip r:embed="rId3"/>
          <a:stretch>
            <a:fillRect/>
          </a:stretch>
        </p:blipFill>
        <p:spPr>
          <a:xfrm>
            <a:off x="768096" y="1481328"/>
            <a:ext cx="256032" cy="256032"/>
          </a:xfrm>
          <a:prstGeom prst="rect">
            <a:avLst/>
          </a:prstGeom>
        </p:spPr>
      </p:pic>
      <p:sp>
        <p:nvSpPr>
          <p:cNvPr id="7" name="Text 3"/>
          <p:cNvSpPr txBox="1"/>
          <p:nvPr/>
        </p:nvSpPr>
        <p:spPr>
          <a:xfrm>
            <a:off x="1325880" y="1234440"/>
            <a:ext cx="3200400" cy="347472"/>
          </a:xfrm>
          <a:prstGeom prst="rect">
            <a:avLst/>
          </a:prstGeom>
          <a:noFill/>
          <a:ln/>
        </p:spPr>
        <p:txBody>
          <a:bodyPr wrap="square" lIns="0" tIns="0" rIns="0" bIns="0" rtlCol="0" anchor="t"/>
          <a:lstStyle/>
          <a:p>
            <a:pPr marL="0" indent="0">
              <a:buNone/>
            </a:pPr>
            <a:r>
              <a:rPr lang="it-IT" sz="1600" b="1" dirty="0">
                <a:solidFill>
                  <a:schemeClr val="tx1"/>
                </a:solidFill>
              </a:rPr>
              <a:t>Produttività</a:t>
            </a:r>
            <a:endParaRPr lang="it-IT" sz="1600" dirty="0"/>
          </a:p>
        </p:txBody>
      </p:sp>
      <p:sp>
        <p:nvSpPr>
          <p:cNvPr id="8" name="Text 4"/>
          <p:cNvSpPr txBox="1"/>
          <p:nvPr/>
        </p:nvSpPr>
        <p:spPr>
          <a:xfrm>
            <a:off x="1325880" y="1600200"/>
            <a:ext cx="3200400" cy="457200"/>
          </a:xfrm>
          <a:prstGeom prst="rect">
            <a:avLst/>
          </a:prstGeom>
          <a:noFill/>
          <a:ln/>
        </p:spPr>
        <p:txBody>
          <a:bodyPr wrap="square" lIns="0" tIns="0" rIns="0" bIns="0" rtlCol="0" anchor="t"/>
          <a:lstStyle/>
          <a:p>
            <a:pPr marL="0" indent="0">
              <a:buNone/>
            </a:pPr>
            <a:r>
              <a:rPr lang="it-IT" sz="1300" dirty="0">
                <a:solidFill>
                  <a:schemeClr val="tx2"/>
                </a:solidFill>
              </a:rPr>
              <a:t>Svolgere alcune attività in meno tempo</a:t>
            </a:r>
            <a:endParaRPr lang="it-IT" sz="1300" dirty="0"/>
          </a:p>
        </p:txBody>
      </p:sp>
      <p:sp>
        <p:nvSpPr>
          <p:cNvPr id="9" name="Qualità"/>
          <p:cNvSpPr/>
          <p:nvPr/>
        </p:nvSpPr>
        <p:spPr>
          <a:xfrm>
            <a:off x="457200" y="2258568"/>
            <a:ext cx="4206240" cy="1024128"/>
          </a:xfrm>
          <a:prstGeom prst="roundRect">
            <a:avLst>
              <a:gd name="adj" fmla="val 7143"/>
            </a:avLst>
          </a:prstGeom>
          <a:solidFill>
            <a:schemeClr val="bg2"/>
          </a:solidFill>
          <a:ln/>
        </p:spPr>
        <p:txBody>
          <a:bodyPr/>
          <a:lstStyle/>
          <a:p>
            <a:endParaRPr lang="it-IT" dirty="0"/>
          </a:p>
        </p:txBody>
      </p:sp>
      <p:sp>
        <p:nvSpPr>
          <p:cNvPr id="10" name="cerchio FiAward"/>
          <p:cNvSpPr/>
          <p:nvPr/>
        </p:nvSpPr>
        <p:spPr>
          <a:xfrm>
            <a:off x="640080" y="2514600"/>
            <a:ext cx="512064" cy="512064"/>
          </a:xfrm>
          <a:prstGeom prst="ellipse">
            <a:avLst/>
          </a:prstGeom>
          <a:solidFill>
            <a:schemeClr val="accent1"/>
          </a:solidFill>
          <a:ln/>
        </p:spPr>
        <p:txBody>
          <a:bodyPr/>
          <a:lstStyle/>
          <a:p>
            <a:endParaRPr lang="it-IT" dirty="0"/>
          </a:p>
        </p:txBody>
      </p:sp>
      <p:pic>
        <p:nvPicPr>
          <p:cNvPr id="11" name="Image 1" descr="FiAward"/>
          <p:cNvPicPr>
            <a:picLocks noChangeAspect="1"/>
          </p:cNvPicPr>
          <p:nvPr/>
        </p:nvPicPr>
        <p:blipFill>
          <a:blip r:embed="rId4"/>
          <a:stretch>
            <a:fillRect/>
          </a:stretch>
        </p:blipFill>
        <p:spPr>
          <a:xfrm>
            <a:off x="768096" y="2642616"/>
            <a:ext cx="256032" cy="256032"/>
          </a:xfrm>
          <a:prstGeom prst="rect">
            <a:avLst/>
          </a:prstGeom>
        </p:spPr>
      </p:pic>
      <p:sp>
        <p:nvSpPr>
          <p:cNvPr id="12" name="Text 7"/>
          <p:cNvSpPr txBox="1"/>
          <p:nvPr/>
        </p:nvSpPr>
        <p:spPr>
          <a:xfrm>
            <a:off x="1325880" y="2395728"/>
            <a:ext cx="3200400" cy="347472"/>
          </a:xfrm>
          <a:prstGeom prst="rect">
            <a:avLst/>
          </a:prstGeom>
          <a:noFill/>
          <a:ln/>
        </p:spPr>
        <p:txBody>
          <a:bodyPr wrap="square" lIns="0" tIns="0" rIns="0" bIns="0" rtlCol="0" anchor="t"/>
          <a:lstStyle/>
          <a:p>
            <a:pPr marL="0" indent="0">
              <a:buNone/>
            </a:pPr>
            <a:r>
              <a:rPr lang="it-IT" sz="1600" b="1" dirty="0">
                <a:solidFill>
                  <a:schemeClr val="tx1"/>
                </a:solidFill>
              </a:rPr>
              <a:t>Qualità</a:t>
            </a:r>
            <a:endParaRPr lang="it-IT" sz="1600" dirty="0"/>
          </a:p>
        </p:txBody>
      </p:sp>
      <p:sp>
        <p:nvSpPr>
          <p:cNvPr id="13" name="Text 8"/>
          <p:cNvSpPr txBox="1"/>
          <p:nvPr/>
        </p:nvSpPr>
        <p:spPr>
          <a:xfrm>
            <a:off x="1325880" y="2761488"/>
            <a:ext cx="3200400" cy="457200"/>
          </a:xfrm>
          <a:prstGeom prst="rect">
            <a:avLst/>
          </a:prstGeom>
          <a:noFill/>
          <a:ln/>
        </p:spPr>
        <p:txBody>
          <a:bodyPr wrap="square" lIns="0" tIns="0" rIns="0" bIns="0" rtlCol="0" anchor="t"/>
          <a:lstStyle/>
          <a:p>
            <a:pPr marL="0" indent="0">
              <a:buNone/>
            </a:pPr>
            <a:r>
              <a:rPr lang="it-IT" sz="1300" dirty="0">
                <a:solidFill>
                  <a:schemeClr val="tx2"/>
                </a:solidFill>
              </a:rPr>
              <a:t>Output più chiari, completi e controllati</a:t>
            </a:r>
            <a:endParaRPr lang="it-IT" sz="1300" dirty="0"/>
          </a:p>
        </p:txBody>
      </p:sp>
      <p:sp>
        <p:nvSpPr>
          <p:cNvPr id="14" name="Innovazione"/>
          <p:cNvSpPr/>
          <p:nvPr/>
        </p:nvSpPr>
        <p:spPr>
          <a:xfrm>
            <a:off x="457200" y="3419856"/>
            <a:ext cx="4206240" cy="1024128"/>
          </a:xfrm>
          <a:prstGeom prst="roundRect">
            <a:avLst>
              <a:gd name="adj" fmla="val 7143"/>
            </a:avLst>
          </a:prstGeom>
          <a:solidFill>
            <a:schemeClr val="bg2"/>
          </a:solidFill>
          <a:ln/>
        </p:spPr>
        <p:txBody>
          <a:bodyPr/>
          <a:lstStyle/>
          <a:p>
            <a:endParaRPr lang="it-IT" dirty="0"/>
          </a:p>
        </p:txBody>
      </p:sp>
      <p:sp>
        <p:nvSpPr>
          <p:cNvPr id="15" name="cerchio FiStar"/>
          <p:cNvSpPr/>
          <p:nvPr/>
        </p:nvSpPr>
        <p:spPr>
          <a:xfrm>
            <a:off x="640080" y="3675888"/>
            <a:ext cx="512064" cy="512064"/>
          </a:xfrm>
          <a:prstGeom prst="ellipse">
            <a:avLst/>
          </a:prstGeom>
          <a:solidFill>
            <a:schemeClr val="accent1"/>
          </a:solidFill>
          <a:ln/>
        </p:spPr>
        <p:txBody>
          <a:bodyPr/>
          <a:lstStyle/>
          <a:p>
            <a:endParaRPr lang="it-IT" dirty="0"/>
          </a:p>
        </p:txBody>
      </p:sp>
      <p:pic>
        <p:nvPicPr>
          <p:cNvPr id="16" name="Image 2" descr="FiStar"/>
          <p:cNvPicPr>
            <a:picLocks noChangeAspect="1"/>
          </p:cNvPicPr>
          <p:nvPr/>
        </p:nvPicPr>
        <p:blipFill>
          <a:blip r:embed="rId5"/>
          <a:stretch>
            <a:fillRect/>
          </a:stretch>
        </p:blipFill>
        <p:spPr>
          <a:xfrm>
            <a:off x="768096" y="3803904"/>
            <a:ext cx="256032" cy="256032"/>
          </a:xfrm>
          <a:prstGeom prst="rect">
            <a:avLst/>
          </a:prstGeom>
        </p:spPr>
      </p:pic>
      <p:sp>
        <p:nvSpPr>
          <p:cNvPr id="17" name="Text 11"/>
          <p:cNvSpPr txBox="1"/>
          <p:nvPr/>
        </p:nvSpPr>
        <p:spPr>
          <a:xfrm>
            <a:off x="1325880" y="3557016"/>
            <a:ext cx="3200400" cy="347472"/>
          </a:xfrm>
          <a:prstGeom prst="rect">
            <a:avLst/>
          </a:prstGeom>
          <a:noFill/>
          <a:ln/>
        </p:spPr>
        <p:txBody>
          <a:bodyPr wrap="square" lIns="0" tIns="0" rIns="0" bIns="0" rtlCol="0" anchor="t"/>
          <a:lstStyle/>
          <a:p>
            <a:pPr marL="0" indent="0">
              <a:buNone/>
            </a:pPr>
            <a:r>
              <a:rPr lang="it-IT" sz="1600" b="1" dirty="0">
                <a:solidFill>
                  <a:schemeClr val="tx1"/>
                </a:solidFill>
              </a:rPr>
              <a:t>Innovazione</a:t>
            </a:r>
            <a:endParaRPr lang="it-IT" sz="1600" dirty="0"/>
          </a:p>
        </p:txBody>
      </p:sp>
      <p:sp>
        <p:nvSpPr>
          <p:cNvPr id="18" name="Text 12"/>
          <p:cNvSpPr txBox="1"/>
          <p:nvPr/>
        </p:nvSpPr>
        <p:spPr>
          <a:xfrm>
            <a:off x="1325880" y="3922776"/>
            <a:ext cx="3200400" cy="457200"/>
          </a:xfrm>
          <a:prstGeom prst="rect">
            <a:avLst/>
          </a:prstGeom>
          <a:noFill/>
          <a:ln/>
        </p:spPr>
        <p:txBody>
          <a:bodyPr wrap="square" lIns="0" tIns="0" rIns="0" bIns="0" rtlCol="0" anchor="t"/>
          <a:lstStyle/>
          <a:p>
            <a:pPr marL="0" indent="0">
              <a:buNone/>
            </a:pPr>
            <a:r>
              <a:rPr lang="it-IT" sz="1300" dirty="0">
                <a:solidFill>
                  <a:schemeClr val="tx2"/>
                </a:solidFill>
              </a:rPr>
              <a:t>Rendere possibili cose prima non praticabili</a:t>
            </a:r>
            <a:endParaRPr lang="it-IT" sz="1300" dirty="0"/>
          </a:p>
        </p:txBody>
      </p:sp>
      <p:sp>
        <p:nvSpPr>
          <p:cNvPr id="19" name="evidenza studio"/>
          <p:cNvSpPr/>
          <p:nvPr/>
        </p:nvSpPr>
        <p:spPr>
          <a:xfrm>
            <a:off x="4937760" y="1097280"/>
            <a:ext cx="3749040" cy="3429000"/>
          </a:xfrm>
          <a:prstGeom prst="roundRect">
            <a:avLst>
              <a:gd name="adj" fmla="val 2133"/>
            </a:avLst>
          </a:prstGeom>
          <a:solidFill>
            <a:schemeClr val="tx1"/>
          </a:solidFill>
          <a:ln/>
        </p:spPr>
        <p:txBody>
          <a:bodyPr/>
          <a:lstStyle/>
          <a:p>
            <a:endParaRPr lang="it-IT" dirty="0"/>
          </a:p>
        </p:txBody>
      </p:sp>
      <p:sp>
        <p:nvSpPr>
          <p:cNvPr id="20" name="Text 14"/>
          <p:cNvSpPr txBox="1"/>
          <p:nvPr/>
        </p:nvSpPr>
        <p:spPr>
          <a:xfrm>
            <a:off x="5166360" y="1234440"/>
            <a:ext cx="3291840" cy="274320"/>
          </a:xfrm>
          <a:prstGeom prst="rect">
            <a:avLst/>
          </a:prstGeom>
          <a:noFill/>
          <a:ln/>
        </p:spPr>
        <p:txBody>
          <a:bodyPr wrap="square" lIns="0" tIns="0" rIns="0" bIns="0" rtlCol="0" anchor="t"/>
          <a:lstStyle/>
          <a:p>
            <a:pPr marL="0" indent="0">
              <a:buNone/>
            </a:pPr>
            <a:r>
              <a:rPr lang="it-IT" sz="1100" b="1" kern="0" spc="200" dirty="0">
                <a:solidFill>
                  <a:schemeClr val="accent3"/>
                </a:solidFill>
              </a:rPr>
              <a:t>UN ESEMPIO DI EVIDENZA (circa 5000 operatori di customer care)</a:t>
            </a:r>
            <a:endParaRPr lang="it-IT" sz="1100" dirty="0"/>
          </a:p>
        </p:txBody>
      </p:sp>
      <p:sp>
        <p:nvSpPr>
          <p:cNvPr id="21" name="Text 15"/>
          <p:cNvSpPr txBox="1"/>
          <p:nvPr/>
        </p:nvSpPr>
        <p:spPr>
          <a:xfrm>
            <a:off x="5166360" y="1554480"/>
            <a:ext cx="1737360" cy="731520"/>
          </a:xfrm>
          <a:prstGeom prst="rect">
            <a:avLst/>
          </a:prstGeom>
          <a:noFill/>
          <a:ln/>
        </p:spPr>
        <p:txBody>
          <a:bodyPr wrap="square" lIns="0" tIns="0" rIns="0" bIns="0" rtlCol="0" anchor="t"/>
          <a:lstStyle/>
          <a:p>
            <a:pPr marL="0" indent="0">
              <a:buNone/>
            </a:pPr>
            <a:r>
              <a:rPr lang="it-IT" sz="4000" b="1" dirty="0">
                <a:solidFill>
                  <a:schemeClr val="accent1"/>
                </a:solidFill>
              </a:rPr>
              <a:t>+15%</a:t>
            </a:r>
            <a:endParaRPr lang="it-IT" sz="4000" dirty="0"/>
          </a:p>
        </p:txBody>
      </p:sp>
      <p:sp>
        <p:nvSpPr>
          <p:cNvPr id="22" name="Text 16"/>
          <p:cNvSpPr txBox="1"/>
          <p:nvPr/>
        </p:nvSpPr>
        <p:spPr>
          <a:xfrm>
            <a:off x="6903720" y="1554480"/>
            <a:ext cx="1737360" cy="731520"/>
          </a:xfrm>
          <a:prstGeom prst="rect">
            <a:avLst/>
          </a:prstGeom>
          <a:noFill/>
          <a:ln/>
        </p:spPr>
        <p:txBody>
          <a:bodyPr wrap="square" lIns="0" tIns="0" rIns="0" bIns="0" rtlCol="0" anchor="t"/>
          <a:lstStyle/>
          <a:p>
            <a:pPr marL="0" indent="0">
              <a:buNone/>
            </a:pPr>
            <a:r>
              <a:rPr lang="it-IT" sz="4000" b="1" dirty="0">
                <a:solidFill>
                  <a:schemeClr val="bg1"/>
                </a:solidFill>
              </a:rPr>
              <a:t>+36%</a:t>
            </a:r>
            <a:endParaRPr lang="it-IT" sz="4000" dirty="0"/>
          </a:p>
        </p:txBody>
      </p:sp>
      <p:sp>
        <p:nvSpPr>
          <p:cNvPr id="23" name="Text 17"/>
          <p:cNvSpPr txBox="1"/>
          <p:nvPr/>
        </p:nvSpPr>
        <p:spPr>
          <a:xfrm>
            <a:off x="516636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problemi risolti per ora, in media</a:t>
            </a:r>
            <a:endParaRPr lang="it-IT" sz="1200" dirty="0"/>
          </a:p>
        </p:txBody>
      </p:sp>
      <p:sp>
        <p:nvSpPr>
          <p:cNvPr id="24" name="Text 18"/>
          <p:cNvSpPr txBox="1"/>
          <p:nvPr/>
        </p:nvSpPr>
        <p:spPr>
          <a:xfrm>
            <a:off x="690372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per gli operatori con minore esperienza </a:t>
            </a:r>
            <a:endParaRPr lang="it-IT" sz="1200" dirty="0"/>
          </a:p>
        </p:txBody>
      </p:sp>
      <p:sp>
        <p:nvSpPr>
          <p:cNvPr id="25" name="Text 19"/>
          <p:cNvSpPr txBox="1"/>
          <p:nvPr/>
        </p:nvSpPr>
        <p:spPr>
          <a:xfrm>
            <a:off x="5166360" y="2926080"/>
            <a:ext cx="3337560" cy="914400"/>
          </a:xfrm>
          <a:prstGeom prst="rect">
            <a:avLst/>
          </a:prstGeom>
          <a:noFill/>
          <a:ln/>
        </p:spPr>
        <p:txBody>
          <a:bodyPr wrap="square" lIns="0" tIns="0" rIns="0" bIns="0" rtlCol="0" anchor="t"/>
          <a:lstStyle/>
          <a:p>
            <a:pPr marL="0" indent="0">
              <a:buNone/>
            </a:pPr>
            <a:r>
              <a:rPr lang="it-IT" sz="1300" dirty="0">
                <a:solidFill>
                  <a:schemeClr val="accent3"/>
                </a:solidFill>
              </a:rPr>
              <a:t>Studi sul campo mostrano che l’AI può migliorare significativamente le prestazioni in determinate attività. L’entità dei benefici varia in funzione del compito, delle competenze e delle modalità di utilizzo</a:t>
            </a:r>
            <a:endParaRPr lang="it-IT" sz="1300" dirty="0"/>
          </a:p>
        </p:txBody>
      </p:sp>
      <p:sp>
        <p:nvSpPr>
          <p:cNvPr id="26" name="Text 20"/>
          <p:cNvSpPr txBox="1"/>
          <p:nvPr/>
        </p:nvSpPr>
        <p:spPr>
          <a:xfrm>
            <a:off x="5166360" y="4114800"/>
            <a:ext cx="3337560" cy="274320"/>
          </a:xfrm>
          <a:prstGeom prst="rect">
            <a:avLst/>
          </a:prstGeom>
          <a:noFill/>
          <a:ln/>
        </p:spPr>
        <p:txBody>
          <a:bodyPr wrap="square" lIns="0" tIns="0" rIns="0" bIns="0" rtlCol="0" anchor="t"/>
          <a:lstStyle/>
          <a:p>
            <a:pPr marL="0" indent="0">
              <a:buNone/>
            </a:pPr>
            <a:r>
              <a:rPr lang="it-IT" sz="1000" dirty="0">
                <a:solidFill>
                  <a:schemeClr val="accent2"/>
                </a:solidFill>
              </a:rPr>
              <a:t>Fonte: </a:t>
            </a:r>
            <a:r>
              <a:rPr lang="it-IT" sz="1000" dirty="0" err="1">
                <a:solidFill>
                  <a:schemeClr val="accent2"/>
                </a:solidFill>
              </a:rPr>
              <a:t>Brynjolfsson</a:t>
            </a:r>
            <a:r>
              <a:rPr lang="it-IT" sz="1000" dirty="0">
                <a:solidFill>
                  <a:schemeClr val="accent2"/>
                </a:solidFill>
              </a:rPr>
              <a:t>, Li, Raymond, QJE, 2025</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22</a:t>
            </a:fld>
            <a:endParaRPr lang="it-IT"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evolvono il lavoro e le competenze</a:t>
            </a:r>
            <a:endParaRPr lang="it-IT" sz="2600" dirty="0"/>
          </a:p>
        </p:txBody>
      </p:sp>
      <p:sp>
        <p:nvSpPr>
          <p:cNvPr id="4" name="Text 1"/>
          <p:cNvSpPr txBox="1"/>
          <p:nvPr/>
        </p:nvSpPr>
        <p:spPr>
          <a:xfrm>
            <a:off x="457200" y="1051560"/>
            <a:ext cx="4114800" cy="320040"/>
          </a:xfrm>
          <a:prstGeom prst="rect">
            <a:avLst/>
          </a:prstGeom>
          <a:noFill/>
          <a:ln/>
        </p:spPr>
        <p:txBody>
          <a:bodyPr wrap="square" lIns="0" tIns="0" rIns="0" bIns="0" rtlCol="0" anchor="t"/>
          <a:lstStyle/>
          <a:p>
            <a:pPr marL="0" indent="0">
              <a:buNone/>
            </a:pPr>
            <a:r>
              <a:rPr lang="it-IT" sz="1400" b="1" dirty="0">
                <a:solidFill>
                  <a:schemeClr val="tx1"/>
                </a:solidFill>
              </a:rPr>
              <a:t>Un ruolo è fatto di molte attività</a:t>
            </a:r>
            <a:endParaRPr lang="it-IT" sz="1400" dirty="0"/>
          </a:p>
        </p:txBody>
      </p:sp>
      <p:sp>
        <p:nvSpPr>
          <p:cNvPr id="5" name="Attività automatizzabili"/>
          <p:cNvSpPr/>
          <p:nvPr/>
        </p:nvSpPr>
        <p:spPr>
          <a:xfrm>
            <a:off x="457200" y="1463040"/>
            <a:ext cx="4023360" cy="841248"/>
          </a:xfrm>
          <a:prstGeom prst="roundRect">
            <a:avLst>
              <a:gd name="adj" fmla="val 8696"/>
            </a:avLst>
          </a:prstGeom>
          <a:solidFill>
            <a:schemeClr val="accent1"/>
          </a:solidFill>
          <a:ln/>
        </p:spPr>
        <p:txBody>
          <a:bodyPr/>
          <a:lstStyle/>
          <a:p>
            <a:endParaRPr lang="it-IT" dirty="0"/>
          </a:p>
        </p:txBody>
      </p:sp>
      <p:sp>
        <p:nvSpPr>
          <p:cNvPr id="6" name="Text 3"/>
          <p:cNvSpPr txBox="1"/>
          <p:nvPr/>
        </p:nvSpPr>
        <p:spPr>
          <a:xfrm>
            <a:off x="640080" y="1463040"/>
            <a:ext cx="3657600" cy="841248"/>
          </a:xfrm>
          <a:prstGeom prst="rect">
            <a:avLst/>
          </a:prstGeom>
          <a:noFill/>
          <a:ln/>
        </p:spPr>
        <p:txBody>
          <a:bodyPr wrap="square" lIns="0" tIns="0" rIns="0" bIns="0" rtlCol="0" anchor="ctr"/>
          <a:lstStyle/>
          <a:p>
            <a:pPr marL="0" indent="0">
              <a:buNone/>
            </a:pPr>
            <a:r>
              <a:rPr lang="it-IT" sz="1400" b="1" dirty="0">
                <a:solidFill>
                  <a:schemeClr val="bg1"/>
                </a:solidFill>
              </a:rPr>
              <a:t>Attività automatizzabili</a:t>
            </a:r>
            <a:endParaRPr lang="it-IT" sz="1400" dirty="0"/>
          </a:p>
        </p:txBody>
      </p:sp>
      <p:sp>
        <p:nvSpPr>
          <p:cNvPr id="7" name="Attività supportate dall'AI"/>
          <p:cNvSpPr/>
          <p:nvPr/>
        </p:nvSpPr>
        <p:spPr>
          <a:xfrm>
            <a:off x="457200" y="2450592"/>
            <a:ext cx="4023360" cy="841248"/>
          </a:xfrm>
          <a:prstGeom prst="roundRect">
            <a:avLst>
              <a:gd name="adj" fmla="val 8696"/>
            </a:avLst>
          </a:prstGeom>
          <a:solidFill>
            <a:schemeClr val="accent6"/>
          </a:solidFill>
          <a:ln/>
        </p:spPr>
        <p:txBody>
          <a:bodyPr/>
          <a:lstStyle/>
          <a:p>
            <a:endParaRPr lang="it-IT" dirty="0"/>
          </a:p>
        </p:txBody>
      </p:sp>
      <p:sp>
        <p:nvSpPr>
          <p:cNvPr id="8" name="Text 5"/>
          <p:cNvSpPr txBox="1"/>
          <p:nvPr/>
        </p:nvSpPr>
        <p:spPr>
          <a:xfrm>
            <a:off x="640080" y="2450592"/>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supportate dall'AI</a:t>
            </a:r>
            <a:endParaRPr lang="it-IT" sz="1400" dirty="0"/>
          </a:p>
        </p:txBody>
      </p:sp>
      <p:sp>
        <p:nvSpPr>
          <p:cNvPr id="9" name="Attività essenzialmente umane: relazioni, giudizio, responsabilità"/>
          <p:cNvSpPr/>
          <p:nvPr/>
        </p:nvSpPr>
        <p:spPr>
          <a:xfrm>
            <a:off x="457200" y="3438144"/>
            <a:ext cx="4023360" cy="841248"/>
          </a:xfrm>
          <a:prstGeom prst="roundRect">
            <a:avLst>
              <a:gd name="adj" fmla="val 8696"/>
            </a:avLst>
          </a:prstGeom>
          <a:solidFill>
            <a:schemeClr val="bg2"/>
          </a:solidFill>
          <a:ln/>
        </p:spPr>
        <p:txBody>
          <a:bodyPr/>
          <a:lstStyle/>
          <a:p>
            <a:endParaRPr lang="it-IT" dirty="0"/>
          </a:p>
        </p:txBody>
      </p:sp>
      <p:sp>
        <p:nvSpPr>
          <p:cNvPr id="10" name="Text 7"/>
          <p:cNvSpPr txBox="1"/>
          <p:nvPr/>
        </p:nvSpPr>
        <p:spPr>
          <a:xfrm>
            <a:off x="640080" y="3438144"/>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essenzialmente umane: relazioni, giudizio, responsabilità</a:t>
            </a:r>
            <a:endParaRPr lang="it-IT" sz="1400" dirty="0"/>
          </a:p>
        </p:txBody>
      </p:sp>
      <p:sp>
        <p:nvSpPr>
          <p:cNvPr id="11" name="Text 8"/>
          <p:cNvSpPr txBox="1"/>
          <p:nvPr/>
        </p:nvSpPr>
        <p:spPr>
          <a:xfrm>
            <a:off x="4846320" y="1051560"/>
            <a:ext cx="3840480" cy="320040"/>
          </a:xfrm>
          <a:prstGeom prst="rect">
            <a:avLst/>
          </a:prstGeom>
          <a:noFill/>
          <a:ln/>
        </p:spPr>
        <p:txBody>
          <a:bodyPr wrap="square" lIns="0" tIns="0" rIns="0" bIns="0" rtlCol="0" anchor="t"/>
          <a:lstStyle/>
          <a:p>
            <a:pPr marL="0" indent="0">
              <a:buNone/>
            </a:pPr>
            <a:r>
              <a:rPr lang="it-IT" sz="1400" b="1" dirty="0">
                <a:solidFill>
                  <a:schemeClr val="tx1"/>
                </a:solidFill>
              </a:rPr>
              <a:t>Competenze che acquistano valore</a:t>
            </a:r>
            <a:endParaRPr lang="it-IT" sz="1400" dirty="0"/>
          </a:p>
        </p:txBody>
      </p:sp>
      <p:sp>
        <p:nvSpPr>
          <p:cNvPr id="12" name="cerchio FiHelpCircle"/>
          <p:cNvSpPr/>
          <p:nvPr/>
        </p:nvSpPr>
        <p:spPr>
          <a:xfrm>
            <a:off x="4846320" y="1481328"/>
            <a:ext cx="457200" cy="457200"/>
          </a:xfrm>
          <a:prstGeom prst="ellipse">
            <a:avLst/>
          </a:prstGeom>
          <a:solidFill>
            <a:schemeClr val="accent1"/>
          </a:solidFill>
          <a:ln/>
        </p:spPr>
        <p:txBody>
          <a:bodyPr/>
          <a:lstStyle/>
          <a:p>
            <a:endParaRPr lang="it-IT" dirty="0"/>
          </a:p>
        </p:txBody>
      </p:sp>
      <p:pic>
        <p:nvPicPr>
          <p:cNvPr id="13" name="Image 0" descr="FiHelpCircle"/>
          <p:cNvPicPr>
            <a:picLocks noChangeAspect="1"/>
          </p:cNvPicPr>
          <p:nvPr/>
        </p:nvPicPr>
        <p:blipFill>
          <a:blip r:embed="rId3"/>
          <a:stretch>
            <a:fillRect/>
          </a:stretch>
        </p:blipFill>
        <p:spPr>
          <a:xfrm>
            <a:off x="4960620" y="1595628"/>
            <a:ext cx="228600" cy="228600"/>
          </a:xfrm>
          <a:prstGeom prst="rect">
            <a:avLst/>
          </a:prstGeom>
        </p:spPr>
      </p:pic>
      <p:sp>
        <p:nvSpPr>
          <p:cNvPr id="14" name="Text 10"/>
          <p:cNvSpPr txBox="1"/>
          <p:nvPr/>
        </p:nvSpPr>
        <p:spPr>
          <a:xfrm>
            <a:off x="5486400" y="1481328"/>
            <a:ext cx="3200400" cy="457200"/>
          </a:xfrm>
          <a:prstGeom prst="rect">
            <a:avLst/>
          </a:prstGeom>
          <a:noFill/>
          <a:ln/>
        </p:spPr>
        <p:txBody>
          <a:bodyPr wrap="square" lIns="0" tIns="0" rIns="0" bIns="0" rtlCol="0" anchor="ctr"/>
          <a:lstStyle/>
          <a:p>
            <a:pPr marL="0" indent="0">
              <a:buNone/>
            </a:pPr>
            <a:r>
              <a:rPr lang="it-IT" sz="1400" dirty="0">
                <a:solidFill>
                  <a:schemeClr val="tx1"/>
                </a:solidFill>
              </a:rPr>
              <a:t>Formulare bene i problemi</a:t>
            </a:r>
            <a:endParaRPr lang="it-IT" sz="1400" dirty="0"/>
          </a:p>
        </p:txBody>
      </p:sp>
      <p:sp>
        <p:nvSpPr>
          <p:cNvPr id="15" name="cerchio FiEye"/>
          <p:cNvSpPr/>
          <p:nvPr/>
        </p:nvSpPr>
        <p:spPr>
          <a:xfrm>
            <a:off x="4846320" y="2231136"/>
            <a:ext cx="457200" cy="457200"/>
          </a:xfrm>
          <a:prstGeom prst="ellipse">
            <a:avLst/>
          </a:prstGeom>
          <a:solidFill>
            <a:schemeClr val="accent1"/>
          </a:solidFill>
          <a:ln/>
        </p:spPr>
        <p:txBody>
          <a:bodyPr/>
          <a:lstStyle/>
          <a:p>
            <a:endParaRPr lang="it-IT" dirty="0"/>
          </a:p>
        </p:txBody>
      </p:sp>
      <p:pic>
        <p:nvPicPr>
          <p:cNvPr id="16" name="Image 1" descr="FiEye"/>
          <p:cNvPicPr>
            <a:picLocks noChangeAspect="1"/>
          </p:cNvPicPr>
          <p:nvPr/>
        </p:nvPicPr>
        <p:blipFill>
          <a:blip r:embed="rId4"/>
          <a:stretch>
            <a:fillRect/>
          </a:stretch>
        </p:blipFill>
        <p:spPr>
          <a:xfrm>
            <a:off x="4960620" y="2345436"/>
            <a:ext cx="228600" cy="228600"/>
          </a:xfrm>
          <a:prstGeom prst="rect">
            <a:avLst/>
          </a:prstGeom>
        </p:spPr>
      </p:pic>
      <p:sp>
        <p:nvSpPr>
          <p:cNvPr id="17" name="Text 12"/>
          <p:cNvSpPr txBox="1"/>
          <p:nvPr/>
        </p:nvSpPr>
        <p:spPr>
          <a:xfrm>
            <a:off x="5486400" y="2231136"/>
            <a:ext cx="3200400" cy="457200"/>
          </a:xfrm>
          <a:prstGeom prst="rect">
            <a:avLst/>
          </a:prstGeom>
          <a:noFill/>
          <a:ln/>
        </p:spPr>
        <p:txBody>
          <a:bodyPr wrap="square" lIns="0" tIns="0" rIns="0" bIns="0" rtlCol="0" anchor="ctr"/>
          <a:lstStyle/>
          <a:p>
            <a:pPr marL="0" indent="0">
              <a:buNone/>
            </a:pPr>
            <a:r>
              <a:rPr lang="it-IT" sz="1400" dirty="0">
                <a:solidFill>
                  <a:schemeClr val="tx1"/>
                </a:solidFill>
              </a:rPr>
              <a:t>Valutare criticamente gli output</a:t>
            </a:r>
            <a:endParaRPr lang="it-IT" sz="1400" dirty="0"/>
          </a:p>
        </p:txBody>
      </p:sp>
      <p:sp>
        <p:nvSpPr>
          <p:cNvPr id="18" name="cerchio FiLayers"/>
          <p:cNvSpPr/>
          <p:nvPr/>
        </p:nvSpPr>
        <p:spPr>
          <a:xfrm>
            <a:off x="4846320" y="2980944"/>
            <a:ext cx="457200" cy="457200"/>
          </a:xfrm>
          <a:prstGeom prst="ellipse">
            <a:avLst/>
          </a:prstGeom>
          <a:solidFill>
            <a:schemeClr val="accent1"/>
          </a:solidFill>
          <a:ln/>
        </p:spPr>
        <p:txBody>
          <a:bodyPr/>
          <a:lstStyle/>
          <a:p>
            <a:endParaRPr lang="it-IT" dirty="0"/>
          </a:p>
        </p:txBody>
      </p:sp>
      <p:pic>
        <p:nvPicPr>
          <p:cNvPr id="19" name="Image 2" descr="FiLayers"/>
          <p:cNvPicPr>
            <a:picLocks noChangeAspect="1"/>
          </p:cNvPicPr>
          <p:nvPr/>
        </p:nvPicPr>
        <p:blipFill>
          <a:blip r:embed="rId5"/>
          <a:stretch>
            <a:fillRect/>
          </a:stretch>
        </p:blipFill>
        <p:spPr>
          <a:xfrm>
            <a:off x="4960620" y="3095244"/>
            <a:ext cx="228600" cy="228600"/>
          </a:xfrm>
          <a:prstGeom prst="rect">
            <a:avLst/>
          </a:prstGeom>
        </p:spPr>
      </p:pic>
      <p:sp>
        <p:nvSpPr>
          <p:cNvPr id="20" name="Text 14"/>
          <p:cNvSpPr txBox="1"/>
          <p:nvPr/>
        </p:nvSpPr>
        <p:spPr>
          <a:xfrm>
            <a:off x="5486400" y="2980944"/>
            <a:ext cx="3200400" cy="457200"/>
          </a:xfrm>
          <a:prstGeom prst="rect">
            <a:avLst/>
          </a:prstGeom>
          <a:noFill/>
          <a:ln/>
        </p:spPr>
        <p:txBody>
          <a:bodyPr wrap="square" lIns="0" tIns="0" rIns="0" bIns="0" rtlCol="0" anchor="ctr"/>
          <a:lstStyle/>
          <a:p>
            <a:pPr marL="0" indent="0">
              <a:buNone/>
            </a:pPr>
            <a:r>
              <a:rPr lang="it-IT" sz="1400" dirty="0">
                <a:solidFill>
                  <a:schemeClr val="tx1"/>
                </a:solidFill>
              </a:rPr>
              <a:t>Integrare l'AI nel proprio lavoro</a:t>
            </a:r>
            <a:endParaRPr lang="it-IT" sz="1400" dirty="0"/>
          </a:p>
        </p:txBody>
      </p:sp>
      <p:sp>
        <p:nvSpPr>
          <p:cNvPr id="21" name="cerchio FiBookOpen"/>
          <p:cNvSpPr/>
          <p:nvPr/>
        </p:nvSpPr>
        <p:spPr>
          <a:xfrm>
            <a:off x="4846320" y="3730752"/>
            <a:ext cx="457200" cy="457200"/>
          </a:xfrm>
          <a:prstGeom prst="ellipse">
            <a:avLst/>
          </a:prstGeom>
          <a:solidFill>
            <a:schemeClr val="accent1"/>
          </a:solidFill>
          <a:ln/>
        </p:spPr>
        <p:txBody>
          <a:bodyPr/>
          <a:lstStyle/>
          <a:p>
            <a:endParaRPr lang="it-IT" dirty="0"/>
          </a:p>
        </p:txBody>
      </p:sp>
      <p:pic>
        <p:nvPicPr>
          <p:cNvPr id="22" name="Image 3" descr="FiBookOpen"/>
          <p:cNvPicPr>
            <a:picLocks noChangeAspect="1"/>
          </p:cNvPicPr>
          <p:nvPr/>
        </p:nvPicPr>
        <p:blipFill>
          <a:blip r:embed="rId6"/>
          <a:stretch>
            <a:fillRect/>
          </a:stretch>
        </p:blipFill>
        <p:spPr>
          <a:xfrm>
            <a:off x="4960620" y="3845052"/>
            <a:ext cx="228600" cy="228600"/>
          </a:xfrm>
          <a:prstGeom prst="rect">
            <a:avLst/>
          </a:prstGeom>
        </p:spPr>
      </p:pic>
      <p:sp>
        <p:nvSpPr>
          <p:cNvPr id="23" name="Text 16"/>
          <p:cNvSpPr txBox="1"/>
          <p:nvPr/>
        </p:nvSpPr>
        <p:spPr>
          <a:xfrm>
            <a:off x="5486400" y="3730752"/>
            <a:ext cx="3200400" cy="457200"/>
          </a:xfrm>
          <a:prstGeom prst="rect">
            <a:avLst/>
          </a:prstGeom>
          <a:noFill/>
          <a:ln/>
        </p:spPr>
        <p:txBody>
          <a:bodyPr wrap="square" lIns="0" tIns="0" rIns="0" bIns="0" rtlCol="0" anchor="ctr"/>
          <a:lstStyle/>
          <a:p>
            <a:pPr marL="0" indent="0">
              <a:buNone/>
            </a:pPr>
            <a:r>
              <a:rPr lang="it-IT" sz="1400" dirty="0">
                <a:solidFill>
                  <a:schemeClr val="tx1"/>
                </a:solidFill>
              </a:rPr>
              <a:t>Mantenere la competenza di dominio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23</a:t>
            </a:fld>
            <a:endParaRPr lang="it-IT"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 implicazioni competitive</a:t>
            </a:r>
            <a:endParaRPr lang="it-IT" sz="2600" dirty="0"/>
          </a:p>
        </p:txBody>
      </p:sp>
      <p:sp>
        <p:nvSpPr>
          <p:cNvPr id="4" name="scheda Da vantaggio a standard"/>
          <p:cNvSpPr/>
          <p:nvPr/>
        </p:nvSpPr>
        <p:spPr>
          <a:xfrm>
            <a:off x="457200" y="1097280"/>
            <a:ext cx="3977640" cy="1600200"/>
          </a:xfrm>
          <a:prstGeom prst="roundRect">
            <a:avLst>
              <a:gd name="adj" fmla="val 4571"/>
            </a:avLst>
          </a:prstGeom>
          <a:solidFill>
            <a:schemeClr val="bg2"/>
          </a:solidFill>
          <a:ln/>
        </p:spPr>
        <p:txBody>
          <a:bodyPr/>
          <a:lstStyle/>
          <a:p>
            <a:endParaRPr lang="it-IT" dirty="0"/>
          </a:p>
        </p:txBody>
      </p:sp>
      <p:sp>
        <p:nvSpPr>
          <p:cNvPr id="5" name="cerchio FiMin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Min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Da vantaggio a standard</a:t>
            </a:r>
            <a:endParaRPr lang="it-IT" sz="1500" dirty="0"/>
          </a:p>
        </p:txBody>
      </p:sp>
      <p:sp>
        <p:nvSpPr>
          <p:cNvPr id="8" name="Text 4"/>
          <p:cNvSpPr txBox="1"/>
          <p:nvPr/>
        </p:nvSpPr>
        <p:spPr>
          <a:xfrm>
            <a:off x="640080" y="1824228"/>
            <a:ext cx="3611880" cy="713232"/>
          </a:xfrm>
          <a:prstGeom prst="rect">
            <a:avLst/>
          </a:prstGeom>
          <a:noFill/>
          <a:ln/>
        </p:spPr>
        <p:txBody>
          <a:bodyPr wrap="square" lIns="0" tIns="0" rIns="0" bIns="0" rtlCol="0" anchor="t"/>
          <a:lstStyle/>
          <a:p>
            <a:pPr marL="0" indent="0">
              <a:buNone/>
            </a:pPr>
            <a:r>
              <a:rPr lang="it-IT" sz="1300" dirty="0">
                <a:solidFill>
                  <a:schemeClr val="tx2"/>
                </a:solidFill>
              </a:rPr>
              <a:t>Quando le capacità AI diventano ampiamente accessibili, il vantaggio competitivo dipende sempre più da come vengono integrate in competenze, processi e servizi distintivi</a:t>
            </a:r>
            <a:endParaRPr lang="it-IT" sz="1300" dirty="0"/>
          </a:p>
        </p:txBody>
      </p:sp>
      <p:sp>
        <p:nvSpPr>
          <p:cNvPr id="9" name="scheda Il vantaggio è in ciò che è specifico"/>
          <p:cNvSpPr/>
          <p:nvPr/>
        </p:nvSpPr>
        <p:spPr>
          <a:xfrm>
            <a:off x="4709160" y="1097280"/>
            <a:ext cx="3977640" cy="1600200"/>
          </a:xfrm>
          <a:prstGeom prst="roundRect">
            <a:avLst>
              <a:gd name="adj" fmla="val 4571"/>
            </a:avLst>
          </a:prstGeom>
          <a:solidFill>
            <a:schemeClr val="accent6"/>
          </a:solidFill>
          <a:ln/>
        </p:spPr>
        <p:txBody>
          <a:bodyPr/>
          <a:lstStyle/>
          <a:p>
            <a:endParaRPr lang="it-IT" dirty="0"/>
          </a:p>
        </p:txBody>
      </p:sp>
      <p:sp>
        <p:nvSpPr>
          <p:cNvPr id="10" name="cerchio FiKey"/>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Key"/>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Il vantaggio è in ciò che è specifico</a:t>
            </a:r>
            <a:endParaRPr lang="it-IT" sz="1500" dirty="0"/>
          </a:p>
        </p:txBody>
      </p:sp>
      <p:sp>
        <p:nvSpPr>
          <p:cNvPr id="13" name="Text 8"/>
          <p:cNvSpPr txBox="1"/>
          <p:nvPr/>
        </p:nvSpPr>
        <p:spPr>
          <a:xfrm>
            <a:off x="4892040" y="1874520"/>
            <a:ext cx="3611880" cy="713232"/>
          </a:xfrm>
          <a:prstGeom prst="rect">
            <a:avLst/>
          </a:prstGeom>
          <a:noFill/>
          <a:ln/>
        </p:spPr>
        <p:txBody>
          <a:bodyPr wrap="square" lIns="0" tIns="0" rIns="0" bIns="0" rtlCol="0" anchor="t"/>
          <a:lstStyle/>
          <a:p>
            <a:pPr marL="0" indent="0">
              <a:buNone/>
            </a:pPr>
            <a:r>
              <a:rPr lang="it-IT" sz="1300" dirty="0">
                <a:solidFill>
                  <a:schemeClr val="tx2"/>
                </a:solidFill>
              </a:rPr>
              <a:t>Conoscenza del mercato, dati, processi, persone, capacità di apprendere</a:t>
            </a:r>
            <a:endParaRPr lang="it-IT" sz="1300" dirty="0"/>
          </a:p>
        </p:txBody>
      </p:sp>
      <p:sp>
        <p:nvSpPr>
          <p:cNvPr id="14" name="scheda Cambiano le aspettative"/>
          <p:cNvSpPr/>
          <p:nvPr/>
        </p:nvSpPr>
        <p:spPr>
          <a:xfrm>
            <a:off x="457200" y="2834640"/>
            <a:ext cx="3977640" cy="1600200"/>
          </a:xfrm>
          <a:prstGeom prst="roundRect">
            <a:avLst>
              <a:gd name="adj" fmla="val 4571"/>
            </a:avLst>
          </a:prstGeom>
          <a:solidFill>
            <a:schemeClr val="bg2"/>
          </a:solidFill>
          <a:ln/>
        </p:spPr>
        <p:txBody>
          <a:bodyPr/>
          <a:lstStyle/>
          <a:p>
            <a:endParaRPr lang="it-IT" dirty="0"/>
          </a:p>
        </p:txBody>
      </p:sp>
      <p:sp>
        <p:nvSpPr>
          <p:cNvPr id="15" name="cerchio FiUserPlus"/>
          <p:cNvSpPr/>
          <p:nvPr/>
        </p:nvSpPr>
        <p:spPr>
          <a:xfrm>
            <a:off x="640080" y="3017520"/>
            <a:ext cx="457200" cy="457200"/>
          </a:xfrm>
          <a:prstGeom prst="ellipse">
            <a:avLst/>
          </a:prstGeom>
          <a:solidFill>
            <a:schemeClr val="accent1"/>
          </a:solidFill>
          <a:ln/>
        </p:spPr>
        <p:txBody>
          <a:bodyPr/>
          <a:lstStyle/>
          <a:p>
            <a:endParaRPr lang="it-IT" dirty="0"/>
          </a:p>
        </p:txBody>
      </p:sp>
      <p:pic>
        <p:nvPicPr>
          <p:cNvPr id="16" name="Image 2" descr="FiUserPlus"/>
          <p:cNvPicPr>
            <a:picLocks noChangeAspect="1"/>
          </p:cNvPicPr>
          <p:nvPr/>
        </p:nvPicPr>
        <p:blipFill>
          <a:blip r:embed="rId5"/>
          <a:stretch>
            <a:fillRect/>
          </a:stretch>
        </p:blipFill>
        <p:spPr>
          <a:xfrm>
            <a:off x="754380" y="3131820"/>
            <a:ext cx="228600" cy="228600"/>
          </a:xfrm>
          <a:prstGeom prst="rect">
            <a:avLst/>
          </a:prstGeom>
        </p:spPr>
      </p:pic>
      <p:sp>
        <p:nvSpPr>
          <p:cNvPr id="17" name="Text 11"/>
          <p:cNvSpPr txBox="1"/>
          <p:nvPr/>
        </p:nvSpPr>
        <p:spPr>
          <a:xfrm>
            <a:off x="123444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Cambiano le aspettative</a:t>
            </a:r>
            <a:endParaRPr lang="it-IT" sz="1500" dirty="0"/>
          </a:p>
        </p:txBody>
      </p:sp>
      <p:sp>
        <p:nvSpPr>
          <p:cNvPr id="18" name="Text 12"/>
          <p:cNvSpPr txBox="1"/>
          <p:nvPr/>
        </p:nvSpPr>
        <p:spPr>
          <a:xfrm>
            <a:off x="64008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 clienti si abituano a risposte più rapide e personalizzate</a:t>
            </a:r>
            <a:endParaRPr lang="it-IT" sz="1300" dirty="0"/>
          </a:p>
        </p:txBody>
      </p:sp>
      <p:sp>
        <p:nvSpPr>
          <p:cNvPr id="19" name="scheda Nuovi concorrenti"/>
          <p:cNvSpPr/>
          <p:nvPr/>
        </p:nvSpPr>
        <p:spPr>
          <a:xfrm>
            <a:off x="4709160" y="2834640"/>
            <a:ext cx="3977640" cy="1600200"/>
          </a:xfrm>
          <a:prstGeom prst="roundRect">
            <a:avLst>
              <a:gd name="adj" fmla="val 4571"/>
            </a:avLst>
          </a:prstGeom>
          <a:solidFill>
            <a:schemeClr val="bg2"/>
          </a:solidFill>
          <a:ln/>
        </p:spPr>
        <p:txBody>
          <a:bodyPr/>
          <a:lstStyle/>
          <a:p>
            <a:endParaRPr lang="it-IT" dirty="0"/>
          </a:p>
        </p:txBody>
      </p:sp>
      <p:sp>
        <p:nvSpPr>
          <p:cNvPr id="20" name="cerchio FiLogIn"/>
          <p:cNvSpPr/>
          <p:nvPr/>
        </p:nvSpPr>
        <p:spPr>
          <a:xfrm>
            <a:off x="4892040" y="3017520"/>
            <a:ext cx="457200" cy="457200"/>
          </a:xfrm>
          <a:prstGeom prst="ellipse">
            <a:avLst/>
          </a:prstGeom>
          <a:solidFill>
            <a:schemeClr val="accent1"/>
          </a:solidFill>
          <a:ln/>
        </p:spPr>
        <p:txBody>
          <a:bodyPr/>
          <a:lstStyle/>
          <a:p>
            <a:endParaRPr lang="it-IT" dirty="0"/>
          </a:p>
        </p:txBody>
      </p:sp>
      <p:pic>
        <p:nvPicPr>
          <p:cNvPr id="21" name="Image 3" descr="FiLogIn"/>
          <p:cNvPicPr>
            <a:picLocks noChangeAspect="1"/>
          </p:cNvPicPr>
          <p:nvPr/>
        </p:nvPicPr>
        <p:blipFill>
          <a:blip r:embed="rId6"/>
          <a:stretch>
            <a:fillRect/>
          </a:stretch>
        </p:blipFill>
        <p:spPr>
          <a:xfrm>
            <a:off x="5006340" y="3131820"/>
            <a:ext cx="228600" cy="228600"/>
          </a:xfrm>
          <a:prstGeom prst="rect">
            <a:avLst/>
          </a:prstGeom>
        </p:spPr>
      </p:pic>
      <p:sp>
        <p:nvSpPr>
          <p:cNvPr id="22" name="Text 15"/>
          <p:cNvSpPr txBox="1"/>
          <p:nvPr/>
        </p:nvSpPr>
        <p:spPr>
          <a:xfrm>
            <a:off x="548640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Nuovi concorrenti</a:t>
            </a:r>
            <a:endParaRPr lang="it-IT" sz="1500" dirty="0"/>
          </a:p>
        </p:txBody>
      </p:sp>
      <p:sp>
        <p:nvSpPr>
          <p:cNvPr id="23" name="Text 16"/>
          <p:cNvSpPr txBox="1"/>
          <p:nvPr/>
        </p:nvSpPr>
        <p:spPr>
          <a:xfrm>
            <a:off x="489204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In alcuni settori si abbassano le barriere d'ingresso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24</a:t>
            </a:fld>
            <a:endParaRPr lang="it-IT"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potenziale tecnologico al valore realizzato</a:t>
            </a:r>
            <a:endParaRPr lang="it-IT" sz="2600" dirty="0"/>
          </a:p>
        </p:txBody>
      </p:sp>
      <p:sp>
        <p:nvSpPr>
          <p:cNvPr id="4" name="imbuto Potenziale tecnologico"/>
          <p:cNvSpPr/>
          <p:nvPr/>
        </p:nvSpPr>
        <p:spPr>
          <a:xfrm>
            <a:off x="466344" y="1097280"/>
            <a:ext cx="5102352" cy="585216"/>
          </a:xfrm>
          <a:prstGeom prst="roundRect">
            <a:avLst>
              <a:gd name="adj" fmla="val 12500"/>
            </a:avLst>
          </a:prstGeom>
          <a:solidFill>
            <a:schemeClr val="tx2"/>
          </a:solidFill>
          <a:ln/>
        </p:spPr>
        <p:txBody>
          <a:bodyPr/>
          <a:lstStyle/>
          <a:p>
            <a:endParaRPr lang="it-IT" dirty="0"/>
          </a:p>
        </p:txBody>
      </p:sp>
      <p:sp>
        <p:nvSpPr>
          <p:cNvPr id="5" name="Text 2"/>
          <p:cNvSpPr txBox="1"/>
          <p:nvPr/>
        </p:nvSpPr>
        <p:spPr>
          <a:xfrm>
            <a:off x="466344" y="1097280"/>
            <a:ext cx="5102352" cy="585216"/>
          </a:xfrm>
          <a:prstGeom prst="rect">
            <a:avLst/>
          </a:prstGeom>
          <a:noFill/>
          <a:ln/>
        </p:spPr>
        <p:txBody>
          <a:bodyPr wrap="square" lIns="0" tIns="0" rIns="0" bIns="0" rtlCol="0" anchor="ctr"/>
          <a:lstStyle/>
          <a:p>
            <a:pPr marL="0" indent="0" algn="ctr">
              <a:buNone/>
            </a:pPr>
            <a:r>
              <a:rPr lang="it-IT" sz="1400" b="1" dirty="0">
                <a:solidFill>
                  <a:schemeClr val="bg1"/>
                </a:solidFill>
              </a:rPr>
              <a:t>Potenziale tecnologico</a:t>
            </a:r>
            <a:endParaRPr lang="it-IT" sz="1400" dirty="0"/>
          </a:p>
        </p:txBody>
      </p:sp>
      <p:sp>
        <p:nvSpPr>
          <p:cNvPr id="6" name="Text 3"/>
          <p:cNvSpPr txBox="1"/>
          <p:nvPr/>
        </p:nvSpPr>
        <p:spPr>
          <a:xfrm>
            <a:off x="5806440" y="1097280"/>
            <a:ext cx="2880360" cy="585216"/>
          </a:xfrm>
          <a:prstGeom prst="rect">
            <a:avLst/>
          </a:prstGeom>
          <a:noFill/>
          <a:ln/>
        </p:spPr>
        <p:txBody>
          <a:bodyPr wrap="square" lIns="0" tIns="0" rIns="0" bIns="0" rtlCol="0" anchor="ctr"/>
          <a:lstStyle/>
          <a:p>
            <a:pPr marL="0" indent="0">
              <a:buNone/>
            </a:pPr>
            <a:r>
              <a:rPr lang="it-IT" sz="1300" dirty="0">
                <a:solidFill>
                  <a:schemeClr val="tx2"/>
                </a:solidFill>
              </a:rPr>
              <a:t>Ciò che l'AI potrebbe fare</a:t>
            </a:r>
            <a:endParaRPr lang="it-IT" sz="1300" dirty="0"/>
          </a:p>
        </p:txBody>
      </p:sp>
      <p:sp>
        <p:nvSpPr>
          <p:cNvPr id="7" name="imbuto Problema reale"/>
          <p:cNvSpPr/>
          <p:nvPr/>
        </p:nvSpPr>
        <p:spPr>
          <a:xfrm>
            <a:off x="749808" y="1792224"/>
            <a:ext cx="4535424" cy="585216"/>
          </a:xfrm>
          <a:prstGeom prst="roundRect">
            <a:avLst>
              <a:gd name="adj" fmla="val 12500"/>
            </a:avLst>
          </a:prstGeom>
          <a:solidFill>
            <a:schemeClr val="bg2"/>
          </a:solidFill>
          <a:ln/>
        </p:spPr>
        <p:txBody>
          <a:bodyPr/>
          <a:lstStyle/>
          <a:p>
            <a:endParaRPr lang="it-IT" dirty="0"/>
          </a:p>
        </p:txBody>
      </p:sp>
      <p:sp>
        <p:nvSpPr>
          <p:cNvPr id="8" name="Text 5"/>
          <p:cNvSpPr txBox="1"/>
          <p:nvPr/>
        </p:nvSpPr>
        <p:spPr>
          <a:xfrm>
            <a:off x="749808" y="1792224"/>
            <a:ext cx="4535424" cy="585216"/>
          </a:xfrm>
          <a:prstGeom prst="rect">
            <a:avLst/>
          </a:prstGeom>
          <a:noFill/>
          <a:ln/>
        </p:spPr>
        <p:txBody>
          <a:bodyPr wrap="square" lIns="0" tIns="0" rIns="0" bIns="0" rtlCol="0" anchor="ctr"/>
          <a:lstStyle/>
          <a:p>
            <a:pPr marL="0" indent="0" algn="ctr">
              <a:buNone/>
            </a:pPr>
            <a:r>
              <a:rPr lang="it-IT" sz="1400" b="1" dirty="0">
                <a:solidFill>
                  <a:schemeClr val="tx1"/>
                </a:solidFill>
              </a:rPr>
              <a:t>Problema reale</a:t>
            </a:r>
            <a:endParaRPr lang="it-IT" sz="1400" dirty="0"/>
          </a:p>
        </p:txBody>
      </p:sp>
      <p:sp>
        <p:nvSpPr>
          <p:cNvPr id="9" name="Text 6"/>
          <p:cNvSpPr txBox="1"/>
          <p:nvPr/>
        </p:nvSpPr>
        <p:spPr>
          <a:xfrm>
            <a:off x="5806440" y="1792224"/>
            <a:ext cx="2880360" cy="585216"/>
          </a:xfrm>
          <a:prstGeom prst="rect">
            <a:avLst/>
          </a:prstGeom>
          <a:noFill/>
          <a:ln/>
        </p:spPr>
        <p:txBody>
          <a:bodyPr wrap="square" lIns="0" tIns="0" rIns="0" bIns="0" rtlCol="0" anchor="ctr"/>
          <a:lstStyle/>
          <a:p>
            <a:pPr marL="0" indent="0">
              <a:buNone/>
            </a:pPr>
            <a:r>
              <a:rPr lang="it-IT" sz="1300" dirty="0">
                <a:solidFill>
                  <a:schemeClr val="tx2"/>
                </a:solidFill>
              </a:rPr>
              <a:t>Un bisogno concreto e rilevante</a:t>
            </a:r>
            <a:endParaRPr lang="it-IT" sz="1300" dirty="0"/>
          </a:p>
        </p:txBody>
      </p:sp>
      <p:sp>
        <p:nvSpPr>
          <p:cNvPr id="10" name="imbuto Integrazione nei processi"/>
          <p:cNvSpPr/>
          <p:nvPr/>
        </p:nvSpPr>
        <p:spPr>
          <a:xfrm>
            <a:off x="1033272" y="2487168"/>
            <a:ext cx="3968496" cy="585216"/>
          </a:xfrm>
          <a:prstGeom prst="roundRect">
            <a:avLst>
              <a:gd name="adj" fmla="val 12500"/>
            </a:avLst>
          </a:prstGeom>
          <a:solidFill>
            <a:schemeClr val="bg2"/>
          </a:solidFill>
          <a:ln/>
        </p:spPr>
        <p:txBody>
          <a:bodyPr/>
          <a:lstStyle/>
          <a:p>
            <a:endParaRPr lang="it-IT" dirty="0"/>
          </a:p>
        </p:txBody>
      </p:sp>
      <p:sp>
        <p:nvSpPr>
          <p:cNvPr id="11" name="Text 8"/>
          <p:cNvSpPr txBox="1"/>
          <p:nvPr/>
        </p:nvSpPr>
        <p:spPr>
          <a:xfrm>
            <a:off x="1033272" y="2487168"/>
            <a:ext cx="3968496" cy="585216"/>
          </a:xfrm>
          <a:prstGeom prst="rect">
            <a:avLst/>
          </a:prstGeom>
          <a:noFill/>
          <a:ln/>
        </p:spPr>
        <p:txBody>
          <a:bodyPr wrap="square" lIns="0" tIns="0" rIns="0" bIns="0" rtlCol="0" anchor="ctr"/>
          <a:lstStyle/>
          <a:p>
            <a:pPr marL="0" indent="0" algn="ctr">
              <a:buNone/>
            </a:pPr>
            <a:r>
              <a:rPr lang="it-IT" sz="1400" b="1" dirty="0">
                <a:solidFill>
                  <a:schemeClr val="tx1"/>
                </a:solidFill>
              </a:rPr>
              <a:t>Integrazione nei processi</a:t>
            </a:r>
            <a:endParaRPr lang="it-IT" sz="1400" dirty="0"/>
          </a:p>
        </p:txBody>
      </p:sp>
      <p:sp>
        <p:nvSpPr>
          <p:cNvPr id="12" name="Text 9"/>
          <p:cNvSpPr txBox="1"/>
          <p:nvPr/>
        </p:nvSpPr>
        <p:spPr>
          <a:xfrm>
            <a:off x="5806440" y="2487168"/>
            <a:ext cx="2880360" cy="585216"/>
          </a:xfrm>
          <a:prstGeom prst="rect">
            <a:avLst/>
          </a:prstGeom>
          <a:noFill/>
          <a:ln/>
        </p:spPr>
        <p:txBody>
          <a:bodyPr wrap="square" lIns="0" tIns="0" rIns="0" bIns="0" rtlCol="0" anchor="ctr"/>
          <a:lstStyle/>
          <a:p>
            <a:pPr marL="0" indent="0">
              <a:buNone/>
            </a:pPr>
            <a:r>
              <a:rPr lang="it-IT" sz="1300" dirty="0">
                <a:solidFill>
                  <a:schemeClr val="tx2"/>
                </a:solidFill>
              </a:rPr>
              <a:t>Dati, strumenti, flussi di lavoro</a:t>
            </a:r>
            <a:endParaRPr lang="it-IT" sz="1300" dirty="0"/>
          </a:p>
        </p:txBody>
      </p:sp>
      <p:sp>
        <p:nvSpPr>
          <p:cNvPr id="13" name="imbuto Adozione delle persone"/>
          <p:cNvSpPr/>
          <p:nvPr/>
        </p:nvSpPr>
        <p:spPr>
          <a:xfrm>
            <a:off x="1316736" y="3182112"/>
            <a:ext cx="3401568" cy="585216"/>
          </a:xfrm>
          <a:prstGeom prst="roundRect">
            <a:avLst>
              <a:gd name="adj" fmla="val 12500"/>
            </a:avLst>
          </a:prstGeom>
          <a:solidFill>
            <a:schemeClr val="bg2"/>
          </a:solidFill>
          <a:ln/>
        </p:spPr>
        <p:txBody>
          <a:bodyPr/>
          <a:lstStyle/>
          <a:p>
            <a:endParaRPr lang="it-IT" dirty="0"/>
          </a:p>
        </p:txBody>
      </p:sp>
      <p:sp>
        <p:nvSpPr>
          <p:cNvPr id="14" name="Text 11"/>
          <p:cNvSpPr txBox="1"/>
          <p:nvPr/>
        </p:nvSpPr>
        <p:spPr>
          <a:xfrm>
            <a:off x="1316736" y="3182112"/>
            <a:ext cx="3401568" cy="585216"/>
          </a:xfrm>
          <a:prstGeom prst="rect">
            <a:avLst/>
          </a:prstGeom>
          <a:noFill/>
          <a:ln/>
        </p:spPr>
        <p:txBody>
          <a:bodyPr wrap="square" lIns="0" tIns="0" rIns="0" bIns="0" rtlCol="0" anchor="ctr"/>
          <a:lstStyle/>
          <a:p>
            <a:pPr marL="0" indent="0" algn="ctr">
              <a:buNone/>
            </a:pPr>
            <a:r>
              <a:rPr lang="it-IT" sz="1400" b="1" dirty="0">
                <a:solidFill>
                  <a:schemeClr val="tx1"/>
                </a:solidFill>
              </a:rPr>
              <a:t>Adozione delle persone</a:t>
            </a:r>
            <a:endParaRPr lang="it-IT" sz="1400" dirty="0"/>
          </a:p>
        </p:txBody>
      </p:sp>
      <p:sp>
        <p:nvSpPr>
          <p:cNvPr id="15" name="Text 12"/>
          <p:cNvSpPr txBox="1"/>
          <p:nvPr/>
        </p:nvSpPr>
        <p:spPr>
          <a:xfrm>
            <a:off x="5806440" y="3182112"/>
            <a:ext cx="2880360" cy="585216"/>
          </a:xfrm>
          <a:prstGeom prst="rect">
            <a:avLst/>
          </a:prstGeom>
          <a:noFill/>
          <a:ln/>
        </p:spPr>
        <p:txBody>
          <a:bodyPr wrap="square" lIns="0" tIns="0" rIns="0" bIns="0" rtlCol="0" anchor="ctr"/>
          <a:lstStyle/>
          <a:p>
            <a:pPr marL="0" indent="0">
              <a:buNone/>
            </a:pPr>
            <a:r>
              <a:rPr lang="it-IT" sz="1300" dirty="0">
                <a:solidFill>
                  <a:schemeClr val="tx2"/>
                </a:solidFill>
              </a:rPr>
              <a:t>Competenze, fiducia, utilità percepita</a:t>
            </a:r>
            <a:endParaRPr lang="it-IT" sz="1300" dirty="0"/>
          </a:p>
        </p:txBody>
      </p:sp>
      <p:sp>
        <p:nvSpPr>
          <p:cNvPr id="16" name="imbuto Valore misurato"/>
          <p:cNvSpPr/>
          <p:nvPr/>
        </p:nvSpPr>
        <p:spPr>
          <a:xfrm>
            <a:off x="1600200" y="3877056"/>
            <a:ext cx="2834640" cy="585216"/>
          </a:xfrm>
          <a:prstGeom prst="roundRect">
            <a:avLst>
              <a:gd name="adj" fmla="val 12500"/>
            </a:avLst>
          </a:prstGeom>
          <a:solidFill>
            <a:schemeClr val="accent1"/>
          </a:solidFill>
          <a:ln/>
        </p:spPr>
        <p:txBody>
          <a:bodyPr/>
          <a:lstStyle/>
          <a:p>
            <a:endParaRPr lang="it-IT" dirty="0"/>
          </a:p>
        </p:txBody>
      </p:sp>
      <p:sp>
        <p:nvSpPr>
          <p:cNvPr id="17" name="Text 14"/>
          <p:cNvSpPr txBox="1"/>
          <p:nvPr/>
        </p:nvSpPr>
        <p:spPr>
          <a:xfrm>
            <a:off x="1600200" y="3877056"/>
            <a:ext cx="2834640" cy="585216"/>
          </a:xfrm>
          <a:prstGeom prst="rect">
            <a:avLst/>
          </a:prstGeom>
          <a:noFill/>
          <a:ln/>
        </p:spPr>
        <p:txBody>
          <a:bodyPr wrap="square" lIns="0" tIns="0" rIns="0" bIns="0" rtlCol="0" anchor="ctr"/>
          <a:lstStyle/>
          <a:p>
            <a:pPr marL="0" indent="0" algn="ctr">
              <a:buNone/>
            </a:pPr>
            <a:r>
              <a:rPr lang="it-IT" sz="1400" b="1" dirty="0">
                <a:solidFill>
                  <a:schemeClr val="bg1"/>
                </a:solidFill>
              </a:rPr>
              <a:t>Valore misurato</a:t>
            </a:r>
            <a:endParaRPr lang="it-IT" sz="1400" dirty="0"/>
          </a:p>
        </p:txBody>
      </p:sp>
      <p:sp>
        <p:nvSpPr>
          <p:cNvPr id="18" name="Text 15"/>
          <p:cNvSpPr txBox="1"/>
          <p:nvPr/>
        </p:nvSpPr>
        <p:spPr>
          <a:xfrm>
            <a:off x="5806440" y="3877056"/>
            <a:ext cx="2880360" cy="585216"/>
          </a:xfrm>
          <a:prstGeom prst="rect">
            <a:avLst/>
          </a:prstGeom>
          <a:noFill/>
          <a:ln/>
        </p:spPr>
        <p:txBody>
          <a:bodyPr wrap="square" lIns="0" tIns="0" rIns="0" bIns="0" rtlCol="0" anchor="ctr"/>
          <a:lstStyle/>
          <a:p>
            <a:pPr marL="0" indent="0">
              <a:buNone/>
            </a:pPr>
            <a:r>
              <a:rPr lang="it-IT" sz="1300" dirty="0">
                <a:solidFill>
                  <a:schemeClr val="tx2"/>
                </a:solidFill>
              </a:rPr>
              <a:t>Benefici reali al netto dei costi</a:t>
            </a:r>
            <a:endParaRPr lang="it-IT" sz="1300" dirty="0"/>
          </a:p>
        </p:txBody>
      </p:sp>
      <p:sp>
        <p:nvSpPr>
          <p:cNvPr id="19" name="Text 16"/>
          <p:cNvSpPr txBox="1"/>
          <p:nvPr/>
        </p:nvSpPr>
        <p:spPr>
          <a:xfrm>
            <a:off x="457199" y="4572000"/>
            <a:ext cx="8039819" cy="228600"/>
          </a:xfrm>
          <a:prstGeom prst="rect">
            <a:avLst/>
          </a:prstGeom>
          <a:noFill/>
          <a:ln/>
        </p:spPr>
        <p:txBody>
          <a:bodyPr wrap="square" lIns="0" tIns="0" rIns="0" bIns="0" rtlCol="0" anchor="t"/>
          <a:lstStyle/>
          <a:p>
            <a:pPr marL="0" indent="0">
              <a:buNone/>
            </a:pPr>
            <a:r>
              <a:rPr lang="it-IT" sz="1100" i="1" dirty="0">
                <a:solidFill>
                  <a:schemeClr val="accent2"/>
                </a:solidFill>
              </a:rPr>
              <a:t>Il valore dell’AI si costruisce collegando le capacità tecnologiche a problemi reali, processi adeguati e competenze delle persone </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25</a:t>
            </a:fld>
            <a:endParaRPr lang="it-IT"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08F6-C20E-5F17-56C6-180F4AA30EF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68275A-D750-8CC0-0997-453DC42F7D6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411CC301-50BD-A556-768E-3067B8E393D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Fondamenti e </a:t>
            </a:r>
            <a:r>
              <a:rPr lang="en-US" sz="3600" b="1" dirty="0" err="1">
                <a:solidFill>
                  <a:schemeClr val="bg1"/>
                </a:solidFill>
              </a:rPr>
              <a:t>funzionamento</a:t>
            </a:r>
            <a:r>
              <a:rPr lang="en-US" sz="3600" b="1" dirty="0">
                <a:solidFill>
                  <a:schemeClr val="bg1"/>
                </a:solidFill>
              </a:rPr>
              <a:t> </a:t>
            </a:r>
            <a:r>
              <a:rPr lang="en-US" sz="3600" b="1" dirty="0" err="1">
                <a:solidFill>
                  <a:schemeClr val="bg1"/>
                </a:solidFill>
              </a:rPr>
              <a:t>dell’Ai</a:t>
            </a:r>
            <a:endParaRPr lang="en-US" sz="3600" dirty="0"/>
          </a:p>
        </p:txBody>
      </p:sp>
      <p:sp>
        <p:nvSpPr>
          <p:cNvPr id="4" name="Text 0">
            <a:extLst>
              <a:ext uri="{FF2B5EF4-FFF2-40B4-BE49-F238E27FC236}">
                <a16:creationId xmlns:a16="http://schemas.microsoft.com/office/drawing/2014/main" id="{66998D74-79C9-E793-EF76-124E41B26827}"/>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err="1"/>
              <a:t>SecondoTema</a:t>
            </a:r>
            <a:r>
              <a:rPr lang="en-US" dirty="0"/>
              <a:t> – </a:t>
            </a:r>
            <a:r>
              <a:rPr lang="en-US" dirty="0" err="1"/>
              <a:t>Giornata</a:t>
            </a:r>
            <a:r>
              <a:rPr lang="en-US" dirty="0"/>
              <a:t> 1</a:t>
            </a:r>
            <a:endParaRPr lang="en-US" sz="1600" dirty="0"/>
          </a:p>
        </p:txBody>
      </p:sp>
    </p:spTree>
    <p:extLst>
      <p:ext uri="{BB962C8B-B14F-4D97-AF65-F5344CB8AC3E}">
        <p14:creationId xmlns:p14="http://schemas.microsoft.com/office/powerpoint/2010/main" val="26791993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Una definizione operativa</a:t>
            </a:r>
            <a:endParaRPr lang="it-IT" sz="2600" noProof="0" dirty="0"/>
          </a:p>
        </p:txBody>
      </p:sp>
      <p:sp>
        <p:nvSpPr>
          <p:cNvPr id="4" name="definizione"/>
          <p:cNvSpPr/>
          <p:nvPr/>
        </p:nvSpPr>
        <p:spPr>
          <a:xfrm>
            <a:off x="457200" y="1097280"/>
            <a:ext cx="420624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 DEFINIZIONE DELL'AI ACT, IN SINTESI</a:t>
            </a:r>
            <a:endParaRPr lang="it-IT" sz="1100" noProof="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marL="0" indent="0">
              <a:buNone/>
            </a:pPr>
            <a:r>
              <a:rPr lang="it-IT" sz="1500" noProof="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it-IT" sz="1500" noProof="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marL="0" indent="0">
              <a:buNone/>
            </a:pPr>
            <a:r>
              <a:rPr lang="it-IT" sz="1000" noProof="0" dirty="0">
                <a:solidFill>
                  <a:schemeClr val="accent3"/>
                </a:solidFill>
              </a:rPr>
              <a:t>Fonte: Regolamento UE 2024/1689, art. 3</a:t>
            </a:r>
            <a:endParaRPr lang="it-IT" sz="1000" noProof="0" dirty="0"/>
          </a:p>
        </p:txBody>
      </p:sp>
      <p:sp>
        <p:nvSpPr>
          <p:cNvPr id="8" name="cerchio FiInbox"/>
          <p:cNvSpPr/>
          <p:nvPr/>
        </p:nvSpPr>
        <p:spPr>
          <a:xfrm>
            <a:off x="4937760" y="1097280"/>
            <a:ext cx="457200" cy="457200"/>
          </a:xfrm>
          <a:prstGeom prst="ellipse">
            <a:avLst/>
          </a:prstGeom>
          <a:solidFill>
            <a:schemeClr val="accent1"/>
          </a:solidFill>
          <a:ln/>
        </p:spPr>
        <p:txBody>
          <a:bodyPr/>
          <a:lstStyle/>
          <a:p>
            <a:endParaRPr lang="it-IT" noProof="0" dirty="0"/>
          </a:p>
        </p:txBody>
      </p:sp>
      <p:pic>
        <p:nvPicPr>
          <p:cNvPr id="9" name="Image 0" descr="FiInbox"/>
          <p:cNvPicPr>
            <a:picLocks noChangeAspect="1"/>
          </p:cNvPicPr>
          <p:nvPr/>
        </p:nvPicPr>
        <p:blipFill>
          <a:blip r:embed="rId3"/>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Riceve input</a:t>
            </a:r>
            <a:endParaRPr lang="it-IT" sz="1400" noProof="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Dati, testi, immagini, segnali</a:t>
            </a:r>
            <a:endParaRPr lang="it-IT" sz="1200" noProof="0" dirty="0"/>
          </a:p>
        </p:txBody>
      </p:sp>
      <p:sp>
        <p:nvSpPr>
          <p:cNvPr id="12" name="cerchio FiCpu"/>
          <p:cNvSpPr/>
          <p:nvPr/>
        </p:nvSpPr>
        <p:spPr>
          <a:xfrm>
            <a:off x="4937760" y="1965960"/>
            <a:ext cx="457200" cy="457200"/>
          </a:xfrm>
          <a:prstGeom prst="ellipse">
            <a:avLst/>
          </a:prstGeom>
          <a:solidFill>
            <a:schemeClr val="accent1"/>
          </a:solidFill>
          <a:ln/>
        </p:spPr>
        <p:txBody>
          <a:bodyPr/>
          <a:lstStyle/>
          <a:p>
            <a:endParaRPr lang="it-IT" noProof="0" dirty="0"/>
          </a:p>
        </p:txBody>
      </p:sp>
      <p:pic>
        <p:nvPicPr>
          <p:cNvPr id="13" name="Image 1" descr="FiCpu"/>
          <p:cNvPicPr>
            <a:picLocks noChangeAspect="1"/>
          </p:cNvPicPr>
          <p:nvPr/>
        </p:nvPicPr>
        <p:blipFill>
          <a:blip r:embed="rId4"/>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Deduce come rispondere</a:t>
            </a:r>
            <a:endParaRPr lang="it-IT" sz="1400" noProof="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Non esegue solo istruzioni scritte riga per riga</a:t>
            </a:r>
            <a:endParaRPr lang="it-IT" sz="1200" noProof="0" dirty="0"/>
          </a:p>
        </p:txBody>
      </p:sp>
      <p:sp>
        <p:nvSpPr>
          <p:cNvPr id="16" name="cerchio FiSend"/>
          <p:cNvSpPr/>
          <p:nvPr/>
        </p:nvSpPr>
        <p:spPr>
          <a:xfrm>
            <a:off x="4937760" y="2834640"/>
            <a:ext cx="457200" cy="457200"/>
          </a:xfrm>
          <a:prstGeom prst="ellipse">
            <a:avLst/>
          </a:prstGeom>
          <a:solidFill>
            <a:schemeClr val="accent1"/>
          </a:solidFill>
          <a:ln/>
        </p:spPr>
        <p:txBody>
          <a:bodyPr/>
          <a:lstStyle/>
          <a:p>
            <a:endParaRPr lang="it-IT" noProof="0" dirty="0"/>
          </a:p>
        </p:txBody>
      </p:sp>
      <p:pic>
        <p:nvPicPr>
          <p:cNvPr id="17" name="Image 2" descr="FiSend"/>
          <p:cNvPicPr>
            <a:picLocks noChangeAspect="1"/>
          </p:cNvPicPr>
          <p:nvPr/>
        </p:nvPicPr>
        <p:blipFill>
          <a:blip r:embed="rId5"/>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Produce output</a:t>
            </a:r>
            <a:endParaRPr lang="it-IT" sz="1400" noProof="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Previsioni, contenuti, raccomandazioni, decisioni</a:t>
            </a:r>
            <a:endParaRPr lang="it-IT" sz="1200" noProof="0" dirty="0"/>
          </a:p>
        </p:txBody>
      </p:sp>
      <p:sp>
        <p:nvSpPr>
          <p:cNvPr id="20" name="cerchio FiSliders"/>
          <p:cNvSpPr/>
          <p:nvPr/>
        </p:nvSpPr>
        <p:spPr>
          <a:xfrm>
            <a:off x="4937760" y="3703320"/>
            <a:ext cx="457200" cy="457200"/>
          </a:xfrm>
          <a:prstGeom prst="ellipse">
            <a:avLst/>
          </a:prstGeom>
          <a:solidFill>
            <a:schemeClr val="accent1"/>
          </a:solidFill>
          <a:ln/>
        </p:spPr>
        <p:txBody>
          <a:bodyPr/>
          <a:lstStyle/>
          <a:p>
            <a:endParaRPr lang="it-IT" noProof="0" dirty="0"/>
          </a:p>
        </p:txBody>
      </p:sp>
      <p:pic>
        <p:nvPicPr>
          <p:cNvPr id="21" name="Image 3" descr="FiSliders"/>
          <p:cNvPicPr>
            <a:picLocks noChangeAspect="1"/>
          </p:cNvPicPr>
          <p:nvPr/>
        </p:nvPicPr>
        <p:blipFill>
          <a:blip r:embed="rId6"/>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Autonomia variabile</a:t>
            </a:r>
            <a:endParaRPr lang="it-IT" sz="1400" noProof="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 semplice supporto ad azione autonoma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27</a:t>
            </a:fld>
            <a:endParaRPr lang="it-IT" noProof="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Comprensione apparente: l'effetto ELIZA</a:t>
            </a:r>
            <a:endParaRPr lang="it-IT" sz="2600" noProof="0" dirty="0"/>
          </a:p>
        </p:txBody>
      </p:sp>
      <p:sp>
        <p:nvSpPr>
          <p:cNvPr id="4" name="ELIZA"/>
          <p:cNvSpPr/>
          <p:nvPr/>
        </p:nvSpPr>
        <p:spPr>
          <a:xfrm>
            <a:off x="457200" y="1097280"/>
            <a:ext cx="36576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291840" cy="365760"/>
          </a:xfrm>
          <a:prstGeom prst="rect">
            <a:avLst/>
          </a:prstGeom>
          <a:noFill/>
          <a:ln/>
        </p:spPr>
        <p:txBody>
          <a:bodyPr wrap="square" lIns="0" tIns="0" rIns="0" bIns="0" rtlCol="0" anchor="t"/>
          <a:lstStyle/>
          <a:p>
            <a:pPr marL="0" indent="0">
              <a:buNone/>
            </a:pPr>
            <a:r>
              <a:rPr lang="it-IT" sz="1800" b="1" noProof="0" dirty="0">
                <a:solidFill>
                  <a:schemeClr val="accent1"/>
                </a:solidFill>
              </a:rPr>
              <a:t>1966: ELIZA</a:t>
            </a:r>
            <a:endParaRPr lang="it-IT" sz="1800" noProof="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marL="0" indent="0">
              <a:buNone/>
            </a:pPr>
            <a:r>
              <a:rPr lang="it-IT" sz="1300" noProof="0" dirty="0">
                <a:solidFill>
                  <a:schemeClr val="tx2"/>
                </a:solidFill>
              </a:rPr>
              <a:t>Un programma di poche regole che simulava uno psicoterapeuta</a:t>
            </a:r>
            <a:endParaRPr lang="it-IT" sz="1300" noProof="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txBody>
          <a:bodyPr/>
          <a:lstStyle/>
          <a:p>
            <a:endParaRPr lang="it-IT" noProof="0" dirty="0"/>
          </a:p>
        </p:txBody>
      </p:sp>
      <p:sp>
        <p:nvSpPr>
          <p:cNvPr id="8" name="Text 5"/>
          <p:cNvSpPr txBox="1"/>
          <p:nvPr/>
        </p:nvSpPr>
        <p:spPr>
          <a:xfrm>
            <a:off x="685800" y="2240280"/>
            <a:ext cx="2651760" cy="457200"/>
          </a:xfrm>
          <a:prstGeom prst="rect">
            <a:avLst/>
          </a:prstGeom>
          <a:noFill/>
          <a:ln/>
        </p:spPr>
        <p:txBody>
          <a:bodyPr wrap="square" lIns="0" tIns="0" rIns="0" bIns="0" rtlCol="0" anchor="ctr"/>
          <a:lstStyle/>
          <a:p>
            <a:pPr marL="0" indent="0" algn="ctr">
              <a:buNone/>
            </a:pPr>
            <a:r>
              <a:rPr lang="it-IT" sz="1200" noProof="0" dirty="0">
                <a:solidFill>
                  <a:schemeClr val="tx1"/>
                </a:solidFill>
              </a:rPr>
              <a:t>Sono triste per mio padre</a:t>
            </a:r>
            <a:endParaRPr lang="it-IT" sz="1200" noProof="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txBody>
          <a:bodyPr/>
          <a:lstStyle/>
          <a:p>
            <a:endParaRPr lang="it-IT" noProof="0" dirty="0"/>
          </a:p>
        </p:txBody>
      </p:sp>
      <p:sp>
        <p:nvSpPr>
          <p:cNvPr id="10" name="Text 7"/>
          <p:cNvSpPr txBox="1"/>
          <p:nvPr/>
        </p:nvSpPr>
        <p:spPr>
          <a:xfrm>
            <a:off x="1234440" y="2788920"/>
            <a:ext cx="2651760" cy="457200"/>
          </a:xfrm>
          <a:prstGeom prst="rect">
            <a:avLst/>
          </a:prstGeom>
          <a:noFill/>
          <a:ln/>
        </p:spPr>
        <p:txBody>
          <a:bodyPr wrap="square" lIns="0" tIns="0" rIns="0" bIns="0" rtlCol="0" anchor="ctr"/>
          <a:lstStyle/>
          <a:p>
            <a:pPr marL="0" indent="0" algn="ctr">
              <a:buNone/>
            </a:pPr>
            <a:r>
              <a:rPr lang="it-IT" sz="1200" noProof="0" dirty="0">
                <a:solidFill>
                  <a:schemeClr val="bg1"/>
                </a:solidFill>
              </a:rPr>
              <a:t>Parlami della tua famiglia</a:t>
            </a:r>
            <a:endParaRPr lang="it-IT" sz="1200" noProof="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marL="0" indent="0">
              <a:buNone/>
            </a:pPr>
            <a:r>
              <a:rPr lang="it-IT" sz="1300" i="1" noProof="0" dirty="0">
                <a:solidFill>
                  <a:schemeClr val="tx1"/>
                </a:solidFill>
              </a:rPr>
              <a:t>Molti utenti gli attribuivano comprensione ed empatia.</a:t>
            </a:r>
            <a:endParaRPr lang="it-IT" sz="1300" noProof="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marL="0" indent="0">
              <a:buNone/>
            </a:pPr>
            <a:r>
              <a:rPr lang="it-IT" sz="1000" noProof="0" dirty="0">
                <a:solidFill>
                  <a:schemeClr val="accent2"/>
                </a:solidFill>
              </a:rPr>
              <a:t>Fonte: </a:t>
            </a:r>
            <a:r>
              <a:rPr lang="it-IT" sz="1000" noProof="0" dirty="0" err="1">
                <a:solidFill>
                  <a:schemeClr val="accent2"/>
                </a:solidFill>
              </a:rPr>
              <a:t>Weizenbaum</a:t>
            </a:r>
            <a:r>
              <a:rPr lang="it-IT" sz="1000" noProof="0" dirty="0">
                <a:solidFill>
                  <a:schemeClr val="accent2"/>
                </a:solidFill>
              </a:rPr>
              <a:t>, 1966</a:t>
            </a:r>
            <a:endParaRPr lang="it-IT" sz="1000" noProof="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600" b="1" noProof="0" dirty="0">
                <a:solidFill>
                  <a:schemeClr val="tx1"/>
                </a:solidFill>
              </a:rPr>
              <a:t>L'effetto ELIZA oggi</a:t>
            </a:r>
            <a:endParaRPr lang="it-IT" sz="1600" noProof="0" dirty="0"/>
          </a:p>
        </p:txBody>
      </p:sp>
      <p:sp>
        <p:nvSpPr>
          <p:cNvPr id="14" name="cerchio FiMessageCircle"/>
          <p:cNvSpPr/>
          <p:nvPr/>
        </p:nvSpPr>
        <p:spPr>
          <a:xfrm>
            <a:off x="4434840" y="1554480"/>
            <a:ext cx="457200" cy="457200"/>
          </a:xfrm>
          <a:prstGeom prst="ellipse">
            <a:avLst/>
          </a:prstGeom>
          <a:solidFill>
            <a:schemeClr val="accent1"/>
          </a:solidFill>
          <a:ln/>
        </p:spPr>
        <p:txBody>
          <a:bodyPr/>
          <a:lstStyle/>
          <a:p>
            <a:endParaRPr lang="it-IT" noProof="0" dirty="0"/>
          </a:p>
        </p:txBody>
      </p:sp>
      <p:pic>
        <p:nvPicPr>
          <p:cNvPr id="15" name="Image 0" descr="FiMessageCircle"/>
          <p:cNvPicPr>
            <a:picLocks noChangeAspect="1"/>
          </p:cNvPicPr>
          <p:nvPr/>
        </p:nvPicPr>
        <p:blipFill>
          <a:blip r:embed="rId3"/>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Linguaggio molto più fluente e naturale</a:t>
            </a:r>
            <a:endParaRPr lang="it-IT" sz="1400" noProof="0" dirty="0"/>
          </a:p>
        </p:txBody>
      </p:sp>
      <p:sp>
        <p:nvSpPr>
          <p:cNvPr id="17" name="cerchio FiSmile"/>
          <p:cNvSpPr/>
          <p:nvPr/>
        </p:nvSpPr>
        <p:spPr>
          <a:xfrm>
            <a:off x="4434840" y="2286000"/>
            <a:ext cx="457200" cy="457200"/>
          </a:xfrm>
          <a:prstGeom prst="ellipse">
            <a:avLst/>
          </a:prstGeom>
          <a:solidFill>
            <a:schemeClr val="accent1"/>
          </a:solidFill>
          <a:ln/>
        </p:spPr>
        <p:txBody>
          <a:bodyPr/>
          <a:lstStyle/>
          <a:p>
            <a:endParaRPr lang="it-IT" noProof="0" dirty="0"/>
          </a:p>
        </p:txBody>
      </p:sp>
      <p:pic>
        <p:nvPicPr>
          <p:cNvPr id="18" name="Image 1" descr="FiSmile"/>
          <p:cNvPicPr>
            <a:picLocks noChangeAspect="1"/>
          </p:cNvPicPr>
          <p:nvPr/>
        </p:nvPicPr>
        <p:blipFill>
          <a:blip r:embed="rId4"/>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Espressioni come "penso", "mi dispiace", "capisco"</a:t>
            </a:r>
            <a:endParaRPr lang="it-IT" sz="1400" noProof="0" dirty="0"/>
          </a:p>
        </p:txBody>
      </p:sp>
      <p:sp>
        <p:nvSpPr>
          <p:cNvPr id="20" name="cerchio FiUser"/>
          <p:cNvSpPr/>
          <p:nvPr/>
        </p:nvSpPr>
        <p:spPr>
          <a:xfrm>
            <a:off x="4434840" y="3017520"/>
            <a:ext cx="457200" cy="457200"/>
          </a:xfrm>
          <a:prstGeom prst="ellipse">
            <a:avLst/>
          </a:prstGeom>
          <a:solidFill>
            <a:schemeClr val="accent1"/>
          </a:solidFill>
          <a:ln/>
        </p:spPr>
        <p:txBody>
          <a:bodyPr/>
          <a:lstStyle/>
          <a:p>
            <a:endParaRPr lang="it-IT" noProof="0" dirty="0"/>
          </a:p>
        </p:txBody>
      </p:sp>
      <p:pic>
        <p:nvPicPr>
          <p:cNvPr id="21" name="Image 2" descr="FiUser"/>
          <p:cNvPicPr>
            <a:picLocks noChangeAspect="1"/>
          </p:cNvPicPr>
          <p:nvPr/>
        </p:nvPicPr>
        <p:blipFill>
          <a:blip r:embed="rId5"/>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Interfacce conversazionali che invitano al dialogo</a:t>
            </a:r>
            <a:endParaRPr lang="it-IT" sz="1400" noProof="0" dirty="0"/>
          </a:p>
        </p:txBody>
      </p:sp>
      <p:sp>
        <p:nvSpPr>
          <p:cNvPr id="23" name="cerchio FiEye"/>
          <p:cNvSpPr/>
          <p:nvPr/>
        </p:nvSpPr>
        <p:spPr>
          <a:xfrm>
            <a:off x="4434840" y="3749040"/>
            <a:ext cx="457200" cy="457200"/>
          </a:xfrm>
          <a:prstGeom prst="ellipse">
            <a:avLst/>
          </a:prstGeom>
          <a:solidFill>
            <a:schemeClr val="accent5"/>
          </a:solidFill>
          <a:ln/>
        </p:spPr>
        <p:txBody>
          <a:bodyPr/>
          <a:lstStyle/>
          <a:p>
            <a:endParaRPr lang="it-IT" noProof="0" dirty="0"/>
          </a:p>
        </p:txBody>
      </p:sp>
      <p:pic>
        <p:nvPicPr>
          <p:cNvPr id="24" name="Image 3" descr="FiEye"/>
          <p:cNvPicPr>
            <a:picLocks noChangeAspect="1"/>
          </p:cNvPicPr>
          <p:nvPr/>
        </p:nvPicPr>
        <p:blipFill>
          <a:blip r:embed="rId6"/>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marL="0" indent="0">
              <a:buNone/>
            </a:pPr>
            <a:r>
              <a:rPr lang="it-IT" sz="1400" b="1" noProof="0" dirty="0">
                <a:solidFill>
                  <a:schemeClr val="tx1"/>
                </a:solidFill>
              </a:rPr>
              <a:t>Formule apprese da testi umani: non provano pensieri o emozioni</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28</a:t>
            </a:fld>
            <a:endParaRPr lang="it-IT"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2.2</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Le principali categorie di 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Approcci e capacità differenti, adatti a problemi differenti</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29</a:t>
            </a:fld>
            <a:endParaRPr lang="it-IT"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Quattro criteri di classificazione diversi</a:t>
            </a:r>
            <a:endParaRPr lang="it-IT" sz="2600" noProof="0" dirty="0"/>
          </a:p>
        </p:txBody>
      </p:sp>
      <p:graphicFrame>
        <p:nvGraphicFramePr>
          <p:cNvPr id="15" name="Table 0"/>
          <p:cNvGraphicFramePr>
            <a:graphicFrameLocks noGrp="1"/>
          </p:cNvGraphicFramePr>
          <p:nvPr>
            <p:extLst>
              <p:ext uri="{D42A27DB-BD31-4B8C-83A1-F6EECF244321}">
                <p14:modId xmlns:p14="http://schemas.microsoft.com/office/powerpoint/2010/main" val="400310655"/>
              </p:ext>
            </p:extLst>
          </p:nvPr>
        </p:nvGraphicFramePr>
        <p:xfrm>
          <a:off x="457200" y="1097280"/>
          <a:ext cx="8229600" cy="23774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75488">
                <a:tc>
                  <a:txBody>
                    <a:bodyPr/>
                    <a:lstStyle/>
                    <a:p>
                      <a:pPr marL="0" indent="0">
                        <a:buNone/>
                      </a:pPr>
                      <a:r>
                        <a:rPr lang="it-IT" sz="1300" b="1" noProof="0" dirty="0">
                          <a:solidFill>
                            <a:schemeClr val="bg1"/>
                          </a:solidFill>
                        </a:rPr>
                        <a:t>Domanda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Criterio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Categorie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it-IT" sz="1300" b="1" noProof="0" dirty="0">
                          <a:solidFill>
                            <a:schemeClr val="tx1"/>
                          </a:solidFill>
                        </a:rPr>
                        <a:t>Come costruisce la conoscenza?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Approccio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AI simbolica a regole  /  Machine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it-IT" sz="1300" b="1" noProof="0" dirty="0">
                          <a:solidFill>
                            <a:schemeClr val="tx1"/>
                          </a:solidFill>
                        </a:rPr>
                        <a:t>Con quale tecnica apprende?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Tecnica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ML classico  /  Deep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it-IT" sz="1300" b="1" noProof="0" dirty="0">
                          <a:solidFill>
                            <a:schemeClr val="tx1"/>
                          </a:solidFill>
                        </a:rPr>
                        <a:t>Che cosa produce?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Funzione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Predittiva  /  </a:t>
                      </a:r>
                      <a:r>
                        <a:rPr lang="it-IT" sz="1300" noProof="0" dirty="0" err="1">
                          <a:solidFill>
                            <a:schemeClr val="tx1"/>
                          </a:solidFill>
                        </a:rPr>
                        <a:t>Classificativa</a:t>
                      </a:r>
                      <a:r>
                        <a:rPr lang="it-IT" sz="1300" noProof="0" dirty="0">
                          <a:solidFill>
                            <a:schemeClr val="tx1"/>
                          </a:solidFill>
                        </a:rPr>
                        <a:t>  /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it-IT" sz="1300" b="1" noProof="0" dirty="0">
                          <a:solidFill>
                            <a:schemeClr val="tx1"/>
                          </a:solidFill>
                        </a:rPr>
                        <a:t>Quali dati tratta?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Unimodale  /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txBody>
          <a:bodyPr/>
          <a:lstStyle/>
          <a:p>
            <a:endParaRPr lang="it-IT" noProof="0" dirty="0"/>
          </a:p>
        </p:txBody>
      </p:sp>
      <p:sp>
        <p:nvSpPr>
          <p:cNvPr id="6" name="cerchio FiLayers"/>
          <p:cNvSpPr/>
          <p:nvPr/>
        </p:nvSpPr>
        <p:spPr>
          <a:xfrm>
            <a:off x="640080" y="3813048"/>
            <a:ext cx="512064" cy="512064"/>
          </a:xfrm>
          <a:prstGeom prst="ellipse">
            <a:avLst/>
          </a:prstGeom>
          <a:solidFill>
            <a:schemeClr val="accent1"/>
          </a:solidFill>
          <a:ln/>
        </p:spPr>
        <p:txBody>
          <a:bodyPr/>
          <a:lstStyle/>
          <a:p>
            <a:endParaRPr lang="it-IT" noProof="0" dirty="0"/>
          </a:p>
        </p:txBody>
      </p:sp>
      <p:pic>
        <p:nvPicPr>
          <p:cNvPr id="7" name="Image 0" descr="FiLayers"/>
          <p:cNvPicPr>
            <a:picLocks noChangeAspect="1"/>
          </p:cNvPicPr>
          <p:nvPr/>
        </p:nvPicPr>
        <p:blipFill>
          <a:blip r:embed="rId3"/>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500" noProof="0" dirty="0">
                <a:solidFill>
                  <a:schemeClr val="accent3"/>
                </a:solidFill>
              </a:rPr>
              <a:t>Un grande modello linguistico è insieme: </a:t>
            </a:r>
            <a:r>
              <a:rPr lang="it-IT" sz="1500" b="1" noProof="0" dirty="0">
                <a:solidFill>
                  <a:schemeClr val="bg1"/>
                </a:solidFill>
              </a:rPr>
              <a:t>Machine Learning, Deep Learning, generativo e spesso multimodale.</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30</a:t>
            </a:fld>
            <a:endParaRPr lang="it-IT" noProof="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simbolica e Machine Learning</a:t>
            </a:r>
            <a:endParaRPr lang="it-IT" sz="2600" noProof="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txBody>
          <a:bodyPr/>
          <a:lstStyle/>
          <a:p>
            <a:endParaRPr lang="it-IT" noProof="0" dirty="0"/>
          </a:p>
        </p:txBody>
      </p:sp>
      <p:sp>
        <p:nvSpPr>
          <p:cNvPr id="5" name="cerchio FiList"/>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Lis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AI simbolica a regole</a:t>
            </a:r>
            <a:endParaRPr lang="it-IT" sz="1600" noProof="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Le persone scrivono le regole</a:t>
            </a:r>
            <a:endParaRPr lang="it-IT" sz="1300" noProof="0" dirty="0"/>
          </a:p>
          <a:p>
            <a:pPr marL="177800" indent="-177800">
              <a:spcAft>
                <a:spcPts val="300"/>
              </a:spcAft>
              <a:buSzPct val="100000"/>
              <a:buChar char="•"/>
            </a:pPr>
            <a:r>
              <a:rPr lang="it-IT" sz="1300" noProof="0" dirty="0">
                <a:solidFill>
                  <a:schemeClr val="tx2"/>
                </a:solidFill>
              </a:rPr>
              <a:t>Trasparente: si legge la regola applicata</a:t>
            </a:r>
            <a:endParaRPr lang="it-IT" sz="1300" noProof="0" dirty="0"/>
          </a:p>
          <a:p>
            <a:pPr marL="177800" indent="-177800">
              <a:spcAft>
                <a:spcPts val="300"/>
              </a:spcAft>
              <a:buSzPct val="100000"/>
              <a:buChar char="•"/>
            </a:pPr>
            <a:r>
              <a:rPr lang="it-IT" sz="1300" noProof="0" dirty="0">
                <a:solidFill>
                  <a:schemeClr val="tx2"/>
                </a:solidFill>
              </a:rPr>
              <a:t>Prevedibile e controllabile</a:t>
            </a:r>
            <a:endParaRPr lang="it-IT" sz="1300" noProof="0" dirty="0"/>
          </a:p>
          <a:p>
            <a:pPr marL="177800" indent="-177800">
              <a:spcAft>
                <a:spcPts val="300"/>
              </a:spcAft>
              <a:buSzPct val="100000"/>
              <a:buChar char="•"/>
            </a:pPr>
            <a:r>
              <a:rPr lang="it-IT" sz="1300" noProof="0" dirty="0">
                <a:solidFill>
                  <a:schemeClr val="tx2"/>
                </a:solidFill>
              </a:rPr>
              <a:t>Fragile con i casi non previsti</a:t>
            </a:r>
            <a:endParaRPr lang="it-IT" sz="1300" noProof="0" dirty="0"/>
          </a:p>
          <a:p>
            <a:pPr marL="177800" indent="-177800">
              <a:spcAft>
                <a:spcPts val="300"/>
              </a:spcAft>
              <a:buSzPct val="100000"/>
              <a:buChar char="•"/>
            </a:pPr>
            <a:r>
              <a:rPr lang="it-IT" sz="1300" noProof="0" dirty="0">
                <a:solidFill>
                  <a:schemeClr val="tx2"/>
                </a:solidFill>
              </a:rPr>
              <a:t>Difficile per conoscenze intuitive</a:t>
            </a:r>
            <a:endParaRPr lang="it-IT" sz="1300" noProof="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txBody>
          <a:bodyPr/>
          <a:lstStyle/>
          <a:p>
            <a:endParaRPr lang="it-IT" noProof="0"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Machine Learning</a:t>
            </a:r>
            <a:endParaRPr lang="it-IT" sz="1600" noProof="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Il sistema ricava le regole dagli esempi</a:t>
            </a:r>
            <a:endParaRPr lang="it-IT" sz="1300" noProof="0" dirty="0"/>
          </a:p>
          <a:p>
            <a:pPr marL="177800" indent="-177800">
              <a:spcAft>
                <a:spcPts val="300"/>
              </a:spcAft>
              <a:buSzPct val="100000"/>
              <a:buChar char="•"/>
            </a:pPr>
            <a:r>
              <a:rPr lang="it-IT" sz="1300" noProof="0" dirty="0">
                <a:solidFill>
                  <a:schemeClr val="tx2"/>
                </a:solidFill>
              </a:rPr>
              <a:t>Adatto a problemi complessi e sfumati</a:t>
            </a:r>
            <a:endParaRPr lang="it-IT" sz="1300" noProof="0" dirty="0"/>
          </a:p>
          <a:p>
            <a:pPr marL="177800" indent="-177800">
              <a:spcAft>
                <a:spcPts val="300"/>
              </a:spcAft>
              <a:buSzPct val="100000"/>
              <a:buChar char="•"/>
            </a:pPr>
            <a:r>
              <a:rPr lang="it-IT" sz="1300" noProof="0" dirty="0">
                <a:solidFill>
                  <a:schemeClr val="tx2"/>
                </a:solidFill>
              </a:rPr>
              <a:t>Dipende dalla qualità dei dati</a:t>
            </a:r>
            <a:endParaRPr lang="it-IT" sz="1300" noProof="0" dirty="0"/>
          </a:p>
          <a:p>
            <a:pPr marL="177800" indent="-177800">
              <a:spcAft>
                <a:spcPts val="300"/>
              </a:spcAft>
              <a:buSzPct val="100000"/>
              <a:buChar char="•"/>
            </a:pPr>
            <a:r>
              <a:rPr lang="it-IT" sz="1300" noProof="0" dirty="0">
                <a:solidFill>
                  <a:schemeClr val="tx2"/>
                </a:solidFill>
              </a:rPr>
              <a:t>Talvolta meno facile da spiegare</a:t>
            </a:r>
            <a:endParaRPr lang="it-IT" sz="1300" noProof="0" dirty="0"/>
          </a:p>
          <a:p>
            <a:pPr marL="177800" indent="-177800">
              <a:spcAft>
                <a:spcPts val="300"/>
              </a:spcAft>
              <a:buSzPct val="100000"/>
              <a:buChar char="•"/>
            </a:pPr>
            <a:r>
              <a:rPr lang="it-IT" sz="1300" noProof="0" dirty="0">
                <a:solidFill>
                  <a:schemeClr val="tx2"/>
                </a:solidFill>
              </a:rPr>
              <a:t>Spesso combinato con regole esplicite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31</a:t>
            </a:fld>
            <a:endParaRPr lang="it-IT"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Deep Learning e reti neurali</a:t>
            </a:r>
            <a:endParaRPr lang="it-IT" sz="2600" noProof="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txBody>
          <a:bodyPr/>
          <a:lstStyle/>
          <a:p>
            <a:endParaRPr lang="it-IT" noProof="0" dirty="0"/>
          </a:p>
        </p:txBody>
      </p:sp>
      <p:sp>
        <p:nvSpPr>
          <p:cNvPr id="5" name="connessione"/>
          <p:cNvSpPr/>
          <p:nvPr/>
        </p:nvSpPr>
        <p:spPr>
          <a:xfrm>
            <a:off x="960120" y="2423160"/>
            <a:ext cx="1188720" cy="342900"/>
          </a:xfrm>
          <a:prstGeom prst="line">
            <a:avLst/>
          </a:prstGeom>
          <a:noFill/>
          <a:ln w="9525">
            <a:solidFill>
              <a:schemeClr val="accent3"/>
            </a:solidFill>
            <a:prstDash val="solid"/>
          </a:ln>
        </p:spPr>
        <p:txBody>
          <a:bodyPr/>
          <a:lstStyle/>
          <a:p>
            <a:endParaRPr lang="it-IT" noProof="0" dirty="0"/>
          </a:p>
        </p:txBody>
      </p:sp>
      <p:sp>
        <p:nvSpPr>
          <p:cNvPr id="6" name="connessione"/>
          <p:cNvSpPr/>
          <p:nvPr/>
        </p:nvSpPr>
        <p:spPr>
          <a:xfrm>
            <a:off x="960120" y="2423160"/>
            <a:ext cx="1188720" cy="1028700"/>
          </a:xfrm>
          <a:prstGeom prst="line">
            <a:avLst/>
          </a:prstGeom>
          <a:noFill/>
          <a:ln w="9525">
            <a:solidFill>
              <a:schemeClr val="accent3"/>
            </a:solidFill>
            <a:prstDash val="solid"/>
          </a:ln>
        </p:spPr>
        <p:txBody>
          <a:bodyPr/>
          <a:lstStyle/>
          <a:p>
            <a:endParaRPr lang="it-IT" noProof="0" dirty="0"/>
          </a:p>
        </p:txBody>
      </p:sp>
      <p:sp>
        <p:nvSpPr>
          <p:cNvPr id="7" name="connessione"/>
          <p:cNvSpPr/>
          <p:nvPr/>
        </p:nvSpPr>
        <p:spPr>
          <a:xfrm>
            <a:off x="960120" y="2423160"/>
            <a:ext cx="1188720" cy="1714500"/>
          </a:xfrm>
          <a:prstGeom prst="line">
            <a:avLst/>
          </a:prstGeom>
          <a:noFill/>
          <a:ln w="9525">
            <a:solidFill>
              <a:schemeClr val="accent3"/>
            </a:solidFill>
            <a:prstDash val="solid"/>
          </a:ln>
        </p:spPr>
        <p:txBody>
          <a:bodyPr/>
          <a:lstStyle/>
          <a:p>
            <a:endParaRPr lang="it-IT" noProof="0" dirty="0"/>
          </a:p>
        </p:txBody>
      </p:sp>
      <p:sp>
        <p:nvSpPr>
          <p:cNvPr id="8" name="connessione"/>
          <p:cNvSpPr/>
          <p:nvPr/>
        </p:nvSpPr>
        <p:spPr>
          <a:xfrm flipV="1">
            <a:off x="960120" y="2080260"/>
            <a:ext cx="1188720" cy="1028700"/>
          </a:xfrm>
          <a:prstGeom prst="line">
            <a:avLst/>
          </a:prstGeom>
          <a:noFill/>
          <a:ln w="9525">
            <a:solidFill>
              <a:schemeClr val="accent3"/>
            </a:solidFill>
            <a:prstDash val="solid"/>
          </a:ln>
        </p:spPr>
        <p:txBody>
          <a:bodyPr/>
          <a:lstStyle/>
          <a:p>
            <a:endParaRPr lang="it-IT" noProof="0" dirty="0"/>
          </a:p>
        </p:txBody>
      </p:sp>
      <p:sp>
        <p:nvSpPr>
          <p:cNvPr id="9" name="connessione"/>
          <p:cNvSpPr/>
          <p:nvPr/>
        </p:nvSpPr>
        <p:spPr>
          <a:xfrm flipV="1">
            <a:off x="960120" y="2766060"/>
            <a:ext cx="1188720" cy="342900"/>
          </a:xfrm>
          <a:prstGeom prst="line">
            <a:avLst/>
          </a:prstGeom>
          <a:noFill/>
          <a:ln w="9525">
            <a:solidFill>
              <a:schemeClr val="accent3"/>
            </a:solidFill>
            <a:prstDash val="solid"/>
          </a:ln>
        </p:spPr>
        <p:txBody>
          <a:bodyPr/>
          <a:lstStyle/>
          <a:p>
            <a:endParaRPr lang="it-IT" noProof="0" dirty="0"/>
          </a:p>
        </p:txBody>
      </p:sp>
      <p:sp>
        <p:nvSpPr>
          <p:cNvPr id="10" name="connessione"/>
          <p:cNvSpPr/>
          <p:nvPr/>
        </p:nvSpPr>
        <p:spPr>
          <a:xfrm>
            <a:off x="960120" y="3108960"/>
            <a:ext cx="1188720" cy="342900"/>
          </a:xfrm>
          <a:prstGeom prst="line">
            <a:avLst/>
          </a:prstGeom>
          <a:noFill/>
          <a:ln w="9525">
            <a:solidFill>
              <a:schemeClr val="accent3"/>
            </a:solidFill>
            <a:prstDash val="solid"/>
          </a:ln>
        </p:spPr>
        <p:txBody>
          <a:bodyPr/>
          <a:lstStyle/>
          <a:p>
            <a:endParaRPr lang="it-IT" noProof="0" dirty="0"/>
          </a:p>
        </p:txBody>
      </p:sp>
      <p:sp>
        <p:nvSpPr>
          <p:cNvPr id="11" name="connessione"/>
          <p:cNvSpPr/>
          <p:nvPr/>
        </p:nvSpPr>
        <p:spPr>
          <a:xfrm>
            <a:off x="960120" y="3108960"/>
            <a:ext cx="1188720" cy="1028700"/>
          </a:xfrm>
          <a:prstGeom prst="line">
            <a:avLst/>
          </a:prstGeom>
          <a:noFill/>
          <a:ln w="9525">
            <a:solidFill>
              <a:schemeClr val="accent3"/>
            </a:solidFill>
            <a:prstDash val="solid"/>
          </a:ln>
        </p:spPr>
        <p:txBody>
          <a:bodyPr/>
          <a:lstStyle/>
          <a:p>
            <a:endParaRPr lang="it-IT" noProof="0" dirty="0"/>
          </a:p>
        </p:txBody>
      </p:sp>
      <p:sp>
        <p:nvSpPr>
          <p:cNvPr id="12" name="connessione"/>
          <p:cNvSpPr/>
          <p:nvPr/>
        </p:nvSpPr>
        <p:spPr>
          <a:xfrm flipV="1">
            <a:off x="960120" y="2080260"/>
            <a:ext cx="1188720" cy="1714500"/>
          </a:xfrm>
          <a:prstGeom prst="line">
            <a:avLst/>
          </a:prstGeom>
          <a:noFill/>
          <a:ln w="9525">
            <a:solidFill>
              <a:schemeClr val="accent3"/>
            </a:solidFill>
            <a:prstDash val="solid"/>
          </a:ln>
        </p:spPr>
        <p:txBody>
          <a:bodyPr/>
          <a:lstStyle/>
          <a:p>
            <a:endParaRPr lang="it-IT" noProof="0" dirty="0"/>
          </a:p>
        </p:txBody>
      </p:sp>
      <p:sp>
        <p:nvSpPr>
          <p:cNvPr id="13" name="connessione"/>
          <p:cNvSpPr/>
          <p:nvPr/>
        </p:nvSpPr>
        <p:spPr>
          <a:xfrm flipV="1">
            <a:off x="960120" y="2766060"/>
            <a:ext cx="1188720" cy="1028700"/>
          </a:xfrm>
          <a:prstGeom prst="line">
            <a:avLst/>
          </a:prstGeom>
          <a:noFill/>
          <a:ln w="9525">
            <a:solidFill>
              <a:schemeClr val="accent3"/>
            </a:solidFill>
            <a:prstDash val="solid"/>
          </a:ln>
        </p:spPr>
        <p:txBody>
          <a:bodyPr/>
          <a:lstStyle/>
          <a:p>
            <a:endParaRPr lang="it-IT" noProof="0" dirty="0"/>
          </a:p>
        </p:txBody>
      </p:sp>
      <p:sp>
        <p:nvSpPr>
          <p:cNvPr id="14" name="connessione"/>
          <p:cNvSpPr/>
          <p:nvPr/>
        </p:nvSpPr>
        <p:spPr>
          <a:xfrm flipV="1">
            <a:off x="960120" y="3451860"/>
            <a:ext cx="1188720" cy="342900"/>
          </a:xfrm>
          <a:prstGeom prst="line">
            <a:avLst/>
          </a:prstGeom>
          <a:noFill/>
          <a:ln w="9525">
            <a:solidFill>
              <a:schemeClr val="accent3"/>
            </a:solidFill>
            <a:prstDash val="solid"/>
          </a:ln>
        </p:spPr>
        <p:txBody>
          <a:bodyPr/>
          <a:lstStyle/>
          <a:p>
            <a:endParaRPr lang="it-IT" noProof="0" dirty="0"/>
          </a:p>
        </p:txBody>
      </p:sp>
      <p:sp>
        <p:nvSpPr>
          <p:cNvPr id="15" name="connessione"/>
          <p:cNvSpPr/>
          <p:nvPr/>
        </p:nvSpPr>
        <p:spPr>
          <a:xfrm>
            <a:off x="960120" y="3794760"/>
            <a:ext cx="1188720" cy="342900"/>
          </a:xfrm>
          <a:prstGeom prst="line">
            <a:avLst/>
          </a:prstGeom>
          <a:noFill/>
          <a:ln w="9525">
            <a:solidFill>
              <a:schemeClr val="accent3"/>
            </a:solidFill>
            <a:prstDash val="solid"/>
          </a:ln>
        </p:spPr>
        <p:txBody>
          <a:bodyPr/>
          <a:lstStyle/>
          <a:p>
            <a:endParaRPr lang="it-IT" noProof="0" dirty="0"/>
          </a:p>
        </p:txBody>
      </p:sp>
      <p:sp>
        <p:nvSpPr>
          <p:cNvPr id="16" name="connessione"/>
          <p:cNvSpPr/>
          <p:nvPr/>
        </p:nvSpPr>
        <p:spPr>
          <a:xfrm>
            <a:off x="2148840" y="2080260"/>
            <a:ext cx="1188720" cy="0"/>
          </a:xfrm>
          <a:prstGeom prst="line">
            <a:avLst/>
          </a:prstGeom>
          <a:noFill/>
          <a:ln w="9525">
            <a:solidFill>
              <a:schemeClr val="accent3"/>
            </a:solidFill>
            <a:prstDash val="solid"/>
          </a:ln>
        </p:spPr>
        <p:txBody>
          <a:bodyPr/>
          <a:lstStyle/>
          <a:p>
            <a:endParaRPr lang="it-IT" noProof="0" dirty="0"/>
          </a:p>
        </p:txBody>
      </p:sp>
      <p:sp>
        <p:nvSpPr>
          <p:cNvPr id="17" name="connessione"/>
          <p:cNvSpPr/>
          <p:nvPr/>
        </p:nvSpPr>
        <p:spPr>
          <a:xfrm>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18" name="connessione"/>
          <p:cNvSpPr/>
          <p:nvPr/>
        </p:nvSpPr>
        <p:spPr>
          <a:xfrm>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19" name="connessione"/>
          <p:cNvSpPr/>
          <p:nvPr/>
        </p:nvSpPr>
        <p:spPr>
          <a:xfrm>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0" name="connessione"/>
          <p:cNvSpPr/>
          <p:nvPr/>
        </p:nvSpPr>
        <p:spPr>
          <a:xfrm flipV="1">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21" name="connessione"/>
          <p:cNvSpPr/>
          <p:nvPr/>
        </p:nvSpPr>
        <p:spPr>
          <a:xfrm>
            <a:off x="2148840" y="2766060"/>
            <a:ext cx="1188720" cy="0"/>
          </a:xfrm>
          <a:prstGeom prst="line">
            <a:avLst/>
          </a:prstGeom>
          <a:noFill/>
          <a:ln w="9525">
            <a:solidFill>
              <a:schemeClr val="accent3"/>
            </a:solidFill>
            <a:prstDash val="solid"/>
          </a:ln>
        </p:spPr>
        <p:txBody>
          <a:bodyPr/>
          <a:lstStyle/>
          <a:p>
            <a:endParaRPr lang="it-IT" noProof="0" dirty="0"/>
          </a:p>
        </p:txBody>
      </p:sp>
      <p:sp>
        <p:nvSpPr>
          <p:cNvPr id="22" name="connessione"/>
          <p:cNvSpPr/>
          <p:nvPr/>
        </p:nvSpPr>
        <p:spPr>
          <a:xfrm>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3" name="connessione"/>
          <p:cNvSpPr/>
          <p:nvPr/>
        </p:nvSpPr>
        <p:spPr>
          <a:xfrm>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24" name="connessione"/>
          <p:cNvSpPr/>
          <p:nvPr/>
        </p:nvSpPr>
        <p:spPr>
          <a:xfrm flipV="1">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25" name="connessione"/>
          <p:cNvSpPr/>
          <p:nvPr/>
        </p:nvSpPr>
        <p:spPr>
          <a:xfrm flipV="1">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6" name="connessione"/>
          <p:cNvSpPr/>
          <p:nvPr/>
        </p:nvSpPr>
        <p:spPr>
          <a:xfrm>
            <a:off x="2148840" y="3451860"/>
            <a:ext cx="1188720" cy="0"/>
          </a:xfrm>
          <a:prstGeom prst="line">
            <a:avLst/>
          </a:prstGeom>
          <a:noFill/>
          <a:ln w="9525">
            <a:solidFill>
              <a:schemeClr val="accent3"/>
            </a:solidFill>
            <a:prstDash val="solid"/>
          </a:ln>
        </p:spPr>
        <p:txBody>
          <a:bodyPr/>
          <a:lstStyle/>
          <a:p>
            <a:endParaRPr lang="it-IT" noProof="0" dirty="0"/>
          </a:p>
        </p:txBody>
      </p:sp>
      <p:sp>
        <p:nvSpPr>
          <p:cNvPr id="27" name="connessione"/>
          <p:cNvSpPr/>
          <p:nvPr/>
        </p:nvSpPr>
        <p:spPr>
          <a:xfrm>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28" name="connessione"/>
          <p:cNvSpPr/>
          <p:nvPr/>
        </p:nvSpPr>
        <p:spPr>
          <a:xfrm flipV="1">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9" name="connessione"/>
          <p:cNvSpPr/>
          <p:nvPr/>
        </p:nvSpPr>
        <p:spPr>
          <a:xfrm flipV="1">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30" name="connessione"/>
          <p:cNvSpPr/>
          <p:nvPr/>
        </p:nvSpPr>
        <p:spPr>
          <a:xfrm flipV="1">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31" name="connessione"/>
          <p:cNvSpPr/>
          <p:nvPr/>
        </p:nvSpPr>
        <p:spPr>
          <a:xfrm>
            <a:off x="2148840" y="4137660"/>
            <a:ext cx="1188720" cy="0"/>
          </a:xfrm>
          <a:prstGeom prst="line">
            <a:avLst/>
          </a:prstGeom>
          <a:noFill/>
          <a:ln w="9525">
            <a:solidFill>
              <a:schemeClr val="accent3"/>
            </a:solidFill>
            <a:prstDash val="solid"/>
          </a:ln>
        </p:spPr>
        <p:txBody>
          <a:bodyPr/>
          <a:lstStyle/>
          <a:p>
            <a:endParaRPr lang="it-IT" noProof="0" dirty="0"/>
          </a:p>
        </p:txBody>
      </p:sp>
      <p:sp>
        <p:nvSpPr>
          <p:cNvPr id="32" name="connessione"/>
          <p:cNvSpPr/>
          <p:nvPr/>
        </p:nvSpPr>
        <p:spPr>
          <a:xfrm>
            <a:off x="3337560" y="2080260"/>
            <a:ext cx="1188720" cy="685800"/>
          </a:xfrm>
          <a:prstGeom prst="line">
            <a:avLst/>
          </a:prstGeom>
          <a:noFill/>
          <a:ln w="9525">
            <a:solidFill>
              <a:schemeClr val="accent3"/>
            </a:solidFill>
            <a:prstDash val="solid"/>
          </a:ln>
        </p:spPr>
        <p:txBody>
          <a:bodyPr/>
          <a:lstStyle/>
          <a:p>
            <a:endParaRPr lang="it-IT" noProof="0" dirty="0"/>
          </a:p>
        </p:txBody>
      </p:sp>
      <p:sp>
        <p:nvSpPr>
          <p:cNvPr id="33" name="connessione"/>
          <p:cNvSpPr/>
          <p:nvPr/>
        </p:nvSpPr>
        <p:spPr>
          <a:xfrm>
            <a:off x="3337560" y="2080260"/>
            <a:ext cx="1188720" cy="1371600"/>
          </a:xfrm>
          <a:prstGeom prst="line">
            <a:avLst/>
          </a:prstGeom>
          <a:noFill/>
          <a:ln w="9525">
            <a:solidFill>
              <a:schemeClr val="accent3"/>
            </a:solidFill>
            <a:prstDash val="solid"/>
          </a:ln>
        </p:spPr>
        <p:txBody>
          <a:bodyPr/>
          <a:lstStyle/>
          <a:p>
            <a:endParaRPr lang="it-IT" noProof="0" dirty="0"/>
          </a:p>
        </p:txBody>
      </p:sp>
      <p:sp>
        <p:nvSpPr>
          <p:cNvPr id="34" name="connessione"/>
          <p:cNvSpPr/>
          <p:nvPr/>
        </p:nvSpPr>
        <p:spPr>
          <a:xfrm>
            <a:off x="3337560" y="2766060"/>
            <a:ext cx="1188720" cy="0"/>
          </a:xfrm>
          <a:prstGeom prst="line">
            <a:avLst/>
          </a:prstGeom>
          <a:noFill/>
          <a:ln w="9525">
            <a:solidFill>
              <a:schemeClr val="accent3"/>
            </a:solidFill>
            <a:prstDash val="solid"/>
          </a:ln>
        </p:spPr>
        <p:txBody>
          <a:bodyPr/>
          <a:lstStyle/>
          <a:p>
            <a:endParaRPr lang="it-IT" noProof="0" dirty="0"/>
          </a:p>
        </p:txBody>
      </p:sp>
      <p:sp>
        <p:nvSpPr>
          <p:cNvPr id="35" name="connessione"/>
          <p:cNvSpPr/>
          <p:nvPr/>
        </p:nvSpPr>
        <p:spPr>
          <a:xfrm>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6" name="connessione"/>
          <p:cNvSpPr/>
          <p:nvPr/>
        </p:nvSpPr>
        <p:spPr>
          <a:xfrm flipV="1">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7" name="connessione"/>
          <p:cNvSpPr/>
          <p:nvPr/>
        </p:nvSpPr>
        <p:spPr>
          <a:xfrm>
            <a:off x="3337560" y="3451860"/>
            <a:ext cx="1188720" cy="0"/>
          </a:xfrm>
          <a:prstGeom prst="line">
            <a:avLst/>
          </a:prstGeom>
          <a:noFill/>
          <a:ln w="9525">
            <a:solidFill>
              <a:schemeClr val="accent3"/>
            </a:solidFill>
            <a:prstDash val="solid"/>
          </a:ln>
        </p:spPr>
        <p:txBody>
          <a:bodyPr/>
          <a:lstStyle/>
          <a:p>
            <a:endParaRPr lang="it-IT" noProof="0" dirty="0"/>
          </a:p>
        </p:txBody>
      </p:sp>
      <p:sp>
        <p:nvSpPr>
          <p:cNvPr id="38" name="connessione"/>
          <p:cNvSpPr/>
          <p:nvPr/>
        </p:nvSpPr>
        <p:spPr>
          <a:xfrm flipV="1">
            <a:off x="3337560" y="2766060"/>
            <a:ext cx="1188720" cy="1371600"/>
          </a:xfrm>
          <a:prstGeom prst="line">
            <a:avLst/>
          </a:prstGeom>
          <a:noFill/>
          <a:ln w="9525">
            <a:solidFill>
              <a:schemeClr val="accent3"/>
            </a:solidFill>
            <a:prstDash val="solid"/>
          </a:ln>
        </p:spPr>
        <p:txBody>
          <a:bodyPr/>
          <a:lstStyle/>
          <a:p>
            <a:endParaRPr lang="it-IT" noProof="0" dirty="0"/>
          </a:p>
        </p:txBody>
      </p:sp>
      <p:sp>
        <p:nvSpPr>
          <p:cNvPr id="39" name="connessione"/>
          <p:cNvSpPr/>
          <p:nvPr/>
        </p:nvSpPr>
        <p:spPr>
          <a:xfrm flipV="1">
            <a:off x="3337560" y="3451860"/>
            <a:ext cx="1188720" cy="685800"/>
          </a:xfrm>
          <a:prstGeom prst="line">
            <a:avLst/>
          </a:prstGeom>
          <a:noFill/>
          <a:ln w="9525">
            <a:solidFill>
              <a:schemeClr val="accent3"/>
            </a:solidFill>
            <a:prstDash val="solid"/>
          </a:ln>
        </p:spPr>
        <p:txBody>
          <a:bodyPr/>
          <a:lstStyle/>
          <a:p>
            <a:endParaRPr lang="it-IT" noProof="0" dirty="0"/>
          </a:p>
        </p:txBody>
      </p:sp>
      <p:sp>
        <p:nvSpPr>
          <p:cNvPr id="40" name="neurone"/>
          <p:cNvSpPr/>
          <p:nvPr/>
        </p:nvSpPr>
        <p:spPr>
          <a:xfrm>
            <a:off x="822960" y="2286000"/>
            <a:ext cx="274320" cy="274320"/>
          </a:xfrm>
          <a:prstGeom prst="ellipse">
            <a:avLst/>
          </a:prstGeom>
          <a:solidFill>
            <a:schemeClr val="tx2"/>
          </a:solidFill>
          <a:ln/>
        </p:spPr>
        <p:txBody>
          <a:bodyPr/>
          <a:lstStyle/>
          <a:p>
            <a:endParaRPr lang="it-IT" noProof="0" dirty="0"/>
          </a:p>
        </p:txBody>
      </p:sp>
      <p:sp>
        <p:nvSpPr>
          <p:cNvPr id="41" name="neurone"/>
          <p:cNvSpPr/>
          <p:nvPr/>
        </p:nvSpPr>
        <p:spPr>
          <a:xfrm>
            <a:off x="822960" y="2971800"/>
            <a:ext cx="274320" cy="274320"/>
          </a:xfrm>
          <a:prstGeom prst="ellipse">
            <a:avLst/>
          </a:prstGeom>
          <a:solidFill>
            <a:schemeClr val="tx2"/>
          </a:solidFill>
          <a:ln/>
        </p:spPr>
        <p:txBody>
          <a:bodyPr/>
          <a:lstStyle/>
          <a:p>
            <a:endParaRPr lang="it-IT" noProof="0" dirty="0"/>
          </a:p>
        </p:txBody>
      </p:sp>
      <p:sp>
        <p:nvSpPr>
          <p:cNvPr id="42" name="neurone"/>
          <p:cNvSpPr/>
          <p:nvPr/>
        </p:nvSpPr>
        <p:spPr>
          <a:xfrm>
            <a:off x="822960" y="3657600"/>
            <a:ext cx="274320" cy="274320"/>
          </a:xfrm>
          <a:prstGeom prst="ellipse">
            <a:avLst/>
          </a:prstGeom>
          <a:solidFill>
            <a:schemeClr val="tx2"/>
          </a:solidFill>
          <a:ln/>
        </p:spPr>
        <p:txBody>
          <a:bodyPr/>
          <a:lstStyle/>
          <a:p>
            <a:endParaRPr lang="it-IT" noProof="0" dirty="0"/>
          </a:p>
        </p:txBody>
      </p:sp>
      <p:sp>
        <p:nvSpPr>
          <p:cNvPr id="43" name="neurone"/>
          <p:cNvSpPr/>
          <p:nvPr/>
        </p:nvSpPr>
        <p:spPr>
          <a:xfrm>
            <a:off x="2011680" y="1943100"/>
            <a:ext cx="274320" cy="274320"/>
          </a:xfrm>
          <a:prstGeom prst="ellipse">
            <a:avLst/>
          </a:prstGeom>
          <a:solidFill>
            <a:schemeClr val="accent1"/>
          </a:solidFill>
          <a:ln/>
        </p:spPr>
        <p:txBody>
          <a:bodyPr/>
          <a:lstStyle/>
          <a:p>
            <a:endParaRPr lang="it-IT" noProof="0" dirty="0"/>
          </a:p>
        </p:txBody>
      </p:sp>
      <p:sp>
        <p:nvSpPr>
          <p:cNvPr id="44" name="neurone"/>
          <p:cNvSpPr/>
          <p:nvPr/>
        </p:nvSpPr>
        <p:spPr>
          <a:xfrm>
            <a:off x="2011680" y="2628900"/>
            <a:ext cx="274320" cy="274320"/>
          </a:xfrm>
          <a:prstGeom prst="ellipse">
            <a:avLst/>
          </a:prstGeom>
          <a:solidFill>
            <a:schemeClr val="accent1"/>
          </a:solidFill>
          <a:ln/>
        </p:spPr>
        <p:txBody>
          <a:bodyPr/>
          <a:lstStyle/>
          <a:p>
            <a:endParaRPr lang="it-IT" noProof="0" dirty="0"/>
          </a:p>
        </p:txBody>
      </p:sp>
      <p:sp>
        <p:nvSpPr>
          <p:cNvPr id="45" name="neurone"/>
          <p:cNvSpPr/>
          <p:nvPr/>
        </p:nvSpPr>
        <p:spPr>
          <a:xfrm>
            <a:off x="2011680" y="3314700"/>
            <a:ext cx="274320" cy="274320"/>
          </a:xfrm>
          <a:prstGeom prst="ellipse">
            <a:avLst/>
          </a:prstGeom>
          <a:solidFill>
            <a:schemeClr val="accent1"/>
          </a:solidFill>
          <a:ln/>
        </p:spPr>
        <p:txBody>
          <a:bodyPr/>
          <a:lstStyle/>
          <a:p>
            <a:endParaRPr lang="it-IT" noProof="0" dirty="0"/>
          </a:p>
        </p:txBody>
      </p:sp>
      <p:sp>
        <p:nvSpPr>
          <p:cNvPr id="46" name="neurone"/>
          <p:cNvSpPr/>
          <p:nvPr/>
        </p:nvSpPr>
        <p:spPr>
          <a:xfrm>
            <a:off x="2011680" y="4000500"/>
            <a:ext cx="274320" cy="274320"/>
          </a:xfrm>
          <a:prstGeom prst="ellipse">
            <a:avLst/>
          </a:prstGeom>
          <a:solidFill>
            <a:schemeClr val="accent1"/>
          </a:solidFill>
          <a:ln/>
        </p:spPr>
        <p:txBody>
          <a:bodyPr/>
          <a:lstStyle/>
          <a:p>
            <a:endParaRPr lang="it-IT" noProof="0" dirty="0"/>
          </a:p>
        </p:txBody>
      </p:sp>
      <p:sp>
        <p:nvSpPr>
          <p:cNvPr id="47" name="neurone"/>
          <p:cNvSpPr/>
          <p:nvPr/>
        </p:nvSpPr>
        <p:spPr>
          <a:xfrm>
            <a:off x="3200400" y="1943100"/>
            <a:ext cx="274320" cy="274320"/>
          </a:xfrm>
          <a:prstGeom prst="ellipse">
            <a:avLst/>
          </a:prstGeom>
          <a:solidFill>
            <a:schemeClr val="accent1"/>
          </a:solidFill>
          <a:ln/>
        </p:spPr>
        <p:txBody>
          <a:bodyPr/>
          <a:lstStyle/>
          <a:p>
            <a:endParaRPr lang="it-IT" noProof="0" dirty="0"/>
          </a:p>
        </p:txBody>
      </p:sp>
      <p:sp>
        <p:nvSpPr>
          <p:cNvPr id="48" name="neurone"/>
          <p:cNvSpPr/>
          <p:nvPr/>
        </p:nvSpPr>
        <p:spPr>
          <a:xfrm>
            <a:off x="3200400" y="2628900"/>
            <a:ext cx="274320" cy="274320"/>
          </a:xfrm>
          <a:prstGeom prst="ellipse">
            <a:avLst/>
          </a:prstGeom>
          <a:solidFill>
            <a:schemeClr val="accent1"/>
          </a:solidFill>
          <a:ln/>
        </p:spPr>
        <p:txBody>
          <a:bodyPr/>
          <a:lstStyle/>
          <a:p>
            <a:endParaRPr lang="it-IT" noProof="0" dirty="0"/>
          </a:p>
        </p:txBody>
      </p:sp>
      <p:sp>
        <p:nvSpPr>
          <p:cNvPr id="49" name="neurone"/>
          <p:cNvSpPr/>
          <p:nvPr/>
        </p:nvSpPr>
        <p:spPr>
          <a:xfrm>
            <a:off x="3200400" y="3314700"/>
            <a:ext cx="274320" cy="274320"/>
          </a:xfrm>
          <a:prstGeom prst="ellipse">
            <a:avLst/>
          </a:prstGeom>
          <a:solidFill>
            <a:schemeClr val="accent1"/>
          </a:solidFill>
          <a:ln/>
        </p:spPr>
        <p:txBody>
          <a:bodyPr/>
          <a:lstStyle/>
          <a:p>
            <a:endParaRPr lang="it-IT" noProof="0" dirty="0"/>
          </a:p>
        </p:txBody>
      </p:sp>
      <p:sp>
        <p:nvSpPr>
          <p:cNvPr id="50" name="neurone"/>
          <p:cNvSpPr/>
          <p:nvPr/>
        </p:nvSpPr>
        <p:spPr>
          <a:xfrm>
            <a:off x="3200400" y="4000500"/>
            <a:ext cx="274320" cy="274320"/>
          </a:xfrm>
          <a:prstGeom prst="ellipse">
            <a:avLst/>
          </a:prstGeom>
          <a:solidFill>
            <a:schemeClr val="accent1"/>
          </a:solidFill>
          <a:ln/>
        </p:spPr>
        <p:txBody>
          <a:bodyPr/>
          <a:lstStyle/>
          <a:p>
            <a:endParaRPr lang="it-IT" noProof="0" dirty="0"/>
          </a:p>
        </p:txBody>
      </p:sp>
      <p:sp>
        <p:nvSpPr>
          <p:cNvPr id="51" name="neurone"/>
          <p:cNvSpPr/>
          <p:nvPr/>
        </p:nvSpPr>
        <p:spPr>
          <a:xfrm>
            <a:off x="4389120" y="2628900"/>
            <a:ext cx="274320" cy="274320"/>
          </a:xfrm>
          <a:prstGeom prst="ellipse">
            <a:avLst/>
          </a:prstGeom>
          <a:solidFill>
            <a:schemeClr val="tx2"/>
          </a:solidFill>
          <a:ln/>
        </p:spPr>
        <p:txBody>
          <a:bodyPr/>
          <a:lstStyle/>
          <a:p>
            <a:endParaRPr lang="it-IT" noProof="0" dirty="0"/>
          </a:p>
        </p:txBody>
      </p:sp>
      <p:sp>
        <p:nvSpPr>
          <p:cNvPr id="52" name="neurone"/>
          <p:cNvSpPr/>
          <p:nvPr/>
        </p:nvSpPr>
        <p:spPr>
          <a:xfrm>
            <a:off x="4389120" y="3314700"/>
            <a:ext cx="274320" cy="274320"/>
          </a:xfrm>
          <a:prstGeom prst="ellipse">
            <a:avLst/>
          </a:prstGeom>
          <a:solidFill>
            <a:schemeClr val="tx2"/>
          </a:solidFill>
          <a:ln/>
        </p:spPr>
        <p:txBody>
          <a:bodyPr/>
          <a:lstStyle/>
          <a:p>
            <a:endParaRPr lang="it-IT" noProof="0" dirty="0"/>
          </a:p>
        </p:txBody>
      </p:sp>
      <p:sp>
        <p:nvSpPr>
          <p:cNvPr id="53" name="Text 50"/>
          <p:cNvSpPr txBox="1"/>
          <p:nvPr/>
        </p:nvSpPr>
        <p:spPr>
          <a:xfrm>
            <a:off x="41148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Input</a:t>
            </a:r>
            <a:endParaRPr lang="it-IT" sz="1100" noProof="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Output</a:t>
            </a:r>
            <a:endParaRPr lang="it-IT" sz="1100" noProof="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marL="0" indent="0" algn="ctr">
              <a:buNone/>
            </a:pPr>
            <a:r>
              <a:rPr lang="it-IT" sz="1100" i="1" noProof="0" dirty="0">
                <a:solidFill>
                  <a:schemeClr val="accent2"/>
                </a:solidFill>
              </a:rPr>
              <a:t>Dai pixel ai concetti</a:t>
            </a:r>
            <a:endParaRPr lang="it-IT" sz="1100" noProof="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Rappresentazioni sempre più astratte</a:t>
            </a:r>
            <a:endParaRPr lang="it-IT" sz="1500" noProof="0" dirty="0"/>
          </a:p>
        </p:txBody>
      </p:sp>
      <p:sp>
        <p:nvSpPr>
          <p:cNvPr id="59" name="Bordi e linee"/>
          <p:cNvSpPr/>
          <p:nvPr/>
        </p:nvSpPr>
        <p:spPr>
          <a:xfrm>
            <a:off x="5303520" y="1554480"/>
            <a:ext cx="3383280" cy="658368"/>
          </a:xfrm>
          <a:prstGeom prst="roundRect">
            <a:avLst>
              <a:gd name="adj" fmla="val 11111"/>
            </a:avLst>
          </a:prstGeom>
          <a:solidFill>
            <a:schemeClr val="bg2"/>
          </a:solidFill>
          <a:ln/>
        </p:spPr>
        <p:txBody>
          <a:bodyPr/>
          <a:lstStyle/>
          <a:p>
            <a:endParaRPr lang="it-IT" noProof="0" dirty="0"/>
          </a:p>
        </p:txBody>
      </p:sp>
      <p:sp>
        <p:nvSpPr>
          <p:cNvPr id="60" name="Text 57"/>
          <p:cNvSpPr txBox="1"/>
          <p:nvPr/>
        </p:nvSpPr>
        <p:spPr>
          <a:xfrm>
            <a:off x="5486400" y="160934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Bordi e linee</a:t>
            </a:r>
            <a:endParaRPr lang="it-IT" sz="1400" noProof="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I primi strati</a:t>
            </a:r>
            <a:endParaRPr lang="it-IT" sz="1200" noProof="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txBody>
          <a:bodyPr/>
          <a:lstStyle/>
          <a:p>
            <a:endParaRPr lang="it-IT" noProof="0" dirty="0"/>
          </a:p>
        </p:txBody>
      </p:sp>
      <p:sp>
        <p:nvSpPr>
          <p:cNvPr id="63" name="Text 60"/>
          <p:cNvSpPr txBox="1"/>
          <p:nvPr/>
        </p:nvSpPr>
        <p:spPr>
          <a:xfrm>
            <a:off x="5486400" y="238658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Forme e parti di oggetti</a:t>
            </a:r>
            <a:endParaRPr lang="it-IT" sz="1400" noProof="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strati intermedi</a:t>
            </a:r>
            <a:endParaRPr lang="it-IT" sz="1200" noProof="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txBody>
          <a:bodyPr/>
          <a:lstStyle/>
          <a:p>
            <a:endParaRPr lang="it-IT" noProof="0" dirty="0"/>
          </a:p>
        </p:txBody>
      </p:sp>
      <p:sp>
        <p:nvSpPr>
          <p:cNvPr id="66" name="Text 63"/>
          <p:cNvSpPr txBox="1"/>
          <p:nvPr/>
        </p:nvSpPr>
        <p:spPr>
          <a:xfrm>
            <a:off x="5486400" y="316382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Concetti: "volto", "auto"</a:t>
            </a:r>
            <a:endParaRPr lang="it-IT" sz="1400" noProof="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ultimi strati</a:t>
            </a:r>
            <a:endParaRPr lang="it-IT" sz="1200" noProof="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marL="0" indent="0">
              <a:buNone/>
            </a:pPr>
            <a:r>
              <a:rPr lang="it-IT" sz="1200" i="1" noProof="0" dirty="0">
                <a:solidFill>
                  <a:schemeClr val="tx2"/>
                </a:solidFill>
              </a:rPr>
              <a:t>Una struttura matematica ispirata al cervello, non un cervello in miniatura.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32</a:t>
            </a:fld>
            <a:endParaRPr lang="it-IT"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predittiva, </a:t>
            </a:r>
            <a:r>
              <a:rPr lang="it-IT" sz="2600" b="1" noProof="0" dirty="0" err="1">
                <a:solidFill>
                  <a:schemeClr val="tx1"/>
                </a:solidFill>
              </a:rPr>
              <a:t>classificativa</a:t>
            </a:r>
            <a:r>
              <a:rPr lang="it-IT" sz="2600" b="1" noProof="0" dirty="0">
                <a:solidFill>
                  <a:schemeClr val="tx1"/>
                </a:solidFill>
              </a:rPr>
              <a:t> e generativa</a:t>
            </a:r>
            <a:endParaRPr lang="it-IT" sz="2600" noProof="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txBody>
          <a:bodyPr/>
          <a:lstStyle/>
          <a:p>
            <a:endParaRPr lang="it-IT" noProof="0" dirty="0"/>
          </a:p>
        </p:txBody>
      </p:sp>
      <p:sp>
        <p:nvSpPr>
          <p:cNvPr id="5" name="cerchio FiTrendingUp"/>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rendingU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Predittiva</a:t>
            </a:r>
            <a:endParaRPr lang="it-IT" sz="1600" noProof="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Stima un valore o un evento futuro</a:t>
            </a:r>
            <a:endParaRPr lang="it-IT" sz="1300" noProof="0" dirty="0"/>
          </a:p>
          <a:p>
            <a:pPr marL="177800" indent="-177800">
              <a:spcAft>
                <a:spcPts val="300"/>
              </a:spcAft>
              <a:buSzPct val="100000"/>
              <a:buChar char="•"/>
            </a:pPr>
            <a:r>
              <a:rPr lang="it-IT" sz="1300" noProof="0" dirty="0">
                <a:solidFill>
                  <a:schemeClr val="tx2"/>
                </a:solidFill>
              </a:rPr>
              <a:t>Vendite del prossimo mese</a:t>
            </a:r>
            <a:endParaRPr lang="it-IT" sz="1300" noProof="0" dirty="0"/>
          </a:p>
          <a:p>
            <a:pPr marL="177800" indent="-177800">
              <a:spcAft>
                <a:spcPts val="300"/>
              </a:spcAft>
              <a:buSzPct val="100000"/>
              <a:buChar char="•"/>
            </a:pPr>
            <a:r>
              <a:rPr lang="it-IT" sz="1300" noProof="0" dirty="0">
                <a:solidFill>
                  <a:schemeClr val="tx2"/>
                </a:solidFill>
              </a:rPr>
              <a:t>Manutenzione di un macchinario</a:t>
            </a:r>
            <a:endParaRPr lang="it-IT" sz="1300" noProof="0" dirty="0"/>
          </a:p>
          <a:p>
            <a:pPr marL="177800" indent="-177800">
              <a:spcAft>
                <a:spcPts val="300"/>
              </a:spcAft>
              <a:buSzPct val="100000"/>
              <a:buChar char="•"/>
            </a:pPr>
            <a:r>
              <a:rPr lang="it-IT" sz="1300" noProof="0" dirty="0">
                <a:solidFill>
                  <a:schemeClr val="tx2"/>
                </a:solidFill>
              </a:rPr>
              <a:t>Rischio di abbandono di un cliente</a:t>
            </a:r>
            <a:endParaRPr lang="it-IT" sz="1300" noProof="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txBody>
          <a:bodyPr/>
          <a:lstStyle/>
          <a:p>
            <a:endParaRPr lang="it-IT" noProof="0" dirty="0"/>
          </a:p>
        </p:txBody>
      </p:sp>
      <p:sp>
        <p:nvSpPr>
          <p:cNvPr id="10" name="cerchio FiFilter"/>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Filter"/>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err="1">
                <a:solidFill>
                  <a:schemeClr val="tx1"/>
                </a:solidFill>
              </a:rPr>
              <a:t>Classificativa</a:t>
            </a:r>
            <a:endParaRPr lang="it-IT" sz="1600" noProof="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Assegna un input a una categoria</a:t>
            </a:r>
            <a:endParaRPr lang="it-IT" sz="1300" noProof="0" dirty="0"/>
          </a:p>
          <a:p>
            <a:pPr marL="177800" indent="-177800">
              <a:spcAft>
                <a:spcPts val="300"/>
              </a:spcAft>
              <a:buSzPct val="100000"/>
              <a:buChar char="•"/>
            </a:pPr>
            <a:r>
              <a:rPr lang="it-IT" sz="1300" noProof="0" dirty="0">
                <a:solidFill>
                  <a:schemeClr val="tx2"/>
                </a:solidFill>
              </a:rPr>
              <a:t>Spam o non spam</a:t>
            </a:r>
            <a:endParaRPr lang="it-IT" sz="1300" noProof="0" dirty="0"/>
          </a:p>
          <a:p>
            <a:pPr marL="177800" indent="-177800">
              <a:spcAft>
                <a:spcPts val="300"/>
              </a:spcAft>
              <a:buSzPct val="100000"/>
              <a:buChar char="•"/>
            </a:pPr>
            <a:r>
              <a:rPr lang="it-IT" sz="1300" noProof="0" dirty="0">
                <a:solidFill>
                  <a:schemeClr val="tx2"/>
                </a:solidFill>
              </a:rPr>
              <a:t>Pezzo conforme o difettoso</a:t>
            </a:r>
            <a:endParaRPr lang="it-IT" sz="1300" noProof="0" dirty="0"/>
          </a:p>
          <a:p>
            <a:pPr marL="177800" indent="-177800">
              <a:spcAft>
                <a:spcPts val="300"/>
              </a:spcAft>
              <a:buSzPct val="100000"/>
              <a:buChar char="•"/>
            </a:pPr>
            <a:r>
              <a:rPr lang="it-IT" sz="1300" noProof="0" dirty="0">
                <a:solidFill>
                  <a:schemeClr val="tx2"/>
                </a:solidFill>
              </a:rPr>
              <a:t>Recensione positiva o negativa</a:t>
            </a:r>
            <a:endParaRPr lang="it-IT" sz="1300" noProof="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txBody>
          <a:bodyPr/>
          <a:lstStyle/>
          <a:p>
            <a:endParaRPr lang="it-IT" noProof="0" dirty="0"/>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Generativa</a:t>
            </a:r>
            <a:endParaRPr lang="it-IT" sz="1600" noProof="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Produce contenuti nuovi</a:t>
            </a:r>
            <a:endParaRPr lang="it-IT" sz="1300" noProof="0" dirty="0"/>
          </a:p>
          <a:p>
            <a:pPr marL="177800" indent="-177800">
              <a:spcAft>
                <a:spcPts val="300"/>
              </a:spcAft>
              <a:buSzPct val="100000"/>
              <a:buChar char="•"/>
            </a:pPr>
            <a:r>
              <a:rPr lang="it-IT" sz="1300" noProof="0" dirty="0">
                <a:solidFill>
                  <a:schemeClr val="tx2"/>
                </a:solidFill>
              </a:rPr>
              <a:t>Bozza di una email</a:t>
            </a:r>
            <a:endParaRPr lang="it-IT" sz="1300" noProof="0" dirty="0"/>
          </a:p>
          <a:p>
            <a:pPr marL="177800" indent="-177800">
              <a:spcAft>
                <a:spcPts val="300"/>
              </a:spcAft>
              <a:buSzPct val="100000"/>
              <a:buChar char="•"/>
            </a:pPr>
            <a:r>
              <a:rPr lang="it-IT" sz="1300" noProof="0" dirty="0">
                <a:solidFill>
                  <a:schemeClr val="tx2"/>
                </a:solidFill>
              </a:rPr>
              <a:t>Sintesi di un documento</a:t>
            </a:r>
            <a:endParaRPr lang="it-IT" sz="1300" noProof="0" dirty="0"/>
          </a:p>
          <a:p>
            <a:pPr marL="177800" indent="-177800">
              <a:spcAft>
                <a:spcPts val="300"/>
              </a:spcAft>
              <a:buSzPct val="100000"/>
              <a:buChar char="•"/>
            </a:pPr>
            <a:r>
              <a:rPr lang="it-IT" sz="1300" noProof="0" dirty="0">
                <a:solidFill>
                  <a:schemeClr val="tx2"/>
                </a:solidFill>
              </a:rPr>
              <a:t>Immagine da una descrizione</a:t>
            </a:r>
            <a:endParaRPr lang="it-IT" sz="1300" noProof="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 confini non sono rigidi: le tre funzioni si combinano spesso nello stesso processo.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33</a:t>
            </a:fld>
            <a:endParaRPr lang="it-IT"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multimodale</a:t>
            </a:r>
            <a:endParaRPr lang="it-IT" sz="2600" noProof="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txBody>
          <a:bodyPr/>
          <a:lstStyle/>
          <a:p>
            <a:endParaRPr lang="it-IT" noProof="0" dirty="0"/>
          </a:p>
        </p:txBody>
      </p:sp>
      <p:sp>
        <p:nvSpPr>
          <p:cNvPr id="5" name="Text 2"/>
          <p:cNvSpPr txBox="1"/>
          <p:nvPr/>
        </p:nvSpPr>
        <p:spPr>
          <a:xfrm>
            <a:off x="3291840" y="2148840"/>
            <a:ext cx="2560320" cy="118872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 multimodale</a:t>
            </a:r>
            <a:endParaRPr lang="it-IT" sz="1600" noProof="0" dirty="0"/>
          </a:p>
        </p:txBody>
      </p:sp>
      <p:sp>
        <p:nvSpPr>
          <p:cNvPr id="6" name="cerchio FiFileText"/>
          <p:cNvSpPr/>
          <p:nvPr/>
        </p:nvSpPr>
        <p:spPr>
          <a:xfrm>
            <a:off x="457200" y="1097280"/>
            <a:ext cx="502920" cy="502920"/>
          </a:xfrm>
          <a:prstGeom prst="ellipse">
            <a:avLst/>
          </a:prstGeom>
          <a:solidFill>
            <a:schemeClr val="accent1"/>
          </a:solidFill>
          <a:ln/>
        </p:spPr>
        <p:txBody>
          <a:bodyPr/>
          <a:lstStyle/>
          <a:p>
            <a:endParaRPr lang="it-IT" noProof="0" dirty="0"/>
          </a:p>
        </p:txBody>
      </p:sp>
      <p:pic>
        <p:nvPicPr>
          <p:cNvPr id="7" name="Image 0" descr="FiFileText"/>
          <p:cNvPicPr>
            <a:picLocks noChangeAspect="1"/>
          </p:cNvPicPr>
          <p:nvPr/>
        </p:nvPicPr>
        <p:blipFill>
          <a:blip r:embed="rId3"/>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Testo</a:t>
            </a:r>
            <a:endParaRPr lang="it-IT" sz="1400" noProof="0" dirty="0"/>
          </a:p>
        </p:txBody>
      </p:sp>
      <p:sp>
        <p:nvSpPr>
          <p:cNvPr id="9" name="cerchio FiImage"/>
          <p:cNvSpPr/>
          <p:nvPr/>
        </p:nvSpPr>
        <p:spPr>
          <a:xfrm>
            <a:off x="457200" y="1783080"/>
            <a:ext cx="502920" cy="502920"/>
          </a:xfrm>
          <a:prstGeom prst="ellipse">
            <a:avLst/>
          </a:prstGeom>
          <a:solidFill>
            <a:schemeClr val="accent1"/>
          </a:solidFill>
          <a:ln/>
        </p:spPr>
        <p:txBody>
          <a:bodyPr/>
          <a:lstStyle/>
          <a:p>
            <a:endParaRPr lang="it-IT" noProof="0" dirty="0"/>
          </a:p>
        </p:txBody>
      </p:sp>
      <p:pic>
        <p:nvPicPr>
          <p:cNvPr id="10" name="Image 1" descr="FiImage"/>
          <p:cNvPicPr>
            <a:picLocks noChangeAspect="1"/>
          </p:cNvPicPr>
          <p:nvPr/>
        </p:nvPicPr>
        <p:blipFill>
          <a:blip r:embed="rId4"/>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Immagini</a:t>
            </a:r>
            <a:endParaRPr lang="it-IT" sz="1400" noProof="0" dirty="0"/>
          </a:p>
        </p:txBody>
      </p:sp>
      <p:sp>
        <p:nvSpPr>
          <p:cNvPr id="12" name="cerchio FiMic"/>
          <p:cNvSpPr/>
          <p:nvPr/>
        </p:nvSpPr>
        <p:spPr>
          <a:xfrm>
            <a:off x="457200" y="2468880"/>
            <a:ext cx="502920" cy="502920"/>
          </a:xfrm>
          <a:prstGeom prst="ellipse">
            <a:avLst/>
          </a:prstGeom>
          <a:solidFill>
            <a:schemeClr val="accent1"/>
          </a:solidFill>
          <a:ln/>
        </p:spPr>
        <p:txBody>
          <a:bodyPr/>
          <a:lstStyle/>
          <a:p>
            <a:endParaRPr lang="it-IT" noProof="0" dirty="0"/>
          </a:p>
        </p:txBody>
      </p:sp>
      <p:pic>
        <p:nvPicPr>
          <p:cNvPr id="13" name="Image 2" descr="FiMic"/>
          <p:cNvPicPr>
            <a:picLocks noChangeAspect="1"/>
          </p:cNvPicPr>
          <p:nvPr/>
        </p:nvPicPr>
        <p:blipFill>
          <a:blip r:embed="rId5"/>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Audio</a:t>
            </a:r>
            <a:endParaRPr lang="it-IT" sz="1400" noProof="0" dirty="0"/>
          </a:p>
        </p:txBody>
      </p:sp>
      <p:sp>
        <p:nvSpPr>
          <p:cNvPr id="15" name="cerchio FiFilm"/>
          <p:cNvSpPr/>
          <p:nvPr/>
        </p:nvSpPr>
        <p:spPr>
          <a:xfrm>
            <a:off x="457200" y="3154680"/>
            <a:ext cx="502920" cy="502920"/>
          </a:xfrm>
          <a:prstGeom prst="ellipse">
            <a:avLst/>
          </a:prstGeom>
          <a:solidFill>
            <a:schemeClr val="accent1"/>
          </a:solidFill>
          <a:ln/>
        </p:spPr>
        <p:txBody>
          <a:bodyPr/>
          <a:lstStyle/>
          <a:p>
            <a:endParaRPr lang="it-IT" noProof="0" dirty="0"/>
          </a:p>
        </p:txBody>
      </p:sp>
      <p:pic>
        <p:nvPicPr>
          <p:cNvPr id="16" name="Image 3" descr="FiFilm"/>
          <p:cNvPicPr>
            <a:picLocks noChangeAspect="1"/>
          </p:cNvPicPr>
          <p:nvPr/>
        </p:nvPicPr>
        <p:blipFill>
          <a:blip r:embed="rId6"/>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Video</a:t>
            </a:r>
            <a:endParaRPr lang="it-IT" sz="1400" noProof="0" dirty="0"/>
          </a:p>
        </p:txBody>
      </p:sp>
      <p:sp>
        <p:nvSpPr>
          <p:cNvPr id="18" name="cerchio FiGrid"/>
          <p:cNvSpPr/>
          <p:nvPr/>
        </p:nvSpPr>
        <p:spPr>
          <a:xfrm>
            <a:off x="457200" y="3840480"/>
            <a:ext cx="502920" cy="502920"/>
          </a:xfrm>
          <a:prstGeom prst="ellipse">
            <a:avLst/>
          </a:prstGeom>
          <a:solidFill>
            <a:schemeClr val="accent1"/>
          </a:solidFill>
          <a:ln/>
        </p:spPr>
        <p:txBody>
          <a:bodyPr/>
          <a:lstStyle/>
          <a:p>
            <a:endParaRPr lang="it-IT" noProof="0" dirty="0"/>
          </a:p>
        </p:txBody>
      </p:sp>
      <p:pic>
        <p:nvPicPr>
          <p:cNvPr id="19" name="Image 4" descr="FiGrid"/>
          <p:cNvPicPr>
            <a:picLocks noChangeAspect="1"/>
          </p:cNvPicPr>
          <p:nvPr/>
        </p:nvPicPr>
        <p:blipFill>
          <a:blip r:embed="rId7"/>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Tabelle</a:t>
            </a:r>
            <a:endParaRPr lang="it-IT" sz="1400" noProof="0" dirty="0"/>
          </a:p>
        </p:txBody>
      </p:sp>
      <p:sp>
        <p:nvSpPr>
          <p:cNvPr id="21" name="freccia"/>
          <p:cNvSpPr/>
          <p:nvPr/>
        </p:nvSpPr>
        <p:spPr>
          <a:xfrm>
            <a:off x="2377440" y="2596896"/>
            <a:ext cx="731520" cy="292608"/>
          </a:xfrm>
          <a:prstGeom prst="rightArrow">
            <a:avLst/>
          </a:prstGeom>
          <a:solidFill>
            <a:schemeClr val="accent2"/>
          </a:solidFill>
          <a:ln/>
        </p:spPr>
        <p:txBody>
          <a:bodyPr/>
          <a:lstStyle/>
          <a:p>
            <a:endParaRPr lang="it-IT" noProof="0" dirty="0"/>
          </a:p>
        </p:txBody>
      </p:sp>
      <p:sp>
        <p:nvSpPr>
          <p:cNvPr id="22" name="freccia"/>
          <p:cNvSpPr/>
          <p:nvPr/>
        </p:nvSpPr>
        <p:spPr>
          <a:xfrm>
            <a:off x="6035040" y="2596896"/>
            <a:ext cx="548640" cy="292608"/>
          </a:xfrm>
          <a:prstGeom prst="rightArrow">
            <a:avLst/>
          </a:prstGeom>
          <a:solidFill>
            <a:schemeClr val="accent2"/>
          </a:solidFill>
          <a:ln/>
        </p:spPr>
        <p:txBody>
          <a:bodyPr/>
          <a:lstStyle/>
          <a:p>
            <a:endParaRPr lang="it-IT" noProof="0" dirty="0"/>
          </a:p>
        </p:txBody>
      </p:sp>
      <p:sp>
        <p:nvSpPr>
          <p:cNvPr id="23" name="Text 15"/>
          <p:cNvSpPr txBox="1"/>
          <p:nvPr/>
        </p:nvSpPr>
        <p:spPr>
          <a:xfrm>
            <a:off x="6720840" y="1097280"/>
            <a:ext cx="1965960" cy="274320"/>
          </a:xfrm>
          <a:prstGeom prst="rect">
            <a:avLst/>
          </a:prstGeom>
          <a:noFill/>
          <a:ln/>
        </p:spPr>
        <p:txBody>
          <a:bodyPr wrap="square" lIns="0" tIns="0" rIns="0" bIns="0" rtlCol="0" anchor="t"/>
          <a:lstStyle/>
          <a:p>
            <a:pPr marL="0" indent="0">
              <a:buNone/>
            </a:pPr>
            <a:r>
              <a:rPr lang="it-IT" sz="1400" b="1" noProof="0" dirty="0">
                <a:solidFill>
                  <a:schemeClr val="tx1"/>
                </a:solidFill>
              </a:rPr>
              <a:t>Esempi</a:t>
            </a:r>
            <a:endParaRPr lang="it-IT" sz="1400" noProof="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txBody>
          <a:bodyPr/>
          <a:lstStyle/>
          <a:p>
            <a:endParaRPr lang="it-IT" noProof="0" dirty="0"/>
          </a:p>
        </p:txBody>
      </p:sp>
      <p:sp>
        <p:nvSpPr>
          <p:cNvPr id="25" name="Text 17"/>
          <p:cNvSpPr txBox="1"/>
          <p:nvPr/>
        </p:nvSpPr>
        <p:spPr>
          <a:xfrm>
            <a:off x="6812280" y="146304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Estrarre i dati da un documento fotografato</a:t>
            </a:r>
            <a:endParaRPr lang="it-IT" sz="1200" noProof="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txBody>
          <a:bodyPr/>
          <a:lstStyle/>
          <a:p>
            <a:endParaRPr lang="it-IT" noProof="0" dirty="0"/>
          </a:p>
        </p:txBody>
      </p:sp>
      <p:sp>
        <p:nvSpPr>
          <p:cNvPr id="27" name="Text 19"/>
          <p:cNvSpPr txBox="1"/>
          <p:nvPr/>
        </p:nvSpPr>
        <p:spPr>
          <a:xfrm>
            <a:off x="6812280" y="224028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Commentare un grafico</a:t>
            </a:r>
            <a:endParaRPr lang="it-IT" sz="1200" noProof="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txBody>
          <a:bodyPr/>
          <a:lstStyle/>
          <a:p>
            <a:endParaRPr lang="it-IT" noProof="0" dirty="0"/>
          </a:p>
        </p:txBody>
      </p:sp>
      <p:sp>
        <p:nvSpPr>
          <p:cNvPr id="29" name="Text 21"/>
          <p:cNvSpPr txBox="1"/>
          <p:nvPr/>
        </p:nvSpPr>
        <p:spPr>
          <a:xfrm>
            <a:off x="6812280" y="301752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Dalla registrazione al verbale</a:t>
            </a:r>
            <a:endParaRPr lang="it-IT" sz="1200" noProof="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txBody>
          <a:bodyPr/>
          <a:lstStyle/>
          <a:p>
            <a:endParaRPr lang="it-IT" noProof="0" dirty="0"/>
          </a:p>
        </p:txBody>
      </p:sp>
      <p:sp>
        <p:nvSpPr>
          <p:cNvPr id="31" name="Text 23"/>
          <p:cNvSpPr txBox="1"/>
          <p:nvPr/>
        </p:nvSpPr>
        <p:spPr>
          <a:xfrm>
            <a:off x="6812280" y="379476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Domanda a voce, risposta parlata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34</a:t>
            </a:fld>
            <a:endParaRPr lang="it-IT"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Quale approccio per quale problema</a:t>
            </a:r>
            <a:endParaRPr lang="it-IT" sz="2600" noProof="0" dirty="0"/>
          </a:p>
        </p:txBody>
      </p:sp>
      <p:graphicFrame>
        <p:nvGraphicFramePr>
          <p:cNvPr id="20" name="Table 0"/>
          <p:cNvGraphicFramePr>
            <a:graphicFrameLocks noGrp="1"/>
          </p:cNvGraphicFramePr>
          <p:nvPr>
            <p:extLst>
              <p:ext uri="{D42A27DB-BD31-4B8C-83A1-F6EECF244321}">
                <p14:modId xmlns:p14="http://schemas.microsoft.com/office/powerpoint/2010/main" val="4026927673"/>
              </p:ext>
            </p:extLst>
          </p:nvPr>
        </p:nvGraphicFramePr>
        <p:xfrm>
          <a:off x="457200" y="1097280"/>
          <a:ext cx="8229600" cy="3072384"/>
        </p:xfrm>
        <a:graphic>
          <a:graphicData uri="http://schemas.openxmlformats.org/drawingml/2006/table">
            <a:tbl>
              <a:tblPr/>
              <a:tblGrid>
                <a:gridCol w="49377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512064">
                <a:tc>
                  <a:txBody>
                    <a:bodyPr/>
                    <a:lstStyle/>
                    <a:p>
                      <a:pPr marL="0" indent="0">
                        <a:buNone/>
                      </a:pPr>
                      <a:r>
                        <a:rPr lang="it-IT" sz="1300" b="1" noProof="0" dirty="0">
                          <a:solidFill>
                            <a:schemeClr val="bg1"/>
                          </a:solidFill>
                        </a:rPr>
                        <a:t>Problema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Approccio più adatto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noProof="0" dirty="0">
                          <a:solidFill>
                            <a:schemeClr val="tx1"/>
                          </a:solidFill>
                        </a:rPr>
                        <a:t>Regole chiare e stabili (calcolo di uno sconto contrattuale)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Regole o software tradizionale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noProof="0" dirty="0">
                          <a:solidFill>
                            <a:schemeClr val="tx1"/>
                          </a:solidFill>
                        </a:rPr>
                        <a:t>Stimare un valore da dati storici (domanda futura)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Machine Learning predittivo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noProof="0" dirty="0">
                          <a:solidFill>
                            <a:schemeClr val="tx1"/>
                          </a:solidFill>
                        </a:rPr>
                        <a:t>Riconoscere difetti in immagini di prodotti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Deep Learning </a:t>
                      </a:r>
                      <a:r>
                        <a:rPr lang="it-IT" sz="1300" noProof="0" dirty="0" err="1">
                          <a:solidFill>
                            <a:schemeClr val="tx1"/>
                          </a:solidFill>
                        </a:rPr>
                        <a:t>classificativo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noProof="0" dirty="0">
                          <a:solidFill>
                            <a:schemeClr val="tx1"/>
                          </a:solidFill>
                        </a:rPr>
                        <a:t>Scrivere bozze, riassumere, riformulare testi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noProof="0" dirty="0">
                          <a:solidFill>
                            <a:schemeClr val="tx1"/>
                          </a:solidFill>
                        </a:rPr>
                        <a:t>Informazioni in forme diverse (foto, scansioni, 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domanda giusta: qual è l'approccio più adatto a questo problema? A volte non è l'AI.</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35</a:t>
            </a:fld>
            <a:endParaRPr lang="it-IT"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2.3</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un sistema AI apprende dai dati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L'addestramento modifica i parametri del modello; l'inferenza usa il modello per elaborare nuovi input</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36</a:t>
            </a:fld>
            <a:endParaRPr lang="it-IT"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significa apprendere dai dati</a:t>
            </a:r>
            <a:endParaRPr lang="it-IT" sz="2600" noProof="0" dirty="0"/>
          </a:p>
        </p:txBody>
      </p:sp>
      <p:sp>
        <p:nvSpPr>
          <p:cNvPr id="4" name="Text 1"/>
          <p:cNvSpPr txBox="1"/>
          <p:nvPr/>
        </p:nvSpPr>
        <p:spPr>
          <a:xfrm>
            <a:off x="457200" y="1051560"/>
            <a:ext cx="5715000" cy="274320"/>
          </a:xfrm>
          <a:prstGeom prst="rect">
            <a:avLst/>
          </a:prstGeom>
          <a:noFill/>
          <a:ln/>
        </p:spPr>
        <p:txBody>
          <a:bodyPr wrap="square" lIns="0" tIns="0" rIns="0" bIns="0" rtlCol="0" anchor="t"/>
          <a:lstStyle/>
          <a:p>
            <a:pPr marL="0" indent="0">
              <a:buNone/>
            </a:pPr>
            <a:r>
              <a:rPr lang="it-IT" sz="1300" b="1" noProof="0" dirty="0">
                <a:solidFill>
                  <a:schemeClr val="tx2"/>
                </a:solidFill>
              </a:rPr>
              <a:t>Stimare il prezzo di un appartamento: decine, centinaia, migliaia di esempi</a:t>
            </a:r>
            <a:endParaRPr lang="it-IT" sz="1300" noProof="0" dirty="0"/>
          </a:p>
        </p:txBody>
      </p:sp>
      <p:graphicFrame>
        <p:nvGraphicFramePr>
          <p:cNvPr id="23" name="Table 0"/>
          <p:cNvGraphicFramePr>
            <a:graphicFrameLocks noGrp="1"/>
          </p:cNvGraphicFramePr>
          <p:nvPr/>
        </p:nvGraphicFramePr>
        <p:xfrm>
          <a:off x="457200" y="1371600"/>
          <a:ext cx="3291840" cy="2057400"/>
        </p:xfrm>
        <a:graphic>
          <a:graphicData uri="http://schemas.openxmlformats.org/drawingml/2006/table">
            <a:tbl>
              <a:tblPr/>
              <a:tblGrid>
                <a:gridCol w="9144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11480">
                <a:tc>
                  <a:txBody>
                    <a:bodyPr/>
                    <a:lstStyle/>
                    <a:p>
                      <a:pPr marL="0" indent="0">
                        <a:buNone/>
                      </a:pPr>
                      <a:r>
                        <a:rPr lang="it-IT" sz="1100" b="1" noProof="0" dirty="0">
                          <a:solidFill>
                            <a:schemeClr val="bg1"/>
                          </a:solidFill>
                        </a:rPr>
                        <a:t>Zona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Superficie</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Piano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Prezzo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11480">
                <a:tc>
                  <a:txBody>
                    <a:bodyPr/>
                    <a:lstStyle/>
                    <a:p>
                      <a:pPr marL="0" indent="0">
                        <a:buNone/>
                      </a:pPr>
                      <a:r>
                        <a:rPr lang="it-IT" sz="1100" b="1" noProof="0" dirty="0">
                          <a:solidFill>
                            <a:schemeClr val="tx1"/>
                          </a:solidFill>
                        </a:rPr>
                        <a:t>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80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320.000 €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11480">
                <a:tc>
                  <a:txBody>
                    <a:bodyPr/>
                    <a:lstStyle/>
                    <a:p>
                      <a:pPr marL="0" indent="0">
                        <a:buNone/>
                      </a:pPr>
                      <a:r>
                        <a:rPr lang="it-IT" sz="1100" b="1" noProof="0" dirty="0">
                          <a:solidFill>
                            <a:schemeClr val="tx1"/>
                          </a:solidFill>
                        </a:rPr>
                        <a:t>Periferia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95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210.000 €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11480">
                <a:tc>
                  <a:txBody>
                    <a:bodyPr/>
                    <a:lstStyle/>
                    <a:p>
                      <a:pPr marL="0" indent="0">
                        <a:buNone/>
                      </a:pPr>
                      <a:r>
                        <a:rPr lang="it-IT" sz="1100" b="1" noProof="0" dirty="0">
                          <a:solidFill>
                            <a:schemeClr val="tx1"/>
                          </a:solidFill>
                        </a:rPr>
                        <a:t>Semicentro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60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5</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195.000 €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11480">
                <a:tc>
                  <a:txBody>
                    <a:bodyPr/>
                    <a:lstStyle/>
                    <a:p>
                      <a:pPr marL="0" indent="0">
                        <a:buNone/>
                      </a:pPr>
                      <a:r>
                        <a:rPr lang="it-IT" sz="1100" b="1"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6" name="freccia"/>
          <p:cNvSpPr/>
          <p:nvPr/>
        </p:nvSpPr>
        <p:spPr>
          <a:xfrm>
            <a:off x="3886200" y="2240280"/>
            <a:ext cx="457200" cy="292608"/>
          </a:xfrm>
          <a:prstGeom prst="rightArrow">
            <a:avLst/>
          </a:prstGeom>
          <a:solidFill>
            <a:schemeClr val="accent1"/>
          </a:solidFill>
          <a:ln/>
        </p:spPr>
        <p:txBody>
          <a:bodyPr/>
          <a:lstStyle/>
          <a:p>
            <a:endParaRPr lang="it-IT" noProof="0" dirty="0"/>
          </a:p>
        </p:txBody>
      </p:sp>
      <p:sp>
        <p:nvSpPr>
          <p:cNvPr id="7" name="addestramento"/>
          <p:cNvSpPr/>
          <p:nvPr/>
        </p:nvSpPr>
        <p:spPr>
          <a:xfrm>
            <a:off x="4480560" y="1783080"/>
            <a:ext cx="1737360" cy="1234440"/>
          </a:xfrm>
          <a:prstGeom prst="roundRect">
            <a:avLst>
              <a:gd name="adj" fmla="val 5926"/>
            </a:avLst>
          </a:prstGeom>
          <a:solidFill>
            <a:schemeClr val="accent1"/>
          </a:solidFill>
          <a:ln/>
        </p:spPr>
        <p:txBody>
          <a:bodyPr/>
          <a:lstStyle/>
          <a:p>
            <a:endParaRPr lang="it-IT" noProof="0" dirty="0"/>
          </a:p>
        </p:txBody>
      </p:sp>
      <p:sp>
        <p:nvSpPr>
          <p:cNvPr id="8" name="Text 4"/>
          <p:cNvSpPr txBox="1"/>
          <p:nvPr/>
        </p:nvSpPr>
        <p:spPr>
          <a:xfrm>
            <a:off x="452628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bg1"/>
                </a:solidFill>
              </a:rPr>
              <a:t>Addestramento</a:t>
            </a:r>
            <a:endParaRPr lang="it-IT" sz="1400" noProof="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bg1"/>
                </a:solidFill>
              </a:rPr>
              <a:t>cerca la relazione tra caratteristiche e prezzo</a:t>
            </a:r>
            <a:endParaRPr lang="it-IT" sz="1100" noProof="0" dirty="0"/>
          </a:p>
        </p:txBody>
      </p:sp>
      <p:sp>
        <p:nvSpPr>
          <p:cNvPr id="10" name="freccia"/>
          <p:cNvSpPr/>
          <p:nvPr/>
        </p:nvSpPr>
        <p:spPr>
          <a:xfrm>
            <a:off x="6355080" y="2240280"/>
            <a:ext cx="457200" cy="292608"/>
          </a:xfrm>
          <a:prstGeom prst="rightArrow">
            <a:avLst/>
          </a:prstGeom>
          <a:solidFill>
            <a:schemeClr val="accent1"/>
          </a:solidFill>
          <a:ln/>
        </p:spPr>
        <p:txBody>
          <a:bodyPr/>
          <a:lstStyle/>
          <a:p>
            <a:endParaRPr lang="it-IT" noProof="0" dirty="0"/>
          </a:p>
        </p:txBody>
      </p:sp>
      <p:sp>
        <p:nvSpPr>
          <p:cNvPr id="11" name="modello"/>
          <p:cNvSpPr/>
          <p:nvPr/>
        </p:nvSpPr>
        <p:spPr>
          <a:xfrm>
            <a:off x="6949440" y="1783080"/>
            <a:ext cx="1737360" cy="1234440"/>
          </a:xfrm>
          <a:prstGeom prst="roundRect">
            <a:avLst>
              <a:gd name="adj" fmla="val 5926"/>
            </a:avLst>
          </a:prstGeom>
          <a:solidFill>
            <a:schemeClr val="accent6"/>
          </a:solidFill>
          <a:ln/>
        </p:spPr>
        <p:txBody>
          <a:bodyPr/>
          <a:lstStyle/>
          <a:p>
            <a:endParaRPr lang="it-IT" noProof="0" dirty="0"/>
          </a:p>
        </p:txBody>
      </p:sp>
      <p:sp>
        <p:nvSpPr>
          <p:cNvPr id="12" name="Text 8"/>
          <p:cNvSpPr txBox="1"/>
          <p:nvPr/>
        </p:nvSpPr>
        <p:spPr>
          <a:xfrm>
            <a:off x="699516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tx1"/>
                </a:solidFill>
              </a:rPr>
              <a:t>Modello</a:t>
            </a:r>
            <a:endParaRPr lang="it-IT" sz="1400" noProof="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tx2"/>
                </a:solidFill>
              </a:rPr>
              <a:t>applicabile a un appartamento nuovo</a:t>
            </a:r>
            <a:endParaRPr lang="it-IT" sz="1100" noProof="0" dirty="0"/>
          </a:p>
        </p:txBody>
      </p:sp>
      <p:sp>
        <p:nvSpPr>
          <p:cNvPr id="14" name="nota"/>
          <p:cNvSpPr/>
          <p:nvPr/>
        </p:nvSpPr>
        <p:spPr>
          <a:xfrm>
            <a:off x="4480560" y="3429000"/>
            <a:ext cx="4206240" cy="1097280"/>
          </a:xfrm>
          <a:prstGeom prst="roundRect">
            <a:avLst>
              <a:gd name="adj" fmla="val 6667"/>
            </a:avLst>
          </a:prstGeom>
          <a:solidFill>
            <a:schemeClr val="bg2"/>
          </a:solidFill>
          <a:ln/>
        </p:spPr>
        <p:txBody>
          <a:bodyPr/>
          <a:lstStyle/>
          <a:p>
            <a:endParaRPr lang="it-IT" noProof="0" dirty="0"/>
          </a:p>
        </p:txBody>
      </p:sp>
      <p:sp>
        <p:nvSpPr>
          <p:cNvPr id="15" name="cerchio FiAlertCircle"/>
          <p:cNvSpPr/>
          <p:nvPr/>
        </p:nvSpPr>
        <p:spPr>
          <a:xfrm>
            <a:off x="4663440" y="3721608"/>
            <a:ext cx="502920" cy="502920"/>
          </a:xfrm>
          <a:prstGeom prst="ellipse">
            <a:avLst/>
          </a:prstGeom>
          <a:solidFill>
            <a:schemeClr val="accent2"/>
          </a:solidFill>
          <a:ln/>
        </p:spPr>
        <p:txBody>
          <a:bodyPr/>
          <a:lstStyle/>
          <a:p>
            <a:endParaRPr lang="it-IT" noProof="0" dirty="0"/>
          </a:p>
        </p:txBody>
      </p:sp>
      <p:pic>
        <p:nvPicPr>
          <p:cNvPr id="16" name="Image 0" descr="FiAlertCircle"/>
          <p:cNvPicPr>
            <a:picLocks noChangeAspect="1"/>
          </p:cNvPicPr>
          <p:nvPr/>
        </p:nvPicPr>
        <p:blipFill>
          <a:blip r:embed="rId3"/>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marL="0" indent="0">
              <a:buNone/>
            </a:pPr>
            <a:r>
              <a:rPr lang="it-IT" sz="1300" noProof="0" dirty="0">
                <a:solidFill>
                  <a:schemeClr val="tx1"/>
                </a:solidFill>
              </a:rPr>
              <a:t>Il modello individua regolarità numeriche: se nei dati mancano certi casi, non saprà valutarli bene.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37</a:t>
            </a:fld>
            <a:endParaRPr lang="it-IT" noProof="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Dati di addestramento ed esempi</a:t>
            </a:r>
            <a:endParaRPr lang="it-IT" sz="2600" noProof="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txBody>
          <a:bodyPr/>
          <a:lstStyle/>
          <a:p>
            <a:endParaRPr lang="it-IT" noProof="0" dirty="0"/>
          </a:p>
        </p:txBody>
      </p:sp>
      <p:sp>
        <p:nvSpPr>
          <p:cNvPr id="5" name="cerchio FiTag"/>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ag"/>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Supervisionato</a:t>
            </a:r>
            <a:endParaRPr lang="it-IT" sz="1600" noProof="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Esempi con la risposta corretta (etichetta)</a:t>
            </a:r>
            <a:endParaRPr lang="it-IT" sz="1300" noProof="0" dirty="0"/>
          </a:p>
          <a:p>
            <a:pPr marL="0" indent="0">
              <a:buNone/>
            </a:pPr>
            <a:r>
              <a:rPr lang="it-IT" sz="1300" noProof="0" dirty="0">
                <a:solidFill>
                  <a:schemeClr val="tx2"/>
                </a:solidFill>
              </a:rPr>
              <a:t>Esempio: Email spam o non spam, pezzi conformi o difettosi</a:t>
            </a:r>
            <a:endParaRPr lang="it-IT" sz="1300" noProof="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txBody>
          <a:bodyPr/>
          <a:lstStyle/>
          <a:p>
            <a:endParaRPr lang="it-IT" noProof="0" dirty="0"/>
          </a:p>
        </p:txBody>
      </p:sp>
      <p:sp>
        <p:nvSpPr>
          <p:cNvPr id="10" name="cerchio FiShuffle"/>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Shuff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Non supervisionato</a:t>
            </a:r>
            <a:endParaRPr lang="it-IT" sz="1600" noProof="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Nessuna etichetta: il sistema cerca strutture</a:t>
            </a:r>
            <a:endParaRPr lang="it-IT" sz="1300" noProof="0" dirty="0"/>
          </a:p>
          <a:p>
            <a:pPr marL="0" indent="0">
              <a:buNone/>
            </a:pPr>
            <a:r>
              <a:rPr lang="it-IT" sz="1300" noProof="0" dirty="0">
                <a:solidFill>
                  <a:schemeClr val="tx2"/>
                </a:solidFill>
              </a:rPr>
              <a:t>Esempio: Gruppi di clienti con comportamenti simili</a:t>
            </a:r>
            <a:endParaRPr lang="it-IT" sz="1300" noProof="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txBody>
          <a:bodyPr/>
          <a:lstStyle/>
          <a:p>
            <a:endParaRPr lang="it-IT" noProof="0" dirty="0"/>
          </a:p>
        </p:txBody>
      </p:sp>
      <p:sp>
        <p:nvSpPr>
          <p:cNvPr id="15" name="cerchio FiAward"/>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Award"/>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Per rinforzo</a:t>
            </a:r>
            <a:endParaRPr lang="it-IT" sz="1600" noProof="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Impara per tentativi, con segnali positivi o negativi</a:t>
            </a:r>
            <a:endParaRPr lang="it-IT" sz="1300" noProof="0" dirty="0"/>
          </a:p>
          <a:p>
            <a:pPr marL="0" indent="0">
              <a:buNone/>
            </a:pPr>
            <a:r>
              <a:rPr lang="it-IT" sz="1300" noProof="0" dirty="0">
                <a:solidFill>
                  <a:schemeClr val="tx2"/>
                </a:solidFill>
              </a:rPr>
              <a:t>Esempio: Giochi, robotica, affinamento dei modelli linguistici</a:t>
            </a:r>
            <a:endParaRPr lang="it-IT" sz="1300" noProof="0" dirty="0"/>
          </a:p>
        </p:txBody>
      </p:sp>
      <p:sp>
        <p:nvSpPr>
          <p:cNvPr id="19" name="principio dati"/>
          <p:cNvSpPr/>
          <p:nvPr/>
        </p:nvSpPr>
        <p:spPr>
          <a:xfrm>
            <a:off x="457200" y="3749040"/>
            <a:ext cx="8229600" cy="777240"/>
          </a:xfrm>
          <a:prstGeom prst="roundRect">
            <a:avLst>
              <a:gd name="adj" fmla="val 9412"/>
            </a:avLst>
          </a:prstGeom>
          <a:solidFill>
            <a:schemeClr val="tx1"/>
          </a:solidFill>
          <a:ln/>
        </p:spPr>
        <p:txBody>
          <a:bodyPr/>
          <a:lstStyle/>
          <a:p>
            <a:endParaRPr lang="it-IT" noProof="0" dirty="0"/>
          </a:p>
        </p:txBody>
      </p:sp>
      <p:sp>
        <p:nvSpPr>
          <p:cNvPr id="20" name="cerchio FiDatabase"/>
          <p:cNvSpPr/>
          <p:nvPr/>
        </p:nvSpPr>
        <p:spPr>
          <a:xfrm>
            <a:off x="640080" y="3877056"/>
            <a:ext cx="512064" cy="512064"/>
          </a:xfrm>
          <a:prstGeom prst="ellipse">
            <a:avLst/>
          </a:prstGeom>
          <a:solidFill>
            <a:schemeClr val="accent1"/>
          </a:solidFill>
          <a:ln/>
        </p:spPr>
        <p:txBody>
          <a:bodyPr/>
          <a:lstStyle/>
          <a:p>
            <a:endParaRPr lang="it-IT" noProof="0" dirty="0"/>
          </a:p>
        </p:txBody>
      </p:sp>
      <p:pic>
        <p:nvPicPr>
          <p:cNvPr id="21" name="Image 3" descr="FiDatabase"/>
          <p:cNvPicPr>
            <a:picLocks noChangeAspect="1"/>
          </p:cNvPicPr>
          <p:nvPr/>
        </p:nvPicPr>
        <p:blipFill>
          <a:blip r:embed="rId6"/>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500" noProof="0" dirty="0">
                <a:solidFill>
                  <a:schemeClr val="bg1"/>
                </a:solidFill>
              </a:rPr>
              <a:t>La qualità e la rappresentatività dei dati di addestramento influenzano le capacità del modello. Metodi e obiettivi di apprendimento contribuiscono a determinarne le prestazioni</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38</a:t>
            </a:fld>
            <a:endParaRPr lang="it-IT" noProof="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parametri del modello</a:t>
            </a:r>
            <a:endParaRPr lang="it-IT" sz="2600" noProof="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840480" cy="320040"/>
          </a:xfrm>
          <a:prstGeom prst="rect">
            <a:avLst/>
          </a:prstGeom>
          <a:noFill/>
          <a:ln/>
        </p:spPr>
        <p:txBody>
          <a:bodyPr wrap="square" lIns="0" tIns="0" rIns="0" bIns="0" rtlCol="0" anchor="t"/>
          <a:lstStyle/>
          <a:p>
            <a:pPr marL="0" indent="0">
              <a:buNone/>
            </a:pPr>
            <a:r>
              <a:rPr lang="it-IT" sz="1400" b="1" noProof="0" dirty="0">
                <a:solidFill>
                  <a:schemeClr val="tx1"/>
                </a:solidFill>
              </a:rPr>
              <a:t>Un'analogia: un mixer con moltissime manopole</a:t>
            </a:r>
            <a:endParaRPr lang="it-IT" sz="1400" noProof="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30" name="Text 27"/>
          <p:cNvSpPr txBox="1"/>
          <p:nvPr/>
        </p:nvSpPr>
        <p:spPr>
          <a:xfrm>
            <a:off x="640080" y="3383280"/>
            <a:ext cx="3840480" cy="1005840"/>
          </a:xfrm>
          <a:prstGeom prst="rect">
            <a:avLst/>
          </a:prstGeom>
          <a:noFill/>
          <a:ln/>
        </p:spPr>
        <p:txBody>
          <a:bodyPr wrap="square" lIns="0" tIns="0" rIns="0" bIns="0" rtlCol="0" anchor="t"/>
          <a:lstStyle/>
          <a:p>
            <a:pPr marL="0" indent="0">
              <a:buNone/>
            </a:pPr>
            <a:r>
              <a:rPr lang="it-IT" sz="1300" noProof="0" dirty="0">
                <a:solidFill>
                  <a:schemeClr val="tx2"/>
                </a:solidFill>
              </a:rPr>
              <a:t>Ogni parametro regola quanto conta un segnale. L'addestramento le regola poco alla volta, finché i risultati sono corretti sugli esempi.</a:t>
            </a:r>
            <a:endParaRPr lang="it-IT" sz="1300" noProof="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txBody>
          <a:bodyPr/>
          <a:lstStyle/>
          <a:p>
            <a:endParaRPr lang="it-IT" noProof="0" dirty="0"/>
          </a:p>
        </p:txBody>
      </p:sp>
      <p:sp>
        <p:nvSpPr>
          <p:cNvPr id="32" name="Text 29"/>
          <p:cNvSpPr txBox="1"/>
          <p:nvPr/>
        </p:nvSpPr>
        <p:spPr>
          <a:xfrm>
            <a:off x="5120640" y="1188720"/>
            <a:ext cx="3383280" cy="685800"/>
          </a:xfrm>
          <a:prstGeom prst="rect">
            <a:avLst/>
          </a:prstGeom>
          <a:noFill/>
          <a:ln/>
        </p:spPr>
        <p:txBody>
          <a:bodyPr wrap="square" lIns="0" tIns="0" rIns="0" bIns="0" rtlCol="0" anchor="t"/>
          <a:lstStyle/>
          <a:p>
            <a:pPr marL="0" indent="0">
              <a:buNone/>
            </a:pPr>
            <a:r>
              <a:rPr lang="it-IT" sz="3400" b="1" noProof="0" dirty="0">
                <a:solidFill>
                  <a:schemeClr val="accent1"/>
                </a:solidFill>
              </a:rPr>
              <a:t>175 miliardi</a:t>
            </a:r>
            <a:endParaRPr lang="it-IT" sz="3400" noProof="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marL="0" indent="0">
              <a:buNone/>
            </a:pPr>
            <a:r>
              <a:rPr lang="it-IT" sz="1300" noProof="0" dirty="0">
                <a:solidFill>
                  <a:schemeClr val="bg1"/>
                </a:solidFill>
              </a:rPr>
              <a:t>i parametri di GPT-3 (2020). Molti modelli recenti sono più grandi.</a:t>
            </a:r>
            <a:endParaRPr lang="it-IT" sz="1300" noProof="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txBody>
          <a:bodyPr/>
          <a:lstStyle/>
          <a:p>
            <a:endParaRPr lang="it-IT" noProof="0" dirty="0"/>
          </a:p>
        </p:txBody>
      </p:sp>
      <p:sp>
        <p:nvSpPr>
          <p:cNvPr id="35" name="cerchio FiLock"/>
          <p:cNvSpPr/>
          <p:nvPr/>
        </p:nvSpPr>
        <p:spPr>
          <a:xfrm>
            <a:off x="5120640" y="3017520"/>
            <a:ext cx="457200" cy="457200"/>
          </a:xfrm>
          <a:prstGeom prst="ellipse">
            <a:avLst/>
          </a:prstGeom>
          <a:solidFill>
            <a:schemeClr val="accent1"/>
          </a:solidFill>
          <a:ln/>
        </p:spPr>
        <p:txBody>
          <a:bodyPr/>
          <a:lstStyle/>
          <a:p>
            <a:endParaRPr lang="it-IT" noProof="0" dirty="0"/>
          </a:p>
        </p:txBody>
      </p:sp>
      <p:pic>
        <p:nvPicPr>
          <p:cNvPr id="36" name="Image 0" descr="FiLock"/>
          <p:cNvPicPr>
            <a:picLocks noChangeAspect="1"/>
          </p:cNvPicPr>
          <p:nvPr/>
        </p:nvPicPr>
        <p:blipFill>
          <a:blip r:embed="rId3"/>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marL="0" indent="0">
              <a:buNone/>
            </a:pPr>
            <a:r>
              <a:rPr lang="it-IT" sz="1500" b="1" noProof="0" dirty="0">
                <a:solidFill>
                  <a:schemeClr val="tx1"/>
                </a:solidFill>
              </a:rPr>
              <a:t>Fissi durante l'uso</a:t>
            </a:r>
            <a:endParaRPr lang="it-IT" sz="1500" noProof="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marL="0" indent="0">
              <a:buNone/>
            </a:pPr>
            <a:r>
              <a:rPr lang="it-IT" sz="1300" noProof="0" dirty="0">
                <a:solidFill>
                  <a:schemeClr val="tx2"/>
                </a:solidFill>
              </a:rPr>
              <a:t>Non sono un archivio dei dati ma una rappresentazione delle regolarità. Usando l'assistente non li modifichiamo.</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39</a:t>
            </a:fld>
            <a:endParaRPr lang="it-IT"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ciclo di addestramento</a:t>
            </a:r>
            <a:endParaRPr lang="it-IT" sz="2600" noProof="0" dirty="0"/>
          </a:p>
        </p:txBody>
      </p:sp>
      <p:sp>
        <p:nvSpPr>
          <p:cNvPr id="4" name="Previsione"/>
          <p:cNvSpPr/>
          <p:nvPr/>
        </p:nvSpPr>
        <p:spPr>
          <a:xfrm>
            <a:off x="457200" y="1188720"/>
            <a:ext cx="1874520" cy="2331720"/>
          </a:xfrm>
          <a:prstGeom prst="roundRect">
            <a:avLst>
              <a:gd name="adj" fmla="val 3902"/>
            </a:avLst>
          </a:prstGeom>
          <a:solidFill>
            <a:schemeClr val="bg2"/>
          </a:solidFill>
          <a:ln/>
        </p:spPr>
        <p:txBody>
          <a:bodyPr/>
          <a:lstStyle/>
          <a:p>
            <a:endParaRPr lang="it-IT" noProof="0" dirty="0"/>
          </a:p>
        </p:txBody>
      </p:sp>
      <p:sp>
        <p:nvSpPr>
          <p:cNvPr id="5" name="cerchio FiPlayCircle"/>
          <p:cNvSpPr/>
          <p:nvPr/>
        </p:nvSpPr>
        <p:spPr>
          <a:xfrm>
            <a:off x="1115568" y="1371600"/>
            <a:ext cx="548640" cy="548640"/>
          </a:xfrm>
          <a:prstGeom prst="ellipse">
            <a:avLst/>
          </a:prstGeom>
          <a:solidFill>
            <a:schemeClr val="accent1"/>
          </a:solidFill>
          <a:ln/>
        </p:spPr>
        <p:txBody>
          <a:bodyPr/>
          <a:lstStyle/>
          <a:p>
            <a:endParaRPr lang="it-IT" noProof="0" dirty="0"/>
          </a:p>
        </p:txBody>
      </p:sp>
      <p:pic>
        <p:nvPicPr>
          <p:cNvPr id="6" name="Image 0" descr="FiPlayCircle"/>
          <p:cNvPicPr>
            <a:picLocks noChangeAspect="1"/>
          </p:cNvPicPr>
          <p:nvPr/>
        </p:nvPicPr>
        <p:blipFill>
          <a:blip r:embed="rId3"/>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1. Previsione</a:t>
            </a:r>
            <a:endParaRPr lang="it-IT" sz="1500" noProof="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elabora un esempio con i parametri attuali</a:t>
            </a:r>
            <a:endParaRPr lang="it-IT" sz="1200" noProof="0" dirty="0"/>
          </a:p>
        </p:txBody>
      </p:sp>
      <p:sp>
        <p:nvSpPr>
          <p:cNvPr id="9" name="freccia"/>
          <p:cNvSpPr/>
          <p:nvPr/>
        </p:nvSpPr>
        <p:spPr>
          <a:xfrm>
            <a:off x="2350008" y="2194560"/>
            <a:ext cx="219456" cy="292608"/>
          </a:xfrm>
          <a:prstGeom prst="rightArrow">
            <a:avLst/>
          </a:prstGeom>
          <a:solidFill>
            <a:schemeClr val="accent2"/>
          </a:solidFill>
          <a:ln/>
        </p:spPr>
        <p:txBody>
          <a:bodyPr/>
          <a:lstStyle/>
          <a:p>
            <a:endParaRPr lang="it-IT" noProof="0" dirty="0"/>
          </a:p>
        </p:txBody>
      </p:sp>
      <p:sp>
        <p:nvSpPr>
          <p:cNvPr id="10" name="Confronto"/>
          <p:cNvSpPr/>
          <p:nvPr/>
        </p:nvSpPr>
        <p:spPr>
          <a:xfrm>
            <a:off x="2587752" y="1188720"/>
            <a:ext cx="1874520" cy="2331720"/>
          </a:xfrm>
          <a:prstGeom prst="roundRect">
            <a:avLst>
              <a:gd name="adj" fmla="val 3902"/>
            </a:avLst>
          </a:prstGeom>
          <a:solidFill>
            <a:schemeClr val="bg2"/>
          </a:solidFill>
          <a:ln/>
        </p:spPr>
        <p:txBody>
          <a:bodyPr/>
          <a:lstStyle/>
          <a:p>
            <a:endParaRPr lang="it-IT" noProof="0" dirty="0"/>
          </a:p>
        </p:txBody>
      </p:sp>
      <p:sp>
        <p:nvSpPr>
          <p:cNvPr id="11" name="cerchio FiColumns"/>
          <p:cNvSpPr/>
          <p:nvPr/>
        </p:nvSpPr>
        <p:spPr>
          <a:xfrm>
            <a:off x="3246120" y="1371600"/>
            <a:ext cx="548640" cy="548640"/>
          </a:xfrm>
          <a:prstGeom prst="ellipse">
            <a:avLst/>
          </a:prstGeom>
          <a:solidFill>
            <a:schemeClr val="accent1"/>
          </a:solidFill>
          <a:ln/>
        </p:spPr>
        <p:txBody>
          <a:bodyPr/>
          <a:lstStyle/>
          <a:p>
            <a:endParaRPr lang="it-IT" noProof="0" dirty="0"/>
          </a:p>
        </p:txBody>
      </p:sp>
      <p:pic>
        <p:nvPicPr>
          <p:cNvPr id="12" name="Image 1" descr="FiColumns"/>
          <p:cNvPicPr>
            <a:picLocks noChangeAspect="1"/>
          </p:cNvPicPr>
          <p:nvPr/>
        </p:nvPicPr>
        <p:blipFill>
          <a:blip r:embed="rId4"/>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2. Confronto</a:t>
            </a:r>
            <a:endParaRPr lang="it-IT" sz="1500" noProof="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La previsione è confrontata con la risposta corretta</a:t>
            </a:r>
            <a:endParaRPr lang="it-IT" sz="1200" noProof="0" dirty="0"/>
          </a:p>
        </p:txBody>
      </p:sp>
      <p:sp>
        <p:nvSpPr>
          <p:cNvPr id="15" name="freccia"/>
          <p:cNvSpPr/>
          <p:nvPr/>
        </p:nvSpPr>
        <p:spPr>
          <a:xfrm>
            <a:off x="4480560" y="2194560"/>
            <a:ext cx="219456" cy="292608"/>
          </a:xfrm>
          <a:prstGeom prst="rightArrow">
            <a:avLst/>
          </a:prstGeom>
          <a:solidFill>
            <a:schemeClr val="accent2"/>
          </a:solidFill>
          <a:ln/>
        </p:spPr>
        <p:txBody>
          <a:bodyPr/>
          <a:lstStyle/>
          <a:p>
            <a:endParaRPr lang="it-IT" noProof="0" dirty="0"/>
          </a:p>
        </p:txBody>
      </p:sp>
      <p:sp>
        <p:nvSpPr>
          <p:cNvPr id="16" name="Errore"/>
          <p:cNvSpPr/>
          <p:nvPr/>
        </p:nvSpPr>
        <p:spPr>
          <a:xfrm>
            <a:off x="4718304" y="1188720"/>
            <a:ext cx="1874520" cy="2331720"/>
          </a:xfrm>
          <a:prstGeom prst="roundRect">
            <a:avLst>
              <a:gd name="adj" fmla="val 3902"/>
            </a:avLst>
          </a:prstGeom>
          <a:solidFill>
            <a:schemeClr val="bg2"/>
          </a:solidFill>
          <a:ln/>
        </p:spPr>
        <p:txBody>
          <a:bodyPr/>
          <a:lstStyle/>
          <a:p>
            <a:endParaRPr lang="it-IT" noProof="0" dirty="0"/>
          </a:p>
        </p:txBody>
      </p:sp>
      <p:sp>
        <p:nvSpPr>
          <p:cNvPr id="17" name="cerchio FiActivity"/>
          <p:cNvSpPr/>
          <p:nvPr/>
        </p:nvSpPr>
        <p:spPr>
          <a:xfrm>
            <a:off x="5376672" y="1371600"/>
            <a:ext cx="548640" cy="548640"/>
          </a:xfrm>
          <a:prstGeom prst="ellipse">
            <a:avLst/>
          </a:prstGeom>
          <a:solidFill>
            <a:schemeClr val="accent1"/>
          </a:solidFill>
          <a:ln/>
        </p:spPr>
        <p:txBody>
          <a:bodyPr/>
          <a:lstStyle/>
          <a:p>
            <a:endParaRPr lang="it-IT" noProof="0" dirty="0"/>
          </a:p>
        </p:txBody>
      </p:sp>
      <p:pic>
        <p:nvPicPr>
          <p:cNvPr id="18" name="Image 2" descr="FiActivity"/>
          <p:cNvPicPr>
            <a:picLocks noChangeAspect="1"/>
          </p:cNvPicPr>
          <p:nvPr/>
        </p:nvPicPr>
        <p:blipFill>
          <a:blip r:embed="rId5"/>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3. Errore</a:t>
            </a:r>
            <a:endParaRPr lang="it-IT" sz="1500" noProof="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Si misura quanto la previsione si discosta</a:t>
            </a:r>
            <a:endParaRPr lang="it-IT" sz="1200" noProof="0" dirty="0"/>
          </a:p>
        </p:txBody>
      </p:sp>
      <p:sp>
        <p:nvSpPr>
          <p:cNvPr id="21" name="freccia"/>
          <p:cNvSpPr/>
          <p:nvPr/>
        </p:nvSpPr>
        <p:spPr>
          <a:xfrm>
            <a:off x="6611112" y="2194560"/>
            <a:ext cx="219456" cy="292608"/>
          </a:xfrm>
          <a:prstGeom prst="rightArrow">
            <a:avLst/>
          </a:prstGeom>
          <a:solidFill>
            <a:schemeClr val="accent2"/>
          </a:solidFill>
          <a:ln/>
        </p:spPr>
        <p:txBody>
          <a:bodyPr/>
          <a:lstStyle/>
          <a:p>
            <a:endParaRPr lang="it-IT" noProof="0" dirty="0"/>
          </a:p>
        </p:txBody>
      </p:sp>
      <p:sp>
        <p:nvSpPr>
          <p:cNvPr id="22" name="Aggiustamento"/>
          <p:cNvSpPr/>
          <p:nvPr/>
        </p:nvSpPr>
        <p:spPr>
          <a:xfrm>
            <a:off x="6848856" y="1188720"/>
            <a:ext cx="1874520" cy="2331720"/>
          </a:xfrm>
          <a:prstGeom prst="roundRect">
            <a:avLst>
              <a:gd name="adj" fmla="val 3902"/>
            </a:avLst>
          </a:prstGeom>
          <a:solidFill>
            <a:schemeClr val="accent6"/>
          </a:solidFill>
          <a:ln/>
        </p:spPr>
        <p:txBody>
          <a:bodyPr/>
          <a:lstStyle/>
          <a:p>
            <a:endParaRPr lang="it-IT" noProof="0" dirty="0"/>
          </a:p>
        </p:txBody>
      </p:sp>
      <p:sp>
        <p:nvSpPr>
          <p:cNvPr id="23" name="cerchio FiSliders"/>
          <p:cNvSpPr/>
          <p:nvPr/>
        </p:nvSpPr>
        <p:spPr>
          <a:xfrm>
            <a:off x="7507224" y="1371600"/>
            <a:ext cx="548640" cy="548640"/>
          </a:xfrm>
          <a:prstGeom prst="ellipse">
            <a:avLst/>
          </a:prstGeom>
          <a:solidFill>
            <a:schemeClr val="accent1"/>
          </a:solidFill>
          <a:ln/>
        </p:spPr>
        <p:txBody>
          <a:bodyPr/>
          <a:lstStyle/>
          <a:p>
            <a:endParaRPr lang="it-IT" noProof="0" dirty="0"/>
          </a:p>
        </p:txBody>
      </p:sp>
      <p:pic>
        <p:nvPicPr>
          <p:cNvPr id="24" name="Image 3" descr="FiSliders"/>
          <p:cNvPicPr>
            <a:picLocks noChangeAspect="1"/>
          </p:cNvPicPr>
          <p:nvPr/>
        </p:nvPicPr>
        <p:blipFill>
          <a:blip r:embed="rId6"/>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4. Aggiustamento</a:t>
            </a:r>
            <a:endParaRPr lang="it-IT" sz="1500" noProof="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 parametri si modificano per ridurre l'errore</a:t>
            </a:r>
            <a:endParaRPr lang="it-IT" sz="1200" noProof="0" dirty="0"/>
          </a:p>
        </p:txBody>
      </p:sp>
      <p:sp>
        <p:nvSpPr>
          <p:cNvPr id="27" name="ripetizione"/>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28" name="cerchio FiRepeat"/>
          <p:cNvSpPr/>
          <p:nvPr/>
        </p:nvSpPr>
        <p:spPr>
          <a:xfrm>
            <a:off x="640080" y="3840480"/>
            <a:ext cx="548640" cy="548640"/>
          </a:xfrm>
          <a:prstGeom prst="ellipse">
            <a:avLst/>
          </a:prstGeom>
          <a:solidFill>
            <a:schemeClr val="accent1"/>
          </a:solidFill>
          <a:ln/>
        </p:spPr>
        <p:txBody>
          <a:bodyPr/>
          <a:lstStyle/>
          <a:p>
            <a:endParaRPr lang="it-IT" noProof="0" dirty="0"/>
          </a:p>
        </p:txBody>
      </p:sp>
      <p:pic>
        <p:nvPicPr>
          <p:cNvPr id="29" name="Image 4" descr="FiRepeat"/>
          <p:cNvPicPr>
            <a:picLocks noChangeAspect="1"/>
          </p:cNvPicPr>
          <p:nvPr/>
        </p:nvPicPr>
        <p:blipFill>
          <a:blip r:embed="rId7"/>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marL="0" indent="0">
              <a:buNone/>
            </a:pPr>
            <a:r>
              <a:rPr lang="it-IT" sz="1400" noProof="0" dirty="0">
                <a:solidFill>
                  <a:schemeClr val="bg1"/>
                </a:solidFill>
              </a:rPr>
              <a:t>Ripetuto milioni o miliardi di volte. Per i grandi modelli servono settimane o mesi di calcolo: non avviene mentre li usiamo.</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40</a:t>
            </a:fld>
            <a:endParaRPr lang="it-IT" noProof="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Addestramento e inferenza</a:t>
            </a:r>
            <a:endParaRPr lang="it-IT" sz="2600" noProof="0" dirty="0"/>
          </a:p>
        </p:txBody>
      </p:sp>
      <p:graphicFrame>
        <p:nvGraphicFramePr>
          <p:cNvPr id="29" name="Table 0"/>
          <p:cNvGraphicFramePr>
            <a:graphicFrameLocks noGrp="1"/>
          </p:cNvGraphicFramePr>
          <p:nvPr/>
        </p:nvGraphicFramePr>
        <p:xfrm>
          <a:off x="457200" y="1097280"/>
          <a:ext cx="8229600" cy="3008376"/>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29768">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Addestramento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Inferenza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29768">
                <a:tc>
                  <a:txBody>
                    <a:bodyPr/>
                    <a:lstStyle/>
                    <a:p>
                      <a:pPr marL="0" indent="0">
                        <a:buNone/>
                      </a:pPr>
                      <a:r>
                        <a:rPr lang="it-IT" sz="1300" b="1" noProof="0" dirty="0">
                          <a:solidFill>
                            <a:schemeClr val="tx1"/>
                          </a:solidFill>
                        </a:rPr>
                        <a:t>Che cosa avviene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modello apprende dagli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Il modello elabora un nuovo input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29768">
                <a:tc>
                  <a:txBody>
                    <a:bodyPr/>
                    <a:lstStyle/>
                    <a:p>
                      <a:pPr marL="0" indent="0">
                        <a:buNone/>
                      </a:pPr>
                      <a:r>
                        <a:rPr lang="it-IT" sz="1300" b="1" noProof="0" dirty="0">
                          <a:solidFill>
                            <a:schemeClr val="tx1"/>
                          </a:solidFill>
                        </a:rPr>
                        <a:t>Parametri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Vengono modificati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Restano invariati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29768">
                <a:tc>
                  <a:txBody>
                    <a:bodyPr/>
                    <a:lstStyle/>
                    <a:p>
                      <a:pPr marL="0" indent="0">
                        <a:buNone/>
                      </a:pPr>
                      <a:r>
                        <a:rPr lang="it-IT" sz="1300" b="1" noProof="0" dirty="0">
                          <a:solidFill>
                            <a:schemeClr val="tx1"/>
                          </a:solidFill>
                        </a:rPr>
                        <a:t>Dati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Grandi quantità di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 singola richiesta e il suo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29768">
                <a:tc>
                  <a:txBody>
                    <a:bodyPr/>
                    <a:lstStyle/>
                    <a:p>
                      <a:pPr marL="0" indent="0">
                        <a:buNone/>
                      </a:pPr>
                      <a:r>
                        <a:rPr lang="it-IT" sz="1300" b="1" noProof="0" dirty="0">
                          <a:solidFill>
                            <a:schemeClr val="tx1"/>
                          </a:solidFill>
                        </a:rPr>
                        <a:t>Quando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Prima della messa a disposizione, raramente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Ogni volta che il sistema viene usato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29768">
                <a:tc>
                  <a:txBody>
                    <a:bodyPr/>
                    <a:lstStyle/>
                    <a:p>
                      <a:pPr marL="0" indent="0">
                        <a:buNone/>
                      </a:pPr>
                      <a:r>
                        <a:rPr lang="it-IT" sz="1300" b="1" noProof="0" dirty="0">
                          <a:solidFill>
                            <a:schemeClr val="tx1"/>
                          </a:solidFill>
                        </a:rPr>
                        <a:t>Risorse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Enormi: settimane o mesi di calcolo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Molto minori, tempi brevi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29768">
                <a:tc>
                  <a:txBody>
                    <a:bodyPr/>
                    <a:lstStyle/>
                    <a:p>
                      <a:pPr marL="0" indent="0">
                        <a:buNone/>
                      </a:pPr>
                      <a:r>
                        <a:rPr lang="it-IT" sz="1300" b="1" noProof="0" dirty="0">
                          <a:solidFill>
                            <a:schemeClr val="tx1"/>
                          </a:solidFill>
                        </a:rPr>
                        <a:t>Chi lo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Lo sviluppatore del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Chiunque usi il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Quando usiamo un assistente siamo in inferenza: correggerlo non lo riaddestra.</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41</a:t>
            </a:fld>
            <a:endParaRPr lang="it-IT"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2.4</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Che cosa sono i Large Language Models</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Generano output usando regolarità apprese e il contesto disponibile: non sono solo un completamento automatico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42</a:t>
            </a:fld>
            <a:endParaRPr lang="it-IT"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 modello linguistico di grandi dimensioni</a:t>
            </a:r>
            <a:endParaRPr lang="it-IT" sz="2600" noProof="0" dirty="0"/>
          </a:p>
        </p:txBody>
      </p:sp>
      <p:sp>
        <p:nvSpPr>
          <p:cNvPr id="4" name="definizione LLM"/>
          <p:cNvSpPr/>
          <p:nvPr/>
        </p:nvSpPr>
        <p:spPr>
          <a:xfrm>
            <a:off x="457200" y="1097280"/>
            <a:ext cx="365760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20040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LARGE LANGUAGE MODEL</a:t>
            </a:r>
            <a:endParaRPr lang="it-IT" sz="1100" noProof="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marL="0" indent="0">
              <a:buNone/>
            </a:pPr>
            <a:r>
              <a:rPr lang="it-IT" sz="1600" noProof="0" dirty="0">
                <a:solidFill>
                  <a:schemeClr val="bg1"/>
                </a:solidFill>
              </a:rPr>
              <a:t>Un modello di Deep Learning addestrato su enormi quantità di testo per elaborare e generare linguaggio.</a:t>
            </a:r>
            <a:endParaRPr lang="it-IT" sz="1600" noProof="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Large</a:t>
            </a:r>
            <a:endParaRPr lang="it-IT" sz="1300" noProof="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Miliardi di parametri, enormi quantità di testo e di calcolo</a:t>
            </a:r>
            <a:endParaRPr lang="it-IT" sz="1100" noProof="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Language Model</a:t>
            </a:r>
            <a:endParaRPr lang="it-IT" sz="1300" noProof="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Ha appreso le regolarità del linguaggio e, con esse, molte informazioni e strutture di ragionamento</a:t>
            </a:r>
            <a:endParaRPr lang="it-IT" sz="1100" noProof="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500" b="1" noProof="0" dirty="0">
                <a:solidFill>
                  <a:schemeClr val="tx1"/>
                </a:solidFill>
              </a:rPr>
              <a:t>Due fasi di addestramento</a:t>
            </a:r>
            <a:endParaRPr lang="it-IT" sz="1500" noProof="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txBody>
          <a:bodyPr/>
          <a:lstStyle/>
          <a:p>
            <a:endParaRPr lang="it-IT" noProof="0" dirty="0"/>
          </a:p>
        </p:txBody>
      </p:sp>
      <p:sp>
        <p:nvSpPr>
          <p:cNvPr id="13" name="cerchio FiBookOpen"/>
          <p:cNvSpPr/>
          <p:nvPr/>
        </p:nvSpPr>
        <p:spPr>
          <a:xfrm>
            <a:off x="4617720" y="1691640"/>
            <a:ext cx="457200" cy="457200"/>
          </a:xfrm>
          <a:prstGeom prst="ellipse">
            <a:avLst/>
          </a:prstGeom>
          <a:solidFill>
            <a:schemeClr val="accent1"/>
          </a:solidFill>
          <a:ln/>
        </p:spPr>
        <p:txBody>
          <a:bodyPr/>
          <a:lstStyle/>
          <a:p>
            <a:endParaRPr lang="it-IT" noProof="0" dirty="0"/>
          </a:p>
        </p:txBody>
      </p:sp>
      <p:pic>
        <p:nvPicPr>
          <p:cNvPr id="14" name="Image 0" descr="FiBookOpen"/>
          <p:cNvPicPr>
            <a:picLocks noChangeAspect="1"/>
          </p:cNvPicPr>
          <p:nvPr/>
        </p:nvPicPr>
        <p:blipFill>
          <a:blip r:embed="rId3"/>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1. Pre-addestramento</a:t>
            </a:r>
            <a:endParaRPr lang="it-IT" sz="1500" noProof="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marL="0" indent="0">
              <a:buNone/>
            </a:pPr>
            <a:r>
              <a:rPr lang="it-IT" sz="1300" noProof="0" dirty="0">
                <a:solidFill>
                  <a:schemeClr val="tx2"/>
                </a:solidFill>
              </a:rPr>
              <a:t>Impara dal testo prevedendo, miliardi di volte, quale parte viene dopo.</a:t>
            </a:r>
            <a:endParaRPr lang="it-IT" sz="1300" noProof="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txBody>
          <a:bodyPr/>
          <a:lstStyle/>
          <a:p>
            <a:endParaRPr lang="it-IT" noProof="0" dirty="0"/>
          </a:p>
        </p:txBody>
      </p:sp>
      <p:sp>
        <p:nvSpPr>
          <p:cNvPr id="18" name="cerchio FiUserCheck"/>
          <p:cNvSpPr/>
          <p:nvPr/>
        </p:nvSpPr>
        <p:spPr>
          <a:xfrm>
            <a:off x="4617720" y="3246120"/>
            <a:ext cx="457200" cy="457200"/>
          </a:xfrm>
          <a:prstGeom prst="ellipse">
            <a:avLst/>
          </a:prstGeom>
          <a:solidFill>
            <a:schemeClr val="accent1"/>
          </a:solidFill>
          <a:ln/>
        </p:spPr>
        <p:txBody>
          <a:bodyPr/>
          <a:lstStyle/>
          <a:p>
            <a:endParaRPr lang="it-IT" noProof="0" dirty="0"/>
          </a:p>
        </p:txBody>
      </p:sp>
      <p:pic>
        <p:nvPicPr>
          <p:cNvPr id="19" name="Image 1" descr="FiUserCheck"/>
          <p:cNvPicPr>
            <a:picLocks noChangeAspect="1"/>
          </p:cNvPicPr>
          <p:nvPr/>
        </p:nvPicPr>
        <p:blipFill>
          <a:blip r:embed="rId4"/>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2. Affinamento</a:t>
            </a:r>
            <a:endParaRPr lang="it-IT" sz="1500" noProof="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marL="0" indent="0">
              <a:buNone/>
            </a:pPr>
            <a:r>
              <a:rPr lang="it-IT" sz="1300" noProof="0" dirty="0">
                <a:solidFill>
                  <a:schemeClr val="tx2"/>
                </a:solidFill>
              </a:rPr>
              <a:t>Esempi di istruzioni e feedback umano: diventa un assistente utile e sicuro.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43</a:t>
            </a:fld>
            <a:endParaRPr lang="it-IT"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token: come il modello vede il testo</a:t>
            </a:r>
            <a:endParaRPr lang="it-IT" sz="2600" noProof="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marL="0" indent="0">
              <a:buNone/>
            </a:pPr>
            <a:r>
              <a:rPr lang="it-IT" sz="1200" b="1" noProof="0" dirty="0">
                <a:solidFill>
                  <a:schemeClr val="accent2"/>
                </a:solidFill>
              </a:rPr>
              <a:t>Testo</a:t>
            </a:r>
            <a:endParaRPr lang="it-IT" sz="1200" noProof="0" dirty="0"/>
          </a:p>
        </p:txBody>
      </p:sp>
      <p:sp>
        <p:nvSpPr>
          <p:cNvPr id="5" name="frase"/>
          <p:cNvSpPr/>
          <p:nvPr/>
        </p:nvSpPr>
        <p:spPr>
          <a:xfrm>
            <a:off x="457200" y="1371600"/>
            <a:ext cx="8229600" cy="548640"/>
          </a:xfrm>
          <a:prstGeom prst="roundRect">
            <a:avLst>
              <a:gd name="adj" fmla="val 13333"/>
            </a:avLst>
          </a:prstGeom>
          <a:solidFill>
            <a:schemeClr val="bg2"/>
          </a:solidFill>
          <a:ln/>
        </p:spPr>
        <p:txBody>
          <a:bodyPr/>
          <a:lstStyle/>
          <a:p>
            <a:endParaRPr lang="it-IT" noProof="0" dirty="0"/>
          </a:p>
        </p:txBody>
      </p:sp>
      <p:sp>
        <p:nvSpPr>
          <p:cNvPr id="6" name="Text 3"/>
          <p:cNvSpPr txBox="1"/>
          <p:nvPr/>
        </p:nvSpPr>
        <p:spPr>
          <a:xfrm>
            <a:off x="640080" y="1371600"/>
            <a:ext cx="7863840" cy="548640"/>
          </a:xfrm>
          <a:prstGeom prst="rect">
            <a:avLst/>
          </a:prstGeom>
          <a:noFill/>
          <a:ln/>
        </p:spPr>
        <p:txBody>
          <a:bodyPr wrap="square" lIns="0" tIns="0" rIns="0" bIns="0" rtlCol="0" anchor="ctr"/>
          <a:lstStyle/>
          <a:p>
            <a:pPr marL="0" indent="0">
              <a:buNone/>
            </a:pPr>
            <a:r>
              <a:rPr lang="it-IT" sz="1800" noProof="0" dirty="0">
                <a:solidFill>
                  <a:schemeClr val="tx1"/>
                </a:solidFill>
              </a:rPr>
              <a:t>L'intelligenza artificiale cambia il lavoro.</a:t>
            </a:r>
            <a:endParaRPr lang="it-IT" sz="1800" noProof="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marL="0" indent="0">
              <a:buNone/>
            </a:pPr>
            <a:r>
              <a:rPr lang="it-IT" sz="1200" b="1" noProof="0" dirty="0">
                <a:solidFill>
                  <a:schemeClr val="accent2"/>
                </a:solidFill>
              </a:rPr>
              <a:t>Token (esempio illustrativo)</a:t>
            </a:r>
            <a:endParaRPr lang="it-IT" sz="1200" noProof="0" dirty="0"/>
          </a:p>
        </p:txBody>
      </p:sp>
      <p:sp>
        <p:nvSpPr>
          <p:cNvPr id="8" name="token 0"/>
          <p:cNvSpPr/>
          <p:nvPr/>
        </p:nvSpPr>
        <p:spPr>
          <a:xfrm>
            <a:off x="457200" y="2423160"/>
            <a:ext cx="502920" cy="502920"/>
          </a:xfrm>
          <a:prstGeom prst="roundRect">
            <a:avLst>
              <a:gd name="adj" fmla="val 10909"/>
            </a:avLst>
          </a:prstGeom>
          <a:solidFill>
            <a:schemeClr val="accent1"/>
          </a:solidFill>
          <a:ln/>
        </p:spPr>
        <p:txBody>
          <a:bodyPr/>
          <a:lstStyle/>
          <a:p>
            <a:endParaRPr lang="it-IT" noProof="0" dirty="0"/>
          </a:p>
        </p:txBody>
      </p:sp>
      <p:sp>
        <p:nvSpPr>
          <p:cNvPr id="9" name="Text 6"/>
          <p:cNvSpPr txBox="1"/>
          <p:nvPr/>
        </p:nvSpPr>
        <p:spPr>
          <a:xfrm>
            <a:off x="457200"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L'</a:t>
            </a:r>
            <a:endParaRPr lang="it-IT" sz="1400" noProof="0" dirty="0"/>
          </a:p>
        </p:txBody>
      </p:sp>
      <p:sp>
        <p:nvSpPr>
          <p:cNvPr id="10" name="token 1"/>
          <p:cNvSpPr/>
          <p:nvPr/>
        </p:nvSpPr>
        <p:spPr>
          <a:xfrm>
            <a:off x="1014984" y="2423160"/>
            <a:ext cx="777240" cy="502920"/>
          </a:xfrm>
          <a:prstGeom prst="roundRect">
            <a:avLst>
              <a:gd name="adj" fmla="val 10909"/>
            </a:avLst>
          </a:prstGeom>
          <a:solidFill>
            <a:schemeClr val="accent6"/>
          </a:solidFill>
          <a:ln/>
        </p:spPr>
        <p:txBody>
          <a:bodyPr/>
          <a:lstStyle/>
          <a:p>
            <a:endParaRPr lang="it-IT" noProof="0" dirty="0"/>
          </a:p>
        </p:txBody>
      </p:sp>
      <p:sp>
        <p:nvSpPr>
          <p:cNvPr id="11" name="Text 8"/>
          <p:cNvSpPr txBox="1"/>
          <p:nvPr/>
        </p:nvSpPr>
        <p:spPr>
          <a:xfrm>
            <a:off x="1014984" y="2423160"/>
            <a:ext cx="777240" cy="502920"/>
          </a:xfrm>
          <a:prstGeom prst="rect">
            <a:avLst/>
          </a:prstGeom>
          <a:noFill/>
          <a:ln/>
        </p:spPr>
        <p:txBody>
          <a:bodyPr wrap="square" lIns="0" tIns="0" rIns="0" bIns="0" rtlCol="0" anchor="ctr"/>
          <a:lstStyle/>
          <a:p>
            <a:pPr marL="0" indent="0" algn="ctr">
              <a:buNone/>
            </a:pPr>
            <a:r>
              <a:rPr lang="it-IT" sz="1400" b="1" noProof="0" dirty="0" err="1">
                <a:solidFill>
                  <a:schemeClr val="tx1"/>
                </a:solidFill>
              </a:rPr>
              <a:t>intel</a:t>
            </a:r>
            <a:endParaRPr lang="it-IT" sz="1400" noProof="0" dirty="0"/>
          </a:p>
        </p:txBody>
      </p:sp>
      <p:sp>
        <p:nvSpPr>
          <p:cNvPr id="12" name="token 2"/>
          <p:cNvSpPr/>
          <p:nvPr/>
        </p:nvSpPr>
        <p:spPr>
          <a:xfrm>
            <a:off x="1847088" y="2423160"/>
            <a:ext cx="960120" cy="502920"/>
          </a:xfrm>
          <a:prstGeom prst="roundRect">
            <a:avLst>
              <a:gd name="adj" fmla="val 10909"/>
            </a:avLst>
          </a:prstGeom>
          <a:solidFill>
            <a:schemeClr val="accent1"/>
          </a:solidFill>
          <a:ln/>
        </p:spPr>
        <p:txBody>
          <a:bodyPr/>
          <a:lstStyle/>
          <a:p>
            <a:endParaRPr lang="it-IT" noProof="0" dirty="0"/>
          </a:p>
        </p:txBody>
      </p:sp>
      <p:sp>
        <p:nvSpPr>
          <p:cNvPr id="13" name="Text 10"/>
          <p:cNvSpPr txBox="1"/>
          <p:nvPr/>
        </p:nvSpPr>
        <p:spPr>
          <a:xfrm>
            <a:off x="1847088" y="2423160"/>
            <a:ext cx="96012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ligenza</a:t>
            </a:r>
            <a:endParaRPr lang="it-IT" sz="1400" noProof="0" dirty="0"/>
          </a:p>
        </p:txBody>
      </p:sp>
      <p:sp>
        <p:nvSpPr>
          <p:cNvPr id="14" name="token 3"/>
          <p:cNvSpPr/>
          <p:nvPr/>
        </p:nvSpPr>
        <p:spPr>
          <a:xfrm>
            <a:off x="2862072" y="2423160"/>
            <a:ext cx="960120" cy="502920"/>
          </a:xfrm>
          <a:prstGeom prst="roundRect">
            <a:avLst>
              <a:gd name="adj" fmla="val 10909"/>
            </a:avLst>
          </a:prstGeom>
          <a:solidFill>
            <a:schemeClr val="accent6"/>
          </a:solidFill>
          <a:ln/>
        </p:spPr>
        <p:txBody>
          <a:bodyPr/>
          <a:lstStyle/>
          <a:p>
            <a:endParaRPr lang="it-IT" noProof="0" dirty="0"/>
          </a:p>
        </p:txBody>
      </p:sp>
      <p:sp>
        <p:nvSpPr>
          <p:cNvPr id="15" name="Text 12"/>
          <p:cNvSpPr txBox="1"/>
          <p:nvPr/>
        </p:nvSpPr>
        <p:spPr>
          <a:xfrm>
            <a:off x="2862072"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t>
            </a:r>
            <a:r>
              <a:rPr lang="it-IT" sz="1400" b="1" noProof="0" dirty="0" err="1">
                <a:solidFill>
                  <a:schemeClr val="tx1"/>
                </a:solidFill>
              </a:rPr>
              <a:t>artific</a:t>
            </a:r>
            <a:endParaRPr lang="it-IT" sz="1400" noProof="0" dirty="0"/>
          </a:p>
        </p:txBody>
      </p:sp>
      <p:sp>
        <p:nvSpPr>
          <p:cNvPr id="16" name="token 4"/>
          <p:cNvSpPr/>
          <p:nvPr/>
        </p:nvSpPr>
        <p:spPr>
          <a:xfrm>
            <a:off x="3877056" y="2423160"/>
            <a:ext cx="640080" cy="502920"/>
          </a:xfrm>
          <a:prstGeom prst="roundRect">
            <a:avLst>
              <a:gd name="adj" fmla="val 10909"/>
            </a:avLst>
          </a:prstGeom>
          <a:solidFill>
            <a:schemeClr val="accent1"/>
          </a:solidFill>
          <a:ln/>
        </p:spPr>
        <p:txBody>
          <a:bodyPr/>
          <a:lstStyle/>
          <a:p>
            <a:endParaRPr lang="it-IT" noProof="0" dirty="0"/>
          </a:p>
        </p:txBody>
      </p:sp>
      <p:sp>
        <p:nvSpPr>
          <p:cNvPr id="17" name="Text 14"/>
          <p:cNvSpPr txBox="1"/>
          <p:nvPr/>
        </p:nvSpPr>
        <p:spPr>
          <a:xfrm>
            <a:off x="3877056" y="2423160"/>
            <a:ext cx="64008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iale</a:t>
            </a:r>
            <a:endParaRPr lang="it-IT" sz="1400" noProof="0" dirty="0"/>
          </a:p>
        </p:txBody>
      </p:sp>
      <p:sp>
        <p:nvSpPr>
          <p:cNvPr id="18" name="token 5"/>
          <p:cNvSpPr/>
          <p:nvPr/>
        </p:nvSpPr>
        <p:spPr>
          <a:xfrm>
            <a:off x="4572000" y="2423160"/>
            <a:ext cx="1005840" cy="502920"/>
          </a:xfrm>
          <a:prstGeom prst="roundRect">
            <a:avLst>
              <a:gd name="adj" fmla="val 10909"/>
            </a:avLst>
          </a:prstGeom>
          <a:solidFill>
            <a:schemeClr val="accent6"/>
          </a:solidFill>
          <a:ln/>
        </p:spPr>
        <p:txBody>
          <a:bodyPr/>
          <a:lstStyle/>
          <a:p>
            <a:endParaRPr lang="it-IT" noProof="0" dirty="0"/>
          </a:p>
        </p:txBody>
      </p:sp>
      <p:sp>
        <p:nvSpPr>
          <p:cNvPr id="19" name="Text 16"/>
          <p:cNvSpPr txBox="1"/>
          <p:nvPr/>
        </p:nvSpPr>
        <p:spPr>
          <a:xfrm>
            <a:off x="4572000" y="2423160"/>
            <a:ext cx="100584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·cambia</a:t>
            </a:r>
            <a:endParaRPr lang="it-IT" sz="1400" noProof="0" dirty="0"/>
          </a:p>
        </p:txBody>
      </p:sp>
      <p:sp>
        <p:nvSpPr>
          <p:cNvPr id="20" name="token 6"/>
          <p:cNvSpPr/>
          <p:nvPr/>
        </p:nvSpPr>
        <p:spPr>
          <a:xfrm>
            <a:off x="5632704" y="2423160"/>
            <a:ext cx="502920" cy="502920"/>
          </a:xfrm>
          <a:prstGeom prst="roundRect">
            <a:avLst>
              <a:gd name="adj" fmla="val 10909"/>
            </a:avLst>
          </a:prstGeom>
          <a:solidFill>
            <a:schemeClr val="accent1"/>
          </a:solidFill>
          <a:ln/>
        </p:spPr>
        <p:txBody>
          <a:bodyPr/>
          <a:lstStyle/>
          <a:p>
            <a:endParaRPr lang="it-IT" noProof="0" dirty="0"/>
          </a:p>
        </p:txBody>
      </p:sp>
      <p:sp>
        <p:nvSpPr>
          <p:cNvPr id="21" name="Text 18"/>
          <p:cNvSpPr txBox="1"/>
          <p:nvPr/>
        </p:nvSpPr>
        <p:spPr>
          <a:xfrm>
            <a:off x="5632704"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·il</a:t>
            </a:r>
            <a:endParaRPr lang="it-IT" sz="1400" noProof="0" dirty="0"/>
          </a:p>
        </p:txBody>
      </p:sp>
      <p:sp>
        <p:nvSpPr>
          <p:cNvPr id="22" name="token 7"/>
          <p:cNvSpPr/>
          <p:nvPr/>
        </p:nvSpPr>
        <p:spPr>
          <a:xfrm>
            <a:off x="6190488" y="2423160"/>
            <a:ext cx="960120" cy="502920"/>
          </a:xfrm>
          <a:prstGeom prst="roundRect">
            <a:avLst>
              <a:gd name="adj" fmla="val 10909"/>
            </a:avLst>
          </a:prstGeom>
          <a:solidFill>
            <a:schemeClr val="accent6"/>
          </a:solidFill>
          <a:ln/>
        </p:spPr>
        <p:txBody>
          <a:bodyPr/>
          <a:lstStyle/>
          <a:p>
            <a:endParaRPr lang="it-IT" noProof="0" dirty="0"/>
          </a:p>
        </p:txBody>
      </p:sp>
      <p:sp>
        <p:nvSpPr>
          <p:cNvPr id="23" name="Text 20"/>
          <p:cNvSpPr txBox="1"/>
          <p:nvPr/>
        </p:nvSpPr>
        <p:spPr>
          <a:xfrm>
            <a:off x="6190488"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·lavoro</a:t>
            </a:r>
            <a:endParaRPr lang="it-IT" sz="1400" noProof="0" dirty="0"/>
          </a:p>
        </p:txBody>
      </p:sp>
      <p:sp>
        <p:nvSpPr>
          <p:cNvPr id="24" name="token 8"/>
          <p:cNvSpPr/>
          <p:nvPr/>
        </p:nvSpPr>
        <p:spPr>
          <a:xfrm>
            <a:off x="7205472" y="2423160"/>
            <a:ext cx="365760" cy="502920"/>
          </a:xfrm>
          <a:prstGeom prst="roundRect">
            <a:avLst>
              <a:gd name="adj" fmla="val 15000"/>
            </a:avLst>
          </a:prstGeom>
          <a:solidFill>
            <a:schemeClr val="accent1"/>
          </a:solidFill>
          <a:ln/>
        </p:spPr>
        <p:txBody>
          <a:bodyPr/>
          <a:lstStyle/>
          <a:p>
            <a:endParaRPr lang="it-IT" noProof="0" dirty="0"/>
          </a:p>
        </p:txBody>
      </p:sp>
      <p:sp>
        <p:nvSpPr>
          <p:cNvPr id="25" name="Text 22"/>
          <p:cNvSpPr txBox="1"/>
          <p:nvPr/>
        </p:nvSpPr>
        <p:spPr>
          <a:xfrm>
            <a:off x="7205472" y="2423160"/>
            <a:ext cx="36576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a:t>
            </a:r>
            <a:endParaRPr lang="it-IT" sz="1400" noProof="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marL="0" indent="0">
              <a:buNone/>
            </a:pPr>
            <a:r>
              <a:rPr lang="it-IT" sz="1000" i="1" noProof="0" dirty="0">
                <a:solidFill>
                  <a:schemeClr val="accent2"/>
                </a:solidFill>
              </a:rPr>
              <a:t>· indica uno spazio. La suddivisione reale dipende dal modello.</a:t>
            </a:r>
            <a:endParaRPr lang="it-IT" sz="1000" noProof="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txBody>
          <a:bodyPr/>
          <a:lstStyle/>
          <a:p>
            <a:endParaRPr lang="it-IT" noProof="0" dirty="0"/>
          </a:p>
        </p:txBody>
      </p:sp>
      <p:sp>
        <p:nvSpPr>
          <p:cNvPr id="28" name="cerchio FiMaximize"/>
          <p:cNvSpPr/>
          <p:nvPr/>
        </p:nvSpPr>
        <p:spPr>
          <a:xfrm>
            <a:off x="621792" y="3721608"/>
            <a:ext cx="502920" cy="502920"/>
          </a:xfrm>
          <a:prstGeom prst="ellipse">
            <a:avLst/>
          </a:prstGeom>
          <a:solidFill>
            <a:schemeClr val="accent1"/>
          </a:solidFill>
          <a:ln/>
        </p:spPr>
        <p:txBody>
          <a:bodyPr/>
          <a:lstStyle/>
          <a:p>
            <a:endParaRPr lang="it-IT" noProof="0" dirty="0"/>
          </a:p>
        </p:txBody>
      </p:sp>
      <p:pic>
        <p:nvPicPr>
          <p:cNvPr id="29" name="Image 0" descr="FiMaximize"/>
          <p:cNvPicPr>
            <a:picLocks noChangeAspect="1"/>
          </p:cNvPicPr>
          <p:nvPr/>
        </p:nvPicPr>
        <p:blipFill>
          <a:blip r:embed="rId3"/>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Limiti e costi in token</a:t>
            </a:r>
            <a:endParaRPr lang="it-IT" sz="1300" noProof="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txBody>
          <a:bodyPr/>
          <a:lstStyle/>
          <a:p>
            <a:endParaRPr lang="it-IT" noProof="0" dirty="0"/>
          </a:p>
        </p:txBody>
      </p:sp>
      <p:sp>
        <p:nvSpPr>
          <p:cNvPr id="32" name="cerchio FiGlobe"/>
          <p:cNvSpPr/>
          <p:nvPr/>
        </p:nvSpPr>
        <p:spPr>
          <a:xfrm>
            <a:off x="3429000" y="3721608"/>
            <a:ext cx="502920" cy="502920"/>
          </a:xfrm>
          <a:prstGeom prst="ellipse">
            <a:avLst/>
          </a:prstGeom>
          <a:solidFill>
            <a:schemeClr val="accent1"/>
          </a:solidFill>
          <a:ln/>
        </p:spPr>
        <p:txBody>
          <a:bodyPr/>
          <a:lstStyle/>
          <a:p>
            <a:endParaRPr lang="it-IT" noProof="0" dirty="0"/>
          </a:p>
        </p:txBody>
      </p:sp>
      <p:pic>
        <p:nvPicPr>
          <p:cNvPr id="33" name="Image 1" descr="FiGlobe"/>
          <p:cNvPicPr>
            <a:picLocks noChangeAspect="1"/>
          </p:cNvPicPr>
          <p:nvPr/>
        </p:nvPicPr>
        <p:blipFill>
          <a:blip r:embed="rId4"/>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Numero di token dipende dalla lingua</a:t>
            </a:r>
            <a:endParaRPr lang="it-IT" sz="1300" noProof="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txBody>
          <a:bodyPr/>
          <a:lstStyle/>
          <a:p>
            <a:endParaRPr lang="it-IT" noProof="0" dirty="0"/>
          </a:p>
        </p:txBody>
      </p:sp>
      <p:sp>
        <p:nvSpPr>
          <p:cNvPr id="36" name="cerchio FiType"/>
          <p:cNvSpPr/>
          <p:nvPr/>
        </p:nvSpPr>
        <p:spPr>
          <a:xfrm>
            <a:off x="6236208" y="3721608"/>
            <a:ext cx="502920" cy="502920"/>
          </a:xfrm>
          <a:prstGeom prst="ellipse">
            <a:avLst/>
          </a:prstGeom>
          <a:solidFill>
            <a:schemeClr val="accent1"/>
          </a:solidFill>
          <a:ln/>
        </p:spPr>
        <p:txBody>
          <a:bodyPr/>
          <a:lstStyle/>
          <a:p>
            <a:endParaRPr lang="it-IT" noProof="0" dirty="0"/>
          </a:p>
        </p:txBody>
      </p:sp>
      <p:pic>
        <p:nvPicPr>
          <p:cNvPr id="37" name="Image 2" descr="FiType"/>
          <p:cNvPicPr>
            <a:picLocks noChangeAspect="1"/>
          </p:cNvPicPr>
          <p:nvPr/>
        </p:nvPicPr>
        <p:blipFill>
          <a:blip r:embed="rId5"/>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Alcuni token possono rappresentare singoli caratteri.</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44</a:t>
            </a:fld>
            <a:endParaRPr lang="it-IT"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Rappresentare il significato</a:t>
            </a:r>
            <a:endParaRPr lang="it-IT" sz="2600" noProof="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txBody>
          <a:bodyPr/>
          <a:lstStyle/>
          <a:p>
            <a:endParaRPr lang="it-IT" noProof="0" dirty="0"/>
          </a:p>
        </p:txBody>
      </p:sp>
      <p:sp>
        <p:nvSpPr>
          <p:cNvPr id="5" name="punto fattura"/>
          <p:cNvSpPr/>
          <p:nvPr/>
        </p:nvSpPr>
        <p:spPr>
          <a:xfrm>
            <a:off x="914400" y="1554480"/>
            <a:ext cx="164592" cy="164592"/>
          </a:xfrm>
          <a:prstGeom prst="ellipse">
            <a:avLst/>
          </a:prstGeom>
          <a:solidFill>
            <a:schemeClr val="accent1"/>
          </a:solidFill>
          <a:ln/>
        </p:spPr>
        <p:txBody>
          <a:bodyPr/>
          <a:lstStyle/>
          <a:p>
            <a:endParaRPr lang="it-IT" noProof="0" dirty="0"/>
          </a:p>
        </p:txBody>
      </p:sp>
      <p:sp>
        <p:nvSpPr>
          <p:cNvPr id="6" name="Text 3"/>
          <p:cNvSpPr txBox="1"/>
          <p:nvPr/>
        </p:nvSpPr>
        <p:spPr>
          <a:xfrm>
            <a:off x="1133856" y="14904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fattura</a:t>
            </a:r>
            <a:endParaRPr lang="it-IT" sz="1300" noProof="0" dirty="0"/>
          </a:p>
        </p:txBody>
      </p:sp>
      <p:sp>
        <p:nvSpPr>
          <p:cNvPr id="7" name="punto preventivo"/>
          <p:cNvSpPr/>
          <p:nvPr/>
        </p:nvSpPr>
        <p:spPr>
          <a:xfrm>
            <a:off x="1463040" y="1965960"/>
            <a:ext cx="164592" cy="164592"/>
          </a:xfrm>
          <a:prstGeom prst="ellipse">
            <a:avLst/>
          </a:prstGeom>
          <a:solidFill>
            <a:schemeClr val="accent1"/>
          </a:solidFill>
          <a:ln/>
        </p:spPr>
        <p:txBody>
          <a:bodyPr/>
          <a:lstStyle/>
          <a:p>
            <a:endParaRPr lang="it-IT" noProof="0" dirty="0"/>
          </a:p>
        </p:txBody>
      </p:sp>
      <p:sp>
        <p:nvSpPr>
          <p:cNvPr id="8" name="Text 5"/>
          <p:cNvSpPr txBox="1"/>
          <p:nvPr/>
        </p:nvSpPr>
        <p:spPr>
          <a:xfrm>
            <a:off x="1682496" y="19019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preventivo</a:t>
            </a:r>
            <a:endParaRPr lang="it-IT" sz="1300" noProof="0" dirty="0"/>
          </a:p>
        </p:txBody>
      </p:sp>
      <p:sp>
        <p:nvSpPr>
          <p:cNvPr id="9" name="punto ordine"/>
          <p:cNvSpPr/>
          <p:nvPr/>
        </p:nvSpPr>
        <p:spPr>
          <a:xfrm>
            <a:off x="777240" y="2240280"/>
            <a:ext cx="164592" cy="164592"/>
          </a:xfrm>
          <a:prstGeom prst="ellipse">
            <a:avLst/>
          </a:prstGeom>
          <a:solidFill>
            <a:schemeClr val="accent1"/>
          </a:solidFill>
          <a:ln/>
        </p:spPr>
        <p:txBody>
          <a:bodyPr/>
          <a:lstStyle/>
          <a:p>
            <a:endParaRPr lang="it-IT" noProof="0" dirty="0"/>
          </a:p>
        </p:txBody>
      </p:sp>
      <p:sp>
        <p:nvSpPr>
          <p:cNvPr id="10" name="Text 7"/>
          <p:cNvSpPr txBox="1"/>
          <p:nvPr/>
        </p:nvSpPr>
        <p:spPr>
          <a:xfrm>
            <a:off x="996696" y="21762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ordine</a:t>
            </a:r>
            <a:endParaRPr lang="it-IT" sz="1300" noProof="0" dirty="0"/>
          </a:p>
        </p:txBody>
      </p:sp>
      <p:sp>
        <p:nvSpPr>
          <p:cNvPr id="11" name="punto cane"/>
          <p:cNvSpPr/>
          <p:nvPr/>
        </p:nvSpPr>
        <p:spPr>
          <a:xfrm>
            <a:off x="3474720" y="1508760"/>
            <a:ext cx="164592" cy="164592"/>
          </a:xfrm>
          <a:prstGeom prst="ellipse">
            <a:avLst/>
          </a:prstGeom>
          <a:solidFill>
            <a:schemeClr val="accent5"/>
          </a:solidFill>
          <a:ln/>
        </p:spPr>
        <p:txBody>
          <a:bodyPr/>
          <a:lstStyle/>
          <a:p>
            <a:endParaRPr lang="it-IT" noProof="0" dirty="0"/>
          </a:p>
        </p:txBody>
      </p:sp>
      <p:sp>
        <p:nvSpPr>
          <p:cNvPr id="12" name="Text 9"/>
          <p:cNvSpPr txBox="1"/>
          <p:nvPr/>
        </p:nvSpPr>
        <p:spPr>
          <a:xfrm>
            <a:off x="3694176" y="14447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cane</a:t>
            </a:r>
            <a:endParaRPr lang="it-IT" sz="1300" noProof="0" dirty="0"/>
          </a:p>
        </p:txBody>
      </p:sp>
      <p:sp>
        <p:nvSpPr>
          <p:cNvPr id="13" name="punto gatto"/>
          <p:cNvSpPr/>
          <p:nvPr/>
        </p:nvSpPr>
        <p:spPr>
          <a:xfrm>
            <a:off x="4069080" y="1783080"/>
            <a:ext cx="164592" cy="164592"/>
          </a:xfrm>
          <a:prstGeom prst="ellipse">
            <a:avLst/>
          </a:prstGeom>
          <a:solidFill>
            <a:schemeClr val="accent5"/>
          </a:solidFill>
          <a:ln/>
        </p:spPr>
        <p:txBody>
          <a:bodyPr/>
          <a:lstStyle/>
          <a:p>
            <a:endParaRPr lang="it-IT" noProof="0" dirty="0"/>
          </a:p>
        </p:txBody>
      </p:sp>
      <p:sp>
        <p:nvSpPr>
          <p:cNvPr id="14" name="Text 11"/>
          <p:cNvSpPr txBox="1"/>
          <p:nvPr/>
        </p:nvSpPr>
        <p:spPr>
          <a:xfrm>
            <a:off x="4288536" y="17190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gatto</a:t>
            </a:r>
            <a:endParaRPr lang="it-IT" sz="1300" noProof="0" dirty="0"/>
          </a:p>
        </p:txBody>
      </p:sp>
      <p:sp>
        <p:nvSpPr>
          <p:cNvPr id="15" name="punto criceto"/>
          <p:cNvSpPr/>
          <p:nvPr/>
        </p:nvSpPr>
        <p:spPr>
          <a:xfrm>
            <a:off x="3611880" y="2194560"/>
            <a:ext cx="164592" cy="164592"/>
          </a:xfrm>
          <a:prstGeom prst="ellipse">
            <a:avLst/>
          </a:prstGeom>
          <a:solidFill>
            <a:schemeClr val="accent5"/>
          </a:solidFill>
          <a:ln/>
        </p:spPr>
        <p:txBody>
          <a:bodyPr/>
          <a:lstStyle/>
          <a:p>
            <a:endParaRPr lang="it-IT" noProof="0" dirty="0"/>
          </a:p>
        </p:txBody>
      </p:sp>
      <p:sp>
        <p:nvSpPr>
          <p:cNvPr id="16" name="Text 13"/>
          <p:cNvSpPr txBox="1"/>
          <p:nvPr/>
        </p:nvSpPr>
        <p:spPr>
          <a:xfrm>
            <a:off x="3831336" y="21305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criceto</a:t>
            </a:r>
            <a:endParaRPr lang="it-IT" sz="1300" noProof="0" dirty="0"/>
          </a:p>
        </p:txBody>
      </p:sp>
      <p:sp>
        <p:nvSpPr>
          <p:cNvPr id="17" name="punto Roma"/>
          <p:cNvSpPr/>
          <p:nvPr/>
        </p:nvSpPr>
        <p:spPr>
          <a:xfrm>
            <a:off x="2103120" y="3291840"/>
            <a:ext cx="164592" cy="164592"/>
          </a:xfrm>
          <a:prstGeom prst="ellipse">
            <a:avLst/>
          </a:prstGeom>
          <a:solidFill>
            <a:schemeClr val="tx2"/>
          </a:solidFill>
          <a:ln/>
        </p:spPr>
        <p:txBody>
          <a:bodyPr/>
          <a:lstStyle/>
          <a:p>
            <a:endParaRPr lang="it-IT" noProof="0" dirty="0"/>
          </a:p>
        </p:txBody>
      </p:sp>
      <p:sp>
        <p:nvSpPr>
          <p:cNvPr id="18" name="Text 15"/>
          <p:cNvSpPr txBox="1"/>
          <p:nvPr/>
        </p:nvSpPr>
        <p:spPr>
          <a:xfrm>
            <a:off x="2322576" y="322783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Roma</a:t>
            </a:r>
            <a:endParaRPr lang="it-IT" sz="1300" noProof="0" dirty="0"/>
          </a:p>
        </p:txBody>
      </p:sp>
      <p:sp>
        <p:nvSpPr>
          <p:cNvPr id="19" name="punto Milano"/>
          <p:cNvSpPr/>
          <p:nvPr/>
        </p:nvSpPr>
        <p:spPr>
          <a:xfrm>
            <a:off x="2788920" y="3611880"/>
            <a:ext cx="164592" cy="164592"/>
          </a:xfrm>
          <a:prstGeom prst="ellipse">
            <a:avLst/>
          </a:prstGeom>
          <a:solidFill>
            <a:schemeClr val="tx2"/>
          </a:solidFill>
          <a:ln/>
        </p:spPr>
        <p:txBody>
          <a:bodyPr/>
          <a:lstStyle/>
          <a:p>
            <a:endParaRPr lang="it-IT" noProof="0" dirty="0"/>
          </a:p>
        </p:txBody>
      </p:sp>
      <p:sp>
        <p:nvSpPr>
          <p:cNvPr id="20" name="Text 17"/>
          <p:cNvSpPr txBox="1"/>
          <p:nvPr/>
        </p:nvSpPr>
        <p:spPr>
          <a:xfrm>
            <a:off x="3008376" y="35478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Milano</a:t>
            </a:r>
            <a:endParaRPr lang="it-IT" sz="1300" noProof="0" dirty="0"/>
          </a:p>
        </p:txBody>
      </p:sp>
      <p:sp>
        <p:nvSpPr>
          <p:cNvPr id="21" name="punto Napoli"/>
          <p:cNvSpPr/>
          <p:nvPr/>
        </p:nvSpPr>
        <p:spPr>
          <a:xfrm>
            <a:off x="2011680" y="3886200"/>
            <a:ext cx="164592" cy="164592"/>
          </a:xfrm>
          <a:prstGeom prst="ellipse">
            <a:avLst/>
          </a:prstGeom>
          <a:solidFill>
            <a:schemeClr val="tx2"/>
          </a:solidFill>
          <a:ln/>
        </p:spPr>
        <p:txBody>
          <a:bodyPr/>
          <a:lstStyle/>
          <a:p>
            <a:endParaRPr lang="it-IT" noProof="0" dirty="0"/>
          </a:p>
        </p:txBody>
      </p:sp>
      <p:sp>
        <p:nvSpPr>
          <p:cNvPr id="22" name="Text 19"/>
          <p:cNvSpPr txBox="1"/>
          <p:nvPr/>
        </p:nvSpPr>
        <p:spPr>
          <a:xfrm>
            <a:off x="2231136" y="382219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Napoli</a:t>
            </a:r>
            <a:endParaRPr lang="it-IT" sz="1300" noProof="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marL="0" indent="0">
              <a:buNone/>
            </a:pPr>
            <a:r>
              <a:rPr lang="it-IT" sz="1000" i="1" noProof="0" dirty="0">
                <a:solidFill>
                  <a:schemeClr val="accent2"/>
                </a:solidFill>
              </a:rPr>
              <a:t>Rappresentazione illustrativa in due dimensioni</a:t>
            </a:r>
            <a:endParaRPr lang="it-IT" sz="1000" noProof="0" dirty="0"/>
          </a:p>
        </p:txBody>
      </p:sp>
      <p:sp>
        <p:nvSpPr>
          <p:cNvPr id="24" name="cerchio FiTarget"/>
          <p:cNvSpPr/>
          <p:nvPr/>
        </p:nvSpPr>
        <p:spPr>
          <a:xfrm>
            <a:off x="5669280" y="1143000"/>
            <a:ext cx="457200" cy="457200"/>
          </a:xfrm>
          <a:prstGeom prst="ellipse">
            <a:avLst/>
          </a:prstGeom>
          <a:solidFill>
            <a:schemeClr val="accent1"/>
          </a:solidFill>
          <a:ln/>
        </p:spPr>
        <p:txBody>
          <a:bodyPr/>
          <a:lstStyle/>
          <a:p>
            <a:endParaRPr lang="it-IT" noProof="0" dirty="0"/>
          </a:p>
        </p:txBody>
      </p:sp>
      <p:pic>
        <p:nvPicPr>
          <p:cNvPr id="25" name="Image 0" descr="FiTarget"/>
          <p:cNvPicPr>
            <a:picLocks noChangeAspect="1"/>
          </p:cNvPicPr>
          <p:nvPr/>
        </p:nvPicPr>
        <p:blipFill>
          <a:blip r:embed="rId3"/>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Significati simili, posizioni vicine</a:t>
            </a:r>
            <a:endParaRPr lang="it-IT" sz="1300" noProof="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Ogni token diventa una lista di numeri: una posizione in uno spazio</a:t>
            </a:r>
            <a:endParaRPr lang="it-IT" sz="1100" noProof="0" dirty="0"/>
          </a:p>
        </p:txBody>
      </p:sp>
      <p:sp>
        <p:nvSpPr>
          <p:cNvPr id="28" name="cerchio FiTrendingUp"/>
          <p:cNvSpPr/>
          <p:nvPr/>
        </p:nvSpPr>
        <p:spPr>
          <a:xfrm>
            <a:off x="5669280" y="2258568"/>
            <a:ext cx="457200" cy="457200"/>
          </a:xfrm>
          <a:prstGeom prst="ellipse">
            <a:avLst/>
          </a:prstGeom>
          <a:solidFill>
            <a:schemeClr val="accent1"/>
          </a:solidFill>
          <a:ln/>
        </p:spPr>
        <p:txBody>
          <a:bodyPr/>
          <a:lstStyle/>
          <a:p>
            <a:endParaRPr lang="it-IT" noProof="0" dirty="0"/>
          </a:p>
        </p:txBody>
      </p:sp>
      <p:pic>
        <p:nvPicPr>
          <p:cNvPr id="29" name="Image 1" descr="FiTrendingUp"/>
          <p:cNvPicPr>
            <a:picLocks noChangeAspect="1"/>
          </p:cNvPicPr>
          <p:nvPr/>
        </p:nvPicPr>
        <p:blipFill>
          <a:blip r:embed="rId4"/>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Emergono dall'addestramento</a:t>
            </a:r>
            <a:endParaRPr lang="it-IT" sz="1300" noProof="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Parole usate in contesti simili hanno rappresentazioni simili</a:t>
            </a:r>
            <a:endParaRPr lang="it-IT" sz="1100" noProof="0" dirty="0"/>
          </a:p>
        </p:txBody>
      </p:sp>
      <p:sp>
        <p:nvSpPr>
          <p:cNvPr id="32" name="cerchio FiLink"/>
          <p:cNvSpPr/>
          <p:nvPr/>
        </p:nvSpPr>
        <p:spPr>
          <a:xfrm>
            <a:off x="5669280" y="3374136"/>
            <a:ext cx="457200" cy="457200"/>
          </a:xfrm>
          <a:prstGeom prst="ellipse">
            <a:avLst/>
          </a:prstGeom>
          <a:solidFill>
            <a:schemeClr val="accent1"/>
          </a:solidFill>
          <a:ln/>
        </p:spPr>
        <p:txBody>
          <a:bodyPr/>
          <a:lstStyle/>
          <a:p>
            <a:endParaRPr lang="it-IT" noProof="0" dirty="0"/>
          </a:p>
        </p:txBody>
      </p:sp>
      <p:pic>
        <p:nvPicPr>
          <p:cNvPr id="33" name="Image 2" descr="FiLink"/>
          <p:cNvPicPr>
            <a:picLocks noChangeAspect="1"/>
          </p:cNvPicPr>
          <p:nvPr/>
        </p:nvPicPr>
        <p:blipFill>
          <a:blip r:embed="rId5"/>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Arricchite dal contesto</a:t>
            </a:r>
            <a:endParaRPr lang="it-IT" sz="1300" noProof="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Il significato di ogni token si precisa in base alla frase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45</a:t>
            </a:fld>
            <a:endParaRPr lang="it-IT" noProof="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Transformer e il meccanismo di attenzione</a:t>
            </a:r>
            <a:endParaRPr lang="it-IT" sz="2600" noProof="0" dirty="0"/>
          </a:p>
        </p:txBody>
      </p:sp>
      <p:sp>
        <p:nvSpPr>
          <p:cNvPr id="4" name="blocco Ho"/>
          <p:cNvSpPr/>
          <p:nvPr/>
        </p:nvSpPr>
        <p:spPr>
          <a:xfrm>
            <a:off x="457200" y="1645920"/>
            <a:ext cx="512064" cy="502920"/>
          </a:xfrm>
          <a:prstGeom prst="roundRect">
            <a:avLst>
              <a:gd name="adj" fmla="val 21818"/>
            </a:avLst>
          </a:prstGeom>
          <a:solidFill>
            <a:schemeClr val="bg2"/>
          </a:solidFill>
          <a:ln/>
        </p:spPr>
        <p:txBody>
          <a:bodyPr/>
          <a:lstStyle/>
          <a:p>
            <a:endParaRPr lang="it-IT" noProof="0" dirty="0"/>
          </a:p>
        </p:txBody>
      </p:sp>
      <p:sp>
        <p:nvSpPr>
          <p:cNvPr id="5" name="Text 2"/>
          <p:cNvSpPr txBox="1"/>
          <p:nvPr/>
        </p:nvSpPr>
        <p:spPr>
          <a:xfrm>
            <a:off x="502920" y="1645920"/>
            <a:ext cx="420624" cy="502920"/>
          </a:xfrm>
          <a:prstGeom prst="rect">
            <a:avLst/>
          </a:prstGeom>
          <a:noFill/>
          <a:ln/>
        </p:spPr>
        <p:txBody>
          <a:bodyPr wrap="square" lIns="0" tIns="0" rIns="0" bIns="0" rtlCol="0" anchor="ctr"/>
          <a:lstStyle/>
          <a:p>
            <a:pPr marL="0" indent="0" algn="ctr">
              <a:buNone/>
            </a:pPr>
            <a:r>
              <a:rPr lang="it-IT" sz="1400" noProof="0" dirty="0">
                <a:solidFill>
                  <a:schemeClr val="tx1"/>
                </a:solidFill>
              </a:rPr>
              <a:t>Ho</a:t>
            </a:r>
            <a:endParaRPr lang="it-IT" sz="1400" noProof="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7" name="Text 4"/>
          <p:cNvSpPr txBox="1"/>
          <p:nvPr/>
        </p:nvSpPr>
        <p:spPr>
          <a:xfrm>
            <a:off x="1106424" y="1645920"/>
            <a:ext cx="1078992"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mangiato</a:t>
            </a:r>
            <a:endParaRPr lang="it-IT" sz="1400" noProof="0" dirty="0"/>
          </a:p>
        </p:txBody>
      </p:sp>
      <p:sp>
        <p:nvSpPr>
          <p:cNvPr id="8" name="blocco una"/>
          <p:cNvSpPr/>
          <p:nvPr/>
        </p:nvSpPr>
        <p:spPr>
          <a:xfrm>
            <a:off x="2322576" y="1645920"/>
            <a:ext cx="621792" cy="502920"/>
          </a:xfrm>
          <a:prstGeom prst="roundRect">
            <a:avLst>
              <a:gd name="adj" fmla="val 21818"/>
            </a:avLst>
          </a:prstGeom>
          <a:solidFill>
            <a:schemeClr val="bg2"/>
          </a:solidFill>
          <a:ln/>
        </p:spPr>
        <p:txBody>
          <a:bodyPr/>
          <a:lstStyle/>
          <a:p>
            <a:endParaRPr lang="it-IT" noProof="0" dirty="0"/>
          </a:p>
        </p:txBody>
      </p:sp>
      <p:sp>
        <p:nvSpPr>
          <p:cNvPr id="9" name="Text 6"/>
          <p:cNvSpPr txBox="1"/>
          <p:nvPr/>
        </p:nvSpPr>
        <p:spPr>
          <a:xfrm>
            <a:off x="2368296" y="164592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una</a:t>
            </a:r>
            <a:endParaRPr lang="it-IT" sz="1400" noProof="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txBody>
          <a:bodyPr/>
          <a:lstStyle/>
          <a:p>
            <a:endParaRPr lang="it-IT" noProof="0" dirty="0"/>
          </a:p>
        </p:txBody>
      </p:sp>
      <p:sp>
        <p:nvSpPr>
          <p:cNvPr id="11" name="Text 8"/>
          <p:cNvSpPr txBox="1"/>
          <p:nvPr/>
        </p:nvSpPr>
        <p:spPr>
          <a:xfrm>
            <a:off x="3081528" y="164592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13" name="Text 10"/>
          <p:cNvSpPr txBox="1"/>
          <p:nvPr/>
        </p:nvSpPr>
        <p:spPr>
          <a:xfrm>
            <a:off x="4014216" y="1645920"/>
            <a:ext cx="859536"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matura</a:t>
            </a:r>
            <a:endParaRPr lang="it-IT" sz="1400" noProof="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6" name="Text 13"/>
          <p:cNvSpPr txBox="1"/>
          <p:nvPr/>
        </p:nvSpPr>
        <p:spPr>
          <a:xfrm>
            <a:off x="6126480" y="164592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 frutto</a:t>
            </a:r>
            <a:endParaRPr lang="it-IT" sz="1500" noProof="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txBody>
          <a:bodyPr/>
          <a:lstStyle/>
          <a:p>
            <a:endParaRPr lang="it-IT" noProof="0" dirty="0"/>
          </a:p>
        </p:txBody>
      </p:sp>
      <p:sp>
        <p:nvSpPr>
          <p:cNvPr id="18" name="Text 15"/>
          <p:cNvSpPr txBox="1"/>
          <p:nvPr/>
        </p:nvSpPr>
        <p:spPr>
          <a:xfrm>
            <a:off x="502920" y="3063240"/>
            <a:ext cx="107899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Domenica</a:t>
            </a:r>
            <a:endParaRPr lang="it-IT" sz="1400" noProof="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0" name="Text 17"/>
          <p:cNvSpPr txBox="1"/>
          <p:nvPr/>
        </p:nvSpPr>
        <p:spPr>
          <a:xfrm>
            <a:off x="1764792" y="3063240"/>
            <a:ext cx="969264"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andiamo</a:t>
            </a:r>
            <a:endParaRPr lang="it-IT" sz="1400" noProof="0" dirty="0"/>
          </a:p>
        </p:txBody>
      </p:sp>
      <p:sp>
        <p:nvSpPr>
          <p:cNvPr id="21" name="blocco a"/>
          <p:cNvSpPr/>
          <p:nvPr/>
        </p:nvSpPr>
        <p:spPr>
          <a:xfrm>
            <a:off x="2871216" y="3063240"/>
            <a:ext cx="402336" cy="502920"/>
          </a:xfrm>
          <a:prstGeom prst="roundRect">
            <a:avLst>
              <a:gd name="adj" fmla="val 27273"/>
            </a:avLst>
          </a:prstGeom>
          <a:solidFill>
            <a:schemeClr val="bg2"/>
          </a:solidFill>
          <a:ln/>
        </p:spPr>
        <p:txBody>
          <a:bodyPr/>
          <a:lstStyle/>
          <a:p>
            <a:endParaRPr lang="it-IT" noProof="0" dirty="0"/>
          </a:p>
        </p:txBody>
      </p:sp>
      <p:sp>
        <p:nvSpPr>
          <p:cNvPr id="22" name="Text 19"/>
          <p:cNvSpPr txBox="1"/>
          <p:nvPr/>
        </p:nvSpPr>
        <p:spPr>
          <a:xfrm>
            <a:off x="2916936" y="3063240"/>
            <a:ext cx="310896" cy="502920"/>
          </a:xfrm>
          <a:prstGeom prst="rect">
            <a:avLst/>
          </a:prstGeom>
          <a:noFill/>
          <a:ln/>
        </p:spPr>
        <p:txBody>
          <a:bodyPr wrap="square" lIns="0" tIns="0" rIns="0" bIns="0" rtlCol="0" anchor="ctr"/>
          <a:lstStyle/>
          <a:p>
            <a:pPr marL="0" indent="0" algn="ctr">
              <a:buNone/>
            </a:pPr>
            <a:r>
              <a:rPr lang="it-IT" sz="1400" noProof="0" dirty="0">
                <a:solidFill>
                  <a:schemeClr val="tx1"/>
                </a:solidFill>
              </a:rPr>
              <a:t>a</a:t>
            </a:r>
            <a:endParaRPr lang="it-IT" sz="1400" noProof="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txBody>
          <a:bodyPr/>
          <a:lstStyle/>
          <a:p>
            <a:endParaRPr lang="it-IT" noProof="0" dirty="0"/>
          </a:p>
        </p:txBody>
      </p:sp>
      <p:sp>
        <p:nvSpPr>
          <p:cNvPr id="24" name="Text 21"/>
          <p:cNvSpPr txBox="1"/>
          <p:nvPr/>
        </p:nvSpPr>
        <p:spPr>
          <a:xfrm>
            <a:off x="3410712" y="306324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25" name="blocco sul"/>
          <p:cNvSpPr/>
          <p:nvPr/>
        </p:nvSpPr>
        <p:spPr>
          <a:xfrm>
            <a:off x="4297680" y="3063240"/>
            <a:ext cx="621792" cy="502920"/>
          </a:xfrm>
          <a:prstGeom prst="roundRect">
            <a:avLst>
              <a:gd name="adj" fmla="val 21818"/>
            </a:avLst>
          </a:prstGeom>
          <a:solidFill>
            <a:schemeClr val="bg2"/>
          </a:solidFill>
          <a:ln/>
        </p:spPr>
        <p:txBody>
          <a:bodyPr/>
          <a:lstStyle/>
          <a:p>
            <a:endParaRPr lang="it-IT" noProof="0" dirty="0"/>
          </a:p>
        </p:txBody>
      </p:sp>
      <p:sp>
        <p:nvSpPr>
          <p:cNvPr id="26" name="Text 23"/>
          <p:cNvSpPr txBox="1"/>
          <p:nvPr/>
        </p:nvSpPr>
        <p:spPr>
          <a:xfrm>
            <a:off x="4343400" y="306324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sul</a:t>
            </a:r>
            <a:endParaRPr lang="it-IT" sz="1400" noProof="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8" name="Text 25"/>
          <p:cNvSpPr txBox="1"/>
          <p:nvPr/>
        </p:nvSpPr>
        <p:spPr>
          <a:xfrm>
            <a:off x="5056632" y="3063240"/>
            <a:ext cx="64008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lago</a:t>
            </a:r>
            <a:endParaRPr lang="it-IT" sz="1400" noProof="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1" name="Text 28"/>
          <p:cNvSpPr txBox="1"/>
          <p:nvPr/>
        </p:nvSpPr>
        <p:spPr>
          <a:xfrm>
            <a:off x="6126480" y="306324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un'attività</a:t>
            </a:r>
            <a:endParaRPr lang="it-IT" sz="1500" noProof="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txBody>
          <a:bodyPr/>
          <a:lstStyle/>
          <a:p>
            <a:endParaRPr lang="it-IT" noProof="0" dirty="0"/>
          </a:p>
        </p:txBody>
      </p:sp>
      <p:sp>
        <p:nvSpPr>
          <p:cNvPr id="33" name="Text 30"/>
          <p:cNvSpPr txBox="1"/>
          <p:nvPr/>
        </p:nvSpPr>
        <p:spPr>
          <a:xfrm>
            <a:off x="640080" y="3840480"/>
            <a:ext cx="7863840" cy="685800"/>
          </a:xfrm>
          <a:prstGeom prst="rect">
            <a:avLst/>
          </a:prstGeom>
          <a:noFill/>
          <a:ln/>
        </p:spPr>
        <p:txBody>
          <a:bodyPr wrap="square" lIns="0" tIns="0" rIns="0" bIns="0" rtlCol="0" anchor="ctr"/>
          <a:lstStyle/>
          <a:p>
            <a:pPr marL="0" indent="0">
              <a:buNone/>
            </a:pPr>
            <a:r>
              <a:rPr lang="it-IT" sz="1500" noProof="0" dirty="0">
                <a:solidFill>
                  <a:schemeClr val="bg1"/>
                </a:solidFill>
              </a:rPr>
              <a:t>Il modello interpreta ogni parola alla luce di tutte le altre, anche lontane nel testo.</a:t>
            </a:r>
            <a:endParaRPr lang="it-IT" sz="15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46</a:t>
            </a:fld>
            <a:endParaRPr lang="it-IT" noProof="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Come viene generata una risposta</a:t>
            </a:r>
            <a:endParaRPr lang="it-IT" sz="2600" noProof="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txBody>
          <a:bodyPr/>
          <a:lstStyle/>
          <a:p>
            <a:endParaRPr lang="it-IT" noProof="0" dirty="0"/>
          </a:p>
        </p:txBody>
      </p:sp>
      <p:sp>
        <p:nvSpPr>
          <p:cNvPr id="5" name="Text 2"/>
          <p:cNvSpPr txBox="1"/>
          <p:nvPr/>
        </p:nvSpPr>
        <p:spPr>
          <a:xfrm>
            <a:off x="502920" y="114300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1. Testo disponibile</a:t>
            </a:r>
            <a:endParaRPr lang="it-IT" sz="1400" noProof="0" dirty="0"/>
          </a:p>
        </p:txBody>
      </p:sp>
      <p:sp>
        <p:nvSpPr>
          <p:cNvPr id="6" name="freccia giù"/>
          <p:cNvSpPr/>
          <p:nvPr/>
        </p:nvSpPr>
        <p:spPr>
          <a:xfrm>
            <a:off x="1783080" y="1728216"/>
            <a:ext cx="274320" cy="182880"/>
          </a:xfrm>
          <a:prstGeom prst="downArrow">
            <a:avLst/>
          </a:prstGeom>
          <a:solidFill>
            <a:schemeClr val="accent2"/>
          </a:solidFill>
          <a:ln/>
        </p:spPr>
        <p:txBody>
          <a:bodyPr/>
          <a:lstStyle/>
          <a:p>
            <a:endParaRPr lang="it-IT" noProof="0" dirty="0"/>
          </a:p>
        </p:txBody>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txBody>
          <a:bodyPr/>
          <a:lstStyle/>
          <a:p>
            <a:endParaRPr lang="it-IT" noProof="0" dirty="0"/>
          </a:p>
        </p:txBody>
      </p:sp>
      <p:sp>
        <p:nvSpPr>
          <p:cNvPr id="8" name="Text 5"/>
          <p:cNvSpPr txBox="1"/>
          <p:nvPr/>
        </p:nvSpPr>
        <p:spPr>
          <a:xfrm>
            <a:off x="502920" y="192024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2. Probabilità per ogni token</a:t>
            </a:r>
            <a:endParaRPr lang="it-IT" sz="1400" noProof="0" dirty="0"/>
          </a:p>
        </p:txBody>
      </p:sp>
      <p:sp>
        <p:nvSpPr>
          <p:cNvPr id="9" name="freccia giù"/>
          <p:cNvSpPr/>
          <p:nvPr/>
        </p:nvSpPr>
        <p:spPr>
          <a:xfrm>
            <a:off x="1783080" y="2505456"/>
            <a:ext cx="274320" cy="182880"/>
          </a:xfrm>
          <a:prstGeom prst="downArrow">
            <a:avLst/>
          </a:prstGeom>
          <a:solidFill>
            <a:schemeClr val="accent2"/>
          </a:solidFill>
          <a:ln/>
        </p:spPr>
        <p:txBody>
          <a:bodyPr/>
          <a:lstStyle/>
          <a:p>
            <a:endParaRPr lang="it-IT" noProof="0" dirty="0"/>
          </a:p>
        </p:txBody>
      </p:sp>
      <p:sp>
        <p:nvSpPr>
          <p:cNvPr id="10" name="blocco 3. Scelta di un token"/>
          <p:cNvSpPr/>
          <p:nvPr/>
        </p:nvSpPr>
        <p:spPr>
          <a:xfrm>
            <a:off x="457200" y="2697480"/>
            <a:ext cx="2926080" cy="566928"/>
          </a:xfrm>
          <a:prstGeom prst="roundRect">
            <a:avLst>
              <a:gd name="adj" fmla="val 19355"/>
            </a:avLst>
          </a:prstGeom>
          <a:solidFill>
            <a:schemeClr val="accent1"/>
          </a:solidFill>
          <a:ln/>
        </p:spPr>
        <p:txBody>
          <a:bodyPr/>
          <a:lstStyle/>
          <a:p>
            <a:endParaRPr lang="it-IT" noProof="0" dirty="0"/>
          </a:p>
        </p:txBody>
      </p:sp>
      <p:sp>
        <p:nvSpPr>
          <p:cNvPr id="11" name="Text 8"/>
          <p:cNvSpPr txBox="1"/>
          <p:nvPr/>
        </p:nvSpPr>
        <p:spPr>
          <a:xfrm>
            <a:off x="502920" y="2697480"/>
            <a:ext cx="2834640" cy="566928"/>
          </a:xfrm>
          <a:prstGeom prst="rect">
            <a:avLst/>
          </a:prstGeom>
          <a:noFill/>
          <a:ln/>
        </p:spPr>
        <p:txBody>
          <a:bodyPr wrap="square" lIns="0" tIns="0" rIns="0" bIns="0" rtlCol="0" anchor="ctr"/>
          <a:lstStyle/>
          <a:p>
            <a:pPr marL="0" indent="0" algn="ctr">
              <a:buNone/>
            </a:pPr>
            <a:r>
              <a:rPr lang="it-IT" sz="1400" b="1" noProof="0" dirty="0">
                <a:solidFill>
                  <a:schemeClr val="bg1"/>
                </a:solidFill>
              </a:rPr>
              <a:t>3. Scelta di un token</a:t>
            </a:r>
            <a:endParaRPr lang="it-IT" sz="1400" noProof="0" dirty="0"/>
          </a:p>
        </p:txBody>
      </p:sp>
      <p:sp>
        <p:nvSpPr>
          <p:cNvPr id="12" name="freccia giù"/>
          <p:cNvSpPr/>
          <p:nvPr/>
        </p:nvSpPr>
        <p:spPr>
          <a:xfrm>
            <a:off x="1783080" y="3282696"/>
            <a:ext cx="274320" cy="182880"/>
          </a:xfrm>
          <a:prstGeom prst="downArrow">
            <a:avLst/>
          </a:prstGeom>
          <a:solidFill>
            <a:schemeClr val="accent2"/>
          </a:solidFill>
          <a:ln/>
        </p:spPr>
        <p:txBody>
          <a:bodyPr/>
          <a:lstStyle/>
          <a:p>
            <a:endParaRPr lang="it-IT" noProof="0" dirty="0"/>
          </a:p>
        </p:txBody>
      </p:sp>
      <p:sp>
        <p:nvSpPr>
          <p:cNvPr id="13" name="blocco 4. Aggiunta al testo"/>
          <p:cNvSpPr/>
          <p:nvPr/>
        </p:nvSpPr>
        <p:spPr>
          <a:xfrm>
            <a:off x="457200" y="3474720"/>
            <a:ext cx="2926080" cy="566928"/>
          </a:xfrm>
          <a:prstGeom prst="roundRect">
            <a:avLst>
              <a:gd name="adj" fmla="val 19355"/>
            </a:avLst>
          </a:prstGeom>
          <a:solidFill>
            <a:schemeClr val="bg2"/>
          </a:solidFill>
          <a:ln/>
        </p:spPr>
        <p:txBody>
          <a:bodyPr/>
          <a:lstStyle/>
          <a:p>
            <a:endParaRPr lang="it-IT" noProof="0" dirty="0"/>
          </a:p>
        </p:txBody>
      </p:sp>
      <p:sp>
        <p:nvSpPr>
          <p:cNvPr id="14" name="Text 11"/>
          <p:cNvSpPr txBox="1"/>
          <p:nvPr/>
        </p:nvSpPr>
        <p:spPr>
          <a:xfrm>
            <a:off x="502920" y="347472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4. Aggiunta al testo</a:t>
            </a:r>
            <a:endParaRPr lang="it-IT" sz="1400" noProof="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marL="0" indent="0">
              <a:buNone/>
            </a:pPr>
            <a:r>
              <a:rPr lang="it-IT" sz="1200" i="1" noProof="0" dirty="0">
                <a:solidFill>
                  <a:schemeClr val="tx2"/>
                </a:solidFill>
              </a:rPr>
              <a:t>Si ripete per ogni token: centinaia di cicli per una risposta.</a:t>
            </a:r>
            <a:endParaRPr lang="it-IT" sz="1200" noProof="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txBody>
          <a:bodyPr/>
          <a:lstStyle/>
          <a:p>
            <a:endParaRPr lang="it-IT" noProof="0" dirty="0"/>
          </a:p>
        </p:txBody>
      </p:sp>
      <p:sp>
        <p:nvSpPr>
          <p:cNvPr id="17" name="Text 14"/>
          <p:cNvSpPr txBox="1"/>
          <p:nvPr/>
        </p:nvSpPr>
        <p:spPr>
          <a:xfrm>
            <a:off x="3931920" y="1097280"/>
            <a:ext cx="4572000" cy="502920"/>
          </a:xfrm>
          <a:prstGeom prst="rect">
            <a:avLst/>
          </a:prstGeom>
          <a:noFill/>
          <a:ln/>
        </p:spPr>
        <p:txBody>
          <a:bodyPr wrap="square" lIns="0" tIns="0" rIns="0" bIns="0" rtlCol="0" anchor="ctr"/>
          <a:lstStyle/>
          <a:p>
            <a:pPr marL="0" indent="0">
              <a:buNone/>
            </a:pPr>
            <a:r>
              <a:rPr lang="it-IT" sz="1600" noProof="0" dirty="0">
                <a:solidFill>
                  <a:schemeClr val="tx1"/>
                </a:solidFill>
              </a:rPr>
              <a:t>Oggi il cielo è </a:t>
            </a:r>
            <a:r>
              <a:rPr lang="it-IT" sz="1600" b="1" noProof="0" dirty="0">
                <a:solidFill>
                  <a:schemeClr val="accent1"/>
                </a:solidFill>
              </a:rPr>
              <a:t>...</a:t>
            </a:r>
            <a:endParaRPr lang="it-IT" sz="1600" noProof="0" dirty="0"/>
          </a:p>
        </p:txBody>
      </p:sp>
      <p:graphicFrame>
        <p:nvGraphicFramePr>
          <p:cNvPr id="18" name="Chart 0"/>
          <p:cNvGraphicFramePr/>
          <p:nvPr/>
        </p:nvGraphicFramePr>
        <p:xfrm>
          <a:off x="3749040" y="1691640"/>
          <a:ext cx="493776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marL="0" indent="0">
              <a:buNone/>
            </a:pPr>
            <a:r>
              <a:rPr lang="it-IT" sz="1000" i="1" noProof="0" dirty="0">
                <a:solidFill>
                  <a:schemeClr val="accent2"/>
                </a:solidFill>
              </a:rPr>
              <a:t>Probabilità del token successivo, valori illustrativi</a:t>
            </a:r>
            <a:endParaRPr lang="it-IT" sz="10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47</a:t>
            </a:fld>
            <a:endParaRPr lang="it-IT" noProof="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Più di un completamento automatico</a:t>
            </a:r>
            <a:endParaRPr lang="it-IT" sz="2600" noProof="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txBody>
          <a:bodyPr/>
          <a:lstStyle/>
          <a:p>
            <a:endParaRPr lang="it-IT" noProof="0" dirty="0"/>
          </a:p>
        </p:txBody>
      </p:sp>
      <p:sp>
        <p:nvSpPr>
          <p:cNvPr id="5" name="cerchio FiSmartphon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Smartphon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noProof="0" dirty="0">
                <a:solidFill>
                  <a:schemeClr val="tx1"/>
                </a:solidFill>
              </a:rPr>
              <a:t>Il suggeritore della tastiera</a:t>
            </a:r>
            <a:endParaRPr lang="it-IT" sz="1500" noProof="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marL="0" indent="0">
              <a:buNone/>
            </a:pPr>
            <a:r>
              <a:rPr lang="it-IT" sz="1300" noProof="0" dirty="0">
                <a:solidFill>
                  <a:schemeClr val="tx2"/>
                </a:solidFill>
              </a:rPr>
              <a:t>Guarda poche parole precedenti e propone la più frequente.</a:t>
            </a:r>
            <a:endParaRPr lang="it-IT" sz="1300" noProof="0" dirty="0"/>
          </a:p>
        </p:txBody>
      </p:sp>
      <p:sp>
        <p:nvSpPr>
          <p:cNvPr id="9" name="freccia"/>
          <p:cNvSpPr/>
          <p:nvPr/>
        </p:nvSpPr>
        <p:spPr>
          <a:xfrm>
            <a:off x="3154680" y="2194560"/>
            <a:ext cx="457200" cy="292608"/>
          </a:xfrm>
          <a:prstGeom prst="rightArrow">
            <a:avLst/>
          </a:prstGeom>
          <a:solidFill>
            <a:schemeClr val="accent1"/>
          </a:solidFill>
          <a:ln/>
        </p:spPr>
        <p:txBody>
          <a:bodyPr/>
          <a:lstStyle/>
          <a:p>
            <a:endParaRPr lang="it-IT" noProof="0" dirty="0"/>
          </a:p>
        </p:txBody>
      </p:sp>
      <p:sp>
        <p:nvSpPr>
          <p:cNvPr id="10" name="LLM"/>
          <p:cNvSpPr/>
          <p:nvPr/>
        </p:nvSpPr>
        <p:spPr>
          <a:xfrm>
            <a:off x="3703320" y="1097280"/>
            <a:ext cx="4983480" cy="2468880"/>
          </a:xfrm>
          <a:prstGeom prst="roundRect">
            <a:avLst>
              <a:gd name="adj" fmla="val 2963"/>
            </a:avLst>
          </a:prstGeom>
          <a:solidFill>
            <a:schemeClr val="accent6"/>
          </a:solidFill>
          <a:ln/>
        </p:spPr>
        <p:txBody>
          <a:bodyPr/>
          <a:lstStyle/>
          <a:p>
            <a:endParaRPr lang="it-IT" noProof="0" dirty="0"/>
          </a:p>
        </p:txBody>
      </p:sp>
      <p:sp>
        <p:nvSpPr>
          <p:cNvPr id="11" name="Text 7"/>
          <p:cNvSpPr txBox="1"/>
          <p:nvPr/>
        </p:nvSpPr>
        <p:spPr>
          <a:xfrm>
            <a:off x="3886200" y="1207008"/>
            <a:ext cx="4572000" cy="320040"/>
          </a:xfrm>
          <a:prstGeom prst="rect">
            <a:avLst/>
          </a:prstGeom>
          <a:noFill/>
          <a:ln/>
        </p:spPr>
        <p:txBody>
          <a:bodyPr wrap="square" lIns="0" tIns="0" rIns="0" bIns="0" rtlCol="0" anchor="t"/>
          <a:lstStyle/>
          <a:p>
            <a:pPr marL="0" indent="0">
              <a:buNone/>
            </a:pPr>
            <a:r>
              <a:rPr lang="it-IT" sz="1600" b="1" noProof="0" dirty="0">
                <a:solidFill>
                  <a:schemeClr val="tx1"/>
                </a:solidFill>
              </a:rPr>
              <a:t>Un LLM</a:t>
            </a:r>
            <a:endParaRPr lang="it-IT" sz="1600" noProof="0" dirty="0"/>
          </a:p>
        </p:txBody>
      </p:sp>
      <p:sp>
        <p:nvSpPr>
          <p:cNvPr id="12" name="cerchio FiLayers"/>
          <p:cNvSpPr/>
          <p:nvPr/>
        </p:nvSpPr>
        <p:spPr>
          <a:xfrm>
            <a:off x="3886200" y="1627632"/>
            <a:ext cx="411480" cy="411480"/>
          </a:xfrm>
          <a:prstGeom prst="ellipse">
            <a:avLst/>
          </a:prstGeom>
          <a:solidFill>
            <a:schemeClr val="accent1"/>
          </a:solidFill>
          <a:ln/>
        </p:spPr>
        <p:txBody>
          <a:bodyPr/>
          <a:lstStyle/>
          <a:p>
            <a:endParaRPr lang="it-IT" noProof="0" dirty="0"/>
          </a:p>
        </p:txBody>
      </p:sp>
      <p:pic>
        <p:nvPicPr>
          <p:cNvPr id="13" name="Image 1" descr="FiLayers"/>
          <p:cNvPicPr>
            <a:picLocks noChangeAspect="1"/>
          </p:cNvPicPr>
          <p:nvPr/>
        </p:nvPicPr>
        <p:blipFill>
          <a:blip r:embed="rId4"/>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Rappresentazioni ricche: </a:t>
            </a:r>
            <a:r>
              <a:rPr lang="it-IT" sz="1200" noProof="0" dirty="0">
                <a:solidFill>
                  <a:schemeClr val="tx2"/>
                </a:solidFill>
              </a:rPr>
              <a:t>Grammatica, significato, fatti, relazioni logiche</a:t>
            </a:r>
            <a:endParaRPr lang="it-IT" sz="1200" noProof="0" dirty="0"/>
          </a:p>
        </p:txBody>
      </p:sp>
      <p:sp>
        <p:nvSpPr>
          <p:cNvPr id="15" name="cerchio FiUserCheck"/>
          <p:cNvSpPr/>
          <p:nvPr/>
        </p:nvSpPr>
        <p:spPr>
          <a:xfrm>
            <a:off x="3886200" y="2267712"/>
            <a:ext cx="411480" cy="411480"/>
          </a:xfrm>
          <a:prstGeom prst="ellipse">
            <a:avLst/>
          </a:prstGeom>
          <a:solidFill>
            <a:schemeClr val="accent1"/>
          </a:solidFill>
          <a:ln/>
        </p:spPr>
        <p:txBody>
          <a:bodyPr/>
          <a:lstStyle/>
          <a:p>
            <a:endParaRPr lang="it-IT" noProof="0" dirty="0"/>
          </a:p>
        </p:txBody>
      </p:sp>
      <p:pic>
        <p:nvPicPr>
          <p:cNvPr id="16" name="Image 2" descr="FiUserCheck"/>
          <p:cNvPicPr>
            <a:picLocks noChangeAspect="1"/>
          </p:cNvPicPr>
          <p:nvPr/>
        </p:nvPicPr>
        <p:blipFill>
          <a:blip r:embed="rId5"/>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Affinato per seguire istruzioni: </a:t>
            </a:r>
            <a:r>
              <a:rPr lang="it-IT" sz="1200" noProof="0" dirty="0">
                <a:solidFill>
                  <a:schemeClr val="tx2"/>
                </a:solidFill>
              </a:rPr>
              <a:t>Dialoga e risponde in modo utile</a:t>
            </a:r>
            <a:endParaRPr lang="it-IT" sz="1200" noProof="0" dirty="0"/>
          </a:p>
        </p:txBody>
      </p:sp>
      <p:sp>
        <p:nvSpPr>
          <p:cNvPr id="18" name="cerchio FiPaperclip"/>
          <p:cNvSpPr/>
          <p:nvPr/>
        </p:nvSpPr>
        <p:spPr>
          <a:xfrm>
            <a:off x="3886200" y="2907792"/>
            <a:ext cx="411480" cy="411480"/>
          </a:xfrm>
          <a:prstGeom prst="ellipse">
            <a:avLst/>
          </a:prstGeom>
          <a:solidFill>
            <a:schemeClr val="accent1"/>
          </a:solidFill>
          <a:ln/>
        </p:spPr>
        <p:txBody>
          <a:bodyPr/>
          <a:lstStyle/>
          <a:p>
            <a:endParaRPr lang="it-IT" noProof="0" dirty="0"/>
          </a:p>
        </p:txBody>
      </p:sp>
      <p:pic>
        <p:nvPicPr>
          <p:cNvPr id="19" name="Image 3" descr="FiPaperclip"/>
          <p:cNvPicPr>
            <a:picLocks noChangeAspect="1"/>
          </p:cNvPicPr>
          <p:nvPr/>
        </p:nvPicPr>
        <p:blipFill>
          <a:blip r:embed="rId6"/>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Può utilizzare le informazioni disponibili nel contesto: </a:t>
            </a:r>
            <a:r>
              <a:rPr lang="it-IT" sz="1200" noProof="0" dirty="0">
                <a:solidFill>
                  <a:schemeClr val="tx2"/>
                </a:solidFill>
              </a:rPr>
              <a:t>Istruzioni, documenti, conversazione, strumenti</a:t>
            </a:r>
            <a:endParaRPr lang="it-IT" sz="1200" noProof="0" dirty="0"/>
          </a:p>
        </p:txBody>
      </p:sp>
      <p:sp>
        <p:nvSpPr>
          <p:cNvPr id="21" name="equilibrio"/>
          <p:cNvSpPr/>
          <p:nvPr/>
        </p:nvSpPr>
        <p:spPr>
          <a:xfrm>
            <a:off x="457200" y="3749040"/>
            <a:ext cx="8229600" cy="777240"/>
          </a:xfrm>
          <a:prstGeom prst="roundRect">
            <a:avLst>
              <a:gd name="adj" fmla="val 9412"/>
            </a:avLst>
          </a:prstGeom>
          <a:solidFill>
            <a:schemeClr val="bg2"/>
          </a:solidFill>
          <a:ln/>
        </p:spPr>
        <p:txBody>
          <a:bodyPr/>
          <a:lstStyle/>
          <a:p>
            <a:endParaRPr lang="it-IT" noProof="0" dirty="0"/>
          </a:p>
        </p:txBody>
      </p:sp>
      <p:sp>
        <p:nvSpPr>
          <p:cNvPr id="22" name="cerchio FiSliders"/>
          <p:cNvSpPr/>
          <p:nvPr/>
        </p:nvSpPr>
        <p:spPr>
          <a:xfrm>
            <a:off x="640080" y="3867912"/>
            <a:ext cx="512064" cy="512064"/>
          </a:xfrm>
          <a:prstGeom prst="ellipse">
            <a:avLst/>
          </a:prstGeom>
          <a:solidFill>
            <a:schemeClr val="accent2"/>
          </a:solidFill>
          <a:ln/>
        </p:spPr>
        <p:txBody>
          <a:bodyPr/>
          <a:lstStyle/>
          <a:p>
            <a:endParaRPr lang="it-IT" noProof="0" dirty="0"/>
          </a:p>
        </p:txBody>
      </p:sp>
      <p:pic>
        <p:nvPicPr>
          <p:cNvPr id="23" name="Image 4" descr="FiSliders"/>
          <p:cNvPicPr>
            <a:picLocks noChangeAspect="1"/>
          </p:cNvPicPr>
          <p:nvPr/>
        </p:nvPicPr>
        <p:blipFill>
          <a:blip r:embed="rId7"/>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300" noProof="0" dirty="0">
                <a:solidFill>
                  <a:schemeClr val="tx1"/>
                </a:solidFill>
              </a:rPr>
              <a:t>I Large Language Models apprendono rappresentazioni complesse del linguaggio e delle relazioni presenti nei dati. Questo consente loro di affrontare numerosi compiti attraverso istruzioni e contesto, con prestazioni da valutare in funzione dell'utilizzo.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48</a:t>
            </a:fld>
            <a:endParaRPr lang="it-IT" noProof="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2.5</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funziona un'interazione con l'AI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Il risultato dipende dalle informazioni rese disponibili; modello e prodotto non coincidono sempre</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49</a:t>
            </a:fld>
            <a:endParaRPr lang="it-IT"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Input, prompt e output</a:t>
            </a:r>
            <a:endParaRPr lang="it-IT" sz="2600" noProof="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marL="0" indent="0">
              <a:buNone/>
            </a:pPr>
            <a:r>
              <a:rPr lang="it-IT" sz="1300" b="1" noProof="0" dirty="0">
                <a:solidFill>
                  <a:schemeClr val="accent2"/>
                </a:solidFill>
              </a:rPr>
              <a:t>Ciò che il modello riceve</a:t>
            </a:r>
            <a:endParaRPr lang="it-IT" sz="1300" noProof="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txBody>
          <a:bodyPr/>
          <a:lstStyle/>
          <a:p>
            <a:endParaRPr lang="it-IT" noProof="0" dirty="0"/>
          </a:p>
        </p:txBody>
      </p:sp>
      <p:sp>
        <p:nvSpPr>
          <p:cNvPr id="6" name="Text 3"/>
          <p:cNvSpPr txBox="1"/>
          <p:nvPr/>
        </p:nvSpPr>
        <p:spPr>
          <a:xfrm>
            <a:off x="640080" y="1426464"/>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Istruzioni di sistema</a:t>
            </a:r>
            <a:endParaRPr lang="it-IT" sz="1400" noProof="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Impostate dall'applicazione, di solito invisibili</a:t>
            </a:r>
            <a:endParaRPr lang="it-IT" sz="1200" noProof="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txBody>
          <a:bodyPr/>
          <a:lstStyle/>
          <a:p>
            <a:endParaRPr lang="it-IT" noProof="0" dirty="0"/>
          </a:p>
        </p:txBody>
      </p:sp>
      <p:sp>
        <p:nvSpPr>
          <p:cNvPr id="9" name="Text 6"/>
          <p:cNvSpPr txBox="1"/>
          <p:nvPr/>
        </p:nvSpPr>
        <p:spPr>
          <a:xfrm>
            <a:off x="640080" y="2212848"/>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Cronologia della conversazione</a:t>
            </a:r>
            <a:endParaRPr lang="it-IT" sz="1400" noProof="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 messaggi precedenti</a:t>
            </a:r>
            <a:endParaRPr lang="it-IT" sz="1200" noProof="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txBody>
          <a:bodyPr/>
          <a:lstStyle/>
          <a:p>
            <a:endParaRPr lang="it-IT" noProof="0" dirty="0"/>
          </a:p>
        </p:txBody>
      </p:sp>
      <p:sp>
        <p:nvSpPr>
          <p:cNvPr id="12" name="Text 9"/>
          <p:cNvSpPr txBox="1"/>
          <p:nvPr/>
        </p:nvSpPr>
        <p:spPr>
          <a:xfrm>
            <a:off x="640080" y="2999232"/>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Documenti e risultati di ricerca</a:t>
            </a:r>
            <a:endParaRPr lang="it-IT" sz="1400" noProof="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File allegati, fonti recuperate</a:t>
            </a:r>
            <a:endParaRPr lang="it-IT" sz="1200" noProof="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txBody>
          <a:bodyPr/>
          <a:lstStyle/>
          <a:p>
            <a:endParaRPr lang="it-IT" noProof="0" dirty="0"/>
          </a:p>
        </p:txBody>
      </p:sp>
      <p:sp>
        <p:nvSpPr>
          <p:cNvPr id="15" name="Text 12"/>
          <p:cNvSpPr txBox="1"/>
          <p:nvPr/>
        </p:nvSpPr>
        <p:spPr>
          <a:xfrm>
            <a:off x="640080" y="3785616"/>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Il nostro messaggio</a:t>
            </a:r>
            <a:endParaRPr lang="it-IT" sz="1400" noProof="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La richiesta che scriviamo: il prompt</a:t>
            </a:r>
            <a:endParaRPr lang="it-IT" sz="1200" noProof="0" dirty="0"/>
          </a:p>
        </p:txBody>
      </p:sp>
      <p:sp>
        <p:nvSpPr>
          <p:cNvPr id="17" name="freccia"/>
          <p:cNvSpPr/>
          <p:nvPr/>
        </p:nvSpPr>
        <p:spPr>
          <a:xfrm>
            <a:off x="4434840" y="2606040"/>
            <a:ext cx="457200" cy="292608"/>
          </a:xfrm>
          <a:prstGeom prst="rightArrow">
            <a:avLst/>
          </a:prstGeom>
          <a:solidFill>
            <a:schemeClr val="accent1"/>
          </a:solidFill>
          <a:ln/>
        </p:spPr>
        <p:txBody>
          <a:bodyPr/>
          <a:lstStyle/>
          <a:p>
            <a:endParaRPr lang="it-IT" noProof="0" dirty="0"/>
          </a:p>
        </p:txBody>
      </p:sp>
      <p:sp>
        <p:nvSpPr>
          <p:cNvPr id="18" name="modello"/>
          <p:cNvSpPr/>
          <p:nvPr/>
        </p:nvSpPr>
        <p:spPr>
          <a:xfrm>
            <a:off x="5029200" y="2103120"/>
            <a:ext cx="1463040" cy="1280160"/>
          </a:xfrm>
          <a:prstGeom prst="roundRect">
            <a:avLst>
              <a:gd name="adj" fmla="val 5714"/>
            </a:avLst>
          </a:prstGeom>
          <a:solidFill>
            <a:schemeClr val="accent1"/>
          </a:solidFill>
          <a:ln/>
        </p:spPr>
        <p:txBody>
          <a:bodyPr/>
          <a:lstStyle/>
          <a:p>
            <a:endParaRPr lang="it-IT" noProof="0" dirty="0"/>
          </a:p>
        </p:txBody>
      </p:sp>
      <p:sp>
        <p:nvSpPr>
          <p:cNvPr id="19" name="Text 16"/>
          <p:cNvSpPr txBox="1"/>
          <p:nvPr/>
        </p:nvSpPr>
        <p:spPr>
          <a:xfrm>
            <a:off x="5029200" y="2103120"/>
            <a:ext cx="1463040" cy="128016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a:t>
            </a:r>
            <a:endParaRPr lang="it-IT" sz="1600" noProof="0" dirty="0"/>
          </a:p>
        </p:txBody>
      </p:sp>
      <p:sp>
        <p:nvSpPr>
          <p:cNvPr id="20" name="freccia"/>
          <p:cNvSpPr/>
          <p:nvPr/>
        </p:nvSpPr>
        <p:spPr>
          <a:xfrm>
            <a:off x="6583680" y="2606040"/>
            <a:ext cx="411480" cy="292608"/>
          </a:xfrm>
          <a:prstGeom prst="rightArrow">
            <a:avLst/>
          </a:prstGeom>
          <a:solidFill>
            <a:schemeClr val="accent1"/>
          </a:solidFill>
          <a:ln/>
        </p:spPr>
        <p:txBody>
          <a:bodyPr/>
          <a:lstStyle/>
          <a:p>
            <a:endParaRPr lang="it-IT" noProof="0" dirty="0"/>
          </a:p>
        </p:txBody>
      </p:sp>
      <p:sp>
        <p:nvSpPr>
          <p:cNvPr id="21" name="output"/>
          <p:cNvSpPr/>
          <p:nvPr/>
        </p:nvSpPr>
        <p:spPr>
          <a:xfrm>
            <a:off x="7086600" y="2103120"/>
            <a:ext cx="1600200" cy="1280160"/>
          </a:xfrm>
          <a:prstGeom prst="roundRect">
            <a:avLst>
              <a:gd name="adj" fmla="val 5714"/>
            </a:avLst>
          </a:prstGeom>
          <a:solidFill>
            <a:schemeClr val="tx1"/>
          </a:solidFill>
          <a:ln/>
        </p:spPr>
        <p:txBody>
          <a:bodyPr/>
          <a:lstStyle/>
          <a:p>
            <a:endParaRPr lang="it-IT" noProof="0" dirty="0"/>
          </a:p>
        </p:txBody>
      </p:sp>
      <p:sp>
        <p:nvSpPr>
          <p:cNvPr id="22" name="Text 19"/>
          <p:cNvSpPr txBox="1"/>
          <p:nvPr/>
        </p:nvSpPr>
        <p:spPr>
          <a:xfrm>
            <a:off x="7132320" y="2194560"/>
            <a:ext cx="1508760" cy="365760"/>
          </a:xfrm>
          <a:prstGeom prst="rect">
            <a:avLst/>
          </a:prstGeom>
          <a:noFill/>
          <a:ln/>
        </p:spPr>
        <p:txBody>
          <a:bodyPr wrap="square" lIns="0" tIns="0" rIns="0" bIns="0" rtlCol="0" anchor="t"/>
          <a:lstStyle/>
          <a:p>
            <a:pPr marL="0" indent="0" algn="ctr">
              <a:buNone/>
            </a:pPr>
            <a:r>
              <a:rPr lang="it-IT" sz="1600" b="1" noProof="0" dirty="0">
                <a:solidFill>
                  <a:schemeClr val="bg1"/>
                </a:solidFill>
              </a:rPr>
              <a:t>Output</a:t>
            </a:r>
            <a:endParaRPr lang="it-IT" sz="1600" noProof="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marL="0" indent="0" algn="ctr">
              <a:buNone/>
            </a:pPr>
            <a:r>
              <a:rPr lang="it-IT" sz="1200" noProof="0" dirty="0">
                <a:solidFill>
                  <a:schemeClr val="accent3"/>
                </a:solidFill>
              </a:rPr>
              <a:t>Testo, immagine, file, azione</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50</a:t>
            </a:fld>
            <a:endParaRPr lang="it-IT"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La finestra di contesto</a:t>
            </a:r>
            <a:endParaRPr lang="it-IT" sz="2600" noProof="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txBody>
          <a:bodyPr/>
          <a:lstStyle/>
          <a:p>
            <a:endParaRPr lang="it-IT" noProof="0" dirty="0"/>
          </a:p>
        </p:txBody>
      </p:sp>
      <p:sp>
        <p:nvSpPr>
          <p:cNvPr id="5" name="Text 2"/>
          <p:cNvSpPr txBox="1"/>
          <p:nvPr/>
        </p:nvSpPr>
        <p:spPr>
          <a:xfrm>
            <a:off x="640080" y="1188720"/>
            <a:ext cx="4389120" cy="320040"/>
          </a:xfrm>
          <a:prstGeom prst="rect">
            <a:avLst/>
          </a:prstGeom>
          <a:noFill/>
          <a:ln/>
        </p:spPr>
        <p:txBody>
          <a:bodyPr wrap="square" lIns="0" tIns="0" rIns="0" bIns="0" rtlCol="0" anchor="t"/>
          <a:lstStyle/>
          <a:p>
            <a:pPr marL="0" indent="0">
              <a:buNone/>
            </a:pPr>
            <a:r>
              <a:rPr lang="it-IT" sz="1400" b="1" noProof="0" dirty="0">
                <a:solidFill>
                  <a:schemeClr val="accent1"/>
                </a:solidFill>
              </a:rPr>
              <a:t>Finestra di contesto</a:t>
            </a:r>
            <a:endParaRPr lang="it-IT" sz="1400" noProof="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txBody>
          <a:bodyPr/>
          <a:lstStyle/>
          <a:p>
            <a:endParaRPr lang="it-IT" noProof="0" dirty="0"/>
          </a:p>
        </p:txBody>
      </p:sp>
      <p:sp>
        <p:nvSpPr>
          <p:cNvPr id="7" name="Text 4"/>
          <p:cNvSpPr txBox="1"/>
          <p:nvPr/>
        </p:nvSpPr>
        <p:spPr>
          <a:xfrm>
            <a:off x="731520" y="1600200"/>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Istruzioni di sistema</a:t>
            </a:r>
            <a:endParaRPr lang="it-IT" sz="1300" noProof="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txBody>
          <a:bodyPr/>
          <a:lstStyle/>
          <a:p>
            <a:endParaRPr lang="it-IT" noProof="0" dirty="0"/>
          </a:p>
        </p:txBody>
      </p:sp>
      <p:sp>
        <p:nvSpPr>
          <p:cNvPr id="9" name="Text 6"/>
          <p:cNvSpPr txBox="1"/>
          <p:nvPr/>
        </p:nvSpPr>
        <p:spPr>
          <a:xfrm>
            <a:off x="731520" y="2121408"/>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Cronologia della conversazione</a:t>
            </a:r>
            <a:endParaRPr lang="it-IT" sz="1300" noProof="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txBody>
          <a:bodyPr/>
          <a:lstStyle/>
          <a:p>
            <a:endParaRPr lang="it-IT" noProof="0" dirty="0"/>
          </a:p>
        </p:txBody>
      </p:sp>
      <p:sp>
        <p:nvSpPr>
          <p:cNvPr id="11" name="Text 8"/>
          <p:cNvSpPr txBox="1"/>
          <p:nvPr/>
        </p:nvSpPr>
        <p:spPr>
          <a:xfrm>
            <a:off x="731520" y="2642616"/>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Documenti allegati</a:t>
            </a:r>
            <a:endParaRPr lang="it-IT" sz="1300" noProof="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txBody>
          <a:bodyPr/>
          <a:lstStyle/>
          <a:p>
            <a:endParaRPr lang="it-IT" noProof="0" dirty="0"/>
          </a:p>
        </p:txBody>
      </p:sp>
      <p:sp>
        <p:nvSpPr>
          <p:cNvPr id="13" name="Text 10"/>
          <p:cNvSpPr txBox="1"/>
          <p:nvPr/>
        </p:nvSpPr>
        <p:spPr>
          <a:xfrm>
            <a:off x="731520" y="3163824"/>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Il nostro messaggio</a:t>
            </a:r>
            <a:endParaRPr lang="it-IT" sz="1300" noProof="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txBody>
          <a:bodyPr/>
          <a:lstStyle/>
          <a:p>
            <a:endParaRPr lang="it-IT" noProof="0" dirty="0"/>
          </a:p>
        </p:txBody>
      </p:sp>
      <p:sp>
        <p:nvSpPr>
          <p:cNvPr id="15" name="Text 12"/>
          <p:cNvSpPr txBox="1"/>
          <p:nvPr/>
        </p:nvSpPr>
        <p:spPr>
          <a:xfrm>
            <a:off x="731520" y="3685032"/>
            <a:ext cx="4206240" cy="420624"/>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in generazione</a:t>
            </a:r>
            <a:endParaRPr lang="it-IT" sz="1300" noProof="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marL="0" indent="0">
              <a:buNone/>
            </a:pPr>
            <a:r>
              <a:rPr lang="it-IT" sz="1000" i="1" noProof="0" dirty="0">
                <a:solidFill>
                  <a:schemeClr val="accent2"/>
                </a:solidFill>
              </a:rPr>
              <a:t>Ciò che non entra nella finestra, per il modello non esiste.</a:t>
            </a:r>
            <a:endParaRPr lang="it-IT" sz="1000" noProof="0" dirty="0"/>
          </a:p>
        </p:txBody>
      </p:sp>
      <p:sp>
        <p:nvSpPr>
          <p:cNvPr id="17" name="cerchio FiMaximize2"/>
          <p:cNvSpPr/>
          <p:nvPr/>
        </p:nvSpPr>
        <p:spPr>
          <a:xfrm>
            <a:off x="5486400" y="1143000"/>
            <a:ext cx="457200" cy="457200"/>
          </a:xfrm>
          <a:prstGeom prst="ellipse">
            <a:avLst/>
          </a:prstGeom>
          <a:solidFill>
            <a:schemeClr val="accent1"/>
          </a:solidFill>
          <a:ln/>
        </p:spPr>
        <p:txBody>
          <a:bodyPr/>
          <a:lstStyle/>
          <a:p>
            <a:endParaRPr lang="it-IT" noProof="0" dirty="0"/>
          </a:p>
        </p:txBody>
      </p:sp>
      <p:pic>
        <p:nvPicPr>
          <p:cNvPr id="18" name="Image 0" descr="FiMaximize2"/>
          <p:cNvPicPr>
            <a:picLocks noChangeAspect="1"/>
          </p:cNvPicPr>
          <p:nvPr/>
        </p:nvPicPr>
        <p:blipFill>
          <a:blip r:embed="rId3"/>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Misurata in token</a:t>
            </a:r>
            <a:endParaRPr lang="it-IT" sz="1300" noProof="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Da poche migliaia a centinaia di migliaia o più, secondo il modello</a:t>
            </a:r>
            <a:endParaRPr lang="it-IT" sz="1100" noProof="0" dirty="0"/>
          </a:p>
        </p:txBody>
      </p:sp>
      <p:sp>
        <p:nvSpPr>
          <p:cNvPr id="21" name="cerchio FiScissors"/>
          <p:cNvSpPr/>
          <p:nvPr/>
        </p:nvSpPr>
        <p:spPr>
          <a:xfrm>
            <a:off x="5486400" y="2258568"/>
            <a:ext cx="457200" cy="457200"/>
          </a:xfrm>
          <a:prstGeom prst="ellipse">
            <a:avLst/>
          </a:prstGeom>
          <a:solidFill>
            <a:schemeClr val="accent1"/>
          </a:solidFill>
          <a:ln/>
        </p:spPr>
        <p:txBody>
          <a:bodyPr/>
          <a:lstStyle/>
          <a:p>
            <a:endParaRPr lang="it-IT" noProof="0" dirty="0"/>
          </a:p>
        </p:txBody>
      </p:sp>
      <p:pic>
        <p:nvPicPr>
          <p:cNvPr id="22" name="Image 1" descr="FiScissors"/>
          <p:cNvPicPr>
            <a:picLocks noChangeAspect="1"/>
          </p:cNvPicPr>
          <p:nvPr/>
        </p:nvPicPr>
        <p:blipFill>
          <a:blip r:embed="rId4"/>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Quando è piena</a:t>
            </a:r>
            <a:endParaRPr lang="it-IT" sz="1300" noProof="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Le parti più vecchie possono essere escluse o riassunte</a:t>
            </a:r>
            <a:endParaRPr lang="it-IT" sz="1100" noProof="0" dirty="0"/>
          </a:p>
        </p:txBody>
      </p:sp>
      <p:sp>
        <p:nvSpPr>
          <p:cNvPr id="25" name="cerchio FiTarget"/>
          <p:cNvSpPr/>
          <p:nvPr/>
        </p:nvSpPr>
        <p:spPr>
          <a:xfrm>
            <a:off x="5486400" y="3374136"/>
            <a:ext cx="457200" cy="457200"/>
          </a:xfrm>
          <a:prstGeom prst="ellipse">
            <a:avLst/>
          </a:prstGeom>
          <a:solidFill>
            <a:schemeClr val="accent1"/>
          </a:solidFill>
          <a:ln/>
        </p:spPr>
        <p:txBody>
          <a:bodyPr/>
          <a:lstStyle/>
          <a:p>
            <a:endParaRPr lang="it-IT" noProof="0" dirty="0"/>
          </a:p>
        </p:txBody>
      </p:sp>
      <p:pic>
        <p:nvPicPr>
          <p:cNvPr id="26" name="Image 2" descr="FiTarget"/>
          <p:cNvPicPr>
            <a:picLocks noChangeAspect="1"/>
          </p:cNvPicPr>
          <p:nvPr/>
        </p:nvPicPr>
        <p:blipFill>
          <a:blip r:embed="rId5"/>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Il contesto giusto conta più della quantità</a:t>
            </a:r>
            <a:endParaRPr lang="it-IT" sz="1300" noProof="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Informazioni nel mezzo di testi lunghi possono essere trascurate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51</a:t>
            </a:fld>
            <a:endParaRPr lang="it-IT" noProof="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Contesto temporaneo e memoria persistente</a:t>
            </a:r>
            <a:endParaRPr lang="it-IT" sz="2600" noProof="0" dirty="0"/>
          </a:p>
        </p:txBody>
      </p:sp>
      <p:graphicFrame>
        <p:nvGraphicFramePr>
          <p:cNvPr id="46" name="Table 0"/>
          <p:cNvGraphicFramePr>
            <a:graphicFrameLocks noGrp="1"/>
          </p:cNvGraphicFramePr>
          <p:nvPr/>
        </p:nvGraphicFramePr>
        <p:xfrm>
          <a:off x="457200" y="1097280"/>
          <a:ext cx="822960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02920">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Contesto temporaneo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Memoria persistente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02920">
                <a:tc>
                  <a:txBody>
                    <a:bodyPr/>
                    <a:lstStyle/>
                    <a:p>
                      <a:pPr marL="0" indent="0">
                        <a:buNone/>
                      </a:pPr>
                      <a:r>
                        <a:rPr lang="it-IT" sz="1300" b="1" noProof="0" dirty="0">
                          <a:solidFill>
                            <a:schemeClr val="tx1"/>
                          </a:solidFill>
                        </a:rPr>
                        <a:t>Che cos'è</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Ciò che è nella finestra di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Informazioni salvate dall'applicazione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02920">
                <a:tc>
                  <a:txBody>
                    <a:bodyPr/>
                    <a:lstStyle/>
                    <a:p>
                      <a:pPr marL="0" indent="0">
                        <a:buNone/>
                      </a:pPr>
                      <a:r>
                        <a:rPr lang="it-IT" sz="1300" b="1" noProof="0" dirty="0">
                          <a:solidFill>
                            <a:schemeClr val="tx1"/>
                          </a:solidFill>
                        </a:rPr>
                        <a:t>Durata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Una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Tra più conversazioni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02920">
                <a:tc>
                  <a:txBody>
                    <a:bodyPr/>
                    <a:lstStyle/>
                    <a:p>
                      <a:pPr marL="0" indent="0">
                        <a:buNone/>
                      </a:pPr>
                      <a:r>
                        <a:rPr lang="it-IT" sz="1300" b="1" noProof="0" dirty="0">
                          <a:solidFill>
                            <a:schemeClr val="tx1"/>
                          </a:solidFill>
                        </a:rPr>
                        <a:t>Chi la gestisce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Meccanismo di base del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Funzione specifica di alcune applicazioni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02920">
                <a:tc>
                  <a:txBody>
                    <a:bodyPr/>
                    <a:lstStyle/>
                    <a:p>
                      <a:pPr marL="0" indent="0">
                        <a:buNone/>
                      </a:pPr>
                      <a:r>
                        <a:rPr lang="it-IT" sz="1300" b="1" noProof="0" dirty="0">
                          <a:solidFill>
                            <a:schemeClr val="tx1"/>
                          </a:solidFill>
                        </a:rPr>
                        <a:t>Esempio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documento allegato a questa chat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"Lavoro nell'ufficio acquisti" ricordato in futuro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02920">
                <a:tc>
                  <a:txBody>
                    <a:bodyPr/>
                    <a:lstStyle/>
                    <a:p>
                      <a:pPr marL="0" indent="0">
                        <a:buNone/>
                      </a:pPr>
                      <a:r>
                        <a:rPr lang="it-IT" sz="1300" b="1" noProof="0" dirty="0">
                          <a:solidFill>
                            <a:schemeClr val="tx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 viene reinserita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In azienda: sapere che cosa viene memorizzato, dove e per quanto tempo.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52</a:t>
            </a:fld>
            <a:endParaRPr lang="it-IT"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modello e l'applicazione</a:t>
            </a:r>
            <a:endParaRPr lang="it-IT" sz="2600" noProof="0" dirty="0"/>
          </a:p>
        </p:txBody>
      </p:sp>
      <p:sp>
        <p:nvSpPr>
          <p:cNvPr id="4" name="applicazione"/>
          <p:cNvSpPr/>
          <p:nvPr/>
        </p:nvSpPr>
        <p:spPr>
          <a:xfrm>
            <a:off x="457200" y="1097280"/>
            <a:ext cx="54864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188720"/>
            <a:ext cx="5120640" cy="320040"/>
          </a:xfrm>
          <a:prstGeom prst="rect">
            <a:avLst/>
          </a:prstGeom>
          <a:noFill/>
          <a:ln/>
        </p:spPr>
        <p:txBody>
          <a:bodyPr wrap="square" lIns="0" tIns="0" rIns="0" bIns="0" rtlCol="0" anchor="t"/>
          <a:lstStyle/>
          <a:p>
            <a:pPr marL="0" indent="0">
              <a:buNone/>
            </a:pPr>
            <a:r>
              <a:rPr lang="it-IT" sz="1500" b="1" noProof="0" dirty="0">
                <a:solidFill>
                  <a:schemeClr val="tx1"/>
                </a:solidFill>
              </a:rPr>
              <a:t>Applicazione</a:t>
            </a:r>
            <a:endParaRPr lang="it-IT" sz="1500" noProof="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txBody>
          <a:bodyPr/>
          <a:lstStyle/>
          <a:p>
            <a:endParaRPr lang="it-IT" noProof="0" dirty="0"/>
          </a:p>
        </p:txBody>
      </p:sp>
      <p:sp>
        <p:nvSpPr>
          <p:cNvPr id="7" name="Text 4"/>
          <p:cNvSpPr txBox="1"/>
          <p:nvPr/>
        </p:nvSpPr>
        <p:spPr>
          <a:xfrm>
            <a:off x="2331720" y="2240280"/>
            <a:ext cx="1737360" cy="1188720"/>
          </a:xfrm>
          <a:prstGeom prst="rect">
            <a:avLst/>
          </a:prstGeom>
          <a:noFill/>
          <a:ln/>
        </p:spPr>
        <p:txBody>
          <a:bodyPr wrap="square" lIns="0" tIns="0" rIns="0" bIns="0" rtlCol="0" anchor="ctr"/>
          <a:lstStyle/>
          <a:p>
            <a:pPr marL="0" indent="0" algn="ctr">
              <a:buNone/>
            </a:pPr>
            <a:r>
              <a:rPr lang="it-IT" sz="1700" b="1" noProof="0" dirty="0">
                <a:solidFill>
                  <a:schemeClr val="bg1"/>
                </a:solidFill>
              </a:rPr>
              <a:t>Modello</a:t>
            </a:r>
            <a:endParaRPr lang="it-IT" sz="1700" noProof="0" dirty="0"/>
          </a:p>
        </p:txBody>
      </p:sp>
      <p:sp>
        <p:nvSpPr>
          <p:cNvPr id="8" name="cerchio FiSettings"/>
          <p:cNvSpPr/>
          <p:nvPr/>
        </p:nvSpPr>
        <p:spPr>
          <a:xfrm>
            <a:off x="640080" y="1737360"/>
            <a:ext cx="384048" cy="384048"/>
          </a:xfrm>
          <a:prstGeom prst="ellipse">
            <a:avLst/>
          </a:prstGeom>
          <a:solidFill>
            <a:schemeClr val="accent1"/>
          </a:solidFill>
          <a:ln/>
        </p:spPr>
        <p:txBody>
          <a:bodyPr/>
          <a:lstStyle/>
          <a:p>
            <a:endParaRPr lang="it-IT" noProof="0" dirty="0"/>
          </a:p>
        </p:txBody>
      </p:sp>
      <p:pic>
        <p:nvPicPr>
          <p:cNvPr id="9" name="Image 0" descr="FiSettings"/>
          <p:cNvPicPr>
            <a:picLocks noChangeAspect="1"/>
          </p:cNvPicPr>
          <p:nvPr/>
        </p:nvPicPr>
        <p:blipFill>
          <a:blip r:embed="rId3"/>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Istruzioni di sistema</a:t>
            </a:r>
            <a:endParaRPr lang="it-IT" sz="1200" noProof="0" dirty="0"/>
          </a:p>
        </p:txBody>
      </p:sp>
      <p:sp>
        <p:nvSpPr>
          <p:cNvPr id="11" name="cerchio FiGlobe"/>
          <p:cNvSpPr/>
          <p:nvPr/>
        </p:nvSpPr>
        <p:spPr>
          <a:xfrm>
            <a:off x="640080" y="2606040"/>
            <a:ext cx="384048" cy="384048"/>
          </a:xfrm>
          <a:prstGeom prst="ellipse">
            <a:avLst/>
          </a:prstGeom>
          <a:solidFill>
            <a:schemeClr val="accent1"/>
          </a:solidFill>
          <a:ln/>
        </p:spPr>
        <p:txBody>
          <a:bodyPr/>
          <a:lstStyle/>
          <a:p>
            <a:endParaRPr lang="it-IT" noProof="0" dirty="0"/>
          </a:p>
        </p:txBody>
      </p:sp>
      <p:pic>
        <p:nvPicPr>
          <p:cNvPr id="12" name="Image 1" descr="FiGlobe"/>
          <p:cNvPicPr>
            <a:picLocks noChangeAspect="1"/>
          </p:cNvPicPr>
          <p:nvPr/>
        </p:nvPicPr>
        <p:blipFill>
          <a:blip r:embed="rId4"/>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Ricerca sul web</a:t>
            </a:r>
            <a:endParaRPr lang="it-IT" sz="1200" noProof="0" dirty="0"/>
          </a:p>
        </p:txBody>
      </p:sp>
      <p:sp>
        <p:nvSpPr>
          <p:cNvPr id="14" name="cerchio FiPaperclip"/>
          <p:cNvSpPr/>
          <p:nvPr/>
        </p:nvSpPr>
        <p:spPr>
          <a:xfrm>
            <a:off x="640080" y="3474720"/>
            <a:ext cx="384048" cy="384048"/>
          </a:xfrm>
          <a:prstGeom prst="ellipse">
            <a:avLst/>
          </a:prstGeom>
          <a:solidFill>
            <a:schemeClr val="accent1"/>
          </a:solidFill>
          <a:ln/>
        </p:spPr>
        <p:txBody>
          <a:bodyPr/>
          <a:lstStyle/>
          <a:p>
            <a:endParaRPr lang="it-IT" noProof="0" dirty="0"/>
          </a:p>
        </p:txBody>
      </p:sp>
      <p:pic>
        <p:nvPicPr>
          <p:cNvPr id="15" name="Image 2" descr="FiPaperclip"/>
          <p:cNvPicPr>
            <a:picLocks noChangeAspect="1"/>
          </p:cNvPicPr>
          <p:nvPr/>
        </p:nvPicPr>
        <p:blipFill>
          <a:blip r:embed="rId5"/>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Caricamento di file</a:t>
            </a:r>
            <a:endParaRPr lang="it-IT" sz="1200" noProof="0" dirty="0"/>
          </a:p>
        </p:txBody>
      </p:sp>
      <p:sp>
        <p:nvSpPr>
          <p:cNvPr id="17" name="cerchio FiLink"/>
          <p:cNvSpPr/>
          <p:nvPr/>
        </p:nvSpPr>
        <p:spPr>
          <a:xfrm>
            <a:off x="4251960" y="1737360"/>
            <a:ext cx="384048" cy="384048"/>
          </a:xfrm>
          <a:prstGeom prst="ellipse">
            <a:avLst/>
          </a:prstGeom>
          <a:solidFill>
            <a:schemeClr val="accent1"/>
          </a:solidFill>
          <a:ln/>
        </p:spPr>
        <p:txBody>
          <a:bodyPr/>
          <a:lstStyle/>
          <a:p>
            <a:endParaRPr lang="it-IT" noProof="0" dirty="0"/>
          </a:p>
        </p:txBody>
      </p:sp>
      <p:pic>
        <p:nvPicPr>
          <p:cNvPr id="18" name="Image 3" descr="FiLink"/>
          <p:cNvPicPr>
            <a:picLocks noChangeAspect="1"/>
          </p:cNvPicPr>
          <p:nvPr/>
        </p:nvPicPr>
        <p:blipFill>
          <a:blip r:embed="rId6"/>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Collegamenti a strumenti</a:t>
            </a:r>
            <a:endParaRPr lang="it-IT" sz="1200" noProof="0" dirty="0"/>
          </a:p>
        </p:txBody>
      </p:sp>
      <p:sp>
        <p:nvSpPr>
          <p:cNvPr id="20" name="cerchio FiSave"/>
          <p:cNvSpPr/>
          <p:nvPr/>
        </p:nvSpPr>
        <p:spPr>
          <a:xfrm>
            <a:off x="4251960" y="2606040"/>
            <a:ext cx="384048" cy="384048"/>
          </a:xfrm>
          <a:prstGeom prst="ellipse">
            <a:avLst/>
          </a:prstGeom>
          <a:solidFill>
            <a:schemeClr val="accent1"/>
          </a:solidFill>
          <a:ln/>
        </p:spPr>
        <p:txBody>
          <a:bodyPr/>
          <a:lstStyle/>
          <a:p>
            <a:endParaRPr lang="it-IT" noProof="0" dirty="0"/>
          </a:p>
        </p:txBody>
      </p:sp>
      <p:pic>
        <p:nvPicPr>
          <p:cNvPr id="21" name="Image 4" descr="FiSave"/>
          <p:cNvPicPr>
            <a:picLocks noChangeAspect="1"/>
          </p:cNvPicPr>
          <p:nvPr/>
        </p:nvPicPr>
        <p:blipFill>
          <a:blip r:embed="rId7"/>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Memoria</a:t>
            </a:r>
            <a:endParaRPr lang="it-IT" sz="1200" noProof="0" dirty="0"/>
          </a:p>
        </p:txBody>
      </p:sp>
      <p:sp>
        <p:nvSpPr>
          <p:cNvPr id="23" name="cerchio FiShield"/>
          <p:cNvSpPr/>
          <p:nvPr/>
        </p:nvSpPr>
        <p:spPr>
          <a:xfrm>
            <a:off x="4251960" y="3474720"/>
            <a:ext cx="384048" cy="384048"/>
          </a:xfrm>
          <a:prstGeom prst="ellipse">
            <a:avLst/>
          </a:prstGeom>
          <a:solidFill>
            <a:schemeClr val="accent1"/>
          </a:solidFill>
          <a:ln/>
        </p:spPr>
        <p:txBody>
          <a:bodyPr/>
          <a:lstStyle/>
          <a:p>
            <a:endParaRPr lang="it-IT" noProof="0" dirty="0"/>
          </a:p>
        </p:txBody>
      </p:sp>
      <p:pic>
        <p:nvPicPr>
          <p:cNvPr id="24" name="Image 5" descr="FiShield"/>
          <p:cNvPicPr>
            <a:picLocks noChangeAspect="1"/>
          </p:cNvPicPr>
          <p:nvPr/>
        </p:nvPicPr>
        <p:blipFill>
          <a:blip r:embed="rId8"/>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Filtri e regole sui dati</a:t>
            </a:r>
            <a:endParaRPr lang="it-IT" sz="1200" noProof="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marL="0" indent="0">
              <a:buNone/>
            </a:pPr>
            <a:r>
              <a:rPr lang="it-IT" sz="1000" i="1" noProof="0" dirty="0">
                <a:solidFill>
                  <a:schemeClr val="accent2"/>
                </a:solidFill>
              </a:rPr>
              <a:t>Più interfaccia, ovviamente</a:t>
            </a:r>
            <a:endParaRPr lang="it-IT" sz="1000" noProof="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txBody>
          <a:bodyPr/>
          <a:lstStyle/>
          <a:p>
            <a:endParaRPr lang="it-IT" noProof="0" dirty="0"/>
          </a:p>
        </p:txBody>
      </p:sp>
      <p:sp>
        <p:nvSpPr>
          <p:cNvPr id="28" name="Text 19"/>
          <p:cNvSpPr txBox="1"/>
          <p:nvPr/>
        </p:nvSpPr>
        <p:spPr>
          <a:xfrm>
            <a:off x="6400800" y="128016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Lo stesso modello</a:t>
            </a:r>
            <a:endParaRPr lang="it-IT" sz="1400" noProof="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marL="0" indent="0">
              <a:buNone/>
            </a:pPr>
            <a:r>
              <a:rPr lang="it-IT" sz="1200" noProof="0" dirty="0">
                <a:solidFill>
                  <a:schemeClr val="tx2"/>
                </a:solidFill>
              </a:rPr>
              <a:t>può comportarsi in modo diverso in prodotti diversi.</a:t>
            </a:r>
            <a:endParaRPr lang="it-IT" sz="1200" noProof="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txBody>
          <a:bodyPr/>
          <a:lstStyle/>
          <a:p>
            <a:endParaRPr lang="it-IT" noProof="0" dirty="0"/>
          </a:p>
        </p:txBody>
      </p:sp>
      <p:sp>
        <p:nvSpPr>
          <p:cNvPr id="31" name="Text 22"/>
          <p:cNvSpPr txBox="1"/>
          <p:nvPr/>
        </p:nvSpPr>
        <p:spPr>
          <a:xfrm>
            <a:off x="6400800" y="306324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Fonti aggiornate</a:t>
            </a:r>
            <a:endParaRPr lang="it-IT" sz="1400" noProof="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marL="0" indent="0">
              <a:buNone/>
            </a:pPr>
            <a:r>
              <a:rPr lang="it-IT" sz="1200" noProof="0" dirty="0">
                <a:solidFill>
                  <a:schemeClr val="tx2"/>
                </a:solidFill>
              </a:rPr>
              <a:t>dipendono da una funzione di ricerca dell'applicazione, non dal modello in sé.</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53</a:t>
            </a:fld>
            <a:endParaRPr lang="it-IT"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2.6</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Conoscenza e fonti informative</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Fornire un documento o collegare una fonte non significa necessariamente riaddestrare il modello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54</a:t>
            </a:fld>
            <a:endParaRPr lang="it-IT"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fonti di informazione</a:t>
            </a:r>
            <a:endParaRPr lang="it-IT" sz="2600" noProof="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txBody>
          <a:bodyPr/>
          <a:lstStyle/>
          <a:p>
            <a:endParaRPr lang="it-IT" noProof="0" dirty="0"/>
          </a:p>
        </p:txBody>
      </p:sp>
      <p:sp>
        <p:nvSpPr>
          <p:cNvPr id="5" name="cerchio FiDatabas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Databas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Addestramento</a:t>
            </a:r>
            <a:endParaRPr lang="it-IT" sz="1600" noProof="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Appresa dai testi di addestramento e incorporata nei parametri</a:t>
            </a:r>
            <a:endParaRPr lang="it-IT" sz="1300" noProof="0" dirty="0"/>
          </a:p>
          <a:p>
            <a:pPr marL="177800" indent="-177800">
              <a:spcAft>
                <a:spcPts val="300"/>
              </a:spcAft>
              <a:buSzPct val="100000"/>
              <a:buChar char="•"/>
            </a:pPr>
            <a:r>
              <a:rPr lang="it-IT" sz="1300" noProof="0" dirty="0">
                <a:solidFill>
                  <a:schemeClr val="tx2"/>
                </a:solidFill>
              </a:rPr>
              <a:t>Ampia e generale</a:t>
            </a:r>
            <a:endParaRPr lang="it-IT" sz="1300" noProof="0" dirty="0"/>
          </a:p>
          <a:p>
            <a:pPr marL="177800" indent="-177800">
              <a:spcAft>
                <a:spcPts val="300"/>
              </a:spcAft>
              <a:buSzPct val="100000"/>
              <a:buChar char="•"/>
            </a:pPr>
            <a:r>
              <a:rPr lang="it-IT" sz="1300" noProof="0" dirty="0">
                <a:solidFill>
                  <a:schemeClr val="tx2"/>
                </a:solidFill>
              </a:rPr>
              <a:t>Ferma a una certa data</a:t>
            </a:r>
            <a:endParaRPr lang="it-IT" sz="1300" noProof="0" dirty="0"/>
          </a:p>
          <a:p>
            <a:pPr marL="177800" indent="-177800">
              <a:spcAft>
                <a:spcPts val="300"/>
              </a:spcAft>
              <a:buSzPct val="100000"/>
              <a:buChar char="•"/>
            </a:pPr>
            <a:r>
              <a:rPr lang="it-IT" sz="1300" noProof="0" dirty="0">
                <a:solidFill>
                  <a:schemeClr val="tx2"/>
                </a:solidFill>
              </a:rPr>
              <a:t>Non verificabile direttamente</a:t>
            </a:r>
            <a:endParaRPr lang="it-IT" sz="1300" noProof="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txBody>
          <a:bodyPr/>
          <a:lstStyle/>
          <a:p>
            <a:endParaRPr lang="it-IT" noProof="0" dirty="0"/>
          </a:p>
        </p:txBody>
      </p:sp>
      <p:sp>
        <p:nvSpPr>
          <p:cNvPr id="10" name="cerchio FiPaperclip"/>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Paperclip"/>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Interazione</a:t>
            </a:r>
            <a:endParaRPr lang="it-IT" sz="1600" noProof="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Fornita da noi durante la conversazione</a:t>
            </a:r>
            <a:endParaRPr lang="it-IT" sz="1300" noProof="0" dirty="0"/>
          </a:p>
          <a:p>
            <a:pPr marL="177800" indent="-177800">
              <a:spcAft>
                <a:spcPts val="300"/>
              </a:spcAft>
              <a:buSzPct val="100000"/>
              <a:buChar char="•"/>
            </a:pPr>
            <a:r>
              <a:rPr lang="it-IT" sz="1300" noProof="0" dirty="0">
                <a:solidFill>
                  <a:schemeClr val="tx2"/>
                </a:solidFill>
              </a:rPr>
              <a:t>Istruzioni, testi, documenti</a:t>
            </a:r>
            <a:endParaRPr lang="it-IT" sz="1300" noProof="0" dirty="0"/>
          </a:p>
          <a:p>
            <a:pPr marL="177800" indent="-177800">
              <a:spcAft>
                <a:spcPts val="300"/>
              </a:spcAft>
              <a:buSzPct val="100000"/>
              <a:buChar char="•"/>
            </a:pPr>
            <a:r>
              <a:rPr lang="it-IT" sz="1300" noProof="0" dirty="0">
                <a:solidFill>
                  <a:schemeClr val="tx2"/>
                </a:solidFill>
              </a:rPr>
              <a:t>Specifica e controllabile</a:t>
            </a:r>
            <a:endParaRPr lang="it-IT" sz="1300" noProof="0" dirty="0"/>
          </a:p>
          <a:p>
            <a:pPr marL="177800" indent="-177800">
              <a:spcAft>
                <a:spcPts val="300"/>
              </a:spcAft>
              <a:buSzPct val="100000"/>
              <a:buChar char="•"/>
            </a:pPr>
            <a:r>
              <a:rPr lang="it-IT" sz="1300" noProof="0" dirty="0">
                <a:solidFill>
                  <a:schemeClr val="tx2"/>
                </a:solidFill>
              </a:rPr>
              <a:t>Vale nel contesto temporaneo</a:t>
            </a:r>
            <a:endParaRPr lang="it-IT" sz="1300" noProof="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txBody>
          <a:bodyPr/>
          <a:lstStyle/>
          <a:p>
            <a:endParaRPr lang="it-IT" noProof="0" dirty="0"/>
          </a:p>
        </p:txBody>
      </p:sp>
      <p:sp>
        <p:nvSpPr>
          <p:cNvPr id="15" name="cerchio FiGlobe"/>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Globe"/>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Fonti esterne</a:t>
            </a:r>
            <a:endParaRPr lang="it-IT" sz="1600" noProof="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Recuperata dall'applicazione al momento della richiesta</a:t>
            </a:r>
            <a:endParaRPr lang="it-IT" sz="1300" noProof="0" dirty="0"/>
          </a:p>
          <a:p>
            <a:pPr marL="177800" indent="-177800">
              <a:spcAft>
                <a:spcPts val="300"/>
              </a:spcAft>
              <a:buSzPct val="100000"/>
              <a:buChar char="•"/>
            </a:pPr>
            <a:r>
              <a:rPr lang="it-IT" sz="1300" noProof="0" dirty="0">
                <a:solidFill>
                  <a:schemeClr val="tx2"/>
                </a:solidFill>
              </a:rPr>
              <a:t>Web, basi documentali, database</a:t>
            </a:r>
            <a:endParaRPr lang="it-IT" sz="1300" noProof="0" dirty="0"/>
          </a:p>
          <a:p>
            <a:pPr marL="177800" indent="-177800">
              <a:spcAft>
                <a:spcPts val="300"/>
              </a:spcAft>
              <a:buSzPct val="100000"/>
              <a:buChar char="•"/>
            </a:pPr>
            <a:r>
              <a:rPr lang="it-IT" sz="1300" noProof="0" dirty="0">
                <a:solidFill>
                  <a:schemeClr val="tx2"/>
                </a:solidFill>
              </a:rPr>
              <a:t>Aggiornata o riservata</a:t>
            </a:r>
            <a:endParaRPr lang="it-IT" sz="1300" noProof="0" dirty="0"/>
          </a:p>
          <a:p>
            <a:pPr marL="177800" indent="-177800">
              <a:spcAft>
                <a:spcPts val="300"/>
              </a:spcAft>
              <a:buSzPct val="100000"/>
              <a:buChar char="•"/>
            </a:pPr>
            <a:r>
              <a:rPr lang="it-IT" sz="1300" noProof="0" dirty="0">
                <a:solidFill>
                  <a:schemeClr val="tx2"/>
                </a:solidFill>
              </a:rPr>
              <a:t>Dipende dalla qualità della fonte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55</a:t>
            </a:fld>
            <a:endParaRPr lang="it-IT" noProof="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Aggiornamento dei dati e limiti temporali</a:t>
            </a:r>
            <a:endParaRPr lang="it-IT" sz="2600" noProof="0" dirty="0"/>
          </a:p>
        </p:txBody>
      </p:sp>
      <p:sp>
        <p:nvSpPr>
          <p:cNvPr id="4" name="periodo addestramento"/>
          <p:cNvSpPr/>
          <p:nvPr/>
        </p:nvSpPr>
        <p:spPr>
          <a:xfrm>
            <a:off x="457200" y="1600200"/>
            <a:ext cx="4754880" cy="640080"/>
          </a:xfrm>
          <a:prstGeom prst="rect">
            <a:avLst/>
          </a:prstGeom>
          <a:solidFill>
            <a:schemeClr val="accent1"/>
          </a:solidFill>
          <a:ln/>
        </p:spPr>
        <p:txBody>
          <a:bodyPr/>
          <a:lstStyle/>
          <a:p>
            <a:endParaRPr lang="it-IT" noProof="0" dirty="0"/>
          </a:p>
        </p:txBody>
      </p:sp>
      <p:sp>
        <p:nvSpPr>
          <p:cNvPr id="5" name="Text 2"/>
          <p:cNvSpPr txBox="1"/>
          <p:nvPr/>
        </p:nvSpPr>
        <p:spPr>
          <a:xfrm>
            <a:off x="548640" y="1600200"/>
            <a:ext cx="4572000" cy="640080"/>
          </a:xfrm>
          <a:prstGeom prst="rect">
            <a:avLst/>
          </a:prstGeom>
          <a:noFill/>
          <a:ln/>
        </p:spPr>
        <p:txBody>
          <a:bodyPr wrap="square" lIns="0" tIns="0" rIns="0" bIns="0" rtlCol="0" anchor="ctr"/>
          <a:lstStyle/>
          <a:p>
            <a:pPr marL="0" indent="0">
              <a:buNone/>
            </a:pPr>
            <a:r>
              <a:rPr lang="it-IT" sz="1500" b="1" noProof="0" dirty="0">
                <a:solidFill>
                  <a:schemeClr val="bg1"/>
                </a:solidFill>
              </a:rPr>
              <a:t>Dati di addestramento</a:t>
            </a:r>
            <a:endParaRPr lang="it-IT" sz="1500" noProof="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txBody>
          <a:bodyPr/>
          <a:lstStyle/>
          <a:p>
            <a:endParaRPr lang="it-IT" noProof="0" dirty="0"/>
          </a:p>
        </p:txBody>
      </p:sp>
      <p:sp>
        <p:nvSpPr>
          <p:cNvPr id="7" name="Text 4"/>
          <p:cNvSpPr txBox="1"/>
          <p:nvPr/>
        </p:nvSpPr>
        <p:spPr>
          <a:xfrm>
            <a:off x="5303520" y="1600200"/>
            <a:ext cx="3291840" cy="640080"/>
          </a:xfrm>
          <a:prstGeom prst="rect">
            <a:avLst/>
          </a:prstGeom>
          <a:noFill/>
          <a:ln/>
        </p:spPr>
        <p:txBody>
          <a:bodyPr wrap="square" lIns="0" tIns="0" rIns="0" bIns="0" rtlCol="0" anchor="ctr"/>
          <a:lstStyle/>
          <a:p>
            <a:pPr marL="0" indent="0">
              <a:buNone/>
            </a:pPr>
            <a:r>
              <a:rPr lang="it-IT" sz="1300" b="1" noProof="0" dirty="0">
                <a:solidFill>
                  <a:schemeClr val="tx2"/>
                </a:solidFill>
              </a:rPr>
              <a:t>Eventi successivi: sconosciuti al modello</a:t>
            </a:r>
            <a:endParaRPr lang="it-IT" sz="1300" noProof="0" dirty="0"/>
          </a:p>
        </p:txBody>
      </p:sp>
      <p:sp>
        <p:nvSpPr>
          <p:cNvPr id="8" name="cutoff"/>
          <p:cNvSpPr/>
          <p:nvPr/>
        </p:nvSpPr>
        <p:spPr>
          <a:xfrm>
            <a:off x="5212080" y="1325880"/>
            <a:ext cx="0" cy="1188720"/>
          </a:xfrm>
          <a:prstGeom prst="line">
            <a:avLst/>
          </a:prstGeom>
          <a:noFill/>
          <a:ln w="31750">
            <a:solidFill>
              <a:schemeClr val="accent5"/>
            </a:solidFill>
            <a:prstDash val="solid"/>
          </a:ln>
        </p:spPr>
        <p:txBody>
          <a:bodyPr/>
          <a:lstStyle/>
          <a:p>
            <a:endParaRPr lang="it-IT" noProof="0" dirty="0"/>
          </a:p>
        </p:txBody>
      </p:sp>
      <p:sp>
        <p:nvSpPr>
          <p:cNvPr id="9" name="Text 6"/>
          <p:cNvSpPr txBox="1"/>
          <p:nvPr/>
        </p:nvSpPr>
        <p:spPr>
          <a:xfrm>
            <a:off x="4297680" y="2560320"/>
            <a:ext cx="1828800" cy="274320"/>
          </a:xfrm>
          <a:prstGeom prst="rect">
            <a:avLst/>
          </a:prstGeom>
          <a:noFill/>
          <a:ln/>
        </p:spPr>
        <p:txBody>
          <a:bodyPr wrap="square" lIns="0" tIns="0" rIns="0" bIns="0" rtlCol="0" anchor="t"/>
          <a:lstStyle/>
          <a:p>
            <a:pPr marL="0" indent="0" algn="ctr">
              <a:buNone/>
            </a:pPr>
            <a:r>
              <a:rPr lang="it-IT" sz="1200" b="1" noProof="0" dirty="0">
                <a:solidFill>
                  <a:schemeClr val="accent5"/>
                </a:solidFill>
              </a:rPr>
              <a:t>Data limite (cutoff)</a:t>
            </a:r>
            <a:endParaRPr lang="it-IT" sz="1200" noProof="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marL="0" indent="0" algn="r">
              <a:buNone/>
            </a:pPr>
            <a:r>
              <a:rPr lang="it-IT" sz="1200" b="1" noProof="0" dirty="0">
                <a:solidFill>
                  <a:schemeClr val="tx1"/>
                </a:solidFill>
              </a:rPr>
              <a:t>Oggi</a:t>
            </a:r>
            <a:endParaRPr lang="it-IT" sz="1200" noProof="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marL="0" indent="0">
              <a:buNone/>
            </a:pPr>
            <a:r>
              <a:rPr lang="it-IT" sz="1300" b="1" noProof="0" dirty="0">
                <a:solidFill>
                  <a:schemeClr val="tx1"/>
                </a:solidFill>
              </a:rPr>
              <a:t>Informazioni a rischio di essere superate</a:t>
            </a:r>
            <a:endParaRPr lang="it-IT" sz="1300" noProof="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3" name="Text 10"/>
          <p:cNvSpPr txBox="1"/>
          <p:nvPr/>
        </p:nvSpPr>
        <p:spPr>
          <a:xfrm>
            <a:off x="50292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Normative recenti</a:t>
            </a:r>
            <a:endParaRPr lang="it-IT" sz="1200" noProof="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5" name="Text 12"/>
          <p:cNvSpPr txBox="1"/>
          <p:nvPr/>
        </p:nvSpPr>
        <p:spPr>
          <a:xfrm>
            <a:off x="214884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Prezzi e listini</a:t>
            </a:r>
            <a:endParaRPr lang="it-IT" sz="1200" noProof="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7" name="Text 14"/>
          <p:cNvSpPr txBox="1"/>
          <p:nvPr/>
        </p:nvSpPr>
        <p:spPr>
          <a:xfrm>
            <a:off x="379476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Organigrammi</a:t>
            </a:r>
            <a:endParaRPr lang="it-IT" sz="1200" noProof="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9" name="Text 16"/>
          <p:cNvSpPr txBox="1"/>
          <p:nvPr/>
        </p:nvSpPr>
        <p:spPr>
          <a:xfrm>
            <a:off x="544068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Versioni software</a:t>
            </a:r>
            <a:endParaRPr lang="it-IT" sz="1200" noProof="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21" name="Text 18"/>
          <p:cNvSpPr txBox="1"/>
          <p:nvPr/>
        </p:nvSpPr>
        <p:spPr>
          <a:xfrm>
            <a:off x="708660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Notizie e attualità</a:t>
            </a:r>
            <a:endParaRPr lang="it-IT" sz="1200" noProof="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noProof="0" dirty="0">
                <a:solidFill>
                  <a:schemeClr val="tx1"/>
                </a:solidFill>
              </a:rPr>
              <a:t>Il modello non sempre segnala di non essere aggiornato: usare la ricerca o documenti recenti e verificare.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56</a:t>
            </a:fld>
            <a:endParaRPr lang="it-IT" noProof="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Grounding: ancorare le risposte alle fonti</a:t>
            </a:r>
            <a:endParaRPr lang="it-IT" sz="2600" noProof="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txBody>
          <a:bodyPr/>
          <a:lstStyle/>
          <a:p>
            <a:endParaRPr lang="it-IT" noProof="0" dirty="0"/>
          </a:p>
        </p:txBody>
      </p:sp>
      <p:sp>
        <p:nvSpPr>
          <p:cNvPr id="5" name="cerchio FiFileText"/>
          <p:cNvSpPr/>
          <p:nvPr/>
        </p:nvSpPr>
        <p:spPr>
          <a:xfrm>
            <a:off x="594360" y="1261872"/>
            <a:ext cx="420624" cy="420624"/>
          </a:xfrm>
          <a:prstGeom prst="ellipse">
            <a:avLst/>
          </a:prstGeom>
          <a:solidFill>
            <a:schemeClr val="accent1"/>
          </a:solidFill>
          <a:ln/>
        </p:spPr>
        <p:txBody>
          <a:bodyPr/>
          <a:lstStyle/>
          <a:p>
            <a:endParaRPr lang="it-IT" noProof="0" dirty="0"/>
          </a:p>
        </p:txBody>
      </p:sp>
      <p:pic>
        <p:nvPicPr>
          <p:cNvPr id="6" name="Image 0" descr="FiFileText"/>
          <p:cNvPicPr>
            <a:picLocks noChangeAspect="1"/>
          </p:cNvPicPr>
          <p:nvPr/>
        </p:nvPicPr>
        <p:blipFill>
          <a:blip r:embed="rId3"/>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Procedura acquisti</a:t>
            </a:r>
            <a:endParaRPr lang="it-IT" sz="1200" noProof="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txBody>
          <a:bodyPr/>
          <a:lstStyle/>
          <a:p>
            <a:endParaRPr lang="it-IT" noProof="0" dirty="0"/>
          </a:p>
        </p:txBody>
      </p:sp>
      <p:sp>
        <p:nvSpPr>
          <p:cNvPr id="9" name="Listino 2026"/>
          <p:cNvSpPr/>
          <p:nvPr/>
        </p:nvSpPr>
        <p:spPr>
          <a:xfrm>
            <a:off x="457200" y="1965960"/>
            <a:ext cx="2194560" cy="658368"/>
          </a:xfrm>
          <a:prstGeom prst="roundRect">
            <a:avLst>
              <a:gd name="adj" fmla="val 11111"/>
            </a:avLst>
          </a:prstGeom>
          <a:solidFill>
            <a:schemeClr val="bg2"/>
          </a:solidFill>
          <a:ln/>
        </p:spPr>
        <p:txBody>
          <a:bodyPr/>
          <a:lstStyle/>
          <a:p>
            <a:endParaRPr lang="it-IT" noProof="0" dirty="0"/>
          </a:p>
        </p:txBody>
      </p:sp>
      <p:sp>
        <p:nvSpPr>
          <p:cNvPr id="10" name="cerchio FiFileText"/>
          <p:cNvSpPr/>
          <p:nvPr/>
        </p:nvSpPr>
        <p:spPr>
          <a:xfrm>
            <a:off x="594360" y="2084832"/>
            <a:ext cx="420624" cy="420624"/>
          </a:xfrm>
          <a:prstGeom prst="ellipse">
            <a:avLst/>
          </a:prstGeom>
          <a:solidFill>
            <a:schemeClr val="accent1"/>
          </a:solidFill>
          <a:ln/>
        </p:spPr>
        <p:txBody>
          <a:bodyPr/>
          <a:lstStyle/>
          <a:p>
            <a:endParaRPr lang="it-IT" noProof="0" dirty="0"/>
          </a:p>
        </p:txBody>
      </p:sp>
      <p:pic>
        <p:nvPicPr>
          <p:cNvPr id="11" name="Image 1" descr="FiFileText"/>
          <p:cNvPicPr>
            <a:picLocks noChangeAspect="1"/>
          </p:cNvPicPr>
          <p:nvPr/>
        </p:nvPicPr>
        <p:blipFill>
          <a:blip r:embed="rId3"/>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Listino 2026</a:t>
            </a:r>
            <a:endParaRPr lang="it-IT" sz="1200" noProof="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txBody>
          <a:bodyPr/>
          <a:lstStyle/>
          <a:p>
            <a:endParaRPr lang="it-IT" noProof="0" dirty="0"/>
          </a:p>
        </p:txBody>
      </p:sp>
      <p:sp>
        <p:nvSpPr>
          <p:cNvPr id="14" name="Contratto quadro"/>
          <p:cNvSpPr/>
          <p:nvPr/>
        </p:nvSpPr>
        <p:spPr>
          <a:xfrm>
            <a:off x="457200" y="2788920"/>
            <a:ext cx="2194560" cy="658368"/>
          </a:xfrm>
          <a:prstGeom prst="roundRect">
            <a:avLst>
              <a:gd name="adj" fmla="val 11111"/>
            </a:avLst>
          </a:prstGeom>
          <a:solidFill>
            <a:schemeClr val="bg2"/>
          </a:solidFill>
          <a:ln/>
        </p:spPr>
        <p:txBody>
          <a:bodyPr/>
          <a:lstStyle/>
          <a:p>
            <a:endParaRPr lang="it-IT" noProof="0" dirty="0"/>
          </a:p>
        </p:txBody>
      </p:sp>
      <p:sp>
        <p:nvSpPr>
          <p:cNvPr id="15" name="cerchio FiFileText"/>
          <p:cNvSpPr/>
          <p:nvPr/>
        </p:nvSpPr>
        <p:spPr>
          <a:xfrm>
            <a:off x="594360" y="2907792"/>
            <a:ext cx="420624" cy="420624"/>
          </a:xfrm>
          <a:prstGeom prst="ellipse">
            <a:avLst/>
          </a:prstGeom>
          <a:solidFill>
            <a:schemeClr val="accent1"/>
          </a:solidFill>
          <a:ln/>
        </p:spPr>
        <p:txBody>
          <a:bodyPr/>
          <a:lstStyle/>
          <a:p>
            <a:endParaRPr lang="it-IT" noProof="0" dirty="0"/>
          </a:p>
        </p:txBody>
      </p:sp>
      <p:pic>
        <p:nvPicPr>
          <p:cNvPr id="16" name="Image 2" descr="FiFileText"/>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Contratto quadro</a:t>
            </a:r>
            <a:endParaRPr lang="it-IT" sz="1200" noProof="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txBody>
          <a:bodyPr/>
          <a:lstStyle/>
          <a:p>
            <a:endParaRPr lang="it-IT" noProof="0" dirty="0"/>
          </a:p>
        </p:txBody>
      </p:sp>
      <p:sp>
        <p:nvSpPr>
          <p:cNvPr id="19" name="risposta ancorata"/>
          <p:cNvSpPr/>
          <p:nvPr/>
        </p:nvSpPr>
        <p:spPr>
          <a:xfrm>
            <a:off x="3474720" y="1645920"/>
            <a:ext cx="1920240" cy="914400"/>
          </a:xfrm>
          <a:prstGeom prst="roundRect">
            <a:avLst>
              <a:gd name="adj" fmla="val 8000"/>
            </a:avLst>
          </a:prstGeom>
          <a:solidFill>
            <a:schemeClr val="accent1"/>
          </a:solidFill>
          <a:ln/>
        </p:spPr>
        <p:txBody>
          <a:bodyPr/>
          <a:lstStyle/>
          <a:p>
            <a:endParaRPr lang="it-IT" noProof="0" dirty="0"/>
          </a:p>
        </p:txBody>
      </p:sp>
      <p:sp>
        <p:nvSpPr>
          <p:cNvPr id="20" name="Text 14"/>
          <p:cNvSpPr txBox="1"/>
          <p:nvPr/>
        </p:nvSpPr>
        <p:spPr>
          <a:xfrm>
            <a:off x="3520440" y="1645920"/>
            <a:ext cx="1828800" cy="914400"/>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ancorata alle fonti</a:t>
            </a:r>
            <a:endParaRPr lang="it-IT" sz="1300" noProof="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marL="0" indent="0" algn="ctr">
              <a:buNone/>
            </a:pPr>
            <a:r>
              <a:rPr lang="it-IT" sz="1100" i="1" noProof="0" dirty="0">
                <a:solidFill>
                  <a:schemeClr val="tx2"/>
                </a:solidFill>
              </a:rPr>
              <a:t>con riferimenti verificabili [1] [2] [3]</a:t>
            </a:r>
            <a:endParaRPr lang="it-IT" sz="1100" noProof="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marL="0" indent="0">
              <a:buNone/>
            </a:pPr>
            <a:r>
              <a:rPr lang="it-IT" sz="1400" b="1" noProof="0" dirty="0">
                <a:solidFill>
                  <a:schemeClr val="tx1"/>
                </a:solidFill>
              </a:rPr>
              <a:t>Benefici</a:t>
            </a:r>
            <a:endParaRPr lang="it-IT" sz="1400" noProof="0" dirty="0"/>
          </a:p>
        </p:txBody>
      </p:sp>
      <p:sp>
        <p:nvSpPr>
          <p:cNvPr id="23" name="cerchio FiTarget"/>
          <p:cNvSpPr/>
          <p:nvPr/>
        </p:nvSpPr>
        <p:spPr>
          <a:xfrm>
            <a:off x="5760720" y="1463040"/>
            <a:ext cx="411480" cy="411480"/>
          </a:xfrm>
          <a:prstGeom prst="ellipse">
            <a:avLst/>
          </a:prstGeom>
          <a:solidFill>
            <a:schemeClr val="accent1"/>
          </a:solidFill>
          <a:ln/>
        </p:spPr>
        <p:txBody>
          <a:bodyPr/>
          <a:lstStyle/>
          <a:p>
            <a:endParaRPr lang="it-IT" noProof="0" dirty="0"/>
          </a:p>
        </p:txBody>
      </p:sp>
      <p:pic>
        <p:nvPicPr>
          <p:cNvPr id="24" name="Image 3" descr="FiTarget"/>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precise e pertinenti</a:t>
            </a:r>
            <a:endParaRPr lang="it-IT" sz="1300" noProof="0" dirty="0"/>
          </a:p>
        </p:txBody>
      </p:sp>
      <p:sp>
        <p:nvSpPr>
          <p:cNvPr id="26" name="cerchio FiClock"/>
          <p:cNvSpPr/>
          <p:nvPr/>
        </p:nvSpPr>
        <p:spPr>
          <a:xfrm>
            <a:off x="5760720" y="2057400"/>
            <a:ext cx="411480" cy="411480"/>
          </a:xfrm>
          <a:prstGeom prst="ellipse">
            <a:avLst/>
          </a:prstGeom>
          <a:solidFill>
            <a:schemeClr val="accent1"/>
          </a:solidFill>
          <a:ln/>
        </p:spPr>
        <p:txBody>
          <a:bodyPr/>
          <a:lstStyle/>
          <a:p>
            <a:endParaRPr lang="it-IT" noProof="0" dirty="0"/>
          </a:p>
        </p:txBody>
      </p:sp>
      <p:pic>
        <p:nvPicPr>
          <p:cNvPr id="27" name="Image 4" descr="FiClock"/>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aggiornate del modello</a:t>
            </a:r>
            <a:endParaRPr lang="it-IT" sz="1300" noProof="0" dirty="0"/>
          </a:p>
        </p:txBody>
      </p:sp>
      <p:sp>
        <p:nvSpPr>
          <p:cNvPr id="29" name="cerchio FiCheckSquare"/>
          <p:cNvSpPr/>
          <p:nvPr/>
        </p:nvSpPr>
        <p:spPr>
          <a:xfrm>
            <a:off x="5760720" y="2651760"/>
            <a:ext cx="411480" cy="411480"/>
          </a:xfrm>
          <a:prstGeom prst="ellipse">
            <a:avLst/>
          </a:prstGeom>
          <a:solidFill>
            <a:schemeClr val="accent1"/>
          </a:solidFill>
          <a:ln/>
        </p:spPr>
        <p:txBody>
          <a:bodyPr/>
          <a:lstStyle/>
          <a:p>
            <a:endParaRPr lang="it-IT" noProof="0" dirty="0"/>
          </a:p>
        </p:txBody>
      </p:sp>
      <p:pic>
        <p:nvPicPr>
          <p:cNvPr id="30" name="Image 5" descr="FiCheckSquare"/>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Verificabili tramite le fonti</a:t>
            </a:r>
            <a:endParaRPr lang="it-IT" sz="1300" noProof="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33" name="cerchio FiAlertTriangle"/>
          <p:cNvSpPr/>
          <p:nvPr/>
        </p:nvSpPr>
        <p:spPr>
          <a:xfrm>
            <a:off x="640080" y="3858768"/>
            <a:ext cx="512064" cy="512064"/>
          </a:xfrm>
          <a:prstGeom prst="ellipse">
            <a:avLst/>
          </a:prstGeom>
          <a:solidFill>
            <a:schemeClr val="accent5"/>
          </a:solidFill>
          <a:ln/>
        </p:spPr>
        <p:txBody>
          <a:bodyPr/>
          <a:lstStyle/>
          <a:p>
            <a:endParaRPr lang="it-IT" noProof="0" dirty="0"/>
          </a:p>
        </p:txBody>
      </p:sp>
      <p:pic>
        <p:nvPicPr>
          <p:cNvPr id="34" name="Image 6" descr="FiAlertTriangle"/>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marL="0" indent="0">
              <a:buNone/>
            </a:pPr>
            <a:r>
              <a:rPr lang="it-IT" sz="1300" noProof="0" dirty="0">
                <a:solidFill>
                  <a:schemeClr val="bg1"/>
                </a:solidFill>
              </a:rPr>
              <a:t>L'utilizzo di fonti pertinenti e verificabili può migliorare precisione, aggiornamento e tracciabilità delle risposte. La qualità delle fonti e la correttezza del loro utilizzo restano elementi da verificare.</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57</a:t>
            </a:fld>
            <a:endParaRPr lang="it-IT" noProof="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Introduzione alla </a:t>
            </a:r>
            <a:r>
              <a:rPr lang="it-IT" sz="2600" b="1" noProof="0" dirty="0" err="1">
                <a:solidFill>
                  <a:schemeClr val="tx1"/>
                </a:solidFill>
              </a:rPr>
              <a:t>Retrieval-Augmented</a:t>
            </a:r>
            <a:r>
              <a:rPr lang="it-IT" sz="2600" b="1" noProof="0" dirty="0">
                <a:solidFill>
                  <a:schemeClr val="tx1"/>
                </a:solidFill>
              </a:rPr>
              <a:t> Generation</a:t>
            </a:r>
            <a:endParaRPr lang="it-IT" sz="2600" noProof="0" dirty="0"/>
          </a:p>
        </p:txBody>
      </p:sp>
      <p:sp>
        <p:nvSpPr>
          <p:cNvPr id="4" name="Domanda"/>
          <p:cNvSpPr/>
          <p:nvPr/>
        </p:nvSpPr>
        <p:spPr>
          <a:xfrm>
            <a:off x="457200" y="1143000"/>
            <a:ext cx="1874520" cy="1783080"/>
          </a:xfrm>
          <a:prstGeom prst="roundRect">
            <a:avLst>
              <a:gd name="adj" fmla="val 4103"/>
            </a:avLst>
          </a:prstGeom>
          <a:solidFill>
            <a:schemeClr val="bg2"/>
          </a:solidFill>
          <a:ln/>
        </p:spPr>
        <p:txBody>
          <a:bodyPr/>
          <a:lstStyle/>
          <a:p>
            <a:endParaRPr lang="it-IT" noProof="0" dirty="0"/>
          </a:p>
        </p:txBody>
      </p:sp>
      <p:sp>
        <p:nvSpPr>
          <p:cNvPr id="5" name="cerchio FiHelpCircle"/>
          <p:cNvSpPr/>
          <p:nvPr/>
        </p:nvSpPr>
        <p:spPr>
          <a:xfrm>
            <a:off x="1115568" y="1280160"/>
            <a:ext cx="548640" cy="548640"/>
          </a:xfrm>
          <a:prstGeom prst="ellipse">
            <a:avLst/>
          </a:prstGeom>
          <a:solidFill>
            <a:schemeClr val="accent1"/>
          </a:solidFill>
          <a:ln/>
        </p:spPr>
        <p:txBody>
          <a:bodyPr/>
          <a:lstStyle/>
          <a:p>
            <a:endParaRPr lang="it-IT" noProof="0" dirty="0"/>
          </a:p>
        </p:txBody>
      </p:sp>
      <p:pic>
        <p:nvPicPr>
          <p:cNvPr id="6" name="Image 0" descr="FiHelpCircle"/>
          <p:cNvPicPr>
            <a:picLocks noChangeAspect="1"/>
          </p:cNvPicPr>
          <p:nvPr/>
        </p:nvPicPr>
        <p:blipFill>
          <a:blip r:embed="rId3"/>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1. Domanda</a:t>
            </a:r>
            <a:endParaRPr lang="it-IT" sz="1500" noProof="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L'utente chiede</a:t>
            </a:r>
            <a:endParaRPr lang="it-IT" sz="1200" noProof="0" dirty="0"/>
          </a:p>
        </p:txBody>
      </p:sp>
      <p:sp>
        <p:nvSpPr>
          <p:cNvPr id="9" name="freccia"/>
          <p:cNvSpPr/>
          <p:nvPr/>
        </p:nvSpPr>
        <p:spPr>
          <a:xfrm>
            <a:off x="2350008" y="1901952"/>
            <a:ext cx="219456" cy="292608"/>
          </a:xfrm>
          <a:prstGeom prst="rightArrow">
            <a:avLst/>
          </a:prstGeom>
          <a:solidFill>
            <a:schemeClr val="accent2"/>
          </a:solidFill>
          <a:ln/>
        </p:spPr>
        <p:txBody>
          <a:bodyPr/>
          <a:lstStyle/>
          <a:p>
            <a:endParaRPr lang="it-IT" noProof="0" dirty="0"/>
          </a:p>
        </p:txBody>
      </p:sp>
      <p:sp>
        <p:nvSpPr>
          <p:cNvPr id="10" name="Recupero"/>
          <p:cNvSpPr/>
          <p:nvPr/>
        </p:nvSpPr>
        <p:spPr>
          <a:xfrm>
            <a:off x="2587752" y="1143000"/>
            <a:ext cx="1874520" cy="1783080"/>
          </a:xfrm>
          <a:prstGeom prst="roundRect">
            <a:avLst>
              <a:gd name="adj" fmla="val 4103"/>
            </a:avLst>
          </a:prstGeom>
          <a:solidFill>
            <a:schemeClr val="bg2"/>
          </a:solidFill>
          <a:ln/>
        </p:spPr>
        <p:txBody>
          <a:bodyPr/>
          <a:lstStyle/>
          <a:p>
            <a:endParaRPr lang="it-IT" noProof="0" dirty="0"/>
          </a:p>
        </p:txBody>
      </p:sp>
      <p:sp>
        <p:nvSpPr>
          <p:cNvPr id="11" name="cerchio FiSearch"/>
          <p:cNvSpPr/>
          <p:nvPr/>
        </p:nvSpPr>
        <p:spPr>
          <a:xfrm>
            <a:off x="3246120" y="1280160"/>
            <a:ext cx="548640" cy="548640"/>
          </a:xfrm>
          <a:prstGeom prst="ellipse">
            <a:avLst/>
          </a:prstGeom>
          <a:solidFill>
            <a:schemeClr val="accent1"/>
          </a:solidFill>
          <a:ln/>
        </p:spPr>
        <p:txBody>
          <a:bodyPr/>
          <a:lstStyle/>
          <a:p>
            <a:endParaRPr lang="it-IT" noProof="0" dirty="0"/>
          </a:p>
        </p:txBody>
      </p:sp>
      <p:pic>
        <p:nvPicPr>
          <p:cNvPr id="12" name="Image 1" descr="FiSearch"/>
          <p:cNvPicPr>
            <a:picLocks noChangeAspect="1"/>
          </p:cNvPicPr>
          <p:nvPr/>
        </p:nvPicPr>
        <p:blipFill>
          <a:blip r:embed="rId4"/>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2. Recupero</a:t>
            </a:r>
            <a:endParaRPr lang="it-IT" sz="1500" noProof="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Si cercano i passaggi pertinenti</a:t>
            </a:r>
            <a:endParaRPr lang="it-IT" sz="1200" noProof="0" dirty="0"/>
          </a:p>
        </p:txBody>
      </p:sp>
      <p:sp>
        <p:nvSpPr>
          <p:cNvPr id="15" name="freccia"/>
          <p:cNvSpPr/>
          <p:nvPr/>
        </p:nvSpPr>
        <p:spPr>
          <a:xfrm>
            <a:off x="4480560" y="1901952"/>
            <a:ext cx="219456" cy="292608"/>
          </a:xfrm>
          <a:prstGeom prst="rightArrow">
            <a:avLst/>
          </a:prstGeom>
          <a:solidFill>
            <a:schemeClr val="accent2"/>
          </a:solidFill>
          <a:ln/>
        </p:spPr>
        <p:txBody>
          <a:bodyPr/>
          <a:lstStyle/>
          <a:p>
            <a:endParaRPr lang="it-IT" noProof="0" dirty="0"/>
          </a:p>
        </p:txBody>
      </p:sp>
      <p:sp>
        <p:nvSpPr>
          <p:cNvPr id="16" name="Aumento"/>
          <p:cNvSpPr/>
          <p:nvPr/>
        </p:nvSpPr>
        <p:spPr>
          <a:xfrm>
            <a:off x="4718304" y="1143000"/>
            <a:ext cx="1874520" cy="1783080"/>
          </a:xfrm>
          <a:prstGeom prst="roundRect">
            <a:avLst>
              <a:gd name="adj" fmla="val 4103"/>
            </a:avLst>
          </a:prstGeom>
          <a:solidFill>
            <a:schemeClr val="bg2"/>
          </a:solidFill>
          <a:ln/>
        </p:spPr>
        <p:txBody>
          <a:bodyPr/>
          <a:lstStyle/>
          <a:p>
            <a:endParaRPr lang="it-IT" noProof="0" dirty="0"/>
          </a:p>
        </p:txBody>
      </p:sp>
      <p:sp>
        <p:nvSpPr>
          <p:cNvPr id="17" name="cerchio FiPlusSquare"/>
          <p:cNvSpPr/>
          <p:nvPr/>
        </p:nvSpPr>
        <p:spPr>
          <a:xfrm>
            <a:off x="5376672" y="1280160"/>
            <a:ext cx="548640" cy="548640"/>
          </a:xfrm>
          <a:prstGeom prst="ellipse">
            <a:avLst/>
          </a:prstGeom>
          <a:solidFill>
            <a:schemeClr val="accent1"/>
          </a:solidFill>
          <a:ln/>
        </p:spPr>
        <p:txBody>
          <a:bodyPr/>
          <a:lstStyle/>
          <a:p>
            <a:endParaRPr lang="it-IT" noProof="0" dirty="0"/>
          </a:p>
        </p:txBody>
      </p:sp>
      <p:pic>
        <p:nvPicPr>
          <p:cNvPr id="18" name="Image 2" descr="FiPlusSquare"/>
          <p:cNvPicPr>
            <a:picLocks noChangeAspect="1"/>
          </p:cNvPicPr>
          <p:nvPr/>
        </p:nvPicPr>
        <p:blipFill>
          <a:blip r:embed="rId5"/>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3. Aumento</a:t>
            </a:r>
            <a:endParaRPr lang="it-IT" sz="1500" noProof="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 passaggi entrano nel contesto</a:t>
            </a:r>
            <a:endParaRPr lang="it-IT" sz="1200" noProof="0" dirty="0"/>
          </a:p>
        </p:txBody>
      </p:sp>
      <p:sp>
        <p:nvSpPr>
          <p:cNvPr id="21" name="freccia"/>
          <p:cNvSpPr/>
          <p:nvPr/>
        </p:nvSpPr>
        <p:spPr>
          <a:xfrm>
            <a:off x="6611112" y="1901952"/>
            <a:ext cx="219456" cy="292608"/>
          </a:xfrm>
          <a:prstGeom prst="rightArrow">
            <a:avLst/>
          </a:prstGeom>
          <a:solidFill>
            <a:schemeClr val="accent2"/>
          </a:solidFill>
          <a:ln/>
        </p:spPr>
        <p:txBody>
          <a:bodyPr/>
          <a:lstStyle/>
          <a:p>
            <a:endParaRPr lang="it-IT" noProof="0" dirty="0"/>
          </a:p>
        </p:txBody>
      </p:sp>
      <p:sp>
        <p:nvSpPr>
          <p:cNvPr id="22" name="Generazione"/>
          <p:cNvSpPr/>
          <p:nvPr/>
        </p:nvSpPr>
        <p:spPr>
          <a:xfrm>
            <a:off x="6848856" y="1143000"/>
            <a:ext cx="1874520" cy="1783080"/>
          </a:xfrm>
          <a:prstGeom prst="roundRect">
            <a:avLst>
              <a:gd name="adj" fmla="val 4103"/>
            </a:avLst>
          </a:prstGeom>
          <a:solidFill>
            <a:schemeClr val="accent6"/>
          </a:solidFill>
          <a:ln/>
        </p:spPr>
        <p:txBody>
          <a:bodyPr/>
          <a:lstStyle/>
          <a:p>
            <a:endParaRPr lang="it-IT" noProof="0" dirty="0"/>
          </a:p>
        </p:txBody>
      </p:sp>
      <p:sp>
        <p:nvSpPr>
          <p:cNvPr id="23" name="cerchio FiMessageSquare"/>
          <p:cNvSpPr/>
          <p:nvPr/>
        </p:nvSpPr>
        <p:spPr>
          <a:xfrm>
            <a:off x="7507224" y="1280160"/>
            <a:ext cx="548640" cy="548640"/>
          </a:xfrm>
          <a:prstGeom prst="ellipse">
            <a:avLst/>
          </a:prstGeom>
          <a:solidFill>
            <a:schemeClr val="accent1"/>
          </a:solidFill>
          <a:ln/>
        </p:spPr>
        <p:txBody>
          <a:bodyPr/>
          <a:lstStyle/>
          <a:p>
            <a:endParaRPr lang="it-IT" noProof="0" dirty="0"/>
          </a:p>
        </p:txBody>
      </p:sp>
      <p:pic>
        <p:nvPicPr>
          <p:cNvPr id="24" name="Image 3" descr="FiMessageSquare"/>
          <p:cNvPicPr>
            <a:picLocks noChangeAspect="1"/>
          </p:cNvPicPr>
          <p:nvPr/>
        </p:nvPicPr>
        <p:blipFill>
          <a:blip r:embed="rId6"/>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4. Generazione</a:t>
            </a:r>
            <a:endParaRPr lang="it-IT" sz="1500" noProof="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risponde citando le fonti</a:t>
            </a:r>
            <a:endParaRPr lang="it-IT" sz="1200" noProof="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txBody>
          <a:bodyPr/>
          <a:lstStyle/>
          <a:p>
            <a:endParaRPr lang="it-IT" noProof="0" dirty="0"/>
          </a:p>
        </p:txBody>
      </p:sp>
      <p:sp>
        <p:nvSpPr>
          <p:cNvPr id="28" name="Text 21"/>
          <p:cNvSpPr txBox="1"/>
          <p:nvPr/>
        </p:nvSpPr>
        <p:spPr>
          <a:xfrm>
            <a:off x="2606040" y="3108960"/>
            <a:ext cx="1828800" cy="685800"/>
          </a:xfrm>
          <a:prstGeom prst="rect">
            <a:avLst/>
          </a:prstGeom>
          <a:noFill/>
          <a:ln/>
        </p:spPr>
        <p:txBody>
          <a:bodyPr wrap="square" lIns="0" tIns="0" rIns="0" bIns="0" rtlCol="0" anchor="ctr"/>
          <a:lstStyle/>
          <a:p>
            <a:pPr marL="0" indent="0" algn="ctr">
              <a:buNone/>
            </a:pPr>
            <a:r>
              <a:rPr lang="it-IT" sz="1300" b="1" noProof="0" dirty="0">
                <a:solidFill>
                  <a:schemeClr val="bg1"/>
                </a:solidFill>
              </a:rPr>
              <a:t>Base documentale</a:t>
            </a:r>
            <a:endParaRPr lang="it-IT" sz="1300" noProof="0" dirty="0"/>
          </a:p>
        </p:txBody>
      </p:sp>
      <p:sp>
        <p:nvSpPr>
          <p:cNvPr id="29" name="freccia su"/>
          <p:cNvSpPr/>
          <p:nvPr/>
        </p:nvSpPr>
        <p:spPr>
          <a:xfrm>
            <a:off x="3383280" y="2926080"/>
            <a:ext cx="320040" cy="182880"/>
          </a:xfrm>
          <a:prstGeom prst="upArrow">
            <a:avLst/>
          </a:prstGeom>
          <a:solidFill>
            <a:schemeClr val="accent2"/>
          </a:solidFill>
          <a:ln/>
        </p:spPr>
        <p:txBody>
          <a:bodyPr/>
          <a:lstStyle/>
          <a:p>
            <a:endParaRPr lang="it-IT" noProof="0" dirty="0"/>
          </a:p>
        </p:txBody>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txBody>
          <a:bodyPr/>
          <a:lstStyle/>
          <a:p>
            <a:endParaRPr lang="it-IT" noProof="0" dirty="0"/>
          </a:p>
        </p:txBody>
      </p:sp>
      <p:sp>
        <p:nvSpPr>
          <p:cNvPr id="31" name="Text 24"/>
          <p:cNvSpPr txBox="1"/>
          <p:nvPr/>
        </p:nvSpPr>
        <p:spPr>
          <a:xfrm>
            <a:off x="502920"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Il modello non viene riaddestrato</a:t>
            </a:r>
            <a:endParaRPr lang="it-IT" sz="1200" noProof="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txBody>
          <a:bodyPr/>
          <a:lstStyle/>
          <a:p>
            <a:endParaRPr lang="it-IT" noProof="0" dirty="0"/>
          </a:p>
        </p:txBody>
      </p:sp>
      <p:sp>
        <p:nvSpPr>
          <p:cNvPr id="33" name="Text 26"/>
          <p:cNvSpPr txBox="1"/>
          <p:nvPr/>
        </p:nvSpPr>
        <p:spPr>
          <a:xfrm>
            <a:off x="3310128"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 documenti si aggiornano in qualsiasi momento</a:t>
            </a:r>
            <a:endParaRPr lang="it-IT" sz="1200" noProof="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txBody>
          <a:bodyPr/>
          <a:lstStyle/>
          <a:p>
            <a:endParaRPr lang="it-IT" noProof="0" dirty="0"/>
          </a:p>
        </p:txBody>
      </p:sp>
      <p:sp>
        <p:nvSpPr>
          <p:cNvPr id="35" name="Text 28"/>
          <p:cNvSpPr txBox="1"/>
          <p:nvPr/>
        </p:nvSpPr>
        <p:spPr>
          <a:xfrm>
            <a:off x="6117336"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L'accesso può seguire i permessi degli utenti</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58</a:t>
            </a:fld>
            <a:endParaRPr lang="it-IT" noProof="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Adattare un sistema AI a un contesto specifico</a:t>
            </a:r>
            <a:endParaRPr lang="it-IT" sz="2600" noProof="0" dirty="0"/>
          </a:p>
        </p:txBody>
      </p:sp>
      <p:graphicFrame>
        <p:nvGraphicFramePr>
          <p:cNvPr id="55" name="Table 0"/>
          <p:cNvGraphicFramePr>
            <a:graphicFrameLocks noGrp="1"/>
          </p:cNvGraphicFramePr>
          <p:nvPr/>
        </p:nvGraphicFramePr>
        <p:xfrm>
          <a:off x="457200" y="1097280"/>
          <a:ext cx="8229600" cy="2834640"/>
        </p:xfrm>
        <a:graphic>
          <a:graphicData uri="http://schemas.openxmlformats.org/drawingml/2006/table">
            <a:tbl>
              <a:tblPr/>
              <a:tblGrid>
                <a:gridCol w="2011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66928">
                <a:tc>
                  <a:txBody>
                    <a:bodyPr/>
                    <a:lstStyle/>
                    <a:p>
                      <a:pPr marL="0" indent="0">
                        <a:buNone/>
                      </a:pPr>
                      <a:r>
                        <a:rPr lang="it-IT" sz="1300" b="1" noProof="0" dirty="0">
                          <a:solidFill>
                            <a:schemeClr val="bg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Che cosa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noProof="0" dirty="0">
                          <a:solidFill>
                            <a:schemeClr val="bg1"/>
                          </a:solidFill>
                        </a:rPr>
                        <a:t>Quando è utile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it-IT" sz="1300" b="1" noProof="0" dirty="0">
                          <a:solidFill>
                            <a:schemeClr val="tx1"/>
                          </a:solidFill>
                        </a:rPr>
                        <a:t>Istruzioni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Indica ruolo, tono, formato, regole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Orientare il comportamento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it-IT" sz="1300" b="1" noProof="0" dirty="0">
                          <a:solidFill>
                            <a:schemeClr val="tx1"/>
                          </a:solidFill>
                        </a:rPr>
                        <a:t>Documenti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Fornisce i materiali nella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Contenuti specifici e limitati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it-IT" sz="1300" b="1" noProof="0" dirty="0">
                          <a:solidFill>
                            <a:schemeClr val="tx1"/>
                          </a:solidFill>
                        </a:rPr>
                        <a:t>Recupero da basi informative (RAG)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Cerca i passaggi pertinenti in molti documenti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Molti documenti, aggiornati spesso, con permessi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it-IT" sz="1300" b="1" noProof="0" dirty="0">
                          <a:solidFill>
                            <a:schemeClr val="tx1"/>
                          </a:solidFill>
                        </a:rPr>
                        <a:t>Fine-tuning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Addestramento aggiuntivo su esempi specifici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Sì, in parte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Stile, formato, comportamenti ricorrenti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maggior parte delle esigenze aziendali si risolve con le prime tre modalità, spesso combinate.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59</a:t>
            </a:fld>
            <a:endParaRPr lang="it-IT" noProof="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equivoci frequenti</a:t>
            </a:r>
            <a:endParaRPr lang="it-IT" sz="2600" noProof="0" dirty="0"/>
          </a:p>
        </p:txBody>
      </p:sp>
      <p:sp>
        <p:nvSpPr>
          <p:cNvPr id="4" name="equivoco 1"/>
          <p:cNvSpPr/>
          <p:nvPr/>
        </p:nvSpPr>
        <p:spPr>
          <a:xfrm>
            <a:off x="457200" y="1097280"/>
            <a:ext cx="3657600" cy="1005840"/>
          </a:xfrm>
          <a:prstGeom prst="roundRect">
            <a:avLst>
              <a:gd name="adj" fmla="val 7273"/>
            </a:avLst>
          </a:prstGeom>
          <a:solidFill>
            <a:schemeClr val="bg2"/>
          </a:solidFill>
          <a:ln/>
        </p:spPr>
        <p:txBody>
          <a:bodyPr/>
          <a:lstStyle/>
          <a:p>
            <a:endParaRPr lang="it-IT" noProof="0" dirty="0"/>
          </a:p>
        </p:txBody>
      </p:sp>
      <p:sp>
        <p:nvSpPr>
          <p:cNvPr id="5" name="Text 2"/>
          <p:cNvSpPr txBox="1"/>
          <p:nvPr/>
        </p:nvSpPr>
        <p:spPr>
          <a:xfrm>
            <a:off x="640080" y="1097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carico un documento, il modello lo impara</a:t>
            </a:r>
            <a:endParaRPr lang="it-IT" sz="1300" noProof="0" dirty="0"/>
          </a:p>
        </p:txBody>
      </p:sp>
      <p:sp>
        <p:nvSpPr>
          <p:cNvPr id="6" name="freccia"/>
          <p:cNvSpPr/>
          <p:nvPr/>
        </p:nvSpPr>
        <p:spPr>
          <a:xfrm>
            <a:off x="4206240" y="1453896"/>
            <a:ext cx="320040" cy="292608"/>
          </a:xfrm>
          <a:prstGeom prst="rightArrow">
            <a:avLst/>
          </a:prstGeom>
          <a:solidFill>
            <a:schemeClr val="accent1"/>
          </a:solidFill>
          <a:ln/>
        </p:spPr>
        <p:txBody>
          <a:bodyPr/>
          <a:lstStyle/>
          <a:p>
            <a:endParaRPr lang="it-IT" noProof="0" dirty="0"/>
          </a:p>
        </p:txBody>
      </p:sp>
      <p:sp>
        <p:nvSpPr>
          <p:cNvPr id="7" name="realtà 1"/>
          <p:cNvSpPr/>
          <p:nvPr/>
        </p:nvSpPr>
        <p:spPr>
          <a:xfrm>
            <a:off x="4617720" y="1097280"/>
            <a:ext cx="4069080" cy="1005840"/>
          </a:xfrm>
          <a:prstGeom prst="roundRect">
            <a:avLst>
              <a:gd name="adj" fmla="val 7273"/>
            </a:avLst>
          </a:prstGeom>
          <a:solidFill>
            <a:schemeClr val="accent6"/>
          </a:solidFill>
          <a:ln/>
        </p:spPr>
        <p:txBody>
          <a:bodyPr/>
          <a:lstStyle/>
          <a:p>
            <a:endParaRPr lang="it-IT" noProof="0" dirty="0"/>
          </a:p>
        </p:txBody>
      </p:sp>
      <p:sp>
        <p:nvSpPr>
          <p:cNvPr id="8" name="Text 5"/>
          <p:cNvSpPr txBox="1"/>
          <p:nvPr/>
        </p:nvSpPr>
        <p:spPr>
          <a:xfrm>
            <a:off x="4800600" y="1097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Il documento entra nel contesto temporaneo: il modello lo usa, ma i parametri non cambiano</a:t>
            </a:r>
            <a:endParaRPr lang="it-IT" sz="1200" noProof="0" dirty="0"/>
          </a:p>
        </p:txBody>
      </p:sp>
      <p:sp>
        <p:nvSpPr>
          <p:cNvPr id="9" name="equivoco 2"/>
          <p:cNvSpPr/>
          <p:nvPr/>
        </p:nvSpPr>
        <p:spPr>
          <a:xfrm>
            <a:off x="457200" y="2240280"/>
            <a:ext cx="3657600" cy="1005840"/>
          </a:xfrm>
          <a:prstGeom prst="roundRect">
            <a:avLst>
              <a:gd name="adj" fmla="val 7273"/>
            </a:avLst>
          </a:prstGeom>
          <a:solidFill>
            <a:schemeClr val="bg2"/>
          </a:solidFill>
          <a:ln/>
        </p:spPr>
        <p:txBody>
          <a:bodyPr/>
          <a:lstStyle/>
          <a:p>
            <a:endParaRPr lang="it-IT" noProof="0" dirty="0"/>
          </a:p>
        </p:txBody>
      </p:sp>
      <p:sp>
        <p:nvSpPr>
          <p:cNvPr id="10" name="Text 7"/>
          <p:cNvSpPr txBox="1"/>
          <p:nvPr/>
        </p:nvSpPr>
        <p:spPr>
          <a:xfrm>
            <a:off x="640080" y="2240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collego i documenti aziendali, il modello si addestra sui nostri dati</a:t>
            </a:r>
            <a:endParaRPr lang="it-IT" sz="1300" noProof="0" dirty="0"/>
          </a:p>
        </p:txBody>
      </p:sp>
      <p:sp>
        <p:nvSpPr>
          <p:cNvPr id="11" name="freccia"/>
          <p:cNvSpPr/>
          <p:nvPr/>
        </p:nvSpPr>
        <p:spPr>
          <a:xfrm>
            <a:off x="4206240" y="2596896"/>
            <a:ext cx="320040" cy="292608"/>
          </a:xfrm>
          <a:prstGeom prst="rightArrow">
            <a:avLst/>
          </a:prstGeom>
          <a:solidFill>
            <a:schemeClr val="accent1"/>
          </a:solidFill>
          <a:ln/>
        </p:spPr>
        <p:txBody>
          <a:bodyPr/>
          <a:lstStyle/>
          <a:p>
            <a:endParaRPr lang="it-IT" noProof="0" dirty="0"/>
          </a:p>
        </p:txBody>
      </p:sp>
      <p:sp>
        <p:nvSpPr>
          <p:cNvPr id="12" name="realtà 2"/>
          <p:cNvSpPr/>
          <p:nvPr/>
        </p:nvSpPr>
        <p:spPr>
          <a:xfrm>
            <a:off x="4617720" y="2240280"/>
            <a:ext cx="4069080" cy="1005840"/>
          </a:xfrm>
          <a:prstGeom prst="roundRect">
            <a:avLst>
              <a:gd name="adj" fmla="val 7273"/>
            </a:avLst>
          </a:prstGeom>
          <a:solidFill>
            <a:schemeClr val="accent6"/>
          </a:solidFill>
          <a:ln/>
        </p:spPr>
        <p:txBody>
          <a:bodyPr/>
          <a:lstStyle/>
          <a:p>
            <a:endParaRPr lang="it-IT" noProof="0" dirty="0"/>
          </a:p>
        </p:txBody>
      </p:sp>
      <p:sp>
        <p:nvSpPr>
          <p:cNvPr id="13" name="Text 10"/>
          <p:cNvSpPr txBox="1"/>
          <p:nvPr/>
        </p:nvSpPr>
        <p:spPr>
          <a:xfrm>
            <a:off x="4800600" y="2240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Con la RAG il modello consulta i documenti, non si riaddestra. L'uso dei dati da parte del fornitore dipende dalle condizioni contrattuali</a:t>
            </a:r>
            <a:endParaRPr lang="it-IT" sz="1200" noProof="0" dirty="0"/>
          </a:p>
        </p:txBody>
      </p:sp>
      <p:sp>
        <p:nvSpPr>
          <p:cNvPr id="14" name="equivoco 3"/>
          <p:cNvSpPr/>
          <p:nvPr/>
        </p:nvSpPr>
        <p:spPr>
          <a:xfrm>
            <a:off x="457200" y="3383280"/>
            <a:ext cx="3657600" cy="1005840"/>
          </a:xfrm>
          <a:prstGeom prst="roundRect">
            <a:avLst>
              <a:gd name="adj" fmla="val 7273"/>
            </a:avLst>
          </a:prstGeom>
          <a:solidFill>
            <a:schemeClr val="bg2"/>
          </a:solidFill>
          <a:ln/>
        </p:spPr>
        <p:txBody>
          <a:bodyPr/>
          <a:lstStyle/>
          <a:p>
            <a:endParaRPr lang="it-IT" noProof="0" dirty="0"/>
          </a:p>
        </p:txBody>
      </p:sp>
      <p:sp>
        <p:nvSpPr>
          <p:cNvPr id="15" name="Text 12"/>
          <p:cNvSpPr txBox="1"/>
          <p:nvPr/>
        </p:nvSpPr>
        <p:spPr>
          <a:xfrm>
            <a:off x="640080" y="3383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Il modello sa tutto ciò che è su internet ed è aggiornato</a:t>
            </a:r>
            <a:endParaRPr lang="it-IT" sz="1300" noProof="0" dirty="0"/>
          </a:p>
        </p:txBody>
      </p:sp>
      <p:sp>
        <p:nvSpPr>
          <p:cNvPr id="16" name="freccia"/>
          <p:cNvSpPr/>
          <p:nvPr/>
        </p:nvSpPr>
        <p:spPr>
          <a:xfrm>
            <a:off x="4206240" y="3739896"/>
            <a:ext cx="320040" cy="292608"/>
          </a:xfrm>
          <a:prstGeom prst="rightArrow">
            <a:avLst/>
          </a:prstGeom>
          <a:solidFill>
            <a:schemeClr val="accent1"/>
          </a:solidFill>
          <a:ln/>
        </p:spPr>
        <p:txBody>
          <a:bodyPr/>
          <a:lstStyle/>
          <a:p>
            <a:endParaRPr lang="it-IT" noProof="0" dirty="0"/>
          </a:p>
        </p:txBody>
      </p:sp>
      <p:sp>
        <p:nvSpPr>
          <p:cNvPr id="17" name="realtà 3"/>
          <p:cNvSpPr/>
          <p:nvPr/>
        </p:nvSpPr>
        <p:spPr>
          <a:xfrm>
            <a:off x="4617720" y="3383280"/>
            <a:ext cx="4069080" cy="1005840"/>
          </a:xfrm>
          <a:prstGeom prst="roundRect">
            <a:avLst>
              <a:gd name="adj" fmla="val 7273"/>
            </a:avLst>
          </a:prstGeom>
          <a:solidFill>
            <a:schemeClr val="accent6"/>
          </a:solidFill>
          <a:ln/>
        </p:spPr>
        <p:txBody>
          <a:bodyPr/>
          <a:lstStyle/>
          <a:p>
            <a:endParaRPr lang="it-IT" noProof="0" dirty="0"/>
          </a:p>
        </p:txBody>
      </p:sp>
      <p:sp>
        <p:nvSpPr>
          <p:cNvPr id="18" name="Text 15"/>
          <p:cNvSpPr txBox="1"/>
          <p:nvPr/>
        </p:nvSpPr>
        <p:spPr>
          <a:xfrm>
            <a:off x="4800600" y="3383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La conoscenza è ferma alla data limite; l'aggiornamento dipende dagli strumenti di ricerca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noProof="0" smtClean="0"/>
              <a:t>60</a:t>
            </a:fld>
            <a:endParaRPr lang="it-IT" noProof="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83F4D-8264-D1FB-3D59-A8C8C11FF7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77E4DB9-6466-55C3-8E40-60C5DC39D6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B9E7441-22FB-1468-7F8C-BFD5D46E492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Capacità</a:t>
            </a:r>
            <a:r>
              <a:rPr lang="en-US" sz="3600" b="1" dirty="0">
                <a:solidFill>
                  <a:schemeClr val="bg1"/>
                </a:solidFill>
              </a:rPr>
              <a:t>, </a:t>
            </a:r>
            <a:r>
              <a:rPr lang="en-US" sz="3600" b="1" dirty="0" err="1">
                <a:solidFill>
                  <a:schemeClr val="bg1"/>
                </a:solidFill>
              </a:rPr>
              <a:t>limiti</a:t>
            </a:r>
            <a:r>
              <a:rPr lang="en-US" sz="3600" b="1" dirty="0">
                <a:solidFill>
                  <a:schemeClr val="bg1"/>
                </a:solidFill>
              </a:rPr>
              <a:t> e </a:t>
            </a:r>
            <a:r>
              <a:rPr lang="en-US" sz="3600" b="1" dirty="0" err="1">
                <a:solidFill>
                  <a:schemeClr val="bg1"/>
                </a:solidFill>
              </a:rPr>
              <a:t>affidabilità</a:t>
            </a:r>
            <a:r>
              <a:rPr lang="en-US" sz="3600" b="1" dirty="0">
                <a:solidFill>
                  <a:schemeClr val="bg1"/>
                </a:solidFill>
              </a:rPr>
              <a:t> </a:t>
            </a:r>
            <a:r>
              <a:rPr lang="en-US" sz="3600" b="1" dirty="0" err="1">
                <a:solidFill>
                  <a:schemeClr val="bg1"/>
                </a:solidFill>
              </a:rPr>
              <a:t>dell’Intelligenza</a:t>
            </a:r>
            <a:r>
              <a:rPr lang="en-US" sz="3600" b="1" dirty="0">
                <a:solidFill>
                  <a:schemeClr val="bg1"/>
                </a:solidFill>
              </a:rPr>
              <a:t> </a:t>
            </a:r>
            <a:r>
              <a:rPr lang="en-US" sz="3600" b="1" dirty="0" err="1">
                <a:solidFill>
                  <a:schemeClr val="bg1"/>
                </a:solidFill>
              </a:rPr>
              <a:t>Artificiale</a:t>
            </a:r>
            <a:endParaRPr lang="en-US" sz="3600" dirty="0"/>
          </a:p>
        </p:txBody>
      </p:sp>
      <p:sp>
        <p:nvSpPr>
          <p:cNvPr id="4" name="Text 0">
            <a:extLst>
              <a:ext uri="{FF2B5EF4-FFF2-40B4-BE49-F238E27FC236}">
                <a16:creationId xmlns:a16="http://schemas.microsoft.com/office/drawing/2014/main" id="{88B23B9A-507D-E4E1-E1EE-CF25E261179B}"/>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Terzo Tema – </a:t>
            </a:r>
            <a:r>
              <a:rPr lang="en-US" dirty="0" err="1"/>
              <a:t>Giornata</a:t>
            </a:r>
            <a:r>
              <a:rPr lang="en-US" dirty="0"/>
              <a:t> 1</a:t>
            </a:r>
            <a:endParaRPr lang="en-US" sz="1600" dirty="0"/>
          </a:p>
        </p:txBody>
      </p:sp>
    </p:spTree>
    <p:extLst>
      <p:ext uri="{BB962C8B-B14F-4D97-AF65-F5344CB8AC3E}">
        <p14:creationId xmlns:p14="http://schemas.microsoft.com/office/powerpoint/2010/main" val="8166321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Calibrare la fiducia</a:t>
            </a:r>
            <a:endParaRPr lang="it-IT"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txBody>
          <a:bodyPr/>
          <a:lstStyle/>
          <a:p>
            <a:endParaRPr lang="it-IT" dirty="0"/>
          </a:p>
        </p:txBody>
      </p:sp>
      <p:sp>
        <p:nvSpPr>
          <p:cNvPr id="5" name="cerchio FiThumbsUp"/>
          <p:cNvSpPr/>
          <p:nvPr/>
        </p:nvSpPr>
        <p:spPr>
          <a:xfrm>
            <a:off x="1463040" y="1371600"/>
            <a:ext cx="603504" cy="603504"/>
          </a:xfrm>
          <a:prstGeom prst="ellipse">
            <a:avLst/>
          </a:prstGeom>
          <a:solidFill>
            <a:schemeClr val="accent2"/>
          </a:solidFill>
          <a:ln/>
        </p:spPr>
        <p:txBody>
          <a:bodyPr/>
          <a:lstStyle/>
          <a:p>
            <a:endParaRPr lang="it-IT" dirty="0"/>
          </a:p>
        </p:txBody>
      </p:sp>
      <p:pic>
        <p:nvPicPr>
          <p:cNvPr id="6" name="Image 0" descr="FiThumbsUp"/>
          <p:cNvPicPr>
            <a:picLocks noChangeAspect="1"/>
          </p:cNvPicPr>
          <p:nvPr/>
        </p:nvPicPr>
        <p:blipFill>
          <a:blip r:embed="rId3"/>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Fiducia eccessiva</a:t>
            </a:r>
            <a:endParaRPr lang="it-IT"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accetta tutto perché è scritto bene</a:t>
            </a:r>
            <a:endParaRPr lang="it-IT"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errori e decisioni sbagliate</a:t>
            </a:r>
            <a:endParaRPr lang="it-IT"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txBody>
          <a:bodyPr/>
          <a:lstStyle/>
          <a:p>
            <a:endParaRPr lang="it-IT" dirty="0"/>
          </a:p>
        </p:txBody>
      </p:sp>
      <p:sp>
        <p:nvSpPr>
          <p:cNvPr id="11" name="cerchio FiSliders"/>
          <p:cNvSpPr/>
          <p:nvPr/>
        </p:nvSpPr>
        <p:spPr>
          <a:xfrm>
            <a:off x="4270248" y="1371600"/>
            <a:ext cx="603504" cy="603504"/>
          </a:xfrm>
          <a:prstGeom prst="ellipse">
            <a:avLst/>
          </a:prstGeom>
          <a:solidFill>
            <a:schemeClr val="bg1"/>
          </a:solidFill>
          <a:ln/>
        </p:spPr>
        <p:txBody>
          <a:bodyPr/>
          <a:lstStyle/>
          <a:p>
            <a:endParaRPr lang="it-IT" dirty="0"/>
          </a:p>
        </p:txBody>
      </p:sp>
      <p:pic>
        <p:nvPicPr>
          <p:cNvPr id="12" name="Image 1" descr="FiSliders"/>
          <p:cNvPicPr>
            <a:picLocks noChangeAspect="1"/>
          </p:cNvPicPr>
          <p:nvPr/>
        </p:nvPicPr>
        <p:blipFill>
          <a:blip r:embed="rId4"/>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marL="0" indent="0" algn="ctr">
              <a:buNone/>
            </a:pPr>
            <a:r>
              <a:rPr lang="it-IT" sz="1700" b="1" dirty="0">
                <a:solidFill>
                  <a:schemeClr val="bg1"/>
                </a:solidFill>
              </a:rPr>
              <a:t>Fiducia calibrata</a:t>
            </a:r>
            <a:endParaRPr lang="it-IT"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marL="0" indent="0" algn="ctr">
              <a:buNone/>
            </a:pPr>
            <a:r>
              <a:rPr lang="it-IT" sz="1300" dirty="0">
                <a:solidFill>
                  <a:schemeClr val="bg1"/>
                </a:solidFill>
              </a:rPr>
              <a:t>Fiducia e controlli regolati su compito, sistema e conseguenze</a:t>
            </a:r>
            <a:endParaRPr lang="it-IT"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marL="0" indent="0" algn="ctr">
              <a:buNone/>
            </a:pPr>
            <a:r>
              <a:rPr lang="it-IT" sz="1200" b="1" dirty="0">
                <a:solidFill>
                  <a:schemeClr val="accent6"/>
                </a:solidFill>
              </a:rPr>
              <a:t>L'obiettivo di questo modulo</a:t>
            </a:r>
            <a:endParaRPr lang="it-IT"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txBody>
          <a:bodyPr/>
          <a:lstStyle/>
          <a:p>
            <a:endParaRPr lang="it-IT" dirty="0"/>
          </a:p>
        </p:txBody>
      </p:sp>
      <p:sp>
        <p:nvSpPr>
          <p:cNvPr id="17" name="cerchio FiThumbsDown"/>
          <p:cNvSpPr/>
          <p:nvPr/>
        </p:nvSpPr>
        <p:spPr>
          <a:xfrm>
            <a:off x="7077456" y="1371600"/>
            <a:ext cx="603504" cy="603504"/>
          </a:xfrm>
          <a:prstGeom prst="ellipse">
            <a:avLst/>
          </a:prstGeom>
          <a:solidFill>
            <a:schemeClr val="accent2"/>
          </a:solidFill>
          <a:ln/>
        </p:spPr>
        <p:txBody>
          <a:bodyPr/>
          <a:lstStyle/>
          <a:p>
            <a:endParaRPr lang="it-IT" dirty="0"/>
          </a:p>
        </p:txBody>
      </p:sp>
      <p:pic>
        <p:nvPicPr>
          <p:cNvPr id="18" name="Image 2" descr="FiThumbsDown"/>
          <p:cNvPicPr>
            <a:picLocks noChangeAspect="1"/>
          </p:cNvPicPr>
          <p:nvPr/>
        </p:nvPicPr>
        <p:blipFill>
          <a:blip r:embed="rId5"/>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Sfiducia totale</a:t>
            </a:r>
            <a:endParaRPr lang="it-IT"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scarta l'AI perché "sbaglia"</a:t>
            </a:r>
            <a:endParaRPr lang="it-IT"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perdere opportunità reali</a:t>
            </a:r>
            <a:endParaRPr lang="it-IT"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3" name="Text 17"/>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L'obiettivo non è fidarsi sempre o non fidarsi mai, ma imparare a riconoscere quando e come utilizzare l'AI per ottenere risultati utili e affidabili.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62</a:t>
            </a:fld>
            <a:endParaRPr lang="it-IT"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 mappa delle capacità</a:t>
            </a:r>
            <a:endParaRPr lang="it-IT"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txBody>
          <a:bodyPr/>
          <a:lstStyle/>
          <a:p>
            <a:endParaRPr lang="it-IT" dirty="0"/>
          </a:p>
        </p:txBody>
      </p:sp>
      <p:sp>
        <p:nvSpPr>
          <p:cNvPr id="5" name="cerchio FiMessageSquar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MessageSquar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Linguaggio</a:t>
            </a:r>
            <a:endParaRPr lang="it-IT"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Comprendere, scrivere, riformulare, tradurre</a:t>
            </a:r>
            <a:endParaRPr lang="it-IT"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txBody>
          <a:bodyPr/>
          <a:lstStyle/>
          <a:p>
            <a:endParaRPr lang="it-IT" dirty="0"/>
          </a:p>
        </p:txBody>
      </p:sp>
      <p:sp>
        <p:nvSpPr>
          <p:cNvPr id="10" name="cerchio FiFileText"/>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FileText"/>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Contenuti</a:t>
            </a:r>
            <a:endParaRPr lang="it-IT"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Generare, trasformare, sintetizzare</a:t>
            </a:r>
            <a:endParaRPr lang="it-IT"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txBody>
          <a:bodyPr/>
          <a:lstStyle/>
          <a:p>
            <a:endParaRPr lang="it-IT" dirty="0"/>
          </a:p>
        </p:txBody>
      </p:sp>
      <p:sp>
        <p:nvSpPr>
          <p:cNvPr id="15" name="cerchio FiFilter"/>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Filter"/>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Classificazione ed estrazione</a:t>
            </a:r>
            <a:endParaRPr lang="it-IT"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Categorie, dati da testi non strutturati</a:t>
            </a:r>
            <a:endParaRPr lang="it-IT"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txBody>
          <a:bodyPr/>
          <a:lstStyle/>
          <a:p>
            <a:endParaRPr lang="it-IT" dirty="0"/>
          </a:p>
        </p:txBody>
      </p:sp>
      <p:sp>
        <p:nvSpPr>
          <p:cNvPr id="20" name="cerchio FiBarChart2"/>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BarChart2"/>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Schemi e analisi di dati</a:t>
            </a:r>
            <a:endParaRPr lang="it-IT"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Tendenze, anomalie, temi ricorrenti</a:t>
            </a:r>
            <a:endParaRPr lang="it-IT"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txBody>
          <a:bodyPr/>
          <a:lstStyle/>
          <a:p>
            <a:endParaRPr lang="it-IT" dirty="0"/>
          </a:p>
        </p:txBody>
      </p:sp>
      <p:sp>
        <p:nvSpPr>
          <p:cNvPr id="25" name="cerchio FiImage"/>
          <p:cNvSpPr/>
          <p:nvPr/>
        </p:nvSpPr>
        <p:spPr>
          <a:xfrm>
            <a:off x="621792" y="2953512"/>
            <a:ext cx="438912" cy="438912"/>
          </a:xfrm>
          <a:prstGeom prst="ellipse">
            <a:avLst/>
          </a:prstGeom>
          <a:solidFill>
            <a:schemeClr val="accent1"/>
          </a:solidFill>
          <a:ln/>
        </p:spPr>
        <p:txBody>
          <a:bodyPr/>
          <a:lstStyle/>
          <a:p>
            <a:endParaRPr lang="it-IT" dirty="0"/>
          </a:p>
        </p:txBody>
      </p:sp>
      <p:pic>
        <p:nvPicPr>
          <p:cNvPr id="26" name="Image 4" descr="FiImage"/>
          <p:cNvPicPr>
            <a:picLocks noChangeAspect="1"/>
          </p:cNvPicPr>
          <p:nvPr/>
        </p:nvPicPr>
        <p:blipFill>
          <a:blip r:embed="rId7"/>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Multimodalità</a:t>
            </a:r>
            <a:endParaRPr lang="it-IT"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Testo, immagini, audio e video</a:t>
            </a:r>
            <a:endParaRPr lang="it-IT"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txBody>
          <a:bodyPr/>
          <a:lstStyle/>
          <a:p>
            <a:endParaRPr lang="it-IT" dirty="0"/>
          </a:p>
        </p:txBody>
      </p:sp>
      <p:sp>
        <p:nvSpPr>
          <p:cNvPr id="30" name="cerchio FiGitBranch"/>
          <p:cNvSpPr/>
          <p:nvPr/>
        </p:nvSpPr>
        <p:spPr>
          <a:xfrm>
            <a:off x="3425952" y="2953512"/>
            <a:ext cx="438912" cy="438912"/>
          </a:xfrm>
          <a:prstGeom prst="ellipse">
            <a:avLst/>
          </a:prstGeom>
          <a:solidFill>
            <a:schemeClr val="accent1"/>
          </a:solidFill>
          <a:ln/>
        </p:spPr>
        <p:txBody>
          <a:bodyPr/>
          <a:lstStyle/>
          <a:p>
            <a:endParaRPr lang="it-IT" dirty="0"/>
          </a:p>
        </p:txBody>
      </p:sp>
      <p:pic>
        <p:nvPicPr>
          <p:cNvPr id="31" name="Image 5" descr="FiGitBranch"/>
          <p:cNvPicPr>
            <a:picLocks noChangeAspect="1"/>
          </p:cNvPicPr>
          <p:nvPr/>
        </p:nvPicPr>
        <p:blipFill>
          <a:blip r:embed="rId8"/>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Supporto cognitivo</a:t>
            </a:r>
            <a:endParaRPr lang="it-IT"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Ragionare, pianificare, generare idee</a:t>
            </a:r>
            <a:endParaRPr lang="it-IT"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txBody>
          <a:bodyPr/>
          <a:lstStyle/>
          <a:p>
            <a:endParaRPr lang="it-IT" dirty="0"/>
          </a:p>
        </p:txBody>
      </p:sp>
      <p:sp>
        <p:nvSpPr>
          <p:cNvPr id="35" name="cerchio FiTool"/>
          <p:cNvSpPr/>
          <p:nvPr/>
        </p:nvSpPr>
        <p:spPr>
          <a:xfrm>
            <a:off x="6230112" y="2953512"/>
            <a:ext cx="438912" cy="438912"/>
          </a:xfrm>
          <a:prstGeom prst="ellipse">
            <a:avLst/>
          </a:prstGeom>
          <a:solidFill>
            <a:schemeClr val="accent1"/>
          </a:solidFill>
          <a:ln/>
        </p:spPr>
        <p:txBody>
          <a:bodyPr/>
          <a:lstStyle/>
          <a:p>
            <a:endParaRPr lang="it-IT" dirty="0"/>
          </a:p>
        </p:txBody>
      </p:sp>
      <p:pic>
        <p:nvPicPr>
          <p:cNvPr id="36" name="Image 6" descr="FiTool"/>
          <p:cNvPicPr>
            <a:picLocks noChangeAspect="1"/>
          </p:cNvPicPr>
          <p:nvPr/>
        </p:nvPicPr>
        <p:blipFill>
          <a:blip r:embed="rId9"/>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Strumenti esterni</a:t>
            </a:r>
            <a:endParaRPr lang="it-IT"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Ricerca, esecuzione di codice, file, software</a:t>
            </a:r>
            <a:endParaRPr lang="it-IT"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marL="0" indent="0">
              <a:buNone/>
            </a:pPr>
            <a:r>
              <a:rPr lang="it-IT" sz="1200" i="1" dirty="0">
                <a:solidFill>
                  <a:schemeClr val="tx2"/>
                </a:solidFill>
              </a:rPr>
              <a:t>Alcune capacità, come l'uso di strumenti, dipendono dal sistema e non sono sempre disponibili.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63</a:t>
            </a:fld>
            <a:endParaRPr lang="it-IT"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Non tutti i sistemi hanno le stesse capacità</a:t>
            </a:r>
            <a:endParaRPr lang="it-IT"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soprattutto dal modello</a:t>
            </a:r>
            <a:endParaRPr lang="it-IT"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Qualità della scrittura</a:t>
            </a:r>
            <a:endParaRPr lang="it-IT" sz="1300" dirty="0"/>
          </a:p>
          <a:p>
            <a:pPr marL="177800" indent="-177800">
              <a:spcAft>
                <a:spcPts val="300"/>
              </a:spcAft>
              <a:buSzPct val="100000"/>
              <a:buChar char="•"/>
            </a:pPr>
            <a:r>
              <a:rPr lang="it-IT" sz="1300" dirty="0">
                <a:solidFill>
                  <a:schemeClr val="tx2"/>
                </a:solidFill>
              </a:rPr>
              <a:t>Capacità di ragionamento</a:t>
            </a:r>
            <a:endParaRPr lang="it-IT" sz="1300" dirty="0"/>
          </a:p>
          <a:p>
            <a:pPr marL="177800" indent="-177800">
              <a:spcAft>
                <a:spcPts val="300"/>
              </a:spcAft>
              <a:buSzPct val="100000"/>
              <a:buChar char="•"/>
            </a:pPr>
            <a:r>
              <a:rPr lang="it-IT" sz="1300" dirty="0">
                <a:solidFill>
                  <a:schemeClr val="tx2"/>
                </a:solidFill>
              </a:rPr>
              <a:t>Comprensione di immagini e audio</a:t>
            </a:r>
            <a:endParaRPr lang="it-IT"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txBody>
          <a:bodyPr/>
          <a:lstStyle/>
          <a:p>
            <a:endParaRPr lang="it-IT" dirty="0"/>
          </a:p>
        </p:txBody>
      </p:sp>
      <p:sp>
        <p:nvSpPr>
          <p:cNvPr id="10" name="cerchio FiPackag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Packag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dall'applicazione</a:t>
            </a:r>
            <a:endParaRPr lang="it-IT"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Ricerca sul web, esecuzione di codice</a:t>
            </a:r>
            <a:endParaRPr lang="it-IT" sz="1300" dirty="0"/>
          </a:p>
          <a:p>
            <a:pPr marL="177800" indent="-177800">
              <a:spcAft>
                <a:spcPts val="300"/>
              </a:spcAft>
              <a:buSzPct val="100000"/>
              <a:buChar char="•"/>
            </a:pPr>
            <a:r>
              <a:rPr lang="it-IT" sz="1300" dirty="0">
                <a:solidFill>
                  <a:schemeClr val="tx2"/>
                </a:solidFill>
              </a:rPr>
              <a:t>Lettura di file, collegamenti a sistemi aziendali</a:t>
            </a:r>
            <a:endParaRPr lang="it-IT" sz="1300" dirty="0"/>
          </a:p>
          <a:p>
            <a:pPr marL="177800" indent="-177800">
              <a:spcAft>
                <a:spcPts val="300"/>
              </a:spcAft>
              <a:buSzPct val="100000"/>
              <a:buChar char="•"/>
            </a:pPr>
            <a:r>
              <a:rPr lang="it-IT" sz="1300" dirty="0">
                <a:solidFill>
                  <a:schemeClr val="tx2"/>
                </a:solidFill>
              </a:rPr>
              <a:t>Memoria tra conversazioni</a:t>
            </a:r>
            <a:endParaRPr lang="it-IT"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txBody>
          <a:bodyPr/>
          <a:lstStyle/>
          <a:p>
            <a:endParaRPr lang="it-IT" dirty="0"/>
          </a:p>
        </p:txBody>
      </p:sp>
      <p:sp>
        <p:nvSpPr>
          <p:cNvPr id="15" name="cerchio FiCheckSquare"/>
          <p:cNvSpPr/>
          <p:nvPr/>
        </p:nvSpPr>
        <p:spPr>
          <a:xfrm>
            <a:off x="640080" y="3813048"/>
            <a:ext cx="512064" cy="512064"/>
          </a:xfrm>
          <a:prstGeom prst="ellipse">
            <a:avLst/>
          </a:prstGeom>
          <a:solidFill>
            <a:schemeClr val="accent1"/>
          </a:solidFill>
          <a:ln/>
        </p:spPr>
        <p:txBody>
          <a:bodyPr/>
          <a:lstStyle/>
          <a:p>
            <a:endParaRPr lang="it-IT" dirty="0"/>
          </a:p>
        </p:txBody>
      </p:sp>
      <p:pic>
        <p:nvPicPr>
          <p:cNvPr id="16" name="Image 2" descr="FiCheckSquar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300" dirty="0">
                <a:solidFill>
                  <a:schemeClr val="bg1"/>
                </a:solidFill>
              </a:rPr>
              <a:t>Prima di affidare un compito, verificare quali funzioni lo strumento offre davvero: informazioni aggiornate senza ricerca, o calcoli senza esecuzione di codice, espongono a errori evitabili.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64</a:t>
            </a:fld>
            <a:endParaRPr lang="it-IT"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Scomporre, pianificare, valutare alternative</a:t>
            </a:r>
            <a:endParaRPr lang="it-IT"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txBody>
          <a:bodyPr/>
          <a:lstStyle/>
          <a:p>
            <a:endParaRPr lang="it-IT" dirty="0"/>
          </a:p>
        </p:txBody>
      </p:sp>
      <p:sp>
        <p:nvSpPr>
          <p:cNvPr id="5" name="cerchio FiBox"/>
          <p:cNvSpPr/>
          <p:nvPr/>
        </p:nvSpPr>
        <p:spPr>
          <a:xfrm>
            <a:off x="841248" y="1325880"/>
            <a:ext cx="502920" cy="502920"/>
          </a:xfrm>
          <a:prstGeom prst="ellipse">
            <a:avLst/>
          </a:prstGeom>
          <a:solidFill>
            <a:schemeClr val="accent1"/>
          </a:solidFill>
          <a:ln/>
        </p:spPr>
        <p:txBody>
          <a:bodyPr/>
          <a:lstStyle/>
          <a:p>
            <a:endParaRPr lang="it-IT" dirty="0"/>
          </a:p>
        </p:txBody>
      </p:sp>
      <p:pic>
        <p:nvPicPr>
          <p:cNvPr id="6" name="Image 0" descr="FiBox"/>
          <p:cNvPicPr>
            <a:picLocks noChangeAspect="1"/>
          </p:cNvPicPr>
          <p:nvPr/>
        </p:nvPicPr>
        <p:blipFill>
          <a:blip r:embed="rId3"/>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Problema complesso</a:t>
            </a:r>
            <a:endParaRPr lang="it-IT"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txBody>
          <a:bodyPr/>
          <a:lstStyle/>
          <a:p>
            <a:endParaRPr lang="it-IT" dirty="0"/>
          </a:p>
        </p:txBody>
      </p:sp>
      <p:sp>
        <p:nvSpPr>
          <p:cNvPr id="9" name="cerchio FiGrid"/>
          <p:cNvSpPr/>
          <p:nvPr/>
        </p:nvSpPr>
        <p:spPr>
          <a:xfrm>
            <a:off x="2258568" y="1325880"/>
            <a:ext cx="502920" cy="502920"/>
          </a:xfrm>
          <a:prstGeom prst="ellipse">
            <a:avLst/>
          </a:prstGeom>
          <a:solidFill>
            <a:schemeClr val="accent1"/>
          </a:solidFill>
          <a:ln/>
        </p:spPr>
        <p:txBody>
          <a:bodyPr/>
          <a:lstStyle/>
          <a:p>
            <a:endParaRPr lang="it-IT" dirty="0"/>
          </a:p>
        </p:txBody>
      </p:sp>
      <p:pic>
        <p:nvPicPr>
          <p:cNvPr id="10" name="Image 1" descr="FiGrid"/>
          <p:cNvPicPr>
            <a:picLocks noChangeAspect="1"/>
          </p:cNvPicPr>
          <p:nvPr/>
        </p:nvPicPr>
        <p:blipFill>
          <a:blip r:embed="rId4"/>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Sotto-problemi</a:t>
            </a:r>
            <a:endParaRPr lang="it-IT"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txBody>
          <a:bodyPr/>
          <a:lstStyle/>
          <a:p>
            <a:endParaRPr lang="it-IT" dirty="0"/>
          </a:p>
        </p:txBody>
      </p:sp>
      <p:sp>
        <p:nvSpPr>
          <p:cNvPr id="13" name="cerchio FiList"/>
          <p:cNvSpPr/>
          <p:nvPr/>
        </p:nvSpPr>
        <p:spPr>
          <a:xfrm>
            <a:off x="3675888" y="1325880"/>
            <a:ext cx="502920" cy="502920"/>
          </a:xfrm>
          <a:prstGeom prst="ellipse">
            <a:avLst/>
          </a:prstGeom>
          <a:solidFill>
            <a:schemeClr val="accent1"/>
          </a:solidFill>
          <a:ln/>
        </p:spPr>
        <p:txBody>
          <a:bodyPr/>
          <a:lstStyle/>
          <a:p>
            <a:endParaRPr lang="it-IT" dirty="0"/>
          </a:p>
        </p:txBody>
      </p:sp>
      <p:pic>
        <p:nvPicPr>
          <p:cNvPr id="14" name="Image 2" descr="FiList"/>
          <p:cNvPicPr>
            <a:picLocks noChangeAspect="1"/>
          </p:cNvPicPr>
          <p:nvPr/>
        </p:nvPicPr>
        <p:blipFill>
          <a:blip r:embed="rId5"/>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Piano e fasi</a:t>
            </a:r>
            <a:endParaRPr lang="it-IT"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txBody>
          <a:bodyPr/>
          <a:lstStyle/>
          <a:p>
            <a:endParaRPr lang="it-IT" dirty="0"/>
          </a:p>
        </p:txBody>
      </p:sp>
      <p:sp>
        <p:nvSpPr>
          <p:cNvPr id="17" name="cerchio FiShuffle"/>
          <p:cNvSpPr/>
          <p:nvPr/>
        </p:nvSpPr>
        <p:spPr>
          <a:xfrm>
            <a:off x="5093208" y="1325880"/>
            <a:ext cx="502920" cy="502920"/>
          </a:xfrm>
          <a:prstGeom prst="ellipse">
            <a:avLst/>
          </a:prstGeom>
          <a:solidFill>
            <a:schemeClr val="accent1"/>
          </a:solidFill>
          <a:ln/>
        </p:spPr>
        <p:txBody>
          <a:bodyPr/>
          <a:lstStyle/>
          <a:p>
            <a:endParaRPr lang="it-IT" dirty="0"/>
          </a:p>
        </p:txBody>
      </p:sp>
      <p:pic>
        <p:nvPicPr>
          <p:cNvPr id="18" name="Image 3" descr="FiShuffle"/>
          <p:cNvPicPr>
            <a:picLocks noChangeAspect="1"/>
          </p:cNvPicPr>
          <p:nvPr/>
        </p:nvPicPr>
        <p:blipFill>
          <a:blip r:embed="rId6"/>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Alternative</a:t>
            </a:r>
            <a:endParaRPr lang="it-IT"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txBody>
          <a:bodyPr/>
          <a:lstStyle/>
          <a:p>
            <a:endParaRPr lang="it-IT" dirty="0"/>
          </a:p>
        </p:txBody>
      </p:sp>
      <p:sp>
        <p:nvSpPr>
          <p:cNvPr id="21" name="cerchio FiSliders"/>
          <p:cNvSpPr/>
          <p:nvPr/>
        </p:nvSpPr>
        <p:spPr>
          <a:xfrm>
            <a:off x="6510528" y="1325880"/>
            <a:ext cx="502920" cy="502920"/>
          </a:xfrm>
          <a:prstGeom prst="ellipse">
            <a:avLst/>
          </a:prstGeom>
          <a:solidFill>
            <a:schemeClr val="accent1"/>
          </a:solidFill>
          <a:ln/>
        </p:spPr>
        <p:txBody>
          <a:bodyPr/>
          <a:lstStyle/>
          <a:p>
            <a:endParaRPr lang="it-IT" dirty="0"/>
          </a:p>
        </p:txBody>
      </p:sp>
      <p:pic>
        <p:nvPicPr>
          <p:cNvPr id="22" name="Image 4" descr="FiSliders"/>
          <p:cNvPicPr>
            <a:picLocks noChangeAspect="1"/>
          </p:cNvPicPr>
          <p:nvPr/>
        </p:nvPicPr>
        <p:blipFill>
          <a:blip r:embed="rId7"/>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Confronto per criteri</a:t>
            </a:r>
            <a:endParaRPr lang="it-IT"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txBody>
          <a:bodyPr/>
          <a:lstStyle/>
          <a:p>
            <a:endParaRPr lang="it-IT" dirty="0"/>
          </a:p>
        </p:txBody>
      </p:sp>
      <p:sp>
        <p:nvSpPr>
          <p:cNvPr id="25" name="cerchio FiUserCheck"/>
          <p:cNvSpPr/>
          <p:nvPr/>
        </p:nvSpPr>
        <p:spPr>
          <a:xfrm>
            <a:off x="7927848" y="1325880"/>
            <a:ext cx="502920" cy="502920"/>
          </a:xfrm>
          <a:prstGeom prst="ellipse">
            <a:avLst/>
          </a:prstGeom>
          <a:solidFill>
            <a:schemeClr val="bg1"/>
          </a:solidFill>
          <a:ln/>
        </p:spPr>
        <p:txBody>
          <a:bodyPr/>
          <a:lstStyle/>
          <a:p>
            <a:endParaRPr lang="it-IT" dirty="0"/>
          </a:p>
        </p:txBody>
      </p:sp>
      <p:pic>
        <p:nvPicPr>
          <p:cNvPr id="26" name="Image 5" descr="FiUserCheck"/>
          <p:cNvPicPr>
            <a:picLocks noChangeAspect="1"/>
          </p:cNvPicPr>
          <p:nvPr/>
        </p:nvPicPr>
        <p:blipFill>
          <a:blip r:embed="rId8"/>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marL="0" indent="0" algn="ctr">
              <a:buNone/>
            </a:pPr>
            <a:r>
              <a:rPr lang="it-IT" sz="1300" b="1" dirty="0">
                <a:solidFill>
                  <a:schemeClr val="bg1"/>
                </a:solidFill>
              </a:rPr>
              <a:t>Scelta della persona</a:t>
            </a:r>
            <a:endParaRPr lang="it-IT"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txBody>
          <a:bodyPr/>
          <a:lstStyle/>
          <a:p>
            <a:endParaRPr lang="it-IT" dirty="0"/>
          </a:p>
        </p:txBody>
      </p:sp>
      <p:sp>
        <p:nvSpPr>
          <p:cNvPr id="29" name="cerchio FiAlertCircle"/>
          <p:cNvSpPr/>
          <p:nvPr/>
        </p:nvSpPr>
        <p:spPr>
          <a:xfrm>
            <a:off x="640080" y="3200400"/>
            <a:ext cx="457200" cy="457200"/>
          </a:xfrm>
          <a:prstGeom prst="ellipse">
            <a:avLst/>
          </a:prstGeom>
          <a:solidFill>
            <a:schemeClr val="accent1"/>
          </a:solidFill>
          <a:ln/>
        </p:spPr>
        <p:txBody>
          <a:bodyPr/>
          <a:lstStyle/>
          <a:p>
            <a:endParaRPr lang="it-IT" dirty="0"/>
          </a:p>
        </p:txBody>
      </p:sp>
      <p:pic>
        <p:nvPicPr>
          <p:cNvPr id="30" name="Image 6" descr="FiAlertCircle"/>
          <p:cNvPicPr>
            <a:picLocks noChangeAspect="1"/>
          </p:cNvPicPr>
          <p:nvPr/>
        </p:nvPicPr>
        <p:blipFill>
          <a:blip r:embed="rId9"/>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Dipende dalle informazioni</a:t>
            </a:r>
            <a:endParaRPr lang="it-IT"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Fornire obiettivi, risorse, budget e scadenze permette all’AI di elaborare piani più pertinenti e utilizzabili.</a:t>
            </a:r>
            <a:endParaRPr lang="it-IT"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txBody>
          <a:bodyPr/>
          <a:lstStyle/>
          <a:p>
            <a:endParaRPr lang="it-IT" dirty="0"/>
          </a:p>
        </p:txBody>
      </p:sp>
      <p:sp>
        <p:nvSpPr>
          <p:cNvPr id="34" name="cerchio FiEye"/>
          <p:cNvSpPr/>
          <p:nvPr/>
        </p:nvSpPr>
        <p:spPr>
          <a:xfrm>
            <a:off x="4892040" y="3200400"/>
            <a:ext cx="457200" cy="457200"/>
          </a:xfrm>
          <a:prstGeom prst="ellipse">
            <a:avLst/>
          </a:prstGeom>
          <a:solidFill>
            <a:schemeClr val="accent1"/>
          </a:solidFill>
          <a:ln/>
        </p:spPr>
        <p:txBody>
          <a:bodyPr/>
          <a:lstStyle/>
          <a:p>
            <a:endParaRPr lang="it-IT" dirty="0"/>
          </a:p>
        </p:txBody>
      </p:sp>
      <p:pic>
        <p:nvPicPr>
          <p:cNvPr id="35" name="Image 7" descr="FiEye"/>
          <p:cNvPicPr>
            <a:picLocks noChangeAspect="1"/>
          </p:cNvPicPr>
          <p:nvPr/>
        </p:nvPicPr>
        <p:blipFill>
          <a:blip r:embed="rId10"/>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Oggettività apparente</a:t>
            </a:r>
            <a:endParaRPr lang="it-IT"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Definire criteri espliciti aiuta a confrontare le alternative in modo più trasparente e strutturato.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65</a:t>
            </a:fld>
            <a:endParaRPr lang="it-IT"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Generazione di idee e supporto creativo</a:t>
            </a:r>
            <a:endParaRPr lang="it-IT"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txBody>
          <a:bodyPr/>
          <a:lstStyle/>
          <a:p>
            <a:endParaRPr lang="it-IT" dirty="0"/>
          </a:p>
        </p:txBody>
      </p:sp>
      <p:sp>
        <p:nvSpPr>
          <p:cNvPr id="5" name="cerchio FiZap"/>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Punti di forza</a:t>
            </a:r>
            <a:endParaRPr lang="it-IT"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Molte idee e varianti in pochi secondi</a:t>
            </a:r>
            <a:endParaRPr lang="it-IT" sz="1300" dirty="0"/>
          </a:p>
          <a:p>
            <a:pPr marL="177800" indent="-177800">
              <a:spcAft>
                <a:spcPts val="200"/>
              </a:spcAft>
              <a:buSzPct val="100000"/>
              <a:buChar char="•"/>
            </a:pPr>
            <a:r>
              <a:rPr lang="it-IT" sz="1300" dirty="0">
                <a:solidFill>
                  <a:schemeClr val="tx2"/>
                </a:solidFill>
              </a:rPr>
              <a:t>Combinazioni tra ambiti diversi</a:t>
            </a:r>
            <a:endParaRPr lang="it-IT" sz="1300" dirty="0"/>
          </a:p>
          <a:p>
            <a:pPr marL="177800" indent="-177800">
              <a:spcAft>
                <a:spcPts val="200"/>
              </a:spcAft>
              <a:buSzPct val="100000"/>
              <a:buChar char="•"/>
            </a:pPr>
            <a:r>
              <a:rPr lang="it-IT" sz="1300" dirty="0">
                <a:solidFill>
                  <a:schemeClr val="tx2"/>
                </a:solidFill>
              </a:rPr>
              <a:t>Superare la pagina bianca</a:t>
            </a:r>
            <a:endParaRPr lang="it-IT" sz="1300" dirty="0"/>
          </a:p>
          <a:p>
            <a:pPr marL="177800" indent="-177800">
              <a:spcAft>
                <a:spcPts val="200"/>
              </a:spcAft>
              <a:buSzPct val="100000"/>
              <a:buChar char="•"/>
            </a:pPr>
            <a:r>
              <a:rPr lang="it-IT" sz="1300" dirty="0">
                <a:solidFill>
                  <a:schemeClr val="tx2"/>
                </a:solidFill>
              </a:rPr>
              <a:t>Assumere punti di vista diversi</a:t>
            </a:r>
            <a:endParaRPr lang="it-IT"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txBody>
          <a:bodyPr/>
          <a:lstStyle/>
          <a:p>
            <a:endParaRPr lang="it-IT" dirty="0"/>
          </a:p>
        </p:txBody>
      </p:sp>
      <p:sp>
        <p:nvSpPr>
          <p:cNvPr id="10" name="cerchio FiAlert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lert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Limiti</a:t>
            </a:r>
            <a:endParaRPr lang="it-IT"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Tende a soluzioni plausibili e convenzionali</a:t>
            </a:r>
            <a:endParaRPr lang="it-IT" sz="1300" dirty="0"/>
          </a:p>
          <a:p>
            <a:pPr marL="177800" indent="-177800">
              <a:spcAft>
                <a:spcPts val="200"/>
              </a:spcAft>
              <a:buSzPct val="100000"/>
              <a:buChar char="•"/>
            </a:pPr>
            <a:r>
              <a:rPr lang="it-IT" sz="1300" dirty="0">
                <a:solidFill>
                  <a:schemeClr val="tx2"/>
                </a:solidFill>
              </a:rPr>
              <a:t>Non conosce vincoli e cultura dell'organizzazione</a:t>
            </a:r>
            <a:endParaRPr lang="it-IT" sz="1300" dirty="0"/>
          </a:p>
          <a:p>
            <a:pPr marL="177800" indent="-177800">
              <a:spcAft>
                <a:spcPts val="200"/>
              </a:spcAft>
              <a:buSzPct val="100000"/>
              <a:buChar char="•"/>
            </a:pPr>
            <a:r>
              <a:rPr lang="it-IT" sz="1300" dirty="0">
                <a:solidFill>
                  <a:schemeClr val="tx2"/>
                </a:solidFill>
              </a:rPr>
              <a:t>Può ridurre la varietà complessiva delle idee</a:t>
            </a:r>
            <a:endParaRPr lang="it-IT"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15" name="Text 10"/>
          <p:cNvSpPr txBox="1"/>
          <p:nvPr/>
        </p:nvSpPr>
        <p:spPr>
          <a:xfrm>
            <a:off x="640080" y="3566160"/>
            <a:ext cx="3657600" cy="256032"/>
          </a:xfrm>
          <a:prstGeom prst="rect">
            <a:avLst/>
          </a:prstGeom>
          <a:noFill/>
          <a:ln/>
        </p:spPr>
        <p:txBody>
          <a:bodyPr wrap="square" lIns="0" tIns="0" rIns="0" bIns="0" rtlCol="0" anchor="t"/>
          <a:lstStyle/>
          <a:p>
            <a:pPr marL="0" indent="0">
              <a:buNone/>
            </a:pPr>
            <a:r>
              <a:rPr lang="it-IT" sz="1000" b="1" kern="0" spc="200" dirty="0">
                <a:solidFill>
                  <a:schemeClr val="accent3"/>
                </a:solidFill>
              </a:rPr>
              <a:t>UN ESEMPIO DI EVIDENZA</a:t>
            </a:r>
            <a:endParaRPr lang="it-IT" sz="1000" dirty="0"/>
          </a:p>
        </p:txBody>
      </p:sp>
      <p:sp>
        <p:nvSpPr>
          <p:cNvPr id="16" name="Text 11"/>
          <p:cNvSpPr txBox="1"/>
          <p:nvPr/>
        </p:nvSpPr>
        <p:spPr>
          <a:xfrm>
            <a:off x="640080" y="3772051"/>
            <a:ext cx="7863840" cy="411480"/>
          </a:xfrm>
          <a:prstGeom prst="rect">
            <a:avLst/>
          </a:prstGeom>
          <a:noFill/>
          <a:ln/>
        </p:spPr>
        <p:txBody>
          <a:bodyPr wrap="square" lIns="0" tIns="0" rIns="0" bIns="0" rtlCol="0" anchor="t"/>
          <a:lstStyle/>
          <a:p>
            <a:pPr marL="0" indent="0">
              <a:buNone/>
            </a:pPr>
            <a:r>
              <a:rPr lang="it-IT" sz="1400" dirty="0">
                <a:solidFill>
                  <a:schemeClr val="bg1"/>
                </a:solidFill>
              </a:rPr>
              <a:t>L'AI può ampliare e accelerare la generazione di idee. Per ottenere maggiore varietà è utile esplorare prospettive differenti e integrare il contributo umano.</a:t>
            </a:r>
            <a:endParaRPr lang="it-IT"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marL="0" indent="0">
              <a:buNone/>
            </a:pPr>
            <a:r>
              <a:rPr lang="it-IT" sz="1000" dirty="0">
                <a:solidFill>
                  <a:schemeClr val="accent2"/>
                </a:solidFill>
              </a:rPr>
              <a:t>Fonte: Doshi e Hauser, Science </a:t>
            </a:r>
            <a:r>
              <a:rPr lang="it-IT" sz="1000" dirty="0" err="1">
                <a:solidFill>
                  <a:schemeClr val="accent2"/>
                </a:solidFill>
              </a:rPr>
              <a:t>Advances</a:t>
            </a:r>
            <a:r>
              <a:rPr lang="it-IT" sz="1000" dirty="0">
                <a:solidFill>
                  <a:schemeClr val="accent2"/>
                </a:solidFill>
              </a:rPr>
              <a:t>, 2024</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66</a:t>
            </a:fld>
            <a:endParaRPr lang="it-IT"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Allucinazioni e informazioni false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fluidità o la sicurezza del tono non dimostra che un'affermazione sia corretta o verificata</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67</a:t>
            </a:fld>
            <a:endParaRPr lang="it-IT"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cos'è un'allucinazione</a:t>
            </a:r>
            <a:endParaRPr lang="it-IT"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Pl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Pl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Inventate</a:t>
            </a:r>
            <a:endParaRPr lang="it-IT"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Fatti, persone, dati o documenti che non esistono</a:t>
            </a:r>
            <a:endParaRPr lang="it-IT" sz="1300" dirty="0"/>
          </a:p>
          <a:p>
            <a:pPr marL="0" indent="0">
              <a:buNone/>
            </a:pPr>
            <a:r>
              <a:rPr lang="it-IT" sz="1300" dirty="0">
                <a:solidFill>
                  <a:schemeClr val="tx2"/>
                </a:solidFill>
              </a:rPr>
              <a:t>Esempio: Una sentenza mai pronunciata</a:t>
            </a:r>
            <a:endParaRPr lang="it-IT"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Edit"/>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Edit"/>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Inesatte</a:t>
            </a:r>
            <a:endParaRPr lang="it-IT"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Elementi reali riportati in modo sbagliato</a:t>
            </a:r>
            <a:endParaRPr lang="it-IT" sz="1300" dirty="0"/>
          </a:p>
          <a:p>
            <a:pPr marL="0" indent="0">
              <a:buNone/>
            </a:pPr>
            <a:r>
              <a:rPr lang="it-IT" sz="1300" dirty="0">
                <a:solidFill>
                  <a:schemeClr val="tx2"/>
                </a:solidFill>
              </a:rPr>
              <a:t>Esempio: Una data spostata, un numero errato, l'articolo sbagliato</a:t>
            </a:r>
            <a:endParaRPr lang="it-IT"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Link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ink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Prive di fondamento</a:t>
            </a:r>
            <a:endParaRPr lang="it-IT"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Affermazioni non supportate dalle fonti disponibili</a:t>
            </a:r>
            <a:endParaRPr lang="it-IT" sz="1300" dirty="0"/>
          </a:p>
          <a:p>
            <a:pPr marL="0" indent="0">
              <a:buNone/>
            </a:pPr>
            <a:r>
              <a:rPr lang="it-IT" sz="1300" dirty="0">
                <a:solidFill>
                  <a:schemeClr val="tx2"/>
                </a:solidFill>
              </a:rPr>
              <a:t>Esempio: Un riassunto che aggiunge ciò che il documento non dice</a:t>
            </a:r>
            <a:endParaRPr lang="it-IT"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400" dirty="0">
                <a:solidFill>
                  <a:schemeClr val="bg1"/>
                </a:solidFill>
              </a:rPr>
              <a:t>Contenuti presentati come veri, nella stessa forma delle risposte corrette.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68</a:t>
            </a:fld>
            <a:endParaRPr lang="it-IT"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Citazioni, riferimenti e fonti inesistenti</a:t>
            </a:r>
            <a:endParaRPr lang="it-IT"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txBody>
          <a:bodyPr/>
          <a:lstStyle/>
          <a:p>
            <a:endParaRPr lang="it-IT"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dirty="0">
                <a:solidFill>
                  <a:schemeClr val="accent1"/>
                </a:solidFill>
              </a:rPr>
              <a:t>UN CASO REALE</a:t>
            </a:r>
            <a:endParaRPr lang="it-IT"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marL="0" indent="0">
              <a:buNone/>
            </a:pPr>
            <a:r>
              <a:rPr lang="it-IT" sz="1700" b="1" dirty="0">
                <a:solidFill>
                  <a:schemeClr val="bg1"/>
                </a:solidFill>
              </a:rPr>
              <a:t>Mata contro Avianca, New York, 2023</a:t>
            </a:r>
            <a:endParaRPr lang="it-IT"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it-IT" sz="1300" dirty="0">
                <a:solidFill>
                  <a:schemeClr val="accent3"/>
                </a:solidFill>
              </a:rPr>
              <a:t>Una memoria legale cita precedenti generati da ChatGPT</a:t>
            </a:r>
            <a:endParaRPr lang="it-IT" sz="1300" dirty="0"/>
          </a:p>
          <a:p>
            <a:pPr marL="177800" indent="-177800">
              <a:spcAft>
                <a:spcPts val="500"/>
              </a:spcAft>
              <a:buSzPct val="100000"/>
              <a:buChar char="•"/>
            </a:pPr>
            <a:r>
              <a:rPr lang="it-IT" sz="1300" dirty="0">
                <a:solidFill>
                  <a:schemeClr val="accent3"/>
                </a:solidFill>
              </a:rPr>
              <a:t>Nomi, numeri e citazioni formalmente perfetti, ma inesistenti</a:t>
            </a:r>
            <a:endParaRPr lang="it-IT" sz="1300" dirty="0"/>
          </a:p>
          <a:p>
            <a:pPr marL="177800" indent="-177800">
              <a:spcAft>
                <a:spcPts val="500"/>
              </a:spcAft>
              <a:buSzPct val="100000"/>
              <a:buChar char="•"/>
            </a:pPr>
            <a:r>
              <a:rPr lang="it-IT" sz="1300" dirty="0">
                <a:solidFill>
                  <a:schemeClr val="accent3"/>
                </a:solidFill>
              </a:rPr>
              <a:t>Il sistema aveva "confermato" che i casi erano reali</a:t>
            </a:r>
            <a:endParaRPr lang="it-IT" sz="1300" dirty="0"/>
          </a:p>
          <a:p>
            <a:pPr marL="177800" indent="-177800">
              <a:spcAft>
                <a:spcPts val="500"/>
              </a:spcAft>
              <a:buSzPct val="100000"/>
              <a:buChar char="•"/>
            </a:pPr>
            <a:r>
              <a:rPr lang="it-IT" sz="1300" dirty="0">
                <a:solidFill>
                  <a:schemeClr val="accent3"/>
                </a:solidFill>
              </a:rPr>
              <a:t>Il giudice sanziona avvocati e studio</a:t>
            </a:r>
            <a:endParaRPr lang="it-IT"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marL="0" indent="0">
              <a:buNone/>
            </a:pPr>
            <a:r>
              <a:rPr lang="it-IT" sz="1000" dirty="0">
                <a:solidFill>
                  <a:schemeClr val="accent2"/>
                </a:solidFill>
              </a:rPr>
              <a:t>Fonte: Tribunale distrettuale degli Stati Uniti, S.D.N.Y., giugno 2023</a:t>
            </a:r>
            <a:endParaRPr lang="it-IT"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marL="0" indent="0">
              <a:buNone/>
            </a:pPr>
            <a:r>
              <a:rPr lang="it-IT" sz="1500" b="1" dirty="0">
                <a:solidFill>
                  <a:schemeClr val="tx1"/>
                </a:solidFill>
              </a:rPr>
              <a:t>Forme frequenti</a:t>
            </a:r>
            <a:endParaRPr lang="it-IT" sz="1500" dirty="0"/>
          </a:p>
        </p:txBody>
      </p:sp>
      <p:sp>
        <p:nvSpPr>
          <p:cNvPr id="10" name="cerchio FiBook"/>
          <p:cNvSpPr/>
          <p:nvPr/>
        </p:nvSpPr>
        <p:spPr>
          <a:xfrm>
            <a:off x="4937760" y="1554480"/>
            <a:ext cx="438912" cy="438912"/>
          </a:xfrm>
          <a:prstGeom prst="ellipse">
            <a:avLst/>
          </a:prstGeom>
          <a:solidFill>
            <a:schemeClr val="accent1"/>
          </a:solidFill>
          <a:ln/>
        </p:spPr>
        <p:txBody>
          <a:bodyPr/>
          <a:lstStyle/>
          <a:p>
            <a:endParaRPr lang="it-IT" dirty="0"/>
          </a:p>
        </p:txBody>
      </p:sp>
      <p:pic>
        <p:nvPicPr>
          <p:cNvPr id="11" name="Image 0" descr="FiBook"/>
          <p:cNvPicPr>
            <a:picLocks noChangeAspect="1"/>
          </p:cNvPicPr>
          <p:nvPr/>
        </p:nvPicPr>
        <p:blipFill>
          <a:blip r:embed="rId3"/>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marL="0" indent="0">
              <a:buNone/>
            </a:pPr>
            <a:r>
              <a:rPr lang="it-IT" sz="1300" dirty="0">
                <a:solidFill>
                  <a:schemeClr val="tx1"/>
                </a:solidFill>
              </a:rPr>
              <a:t>Riferimenti bibliografici verosimili ma inesistenti</a:t>
            </a:r>
            <a:endParaRPr lang="it-IT" sz="1300" dirty="0"/>
          </a:p>
        </p:txBody>
      </p:sp>
      <p:sp>
        <p:nvSpPr>
          <p:cNvPr id="13" name="cerchio FiLink"/>
          <p:cNvSpPr/>
          <p:nvPr/>
        </p:nvSpPr>
        <p:spPr>
          <a:xfrm>
            <a:off x="4937760" y="2176272"/>
            <a:ext cx="438912" cy="438912"/>
          </a:xfrm>
          <a:prstGeom prst="ellipse">
            <a:avLst/>
          </a:prstGeom>
          <a:solidFill>
            <a:schemeClr val="accent1"/>
          </a:solidFill>
          <a:ln/>
        </p:spPr>
        <p:txBody>
          <a:bodyPr/>
          <a:lstStyle/>
          <a:p>
            <a:endParaRPr lang="it-IT" dirty="0"/>
          </a:p>
        </p:txBody>
      </p:sp>
      <p:pic>
        <p:nvPicPr>
          <p:cNvPr id="14" name="Image 1" descr="FiLink"/>
          <p:cNvPicPr>
            <a:picLocks noChangeAspect="1"/>
          </p:cNvPicPr>
          <p:nvPr/>
        </p:nvPicPr>
        <p:blipFill>
          <a:blip r:embed="rId4"/>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marL="0" indent="0">
              <a:buNone/>
            </a:pPr>
            <a:r>
              <a:rPr lang="it-IT" sz="1300" dirty="0">
                <a:solidFill>
                  <a:schemeClr val="tx1"/>
                </a:solidFill>
              </a:rPr>
              <a:t>Link a pagine che non esistono</a:t>
            </a:r>
            <a:endParaRPr lang="it-IT" sz="1300" dirty="0"/>
          </a:p>
        </p:txBody>
      </p:sp>
      <p:sp>
        <p:nvSpPr>
          <p:cNvPr id="16" name="cerchio FiMessageCircle"/>
          <p:cNvSpPr/>
          <p:nvPr/>
        </p:nvSpPr>
        <p:spPr>
          <a:xfrm>
            <a:off x="4937760" y="2798064"/>
            <a:ext cx="438912" cy="438912"/>
          </a:xfrm>
          <a:prstGeom prst="ellipse">
            <a:avLst/>
          </a:prstGeom>
          <a:solidFill>
            <a:schemeClr val="accent1"/>
          </a:solidFill>
          <a:ln/>
        </p:spPr>
        <p:txBody>
          <a:bodyPr/>
          <a:lstStyle/>
          <a:p>
            <a:endParaRPr lang="it-IT" dirty="0"/>
          </a:p>
        </p:txBody>
      </p:sp>
      <p:pic>
        <p:nvPicPr>
          <p:cNvPr id="17" name="Image 2" descr="FiMessageCircle"/>
          <p:cNvPicPr>
            <a:picLocks noChangeAspect="1"/>
          </p:cNvPicPr>
          <p:nvPr/>
        </p:nvPicPr>
        <p:blipFill>
          <a:blip r:embed="rId5"/>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marL="0" indent="0">
              <a:buNone/>
            </a:pPr>
            <a:r>
              <a:rPr lang="it-IT" sz="1300" dirty="0">
                <a:solidFill>
                  <a:schemeClr val="tx1"/>
                </a:solidFill>
              </a:rPr>
              <a:t>Citazioni attribuite a persone reali</a:t>
            </a:r>
            <a:endParaRPr lang="it-IT" sz="1300" dirty="0"/>
          </a:p>
        </p:txBody>
      </p:sp>
      <p:sp>
        <p:nvSpPr>
          <p:cNvPr id="19" name="cerchio FiFileText"/>
          <p:cNvSpPr/>
          <p:nvPr/>
        </p:nvSpPr>
        <p:spPr>
          <a:xfrm>
            <a:off x="4937760" y="3419856"/>
            <a:ext cx="438912" cy="438912"/>
          </a:xfrm>
          <a:prstGeom prst="ellipse">
            <a:avLst/>
          </a:prstGeom>
          <a:solidFill>
            <a:schemeClr val="accent1"/>
          </a:solidFill>
          <a:ln/>
        </p:spPr>
        <p:txBody>
          <a:bodyPr/>
          <a:lstStyle/>
          <a:p>
            <a:endParaRPr lang="it-IT" dirty="0"/>
          </a:p>
        </p:txBody>
      </p:sp>
      <p:pic>
        <p:nvPicPr>
          <p:cNvPr id="20" name="Image 3" descr="FiFileText"/>
          <p:cNvPicPr>
            <a:picLocks noChangeAspect="1"/>
          </p:cNvPicPr>
          <p:nvPr/>
        </p:nvPicPr>
        <p:blipFill>
          <a:blip r:embed="rId6"/>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marL="0" indent="0">
              <a:buNone/>
            </a:pPr>
            <a:r>
              <a:rPr lang="it-IT" sz="1300" dirty="0">
                <a:solidFill>
                  <a:schemeClr val="tx1"/>
                </a:solidFill>
              </a:rPr>
              <a:t>Norme o sentenze inventate</a:t>
            </a:r>
            <a:endParaRPr lang="it-IT"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txBody>
          <a:bodyPr/>
          <a:lstStyle/>
          <a:p>
            <a:endParaRPr lang="it-IT" dirty="0"/>
          </a:p>
        </p:txBody>
      </p:sp>
      <p:sp>
        <p:nvSpPr>
          <p:cNvPr id="23" name="Text 16"/>
          <p:cNvSpPr txBox="1"/>
          <p:nvPr/>
        </p:nvSpPr>
        <p:spPr>
          <a:xfrm>
            <a:off x="5029200" y="4069080"/>
            <a:ext cx="3566160" cy="457200"/>
          </a:xfrm>
          <a:prstGeom prst="rect">
            <a:avLst/>
          </a:prstGeom>
          <a:noFill/>
          <a:ln/>
        </p:spPr>
        <p:txBody>
          <a:bodyPr wrap="square" lIns="0" tIns="0" rIns="0" bIns="0" rtlCol="0" anchor="ctr"/>
          <a:lstStyle/>
          <a:p>
            <a:pPr marL="0" indent="0">
              <a:buNone/>
            </a:pPr>
            <a:r>
              <a:rPr lang="it-IT" sz="1300" b="1" dirty="0">
                <a:solidFill>
                  <a:schemeClr val="tx1"/>
                </a:solidFill>
              </a:rPr>
              <a:t>Una fonte citata è un'indicazione da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69</a:t>
            </a:fld>
            <a:endParaRPr lang="it-IT"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Perché si verificano le allucinazioni</a:t>
            </a:r>
            <a:endParaRPr lang="it-IT"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txBody>
          <a:bodyPr/>
          <a:lstStyle/>
          <a:p>
            <a:endParaRPr lang="it-IT" dirty="0"/>
          </a:p>
        </p:txBody>
      </p:sp>
      <p:sp>
        <p:nvSpPr>
          <p:cNvPr id="5" name="cerchio FiShuff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Generazione plausibile</a:t>
            </a:r>
            <a:endParaRPr lang="it-IT" sz="1300" dirty="0"/>
          </a:p>
        </p:txBody>
      </p:sp>
      <p:sp>
        <p:nvSpPr>
          <p:cNvPr id="8" name="Text 4"/>
          <p:cNvSpPr txBox="1"/>
          <p:nvPr/>
        </p:nvSpPr>
        <p:spPr>
          <a:xfrm>
            <a:off x="621792" y="1728216"/>
            <a:ext cx="2292096" cy="612648"/>
          </a:xfrm>
          <a:prstGeom prst="rect">
            <a:avLst/>
          </a:prstGeom>
          <a:noFill/>
          <a:ln/>
        </p:spPr>
        <p:txBody>
          <a:bodyPr wrap="square" lIns="0" tIns="0" rIns="0" bIns="0" rtlCol="0" anchor="t"/>
          <a:lstStyle/>
          <a:p>
            <a:pPr marL="0" indent="0" algn="just">
              <a:buNone/>
            </a:pPr>
            <a:r>
              <a:rPr lang="it-IT" sz="1200" dirty="0">
                <a:solidFill>
                  <a:schemeClr val="tx2"/>
                </a:solidFill>
              </a:rPr>
              <a:t>La generazione di una risposta non garantisce che ogni affermazione venga verificata rispetto a fonti affidabili.</a:t>
            </a:r>
            <a:endParaRPr lang="it-IT"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txBody>
          <a:bodyPr/>
          <a:lstStyle/>
          <a:p>
            <a:endParaRPr lang="it-IT" dirty="0"/>
          </a:p>
        </p:txBody>
      </p:sp>
      <p:sp>
        <p:nvSpPr>
          <p:cNvPr id="10" name="cerchio FiDatabase"/>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Conoscenza incompleta</a:t>
            </a:r>
            <a:endParaRPr lang="it-IT"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Su dettagli e argomenti di nicchia il modello ricostruisce</a:t>
            </a:r>
            <a:endParaRPr lang="it-IT"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txBody>
          <a:bodyPr/>
          <a:lstStyle/>
          <a:p>
            <a:endParaRPr lang="it-IT" dirty="0"/>
          </a:p>
        </p:txBody>
      </p:sp>
      <p:sp>
        <p:nvSpPr>
          <p:cNvPr id="15" name="cerchio FiCalendar"/>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Calendar"/>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Data limite</a:t>
            </a:r>
            <a:endParaRPr lang="it-IT"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Le informazioni successive non sono note</a:t>
            </a:r>
            <a:endParaRPr lang="it-IT"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txBody>
          <a:bodyPr/>
          <a:lstStyle/>
          <a:p>
            <a:endParaRPr lang="it-IT" dirty="0"/>
          </a:p>
        </p:txBody>
      </p:sp>
      <p:sp>
        <p:nvSpPr>
          <p:cNvPr id="20" name="cerchio FiMessageSquare"/>
          <p:cNvSpPr/>
          <p:nvPr/>
        </p:nvSpPr>
        <p:spPr>
          <a:xfrm>
            <a:off x="621792" y="2862072"/>
            <a:ext cx="438912" cy="438912"/>
          </a:xfrm>
          <a:prstGeom prst="ellipse">
            <a:avLst/>
          </a:prstGeom>
          <a:solidFill>
            <a:schemeClr val="accent1"/>
          </a:solidFill>
          <a:ln/>
        </p:spPr>
        <p:txBody>
          <a:bodyPr/>
          <a:lstStyle/>
          <a:p>
            <a:endParaRPr lang="it-IT" dirty="0"/>
          </a:p>
        </p:txBody>
      </p:sp>
      <p:pic>
        <p:nvPicPr>
          <p:cNvPr id="21" name="Image 3" descr="FiMessageSquare"/>
          <p:cNvPicPr>
            <a:picLocks noChangeAspect="1"/>
          </p:cNvPicPr>
          <p:nvPr/>
        </p:nvPicPr>
        <p:blipFill>
          <a:blip r:embed="rId6"/>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Tendenza a rispondere comunque</a:t>
            </a:r>
            <a:endParaRPr lang="it-IT"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L'addestramento può premiare il tirare a indovinare</a:t>
            </a:r>
            <a:endParaRPr lang="it-IT"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txBody>
          <a:bodyPr/>
          <a:lstStyle/>
          <a:p>
            <a:endParaRPr lang="it-IT" dirty="0"/>
          </a:p>
        </p:txBody>
      </p:sp>
      <p:sp>
        <p:nvSpPr>
          <p:cNvPr id="25" name="cerchio FiHelpCircle"/>
          <p:cNvSpPr/>
          <p:nvPr/>
        </p:nvSpPr>
        <p:spPr>
          <a:xfrm>
            <a:off x="4828032" y="2862072"/>
            <a:ext cx="438912" cy="438912"/>
          </a:xfrm>
          <a:prstGeom prst="ellipse">
            <a:avLst/>
          </a:prstGeom>
          <a:solidFill>
            <a:schemeClr val="accent1"/>
          </a:solidFill>
          <a:ln/>
        </p:spPr>
        <p:txBody>
          <a:bodyPr/>
          <a:lstStyle/>
          <a:p>
            <a:endParaRPr lang="it-IT" dirty="0"/>
          </a:p>
        </p:txBody>
      </p:sp>
      <p:pic>
        <p:nvPicPr>
          <p:cNvPr id="26" name="Image 4" descr="FiHelpCircle"/>
          <p:cNvPicPr>
            <a:picLocks noChangeAspect="1"/>
          </p:cNvPicPr>
          <p:nvPr/>
        </p:nvPicPr>
        <p:blipFill>
          <a:blip r:embed="rId7"/>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Premesse false</a:t>
            </a:r>
            <a:endParaRPr lang="it-IT"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 domanda stessa può indurre l'errore</a:t>
            </a:r>
            <a:endParaRPr lang="it-IT"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dirty="0">
                <a:solidFill>
                  <a:schemeClr val="tx1"/>
                </a:solidFill>
              </a:rPr>
              <a:t>L'utilizzo di fonti pertinenti, strumenti di ricerca e procedure di verifica può ridurre il rischio di informazioni errate.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70</a:t>
            </a:fld>
            <a:endParaRPr lang="it-IT"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L'autorevolezza apparente</a:t>
            </a:r>
            <a:endParaRPr lang="it-IT"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marL="0" indent="0">
              <a:buNone/>
            </a:pPr>
            <a:r>
              <a:rPr lang="it-IT" sz="1500" b="1" dirty="0">
                <a:solidFill>
                  <a:schemeClr val="accent5"/>
                </a:solidFill>
              </a:rPr>
              <a:t>Segnali di forma: non sufficienti</a:t>
            </a:r>
            <a:endParaRPr lang="it-IT"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marL="0" indent="0">
              <a:buNone/>
            </a:pPr>
            <a:r>
              <a:rPr lang="it-IT" sz="1500" b="1" dirty="0">
                <a:solidFill>
                  <a:schemeClr val="accent1"/>
                </a:solidFill>
              </a:rPr>
              <a:t>Segnali di sostanza: affidabili</a:t>
            </a:r>
            <a:endParaRPr lang="it-IT"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txBody>
          <a:bodyPr/>
          <a:lstStyle/>
          <a:p>
            <a:endParaRPr lang="it-IT" dirty="0"/>
          </a:p>
        </p:txBody>
      </p:sp>
      <p:sp>
        <p:nvSpPr>
          <p:cNvPr id="7" name="cerchio FiVolume2"/>
          <p:cNvSpPr/>
          <p:nvPr/>
        </p:nvSpPr>
        <p:spPr>
          <a:xfrm>
            <a:off x="548640" y="1527048"/>
            <a:ext cx="420624" cy="420624"/>
          </a:xfrm>
          <a:prstGeom prst="ellipse">
            <a:avLst/>
          </a:prstGeom>
          <a:solidFill>
            <a:schemeClr val="accent2"/>
          </a:solidFill>
          <a:ln/>
        </p:spPr>
        <p:txBody>
          <a:bodyPr/>
          <a:lstStyle/>
          <a:p>
            <a:endParaRPr lang="it-IT" dirty="0"/>
          </a:p>
        </p:txBody>
      </p:sp>
      <p:pic>
        <p:nvPicPr>
          <p:cNvPr id="8" name="Image 0" descr="FiVolume2"/>
          <p:cNvPicPr>
            <a:picLocks noChangeAspect="1"/>
          </p:cNvPicPr>
          <p:nvPr/>
        </p:nvPicPr>
        <p:blipFill>
          <a:blip r:embed="rId3"/>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Tono sicuro e assertivo</a:t>
            </a:r>
            <a:endParaRPr lang="it-IT"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txBody>
          <a:bodyPr/>
          <a:lstStyle/>
          <a:p>
            <a:endParaRPr lang="it-IT" dirty="0"/>
          </a:p>
        </p:txBody>
      </p:sp>
      <p:sp>
        <p:nvSpPr>
          <p:cNvPr id="11" name="cerchio FiExternalLink"/>
          <p:cNvSpPr/>
          <p:nvPr/>
        </p:nvSpPr>
        <p:spPr>
          <a:xfrm>
            <a:off x="4800600" y="1527048"/>
            <a:ext cx="420624" cy="420624"/>
          </a:xfrm>
          <a:prstGeom prst="ellipse">
            <a:avLst/>
          </a:prstGeom>
          <a:solidFill>
            <a:schemeClr val="accent1"/>
          </a:solidFill>
          <a:ln/>
        </p:spPr>
        <p:txBody>
          <a:bodyPr/>
          <a:lstStyle/>
          <a:p>
            <a:endParaRPr lang="it-IT" dirty="0"/>
          </a:p>
        </p:txBody>
      </p:sp>
      <p:pic>
        <p:nvPicPr>
          <p:cNvPr id="12" name="Image 1" descr="FiExternalLink"/>
          <p:cNvPicPr>
            <a:picLocks noChangeAspect="1"/>
          </p:cNvPicPr>
          <p:nvPr/>
        </p:nvPicPr>
        <p:blipFill>
          <a:blip r:embed="rId4"/>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Fonti verificabili, effettivamente consultate</a:t>
            </a:r>
            <a:endParaRPr lang="it-IT"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txBody>
          <a:bodyPr/>
          <a:lstStyle/>
          <a:p>
            <a:endParaRPr lang="it-IT" dirty="0"/>
          </a:p>
        </p:txBody>
      </p:sp>
      <p:sp>
        <p:nvSpPr>
          <p:cNvPr id="15" name="cerchio FiAlignLeft"/>
          <p:cNvSpPr/>
          <p:nvPr/>
        </p:nvSpPr>
        <p:spPr>
          <a:xfrm>
            <a:off x="548640" y="2185416"/>
            <a:ext cx="420624" cy="420624"/>
          </a:xfrm>
          <a:prstGeom prst="ellipse">
            <a:avLst/>
          </a:prstGeom>
          <a:solidFill>
            <a:schemeClr val="accent2"/>
          </a:solidFill>
          <a:ln/>
        </p:spPr>
        <p:txBody>
          <a:bodyPr/>
          <a:lstStyle/>
          <a:p>
            <a:endParaRPr lang="it-IT" dirty="0"/>
          </a:p>
        </p:txBody>
      </p:sp>
      <p:pic>
        <p:nvPicPr>
          <p:cNvPr id="16" name="Image 2" descr="FiAlignLeft"/>
          <p:cNvPicPr>
            <a:picLocks noChangeAspect="1"/>
          </p:cNvPicPr>
          <p:nvPr/>
        </p:nvPicPr>
        <p:blipFill>
          <a:blip r:embed="rId5"/>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Struttura ordinata, titoli ed elenchi</a:t>
            </a:r>
            <a:endParaRPr lang="it-IT"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txBody>
          <a:bodyPr/>
          <a:lstStyle/>
          <a:p>
            <a:endParaRPr lang="it-IT" dirty="0"/>
          </a:p>
        </p:txBody>
      </p:sp>
      <p:sp>
        <p:nvSpPr>
          <p:cNvPr id="19" name="cerchio FiCopy"/>
          <p:cNvSpPr/>
          <p:nvPr/>
        </p:nvSpPr>
        <p:spPr>
          <a:xfrm>
            <a:off x="4800600" y="2185416"/>
            <a:ext cx="420624" cy="420624"/>
          </a:xfrm>
          <a:prstGeom prst="ellipse">
            <a:avLst/>
          </a:prstGeom>
          <a:solidFill>
            <a:schemeClr val="accent1"/>
          </a:solidFill>
          <a:ln/>
        </p:spPr>
        <p:txBody>
          <a:bodyPr/>
          <a:lstStyle/>
          <a:p>
            <a:endParaRPr lang="it-IT" dirty="0"/>
          </a:p>
        </p:txBody>
      </p:sp>
      <p:pic>
        <p:nvPicPr>
          <p:cNvPr id="20" name="Image 3" descr="FiCopy"/>
          <p:cNvPicPr>
            <a:picLocks noChangeAspect="1"/>
          </p:cNvPicPr>
          <p:nvPr/>
        </p:nvPicPr>
        <p:blipFill>
          <a:blip r:embed="rId6"/>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con fonti indipendenti</a:t>
            </a:r>
            <a:endParaRPr lang="it-IT"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txBody>
          <a:bodyPr/>
          <a:lstStyle/>
          <a:p>
            <a:endParaRPr lang="it-IT" dirty="0"/>
          </a:p>
        </p:txBody>
      </p:sp>
      <p:sp>
        <p:nvSpPr>
          <p:cNvPr id="23" name="cerchio FiHash"/>
          <p:cNvSpPr/>
          <p:nvPr/>
        </p:nvSpPr>
        <p:spPr>
          <a:xfrm>
            <a:off x="548640" y="2843784"/>
            <a:ext cx="420624" cy="420624"/>
          </a:xfrm>
          <a:prstGeom prst="ellipse">
            <a:avLst/>
          </a:prstGeom>
          <a:solidFill>
            <a:schemeClr val="accent2"/>
          </a:solidFill>
          <a:ln/>
        </p:spPr>
        <p:txBody>
          <a:bodyPr/>
          <a:lstStyle/>
          <a:p>
            <a:endParaRPr lang="it-IT" dirty="0"/>
          </a:p>
        </p:txBody>
      </p:sp>
      <p:pic>
        <p:nvPicPr>
          <p:cNvPr id="24" name="Image 4" descr="FiHash"/>
          <p:cNvPicPr>
            <a:picLocks noChangeAspect="1"/>
          </p:cNvPicPr>
          <p:nvPr/>
        </p:nvPicPr>
        <p:blipFill>
          <a:blip r:embed="rId7"/>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Numeri precisi e dettagli</a:t>
            </a:r>
            <a:endParaRPr lang="it-IT"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txBody>
          <a:bodyPr/>
          <a:lstStyle/>
          <a:p>
            <a:endParaRPr lang="it-IT" dirty="0"/>
          </a:p>
        </p:txBody>
      </p:sp>
      <p:sp>
        <p:nvSpPr>
          <p:cNvPr id="27" name="cerchio FiCheckSquare"/>
          <p:cNvSpPr/>
          <p:nvPr/>
        </p:nvSpPr>
        <p:spPr>
          <a:xfrm>
            <a:off x="4800600" y="2843784"/>
            <a:ext cx="420624" cy="420624"/>
          </a:xfrm>
          <a:prstGeom prst="ellipse">
            <a:avLst/>
          </a:prstGeom>
          <a:solidFill>
            <a:schemeClr val="accent1"/>
          </a:solidFill>
          <a:ln/>
        </p:spPr>
        <p:txBody>
          <a:bodyPr/>
          <a:lstStyle/>
          <a:p>
            <a:endParaRPr lang="it-IT" dirty="0"/>
          </a:p>
        </p:txBody>
      </p:sp>
      <p:pic>
        <p:nvPicPr>
          <p:cNvPr id="28" name="Image 5" descr="FiCheckSquare"/>
          <p:cNvPicPr>
            <a:picLocks noChangeAspect="1"/>
          </p:cNvPicPr>
          <p:nvPr/>
        </p:nvPicPr>
        <p:blipFill>
          <a:blip r:embed="rId8"/>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interna della risposta</a:t>
            </a:r>
            <a:endParaRPr lang="it-IT"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txBody>
          <a:bodyPr/>
          <a:lstStyle/>
          <a:p>
            <a:endParaRPr lang="it-IT" dirty="0"/>
          </a:p>
        </p:txBody>
      </p:sp>
      <p:sp>
        <p:nvSpPr>
          <p:cNvPr id="31" name="cerchio FiBookmark"/>
          <p:cNvSpPr/>
          <p:nvPr/>
        </p:nvSpPr>
        <p:spPr>
          <a:xfrm>
            <a:off x="548640" y="3502152"/>
            <a:ext cx="420624" cy="420624"/>
          </a:xfrm>
          <a:prstGeom prst="ellipse">
            <a:avLst/>
          </a:prstGeom>
          <a:solidFill>
            <a:schemeClr val="accent2"/>
          </a:solidFill>
          <a:ln/>
        </p:spPr>
        <p:txBody>
          <a:bodyPr/>
          <a:lstStyle/>
          <a:p>
            <a:endParaRPr lang="it-IT" dirty="0"/>
          </a:p>
        </p:txBody>
      </p:sp>
      <p:pic>
        <p:nvPicPr>
          <p:cNvPr id="32" name="Image 6" descr="FiBookmark"/>
          <p:cNvPicPr>
            <a:picLocks noChangeAspect="1"/>
          </p:cNvPicPr>
          <p:nvPr/>
        </p:nvPicPr>
        <p:blipFill>
          <a:blip r:embed="rId9"/>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Citazioni e riferimenti</a:t>
            </a:r>
            <a:endParaRPr lang="it-IT"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txBody>
          <a:bodyPr/>
          <a:lstStyle/>
          <a:p>
            <a:endParaRPr lang="it-IT" dirty="0"/>
          </a:p>
        </p:txBody>
      </p:sp>
      <p:sp>
        <p:nvSpPr>
          <p:cNvPr id="35" name="cerchio FiUser"/>
          <p:cNvSpPr/>
          <p:nvPr/>
        </p:nvSpPr>
        <p:spPr>
          <a:xfrm>
            <a:off x="4800600" y="3502152"/>
            <a:ext cx="420624" cy="420624"/>
          </a:xfrm>
          <a:prstGeom prst="ellipse">
            <a:avLst/>
          </a:prstGeom>
          <a:solidFill>
            <a:schemeClr val="accent1"/>
          </a:solidFill>
          <a:ln/>
        </p:spPr>
        <p:txBody>
          <a:bodyPr/>
          <a:lstStyle/>
          <a:p>
            <a:endParaRPr lang="it-IT" dirty="0"/>
          </a:p>
        </p:txBody>
      </p:sp>
      <p:pic>
        <p:nvPicPr>
          <p:cNvPr id="36" name="Image 7" descr="FiUser"/>
          <p:cNvPicPr>
            <a:picLocks noChangeAspect="1"/>
          </p:cNvPicPr>
          <p:nvPr/>
        </p:nvPicPr>
        <p:blipFill>
          <a:blip r:embed="rId10"/>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La propria competenza sull'argomento</a:t>
            </a:r>
            <a:endParaRPr lang="it-IT"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39" name="Text 28"/>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La qualità della scrittura non basta a dimostrare la correttezza: fonti, dati e verifiche sono gli elementi decisivi.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71</a:t>
            </a:fld>
            <a:endParaRPr lang="it-IT"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che richiedono livelli diversi di </a:t>
            </a:r>
            <a:r>
              <a:rPr lang="it-IT" sz="2600" b="1" dirty="0" err="1">
                <a:solidFill>
                  <a:schemeClr val="tx1"/>
                </a:solidFill>
              </a:rPr>
              <a:t>verfica</a:t>
            </a:r>
            <a:endParaRPr lang="it-IT"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it-IT" sz="1400" b="1" dirty="0">
                <a:solidFill>
                  <a:schemeClr val="accent5"/>
                </a:solidFill>
              </a:rPr>
              <a:t>Rischio più alto</a:t>
            </a:r>
            <a:endParaRPr lang="it-IT"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txBody>
          <a:bodyPr/>
          <a:lstStyle/>
          <a:p>
            <a:endParaRPr lang="it-IT" dirty="0"/>
          </a:p>
        </p:txBody>
      </p:sp>
      <p:sp>
        <p:nvSpPr>
          <p:cNvPr id="6" name="cerchio FiHash"/>
          <p:cNvSpPr/>
          <p:nvPr/>
        </p:nvSpPr>
        <p:spPr>
          <a:xfrm>
            <a:off x="566928" y="1545336"/>
            <a:ext cx="457200" cy="457200"/>
          </a:xfrm>
          <a:prstGeom prst="ellipse">
            <a:avLst/>
          </a:prstGeom>
          <a:solidFill>
            <a:schemeClr val="accent5"/>
          </a:solidFill>
          <a:ln/>
        </p:spPr>
        <p:txBody>
          <a:bodyPr/>
          <a:lstStyle/>
          <a:p>
            <a:endParaRPr lang="it-IT" dirty="0"/>
          </a:p>
        </p:txBody>
      </p:sp>
      <p:pic>
        <p:nvPicPr>
          <p:cNvPr id="7" name="Image 0" descr="FiHash"/>
          <p:cNvPicPr>
            <a:picLocks noChangeAspect="1"/>
          </p:cNvPicPr>
          <p:nvPr/>
        </p:nvPicPr>
        <p:blipFill>
          <a:blip r:embed="rId3"/>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Numeri, date, nomi, importi</a:t>
            </a:r>
            <a:endParaRPr lang="it-IT"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txBody>
          <a:bodyPr/>
          <a:lstStyle/>
          <a:p>
            <a:endParaRPr lang="it-IT" dirty="0"/>
          </a:p>
        </p:txBody>
      </p:sp>
      <p:sp>
        <p:nvSpPr>
          <p:cNvPr id="10" name="cerchio FiMapPin"/>
          <p:cNvSpPr/>
          <p:nvPr/>
        </p:nvSpPr>
        <p:spPr>
          <a:xfrm>
            <a:off x="3310128" y="1545336"/>
            <a:ext cx="457200" cy="457200"/>
          </a:xfrm>
          <a:prstGeom prst="ellipse">
            <a:avLst/>
          </a:prstGeom>
          <a:solidFill>
            <a:schemeClr val="accent5"/>
          </a:solidFill>
          <a:ln/>
        </p:spPr>
        <p:txBody>
          <a:bodyPr/>
          <a:lstStyle/>
          <a:p>
            <a:endParaRPr lang="it-IT" dirty="0"/>
          </a:p>
        </p:txBody>
      </p:sp>
      <p:pic>
        <p:nvPicPr>
          <p:cNvPr id="11" name="Image 1" descr="FiMapPin"/>
          <p:cNvPicPr>
            <a:picLocks noChangeAspect="1"/>
          </p:cNvPicPr>
          <p:nvPr/>
        </p:nvPicPr>
        <p:blipFill>
          <a:blip r:embed="rId4"/>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Argomenti di nicchia, locali, specialistici</a:t>
            </a:r>
            <a:endParaRPr lang="it-IT"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txBody>
          <a:bodyPr/>
          <a:lstStyle/>
          <a:p>
            <a:endParaRPr lang="it-IT" dirty="0"/>
          </a:p>
        </p:txBody>
      </p:sp>
      <p:sp>
        <p:nvSpPr>
          <p:cNvPr id="14" name="cerchio FiBookmark"/>
          <p:cNvSpPr/>
          <p:nvPr/>
        </p:nvSpPr>
        <p:spPr>
          <a:xfrm>
            <a:off x="566928" y="2386584"/>
            <a:ext cx="457200" cy="457200"/>
          </a:xfrm>
          <a:prstGeom prst="ellipse">
            <a:avLst/>
          </a:prstGeom>
          <a:solidFill>
            <a:schemeClr val="accent5"/>
          </a:solidFill>
          <a:ln/>
        </p:spPr>
        <p:txBody>
          <a:bodyPr/>
          <a:lstStyle/>
          <a:p>
            <a:endParaRPr lang="it-IT" dirty="0"/>
          </a:p>
        </p:txBody>
      </p:sp>
      <p:pic>
        <p:nvPicPr>
          <p:cNvPr id="15" name="Image 2" descr="FiBookmark"/>
          <p:cNvPicPr>
            <a:picLocks noChangeAspect="1"/>
          </p:cNvPicPr>
          <p:nvPr/>
        </p:nvPicPr>
        <p:blipFill>
          <a:blip r:embed="rId5"/>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Fonti e citazioni</a:t>
            </a:r>
            <a:endParaRPr lang="it-IT"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txBody>
          <a:bodyPr/>
          <a:lstStyle/>
          <a:p>
            <a:endParaRPr lang="it-IT" dirty="0"/>
          </a:p>
        </p:txBody>
      </p:sp>
      <p:sp>
        <p:nvSpPr>
          <p:cNvPr id="18" name="cerchio FiCalendar"/>
          <p:cNvSpPr/>
          <p:nvPr/>
        </p:nvSpPr>
        <p:spPr>
          <a:xfrm>
            <a:off x="3310128" y="2386584"/>
            <a:ext cx="457200" cy="457200"/>
          </a:xfrm>
          <a:prstGeom prst="ellipse">
            <a:avLst/>
          </a:prstGeom>
          <a:solidFill>
            <a:schemeClr val="accent5"/>
          </a:solidFill>
          <a:ln/>
        </p:spPr>
        <p:txBody>
          <a:bodyPr/>
          <a:lstStyle/>
          <a:p>
            <a:endParaRPr lang="it-IT" dirty="0"/>
          </a:p>
        </p:txBody>
      </p:sp>
      <p:pic>
        <p:nvPicPr>
          <p:cNvPr id="19" name="Image 3" descr="FiCalendar"/>
          <p:cNvPicPr>
            <a:picLocks noChangeAspect="1"/>
          </p:cNvPicPr>
          <p:nvPr/>
        </p:nvPicPr>
        <p:blipFill>
          <a:blip r:embed="rId6"/>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Eventi recenti senza ricerca</a:t>
            </a:r>
            <a:endParaRPr lang="it-IT"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txBody>
          <a:bodyPr/>
          <a:lstStyle/>
          <a:p>
            <a:endParaRPr lang="it-IT" dirty="0"/>
          </a:p>
        </p:txBody>
      </p:sp>
      <p:sp>
        <p:nvSpPr>
          <p:cNvPr id="22" name="cerchio FiHelpCircle"/>
          <p:cNvSpPr/>
          <p:nvPr/>
        </p:nvSpPr>
        <p:spPr>
          <a:xfrm>
            <a:off x="566928" y="3227832"/>
            <a:ext cx="457200" cy="457200"/>
          </a:xfrm>
          <a:prstGeom prst="ellipse">
            <a:avLst/>
          </a:prstGeom>
          <a:solidFill>
            <a:schemeClr val="accent5"/>
          </a:solidFill>
          <a:ln/>
        </p:spPr>
        <p:txBody>
          <a:bodyPr/>
          <a:lstStyle/>
          <a:p>
            <a:endParaRPr lang="it-IT" dirty="0"/>
          </a:p>
        </p:txBody>
      </p:sp>
      <p:pic>
        <p:nvPicPr>
          <p:cNvPr id="23" name="Image 4" descr="FiHelpCircle"/>
          <p:cNvPicPr>
            <a:picLocks noChangeAspect="1"/>
          </p:cNvPicPr>
          <p:nvPr/>
        </p:nvPicPr>
        <p:blipFill>
          <a:blip r:embed="rId7"/>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Domande con premesse false</a:t>
            </a:r>
            <a:endParaRPr lang="it-IT"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txBody>
          <a:bodyPr/>
          <a:lstStyle/>
          <a:p>
            <a:endParaRPr lang="it-IT" dirty="0"/>
          </a:p>
        </p:txBody>
      </p:sp>
      <p:sp>
        <p:nvSpPr>
          <p:cNvPr id="26" name="cerchio FiFileMinus"/>
          <p:cNvSpPr/>
          <p:nvPr/>
        </p:nvSpPr>
        <p:spPr>
          <a:xfrm>
            <a:off x="3310128" y="3227832"/>
            <a:ext cx="457200" cy="457200"/>
          </a:xfrm>
          <a:prstGeom prst="ellipse">
            <a:avLst/>
          </a:prstGeom>
          <a:solidFill>
            <a:schemeClr val="accent5"/>
          </a:solidFill>
          <a:ln/>
        </p:spPr>
        <p:txBody>
          <a:bodyPr/>
          <a:lstStyle/>
          <a:p>
            <a:endParaRPr lang="it-IT" dirty="0"/>
          </a:p>
        </p:txBody>
      </p:sp>
      <p:pic>
        <p:nvPicPr>
          <p:cNvPr id="27" name="Image 5" descr="FiFileMinus"/>
          <p:cNvPicPr>
            <a:picLocks noChangeAspect="1"/>
          </p:cNvPicPr>
          <p:nvPr/>
        </p:nvPicPr>
        <p:blipFill>
          <a:blip r:embed="rId8"/>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Risposte oltre i documenti forniti</a:t>
            </a:r>
            <a:endParaRPr lang="it-IT"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txBody>
          <a:bodyPr/>
          <a:lstStyle/>
          <a:p>
            <a:endParaRPr lang="it-IT" dirty="0"/>
          </a:p>
        </p:txBody>
      </p:sp>
      <p:sp>
        <p:nvSpPr>
          <p:cNvPr id="30" name="Text 21"/>
          <p:cNvSpPr txBox="1"/>
          <p:nvPr/>
        </p:nvSpPr>
        <p:spPr>
          <a:xfrm>
            <a:off x="6263640" y="1188720"/>
            <a:ext cx="2286000" cy="320040"/>
          </a:xfrm>
          <a:prstGeom prst="rect">
            <a:avLst/>
          </a:prstGeom>
          <a:noFill/>
          <a:ln/>
        </p:spPr>
        <p:txBody>
          <a:bodyPr wrap="square" lIns="0" tIns="0" rIns="0" bIns="0" rtlCol="0" anchor="t"/>
          <a:lstStyle/>
          <a:p>
            <a:pPr marL="0" indent="0">
              <a:buNone/>
            </a:pPr>
            <a:r>
              <a:rPr lang="it-IT" sz="1400" b="1" dirty="0">
                <a:solidFill>
                  <a:schemeClr val="accent1"/>
                </a:solidFill>
              </a:rPr>
              <a:t>Rischio più basso</a:t>
            </a:r>
            <a:endParaRPr lang="it-IT"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it-IT" sz="1300" dirty="0">
                <a:solidFill>
                  <a:schemeClr val="tx1"/>
                </a:solidFill>
              </a:rPr>
              <a:t>Trasformare un testo fornito: riformulare, tradurre, correggere</a:t>
            </a:r>
            <a:endParaRPr lang="it-IT" sz="1300" dirty="0"/>
          </a:p>
          <a:p>
            <a:pPr marL="177800" indent="-177800">
              <a:spcAft>
                <a:spcPts val="800"/>
              </a:spcAft>
              <a:buSzPct val="100000"/>
              <a:buChar char="•"/>
            </a:pPr>
            <a:r>
              <a:rPr lang="it-IT" sz="1300" dirty="0">
                <a:solidFill>
                  <a:schemeClr val="tx1"/>
                </a:solidFill>
              </a:rPr>
              <a:t>Compiti brevi e ben delimitati</a:t>
            </a:r>
            <a:endParaRPr lang="it-IT" sz="1300" dirty="0"/>
          </a:p>
          <a:p>
            <a:pPr marL="177800" indent="-177800">
              <a:spcAft>
                <a:spcPts val="800"/>
              </a:spcAft>
              <a:buSzPct val="100000"/>
              <a:buChar char="•"/>
            </a:pPr>
            <a:r>
              <a:rPr lang="it-IT" sz="1300" dirty="0">
                <a:solidFill>
                  <a:schemeClr val="tx1"/>
                </a:solidFill>
              </a:rPr>
              <a:t>Risultati facili da controllare</a:t>
            </a:r>
            <a:endParaRPr lang="it-IT"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marL="0" indent="0">
              <a:buNone/>
            </a:pPr>
            <a:r>
              <a:rPr lang="it-IT" sz="1200" i="1" dirty="0">
                <a:solidFill>
                  <a:schemeClr val="tx2"/>
                </a:solidFill>
              </a:rPr>
              <a:t>Anche testi lunghi e compiti articolati aumentano le occasioni di errore.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72</a:t>
            </a:fld>
            <a:endParaRPr lang="it-IT"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Bias e distorsioni nei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Riconoscere le distorsioni permette di valutare meglio i risultati dell'AI e progettare utilizzi più equi e affidabili.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73</a:t>
            </a:fld>
            <a:endParaRPr lang="it-IT"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sono </a:t>
            </a:r>
            <a:r>
              <a:rPr lang="it-IT" sz="2600" b="1" dirty="0" err="1">
                <a:solidFill>
                  <a:schemeClr val="tx1"/>
                </a:solidFill>
              </a:rPr>
              <a:t>bias</a:t>
            </a:r>
            <a:r>
              <a:rPr lang="it-IT" sz="2600" b="1" dirty="0">
                <a:solidFill>
                  <a:schemeClr val="tx1"/>
                </a:solidFill>
              </a:rPr>
              <a:t> e distorsioni</a:t>
            </a:r>
            <a:endParaRPr lang="it-IT"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Errore casuale</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Imprevedibile, in direzioni diverse, tende a compensarsi.</a:t>
            </a:r>
            <a:endParaRPr lang="it-IT" sz="1300" dirty="0"/>
          </a:p>
          <a:p>
            <a:pPr marL="0" indent="0">
              <a:buNone/>
            </a:pPr>
            <a:endParaRPr lang="it-IT" sz="1300" dirty="0"/>
          </a:p>
          <a:p>
            <a:pPr marL="0" indent="0">
              <a:buNone/>
            </a:pPr>
            <a:r>
              <a:rPr lang="it-IT" sz="1300" dirty="0">
                <a:solidFill>
                  <a:schemeClr val="tx2"/>
                </a:solidFill>
              </a:rPr>
              <a:t>Come una pesata imprecisa: un po' sopra, un po' sotto.</a:t>
            </a:r>
            <a:endParaRPr lang="it-IT"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Bias (distorsione sistematica)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Sempre nella stessa direzione: non si compensa, si accumula.</a:t>
            </a:r>
            <a:endParaRPr lang="it-IT" sz="1300" dirty="0"/>
          </a:p>
          <a:p>
            <a:pPr marL="0" indent="0">
              <a:buNone/>
            </a:pPr>
            <a:endParaRPr lang="it-IT" sz="1300" dirty="0"/>
          </a:p>
          <a:p>
            <a:pPr marL="0" indent="0">
              <a:buNone/>
            </a:pPr>
            <a:r>
              <a:rPr lang="it-IT" sz="1300" dirty="0">
                <a:solidFill>
                  <a:schemeClr val="tx2"/>
                </a:solidFill>
              </a:rPr>
              <a:t>Come una bilancia starata: sempre 100 grammi in più.</a:t>
            </a:r>
            <a:endParaRPr lang="it-IT"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Che cosa può riguardare</a:t>
            </a:r>
            <a:endParaRPr lang="it-IT"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Gruppi sociali, genere, età</a:t>
            </a:r>
            <a:endParaRPr lang="it-IT"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Prospettiva culturale e geografica</a:t>
            </a:r>
            <a:endParaRPr lang="it-IT"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Preferenza per fonti o posizioni</a:t>
            </a:r>
            <a:endParaRPr lang="it-IT"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Soluzioni proposte</a:t>
            </a:r>
            <a:endParaRPr lang="it-IT"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marL="0" indent="0">
              <a:buNone/>
            </a:pPr>
            <a:r>
              <a:rPr lang="it-IT" sz="1200" i="1" dirty="0">
                <a:solidFill>
                  <a:schemeClr val="tx2"/>
                </a:solidFill>
              </a:rPr>
              <a:t>Non implica intenzione, ma gli effetti possono essere reali.</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74</a:t>
            </a:fld>
            <a:endParaRPr lang="it-IT"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 dove nascono le distorsioni</a:t>
            </a:r>
            <a:endParaRPr lang="it-IT"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txBody>
          <a:bodyPr/>
          <a:lstStyle/>
          <a:p>
            <a:endParaRPr lang="it-IT" dirty="0"/>
          </a:p>
        </p:txBody>
      </p:sp>
      <p:sp>
        <p:nvSpPr>
          <p:cNvPr id="5" name="cerchio FiDatabase"/>
          <p:cNvSpPr/>
          <p:nvPr/>
        </p:nvSpPr>
        <p:spPr>
          <a:xfrm>
            <a:off x="1024128" y="1234440"/>
            <a:ext cx="548640" cy="54864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Dati di addestramento</a:t>
            </a:r>
            <a:endParaRPr lang="it-IT"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Riflettono stereotipi e squilibri di rappresentazione</a:t>
            </a:r>
            <a:endParaRPr lang="it-IT" sz="1100" dirty="0"/>
          </a:p>
        </p:txBody>
      </p:sp>
      <p:sp>
        <p:nvSpPr>
          <p:cNvPr id="9" name="freccia"/>
          <p:cNvSpPr/>
          <p:nvPr/>
        </p:nvSpPr>
        <p:spPr>
          <a:xfrm>
            <a:off x="2157984" y="2011680"/>
            <a:ext cx="164592" cy="292608"/>
          </a:xfrm>
          <a:prstGeom prst="rightArrow">
            <a:avLst/>
          </a:prstGeom>
          <a:solidFill>
            <a:schemeClr val="accent2"/>
          </a:solidFill>
          <a:ln/>
        </p:spPr>
        <p:txBody>
          <a:bodyPr/>
          <a:lstStyle/>
          <a:p>
            <a:endParaRPr lang="it-IT" dirty="0"/>
          </a:p>
        </p:txBody>
      </p:sp>
      <p:sp>
        <p:nvSpPr>
          <p:cNvPr id="10" name="Addestramento e affinamento"/>
          <p:cNvSpPr/>
          <p:nvPr/>
        </p:nvSpPr>
        <p:spPr>
          <a:xfrm>
            <a:off x="2331720" y="1097280"/>
            <a:ext cx="1691640" cy="2103120"/>
          </a:xfrm>
          <a:prstGeom prst="roundRect">
            <a:avLst>
              <a:gd name="adj" fmla="val 4324"/>
            </a:avLst>
          </a:prstGeom>
          <a:solidFill>
            <a:schemeClr val="bg2"/>
          </a:solidFill>
          <a:ln/>
        </p:spPr>
        <p:txBody>
          <a:bodyPr/>
          <a:lstStyle/>
          <a:p>
            <a:endParaRPr lang="it-IT" dirty="0"/>
          </a:p>
        </p:txBody>
      </p:sp>
      <p:sp>
        <p:nvSpPr>
          <p:cNvPr id="11" name="cerchio FiSettings"/>
          <p:cNvSpPr/>
          <p:nvPr/>
        </p:nvSpPr>
        <p:spPr>
          <a:xfrm>
            <a:off x="2898648" y="1234440"/>
            <a:ext cx="548640" cy="548640"/>
          </a:xfrm>
          <a:prstGeom prst="ellipse">
            <a:avLst/>
          </a:prstGeom>
          <a:solidFill>
            <a:schemeClr val="accent1"/>
          </a:solidFill>
          <a:ln/>
        </p:spPr>
        <p:txBody>
          <a:bodyPr/>
          <a:lstStyle/>
          <a:p>
            <a:endParaRPr lang="it-IT" dirty="0"/>
          </a:p>
        </p:txBody>
      </p:sp>
      <p:pic>
        <p:nvPicPr>
          <p:cNvPr id="12" name="Image 1" descr="FiSettings"/>
          <p:cNvPicPr>
            <a:picLocks noChangeAspect="1"/>
          </p:cNvPicPr>
          <p:nvPr/>
        </p:nvPicPr>
        <p:blipFill>
          <a:blip r:embed="rId4"/>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Addestramento e affinamento</a:t>
            </a:r>
            <a:endParaRPr lang="it-IT"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Scelte su dati, filtri e comportamenti premiati</a:t>
            </a:r>
            <a:endParaRPr lang="it-IT" sz="1100" dirty="0"/>
          </a:p>
        </p:txBody>
      </p:sp>
      <p:sp>
        <p:nvSpPr>
          <p:cNvPr id="15" name="freccia"/>
          <p:cNvSpPr/>
          <p:nvPr/>
        </p:nvSpPr>
        <p:spPr>
          <a:xfrm>
            <a:off x="4032504" y="2011680"/>
            <a:ext cx="164592" cy="292608"/>
          </a:xfrm>
          <a:prstGeom prst="rightArrow">
            <a:avLst/>
          </a:prstGeom>
          <a:solidFill>
            <a:schemeClr val="accent2"/>
          </a:solidFill>
          <a:ln/>
        </p:spPr>
        <p:txBody>
          <a:bodyPr/>
          <a:lstStyle/>
          <a:p>
            <a:endParaRPr lang="it-IT" dirty="0"/>
          </a:p>
        </p:txBody>
      </p:sp>
      <p:sp>
        <p:nvSpPr>
          <p:cNvPr id="16" name="Contesto d'uso"/>
          <p:cNvSpPr/>
          <p:nvPr/>
        </p:nvSpPr>
        <p:spPr>
          <a:xfrm>
            <a:off x="4206240" y="1097280"/>
            <a:ext cx="1691640" cy="2103120"/>
          </a:xfrm>
          <a:prstGeom prst="roundRect">
            <a:avLst>
              <a:gd name="adj" fmla="val 4324"/>
            </a:avLst>
          </a:prstGeom>
          <a:solidFill>
            <a:schemeClr val="bg2"/>
          </a:solidFill>
          <a:ln/>
        </p:spPr>
        <p:txBody>
          <a:bodyPr/>
          <a:lstStyle/>
          <a:p>
            <a:endParaRPr lang="it-IT" dirty="0"/>
          </a:p>
        </p:txBody>
      </p:sp>
      <p:sp>
        <p:nvSpPr>
          <p:cNvPr id="17" name="cerchio FiMessageSquare"/>
          <p:cNvSpPr/>
          <p:nvPr/>
        </p:nvSpPr>
        <p:spPr>
          <a:xfrm>
            <a:off x="4773168" y="1234440"/>
            <a:ext cx="548640" cy="548640"/>
          </a:xfrm>
          <a:prstGeom prst="ellipse">
            <a:avLst/>
          </a:prstGeom>
          <a:solidFill>
            <a:schemeClr val="accent1"/>
          </a:solidFill>
          <a:ln/>
        </p:spPr>
        <p:txBody>
          <a:bodyPr/>
          <a:lstStyle/>
          <a:p>
            <a:endParaRPr lang="it-IT" dirty="0"/>
          </a:p>
        </p:txBody>
      </p:sp>
      <p:pic>
        <p:nvPicPr>
          <p:cNvPr id="18" name="Image 2" descr="FiMessageSquare"/>
          <p:cNvPicPr>
            <a:picLocks noChangeAspect="1"/>
          </p:cNvPicPr>
          <p:nvPr/>
        </p:nvPicPr>
        <p:blipFill>
          <a:blip r:embed="rId5"/>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Contesto d'uso</a:t>
            </a:r>
            <a:endParaRPr lang="it-IT"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Istruzioni, formulazione delle domande, documenti</a:t>
            </a:r>
            <a:endParaRPr lang="it-IT"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txBody>
          <a:bodyPr/>
          <a:lstStyle/>
          <a:p>
            <a:endParaRPr lang="it-IT" dirty="0"/>
          </a:p>
        </p:txBody>
      </p:sp>
      <p:sp>
        <p:nvSpPr>
          <p:cNvPr id="22" name="Text 16"/>
          <p:cNvSpPr txBox="1"/>
          <p:nvPr/>
        </p:nvSpPr>
        <p:spPr>
          <a:xfrm>
            <a:off x="640080" y="3383280"/>
            <a:ext cx="5120640" cy="1143000"/>
          </a:xfrm>
          <a:prstGeom prst="rect">
            <a:avLst/>
          </a:prstGeom>
          <a:noFill/>
          <a:ln/>
        </p:spPr>
        <p:txBody>
          <a:bodyPr wrap="square" lIns="0" tIns="0" rIns="0" bIns="0" rtlCol="0" anchor="ctr"/>
          <a:lstStyle/>
          <a:p>
            <a:pPr marL="0" indent="0">
              <a:buNone/>
            </a:pPr>
            <a:r>
              <a:rPr lang="it-IT" sz="1400" dirty="0">
                <a:solidFill>
                  <a:schemeClr val="tx1"/>
                </a:solidFill>
              </a:rPr>
              <a:t>Dati non rappresentativi e scelte di progettazione possono introdurre distorsioni sistematiche. La valutazione su casi e gruppi differenti aiuta a identificarle.</a:t>
            </a:r>
            <a:endParaRPr lang="it-IT"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txBody>
          <a:bodyPr/>
          <a:lstStyle/>
          <a:p>
            <a:endParaRPr lang="it-IT" dirty="0"/>
          </a:p>
        </p:txBody>
      </p:sp>
      <p:sp>
        <p:nvSpPr>
          <p:cNvPr id="24" name="Text 18"/>
          <p:cNvSpPr txBox="1"/>
          <p:nvPr/>
        </p:nvSpPr>
        <p:spPr>
          <a:xfrm>
            <a:off x="6309360" y="1234440"/>
            <a:ext cx="2194560" cy="274320"/>
          </a:xfrm>
          <a:prstGeom prst="rect">
            <a:avLst/>
          </a:prstGeom>
          <a:noFill/>
          <a:ln/>
        </p:spPr>
        <p:txBody>
          <a:bodyPr wrap="square" lIns="0" tIns="0" rIns="0" bIns="0" rtlCol="0" anchor="t"/>
          <a:lstStyle/>
          <a:p>
            <a:pPr marL="0" indent="0">
              <a:buNone/>
            </a:pPr>
            <a:r>
              <a:rPr lang="it-IT" sz="1000" b="1" kern="0" spc="200" dirty="0">
                <a:solidFill>
                  <a:schemeClr val="accent1"/>
                </a:solidFill>
              </a:rPr>
              <a:t>UN CASO NOTO</a:t>
            </a:r>
            <a:endParaRPr lang="it-IT"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marL="0" indent="0">
              <a:buNone/>
            </a:pPr>
            <a:r>
              <a:rPr lang="it-IT" sz="1400" b="1" dirty="0">
                <a:solidFill>
                  <a:schemeClr val="bg1"/>
                </a:solidFill>
              </a:rPr>
              <a:t>Selezione dei curricula, 2018</a:t>
            </a:r>
            <a:endParaRPr lang="it-IT"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marL="0" indent="0">
              <a:buNone/>
            </a:pPr>
            <a:r>
              <a:rPr lang="it-IT" sz="1200" dirty="0">
                <a:solidFill>
                  <a:schemeClr val="accent3"/>
                </a:solidFill>
              </a:rPr>
              <a:t>Addestrato su dieci anni di assunzioni in prevalenza maschili, il sistema penalizzava i curricula con la parola "women". Fu abbandonato.</a:t>
            </a:r>
            <a:endParaRPr lang="it-IT"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marL="0" indent="0">
              <a:buNone/>
            </a:pPr>
            <a:r>
              <a:rPr lang="it-IT" sz="1000" dirty="0">
                <a:solidFill>
                  <a:schemeClr val="accent2"/>
                </a:solidFill>
              </a:rPr>
              <a:t>Fonte: Reuters, ottobre 2018</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75</a:t>
            </a:fld>
            <a:endParaRPr lang="it-IT"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L'influenza del contesto e delle istruzioni</a:t>
            </a:r>
            <a:endParaRPr lang="it-IT"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ArrowRight"/>
          <p:cNvSpPr/>
          <p:nvPr/>
        </p:nvSpPr>
        <p:spPr>
          <a:xfrm>
            <a:off x="640080" y="1280160"/>
            <a:ext cx="457200" cy="457200"/>
          </a:xfrm>
          <a:prstGeom prst="ellipse">
            <a:avLst/>
          </a:prstGeom>
          <a:solidFill>
            <a:schemeClr val="accent5"/>
          </a:solidFill>
          <a:ln/>
        </p:spPr>
        <p:txBody>
          <a:bodyPr/>
          <a:lstStyle/>
          <a:p>
            <a:endParaRPr lang="it-IT" dirty="0"/>
          </a:p>
        </p:txBody>
      </p:sp>
      <p:pic>
        <p:nvPicPr>
          <p:cNvPr id="6" name="Image 0" descr="FiArrowRigh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orientata</a:t>
            </a:r>
            <a:endParaRPr lang="it-IT"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"Perché il fornitore A è la scelta migliore?"</a:t>
            </a:r>
            <a:endParaRPr lang="it-IT" sz="1300" dirty="0"/>
          </a:p>
          <a:p>
            <a:pPr marL="0" indent="0">
              <a:buNone/>
            </a:pPr>
            <a:r>
              <a:rPr lang="it-IT" sz="1300" dirty="0">
                <a:solidFill>
                  <a:schemeClr val="tx2"/>
                </a:solidFill>
              </a:rPr>
              <a:t>Presuppone la conclusione: la risposta elencherà argomenti a favore di A.</a:t>
            </a:r>
            <a:endParaRPr lang="it-IT"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Slider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Slid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neutra</a:t>
            </a:r>
            <a:endParaRPr lang="it-IT"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"Quali sono vantaggi e svantaggi di A e B rispetto a questi criteri?"</a:t>
            </a:r>
            <a:endParaRPr lang="it-IT" sz="1300" dirty="0"/>
          </a:p>
          <a:p>
            <a:pPr marL="0" indent="0">
              <a:buNone/>
            </a:pPr>
            <a:r>
              <a:rPr lang="it-IT" sz="1300" dirty="0">
                <a:solidFill>
                  <a:schemeClr val="tx2"/>
                </a:solidFill>
              </a:rPr>
              <a:t>Favorisce un confronto più equilibrato.</a:t>
            </a:r>
            <a:endParaRPr lang="it-IT"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marL="0" indent="0">
              <a:buNone/>
            </a:pPr>
            <a:r>
              <a:rPr lang="it-IT" sz="1400" b="1" dirty="0">
                <a:solidFill>
                  <a:schemeClr val="tx1"/>
                </a:solidFill>
              </a:rPr>
              <a:t>Possono orientare le risposte</a:t>
            </a:r>
            <a:endParaRPr lang="it-IT"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txBody>
          <a:bodyPr/>
          <a:lstStyle/>
          <a:p>
            <a:endParaRPr lang="it-IT" dirty="0"/>
          </a:p>
        </p:txBody>
      </p:sp>
      <p:sp>
        <p:nvSpPr>
          <p:cNvPr id="16" name="Text 11"/>
          <p:cNvSpPr txBox="1"/>
          <p:nvPr/>
        </p:nvSpPr>
        <p:spPr>
          <a:xfrm>
            <a:off x="502920"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La formulazione della domanda</a:t>
            </a:r>
            <a:endParaRPr lang="it-IT"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txBody>
          <a:bodyPr/>
          <a:lstStyle/>
          <a:p>
            <a:endParaRPr lang="it-IT" dirty="0"/>
          </a:p>
        </p:txBody>
      </p:sp>
      <p:sp>
        <p:nvSpPr>
          <p:cNvPr id="18" name="Text 13"/>
          <p:cNvSpPr txBox="1"/>
          <p:nvPr/>
        </p:nvSpPr>
        <p:spPr>
          <a:xfrm>
            <a:off x="3310128"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I documenti forniti</a:t>
            </a:r>
            <a:endParaRPr lang="it-IT"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txBody>
          <a:bodyPr/>
          <a:lstStyle/>
          <a:p>
            <a:endParaRPr lang="it-IT" dirty="0"/>
          </a:p>
        </p:txBody>
      </p:sp>
      <p:sp>
        <p:nvSpPr>
          <p:cNvPr id="20" name="Text 15"/>
          <p:cNvSpPr txBox="1"/>
          <p:nvPr/>
        </p:nvSpPr>
        <p:spPr>
          <a:xfrm>
            <a:off x="6117336"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Le istruzioni di sistema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76</a:t>
            </a:fld>
            <a:endParaRPr lang="it-IT"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Bias di conferma e tendenza ad assecondare</a:t>
            </a:r>
            <a:endParaRPr lang="it-IT"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txBody>
          <a:bodyPr/>
          <a:lstStyle/>
          <a:p>
            <a:endParaRPr lang="it-IT" dirty="0"/>
          </a:p>
        </p:txBody>
      </p:sp>
      <p:sp>
        <p:nvSpPr>
          <p:cNvPr id="5" name="Text 2"/>
          <p:cNvSpPr txBox="1"/>
          <p:nvPr/>
        </p:nvSpPr>
        <p:spPr>
          <a:xfrm>
            <a:off x="50292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mia ipotesi</a:t>
            </a:r>
            <a:endParaRPr lang="it-IT"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txBody>
          <a:bodyPr/>
          <a:lstStyle/>
          <a:p>
            <a:endParaRPr lang="it-IT" dirty="0"/>
          </a:p>
        </p:txBody>
      </p:sp>
      <p:sp>
        <p:nvSpPr>
          <p:cNvPr id="7" name="Text 4"/>
          <p:cNvSpPr txBox="1"/>
          <p:nvPr/>
        </p:nvSpPr>
        <p:spPr>
          <a:xfrm>
            <a:off x="265176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formulo nella domanda</a:t>
            </a:r>
            <a:endParaRPr lang="it-IT"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txBody>
          <a:bodyPr/>
          <a:lstStyle/>
          <a:p>
            <a:endParaRPr lang="it-IT" dirty="0"/>
          </a:p>
        </p:txBody>
      </p:sp>
      <p:sp>
        <p:nvSpPr>
          <p:cNvPr id="9" name="Text 6"/>
          <p:cNvSpPr txBox="1"/>
          <p:nvPr/>
        </p:nvSpPr>
        <p:spPr>
          <a:xfrm>
            <a:off x="2651760" y="2743200"/>
            <a:ext cx="1828800" cy="777240"/>
          </a:xfrm>
          <a:prstGeom prst="rect">
            <a:avLst/>
          </a:prstGeom>
          <a:noFill/>
          <a:ln/>
        </p:spPr>
        <p:txBody>
          <a:bodyPr wrap="square" lIns="0" tIns="0" rIns="0" bIns="0" rtlCol="0" anchor="ctr"/>
          <a:lstStyle/>
          <a:p>
            <a:pPr marL="0" indent="0" algn="ctr">
              <a:buNone/>
            </a:pPr>
            <a:r>
              <a:rPr lang="it-IT" sz="1300" b="1" dirty="0">
                <a:solidFill>
                  <a:schemeClr val="bg1"/>
                </a:solidFill>
              </a:rPr>
              <a:t>Il sistema la asseconda</a:t>
            </a:r>
            <a:endParaRPr lang="it-IT"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txBody>
          <a:bodyPr/>
          <a:lstStyle/>
          <a:p>
            <a:endParaRPr lang="it-IT" dirty="0"/>
          </a:p>
        </p:txBody>
      </p:sp>
      <p:sp>
        <p:nvSpPr>
          <p:cNvPr id="11" name="Text 8"/>
          <p:cNvSpPr txBox="1"/>
          <p:nvPr/>
        </p:nvSpPr>
        <p:spPr>
          <a:xfrm>
            <a:off x="502920" y="274320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Mi convinco ancora di più</a:t>
            </a:r>
            <a:endParaRPr lang="it-IT" sz="1300" dirty="0"/>
          </a:p>
        </p:txBody>
      </p:sp>
      <p:sp>
        <p:nvSpPr>
          <p:cNvPr id="12" name="freccia"/>
          <p:cNvSpPr/>
          <p:nvPr/>
        </p:nvSpPr>
        <p:spPr>
          <a:xfrm>
            <a:off x="2377440" y="1435608"/>
            <a:ext cx="228600" cy="292608"/>
          </a:xfrm>
          <a:prstGeom prst="rightArrow">
            <a:avLst/>
          </a:prstGeom>
          <a:solidFill>
            <a:schemeClr val="accent2"/>
          </a:solidFill>
          <a:ln/>
        </p:spPr>
        <p:txBody>
          <a:bodyPr/>
          <a:lstStyle/>
          <a:p>
            <a:endParaRPr lang="it-IT" dirty="0"/>
          </a:p>
        </p:txBody>
      </p:sp>
      <p:sp>
        <p:nvSpPr>
          <p:cNvPr id="13" name="freccia giù"/>
          <p:cNvSpPr/>
          <p:nvPr/>
        </p:nvSpPr>
        <p:spPr>
          <a:xfrm>
            <a:off x="3429000" y="2057400"/>
            <a:ext cx="292608" cy="594360"/>
          </a:xfrm>
          <a:prstGeom prst="downArrow">
            <a:avLst/>
          </a:prstGeom>
          <a:solidFill>
            <a:schemeClr val="accent2"/>
          </a:solidFill>
          <a:ln/>
        </p:spPr>
        <p:txBody>
          <a:bodyPr/>
          <a:lstStyle/>
          <a:p>
            <a:endParaRPr lang="it-IT" dirty="0"/>
          </a:p>
        </p:txBody>
      </p:sp>
      <p:sp>
        <p:nvSpPr>
          <p:cNvPr id="14" name="freccia sinistra"/>
          <p:cNvSpPr/>
          <p:nvPr/>
        </p:nvSpPr>
        <p:spPr>
          <a:xfrm>
            <a:off x="2377440" y="2990088"/>
            <a:ext cx="228600" cy="292608"/>
          </a:xfrm>
          <a:prstGeom prst="leftArrow">
            <a:avLst/>
          </a:prstGeom>
          <a:solidFill>
            <a:schemeClr val="accent2"/>
          </a:solidFill>
          <a:ln/>
        </p:spPr>
        <p:txBody>
          <a:bodyPr/>
          <a:lstStyle/>
          <a:p>
            <a:endParaRPr lang="it-IT" dirty="0"/>
          </a:p>
        </p:txBody>
      </p:sp>
      <p:sp>
        <p:nvSpPr>
          <p:cNvPr id="15" name="freccia su"/>
          <p:cNvSpPr/>
          <p:nvPr/>
        </p:nvSpPr>
        <p:spPr>
          <a:xfrm>
            <a:off x="1280160" y="2057400"/>
            <a:ext cx="292608" cy="594360"/>
          </a:xfrm>
          <a:prstGeom prst="upArrow">
            <a:avLst/>
          </a:prstGeom>
          <a:solidFill>
            <a:schemeClr val="accent2"/>
          </a:solidFill>
          <a:ln/>
        </p:spPr>
        <p:txBody>
          <a:bodyPr/>
          <a:lstStyle/>
          <a:p>
            <a:endParaRPr lang="it-IT" dirty="0"/>
          </a:p>
        </p:txBody>
      </p:sp>
      <p:sp>
        <p:nvSpPr>
          <p:cNvPr id="16" name="Text 13"/>
          <p:cNvSpPr txBox="1"/>
          <p:nvPr/>
        </p:nvSpPr>
        <p:spPr>
          <a:xfrm>
            <a:off x="457200" y="3657600"/>
            <a:ext cx="4114800" cy="274320"/>
          </a:xfrm>
          <a:prstGeom prst="rect">
            <a:avLst/>
          </a:prstGeom>
          <a:noFill/>
          <a:ln/>
        </p:spPr>
        <p:txBody>
          <a:bodyPr wrap="square" lIns="0" tIns="0" rIns="0" bIns="0" rtlCol="0" anchor="t"/>
          <a:lstStyle/>
          <a:p>
            <a:pPr marL="0" indent="0">
              <a:buNone/>
            </a:pPr>
            <a:r>
              <a:rPr lang="it-IT" sz="1000" dirty="0">
                <a:solidFill>
                  <a:schemeClr val="accent2"/>
                </a:solidFill>
              </a:rPr>
              <a:t>Fonte: Sharma et al., </a:t>
            </a:r>
            <a:r>
              <a:rPr lang="it-IT" sz="1000" dirty="0" err="1">
                <a:solidFill>
                  <a:schemeClr val="accent2"/>
                </a:solidFill>
              </a:rPr>
              <a:t>Anthropic</a:t>
            </a:r>
            <a:r>
              <a:rPr lang="it-IT" sz="1000" dirty="0">
                <a:solidFill>
                  <a:schemeClr val="accent2"/>
                </a:solidFill>
              </a:rPr>
              <a:t>, 2023</a:t>
            </a:r>
            <a:endParaRPr lang="it-IT"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txBody>
          <a:bodyPr/>
          <a:lstStyle/>
          <a:p>
            <a:endParaRPr lang="it-IT" dirty="0"/>
          </a:p>
        </p:txBody>
      </p:sp>
      <p:sp>
        <p:nvSpPr>
          <p:cNvPr id="18" name="cerchio FiUser"/>
          <p:cNvSpPr/>
          <p:nvPr/>
        </p:nvSpPr>
        <p:spPr>
          <a:xfrm>
            <a:off x="5029200" y="1280160"/>
            <a:ext cx="457200" cy="457200"/>
          </a:xfrm>
          <a:prstGeom prst="ellipse">
            <a:avLst/>
          </a:prstGeom>
          <a:solidFill>
            <a:schemeClr val="accent1"/>
          </a:solidFill>
          <a:ln/>
        </p:spPr>
        <p:txBody>
          <a:bodyPr/>
          <a:lstStyle/>
          <a:p>
            <a:endParaRPr lang="it-IT" dirty="0"/>
          </a:p>
        </p:txBody>
      </p:sp>
      <p:pic>
        <p:nvPicPr>
          <p:cNvPr id="19" name="Image 0" descr="FiUser"/>
          <p:cNvPicPr>
            <a:picLocks noChangeAspect="1"/>
          </p:cNvPicPr>
          <p:nvPr/>
        </p:nvPicPr>
        <p:blipFill>
          <a:blip r:embed="rId3"/>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marL="0" indent="0">
              <a:buNone/>
            </a:pPr>
            <a:r>
              <a:rPr lang="it-IT" sz="1500" b="1" dirty="0">
                <a:solidFill>
                  <a:schemeClr val="tx1"/>
                </a:solidFill>
              </a:rPr>
              <a:t>Bias di conferma (nostro)</a:t>
            </a:r>
            <a:endParaRPr lang="it-IT"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marL="0" indent="0">
              <a:buNone/>
            </a:pPr>
            <a:r>
              <a:rPr lang="it-IT" sz="1200" dirty="0">
                <a:solidFill>
                  <a:schemeClr val="tx2"/>
                </a:solidFill>
              </a:rPr>
              <a:t>Notiamo e ricordiamo ciò che conferma quello che già pensiamo.</a:t>
            </a:r>
            <a:endParaRPr lang="it-IT"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txBody>
          <a:bodyPr/>
          <a:lstStyle/>
          <a:p>
            <a:endParaRPr lang="it-IT" dirty="0"/>
          </a:p>
        </p:txBody>
      </p:sp>
      <p:sp>
        <p:nvSpPr>
          <p:cNvPr id="23" name="cerchio FiThumbsUp"/>
          <p:cNvSpPr/>
          <p:nvPr/>
        </p:nvSpPr>
        <p:spPr>
          <a:xfrm>
            <a:off x="5029200" y="2834640"/>
            <a:ext cx="457200" cy="457200"/>
          </a:xfrm>
          <a:prstGeom prst="ellipse">
            <a:avLst/>
          </a:prstGeom>
          <a:solidFill>
            <a:schemeClr val="accent1"/>
          </a:solidFill>
          <a:ln/>
        </p:spPr>
        <p:txBody>
          <a:bodyPr/>
          <a:lstStyle/>
          <a:p>
            <a:endParaRPr lang="it-IT" dirty="0"/>
          </a:p>
        </p:txBody>
      </p:sp>
      <p:pic>
        <p:nvPicPr>
          <p:cNvPr id="24" name="Image 1" descr="FiThumbsUp"/>
          <p:cNvPicPr>
            <a:picLocks noChangeAspect="1"/>
          </p:cNvPicPr>
          <p:nvPr/>
        </p:nvPicPr>
        <p:blipFill>
          <a:blip r:embed="rId4"/>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marL="0" indent="0">
              <a:buNone/>
            </a:pPr>
            <a:r>
              <a:rPr lang="it-IT" sz="1500" b="1" dirty="0" err="1">
                <a:solidFill>
                  <a:schemeClr val="tx1"/>
                </a:solidFill>
              </a:rPr>
              <a:t>Sycophancy</a:t>
            </a:r>
            <a:r>
              <a:rPr lang="it-IT" sz="1500" b="1" dirty="0">
                <a:solidFill>
                  <a:schemeClr val="tx1"/>
                </a:solidFill>
              </a:rPr>
              <a:t> (del sistema)</a:t>
            </a:r>
            <a:endParaRPr lang="it-IT"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marL="0" indent="0">
              <a:buNone/>
            </a:pPr>
            <a:r>
              <a:rPr lang="it-IT" sz="1200" dirty="0">
                <a:solidFill>
                  <a:schemeClr val="tx2"/>
                </a:solidFill>
              </a:rPr>
              <a:t>Tende a darci ragione, a lodare troppo, a cambiare una risposta corretta se insistiamo.</a:t>
            </a:r>
            <a:endParaRPr lang="it-IT"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txBody>
          <a:bodyPr/>
          <a:lstStyle/>
          <a:p>
            <a:endParaRPr lang="it-IT" dirty="0"/>
          </a:p>
        </p:txBody>
      </p:sp>
      <p:sp>
        <p:nvSpPr>
          <p:cNvPr id="28" name="Text 23"/>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200" dirty="0">
                <a:solidFill>
                  <a:schemeClr val="tx1"/>
                </a:solidFill>
              </a:rPr>
              <a:t>Per valutare un'ipotesi, chiedere esplicitamente controargomentazioni, alternative ed evidenze contrarie. Quando possibile, presentare il problema senza suggerire la risposta desiderata.</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77</a:t>
            </a:fld>
            <a:endParaRPr lang="it-IT"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Accuratezza, affidabilità e consistenza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L'affidabilità non è una proprietà unica e universale di un modello: va valutata per compiti e condizioni d'uso specifici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78</a:t>
            </a:fld>
            <a:endParaRPr lang="it-IT"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Quattro concetti da distinguere</a:t>
            </a:r>
            <a:endParaRPr lang="it-IT"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txBody>
          <a:bodyPr/>
          <a:lstStyle/>
          <a:p>
            <a:endParaRPr lang="it-IT" dirty="0"/>
          </a:p>
        </p:txBody>
      </p:sp>
      <p:sp>
        <p:nvSpPr>
          <p:cNvPr id="5" name="cerchio FiTarget"/>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Accuratezza</a:t>
            </a:r>
            <a:endParaRPr lang="it-IT"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Quanto spesso il risultato corrisponde alla risposta corretta</a:t>
            </a:r>
            <a:endParaRPr lang="it-IT"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txBody>
          <a:bodyPr/>
          <a:lstStyle/>
          <a:p>
            <a:endParaRPr lang="it-IT" dirty="0"/>
          </a:p>
        </p:txBody>
      </p:sp>
      <p:sp>
        <p:nvSpPr>
          <p:cNvPr id="10" name="cerchio FiShield"/>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Shield"/>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Affidabilità</a:t>
            </a:r>
            <a:endParaRPr lang="it-IT"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Qualità adeguata in modo costante, nelle condizioni reali</a:t>
            </a:r>
            <a:endParaRPr lang="it-IT"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txBody>
          <a:bodyPr/>
          <a:lstStyle/>
          <a:p>
            <a:endParaRPr lang="it-IT" dirty="0"/>
          </a:p>
        </p:txBody>
      </p:sp>
      <p:sp>
        <p:nvSpPr>
          <p:cNvPr id="15" name="cerchio FiRepeat"/>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Repeat"/>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Consistenza</a:t>
            </a:r>
            <a:endParaRPr lang="it-IT"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Risposte coerenti a richieste simili, senza contraddizioni</a:t>
            </a:r>
            <a:endParaRPr lang="it-IT"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txBody>
          <a:bodyPr/>
          <a:lstStyle/>
          <a:p>
            <a:endParaRPr lang="it-IT" dirty="0"/>
          </a:p>
        </p:txBody>
      </p:sp>
      <p:sp>
        <p:nvSpPr>
          <p:cNvPr id="20" name="cerchio FiAward"/>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Award"/>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Utilità</a:t>
            </a:r>
            <a:endParaRPr lang="it-IT"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Il valore che il risultato porta a chi lo usa</a:t>
            </a:r>
            <a:endParaRPr lang="it-IT"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Non coincidono</a:t>
            </a:r>
            <a:endParaRPr lang="it-IT"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txBody>
          <a:bodyPr/>
          <a:lstStyle/>
          <a:p>
            <a:endParaRPr lang="it-IT" dirty="0"/>
          </a:p>
        </p:txBody>
      </p:sp>
      <p:sp>
        <p:nvSpPr>
          <p:cNvPr id="26" name="Text 19"/>
          <p:cNvSpPr txBox="1"/>
          <p:nvPr/>
        </p:nvSpPr>
        <p:spPr>
          <a:xfrm>
            <a:off x="594360" y="3566160"/>
            <a:ext cx="2340864" cy="960120"/>
          </a:xfrm>
          <a:prstGeom prst="rect">
            <a:avLst/>
          </a:prstGeom>
          <a:noFill/>
          <a:ln/>
        </p:spPr>
        <p:txBody>
          <a:bodyPr wrap="square" lIns="0" tIns="0" rIns="0" bIns="0" rtlCol="0" anchor="ctr"/>
          <a:lstStyle/>
          <a:p>
            <a:pPr marL="0" indent="0" algn="just">
              <a:buNone/>
            </a:pPr>
            <a:r>
              <a:rPr lang="it-IT" sz="1200" dirty="0">
                <a:solidFill>
                  <a:schemeClr val="tx1"/>
                </a:solidFill>
              </a:rPr>
              <a:t>Accurato al 90% nei test, ma non necessariamente affidabile in ogni situazione operativa.</a:t>
            </a:r>
            <a:endParaRPr lang="it-IT"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txBody>
          <a:bodyPr/>
          <a:lstStyle/>
          <a:p>
            <a:endParaRPr lang="it-IT" dirty="0"/>
          </a:p>
        </p:txBody>
      </p:sp>
      <p:sp>
        <p:nvSpPr>
          <p:cNvPr id="28" name="Text 21"/>
          <p:cNvSpPr txBox="1"/>
          <p:nvPr/>
        </p:nvSpPr>
        <p:spPr>
          <a:xfrm>
            <a:off x="3401568"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Molto consistente, ma sistematicamente sbagliato</a:t>
            </a:r>
            <a:endParaRPr lang="it-IT"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txBody>
          <a:bodyPr/>
          <a:lstStyle/>
          <a:p>
            <a:endParaRPr lang="it-IT" dirty="0"/>
          </a:p>
        </p:txBody>
      </p:sp>
      <p:sp>
        <p:nvSpPr>
          <p:cNvPr id="30" name="Text 23"/>
          <p:cNvSpPr txBox="1"/>
          <p:nvPr/>
        </p:nvSpPr>
        <p:spPr>
          <a:xfrm>
            <a:off x="6208776"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Imperfetto ma utile: una bozza facile da correggere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79</a:t>
            </a:fld>
            <a:endParaRPr lang="it-IT"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Prestazioni diverse in base al compito</a:t>
            </a:r>
            <a:endParaRPr lang="it-IT"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marL="0" indent="0">
              <a:buNone/>
            </a:pPr>
            <a:r>
              <a:rPr lang="it-IT" sz="1300" dirty="0">
                <a:solidFill>
                  <a:schemeClr val="tx1"/>
                </a:solidFill>
              </a:rPr>
              <a:t>Riformulare e correggere testi</a:t>
            </a:r>
            <a:endParaRPr lang="it-IT" sz="1300" dirty="0"/>
          </a:p>
        </p:txBody>
      </p:sp>
      <p:sp>
        <p:nvSpPr>
          <p:cNvPr id="5" name="barra base"/>
          <p:cNvSpPr/>
          <p:nvPr/>
        </p:nvSpPr>
        <p:spPr>
          <a:xfrm>
            <a:off x="3657600" y="1280160"/>
            <a:ext cx="2743200" cy="219456"/>
          </a:xfrm>
          <a:prstGeom prst="rect">
            <a:avLst/>
          </a:prstGeom>
          <a:solidFill>
            <a:schemeClr val="bg2"/>
          </a:solidFill>
          <a:ln/>
        </p:spPr>
        <p:txBody>
          <a:bodyPr/>
          <a:lstStyle/>
          <a:p>
            <a:endParaRPr lang="it-IT" dirty="0"/>
          </a:p>
        </p:txBody>
      </p:sp>
      <p:sp>
        <p:nvSpPr>
          <p:cNvPr id="6" name="barra profilo"/>
          <p:cNvSpPr/>
          <p:nvPr/>
        </p:nvSpPr>
        <p:spPr>
          <a:xfrm>
            <a:off x="3657600" y="1280160"/>
            <a:ext cx="2606040" cy="219456"/>
          </a:xfrm>
          <a:prstGeom prst="rect">
            <a:avLst/>
          </a:prstGeom>
          <a:solidFill>
            <a:schemeClr val="accent1"/>
          </a:solidFill>
          <a:ln/>
        </p:spPr>
        <p:txBody>
          <a:bodyPr/>
          <a:lstStyle/>
          <a:p>
            <a:endParaRPr lang="it-IT" dirty="0"/>
          </a:p>
        </p:txBody>
      </p:sp>
      <p:sp>
        <p:nvSpPr>
          <p:cNvPr id="7" name="Text 4"/>
          <p:cNvSpPr txBox="1"/>
          <p:nvPr/>
        </p:nvSpPr>
        <p:spPr>
          <a:xfrm>
            <a:off x="457200" y="1664208"/>
            <a:ext cx="3108960" cy="384048"/>
          </a:xfrm>
          <a:prstGeom prst="rect">
            <a:avLst/>
          </a:prstGeom>
          <a:noFill/>
          <a:ln/>
        </p:spPr>
        <p:txBody>
          <a:bodyPr wrap="square" lIns="0" tIns="0" rIns="0" bIns="0" rtlCol="0" anchor="ctr"/>
          <a:lstStyle/>
          <a:p>
            <a:pPr marL="0" indent="0">
              <a:buNone/>
            </a:pPr>
            <a:r>
              <a:rPr lang="it-IT" sz="1300" dirty="0">
                <a:solidFill>
                  <a:schemeClr val="tx1"/>
                </a:solidFill>
              </a:rPr>
              <a:t>Sintetizzare e tradurre</a:t>
            </a:r>
            <a:endParaRPr lang="it-IT" sz="1300" dirty="0"/>
          </a:p>
        </p:txBody>
      </p:sp>
      <p:sp>
        <p:nvSpPr>
          <p:cNvPr id="8" name="barra base"/>
          <p:cNvSpPr/>
          <p:nvPr/>
        </p:nvSpPr>
        <p:spPr>
          <a:xfrm>
            <a:off x="3657600" y="1755648"/>
            <a:ext cx="2743200" cy="219456"/>
          </a:xfrm>
          <a:prstGeom prst="rect">
            <a:avLst/>
          </a:prstGeom>
          <a:solidFill>
            <a:schemeClr val="bg2"/>
          </a:solidFill>
          <a:ln/>
        </p:spPr>
        <p:txBody>
          <a:bodyPr/>
          <a:lstStyle/>
          <a:p>
            <a:endParaRPr lang="it-IT" dirty="0"/>
          </a:p>
        </p:txBody>
      </p:sp>
      <p:sp>
        <p:nvSpPr>
          <p:cNvPr id="9" name="barra profilo"/>
          <p:cNvSpPr/>
          <p:nvPr/>
        </p:nvSpPr>
        <p:spPr>
          <a:xfrm>
            <a:off x="3657600" y="1755648"/>
            <a:ext cx="2331720" cy="219456"/>
          </a:xfrm>
          <a:prstGeom prst="rect">
            <a:avLst/>
          </a:prstGeom>
          <a:solidFill>
            <a:schemeClr val="accent1"/>
          </a:solidFill>
          <a:ln/>
        </p:spPr>
        <p:txBody>
          <a:bodyPr/>
          <a:lstStyle/>
          <a:p>
            <a:endParaRPr lang="it-IT" dirty="0"/>
          </a:p>
        </p:txBody>
      </p:sp>
      <p:sp>
        <p:nvSpPr>
          <p:cNvPr id="10" name="Text 7"/>
          <p:cNvSpPr txBox="1"/>
          <p:nvPr/>
        </p:nvSpPr>
        <p:spPr>
          <a:xfrm>
            <a:off x="457200" y="2139696"/>
            <a:ext cx="3108960" cy="384048"/>
          </a:xfrm>
          <a:prstGeom prst="rect">
            <a:avLst/>
          </a:prstGeom>
          <a:noFill/>
          <a:ln/>
        </p:spPr>
        <p:txBody>
          <a:bodyPr wrap="square" lIns="0" tIns="0" rIns="0" bIns="0" rtlCol="0" anchor="ctr"/>
          <a:lstStyle/>
          <a:p>
            <a:pPr marL="0" indent="0">
              <a:buNone/>
            </a:pPr>
            <a:r>
              <a:rPr lang="it-IT" sz="1300" dirty="0">
                <a:solidFill>
                  <a:schemeClr val="tx1"/>
                </a:solidFill>
              </a:rPr>
              <a:t>Estrarre dati da documenti strutturati</a:t>
            </a:r>
            <a:endParaRPr lang="it-IT" sz="1300" dirty="0"/>
          </a:p>
        </p:txBody>
      </p:sp>
      <p:sp>
        <p:nvSpPr>
          <p:cNvPr id="11" name="barra base"/>
          <p:cNvSpPr/>
          <p:nvPr/>
        </p:nvSpPr>
        <p:spPr>
          <a:xfrm>
            <a:off x="3657600" y="2231136"/>
            <a:ext cx="2743200" cy="219456"/>
          </a:xfrm>
          <a:prstGeom prst="rect">
            <a:avLst/>
          </a:prstGeom>
          <a:solidFill>
            <a:schemeClr val="bg2"/>
          </a:solidFill>
          <a:ln/>
        </p:spPr>
        <p:txBody>
          <a:bodyPr/>
          <a:lstStyle/>
          <a:p>
            <a:endParaRPr lang="it-IT" dirty="0"/>
          </a:p>
        </p:txBody>
      </p:sp>
      <p:sp>
        <p:nvSpPr>
          <p:cNvPr id="12" name="barra profilo"/>
          <p:cNvSpPr/>
          <p:nvPr/>
        </p:nvSpPr>
        <p:spPr>
          <a:xfrm>
            <a:off x="3657600" y="2231136"/>
            <a:ext cx="2057400" cy="219456"/>
          </a:xfrm>
          <a:prstGeom prst="rect">
            <a:avLst/>
          </a:prstGeom>
          <a:solidFill>
            <a:schemeClr val="accent1"/>
          </a:solidFill>
          <a:ln/>
        </p:spPr>
        <p:txBody>
          <a:bodyPr/>
          <a:lstStyle/>
          <a:p>
            <a:endParaRPr lang="it-IT" dirty="0"/>
          </a:p>
        </p:txBody>
      </p:sp>
      <p:sp>
        <p:nvSpPr>
          <p:cNvPr id="13" name="Text 10"/>
          <p:cNvSpPr txBox="1"/>
          <p:nvPr/>
        </p:nvSpPr>
        <p:spPr>
          <a:xfrm>
            <a:off x="457200" y="2615184"/>
            <a:ext cx="3108960" cy="384048"/>
          </a:xfrm>
          <a:prstGeom prst="rect">
            <a:avLst/>
          </a:prstGeom>
          <a:noFill/>
          <a:ln/>
        </p:spPr>
        <p:txBody>
          <a:bodyPr wrap="square" lIns="0" tIns="0" rIns="0" bIns="0" rtlCol="0" anchor="ctr"/>
          <a:lstStyle/>
          <a:p>
            <a:pPr marL="0" indent="0">
              <a:buNone/>
            </a:pPr>
            <a:r>
              <a:rPr lang="it-IT" sz="1300" dirty="0">
                <a:solidFill>
                  <a:schemeClr val="tx1"/>
                </a:solidFill>
              </a:rPr>
              <a:t>Calcoli complessi senza strumenti</a:t>
            </a:r>
            <a:endParaRPr lang="it-IT" sz="1300" dirty="0"/>
          </a:p>
        </p:txBody>
      </p:sp>
      <p:sp>
        <p:nvSpPr>
          <p:cNvPr id="14" name="barra base"/>
          <p:cNvSpPr/>
          <p:nvPr/>
        </p:nvSpPr>
        <p:spPr>
          <a:xfrm>
            <a:off x="3657600" y="2706624"/>
            <a:ext cx="2743200" cy="219456"/>
          </a:xfrm>
          <a:prstGeom prst="rect">
            <a:avLst/>
          </a:prstGeom>
          <a:solidFill>
            <a:schemeClr val="bg2"/>
          </a:solidFill>
          <a:ln/>
        </p:spPr>
        <p:txBody>
          <a:bodyPr/>
          <a:lstStyle/>
          <a:p>
            <a:endParaRPr lang="it-IT" dirty="0"/>
          </a:p>
        </p:txBody>
      </p:sp>
      <p:sp>
        <p:nvSpPr>
          <p:cNvPr id="15" name="barra profilo"/>
          <p:cNvSpPr/>
          <p:nvPr/>
        </p:nvSpPr>
        <p:spPr>
          <a:xfrm>
            <a:off x="3657600" y="2706624"/>
            <a:ext cx="1234440" cy="219456"/>
          </a:xfrm>
          <a:prstGeom prst="rect">
            <a:avLst/>
          </a:prstGeom>
          <a:solidFill>
            <a:schemeClr val="accent5"/>
          </a:solidFill>
          <a:ln/>
        </p:spPr>
        <p:txBody>
          <a:bodyPr/>
          <a:lstStyle/>
          <a:p>
            <a:endParaRPr lang="it-IT" dirty="0"/>
          </a:p>
        </p:txBody>
      </p:sp>
      <p:sp>
        <p:nvSpPr>
          <p:cNvPr id="16" name="Text 13"/>
          <p:cNvSpPr txBox="1"/>
          <p:nvPr/>
        </p:nvSpPr>
        <p:spPr>
          <a:xfrm>
            <a:off x="457200" y="3090672"/>
            <a:ext cx="3108960" cy="384048"/>
          </a:xfrm>
          <a:prstGeom prst="rect">
            <a:avLst/>
          </a:prstGeom>
          <a:noFill/>
          <a:ln/>
        </p:spPr>
        <p:txBody>
          <a:bodyPr wrap="square" lIns="0" tIns="0" rIns="0" bIns="0" rtlCol="0" anchor="ctr"/>
          <a:lstStyle/>
          <a:p>
            <a:pPr marL="0" indent="0">
              <a:buNone/>
            </a:pPr>
            <a:r>
              <a:rPr lang="it-IT" sz="1300" dirty="0">
                <a:solidFill>
                  <a:schemeClr val="tx1"/>
                </a:solidFill>
              </a:rPr>
              <a:t>Fatti specifici senza fonti</a:t>
            </a:r>
            <a:endParaRPr lang="it-IT" sz="1300" dirty="0"/>
          </a:p>
        </p:txBody>
      </p:sp>
      <p:sp>
        <p:nvSpPr>
          <p:cNvPr id="17" name="barra base"/>
          <p:cNvSpPr/>
          <p:nvPr/>
        </p:nvSpPr>
        <p:spPr>
          <a:xfrm>
            <a:off x="3657600" y="3182112"/>
            <a:ext cx="2743200" cy="219456"/>
          </a:xfrm>
          <a:prstGeom prst="rect">
            <a:avLst/>
          </a:prstGeom>
          <a:solidFill>
            <a:schemeClr val="bg2"/>
          </a:solidFill>
          <a:ln/>
        </p:spPr>
        <p:txBody>
          <a:bodyPr/>
          <a:lstStyle/>
          <a:p>
            <a:endParaRPr lang="it-IT" dirty="0"/>
          </a:p>
        </p:txBody>
      </p:sp>
      <p:sp>
        <p:nvSpPr>
          <p:cNvPr id="18" name="barra profilo"/>
          <p:cNvSpPr/>
          <p:nvPr/>
        </p:nvSpPr>
        <p:spPr>
          <a:xfrm>
            <a:off x="3657600" y="3182112"/>
            <a:ext cx="1097280" cy="219456"/>
          </a:xfrm>
          <a:prstGeom prst="rect">
            <a:avLst/>
          </a:prstGeom>
          <a:solidFill>
            <a:schemeClr val="accent5"/>
          </a:solidFill>
          <a:ln/>
        </p:spPr>
        <p:txBody>
          <a:bodyPr/>
          <a:lstStyle/>
          <a:p>
            <a:endParaRPr lang="it-IT" dirty="0"/>
          </a:p>
        </p:txBody>
      </p:sp>
      <p:sp>
        <p:nvSpPr>
          <p:cNvPr id="19" name="Text 16"/>
          <p:cNvSpPr txBox="1"/>
          <p:nvPr/>
        </p:nvSpPr>
        <p:spPr>
          <a:xfrm>
            <a:off x="457200" y="3566160"/>
            <a:ext cx="3108960" cy="384048"/>
          </a:xfrm>
          <a:prstGeom prst="rect">
            <a:avLst/>
          </a:prstGeom>
          <a:noFill/>
          <a:ln/>
        </p:spPr>
        <p:txBody>
          <a:bodyPr wrap="square" lIns="0" tIns="0" rIns="0" bIns="0" rtlCol="0" anchor="ctr"/>
          <a:lstStyle/>
          <a:p>
            <a:pPr marL="0" indent="0">
              <a:buNone/>
            </a:pPr>
            <a:r>
              <a:rPr lang="it-IT" sz="1300" dirty="0">
                <a:solidFill>
                  <a:schemeClr val="tx1"/>
                </a:solidFill>
              </a:rPr>
              <a:t>Conteggi precisi (parole, lettere)</a:t>
            </a:r>
            <a:endParaRPr lang="it-IT" sz="1300" dirty="0"/>
          </a:p>
        </p:txBody>
      </p:sp>
      <p:sp>
        <p:nvSpPr>
          <p:cNvPr id="20" name="barra base"/>
          <p:cNvSpPr/>
          <p:nvPr/>
        </p:nvSpPr>
        <p:spPr>
          <a:xfrm>
            <a:off x="3657600" y="3657600"/>
            <a:ext cx="2743200" cy="219456"/>
          </a:xfrm>
          <a:prstGeom prst="rect">
            <a:avLst/>
          </a:prstGeom>
          <a:solidFill>
            <a:schemeClr val="bg2"/>
          </a:solidFill>
          <a:ln/>
        </p:spPr>
        <p:txBody>
          <a:bodyPr/>
          <a:lstStyle/>
          <a:p>
            <a:endParaRPr lang="it-IT" dirty="0"/>
          </a:p>
        </p:txBody>
      </p:sp>
      <p:sp>
        <p:nvSpPr>
          <p:cNvPr id="21" name="barra profilo"/>
          <p:cNvSpPr/>
          <p:nvPr/>
        </p:nvSpPr>
        <p:spPr>
          <a:xfrm>
            <a:off x="3657600" y="3657600"/>
            <a:ext cx="960120" cy="219456"/>
          </a:xfrm>
          <a:prstGeom prst="rect">
            <a:avLst/>
          </a:prstGeom>
          <a:solidFill>
            <a:schemeClr val="accent5"/>
          </a:solidFill>
          <a:ln/>
        </p:spPr>
        <p:txBody>
          <a:bodyPr/>
          <a:lstStyle/>
          <a:p>
            <a:endParaRPr lang="it-IT" dirty="0"/>
          </a:p>
        </p:txBody>
      </p:sp>
      <p:sp>
        <p:nvSpPr>
          <p:cNvPr id="22" name="Text 19"/>
          <p:cNvSpPr txBox="1"/>
          <p:nvPr/>
        </p:nvSpPr>
        <p:spPr>
          <a:xfrm>
            <a:off x="457200" y="4069080"/>
            <a:ext cx="5943600" cy="274320"/>
          </a:xfrm>
          <a:prstGeom prst="rect">
            <a:avLst/>
          </a:prstGeom>
          <a:noFill/>
          <a:ln/>
        </p:spPr>
        <p:txBody>
          <a:bodyPr wrap="square" lIns="0" tIns="0" rIns="0" bIns="0" rtlCol="0" anchor="t"/>
          <a:lstStyle/>
          <a:p>
            <a:pPr marL="0" indent="0">
              <a:buNone/>
            </a:pPr>
            <a:r>
              <a:rPr lang="it-IT" sz="1000" i="1" dirty="0">
                <a:solidFill>
                  <a:schemeClr val="accent2"/>
                </a:solidFill>
              </a:rPr>
              <a:t>Profilo qualitativo di un ipotetico assistente, a scopo illustrativo</a:t>
            </a:r>
            <a:endParaRPr lang="it-IT"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txBody>
          <a:bodyPr/>
          <a:lstStyle/>
          <a:p>
            <a:endParaRPr lang="it-IT" dirty="0"/>
          </a:p>
        </p:txBody>
      </p:sp>
      <p:sp>
        <p:nvSpPr>
          <p:cNvPr id="24" name="Text 21"/>
          <p:cNvSpPr txBox="1"/>
          <p:nvPr/>
        </p:nvSpPr>
        <p:spPr>
          <a:xfrm>
            <a:off x="6812280" y="1188720"/>
            <a:ext cx="1783080" cy="3246120"/>
          </a:xfrm>
          <a:prstGeom prst="rect">
            <a:avLst/>
          </a:prstGeom>
          <a:noFill/>
          <a:ln/>
        </p:spPr>
        <p:txBody>
          <a:bodyPr wrap="square" lIns="0" tIns="0" rIns="0" bIns="0" rtlCol="0" anchor="ctr"/>
          <a:lstStyle/>
          <a:p>
            <a:pPr marL="0" indent="0">
              <a:buNone/>
            </a:pPr>
            <a:r>
              <a:rPr lang="it-IT" sz="1400" dirty="0">
                <a:solidFill>
                  <a:schemeClr val="bg1"/>
                </a:solidFill>
              </a:rPr>
              <a:t>Non "questo modello è affidabile", ma "è affidabile per questo compito, in queste condizioni".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80</a:t>
            </a:fld>
            <a:endParaRPr lang="it-IT"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verificare il valore e l’affidabilità </a:t>
            </a:r>
            <a:r>
              <a:rPr lang="it-IT" sz="2600" b="1" dirty="0" err="1">
                <a:solidFill>
                  <a:schemeClr val="tx1"/>
                </a:solidFill>
              </a:rPr>
              <a:t>dell’Ai</a:t>
            </a:r>
            <a:r>
              <a:rPr lang="it-IT" sz="2600" b="1" dirty="0">
                <a:solidFill>
                  <a:schemeClr val="tx1"/>
                </a:solidFill>
              </a:rPr>
              <a:t> nei casi reali</a:t>
            </a:r>
            <a:endParaRPr lang="it-IT"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txBody>
          <a:bodyPr/>
          <a:lstStyle/>
          <a:p>
            <a:endParaRPr lang="it-IT" dirty="0"/>
          </a:p>
        </p:txBody>
      </p:sp>
      <p:sp>
        <p:nvSpPr>
          <p:cNvPr id="5" name="cerchio FiTarget"/>
          <p:cNvSpPr/>
          <p:nvPr/>
        </p:nvSpPr>
        <p:spPr>
          <a:xfrm>
            <a:off x="969264" y="1280160"/>
            <a:ext cx="512064" cy="512064"/>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1. Definire il compito</a:t>
            </a:r>
            <a:endParaRPr lang="it-IT"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Che cosa significa un buon risultato</a:t>
            </a:r>
            <a:endParaRPr lang="it-IT"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txBody>
          <a:bodyPr/>
          <a:lstStyle/>
          <a:p>
            <a:endParaRPr lang="it-IT" dirty="0"/>
          </a:p>
        </p:txBody>
      </p:sp>
      <p:sp>
        <p:nvSpPr>
          <p:cNvPr id="10" name="cerchio FiFolder"/>
          <p:cNvSpPr/>
          <p:nvPr/>
        </p:nvSpPr>
        <p:spPr>
          <a:xfrm>
            <a:off x="2651760" y="1280160"/>
            <a:ext cx="512064" cy="512064"/>
          </a:xfrm>
          <a:prstGeom prst="ellipse">
            <a:avLst/>
          </a:prstGeom>
          <a:solidFill>
            <a:schemeClr val="accent1"/>
          </a:solidFill>
          <a:ln/>
        </p:spPr>
        <p:txBody>
          <a:bodyPr/>
          <a:lstStyle/>
          <a:p>
            <a:endParaRPr lang="it-IT" dirty="0"/>
          </a:p>
        </p:txBody>
      </p:sp>
      <p:pic>
        <p:nvPicPr>
          <p:cNvPr id="11" name="Image 1" descr="FiFolder"/>
          <p:cNvPicPr>
            <a:picLocks noChangeAspect="1"/>
          </p:cNvPicPr>
          <p:nvPr/>
        </p:nvPicPr>
        <p:blipFill>
          <a:blip r:embed="rId4"/>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2. Raccogliere casi reali</a:t>
            </a:r>
            <a:endParaRPr lang="it-IT"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Anche difficili, insoliti, ambigui</a:t>
            </a:r>
            <a:endParaRPr lang="it-IT"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txBody>
          <a:bodyPr/>
          <a:lstStyle/>
          <a:p>
            <a:endParaRPr lang="it-IT" dirty="0"/>
          </a:p>
        </p:txBody>
      </p:sp>
      <p:sp>
        <p:nvSpPr>
          <p:cNvPr id="15" name="cerchio FiColumns"/>
          <p:cNvSpPr/>
          <p:nvPr/>
        </p:nvSpPr>
        <p:spPr>
          <a:xfrm>
            <a:off x="4334256" y="1280160"/>
            <a:ext cx="512064" cy="512064"/>
          </a:xfrm>
          <a:prstGeom prst="ellipse">
            <a:avLst/>
          </a:prstGeom>
          <a:solidFill>
            <a:schemeClr val="accent1"/>
          </a:solidFill>
          <a:ln/>
        </p:spPr>
        <p:txBody>
          <a:bodyPr/>
          <a:lstStyle/>
          <a:p>
            <a:endParaRPr lang="it-IT" dirty="0"/>
          </a:p>
        </p:txBody>
      </p:sp>
      <p:pic>
        <p:nvPicPr>
          <p:cNvPr id="16" name="Image 2" descr="FiColumns"/>
          <p:cNvPicPr>
            <a:picLocks noChangeAspect="1"/>
          </p:cNvPicPr>
          <p:nvPr/>
        </p:nvPicPr>
        <p:blipFill>
          <a:blip r:embed="rId5"/>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3. Confrontare</a:t>
            </a:r>
            <a:endParaRPr lang="it-IT"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Con il risultato atteso e il giudizio esperto</a:t>
            </a:r>
            <a:endParaRPr lang="it-IT"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txBody>
          <a:bodyPr/>
          <a:lstStyle/>
          <a:p>
            <a:endParaRPr lang="it-IT" dirty="0"/>
          </a:p>
        </p:txBody>
      </p:sp>
      <p:sp>
        <p:nvSpPr>
          <p:cNvPr id="20" name="cerchio FiAlertTriangle"/>
          <p:cNvSpPr/>
          <p:nvPr/>
        </p:nvSpPr>
        <p:spPr>
          <a:xfrm>
            <a:off x="6016752" y="1280160"/>
            <a:ext cx="512064" cy="512064"/>
          </a:xfrm>
          <a:prstGeom prst="ellipse">
            <a:avLst/>
          </a:prstGeom>
          <a:solidFill>
            <a:schemeClr val="accent1"/>
          </a:solidFill>
          <a:ln/>
        </p:spPr>
        <p:txBody>
          <a:bodyPr/>
          <a:lstStyle/>
          <a:p>
            <a:endParaRPr lang="it-IT" dirty="0"/>
          </a:p>
        </p:txBody>
      </p:sp>
      <p:pic>
        <p:nvPicPr>
          <p:cNvPr id="21" name="Image 3" descr="FiAlertTriangle"/>
          <p:cNvPicPr>
            <a:picLocks noChangeAspect="1"/>
          </p:cNvPicPr>
          <p:nvPr/>
        </p:nvPicPr>
        <p:blipFill>
          <a:blip r:embed="rId6"/>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4. Analizzare gli errori</a:t>
            </a:r>
            <a:endParaRPr lang="it-IT"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Tipo, gravità, facilità di individuazione</a:t>
            </a:r>
            <a:endParaRPr lang="it-IT"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txBody>
          <a:bodyPr/>
          <a:lstStyle/>
          <a:p>
            <a:endParaRPr lang="it-IT" dirty="0"/>
          </a:p>
        </p:txBody>
      </p:sp>
      <p:sp>
        <p:nvSpPr>
          <p:cNvPr id="25" name="cerchio FiRefreshCw"/>
          <p:cNvSpPr/>
          <p:nvPr/>
        </p:nvSpPr>
        <p:spPr>
          <a:xfrm>
            <a:off x="7699248" y="1280160"/>
            <a:ext cx="512064" cy="512064"/>
          </a:xfrm>
          <a:prstGeom prst="ellipse">
            <a:avLst/>
          </a:prstGeom>
          <a:solidFill>
            <a:schemeClr val="accent1"/>
          </a:solidFill>
          <a:ln/>
        </p:spPr>
        <p:txBody>
          <a:bodyPr/>
          <a:lstStyle/>
          <a:p>
            <a:endParaRPr lang="it-IT" dirty="0"/>
          </a:p>
        </p:txBody>
      </p:sp>
      <p:pic>
        <p:nvPicPr>
          <p:cNvPr id="26" name="Image 4" descr="FiRefreshCw"/>
          <p:cNvPicPr>
            <a:picLocks noChangeAspect="1"/>
          </p:cNvPicPr>
          <p:nvPr/>
        </p:nvPicPr>
        <p:blipFill>
          <a:blip r:embed="rId7"/>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5. Ripetere nel tempo</a:t>
            </a:r>
            <a:endParaRPr lang="it-IT"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Modelli e dati cambiano</a:t>
            </a:r>
            <a:endParaRPr lang="it-IT"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30" name="Text 22"/>
          <p:cNvSpPr txBox="1"/>
          <p:nvPr/>
        </p:nvSpPr>
        <p:spPr>
          <a:xfrm>
            <a:off x="640080" y="3566160"/>
            <a:ext cx="1828800" cy="256032"/>
          </a:xfrm>
          <a:prstGeom prst="rect">
            <a:avLst/>
          </a:prstGeom>
          <a:noFill/>
          <a:ln/>
        </p:spPr>
        <p:txBody>
          <a:bodyPr wrap="square" lIns="0" tIns="0" rIns="0" bIns="0" rtlCol="0" anchor="t"/>
          <a:lstStyle/>
          <a:p>
            <a:pPr marL="0" indent="0">
              <a:buNone/>
            </a:pPr>
            <a:r>
              <a:rPr lang="it-IT" sz="1000" b="1" kern="0" spc="200" dirty="0">
                <a:solidFill>
                  <a:schemeClr val="accent1"/>
                </a:solidFill>
              </a:rPr>
              <a:t>ESEMPIO</a:t>
            </a:r>
            <a:endParaRPr lang="it-IT"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marL="0" indent="0">
              <a:buNone/>
            </a:pPr>
            <a:r>
              <a:rPr lang="it-IT" sz="1300" dirty="0">
                <a:solidFill>
                  <a:schemeClr val="bg1"/>
                </a:solidFill>
              </a:rPr>
              <a:t>Prima di usare l'AI per estrarre dati dalle fatture: provarla su 50 fatture reali di formati diversi, comprese quelle scansionate male, e controllare campo per campo.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81</a:t>
            </a:fld>
            <a:endParaRPr lang="it-IT"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modello e il sistema completo</a:t>
            </a:r>
            <a:endParaRPr lang="it-IT"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5" name="cerchio FiDatabase"/>
          <p:cNvSpPr/>
          <p:nvPr/>
        </p:nvSpPr>
        <p:spPr>
          <a:xfrm>
            <a:off x="841248" y="1463040"/>
            <a:ext cx="502920" cy="50292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Dati e documenti</a:t>
            </a:r>
            <a:endParaRPr lang="it-IT"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txBody>
          <a:bodyPr/>
          <a:lstStyle/>
          <a:p>
            <a:endParaRPr lang="it-IT" dirty="0"/>
          </a:p>
        </p:txBody>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10" name="cerchio FiSearch"/>
          <p:cNvSpPr/>
          <p:nvPr/>
        </p:nvSpPr>
        <p:spPr>
          <a:xfrm>
            <a:off x="2258568" y="1463040"/>
            <a:ext cx="502920" cy="502920"/>
          </a:xfrm>
          <a:prstGeom prst="ellipse">
            <a:avLst/>
          </a:prstGeom>
          <a:solidFill>
            <a:schemeClr val="accent1"/>
          </a:solidFill>
          <a:ln/>
        </p:spPr>
        <p:txBody>
          <a:bodyPr/>
          <a:lstStyle/>
          <a:p>
            <a:endParaRPr lang="it-IT" dirty="0"/>
          </a:p>
        </p:txBody>
      </p:sp>
      <p:pic>
        <p:nvPicPr>
          <p:cNvPr id="11" name="Image 1" descr="FiSearch"/>
          <p:cNvPicPr>
            <a:picLocks noChangeAspect="1"/>
          </p:cNvPicPr>
          <p:nvPr/>
        </p:nvPicPr>
        <p:blipFill>
          <a:blip r:embed="rId4"/>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Recupero delle informazioni</a:t>
            </a:r>
            <a:endParaRPr lang="it-IT"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txBody>
          <a:bodyPr/>
          <a:lstStyle/>
          <a:p>
            <a:endParaRPr lang="it-IT" dirty="0"/>
          </a:p>
        </p:txBody>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txBody>
          <a:bodyPr/>
          <a:lstStyle/>
          <a:p>
            <a:endParaRPr lang="it-IT" dirty="0"/>
          </a:p>
        </p:txBody>
      </p:sp>
      <p:sp>
        <p:nvSpPr>
          <p:cNvPr id="15" name="cerchio FiCpu"/>
          <p:cNvSpPr/>
          <p:nvPr/>
        </p:nvSpPr>
        <p:spPr>
          <a:xfrm>
            <a:off x="3675888" y="1463040"/>
            <a:ext cx="502920" cy="502920"/>
          </a:xfrm>
          <a:prstGeom prst="ellipse">
            <a:avLst/>
          </a:prstGeom>
          <a:solidFill>
            <a:schemeClr val="bg1"/>
          </a:solidFill>
          <a:ln/>
        </p:spPr>
        <p:txBody>
          <a:bodyPr/>
          <a:lstStyle/>
          <a:p>
            <a:endParaRPr lang="it-IT" dirty="0"/>
          </a:p>
        </p:txBody>
      </p:sp>
      <p:pic>
        <p:nvPicPr>
          <p:cNvPr id="16" name="Image 2" descr="FiCpu"/>
          <p:cNvPicPr>
            <a:picLocks noChangeAspect="1"/>
          </p:cNvPicPr>
          <p:nvPr/>
        </p:nvPicPr>
        <p:blipFill>
          <a:blip r:embed="rId5"/>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marL="0" indent="0" algn="ctr">
              <a:buNone/>
            </a:pPr>
            <a:r>
              <a:rPr lang="it-IT" sz="1200" b="1" dirty="0">
                <a:solidFill>
                  <a:schemeClr val="bg1"/>
                </a:solidFill>
              </a:rPr>
              <a:t>Modello</a:t>
            </a:r>
            <a:endParaRPr lang="it-IT"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txBody>
          <a:bodyPr/>
          <a:lstStyle/>
          <a:p>
            <a:endParaRPr lang="it-IT" dirty="0"/>
          </a:p>
        </p:txBody>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0" name="cerchio FiSettings"/>
          <p:cNvSpPr/>
          <p:nvPr/>
        </p:nvSpPr>
        <p:spPr>
          <a:xfrm>
            <a:off x="5093208" y="1463040"/>
            <a:ext cx="502920" cy="502920"/>
          </a:xfrm>
          <a:prstGeom prst="ellipse">
            <a:avLst/>
          </a:prstGeom>
          <a:solidFill>
            <a:schemeClr val="accent1"/>
          </a:solidFill>
          <a:ln/>
        </p:spPr>
        <p:txBody>
          <a:bodyPr/>
          <a:lstStyle/>
          <a:p>
            <a:endParaRPr lang="it-IT" dirty="0"/>
          </a:p>
        </p:txBody>
      </p:sp>
      <p:pic>
        <p:nvPicPr>
          <p:cNvPr id="21" name="Image 3" descr="FiSettings"/>
          <p:cNvPicPr>
            <a:picLocks noChangeAspect="1"/>
          </p:cNvPicPr>
          <p:nvPr/>
        </p:nvPicPr>
        <p:blipFill>
          <a:blip r:embed="rId6"/>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Istruzioni e configurazione</a:t>
            </a:r>
            <a:endParaRPr lang="it-IT"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txBody>
          <a:bodyPr/>
          <a:lstStyle/>
          <a:p>
            <a:endParaRPr lang="it-IT" dirty="0"/>
          </a:p>
        </p:txBody>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5" name="cerchio FiTool"/>
          <p:cNvSpPr/>
          <p:nvPr/>
        </p:nvSpPr>
        <p:spPr>
          <a:xfrm>
            <a:off x="6510528" y="1463040"/>
            <a:ext cx="502920" cy="502920"/>
          </a:xfrm>
          <a:prstGeom prst="ellipse">
            <a:avLst/>
          </a:prstGeom>
          <a:solidFill>
            <a:schemeClr val="accent1"/>
          </a:solidFill>
          <a:ln/>
        </p:spPr>
        <p:txBody>
          <a:bodyPr/>
          <a:lstStyle/>
          <a:p>
            <a:endParaRPr lang="it-IT" dirty="0"/>
          </a:p>
        </p:txBody>
      </p:sp>
      <p:pic>
        <p:nvPicPr>
          <p:cNvPr id="26" name="Image 4" descr="FiTool"/>
          <p:cNvPicPr>
            <a:picLocks noChangeAspect="1"/>
          </p:cNvPicPr>
          <p:nvPr/>
        </p:nvPicPr>
        <p:blipFill>
          <a:blip r:embed="rId7"/>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Strumenti collegati</a:t>
            </a:r>
            <a:endParaRPr lang="it-IT"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txBody>
          <a:bodyPr/>
          <a:lstStyle/>
          <a:p>
            <a:endParaRPr lang="it-IT" dirty="0"/>
          </a:p>
        </p:txBody>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30" name="cerchio FiUserCheck"/>
          <p:cNvSpPr/>
          <p:nvPr/>
        </p:nvSpPr>
        <p:spPr>
          <a:xfrm>
            <a:off x="7927848" y="1463040"/>
            <a:ext cx="502920" cy="502920"/>
          </a:xfrm>
          <a:prstGeom prst="ellipse">
            <a:avLst/>
          </a:prstGeom>
          <a:solidFill>
            <a:schemeClr val="accent1"/>
          </a:solidFill>
          <a:ln/>
        </p:spPr>
        <p:txBody>
          <a:bodyPr/>
          <a:lstStyle/>
          <a:p>
            <a:endParaRPr lang="it-IT" dirty="0"/>
          </a:p>
        </p:txBody>
      </p:sp>
      <p:pic>
        <p:nvPicPr>
          <p:cNvPr id="31" name="Image 5" descr="FiUserCheck"/>
          <p:cNvPicPr>
            <a:picLocks noChangeAspect="1"/>
          </p:cNvPicPr>
          <p:nvPr/>
        </p:nvPicPr>
        <p:blipFill>
          <a:blip r:embed="rId8"/>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Persona che usa e controlla</a:t>
            </a:r>
            <a:endParaRPr lang="it-IT"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marL="0" indent="0" algn="ctr">
              <a:buNone/>
            </a:pPr>
            <a:r>
              <a:rPr lang="it-IT" sz="1400" b="1" dirty="0">
                <a:solidFill>
                  <a:schemeClr val="tx1"/>
                </a:solidFill>
              </a:rPr>
              <a:t>Fonti, modello, configurazione, strumenti e supervisione contribuiscono insieme alla qualità del risultato.</a:t>
            </a:r>
            <a:endParaRPr lang="it-IT"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txBody>
          <a:bodyPr/>
          <a:lstStyle/>
          <a:p>
            <a:endParaRPr lang="it-IT" dirty="0"/>
          </a:p>
        </p:txBody>
      </p:sp>
      <p:sp>
        <p:nvSpPr>
          <p:cNvPr id="35" name="Text 26"/>
          <p:cNvSpPr txBox="1"/>
          <p:nvPr/>
        </p:nvSpPr>
        <p:spPr>
          <a:xfrm>
            <a:off x="64008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Ottimo modello + archivio obsoleto</a:t>
            </a:r>
            <a:endParaRPr lang="it-IT"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risposte obsolete</a:t>
            </a:r>
            <a:endParaRPr lang="it-IT"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txBody>
          <a:bodyPr/>
          <a:lstStyle/>
          <a:p>
            <a:endParaRPr lang="it-IT" dirty="0"/>
          </a:p>
        </p:txBody>
      </p:sp>
      <p:sp>
        <p:nvSpPr>
          <p:cNvPr id="38" name="Text 29"/>
          <p:cNvSpPr txBox="1"/>
          <p:nvPr/>
        </p:nvSpPr>
        <p:spPr>
          <a:xfrm>
            <a:off x="489204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Buone fonti + istruzioni chiare + controlli</a:t>
            </a:r>
            <a:endParaRPr lang="it-IT"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risultati più affidabili, anche con un modello meno potente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82</a:t>
            </a:fld>
            <a:endParaRPr lang="it-IT"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Supervisione umana e verifica proporzionata</a:t>
            </a:r>
            <a:endParaRPr lang="it-IT" sz="2600" dirty="0"/>
          </a:p>
        </p:txBody>
      </p:sp>
      <p:sp>
        <p:nvSpPr>
          <p:cNvPr id="4" name="Leggera"/>
          <p:cNvSpPr/>
          <p:nvPr/>
        </p:nvSpPr>
        <p:spPr>
          <a:xfrm>
            <a:off x="457200" y="2194560"/>
            <a:ext cx="2615184" cy="1554480"/>
          </a:xfrm>
          <a:prstGeom prst="roundRect">
            <a:avLst>
              <a:gd name="adj" fmla="val 4706"/>
            </a:avLst>
          </a:prstGeom>
          <a:solidFill>
            <a:schemeClr val="bg2"/>
          </a:solidFill>
          <a:ln/>
        </p:spPr>
        <p:txBody>
          <a:bodyPr/>
          <a:lstStyle/>
          <a:p>
            <a:endParaRPr lang="it-IT" dirty="0"/>
          </a:p>
        </p:txBody>
      </p:sp>
      <p:sp>
        <p:nvSpPr>
          <p:cNvPr id="5" name="Text 2"/>
          <p:cNvSpPr txBox="1"/>
          <p:nvPr/>
        </p:nvSpPr>
        <p:spPr>
          <a:xfrm>
            <a:off x="640080" y="230428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leggera</a:t>
            </a:r>
            <a:endParaRPr lang="it-IT"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Rilettura critica</a:t>
            </a:r>
            <a:endParaRPr lang="it-IT"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marL="0" indent="0">
              <a:buNone/>
            </a:pPr>
            <a:r>
              <a:rPr lang="it-IT" sz="1200" dirty="0">
                <a:solidFill>
                  <a:schemeClr val="tx1"/>
                </a:solidFill>
              </a:rPr>
              <a:t>Bozze interne, idee, testi a basso impatto</a:t>
            </a:r>
            <a:endParaRPr lang="it-IT"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txBody>
          <a:bodyPr/>
          <a:lstStyle/>
          <a:p>
            <a:endParaRPr lang="it-IT" dirty="0"/>
          </a:p>
        </p:txBody>
      </p:sp>
      <p:sp>
        <p:nvSpPr>
          <p:cNvPr id="9" name="Text 6"/>
          <p:cNvSpPr txBox="1"/>
          <p:nvPr/>
        </p:nvSpPr>
        <p:spPr>
          <a:xfrm>
            <a:off x="3447288" y="193852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standard</a:t>
            </a:r>
            <a:endParaRPr lang="it-IT"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Fatti principali, numeri, fonti</a:t>
            </a:r>
            <a:endParaRPr lang="it-IT"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marL="0" indent="0">
              <a:buNone/>
            </a:pPr>
            <a:r>
              <a:rPr lang="it-IT" sz="1200" dirty="0">
                <a:solidFill>
                  <a:schemeClr val="tx1"/>
                </a:solidFill>
              </a:rPr>
              <a:t>Documenti che escono dal gruppo di lavoro</a:t>
            </a:r>
            <a:endParaRPr lang="it-IT"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txBody>
          <a:bodyPr/>
          <a:lstStyle/>
          <a:p>
            <a:endParaRPr lang="it-IT" dirty="0"/>
          </a:p>
        </p:txBody>
      </p:sp>
      <p:sp>
        <p:nvSpPr>
          <p:cNvPr id="13" name="Text 10"/>
          <p:cNvSpPr txBox="1"/>
          <p:nvPr/>
        </p:nvSpPr>
        <p:spPr>
          <a:xfrm>
            <a:off x="6254496" y="1572768"/>
            <a:ext cx="2286000" cy="347472"/>
          </a:xfrm>
          <a:prstGeom prst="rect">
            <a:avLst/>
          </a:prstGeom>
          <a:noFill/>
          <a:ln/>
        </p:spPr>
        <p:txBody>
          <a:bodyPr wrap="square" lIns="0" tIns="0" rIns="0" bIns="0" rtlCol="0" anchor="t"/>
          <a:lstStyle/>
          <a:p>
            <a:pPr marL="0" indent="0">
              <a:buNone/>
            </a:pPr>
            <a:r>
              <a:rPr lang="it-IT" sz="1600" b="1" dirty="0">
                <a:solidFill>
                  <a:schemeClr val="bg1"/>
                </a:solidFill>
              </a:rPr>
              <a:t>Verifica approfondita</a:t>
            </a:r>
            <a:endParaRPr lang="it-IT"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marL="0" indent="0">
              <a:buNone/>
            </a:pPr>
            <a:r>
              <a:rPr lang="it-IT" sz="1300" b="1" dirty="0">
                <a:solidFill>
                  <a:schemeClr val="accent6"/>
                </a:solidFill>
              </a:rPr>
              <a:t>Fonti indipendenti e revisione esperta</a:t>
            </a:r>
            <a:endParaRPr lang="it-IT"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marL="0" indent="0">
              <a:buNone/>
            </a:pPr>
            <a:r>
              <a:rPr lang="it-IT" sz="1200" dirty="0">
                <a:solidFill>
                  <a:schemeClr val="bg1"/>
                </a:solidFill>
              </a:rPr>
              <a:t>Conseguenze legali, economiche, di sicurezza, reputazionali</a:t>
            </a:r>
            <a:endParaRPr lang="it-IT"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txBody>
          <a:bodyPr/>
          <a:lstStyle/>
          <a:p>
            <a:endParaRPr lang="it-IT" dirty="0"/>
          </a:p>
        </p:txBody>
      </p:sp>
      <p:sp>
        <p:nvSpPr>
          <p:cNvPr id="17" name="Text 14"/>
          <p:cNvSpPr txBox="1"/>
          <p:nvPr/>
        </p:nvSpPr>
        <p:spPr>
          <a:xfrm>
            <a:off x="640080" y="4069080"/>
            <a:ext cx="3611880" cy="347472"/>
          </a:xfrm>
          <a:prstGeom prst="rect">
            <a:avLst/>
          </a:prstGeom>
          <a:noFill/>
          <a:ln/>
        </p:spPr>
        <p:txBody>
          <a:bodyPr wrap="square" lIns="0" tIns="0" rIns="0" bIns="0" rtlCol="0" anchor="t"/>
          <a:lstStyle/>
          <a:p>
            <a:pPr marL="0" indent="0">
              <a:buNone/>
            </a:pPr>
            <a:r>
              <a:rPr lang="it-IT" sz="1300" b="1" dirty="0">
                <a:solidFill>
                  <a:schemeClr val="tx1"/>
                </a:solidFill>
              </a:rPr>
              <a:t>Chi verifica deve avere le competenze</a:t>
            </a:r>
            <a:endParaRPr lang="it-IT"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txBody>
          <a:bodyPr/>
          <a:lstStyle/>
          <a:p>
            <a:endParaRPr lang="it-IT" dirty="0"/>
          </a:p>
        </p:txBody>
      </p:sp>
      <p:sp>
        <p:nvSpPr>
          <p:cNvPr id="19" name="Text 16"/>
          <p:cNvSpPr txBox="1"/>
          <p:nvPr/>
        </p:nvSpPr>
        <p:spPr>
          <a:xfrm>
            <a:off x="4892040" y="3951514"/>
            <a:ext cx="3611880" cy="347472"/>
          </a:xfrm>
          <a:prstGeom prst="rect">
            <a:avLst/>
          </a:prstGeom>
          <a:noFill/>
          <a:ln/>
        </p:spPr>
        <p:txBody>
          <a:bodyPr wrap="square" lIns="0" tIns="0" rIns="0" bIns="0" rtlCol="0" anchor="t"/>
          <a:lstStyle/>
          <a:p>
            <a:pPr marL="0" indent="0">
              <a:buNone/>
            </a:pPr>
            <a:r>
              <a:rPr lang="it-IT" sz="1300" b="1" dirty="0">
                <a:solidFill>
                  <a:schemeClr val="tx1"/>
                </a:solidFill>
              </a:rPr>
              <a:t>Automation </a:t>
            </a:r>
            <a:r>
              <a:rPr lang="it-IT" sz="1300" b="1" dirty="0" err="1">
                <a:solidFill>
                  <a:schemeClr val="tx1"/>
                </a:solidFill>
              </a:rPr>
              <a:t>bias</a:t>
            </a:r>
            <a:r>
              <a:rPr lang="it-IT" sz="1300" b="1" dirty="0">
                <a:solidFill>
                  <a:schemeClr val="tx1"/>
                </a:solidFill>
              </a:rPr>
              <a:t>: </a:t>
            </a:r>
            <a:r>
              <a:rPr lang="it-IT" sz="1300" dirty="0">
                <a:solidFill>
                  <a:schemeClr val="tx1"/>
                </a:solidFill>
              </a:rPr>
              <a:t>Quando un sistema funziona bene abitualmente, possiamo essere portati a controllarne meno criticamente i risultati.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83</a:t>
            </a:fld>
            <a:endParaRPr lang="it-IT"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3.8</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Quando utilizzare o limitare 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Scegliere il livello di utilizzo dell'AI in funzione del valore atteso, dell'affidabilità richiesta e dei controlli disponibili.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84</a:t>
            </a:fld>
            <a:endParaRPr lang="it-IT"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Possibilità tecnica e opportunità di utilizzo</a:t>
            </a:r>
            <a:endParaRPr lang="it-IT"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Può farlo?</a:t>
            </a:r>
            <a:endParaRPr lang="it-IT"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buNone/>
            </a:pPr>
            <a:r>
              <a:rPr lang="it-IT" sz="1300" dirty="0">
                <a:solidFill>
                  <a:schemeClr val="tx2"/>
                </a:solidFill>
              </a:rPr>
              <a:t>Possibilità tecnica.</a:t>
            </a:r>
            <a:endParaRPr lang="it-IT" sz="1300" dirty="0"/>
          </a:p>
          <a:p>
            <a:pPr marL="0" indent="0">
              <a:buNone/>
            </a:pPr>
            <a:endParaRPr lang="it-IT" sz="1300" dirty="0"/>
          </a:p>
          <a:p>
            <a:pPr marL="0" indent="0">
              <a:buNone/>
            </a:pPr>
            <a:r>
              <a:rPr lang="it-IT" sz="1300" dirty="0">
                <a:solidFill>
                  <a:schemeClr val="tx2"/>
                </a:solidFill>
              </a:rPr>
              <a:t>Spesso sì: valutazioni, risposte mediche, pareri legali, decisioni su clienti.</a:t>
            </a:r>
            <a:endParaRPr lang="it-IT"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Help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È opportuno farlo?</a:t>
            </a:r>
            <a:endParaRPr lang="it-IT"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it-IT" sz="1300" dirty="0">
                <a:solidFill>
                  <a:schemeClr val="tx2"/>
                </a:solidFill>
              </a:rPr>
              <a:t>Affidabilità per quel compito</a:t>
            </a:r>
            <a:endParaRPr lang="it-IT" sz="1300" dirty="0"/>
          </a:p>
          <a:p>
            <a:pPr marL="177800" indent="-177800">
              <a:spcAft>
                <a:spcPts val="100"/>
              </a:spcAft>
              <a:buSzPct val="100000"/>
              <a:buChar char="•"/>
            </a:pPr>
            <a:r>
              <a:rPr lang="it-IT" sz="1300" dirty="0">
                <a:solidFill>
                  <a:schemeClr val="tx2"/>
                </a:solidFill>
              </a:rPr>
              <a:t>Gravità di un errore</a:t>
            </a:r>
            <a:endParaRPr lang="it-IT" sz="1300" dirty="0"/>
          </a:p>
          <a:p>
            <a:pPr marL="177800" indent="-177800">
              <a:spcAft>
                <a:spcPts val="100"/>
              </a:spcAft>
              <a:buSzPct val="100000"/>
              <a:buChar char="•"/>
            </a:pPr>
            <a:r>
              <a:rPr lang="it-IT" sz="1300" dirty="0">
                <a:solidFill>
                  <a:schemeClr val="tx2"/>
                </a:solidFill>
              </a:rPr>
              <a:t>Possibilità di verificare</a:t>
            </a:r>
            <a:endParaRPr lang="it-IT" sz="1300" dirty="0"/>
          </a:p>
          <a:p>
            <a:pPr marL="177800" indent="-177800">
              <a:spcAft>
                <a:spcPts val="100"/>
              </a:spcAft>
              <a:buSzPct val="100000"/>
              <a:buChar char="•"/>
            </a:pPr>
            <a:r>
              <a:rPr lang="it-IT" sz="1300" dirty="0">
                <a:solidFill>
                  <a:schemeClr val="tx2"/>
                </a:solidFill>
              </a:rPr>
              <a:t>Chi subisce le conseguenze</a:t>
            </a:r>
            <a:endParaRPr lang="it-IT" sz="1300" dirty="0"/>
          </a:p>
          <a:p>
            <a:pPr marL="177800" indent="-177800">
              <a:spcAft>
                <a:spcPts val="100"/>
              </a:spcAft>
              <a:buSzPct val="100000"/>
              <a:buChar char="•"/>
            </a:pPr>
            <a:r>
              <a:rPr lang="it-IT" sz="1300" dirty="0">
                <a:solidFill>
                  <a:schemeClr val="tx2"/>
                </a:solidFill>
              </a:rPr>
              <a:t>Regole aziendali e normative</a:t>
            </a:r>
            <a:endParaRPr lang="it-IT" sz="1300" dirty="0"/>
          </a:p>
        </p:txBody>
      </p:sp>
      <p:sp>
        <p:nvSpPr>
          <p:cNvPr id="14" name="messaggio"/>
          <p:cNvSpPr/>
          <p:nvPr/>
        </p:nvSpPr>
        <p:spPr>
          <a:xfrm>
            <a:off x="457200" y="3566160"/>
            <a:ext cx="8229600" cy="960120"/>
          </a:xfrm>
          <a:prstGeom prst="roundRect">
            <a:avLst>
              <a:gd name="adj" fmla="val 7619"/>
            </a:avLst>
          </a:prstGeom>
          <a:solidFill>
            <a:schemeClr val="tx1"/>
          </a:solidFill>
          <a:ln/>
        </p:spPr>
        <p:txBody>
          <a:bodyPr/>
          <a:lstStyle/>
          <a:p>
            <a:endParaRPr lang="it-IT" dirty="0"/>
          </a:p>
        </p:txBody>
      </p:sp>
      <p:sp>
        <p:nvSpPr>
          <p:cNvPr id="15" name="Text 10"/>
          <p:cNvSpPr txBox="1"/>
          <p:nvPr/>
        </p:nvSpPr>
        <p:spPr>
          <a:xfrm>
            <a:off x="640080" y="3566160"/>
            <a:ext cx="7863840" cy="960120"/>
          </a:xfrm>
          <a:prstGeom prst="rect">
            <a:avLst/>
          </a:prstGeom>
          <a:noFill/>
          <a:ln/>
        </p:spPr>
        <p:txBody>
          <a:bodyPr wrap="square" lIns="0" tIns="0" rIns="0" bIns="0" rtlCol="0" anchor="ctr"/>
          <a:lstStyle/>
          <a:p>
            <a:pPr marL="0" indent="0">
              <a:buNone/>
            </a:pPr>
            <a:r>
              <a:rPr lang="it-IT" sz="1400" dirty="0">
                <a:solidFill>
                  <a:schemeClr val="bg1"/>
                </a:solidFill>
              </a:rPr>
              <a:t>Un neoassunto brillante può scrivere un contratto, ma non lo facciamo firmare senza revisione.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85</a:t>
            </a:fld>
            <a:endParaRPr lang="it-IT"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conseguenze di un errore</a:t>
            </a:r>
            <a:endParaRPr lang="it-IT" sz="2600" dirty="0"/>
          </a:p>
        </p:txBody>
      </p:sp>
      <p:sp>
        <p:nvSpPr>
          <p:cNvPr id="4" name="Gravità"/>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AlertTriang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AlertTriang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Gravità</a:t>
            </a:r>
            <a:endParaRPr lang="it-IT"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frase poco elegante o un importo sbagliato in un'offerta?</a:t>
            </a:r>
            <a:endParaRPr lang="it-IT"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RotateCcw"/>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RotateCcw"/>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Reversibilità</a:t>
            </a:r>
            <a:endParaRPr lang="it-IT"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bozza da correggere o un'email inviata a mille clienti?</a:t>
            </a:r>
            <a:endParaRPr lang="it-IT"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Users"/>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Chi ne subisce le conseguenze</a:t>
            </a:r>
            <a:endParaRPr lang="it-IT"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Resta a noi o ricade su clienti, collaboratori, cittadini?</a:t>
            </a:r>
            <a:endParaRPr lang="it-IT"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Rilevabilità</a:t>
            </a:r>
            <a:endParaRPr lang="it-IT"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Si nota subito o resta nascosto e si propaga?</a:t>
            </a:r>
            <a:endParaRPr lang="it-IT"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Più gravità, irreversibilità, impatto su terzi e difficoltà di rilevazione: più cautela.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86</a:t>
            </a:fld>
            <a:endParaRPr lang="it-IT"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a basso e alto impatto</a:t>
            </a:r>
            <a:endParaRPr lang="it-IT"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facile</a:t>
            </a:r>
            <a:endParaRPr lang="it-IT"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difficile</a:t>
            </a:r>
            <a:endParaRPr lang="it-IT"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Basso impatto</a:t>
            </a:r>
            <a:endParaRPr lang="it-IT"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Alto impatto</a:t>
            </a:r>
            <a:endParaRPr lang="it-IT"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txBody>
          <a:bodyPr/>
          <a:lstStyle/>
          <a:p>
            <a:endParaRPr lang="it-IT" dirty="0"/>
          </a:p>
        </p:txBody>
      </p:sp>
      <p:sp>
        <p:nvSpPr>
          <p:cNvPr id="9" name="Text 6"/>
          <p:cNvSpPr txBox="1"/>
          <p:nvPr/>
        </p:nvSpPr>
        <p:spPr>
          <a:xfrm>
            <a:off x="164592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Utilizzo diretto con controllo leggero</a:t>
            </a:r>
            <a:endParaRPr lang="it-IT"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 una rilettura</a:t>
            </a:r>
            <a:endParaRPr lang="it-IT"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Bozze interne, idee, riformulazioni</a:t>
            </a:r>
            <a:endParaRPr lang="it-IT"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txBody>
          <a:bodyPr/>
          <a:lstStyle/>
          <a:p>
            <a:endParaRPr lang="it-IT" dirty="0"/>
          </a:p>
        </p:txBody>
      </p:sp>
      <p:sp>
        <p:nvSpPr>
          <p:cNvPr id="13" name="Text 10"/>
          <p:cNvSpPr txBox="1"/>
          <p:nvPr/>
        </p:nvSpPr>
        <p:spPr>
          <a:xfrm>
            <a:off x="521208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come indicazione</a:t>
            </a:r>
            <a:endParaRPr lang="it-IT"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Da approfondire, non conclusioni</a:t>
            </a:r>
            <a:endParaRPr lang="it-IT"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Ricerche esplorative su temi poco noti</a:t>
            </a:r>
            <a:endParaRPr lang="it-IT"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txBody>
          <a:bodyPr/>
          <a:lstStyle/>
          <a:p>
            <a:endParaRPr lang="it-IT" dirty="0"/>
          </a:p>
        </p:txBody>
      </p:sp>
      <p:sp>
        <p:nvSpPr>
          <p:cNvPr id="17" name="Text 14"/>
          <p:cNvSpPr txBox="1"/>
          <p:nvPr/>
        </p:nvSpPr>
        <p:spPr>
          <a:xfrm>
            <a:off x="1645920" y="30632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con verifica sistematica</a:t>
            </a:r>
            <a:endParaRPr lang="it-IT"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Controllo completo prima dell'uso</a:t>
            </a:r>
            <a:endParaRPr lang="it-IT"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marL="0" indent="0">
              <a:buNone/>
            </a:pPr>
            <a:r>
              <a:rPr lang="it-IT" sz="1200" dirty="0">
                <a:solidFill>
                  <a:schemeClr val="tx1"/>
                </a:solidFill>
              </a:rPr>
              <a:t>Offerte, documenti da dati controllabili</a:t>
            </a:r>
            <a:endParaRPr lang="it-IT"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txBody>
          <a:bodyPr/>
          <a:lstStyle/>
          <a:p>
            <a:endParaRPr lang="it-IT" dirty="0"/>
          </a:p>
        </p:txBody>
      </p:sp>
      <p:sp>
        <p:nvSpPr>
          <p:cNvPr id="21" name="Text 18"/>
          <p:cNvSpPr txBox="1"/>
          <p:nvPr/>
        </p:nvSpPr>
        <p:spPr>
          <a:xfrm>
            <a:off x="5212080" y="3063240"/>
            <a:ext cx="3063240" cy="347472"/>
          </a:xfrm>
          <a:prstGeom prst="rect">
            <a:avLst/>
          </a:prstGeom>
          <a:noFill/>
          <a:ln/>
        </p:spPr>
        <p:txBody>
          <a:bodyPr wrap="square" lIns="0" tIns="0" rIns="0" bIns="0" rtlCol="0" anchor="t"/>
          <a:lstStyle/>
          <a:p>
            <a:pPr marL="0" indent="0">
              <a:buNone/>
            </a:pPr>
            <a:r>
              <a:rPr lang="it-IT" sz="1500" b="1" dirty="0">
                <a:solidFill>
                  <a:schemeClr val="bg1"/>
                </a:solidFill>
              </a:rPr>
              <a:t>Utilizzo subordinato a competenze</a:t>
            </a:r>
            <a:endParaRPr lang="it-IT"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marL="0" indent="0">
              <a:buNone/>
            </a:pPr>
            <a:r>
              <a:rPr lang="it-IT" sz="1200" b="1" dirty="0">
                <a:solidFill>
                  <a:schemeClr val="accent6"/>
                </a:solidFill>
              </a:rPr>
              <a:t>Solo supporto a esperti competenti</a:t>
            </a:r>
            <a:endParaRPr lang="it-IT"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marL="0" indent="0">
              <a:buNone/>
            </a:pPr>
            <a:r>
              <a:rPr lang="it-IT" sz="1200" dirty="0">
                <a:solidFill>
                  <a:schemeClr val="bg1"/>
                </a:solidFill>
              </a:rPr>
              <a:t>Decisioni su persone, valutazioni legali, mediche, di sicurezza</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87</a:t>
            </a:fld>
            <a:endParaRPr lang="it-IT"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Supporto, supervisione e delega</a:t>
            </a:r>
            <a:endParaRPr lang="it-IT" sz="2600" dirty="0"/>
          </a:p>
        </p:txBody>
      </p:sp>
      <p:sp>
        <p:nvSpPr>
          <p:cNvPr id="4" name="Supporto"/>
          <p:cNvSpPr/>
          <p:nvPr/>
        </p:nvSpPr>
        <p:spPr>
          <a:xfrm>
            <a:off x="457200" y="1417320"/>
            <a:ext cx="2615184" cy="2377440"/>
          </a:xfrm>
          <a:prstGeom prst="roundRect">
            <a:avLst>
              <a:gd name="adj" fmla="val 3077"/>
            </a:avLst>
          </a:prstGeom>
          <a:solidFill>
            <a:schemeClr val="bg2"/>
          </a:solidFill>
          <a:ln/>
        </p:spPr>
        <p:txBody>
          <a:bodyPr/>
          <a:lstStyle/>
          <a:p>
            <a:endParaRPr lang="it-IT" dirty="0"/>
          </a:p>
        </p:txBody>
      </p:sp>
      <p:sp>
        <p:nvSpPr>
          <p:cNvPr id="5" name="cerchio FiUser"/>
          <p:cNvSpPr/>
          <p:nvPr/>
        </p:nvSpPr>
        <p:spPr>
          <a:xfrm>
            <a:off x="640080" y="1572768"/>
            <a:ext cx="502920" cy="502920"/>
          </a:xfrm>
          <a:prstGeom prst="ellipse">
            <a:avLst/>
          </a:prstGeom>
          <a:solidFill>
            <a:schemeClr val="accent1"/>
          </a:solidFill>
          <a:ln/>
        </p:spPr>
        <p:txBody>
          <a:bodyPr/>
          <a:lstStyle/>
          <a:p>
            <a:endParaRPr lang="it-IT" dirty="0"/>
          </a:p>
        </p:txBody>
      </p:sp>
      <p:pic>
        <p:nvPicPr>
          <p:cNvPr id="6" name="Image 0" descr="FiUser"/>
          <p:cNvPicPr>
            <a:picLocks noChangeAspect="1"/>
          </p:cNvPicPr>
          <p:nvPr/>
        </p:nvPicPr>
        <p:blipFill>
          <a:blip r:embed="rId3"/>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Supporto</a:t>
            </a:r>
            <a:endParaRPr lang="it-IT"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aiuta, la persona svolge il compito e decide</a:t>
            </a:r>
            <a:endParaRPr lang="it-IT"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Idee, bozze, sintesi</a:t>
            </a:r>
            <a:endParaRPr lang="it-IT"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txBody>
          <a:bodyPr/>
          <a:lstStyle/>
          <a:p>
            <a:endParaRPr lang="it-IT" dirty="0"/>
          </a:p>
        </p:txBody>
      </p:sp>
      <p:sp>
        <p:nvSpPr>
          <p:cNvPr id="11" name="cerchio FiUserCheck"/>
          <p:cNvSpPr/>
          <p:nvPr/>
        </p:nvSpPr>
        <p:spPr>
          <a:xfrm>
            <a:off x="3447288" y="1572768"/>
            <a:ext cx="502920" cy="502920"/>
          </a:xfrm>
          <a:prstGeom prst="ellipse">
            <a:avLst/>
          </a:prstGeom>
          <a:solidFill>
            <a:schemeClr val="accent1"/>
          </a:solidFill>
          <a:ln/>
        </p:spPr>
        <p:txBody>
          <a:bodyPr/>
          <a:lstStyle/>
          <a:p>
            <a:endParaRPr lang="it-IT" dirty="0"/>
          </a:p>
        </p:txBody>
      </p:sp>
      <p:pic>
        <p:nvPicPr>
          <p:cNvPr id="12" name="Image 1" descr="FiUserCheck"/>
          <p:cNvPicPr>
            <a:picLocks noChangeAspect="1"/>
          </p:cNvPicPr>
          <p:nvPr/>
        </p:nvPicPr>
        <p:blipFill>
          <a:blip r:embed="rId4"/>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Supervisione</a:t>
            </a:r>
            <a:endParaRPr lang="it-IT"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svolge il compito, la persona controlla ogni risultato</a:t>
            </a:r>
            <a:endParaRPr lang="it-IT"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Risposte ai clienti verificate da un operatore</a:t>
            </a:r>
            <a:endParaRPr lang="it-IT"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txBody>
          <a:bodyPr/>
          <a:lstStyle/>
          <a:p>
            <a:endParaRPr lang="it-IT" dirty="0"/>
          </a:p>
        </p:txBody>
      </p:sp>
      <p:sp>
        <p:nvSpPr>
          <p:cNvPr id="17" name="cerchio FiCpu"/>
          <p:cNvSpPr/>
          <p:nvPr/>
        </p:nvSpPr>
        <p:spPr>
          <a:xfrm>
            <a:off x="6254496" y="1572768"/>
            <a:ext cx="502920" cy="502920"/>
          </a:xfrm>
          <a:prstGeom prst="ellipse">
            <a:avLst/>
          </a:prstGeom>
          <a:solidFill>
            <a:schemeClr val="bg1"/>
          </a:solidFill>
          <a:ln/>
        </p:spPr>
        <p:txBody>
          <a:bodyPr/>
          <a:lstStyle/>
          <a:p>
            <a:endParaRPr lang="it-IT" dirty="0"/>
          </a:p>
        </p:txBody>
      </p:sp>
      <p:pic>
        <p:nvPicPr>
          <p:cNvPr id="18" name="Image 2" descr="FiCpu"/>
          <p:cNvPicPr>
            <a:picLocks noChangeAspect="1"/>
          </p:cNvPicPr>
          <p:nvPr/>
        </p:nvPicPr>
        <p:blipFill>
          <a:blip r:embed="rId5"/>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marL="0" indent="0">
              <a:buNone/>
            </a:pPr>
            <a:r>
              <a:rPr lang="it-IT" sz="1700" b="1" dirty="0">
                <a:solidFill>
                  <a:schemeClr val="bg1"/>
                </a:solidFill>
              </a:rPr>
              <a:t>Delega</a:t>
            </a:r>
            <a:endParaRPr lang="it-IT"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marL="0" indent="0">
              <a:buNone/>
            </a:pPr>
            <a:r>
              <a:rPr lang="it-IT" sz="1300" b="1" dirty="0">
                <a:solidFill>
                  <a:schemeClr val="bg1"/>
                </a:solidFill>
              </a:rPr>
              <a:t>L'AI agisce in autonomia, la persona interviene su eccezioni</a:t>
            </a:r>
            <a:endParaRPr lang="it-IT"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marL="0" indent="0">
              <a:buNone/>
            </a:pPr>
            <a:r>
              <a:rPr lang="it-IT" sz="1200" dirty="0">
                <a:solidFill>
                  <a:schemeClr val="bg1"/>
                </a:solidFill>
              </a:rPr>
              <a:t>Esempio: Classificazione di documenti a basso impatto</a:t>
            </a:r>
            <a:endParaRPr lang="it-IT"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txBody>
          <a:bodyPr/>
          <a:lstStyle/>
          <a:p>
            <a:endParaRPr lang="it-IT" dirty="0"/>
          </a:p>
        </p:txBody>
      </p:sp>
      <p:sp>
        <p:nvSpPr>
          <p:cNvPr id="23" name="Text 17"/>
          <p:cNvSpPr txBox="1"/>
          <p:nvPr/>
        </p:nvSpPr>
        <p:spPr>
          <a:xfrm>
            <a:off x="5943600" y="960120"/>
            <a:ext cx="2743200" cy="228600"/>
          </a:xfrm>
          <a:prstGeom prst="rect">
            <a:avLst/>
          </a:prstGeom>
          <a:noFill/>
          <a:ln/>
        </p:spPr>
        <p:txBody>
          <a:bodyPr wrap="square" lIns="0" tIns="0" rIns="0" bIns="0" rtlCol="0" anchor="t"/>
          <a:lstStyle/>
          <a:p>
            <a:pPr marL="0" indent="0" algn="r">
              <a:buNone/>
            </a:pPr>
            <a:r>
              <a:rPr lang="it-IT" sz="1100" b="1" dirty="0">
                <a:solidFill>
                  <a:schemeClr val="accent2"/>
                </a:solidFill>
              </a:rPr>
              <a:t>Autonomia crescente</a:t>
            </a:r>
            <a:endParaRPr lang="it-IT"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5" name="Text 19"/>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Maggiore autonomia richiede affidabilità dimostrata, limiti operativi chiari, monitoraggio e meccanismi per intervenire quando necessario.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88</a:t>
            </a:fld>
            <a:endParaRPr lang="it-IT"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Quando servono maggiori garanzie o strumenti differenti</a:t>
            </a:r>
            <a:endParaRPr lang="it-IT"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txBody>
          <a:bodyPr/>
          <a:lstStyle/>
          <a:p>
            <a:endParaRPr lang="it-IT" dirty="0"/>
          </a:p>
        </p:txBody>
      </p:sp>
      <p:sp>
        <p:nvSpPr>
          <p:cNvPr id="5" name="cerchio FiAward"/>
          <p:cNvSpPr/>
          <p:nvPr/>
        </p:nvSpPr>
        <p:spPr>
          <a:xfrm>
            <a:off x="621792" y="1344168"/>
            <a:ext cx="512064" cy="512064"/>
          </a:xfrm>
          <a:prstGeom prst="ellipse">
            <a:avLst/>
          </a:prstGeom>
          <a:solidFill>
            <a:schemeClr val="accent1"/>
          </a:solidFill>
          <a:ln/>
        </p:spPr>
        <p:txBody>
          <a:bodyPr/>
          <a:lstStyle/>
          <a:p>
            <a:endParaRPr lang="it-IT" dirty="0"/>
          </a:p>
        </p:txBody>
      </p:sp>
      <p:pic>
        <p:nvPicPr>
          <p:cNvPr id="6" name="Image 0" descr="FiAward"/>
          <p:cNvPicPr>
            <a:picLocks noChangeAspect="1"/>
          </p:cNvPicPr>
          <p:nvPr/>
        </p:nvPicPr>
        <p:blipFill>
          <a:blip r:embed="rId3"/>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Servono competenze che non abbiamo</a:t>
            </a:r>
            <a:endParaRPr lang="it-IT"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e non possiamo coinvolgere un esperto</a:t>
            </a:r>
            <a:endParaRPr lang="it-IT"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txBody>
          <a:bodyPr/>
          <a:lstStyle/>
          <a:p>
            <a:endParaRPr lang="it-IT" dirty="0"/>
          </a:p>
        </p:txBody>
      </p:sp>
      <p:sp>
        <p:nvSpPr>
          <p:cNvPr id="10" name="cerchio FiAlertOctagon"/>
          <p:cNvSpPr/>
          <p:nvPr/>
        </p:nvSpPr>
        <p:spPr>
          <a:xfrm>
            <a:off x="4828032" y="1344168"/>
            <a:ext cx="512064" cy="512064"/>
          </a:xfrm>
          <a:prstGeom prst="ellipse">
            <a:avLst/>
          </a:prstGeom>
          <a:solidFill>
            <a:schemeClr val="accent5"/>
          </a:solidFill>
          <a:ln/>
        </p:spPr>
        <p:txBody>
          <a:bodyPr/>
          <a:lstStyle/>
          <a:p>
            <a:endParaRPr lang="it-IT" dirty="0"/>
          </a:p>
        </p:txBody>
      </p:sp>
      <p:pic>
        <p:nvPicPr>
          <p:cNvPr id="11" name="Image 1" descr="FiAlertOctagon"/>
          <p:cNvPicPr>
            <a:picLocks noChangeAspect="1"/>
          </p:cNvPicPr>
          <p:nvPr/>
        </p:nvPicPr>
        <p:blipFill>
          <a:blip r:embed="rId4"/>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Conseguenze gravi o irreversibili</a:t>
            </a:r>
            <a:endParaRPr lang="it-IT"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senza controlli adeguati</a:t>
            </a:r>
            <a:endParaRPr lang="it-IT"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txBody>
          <a:bodyPr/>
          <a:lstStyle/>
          <a:p>
            <a:endParaRPr lang="it-IT" dirty="0"/>
          </a:p>
        </p:txBody>
      </p:sp>
      <p:sp>
        <p:nvSpPr>
          <p:cNvPr id="15" name="cerchio FiUsers"/>
          <p:cNvSpPr/>
          <p:nvPr/>
        </p:nvSpPr>
        <p:spPr>
          <a:xfrm>
            <a:off x="621792" y="2487168"/>
            <a:ext cx="512064" cy="512064"/>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Decisioni con effetti sulle persone</a:t>
            </a:r>
            <a:endParaRPr lang="it-IT"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selezione, valutazione, servizi, salute, sicurezza</a:t>
            </a:r>
            <a:endParaRPr lang="it-IT"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txBody>
          <a:bodyPr/>
          <a:lstStyle/>
          <a:p>
            <a:endParaRPr lang="it-IT" dirty="0"/>
          </a:p>
        </p:txBody>
      </p:sp>
      <p:sp>
        <p:nvSpPr>
          <p:cNvPr id="20" name="cerchio FiSearch"/>
          <p:cNvSpPr/>
          <p:nvPr/>
        </p:nvSpPr>
        <p:spPr>
          <a:xfrm>
            <a:off x="4828032" y="2487168"/>
            <a:ext cx="512064" cy="512064"/>
          </a:xfrm>
          <a:prstGeom prst="ellipse">
            <a:avLst/>
          </a:prstGeom>
          <a:solidFill>
            <a:schemeClr val="accent1"/>
          </a:solidFill>
          <a:ln/>
        </p:spPr>
        <p:txBody>
          <a:bodyPr/>
          <a:lstStyle/>
          <a:p>
            <a:endParaRPr lang="it-IT" dirty="0"/>
          </a:p>
        </p:txBody>
      </p:sp>
      <p:pic>
        <p:nvPicPr>
          <p:cNvPr id="21" name="Image 3" descr="FiSearch"/>
          <p:cNvPicPr>
            <a:picLocks noChangeAspect="1"/>
          </p:cNvPicPr>
          <p:nvPr/>
        </p:nvPicPr>
        <p:blipFill>
          <a:blip r:embed="rId6"/>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Risultato non verificabile</a:t>
            </a:r>
            <a:endParaRPr lang="it-IT"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né su fonti né con competenza adeguata</a:t>
            </a:r>
            <a:endParaRPr lang="it-IT"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txBody>
          <a:bodyPr/>
          <a:lstStyle/>
          <a:p>
            <a:endParaRPr lang="it-IT" dirty="0"/>
          </a:p>
        </p:txBody>
      </p:sp>
      <p:sp>
        <p:nvSpPr>
          <p:cNvPr id="25" name="cerchio FiLock"/>
          <p:cNvSpPr/>
          <p:nvPr/>
        </p:nvSpPr>
        <p:spPr>
          <a:xfrm>
            <a:off x="621792" y="3630168"/>
            <a:ext cx="512064" cy="512064"/>
          </a:xfrm>
          <a:prstGeom prst="ellipse">
            <a:avLst/>
          </a:prstGeom>
          <a:solidFill>
            <a:schemeClr val="accent1"/>
          </a:solidFill>
          <a:ln/>
        </p:spPr>
        <p:txBody>
          <a:bodyPr/>
          <a:lstStyle/>
          <a:p>
            <a:endParaRPr lang="it-IT" dirty="0"/>
          </a:p>
        </p:txBody>
      </p:sp>
      <p:pic>
        <p:nvPicPr>
          <p:cNvPr id="26" name="Image 4" descr="FiLock"/>
          <p:cNvPicPr>
            <a:picLocks noChangeAspect="1"/>
          </p:cNvPicPr>
          <p:nvPr/>
        </p:nvPicPr>
        <p:blipFill>
          <a:blip r:embed="rId7"/>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Dati riservati</a:t>
            </a:r>
            <a:endParaRPr lang="it-IT"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con strumenti non autorizzati</a:t>
            </a:r>
            <a:endParaRPr lang="it-IT"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txBody>
          <a:bodyPr/>
          <a:lstStyle/>
          <a:p>
            <a:endParaRPr lang="it-IT" dirty="0"/>
          </a:p>
        </p:txBody>
      </p:sp>
      <p:sp>
        <p:nvSpPr>
          <p:cNvPr id="30" name="cerchio FiHeart"/>
          <p:cNvSpPr/>
          <p:nvPr/>
        </p:nvSpPr>
        <p:spPr>
          <a:xfrm>
            <a:off x="4828032" y="3630168"/>
            <a:ext cx="512064" cy="512064"/>
          </a:xfrm>
          <a:prstGeom prst="ellipse">
            <a:avLst/>
          </a:prstGeom>
          <a:solidFill>
            <a:schemeClr val="accent1"/>
          </a:solidFill>
          <a:ln/>
        </p:spPr>
        <p:txBody>
          <a:bodyPr/>
          <a:lstStyle/>
          <a:p>
            <a:endParaRPr lang="it-IT" dirty="0"/>
          </a:p>
        </p:txBody>
      </p:sp>
      <p:pic>
        <p:nvPicPr>
          <p:cNvPr id="31" name="Image 5" descr="FiHeart"/>
          <p:cNvPicPr>
            <a:picLocks noChangeAspect="1"/>
          </p:cNvPicPr>
          <p:nvPr/>
        </p:nvPicPr>
        <p:blipFill>
          <a:blip r:embed="rId8"/>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Il valore è nel contributo umano</a:t>
            </a:r>
            <a:endParaRPr lang="it-IT"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messaggi personali, colloqui delicati, apprendimento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89</a:t>
            </a:fld>
            <a:endParaRPr lang="it-IT"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responsabilità resta umana</a:t>
            </a:r>
            <a:endParaRPr lang="it-IT"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txBody>
          <a:bodyPr/>
          <a:lstStyle/>
          <a:p>
            <a:endParaRPr lang="it-IT" dirty="0"/>
          </a:p>
        </p:txBody>
      </p:sp>
      <p:sp>
        <p:nvSpPr>
          <p:cNvPr id="5" name="cerchio FiUserCheck"/>
          <p:cNvSpPr/>
          <p:nvPr/>
        </p:nvSpPr>
        <p:spPr>
          <a:xfrm>
            <a:off x="685800" y="1325880"/>
            <a:ext cx="640080" cy="640080"/>
          </a:xfrm>
          <a:prstGeom prst="ellipse">
            <a:avLst/>
          </a:prstGeom>
          <a:solidFill>
            <a:schemeClr val="accent1"/>
          </a:solidFill>
          <a:ln/>
        </p:spPr>
        <p:txBody>
          <a:bodyPr/>
          <a:lstStyle/>
          <a:p>
            <a:endParaRPr lang="it-IT" dirty="0"/>
          </a:p>
        </p:txBody>
      </p:sp>
      <p:pic>
        <p:nvPicPr>
          <p:cNvPr id="6" name="Image 0" descr="FiUserCheck"/>
          <p:cNvPicPr>
            <a:picLocks noChangeAspect="1"/>
          </p:cNvPicPr>
          <p:nvPr/>
        </p:nvPicPr>
        <p:blipFill>
          <a:blip r:embed="rId3"/>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marL="0" indent="0" algn="just">
              <a:buNone/>
            </a:pPr>
            <a:r>
              <a:rPr lang="it-IT" sz="1600" dirty="0">
                <a:solidFill>
                  <a:schemeClr val="bg1"/>
                </a:solidFill>
              </a:rPr>
              <a:t>L'utilizzo dell'AI non elimina le responsabilità di persone e organizzazioni. Chi impiega i risultati deve rispettare gli obblighi applicabili e prevedere controlli adeguati al contesto.</a:t>
            </a:r>
            <a:endParaRPr lang="it-IT"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marL="0" indent="0">
              <a:buNone/>
            </a:pPr>
            <a:r>
              <a:rPr lang="it-IT" sz="1400" b="1" dirty="0">
                <a:solidFill>
                  <a:schemeClr val="accent1"/>
                </a:solidFill>
              </a:rPr>
              <a:t>"L'ha scritto l'AI" non è una giustificazione.</a:t>
            </a:r>
            <a:endParaRPr lang="it-IT"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marL="0" indent="0">
              <a:buNone/>
            </a:pPr>
            <a:r>
              <a:rPr lang="it-IT" sz="1500" b="1" dirty="0">
                <a:solidFill>
                  <a:schemeClr val="tx1"/>
                </a:solidFill>
              </a:rPr>
              <a:t>Tre implicazioni</a:t>
            </a:r>
            <a:endParaRPr lang="it-IT"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txBody>
          <a:bodyPr/>
          <a:lstStyle/>
          <a:p>
            <a:endParaRPr lang="it-IT" dirty="0"/>
          </a:p>
        </p:txBody>
      </p:sp>
      <p:sp>
        <p:nvSpPr>
          <p:cNvPr id="11" name="Text 7"/>
          <p:cNvSpPr txBox="1"/>
          <p:nvPr/>
        </p:nvSpPr>
        <p:spPr>
          <a:xfrm>
            <a:off x="4846320" y="1554480"/>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1</a:t>
            </a:r>
            <a:endParaRPr lang="it-IT"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Conoscere capacità e limiti dello strumento</a:t>
            </a:r>
            <a:endParaRPr lang="it-IT"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txBody>
          <a:bodyPr/>
          <a:lstStyle/>
          <a:p>
            <a:endParaRPr lang="it-IT" dirty="0"/>
          </a:p>
        </p:txBody>
      </p:sp>
      <p:sp>
        <p:nvSpPr>
          <p:cNvPr id="14" name="Text 10"/>
          <p:cNvSpPr txBox="1"/>
          <p:nvPr/>
        </p:nvSpPr>
        <p:spPr>
          <a:xfrm>
            <a:off x="4846320" y="2542032"/>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2</a:t>
            </a:r>
            <a:endParaRPr lang="it-IT"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Controllare in modo proporzionato alle conseguenze</a:t>
            </a:r>
            <a:endParaRPr lang="it-IT"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txBody>
          <a:bodyPr/>
          <a:lstStyle/>
          <a:p>
            <a:endParaRPr lang="it-IT" dirty="0"/>
          </a:p>
        </p:txBody>
      </p:sp>
      <p:sp>
        <p:nvSpPr>
          <p:cNvPr id="17" name="Text 13"/>
          <p:cNvSpPr txBox="1"/>
          <p:nvPr/>
        </p:nvSpPr>
        <p:spPr>
          <a:xfrm>
            <a:off x="4846320" y="3529584"/>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3</a:t>
            </a:r>
            <a:endParaRPr lang="it-IT"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marL="0" indent="0">
              <a:buNone/>
            </a:pPr>
            <a:r>
              <a:rPr lang="it-IT" sz="1400" dirty="0">
                <a:solidFill>
                  <a:schemeClr val="tx1"/>
                </a:solidFill>
              </a:rPr>
              <a:t>Sapere quando non usarlo o chi coinvolgere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smtClean="0"/>
              <a:t>90</a:t>
            </a:fld>
            <a:endParaRPr lang="it-IT"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Caccia all'allucinazione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txBody>
          <a:bodyPr/>
          <a:lstStyle/>
          <a:p>
            <a:endParaRPr lang="it-IT"/>
          </a:p>
        </p:txBody>
      </p:sp>
      <p:sp>
        <p:nvSpPr>
          <p:cNvPr id="5" name="Text 2"/>
          <p:cNvSpPr txBox="1"/>
          <p:nvPr/>
        </p:nvSpPr>
        <p:spPr>
          <a:xfrm>
            <a:off x="7452360" y="402336"/>
            <a:ext cx="1234440" cy="274320"/>
          </a:xfrm>
          <a:prstGeom prst="rect">
            <a:avLst/>
          </a:prstGeom>
          <a:noFill/>
          <a:ln/>
        </p:spPr>
        <p:txBody>
          <a:bodyPr wrap="square" lIns="0" tIns="0" rIns="0" bIns="0" rtlCol="0" anchor="ctr"/>
          <a:lstStyle/>
          <a:p>
            <a:pPr marL="0" indent="0" algn="ctr">
              <a:buNone/>
            </a:pPr>
            <a:r>
              <a:rPr lang="en-US" sz="1000" b="1" dirty="0">
                <a:solidFill>
                  <a:schemeClr val="accent1"/>
                </a:solidFill>
              </a:rPr>
              <a:t>Percorso A e B</a:t>
            </a:r>
            <a:endParaRPr lang="en-US" sz="1000" dirty="0"/>
          </a:p>
        </p:txBody>
      </p:sp>
      <p:sp>
        <p:nvSpPr>
          <p:cNvPr id="6" name="Text 3"/>
          <p:cNvSpPr txBox="1"/>
          <p:nvPr/>
        </p:nvSpPr>
        <p:spPr>
          <a:xfrm>
            <a:off x="457200" y="1005840"/>
            <a:ext cx="5120640" cy="292608"/>
          </a:xfrm>
          <a:prstGeom prst="rect">
            <a:avLst/>
          </a:prstGeom>
          <a:noFill/>
          <a:ln/>
        </p:spPr>
        <p:txBody>
          <a:bodyPr wrap="square" lIns="0" tIns="0" rIns="0" bIns="0" rtlCol="0" anchor="t"/>
          <a:lstStyle/>
          <a:p>
            <a:pPr marL="0" indent="0">
              <a:buNone/>
            </a:pPr>
            <a:r>
              <a:rPr lang="en-US" sz="1300" b="1" dirty="0">
                <a:solidFill>
                  <a:schemeClr val="tx1"/>
                </a:solidFill>
              </a:rPr>
              <a:t>Tre domande a Copilot, senza allegare documenti</a:t>
            </a:r>
            <a:endParaRPr lang="en-US" sz="1300" dirty="0"/>
          </a:p>
        </p:txBody>
      </p:sp>
      <p:sp>
        <p:nvSpPr>
          <p:cNvPr id="7" name="domanda 1"/>
          <p:cNvSpPr/>
          <p:nvPr/>
        </p:nvSpPr>
        <p:spPr>
          <a:xfrm>
            <a:off x="457200" y="1371600"/>
            <a:ext cx="5120640" cy="676656"/>
          </a:xfrm>
          <a:prstGeom prst="roundRect">
            <a:avLst>
              <a:gd name="adj" fmla="val 10811"/>
            </a:avLst>
          </a:prstGeom>
          <a:solidFill>
            <a:schemeClr val="bg2"/>
          </a:solidFill>
          <a:ln/>
        </p:spPr>
        <p:txBody>
          <a:bodyPr/>
          <a:lstStyle/>
          <a:p>
            <a:endParaRPr lang="it-IT"/>
          </a:p>
        </p:txBody>
      </p:sp>
      <p:sp>
        <p:nvSpPr>
          <p:cNvPr id="8" name="Text 5"/>
          <p:cNvSpPr txBox="1"/>
          <p:nvPr/>
        </p:nvSpPr>
        <p:spPr>
          <a:xfrm>
            <a:off x="594360" y="1371600"/>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1</a:t>
            </a:r>
            <a:endParaRPr lang="en-US" sz="1800" dirty="0"/>
          </a:p>
        </p:txBody>
      </p:sp>
      <p:sp>
        <p:nvSpPr>
          <p:cNvPr id="9" name="Text 6"/>
          <p:cNvSpPr txBox="1"/>
          <p:nvPr/>
        </p:nvSpPr>
        <p:spPr>
          <a:xfrm>
            <a:off x="960120" y="1371600"/>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significa l'allarme A01 sul forno a tunnel TF‑900 e come si risolve?”</a:t>
            </a:r>
            <a:endParaRPr lang="en-US" sz="1250" dirty="0"/>
          </a:p>
        </p:txBody>
      </p:sp>
      <p:sp>
        <p:nvSpPr>
          <p:cNvPr id="10" name="domanda 2"/>
          <p:cNvSpPr/>
          <p:nvPr/>
        </p:nvSpPr>
        <p:spPr>
          <a:xfrm>
            <a:off x="457200" y="2157984"/>
            <a:ext cx="5120640" cy="676656"/>
          </a:xfrm>
          <a:prstGeom prst="roundRect">
            <a:avLst>
              <a:gd name="adj" fmla="val 10811"/>
            </a:avLst>
          </a:prstGeom>
          <a:solidFill>
            <a:schemeClr val="bg2"/>
          </a:solidFill>
          <a:ln/>
        </p:spPr>
        <p:txBody>
          <a:bodyPr/>
          <a:lstStyle/>
          <a:p>
            <a:endParaRPr lang="it-IT"/>
          </a:p>
        </p:txBody>
      </p:sp>
      <p:sp>
        <p:nvSpPr>
          <p:cNvPr id="11" name="Text 8"/>
          <p:cNvSpPr txBox="1"/>
          <p:nvPr/>
        </p:nvSpPr>
        <p:spPr>
          <a:xfrm>
            <a:off x="594360" y="2157984"/>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2</a:t>
            </a:r>
            <a:endParaRPr lang="en-US" sz="1800" dirty="0"/>
          </a:p>
        </p:txBody>
      </p:sp>
      <p:sp>
        <p:nvSpPr>
          <p:cNvPr id="12" name="Text 9"/>
          <p:cNvSpPr txBox="1"/>
          <p:nvPr/>
        </p:nvSpPr>
        <p:spPr>
          <a:xfrm>
            <a:off x="960120" y="2157984"/>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“Qual è la coppia di serraggio dei bulloni del bruciatore del forno TF‑900?”</a:t>
            </a:r>
            <a:endParaRPr lang="en-US" sz="1250" dirty="0"/>
          </a:p>
        </p:txBody>
      </p:sp>
      <p:sp>
        <p:nvSpPr>
          <p:cNvPr id="13" name="domanda 3"/>
          <p:cNvSpPr/>
          <p:nvPr/>
        </p:nvSpPr>
        <p:spPr>
          <a:xfrm>
            <a:off x="457200" y="2944368"/>
            <a:ext cx="5120640" cy="676656"/>
          </a:xfrm>
          <a:prstGeom prst="roundRect">
            <a:avLst>
              <a:gd name="adj" fmla="val 10811"/>
            </a:avLst>
          </a:prstGeom>
          <a:solidFill>
            <a:schemeClr val="bg2"/>
          </a:solidFill>
          <a:ln/>
        </p:spPr>
        <p:txBody>
          <a:bodyPr/>
          <a:lstStyle/>
          <a:p>
            <a:endParaRPr lang="it-IT"/>
          </a:p>
        </p:txBody>
      </p:sp>
      <p:sp>
        <p:nvSpPr>
          <p:cNvPr id="14" name="Text 11"/>
          <p:cNvSpPr txBox="1"/>
          <p:nvPr/>
        </p:nvSpPr>
        <p:spPr>
          <a:xfrm>
            <a:off x="594360" y="2944368"/>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3</a:t>
            </a:r>
            <a:endParaRPr lang="en-US" sz="1800" dirty="0"/>
          </a:p>
        </p:txBody>
      </p:sp>
      <p:sp>
        <p:nvSpPr>
          <p:cNvPr id="15" name="Text 12"/>
          <p:cNvSpPr txBox="1"/>
          <p:nvPr/>
        </p:nvSpPr>
        <p:spPr>
          <a:xfrm>
            <a:off x="960120" y="2944368"/>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produce Laser Srl di Zevio e da quanti anni esiste?”</a:t>
            </a:r>
            <a:endParaRPr lang="en-US" sz="1250" dirty="0"/>
          </a:p>
        </p:txBody>
      </p:sp>
      <p:sp>
        <p:nvSpPr>
          <p:cNvPr id="16" name="scheda Che cosa osserviamo"/>
          <p:cNvSpPr/>
          <p:nvPr/>
        </p:nvSpPr>
        <p:spPr>
          <a:xfrm>
            <a:off x="5806440" y="1005840"/>
            <a:ext cx="2880360" cy="2697480"/>
          </a:xfrm>
          <a:prstGeom prst="roundRect">
            <a:avLst>
              <a:gd name="adj" fmla="val 2712"/>
            </a:avLst>
          </a:prstGeom>
          <a:solidFill>
            <a:schemeClr val="accent6"/>
          </a:solidFill>
          <a:ln/>
        </p:spPr>
        <p:txBody>
          <a:bodyPr/>
          <a:lstStyle/>
          <a:p>
            <a:endParaRPr lang="it-IT"/>
          </a:p>
        </p:txBody>
      </p:sp>
      <p:sp>
        <p:nvSpPr>
          <p:cNvPr id="17" name="cerchio FiEye"/>
          <p:cNvSpPr/>
          <p:nvPr/>
        </p:nvSpPr>
        <p:spPr>
          <a:xfrm>
            <a:off x="5989320" y="1188720"/>
            <a:ext cx="457200" cy="457200"/>
          </a:xfrm>
          <a:prstGeom prst="ellipse">
            <a:avLst/>
          </a:prstGeom>
          <a:solidFill>
            <a:schemeClr val="accent1"/>
          </a:solidFill>
          <a:ln/>
        </p:spPr>
        <p:txBody>
          <a:bodyPr/>
          <a:lstStyle/>
          <a:p>
            <a:endParaRPr lang="it-IT"/>
          </a:p>
        </p:txBody>
      </p:sp>
      <p:pic>
        <p:nvPicPr>
          <p:cNvPr id="18" name="Image 0" descr="FiEye"/>
          <p:cNvPicPr>
            <a:picLocks noChangeAspect="1"/>
          </p:cNvPicPr>
          <p:nvPr/>
        </p:nvPicPr>
        <p:blipFill>
          <a:blip r:embed="rId3"/>
          <a:stretch>
            <a:fillRect/>
          </a:stretch>
        </p:blipFill>
        <p:spPr>
          <a:xfrm>
            <a:off x="6103620" y="1303020"/>
            <a:ext cx="228600" cy="228600"/>
          </a:xfrm>
          <a:prstGeom prst="rect">
            <a:avLst/>
          </a:prstGeom>
        </p:spPr>
      </p:pic>
      <p:sp>
        <p:nvSpPr>
          <p:cNvPr id="19" name="Text 15"/>
          <p:cNvSpPr txBox="1"/>
          <p:nvPr/>
        </p:nvSpPr>
        <p:spPr>
          <a:xfrm>
            <a:off x="5989320" y="1755648"/>
            <a:ext cx="2514600" cy="347472"/>
          </a:xfrm>
          <a:prstGeom prst="rect">
            <a:avLst/>
          </a:prstGeom>
          <a:noFill/>
          <a:ln/>
        </p:spPr>
        <p:txBody>
          <a:bodyPr wrap="square" lIns="0" tIns="0" rIns="0" bIns="0" rtlCol="0" anchor="t"/>
          <a:lstStyle/>
          <a:p>
            <a:pPr marL="0" indent="0">
              <a:buNone/>
            </a:pPr>
            <a:r>
              <a:rPr lang="en-US" sz="1500" b="1" dirty="0">
                <a:solidFill>
                  <a:schemeClr val="tx1"/>
                </a:solidFill>
              </a:rPr>
              <a:t>Che cosa osserviamo</a:t>
            </a:r>
            <a:endParaRPr lang="en-US" sz="1500" dirty="0"/>
          </a:p>
        </p:txBody>
      </p:sp>
      <p:sp>
        <p:nvSpPr>
          <p:cNvPr id="20" name="Text 16"/>
          <p:cNvSpPr txBox="1"/>
          <p:nvPr/>
        </p:nvSpPr>
        <p:spPr>
          <a:xfrm>
            <a:off x="5989320" y="2139696"/>
            <a:ext cx="2514600" cy="1453896"/>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2"/>
                </a:solidFill>
              </a:rPr>
              <a:t>Risponde comunque o dice di non sapere?</a:t>
            </a:r>
            <a:endParaRPr lang="en-US" sz="1250" dirty="0"/>
          </a:p>
          <a:p>
            <a:pPr marL="177800" indent="-177800">
              <a:spcAft>
                <a:spcPts val="800"/>
              </a:spcAft>
              <a:buSzPct val="100000"/>
              <a:buChar char="•"/>
            </a:pPr>
            <a:r>
              <a:rPr lang="en-US" sz="1250" dirty="0">
                <a:solidFill>
                  <a:schemeClr val="tx2"/>
                </a:solidFill>
              </a:rPr>
              <a:t>Da dove vengono numeri e date?</a:t>
            </a:r>
            <a:endParaRPr lang="en-US" sz="1250" dirty="0"/>
          </a:p>
          <a:p>
            <a:pPr marL="177800" indent="-177800">
              <a:spcAft>
                <a:spcPts val="800"/>
              </a:spcAft>
              <a:buSzPct val="100000"/>
              <a:buChar char="•"/>
            </a:pPr>
            <a:r>
              <a:rPr lang="en-US" sz="1250" dirty="0">
                <a:solidFill>
                  <a:schemeClr val="tx2"/>
                </a:solidFill>
              </a:rPr>
              <a:t>Cita fonti che possiamo controllare?</a:t>
            </a:r>
            <a:endParaRPr lang="en-US" sz="1250" dirty="0"/>
          </a:p>
        </p:txBody>
      </p:sp>
      <p:sp>
        <p:nvSpPr>
          <p:cNvPr id="21" name="messaggio"/>
          <p:cNvSpPr/>
          <p:nvPr/>
        </p:nvSpPr>
        <p:spPr>
          <a:xfrm>
            <a:off x="457200" y="3886200"/>
            <a:ext cx="8229600" cy="594360"/>
          </a:xfrm>
          <a:prstGeom prst="roundRect">
            <a:avLst>
              <a:gd name="adj" fmla="val 12308"/>
            </a:avLst>
          </a:prstGeom>
          <a:solidFill>
            <a:schemeClr val="tx1"/>
          </a:solidFill>
          <a:ln/>
        </p:spPr>
        <p:txBody>
          <a:bodyPr/>
          <a:lstStyle/>
          <a:p>
            <a:endParaRPr lang="it-IT"/>
          </a:p>
        </p:txBody>
      </p:sp>
      <p:sp>
        <p:nvSpPr>
          <p:cNvPr id="22" name="Text 18"/>
          <p:cNvSpPr txBox="1"/>
          <p:nvPr/>
        </p:nvSpPr>
        <p:spPr>
          <a:xfrm>
            <a:off x="640080" y="3886200"/>
            <a:ext cx="7863840" cy="594360"/>
          </a:xfrm>
          <a:prstGeom prst="rect">
            <a:avLst/>
          </a:prstGeom>
          <a:noFill/>
          <a:ln/>
        </p:spPr>
        <p:txBody>
          <a:bodyPr wrap="square" lIns="0" tIns="0" rIns="0" bIns="0" rtlCol="0" anchor="ctr"/>
          <a:lstStyle/>
          <a:p>
            <a:pPr marL="0" indent="0">
              <a:buNone/>
            </a:pPr>
            <a:r>
              <a:rPr lang="en-US" sz="1300" dirty="0">
                <a:solidFill>
                  <a:schemeClr val="bg1"/>
                </a:solidFill>
              </a:rPr>
              <a:t>Il TF‑900 non esiste: è inventato per questo corso. Una risposta sicura su di lui è un'allucinazione.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BF26D-4296-EBE9-7D3D-41CC0422C83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71EB4B-8974-48AC-6088-D88B3BDBA5E2}"/>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7E7A8D35-8991-DA2F-0945-349EC4CEFE85}"/>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Brainstorming</a:t>
            </a:r>
            <a:endParaRPr lang="en-US" sz="3600" dirty="0"/>
          </a:p>
        </p:txBody>
      </p:sp>
      <p:sp>
        <p:nvSpPr>
          <p:cNvPr id="4" name="Text 0">
            <a:extLst>
              <a:ext uri="{FF2B5EF4-FFF2-40B4-BE49-F238E27FC236}">
                <a16:creationId xmlns:a16="http://schemas.microsoft.com/office/drawing/2014/main" id="{6F9FAE77-F9AB-FA55-6EE4-CFEB1EB0C36B}"/>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Brainstorming– </a:t>
            </a:r>
            <a:r>
              <a:rPr lang="en-US" dirty="0" err="1"/>
              <a:t>Giornata</a:t>
            </a:r>
            <a:r>
              <a:rPr lang="en-US" dirty="0"/>
              <a:t> 1</a:t>
            </a:r>
            <a:endParaRPr lang="en-US" sz="1600" dirty="0"/>
          </a:p>
        </p:txBody>
      </p:sp>
    </p:spTree>
    <p:extLst>
      <p:ext uri="{BB962C8B-B14F-4D97-AF65-F5344CB8AC3E}">
        <p14:creationId xmlns:p14="http://schemas.microsoft.com/office/powerpoint/2010/main" val="24375810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L'AI in Laser, reparto per reparto</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145536"/>
        </p:xfrm>
        <a:graphic>
          <a:graphicData uri="http://schemas.openxmlformats.org/drawingml/2006/table">
            <a:tbl>
              <a:tblPr/>
              <a:tblGrid>
                <a:gridCol w="164592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93192">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Esempi di uso dell'AI (indicativi)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93192">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in specifiche e documenti di commessa · bozze di manuali d'uso e manutenzione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Istruzioni di lavoro e liste di controllo · sintesi dei passaggi di turno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93192">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Analisi delle non conformità · bozze di rapporti 8D</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guasti su manuali e ticket · report d'intervento dettati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93192">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Requisiti e lacune dal capitolato del cliente · traduzioni per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Bozze di solleciti · supporto alle riconciliazioni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93192">
                <a:tc>
                  <a:txBody>
                    <a:bodyPr/>
                    <a:lstStyle/>
                    <a:p>
                      <a:pPr marL="0" indent="0">
                        <a:buNone/>
                      </a:pPr>
                      <a:r>
                        <a:rPr lang="en-US" sz="1200" b="1" dirty="0">
                          <a:solidFill>
                            <a:schemeClr val="tx1"/>
                          </a:solidFill>
                        </a:rPr>
                        <a:t>HR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Onboarding e formazione interna (non selezione né valutazione delle persone)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 indicativi: la mappa si completa con chi conosce il lavoro.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Tre luoghi dell'AI</a:t>
            </a:r>
            <a:endParaRPr lang="en-US" sz="2600" dirty="0"/>
          </a:p>
        </p:txBody>
      </p:sp>
      <p:sp>
        <p:nvSpPr>
          <p:cNvPr id="6" name="luogo In ufficio"/>
          <p:cNvSpPr/>
          <p:nvPr/>
        </p:nvSpPr>
        <p:spPr>
          <a:xfrm>
            <a:off x="457200" y="1051560"/>
            <a:ext cx="2606040" cy="2423160"/>
          </a:xfrm>
          <a:prstGeom prst="roundRect">
            <a:avLst>
              <a:gd name="adj" fmla="val 3019"/>
            </a:avLst>
          </a:prstGeom>
          <a:solidFill>
            <a:schemeClr val="bg2"/>
          </a:solidFill>
          <a:ln/>
        </p:spPr>
        <p:txBody>
          <a:bodyPr/>
          <a:lstStyle/>
          <a:p>
            <a:endParaRPr lang="it-IT"/>
          </a:p>
        </p:txBody>
      </p:sp>
      <p:sp>
        <p:nvSpPr>
          <p:cNvPr id="7" name="cerchio FiBriefcase"/>
          <p:cNvSpPr/>
          <p:nvPr/>
        </p:nvSpPr>
        <p:spPr>
          <a:xfrm>
            <a:off x="640080" y="1188720"/>
            <a:ext cx="457200" cy="457200"/>
          </a:xfrm>
          <a:prstGeom prst="ellipse">
            <a:avLst/>
          </a:prstGeom>
          <a:solidFill>
            <a:schemeClr val="accent1"/>
          </a:solidFill>
          <a:ln/>
        </p:spPr>
        <p:txBody>
          <a:bodyPr/>
          <a:lstStyle/>
          <a:p>
            <a:endParaRPr lang="it-IT"/>
          </a:p>
        </p:txBody>
      </p:sp>
      <p:pic>
        <p:nvPicPr>
          <p:cNvPr id="8" name="Image 0" descr="FiBriefcase"/>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0700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In ufficio</a:t>
            </a:r>
            <a:endParaRPr lang="en-US" sz="1500" dirty="0"/>
          </a:p>
        </p:txBody>
      </p:sp>
      <p:sp>
        <p:nvSpPr>
          <p:cNvPr id="10" name="Text 6"/>
          <p:cNvSpPr txBox="1"/>
          <p:nvPr/>
        </p:nvSpPr>
        <p:spPr>
          <a:xfrm>
            <a:off x="120700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interna</a:t>
            </a:r>
            <a:endParaRPr lang="en-US" sz="1100" dirty="0"/>
          </a:p>
        </p:txBody>
      </p:sp>
      <p:sp>
        <p:nvSpPr>
          <p:cNvPr id="11" name="Text 7"/>
          <p:cNvSpPr txBox="1"/>
          <p:nvPr/>
        </p:nvSpPr>
        <p:spPr>
          <a:xfrm>
            <a:off x="640080" y="2137410"/>
            <a:ext cx="2240280" cy="868680"/>
          </a:xfrm>
          <a:prstGeom prst="rect">
            <a:avLst/>
          </a:prstGeom>
          <a:noFill/>
          <a:ln/>
        </p:spPr>
        <p:txBody>
          <a:bodyPr wrap="square" lIns="0" tIns="0" rIns="0" bIns="0" rtlCol="0" anchor="t"/>
          <a:lstStyle/>
          <a:p>
            <a:pPr marL="0" indent="0">
              <a:buNone/>
            </a:pPr>
            <a:r>
              <a:rPr lang="en-US" sz="1300" dirty="0">
                <a:solidFill>
                  <a:schemeClr val="tx1"/>
                </a:solidFill>
              </a:rPr>
              <a:t>Documenti, offerte, manuali, ticket</a:t>
            </a:r>
            <a:endParaRPr lang="en-US" sz="1300" dirty="0"/>
          </a:p>
        </p:txBody>
      </p:sp>
      <p:sp>
        <p:nvSpPr>
          <p:cNvPr id="13" name="luogo Per i clienti"/>
          <p:cNvSpPr/>
          <p:nvPr/>
        </p:nvSpPr>
        <p:spPr>
          <a:xfrm>
            <a:off x="3246120" y="1051560"/>
            <a:ext cx="2606040" cy="2423160"/>
          </a:xfrm>
          <a:prstGeom prst="roundRect">
            <a:avLst>
              <a:gd name="adj" fmla="val 3019"/>
            </a:avLst>
          </a:prstGeom>
          <a:solidFill>
            <a:schemeClr val="bg2"/>
          </a:solidFill>
          <a:ln/>
        </p:spPr>
        <p:txBody>
          <a:bodyPr/>
          <a:lstStyle/>
          <a:p>
            <a:endParaRPr lang="it-IT"/>
          </a:p>
        </p:txBody>
      </p:sp>
      <p:sp>
        <p:nvSpPr>
          <p:cNvPr id="14" name="cerchio FiUsers"/>
          <p:cNvSpPr/>
          <p:nvPr/>
        </p:nvSpPr>
        <p:spPr>
          <a:xfrm>
            <a:off x="3429000" y="1188720"/>
            <a:ext cx="457200" cy="457200"/>
          </a:xfrm>
          <a:prstGeom prst="ellipse">
            <a:avLst/>
          </a:prstGeom>
          <a:solidFill>
            <a:schemeClr val="accent1"/>
          </a:solidFill>
          <a:ln/>
        </p:spPr>
        <p:txBody>
          <a:bodyPr/>
          <a:lstStyle/>
          <a:p>
            <a:endParaRPr lang="it-IT"/>
          </a:p>
        </p:txBody>
      </p:sp>
      <p:pic>
        <p:nvPicPr>
          <p:cNvPr id="15" name="Image 1" descr="FiUsers"/>
          <p:cNvPicPr>
            <a:picLocks noChangeAspect="1"/>
          </p:cNvPicPr>
          <p:nvPr/>
        </p:nvPicPr>
        <p:blipFill>
          <a:blip r:embed="rId4"/>
          <a:stretch>
            <a:fillRect/>
          </a:stretch>
        </p:blipFill>
        <p:spPr>
          <a:xfrm>
            <a:off x="3543300" y="1303020"/>
            <a:ext cx="228600" cy="228600"/>
          </a:xfrm>
          <a:prstGeom prst="rect">
            <a:avLst/>
          </a:prstGeom>
        </p:spPr>
      </p:pic>
      <p:sp>
        <p:nvSpPr>
          <p:cNvPr id="16" name="Text 11"/>
          <p:cNvSpPr txBox="1"/>
          <p:nvPr/>
        </p:nvSpPr>
        <p:spPr>
          <a:xfrm>
            <a:off x="399592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Per i clienti</a:t>
            </a:r>
            <a:endParaRPr lang="en-US" sz="1500" dirty="0"/>
          </a:p>
        </p:txBody>
      </p:sp>
      <p:sp>
        <p:nvSpPr>
          <p:cNvPr id="17" name="Text 12"/>
          <p:cNvSpPr txBox="1"/>
          <p:nvPr/>
        </p:nvSpPr>
        <p:spPr>
          <a:xfrm>
            <a:off x="399592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Servizi a chi compra le macchine</a:t>
            </a:r>
            <a:endParaRPr lang="en-US" sz="1100" dirty="0"/>
          </a:p>
        </p:txBody>
      </p:sp>
      <p:sp>
        <p:nvSpPr>
          <p:cNvPr id="18" name="Text 13"/>
          <p:cNvSpPr txBox="1"/>
          <p:nvPr/>
        </p:nvSpPr>
        <p:spPr>
          <a:xfrm>
            <a:off x="342900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Assistente sui manuali, ricambi, supporto multilingua</a:t>
            </a:r>
            <a:endParaRPr lang="en-US" sz="1300" dirty="0"/>
          </a:p>
        </p:txBody>
      </p:sp>
      <p:sp>
        <p:nvSpPr>
          <p:cNvPr id="20" name="luogo Nella macchina"/>
          <p:cNvSpPr/>
          <p:nvPr/>
        </p:nvSpPr>
        <p:spPr>
          <a:xfrm>
            <a:off x="6035040" y="1033272"/>
            <a:ext cx="2606040" cy="2423160"/>
          </a:xfrm>
          <a:prstGeom prst="roundRect">
            <a:avLst>
              <a:gd name="adj" fmla="val 3019"/>
            </a:avLst>
          </a:prstGeom>
          <a:solidFill>
            <a:schemeClr val="accent6"/>
          </a:solidFill>
          <a:ln/>
        </p:spPr>
        <p:txBody>
          <a:bodyPr/>
          <a:lstStyle/>
          <a:p>
            <a:endParaRPr lang="it-IT"/>
          </a:p>
        </p:txBody>
      </p:sp>
      <p:sp>
        <p:nvSpPr>
          <p:cNvPr id="21" name="cerchio FiCpu"/>
          <p:cNvSpPr/>
          <p:nvPr/>
        </p:nvSpPr>
        <p:spPr>
          <a:xfrm>
            <a:off x="6217920" y="1188720"/>
            <a:ext cx="457200" cy="457200"/>
          </a:xfrm>
          <a:prstGeom prst="ellipse">
            <a:avLst/>
          </a:prstGeom>
          <a:solidFill>
            <a:schemeClr val="accent1"/>
          </a:solidFill>
          <a:ln/>
        </p:spPr>
        <p:txBody>
          <a:bodyPr/>
          <a:lstStyle/>
          <a:p>
            <a:endParaRPr lang="it-IT"/>
          </a:p>
        </p:txBody>
      </p:sp>
      <p:pic>
        <p:nvPicPr>
          <p:cNvPr id="22" name="Image 2" descr="FiCpu"/>
          <p:cNvPicPr>
            <a:picLocks noChangeAspect="1"/>
          </p:cNvPicPr>
          <p:nvPr/>
        </p:nvPicPr>
        <p:blipFill>
          <a:blip r:embed="rId5"/>
          <a:stretch>
            <a:fillRect/>
          </a:stretch>
        </p:blipFill>
        <p:spPr>
          <a:xfrm>
            <a:off x="6332220" y="1303020"/>
            <a:ext cx="228600" cy="228600"/>
          </a:xfrm>
          <a:prstGeom prst="rect">
            <a:avLst/>
          </a:prstGeom>
        </p:spPr>
      </p:pic>
      <p:sp>
        <p:nvSpPr>
          <p:cNvPr id="23" name="Text 17"/>
          <p:cNvSpPr txBox="1"/>
          <p:nvPr/>
        </p:nvSpPr>
        <p:spPr>
          <a:xfrm>
            <a:off x="678484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Nella macchina</a:t>
            </a:r>
            <a:endParaRPr lang="en-US" sz="1500" dirty="0"/>
          </a:p>
        </p:txBody>
      </p:sp>
      <p:sp>
        <p:nvSpPr>
          <p:cNvPr id="24" name="Text 18"/>
          <p:cNvSpPr txBox="1"/>
          <p:nvPr/>
        </p:nvSpPr>
        <p:spPr>
          <a:xfrm>
            <a:off x="678484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nel prodotto</a:t>
            </a:r>
            <a:endParaRPr lang="en-US" sz="1100" dirty="0"/>
          </a:p>
        </p:txBody>
      </p:sp>
      <p:sp>
        <p:nvSpPr>
          <p:cNvPr id="25" name="Text 19"/>
          <p:cNvSpPr txBox="1"/>
          <p:nvPr/>
        </p:nvSpPr>
        <p:spPr>
          <a:xfrm>
            <a:off x="621792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Qualità visiva, anomalie, manutenzione predittiva, energia</a:t>
            </a:r>
            <a:endParaRPr lang="en-US" sz="1300" dirty="0"/>
          </a:p>
        </p:txBody>
      </p:sp>
      <p:sp>
        <p:nvSpPr>
          <p:cNvPr id="27" name="domanda"/>
          <p:cNvSpPr/>
          <p:nvPr/>
        </p:nvSpPr>
        <p:spPr>
          <a:xfrm>
            <a:off x="457200" y="3657600"/>
            <a:ext cx="8229600" cy="777240"/>
          </a:xfrm>
          <a:prstGeom prst="roundRect">
            <a:avLst>
              <a:gd name="adj" fmla="val 9412"/>
            </a:avLst>
          </a:prstGeom>
          <a:solidFill>
            <a:schemeClr val="tx1"/>
          </a:solidFill>
          <a:ln/>
        </p:spPr>
        <p:txBody>
          <a:bodyPr/>
          <a:lstStyle/>
          <a:p>
            <a:endParaRPr lang="it-IT"/>
          </a:p>
        </p:txBody>
      </p:sp>
      <p:sp>
        <p:nvSpPr>
          <p:cNvPr id="28" name="cerchio FiHelpCircle"/>
          <p:cNvSpPr/>
          <p:nvPr/>
        </p:nvSpPr>
        <p:spPr>
          <a:xfrm>
            <a:off x="640080" y="3794760"/>
            <a:ext cx="502920" cy="502920"/>
          </a:xfrm>
          <a:prstGeom prst="ellipse">
            <a:avLst/>
          </a:prstGeom>
          <a:solidFill>
            <a:schemeClr val="accent1"/>
          </a:solidFill>
          <a:ln/>
        </p:spPr>
        <p:txBody>
          <a:bodyPr/>
          <a:lstStyle/>
          <a:p>
            <a:endParaRPr lang="it-IT"/>
          </a:p>
        </p:txBody>
      </p:sp>
      <p:pic>
        <p:nvPicPr>
          <p:cNvPr id="29" name="Image 3" descr="FiHelpCircle"/>
          <p:cNvPicPr>
            <a:picLocks noChangeAspect="1"/>
          </p:cNvPicPr>
          <p:nvPr/>
        </p:nvPicPr>
        <p:blipFill>
          <a:blip r:embed="rId6"/>
          <a:stretch>
            <a:fillRect/>
          </a:stretch>
        </p:blipFill>
        <p:spPr>
          <a:xfrm>
            <a:off x="765810" y="3920490"/>
            <a:ext cx="251460" cy="251460"/>
          </a:xfrm>
          <a:prstGeom prst="rect">
            <a:avLst/>
          </a:prstGeom>
        </p:spPr>
      </p:pic>
      <p:sp>
        <p:nvSpPr>
          <p:cNvPr id="30" name="Text 23"/>
          <p:cNvSpPr txBox="1"/>
          <p:nvPr/>
        </p:nvSpPr>
        <p:spPr>
          <a:xfrm>
            <a:off x="1325880" y="3730752"/>
            <a:ext cx="7223760" cy="347472"/>
          </a:xfrm>
          <a:prstGeom prst="rect">
            <a:avLst/>
          </a:prstGeom>
          <a:noFill/>
          <a:ln/>
        </p:spPr>
        <p:txBody>
          <a:bodyPr wrap="square" lIns="0" tIns="0" rIns="0" bIns="0" rtlCol="0" anchor="ctr"/>
          <a:lstStyle/>
          <a:p>
            <a:pPr marL="0" indent="0">
              <a:buNone/>
            </a:pPr>
            <a:r>
              <a:rPr lang="en-US" sz="1500" b="1" dirty="0">
                <a:solidFill>
                  <a:schemeClr val="bg1"/>
                </a:solidFill>
              </a:rPr>
              <a:t>Una domanda per voi: le vostre macchine raccolgono dati?</a:t>
            </a:r>
            <a:endParaRPr lang="en-US" sz="1500" dirty="0"/>
          </a:p>
        </p:txBody>
      </p:sp>
      <p:sp>
        <p:nvSpPr>
          <p:cNvPr id="31" name="Text 24"/>
          <p:cNvSpPr txBox="1"/>
          <p:nvPr/>
        </p:nvSpPr>
        <p:spPr>
          <a:xfrm>
            <a:off x="1325880" y="4059936"/>
            <a:ext cx="7223760" cy="292608"/>
          </a:xfrm>
          <a:prstGeom prst="rect">
            <a:avLst/>
          </a:prstGeom>
          <a:noFill/>
          <a:ln/>
        </p:spPr>
        <p:txBody>
          <a:bodyPr wrap="square" lIns="0" tIns="0" rIns="0" bIns="0" rtlCol="0" anchor="ctr"/>
          <a:lstStyle/>
          <a:p>
            <a:pPr marL="0" indent="0">
              <a:buNone/>
            </a:pPr>
            <a:r>
              <a:rPr lang="en-US" sz="1200" dirty="0">
                <a:solidFill>
                  <a:schemeClr val="accent3"/>
                </a:solidFill>
              </a:rPr>
              <a:t>Temperature, allarmi, consumi, teleassistenza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Sette sprechi informativi</a:t>
            </a:r>
            <a:endParaRPr lang="en-US" sz="2600" dirty="0"/>
          </a:p>
        </p:txBody>
      </p:sp>
      <p:sp>
        <p:nvSpPr>
          <p:cNvPr id="6" name="spreco Cercare"/>
          <p:cNvSpPr/>
          <p:nvPr/>
        </p:nvSpPr>
        <p:spPr>
          <a:xfrm>
            <a:off x="457200" y="1051560"/>
            <a:ext cx="1965960" cy="1325880"/>
          </a:xfrm>
          <a:prstGeom prst="roundRect">
            <a:avLst>
              <a:gd name="adj" fmla="val 5517"/>
            </a:avLst>
          </a:prstGeom>
          <a:solidFill>
            <a:schemeClr val="bg2"/>
          </a:solidFill>
          <a:ln/>
        </p:spPr>
        <p:txBody>
          <a:bodyPr/>
          <a:lstStyle/>
          <a:p>
            <a:endParaRPr lang="it-IT"/>
          </a:p>
        </p:txBody>
      </p:sp>
      <p:sp>
        <p:nvSpPr>
          <p:cNvPr id="7" name="cerchio FiSearch"/>
          <p:cNvSpPr/>
          <p:nvPr/>
        </p:nvSpPr>
        <p:spPr>
          <a:xfrm>
            <a:off x="594360" y="1188720"/>
            <a:ext cx="411480" cy="411480"/>
          </a:xfrm>
          <a:prstGeom prst="ellipse">
            <a:avLst/>
          </a:prstGeom>
          <a:solidFill>
            <a:schemeClr val="accent1"/>
          </a:solidFill>
          <a:ln/>
        </p:spPr>
        <p:txBody>
          <a:bodyPr/>
          <a:lstStyle/>
          <a:p>
            <a:endParaRPr lang="it-IT"/>
          </a:p>
        </p:txBody>
      </p:sp>
      <p:pic>
        <p:nvPicPr>
          <p:cNvPr id="8" name="Image 0" descr="FiSearch"/>
          <p:cNvPicPr>
            <a:picLocks noChangeAspect="1"/>
          </p:cNvPicPr>
          <p:nvPr/>
        </p:nvPicPr>
        <p:blipFill>
          <a:blip r:embed="rId3"/>
          <a:stretch>
            <a:fillRect/>
          </a:stretch>
        </p:blipFill>
        <p:spPr>
          <a:xfrm>
            <a:off x="697230" y="1291590"/>
            <a:ext cx="205740" cy="205740"/>
          </a:xfrm>
          <a:prstGeom prst="rect">
            <a:avLst/>
          </a:prstGeom>
        </p:spPr>
      </p:pic>
      <p:sp>
        <p:nvSpPr>
          <p:cNvPr id="9" name="Text 5"/>
          <p:cNvSpPr txBox="1"/>
          <p:nvPr/>
        </p:nvSpPr>
        <p:spPr>
          <a:xfrm>
            <a:off x="1097280"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Cercare</a:t>
            </a:r>
            <a:endParaRPr lang="en-US" sz="1400" dirty="0"/>
          </a:p>
        </p:txBody>
      </p:sp>
      <p:sp>
        <p:nvSpPr>
          <p:cNvPr id="10" name="Text 6"/>
          <p:cNvSpPr txBox="1"/>
          <p:nvPr/>
        </p:nvSpPr>
        <p:spPr>
          <a:xfrm>
            <a:off x="594360"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Disegni, procedure, soluzioni già trovate</a:t>
            </a:r>
            <a:endParaRPr lang="en-US" sz="1150" dirty="0"/>
          </a:p>
        </p:txBody>
      </p:sp>
      <p:sp>
        <p:nvSpPr>
          <p:cNvPr id="11" name="spreco Ricopiare"/>
          <p:cNvSpPr/>
          <p:nvPr/>
        </p:nvSpPr>
        <p:spPr>
          <a:xfrm>
            <a:off x="2542032" y="1051560"/>
            <a:ext cx="1965960" cy="1325880"/>
          </a:xfrm>
          <a:prstGeom prst="roundRect">
            <a:avLst>
              <a:gd name="adj" fmla="val 5517"/>
            </a:avLst>
          </a:prstGeom>
          <a:solidFill>
            <a:schemeClr val="bg2"/>
          </a:solidFill>
          <a:ln/>
        </p:spPr>
        <p:txBody>
          <a:bodyPr/>
          <a:lstStyle/>
          <a:p>
            <a:endParaRPr lang="it-IT"/>
          </a:p>
        </p:txBody>
      </p:sp>
      <p:sp>
        <p:nvSpPr>
          <p:cNvPr id="12" name="cerchio FiCopy"/>
          <p:cNvSpPr/>
          <p:nvPr/>
        </p:nvSpPr>
        <p:spPr>
          <a:xfrm>
            <a:off x="2679192" y="1188720"/>
            <a:ext cx="411480" cy="411480"/>
          </a:xfrm>
          <a:prstGeom prst="ellipse">
            <a:avLst/>
          </a:prstGeom>
          <a:solidFill>
            <a:schemeClr val="accent1"/>
          </a:solidFill>
          <a:ln/>
        </p:spPr>
        <p:txBody>
          <a:bodyPr/>
          <a:lstStyle/>
          <a:p>
            <a:endParaRPr lang="it-IT"/>
          </a:p>
        </p:txBody>
      </p:sp>
      <p:pic>
        <p:nvPicPr>
          <p:cNvPr id="13" name="Image 1" descr="FiCopy"/>
          <p:cNvPicPr>
            <a:picLocks noChangeAspect="1"/>
          </p:cNvPicPr>
          <p:nvPr/>
        </p:nvPicPr>
        <p:blipFill>
          <a:blip r:embed="rId4"/>
          <a:stretch>
            <a:fillRect/>
          </a:stretch>
        </p:blipFill>
        <p:spPr>
          <a:xfrm>
            <a:off x="2782062" y="1291590"/>
            <a:ext cx="205740" cy="205740"/>
          </a:xfrm>
          <a:prstGeom prst="rect">
            <a:avLst/>
          </a:prstGeom>
        </p:spPr>
      </p:pic>
      <p:sp>
        <p:nvSpPr>
          <p:cNvPr id="14" name="Text 9"/>
          <p:cNvSpPr txBox="1"/>
          <p:nvPr/>
        </p:nvSpPr>
        <p:spPr>
          <a:xfrm>
            <a:off x="3182112"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Ricopiare</a:t>
            </a:r>
            <a:endParaRPr lang="en-US" sz="1400" dirty="0"/>
          </a:p>
        </p:txBody>
      </p:sp>
      <p:sp>
        <p:nvSpPr>
          <p:cNvPr id="15" name="Text 10"/>
          <p:cNvSpPr txBox="1"/>
          <p:nvPr/>
        </p:nvSpPr>
        <p:spPr>
          <a:xfrm>
            <a:off x="2679192"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Da email a foglio, da foglio a gestionale</a:t>
            </a:r>
            <a:endParaRPr lang="en-US" sz="1150" dirty="0"/>
          </a:p>
        </p:txBody>
      </p:sp>
      <p:sp>
        <p:nvSpPr>
          <p:cNvPr id="16" name="spreco Aspettare"/>
          <p:cNvSpPr/>
          <p:nvPr/>
        </p:nvSpPr>
        <p:spPr>
          <a:xfrm>
            <a:off x="4626864" y="1051560"/>
            <a:ext cx="1965960" cy="1325880"/>
          </a:xfrm>
          <a:prstGeom prst="roundRect">
            <a:avLst>
              <a:gd name="adj" fmla="val 5517"/>
            </a:avLst>
          </a:prstGeom>
          <a:solidFill>
            <a:schemeClr val="bg2"/>
          </a:solidFill>
          <a:ln/>
        </p:spPr>
        <p:txBody>
          <a:bodyPr/>
          <a:lstStyle/>
          <a:p>
            <a:endParaRPr lang="it-IT"/>
          </a:p>
        </p:txBody>
      </p:sp>
      <p:sp>
        <p:nvSpPr>
          <p:cNvPr id="17" name="cerchio FiClock"/>
          <p:cNvSpPr/>
          <p:nvPr/>
        </p:nvSpPr>
        <p:spPr>
          <a:xfrm>
            <a:off x="4764024" y="1188720"/>
            <a:ext cx="411480" cy="411480"/>
          </a:xfrm>
          <a:prstGeom prst="ellipse">
            <a:avLst/>
          </a:prstGeom>
          <a:solidFill>
            <a:schemeClr val="accent1"/>
          </a:solidFill>
          <a:ln/>
        </p:spPr>
        <p:txBody>
          <a:bodyPr/>
          <a:lstStyle/>
          <a:p>
            <a:endParaRPr lang="it-IT"/>
          </a:p>
        </p:txBody>
      </p:sp>
      <p:pic>
        <p:nvPicPr>
          <p:cNvPr id="18" name="Image 2" descr="FiClock"/>
          <p:cNvPicPr>
            <a:picLocks noChangeAspect="1"/>
          </p:cNvPicPr>
          <p:nvPr/>
        </p:nvPicPr>
        <p:blipFill>
          <a:blip r:embed="rId5"/>
          <a:stretch>
            <a:fillRect/>
          </a:stretch>
        </p:blipFill>
        <p:spPr>
          <a:xfrm>
            <a:off x="4866894" y="1291590"/>
            <a:ext cx="205740" cy="205740"/>
          </a:xfrm>
          <a:prstGeom prst="rect">
            <a:avLst/>
          </a:prstGeom>
        </p:spPr>
      </p:pic>
      <p:sp>
        <p:nvSpPr>
          <p:cNvPr id="19" name="Text 13"/>
          <p:cNvSpPr txBox="1"/>
          <p:nvPr/>
        </p:nvSpPr>
        <p:spPr>
          <a:xfrm>
            <a:off x="5266944"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Aspettare</a:t>
            </a:r>
            <a:endParaRPr lang="en-US" sz="1400" dirty="0"/>
          </a:p>
        </p:txBody>
      </p:sp>
      <p:sp>
        <p:nvSpPr>
          <p:cNvPr id="20" name="Text 14"/>
          <p:cNvSpPr txBox="1"/>
          <p:nvPr/>
        </p:nvSpPr>
        <p:spPr>
          <a:xfrm>
            <a:off x="4764024"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Un'informazione che blocca il lavoro</a:t>
            </a:r>
            <a:endParaRPr lang="en-US" sz="1150" dirty="0"/>
          </a:p>
        </p:txBody>
      </p:sp>
      <p:sp>
        <p:nvSpPr>
          <p:cNvPr id="21" name="spreco Rifare"/>
          <p:cNvSpPr/>
          <p:nvPr/>
        </p:nvSpPr>
        <p:spPr>
          <a:xfrm>
            <a:off x="6711696" y="1051560"/>
            <a:ext cx="1965960" cy="1325880"/>
          </a:xfrm>
          <a:prstGeom prst="roundRect">
            <a:avLst>
              <a:gd name="adj" fmla="val 5517"/>
            </a:avLst>
          </a:prstGeom>
          <a:solidFill>
            <a:schemeClr val="bg2"/>
          </a:solidFill>
          <a:ln/>
        </p:spPr>
        <p:txBody>
          <a:bodyPr/>
          <a:lstStyle/>
          <a:p>
            <a:endParaRPr lang="it-IT"/>
          </a:p>
        </p:txBody>
      </p:sp>
      <p:sp>
        <p:nvSpPr>
          <p:cNvPr id="22" name="cerchio FiRotateCcw"/>
          <p:cNvSpPr/>
          <p:nvPr/>
        </p:nvSpPr>
        <p:spPr>
          <a:xfrm>
            <a:off x="6848856" y="1188720"/>
            <a:ext cx="411480" cy="411480"/>
          </a:xfrm>
          <a:prstGeom prst="ellipse">
            <a:avLst/>
          </a:prstGeom>
          <a:solidFill>
            <a:schemeClr val="accent1"/>
          </a:solidFill>
          <a:ln/>
        </p:spPr>
        <p:txBody>
          <a:bodyPr/>
          <a:lstStyle/>
          <a:p>
            <a:endParaRPr lang="it-IT"/>
          </a:p>
        </p:txBody>
      </p:sp>
      <p:pic>
        <p:nvPicPr>
          <p:cNvPr id="23" name="Image 3" descr="FiRotateCcw"/>
          <p:cNvPicPr>
            <a:picLocks noChangeAspect="1"/>
          </p:cNvPicPr>
          <p:nvPr/>
        </p:nvPicPr>
        <p:blipFill>
          <a:blip r:embed="rId6"/>
          <a:stretch>
            <a:fillRect/>
          </a:stretch>
        </p:blipFill>
        <p:spPr>
          <a:xfrm>
            <a:off x="6951726" y="1291590"/>
            <a:ext cx="205740" cy="205740"/>
          </a:xfrm>
          <a:prstGeom prst="rect">
            <a:avLst/>
          </a:prstGeom>
        </p:spPr>
      </p:pic>
      <p:sp>
        <p:nvSpPr>
          <p:cNvPr id="24" name="Text 17"/>
          <p:cNvSpPr txBox="1"/>
          <p:nvPr/>
        </p:nvSpPr>
        <p:spPr>
          <a:xfrm>
            <a:off x="7351776"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Rifare</a:t>
            </a:r>
            <a:endParaRPr lang="en-US" sz="1400" dirty="0"/>
          </a:p>
        </p:txBody>
      </p:sp>
      <p:sp>
        <p:nvSpPr>
          <p:cNvPr id="25" name="Text 18"/>
          <p:cNvSpPr txBox="1"/>
          <p:nvPr/>
        </p:nvSpPr>
        <p:spPr>
          <a:xfrm>
            <a:off x="6848856"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Offerte e documenti con requisiti sfuggiti</a:t>
            </a:r>
            <a:endParaRPr lang="en-US" sz="1150" dirty="0"/>
          </a:p>
        </p:txBody>
      </p:sp>
      <p:sp>
        <p:nvSpPr>
          <p:cNvPr id="26" name="spreco Correggere"/>
          <p:cNvSpPr/>
          <p:nvPr/>
        </p:nvSpPr>
        <p:spPr>
          <a:xfrm>
            <a:off x="457200" y="2514600"/>
            <a:ext cx="1965960" cy="1325880"/>
          </a:xfrm>
          <a:prstGeom prst="roundRect">
            <a:avLst>
              <a:gd name="adj" fmla="val 5517"/>
            </a:avLst>
          </a:prstGeom>
          <a:solidFill>
            <a:schemeClr val="bg2"/>
          </a:solidFill>
          <a:ln/>
        </p:spPr>
        <p:txBody>
          <a:bodyPr/>
          <a:lstStyle/>
          <a:p>
            <a:endParaRPr lang="it-IT"/>
          </a:p>
        </p:txBody>
      </p:sp>
      <p:sp>
        <p:nvSpPr>
          <p:cNvPr id="27" name="cerchio FiAlertTriangle"/>
          <p:cNvSpPr/>
          <p:nvPr/>
        </p:nvSpPr>
        <p:spPr>
          <a:xfrm>
            <a:off x="594360" y="2651760"/>
            <a:ext cx="411480" cy="411480"/>
          </a:xfrm>
          <a:prstGeom prst="ellipse">
            <a:avLst/>
          </a:prstGeom>
          <a:solidFill>
            <a:schemeClr val="accent1"/>
          </a:solidFill>
          <a:ln/>
        </p:spPr>
        <p:txBody>
          <a:bodyPr/>
          <a:lstStyle/>
          <a:p>
            <a:endParaRPr lang="it-IT"/>
          </a:p>
        </p:txBody>
      </p:sp>
      <p:pic>
        <p:nvPicPr>
          <p:cNvPr id="28" name="Image 4" descr="FiAlertTriangle"/>
          <p:cNvPicPr>
            <a:picLocks noChangeAspect="1"/>
          </p:cNvPicPr>
          <p:nvPr/>
        </p:nvPicPr>
        <p:blipFill>
          <a:blip r:embed="rId7"/>
          <a:stretch>
            <a:fillRect/>
          </a:stretch>
        </p:blipFill>
        <p:spPr>
          <a:xfrm>
            <a:off x="697230" y="2754630"/>
            <a:ext cx="205740" cy="205740"/>
          </a:xfrm>
          <a:prstGeom prst="rect">
            <a:avLst/>
          </a:prstGeom>
        </p:spPr>
      </p:pic>
      <p:sp>
        <p:nvSpPr>
          <p:cNvPr id="29" name="Text 21"/>
          <p:cNvSpPr txBox="1"/>
          <p:nvPr/>
        </p:nvSpPr>
        <p:spPr>
          <a:xfrm>
            <a:off x="1097280"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Correggere</a:t>
            </a:r>
            <a:endParaRPr lang="en-US" sz="1400" dirty="0"/>
          </a:p>
        </p:txBody>
      </p:sp>
      <p:sp>
        <p:nvSpPr>
          <p:cNvPr id="30" name="Text 22"/>
          <p:cNvSpPr txBox="1"/>
          <p:nvPr/>
        </p:nvSpPr>
        <p:spPr>
          <a:xfrm>
            <a:off x="594360"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Dati non allineati tra sistemi</a:t>
            </a:r>
            <a:endParaRPr lang="en-US" sz="1150" dirty="0"/>
          </a:p>
        </p:txBody>
      </p:sp>
      <p:sp>
        <p:nvSpPr>
          <p:cNvPr id="31" name="spreco Chiedere a voce"/>
          <p:cNvSpPr/>
          <p:nvPr/>
        </p:nvSpPr>
        <p:spPr>
          <a:xfrm>
            <a:off x="2542032" y="2514600"/>
            <a:ext cx="1965960" cy="1325880"/>
          </a:xfrm>
          <a:prstGeom prst="roundRect">
            <a:avLst>
              <a:gd name="adj" fmla="val 5517"/>
            </a:avLst>
          </a:prstGeom>
          <a:solidFill>
            <a:schemeClr val="bg2"/>
          </a:solidFill>
          <a:ln/>
        </p:spPr>
        <p:txBody>
          <a:bodyPr/>
          <a:lstStyle/>
          <a:p>
            <a:endParaRPr lang="it-IT"/>
          </a:p>
        </p:txBody>
      </p:sp>
      <p:sp>
        <p:nvSpPr>
          <p:cNvPr id="32" name="cerchio FiPhone"/>
          <p:cNvSpPr/>
          <p:nvPr/>
        </p:nvSpPr>
        <p:spPr>
          <a:xfrm>
            <a:off x="2679192" y="2651760"/>
            <a:ext cx="411480" cy="411480"/>
          </a:xfrm>
          <a:prstGeom prst="ellipse">
            <a:avLst/>
          </a:prstGeom>
          <a:solidFill>
            <a:schemeClr val="accent1"/>
          </a:solidFill>
          <a:ln/>
        </p:spPr>
        <p:txBody>
          <a:bodyPr/>
          <a:lstStyle/>
          <a:p>
            <a:endParaRPr lang="it-IT"/>
          </a:p>
        </p:txBody>
      </p:sp>
      <p:pic>
        <p:nvPicPr>
          <p:cNvPr id="33" name="Image 5" descr="FiPhone"/>
          <p:cNvPicPr>
            <a:picLocks noChangeAspect="1"/>
          </p:cNvPicPr>
          <p:nvPr/>
        </p:nvPicPr>
        <p:blipFill>
          <a:blip r:embed="rId8"/>
          <a:stretch>
            <a:fillRect/>
          </a:stretch>
        </p:blipFill>
        <p:spPr>
          <a:xfrm>
            <a:off x="2782062" y="2754630"/>
            <a:ext cx="205740" cy="205740"/>
          </a:xfrm>
          <a:prstGeom prst="rect">
            <a:avLst/>
          </a:prstGeom>
        </p:spPr>
      </p:pic>
      <p:sp>
        <p:nvSpPr>
          <p:cNvPr id="34" name="Text 25"/>
          <p:cNvSpPr txBox="1"/>
          <p:nvPr/>
        </p:nvSpPr>
        <p:spPr>
          <a:xfrm>
            <a:off x="3182112"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Chiedere a voce</a:t>
            </a:r>
            <a:endParaRPr lang="en-US" sz="1400" dirty="0"/>
          </a:p>
        </p:txBody>
      </p:sp>
      <p:sp>
        <p:nvSpPr>
          <p:cNvPr id="35" name="Text 26"/>
          <p:cNvSpPr txBox="1"/>
          <p:nvPr/>
        </p:nvSpPr>
        <p:spPr>
          <a:xfrm>
            <a:off x="2679192"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Conoscenze solo nella testa di alcuni</a:t>
            </a:r>
            <a:endParaRPr lang="en-US" sz="1150" dirty="0"/>
          </a:p>
        </p:txBody>
      </p:sp>
      <p:sp>
        <p:nvSpPr>
          <p:cNvPr id="36" name="spreco Tradurre"/>
          <p:cNvSpPr/>
          <p:nvPr/>
        </p:nvSpPr>
        <p:spPr>
          <a:xfrm>
            <a:off x="4626864" y="2514600"/>
            <a:ext cx="1965960" cy="1325880"/>
          </a:xfrm>
          <a:prstGeom prst="roundRect">
            <a:avLst>
              <a:gd name="adj" fmla="val 5517"/>
            </a:avLst>
          </a:prstGeom>
          <a:solidFill>
            <a:schemeClr val="bg2"/>
          </a:solidFill>
          <a:ln/>
        </p:spPr>
        <p:txBody>
          <a:bodyPr/>
          <a:lstStyle/>
          <a:p>
            <a:endParaRPr lang="it-IT"/>
          </a:p>
        </p:txBody>
      </p:sp>
      <p:sp>
        <p:nvSpPr>
          <p:cNvPr id="37" name="cerchio FiGlobe"/>
          <p:cNvSpPr/>
          <p:nvPr/>
        </p:nvSpPr>
        <p:spPr>
          <a:xfrm>
            <a:off x="4764024" y="2651760"/>
            <a:ext cx="411480" cy="411480"/>
          </a:xfrm>
          <a:prstGeom prst="ellipse">
            <a:avLst/>
          </a:prstGeom>
          <a:solidFill>
            <a:schemeClr val="accent1"/>
          </a:solidFill>
          <a:ln/>
        </p:spPr>
        <p:txBody>
          <a:bodyPr/>
          <a:lstStyle/>
          <a:p>
            <a:endParaRPr lang="it-IT"/>
          </a:p>
        </p:txBody>
      </p:sp>
      <p:pic>
        <p:nvPicPr>
          <p:cNvPr id="38" name="Image 6" descr="FiGlobe"/>
          <p:cNvPicPr>
            <a:picLocks noChangeAspect="1"/>
          </p:cNvPicPr>
          <p:nvPr/>
        </p:nvPicPr>
        <p:blipFill>
          <a:blip r:embed="rId9"/>
          <a:stretch>
            <a:fillRect/>
          </a:stretch>
        </p:blipFill>
        <p:spPr>
          <a:xfrm>
            <a:off x="4866894" y="2754630"/>
            <a:ext cx="205740" cy="205740"/>
          </a:xfrm>
          <a:prstGeom prst="rect">
            <a:avLst/>
          </a:prstGeom>
        </p:spPr>
      </p:pic>
      <p:sp>
        <p:nvSpPr>
          <p:cNvPr id="39" name="Text 29"/>
          <p:cNvSpPr txBox="1"/>
          <p:nvPr/>
        </p:nvSpPr>
        <p:spPr>
          <a:xfrm>
            <a:off x="5266944"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Tradurre</a:t>
            </a:r>
            <a:endParaRPr lang="en-US" sz="1400" dirty="0"/>
          </a:p>
        </p:txBody>
      </p:sp>
      <p:sp>
        <p:nvSpPr>
          <p:cNvPr id="40" name="Text 30"/>
          <p:cNvSpPr txBox="1"/>
          <p:nvPr/>
        </p:nvSpPr>
        <p:spPr>
          <a:xfrm>
            <a:off x="4764024"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Manuali e offerte per i clienti esteri</a:t>
            </a:r>
            <a:endParaRPr lang="en-US" sz="1150" dirty="0"/>
          </a:p>
        </p:txBody>
      </p:sp>
      <p:sp>
        <p:nvSpPr>
          <p:cNvPr id="41" name="messaggio"/>
          <p:cNvSpPr/>
          <p:nvPr/>
        </p:nvSpPr>
        <p:spPr>
          <a:xfrm>
            <a:off x="6711696" y="2514600"/>
            <a:ext cx="1965960" cy="1325880"/>
          </a:xfrm>
          <a:prstGeom prst="roundRect">
            <a:avLst>
              <a:gd name="adj" fmla="val 5517"/>
            </a:avLst>
          </a:prstGeom>
          <a:solidFill>
            <a:schemeClr val="tx1"/>
          </a:solidFill>
          <a:ln/>
        </p:spPr>
        <p:txBody>
          <a:bodyPr/>
          <a:lstStyle/>
          <a:p>
            <a:endParaRPr lang="it-IT"/>
          </a:p>
        </p:txBody>
      </p:sp>
      <p:sp>
        <p:nvSpPr>
          <p:cNvPr id="42" name="Text 32"/>
          <p:cNvSpPr txBox="1"/>
          <p:nvPr/>
        </p:nvSpPr>
        <p:spPr>
          <a:xfrm>
            <a:off x="6848856" y="2514600"/>
            <a:ext cx="1691640" cy="1325880"/>
          </a:xfrm>
          <a:prstGeom prst="rect">
            <a:avLst/>
          </a:prstGeom>
          <a:noFill/>
          <a:ln/>
        </p:spPr>
        <p:txBody>
          <a:bodyPr wrap="square" lIns="0" tIns="0" rIns="0" bIns="0" rtlCol="0" anchor="ctr"/>
          <a:lstStyle/>
          <a:p>
            <a:pPr marL="0" indent="0">
              <a:buNone/>
            </a:pPr>
            <a:r>
              <a:rPr lang="en-US" sz="1300" b="1" dirty="0">
                <a:solidFill>
                  <a:schemeClr val="bg1"/>
                </a:solidFill>
              </a:rPr>
              <a:t>Prima il problema, poi lo strumento. Non tutti si risolvono con l'AI.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Esercizio: dove perdiamo tempo?</a:t>
            </a:r>
            <a:endParaRPr lang="en-US" sz="2600" dirty="0"/>
          </a:p>
        </p:txBody>
      </p:sp>
      <p:sp>
        <p:nvSpPr>
          <p:cNvPr id="6" name="passo 1"/>
          <p:cNvSpPr/>
          <p:nvPr/>
        </p:nvSpPr>
        <p:spPr>
          <a:xfrm>
            <a:off x="457200" y="1097280"/>
            <a:ext cx="2606040" cy="2103120"/>
          </a:xfrm>
          <a:prstGeom prst="roundRect">
            <a:avLst>
              <a:gd name="adj" fmla="val 3478"/>
            </a:avLst>
          </a:prstGeom>
          <a:solidFill>
            <a:schemeClr val="bg2"/>
          </a:solidFill>
          <a:ln/>
        </p:spPr>
        <p:txBody>
          <a:bodyPr/>
          <a:lstStyle/>
          <a:p>
            <a:endParaRPr lang="it-IT"/>
          </a:p>
        </p:txBody>
      </p:sp>
      <p:sp>
        <p:nvSpPr>
          <p:cNvPr id="7" name="Text 4"/>
          <p:cNvSpPr txBox="1"/>
          <p:nvPr/>
        </p:nvSpPr>
        <p:spPr>
          <a:xfrm>
            <a:off x="64008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8" name="Text 5"/>
          <p:cNvSpPr txBox="1"/>
          <p:nvPr/>
        </p:nvSpPr>
        <p:spPr>
          <a:xfrm>
            <a:off x="64008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Riflessione</a:t>
            </a:r>
            <a:r>
              <a:rPr lang="en-US" sz="1500" b="1" dirty="0">
                <a:solidFill>
                  <a:schemeClr val="tx1"/>
                </a:solidFill>
              </a:rPr>
              <a:t> </a:t>
            </a:r>
            <a:r>
              <a:rPr lang="en-US" sz="1500" b="1" dirty="0" err="1">
                <a:solidFill>
                  <a:schemeClr val="tx1"/>
                </a:solidFill>
              </a:rPr>
              <a:t>individuale</a:t>
            </a:r>
            <a:endParaRPr lang="en-US" sz="1500" dirty="0"/>
          </a:p>
        </p:txBody>
      </p:sp>
      <p:sp>
        <p:nvSpPr>
          <p:cNvPr id="9" name="Text 6"/>
          <p:cNvSpPr txBox="1"/>
          <p:nvPr/>
        </p:nvSpPr>
        <p:spPr>
          <a:xfrm>
            <a:off x="640080" y="2346960"/>
            <a:ext cx="2240280" cy="960120"/>
          </a:xfrm>
          <a:prstGeom prst="rect">
            <a:avLst/>
          </a:prstGeom>
          <a:noFill/>
          <a:ln/>
        </p:spPr>
        <p:txBody>
          <a:bodyPr wrap="square" lIns="0" tIns="0" rIns="0" bIns="0" rtlCol="0" anchor="t"/>
          <a:lstStyle/>
          <a:p>
            <a:pPr marL="0" indent="0">
              <a:buNone/>
            </a:pPr>
            <a:r>
              <a:rPr lang="en-US" sz="1300" dirty="0">
                <a:solidFill>
                  <a:schemeClr val="tx2"/>
                </a:solidFill>
              </a:rPr>
              <a:t>Un post-it per ogni spreco: una frase, il reparto, la categoria</a:t>
            </a:r>
            <a:endParaRPr lang="en-US" sz="1300" dirty="0"/>
          </a:p>
        </p:txBody>
      </p:sp>
      <p:sp>
        <p:nvSpPr>
          <p:cNvPr id="10" name="freccia"/>
          <p:cNvSpPr/>
          <p:nvPr/>
        </p:nvSpPr>
        <p:spPr>
          <a:xfrm>
            <a:off x="3081528" y="2011680"/>
            <a:ext cx="146304" cy="292608"/>
          </a:xfrm>
          <a:prstGeom prst="rightArrow">
            <a:avLst/>
          </a:prstGeom>
          <a:solidFill>
            <a:schemeClr val="accent2"/>
          </a:solidFill>
          <a:ln/>
        </p:spPr>
        <p:txBody>
          <a:bodyPr/>
          <a:lstStyle/>
          <a:p>
            <a:endParaRPr lang="it-IT"/>
          </a:p>
        </p:txBody>
      </p:sp>
      <p:sp>
        <p:nvSpPr>
          <p:cNvPr id="11" name="passo 2"/>
          <p:cNvSpPr/>
          <p:nvPr/>
        </p:nvSpPr>
        <p:spPr>
          <a:xfrm>
            <a:off x="3246120" y="1097280"/>
            <a:ext cx="2606040" cy="2103120"/>
          </a:xfrm>
          <a:prstGeom prst="roundRect">
            <a:avLst>
              <a:gd name="adj" fmla="val 3478"/>
            </a:avLst>
          </a:prstGeom>
          <a:solidFill>
            <a:schemeClr val="accent6"/>
          </a:solidFill>
          <a:ln/>
        </p:spPr>
        <p:txBody>
          <a:bodyPr/>
          <a:lstStyle/>
          <a:p>
            <a:endParaRPr lang="it-IT"/>
          </a:p>
        </p:txBody>
      </p:sp>
      <p:sp>
        <p:nvSpPr>
          <p:cNvPr id="12" name="Text 9"/>
          <p:cNvSpPr txBox="1"/>
          <p:nvPr/>
        </p:nvSpPr>
        <p:spPr>
          <a:xfrm>
            <a:off x="342900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13" name="Text 10"/>
          <p:cNvSpPr txBox="1"/>
          <p:nvPr/>
        </p:nvSpPr>
        <p:spPr>
          <a:xfrm>
            <a:off x="3429000" y="1783080"/>
            <a:ext cx="2240280" cy="320040"/>
          </a:xfrm>
          <a:prstGeom prst="rect">
            <a:avLst/>
          </a:prstGeom>
          <a:noFill/>
          <a:ln/>
        </p:spPr>
        <p:txBody>
          <a:bodyPr wrap="square" lIns="0" tIns="0" rIns="0" bIns="0" rtlCol="0" anchor="t"/>
          <a:lstStyle/>
          <a:p>
            <a:pPr marL="0" indent="0">
              <a:buNone/>
            </a:pPr>
            <a:r>
              <a:rPr lang="en-US" sz="1200" b="1" dirty="0" err="1"/>
              <a:t>Raggruppamento</a:t>
            </a:r>
            <a:r>
              <a:rPr lang="en-US" sz="1200" b="1" dirty="0"/>
              <a:t> per </a:t>
            </a:r>
            <a:r>
              <a:rPr lang="en-US" sz="1200" b="1" dirty="0" err="1"/>
              <a:t>reparto</a:t>
            </a:r>
            <a:r>
              <a:rPr lang="en-US" sz="1200" b="1" dirty="0"/>
              <a:t> </a:t>
            </a:r>
            <a:r>
              <a:rPr lang="en-US" sz="1200" b="1" dirty="0" err="1"/>
              <a:t>tipologia</a:t>
            </a:r>
            <a:endParaRPr lang="en-US" sz="1200" dirty="0"/>
          </a:p>
        </p:txBody>
      </p:sp>
      <p:sp>
        <p:nvSpPr>
          <p:cNvPr id="14" name="Text 11"/>
          <p:cNvSpPr txBox="1"/>
          <p:nvPr/>
        </p:nvSpPr>
        <p:spPr>
          <a:xfrm>
            <a:off x="3429000" y="2377440"/>
            <a:ext cx="2240280" cy="502920"/>
          </a:xfrm>
          <a:prstGeom prst="rect">
            <a:avLst/>
          </a:prstGeom>
          <a:noFill/>
          <a:ln/>
        </p:spPr>
        <p:txBody>
          <a:bodyPr wrap="square" lIns="0" tIns="0" rIns="0" bIns="0" rtlCol="0" anchor="t"/>
          <a:lstStyle/>
          <a:p>
            <a:pPr marL="0" indent="0">
              <a:buNone/>
            </a:pPr>
            <a:r>
              <a:rPr lang="en-US" sz="1300" dirty="0">
                <a:solidFill>
                  <a:schemeClr val="tx2"/>
                </a:solidFill>
              </a:rPr>
              <a:t>Raggruppare i </a:t>
            </a:r>
            <a:r>
              <a:rPr lang="en-US" sz="1300" dirty="0" err="1">
                <a:solidFill>
                  <a:schemeClr val="tx2"/>
                </a:solidFill>
              </a:rPr>
              <a:t>post-it</a:t>
            </a:r>
            <a:r>
              <a:rPr lang="en-US" sz="1300" dirty="0">
                <a:solidFill>
                  <a:schemeClr val="tx2"/>
                </a:solidFill>
              </a:rPr>
              <a:t> </a:t>
            </a:r>
            <a:r>
              <a:rPr lang="en-US" sz="1300" dirty="0" err="1">
                <a:solidFill>
                  <a:schemeClr val="tx2"/>
                </a:solidFill>
              </a:rPr>
              <a:t>simili</a:t>
            </a:r>
            <a:endParaRPr lang="en-US" sz="1300" dirty="0"/>
          </a:p>
        </p:txBody>
      </p:sp>
      <p:sp>
        <p:nvSpPr>
          <p:cNvPr id="15" name="freccia"/>
          <p:cNvSpPr/>
          <p:nvPr/>
        </p:nvSpPr>
        <p:spPr>
          <a:xfrm>
            <a:off x="5870448" y="2011680"/>
            <a:ext cx="146304" cy="292608"/>
          </a:xfrm>
          <a:prstGeom prst="rightArrow">
            <a:avLst/>
          </a:prstGeom>
          <a:solidFill>
            <a:schemeClr val="accent2"/>
          </a:solidFill>
          <a:ln/>
        </p:spPr>
        <p:txBody>
          <a:bodyPr/>
          <a:lstStyle/>
          <a:p>
            <a:endParaRPr lang="it-IT"/>
          </a:p>
        </p:txBody>
      </p:sp>
      <p:sp>
        <p:nvSpPr>
          <p:cNvPr id="16" name="passo 3"/>
          <p:cNvSpPr/>
          <p:nvPr/>
        </p:nvSpPr>
        <p:spPr>
          <a:xfrm>
            <a:off x="6035040" y="1097280"/>
            <a:ext cx="2606040" cy="2103120"/>
          </a:xfrm>
          <a:prstGeom prst="roundRect">
            <a:avLst>
              <a:gd name="adj" fmla="val 3478"/>
            </a:avLst>
          </a:prstGeom>
          <a:solidFill>
            <a:schemeClr val="bg2"/>
          </a:solidFill>
          <a:ln/>
        </p:spPr>
        <p:txBody>
          <a:bodyPr/>
          <a:lstStyle/>
          <a:p>
            <a:endParaRPr lang="it-IT"/>
          </a:p>
        </p:txBody>
      </p:sp>
      <p:sp>
        <p:nvSpPr>
          <p:cNvPr id="17" name="Text 14"/>
          <p:cNvSpPr txBox="1"/>
          <p:nvPr/>
        </p:nvSpPr>
        <p:spPr>
          <a:xfrm>
            <a:off x="621792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10'</a:t>
            </a:r>
            <a:endParaRPr lang="en-US" sz="2800" dirty="0"/>
          </a:p>
        </p:txBody>
      </p:sp>
      <p:sp>
        <p:nvSpPr>
          <p:cNvPr id="18" name="Text 15"/>
          <p:cNvSpPr txBox="1"/>
          <p:nvPr/>
        </p:nvSpPr>
        <p:spPr>
          <a:xfrm>
            <a:off x="621792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Discussione</a:t>
            </a:r>
            <a:r>
              <a:rPr lang="en-US" sz="1500" b="1" dirty="0">
                <a:solidFill>
                  <a:schemeClr val="tx1"/>
                </a:solidFill>
              </a:rPr>
              <a:t> Conclusiva</a:t>
            </a:r>
            <a:endParaRPr lang="en-US" sz="1500" dirty="0"/>
          </a:p>
        </p:txBody>
      </p:sp>
      <p:sp>
        <p:nvSpPr>
          <p:cNvPr id="19" name="Text 16"/>
          <p:cNvSpPr txBox="1"/>
          <p:nvPr/>
        </p:nvSpPr>
        <p:spPr>
          <a:xfrm>
            <a:off x="6217920" y="2308860"/>
            <a:ext cx="2240280" cy="640080"/>
          </a:xfrm>
          <a:prstGeom prst="rect">
            <a:avLst/>
          </a:prstGeom>
          <a:noFill/>
          <a:ln/>
        </p:spPr>
        <p:txBody>
          <a:bodyPr wrap="square" lIns="0" tIns="0" rIns="0" bIns="0" rtlCol="0" anchor="t"/>
          <a:lstStyle/>
          <a:p>
            <a:pPr marL="0" indent="0">
              <a:buNone/>
            </a:pPr>
            <a:r>
              <a:rPr lang="en-US" sz="1300" dirty="0" err="1">
                <a:solidFill>
                  <a:schemeClr val="tx2"/>
                </a:solidFill>
              </a:rPr>
              <a:t>Condividiamo</a:t>
            </a:r>
            <a:r>
              <a:rPr lang="en-US" sz="1300" dirty="0">
                <a:solidFill>
                  <a:schemeClr val="tx2"/>
                </a:solidFill>
              </a:rPr>
              <a:t> </a:t>
            </a:r>
            <a:r>
              <a:rPr lang="en-US" sz="1300" dirty="0" err="1">
                <a:solidFill>
                  <a:schemeClr val="tx2"/>
                </a:solidFill>
              </a:rPr>
              <a:t>gli</a:t>
            </a:r>
            <a:r>
              <a:rPr lang="en-US" sz="1300" dirty="0">
                <a:solidFill>
                  <a:schemeClr val="tx2"/>
                </a:solidFill>
              </a:rPr>
              <a:t> </a:t>
            </a:r>
            <a:r>
              <a:rPr lang="en-US" sz="1300" dirty="0" err="1">
                <a:solidFill>
                  <a:schemeClr val="tx2"/>
                </a:solidFill>
              </a:rPr>
              <a:t>sprechi</a:t>
            </a:r>
            <a:r>
              <a:rPr lang="en-US" sz="1300" dirty="0">
                <a:solidFill>
                  <a:schemeClr val="tx2"/>
                </a:solidFill>
              </a:rPr>
              <a:t> </a:t>
            </a:r>
            <a:r>
              <a:rPr lang="en-US" sz="1300" dirty="0" err="1">
                <a:solidFill>
                  <a:schemeClr val="tx2"/>
                </a:solidFill>
              </a:rPr>
              <a:t>individuati</a:t>
            </a:r>
            <a:endParaRPr lang="en-US" sz="1300" dirty="0"/>
          </a:p>
        </p:txBody>
      </p:sp>
      <p:sp>
        <p:nvSpPr>
          <p:cNvPr id="20" name="scheda Solo il problema"/>
          <p:cNvSpPr/>
          <p:nvPr/>
        </p:nvSpPr>
        <p:spPr>
          <a:xfrm>
            <a:off x="457200" y="3383280"/>
            <a:ext cx="4023360" cy="1097280"/>
          </a:xfrm>
          <a:prstGeom prst="roundRect">
            <a:avLst>
              <a:gd name="adj" fmla="val 6667"/>
            </a:avLst>
          </a:prstGeom>
          <a:solidFill>
            <a:schemeClr val="bg2"/>
          </a:solidFill>
          <a:ln/>
        </p:spPr>
        <p:txBody>
          <a:bodyPr/>
          <a:lstStyle/>
          <a:p>
            <a:endParaRPr lang="it-IT"/>
          </a:p>
        </p:txBody>
      </p:sp>
      <p:sp>
        <p:nvSpPr>
          <p:cNvPr id="21" name="cerchio FiTarget"/>
          <p:cNvSpPr/>
          <p:nvPr/>
        </p:nvSpPr>
        <p:spPr>
          <a:xfrm>
            <a:off x="640080" y="3566160"/>
            <a:ext cx="457200" cy="457200"/>
          </a:xfrm>
          <a:prstGeom prst="ellipse">
            <a:avLst/>
          </a:prstGeom>
          <a:solidFill>
            <a:schemeClr val="accent1"/>
          </a:solidFill>
          <a:ln/>
        </p:spPr>
        <p:txBody>
          <a:bodyPr/>
          <a:lstStyle/>
          <a:p>
            <a:endParaRPr lang="it-IT"/>
          </a:p>
        </p:txBody>
      </p:sp>
      <p:pic>
        <p:nvPicPr>
          <p:cNvPr id="22" name="Image 0" descr="FiTarget"/>
          <p:cNvPicPr>
            <a:picLocks noChangeAspect="1"/>
          </p:cNvPicPr>
          <p:nvPr/>
        </p:nvPicPr>
        <p:blipFill>
          <a:blip r:embed="rId3"/>
          <a:stretch>
            <a:fillRect/>
          </a:stretch>
        </p:blipFill>
        <p:spPr>
          <a:xfrm>
            <a:off x="754380" y="3680460"/>
            <a:ext cx="228600" cy="228600"/>
          </a:xfrm>
          <a:prstGeom prst="rect">
            <a:avLst/>
          </a:prstGeom>
        </p:spPr>
      </p:pic>
      <p:sp>
        <p:nvSpPr>
          <p:cNvPr id="23" name="Text 19"/>
          <p:cNvSpPr txBox="1"/>
          <p:nvPr/>
        </p:nvSpPr>
        <p:spPr>
          <a:xfrm>
            <a:off x="123444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Solo il problema</a:t>
            </a:r>
            <a:endParaRPr lang="en-US" sz="1400" dirty="0"/>
          </a:p>
        </p:txBody>
      </p:sp>
      <p:sp>
        <p:nvSpPr>
          <p:cNvPr id="24" name="Text 20"/>
          <p:cNvSpPr txBox="1"/>
          <p:nvPr/>
        </p:nvSpPr>
        <p:spPr>
          <a:xfrm>
            <a:off x="64008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 soluzione la cerchiamo nella sessione 2.</a:t>
            </a:r>
            <a:endParaRPr lang="en-US" sz="1200" dirty="0"/>
          </a:p>
        </p:txBody>
      </p:sp>
      <p:sp>
        <p:nvSpPr>
          <p:cNvPr id="25" name="scheda Niente dati riservati"/>
          <p:cNvSpPr/>
          <p:nvPr/>
        </p:nvSpPr>
        <p:spPr>
          <a:xfrm>
            <a:off x="4663440" y="3383280"/>
            <a:ext cx="4023360" cy="1097280"/>
          </a:xfrm>
          <a:prstGeom prst="roundRect">
            <a:avLst>
              <a:gd name="adj" fmla="val 6667"/>
            </a:avLst>
          </a:prstGeom>
          <a:solidFill>
            <a:schemeClr val="accent6"/>
          </a:solidFill>
          <a:ln/>
        </p:spPr>
        <p:txBody>
          <a:bodyPr/>
          <a:lstStyle/>
          <a:p>
            <a:endParaRPr lang="it-IT"/>
          </a:p>
        </p:txBody>
      </p:sp>
      <p:sp>
        <p:nvSpPr>
          <p:cNvPr id="26" name="cerchio FiLock"/>
          <p:cNvSpPr/>
          <p:nvPr/>
        </p:nvSpPr>
        <p:spPr>
          <a:xfrm>
            <a:off x="4846320" y="3566160"/>
            <a:ext cx="457200" cy="457200"/>
          </a:xfrm>
          <a:prstGeom prst="ellipse">
            <a:avLst/>
          </a:prstGeom>
          <a:solidFill>
            <a:schemeClr val="accent1"/>
          </a:solidFill>
          <a:ln/>
        </p:spPr>
        <p:txBody>
          <a:bodyPr/>
          <a:lstStyle/>
          <a:p>
            <a:endParaRPr lang="it-IT"/>
          </a:p>
        </p:txBody>
      </p:sp>
      <p:pic>
        <p:nvPicPr>
          <p:cNvPr id="27" name="Image 1" descr="FiLock"/>
          <p:cNvPicPr>
            <a:picLocks noChangeAspect="1"/>
          </p:cNvPicPr>
          <p:nvPr/>
        </p:nvPicPr>
        <p:blipFill>
          <a:blip r:embed="rId4"/>
          <a:stretch>
            <a:fillRect/>
          </a:stretch>
        </p:blipFill>
        <p:spPr>
          <a:xfrm>
            <a:off x="4960620" y="3680460"/>
            <a:ext cx="228600" cy="228600"/>
          </a:xfrm>
          <a:prstGeom prst="rect">
            <a:avLst/>
          </a:prstGeom>
        </p:spPr>
      </p:pic>
      <p:sp>
        <p:nvSpPr>
          <p:cNvPr id="28" name="Text 23"/>
          <p:cNvSpPr txBox="1"/>
          <p:nvPr/>
        </p:nvSpPr>
        <p:spPr>
          <a:xfrm>
            <a:off x="544068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dati riservati</a:t>
            </a:r>
            <a:endParaRPr lang="en-US" sz="1400" dirty="0"/>
          </a:p>
        </p:txBody>
      </p:sp>
      <p:sp>
        <p:nvSpPr>
          <p:cNvPr id="29" name="Text 24"/>
          <p:cNvSpPr txBox="1"/>
          <p:nvPr/>
        </p:nvSpPr>
        <p:spPr>
          <a:xfrm>
            <a:off x="484632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L'attività, non il cliente o il caso specifico.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Mappa degli sprechi: un esempio</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18688"/>
        </p:xfrm>
        <a:graphic>
          <a:graphicData uri="http://schemas.openxmlformats.org/drawingml/2006/table">
            <a:tbl>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402336">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Spreco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Cercare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Dove abbiamo già risolto questo problema? In quale commessa?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Montaggio fermo per un'informazione dell'ufficio 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Ricopiare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Non conformità da email a foglio, poi al gestionale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Chiedere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La diagnosi dipende dal tecnico esperto al telefono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Rifare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Offerta rivista per un requisito del capitolato sfuggito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Correggere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Dati di commessa non allineati tra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chemeClr val="tx1"/>
                          </a:solidFill>
                        </a:rPr>
                        <a:t>Più reparti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Tradurre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Manuali, offerte, email per i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Esempio fittizio di un costruttore di macchine: quali sprechi riconoscete? Quali mancano?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Dagli sprechi alle opportunità</a:t>
            </a:r>
            <a:endParaRPr lang="en-US" sz="2600" dirty="0"/>
          </a:p>
        </p:txBody>
      </p:sp>
      <p:sp>
        <p:nvSpPr>
          <p:cNvPr id="6" name="blocco Spreco"/>
          <p:cNvSpPr/>
          <p:nvPr/>
        </p:nvSpPr>
        <p:spPr>
          <a:xfrm>
            <a:off x="457200" y="1024128"/>
            <a:ext cx="1965960" cy="365760"/>
          </a:xfrm>
          <a:prstGeom prst="roundRect">
            <a:avLst>
              <a:gd name="adj" fmla="val 30000"/>
            </a:avLst>
          </a:prstGeom>
          <a:solidFill>
            <a:schemeClr val="tx2"/>
          </a:solidFill>
          <a:ln/>
        </p:spPr>
        <p:txBody>
          <a:bodyPr/>
          <a:lstStyle/>
          <a:p>
            <a:endParaRPr lang="it-IT"/>
          </a:p>
        </p:txBody>
      </p:sp>
      <p:sp>
        <p:nvSpPr>
          <p:cNvPr id="7" name="Text 4"/>
          <p:cNvSpPr txBox="1"/>
          <p:nvPr/>
        </p:nvSpPr>
        <p:spPr>
          <a:xfrm>
            <a:off x="502920"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Spreco</a:t>
            </a:r>
            <a:endParaRPr lang="en-US" sz="1200" dirty="0"/>
          </a:p>
        </p:txBody>
      </p:sp>
      <p:sp>
        <p:nvSpPr>
          <p:cNvPr id="8" name="blocco Causa"/>
          <p:cNvSpPr/>
          <p:nvPr/>
        </p:nvSpPr>
        <p:spPr>
          <a:xfrm>
            <a:off x="2542032" y="1024128"/>
            <a:ext cx="1965960" cy="365760"/>
          </a:xfrm>
          <a:prstGeom prst="roundRect">
            <a:avLst>
              <a:gd name="adj" fmla="val 30000"/>
            </a:avLst>
          </a:prstGeom>
          <a:solidFill>
            <a:schemeClr val="tx2"/>
          </a:solidFill>
          <a:ln/>
        </p:spPr>
        <p:txBody>
          <a:bodyPr/>
          <a:lstStyle/>
          <a:p>
            <a:endParaRPr lang="it-IT"/>
          </a:p>
        </p:txBody>
      </p:sp>
      <p:sp>
        <p:nvSpPr>
          <p:cNvPr id="9" name="Text 6"/>
          <p:cNvSpPr txBox="1"/>
          <p:nvPr/>
        </p:nvSpPr>
        <p:spPr>
          <a:xfrm>
            <a:off x="2587752"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Causa</a:t>
            </a:r>
            <a:endParaRPr lang="en-US" sz="1200" dirty="0"/>
          </a:p>
        </p:txBody>
      </p:sp>
      <p:sp>
        <p:nvSpPr>
          <p:cNvPr id="10" name="blocco Soluzione"/>
          <p:cNvSpPr/>
          <p:nvPr/>
        </p:nvSpPr>
        <p:spPr>
          <a:xfrm>
            <a:off x="4626864" y="1024128"/>
            <a:ext cx="1965960" cy="365760"/>
          </a:xfrm>
          <a:prstGeom prst="roundRect">
            <a:avLst>
              <a:gd name="adj" fmla="val 30000"/>
            </a:avLst>
          </a:prstGeom>
          <a:solidFill>
            <a:schemeClr val="tx2"/>
          </a:solidFill>
          <a:ln/>
        </p:spPr>
        <p:txBody>
          <a:bodyPr/>
          <a:lstStyle/>
          <a:p>
            <a:endParaRPr lang="it-IT"/>
          </a:p>
        </p:txBody>
      </p:sp>
      <p:sp>
        <p:nvSpPr>
          <p:cNvPr id="11" name="Text 8"/>
          <p:cNvSpPr txBox="1"/>
          <p:nvPr/>
        </p:nvSpPr>
        <p:spPr>
          <a:xfrm>
            <a:off x="4672584"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Soluzione</a:t>
            </a:r>
            <a:endParaRPr lang="en-US" sz="1200" dirty="0"/>
          </a:p>
        </p:txBody>
      </p:sp>
      <p:sp>
        <p:nvSpPr>
          <p:cNvPr id="12" name="blocco Ruolo dell'AI"/>
          <p:cNvSpPr/>
          <p:nvPr/>
        </p:nvSpPr>
        <p:spPr>
          <a:xfrm>
            <a:off x="6711696" y="1024128"/>
            <a:ext cx="1965960" cy="365760"/>
          </a:xfrm>
          <a:prstGeom prst="roundRect">
            <a:avLst>
              <a:gd name="adj" fmla="val 30000"/>
            </a:avLst>
          </a:prstGeom>
          <a:solidFill>
            <a:schemeClr val="accent1"/>
          </a:solidFill>
          <a:ln/>
        </p:spPr>
        <p:txBody>
          <a:bodyPr/>
          <a:lstStyle/>
          <a:p>
            <a:endParaRPr lang="it-IT"/>
          </a:p>
        </p:txBody>
      </p:sp>
      <p:sp>
        <p:nvSpPr>
          <p:cNvPr id="13" name="Text 10"/>
          <p:cNvSpPr txBox="1"/>
          <p:nvPr/>
        </p:nvSpPr>
        <p:spPr>
          <a:xfrm>
            <a:off x="6757416"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Ruolo dell'AI</a:t>
            </a:r>
            <a:endParaRPr lang="en-US" sz="1200" dirty="0"/>
          </a:p>
        </p:txBody>
      </p:sp>
      <p:sp>
        <p:nvSpPr>
          <p:cNvPr id="14" name="cella"/>
          <p:cNvSpPr/>
          <p:nvPr/>
        </p:nvSpPr>
        <p:spPr>
          <a:xfrm>
            <a:off x="457200" y="1481328"/>
            <a:ext cx="1965960" cy="777240"/>
          </a:xfrm>
          <a:prstGeom prst="roundRect">
            <a:avLst>
              <a:gd name="adj" fmla="val 9412"/>
            </a:avLst>
          </a:prstGeom>
          <a:solidFill>
            <a:schemeClr val="bg2"/>
          </a:solidFill>
          <a:ln/>
        </p:spPr>
        <p:txBody>
          <a:bodyPr/>
          <a:lstStyle/>
          <a:p>
            <a:endParaRPr lang="it-IT"/>
          </a:p>
        </p:txBody>
      </p:sp>
      <p:sp>
        <p:nvSpPr>
          <p:cNvPr id="15" name="Text 12"/>
          <p:cNvSpPr txBox="1"/>
          <p:nvPr/>
        </p:nvSpPr>
        <p:spPr>
          <a:xfrm>
            <a:off x="566928" y="148132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Cercare soluzioni già trovate</a:t>
            </a:r>
            <a:endParaRPr lang="en-US" sz="1150" dirty="0"/>
          </a:p>
        </p:txBody>
      </p:sp>
      <p:sp>
        <p:nvSpPr>
          <p:cNvPr id="16" name="cella"/>
          <p:cNvSpPr/>
          <p:nvPr/>
        </p:nvSpPr>
        <p:spPr>
          <a:xfrm>
            <a:off x="2542032" y="1481328"/>
            <a:ext cx="1965960" cy="777240"/>
          </a:xfrm>
          <a:prstGeom prst="roundRect">
            <a:avLst>
              <a:gd name="adj" fmla="val 9412"/>
            </a:avLst>
          </a:prstGeom>
          <a:solidFill>
            <a:schemeClr val="bg2"/>
          </a:solidFill>
          <a:ln/>
        </p:spPr>
        <p:txBody>
          <a:bodyPr/>
          <a:lstStyle/>
          <a:p>
            <a:endParaRPr lang="it-IT"/>
          </a:p>
        </p:txBody>
      </p:sp>
      <p:sp>
        <p:nvSpPr>
          <p:cNvPr id="17" name="Text 14"/>
          <p:cNvSpPr txBox="1"/>
          <p:nvPr/>
        </p:nvSpPr>
        <p:spPr>
          <a:xfrm>
            <a:off x="2651760"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Conoscenza sparsa tra commesse, email, persone</a:t>
            </a:r>
            <a:endParaRPr lang="en-US" sz="1150" dirty="0"/>
          </a:p>
        </p:txBody>
      </p:sp>
      <p:sp>
        <p:nvSpPr>
          <p:cNvPr id="18" name="cella"/>
          <p:cNvSpPr/>
          <p:nvPr/>
        </p:nvSpPr>
        <p:spPr>
          <a:xfrm>
            <a:off x="4626864" y="1481328"/>
            <a:ext cx="1965960" cy="777240"/>
          </a:xfrm>
          <a:prstGeom prst="roundRect">
            <a:avLst>
              <a:gd name="adj" fmla="val 9412"/>
            </a:avLst>
          </a:prstGeom>
          <a:solidFill>
            <a:schemeClr val="bg2"/>
          </a:solidFill>
          <a:ln/>
        </p:spPr>
        <p:txBody>
          <a:bodyPr/>
          <a:lstStyle/>
          <a:p>
            <a:endParaRPr lang="it-IT"/>
          </a:p>
        </p:txBody>
      </p:sp>
      <p:sp>
        <p:nvSpPr>
          <p:cNvPr id="19" name="Text 16"/>
          <p:cNvSpPr txBox="1"/>
          <p:nvPr/>
        </p:nvSpPr>
        <p:spPr>
          <a:xfrm>
            <a:off x="4736592"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Archivio ordinato + assistente che cita i documenti</a:t>
            </a:r>
            <a:endParaRPr lang="en-US" sz="1150" dirty="0"/>
          </a:p>
        </p:txBody>
      </p:sp>
      <p:sp>
        <p:nvSpPr>
          <p:cNvPr id="20" name="cella"/>
          <p:cNvSpPr/>
          <p:nvPr/>
        </p:nvSpPr>
        <p:spPr>
          <a:xfrm>
            <a:off x="6711696" y="1481328"/>
            <a:ext cx="1965960" cy="777240"/>
          </a:xfrm>
          <a:prstGeom prst="roundRect">
            <a:avLst>
              <a:gd name="adj" fmla="val 9412"/>
            </a:avLst>
          </a:prstGeom>
          <a:solidFill>
            <a:schemeClr val="accent6"/>
          </a:solidFill>
          <a:ln/>
        </p:spPr>
        <p:txBody>
          <a:bodyPr/>
          <a:lstStyle/>
          <a:p>
            <a:endParaRPr lang="it-IT"/>
          </a:p>
        </p:txBody>
      </p:sp>
      <p:sp>
        <p:nvSpPr>
          <p:cNvPr id="21" name="Text 18"/>
          <p:cNvSpPr txBox="1"/>
          <p:nvPr/>
        </p:nvSpPr>
        <p:spPr>
          <a:xfrm>
            <a:off x="6821424"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dopo aver messo ordine</a:t>
            </a:r>
            <a:endParaRPr lang="en-US" sz="1150" dirty="0"/>
          </a:p>
        </p:txBody>
      </p:sp>
      <p:sp>
        <p:nvSpPr>
          <p:cNvPr id="22" name="cella"/>
          <p:cNvSpPr/>
          <p:nvPr/>
        </p:nvSpPr>
        <p:spPr>
          <a:xfrm>
            <a:off x="457200" y="2350008"/>
            <a:ext cx="1965960" cy="777240"/>
          </a:xfrm>
          <a:prstGeom prst="roundRect">
            <a:avLst>
              <a:gd name="adj" fmla="val 9412"/>
            </a:avLst>
          </a:prstGeom>
          <a:solidFill>
            <a:schemeClr val="bg2"/>
          </a:solidFill>
          <a:ln/>
        </p:spPr>
        <p:txBody>
          <a:bodyPr/>
          <a:lstStyle/>
          <a:p>
            <a:endParaRPr lang="it-IT"/>
          </a:p>
        </p:txBody>
      </p:sp>
      <p:sp>
        <p:nvSpPr>
          <p:cNvPr id="23" name="Text 20"/>
          <p:cNvSpPr txBox="1"/>
          <p:nvPr/>
        </p:nvSpPr>
        <p:spPr>
          <a:xfrm>
            <a:off x="566928" y="235000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Ricopiare tra sistemi</a:t>
            </a:r>
            <a:endParaRPr lang="en-US" sz="1150" dirty="0"/>
          </a:p>
        </p:txBody>
      </p:sp>
      <p:sp>
        <p:nvSpPr>
          <p:cNvPr id="24" name="cella"/>
          <p:cNvSpPr/>
          <p:nvPr/>
        </p:nvSpPr>
        <p:spPr>
          <a:xfrm>
            <a:off x="2542032" y="2350008"/>
            <a:ext cx="1965960" cy="777240"/>
          </a:xfrm>
          <a:prstGeom prst="roundRect">
            <a:avLst>
              <a:gd name="adj" fmla="val 9412"/>
            </a:avLst>
          </a:prstGeom>
          <a:solidFill>
            <a:schemeClr val="bg2"/>
          </a:solidFill>
          <a:ln/>
        </p:spPr>
        <p:txBody>
          <a:bodyPr/>
          <a:lstStyle/>
          <a:p>
            <a:endParaRPr lang="it-IT"/>
          </a:p>
        </p:txBody>
      </p:sp>
      <p:sp>
        <p:nvSpPr>
          <p:cNvPr id="25" name="Text 22"/>
          <p:cNvSpPr txBox="1"/>
          <p:nvPr/>
        </p:nvSpPr>
        <p:spPr>
          <a:xfrm>
            <a:off x="2651760"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I sistemi non si parlano</a:t>
            </a:r>
            <a:endParaRPr lang="en-US" sz="1150" dirty="0"/>
          </a:p>
        </p:txBody>
      </p:sp>
      <p:sp>
        <p:nvSpPr>
          <p:cNvPr id="26" name="cella"/>
          <p:cNvSpPr/>
          <p:nvPr/>
        </p:nvSpPr>
        <p:spPr>
          <a:xfrm>
            <a:off x="4626864" y="2350008"/>
            <a:ext cx="1965960" cy="777240"/>
          </a:xfrm>
          <a:prstGeom prst="roundRect">
            <a:avLst>
              <a:gd name="adj" fmla="val 9412"/>
            </a:avLst>
          </a:prstGeom>
          <a:solidFill>
            <a:schemeClr val="bg2"/>
          </a:solidFill>
          <a:ln/>
        </p:spPr>
        <p:txBody>
          <a:bodyPr/>
          <a:lstStyle/>
          <a:p>
            <a:endParaRPr lang="it-IT"/>
          </a:p>
        </p:txBody>
      </p:sp>
      <p:sp>
        <p:nvSpPr>
          <p:cNvPr id="27" name="Text 24"/>
          <p:cNvSpPr txBox="1"/>
          <p:nvPr/>
        </p:nvSpPr>
        <p:spPr>
          <a:xfrm>
            <a:off x="4736592"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Modulo strutturato o integrazione</a:t>
            </a:r>
            <a:endParaRPr lang="en-US" sz="1150" dirty="0"/>
          </a:p>
        </p:txBody>
      </p:sp>
      <p:sp>
        <p:nvSpPr>
          <p:cNvPr id="28" name="cella"/>
          <p:cNvSpPr/>
          <p:nvPr/>
        </p:nvSpPr>
        <p:spPr>
          <a:xfrm>
            <a:off x="6711696" y="2350008"/>
            <a:ext cx="1965960" cy="777240"/>
          </a:xfrm>
          <a:prstGeom prst="roundRect">
            <a:avLst>
              <a:gd name="adj" fmla="val 9412"/>
            </a:avLst>
          </a:prstGeom>
          <a:solidFill>
            <a:schemeClr val="accent6"/>
          </a:solidFill>
          <a:ln/>
        </p:spPr>
        <p:txBody>
          <a:bodyPr/>
          <a:lstStyle/>
          <a:p>
            <a:endParaRPr lang="it-IT"/>
          </a:p>
        </p:txBody>
      </p:sp>
      <p:sp>
        <p:nvSpPr>
          <p:cNvPr id="29" name="Text 26"/>
          <p:cNvSpPr txBox="1"/>
          <p:nvPr/>
        </p:nvSpPr>
        <p:spPr>
          <a:xfrm>
            <a:off x="6821424"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Spesso senza AI</a:t>
            </a:r>
            <a:endParaRPr lang="en-US" sz="1150" dirty="0"/>
          </a:p>
        </p:txBody>
      </p:sp>
      <p:sp>
        <p:nvSpPr>
          <p:cNvPr id="30" name="cella"/>
          <p:cNvSpPr/>
          <p:nvPr/>
        </p:nvSpPr>
        <p:spPr>
          <a:xfrm>
            <a:off x="457200" y="3218688"/>
            <a:ext cx="1965960" cy="777240"/>
          </a:xfrm>
          <a:prstGeom prst="roundRect">
            <a:avLst>
              <a:gd name="adj" fmla="val 9412"/>
            </a:avLst>
          </a:prstGeom>
          <a:solidFill>
            <a:schemeClr val="bg2"/>
          </a:solidFill>
          <a:ln/>
        </p:spPr>
        <p:txBody>
          <a:bodyPr/>
          <a:lstStyle/>
          <a:p>
            <a:endParaRPr lang="it-IT"/>
          </a:p>
        </p:txBody>
      </p:sp>
      <p:sp>
        <p:nvSpPr>
          <p:cNvPr id="31" name="Text 28"/>
          <p:cNvSpPr txBox="1"/>
          <p:nvPr/>
        </p:nvSpPr>
        <p:spPr>
          <a:xfrm>
            <a:off x="566928" y="321868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Rifare offerte</a:t>
            </a:r>
            <a:endParaRPr lang="en-US" sz="1150" dirty="0"/>
          </a:p>
        </p:txBody>
      </p:sp>
      <p:sp>
        <p:nvSpPr>
          <p:cNvPr id="32" name="cella"/>
          <p:cNvSpPr/>
          <p:nvPr/>
        </p:nvSpPr>
        <p:spPr>
          <a:xfrm>
            <a:off x="2542032" y="3218688"/>
            <a:ext cx="1965960" cy="777240"/>
          </a:xfrm>
          <a:prstGeom prst="roundRect">
            <a:avLst>
              <a:gd name="adj" fmla="val 9412"/>
            </a:avLst>
          </a:prstGeom>
          <a:solidFill>
            <a:schemeClr val="bg2"/>
          </a:solidFill>
          <a:ln/>
        </p:spPr>
        <p:txBody>
          <a:bodyPr/>
          <a:lstStyle/>
          <a:p>
            <a:endParaRPr lang="it-IT"/>
          </a:p>
        </p:txBody>
      </p:sp>
      <p:sp>
        <p:nvSpPr>
          <p:cNvPr id="33" name="Text 30"/>
          <p:cNvSpPr txBox="1"/>
          <p:nvPr/>
        </p:nvSpPr>
        <p:spPr>
          <a:xfrm>
            <a:off x="2651760"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Capitolati lunghi e diversi</a:t>
            </a:r>
            <a:endParaRPr lang="en-US" sz="1150" dirty="0"/>
          </a:p>
        </p:txBody>
      </p:sp>
      <p:sp>
        <p:nvSpPr>
          <p:cNvPr id="34" name="cella"/>
          <p:cNvSpPr/>
          <p:nvPr/>
        </p:nvSpPr>
        <p:spPr>
          <a:xfrm>
            <a:off x="4626864" y="3218688"/>
            <a:ext cx="1965960" cy="777240"/>
          </a:xfrm>
          <a:prstGeom prst="roundRect">
            <a:avLst>
              <a:gd name="adj" fmla="val 9412"/>
            </a:avLst>
          </a:prstGeom>
          <a:solidFill>
            <a:schemeClr val="bg2"/>
          </a:solidFill>
          <a:ln/>
        </p:spPr>
        <p:txBody>
          <a:bodyPr/>
          <a:lstStyle/>
          <a:p>
            <a:endParaRPr lang="it-IT"/>
          </a:p>
        </p:txBody>
      </p:sp>
      <p:sp>
        <p:nvSpPr>
          <p:cNvPr id="35" name="Text 32"/>
          <p:cNvSpPr txBox="1"/>
          <p:nvPr/>
        </p:nvSpPr>
        <p:spPr>
          <a:xfrm>
            <a:off x="4736592"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Scheda requisiti + AI che estrae e segnala le lacune</a:t>
            </a:r>
            <a:endParaRPr lang="en-US" sz="1150" dirty="0"/>
          </a:p>
        </p:txBody>
      </p:sp>
      <p:sp>
        <p:nvSpPr>
          <p:cNvPr id="36" name="cella"/>
          <p:cNvSpPr/>
          <p:nvPr/>
        </p:nvSpPr>
        <p:spPr>
          <a:xfrm>
            <a:off x="6711696" y="3218688"/>
            <a:ext cx="1965960" cy="777240"/>
          </a:xfrm>
          <a:prstGeom prst="roundRect">
            <a:avLst>
              <a:gd name="adj" fmla="val 9412"/>
            </a:avLst>
          </a:prstGeom>
          <a:solidFill>
            <a:schemeClr val="accent6"/>
          </a:solidFill>
          <a:ln/>
        </p:spPr>
        <p:txBody>
          <a:bodyPr/>
          <a:lstStyle/>
          <a:p>
            <a:endParaRPr lang="it-IT"/>
          </a:p>
        </p:txBody>
      </p:sp>
      <p:sp>
        <p:nvSpPr>
          <p:cNvPr id="37" name="Text 34"/>
          <p:cNvSpPr txBox="1"/>
          <p:nvPr/>
        </p:nvSpPr>
        <p:spPr>
          <a:xfrm>
            <a:off x="6821424"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la decisione resta al commerciale</a:t>
            </a:r>
            <a:endParaRPr lang="en-US" sz="1150" dirty="0"/>
          </a:p>
        </p:txBody>
      </p:sp>
      <p:sp>
        <p:nvSpPr>
          <p:cNvPr id="38" name="messaggio"/>
          <p:cNvSpPr/>
          <p:nvPr/>
        </p:nvSpPr>
        <p:spPr>
          <a:xfrm>
            <a:off x="457200" y="4114800"/>
            <a:ext cx="8229600" cy="411480"/>
          </a:xfrm>
          <a:prstGeom prst="roundRect">
            <a:avLst>
              <a:gd name="adj" fmla="val 17778"/>
            </a:avLst>
          </a:prstGeom>
          <a:solidFill>
            <a:schemeClr val="tx1"/>
          </a:solidFill>
          <a:ln/>
        </p:spPr>
        <p:txBody>
          <a:bodyPr/>
          <a:lstStyle/>
          <a:p>
            <a:endParaRPr lang="it-IT"/>
          </a:p>
        </p:txBody>
      </p:sp>
      <p:sp>
        <p:nvSpPr>
          <p:cNvPr id="39" name="Text 36"/>
          <p:cNvSpPr txBox="1"/>
          <p:nvPr/>
        </p:nvSpPr>
        <p:spPr>
          <a:xfrm>
            <a:off x="640080" y="4114800"/>
            <a:ext cx="7863840" cy="411480"/>
          </a:xfrm>
          <a:prstGeom prst="rect">
            <a:avLst/>
          </a:prstGeom>
          <a:noFill/>
          <a:ln/>
        </p:spPr>
        <p:txBody>
          <a:bodyPr wrap="square" lIns="0" tIns="0" rIns="0" bIns="0" rtlCol="0" anchor="ctr"/>
          <a:lstStyle/>
          <a:p>
            <a:pPr marL="0" indent="0">
              <a:buNone/>
            </a:pPr>
            <a:r>
              <a:rPr lang="en-US" sz="1300" dirty="0">
                <a:solidFill>
                  <a:schemeClr val="bg1"/>
                </a:solidFill>
              </a:rPr>
              <a:t>Prima il problema, poi lo strumento.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E94AF-89C8-9E3C-256D-D26E6E2EE9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8C2FA3-587A-30F4-E288-B6186F11EA3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456E560-D639-8863-55D4-0B102EFD8B83}"/>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Brainstorming </a:t>
            </a:r>
            <a:r>
              <a:rPr lang="en-US" sz="3600" b="1" dirty="0" err="1">
                <a:solidFill>
                  <a:schemeClr val="bg1"/>
                </a:solidFill>
              </a:rPr>
              <a:t>Guidato</a:t>
            </a:r>
            <a:endParaRPr lang="en-US" sz="3600" dirty="0"/>
          </a:p>
        </p:txBody>
      </p:sp>
      <p:sp>
        <p:nvSpPr>
          <p:cNvPr id="4" name="Text 0">
            <a:extLst>
              <a:ext uri="{FF2B5EF4-FFF2-40B4-BE49-F238E27FC236}">
                <a16:creationId xmlns:a16="http://schemas.microsoft.com/office/drawing/2014/main" id="{7E10C743-2E11-0D16-D17D-16F6237DD8F0}"/>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Brainstorming– </a:t>
            </a:r>
            <a:r>
              <a:rPr lang="en-US" dirty="0" err="1"/>
              <a:t>Giornata</a:t>
            </a:r>
            <a:r>
              <a:rPr lang="en-US" dirty="0"/>
              <a:t> 1</a:t>
            </a:r>
            <a:endParaRPr lang="en-US" sz="1600" dirty="0"/>
          </a:p>
        </p:txBody>
      </p:sp>
    </p:spTree>
    <p:extLst>
      <p:ext uri="{BB962C8B-B14F-4D97-AF65-F5344CB8AC3E}">
        <p14:creationId xmlns:p14="http://schemas.microsoft.com/office/powerpoint/2010/main" val="424460395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provare prima della prossima sessione</a:t>
            </a:r>
            <a:endParaRPr lang="en-US" sz="2600" dirty="0"/>
          </a:p>
        </p:txBody>
      </p:sp>
      <p:sp>
        <p:nvSpPr>
          <p:cNvPr id="6" name="passo Scegliete"/>
          <p:cNvSpPr/>
          <p:nvPr/>
        </p:nvSpPr>
        <p:spPr>
          <a:xfrm>
            <a:off x="457200" y="1097280"/>
            <a:ext cx="1965960" cy="1920240"/>
          </a:xfrm>
          <a:prstGeom prst="roundRect">
            <a:avLst>
              <a:gd name="adj" fmla="val 3810"/>
            </a:avLst>
          </a:prstGeom>
          <a:solidFill>
            <a:schemeClr val="bg2"/>
          </a:solidFill>
          <a:ln/>
        </p:spPr>
        <p:txBody>
          <a:bodyPr/>
          <a:lstStyle/>
          <a:p>
            <a:endParaRPr lang="it-IT"/>
          </a:p>
        </p:txBody>
      </p:sp>
      <p:sp>
        <p:nvSpPr>
          <p:cNvPr id="7" name="cerchio FiTarget"/>
          <p:cNvSpPr/>
          <p:nvPr/>
        </p:nvSpPr>
        <p:spPr>
          <a:xfrm>
            <a:off x="640080" y="1234440"/>
            <a:ext cx="502920" cy="502920"/>
          </a:xfrm>
          <a:prstGeom prst="ellipse">
            <a:avLst/>
          </a:prstGeom>
          <a:solidFill>
            <a:schemeClr val="accent1"/>
          </a:solidFill>
          <a:ln/>
        </p:spPr>
        <p:txBody>
          <a:bodyPr/>
          <a:lstStyle/>
          <a:p>
            <a:endParaRPr lang="it-IT"/>
          </a:p>
        </p:txBody>
      </p:sp>
      <p:pic>
        <p:nvPicPr>
          <p:cNvPr id="8" name="Image 0" descr="FiTarget"/>
          <p:cNvPicPr>
            <a:picLocks noChangeAspect="1"/>
          </p:cNvPicPr>
          <p:nvPr/>
        </p:nvPicPr>
        <p:blipFill>
          <a:blip r:embed="rId3"/>
          <a:stretch>
            <a:fillRect/>
          </a:stretch>
        </p:blipFill>
        <p:spPr>
          <a:xfrm>
            <a:off x="765810" y="1360170"/>
            <a:ext cx="251460" cy="251460"/>
          </a:xfrm>
          <a:prstGeom prst="rect">
            <a:avLst/>
          </a:prstGeom>
        </p:spPr>
      </p:pic>
      <p:sp>
        <p:nvSpPr>
          <p:cNvPr id="9" name="Text 5"/>
          <p:cNvSpPr txBox="1"/>
          <p:nvPr/>
        </p:nvSpPr>
        <p:spPr>
          <a:xfrm>
            <a:off x="640080"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Scegliete</a:t>
            </a:r>
            <a:endParaRPr lang="en-US" sz="1500" dirty="0"/>
          </a:p>
        </p:txBody>
      </p:sp>
      <p:sp>
        <p:nvSpPr>
          <p:cNvPr id="10" name="Text 6"/>
          <p:cNvSpPr txBox="1"/>
          <p:nvPr/>
        </p:nvSpPr>
        <p:spPr>
          <a:xfrm>
            <a:off x="640080"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Un'attività reale e non riservata</a:t>
            </a:r>
            <a:endParaRPr lang="en-US" sz="1250" dirty="0"/>
          </a:p>
        </p:txBody>
      </p:sp>
      <p:sp>
        <p:nvSpPr>
          <p:cNvPr id="11" name="passo Provate"/>
          <p:cNvSpPr/>
          <p:nvPr/>
        </p:nvSpPr>
        <p:spPr>
          <a:xfrm>
            <a:off x="2542032" y="1097280"/>
            <a:ext cx="1965960" cy="1920240"/>
          </a:xfrm>
          <a:prstGeom prst="roundRect">
            <a:avLst>
              <a:gd name="adj" fmla="val 3810"/>
            </a:avLst>
          </a:prstGeom>
          <a:solidFill>
            <a:schemeClr val="bg2"/>
          </a:solidFill>
          <a:ln/>
        </p:spPr>
        <p:txBody>
          <a:bodyPr/>
          <a:lstStyle/>
          <a:p>
            <a:endParaRPr lang="it-IT"/>
          </a:p>
        </p:txBody>
      </p:sp>
      <p:sp>
        <p:nvSpPr>
          <p:cNvPr id="12" name="cerchio FiPlay"/>
          <p:cNvSpPr/>
          <p:nvPr/>
        </p:nvSpPr>
        <p:spPr>
          <a:xfrm>
            <a:off x="2724912" y="1234440"/>
            <a:ext cx="502920" cy="502920"/>
          </a:xfrm>
          <a:prstGeom prst="ellipse">
            <a:avLst/>
          </a:prstGeom>
          <a:solidFill>
            <a:schemeClr val="accent1"/>
          </a:solidFill>
          <a:ln/>
        </p:spPr>
        <p:txBody>
          <a:bodyPr/>
          <a:lstStyle/>
          <a:p>
            <a:endParaRPr lang="it-IT"/>
          </a:p>
        </p:txBody>
      </p:sp>
      <p:pic>
        <p:nvPicPr>
          <p:cNvPr id="13" name="Image 1" descr="FiPlay"/>
          <p:cNvPicPr>
            <a:picLocks noChangeAspect="1"/>
          </p:cNvPicPr>
          <p:nvPr/>
        </p:nvPicPr>
        <p:blipFill>
          <a:blip r:embed="rId4"/>
          <a:stretch>
            <a:fillRect/>
          </a:stretch>
        </p:blipFill>
        <p:spPr>
          <a:xfrm>
            <a:off x="2850642" y="1360170"/>
            <a:ext cx="251460" cy="251460"/>
          </a:xfrm>
          <a:prstGeom prst="rect">
            <a:avLst/>
          </a:prstGeom>
        </p:spPr>
      </p:pic>
      <p:sp>
        <p:nvSpPr>
          <p:cNvPr id="14" name="Text 9"/>
          <p:cNvSpPr txBox="1"/>
          <p:nvPr/>
        </p:nvSpPr>
        <p:spPr>
          <a:xfrm>
            <a:off x="2724912"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Provate</a:t>
            </a:r>
            <a:endParaRPr lang="en-US" sz="1500" dirty="0"/>
          </a:p>
        </p:txBody>
      </p:sp>
      <p:sp>
        <p:nvSpPr>
          <p:cNvPr id="15" name="Text 10"/>
          <p:cNvSpPr txBox="1"/>
          <p:nvPr/>
        </p:nvSpPr>
        <p:spPr>
          <a:xfrm>
            <a:off x="2724912"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Con Copilot, lo strumento autorizzato</a:t>
            </a:r>
            <a:endParaRPr lang="en-US" sz="1250" dirty="0"/>
          </a:p>
        </p:txBody>
      </p:sp>
      <p:sp>
        <p:nvSpPr>
          <p:cNvPr id="16" name="passo Annotate"/>
          <p:cNvSpPr/>
          <p:nvPr/>
        </p:nvSpPr>
        <p:spPr>
          <a:xfrm>
            <a:off x="4626864" y="1097280"/>
            <a:ext cx="1965960" cy="1920240"/>
          </a:xfrm>
          <a:prstGeom prst="roundRect">
            <a:avLst>
              <a:gd name="adj" fmla="val 3810"/>
            </a:avLst>
          </a:prstGeom>
          <a:solidFill>
            <a:schemeClr val="bg2"/>
          </a:solidFill>
          <a:ln/>
        </p:spPr>
        <p:txBody>
          <a:bodyPr/>
          <a:lstStyle/>
          <a:p>
            <a:endParaRPr lang="it-IT"/>
          </a:p>
        </p:txBody>
      </p:sp>
      <p:sp>
        <p:nvSpPr>
          <p:cNvPr id="17" name="cerchio FiClipboard"/>
          <p:cNvSpPr/>
          <p:nvPr/>
        </p:nvSpPr>
        <p:spPr>
          <a:xfrm>
            <a:off x="4809744" y="1234440"/>
            <a:ext cx="502920" cy="502920"/>
          </a:xfrm>
          <a:prstGeom prst="ellipse">
            <a:avLst/>
          </a:prstGeom>
          <a:solidFill>
            <a:schemeClr val="accent1"/>
          </a:solidFill>
          <a:ln/>
        </p:spPr>
        <p:txBody>
          <a:bodyPr/>
          <a:lstStyle/>
          <a:p>
            <a:endParaRPr lang="it-IT"/>
          </a:p>
        </p:txBody>
      </p:sp>
      <p:pic>
        <p:nvPicPr>
          <p:cNvPr id="18" name="Image 2" descr="FiClipboard"/>
          <p:cNvPicPr>
            <a:picLocks noChangeAspect="1"/>
          </p:cNvPicPr>
          <p:nvPr/>
        </p:nvPicPr>
        <p:blipFill>
          <a:blip r:embed="rId5"/>
          <a:stretch>
            <a:fillRect/>
          </a:stretch>
        </p:blipFill>
        <p:spPr>
          <a:xfrm>
            <a:off x="4935474" y="1360170"/>
            <a:ext cx="251460" cy="251460"/>
          </a:xfrm>
          <a:prstGeom prst="rect">
            <a:avLst/>
          </a:prstGeom>
        </p:spPr>
      </p:pic>
      <p:sp>
        <p:nvSpPr>
          <p:cNvPr id="19" name="Text 13"/>
          <p:cNvSpPr txBox="1"/>
          <p:nvPr/>
        </p:nvSpPr>
        <p:spPr>
          <a:xfrm>
            <a:off x="4809744"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Annotate</a:t>
            </a:r>
            <a:endParaRPr lang="en-US" sz="1500" dirty="0"/>
          </a:p>
        </p:txBody>
      </p:sp>
      <p:sp>
        <p:nvSpPr>
          <p:cNvPr id="20" name="Text 14"/>
          <p:cNvSpPr txBox="1"/>
          <p:nvPr/>
        </p:nvSpPr>
        <p:spPr>
          <a:xfrm>
            <a:off x="4809744"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Richiesta, risultato, errori, tempo</a:t>
            </a:r>
            <a:endParaRPr lang="en-US" sz="1250" dirty="0"/>
          </a:p>
        </p:txBody>
      </p:sp>
      <p:sp>
        <p:nvSpPr>
          <p:cNvPr id="21" name="passo Raccontate"/>
          <p:cNvSpPr/>
          <p:nvPr/>
        </p:nvSpPr>
        <p:spPr>
          <a:xfrm>
            <a:off x="6711696" y="1097280"/>
            <a:ext cx="1965960" cy="1920240"/>
          </a:xfrm>
          <a:prstGeom prst="roundRect">
            <a:avLst>
              <a:gd name="adj" fmla="val 3810"/>
            </a:avLst>
          </a:prstGeom>
          <a:solidFill>
            <a:schemeClr val="bg2"/>
          </a:solidFill>
          <a:ln/>
        </p:spPr>
        <p:txBody>
          <a:bodyPr/>
          <a:lstStyle/>
          <a:p>
            <a:endParaRPr lang="it-IT"/>
          </a:p>
        </p:txBody>
      </p:sp>
      <p:sp>
        <p:nvSpPr>
          <p:cNvPr id="22" name="cerchio FiMessageSquare"/>
          <p:cNvSpPr/>
          <p:nvPr/>
        </p:nvSpPr>
        <p:spPr>
          <a:xfrm>
            <a:off x="6894576" y="1234440"/>
            <a:ext cx="502920" cy="502920"/>
          </a:xfrm>
          <a:prstGeom prst="ellipse">
            <a:avLst/>
          </a:prstGeom>
          <a:solidFill>
            <a:schemeClr val="accent1"/>
          </a:solidFill>
          <a:ln/>
        </p:spPr>
        <p:txBody>
          <a:bodyPr/>
          <a:lstStyle/>
          <a:p>
            <a:endParaRPr lang="it-IT"/>
          </a:p>
        </p:txBody>
      </p:sp>
      <p:pic>
        <p:nvPicPr>
          <p:cNvPr id="23" name="Image 3" descr="FiMessageSquare"/>
          <p:cNvPicPr>
            <a:picLocks noChangeAspect="1"/>
          </p:cNvPicPr>
          <p:nvPr/>
        </p:nvPicPr>
        <p:blipFill>
          <a:blip r:embed="rId6"/>
          <a:stretch>
            <a:fillRect/>
          </a:stretch>
        </p:blipFill>
        <p:spPr>
          <a:xfrm>
            <a:off x="7020306" y="1360170"/>
            <a:ext cx="251460" cy="251460"/>
          </a:xfrm>
          <a:prstGeom prst="rect">
            <a:avLst/>
          </a:prstGeom>
        </p:spPr>
      </p:pic>
      <p:sp>
        <p:nvSpPr>
          <p:cNvPr id="24" name="Text 17"/>
          <p:cNvSpPr txBox="1"/>
          <p:nvPr/>
        </p:nvSpPr>
        <p:spPr>
          <a:xfrm>
            <a:off x="6894576"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Raccontate</a:t>
            </a:r>
            <a:endParaRPr lang="en-US" sz="1500" dirty="0"/>
          </a:p>
        </p:txBody>
      </p:sp>
      <p:sp>
        <p:nvSpPr>
          <p:cNvPr id="25" name="Text 18"/>
          <p:cNvSpPr txBox="1"/>
          <p:nvPr/>
        </p:nvSpPr>
        <p:spPr>
          <a:xfrm>
            <a:off x="6894576"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All'inizio della sessione 2</a:t>
            </a:r>
            <a:endParaRPr lang="en-US" sz="1250" dirty="0"/>
          </a:p>
        </p:txBody>
      </p:sp>
      <p:sp>
        <p:nvSpPr>
          <p:cNvPr id="26" name="scheda Le regole di oggi"/>
          <p:cNvSpPr/>
          <p:nvPr/>
        </p:nvSpPr>
        <p:spPr>
          <a:xfrm>
            <a:off x="457200" y="3200400"/>
            <a:ext cx="8229600" cy="1234440"/>
          </a:xfrm>
          <a:prstGeom prst="roundRect">
            <a:avLst>
              <a:gd name="adj" fmla="val 5926"/>
            </a:avLst>
          </a:prstGeom>
          <a:solidFill>
            <a:schemeClr val="accent6"/>
          </a:solidFill>
          <a:ln/>
        </p:spPr>
        <p:txBody>
          <a:bodyPr/>
          <a:lstStyle/>
          <a:p>
            <a:endParaRPr lang="it-IT"/>
          </a:p>
        </p:txBody>
      </p:sp>
      <p:sp>
        <p:nvSpPr>
          <p:cNvPr id="27" name="cerchio FiShield"/>
          <p:cNvSpPr/>
          <p:nvPr/>
        </p:nvSpPr>
        <p:spPr>
          <a:xfrm>
            <a:off x="640080" y="3383280"/>
            <a:ext cx="457200" cy="457200"/>
          </a:xfrm>
          <a:prstGeom prst="ellipse">
            <a:avLst/>
          </a:prstGeom>
          <a:solidFill>
            <a:schemeClr val="accent1"/>
          </a:solidFill>
          <a:ln/>
        </p:spPr>
        <p:txBody>
          <a:bodyPr/>
          <a:lstStyle/>
          <a:p>
            <a:endParaRPr lang="it-IT"/>
          </a:p>
        </p:txBody>
      </p:sp>
      <p:pic>
        <p:nvPicPr>
          <p:cNvPr id="28" name="Image 4" descr="FiShield"/>
          <p:cNvPicPr>
            <a:picLocks noChangeAspect="1"/>
          </p:cNvPicPr>
          <p:nvPr/>
        </p:nvPicPr>
        <p:blipFill>
          <a:blip r:embed="rId7"/>
          <a:stretch>
            <a:fillRect/>
          </a:stretch>
        </p:blipFill>
        <p:spPr>
          <a:xfrm>
            <a:off x="754380" y="3497580"/>
            <a:ext cx="228600" cy="228600"/>
          </a:xfrm>
          <a:prstGeom prst="rect">
            <a:avLst/>
          </a:prstGeom>
        </p:spPr>
      </p:pic>
      <p:sp>
        <p:nvSpPr>
          <p:cNvPr id="29" name="Text 21"/>
          <p:cNvSpPr txBox="1"/>
          <p:nvPr/>
        </p:nvSpPr>
        <p:spPr>
          <a:xfrm>
            <a:off x="1234440" y="3383280"/>
            <a:ext cx="7269480" cy="457200"/>
          </a:xfrm>
          <a:prstGeom prst="rect">
            <a:avLst/>
          </a:prstGeom>
          <a:noFill/>
          <a:ln/>
        </p:spPr>
        <p:txBody>
          <a:bodyPr wrap="square" lIns="0" tIns="0" rIns="0" bIns="0" rtlCol="0" anchor="ctr"/>
          <a:lstStyle/>
          <a:p>
            <a:pPr marL="0" indent="0">
              <a:buNone/>
            </a:pPr>
            <a:r>
              <a:rPr lang="en-US" sz="1400" b="1" dirty="0">
                <a:solidFill>
                  <a:schemeClr val="tx1"/>
                </a:solidFill>
              </a:rPr>
              <a:t>Le regole di oggi</a:t>
            </a:r>
            <a:endParaRPr lang="en-US" sz="1400" dirty="0"/>
          </a:p>
        </p:txBody>
      </p:sp>
      <p:sp>
        <p:nvSpPr>
          <p:cNvPr id="30" name="Text 22"/>
          <p:cNvSpPr txBox="1"/>
          <p:nvPr/>
        </p:nvSpPr>
        <p:spPr>
          <a:xfrm>
            <a:off x="640080" y="3977640"/>
            <a:ext cx="7863840" cy="347472"/>
          </a:xfrm>
          <a:prstGeom prst="rect">
            <a:avLst/>
          </a:prstGeom>
          <a:noFill/>
          <a:ln/>
        </p:spPr>
        <p:txBody>
          <a:bodyPr wrap="square" lIns="0" tIns="0" rIns="0" bIns="0" rtlCol="0" anchor="t"/>
          <a:lstStyle/>
          <a:p>
            <a:pPr marL="0" indent="0">
              <a:buNone/>
            </a:pPr>
            <a:r>
              <a:rPr lang="en-US" sz="1300" dirty="0">
                <a:solidFill>
                  <a:schemeClr val="tx2"/>
                </a:solidFill>
              </a:rPr>
              <a:t>Niente dati riservati o personali, nessun nome di cliente, solo strumenti autorizzati. Verificate sempre il risultato prima di usarlo.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abbiamo visto oggi</a:t>
            </a:r>
            <a:endParaRPr lang="en-US" sz="2600" dirty="0"/>
          </a:p>
        </p:txBody>
      </p:sp>
      <p:sp>
        <p:nvSpPr>
          <p:cNvPr id="6" name="punto 1"/>
          <p:cNvSpPr/>
          <p:nvPr/>
        </p:nvSpPr>
        <p:spPr>
          <a:xfrm>
            <a:off x="457200" y="1024128"/>
            <a:ext cx="5577840" cy="475488"/>
          </a:xfrm>
          <a:prstGeom prst="roundRect">
            <a:avLst>
              <a:gd name="adj" fmla="val 15385"/>
            </a:avLst>
          </a:prstGeom>
          <a:solidFill>
            <a:schemeClr val="bg2"/>
          </a:solidFill>
          <a:ln/>
        </p:spPr>
        <p:txBody>
          <a:bodyPr/>
          <a:lstStyle/>
          <a:p>
            <a:endParaRPr lang="it-IT"/>
          </a:p>
        </p:txBody>
      </p:sp>
      <p:sp>
        <p:nvSpPr>
          <p:cNvPr id="7" name="Text 4"/>
          <p:cNvSpPr txBox="1"/>
          <p:nvPr/>
        </p:nvSpPr>
        <p:spPr>
          <a:xfrm>
            <a:off x="566928" y="102412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1</a:t>
            </a:r>
            <a:endParaRPr lang="en-US" sz="1500" dirty="0"/>
          </a:p>
        </p:txBody>
      </p:sp>
      <p:sp>
        <p:nvSpPr>
          <p:cNvPr id="8" name="Text 5"/>
          <p:cNvSpPr txBox="1"/>
          <p:nvPr/>
        </p:nvSpPr>
        <p:spPr>
          <a:xfrm>
            <a:off x="914400" y="1024128"/>
            <a:ext cx="5029200" cy="475488"/>
          </a:xfrm>
          <a:prstGeom prst="rect">
            <a:avLst/>
          </a:prstGeom>
          <a:noFill/>
          <a:ln/>
        </p:spPr>
        <p:txBody>
          <a:bodyPr wrap="square" lIns="0" tIns="0" rIns="0" bIns="0" rtlCol="0" anchor="ctr"/>
          <a:lstStyle/>
          <a:p>
            <a:pPr marL="0" indent="0">
              <a:buNone/>
            </a:pPr>
            <a:r>
              <a:rPr lang="en-US" sz="1200" dirty="0">
                <a:solidFill>
                  <a:schemeClr val="tx1"/>
                </a:solidFill>
              </a:rPr>
              <a:t>L’AI </a:t>
            </a:r>
            <a:r>
              <a:rPr lang="en-US" sz="1200" dirty="0" err="1">
                <a:solidFill>
                  <a:schemeClr val="tx1"/>
                </a:solidFill>
              </a:rPr>
              <a:t>offre</a:t>
            </a:r>
            <a:r>
              <a:rPr lang="en-US" sz="1200" dirty="0">
                <a:solidFill>
                  <a:schemeClr val="tx1"/>
                </a:solidFill>
              </a:rPr>
              <a:t> </a:t>
            </a:r>
            <a:r>
              <a:rPr lang="en-US" sz="1200" dirty="0" err="1">
                <a:solidFill>
                  <a:schemeClr val="tx1"/>
                </a:solidFill>
              </a:rPr>
              <a:t>capacità</a:t>
            </a:r>
            <a:r>
              <a:rPr lang="en-US" sz="1200" dirty="0">
                <a:solidFill>
                  <a:schemeClr val="tx1"/>
                </a:solidFill>
              </a:rPr>
              <a:t> </a:t>
            </a:r>
            <a:r>
              <a:rPr lang="en-US" sz="1200" dirty="0" err="1">
                <a:solidFill>
                  <a:schemeClr val="tx1"/>
                </a:solidFill>
              </a:rPr>
              <a:t>che</a:t>
            </a:r>
            <a:r>
              <a:rPr lang="en-US" sz="1200" dirty="0">
                <a:solidFill>
                  <a:schemeClr val="tx1"/>
                </a:solidFill>
              </a:rPr>
              <a:t> </a:t>
            </a:r>
            <a:r>
              <a:rPr lang="en-US" sz="1200" dirty="0" err="1">
                <a:solidFill>
                  <a:schemeClr val="tx1"/>
                </a:solidFill>
              </a:rPr>
              <a:t>possono</a:t>
            </a:r>
            <a:r>
              <a:rPr lang="en-US" sz="1200" dirty="0">
                <a:solidFill>
                  <a:schemeClr val="tx1"/>
                </a:solidFill>
              </a:rPr>
              <a:t> </a:t>
            </a:r>
            <a:r>
              <a:rPr lang="en-US" sz="1200" dirty="0" err="1">
                <a:solidFill>
                  <a:schemeClr val="tx1"/>
                </a:solidFill>
              </a:rPr>
              <a:t>ampliare</a:t>
            </a:r>
            <a:r>
              <a:rPr lang="en-US" sz="1200" dirty="0">
                <a:solidFill>
                  <a:schemeClr val="tx1"/>
                </a:solidFill>
              </a:rPr>
              <a:t> il Lavoro di </a:t>
            </a:r>
            <a:r>
              <a:rPr lang="en-US" sz="1200" dirty="0" err="1">
                <a:solidFill>
                  <a:schemeClr val="tx1"/>
                </a:solidFill>
              </a:rPr>
              <a:t>persone</a:t>
            </a:r>
            <a:r>
              <a:rPr lang="en-US" sz="1200" dirty="0">
                <a:solidFill>
                  <a:schemeClr val="tx1"/>
                </a:solidFill>
              </a:rPr>
              <a:t> e </a:t>
            </a:r>
            <a:r>
              <a:rPr lang="en-US" sz="1200" dirty="0" err="1">
                <a:solidFill>
                  <a:schemeClr val="tx1"/>
                </a:solidFill>
              </a:rPr>
              <a:t>organizzazioni</a:t>
            </a:r>
            <a:endParaRPr lang="en-US" sz="1200" dirty="0"/>
          </a:p>
        </p:txBody>
      </p:sp>
      <p:sp>
        <p:nvSpPr>
          <p:cNvPr id="9" name="punto 2"/>
          <p:cNvSpPr/>
          <p:nvPr/>
        </p:nvSpPr>
        <p:spPr>
          <a:xfrm>
            <a:off x="457200" y="1572768"/>
            <a:ext cx="5577840" cy="475488"/>
          </a:xfrm>
          <a:prstGeom prst="roundRect">
            <a:avLst>
              <a:gd name="adj" fmla="val 15385"/>
            </a:avLst>
          </a:prstGeom>
          <a:solidFill>
            <a:schemeClr val="bg1"/>
          </a:solidFill>
          <a:ln/>
        </p:spPr>
        <p:txBody>
          <a:bodyPr/>
          <a:lstStyle/>
          <a:p>
            <a:endParaRPr lang="it-IT"/>
          </a:p>
        </p:txBody>
      </p:sp>
      <p:sp>
        <p:nvSpPr>
          <p:cNvPr id="10" name="Text 7"/>
          <p:cNvSpPr txBox="1"/>
          <p:nvPr/>
        </p:nvSpPr>
        <p:spPr>
          <a:xfrm>
            <a:off x="566928" y="157276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2</a:t>
            </a:r>
            <a:endParaRPr lang="en-US" sz="1500" dirty="0"/>
          </a:p>
        </p:txBody>
      </p:sp>
      <p:sp>
        <p:nvSpPr>
          <p:cNvPr id="11" name="Text 8"/>
          <p:cNvSpPr txBox="1"/>
          <p:nvPr/>
        </p:nvSpPr>
        <p:spPr>
          <a:xfrm>
            <a:off x="914400" y="157276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Esistono</a:t>
            </a:r>
            <a:r>
              <a:rPr lang="en-US" sz="1200" dirty="0">
                <a:solidFill>
                  <a:schemeClr val="tx1"/>
                </a:solidFill>
              </a:rPr>
              <a:t> </a:t>
            </a:r>
            <a:r>
              <a:rPr lang="en-US" sz="1200" dirty="0" err="1">
                <a:solidFill>
                  <a:schemeClr val="tx1"/>
                </a:solidFill>
              </a:rPr>
              <a:t>sistemi</a:t>
            </a:r>
            <a:r>
              <a:rPr lang="en-US" sz="1200" dirty="0">
                <a:solidFill>
                  <a:schemeClr val="tx1"/>
                </a:solidFill>
              </a:rPr>
              <a:t> Ai </a:t>
            </a:r>
            <a:r>
              <a:rPr lang="en-US" sz="1200" dirty="0" err="1">
                <a:solidFill>
                  <a:schemeClr val="tx1"/>
                </a:solidFill>
              </a:rPr>
              <a:t>diversi</a:t>
            </a:r>
            <a:r>
              <a:rPr lang="en-US" sz="1200" dirty="0">
                <a:solidFill>
                  <a:schemeClr val="tx1"/>
                </a:solidFill>
              </a:rPr>
              <a:t>, </a:t>
            </a:r>
            <a:r>
              <a:rPr lang="en-US" sz="1200" dirty="0" err="1">
                <a:solidFill>
                  <a:schemeClr val="tx1"/>
                </a:solidFill>
              </a:rPr>
              <a:t>adatti</a:t>
            </a:r>
            <a:r>
              <a:rPr lang="en-US" sz="1200" dirty="0">
                <a:solidFill>
                  <a:schemeClr val="tx1"/>
                </a:solidFill>
              </a:rPr>
              <a:t> a problem </a:t>
            </a:r>
            <a:r>
              <a:rPr lang="en-US" sz="1200" dirty="0" err="1">
                <a:solidFill>
                  <a:schemeClr val="tx1"/>
                </a:solidFill>
              </a:rPr>
              <a:t>differenti</a:t>
            </a:r>
            <a:endParaRPr lang="en-US" sz="1200" dirty="0"/>
          </a:p>
        </p:txBody>
      </p:sp>
      <p:sp>
        <p:nvSpPr>
          <p:cNvPr id="12" name="punto 3"/>
          <p:cNvSpPr/>
          <p:nvPr/>
        </p:nvSpPr>
        <p:spPr>
          <a:xfrm>
            <a:off x="457200" y="2121408"/>
            <a:ext cx="5577840" cy="475488"/>
          </a:xfrm>
          <a:prstGeom prst="roundRect">
            <a:avLst>
              <a:gd name="adj" fmla="val 15385"/>
            </a:avLst>
          </a:prstGeom>
          <a:solidFill>
            <a:schemeClr val="bg2"/>
          </a:solidFill>
          <a:ln/>
        </p:spPr>
        <p:txBody>
          <a:bodyPr/>
          <a:lstStyle/>
          <a:p>
            <a:endParaRPr lang="it-IT"/>
          </a:p>
        </p:txBody>
      </p:sp>
      <p:sp>
        <p:nvSpPr>
          <p:cNvPr id="13" name="Text 10"/>
          <p:cNvSpPr txBox="1"/>
          <p:nvPr/>
        </p:nvSpPr>
        <p:spPr>
          <a:xfrm>
            <a:off x="566928" y="212140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3</a:t>
            </a:r>
            <a:endParaRPr lang="en-US" sz="1500" dirty="0"/>
          </a:p>
        </p:txBody>
      </p:sp>
      <p:sp>
        <p:nvSpPr>
          <p:cNvPr id="14" name="Text 11"/>
          <p:cNvSpPr txBox="1"/>
          <p:nvPr/>
        </p:nvSpPr>
        <p:spPr>
          <a:xfrm>
            <a:off x="914400" y="2121408"/>
            <a:ext cx="5029200" cy="475488"/>
          </a:xfrm>
          <a:prstGeom prst="rect">
            <a:avLst/>
          </a:prstGeom>
          <a:noFill/>
          <a:ln/>
        </p:spPr>
        <p:txBody>
          <a:bodyPr wrap="square" lIns="0" tIns="0" rIns="0" bIns="0" rtlCol="0" anchor="ctr"/>
          <a:lstStyle/>
          <a:p>
            <a:pPr marL="0" indent="0">
              <a:buNone/>
            </a:pPr>
            <a:r>
              <a:rPr lang="en-US" sz="1200" dirty="0">
                <a:solidFill>
                  <a:schemeClr val="tx1"/>
                </a:solidFill>
              </a:rPr>
              <a:t>I </a:t>
            </a:r>
            <a:r>
              <a:rPr lang="en-US" sz="1200" dirty="0" err="1">
                <a:solidFill>
                  <a:schemeClr val="tx1"/>
                </a:solidFill>
              </a:rPr>
              <a:t>risultati</a:t>
            </a:r>
            <a:r>
              <a:rPr lang="en-US" sz="1200" dirty="0">
                <a:solidFill>
                  <a:schemeClr val="tx1"/>
                </a:solidFill>
              </a:rPr>
              <a:t> </a:t>
            </a:r>
            <a:r>
              <a:rPr lang="en-US" sz="1200" dirty="0" err="1">
                <a:solidFill>
                  <a:schemeClr val="tx1"/>
                </a:solidFill>
              </a:rPr>
              <a:t>dipendono</a:t>
            </a:r>
            <a:r>
              <a:rPr lang="en-US" sz="1200" dirty="0">
                <a:solidFill>
                  <a:schemeClr val="tx1"/>
                </a:solidFill>
              </a:rPr>
              <a:t> da </a:t>
            </a:r>
            <a:r>
              <a:rPr lang="en-US" sz="1200" dirty="0" err="1">
                <a:solidFill>
                  <a:schemeClr val="tx1"/>
                </a:solidFill>
              </a:rPr>
              <a:t>modello</a:t>
            </a:r>
            <a:r>
              <a:rPr lang="en-US" sz="1200" dirty="0">
                <a:solidFill>
                  <a:schemeClr val="tx1"/>
                </a:solidFill>
              </a:rPr>
              <a:t>, </a:t>
            </a:r>
            <a:r>
              <a:rPr lang="en-US" sz="1200" dirty="0" err="1">
                <a:solidFill>
                  <a:schemeClr val="tx1"/>
                </a:solidFill>
              </a:rPr>
              <a:t>informazioni</a:t>
            </a:r>
            <a:r>
              <a:rPr lang="en-US" sz="1200" dirty="0">
                <a:solidFill>
                  <a:schemeClr val="tx1"/>
                </a:solidFill>
              </a:rPr>
              <a:t> </a:t>
            </a:r>
            <a:r>
              <a:rPr lang="en-US" sz="1200" dirty="0" err="1">
                <a:solidFill>
                  <a:schemeClr val="tx1"/>
                </a:solidFill>
              </a:rPr>
              <a:t>disponibili</a:t>
            </a:r>
            <a:r>
              <a:rPr lang="en-US" sz="1200" dirty="0">
                <a:solidFill>
                  <a:schemeClr val="tx1"/>
                </a:solidFill>
              </a:rPr>
              <a:t> e </a:t>
            </a:r>
            <a:r>
              <a:rPr lang="en-US" sz="1200" dirty="0" err="1">
                <a:solidFill>
                  <a:schemeClr val="tx1"/>
                </a:solidFill>
              </a:rPr>
              <a:t>modalità</a:t>
            </a:r>
            <a:r>
              <a:rPr lang="en-US" sz="1200" dirty="0">
                <a:solidFill>
                  <a:schemeClr val="tx1"/>
                </a:solidFill>
              </a:rPr>
              <a:t> di </a:t>
            </a:r>
            <a:r>
              <a:rPr lang="en-US" sz="1200" dirty="0" err="1">
                <a:solidFill>
                  <a:schemeClr val="tx1"/>
                </a:solidFill>
              </a:rPr>
              <a:t>utilizzo</a:t>
            </a:r>
            <a:r>
              <a:rPr lang="en-US" sz="1200" dirty="0">
                <a:solidFill>
                  <a:schemeClr val="tx1"/>
                </a:solidFill>
              </a:rPr>
              <a:t>.</a:t>
            </a:r>
            <a:endParaRPr lang="en-US" sz="1200" dirty="0"/>
          </a:p>
        </p:txBody>
      </p:sp>
      <p:sp>
        <p:nvSpPr>
          <p:cNvPr id="15" name="punto 4"/>
          <p:cNvSpPr/>
          <p:nvPr/>
        </p:nvSpPr>
        <p:spPr>
          <a:xfrm>
            <a:off x="457200" y="2670048"/>
            <a:ext cx="5577840" cy="475488"/>
          </a:xfrm>
          <a:prstGeom prst="roundRect">
            <a:avLst>
              <a:gd name="adj" fmla="val 15385"/>
            </a:avLst>
          </a:prstGeom>
          <a:solidFill>
            <a:schemeClr val="bg1"/>
          </a:solidFill>
          <a:ln/>
        </p:spPr>
        <p:txBody>
          <a:bodyPr/>
          <a:lstStyle/>
          <a:p>
            <a:endParaRPr lang="it-IT"/>
          </a:p>
        </p:txBody>
      </p:sp>
      <p:sp>
        <p:nvSpPr>
          <p:cNvPr id="16" name="Text 13"/>
          <p:cNvSpPr txBox="1"/>
          <p:nvPr/>
        </p:nvSpPr>
        <p:spPr>
          <a:xfrm>
            <a:off x="566928" y="267004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4</a:t>
            </a:r>
            <a:endParaRPr lang="en-US" sz="1500" dirty="0"/>
          </a:p>
        </p:txBody>
      </p:sp>
      <p:sp>
        <p:nvSpPr>
          <p:cNvPr id="17" name="Text 14"/>
          <p:cNvSpPr txBox="1"/>
          <p:nvPr/>
        </p:nvSpPr>
        <p:spPr>
          <a:xfrm>
            <a:off x="914400" y="267004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Affidabilità</a:t>
            </a:r>
            <a:r>
              <a:rPr lang="en-US" sz="1200" dirty="0">
                <a:solidFill>
                  <a:schemeClr val="tx1"/>
                </a:solidFill>
              </a:rPr>
              <a:t> e </a:t>
            </a:r>
            <a:r>
              <a:rPr lang="en-US" sz="1200" dirty="0" err="1">
                <a:solidFill>
                  <a:schemeClr val="tx1"/>
                </a:solidFill>
              </a:rPr>
              <a:t>controllo</a:t>
            </a:r>
            <a:r>
              <a:rPr lang="en-US" sz="1200" dirty="0">
                <a:solidFill>
                  <a:schemeClr val="tx1"/>
                </a:solidFill>
              </a:rPr>
              <a:t> </a:t>
            </a:r>
            <a:r>
              <a:rPr lang="en-US" sz="1200" dirty="0" err="1">
                <a:solidFill>
                  <a:schemeClr val="tx1"/>
                </a:solidFill>
              </a:rPr>
              <a:t>devono</a:t>
            </a:r>
            <a:r>
              <a:rPr lang="en-US" sz="1200" dirty="0">
                <a:solidFill>
                  <a:schemeClr val="tx1"/>
                </a:solidFill>
              </a:rPr>
              <a:t> </a:t>
            </a:r>
            <a:r>
              <a:rPr lang="en-US" sz="1200" dirty="0" err="1">
                <a:solidFill>
                  <a:schemeClr val="tx1"/>
                </a:solidFill>
              </a:rPr>
              <a:t>essere</a:t>
            </a:r>
            <a:r>
              <a:rPr lang="en-US" sz="1200" dirty="0">
                <a:solidFill>
                  <a:schemeClr val="tx1"/>
                </a:solidFill>
              </a:rPr>
              <a:t> </a:t>
            </a:r>
            <a:r>
              <a:rPr lang="en-US" sz="1200" dirty="0" err="1">
                <a:solidFill>
                  <a:schemeClr val="tx1"/>
                </a:solidFill>
              </a:rPr>
              <a:t>proporzionati</a:t>
            </a:r>
            <a:r>
              <a:rPr lang="en-US" sz="1200" dirty="0">
                <a:solidFill>
                  <a:schemeClr val="tx1"/>
                </a:solidFill>
              </a:rPr>
              <a:t> </a:t>
            </a:r>
            <a:r>
              <a:rPr lang="en-US" sz="1200" dirty="0" err="1">
                <a:solidFill>
                  <a:schemeClr val="tx1"/>
                </a:solidFill>
              </a:rPr>
              <a:t>all’importanza</a:t>
            </a:r>
            <a:r>
              <a:rPr lang="en-US" sz="1200" dirty="0">
                <a:solidFill>
                  <a:schemeClr val="tx1"/>
                </a:solidFill>
              </a:rPr>
              <a:t> del </a:t>
            </a:r>
            <a:r>
              <a:rPr lang="en-US" sz="1200" dirty="0" err="1">
                <a:solidFill>
                  <a:schemeClr val="tx1"/>
                </a:solidFill>
              </a:rPr>
              <a:t>compito</a:t>
            </a:r>
            <a:r>
              <a:rPr lang="en-US" sz="1200" dirty="0">
                <a:solidFill>
                  <a:schemeClr val="tx1"/>
                </a:solidFill>
              </a:rPr>
              <a:t>.</a:t>
            </a:r>
            <a:endParaRPr lang="en-US" sz="1200" dirty="0"/>
          </a:p>
        </p:txBody>
      </p:sp>
      <p:sp>
        <p:nvSpPr>
          <p:cNvPr id="18" name="punto 5"/>
          <p:cNvSpPr/>
          <p:nvPr/>
        </p:nvSpPr>
        <p:spPr>
          <a:xfrm>
            <a:off x="457200" y="3218688"/>
            <a:ext cx="5577840" cy="475488"/>
          </a:xfrm>
          <a:prstGeom prst="roundRect">
            <a:avLst>
              <a:gd name="adj" fmla="val 15385"/>
            </a:avLst>
          </a:prstGeom>
          <a:solidFill>
            <a:schemeClr val="bg2"/>
          </a:solidFill>
          <a:ln/>
        </p:spPr>
        <p:txBody>
          <a:bodyPr/>
          <a:lstStyle/>
          <a:p>
            <a:endParaRPr lang="it-IT"/>
          </a:p>
        </p:txBody>
      </p:sp>
      <p:sp>
        <p:nvSpPr>
          <p:cNvPr id="19" name="Text 16"/>
          <p:cNvSpPr txBox="1"/>
          <p:nvPr/>
        </p:nvSpPr>
        <p:spPr>
          <a:xfrm>
            <a:off x="566928" y="321868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5</a:t>
            </a:r>
            <a:endParaRPr lang="en-US" sz="1500" dirty="0"/>
          </a:p>
        </p:txBody>
      </p:sp>
      <p:sp>
        <p:nvSpPr>
          <p:cNvPr id="20" name="Text 17"/>
          <p:cNvSpPr txBox="1"/>
          <p:nvPr/>
        </p:nvSpPr>
        <p:spPr>
          <a:xfrm>
            <a:off x="886968" y="3218688"/>
            <a:ext cx="5029200" cy="475488"/>
          </a:xfrm>
          <a:prstGeom prst="rect">
            <a:avLst/>
          </a:prstGeom>
          <a:noFill/>
          <a:ln/>
        </p:spPr>
        <p:txBody>
          <a:bodyPr wrap="square" lIns="0" tIns="0" rIns="0" bIns="0" rtlCol="0" anchor="ctr"/>
          <a:lstStyle/>
          <a:p>
            <a:pPr marL="0" indent="0">
              <a:buNone/>
            </a:pPr>
            <a:r>
              <a:rPr lang="en-US" sz="1200" dirty="0">
                <a:solidFill>
                  <a:schemeClr val="tx1"/>
                </a:solidFill>
              </a:rPr>
              <a:t>Il </a:t>
            </a:r>
            <a:r>
              <a:rPr lang="en-US" sz="1200" dirty="0" err="1">
                <a:solidFill>
                  <a:schemeClr val="tx1"/>
                </a:solidFill>
              </a:rPr>
              <a:t>valore</a:t>
            </a:r>
            <a:r>
              <a:rPr lang="en-US" sz="1200" dirty="0">
                <a:solidFill>
                  <a:schemeClr val="tx1"/>
                </a:solidFill>
              </a:rPr>
              <a:t> </a:t>
            </a:r>
            <a:r>
              <a:rPr lang="en-US" sz="1200" dirty="0" err="1">
                <a:solidFill>
                  <a:schemeClr val="tx1"/>
                </a:solidFill>
              </a:rPr>
              <a:t>nasce</a:t>
            </a:r>
            <a:r>
              <a:rPr lang="en-US" sz="1200" dirty="0">
                <a:solidFill>
                  <a:schemeClr val="tx1"/>
                </a:solidFill>
              </a:rPr>
              <a:t> </a:t>
            </a:r>
            <a:r>
              <a:rPr lang="en-US" sz="1200" dirty="0" err="1">
                <a:solidFill>
                  <a:schemeClr val="tx1"/>
                </a:solidFill>
              </a:rPr>
              <a:t>dall’individuazione</a:t>
            </a:r>
            <a:r>
              <a:rPr lang="en-US" sz="1200" dirty="0">
                <a:solidFill>
                  <a:schemeClr val="tx1"/>
                </a:solidFill>
              </a:rPr>
              <a:t> di problem </a:t>
            </a:r>
            <a:r>
              <a:rPr lang="en-US" sz="1200" dirty="0" err="1">
                <a:solidFill>
                  <a:schemeClr val="tx1"/>
                </a:solidFill>
              </a:rPr>
              <a:t>reali</a:t>
            </a:r>
            <a:r>
              <a:rPr lang="en-US" sz="1200" dirty="0">
                <a:solidFill>
                  <a:schemeClr val="tx1"/>
                </a:solidFill>
              </a:rPr>
              <a:t> e </a:t>
            </a:r>
            <a:r>
              <a:rPr lang="en-US" sz="1200" dirty="0" err="1">
                <a:solidFill>
                  <a:schemeClr val="tx1"/>
                </a:solidFill>
              </a:rPr>
              <a:t>dalla</a:t>
            </a:r>
            <a:r>
              <a:rPr lang="en-US" sz="1200" dirty="0">
                <a:solidFill>
                  <a:schemeClr val="tx1"/>
                </a:solidFill>
              </a:rPr>
              <a:t> </a:t>
            </a:r>
            <a:r>
              <a:rPr lang="en-US" sz="1200" dirty="0" err="1">
                <a:solidFill>
                  <a:schemeClr val="tx1"/>
                </a:solidFill>
              </a:rPr>
              <a:t>verifica</a:t>
            </a:r>
            <a:r>
              <a:rPr lang="en-US" sz="1200" dirty="0">
                <a:solidFill>
                  <a:schemeClr val="tx1"/>
                </a:solidFill>
              </a:rPr>
              <a:t> delle </a:t>
            </a:r>
            <a:r>
              <a:rPr lang="en-US" sz="1200" dirty="0" err="1">
                <a:solidFill>
                  <a:schemeClr val="tx1"/>
                </a:solidFill>
              </a:rPr>
              <a:t>soluzioni</a:t>
            </a:r>
            <a:endParaRPr lang="en-US" sz="1200" dirty="0"/>
          </a:p>
        </p:txBody>
      </p:sp>
      <p:sp>
        <p:nvSpPr>
          <p:cNvPr id="21" name="scheda Sessione 2"/>
          <p:cNvSpPr/>
          <p:nvPr/>
        </p:nvSpPr>
        <p:spPr>
          <a:xfrm>
            <a:off x="6263640" y="1024128"/>
            <a:ext cx="2423160" cy="2670048"/>
          </a:xfrm>
          <a:prstGeom prst="roundRect">
            <a:avLst>
              <a:gd name="adj" fmla="val 3019"/>
            </a:avLst>
          </a:prstGeom>
          <a:solidFill>
            <a:schemeClr val="accent6"/>
          </a:solidFill>
          <a:ln/>
        </p:spPr>
        <p:txBody>
          <a:bodyPr/>
          <a:lstStyle/>
          <a:p>
            <a:endParaRPr lang="it-IT"/>
          </a:p>
        </p:txBody>
      </p:sp>
      <p:sp>
        <p:nvSpPr>
          <p:cNvPr id="22" name="cerchio FiArrowRight"/>
          <p:cNvSpPr/>
          <p:nvPr/>
        </p:nvSpPr>
        <p:spPr>
          <a:xfrm>
            <a:off x="6446520" y="1207008"/>
            <a:ext cx="457200" cy="457200"/>
          </a:xfrm>
          <a:prstGeom prst="ellipse">
            <a:avLst/>
          </a:prstGeom>
          <a:solidFill>
            <a:schemeClr val="accent1"/>
          </a:solidFill>
          <a:ln/>
        </p:spPr>
        <p:txBody>
          <a:bodyPr/>
          <a:lstStyle/>
          <a:p>
            <a:endParaRPr lang="it-IT"/>
          </a:p>
        </p:txBody>
      </p:sp>
      <p:pic>
        <p:nvPicPr>
          <p:cNvPr id="23" name="Image 0" descr="FiArrowRight"/>
          <p:cNvPicPr>
            <a:picLocks noChangeAspect="1"/>
          </p:cNvPicPr>
          <p:nvPr/>
        </p:nvPicPr>
        <p:blipFill>
          <a:blip r:embed="rId3"/>
          <a:stretch>
            <a:fillRect/>
          </a:stretch>
        </p:blipFill>
        <p:spPr>
          <a:xfrm>
            <a:off x="6560820" y="1321308"/>
            <a:ext cx="228600" cy="228600"/>
          </a:xfrm>
          <a:prstGeom prst="rect">
            <a:avLst/>
          </a:prstGeom>
        </p:spPr>
      </p:pic>
      <p:sp>
        <p:nvSpPr>
          <p:cNvPr id="24" name="Text 20"/>
          <p:cNvSpPr txBox="1"/>
          <p:nvPr/>
        </p:nvSpPr>
        <p:spPr>
          <a:xfrm>
            <a:off x="6446520" y="1773936"/>
            <a:ext cx="2057400" cy="347472"/>
          </a:xfrm>
          <a:prstGeom prst="rect">
            <a:avLst/>
          </a:prstGeom>
          <a:noFill/>
          <a:ln/>
        </p:spPr>
        <p:txBody>
          <a:bodyPr wrap="square" lIns="0" tIns="0" rIns="0" bIns="0" rtlCol="0" anchor="t"/>
          <a:lstStyle/>
          <a:p>
            <a:pPr marL="0" indent="0">
              <a:buNone/>
            </a:pPr>
            <a:r>
              <a:rPr lang="en-US" sz="1500" b="1" dirty="0">
                <a:solidFill>
                  <a:schemeClr val="tx1"/>
                </a:solidFill>
              </a:rPr>
              <a:t>Sessione 2</a:t>
            </a:r>
            <a:endParaRPr lang="en-US" sz="1500" dirty="0"/>
          </a:p>
        </p:txBody>
      </p:sp>
      <p:sp>
        <p:nvSpPr>
          <p:cNvPr id="25" name="Text 21"/>
          <p:cNvSpPr txBox="1"/>
          <p:nvPr/>
        </p:nvSpPr>
        <p:spPr>
          <a:xfrm>
            <a:off x="6446520" y="2157984"/>
            <a:ext cx="2057400" cy="1426464"/>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2"/>
                </a:solidFill>
              </a:rPr>
              <a:t>Casi </a:t>
            </a:r>
            <a:r>
              <a:rPr lang="en-US" sz="1250" dirty="0" err="1">
                <a:solidFill>
                  <a:schemeClr val="tx2"/>
                </a:solidFill>
              </a:rPr>
              <a:t>raccolti</a:t>
            </a:r>
            <a:endParaRPr lang="en-US" sz="1250" dirty="0"/>
          </a:p>
          <a:p>
            <a:pPr marL="177800" indent="-177800">
              <a:spcAft>
                <a:spcPts val="500"/>
              </a:spcAft>
              <a:buSzPct val="100000"/>
              <a:buChar char="•"/>
            </a:pPr>
            <a:r>
              <a:rPr lang="en-US" sz="1250" dirty="0">
                <a:solidFill>
                  <a:schemeClr val="tx2"/>
                </a:solidFill>
              </a:rPr>
              <a:t>Prompting</a:t>
            </a:r>
            <a:endParaRPr lang="en-US" sz="1250" dirty="0"/>
          </a:p>
          <a:p>
            <a:pPr marL="177800" indent="-177800">
              <a:spcAft>
                <a:spcPts val="500"/>
              </a:spcAft>
              <a:buSzPct val="100000"/>
              <a:buChar char="•"/>
            </a:pPr>
            <a:r>
              <a:rPr lang="en-US" sz="1250" dirty="0" err="1">
                <a:solidFill>
                  <a:schemeClr val="tx2"/>
                </a:solidFill>
              </a:rPr>
              <a:t>Strumenti</a:t>
            </a:r>
            <a:endParaRPr lang="en-US" sz="1250" dirty="0"/>
          </a:p>
          <a:p>
            <a:pPr marL="177800" indent="-177800">
              <a:spcAft>
                <a:spcPts val="500"/>
              </a:spcAft>
              <a:buSzPct val="100000"/>
              <a:buChar char="•"/>
            </a:pPr>
            <a:r>
              <a:rPr lang="en-US" sz="1250" dirty="0" err="1">
                <a:solidFill>
                  <a:schemeClr val="tx2"/>
                </a:solidFill>
              </a:rPr>
              <a:t>Dimostrazioni</a:t>
            </a:r>
            <a:r>
              <a:rPr lang="en-US" sz="1250" dirty="0">
                <a:solidFill>
                  <a:schemeClr val="tx2"/>
                </a:solidFill>
              </a:rPr>
              <a:t> e prime </a:t>
            </a:r>
            <a:r>
              <a:rPr lang="en-US" sz="1250" dirty="0" err="1">
                <a:solidFill>
                  <a:schemeClr val="tx2"/>
                </a:solidFill>
              </a:rPr>
              <a:t>sperimentazioni</a:t>
            </a:r>
            <a:endParaRPr lang="en-US" sz="1250" dirty="0"/>
          </a:p>
        </p:txBody>
      </p:sp>
      <p:sp>
        <p:nvSpPr>
          <p:cNvPr id="26" name="Text 22"/>
          <p:cNvSpPr txBox="1"/>
          <p:nvPr/>
        </p:nvSpPr>
        <p:spPr>
          <a:xfrm>
            <a:off x="457200" y="3931920"/>
            <a:ext cx="8229600" cy="457200"/>
          </a:xfrm>
          <a:prstGeom prst="rect">
            <a:avLst/>
          </a:prstGeom>
          <a:noFill/>
          <a:ln/>
        </p:spPr>
        <p:txBody>
          <a:bodyPr wrap="square" lIns="0" tIns="0" rIns="0" bIns="0" rtlCol="0" anchor="t"/>
          <a:lstStyle/>
          <a:p>
            <a:pPr marL="0" indent="0">
              <a:buNone/>
            </a:pPr>
            <a:r>
              <a:rPr lang="en-US" sz="2000" b="1" dirty="0">
                <a:solidFill>
                  <a:schemeClr val="accent1"/>
                </a:solidFill>
              </a:rPr>
              <a:t>Domande?</a:t>
            </a:r>
            <a:endParaRPr lang="en-US" sz="2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101</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761</TotalTime>
  <Words>24834</Words>
  <Application>Microsoft Macintosh PowerPoint</Application>
  <PresentationFormat>Presentazione su schermo (16:9)</PresentationFormat>
  <Paragraphs>1499</Paragraphs>
  <Slides>101</Slides>
  <Notes>101</Notes>
  <HiddenSlides>9</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101</vt:i4>
      </vt:variant>
    </vt:vector>
  </HeadingPairs>
  <TitlesOfParts>
    <vt:vector size="105" baseType="lpstr">
      <vt:lpstr>Aptos</vt:lpstr>
      <vt:lpstr>Arial</vt:lpstr>
      <vt:lpstr>Calibri</vt:lpstr>
      <vt:lpstr>AI Literacy Neutro</vt:lpstr>
      <vt:lpstr>Percorso Ai – Adoption – Laser Srl</vt:lpstr>
      <vt:lpstr>Il percorso in tre sessioni</vt:lpstr>
      <vt:lpstr>Da dove partiamo</vt:lpstr>
      <vt:lpstr>Vero o falso?</vt:lpstr>
      <vt:lpstr>Affermazioni sull'AI: le risposte</vt:lpstr>
      <vt:lpstr>Il nostro spazio di Lavoro: problemi e opportunità</vt:lpstr>
      <vt:lpstr>Evoluzione e rilevanza dell’intelligenza Artificiale</vt:lpstr>
      <vt:lpstr>Oltre settant'anni di evoluzione</vt:lpstr>
      <vt:lpstr>Cinque fattori che si rafforzano a vicenda</vt:lpstr>
      <vt:lpstr>Investimenti e infrastrutture tecnologiche</vt:lpstr>
      <vt:lpstr>La svolta dell'AI generativa</vt:lpstr>
      <vt:lpstr>Dal classificare e prevedere al generare</vt:lpstr>
      <vt:lpstr>Il linguaggio naturale diventa l'interfaccia</vt:lpstr>
      <vt:lpstr>La diffusione di chatbot e assistenti AI</vt:lpstr>
      <vt:lpstr>Che cosa può generare l'AI</vt:lpstr>
      <vt:lpstr>Dalla digitalizzazione all'Intelligenza Artificiale</vt:lpstr>
      <vt:lpstr>Un esempio: la gestione delle richieste dei clienti</vt:lpstr>
      <vt:lpstr>Sistema deterministico e sistemi probabilistici</vt:lpstr>
      <vt:lpstr>Rilevanza dell'AI per le aziende</vt:lpstr>
      <vt:lpstr>Un'applicazione trasversale alle funzioni aziendali</vt:lpstr>
      <vt:lpstr>L'AI come tecnologia abilitante</vt:lpstr>
      <vt:lpstr>Effetti potenziali: produttività, qualità, innovazione</vt:lpstr>
      <vt:lpstr>Come evolvono il lavoro e le competenze</vt:lpstr>
      <vt:lpstr>Possibili implicazioni competitive</vt:lpstr>
      <vt:lpstr>Dal potenziale tecnologico al valore realizzato</vt:lpstr>
      <vt:lpstr>Fondamenti e funzionamento dell’Ai</vt:lpstr>
      <vt:lpstr>Una definizione operativa</vt:lpstr>
      <vt:lpstr>Comprensione apparente: l'effetto ELIZA</vt:lpstr>
      <vt:lpstr>Le principali categorie di AI</vt:lpstr>
      <vt:lpstr>Quattro criteri di classificazione diversi</vt:lpstr>
      <vt:lpstr>AI simbolica e Machine Learning</vt:lpstr>
      <vt:lpstr>Deep Learning e reti neurali</vt:lpstr>
      <vt:lpstr>AI predittiva, classificativa e generativa</vt:lpstr>
      <vt:lpstr>AI multimodale</vt:lpstr>
      <vt:lpstr>Quale approccio per quale problema</vt:lpstr>
      <vt:lpstr>Come un sistema AI apprende dai dati</vt:lpstr>
      <vt:lpstr>Che cosa significa apprendere dai dati</vt:lpstr>
      <vt:lpstr>Dati di addestramento ed esempi</vt:lpstr>
      <vt:lpstr>I parametri del modello</vt:lpstr>
      <vt:lpstr>Il ciclo di addestramento</vt:lpstr>
      <vt:lpstr>Addestramento e inferenza</vt:lpstr>
      <vt:lpstr>Che cosa sono i Large Language Models</vt:lpstr>
      <vt:lpstr>Un modello linguistico di grandi dimensioni</vt:lpstr>
      <vt:lpstr>I token: come il modello vede il testo</vt:lpstr>
      <vt:lpstr>Rappresentare il significato</vt:lpstr>
      <vt:lpstr>Il Transformer e il meccanismo di attenzione</vt:lpstr>
      <vt:lpstr>Come viene generata una risposta</vt:lpstr>
      <vt:lpstr>Più di un completamento automatico</vt:lpstr>
      <vt:lpstr>Come funziona un'interazione con l'AI</vt:lpstr>
      <vt:lpstr>Input, prompt e output</vt:lpstr>
      <vt:lpstr>La finestra di contesto</vt:lpstr>
      <vt:lpstr>Contesto temporaneo e memoria persistente</vt:lpstr>
      <vt:lpstr>Il modello e l'applicazione</vt:lpstr>
      <vt:lpstr>Conoscenza e fonti informative</vt:lpstr>
      <vt:lpstr>Tre fonti di informazione</vt:lpstr>
      <vt:lpstr>Aggiornamento dei dati e limiti temporali</vt:lpstr>
      <vt:lpstr>Grounding: ancorare le risposte alle fonti</vt:lpstr>
      <vt:lpstr>Introduzione alla Retrieval-Augmented Generation</vt:lpstr>
      <vt:lpstr>Adattare un sistema AI a un contesto specifico</vt:lpstr>
      <vt:lpstr>Tre equivoci frequenti</vt:lpstr>
      <vt:lpstr>Capacità, limiti e affidabilità dell’Intelligenza Artificiale</vt:lpstr>
      <vt:lpstr>Calibrare la fiducia</vt:lpstr>
      <vt:lpstr>Una mappa delle capacità</vt:lpstr>
      <vt:lpstr>Non tutti i sistemi hanno le stesse capacità</vt:lpstr>
      <vt:lpstr>Scomporre, pianificare, valutare alternative</vt:lpstr>
      <vt:lpstr>Generazione di idee e supporto creativo</vt:lpstr>
      <vt:lpstr>Allucinazioni e informazioni false</vt:lpstr>
      <vt:lpstr>Che cos'è un'allucinazione</vt:lpstr>
      <vt:lpstr>Citazioni, riferimenti e fonti inesistenti</vt:lpstr>
      <vt:lpstr>Perché si verificano le allucinazioni</vt:lpstr>
      <vt:lpstr>L'autorevolezza apparente</vt:lpstr>
      <vt:lpstr>Attività che richiedono livelli diversi di verfica</vt:lpstr>
      <vt:lpstr>Bias e distorsioni nei risultati</vt:lpstr>
      <vt:lpstr>Che cosa sono bias e distorsioni</vt:lpstr>
      <vt:lpstr>Da dove nascono le distorsioni</vt:lpstr>
      <vt:lpstr>L'influenza del contesto e delle istruzioni</vt:lpstr>
      <vt:lpstr>Bias di conferma e tendenza ad assecondare</vt:lpstr>
      <vt:lpstr>Accuratezza, affidabilità e consistenza</vt:lpstr>
      <vt:lpstr>Quattro concetti da distinguere</vt:lpstr>
      <vt:lpstr>Prestazioni diverse in base al compito</vt:lpstr>
      <vt:lpstr>Come verificare il valore e l’affidabilità dell’Ai nei casi reali</vt:lpstr>
      <vt:lpstr>Il modello e il sistema completo</vt:lpstr>
      <vt:lpstr>Supervisione umana e verifica proporzionata</vt:lpstr>
      <vt:lpstr>Quando utilizzare o limitare l'AI</vt:lpstr>
      <vt:lpstr>Possibilità tecnica e opportunità di utilizzo</vt:lpstr>
      <vt:lpstr>Le conseguenze di un errore</vt:lpstr>
      <vt:lpstr>Attività a basso e alto impatto</vt:lpstr>
      <vt:lpstr>Supporto, supervisione e delega</vt:lpstr>
      <vt:lpstr>Quando servono maggiori garanzie o strumenti differenti</vt:lpstr>
      <vt:lpstr>La responsabilità resta umana</vt:lpstr>
      <vt:lpstr>Caccia all'allucinazione</vt:lpstr>
      <vt:lpstr>Brainstorming</vt:lpstr>
      <vt:lpstr>L'AI in Laser, reparto per reparto</vt:lpstr>
      <vt:lpstr>Tre luoghi dell'AI</vt:lpstr>
      <vt:lpstr>Sette sprechi informativi</vt:lpstr>
      <vt:lpstr>Esercizio: dove perdiamo tempo?</vt:lpstr>
      <vt:lpstr>Mappa degli sprechi: un esempio</vt:lpstr>
      <vt:lpstr>Dagli sprechi alle opportunità</vt:lpstr>
      <vt:lpstr>Brainstorming Guidato</vt:lpstr>
      <vt:lpstr>Da provare prima della prossima sessione</vt:lpstr>
      <vt:lpstr>Che cosa abbiamo visto oggi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Srl · AI Adoption · Sessione 1 · Slide nuove</dc:title>
  <dc:subject>Percorso AI Literacy</dc:subject>
  <dc:creator>Percorso AI Literacy</dc:creator>
  <cp:lastModifiedBy>Michele Barchi</cp:lastModifiedBy>
  <cp:revision>33</cp:revision>
  <dcterms:created xsi:type="dcterms:W3CDTF">2026-10-12T14:29:19Z</dcterms:created>
  <dcterms:modified xsi:type="dcterms:W3CDTF">2026-10-14T08:55:46Z</dcterms:modified>
</cp:coreProperties>
</file>