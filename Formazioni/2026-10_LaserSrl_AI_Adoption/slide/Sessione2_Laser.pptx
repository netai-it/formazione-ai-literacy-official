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Override PartName="/ppt/notesSlides/notesSlide31.xml" ContentType="application/vnd.openxmlformats-officedocument.presentationml.notesSlide+xml"/>
  <Override PartName="/ppt/slides/slide31.xml" ContentType="application/vnd.openxmlformats-officedocument.presentationml.slide+xml"/>
  <Override PartName="/ppt/notesSlides/notesSlide32.xml" ContentType="application/vnd.openxmlformats-officedocument.presentationml.notesSlide+xml"/>
  <Override PartName="/ppt/slides/slide32.xml" ContentType="application/vnd.openxmlformats-officedocument.presentationml.slide+xml"/>
  <Override PartName="/ppt/notesSlides/notesSlide33.xml" ContentType="application/vnd.openxmlformats-officedocument.presentationml.notesSlide+xml"/>
  <Override PartName="/ppt/slides/slide33.xml" ContentType="application/vnd.openxmlformats-officedocument.presentationml.slide+xml"/>
  <Override PartName="/ppt/notesSlides/notesSlide34.xml" ContentType="application/vnd.openxmlformats-officedocument.presentationml.notesSlide+xml"/>
  <Override PartName="/ppt/slides/slide34.xml" ContentType="application/vnd.openxmlformats-officedocument.presentationml.slide+xml"/>
  <Override PartName="/ppt/notesSlides/notesSlide35.xml" ContentType="application/vnd.openxmlformats-officedocument.presentationml.notesSlide+xml"/>
  <Override PartName="/ppt/slides/slide35.xml" ContentType="application/vnd.openxmlformats-officedocument.presentationml.slide+xml"/>
  <Override PartName="/ppt/notesSlides/notesSlide36.xml" ContentType="application/vnd.openxmlformats-officedocument.presentationml.notesSlide+xml"/>
  <Override PartName="/ppt/slides/slide36.xml" ContentType="application/vnd.openxmlformats-officedocument.presentationml.slide+xml"/>
  <Override PartName="/ppt/notesSlides/notesSlide37.xml" ContentType="application/vnd.openxmlformats-officedocument.presentationml.notesSlide+xml"/>
  <Override PartName="/ppt/slides/slide37.xml" ContentType="application/vnd.openxmlformats-officedocument.presentationml.slide+xml"/>
  <Override PartName="/ppt/notesSlides/notesSlide38.xml" ContentType="application/vnd.openxmlformats-officedocument.presentationml.notesSlide+xml"/>
  <Override PartName="/ppt/slides/slide38.xml" ContentType="application/vnd.openxmlformats-officedocument.presentationml.slide+xml"/>
  <Override PartName="/ppt/notesSlides/notesSlide39.xml" ContentType="application/vnd.openxmlformats-officedocument.presentationml.notesSlide+xml"/>
  <Override PartName="/ppt/slides/slide39.xml" ContentType="application/vnd.openxmlformats-officedocument.presentationml.slide+xml"/>
  <Override PartName="/ppt/notesSlides/notesSlide40.xml" ContentType="application/vnd.openxmlformats-officedocument.presentationml.notesSlide+xml"/>
  <Override PartName="/ppt/slides/slide40.xml" ContentType="application/vnd.openxmlformats-officedocument.presentationml.slide+xml"/>
  <Override PartName="/ppt/notesSlides/notesSlide41.xml" ContentType="application/vnd.openxmlformats-officedocument.presentationml.notesSlide+xml"/>
  <Override PartName="/ppt/slides/slide41.xml" ContentType="application/vnd.openxmlformats-officedocument.presentationml.slide+xml"/>
  <Override PartName="/ppt/notesSlides/notesSlide42.xml" ContentType="application/vnd.openxmlformats-officedocument.presentationml.notesSlide+xml"/>
  <Override PartName="/ppt/slides/slide42.xml" ContentType="application/vnd.openxmlformats-officedocument.presentationml.slide+xml"/>
  <Override PartName="/ppt/notesSlides/notesSlide43.xml" ContentType="application/vnd.openxmlformats-officedocument.presentationml.notesSlide+xml"/>
  <Override PartName="/ppt/slides/slide43.xml" ContentType="application/vnd.openxmlformats-officedocument.presentationml.slide+xml"/>
  <Override PartName="/ppt/notesSlides/notesSlide44.xml" ContentType="application/vnd.openxmlformats-officedocument.presentationml.notesSlide+xml"/>
  <Override PartName="/ppt/slides/slide44.xml" ContentType="application/vnd.openxmlformats-officedocument.presentationml.slide+xml"/>
  <Override PartName="/ppt/notesSlides/notesSlide45.xml" ContentType="application/vnd.openxmlformats-officedocument.presentationml.notesSlide+xml"/>
  <Override PartName="/ppt/slides/slide45.xml" ContentType="application/vnd.openxmlformats-officedocument.presentationml.slide+xml"/>
  <Override PartName="/ppt/notesSlides/notesSlide46.xml" ContentType="application/vnd.openxmlformats-officedocument.presentationml.notesSlide+xml"/>
  <Override PartName="/ppt/slides/slide46.xml" ContentType="application/vnd.openxmlformats-officedocument.presentationml.slide+xml"/>
  <Override PartName="/ppt/notesSlides/notesSlide47.xml" ContentType="application/vnd.openxmlformats-officedocument.presentationml.notesSlide+xml"/>
  <Override PartName="/ppt/slides/slide47.xml" ContentType="application/vnd.openxmlformats-officedocument.presentationml.slide+xml"/>
  <Override PartName="/ppt/charts/chart1.xml" ContentType="application/vnd.openxmlformats-officedocument.drawingml.chart+xml"/>
  <Override PartName="/ppt/notesSlides/notesSlide48.xml" ContentType="application/vnd.openxmlformats-officedocument.presentationml.notesSlide+xml"/>
  <Override PartName="/ppt/slides/slide48.xml" ContentType="application/vnd.openxmlformats-officedocument.presentationml.slide+xml"/>
  <Override PartName="/ppt/notesSlides/notesSlide49.xml" ContentType="application/vnd.openxmlformats-officedocument.presentationml.notesSlide+xml"/>
  <Override PartName="/ppt/slides/slide49.xml" ContentType="application/vnd.openxmlformats-officedocument.presentationml.slide+xml"/>
  <Override PartName="/ppt/notesSlides/notesSlide50.xml" ContentType="application/vnd.openxmlformats-officedocument.presentationml.notesSlide+xml"/>
  <Override PartName="/ppt/slides/slide50.xml" ContentType="application/vnd.openxmlformats-officedocument.presentationml.slide+xml"/>
  <Override PartName="/ppt/notesSlides/notesSlide51.xml" ContentType="application/vnd.openxmlformats-officedocument.presentationml.notesSlide+xml"/>
  <Override PartName="/ppt/slides/slide51.xml" ContentType="application/vnd.openxmlformats-officedocument.presentationml.slide+xml"/>
  <Override PartName="/ppt/notesSlides/notesSlide52.xml" ContentType="application/vnd.openxmlformats-officedocument.presentationml.notesSlide+xml"/>
  <Override PartName="/ppt/slides/slide52.xml" ContentType="application/vnd.openxmlformats-officedocument.presentationml.slide+xml"/>
  <Override PartName="/ppt/charts/chart2.xml" ContentType="application/vnd.openxmlformats-officedocument.drawingml.chart+xml"/>
  <Override PartName="/ppt/notesSlides/notesSlide53.xml" ContentType="application/vnd.openxmlformats-officedocument.presentationml.notesSlide+xml"/>
  <Override PartName="/ppt/slides/slide53.xml" ContentType="application/vnd.openxmlformats-officedocument.presentationml.slide+xml"/>
  <Override PartName="/ppt/notesSlides/notesSlide54.xml" ContentType="application/vnd.openxmlformats-officedocument.presentationml.notesSlide+xml"/>
  <Override PartName="/ppt/slides/slide54.xml" ContentType="application/vnd.openxmlformats-officedocument.presentationml.slide+xml"/>
  <Override PartName="/ppt/notesSlides/notesSlide55.xml" ContentType="application/vnd.openxmlformats-officedocument.presentationml.notesSlide+xml"/>
  <Override PartName="/ppt/slides/slide55.xml" ContentType="application/vnd.openxmlformats-officedocument.presentationml.slide+xml"/>
  <Override PartName="/ppt/charts/chart3.xml" ContentType="application/vnd.openxmlformats-officedocument.drawingml.chart+xml"/>
  <Override PartName="/ppt/notesSlides/notesSlide56.xml" ContentType="application/vnd.openxmlformats-officedocument.presentationml.notesSlide+xml"/>
  <Override PartName="/ppt/slides/slide56.xml" ContentType="application/vnd.openxmlformats-officedocument.presentationml.slide+xml"/>
  <Override PartName="/ppt/notesSlides/notesSlide57.xml" ContentType="application/vnd.openxmlformats-officedocument.presentationml.notesSlide+xml"/>
  <Override PartName="/ppt/slides/slide57.xml" ContentType="application/vnd.openxmlformats-officedocument.presentationml.slide+xml"/>
  <Override PartName="/ppt/notesSlides/notesSlide58.xml" ContentType="application/vnd.openxmlformats-officedocument.presentationml.notesSlide+xml"/>
  <Override PartName="/ppt/slides/slide58.xml" ContentType="application/vnd.openxmlformats-officedocument.presentationml.slide+xml"/>
  <Override PartName="/ppt/notesSlides/notesSlide59.xml" ContentType="application/vnd.openxmlformats-officedocument.presentationml.notesSlide+xml"/>
  <Override PartName="/ppt/slides/slide59.xml" ContentType="application/vnd.openxmlformats-officedocument.presentationml.slide+xml"/>
  <Override PartName="/ppt/notesSlides/notesSlide60.xml" ContentType="application/vnd.openxmlformats-officedocument.presentationml.notesSlide+xml"/>
  <Override PartName="/ppt/slides/slide60.xml" ContentType="application/vnd.openxmlformats-officedocument.presentationml.slide+xml"/>
  <Override PartName="/ppt/notesSlides/notesSlide61.xml" ContentType="application/vnd.openxmlformats-officedocument.presentationml.notesSlide+xml"/>
  <Override PartName="/ppt/slides/slide61.xml" ContentType="application/vnd.openxmlformats-officedocument.presentationml.slide+xml"/>
  <Override PartName="/ppt/notesSlides/notesSlide62.xml" ContentType="application/vnd.openxmlformats-officedocument.presentationml.notesSlide+xml"/>
  <Override PartName="/ppt/slides/slide62.xml" ContentType="application/vnd.openxmlformats-officedocument.presentationml.slide+xml"/>
  <Override PartName="/ppt/notesSlides/notesSlide63.xml" ContentType="application/vnd.openxmlformats-officedocument.presentationml.notesSlide+xml"/>
  <Override PartName="/ppt/slides/slide63.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3"/>
  </p:notesMasterIdLst>
  <p:sldIdLst>
    <p:sldId id="257" r:id="rId1001"/>
    <p:sldId id="258" r:id="rId1002"/>
    <p:sldId id="259" r:id="rId1003"/>
    <p:sldId id="260" r:id="rId1004"/>
    <p:sldId id="261" r:id="rId1005"/>
    <p:sldId id="262" r:id="rId1006"/>
    <p:sldId id="263" r:id="rId1007"/>
    <p:sldId id="264" r:id="rId1008"/>
    <p:sldId id="265" r:id="rId1009"/>
    <p:sldId id="266" r:id="rId1010"/>
    <p:sldId id="267" r:id="rId1011"/>
    <p:sldId id="268" r:id="rId1012"/>
    <p:sldId id="269" r:id="rId1013"/>
    <p:sldId id="270" r:id="rId1014"/>
    <p:sldId id="271" r:id="rId1015"/>
    <p:sldId id="272" r:id="rId1016"/>
    <p:sldId id="273" r:id="rId1017"/>
    <p:sldId id="274" r:id="rId1018"/>
    <p:sldId id="275" r:id="rId1019"/>
    <p:sldId id="276" r:id="rId1020"/>
    <p:sldId id="277" r:id="rId1021"/>
    <p:sldId id="278" r:id="rId1022"/>
    <p:sldId id="279" r:id="rId1023"/>
    <p:sldId id="280" r:id="rId1024"/>
    <p:sldId id="281" r:id="rId1025"/>
    <p:sldId id="282" r:id="rId1026"/>
    <p:sldId id="283" r:id="rId1027"/>
    <p:sldId id="284" r:id="rId1028"/>
    <p:sldId id="285" r:id="rId1029"/>
    <p:sldId id="286" r:id="rId1030"/>
    <p:sldId id="287" r:id="rId1031"/>
    <p:sldId id="288" r:id="rId1032"/>
    <p:sldId id="289" r:id="rId1033"/>
    <p:sldId id="290" r:id="rId1034"/>
    <p:sldId id="291" r:id="rId1035"/>
    <p:sldId id="292" r:id="rId1036"/>
    <p:sldId id="293" r:id="rId1037"/>
    <p:sldId id="294" r:id="rId1038"/>
    <p:sldId id="295" r:id="rId1039"/>
    <p:sldId id="296" r:id="rId1040"/>
    <p:sldId id="297" r:id="rId1041"/>
    <p:sldId id="298" r:id="rId1042"/>
    <p:sldId id="299" r:id="rId1043"/>
    <p:sldId id="300" r:id="rId1044"/>
    <p:sldId id="301" r:id="rId1045"/>
    <p:sldId id="302" r:id="rId1046"/>
    <p:sldId id="303" r:id="rId1047"/>
    <p:sldId id="304" r:id="rId1048"/>
    <p:sldId id="305" r:id="rId1049"/>
    <p:sldId id="306" r:id="rId1050"/>
    <p:sldId id="307" r:id="rId1051"/>
    <p:sldId id="308" r:id="rId1052"/>
    <p:sldId id="309" r:id="rId1053"/>
    <p:sldId id="310" r:id="rId1054"/>
    <p:sldId id="311" r:id="rId1055"/>
    <p:sldId id="312" r:id="rId1056"/>
    <p:sldId id="313" r:id="rId1057"/>
    <p:sldId id="314" r:id="rId1058"/>
    <p:sldId id="315" r:id="rId1059"/>
    <p:sldId id="316" r:id="rId1060"/>
    <p:sldId id="317" r:id="rId1061"/>
    <p:sldId id="318" r:id="rId1062"/>
    <p:sldId id="319" r:id="rId106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p:restoredTop sz="65757"/>
  </p:normalViewPr>
  <p:slideViewPr>
    <p:cSldViewPr snapToGrid="0" snapToObjects="1">
      <p:cViewPr varScale="1">
        <p:scale>
          <a:sx n="120" d="100"/>
          <a:sy n="120" d="100"/>
        </p:scale>
        <p:origin x="201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07" Type="http://schemas.openxmlformats.org/officeDocument/2006/relationships/tableStyles" Target="tableStyles.xml"/><Relationship Id="rId103" Type="http://schemas.openxmlformats.org/officeDocument/2006/relationships/notesMaster" Target="notesMasters/notesMaster1.xml"/><Relationship Id="rId1" Type="http://schemas.openxmlformats.org/officeDocument/2006/relationships/slideMaster" Target="slideMasters/slideMaster1.xml"/><Relationship Id="rId106" Type="http://schemas.openxmlformats.org/officeDocument/2006/relationships/theme" Target="theme/theme1.xml"/><Relationship Id="rId104" Type="http://schemas.openxmlformats.org/officeDocument/2006/relationships/presProps" Target="presProps.xml"/><Relationship Id="rId105" Type="http://schemas.openxmlformats.org/officeDocument/2006/relationships/viewProps" Target="viewProps.xml"/><Relationship Id="rId1001" Type="http://schemas.openxmlformats.org/officeDocument/2006/relationships/slide" Target="slides/slide1.xml"/><Relationship Id="rId1002" Type="http://schemas.openxmlformats.org/officeDocument/2006/relationships/slide" Target="slides/slide2.xml"/><Relationship Id="rId1003" Type="http://schemas.openxmlformats.org/officeDocument/2006/relationships/slide" Target="slides/slide3.xml"/><Relationship Id="rId1004" Type="http://schemas.openxmlformats.org/officeDocument/2006/relationships/slide" Target="slides/slide4.xml"/><Relationship Id="rId1005" Type="http://schemas.openxmlformats.org/officeDocument/2006/relationships/slide" Target="slides/slide5.xml"/><Relationship Id="rId1006" Type="http://schemas.openxmlformats.org/officeDocument/2006/relationships/slide" Target="slides/slide6.xml"/><Relationship Id="rId1007" Type="http://schemas.openxmlformats.org/officeDocument/2006/relationships/slide" Target="slides/slide7.xml"/><Relationship Id="rId1008" Type="http://schemas.openxmlformats.org/officeDocument/2006/relationships/slide" Target="slides/slide8.xml"/><Relationship Id="rId1009" Type="http://schemas.openxmlformats.org/officeDocument/2006/relationships/slide" Target="slides/slide9.xml"/><Relationship Id="rId1010" Type="http://schemas.openxmlformats.org/officeDocument/2006/relationships/slide" Target="slides/slide10.xml"/><Relationship Id="rId1011" Type="http://schemas.openxmlformats.org/officeDocument/2006/relationships/slide" Target="slides/slide11.xml"/><Relationship Id="rId1012" Type="http://schemas.openxmlformats.org/officeDocument/2006/relationships/slide" Target="slides/slide12.xml"/><Relationship Id="rId1013" Type="http://schemas.openxmlformats.org/officeDocument/2006/relationships/slide" Target="slides/slide13.xml"/><Relationship Id="rId1014" Type="http://schemas.openxmlformats.org/officeDocument/2006/relationships/slide" Target="slides/slide14.xml"/><Relationship Id="rId1015" Type="http://schemas.openxmlformats.org/officeDocument/2006/relationships/slide" Target="slides/slide15.xml"/><Relationship Id="rId1016" Type="http://schemas.openxmlformats.org/officeDocument/2006/relationships/slide" Target="slides/slide16.xml"/><Relationship Id="rId1017" Type="http://schemas.openxmlformats.org/officeDocument/2006/relationships/slide" Target="slides/slide17.xml"/><Relationship Id="rId1018" Type="http://schemas.openxmlformats.org/officeDocument/2006/relationships/slide" Target="slides/slide18.xml"/><Relationship Id="rId1019" Type="http://schemas.openxmlformats.org/officeDocument/2006/relationships/slide" Target="slides/slide19.xml"/><Relationship Id="rId1020" Type="http://schemas.openxmlformats.org/officeDocument/2006/relationships/slide" Target="slides/slide20.xml"/><Relationship Id="rId1021" Type="http://schemas.openxmlformats.org/officeDocument/2006/relationships/slide" Target="slides/slide21.xml"/><Relationship Id="rId1022" Type="http://schemas.openxmlformats.org/officeDocument/2006/relationships/slide" Target="slides/slide22.xml"/><Relationship Id="rId1023" Type="http://schemas.openxmlformats.org/officeDocument/2006/relationships/slide" Target="slides/slide23.xml"/><Relationship Id="rId1024" Type="http://schemas.openxmlformats.org/officeDocument/2006/relationships/slide" Target="slides/slide24.xml"/><Relationship Id="rId1025" Type="http://schemas.openxmlformats.org/officeDocument/2006/relationships/slide" Target="slides/slide25.xml"/><Relationship Id="rId1026" Type="http://schemas.openxmlformats.org/officeDocument/2006/relationships/slide" Target="slides/slide26.xml"/><Relationship Id="rId1027" Type="http://schemas.openxmlformats.org/officeDocument/2006/relationships/slide" Target="slides/slide27.xml"/><Relationship Id="rId1028" Type="http://schemas.openxmlformats.org/officeDocument/2006/relationships/slide" Target="slides/slide28.xml"/><Relationship Id="rId1029" Type="http://schemas.openxmlformats.org/officeDocument/2006/relationships/slide" Target="slides/slide29.xml"/><Relationship Id="rId1030" Type="http://schemas.openxmlformats.org/officeDocument/2006/relationships/slide" Target="slides/slide30.xml"/><Relationship Id="rId1031" Type="http://schemas.openxmlformats.org/officeDocument/2006/relationships/slide" Target="slides/slide31.xml"/><Relationship Id="rId1032" Type="http://schemas.openxmlformats.org/officeDocument/2006/relationships/slide" Target="slides/slide32.xml"/><Relationship Id="rId1033" Type="http://schemas.openxmlformats.org/officeDocument/2006/relationships/slide" Target="slides/slide33.xml"/><Relationship Id="rId1034" Type="http://schemas.openxmlformats.org/officeDocument/2006/relationships/slide" Target="slides/slide34.xml"/><Relationship Id="rId1035" Type="http://schemas.openxmlformats.org/officeDocument/2006/relationships/slide" Target="slides/slide35.xml"/><Relationship Id="rId1036" Type="http://schemas.openxmlformats.org/officeDocument/2006/relationships/slide" Target="slides/slide36.xml"/><Relationship Id="rId1037" Type="http://schemas.openxmlformats.org/officeDocument/2006/relationships/slide" Target="slides/slide37.xml"/><Relationship Id="rId1038" Type="http://schemas.openxmlformats.org/officeDocument/2006/relationships/slide" Target="slides/slide38.xml"/><Relationship Id="rId1039" Type="http://schemas.openxmlformats.org/officeDocument/2006/relationships/slide" Target="slides/slide39.xml"/><Relationship Id="rId1040" Type="http://schemas.openxmlformats.org/officeDocument/2006/relationships/slide" Target="slides/slide40.xml"/><Relationship Id="rId1041" Type="http://schemas.openxmlformats.org/officeDocument/2006/relationships/slide" Target="slides/slide41.xml"/><Relationship Id="rId1042" Type="http://schemas.openxmlformats.org/officeDocument/2006/relationships/slide" Target="slides/slide42.xml"/><Relationship Id="rId1043" Type="http://schemas.openxmlformats.org/officeDocument/2006/relationships/slide" Target="slides/slide43.xml"/><Relationship Id="rId1044" Type="http://schemas.openxmlformats.org/officeDocument/2006/relationships/slide" Target="slides/slide44.xml"/><Relationship Id="rId1045" Type="http://schemas.openxmlformats.org/officeDocument/2006/relationships/slide" Target="slides/slide45.xml"/><Relationship Id="rId1046" Type="http://schemas.openxmlformats.org/officeDocument/2006/relationships/slide" Target="slides/slide46.xml"/><Relationship Id="rId1047" Type="http://schemas.openxmlformats.org/officeDocument/2006/relationships/slide" Target="slides/slide47.xml"/><Relationship Id="rId1048" Type="http://schemas.openxmlformats.org/officeDocument/2006/relationships/slide" Target="slides/slide48.xml"/><Relationship Id="rId1049" Type="http://schemas.openxmlformats.org/officeDocument/2006/relationships/slide" Target="slides/slide49.xml"/><Relationship Id="rId1050" Type="http://schemas.openxmlformats.org/officeDocument/2006/relationships/slide" Target="slides/slide50.xml"/><Relationship Id="rId1051" Type="http://schemas.openxmlformats.org/officeDocument/2006/relationships/slide" Target="slides/slide51.xml"/><Relationship Id="rId1052" Type="http://schemas.openxmlformats.org/officeDocument/2006/relationships/slide" Target="slides/slide52.xml"/><Relationship Id="rId1053" Type="http://schemas.openxmlformats.org/officeDocument/2006/relationships/slide" Target="slides/slide53.xml"/><Relationship Id="rId1054" Type="http://schemas.openxmlformats.org/officeDocument/2006/relationships/slide" Target="slides/slide54.xml"/><Relationship Id="rId1055" Type="http://schemas.openxmlformats.org/officeDocument/2006/relationships/slide" Target="slides/slide55.xml"/><Relationship Id="rId1056" Type="http://schemas.openxmlformats.org/officeDocument/2006/relationships/slide" Target="slides/slide56.xml"/><Relationship Id="rId1057" Type="http://schemas.openxmlformats.org/officeDocument/2006/relationships/slide" Target="slides/slide57.xml"/><Relationship Id="rId1058" Type="http://schemas.openxmlformats.org/officeDocument/2006/relationships/slide" Target="slides/slide58.xml"/><Relationship Id="rId1059" Type="http://schemas.openxmlformats.org/officeDocument/2006/relationships/slide" Target="slides/slide59.xml"/><Relationship Id="rId1060" Type="http://schemas.openxmlformats.org/officeDocument/2006/relationships/slide" Target="slides/slide60.xml"/><Relationship Id="rId1061" Type="http://schemas.openxmlformats.org/officeDocument/2006/relationships/slide" Target="slides/slide61.xml"/><Relationship Id="rId1062" Type="http://schemas.openxmlformats.org/officeDocument/2006/relationships/slide" Target="slides/slide62.xml"/><Relationship Id="rId1063" Type="http://schemas.openxmlformats.org/officeDocument/2006/relationships/slide" Target="slides/slide63.xml"/></Relationships>
</file>

<file path=ppt/charts/_rels/chart1.xml.rels><?xml version="1.0" encoding="UTF-8" standalone="yes"?><Relationships xmlns="http://schemas.openxmlformats.org/package/2006/relationships"><Relationship Id="rId1" Type="http://schemas.openxmlformats.org/officeDocument/2006/relationships/package" Target="../embeddings/emb1.xlsx"/></Relationships>
</file>

<file path=ppt/charts/_rels/chart2.xml.rels><?xml version="1.0" encoding="UTF-8" standalone="yes"?><Relationships xmlns="http://schemas.openxmlformats.org/package/2006/relationships"><Relationship Id="rId1" Type="http://schemas.openxmlformats.org/officeDocument/2006/relationships/package" Target="../embeddings/emb2.xlsx"/></Relationships>
</file>

<file path=ppt/charts/_rels/chart3.xml.rels><?xml version="1.0" encoding="UTF-8" standalone="yes"?><Relationships xmlns="http://schemas.openxmlformats.org/package/2006/relationships"><Relationship Id="rId1" Type="http://schemas.openxmlformats.org/officeDocument/2006/relationships/package" Target="../embeddings/emb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Probabilità che l'intero processo riesca (%), per numero di passaggi</a:t>
            </a:r>
          </a:p>
        </c:rich>
      </c:tx>
      <c:layout/>
      <c:overlay val="0"/>
    </c:title>
    <c:autoTitleDeleted val="0"/>
    <c:plotArea>
      <c:layout/>
      <c:lineChart>
        <c:varyColors val="0"/>
        <c:ser>
          <c:idx val="0"/>
          <c:order val="0"/>
          <c:tx>
            <c:strRef>
              <c:f>Sheet1!$B$1</c:f>
              <c:strCache>
                <c:ptCount val="1"/>
                <c:pt idx="0">
                  <c:v>99% per passaggio</c:v>
                </c:pt>
              </c:strCache>
            </c:strRef>
          </c:tx>
          <c:spPr>
            <a:solidFill>
              <a:srgbClr val="2E7D7A"/>
            </a:solidFill>
            <a:ln w="31750" cap="flat">
              <a:solidFill>
                <a:srgbClr val="2E7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D7A"/>
              </a:solidFill>
              <a:ln w="9525" cap="flat">
                <a:solidFill>
                  <a:srgbClr val="2E7D7A"/>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99</c:v>
                </c:pt>
                <c:pt idx="1">
                  <c:v>98</c:v>
                </c:pt>
                <c:pt idx="2">
                  <c:v>97</c:v>
                </c:pt>
                <c:pt idx="3">
                  <c:v>96.1</c:v>
                </c:pt>
                <c:pt idx="4">
                  <c:v>95.1</c:v>
                </c:pt>
                <c:pt idx="5">
                  <c:v>94.1</c:v>
                </c:pt>
                <c:pt idx="6">
                  <c:v>93.2</c:v>
                </c:pt>
                <c:pt idx="7">
                  <c:v>92.3</c:v>
                </c:pt>
                <c:pt idx="8">
                  <c:v>91.4</c:v>
                </c:pt>
                <c:pt idx="9">
                  <c:v>90.4</c:v>
                </c:pt>
                <c:pt idx="10">
                  <c:v>89.5</c:v>
                </c:pt>
                <c:pt idx="11">
                  <c:v>88.6</c:v>
                </c:pt>
                <c:pt idx="12">
                  <c:v>87.8</c:v>
                </c:pt>
                <c:pt idx="13">
                  <c:v>86.9</c:v>
                </c:pt>
                <c:pt idx="14">
                  <c:v>86</c:v>
                </c:pt>
                <c:pt idx="15">
                  <c:v>85.1</c:v>
                </c:pt>
                <c:pt idx="16">
                  <c:v>84.3</c:v>
                </c:pt>
                <c:pt idx="17">
                  <c:v>83.5</c:v>
                </c:pt>
                <c:pt idx="18">
                  <c:v>82.6</c:v>
                </c:pt>
                <c:pt idx="19">
                  <c:v>81.8</c:v>
                </c:pt>
              </c:numCache>
            </c:numRef>
          </c:val>
          <c:smooth val="0"/>
        </c:ser>
        <c:ser>
          <c:idx val="1"/>
          <c:order val="1"/>
          <c:tx>
            <c:strRef>
              <c:f>Sheet1!$C$1</c:f>
              <c:strCache>
                <c:ptCount val="1"/>
                <c:pt idx="0">
                  <c:v>95% per passaggio</c:v>
                </c:pt>
              </c:strCache>
            </c:strRef>
          </c:tx>
          <c:spPr>
            <a:solidFill>
              <a:srgbClr val="A86F1C"/>
            </a:solidFill>
            <a:ln w="31750" cap="flat">
              <a:solidFill>
                <a:srgbClr val="A86F1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6F1C"/>
              </a:solidFill>
              <a:ln w="9525" cap="flat">
                <a:solidFill>
                  <a:srgbClr val="A86F1C"/>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95</c:v>
                </c:pt>
                <c:pt idx="1">
                  <c:v>90.3</c:v>
                </c:pt>
                <c:pt idx="2">
                  <c:v>85.7</c:v>
                </c:pt>
                <c:pt idx="3">
                  <c:v>81.5</c:v>
                </c:pt>
                <c:pt idx="4">
                  <c:v>77.4</c:v>
                </c:pt>
                <c:pt idx="5">
                  <c:v>73.5</c:v>
                </c:pt>
                <c:pt idx="6">
                  <c:v>69.8</c:v>
                </c:pt>
                <c:pt idx="7">
                  <c:v>66.3</c:v>
                </c:pt>
                <c:pt idx="8">
                  <c:v>63</c:v>
                </c:pt>
                <c:pt idx="9">
                  <c:v>59.9</c:v>
                </c:pt>
                <c:pt idx="10">
                  <c:v>56.9</c:v>
                </c:pt>
                <c:pt idx="11">
                  <c:v>54</c:v>
                </c:pt>
                <c:pt idx="12">
                  <c:v>51.3</c:v>
                </c:pt>
                <c:pt idx="13">
                  <c:v>48.8</c:v>
                </c:pt>
                <c:pt idx="14">
                  <c:v>46.3</c:v>
                </c:pt>
                <c:pt idx="15">
                  <c:v>44</c:v>
                </c:pt>
                <c:pt idx="16">
                  <c:v>41.8</c:v>
                </c:pt>
                <c:pt idx="17">
                  <c:v>39.7</c:v>
                </c:pt>
                <c:pt idx="18">
                  <c:v>37.7</c:v>
                </c:pt>
                <c:pt idx="19">
                  <c:v>35.8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9DE"/>
            </a:solidFill>
            <a:prstDash val="solid"/>
            <a:round/>
          </a:ln>
        </c:spPr>
        <c:txPr>
          <a:bodyPr/>
          <a:lstStyle/>
          <a:p>
            <a:pPr>
              <a:defRPr sz="10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1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15C"/>
              </a:solidFill>
              <a:latin typeface="+mn-lt"/>
              <a:cs typeface="+mn-lt"/>
            </a:defRPr>
          </a:pPr>
          <a:endParaRPr lang="en-US"/>
        </a:p>
      </c:txPr>
    </c:legend>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15C"/>
                </a:solidFill>
                <a:latin typeface="+mn-lt"/>
              </a:defRPr>
            </a:pPr>
            <a:r>
              <a:rPr sz="1100" b="0" i="0" u="none" strike="noStrike">
                <a:solidFill>
                  <a:srgbClr val="4A515C"/>
                </a:solidFill>
                <a:latin typeface="+mn-lt"/>
              </a:rPr>
              <a:t>Minuti per passaggio (esempio fittizio)</a:t>
            </a:r>
          </a:p>
        </c:rich>
      </c:tx>
      <c:layout/>
      <c:overlay val="0"/>
    </c:title>
    <c:autoTitleDeleted val="0"/>
    <c:plotArea>
      <c:layout/>
      <c:barChart>
        <c:barDir val="col"/>
        <c:grouping val="clustered"/>
        <c:varyColors val="0"/>
        <c:ser>
          <c:idx val="0"/>
          <c:order val="0"/>
          <c:tx>
            <c:strRef>
              <c:f>Sheet1!$B$1</c:f>
              <c:strCache>
                <c:ptCount val="1"/>
                <c:pt idx="0">
                  <c:v>Prima dell'AI</c:v>
                </c:pt>
              </c:strCache>
            </c:strRef>
          </c:tx>
          <c:spPr>
            <a:solidFill>
              <a:srgbClr val="8A939E"/>
            </a:solidFill>
            <a:effectLst/>
          </c:spPr>
          <c:invertIfNegative val="0"/>
          <c:dLbls>
            <c:numFmt formatCode="#,##0" sourceLinked="0"/>
            <c:txPr>
              <a:bodyPr/>
              <a:lstStyle/>
              <a:p>
                <a:pPr>
                  <a:defRPr b="0" i="0" strike="noStrike" sz="1000" u="none">
                    <a:solidFill>
                      <a:srgbClr val="22262B"/>
                    </a:solidFill>
                    <a:latin typeface="Arial"/>
                  </a:defRPr>
                </a:pPr>
              </a:p>
            </c:txPr>
            <c:showLegendKey val="0"/>
            <c:showVal val="1"/>
            <c:showCatName val="0"/>
            <c:showSerName val="0"/>
            <c:showPercent val="0"/>
            <c:showBubbleSize val="0"/>
            <c:showLeaderLines val="0"/>
          </c:dLbls>
          <c:cat>
            <c:multiLvlStrRef>
              <c:f>Sheet1!$A$2:$A$4</c:f>
              <c:multiLvlStrCache>
                <c:ptCount val="3"/>
                <c:lvl>
                  <c:pt idx="0">
                    <c:v>Preparazione</c:v>
                  </c:pt>
                  <c:pt idx="1">
                    <c:v>Revisione</c:v>
                  </c:pt>
                  <c:pt idx="2">
                    <c:v>Approvazione</c:v>
                  </c:pt>
                </c:lvl>
              </c:multiLvlStrCache>
            </c:multiLvlStrRef>
          </c:cat>
          <c:val>
            <c:numRef>
              <c:f>Sheet1!$B$2:$B$4</c:f>
              <c:numCache>
                <c:formatCode>General</c:formatCode>
                <c:ptCount val="3"/>
                <c:pt idx="0">
                  <c:v>30</c:v>
                </c:pt>
                <c:pt idx="1">
                  <c:v>20</c:v>
                </c:pt>
                <c:pt idx="2">
                  <c:v>10</c:v>
                </c:pt>
              </c:numCache>
            </c:numRef>
          </c:val>
        </c:ser>
        <c:ser>
          <c:idx val="1"/>
          <c:order val="1"/>
          <c:tx>
            <c:strRef>
              <c:f>Sheet1!$C$1</c:f>
              <c:strCache>
                <c:ptCount val="1"/>
                <c:pt idx="0">
                  <c:v>Con AI</c:v>
                </c:pt>
              </c:strCache>
            </c:strRef>
          </c:tx>
          <c:spPr>
            <a:solidFill>
              <a:srgbClr val="2E7D7A"/>
            </a:solidFill>
            <a:effectLst/>
          </c:spPr>
          <c:invertIfNegative val="0"/>
          <c:dLbls>
            <c:numFmt formatCode="#,##0" sourceLinked="0"/>
            <c:txPr>
              <a:bodyPr/>
              <a:lstStyle/>
              <a:p>
                <a:pPr>
                  <a:defRPr b="0" i="0" strike="noStrike" sz="1000" u="none">
                    <a:solidFill>
                      <a:srgbClr val="22262B"/>
                    </a:solidFill>
                    <a:latin typeface="Arial"/>
                  </a:defRPr>
                </a:pPr>
              </a:p>
            </c:txPr>
            <c:showLegendKey val="0"/>
            <c:showVal val="1"/>
            <c:showCatName val="0"/>
            <c:showSerName val="0"/>
            <c:showPercent val="0"/>
            <c:showBubbleSize val="0"/>
            <c:showLeaderLines val="0"/>
          </c:dLbls>
          <c:cat>
            <c:multiLvlStrRef>
              <c:f>Sheet1!$A$2:$A$4</c:f>
              <c:multiLvlStrCache>
                <c:ptCount val="3"/>
                <c:lvl>
                  <c:pt idx="0">
                    <c:v>Preparazione</c:v>
                  </c:pt>
                  <c:pt idx="1">
                    <c:v>Revisione</c:v>
                  </c:pt>
                  <c:pt idx="2">
                    <c:v>Approvazione</c:v>
                  </c:pt>
                </c:lvl>
              </c:multiLvlStrCache>
            </c:multiLvlStrRef>
          </c:cat>
          <c:val>
            <c:numRef>
              <c:f>Sheet1!$C$2:$C$4</c:f>
              <c:numCache>
                <c:formatCode>General</c:formatCode>
                <c:ptCount val="3"/>
                <c:pt idx="0">
                  <c:v>10</c:v>
                </c:pt>
                <c:pt idx="1">
                  <c:v>25</c:v>
                </c:pt>
                <c:pt idx="2">
                  <c:v>10</c:v>
                </c:pt>
              </c:numCache>
            </c:numRef>
          </c:val>
        </c:ser>
        <c:dLbls>
          <c:numFmt formatCode="#,##0" sourceLinked="0"/>
          <c:txPr>
            <a:bodyPr/>
            <a:lstStyle/>
            <a:p>
              <a:pPr>
                <a:defRPr b="0" i="0" strike="noStrike" sz="1000" u="none">
                  <a:solidFill>
                    <a:srgbClr val="22262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3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1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Reclami settimanali (esempio fittizio)</a:t>
            </a:r>
          </a:p>
        </c:rich>
      </c:tx>
      <c:layout/>
      <c:overlay val="0"/>
    </c:title>
    <c:autoTitleDeleted val="0"/>
    <c:plotArea>
      <c:layout/>
      <c:lineChart>
        <c:varyColors val="0"/>
        <c:ser>
          <c:idx val="0"/>
          <c:order val="0"/>
          <c:tx>
            <c:strRef>
              <c:f>Sheet1!$B$1</c:f>
              <c:strCache>
                <c:ptCount val="1"/>
                <c:pt idx="0">
                  <c:v>Reclami</c:v>
                </c:pt>
              </c:strCache>
            </c:strRef>
          </c:tx>
          <c:spPr>
            <a:solidFill>
              <a:srgbClr val="2E7D7A"/>
            </a:solidFill>
            <a:ln w="31750" cap="flat">
              <a:solidFill>
                <a:srgbClr val="2E7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7D7A"/>
              </a:solidFill>
              <a:ln w="9525" cap="flat">
                <a:solidFill>
                  <a:srgbClr val="2E7D7A"/>
                </a:solidFill>
                <a:prstDash val="solid"/>
                <a:round/>
              </a:ln>
              <a:effectLst/>
            </c:spPr>
          </c:marker>
          <c:cat>
            <c:multiLvlStrRef>
              <c:f>Sheet1!$A$2:$A$15</c:f>
              <c:multiLvlStrCache>
                <c:ptCount val="14"/>
                <c:lvl>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lvl>
              </c:multiLvlStrCache>
            </c:multiLvlStrRef>
          </c:cat>
          <c:val>
            <c:numRef>
              <c:f>Sheet1!$B$2:$B$15</c:f>
              <c:numCache>
                <c:formatCode>General</c:formatCode>
                <c:ptCount val="14"/>
                <c:pt idx="0">
                  <c:v>12</c:v>
                </c:pt>
                <c:pt idx="1">
                  <c:v>14</c:v>
                </c:pt>
                <c:pt idx="2">
                  <c:v>11</c:v>
                </c:pt>
                <c:pt idx="3">
                  <c:v>13</c:v>
                </c:pt>
                <c:pt idx="4">
                  <c:v>15</c:v>
                </c:pt>
                <c:pt idx="5">
                  <c:v>12</c:v>
                </c:pt>
                <c:pt idx="6">
                  <c:v>14</c:v>
                </c:pt>
                <c:pt idx="7">
                  <c:v>13</c:v>
                </c:pt>
                <c:pt idx="8">
                  <c:v>41</c:v>
                </c:pt>
                <c:pt idx="9">
                  <c:v>16</c:v>
                </c:pt>
                <c:pt idx="10">
                  <c:v>13</c:v>
                </c:pt>
                <c:pt idx="11">
                  <c:v>12</c:v>
                </c:pt>
                <c:pt idx="12">
                  <c:v>14</c:v>
                </c:pt>
                <c:pt idx="13">
                  <c:v>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9DE"/>
            </a:solidFill>
            <a:prstDash val="solid"/>
            <a:round/>
          </a:ln>
        </c:spPr>
        <c:txPr>
          <a:bodyPr/>
          <a:lstStyle/>
          <a:p>
            <a:pPr>
              <a:defRPr sz="10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15C"/>
                </a:solidFill>
                <a:latin typeface="+mn-lt"/>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7372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Bentornati. Nella prima sessione abbiamo costruito un linguaggio comune: che cos'è l'AI, come funziona, e dove perdiamo tempo con le informazioni. Oggi facciamo tre cose. Primo, riprendiamo un pezzo che la volta scorsa non abbiamo fatto in tempo a vedere: i limiti dell'AI, in particolare le allucinazioni e i bias. Ci serve proprio adesso, perché oggi vedremo l'AI al lavoro e dobbiamo sapere dove guardare. Secondo, passiamo agli strumenti: Copilot, come scrivere richieste efficaci, tre dimostrazioni su documenti, richieste dei clienti e ticket. Terzo, torniamo ai vostri sprechi e proviamo a trasformarli in casi d'uso concreti.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Un rapido richiamo al percorso. Nella prima sessione abbiamo costruito un linguaggio comune: che cos'è l'AI, come funziona, e dove perdiamo tempo con le informazioni, con la mappa degli sprechi. Non abbiamo avuto il tempo di vedere i limiti dell'AI, in particolare allucinazioni e bias: li riprendiamo all'inizio di oggi, perché ci servono per guardare con occhio critico le dimostrazioni. Oggi, nella seconda sessione, passiamo agli strumenti: Copilot, richieste efficaci, tre dimostrazioni su documenti, richieste dei clienti e ticket, e l'AI nei processi, nel service e nel prodotto. Chiudiamo con una prima shortlist di casi d'uso costruita sui vostri sprechi. Nella terza sessione parleremo di regole, uso sicuro, GDPR, AI Act, NIS2, riservatezza, e sceglieremo due o tre progetti con le loro schede.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Partiamo dal compito per casa: provare l'AI su un'attività reale e non riservata, e annotare richiesta, risultato, errori e tempo. Facciamo un giro rapido, al massimo un minuto a testa, solo per chi ha voglia. Mettiamo ogni esperienza in una delle tre colonne: ha funzionato, a metà, non ha funzionato. Mi interessano soprattutto gli errori: tra pochi minuti parleremo di allucinazioni e bias, e i vostri esempi valgono più dei miei. Le idee nuove che emergono vanno sul parcheggio dei casi d'uso. Percorso B: il formatore racconta due esperienze tipiche, una riuscita e una con errori, e chiede all'aula se ha avuto esperienze simili.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Questa è la vostra mappa degli sprechi della sessione 1, riordinata. Ho raggruppato i post-it in sei temi trasversali. Il primo, le informazioni disperse, tocca quasi tutti i reparti: Direzione, Amministrazione, Ufficio Tecnico, Service, Elettrico. Il secondo riguarda i controlli incrociati: confrontare fatture, documenti dei fornitori, disegni e gestionale. Il terzo le offerte e i preventivi, il quarto l'estero, cioè traduzioni e normative diverse da paese a paese. Gli ultimi due, i disegni ripetitivi e la pianificazione della produzione, sono più specifici e vanno ancora chiariti. Percorso A: adesso ognuno di voi ha tre bollini. Metteteli sugli sprechi che vi fanno perdere più tempo in un mese, anche di altri reparti. Poi vi chiedo: quante volte al mese, quanto tempo ogni volta? Domande aperte da fare: la nota della Direzione sulle fatture, che cosa si intende per gestione pezzi in produzione, e se Commerciale e Acquisti hanno sprechi da aggiungere. Percorso B: alzata di mano sul tema che pesa di più.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La volta scorsa ci siamo fermati qui: avevamo visto che cos'è l'AI e come funziona, ma non abbiamo avuto il tempo di parlare dei suoi limiti. Li recuperiamo adesso, in una quarantina di minuti, perché sono la premessa di tutto quello che vedremo oggi. Ci concentriamo su due fenomeni: le allucinazioni, cioè informazioni false presentate come vere, e i bias, cioè distorsioni sistematiche nelle risposte. Chiuderemo con una checklist da usare ogni volta che prendete un risultato dell'AI, e la useremo subito dopo le dimostrazioni.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slide sintetizza lo spirito dell'intero modulo. Immaginiamo una scala. A un estremo c'è la fiducia eccessiva: si accetta qualunque risposta perché è scritta bene, si copiano dati senza controllarli, si delegano decisioni importanti. Il rischio è usare informazioni false o distorte, con conseguenze anche gravi. All'altro estremo c'è la sfiducia totale: si scarta l'AI perché 'sbaglia', anche per attività in cui sarebbe molto utile e facilmente verificabile. Il rischio è perdere opportunità reali e restare indietro. In mezzo c'è la fiducia calibrata: il livello di fiducia e di controllo viene regolato in base al compito, al sistema e alle conseguenze di un possibile errore. Per scrivere la bozza di un'email interna basta una rilettura; per un dato da inserire in un contratto serve una verifica sulla fonte; per una decisione che riguarda la salute o la sicurezza di una persona l'AI può essere al massimo un supporto per un esperto. Domanda per il gruppo: in quale punto della scala vi collochereste oggi?</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Entriamo in uno dei sottotemi da comprendere in modo approfondito. Le allucinazioni sono probabilmente il limite più noto dei sistemi generativi, e uno dei più insidiosi, perché si presentano nella stessa forma delle risposte corrette. Vedremo che cosa sono, quali forme assumono, perché si verificano, a livello concettuale, e perché la plausibilità di una risposta non coincide con la sua veridicità. Ci soffermeremo poi sull'autorevolezza apparente, cioè sul rischio di credere a ciò che è scritto bene.</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Nei sistemi generativi si parla di allucinazione quando il sistema produce un contenuto presentato come vero ma falso, inesatto o privo di fondamento</a:t>
            </a:r>
            <a:r>
              <a:rPr lang="en-US" dirty="0"/>
              <a:t>. </a:t>
            </a:r>
          </a:p>
          <a:p>
            <a:endParaRPr lang="en-US" dirty="0"/>
          </a:p>
          <a:p>
            <a:r>
              <a:rPr lang="en-US" dirty="0"/>
              <a:t>Il termine è entrato nell'uso comune, anche se è una metafora imperfetta: il sistema non 'vede' cose che non ci sono, ma genera testo plausibile che non corrisponde ai fatti. Possiamo distinguere tre forme. Informazioni inventate: fatti, eventi, persone, dati o documenti che non esistono. Informazioni inesatte: elementi reali ma riportati in modo sbagliato, per esempio una data spostata di un anno, un numero errato, una norma attribuita all'articolo sbagliato, una citazione modificata. Informazioni prive di fondamento: affermazioni che potrebbero anche essere vere, ma che non derivano da nessuna fonte disponibile; per esempio, quando chiediamo un riassunto di un documento e il sistema aggiunge un'informazione che il documento non contiene. Quest'ultima forma è particolarmente rilevante in azienda, perché si presenta proprio quando pensiamo di essere al sicuro, cioè quando abbiamo fornito noi il documento.</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forma di allucinazione particolarmente insidiosa riguarda le fonti. Un sistema generativo può produrre riferimenti bibliografici con autori, titoli, riviste e anni del tutto verosimili ma inesistenti; link a pagine che non esistono; citazioni attribuite a persone reali che non le hanno mai pronunciate; riferimenti normativi o giurisprudenziali inventati. Il caso più noto è avvenuto negli Stati Uniti nel 2023, nella causa Mata contro Avianca davanti a un tribunale federale di New York. Gli avvocati di una delle parti depositarono una memoria che citava diversi precedenti giudiziari. Quei precedenti, con tanto di nomi delle parti, numeri e citazioni testuali, erano stati generati da ChatGPT e non esistevano. Il giudice sanzionò gli avvocati e lo studio. Il caso è istruttivo per due ragioni: i riferimenti erano formalmente perfetti, e gli avvocati avevano persino chiesto al sistema se i casi fossero reali, ricevendo una conferma. Da allora episodi simili si sono ripetuti in diversi paesi. La lezione: una fonte citata dall'AI va trattata come un'indicazione da verificare, non come una prova. Se la fonte non si trova, va considerata inesistente.</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Senza ripetere il funzionamento visto nel Tema 2, richiamiamo i meccanismi che spiegano le allucinazioni. Primo: un modello linguistico genera il testo più plausibile in base alle regolarità apprese, e non possiede un meccanismo interno che verifichi ogni affermazione rispetto ai fatti. Plausibile e vero coincidono spesso, ma non sempre. Secondo: la conoscenza incorporata è incompleta e imprecisa, soprattutto su argomenti di nicchia, dettagli specifici e informazioni poco presenti nei dati di addestramento; dove la conoscenza è scarsa, il modello tende a ricostruire. Terzo: la conoscenza è ferma alla data limite, e le informazioni successive non sono note. Quarto: i modelli tendono a dare comunque una risposta invece di ammettere di non sapere. Un'analisi pubblicata nel 2025 da ricercatori di OpenAI sostiene che una causa sia proprio il modo in cui i modelli vengono addestrati e valutati, che spesso premia una risposta azzardata più di un'ammissione di incertezza, come uno studente che in un test a crocette tira a indovinare. Quinto: le domande stesse possono indurre l'errore, per esempio quando contengono una premessa falsa ('perché la legge X ha abolito Y?') che il modello asseconda. I sistemi più recenti allucinano in genere meno dei precedenti, soprattutto con ricerca e grounding, ma il fenomeno non è stato eliminato.</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distinzione centrale del sottotema. La plausibilità linguistica riguarda la forma: un testo è plausibile se è grammaticalmente corretto, coerente, scritto nello stile giusto e simile a testi veri sullo stesso argomento. La veridicità riguarda il contenuto: un'affermazione è vera se corrisponde ai fatti, verificabili su fonti affidabili. Un modello linguistico è ottimizzato soprattutto per la prima: è stato addestrato a produrre testo plausibile. Per questo le sue risposte sono quasi sempre plausibili, mentre la veridicità dipende da molti fattori. L'esempio in slide mostra due frasi con la stessa struttura e lo stesso tono: la prima è vera, la seconda è falsa, perché l'articolo dell'AI Act che contiene le definizioni è il 3, non il 5, e la seconda data è sbagliata. Senza conoscere l'argomento o controllare la fonte, è impossibile distinguerle. Ecco perché la qualità della scrittura non può essere usata come indicatore di correttezza. Suggerimento: chiedere ai partecipanti quale delle due frasi sia vera prima di rivelare la risposta.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integrazione del sottotema riguarda il nostro modo di reagire alle risposte, più che il sistema. Le persone tendono ad attribuire credibilità ai contenuti in base a segnali di forma: un tono sicuro, un linguaggio tecnico appropriato, una struttura ordinata con titoli ed elenchi, la presenza di numeri precisi e di citazioni. Nella comunicazione umana questi segnali sono spesso correlati alla competenza: chi scrive bene di un argomento di solito lo conosce. Con i sistemi generativi questa correlazione si rompe, perché il sistema produce sempre testi ben formulati, sia quando sono corretti sia quando non lo sono, e di norma non esprime dubbi in modo proporzionato all'incertezza reale. Risultato: le risposte sbagliate sono persuasive quanto quelle giuste. I segnali di forma vanno quindi sostituiti con segnali di sostanza: la presenza di fonti verificabili e la loro effettiva consultazione; la coerenza con fonti indipendenti; la coerenza interna della risposta; la nostra competenza sull'argomento. Una precisazione: quando un sistema dichiara di non essere sicuro, è un'informazione utile; ma l'assenza di dubbi non è una garanzia.</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allucinazioni non si distribuiscono in modo uniforme: alcune situazioni ne aumentano la probabilità. Conoscerle aiuta a dosare l'attenzione. Dettagli specifici: numeri, date, nomi propri, importi, percentuali. Argomenti di nicchia, locali o specialistici, poco presenti nei dati di addestramento, come una normativa regionale o un prodotto poco noto. Fonti e citazioni, come abbiamo visto. Eventi recenti, successivi alla data limite, se il sistema non usa la ricerca. Domande con premesse false o tendenziose, che il sistema tende ad assecondare. Richieste che vanno oltre i documenti forniti: se chiediamo a un sistema di rispondere su un documento e la risposta non c'è, può colmare il vuoto con un'invenzione. Testi lunghi e compiti articolati, in cui aumentano le occasioni di errore. Al contrario, il rischio è più basso quando il compito è trasformare un testo che forniamo noi, per esempio riformularlo o tradurlo, e quando il risultato è facile da controllare. Suggerimento: chiedere ai partecipanti quali di queste situazioni ricorrono nel loro lavoro.</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Proviamo dal vivo. Faccio a Copilot tre domande, senza allegare nessun documento. La prima riguarda un forno a tunnel chiamato TF-900: è un modello che non esiste, l'ho inventato per questo corso. La seconda chiede un dato tecnico preciso, la coppia di serraggio dei bulloni del bruciatore, sempre del forno inesistente. La terza riguarda la vostra azienda: che cosa produce e da quando esiste. Mentre guardiamo le risposte, osserviamo tre cose. Risponde comunque, con sicurezza, oppure dice che non conosce questo modello? Se dà numeri o date, da dove li prende? Cita fonti che possiamo controllare? Nel percorso A, chiedo a voi di giudicare ogni risposta: affidabile, da verificare o inventata. Se Copilot dice di non sapere, è un buon segnale, e lo commentiamo. Se inventa, abbiamo appena visto un'allucinazione: una risposta plausibile, ben scritta e falsa. Nota per il formatore: provare prima i prompt almeno tre volte, e tenere pronti gli screenshot o il video se la rete non funziona.</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Passiamo dalle allucinazioni, che sono errori su singoli fatti, ai bias, che sono distorsioni sistematiche. La differenza è importante: un'allucinazione è una risposta sbagliata; un bias è una tendenza ricorrente a sbilanciare le risposte in una certa direzione. Vedremo che cosa significa bias, da dove nascono le distorsioni, come il contesto e le istruzioni le influenzano, che cosa sono stereotipi e rappresentazioni non equilibrate, e un fenomeno molto rilevante nell'uso quotidiano: la tendenza dei sistemi ad assecondare l'utente.</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statistica e nell'AI, un bias è una distorsione sistematica: una tendenza ricorrente a scostarsi in una certa direzione da una rappresentazione corretta o equilibrata. La differenza con un errore casuale è fondamentale. Un errore casuale si presenta in modo imprevedibile, in direzioni diverse, e tende a compensarsi. Un bias va sempre nella stessa direzione, e per questo non si compensa: si accumula. L'analogia della bilancia lo rende chiaro: una bilancia imprecisa dà valori un po' sopra e un po' sotto; una bilancia starata segna sempre cento grammi in più. Nell'AI i bias possono riguardare molti aspetti: la rappresentazione di gruppi sociali, di genere, di età, di provenienza geografica; la prospettiva culturale, per esempio quella anglosassone, dominante nei dati di addestramento; la preferenza per certe fonti, posizioni o soluzioni. Un punto da chiarire: il termine 'bias' non implica un'intenzione. Le distorsioni nascono quasi sempre dai dati, dai processi e dal contesto, non da una volontà di discriminare. Ma gli effetti possono essere reali, e la responsabilità di riconoscerli e gestirli resta a chi usa il sistema.</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distorsioni possono entrare nel sistema in tre punti. Il primo sono i dati di addestramento. I modelli apprendono da testi e immagini prodotti da persone, che riflettono la società con le sue disuguaglianze e i suoi stereotipi. Inoltre i dati non sono equilibrati: alcune lingue, culture, punti di vista e gruppi sono molto più rappresentati di altri. Ciò che è sovrarappresentato tende a diventare il 'normale' per il modello. Il secondo è il processo di addestramento e affinamento. Le scelte su quali dati includere, come filtrarli, quali comportamenti premiare durante l'affinamento con feedback umano possono introdurre ulteriori orientamenti, anche con l'intento di correggerne altri. Il terzo è il contesto d'uso: le istruzioni di sistema, la formulazione delle nostre domande, i documenti che forniamo. Anche questi possono orientare le risposte in una direzione. Un esempio storico istruttivo, anche se precedente all'AI generativa: nel 2018 Reuters riportò che Amazon aveva abbandonato un sistema sperimentale di selezione dei curricula, addestrato sulle assunzioni dei dieci anni precedenti, in prevalenza maschili. Il sistema aveva imparato a penalizzare i curricula che contenevano la parola 'women's', come in 'capitana della squadra femminile di scacchi'. Nessuno lo aveva programmato per discriminare: lo aveva appreso dai </a:t>
            </a:r>
            <a:r>
              <a:rPr lang="en-US" dirty="0" err="1"/>
              <a:t>dati</a:t>
            </a:r>
            <a:r>
              <a:rPr lang="en-US" dirty="0"/>
              <a:t>.</a:t>
            </a:r>
          </a:p>
          <a:p>
            <a:endParaRPr lang="en-US" dirty="0"/>
          </a:p>
          <a:p>
            <a:r>
              <a:rPr lang="it-IT" dirty="0"/>
              <a:t>il caso Amazon è un esempio storico di un </a:t>
            </a:r>
            <a:r>
              <a:rPr lang="it-IT" b="1" dirty="0"/>
              <a:t>sistema sperimentale </a:t>
            </a:r>
            <a:r>
              <a:rPr lang="it-IT" dirty="0"/>
              <a:t>di selezione, non una dimostrazione che tutti gli strumenti AI per le risorse umane siano discriminatori.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distorsioni non vengono solo dai dati: possiamo introdurle noi, con il modo in cui formuliamo le richieste. Un modello linguistico prosegue e sviluppa il contesto che riceve, quindi una domanda orientata tende a produrre una risposta orientata. L'esempio in slide lo mostra. Se chiediamo 'Perché il fornitore A è la scelta migliore?', la domanda presuppone già la conclusione, e il sistema tenderà a elencare argomenti a favore di A. Se chiediamo 'Quali sono vantaggi e svantaggi dei fornitori A e B rispetto a questi criteri?', otteniamo un confronto più equilibrato. Lo stesso vale per i documenti che forniamo: se diamo al sistema solo materiali favorevoli a una tesi, la sua sintesi rifletterà quella tesi. E vale per le istruzioni di sistema impostate da chi configura lo strumento. La conseguenza pratica: quando usiamo l'AI per analizzare, confrontare o valutare, formulare richieste neutre, esplicitare i criteri, chiedere anche gli argomenti contrari. Le tecniche di formulazione sono sviluppate nel Tema 6; qui ci interessa la consapevolezza del </a:t>
            </a:r>
            <a:r>
              <a:rPr lang="en-US" dirty="0" err="1"/>
              <a:t>meccanismo</a:t>
            </a:r>
            <a:r>
              <a:rPr lang="en-US" dirty="0"/>
              <a:t>.</a:t>
            </a:r>
          </a:p>
          <a:p>
            <a:endParaRPr lang="en-US" dirty="0"/>
          </a:p>
          <a:p>
            <a:r>
              <a:rPr lang="it-IT" dirty="0"/>
              <a:t>La formulazione delle richieste, le informazioni fornite e i criteri espliciti aiutano a ottenere confronti più equilibrati.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fenomeni si combinano in modo particolarmente insidioso. Il primo è nostro: il bias di conferma, cioè la tendenza umana a cercare, notare e ricordare le informazioni che confermano ciò che già pensiamo. Il secondo è del sistema: la tendenza ad assecondare l'utente, che in inglese si chiama sycophancy, traducibile come compiacenza o piaggeria. I modelli affinati con il feedback umano imparano che le risposte che danno ragione alle persone tendono a essere apprezzate, e possono quindi sviluppare la tendenza a concordare con le opinioni dell'utente, a lodare il suo lavoro più del dovuto, o a cambiare una risposta corretta quando l'utente insiste. Una ricerca di Anthropic pubblicata nel 2023 (Sharma e colleghi) ha documentato questo comportamento in diversi assistenti AI. Lo schema in slide mostra il circolo: io ho un'ipotesi, la formulo nella domanda, il sistema la asseconda, io mi convinco ancora di più. Esempi pratici: chiedere 'questa proposta è buona, vero?' invece di 'quali sono i punti deboli di questa proposta?'; ribattere 'sei sicuro? Io credo che sia X' e vedere il sistema cambiare idea. Contromisure: chiedere esplicitamente critiche e obiezioni, non rivelare la propria preferenza quando si chiede una valutazione, e diffidare delle risposte che ci danno ragione troppo facilmente. I fornitori stanno lavorando per ridurre il fenomeno, ma conviene tenerlo presente.</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punto del sottotema. Le risposte dei sistemi AI hanno spesso un tono neutro, pacato, equilibrato: frasi come 'ci sono diverse prospettive', 'da un lato... dall'altro'. Questo tono può dare l'impressione di oggettività. Ma neutralità di tono e oggettività di contenuto sono cose diverse. Una risposta dal tono neutro può comunque contenere scelte non neutrali: quali informazioni includere e quali omettere, in che ordine presentarle, quanto spazio dare a ciascuna posizione, quali esempi usare, quali fonti considerare autorevoli, quale soluzione presentare come 'standard'. Anche il semplice fatto di presentare due posizioni come equivalenti può essere una distorsione, se le evidenze a sostegno sono molto diverse. Inoltre, un sistema può essere istruito dal fornitore o da chi lo configura a evitare certi argomenti o ad adottare certe impostazioni. Ciò non significa che le risposte siano inaffidabili per definizione: significa che non vanno considerate automaticamente imparziali, e che su temi delicati o controversi conviene confrontare più fonti, comprese fonti umane competenti.</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Mettiamo alla prova quello che abbiamo appena visto. Ogni coppia riceve una scheda con una domanda orientata, presa da situazioni simili ai vostri sprechi: il confronto tra fornitori, il controllo di un disegno rispetto allo standard, una fattura confrontata con l'ordine, un allarme ricorrente, un pezzo da riconoscere in foto, un preventivo già controllato. Avete due minuti: che risposta vi aspettate da quella domanda, e come la riscrivereste in modo neutro? Poi due coppie leggono la propria versione. Che cosa hanno in comune le versioni neutre? Chiedono differenze e alternative invece di conferme, non rivelano la risposta che vorremmo sentire, e chiedono di dire che cosa manca. Se c'è tempo, faccio la prova 'Sei sicuro?' su Copilot con il manuale fittizio: chiedo ogni quanto si controllano gli elettrodi, poi insisto con un valore sbagliato e vediamo se cambia idea. Percorso B: il formatore mostra le schede A e C con le due versioni. Tutti i casi sono fittizi.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tentazione naturale è chiedere all'AI di verificare il proprio lavoro: 'sei sicuro?', 'controlla la risposta', 'queste fonti esistono?'. Può essere utile, ma ha limiti importanti. L'autoverifica serve come primo filtro: chiedere al sistema di rileggere, di cercare errori o di mostrare i passaggi può far emergere alcuni sbagli evidenti, soprattutto nei calcoli e nella logica, e alcuni sistemi lo fanno anche in automatico. Ma non è una verifica indipendente, per tre ragioni. Primo: il sistema usa la stessa conoscenza e gli stessi meccanismi che hanno prodotto l'errore; se non sa che un'informazione è falsa, non lo saprà nemmeno al secondo controllo. Secondo: la tendenza ad assecondare l'utente può portare a risultati opposti: il sistema può confermare un errore se gli chiediamo conferma, oppure cambiare una risposta corretta se mostriamo un dubbio. Ricordiamo il caso Avianca, in cui il sistema confermò l'esistenza di sentenze inventate. Terzo: un sistema non ha accesso diretto alla verità; a meno che non usi strumenti esterni come la ricerca, 'verificare' significa solo rigenerare. L'autoverifica che usa strumenti esterni, come una ricerca effettiva o l'esecuzione di codice, è più utile, ma anche i suoi risultati vanno controllati. In sintesi: l'autoverifica è un aiuto, non un sostituto della verifica umana o su fonti indipendenti.</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verifica richiede competenza: per accorgersi di un errore bisogna saperne abbastanza sull'argomento. È un punto delicato, perché l'AI è particolarmente attraente proprio quando non conosciamo bene un tema, ed è proprio allora che siamo meno in grado di controllarla. La regola pratica è che chi verifica deve avere le competenze necessarie per quel tipo di output, o deve coinvolgere chi le ha. Un secondo rischio da conoscere è l'automation bias, o pregiudizio di automazione: la tendenza, documentata da decenni di studi in settori come l'aviazione e la medicina (per una sintesi, Parasuraman e Manzey, 2010), a fidarsi eccessivamente dei sistemi automatici e a ridurre l'attenzione quando funzionano bene la maggior parte delle volte. Più un sistema è affidabile, più rischiamo di non accorgerci del suo errore occasionale. Infine, la verifica deve essere proporzionata. Lo schema in slide propone tre livelli indicativi. Verifica leggera, cioè una rilettura critica, per bozze interne, idee e testi a basso impatto. Verifica standard, cioè controllo dei fatti principali, dei numeri e delle fonti, per documenti che escono dal gruppo di lavoro. Verifica approfondita, con controllo su fonti indipendenti e revisione di un esperto, per contenuti con conseguenze legali, economiche, di sicurezza o reputazionali rilevanti.</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Combinando l'impatto di un errore con la facilità di verifica, otteniamo una matrice utile per orientare le decisioni. Basso impatto e verifica facile: bozze di email interne, idee, riformulazioni, sintesi per uso personale. Qui l'AI può essere usata liberamente, con una rilettura. Basso impatto ma verifica difficile: per esempio ricerche esplorative su temi che non conosciamo. L'uso è possibile, ma i risultati vanno trattati come indicazioni da approfondire, non come conclusioni. Alto impatto ma verifica facile: per esempio un'offerta commerciale o un documento contrattuale preparato a partire da dati che possiamo controllare. L'AI può essere un ottimo supporto, con verifica sistematica prima dell'uso. Alto impatto e verifica difficile: per esempio decisioni su persone, valutazioni legali, mediche o di sicurezza, dove l'errore è grave e difficile da individuare. Qui l'uso va limitato a un supporto per esperti competenti, oppure evitato. La matrice è indicativa: serve a ragionare, non a sostituire il giudizio e le regole aziendali. Suggerimento: chiedere ai partecipanti di collocare nella matrice tre attività del proprio lavoro.</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slide traduce il modulo in una checklist operativa, da distribuire ai partecipanti o da appendere vicino alla scrivania. Sei domande da porsi prima di usare un risultato prodotto con l'AI. Il compito è adatto all'AI e allo strumento che ho usato? Le conseguenze di un errore sono basse, o ho previsto controlli adeguati? Ho verificato fatti, numeri e fonti importanti? Ho controllato che non manchi nulla di rilevante e che non ci siano contraddizioni? La risposta potrebbe essere sbilanciata, per come ho posto la domanda o per i limiti del sistema? Sono in grado di valutare questo risultato, e sono pronto ad assumermene la responsabilità? Se la risposta a una di queste domande è no, serve un controllo in più, il coinvolgimento di un collega competente, oppure la scelta di non usare quel risultato.</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Passiamo agli strumenti. Prima mettiamo ordine nei nomi: modello, applicazione, piattaforma. Poi vediamo che cosa c'è concretamente in Laser, cioè quale Copilot avete e con quali impostazioni. Infine impariamo a scrivere richieste efficaci, con una piccola gara.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termini da distinguere. Il modello è il componente addestrato che elabora gli input e genera gli output, come abbiamo visto nel Tema 2: per esempio un grande modello linguistico. Da solo non ha un'interfaccia per l'utente. Il sistema è l'insieme di componenti che lavorano insieme intorno al modello: istruzioni, accesso ai dati, strumenti, filtri di sicurezza, memoria. L'applicazione è il prodotto con cui l'utente interagisce, costruito sul sistema: un assistente conversazionale, una funzione AI dentro un programma di videoscrittura, un'app per trascrivere le riunioni. La piattaforma è un ambiente che offre più servizi e strumenti su cui costruire, configurare e gestire applicazioni AI: per esempio le piattaforme cloud che mettono a disposizione diversi modelli, strumenti di sviluppo e funzioni di amministrazione. I confini non sono sempre netti, e i fornitori usano questi termini in modo diverso. Ma la distinzione serve a porsi le domande giuste: quando valutiamo 'un'AI', stiamo valutando il modello, l'applicazione o la piattaforma?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Riprendiamo una distinzione già vista nei Temi 2 e 3, perché qui diventa uno strumento di lettura dell'offerta. Quando un prodotto dichiara una capacità, conviene chiedersi da dove deriva. Alcune capacità derivano soprattutto dal modello: la qualità della scrittura, il ragionamento, la comprensione di immagini, la lunghezza del contesto gestibile. Altre derivano dall'applicazione: la ricerca sul web, l'esecuzione di codice, il collegamento a posta e documenti, la memoria tra conversazioni, i progetti condivisi, i controlli amministrativi, la gestione dei dati. Questa distinzione spiega situazioni frequenti. Lo stesso modello può essere disponibile in due applicazioni diverse con funzioni molto diverse. Un'applicazione può migliorare molto senza cambiare modello, aggiungendo funzioni. E una capacità del modello può non essere disponibile in una certa applicazione o in un certo piano. Per chi valuta uno strumento, il messaggio è chiaro: non basta sapere quale modello usa; bisogna verificare quali funzioni offre l'applicazione, nella configurazione che useremo.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parte crescente delle capacità AI arriva dentro software che le aziende usano già. Nelle suite di produttività, come quelle di Microsoft e Google: scrivere e riassumere email, preparare bozze di documenti e presentazioni, analizzare fogli di calcolo, trascrivere e sintetizzare riunioni, cercare informazioni tra i propri file. Nei CRM: riassumere la storia di un cliente, suggerire le prossime azioni, preparare bozze di comunicazioni, classificare le richieste. Negli ERP e nei gestionali: leggere documenti come fatture e ordini, segnalare anomalie, rispondere a domande sui dati aziendali in linguaggio naturale, prevedere scorte o flussi di cassa. Il vantaggio principale è che queste funzioni hanno già accesso ai dati e ai flussi di lavoro, rispettano i permessi esistenti e non richiedono di spostare informazioni in un altro strumento. I limiti: le capacità dipendono dalle scelte del fornitore, spesso sono disponibili solo in certi piani o con licenze aggiuntive, e funzionano bene solo se i dati nel sistema sono di buona qualità. Le applicazioni per tipo di attività sono trattate nei Temi 8-11, l'individuazione dei casi d'uso nel Tema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Slide da completare con Laser prima della sessione. Il nome Copilot copre prodotti diversi: la chat con protezione dei dati aziendali, inclusa in molte licenze Microsoft 365, e Microsoft 365 Copilot, con licenza dedicata, che lavora anche dentro Outlook, Word, Excel e Teams e può leggere i file a cui la persona ha accesso. Le capacità e le impostazioni sui dati cambiano molto tra i due. A sinistra le domande a cui rispondere insieme all'azienda; a destra come riconoscere che si sta usando lo strumento giusto. Il messaggio finale è semplice: si usa lo strumento autorizzato, con l'account di lavoro. Le regole complete le vediamo nella sessione 3. Contenuto sensibile al tempo: verificare nomi e funzioni dei prodotti prima della sessione.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integrazione del sottotema propone di rovesciare l'ordine abituale: prima di scrivere la richiesta, occorre capire quale problema si vuole risolvere. Molti prompt deludenti non sono scritti male: sono la risposta giusta alla domanda sbagliata. Tre domande aiutano. Quale problema voglio risolvere? Per esempio, non 'scrivere una presentazione', ma 'convincere la direzione ad approvare un investimento'. A quale scopo serve il risultato? Che cosa ne farò, chi lo userà, quale decisione o azione deve rendere possibile? Con quali criteri di successo? Come capirò che il risultato è buono: che cosa deve contenere, a quali requisiti deve rispondere, che cosa lo renderebbe inutilizzabile? Le risposte a queste domande sono già metà del prompt, e forniscono anche il criterio per valutare il risultato. Quando non si riesce a rispondere, è un segnale che il problema non è ancora chiaro; in questo caso, come abbiamo visto nel Tema 5, il dialogo con l'AI può aiutare a chiarirlo, chiedendo al sistema di porci domande prima di procedere.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gli otto elementi che possono comporre una richiesta efficace, secondo il documento di perimetro. Il problema da affrontare e l'obiettivo, che abbiamo appena visto. Il compito: che cosa deve fare concretamente il sistema, per esempio scrivere, riassumere, confrontare, classificare. Il contesto e il destinatario: la situazione, le informazioni di riferimento, chi leggerà o userà il risultato. I vincoli e i requisiti: lunghezza, scadenze, cose da includere o evitare, regole da rispettare. Il formato e il livello di dettaglio: come deve essere strutturato il risultato. I criteri di un risultato soddisfacente: che cosa lo rende buono. I ruoli e le prospettive: da quale punto di vista affrontare il compito. Una precisione importante, espressa nel concetto chiave: non tutti gli elementi servono sempre. Un prompt efficace rende espliciti i requisiti rilevanti per quel compito, e può essere lungo una riga o una pagina. Questi otto elementi sono una lista di controllo, non un modulo da compilare ogni volta.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un esempio di richiesta che contiene molti degli elementi, scomposta per renderli visibili. Il compito: preparare una sintesi del report trimestrale sui reclami. L'obiettivo e lo scopo: la sintesi servirà alla riunione di direzione per decidere su quali problemi intervenire per primi. Il destinatario: dirigenti che non conoscono i dettagli operativi. I vincoli: massimo una pagina, solo informazioni presenti nel report. Il formato: tre problemi principali, ciascuno con dimensione, tendenza e possibile causa, poi una raccomandazione. Il criterio di successo: un dirigente deve poter capire in due minuti quali sono le priorità. Si noti come ogni elemento cambia il risultato: senza il destinatario, la sintesi potrebbe essere troppo tecnica; senza lo scopo, potrebbe essere descrittiva invece che orientata alla decisione; senza il vincolo sulle fonti, potrebbe includere considerazioni generiche non presenti nel report. Il report, naturalmente, va condiviso solo con strumenti autorizzati a trattarlo.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Zero-shot significa chiedere al sistema di svolgere un compito senza fornire esempi, basandosi solo sulla descrizione. È il modo più comune e funziona bene per la grande maggioranza dei compiti, perché i modelli attuali sanno già svolgerne moltissimi. Few-shot significa fornire alcuni esempi, di solito da due a cinque, del risultato desiderato, prima di chiedere al sistema di svolgere il compito su un nuovo caso. Gli esempi comunicano in modo molto efficace ciò che è difficile descrivere a parole: uno stile, un formato preciso, un criterio di classificazione, un livello di dettaglio. L'esempio in slide mostra una classificazione di richieste dei clienti: con due esempi il sistema capisce le categorie e il formato della risposta. Alcune cautele. Gli esempi devono essere rappresentativi e coerenti, perché il sistema tende a imitarli anche negli aspetti non voluti: se tutti gli esempi sono brevi, tenderà a rispondere brevemente; se riguardano tutti un certo tipo di caso, potrebbe forzare i nuovi casi in quello schema. E conviene variare gli esempi, per evitare che il sistema copi un dettaglio invece di cogliere il criterio.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prompting iterativo segue un ciclo in quattro passaggi. Prima formulazione: una richiesta ragionevole, anche non perfetta, secondo i principi visti. Analisi delle carenze: confrontare il risultato con l'obiettivo e i criteri di successo, individuando con precisione che cosa non va. Feedback e richieste di correzione: comunicare al sistema che cosa cambiare, in modo specifico. Raffinamento: il sistema produce una nuova versione, che si analizza di nuovo. Il ciclo si ripete finché il risultato è adeguato allo scopo. Il passaggio più importante, e più trascurato, è il secondo: l'analisi delle carenze. Se non sappiamo dire che cosa non va, non possiamo chiedere di migliorarlo; e i criteri di successo definiti all'inizio, come visto nel 6.2, sono proprio lo strumento per farlo. Un'osservazione utile: le carenze più comuni ricadono in poche categorie, come contenuto mancante o superfluo, tono o registro inadatto, struttura o formato sbagliati, livello di dettaglio inadeguato, interpretazione errata del compito. Riconoscere la categoria aiuta a formulare il feedback giusto.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per i moduli precedenti, traduciamo il tema in uno strumento pratico: uno schema per le richieste importanti, da usare come lista di controllo, non come modulo obbligatorio. Prima di scrivere: qual è il problema, lo scopo, il criterio di successo? Nella richiesta: compito, contesto e destinatario, vincoli, formato; eventualmente esempi, ruolo o prospettiva; e l'istruzione di porre domande se mancano informazioni e di distinguere dati e ipotesi. Dopo il primo risultato: analizzare le carenze e dare feedback specifico, oppure ricominciare con una richiesta migliore. Prima di usare il risultato: ricordare che aderenza non significa correttezza, e verificare in proporzione all'importanza, come vedremo nel Tema 7. Se l'attività è ricorrente: trasformare la richiesta in un template. E sempre: nessun dato riservato in strumenti non autorizzati.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Adesso tocca a voi. Il compito è uguale per tutti e nasce da uno spreco che avete indicato: le domande dei colleghi su procedure tecniche e il tempo per recuperare informazioni. Un manutentore appena assunto deve organizzare la manutenzione del forno TF-900 Demo, un forno inventato per il corso. Scrivete a coppie, in sei minuti, la richiesta che fareste a Copilot allegando il manuale, per ottenere una lista di controllo stampabile delle attività settimanali e mensili. Usate gli elementi che abbiamo visto: ruolo, destinatario, formato, vincoli. Poi raccolgo i fogli e ne provo due o tre dal vivo. Confrontiamo i risultati con la griglia: completezza, chi interviene, fonte, sicurezza, formato e, soprattutto, se il risultato segnala le indicazioni in contrasto. Nel manuale ce n'è una: chi la trova? Percorso B: il formatore lancia un prompt debole e uno ricco e commenta la differenza.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Vediamo l'AI al lavoro su tre situazioni tipiche di un costruttore di forni: un manuale, la richiesta di un cliente estero, una serie di ticket di assistenza. Tutti i materiali sono fittizi: un'azienda inventata, un forno inventato, clienti inventati. Per questo li possiamo caricare senza problemi di riservatezza. Ricordo la regola: con i documenti veri si usano solo strumenti autorizzati e solo informazioni che si possono condividere. Dopo ogni demo vi farò la stessa domanda, con la checklist che abbiamo visto: che cosa verifichereste prima di usare questo risultato?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propone un filo conduttore: quattro modalità applicative, che corrispondono a quattro tipi diversi di lavoro informativo. Produrre: creare contenuti nuovi a partire da istruzioni, come un'email, una relazione, una descrizione. Corrisponde al sottotema 8.1. Trasformare: lavorare su un testo esistente, correggendolo, semplificandolo, traducendolo, cambiandone il formato. Corrisponde all'8.2. Analizzare e strutturare: ricavare da uno o più documenti sintesi, dati strutturati, confronti. Corrispondono l'8.3, l'8.4 e l'8.5, che sono il nucleo distintivo del tema. Recuperare conoscenza: cercare, approfondire e consultare informazioni, sia all'esterno sia in raccolte documentali organizzate. Corrispondono l'8.6 e l'8.7. L'8.8, sui limiti e le condizioni di efficacia, attraversa tutte le modalità. Una precisazione: non è una sequenza obbligatoria. Sono modalità diverse, che spesso si combinano: per preparare un dossier si può cercare, sintetizzare, estrarre e infine produrre un testo. Nelle slide, un indicatore in alto a destra ricorda la modalità di cui stiamo parlando.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Dimostrazione dal vivo. Allego a Copilot il manuale del forno TF-900 Demo, un documento fittizio di poche pagine, e faccio alcune domande come le farebbe un tecnico o un collega. La prima: che cosa fare con l'allarme A01, indicando i capitoli. Qui osserviamo se la risposta cita la fonte, perché con la fonte si verifica in pochi secondi. Poi alcune domande trappola. La coppia di serraggio dei bulloni del bruciatore: il manuale non la dice. Se Copilot inventa un valore, è esattamente l'allucinazione della caccia di stamattina. La ricetta R01 prevede una velocità del nastro superiore al massimo della macchina: l'errore è nel documento, e l'AI lo nota solo se la domanda la porta a confrontare. Infine una domanda di sicurezza sul microinterruttore della porta: qui la risposta va sempre confrontata con il manuale approvato. Il contrasto sul filtro aria l'avete già scoperto nella gara: lo uso come richiamo. Collegamento: è il tema A dei vostri sprechi, le informazioni disperse. Prompt e risposte attese nella guida alle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Introduciamo in modo concettuale la Retrieval-Augmented Generation, o RAG, cioè generazione aumentata dal recupero. Il termine è stato reso popolare da un articolo di ricercatori di Facebook AI, Lewis e colleghi, nel 2020; oggi indica in generale lo schema usato dalla maggior parte degli assistenti collegati a raccolte documentali. Lo schema ha quattro passaggi. Primo: l'utente fa una domanda. Secondo, il recupero: il sistema cerca nella raccolta i brani più pertinenti alla domanda; di solito non interi documenti, ma porzioni. Terzo, l'aumento: i brani recuperati vengono inseriti, insieme alla domanda, nelle istruzioni passate al modello, con un'indicazione del tipo 'rispondi usando queste fonti'. Quarto, la generazione: il modello produce la risposta, idealmente basandosi su quei brani e citandoli. L'idea è semplice e potente: il modello non deve conoscere le informazioni aziendali, deve solo leggerle al momento giusto, come uno studente bravo a cui si passano gli appunti pertinenti prima della risposta. Il documento chiede di solo accennare a come avviene la ricerca, con indici e database vettoriali che trovano i brani per somiglianza di significato. Il punto da capire è che ci sono due fasi distinte, recupero e generazione, e ciascuna può sbagliare.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integrazione del sottotema: la tracciabilità delle informazioni e il collegamento alle fonti. Una sintesi è tanto più utile quanto più permette, quando serve, di risalire ai passaggi del documento originale. Se una sintesi dice che il contratto prevede una penale del 2 per cento per ogni settimana di ritardo, poter andare subito all'articolo e al paragrafo in cui lo dice trasforma un'affermazione da prendere sulla fiducia in un'affermazione controllabile in pochi secondi. Per questo, quando l'uso lo richiede, conviene chiedere esplicitamente che ogni punto della sintesi indichi la sezione, l'articolo, la pagina o il passaggio da cui deriva, e, per i punti critici, anche una breve citazione testuale. L'esempio fittizio in slide mostra una sintesi con riferimenti. Il vantaggio è doppio: rende la verifica rapida e mirata, e rende visibili i punti della sintesi che non hanno un riferimento, che sono quelli da trattare con più cautela, perché potrebbero essere interpretazioni del sistema o informazioni non presenti nel documento. La tracciabilità è richiesta anche da molti strumenti aziendali di consultazione documentale, come vedremo nell'8.7.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Seconda dimostrazione, in video. Un cliente estero fittizio chiede in inglese un'offerta per una linea: capacità, prodotto, spazio, tempi. Chiedo a Copilot di estrarre i requisiti in una tabella in italiano con la fonte, di segnalare le contraddizioni tra email e allegato, di elencare le informazioni mancanti e di preparare una bozza di risposta in inglese, senza prezzi, tempi di consegna né impegni. Che cosa osservare: la capacità è 800 chili all'ora nell'email e 1.000 nell'allegato, la trova? Le informazioni mancanti sono quelle che servirebbero davvero al vostro ufficio tecnico? E soprattutto: il cliente chiede referenze in America Latina. Se Copilot le inventa, è un'allucinazione con conseguenze commerciali. Se la bozza promette tempi, ha superato il limite che gli avevamo dato. Collegamento: temi B e C dei vostri sprechi, confronti e offerte, e la traduzione per l'estero.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integrazione del sottotema: dall'informazione non strutturata al dato utilizzabile. Gran parte delle informazioni aziendali vive in testi: email, contratti, moduli compilati a mano o in formato libero, verbali, segnalazioni, curricula, offerte. Sono informazioni preziose, ma difficili da usare in modo sistematico: per sapere quanti contratti scadono nel prossimo trimestre, bisogna aprirli uno per uno. L'AI può trasformare questi testi in campi e categorie riutilizzabili. L'esempio fittizio in slide mostra un'email di un cliente trasformata in un record strutturato: cliente, numero d'ordine, tipo di richiesta, prodotto, data richiesta, urgenza. Su cento email, questo produce una tabella che si può ordinare, filtrare, contare, collegare ad altri dati. È il passaggio che rende utilizzabile da attività successive un'informazione che prima era solo leggibile. La condizione, indicata esplicitamente dal documento di perimetro, è che la qualità dell'estrazione sia controllata prima dell'impiego operativo. L'analisi quantitativa dei dati così ottenuti appartiene al Tema 9; i flussi automatici che fanno questo in modo continuo, al Tema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Terza dimostrazione, in video. Allego una tabella di ticket di assistenza fittizi e chiedo una sintesi operativa di una pagina: problemi ricorrenti, ipotesi di causa, ticket di sicurezza da segnalare subito, ticket aperti in ordine di priorità, problemi di qualità dei dati. Che cosa osservare: l'AI vede bene le ricorrenze, per esempio lo stesso allarme su tre forni dello stesso anno. Ma 'elettrodo vecchio' è un'ipotesi, non una causa dimostrata: correlazione non è causalità. Il punto più importante: ci sono ticket di sicurezza, un cliente che vuole escludere il sensore della porta e un microinterruttore bloccato con una fascetta. Se la sintesi non li mette in evidenza, ha riassunto bene ma ha perso ciò che conta di più. E i dati sono sporchi: un ticket duplicato e campi vuoti. Collegamento: lo spreco del Service sull'accesso alle informazioni per rispondere al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concetto chiave del sottotema contiene un'osservazione che vale la pena mettere all'inizio: poter caricare un documento non garantisce che il sistema ne abbia elaborato tutte le parti, interpretato correttamente il contenuto e preservato il significato. Quando carichiamo un file e otteniamo una risposta sicura e ben organizzata, tendiamo a pensare che il sistema abbia letto il documento come lo leggeremmo noi, tutto e con attenzione. Non è necessariamente così, per diversi motivi che vedremo. Il file può essere stato convertito in testo in modo incompleto: le tabelle possono essere state appiattite, le immagini ignorate, le scansioni lette male. Il documento può essere troppo lungo per essere elaborato interamente, oppure alcune parti possono ricevere meno attenzione di altre. Alcuni strumenti, con documenti molto grandi, ne usano solo i passaggi ritenuti pertinenti alla domanda. E anche quando il testo è tutto disponibile, l'interpretazione può essere sbagliata. Il problema è che nulla di tutto questo è visibile nella risposta. La risposta ha sempre lo stesso aspetto, sicuro e completo, sia quando il sistema ha elaborato tutto, sia quando ne ha elaborato una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che attraversa tutto il modulo, e il primo risultato atteso. Le denominazioni commerciali non sono uniformi: lo stesso nome può indicare cose diverse a seconda del fornitore. Il documento propone quindi una distinzione funzionale, basata su ciò che il sistema fa. Il chatbot risponde e sostiene conversazioni: spiega un argomento, risponde a domande. L'assistente AI supporta attività usando, quando disponibili, contesto e strumenti: prepara un riepilogo dai documenti di un progetto, redige una bozza di email a partire dalla conversazione precedente. L'agente AI persegue un obiettivo coordinando passaggi e strumenti, se abilitati: raccoglie informazioni da più fonti, prepara un report, chiede l'approvazione prima di inviarlo. L'automazione esegue attività secondo un meccanismo definito: trasferisce dati tra due sistemi ogni notte, invia un report ogni lunedì. Le categorie possono sovrapporsi: un assistente può avere capacità agentiche, e un agente può essere inserito in un workflow automatizzato. Il documento chiede di evitare una semplificazione frequente: che un agente sia soltanto un'automazione più avanzata. Come vedremo, sono modalità di esecuzione diverse, adatte a situazioni diverse.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B del tema: l'effetto accumulo degli errori nei processi a più passaggi. Gli errori intermedi possono influenzare le operazioni successive, e il successo di un singolo passaggio non garantisce l'affidabilità del processo completo. Un semplice calcolo lo mostra. Supponiamo che ogni passaggio di un processo riesca correttamente nel 95 per cento dei casi: un'affidabilità che, per un singolo passaggio, sembra alta. Se i passaggi sono indipendenti e tutti devono riuscire, la probabilità che un processo di dieci passaggi riesca interamente è 0,95 elevato alla decima, cioè circa il 60 per cento. Con venti passaggi scende a circa il 36 per cento. Anche con un'affidabilità del 99 per cento per passaggio, un processo di venti passaggi riesce interamente nell'82 per cento dei casi, cioè fallisce quasi una volta su cinque. Il grafico mostra le due curve. È un modello semplificato: nella realtà alcuni errori vengono corretti dall'agente nei passaggi successivi, altri invece si amplificano. Ma il messaggio è robusto: un processo lungo richiede passaggi molto affidabili, oppure controlli intermedi che intercettino gli errori prima che si propaghino. E una dimostrazione su pochi passaggi dice poco sull'affidabilità di un processo lungo.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distinzione tra azioni reversibili e difficilmente reversibili è uno dei criteri più utili per decidere quanta autonomia concedere. Le azioni reversibili si possono annullare senza conseguenze significative: salvare una bozza, creare un documento nuovo, aggiungere un'etichetta a un'email, proporre un evento in calendario, modificare un file di cui esiste una versione precedente. Le azioni difficilmente reversibili producono effetti che non si possono cancellare, o che si cancellano solo a caro prezzo: inviare un'email all'esterno, che il destinatario ha già letto; effettuare un pagamento; cancellare definitivamente dei dati; pubblicare un contenuto; firmare o accettare un accordo; comunicare una decisione a un cliente. La matrice in slide incrocia reversibilità e impatto. Le azioni reversibili e a basso impatto sono le candidate naturali all'autonomia. Quelle irreversibili e ad alto impatto richiedono approvazione esplicita e, spesso, più di una persona. Nel mezzo, le scelte dipendono dal contesto. Un accorgimento pratico consiste nel rendere reversibili azioni che non lo sono: per esempio, far salvare all'agente le email come bozze invece di inviarle, o introdurre un ritardo prima dell'invio durante il quale l'azione si può annullare.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Ultima parte della giornata. Torniamo ai vostri sprechi con quello che abbiamo visto: che cosa l'AI sa fare, dove sbaglia, come la si usa. Ragioniamo prima sul processo e non sul singolo compito, poi guardiamo il service e la macchina, e infine costruiamo insieme una prima shortlist di casi d'uso.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punto del sottotema è la differenza tra compito e processo, già introdotta. Un compito è un'unità di lavoro; un processo è una sequenza di attività interdipendenti, svolte da persone e sistemi diversi, che produce un risultato per un cliente, interno o esterno. Le interdipendenze sono la caratteristica chiave del processo: l'output di un'attività è l'input della successiva; un ritardo in un punto si propaga; un errore in un punto si ritrova più avanti; un cambiamento in un'attività può richiedere cambiamenti in altre. Applicare l'AI a un singolo passaggio di un processo, senza considerare le interdipendenze, produce tre effetti possibili. Nel caso migliore, il miglioramento del passaggio si traduce in un miglioramento del processo. Spesso, il miglioramento resta locale, perché il collo di bottiglia è altrove, come visto nel Tema 12. A volte, il miglioramento locale peggiora il processo: più volume prodotto in una fase crea code nella successiva; più velocità riduce la qualità che una fase successiva deve correggere; un nuovo formato di output non è compatibile con ciò che la fase successiva si aspetta. La consapevolezza del sottotema: introdurre AI in un processo non equivale automaticamente a riprogettarlo o migliorarlo.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propone un esempio illustrativo, che mostra come può cambiare un processo: la risposta a una richiesta di un cliente. La tabella in slide confronta le fasi nella modalità tradizionale e in una possibile trasformazione con l'AI. Nella ricezione, la lettura manuale della richiesta diventa una classificazione e sintesi assistita. Nell'analisi, la ricerca delle informazioni diventa un recupero guidato di fonti pertinenti, come visto nel Tema 8. Nella preparazione, la stesura della risposta diventa la produzione di una bozza. Nella verifica, il controllo manuale diventa la revisione umana della bozza, delle fonti e delle eccezioni: una verifica diversa, più centrata sulla correttezza delle informazioni e sui casi particolari. Nell'invio, la comunicazione al cliente avviene da parte di una persona, o dopo un'approvazione, secondo i livelli visti nel Tema 11. Il documento sottolinea il messaggio dell'esempio: possono cambiare la distribuzione delle attività, i passaggi di controllo e le competenze necessarie, non soltanto i tempi. La persona che prima scriveva le risposte ora le rivede, verifica le fonti e gestisce le eccezioni: un lavoro diverso, che richiede competenze in parte diverse. E una trasformazione utile va valutata sull'intero processo, non sulla singola operazione accelerata.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D del tema: dall'efficienza locale al risultato complessivo. Accelerare un'attività non migliora necessariamente l'intero processo, soprattutto quando il principale collo di bottiglia si trova altrove. L'esempio del documento di perimetro, con numeri inventati a scopo didattico, è in slide. Un'attività prevede tre passaggi: preparazione, revisione, approvazione. Prima dell'AI richiedevano 30, 20 e 10 minuti, per un totale di 60. Con l'AI la preparazione scende a 10 minuti, due terzi in meno; ma la revisione sale a 25, perché bisogna verificare il lavoro dell'AI; l'approvazione resta a 10. Il totale scende a 45 minuti: una riduzione del 25 per cento, molto meno dei due terzi della preparazione. E il documento aggiunge che neppure questo miglioramento dimostra da solo un pari valore economico: contano il riutilizzo del tempo, la qualità e i vincoli del processo. Se, per esempio, l'approvazione avviene una sola volta al giorno, perché il responsabile la fa la sera, il tempo complessivo dalla richiesta alla consegna non cambia affatto: il collo di bottiglia è l'approvazione, non la preparazione. È un principio noto nella gestione delle operazioni, reso popolare dalla teoria dei vincoli: il ritmo di un processo è determinato dal suo passaggio più lento.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Proviamo a collegare ogni tema della vostra mappa a un caso d'uso possibile, e soprattutto a che cosa serve prima di tutto. Per le informazioni disperse, un assistente che cerca nei documenti e cita la fonte: ma prima bisogna mettere ordine nelle fonti. Per i controlli incrociati, l'AI può elencare le differenze tra due documenti, ma la decisione resta alla persona e i calcoli si fanno con strumenti, non a parole. Per offerte e preventivi, una scheda requisiti che l'AI compila dalla richiesta del cliente, senza prezzi né condizioni. Per l'estero, traduzioni con un glossario tecnico; le normative solo a partire dai testi ufficiali, perché sono il terreno preferito delle allucinazioni. I disegni ripetitivi sono il caso in cui spesso la risposta non è l'AI generativa ma uno strumento CAD parametrico. La pianificazione la chiariamo con la Produzione. Esempi indicativi, da validare con voi.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Fin qui abbiamo parlato soprattutto di AI in ufficio. Per un costruttore di macchine ci sono altri due luoghi, che avevamo anticipato nella sessione 1. Per i clienti, cioè nel service: un assistente per la ricerca guasti che risponde citando manuali e ticket, l'identificazione del ricambio da una foto o da una descrizione, che è proprio lo spreco segnalato dall'Elettrico, il report d'intervento dettato a voce dal tecnico. Nella macchina: il controllo qualità visivo dei prodotti all'uscita del forno, il monitoraggio delle anomalie e la manutenzione predittiva su temperature, bruciatori, nastri e motori, l'ottimizzazione dei consumi. Questi ultimi richiedono dati, investimenti, partner tecnologici e attenzione normativa: macchine, AI Act, sicurezza informatica. Ne parliamo nella sessione 3. Il messaggio: si parte dall'ufficio, dove gli strumenti ci sono già, e si preparano le condizioni per il resto.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Un'anomalia è un valore o un comportamento che si discosta in modo significativo da ciò che ci si attende. Le anomalie sono preziose: possono segnalare un errore nei dati, un problema operativo, una frode, un'opportunità. L'AI è molto efficace nel trovarle, anche in grandi quantità di dati e su molte variabili insieme, e può confrontare ogni valore con l'andamento abituale. Il grafico fittizio in slide mostra i reclami settimanali di un servizio: un picco evidente nella settimana 9. Che cosa significa? Le spiegazioni possibili sono molte: un problema con un lotto di prodotto, un cambio di fornitore logistico, un nuovo modulo di reclamo online più facile da usare, un errore di registrazione che ha duplicato le segnalazioni. L'AI può segnalare il picco e proporre ipotesi, ma non può sapere quale sia quella giusta senza informazioni sul contesto. Due attenzioni. Anomalo non significa sbagliato: eliminare i valori anomali in automatico può cancellare proprio l'informazione più importante. E non ogni scostamento è un'anomalia: con molti dati, alcune variazioni ampie sono normali. Conviene chiedere al sistema con quale criterio ha definito anomalo un valore.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chiede di distinguere quattro condizioni, che useremo per tutto il modulo come una lista di controllo. Disponibilità: le informazioni esistono, da qualche parte. Accessibilità: il sistema può accedervi quando serve, ed è autorizzato a farlo. Utilizzabilità: le informazioni sono organizzate, pertinenti e interpretabili, cioè si possono trovare e capire. Affidabilità: le informazioni sono sufficientemente corrette e aggiornate per lo scopo. Le quattro condizioni sono indipendenti. Un'informazione può esistere ma non essere accessibile, perché sta nella casella di posta di una persona o in un sistema non collegato. Può essere accessibile ma non utilizzabile, perché è dispersa in cento file con nomi poco chiari. Può essere utilizzabile ma non affidabile, perché è la versione dell'anno scorso. Quando un assistente AI aziendale dà una risposta sbagliata o incompleta, una delle prime domande da porsi è: quale di queste quattro condizioni è mancata? È una domanda che aiuta a non attribuire tutto al modello, e a capire dove intervenire.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Slide da adattare a quanto emerso nella sessione 1 sulla domanda d'indagine: le vostre macchine raccolgono dati? Ogni caso d'uso ha bisogno di informazioni, e la domanda giusta non è quanti dati abbiamo, ma se sono disponibili, accessibili, utilizzabili e affidabili, le quattro condizioni della slide precedente. In tabella i dati che servono ai casi che abbiamo visto: manuali e documentazione tecnica, disegni e distinte, ticket e report d'intervento, catalogo ricambi con codici e immagini, ordini ed email, dati delle macchine. L'ultima colonna la compiliamo insieme: dove stanno oggi, sono in ordine? Nessuno lo sa meglio di voi.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distinguere tre momenti dell'introduzione progressiva. La dimostrazione: si mostra lo strumento, le sue funzioni, alcuni esempi. Serve a far conoscere e a suscitare interesse, ma non è uso. La sperimentazione pilota: un gruppo limitato usa lo strumento nel lavoro reale, per un periodo definito, con attenzione a che cosa succede. Serve a imparare come lo strumento si inserisce nel lavoro, quali difficoltà emergono, quali pratiche funzionano. L'adozione estesa: lo strumento viene introdotto in modo più ampio, con le pratiche, i supporti e le indicazioni sviluppati durante il pilota. Il passaggio da un momento all'altro dovrebbe dipendere da ciò che si è imparato, non dal calendario. Il sottotema chiede anche la scelta di contesti circoscritti per le prime applicazioni: un gruppo, un'attività, un processo in cui l'AI ha buone probabilità di essere utile, in cui le persone sono disponibili a sperimentare, e in cui gli errori hanno conseguenze limitate. Notate la differenza con il Tema 15: lì la sperimentazione serviva a decidere se l'opportunità valeva; qui serve a capire come introdurla bene.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significato di caso d'uso. Il termine viene dall'ingegneria del software, dove indica la descrizione di come un utente interagisce con un sistema per raggiungere un obiettivo. Nel linguaggio aziendale sull'AI ha preso un significato più ampio: un'applicazione specifica dell'AI a un'attività o a un processo, per un certo scopo. La consapevolezza del sottotema lo dice in una frase che conviene ricordare: un caso d'uso deve specificare chi svolge quale attività, su quali informazioni, con quale contributo dell'AI, e per quale risultato. Cinque elementi: il chi, il che cosa, le informazioni, il ruolo dell'AI, il risultato. Se manca uno di questi, non abbiamo ancora un caso d'uso, ma un'idea. 'Usare l'AI nel commerciale' è un ambito. 'Un chatbot per i clienti' è una soluzione. 'I commerciali dell'area nord ricevono, per ogni richiesta arrivata via email, una sintesi preparata dall'AI con prodotto, quantità, tempi e domande aperte, per ridurre il tempo di lettura e non perdere informazioni' è un caso d'uso. Esempio fittizio.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gli elementi di una descrizione completa, che possiamo organizzare in una scheda. Contesto e persone coinvolte: in quale reparto, quali ruoli, chi usa e chi riceve il risultato. Attività o processo interessato: quale passaggio cambia. Problema e obiettivo concreto, dal 15.1. Input e informazioni necessarie: che cosa riceve il sistema, da dove, in quale forma; qui entrano le condizioni del Tema 14. Risultato atteso e modo per osservarlo. Ruolo previsto dell'AI: supporta, automatizza in parte, trasforma, come visto nel Tema 13. Intervento e supervisione umana: chi controlla, quando, come corregge. Frequenza e volume: quante volte al giorno, al mese; è un dato decisivo per il valore. Confini e condizioni d'uso: che cosa il sistema non deve fare, in quali casi non si usa, come si gestiscono le eccezioni. La scheda in slide riassume gli elementi: è uno strumento semplice, che chiunque può compilare, e che rende confrontabili idee diverse. Nella pratica, compilarla fa emergere rapidamente che cosa non si sa ancora.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Ultimo esercizio. Gruppi misti di tre o quattro persone, con almeno due reparti diversi. Ogni gruppo prende uno o due temi tra quelli con più bollini di stamattina e prova a trasformarli in casi d'uso, al massimo tre. Per ogni caso compilate la griglia: lo spreco di partenza e quante volte capita; la causa; la soluzione migliore, anche senza AI; il ruolo dell'AI, supporto, supervisione o delega; il luogo, ufficio, clienti o macchina; il rischio di un errore, usando la matrice impatto e verificabilità; chi controlla il risultato; quali informazioni servono. Quindici minuti di lavoro, poi un minuto a gruppo per presentare un caso. Io li metto nella board, nelle tre colonne. I casi con impatto alto e verifica difficile li segno con il bollino rosso: li riprendiamo nella sessione 3, con le regole. Percorso B: il formatore presenta tre casi già compilati dal portfolio e chiede all'aula che cosa cambierebbe per Laser.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Chiudiamo. Oggi abbiamo visto che l'AI può sbagliare con grande sicurezza e che il modo in cui chiediamo orienta le risposte; abbiamo imparato a scrivere richieste più efficaci; abbiamo visto tre dimostrazioni e quello che bisogna controllare; e abbiamo trasformato una parte dei vostri sprechi in una prima shortlist di casi d'uso. Nella sessione 3 parliamo di regole: che cosa si può caricare negli strumenti, GDPR, AI Act, NIS2, riservatezza dei disegni e delle offerte. Poi, con la matrice valore e fattibilità, scegliamo due o tre progetti e compiliamo insieme le schede. Un compito per la prossima volta: per i casi della shortlist che riguardano il vostro reparto, stimate quante volte al mese capita e quanto tempo richiede. Ci serviranno per la matrice.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097280"/>
            <a:ext cx="7863840" cy="365760"/>
          </a:xfrm>
          <a:prstGeom prst="rect">
            <a:avLst/>
          </a:prstGeom>
          <a:noFill/>
          <a:ln/>
        </p:spPr>
        <p:txBody>
          <a:bodyPr wrap="square" rtlCol="0"/>
          <a:lstStyle>
            <a:lvl1pPr marL="0" indent="0">
              <a:buNone/>
              <a:defRPr lang="en-US" sz="1300" b="1" kern="0" spc="200" dirty="0">
                <a:solidFill>
                  <a:schemeClr val="accent1"/>
                </a:solidFill>
              </a:defRPr>
            </a:lvl1pPr>
          </a:lstStyle>
          <a:p>
            <a:pPr marL="0" indent="0">
              <a:buNone/>
            </a:pPr>
            <a:endParaRPr lang="en-US" sz="1300" dirty="0"/>
          </a:p>
        </p:txBody>
      </p:sp>
      <p:sp>
        <p:nvSpPr>
          <p:cNvPr id="3" name="Text 0"/>
          <p:cNvSpPr>
            <a:spLocks noGrp="1"/>
          </p:cNvSpPr>
          <p:nvPr>
            <p:ph type="title" idx="101" hasCustomPrompt="1"/>
          </p:nvPr>
        </p:nvSpPr>
        <p:spPr>
          <a:xfrm>
            <a:off x="640080" y="1554480"/>
            <a:ext cx="7863840" cy="14630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4" name="Text 0"/>
          <p:cNvSpPr>
            <a:spLocks noGrp="1"/>
          </p:cNvSpPr>
          <p:nvPr>
            <p:ph type="body" idx="102" hasCustomPrompt="1"/>
          </p:nvPr>
        </p:nvSpPr>
        <p:spPr>
          <a:xfrm>
            <a:off x="640080" y="3154680"/>
            <a:ext cx="7863840" cy="822960"/>
          </a:xfrm>
          <a:prstGeom prst="rect">
            <a:avLst/>
          </a:prstGeom>
          <a:noFill/>
          <a:ln/>
        </p:spPr>
        <p:txBody>
          <a:bodyPr wrap="square" rtlCol="0"/>
          <a:lstStyle>
            <a:lvl1pPr marL="0" indent="0">
              <a:buNone/>
              <a:defRPr lang="en-US" sz="1600" dirty="0">
                <a:solidFill>
                  <a:schemeClr val="accent3"/>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rtlCol="0"/>
          <a:lstStyle>
            <a:lvl1pPr marL="0" indent="0">
              <a:buNone/>
              <a:defRPr lang="en-US" sz="6000" b="1" dirty="0">
                <a:solidFill>
                  <a:schemeClr val="accent1"/>
                </a:solidFill>
              </a:defRPr>
            </a:lvl1pPr>
          </a:lstStyle>
          <a:p>
            <a:pPr marL="0" indent="0">
              <a:buNone/>
            </a:pP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rtlCol="0"/>
          <a:lstStyle>
            <a:lvl1pPr marL="0" indent="0">
              <a:buNone/>
              <a:defRPr lang="en-US" sz="1600" dirty="0">
                <a:solidFill>
                  <a:schemeClr val="accent3"/>
                </a:solidFill>
              </a:defRPr>
            </a:lvl1pPr>
          </a:lstStyle>
          <a:p>
            <a:pPr marL="0" indent="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marL="0" indent="0">
              <a:buNone/>
            </a:pPr>
            <a:r>
              <a:rPr lang="en-US" sz="900" dirty="0">
                <a:solidFill>
                  <a:schemeClr val="accent2"/>
                </a:solidFill>
              </a:rPr>
              <a:t>AI Adoption  ·  Laser Srl  ·  Sessione 2  ·  Strumenti e applicazioni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rtlCol="0"/>
          <a:lstStyle>
            <a:lvl1pPr marL="0" indent="0" algn="l">
              <a:buNone/>
              <a:defRPr lang="en-US" sz="2600" b="1" dirty="0">
                <a:solidFill>
                  <a:schemeClr val="tx1"/>
                </a:solidFill>
              </a:defRPr>
            </a:lvl1pPr>
          </a:lstStyle>
          <a:p>
            <a:pPr marL="0" indent="0" algn="l">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marL="0" indent="0">
              <a:buNone/>
            </a:pPr>
            <a:r>
              <a:rPr lang="en-US" sz="900" dirty="0">
                <a:solidFill>
                  <a:schemeClr val="accent2"/>
                </a:solidFill>
              </a:rPr>
              <a:t>AI Adoption  ·  Laser Srl  ·  Sessione 2  ·  Strumenti e applicazioni</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marL="0" indent="0">
              <a:buNone/>
            </a:pPr>
            <a:r>
              <a:rPr lang="en-US" sz="1300" b="1" kern="0" spc="300" dirty="0">
                <a:solidFill>
                  <a:schemeClr val="accent1"/>
                </a:solidFill>
              </a:rPr>
              <a:t>CONCETTO CHIAVE</a:t>
            </a:r>
            <a:endParaRPr lang="en-US" sz="1300" dirty="0"/>
          </a:p>
        </p:txBody>
      </p:sp>
      <p:sp>
        <p:nvSpPr>
          <p:cNvPr id="3" name="Text 1"/>
          <p:cNvSpPr>
            <a:spLocks noGrp="1"/>
          </p:cNvSpPr>
          <p:nvPr>
            <p:ph type="body" idx="101" hasCustomPrompt="1"/>
          </p:nvPr>
        </p:nvSpPr>
        <p:spPr>
          <a:xfrm>
            <a:off x="822960" y="1600200"/>
            <a:ext cx="7498080" cy="2011680"/>
          </a:xfrm>
          <a:prstGeom prst="rect">
            <a:avLst/>
          </a:prstGeom>
          <a:noFill/>
          <a:ln/>
        </p:spPr>
        <p:txBody>
          <a:bodyPr wrap="square" rtlCol="0"/>
          <a:lstStyle>
            <a:lvl1pPr marL="0" indent="0">
              <a:buNone/>
              <a:defRPr lang="en-US" sz="2600" dirty="0">
                <a:solidFill>
                  <a:schemeClr val="bg1"/>
                </a:solidFill>
              </a:defRPr>
            </a:lvl1pPr>
          </a:lstStyle>
          <a:p>
            <a:pPr marL="0" indent="0">
              <a:buNone/>
            </a:pPr>
            <a:endParaRPr lang="en-US" sz="2600" dirty="0"/>
          </a:p>
        </p:txBody>
      </p:sp>
      <p:sp>
        <p:nvSpPr>
          <p:cNvPr id="4" name="Text 1"/>
          <p:cNvSpPr>
            <a:spLocks noGrp="1"/>
          </p:cNvSpPr>
          <p:nvPr>
            <p:ph type="body" idx="102" hasCustomPrompt="1"/>
          </p:nvPr>
        </p:nvSpPr>
        <p:spPr>
          <a:xfrm>
            <a:off x="822960" y="3794760"/>
            <a:ext cx="7498080" cy="365760"/>
          </a:xfrm>
          <a:prstGeom prst="rect">
            <a:avLst/>
          </a:prstGeom>
          <a:noFill/>
          <a:ln/>
        </p:spPr>
        <p:txBody>
          <a:bodyPr wrap="square" rtlCol="0"/>
          <a:lstStyle>
            <a:lvl1pPr marL="0" indent="0">
              <a:buNone/>
              <a:defRPr lang="en-US" sz="1300" dirty="0">
                <a:solidFill>
                  <a:schemeClr val="accent3"/>
                </a:solidFill>
              </a:defRPr>
            </a:lvl1pPr>
          </a:lstStyle>
          <a:p>
            <a:pPr marL="0" indent="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marL="0" indent="0">
              <a:buNone/>
            </a:pPr>
            <a:r>
              <a:rPr lang="en-US" sz="900" dirty="0">
                <a:solidFill>
                  <a:schemeClr val="accent2"/>
                </a:solidFill>
              </a:rPr>
              <a:t>AI Adoption  ·  Laser Srl  ·  Sessione 2  ·  Strumenti e applicazioni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m1.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m2.png"/><Relationship Id="rId4" Type="http://schemas.openxmlformats.org/officeDocument/2006/relationships/image" Target="../media/m3.png"/></Relationships>
</file>

<file path=ppt/slides/_rels/slide3.xml.rels><?xml version="1.0" encoding="UTF-8" standalone="yes"?>
<Relationships xmlns="http://schemas.openxmlformats.org/package/2006/relationships"><Relationship Id="rId1" Type="http://schemas.openxmlformats.org/officeDocument/2006/relationships/image" Target="../media/m4.png"/><Relationship Id="rId2" Type="http://schemas.openxmlformats.org/officeDocument/2006/relationships/image" Target="../media/m5.png"/><Relationship Id="rId3" Type="http://schemas.openxmlformats.org/officeDocument/2006/relationships/image" Target="../media/m6.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m7.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m8.png"/><Relationship Id="rId4" Type="http://schemas.openxmlformats.org/officeDocument/2006/relationships/image" Target="../media/m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m10.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m11.png"/><Relationship Id="rId4" Type="http://schemas.openxmlformats.org/officeDocument/2006/relationships/image" Target="../media/m12.png"/></Relationships>
</file>

<file path=ppt/slides/_rels/slide9.xml.rels><?xml version="1.0" encoding="UTF-8" standalone="yes"?>
<Relationships xmlns="http://schemas.openxmlformats.org/package/2006/relationships"><Relationship Id="rId3" Type="http://schemas.openxmlformats.org/officeDocument/2006/relationships/image" Target="../media/m13.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m14.png"/><Relationship Id="rId5" Type="http://schemas.openxmlformats.org/officeDocument/2006/relationships/image" Target="../media/m15.png"/><Relationship Id="rId4" Type="http://schemas.openxmlformats.org/officeDocument/2006/relationships/image" Target="../media/m16.png"/></Relationships>
</file>

<file path=ppt/slides/_rels/slide10.xml.rels><?xml version="1.0" encoding="UTF-8" standalone="yes"?>
<Relationships xmlns="http://schemas.openxmlformats.org/package/2006/relationships"><Relationship Id="rId3" Type="http://schemas.openxmlformats.org/officeDocument/2006/relationships/image" Target="../media/m17.png"/><Relationship Id="rId7" Type="http://schemas.openxmlformats.org/officeDocument/2006/relationships/image" Target="../media/m18.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m19.png"/><Relationship Id="rId5" Type="http://schemas.openxmlformats.org/officeDocument/2006/relationships/image" Target="../media/m20.png"/><Relationship Id="rId4" Type="http://schemas.openxmlformats.org/officeDocument/2006/relationships/image" Target="../media/m21.png"/></Relationships>
</file>

<file path=ppt/slides/_rels/slide11.xml.rels><?xml version="1.0" encoding="UTF-8" standalone="yes"?>
<Relationships xmlns="http://schemas.openxmlformats.org/package/2006/relationships"><Relationship Id="rId3" Type="http://schemas.openxmlformats.org/officeDocument/2006/relationships/image" Target="../media/m22.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m23.png"/></Relationships>
</file>

<file path=ppt/slides/_rels/slide12.xml.rels><?xml version="1.0" encoding="UTF-8" standalone="yes"?>
<Relationships xmlns="http://schemas.openxmlformats.org/package/2006/relationships"><Relationship Id="rId8" Type="http://schemas.openxmlformats.org/officeDocument/2006/relationships/image" Target="../media/m24.png"/><Relationship Id="rId3" Type="http://schemas.openxmlformats.org/officeDocument/2006/relationships/image" Target="../media/m25.png"/><Relationship Id="rId7" Type="http://schemas.openxmlformats.org/officeDocument/2006/relationships/image" Target="../media/m26.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m27.png"/><Relationship Id="rId5" Type="http://schemas.openxmlformats.org/officeDocument/2006/relationships/image" Target="../media/m28.png"/><Relationship Id="rId10" Type="http://schemas.openxmlformats.org/officeDocument/2006/relationships/image" Target="../media/m29.png"/><Relationship Id="rId4" Type="http://schemas.openxmlformats.org/officeDocument/2006/relationships/image" Target="../media/m30.png"/><Relationship Id="rId9" Type="http://schemas.openxmlformats.org/officeDocument/2006/relationships/image" Target="../media/m31.png"/></Relationships>
</file>

<file path=ppt/slides/_rels/slide13.xml.rels><?xml version="1.0" encoding="UTF-8" standalone="yes"?>
<Relationships xmlns="http://schemas.openxmlformats.org/package/2006/relationships"><Relationship Id="rId8" Type="http://schemas.openxmlformats.org/officeDocument/2006/relationships/image" Target="../media/m32.png"/><Relationship Id="rId3" Type="http://schemas.openxmlformats.org/officeDocument/2006/relationships/image" Target="../media/m33.png"/><Relationship Id="rId7" Type="http://schemas.openxmlformats.org/officeDocument/2006/relationships/image" Target="../media/m34.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m35.png"/><Relationship Id="rId5" Type="http://schemas.openxmlformats.org/officeDocument/2006/relationships/image" Target="../media/m36.png"/><Relationship Id="rId4" Type="http://schemas.openxmlformats.org/officeDocument/2006/relationships/image" Target="../media/m37.png"/></Relationships>
</file>

<file path=ppt/slides/_rels/slide14.xml.rels><?xml version="1.0" encoding="UTF-8" standalone="yes"?>
<Relationships xmlns="http://schemas.openxmlformats.org/package/2006/relationships"><Relationship Id="rId3" Type="http://schemas.openxmlformats.org/officeDocument/2006/relationships/image" Target="../media/m3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m39.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m40.png"/></Relationships>
</file>

<file path=ppt/slides/_rels/slide17.xml.rels><?xml version="1.0" encoding="UTF-8" standalone="yes"?>
<Relationships xmlns="http://schemas.openxmlformats.org/package/2006/relationships"><Relationship Id="rId3" Type="http://schemas.openxmlformats.org/officeDocument/2006/relationships/image" Target="../media/m41.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m42.png"/><Relationship Id="rId4" Type="http://schemas.openxmlformats.org/officeDocument/2006/relationships/image" Target="../media/m43.png"/></Relationships>
</file>

<file path=ppt/slides/_rels/slide18.xml.rels><?xml version="1.0" encoding="UTF-8" standalone="yes"?>
<Relationships xmlns="http://schemas.openxmlformats.org/package/2006/relationships"><Relationship Id="rId3" Type="http://schemas.openxmlformats.org/officeDocument/2006/relationships/image" Target="../media/m44.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m45.png"/></Relationships>
</file>

<file path=ppt/slides/_rels/slide19.xml.rels><?xml version="1.0" encoding="UTF-8" standalone="yes"?>
<Relationships xmlns="http://schemas.openxmlformats.org/package/2006/relationships"><Relationship Id="rId3" Type="http://schemas.openxmlformats.org/officeDocument/2006/relationships/image" Target="../media/m46.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m47.png"/></Relationships>
</file>

<file path=ppt/slides/_rels/slide20.xml.rels><?xml version="1.0" encoding="UTF-8" standalone="yes"?>
<Relationships xmlns="http://schemas.openxmlformats.org/package/2006/relationships"><Relationship Id="rId3" Type="http://schemas.openxmlformats.org/officeDocument/2006/relationships/image" Target="../media/m4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m49.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m50.png"/><Relationship Id="rId5" Type="http://schemas.openxmlformats.org/officeDocument/2006/relationships/image" Target="../media/m51.png"/><Relationship Id="rId4" Type="http://schemas.openxmlformats.org/officeDocument/2006/relationships/image" Target="../media/m5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8" Type="http://schemas.openxmlformats.org/officeDocument/2006/relationships/image" Target="../media/m53.png"/><Relationship Id="rId3" Type="http://schemas.openxmlformats.org/officeDocument/2006/relationships/image" Target="../media/m54.png"/><Relationship Id="rId7" Type="http://schemas.openxmlformats.org/officeDocument/2006/relationships/image" Target="../media/m55.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m56.png"/><Relationship Id="rId5" Type="http://schemas.openxmlformats.org/officeDocument/2006/relationships/image" Target="../media/m57.png"/><Relationship Id="rId4" Type="http://schemas.openxmlformats.org/officeDocument/2006/relationships/image" Target="../media/m5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m59.png"/><Relationship Id="rId2" Type="http://schemas.openxmlformats.org/officeDocument/2006/relationships/image" Target="../media/m60.png"/><Relationship Id="rId3" Type="http://schemas.openxmlformats.org/officeDocument/2006/relationships/image" Target="../media/m61.png"/><Relationship Id="rId4" Type="http://schemas.openxmlformats.org/officeDocument/2006/relationships/image" Target="../media/m62.png"/><Relationship Id="rId5" Type="http://schemas.openxmlformats.org/officeDocument/2006/relationships/slideLayout" Target="../slideLayouts/slideLayout4.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m63.png"/><Relationship Id="rId2" Type="http://schemas.openxmlformats.org/officeDocument/2006/relationships/image" Target="../media/m64.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m65.png"/><Relationship Id="rId2" Type="http://schemas.openxmlformats.org/officeDocument/2006/relationships/image" Target="../media/m66.png"/><Relationship Id="rId3" Type="http://schemas.openxmlformats.org/officeDocument/2006/relationships/image" Target="../media/m67.png"/><Relationship Id="rId4" Type="http://schemas.openxmlformats.org/officeDocument/2006/relationships/slideLayout" Target="../slideLayouts/slideLayout4.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m68.png"/><Relationship Id="rId2" Type="http://schemas.openxmlformats.org/officeDocument/2006/relationships/image" Target="../media/m69.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m70.png"/><Relationship Id="rId2" Type="http://schemas.openxmlformats.org/officeDocument/2006/relationships/image" Target="../media/m71.png"/><Relationship Id="rId3" Type="http://schemas.openxmlformats.org/officeDocument/2006/relationships/image" Target="../media/m72.png"/><Relationship Id="rId4" Type="http://schemas.openxmlformats.org/officeDocument/2006/relationships/image" Target="../media/m73.png"/><Relationship Id="rId5" Type="http://schemas.openxmlformats.org/officeDocument/2006/relationships/image" Target="../media/m74.png"/><Relationship Id="rId6" Type="http://schemas.openxmlformats.org/officeDocument/2006/relationships/image" Target="../media/m75.png"/><Relationship Id="rId7" Type="http://schemas.openxmlformats.org/officeDocument/2006/relationships/image" Target="../media/m76.png"/><Relationship Id="rId8" Type="http://schemas.openxmlformats.org/officeDocument/2006/relationships/image" Target="../media/m77.png"/><Relationship Id="rId9" Type="http://schemas.openxmlformats.org/officeDocument/2006/relationships/slideLayout" Target="../slideLayouts/slideLayout4.xml"/><Relationship Id="rId10"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m78.png"/><Relationship Id="rId2" Type="http://schemas.openxmlformats.org/officeDocument/2006/relationships/image" Target="../media/m79.png"/><Relationship Id="rId3" Type="http://schemas.openxmlformats.org/officeDocument/2006/relationships/image" Target="../media/m80.png"/><Relationship Id="rId4" Type="http://schemas.openxmlformats.org/officeDocument/2006/relationships/image" Target="../media/m81.png"/><Relationship Id="rId5" Type="http://schemas.openxmlformats.org/officeDocument/2006/relationships/slideLayout" Target="../slideLayouts/slideLayout4.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m82.png"/><Relationship Id="rId2" Type="http://schemas.openxmlformats.org/officeDocument/2006/relationships/image" Target="../media/m83.png"/><Relationship Id="rId3" Type="http://schemas.openxmlformats.org/officeDocument/2006/relationships/image" Target="../media/m84.png"/><Relationship Id="rId4" Type="http://schemas.openxmlformats.org/officeDocument/2006/relationships/image" Target="../media/m85.png"/><Relationship Id="rId5" Type="http://schemas.openxmlformats.org/officeDocument/2006/relationships/slideLayout" Target="../slideLayouts/slideLayout4.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m86.png"/><Relationship Id="rId2" Type="http://schemas.openxmlformats.org/officeDocument/2006/relationships/image" Target="../media/m87.png"/><Relationship Id="rId3" Type="http://schemas.openxmlformats.org/officeDocument/2006/relationships/slideLayout" Target="../slideLayouts/slideLayout4.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m88.png"/><Relationship Id="rId2" Type="http://schemas.openxmlformats.org/officeDocument/2006/relationships/image" Target="../media/m89.png"/><Relationship Id="rId3" Type="http://schemas.openxmlformats.org/officeDocument/2006/relationships/image" Target="../media/m90.png"/><Relationship Id="rId4" Type="http://schemas.openxmlformats.org/officeDocument/2006/relationships/image" Target="../media/m91.png"/><Relationship Id="rId5" Type="http://schemas.openxmlformats.org/officeDocument/2006/relationships/slideLayout" Target="../slideLayouts/slideLayout4.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m92.png"/><Relationship Id="rId2" Type="http://schemas.openxmlformats.org/officeDocument/2006/relationships/slideLayout" Target="../slideLayouts/slideLayout4.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m93.png"/><Relationship Id="rId2" Type="http://schemas.openxmlformats.org/officeDocument/2006/relationships/image" Target="../media/m94.png"/><Relationship Id="rId3" Type="http://schemas.openxmlformats.org/officeDocument/2006/relationships/slideLayout" Target="../slideLayouts/slideLayout4.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m95.png"/><Relationship Id="rId2" Type="http://schemas.openxmlformats.org/officeDocument/2006/relationships/image" Target="../media/m96.png"/><Relationship Id="rId3" Type="http://schemas.openxmlformats.org/officeDocument/2006/relationships/slideLayout" Target="../slideLayouts/slideLayout4.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m97.png"/><Relationship Id="rId2" Type="http://schemas.openxmlformats.org/officeDocument/2006/relationships/image" Target="../media/m98.png"/><Relationship Id="rId3" Type="http://schemas.openxmlformats.org/officeDocument/2006/relationships/image" Target="../media/m99.png"/><Relationship Id="rId4" Type="http://schemas.openxmlformats.org/officeDocument/2006/relationships/image" Target="../media/m100.png"/><Relationship Id="rId5" Type="http://schemas.openxmlformats.org/officeDocument/2006/relationships/slideLayout" Target="../slideLayouts/slideLayout4.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m101.png"/><Relationship Id="rId2" Type="http://schemas.openxmlformats.org/officeDocument/2006/relationships/image" Target="../media/m102.png"/><Relationship Id="rId3" Type="http://schemas.openxmlformats.org/officeDocument/2006/relationships/slideLayout" Target="../slideLayouts/slideLayout4.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m103.png"/><Relationship Id="rId2" Type="http://schemas.openxmlformats.org/officeDocument/2006/relationships/image" Target="../media/m104.png"/><Relationship Id="rId3" Type="http://schemas.openxmlformats.org/officeDocument/2006/relationships/image" Target="../media/m105.png"/><Relationship Id="rId4" Type="http://schemas.openxmlformats.org/officeDocument/2006/relationships/image" Target="../media/m106.png"/><Relationship Id="rId5" Type="http://schemas.openxmlformats.org/officeDocument/2006/relationships/slideLayout" Target="../slideLayouts/slideLayout4.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m107.png"/><Relationship Id="rId2" Type="http://schemas.openxmlformats.org/officeDocument/2006/relationships/image" Target="../media/m108.png"/><Relationship Id="rId3" Type="http://schemas.openxmlformats.org/officeDocument/2006/relationships/image" Target="../media/m109.png"/><Relationship Id="rId4" Type="http://schemas.openxmlformats.org/officeDocument/2006/relationships/slideLayout" Target="../slideLayouts/slideLayout4.xml"/><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m110.png"/><Relationship Id="rId2" Type="http://schemas.openxmlformats.org/officeDocument/2006/relationships/image" Target="../media/m111.png"/><Relationship Id="rId3" Type="http://schemas.openxmlformats.org/officeDocument/2006/relationships/image" Target="../media/m112.png"/><Relationship Id="rId4" Type="http://schemas.openxmlformats.org/officeDocument/2006/relationships/slideLayout" Target="../slideLayouts/slideLayout4.xml"/><Relationship Id="rId5"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300" b="1" spc="200" kern="0" dirty="0">
                <a:solidFill>
                  <a:schemeClr val="accent1"/>
                </a:solidFill>
              </a:rPr>
              <a:t>AI ADOPTION  ·  LASER SRL  ·  SESSIONE 2 DI 3</a:t>
            </a: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Percorso AI Adoption · Laser Srl</a:t>
            </a: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en-US" sz="1600" dirty="0">
                <a:solidFill>
                  <a:schemeClr val="accent3"/>
                </a:solidFill>
              </a:rPr>
              <a:t>Strumenti, assistenti e applicazioni: dagli sprechi ai casi d'uso</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Il percorso in tre sessioni</a:t>
            </a:r>
            <a:endParaRPr lang="en-US" sz="2600" dirty="0"/>
          </a:p>
        </p:txBody>
      </p:sp>
      <p:sp>
        <p:nvSpPr>
          <p:cNvPr id="6" name="sessione 1"/>
          <p:cNvSpPr/>
          <p:nvPr/>
        </p:nvSpPr>
        <p:spPr>
          <a:xfrm>
            <a:off x="457200" y="1097280"/>
            <a:ext cx="2606040" cy="2697480"/>
          </a:xfrm>
          <a:prstGeom prst="roundRect">
            <a:avLst>
              <a:gd name="adj" fmla="val 2807"/>
            </a:avLst>
          </a:prstGeom>
          <a:solidFill>
            <a:schemeClr val="accent6"/>
          </a:solidFill>
          <a:ln/>
        </p:spPr>
        <p:txBody>
          <a:bodyPr/>
          <a:lstStyle/>
          <a:p>
            <a:endParaRPr lang="it-IT"/>
          </a:p>
        </p:txBody>
      </p:sp>
      <p:sp>
        <p:nvSpPr>
          <p:cNvPr id="7" name="cerchio FiBookOpen"/>
          <p:cNvSpPr/>
          <p:nvPr/>
        </p:nvSpPr>
        <p:spPr>
          <a:xfrm>
            <a:off x="640080" y="1261872"/>
            <a:ext cx="457200" cy="457200"/>
          </a:xfrm>
          <a:prstGeom prst="ellipse">
            <a:avLst/>
          </a:prstGeom>
          <a:solidFill>
            <a:schemeClr val="accent1"/>
          </a:solidFill>
          <a:ln/>
        </p:spPr>
        <p:txBody>
          <a:bodyPr/>
          <a:lstStyle/>
          <a:p>
            <a:endParaRPr lang="it-IT"/>
          </a:p>
        </p:txBody>
      </p:sp>
      <p:pic>
        <p:nvPicPr>
          <p:cNvPr id="8" name="Image 0" descr="FiBookOpen"/>
          <p:cNvPicPr>
            <a:picLocks noChangeAspect="1"/>
          </p:cNvPicPr>
          <p:nvPr/>
        </p:nvPicPr>
        <p:blipFill>
          <a:blip r:embed="rId3"/>
          <a:stretch>
            <a:fillRect/>
          </a:stretch>
        </p:blipFill>
        <p:spPr>
          <a:xfrm>
            <a:off x="754380" y="1376172"/>
            <a:ext cx="228600" cy="228600"/>
          </a:xfrm>
          <a:prstGeom prst="rect">
            <a:avLst/>
          </a:prstGeom>
        </p:spPr>
      </p:pic>
      <p:sp>
        <p:nvSpPr>
          <p:cNvPr id="9" name="Text 5"/>
          <p:cNvSpPr txBox="1"/>
          <p:nvPr/>
        </p:nvSpPr>
        <p:spPr>
          <a:xfrm>
            <a:off x="1207008" y="1261872"/>
            <a:ext cx="1737360" cy="228600"/>
          </a:xfrm>
          <a:prstGeom prst="rect">
            <a:avLst/>
          </a:prstGeom>
          <a:noFill/>
          <a:ln/>
        </p:spPr>
        <p:txBody>
          <a:bodyPr wrap="square" lIns="0" tIns="0" rIns="0" bIns="0" rtlCol="0" anchor="t"/>
          <a:lstStyle/>
          <a:p>
            <a:pPr marL="0" indent="0">
              <a:buNone/>
            </a:pPr>
            <a:r>
              <a:rPr lang="en-US" sz="1000" b="1" kern="0" spc="100" dirty="0">
                <a:solidFill>
                  <a:schemeClr val="accent1"/>
                </a:solidFill>
              </a:rPr>
              <a:t>SESSIONE 1</a:t>
            </a:r>
            <a:endParaRPr lang="en-US" sz="1000" dirty="0"/>
          </a:p>
        </p:txBody>
      </p:sp>
      <p:sp>
        <p:nvSpPr>
          <p:cNvPr id="10" name="Text 6"/>
          <p:cNvSpPr txBox="1"/>
          <p:nvPr/>
        </p:nvSpPr>
        <p:spPr>
          <a:xfrm>
            <a:off x="1207008" y="1481328"/>
            <a:ext cx="1783080" cy="274320"/>
          </a:xfrm>
          <a:prstGeom prst="rect">
            <a:avLst/>
          </a:prstGeom>
          <a:noFill/>
          <a:ln/>
        </p:spPr>
        <p:txBody>
          <a:bodyPr wrap="square" lIns="0" tIns="0" rIns="0" bIns="0" rtlCol="0" anchor="t"/>
          <a:lstStyle/>
          <a:p>
            <a:pPr marL="0" indent="0">
              <a:buNone/>
            </a:pPr>
            <a:r>
              <a:rPr lang="en-US" sz="1500" b="1" dirty="0">
                <a:solidFill>
                  <a:schemeClr val="tx1"/>
                </a:solidFill>
              </a:rPr>
              <a:t>Capire l'AI</a:t>
            </a:r>
            <a:endParaRPr lang="en-US" sz="1500" dirty="0"/>
          </a:p>
        </p:txBody>
      </p:sp>
      <p:sp>
        <p:nvSpPr>
          <p:cNvPr id="11" name="Text 7"/>
          <p:cNvSpPr txBox="1"/>
          <p:nvPr/>
        </p:nvSpPr>
        <p:spPr>
          <a:xfrm>
            <a:off x="640080" y="1965960"/>
            <a:ext cx="2286000" cy="16916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rPr>
              <a:t>Che cos'è e come funziona</a:t>
            </a:r>
            <a:endParaRPr lang="en-US" sz="1300" dirty="0"/>
          </a:p>
          <a:p>
            <a:pPr marL="177800" indent="-177800">
              <a:spcAft>
                <a:spcPts val="600"/>
              </a:spcAft>
              <a:buSzPct val="100000"/>
              <a:buChar char="•"/>
            </a:pPr>
            <a:r>
              <a:rPr lang="en-US" sz="1300" dirty="0">
                <a:solidFill>
                  <a:schemeClr val="tx2"/>
                </a:solidFill>
              </a:rPr>
              <a:t>Che cosa sa fare, dove sbaglia</a:t>
            </a:r>
            <a:endParaRPr lang="en-US" sz="1300" dirty="0"/>
          </a:p>
          <a:p>
            <a:pPr marL="177800" indent="-177800">
              <a:spcAft>
                <a:spcPts val="600"/>
              </a:spcAft>
              <a:buSzPct val="100000"/>
              <a:buChar char="•"/>
            </a:pPr>
            <a:r>
              <a:rPr lang="en-US" sz="1300" dirty="0">
                <a:solidFill>
                  <a:schemeClr val="tx2"/>
                </a:solidFill>
              </a:rPr>
              <a:t>Dove serve in Laser</a:t>
            </a:r>
            <a:endParaRPr lang="en-US" sz="1300" dirty="0"/>
          </a:p>
        </p:txBody>
      </p:sp>
      <p:sp>
        <p:nvSpPr>
          <p:cNvPr id="12" name="freccia"/>
          <p:cNvSpPr/>
          <p:nvPr/>
        </p:nvSpPr>
        <p:spPr>
          <a:xfrm>
            <a:off x="3081528" y="2286000"/>
            <a:ext cx="146304" cy="292608"/>
          </a:xfrm>
          <a:prstGeom prst="rightArrow">
            <a:avLst/>
          </a:prstGeom>
          <a:solidFill>
            <a:schemeClr val="accent2"/>
          </a:solidFill>
          <a:ln/>
        </p:spPr>
        <p:txBody>
          <a:bodyPr/>
          <a:lstStyle/>
          <a:p>
            <a:endParaRPr lang="it-IT"/>
          </a:p>
        </p:txBody>
      </p:sp>
      <p:sp>
        <p:nvSpPr>
          <p:cNvPr id="13" name="sessione 2"/>
          <p:cNvSpPr/>
          <p:nvPr/>
        </p:nvSpPr>
        <p:spPr>
          <a:xfrm>
            <a:off x="3246120" y="1097280"/>
            <a:ext cx="2606040" cy="2697480"/>
          </a:xfrm>
          <a:prstGeom prst="roundRect">
            <a:avLst>
              <a:gd name="adj" fmla="val 2807"/>
            </a:avLst>
          </a:prstGeom>
          <a:solidFill>
            <a:schemeClr val="bg2"/>
          </a:solidFill>
          <a:ln/>
        </p:spPr>
        <p:txBody>
          <a:bodyPr/>
          <a:lstStyle/>
          <a:p>
            <a:endParaRPr lang="it-IT"/>
          </a:p>
        </p:txBody>
      </p:sp>
      <p:sp>
        <p:nvSpPr>
          <p:cNvPr id="14" name="cerchio FiTool"/>
          <p:cNvSpPr/>
          <p:nvPr/>
        </p:nvSpPr>
        <p:spPr>
          <a:xfrm>
            <a:off x="3429000" y="1261872"/>
            <a:ext cx="457200" cy="457200"/>
          </a:xfrm>
          <a:prstGeom prst="ellipse">
            <a:avLst/>
          </a:prstGeom>
          <a:solidFill>
            <a:schemeClr val="accent1"/>
          </a:solidFill>
          <a:ln/>
        </p:spPr>
        <p:txBody>
          <a:bodyPr/>
          <a:lstStyle/>
          <a:p>
            <a:endParaRPr lang="it-IT"/>
          </a:p>
        </p:txBody>
      </p:sp>
      <p:pic>
        <p:nvPicPr>
          <p:cNvPr id="15" name="Image 1" descr="FiTool"/>
          <p:cNvPicPr>
            <a:picLocks noChangeAspect="1"/>
          </p:cNvPicPr>
          <p:nvPr/>
        </p:nvPicPr>
        <p:blipFill>
          <a:blip r:embed="rId4"/>
          <a:stretch>
            <a:fillRect/>
          </a:stretch>
        </p:blipFill>
        <p:spPr>
          <a:xfrm>
            <a:off x="3543300" y="1376172"/>
            <a:ext cx="228600" cy="228600"/>
          </a:xfrm>
          <a:prstGeom prst="rect">
            <a:avLst/>
          </a:prstGeom>
        </p:spPr>
      </p:pic>
      <p:sp>
        <p:nvSpPr>
          <p:cNvPr id="16" name="Text 11"/>
          <p:cNvSpPr txBox="1"/>
          <p:nvPr/>
        </p:nvSpPr>
        <p:spPr>
          <a:xfrm>
            <a:off x="3995928" y="1261872"/>
            <a:ext cx="1737360" cy="228600"/>
          </a:xfrm>
          <a:prstGeom prst="rect">
            <a:avLst/>
          </a:prstGeom>
          <a:noFill/>
          <a:ln/>
        </p:spPr>
        <p:txBody>
          <a:bodyPr wrap="square" lIns="0" tIns="0" rIns="0" bIns="0" rtlCol="0" anchor="t"/>
          <a:lstStyle/>
          <a:p>
            <a:pPr marL="0" indent="0">
              <a:buNone/>
            </a:pPr>
            <a:r>
              <a:rPr lang="en-US" sz="1000" b="1" kern="0" spc="100" dirty="0">
                <a:solidFill>
                  <a:schemeClr val="accent1"/>
                </a:solidFill>
              </a:rPr>
              <a:t>SESSIONE 2</a:t>
            </a:r>
            <a:endParaRPr lang="en-US" sz="1000" dirty="0"/>
          </a:p>
        </p:txBody>
      </p:sp>
      <p:sp>
        <p:nvSpPr>
          <p:cNvPr id="17" name="Text 12"/>
          <p:cNvSpPr txBox="1"/>
          <p:nvPr/>
        </p:nvSpPr>
        <p:spPr>
          <a:xfrm>
            <a:off x="3995928" y="1481328"/>
            <a:ext cx="1783080" cy="274320"/>
          </a:xfrm>
          <a:prstGeom prst="rect">
            <a:avLst/>
          </a:prstGeom>
          <a:noFill/>
          <a:ln/>
        </p:spPr>
        <p:txBody>
          <a:bodyPr wrap="square" lIns="0" tIns="0" rIns="0" bIns="0" rtlCol="0" anchor="t"/>
          <a:lstStyle/>
          <a:p>
            <a:pPr marL="0" indent="0">
              <a:buNone/>
            </a:pPr>
            <a:r>
              <a:rPr lang="en-US" sz="1500" b="1" dirty="0">
                <a:solidFill>
                  <a:schemeClr val="tx1"/>
                </a:solidFill>
              </a:rPr>
              <a:t>Strumenti e applicazioni</a:t>
            </a:r>
            <a:endParaRPr lang="en-US" sz="1500" dirty="0"/>
          </a:p>
        </p:txBody>
      </p:sp>
      <p:sp>
        <p:nvSpPr>
          <p:cNvPr id="18" name="Text 13"/>
          <p:cNvSpPr txBox="1"/>
          <p:nvPr/>
        </p:nvSpPr>
        <p:spPr>
          <a:xfrm>
            <a:off x="3429000" y="1965960"/>
            <a:ext cx="2286000" cy="16916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rPr>
              <a:t>Copilot e assistenti AI</a:t>
            </a:r>
            <a:endParaRPr lang="en-US" sz="1300" dirty="0"/>
          </a:p>
          <a:p>
            <a:pPr marL="177800" indent="-177800">
              <a:spcAft>
                <a:spcPts val="600"/>
              </a:spcAft>
              <a:buSzPct val="100000"/>
              <a:buChar char="•"/>
            </a:pPr>
            <a:r>
              <a:rPr lang="en-US" sz="1300" dirty="0">
                <a:solidFill>
                  <a:schemeClr val="tx2"/>
                </a:solidFill>
              </a:rPr>
              <a:t>Richieste efficaci, demo</a:t>
            </a:r>
            <a:endParaRPr lang="en-US" sz="1300" dirty="0"/>
          </a:p>
          <a:p>
            <a:pPr marL="177800" indent="-177800">
              <a:spcAft>
                <a:spcPts val="600"/>
              </a:spcAft>
              <a:buSzPct val="100000"/>
              <a:buChar char="•"/>
            </a:pPr>
            <a:r>
              <a:rPr lang="en-US" sz="1300" dirty="0">
                <a:solidFill>
                  <a:schemeClr val="tx2"/>
                </a:solidFill>
              </a:rPr>
              <a:t>Processi, service, prodotto</a:t>
            </a:r>
            <a:endParaRPr lang="en-US" sz="1300" dirty="0"/>
          </a:p>
        </p:txBody>
      </p:sp>
      <p:sp>
        <p:nvSpPr>
          <p:cNvPr id="19" name="freccia"/>
          <p:cNvSpPr/>
          <p:nvPr/>
        </p:nvSpPr>
        <p:spPr>
          <a:xfrm>
            <a:off x="5870448" y="2286000"/>
            <a:ext cx="146304" cy="292608"/>
          </a:xfrm>
          <a:prstGeom prst="rightArrow">
            <a:avLst/>
          </a:prstGeom>
          <a:solidFill>
            <a:schemeClr val="accent2"/>
          </a:solidFill>
          <a:ln/>
        </p:spPr>
        <p:txBody>
          <a:bodyPr/>
          <a:lstStyle/>
          <a:p>
            <a:endParaRPr lang="it-IT"/>
          </a:p>
        </p:txBody>
      </p:sp>
      <p:sp>
        <p:nvSpPr>
          <p:cNvPr id="20" name="sessione 3"/>
          <p:cNvSpPr/>
          <p:nvPr/>
        </p:nvSpPr>
        <p:spPr>
          <a:xfrm>
            <a:off x="6035040" y="1097280"/>
            <a:ext cx="2606040" cy="2697480"/>
          </a:xfrm>
          <a:prstGeom prst="roundRect">
            <a:avLst>
              <a:gd name="adj" fmla="val 2807"/>
            </a:avLst>
          </a:prstGeom>
          <a:solidFill>
            <a:schemeClr val="bg2"/>
          </a:solidFill>
          <a:ln/>
        </p:spPr>
        <p:txBody>
          <a:bodyPr/>
          <a:lstStyle/>
          <a:p>
            <a:endParaRPr lang="it-IT"/>
          </a:p>
        </p:txBody>
      </p:sp>
      <p:sp>
        <p:nvSpPr>
          <p:cNvPr id="21" name="cerchio FiMap"/>
          <p:cNvSpPr/>
          <p:nvPr/>
        </p:nvSpPr>
        <p:spPr>
          <a:xfrm>
            <a:off x="6217920" y="1261872"/>
            <a:ext cx="457200" cy="457200"/>
          </a:xfrm>
          <a:prstGeom prst="ellipse">
            <a:avLst/>
          </a:prstGeom>
          <a:solidFill>
            <a:schemeClr val="accent1"/>
          </a:solidFill>
          <a:ln/>
        </p:spPr>
        <p:txBody>
          <a:bodyPr/>
          <a:lstStyle/>
          <a:p>
            <a:endParaRPr lang="it-IT"/>
          </a:p>
        </p:txBody>
      </p:sp>
      <p:pic>
        <p:nvPicPr>
          <p:cNvPr id="22" name="Image 2" descr="FiMap"/>
          <p:cNvPicPr>
            <a:picLocks noChangeAspect="1"/>
          </p:cNvPicPr>
          <p:nvPr/>
        </p:nvPicPr>
        <p:blipFill>
          <a:blip r:embed="rId5"/>
          <a:stretch>
            <a:fillRect/>
          </a:stretch>
        </p:blipFill>
        <p:spPr>
          <a:xfrm>
            <a:off x="6332220" y="1376172"/>
            <a:ext cx="228600" cy="228600"/>
          </a:xfrm>
          <a:prstGeom prst="rect">
            <a:avLst/>
          </a:prstGeom>
        </p:spPr>
      </p:pic>
      <p:sp>
        <p:nvSpPr>
          <p:cNvPr id="23" name="Text 17"/>
          <p:cNvSpPr txBox="1"/>
          <p:nvPr/>
        </p:nvSpPr>
        <p:spPr>
          <a:xfrm>
            <a:off x="6784848" y="1261872"/>
            <a:ext cx="1737360" cy="228600"/>
          </a:xfrm>
          <a:prstGeom prst="rect">
            <a:avLst/>
          </a:prstGeom>
          <a:noFill/>
          <a:ln/>
        </p:spPr>
        <p:txBody>
          <a:bodyPr wrap="square" lIns="0" tIns="0" rIns="0" bIns="0" rtlCol="0" anchor="t"/>
          <a:lstStyle/>
          <a:p>
            <a:pPr marL="0" indent="0">
              <a:buNone/>
            </a:pPr>
            <a:r>
              <a:rPr lang="en-US" sz="1000" b="1" kern="0" spc="100" dirty="0">
                <a:solidFill>
                  <a:schemeClr val="accent1"/>
                </a:solidFill>
              </a:rPr>
              <a:t>SESSIONE 3</a:t>
            </a:r>
            <a:endParaRPr lang="en-US" sz="1000" dirty="0"/>
          </a:p>
        </p:txBody>
      </p:sp>
      <p:sp>
        <p:nvSpPr>
          <p:cNvPr id="24" name="Text 18"/>
          <p:cNvSpPr txBox="1"/>
          <p:nvPr/>
        </p:nvSpPr>
        <p:spPr>
          <a:xfrm>
            <a:off x="6784848" y="1481328"/>
            <a:ext cx="1783080" cy="274320"/>
          </a:xfrm>
          <a:prstGeom prst="rect">
            <a:avLst/>
          </a:prstGeom>
          <a:noFill/>
          <a:ln/>
        </p:spPr>
        <p:txBody>
          <a:bodyPr wrap="square" lIns="0" tIns="0" rIns="0" bIns="0" rtlCol="0" anchor="t"/>
          <a:lstStyle/>
          <a:p>
            <a:pPr marL="0" indent="0">
              <a:buNone/>
            </a:pPr>
            <a:r>
              <a:rPr lang="en-US" sz="1500" b="1" dirty="0">
                <a:solidFill>
                  <a:schemeClr val="tx1"/>
                </a:solidFill>
              </a:rPr>
              <a:t>Regole e roadmap</a:t>
            </a:r>
            <a:endParaRPr lang="en-US" sz="1500" dirty="0"/>
          </a:p>
        </p:txBody>
      </p:sp>
      <p:sp>
        <p:nvSpPr>
          <p:cNvPr id="25" name="Text 19"/>
          <p:cNvSpPr txBox="1"/>
          <p:nvPr/>
        </p:nvSpPr>
        <p:spPr>
          <a:xfrm>
            <a:off x="6217920" y="1965960"/>
            <a:ext cx="2286000" cy="16916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rPr>
              <a:t>Uso sicuro e normativa</a:t>
            </a:r>
            <a:endParaRPr lang="en-US" sz="1300" dirty="0"/>
          </a:p>
          <a:p>
            <a:pPr marL="177800" indent="-177800">
              <a:spcAft>
                <a:spcPts val="600"/>
              </a:spcAft>
              <a:buSzPct val="100000"/>
              <a:buChar char="•"/>
            </a:pPr>
            <a:r>
              <a:rPr lang="en-US" sz="1300" dirty="0">
                <a:solidFill>
                  <a:schemeClr val="tx2"/>
                </a:solidFill>
              </a:rPr>
              <a:t>Governance minima</a:t>
            </a:r>
            <a:endParaRPr lang="en-US" sz="1300" dirty="0"/>
          </a:p>
          <a:p>
            <a:pPr marL="177800" indent="-177800">
              <a:spcAft>
                <a:spcPts val="600"/>
              </a:spcAft>
              <a:buSzPct val="100000"/>
              <a:buChar char="•"/>
            </a:pPr>
            <a:r>
              <a:rPr lang="en-US" sz="1300" dirty="0">
                <a:solidFill>
                  <a:schemeClr val="tx2"/>
                </a:solidFill>
              </a:rPr>
              <a:t>Casi d'uso, schede progetto</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avete provato</a:t>
            </a:r>
            <a:endParaRPr lang="en-US" sz="2600" dirty="0"/>
          </a:p>
        </p:txBody>
      </p:sp>
      <p:sp>
        <p:nvSpPr>
          <p:cNvPr id="4" name="scheda Ha funzionato"/>
          <p:cNvSpPr/>
          <p:nvPr/>
        </p:nvSpPr>
        <p:spPr>
          <a:xfrm>
            <a:off x="457200" y="1097280"/>
            <a:ext cx="2615184" cy="2331720"/>
          </a:xfrm>
          <a:prstGeom prst="roundRect">
            <a:avLst>
              <a:gd name="adj" fmla="val 3137"/>
            </a:avLst>
          </a:prstGeom>
          <a:solidFill>
            <a:schemeClr val="accent6"/>
          </a:solidFill>
          <a:ln/>
        </p:spPr>
      </p:sp>
      <p:sp>
        <p:nvSpPr>
          <p:cNvPr id="5" name="cerchio FiCheckCircle"/>
          <p:cNvSpPr/>
          <p:nvPr/>
        </p:nvSpPr>
        <p:spPr>
          <a:xfrm>
            <a:off x="640080" y="1280160"/>
            <a:ext cx="457200" cy="457200"/>
          </a:xfrm>
          <a:prstGeom prst="ellipse">
            <a:avLst/>
          </a:prstGeom>
          <a:solidFill>
            <a:schemeClr val="accent1"/>
          </a:solidFill>
          <a:ln/>
        </p:spPr>
      </p:sp>
      <p:pic>
        <p:nvPicPr>
          <p:cNvPr id="6" name="Image 0" descr="FiCheckCircle">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1234440" y="1280160"/>
            <a:ext cx="1655064" cy="457200"/>
          </a:xfrm>
          <a:prstGeom prst="rect">
            <a:avLst/>
          </a:prstGeom>
          <a:noFill/>
          <a:ln/>
        </p:spPr>
        <p:txBody>
          <a:bodyPr wrap="square" lIns="0" tIns="0" rIns="0" bIns="0" rtlCol="0" anchor="ctr"/>
          <a:lstStyle/>
          <a:p>
            <a:pPr indent="0" marL="0">
              <a:buNone/>
            </a:pPr>
            <a:r>
              <a:rPr lang="en-US" sz="1600" b="1" dirty="0">
                <a:solidFill>
                  <a:schemeClr val="tx1"/>
                </a:solidFill>
              </a:rPr>
              <a:t>Ha funzionato</a:t>
            </a:r>
            <a:endParaRPr lang="en-US" sz="1600" dirty="0"/>
          </a:p>
        </p:txBody>
      </p:sp>
      <p:sp>
        <p:nvSpPr>
          <p:cNvPr id="8" name="Text 4"/>
          <p:cNvSpPr txBox="1"/>
          <p:nvPr/>
        </p:nvSpPr>
        <p:spPr>
          <a:xfrm>
            <a:off x="640080" y="1874520"/>
            <a:ext cx="2249424" cy="1444752"/>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Che cosa avete chiesto</a:t>
            </a:r>
            <a:endParaRPr lang="en-US" sz="1300" dirty="0"/>
          </a:p>
          <a:p>
            <a:pPr marL="177800" indent="-177800">
              <a:spcAft>
                <a:spcPts val="400"/>
              </a:spcAft>
              <a:buSzPct val="100000"/>
              <a:buChar char="•"/>
            </a:pPr>
            <a:r>
              <a:rPr lang="en-US" sz="1300" dirty="0">
                <a:solidFill>
                  <a:schemeClr val="tx2"/>
                </a:solidFill>
              </a:rPr>
              <a:t>Che cosa è uscito</a:t>
            </a:r>
            <a:endParaRPr lang="en-US" sz="1300" dirty="0"/>
          </a:p>
          <a:p>
            <a:pPr marL="177800" indent="-177800">
              <a:spcAft>
                <a:spcPts val="400"/>
              </a:spcAft>
              <a:buSzPct val="100000"/>
              <a:buChar char="•"/>
            </a:pPr>
            <a:r>
              <a:rPr lang="en-US" sz="1300" dirty="0">
                <a:solidFill>
                  <a:schemeClr val="tx2"/>
                </a:solidFill>
              </a:rPr>
              <a:t>Quali errori</a:t>
            </a:r>
            <a:endParaRPr lang="en-US" sz="1300" dirty="0"/>
          </a:p>
          <a:p>
            <a:pPr marL="177800" indent="-177800">
              <a:spcAft>
                <a:spcPts val="400"/>
              </a:spcAft>
              <a:buSzPct val="100000"/>
              <a:buChar char="•"/>
            </a:pPr>
            <a:r>
              <a:rPr lang="en-US" sz="1300" dirty="0">
                <a:solidFill>
                  <a:schemeClr val="tx2"/>
                </a:solidFill>
              </a:rPr>
              <a:t>Quanto tempo</a:t>
            </a:r>
            <a:endParaRPr lang="en-US" sz="1300" dirty="0"/>
          </a:p>
        </p:txBody>
      </p:sp>
      <p:sp>
        <p:nvSpPr>
          <p:cNvPr id="9" name="scheda A metà"/>
          <p:cNvSpPr/>
          <p:nvPr/>
        </p:nvSpPr>
        <p:spPr>
          <a:xfrm>
            <a:off x="3264408" y="1097280"/>
            <a:ext cx="2615184" cy="2331720"/>
          </a:xfrm>
          <a:prstGeom prst="roundRect">
            <a:avLst>
              <a:gd name="adj" fmla="val 3137"/>
            </a:avLst>
          </a:prstGeom>
          <a:solidFill>
            <a:schemeClr val="bg2"/>
          </a:solidFill>
          <a:ln/>
        </p:spPr>
      </p:sp>
      <p:sp>
        <p:nvSpPr>
          <p:cNvPr id="10" name="cerchio FiAlertCircle"/>
          <p:cNvSpPr/>
          <p:nvPr/>
        </p:nvSpPr>
        <p:spPr>
          <a:xfrm>
            <a:off x="3447288" y="1280160"/>
            <a:ext cx="457200" cy="457200"/>
          </a:xfrm>
          <a:prstGeom prst="ellipse">
            <a:avLst/>
          </a:prstGeom>
          <a:solidFill>
            <a:schemeClr val="accent1"/>
          </a:solidFill>
          <a:ln/>
        </p:spPr>
      </p:sp>
      <p:pic>
        <p:nvPicPr>
          <p:cNvPr id="11" name="Image 1" descr="FiAlertCircle">    </p:cNvPr>
          <p:cNvPicPr>
            <a:picLocks noChangeAspect="1"/>
          </p:cNvPicPr>
          <p:nvPr/>
        </p:nvPicPr>
        <p:blipFill>
          <a:blip r:embed="rId2"/>
          <a:stretch>
            <a:fillRect/>
          </a:stretch>
        </p:blipFill>
        <p:spPr>
          <a:xfrm>
            <a:off x="3561588" y="1394460"/>
            <a:ext cx="228600" cy="228600"/>
          </a:xfrm>
          <a:prstGeom prst="rect">
            <a:avLst/>
          </a:prstGeom>
        </p:spPr>
      </p:pic>
      <p:sp>
        <p:nvSpPr>
          <p:cNvPr id="12" name="Text 7"/>
          <p:cNvSpPr txBox="1"/>
          <p:nvPr/>
        </p:nvSpPr>
        <p:spPr>
          <a:xfrm>
            <a:off x="4041648" y="1280160"/>
            <a:ext cx="1655064" cy="457200"/>
          </a:xfrm>
          <a:prstGeom prst="rect">
            <a:avLst/>
          </a:prstGeom>
          <a:noFill/>
          <a:ln/>
        </p:spPr>
        <p:txBody>
          <a:bodyPr wrap="square" lIns="0" tIns="0" rIns="0" bIns="0" rtlCol="0" anchor="ctr"/>
          <a:lstStyle/>
          <a:p>
            <a:pPr indent="0" marL="0">
              <a:buNone/>
            </a:pPr>
            <a:r>
              <a:rPr lang="en-US" sz="1600" b="1" dirty="0">
                <a:solidFill>
                  <a:schemeClr val="tx1"/>
                </a:solidFill>
              </a:rPr>
              <a:t>A metà</a:t>
            </a:r>
            <a:endParaRPr lang="en-US" sz="1600" dirty="0"/>
          </a:p>
        </p:txBody>
      </p:sp>
      <p:sp>
        <p:nvSpPr>
          <p:cNvPr id="13" name="Text 8"/>
          <p:cNvSpPr txBox="1"/>
          <p:nvPr/>
        </p:nvSpPr>
        <p:spPr>
          <a:xfrm>
            <a:off x="3447288" y="1874520"/>
            <a:ext cx="2249424" cy="1444752"/>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Che cosa avete chiesto</a:t>
            </a:r>
            <a:endParaRPr lang="en-US" sz="1300" dirty="0"/>
          </a:p>
          <a:p>
            <a:pPr marL="177800" indent="-177800">
              <a:spcAft>
                <a:spcPts val="400"/>
              </a:spcAft>
              <a:buSzPct val="100000"/>
              <a:buChar char="•"/>
            </a:pPr>
            <a:r>
              <a:rPr lang="en-US" sz="1300" dirty="0">
                <a:solidFill>
                  <a:schemeClr val="tx2"/>
                </a:solidFill>
              </a:rPr>
              <a:t>Che cosa è uscito</a:t>
            </a:r>
            <a:endParaRPr lang="en-US" sz="1300" dirty="0"/>
          </a:p>
          <a:p>
            <a:pPr marL="177800" indent="-177800">
              <a:spcAft>
                <a:spcPts val="400"/>
              </a:spcAft>
              <a:buSzPct val="100000"/>
              <a:buChar char="•"/>
            </a:pPr>
            <a:r>
              <a:rPr lang="en-US" sz="1300" dirty="0">
                <a:solidFill>
                  <a:schemeClr val="tx2"/>
                </a:solidFill>
              </a:rPr>
              <a:t>Quali errori</a:t>
            </a:r>
            <a:endParaRPr lang="en-US" sz="1300" dirty="0"/>
          </a:p>
          <a:p>
            <a:pPr marL="177800" indent="-177800">
              <a:spcAft>
                <a:spcPts val="400"/>
              </a:spcAft>
              <a:buSzPct val="100000"/>
              <a:buChar char="•"/>
            </a:pPr>
            <a:r>
              <a:rPr lang="en-US" sz="1300" dirty="0">
                <a:solidFill>
                  <a:schemeClr val="tx2"/>
                </a:solidFill>
              </a:rPr>
              <a:t>Quanto tempo</a:t>
            </a:r>
            <a:endParaRPr lang="en-US" sz="1300" dirty="0"/>
          </a:p>
        </p:txBody>
      </p:sp>
      <p:sp>
        <p:nvSpPr>
          <p:cNvPr id="14" name="scheda Non ha funzionato"/>
          <p:cNvSpPr/>
          <p:nvPr/>
        </p:nvSpPr>
        <p:spPr>
          <a:xfrm>
            <a:off x="6071616" y="1097280"/>
            <a:ext cx="2615184" cy="2331720"/>
          </a:xfrm>
          <a:prstGeom prst="roundRect">
            <a:avLst>
              <a:gd name="adj" fmla="val 3137"/>
            </a:avLst>
          </a:prstGeom>
          <a:solidFill>
            <a:schemeClr val="bg2"/>
          </a:solidFill>
          <a:ln/>
        </p:spPr>
      </p:sp>
      <p:sp>
        <p:nvSpPr>
          <p:cNvPr id="15" name="cerchio FiXCircle"/>
          <p:cNvSpPr/>
          <p:nvPr/>
        </p:nvSpPr>
        <p:spPr>
          <a:xfrm>
            <a:off x="6254496" y="1280160"/>
            <a:ext cx="457200" cy="457200"/>
          </a:xfrm>
          <a:prstGeom prst="ellipse">
            <a:avLst/>
          </a:prstGeom>
          <a:solidFill>
            <a:schemeClr val="accent1"/>
          </a:solidFill>
          <a:ln/>
        </p:spPr>
      </p:sp>
      <p:pic>
        <p:nvPicPr>
          <p:cNvPr id="16" name="Image 2" descr="FiXCircle">    </p:cNvPr>
          <p:cNvPicPr>
            <a:picLocks noChangeAspect="1"/>
          </p:cNvPicPr>
          <p:nvPr/>
        </p:nvPicPr>
        <p:blipFill>
          <a:blip r:embed="rId3"/>
          <a:stretch>
            <a:fillRect/>
          </a:stretch>
        </p:blipFill>
        <p:spPr>
          <a:xfrm>
            <a:off x="6368796" y="1394460"/>
            <a:ext cx="228600" cy="228600"/>
          </a:xfrm>
          <a:prstGeom prst="rect">
            <a:avLst/>
          </a:prstGeom>
        </p:spPr>
      </p:pic>
      <p:sp>
        <p:nvSpPr>
          <p:cNvPr id="17" name="Text 11"/>
          <p:cNvSpPr txBox="1"/>
          <p:nvPr/>
        </p:nvSpPr>
        <p:spPr>
          <a:xfrm>
            <a:off x="6848856" y="1280160"/>
            <a:ext cx="1655064" cy="457200"/>
          </a:xfrm>
          <a:prstGeom prst="rect">
            <a:avLst/>
          </a:prstGeom>
          <a:noFill/>
          <a:ln/>
        </p:spPr>
        <p:txBody>
          <a:bodyPr wrap="square" lIns="0" tIns="0" rIns="0" bIns="0" rtlCol="0" anchor="ctr"/>
          <a:lstStyle/>
          <a:p>
            <a:pPr indent="0" marL="0">
              <a:buNone/>
            </a:pPr>
            <a:r>
              <a:rPr lang="en-US" sz="1600" b="1" dirty="0">
                <a:solidFill>
                  <a:schemeClr val="tx1"/>
                </a:solidFill>
              </a:rPr>
              <a:t>Non ha funzionato</a:t>
            </a:r>
            <a:endParaRPr lang="en-US" sz="1600" dirty="0"/>
          </a:p>
        </p:txBody>
      </p:sp>
      <p:sp>
        <p:nvSpPr>
          <p:cNvPr id="18" name="Text 12"/>
          <p:cNvSpPr txBox="1"/>
          <p:nvPr/>
        </p:nvSpPr>
        <p:spPr>
          <a:xfrm>
            <a:off x="6254496" y="1874520"/>
            <a:ext cx="2249424" cy="1444752"/>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Che cosa avete chiesto</a:t>
            </a:r>
            <a:endParaRPr lang="en-US" sz="1300" dirty="0"/>
          </a:p>
          <a:p>
            <a:pPr marL="177800" indent="-177800">
              <a:spcAft>
                <a:spcPts val="400"/>
              </a:spcAft>
              <a:buSzPct val="100000"/>
              <a:buChar char="•"/>
            </a:pPr>
            <a:r>
              <a:rPr lang="en-US" sz="1300" dirty="0">
                <a:solidFill>
                  <a:schemeClr val="tx2"/>
                </a:solidFill>
              </a:rPr>
              <a:t>Che cosa è uscito</a:t>
            </a:r>
            <a:endParaRPr lang="en-US" sz="1300" dirty="0"/>
          </a:p>
          <a:p>
            <a:pPr marL="177800" indent="-177800">
              <a:spcAft>
                <a:spcPts val="400"/>
              </a:spcAft>
              <a:buSzPct val="100000"/>
              <a:buChar char="•"/>
            </a:pPr>
            <a:r>
              <a:rPr lang="en-US" sz="1300" dirty="0">
                <a:solidFill>
                  <a:schemeClr val="tx2"/>
                </a:solidFill>
              </a:rPr>
              <a:t>Quali errori</a:t>
            </a:r>
            <a:endParaRPr lang="en-US" sz="1300" dirty="0"/>
          </a:p>
          <a:p>
            <a:pPr marL="177800" indent="-177800">
              <a:spcAft>
                <a:spcPts val="400"/>
              </a:spcAft>
              <a:buSzPct val="100000"/>
              <a:buChar char="•"/>
            </a:pPr>
            <a:r>
              <a:rPr lang="en-US" sz="1300" dirty="0">
                <a:solidFill>
                  <a:schemeClr val="tx2"/>
                </a:solidFill>
              </a:rPr>
              <a:t>Quanto tempo</a:t>
            </a:r>
            <a:endParaRPr lang="en-US" sz="1300" dirty="0"/>
          </a:p>
        </p:txBody>
      </p:sp>
      <p:sp>
        <p:nvSpPr>
          <p:cNvPr id="19" name="messaggio"/>
          <p:cNvSpPr/>
          <p:nvPr/>
        </p:nvSpPr>
        <p:spPr>
          <a:xfrm>
            <a:off x="457200" y="3657600"/>
            <a:ext cx="8229600" cy="685800"/>
          </a:xfrm>
          <a:prstGeom prst="roundRect">
            <a:avLst>
              <a:gd name="adj" fmla="val 10667"/>
            </a:avLst>
          </a:prstGeom>
          <a:solidFill>
            <a:schemeClr val="tx1"/>
          </a:solidFill>
          <a:ln/>
        </p:spPr>
      </p:sp>
      <p:sp>
        <p:nvSpPr>
          <p:cNvPr id="20" name="Text 14"/>
          <p:cNvSpPr txBox="1"/>
          <p:nvPr/>
        </p:nvSpPr>
        <p:spPr>
          <a:xfrm>
            <a:off x="640080" y="3657600"/>
            <a:ext cx="7863840" cy="685800"/>
          </a:xfrm>
          <a:prstGeom prst="rect">
            <a:avLst/>
          </a:prstGeom>
          <a:noFill/>
          <a:ln/>
        </p:spPr>
        <p:txBody>
          <a:bodyPr wrap="square" lIns="0" tIns="0" rIns="0" bIns="0" rtlCol="0" anchor="ctr"/>
          <a:lstStyle/>
          <a:p>
            <a:pPr indent="0" marL="0">
              <a:buNone/>
            </a:pPr>
            <a:r>
              <a:rPr lang="en-US" sz="1400" dirty="0">
                <a:solidFill>
                  <a:schemeClr val="bg1"/>
                </a:solidFill>
              </a:rPr>
              <a:t>Gli errori che avete trovato sono il materiale migliore per la prossima mezz'ora. Le idee nuove vanno nel parcheggio.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Gli sprechi che avete indicato</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2240280"/>
                <a:gridCol w="3657600"/>
                <a:gridCol w="2331720"/>
              </a:tblGrid>
              <a:tr h="438912">
                <a:tc>
                  <a:txBody>
                    <a:bodyPr/>
                    <a:lstStyle/>
                    <a:p>
                      <a:pPr indent="0" marL="0">
                        <a:buNone/>
                      </a:pPr>
                      <a:r>
                        <a:rPr lang="en-US" sz="1200" b="1" dirty="0">
                          <a:solidFill>
                            <a:schemeClr val="bg1"/>
                          </a:solidFill>
                        </a:rPr>
                        <a:t>Tema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Che cosa succede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Reparti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38912">
                <a:tc>
                  <a:txBody>
                    <a:bodyPr/>
                    <a:lstStyle/>
                    <a:p>
                      <a:pPr indent="0" marL="0">
                        <a:buNone/>
                      </a:pPr>
                      <a:r>
                        <a:rPr lang="en-US" sz="1200" b="1" dirty="0">
                          <a:solidFill>
                            <a:schemeClr val="tx1"/>
                          </a:solidFill>
                        </a:rPr>
                        <a:t>A · Informazioni disperse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Informazioni sparse tra reparti, archivi e persone; si cerca e si aspetta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Direzione, Amministrazione, Tecnico, Service, Elettrico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indent="0" marL="0">
                        <a:buNone/>
                      </a:pPr>
                      <a:r>
                        <a:rPr lang="en-US" sz="1200" b="1" dirty="0">
                          <a:solidFill>
                            <a:schemeClr val="tx1"/>
                          </a:solidFill>
                        </a:rPr>
                        <a:t>B · Controlli incrociati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Fatture, documenti dei fornitori, disegni e gestionale da confrontare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Direzione, Amministrazione, Tecnico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indent="0" marL="0">
                        <a:buNone/>
                      </a:pPr>
                      <a:r>
                        <a:rPr lang="en-US" sz="1200" b="1" dirty="0">
                          <a:solidFill>
                            <a:schemeClr val="tx1"/>
                          </a:solidFill>
                        </a:rPr>
                        <a:t>C · Offerte e preventivi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Supporto alle offerte, preventivi ripetuti, richieste sui pezzi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Direzione, Elettrico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indent="0" marL="0">
                        <a:buNone/>
                      </a:pPr>
                      <a:r>
                        <a:rPr lang="en-US" sz="1200" b="1" dirty="0">
                          <a:solidFill>
                            <a:schemeClr val="tx1"/>
                          </a:solidFill>
                        </a:rPr>
                        <a:t>D · Estero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Traduzioni; normative diverse da paese a paese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Direzione, Tecnico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indent="0" marL="0">
                        <a:buNone/>
                      </a:pPr>
                      <a:r>
                        <a:rPr lang="en-US" sz="1200" b="1" dirty="0">
                          <a:solidFill>
                            <a:schemeClr val="tx1"/>
                          </a:solidFill>
                        </a:rPr>
                        <a:t>E · Disegni ripetitivi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Tavole 3D simili rifatte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Tecnico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indent="0" marL="0">
                        <a:buNone/>
                      </a:pPr>
                      <a:r>
                        <a:rPr lang="en-US" sz="1200" b="1" dirty="0">
                          <a:solidFill>
                            <a:schemeClr val="tx1"/>
                          </a:solidFill>
                        </a:rPr>
                        <a:t>F · Pianificazione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Gestione pezzi, riprogrammazione, logistica (da chiarire)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Produzione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b="1" dirty="0">
                <a:solidFill>
                  <a:schemeClr val="accent1"/>
                </a:solidFill>
              </a:rPr>
              <a:t>Tre bollini a testa: quali sprechi vi costano più tempo in un mese?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300" b="1" spc="200" kern="0" dirty="0">
                <a:solidFill>
                  <a:schemeClr val="accent1"/>
                </a:solidFill>
              </a:rPr>
              <a:t>AI ADOPTION  ·  LASER SRL  ·  SESSIONE 2 DI 3</a:t>
            </a: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Capacità, limiti e affidabilità dell'AI</a:t>
            </a: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en-US" sz="1600" dirty="0">
                <a:solidFill>
                  <a:schemeClr val="accent3"/>
                </a:solidFill>
              </a:rPr>
              <a:t>Ripresa dalla giornata 1: allucinazioni e bias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Calibrare la fiducia</a:t>
            </a:r>
            <a:endParaRPr lang="it-IT" sz="2600" dirty="0"/>
          </a:p>
        </p:txBody>
      </p:sp>
      <p:sp>
        <p:nvSpPr>
          <p:cNvPr id="4" name="Fiducia eccessiva"/>
          <p:cNvSpPr/>
          <p:nvPr/>
        </p:nvSpPr>
        <p:spPr>
          <a:xfrm>
            <a:off x="457200" y="1188720"/>
            <a:ext cx="2615184" cy="2514600"/>
          </a:xfrm>
          <a:prstGeom prst="roundRect">
            <a:avLst>
              <a:gd name="adj" fmla="val 2909"/>
            </a:avLst>
          </a:prstGeom>
          <a:solidFill>
            <a:schemeClr val="bg2"/>
          </a:solidFill>
          <a:ln/>
        </p:spPr>
        <p:txBody>
          <a:bodyPr/>
          <a:lstStyle/>
          <a:p>
            <a:endParaRPr lang="it-IT" dirty="0"/>
          </a:p>
        </p:txBody>
      </p:sp>
      <p:sp>
        <p:nvSpPr>
          <p:cNvPr id="5" name="cerchio FiThumbsUp"/>
          <p:cNvSpPr/>
          <p:nvPr/>
        </p:nvSpPr>
        <p:spPr>
          <a:xfrm>
            <a:off x="1463040" y="1371600"/>
            <a:ext cx="603504" cy="603504"/>
          </a:xfrm>
          <a:prstGeom prst="ellipse">
            <a:avLst/>
          </a:prstGeom>
          <a:solidFill>
            <a:schemeClr val="accent2"/>
          </a:solidFill>
          <a:ln/>
        </p:spPr>
        <p:txBody>
          <a:bodyPr/>
          <a:lstStyle/>
          <a:p>
            <a:endParaRPr lang="it-IT" dirty="0"/>
          </a:p>
        </p:txBody>
      </p:sp>
      <p:pic>
        <p:nvPicPr>
          <p:cNvPr id="6" name="Image 0" descr="FiThumbsUp"/>
          <p:cNvPicPr>
            <a:picLocks noChangeAspect="1"/>
          </p:cNvPicPr>
          <p:nvPr/>
        </p:nvPicPr>
        <p:blipFill>
          <a:blip r:embed="rId3"/>
          <a:stretch>
            <a:fillRect/>
          </a:stretch>
        </p:blipFill>
        <p:spPr>
          <a:xfrm>
            <a:off x="1613916" y="1522476"/>
            <a:ext cx="301752" cy="301752"/>
          </a:xfrm>
          <a:prstGeom prst="rect">
            <a:avLst/>
          </a:prstGeom>
        </p:spPr>
      </p:pic>
      <p:sp>
        <p:nvSpPr>
          <p:cNvPr id="7" name="Text 3"/>
          <p:cNvSpPr txBox="1"/>
          <p:nvPr/>
        </p:nvSpPr>
        <p:spPr>
          <a:xfrm>
            <a:off x="594360" y="2103120"/>
            <a:ext cx="2340864" cy="365760"/>
          </a:xfrm>
          <a:prstGeom prst="rect">
            <a:avLst/>
          </a:prstGeom>
          <a:noFill/>
          <a:ln/>
        </p:spPr>
        <p:txBody>
          <a:bodyPr wrap="square" lIns="0" tIns="0" rIns="0" bIns="0" rtlCol="0" anchor="t"/>
          <a:lstStyle/>
          <a:p>
            <a:pPr marL="0" indent="0" algn="ctr">
              <a:buNone/>
            </a:pPr>
            <a:r>
              <a:rPr lang="it-IT" sz="1700" b="1" dirty="0">
                <a:solidFill>
                  <a:schemeClr val="tx1"/>
                </a:solidFill>
              </a:rPr>
              <a:t>Fiducia eccessiva</a:t>
            </a:r>
            <a:endParaRPr lang="it-IT" sz="1700" dirty="0"/>
          </a:p>
        </p:txBody>
      </p:sp>
      <p:sp>
        <p:nvSpPr>
          <p:cNvPr id="8" name="Text 4"/>
          <p:cNvSpPr txBox="1"/>
          <p:nvPr/>
        </p:nvSpPr>
        <p:spPr>
          <a:xfrm>
            <a:off x="640080" y="2514600"/>
            <a:ext cx="2249424" cy="594360"/>
          </a:xfrm>
          <a:prstGeom prst="rect">
            <a:avLst/>
          </a:prstGeom>
          <a:noFill/>
          <a:ln/>
        </p:spPr>
        <p:txBody>
          <a:bodyPr wrap="square" lIns="0" tIns="0" rIns="0" bIns="0" rtlCol="0" anchor="t"/>
          <a:lstStyle/>
          <a:p>
            <a:pPr marL="0" indent="0" algn="ctr">
              <a:buNone/>
            </a:pPr>
            <a:r>
              <a:rPr lang="it-IT" sz="1300" dirty="0">
                <a:solidFill>
                  <a:schemeClr val="tx1"/>
                </a:solidFill>
              </a:rPr>
              <a:t>Si accetta tutto perché è scritto bene</a:t>
            </a:r>
            <a:endParaRPr lang="it-IT" sz="1300" dirty="0"/>
          </a:p>
        </p:txBody>
      </p:sp>
      <p:sp>
        <p:nvSpPr>
          <p:cNvPr id="9" name="Text 5"/>
          <p:cNvSpPr txBox="1"/>
          <p:nvPr/>
        </p:nvSpPr>
        <p:spPr>
          <a:xfrm>
            <a:off x="640080" y="3154680"/>
            <a:ext cx="2249424" cy="457200"/>
          </a:xfrm>
          <a:prstGeom prst="rect">
            <a:avLst/>
          </a:prstGeom>
          <a:noFill/>
          <a:ln/>
        </p:spPr>
        <p:txBody>
          <a:bodyPr wrap="square" lIns="0" tIns="0" rIns="0" bIns="0" rtlCol="0" anchor="t"/>
          <a:lstStyle/>
          <a:p>
            <a:pPr marL="0" indent="0" algn="ctr">
              <a:buNone/>
            </a:pPr>
            <a:r>
              <a:rPr lang="it-IT" sz="1200" b="1" dirty="0">
                <a:solidFill>
                  <a:schemeClr val="accent5"/>
                </a:solidFill>
              </a:rPr>
              <a:t>Rischio: errori e decisioni sbagliate</a:t>
            </a:r>
            <a:endParaRPr lang="it-IT" sz="1200" dirty="0"/>
          </a:p>
        </p:txBody>
      </p:sp>
      <p:sp>
        <p:nvSpPr>
          <p:cNvPr id="10" name="Fiducia calibrata"/>
          <p:cNvSpPr/>
          <p:nvPr/>
        </p:nvSpPr>
        <p:spPr>
          <a:xfrm>
            <a:off x="3264408" y="1188720"/>
            <a:ext cx="2615184" cy="2514600"/>
          </a:xfrm>
          <a:prstGeom prst="roundRect">
            <a:avLst>
              <a:gd name="adj" fmla="val 2909"/>
            </a:avLst>
          </a:prstGeom>
          <a:solidFill>
            <a:schemeClr val="accent1"/>
          </a:solidFill>
          <a:ln/>
        </p:spPr>
        <p:txBody>
          <a:bodyPr/>
          <a:lstStyle/>
          <a:p>
            <a:endParaRPr lang="it-IT" dirty="0"/>
          </a:p>
        </p:txBody>
      </p:sp>
      <p:sp>
        <p:nvSpPr>
          <p:cNvPr id="11" name="cerchio FiSliders"/>
          <p:cNvSpPr/>
          <p:nvPr/>
        </p:nvSpPr>
        <p:spPr>
          <a:xfrm>
            <a:off x="4270248" y="1371600"/>
            <a:ext cx="603504" cy="603504"/>
          </a:xfrm>
          <a:prstGeom prst="ellipse">
            <a:avLst/>
          </a:prstGeom>
          <a:solidFill>
            <a:schemeClr val="bg1"/>
          </a:solidFill>
          <a:ln/>
        </p:spPr>
        <p:txBody>
          <a:bodyPr/>
          <a:lstStyle/>
          <a:p>
            <a:endParaRPr lang="it-IT" dirty="0"/>
          </a:p>
        </p:txBody>
      </p:sp>
      <p:pic>
        <p:nvPicPr>
          <p:cNvPr id="12" name="Image 1" descr="FiSliders"/>
          <p:cNvPicPr>
            <a:picLocks noChangeAspect="1"/>
          </p:cNvPicPr>
          <p:nvPr/>
        </p:nvPicPr>
        <p:blipFill>
          <a:blip r:embed="rId4"/>
          <a:stretch>
            <a:fillRect/>
          </a:stretch>
        </p:blipFill>
        <p:spPr>
          <a:xfrm>
            <a:off x="4421124" y="1522476"/>
            <a:ext cx="301752" cy="301752"/>
          </a:xfrm>
          <a:prstGeom prst="rect">
            <a:avLst/>
          </a:prstGeom>
        </p:spPr>
      </p:pic>
      <p:sp>
        <p:nvSpPr>
          <p:cNvPr id="13" name="Text 8"/>
          <p:cNvSpPr txBox="1"/>
          <p:nvPr/>
        </p:nvSpPr>
        <p:spPr>
          <a:xfrm>
            <a:off x="3401568" y="2103120"/>
            <a:ext cx="2340864" cy="365760"/>
          </a:xfrm>
          <a:prstGeom prst="rect">
            <a:avLst/>
          </a:prstGeom>
          <a:noFill/>
          <a:ln/>
        </p:spPr>
        <p:txBody>
          <a:bodyPr wrap="square" lIns="0" tIns="0" rIns="0" bIns="0" rtlCol="0" anchor="t"/>
          <a:lstStyle/>
          <a:p>
            <a:pPr marL="0" indent="0" algn="ctr">
              <a:buNone/>
            </a:pPr>
            <a:r>
              <a:rPr lang="it-IT" sz="1700" b="1" dirty="0">
                <a:solidFill>
                  <a:schemeClr val="bg1"/>
                </a:solidFill>
              </a:rPr>
              <a:t>Fiducia calibrata</a:t>
            </a:r>
            <a:endParaRPr lang="it-IT" sz="1700" dirty="0"/>
          </a:p>
        </p:txBody>
      </p:sp>
      <p:sp>
        <p:nvSpPr>
          <p:cNvPr id="14" name="Text 9"/>
          <p:cNvSpPr txBox="1"/>
          <p:nvPr/>
        </p:nvSpPr>
        <p:spPr>
          <a:xfrm>
            <a:off x="3447288" y="2514600"/>
            <a:ext cx="2249424" cy="594360"/>
          </a:xfrm>
          <a:prstGeom prst="rect">
            <a:avLst/>
          </a:prstGeom>
          <a:noFill/>
          <a:ln/>
        </p:spPr>
        <p:txBody>
          <a:bodyPr wrap="square" lIns="0" tIns="0" rIns="0" bIns="0" rtlCol="0" anchor="t"/>
          <a:lstStyle/>
          <a:p>
            <a:pPr marL="0" indent="0" algn="ctr">
              <a:buNone/>
            </a:pPr>
            <a:r>
              <a:rPr lang="it-IT" sz="1300" dirty="0">
                <a:solidFill>
                  <a:schemeClr val="bg1"/>
                </a:solidFill>
              </a:rPr>
              <a:t>Fiducia e controlli regolati su compito, sistema e conseguenze</a:t>
            </a:r>
            <a:endParaRPr lang="it-IT" sz="1300" dirty="0"/>
          </a:p>
        </p:txBody>
      </p:sp>
      <p:sp>
        <p:nvSpPr>
          <p:cNvPr id="15" name="Text 10"/>
          <p:cNvSpPr txBox="1"/>
          <p:nvPr/>
        </p:nvSpPr>
        <p:spPr>
          <a:xfrm>
            <a:off x="3447288" y="3154680"/>
            <a:ext cx="2249424" cy="457200"/>
          </a:xfrm>
          <a:prstGeom prst="rect">
            <a:avLst/>
          </a:prstGeom>
          <a:noFill/>
          <a:ln/>
        </p:spPr>
        <p:txBody>
          <a:bodyPr wrap="square" lIns="0" tIns="0" rIns="0" bIns="0" rtlCol="0" anchor="t"/>
          <a:lstStyle/>
          <a:p>
            <a:pPr marL="0" indent="0" algn="ctr">
              <a:buNone/>
            </a:pPr>
            <a:r>
              <a:rPr lang="it-IT" sz="1200" b="1" dirty="0">
                <a:solidFill>
                  <a:schemeClr val="accent6"/>
                </a:solidFill>
              </a:rPr>
              <a:t>L'obiettivo di questo modulo</a:t>
            </a:r>
            <a:endParaRPr lang="it-IT" sz="1200" dirty="0"/>
          </a:p>
        </p:txBody>
      </p:sp>
      <p:sp>
        <p:nvSpPr>
          <p:cNvPr id="16" name="Sfiducia totale"/>
          <p:cNvSpPr/>
          <p:nvPr/>
        </p:nvSpPr>
        <p:spPr>
          <a:xfrm>
            <a:off x="6071616" y="1188720"/>
            <a:ext cx="2615184" cy="2514600"/>
          </a:xfrm>
          <a:prstGeom prst="roundRect">
            <a:avLst>
              <a:gd name="adj" fmla="val 2909"/>
            </a:avLst>
          </a:prstGeom>
          <a:solidFill>
            <a:schemeClr val="bg2"/>
          </a:solidFill>
          <a:ln/>
        </p:spPr>
        <p:txBody>
          <a:bodyPr/>
          <a:lstStyle/>
          <a:p>
            <a:endParaRPr lang="it-IT" dirty="0"/>
          </a:p>
        </p:txBody>
      </p:sp>
      <p:sp>
        <p:nvSpPr>
          <p:cNvPr id="17" name="cerchio FiThumbsDown"/>
          <p:cNvSpPr/>
          <p:nvPr/>
        </p:nvSpPr>
        <p:spPr>
          <a:xfrm>
            <a:off x="7077456" y="1371600"/>
            <a:ext cx="603504" cy="603504"/>
          </a:xfrm>
          <a:prstGeom prst="ellipse">
            <a:avLst/>
          </a:prstGeom>
          <a:solidFill>
            <a:schemeClr val="accent2"/>
          </a:solidFill>
          <a:ln/>
        </p:spPr>
        <p:txBody>
          <a:bodyPr/>
          <a:lstStyle/>
          <a:p>
            <a:endParaRPr lang="it-IT" dirty="0"/>
          </a:p>
        </p:txBody>
      </p:sp>
      <p:pic>
        <p:nvPicPr>
          <p:cNvPr id="18" name="Image 2" descr="FiThumbsDown"/>
          <p:cNvPicPr>
            <a:picLocks noChangeAspect="1"/>
          </p:cNvPicPr>
          <p:nvPr/>
        </p:nvPicPr>
        <p:blipFill>
          <a:blip r:embed="rId5"/>
          <a:stretch>
            <a:fillRect/>
          </a:stretch>
        </p:blipFill>
        <p:spPr>
          <a:xfrm>
            <a:off x="7228332" y="1522476"/>
            <a:ext cx="301752" cy="301752"/>
          </a:xfrm>
          <a:prstGeom prst="rect">
            <a:avLst/>
          </a:prstGeom>
        </p:spPr>
      </p:pic>
      <p:sp>
        <p:nvSpPr>
          <p:cNvPr id="19" name="Text 13"/>
          <p:cNvSpPr txBox="1"/>
          <p:nvPr/>
        </p:nvSpPr>
        <p:spPr>
          <a:xfrm>
            <a:off x="6208776" y="2103120"/>
            <a:ext cx="2340864" cy="365760"/>
          </a:xfrm>
          <a:prstGeom prst="rect">
            <a:avLst/>
          </a:prstGeom>
          <a:noFill/>
          <a:ln/>
        </p:spPr>
        <p:txBody>
          <a:bodyPr wrap="square" lIns="0" tIns="0" rIns="0" bIns="0" rtlCol="0" anchor="t"/>
          <a:lstStyle/>
          <a:p>
            <a:pPr marL="0" indent="0" algn="ctr">
              <a:buNone/>
            </a:pPr>
            <a:r>
              <a:rPr lang="it-IT" sz="1700" b="1" dirty="0">
                <a:solidFill>
                  <a:schemeClr val="tx1"/>
                </a:solidFill>
              </a:rPr>
              <a:t>Sfiducia totale</a:t>
            </a:r>
            <a:endParaRPr lang="it-IT" sz="1700" dirty="0"/>
          </a:p>
        </p:txBody>
      </p:sp>
      <p:sp>
        <p:nvSpPr>
          <p:cNvPr id="20" name="Text 14"/>
          <p:cNvSpPr txBox="1"/>
          <p:nvPr/>
        </p:nvSpPr>
        <p:spPr>
          <a:xfrm>
            <a:off x="6254496" y="2514600"/>
            <a:ext cx="2249424" cy="594360"/>
          </a:xfrm>
          <a:prstGeom prst="rect">
            <a:avLst/>
          </a:prstGeom>
          <a:noFill/>
          <a:ln/>
        </p:spPr>
        <p:txBody>
          <a:bodyPr wrap="square" lIns="0" tIns="0" rIns="0" bIns="0" rtlCol="0" anchor="t"/>
          <a:lstStyle/>
          <a:p>
            <a:pPr marL="0" indent="0" algn="ctr">
              <a:buNone/>
            </a:pPr>
            <a:r>
              <a:rPr lang="it-IT" sz="1300" dirty="0">
                <a:solidFill>
                  <a:schemeClr val="tx1"/>
                </a:solidFill>
              </a:rPr>
              <a:t>Si scarta l'AI perché "sbaglia"</a:t>
            </a:r>
            <a:endParaRPr lang="it-IT" sz="1300" dirty="0"/>
          </a:p>
        </p:txBody>
      </p:sp>
      <p:sp>
        <p:nvSpPr>
          <p:cNvPr id="21" name="Text 15"/>
          <p:cNvSpPr txBox="1"/>
          <p:nvPr/>
        </p:nvSpPr>
        <p:spPr>
          <a:xfrm>
            <a:off x="6254496" y="3154680"/>
            <a:ext cx="2249424" cy="457200"/>
          </a:xfrm>
          <a:prstGeom prst="rect">
            <a:avLst/>
          </a:prstGeom>
          <a:noFill/>
          <a:ln/>
        </p:spPr>
        <p:txBody>
          <a:bodyPr wrap="square" lIns="0" tIns="0" rIns="0" bIns="0" rtlCol="0" anchor="t"/>
          <a:lstStyle/>
          <a:p>
            <a:pPr marL="0" indent="0" algn="ctr">
              <a:buNone/>
            </a:pPr>
            <a:r>
              <a:rPr lang="it-IT" sz="1200" b="1" dirty="0">
                <a:solidFill>
                  <a:schemeClr val="accent5"/>
                </a:solidFill>
              </a:rPr>
              <a:t>Rischio: perdere opportunità reali</a:t>
            </a:r>
            <a:endParaRPr lang="it-IT" sz="1200" dirty="0"/>
          </a:p>
        </p:txBody>
      </p:sp>
      <p:sp>
        <p:nvSpPr>
          <p:cNvPr id="22" name="messaggio"/>
          <p:cNvSpPr/>
          <p:nvPr/>
        </p:nvSpPr>
        <p:spPr>
          <a:xfrm>
            <a:off x="457200" y="3886200"/>
            <a:ext cx="8229600" cy="640080"/>
          </a:xfrm>
          <a:prstGeom prst="roundRect">
            <a:avLst>
              <a:gd name="adj" fmla="val 11429"/>
            </a:avLst>
          </a:prstGeom>
          <a:solidFill>
            <a:schemeClr val="tx1"/>
          </a:solidFill>
          <a:ln/>
        </p:spPr>
        <p:txBody>
          <a:bodyPr/>
          <a:lstStyle/>
          <a:p>
            <a:endParaRPr lang="it-IT" dirty="0"/>
          </a:p>
        </p:txBody>
      </p:sp>
      <p:sp>
        <p:nvSpPr>
          <p:cNvPr id="23" name="Text 17"/>
          <p:cNvSpPr txBox="1"/>
          <p:nvPr/>
        </p:nvSpPr>
        <p:spPr>
          <a:xfrm>
            <a:off x="640080" y="3886200"/>
            <a:ext cx="7863840" cy="640080"/>
          </a:xfrm>
          <a:prstGeom prst="rect">
            <a:avLst/>
          </a:prstGeom>
          <a:noFill/>
          <a:ln/>
        </p:spPr>
        <p:txBody>
          <a:bodyPr wrap="square" lIns="0" tIns="0" rIns="0" bIns="0" rtlCol="0" anchor="ctr"/>
          <a:lstStyle/>
          <a:p>
            <a:pPr marL="0" indent="0">
              <a:buNone/>
            </a:pPr>
            <a:r>
              <a:rPr lang="it-IT" sz="1400" dirty="0">
                <a:solidFill>
                  <a:schemeClr val="bg1"/>
                </a:solidFill>
              </a:rPr>
              <a:t>L'obiettivo non è fidarsi sempre o non fidarsi mai, ma imparare a riconoscere quando e come utilizzare l'AI per ottenere risultati utili e affidabili.</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62</a:t>
            </a:fld>
            <a:endParaRPr lang="it-IT"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3.3</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Allucinazioni e informazioni false</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La fluidità o la sicurezza del tono non dimostra che un'affermazione sia corretta o verificata</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67</a:t>
            </a:fld>
            <a:endParaRPr lang="it-IT"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Che cos'è un'allucinazione</a:t>
            </a:r>
            <a:endParaRPr lang="it-IT" sz="2600" dirty="0"/>
          </a:p>
        </p:txBody>
      </p:sp>
      <p:sp>
        <p:nvSpPr>
          <p:cNvPr id="4" name="scheda Inventate"/>
          <p:cNvSpPr/>
          <p:nvPr/>
        </p:nvSpPr>
        <p:spPr>
          <a:xfrm>
            <a:off x="457200" y="1097280"/>
            <a:ext cx="2615184" cy="2514600"/>
          </a:xfrm>
          <a:prstGeom prst="roundRect">
            <a:avLst>
              <a:gd name="adj" fmla="val 2909"/>
            </a:avLst>
          </a:prstGeom>
          <a:solidFill>
            <a:schemeClr val="bg2"/>
          </a:solidFill>
          <a:ln/>
        </p:spPr>
        <p:txBody>
          <a:bodyPr/>
          <a:lstStyle/>
          <a:p>
            <a:endParaRPr lang="it-IT" dirty="0"/>
          </a:p>
        </p:txBody>
      </p:sp>
      <p:sp>
        <p:nvSpPr>
          <p:cNvPr id="5" name="cerchio FiPlusCircle"/>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PlusCircl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marL="0" indent="0">
              <a:buNone/>
            </a:pPr>
            <a:r>
              <a:rPr lang="it-IT" sz="1600" b="1" dirty="0">
                <a:solidFill>
                  <a:schemeClr val="tx1"/>
                </a:solidFill>
              </a:rPr>
              <a:t>Inventate</a:t>
            </a:r>
            <a:endParaRPr lang="it-IT" sz="1600" dirty="0"/>
          </a:p>
        </p:txBody>
      </p:sp>
      <p:sp>
        <p:nvSpPr>
          <p:cNvPr id="8" name="Text 4"/>
          <p:cNvSpPr txBox="1"/>
          <p:nvPr/>
        </p:nvSpPr>
        <p:spPr>
          <a:xfrm>
            <a:off x="640080" y="2231136"/>
            <a:ext cx="2249424" cy="1271016"/>
          </a:xfrm>
          <a:prstGeom prst="rect">
            <a:avLst/>
          </a:prstGeom>
          <a:noFill/>
          <a:ln/>
        </p:spPr>
        <p:txBody>
          <a:bodyPr wrap="square" lIns="0" tIns="0" rIns="0" bIns="0" rtlCol="0" anchor="t"/>
          <a:lstStyle/>
          <a:p>
            <a:pPr marL="0" indent="0">
              <a:spcAft>
                <a:spcPts val="800"/>
              </a:spcAft>
              <a:buNone/>
            </a:pPr>
            <a:r>
              <a:rPr lang="it-IT" sz="1300" b="1" dirty="0">
                <a:solidFill>
                  <a:schemeClr val="tx1"/>
                </a:solidFill>
              </a:rPr>
              <a:t>Fatti, persone, dati o documenti che non esistono</a:t>
            </a:r>
            <a:endParaRPr lang="it-IT" sz="1300" dirty="0"/>
          </a:p>
          <a:p>
            <a:pPr marL="0" indent="0">
              <a:buNone/>
            </a:pPr>
            <a:r>
              <a:rPr lang="it-IT" sz="1300" dirty="0">
                <a:solidFill>
                  <a:schemeClr val="tx2"/>
                </a:solidFill>
              </a:rPr>
              <a:t>Esempio: Una sentenza mai pronunciata</a:t>
            </a:r>
            <a:endParaRPr lang="it-IT" sz="1300" dirty="0"/>
          </a:p>
        </p:txBody>
      </p:sp>
      <p:sp>
        <p:nvSpPr>
          <p:cNvPr id="9" name="scheda Inesatte"/>
          <p:cNvSpPr/>
          <p:nvPr/>
        </p:nvSpPr>
        <p:spPr>
          <a:xfrm>
            <a:off x="3264408" y="1097280"/>
            <a:ext cx="2615184" cy="2514600"/>
          </a:xfrm>
          <a:prstGeom prst="roundRect">
            <a:avLst>
              <a:gd name="adj" fmla="val 2909"/>
            </a:avLst>
          </a:prstGeom>
          <a:solidFill>
            <a:schemeClr val="bg2"/>
          </a:solidFill>
          <a:ln/>
        </p:spPr>
        <p:txBody>
          <a:bodyPr/>
          <a:lstStyle/>
          <a:p>
            <a:endParaRPr lang="it-IT" dirty="0"/>
          </a:p>
        </p:txBody>
      </p:sp>
      <p:sp>
        <p:nvSpPr>
          <p:cNvPr id="10" name="cerchio FiEdit"/>
          <p:cNvSpPr/>
          <p:nvPr/>
        </p:nvSpPr>
        <p:spPr>
          <a:xfrm>
            <a:off x="3447288" y="1280160"/>
            <a:ext cx="457200" cy="457200"/>
          </a:xfrm>
          <a:prstGeom prst="ellipse">
            <a:avLst/>
          </a:prstGeom>
          <a:solidFill>
            <a:schemeClr val="accent1"/>
          </a:solidFill>
          <a:ln/>
        </p:spPr>
        <p:txBody>
          <a:bodyPr/>
          <a:lstStyle/>
          <a:p>
            <a:endParaRPr lang="it-IT" dirty="0"/>
          </a:p>
        </p:txBody>
      </p:sp>
      <p:pic>
        <p:nvPicPr>
          <p:cNvPr id="11" name="Image 1" descr="FiEdit"/>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marL="0" indent="0">
              <a:buNone/>
            </a:pPr>
            <a:r>
              <a:rPr lang="it-IT" sz="1600" b="1" dirty="0">
                <a:solidFill>
                  <a:schemeClr val="tx1"/>
                </a:solidFill>
              </a:rPr>
              <a:t>Inesatte</a:t>
            </a:r>
            <a:endParaRPr lang="it-IT" sz="1600" dirty="0"/>
          </a:p>
        </p:txBody>
      </p:sp>
      <p:sp>
        <p:nvSpPr>
          <p:cNvPr id="13" name="Text 8"/>
          <p:cNvSpPr txBox="1"/>
          <p:nvPr/>
        </p:nvSpPr>
        <p:spPr>
          <a:xfrm>
            <a:off x="3447288" y="2231136"/>
            <a:ext cx="2249424" cy="1271016"/>
          </a:xfrm>
          <a:prstGeom prst="rect">
            <a:avLst/>
          </a:prstGeom>
          <a:noFill/>
          <a:ln/>
        </p:spPr>
        <p:txBody>
          <a:bodyPr wrap="square" lIns="0" tIns="0" rIns="0" bIns="0" rtlCol="0" anchor="t"/>
          <a:lstStyle/>
          <a:p>
            <a:pPr marL="0" indent="0">
              <a:spcAft>
                <a:spcPts val="800"/>
              </a:spcAft>
              <a:buNone/>
            </a:pPr>
            <a:r>
              <a:rPr lang="it-IT" sz="1300" b="1" dirty="0">
                <a:solidFill>
                  <a:schemeClr val="tx1"/>
                </a:solidFill>
              </a:rPr>
              <a:t>Elementi reali riportati in modo sbagliato</a:t>
            </a:r>
            <a:endParaRPr lang="it-IT" sz="1300" dirty="0"/>
          </a:p>
          <a:p>
            <a:pPr marL="0" indent="0">
              <a:buNone/>
            </a:pPr>
            <a:r>
              <a:rPr lang="it-IT" sz="1300" dirty="0">
                <a:solidFill>
                  <a:schemeClr val="tx2"/>
                </a:solidFill>
              </a:rPr>
              <a:t>Esempio: Una data spostata, un numero errato, l'articolo sbagliato</a:t>
            </a:r>
            <a:endParaRPr lang="it-IT" sz="1300" dirty="0"/>
          </a:p>
        </p:txBody>
      </p:sp>
      <p:sp>
        <p:nvSpPr>
          <p:cNvPr id="14" name="scheda Prive di fondamento"/>
          <p:cNvSpPr/>
          <p:nvPr/>
        </p:nvSpPr>
        <p:spPr>
          <a:xfrm>
            <a:off x="6071616" y="1097280"/>
            <a:ext cx="2615184" cy="2514600"/>
          </a:xfrm>
          <a:prstGeom prst="roundRect">
            <a:avLst>
              <a:gd name="adj" fmla="val 2909"/>
            </a:avLst>
          </a:prstGeom>
          <a:solidFill>
            <a:schemeClr val="accent6"/>
          </a:solidFill>
          <a:ln/>
        </p:spPr>
        <p:txBody>
          <a:bodyPr/>
          <a:lstStyle/>
          <a:p>
            <a:endParaRPr lang="it-IT" dirty="0"/>
          </a:p>
        </p:txBody>
      </p:sp>
      <p:sp>
        <p:nvSpPr>
          <p:cNvPr id="15" name="cerchio FiLink2"/>
          <p:cNvSpPr/>
          <p:nvPr/>
        </p:nvSpPr>
        <p:spPr>
          <a:xfrm>
            <a:off x="6254496" y="1280160"/>
            <a:ext cx="457200" cy="457200"/>
          </a:xfrm>
          <a:prstGeom prst="ellipse">
            <a:avLst/>
          </a:prstGeom>
          <a:solidFill>
            <a:schemeClr val="accent1"/>
          </a:solidFill>
          <a:ln/>
        </p:spPr>
        <p:txBody>
          <a:bodyPr/>
          <a:lstStyle/>
          <a:p>
            <a:endParaRPr lang="it-IT" dirty="0"/>
          </a:p>
        </p:txBody>
      </p:sp>
      <p:pic>
        <p:nvPicPr>
          <p:cNvPr id="16" name="Image 2" descr="FiLink2"/>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marL="0" indent="0">
              <a:buNone/>
            </a:pPr>
            <a:r>
              <a:rPr lang="it-IT" sz="1600" b="1" dirty="0">
                <a:solidFill>
                  <a:schemeClr val="tx1"/>
                </a:solidFill>
              </a:rPr>
              <a:t>Prive di fondamento</a:t>
            </a:r>
            <a:endParaRPr lang="it-IT" sz="1600" dirty="0"/>
          </a:p>
        </p:txBody>
      </p:sp>
      <p:sp>
        <p:nvSpPr>
          <p:cNvPr id="18" name="Text 12"/>
          <p:cNvSpPr txBox="1"/>
          <p:nvPr/>
        </p:nvSpPr>
        <p:spPr>
          <a:xfrm>
            <a:off x="6254496" y="2231136"/>
            <a:ext cx="2249424" cy="1271016"/>
          </a:xfrm>
          <a:prstGeom prst="rect">
            <a:avLst/>
          </a:prstGeom>
          <a:noFill/>
          <a:ln/>
        </p:spPr>
        <p:txBody>
          <a:bodyPr wrap="square" lIns="0" tIns="0" rIns="0" bIns="0" rtlCol="0" anchor="t"/>
          <a:lstStyle/>
          <a:p>
            <a:pPr marL="0" indent="0">
              <a:spcAft>
                <a:spcPts val="800"/>
              </a:spcAft>
              <a:buNone/>
            </a:pPr>
            <a:r>
              <a:rPr lang="it-IT" sz="1300" b="1" dirty="0">
                <a:solidFill>
                  <a:schemeClr val="tx1"/>
                </a:solidFill>
              </a:rPr>
              <a:t>Affermazioni non supportate dalle fonti disponibili</a:t>
            </a:r>
            <a:endParaRPr lang="it-IT" sz="1300" dirty="0"/>
          </a:p>
          <a:p>
            <a:pPr marL="0" indent="0">
              <a:buNone/>
            </a:pPr>
            <a:r>
              <a:rPr lang="it-IT" sz="1300" dirty="0">
                <a:solidFill>
                  <a:schemeClr val="tx2"/>
                </a:solidFill>
              </a:rPr>
              <a:t>Esempio: Un riassunto che aggiunge ciò che il documento non dice</a:t>
            </a:r>
            <a:endParaRPr lang="it-IT" sz="1300" dirty="0"/>
          </a:p>
        </p:txBody>
      </p:sp>
      <p:sp>
        <p:nvSpPr>
          <p:cNvPr id="19" name="messaggio"/>
          <p:cNvSpPr/>
          <p:nvPr/>
        </p:nvSpPr>
        <p:spPr>
          <a:xfrm>
            <a:off x="457200" y="3794760"/>
            <a:ext cx="8229600" cy="731520"/>
          </a:xfrm>
          <a:prstGeom prst="roundRect">
            <a:avLst>
              <a:gd name="adj" fmla="val 10000"/>
            </a:avLst>
          </a:prstGeom>
          <a:solidFill>
            <a:schemeClr val="tx1"/>
          </a:solidFill>
          <a:ln/>
        </p:spPr>
        <p:txBody>
          <a:bodyPr/>
          <a:lstStyle/>
          <a:p>
            <a:endParaRPr lang="it-IT" dirty="0"/>
          </a:p>
        </p:txBody>
      </p:sp>
      <p:sp>
        <p:nvSpPr>
          <p:cNvPr id="20" name="Text 14"/>
          <p:cNvSpPr txBox="1"/>
          <p:nvPr/>
        </p:nvSpPr>
        <p:spPr>
          <a:xfrm>
            <a:off x="640080" y="3794760"/>
            <a:ext cx="7863840" cy="731520"/>
          </a:xfrm>
          <a:prstGeom prst="rect">
            <a:avLst/>
          </a:prstGeom>
          <a:noFill/>
          <a:ln/>
        </p:spPr>
        <p:txBody>
          <a:bodyPr wrap="square" lIns="0" tIns="0" rIns="0" bIns="0" rtlCol="0" anchor="ctr"/>
          <a:lstStyle/>
          <a:p>
            <a:pPr marL="0" indent="0">
              <a:buNone/>
            </a:pPr>
            <a:r>
              <a:rPr lang="it-IT" sz="1400" dirty="0">
                <a:solidFill>
                  <a:schemeClr val="bg1"/>
                </a:solidFill>
              </a:rPr>
              <a:t>Contenuti presentati come veri, nella stessa forma delle risposte corrette.</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68</a:t>
            </a:fld>
            <a:endParaRPr lang="it-IT"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Citazioni, riferimenti e fonti inesistenti</a:t>
            </a:r>
            <a:endParaRPr lang="it-IT" sz="2600" dirty="0"/>
          </a:p>
        </p:txBody>
      </p:sp>
      <p:sp>
        <p:nvSpPr>
          <p:cNvPr id="4" name="caso Avianca"/>
          <p:cNvSpPr/>
          <p:nvPr/>
        </p:nvSpPr>
        <p:spPr>
          <a:xfrm>
            <a:off x="457200" y="1097280"/>
            <a:ext cx="4206240" cy="3429000"/>
          </a:xfrm>
          <a:prstGeom prst="roundRect">
            <a:avLst>
              <a:gd name="adj" fmla="val 2133"/>
            </a:avLst>
          </a:prstGeom>
          <a:solidFill>
            <a:schemeClr val="tx1"/>
          </a:solidFill>
          <a:ln/>
        </p:spPr>
        <p:txBody>
          <a:bodyPr/>
          <a:lstStyle/>
          <a:p>
            <a:endParaRPr lang="it-IT" dirty="0"/>
          </a:p>
        </p:txBody>
      </p:sp>
      <p:sp>
        <p:nvSpPr>
          <p:cNvPr id="5" name="Text 2"/>
          <p:cNvSpPr txBox="1"/>
          <p:nvPr/>
        </p:nvSpPr>
        <p:spPr>
          <a:xfrm>
            <a:off x="685800" y="1261872"/>
            <a:ext cx="3749040" cy="274320"/>
          </a:xfrm>
          <a:prstGeom prst="rect">
            <a:avLst/>
          </a:prstGeom>
          <a:noFill/>
          <a:ln/>
        </p:spPr>
        <p:txBody>
          <a:bodyPr wrap="square" lIns="0" tIns="0" rIns="0" bIns="0" rtlCol="0" anchor="t"/>
          <a:lstStyle/>
          <a:p>
            <a:pPr marL="0" indent="0">
              <a:buNone/>
            </a:pPr>
            <a:r>
              <a:rPr lang="it-IT" sz="1100" b="1" kern="0" spc="200" dirty="0">
                <a:solidFill>
                  <a:schemeClr val="accent1"/>
                </a:solidFill>
              </a:rPr>
              <a:t>UN CASO REALE</a:t>
            </a:r>
            <a:endParaRPr lang="it-IT" sz="1100" dirty="0"/>
          </a:p>
        </p:txBody>
      </p:sp>
      <p:sp>
        <p:nvSpPr>
          <p:cNvPr id="6" name="Text 3"/>
          <p:cNvSpPr txBox="1"/>
          <p:nvPr/>
        </p:nvSpPr>
        <p:spPr>
          <a:xfrm>
            <a:off x="685800" y="1554480"/>
            <a:ext cx="3749040" cy="365760"/>
          </a:xfrm>
          <a:prstGeom prst="rect">
            <a:avLst/>
          </a:prstGeom>
          <a:noFill/>
          <a:ln/>
        </p:spPr>
        <p:txBody>
          <a:bodyPr wrap="square" lIns="0" tIns="0" rIns="0" bIns="0" rtlCol="0" anchor="t"/>
          <a:lstStyle/>
          <a:p>
            <a:pPr marL="0" indent="0">
              <a:buNone/>
            </a:pPr>
            <a:r>
              <a:rPr lang="it-IT" sz="1700" b="1" dirty="0">
                <a:solidFill>
                  <a:schemeClr val="bg1"/>
                </a:solidFill>
              </a:rPr>
              <a:t>Mata contro Avianca, New York, 2023</a:t>
            </a:r>
            <a:endParaRPr lang="it-IT" sz="1700" dirty="0"/>
          </a:p>
        </p:txBody>
      </p:sp>
      <p:sp>
        <p:nvSpPr>
          <p:cNvPr id="7" name="Text 4"/>
          <p:cNvSpPr txBox="1"/>
          <p:nvPr/>
        </p:nvSpPr>
        <p:spPr>
          <a:xfrm>
            <a:off x="685800" y="2011680"/>
            <a:ext cx="3749040" cy="2011680"/>
          </a:xfrm>
          <a:prstGeom prst="rect">
            <a:avLst/>
          </a:prstGeom>
          <a:noFill/>
          <a:ln/>
        </p:spPr>
        <p:txBody>
          <a:bodyPr wrap="square" lIns="0" tIns="0" rIns="0" bIns="0" rtlCol="0" anchor="t"/>
          <a:lstStyle/>
          <a:p>
            <a:pPr marL="177800" indent="-177800">
              <a:spcAft>
                <a:spcPts val="500"/>
              </a:spcAft>
              <a:buSzPct val="100000"/>
              <a:buChar char="•"/>
            </a:pPr>
            <a:r>
              <a:rPr lang="it-IT" sz="1300" dirty="0">
                <a:solidFill>
                  <a:schemeClr val="accent3"/>
                </a:solidFill>
              </a:rPr>
              <a:t>Una memoria legale cita precedenti generati da ChatGPT</a:t>
            </a:r>
            <a:endParaRPr lang="it-IT" sz="1300" dirty="0"/>
          </a:p>
          <a:p>
            <a:pPr marL="177800" indent="-177800">
              <a:spcAft>
                <a:spcPts val="500"/>
              </a:spcAft>
              <a:buSzPct val="100000"/>
              <a:buChar char="•"/>
            </a:pPr>
            <a:r>
              <a:rPr lang="it-IT" sz="1300" dirty="0">
                <a:solidFill>
                  <a:schemeClr val="accent3"/>
                </a:solidFill>
              </a:rPr>
              <a:t>Nomi, numeri e citazioni formalmente perfetti, ma inesistenti</a:t>
            </a:r>
            <a:endParaRPr lang="it-IT" sz="1300" dirty="0"/>
          </a:p>
          <a:p>
            <a:pPr marL="177800" indent="-177800">
              <a:spcAft>
                <a:spcPts val="500"/>
              </a:spcAft>
              <a:buSzPct val="100000"/>
              <a:buChar char="•"/>
            </a:pPr>
            <a:r>
              <a:rPr lang="it-IT" sz="1300" dirty="0">
                <a:solidFill>
                  <a:schemeClr val="accent3"/>
                </a:solidFill>
              </a:rPr>
              <a:t>Il sistema aveva "confermato" che i casi erano reali</a:t>
            </a:r>
            <a:endParaRPr lang="it-IT" sz="1300" dirty="0"/>
          </a:p>
          <a:p>
            <a:pPr marL="177800" indent="-177800">
              <a:spcAft>
                <a:spcPts val="500"/>
              </a:spcAft>
              <a:buSzPct val="100000"/>
              <a:buChar char="•"/>
            </a:pPr>
            <a:r>
              <a:rPr lang="it-IT" sz="1300" dirty="0">
                <a:solidFill>
                  <a:schemeClr val="accent3"/>
                </a:solidFill>
              </a:rPr>
              <a:t>Il giudice sanziona avvocati e studio</a:t>
            </a:r>
            <a:endParaRPr lang="it-IT" sz="1300" dirty="0"/>
          </a:p>
        </p:txBody>
      </p:sp>
      <p:sp>
        <p:nvSpPr>
          <p:cNvPr id="8" name="Text 5"/>
          <p:cNvSpPr txBox="1"/>
          <p:nvPr/>
        </p:nvSpPr>
        <p:spPr>
          <a:xfrm>
            <a:off x="685800" y="4160520"/>
            <a:ext cx="3840480" cy="274320"/>
          </a:xfrm>
          <a:prstGeom prst="rect">
            <a:avLst/>
          </a:prstGeom>
          <a:noFill/>
          <a:ln/>
        </p:spPr>
        <p:txBody>
          <a:bodyPr wrap="square" lIns="0" tIns="0" rIns="0" bIns="0" rtlCol="0" anchor="t"/>
          <a:lstStyle/>
          <a:p>
            <a:pPr marL="0" indent="0">
              <a:buNone/>
            </a:pPr>
            <a:r>
              <a:rPr lang="it-IT" sz="1000" dirty="0">
                <a:solidFill>
                  <a:schemeClr val="accent2"/>
                </a:solidFill>
              </a:rPr>
              <a:t>Fonte: Tribunale distrettuale degli Stati Uniti, S.D.N.Y., giugno 2023</a:t>
            </a:r>
            <a:endParaRPr lang="it-IT" sz="1000" dirty="0"/>
          </a:p>
        </p:txBody>
      </p:sp>
      <p:sp>
        <p:nvSpPr>
          <p:cNvPr id="9" name="Text 6"/>
          <p:cNvSpPr txBox="1"/>
          <p:nvPr/>
        </p:nvSpPr>
        <p:spPr>
          <a:xfrm>
            <a:off x="4937760" y="1097280"/>
            <a:ext cx="3749040" cy="320040"/>
          </a:xfrm>
          <a:prstGeom prst="rect">
            <a:avLst/>
          </a:prstGeom>
          <a:noFill/>
          <a:ln/>
        </p:spPr>
        <p:txBody>
          <a:bodyPr wrap="square" lIns="0" tIns="0" rIns="0" bIns="0" rtlCol="0" anchor="t"/>
          <a:lstStyle/>
          <a:p>
            <a:pPr marL="0" indent="0">
              <a:buNone/>
            </a:pPr>
            <a:r>
              <a:rPr lang="it-IT" sz="1500" b="1" dirty="0">
                <a:solidFill>
                  <a:schemeClr val="tx1"/>
                </a:solidFill>
              </a:rPr>
              <a:t>Forme frequenti</a:t>
            </a:r>
            <a:endParaRPr lang="it-IT" sz="1500" dirty="0"/>
          </a:p>
        </p:txBody>
      </p:sp>
      <p:sp>
        <p:nvSpPr>
          <p:cNvPr id="10" name="cerchio FiBook"/>
          <p:cNvSpPr/>
          <p:nvPr/>
        </p:nvSpPr>
        <p:spPr>
          <a:xfrm>
            <a:off x="4937760" y="1554480"/>
            <a:ext cx="438912" cy="438912"/>
          </a:xfrm>
          <a:prstGeom prst="ellipse">
            <a:avLst/>
          </a:prstGeom>
          <a:solidFill>
            <a:schemeClr val="accent1"/>
          </a:solidFill>
          <a:ln/>
        </p:spPr>
        <p:txBody>
          <a:bodyPr/>
          <a:lstStyle/>
          <a:p>
            <a:endParaRPr lang="it-IT" dirty="0"/>
          </a:p>
        </p:txBody>
      </p:sp>
      <p:pic>
        <p:nvPicPr>
          <p:cNvPr id="11" name="Image 0" descr="FiBook"/>
          <p:cNvPicPr>
            <a:picLocks noChangeAspect="1"/>
          </p:cNvPicPr>
          <p:nvPr/>
        </p:nvPicPr>
        <p:blipFill>
          <a:blip r:embed="rId3"/>
          <a:stretch>
            <a:fillRect/>
          </a:stretch>
        </p:blipFill>
        <p:spPr>
          <a:xfrm>
            <a:off x="5047488" y="1664208"/>
            <a:ext cx="219456" cy="219456"/>
          </a:xfrm>
          <a:prstGeom prst="rect">
            <a:avLst/>
          </a:prstGeom>
        </p:spPr>
      </p:pic>
      <p:sp>
        <p:nvSpPr>
          <p:cNvPr id="12" name="Text 8"/>
          <p:cNvSpPr txBox="1"/>
          <p:nvPr/>
        </p:nvSpPr>
        <p:spPr>
          <a:xfrm>
            <a:off x="5532120" y="1554480"/>
            <a:ext cx="3154680" cy="438912"/>
          </a:xfrm>
          <a:prstGeom prst="rect">
            <a:avLst/>
          </a:prstGeom>
          <a:noFill/>
          <a:ln/>
        </p:spPr>
        <p:txBody>
          <a:bodyPr wrap="square" lIns="0" tIns="0" rIns="0" bIns="0" rtlCol="0" anchor="ctr"/>
          <a:lstStyle/>
          <a:p>
            <a:pPr marL="0" indent="0">
              <a:buNone/>
            </a:pPr>
            <a:r>
              <a:rPr lang="it-IT" sz="1300" dirty="0">
                <a:solidFill>
                  <a:schemeClr val="tx1"/>
                </a:solidFill>
              </a:rPr>
              <a:t>Riferimenti bibliografici verosimili ma inesistenti</a:t>
            </a:r>
            <a:endParaRPr lang="it-IT" sz="1300" dirty="0"/>
          </a:p>
        </p:txBody>
      </p:sp>
      <p:sp>
        <p:nvSpPr>
          <p:cNvPr id="13" name="cerchio FiLink"/>
          <p:cNvSpPr/>
          <p:nvPr/>
        </p:nvSpPr>
        <p:spPr>
          <a:xfrm>
            <a:off x="4937760" y="2176272"/>
            <a:ext cx="438912" cy="438912"/>
          </a:xfrm>
          <a:prstGeom prst="ellipse">
            <a:avLst/>
          </a:prstGeom>
          <a:solidFill>
            <a:schemeClr val="accent1"/>
          </a:solidFill>
          <a:ln/>
        </p:spPr>
        <p:txBody>
          <a:bodyPr/>
          <a:lstStyle/>
          <a:p>
            <a:endParaRPr lang="it-IT" dirty="0"/>
          </a:p>
        </p:txBody>
      </p:sp>
      <p:pic>
        <p:nvPicPr>
          <p:cNvPr id="14" name="Image 1" descr="FiLink"/>
          <p:cNvPicPr>
            <a:picLocks noChangeAspect="1"/>
          </p:cNvPicPr>
          <p:nvPr/>
        </p:nvPicPr>
        <p:blipFill>
          <a:blip r:embed="rId4"/>
          <a:stretch>
            <a:fillRect/>
          </a:stretch>
        </p:blipFill>
        <p:spPr>
          <a:xfrm>
            <a:off x="5047488" y="2286000"/>
            <a:ext cx="219456" cy="219456"/>
          </a:xfrm>
          <a:prstGeom prst="rect">
            <a:avLst/>
          </a:prstGeom>
        </p:spPr>
      </p:pic>
      <p:sp>
        <p:nvSpPr>
          <p:cNvPr id="15" name="Text 10"/>
          <p:cNvSpPr txBox="1"/>
          <p:nvPr/>
        </p:nvSpPr>
        <p:spPr>
          <a:xfrm>
            <a:off x="5532120" y="2176272"/>
            <a:ext cx="3154680" cy="438912"/>
          </a:xfrm>
          <a:prstGeom prst="rect">
            <a:avLst/>
          </a:prstGeom>
          <a:noFill/>
          <a:ln/>
        </p:spPr>
        <p:txBody>
          <a:bodyPr wrap="square" lIns="0" tIns="0" rIns="0" bIns="0" rtlCol="0" anchor="ctr"/>
          <a:lstStyle/>
          <a:p>
            <a:pPr marL="0" indent="0">
              <a:buNone/>
            </a:pPr>
            <a:r>
              <a:rPr lang="it-IT" sz="1300" dirty="0">
                <a:solidFill>
                  <a:schemeClr val="tx1"/>
                </a:solidFill>
              </a:rPr>
              <a:t>Link a pagine che non esistono</a:t>
            </a:r>
            <a:endParaRPr lang="it-IT" sz="1300" dirty="0"/>
          </a:p>
        </p:txBody>
      </p:sp>
      <p:sp>
        <p:nvSpPr>
          <p:cNvPr id="16" name="cerchio FiMessageCircle"/>
          <p:cNvSpPr/>
          <p:nvPr/>
        </p:nvSpPr>
        <p:spPr>
          <a:xfrm>
            <a:off x="4937760" y="2798064"/>
            <a:ext cx="438912" cy="438912"/>
          </a:xfrm>
          <a:prstGeom prst="ellipse">
            <a:avLst/>
          </a:prstGeom>
          <a:solidFill>
            <a:schemeClr val="accent1"/>
          </a:solidFill>
          <a:ln/>
        </p:spPr>
        <p:txBody>
          <a:bodyPr/>
          <a:lstStyle/>
          <a:p>
            <a:endParaRPr lang="it-IT" dirty="0"/>
          </a:p>
        </p:txBody>
      </p:sp>
      <p:pic>
        <p:nvPicPr>
          <p:cNvPr id="17" name="Image 2" descr="FiMessageCircle"/>
          <p:cNvPicPr>
            <a:picLocks noChangeAspect="1"/>
          </p:cNvPicPr>
          <p:nvPr/>
        </p:nvPicPr>
        <p:blipFill>
          <a:blip r:embed="rId5"/>
          <a:stretch>
            <a:fillRect/>
          </a:stretch>
        </p:blipFill>
        <p:spPr>
          <a:xfrm>
            <a:off x="5047488" y="2907792"/>
            <a:ext cx="219456" cy="219456"/>
          </a:xfrm>
          <a:prstGeom prst="rect">
            <a:avLst/>
          </a:prstGeom>
        </p:spPr>
      </p:pic>
      <p:sp>
        <p:nvSpPr>
          <p:cNvPr id="18" name="Text 12"/>
          <p:cNvSpPr txBox="1"/>
          <p:nvPr/>
        </p:nvSpPr>
        <p:spPr>
          <a:xfrm>
            <a:off x="5532120" y="2798064"/>
            <a:ext cx="3154680" cy="438912"/>
          </a:xfrm>
          <a:prstGeom prst="rect">
            <a:avLst/>
          </a:prstGeom>
          <a:noFill/>
          <a:ln/>
        </p:spPr>
        <p:txBody>
          <a:bodyPr wrap="square" lIns="0" tIns="0" rIns="0" bIns="0" rtlCol="0" anchor="ctr"/>
          <a:lstStyle/>
          <a:p>
            <a:pPr marL="0" indent="0">
              <a:buNone/>
            </a:pPr>
            <a:r>
              <a:rPr lang="it-IT" sz="1300" dirty="0">
                <a:solidFill>
                  <a:schemeClr val="tx1"/>
                </a:solidFill>
              </a:rPr>
              <a:t>Citazioni attribuite a persone reali</a:t>
            </a:r>
            <a:endParaRPr lang="it-IT" sz="1300" dirty="0"/>
          </a:p>
        </p:txBody>
      </p:sp>
      <p:sp>
        <p:nvSpPr>
          <p:cNvPr id="19" name="cerchio FiFileText"/>
          <p:cNvSpPr/>
          <p:nvPr/>
        </p:nvSpPr>
        <p:spPr>
          <a:xfrm>
            <a:off x="4937760" y="3419856"/>
            <a:ext cx="438912" cy="438912"/>
          </a:xfrm>
          <a:prstGeom prst="ellipse">
            <a:avLst/>
          </a:prstGeom>
          <a:solidFill>
            <a:schemeClr val="accent1"/>
          </a:solidFill>
          <a:ln/>
        </p:spPr>
        <p:txBody>
          <a:bodyPr/>
          <a:lstStyle/>
          <a:p>
            <a:endParaRPr lang="it-IT" dirty="0"/>
          </a:p>
        </p:txBody>
      </p:sp>
      <p:pic>
        <p:nvPicPr>
          <p:cNvPr id="20" name="Image 3" descr="FiFileText"/>
          <p:cNvPicPr>
            <a:picLocks noChangeAspect="1"/>
          </p:cNvPicPr>
          <p:nvPr/>
        </p:nvPicPr>
        <p:blipFill>
          <a:blip r:embed="rId6"/>
          <a:stretch>
            <a:fillRect/>
          </a:stretch>
        </p:blipFill>
        <p:spPr>
          <a:xfrm>
            <a:off x="5047488" y="3529584"/>
            <a:ext cx="219456" cy="219456"/>
          </a:xfrm>
          <a:prstGeom prst="rect">
            <a:avLst/>
          </a:prstGeom>
        </p:spPr>
      </p:pic>
      <p:sp>
        <p:nvSpPr>
          <p:cNvPr id="21" name="Text 14"/>
          <p:cNvSpPr txBox="1"/>
          <p:nvPr/>
        </p:nvSpPr>
        <p:spPr>
          <a:xfrm>
            <a:off x="5532120" y="3419856"/>
            <a:ext cx="3154680" cy="438912"/>
          </a:xfrm>
          <a:prstGeom prst="rect">
            <a:avLst/>
          </a:prstGeom>
          <a:noFill/>
          <a:ln/>
        </p:spPr>
        <p:txBody>
          <a:bodyPr wrap="square" lIns="0" tIns="0" rIns="0" bIns="0" rtlCol="0" anchor="ctr"/>
          <a:lstStyle/>
          <a:p>
            <a:pPr marL="0" indent="0">
              <a:buNone/>
            </a:pPr>
            <a:r>
              <a:rPr lang="it-IT" sz="1300" dirty="0">
                <a:solidFill>
                  <a:schemeClr val="tx1"/>
                </a:solidFill>
              </a:rPr>
              <a:t>Norme o sentenze inventate</a:t>
            </a:r>
            <a:endParaRPr lang="it-IT" sz="1300" dirty="0"/>
          </a:p>
        </p:txBody>
      </p:sp>
      <p:sp>
        <p:nvSpPr>
          <p:cNvPr id="22" name="regola fonti"/>
          <p:cNvSpPr/>
          <p:nvPr/>
        </p:nvSpPr>
        <p:spPr>
          <a:xfrm>
            <a:off x="4937760" y="4069080"/>
            <a:ext cx="3749040" cy="457200"/>
          </a:xfrm>
          <a:prstGeom prst="roundRect">
            <a:avLst>
              <a:gd name="adj" fmla="val 16000"/>
            </a:avLst>
          </a:prstGeom>
          <a:solidFill>
            <a:schemeClr val="accent6"/>
          </a:solidFill>
          <a:ln/>
        </p:spPr>
        <p:txBody>
          <a:bodyPr/>
          <a:lstStyle/>
          <a:p>
            <a:endParaRPr lang="it-IT" dirty="0"/>
          </a:p>
        </p:txBody>
      </p:sp>
      <p:sp>
        <p:nvSpPr>
          <p:cNvPr id="23" name="Text 16"/>
          <p:cNvSpPr txBox="1"/>
          <p:nvPr/>
        </p:nvSpPr>
        <p:spPr>
          <a:xfrm>
            <a:off x="5029200" y="4069080"/>
            <a:ext cx="3566160" cy="457200"/>
          </a:xfrm>
          <a:prstGeom prst="rect">
            <a:avLst/>
          </a:prstGeom>
          <a:noFill/>
          <a:ln/>
        </p:spPr>
        <p:txBody>
          <a:bodyPr wrap="square" lIns="0" tIns="0" rIns="0" bIns="0" rtlCol="0" anchor="ctr"/>
          <a:lstStyle/>
          <a:p>
            <a:pPr marL="0" indent="0">
              <a:buNone/>
            </a:pPr>
            <a:r>
              <a:rPr lang="it-IT" sz="1300" b="1" dirty="0">
                <a:solidFill>
                  <a:schemeClr val="tx1"/>
                </a:solidFill>
              </a:rPr>
              <a:t>Una fonte citata è un'indicazione da verificare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69</a:t>
            </a:fld>
            <a:endParaRPr lang="it-IT"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Perché si verificano le allucinazioni</a:t>
            </a:r>
            <a:endParaRPr lang="it-IT" sz="2600" dirty="0"/>
          </a:p>
        </p:txBody>
      </p:sp>
      <p:sp>
        <p:nvSpPr>
          <p:cNvPr id="4" name="Generazione plausibile"/>
          <p:cNvSpPr/>
          <p:nvPr/>
        </p:nvSpPr>
        <p:spPr>
          <a:xfrm>
            <a:off x="457200" y="1097280"/>
            <a:ext cx="2621280" cy="1417320"/>
          </a:xfrm>
          <a:prstGeom prst="roundRect">
            <a:avLst>
              <a:gd name="adj" fmla="val 5161"/>
            </a:avLst>
          </a:prstGeom>
          <a:solidFill>
            <a:schemeClr val="bg2"/>
          </a:solidFill>
          <a:ln/>
        </p:spPr>
        <p:txBody>
          <a:bodyPr/>
          <a:lstStyle/>
          <a:p>
            <a:endParaRPr lang="it-IT" dirty="0"/>
          </a:p>
        </p:txBody>
      </p:sp>
      <p:sp>
        <p:nvSpPr>
          <p:cNvPr id="5" name="cerchio FiShuffle"/>
          <p:cNvSpPr/>
          <p:nvPr/>
        </p:nvSpPr>
        <p:spPr>
          <a:xfrm>
            <a:off x="621792" y="1261872"/>
            <a:ext cx="438912" cy="438912"/>
          </a:xfrm>
          <a:prstGeom prst="ellipse">
            <a:avLst/>
          </a:prstGeom>
          <a:solidFill>
            <a:schemeClr val="accent1"/>
          </a:solidFill>
          <a:ln/>
        </p:spPr>
        <p:txBody>
          <a:bodyPr/>
          <a:lstStyle/>
          <a:p>
            <a:endParaRPr lang="it-IT" dirty="0"/>
          </a:p>
        </p:txBody>
      </p:sp>
      <p:pic>
        <p:nvPicPr>
          <p:cNvPr id="6" name="Image 0" descr="FiShuffle"/>
          <p:cNvPicPr>
            <a:picLocks noChangeAspect="1"/>
          </p:cNvPicPr>
          <p:nvPr/>
        </p:nvPicPr>
        <p:blipFill>
          <a:blip r:embed="rId3"/>
          <a:stretch>
            <a:fillRect/>
          </a:stretch>
        </p:blipFill>
        <p:spPr>
          <a:xfrm>
            <a:off x="731520" y="1371600"/>
            <a:ext cx="219456" cy="219456"/>
          </a:xfrm>
          <a:prstGeom prst="rect">
            <a:avLst/>
          </a:prstGeom>
        </p:spPr>
      </p:pic>
      <p:sp>
        <p:nvSpPr>
          <p:cNvPr id="7" name="Text 3"/>
          <p:cNvSpPr txBox="1"/>
          <p:nvPr/>
        </p:nvSpPr>
        <p:spPr>
          <a:xfrm>
            <a:off x="1170432" y="1225296"/>
            <a:ext cx="1798320" cy="512064"/>
          </a:xfrm>
          <a:prstGeom prst="rect">
            <a:avLst/>
          </a:prstGeom>
          <a:noFill/>
          <a:ln/>
        </p:spPr>
        <p:txBody>
          <a:bodyPr wrap="square" lIns="0" tIns="0" rIns="0" bIns="0" rtlCol="0" anchor="ctr"/>
          <a:lstStyle/>
          <a:p>
            <a:pPr marL="0" indent="0">
              <a:buNone/>
            </a:pPr>
            <a:r>
              <a:rPr lang="it-IT" sz="1300" b="1" dirty="0">
                <a:solidFill>
                  <a:schemeClr val="tx1"/>
                </a:solidFill>
              </a:rPr>
              <a:t>Generazione plausibile</a:t>
            </a:r>
            <a:endParaRPr lang="it-IT" sz="1300" dirty="0"/>
          </a:p>
        </p:txBody>
      </p:sp>
      <p:sp>
        <p:nvSpPr>
          <p:cNvPr id="8" name="Text 4"/>
          <p:cNvSpPr txBox="1"/>
          <p:nvPr/>
        </p:nvSpPr>
        <p:spPr>
          <a:xfrm>
            <a:off x="621792" y="1728216"/>
            <a:ext cx="2292096" cy="612648"/>
          </a:xfrm>
          <a:prstGeom prst="rect">
            <a:avLst/>
          </a:prstGeom>
          <a:noFill/>
          <a:ln/>
        </p:spPr>
        <p:txBody>
          <a:bodyPr wrap="square" lIns="0" tIns="0" rIns="0" bIns="0" rtlCol="0" anchor="t"/>
          <a:lstStyle/>
          <a:p>
            <a:pPr marL="0" indent="0" algn="just">
              <a:buNone/>
            </a:pPr>
            <a:r>
              <a:rPr lang="it-IT" sz="1200" dirty="0">
                <a:solidFill>
                  <a:schemeClr val="tx2"/>
                </a:solidFill>
              </a:rPr>
              <a:t>La generazione di una risposta non garantisce che ogni affermazione venga verificata rispetto a fonti affidabili.</a:t>
            </a:r>
            <a:endParaRPr lang="it-IT" sz="1200" dirty="0"/>
          </a:p>
        </p:txBody>
      </p:sp>
      <p:sp>
        <p:nvSpPr>
          <p:cNvPr id="9" name="Conoscenza incompleta"/>
          <p:cNvSpPr/>
          <p:nvPr/>
        </p:nvSpPr>
        <p:spPr>
          <a:xfrm>
            <a:off x="3261360" y="1097280"/>
            <a:ext cx="2621280" cy="1417320"/>
          </a:xfrm>
          <a:prstGeom prst="roundRect">
            <a:avLst>
              <a:gd name="adj" fmla="val 5161"/>
            </a:avLst>
          </a:prstGeom>
          <a:solidFill>
            <a:schemeClr val="bg2"/>
          </a:solidFill>
          <a:ln/>
        </p:spPr>
        <p:txBody>
          <a:bodyPr/>
          <a:lstStyle/>
          <a:p>
            <a:endParaRPr lang="it-IT" dirty="0"/>
          </a:p>
        </p:txBody>
      </p:sp>
      <p:sp>
        <p:nvSpPr>
          <p:cNvPr id="10" name="cerchio FiDatabase"/>
          <p:cNvSpPr/>
          <p:nvPr/>
        </p:nvSpPr>
        <p:spPr>
          <a:xfrm>
            <a:off x="3425952" y="1261872"/>
            <a:ext cx="438912" cy="438912"/>
          </a:xfrm>
          <a:prstGeom prst="ellipse">
            <a:avLst/>
          </a:prstGeom>
          <a:solidFill>
            <a:schemeClr val="accent1"/>
          </a:solidFill>
          <a:ln/>
        </p:spPr>
        <p:txBody>
          <a:bodyPr/>
          <a:lstStyle/>
          <a:p>
            <a:endParaRPr lang="it-IT" dirty="0"/>
          </a:p>
        </p:txBody>
      </p:sp>
      <p:pic>
        <p:nvPicPr>
          <p:cNvPr id="11" name="Image 1" descr="FiDatabase"/>
          <p:cNvPicPr>
            <a:picLocks noChangeAspect="1"/>
          </p:cNvPicPr>
          <p:nvPr/>
        </p:nvPicPr>
        <p:blipFill>
          <a:blip r:embed="rId4"/>
          <a:stretch>
            <a:fillRect/>
          </a:stretch>
        </p:blipFill>
        <p:spPr>
          <a:xfrm>
            <a:off x="3535680" y="1371600"/>
            <a:ext cx="219456" cy="219456"/>
          </a:xfrm>
          <a:prstGeom prst="rect">
            <a:avLst/>
          </a:prstGeom>
        </p:spPr>
      </p:pic>
      <p:sp>
        <p:nvSpPr>
          <p:cNvPr id="12" name="Text 7"/>
          <p:cNvSpPr txBox="1"/>
          <p:nvPr/>
        </p:nvSpPr>
        <p:spPr>
          <a:xfrm>
            <a:off x="3974592" y="1225296"/>
            <a:ext cx="1798320" cy="512064"/>
          </a:xfrm>
          <a:prstGeom prst="rect">
            <a:avLst/>
          </a:prstGeom>
          <a:noFill/>
          <a:ln/>
        </p:spPr>
        <p:txBody>
          <a:bodyPr wrap="square" lIns="0" tIns="0" rIns="0" bIns="0" rtlCol="0" anchor="ctr"/>
          <a:lstStyle/>
          <a:p>
            <a:pPr marL="0" indent="0">
              <a:buNone/>
            </a:pPr>
            <a:r>
              <a:rPr lang="it-IT" sz="1300" b="1" dirty="0">
                <a:solidFill>
                  <a:schemeClr val="tx1"/>
                </a:solidFill>
              </a:rPr>
              <a:t>Conoscenza incompleta</a:t>
            </a:r>
            <a:endParaRPr lang="it-IT" sz="1300" dirty="0"/>
          </a:p>
        </p:txBody>
      </p:sp>
      <p:sp>
        <p:nvSpPr>
          <p:cNvPr id="13" name="Text 8"/>
          <p:cNvSpPr txBox="1"/>
          <p:nvPr/>
        </p:nvSpPr>
        <p:spPr>
          <a:xfrm>
            <a:off x="3425952" y="1810512"/>
            <a:ext cx="2292096" cy="612648"/>
          </a:xfrm>
          <a:prstGeom prst="rect">
            <a:avLst/>
          </a:prstGeom>
          <a:noFill/>
          <a:ln/>
        </p:spPr>
        <p:txBody>
          <a:bodyPr wrap="square" lIns="0" tIns="0" rIns="0" bIns="0" rtlCol="0" anchor="t"/>
          <a:lstStyle/>
          <a:p>
            <a:pPr marL="0" indent="0">
              <a:buNone/>
            </a:pPr>
            <a:r>
              <a:rPr lang="it-IT" sz="1200" dirty="0">
                <a:solidFill>
                  <a:schemeClr val="tx2"/>
                </a:solidFill>
              </a:rPr>
              <a:t>Su dettagli e argomenti di nicchia il modello ricostruisce</a:t>
            </a:r>
            <a:endParaRPr lang="it-IT" sz="1200" dirty="0"/>
          </a:p>
        </p:txBody>
      </p:sp>
      <p:sp>
        <p:nvSpPr>
          <p:cNvPr id="14" name="Data limite"/>
          <p:cNvSpPr/>
          <p:nvPr/>
        </p:nvSpPr>
        <p:spPr>
          <a:xfrm>
            <a:off x="6065520" y="1097280"/>
            <a:ext cx="2621280" cy="1417320"/>
          </a:xfrm>
          <a:prstGeom prst="roundRect">
            <a:avLst>
              <a:gd name="adj" fmla="val 5161"/>
            </a:avLst>
          </a:prstGeom>
          <a:solidFill>
            <a:schemeClr val="bg2"/>
          </a:solidFill>
          <a:ln/>
        </p:spPr>
        <p:txBody>
          <a:bodyPr/>
          <a:lstStyle/>
          <a:p>
            <a:endParaRPr lang="it-IT" dirty="0"/>
          </a:p>
        </p:txBody>
      </p:sp>
      <p:sp>
        <p:nvSpPr>
          <p:cNvPr id="15" name="cerchio FiCalendar"/>
          <p:cNvSpPr/>
          <p:nvPr/>
        </p:nvSpPr>
        <p:spPr>
          <a:xfrm>
            <a:off x="6230112" y="1261872"/>
            <a:ext cx="438912" cy="438912"/>
          </a:xfrm>
          <a:prstGeom prst="ellipse">
            <a:avLst/>
          </a:prstGeom>
          <a:solidFill>
            <a:schemeClr val="accent1"/>
          </a:solidFill>
          <a:ln/>
        </p:spPr>
        <p:txBody>
          <a:bodyPr/>
          <a:lstStyle/>
          <a:p>
            <a:endParaRPr lang="it-IT" dirty="0"/>
          </a:p>
        </p:txBody>
      </p:sp>
      <p:pic>
        <p:nvPicPr>
          <p:cNvPr id="16" name="Image 2" descr="FiCalendar"/>
          <p:cNvPicPr>
            <a:picLocks noChangeAspect="1"/>
          </p:cNvPicPr>
          <p:nvPr/>
        </p:nvPicPr>
        <p:blipFill>
          <a:blip r:embed="rId5"/>
          <a:stretch>
            <a:fillRect/>
          </a:stretch>
        </p:blipFill>
        <p:spPr>
          <a:xfrm>
            <a:off x="6339840" y="1371600"/>
            <a:ext cx="219456" cy="219456"/>
          </a:xfrm>
          <a:prstGeom prst="rect">
            <a:avLst/>
          </a:prstGeom>
        </p:spPr>
      </p:pic>
      <p:sp>
        <p:nvSpPr>
          <p:cNvPr id="17" name="Text 11"/>
          <p:cNvSpPr txBox="1"/>
          <p:nvPr/>
        </p:nvSpPr>
        <p:spPr>
          <a:xfrm>
            <a:off x="6778752" y="1225296"/>
            <a:ext cx="1798320" cy="512064"/>
          </a:xfrm>
          <a:prstGeom prst="rect">
            <a:avLst/>
          </a:prstGeom>
          <a:noFill/>
          <a:ln/>
        </p:spPr>
        <p:txBody>
          <a:bodyPr wrap="square" lIns="0" tIns="0" rIns="0" bIns="0" rtlCol="0" anchor="ctr"/>
          <a:lstStyle/>
          <a:p>
            <a:pPr marL="0" indent="0">
              <a:buNone/>
            </a:pPr>
            <a:r>
              <a:rPr lang="it-IT" sz="1300" b="1" dirty="0">
                <a:solidFill>
                  <a:schemeClr val="tx1"/>
                </a:solidFill>
              </a:rPr>
              <a:t>Data limite</a:t>
            </a:r>
            <a:endParaRPr lang="it-IT" sz="1300" dirty="0"/>
          </a:p>
        </p:txBody>
      </p:sp>
      <p:sp>
        <p:nvSpPr>
          <p:cNvPr id="18" name="Text 12"/>
          <p:cNvSpPr txBox="1"/>
          <p:nvPr/>
        </p:nvSpPr>
        <p:spPr>
          <a:xfrm>
            <a:off x="6230112" y="1810512"/>
            <a:ext cx="2292096" cy="612648"/>
          </a:xfrm>
          <a:prstGeom prst="rect">
            <a:avLst/>
          </a:prstGeom>
          <a:noFill/>
          <a:ln/>
        </p:spPr>
        <p:txBody>
          <a:bodyPr wrap="square" lIns="0" tIns="0" rIns="0" bIns="0" rtlCol="0" anchor="t"/>
          <a:lstStyle/>
          <a:p>
            <a:pPr marL="0" indent="0">
              <a:buNone/>
            </a:pPr>
            <a:r>
              <a:rPr lang="it-IT" sz="1200" dirty="0">
                <a:solidFill>
                  <a:schemeClr val="tx2"/>
                </a:solidFill>
              </a:rPr>
              <a:t>Le informazioni successive non sono note</a:t>
            </a:r>
            <a:endParaRPr lang="it-IT" sz="1200" dirty="0"/>
          </a:p>
        </p:txBody>
      </p:sp>
      <p:sp>
        <p:nvSpPr>
          <p:cNvPr id="19" name="Tendenza a rispondere comunque"/>
          <p:cNvSpPr/>
          <p:nvPr/>
        </p:nvSpPr>
        <p:spPr>
          <a:xfrm>
            <a:off x="457200" y="2697480"/>
            <a:ext cx="4023360" cy="1188720"/>
          </a:xfrm>
          <a:prstGeom prst="roundRect">
            <a:avLst>
              <a:gd name="adj" fmla="val 6154"/>
            </a:avLst>
          </a:prstGeom>
          <a:solidFill>
            <a:schemeClr val="bg2"/>
          </a:solidFill>
          <a:ln/>
        </p:spPr>
        <p:txBody>
          <a:bodyPr/>
          <a:lstStyle/>
          <a:p>
            <a:endParaRPr lang="it-IT" dirty="0"/>
          </a:p>
        </p:txBody>
      </p:sp>
      <p:sp>
        <p:nvSpPr>
          <p:cNvPr id="20" name="cerchio FiMessageSquare"/>
          <p:cNvSpPr/>
          <p:nvPr/>
        </p:nvSpPr>
        <p:spPr>
          <a:xfrm>
            <a:off x="621792" y="2862072"/>
            <a:ext cx="438912" cy="438912"/>
          </a:xfrm>
          <a:prstGeom prst="ellipse">
            <a:avLst/>
          </a:prstGeom>
          <a:solidFill>
            <a:schemeClr val="accent1"/>
          </a:solidFill>
          <a:ln/>
        </p:spPr>
        <p:txBody>
          <a:bodyPr/>
          <a:lstStyle/>
          <a:p>
            <a:endParaRPr lang="it-IT" dirty="0"/>
          </a:p>
        </p:txBody>
      </p:sp>
      <p:pic>
        <p:nvPicPr>
          <p:cNvPr id="21" name="Image 3" descr="FiMessageSquare"/>
          <p:cNvPicPr>
            <a:picLocks noChangeAspect="1"/>
          </p:cNvPicPr>
          <p:nvPr/>
        </p:nvPicPr>
        <p:blipFill>
          <a:blip r:embed="rId6"/>
          <a:stretch>
            <a:fillRect/>
          </a:stretch>
        </p:blipFill>
        <p:spPr>
          <a:xfrm>
            <a:off x="731520" y="2971800"/>
            <a:ext cx="219456" cy="219456"/>
          </a:xfrm>
          <a:prstGeom prst="rect">
            <a:avLst/>
          </a:prstGeom>
        </p:spPr>
      </p:pic>
      <p:sp>
        <p:nvSpPr>
          <p:cNvPr id="22" name="Text 15"/>
          <p:cNvSpPr txBox="1"/>
          <p:nvPr/>
        </p:nvSpPr>
        <p:spPr>
          <a:xfrm>
            <a:off x="1170432" y="2825496"/>
            <a:ext cx="3200400" cy="512064"/>
          </a:xfrm>
          <a:prstGeom prst="rect">
            <a:avLst/>
          </a:prstGeom>
          <a:noFill/>
          <a:ln/>
        </p:spPr>
        <p:txBody>
          <a:bodyPr wrap="square" lIns="0" tIns="0" rIns="0" bIns="0" rtlCol="0" anchor="ctr"/>
          <a:lstStyle/>
          <a:p>
            <a:pPr marL="0" indent="0">
              <a:buNone/>
            </a:pPr>
            <a:r>
              <a:rPr lang="it-IT" sz="1300" b="1" dirty="0">
                <a:solidFill>
                  <a:schemeClr val="tx1"/>
                </a:solidFill>
              </a:rPr>
              <a:t>Tendenza a rispondere comunque</a:t>
            </a:r>
            <a:endParaRPr lang="it-IT" sz="1300" dirty="0"/>
          </a:p>
        </p:txBody>
      </p:sp>
      <p:sp>
        <p:nvSpPr>
          <p:cNvPr id="23" name="Text 16"/>
          <p:cNvSpPr txBox="1"/>
          <p:nvPr/>
        </p:nvSpPr>
        <p:spPr>
          <a:xfrm>
            <a:off x="621792" y="3410712"/>
            <a:ext cx="3694176" cy="384048"/>
          </a:xfrm>
          <a:prstGeom prst="rect">
            <a:avLst/>
          </a:prstGeom>
          <a:noFill/>
          <a:ln/>
        </p:spPr>
        <p:txBody>
          <a:bodyPr wrap="square" lIns="0" tIns="0" rIns="0" bIns="0" rtlCol="0" anchor="t"/>
          <a:lstStyle/>
          <a:p>
            <a:pPr marL="0" indent="0">
              <a:buNone/>
            </a:pPr>
            <a:r>
              <a:rPr lang="it-IT" sz="1200" dirty="0">
                <a:solidFill>
                  <a:schemeClr val="tx2"/>
                </a:solidFill>
              </a:rPr>
              <a:t>L'addestramento può premiare il tirare a indovinare</a:t>
            </a:r>
            <a:endParaRPr lang="it-IT" sz="1200" dirty="0"/>
          </a:p>
        </p:txBody>
      </p:sp>
      <p:sp>
        <p:nvSpPr>
          <p:cNvPr id="24" name="Premesse false"/>
          <p:cNvSpPr/>
          <p:nvPr/>
        </p:nvSpPr>
        <p:spPr>
          <a:xfrm>
            <a:off x="4663440" y="2697480"/>
            <a:ext cx="4023360" cy="1188720"/>
          </a:xfrm>
          <a:prstGeom prst="roundRect">
            <a:avLst>
              <a:gd name="adj" fmla="val 6154"/>
            </a:avLst>
          </a:prstGeom>
          <a:solidFill>
            <a:schemeClr val="bg2"/>
          </a:solidFill>
          <a:ln/>
        </p:spPr>
        <p:txBody>
          <a:bodyPr/>
          <a:lstStyle/>
          <a:p>
            <a:endParaRPr lang="it-IT" dirty="0"/>
          </a:p>
        </p:txBody>
      </p:sp>
      <p:sp>
        <p:nvSpPr>
          <p:cNvPr id="25" name="cerchio FiHelpCircle"/>
          <p:cNvSpPr/>
          <p:nvPr/>
        </p:nvSpPr>
        <p:spPr>
          <a:xfrm>
            <a:off x="4828032" y="2862072"/>
            <a:ext cx="438912" cy="438912"/>
          </a:xfrm>
          <a:prstGeom prst="ellipse">
            <a:avLst/>
          </a:prstGeom>
          <a:solidFill>
            <a:schemeClr val="accent1"/>
          </a:solidFill>
          <a:ln/>
        </p:spPr>
        <p:txBody>
          <a:bodyPr/>
          <a:lstStyle/>
          <a:p>
            <a:endParaRPr lang="it-IT" dirty="0"/>
          </a:p>
        </p:txBody>
      </p:sp>
      <p:pic>
        <p:nvPicPr>
          <p:cNvPr id="26" name="Image 4" descr="FiHelpCircle"/>
          <p:cNvPicPr>
            <a:picLocks noChangeAspect="1"/>
          </p:cNvPicPr>
          <p:nvPr/>
        </p:nvPicPr>
        <p:blipFill>
          <a:blip r:embed="rId7"/>
          <a:stretch>
            <a:fillRect/>
          </a:stretch>
        </p:blipFill>
        <p:spPr>
          <a:xfrm>
            <a:off x="4937760" y="2971800"/>
            <a:ext cx="219456" cy="219456"/>
          </a:xfrm>
          <a:prstGeom prst="rect">
            <a:avLst/>
          </a:prstGeom>
        </p:spPr>
      </p:pic>
      <p:sp>
        <p:nvSpPr>
          <p:cNvPr id="27" name="Text 19"/>
          <p:cNvSpPr txBox="1"/>
          <p:nvPr/>
        </p:nvSpPr>
        <p:spPr>
          <a:xfrm>
            <a:off x="5376672" y="2825496"/>
            <a:ext cx="3200400" cy="512064"/>
          </a:xfrm>
          <a:prstGeom prst="rect">
            <a:avLst/>
          </a:prstGeom>
          <a:noFill/>
          <a:ln/>
        </p:spPr>
        <p:txBody>
          <a:bodyPr wrap="square" lIns="0" tIns="0" rIns="0" bIns="0" rtlCol="0" anchor="ctr"/>
          <a:lstStyle/>
          <a:p>
            <a:pPr marL="0" indent="0">
              <a:buNone/>
            </a:pPr>
            <a:r>
              <a:rPr lang="it-IT" sz="1300" b="1" dirty="0">
                <a:solidFill>
                  <a:schemeClr val="tx1"/>
                </a:solidFill>
              </a:rPr>
              <a:t>Premesse false</a:t>
            </a:r>
            <a:endParaRPr lang="it-IT" sz="1300" dirty="0"/>
          </a:p>
        </p:txBody>
      </p:sp>
      <p:sp>
        <p:nvSpPr>
          <p:cNvPr id="28" name="Text 20"/>
          <p:cNvSpPr txBox="1"/>
          <p:nvPr/>
        </p:nvSpPr>
        <p:spPr>
          <a:xfrm>
            <a:off x="4828032" y="3410712"/>
            <a:ext cx="3694176" cy="384048"/>
          </a:xfrm>
          <a:prstGeom prst="rect">
            <a:avLst/>
          </a:prstGeom>
          <a:noFill/>
          <a:ln/>
        </p:spPr>
        <p:txBody>
          <a:bodyPr wrap="square" lIns="0" tIns="0" rIns="0" bIns="0" rtlCol="0" anchor="t"/>
          <a:lstStyle/>
          <a:p>
            <a:pPr marL="0" indent="0">
              <a:buNone/>
            </a:pPr>
            <a:r>
              <a:rPr lang="it-IT" sz="1200" dirty="0">
                <a:solidFill>
                  <a:schemeClr val="tx2"/>
                </a:solidFill>
              </a:rPr>
              <a:t>La domanda stessa può indurre l'errore</a:t>
            </a:r>
            <a:endParaRPr lang="it-IT" sz="1200" dirty="0"/>
          </a:p>
        </p:txBody>
      </p:sp>
      <p:sp>
        <p:nvSpPr>
          <p:cNvPr id="29" name="Text 21"/>
          <p:cNvSpPr txBox="1"/>
          <p:nvPr/>
        </p:nvSpPr>
        <p:spPr>
          <a:xfrm>
            <a:off x="457200" y="4069080"/>
            <a:ext cx="8229600" cy="457200"/>
          </a:xfrm>
          <a:prstGeom prst="rect">
            <a:avLst/>
          </a:prstGeom>
          <a:noFill/>
          <a:ln/>
        </p:spPr>
        <p:txBody>
          <a:bodyPr wrap="square" lIns="0" tIns="0" rIns="0" bIns="0" rtlCol="0" anchor="t"/>
          <a:lstStyle/>
          <a:p>
            <a:pPr marL="0" indent="0">
              <a:buNone/>
            </a:pPr>
            <a:r>
              <a:rPr lang="it-IT" sz="1300" i="1" dirty="0">
                <a:solidFill>
                  <a:schemeClr val="tx1"/>
                </a:solidFill>
              </a:rPr>
              <a:t>L'utilizzo di fonti pertinenti, strumenti di ricerca e procedure di verifica può ridurre il rischio di informazioni errate.</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70</a:t>
            </a:fld>
            <a:endParaRPr lang="it-IT"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Plausibilità linguistica e veridicità</a:t>
            </a:r>
            <a:endParaRPr lang="it-IT" sz="2600" dirty="0"/>
          </a:p>
        </p:txBody>
      </p:sp>
      <p:sp>
        <p:nvSpPr>
          <p:cNvPr id="4" name="scheda Plausibilità linguistica"/>
          <p:cNvSpPr/>
          <p:nvPr/>
        </p:nvSpPr>
        <p:spPr>
          <a:xfrm>
            <a:off x="457200" y="1097280"/>
            <a:ext cx="3977640" cy="1463040"/>
          </a:xfrm>
          <a:prstGeom prst="roundRect">
            <a:avLst>
              <a:gd name="adj" fmla="val 5000"/>
            </a:avLst>
          </a:prstGeom>
          <a:solidFill>
            <a:schemeClr val="bg2"/>
          </a:solidFill>
          <a:ln/>
        </p:spPr>
        <p:txBody>
          <a:bodyPr/>
          <a:lstStyle/>
          <a:p>
            <a:endParaRPr lang="it-IT" dirty="0"/>
          </a:p>
        </p:txBody>
      </p:sp>
      <p:sp>
        <p:nvSpPr>
          <p:cNvPr id="5" name="cerchio FiType"/>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Typ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1234440" y="128016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Plausibilità linguistica</a:t>
            </a:r>
            <a:endParaRPr lang="it-IT" sz="1500" dirty="0"/>
          </a:p>
        </p:txBody>
      </p:sp>
      <p:sp>
        <p:nvSpPr>
          <p:cNvPr id="8" name="Text 4"/>
          <p:cNvSpPr txBox="1"/>
          <p:nvPr/>
        </p:nvSpPr>
        <p:spPr>
          <a:xfrm>
            <a:off x="640080" y="1874520"/>
            <a:ext cx="3611880" cy="576072"/>
          </a:xfrm>
          <a:prstGeom prst="rect">
            <a:avLst/>
          </a:prstGeom>
          <a:noFill/>
          <a:ln/>
        </p:spPr>
        <p:txBody>
          <a:bodyPr wrap="square" lIns="0" tIns="0" rIns="0" bIns="0" rtlCol="0" anchor="t"/>
          <a:lstStyle/>
          <a:p>
            <a:pPr marL="0" indent="0">
              <a:buNone/>
            </a:pPr>
            <a:r>
              <a:rPr lang="it-IT" sz="1300" dirty="0">
                <a:solidFill>
                  <a:schemeClr val="tx2"/>
                </a:solidFill>
              </a:rPr>
              <a:t>La forma: corretta, coerente, nello stile giusto. È ciò che il modello sa produrre meglio.</a:t>
            </a:r>
            <a:endParaRPr lang="it-IT" sz="1300" dirty="0"/>
          </a:p>
        </p:txBody>
      </p:sp>
      <p:sp>
        <p:nvSpPr>
          <p:cNvPr id="9" name="scheda Veridicità"/>
          <p:cNvSpPr/>
          <p:nvPr/>
        </p:nvSpPr>
        <p:spPr>
          <a:xfrm>
            <a:off x="4709160" y="1097280"/>
            <a:ext cx="3977640" cy="1463040"/>
          </a:xfrm>
          <a:prstGeom prst="roundRect">
            <a:avLst>
              <a:gd name="adj" fmla="val 5000"/>
            </a:avLst>
          </a:prstGeom>
          <a:solidFill>
            <a:schemeClr val="accent6"/>
          </a:solidFill>
          <a:ln/>
        </p:spPr>
        <p:txBody>
          <a:bodyPr/>
          <a:lstStyle/>
          <a:p>
            <a:endParaRPr lang="it-IT" dirty="0"/>
          </a:p>
        </p:txBody>
      </p:sp>
      <p:sp>
        <p:nvSpPr>
          <p:cNvPr id="10" name="cerchio FiCheckCircle"/>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CheckCircle"/>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5486400" y="128016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Veridicità</a:t>
            </a:r>
            <a:endParaRPr lang="it-IT" sz="1500" dirty="0"/>
          </a:p>
        </p:txBody>
      </p:sp>
      <p:sp>
        <p:nvSpPr>
          <p:cNvPr id="13" name="Text 8"/>
          <p:cNvSpPr txBox="1"/>
          <p:nvPr/>
        </p:nvSpPr>
        <p:spPr>
          <a:xfrm>
            <a:off x="4892040" y="1874520"/>
            <a:ext cx="3611880" cy="576072"/>
          </a:xfrm>
          <a:prstGeom prst="rect">
            <a:avLst/>
          </a:prstGeom>
          <a:noFill/>
          <a:ln/>
        </p:spPr>
        <p:txBody>
          <a:bodyPr wrap="square" lIns="0" tIns="0" rIns="0" bIns="0" rtlCol="0" anchor="t"/>
          <a:lstStyle/>
          <a:p>
            <a:pPr marL="0" indent="0">
              <a:buNone/>
            </a:pPr>
            <a:r>
              <a:rPr lang="it-IT" sz="1300" dirty="0">
                <a:solidFill>
                  <a:schemeClr val="tx2"/>
                </a:solidFill>
              </a:rPr>
              <a:t>Il contenuto: corrisponde ai fatti, verificabili su fonti affidabili.</a:t>
            </a:r>
            <a:endParaRPr lang="it-IT" sz="1300" dirty="0"/>
          </a:p>
        </p:txBody>
      </p:sp>
      <p:sp>
        <p:nvSpPr>
          <p:cNvPr id="14" name="Text 9"/>
          <p:cNvSpPr txBox="1"/>
          <p:nvPr/>
        </p:nvSpPr>
        <p:spPr>
          <a:xfrm>
            <a:off x="457200" y="2743200"/>
            <a:ext cx="8229600" cy="274320"/>
          </a:xfrm>
          <a:prstGeom prst="rect">
            <a:avLst/>
          </a:prstGeom>
          <a:noFill/>
          <a:ln/>
        </p:spPr>
        <p:txBody>
          <a:bodyPr wrap="square" lIns="0" tIns="0" rIns="0" bIns="0" rtlCol="0" anchor="t"/>
          <a:lstStyle/>
          <a:p>
            <a:pPr marL="0" indent="0">
              <a:buNone/>
            </a:pPr>
            <a:r>
              <a:rPr lang="it-IT" sz="1400" b="1" dirty="0">
                <a:solidFill>
                  <a:schemeClr val="tx1"/>
                </a:solidFill>
              </a:rPr>
              <a:t>Quale delle due è vera?</a:t>
            </a:r>
            <a:endParaRPr lang="it-IT" sz="1400" dirty="0"/>
          </a:p>
        </p:txBody>
      </p:sp>
      <p:sp>
        <p:nvSpPr>
          <p:cNvPr id="15" name="frase A"/>
          <p:cNvSpPr/>
          <p:nvPr/>
        </p:nvSpPr>
        <p:spPr>
          <a:xfrm>
            <a:off x="457200" y="3108960"/>
            <a:ext cx="8229600" cy="621792"/>
          </a:xfrm>
          <a:prstGeom prst="roundRect">
            <a:avLst>
              <a:gd name="adj" fmla="val 11765"/>
            </a:avLst>
          </a:prstGeom>
          <a:solidFill>
            <a:schemeClr val="bg2"/>
          </a:solidFill>
          <a:ln/>
        </p:spPr>
        <p:txBody>
          <a:bodyPr/>
          <a:lstStyle/>
          <a:p>
            <a:endParaRPr lang="it-IT" dirty="0"/>
          </a:p>
        </p:txBody>
      </p:sp>
      <p:sp>
        <p:nvSpPr>
          <p:cNvPr id="16" name="Text 11"/>
          <p:cNvSpPr txBox="1"/>
          <p:nvPr/>
        </p:nvSpPr>
        <p:spPr>
          <a:xfrm>
            <a:off x="640080" y="3108960"/>
            <a:ext cx="365760" cy="621792"/>
          </a:xfrm>
          <a:prstGeom prst="rect">
            <a:avLst/>
          </a:prstGeom>
          <a:noFill/>
          <a:ln/>
        </p:spPr>
        <p:txBody>
          <a:bodyPr wrap="square" lIns="0" tIns="0" rIns="0" bIns="0" rtlCol="0" anchor="ctr"/>
          <a:lstStyle/>
          <a:p>
            <a:pPr marL="0" indent="0">
              <a:buNone/>
            </a:pPr>
            <a:r>
              <a:rPr lang="it-IT" sz="2000" b="1" dirty="0">
                <a:solidFill>
                  <a:schemeClr val="accent1"/>
                </a:solidFill>
              </a:rPr>
              <a:t>A</a:t>
            </a:r>
            <a:endParaRPr lang="it-IT" sz="2000" dirty="0"/>
          </a:p>
        </p:txBody>
      </p:sp>
      <p:sp>
        <p:nvSpPr>
          <p:cNvPr id="17" name="Text 12"/>
          <p:cNvSpPr txBox="1"/>
          <p:nvPr/>
        </p:nvSpPr>
        <p:spPr>
          <a:xfrm>
            <a:off x="1051560" y="3108960"/>
            <a:ext cx="7498080" cy="621792"/>
          </a:xfrm>
          <a:prstGeom prst="rect">
            <a:avLst/>
          </a:prstGeom>
          <a:noFill/>
          <a:ln/>
        </p:spPr>
        <p:txBody>
          <a:bodyPr wrap="square" lIns="0" tIns="0" rIns="0" bIns="0" rtlCol="0" anchor="ctr"/>
          <a:lstStyle/>
          <a:p>
            <a:pPr marL="0" indent="0">
              <a:buNone/>
            </a:pPr>
            <a:r>
              <a:rPr lang="it-IT" sz="1300" dirty="0">
                <a:solidFill>
                  <a:schemeClr val="tx1"/>
                </a:solidFill>
              </a:rPr>
              <a:t>Le definizioni dell'AI Act si trovano all'articolo 3 del Regolamento UE 2024/1689, entrato in vigore il 1° agosto 2024.</a:t>
            </a:r>
            <a:endParaRPr lang="it-IT" sz="1300" dirty="0"/>
          </a:p>
        </p:txBody>
      </p:sp>
      <p:sp>
        <p:nvSpPr>
          <p:cNvPr id="18" name="frase B"/>
          <p:cNvSpPr/>
          <p:nvPr/>
        </p:nvSpPr>
        <p:spPr>
          <a:xfrm>
            <a:off x="457200" y="3840480"/>
            <a:ext cx="8229600" cy="621792"/>
          </a:xfrm>
          <a:prstGeom prst="roundRect">
            <a:avLst>
              <a:gd name="adj" fmla="val 11765"/>
            </a:avLst>
          </a:prstGeom>
          <a:solidFill>
            <a:schemeClr val="bg2"/>
          </a:solidFill>
          <a:ln/>
        </p:spPr>
        <p:txBody>
          <a:bodyPr/>
          <a:lstStyle/>
          <a:p>
            <a:endParaRPr lang="it-IT" dirty="0"/>
          </a:p>
        </p:txBody>
      </p:sp>
      <p:sp>
        <p:nvSpPr>
          <p:cNvPr id="19" name="Text 14"/>
          <p:cNvSpPr txBox="1"/>
          <p:nvPr/>
        </p:nvSpPr>
        <p:spPr>
          <a:xfrm>
            <a:off x="640080" y="3840480"/>
            <a:ext cx="365760" cy="621792"/>
          </a:xfrm>
          <a:prstGeom prst="rect">
            <a:avLst/>
          </a:prstGeom>
          <a:noFill/>
          <a:ln/>
        </p:spPr>
        <p:txBody>
          <a:bodyPr wrap="square" lIns="0" tIns="0" rIns="0" bIns="0" rtlCol="0" anchor="ctr"/>
          <a:lstStyle/>
          <a:p>
            <a:pPr marL="0" indent="0">
              <a:buNone/>
            </a:pPr>
            <a:r>
              <a:rPr lang="it-IT" sz="2000" b="1" dirty="0">
                <a:solidFill>
                  <a:schemeClr val="accent1"/>
                </a:solidFill>
              </a:rPr>
              <a:t>B</a:t>
            </a:r>
            <a:endParaRPr lang="it-IT" sz="2000" dirty="0"/>
          </a:p>
        </p:txBody>
      </p:sp>
      <p:sp>
        <p:nvSpPr>
          <p:cNvPr id="20" name="Text 15"/>
          <p:cNvSpPr txBox="1"/>
          <p:nvPr/>
        </p:nvSpPr>
        <p:spPr>
          <a:xfrm>
            <a:off x="1051560" y="3840480"/>
            <a:ext cx="7498080" cy="621792"/>
          </a:xfrm>
          <a:prstGeom prst="rect">
            <a:avLst/>
          </a:prstGeom>
          <a:noFill/>
          <a:ln/>
        </p:spPr>
        <p:txBody>
          <a:bodyPr wrap="square" lIns="0" tIns="0" rIns="0" bIns="0" rtlCol="0" anchor="ctr"/>
          <a:lstStyle/>
          <a:p>
            <a:pPr marL="0" indent="0">
              <a:buNone/>
            </a:pPr>
            <a:r>
              <a:rPr lang="it-IT" sz="1300" dirty="0">
                <a:solidFill>
                  <a:schemeClr val="tx1"/>
                </a:solidFill>
              </a:rPr>
              <a:t>Le definizioni dell'AI Act si trovano all'articolo 5 del Regolamento UE 2024/1689, entrato in vigore il 1° marzo 2024.</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23</a:t>
            </a:fld>
            <a:endParaRPr lang="it-IT"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L'autorevolezza apparente</a:t>
            </a:r>
            <a:endParaRPr lang="it-IT" sz="2600" dirty="0"/>
          </a:p>
        </p:txBody>
      </p:sp>
      <p:sp>
        <p:nvSpPr>
          <p:cNvPr id="4" name="Text 1"/>
          <p:cNvSpPr txBox="1"/>
          <p:nvPr/>
        </p:nvSpPr>
        <p:spPr>
          <a:xfrm>
            <a:off x="457200" y="1051560"/>
            <a:ext cx="3977640" cy="320040"/>
          </a:xfrm>
          <a:prstGeom prst="rect">
            <a:avLst/>
          </a:prstGeom>
          <a:noFill/>
          <a:ln/>
        </p:spPr>
        <p:txBody>
          <a:bodyPr wrap="square" lIns="0" tIns="0" rIns="0" bIns="0" rtlCol="0" anchor="t"/>
          <a:lstStyle/>
          <a:p>
            <a:pPr marL="0" indent="0">
              <a:buNone/>
            </a:pPr>
            <a:r>
              <a:rPr lang="it-IT" sz="1500" b="1" dirty="0">
                <a:solidFill>
                  <a:schemeClr val="accent5"/>
                </a:solidFill>
              </a:rPr>
              <a:t>Segnali di forma: non sufficienti</a:t>
            </a:r>
            <a:endParaRPr lang="it-IT" sz="1500" dirty="0"/>
          </a:p>
        </p:txBody>
      </p:sp>
      <p:sp>
        <p:nvSpPr>
          <p:cNvPr id="5" name="Text 2"/>
          <p:cNvSpPr txBox="1"/>
          <p:nvPr/>
        </p:nvSpPr>
        <p:spPr>
          <a:xfrm>
            <a:off x="4709160" y="1051560"/>
            <a:ext cx="3977640" cy="320040"/>
          </a:xfrm>
          <a:prstGeom prst="rect">
            <a:avLst/>
          </a:prstGeom>
          <a:noFill/>
          <a:ln/>
        </p:spPr>
        <p:txBody>
          <a:bodyPr wrap="square" lIns="0" tIns="0" rIns="0" bIns="0" rtlCol="0" anchor="t"/>
          <a:lstStyle/>
          <a:p>
            <a:pPr marL="0" indent="0">
              <a:buNone/>
            </a:pPr>
            <a:r>
              <a:rPr lang="it-IT" sz="1500" b="1" dirty="0">
                <a:solidFill>
                  <a:schemeClr val="accent1"/>
                </a:solidFill>
              </a:rPr>
              <a:t>Segnali di sostanza: affidabili</a:t>
            </a:r>
            <a:endParaRPr lang="it-IT" sz="1500" dirty="0"/>
          </a:p>
        </p:txBody>
      </p:sp>
      <p:sp>
        <p:nvSpPr>
          <p:cNvPr id="6" name="Tono sicuro e assertivo"/>
          <p:cNvSpPr/>
          <p:nvPr/>
        </p:nvSpPr>
        <p:spPr>
          <a:xfrm>
            <a:off x="457200" y="1463040"/>
            <a:ext cx="3977640" cy="548640"/>
          </a:xfrm>
          <a:prstGeom prst="roundRect">
            <a:avLst>
              <a:gd name="adj" fmla="val 13333"/>
            </a:avLst>
          </a:prstGeom>
          <a:solidFill>
            <a:schemeClr val="bg2"/>
          </a:solidFill>
          <a:ln/>
        </p:spPr>
        <p:txBody>
          <a:bodyPr/>
          <a:lstStyle/>
          <a:p>
            <a:endParaRPr lang="it-IT" dirty="0"/>
          </a:p>
        </p:txBody>
      </p:sp>
      <p:sp>
        <p:nvSpPr>
          <p:cNvPr id="7" name="cerchio FiVolume2"/>
          <p:cNvSpPr/>
          <p:nvPr/>
        </p:nvSpPr>
        <p:spPr>
          <a:xfrm>
            <a:off x="548640" y="1527048"/>
            <a:ext cx="420624" cy="420624"/>
          </a:xfrm>
          <a:prstGeom prst="ellipse">
            <a:avLst/>
          </a:prstGeom>
          <a:solidFill>
            <a:schemeClr val="accent2"/>
          </a:solidFill>
          <a:ln/>
        </p:spPr>
        <p:txBody>
          <a:bodyPr/>
          <a:lstStyle/>
          <a:p>
            <a:endParaRPr lang="it-IT" dirty="0"/>
          </a:p>
        </p:txBody>
      </p:sp>
      <p:pic>
        <p:nvPicPr>
          <p:cNvPr id="8" name="Image 0" descr="FiVolume2"/>
          <p:cNvPicPr>
            <a:picLocks noChangeAspect="1"/>
          </p:cNvPicPr>
          <p:nvPr/>
        </p:nvPicPr>
        <p:blipFill>
          <a:blip r:embed="rId3"/>
          <a:stretch>
            <a:fillRect/>
          </a:stretch>
        </p:blipFill>
        <p:spPr>
          <a:xfrm>
            <a:off x="653796" y="1632204"/>
            <a:ext cx="210312" cy="210312"/>
          </a:xfrm>
          <a:prstGeom prst="rect">
            <a:avLst/>
          </a:prstGeom>
        </p:spPr>
      </p:pic>
      <p:sp>
        <p:nvSpPr>
          <p:cNvPr id="9" name="Text 5"/>
          <p:cNvSpPr txBox="1"/>
          <p:nvPr/>
        </p:nvSpPr>
        <p:spPr>
          <a:xfrm>
            <a:off x="1097280" y="1463040"/>
            <a:ext cx="3246120" cy="548640"/>
          </a:xfrm>
          <a:prstGeom prst="rect">
            <a:avLst/>
          </a:prstGeom>
          <a:noFill/>
          <a:ln/>
        </p:spPr>
        <p:txBody>
          <a:bodyPr wrap="square" lIns="0" tIns="0" rIns="0" bIns="0" rtlCol="0" anchor="ctr"/>
          <a:lstStyle/>
          <a:p>
            <a:pPr marL="0" indent="0">
              <a:buNone/>
            </a:pPr>
            <a:r>
              <a:rPr lang="it-IT" sz="1300" dirty="0">
                <a:solidFill>
                  <a:schemeClr val="tx1"/>
                </a:solidFill>
              </a:rPr>
              <a:t>Tono sicuro e assertivo</a:t>
            </a:r>
            <a:endParaRPr lang="it-IT" sz="1300" dirty="0"/>
          </a:p>
        </p:txBody>
      </p:sp>
      <p:sp>
        <p:nvSpPr>
          <p:cNvPr id="10" name="Fonti verificabili, effettivamente consultate"/>
          <p:cNvSpPr/>
          <p:nvPr/>
        </p:nvSpPr>
        <p:spPr>
          <a:xfrm>
            <a:off x="4709160" y="1463040"/>
            <a:ext cx="3977640" cy="548640"/>
          </a:xfrm>
          <a:prstGeom prst="roundRect">
            <a:avLst>
              <a:gd name="adj" fmla="val 13333"/>
            </a:avLst>
          </a:prstGeom>
          <a:solidFill>
            <a:schemeClr val="accent6"/>
          </a:solidFill>
          <a:ln/>
        </p:spPr>
        <p:txBody>
          <a:bodyPr/>
          <a:lstStyle/>
          <a:p>
            <a:endParaRPr lang="it-IT" dirty="0"/>
          </a:p>
        </p:txBody>
      </p:sp>
      <p:sp>
        <p:nvSpPr>
          <p:cNvPr id="11" name="cerchio FiExternalLink"/>
          <p:cNvSpPr/>
          <p:nvPr/>
        </p:nvSpPr>
        <p:spPr>
          <a:xfrm>
            <a:off x="4800600" y="1527048"/>
            <a:ext cx="420624" cy="420624"/>
          </a:xfrm>
          <a:prstGeom prst="ellipse">
            <a:avLst/>
          </a:prstGeom>
          <a:solidFill>
            <a:schemeClr val="accent1"/>
          </a:solidFill>
          <a:ln/>
        </p:spPr>
        <p:txBody>
          <a:bodyPr/>
          <a:lstStyle/>
          <a:p>
            <a:endParaRPr lang="it-IT" dirty="0"/>
          </a:p>
        </p:txBody>
      </p:sp>
      <p:pic>
        <p:nvPicPr>
          <p:cNvPr id="12" name="Image 1" descr="FiExternalLink"/>
          <p:cNvPicPr>
            <a:picLocks noChangeAspect="1"/>
          </p:cNvPicPr>
          <p:nvPr/>
        </p:nvPicPr>
        <p:blipFill>
          <a:blip r:embed="rId4"/>
          <a:stretch>
            <a:fillRect/>
          </a:stretch>
        </p:blipFill>
        <p:spPr>
          <a:xfrm>
            <a:off x="4905756" y="1632204"/>
            <a:ext cx="210312" cy="210312"/>
          </a:xfrm>
          <a:prstGeom prst="rect">
            <a:avLst/>
          </a:prstGeom>
        </p:spPr>
      </p:pic>
      <p:sp>
        <p:nvSpPr>
          <p:cNvPr id="13" name="Text 8"/>
          <p:cNvSpPr txBox="1"/>
          <p:nvPr/>
        </p:nvSpPr>
        <p:spPr>
          <a:xfrm>
            <a:off x="5349240" y="1463040"/>
            <a:ext cx="3246120" cy="548640"/>
          </a:xfrm>
          <a:prstGeom prst="rect">
            <a:avLst/>
          </a:prstGeom>
          <a:noFill/>
          <a:ln/>
        </p:spPr>
        <p:txBody>
          <a:bodyPr wrap="square" lIns="0" tIns="0" rIns="0" bIns="0" rtlCol="0" anchor="ctr"/>
          <a:lstStyle/>
          <a:p>
            <a:pPr marL="0" indent="0">
              <a:buNone/>
            </a:pPr>
            <a:r>
              <a:rPr lang="it-IT" sz="1300" dirty="0">
                <a:solidFill>
                  <a:schemeClr val="tx1"/>
                </a:solidFill>
              </a:rPr>
              <a:t>Fonti verificabili, effettivamente consultate</a:t>
            </a:r>
            <a:endParaRPr lang="it-IT" sz="1300" dirty="0"/>
          </a:p>
        </p:txBody>
      </p:sp>
      <p:sp>
        <p:nvSpPr>
          <p:cNvPr id="14" name="Struttura ordinata, titoli ed elenchi"/>
          <p:cNvSpPr/>
          <p:nvPr/>
        </p:nvSpPr>
        <p:spPr>
          <a:xfrm>
            <a:off x="457200" y="2121408"/>
            <a:ext cx="3977640" cy="548640"/>
          </a:xfrm>
          <a:prstGeom prst="roundRect">
            <a:avLst>
              <a:gd name="adj" fmla="val 13333"/>
            </a:avLst>
          </a:prstGeom>
          <a:solidFill>
            <a:schemeClr val="bg2"/>
          </a:solidFill>
          <a:ln/>
        </p:spPr>
        <p:txBody>
          <a:bodyPr/>
          <a:lstStyle/>
          <a:p>
            <a:endParaRPr lang="it-IT" dirty="0"/>
          </a:p>
        </p:txBody>
      </p:sp>
      <p:sp>
        <p:nvSpPr>
          <p:cNvPr id="15" name="cerchio FiAlignLeft"/>
          <p:cNvSpPr/>
          <p:nvPr/>
        </p:nvSpPr>
        <p:spPr>
          <a:xfrm>
            <a:off x="548640" y="2185416"/>
            <a:ext cx="420624" cy="420624"/>
          </a:xfrm>
          <a:prstGeom prst="ellipse">
            <a:avLst/>
          </a:prstGeom>
          <a:solidFill>
            <a:schemeClr val="accent2"/>
          </a:solidFill>
          <a:ln/>
        </p:spPr>
        <p:txBody>
          <a:bodyPr/>
          <a:lstStyle/>
          <a:p>
            <a:endParaRPr lang="it-IT" dirty="0"/>
          </a:p>
        </p:txBody>
      </p:sp>
      <p:pic>
        <p:nvPicPr>
          <p:cNvPr id="16" name="Image 2" descr="FiAlignLeft"/>
          <p:cNvPicPr>
            <a:picLocks noChangeAspect="1"/>
          </p:cNvPicPr>
          <p:nvPr/>
        </p:nvPicPr>
        <p:blipFill>
          <a:blip r:embed="rId5"/>
          <a:stretch>
            <a:fillRect/>
          </a:stretch>
        </p:blipFill>
        <p:spPr>
          <a:xfrm>
            <a:off x="653796" y="2290572"/>
            <a:ext cx="210312" cy="210312"/>
          </a:xfrm>
          <a:prstGeom prst="rect">
            <a:avLst/>
          </a:prstGeom>
        </p:spPr>
      </p:pic>
      <p:sp>
        <p:nvSpPr>
          <p:cNvPr id="17" name="Text 11"/>
          <p:cNvSpPr txBox="1"/>
          <p:nvPr/>
        </p:nvSpPr>
        <p:spPr>
          <a:xfrm>
            <a:off x="1097280" y="2121408"/>
            <a:ext cx="3246120" cy="548640"/>
          </a:xfrm>
          <a:prstGeom prst="rect">
            <a:avLst/>
          </a:prstGeom>
          <a:noFill/>
          <a:ln/>
        </p:spPr>
        <p:txBody>
          <a:bodyPr wrap="square" lIns="0" tIns="0" rIns="0" bIns="0" rtlCol="0" anchor="ctr"/>
          <a:lstStyle/>
          <a:p>
            <a:pPr marL="0" indent="0">
              <a:buNone/>
            </a:pPr>
            <a:r>
              <a:rPr lang="it-IT" sz="1300" dirty="0">
                <a:solidFill>
                  <a:schemeClr val="tx1"/>
                </a:solidFill>
              </a:rPr>
              <a:t>Struttura ordinata, titoli ed elenchi</a:t>
            </a:r>
            <a:endParaRPr lang="it-IT" sz="1300" dirty="0"/>
          </a:p>
        </p:txBody>
      </p:sp>
      <p:sp>
        <p:nvSpPr>
          <p:cNvPr id="18" name="Coerenza con fonti indipendenti"/>
          <p:cNvSpPr/>
          <p:nvPr/>
        </p:nvSpPr>
        <p:spPr>
          <a:xfrm>
            <a:off x="4709160" y="2121408"/>
            <a:ext cx="3977640" cy="548640"/>
          </a:xfrm>
          <a:prstGeom prst="roundRect">
            <a:avLst>
              <a:gd name="adj" fmla="val 13333"/>
            </a:avLst>
          </a:prstGeom>
          <a:solidFill>
            <a:schemeClr val="accent6"/>
          </a:solidFill>
          <a:ln/>
        </p:spPr>
        <p:txBody>
          <a:bodyPr/>
          <a:lstStyle/>
          <a:p>
            <a:endParaRPr lang="it-IT" dirty="0"/>
          </a:p>
        </p:txBody>
      </p:sp>
      <p:sp>
        <p:nvSpPr>
          <p:cNvPr id="19" name="cerchio FiCopy"/>
          <p:cNvSpPr/>
          <p:nvPr/>
        </p:nvSpPr>
        <p:spPr>
          <a:xfrm>
            <a:off x="4800600" y="2185416"/>
            <a:ext cx="420624" cy="420624"/>
          </a:xfrm>
          <a:prstGeom prst="ellipse">
            <a:avLst/>
          </a:prstGeom>
          <a:solidFill>
            <a:schemeClr val="accent1"/>
          </a:solidFill>
          <a:ln/>
        </p:spPr>
        <p:txBody>
          <a:bodyPr/>
          <a:lstStyle/>
          <a:p>
            <a:endParaRPr lang="it-IT" dirty="0"/>
          </a:p>
        </p:txBody>
      </p:sp>
      <p:pic>
        <p:nvPicPr>
          <p:cNvPr id="20" name="Image 3" descr="FiCopy"/>
          <p:cNvPicPr>
            <a:picLocks noChangeAspect="1"/>
          </p:cNvPicPr>
          <p:nvPr/>
        </p:nvPicPr>
        <p:blipFill>
          <a:blip r:embed="rId6"/>
          <a:stretch>
            <a:fillRect/>
          </a:stretch>
        </p:blipFill>
        <p:spPr>
          <a:xfrm>
            <a:off x="4905756" y="2290572"/>
            <a:ext cx="210312" cy="210312"/>
          </a:xfrm>
          <a:prstGeom prst="rect">
            <a:avLst/>
          </a:prstGeom>
        </p:spPr>
      </p:pic>
      <p:sp>
        <p:nvSpPr>
          <p:cNvPr id="21" name="Text 14"/>
          <p:cNvSpPr txBox="1"/>
          <p:nvPr/>
        </p:nvSpPr>
        <p:spPr>
          <a:xfrm>
            <a:off x="5349240" y="2121408"/>
            <a:ext cx="3246120" cy="548640"/>
          </a:xfrm>
          <a:prstGeom prst="rect">
            <a:avLst/>
          </a:prstGeom>
          <a:noFill/>
          <a:ln/>
        </p:spPr>
        <p:txBody>
          <a:bodyPr wrap="square" lIns="0" tIns="0" rIns="0" bIns="0" rtlCol="0" anchor="ctr"/>
          <a:lstStyle/>
          <a:p>
            <a:pPr marL="0" indent="0">
              <a:buNone/>
            </a:pPr>
            <a:r>
              <a:rPr lang="it-IT" sz="1300" dirty="0">
                <a:solidFill>
                  <a:schemeClr val="tx1"/>
                </a:solidFill>
              </a:rPr>
              <a:t>Coerenza con fonti indipendenti</a:t>
            </a:r>
            <a:endParaRPr lang="it-IT" sz="1300" dirty="0"/>
          </a:p>
        </p:txBody>
      </p:sp>
      <p:sp>
        <p:nvSpPr>
          <p:cNvPr id="22" name="Numeri precisi e dettagli"/>
          <p:cNvSpPr/>
          <p:nvPr/>
        </p:nvSpPr>
        <p:spPr>
          <a:xfrm>
            <a:off x="457200" y="2779776"/>
            <a:ext cx="3977640" cy="548640"/>
          </a:xfrm>
          <a:prstGeom prst="roundRect">
            <a:avLst>
              <a:gd name="adj" fmla="val 13333"/>
            </a:avLst>
          </a:prstGeom>
          <a:solidFill>
            <a:schemeClr val="bg2"/>
          </a:solidFill>
          <a:ln/>
        </p:spPr>
        <p:txBody>
          <a:bodyPr/>
          <a:lstStyle/>
          <a:p>
            <a:endParaRPr lang="it-IT" dirty="0"/>
          </a:p>
        </p:txBody>
      </p:sp>
      <p:sp>
        <p:nvSpPr>
          <p:cNvPr id="23" name="cerchio FiHash"/>
          <p:cNvSpPr/>
          <p:nvPr/>
        </p:nvSpPr>
        <p:spPr>
          <a:xfrm>
            <a:off x="548640" y="2843784"/>
            <a:ext cx="420624" cy="420624"/>
          </a:xfrm>
          <a:prstGeom prst="ellipse">
            <a:avLst/>
          </a:prstGeom>
          <a:solidFill>
            <a:schemeClr val="accent2"/>
          </a:solidFill>
          <a:ln/>
        </p:spPr>
        <p:txBody>
          <a:bodyPr/>
          <a:lstStyle/>
          <a:p>
            <a:endParaRPr lang="it-IT" dirty="0"/>
          </a:p>
        </p:txBody>
      </p:sp>
      <p:pic>
        <p:nvPicPr>
          <p:cNvPr id="24" name="Image 4" descr="FiHash"/>
          <p:cNvPicPr>
            <a:picLocks noChangeAspect="1"/>
          </p:cNvPicPr>
          <p:nvPr/>
        </p:nvPicPr>
        <p:blipFill>
          <a:blip r:embed="rId7"/>
          <a:stretch>
            <a:fillRect/>
          </a:stretch>
        </p:blipFill>
        <p:spPr>
          <a:xfrm>
            <a:off x="653796" y="2948940"/>
            <a:ext cx="210312" cy="210312"/>
          </a:xfrm>
          <a:prstGeom prst="rect">
            <a:avLst/>
          </a:prstGeom>
        </p:spPr>
      </p:pic>
      <p:sp>
        <p:nvSpPr>
          <p:cNvPr id="25" name="Text 17"/>
          <p:cNvSpPr txBox="1"/>
          <p:nvPr/>
        </p:nvSpPr>
        <p:spPr>
          <a:xfrm>
            <a:off x="1097280" y="2779776"/>
            <a:ext cx="3246120" cy="548640"/>
          </a:xfrm>
          <a:prstGeom prst="rect">
            <a:avLst/>
          </a:prstGeom>
          <a:noFill/>
          <a:ln/>
        </p:spPr>
        <p:txBody>
          <a:bodyPr wrap="square" lIns="0" tIns="0" rIns="0" bIns="0" rtlCol="0" anchor="ctr"/>
          <a:lstStyle/>
          <a:p>
            <a:pPr marL="0" indent="0">
              <a:buNone/>
            </a:pPr>
            <a:r>
              <a:rPr lang="it-IT" sz="1300" dirty="0">
                <a:solidFill>
                  <a:schemeClr val="tx1"/>
                </a:solidFill>
              </a:rPr>
              <a:t>Numeri precisi e dettagli</a:t>
            </a:r>
            <a:endParaRPr lang="it-IT" sz="1300" dirty="0"/>
          </a:p>
        </p:txBody>
      </p:sp>
      <p:sp>
        <p:nvSpPr>
          <p:cNvPr id="26" name="Coerenza interna della risposta"/>
          <p:cNvSpPr/>
          <p:nvPr/>
        </p:nvSpPr>
        <p:spPr>
          <a:xfrm>
            <a:off x="4709160" y="2779776"/>
            <a:ext cx="3977640" cy="548640"/>
          </a:xfrm>
          <a:prstGeom prst="roundRect">
            <a:avLst>
              <a:gd name="adj" fmla="val 13333"/>
            </a:avLst>
          </a:prstGeom>
          <a:solidFill>
            <a:schemeClr val="accent6"/>
          </a:solidFill>
          <a:ln/>
        </p:spPr>
        <p:txBody>
          <a:bodyPr/>
          <a:lstStyle/>
          <a:p>
            <a:endParaRPr lang="it-IT" dirty="0"/>
          </a:p>
        </p:txBody>
      </p:sp>
      <p:sp>
        <p:nvSpPr>
          <p:cNvPr id="27" name="cerchio FiCheckSquare"/>
          <p:cNvSpPr/>
          <p:nvPr/>
        </p:nvSpPr>
        <p:spPr>
          <a:xfrm>
            <a:off x="4800600" y="2843784"/>
            <a:ext cx="420624" cy="420624"/>
          </a:xfrm>
          <a:prstGeom prst="ellipse">
            <a:avLst/>
          </a:prstGeom>
          <a:solidFill>
            <a:schemeClr val="accent1"/>
          </a:solidFill>
          <a:ln/>
        </p:spPr>
        <p:txBody>
          <a:bodyPr/>
          <a:lstStyle/>
          <a:p>
            <a:endParaRPr lang="it-IT" dirty="0"/>
          </a:p>
        </p:txBody>
      </p:sp>
      <p:pic>
        <p:nvPicPr>
          <p:cNvPr id="28" name="Image 5" descr="FiCheckSquare"/>
          <p:cNvPicPr>
            <a:picLocks noChangeAspect="1"/>
          </p:cNvPicPr>
          <p:nvPr/>
        </p:nvPicPr>
        <p:blipFill>
          <a:blip r:embed="rId8"/>
          <a:stretch>
            <a:fillRect/>
          </a:stretch>
        </p:blipFill>
        <p:spPr>
          <a:xfrm>
            <a:off x="4905756" y="2948940"/>
            <a:ext cx="210312" cy="210312"/>
          </a:xfrm>
          <a:prstGeom prst="rect">
            <a:avLst/>
          </a:prstGeom>
        </p:spPr>
      </p:pic>
      <p:sp>
        <p:nvSpPr>
          <p:cNvPr id="29" name="Text 20"/>
          <p:cNvSpPr txBox="1"/>
          <p:nvPr/>
        </p:nvSpPr>
        <p:spPr>
          <a:xfrm>
            <a:off x="5349240" y="2779776"/>
            <a:ext cx="3246120" cy="548640"/>
          </a:xfrm>
          <a:prstGeom prst="rect">
            <a:avLst/>
          </a:prstGeom>
          <a:noFill/>
          <a:ln/>
        </p:spPr>
        <p:txBody>
          <a:bodyPr wrap="square" lIns="0" tIns="0" rIns="0" bIns="0" rtlCol="0" anchor="ctr"/>
          <a:lstStyle/>
          <a:p>
            <a:pPr marL="0" indent="0">
              <a:buNone/>
            </a:pPr>
            <a:r>
              <a:rPr lang="it-IT" sz="1300" dirty="0">
                <a:solidFill>
                  <a:schemeClr val="tx1"/>
                </a:solidFill>
              </a:rPr>
              <a:t>Coerenza interna della risposta</a:t>
            </a:r>
            <a:endParaRPr lang="it-IT" sz="1300" dirty="0"/>
          </a:p>
        </p:txBody>
      </p:sp>
      <p:sp>
        <p:nvSpPr>
          <p:cNvPr id="30" name="Citazioni e riferimenti"/>
          <p:cNvSpPr/>
          <p:nvPr/>
        </p:nvSpPr>
        <p:spPr>
          <a:xfrm>
            <a:off x="457200" y="3438144"/>
            <a:ext cx="3977640" cy="548640"/>
          </a:xfrm>
          <a:prstGeom prst="roundRect">
            <a:avLst>
              <a:gd name="adj" fmla="val 13333"/>
            </a:avLst>
          </a:prstGeom>
          <a:solidFill>
            <a:schemeClr val="bg2"/>
          </a:solidFill>
          <a:ln/>
        </p:spPr>
        <p:txBody>
          <a:bodyPr/>
          <a:lstStyle/>
          <a:p>
            <a:endParaRPr lang="it-IT" dirty="0"/>
          </a:p>
        </p:txBody>
      </p:sp>
      <p:sp>
        <p:nvSpPr>
          <p:cNvPr id="31" name="cerchio FiBookmark"/>
          <p:cNvSpPr/>
          <p:nvPr/>
        </p:nvSpPr>
        <p:spPr>
          <a:xfrm>
            <a:off x="548640" y="3502152"/>
            <a:ext cx="420624" cy="420624"/>
          </a:xfrm>
          <a:prstGeom prst="ellipse">
            <a:avLst/>
          </a:prstGeom>
          <a:solidFill>
            <a:schemeClr val="accent2"/>
          </a:solidFill>
          <a:ln/>
        </p:spPr>
        <p:txBody>
          <a:bodyPr/>
          <a:lstStyle/>
          <a:p>
            <a:endParaRPr lang="it-IT" dirty="0"/>
          </a:p>
        </p:txBody>
      </p:sp>
      <p:pic>
        <p:nvPicPr>
          <p:cNvPr id="32" name="Image 6" descr="FiBookmark"/>
          <p:cNvPicPr>
            <a:picLocks noChangeAspect="1"/>
          </p:cNvPicPr>
          <p:nvPr/>
        </p:nvPicPr>
        <p:blipFill>
          <a:blip r:embed="rId9"/>
          <a:stretch>
            <a:fillRect/>
          </a:stretch>
        </p:blipFill>
        <p:spPr>
          <a:xfrm>
            <a:off x="653796" y="3607308"/>
            <a:ext cx="210312" cy="210312"/>
          </a:xfrm>
          <a:prstGeom prst="rect">
            <a:avLst/>
          </a:prstGeom>
        </p:spPr>
      </p:pic>
      <p:sp>
        <p:nvSpPr>
          <p:cNvPr id="33" name="Text 23"/>
          <p:cNvSpPr txBox="1"/>
          <p:nvPr/>
        </p:nvSpPr>
        <p:spPr>
          <a:xfrm>
            <a:off x="1097280" y="3438144"/>
            <a:ext cx="3246120" cy="548640"/>
          </a:xfrm>
          <a:prstGeom prst="rect">
            <a:avLst/>
          </a:prstGeom>
          <a:noFill/>
          <a:ln/>
        </p:spPr>
        <p:txBody>
          <a:bodyPr wrap="square" lIns="0" tIns="0" rIns="0" bIns="0" rtlCol="0" anchor="ctr"/>
          <a:lstStyle/>
          <a:p>
            <a:pPr marL="0" indent="0">
              <a:buNone/>
            </a:pPr>
            <a:r>
              <a:rPr lang="it-IT" sz="1300" dirty="0">
                <a:solidFill>
                  <a:schemeClr val="tx1"/>
                </a:solidFill>
              </a:rPr>
              <a:t>Citazioni e riferimenti</a:t>
            </a:r>
            <a:endParaRPr lang="it-IT" sz="1300" dirty="0"/>
          </a:p>
        </p:txBody>
      </p:sp>
      <p:sp>
        <p:nvSpPr>
          <p:cNvPr id="34" name="La propria competenza sull'argomento"/>
          <p:cNvSpPr/>
          <p:nvPr/>
        </p:nvSpPr>
        <p:spPr>
          <a:xfrm>
            <a:off x="4709160" y="3438144"/>
            <a:ext cx="3977640" cy="548640"/>
          </a:xfrm>
          <a:prstGeom prst="roundRect">
            <a:avLst>
              <a:gd name="adj" fmla="val 13333"/>
            </a:avLst>
          </a:prstGeom>
          <a:solidFill>
            <a:schemeClr val="accent6"/>
          </a:solidFill>
          <a:ln/>
        </p:spPr>
        <p:txBody>
          <a:bodyPr/>
          <a:lstStyle/>
          <a:p>
            <a:endParaRPr lang="it-IT" dirty="0"/>
          </a:p>
        </p:txBody>
      </p:sp>
      <p:sp>
        <p:nvSpPr>
          <p:cNvPr id="35" name="cerchio FiUser"/>
          <p:cNvSpPr/>
          <p:nvPr/>
        </p:nvSpPr>
        <p:spPr>
          <a:xfrm>
            <a:off x="4800600" y="3502152"/>
            <a:ext cx="420624" cy="420624"/>
          </a:xfrm>
          <a:prstGeom prst="ellipse">
            <a:avLst/>
          </a:prstGeom>
          <a:solidFill>
            <a:schemeClr val="accent1"/>
          </a:solidFill>
          <a:ln/>
        </p:spPr>
        <p:txBody>
          <a:bodyPr/>
          <a:lstStyle/>
          <a:p>
            <a:endParaRPr lang="it-IT" dirty="0"/>
          </a:p>
        </p:txBody>
      </p:sp>
      <p:pic>
        <p:nvPicPr>
          <p:cNvPr id="36" name="Image 7" descr="FiUser"/>
          <p:cNvPicPr>
            <a:picLocks noChangeAspect="1"/>
          </p:cNvPicPr>
          <p:nvPr/>
        </p:nvPicPr>
        <p:blipFill>
          <a:blip r:embed="rId10"/>
          <a:stretch>
            <a:fillRect/>
          </a:stretch>
        </p:blipFill>
        <p:spPr>
          <a:xfrm>
            <a:off x="4905756" y="3607308"/>
            <a:ext cx="210312" cy="210312"/>
          </a:xfrm>
          <a:prstGeom prst="rect">
            <a:avLst/>
          </a:prstGeom>
        </p:spPr>
      </p:pic>
      <p:sp>
        <p:nvSpPr>
          <p:cNvPr id="37" name="Text 26"/>
          <p:cNvSpPr txBox="1"/>
          <p:nvPr/>
        </p:nvSpPr>
        <p:spPr>
          <a:xfrm>
            <a:off x="5349240" y="3438144"/>
            <a:ext cx="3246120" cy="548640"/>
          </a:xfrm>
          <a:prstGeom prst="rect">
            <a:avLst/>
          </a:prstGeom>
          <a:noFill/>
          <a:ln/>
        </p:spPr>
        <p:txBody>
          <a:bodyPr wrap="square" lIns="0" tIns="0" rIns="0" bIns="0" rtlCol="0" anchor="ctr"/>
          <a:lstStyle/>
          <a:p>
            <a:pPr marL="0" indent="0">
              <a:buNone/>
            </a:pPr>
            <a:r>
              <a:rPr lang="it-IT" sz="1300" dirty="0">
                <a:solidFill>
                  <a:schemeClr val="tx1"/>
                </a:solidFill>
              </a:rPr>
              <a:t>La propria competenza sull'argomento</a:t>
            </a:r>
            <a:endParaRPr lang="it-IT" sz="1300" dirty="0"/>
          </a:p>
        </p:txBody>
      </p:sp>
      <p:sp>
        <p:nvSpPr>
          <p:cNvPr id="38" name="messaggio"/>
          <p:cNvSpPr/>
          <p:nvPr/>
        </p:nvSpPr>
        <p:spPr>
          <a:xfrm>
            <a:off x="457200" y="4114800"/>
            <a:ext cx="8229600" cy="457200"/>
          </a:xfrm>
          <a:prstGeom prst="roundRect">
            <a:avLst>
              <a:gd name="adj" fmla="val 16000"/>
            </a:avLst>
          </a:prstGeom>
          <a:solidFill>
            <a:schemeClr val="tx1"/>
          </a:solidFill>
          <a:ln/>
        </p:spPr>
        <p:txBody>
          <a:bodyPr/>
          <a:lstStyle/>
          <a:p>
            <a:endParaRPr lang="it-IT" dirty="0"/>
          </a:p>
        </p:txBody>
      </p:sp>
      <p:sp>
        <p:nvSpPr>
          <p:cNvPr id="39" name="Text 28"/>
          <p:cNvSpPr txBox="1"/>
          <p:nvPr/>
        </p:nvSpPr>
        <p:spPr>
          <a:xfrm>
            <a:off x="640080" y="4114800"/>
            <a:ext cx="7863840" cy="457200"/>
          </a:xfrm>
          <a:prstGeom prst="rect">
            <a:avLst/>
          </a:prstGeom>
          <a:noFill/>
          <a:ln/>
        </p:spPr>
        <p:txBody>
          <a:bodyPr wrap="square" lIns="0" tIns="0" rIns="0" bIns="0" rtlCol="0" anchor="ctr"/>
          <a:lstStyle/>
          <a:p>
            <a:pPr marL="0" indent="0">
              <a:buNone/>
            </a:pPr>
            <a:r>
              <a:rPr lang="it-IT" sz="1300" dirty="0">
                <a:solidFill>
                  <a:schemeClr val="bg1"/>
                </a:solidFill>
              </a:rPr>
              <a:t>La qualità della scrittura non basta a dimostrare la correttezza: fonti, dati e verifiche sono gli elementi decisivi.</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71</a:t>
            </a:fld>
            <a:endParaRPr lang="it-IT"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Attività che richiedono livelli diversi di </a:t>
            </a:r>
            <a:r>
              <a:rPr lang="it-IT" sz="2600" b="1" dirty="0" err="1">
                <a:solidFill>
                  <a:schemeClr val="tx1"/>
                </a:solidFill>
              </a:rPr>
              <a:t>verifica</a:t>
            </a:r>
            <a:endParaRPr lang="it-IT" sz="2600" dirty="0"/>
          </a:p>
        </p:txBody>
      </p:sp>
      <p:sp>
        <p:nvSpPr>
          <p:cNvPr id="4" name="Text 1"/>
          <p:cNvSpPr txBox="1"/>
          <p:nvPr/>
        </p:nvSpPr>
        <p:spPr>
          <a:xfrm>
            <a:off x="457200" y="1051560"/>
            <a:ext cx="5486400" cy="274320"/>
          </a:xfrm>
          <a:prstGeom prst="rect">
            <a:avLst/>
          </a:prstGeom>
          <a:noFill/>
          <a:ln/>
        </p:spPr>
        <p:txBody>
          <a:bodyPr wrap="square" lIns="0" tIns="0" rIns="0" bIns="0" rtlCol="0" anchor="t"/>
          <a:lstStyle/>
          <a:p>
            <a:pPr marL="0" indent="0">
              <a:buNone/>
            </a:pPr>
            <a:r>
              <a:rPr lang="it-IT" sz="1400" b="1" dirty="0">
                <a:solidFill>
                  <a:schemeClr val="accent5"/>
                </a:solidFill>
              </a:rPr>
              <a:t>Rischio più alto</a:t>
            </a:r>
            <a:endParaRPr lang="it-IT" sz="1400" dirty="0"/>
          </a:p>
        </p:txBody>
      </p:sp>
      <p:sp>
        <p:nvSpPr>
          <p:cNvPr id="5" name="Numeri, date, nomi, importi"/>
          <p:cNvSpPr/>
          <p:nvPr/>
        </p:nvSpPr>
        <p:spPr>
          <a:xfrm>
            <a:off x="457200" y="1417320"/>
            <a:ext cx="2606040" cy="713232"/>
          </a:xfrm>
          <a:prstGeom prst="roundRect">
            <a:avLst>
              <a:gd name="adj" fmla="val 10256"/>
            </a:avLst>
          </a:prstGeom>
          <a:solidFill>
            <a:schemeClr val="bg2"/>
          </a:solidFill>
          <a:ln/>
        </p:spPr>
        <p:txBody>
          <a:bodyPr/>
          <a:lstStyle/>
          <a:p>
            <a:endParaRPr lang="it-IT" dirty="0"/>
          </a:p>
        </p:txBody>
      </p:sp>
      <p:sp>
        <p:nvSpPr>
          <p:cNvPr id="6" name="cerchio FiHash"/>
          <p:cNvSpPr/>
          <p:nvPr/>
        </p:nvSpPr>
        <p:spPr>
          <a:xfrm>
            <a:off x="566928" y="1545336"/>
            <a:ext cx="457200" cy="457200"/>
          </a:xfrm>
          <a:prstGeom prst="ellipse">
            <a:avLst/>
          </a:prstGeom>
          <a:solidFill>
            <a:schemeClr val="accent5"/>
          </a:solidFill>
          <a:ln/>
        </p:spPr>
        <p:txBody>
          <a:bodyPr/>
          <a:lstStyle/>
          <a:p>
            <a:endParaRPr lang="it-IT" dirty="0"/>
          </a:p>
        </p:txBody>
      </p:sp>
      <p:pic>
        <p:nvPicPr>
          <p:cNvPr id="7" name="Image 0" descr="FiHash"/>
          <p:cNvPicPr>
            <a:picLocks noChangeAspect="1"/>
          </p:cNvPicPr>
          <p:nvPr/>
        </p:nvPicPr>
        <p:blipFill>
          <a:blip r:embed="rId3"/>
          <a:stretch>
            <a:fillRect/>
          </a:stretch>
        </p:blipFill>
        <p:spPr>
          <a:xfrm>
            <a:off x="681228" y="1659636"/>
            <a:ext cx="228600" cy="228600"/>
          </a:xfrm>
          <a:prstGeom prst="rect">
            <a:avLst/>
          </a:prstGeom>
        </p:spPr>
      </p:pic>
      <p:sp>
        <p:nvSpPr>
          <p:cNvPr id="8" name="Text 4"/>
          <p:cNvSpPr txBox="1"/>
          <p:nvPr/>
        </p:nvSpPr>
        <p:spPr>
          <a:xfrm>
            <a:off x="1115568" y="1417320"/>
            <a:ext cx="1874520" cy="713232"/>
          </a:xfrm>
          <a:prstGeom prst="rect">
            <a:avLst/>
          </a:prstGeom>
          <a:noFill/>
          <a:ln/>
        </p:spPr>
        <p:txBody>
          <a:bodyPr wrap="square" lIns="0" tIns="0" rIns="0" bIns="0" rtlCol="0" anchor="ctr"/>
          <a:lstStyle/>
          <a:p>
            <a:pPr marL="0" indent="0">
              <a:buNone/>
            </a:pPr>
            <a:r>
              <a:rPr lang="it-IT" sz="1200" b="1" dirty="0">
                <a:solidFill>
                  <a:schemeClr val="tx1"/>
                </a:solidFill>
              </a:rPr>
              <a:t>Numeri, date, nomi, importi</a:t>
            </a:r>
            <a:endParaRPr lang="it-IT" sz="1200" dirty="0"/>
          </a:p>
        </p:txBody>
      </p:sp>
      <p:sp>
        <p:nvSpPr>
          <p:cNvPr id="9" name="Argomenti di nicchia, locali, specialistici"/>
          <p:cNvSpPr/>
          <p:nvPr/>
        </p:nvSpPr>
        <p:spPr>
          <a:xfrm>
            <a:off x="3200400" y="1417320"/>
            <a:ext cx="2606040" cy="713232"/>
          </a:xfrm>
          <a:prstGeom prst="roundRect">
            <a:avLst>
              <a:gd name="adj" fmla="val 10256"/>
            </a:avLst>
          </a:prstGeom>
          <a:solidFill>
            <a:schemeClr val="bg2"/>
          </a:solidFill>
          <a:ln/>
        </p:spPr>
        <p:txBody>
          <a:bodyPr/>
          <a:lstStyle/>
          <a:p>
            <a:endParaRPr lang="it-IT" dirty="0"/>
          </a:p>
        </p:txBody>
      </p:sp>
      <p:sp>
        <p:nvSpPr>
          <p:cNvPr id="10" name="cerchio FiMapPin"/>
          <p:cNvSpPr/>
          <p:nvPr/>
        </p:nvSpPr>
        <p:spPr>
          <a:xfrm>
            <a:off x="3310128" y="1545336"/>
            <a:ext cx="457200" cy="457200"/>
          </a:xfrm>
          <a:prstGeom prst="ellipse">
            <a:avLst/>
          </a:prstGeom>
          <a:solidFill>
            <a:schemeClr val="accent5"/>
          </a:solidFill>
          <a:ln/>
        </p:spPr>
        <p:txBody>
          <a:bodyPr/>
          <a:lstStyle/>
          <a:p>
            <a:endParaRPr lang="it-IT" dirty="0"/>
          </a:p>
        </p:txBody>
      </p:sp>
      <p:pic>
        <p:nvPicPr>
          <p:cNvPr id="11" name="Image 1" descr="FiMapPin"/>
          <p:cNvPicPr>
            <a:picLocks noChangeAspect="1"/>
          </p:cNvPicPr>
          <p:nvPr/>
        </p:nvPicPr>
        <p:blipFill>
          <a:blip r:embed="rId4"/>
          <a:stretch>
            <a:fillRect/>
          </a:stretch>
        </p:blipFill>
        <p:spPr>
          <a:xfrm>
            <a:off x="3424428" y="1659636"/>
            <a:ext cx="228600" cy="228600"/>
          </a:xfrm>
          <a:prstGeom prst="rect">
            <a:avLst/>
          </a:prstGeom>
        </p:spPr>
      </p:pic>
      <p:sp>
        <p:nvSpPr>
          <p:cNvPr id="12" name="Text 7"/>
          <p:cNvSpPr txBox="1"/>
          <p:nvPr/>
        </p:nvSpPr>
        <p:spPr>
          <a:xfrm>
            <a:off x="3858768" y="1417320"/>
            <a:ext cx="1874520" cy="713232"/>
          </a:xfrm>
          <a:prstGeom prst="rect">
            <a:avLst/>
          </a:prstGeom>
          <a:noFill/>
          <a:ln/>
        </p:spPr>
        <p:txBody>
          <a:bodyPr wrap="square" lIns="0" tIns="0" rIns="0" bIns="0" rtlCol="0" anchor="ctr"/>
          <a:lstStyle/>
          <a:p>
            <a:pPr marL="0" indent="0">
              <a:buNone/>
            </a:pPr>
            <a:r>
              <a:rPr lang="it-IT" sz="1200" b="1" dirty="0">
                <a:solidFill>
                  <a:schemeClr val="tx1"/>
                </a:solidFill>
              </a:rPr>
              <a:t>Argomenti di nicchia, locali, specialistici</a:t>
            </a:r>
            <a:endParaRPr lang="it-IT" sz="1200" dirty="0"/>
          </a:p>
        </p:txBody>
      </p:sp>
      <p:sp>
        <p:nvSpPr>
          <p:cNvPr id="13" name="Fonti e citazioni"/>
          <p:cNvSpPr/>
          <p:nvPr/>
        </p:nvSpPr>
        <p:spPr>
          <a:xfrm>
            <a:off x="457200" y="2258568"/>
            <a:ext cx="2606040" cy="713232"/>
          </a:xfrm>
          <a:prstGeom prst="roundRect">
            <a:avLst>
              <a:gd name="adj" fmla="val 10256"/>
            </a:avLst>
          </a:prstGeom>
          <a:solidFill>
            <a:schemeClr val="bg2"/>
          </a:solidFill>
          <a:ln/>
        </p:spPr>
        <p:txBody>
          <a:bodyPr/>
          <a:lstStyle/>
          <a:p>
            <a:endParaRPr lang="it-IT" dirty="0"/>
          </a:p>
        </p:txBody>
      </p:sp>
      <p:sp>
        <p:nvSpPr>
          <p:cNvPr id="14" name="cerchio FiBookmark"/>
          <p:cNvSpPr/>
          <p:nvPr/>
        </p:nvSpPr>
        <p:spPr>
          <a:xfrm>
            <a:off x="566928" y="2386584"/>
            <a:ext cx="457200" cy="457200"/>
          </a:xfrm>
          <a:prstGeom prst="ellipse">
            <a:avLst/>
          </a:prstGeom>
          <a:solidFill>
            <a:schemeClr val="accent5"/>
          </a:solidFill>
          <a:ln/>
        </p:spPr>
        <p:txBody>
          <a:bodyPr/>
          <a:lstStyle/>
          <a:p>
            <a:endParaRPr lang="it-IT" dirty="0"/>
          </a:p>
        </p:txBody>
      </p:sp>
      <p:pic>
        <p:nvPicPr>
          <p:cNvPr id="15" name="Image 2" descr="FiBookmark"/>
          <p:cNvPicPr>
            <a:picLocks noChangeAspect="1"/>
          </p:cNvPicPr>
          <p:nvPr/>
        </p:nvPicPr>
        <p:blipFill>
          <a:blip r:embed="rId5"/>
          <a:stretch>
            <a:fillRect/>
          </a:stretch>
        </p:blipFill>
        <p:spPr>
          <a:xfrm>
            <a:off x="681228" y="2500884"/>
            <a:ext cx="228600" cy="228600"/>
          </a:xfrm>
          <a:prstGeom prst="rect">
            <a:avLst/>
          </a:prstGeom>
        </p:spPr>
      </p:pic>
      <p:sp>
        <p:nvSpPr>
          <p:cNvPr id="16" name="Text 10"/>
          <p:cNvSpPr txBox="1"/>
          <p:nvPr/>
        </p:nvSpPr>
        <p:spPr>
          <a:xfrm>
            <a:off x="1115568" y="2258568"/>
            <a:ext cx="1874520" cy="713232"/>
          </a:xfrm>
          <a:prstGeom prst="rect">
            <a:avLst/>
          </a:prstGeom>
          <a:noFill/>
          <a:ln/>
        </p:spPr>
        <p:txBody>
          <a:bodyPr wrap="square" lIns="0" tIns="0" rIns="0" bIns="0" rtlCol="0" anchor="ctr"/>
          <a:lstStyle/>
          <a:p>
            <a:pPr marL="0" indent="0">
              <a:buNone/>
            </a:pPr>
            <a:r>
              <a:rPr lang="it-IT" sz="1200" b="1" dirty="0">
                <a:solidFill>
                  <a:schemeClr val="tx1"/>
                </a:solidFill>
              </a:rPr>
              <a:t>Fonti e citazioni</a:t>
            </a:r>
            <a:endParaRPr lang="it-IT" sz="1200" dirty="0"/>
          </a:p>
        </p:txBody>
      </p:sp>
      <p:sp>
        <p:nvSpPr>
          <p:cNvPr id="17" name="Eventi recenti senza ricerca"/>
          <p:cNvSpPr/>
          <p:nvPr/>
        </p:nvSpPr>
        <p:spPr>
          <a:xfrm>
            <a:off x="3200400" y="2258568"/>
            <a:ext cx="2606040" cy="713232"/>
          </a:xfrm>
          <a:prstGeom prst="roundRect">
            <a:avLst>
              <a:gd name="adj" fmla="val 10256"/>
            </a:avLst>
          </a:prstGeom>
          <a:solidFill>
            <a:schemeClr val="bg2"/>
          </a:solidFill>
          <a:ln/>
        </p:spPr>
        <p:txBody>
          <a:bodyPr/>
          <a:lstStyle/>
          <a:p>
            <a:endParaRPr lang="it-IT" dirty="0"/>
          </a:p>
        </p:txBody>
      </p:sp>
      <p:sp>
        <p:nvSpPr>
          <p:cNvPr id="18" name="cerchio FiCalendar"/>
          <p:cNvSpPr/>
          <p:nvPr/>
        </p:nvSpPr>
        <p:spPr>
          <a:xfrm>
            <a:off x="3310128" y="2386584"/>
            <a:ext cx="457200" cy="457200"/>
          </a:xfrm>
          <a:prstGeom prst="ellipse">
            <a:avLst/>
          </a:prstGeom>
          <a:solidFill>
            <a:schemeClr val="accent5"/>
          </a:solidFill>
          <a:ln/>
        </p:spPr>
        <p:txBody>
          <a:bodyPr/>
          <a:lstStyle/>
          <a:p>
            <a:endParaRPr lang="it-IT" dirty="0"/>
          </a:p>
        </p:txBody>
      </p:sp>
      <p:pic>
        <p:nvPicPr>
          <p:cNvPr id="19" name="Image 3" descr="FiCalendar"/>
          <p:cNvPicPr>
            <a:picLocks noChangeAspect="1"/>
          </p:cNvPicPr>
          <p:nvPr/>
        </p:nvPicPr>
        <p:blipFill>
          <a:blip r:embed="rId6"/>
          <a:stretch>
            <a:fillRect/>
          </a:stretch>
        </p:blipFill>
        <p:spPr>
          <a:xfrm>
            <a:off x="3424428" y="2500884"/>
            <a:ext cx="228600" cy="228600"/>
          </a:xfrm>
          <a:prstGeom prst="rect">
            <a:avLst/>
          </a:prstGeom>
        </p:spPr>
      </p:pic>
      <p:sp>
        <p:nvSpPr>
          <p:cNvPr id="20" name="Text 13"/>
          <p:cNvSpPr txBox="1"/>
          <p:nvPr/>
        </p:nvSpPr>
        <p:spPr>
          <a:xfrm>
            <a:off x="3858768" y="2258568"/>
            <a:ext cx="1874520" cy="713232"/>
          </a:xfrm>
          <a:prstGeom prst="rect">
            <a:avLst/>
          </a:prstGeom>
          <a:noFill/>
          <a:ln/>
        </p:spPr>
        <p:txBody>
          <a:bodyPr wrap="square" lIns="0" tIns="0" rIns="0" bIns="0" rtlCol="0" anchor="ctr"/>
          <a:lstStyle/>
          <a:p>
            <a:pPr marL="0" indent="0">
              <a:buNone/>
            </a:pPr>
            <a:r>
              <a:rPr lang="it-IT" sz="1200" b="1" dirty="0">
                <a:solidFill>
                  <a:schemeClr val="tx1"/>
                </a:solidFill>
              </a:rPr>
              <a:t>Eventi recenti senza ricerca</a:t>
            </a:r>
            <a:endParaRPr lang="it-IT" sz="1200" dirty="0"/>
          </a:p>
        </p:txBody>
      </p:sp>
      <p:sp>
        <p:nvSpPr>
          <p:cNvPr id="21" name="Domande con premesse false"/>
          <p:cNvSpPr/>
          <p:nvPr/>
        </p:nvSpPr>
        <p:spPr>
          <a:xfrm>
            <a:off x="457200" y="3099816"/>
            <a:ext cx="2606040" cy="713232"/>
          </a:xfrm>
          <a:prstGeom prst="roundRect">
            <a:avLst>
              <a:gd name="adj" fmla="val 10256"/>
            </a:avLst>
          </a:prstGeom>
          <a:solidFill>
            <a:schemeClr val="bg2"/>
          </a:solidFill>
          <a:ln/>
        </p:spPr>
        <p:txBody>
          <a:bodyPr/>
          <a:lstStyle/>
          <a:p>
            <a:endParaRPr lang="it-IT" dirty="0"/>
          </a:p>
        </p:txBody>
      </p:sp>
      <p:sp>
        <p:nvSpPr>
          <p:cNvPr id="22" name="cerchio FiHelpCircle"/>
          <p:cNvSpPr/>
          <p:nvPr/>
        </p:nvSpPr>
        <p:spPr>
          <a:xfrm>
            <a:off x="566928" y="3227832"/>
            <a:ext cx="457200" cy="457200"/>
          </a:xfrm>
          <a:prstGeom prst="ellipse">
            <a:avLst/>
          </a:prstGeom>
          <a:solidFill>
            <a:schemeClr val="accent5"/>
          </a:solidFill>
          <a:ln/>
        </p:spPr>
        <p:txBody>
          <a:bodyPr/>
          <a:lstStyle/>
          <a:p>
            <a:endParaRPr lang="it-IT" dirty="0"/>
          </a:p>
        </p:txBody>
      </p:sp>
      <p:pic>
        <p:nvPicPr>
          <p:cNvPr id="23" name="Image 4" descr="FiHelpCircle"/>
          <p:cNvPicPr>
            <a:picLocks noChangeAspect="1"/>
          </p:cNvPicPr>
          <p:nvPr/>
        </p:nvPicPr>
        <p:blipFill>
          <a:blip r:embed="rId7"/>
          <a:stretch>
            <a:fillRect/>
          </a:stretch>
        </p:blipFill>
        <p:spPr>
          <a:xfrm>
            <a:off x="681228" y="3342132"/>
            <a:ext cx="228600" cy="228600"/>
          </a:xfrm>
          <a:prstGeom prst="rect">
            <a:avLst/>
          </a:prstGeom>
        </p:spPr>
      </p:pic>
      <p:sp>
        <p:nvSpPr>
          <p:cNvPr id="24" name="Text 16"/>
          <p:cNvSpPr txBox="1"/>
          <p:nvPr/>
        </p:nvSpPr>
        <p:spPr>
          <a:xfrm>
            <a:off x="1115568" y="3099816"/>
            <a:ext cx="1874520" cy="713232"/>
          </a:xfrm>
          <a:prstGeom prst="rect">
            <a:avLst/>
          </a:prstGeom>
          <a:noFill/>
          <a:ln/>
        </p:spPr>
        <p:txBody>
          <a:bodyPr wrap="square" lIns="0" tIns="0" rIns="0" bIns="0" rtlCol="0" anchor="ctr"/>
          <a:lstStyle/>
          <a:p>
            <a:pPr marL="0" indent="0">
              <a:buNone/>
            </a:pPr>
            <a:r>
              <a:rPr lang="it-IT" sz="1200" b="1" dirty="0">
                <a:solidFill>
                  <a:schemeClr val="tx1"/>
                </a:solidFill>
              </a:rPr>
              <a:t>Domande con premesse false</a:t>
            </a:r>
            <a:endParaRPr lang="it-IT" sz="1200" dirty="0"/>
          </a:p>
        </p:txBody>
      </p:sp>
      <p:sp>
        <p:nvSpPr>
          <p:cNvPr id="25" name="Risposte oltre i documenti forniti"/>
          <p:cNvSpPr/>
          <p:nvPr/>
        </p:nvSpPr>
        <p:spPr>
          <a:xfrm>
            <a:off x="3200400" y="3099816"/>
            <a:ext cx="2606040" cy="713232"/>
          </a:xfrm>
          <a:prstGeom prst="roundRect">
            <a:avLst>
              <a:gd name="adj" fmla="val 10256"/>
            </a:avLst>
          </a:prstGeom>
          <a:solidFill>
            <a:schemeClr val="bg2"/>
          </a:solidFill>
          <a:ln/>
        </p:spPr>
        <p:txBody>
          <a:bodyPr/>
          <a:lstStyle/>
          <a:p>
            <a:endParaRPr lang="it-IT" dirty="0"/>
          </a:p>
        </p:txBody>
      </p:sp>
      <p:sp>
        <p:nvSpPr>
          <p:cNvPr id="26" name="cerchio FiFileMinus"/>
          <p:cNvSpPr/>
          <p:nvPr/>
        </p:nvSpPr>
        <p:spPr>
          <a:xfrm>
            <a:off x="3310128" y="3227832"/>
            <a:ext cx="457200" cy="457200"/>
          </a:xfrm>
          <a:prstGeom prst="ellipse">
            <a:avLst/>
          </a:prstGeom>
          <a:solidFill>
            <a:schemeClr val="accent5"/>
          </a:solidFill>
          <a:ln/>
        </p:spPr>
        <p:txBody>
          <a:bodyPr/>
          <a:lstStyle/>
          <a:p>
            <a:endParaRPr lang="it-IT" dirty="0"/>
          </a:p>
        </p:txBody>
      </p:sp>
      <p:pic>
        <p:nvPicPr>
          <p:cNvPr id="27" name="Image 5" descr="FiFileMinus"/>
          <p:cNvPicPr>
            <a:picLocks noChangeAspect="1"/>
          </p:cNvPicPr>
          <p:nvPr/>
        </p:nvPicPr>
        <p:blipFill>
          <a:blip r:embed="rId8"/>
          <a:stretch>
            <a:fillRect/>
          </a:stretch>
        </p:blipFill>
        <p:spPr>
          <a:xfrm>
            <a:off x="3424428" y="3342132"/>
            <a:ext cx="228600" cy="228600"/>
          </a:xfrm>
          <a:prstGeom prst="rect">
            <a:avLst/>
          </a:prstGeom>
        </p:spPr>
      </p:pic>
      <p:sp>
        <p:nvSpPr>
          <p:cNvPr id="28" name="Text 19"/>
          <p:cNvSpPr txBox="1"/>
          <p:nvPr/>
        </p:nvSpPr>
        <p:spPr>
          <a:xfrm>
            <a:off x="3858768" y="3099816"/>
            <a:ext cx="1874520" cy="713232"/>
          </a:xfrm>
          <a:prstGeom prst="rect">
            <a:avLst/>
          </a:prstGeom>
          <a:noFill/>
          <a:ln/>
        </p:spPr>
        <p:txBody>
          <a:bodyPr wrap="square" lIns="0" tIns="0" rIns="0" bIns="0" rtlCol="0" anchor="ctr"/>
          <a:lstStyle/>
          <a:p>
            <a:pPr marL="0" indent="0">
              <a:buNone/>
            </a:pPr>
            <a:r>
              <a:rPr lang="it-IT" sz="1200" b="1" dirty="0">
                <a:solidFill>
                  <a:schemeClr val="tx1"/>
                </a:solidFill>
              </a:rPr>
              <a:t>Risposte oltre i documenti forniti</a:t>
            </a:r>
            <a:endParaRPr lang="it-IT" sz="1200" dirty="0"/>
          </a:p>
        </p:txBody>
      </p:sp>
      <p:sp>
        <p:nvSpPr>
          <p:cNvPr id="29" name="rischio basso"/>
          <p:cNvSpPr/>
          <p:nvPr/>
        </p:nvSpPr>
        <p:spPr>
          <a:xfrm>
            <a:off x="6080760" y="1051560"/>
            <a:ext cx="2606040" cy="3474720"/>
          </a:xfrm>
          <a:prstGeom prst="roundRect">
            <a:avLst>
              <a:gd name="adj" fmla="val 2807"/>
            </a:avLst>
          </a:prstGeom>
          <a:solidFill>
            <a:schemeClr val="accent6"/>
          </a:solidFill>
          <a:ln/>
        </p:spPr>
        <p:txBody>
          <a:bodyPr/>
          <a:lstStyle/>
          <a:p>
            <a:endParaRPr lang="it-IT" dirty="0"/>
          </a:p>
        </p:txBody>
      </p:sp>
      <p:sp>
        <p:nvSpPr>
          <p:cNvPr id="30" name="Text 21"/>
          <p:cNvSpPr txBox="1"/>
          <p:nvPr/>
        </p:nvSpPr>
        <p:spPr>
          <a:xfrm>
            <a:off x="6263640" y="1188720"/>
            <a:ext cx="2286000" cy="320040"/>
          </a:xfrm>
          <a:prstGeom prst="rect">
            <a:avLst/>
          </a:prstGeom>
          <a:noFill/>
          <a:ln/>
        </p:spPr>
        <p:txBody>
          <a:bodyPr wrap="square" lIns="0" tIns="0" rIns="0" bIns="0" rtlCol="0" anchor="t"/>
          <a:lstStyle/>
          <a:p>
            <a:pPr marL="0" indent="0">
              <a:buNone/>
            </a:pPr>
            <a:r>
              <a:rPr lang="it-IT" sz="1400" b="1" dirty="0">
                <a:solidFill>
                  <a:schemeClr val="accent1"/>
                </a:solidFill>
              </a:rPr>
              <a:t>Rischio più basso</a:t>
            </a:r>
            <a:endParaRPr lang="it-IT" sz="1400" dirty="0"/>
          </a:p>
        </p:txBody>
      </p:sp>
      <p:sp>
        <p:nvSpPr>
          <p:cNvPr id="31" name="Text 22"/>
          <p:cNvSpPr txBox="1"/>
          <p:nvPr/>
        </p:nvSpPr>
        <p:spPr>
          <a:xfrm>
            <a:off x="6263640" y="1645920"/>
            <a:ext cx="2286000" cy="2743200"/>
          </a:xfrm>
          <a:prstGeom prst="rect">
            <a:avLst/>
          </a:prstGeom>
          <a:noFill/>
          <a:ln/>
        </p:spPr>
        <p:txBody>
          <a:bodyPr wrap="square" lIns="0" tIns="0" rIns="0" bIns="0" rtlCol="0" anchor="t"/>
          <a:lstStyle/>
          <a:p>
            <a:pPr marL="177800" indent="-177800">
              <a:spcAft>
                <a:spcPts val="800"/>
              </a:spcAft>
              <a:buSzPct val="100000"/>
              <a:buChar char="•"/>
            </a:pPr>
            <a:r>
              <a:rPr lang="it-IT" sz="1300" dirty="0">
                <a:solidFill>
                  <a:schemeClr val="tx1"/>
                </a:solidFill>
              </a:rPr>
              <a:t>Trasformare un testo fornito: riformulare, tradurre, correggere</a:t>
            </a:r>
            <a:endParaRPr lang="it-IT" sz="1300" dirty="0"/>
          </a:p>
          <a:p>
            <a:pPr marL="177800" indent="-177800">
              <a:spcAft>
                <a:spcPts val="800"/>
              </a:spcAft>
              <a:buSzPct val="100000"/>
              <a:buChar char="•"/>
            </a:pPr>
            <a:r>
              <a:rPr lang="it-IT" sz="1300" dirty="0">
                <a:solidFill>
                  <a:schemeClr val="tx1"/>
                </a:solidFill>
              </a:rPr>
              <a:t>Compiti brevi e ben delimitati</a:t>
            </a:r>
            <a:endParaRPr lang="it-IT" sz="1300" dirty="0"/>
          </a:p>
          <a:p>
            <a:pPr marL="177800" indent="-177800">
              <a:spcAft>
                <a:spcPts val="800"/>
              </a:spcAft>
              <a:buSzPct val="100000"/>
              <a:buChar char="•"/>
            </a:pPr>
            <a:r>
              <a:rPr lang="it-IT" sz="1300" dirty="0">
                <a:solidFill>
                  <a:schemeClr val="tx1"/>
                </a:solidFill>
              </a:rPr>
              <a:t>Risultati facili da controllare</a:t>
            </a:r>
            <a:endParaRPr lang="it-IT" sz="1300" dirty="0"/>
          </a:p>
        </p:txBody>
      </p:sp>
      <p:sp>
        <p:nvSpPr>
          <p:cNvPr id="32" name="Text 23"/>
          <p:cNvSpPr txBox="1"/>
          <p:nvPr/>
        </p:nvSpPr>
        <p:spPr>
          <a:xfrm>
            <a:off x="457200" y="4023360"/>
            <a:ext cx="5394960" cy="502920"/>
          </a:xfrm>
          <a:prstGeom prst="rect">
            <a:avLst/>
          </a:prstGeom>
          <a:noFill/>
          <a:ln/>
        </p:spPr>
        <p:txBody>
          <a:bodyPr wrap="square" lIns="0" tIns="0" rIns="0" bIns="0" rtlCol="0" anchor="t"/>
          <a:lstStyle/>
          <a:p>
            <a:pPr marL="0" indent="0">
              <a:buNone/>
            </a:pPr>
            <a:r>
              <a:rPr lang="it-IT" sz="1200" i="1" dirty="0">
                <a:solidFill>
                  <a:schemeClr val="tx2"/>
                </a:solidFill>
              </a:rPr>
              <a:t>Anche testi lunghi e compiti articolati aumentano le occasioni di errore.</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72</a:t>
            </a:fld>
            <a:endParaRPr lang="it-IT"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Caccia all'allucinazione</a:t>
            </a:r>
            <a:endParaRPr lang="en-US" sz="2600" dirty="0"/>
          </a:p>
        </p:txBody>
      </p:sp>
      <p:sp>
        <p:nvSpPr>
          <p:cNvPr id="4" name="etichetta percorso"/>
          <p:cNvSpPr/>
          <p:nvPr/>
        </p:nvSpPr>
        <p:spPr>
          <a:xfrm>
            <a:off x="7452360" y="402336"/>
            <a:ext cx="1234440" cy="274320"/>
          </a:xfrm>
          <a:prstGeom prst="roundRect">
            <a:avLst>
              <a:gd name="adj" fmla="val 50000"/>
            </a:avLst>
          </a:prstGeom>
          <a:solidFill>
            <a:schemeClr val="bg2"/>
          </a:solidFill>
          <a:ln w="9525">
            <a:solidFill>
              <a:schemeClr val="accent1"/>
            </a:solidFill>
            <a:prstDash val="solid"/>
          </a:ln>
        </p:spPr>
        <p:txBody>
          <a:bodyPr/>
          <a:lstStyle/>
          <a:p>
            <a:endParaRPr lang="it-IT"/>
          </a:p>
        </p:txBody>
      </p:sp>
      <p:sp>
        <p:nvSpPr>
          <p:cNvPr id="5" name="Text 2"/>
          <p:cNvSpPr txBox="1"/>
          <p:nvPr/>
        </p:nvSpPr>
        <p:spPr>
          <a:xfrm>
            <a:off x="7452360" y="402336"/>
            <a:ext cx="1234440" cy="274320"/>
          </a:xfrm>
          <a:prstGeom prst="rect">
            <a:avLst/>
          </a:prstGeom>
          <a:noFill/>
          <a:ln/>
        </p:spPr>
        <p:txBody>
          <a:bodyPr wrap="square" lIns="0" tIns="0" rIns="0" bIns="0" rtlCol="0" anchor="ctr"/>
          <a:lstStyle/>
          <a:p>
            <a:pPr marL="0" indent="0" algn="ctr">
              <a:buNone/>
            </a:pPr>
            <a:r>
              <a:rPr lang="en-US" sz="1000" b="1" dirty="0">
                <a:solidFill>
                  <a:schemeClr val="accent1"/>
                </a:solidFill>
              </a:rPr>
              <a:t>Percorso A e B</a:t>
            </a:r>
            <a:endParaRPr lang="en-US" sz="1000" dirty="0"/>
          </a:p>
        </p:txBody>
      </p:sp>
      <p:sp>
        <p:nvSpPr>
          <p:cNvPr id="6" name="Text 3"/>
          <p:cNvSpPr txBox="1"/>
          <p:nvPr/>
        </p:nvSpPr>
        <p:spPr>
          <a:xfrm>
            <a:off x="457200" y="1005840"/>
            <a:ext cx="5120640" cy="292608"/>
          </a:xfrm>
          <a:prstGeom prst="rect">
            <a:avLst/>
          </a:prstGeom>
          <a:noFill/>
          <a:ln/>
        </p:spPr>
        <p:txBody>
          <a:bodyPr wrap="square" lIns="0" tIns="0" rIns="0" bIns="0" rtlCol="0" anchor="t"/>
          <a:lstStyle/>
          <a:p>
            <a:pPr marL="0" indent="0">
              <a:buNone/>
            </a:pPr>
            <a:r>
              <a:rPr lang="en-US" sz="1300" b="1" dirty="0">
                <a:solidFill>
                  <a:schemeClr val="tx1"/>
                </a:solidFill>
              </a:rPr>
              <a:t>Tre domande a Copilot, senza allegare documenti</a:t>
            </a:r>
            <a:endParaRPr lang="en-US" sz="1300" dirty="0"/>
          </a:p>
        </p:txBody>
      </p:sp>
      <p:sp>
        <p:nvSpPr>
          <p:cNvPr id="7" name="domanda 1"/>
          <p:cNvSpPr/>
          <p:nvPr/>
        </p:nvSpPr>
        <p:spPr>
          <a:xfrm>
            <a:off x="457200" y="1371600"/>
            <a:ext cx="5120640" cy="676656"/>
          </a:xfrm>
          <a:prstGeom prst="roundRect">
            <a:avLst>
              <a:gd name="adj" fmla="val 10811"/>
            </a:avLst>
          </a:prstGeom>
          <a:solidFill>
            <a:schemeClr val="bg2"/>
          </a:solidFill>
          <a:ln/>
        </p:spPr>
        <p:txBody>
          <a:bodyPr/>
          <a:lstStyle/>
          <a:p>
            <a:endParaRPr lang="it-IT"/>
          </a:p>
        </p:txBody>
      </p:sp>
      <p:sp>
        <p:nvSpPr>
          <p:cNvPr id="8" name="Text 5"/>
          <p:cNvSpPr txBox="1"/>
          <p:nvPr/>
        </p:nvSpPr>
        <p:spPr>
          <a:xfrm>
            <a:off x="594360" y="1371600"/>
            <a:ext cx="320040" cy="676656"/>
          </a:xfrm>
          <a:prstGeom prst="rect">
            <a:avLst/>
          </a:prstGeom>
          <a:noFill/>
          <a:ln/>
        </p:spPr>
        <p:txBody>
          <a:bodyPr wrap="square" lIns="0" tIns="0" rIns="0" bIns="0" rtlCol="0" anchor="ctr"/>
          <a:lstStyle/>
          <a:p>
            <a:pPr marL="0" indent="0">
              <a:buNone/>
            </a:pPr>
            <a:r>
              <a:rPr lang="en-US" sz="1800" b="1" dirty="0">
                <a:solidFill>
                  <a:schemeClr val="accent1"/>
                </a:solidFill>
              </a:rPr>
              <a:t>1</a:t>
            </a:r>
            <a:endParaRPr lang="en-US" sz="1800" dirty="0"/>
          </a:p>
        </p:txBody>
      </p:sp>
      <p:sp>
        <p:nvSpPr>
          <p:cNvPr id="9" name="Text 6"/>
          <p:cNvSpPr txBox="1"/>
          <p:nvPr/>
        </p:nvSpPr>
        <p:spPr>
          <a:xfrm>
            <a:off x="960120" y="1371600"/>
            <a:ext cx="4480560" cy="676656"/>
          </a:xfrm>
          <a:prstGeom prst="rect">
            <a:avLst/>
          </a:prstGeom>
          <a:noFill/>
          <a:ln/>
        </p:spPr>
        <p:txBody>
          <a:bodyPr wrap="square" lIns="0" tIns="0" rIns="0" bIns="0" rtlCol="0" anchor="ctr"/>
          <a:lstStyle/>
          <a:p>
            <a:pPr marL="0" indent="0">
              <a:buNone/>
            </a:pPr>
            <a:r>
              <a:rPr lang="en-US" sz="1250" i="1" dirty="0">
                <a:solidFill>
                  <a:schemeClr val="tx1"/>
                </a:solidFill>
              </a:rPr>
              <a:t>“Che cosa significa l'allarme A01 sul forno a tunnel TF‑900 e come si risolve?”</a:t>
            </a:r>
            <a:endParaRPr lang="en-US" sz="1250" dirty="0"/>
          </a:p>
        </p:txBody>
      </p:sp>
      <p:sp>
        <p:nvSpPr>
          <p:cNvPr id="10" name="domanda 2"/>
          <p:cNvSpPr/>
          <p:nvPr/>
        </p:nvSpPr>
        <p:spPr>
          <a:xfrm>
            <a:off x="457200" y="2157984"/>
            <a:ext cx="5120640" cy="676656"/>
          </a:xfrm>
          <a:prstGeom prst="roundRect">
            <a:avLst>
              <a:gd name="adj" fmla="val 10811"/>
            </a:avLst>
          </a:prstGeom>
          <a:solidFill>
            <a:schemeClr val="bg2"/>
          </a:solidFill>
          <a:ln/>
        </p:spPr>
        <p:txBody>
          <a:bodyPr/>
          <a:lstStyle/>
          <a:p>
            <a:endParaRPr lang="it-IT"/>
          </a:p>
        </p:txBody>
      </p:sp>
      <p:sp>
        <p:nvSpPr>
          <p:cNvPr id="11" name="Text 8"/>
          <p:cNvSpPr txBox="1"/>
          <p:nvPr/>
        </p:nvSpPr>
        <p:spPr>
          <a:xfrm>
            <a:off x="594360" y="2157984"/>
            <a:ext cx="320040" cy="676656"/>
          </a:xfrm>
          <a:prstGeom prst="rect">
            <a:avLst/>
          </a:prstGeom>
          <a:noFill/>
          <a:ln/>
        </p:spPr>
        <p:txBody>
          <a:bodyPr wrap="square" lIns="0" tIns="0" rIns="0" bIns="0" rtlCol="0" anchor="ctr"/>
          <a:lstStyle/>
          <a:p>
            <a:pPr marL="0" indent="0">
              <a:buNone/>
            </a:pPr>
            <a:r>
              <a:rPr lang="en-US" sz="1800" b="1" dirty="0">
                <a:solidFill>
                  <a:schemeClr val="accent1"/>
                </a:solidFill>
              </a:rPr>
              <a:t>2</a:t>
            </a:r>
            <a:endParaRPr lang="en-US" sz="1800" dirty="0"/>
          </a:p>
        </p:txBody>
      </p:sp>
      <p:sp>
        <p:nvSpPr>
          <p:cNvPr id="12" name="Text 9"/>
          <p:cNvSpPr txBox="1"/>
          <p:nvPr/>
        </p:nvSpPr>
        <p:spPr>
          <a:xfrm>
            <a:off x="960120" y="2157984"/>
            <a:ext cx="4480560" cy="676656"/>
          </a:xfrm>
          <a:prstGeom prst="rect">
            <a:avLst/>
          </a:prstGeom>
          <a:noFill/>
          <a:ln/>
        </p:spPr>
        <p:txBody>
          <a:bodyPr wrap="square" lIns="0" tIns="0" rIns="0" bIns="0" rtlCol="0" anchor="ctr"/>
          <a:lstStyle/>
          <a:p>
            <a:pPr marL="0" indent="0">
              <a:buNone/>
            </a:pPr>
            <a:r>
              <a:rPr lang="en-US" sz="1250" i="1" dirty="0">
                <a:solidFill>
                  <a:schemeClr val="tx1"/>
                </a:solidFill>
              </a:rPr>
              <a:t>“Qual è la coppia di serraggio dei bulloni del bruciatore del forno TF‑900?”</a:t>
            </a:r>
            <a:endParaRPr lang="en-US" sz="1250" dirty="0"/>
          </a:p>
        </p:txBody>
      </p:sp>
      <p:sp>
        <p:nvSpPr>
          <p:cNvPr id="13" name="domanda 3"/>
          <p:cNvSpPr/>
          <p:nvPr/>
        </p:nvSpPr>
        <p:spPr>
          <a:xfrm>
            <a:off x="457200" y="2944368"/>
            <a:ext cx="5120640" cy="676656"/>
          </a:xfrm>
          <a:prstGeom prst="roundRect">
            <a:avLst>
              <a:gd name="adj" fmla="val 10811"/>
            </a:avLst>
          </a:prstGeom>
          <a:solidFill>
            <a:schemeClr val="bg2"/>
          </a:solidFill>
          <a:ln/>
        </p:spPr>
        <p:txBody>
          <a:bodyPr/>
          <a:lstStyle/>
          <a:p>
            <a:endParaRPr lang="it-IT"/>
          </a:p>
        </p:txBody>
      </p:sp>
      <p:sp>
        <p:nvSpPr>
          <p:cNvPr id="14" name="Text 11"/>
          <p:cNvSpPr txBox="1"/>
          <p:nvPr/>
        </p:nvSpPr>
        <p:spPr>
          <a:xfrm>
            <a:off x="594360" y="2944368"/>
            <a:ext cx="320040" cy="676656"/>
          </a:xfrm>
          <a:prstGeom prst="rect">
            <a:avLst/>
          </a:prstGeom>
          <a:noFill/>
          <a:ln/>
        </p:spPr>
        <p:txBody>
          <a:bodyPr wrap="square" lIns="0" tIns="0" rIns="0" bIns="0" rtlCol="0" anchor="ctr"/>
          <a:lstStyle/>
          <a:p>
            <a:pPr marL="0" indent="0">
              <a:buNone/>
            </a:pPr>
            <a:r>
              <a:rPr lang="en-US" sz="1800" b="1" dirty="0">
                <a:solidFill>
                  <a:schemeClr val="accent1"/>
                </a:solidFill>
              </a:rPr>
              <a:t>3</a:t>
            </a:r>
            <a:endParaRPr lang="en-US" sz="1800" dirty="0"/>
          </a:p>
        </p:txBody>
      </p:sp>
      <p:sp>
        <p:nvSpPr>
          <p:cNvPr id="15" name="Text 12"/>
          <p:cNvSpPr txBox="1"/>
          <p:nvPr/>
        </p:nvSpPr>
        <p:spPr>
          <a:xfrm>
            <a:off x="960120" y="2944368"/>
            <a:ext cx="4480560" cy="676656"/>
          </a:xfrm>
          <a:prstGeom prst="rect">
            <a:avLst/>
          </a:prstGeom>
          <a:noFill/>
          <a:ln/>
        </p:spPr>
        <p:txBody>
          <a:bodyPr wrap="square" lIns="0" tIns="0" rIns="0" bIns="0" rtlCol="0" anchor="ctr"/>
          <a:lstStyle/>
          <a:p>
            <a:pPr marL="0" indent="0">
              <a:buNone/>
            </a:pPr>
            <a:r>
              <a:rPr lang="en-US" sz="1250" i="1" dirty="0">
                <a:solidFill>
                  <a:schemeClr val="tx1"/>
                </a:solidFill>
              </a:rPr>
              <a:t>“Che cosa produce Laser Srl di Zevio e da quanti anni esiste?”</a:t>
            </a:r>
            <a:endParaRPr lang="en-US" sz="1250" dirty="0"/>
          </a:p>
        </p:txBody>
      </p:sp>
      <p:sp>
        <p:nvSpPr>
          <p:cNvPr id="16" name="scheda Che cosa osserviamo"/>
          <p:cNvSpPr/>
          <p:nvPr/>
        </p:nvSpPr>
        <p:spPr>
          <a:xfrm>
            <a:off x="5806440" y="1005840"/>
            <a:ext cx="2880360" cy="2697480"/>
          </a:xfrm>
          <a:prstGeom prst="roundRect">
            <a:avLst>
              <a:gd name="adj" fmla="val 2712"/>
            </a:avLst>
          </a:prstGeom>
          <a:solidFill>
            <a:schemeClr val="accent6"/>
          </a:solidFill>
          <a:ln/>
        </p:spPr>
        <p:txBody>
          <a:bodyPr/>
          <a:lstStyle/>
          <a:p>
            <a:endParaRPr lang="it-IT"/>
          </a:p>
        </p:txBody>
      </p:sp>
      <p:sp>
        <p:nvSpPr>
          <p:cNvPr id="17" name="cerchio FiEye"/>
          <p:cNvSpPr/>
          <p:nvPr/>
        </p:nvSpPr>
        <p:spPr>
          <a:xfrm>
            <a:off x="5989320" y="1188720"/>
            <a:ext cx="457200" cy="457200"/>
          </a:xfrm>
          <a:prstGeom prst="ellipse">
            <a:avLst/>
          </a:prstGeom>
          <a:solidFill>
            <a:schemeClr val="accent1"/>
          </a:solidFill>
          <a:ln/>
        </p:spPr>
        <p:txBody>
          <a:bodyPr/>
          <a:lstStyle/>
          <a:p>
            <a:endParaRPr lang="it-IT"/>
          </a:p>
        </p:txBody>
      </p:sp>
      <p:pic>
        <p:nvPicPr>
          <p:cNvPr id="18" name="Image 0" descr="FiEye"/>
          <p:cNvPicPr>
            <a:picLocks noChangeAspect="1"/>
          </p:cNvPicPr>
          <p:nvPr/>
        </p:nvPicPr>
        <p:blipFill>
          <a:blip r:embed="rId3"/>
          <a:stretch>
            <a:fillRect/>
          </a:stretch>
        </p:blipFill>
        <p:spPr>
          <a:xfrm>
            <a:off x="6103620" y="1303020"/>
            <a:ext cx="228600" cy="228600"/>
          </a:xfrm>
          <a:prstGeom prst="rect">
            <a:avLst/>
          </a:prstGeom>
        </p:spPr>
      </p:pic>
      <p:sp>
        <p:nvSpPr>
          <p:cNvPr id="19" name="Text 15"/>
          <p:cNvSpPr txBox="1"/>
          <p:nvPr/>
        </p:nvSpPr>
        <p:spPr>
          <a:xfrm>
            <a:off x="5989320" y="1755648"/>
            <a:ext cx="2514600" cy="347472"/>
          </a:xfrm>
          <a:prstGeom prst="rect">
            <a:avLst/>
          </a:prstGeom>
          <a:noFill/>
          <a:ln/>
        </p:spPr>
        <p:txBody>
          <a:bodyPr wrap="square" lIns="0" tIns="0" rIns="0" bIns="0" rtlCol="0" anchor="t"/>
          <a:lstStyle/>
          <a:p>
            <a:pPr marL="0" indent="0">
              <a:buNone/>
            </a:pPr>
            <a:r>
              <a:rPr lang="en-US" sz="1500" b="1" dirty="0">
                <a:solidFill>
                  <a:schemeClr val="tx1"/>
                </a:solidFill>
              </a:rPr>
              <a:t>Che cosa osserviamo</a:t>
            </a:r>
            <a:endParaRPr lang="en-US" sz="1500" dirty="0"/>
          </a:p>
        </p:txBody>
      </p:sp>
      <p:sp>
        <p:nvSpPr>
          <p:cNvPr id="20" name="Text 16"/>
          <p:cNvSpPr txBox="1"/>
          <p:nvPr/>
        </p:nvSpPr>
        <p:spPr>
          <a:xfrm>
            <a:off x="5989320" y="2139696"/>
            <a:ext cx="2514600" cy="1453896"/>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chemeClr val="tx2"/>
                </a:solidFill>
              </a:rPr>
              <a:t>Risponde comunque o dice di non sapere?</a:t>
            </a:r>
            <a:endParaRPr lang="en-US" sz="1250" dirty="0"/>
          </a:p>
          <a:p>
            <a:pPr marL="177800" indent="-177800">
              <a:spcAft>
                <a:spcPts val="800"/>
              </a:spcAft>
              <a:buSzPct val="100000"/>
              <a:buChar char="•"/>
            </a:pPr>
            <a:r>
              <a:rPr lang="en-US" sz="1250" dirty="0">
                <a:solidFill>
                  <a:schemeClr val="tx2"/>
                </a:solidFill>
              </a:rPr>
              <a:t>Da dove vengono numeri e date?</a:t>
            </a:r>
            <a:endParaRPr lang="en-US" sz="1250" dirty="0"/>
          </a:p>
          <a:p>
            <a:pPr marL="177800" indent="-177800">
              <a:spcAft>
                <a:spcPts val="800"/>
              </a:spcAft>
              <a:buSzPct val="100000"/>
              <a:buChar char="•"/>
            </a:pPr>
            <a:r>
              <a:rPr lang="en-US" sz="1250" dirty="0">
                <a:solidFill>
                  <a:schemeClr val="tx2"/>
                </a:solidFill>
              </a:rPr>
              <a:t>Cita fonti che possiamo controllare?</a:t>
            </a:r>
            <a:endParaRPr lang="en-US" sz="1250" dirty="0"/>
          </a:p>
        </p:txBody>
      </p:sp>
      <p:sp>
        <p:nvSpPr>
          <p:cNvPr id="21" name="messaggio"/>
          <p:cNvSpPr/>
          <p:nvPr/>
        </p:nvSpPr>
        <p:spPr>
          <a:xfrm>
            <a:off x="457200" y="3886200"/>
            <a:ext cx="8229600" cy="594360"/>
          </a:xfrm>
          <a:prstGeom prst="roundRect">
            <a:avLst>
              <a:gd name="adj" fmla="val 12308"/>
            </a:avLst>
          </a:prstGeom>
          <a:solidFill>
            <a:schemeClr val="tx1"/>
          </a:solidFill>
          <a:ln/>
        </p:spPr>
        <p:txBody>
          <a:bodyPr/>
          <a:lstStyle/>
          <a:p>
            <a:endParaRPr lang="it-IT"/>
          </a:p>
        </p:txBody>
      </p:sp>
      <p:sp>
        <p:nvSpPr>
          <p:cNvPr id="22" name="Text 18"/>
          <p:cNvSpPr txBox="1"/>
          <p:nvPr/>
        </p:nvSpPr>
        <p:spPr>
          <a:xfrm>
            <a:off x="640080" y="3886200"/>
            <a:ext cx="7863840" cy="594360"/>
          </a:xfrm>
          <a:prstGeom prst="rect">
            <a:avLst/>
          </a:prstGeom>
          <a:noFill/>
          <a:ln/>
        </p:spPr>
        <p:txBody>
          <a:bodyPr wrap="square" lIns="0" tIns="0" rIns="0" bIns="0" rtlCol="0" anchor="ctr"/>
          <a:lstStyle/>
          <a:p>
            <a:pPr marL="0" indent="0">
              <a:buNone/>
            </a:pPr>
            <a:r>
              <a:rPr lang="en-US" sz="1300" dirty="0">
                <a:solidFill>
                  <a:schemeClr val="bg1"/>
                </a:solidFill>
              </a:rPr>
              <a:t>Il TF‑900 non esiste: è inventato per questo corso. Una risposta sicura su di lui è un'allucinazione.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91</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3.4</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Bias e distorsioni nei risultati</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Riconoscere le distorsioni permette di valutare meglio i risultati dell'AI e progettare utilizzi più equi e affidabili.</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73</a:t>
            </a:fld>
            <a:endParaRPr lang="it-IT"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Che cosa sono </a:t>
            </a:r>
            <a:r>
              <a:rPr lang="it-IT" sz="2600" b="1" dirty="0" err="1">
                <a:solidFill>
                  <a:schemeClr val="tx1"/>
                </a:solidFill>
              </a:rPr>
              <a:t>bias</a:t>
            </a:r>
            <a:r>
              <a:rPr lang="it-IT" sz="2600" b="1" dirty="0">
                <a:solidFill>
                  <a:schemeClr val="tx1"/>
                </a:solidFill>
              </a:rPr>
              <a:t> e distorsioni</a:t>
            </a:r>
            <a:endParaRPr lang="it-IT" sz="2600" dirty="0"/>
          </a:p>
        </p:txBody>
      </p:sp>
      <p:sp>
        <p:nvSpPr>
          <p:cNvPr id="4" name="scheda Errore casuale"/>
          <p:cNvSpPr/>
          <p:nvPr/>
        </p:nvSpPr>
        <p:spPr>
          <a:xfrm>
            <a:off x="457200" y="1097280"/>
            <a:ext cx="3977640" cy="2011680"/>
          </a:xfrm>
          <a:prstGeom prst="roundRect">
            <a:avLst>
              <a:gd name="adj" fmla="val 3636"/>
            </a:avLst>
          </a:prstGeom>
          <a:solidFill>
            <a:schemeClr val="bg2"/>
          </a:solidFill>
          <a:ln/>
        </p:spPr>
        <p:txBody>
          <a:bodyPr/>
          <a:lstStyle/>
          <a:p>
            <a:endParaRPr lang="it-IT" dirty="0"/>
          </a:p>
        </p:txBody>
      </p:sp>
      <p:sp>
        <p:nvSpPr>
          <p:cNvPr id="5" name="cerchio FiShuffle"/>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Shuffl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1234440" y="128016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Errore casuale</a:t>
            </a:r>
            <a:endParaRPr lang="it-IT" sz="1500" dirty="0"/>
          </a:p>
        </p:txBody>
      </p:sp>
      <p:sp>
        <p:nvSpPr>
          <p:cNvPr id="8" name="Text 4"/>
          <p:cNvSpPr txBox="1"/>
          <p:nvPr/>
        </p:nvSpPr>
        <p:spPr>
          <a:xfrm>
            <a:off x="640080" y="1874520"/>
            <a:ext cx="3611880" cy="1124712"/>
          </a:xfrm>
          <a:prstGeom prst="rect">
            <a:avLst/>
          </a:prstGeom>
          <a:noFill/>
          <a:ln/>
        </p:spPr>
        <p:txBody>
          <a:bodyPr wrap="square" lIns="0" tIns="0" rIns="0" bIns="0" rtlCol="0" anchor="t"/>
          <a:lstStyle/>
          <a:p>
            <a:pPr marL="0" indent="0">
              <a:buNone/>
            </a:pPr>
            <a:r>
              <a:rPr lang="it-IT" sz="1300" dirty="0">
                <a:solidFill>
                  <a:schemeClr val="tx2"/>
                </a:solidFill>
              </a:rPr>
              <a:t>Imprevedibile, in direzioni diverse, tende a compensarsi.</a:t>
            </a:r>
            <a:endParaRPr lang="it-IT" sz="1300" dirty="0"/>
          </a:p>
          <a:p>
            <a:pPr marL="0" indent="0">
              <a:buNone/>
            </a:pPr>
            <a:endParaRPr lang="it-IT" sz="1300" dirty="0"/>
          </a:p>
          <a:p>
            <a:pPr marL="0" indent="0">
              <a:buNone/>
            </a:pPr>
            <a:r>
              <a:rPr lang="it-IT" sz="1300" dirty="0">
                <a:solidFill>
                  <a:schemeClr val="tx2"/>
                </a:solidFill>
              </a:rPr>
              <a:t>Come una pesata imprecisa: un po' sopra, un po' sotto.</a:t>
            </a:r>
            <a:endParaRPr lang="it-IT" sz="1300" dirty="0"/>
          </a:p>
        </p:txBody>
      </p:sp>
      <p:sp>
        <p:nvSpPr>
          <p:cNvPr id="9" name="scheda Bias (distorsione sistematica)"/>
          <p:cNvSpPr/>
          <p:nvPr/>
        </p:nvSpPr>
        <p:spPr>
          <a:xfrm>
            <a:off x="4709160" y="1097280"/>
            <a:ext cx="3977640" cy="2011680"/>
          </a:xfrm>
          <a:prstGeom prst="roundRect">
            <a:avLst>
              <a:gd name="adj" fmla="val 3636"/>
            </a:avLst>
          </a:prstGeom>
          <a:solidFill>
            <a:schemeClr val="accent6"/>
          </a:solidFill>
          <a:ln/>
        </p:spPr>
        <p:txBody>
          <a:bodyPr/>
          <a:lstStyle/>
          <a:p>
            <a:endParaRPr lang="it-IT" dirty="0"/>
          </a:p>
        </p:txBody>
      </p:sp>
      <p:sp>
        <p:nvSpPr>
          <p:cNvPr id="10" name="cerchio FiTrendingUp"/>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TrendingUp"/>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5486400" y="128016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Bias (distorsione sistematica)</a:t>
            </a:r>
            <a:endParaRPr lang="it-IT" sz="1500" dirty="0"/>
          </a:p>
        </p:txBody>
      </p:sp>
      <p:sp>
        <p:nvSpPr>
          <p:cNvPr id="13" name="Text 8"/>
          <p:cNvSpPr txBox="1"/>
          <p:nvPr/>
        </p:nvSpPr>
        <p:spPr>
          <a:xfrm>
            <a:off x="4892040" y="1874520"/>
            <a:ext cx="3611880" cy="1124712"/>
          </a:xfrm>
          <a:prstGeom prst="rect">
            <a:avLst/>
          </a:prstGeom>
          <a:noFill/>
          <a:ln/>
        </p:spPr>
        <p:txBody>
          <a:bodyPr wrap="square" lIns="0" tIns="0" rIns="0" bIns="0" rtlCol="0" anchor="t"/>
          <a:lstStyle/>
          <a:p>
            <a:pPr marL="0" indent="0">
              <a:buNone/>
            </a:pPr>
            <a:r>
              <a:rPr lang="it-IT" sz="1300" dirty="0">
                <a:solidFill>
                  <a:schemeClr val="tx2"/>
                </a:solidFill>
              </a:rPr>
              <a:t>Sempre nella stessa direzione: non si compensa, si accumula.</a:t>
            </a:r>
            <a:endParaRPr lang="it-IT" sz="1300" dirty="0"/>
          </a:p>
          <a:p>
            <a:pPr marL="0" indent="0">
              <a:buNone/>
            </a:pPr>
            <a:endParaRPr lang="it-IT" sz="1300" dirty="0"/>
          </a:p>
          <a:p>
            <a:pPr marL="0" indent="0">
              <a:buNone/>
            </a:pPr>
            <a:r>
              <a:rPr lang="it-IT" sz="1300" dirty="0">
                <a:solidFill>
                  <a:schemeClr val="tx2"/>
                </a:solidFill>
              </a:rPr>
              <a:t>Come una bilancia starata: sempre 100 grammi in più.</a:t>
            </a:r>
            <a:endParaRPr lang="it-IT" sz="1300" dirty="0"/>
          </a:p>
        </p:txBody>
      </p:sp>
      <p:sp>
        <p:nvSpPr>
          <p:cNvPr id="14" name="Text 9"/>
          <p:cNvSpPr txBox="1"/>
          <p:nvPr/>
        </p:nvSpPr>
        <p:spPr>
          <a:xfrm>
            <a:off x="457200" y="3291840"/>
            <a:ext cx="8229600" cy="274320"/>
          </a:xfrm>
          <a:prstGeom prst="rect">
            <a:avLst/>
          </a:prstGeom>
          <a:noFill/>
          <a:ln/>
        </p:spPr>
        <p:txBody>
          <a:bodyPr wrap="square" lIns="0" tIns="0" rIns="0" bIns="0" rtlCol="0" anchor="t"/>
          <a:lstStyle/>
          <a:p>
            <a:pPr marL="0" indent="0">
              <a:buNone/>
            </a:pPr>
            <a:r>
              <a:rPr lang="it-IT" sz="1400" b="1" dirty="0">
                <a:solidFill>
                  <a:schemeClr val="tx1"/>
                </a:solidFill>
              </a:rPr>
              <a:t>Che cosa può riguardare</a:t>
            </a:r>
            <a:endParaRPr lang="it-IT" sz="1400" dirty="0"/>
          </a:p>
        </p:txBody>
      </p:sp>
      <p:sp>
        <p:nvSpPr>
          <p:cNvPr id="15" name="blocco Gruppi sociali, genere, età"/>
          <p:cNvSpPr/>
          <p:nvPr/>
        </p:nvSpPr>
        <p:spPr>
          <a:xfrm>
            <a:off x="457200" y="3657600"/>
            <a:ext cx="1965960" cy="502920"/>
          </a:xfrm>
          <a:prstGeom prst="roundRect">
            <a:avLst>
              <a:gd name="adj" fmla="val 21818"/>
            </a:avLst>
          </a:prstGeom>
          <a:solidFill>
            <a:schemeClr val="bg1"/>
          </a:solidFill>
          <a:ln w="12700">
            <a:solidFill>
              <a:schemeClr val="accent3"/>
            </a:solidFill>
            <a:prstDash val="solid"/>
          </a:ln>
        </p:spPr>
        <p:txBody>
          <a:bodyPr/>
          <a:lstStyle/>
          <a:p>
            <a:endParaRPr lang="it-IT" dirty="0"/>
          </a:p>
        </p:txBody>
      </p:sp>
      <p:sp>
        <p:nvSpPr>
          <p:cNvPr id="16" name="Text 11"/>
          <p:cNvSpPr txBox="1"/>
          <p:nvPr/>
        </p:nvSpPr>
        <p:spPr>
          <a:xfrm>
            <a:off x="502920" y="3657600"/>
            <a:ext cx="1874520" cy="502920"/>
          </a:xfrm>
          <a:prstGeom prst="rect">
            <a:avLst/>
          </a:prstGeom>
          <a:noFill/>
          <a:ln/>
        </p:spPr>
        <p:txBody>
          <a:bodyPr wrap="square" lIns="0" tIns="0" rIns="0" bIns="0" rtlCol="0" anchor="ctr"/>
          <a:lstStyle/>
          <a:p>
            <a:pPr marL="0" indent="0" algn="ctr">
              <a:buNone/>
            </a:pPr>
            <a:r>
              <a:rPr lang="it-IT" sz="1200" b="1" dirty="0">
                <a:solidFill>
                  <a:schemeClr val="tx1"/>
                </a:solidFill>
              </a:rPr>
              <a:t>Gruppi sociali, genere, età</a:t>
            </a:r>
            <a:endParaRPr lang="it-IT" sz="1200" dirty="0"/>
          </a:p>
        </p:txBody>
      </p:sp>
      <p:sp>
        <p:nvSpPr>
          <p:cNvPr id="17" name="blocco Prospettiva culturale e geografica"/>
          <p:cNvSpPr/>
          <p:nvPr/>
        </p:nvSpPr>
        <p:spPr>
          <a:xfrm>
            <a:off x="2560320" y="3657600"/>
            <a:ext cx="1965960" cy="502920"/>
          </a:xfrm>
          <a:prstGeom prst="roundRect">
            <a:avLst>
              <a:gd name="adj" fmla="val 21818"/>
            </a:avLst>
          </a:prstGeom>
          <a:solidFill>
            <a:schemeClr val="bg1"/>
          </a:solidFill>
          <a:ln w="12700">
            <a:solidFill>
              <a:schemeClr val="accent3"/>
            </a:solidFill>
            <a:prstDash val="solid"/>
          </a:ln>
        </p:spPr>
        <p:txBody>
          <a:bodyPr/>
          <a:lstStyle/>
          <a:p>
            <a:endParaRPr lang="it-IT" dirty="0"/>
          </a:p>
        </p:txBody>
      </p:sp>
      <p:sp>
        <p:nvSpPr>
          <p:cNvPr id="18" name="Text 13"/>
          <p:cNvSpPr txBox="1"/>
          <p:nvPr/>
        </p:nvSpPr>
        <p:spPr>
          <a:xfrm>
            <a:off x="2606040" y="3657600"/>
            <a:ext cx="1874520" cy="502920"/>
          </a:xfrm>
          <a:prstGeom prst="rect">
            <a:avLst/>
          </a:prstGeom>
          <a:noFill/>
          <a:ln/>
        </p:spPr>
        <p:txBody>
          <a:bodyPr wrap="square" lIns="0" tIns="0" rIns="0" bIns="0" rtlCol="0" anchor="ctr"/>
          <a:lstStyle/>
          <a:p>
            <a:pPr marL="0" indent="0" algn="ctr">
              <a:buNone/>
            </a:pPr>
            <a:r>
              <a:rPr lang="it-IT" sz="1200" b="1" dirty="0">
                <a:solidFill>
                  <a:schemeClr val="tx1"/>
                </a:solidFill>
              </a:rPr>
              <a:t>Prospettiva culturale e geografica</a:t>
            </a:r>
            <a:endParaRPr lang="it-IT" sz="1200" dirty="0"/>
          </a:p>
        </p:txBody>
      </p:sp>
      <p:sp>
        <p:nvSpPr>
          <p:cNvPr id="19" name="blocco Preferenza per fonti o posizioni"/>
          <p:cNvSpPr/>
          <p:nvPr/>
        </p:nvSpPr>
        <p:spPr>
          <a:xfrm>
            <a:off x="4663440" y="3657600"/>
            <a:ext cx="1965960" cy="502920"/>
          </a:xfrm>
          <a:prstGeom prst="roundRect">
            <a:avLst>
              <a:gd name="adj" fmla="val 21818"/>
            </a:avLst>
          </a:prstGeom>
          <a:solidFill>
            <a:schemeClr val="bg1"/>
          </a:solidFill>
          <a:ln w="12700">
            <a:solidFill>
              <a:schemeClr val="accent3"/>
            </a:solidFill>
            <a:prstDash val="solid"/>
          </a:ln>
        </p:spPr>
        <p:txBody>
          <a:bodyPr/>
          <a:lstStyle/>
          <a:p>
            <a:endParaRPr lang="it-IT" dirty="0"/>
          </a:p>
        </p:txBody>
      </p:sp>
      <p:sp>
        <p:nvSpPr>
          <p:cNvPr id="20" name="Text 15"/>
          <p:cNvSpPr txBox="1"/>
          <p:nvPr/>
        </p:nvSpPr>
        <p:spPr>
          <a:xfrm>
            <a:off x="4709160" y="3657600"/>
            <a:ext cx="1874520" cy="502920"/>
          </a:xfrm>
          <a:prstGeom prst="rect">
            <a:avLst/>
          </a:prstGeom>
          <a:noFill/>
          <a:ln/>
        </p:spPr>
        <p:txBody>
          <a:bodyPr wrap="square" lIns="0" tIns="0" rIns="0" bIns="0" rtlCol="0" anchor="ctr"/>
          <a:lstStyle/>
          <a:p>
            <a:pPr marL="0" indent="0" algn="ctr">
              <a:buNone/>
            </a:pPr>
            <a:r>
              <a:rPr lang="it-IT" sz="1200" b="1" dirty="0">
                <a:solidFill>
                  <a:schemeClr val="tx1"/>
                </a:solidFill>
              </a:rPr>
              <a:t>Preferenza per fonti o posizioni</a:t>
            </a:r>
            <a:endParaRPr lang="it-IT" sz="1200" dirty="0"/>
          </a:p>
        </p:txBody>
      </p:sp>
      <p:sp>
        <p:nvSpPr>
          <p:cNvPr id="21" name="blocco Soluzioni proposte"/>
          <p:cNvSpPr/>
          <p:nvPr/>
        </p:nvSpPr>
        <p:spPr>
          <a:xfrm>
            <a:off x="6766560" y="3657600"/>
            <a:ext cx="1965960" cy="502920"/>
          </a:xfrm>
          <a:prstGeom prst="roundRect">
            <a:avLst>
              <a:gd name="adj" fmla="val 21818"/>
            </a:avLst>
          </a:prstGeom>
          <a:solidFill>
            <a:schemeClr val="bg1"/>
          </a:solidFill>
          <a:ln w="12700">
            <a:solidFill>
              <a:schemeClr val="accent3"/>
            </a:solidFill>
            <a:prstDash val="solid"/>
          </a:ln>
        </p:spPr>
        <p:txBody>
          <a:bodyPr/>
          <a:lstStyle/>
          <a:p>
            <a:endParaRPr lang="it-IT" dirty="0"/>
          </a:p>
        </p:txBody>
      </p:sp>
      <p:sp>
        <p:nvSpPr>
          <p:cNvPr id="22" name="Text 17"/>
          <p:cNvSpPr txBox="1"/>
          <p:nvPr/>
        </p:nvSpPr>
        <p:spPr>
          <a:xfrm>
            <a:off x="6812280" y="3657600"/>
            <a:ext cx="1874520" cy="502920"/>
          </a:xfrm>
          <a:prstGeom prst="rect">
            <a:avLst/>
          </a:prstGeom>
          <a:noFill/>
          <a:ln/>
        </p:spPr>
        <p:txBody>
          <a:bodyPr wrap="square" lIns="0" tIns="0" rIns="0" bIns="0" rtlCol="0" anchor="ctr"/>
          <a:lstStyle/>
          <a:p>
            <a:pPr marL="0" indent="0" algn="ctr">
              <a:buNone/>
            </a:pPr>
            <a:r>
              <a:rPr lang="it-IT" sz="1200" b="1" dirty="0">
                <a:solidFill>
                  <a:schemeClr val="tx1"/>
                </a:solidFill>
              </a:rPr>
              <a:t>Soluzioni proposte</a:t>
            </a:r>
            <a:endParaRPr lang="it-IT" sz="1200" dirty="0"/>
          </a:p>
        </p:txBody>
      </p:sp>
      <p:sp>
        <p:nvSpPr>
          <p:cNvPr id="23" name="Text 18"/>
          <p:cNvSpPr txBox="1"/>
          <p:nvPr/>
        </p:nvSpPr>
        <p:spPr>
          <a:xfrm>
            <a:off x="457200" y="4297680"/>
            <a:ext cx="8229600" cy="274320"/>
          </a:xfrm>
          <a:prstGeom prst="rect">
            <a:avLst/>
          </a:prstGeom>
          <a:noFill/>
          <a:ln/>
        </p:spPr>
        <p:txBody>
          <a:bodyPr wrap="square" lIns="0" tIns="0" rIns="0" bIns="0" rtlCol="0" anchor="t"/>
          <a:lstStyle/>
          <a:p>
            <a:pPr marL="0" indent="0">
              <a:buNone/>
            </a:pPr>
            <a:r>
              <a:rPr lang="it-IT" sz="1200" i="1" dirty="0">
                <a:solidFill>
                  <a:schemeClr val="tx2"/>
                </a:solidFill>
              </a:rPr>
              <a:t>Non implica intenzione, ma gli effetti possono essere reali.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74</a:t>
            </a:fld>
            <a:endParaRPr lang="it-IT"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Da dove nascono le distorsioni</a:t>
            </a:r>
            <a:endParaRPr lang="it-IT" sz="2600" dirty="0"/>
          </a:p>
        </p:txBody>
      </p:sp>
      <p:sp>
        <p:nvSpPr>
          <p:cNvPr id="4" name="Dati di addestramento"/>
          <p:cNvSpPr/>
          <p:nvPr/>
        </p:nvSpPr>
        <p:spPr>
          <a:xfrm>
            <a:off x="457200" y="1097280"/>
            <a:ext cx="1691640" cy="2103120"/>
          </a:xfrm>
          <a:prstGeom prst="roundRect">
            <a:avLst>
              <a:gd name="adj" fmla="val 4324"/>
            </a:avLst>
          </a:prstGeom>
          <a:solidFill>
            <a:schemeClr val="bg2"/>
          </a:solidFill>
          <a:ln/>
        </p:spPr>
        <p:txBody>
          <a:bodyPr/>
          <a:lstStyle/>
          <a:p>
            <a:endParaRPr lang="it-IT" dirty="0"/>
          </a:p>
        </p:txBody>
      </p:sp>
      <p:sp>
        <p:nvSpPr>
          <p:cNvPr id="5" name="cerchio FiDatabase"/>
          <p:cNvSpPr/>
          <p:nvPr/>
        </p:nvSpPr>
        <p:spPr>
          <a:xfrm>
            <a:off x="1024128" y="1234440"/>
            <a:ext cx="548640" cy="548640"/>
          </a:xfrm>
          <a:prstGeom prst="ellipse">
            <a:avLst/>
          </a:prstGeom>
          <a:solidFill>
            <a:schemeClr val="accent1"/>
          </a:solidFill>
          <a:ln/>
        </p:spPr>
        <p:txBody>
          <a:bodyPr/>
          <a:lstStyle/>
          <a:p>
            <a:endParaRPr lang="it-IT" dirty="0"/>
          </a:p>
        </p:txBody>
      </p:sp>
      <p:pic>
        <p:nvPicPr>
          <p:cNvPr id="6" name="Image 0" descr="FiDatabase"/>
          <p:cNvPicPr>
            <a:picLocks noChangeAspect="1"/>
          </p:cNvPicPr>
          <p:nvPr/>
        </p:nvPicPr>
        <p:blipFill>
          <a:blip r:embed="rId3"/>
          <a:stretch>
            <a:fillRect/>
          </a:stretch>
        </p:blipFill>
        <p:spPr>
          <a:xfrm>
            <a:off x="1161288" y="1371600"/>
            <a:ext cx="274320" cy="274320"/>
          </a:xfrm>
          <a:prstGeom prst="rect">
            <a:avLst/>
          </a:prstGeom>
        </p:spPr>
      </p:pic>
      <p:sp>
        <p:nvSpPr>
          <p:cNvPr id="7" name="Text 3"/>
          <p:cNvSpPr txBox="1"/>
          <p:nvPr/>
        </p:nvSpPr>
        <p:spPr>
          <a:xfrm>
            <a:off x="548640" y="1828800"/>
            <a:ext cx="1508760" cy="502920"/>
          </a:xfrm>
          <a:prstGeom prst="rect">
            <a:avLst/>
          </a:prstGeom>
          <a:noFill/>
          <a:ln/>
        </p:spPr>
        <p:txBody>
          <a:bodyPr wrap="square" lIns="0" tIns="0" rIns="0" bIns="0" rtlCol="0" anchor="ctr"/>
          <a:lstStyle/>
          <a:p>
            <a:pPr marL="0" indent="0" algn="ctr">
              <a:buNone/>
            </a:pPr>
            <a:r>
              <a:rPr lang="it-IT" sz="1300" b="1" dirty="0">
                <a:solidFill>
                  <a:schemeClr val="tx1"/>
                </a:solidFill>
              </a:rPr>
              <a:t>Dati di addestramento</a:t>
            </a:r>
            <a:endParaRPr lang="it-IT" sz="1300" dirty="0"/>
          </a:p>
        </p:txBody>
      </p:sp>
      <p:sp>
        <p:nvSpPr>
          <p:cNvPr id="8" name="Text 4"/>
          <p:cNvSpPr txBox="1"/>
          <p:nvPr/>
        </p:nvSpPr>
        <p:spPr>
          <a:xfrm>
            <a:off x="566928" y="2359152"/>
            <a:ext cx="1472184" cy="777240"/>
          </a:xfrm>
          <a:prstGeom prst="rect">
            <a:avLst/>
          </a:prstGeom>
          <a:noFill/>
          <a:ln/>
        </p:spPr>
        <p:txBody>
          <a:bodyPr wrap="square" lIns="0" tIns="0" rIns="0" bIns="0" rtlCol="0" anchor="t"/>
          <a:lstStyle/>
          <a:p>
            <a:pPr marL="0" indent="0" algn="ctr">
              <a:buNone/>
            </a:pPr>
            <a:r>
              <a:rPr lang="it-IT" sz="1100" dirty="0">
                <a:solidFill>
                  <a:schemeClr val="tx2"/>
                </a:solidFill>
              </a:rPr>
              <a:t>Riflettono stereotipi e squilibri di rappresentazione</a:t>
            </a:r>
            <a:endParaRPr lang="it-IT" sz="1100" dirty="0"/>
          </a:p>
        </p:txBody>
      </p:sp>
      <p:sp>
        <p:nvSpPr>
          <p:cNvPr id="9" name="freccia"/>
          <p:cNvSpPr/>
          <p:nvPr/>
        </p:nvSpPr>
        <p:spPr>
          <a:xfrm>
            <a:off x="2157984" y="2011680"/>
            <a:ext cx="164592" cy="292608"/>
          </a:xfrm>
          <a:prstGeom prst="rightArrow">
            <a:avLst/>
          </a:prstGeom>
          <a:solidFill>
            <a:schemeClr val="accent2"/>
          </a:solidFill>
          <a:ln/>
        </p:spPr>
        <p:txBody>
          <a:bodyPr/>
          <a:lstStyle/>
          <a:p>
            <a:endParaRPr lang="it-IT" dirty="0"/>
          </a:p>
        </p:txBody>
      </p:sp>
      <p:sp>
        <p:nvSpPr>
          <p:cNvPr id="10" name="Addestramento e affinamento"/>
          <p:cNvSpPr/>
          <p:nvPr/>
        </p:nvSpPr>
        <p:spPr>
          <a:xfrm>
            <a:off x="2331720" y="1097280"/>
            <a:ext cx="1691640" cy="2103120"/>
          </a:xfrm>
          <a:prstGeom prst="roundRect">
            <a:avLst>
              <a:gd name="adj" fmla="val 4324"/>
            </a:avLst>
          </a:prstGeom>
          <a:solidFill>
            <a:schemeClr val="bg2"/>
          </a:solidFill>
          <a:ln/>
        </p:spPr>
        <p:txBody>
          <a:bodyPr/>
          <a:lstStyle/>
          <a:p>
            <a:endParaRPr lang="it-IT" dirty="0"/>
          </a:p>
        </p:txBody>
      </p:sp>
      <p:sp>
        <p:nvSpPr>
          <p:cNvPr id="11" name="cerchio FiSettings"/>
          <p:cNvSpPr/>
          <p:nvPr/>
        </p:nvSpPr>
        <p:spPr>
          <a:xfrm>
            <a:off x="2898648" y="1234440"/>
            <a:ext cx="548640" cy="548640"/>
          </a:xfrm>
          <a:prstGeom prst="ellipse">
            <a:avLst/>
          </a:prstGeom>
          <a:solidFill>
            <a:schemeClr val="accent1"/>
          </a:solidFill>
          <a:ln/>
        </p:spPr>
        <p:txBody>
          <a:bodyPr/>
          <a:lstStyle/>
          <a:p>
            <a:endParaRPr lang="it-IT" dirty="0"/>
          </a:p>
        </p:txBody>
      </p:sp>
      <p:pic>
        <p:nvPicPr>
          <p:cNvPr id="12" name="Image 1" descr="FiSettings"/>
          <p:cNvPicPr>
            <a:picLocks noChangeAspect="1"/>
          </p:cNvPicPr>
          <p:nvPr/>
        </p:nvPicPr>
        <p:blipFill>
          <a:blip r:embed="rId4"/>
          <a:stretch>
            <a:fillRect/>
          </a:stretch>
        </p:blipFill>
        <p:spPr>
          <a:xfrm>
            <a:off x="3035808" y="1371600"/>
            <a:ext cx="274320" cy="274320"/>
          </a:xfrm>
          <a:prstGeom prst="rect">
            <a:avLst/>
          </a:prstGeom>
        </p:spPr>
      </p:pic>
      <p:sp>
        <p:nvSpPr>
          <p:cNvPr id="13" name="Text 8"/>
          <p:cNvSpPr txBox="1"/>
          <p:nvPr/>
        </p:nvSpPr>
        <p:spPr>
          <a:xfrm>
            <a:off x="2423160" y="1828800"/>
            <a:ext cx="1508760" cy="502920"/>
          </a:xfrm>
          <a:prstGeom prst="rect">
            <a:avLst/>
          </a:prstGeom>
          <a:noFill/>
          <a:ln/>
        </p:spPr>
        <p:txBody>
          <a:bodyPr wrap="square" lIns="0" tIns="0" rIns="0" bIns="0" rtlCol="0" anchor="ctr"/>
          <a:lstStyle/>
          <a:p>
            <a:pPr marL="0" indent="0" algn="ctr">
              <a:buNone/>
            </a:pPr>
            <a:r>
              <a:rPr lang="it-IT" sz="1300" b="1" dirty="0">
                <a:solidFill>
                  <a:schemeClr val="tx1"/>
                </a:solidFill>
              </a:rPr>
              <a:t>Addestramento e affinamento</a:t>
            </a:r>
            <a:endParaRPr lang="it-IT" sz="1300" dirty="0"/>
          </a:p>
        </p:txBody>
      </p:sp>
      <p:sp>
        <p:nvSpPr>
          <p:cNvPr id="14" name="Text 9"/>
          <p:cNvSpPr txBox="1"/>
          <p:nvPr/>
        </p:nvSpPr>
        <p:spPr>
          <a:xfrm>
            <a:off x="2441448" y="2359152"/>
            <a:ext cx="1472184" cy="777240"/>
          </a:xfrm>
          <a:prstGeom prst="rect">
            <a:avLst/>
          </a:prstGeom>
          <a:noFill/>
          <a:ln/>
        </p:spPr>
        <p:txBody>
          <a:bodyPr wrap="square" lIns="0" tIns="0" rIns="0" bIns="0" rtlCol="0" anchor="t"/>
          <a:lstStyle/>
          <a:p>
            <a:pPr marL="0" indent="0" algn="ctr">
              <a:buNone/>
            </a:pPr>
            <a:r>
              <a:rPr lang="it-IT" sz="1100" dirty="0">
                <a:solidFill>
                  <a:schemeClr val="tx2"/>
                </a:solidFill>
              </a:rPr>
              <a:t>Scelte su dati, filtri e comportamenti premiati</a:t>
            </a:r>
            <a:endParaRPr lang="it-IT" sz="1100" dirty="0"/>
          </a:p>
        </p:txBody>
      </p:sp>
      <p:sp>
        <p:nvSpPr>
          <p:cNvPr id="15" name="freccia"/>
          <p:cNvSpPr/>
          <p:nvPr/>
        </p:nvSpPr>
        <p:spPr>
          <a:xfrm>
            <a:off x="4032504" y="2011680"/>
            <a:ext cx="164592" cy="292608"/>
          </a:xfrm>
          <a:prstGeom prst="rightArrow">
            <a:avLst/>
          </a:prstGeom>
          <a:solidFill>
            <a:schemeClr val="accent2"/>
          </a:solidFill>
          <a:ln/>
        </p:spPr>
        <p:txBody>
          <a:bodyPr/>
          <a:lstStyle/>
          <a:p>
            <a:endParaRPr lang="it-IT" dirty="0"/>
          </a:p>
        </p:txBody>
      </p:sp>
      <p:sp>
        <p:nvSpPr>
          <p:cNvPr id="16" name="Contesto d'uso"/>
          <p:cNvSpPr/>
          <p:nvPr/>
        </p:nvSpPr>
        <p:spPr>
          <a:xfrm>
            <a:off x="4206240" y="1097280"/>
            <a:ext cx="1691640" cy="2103120"/>
          </a:xfrm>
          <a:prstGeom prst="roundRect">
            <a:avLst>
              <a:gd name="adj" fmla="val 4324"/>
            </a:avLst>
          </a:prstGeom>
          <a:solidFill>
            <a:schemeClr val="bg2"/>
          </a:solidFill>
          <a:ln/>
        </p:spPr>
        <p:txBody>
          <a:bodyPr/>
          <a:lstStyle/>
          <a:p>
            <a:endParaRPr lang="it-IT" dirty="0"/>
          </a:p>
        </p:txBody>
      </p:sp>
      <p:sp>
        <p:nvSpPr>
          <p:cNvPr id="17" name="cerchio FiMessageSquare"/>
          <p:cNvSpPr/>
          <p:nvPr/>
        </p:nvSpPr>
        <p:spPr>
          <a:xfrm>
            <a:off x="4773168" y="1234440"/>
            <a:ext cx="548640" cy="548640"/>
          </a:xfrm>
          <a:prstGeom prst="ellipse">
            <a:avLst/>
          </a:prstGeom>
          <a:solidFill>
            <a:schemeClr val="accent1"/>
          </a:solidFill>
          <a:ln/>
        </p:spPr>
        <p:txBody>
          <a:bodyPr/>
          <a:lstStyle/>
          <a:p>
            <a:endParaRPr lang="it-IT" dirty="0"/>
          </a:p>
        </p:txBody>
      </p:sp>
      <p:pic>
        <p:nvPicPr>
          <p:cNvPr id="18" name="Image 2" descr="FiMessageSquare"/>
          <p:cNvPicPr>
            <a:picLocks noChangeAspect="1"/>
          </p:cNvPicPr>
          <p:nvPr/>
        </p:nvPicPr>
        <p:blipFill>
          <a:blip r:embed="rId5"/>
          <a:stretch>
            <a:fillRect/>
          </a:stretch>
        </p:blipFill>
        <p:spPr>
          <a:xfrm>
            <a:off x="4910328" y="1371600"/>
            <a:ext cx="274320" cy="274320"/>
          </a:xfrm>
          <a:prstGeom prst="rect">
            <a:avLst/>
          </a:prstGeom>
        </p:spPr>
      </p:pic>
      <p:sp>
        <p:nvSpPr>
          <p:cNvPr id="19" name="Text 13"/>
          <p:cNvSpPr txBox="1"/>
          <p:nvPr/>
        </p:nvSpPr>
        <p:spPr>
          <a:xfrm>
            <a:off x="4297680" y="1828800"/>
            <a:ext cx="1508760" cy="502920"/>
          </a:xfrm>
          <a:prstGeom prst="rect">
            <a:avLst/>
          </a:prstGeom>
          <a:noFill/>
          <a:ln/>
        </p:spPr>
        <p:txBody>
          <a:bodyPr wrap="square" lIns="0" tIns="0" rIns="0" bIns="0" rtlCol="0" anchor="ctr"/>
          <a:lstStyle/>
          <a:p>
            <a:pPr marL="0" indent="0" algn="ctr">
              <a:buNone/>
            </a:pPr>
            <a:r>
              <a:rPr lang="it-IT" sz="1300" b="1" dirty="0">
                <a:solidFill>
                  <a:schemeClr val="tx1"/>
                </a:solidFill>
              </a:rPr>
              <a:t>Contesto d'uso</a:t>
            </a:r>
            <a:endParaRPr lang="it-IT" sz="1300" dirty="0"/>
          </a:p>
        </p:txBody>
      </p:sp>
      <p:sp>
        <p:nvSpPr>
          <p:cNvPr id="20" name="Text 14"/>
          <p:cNvSpPr txBox="1"/>
          <p:nvPr/>
        </p:nvSpPr>
        <p:spPr>
          <a:xfrm>
            <a:off x="4315968" y="2359152"/>
            <a:ext cx="1472184" cy="777240"/>
          </a:xfrm>
          <a:prstGeom prst="rect">
            <a:avLst/>
          </a:prstGeom>
          <a:noFill/>
          <a:ln/>
        </p:spPr>
        <p:txBody>
          <a:bodyPr wrap="square" lIns="0" tIns="0" rIns="0" bIns="0" rtlCol="0" anchor="t"/>
          <a:lstStyle/>
          <a:p>
            <a:pPr marL="0" indent="0" algn="ctr">
              <a:buNone/>
            </a:pPr>
            <a:r>
              <a:rPr lang="it-IT" sz="1100" dirty="0">
                <a:solidFill>
                  <a:schemeClr val="tx2"/>
                </a:solidFill>
              </a:rPr>
              <a:t>Istruzioni, formulazione delle domande, documenti</a:t>
            </a:r>
            <a:endParaRPr lang="it-IT" sz="1100" dirty="0"/>
          </a:p>
        </p:txBody>
      </p:sp>
      <p:sp>
        <p:nvSpPr>
          <p:cNvPr id="21" name="sintesi origini"/>
          <p:cNvSpPr/>
          <p:nvPr/>
        </p:nvSpPr>
        <p:spPr>
          <a:xfrm>
            <a:off x="457200" y="3383280"/>
            <a:ext cx="5440680" cy="1143000"/>
          </a:xfrm>
          <a:prstGeom prst="roundRect">
            <a:avLst>
              <a:gd name="adj" fmla="val 6400"/>
            </a:avLst>
          </a:prstGeom>
          <a:solidFill>
            <a:schemeClr val="accent6"/>
          </a:solidFill>
          <a:ln/>
        </p:spPr>
        <p:txBody>
          <a:bodyPr/>
          <a:lstStyle/>
          <a:p>
            <a:endParaRPr lang="it-IT" dirty="0"/>
          </a:p>
        </p:txBody>
      </p:sp>
      <p:sp>
        <p:nvSpPr>
          <p:cNvPr id="22" name="Text 16"/>
          <p:cNvSpPr txBox="1"/>
          <p:nvPr/>
        </p:nvSpPr>
        <p:spPr>
          <a:xfrm>
            <a:off x="640080" y="3383280"/>
            <a:ext cx="5120640" cy="1143000"/>
          </a:xfrm>
          <a:prstGeom prst="rect">
            <a:avLst/>
          </a:prstGeom>
          <a:noFill/>
          <a:ln/>
        </p:spPr>
        <p:txBody>
          <a:bodyPr wrap="square" lIns="0" tIns="0" rIns="0" bIns="0" rtlCol="0" anchor="ctr"/>
          <a:lstStyle/>
          <a:p>
            <a:pPr marL="0" indent="0">
              <a:buNone/>
            </a:pPr>
            <a:r>
              <a:rPr lang="it-IT" sz="1400" dirty="0">
                <a:solidFill>
                  <a:schemeClr val="tx1"/>
                </a:solidFill>
              </a:rPr>
              <a:t>Dati non rappresentativi e scelte di progettazione possono introdurre distorsioni sistematiche. La valutazione su casi e gruppi differenti aiuta a identificarle.</a:t>
            </a:r>
            <a:endParaRPr lang="it-IT" sz="1400" dirty="0"/>
          </a:p>
        </p:txBody>
      </p:sp>
      <p:sp>
        <p:nvSpPr>
          <p:cNvPr id="23" name="caso Amazon"/>
          <p:cNvSpPr/>
          <p:nvPr/>
        </p:nvSpPr>
        <p:spPr>
          <a:xfrm>
            <a:off x="6126480" y="1097280"/>
            <a:ext cx="2560320" cy="3429000"/>
          </a:xfrm>
          <a:prstGeom prst="roundRect">
            <a:avLst>
              <a:gd name="adj" fmla="val 2857"/>
            </a:avLst>
          </a:prstGeom>
          <a:solidFill>
            <a:schemeClr val="tx1"/>
          </a:solidFill>
          <a:ln/>
        </p:spPr>
        <p:txBody>
          <a:bodyPr/>
          <a:lstStyle/>
          <a:p>
            <a:endParaRPr lang="it-IT" dirty="0"/>
          </a:p>
        </p:txBody>
      </p:sp>
      <p:sp>
        <p:nvSpPr>
          <p:cNvPr id="24" name="Text 18"/>
          <p:cNvSpPr txBox="1"/>
          <p:nvPr/>
        </p:nvSpPr>
        <p:spPr>
          <a:xfrm>
            <a:off x="6309360" y="1234440"/>
            <a:ext cx="2194560" cy="274320"/>
          </a:xfrm>
          <a:prstGeom prst="rect">
            <a:avLst/>
          </a:prstGeom>
          <a:noFill/>
          <a:ln/>
        </p:spPr>
        <p:txBody>
          <a:bodyPr wrap="square" lIns="0" tIns="0" rIns="0" bIns="0" rtlCol="0" anchor="t"/>
          <a:lstStyle/>
          <a:p>
            <a:pPr marL="0" indent="0">
              <a:buNone/>
            </a:pPr>
            <a:r>
              <a:rPr lang="it-IT" sz="1000" b="1" kern="0" spc="200" dirty="0">
                <a:solidFill>
                  <a:schemeClr val="accent1"/>
                </a:solidFill>
              </a:rPr>
              <a:t>UN CASO NOTO</a:t>
            </a:r>
            <a:endParaRPr lang="it-IT" sz="1000" dirty="0"/>
          </a:p>
        </p:txBody>
      </p:sp>
      <p:sp>
        <p:nvSpPr>
          <p:cNvPr id="25" name="Text 19"/>
          <p:cNvSpPr txBox="1"/>
          <p:nvPr/>
        </p:nvSpPr>
        <p:spPr>
          <a:xfrm>
            <a:off x="6309360" y="1508760"/>
            <a:ext cx="2240280" cy="548640"/>
          </a:xfrm>
          <a:prstGeom prst="rect">
            <a:avLst/>
          </a:prstGeom>
          <a:noFill/>
          <a:ln/>
        </p:spPr>
        <p:txBody>
          <a:bodyPr wrap="square" lIns="0" tIns="0" rIns="0" bIns="0" rtlCol="0" anchor="t"/>
          <a:lstStyle/>
          <a:p>
            <a:pPr marL="0" indent="0">
              <a:buNone/>
            </a:pPr>
            <a:r>
              <a:rPr lang="it-IT" sz="1400" b="1" dirty="0">
                <a:solidFill>
                  <a:schemeClr val="bg1"/>
                </a:solidFill>
              </a:rPr>
              <a:t>Selezione dei curricula, 2018</a:t>
            </a:r>
            <a:endParaRPr lang="it-IT" sz="1400" dirty="0"/>
          </a:p>
        </p:txBody>
      </p:sp>
      <p:sp>
        <p:nvSpPr>
          <p:cNvPr id="26" name="Text 20"/>
          <p:cNvSpPr txBox="1"/>
          <p:nvPr/>
        </p:nvSpPr>
        <p:spPr>
          <a:xfrm>
            <a:off x="6309360" y="2103120"/>
            <a:ext cx="2240280" cy="1828800"/>
          </a:xfrm>
          <a:prstGeom prst="rect">
            <a:avLst/>
          </a:prstGeom>
          <a:noFill/>
          <a:ln/>
        </p:spPr>
        <p:txBody>
          <a:bodyPr wrap="square" lIns="0" tIns="0" rIns="0" bIns="0" rtlCol="0" anchor="t"/>
          <a:lstStyle/>
          <a:p>
            <a:pPr marL="0" indent="0">
              <a:buNone/>
            </a:pPr>
            <a:r>
              <a:rPr lang="it-IT" sz="1200" dirty="0">
                <a:solidFill>
                  <a:schemeClr val="accent3"/>
                </a:solidFill>
              </a:rPr>
              <a:t>Addestrato su dieci anni di assunzioni in prevalenza maschili, il sistema penalizzava i curricula con la parola "women". Fu abbandonato.</a:t>
            </a:r>
            <a:endParaRPr lang="it-IT" sz="1200" dirty="0"/>
          </a:p>
        </p:txBody>
      </p:sp>
      <p:sp>
        <p:nvSpPr>
          <p:cNvPr id="27" name="Text 21"/>
          <p:cNvSpPr txBox="1"/>
          <p:nvPr/>
        </p:nvSpPr>
        <p:spPr>
          <a:xfrm>
            <a:off x="6309360" y="4160520"/>
            <a:ext cx="2240280" cy="274320"/>
          </a:xfrm>
          <a:prstGeom prst="rect">
            <a:avLst/>
          </a:prstGeom>
          <a:noFill/>
          <a:ln/>
        </p:spPr>
        <p:txBody>
          <a:bodyPr wrap="square" lIns="0" tIns="0" rIns="0" bIns="0" rtlCol="0" anchor="t"/>
          <a:lstStyle/>
          <a:p>
            <a:pPr marL="0" indent="0">
              <a:buNone/>
            </a:pPr>
            <a:r>
              <a:rPr lang="it-IT" sz="1000" dirty="0">
                <a:solidFill>
                  <a:schemeClr val="accent2"/>
                </a:solidFill>
              </a:rPr>
              <a:t>Fonte: Reuters, ottobre 2018</a:t>
            </a:r>
            <a:endParaRPr lang="it-IT" sz="10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75</a:t>
            </a:fld>
            <a:endParaRPr lang="it-IT"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L'influenza del contesto e delle istruzioni</a:t>
            </a:r>
            <a:endParaRPr lang="it-IT" sz="2600" dirty="0"/>
          </a:p>
        </p:txBody>
      </p:sp>
      <p:sp>
        <p:nvSpPr>
          <p:cNvPr id="4" name="scheda Domanda orientata"/>
          <p:cNvSpPr/>
          <p:nvPr/>
        </p:nvSpPr>
        <p:spPr>
          <a:xfrm>
            <a:off x="457200" y="1097280"/>
            <a:ext cx="3977640" cy="2286000"/>
          </a:xfrm>
          <a:prstGeom prst="roundRect">
            <a:avLst>
              <a:gd name="adj" fmla="val 3200"/>
            </a:avLst>
          </a:prstGeom>
          <a:solidFill>
            <a:schemeClr val="bg2"/>
          </a:solidFill>
          <a:ln/>
        </p:spPr>
        <p:txBody>
          <a:bodyPr/>
          <a:lstStyle/>
          <a:p>
            <a:endParaRPr lang="it-IT" dirty="0"/>
          </a:p>
        </p:txBody>
      </p:sp>
      <p:sp>
        <p:nvSpPr>
          <p:cNvPr id="5" name="cerchio FiArrowRight"/>
          <p:cNvSpPr/>
          <p:nvPr/>
        </p:nvSpPr>
        <p:spPr>
          <a:xfrm>
            <a:off x="640080" y="1280160"/>
            <a:ext cx="457200" cy="457200"/>
          </a:xfrm>
          <a:prstGeom prst="ellipse">
            <a:avLst/>
          </a:prstGeom>
          <a:solidFill>
            <a:schemeClr val="accent5"/>
          </a:solidFill>
          <a:ln/>
        </p:spPr>
        <p:txBody>
          <a:bodyPr/>
          <a:lstStyle/>
          <a:p>
            <a:endParaRPr lang="it-IT" dirty="0"/>
          </a:p>
        </p:txBody>
      </p:sp>
      <p:pic>
        <p:nvPicPr>
          <p:cNvPr id="6" name="Image 0" descr="FiArrowRight"/>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500" b="1" dirty="0">
                <a:solidFill>
                  <a:schemeClr val="tx1"/>
                </a:solidFill>
              </a:rPr>
              <a:t>Domanda orientata</a:t>
            </a:r>
            <a:endParaRPr lang="it-IT" sz="1500" dirty="0"/>
          </a:p>
        </p:txBody>
      </p:sp>
      <p:sp>
        <p:nvSpPr>
          <p:cNvPr id="8" name="Text 4"/>
          <p:cNvSpPr txBox="1"/>
          <p:nvPr/>
        </p:nvSpPr>
        <p:spPr>
          <a:xfrm>
            <a:off x="640080" y="2231136"/>
            <a:ext cx="3611880" cy="1042416"/>
          </a:xfrm>
          <a:prstGeom prst="rect">
            <a:avLst/>
          </a:prstGeom>
          <a:noFill/>
          <a:ln/>
        </p:spPr>
        <p:txBody>
          <a:bodyPr wrap="square" lIns="0" tIns="0" rIns="0" bIns="0" rtlCol="0" anchor="t"/>
          <a:lstStyle/>
          <a:p>
            <a:pPr marL="0" indent="0">
              <a:spcAft>
                <a:spcPts val="1000"/>
              </a:spcAft>
              <a:buNone/>
            </a:pPr>
            <a:r>
              <a:rPr lang="it-IT" sz="1300" b="1" i="1" dirty="0">
                <a:solidFill>
                  <a:schemeClr val="tx1"/>
                </a:solidFill>
              </a:rPr>
              <a:t>"Perché il fornitore A è la scelta migliore?"</a:t>
            </a:r>
            <a:endParaRPr lang="it-IT" sz="1300" dirty="0"/>
          </a:p>
          <a:p>
            <a:pPr marL="0" indent="0">
              <a:buNone/>
            </a:pPr>
            <a:r>
              <a:rPr lang="it-IT" sz="1300" dirty="0">
                <a:solidFill>
                  <a:schemeClr val="tx2"/>
                </a:solidFill>
              </a:rPr>
              <a:t>Presuppone la conclusione: la risposta elencherà argomenti a favore di A.</a:t>
            </a:r>
            <a:endParaRPr lang="it-IT" sz="1300" dirty="0"/>
          </a:p>
        </p:txBody>
      </p:sp>
      <p:sp>
        <p:nvSpPr>
          <p:cNvPr id="9" name="scheda Domanda neutra"/>
          <p:cNvSpPr/>
          <p:nvPr/>
        </p:nvSpPr>
        <p:spPr>
          <a:xfrm>
            <a:off x="4709160" y="1097280"/>
            <a:ext cx="3977640" cy="2286000"/>
          </a:xfrm>
          <a:prstGeom prst="roundRect">
            <a:avLst>
              <a:gd name="adj" fmla="val 3200"/>
            </a:avLst>
          </a:prstGeom>
          <a:solidFill>
            <a:schemeClr val="accent6"/>
          </a:solidFill>
          <a:ln/>
        </p:spPr>
        <p:txBody>
          <a:bodyPr/>
          <a:lstStyle/>
          <a:p>
            <a:endParaRPr lang="it-IT" dirty="0"/>
          </a:p>
        </p:txBody>
      </p:sp>
      <p:sp>
        <p:nvSpPr>
          <p:cNvPr id="10" name="cerchio FiSliders"/>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Sliders"/>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500" b="1" dirty="0">
                <a:solidFill>
                  <a:schemeClr val="tx1"/>
                </a:solidFill>
              </a:rPr>
              <a:t>Domanda neutra</a:t>
            </a:r>
            <a:endParaRPr lang="it-IT" sz="1500" dirty="0"/>
          </a:p>
        </p:txBody>
      </p:sp>
      <p:sp>
        <p:nvSpPr>
          <p:cNvPr id="13" name="Text 8"/>
          <p:cNvSpPr txBox="1"/>
          <p:nvPr/>
        </p:nvSpPr>
        <p:spPr>
          <a:xfrm>
            <a:off x="4892040" y="2231136"/>
            <a:ext cx="3611880" cy="1042416"/>
          </a:xfrm>
          <a:prstGeom prst="rect">
            <a:avLst/>
          </a:prstGeom>
          <a:noFill/>
          <a:ln/>
        </p:spPr>
        <p:txBody>
          <a:bodyPr wrap="square" lIns="0" tIns="0" rIns="0" bIns="0" rtlCol="0" anchor="t"/>
          <a:lstStyle/>
          <a:p>
            <a:pPr marL="0" indent="0">
              <a:spcAft>
                <a:spcPts val="1000"/>
              </a:spcAft>
              <a:buNone/>
            </a:pPr>
            <a:r>
              <a:rPr lang="it-IT" sz="1300" b="1" i="1" dirty="0">
                <a:solidFill>
                  <a:schemeClr val="tx1"/>
                </a:solidFill>
              </a:rPr>
              <a:t>"Quali sono vantaggi e svantaggi di A e B rispetto a questi criteri?"</a:t>
            </a:r>
            <a:endParaRPr lang="it-IT" sz="1300" dirty="0"/>
          </a:p>
          <a:p>
            <a:pPr marL="0" indent="0">
              <a:buNone/>
            </a:pPr>
            <a:r>
              <a:rPr lang="it-IT" sz="1300" dirty="0">
                <a:solidFill>
                  <a:schemeClr val="tx2"/>
                </a:solidFill>
              </a:rPr>
              <a:t>Favorisce un confronto più equilibrato.</a:t>
            </a:r>
            <a:endParaRPr lang="it-IT" sz="1300" dirty="0"/>
          </a:p>
        </p:txBody>
      </p:sp>
      <p:sp>
        <p:nvSpPr>
          <p:cNvPr id="14" name="Text 9"/>
          <p:cNvSpPr txBox="1"/>
          <p:nvPr/>
        </p:nvSpPr>
        <p:spPr>
          <a:xfrm>
            <a:off x="457200" y="3566160"/>
            <a:ext cx="8229600" cy="274320"/>
          </a:xfrm>
          <a:prstGeom prst="rect">
            <a:avLst/>
          </a:prstGeom>
          <a:noFill/>
          <a:ln/>
        </p:spPr>
        <p:txBody>
          <a:bodyPr wrap="square" lIns="0" tIns="0" rIns="0" bIns="0" rtlCol="0" anchor="t"/>
          <a:lstStyle/>
          <a:p>
            <a:pPr marL="0" indent="0">
              <a:buNone/>
            </a:pPr>
            <a:r>
              <a:rPr lang="it-IT" sz="1400" b="1" dirty="0">
                <a:solidFill>
                  <a:schemeClr val="tx1"/>
                </a:solidFill>
              </a:rPr>
              <a:t>Possono orientare le risposte</a:t>
            </a:r>
            <a:endParaRPr lang="it-IT" sz="1400" dirty="0"/>
          </a:p>
        </p:txBody>
      </p:sp>
      <p:sp>
        <p:nvSpPr>
          <p:cNvPr id="15" name="blocco La formulazione della domanda"/>
          <p:cNvSpPr/>
          <p:nvPr/>
        </p:nvSpPr>
        <p:spPr>
          <a:xfrm>
            <a:off x="457200" y="3931920"/>
            <a:ext cx="2615184" cy="548640"/>
          </a:xfrm>
          <a:prstGeom prst="roundRect">
            <a:avLst>
              <a:gd name="adj" fmla="val 20000"/>
            </a:avLst>
          </a:prstGeom>
          <a:solidFill>
            <a:schemeClr val="bg2"/>
          </a:solidFill>
          <a:ln/>
        </p:spPr>
        <p:txBody>
          <a:bodyPr/>
          <a:lstStyle/>
          <a:p>
            <a:endParaRPr lang="it-IT" dirty="0"/>
          </a:p>
        </p:txBody>
      </p:sp>
      <p:sp>
        <p:nvSpPr>
          <p:cNvPr id="16" name="Text 11"/>
          <p:cNvSpPr txBox="1"/>
          <p:nvPr/>
        </p:nvSpPr>
        <p:spPr>
          <a:xfrm>
            <a:off x="502920" y="3931920"/>
            <a:ext cx="2523744" cy="548640"/>
          </a:xfrm>
          <a:prstGeom prst="rect">
            <a:avLst/>
          </a:prstGeom>
          <a:noFill/>
          <a:ln/>
        </p:spPr>
        <p:txBody>
          <a:bodyPr wrap="square" lIns="0" tIns="0" rIns="0" bIns="0" rtlCol="0" anchor="ctr"/>
          <a:lstStyle/>
          <a:p>
            <a:pPr marL="0" indent="0" algn="ctr">
              <a:buNone/>
            </a:pPr>
            <a:r>
              <a:rPr lang="it-IT" sz="1300" b="1" dirty="0">
                <a:solidFill>
                  <a:schemeClr val="tx1"/>
                </a:solidFill>
              </a:rPr>
              <a:t>La formulazione della domanda</a:t>
            </a:r>
            <a:endParaRPr lang="it-IT" sz="1300" dirty="0"/>
          </a:p>
        </p:txBody>
      </p:sp>
      <p:sp>
        <p:nvSpPr>
          <p:cNvPr id="17" name="blocco I documenti forniti"/>
          <p:cNvSpPr/>
          <p:nvPr/>
        </p:nvSpPr>
        <p:spPr>
          <a:xfrm>
            <a:off x="3264408" y="3931920"/>
            <a:ext cx="2615184" cy="548640"/>
          </a:xfrm>
          <a:prstGeom prst="roundRect">
            <a:avLst>
              <a:gd name="adj" fmla="val 20000"/>
            </a:avLst>
          </a:prstGeom>
          <a:solidFill>
            <a:schemeClr val="bg2"/>
          </a:solidFill>
          <a:ln/>
        </p:spPr>
        <p:txBody>
          <a:bodyPr/>
          <a:lstStyle/>
          <a:p>
            <a:endParaRPr lang="it-IT" dirty="0"/>
          </a:p>
        </p:txBody>
      </p:sp>
      <p:sp>
        <p:nvSpPr>
          <p:cNvPr id="18" name="Text 13"/>
          <p:cNvSpPr txBox="1"/>
          <p:nvPr/>
        </p:nvSpPr>
        <p:spPr>
          <a:xfrm>
            <a:off x="3310128" y="3931920"/>
            <a:ext cx="2523744" cy="548640"/>
          </a:xfrm>
          <a:prstGeom prst="rect">
            <a:avLst/>
          </a:prstGeom>
          <a:noFill/>
          <a:ln/>
        </p:spPr>
        <p:txBody>
          <a:bodyPr wrap="square" lIns="0" tIns="0" rIns="0" bIns="0" rtlCol="0" anchor="ctr"/>
          <a:lstStyle/>
          <a:p>
            <a:pPr marL="0" indent="0" algn="ctr">
              <a:buNone/>
            </a:pPr>
            <a:r>
              <a:rPr lang="it-IT" sz="1300" b="1" dirty="0">
                <a:solidFill>
                  <a:schemeClr val="tx1"/>
                </a:solidFill>
              </a:rPr>
              <a:t>I documenti forniti</a:t>
            </a:r>
            <a:endParaRPr lang="it-IT" sz="1300" dirty="0"/>
          </a:p>
        </p:txBody>
      </p:sp>
      <p:sp>
        <p:nvSpPr>
          <p:cNvPr id="19" name="blocco Le istruzioni di sistema"/>
          <p:cNvSpPr/>
          <p:nvPr/>
        </p:nvSpPr>
        <p:spPr>
          <a:xfrm>
            <a:off x="6071616" y="3931920"/>
            <a:ext cx="2615184" cy="548640"/>
          </a:xfrm>
          <a:prstGeom prst="roundRect">
            <a:avLst>
              <a:gd name="adj" fmla="val 20000"/>
            </a:avLst>
          </a:prstGeom>
          <a:solidFill>
            <a:schemeClr val="bg2"/>
          </a:solidFill>
          <a:ln/>
        </p:spPr>
        <p:txBody>
          <a:bodyPr/>
          <a:lstStyle/>
          <a:p>
            <a:endParaRPr lang="it-IT" dirty="0"/>
          </a:p>
        </p:txBody>
      </p:sp>
      <p:sp>
        <p:nvSpPr>
          <p:cNvPr id="20" name="Text 15"/>
          <p:cNvSpPr txBox="1"/>
          <p:nvPr/>
        </p:nvSpPr>
        <p:spPr>
          <a:xfrm>
            <a:off x="6117336" y="3931920"/>
            <a:ext cx="2523744" cy="548640"/>
          </a:xfrm>
          <a:prstGeom prst="rect">
            <a:avLst/>
          </a:prstGeom>
          <a:noFill/>
          <a:ln/>
        </p:spPr>
        <p:txBody>
          <a:bodyPr wrap="square" lIns="0" tIns="0" rIns="0" bIns="0" rtlCol="0" anchor="ctr"/>
          <a:lstStyle/>
          <a:p>
            <a:pPr marL="0" indent="0" algn="ctr">
              <a:buNone/>
            </a:pPr>
            <a:r>
              <a:rPr lang="it-IT" sz="1300" b="1" dirty="0">
                <a:solidFill>
                  <a:schemeClr val="tx1"/>
                </a:solidFill>
              </a:rPr>
              <a:t>Le istruzioni di sistema</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76</a:t>
            </a:fld>
            <a:endParaRPr lang="it-IT"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Bias di conferma e tendenza ad assecondare</a:t>
            </a:r>
            <a:endParaRPr lang="it-IT" sz="2600" dirty="0"/>
          </a:p>
        </p:txBody>
      </p:sp>
      <p:sp>
        <p:nvSpPr>
          <p:cNvPr id="4" name="blocco La mia ipotesi"/>
          <p:cNvSpPr/>
          <p:nvPr/>
        </p:nvSpPr>
        <p:spPr>
          <a:xfrm>
            <a:off x="457200" y="1188720"/>
            <a:ext cx="1920240" cy="777240"/>
          </a:xfrm>
          <a:prstGeom prst="roundRect">
            <a:avLst>
              <a:gd name="adj" fmla="val 14118"/>
            </a:avLst>
          </a:prstGeom>
          <a:solidFill>
            <a:schemeClr val="bg2"/>
          </a:solidFill>
          <a:ln/>
        </p:spPr>
        <p:txBody>
          <a:bodyPr/>
          <a:lstStyle/>
          <a:p>
            <a:endParaRPr lang="it-IT" dirty="0"/>
          </a:p>
        </p:txBody>
      </p:sp>
      <p:sp>
        <p:nvSpPr>
          <p:cNvPr id="5" name="Text 2"/>
          <p:cNvSpPr txBox="1"/>
          <p:nvPr/>
        </p:nvSpPr>
        <p:spPr>
          <a:xfrm>
            <a:off x="502920" y="1188720"/>
            <a:ext cx="1828800" cy="777240"/>
          </a:xfrm>
          <a:prstGeom prst="rect">
            <a:avLst/>
          </a:prstGeom>
          <a:noFill/>
          <a:ln/>
        </p:spPr>
        <p:txBody>
          <a:bodyPr wrap="square" lIns="0" tIns="0" rIns="0" bIns="0" rtlCol="0" anchor="ctr"/>
          <a:lstStyle/>
          <a:p>
            <a:pPr marL="0" indent="0" algn="ctr">
              <a:buNone/>
            </a:pPr>
            <a:r>
              <a:rPr lang="it-IT" sz="1300" b="1" dirty="0">
                <a:solidFill>
                  <a:schemeClr val="tx1"/>
                </a:solidFill>
              </a:rPr>
              <a:t>La mia ipotesi</a:t>
            </a:r>
            <a:endParaRPr lang="it-IT" sz="1300" dirty="0"/>
          </a:p>
        </p:txBody>
      </p:sp>
      <p:sp>
        <p:nvSpPr>
          <p:cNvPr id="6" name="blocco La formulo nella domanda"/>
          <p:cNvSpPr/>
          <p:nvPr/>
        </p:nvSpPr>
        <p:spPr>
          <a:xfrm>
            <a:off x="2606040" y="1188720"/>
            <a:ext cx="1920240" cy="777240"/>
          </a:xfrm>
          <a:prstGeom prst="roundRect">
            <a:avLst>
              <a:gd name="adj" fmla="val 14118"/>
            </a:avLst>
          </a:prstGeom>
          <a:solidFill>
            <a:schemeClr val="bg2"/>
          </a:solidFill>
          <a:ln/>
        </p:spPr>
        <p:txBody>
          <a:bodyPr/>
          <a:lstStyle/>
          <a:p>
            <a:endParaRPr lang="it-IT" dirty="0"/>
          </a:p>
        </p:txBody>
      </p:sp>
      <p:sp>
        <p:nvSpPr>
          <p:cNvPr id="7" name="Text 4"/>
          <p:cNvSpPr txBox="1"/>
          <p:nvPr/>
        </p:nvSpPr>
        <p:spPr>
          <a:xfrm>
            <a:off x="2651760" y="1188720"/>
            <a:ext cx="1828800" cy="777240"/>
          </a:xfrm>
          <a:prstGeom prst="rect">
            <a:avLst/>
          </a:prstGeom>
          <a:noFill/>
          <a:ln/>
        </p:spPr>
        <p:txBody>
          <a:bodyPr wrap="square" lIns="0" tIns="0" rIns="0" bIns="0" rtlCol="0" anchor="ctr"/>
          <a:lstStyle/>
          <a:p>
            <a:pPr marL="0" indent="0" algn="ctr">
              <a:buNone/>
            </a:pPr>
            <a:r>
              <a:rPr lang="it-IT" sz="1300" b="1" dirty="0">
                <a:solidFill>
                  <a:schemeClr val="tx1"/>
                </a:solidFill>
              </a:rPr>
              <a:t>La formulo nella domanda</a:t>
            </a:r>
            <a:endParaRPr lang="it-IT" sz="1300" dirty="0"/>
          </a:p>
        </p:txBody>
      </p:sp>
      <p:sp>
        <p:nvSpPr>
          <p:cNvPr id="8" name="blocco Il sistema la asseconda"/>
          <p:cNvSpPr/>
          <p:nvPr/>
        </p:nvSpPr>
        <p:spPr>
          <a:xfrm>
            <a:off x="2606040" y="2743200"/>
            <a:ext cx="1920240" cy="777240"/>
          </a:xfrm>
          <a:prstGeom prst="roundRect">
            <a:avLst>
              <a:gd name="adj" fmla="val 14118"/>
            </a:avLst>
          </a:prstGeom>
          <a:solidFill>
            <a:schemeClr val="accent1"/>
          </a:solidFill>
          <a:ln/>
        </p:spPr>
        <p:txBody>
          <a:bodyPr/>
          <a:lstStyle/>
          <a:p>
            <a:endParaRPr lang="it-IT" dirty="0"/>
          </a:p>
        </p:txBody>
      </p:sp>
      <p:sp>
        <p:nvSpPr>
          <p:cNvPr id="9" name="Text 6"/>
          <p:cNvSpPr txBox="1"/>
          <p:nvPr/>
        </p:nvSpPr>
        <p:spPr>
          <a:xfrm>
            <a:off x="2651760" y="2743200"/>
            <a:ext cx="1828800" cy="777240"/>
          </a:xfrm>
          <a:prstGeom prst="rect">
            <a:avLst/>
          </a:prstGeom>
          <a:noFill/>
          <a:ln/>
        </p:spPr>
        <p:txBody>
          <a:bodyPr wrap="square" lIns="0" tIns="0" rIns="0" bIns="0" rtlCol="0" anchor="ctr"/>
          <a:lstStyle/>
          <a:p>
            <a:pPr marL="0" indent="0" algn="ctr">
              <a:buNone/>
            </a:pPr>
            <a:r>
              <a:rPr lang="it-IT" sz="1300" b="1" dirty="0">
                <a:solidFill>
                  <a:schemeClr val="bg1"/>
                </a:solidFill>
              </a:rPr>
              <a:t>Il sistema la asseconda</a:t>
            </a:r>
            <a:endParaRPr lang="it-IT" sz="1300" dirty="0"/>
          </a:p>
        </p:txBody>
      </p:sp>
      <p:sp>
        <p:nvSpPr>
          <p:cNvPr id="10" name="blocco Mi convinco ancora di più"/>
          <p:cNvSpPr/>
          <p:nvPr/>
        </p:nvSpPr>
        <p:spPr>
          <a:xfrm>
            <a:off x="457200" y="2743200"/>
            <a:ext cx="1920240" cy="777240"/>
          </a:xfrm>
          <a:prstGeom prst="roundRect">
            <a:avLst>
              <a:gd name="adj" fmla="val 14118"/>
            </a:avLst>
          </a:prstGeom>
          <a:solidFill>
            <a:schemeClr val="bg2"/>
          </a:solidFill>
          <a:ln/>
        </p:spPr>
        <p:txBody>
          <a:bodyPr/>
          <a:lstStyle/>
          <a:p>
            <a:endParaRPr lang="it-IT" dirty="0"/>
          </a:p>
        </p:txBody>
      </p:sp>
      <p:sp>
        <p:nvSpPr>
          <p:cNvPr id="11" name="Text 8"/>
          <p:cNvSpPr txBox="1"/>
          <p:nvPr/>
        </p:nvSpPr>
        <p:spPr>
          <a:xfrm>
            <a:off x="502920" y="2743200"/>
            <a:ext cx="1828800" cy="777240"/>
          </a:xfrm>
          <a:prstGeom prst="rect">
            <a:avLst/>
          </a:prstGeom>
          <a:noFill/>
          <a:ln/>
        </p:spPr>
        <p:txBody>
          <a:bodyPr wrap="square" lIns="0" tIns="0" rIns="0" bIns="0" rtlCol="0" anchor="ctr"/>
          <a:lstStyle/>
          <a:p>
            <a:pPr marL="0" indent="0" algn="ctr">
              <a:buNone/>
            </a:pPr>
            <a:r>
              <a:rPr lang="it-IT" sz="1300" b="1" dirty="0">
                <a:solidFill>
                  <a:schemeClr val="tx1"/>
                </a:solidFill>
              </a:rPr>
              <a:t>Mi convinco ancora di più</a:t>
            </a:r>
            <a:endParaRPr lang="it-IT" sz="1300" dirty="0"/>
          </a:p>
        </p:txBody>
      </p:sp>
      <p:sp>
        <p:nvSpPr>
          <p:cNvPr id="12" name="freccia"/>
          <p:cNvSpPr/>
          <p:nvPr/>
        </p:nvSpPr>
        <p:spPr>
          <a:xfrm>
            <a:off x="2377440" y="1435608"/>
            <a:ext cx="228600" cy="292608"/>
          </a:xfrm>
          <a:prstGeom prst="rightArrow">
            <a:avLst/>
          </a:prstGeom>
          <a:solidFill>
            <a:schemeClr val="accent2"/>
          </a:solidFill>
          <a:ln/>
        </p:spPr>
        <p:txBody>
          <a:bodyPr/>
          <a:lstStyle/>
          <a:p>
            <a:endParaRPr lang="it-IT" dirty="0"/>
          </a:p>
        </p:txBody>
      </p:sp>
      <p:sp>
        <p:nvSpPr>
          <p:cNvPr id="13" name="freccia giù"/>
          <p:cNvSpPr/>
          <p:nvPr/>
        </p:nvSpPr>
        <p:spPr>
          <a:xfrm>
            <a:off x="3429000" y="2057400"/>
            <a:ext cx="292608" cy="594360"/>
          </a:xfrm>
          <a:prstGeom prst="downArrow">
            <a:avLst/>
          </a:prstGeom>
          <a:solidFill>
            <a:schemeClr val="accent2"/>
          </a:solidFill>
          <a:ln/>
        </p:spPr>
        <p:txBody>
          <a:bodyPr/>
          <a:lstStyle/>
          <a:p>
            <a:endParaRPr lang="it-IT" dirty="0"/>
          </a:p>
        </p:txBody>
      </p:sp>
      <p:sp>
        <p:nvSpPr>
          <p:cNvPr id="14" name="freccia sinistra"/>
          <p:cNvSpPr/>
          <p:nvPr/>
        </p:nvSpPr>
        <p:spPr>
          <a:xfrm>
            <a:off x="2377440" y="2990088"/>
            <a:ext cx="228600" cy="292608"/>
          </a:xfrm>
          <a:prstGeom prst="leftArrow">
            <a:avLst/>
          </a:prstGeom>
          <a:solidFill>
            <a:schemeClr val="accent2"/>
          </a:solidFill>
          <a:ln/>
        </p:spPr>
        <p:txBody>
          <a:bodyPr/>
          <a:lstStyle/>
          <a:p>
            <a:endParaRPr lang="it-IT" dirty="0"/>
          </a:p>
        </p:txBody>
      </p:sp>
      <p:sp>
        <p:nvSpPr>
          <p:cNvPr id="15" name="freccia su"/>
          <p:cNvSpPr/>
          <p:nvPr/>
        </p:nvSpPr>
        <p:spPr>
          <a:xfrm>
            <a:off x="1280160" y="2057400"/>
            <a:ext cx="292608" cy="594360"/>
          </a:xfrm>
          <a:prstGeom prst="upArrow">
            <a:avLst/>
          </a:prstGeom>
          <a:solidFill>
            <a:schemeClr val="accent2"/>
          </a:solidFill>
          <a:ln/>
        </p:spPr>
        <p:txBody>
          <a:bodyPr/>
          <a:lstStyle/>
          <a:p>
            <a:endParaRPr lang="it-IT" dirty="0"/>
          </a:p>
        </p:txBody>
      </p:sp>
      <p:sp>
        <p:nvSpPr>
          <p:cNvPr id="16" name="Text 13"/>
          <p:cNvSpPr txBox="1"/>
          <p:nvPr/>
        </p:nvSpPr>
        <p:spPr>
          <a:xfrm>
            <a:off x="457200" y="3657600"/>
            <a:ext cx="4114800" cy="274320"/>
          </a:xfrm>
          <a:prstGeom prst="rect">
            <a:avLst/>
          </a:prstGeom>
          <a:noFill/>
          <a:ln/>
        </p:spPr>
        <p:txBody>
          <a:bodyPr wrap="square" lIns="0" tIns="0" rIns="0" bIns="0" rtlCol="0" anchor="t"/>
          <a:lstStyle/>
          <a:p>
            <a:pPr marL="0" indent="0">
              <a:buNone/>
            </a:pPr>
            <a:r>
              <a:rPr lang="it-IT" sz="1000" dirty="0">
                <a:solidFill>
                  <a:schemeClr val="accent2"/>
                </a:solidFill>
              </a:rPr>
              <a:t>Fonte: Sharma et al., </a:t>
            </a:r>
            <a:r>
              <a:rPr lang="it-IT" sz="1000" dirty="0" err="1">
                <a:solidFill>
                  <a:schemeClr val="accent2"/>
                </a:solidFill>
              </a:rPr>
              <a:t>Anthropic</a:t>
            </a:r>
            <a:r>
              <a:rPr lang="it-IT" sz="1000" dirty="0">
                <a:solidFill>
                  <a:schemeClr val="accent2"/>
                </a:solidFill>
              </a:rPr>
              <a:t>, 2023</a:t>
            </a:r>
            <a:endParaRPr lang="it-IT" sz="1000" dirty="0"/>
          </a:p>
        </p:txBody>
      </p:sp>
      <p:sp>
        <p:nvSpPr>
          <p:cNvPr id="17" name="scheda Bias di conferma (nostro)"/>
          <p:cNvSpPr/>
          <p:nvPr/>
        </p:nvSpPr>
        <p:spPr>
          <a:xfrm>
            <a:off x="4846320" y="1097280"/>
            <a:ext cx="3840480" cy="1371600"/>
          </a:xfrm>
          <a:prstGeom prst="roundRect">
            <a:avLst>
              <a:gd name="adj" fmla="val 5333"/>
            </a:avLst>
          </a:prstGeom>
          <a:solidFill>
            <a:schemeClr val="bg2"/>
          </a:solidFill>
          <a:ln/>
        </p:spPr>
        <p:txBody>
          <a:bodyPr/>
          <a:lstStyle/>
          <a:p>
            <a:endParaRPr lang="it-IT" dirty="0"/>
          </a:p>
        </p:txBody>
      </p:sp>
      <p:sp>
        <p:nvSpPr>
          <p:cNvPr id="18" name="cerchio FiUser"/>
          <p:cNvSpPr/>
          <p:nvPr/>
        </p:nvSpPr>
        <p:spPr>
          <a:xfrm>
            <a:off x="5029200" y="1280160"/>
            <a:ext cx="457200" cy="457200"/>
          </a:xfrm>
          <a:prstGeom prst="ellipse">
            <a:avLst/>
          </a:prstGeom>
          <a:solidFill>
            <a:schemeClr val="accent1"/>
          </a:solidFill>
          <a:ln/>
        </p:spPr>
        <p:txBody>
          <a:bodyPr/>
          <a:lstStyle/>
          <a:p>
            <a:endParaRPr lang="it-IT" dirty="0"/>
          </a:p>
        </p:txBody>
      </p:sp>
      <p:pic>
        <p:nvPicPr>
          <p:cNvPr id="19" name="Image 0" descr="FiUser"/>
          <p:cNvPicPr>
            <a:picLocks noChangeAspect="1"/>
          </p:cNvPicPr>
          <p:nvPr/>
        </p:nvPicPr>
        <p:blipFill>
          <a:blip r:embed="rId3"/>
          <a:stretch>
            <a:fillRect/>
          </a:stretch>
        </p:blipFill>
        <p:spPr>
          <a:xfrm>
            <a:off x="5143500" y="1394460"/>
            <a:ext cx="228600" cy="228600"/>
          </a:xfrm>
          <a:prstGeom prst="rect">
            <a:avLst/>
          </a:prstGeom>
        </p:spPr>
      </p:pic>
      <p:sp>
        <p:nvSpPr>
          <p:cNvPr id="20" name="Text 16"/>
          <p:cNvSpPr txBox="1"/>
          <p:nvPr/>
        </p:nvSpPr>
        <p:spPr>
          <a:xfrm>
            <a:off x="5623560" y="1280160"/>
            <a:ext cx="2880360" cy="457200"/>
          </a:xfrm>
          <a:prstGeom prst="rect">
            <a:avLst/>
          </a:prstGeom>
          <a:noFill/>
          <a:ln/>
        </p:spPr>
        <p:txBody>
          <a:bodyPr wrap="square" lIns="0" tIns="0" rIns="0" bIns="0" rtlCol="0" anchor="ctr"/>
          <a:lstStyle/>
          <a:p>
            <a:pPr marL="0" indent="0">
              <a:buNone/>
            </a:pPr>
            <a:r>
              <a:rPr lang="it-IT" sz="1500" b="1" dirty="0">
                <a:solidFill>
                  <a:schemeClr val="tx1"/>
                </a:solidFill>
              </a:rPr>
              <a:t>Bias di conferma (nostro)</a:t>
            </a:r>
            <a:endParaRPr lang="it-IT" sz="1500" dirty="0"/>
          </a:p>
        </p:txBody>
      </p:sp>
      <p:sp>
        <p:nvSpPr>
          <p:cNvPr id="21" name="Text 17"/>
          <p:cNvSpPr txBox="1"/>
          <p:nvPr/>
        </p:nvSpPr>
        <p:spPr>
          <a:xfrm>
            <a:off x="5029200" y="1874520"/>
            <a:ext cx="3474720" cy="484632"/>
          </a:xfrm>
          <a:prstGeom prst="rect">
            <a:avLst/>
          </a:prstGeom>
          <a:noFill/>
          <a:ln/>
        </p:spPr>
        <p:txBody>
          <a:bodyPr wrap="square" lIns="0" tIns="0" rIns="0" bIns="0" rtlCol="0" anchor="t"/>
          <a:lstStyle/>
          <a:p>
            <a:pPr marL="0" indent="0">
              <a:buNone/>
            </a:pPr>
            <a:r>
              <a:rPr lang="it-IT" sz="1200" dirty="0">
                <a:solidFill>
                  <a:schemeClr val="tx2"/>
                </a:solidFill>
              </a:rPr>
              <a:t>Notiamo e ricordiamo ciò che conferma quello che già pensiamo.</a:t>
            </a:r>
            <a:endParaRPr lang="it-IT" sz="1200" dirty="0"/>
          </a:p>
        </p:txBody>
      </p:sp>
      <p:sp>
        <p:nvSpPr>
          <p:cNvPr id="22" name="scheda Sycophancy (del sistema)"/>
          <p:cNvSpPr/>
          <p:nvPr/>
        </p:nvSpPr>
        <p:spPr>
          <a:xfrm>
            <a:off x="4846320" y="2651760"/>
            <a:ext cx="3840480" cy="1234440"/>
          </a:xfrm>
          <a:prstGeom prst="roundRect">
            <a:avLst>
              <a:gd name="adj" fmla="val 5926"/>
            </a:avLst>
          </a:prstGeom>
          <a:solidFill>
            <a:schemeClr val="accent6"/>
          </a:solidFill>
          <a:ln/>
        </p:spPr>
        <p:txBody>
          <a:bodyPr/>
          <a:lstStyle/>
          <a:p>
            <a:endParaRPr lang="it-IT" dirty="0"/>
          </a:p>
        </p:txBody>
      </p:sp>
      <p:sp>
        <p:nvSpPr>
          <p:cNvPr id="23" name="cerchio FiThumbsUp"/>
          <p:cNvSpPr/>
          <p:nvPr/>
        </p:nvSpPr>
        <p:spPr>
          <a:xfrm>
            <a:off x="5029200" y="2834640"/>
            <a:ext cx="457200" cy="457200"/>
          </a:xfrm>
          <a:prstGeom prst="ellipse">
            <a:avLst/>
          </a:prstGeom>
          <a:solidFill>
            <a:schemeClr val="accent1"/>
          </a:solidFill>
          <a:ln/>
        </p:spPr>
        <p:txBody>
          <a:bodyPr/>
          <a:lstStyle/>
          <a:p>
            <a:endParaRPr lang="it-IT" dirty="0"/>
          </a:p>
        </p:txBody>
      </p:sp>
      <p:pic>
        <p:nvPicPr>
          <p:cNvPr id="24" name="Image 1" descr="FiThumbsUp"/>
          <p:cNvPicPr>
            <a:picLocks noChangeAspect="1"/>
          </p:cNvPicPr>
          <p:nvPr/>
        </p:nvPicPr>
        <p:blipFill>
          <a:blip r:embed="rId4"/>
          <a:stretch>
            <a:fillRect/>
          </a:stretch>
        </p:blipFill>
        <p:spPr>
          <a:xfrm>
            <a:off x="5143500" y="2948940"/>
            <a:ext cx="228600" cy="228600"/>
          </a:xfrm>
          <a:prstGeom prst="rect">
            <a:avLst/>
          </a:prstGeom>
        </p:spPr>
      </p:pic>
      <p:sp>
        <p:nvSpPr>
          <p:cNvPr id="25" name="Text 20"/>
          <p:cNvSpPr txBox="1"/>
          <p:nvPr/>
        </p:nvSpPr>
        <p:spPr>
          <a:xfrm>
            <a:off x="5623560" y="2834640"/>
            <a:ext cx="2880360" cy="457200"/>
          </a:xfrm>
          <a:prstGeom prst="rect">
            <a:avLst/>
          </a:prstGeom>
          <a:noFill/>
          <a:ln/>
        </p:spPr>
        <p:txBody>
          <a:bodyPr wrap="square" lIns="0" tIns="0" rIns="0" bIns="0" rtlCol="0" anchor="ctr"/>
          <a:lstStyle/>
          <a:p>
            <a:pPr marL="0" indent="0">
              <a:buNone/>
            </a:pPr>
            <a:r>
              <a:rPr lang="it-IT" sz="1500" b="1" dirty="0" err="1">
                <a:solidFill>
                  <a:schemeClr val="tx1"/>
                </a:solidFill>
              </a:rPr>
              <a:t>Sycophancy</a:t>
            </a:r>
            <a:r>
              <a:rPr lang="it-IT" sz="1500" b="1" dirty="0">
                <a:solidFill>
                  <a:schemeClr val="tx1"/>
                </a:solidFill>
              </a:rPr>
              <a:t> (del sistema)</a:t>
            </a:r>
            <a:endParaRPr lang="it-IT" sz="1500" dirty="0"/>
          </a:p>
        </p:txBody>
      </p:sp>
      <p:sp>
        <p:nvSpPr>
          <p:cNvPr id="26" name="Text 21"/>
          <p:cNvSpPr txBox="1"/>
          <p:nvPr/>
        </p:nvSpPr>
        <p:spPr>
          <a:xfrm>
            <a:off x="5029200" y="3429000"/>
            <a:ext cx="3474720" cy="347472"/>
          </a:xfrm>
          <a:prstGeom prst="rect">
            <a:avLst/>
          </a:prstGeom>
          <a:noFill/>
          <a:ln/>
        </p:spPr>
        <p:txBody>
          <a:bodyPr wrap="square" lIns="0" tIns="0" rIns="0" bIns="0" rtlCol="0" anchor="t"/>
          <a:lstStyle/>
          <a:p>
            <a:pPr marL="0" indent="0">
              <a:buNone/>
            </a:pPr>
            <a:r>
              <a:rPr lang="it-IT" sz="1200" dirty="0">
                <a:solidFill>
                  <a:schemeClr val="tx2"/>
                </a:solidFill>
              </a:rPr>
              <a:t>Tende a darci ragione, a lodare troppo, a cambiare una risposta corretta se insistiamo.</a:t>
            </a:r>
            <a:endParaRPr lang="it-IT" sz="1200" dirty="0"/>
          </a:p>
        </p:txBody>
      </p:sp>
      <p:sp>
        <p:nvSpPr>
          <p:cNvPr id="27" name="messaggio"/>
          <p:cNvSpPr/>
          <p:nvPr/>
        </p:nvSpPr>
        <p:spPr>
          <a:xfrm>
            <a:off x="457200" y="4023360"/>
            <a:ext cx="8229600" cy="502920"/>
          </a:xfrm>
          <a:prstGeom prst="roundRect">
            <a:avLst>
              <a:gd name="adj" fmla="val 14545"/>
            </a:avLst>
          </a:prstGeom>
          <a:solidFill>
            <a:schemeClr val="bg2"/>
          </a:solidFill>
          <a:ln/>
        </p:spPr>
        <p:txBody>
          <a:bodyPr/>
          <a:lstStyle/>
          <a:p>
            <a:endParaRPr lang="it-IT" dirty="0"/>
          </a:p>
        </p:txBody>
      </p:sp>
      <p:sp>
        <p:nvSpPr>
          <p:cNvPr id="28" name="Text 23"/>
          <p:cNvSpPr txBox="1"/>
          <p:nvPr/>
        </p:nvSpPr>
        <p:spPr>
          <a:xfrm>
            <a:off x="640080" y="4023360"/>
            <a:ext cx="7863840" cy="502920"/>
          </a:xfrm>
          <a:prstGeom prst="rect">
            <a:avLst/>
          </a:prstGeom>
          <a:noFill/>
          <a:ln/>
        </p:spPr>
        <p:txBody>
          <a:bodyPr wrap="square" lIns="0" tIns="0" rIns="0" bIns="0" rtlCol="0" anchor="ctr"/>
          <a:lstStyle/>
          <a:p>
            <a:pPr marL="0" indent="0">
              <a:buNone/>
            </a:pPr>
            <a:r>
              <a:rPr lang="it-IT" sz="1200" dirty="0">
                <a:solidFill>
                  <a:schemeClr val="tx1"/>
                </a:solidFill>
              </a:rPr>
              <a:t>Per valutare un'ipotesi, chiedere esplicitamente controargomentazioni, alternative ed evidenze contrarie. Quando possibile, presentare il problema senza suggerire la risposta desiderata.</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77</a:t>
            </a:fld>
            <a:endParaRPr lang="it-IT"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Neutralità apparente e oggettività effettiva</a:t>
            </a:r>
            <a:endParaRPr lang="it-IT" sz="2600" dirty="0"/>
          </a:p>
        </p:txBody>
      </p:sp>
      <p:sp>
        <p:nvSpPr>
          <p:cNvPr id="4" name="scheda Neutralità di tono"/>
          <p:cNvSpPr/>
          <p:nvPr/>
        </p:nvSpPr>
        <p:spPr>
          <a:xfrm>
            <a:off x="457200" y="1097280"/>
            <a:ext cx="3017520" cy="2743200"/>
          </a:xfrm>
          <a:prstGeom prst="roundRect">
            <a:avLst>
              <a:gd name="adj" fmla="val 2667"/>
            </a:avLst>
          </a:prstGeom>
          <a:solidFill>
            <a:schemeClr val="bg2"/>
          </a:solidFill>
          <a:ln/>
        </p:spPr>
        <p:txBody>
          <a:bodyPr/>
          <a:lstStyle/>
          <a:p>
            <a:endParaRPr lang="it-IT" dirty="0"/>
          </a:p>
        </p:txBody>
      </p:sp>
      <p:sp>
        <p:nvSpPr>
          <p:cNvPr id="5" name="cerchio FiFeather"/>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Feather"/>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651760" cy="347472"/>
          </a:xfrm>
          <a:prstGeom prst="rect">
            <a:avLst/>
          </a:prstGeom>
          <a:noFill/>
          <a:ln/>
        </p:spPr>
        <p:txBody>
          <a:bodyPr wrap="square" lIns="0" tIns="0" rIns="0" bIns="0" rtlCol="0" anchor="t"/>
          <a:lstStyle/>
          <a:p>
            <a:pPr marL="0" indent="0">
              <a:buNone/>
            </a:pPr>
            <a:r>
              <a:rPr lang="it-IT" sz="1500" b="1" dirty="0">
                <a:solidFill>
                  <a:schemeClr val="tx1"/>
                </a:solidFill>
              </a:rPr>
              <a:t>Neutralità di tono</a:t>
            </a:r>
            <a:endParaRPr lang="it-IT" sz="1500" dirty="0"/>
          </a:p>
        </p:txBody>
      </p:sp>
      <p:sp>
        <p:nvSpPr>
          <p:cNvPr id="8" name="Text 4"/>
          <p:cNvSpPr txBox="1"/>
          <p:nvPr/>
        </p:nvSpPr>
        <p:spPr>
          <a:xfrm>
            <a:off x="640080" y="2231136"/>
            <a:ext cx="2651760" cy="1499616"/>
          </a:xfrm>
          <a:prstGeom prst="rect">
            <a:avLst/>
          </a:prstGeom>
          <a:noFill/>
          <a:ln/>
        </p:spPr>
        <p:txBody>
          <a:bodyPr wrap="square" lIns="0" tIns="0" rIns="0" bIns="0" rtlCol="0" anchor="t"/>
          <a:lstStyle/>
          <a:p>
            <a:pPr marL="0" indent="0">
              <a:buNone/>
            </a:pPr>
            <a:r>
              <a:rPr lang="it-IT" sz="1300" dirty="0">
                <a:solidFill>
                  <a:schemeClr val="tx2"/>
                </a:solidFill>
              </a:rPr>
              <a:t>"Ci sono diverse prospettive", "da un lato... dall'altro".</a:t>
            </a:r>
            <a:endParaRPr lang="it-IT" sz="1300" dirty="0"/>
          </a:p>
          <a:p>
            <a:pPr marL="0" indent="0">
              <a:buNone/>
            </a:pPr>
            <a:endParaRPr lang="it-IT" sz="1300" dirty="0"/>
          </a:p>
          <a:p>
            <a:pPr marL="0" indent="0">
              <a:buNone/>
            </a:pPr>
            <a:r>
              <a:rPr lang="it-IT" sz="1300" dirty="0">
                <a:solidFill>
                  <a:schemeClr val="tx2"/>
                </a:solidFill>
              </a:rPr>
              <a:t>Dà un'impressione di oggettività.</a:t>
            </a:r>
            <a:endParaRPr lang="it-IT" sz="1300" dirty="0"/>
          </a:p>
        </p:txBody>
      </p:sp>
      <p:sp>
        <p:nvSpPr>
          <p:cNvPr id="9" name="freccia"/>
          <p:cNvSpPr/>
          <p:nvPr/>
        </p:nvSpPr>
        <p:spPr>
          <a:xfrm>
            <a:off x="3611880" y="2331720"/>
            <a:ext cx="365760" cy="292608"/>
          </a:xfrm>
          <a:prstGeom prst="rightArrow">
            <a:avLst/>
          </a:prstGeom>
          <a:solidFill>
            <a:schemeClr val="accent2"/>
          </a:solidFill>
          <a:ln/>
        </p:spPr>
        <p:txBody>
          <a:bodyPr/>
          <a:lstStyle/>
          <a:p>
            <a:endParaRPr lang="it-IT" dirty="0"/>
          </a:p>
        </p:txBody>
      </p:sp>
      <p:sp>
        <p:nvSpPr>
          <p:cNvPr id="10" name="Text 6"/>
          <p:cNvSpPr txBox="1"/>
          <p:nvPr/>
        </p:nvSpPr>
        <p:spPr>
          <a:xfrm>
            <a:off x="4160520" y="1097280"/>
            <a:ext cx="4526280" cy="320040"/>
          </a:xfrm>
          <a:prstGeom prst="rect">
            <a:avLst/>
          </a:prstGeom>
          <a:noFill/>
          <a:ln/>
        </p:spPr>
        <p:txBody>
          <a:bodyPr wrap="square" lIns="0" tIns="0" rIns="0" bIns="0" rtlCol="0" anchor="t"/>
          <a:lstStyle/>
          <a:p>
            <a:pPr marL="0" indent="0">
              <a:buNone/>
            </a:pPr>
            <a:r>
              <a:rPr lang="it-IT" sz="1400" b="1" dirty="0">
                <a:solidFill>
                  <a:schemeClr val="tx1"/>
                </a:solidFill>
              </a:rPr>
              <a:t>Scelte non neutrali che il tono non mostra</a:t>
            </a:r>
            <a:endParaRPr lang="it-IT" sz="1400" dirty="0"/>
          </a:p>
        </p:txBody>
      </p:sp>
      <p:sp>
        <p:nvSpPr>
          <p:cNvPr id="11" name="Che cosa includere e che cosa omettere"/>
          <p:cNvSpPr/>
          <p:nvPr/>
        </p:nvSpPr>
        <p:spPr>
          <a:xfrm>
            <a:off x="4160520" y="1481328"/>
            <a:ext cx="4526280" cy="402336"/>
          </a:xfrm>
          <a:prstGeom prst="roundRect">
            <a:avLst>
              <a:gd name="adj" fmla="val 18182"/>
            </a:avLst>
          </a:prstGeom>
          <a:solidFill>
            <a:schemeClr val="bg2"/>
          </a:solidFill>
          <a:ln/>
        </p:spPr>
        <p:txBody>
          <a:bodyPr/>
          <a:lstStyle/>
          <a:p>
            <a:endParaRPr lang="it-IT" dirty="0"/>
          </a:p>
        </p:txBody>
      </p:sp>
      <p:sp>
        <p:nvSpPr>
          <p:cNvPr id="12" name="Text 8"/>
          <p:cNvSpPr txBox="1"/>
          <p:nvPr/>
        </p:nvSpPr>
        <p:spPr>
          <a:xfrm>
            <a:off x="4297680" y="1481328"/>
            <a:ext cx="4297680" cy="402336"/>
          </a:xfrm>
          <a:prstGeom prst="rect">
            <a:avLst/>
          </a:prstGeom>
          <a:noFill/>
          <a:ln/>
        </p:spPr>
        <p:txBody>
          <a:bodyPr wrap="square" lIns="0" tIns="0" rIns="0" bIns="0" rtlCol="0" anchor="ctr"/>
          <a:lstStyle/>
          <a:p>
            <a:pPr marL="0" indent="0">
              <a:buNone/>
            </a:pPr>
            <a:r>
              <a:rPr lang="it-IT" sz="1200" dirty="0">
                <a:solidFill>
                  <a:schemeClr val="tx1"/>
                </a:solidFill>
              </a:rPr>
              <a:t>Che cosa includere e che cosa omettere</a:t>
            </a:r>
            <a:endParaRPr lang="it-IT" sz="1200" dirty="0"/>
          </a:p>
        </p:txBody>
      </p:sp>
      <p:sp>
        <p:nvSpPr>
          <p:cNvPr id="13" name="Ordine e spazio dato a ogni posizione"/>
          <p:cNvSpPr/>
          <p:nvPr/>
        </p:nvSpPr>
        <p:spPr>
          <a:xfrm>
            <a:off x="4160520" y="1956816"/>
            <a:ext cx="4526280" cy="402336"/>
          </a:xfrm>
          <a:prstGeom prst="roundRect">
            <a:avLst>
              <a:gd name="adj" fmla="val 18182"/>
            </a:avLst>
          </a:prstGeom>
          <a:solidFill>
            <a:schemeClr val="bg1"/>
          </a:solidFill>
          <a:ln/>
        </p:spPr>
        <p:txBody>
          <a:bodyPr/>
          <a:lstStyle/>
          <a:p>
            <a:endParaRPr lang="it-IT" dirty="0"/>
          </a:p>
        </p:txBody>
      </p:sp>
      <p:sp>
        <p:nvSpPr>
          <p:cNvPr id="14" name="Text 10"/>
          <p:cNvSpPr txBox="1"/>
          <p:nvPr/>
        </p:nvSpPr>
        <p:spPr>
          <a:xfrm>
            <a:off x="4297680" y="1956816"/>
            <a:ext cx="4297680" cy="402336"/>
          </a:xfrm>
          <a:prstGeom prst="rect">
            <a:avLst/>
          </a:prstGeom>
          <a:noFill/>
          <a:ln/>
        </p:spPr>
        <p:txBody>
          <a:bodyPr wrap="square" lIns="0" tIns="0" rIns="0" bIns="0" rtlCol="0" anchor="ctr"/>
          <a:lstStyle/>
          <a:p>
            <a:pPr marL="0" indent="0">
              <a:buNone/>
            </a:pPr>
            <a:r>
              <a:rPr lang="it-IT" sz="1200" dirty="0">
                <a:solidFill>
                  <a:schemeClr val="tx1"/>
                </a:solidFill>
              </a:rPr>
              <a:t>Ordine e spazio dato a ogni posizione</a:t>
            </a:r>
            <a:endParaRPr lang="it-IT" sz="1200" dirty="0"/>
          </a:p>
        </p:txBody>
      </p:sp>
      <p:sp>
        <p:nvSpPr>
          <p:cNvPr id="15" name="Esempi e fonti considerate autorevoli"/>
          <p:cNvSpPr/>
          <p:nvPr/>
        </p:nvSpPr>
        <p:spPr>
          <a:xfrm>
            <a:off x="4160520" y="2432304"/>
            <a:ext cx="4526280" cy="402336"/>
          </a:xfrm>
          <a:prstGeom prst="roundRect">
            <a:avLst>
              <a:gd name="adj" fmla="val 18182"/>
            </a:avLst>
          </a:prstGeom>
          <a:solidFill>
            <a:schemeClr val="bg2"/>
          </a:solidFill>
          <a:ln/>
        </p:spPr>
        <p:txBody>
          <a:bodyPr/>
          <a:lstStyle/>
          <a:p>
            <a:endParaRPr lang="it-IT" dirty="0"/>
          </a:p>
        </p:txBody>
      </p:sp>
      <p:sp>
        <p:nvSpPr>
          <p:cNvPr id="16" name="Text 12"/>
          <p:cNvSpPr txBox="1"/>
          <p:nvPr/>
        </p:nvSpPr>
        <p:spPr>
          <a:xfrm>
            <a:off x="4297680" y="2432304"/>
            <a:ext cx="4297680" cy="402336"/>
          </a:xfrm>
          <a:prstGeom prst="rect">
            <a:avLst/>
          </a:prstGeom>
          <a:noFill/>
          <a:ln/>
        </p:spPr>
        <p:txBody>
          <a:bodyPr wrap="square" lIns="0" tIns="0" rIns="0" bIns="0" rtlCol="0" anchor="ctr"/>
          <a:lstStyle/>
          <a:p>
            <a:pPr marL="0" indent="0">
              <a:buNone/>
            </a:pPr>
            <a:r>
              <a:rPr lang="it-IT" sz="1200" dirty="0">
                <a:solidFill>
                  <a:schemeClr val="tx1"/>
                </a:solidFill>
              </a:rPr>
              <a:t>Esempi e fonti considerate autorevoli</a:t>
            </a:r>
            <a:endParaRPr lang="it-IT" sz="1200" dirty="0"/>
          </a:p>
        </p:txBody>
      </p:sp>
      <p:sp>
        <p:nvSpPr>
          <p:cNvPr id="17" name="Quale soluzione presentare come &quot;standard&quot;"/>
          <p:cNvSpPr/>
          <p:nvPr/>
        </p:nvSpPr>
        <p:spPr>
          <a:xfrm>
            <a:off x="4160520" y="2907792"/>
            <a:ext cx="4526280" cy="402336"/>
          </a:xfrm>
          <a:prstGeom prst="roundRect">
            <a:avLst>
              <a:gd name="adj" fmla="val 18182"/>
            </a:avLst>
          </a:prstGeom>
          <a:solidFill>
            <a:schemeClr val="bg1"/>
          </a:solidFill>
          <a:ln/>
        </p:spPr>
        <p:txBody>
          <a:bodyPr/>
          <a:lstStyle/>
          <a:p>
            <a:endParaRPr lang="it-IT" dirty="0"/>
          </a:p>
        </p:txBody>
      </p:sp>
      <p:sp>
        <p:nvSpPr>
          <p:cNvPr id="18" name="Text 14"/>
          <p:cNvSpPr txBox="1"/>
          <p:nvPr/>
        </p:nvSpPr>
        <p:spPr>
          <a:xfrm>
            <a:off x="4297680" y="2907792"/>
            <a:ext cx="4297680" cy="402336"/>
          </a:xfrm>
          <a:prstGeom prst="rect">
            <a:avLst/>
          </a:prstGeom>
          <a:noFill/>
          <a:ln/>
        </p:spPr>
        <p:txBody>
          <a:bodyPr wrap="square" lIns="0" tIns="0" rIns="0" bIns="0" rtlCol="0" anchor="ctr"/>
          <a:lstStyle/>
          <a:p>
            <a:pPr marL="0" indent="0">
              <a:buNone/>
            </a:pPr>
            <a:r>
              <a:rPr lang="it-IT" sz="1200" dirty="0">
                <a:solidFill>
                  <a:schemeClr val="tx1"/>
                </a:solidFill>
              </a:rPr>
              <a:t>Quale soluzione presentare come "standard"</a:t>
            </a:r>
            <a:endParaRPr lang="it-IT" sz="1200" dirty="0"/>
          </a:p>
        </p:txBody>
      </p:sp>
      <p:sp>
        <p:nvSpPr>
          <p:cNvPr id="19" name="Posizioni presentate come equivalenti senza esserlo"/>
          <p:cNvSpPr/>
          <p:nvPr/>
        </p:nvSpPr>
        <p:spPr>
          <a:xfrm>
            <a:off x="4160520" y="3383280"/>
            <a:ext cx="4526280" cy="402336"/>
          </a:xfrm>
          <a:prstGeom prst="roundRect">
            <a:avLst>
              <a:gd name="adj" fmla="val 18182"/>
            </a:avLst>
          </a:prstGeom>
          <a:solidFill>
            <a:schemeClr val="bg2"/>
          </a:solidFill>
          <a:ln/>
        </p:spPr>
        <p:txBody>
          <a:bodyPr/>
          <a:lstStyle/>
          <a:p>
            <a:endParaRPr lang="it-IT" dirty="0"/>
          </a:p>
        </p:txBody>
      </p:sp>
      <p:sp>
        <p:nvSpPr>
          <p:cNvPr id="20" name="Text 16"/>
          <p:cNvSpPr txBox="1"/>
          <p:nvPr/>
        </p:nvSpPr>
        <p:spPr>
          <a:xfrm>
            <a:off x="4297680" y="3383280"/>
            <a:ext cx="4297680" cy="402336"/>
          </a:xfrm>
          <a:prstGeom prst="rect">
            <a:avLst/>
          </a:prstGeom>
          <a:noFill/>
          <a:ln/>
        </p:spPr>
        <p:txBody>
          <a:bodyPr wrap="square" lIns="0" tIns="0" rIns="0" bIns="0" rtlCol="0" anchor="ctr"/>
          <a:lstStyle/>
          <a:p>
            <a:pPr marL="0" indent="0">
              <a:buNone/>
            </a:pPr>
            <a:r>
              <a:rPr lang="it-IT" sz="1200" dirty="0">
                <a:solidFill>
                  <a:schemeClr val="tx1"/>
                </a:solidFill>
              </a:rPr>
              <a:t>Posizioni presentate come equivalenti senza esserlo</a:t>
            </a:r>
            <a:endParaRPr lang="it-IT" sz="1200" dirty="0"/>
          </a:p>
        </p:txBody>
      </p:sp>
      <p:sp>
        <p:nvSpPr>
          <p:cNvPr id="21" name="messaggio"/>
          <p:cNvSpPr/>
          <p:nvPr/>
        </p:nvSpPr>
        <p:spPr>
          <a:xfrm>
            <a:off x="457200" y="4023360"/>
            <a:ext cx="8229600" cy="502920"/>
          </a:xfrm>
          <a:prstGeom prst="roundRect">
            <a:avLst>
              <a:gd name="adj" fmla="val 14545"/>
            </a:avLst>
          </a:prstGeom>
          <a:solidFill>
            <a:schemeClr val="tx1"/>
          </a:solidFill>
          <a:ln/>
        </p:spPr>
        <p:txBody>
          <a:bodyPr/>
          <a:lstStyle/>
          <a:p>
            <a:endParaRPr lang="it-IT" dirty="0"/>
          </a:p>
        </p:txBody>
      </p:sp>
      <p:sp>
        <p:nvSpPr>
          <p:cNvPr id="22" name="Text 18"/>
          <p:cNvSpPr txBox="1"/>
          <p:nvPr/>
        </p:nvSpPr>
        <p:spPr>
          <a:xfrm>
            <a:off x="640080" y="4023360"/>
            <a:ext cx="7863840" cy="502920"/>
          </a:xfrm>
          <a:prstGeom prst="rect">
            <a:avLst/>
          </a:prstGeom>
          <a:noFill/>
          <a:ln/>
        </p:spPr>
        <p:txBody>
          <a:bodyPr wrap="square" lIns="0" tIns="0" rIns="0" bIns="0" rtlCol="0" anchor="ctr"/>
          <a:lstStyle/>
          <a:p>
            <a:pPr marL="0" indent="0">
              <a:buNone/>
            </a:pPr>
            <a:r>
              <a:rPr lang="it-IT" sz="1300" dirty="0">
                <a:solidFill>
                  <a:schemeClr val="bg1"/>
                </a:solidFill>
              </a:rPr>
              <a:t>Su temi delicati o controversi, confrontare più fonti, comprese quelle umane competenti.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33</a:t>
            </a:fld>
            <a:endParaRPr lang="it-IT"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Esercizio: domanda orientata o neutra?</a:t>
            </a:r>
            <a:endParaRPr lang="en-US" sz="2600" dirty="0"/>
          </a:p>
        </p:txBody>
      </p:sp>
      <p:sp>
        <p:nvSpPr>
          <p:cNvPr id="4" name="riquadro A · Fornitori"/>
          <p:cNvSpPr/>
          <p:nvPr/>
        </p:nvSpPr>
        <p:spPr>
          <a:xfrm>
            <a:off x="457200" y="1051560"/>
            <a:ext cx="2615184" cy="914400"/>
          </a:xfrm>
          <a:prstGeom prst="roundRect">
            <a:avLst>
              <a:gd name="adj" fmla="val 8000"/>
            </a:avLst>
          </a:prstGeom>
          <a:solidFill>
            <a:schemeClr val="bg2"/>
          </a:solidFill>
          <a:ln/>
        </p:spPr>
      </p:sp>
      <p:sp>
        <p:nvSpPr>
          <p:cNvPr id="5" name="barra"/>
          <p:cNvSpPr/>
          <p:nvPr/>
        </p:nvSpPr>
        <p:spPr>
          <a:xfrm>
            <a:off x="457200" y="1161288"/>
            <a:ext cx="54864" cy="694944"/>
          </a:xfrm>
          <a:prstGeom prst="rect">
            <a:avLst/>
          </a:prstGeom>
          <a:solidFill>
            <a:schemeClr val="accent1"/>
          </a:solidFill>
          <a:ln/>
        </p:spPr>
      </p:sp>
      <p:sp>
        <p:nvSpPr>
          <p:cNvPr id="6" name="Text 3"/>
          <p:cNvSpPr txBox="1"/>
          <p:nvPr/>
        </p:nvSpPr>
        <p:spPr>
          <a:xfrm>
            <a:off x="658368" y="1143000"/>
            <a:ext cx="2249424" cy="256032"/>
          </a:xfrm>
          <a:prstGeom prst="rect">
            <a:avLst/>
          </a:prstGeom>
          <a:noFill/>
          <a:ln/>
        </p:spPr>
        <p:txBody>
          <a:bodyPr wrap="square" lIns="0" tIns="0" rIns="0" bIns="0" rtlCol="0" anchor="t"/>
          <a:lstStyle/>
          <a:p>
            <a:pPr indent="0" marL="0">
              <a:buNone/>
            </a:pPr>
            <a:r>
              <a:rPr lang="en-US" sz="1100" b="1" dirty="0">
                <a:solidFill>
                  <a:schemeClr val="accent1"/>
                </a:solidFill>
              </a:rPr>
              <a:t>A · Fornitori</a:t>
            </a:r>
            <a:endParaRPr lang="en-US" sz="1100" dirty="0"/>
          </a:p>
        </p:txBody>
      </p:sp>
      <p:sp>
        <p:nvSpPr>
          <p:cNvPr id="7" name="Text 4"/>
          <p:cNvSpPr txBox="1"/>
          <p:nvPr/>
        </p:nvSpPr>
        <p:spPr>
          <a:xfrm>
            <a:off x="658368" y="1435608"/>
            <a:ext cx="2249424" cy="438912"/>
          </a:xfrm>
          <a:prstGeom prst="rect">
            <a:avLst/>
          </a:prstGeom>
          <a:noFill/>
          <a:ln/>
        </p:spPr>
        <p:txBody>
          <a:bodyPr wrap="square" lIns="0" tIns="0" rIns="0" bIns="0" rtlCol="0" anchor="t"/>
          <a:lstStyle/>
          <a:p>
            <a:pPr indent="0" marL="0">
              <a:buNone/>
            </a:pPr>
            <a:r>
              <a:rPr lang="en-US" sz="1200" dirty="0">
                <a:solidFill>
                  <a:schemeClr val="tx1"/>
                </a:solidFill>
              </a:rPr>
              <a:t>"Perché il fornitore Alfa è la scelta migliore?"</a:t>
            </a:r>
            <a:endParaRPr lang="en-US" sz="1200" dirty="0"/>
          </a:p>
        </p:txBody>
      </p:sp>
      <p:sp>
        <p:nvSpPr>
          <p:cNvPr id="8" name="riquadro B · Disegni"/>
          <p:cNvSpPr/>
          <p:nvPr/>
        </p:nvSpPr>
        <p:spPr>
          <a:xfrm>
            <a:off x="3264408" y="1051560"/>
            <a:ext cx="2615184" cy="914400"/>
          </a:xfrm>
          <a:prstGeom prst="roundRect">
            <a:avLst>
              <a:gd name="adj" fmla="val 8000"/>
            </a:avLst>
          </a:prstGeom>
          <a:solidFill>
            <a:schemeClr val="bg2"/>
          </a:solidFill>
          <a:ln/>
        </p:spPr>
      </p:sp>
      <p:sp>
        <p:nvSpPr>
          <p:cNvPr id="9" name="barra"/>
          <p:cNvSpPr/>
          <p:nvPr/>
        </p:nvSpPr>
        <p:spPr>
          <a:xfrm>
            <a:off x="3264408" y="1161288"/>
            <a:ext cx="54864" cy="694944"/>
          </a:xfrm>
          <a:prstGeom prst="rect">
            <a:avLst/>
          </a:prstGeom>
          <a:solidFill>
            <a:schemeClr val="accent1"/>
          </a:solidFill>
          <a:ln/>
        </p:spPr>
      </p:sp>
      <p:sp>
        <p:nvSpPr>
          <p:cNvPr id="10" name="Text 7"/>
          <p:cNvSpPr txBox="1"/>
          <p:nvPr/>
        </p:nvSpPr>
        <p:spPr>
          <a:xfrm>
            <a:off x="3465576" y="1143000"/>
            <a:ext cx="2249424" cy="256032"/>
          </a:xfrm>
          <a:prstGeom prst="rect">
            <a:avLst/>
          </a:prstGeom>
          <a:noFill/>
          <a:ln/>
        </p:spPr>
        <p:txBody>
          <a:bodyPr wrap="square" lIns="0" tIns="0" rIns="0" bIns="0" rtlCol="0" anchor="t"/>
          <a:lstStyle/>
          <a:p>
            <a:pPr indent="0" marL="0">
              <a:buNone/>
            </a:pPr>
            <a:r>
              <a:rPr lang="en-US" sz="1100" b="1" dirty="0">
                <a:solidFill>
                  <a:schemeClr val="accent1"/>
                </a:solidFill>
              </a:rPr>
              <a:t>B · Disegni</a:t>
            </a:r>
            <a:endParaRPr lang="en-US" sz="1100" dirty="0"/>
          </a:p>
        </p:txBody>
      </p:sp>
      <p:sp>
        <p:nvSpPr>
          <p:cNvPr id="11" name="Text 8"/>
          <p:cNvSpPr txBox="1"/>
          <p:nvPr/>
        </p:nvSpPr>
        <p:spPr>
          <a:xfrm>
            <a:off x="3465576" y="1435608"/>
            <a:ext cx="2249424" cy="438912"/>
          </a:xfrm>
          <a:prstGeom prst="rect">
            <a:avLst/>
          </a:prstGeom>
          <a:noFill/>
          <a:ln/>
        </p:spPr>
        <p:txBody>
          <a:bodyPr wrap="square" lIns="0" tIns="0" rIns="0" bIns="0" rtlCol="0" anchor="t"/>
          <a:lstStyle/>
          <a:p>
            <a:pPr indent="0" marL="0">
              <a:buNone/>
            </a:pPr>
            <a:r>
              <a:rPr lang="en-US" sz="1200" dirty="0">
                <a:solidFill>
                  <a:schemeClr val="tx1"/>
                </a:solidFill>
              </a:rPr>
              <a:t>"Confermami che il disegno è uguale allo standard."</a:t>
            </a:r>
            <a:endParaRPr lang="en-US" sz="1200" dirty="0"/>
          </a:p>
        </p:txBody>
      </p:sp>
      <p:sp>
        <p:nvSpPr>
          <p:cNvPr id="12" name="riquadro C · Fatture"/>
          <p:cNvSpPr/>
          <p:nvPr/>
        </p:nvSpPr>
        <p:spPr>
          <a:xfrm>
            <a:off x="6071616" y="1051560"/>
            <a:ext cx="2615184" cy="914400"/>
          </a:xfrm>
          <a:prstGeom prst="roundRect">
            <a:avLst>
              <a:gd name="adj" fmla="val 8000"/>
            </a:avLst>
          </a:prstGeom>
          <a:solidFill>
            <a:schemeClr val="bg2"/>
          </a:solidFill>
          <a:ln/>
        </p:spPr>
      </p:sp>
      <p:sp>
        <p:nvSpPr>
          <p:cNvPr id="13" name="barra"/>
          <p:cNvSpPr/>
          <p:nvPr/>
        </p:nvSpPr>
        <p:spPr>
          <a:xfrm>
            <a:off x="6071616" y="1161288"/>
            <a:ext cx="54864" cy="694944"/>
          </a:xfrm>
          <a:prstGeom prst="rect">
            <a:avLst/>
          </a:prstGeom>
          <a:solidFill>
            <a:schemeClr val="accent1"/>
          </a:solidFill>
          <a:ln/>
        </p:spPr>
      </p:sp>
      <p:sp>
        <p:nvSpPr>
          <p:cNvPr id="14" name="Text 11"/>
          <p:cNvSpPr txBox="1"/>
          <p:nvPr/>
        </p:nvSpPr>
        <p:spPr>
          <a:xfrm>
            <a:off x="6272784" y="1143000"/>
            <a:ext cx="2249424" cy="256032"/>
          </a:xfrm>
          <a:prstGeom prst="rect">
            <a:avLst/>
          </a:prstGeom>
          <a:noFill/>
          <a:ln/>
        </p:spPr>
        <p:txBody>
          <a:bodyPr wrap="square" lIns="0" tIns="0" rIns="0" bIns="0" rtlCol="0" anchor="t"/>
          <a:lstStyle/>
          <a:p>
            <a:pPr indent="0" marL="0">
              <a:buNone/>
            </a:pPr>
            <a:r>
              <a:rPr lang="en-US" sz="1100" b="1" dirty="0">
                <a:solidFill>
                  <a:schemeClr val="accent1"/>
                </a:solidFill>
              </a:rPr>
              <a:t>C · Fatture</a:t>
            </a:r>
            <a:endParaRPr lang="en-US" sz="1100" dirty="0"/>
          </a:p>
        </p:txBody>
      </p:sp>
      <p:sp>
        <p:nvSpPr>
          <p:cNvPr id="15" name="Text 12"/>
          <p:cNvSpPr txBox="1"/>
          <p:nvPr/>
        </p:nvSpPr>
        <p:spPr>
          <a:xfrm>
            <a:off x="6272784" y="1435608"/>
            <a:ext cx="2249424" cy="438912"/>
          </a:xfrm>
          <a:prstGeom prst="rect">
            <a:avLst/>
          </a:prstGeom>
          <a:noFill/>
          <a:ln/>
        </p:spPr>
        <p:txBody>
          <a:bodyPr wrap="square" lIns="0" tIns="0" rIns="0" bIns="0" rtlCol="0" anchor="t"/>
          <a:lstStyle/>
          <a:p>
            <a:pPr indent="0" marL="0">
              <a:buNone/>
            </a:pPr>
            <a:r>
              <a:rPr lang="en-US" sz="1200" dirty="0">
                <a:solidFill>
                  <a:schemeClr val="tx1"/>
                </a:solidFill>
              </a:rPr>
              <a:t>"La fattura corrisponde all'ordine, giusto?"</a:t>
            </a:r>
            <a:endParaRPr lang="en-US" sz="1200" dirty="0"/>
          </a:p>
        </p:txBody>
      </p:sp>
      <p:sp>
        <p:nvSpPr>
          <p:cNvPr id="16" name="riquadro D · Service"/>
          <p:cNvSpPr/>
          <p:nvPr/>
        </p:nvSpPr>
        <p:spPr>
          <a:xfrm>
            <a:off x="457200" y="2075688"/>
            <a:ext cx="2615184" cy="914400"/>
          </a:xfrm>
          <a:prstGeom prst="roundRect">
            <a:avLst>
              <a:gd name="adj" fmla="val 8000"/>
            </a:avLst>
          </a:prstGeom>
          <a:solidFill>
            <a:schemeClr val="bg2"/>
          </a:solidFill>
          <a:ln/>
        </p:spPr>
      </p:sp>
      <p:sp>
        <p:nvSpPr>
          <p:cNvPr id="17" name="barra"/>
          <p:cNvSpPr/>
          <p:nvPr/>
        </p:nvSpPr>
        <p:spPr>
          <a:xfrm>
            <a:off x="457200" y="2185416"/>
            <a:ext cx="54864" cy="694944"/>
          </a:xfrm>
          <a:prstGeom prst="rect">
            <a:avLst/>
          </a:prstGeom>
          <a:solidFill>
            <a:schemeClr val="accent1"/>
          </a:solidFill>
          <a:ln/>
        </p:spPr>
      </p:sp>
      <p:sp>
        <p:nvSpPr>
          <p:cNvPr id="18" name="Text 15"/>
          <p:cNvSpPr txBox="1"/>
          <p:nvPr/>
        </p:nvSpPr>
        <p:spPr>
          <a:xfrm>
            <a:off x="658368" y="2167128"/>
            <a:ext cx="2249424" cy="256032"/>
          </a:xfrm>
          <a:prstGeom prst="rect">
            <a:avLst/>
          </a:prstGeom>
          <a:noFill/>
          <a:ln/>
        </p:spPr>
        <p:txBody>
          <a:bodyPr wrap="square" lIns="0" tIns="0" rIns="0" bIns="0" rtlCol="0" anchor="t"/>
          <a:lstStyle/>
          <a:p>
            <a:pPr indent="0" marL="0">
              <a:buNone/>
            </a:pPr>
            <a:r>
              <a:rPr lang="en-US" sz="1100" b="1" dirty="0">
                <a:solidFill>
                  <a:schemeClr val="accent1"/>
                </a:solidFill>
              </a:rPr>
              <a:t>D · Service</a:t>
            </a:r>
            <a:endParaRPr lang="en-US" sz="1100" dirty="0"/>
          </a:p>
        </p:txBody>
      </p:sp>
      <p:sp>
        <p:nvSpPr>
          <p:cNvPr id="19" name="Text 16"/>
          <p:cNvSpPr txBox="1"/>
          <p:nvPr/>
        </p:nvSpPr>
        <p:spPr>
          <a:xfrm>
            <a:off x="658368" y="2459736"/>
            <a:ext cx="2249424" cy="438912"/>
          </a:xfrm>
          <a:prstGeom prst="rect">
            <a:avLst/>
          </a:prstGeom>
          <a:noFill/>
          <a:ln/>
        </p:spPr>
        <p:txBody>
          <a:bodyPr wrap="square" lIns="0" tIns="0" rIns="0" bIns="0" rtlCol="0" anchor="t"/>
          <a:lstStyle/>
          <a:p>
            <a:pPr indent="0" marL="0">
              <a:buNone/>
            </a:pPr>
            <a:r>
              <a:rPr lang="en-US" sz="1200" dirty="0">
                <a:solidFill>
                  <a:schemeClr val="tx1"/>
                </a:solidFill>
              </a:rPr>
              <a:t>"L'allarme A01 si ripete: è colpa dell'elettrodo, vero?"</a:t>
            </a:r>
            <a:endParaRPr lang="en-US" sz="1200" dirty="0"/>
          </a:p>
        </p:txBody>
      </p:sp>
      <p:sp>
        <p:nvSpPr>
          <p:cNvPr id="20" name="riquadro E · Pezzi"/>
          <p:cNvSpPr/>
          <p:nvPr/>
        </p:nvSpPr>
        <p:spPr>
          <a:xfrm>
            <a:off x="3264408" y="2075688"/>
            <a:ext cx="2615184" cy="914400"/>
          </a:xfrm>
          <a:prstGeom prst="roundRect">
            <a:avLst>
              <a:gd name="adj" fmla="val 8000"/>
            </a:avLst>
          </a:prstGeom>
          <a:solidFill>
            <a:schemeClr val="bg2"/>
          </a:solidFill>
          <a:ln/>
        </p:spPr>
      </p:sp>
      <p:sp>
        <p:nvSpPr>
          <p:cNvPr id="21" name="barra"/>
          <p:cNvSpPr/>
          <p:nvPr/>
        </p:nvSpPr>
        <p:spPr>
          <a:xfrm>
            <a:off x="3264408" y="2185416"/>
            <a:ext cx="54864" cy="694944"/>
          </a:xfrm>
          <a:prstGeom prst="rect">
            <a:avLst/>
          </a:prstGeom>
          <a:solidFill>
            <a:schemeClr val="accent1"/>
          </a:solidFill>
          <a:ln/>
        </p:spPr>
      </p:sp>
      <p:sp>
        <p:nvSpPr>
          <p:cNvPr id="22" name="Text 19"/>
          <p:cNvSpPr txBox="1"/>
          <p:nvPr/>
        </p:nvSpPr>
        <p:spPr>
          <a:xfrm>
            <a:off x="3465576" y="2167128"/>
            <a:ext cx="2249424" cy="256032"/>
          </a:xfrm>
          <a:prstGeom prst="rect">
            <a:avLst/>
          </a:prstGeom>
          <a:noFill/>
          <a:ln/>
        </p:spPr>
        <p:txBody>
          <a:bodyPr wrap="square" lIns="0" tIns="0" rIns="0" bIns="0" rtlCol="0" anchor="t"/>
          <a:lstStyle/>
          <a:p>
            <a:pPr indent="0" marL="0">
              <a:buNone/>
            </a:pPr>
            <a:r>
              <a:rPr lang="en-US" sz="1100" b="1" dirty="0">
                <a:solidFill>
                  <a:schemeClr val="accent1"/>
                </a:solidFill>
              </a:rPr>
              <a:t>E · Pezzi</a:t>
            </a:r>
            <a:endParaRPr lang="en-US" sz="1100" dirty="0"/>
          </a:p>
        </p:txBody>
      </p:sp>
      <p:sp>
        <p:nvSpPr>
          <p:cNvPr id="23" name="Text 20"/>
          <p:cNvSpPr txBox="1"/>
          <p:nvPr/>
        </p:nvSpPr>
        <p:spPr>
          <a:xfrm>
            <a:off x="3465576" y="2459736"/>
            <a:ext cx="2249424" cy="438912"/>
          </a:xfrm>
          <a:prstGeom prst="rect">
            <a:avLst/>
          </a:prstGeom>
          <a:noFill/>
          <a:ln/>
        </p:spPr>
        <p:txBody>
          <a:bodyPr wrap="square" lIns="0" tIns="0" rIns="0" bIns="0" rtlCol="0" anchor="t"/>
          <a:lstStyle/>
          <a:p>
            <a:pPr indent="0" marL="0">
              <a:buNone/>
            </a:pPr>
            <a:r>
              <a:rPr lang="en-US" sz="1200" dirty="0">
                <a:solidFill>
                  <a:schemeClr val="tx1"/>
                </a:solidFill>
              </a:rPr>
              <a:t>"Il pezzo nella foto è il codice RD-4410, confermi?"</a:t>
            </a:r>
            <a:endParaRPr lang="en-US" sz="1200" dirty="0"/>
          </a:p>
        </p:txBody>
      </p:sp>
      <p:sp>
        <p:nvSpPr>
          <p:cNvPr id="24" name="riquadro F · Preventivi"/>
          <p:cNvSpPr/>
          <p:nvPr/>
        </p:nvSpPr>
        <p:spPr>
          <a:xfrm>
            <a:off x="6071616" y="2075688"/>
            <a:ext cx="2615184" cy="914400"/>
          </a:xfrm>
          <a:prstGeom prst="roundRect">
            <a:avLst>
              <a:gd name="adj" fmla="val 8000"/>
            </a:avLst>
          </a:prstGeom>
          <a:solidFill>
            <a:schemeClr val="bg2"/>
          </a:solidFill>
          <a:ln/>
        </p:spPr>
      </p:sp>
      <p:sp>
        <p:nvSpPr>
          <p:cNvPr id="25" name="barra"/>
          <p:cNvSpPr/>
          <p:nvPr/>
        </p:nvSpPr>
        <p:spPr>
          <a:xfrm>
            <a:off x="6071616" y="2185416"/>
            <a:ext cx="54864" cy="694944"/>
          </a:xfrm>
          <a:prstGeom prst="rect">
            <a:avLst/>
          </a:prstGeom>
          <a:solidFill>
            <a:schemeClr val="accent1"/>
          </a:solidFill>
          <a:ln/>
        </p:spPr>
      </p:sp>
      <p:sp>
        <p:nvSpPr>
          <p:cNvPr id="26" name="Text 23"/>
          <p:cNvSpPr txBox="1"/>
          <p:nvPr/>
        </p:nvSpPr>
        <p:spPr>
          <a:xfrm>
            <a:off x="6272784" y="2167128"/>
            <a:ext cx="2249424" cy="256032"/>
          </a:xfrm>
          <a:prstGeom prst="rect">
            <a:avLst/>
          </a:prstGeom>
          <a:noFill/>
          <a:ln/>
        </p:spPr>
        <p:txBody>
          <a:bodyPr wrap="square" lIns="0" tIns="0" rIns="0" bIns="0" rtlCol="0" anchor="t"/>
          <a:lstStyle/>
          <a:p>
            <a:pPr indent="0" marL="0">
              <a:buNone/>
            </a:pPr>
            <a:r>
              <a:rPr lang="en-US" sz="1100" b="1" dirty="0">
                <a:solidFill>
                  <a:schemeClr val="accent1"/>
                </a:solidFill>
              </a:rPr>
              <a:t>F · Preventivi</a:t>
            </a:r>
            <a:endParaRPr lang="en-US" sz="1100" dirty="0"/>
          </a:p>
        </p:txBody>
      </p:sp>
      <p:sp>
        <p:nvSpPr>
          <p:cNvPr id="27" name="Text 24"/>
          <p:cNvSpPr txBox="1"/>
          <p:nvPr/>
        </p:nvSpPr>
        <p:spPr>
          <a:xfrm>
            <a:off x="6272784" y="2459736"/>
            <a:ext cx="2249424" cy="438912"/>
          </a:xfrm>
          <a:prstGeom prst="rect">
            <a:avLst/>
          </a:prstGeom>
          <a:noFill/>
          <a:ln/>
        </p:spPr>
        <p:txBody>
          <a:bodyPr wrap="square" lIns="0" tIns="0" rIns="0" bIns="0" rtlCol="0" anchor="t"/>
          <a:lstStyle/>
          <a:p>
            <a:pPr indent="0" marL="0">
              <a:buNone/>
            </a:pPr>
            <a:r>
              <a:rPr lang="en-US" sz="1200" dirty="0">
                <a:solidFill>
                  <a:schemeClr val="tx1"/>
                </a:solidFill>
              </a:rPr>
              <a:t>"Ho già controllato il preventivo: è corretto, vero?"</a:t>
            </a:r>
            <a:endParaRPr lang="en-US" sz="1200" dirty="0"/>
          </a:p>
        </p:txBody>
      </p:sp>
      <p:sp>
        <p:nvSpPr>
          <p:cNvPr id="28" name="blocco 2'"/>
          <p:cNvSpPr/>
          <p:nvPr/>
        </p:nvSpPr>
        <p:spPr>
          <a:xfrm>
            <a:off x="457200" y="3246120"/>
            <a:ext cx="914400" cy="384048"/>
          </a:xfrm>
          <a:prstGeom prst="roundRect">
            <a:avLst>
              <a:gd name="adj" fmla="val 28571"/>
            </a:avLst>
          </a:prstGeom>
          <a:solidFill>
            <a:schemeClr val="accent1"/>
          </a:solidFill>
          <a:ln/>
        </p:spPr>
      </p:sp>
      <p:sp>
        <p:nvSpPr>
          <p:cNvPr id="29" name="Text 26"/>
          <p:cNvSpPr txBox="1"/>
          <p:nvPr/>
        </p:nvSpPr>
        <p:spPr>
          <a:xfrm>
            <a:off x="502920" y="3246120"/>
            <a:ext cx="822960"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0" name="Text 27"/>
          <p:cNvSpPr txBox="1"/>
          <p:nvPr/>
        </p:nvSpPr>
        <p:spPr>
          <a:xfrm>
            <a:off x="1508760" y="3246120"/>
            <a:ext cx="7178040" cy="384048"/>
          </a:xfrm>
          <a:prstGeom prst="rect">
            <a:avLst/>
          </a:prstGeom>
          <a:noFill/>
          <a:ln/>
        </p:spPr>
        <p:txBody>
          <a:bodyPr wrap="square" lIns="0" tIns="0" rIns="0" bIns="0" rtlCol="0" anchor="ctr"/>
          <a:lstStyle/>
          <a:p>
            <a:pPr indent="0" marL="0">
              <a:buNone/>
            </a:pPr>
            <a:r>
              <a:rPr lang="en-US" sz="1300" dirty="0">
                <a:solidFill>
                  <a:schemeClr val="tx1"/>
                </a:solidFill>
              </a:rPr>
              <a:t>A coppie: che risposta vi aspettate? Riscrivete la domanda in modo neutro.</a:t>
            </a:r>
            <a:endParaRPr lang="en-US" sz="1300" dirty="0"/>
          </a:p>
        </p:txBody>
      </p:sp>
      <p:sp>
        <p:nvSpPr>
          <p:cNvPr id="31" name="messaggio"/>
          <p:cNvSpPr/>
          <p:nvPr/>
        </p:nvSpPr>
        <p:spPr>
          <a:xfrm>
            <a:off x="457200" y="3794760"/>
            <a:ext cx="8229600" cy="731520"/>
          </a:xfrm>
          <a:prstGeom prst="roundRect">
            <a:avLst>
              <a:gd name="adj" fmla="val 10000"/>
            </a:avLst>
          </a:prstGeom>
          <a:solidFill>
            <a:schemeClr val="tx1"/>
          </a:solidFill>
          <a:ln/>
        </p:spPr>
      </p:sp>
      <p:sp>
        <p:nvSpPr>
          <p:cNvPr id="32" name="Text 29"/>
          <p:cNvSpPr txBox="1"/>
          <p:nvPr/>
        </p:nvSpPr>
        <p:spPr>
          <a:xfrm>
            <a:off x="640080" y="3794760"/>
            <a:ext cx="7863840" cy="731520"/>
          </a:xfrm>
          <a:prstGeom prst="rect">
            <a:avLst/>
          </a:prstGeom>
          <a:noFill/>
          <a:ln/>
        </p:spPr>
        <p:txBody>
          <a:bodyPr wrap="square" lIns="0" tIns="0" rIns="0" bIns="0" rtlCol="0" anchor="ctr"/>
          <a:lstStyle/>
          <a:p>
            <a:pPr indent="0" marL="0">
              <a:buNone/>
            </a:pPr>
            <a:r>
              <a:rPr lang="en-US" sz="1300" dirty="0">
                <a:solidFill>
                  <a:schemeClr val="bg1"/>
                </a:solidFill>
              </a:rPr>
              <a:t>Una domanda neutra chiede differenze e alternative, non conferme; non rivela la risposta desiderata; chiede che cosa manca.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I limiti dell'autoverifica</a:t>
            </a:r>
            <a:endParaRPr lang="it-IT" sz="2600" dirty="0"/>
          </a:p>
        </p:txBody>
      </p:sp>
      <p:sp>
        <p:nvSpPr>
          <p:cNvPr id="4" name="scheda Utile come primo filtro"/>
          <p:cNvSpPr/>
          <p:nvPr/>
        </p:nvSpPr>
        <p:spPr>
          <a:xfrm>
            <a:off x="457200" y="1097280"/>
            <a:ext cx="3017520" cy="3429000"/>
          </a:xfrm>
          <a:prstGeom prst="roundRect">
            <a:avLst>
              <a:gd name="adj" fmla="val 2424"/>
            </a:avLst>
          </a:prstGeom>
          <a:solidFill>
            <a:schemeClr val="accent6"/>
          </a:solidFill>
          <a:ln/>
        </p:spPr>
        <p:txBody>
          <a:bodyPr/>
          <a:lstStyle/>
          <a:p>
            <a:endParaRPr lang="it-IT" dirty="0"/>
          </a:p>
        </p:txBody>
      </p:sp>
      <p:sp>
        <p:nvSpPr>
          <p:cNvPr id="5" name="cerchio FiFilter"/>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Filter"/>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651760" cy="347472"/>
          </a:xfrm>
          <a:prstGeom prst="rect">
            <a:avLst/>
          </a:prstGeom>
          <a:noFill/>
          <a:ln/>
        </p:spPr>
        <p:txBody>
          <a:bodyPr wrap="square" lIns="0" tIns="0" rIns="0" bIns="0" rtlCol="0" anchor="t"/>
          <a:lstStyle/>
          <a:p>
            <a:pPr marL="0" indent="0">
              <a:buNone/>
            </a:pPr>
            <a:r>
              <a:rPr lang="it-IT" sz="1500" b="1" dirty="0">
                <a:solidFill>
                  <a:schemeClr val="tx1"/>
                </a:solidFill>
              </a:rPr>
              <a:t>Utile come primo filtro</a:t>
            </a:r>
            <a:endParaRPr lang="it-IT" sz="1500" dirty="0"/>
          </a:p>
        </p:txBody>
      </p:sp>
      <p:sp>
        <p:nvSpPr>
          <p:cNvPr id="8" name="Text 4"/>
          <p:cNvSpPr txBox="1"/>
          <p:nvPr/>
        </p:nvSpPr>
        <p:spPr>
          <a:xfrm>
            <a:off x="640080" y="2231136"/>
            <a:ext cx="2651760" cy="2185416"/>
          </a:xfrm>
          <a:prstGeom prst="rect">
            <a:avLst/>
          </a:prstGeom>
          <a:noFill/>
          <a:ln/>
        </p:spPr>
        <p:txBody>
          <a:bodyPr wrap="square" lIns="0" tIns="0" rIns="0" bIns="0" rtlCol="0" anchor="t"/>
          <a:lstStyle/>
          <a:p>
            <a:pPr marL="177800" indent="-177800">
              <a:spcAft>
                <a:spcPts val="400"/>
              </a:spcAft>
              <a:buSzPct val="100000"/>
              <a:buChar char="•"/>
            </a:pPr>
            <a:r>
              <a:rPr lang="it-IT" sz="1300" dirty="0">
                <a:solidFill>
                  <a:schemeClr val="tx2"/>
                </a:solidFill>
              </a:rPr>
              <a:t>Rileggere e cercare errori</a:t>
            </a:r>
            <a:endParaRPr lang="it-IT" sz="1300" dirty="0"/>
          </a:p>
          <a:p>
            <a:pPr marL="177800" indent="-177800">
              <a:spcAft>
                <a:spcPts val="400"/>
              </a:spcAft>
              <a:buSzPct val="100000"/>
              <a:buChar char="•"/>
            </a:pPr>
            <a:r>
              <a:rPr lang="it-IT" sz="1300" dirty="0">
                <a:solidFill>
                  <a:schemeClr val="tx2"/>
                </a:solidFill>
              </a:rPr>
              <a:t>Mostrare i passaggi</a:t>
            </a:r>
            <a:endParaRPr lang="it-IT" sz="1300" dirty="0"/>
          </a:p>
          <a:p>
            <a:pPr marL="177800" indent="-177800">
              <a:spcAft>
                <a:spcPts val="400"/>
              </a:spcAft>
              <a:buSzPct val="100000"/>
              <a:buChar char="•"/>
            </a:pPr>
            <a:r>
              <a:rPr lang="it-IT" sz="1300" dirty="0">
                <a:solidFill>
                  <a:schemeClr val="tx2"/>
                </a:solidFill>
              </a:rPr>
              <a:t>Far emergere sbagli evidenti in calcoli e logica</a:t>
            </a:r>
            <a:endParaRPr lang="it-IT" sz="1300" dirty="0"/>
          </a:p>
        </p:txBody>
      </p:sp>
      <p:sp>
        <p:nvSpPr>
          <p:cNvPr id="9" name="Text 5"/>
          <p:cNvSpPr txBox="1"/>
          <p:nvPr/>
        </p:nvSpPr>
        <p:spPr>
          <a:xfrm>
            <a:off x="3749040" y="1097280"/>
            <a:ext cx="4937760" cy="320040"/>
          </a:xfrm>
          <a:prstGeom prst="rect">
            <a:avLst/>
          </a:prstGeom>
          <a:noFill/>
          <a:ln/>
        </p:spPr>
        <p:txBody>
          <a:bodyPr wrap="square" lIns="0" tIns="0" rIns="0" bIns="0" rtlCol="0" anchor="t"/>
          <a:lstStyle/>
          <a:p>
            <a:pPr marL="0" indent="0">
              <a:buNone/>
            </a:pPr>
            <a:r>
              <a:rPr lang="it-IT" sz="1500" b="1" dirty="0">
                <a:solidFill>
                  <a:schemeClr val="tx1"/>
                </a:solidFill>
              </a:rPr>
              <a:t>Ma non è una verifica indipendente</a:t>
            </a:r>
            <a:endParaRPr lang="it-IT" sz="1500" dirty="0"/>
          </a:p>
        </p:txBody>
      </p:sp>
      <p:sp>
        <p:nvSpPr>
          <p:cNvPr id="10" name="cerchio FiRepeat"/>
          <p:cNvSpPr/>
          <p:nvPr/>
        </p:nvSpPr>
        <p:spPr>
          <a:xfrm>
            <a:off x="3749040" y="1554480"/>
            <a:ext cx="457200" cy="457200"/>
          </a:xfrm>
          <a:prstGeom prst="ellipse">
            <a:avLst/>
          </a:prstGeom>
          <a:solidFill>
            <a:schemeClr val="accent5"/>
          </a:solidFill>
          <a:ln/>
        </p:spPr>
        <p:txBody>
          <a:bodyPr/>
          <a:lstStyle/>
          <a:p>
            <a:endParaRPr lang="it-IT" dirty="0"/>
          </a:p>
        </p:txBody>
      </p:sp>
      <p:pic>
        <p:nvPicPr>
          <p:cNvPr id="11" name="Image 1" descr="FiRepeat"/>
          <p:cNvPicPr>
            <a:picLocks noChangeAspect="1"/>
          </p:cNvPicPr>
          <p:nvPr/>
        </p:nvPicPr>
        <p:blipFill>
          <a:blip r:embed="rId4"/>
          <a:stretch>
            <a:fillRect/>
          </a:stretch>
        </p:blipFill>
        <p:spPr>
          <a:xfrm>
            <a:off x="3863340" y="1668780"/>
            <a:ext cx="228600" cy="228600"/>
          </a:xfrm>
          <a:prstGeom prst="rect">
            <a:avLst/>
          </a:prstGeom>
        </p:spPr>
      </p:pic>
      <p:sp>
        <p:nvSpPr>
          <p:cNvPr id="12" name="Text 7"/>
          <p:cNvSpPr txBox="1"/>
          <p:nvPr/>
        </p:nvSpPr>
        <p:spPr>
          <a:xfrm>
            <a:off x="4343400" y="1517904"/>
            <a:ext cx="4343400" cy="292608"/>
          </a:xfrm>
          <a:prstGeom prst="rect">
            <a:avLst/>
          </a:prstGeom>
          <a:noFill/>
          <a:ln/>
        </p:spPr>
        <p:txBody>
          <a:bodyPr wrap="square" lIns="0" tIns="0" rIns="0" bIns="0" rtlCol="0" anchor="t"/>
          <a:lstStyle/>
          <a:p>
            <a:pPr marL="0" indent="0">
              <a:buNone/>
            </a:pPr>
            <a:r>
              <a:rPr lang="it-IT" sz="1300" b="1" dirty="0">
                <a:solidFill>
                  <a:schemeClr val="tx1"/>
                </a:solidFill>
              </a:rPr>
              <a:t>Stessa conoscenza, stessi meccanismi</a:t>
            </a:r>
            <a:endParaRPr lang="it-IT" sz="1300" dirty="0"/>
          </a:p>
        </p:txBody>
      </p:sp>
      <p:sp>
        <p:nvSpPr>
          <p:cNvPr id="13" name="Text 8"/>
          <p:cNvSpPr txBox="1"/>
          <p:nvPr/>
        </p:nvSpPr>
        <p:spPr>
          <a:xfrm>
            <a:off x="4343400" y="1828800"/>
            <a:ext cx="4343400" cy="548640"/>
          </a:xfrm>
          <a:prstGeom prst="rect">
            <a:avLst/>
          </a:prstGeom>
          <a:noFill/>
          <a:ln/>
        </p:spPr>
        <p:txBody>
          <a:bodyPr wrap="square" lIns="0" tIns="0" rIns="0" bIns="0" rtlCol="0" anchor="t"/>
          <a:lstStyle/>
          <a:p>
            <a:pPr marL="0" indent="0">
              <a:buNone/>
            </a:pPr>
            <a:r>
              <a:rPr lang="it-IT" sz="1200" dirty="0">
                <a:solidFill>
                  <a:schemeClr val="tx2"/>
                </a:solidFill>
              </a:rPr>
              <a:t>Se non sa che un'informazione è falsa, non lo saprà al secondo controllo</a:t>
            </a:r>
            <a:endParaRPr lang="it-IT" sz="1200" dirty="0"/>
          </a:p>
        </p:txBody>
      </p:sp>
      <p:sp>
        <p:nvSpPr>
          <p:cNvPr id="14" name="cerchio FiThumbsUp"/>
          <p:cNvSpPr/>
          <p:nvPr/>
        </p:nvSpPr>
        <p:spPr>
          <a:xfrm>
            <a:off x="3749040" y="2542032"/>
            <a:ext cx="457200" cy="457200"/>
          </a:xfrm>
          <a:prstGeom prst="ellipse">
            <a:avLst/>
          </a:prstGeom>
          <a:solidFill>
            <a:schemeClr val="accent5"/>
          </a:solidFill>
          <a:ln/>
        </p:spPr>
        <p:txBody>
          <a:bodyPr/>
          <a:lstStyle/>
          <a:p>
            <a:endParaRPr lang="it-IT" dirty="0"/>
          </a:p>
        </p:txBody>
      </p:sp>
      <p:pic>
        <p:nvPicPr>
          <p:cNvPr id="15" name="Image 2" descr="FiThumbsUp"/>
          <p:cNvPicPr>
            <a:picLocks noChangeAspect="1"/>
          </p:cNvPicPr>
          <p:nvPr/>
        </p:nvPicPr>
        <p:blipFill>
          <a:blip r:embed="rId5"/>
          <a:stretch>
            <a:fillRect/>
          </a:stretch>
        </p:blipFill>
        <p:spPr>
          <a:xfrm>
            <a:off x="3863340" y="2656332"/>
            <a:ext cx="228600" cy="228600"/>
          </a:xfrm>
          <a:prstGeom prst="rect">
            <a:avLst/>
          </a:prstGeom>
        </p:spPr>
      </p:pic>
      <p:sp>
        <p:nvSpPr>
          <p:cNvPr id="16" name="Text 10"/>
          <p:cNvSpPr txBox="1"/>
          <p:nvPr/>
        </p:nvSpPr>
        <p:spPr>
          <a:xfrm>
            <a:off x="4343400" y="2505456"/>
            <a:ext cx="4343400" cy="292608"/>
          </a:xfrm>
          <a:prstGeom prst="rect">
            <a:avLst/>
          </a:prstGeom>
          <a:noFill/>
          <a:ln/>
        </p:spPr>
        <p:txBody>
          <a:bodyPr wrap="square" lIns="0" tIns="0" rIns="0" bIns="0" rtlCol="0" anchor="t"/>
          <a:lstStyle/>
          <a:p>
            <a:pPr marL="0" indent="0">
              <a:buNone/>
            </a:pPr>
            <a:r>
              <a:rPr lang="it-IT" sz="1300" b="1" dirty="0">
                <a:solidFill>
                  <a:schemeClr val="tx1"/>
                </a:solidFill>
              </a:rPr>
              <a:t>Tendenza ad assecondare</a:t>
            </a:r>
            <a:endParaRPr lang="it-IT" sz="1300" dirty="0"/>
          </a:p>
        </p:txBody>
      </p:sp>
      <p:sp>
        <p:nvSpPr>
          <p:cNvPr id="17" name="Text 11"/>
          <p:cNvSpPr txBox="1"/>
          <p:nvPr/>
        </p:nvSpPr>
        <p:spPr>
          <a:xfrm>
            <a:off x="4343400" y="2816352"/>
            <a:ext cx="4343400" cy="548640"/>
          </a:xfrm>
          <a:prstGeom prst="rect">
            <a:avLst/>
          </a:prstGeom>
          <a:noFill/>
          <a:ln/>
        </p:spPr>
        <p:txBody>
          <a:bodyPr wrap="square" lIns="0" tIns="0" rIns="0" bIns="0" rtlCol="0" anchor="t"/>
          <a:lstStyle/>
          <a:p>
            <a:pPr marL="0" indent="0">
              <a:buNone/>
            </a:pPr>
            <a:r>
              <a:rPr lang="it-IT" sz="1200" dirty="0">
                <a:solidFill>
                  <a:schemeClr val="tx2"/>
                </a:solidFill>
              </a:rPr>
              <a:t>Può confermare un errore o cambiare una risposta corretta</a:t>
            </a:r>
            <a:endParaRPr lang="it-IT" sz="1200" dirty="0"/>
          </a:p>
        </p:txBody>
      </p:sp>
      <p:sp>
        <p:nvSpPr>
          <p:cNvPr id="18" name="cerchio FiSearch"/>
          <p:cNvSpPr/>
          <p:nvPr/>
        </p:nvSpPr>
        <p:spPr>
          <a:xfrm>
            <a:off x="3749040" y="3529584"/>
            <a:ext cx="457200" cy="457200"/>
          </a:xfrm>
          <a:prstGeom prst="ellipse">
            <a:avLst/>
          </a:prstGeom>
          <a:solidFill>
            <a:schemeClr val="accent5"/>
          </a:solidFill>
          <a:ln/>
        </p:spPr>
        <p:txBody>
          <a:bodyPr/>
          <a:lstStyle/>
          <a:p>
            <a:endParaRPr lang="it-IT" dirty="0"/>
          </a:p>
        </p:txBody>
      </p:sp>
      <p:pic>
        <p:nvPicPr>
          <p:cNvPr id="19" name="Image 3" descr="FiSearch"/>
          <p:cNvPicPr>
            <a:picLocks noChangeAspect="1"/>
          </p:cNvPicPr>
          <p:nvPr/>
        </p:nvPicPr>
        <p:blipFill>
          <a:blip r:embed="rId6"/>
          <a:stretch>
            <a:fillRect/>
          </a:stretch>
        </p:blipFill>
        <p:spPr>
          <a:xfrm>
            <a:off x="3863340" y="3643884"/>
            <a:ext cx="228600" cy="228600"/>
          </a:xfrm>
          <a:prstGeom prst="rect">
            <a:avLst/>
          </a:prstGeom>
        </p:spPr>
      </p:pic>
      <p:sp>
        <p:nvSpPr>
          <p:cNvPr id="20" name="Text 13"/>
          <p:cNvSpPr txBox="1"/>
          <p:nvPr/>
        </p:nvSpPr>
        <p:spPr>
          <a:xfrm>
            <a:off x="4343400" y="3493008"/>
            <a:ext cx="4343400" cy="292608"/>
          </a:xfrm>
          <a:prstGeom prst="rect">
            <a:avLst/>
          </a:prstGeom>
          <a:noFill/>
          <a:ln/>
        </p:spPr>
        <p:txBody>
          <a:bodyPr wrap="square" lIns="0" tIns="0" rIns="0" bIns="0" rtlCol="0" anchor="t"/>
          <a:lstStyle/>
          <a:p>
            <a:pPr marL="0" indent="0">
              <a:buNone/>
            </a:pPr>
            <a:r>
              <a:rPr lang="it-IT" sz="1300" b="1" dirty="0">
                <a:solidFill>
                  <a:schemeClr val="tx1"/>
                </a:solidFill>
              </a:rPr>
              <a:t>Nessun accesso diretto alla verità</a:t>
            </a:r>
            <a:endParaRPr lang="it-IT" sz="1300" dirty="0"/>
          </a:p>
        </p:txBody>
      </p:sp>
      <p:sp>
        <p:nvSpPr>
          <p:cNvPr id="21" name="Text 14"/>
          <p:cNvSpPr txBox="1"/>
          <p:nvPr/>
        </p:nvSpPr>
        <p:spPr>
          <a:xfrm>
            <a:off x="4343400" y="3803904"/>
            <a:ext cx="4343400" cy="548640"/>
          </a:xfrm>
          <a:prstGeom prst="rect">
            <a:avLst/>
          </a:prstGeom>
          <a:noFill/>
          <a:ln/>
        </p:spPr>
        <p:txBody>
          <a:bodyPr wrap="square" lIns="0" tIns="0" rIns="0" bIns="0" rtlCol="0" anchor="t"/>
          <a:lstStyle/>
          <a:p>
            <a:pPr marL="0" indent="0">
              <a:buNone/>
            </a:pPr>
            <a:r>
              <a:rPr lang="it-IT" sz="1200" dirty="0">
                <a:solidFill>
                  <a:schemeClr val="tx2"/>
                </a:solidFill>
              </a:rPr>
              <a:t>Senza strumenti esterni, verificare significa rigenerare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48</a:t>
            </a:fld>
            <a:endParaRPr lang="it-IT"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Supervisione umana e verifica proporzionata</a:t>
            </a:r>
            <a:endParaRPr lang="it-IT" sz="2600" dirty="0"/>
          </a:p>
        </p:txBody>
      </p:sp>
      <p:sp>
        <p:nvSpPr>
          <p:cNvPr id="4" name="Leggera"/>
          <p:cNvSpPr/>
          <p:nvPr/>
        </p:nvSpPr>
        <p:spPr>
          <a:xfrm>
            <a:off x="457200" y="2194560"/>
            <a:ext cx="2615184" cy="1554480"/>
          </a:xfrm>
          <a:prstGeom prst="roundRect">
            <a:avLst>
              <a:gd name="adj" fmla="val 4706"/>
            </a:avLst>
          </a:prstGeom>
          <a:solidFill>
            <a:schemeClr val="bg2"/>
          </a:solidFill>
          <a:ln/>
        </p:spPr>
        <p:txBody>
          <a:bodyPr/>
          <a:lstStyle/>
          <a:p>
            <a:endParaRPr lang="it-IT" dirty="0"/>
          </a:p>
        </p:txBody>
      </p:sp>
      <p:sp>
        <p:nvSpPr>
          <p:cNvPr id="5" name="Text 2"/>
          <p:cNvSpPr txBox="1"/>
          <p:nvPr/>
        </p:nvSpPr>
        <p:spPr>
          <a:xfrm>
            <a:off x="640080" y="2304288"/>
            <a:ext cx="2286000" cy="347472"/>
          </a:xfrm>
          <a:prstGeom prst="rect">
            <a:avLst/>
          </a:prstGeom>
          <a:noFill/>
          <a:ln/>
        </p:spPr>
        <p:txBody>
          <a:bodyPr wrap="square" lIns="0" tIns="0" rIns="0" bIns="0" rtlCol="0" anchor="t"/>
          <a:lstStyle/>
          <a:p>
            <a:pPr marL="0" indent="0">
              <a:buNone/>
            </a:pPr>
            <a:r>
              <a:rPr lang="it-IT" sz="1600" b="1" dirty="0">
                <a:solidFill>
                  <a:schemeClr val="tx1"/>
                </a:solidFill>
              </a:rPr>
              <a:t>Verifica leggera</a:t>
            </a:r>
            <a:endParaRPr lang="it-IT" sz="1600" dirty="0"/>
          </a:p>
        </p:txBody>
      </p:sp>
      <p:sp>
        <p:nvSpPr>
          <p:cNvPr id="6" name="Text 3"/>
          <p:cNvSpPr txBox="1"/>
          <p:nvPr/>
        </p:nvSpPr>
        <p:spPr>
          <a:xfrm>
            <a:off x="640080" y="2670048"/>
            <a:ext cx="2286000" cy="457200"/>
          </a:xfrm>
          <a:prstGeom prst="rect">
            <a:avLst/>
          </a:prstGeom>
          <a:noFill/>
          <a:ln/>
        </p:spPr>
        <p:txBody>
          <a:bodyPr wrap="square" lIns="0" tIns="0" rIns="0" bIns="0" rtlCol="0" anchor="t"/>
          <a:lstStyle/>
          <a:p>
            <a:pPr marL="0" indent="0">
              <a:buNone/>
            </a:pPr>
            <a:r>
              <a:rPr lang="it-IT" sz="1300" b="1" dirty="0">
                <a:solidFill>
                  <a:schemeClr val="accent1"/>
                </a:solidFill>
              </a:rPr>
              <a:t>Rilettura critica</a:t>
            </a:r>
            <a:endParaRPr lang="it-IT" sz="1300" dirty="0"/>
          </a:p>
        </p:txBody>
      </p:sp>
      <p:sp>
        <p:nvSpPr>
          <p:cNvPr id="7" name="Text 4"/>
          <p:cNvSpPr txBox="1"/>
          <p:nvPr/>
        </p:nvSpPr>
        <p:spPr>
          <a:xfrm>
            <a:off x="640080" y="3108960"/>
            <a:ext cx="2286000" cy="548640"/>
          </a:xfrm>
          <a:prstGeom prst="rect">
            <a:avLst/>
          </a:prstGeom>
          <a:noFill/>
          <a:ln/>
        </p:spPr>
        <p:txBody>
          <a:bodyPr wrap="square" lIns="0" tIns="0" rIns="0" bIns="0" rtlCol="0" anchor="t"/>
          <a:lstStyle/>
          <a:p>
            <a:pPr marL="0" indent="0">
              <a:buNone/>
            </a:pPr>
            <a:r>
              <a:rPr lang="it-IT" sz="1200" dirty="0">
                <a:solidFill>
                  <a:schemeClr val="tx1"/>
                </a:solidFill>
              </a:rPr>
              <a:t>Bozze interne, idee, testi a basso impatto</a:t>
            </a:r>
            <a:endParaRPr lang="it-IT" sz="1200" dirty="0"/>
          </a:p>
        </p:txBody>
      </p:sp>
      <p:sp>
        <p:nvSpPr>
          <p:cNvPr id="8" name="Standard"/>
          <p:cNvSpPr/>
          <p:nvPr/>
        </p:nvSpPr>
        <p:spPr>
          <a:xfrm>
            <a:off x="3264408" y="1828800"/>
            <a:ext cx="2615184" cy="1920240"/>
          </a:xfrm>
          <a:prstGeom prst="roundRect">
            <a:avLst>
              <a:gd name="adj" fmla="val 3810"/>
            </a:avLst>
          </a:prstGeom>
          <a:solidFill>
            <a:schemeClr val="accent6"/>
          </a:solidFill>
          <a:ln/>
        </p:spPr>
        <p:txBody>
          <a:bodyPr/>
          <a:lstStyle/>
          <a:p>
            <a:endParaRPr lang="it-IT" dirty="0"/>
          </a:p>
        </p:txBody>
      </p:sp>
      <p:sp>
        <p:nvSpPr>
          <p:cNvPr id="9" name="Text 6"/>
          <p:cNvSpPr txBox="1"/>
          <p:nvPr/>
        </p:nvSpPr>
        <p:spPr>
          <a:xfrm>
            <a:off x="3447288" y="1938528"/>
            <a:ext cx="2286000" cy="347472"/>
          </a:xfrm>
          <a:prstGeom prst="rect">
            <a:avLst/>
          </a:prstGeom>
          <a:noFill/>
          <a:ln/>
        </p:spPr>
        <p:txBody>
          <a:bodyPr wrap="square" lIns="0" tIns="0" rIns="0" bIns="0" rtlCol="0" anchor="t"/>
          <a:lstStyle/>
          <a:p>
            <a:pPr marL="0" indent="0">
              <a:buNone/>
            </a:pPr>
            <a:r>
              <a:rPr lang="it-IT" sz="1600" b="1" dirty="0">
                <a:solidFill>
                  <a:schemeClr val="tx1"/>
                </a:solidFill>
              </a:rPr>
              <a:t>Verifica standard</a:t>
            </a:r>
            <a:endParaRPr lang="it-IT" sz="1600" dirty="0"/>
          </a:p>
        </p:txBody>
      </p:sp>
      <p:sp>
        <p:nvSpPr>
          <p:cNvPr id="10" name="Text 7"/>
          <p:cNvSpPr txBox="1"/>
          <p:nvPr/>
        </p:nvSpPr>
        <p:spPr>
          <a:xfrm>
            <a:off x="3447288" y="2304288"/>
            <a:ext cx="2286000" cy="457200"/>
          </a:xfrm>
          <a:prstGeom prst="rect">
            <a:avLst/>
          </a:prstGeom>
          <a:noFill/>
          <a:ln/>
        </p:spPr>
        <p:txBody>
          <a:bodyPr wrap="square" lIns="0" tIns="0" rIns="0" bIns="0" rtlCol="0" anchor="t"/>
          <a:lstStyle/>
          <a:p>
            <a:pPr marL="0" indent="0">
              <a:buNone/>
            </a:pPr>
            <a:r>
              <a:rPr lang="it-IT" sz="1300" b="1" dirty="0">
                <a:solidFill>
                  <a:schemeClr val="accent1"/>
                </a:solidFill>
              </a:rPr>
              <a:t>Fatti principali, numeri, fonti</a:t>
            </a:r>
            <a:endParaRPr lang="it-IT" sz="1300" dirty="0"/>
          </a:p>
        </p:txBody>
      </p:sp>
      <p:sp>
        <p:nvSpPr>
          <p:cNvPr id="11" name="Text 8"/>
          <p:cNvSpPr txBox="1"/>
          <p:nvPr/>
        </p:nvSpPr>
        <p:spPr>
          <a:xfrm>
            <a:off x="3447288" y="2743200"/>
            <a:ext cx="2286000" cy="914400"/>
          </a:xfrm>
          <a:prstGeom prst="rect">
            <a:avLst/>
          </a:prstGeom>
          <a:noFill/>
          <a:ln/>
        </p:spPr>
        <p:txBody>
          <a:bodyPr wrap="square" lIns="0" tIns="0" rIns="0" bIns="0" rtlCol="0" anchor="t"/>
          <a:lstStyle/>
          <a:p>
            <a:pPr marL="0" indent="0">
              <a:buNone/>
            </a:pPr>
            <a:r>
              <a:rPr lang="it-IT" sz="1200" dirty="0">
                <a:solidFill>
                  <a:schemeClr val="tx1"/>
                </a:solidFill>
              </a:rPr>
              <a:t>Documenti che escono dal gruppo di lavoro</a:t>
            </a:r>
            <a:endParaRPr lang="it-IT" sz="1200" dirty="0"/>
          </a:p>
        </p:txBody>
      </p:sp>
      <p:sp>
        <p:nvSpPr>
          <p:cNvPr id="12" name="Approfondita"/>
          <p:cNvSpPr/>
          <p:nvPr/>
        </p:nvSpPr>
        <p:spPr>
          <a:xfrm>
            <a:off x="6071616" y="1463040"/>
            <a:ext cx="2615184" cy="2286000"/>
          </a:xfrm>
          <a:prstGeom prst="roundRect">
            <a:avLst>
              <a:gd name="adj" fmla="val 3200"/>
            </a:avLst>
          </a:prstGeom>
          <a:solidFill>
            <a:schemeClr val="accent1"/>
          </a:solidFill>
          <a:ln/>
        </p:spPr>
        <p:txBody>
          <a:bodyPr/>
          <a:lstStyle/>
          <a:p>
            <a:endParaRPr lang="it-IT" dirty="0"/>
          </a:p>
        </p:txBody>
      </p:sp>
      <p:sp>
        <p:nvSpPr>
          <p:cNvPr id="13" name="Text 10"/>
          <p:cNvSpPr txBox="1"/>
          <p:nvPr/>
        </p:nvSpPr>
        <p:spPr>
          <a:xfrm>
            <a:off x="6254496" y="1572768"/>
            <a:ext cx="2286000" cy="347472"/>
          </a:xfrm>
          <a:prstGeom prst="rect">
            <a:avLst/>
          </a:prstGeom>
          <a:noFill/>
          <a:ln/>
        </p:spPr>
        <p:txBody>
          <a:bodyPr wrap="square" lIns="0" tIns="0" rIns="0" bIns="0" rtlCol="0" anchor="t"/>
          <a:lstStyle/>
          <a:p>
            <a:pPr marL="0" indent="0">
              <a:buNone/>
            </a:pPr>
            <a:r>
              <a:rPr lang="it-IT" sz="1600" b="1" dirty="0">
                <a:solidFill>
                  <a:schemeClr val="bg1"/>
                </a:solidFill>
              </a:rPr>
              <a:t>Verifica approfondita</a:t>
            </a:r>
            <a:endParaRPr lang="it-IT" sz="1600" dirty="0"/>
          </a:p>
        </p:txBody>
      </p:sp>
      <p:sp>
        <p:nvSpPr>
          <p:cNvPr id="14" name="Text 11"/>
          <p:cNvSpPr txBox="1"/>
          <p:nvPr/>
        </p:nvSpPr>
        <p:spPr>
          <a:xfrm>
            <a:off x="6254496" y="1938528"/>
            <a:ext cx="2286000" cy="457200"/>
          </a:xfrm>
          <a:prstGeom prst="rect">
            <a:avLst/>
          </a:prstGeom>
          <a:noFill/>
          <a:ln/>
        </p:spPr>
        <p:txBody>
          <a:bodyPr wrap="square" lIns="0" tIns="0" rIns="0" bIns="0" rtlCol="0" anchor="t"/>
          <a:lstStyle/>
          <a:p>
            <a:pPr marL="0" indent="0">
              <a:buNone/>
            </a:pPr>
            <a:r>
              <a:rPr lang="it-IT" sz="1300" b="1" dirty="0">
                <a:solidFill>
                  <a:schemeClr val="accent6"/>
                </a:solidFill>
              </a:rPr>
              <a:t>Fonti indipendenti e revisione esperta</a:t>
            </a:r>
            <a:endParaRPr lang="it-IT" sz="1300" dirty="0"/>
          </a:p>
        </p:txBody>
      </p:sp>
      <p:sp>
        <p:nvSpPr>
          <p:cNvPr id="15" name="Text 12"/>
          <p:cNvSpPr txBox="1"/>
          <p:nvPr/>
        </p:nvSpPr>
        <p:spPr>
          <a:xfrm>
            <a:off x="6254496" y="2377440"/>
            <a:ext cx="2286000" cy="1280160"/>
          </a:xfrm>
          <a:prstGeom prst="rect">
            <a:avLst/>
          </a:prstGeom>
          <a:noFill/>
          <a:ln/>
        </p:spPr>
        <p:txBody>
          <a:bodyPr wrap="square" lIns="0" tIns="0" rIns="0" bIns="0" rtlCol="0" anchor="t"/>
          <a:lstStyle/>
          <a:p>
            <a:pPr marL="0" indent="0">
              <a:buNone/>
            </a:pPr>
            <a:r>
              <a:rPr lang="it-IT" sz="1200" dirty="0">
                <a:solidFill>
                  <a:schemeClr val="bg1"/>
                </a:solidFill>
              </a:rPr>
              <a:t>Conseguenze legali, economiche, di sicurezza, reputazionali</a:t>
            </a:r>
            <a:endParaRPr lang="it-IT" sz="1200" dirty="0"/>
          </a:p>
        </p:txBody>
      </p:sp>
      <p:sp>
        <p:nvSpPr>
          <p:cNvPr id="16" name="scheda Chi verifica deve avere le competenze"/>
          <p:cNvSpPr/>
          <p:nvPr/>
        </p:nvSpPr>
        <p:spPr>
          <a:xfrm>
            <a:off x="457200" y="3886200"/>
            <a:ext cx="3977640" cy="685800"/>
          </a:xfrm>
          <a:prstGeom prst="roundRect">
            <a:avLst>
              <a:gd name="adj" fmla="val 10667"/>
            </a:avLst>
          </a:prstGeom>
          <a:solidFill>
            <a:schemeClr val="bg2"/>
          </a:solidFill>
          <a:ln/>
        </p:spPr>
        <p:txBody>
          <a:bodyPr/>
          <a:lstStyle/>
          <a:p>
            <a:endParaRPr lang="it-IT" dirty="0"/>
          </a:p>
        </p:txBody>
      </p:sp>
      <p:sp>
        <p:nvSpPr>
          <p:cNvPr id="17" name="Text 14"/>
          <p:cNvSpPr txBox="1"/>
          <p:nvPr/>
        </p:nvSpPr>
        <p:spPr>
          <a:xfrm>
            <a:off x="640080" y="4069080"/>
            <a:ext cx="3611880" cy="347472"/>
          </a:xfrm>
          <a:prstGeom prst="rect">
            <a:avLst/>
          </a:prstGeom>
          <a:noFill/>
          <a:ln/>
        </p:spPr>
        <p:txBody>
          <a:bodyPr wrap="square" lIns="0" tIns="0" rIns="0" bIns="0" rtlCol="0" anchor="t"/>
          <a:lstStyle/>
          <a:p>
            <a:pPr marL="0" indent="0">
              <a:buNone/>
            </a:pPr>
            <a:r>
              <a:rPr lang="it-IT" sz="1300" b="1" dirty="0">
                <a:solidFill>
                  <a:schemeClr val="tx1"/>
                </a:solidFill>
              </a:rPr>
              <a:t>Chi verifica deve avere le competenze</a:t>
            </a:r>
            <a:endParaRPr lang="it-IT" sz="1300" dirty="0"/>
          </a:p>
        </p:txBody>
      </p:sp>
      <p:sp>
        <p:nvSpPr>
          <p:cNvPr id="18" name="scheda Automation bias: più funziona, meno controlliamo"/>
          <p:cNvSpPr/>
          <p:nvPr/>
        </p:nvSpPr>
        <p:spPr>
          <a:xfrm>
            <a:off x="4709160" y="3886200"/>
            <a:ext cx="3977640" cy="685800"/>
          </a:xfrm>
          <a:prstGeom prst="roundRect">
            <a:avLst>
              <a:gd name="adj" fmla="val 10667"/>
            </a:avLst>
          </a:prstGeom>
          <a:solidFill>
            <a:schemeClr val="bg2"/>
          </a:solidFill>
          <a:ln/>
        </p:spPr>
        <p:txBody>
          <a:bodyPr/>
          <a:lstStyle/>
          <a:p>
            <a:endParaRPr lang="it-IT" dirty="0"/>
          </a:p>
        </p:txBody>
      </p:sp>
      <p:sp>
        <p:nvSpPr>
          <p:cNvPr id="19" name="Text 16"/>
          <p:cNvSpPr txBox="1"/>
          <p:nvPr/>
        </p:nvSpPr>
        <p:spPr>
          <a:xfrm>
            <a:off x="4892040" y="3951514"/>
            <a:ext cx="3611880" cy="347472"/>
          </a:xfrm>
          <a:prstGeom prst="rect">
            <a:avLst/>
          </a:prstGeom>
          <a:noFill/>
          <a:ln/>
        </p:spPr>
        <p:txBody>
          <a:bodyPr wrap="square" lIns="0" tIns="0" rIns="0" bIns="0" rtlCol="0" anchor="t"/>
          <a:lstStyle/>
          <a:p>
            <a:pPr marL="0" indent="0">
              <a:buNone/>
            </a:pPr>
            <a:r>
              <a:rPr lang="it-IT" sz="1300" b="1" dirty="0">
                <a:solidFill>
                  <a:schemeClr val="tx1"/>
                </a:solidFill>
              </a:rPr>
              <a:t>Automation </a:t>
            </a:r>
            <a:r>
              <a:rPr lang="it-IT" sz="1300" b="1" dirty="0" err="1">
                <a:solidFill>
                  <a:schemeClr val="tx1"/>
                </a:solidFill>
              </a:rPr>
              <a:t>bias</a:t>
            </a:r>
            <a:r>
              <a:rPr lang="it-IT" sz="1300" b="1" dirty="0">
                <a:solidFill>
                  <a:schemeClr val="tx1"/>
                </a:solidFill>
              </a:rPr>
              <a:t>: </a:t>
            </a:r>
            <a:r>
              <a:rPr lang="it-IT" sz="1300" dirty="0">
                <a:solidFill>
                  <a:schemeClr val="tx1"/>
                </a:solidFill>
              </a:rPr>
              <a:t>Quando un sistema funziona bene abitualmente, possiamo essere portati a controllarne meno criticamente i risultati.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83</a:t>
            </a:fld>
            <a:endParaRPr lang="it-IT"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Attività a basso e alto impatto</a:t>
            </a:r>
            <a:endParaRPr lang="it-IT" sz="2600" dirty="0"/>
          </a:p>
        </p:txBody>
      </p:sp>
      <p:sp>
        <p:nvSpPr>
          <p:cNvPr id="4" name="Text 1"/>
          <p:cNvSpPr txBox="1"/>
          <p:nvPr/>
        </p:nvSpPr>
        <p:spPr>
          <a:xfrm>
            <a:off x="1463040" y="1051560"/>
            <a:ext cx="3474720" cy="274320"/>
          </a:xfrm>
          <a:prstGeom prst="rect">
            <a:avLst/>
          </a:prstGeom>
          <a:noFill/>
          <a:ln/>
        </p:spPr>
        <p:txBody>
          <a:bodyPr wrap="square" lIns="0" tIns="0" rIns="0" bIns="0" rtlCol="0" anchor="t"/>
          <a:lstStyle/>
          <a:p>
            <a:pPr marL="0" indent="0" algn="ctr">
              <a:buNone/>
            </a:pPr>
            <a:r>
              <a:rPr lang="it-IT" sz="1200" b="1" dirty="0">
                <a:solidFill>
                  <a:schemeClr val="accent2"/>
                </a:solidFill>
              </a:rPr>
              <a:t>Verifica facile</a:t>
            </a:r>
            <a:endParaRPr lang="it-IT" sz="1200" dirty="0"/>
          </a:p>
        </p:txBody>
      </p:sp>
      <p:sp>
        <p:nvSpPr>
          <p:cNvPr id="5" name="Text 2"/>
          <p:cNvSpPr txBox="1"/>
          <p:nvPr/>
        </p:nvSpPr>
        <p:spPr>
          <a:xfrm>
            <a:off x="5029200" y="1051560"/>
            <a:ext cx="3474720" cy="274320"/>
          </a:xfrm>
          <a:prstGeom prst="rect">
            <a:avLst/>
          </a:prstGeom>
          <a:noFill/>
          <a:ln/>
        </p:spPr>
        <p:txBody>
          <a:bodyPr wrap="square" lIns="0" tIns="0" rIns="0" bIns="0" rtlCol="0" anchor="t"/>
          <a:lstStyle/>
          <a:p>
            <a:pPr marL="0" indent="0" algn="ctr">
              <a:buNone/>
            </a:pPr>
            <a:r>
              <a:rPr lang="it-IT" sz="1200" b="1" dirty="0">
                <a:solidFill>
                  <a:schemeClr val="accent2"/>
                </a:solidFill>
              </a:rPr>
              <a:t>Verifica difficile</a:t>
            </a:r>
            <a:endParaRPr lang="it-IT" sz="1200" dirty="0"/>
          </a:p>
        </p:txBody>
      </p:sp>
      <p:sp>
        <p:nvSpPr>
          <p:cNvPr id="6" name="Text 3"/>
          <p:cNvSpPr txBox="1"/>
          <p:nvPr/>
        </p:nvSpPr>
        <p:spPr>
          <a:xfrm>
            <a:off x="457200" y="1371600"/>
            <a:ext cx="914400" cy="1463040"/>
          </a:xfrm>
          <a:prstGeom prst="rect">
            <a:avLst/>
          </a:prstGeom>
          <a:noFill/>
          <a:ln/>
        </p:spPr>
        <p:txBody>
          <a:bodyPr wrap="square" lIns="0" tIns="0" rIns="0" bIns="0" rtlCol="0" anchor="ctr"/>
          <a:lstStyle/>
          <a:p>
            <a:pPr marL="0" indent="0">
              <a:buNone/>
            </a:pPr>
            <a:r>
              <a:rPr lang="it-IT" sz="1200" b="1" dirty="0">
                <a:solidFill>
                  <a:schemeClr val="accent2"/>
                </a:solidFill>
              </a:rPr>
              <a:t>Basso impatto</a:t>
            </a:r>
            <a:endParaRPr lang="it-IT" sz="1200" dirty="0"/>
          </a:p>
        </p:txBody>
      </p:sp>
      <p:sp>
        <p:nvSpPr>
          <p:cNvPr id="7" name="Text 4"/>
          <p:cNvSpPr txBox="1"/>
          <p:nvPr/>
        </p:nvSpPr>
        <p:spPr>
          <a:xfrm>
            <a:off x="457200" y="2971800"/>
            <a:ext cx="914400" cy="1463040"/>
          </a:xfrm>
          <a:prstGeom prst="rect">
            <a:avLst/>
          </a:prstGeom>
          <a:noFill/>
          <a:ln/>
        </p:spPr>
        <p:txBody>
          <a:bodyPr wrap="square" lIns="0" tIns="0" rIns="0" bIns="0" rtlCol="0" anchor="ctr"/>
          <a:lstStyle/>
          <a:p>
            <a:pPr marL="0" indent="0">
              <a:buNone/>
            </a:pPr>
            <a:r>
              <a:rPr lang="it-IT" sz="1200" b="1" dirty="0">
                <a:solidFill>
                  <a:schemeClr val="accent2"/>
                </a:solidFill>
              </a:rPr>
              <a:t>Alto impatto</a:t>
            </a:r>
            <a:endParaRPr lang="it-IT" sz="1200" dirty="0"/>
          </a:p>
        </p:txBody>
      </p:sp>
      <p:sp>
        <p:nvSpPr>
          <p:cNvPr id="8" name="Usare liberamente"/>
          <p:cNvSpPr/>
          <p:nvPr/>
        </p:nvSpPr>
        <p:spPr>
          <a:xfrm>
            <a:off x="1463040" y="1371600"/>
            <a:ext cx="3429000" cy="1463040"/>
          </a:xfrm>
          <a:prstGeom prst="roundRect">
            <a:avLst>
              <a:gd name="adj" fmla="val 5000"/>
            </a:avLst>
          </a:prstGeom>
          <a:solidFill>
            <a:schemeClr val="accent6"/>
          </a:solidFill>
          <a:ln/>
        </p:spPr>
        <p:txBody>
          <a:bodyPr/>
          <a:lstStyle/>
          <a:p>
            <a:endParaRPr lang="it-IT" dirty="0"/>
          </a:p>
        </p:txBody>
      </p:sp>
      <p:sp>
        <p:nvSpPr>
          <p:cNvPr id="9" name="Text 6"/>
          <p:cNvSpPr txBox="1"/>
          <p:nvPr/>
        </p:nvSpPr>
        <p:spPr>
          <a:xfrm>
            <a:off x="1645920" y="1463040"/>
            <a:ext cx="3063240" cy="347472"/>
          </a:xfrm>
          <a:prstGeom prst="rect">
            <a:avLst/>
          </a:prstGeom>
          <a:noFill/>
          <a:ln/>
        </p:spPr>
        <p:txBody>
          <a:bodyPr wrap="square" lIns="0" tIns="0" rIns="0" bIns="0" rtlCol="0" anchor="t"/>
          <a:lstStyle/>
          <a:p>
            <a:pPr marL="0" indent="0">
              <a:buNone/>
            </a:pPr>
            <a:r>
              <a:rPr lang="it-IT" sz="1500" b="1" dirty="0">
                <a:solidFill>
                  <a:schemeClr val="tx1"/>
                </a:solidFill>
              </a:rPr>
              <a:t>Utilizzo diretto con controllo leggero</a:t>
            </a:r>
            <a:endParaRPr lang="it-IT" sz="1500" dirty="0"/>
          </a:p>
        </p:txBody>
      </p:sp>
      <p:sp>
        <p:nvSpPr>
          <p:cNvPr id="10" name="Text 7"/>
          <p:cNvSpPr txBox="1"/>
          <p:nvPr/>
        </p:nvSpPr>
        <p:spPr>
          <a:xfrm>
            <a:off x="1645920" y="1828800"/>
            <a:ext cx="3063240" cy="292608"/>
          </a:xfrm>
          <a:prstGeom prst="rect">
            <a:avLst/>
          </a:prstGeom>
          <a:noFill/>
          <a:ln/>
        </p:spPr>
        <p:txBody>
          <a:bodyPr wrap="square" lIns="0" tIns="0" rIns="0" bIns="0" rtlCol="0" anchor="t"/>
          <a:lstStyle/>
          <a:p>
            <a:pPr marL="0" indent="0">
              <a:buNone/>
            </a:pPr>
            <a:r>
              <a:rPr lang="it-IT" sz="1200" b="1" dirty="0">
                <a:solidFill>
                  <a:schemeClr val="accent1"/>
                </a:solidFill>
              </a:rPr>
              <a:t>Con una rilettura</a:t>
            </a:r>
            <a:endParaRPr lang="it-IT" sz="1200" dirty="0"/>
          </a:p>
        </p:txBody>
      </p:sp>
      <p:sp>
        <p:nvSpPr>
          <p:cNvPr id="11" name="Text 8"/>
          <p:cNvSpPr txBox="1"/>
          <p:nvPr/>
        </p:nvSpPr>
        <p:spPr>
          <a:xfrm>
            <a:off x="1645920" y="2148840"/>
            <a:ext cx="3063240" cy="640080"/>
          </a:xfrm>
          <a:prstGeom prst="rect">
            <a:avLst/>
          </a:prstGeom>
          <a:noFill/>
          <a:ln/>
        </p:spPr>
        <p:txBody>
          <a:bodyPr wrap="square" lIns="0" tIns="0" rIns="0" bIns="0" rtlCol="0" anchor="t"/>
          <a:lstStyle/>
          <a:p>
            <a:pPr marL="0" indent="0">
              <a:buNone/>
            </a:pPr>
            <a:r>
              <a:rPr lang="it-IT" sz="1200" dirty="0">
                <a:solidFill>
                  <a:schemeClr val="tx1"/>
                </a:solidFill>
              </a:rPr>
              <a:t>Bozze interne, idee, riformulazioni</a:t>
            </a:r>
            <a:endParaRPr lang="it-IT" sz="1200" dirty="0"/>
          </a:p>
        </p:txBody>
      </p:sp>
      <p:sp>
        <p:nvSpPr>
          <p:cNvPr id="12" name="Usare come indicazione"/>
          <p:cNvSpPr/>
          <p:nvPr/>
        </p:nvSpPr>
        <p:spPr>
          <a:xfrm>
            <a:off x="5029200" y="1371600"/>
            <a:ext cx="3429000" cy="1463040"/>
          </a:xfrm>
          <a:prstGeom prst="roundRect">
            <a:avLst>
              <a:gd name="adj" fmla="val 5000"/>
            </a:avLst>
          </a:prstGeom>
          <a:solidFill>
            <a:schemeClr val="bg2"/>
          </a:solidFill>
          <a:ln/>
        </p:spPr>
        <p:txBody>
          <a:bodyPr/>
          <a:lstStyle/>
          <a:p>
            <a:endParaRPr lang="it-IT" dirty="0"/>
          </a:p>
        </p:txBody>
      </p:sp>
      <p:sp>
        <p:nvSpPr>
          <p:cNvPr id="13" name="Text 10"/>
          <p:cNvSpPr txBox="1"/>
          <p:nvPr/>
        </p:nvSpPr>
        <p:spPr>
          <a:xfrm>
            <a:off x="5212080" y="1463040"/>
            <a:ext cx="3063240" cy="347472"/>
          </a:xfrm>
          <a:prstGeom prst="rect">
            <a:avLst/>
          </a:prstGeom>
          <a:noFill/>
          <a:ln/>
        </p:spPr>
        <p:txBody>
          <a:bodyPr wrap="square" lIns="0" tIns="0" rIns="0" bIns="0" rtlCol="0" anchor="t"/>
          <a:lstStyle/>
          <a:p>
            <a:pPr marL="0" indent="0">
              <a:buNone/>
            </a:pPr>
            <a:r>
              <a:rPr lang="it-IT" sz="1500" b="1" dirty="0">
                <a:solidFill>
                  <a:schemeClr val="tx1"/>
                </a:solidFill>
              </a:rPr>
              <a:t>Usare come indicazione</a:t>
            </a:r>
            <a:endParaRPr lang="it-IT" sz="1500" dirty="0"/>
          </a:p>
        </p:txBody>
      </p:sp>
      <p:sp>
        <p:nvSpPr>
          <p:cNvPr id="14" name="Text 11"/>
          <p:cNvSpPr txBox="1"/>
          <p:nvPr/>
        </p:nvSpPr>
        <p:spPr>
          <a:xfrm>
            <a:off x="5212080" y="1828800"/>
            <a:ext cx="3063240" cy="292608"/>
          </a:xfrm>
          <a:prstGeom prst="rect">
            <a:avLst/>
          </a:prstGeom>
          <a:noFill/>
          <a:ln/>
        </p:spPr>
        <p:txBody>
          <a:bodyPr wrap="square" lIns="0" tIns="0" rIns="0" bIns="0" rtlCol="0" anchor="t"/>
          <a:lstStyle/>
          <a:p>
            <a:pPr marL="0" indent="0">
              <a:buNone/>
            </a:pPr>
            <a:r>
              <a:rPr lang="it-IT" sz="1200" b="1" dirty="0">
                <a:solidFill>
                  <a:schemeClr val="accent1"/>
                </a:solidFill>
              </a:rPr>
              <a:t>Da approfondire, non conclusioni</a:t>
            </a:r>
            <a:endParaRPr lang="it-IT" sz="1200" dirty="0"/>
          </a:p>
        </p:txBody>
      </p:sp>
      <p:sp>
        <p:nvSpPr>
          <p:cNvPr id="15" name="Text 12"/>
          <p:cNvSpPr txBox="1"/>
          <p:nvPr/>
        </p:nvSpPr>
        <p:spPr>
          <a:xfrm>
            <a:off x="5212080" y="2148840"/>
            <a:ext cx="3063240" cy="640080"/>
          </a:xfrm>
          <a:prstGeom prst="rect">
            <a:avLst/>
          </a:prstGeom>
          <a:noFill/>
          <a:ln/>
        </p:spPr>
        <p:txBody>
          <a:bodyPr wrap="square" lIns="0" tIns="0" rIns="0" bIns="0" rtlCol="0" anchor="t"/>
          <a:lstStyle/>
          <a:p>
            <a:pPr marL="0" indent="0">
              <a:buNone/>
            </a:pPr>
            <a:r>
              <a:rPr lang="it-IT" sz="1200" dirty="0">
                <a:solidFill>
                  <a:schemeClr val="tx1"/>
                </a:solidFill>
              </a:rPr>
              <a:t>Ricerche esplorative su temi poco noti</a:t>
            </a:r>
            <a:endParaRPr lang="it-IT" sz="1200" dirty="0"/>
          </a:p>
        </p:txBody>
      </p:sp>
      <p:sp>
        <p:nvSpPr>
          <p:cNvPr id="16" name="Usare con verifica sistematica"/>
          <p:cNvSpPr/>
          <p:nvPr/>
        </p:nvSpPr>
        <p:spPr>
          <a:xfrm>
            <a:off x="1463040" y="2971800"/>
            <a:ext cx="3429000" cy="1463040"/>
          </a:xfrm>
          <a:prstGeom prst="roundRect">
            <a:avLst>
              <a:gd name="adj" fmla="val 5000"/>
            </a:avLst>
          </a:prstGeom>
          <a:solidFill>
            <a:schemeClr val="bg2"/>
          </a:solidFill>
          <a:ln/>
        </p:spPr>
        <p:txBody>
          <a:bodyPr/>
          <a:lstStyle/>
          <a:p>
            <a:endParaRPr lang="it-IT" dirty="0"/>
          </a:p>
        </p:txBody>
      </p:sp>
      <p:sp>
        <p:nvSpPr>
          <p:cNvPr id="17" name="Text 14"/>
          <p:cNvSpPr txBox="1"/>
          <p:nvPr/>
        </p:nvSpPr>
        <p:spPr>
          <a:xfrm>
            <a:off x="1645920" y="3063240"/>
            <a:ext cx="3063240" cy="347472"/>
          </a:xfrm>
          <a:prstGeom prst="rect">
            <a:avLst/>
          </a:prstGeom>
          <a:noFill/>
          <a:ln/>
        </p:spPr>
        <p:txBody>
          <a:bodyPr wrap="square" lIns="0" tIns="0" rIns="0" bIns="0" rtlCol="0" anchor="t"/>
          <a:lstStyle/>
          <a:p>
            <a:pPr marL="0" indent="0">
              <a:buNone/>
            </a:pPr>
            <a:r>
              <a:rPr lang="it-IT" sz="1500" b="1" dirty="0">
                <a:solidFill>
                  <a:schemeClr val="tx1"/>
                </a:solidFill>
              </a:rPr>
              <a:t>Usare con verifica sistematica</a:t>
            </a:r>
            <a:endParaRPr lang="it-IT" sz="1500" dirty="0"/>
          </a:p>
        </p:txBody>
      </p:sp>
      <p:sp>
        <p:nvSpPr>
          <p:cNvPr id="18" name="Text 15"/>
          <p:cNvSpPr txBox="1"/>
          <p:nvPr/>
        </p:nvSpPr>
        <p:spPr>
          <a:xfrm>
            <a:off x="1645920" y="3429000"/>
            <a:ext cx="3063240" cy="292608"/>
          </a:xfrm>
          <a:prstGeom prst="rect">
            <a:avLst/>
          </a:prstGeom>
          <a:noFill/>
          <a:ln/>
        </p:spPr>
        <p:txBody>
          <a:bodyPr wrap="square" lIns="0" tIns="0" rIns="0" bIns="0" rtlCol="0" anchor="t"/>
          <a:lstStyle/>
          <a:p>
            <a:pPr marL="0" indent="0">
              <a:buNone/>
            </a:pPr>
            <a:r>
              <a:rPr lang="it-IT" sz="1200" b="1" dirty="0">
                <a:solidFill>
                  <a:schemeClr val="accent1"/>
                </a:solidFill>
              </a:rPr>
              <a:t>Controllo completo prima dell'uso</a:t>
            </a:r>
            <a:endParaRPr lang="it-IT" sz="1200" dirty="0"/>
          </a:p>
        </p:txBody>
      </p:sp>
      <p:sp>
        <p:nvSpPr>
          <p:cNvPr id="19" name="Text 16"/>
          <p:cNvSpPr txBox="1"/>
          <p:nvPr/>
        </p:nvSpPr>
        <p:spPr>
          <a:xfrm>
            <a:off x="1645920" y="3749040"/>
            <a:ext cx="3063240" cy="640080"/>
          </a:xfrm>
          <a:prstGeom prst="rect">
            <a:avLst/>
          </a:prstGeom>
          <a:noFill/>
          <a:ln/>
        </p:spPr>
        <p:txBody>
          <a:bodyPr wrap="square" lIns="0" tIns="0" rIns="0" bIns="0" rtlCol="0" anchor="t"/>
          <a:lstStyle/>
          <a:p>
            <a:pPr marL="0" indent="0">
              <a:buNone/>
            </a:pPr>
            <a:r>
              <a:rPr lang="it-IT" sz="1200" dirty="0">
                <a:solidFill>
                  <a:schemeClr val="tx1"/>
                </a:solidFill>
              </a:rPr>
              <a:t>Offerte, documenti da dati controllabili</a:t>
            </a:r>
            <a:endParaRPr lang="it-IT" sz="1200" dirty="0"/>
          </a:p>
        </p:txBody>
      </p:sp>
      <p:sp>
        <p:nvSpPr>
          <p:cNvPr id="20" name="Limitare o evitare"/>
          <p:cNvSpPr/>
          <p:nvPr/>
        </p:nvSpPr>
        <p:spPr>
          <a:xfrm>
            <a:off x="5029200" y="2971800"/>
            <a:ext cx="3429000" cy="1463040"/>
          </a:xfrm>
          <a:prstGeom prst="roundRect">
            <a:avLst>
              <a:gd name="adj" fmla="val 5000"/>
            </a:avLst>
          </a:prstGeom>
          <a:solidFill>
            <a:schemeClr val="tx1"/>
          </a:solidFill>
          <a:ln/>
        </p:spPr>
        <p:txBody>
          <a:bodyPr/>
          <a:lstStyle/>
          <a:p>
            <a:endParaRPr lang="it-IT" dirty="0"/>
          </a:p>
        </p:txBody>
      </p:sp>
      <p:sp>
        <p:nvSpPr>
          <p:cNvPr id="21" name="Text 18"/>
          <p:cNvSpPr txBox="1"/>
          <p:nvPr/>
        </p:nvSpPr>
        <p:spPr>
          <a:xfrm>
            <a:off x="5212080" y="3063240"/>
            <a:ext cx="3063240" cy="347472"/>
          </a:xfrm>
          <a:prstGeom prst="rect">
            <a:avLst/>
          </a:prstGeom>
          <a:noFill/>
          <a:ln/>
        </p:spPr>
        <p:txBody>
          <a:bodyPr wrap="square" lIns="0" tIns="0" rIns="0" bIns="0" rtlCol="0" anchor="t"/>
          <a:lstStyle/>
          <a:p>
            <a:pPr marL="0" indent="0">
              <a:buNone/>
            </a:pPr>
            <a:r>
              <a:rPr lang="it-IT" sz="1500" b="1" dirty="0">
                <a:solidFill>
                  <a:schemeClr val="bg1"/>
                </a:solidFill>
              </a:rPr>
              <a:t>Utilizzo subordinato a competenze</a:t>
            </a:r>
            <a:endParaRPr lang="it-IT" sz="1500" dirty="0"/>
          </a:p>
        </p:txBody>
      </p:sp>
      <p:sp>
        <p:nvSpPr>
          <p:cNvPr id="22" name="Text 19"/>
          <p:cNvSpPr txBox="1"/>
          <p:nvPr/>
        </p:nvSpPr>
        <p:spPr>
          <a:xfrm>
            <a:off x="5212080" y="3429000"/>
            <a:ext cx="3063240" cy="292608"/>
          </a:xfrm>
          <a:prstGeom prst="rect">
            <a:avLst/>
          </a:prstGeom>
          <a:noFill/>
          <a:ln/>
        </p:spPr>
        <p:txBody>
          <a:bodyPr wrap="square" lIns="0" tIns="0" rIns="0" bIns="0" rtlCol="0" anchor="t"/>
          <a:lstStyle/>
          <a:p>
            <a:pPr marL="0" indent="0">
              <a:buNone/>
            </a:pPr>
            <a:r>
              <a:rPr lang="it-IT" sz="1200" b="1" dirty="0">
                <a:solidFill>
                  <a:schemeClr val="accent6"/>
                </a:solidFill>
              </a:rPr>
              <a:t>Solo supporto a esperti competenti</a:t>
            </a:r>
            <a:endParaRPr lang="it-IT" sz="1200" dirty="0"/>
          </a:p>
        </p:txBody>
      </p:sp>
      <p:sp>
        <p:nvSpPr>
          <p:cNvPr id="23" name="Text 20"/>
          <p:cNvSpPr txBox="1"/>
          <p:nvPr/>
        </p:nvSpPr>
        <p:spPr>
          <a:xfrm>
            <a:off x="5212080" y="3749040"/>
            <a:ext cx="3063240" cy="640080"/>
          </a:xfrm>
          <a:prstGeom prst="rect">
            <a:avLst/>
          </a:prstGeom>
          <a:noFill/>
          <a:ln/>
        </p:spPr>
        <p:txBody>
          <a:bodyPr wrap="square" lIns="0" tIns="0" rIns="0" bIns="0" rtlCol="0" anchor="t"/>
          <a:lstStyle/>
          <a:p>
            <a:pPr marL="0" indent="0">
              <a:buNone/>
            </a:pPr>
            <a:r>
              <a:rPr lang="it-IT" sz="1200" dirty="0">
                <a:solidFill>
                  <a:schemeClr val="bg1"/>
                </a:solidFill>
              </a:rPr>
              <a:t>Decisioni su persone, valutazioni legali, mediche, di sicurezza</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87</a:t>
            </a:fld>
            <a:endParaRPr lang="it-IT"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Prima di usare un risultato AI: una checklist</a:t>
            </a:r>
            <a:endParaRPr lang="it-IT" sz="2600" dirty="0"/>
          </a:p>
        </p:txBody>
      </p:sp>
      <p:sp>
        <p:nvSpPr>
          <p:cNvPr id="4" name="check 1"/>
          <p:cNvSpPr/>
          <p:nvPr/>
        </p:nvSpPr>
        <p:spPr>
          <a:xfrm>
            <a:off x="457200" y="1051560"/>
            <a:ext cx="8229600" cy="475488"/>
          </a:xfrm>
          <a:prstGeom prst="roundRect">
            <a:avLst>
              <a:gd name="adj" fmla="val 15385"/>
            </a:avLst>
          </a:prstGeom>
          <a:solidFill>
            <a:schemeClr val="bg2"/>
          </a:solidFill>
          <a:ln/>
        </p:spPr>
        <p:txBody>
          <a:bodyPr/>
          <a:lstStyle/>
          <a:p>
            <a:endParaRPr lang="it-IT" dirty="0"/>
          </a:p>
        </p:txBody>
      </p:sp>
      <p:sp>
        <p:nvSpPr>
          <p:cNvPr id="5" name="casella"/>
          <p:cNvSpPr/>
          <p:nvPr/>
        </p:nvSpPr>
        <p:spPr>
          <a:xfrm>
            <a:off x="594360" y="1152144"/>
            <a:ext cx="274320" cy="274320"/>
          </a:xfrm>
          <a:prstGeom prst="roundRect">
            <a:avLst>
              <a:gd name="adj" fmla="val 16667"/>
            </a:avLst>
          </a:prstGeom>
          <a:solidFill>
            <a:schemeClr val="bg1"/>
          </a:solidFill>
          <a:ln w="19050">
            <a:solidFill>
              <a:schemeClr val="accent1"/>
            </a:solidFill>
            <a:prstDash val="solid"/>
          </a:ln>
        </p:spPr>
        <p:txBody>
          <a:bodyPr/>
          <a:lstStyle/>
          <a:p>
            <a:endParaRPr lang="it-IT" dirty="0"/>
          </a:p>
        </p:txBody>
      </p:sp>
      <p:sp>
        <p:nvSpPr>
          <p:cNvPr id="6" name="cerchio FiTarget"/>
          <p:cNvSpPr/>
          <p:nvPr/>
        </p:nvSpPr>
        <p:spPr>
          <a:xfrm>
            <a:off x="1005840" y="1106424"/>
            <a:ext cx="365760" cy="365760"/>
          </a:xfrm>
          <a:prstGeom prst="ellipse">
            <a:avLst/>
          </a:prstGeom>
          <a:solidFill>
            <a:schemeClr val="accent1"/>
          </a:solidFill>
          <a:ln/>
        </p:spPr>
        <p:txBody>
          <a:bodyPr/>
          <a:lstStyle/>
          <a:p>
            <a:endParaRPr lang="it-IT" dirty="0"/>
          </a:p>
        </p:txBody>
      </p:sp>
      <p:pic>
        <p:nvPicPr>
          <p:cNvPr id="7" name="Image 0" descr="FiTarget"/>
          <p:cNvPicPr>
            <a:picLocks noChangeAspect="1"/>
          </p:cNvPicPr>
          <p:nvPr/>
        </p:nvPicPr>
        <p:blipFill>
          <a:blip r:embed="rId3"/>
          <a:stretch>
            <a:fillRect/>
          </a:stretch>
        </p:blipFill>
        <p:spPr>
          <a:xfrm>
            <a:off x="1097280" y="1197864"/>
            <a:ext cx="182880" cy="182880"/>
          </a:xfrm>
          <a:prstGeom prst="rect">
            <a:avLst/>
          </a:prstGeom>
        </p:spPr>
      </p:pic>
      <p:sp>
        <p:nvSpPr>
          <p:cNvPr id="8" name="Text 4"/>
          <p:cNvSpPr txBox="1"/>
          <p:nvPr/>
        </p:nvSpPr>
        <p:spPr>
          <a:xfrm>
            <a:off x="1508760" y="1051560"/>
            <a:ext cx="7040880" cy="475488"/>
          </a:xfrm>
          <a:prstGeom prst="rect">
            <a:avLst/>
          </a:prstGeom>
          <a:noFill/>
          <a:ln/>
        </p:spPr>
        <p:txBody>
          <a:bodyPr wrap="square" lIns="0" tIns="0" rIns="0" bIns="0" rtlCol="0" anchor="ctr"/>
          <a:lstStyle/>
          <a:p>
            <a:pPr marL="0" indent="0">
              <a:buNone/>
            </a:pPr>
            <a:r>
              <a:rPr lang="it-IT" sz="1400" dirty="0">
                <a:solidFill>
                  <a:schemeClr val="tx1"/>
                </a:solidFill>
              </a:rPr>
              <a:t>Il compito è adatto all'AI e a questo strumento?</a:t>
            </a:r>
            <a:endParaRPr lang="it-IT" sz="1400" dirty="0"/>
          </a:p>
        </p:txBody>
      </p:sp>
      <p:sp>
        <p:nvSpPr>
          <p:cNvPr id="9" name="check 2"/>
          <p:cNvSpPr/>
          <p:nvPr/>
        </p:nvSpPr>
        <p:spPr>
          <a:xfrm>
            <a:off x="457200" y="1600200"/>
            <a:ext cx="8229600" cy="475488"/>
          </a:xfrm>
          <a:prstGeom prst="roundRect">
            <a:avLst>
              <a:gd name="adj" fmla="val 15385"/>
            </a:avLst>
          </a:prstGeom>
          <a:solidFill>
            <a:schemeClr val="bg1"/>
          </a:solidFill>
          <a:ln/>
        </p:spPr>
        <p:txBody>
          <a:bodyPr/>
          <a:lstStyle/>
          <a:p>
            <a:endParaRPr lang="it-IT" dirty="0"/>
          </a:p>
        </p:txBody>
      </p:sp>
      <p:sp>
        <p:nvSpPr>
          <p:cNvPr id="10" name="casella"/>
          <p:cNvSpPr/>
          <p:nvPr/>
        </p:nvSpPr>
        <p:spPr>
          <a:xfrm>
            <a:off x="594360" y="1700784"/>
            <a:ext cx="274320" cy="274320"/>
          </a:xfrm>
          <a:prstGeom prst="roundRect">
            <a:avLst>
              <a:gd name="adj" fmla="val 16667"/>
            </a:avLst>
          </a:prstGeom>
          <a:solidFill>
            <a:schemeClr val="bg1"/>
          </a:solidFill>
          <a:ln w="19050">
            <a:solidFill>
              <a:schemeClr val="accent1"/>
            </a:solidFill>
            <a:prstDash val="solid"/>
          </a:ln>
        </p:spPr>
        <p:txBody>
          <a:bodyPr/>
          <a:lstStyle/>
          <a:p>
            <a:endParaRPr lang="it-IT" dirty="0"/>
          </a:p>
        </p:txBody>
      </p:sp>
      <p:sp>
        <p:nvSpPr>
          <p:cNvPr id="11" name="cerchio FiAlertTriangle"/>
          <p:cNvSpPr/>
          <p:nvPr/>
        </p:nvSpPr>
        <p:spPr>
          <a:xfrm>
            <a:off x="1005840" y="1655064"/>
            <a:ext cx="365760" cy="365760"/>
          </a:xfrm>
          <a:prstGeom prst="ellipse">
            <a:avLst/>
          </a:prstGeom>
          <a:solidFill>
            <a:schemeClr val="accent1"/>
          </a:solidFill>
          <a:ln/>
        </p:spPr>
        <p:txBody>
          <a:bodyPr/>
          <a:lstStyle/>
          <a:p>
            <a:endParaRPr lang="it-IT" dirty="0"/>
          </a:p>
        </p:txBody>
      </p:sp>
      <p:pic>
        <p:nvPicPr>
          <p:cNvPr id="12" name="Image 1" descr="FiAlertTriangle"/>
          <p:cNvPicPr>
            <a:picLocks noChangeAspect="1"/>
          </p:cNvPicPr>
          <p:nvPr/>
        </p:nvPicPr>
        <p:blipFill>
          <a:blip r:embed="rId4"/>
          <a:stretch>
            <a:fillRect/>
          </a:stretch>
        </p:blipFill>
        <p:spPr>
          <a:xfrm>
            <a:off x="1097280" y="1746504"/>
            <a:ext cx="182880" cy="182880"/>
          </a:xfrm>
          <a:prstGeom prst="rect">
            <a:avLst/>
          </a:prstGeom>
        </p:spPr>
      </p:pic>
      <p:sp>
        <p:nvSpPr>
          <p:cNvPr id="13" name="Text 8"/>
          <p:cNvSpPr txBox="1"/>
          <p:nvPr/>
        </p:nvSpPr>
        <p:spPr>
          <a:xfrm>
            <a:off x="1508760" y="1600200"/>
            <a:ext cx="7040880" cy="475488"/>
          </a:xfrm>
          <a:prstGeom prst="rect">
            <a:avLst/>
          </a:prstGeom>
          <a:noFill/>
          <a:ln/>
        </p:spPr>
        <p:txBody>
          <a:bodyPr wrap="square" lIns="0" tIns="0" rIns="0" bIns="0" rtlCol="0" anchor="ctr"/>
          <a:lstStyle/>
          <a:p>
            <a:pPr marL="0" indent="0">
              <a:buNone/>
            </a:pPr>
            <a:r>
              <a:rPr lang="it-IT" sz="1400" dirty="0">
                <a:solidFill>
                  <a:schemeClr val="tx1"/>
                </a:solidFill>
              </a:rPr>
              <a:t>Le conseguenze di un errore sono basse, o ho previsto controlli adeguati?</a:t>
            </a:r>
            <a:endParaRPr lang="it-IT" sz="1400" dirty="0"/>
          </a:p>
        </p:txBody>
      </p:sp>
      <p:sp>
        <p:nvSpPr>
          <p:cNvPr id="14" name="check 3"/>
          <p:cNvSpPr/>
          <p:nvPr/>
        </p:nvSpPr>
        <p:spPr>
          <a:xfrm>
            <a:off x="457200" y="2148840"/>
            <a:ext cx="8229600" cy="475488"/>
          </a:xfrm>
          <a:prstGeom prst="roundRect">
            <a:avLst>
              <a:gd name="adj" fmla="val 15385"/>
            </a:avLst>
          </a:prstGeom>
          <a:solidFill>
            <a:schemeClr val="bg2"/>
          </a:solidFill>
          <a:ln/>
        </p:spPr>
        <p:txBody>
          <a:bodyPr/>
          <a:lstStyle/>
          <a:p>
            <a:endParaRPr lang="it-IT" dirty="0"/>
          </a:p>
        </p:txBody>
      </p:sp>
      <p:sp>
        <p:nvSpPr>
          <p:cNvPr id="15" name="casella"/>
          <p:cNvSpPr/>
          <p:nvPr/>
        </p:nvSpPr>
        <p:spPr>
          <a:xfrm>
            <a:off x="594360" y="2249424"/>
            <a:ext cx="274320" cy="274320"/>
          </a:xfrm>
          <a:prstGeom prst="roundRect">
            <a:avLst>
              <a:gd name="adj" fmla="val 16667"/>
            </a:avLst>
          </a:prstGeom>
          <a:solidFill>
            <a:schemeClr val="bg1"/>
          </a:solidFill>
          <a:ln w="19050">
            <a:solidFill>
              <a:schemeClr val="accent1"/>
            </a:solidFill>
            <a:prstDash val="solid"/>
          </a:ln>
        </p:spPr>
        <p:txBody>
          <a:bodyPr/>
          <a:lstStyle/>
          <a:p>
            <a:endParaRPr lang="it-IT" dirty="0"/>
          </a:p>
        </p:txBody>
      </p:sp>
      <p:sp>
        <p:nvSpPr>
          <p:cNvPr id="16" name="cerchio FiCheckCircle"/>
          <p:cNvSpPr/>
          <p:nvPr/>
        </p:nvSpPr>
        <p:spPr>
          <a:xfrm>
            <a:off x="1005840" y="2203704"/>
            <a:ext cx="365760" cy="365760"/>
          </a:xfrm>
          <a:prstGeom prst="ellipse">
            <a:avLst/>
          </a:prstGeom>
          <a:solidFill>
            <a:schemeClr val="accent1"/>
          </a:solidFill>
          <a:ln/>
        </p:spPr>
        <p:txBody>
          <a:bodyPr/>
          <a:lstStyle/>
          <a:p>
            <a:endParaRPr lang="it-IT" dirty="0"/>
          </a:p>
        </p:txBody>
      </p:sp>
      <p:pic>
        <p:nvPicPr>
          <p:cNvPr id="17" name="Image 2" descr="FiCheckCircle"/>
          <p:cNvPicPr>
            <a:picLocks noChangeAspect="1"/>
          </p:cNvPicPr>
          <p:nvPr/>
        </p:nvPicPr>
        <p:blipFill>
          <a:blip r:embed="rId5"/>
          <a:stretch>
            <a:fillRect/>
          </a:stretch>
        </p:blipFill>
        <p:spPr>
          <a:xfrm>
            <a:off x="1097280" y="2295144"/>
            <a:ext cx="182880" cy="182880"/>
          </a:xfrm>
          <a:prstGeom prst="rect">
            <a:avLst/>
          </a:prstGeom>
        </p:spPr>
      </p:pic>
      <p:sp>
        <p:nvSpPr>
          <p:cNvPr id="18" name="Text 12"/>
          <p:cNvSpPr txBox="1"/>
          <p:nvPr/>
        </p:nvSpPr>
        <p:spPr>
          <a:xfrm>
            <a:off x="1508760" y="2148840"/>
            <a:ext cx="7040880" cy="475488"/>
          </a:xfrm>
          <a:prstGeom prst="rect">
            <a:avLst/>
          </a:prstGeom>
          <a:noFill/>
          <a:ln/>
        </p:spPr>
        <p:txBody>
          <a:bodyPr wrap="square" lIns="0" tIns="0" rIns="0" bIns="0" rtlCol="0" anchor="ctr"/>
          <a:lstStyle/>
          <a:p>
            <a:pPr marL="0" indent="0">
              <a:buNone/>
            </a:pPr>
            <a:r>
              <a:rPr lang="it-IT" sz="1400" dirty="0">
                <a:solidFill>
                  <a:schemeClr val="tx1"/>
                </a:solidFill>
              </a:rPr>
              <a:t>Ho verificato fatti, numeri e fonti importanti?</a:t>
            </a:r>
            <a:endParaRPr lang="it-IT" sz="1400" dirty="0"/>
          </a:p>
        </p:txBody>
      </p:sp>
      <p:sp>
        <p:nvSpPr>
          <p:cNvPr id="19" name="check 4"/>
          <p:cNvSpPr/>
          <p:nvPr/>
        </p:nvSpPr>
        <p:spPr>
          <a:xfrm>
            <a:off x="457200" y="2697480"/>
            <a:ext cx="8229600" cy="475488"/>
          </a:xfrm>
          <a:prstGeom prst="roundRect">
            <a:avLst>
              <a:gd name="adj" fmla="val 15385"/>
            </a:avLst>
          </a:prstGeom>
          <a:solidFill>
            <a:schemeClr val="bg1"/>
          </a:solidFill>
          <a:ln/>
        </p:spPr>
        <p:txBody>
          <a:bodyPr/>
          <a:lstStyle/>
          <a:p>
            <a:endParaRPr lang="it-IT" dirty="0"/>
          </a:p>
        </p:txBody>
      </p:sp>
      <p:sp>
        <p:nvSpPr>
          <p:cNvPr id="20" name="casella"/>
          <p:cNvSpPr/>
          <p:nvPr/>
        </p:nvSpPr>
        <p:spPr>
          <a:xfrm>
            <a:off x="594360" y="2798064"/>
            <a:ext cx="274320" cy="274320"/>
          </a:xfrm>
          <a:prstGeom prst="roundRect">
            <a:avLst>
              <a:gd name="adj" fmla="val 16667"/>
            </a:avLst>
          </a:prstGeom>
          <a:solidFill>
            <a:schemeClr val="bg1"/>
          </a:solidFill>
          <a:ln w="19050">
            <a:solidFill>
              <a:schemeClr val="accent1"/>
            </a:solidFill>
            <a:prstDash val="solid"/>
          </a:ln>
        </p:spPr>
        <p:txBody>
          <a:bodyPr/>
          <a:lstStyle/>
          <a:p>
            <a:endParaRPr lang="it-IT" dirty="0"/>
          </a:p>
        </p:txBody>
      </p:sp>
      <p:sp>
        <p:nvSpPr>
          <p:cNvPr id="21" name="cerchio FiList"/>
          <p:cNvSpPr/>
          <p:nvPr/>
        </p:nvSpPr>
        <p:spPr>
          <a:xfrm>
            <a:off x="1005840" y="2752344"/>
            <a:ext cx="365760" cy="365760"/>
          </a:xfrm>
          <a:prstGeom prst="ellipse">
            <a:avLst/>
          </a:prstGeom>
          <a:solidFill>
            <a:schemeClr val="accent1"/>
          </a:solidFill>
          <a:ln/>
        </p:spPr>
        <p:txBody>
          <a:bodyPr/>
          <a:lstStyle/>
          <a:p>
            <a:endParaRPr lang="it-IT" dirty="0"/>
          </a:p>
        </p:txBody>
      </p:sp>
      <p:pic>
        <p:nvPicPr>
          <p:cNvPr id="22" name="Image 3" descr="FiList"/>
          <p:cNvPicPr>
            <a:picLocks noChangeAspect="1"/>
          </p:cNvPicPr>
          <p:nvPr/>
        </p:nvPicPr>
        <p:blipFill>
          <a:blip r:embed="rId6"/>
          <a:stretch>
            <a:fillRect/>
          </a:stretch>
        </p:blipFill>
        <p:spPr>
          <a:xfrm>
            <a:off x="1097280" y="2843784"/>
            <a:ext cx="182880" cy="182880"/>
          </a:xfrm>
          <a:prstGeom prst="rect">
            <a:avLst/>
          </a:prstGeom>
        </p:spPr>
      </p:pic>
      <p:sp>
        <p:nvSpPr>
          <p:cNvPr id="23" name="Text 16"/>
          <p:cNvSpPr txBox="1"/>
          <p:nvPr/>
        </p:nvSpPr>
        <p:spPr>
          <a:xfrm>
            <a:off x="1508760" y="2697480"/>
            <a:ext cx="7040880" cy="475488"/>
          </a:xfrm>
          <a:prstGeom prst="rect">
            <a:avLst/>
          </a:prstGeom>
          <a:noFill/>
          <a:ln/>
        </p:spPr>
        <p:txBody>
          <a:bodyPr wrap="square" lIns="0" tIns="0" rIns="0" bIns="0" rtlCol="0" anchor="ctr"/>
          <a:lstStyle/>
          <a:p>
            <a:pPr marL="0" indent="0">
              <a:buNone/>
            </a:pPr>
            <a:r>
              <a:rPr lang="it-IT" sz="1400" dirty="0">
                <a:solidFill>
                  <a:schemeClr val="tx1"/>
                </a:solidFill>
              </a:rPr>
              <a:t>Manca qualcosa? Ci sono contraddizioni?</a:t>
            </a:r>
            <a:endParaRPr lang="it-IT" sz="1400" dirty="0"/>
          </a:p>
        </p:txBody>
      </p:sp>
      <p:sp>
        <p:nvSpPr>
          <p:cNvPr id="24" name="check 5"/>
          <p:cNvSpPr/>
          <p:nvPr/>
        </p:nvSpPr>
        <p:spPr>
          <a:xfrm>
            <a:off x="457200" y="3246120"/>
            <a:ext cx="8229600" cy="475488"/>
          </a:xfrm>
          <a:prstGeom prst="roundRect">
            <a:avLst>
              <a:gd name="adj" fmla="val 15385"/>
            </a:avLst>
          </a:prstGeom>
          <a:solidFill>
            <a:schemeClr val="bg2"/>
          </a:solidFill>
          <a:ln/>
        </p:spPr>
        <p:txBody>
          <a:bodyPr/>
          <a:lstStyle/>
          <a:p>
            <a:endParaRPr lang="it-IT" dirty="0"/>
          </a:p>
        </p:txBody>
      </p:sp>
      <p:sp>
        <p:nvSpPr>
          <p:cNvPr id="25" name="casella"/>
          <p:cNvSpPr/>
          <p:nvPr/>
        </p:nvSpPr>
        <p:spPr>
          <a:xfrm>
            <a:off x="594360" y="3346704"/>
            <a:ext cx="274320" cy="274320"/>
          </a:xfrm>
          <a:prstGeom prst="roundRect">
            <a:avLst>
              <a:gd name="adj" fmla="val 16667"/>
            </a:avLst>
          </a:prstGeom>
          <a:solidFill>
            <a:schemeClr val="bg1"/>
          </a:solidFill>
          <a:ln w="19050">
            <a:solidFill>
              <a:schemeClr val="accent1"/>
            </a:solidFill>
            <a:prstDash val="solid"/>
          </a:ln>
        </p:spPr>
        <p:txBody>
          <a:bodyPr/>
          <a:lstStyle/>
          <a:p>
            <a:endParaRPr lang="it-IT" dirty="0"/>
          </a:p>
        </p:txBody>
      </p:sp>
      <p:sp>
        <p:nvSpPr>
          <p:cNvPr id="26" name="cerchio FiSliders"/>
          <p:cNvSpPr/>
          <p:nvPr/>
        </p:nvSpPr>
        <p:spPr>
          <a:xfrm>
            <a:off x="1005840" y="3300984"/>
            <a:ext cx="365760" cy="365760"/>
          </a:xfrm>
          <a:prstGeom prst="ellipse">
            <a:avLst/>
          </a:prstGeom>
          <a:solidFill>
            <a:schemeClr val="accent1"/>
          </a:solidFill>
          <a:ln/>
        </p:spPr>
        <p:txBody>
          <a:bodyPr/>
          <a:lstStyle/>
          <a:p>
            <a:endParaRPr lang="it-IT" dirty="0"/>
          </a:p>
        </p:txBody>
      </p:sp>
      <p:pic>
        <p:nvPicPr>
          <p:cNvPr id="27" name="Image 4" descr="FiSliders"/>
          <p:cNvPicPr>
            <a:picLocks noChangeAspect="1"/>
          </p:cNvPicPr>
          <p:nvPr/>
        </p:nvPicPr>
        <p:blipFill>
          <a:blip r:embed="rId7"/>
          <a:stretch>
            <a:fillRect/>
          </a:stretch>
        </p:blipFill>
        <p:spPr>
          <a:xfrm>
            <a:off x="1097280" y="3392424"/>
            <a:ext cx="182880" cy="182880"/>
          </a:xfrm>
          <a:prstGeom prst="rect">
            <a:avLst/>
          </a:prstGeom>
        </p:spPr>
      </p:pic>
      <p:sp>
        <p:nvSpPr>
          <p:cNvPr id="28" name="Text 20"/>
          <p:cNvSpPr txBox="1"/>
          <p:nvPr/>
        </p:nvSpPr>
        <p:spPr>
          <a:xfrm>
            <a:off x="1508760" y="3246120"/>
            <a:ext cx="7040880" cy="475488"/>
          </a:xfrm>
          <a:prstGeom prst="rect">
            <a:avLst/>
          </a:prstGeom>
          <a:noFill/>
          <a:ln/>
        </p:spPr>
        <p:txBody>
          <a:bodyPr wrap="square" lIns="0" tIns="0" rIns="0" bIns="0" rtlCol="0" anchor="ctr"/>
          <a:lstStyle/>
          <a:p>
            <a:pPr marL="0" indent="0">
              <a:buNone/>
            </a:pPr>
            <a:r>
              <a:rPr lang="it-IT" sz="1400" dirty="0">
                <a:solidFill>
                  <a:schemeClr val="tx1"/>
                </a:solidFill>
              </a:rPr>
              <a:t>La risposta potrebbe essere sbilanciata?</a:t>
            </a:r>
            <a:endParaRPr lang="it-IT" sz="1400" dirty="0"/>
          </a:p>
        </p:txBody>
      </p:sp>
      <p:sp>
        <p:nvSpPr>
          <p:cNvPr id="29" name="check 6"/>
          <p:cNvSpPr/>
          <p:nvPr/>
        </p:nvSpPr>
        <p:spPr>
          <a:xfrm>
            <a:off x="457200" y="3794760"/>
            <a:ext cx="8229600" cy="475488"/>
          </a:xfrm>
          <a:prstGeom prst="roundRect">
            <a:avLst>
              <a:gd name="adj" fmla="val 15385"/>
            </a:avLst>
          </a:prstGeom>
          <a:solidFill>
            <a:schemeClr val="bg1"/>
          </a:solidFill>
          <a:ln/>
        </p:spPr>
        <p:txBody>
          <a:bodyPr/>
          <a:lstStyle/>
          <a:p>
            <a:endParaRPr lang="it-IT" dirty="0"/>
          </a:p>
        </p:txBody>
      </p:sp>
      <p:sp>
        <p:nvSpPr>
          <p:cNvPr id="30" name="casella"/>
          <p:cNvSpPr/>
          <p:nvPr/>
        </p:nvSpPr>
        <p:spPr>
          <a:xfrm>
            <a:off x="594360" y="3895344"/>
            <a:ext cx="274320" cy="274320"/>
          </a:xfrm>
          <a:prstGeom prst="roundRect">
            <a:avLst>
              <a:gd name="adj" fmla="val 16667"/>
            </a:avLst>
          </a:prstGeom>
          <a:solidFill>
            <a:schemeClr val="bg1"/>
          </a:solidFill>
          <a:ln w="19050">
            <a:solidFill>
              <a:schemeClr val="accent1"/>
            </a:solidFill>
            <a:prstDash val="solid"/>
          </a:ln>
        </p:spPr>
        <p:txBody>
          <a:bodyPr/>
          <a:lstStyle/>
          <a:p>
            <a:endParaRPr lang="it-IT" dirty="0"/>
          </a:p>
        </p:txBody>
      </p:sp>
      <p:sp>
        <p:nvSpPr>
          <p:cNvPr id="31" name="cerchio FiUserCheck"/>
          <p:cNvSpPr/>
          <p:nvPr/>
        </p:nvSpPr>
        <p:spPr>
          <a:xfrm>
            <a:off x="1005840" y="3849624"/>
            <a:ext cx="365760" cy="365760"/>
          </a:xfrm>
          <a:prstGeom prst="ellipse">
            <a:avLst/>
          </a:prstGeom>
          <a:solidFill>
            <a:schemeClr val="accent1"/>
          </a:solidFill>
          <a:ln/>
        </p:spPr>
        <p:txBody>
          <a:bodyPr/>
          <a:lstStyle/>
          <a:p>
            <a:endParaRPr lang="it-IT" dirty="0"/>
          </a:p>
        </p:txBody>
      </p:sp>
      <p:pic>
        <p:nvPicPr>
          <p:cNvPr id="32" name="Image 5" descr="FiUserCheck"/>
          <p:cNvPicPr>
            <a:picLocks noChangeAspect="1"/>
          </p:cNvPicPr>
          <p:nvPr/>
        </p:nvPicPr>
        <p:blipFill>
          <a:blip r:embed="rId8"/>
          <a:stretch>
            <a:fillRect/>
          </a:stretch>
        </p:blipFill>
        <p:spPr>
          <a:xfrm>
            <a:off x="1097280" y="3941064"/>
            <a:ext cx="182880" cy="182880"/>
          </a:xfrm>
          <a:prstGeom prst="rect">
            <a:avLst/>
          </a:prstGeom>
        </p:spPr>
      </p:pic>
      <p:sp>
        <p:nvSpPr>
          <p:cNvPr id="33" name="Text 24"/>
          <p:cNvSpPr txBox="1"/>
          <p:nvPr/>
        </p:nvSpPr>
        <p:spPr>
          <a:xfrm>
            <a:off x="1508760" y="3794760"/>
            <a:ext cx="7040880" cy="475488"/>
          </a:xfrm>
          <a:prstGeom prst="rect">
            <a:avLst/>
          </a:prstGeom>
          <a:noFill/>
          <a:ln/>
        </p:spPr>
        <p:txBody>
          <a:bodyPr wrap="square" lIns="0" tIns="0" rIns="0" bIns="0" rtlCol="0" anchor="ctr"/>
          <a:lstStyle/>
          <a:p>
            <a:pPr marL="0" indent="0">
              <a:buNone/>
            </a:pPr>
            <a:r>
              <a:rPr lang="it-IT" sz="1400" dirty="0">
                <a:solidFill>
                  <a:schemeClr val="tx1"/>
                </a:solidFill>
              </a:rPr>
              <a:t>So valutare il risultato e me ne assumo la responsabilità?</a:t>
            </a:r>
            <a:endParaRPr lang="it-IT" sz="1400" dirty="0"/>
          </a:p>
        </p:txBody>
      </p:sp>
      <p:sp>
        <p:nvSpPr>
          <p:cNvPr id="34" name="Text 25"/>
          <p:cNvSpPr txBox="1"/>
          <p:nvPr/>
        </p:nvSpPr>
        <p:spPr>
          <a:xfrm>
            <a:off x="457200" y="4434840"/>
            <a:ext cx="8229600" cy="274320"/>
          </a:xfrm>
          <a:prstGeom prst="rect">
            <a:avLst/>
          </a:prstGeom>
          <a:noFill/>
          <a:ln/>
        </p:spPr>
        <p:txBody>
          <a:bodyPr wrap="square" lIns="0" tIns="0" rIns="0" bIns="0" rtlCol="0" anchor="t"/>
          <a:lstStyle/>
          <a:p>
            <a:pPr marL="0" indent="0">
              <a:buNone/>
            </a:pPr>
            <a:r>
              <a:rPr lang="it-IT" sz="1200" i="1" dirty="0">
                <a:solidFill>
                  <a:schemeClr val="tx1"/>
                </a:solidFill>
              </a:rPr>
              <a:t>Se una risposta è no: un controllo in più, un collega competente, o non usare quel risultato.</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67</a:t>
            </a:fld>
            <a:endParaRPr lang="it-IT"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300" b="1" spc="200" kern="0" dirty="0">
                <a:solidFill>
                  <a:schemeClr val="accent1"/>
                </a:solidFill>
              </a:rPr>
              <a:t>AI ADOPTION  ·  LASER SRL  ·  SESSIONE 2 DI 3</a:t>
            </a: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Strumenti e richieste efficaci</a:t>
            </a: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en-US" sz="1600" dirty="0">
                <a:solidFill>
                  <a:schemeClr val="accent3"/>
                </a:solidFill>
              </a:rPr>
              <a:t>Che cosa c'è in Laser e come chiedere bene</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Modello, sistema, applicazione, piattaforma</a:t>
            </a:r>
            <a:endParaRPr lang="en-US" sz="2600" dirty="0"/>
          </a:p>
        </p:txBody>
      </p:sp>
      <p:sp>
        <p:nvSpPr>
          <p:cNvPr id="4" name="Modello"/>
          <p:cNvSpPr/>
          <p:nvPr/>
        </p:nvSpPr>
        <p:spPr>
          <a:xfrm>
            <a:off x="457200" y="1097280"/>
            <a:ext cx="1920240" cy="2514600"/>
          </a:xfrm>
          <a:prstGeom prst="roundRect">
            <a:avLst>
              <a:gd name="adj" fmla="val 3810"/>
            </a:avLst>
          </a:prstGeom>
          <a:solidFill>
            <a:schemeClr val="accent6"/>
          </a:solidFill>
          <a:ln/>
        </p:spPr>
      </p:sp>
      <p:sp>
        <p:nvSpPr>
          <p:cNvPr id="5" name="cerchio FiCpu"/>
          <p:cNvSpPr/>
          <p:nvPr/>
        </p:nvSpPr>
        <p:spPr>
          <a:xfrm>
            <a:off x="621792" y="1261872"/>
            <a:ext cx="438912" cy="438912"/>
          </a:xfrm>
          <a:prstGeom prst="ellipse">
            <a:avLst/>
          </a:prstGeom>
          <a:solidFill>
            <a:schemeClr val="accent1"/>
          </a:solidFill>
          <a:ln/>
        </p:spPr>
      </p:sp>
      <p:pic>
        <p:nvPicPr>
          <p:cNvPr id="6" name="Image 0" descr="FiCpu">    </p:cNvPr>
          <p:cNvPicPr>
            <a:picLocks noChangeAspect="1"/>
          </p:cNvPicPr>
          <p:nvPr/>
        </p:nvPicPr>
        <p:blipFill>
          <a:blip r:embed="rId1"/>
          <a:stretch>
            <a:fillRect/>
          </a:stretch>
        </p:blipFill>
        <p:spPr>
          <a:xfrm>
            <a:off x="731520" y="1371600"/>
            <a:ext cx="219456" cy="219456"/>
          </a:xfrm>
          <a:prstGeom prst="rect">
            <a:avLst/>
          </a:prstGeom>
        </p:spPr>
      </p:pic>
      <p:sp>
        <p:nvSpPr>
          <p:cNvPr id="7" name="Text 3"/>
          <p:cNvSpPr txBox="1"/>
          <p:nvPr/>
        </p:nvSpPr>
        <p:spPr>
          <a:xfrm>
            <a:off x="1170432" y="1225296"/>
            <a:ext cx="1097280" cy="512064"/>
          </a:xfrm>
          <a:prstGeom prst="rect">
            <a:avLst/>
          </a:prstGeom>
          <a:noFill/>
          <a:ln/>
        </p:spPr>
        <p:txBody>
          <a:bodyPr wrap="square" lIns="0" tIns="0" rIns="0" bIns="0" rtlCol="0" anchor="ctr"/>
          <a:lstStyle/>
          <a:p>
            <a:pPr indent="0" marL="0">
              <a:buNone/>
            </a:pPr>
            <a:r>
              <a:rPr lang="en-US" sz="1500" b="1" dirty="0">
                <a:solidFill>
                  <a:schemeClr val="tx1"/>
                </a:solidFill>
              </a:rPr>
              <a:t>Modello</a:t>
            </a:r>
            <a:endParaRPr lang="en-US" sz="1500" dirty="0"/>
          </a:p>
        </p:txBody>
      </p:sp>
      <p:sp>
        <p:nvSpPr>
          <p:cNvPr id="8" name="Text 4"/>
          <p:cNvSpPr txBox="1"/>
          <p:nvPr/>
        </p:nvSpPr>
        <p:spPr>
          <a:xfrm>
            <a:off x="621792" y="1810512"/>
            <a:ext cx="1591056" cy="1709928"/>
          </a:xfrm>
          <a:prstGeom prst="rect">
            <a:avLst/>
          </a:prstGeom>
          <a:noFill/>
          <a:ln/>
        </p:spPr>
        <p:txBody>
          <a:bodyPr wrap="square" lIns="0" tIns="0" rIns="0" bIns="0" rtlCol="0" anchor="t"/>
          <a:lstStyle/>
          <a:p>
            <a:pPr indent="0" marL="0">
              <a:buNone/>
            </a:pPr>
            <a:r>
              <a:rPr lang="en-US" sz="1200" dirty="0">
                <a:solidFill>
                  <a:schemeClr val="tx2"/>
                </a:solidFill>
              </a:rPr>
              <a:t>Il componente addestrato che elabora input e genera output. Senza interfaccia per l'utente.</a:t>
            </a:r>
            <a:endParaRPr lang="en-US" sz="1200" dirty="0"/>
          </a:p>
        </p:txBody>
      </p:sp>
      <p:sp>
        <p:nvSpPr>
          <p:cNvPr id="9" name="Sistema"/>
          <p:cNvSpPr/>
          <p:nvPr/>
        </p:nvSpPr>
        <p:spPr>
          <a:xfrm>
            <a:off x="2560320" y="1097280"/>
            <a:ext cx="1920240" cy="2514600"/>
          </a:xfrm>
          <a:prstGeom prst="roundRect">
            <a:avLst>
              <a:gd name="adj" fmla="val 3810"/>
            </a:avLst>
          </a:prstGeom>
          <a:solidFill>
            <a:schemeClr val="bg2"/>
          </a:solidFill>
          <a:ln/>
        </p:spPr>
      </p:sp>
      <p:sp>
        <p:nvSpPr>
          <p:cNvPr id="10" name="cerchio FiLayers"/>
          <p:cNvSpPr/>
          <p:nvPr/>
        </p:nvSpPr>
        <p:spPr>
          <a:xfrm>
            <a:off x="2724912" y="1261872"/>
            <a:ext cx="438912" cy="438912"/>
          </a:xfrm>
          <a:prstGeom prst="ellipse">
            <a:avLst/>
          </a:prstGeom>
          <a:solidFill>
            <a:schemeClr val="accent1"/>
          </a:solidFill>
          <a:ln/>
        </p:spPr>
      </p:sp>
      <p:pic>
        <p:nvPicPr>
          <p:cNvPr id="11" name="Image 1" descr="FiLayers">    </p:cNvPr>
          <p:cNvPicPr>
            <a:picLocks noChangeAspect="1"/>
          </p:cNvPicPr>
          <p:nvPr/>
        </p:nvPicPr>
        <p:blipFill>
          <a:blip r:embed="rId2"/>
          <a:stretch>
            <a:fillRect/>
          </a:stretch>
        </p:blipFill>
        <p:spPr>
          <a:xfrm>
            <a:off x="2834640" y="1371600"/>
            <a:ext cx="219456" cy="219456"/>
          </a:xfrm>
          <a:prstGeom prst="rect">
            <a:avLst/>
          </a:prstGeom>
        </p:spPr>
      </p:pic>
      <p:sp>
        <p:nvSpPr>
          <p:cNvPr id="12" name="Text 7"/>
          <p:cNvSpPr txBox="1"/>
          <p:nvPr/>
        </p:nvSpPr>
        <p:spPr>
          <a:xfrm>
            <a:off x="3273552" y="1225296"/>
            <a:ext cx="1097280" cy="512064"/>
          </a:xfrm>
          <a:prstGeom prst="rect">
            <a:avLst/>
          </a:prstGeom>
          <a:noFill/>
          <a:ln/>
        </p:spPr>
        <p:txBody>
          <a:bodyPr wrap="square" lIns="0" tIns="0" rIns="0" bIns="0" rtlCol="0" anchor="ctr"/>
          <a:lstStyle/>
          <a:p>
            <a:pPr indent="0" marL="0">
              <a:buNone/>
            </a:pPr>
            <a:r>
              <a:rPr lang="en-US" sz="1500" b="1" dirty="0">
                <a:solidFill>
                  <a:schemeClr val="tx1"/>
                </a:solidFill>
              </a:rPr>
              <a:t>Sistema</a:t>
            </a:r>
            <a:endParaRPr lang="en-US" sz="1500" dirty="0"/>
          </a:p>
        </p:txBody>
      </p:sp>
      <p:sp>
        <p:nvSpPr>
          <p:cNvPr id="13" name="Text 8"/>
          <p:cNvSpPr txBox="1"/>
          <p:nvPr/>
        </p:nvSpPr>
        <p:spPr>
          <a:xfrm>
            <a:off x="2724912" y="1810512"/>
            <a:ext cx="1591056" cy="1709928"/>
          </a:xfrm>
          <a:prstGeom prst="rect">
            <a:avLst/>
          </a:prstGeom>
          <a:noFill/>
          <a:ln/>
        </p:spPr>
        <p:txBody>
          <a:bodyPr wrap="square" lIns="0" tIns="0" rIns="0" bIns="0" rtlCol="0" anchor="t"/>
          <a:lstStyle/>
          <a:p>
            <a:pPr indent="0" marL="0">
              <a:buNone/>
            </a:pPr>
            <a:r>
              <a:rPr lang="en-US" sz="1200" dirty="0">
                <a:solidFill>
                  <a:schemeClr val="tx2"/>
                </a:solidFill>
              </a:rPr>
              <a:t>I componenti intorno al modello: istruzioni, dati, strumenti, filtri, memoria.</a:t>
            </a:r>
            <a:endParaRPr lang="en-US" sz="1200" dirty="0"/>
          </a:p>
        </p:txBody>
      </p:sp>
      <p:sp>
        <p:nvSpPr>
          <p:cNvPr id="14" name="Applicazione"/>
          <p:cNvSpPr/>
          <p:nvPr/>
        </p:nvSpPr>
        <p:spPr>
          <a:xfrm>
            <a:off x="4663440" y="1097280"/>
            <a:ext cx="1920240" cy="2514600"/>
          </a:xfrm>
          <a:prstGeom prst="roundRect">
            <a:avLst>
              <a:gd name="adj" fmla="val 3810"/>
            </a:avLst>
          </a:prstGeom>
          <a:solidFill>
            <a:schemeClr val="bg2"/>
          </a:solidFill>
          <a:ln/>
        </p:spPr>
      </p:sp>
      <p:sp>
        <p:nvSpPr>
          <p:cNvPr id="15" name="cerchio FiMonitor"/>
          <p:cNvSpPr/>
          <p:nvPr/>
        </p:nvSpPr>
        <p:spPr>
          <a:xfrm>
            <a:off x="4828032" y="1261872"/>
            <a:ext cx="438912" cy="438912"/>
          </a:xfrm>
          <a:prstGeom prst="ellipse">
            <a:avLst/>
          </a:prstGeom>
          <a:solidFill>
            <a:schemeClr val="accent1"/>
          </a:solidFill>
          <a:ln/>
        </p:spPr>
      </p:sp>
      <p:pic>
        <p:nvPicPr>
          <p:cNvPr id="16" name="Image 2" descr="FiMonitor">    </p:cNvPr>
          <p:cNvPicPr>
            <a:picLocks noChangeAspect="1"/>
          </p:cNvPicPr>
          <p:nvPr/>
        </p:nvPicPr>
        <p:blipFill>
          <a:blip r:embed="rId3"/>
          <a:stretch>
            <a:fillRect/>
          </a:stretch>
        </p:blipFill>
        <p:spPr>
          <a:xfrm>
            <a:off x="4937760" y="1371600"/>
            <a:ext cx="219456" cy="219456"/>
          </a:xfrm>
          <a:prstGeom prst="rect">
            <a:avLst/>
          </a:prstGeom>
        </p:spPr>
      </p:pic>
      <p:sp>
        <p:nvSpPr>
          <p:cNvPr id="17" name="Text 11"/>
          <p:cNvSpPr txBox="1"/>
          <p:nvPr/>
        </p:nvSpPr>
        <p:spPr>
          <a:xfrm>
            <a:off x="5376672" y="1225296"/>
            <a:ext cx="1097280" cy="512064"/>
          </a:xfrm>
          <a:prstGeom prst="rect">
            <a:avLst/>
          </a:prstGeom>
          <a:noFill/>
          <a:ln/>
        </p:spPr>
        <p:txBody>
          <a:bodyPr wrap="square" lIns="0" tIns="0" rIns="0" bIns="0" rtlCol="0" anchor="ctr"/>
          <a:lstStyle/>
          <a:p>
            <a:pPr indent="0" marL="0">
              <a:buNone/>
            </a:pPr>
            <a:r>
              <a:rPr lang="en-US" sz="1500" b="1" dirty="0">
                <a:solidFill>
                  <a:schemeClr val="tx1"/>
                </a:solidFill>
              </a:rPr>
              <a:t>Applicazione</a:t>
            </a:r>
            <a:endParaRPr lang="en-US" sz="1500" dirty="0"/>
          </a:p>
        </p:txBody>
      </p:sp>
      <p:sp>
        <p:nvSpPr>
          <p:cNvPr id="18" name="Text 12"/>
          <p:cNvSpPr txBox="1"/>
          <p:nvPr/>
        </p:nvSpPr>
        <p:spPr>
          <a:xfrm>
            <a:off x="4828032" y="1810512"/>
            <a:ext cx="1591056" cy="1709928"/>
          </a:xfrm>
          <a:prstGeom prst="rect">
            <a:avLst/>
          </a:prstGeom>
          <a:noFill/>
          <a:ln/>
        </p:spPr>
        <p:txBody>
          <a:bodyPr wrap="square" lIns="0" tIns="0" rIns="0" bIns="0" rtlCol="0" anchor="t"/>
          <a:lstStyle/>
          <a:p>
            <a:pPr indent="0" marL="0">
              <a:buNone/>
            </a:pPr>
            <a:r>
              <a:rPr lang="en-US" sz="1200" dirty="0">
                <a:solidFill>
                  <a:schemeClr val="tx2"/>
                </a:solidFill>
              </a:rPr>
              <a:t>Il prodotto con cui l'utente interagisce: assistente, funzione AI in un software, app.</a:t>
            </a:r>
            <a:endParaRPr lang="en-US" sz="1200" dirty="0"/>
          </a:p>
        </p:txBody>
      </p:sp>
      <p:sp>
        <p:nvSpPr>
          <p:cNvPr id="19" name="Piattaforma"/>
          <p:cNvSpPr/>
          <p:nvPr/>
        </p:nvSpPr>
        <p:spPr>
          <a:xfrm>
            <a:off x="6766560" y="1097280"/>
            <a:ext cx="1920240" cy="2514600"/>
          </a:xfrm>
          <a:prstGeom prst="roundRect">
            <a:avLst>
              <a:gd name="adj" fmla="val 3810"/>
            </a:avLst>
          </a:prstGeom>
          <a:solidFill>
            <a:schemeClr val="bg2"/>
          </a:solidFill>
          <a:ln/>
        </p:spPr>
      </p:sp>
      <p:sp>
        <p:nvSpPr>
          <p:cNvPr id="20" name="cerchio FiServer"/>
          <p:cNvSpPr/>
          <p:nvPr/>
        </p:nvSpPr>
        <p:spPr>
          <a:xfrm>
            <a:off x="6931152" y="1261872"/>
            <a:ext cx="438912" cy="438912"/>
          </a:xfrm>
          <a:prstGeom prst="ellipse">
            <a:avLst/>
          </a:prstGeom>
          <a:solidFill>
            <a:schemeClr val="accent1"/>
          </a:solidFill>
          <a:ln/>
        </p:spPr>
      </p:sp>
      <p:pic>
        <p:nvPicPr>
          <p:cNvPr id="21" name="Image 3" descr="FiServer">    </p:cNvPr>
          <p:cNvPicPr>
            <a:picLocks noChangeAspect="1"/>
          </p:cNvPicPr>
          <p:nvPr/>
        </p:nvPicPr>
        <p:blipFill>
          <a:blip r:embed="rId4"/>
          <a:stretch>
            <a:fillRect/>
          </a:stretch>
        </p:blipFill>
        <p:spPr>
          <a:xfrm>
            <a:off x="7040880" y="1371600"/>
            <a:ext cx="219456" cy="219456"/>
          </a:xfrm>
          <a:prstGeom prst="rect">
            <a:avLst/>
          </a:prstGeom>
        </p:spPr>
      </p:pic>
      <p:sp>
        <p:nvSpPr>
          <p:cNvPr id="22" name="Text 15"/>
          <p:cNvSpPr txBox="1"/>
          <p:nvPr/>
        </p:nvSpPr>
        <p:spPr>
          <a:xfrm>
            <a:off x="7479792" y="1225296"/>
            <a:ext cx="1097280" cy="512064"/>
          </a:xfrm>
          <a:prstGeom prst="rect">
            <a:avLst/>
          </a:prstGeom>
          <a:noFill/>
          <a:ln/>
        </p:spPr>
        <p:txBody>
          <a:bodyPr wrap="square" lIns="0" tIns="0" rIns="0" bIns="0" rtlCol="0" anchor="ctr"/>
          <a:lstStyle/>
          <a:p>
            <a:pPr indent="0" marL="0">
              <a:buNone/>
            </a:pPr>
            <a:r>
              <a:rPr lang="en-US" sz="1500" b="1" dirty="0">
                <a:solidFill>
                  <a:schemeClr val="tx1"/>
                </a:solidFill>
              </a:rPr>
              <a:t>Piattaforma</a:t>
            </a:r>
            <a:endParaRPr lang="en-US" sz="1500" dirty="0"/>
          </a:p>
        </p:txBody>
      </p:sp>
      <p:sp>
        <p:nvSpPr>
          <p:cNvPr id="23" name="Text 16"/>
          <p:cNvSpPr txBox="1"/>
          <p:nvPr/>
        </p:nvSpPr>
        <p:spPr>
          <a:xfrm>
            <a:off x="6931152" y="1810512"/>
            <a:ext cx="1591056" cy="1709928"/>
          </a:xfrm>
          <a:prstGeom prst="rect">
            <a:avLst/>
          </a:prstGeom>
          <a:noFill/>
          <a:ln/>
        </p:spPr>
        <p:txBody>
          <a:bodyPr wrap="square" lIns="0" tIns="0" rIns="0" bIns="0" rtlCol="0" anchor="t"/>
          <a:lstStyle/>
          <a:p>
            <a:pPr indent="0" marL="0">
              <a:buNone/>
            </a:pPr>
            <a:r>
              <a:rPr lang="en-US" sz="1200" dirty="0">
                <a:solidFill>
                  <a:schemeClr val="tx2"/>
                </a:solidFill>
              </a:rPr>
              <a:t>Un ambiente con più servizi per costruire, configurare e gestire applicazioni AI.</a:t>
            </a:r>
            <a:endParaRPr lang="en-US" sz="1200" dirty="0"/>
          </a:p>
        </p:txBody>
      </p:sp>
      <p:sp>
        <p:nvSpPr>
          <p:cNvPr id="24" name="messaggio"/>
          <p:cNvSpPr/>
          <p:nvPr/>
        </p:nvSpPr>
        <p:spPr>
          <a:xfrm>
            <a:off x="457200" y="3794760"/>
            <a:ext cx="8229600" cy="731520"/>
          </a:xfrm>
          <a:prstGeom prst="roundRect">
            <a:avLst>
              <a:gd name="adj" fmla="val 10000"/>
            </a:avLst>
          </a:prstGeom>
          <a:solidFill>
            <a:schemeClr val="tx1"/>
          </a:solidFill>
          <a:ln/>
        </p:spPr>
      </p:sp>
      <p:sp>
        <p:nvSpPr>
          <p:cNvPr id="25" name="Text 18"/>
          <p:cNvSpPr txBox="1"/>
          <p:nvPr/>
        </p:nvSpPr>
        <p:spPr>
          <a:xfrm>
            <a:off x="640080" y="3794760"/>
            <a:ext cx="7863840" cy="731520"/>
          </a:xfrm>
          <a:prstGeom prst="rect">
            <a:avLst/>
          </a:prstGeom>
          <a:noFill/>
          <a:ln/>
        </p:spPr>
        <p:txBody>
          <a:bodyPr wrap="square" lIns="0" tIns="0" rIns="0" bIns="0" rtlCol="0" anchor="ctr"/>
          <a:lstStyle/>
          <a:p>
            <a:pPr indent="0" marL="0">
              <a:buNone/>
            </a:pPr>
            <a:r>
              <a:rPr lang="en-US" sz="1400" dirty="0">
                <a:solidFill>
                  <a:schemeClr val="bg1"/>
                </a:solidFill>
              </a:rPr>
              <a:t>Quando valutiamo "un'AI", stiamo valutando il modello, l'applicazione o la piattaforma?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Capacità del modello e funzionalità dell'applicazione</a:t>
            </a:r>
            <a:endParaRPr lang="en-US" sz="2600" dirty="0"/>
          </a:p>
        </p:txBody>
      </p:sp>
      <p:sp>
        <p:nvSpPr>
          <p:cNvPr id="4" name="scheda Dal modello"/>
          <p:cNvSpPr/>
          <p:nvPr/>
        </p:nvSpPr>
        <p:spPr>
          <a:xfrm>
            <a:off x="457200" y="1097280"/>
            <a:ext cx="3977640" cy="2377440"/>
          </a:xfrm>
          <a:prstGeom prst="roundRect">
            <a:avLst>
              <a:gd name="adj" fmla="val 3077"/>
            </a:avLst>
          </a:prstGeom>
          <a:solidFill>
            <a:schemeClr val="bg2"/>
          </a:solidFill>
          <a:ln/>
        </p:spPr>
      </p:sp>
      <p:sp>
        <p:nvSpPr>
          <p:cNvPr id="5" name="cerchio FiCpu"/>
          <p:cNvSpPr/>
          <p:nvPr/>
        </p:nvSpPr>
        <p:spPr>
          <a:xfrm>
            <a:off x="640080" y="1280160"/>
            <a:ext cx="457200" cy="457200"/>
          </a:xfrm>
          <a:prstGeom prst="ellipse">
            <a:avLst/>
          </a:prstGeom>
          <a:solidFill>
            <a:schemeClr val="accent1"/>
          </a:solidFill>
          <a:ln/>
        </p:spPr>
      </p:sp>
      <p:sp>
        <p:nvSpPr>
          <p:cNvPr id="6" name="scheda Dall'applicazione"/>
          <p:cNvSpPr/>
          <p:nvPr/>
        </p:nvSpPr>
        <p:spPr>
          <a:xfrm>
            <a:off x="4709160" y="1097280"/>
            <a:ext cx="3977640" cy="2377440"/>
          </a:xfrm>
          <a:prstGeom prst="roundRect">
            <a:avLst>
              <a:gd name="adj" fmla="val 3077"/>
            </a:avLst>
          </a:prstGeom>
          <a:solidFill>
            <a:schemeClr val="accent6"/>
          </a:solidFill>
          <a:ln/>
        </p:spPr>
      </p:sp>
      <p:sp>
        <p:nvSpPr>
          <p:cNvPr id="7" name="cerchio FiPackage"/>
          <p:cNvSpPr/>
          <p:nvPr/>
        </p:nvSpPr>
        <p:spPr>
          <a:xfrm>
            <a:off x="4892040" y="1280160"/>
            <a:ext cx="457200" cy="457200"/>
          </a:xfrm>
          <a:prstGeom prst="ellipse">
            <a:avLst/>
          </a:prstGeom>
          <a:solidFill>
            <a:schemeClr val="accent1"/>
          </a:solidFill>
          <a:ln/>
        </p:spPr>
      </p:sp>
      <p:pic>
        <p:nvPicPr>
          <p:cNvPr id="8" name="Image 0" descr="FiCpu">    </p:cNvPr>
          <p:cNvPicPr>
            <a:picLocks noChangeAspect="1"/>
          </p:cNvPicPr>
          <p:nvPr/>
        </p:nvPicPr>
        <p:blipFill>
          <a:blip r:embed="rId1"/>
          <a:stretch>
            <a:fillRect/>
          </a:stretch>
        </p:blipFill>
        <p:spPr>
          <a:xfrm>
            <a:off x="754380" y="1394460"/>
            <a:ext cx="228600" cy="228600"/>
          </a:xfrm>
          <a:prstGeom prst="rect">
            <a:avLst/>
          </a:prstGeom>
        </p:spPr>
      </p:pic>
      <p:sp>
        <p:nvSpPr>
          <p:cNvPr id="9" name="Text 5"/>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Dal modello</a:t>
            </a:r>
            <a:endParaRPr lang="en-US" sz="1500" dirty="0"/>
          </a:p>
        </p:txBody>
      </p:sp>
      <p:sp>
        <p:nvSpPr>
          <p:cNvPr id="10" name="Text 6"/>
          <p:cNvSpPr txBox="1"/>
          <p:nvPr/>
        </p:nvSpPr>
        <p:spPr>
          <a:xfrm>
            <a:off x="640080" y="2231136"/>
            <a:ext cx="3611880" cy="1133856"/>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2"/>
                </a:solidFill>
              </a:rPr>
              <a:t>Qualità della scrittura</a:t>
            </a:r>
            <a:endParaRPr lang="en-US" sz="1300" dirty="0"/>
          </a:p>
          <a:p>
            <a:pPr marL="177800" indent="-177800">
              <a:spcAft>
                <a:spcPts val="300"/>
              </a:spcAft>
              <a:buSzPct val="100000"/>
              <a:buChar char="•"/>
            </a:pPr>
            <a:r>
              <a:rPr lang="en-US" sz="1300" dirty="0">
                <a:solidFill>
                  <a:schemeClr val="tx2"/>
                </a:solidFill>
              </a:rPr>
              <a:t>Ragionamento</a:t>
            </a:r>
            <a:endParaRPr lang="en-US" sz="1300" dirty="0"/>
          </a:p>
          <a:p>
            <a:pPr marL="177800" indent="-177800">
              <a:spcAft>
                <a:spcPts val="300"/>
              </a:spcAft>
              <a:buSzPct val="100000"/>
              <a:buChar char="•"/>
            </a:pPr>
            <a:r>
              <a:rPr lang="en-US" sz="1300" dirty="0">
                <a:solidFill>
                  <a:schemeClr val="tx2"/>
                </a:solidFill>
              </a:rPr>
              <a:t>Comprensione di immagini</a:t>
            </a:r>
            <a:endParaRPr lang="en-US" sz="1300" dirty="0"/>
          </a:p>
          <a:p>
            <a:pPr marL="177800" indent="-177800">
              <a:spcAft>
                <a:spcPts val="300"/>
              </a:spcAft>
              <a:buSzPct val="100000"/>
              <a:buChar char="•"/>
            </a:pPr>
            <a:r>
              <a:rPr lang="en-US" sz="1300" dirty="0">
                <a:solidFill>
                  <a:schemeClr val="tx2"/>
                </a:solidFill>
              </a:rPr>
              <a:t>Lunghezza del contesto</a:t>
            </a:r>
            <a:endParaRPr lang="en-US" sz="1300" dirty="0"/>
          </a:p>
        </p:txBody>
      </p:sp>
      <p:pic>
        <p:nvPicPr>
          <p:cNvPr id="11" name="Image 1" descr="FiPackage">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Dall'applicazione</a:t>
            </a:r>
            <a:endParaRPr lang="en-US" sz="1500" dirty="0"/>
          </a:p>
        </p:txBody>
      </p:sp>
      <p:sp>
        <p:nvSpPr>
          <p:cNvPr id="13" name="Text 8"/>
          <p:cNvSpPr txBox="1"/>
          <p:nvPr/>
        </p:nvSpPr>
        <p:spPr>
          <a:xfrm>
            <a:off x="4892040" y="2231136"/>
            <a:ext cx="3611880" cy="1133856"/>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2"/>
                </a:solidFill>
              </a:rPr>
              <a:t>Ricerca sul web, esecuzione di codice</a:t>
            </a:r>
            <a:endParaRPr lang="en-US" sz="1300" dirty="0"/>
          </a:p>
          <a:p>
            <a:pPr marL="177800" indent="-177800">
              <a:spcAft>
                <a:spcPts val="300"/>
              </a:spcAft>
              <a:buSzPct val="100000"/>
              <a:buChar char="•"/>
            </a:pPr>
            <a:r>
              <a:rPr lang="en-US" sz="1300" dirty="0">
                <a:solidFill>
                  <a:schemeClr val="tx2"/>
                </a:solidFill>
              </a:rPr>
              <a:t>Collegamento a posta e documenti</a:t>
            </a:r>
            <a:endParaRPr lang="en-US" sz="1300" dirty="0"/>
          </a:p>
          <a:p>
            <a:pPr marL="177800" indent="-177800">
              <a:spcAft>
                <a:spcPts val="300"/>
              </a:spcAft>
              <a:buSzPct val="100000"/>
              <a:buChar char="•"/>
            </a:pPr>
            <a:r>
              <a:rPr lang="en-US" sz="1300" dirty="0">
                <a:solidFill>
                  <a:schemeClr val="tx2"/>
                </a:solidFill>
              </a:rPr>
              <a:t>Memoria e progetti condivisi</a:t>
            </a:r>
            <a:endParaRPr lang="en-US" sz="1300" dirty="0"/>
          </a:p>
          <a:p>
            <a:pPr marL="177800" indent="-177800">
              <a:spcAft>
                <a:spcPts val="300"/>
              </a:spcAft>
              <a:buSzPct val="100000"/>
              <a:buChar char="•"/>
            </a:pPr>
            <a:r>
              <a:rPr lang="en-US" sz="1300" dirty="0">
                <a:solidFill>
                  <a:schemeClr val="tx2"/>
                </a:solidFill>
              </a:rPr>
              <a:t>Controlli e gestione dei dati</a:t>
            </a:r>
            <a:endParaRPr lang="en-US" sz="1300" dirty="0"/>
          </a:p>
        </p:txBody>
      </p:sp>
      <p:sp>
        <p:nvSpPr>
          <p:cNvPr id="14" name="Text 9"/>
          <p:cNvSpPr txBox="1"/>
          <p:nvPr/>
        </p:nvSpPr>
        <p:spPr>
          <a:xfrm>
            <a:off x="457200" y="3611880"/>
            <a:ext cx="8229600" cy="274320"/>
          </a:xfrm>
          <a:prstGeom prst="rect">
            <a:avLst/>
          </a:prstGeom>
          <a:noFill/>
          <a:ln/>
        </p:spPr>
        <p:txBody>
          <a:bodyPr wrap="square" lIns="0" tIns="0" rIns="0" bIns="0" rtlCol="0" anchor="t"/>
          <a:lstStyle/>
          <a:p>
            <a:pPr indent="0" marL="0">
              <a:buNone/>
            </a:pPr>
            <a:r>
              <a:rPr lang="en-US" sz="1300" b="1" dirty="0">
                <a:solidFill>
                  <a:schemeClr val="tx1"/>
                </a:solidFill>
              </a:rPr>
              <a:t>Situazioni frequenti</a:t>
            </a:r>
            <a:endParaRPr lang="en-US" sz="1300" dirty="0"/>
          </a:p>
        </p:txBody>
      </p:sp>
      <p:sp>
        <p:nvSpPr>
          <p:cNvPr id="15" name="blocco Stesso modello, funzioni diverse in app diverse"/>
          <p:cNvSpPr/>
          <p:nvPr/>
        </p:nvSpPr>
        <p:spPr>
          <a:xfrm>
            <a:off x="457200" y="3977640"/>
            <a:ext cx="2615184" cy="548640"/>
          </a:xfrm>
          <a:prstGeom prst="roundRect">
            <a:avLst>
              <a:gd name="adj" fmla="val 20000"/>
            </a:avLst>
          </a:prstGeom>
          <a:solidFill>
            <a:schemeClr val="bg2"/>
          </a:solidFill>
          <a:ln/>
        </p:spPr>
      </p:sp>
      <p:sp>
        <p:nvSpPr>
          <p:cNvPr id="16" name="Text 11"/>
          <p:cNvSpPr txBox="1"/>
          <p:nvPr/>
        </p:nvSpPr>
        <p:spPr>
          <a:xfrm>
            <a:off x="502920" y="3977640"/>
            <a:ext cx="2523744" cy="548640"/>
          </a:xfrm>
          <a:prstGeom prst="rect">
            <a:avLst/>
          </a:prstGeom>
          <a:noFill/>
          <a:ln/>
        </p:spPr>
        <p:txBody>
          <a:bodyPr wrap="square" lIns="0" tIns="0" rIns="0" bIns="0" rtlCol="0" anchor="ctr"/>
          <a:lstStyle/>
          <a:p>
            <a:pPr algn="ctr" indent="0" marL="0">
              <a:buNone/>
            </a:pPr>
            <a:r>
              <a:rPr lang="en-US" sz="1200" b="1" dirty="0">
                <a:solidFill>
                  <a:schemeClr val="tx1"/>
                </a:solidFill>
              </a:rPr>
              <a:t>Stesso modello, funzioni diverse in app diverse</a:t>
            </a:r>
            <a:endParaRPr lang="en-US" sz="1200" dirty="0"/>
          </a:p>
        </p:txBody>
      </p:sp>
      <p:sp>
        <p:nvSpPr>
          <p:cNvPr id="17" name="blocco L'app migliora senza cambiare modello"/>
          <p:cNvSpPr/>
          <p:nvPr/>
        </p:nvSpPr>
        <p:spPr>
          <a:xfrm>
            <a:off x="3264408" y="3977640"/>
            <a:ext cx="2615184" cy="548640"/>
          </a:xfrm>
          <a:prstGeom prst="roundRect">
            <a:avLst>
              <a:gd name="adj" fmla="val 20000"/>
            </a:avLst>
          </a:prstGeom>
          <a:solidFill>
            <a:schemeClr val="bg2"/>
          </a:solidFill>
          <a:ln/>
        </p:spPr>
      </p:sp>
      <p:sp>
        <p:nvSpPr>
          <p:cNvPr id="18" name="Text 13"/>
          <p:cNvSpPr txBox="1"/>
          <p:nvPr/>
        </p:nvSpPr>
        <p:spPr>
          <a:xfrm>
            <a:off x="3310128" y="3977640"/>
            <a:ext cx="2523744" cy="548640"/>
          </a:xfrm>
          <a:prstGeom prst="rect">
            <a:avLst/>
          </a:prstGeom>
          <a:noFill/>
          <a:ln/>
        </p:spPr>
        <p:txBody>
          <a:bodyPr wrap="square" lIns="0" tIns="0" rIns="0" bIns="0" rtlCol="0" anchor="ctr"/>
          <a:lstStyle/>
          <a:p>
            <a:pPr algn="ctr" indent="0" marL="0">
              <a:buNone/>
            </a:pPr>
            <a:r>
              <a:rPr lang="en-US" sz="1200" b="1" dirty="0">
                <a:solidFill>
                  <a:schemeClr val="tx1"/>
                </a:solidFill>
              </a:rPr>
              <a:t>L'app migliora senza cambiare modello</a:t>
            </a:r>
            <a:endParaRPr lang="en-US" sz="1200" dirty="0"/>
          </a:p>
        </p:txBody>
      </p:sp>
      <p:sp>
        <p:nvSpPr>
          <p:cNvPr id="19" name="blocco Una capacità del modello non disponibile in un piano"/>
          <p:cNvSpPr/>
          <p:nvPr/>
        </p:nvSpPr>
        <p:spPr>
          <a:xfrm>
            <a:off x="6071616" y="3977640"/>
            <a:ext cx="2615184" cy="548640"/>
          </a:xfrm>
          <a:prstGeom prst="roundRect">
            <a:avLst>
              <a:gd name="adj" fmla="val 20000"/>
            </a:avLst>
          </a:prstGeom>
          <a:solidFill>
            <a:schemeClr val="bg2"/>
          </a:solidFill>
          <a:ln/>
        </p:spPr>
      </p:sp>
      <p:sp>
        <p:nvSpPr>
          <p:cNvPr id="20" name="Text 15"/>
          <p:cNvSpPr txBox="1"/>
          <p:nvPr/>
        </p:nvSpPr>
        <p:spPr>
          <a:xfrm>
            <a:off x="6117336" y="3977640"/>
            <a:ext cx="2523744" cy="548640"/>
          </a:xfrm>
          <a:prstGeom prst="rect">
            <a:avLst/>
          </a:prstGeom>
          <a:noFill/>
          <a:ln/>
        </p:spPr>
        <p:txBody>
          <a:bodyPr wrap="square" lIns="0" tIns="0" rIns="0" bIns="0" rtlCol="0" anchor="ctr"/>
          <a:lstStyle/>
          <a:p>
            <a:pPr algn="ctr" indent="0" marL="0">
              <a:buNone/>
            </a:pPr>
            <a:r>
              <a:rPr lang="en-US" sz="1200" b="1" dirty="0">
                <a:solidFill>
                  <a:schemeClr val="tx1"/>
                </a:solidFill>
              </a:rPr>
              <a:t>Una capacità del modello non disponibile in un piano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25</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L'AI nei software di produttività e nei gestionali</a:t>
            </a:r>
            <a:endParaRPr lang="en-US" sz="2600" dirty="0"/>
          </a:p>
        </p:txBody>
      </p:sp>
      <p:sp>
        <p:nvSpPr>
          <p:cNvPr id="4" name="scheda Suite di produttività"/>
          <p:cNvSpPr/>
          <p:nvPr/>
        </p:nvSpPr>
        <p:spPr>
          <a:xfrm>
            <a:off x="457200" y="1097280"/>
            <a:ext cx="2615184" cy="2423160"/>
          </a:xfrm>
          <a:prstGeom prst="roundRect">
            <a:avLst>
              <a:gd name="adj" fmla="val 3019"/>
            </a:avLst>
          </a:prstGeom>
          <a:solidFill>
            <a:schemeClr val="bg2"/>
          </a:solidFill>
          <a:ln/>
        </p:spPr>
      </p:sp>
      <p:sp>
        <p:nvSpPr>
          <p:cNvPr id="5" name="cerchio FiFileText"/>
          <p:cNvSpPr/>
          <p:nvPr/>
        </p:nvSpPr>
        <p:spPr>
          <a:xfrm>
            <a:off x="640080" y="1280160"/>
            <a:ext cx="457200" cy="457200"/>
          </a:xfrm>
          <a:prstGeom prst="ellipse">
            <a:avLst/>
          </a:prstGeom>
          <a:solidFill>
            <a:schemeClr val="accent1"/>
          </a:solidFill>
          <a:ln/>
        </p:spPr>
      </p:sp>
      <p:pic>
        <p:nvPicPr>
          <p:cNvPr id="6" name="Image 0" descr="FiFileText">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1234440" y="1280160"/>
            <a:ext cx="1655064" cy="457200"/>
          </a:xfrm>
          <a:prstGeom prst="rect">
            <a:avLst/>
          </a:prstGeom>
          <a:noFill/>
          <a:ln/>
        </p:spPr>
        <p:txBody>
          <a:bodyPr wrap="square" lIns="0" tIns="0" rIns="0" bIns="0" rtlCol="0" anchor="ctr"/>
          <a:lstStyle/>
          <a:p>
            <a:pPr indent="0" marL="0">
              <a:buNone/>
            </a:pPr>
            <a:r>
              <a:rPr lang="en-US" sz="1400" b="1" dirty="0">
                <a:solidFill>
                  <a:schemeClr val="tx1"/>
                </a:solidFill>
              </a:rPr>
              <a:t>Suite di produttività</a:t>
            </a:r>
            <a:endParaRPr lang="en-US" sz="1400" dirty="0"/>
          </a:p>
        </p:txBody>
      </p:sp>
      <p:sp>
        <p:nvSpPr>
          <p:cNvPr id="8" name="Text 4"/>
          <p:cNvSpPr txBox="1"/>
          <p:nvPr/>
        </p:nvSpPr>
        <p:spPr>
          <a:xfrm>
            <a:off x="640080" y="1874520"/>
            <a:ext cx="2249424" cy="1536192"/>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2"/>
                </a:solidFill>
              </a:rPr>
              <a:t>Email e documenti</a:t>
            </a:r>
            <a:endParaRPr lang="en-US" sz="1200" dirty="0"/>
          </a:p>
          <a:p>
            <a:pPr marL="177800" indent="-177800">
              <a:spcAft>
                <a:spcPts val="300"/>
              </a:spcAft>
              <a:buSzPct val="100000"/>
              <a:buChar char="•"/>
            </a:pPr>
            <a:r>
              <a:rPr lang="en-US" sz="1200" dirty="0">
                <a:solidFill>
                  <a:schemeClr val="tx2"/>
                </a:solidFill>
              </a:rPr>
              <a:t>Fogli e presentazioni</a:t>
            </a:r>
            <a:endParaRPr lang="en-US" sz="1200" dirty="0"/>
          </a:p>
          <a:p>
            <a:pPr marL="177800" indent="-177800">
              <a:spcAft>
                <a:spcPts val="300"/>
              </a:spcAft>
              <a:buSzPct val="100000"/>
              <a:buChar char="•"/>
            </a:pPr>
            <a:r>
              <a:rPr lang="en-US" sz="1200" dirty="0">
                <a:solidFill>
                  <a:schemeClr val="tx2"/>
                </a:solidFill>
              </a:rPr>
              <a:t>Riunioni: trascrizioni e sintesi</a:t>
            </a:r>
            <a:endParaRPr lang="en-US" sz="1200" dirty="0"/>
          </a:p>
          <a:p>
            <a:pPr marL="177800" indent="-177800">
              <a:spcAft>
                <a:spcPts val="300"/>
              </a:spcAft>
              <a:buSzPct val="100000"/>
              <a:buChar char="•"/>
            </a:pPr>
            <a:r>
              <a:rPr lang="en-US" sz="1200" dirty="0">
                <a:solidFill>
                  <a:schemeClr val="tx2"/>
                </a:solidFill>
              </a:rPr>
              <a:t>Ricerca tra i propri file</a:t>
            </a:r>
            <a:endParaRPr lang="en-US" sz="1200" dirty="0"/>
          </a:p>
        </p:txBody>
      </p:sp>
      <p:sp>
        <p:nvSpPr>
          <p:cNvPr id="9" name="scheda CRM"/>
          <p:cNvSpPr/>
          <p:nvPr/>
        </p:nvSpPr>
        <p:spPr>
          <a:xfrm>
            <a:off x="3264408" y="1097280"/>
            <a:ext cx="2615184" cy="2423160"/>
          </a:xfrm>
          <a:prstGeom prst="roundRect">
            <a:avLst>
              <a:gd name="adj" fmla="val 3019"/>
            </a:avLst>
          </a:prstGeom>
          <a:solidFill>
            <a:schemeClr val="bg2"/>
          </a:solidFill>
          <a:ln/>
        </p:spPr>
      </p:sp>
      <p:sp>
        <p:nvSpPr>
          <p:cNvPr id="10" name="cerchio FiUsers"/>
          <p:cNvSpPr/>
          <p:nvPr/>
        </p:nvSpPr>
        <p:spPr>
          <a:xfrm>
            <a:off x="3447288" y="1280160"/>
            <a:ext cx="457200" cy="457200"/>
          </a:xfrm>
          <a:prstGeom prst="ellipse">
            <a:avLst/>
          </a:prstGeom>
          <a:solidFill>
            <a:schemeClr val="accent1"/>
          </a:solidFill>
          <a:ln/>
        </p:spPr>
      </p:sp>
      <p:pic>
        <p:nvPicPr>
          <p:cNvPr id="11" name="Image 1" descr="FiUsers">    </p:cNvPr>
          <p:cNvPicPr>
            <a:picLocks noChangeAspect="1"/>
          </p:cNvPicPr>
          <p:nvPr/>
        </p:nvPicPr>
        <p:blipFill>
          <a:blip r:embed="rId2"/>
          <a:stretch>
            <a:fillRect/>
          </a:stretch>
        </p:blipFill>
        <p:spPr>
          <a:xfrm>
            <a:off x="3561588" y="1394460"/>
            <a:ext cx="228600" cy="228600"/>
          </a:xfrm>
          <a:prstGeom prst="rect">
            <a:avLst/>
          </a:prstGeom>
        </p:spPr>
      </p:pic>
      <p:sp>
        <p:nvSpPr>
          <p:cNvPr id="12" name="Text 7"/>
          <p:cNvSpPr txBox="1"/>
          <p:nvPr/>
        </p:nvSpPr>
        <p:spPr>
          <a:xfrm>
            <a:off x="4041648" y="1280160"/>
            <a:ext cx="1655064" cy="457200"/>
          </a:xfrm>
          <a:prstGeom prst="rect">
            <a:avLst/>
          </a:prstGeom>
          <a:noFill/>
          <a:ln/>
        </p:spPr>
        <p:txBody>
          <a:bodyPr wrap="square" lIns="0" tIns="0" rIns="0" bIns="0" rtlCol="0" anchor="ctr"/>
          <a:lstStyle/>
          <a:p>
            <a:pPr indent="0" marL="0">
              <a:buNone/>
            </a:pPr>
            <a:r>
              <a:rPr lang="en-US" sz="1400" b="1" dirty="0">
                <a:solidFill>
                  <a:schemeClr val="tx1"/>
                </a:solidFill>
              </a:rPr>
              <a:t>CRM</a:t>
            </a:r>
            <a:endParaRPr lang="en-US" sz="1400" dirty="0"/>
          </a:p>
        </p:txBody>
      </p:sp>
      <p:sp>
        <p:nvSpPr>
          <p:cNvPr id="13" name="Text 8"/>
          <p:cNvSpPr txBox="1"/>
          <p:nvPr/>
        </p:nvSpPr>
        <p:spPr>
          <a:xfrm>
            <a:off x="3447288" y="1874520"/>
            <a:ext cx="2249424" cy="1536192"/>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2"/>
                </a:solidFill>
              </a:rPr>
              <a:t>Sintesi della storia del cliente</a:t>
            </a:r>
            <a:endParaRPr lang="en-US" sz="1200" dirty="0"/>
          </a:p>
          <a:p>
            <a:pPr marL="177800" indent="-177800">
              <a:spcAft>
                <a:spcPts val="300"/>
              </a:spcAft>
              <a:buSzPct val="100000"/>
              <a:buChar char="•"/>
            </a:pPr>
            <a:r>
              <a:rPr lang="en-US" sz="1200" dirty="0">
                <a:solidFill>
                  <a:schemeClr val="tx2"/>
                </a:solidFill>
              </a:rPr>
              <a:t>Prossime azioni suggerite</a:t>
            </a:r>
            <a:endParaRPr lang="en-US" sz="1200" dirty="0"/>
          </a:p>
          <a:p>
            <a:pPr marL="177800" indent="-177800">
              <a:spcAft>
                <a:spcPts val="300"/>
              </a:spcAft>
              <a:buSzPct val="100000"/>
              <a:buChar char="•"/>
            </a:pPr>
            <a:r>
              <a:rPr lang="en-US" sz="1200" dirty="0">
                <a:solidFill>
                  <a:schemeClr val="tx2"/>
                </a:solidFill>
              </a:rPr>
              <a:t>Bozze di comunicazioni</a:t>
            </a:r>
            <a:endParaRPr lang="en-US" sz="1200" dirty="0"/>
          </a:p>
          <a:p>
            <a:pPr marL="177800" indent="-177800">
              <a:spcAft>
                <a:spcPts val="300"/>
              </a:spcAft>
              <a:buSzPct val="100000"/>
              <a:buChar char="•"/>
            </a:pPr>
            <a:r>
              <a:rPr lang="en-US" sz="1200" dirty="0">
                <a:solidFill>
                  <a:schemeClr val="tx2"/>
                </a:solidFill>
              </a:rPr>
              <a:t>Classificazione delle richieste</a:t>
            </a:r>
            <a:endParaRPr lang="en-US" sz="1200" dirty="0"/>
          </a:p>
        </p:txBody>
      </p:sp>
      <p:sp>
        <p:nvSpPr>
          <p:cNvPr id="14" name="scheda ERP e gestionali"/>
          <p:cNvSpPr/>
          <p:nvPr/>
        </p:nvSpPr>
        <p:spPr>
          <a:xfrm>
            <a:off x="6071616" y="1097280"/>
            <a:ext cx="2615184" cy="2423160"/>
          </a:xfrm>
          <a:prstGeom prst="roundRect">
            <a:avLst>
              <a:gd name="adj" fmla="val 3019"/>
            </a:avLst>
          </a:prstGeom>
          <a:solidFill>
            <a:schemeClr val="bg2"/>
          </a:solidFill>
          <a:ln/>
        </p:spPr>
      </p:sp>
      <p:sp>
        <p:nvSpPr>
          <p:cNvPr id="15" name="cerchio FiDatabase"/>
          <p:cNvSpPr/>
          <p:nvPr/>
        </p:nvSpPr>
        <p:spPr>
          <a:xfrm>
            <a:off x="6254496" y="1280160"/>
            <a:ext cx="457200" cy="457200"/>
          </a:xfrm>
          <a:prstGeom prst="ellipse">
            <a:avLst/>
          </a:prstGeom>
          <a:solidFill>
            <a:schemeClr val="accent1"/>
          </a:solidFill>
          <a:ln/>
        </p:spPr>
      </p:sp>
      <p:pic>
        <p:nvPicPr>
          <p:cNvPr id="16" name="Image 2" descr="FiDatabase">    </p:cNvPr>
          <p:cNvPicPr>
            <a:picLocks noChangeAspect="1"/>
          </p:cNvPicPr>
          <p:nvPr/>
        </p:nvPicPr>
        <p:blipFill>
          <a:blip r:embed="rId3"/>
          <a:stretch>
            <a:fillRect/>
          </a:stretch>
        </p:blipFill>
        <p:spPr>
          <a:xfrm>
            <a:off x="6368796" y="1394460"/>
            <a:ext cx="228600" cy="228600"/>
          </a:xfrm>
          <a:prstGeom prst="rect">
            <a:avLst/>
          </a:prstGeom>
        </p:spPr>
      </p:pic>
      <p:sp>
        <p:nvSpPr>
          <p:cNvPr id="17" name="Text 11"/>
          <p:cNvSpPr txBox="1"/>
          <p:nvPr/>
        </p:nvSpPr>
        <p:spPr>
          <a:xfrm>
            <a:off x="6848856" y="1280160"/>
            <a:ext cx="1655064" cy="457200"/>
          </a:xfrm>
          <a:prstGeom prst="rect">
            <a:avLst/>
          </a:prstGeom>
          <a:noFill/>
          <a:ln/>
        </p:spPr>
        <p:txBody>
          <a:bodyPr wrap="square" lIns="0" tIns="0" rIns="0" bIns="0" rtlCol="0" anchor="ctr"/>
          <a:lstStyle/>
          <a:p>
            <a:pPr indent="0" marL="0">
              <a:buNone/>
            </a:pPr>
            <a:r>
              <a:rPr lang="en-US" sz="1400" b="1" dirty="0">
                <a:solidFill>
                  <a:schemeClr val="tx1"/>
                </a:solidFill>
              </a:rPr>
              <a:t>ERP e gestionali</a:t>
            </a:r>
            <a:endParaRPr lang="en-US" sz="1400" dirty="0"/>
          </a:p>
        </p:txBody>
      </p:sp>
      <p:sp>
        <p:nvSpPr>
          <p:cNvPr id="18" name="Text 12"/>
          <p:cNvSpPr txBox="1"/>
          <p:nvPr/>
        </p:nvSpPr>
        <p:spPr>
          <a:xfrm>
            <a:off x="6254496" y="1874520"/>
            <a:ext cx="2249424" cy="1536192"/>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2"/>
                </a:solidFill>
              </a:rPr>
              <a:t>Lettura di fatture e ordini</a:t>
            </a:r>
            <a:endParaRPr lang="en-US" sz="1200" dirty="0"/>
          </a:p>
          <a:p>
            <a:pPr marL="177800" indent="-177800">
              <a:spcAft>
                <a:spcPts val="300"/>
              </a:spcAft>
              <a:buSzPct val="100000"/>
              <a:buChar char="•"/>
            </a:pPr>
            <a:r>
              <a:rPr lang="en-US" sz="1200" dirty="0">
                <a:solidFill>
                  <a:schemeClr val="tx2"/>
                </a:solidFill>
              </a:rPr>
              <a:t>Segnalazione di anomalie</a:t>
            </a:r>
            <a:endParaRPr lang="en-US" sz="1200" dirty="0"/>
          </a:p>
          <a:p>
            <a:pPr marL="177800" indent="-177800">
              <a:spcAft>
                <a:spcPts val="300"/>
              </a:spcAft>
              <a:buSzPct val="100000"/>
              <a:buChar char="•"/>
            </a:pPr>
            <a:r>
              <a:rPr lang="en-US" sz="1200" dirty="0">
                <a:solidFill>
                  <a:schemeClr val="tx2"/>
                </a:solidFill>
              </a:rPr>
              <a:t>Domande sui dati in linguaggio naturale</a:t>
            </a:r>
            <a:endParaRPr lang="en-US" sz="1200" dirty="0"/>
          </a:p>
          <a:p>
            <a:pPr marL="177800" indent="-177800">
              <a:spcAft>
                <a:spcPts val="300"/>
              </a:spcAft>
              <a:buSzPct val="100000"/>
              <a:buChar char="•"/>
            </a:pPr>
            <a:r>
              <a:rPr lang="en-US" sz="1200" dirty="0">
                <a:solidFill>
                  <a:schemeClr val="tx2"/>
                </a:solidFill>
              </a:rPr>
              <a:t>Previsioni</a:t>
            </a:r>
            <a:endParaRPr lang="en-US" sz="1200" dirty="0"/>
          </a:p>
        </p:txBody>
      </p:sp>
      <p:sp>
        <p:nvSpPr>
          <p:cNvPr id="19" name="scheda Vantaggi: dati, flussi e permessi già presenti"/>
          <p:cNvSpPr/>
          <p:nvPr/>
        </p:nvSpPr>
        <p:spPr>
          <a:xfrm>
            <a:off x="457200" y="3657600"/>
            <a:ext cx="3977640" cy="868680"/>
          </a:xfrm>
          <a:prstGeom prst="roundRect">
            <a:avLst>
              <a:gd name="adj" fmla="val 8421"/>
            </a:avLst>
          </a:prstGeom>
          <a:solidFill>
            <a:schemeClr val="bg2"/>
          </a:solidFill>
          <a:ln/>
        </p:spPr>
      </p:sp>
      <p:sp>
        <p:nvSpPr>
          <p:cNvPr id="20" name="Text 14"/>
          <p:cNvSpPr txBox="1"/>
          <p:nvPr/>
        </p:nvSpPr>
        <p:spPr>
          <a:xfrm>
            <a:off x="640080" y="3840480"/>
            <a:ext cx="3611880" cy="347472"/>
          </a:xfrm>
          <a:prstGeom prst="rect">
            <a:avLst/>
          </a:prstGeom>
          <a:noFill/>
          <a:ln/>
        </p:spPr>
        <p:txBody>
          <a:bodyPr wrap="square" lIns="0" tIns="0" rIns="0" bIns="0" rtlCol="0" anchor="t"/>
          <a:lstStyle/>
          <a:p>
            <a:pPr indent="0" marL="0">
              <a:buNone/>
            </a:pPr>
            <a:r>
              <a:rPr lang="en-US" sz="1300" b="1" dirty="0">
                <a:solidFill>
                  <a:schemeClr val="tx1"/>
                </a:solidFill>
              </a:rPr>
              <a:t>Vantaggi: dati, flussi e permessi già presenti</a:t>
            </a:r>
            <a:endParaRPr lang="en-US" sz="1300" dirty="0"/>
          </a:p>
        </p:txBody>
      </p:sp>
      <p:sp>
        <p:nvSpPr>
          <p:cNvPr id="21" name="scheda Limiti: scelte del fornitore, licenze, qualità dei dati"/>
          <p:cNvSpPr/>
          <p:nvPr/>
        </p:nvSpPr>
        <p:spPr>
          <a:xfrm>
            <a:off x="4709160" y="3657600"/>
            <a:ext cx="3977640" cy="868680"/>
          </a:xfrm>
          <a:prstGeom prst="roundRect">
            <a:avLst>
              <a:gd name="adj" fmla="val 8421"/>
            </a:avLst>
          </a:prstGeom>
          <a:solidFill>
            <a:schemeClr val="accent6"/>
          </a:solidFill>
          <a:ln/>
        </p:spPr>
      </p:sp>
      <p:sp>
        <p:nvSpPr>
          <p:cNvPr id="22" name="Text 16"/>
          <p:cNvSpPr txBox="1"/>
          <p:nvPr/>
        </p:nvSpPr>
        <p:spPr>
          <a:xfrm>
            <a:off x="4892040" y="3840480"/>
            <a:ext cx="3611880" cy="347472"/>
          </a:xfrm>
          <a:prstGeom prst="rect">
            <a:avLst/>
          </a:prstGeom>
          <a:noFill/>
          <a:ln/>
        </p:spPr>
        <p:txBody>
          <a:bodyPr wrap="square" lIns="0" tIns="0" rIns="0" bIns="0" rtlCol="0" anchor="t"/>
          <a:lstStyle/>
          <a:p>
            <a:pPr indent="0" marL="0">
              <a:buNone/>
            </a:pPr>
            <a:r>
              <a:rPr lang="en-US" sz="1300" b="1" dirty="0">
                <a:solidFill>
                  <a:schemeClr val="tx1"/>
                </a:solidFill>
              </a:rPr>
              <a:t>Limiti: scelte del fornitore, licenze, qualità dei dati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31</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Copilot in Laser: che cosa c'è e che cosa no</a:t>
            </a:r>
            <a:endParaRPr lang="en-US" sz="2600" dirty="0"/>
          </a:p>
        </p:txBody>
      </p:sp>
      <p:sp>
        <p:nvSpPr>
          <p:cNvPr id="4" name="scheda Da chiarire con Laser"/>
          <p:cNvSpPr/>
          <p:nvPr/>
        </p:nvSpPr>
        <p:spPr>
          <a:xfrm>
            <a:off x="457200" y="1051560"/>
            <a:ext cx="3977640" cy="2697480"/>
          </a:xfrm>
          <a:prstGeom prst="roundRect">
            <a:avLst>
              <a:gd name="adj" fmla="val 2712"/>
            </a:avLst>
          </a:prstGeom>
          <a:solidFill>
            <a:schemeClr val="bg2"/>
          </a:solidFill>
          <a:ln/>
        </p:spPr>
      </p:sp>
      <p:sp>
        <p:nvSpPr>
          <p:cNvPr id="5" name="cerchio FiHelpCircle"/>
          <p:cNvSpPr/>
          <p:nvPr/>
        </p:nvSpPr>
        <p:spPr>
          <a:xfrm>
            <a:off x="640080" y="1234440"/>
            <a:ext cx="457200" cy="457200"/>
          </a:xfrm>
          <a:prstGeom prst="ellipse">
            <a:avLst/>
          </a:prstGeom>
          <a:solidFill>
            <a:schemeClr val="accent1"/>
          </a:solidFill>
          <a:ln/>
        </p:spPr>
      </p:sp>
      <p:pic>
        <p:nvPicPr>
          <p:cNvPr id="6" name="Image 0" descr="FiHelpCircle">    </p:cNvPr>
          <p:cNvPicPr>
            <a:picLocks noChangeAspect="1"/>
          </p:cNvPicPr>
          <p:nvPr/>
        </p:nvPicPr>
        <p:blipFill>
          <a:blip r:embed="rId1"/>
          <a:stretch>
            <a:fillRect/>
          </a:stretch>
        </p:blipFill>
        <p:spPr>
          <a:xfrm>
            <a:off x="754380" y="1348740"/>
            <a:ext cx="228600" cy="228600"/>
          </a:xfrm>
          <a:prstGeom prst="rect">
            <a:avLst/>
          </a:prstGeom>
        </p:spPr>
      </p:pic>
      <p:sp>
        <p:nvSpPr>
          <p:cNvPr id="7" name="Text 3"/>
          <p:cNvSpPr txBox="1"/>
          <p:nvPr/>
        </p:nvSpPr>
        <p:spPr>
          <a:xfrm>
            <a:off x="1234440" y="123444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Da chiarire con Laser</a:t>
            </a:r>
            <a:endParaRPr lang="en-US" sz="1500" dirty="0"/>
          </a:p>
        </p:txBody>
      </p:sp>
      <p:sp>
        <p:nvSpPr>
          <p:cNvPr id="8" name="Text 4"/>
          <p:cNvSpPr txBox="1"/>
          <p:nvPr/>
        </p:nvSpPr>
        <p:spPr>
          <a:xfrm>
            <a:off x="640080" y="1828800"/>
            <a:ext cx="3611880" cy="1810512"/>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Quale Copilot: chat con protezione dei dati o Microsoft 365 Copilot?</a:t>
            </a:r>
            <a:endParaRPr lang="en-US" sz="1300" dirty="0"/>
          </a:p>
          <a:p>
            <a:pPr marL="177800" indent="-177800">
              <a:spcAft>
                <a:spcPts val="400"/>
              </a:spcAft>
              <a:buSzPct val="100000"/>
              <a:buChar char="•"/>
            </a:pPr>
            <a:r>
              <a:rPr lang="en-US" sz="1300" dirty="0">
                <a:solidFill>
                  <a:schemeClr val="tx2"/>
                </a:solidFill>
              </a:rPr>
              <a:t>Chi ha la licenza, in quali reparti</a:t>
            </a:r>
            <a:endParaRPr lang="en-US" sz="1300" dirty="0"/>
          </a:p>
          <a:p>
            <a:pPr marL="177800" indent="-177800">
              <a:spcAft>
                <a:spcPts val="400"/>
              </a:spcAft>
              <a:buSzPct val="100000"/>
              <a:buChar char="•"/>
            </a:pPr>
            <a:r>
              <a:rPr lang="en-US" sz="1300" dirty="0">
                <a:solidFill>
                  <a:schemeClr val="tx2"/>
                </a:solidFill>
              </a:rPr>
              <a:t>Accesso ai file aziendali (SharePoint, OneDrive, Teams)</a:t>
            </a:r>
            <a:endParaRPr lang="en-US" sz="1300" dirty="0"/>
          </a:p>
          <a:p>
            <a:pPr marL="177800" indent="-177800">
              <a:spcAft>
                <a:spcPts val="400"/>
              </a:spcAft>
              <a:buSzPct val="100000"/>
              <a:buChar char="•"/>
            </a:pPr>
            <a:r>
              <a:rPr lang="en-US" sz="1300" dirty="0">
                <a:solidFill>
                  <a:schemeClr val="tx2"/>
                </a:solidFill>
              </a:rPr>
              <a:t>Esiste già una regola interna sull'uso?</a:t>
            </a:r>
            <a:endParaRPr lang="en-US" sz="1300" dirty="0"/>
          </a:p>
        </p:txBody>
      </p:sp>
      <p:sp>
        <p:nvSpPr>
          <p:cNvPr id="9" name="scheda Come riconoscerlo"/>
          <p:cNvSpPr/>
          <p:nvPr/>
        </p:nvSpPr>
        <p:spPr>
          <a:xfrm>
            <a:off x="4709160" y="1051560"/>
            <a:ext cx="3977640" cy="2697480"/>
          </a:xfrm>
          <a:prstGeom prst="roundRect">
            <a:avLst>
              <a:gd name="adj" fmla="val 2712"/>
            </a:avLst>
          </a:prstGeom>
          <a:solidFill>
            <a:schemeClr val="accent6"/>
          </a:solidFill>
          <a:ln/>
        </p:spPr>
      </p:sp>
      <p:sp>
        <p:nvSpPr>
          <p:cNvPr id="10" name="cerchio FiShield"/>
          <p:cNvSpPr/>
          <p:nvPr/>
        </p:nvSpPr>
        <p:spPr>
          <a:xfrm>
            <a:off x="4892040" y="1234440"/>
            <a:ext cx="457200" cy="457200"/>
          </a:xfrm>
          <a:prstGeom prst="ellipse">
            <a:avLst/>
          </a:prstGeom>
          <a:solidFill>
            <a:schemeClr val="accent1"/>
          </a:solidFill>
          <a:ln/>
        </p:spPr>
      </p:sp>
      <p:pic>
        <p:nvPicPr>
          <p:cNvPr id="11" name="Image 1" descr="FiShield">    </p:cNvPr>
          <p:cNvPicPr>
            <a:picLocks noChangeAspect="1"/>
          </p:cNvPicPr>
          <p:nvPr/>
        </p:nvPicPr>
        <p:blipFill>
          <a:blip r:embed="rId2"/>
          <a:stretch>
            <a:fillRect/>
          </a:stretch>
        </p:blipFill>
        <p:spPr>
          <a:xfrm>
            <a:off x="5006340" y="1348740"/>
            <a:ext cx="228600" cy="228600"/>
          </a:xfrm>
          <a:prstGeom prst="rect">
            <a:avLst/>
          </a:prstGeom>
        </p:spPr>
      </p:pic>
      <p:sp>
        <p:nvSpPr>
          <p:cNvPr id="12" name="Text 7"/>
          <p:cNvSpPr txBox="1"/>
          <p:nvPr/>
        </p:nvSpPr>
        <p:spPr>
          <a:xfrm>
            <a:off x="5486400" y="123444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Come riconoscerlo</a:t>
            </a:r>
            <a:endParaRPr lang="en-US" sz="1500" dirty="0"/>
          </a:p>
        </p:txBody>
      </p:sp>
      <p:sp>
        <p:nvSpPr>
          <p:cNvPr id="13" name="Text 8"/>
          <p:cNvSpPr txBox="1"/>
          <p:nvPr/>
        </p:nvSpPr>
        <p:spPr>
          <a:xfrm>
            <a:off x="4892040" y="1828800"/>
            <a:ext cx="3611880" cy="1810512"/>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Accesso con l'account di lavoro</a:t>
            </a:r>
            <a:endParaRPr lang="en-US" sz="1300" dirty="0"/>
          </a:p>
          <a:p>
            <a:pPr marL="177800" indent="-177800">
              <a:spcAft>
                <a:spcPts val="400"/>
              </a:spcAft>
              <a:buSzPct val="100000"/>
              <a:buChar char="•"/>
            </a:pPr>
            <a:r>
              <a:rPr lang="en-US" sz="1300" dirty="0">
                <a:solidFill>
                  <a:schemeClr val="tx2"/>
                </a:solidFill>
              </a:rPr>
              <a:t>Indicazione di protezione dei dati aziendali visibile</a:t>
            </a:r>
            <a:endParaRPr lang="en-US" sz="1300" dirty="0"/>
          </a:p>
          <a:p>
            <a:pPr marL="177800" indent="-177800">
              <a:spcAft>
                <a:spcPts val="400"/>
              </a:spcAft>
              <a:buSzPct val="100000"/>
              <a:buChar char="•"/>
            </a:pPr>
            <a:r>
              <a:rPr lang="en-US" sz="1300" dirty="0">
                <a:solidFill>
                  <a:schemeClr val="tx2"/>
                </a:solidFill>
              </a:rPr>
              <a:t>Mai account personali per documenti di lavoro</a:t>
            </a:r>
            <a:endParaRPr lang="en-US" sz="1300" dirty="0"/>
          </a:p>
          <a:p>
            <a:pPr marL="177800" indent="-177800">
              <a:spcAft>
                <a:spcPts val="400"/>
              </a:spcAft>
              <a:buSzPct val="100000"/>
              <a:buChar char="•"/>
            </a:pPr>
            <a:r>
              <a:rPr lang="en-US" sz="1300" dirty="0">
                <a:solidFill>
                  <a:schemeClr val="tx2"/>
                </a:solidFill>
              </a:rPr>
              <a:t>In dubbio: chiedere prima di caricare</a:t>
            </a:r>
            <a:endParaRPr lang="en-US" sz="1300" dirty="0"/>
          </a:p>
        </p:txBody>
      </p:sp>
      <p:sp>
        <p:nvSpPr>
          <p:cNvPr id="14" name="messaggio"/>
          <p:cNvSpPr/>
          <p:nvPr/>
        </p:nvSpPr>
        <p:spPr>
          <a:xfrm>
            <a:off x="457200" y="3931920"/>
            <a:ext cx="8229600" cy="594360"/>
          </a:xfrm>
          <a:prstGeom prst="roundRect">
            <a:avLst>
              <a:gd name="adj" fmla="val 12308"/>
            </a:avLst>
          </a:prstGeom>
          <a:solidFill>
            <a:schemeClr val="tx1"/>
          </a:solidFill>
          <a:ln/>
        </p:spPr>
      </p:sp>
      <p:sp>
        <p:nvSpPr>
          <p:cNvPr id="15" name="Text 10"/>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400" dirty="0">
                <a:solidFill>
                  <a:schemeClr val="bg1"/>
                </a:solidFill>
              </a:rPr>
              <a:t>Solo lo strumento autorizzato, con l'account di lavoro. Le regole complete nella sessione 3.</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Prima il problema, poi il prompt</a:t>
            </a:r>
            <a:endParaRPr lang="en-US" sz="2600" dirty="0"/>
          </a:p>
        </p:txBody>
      </p:sp>
      <p:sp>
        <p:nvSpPr>
          <p:cNvPr id="4" name="Quale problema voglio risolvere?"/>
          <p:cNvSpPr/>
          <p:nvPr/>
        </p:nvSpPr>
        <p:spPr>
          <a:xfrm>
            <a:off x="457200" y="1097280"/>
            <a:ext cx="8229600" cy="749808"/>
          </a:xfrm>
          <a:prstGeom prst="roundRect">
            <a:avLst>
              <a:gd name="adj" fmla="val 9756"/>
            </a:avLst>
          </a:prstGeom>
          <a:solidFill>
            <a:schemeClr val="bg2"/>
          </a:solidFill>
          <a:ln/>
        </p:spPr>
      </p:sp>
      <p:sp>
        <p:nvSpPr>
          <p:cNvPr id="5" name="Text 2"/>
          <p:cNvSpPr txBox="1"/>
          <p:nvPr/>
        </p:nvSpPr>
        <p:spPr>
          <a:xfrm>
            <a:off x="594360" y="1097280"/>
            <a:ext cx="457200" cy="749808"/>
          </a:xfrm>
          <a:prstGeom prst="rect">
            <a:avLst/>
          </a:prstGeom>
          <a:noFill/>
          <a:ln/>
        </p:spPr>
        <p:txBody>
          <a:bodyPr wrap="square" lIns="0" tIns="0" rIns="0" bIns="0" rtlCol="0" anchor="ctr"/>
          <a:lstStyle/>
          <a:p>
            <a:pPr indent="0" marL="0">
              <a:buNone/>
            </a:pPr>
            <a:r>
              <a:rPr lang="en-US" sz="2400" b="1" dirty="0">
                <a:solidFill>
                  <a:schemeClr val="accent1"/>
                </a:solidFill>
              </a:rPr>
              <a:t>1</a:t>
            </a:r>
            <a:endParaRPr lang="en-US" sz="2400" dirty="0"/>
          </a:p>
        </p:txBody>
      </p:sp>
      <p:sp>
        <p:nvSpPr>
          <p:cNvPr id="6" name="Text 3"/>
          <p:cNvSpPr txBox="1"/>
          <p:nvPr/>
        </p:nvSpPr>
        <p:spPr>
          <a:xfrm>
            <a:off x="1097280" y="1097280"/>
            <a:ext cx="3200400" cy="749808"/>
          </a:xfrm>
          <a:prstGeom prst="rect">
            <a:avLst/>
          </a:prstGeom>
          <a:noFill/>
          <a:ln/>
        </p:spPr>
        <p:txBody>
          <a:bodyPr wrap="square" lIns="0" tIns="0" rIns="0" bIns="0" rtlCol="0" anchor="ctr"/>
          <a:lstStyle/>
          <a:p>
            <a:pPr indent="0" marL="0">
              <a:buNone/>
            </a:pPr>
            <a:r>
              <a:rPr lang="en-US" sz="1500" b="1" dirty="0">
                <a:solidFill>
                  <a:schemeClr val="tx1"/>
                </a:solidFill>
              </a:rPr>
              <a:t>Quale problema voglio risolvere?</a:t>
            </a:r>
            <a:endParaRPr lang="en-US" sz="1500" dirty="0"/>
          </a:p>
        </p:txBody>
      </p:sp>
      <p:sp>
        <p:nvSpPr>
          <p:cNvPr id="7" name="Text 4"/>
          <p:cNvSpPr txBox="1"/>
          <p:nvPr/>
        </p:nvSpPr>
        <p:spPr>
          <a:xfrm>
            <a:off x="4389120" y="1097280"/>
            <a:ext cx="4160520" cy="749808"/>
          </a:xfrm>
          <a:prstGeom prst="rect">
            <a:avLst/>
          </a:prstGeom>
          <a:noFill/>
          <a:ln/>
        </p:spPr>
        <p:txBody>
          <a:bodyPr wrap="square" lIns="0" tIns="0" rIns="0" bIns="0" rtlCol="0" anchor="ctr"/>
          <a:lstStyle/>
          <a:p>
            <a:pPr indent="0" marL="0">
              <a:buNone/>
            </a:pPr>
            <a:r>
              <a:rPr lang="en-US" sz="1200" dirty="0">
                <a:solidFill>
                  <a:schemeClr val="tx2"/>
                </a:solidFill>
              </a:rPr>
              <a:t>Non "scrivere una presentazione", ma "ottenere l'approvazione di un investimento"</a:t>
            </a:r>
            <a:endParaRPr lang="en-US" sz="1200" dirty="0"/>
          </a:p>
        </p:txBody>
      </p:sp>
      <p:sp>
        <p:nvSpPr>
          <p:cNvPr id="8" name="A quale scopo serve il risultato?"/>
          <p:cNvSpPr/>
          <p:nvPr/>
        </p:nvSpPr>
        <p:spPr>
          <a:xfrm>
            <a:off x="457200" y="1965960"/>
            <a:ext cx="8229600" cy="749808"/>
          </a:xfrm>
          <a:prstGeom prst="roundRect">
            <a:avLst>
              <a:gd name="adj" fmla="val 9756"/>
            </a:avLst>
          </a:prstGeom>
          <a:solidFill>
            <a:schemeClr val="bg1"/>
          </a:solidFill>
          <a:ln/>
        </p:spPr>
      </p:sp>
      <p:sp>
        <p:nvSpPr>
          <p:cNvPr id="9" name="Text 6"/>
          <p:cNvSpPr txBox="1"/>
          <p:nvPr/>
        </p:nvSpPr>
        <p:spPr>
          <a:xfrm>
            <a:off x="594360" y="1965960"/>
            <a:ext cx="457200" cy="749808"/>
          </a:xfrm>
          <a:prstGeom prst="rect">
            <a:avLst/>
          </a:prstGeom>
          <a:noFill/>
          <a:ln/>
        </p:spPr>
        <p:txBody>
          <a:bodyPr wrap="square" lIns="0" tIns="0" rIns="0" bIns="0" rtlCol="0" anchor="ctr"/>
          <a:lstStyle/>
          <a:p>
            <a:pPr indent="0" marL="0">
              <a:buNone/>
            </a:pPr>
            <a:r>
              <a:rPr lang="en-US" sz="2400" b="1" dirty="0">
                <a:solidFill>
                  <a:schemeClr val="accent1"/>
                </a:solidFill>
              </a:rPr>
              <a:t>2</a:t>
            </a:r>
            <a:endParaRPr lang="en-US" sz="2400" dirty="0"/>
          </a:p>
        </p:txBody>
      </p:sp>
      <p:sp>
        <p:nvSpPr>
          <p:cNvPr id="10" name="Text 7"/>
          <p:cNvSpPr txBox="1"/>
          <p:nvPr/>
        </p:nvSpPr>
        <p:spPr>
          <a:xfrm>
            <a:off x="1097280" y="1965960"/>
            <a:ext cx="3200400" cy="749808"/>
          </a:xfrm>
          <a:prstGeom prst="rect">
            <a:avLst/>
          </a:prstGeom>
          <a:noFill/>
          <a:ln/>
        </p:spPr>
        <p:txBody>
          <a:bodyPr wrap="square" lIns="0" tIns="0" rIns="0" bIns="0" rtlCol="0" anchor="ctr"/>
          <a:lstStyle/>
          <a:p>
            <a:pPr indent="0" marL="0">
              <a:buNone/>
            </a:pPr>
            <a:r>
              <a:rPr lang="en-US" sz="1500" b="1" dirty="0">
                <a:solidFill>
                  <a:schemeClr val="tx1"/>
                </a:solidFill>
              </a:rPr>
              <a:t>A quale scopo serve il risultato?</a:t>
            </a:r>
            <a:endParaRPr lang="en-US" sz="1500" dirty="0"/>
          </a:p>
        </p:txBody>
      </p:sp>
      <p:sp>
        <p:nvSpPr>
          <p:cNvPr id="11" name="Text 8"/>
          <p:cNvSpPr txBox="1"/>
          <p:nvPr/>
        </p:nvSpPr>
        <p:spPr>
          <a:xfrm>
            <a:off x="4389120" y="1965960"/>
            <a:ext cx="4160520" cy="749808"/>
          </a:xfrm>
          <a:prstGeom prst="rect">
            <a:avLst/>
          </a:prstGeom>
          <a:noFill/>
          <a:ln/>
        </p:spPr>
        <p:txBody>
          <a:bodyPr wrap="square" lIns="0" tIns="0" rIns="0" bIns="0" rtlCol="0" anchor="ctr"/>
          <a:lstStyle/>
          <a:p>
            <a:pPr indent="0" marL="0">
              <a:buNone/>
            </a:pPr>
            <a:r>
              <a:rPr lang="en-US" sz="1200" dirty="0">
                <a:solidFill>
                  <a:schemeClr val="tx2"/>
                </a:solidFill>
              </a:rPr>
              <a:t>Chi lo userà, quale decisione o azione deve rendere possibile</a:t>
            </a:r>
            <a:endParaRPr lang="en-US" sz="1200" dirty="0"/>
          </a:p>
        </p:txBody>
      </p:sp>
      <p:sp>
        <p:nvSpPr>
          <p:cNvPr id="12" name="Con quali criteri di successo?"/>
          <p:cNvSpPr/>
          <p:nvPr/>
        </p:nvSpPr>
        <p:spPr>
          <a:xfrm>
            <a:off x="457200" y="2834640"/>
            <a:ext cx="8229600" cy="749808"/>
          </a:xfrm>
          <a:prstGeom prst="roundRect">
            <a:avLst>
              <a:gd name="adj" fmla="val 9756"/>
            </a:avLst>
          </a:prstGeom>
          <a:solidFill>
            <a:schemeClr val="bg2"/>
          </a:solidFill>
          <a:ln/>
        </p:spPr>
      </p:sp>
      <p:sp>
        <p:nvSpPr>
          <p:cNvPr id="13" name="Text 10"/>
          <p:cNvSpPr txBox="1"/>
          <p:nvPr/>
        </p:nvSpPr>
        <p:spPr>
          <a:xfrm>
            <a:off x="594360" y="2834640"/>
            <a:ext cx="457200" cy="749808"/>
          </a:xfrm>
          <a:prstGeom prst="rect">
            <a:avLst/>
          </a:prstGeom>
          <a:noFill/>
          <a:ln/>
        </p:spPr>
        <p:txBody>
          <a:bodyPr wrap="square" lIns="0" tIns="0" rIns="0" bIns="0" rtlCol="0" anchor="ctr"/>
          <a:lstStyle/>
          <a:p>
            <a:pPr indent="0" marL="0">
              <a:buNone/>
            </a:pPr>
            <a:r>
              <a:rPr lang="en-US" sz="2400" b="1" dirty="0">
                <a:solidFill>
                  <a:schemeClr val="accent1"/>
                </a:solidFill>
              </a:rPr>
              <a:t>3</a:t>
            </a:r>
            <a:endParaRPr lang="en-US" sz="2400" dirty="0"/>
          </a:p>
        </p:txBody>
      </p:sp>
      <p:sp>
        <p:nvSpPr>
          <p:cNvPr id="14" name="Text 11"/>
          <p:cNvSpPr txBox="1"/>
          <p:nvPr/>
        </p:nvSpPr>
        <p:spPr>
          <a:xfrm>
            <a:off x="1097280" y="2834640"/>
            <a:ext cx="3200400" cy="749808"/>
          </a:xfrm>
          <a:prstGeom prst="rect">
            <a:avLst/>
          </a:prstGeom>
          <a:noFill/>
          <a:ln/>
        </p:spPr>
        <p:txBody>
          <a:bodyPr wrap="square" lIns="0" tIns="0" rIns="0" bIns="0" rtlCol="0" anchor="ctr"/>
          <a:lstStyle/>
          <a:p>
            <a:pPr indent="0" marL="0">
              <a:buNone/>
            </a:pPr>
            <a:r>
              <a:rPr lang="en-US" sz="1500" b="1" dirty="0">
                <a:solidFill>
                  <a:schemeClr val="tx1"/>
                </a:solidFill>
              </a:rPr>
              <a:t>Con quali criteri di successo?</a:t>
            </a:r>
            <a:endParaRPr lang="en-US" sz="1500" dirty="0"/>
          </a:p>
        </p:txBody>
      </p:sp>
      <p:sp>
        <p:nvSpPr>
          <p:cNvPr id="15" name="Text 12"/>
          <p:cNvSpPr txBox="1"/>
          <p:nvPr/>
        </p:nvSpPr>
        <p:spPr>
          <a:xfrm>
            <a:off x="4389120" y="2834640"/>
            <a:ext cx="4160520" cy="749808"/>
          </a:xfrm>
          <a:prstGeom prst="rect">
            <a:avLst/>
          </a:prstGeom>
          <a:noFill/>
          <a:ln/>
        </p:spPr>
        <p:txBody>
          <a:bodyPr wrap="square" lIns="0" tIns="0" rIns="0" bIns="0" rtlCol="0" anchor="ctr"/>
          <a:lstStyle/>
          <a:p>
            <a:pPr indent="0" marL="0">
              <a:buNone/>
            </a:pPr>
            <a:r>
              <a:rPr lang="en-US" sz="1200" dirty="0">
                <a:solidFill>
                  <a:schemeClr val="tx2"/>
                </a:solidFill>
              </a:rPr>
              <a:t>Che cosa deve contenere, che cosa lo renderebbe inutilizzabile</a:t>
            </a:r>
            <a:endParaRPr lang="en-US" sz="1200" dirty="0"/>
          </a:p>
        </p:txBody>
      </p:sp>
      <p:sp>
        <p:nvSpPr>
          <p:cNvPr id="16" name="messaggio"/>
          <p:cNvSpPr/>
          <p:nvPr/>
        </p:nvSpPr>
        <p:spPr>
          <a:xfrm>
            <a:off x="457200" y="3794760"/>
            <a:ext cx="8229600" cy="731520"/>
          </a:xfrm>
          <a:prstGeom prst="roundRect">
            <a:avLst>
              <a:gd name="adj" fmla="val 10000"/>
            </a:avLst>
          </a:prstGeom>
          <a:solidFill>
            <a:schemeClr val="tx1"/>
          </a:solidFill>
          <a:ln/>
        </p:spPr>
      </p:sp>
      <p:sp>
        <p:nvSpPr>
          <p:cNvPr id="17" name="Text 14"/>
          <p:cNvSpPr txBox="1"/>
          <p:nvPr/>
        </p:nvSpPr>
        <p:spPr>
          <a:xfrm>
            <a:off x="640080" y="3794760"/>
            <a:ext cx="7863840" cy="731520"/>
          </a:xfrm>
          <a:prstGeom prst="rect">
            <a:avLst/>
          </a:prstGeom>
          <a:noFill/>
          <a:ln/>
        </p:spPr>
        <p:txBody>
          <a:bodyPr wrap="square" lIns="0" tIns="0" rIns="0" bIns="0" rtlCol="0" anchor="ctr"/>
          <a:lstStyle/>
          <a:p>
            <a:pPr indent="0" marL="0">
              <a:buNone/>
            </a:pPr>
            <a:r>
              <a:rPr lang="en-US" sz="1300" dirty="0">
                <a:solidFill>
                  <a:schemeClr val="bg1"/>
                </a:solidFill>
              </a:rPr>
              <a:t>Molti prompt deludenti sono la risposta giusta alla domanda sbagliata. Le risposte alle tre domande sono già metà del prompt.</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Otto elementi possibili</a:t>
            </a:r>
            <a:endParaRPr lang="en-US" sz="2600" dirty="0"/>
          </a:p>
        </p:txBody>
      </p:sp>
      <p:sp>
        <p:nvSpPr>
          <p:cNvPr id="4" name="Problema"/>
          <p:cNvSpPr/>
          <p:nvPr/>
        </p:nvSpPr>
        <p:spPr>
          <a:xfrm>
            <a:off x="457200" y="1097280"/>
            <a:ext cx="1965960" cy="1207008"/>
          </a:xfrm>
          <a:prstGeom prst="roundRect">
            <a:avLst>
              <a:gd name="adj" fmla="val 6061"/>
            </a:avLst>
          </a:prstGeom>
          <a:solidFill>
            <a:schemeClr val="accent6"/>
          </a:solidFill>
          <a:ln/>
        </p:spPr>
      </p:sp>
      <p:sp>
        <p:nvSpPr>
          <p:cNvPr id="5" name="cerchio FiHelpCircle"/>
          <p:cNvSpPr/>
          <p:nvPr/>
        </p:nvSpPr>
        <p:spPr>
          <a:xfrm>
            <a:off x="621792" y="1261872"/>
            <a:ext cx="457200" cy="457200"/>
          </a:xfrm>
          <a:prstGeom prst="ellipse">
            <a:avLst/>
          </a:prstGeom>
          <a:solidFill>
            <a:schemeClr val="accent1"/>
          </a:solidFill>
          <a:ln/>
        </p:spPr>
      </p:sp>
      <p:pic>
        <p:nvPicPr>
          <p:cNvPr id="6" name="Image 0" descr="FiHelpCircle">    </p:cNvPr>
          <p:cNvPicPr>
            <a:picLocks noChangeAspect="1"/>
          </p:cNvPicPr>
          <p:nvPr/>
        </p:nvPicPr>
        <p:blipFill>
          <a:blip r:embed="rId1"/>
          <a:stretch>
            <a:fillRect/>
          </a:stretch>
        </p:blipFill>
        <p:spPr>
          <a:xfrm>
            <a:off x="736092" y="1376172"/>
            <a:ext cx="228600" cy="228600"/>
          </a:xfrm>
          <a:prstGeom prst="rect">
            <a:avLst/>
          </a:prstGeom>
        </p:spPr>
      </p:pic>
      <p:sp>
        <p:nvSpPr>
          <p:cNvPr id="7" name="Text 3"/>
          <p:cNvSpPr txBox="1"/>
          <p:nvPr/>
        </p:nvSpPr>
        <p:spPr>
          <a:xfrm>
            <a:off x="621792" y="1783080"/>
            <a:ext cx="1691640" cy="457200"/>
          </a:xfrm>
          <a:prstGeom prst="rect">
            <a:avLst/>
          </a:prstGeom>
          <a:noFill/>
          <a:ln/>
        </p:spPr>
        <p:txBody>
          <a:bodyPr wrap="square" lIns="0" tIns="0" rIns="0" bIns="0" rtlCol="0" anchor="t"/>
          <a:lstStyle/>
          <a:p>
            <a:pPr indent="0" marL="0">
              <a:buNone/>
            </a:pPr>
            <a:r>
              <a:rPr lang="en-US" sz="1300" b="1" dirty="0">
                <a:solidFill>
                  <a:schemeClr val="tx1"/>
                </a:solidFill>
              </a:rPr>
              <a:t>Problema</a:t>
            </a:r>
            <a:endParaRPr lang="en-US" sz="1300" dirty="0"/>
          </a:p>
        </p:txBody>
      </p:sp>
      <p:sp>
        <p:nvSpPr>
          <p:cNvPr id="8" name="Obiettivo"/>
          <p:cNvSpPr/>
          <p:nvPr/>
        </p:nvSpPr>
        <p:spPr>
          <a:xfrm>
            <a:off x="2560320" y="1097280"/>
            <a:ext cx="1965960" cy="1207008"/>
          </a:xfrm>
          <a:prstGeom prst="roundRect">
            <a:avLst>
              <a:gd name="adj" fmla="val 6061"/>
            </a:avLst>
          </a:prstGeom>
          <a:solidFill>
            <a:schemeClr val="accent6"/>
          </a:solidFill>
          <a:ln/>
        </p:spPr>
      </p:sp>
      <p:sp>
        <p:nvSpPr>
          <p:cNvPr id="9" name="cerchio FiTarget"/>
          <p:cNvSpPr/>
          <p:nvPr/>
        </p:nvSpPr>
        <p:spPr>
          <a:xfrm>
            <a:off x="2724912" y="1261872"/>
            <a:ext cx="457200" cy="457200"/>
          </a:xfrm>
          <a:prstGeom prst="ellipse">
            <a:avLst/>
          </a:prstGeom>
          <a:solidFill>
            <a:schemeClr val="accent1"/>
          </a:solidFill>
          <a:ln/>
        </p:spPr>
      </p:sp>
      <p:pic>
        <p:nvPicPr>
          <p:cNvPr id="10" name="Image 1" descr="FiTarget">    </p:cNvPr>
          <p:cNvPicPr>
            <a:picLocks noChangeAspect="1"/>
          </p:cNvPicPr>
          <p:nvPr/>
        </p:nvPicPr>
        <p:blipFill>
          <a:blip r:embed="rId2"/>
          <a:stretch>
            <a:fillRect/>
          </a:stretch>
        </p:blipFill>
        <p:spPr>
          <a:xfrm>
            <a:off x="2839212" y="1376172"/>
            <a:ext cx="228600" cy="228600"/>
          </a:xfrm>
          <a:prstGeom prst="rect">
            <a:avLst/>
          </a:prstGeom>
        </p:spPr>
      </p:pic>
      <p:sp>
        <p:nvSpPr>
          <p:cNvPr id="11" name="Text 6"/>
          <p:cNvSpPr txBox="1"/>
          <p:nvPr/>
        </p:nvSpPr>
        <p:spPr>
          <a:xfrm>
            <a:off x="2724912" y="1783080"/>
            <a:ext cx="1691640" cy="457200"/>
          </a:xfrm>
          <a:prstGeom prst="rect">
            <a:avLst/>
          </a:prstGeom>
          <a:noFill/>
          <a:ln/>
        </p:spPr>
        <p:txBody>
          <a:bodyPr wrap="square" lIns="0" tIns="0" rIns="0" bIns="0" rtlCol="0" anchor="t"/>
          <a:lstStyle/>
          <a:p>
            <a:pPr indent="0" marL="0">
              <a:buNone/>
            </a:pPr>
            <a:r>
              <a:rPr lang="en-US" sz="1300" b="1" dirty="0">
                <a:solidFill>
                  <a:schemeClr val="tx1"/>
                </a:solidFill>
              </a:rPr>
              <a:t>Obiettivo</a:t>
            </a:r>
            <a:endParaRPr lang="en-US" sz="1300" dirty="0"/>
          </a:p>
        </p:txBody>
      </p:sp>
      <p:sp>
        <p:nvSpPr>
          <p:cNvPr id="12" name="Compito"/>
          <p:cNvSpPr/>
          <p:nvPr/>
        </p:nvSpPr>
        <p:spPr>
          <a:xfrm>
            <a:off x="4663440" y="1097280"/>
            <a:ext cx="1965960" cy="1207008"/>
          </a:xfrm>
          <a:prstGeom prst="roundRect">
            <a:avLst>
              <a:gd name="adj" fmla="val 6061"/>
            </a:avLst>
          </a:prstGeom>
          <a:solidFill>
            <a:schemeClr val="bg2"/>
          </a:solidFill>
          <a:ln/>
        </p:spPr>
      </p:sp>
      <p:sp>
        <p:nvSpPr>
          <p:cNvPr id="13" name="cerchio FiPlay"/>
          <p:cNvSpPr/>
          <p:nvPr/>
        </p:nvSpPr>
        <p:spPr>
          <a:xfrm>
            <a:off x="4828032" y="1261872"/>
            <a:ext cx="457200" cy="457200"/>
          </a:xfrm>
          <a:prstGeom prst="ellipse">
            <a:avLst/>
          </a:prstGeom>
          <a:solidFill>
            <a:schemeClr val="accent1"/>
          </a:solidFill>
          <a:ln/>
        </p:spPr>
      </p:sp>
      <p:pic>
        <p:nvPicPr>
          <p:cNvPr id="14" name="Image 2" descr="FiPlay">    </p:cNvPr>
          <p:cNvPicPr>
            <a:picLocks noChangeAspect="1"/>
          </p:cNvPicPr>
          <p:nvPr/>
        </p:nvPicPr>
        <p:blipFill>
          <a:blip r:embed="rId3"/>
          <a:stretch>
            <a:fillRect/>
          </a:stretch>
        </p:blipFill>
        <p:spPr>
          <a:xfrm>
            <a:off x="4942332" y="1376172"/>
            <a:ext cx="228600" cy="228600"/>
          </a:xfrm>
          <a:prstGeom prst="rect">
            <a:avLst/>
          </a:prstGeom>
        </p:spPr>
      </p:pic>
      <p:sp>
        <p:nvSpPr>
          <p:cNvPr id="15" name="Text 9"/>
          <p:cNvSpPr txBox="1"/>
          <p:nvPr/>
        </p:nvSpPr>
        <p:spPr>
          <a:xfrm>
            <a:off x="4828032" y="1783080"/>
            <a:ext cx="1691640" cy="457200"/>
          </a:xfrm>
          <a:prstGeom prst="rect">
            <a:avLst/>
          </a:prstGeom>
          <a:noFill/>
          <a:ln/>
        </p:spPr>
        <p:txBody>
          <a:bodyPr wrap="square" lIns="0" tIns="0" rIns="0" bIns="0" rtlCol="0" anchor="t"/>
          <a:lstStyle/>
          <a:p>
            <a:pPr indent="0" marL="0">
              <a:buNone/>
            </a:pPr>
            <a:r>
              <a:rPr lang="en-US" sz="1300" b="1" dirty="0">
                <a:solidFill>
                  <a:schemeClr val="tx1"/>
                </a:solidFill>
              </a:rPr>
              <a:t>Compito</a:t>
            </a:r>
            <a:endParaRPr lang="en-US" sz="1300" dirty="0"/>
          </a:p>
        </p:txBody>
      </p:sp>
      <p:sp>
        <p:nvSpPr>
          <p:cNvPr id="16" name="Contesto e destinatario"/>
          <p:cNvSpPr/>
          <p:nvPr/>
        </p:nvSpPr>
        <p:spPr>
          <a:xfrm>
            <a:off x="6766560" y="1097280"/>
            <a:ext cx="1965960" cy="1207008"/>
          </a:xfrm>
          <a:prstGeom prst="roundRect">
            <a:avLst>
              <a:gd name="adj" fmla="val 6061"/>
            </a:avLst>
          </a:prstGeom>
          <a:solidFill>
            <a:schemeClr val="bg2"/>
          </a:solidFill>
          <a:ln/>
        </p:spPr>
      </p:sp>
      <p:sp>
        <p:nvSpPr>
          <p:cNvPr id="17" name="cerchio FiUsers"/>
          <p:cNvSpPr/>
          <p:nvPr/>
        </p:nvSpPr>
        <p:spPr>
          <a:xfrm>
            <a:off x="6931152" y="1261872"/>
            <a:ext cx="457200" cy="457200"/>
          </a:xfrm>
          <a:prstGeom prst="ellipse">
            <a:avLst/>
          </a:prstGeom>
          <a:solidFill>
            <a:schemeClr val="accent1"/>
          </a:solidFill>
          <a:ln/>
        </p:spPr>
      </p:sp>
      <p:pic>
        <p:nvPicPr>
          <p:cNvPr id="18" name="Image 3" descr="FiUsers">    </p:cNvPr>
          <p:cNvPicPr>
            <a:picLocks noChangeAspect="1"/>
          </p:cNvPicPr>
          <p:nvPr/>
        </p:nvPicPr>
        <p:blipFill>
          <a:blip r:embed="rId4"/>
          <a:stretch>
            <a:fillRect/>
          </a:stretch>
        </p:blipFill>
        <p:spPr>
          <a:xfrm>
            <a:off x="7045452" y="1376172"/>
            <a:ext cx="228600" cy="228600"/>
          </a:xfrm>
          <a:prstGeom prst="rect">
            <a:avLst/>
          </a:prstGeom>
        </p:spPr>
      </p:pic>
      <p:sp>
        <p:nvSpPr>
          <p:cNvPr id="19" name="Text 12"/>
          <p:cNvSpPr txBox="1"/>
          <p:nvPr/>
        </p:nvSpPr>
        <p:spPr>
          <a:xfrm>
            <a:off x="6931152" y="1783080"/>
            <a:ext cx="1691640" cy="457200"/>
          </a:xfrm>
          <a:prstGeom prst="rect">
            <a:avLst/>
          </a:prstGeom>
          <a:noFill/>
          <a:ln/>
        </p:spPr>
        <p:txBody>
          <a:bodyPr wrap="square" lIns="0" tIns="0" rIns="0" bIns="0" rtlCol="0" anchor="t"/>
          <a:lstStyle/>
          <a:p>
            <a:pPr indent="0" marL="0">
              <a:buNone/>
            </a:pPr>
            <a:r>
              <a:rPr lang="en-US" sz="1300" b="1" dirty="0">
                <a:solidFill>
                  <a:schemeClr val="tx1"/>
                </a:solidFill>
              </a:rPr>
              <a:t>Contesto e destinatario</a:t>
            </a:r>
            <a:endParaRPr lang="en-US" sz="1300" dirty="0"/>
          </a:p>
        </p:txBody>
      </p:sp>
      <p:sp>
        <p:nvSpPr>
          <p:cNvPr id="20" name="Vincoli e requisiti"/>
          <p:cNvSpPr/>
          <p:nvPr/>
        </p:nvSpPr>
        <p:spPr>
          <a:xfrm>
            <a:off x="457200" y="2468880"/>
            <a:ext cx="1965960" cy="1207008"/>
          </a:xfrm>
          <a:prstGeom prst="roundRect">
            <a:avLst>
              <a:gd name="adj" fmla="val 6061"/>
            </a:avLst>
          </a:prstGeom>
          <a:solidFill>
            <a:schemeClr val="bg2"/>
          </a:solidFill>
          <a:ln/>
        </p:spPr>
      </p:sp>
      <p:sp>
        <p:nvSpPr>
          <p:cNvPr id="21" name="cerchio FiSliders"/>
          <p:cNvSpPr/>
          <p:nvPr/>
        </p:nvSpPr>
        <p:spPr>
          <a:xfrm>
            <a:off x="621792" y="2633472"/>
            <a:ext cx="457200" cy="457200"/>
          </a:xfrm>
          <a:prstGeom prst="ellipse">
            <a:avLst/>
          </a:prstGeom>
          <a:solidFill>
            <a:schemeClr val="accent1"/>
          </a:solidFill>
          <a:ln/>
        </p:spPr>
      </p:sp>
      <p:pic>
        <p:nvPicPr>
          <p:cNvPr id="22" name="Image 4" descr="FiSliders">    </p:cNvPr>
          <p:cNvPicPr>
            <a:picLocks noChangeAspect="1"/>
          </p:cNvPicPr>
          <p:nvPr/>
        </p:nvPicPr>
        <p:blipFill>
          <a:blip r:embed="rId5"/>
          <a:stretch>
            <a:fillRect/>
          </a:stretch>
        </p:blipFill>
        <p:spPr>
          <a:xfrm>
            <a:off x="736092" y="2747772"/>
            <a:ext cx="228600" cy="228600"/>
          </a:xfrm>
          <a:prstGeom prst="rect">
            <a:avLst/>
          </a:prstGeom>
        </p:spPr>
      </p:pic>
      <p:sp>
        <p:nvSpPr>
          <p:cNvPr id="23" name="Text 15"/>
          <p:cNvSpPr txBox="1"/>
          <p:nvPr/>
        </p:nvSpPr>
        <p:spPr>
          <a:xfrm>
            <a:off x="621792" y="3154680"/>
            <a:ext cx="1691640" cy="457200"/>
          </a:xfrm>
          <a:prstGeom prst="rect">
            <a:avLst/>
          </a:prstGeom>
          <a:noFill/>
          <a:ln/>
        </p:spPr>
        <p:txBody>
          <a:bodyPr wrap="square" lIns="0" tIns="0" rIns="0" bIns="0" rtlCol="0" anchor="t"/>
          <a:lstStyle/>
          <a:p>
            <a:pPr indent="0" marL="0">
              <a:buNone/>
            </a:pPr>
            <a:r>
              <a:rPr lang="en-US" sz="1300" b="1" dirty="0">
                <a:solidFill>
                  <a:schemeClr val="tx1"/>
                </a:solidFill>
              </a:rPr>
              <a:t>Vincoli e requisiti</a:t>
            </a:r>
            <a:endParaRPr lang="en-US" sz="1300" dirty="0"/>
          </a:p>
        </p:txBody>
      </p:sp>
      <p:sp>
        <p:nvSpPr>
          <p:cNvPr id="24" name="Formato e dettaglio"/>
          <p:cNvSpPr/>
          <p:nvPr/>
        </p:nvSpPr>
        <p:spPr>
          <a:xfrm>
            <a:off x="2560320" y="2468880"/>
            <a:ext cx="1965960" cy="1207008"/>
          </a:xfrm>
          <a:prstGeom prst="roundRect">
            <a:avLst>
              <a:gd name="adj" fmla="val 6061"/>
            </a:avLst>
          </a:prstGeom>
          <a:solidFill>
            <a:schemeClr val="bg2"/>
          </a:solidFill>
          <a:ln/>
        </p:spPr>
      </p:sp>
      <p:sp>
        <p:nvSpPr>
          <p:cNvPr id="25" name="cerchio FiLayout"/>
          <p:cNvSpPr/>
          <p:nvPr/>
        </p:nvSpPr>
        <p:spPr>
          <a:xfrm>
            <a:off x="2724912" y="2633472"/>
            <a:ext cx="457200" cy="457200"/>
          </a:xfrm>
          <a:prstGeom prst="ellipse">
            <a:avLst/>
          </a:prstGeom>
          <a:solidFill>
            <a:schemeClr val="accent1"/>
          </a:solidFill>
          <a:ln/>
        </p:spPr>
      </p:sp>
      <p:pic>
        <p:nvPicPr>
          <p:cNvPr id="26" name="Image 5" descr="FiLayout">    </p:cNvPr>
          <p:cNvPicPr>
            <a:picLocks noChangeAspect="1"/>
          </p:cNvPicPr>
          <p:nvPr/>
        </p:nvPicPr>
        <p:blipFill>
          <a:blip r:embed="rId6"/>
          <a:stretch>
            <a:fillRect/>
          </a:stretch>
        </p:blipFill>
        <p:spPr>
          <a:xfrm>
            <a:off x="2839212" y="2747772"/>
            <a:ext cx="228600" cy="228600"/>
          </a:xfrm>
          <a:prstGeom prst="rect">
            <a:avLst/>
          </a:prstGeom>
        </p:spPr>
      </p:pic>
      <p:sp>
        <p:nvSpPr>
          <p:cNvPr id="27" name="Text 18"/>
          <p:cNvSpPr txBox="1"/>
          <p:nvPr/>
        </p:nvSpPr>
        <p:spPr>
          <a:xfrm>
            <a:off x="2724912" y="3154680"/>
            <a:ext cx="1691640" cy="457200"/>
          </a:xfrm>
          <a:prstGeom prst="rect">
            <a:avLst/>
          </a:prstGeom>
          <a:noFill/>
          <a:ln/>
        </p:spPr>
        <p:txBody>
          <a:bodyPr wrap="square" lIns="0" tIns="0" rIns="0" bIns="0" rtlCol="0" anchor="t"/>
          <a:lstStyle/>
          <a:p>
            <a:pPr indent="0" marL="0">
              <a:buNone/>
            </a:pPr>
            <a:r>
              <a:rPr lang="en-US" sz="1300" b="1" dirty="0">
                <a:solidFill>
                  <a:schemeClr val="tx1"/>
                </a:solidFill>
              </a:rPr>
              <a:t>Formato e dettaglio</a:t>
            </a:r>
            <a:endParaRPr lang="en-US" sz="1300" dirty="0"/>
          </a:p>
        </p:txBody>
      </p:sp>
      <p:sp>
        <p:nvSpPr>
          <p:cNvPr id="28" name="Criteri di successo"/>
          <p:cNvSpPr/>
          <p:nvPr/>
        </p:nvSpPr>
        <p:spPr>
          <a:xfrm>
            <a:off x="4663440" y="2468880"/>
            <a:ext cx="1965960" cy="1207008"/>
          </a:xfrm>
          <a:prstGeom prst="roundRect">
            <a:avLst>
              <a:gd name="adj" fmla="val 6061"/>
            </a:avLst>
          </a:prstGeom>
          <a:solidFill>
            <a:schemeClr val="bg2"/>
          </a:solidFill>
          <a:ln/>
        </p:spPr>
      </p:sp>
      <p:sp>
        <p:nvSpPr>
          <p:cNvPr id="29" name="cerchio FiCheckSquare"/>
          <p:cNvSpPr/>
          <p:nvPr/>
        </p:nvSpPr>
        <p:spPr>
          <a:xfrm>
            <a:off x="4828032" y="2633472"/>
            <a:ext cx="457200" cy="457200"/>
          </a:xfrm>
          <a:prstGeom prst="ellipse">
            <a:avLst/>
          </a:prstGeom>
          <a:solidFill>
            <a:schemeClr val="accent1"/>
          </a:solidFill>
          <a:ln/>
        </p:spPr>
      </p:sp>
      <p:pic>
        <p:nvPicPr>
          <p:cNvPr id="30" name="Image 6" descr="FiCheckSquare">    </p:cNvPr>
          <p:cNvPicPr>
            <a:picLocks noChangeAspect="1"/>
          </p:cNvPicPr>
          <p:nvPr/>
        </p:nvPicPr>
        <p:blipFill>
          <a:blip r:embed="rId7"/>
          <a:stretch>
            <a:fillRect/>
          </a:stretch>
        </p:blipFill>
        <p:spPr>
          <a:xfrm>
            <a:off x="4942332" y="2747772"/>
            <a:ext cx="228600" cy="228600"/>
          </a:xfrm>
          <a:prstGeom prst="rect">
            <a:avLst/>
          </a:prstGeom>
        </p:spPr>
      </p:pic>
      <p:sp>
        <p:nvSpPr>
          <p:cNvPr id="31" name="Text 21"/>
          <p:cNvSpPr txBox="1"/>
          <p:nvPr/>
        </p:nvSpPr>
        <p:spPr>
          <a:xfrm>
            <a:off x="4828032" y="3154680"/>
            <a:ext cx="1691640" cy="457200"/>
          </a:xfrm>
          <a:prstGeom prst="rect">
            <a:avLst/>
          </a:prstGeom>
          <a:noFill/>
          <a:ln/>
        </p:spPr>
        <p:txBody>
          <a:bodyPr wrap="square" lIns="0" tIns="0" rIns="0" bIns="0" rtlCol="0" anchor="t"/>
          <a:lstStyle/>
          <a:p>
            <a:pPr indent="0" marL="0">
              <a:buNone/>
            </a:pPr>
            <a:r>
              <a:rPr lang="en-US" sz="1300" b="1" dirty="0">
                <a:solidFill>
                  <a:schemeClr val="tx1"/>
                </a:solidFill>
              </a:rPr>
              <a:t>Criteri di successo</a:t>
            </a:r>
            <a:endParaRPr lang="en-US" sz="1300" dirty="0"/>
          </a:p>
        </p:txBody>
      </p:sp>
      <p:sp>
        <p:nvSpPr>
          <p:cNvPr id="32" name="Ruolo e prospettiva"/>
          <p:cNvSpPr/>
          <p:nvPr/>
        </p:nvSpPr>
        <p:spPr>
          <a:xfrm>
            <a:off x="6766560" y="2468880"/>
            <a:ext cx="1965960" cy="1207008"/>
          </a:xfrm>
          <a:prstGeom prst="roundRect">
            <a:avLst>
              <a:gd name="adj" fmla="val 6061"/>
            </a:avLst>
          </a:prstGeom>
          <a:solidFill>
            <a:schemeClr val="bg2"/>
          </a:solidFill>
          <a:ln/>
        </p:spPr>
      </p:sp>
      <p:sp>
        <p:nvSpPr>
          <p:cNvPr id="33" name="cerchio FiUser"/>
          <p:cNvSpPr/>
          <p:nvPr/>
        </p:nvSpPr>
        <p:spPr>
          <a:xfrm>
            <a:off x="6931152" y="2633472"/>
            <a:ext cx="457200" cy="457200"/>
          </a:xfrm>
          <a:prstGeom prst="ellipse">
            <a:avLst/>
          </a:prstGeom>
          <a:solidFill>
            <a:schemeClr val="accent1"/>
          </a:solidFill>
          <a:ln/>
        </p:spPr>
      </p:sp>
      <p:pic>
        <p:nvPicPr>
          <p:cNvPr id="34" name="Image 7" descr="FiUser">    </p:cNvPr>
          <p:cNvPicPr>
            <a:picLocks noChangeAspect="1"/>
          </p:cNvPicPr>
          <p:nvPr/>
        </p:nvPicPr>
        <p:blipFill>
          <a:blip r:embed="rId8"/>
          <a:stretch>
            <a:fillRect/>
          </a:stretch>
        </p:blipFill>
        <p:spPr>
          <a:xfrm>
            <a:off x="7045452" y="2747772"/>
            <a:ext cx="228600" cy="228600"/>
          </a:xfrm>
          <a:prstGeom prst="rect">
            <a:avLst/>
          </a:prstGeom>
        </p:spPr>
      </p:pic>
      <p:sp>
        <p:nvSpPr>
          <p:cNvPr id="35" name="Text 24"/>
          <p:cNvSpPr txBox="1"/>
          <p:nvPr/>
        </p:nvSpPr>
        <p:spPr>
          <a:xfrm>
            <a:off x="6931152" y="3154680"/>
            <a:ext cx="1691640" cy="457200"/>
          </a:xfrm>
          <a:prstGeom prst="rect">
            <a:avLst/>
          </a:prstGeom>
          <a:noFill/>
          <a:ln/>
        </p:spPr>
        <p:txBody>
          <a:bodyPr wrap="square" lIns="0" tIns="0" rIns="0" bIns="0" rtlCol="0" anchor="t"/>
          <a:lstStyle/>
          <a:p>
            <a:pPr indent="0" marL="0">
              <a:buNone/>
            </a:pPr>
            <a:r>
              <a:rPr lang="en-US" sz="1300" b="1" dirty="0">
                <a:solidFill>
                  <a:schemeClr val="tx1"/>
                </a:solidFill>
              </a:rPr>
              <a:t>Ruolo e prospettiva</a:t>
            </a:r>
            <a:endParaRPr lang="en-US" sz="1300" dirty="0"/>
          </a:p>
        </p:txBody>
      </p:sp>
      <p:sp>
        <p:nvSpPr>
          <p:cNvPr id="36" name="messaggio"/>
          <p:cNvSpPr/>
          <p:nvPr/>
        </p:nvSpPr>
        <p:spPr>
          <a:xfrm>
            <a:off x="457200" y="3931920"/>
            <a:ext cx="8229600" cy="594360"/>
          </a:xfrm>
          <a:prstGeom prst="roundRect">
            <a:avLst>
              <a:gd name="adj" fmla="val 12308"/>
            </a:avLst>
          </a:prstGeom>
          <a:solidFill>
            <a:schemeClr val="tx1"/>
          </a:solidFill>
          <a:ln/>
        </p:spPr>
      </p:sp>
      <p:sp>
        <p:nvSpPr>
          <p:cNvPr id="37" name="Text 26"/>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300" dirty="0">
                <a:solidFill>
                  <a:schemeClr val="bg1"/>
                </a:solidFill>
              </a:rPr>
              <a:t>Una lista di controllo, non un modulo da compilare ogni volta: si esplicita ciò che è rilevante.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Anatomia di una richiesta</a:t>
            </a:r>
            <a:endParaRPr lang="en-US" sz="2600" dirty="0"/>
          </a:p>
        </p:txBody>
      </p:sp>
      <p:sp>
        <p:nvSpPr>
          <p:cNvPr id="4" name="Compito"/>
          <p:cNvSpPr/>
          <p:nvPr/>
        </p:nvSpPr>
        <p:spPr>
          <a:xfrm>
            <a:off x="457200" y="1051560"/>
            <a:ext cx="1554480" cy="475488"/>
          </a:xfrm>
          <a:prstGeom prst="roundRect">
            <a:avLst>
              <a:gd name="adj" fmla="val 15385"/>
            </a:avLst>
          </a:prstGeom>
          <a:solidFill>
            <a:schemeClr val="accent1"/>
          </a:solidFill>
          <a:ln/>
        </p:spPr>
      </p:sp>
      <p:sp>
        <p:nvSpPr>
          <p:cNvPr id="5" name="Text 2"/>
          <p:cNvSpPr txBox="1"/>
          <p:nvPr/>
        </p:nvSpPr>
        <p:spPr>
          <a:xfrm>
            <a:off x="502920" y="1051560"/>
            <a:ext cx="1463040" cy="475488"/>
          </a:xfrm>
          <a:prstGeom prst="rect">
            <a:avLst/>
          </a:prstGeom>
          <a:noFill/>
          <a:ln/>
        </p:spPr>
        <p:txBody>
          <a:bodyPr wrap="square" lIns="0" tIns="0" rIns="0" bIns="0" rtlCol="0" anchor="ctr"/>
          <a:lstStyle/>
          <a:p>
            <a:pPr algn="ctr" indent="0" marL="0">
              <a:buNone/>
            </a:pPr>
            <a:r>
              <a:rPr lang="en-US" sz="1200" b="1" dirty="0">
                <a:solidFill>
                  <a:schemeClr val="bg1"/>
                </a:solidFill>
              </a:rPr>
              <a:t>Compito</a:t>
            </a:r>
            <a:endParaRPr lang="en-US" sz="1200" dirty="0"/>
          </a:p>
        </p:txBody>
      </p:sp>
      <p:sp>
        <p:nvSpPr>
          <p:cNvPr id="6" name="testo Compito"/>
          <p:cNvSpPr/>
          <p:nvPr/>
        </p:nvSpPr>
        <p:spPr>
          <a:xfrm>
            <a:off x="2103120" y="1051560"/>
            <a:ext cx="6583680" cy="475488"/>
          </a:xfrm>
          <a:prstGeom prst="roundRect">
            <a:avLst>
              <a:gd name="adj" fmla="val 15385"/>
            </a:avLst>
          </a:prstGeom>
          <a:solidFill>
            <a:schemeClr val="bg2"/>
          </a:solidFill>
          <a:ln/>
        </p:spPr>
      </p:sp>
      <p:sp>
        <p:nvSpPr>
          <p:cNvPr id="7" name="Text 4"/>
          <p:cNvSpPr txBox="1"/>
          <p:nvPr/>
        </p:nvSpPr>
        <p:spPr>
          <a:xfrm>
            <a:off x="2240280" y="1051560"/>
            <a:ext cx="6355080" cy="4754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Prepara una sintesi del report trimestrale sui reclami allegato.</a:t>
            </a:r>
            <a:endParaRPr lang="en-US" sz="1200" dirty="0"/>
          </a:p>
        </p:txBody>
      </p:sp>
      <p:sp>
        <p:nvSpPr>
          <p:cNvPr id="8" name="Scopo"/>
          <p:cNvSpPr/>
          <p:nvPr/>
        </p:nvSpPr>
        <p:spPr>
          <a:xfrm>
            <a:off x="457200" y="1600200"/>
            <a:ext cx="1554480" cy="475488"/>
          </a:xfrm>
          <a:prstGeom prst="roundRect">
            <a:avLst>
              <a:gd name="adj" fmla="val 15385"/>
            </a:avLst>
          </a:prstGeom>
          <a:solidFill>
            <a:schemeClr val="accent6"/>
          </a:solidFill>
          <a:ln/>
        </p:spPr>
      </p:sp>
      <p:sp>
        <p:nvSpPr>
          <p:cNvPr id="9" name="Text 6"/>
          <p:cNvSpPr txBox="1"/>
          <p:nvPr/>
        </p:nvSpPr>
        <p:spPr>
          <a:xfrm>
            <a:off x="502920" y="1600200"/>
            <a:ext cx="1463040" cy="475488"/>
          </a:xfrm>
          <a:prstGeom prst="rect">
            <a:avLst/>
          </a:prstGeom>
          <a:noFill/>
          <a:ln/>
        </p:spPr>
        <p:txBody>
          <a:bodyPr wrap="square" lIns="0" tIns="0" rIns="0" bIns="0" rtlCol="0" anchor="ctr"/>
          <a:lstStyle/>
          <a:p>
            <a:pPr algn="ctr" indent="0" marL="0">
              <a:buNone/>
            </a:pPr>
            <a:r>
              <a:rPr lang="en-US" sz="1200" b="1" dirty="0">
                <a:solidFill>
                  <a:schemeClr val="tx1"/>
                </a:solidFill>
              </a:rPr>
              <a:t>Scopo</a:t>
            </a:r>
            <a:endParaRPr lang="en-US" sz="1200" dirty="0"/>
          </a:p>
        </p:txBody>
      </p:sp>
      <p:sp>
        <p:nvSpPr>
          <p:cNvPr id="10" name="testo Scopo"/>
          <p:cNvSpPr/>
          <p:nvPr/>
        </p:nvSpPr>
        <p:spPr>
          <a:xfrm>
            <a:off x="2103120" y="1600200"/>
            <a:ext cx="6583680" cy="475488"/>
          </a:xfrm>
          <a:prstGeom prst="roundRect">
            <a:avLst>
              <a:gd name="adj" fmla="val 15385"/>
            </a:avLst>
          </a:prstGeom>
          <a:solidFill>
            <a:schemeClr val="bg2"/>
          </a:solidFill>
          <a:ln/>
        </p:spPr>
      </p:sp>
      <p:sp>
        <p:nvSpPr>
          <p:cNvPr id="11" name="Text 8"/>
          <p:cNvSpPr txBox="1"/>
          <p:nvPr/>
        </p:nvSpPr>
        <p:spPr>
          <a:xfrm>
            <a:off x="2240280" y="1600200"/>
            <a:ext cx="6355080" cy="4754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Servirà alla riunione di direzione per decidere su quali problemi intervenire per primi.</a:t>
            </a:r>
            <a:endParaRPr lang="en-US" sz="1200" dirty="0"/>
          </a:p>
        </p:txBody>
      </p:sp>
      <p:sp>
        <p:nvSpPr>
          <p:cNvPr id="12" name="Destinatario"/>
          <p:cNvSpPr/>
          <p:nvPr/>
        </p:nvSpPr>
        <p:spPr>
          <a:xfrm>
            <a:off x="457200" y="2148840"/>
            <a:ext cx="1554480" cy="475488"/>
          </a:xfrm>
          <a:prstGeom prst="roundRect">
            <a:avLst>
              <a:gd name="adj" fmla="val 15385"/>
            </a:avLst>
          </a:prstGeom>
          <a:solidFill>
            <a:schemeClr val="accent1"/>
          </a:solidFill>
          <a:ln/>
        </p:spPr>
      </p:sp>
      <p:sp>
        <p:nvSpPr>
          <p:cNvPr id="13" name="Text 10"/>
          <p:cNvSpPr txBox="1"/>
          <p:nvPr/>
        </p:nvSpPr>
        <p:spPr>
          <a:xfrm>
            <a:off x="502920" y="2148840"/>
            <a:ext cx="1463040" cy="475488"/>
          </a:xfrm>
          <a:prstGeom prst="rect">
            <a:avLst/>
          </a:prstGeom>
          <a:noFill/>
          <a:ln/>
        </p:spPr>
        <p:txBody>
          <a:bodyPr wrap="square" lIns="0" tIns="0" rIns="0" bIns="0" rtlCol="0" anchor="ctr"/>
          <a:lstStyle/>
          <a:p>
            <a:pPr algn="ctr" indent="0" marL="0">
              <a:buNone/>
            </a:pPr>
            <a:r>
              <a:rPr lang="en-US" sz="1200" b="1" dirty="0">
                <a:solidFill>
                  <a:schemeClr val="bg1"/>
                </a:solidFill>
              </a:rPr>
              <a:t>Destinatario</a:t>
            </a:r>
            <a:endParaRPr lang="en-US" sz="1200" dirty="0"/>
          </a:p>
        </p:txBody>
      </p:sp>
      <p:sp>
        <p:nvSpPr>
          <p:cNvPr id="14" name="testo Destinatario"/>
          <p:cNvSpPr/>
          <p:nvPr/>
        </p:nvSpPr>
        <p:spPr>
          <a:xfrm>
            <a:off x="2103120" y="2148840"/>
            <a:ext cx="6583680" cy="475488"/>
          </a:xfrm>
          <a:prstGeom prst="roundRect">
            <a:avLst>
              <a:gd name="adj" fmla="val 15385"/>
            </a:avLst>
          </a:prstGeom>
          <a:solidFill>
            <a:schemeClr val="bg2"/>
          </a:solidFill>
          <a:ln/>
        </p:spPr>
      </p:sp>
      <p:sp>
        <p:nvSpPr>
          <p:cNvPr id="15" name="Text 12"/>
          <p:cNvSpPr txBox="1"/>
          <p:nvPr/>
        </p:nvSpPr>
        <p:spPr>
          <a:xfrm>
            <a:off x="2240280" y="2148840"/>
            <a:ext cx="6355080" cy="4754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Dirigenti che non conoscono i dettagli operativi.</a:t>
            </a:r>
            <a:endParaRPr lang="en-US" sz="1200" dirty="0"/>
          </a:p>
        </p:txBody>
      </p:sp>
      <p:sp>
        <p:nvSpPr>
          <p:cNvPr id="16" name="Vincoli"/>
          <p:cNvSpPr/>
          <p:nvPr/>
        </p:nvSpPr>
        <p:spPr>
          <a:xfrm>
            <a:off x="457200" y="2697480"/>
            <a:ext cx="1554480" cy="475488"/>
          </a:xfrm>
          <a:prstGeom prst="roundRect">
            <a:avLst>
              <a:gd name="adj" fmla="val 15385"/>
            </a:avLst>
          </a:prstGeom>
          <a:solidFill>
            <a:schemeClr val="accent6"/>
          </a:solidFill>
          <a:ln/>
        </p:spPr>
      </p:sp>
      <p:sp>
        <p:nvSpPr>
          <p:cNvPr id="17" name="Text 14"/>
          <p:cNvSpPr txBox="1"/>
          <p:nvPr/>
        </p:nvSpPr>
        <p:spPr>
          <a:xfrm>
            <a:off x="502920" y="2697480"/>
            <a:ext cx="1463040" cy="475488"/>
          </a:xfrm>
          <a:prstGeom prst="rect">
            <a:avLst/>
          </a:prstGeom>
          <a:noFill/>
          <a:ln/>
        </p:spPr>
        <p:txBody>
          <a:bodyPr wrap="square" lIns="0" tIns="0" rIns="0" bIns="0" rtlCol="0" anchor="ctr"/>
          <a:lstStyle/>
          <a:p>
            <a:pPr algn="ctr" indent="0" marL="0">
              <a:buNone/>
            </a:pPr>
            <a:r>
              <a:rPr lang="en-US" sz="1200" b="1" dirty="0">
                <a:solidFill>
                  <a:schemeClr val="tx1"/>
                </a:solidFill>
              </a:rPr>
              <a:t>Vincoli</a:t>
            </a:r>
            <a:endParaRPr lang="en-US" sz="1200" dirty="0"/>
          </a:p>
        </p:txBody>
      </p:sp>
      <p:sp>
        <p:nvSpPr>
          <p:cNvPr id="18" name="testo Vincoli"/>
          <p:cNvSpPr/>
          <p:nvPr/>
        </p:nvSpPr>
        <p:spPr>
          <a:xfrm>
            <a:off x="2103120" y="2697480"/>
            <a:ext cx="6583680" cy="475488"/>
          </a:xfrm>
          <a:prstGeom prst="roundRect">
            <a:avLst>
              <a:gd name="adj" fmla="val 15385"/>
            </a:avLst>
          </a:prstGeom>
          <a:solidFill>
            <a:schemeClr val="bg2"/>
          </a:solidFill>
          <a:ln/>
        </p:spPr>
      </p:sp>
      <p:sp>
        <p:nvSpPr>
          <p:cNvPr id="19" name="Text 16"/>
          <p:cNvSpPr txBox="1"/>
          <p:nvPr/>
        </p:nvSpPr>
        <p:spPr>
          <a:xfrm>
            <a:off x="2240280" y="2697480"/>
            <a:ext cx="6355080" cy="4754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Massimo una pagina. Usa solo informazioni presenti nel report.</a:t>
            </a:r>
            <a:endParaRPr lang="en-US" sz="1200" dirty="0"/>
          </a:p>
        </p:txBody>
      </p:sp>
      <p:sp>
        <p:nvSpPr>
          <p:cNvPr id="20" name="Formato"/>
          <p:cNvSpPr/>
          <p:nvPr/>
        </p:nvSpPr>
        <p:spPr>
          <a:xfrm>
            <a:off x="457200" y="3246120"/>
            <a:ext cx="1554480" cy="475488"/>
          </a:xfrm>
          <a:prstGeom prst="roundRect">
            <a:avLst>
              <a:gd name="adj" fmla="val 15385"/>
            </a:avLst>
          </a:prstGeom>
          <a:solidFill>
            <a:schemeClr val="accent1"/>
          </a:solidFill>
          <a:ln/>
        </p:spPr>
      </p:sp>
      <p:sp>
        <p:nvSpPr>
          <p:cNvPr id="21" name="Text 18"/>
          <p:cNvSpPr txBox="1"/>
          <p:nvPr/>
        </p:nvSpPr>
        <p:spPr>
          <a:xfrm>
            <a:off x="502920" y="3246120"/>
            <a:ext cx="1463040" cy="475488"/>
          </a:xfrm>
          <a:prstGeom prst="rect">
            <a:avLst/>
          </a:prstGeom>
          <a:noFill/>
          <a:ln/>
        </p:spPr>
        <p:txBody>
          <a:bodyPr wrap="square" lIns="0" tIns="0" rIns="0" bIns="0" rtlCol="0" anchor="ctr"/>
          <a:lstStyle/>
          <a:p>
            <a:pPr algn="ctr" indent="0" marL="0">
              <a:buNone/>
            </a:pPr>
            <a:r>
              <a:rPr lang="en-US" sz="1200" b="1" dirty="0">
                <a:solidFill>
                  <a:schemeClr val="bg1"/>
                </a:solidFill>
              </a:rPr>
              <a:t>Formato</a:t>
            </a:r>
            <a:endParaRPr lang="en-US" sz="1200" dirty="0"/>
          </a:p>
        </p:txBody>
      </p:sp>
      <p:sp>
        <p:nvSpPr>
          <p:cNvPr id="22" name="testo Formato"/>
          <p:cNvSpPr/>
          <p:nvPr/>
        </p:nvSpPr>
        <p:spPr>
          <a:xfrm>
            <a:off x="2103120" y="3246120"/>
            <a:ext cx="6583680" cy="475488"/>
          </a:xfrm>
          <a:prstGeom prst="roundRect">
            <a:avLst>
              <a:gd name="adj" fmla="val 15385"/>
            </a:avLst>
          </a:prstGeom>
          <a:solidFill>
            <a:schemeClr val="bg2"/>
          </a:solidFill>
          <a:ln/>
        </p:spPr>
      </p:sp>
      <p:sp>
        <p:nvSpPr>
          <p:cNvPr id="23" name="Text 20"/>
          <p:cNvSpPr txBox="1"/>
          <p:nvPr/>
        </p:nvSpPr>
        <p:spPr>
          <a:xfrm>
            <a:off x="2240280" y="3246120"/>
            <a:ext cx="6355080" cy="4754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I tre problemi principali, ciascuno con dimensione, tendenza e possibile causa; poi una raccomandazione.</a:t>
            </a:r>
            <a:endParaRPr lang="en-US" sz="1200" dirty="0"/>
          </a:p>
        </p:txBody>
      </p:sp>
      <p:sp>
        <p:nvSpPr>
          <p:cNvPr id="24" name="Criterio"/>
          <p:cNvSpPr/>
          <p:nvPr/>
        </p:nvSpPr>
        <p:spPr>
          <a:xfrm>
            <a:off x="457200" y="3794760"/>
            <a:ext cx="1554480" cy="475488"/>
          </a:xfrm>
          <a:prstGeom prst="roundRect">
            <a:avLst>
              <a:gd name="adj" fmla="val 15385"/>
            </a:avLst>
          </a:prstGeom>
          <a:solidFill>
            <a:schemeClr val="accent6"/>
          </a:solidFill>
          <a:ln/>
        </p:spPr>
      </p:sp>
      <p:sp>
        <p:nvSpPr>
          <p:cNvPr id="25" name="Text 22"/>
          <p:cNvSpPr txBox="1"/>
          <p:nvPr/>
        </p:nvSpPr>
        <p:spPr>
          <a:xfrm>
            <a:off x="502920" y="3794760"/>
            <a:ext cx="1463040" cy="475488"/>
          </a:xfrm>
          <a:prstGeom prst="rect">
            <a:avLst/>
          </a:prstGeom>
          <a:noFill/>
          <a:ln/>
        </p:spPr>
        <p:txBody>
          <a:bodyPr wrap="square" lIns="0" tIns="0" rIns="0" bIns="0" rtlCol="0" anchor="ctr"/>
          <a:lstStyle/>
          <a:p>
            <a:pPr algn="ctr" indent="0" marL="0">
              <a:buNone/>
            </a:pPr>
            <a:r>
              <a:rPr lang="en-US" sz="1200" b="1" dirty="0">
                <a:solidFill>
                  <a:schemeClr val="tx1"/>
                </a:solidFill>
              </a:rPr>
              <a:t>Criterio</a:t>
            </a:r>
            <a:endParaRPr lang="en-US" sz="1200" dirty="0"/>
          </a:p>
        </p:txBody>
      </p:sp>
      <p:sp>
        <p:nvSpPr>
          <p:cNvPr id="26" name="testo Criterio"/>
          <p:cNvSpPr/>
          <p:nvPr/>
        </p:nvSpPr>
        <p:spPr>
          <a:xfrm>
            <a:off x="2103120" y="3794760"/>
            <a:ext cx="6583680" cy="475488"/>
          </a:xfrm>
          <a:prstGeom prst="roundRect">
            <a:avLst>
              <a:gd name="adj" fmla="val 15385"/>
            </a:avLst>
          </a:prstGeom>
          <a:solidFill>
            <a:schemeClr val="bg2"/>
          </a:solidFill>
          <a:ln/>
        </p:spPr>
      </p:sp>
      <p:sp>
        <p:nvSpPr>
          <p:cNvPr id="27" name="Text 24"/>
          <p:cNvSpPr txBox="1"/>
          <p:nvPr/>
        </p:nvSpPr>
        <p:spPr>
          <a:xfrm>
            <a:off x="2240280" y="3794760"/>
            <a:ext cx="6355080" cy="47548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Un dirigente deve capire le priorità in due minuti.</a:t>
            </a:r>
            <a:endParaRPr lang="en-US" sz="1200" dirty="0"/>
          </a:p>
        </p:txBody>
      </p:sp>
      <p:sp>
        <p:nvSpPr>
          <p:cNvPr id="28" name="Text 25"/>
          <p:cNvSpPr txBox="1"/>
          <p:nvPr/>
        </p:nvSpPr>
        <p:spPr>
          <a:xfrm>
            <a:off x="457200" y="4389120"/>
            <a:ext cx="8229600" cy="320040"/>
          </a:xfrm>
          <a:prstGeom prst="rect">
            <a:avLst/>
          </a:prstGeom>
          <a:noFill/>
          <a:ln/>
        </p:spPr>
        <p:txBody>
          <a:bodyPr wrap="square" lIns="0" tIns="0" rIns="0" bIns="0" rtlCol="0" anchor="t"/>
          <a:lstStyle/>
          <a:p>
            <a:pPr indent="0" marL="0">
              <a:buNone/>
            </a:pPr>
            <a:r>
              <a:rPr lang="en-US" sz="1100" i="1" dirty="0">
                <a:solidFill>
                  <a:schemeClr val="tx2"/>
                </a:solidFill>
              </a:rPr>
              <a:t>Ogni elemento cambia il risultato: senza destinatario troppo tecnico, senza scopo solo descrittivo, senza vincolo sulle fonti generico.</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Zero-shot e few-shot</a:t>
            </a:r>
            <a:endParaRPr lang="en-US" sz="2600" dirty="0"/>
          </a:p>
        </p:txBody>
      </p:sp>
      <p:sp>
        <p:nvSpPr>
          <p:cNvPr id="4" name="prompt"/>
          <p:cNvSpPr/>
          <p:nvPr/>
        </p:nvSpPr>
        <p:spPr>
          <a:xfrm>
            <a:off x="457200" y="1097280"/>
            <a:ext cx="3291840" cy="1463040"/>
          </a:xfrm>
          <a:prstGeom prst="roundRect">
            <a:avLst>
              <a:gd name="adj" fmla="val 5000"/>
            </a:avLst>
          </a:prstGeom>
          <a:solidFill>
            <a:schemeClr val="bg2"/>
          </a:solidFill>
          <a:ln/>
        </p:spPr>
      </p:sp>
      <p:sp>
        <p:nvSpPr>
          <p:cNvPr id="5" name="Text 2"/>
          <p:cNvSpPr txBox="1"/>
          <p:nvPr/>
        </p:nvSpPr>
        <p:spPr>
          <a:xfrm>
            <a:off x="621792" y="1188720"/>
            <a:ext cx="2962656" cy="256032"/>
          </a:xfrm>
          <a:prstGeom prst="rect">
            <a:avLst/>
          </a:prstGeom>
          <a:noFill/>
          <a:ln/>
        </p:spPr>
        <p:txBody>
          <a:bodyPr wrap="square" lIns="0" tIns="0" rIns="0" bIns="0" rtlCol="0" anchor="t"/>
          <a:lstStyle/>
          <a:p>
            <a:pPr indent="0" marL="0">
              <a:buNone/>
            </a:pPr>
            <a:r>
              <a:rPr lang="en-US" sz="1100" b="1" dirty="0">
                <a:solidFill>
                  <a:schemeClr val="accent1"/>
                </a:solidFill>
              </a:rPr>
              <a:t>Zero-shot: senza esempi</a:t>
            </a:r>
            <a:endParaRPr lang="en-US" sz="1100" dirty="0"/>
          </a:p>
        </p:txBody>
      </p:sp>
      <p:sp>
        <p:nvSpPr>
          <p:cNvPr id="6" name="Text 3"/>
          <p:cNvSpPr txBox="1"/>
          <p:nvPr/>
        </p:nvSpPr>
        <p:spPr>
          <a:xfrm>
            <a:off x="621792" y="1463040"/>
            <a:ext cx="2962656" cy="100584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Classifica questa richiesta del cliente come: Informazione, Reclamo o Ordine.</a:t>
            </a:r>
            <a:endParaRPr lang="en-US" sz="1100" dirty="0"/>
          </a:p>
        </p:txBody>
      </p:sp>
      <p:sp>
        <p:nvSpPr>
          <p:cNvPr id="7" name="prompt"/>
          <p:cNvSpPr/>
          <p:nvPr/>
        </p:nvSpPr>
        <p:spPr>
          <a:xfrm>
            <a:off x="3931920" y="1097280"/>
            <a:ext cx="4754880" cy="2514600"/>
          </a:xfrm>
          <a:prstGeom prst="roundRect">
            <a:avLst>
              <a:gd name="adj" fmla="val 2909"/>
            </a:avLst>
          </a:prstGeom>
          <a:solidFill>
            <a:schemeClr val="accent6"/>
          </a:solidFill>
          <a:ln/>
        </p:spPr>
      </p:sp>
      <p:sp>
        <p:nvSpPr>
          <p:cNvPr id="8" name="Text 5"/>
          <p:cNvSpPr txBox="1"/>
          <p:nvPr/>
        </p:nvSpPr>
        <p:spPr>
          <a:xfrm>
            <a:off x="4096512" y="1188720"/>
            <a:ext cx="4425696" cy="256032"/>
          </a:xfrm>
          <a:prstGeom prst="rect">
            <a:avLst/>
          </a:prstGeom>
          <a:noFill/>
          <a:ln/>
        </p:spPr>
        <p:txBody>
          <a:bodyPr wrap="square" lIns="0" tIns="0" rIns="0" bIns="0" rtlCol="0" anchor="t"/>
          <a:lstStyle/>
          <a:p>
            <a:pPr indent="0" marL="0">
              <a:buNone/>
            </a:pPr>
            <a:r>
              <a:rPr lang="en-US" sz="1100" b="1" dirty="0">
                <a:solidFill>
                  <a:schemeClr val="accent1"/>
                </a:solidFill>
              </a:rPr>
              <a:t>Few-shot: con esempi</a:t>
            </a:r>
            <a:endParaRPr lang="en-US" sz="1100" dirty="0"/>
          </a:p>
        </p:txBody>
      </p:sp>
      <p:sp>
        <p:nvSpPr>
          <p:cNvPr id="9" name="Text 6"/>
          <p:cNvSpPr txBox="1"/>
          <p:nvPr/>
        </p:nvSpPr>
        <p:spPr>
          <a:xfrm>
            <a:off x="4096512" y="1463040"/>
            <a:ext cx="4425696" cy="205740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Classifica le richieste come negli esempi.</a:t>
            </a:r>
            <a:endParaRPr lang="en-US" sz="1100" dirty="0"/>
          </a:p>
          <a:p>
            <a:pPr indent="0" marL="0">
              <a:buNone/>
            </a:pP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Richiesta: "Quando arriva il mio pacco?"</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Categoria: Informazione</a:t>
            </a:r>
            <a:endParaRPr lang="en-US" sz="1100" dirty="0"/>
          </a:p>
          <a:p>
            <a:pPr indent="0" marL="0">
              <a:buNone/>
            </a:pP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Richiesta: "Il prodotto è arrivato rotto."</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Categoria: Reclamo</a:t>
            </a:r>
            <a:endParaRPr lang="en-US" sz="1100" dirty="0"/>
          </a:p>
          <a:p>
            <a:pPr indent="0" marL="0">
              <a:buNone/>
            </a:pP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Richiesta: "[nuova richiesta]"</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Categoria:</a:t>
            </a:r>
            <a:endParaRPr lang="en-US" sz="1100" dirty="0"/>
          </a:p>
        </p:txBody>
      </p:sp>
      <p:sp>
        <p:nvSpPr>
          <p:cNvPr id="10" name="Text 7"/>
          <p:cNvSpPr txBox="1"/>
          <p:nvPr/>
        </p:nvSpPr>
        <p:spPr>
          <a:xfrm>
            <a:off x="457200" y="2743200"/>
            <a:ext cx="3291840" cy="822960"/>
          </a:xfrm>
          <a:prstGeom prst="rect">
            <a:avLst/>
          </a:prstGeom>
          <a:noFill/>
          <a:ln/>
        </p:spPr>
        <p:txBody>
          <a:bodyPr wrap="square" lIns="0" tIns="0" rIns="0" bIns="0" rtlCol="0" anchor="t"/>
          <a:lstStyle/>
          <a:p>
            <a:pPr indent="0" marL="0">
              <a:buNone/>
            </a:pPr>
            <a:r>
              <a:rPr lang="en-US" sz="1200" i="1" dirty="0">
                <a:solidFill>
                  <a:schemeClr val="tx2"/>
                </a:solidFill>
              </a:rPr>
              <a:t>Gli esempi comunicano ciò che è difficile descrivere: stile, formato, criteri.</a:t>
            </a:r>
            <a:endParaRPr lang="en-US" sz="1200" dirty="0"/>
          </a:p>
        </p:txBody>
      </p:sp>
      <p:sp>
        <p:nvSpPr>
          <p:cNvPr id="11" name="messaggio"/>
          <p:cNvSpPr/>
          <p:nvPr/>
        </p:nvSpPr>
        <p:spPr>
          <a:xfrm>
            <a:off x="457200" y="3794760"/>
            <a:ext cx="8229600" cy="685800"/>
          </a:xfrm>
          <a:prstGeom prst="roundRect">
            <a:avLst>
              <a:gd name="adj" fmla="val 10667"/>
            </a:avLst>
          </a:prstGeom>
          <a:solidFill>
            <a:schemeClr val="tx1"/>
          </a:solidFill>
          <a:ln/>
        </p:spPr>
      </p:sp>
      <p:sp>
        <p:nvSpPr>
          <p:cNvPr id="12" name="Text 9"/>
          <p:cNvSpPr txBox="1"/>
          <p:nvPr/>
        </p:nvSpPr>
        <p:spPr>
          <a:xfrm>
            <a:off x="640080" y="3794760"/>
            <a:ext cx="7863840" cy="685800"/>
          </a:xfrm>
          <a:prstGeom prst="rect">
            <a:avLst/>
          </a:prstGeom>
          <a:noFill/>
          <a:ln/>
        </p:spPr>
        <p:txBody>
          <a:bodyPr wrap="square" lIns="0" tIns="0" rIns="0" bIns="0" rtlCol="0" anchor="ctr"/>
          <a:lstStyle/>
          <a:p>
            <a:pPr indent="0" marL="0">
              <a:buNone/>
            </a:pPr>
            <a:r>
              <a:rPr lang="en-US" sz="1300" dirty="0">
                <a:solidFill>
                  <a:schemeClr val="bg1"/>
                </a:solidFill>
              </a:rPr>
              <a:t>Esempi rappresentativi e vari: il sistema li imita anche negli aspetti non voluti.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33</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ciclo del miglioramento progressivo</a:t>
            </a:r>
            <a:endParaRPr lang="en-US" sz="2600" dirty="0"/>
          </a:p>
        </p:txBody>
      </p:sp>
      <p:sp>
        <p:nvSpPr>
          <p:cNvPr id="4" name="Prima formulazione"/>
          <p:cNvSpPr/>
          <p:nvPr/>
        </p:nvSpPr>
        <p:spPr>
          <a:xfrm>
            <a:off x="457200" y="1143000"/>
            <a:ext cx="1874520" cy="1417320"/>
          </a:xfrm>
          <a:prstGeom prst="roundRect">
            <a:avLst>
              <a:gd name="adj" fmla="val 5161"/>
            </a:avLst>
          </a:prstGeom>
          <a:solidFill>
            <a:schemeClr val="bg2"/>
          </a:solidFill>
          <a:ln/>
        </p:spPr>
      </p:sp>
      <p:sp>
        <p:nvSpPr>
          <p:cNvPr id="5" name="cerchio FiEdit3"/>
          <p:cNvSpPr/>
          <p:nvPr/>
        </p:nvSpPr>
        <p:spPr>
          <a:xfrm>
            <a:off x="1115568" y="1261872"/>
            <a:ext cx="548640" cy="548640"/>
          </a:xfrm>
          <a:prstGeom prst="ellipse">
            <a:avLst/>
          </a:prstGeom>
          <a:solidFill>
            <a:schemeClr val="accent1"/>
          </a:solidFill>
          <a:ln/>
        </p:spPr>
      </p:sp>
      <p:pic>
        <p:nvPicPr>
          <p:cNvPr id="6" name="Image 0" descr="FiEdit3">    </p:cNvPr>
          <p:cNvPicPr>
            <a:picLocks noChangeAspect="1"/>
          </p:cNvPicPr>
          <p:nvPr/>
        </p:nvPicPr>
        <p:blipFill>
          <a:blip r:embed="rId1"/>
          <a:stretch>
            <a:fillRect/>
          </a:stretch>
        </p:blipFill>
        <p:spPr>
          <a:xfrm>
            <a:off x="1252728" y="1399032"/>
            <a:ext cx="274320" cy="274320"/>
          </a:xfrm>
          <a:prstGeom prst="rect">
            <a:avLst/>
          </a:prstGeom>
        </p:spPr>
      </p:pic>
      <p:sp>
        <p:nvSpPr>
          <p:cNvPr id="7" name="Text 3"/>
          <p:cNvSpPr txBox="1"/>
          <p:nvPr/>
        </p:nvSpPr>
        <p:spPr>
          <a:xfrm>
            <a:off x="548640" y="1874520"/>
            <a:ext cx="1691640" cy="548640"/>
          </a:xfrm>
          <a:prstGeom prst="rect">
            <a:avLst/>
          </a:prstGeom>
          <a:noFill/>
          <a:ln/>
        </p:spPr>
        <p:txBody>
          <a:bodyPr wrap="square" lIns="0" tIns="0" rIns="0" bIns="0" rtlCol="0" anchor="ctr"/>
          <a:lstStyle/>
          <a:p>
            <a:pPr algn="ctr" indent="0" marL="0">
              <a:buNone/>
            </a:pPr>
            <a:r>
              <a:rPr lang="en-US" sz="1300" b="1" dirty="0">
                <a:solidFill>
                  <a:schemeClr val="tx1"/>
                </a:solidFill>
              </a:rPr>
              <a:t>1. Prima formulazione</a:t>
            </a:r>
            <a:endParaRPr lang="en-US" sz="1300" dirty="0"/>
          </a:p>
        </p:txBody>
      </p:sp>
      <p:sp>
        <p:nvSpPr>
          <p:cNvPr id="8" name="freccia"/>
          <p:cNvSpPr/>
          <p:nvPr/>
        </p:nvSpPr>
        <p:spPr>
          <a:xfrm>
            <a:off x="2350008" y="1737360"/>
            <a:ext cx="219456" cy="292608"/>
          </a:xfrm>
          <a:prstGeom prst="rightArrow">
            <a:avLst/>
          </a:prstGeom>
          <a:solidFill>
            <a:schemeClr val="accent2"/>
          </a:solidFill>
          <a:ln/>
        </p:spPr>
      </p:sp>
      <p:sp>
        <p:nvSpPr>
          <p:cNvPr id="9" name="Analisi delle carenze"/>
          <p:cNvSpPr/>
          <p:nvPr/>
        </p:nvSpPr>
        <p:spPr>
          <a:xfrm>
            <a:off x="2587752" y="1143000"/>
            <a:ext cx="1874520" cy="1417320"/>
          </a:xfrm>
          <a:prstGeom prst="roundRect">
            <a:avLst>
              <a:gd name="adj" fmla="val 5161"/>
            </a:avLst>
          </a:prstGeom>
          <a:solidFill>
            <a:schemeClr val="accent6"/>
          </a:solidFill>
          <a:ln/>
        </p:spPr>
      </p:sp>
      <p:sp>
        <p:nvSpPr>
          <p:cNvPr id="10" name="cerchio FiSearch"/>
          <p:cNvSpPr/>
          <p:nvPr/>
        </p:nvSpPr>
        <p:spPr>
          <a:xfrm>
            <a:off x="3246120" y="1261872"/>
            <a:ext cx="548640" cy="548640"/>
          </a:xfrm>
          <a:prstGeom prst="ellipse">
            <a:avLst/>
          </a:prstGeom>
          <a:solidFill>
            <a:schemeClr val="accent1"/>
          </a:solidFill>
          <a:ln/>
        </p:spPr>
      </p:sp>
      <p:pic>
        <p:nvPicPr>
          <p:cNvPr id="11" name="Image 1" descr="FiSearch">    </p:cNvPr>
          <p:cNvPicPr>
            <a:picLocks noChangeAspect="1"/>
          </p:cNvPicPr>
          <p:nvPr/>
        </p:nvPicPr>
        <p:blipFill>
          <a:blip r:embed="rId2"/>
          <a:stretch>
            <a:fillRect/>
          </a:stretch>
        </p:blipFill>
        <p:spPr>
          <a:xfrm>
            <a:off x="3383280" y="1399032"/>
            <a:ext cx="274320" cy="274320"/>
          </a:xfrm>
          <a:prstGeom prst="rect">
            <a:avLst/>
          </a:prstGeom>
        </p:spPr>
      </p:pic>
      <p:sp>
        <p:nvSpPr>
          <p:cNvPr id="12" name="Text 7"/>
          <p:cNvSpPr txBox="1"/>
          <p:nvPr/>
        </p:nvSpPr>
        <p:spPr>
          <a:xfrm>
            <a:off x="2679192" y="1874520"/>
            <a:ext cx="1691640" cy="548640"/>
          </a:xfrm>
          <a:prstGeom prst="rect">
            <a:avLst/>
          </a:prstGeom>
          <a:noFill/>
          <a:ln/>
        </p:spPr>
        <p:txBody>
          <a:bodyPr wrap="square" lIns="0" tIns="0" rIns="0" bIns="0" rtlCol="0" anchor="ctr"/>
          <a:lstStyle/>
          <a:p>
            <a:pPr algn="ctr" indent="0" marL="0">
              <a:buNone/>
            </a:pPr>
            <a:r>
              <a:rPr lang="en-US" sz="1300" b="1" dirty="0">
                <a:solidFill>
                  <a:schemeClr val="tx1"/>
                </a:solidFill>
              </a:rPr>
              <a:t>2. Analisi delle carenze</a:t>
            </a:r>
            <a:endParaRPr lang="en-US" sz="1300" dirty="0"/>
          </a:p>
        </p:txBody>
      </p:sp>
      <p:sp>
        <p:nvSpPr>
          <p:cNvPr id="13" name="freccia"/>
          <p:cNvSpPr/>
          <p:nvPr/>
        </p:nvSpPr>
        <p:spPr>
          <a:xfrm>
            <a:off x="4480560" y="1737360"/>
            <a:ext cx="219456" cy="292608"/>
          </a:xfrm>
          <a:prstGeom prst="rightArrow">
            <a:avLst/>
          </a:prstGeom>
          <a:solidFill>
            <a:schemeClr val="accent2"/>
          </a:solidFill>
          <a:ln/>
        </p:spPr>
      </p:sp>
      <p:sp>
        <p:nvSpPr>
          <p:cNvPr id="14" name="Feedback e correzione"/>
          <p:cNvSpPr/>
          <p:nvPr/>
        </p:nvSpPr>
        <p:spPr>
          <a:xfrm>
            <a:off x="4718304" y="1143000"/>
            <a:ext cx="1874520" cy="1417320"/>
          </a:xfrm>
          <a:prstGeom prst="roundRect">
            <a:avLst>
              <a:gd name="adj" fmla="val 5161"/>
            </a:avLst>
          </a:prstGeom>
          <a:solidFill>
            <a:schemeClr val="bg2"/>
          </a:solidFill>
          <a:ln/>
        </p:spPr>
      </p:sp>
      <p:sp>
        <p:nvSpPr>
          <p:cNvPr id="15" name="cerchio FiMessageSquare"/>
          <p:cNvSpPr/>
          <p:nvPr/>
        </p:nvSpPr>
        <p:spPr>
          <a:xfrm>
            <a:off x="5376672" y="1261872"/>
            <a:ext cx="548640" cy="548640"/>
          </a:xfrm>
          <a:prstGeom prst="ellipse">
            <a:avLst/>
          </a:prstGeom>
          <a:solidFill>
            <a:schemeClr val="accent1"/>
          </a:solidFill>
          <a:ln/>
        </p:spPr>
      </p:sp>
      <p:pic>
        <p:nvPicPr>
          <p:cNvPr id="16" name="Image 2" descr="FiMessageSquare">    </p:cNvPr>
          <p:cNvPicPr>
            <a:picLocks noChangeAspect="1"/>
          </p:cNvPicPr>
          <p:nvPr/>
        </p:nvPicPr>
        <p:blipFill>
          <a:blip r:embed="rId3"/>
          <a:stretch>
            <a:fillRect/>
          </a:stretch>
        </p:blipFill>
        <p:spPr>
          <a:xfrm>
            <a:off x="5513832" y="1399032"/>
            <a:ext cx="274320" cy="274320"/>
          </a:xfrm>
          <a:prstGeom prst="rect">
            <a:avLst/>
          </a:prstGeom>
        </p:spPr>
      </p:pic>
      <p:sp>
        <p:nvSpPr>
          <p:cNvPr id="17" name="Text 11"/>
          <p:cNvSpPr txBox="1"/>
          <p:nvPr/>
        </p:nvSpPr>
        <p:spPr>
          <a:xfrm>
            <a:off x="4809744" y="1874520"/>
            <a:ext cx="1691640" cy="548640"/>
          </a:xfrm>
          <a:prstGeom prst="rect">
            <a:avLst/>
          </a:prstGeom>
          <a:noFill/>
          <a:ln/>
        </p:spPr>
        <p:txBody>
          <a:bodyPr wrap="square" lIns="0" tIns="0" rIns="0" bIns="0" rtlCol="0" anchor="ctr"/>
          <a:lstStyle/>
          <a:p>
            <a:pPr algn="ctr" indent="0" marL="0">
              <a:buNone/>
            </a:pPr>
            <a:r>
              <a:rPr lang="en-US" sz="1300" b="1" dirty="0">
                <a:solidFill>
                  <a:schemeClr val="tx1"/>
                </a:solidFill>
              </a:rPr>
              <a:t>3. Feedback e correzione</a:t>
            </a:r>
            <a:endParaRPr lang="en-US" sz="1300" dirty="0"/>
          </a:p>
        </p:txBody>
      </p:sp>
      <p:sp>
        <p:nvSpPr>
          <p:cNvPr id="18" name="freccia"/>
          <p:cNvSpPr/>
          <p:nvPr/>
        </p:nvSpPr>
        <p:spPr>
          <a:xfrm>
            <a:off x="6611112" y="1737360"/>
            <a:ext cx="219456" cy="292608"/>
          </a:xfrm>
          <a:prstGeom prst="rightArrow">
            <a:avLst/>
          </a:prstGeom>
          <a:solidFill>
            <a:schemeClr val="accent2"/>
          </a:solidFill>
          <a:ln/>
        </p:spPr>
      </p:sp>
      <p:sp>
        <p:nvSpPr>
          <p:cNvPr id="19" name="Raffinamento"/>
          <p:cNvSpPr/>
          <p:nvPr/>
        </p:nvSpPr>
        <p:spPr>
          <a:xfrm>
            <a:off x="6848856" y="1143000"/>
            <a:ext cx="1874520" cy="1417320"/>
          </a:xfrm>
          <a:prstGeom prst="roundRect">
            <a:avLst>
              <a:gd name="adj" fmla="val 5161"/>
            </a:avLst>
          </a:prstGeom>
          <a:solidFill>
            <a:schemeClr val="bg2"/>
          </a:solidFill>
          <a:ln/>
        </p:spPr>
      </p:sp>
      <p:sp>
        <p:nvSpPr>
          <p:cNvPr id="20" name="cerchio FiRefreshCw"/>
          <p:cNvSpPr/>
          <p:nvPr/>
        </p:nvSpPr>
        <p:spPr>
          <a:xfrm>
            <a:off x="7507224" y="1261872"/>
            <a:ext cx="548640" cy="548640"/>
          </a:xfrm>
          <a:prstGeom prst="ellipse">
            <a:avLst/>
          </a:prstGeom>
          <a:solidFill>
            <a:schemeClr val="accent1"/>
          </a:solidFill>
          <a:ln/>
        </p:spPr>
      </p:sp>
      <p:pic>
        <p:nvPicPr>
          <p:cNvPr id="21" name="Image 3" descr="FiRefreshCw">    </p:cNvPr>
          <p:cNvPicPr>
            <a:picLocks noChangeAspect="1"/>
          </p:cNvPicPr>
          <p:nvPr/>
        </p:nvPicPr>
        <p:blipFill>
          <a:blip r:embed="rId4"/>
          <a:stretch>
            <a:fillRect/>
          </a:stretch>
        </p:blipFill>
        <p:spPr>
          <a:xfrm>
            <a:off x="7644384" y="1399032"/>
            <a:ext cx="274320" cy="274320"/>
          </a:xfrm>
          <a:prstGeom prst="rect">
            <a:avLst/>
          </a:prstGeom>
        </p:spPr>
      </p:pic>
      <p:sp>
        <p:nvSpPr>
          <p:cNvPr id="22" name="Text 15"/>
          <p:cNvSpPr txBox="1"/>
          <p:nvPr/>
        </p:nvSpPr>
        <p:spPr>
          <a:xfrm>
            <a:off x="6940296" y="1874520"/>
            <a:ext cx="1691640" cy="548640"/>
          </a:xfrm>
          <a:prstGeom prst="rect">
            <a:avLst/>
          </a:prstGeom>
          <a:noFill/>
          <a:ln/>
        </p:spPr>
        <p:txBody>
          <a:bodyPr wrap="square" lIns="0" tIns="0" rIns="0" bIns="0" rtlCol="0" anchor="ctr"/>
          <a:lstStyle/>
          <a:p>
            <a:pPr algn="ctr" indent="0" marL="0">
              <a:buNone/>
            </a:pPr>
            <a:r>
              <a:rPr lang="en-US" sz="1300" b="1" dirty="0">
                <a:solidFill>
                  <a:schemeClr val="tx1"/>
                </a:solidFill>
              </a:rPr>
              <a:t>4. Raffinamento</a:t>
            </a:r>
            <a:endParaRPr lang="en-US" sz="1300" dirty="0"/>
          </a:p>
        </p:txBody>
      </p:sp>
      <p:sp>
        <p:nvSpPr>
          <p:cNvPr id="23" name="Text 16"/>
          <p:cNvSpPr txBox="1"/>
          <p:nvPr/>
        </p:nvSpPr>
        <p:spPr>
          <a:xfrm>
            <a:off x="457200" y="2743200"/>
            <a:ext cx="8229600" cy="274320"/>
          </a:xfrm>
          <a:prstGeom prst="rect">
            <a:avLst/>
          </a:prstGeom>
          <a:noFill/>
          <a:ln/>
        </p:spPr>
        <p:txBody>
          <a:bodyPr wrap="square" lIns="0" tIns="0" rIns="0" bIns="0" rtlCol="0" anchor="t"/>
          <a:lstStyle/>
          <a:p>
            <a:pPr indent="0" marL="0">
              <a:buNone/>
            </a:pPr>
            <a:r>
              <a:rPr lang="en-US" sz="1400" b="1" dirty="0">
                <a:solidFill>
                  <a:schemeClr val="tx1"/>
                </a:solidFill>
              </a:rPr>
              <a:t>Carenze più comuni</a:t>
            </a:r>
            <a:endParaRPr lang="en-US" sz="1400" dirty="0"/>
          </a:p>
        </p:txBody>
      </p:sp>
      <p:sp>
        <p:nvSpPr>
          <p:cNvPr id="24" name="blocco Contenuto mancante o superfluo"/>
          <p:cNvSpPr/>
          <p:nvPr/>
        </p:nvSpPr>
        <p:spPr>
          <a:xfrm>
            <a:off x="457200" y="3108960"/>
            <a:ext cx="1554480" cy="685800"/>
          </a:xfrm>
          <a:prstGeom prst="roundRect">
            <a:avLst>
              <a:gd name="adj" fmla="val 16000"/>
            </a:avLst>
          </a:prstGeom>
          <a:solidFill>
            <a:schemeClr val="bg1"/>
          </a:solidFill>
          <a:ln w="12700">
            <a:solidFill>
              <a:schemeClr val="accent3"/>
            </a:solidFill>
            <a:prstDash val="solid"/>
          </a:ln>
        </p:spPr>
      </p:sp>
      <p:sp>
        <p:nvSpPr>
          <p:cNvPr id="25" name="Text 18"/>
          <p:cNvSpPr txBox="1"/>
          <p:nvPr/>
        </p:nvSpPr>
        <p:spPr>
          <a:xfrm>
            <a:off x="502920" y="3108960"/>
            <a:ext cx="1463040" cy="685800"/>
          </a:xfrm>
          <a:prstGeom prst="rect">
            <a:avLst/>
          </a:prstGeom>
          <a:noFill/>
          <a:ln/>
        </p:spPr>
        <p:txBody>
          <a:bodyPr wrap="square" lIns="0" tIns="0" rIns="0" bIns="0" rtlCol="0" anchor="ctr"/>
          <a:lstStyle/>
          <a:p>
            <a:pPr algn="ctr" indent="0" marL="0">
              <a:buNone/>
            </a:pPr>
            <a:r>
              <a:rPr lang="en-US" sz="1100" b="1" dirty="0">
                <a:solidFill>
                  <a:schemeClr val="tx1"/>
                </a:solidFill>
              </a:rPr>
              <a:t>Contenuto mancante o superfluo</a:t>
            </a:r>
            <a:endParaRPr lang="en-US" sz="1100" dirty="0"/>
          </a:p>
        </p:txBody>
      </p:sp>
      <p:sp>
        <p:nvSpPr>
          <p:cNvPr id="26" name="blocco Tono o registro inadatto"/>
          <p:cNvSpPr/>
          <p:nvPr/>
        </p:nvSpPr>
        <p:spPr>
          <a:xfrm>
            <a:off x="2139696" y="3108960"/>
            <a:ext cx="1554480" cy="685800"/>
          </a:xfrm>
          <a:prstGeom prst="roundRect">
            <a:avLst>
              <a:gd name="adj" fmla="val 16000"/>
            </a:avLst>
          </a:prstGeom>
          <a:solidFill>
            <a:schemeClr val="bg1"/>
          </a:solidFill>
          <a:ln w="12700">
            <a:solidFill>
              <a:schemeClr val="accent3"/>
            </a:solidFill>
            <a:prstDash val="solid"/>
          </a:ln>
        </p:spPr>
      </p:sp>
      <p:sp>
        <p:nvSpPr>
          <p:cNvPr id="27" name="Text 20"/>
          <p:cNvSpPr txBox="1"/>
          <p:nvPr/>
        </p:nvSpPr>
        <p:spPr>
          <a:xfrm>
            <a:off x="2185416" y="3108960"/>
            <a:ext cx="1463040" cy="685800"/>
          </a:xfrm>
          <a:prstGeom prst="rect">
            <a:avLst/>
          </a:prstGeom>
          <a:noFill/>
          <a:ln/>
        </p:spPr>
        <p:txBody>
          <a:bodyPr wrap="square" lIns="0" tIns="0" rIns="0" bIns="0" rtlCol="0" anchor="ctr"/>
          <a:lstStyle/>
          <a:p>
            <a:pPr algn="ctr" indent="0" marL="0">
              <a:buNone/>
            </a:pPr>
            <a:r>
              <a:rPr lang="en-US" sz="1100" b="1" dirty="0">
                <a:solidFill>
                  <a:schemeClr val="tx1"/>
                </a:solidFill>
              </a:rPr>
              <a:t>Tono o registro inadatto</a:t>
            </a:r>
            <a:endParaRPr lang="en-US" sz="1100" dirty="0"/>
          </a:p>
        </p:txBody>
      </p:sp>
      <p:sp>
        <p:nvSpPr>
          <p:cNvPr id="28" name="blocco Struttura o formato sbagliati"/>
          <p:cNvSpPr/>
          <p:nvPr/>
        </p:nvSpPr>
        <p:spPr>
          <a:xfrm>
            <a:off x="3822192" y="3108960"/>
            <a:ext cx="1554480" cy="685800"/>
          </a:xfrm>
          <a:prstGeom prst="roundRect">
            <a:avLst>
              <a:gd name="adj" fmla="val 16000"/>
            </a:avLst>
          </a:prstGeom>
          <a:solidFill>
            <a:schemeClr val="bg1"/>
          </a:solidFill>
          <a:ln w="12700">
            <a:solidFill>
              <a:schemeClr val="accent3"/>
            </a:solidFill>
            <a:prstDash val="solid"/>
          </a:ln>
        </p:spPr>
      </p:sp>
      <p:sp>
        <p:nvSpPr>
          <p:cNvPr id="29" name="Text 22"/>
          <p:cNvSpPr txBox="1"/>
          <p:nvPr/>
        </p:nvSpPr>
        <p:spPr>
          <a:xfrm>
            <a:off x="3867912" y="3108960"/>
            <a:ext cx="1463040" cy="685800"/>
          </a:xfrm>
          <a:prstGeom prst="rect">
            <a:avLst/>
          </a:prstGeom>
          <a:noFill/>
          <a:ln/>
        </p:spPr>
        <p:txBody>
          <a:bodyPr wrap="square" lIns="0" tIns="0" rIns="0" bIns="0" rtlCol="0" anchor="ctr"/>
          <a:lstStyle/>
          <a:p>
            <a:pPr algn="ctr" indent="0" marL="0">
              <a:buNone/>
            </a:pPr>
            <a:r>
              <a:rPr lang="en-US" sz="1100" b="1" dirty="0">
                <a:solidFill>
                  <a:schemeClr val="tx1"/>
                </a:solidFill>
              </a:rPr>
              <a:t>Struttura o formato sbagliati</a:t>
            </a:r>
            <a:endParaRPr lang="en-US" sz="1100" dirty="0"/>
          </a:p>
        </p:txBody>
      </p:sp>
      <p:sp>
        <p:nvSpPr>
          <p:cNvPr id="30" name="blocco Dettaglio inadeguato"/>
          <p:cNvSpPr/>
          <p:nvPr/>
        </p:nvSpPr>
        <p:spPr>
          <a:xfrm>
            <a:off x="5504688" y="3108960"/>
            <a:ext cx="1554480" cy="685800"/>
          </a:xfrm>
          <a:prstGeom prst="roundRect">
            <a:avLst>
              <a:gd name="adj" fmla="val 16000"/>
            </a:avLst>
          </a:prstGeom>
          <a:solidFill>
            <a:schemeClr val="bg1"/>
          </a:solidFill>
          <a:ln w="12700">
            <a:solidFill>
              <a:schemeClr val="accent3"/>
            </a:solidFill>
            <a:prstDash val="solid"/>
          </a:ln>
        </p:spPr>
      </p:sp>
      <p:sp>
        <p:nvSpPr>
          <p:cNvPr id="31" name="Text 24"/>
          <p:cNvSpPr txBox="1"/>
          <p:nvPr/>
        </p:nvSpPr>
        <p:spPr>
          <a:xfrm>
            <a:off x="5550408" y="3108960"/>
            <a:ext cx="1463040" cy="685800"/>
          </a:xfrm>
          <a:prstGeom prst="rect">
            <a:avLst/>
          </a:prstGeom>
          <a:noFill/>
          <a:ln/>
        </p:spPr>
        <p:txBody>
          <a:bodyPr wrap="square" lIns="0" tIns="0" rIns="0" bIns="0" rtlCol="0" anchor="ctr"/>
          <a:lstStyle/>
          <a:p>
            <a:pPr algn="ctr" indent="0" marL="0">
              <a:buNone/>
            </a:pPr>
            <a:r>
              <a:rPr lang="en-US" sz="1100" b="1" dirty="0">
                <a:solidFill>
                  <a:schemeClr val="tx1"/>
                </a:solidFill>
              </a:rPr>
              <a:t>Dettaglio inadeguato</a:t>
            </a:r>
            <a:endParaRPr lang="en-US" sz="1100" dirty="0"/>
          </a:p>
        </p:txBody>
      </p:sp>
      <p:sp>
        <p:nvSpPr>
          <p:cNvPr id="32" name="blocco Compito frainteso"/>
          <p:cNvSpPr/>
          <p:nvPr/>
        </p:nvSpPr>
        <p:spPr>
          <a:xfrm>
            <a:off x="7187184" y="3108960"/>
            <a:ext cx="1554480" cy="685800"/>
          </a:xfrm>
          <a:prstGeom prst="roundRect">
            <a:avLst>
              <a:gd name="adj" fmla="val 16000"/>
            </a:avLst>
          </a:prstGeom>
          <a:solidFill>
            <a:schemeClr val="bg1"/>
          </a:solidFill>
          <a:ln w="12700">
            <a:solidFill>
              <a:schemeClr val="accent3"/>
            </a:solidFill>
            <a:prstDash val="solid"/>
          </a:ln>
        </p:spPr>
      </p:sp>
      <p:sp>
        <p:nvSpPr>
          <p:cNvPr id="33" name="Text 26"/>
          <p:cNvSpPr txBox="1"/>
          <p:nvPr/>
        </p:nvSpPr>
        <p:spPr>
          <a:xfrm>
            <a:off x="7232904" y="3108960"/>
            <a:ext cx="1463040" cy="685800"/>
          </a:xfrm>
          <a:prstGeom prst="rect">
            <a:avLst/>
          </a:prstGeom>
          <a:noFill/>
          <a:ln/>
        </p:spPr>
        <p:txBody>
          <a:bodyPr wrap="square" lIns="0" tIns="0" rIns="0" bIns="0" rtlCol="0" anchor="ctr"/>
          <a:lstStyle/>
          <a:p>
            <a:pPr algn="ctr" indent="0" marL="0">
              <a:buNone/>
            </a:pPr>
            <a:r>
              <a:rPr lang="en-US" sz="1100" b="1" dirty="0">
                <a:solidFill>
                  <a:schemeClr val="tx1"/>
                </a:solidFill>
              </a:rPr>
              <a:t>Compito frainteso</a:t>
            </a:r>
            <a:endParaRPr lang="en-US" sz="1100" dirty="0"/>
          </a:p>
        </p:txBody>
      </p:sp>
      <p:sp>
        <p:nvSpPr>
          <p:cNvPr id="34" name="messaggio"/>
          <p:cNvSpPr/>
          <p:nvPr/>
        </p:nvSpPr>
        <p:spPr>
          <a:xfrm>
            <a:off x="457200" y="3977640"/>
            <a:ext cx="8229600" cy="548640"/>
          </a:xfrm>
          <a:prstGeom prst="roundRect">
            <a:avLst>
              <a:gd name="adj" fmla="val 13333"/>
            </a:avLst>
          </a:prstGeom>
          <a:solidFill>
            <a:schemeClr val="tx1"/>
          </a:solidFill>
          <a:ln/>
        </p:spPr>
      </p:sp>
      <p:sp>
        <p:nvSpPr>
          <p:cNvPr id="35" name="Text 28"/>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Il passaggio chiave è l'analisi: se non sappiamo dire che cosa non va, non possiamo chiedere di migliorarlo.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41</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Uno schema per le richieste importanti</a:t>
            </a:r>
            <a:endParaRPr lang="en-US" sz="2600" dirty="0"/>
          </a:p>
        </p:txBody>
      </p:sp>
      <p:sp>
        <p:nvSpPr>
          <p:cNvPr id="4" name="Prima di scrivere"/>
          <p:cNvSpPr/>
          <p:nvPr/>
        </p:nvSpPr>
        <p:spPr>
          <a:xfrm>
            <a:off x="457200" y="1024128"/>
            <a:ext cx="8229600" cy="548640"/>
          </a:xfrm>
          <a:prstGeom prst="roundRect">
            <a:avLst>
              <a:gd name="adj" fmla="val 13333"/>
            </a:avLst>
          </a:prstGeom>
          <a:solidFill>
            <a:schemeClr val="bg2"/>
          </a:solidFill>
          <a:ln/>
        </p:spPr>
      </p:sp>
      <p:sp>
        <p:nvSpPr>
          <p:cNvPr id="5" name="Text 2"/>
          <p:cNvSpPr txBox="1"/>
          <p:nvPr/>
        </p:nvSpPr>
        <p:spPr>
          <a:xfrm>
            <a:off x="594360" y="1024128"/>
            <a:ext cx="2286000" cy="548640"/>
          </a:xfrm>
          <a:prstGeom prst="rect">
            <a:avLst/>
          </a:prstGeom>
          <a:noFill/>
          <a:ln/>
        </p:spPr>
        <p:txBody>
          <a:bodyPr wrap="square" lIns="0" tIns="0" rIns="0" bIns="0" rtlCol="0" anchor="ctr"/>
          <a:lstStyle/>
          <a:p>
            <a:pPr indent="0" marL="0">
              <a:buNone/>
            </a:pPr>
            <a:r>
              <a:rPr lang="en-US" sz="1300" b="1" dirty="0">
                <a:solidFill>
                  <a:schemeClr val="accent1"/>
                </a:solidFill>
              </a:rPr>
              <a:t>Prima di scrivere</a:t>
            </a:r>
            <a:endParaRPr lang="en-US" sz="1300" dirty="0"/>
          </a:p>
        </p:txBody>
      </p:sp>
      <p:sp>
        <p:nvSpPr>
          <p:cNvPr id="6" name="Text 3"/>
          <p:cNvSpPr txBox="1"/>
          <p:nvPr/>
        </p:nvSpPr>
        <p:spPr>
          <a:xfrm>
            <a:off x="2926080" y="1024128"/>
            <a:ext cx="5669280" cy="548640"/>
          </a:xfrm>
          <a:prstGeom prst="rect">
            <a:avLst/>
          </a:prstGeom>
          <a:noFill/>
          <a:ln/>
        </p:spPr>
        <p:txBody>
          <a:bodyPr wrap="square" lIns="0" tIns="0" rIns="0" bIns="0" rtlCol="0" anchor="ctr"/>
          <a:lstStyle/>
          <a:p>
            <a:pPr indent="0" marL="0">
              <a:buNone/>
            </a:pPr>
            <a:r>
              <a:rPr lang="en-US" sz="1200" dirty="0">
                <a:solidFill>
                  <a:schemeClr val="tx1"/>
                </a:solidFill>
              </a:rPr>
              <a:t>Problema, scopo, criterio di successo</a:t>
            </a:r>
            <a:endParaRPr lang="en-US" sz="1200" dirty="0"/>
          </a:p>
        </p:txBody>
      </p:sp>
      <p:sp>
        <p:nvSpPr>
          <p:cNvPr id="7" name="Nella richiesta"/>
          <p:cNvSpPr/>
          <p:nvPr/>
        </p:nvSpPr>
        <p:spPr>
          <a:xfrm>
            <a:off x="457200" y="1645920"/>
            <a:ext cx="8229600" cy="548640"/>
          </a:xfrm>
          <a:prstGeom prst="roundRect">
            <a:avLst>
              <a:gd name="adj" fmla="val 13333"/>
            </a:avLst>
          </a:prstGeom>
          <a:solidFill>
            <a:schemeClr val="accent6"/>
          </a:solidFill>
          <a:ln/>
        </p:spPr>
      </p:sp>
      <p:sp>
        <p:nvSpPr>
          <p:cNvPr id="8" name="Text 5"/>
          <p:cNvSpPr txBox="1"/>
          <p:nvPr/>
        </p:nvSpPr>
        <p:spPr>
          <a:xfrm>
            <a:off x="594360" y="1645920"/>
            <a:ext cx="2286000" cy="548640"/>
          </a:xfrm>
          <a:prstGeom prst="rect">
            <a:avLst/>
          </a:prstGeom>
          <a:noFill/>
          <a:ln/>
        </p:spPr>
        <p:txBody>
          <a:bodyPr wrap="square" lIns="0" tIns="0" rIns="0" bIns="0" rtlCol="0" anchor="ctr"/>
          <a:lstStyle/>
          <a:p>
            <a:pPr indent="0" marL="0">
              <a:buNone/>
            </a:pPr>
            <a:r>
              <a:rPr lang="en-US" sz="1300" b="1" dirty="0">
                <a:solidFill>
                  <a:schemeClr val="accent1"/>
                </a:solidFill>
              </a:rPr>
              <a:t>Nella richiesta</a:t>
            </a:r>
            <a:endParaRPr lang="en-US" sz="1300" dirty="0"/>
          </a:p>
        </p:txBody>
      </p:sp>
      <p:sp>
        <p:nvSpPr>
          <p:cNvPr id="9" name="Text 6"/>
          <p:cNvSpPr txBox="1"/>
          <p:nvPr/>
        </p:nvSpPr>
        <p:spPr>
          <a:xfrm>
            <a:off x="2926080" y="1645920"/>
            <a:ext cx="5669280" cy="548640"/>
          </a:xfrm>
          <a:prstGeom prst="rect">
            <a:avLst/>
          </a:prstGeom>
          <a:noFill/>
          <a:ln/>
        </p:spPr>
        <p:txBody>
          <a:bodyPr wrap="square" lIns="0" tIns="0" rIns="0" bIns="0" rtlCol="0" anchor="ctr"/>
          <a:lstStyle/>
          <a:p>
            <a:pPr indent="0" marL="0">
              <a:buNone/>
            </a:pPr>
            <a:r>
              <a:rPr lang="en-US" sz="1200" dirty="0">
                <a:solidFill>
                  <a:schemeClr val="tx1"/>
                </a:solidFill>
              </a:rPr>
              <a:t>Compito, contesto e destinatario, vincoli, formato; se utile esempi, ruolo, domande di chiarimento</a:t>
            </a:r>
            <a:endParaRPr lang="en-US" sz="1200" dirty="0"/>
          </a:p>
        </p:txBody>
      </p:sp>
      <p:sp>
        <p:nvSpPr>
          <p:cNvPr id="10" name="Dopo il primo risultato"/>
          <p:cNvSpPr/>
          <p:nvPr/>
        </p:nvSpPr>
        <p:spPr>
          <a:xfrm>
            <a:off x="457200" y="2267712"/>
            <a:ext cx="8229600" cy="548640"/>
          </a:xfrm>
          <a:prstGeom prst="roundRect">
            <a:avLst>
              <a:gd name="adj" fmla="val 13333"/>
            </a:avLst>
          </a:prstGeom>
          <a:solidFill>
            <a:schemeClr val="bg2"/>
          </a:solidFill>
          <a:ln/>
        </p:spPr>
      </p:sp>
      <p:sp>
        <p:nvSpPr>
          <p:cNvPr id="11" name="Text 8"/>
          <p:cNvSpPr txBox="1"/>
          <p:nvPr/>
        </p:nvSpPr>
        <p:spPr>
          <a:xfrm>
            <a:off x="594360" y="2267712"/>
            <a:ext cx="2286000" cy="548640"/>
          </a:xfrm>
          <a:prstGeom prst="rect">
            <a:avLst/>
          </a:prstGeom>
          <a:noFill/>
          <a:ln/>
        </p:spPr>
        <p:txBody>
          <a:bodyPr wrap="square" lIns="0" tIns="0" rIns="0" bIns="0" rtlCol="0" anchor="ctr"/>
          <a:lstStyle/>
          <a:p>
            <a:pPr indent="0" marL="0">
              <a:buNone/>
            </a:pPr>
            <a:r>
              <a:rPr lang="en-US" sz="1300" b="1" dirty="0">
                <a:solidFill>
                  <a:schemeClr val="accent1"/>
                </a:solidFill>
              </a:rPr>
              <a:t>Dopo il primo risultato</a:t>
            </a:r>
            <a:endParaRPr lang="en-US" sz="1300" dirty="0"/>
          </a:p>
        </p:txBody>
      </p:sp>
      <p:sp>
        <p:nvSpPr>
          <p:cNvPr id="12" name="Text 9"/>
          <p:cNvSpPr txBox="1"/>
          <p:nvPr/>
        </p:nvSpPr>
        <p:spPr>
          <a:xfrm>
            <a:off x="2926080" y="2267712"/>
            <a:ext cx="5669280" cy="548640"/>
          </a:xfrm>
          <a:prstGeom prst="rect">
            <a:avLst/>
          </a:prstGeom>
          <a:noFill/>
          <a:ln/>
        </p:spPr>
        <p:txBody>
          <a:bodyPr wrap="square" lIns="0" tIns="0" rIns="0" bIns="0" rtlCol="0" anchor="ctr"/>
          <a:lstStyle/>
          <a:p>
            <a:pPr indent="0" marL="0">
              <a:buNone/>
            </a:pPr>
            <a:r>
              <a:rPr lang="en-US" sz="1200" dirty="0">
                <a:solidFill>
                  <a:schemeClr val="tx1"/>
                </a:solidFill>
              </a:rPr>
              <a:t>Analisi delle carenze e feedback specifico, o una nuova richiesta</a:t>
            </a:r>
            <a:endParaRPr lang="en-US" sz="1200" dirty="0"/>
          </a:p>
        </p:txBody>
      </p:sp>
      <p:sp>
        <p:nvSpPr>
          <p:cNvPr id="13" name="Prima di usarlo"/>
          <p:cNvSpPr/>
          <p:nvPr/>
        </p:nvSpPr>
        <p:spPr>
          <a:xfrm>
            <a:off x="457200" y="2889504"/>
            <a:ext cx="8229600" cy="548640"/>
          </a:xfrm>
          <a:prstGeom prst="roundRect">
            <a:avLst>
              <a:gd name="adj" fmla="val 13333"/>
            </a:avLst>
          </a:prstGeom>
          <a:solidFill>
            <a:schemeClr val="accent6"/>
          </a:solidFill>
          <a:ln/>
        </p:spPr>
      </p:sp>
      <p:sp>
        <p:nvSpPr>
          <p:cNvPr id="14" name="Text 11"/>
          <p:cNvSpPr txBox="1"/>
          <p:nvPr/>
        </p:nvSpPr>
        <p:spPr>
          <a:xfrm>
            <a:off x="594360" y="2889504"/>
            <a:ext cx="2286000" cy="548640"/>
          </a:xfrm>
          <a:prstGeom prst="rect">
            <a:avLst/>
          </a:prstGeom>
          <a:noFill/>
          <a:ln/>
        </p:spPr>
        <p:txBody>
          <a:bodyPr wrap="square" lIns="0" tIns="0" rIns="0" bIns="0" rtlCol="0" anchor="ctr"/>
          <a:lstStyle/>
          <a:p>
            <a:pPr indent="0" marL="0">
              <a:buNone/>
            </a:pPr>
            <a:r>
              <a:rPr lang="en-US" sz="1300" b="1" dirty="0">
                <a:solidFill>
                  <a:schemeClr val="accent1"/>
                </a:solidFill>
              </a:rPr>
              <a:t>Prima di usarlo</a:t>
            </a:r>
            <a:endParaRPr lang="en-US" sz="1300" dirty="0"/>
          </a:p>
        </p:txBody>
      </p:sp>
      <p:sp>
        <p:nvSpPr>
          <p:cNvPr id="15" name="Text 12"/>
          <p:cNvSpPr txBox="1"/>
          <p:nvPr/>
        </p:nvSpPr>
        <p:spPr>
          <a:xfrm>
            <a:off x="2926080" y="2889504"/>
            <a:ext cx="5669280" cy="548640"/>
          </a:xfrm>
          <a:prstGeom prst="rect">
            <a:avLst/>
          </a:prstGeom>
          <a:noFill/>
          <a:ln/>
        </p:spPr>
        <p:txBody>
          <a:bodyPr wrap="square" lIns="0" tIns="0" rIns="0" bIns="0" rtlCol="0" anchor="ctr"/>
          <a:lstStyle/>
          <a:p>
            <a:pPr indent="0" marL="0">
              <a:buNone/>
            </a:pPr>
            <a:r>
              <a:rPr lang="en-US" sz="1200" dirty="0">
                <a:solidFill>
                  <a:schemeClr val="tx1"/>
                </a:solidFill>
              </a:rPr>
              <a:t>Aderenza non è correttezza: verifica proporzionata all'importanza</a:t>
            </a:r>
            <a:endParaRPr lang="en-US" sz="1200" dirty="0"/>
          </a:p>
        </p:txBody>
      </p:sp>
      <p:sp>
        <p:nvSpPr>
          <p:cNvPr id="16" name="Se è ricorrente"/>
          <p:cNvSpPr/>
          <p:nvPr/>
        </p:nvSpPr>
        <p:spPr>
          <a:xfrm>
            <a:off x="457200" y="3511296"/>
            <a:ext cx="8229600" cy="548640"/>
          </a:xfrm>
          <a:prstGeom prst="roundRect">
            <a:avLst>
              <a:gd name="adj" fmla="val 13333"/>
            </a:avLst>
          </a:prstGeom>
          <a:solidFill>
            <a:schemeClr val="bg2"/>
          </a:solidFill>
          <a:ln/>
        </p:spPr>
      </p:sp>
      <p:sp>
        <p:nvSpPr>
          <p:cNvPr id="17" name="Text 14"/>
          <p:cNvSpPr txBox="1"/>
          <p:nvPr/>
        </p:nvSpPr>
        <p:spPr>
          <a:xfrm>
            <a:off x="594360" y="3511296"/>
            <a:ext cx="2286000" cy="548640"/>
          </a:xfrm>
          <a:prstGeom prst="rect">
            <a:avLst/>
          </a:prstGeom>
          <a:noFill/>
          <a:ln/>
        </p:spPr>
        <p:txBody>
          <a:bodyPr wrap="square" lIns="0" tIns="0" rIns="0" bIns="0" rtlCol="0" anchor="ctr"/>
          <a:lstStyle/>
          <a:p>
            <a:pPr indent="0" marL="0">
              <a:buNone/>
            </a:pPr>
            <a:r>
              <a:rPr lang="en-US" sz="1300" b="1" dirty="0">
                <a:solidFill>
                  <a:schemeClr val="accent1"/>
                </a:solidFill>
              </a:rPr>
              <a:t>Se è ricorrente</a:t>
            </a:r>
            <a:endParaRPr lang="en-US" sz="1300" dirty="0"/>
          </a:p>
        </p:txBody>
      </p:sp>
      <p:sp>
        <p:nvSpPr>
          <p:cNvPr id="18" name="Text 15"/>
          <p:cNvSpPr txBox="1"/>
          <p:nvPr/>
        </p:nvSpPr>
        <p:spPr>
          <a:xfrm>
            <a:off x="2926080" y="3511296"/>
            <a:ext cx="5669280" cy="548640"/>
          </a:xfrm>
          <a:prstGeom prst="rect">
            <a:avLst/>
          </a:prstGeom>
          <a:noFill/>
          <a:ln/>
        </p:spPr>
        <p:txBody>
          <a:bodyPr wrap="square" lIns="0" tIns="0" rIns="0" bIns="0" rtlCol="0" anchor="ctr"/>
          <a:lstStyle/>
          <a:p>
            <a:pPr indent="0" marL="0">
              <a:buNone/>
            </a:pPr>
            <a:r>
              <a:rPr lang="en-US" sz="1200" dirty="0">
                <a:solidFill>
                  <a:schemeClr val="tx1"/>
                </a:solidFill>
              </a:rPr>
              <a:t>Trasformarla in un template</a:t>
            </a:r>
            <a:endParaRPr lang="en-US" sz="1200" dirty="0"/>
          </a:p>
        </p:txBody>
      </p:sp>
      <p:sp>
        <p:nvSpPr>
          <p:cNvPr id="19" name="messaggio"/>
          <p:cNvSpPr/>
          <p:nvPr/>
        </p:nvSpPr>
        <p:spPr>
          <a:xfrm>
            <a:off x="457200" y="4206240"/>
            <a:ext cx="8229600" cy="384048"/>
          </a:xfrm>
          <a:prstGeom prst="roundRect">
            <a:avLst>
              <a:gd name="adj" fmla="val 19048"/>
            </a:avLst>
          </a:prstGeom>
          <a:solidFill>
            <a:schemeClr val="tx1"/>
          </a:solidFill>
          <a:ln/>
        </p:spPr>
      </p:sp>
      <p:sp>
        <p:nvSpPr>
          <p:cNvPr id="20" name="Text 17"/>
          <p:cNvSpPr txBox="1"/>
          <p:nvPr/>
        </p:nvSpPr>
        <p:spPr>
          <a:xfrm>
            <a:off x="640080" y="4206240"/>
            <a:ext cx="7863840" cy="384048"/>
          </a:xfrm>
          <a:prstGeom prst="rect">
            <a:avLst/>
          </a:prstGeom>
          <a:noFill/>
          <a:ln/>
        </p:spPr>
        <p:txBody>
          <a:bodyPr wrap="square" lIns="0" tIns="0" rIns="0" bIns="0" rtlCol="0" anchor="ctr"/>
          <a:lstStyle/>
          <a:p>
            <a:pPr indent="0" marL="0">
              <a:buNone/>
            </a:pPr>
            <a:r>
              <a:rPr lang="en-US" sz="1200" dirty="0">
                <a:solidFill>
                  <a:schemeClr val="bg1"/>
                </a:solidFill>
              </a:rPr>
              <a:t>E sempre: nessun dato riservato in strumenti non autorizzati.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71</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Gara di prompt</a:t>
            </a:r>
            <a:endParaRPr lang="en-US" sz="2600" dirty="0"/>
          </a:p>
        </p:txBody>
      </p:sp>
      <p:sp>
        <p:nvSpPr>
          <p:cNvPr id="4" name="riquadro IL COMPITO (6' A COPPIE)"/>
          <p:cNvSpPr/>
          <p:nvPr/>
        </p:nvSpPr>
        <p:spPr>
          <a:xfrm>
            <a:off x="457200" y="1051560"/>
            <a:ext cx="4663440" cy="2377440"/>
          </a:xfrm>
          <a:prstGeom prst="roundRect">
            <a:avLst>
              <a:gd name="adj" fmla="val 3077"/>
            </a:avLst>
          </a:prstGeom>
          <a:solidFill>
            <a:schemeClr val="bg2"/>
          </a:solidFill>
          <a:ln/>
        </p:spPr>
      </p:sp>
      <p:sp>
        <p:nvSpPr>
          <p:cNvPr id="5" name="barra"/>
          <p:cNvSpPr/>
          <p:nvPr/>
        </p:nvSpPr>
        <p:spPr>
          <a:xfrm>
            <a:off x="457200" y="1161288"/>
            <a:ext cx="54864" cy="2157984"/>
          </a:xfrm>
          <a:prstGeom prst="rect">
            <a:avLst/>
          </a:prstGeom>
          <a:solidFill>
            <a:schemeClr val="accent1"/>
          </a:solidFill>
          <a:ln/>
        </p:spPr>
      </p:sp>
      <p:sp>
        <p:nvSpPr>
          <p:cNvPr id="6" name="Text 3"/>
          <p:cNvSpPr txBox="1"/>
          <p:nvPr/>
        </p:nvSpPr>
        <p:spPr>
          <a:xfrm>
            <a:off x="658368" y="1143000"/>
            <a:ext cx="4297680" cy="256032"/>
          </a:xfrm>
          <a:prstGeom prst="rect">
            <a:avLst/>
          </a:prstGeom>
          <a:noFill/>
          <a:ln/>
        </p:spPr>
        <p:txBody>
          <a:bodyPr wrap="square" lIns="0" tIns="0" rIns="0" bIns="0" rtlCol="0" anchor="t"/>
          <a:lstStyle/>
          <a:p>
            <a:pPr indent="0" marL="0">
              <a:buNone/>
            </a:pPr>
            <a:r>
              <a:rPr lang="en-US" sz="1100" b="1" dirty="0">
                <a:solidFill>
                  <a:schemeClr val="accent1"/>
                </a:solidFill>
              </a:rPr>
              <a:t>IL COMPITO (6' A COPPIE)</a:t>
            </a:r>
            <a:endParaRPr lang="en-US" sz="1100" dirty="0"/>
          </a:p>
        </p:txBody>
      </p:sp>
      <p:sp>
        <p:nvSpPr>
          <p:cNvPr id="7" name="Text 4"/>
          <p:cNvSpPr txBox="1"/>
          <p:nvPr/>
        </p:nvSpPr>
        <p:spPr>
          <a:xfrm>
            <a:off x="658368" y="1435608"/>
            <a:ext cx="4297680" cy="1901952"/>
          </a:xfrm>
          <a:prstGeom prst="rect">
            <a:avLst/>
          </a:prstGeom>
          <a:noFill/>
          <a:ln/>
        </p:spPr>
        <p:txBody>
          <a:bodyPr wrap="square" lIns="0" tIns="0" rIns="0" bIns="0" rtlCol="0" anchor="t"/>
          <a:lstStyle/>
          <a:p>
            <a:pPr indent="0" marL="0">
              <a:buNone/>
            </a:pPr>
            <a:r>
              <a:rPr lang="en-US" sz="1500" dirty="0">
                <a:solidFill>
                  <a:schemeClr val="tx1"/>
                </a:solidFill>
              </a:rPr>
              <a:t>Un manutentore appena assunto deve organizzare la manutenzione del forno TF-900 Demo. Scrivete la richiesta a Copilot, con il manuale allegato, per ottenere una lista di controllo stampabile delle attività settimanali e mensili.</a:t>
            </a:r>
            <a:endParaRPr lang="en-US" sz="1500" dirty="0"/>
          </a:p>
        </p:txBody>
      </p:sp>
      <p:sp>
        <p:nvSpPr>
          <p:cNvPr id="8" name="Text 5"/>
          <p:cNvSpPr txBox="1"/>
          <p:nvPr/>
        </p:nvSpPr>
        <p:spPr>
          <a:xfrm>
            <a:off x="457200" y="3520440"/>
            <a:ext cx="4663440" cy="274320"/>
          </a:xfrm>
          <a:prstGeom prst="rect">
            <a:avLst/>
          </a:prstGeom>
          <a:noFill/>
          <a:ln/>
        </p:spPr>
        <p:txBody>
          <a:bodyPr wrap="square" lIns="0" tIns="0" rIns="0" bIns="0" rtlCol="0" anchor="t"/>
          <a:lstStyle/>
          <a:p>
            <a:pPr indent="0" marL="0">
              <a:buNone/>
            </a:pPr>
            <a:r>
              <a:rPr lang="en-US" sz="1100" i="1" dirty="0">
                <a:solidFill>
                  <a:schemeClr val="accent2"/>
                </a:solidFill>
              </a:rPr>
              <a:t>Materiale fittizio: Forni Demo S.r.l., forno TF-900 Demo</a:t>
            </a:r>
            <a:endParaRPr lang="en-US" sz="1100" dirty="0"/>
          </a:p>
        </p:txBody>
      </p:sp>
      <p:sp>
        <p:nvSpPr>
          <p:cNvPr id="9" name="griglia"/>
          <p:cNvSpPr/>
          <p:nvPr/>
        </p:nvSpPr>
        <p:spPr>
          <a:xfrm>
            <a:off x="5349240" y="1051560"/>
            <a:ext cx="3337560" cy="2788920"/>
          </a:xfrm>
          <a:prstGeom prst="roundRect">
            <a:avLst>
              <a:gd name="adj" fmla="val 2623"/>
            </a:avLst>
          </a:prstGeom>
          <a:solidFill>
            <a:schemeClr val="accent6"/>
          </a:solidFill>
          <a:ln/>
        </p:spPr>
      </p:sp>
      <p:sp>
        <p:nvSpPr>
          <p:cNvPr id="10" name="Text 7"/>
          <p:cNvSpPr txBox="1"/>
          <p:nvPr/>
        </p:nvSpPr>
        <p:spPr>
          <a:xfrm>
            <a:off x="5532120" y="1143000"/>
            <a:ext cx="3017520" cy="320040"/>
          </a:xfrm>
          <a:prstGeom prst="rect">
            <a:avLst/>
          </a:prstGeom>
          <a:noFill/>
          <a:ln/>
        </p:spPr>
        <p:txBody>
          <a:bodyPr wrap="square" lIns="0" tIns="0" rIns="0" bIns="0" rtlCol="0" anchor="t"/>
          <a:lstStyle/>
          <a:p>
            <a:pPr indent="0" marL="0">
              <a:buNone/>
            </a:pPr>
            <a:r>
              <a:rPr lang="en-US" sz="1400" b="1" dirty="0">
                <a:solidFill>
                  <a:schemeClr val="tx1"/>
                </a:solidFill>
              </a:rPr>
              <a:t>Come confrontiamo i risultati</a:t>
            </a:r>
            <a:endParaRPr lang="en-US" sz="1400" dirty="0"/>
          </a:p>
        </p:txBody>
      </p:sp>
      <p:sp>
        <p:nvSpPr>
          <p:cNvPr id="11" name="Text 8"/>
          <p:cNvSpPr txBox="1"/>
          <p:nvPr/>
        </p:nvSpPr>
        <p:spPr>
          <a:xfrm>
            <a:off x="5532120" y="1508760"/>
            <a:ext cx="3017520" cy="22860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Tutte le attività ci sono?</a:t>
            </a:r>
            <a:endParaRPr lang="en-US" sz="1300" dirty="0"/>
          </a:p>
          <a:p>
            <a:pPr marL="177800" indent="-177800">
              <a:spcAft>
                <a:spcPts val="400"/>
              </a:spcAft>
              <a:buSzPct val="100000"/>
              <a:buChar char="•"/>
            </a:pPr>
            <a:r>
              <a:rPr lang="en-US" sz="1300" dirty="0">
                <a:solidFill>
                  <a:schemeClr val="tx1"/>
                </a:solidFill>
              </a:rPr>
              <a:t>Chi interviene?</a:t>
            </a:r>
            <a:endParaRPr lang="en-US" sz="1300" dirty="0"/>
          </a:p>
          <a:p>
            <a:pPr marL="177800" indent="-177800">
              <a:spcAft>
                <a:spcPts val="400"/>
              </a:spcAft>
              <a:buSzPct val="100000"/>
              <a:buChar char="•"/>
            </a:pPr>
            <a:r>
              <a:rPr lang="en-US" sz="1300" dirty="0">
                <a:solidFill>
                  <a:schemeClr val="tx1"/>
                </a:solidFill>
              </a:rPr>
              <a:t>Da quale capitolo?</a:t>
            </a:r>
            <a:endParaRPr lang="en-US" sz="1300" dirty="0"/>
          </a:p>
          <a:p>
            <a:pPr marL="177800" indent="-177800">
              <a:spcAft>
                <a:spcPts val="400"/>
              </a:spcAft>
              <a:buSzPct val="100000"/>
              <a:buChar char="•"/>
            </a:pPr>
            <a:r>
              <a:rPr lang="en-US" sz="1300" dirty="0">
                <a:solidFill>
                  <a:schemeClr val="tx1"/>
                </a:solidFill>
              </a:rPr>
              <a:t>Regole di sicurezza?</a:t>
            </a:r>
            <a:endParaRPr lang="en-US" sz="1300" dirty="0"/>
          </a:p>
          <a:p>
            <a:pPr marL="177800" indent="-177800">
              <a:spcAft>
                <a:spcPts val="400"/>
              </a:spcAft>
              <a:buSzPct val="100000"/>
              <a:buChar char="•"/>
            </a:pPr>
            <a:r>
              <a:rPr lang="en-US" sz="1300" dirty="0">
                <a:solidFill>
                  <a:schemeClr val="tx1"/>
                </a:solidFill>
              </a:rPr>
              <a:t>Si stampa e si usa?</a:t>
            </a:r>
            <a:endParaRPr lang="en-US" sz="1300" dirty="0"/>
          </a:p>
          <a:p>
            <a:pPr marL="177800" indent="-177800">
              <a:spcAft>
                <a:spcPts val="400"/>
              </a:spcAft>
              <a:buSzPct val="100000"/>
              <a:buChar char="•"/>
            </a:pPr>
            <a:r>
              <a:rPr lang="en-US" sz="1300" dirty="0">
                <a:solidFill>
                  <a:schemeClr val="tx1"/>
                </a:solidFill>
              </a:rPr>
              <a:t>Segnala i contrasti?</a:t>
            </a:r>
            <a:endParaRPr lang="en-US" sz="1300" dirty="0"/>
          </a:p>
        </p:txBody>
      </p:sp>
      <p:sp>
        <p:nvSpPr>
          <p:cNvPr id="12" name="messaggio"/>
          <p:cNvSpPr/>
          <p:nvPr/>
        </p:nvSpPr>
        <p:spPr>
          <a:xfrm>
            <a:off x="457200" y="3977640"/>
            <a:ext cx="8229600" cy="548640"/>
          </a:xfrm>
          <a:prstGeom prst="roundRect">
            <a:avLst>
              <a:gd name="adj" fmla="val 13333"/>
            </a:avLst>
          </a:prstGeom>
          <a:solidFill>
            <a:schemeClr val="tx1"/>
          </a:solidFill>
          <a:ln/>
        </p:spPr>
      </p:sp>
      <p:sp>
        <p:nvSpPr>
          <p:cNvPr id="13" name="Text 10"/>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Un prompt migliore non garantisce un risultato corretto: aiuta a controllarlo.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300" b="1" spc="200" kern="0" dirty="0">
                <a:solidFill>
                  <a:schemeClr val="accent1"/>
                </a:solidFill>
              </a:rPr>
              <a:t>AI ADOPTION  ·  LASER SRL  ·  SESSIONE 2 DI 3</a:t>
            </a: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Assistenti per documenti: tre dimostrazioni</a:t>
            </a: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en-US" sz="1600" dirty="0">
                <a:solidFill>
                  <a:schemeClr val="accent3"/>
                </a:solidFill>
              </a:rPr>
              <a:t>Dopo ogni demo: che cosa verifichereste prima di usarlo?</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filo conduttore: quattro modalità</a:t>
            </a:r>
            <a:endParaRPr lang="en-US" sz="2600" dirty="0"/>
          </a:p>
        </p:txBody>
      </p:sp>
      <p:sp>
        <p:nvSpPr>
          <p:cNvPr id="4" name="Produrre"/>
          <p:cNvSpPr/>
          <p:nvPr/>
        </p:nvSpPr>
        <p:spPr>
          <a:xfrm>
            <a:off x="457200" y="1097280"/>
            <a:ext cx="1920240" cy="2514600"/>
          </a:xfrm>
          <a:prstGeom prst="roundRect">
            <a:avLst>
              <a:gd name="adj" fmla="val 3810"/>
            </a:avLst>
          </a:prstGeom>
          <a:solidFill>
            <a:schemeClr val="bg2"/>
          </a:solidFill>
          <a:ln/>
        </p:spPr>
      </p:sp>
      <p:sp>
        <p:nvSpPr>
          <p:cNvPr id="5" name="cerchio FiEdit3"/>
          <p:cNvSpPr/>
          <p:nvPr/>
        </p:nvSpPr>
        <p:spPr>
          <a:xfrm>
            <a:off x="1097280" y="1234440"/>
            <a:ext cx="640080" cy="640080"/>
          </a:xfrm>
          <a:prstGeom prst="ellipse">
            <a:avLst/>
          </a:prstGeom>
          <a:solidFill>
            <a:schemeClr val="accent1"/>
          </a:solidFill>
          <a:ln/>
        </p:spPr>
      </p:sp>
      <p:pic>
        <p:nvPicPr>
          <p:cNvPr id="6" name="Image 0" descr="FiEdit3">    </p:cNvPr>
          <p:cNvPicPr>
            <a:picLocks noChangeAspect="1"/>
          </p:cNvPicPr>
          <p:nvPr/>
        </p:nvPicPr>
        <p:blipFill>
          <a:blip r:embed="rId1"/>
          <a:stretch>
            <a:fillRect/>
          </a:stretch>
        </p:blipFill>
        <p:spPr>
          <a:xfrm>
            <a:off x="1257300" y="1394460"/>
            <a:ext cx="320040" cy="320040"/>
          </a:xfrm>
          <a:prstGeom prst="rect">
            <a:avLst/>
          </a:prstGeom>
        </p:spPr>
      </p:pic>
      <p:sp>
        <p:nvSpPr>
          <p:cNvPr id="7" name="Text 3"/>
          <p:cNvSpPr txBox="1"/>
          <p:nvPr/>
        </p:nvSpPr>
        <p:spPr>
          <a:xfrm>
            <a:off x="548640" y="1965960"/>
            <a:ext cx="1737360" cy="548640"/>
          </a:xfrm>
          <a:prstGeom prst="rect">
            <a:avLst/>
          </a:prstGeom>
          <a:noFill/>
          <a:ln/>
        </p:spPr>
        <p:txBody>
          <a:bodyPr wrap="square" lIns="0" tIns="0" rIns="0" bIns="0" rtlCol="0" anchor="ctr"/>
          <a:lstStyle/>
          <a:p>
            <a:pPr algn="ctr" indent="0" marL="0">
              <a:buNone/>
            </a:pPr>
            <a:r>
              <a:rPr lang="en-US" sz="1500" b="1" dirty="0">
                <a:solidFill>
                  <a:schemeClr val="tx1"/>
                </a:solidFill>
              </a:rPr>
              <a:t>Produrre</a:t>
            </a:r>
            <a:endParaRPr lang="en-US" sz="1500" dirty="0"/>
          </a:p>
        </p:txBody>
      </p:sp>
      <p:sp>
        <p:nvSpPr>
          <p:cNvPr id="8" name="Text 4"/>
          <p:cNvSpPr txBox="1"/>
          <p:nvPr/>
        </p:nvSpPr>
        <p:spPr>
          <a:xfrm>
            <a:off x="594360" y="2560320"/>
            <a:ext cx="1645920" cy="548640"/>
          </a:xfrm>
          <a:prstGeom prst="rect">
            <a:avLst/>
          </a:prstGeom>
          <a:noFill/>
          <a:ln/>
        </p:spPr>
        <p:txBody>
          <a:bodyPr wrap="square" lIns="0" tIns="0" rIns="0" bIns="0" rtlCol="0" anchor="t"/>
          <a:lstStyle/>
          <a:p>
            <a:pPr algn="ctr" indent="0" marL="0">
              <a:buNone/>
            </a:pPr>
            <a:r>
              <a:rPr lang="en-US" sz="1200" dirty="0">
                <a:solidFill>
                  <a:schemeClr val="tx2"/>
                </a:solidFill>
              </a:rPr>
              <a:t>Creare contenuti nuovi da istruzioni</a:t>
            </a:r>
            <a:endParaRPr lang="en-US" sz="1200" dirty="0"/>
          </a:p>
        </p:txBody>
      </p:sp>
      <p:sp>
        <p:nvSpPr>
          <p:cNvPr id="9" name="Text 5"/>
          <p:cNvSpPr txBox="1"/>
          <p:nvPr/>
        </p:nvSpPr>
        <p:spPr>
          <a:xfrm>
            <a:off x="548640" y="3200400"/>
            <a:ext cx="1737360" cy="320040"/>
          </a:xfrm>
          <a:prstGeom prst="rect">
            <a:avLst/>
          </a:prstGeom>
          <a:noFill/>
          <a:ln/>
        </p:spPr>
        <p:txBody>
          <a:bodyPr wrap="square" lIns="0" tIns="0" rIns="0" bIns="0" rtlCol="0" anchor="t"/>
          <a:lstStyle/>
          <a:p>
            <a:pPr algn="ctr" indent="0" marL="0">
              <a:buNone/>
            </a:pPr>
            <a:r>
              <a:rPr lang="en-US" sz="1200" b="1" dirty="0">
                <a:solidFill>
                  <a:schemeClr val="accent1"/>
                </a:solidFill>
              </a:rPr>
              <a:t>8.1</a:t>
            </a:r>
            <a:endParaRPr lang="en-US" sz="1200" dirty="0"/>
          </a:p>
        </p:txBody>
      </p:sp>
      <p:sp>
        <p:nvSpPr>
          <p:cNvPr id="10" name="freccia"/>
          <p:cNvSpPr/>
          <p:nvPr/>
        </p:nvSpPr>
        <p:spPr>
          <a:xfrm>
            <a:off x="2386584" y="2194560"/>
            <a:ext cx="155448" cy="292608"/>
          </a:xfrm>
          <a:prstGeom prst="rightArrow">
            <a:avLst/>
          </a:prstGeom>
          <a:solidFill>
            <a:schemeClr val="accent2"/>
          </a:solidFill>
          <a:ln/>
        </p:spPr>
      </p:sp>
      <p:sp>
        <p:nvSpPr>
          <p:cNvPr id="11" name="Trasformare"/>
          <p:cNvSpPr/>
          <p:nvPr/>
        </p:nvSpPr>
        <p:spPr>
          <a:xfrm>
            <a:off x="2560320" y="1097280"/>
            <a:ext cx="1920240" cy="2514600"/>
          </a:xfrm>
          <a:prstGeom prst="roundRect">
            <a:avLst>
              <a:gd name="adj" fmla="val 3810"/>
            </a:avLst>
          </a:prstGeom>
          <a:solidFill>
            <a:schemeClr val="bg2"/>
          </a:solidFill>
          <a:ln/>
        </p:spPr>
      </p:sp>
      <p:sp>
        <p:nvSpPr>
          <p:cNvPr id="12" name="cerchio FiRefreshCw"/>
          <p:cNvSpPr/>
          <p:nvPr/>
        </p:nvSpPr>
        <p:spPr>
          <a:xfrm>
            <a:off x="3200400" y="1234440"/>
            <a:ext cx="640080" cy="640080"/>
          </a:xfrm>
          <a:prstGeom prst="ellipse">
            <a:avLst/>
          </a:prstGeom>
          <a:solidFill>
            <a:schemeClr val="accent1"/>
          </a:solidFill>
          <a:ln/>
        </p:spPr>
      </p:sp>
      <p:pic>
        <p:nvPicPr>
          <p:cNvPr id="13" name="Image 1" descr="FiRefreshCw">    </p:cNvPr>
          <p:cNvPicPr>
            <a:picLocks noChangeAspect="1"/>
          </p:cNvPicPr>
          <p:nvPr/>
        </p:nvPicPr>
        <p:blipFill>
          <a:blip r:embed="rId2"/>
          <a:stretch>
            <a:fillRect/>
          </a:stretch>
        </p:blipFill>
        <p:spPr>
          <a:xfrm>
            <a:off x="3360420" y="1394460"/>
            <a:ext cx="320040" cy="320040"/>
          </a:xfrm>
          <a:prstGeom prst="rect">
            <a:avLst/>
          </a:prstGeom>
        </p:spPr>
      </p:pic>
      <p:sp>
        <p:nvSpPr>
          <p:cNvPr id="14" name="Text 9"/>
          <p:cNvSpPr txBox="1"/>
          <p:nvPr/>
        </p:nvSpPr>
        <p:spPr>
          <a:xfrm>
            <a:off x="2651760" y="1965960"/>
            <a:ext cx="1737360" cy="548640"/>
          </a:xfrm>
          <a:prstGeom prst="rect">
            <a:avLst/>
          </a:prstGeom>
          <a:noFill/>
          <a:ln/>
        </p:spPr>
        <p:txBody>
          <a:bodyPr wrap="square" lIns="0" tIns="0" rIns="0" bIns="0" rtlCol="0" anchor="ctr"/>
          <a:lstStyle/>
          <a:p>
            <a:pPr algn="ctr" indent="0" marL="0">
              <a:buNone/>
            </a:pPr>
            <a:r>
              <a:rPr lang="en-US" sz="1500" b="1" dirty="0">
                <a:solidFill>
                  <a:schemeClr val="tx1"/>
                </a:solidFill>
              </a:rPr>
              <a:t>Trasformare</a:t>
            </a:r>
            <a:endParaRPr lang="en-US" sz="1500" dirty="0"/>
          </a:p>
        </p:txBody>
      </p:sp>
      <p:sp>
        <p:nvSpPr>
          <p:cNvPr id="15" name="Text 10"/>
          <p:cNvSpPr txBox="1"/>
          <p:nvPr/>
        </p:nvSpPr>
        <p:spPr>
          <a:xfrm>
            <a:off x="2697480" y="2560320"/>
            <a:ext cx="1645920" cy="548640"/>
          </a:xfrm>
          <a:prstGeom prst="rect">
            <a:avLst/>
          </a:prstGeom>
          <a:noFill/>
          <a:ln/>
        </p:spPr>
        <p:txBody>
          <a:bodyPr wrap="square" lIns="0" tIns="0" rIns="0" bIns="0" rtlCol="0" anchor="t"/>
          <a:lstStyle/>
          <a:p>
            <a:pPr algn="ctr" indent="0" marL="0">
              <a:buNone/>
            </a:pPr>
            <a:r>
              <a:rPr lang="en-US" sz="1200" dirty="0">
                <a:solidFill>
                  <a:schemeClr val="tx2"/>
                </a:solidFill>
              </a:rPr>
              <a:t>Lavorare su un testo esistente</a:t>
            </a:r>
            <a:endParaRPr lang="en-US" sz="1200" dirty="0"/>
          </a:p>
        </p:txBody>
      </p:sp>
      <p:sp>
        <p:nvSpPr>
          <p:cNvPr id="16" name="Text 11"/>
          <p:cNvSpPr txBox="1"/>
          <p:nvPr/>
        </p:nvSpPr>
        <p:spPr>
          <a:xfrm>
            <a:off x="2651760" y="3200400"/>
            <a:ext cx="1737360" cy="320040"/>
          </a:xfrm>
          <a:prstGeom prst="rect">
            <a:avLst/>
          </a:prstGeom>
          <a:noFill/>
          <a:ln/>
        </p:spPr>
        <p:txBody>
          <a:bodyPr wrap="square" lIns="0" tIns="0" rIns="0" bIns="0" rtlCol="0" anchor="t"/>
          <a:lstStyle/>
          <a:p>
            <a:pPr algn="ctr" indent="0" marL="0">
              <a:buNone/>
            </a:pPr>
            <a:r>
              <a:rPr lang="en-US" sz="1200" b="1" dirty="0">
                <a:solidFill>
                  <a:schemeClr val="accent1"/>
                </a:solidFill>
              </a:rPr>
              <a:t>8.2</a:t>
            </a:r>
            <a:endParaRPr lang="en-US" sz="1200" dirty="0"/>
          </a:p>
        </p:txBody>
      </p:sp>
      <p:sp>
        <p:nvSpPr>
          <p:cNvPr id="17" name="freccia"/>
          <p:cNvSpPr/>
          <p:nvPr/>
        </p:nvSpPr>
        <p:spPr>
          <a:xfrm>
            <a:off x="4489704" y="2194560"/>
            <a:ext cx="155448" cy="292608"/>
          </a:xfrm>
          <a:prstGeom prst="rightArrow">
            <a:avLst/>
          </a:prstGeom>
          <a:solidFill>
            <a:schemeClr val="accent2"/>
          </a:solidFill>
          <a:ln/>
        </p:spPr>
      </p:sp>
      <p:sp>
        <p:nvSpPr>
          <p:cNvPr id="18" name="Analizzare e strutturare"/>
          <p:cNvSpPr/>
          <p:nvPr/>
        </p:nvSpPr>
        <p:spPr>
          <a:xfrm>
            <a:off x="4663440" y="1097280"/>
            <a:ext cx="1920240" cy="2514600"/>
          </a:xfrm>
          <a:prstGeom prst="roundRect">
            <a:avLst>
              <a:gd name="adj" fmla="val 3810"/>
            </a:avLst>
          </a:prstGeom>
          <a:solidFill>
            <a:schemeClr val="accent1"/>
          </a:solidFill>
          <a:ln/>
        </p:spPr>
      </p:sp>
      <p:sp>
        <p:nvSpPr>
          <p:cNvPr id="19" name="cerchio FiLayers"/>
          <p:cNvSpPr/>
          <p:nvPr/>
        </p:nvSpPr>
        <p:spPr>
          <a:xfrm>
            <a:off x="5303520" y="1234440"/>
            <a:ext cx="640080" cy="640080"/>
          </a:xfrm>
          <a:prstGeom prst="ellipse">
            <a:avLst/>
          </a:prstGeom>
          <a:solidFill>
            <a:schemeClr val="bg1"/>
          </a:solidFill>
          <a:ln/>
        </p:spPr>
      </p:sp>
      <p:pic>
        <p:nvPicPr>
          <p:cNvPr id="20" name="Image 2" descr="FiLayers">    </p:cNvPr>
          <p:cNvPicPr>
            <a:picLocks noChangeAspect="1"/>
          </p:cNvPicPr>
          <p:nvPr/>
        </p:nvPicPr>
        <p:blipFill>
          <a:blip r:embed="rId3"/>
          <a:stretch>
            <a:fillRect/>
          </a:stretch>
        </p:blipFill>
        <p:spPr>
          <a:xfrm>
            <a:off x="5463540" y="1394460"/>
            <a:ext cx="320040" cy="320040"/>
          </a:xfrm>
          <a:prstGeom prst="rect">
            <a:avLst/>
          </a:prstGeom>
        </p:spPr>
      </p:pic>
      <p:sp>
        <p:nvSpPr>
          <p:cNvPr id="21" name="Text 15"/>
          <p:cNvSpPr txBox="1"/>
          <p:nvPr/>
        </p:nvSpPr>
        <p:spPr>
          <a:xfrm>
            <a:off x="4754880" y="1965960"/>
            <a:ext cx="1737360" cy="548640"/>
          </a:xfrm>
          <a:prstGeom prst="rect">
            <a:avLst/>
          </a:prstGeom>
          <a:noFill/>
          <a:ln/>
        </p:spPr>
        <p:txBody>
          <a:bodyPr wrap="square" lIns="0" tIns="0" rIns="0" bIns="0" rtlCol="0" anchor="ctr"/>
          <a:lstStyle/>
          <a:p>
            <a:pPr algn="ctr" indent="0" marL="0">
              <a:buNone/>
            </a:pPr>
            <a:r>
              <a:rPr lang="en-US" sz="1500" b="1" dirty="0">
                <a:solidFill>
                  <a:schemeClr val="bg1"/>
                </a:solidFill>
              </a:rPr>
              <a:t>Analizzare e strutturare</a:t>
            </a:r>
            <a:endParaRPr lang="en-US" sz="1500" dirty="0"/>
          </a:p>
        </p:txBody>
      </p:sp>
      <p:sp>
        <p:nvSpPr>
          <p:cNvPr id="22" name="Text 16"/>
          <p:cNvSpPr txBox="1"/>
          <p:nvPr/>
        </p:nvSpPr>
        <p:spPr>
          <a:xfrm>
            <a:off x="4800600" y="2560320"/>
            <a:ext cx="1645920" cy="548640"/>
          </a:xfrm>
          <a:prstGeom prst="rect">
            <a:avLst/>
          </a:prstGeom>
          <a:noFill/>
          <a:ln/>
        </p:spPr>
        <p:txBody>
          <a:bodyPr wrap="square" lIns="0" tIns="0" rIns="0" bIns="0" rtlCol="0" anchor="t"/>
          <a:lstStyle/>
          <a:p>
            <a:pPr algn="ctr" indent="0" marL="0">
              <a:buNone/>
            </a:pPr>
            <a:r>
              <a:rPr lang="en-US" sz="1200" dirty="0">
                <a:solidFill>
                  <a:schemeClr val="bg1"/>
                </a:solidFill>
              </a:rPr>
              <a:t>Sintesi, estrazione, confronto</a:t>
            </a:r>
            <a:endParaRPr lang="en-US" sz="1200" dirty="0"/>
          </a:p>
        </p:txBody>
      </p:sp>
      <p:sp>
        <p:nvSpPr>
          <p:cNvPr id="23" name="Text 17"/>
          <p:cNvSpPr txBox="1"/>
          <p:nvPr/>
        </p:nvSpPr>
        <p:spPr>
          <a:xfrm>
            <a:off x="4754880" y="3200400"/>
            <a:ext cx="1737360" cy="320040"/>
          </a:xfrm>
          <a:prstGeom prst="rect">
            <a:avLst/>
          </a:prstGeom>
          <a:noFill/>
          <a:ln/>
        </p:spPr>
        <p:txBody>
          <a:bodyPr wrap="square" lIns="0" tIns="0" rIns="0" bIns="0" rtlCol="0" anchor="t"/>
          <a:lstStyle/>
          <a:p>
            <a:pPr algn="ctr" indent="0" marL="0">
              <a:buNone/>
            </a:pPr>
            <a:r>
              <a:rPr lang="en-US" sz="1200" b="1" dirty="0">
                <a:solidFill>
                  <a:schemeClr val="accent6"/>
                </a:solidFill>
              </a:rPr>
              <a:t>8.3  8.4  8.5</a:t>
            </a:r>
            <a:endParaRPr lang="en-US" sz="1200" dirty="0"/>
          </a:p>
        </p:txBody>
      </p:sp>
      <p:sp>
        <p:nvSpPr>
          <p:cNvPr id="24" name="freccia"/>
          <p:cNvSpPr/>
          <p:nvPr/>
        </p:nvSpPr>
        <p:spPr>
          <a:xfrm>
            <a:off x="6592824" y="2194560"/>
            <a:ext cx="155448" cy="292608"/>
          </a:xfrm>
          <a:prstGeom prst="rightArrow">
            <a:avLst/>
          </a:prstGeom>
          <a:solidFill>
            <a:schemeClr val="accent2"/>
          </a:solidFill>
          <a:ln/>
        </p:spPr>
      </p:sp>
      <p:sp>
        <p:nvSpPr>
          <p:cNvPr id="25" name="Recuperare conoscenza"/>
          <p:cNvSpPr/>
          <p:nvPr/>
        </p:nvSpPr>
        <p:spPr>
          <a:xfrm>
            <a:off x="6766560" y="1097280"/>
            <a:ext cx="1920240" cy="2514600"/>
          </a:xfrm>
          <a:prstGeom prst="roundRect">
            <a:avLst>
              <a:gd name="adj" fmla="val 3810"/>
            </a:avLst>
          </a:prstGeom>
          <a:solidFill>
            <a:schemeClr val="bg2"/>
          </a:solidFill>
          <a:ln/>
        </p:spPr>
      </p:sp>
      <p:sp>
        <p:nvSpPr>
          <p:cNvPr id="26" name="cerchio FiDatabase"/>
          <p:cNvSpPr/>
          <p:nvPr/>
        </p:nvSpPr>
        <p:spPr>
          <a:xfrm>
            <a:off x="7406640" y="1234440"/>
            <a:ext cx="640080" cy="640080"/>
          </a:xfrm>
          <a:prstGeom prst="ellipse">
            <a:avLst/>
          </a:prstGeom>
          <a:solidFill>
            <a:schemeClr val="accent1"/>
          </a:solidFill>
          <a:ln/>
        </p:spPr>
      </p:sp>
      <p:pic>
        <p:nvPicPr>
          <p:cNvPr id="27" name="Image 3" descr="FiDatabase">    </p:cNvPr>
          <p:cNvPicPr>
            <a:picLocks noChangeAspect="1"/>
          </p:cNvPicPr>
          <p:nvPr/>
        </p:nvPicPr>
        <p:blipFill>
          <a:blip r:embed="rId4"/>
          <a:stretch>
            <a:fillRect/>
          </a:stretch>
        </p:blipFill>
        <p:spPr>
          <a:xfrm>
            <a:off x="7566660" y="1394460"/>
            <a:ext cx="320040" cy="320040"/>
          </a:xfrm>
          <a:prstGeom prst="rect">
            <a:avLst/>
          </a:prstGeom>
        </p:spPr>
      </p:pic>
      <p:sp>
        <p:nvSpPr>
          <p:cNvPr id="28" name="Text 21"/>
          <p:cNvSpPr txBox="1"/>
          <p:nvPr/>
        </p:nvSpPr>
        <p:spPr>
          <a:xfrm>
            <a:off x="6858000" y="1965960"/>
            <a:ext cx="1737360" cy="548640"/>
          </a:xfrm>
          <a:prstGeom prst="rect">
            <a:avLst/>
          </a:prstGeom>
          <a:noFill/>
          <a:ln/>
        </p:spPr>
        <p:txBody>
          <a:bodyPr wrap="square" lIns="0" tIns="0" rIns="0" bIns="0" rtlCol="0" anchor="ctr"/>
          <a:lstStyle/>
          <a:p>
            <a:pPr algn="ctr" indent="0" marL="0">
              <a:buNone/>
            </a:pPr>
            <a:r>
              <a:rPr lang="en-US" sz="1500" b="1" dirty="0">
                <a:solidFill>
                  <a:schemeClr val="tx1"/>
                </a:solidFill>
              </a:rPr>
              <a:t>Recuperare conoscenza</a:t>
            </a:r>
            <a:endParaRPr lang="en-US" sz="1500" dirty="0"/>
          </a:p>
        </p:txBody>
      </p:sp>
      <p:sp>
        <p:nvSpPr>
          <p:cNvPr id="29" name="Text 22"/>
          <p:cNvSpPr txBox="1"/>
          <p:nvPr/>
        </p:nvSpPr>
        <p:spPr>
          <a:xfrm>
            <a:off x="6903720" y="2560320"/>
            <a:ext cx="1645920" cy="548640"/>
          </a:xfrm>
          <a:prstGeom prst="rect">
            <a:avLst/>
          </a:prstGeom>
          <a:noFill/>
          <a:ln/>
        </p:spPr>
        <p:txBody>
          <a:bodyPr wrap="square" lIns="0" tIns="0" rIns="0" bIns="0" rtlCol="0" anchor="t"/>
          <a:lstStyle/>
          <a:p>
            <a:pPr algn="ctr" indent="0" marL="0">
              <a:buNone/>
            </a:pPr>
            <a:r>
              <a:rPr lang="en-US" sz="1200" dirty="0">
                <a:solidFill>
                  <a:schemeClr val="tx2"/>
                </a:solidFill>
              </a:rPr>
              <a:t>Ricerca e raccolte documentali</a:t>
            </a:r>
            <a:endParaRPr lang="en-US" sz="1200" dirty="0"/>
          </a:p>
        </p:txBody>
      </p:sp>
      <p:sp>
        <p:nvSpPr>
          <p:cNvPr id="30" name="Text 23"/>
          <p:cNvSpPr txBox="1"/>
          <p:nvPr/>
        </p:nvSpPr>
        <p:spPr>
          <a:xfrm>
            <a:off x="6858000" y="3200400"/>
            <a:ext cx="1737360" cy="320040"/>
          </a:xfrm>
          <a:prstGeom prst="rect">
            <a:avLst/>
          </a:prstGeom>
          <a:noFill/>
          <a:ln/>
        </p:spPr>
        <p:txBody>
          <a:bodyPr wrap="square" lIns="0" tIns="0" rIns="0" bIns="0" rtlCol="0" anchor="t"/>
          <a:lstStyle/>
          <a:p>
            <a:pPr algn="ctr" indent="0" marL="0">
              <a:buNone/>
            </a:pPr>
            <a:r>
              <a:rPr lang="en-US" sz="1200" b="1" dirty="0">
                <a:solidFill>
                  <a:schemeClr val="accent1"/>
                </a:solidFill>
              </a:rPr>
              <a:t>8.6  8.7</a:t>
            </a:r>
            <a:endParaRPr lang="en-US" sz="1200" dirty="0"/>
          </a:p>
        </p:txBody>
      </p:sp>
      <p:sp>
        <p:nvSpPr>
          <p:cNvPr id="31" name="limiti trasversali"/>
          <p:cNvSpPr/>
          <p:nvPr/>
        </p:nvSpPr>
        <p:spPr>
          <a:xfrm>
            <a:off x="457200" y="3749040"/>
            <a:ext cx="8229600" cy="777240"/>
          </a:xfrm>
          <a:prstGeom prst="roundRect">
            <a:avLst>
              <a:gd name="adj" fmla="val 9412"/>
            </a:avLst>
          </a:prstGeom>
          <a:solidFill>
            <a:schemeClr val="accent6"/>
          </a:solidFill>
          <a:ln/>
        </p:spPr>
      </p:sp>
      <p:sp>
        <p:nvSpPr>
          <p:cNvPr id="32" name="Text 25"/>
          <p:cNvSpPr txBox="1"/>
          <p:nvPr/>
        </p:nvSpPr>
        <p:spPr>
          <a:xfrm>
            <a:off x="640080" y="3749040"/>
            <a:ext cx="7863840" cy="777240"/>
          </a:xfrm>
          <a:prstGeom prst="rect">
            <a:avLst/>
          </a:prstGeom>
          <a:noFill/>
          <a:ln/>
        </p:spPr>
        <p:txBody>
          <a:bodyPr wrap="square" lIns="0" tIns="0" rIns="0" bIns="0" rtlCol="0" anchor="ctr"/>
          <a:lstStyle/>
          <a:p>
            <a:pPr indent="0" marL="0">
              <a:buNone/>
            </a:pPr>
            <a:r>
              <a:rPr lang="en-US" sz="1300" b="1" dirty="0">
                <a:solidFill>
                  <a:schemeClr val="accent1"/>
                </a:solidFill>
              </a:rPr>
              <a:t>8.8 Limiti e condizioni di efficacia: </a:t>
            </a:r>
            <a:pPr indent="0" marL="0">
              <a:buNone/>
            </a:pPr>
            <a:r>
              <a:rPr lang="en-US" sz="1300" dirty="0">
                <a:solidFill>
                  <a:schemeClr val="tx1"/>
                </a:solidFill>
              </a:rPr>
              <a:t>attraversano tutte le modalità. Non è una sequenza obbligatoria: le modalità spesso si combinano.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Demo 1 · Dal manuale al knowledge assistant</a:t>
            </a:r>
            <a:endParaRPr lang="en-US" sz="2600" dirty="0"/>
          </a:p>
        </p:txBody>
      </p:sp>
      <p:sp>
        <p:nvSpPr>
          <p:cNvPr id="4" name="scheda Che cosa facciamo"/>
          <p:cNvSpPr/>
          <p:nvPr/>
        </p:nvSpPr>
        <p:spPr>
          <a:xfrm>
            <a:off x="457200" y="1005840"/>
            <a:ext cx="3977640" cy="2194560"/>
          </a:xfrm>
          <a:prstGeom prst="roundRect">
            <a:avLst>
              <a:gd name="adj" fmla="val 3333"/>
            </a:avLst>
          </a:prstGeom>
          <a:solidFill>
            <a:schemeClr val="bg2"/>
          </a:solidFill>
          <a:ln/>
        </p:spPr>
      </p:sp>
      <p:sp>
        <p:nvSpPr>
          <p:cNvPr id="5" name="cerchio FiPlayCircle"/>
          <p:cNvSpPr/>
          <p:nvPr/>
        </p:nvSpPr>
        <p:spPr>
          <a:xfrm>
            <a:off x="640080" y="1188720"/>
            <a:ext cx="457200" cy="457200"/>
          </a:xfrm>
          <a:prstGeom prst="ellipse">
            <a:avLst/>
          </a:prstGeom>
          <a:solidFill>
            <a:schemeClr val="accent1"/>
          </a:solidFill>
          <a:ln/>
        </p:spPr>
      </p:sp>
      <p:pic>
        <p:nvPicPr>
          <p:cNvPr id="6" name="Image 0" descr="FiPlayCircle">    </p:cNvPr>
          <p:cNvPicPr>
            <a:picLocks noChangeAspect="1"/>
          </p:cNvPicPr>
          <p:nvPr/>
        </p:nvPicPr>
        <p:blipFill>
          <a:blip r:embed="rId1"/>
          <a:stretch>
            <a:fillRect/>
          </a:stretch>
        </p:blipFill>
        <p:spPr>
          <a:xfrm>
            <a:off x="754380" y="1303020"/>
            <a:ext cx="228600" cy="228600"/>
          </a:xfrm>
          <a:prstGeom prst="rect">
            <a:avLst/>
          </a:prstGeom>
        </p:spPr>
      </p:pic>
      <p:sp>
        <p:nvSpPr>
          <p:cNvPr id="7" name="Text 3"/>
          <p:cNvSpPr txBox="1"/>
          <p:nvPr/>
        </p:nvSpPr>
        <p:spPr>
          <a:xfrm>
            <a:off x="1234440" y="118872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Che cosa facciamo</a:t>
            </a:r>
            <a:endParaRPr lang="en-US" sz="1500" dirty="0"/>
          </a:p>
        </p:txBody>
      </p:sp>
      <p:sp>
        <p:nvSpPr>
          <p:cNvPr id="8" name="Text 4"/>
          <p:cNvSpPr txBox="1"/>
          <p:nvPr/>
        </p:nvSpPr>
        <p:spPr>
          <a:xfrm>
            <a:off x="640080" y="1783080"/>
            <a:ext cx="3611880" cy="1307592"/>
          </a:xfrm>
          <a:prstGeom prst="rect">
            <a:avLst/>
          </a:prstGeom>
          <a:noFill/>
          <a:ln/>
        </p:spPr>
        <p:txBody>
          <a:bodyPr wrap="square" lIns="0" tIns="0" rIns="0" bIns="0" rtlCol="0" anchor="t"/>
          <a:lstStyle/>
          <a:p>
            <a:pPr indent="0" marL="0">
              <a:buNone/>
            </a:pPr>
            <a:r>
              <a:rPr lang="en-US" sz="1300" dirty="0">
                <a:solidFill>
                  <a:schemeClr val="tx2"/>
                </a:solidFill>
              </a:rPr>
              <a:t>Alleghiamo il manuale fittizio e facciamo le domande di un tecnico: un allarme, una manutenzione, un dato tecnico, una richiesta del cliente.</a:t>
            </a:r>
            <a:endParaRPr lang="en-US" sz="1300" dirty="0"/>
          </a:p>
        </p:txBody>
      </p:sp>
      <p:sp>
        <p:nvSpPr>
          <p:cNvPr id="9" name="scheda Che cosa osservare"/>
          <p:cNvSpPr/>
          <p:nvPr/>
        </p:nvSpPr>
        <p:spPr>
          <a:xfrm>
            <a:off x="4709160" y="1005840"/>
            <a:ext cx="3977640" cy="2194560"/>
          </a:xfrm>
          <a:prstGeom prst="roundRect">
            <a:avLst>
              <a:gd name="adj" fmla="val 3333"/>
            </a:avLst>
          </a:prstGeom>
          <a:solidFill>
            <a:schemeClr val="accent6"/>
          </a:solidFill>
          <a:ln/>
        </p:spPr>
      </p:sp>
      <p:sp>
        <p:nvSpPr>
          <p:cNvPr id="10" name="cerchio FiEye"/>
          <p:cNvSpPr/>
          <p:nvPr/>
        </p:nvSpPr>
        <p:spPr>
          <a:xfrm>
            <a:off x="4892040" y="1188720"/>
            <a:ext cx="457200" cy="457200"/>
          </a:xfrm>
          <a:prstGeom prst="ellipse">
            <a:avLst/>
          </a:prstGeom>
          <a:solidFill>
            <a:schemeClr val="accent1"/>
          </a:solidFill>
          <a:ln/>
        </p:spPr>
      </p:sp>
      <p:pic>
        <p:nvPicPr>
          <p:cNvPr id="11" name="Image 1" descr="FiEye">    </p:cNvPr>
          <p:cNvPicPr>
            <a:picLocks noChangeAspect="1"/>
          </p:cNvPicPr>
          <p:nvPr/>
        </p:nvPicPr>
        <p:blipFill>
          <a:blip r:embed="rId2"/>
          <a:stretch>
            <a:fillRect/>
          </a:stretch>
        </p:blipFill>
        <p:spPr>
          <a:xfrm>
            <a:off x="5006340" y="1303020"/>
            <a:ext cx="228600" cy="228600"/>
          </a:xfrm>
          <a:prstGeom prst="rect">
            <a:avLst/>
          </a:prstGeom>
        </p:spPr>
      </p:pic>
      <p:sp>
        <p:nvSpPr>
          <p:cNvPr id="12" name="Text 7"/>
          <p:cNvSpPr txBox="1"/>
          <p:nvPr/>
        </p:nvSpPr>
        <p:spPr>
          <a:xfrm>
            <a:off x="5486400" y="118872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Che cosa osservare</a:t>
            </a:r>
            <a:endParaRPr lang="en-US" sz="1500" dirty="0"/>
          </a:p>
        </p:txBody>
      </p:sp>
      <p:sp>
        <p:nvSpPr>
          <p:cNvPr id="13" name="Text 8"/>
          <p:cNvSpPr txBox="1"/>
          <p:nvPr/>
        </p:nvSpPr>
        <p:spPr>
          <a:xfrm>
            <a:off x="4892040" y="1783080"/>
            <a:ext cx="3611880" cy="1307592"/>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2"/>
                </a:solidFill>
              </a:rPr>
              <a:t>Cita il capitolo da cui prende la risposta?</a:t>
            </a:r>
            <a:endParaRPr lang="en-US" sz="1300" dirty="0"/>
          </a:p>
          <a:p>
            <a:pPr marL="177800" indent="-177800">
              <a:spcAft>
                <a:spcPts val="300"/>
              </a:spcAft>
              <a:buSzPct val="100000"/>
              <a:buChar char="•"/>
            </a:pPr>
            <a:r>
              <a:rPr lang="en-US" sz="1300" dirty="0">
                <a:solidFill>
                  <a:schemeClr val="tx2"/>
                </a:solidFill>
              </a:rPr>
              <a:t>Dice "non è nel manuale" o inventa?</a:t>
            </a:r>
            <a:endParaRPr lang="en-US" sz="1300" dirty="0"/>
          </a:p>
          <a:p>
            <a:pPr marL="177800" indent="-177800">
              <a:spcAft>
                <a:spcPts val="300"/>
              </a:spcAft>
              <a:buSzPct val="100000"/>
              <a:buChar char="•"/>
            </a:pPr>
            <a:r>
              <a:rPr lang="en-US" sz="1300" dirty="0">
                <a:solidFill>
                  <a:schemeClr val="tx2"/>
                </a:solidFill>
              </a:rPr>
              <a:t>Nota gli errori del documento?</a:t>
            </a:r>
            <a:endParaRPr lang="en-US" sz="1300" dirty="0"/>
          </a:p>
          <a:p>
            <a:pPr marL="177800" indent="-177800">
              <a:spcAft>
                <a:spcPts val="300"/>
              </a:spcAft>
              <a:buSzPct val="100000"/>
              <a:buChar char="•"/>
            </a:pPr>
            <a:r>
              <a:rPr lang="en-US" sz="1300" dirty="0">
                <a:solidFill>
                  <a:schemeClr val="tx2"/>
                </a:solidFill>
              </a:rPr>
              <a:t>Sulla sicurezza: si confronta con il manuale approvato</a:t>
            </a:r>
            <a:endParaRPr lang="en-US" sz="1300" dirty="0"/>
          </a:p>
        </p:txBody>
      </p:sp>
      <p:sp>
        <p:nvSpPr>
          <p:cNvPr id="14" name="riquadro I VOSTRI SPRECHI COLLEGATI"/>
          <p:cNvSpPr/>
          <p:nvPr/>
        </p:nvSpPr>
        <p:spPr>
          <a:xfrm>
            <a:off x="457200" y="3337560"/>
            <a:ext cx="8229600" cy="914400"/>
          </a:xfrm>
          <a:prstGeom prst="roundRect">
            <a:avLst>
              <a:gd name="adj" fmla="val 8000"/>
            </a:avLst>
          </a:prstGeom>
          <a:solidFill>
            <a:schemeClr val="bg2"/>
          </a:solidFill>
          <a:ln/>
        </p:spPr>
      </p:sp>
      <p:sp>
        <p:nvSpPr>
          <p:cNvPr id="15" name="barra"/>
          <p:cNvSpPr/>
          <p:nvPr/>
        </p:nvSpPr>
        <p:spPr>
          <a:xfrm>
            <a:off x="457200" y="3447288"/>
            <a:ext cx="54864" cy="694944"/>
          </a:xfrm>
          <a:prstGeom prst="rect">
            <a:avLst/>
          </a:prstGeom>
          <a:solidFill>
            <a:schemeClr val="accent1"/>
          </a:solidFill>
          <a:ln/>
        </p:spPr>
      </p:sp>
      <p:sp>
        <p:nvSpPr>
          <p:cNvPr id="16" name="Text 11"/>
          <p:cNvSpPr txBox="1"/>
          <p:nvPr/>
        </p:nvSpPr>
        <p:spPr>
          <a:xfrm>
            <a:off x="658368" y="342900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I VOSTRI SPRECHI COLLEGATI</a:t>
            </a:r>
            <a:endParaRPr lang="en-US" sz="1100" dirty="0"/>
          </a:p>
        </p:txBody>
      </p:sp>
      <p:sp>
        <p:nvSpPr>
          <p:cNvPr id="17" name="Text 12"/>
          <p:cNvSpPr txBox="1"/>
          <p:nvPr/>
        </p:nvSpPr>
        <p:spPr>
          <a:xfrm>
            <a:off x="658368" y="3721608"/>
            <a:ext cx="7863840" cy="438912"/>
          </a:xfrm>
          <a:prstGeom prst="rect">
            <a:avLst/>
          </a:prstGeom>
          <a:noFill/>
          <a:ln/>
        </p:spPr>
        <p:txBody>
          <a:bodyPr wrap="square" lIns="0" tIns="0" rIns="0" bIns="0" rtlCol="0" anchor="t"/>
          <a:lstStyle/>
          <a:p>
            <a:pPr indent="0" marL="0">
              <a:buNone/>
            </a:pPr>
            <a:r>
              <a:rPr lang="en-US" sz="1200" dirty="0">
                <a:solidFill>
                  <a:schemeClr val="tx1"/>
                </a:solidFill>
              </a:rPr>
              <a:t>A · Informazioni disperse: recuperare informazioni tra reparti (Amministrazione), cercare tra le tavole (Tecnico), domande dei colleghi sulle procedure (Tecnico), informazioni per rispondere al cliente (Service).</a:t>
            </a:r>
            <a:endParaRPr lang="en-US" sz="1200" dirty="0"/>
          </a:p>
        </p:txBody>
      </p:sp>
      <p:sp>
        <p:nvSpPr>
          <p:cNvPr id="18" name="Text 13"/>
          <p:cNvSpPr txBox="1"/>
          <p:nvPr/>
        </p:nvSpPr>
        <p:spPr>
          <a:xfrm>
            <a:off x="457200" y="4343400"/>
            <a:ext cx="8229600" cy="256032"/>
          </a:xfrm>
          <a:prstGeom prst="rect">
            <a:avLst/>
          </a:prstGeom>
          <a:noFill/>
          <a:ln/>
        </p:spPr>
        <p:txBody>
          <a:bodyPr wrap="square" lIns="0" tIns="0" rIns="0" bIns="0" rtlCol="0" anchor="t"/>
          <a:lstStyle/>
          <a:p>
            <a:pPr indent="0" marL="0">
              <a:buNone/>
            </a:pPr>
            <a:r>
              <a:rPr lang="en-US" sz="1000" i="1" dirty="0">
                <a:solidFill>
                  <a:schemeClr val="accent2"/>
                </a:solidFill>
              </a:rPr>
              <a:t>Materiale fittizio: Forni Demo S.r.l., forno TF-900 Demo</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recupero, in sintesi</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1  Domanda"/>
          <p:cNvSpPr/>
          <p:nvPr/>
        </p:nvSpPr>
        <p:spPr>
          <a:xfrm>
            <a:off x="457200" y="1051560"/>
            <a:ext cx="1920240" cy="2011680"/>
          </a:xfrm>
          <a:prstGeom prst="roundRect">
            <a:avLst>
              <a:gd name="adj" fmla="val 3810"/>
            </a:avLst>
          </a:prstGeom>
          <a:solidFill>
            <a:schemeClr val="bg2"/>
          </a:solidFill>
          <a:ln/>
        </p:spPr>
      </p:sp>
      <p:sp>
        <p:nvSpPr>
          <p:cNvPr id="15" name="cerchio FiHelpCircle"/>
          <p:cNvSpPr/>
          <p:nvPr/>
        </p:nvSpPr>
        <p:spPr>
          <a:xfrm>
            <a:off x="1115568" y="1143000"/>
            <a:ext cx="603504" cy="603504"/>
          </a:xfrm>
          <a:prstGeom prst="ellipse">
            <a:avLst/>
          </a:prstGeom>
          <a:solidFill>
            <a:schemeClr val="accent1"/>
          </a:solidFill>
          <a:ln/>
        </p:spPr>
      </p:sp>
      <p:pic>
        <p:nvPicPr>
          <p:cNvPr id="16" name="Image 0" descr="FiHelpCircle">    </p:cNvPr>
          <p:cNvPicPr>
            <a:picLocks noChangeAspect="1"/>
          </p:cNvPicPr>
          <p:nvPr/>
        </p:nvPicPr>
        <p:blipFill>
          <a:blip r:embed="rId1"/>
          <a:stretch>
            <a:fillRect/>
          </a:stretch>
        </p:blipFill>
        <p:spPr>
          <a:xfrm>
            <a:off x="1266444" y="1293876"/>
            <a:ext cx="301752" cy="301752"/>
          </a:xfrm>
          <a:prstGeom prst="rect">
            <a:avLst/>
          </a:prstGeom>
        </p:spPr>
      </p:pic>
      <p:sp>
        <p:nvSpPr>
          <p:cNvPr id="17" name="Text 13"/>
          <p:cNvSpPr txBox="1"/>
          <p:nvPr/>
        </p:nvSpPr>
        <p:spPr>
          <a:xfrm>
            <a:off x="548640" y="1828800"/>
            <a:ext cx="1737360" cy="347472"/>
          </a:xfrm>
          <a:prstGeom prst="rect">
            <a:avLst/>
          </a:prstGeom>
          <a:noFill/>
          <a:ln/>
        </p:spPr>
        <p:txBody>
          <a:bodyPr wrap="square" lIns="0" tIns="0" rIns="0" bIns="0" rtlCol="0" anchor="t"/>
          <a:lstStyle/>
          <a:p>
            <a:pPr algn="ctr" indent="0" marL="0">
              <a:buNone/>
            </a:pPr>
            <a:r>
              <a:rPr lang="en-US" sz="1400" b="1" dirty="0">
                <a:solidFill>
                  <a:schemeClr val="tx1"/>
                </a:solidFill>
              </a:rPr>
              <a:t>1  Domanda</a:t>
            </a:r>
            <a:endParaRPr lang="en-US" sz="1400" dirty="0"/>
          </a:p>
        </p:txBody>
      </p:sp>
      <p:sp>
        <p:nvSpPr>
          <p:cNvPr id="18" name="Text 14"/>
          <p:cNvSpPr txBox="1"/>
          <p:nvPr/>
        </p:nvSpPr>
        <p:spPr>
          <a:xfrm>
            <a:off x="566928" y="2194560"/>
            <a:ext cx="1700784" cy="777240"/>
          </a:xfrm>
          <a:prstGeom prst="rect">
            <a:avLst/>
          </a:prstGeom>
          <a:noFill/>
          <a:ln/>
        </p:spPr>
        <p:txBody>
          <a:bodyPr wrap="square" lIns="0" tIns="0" rIns="0" bIns="0" rtlCol="0" anchor="t"/>
          <a:lstStyle/>
          <a:p>
            <a:pPr algn="ctr" indent="0" marL="0">
              <a:buNone/>
            </a:pPr>
            <a:r>
              <a:rPr lang="en-US" sz="1100" dirty="0">
                <a:solidFill>
                  <a:schemeClr val="tx2"/>
                </a:solidFill>
              </a:rPr>
              <a:t>L'utente chiede</a:t>
            </a:r>
            <a:endParaRPr lang="en-US" sz="1100" dirty="0"/>
          </a:p>
        </p:txBody>
      </p:sp>
      <p:sp>
        <p:nvSpPr>
          <p:cNvPr id="19" name="freccia"/>
          <p:cNvSpPr/>
          <p:nvPr/>
        </p:nvSpPr>
        <p:spPr>
          <a:xfrm>
            <a:off x="2386584" y="1965960"/>
            <a:ext cx="155448" cy="292608"/>
          </a:xfrm>
          <a:prstGeom prst="rightArrow">
            <a:avLst/>
          </a:prstGeom>
          <a:solidFill>
            <a:schemeClr val="accent2"/>
          </a:solidFill>
          <a:ln/>
        </p:spPr>
      </p:sp>
      <p:sp>
        <p:nvSpPr>
          <p:cNvPr id="20" name="2  Recupero"/>
          <p:cNvSpPr/>
          <p:nvPr/>
        </p:nvSpPr>
        <p:spPr>
          <a:xfrm>
            <a:off x="2560320" y="1051560"/>
            <a:ext cx="1920240" cy="2011680"/>
          </a:xfrm>
          <a:prstGeom prst="roundRect">
            <a:avLst>
              <a:gd name="adj" fmla="val 3810"/>
            </a:avLst>
          </a:prstGeom>
          <a:solidFill>
            <a:schemeClr val="accent6"/>
          </a:solidFill>
          <a:ln/>
        </p:spPr>
      </p:sp>
      <p:sp>
        <p:nvSpPr>
          <p:cNvPr id="21" name="cerchio FiSearch"/>
          <p:cNvSpPr/>
          <p:nvPr/>
        </p:nvSpPr>
        <p:spPr>
          <a:xfrm>
            <a:off x="3218688" y="1143000"/>
            <a:ext cx="603504" cy="603504"/>
          </a:xfrm>
          <a:prstGeom prst="ellipse">
            <a:avLst/>
          </a:prstGeom>
          <a:solidFill>
            <a:schemeClr val="accent1"/>
          </a:solidFill>
          <a:ln/>
        </p:spPr>
      </p:sp>
      <p:pic>
        <p:nvPicPr>
          <p:cNvPr id="22" name="Image 1" descr="FiSearch">    </p:cNvPr>
          <p:cNvPicPr>
            <a:picLocks noChangeAspect="1"/>
          </p:cNvPicPr>
          <p:nvPr/>
        </p:nvPicPr>
        <p:blipFill>
          <a:blip r:embed="rId2"/>
          <a:stretch>
            <a:fillRect/>
          </a:stretch>
        </p:blipFill>
        <p:spPr>
          <a:xfrm>
            <a:off x="3369564" y="1293876"/>
            <a:ext cx="301752" cy="301752"/>
          </a:xfrm>
          <a:prstGeom prst="rect">
            <a:avLst/>
          </a:prstGeom>
        </p:spPr>
      </p:pic>
      <p:sp>
        <p:nvSpPr>
          <p:cNvPr id="23" name="Text 18"/>
          <p:cNvSpPr txBox="1"/>
          <p:nvPr/>
        </p:nvSpPr>
        <p:spPr>
          <a:xfrm>
            <a:off x="2651760" y="1828800"/>
            <a:ext cx="1737360" cy="347472"/>
          </a:xfrm>
          <a:prstGeom prst="rect">
            <a:avLst/>
          </a:prstGeom>
          <a:noFill/>
          <a:ln/>
        </p:spPr>
        <p:txBody>
          <a:bodyPr wrap="square" lIns="0" tIns="0" rIns="0" bIns="0" rtlCol="0" anchor="t"/>
          <a:lstStyle/>
          <a:p>
            <a:pPr algn="ctr" indent="0" marL="0">
              <a:buNone/>
            </a:pPr>
            <a:r>
              <a:rPr lang="en-US" sz="1400" b="1" dirty="0">
                <a:solidFill>
                  <a:schemeClr val="tx1"/>
                </a:solidFill>
              </a:rPr>
              <a:t>2  Recupero</a:t>
            </a:r>
            <a:endParaRPr lang="en-US" sz="1400" dirty="0"/>
          </a:p>
        </p:txBody>
      </p:sp>
      <p:sp>
        <p:nvSpPr>
          <p:cNvPr id="24" name="Text 19"/>
          <p:cNvSpPr txBox="1"/>
          <p:nvPr/>
        </p:nvSpPr>
        <p:spPr>
          <a:xfrm>
            <a:off x="2670048" y="2194560"/>
            <a:ext cx="1700784" cy="777240"/>
          </a:xfrm>
          <a:prstGeom prst="rect">
            <a:avLst/>
          </a:prstGeom>
          <a:noFill/>
          <a:ln/>
        </p:spPr>
        <p:txBody>
          <a:bodyPr wrap="square" lIns="0" tIns="0" rIns="0" bIns="0" rtlCol="0" anchor="t"/>
          <a:lstStyle/>
          <a:p>
            <a:pPr algn="ctr" indent="0" marL="0">
              <a:buNone/>
            </a:pPr>
            <a:r>
              <a:rPr lang="en-US" sz="1100" dirty="0">
                <a:solidFill>
                  <a:schemeClr val="tx2"/>
                </a:solidFill>
              </a:rPr>
              <a:t>Il sistema cerca i brani pertinenti nella raccolta</a:t>
            </a:r>
            <a:endParaRPr lang="en-US" sz="1100" dirty="0"/>
          </a:p>
        </p:txBody>
      </p:sp>
      <p:sp>
        <p:nvSpPr>
          <p:cNvPr id="25" name="freccia"/>
          <p:cNvSpPr/>
          <p:nvPr/>
        </p:nvSpPr>
        <p:spPr>
          <a:xfrm>
            <a:off x="4489704" y="1965960"/>
            <a:ext cx="155448" cy="292608"/>
          </a:xfrm>
          <a:prstGeom prst="rightArrow">
            <a:avLst/>
          </a:prstGeom>
          <a:solidFill>
            <a:schemeClr val="accent2"/>
          </a:solidFill>
          <a:ln/>
        </p:spPr>
      </p:sp>
      <p:sp>
        <p:nvSpPr>
          <p:cNvPr id="26" name="3  Aumento"/>
          <p:cNvSpPr/>
          <p:nvPr/>
        </p:nvSpPr>
        <p:spPr>
          <a:xfrm>
            <a:off x="4663440" y="1051560"/>
            <a:ext cx="1920240" cy="2011680"/>
          </a:xfrm>
          <a:prstGeom prst="roundRect">
            <a:avLst>
              <a:gd name="adj" fmla="val 3810"/>
            </a:avLst>
          </a:prstGeom>
          <a:solidFill>
            <a:schemeClr val="bg2"/>
          </a:solidFill>
          <a:ln/>
        </p:spPr>
      </p:sp>
      <p:sp>
        <p:nvSpPr>
          <p:cNvPr id="27" name="cerchio FiPlusSquare"/>
          <p:cNvSpPr/>
          <p:nvPr/>
        </p:nvSpPr>
        <p:spPr>
          <a:xfrm>
            <a:off x="5321808" y="1143000"/>
            <a:ext cx="603504" cy="603504"/>
          </a:xfrm>
          <a:prstGeom prst="ellipse">
            <a:avLst/>
          </a:prstGeom>
          <a:solidFill>
            <a:schemeClr val="accent1"/>
          </a:solidFill>
          <a:ln/>
        </p:spPr>
      </p:sp>
      <p:pic>
        <p:nvPicPr>
          <p:cNvPr id="28" name="Image 2" descr="FiPlusSquare">    </p:cNvPr>
          <p:cNvPicPr>
            <a:picLocks noChangeAspect="1"/>
          </p:cNvPicPr>
          <p:nvPr/>
        </p:nvPicPr>
        <p:blipFill>
          <a:blip r:embed="rId3"/>
          <a:stretch>
            <a:fillRect/>
          </a:stretch>
        </p:blipFill>
        <p:spPr>
          <a:xfrm>
            <a:off x="5472684" y="1293876"/>
            <a:ext cx="301752" cy="301752"/>
          </a:xfrm>
          <a:prstGeom prst="rect">
            <a:avLst/>
          </a:prstGeom>
        </p:spPr>
      </p:pic>
      <p:sp>
        <p:nvSpPr>
          <p:cNvPr id="29" name="Text 23"/>
          <p:cNvSpPr txBox="1"/>
          <p:nvPr/>
        </p:nvSpPr>
        <p:spPr>
          <a:xfrm>
            <a:off x="4754880" y="1828800"/>
            <a:ext cx="1737360" cy="347472"/>
          </a:xfrm>
          <a:prstGeom prst="rect">
            <a:avLst/>
          </a:prstGeom>
          <a:noFill/>
          <a:ln/>
        </p:spPr>
        <p:txBody>
          <a:bodyPr wrap="square" lIns="0" tIns="0" rIns="0" bIns="0" rtlCol="0" anchor="t"/>
          <a:lstStyle/>
          <a:p>
            <a:pPr algn="ctr" indent="0" marL="0">
              <a:buNone/>
            </a:pPr>
            <a:r>
              <a:rPr lang="en-US" sz="1400" b="1" dirty="0">
                <a:solidFill>
                  <a:schemeClr val="tx1"/>
                </a:solidFill>
              </a:rPr>
              <a:t>3  Aumento</a:t>
            </a:r>
            <a:endParaRPr lang="en-US" sz="1400" dirty="0"/>
          </a:p>
        </p:txBody>
      </p:sp>
      <p:sp>
        <p:nvSpPr>
          <p:cNvPr id="30" name="Text 24"/>
          <p:cNvSpPr txBox="1"/>
          <p:nvPr/>
        </p:nvSpPr>
        <p:spPr>
          <a:xfrm>
            <a:off x="4773168" y="2194560"/>
            <a:ext cx="1700784" cy="777240"/>
          </a:xfrm>
          <a:prstGeom prst="rect">
            <a:avLst/>
          </a:prstGeom>
          <a:noFill/>
          <a:ln/>
        </p:spPr>
        <p:txBody>
          <a:bodyPr wrap="square" lIns="0" tIns="0" rIns="0" bIns="0" rtlCol="0" anchor="t"/>
          <a:lstStyle/>
          <a:p>
            <a:pPr algn="ctr" indent="0" marL="0">
              <a:buNone/>
            </a:pPr>
            <a:r>
              <a:rPr lang="en-US" sz="1100" dirty="0">
                <a:solidFill>
                  <a:schemeClr val="tx2"/>
                </a:solidFill>
              </a:rPr>
              <a:t>Brani e domanda insieme, nelle istruzioni al modello</a:t>
            </a:r>
            <a:endParaRPr lang="en-US" sz="1100" dirty="0"/>
          </a:p>
        </p:txBody>
      </p:sp>
      <p:sp>
        <p:nvSpPr>
          <p:cNvPr id="31" name="freccia"/>
          <p:cNvSpPr/>
          <p:nvPr/>
        </p:nvSpPr>
        <p:spPr>
          <a:xfrm>
            <a:off x="6592824" y="1965960"/>
            <a:ext cx="155448" cy="292608"/>
          </a:xfrm>
          <a:prstGeom prst="rightArrow">
            <a:avLst/>
          </a:prstGeom>
          <a:solidFill>
            <a:schemeClr val="accent2"/>
          </a:solidFill>
          <a:ln/>
        </p:spPr>
      </p:sp>
      <p:sp>
        <p:nvSpPr>
          <p:cNvPr id="32" name="4  Generazione"/>
          <p:cNvSpPr/>
          <p:nvPr/>
        </p:nvSpPr>
        <p:spPr>
          <a:xfrm>
            <a:off x="6766560" y="1051560"/>
            <a:ext cx="1920240" cy="2011680"/>
          </a:xfrm>
          <a:prstGeom prst="roundRect">
            <a:avLst>
              <a:gd name="adj" fmla="val 3810"/>
            </a:avLst>
          </a:prstGeom>
          <a:solidFill>
            <a:schemeClr val="accent6"/>
          </a:solidFill>
          <a:ln/>
        </p:spPr>
      </p:sp>
      <p:sp>
        <p:nvSpPr>
          <p:cNvPr id="33" name="cerchio FiEdit3"/>
          <p:cNvSpPr/>
          <p:nvPr/>
        </p:nvSpPr>
        <p:spPr>
          <a:xfrm>
            <a:off x="7424928" y="1143000"/>
            <a:ext cx="603504" cy="603504"/>
          </a:xfrm>
          <a:prstGeom prst="ellipse">
            <a:avLst/>
          </a:prstGeom>
          <a:solidFill>
            <a:schemeClr val="accent1"/>
          </a:solidFill>
          <a:ln/>
        </p:spPr>
      </p:sp>
      <p:pic>
        <p:nvPicPr>
          <p:cNvPr id="34" name="Image 3" descr="FiEdit3">    </p:cNvPr>
          <p:cNvPicPr>
            <a:picLocks noChangeAspect="1"/>
          </p:cNvPicPr>
          <p:nvPr/>
        </p:nvPicPr>
        <p:blipFill>
          <a:blip r:embed="rId4"/>
          <a:stretch>
            <a:fillRect/>
          </a:stretch>
        </p:blipFill>
        <p:spPr>
          <a:xfrm>
            <a:off x="7575804" y="1293876"/>
            <a:ext cx="301752" cy="301752"/>
          </a:xfrm>
          <a:prstGeom prst="rect">
            <a:avLst/>
          </a:prstGeom>
        </p:spPr>
      </p:pic>
      <p:sp>
        <p:nvSpPr>
          <p:cNvPr id="35" name="Text 28"/>
          <p:cNvSpPr txBox="1"/>
          <p:nvPr/>
        </p:nvSpPr>
        <p:spPr>
          <a:xfrm>
            <a:off x="6858000" y="1828800"/>
            <a:ext cx="1737360" cy="347472"/>
          </a:xfrm>
          <a:prstGeom prst="rect">
            <a:avLst/>
          </a:prstGeom>
          <a:noFill/>
          <a:ln/>
        </p:spPr>
        <p:txBody>
          <a:bodyPr wrap="square" lIns="0" tIns="0" rIns="0" bIns="0" rtlCol="0" anchor="t"/>
          <a:lstStyle/>
          <a:p>
            <a:pPr algn="ctr" indent="0" marL="0">
              <a:buNone/>
            </a:pPr>
            <a:r>
              <a:rPr lang="en-US" sz="1400" b="1" dirty="0">
                <a:solidFill>
                  <a:schemeClr val="tx1"/>
                </a:solidFill>
              </a:rPr>
              <a:t>4  Generazione</a:t>
            </a:r>
            <a:endParaRPr lang="en-US" sz="1400" dirty="0"/>
          </a:p>
        </p:txBody>
      </p:sp>
      <p:sp>
        <p:nvSpPr>
          <p:cNvPr id="36" name="Text 29"/>
          <p:cNvSpPr txBox="1"/>
          <p:nvPr/>
        </p:nvSpPr>
        <p:spPr>
          <a:xfrm>
            <a:off x="6876288" y="2194560"/>
            <a:ext cx="1700784" cy="777240"/>
          </a:xfrm>
          <a:prstGeom prst="rect">
            <a:avLst/>
          </a:prstGeom>
          <a:noFill/>
          <a:ln/>
        </p:spPr>
        <p:txBody>
          <a:bodyPr wrap="square" lIns="0" tIns="0" rIns="0" bIns="0" rtlCol="0" anchor="t"/>
          <a:lstStyle/>
          <a:p>
            <a:pPr algn="ctr" indent="0" marL="0">
              <a:buNone/>
            </a:pPr>
            <a:r>
              <a:rPr lang="en-US" sz="1100" dirty="0">
                <a:solidFill>
                  <a:schemeClr val="tx2"/>
                </a:solidFill>
              </a:rPr>
              <a:t>Il modello risponde, idealmente citando le fonti</a:t>
            </a:r>
            <a:endParaRPr lang="en-US" sz="1100" dirty="0"/>
          </a:p>
        </p:txBody>
      </p:sp>
      <p:sp>
        <p:nvSpPr>
          <p:cNvPr id="37" name="nota tecnica"/>
          <p:cNvSpPr/>
          <p:nvPr/>
        </p:nvSpPr>
        <p:spPr>
          <a:xfrm>
            <a:off x="457200" y="3200400"/>
            <a:ext cx="8229600" cy="548640"/>
          </a:xfrm>
          <a:prstGeom prst="roundRect">
            <a:avLst>
              <a:gd name="adj" fmla="val 13333"/>
            </a:avLst>
          </a:prstGeom>
          <a:solidFill>
            <a:schemeClr val="bg2"/>
          </a:solidFill>
          <a:ln/>
        </p:spPr>
      </p:sp>
      <p:sp>
        <p:nvSpPr>
          <p:cNvPr id="38" name="Text 31"/>
          <p:cNvSpPr txBox="1"/>
          <p:nvPr/>
        </p:nvSpPr>
        <p:spPr>
          <a:xfrm>
            <a:off x="640080" y="3200400"/>
            <a:ext cx="7863840" cy="548640"/>
          </a:xfrm>
          <a:prstGeom prst="rect">
            <a:avLst/>
          </a:prstGeom>
          <a:noFill/>
          <a:ln/>
        </p:spPr>
        <p:txBody>
          <a:bodyPr wrap="square" lIns="0" tIns="0" rIns="0" bIns="0" rtlCol="0" anchor="ctr"/>
          <a:lstStyle/>
          <a:p>
            <a:pPr indent="0" marL="0">
              <a:buNone/>
            </a:pPr>
            <a:r>
              <a:rPr lang="en-US" sz="1200" b="1" dirty="0">
                <a:solidFill>
                  <a:schemeClr val="accent1"/>
                </a:solidFill>
              </a:rPr>
              <a:t>Solo un accenno: </a:t>
            </a:r>
            <a:pPr indent="0" marL="0">
              <a:buNone/>
            </a:pPr>
            <a:r>
              <a:rPr lang="en-US" sz="1200" dirty="0">
                <a:solidFill>
                  <a:schemeClr val="tx1"/>
                </a:solidFill>
              </a:rPr>
              <a:t>indici e database vettoriali trovano i brani per somiglianza di significato (Lewis et al., 2020).</a:t>
            </a:r>
            <a:endParaRPr lang="en-US" sz="1200" dirty="0"/>
          </a:p>
        </p:txBody>
      </p:sp>
      <p:sp>
        <p:nvSpPr>
          <p:cNvPr id="39" name="messaggio"/>
          <p:cNvSpPr/>
          <p:nvPr/>
        </p:nvSpPr>
        <p:spPr>
          <a:xfrm>
            <a:off x="457200" y="3886200"/>
            <a:ext cx="8229600" cy="594360"/>
          </a:xfrm>
          <a:prstGeom prst="roundRect">
            <a:avLst>
              <a:gd name="adj" fmla="val 12308"/>
            </a:avLst>
          </a:prstGeom>
          <a:solidFill>
            <a:schemeClr val="tx1"/>
          </a:solidFill>
          <a:ln/>
        </p:spPr>
      </p:sp>
      <p:sp>
        <p:nvSpPr>
          <p:cNvPr id="40" name="Text 33"/>
          <p:cNvSpPr txBox="1"/>
          <p:nvPr/>
        </p:nvSpPr>
        <p:spPr>
          <a:xfrm>
            <a:off x="640080" y="3886200"/>
            <a:ext cx="7863840" cy="594360"/>
          </a:xfrm>
          <a:prstGeom prst="rect">
            <a:avLst/>
          </a:prstGeom>
          <a:noFill/>
          <a:ln/>
        </p:spPr>
        <p:txBody>
          <a:bodyPr wrap="square" lIns="0" tIns="0" rIns="0" bIns="0" rtlCol="0" anchor="ctr"/>
          <a:lstStyle/>
          <a:p>
            <a:pPr indent="0" marL="0">
              <a:buNone/>
            </a:pPr>
            <a:r>
              <a:rPr lang="en-US" sz="1500" dirty="0">
                <a:solidFill>
                  <a:schemeClr val="bg1"/>
                </a:solidFill>
              </a:rPr>
              <a:t>Due fasi distinte, recupero e generazione. Ciascuna può sbagliare.</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36</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Tracciabilità: risalire alle fonti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documento Sintesi con riferimenti (esempio fittizio)"/>
          <p:cNvSpPr/>
          <p:nvPr/>
        </p:nvSpPr>
        <p:spPr>
          <a:xfrm>
            <a:off x="457200" y="1051560"/>
            <a:ext cx="5120640" cy="2651760"/>
          </a:xfrm>
          <a:prstGeom prst="roundRect">
            <a:avLst>
              <a:gd name="adj" fmla="val 2759"/>
            </a:avLst>
          </a:prstGeom>
          <a:solidFill>
            <a:schemeClr val="bg2"/>
          </a:solidFill>
          <a:ln/>
        </p:spPr>
      </p:sp>
      <p:sp>
        <p:nvSpPr>
          <p:cNvPr id="13" name="barra"/>
          <p:cNvSpPr/>
          <p:nvPr/>
        </p:nvSpPr>
        <p:spPr>
          <a:xfrm>
            <a:off x="457200" y="1161288"/>
            <a:ext cx="54864" cy="2432304"/>
          </a:xfrm>
          <a:prstGeom prst="rect">
            <a:avLst/>
          </a:prstGeom>
          <a:solidFill>
            <a:schemeClr val="accent1"/>
          </a:solidFill>
          <a:ln/>
        </p:spPr>
      </p:sp>
      <p:sp>
        <p:nvSpPr>
          <p:cNvPr id="14" name="Text 11"/>
          <p:cNvSpPr txBox="1"/>
          <p:nvPr/>
        </p:nvSpPr>
        <p:spPr>
          <a:xfrm>
            <a:off x="658368" y="1143000"/>
            <a:ext cx="4754880" cy="256032"/>
          </a:xfrm>
          <a:prstGeom prst="rect">
            <a:avLst/>
          </a:prstGeom>
          <a:noFill/>
          <a:ln/>
        </p:spPr>
        <p:txBody>
          <a:bodyPr wrap="square" lIns="0" tIns="0" rIns="0" bIns="0" rtlCol="0" anchor="t"/>
          <a:lstStyle/>
          <a:p>
            <a:pPr indent="0" marL="0">
              <a:buNone/>
            </a:pPr>
            <a:r>
              <a:rPr lang="en-US" sz="1100" b="1" dirty="0">
                <a:solidFill>
                  <a:schemeClr val="accent1"/>
                </a:solidFill>
              </a:rPr>
              <a:t>Sintesi con riferimenti (esempio fittizio)</a:t>
            </a:r>
            <a:endParaRPr lang="en-US" sz="1100" dirty="0"/>
          </a:p>
        </p:txBody>
      </p:sp>
      <p:sp>
        <p:nvSpPr>
          <p:cNvPr id="15" name="Text 12"/>
          <p:cNvSpPr txBox="1"/>
          <p:nvPr/>
        </p:nvSpPr>
        <p:spPr>
          <a:xfrm>
            <a:off x="658368" y="1435608"/>
            <a:ext cx="4754880" cy="2176272"/>
          </a:xfrm>
          <a:prstGeom prst="rect">
            <a:avLst/>
          </a:prstGeom>
          <a:noFill/>
          <a:ln/>
        </p:spPr>
        <p:txBody>
          <a:bodyPr wrap="square" lIns="0" tIns="0" rIns="0" bIns="0" rtlCol="0" anchor="t"/>
          <a:lstStyle/>
          <a:p>
            <a:pPr indent="0" marL="0">
              <a:buNone/>
            </a:pPr>
            <a:endParaRPr lang="en-US" sz="1200" dirty="0"/>
          </a:p>
        </p:txBody>
      </p:sp>
      <p:sp>
        <p:nvSpPr>
          <p:cNvPr id="16" name="Text 13"/>
          <p:cNvSpPr txBox="1"/>
          <p:nvPr/>
        </p:nvSpPr>
        <p:spPr>
          <a:xfrm>
            <a:off x="685800" y="1481328"/>
            <a:ext cx="3429000" cy="438912"/>
          </a:xfrm>
          <a:prstGeom prst="rect">
            <a:avLst/>
          </a:prstGeom>
          <a:noFill/>
          <a:ln/>
        </p:spPr>
        <p:txBody>
          <a:bodyPr wrap="square" lIns="0" tIns="0" rIns="0" bIns="0" rtlCol="0" anchor="ctr"/>
          <a:lstStyle/>
          <a:p>
            <a:pPr indent="0" marL="0">
              <a:buNone/>
            </a:pPr>
            <a:r>
              <a:rPr lang="en-US" sz="1200" dirty="0">
                <a:solidFill>
                  <a:schemeClr val="tx1"/>
                </a:solidFill>
              </a:rPr>
              <a:t>Durata: tre anni, rinnovo tacito annuale</a:t>
            </a:r>
            <a:endParaRPr lang="en-US" sz="1200" dirty="0"/>
          </a:p>
        </p:txBody>
      </p:sp>
      <p:sp>
        <p:nvSpPr>
          <p:cNvPr id="17" name="blocco art. 4.1"/>
          <p:cNvSpPr/>
          <p:nvPr/>
        </p:nvSpPr>
        <p:spPr>
          <a:xfrm>
            <a:off x="4160520" y="1536192"/>
            <a:ext cx="1280160" cy="329184"/>
          </a:xfrm>
          <a:prstGeom prst="roundRect">
            <a:avLst>
              <a:gd name="adj" fmla="val 33333"/>
            </a:avLst>
          </a:prstGeom>
          <a:solidFill>
            <a:schemeClr val="accent1"/>
          </a:solidFill>
          <a:ln/>
        </p:spPr>
      </p:sp>
      <p:sp>
        <p:nvSpPr>
          <p:cNvPr id="18" name="Text 15"/>
          <p:cNvSpPr txBox="1"/>
          <p:nvPr/>
        </p:nvSpPr>
        <p:spPr>
          <a:xfrm>
            <a:off x="4206240" y="1536192"/>
            <a:ext cx="1188720" cy="329184"/>
          </a:xfrm>
          <a:prstGeom prst="rect">
            <a:avLst/>
          </a:prstGeom>
          <a:noFill/>
          <a:ln/>
        </p:spPr>
        <p:txBody>
          <a:bodyPr wrap="square" lIns="0" tIns="0" rIns="0" bIns="0" rtlCol="0" anchor="ctr"/>
          <a:lstStyle/>
          <a:p>
            <a:pPr algn="ctr" indent="0" marL="0">
              <a:buNone/>
            </a:pPr>
            <a:r>
              <a:rPr lang="en-US" sz="1000" b="1" dirty="0">
                <a:solidFill>
                  <a:schemeClr val="bg1"/>
                </a:solidFill>
              </a:rPr>
              <a:t>art. 4.1</a:t>
            </a:r>
            <a:endParaRPr lang="en-US" sz="1000" dirty="0"/>
          </a:p>
        </p:txBody>
      </p:sp>
      <p:sp>
        <p:nvSpPr>
          <p:cNvPr id="19" name="Text 16"/>
          <p:cNvSpPr txBox="1"/>
          <p:nvPr/>
        </p:nvSpPr>
        <p:spPr>
          <a:xfrm>
            <a:off x="685800" y="2011680"/>
            <a:ext cx="3429000" cy="438912"/>
          </a:xfrm>
          <a:prstGeom prst="rect">
            <a:avLst/>
          </a:prstGeom>
          <a:noFill/>
          <a:ln/>
        </p:spPr>
        <p:txBody>
          <a:bodyPr wrap="square" lIns="0" tIns="0" rIns="0" bIns="0" rtlCol="0" anchor="ctr"/>
          <a:lstStyle/>
          <a:p>
            <a:pPr indent="0" marL="0">
              <a:buNone/>
            </a:pPr>
            <a:r>
              <a:rPr lang="en-US" sz="1200" dirty="0">
                <a:solidFill>
                  <a:schemeClr val="tx1"/>
                </a:solidFill>
              </a:rPr>
              <a:t>Penale: 2% per settimana di ritardo, massimo 10%</a:t>
            </a:r>
            <a:endParaRPr lang="en-US" sz="1200" dirty="0"/>
          </a:p>
        </p:txBody>
      </p:sp>
      <p:sp>
        <p:nvSpPr>
          <p:cNvPr id="20" name="blocco art. 9.2"/>
          <p:cNvSpPr/>
          <p:nvPr/>
        </p:nvSpPr>
        <p:spPr>
          <a:xfrm>
            <a:off x="4160520" y="2066544"/>
            <a:ext cx="1280160" cy="329184"/>
          </a:xfrm>
          <a:prstGeom prst="roundRect">
            <a:avLst>
              <a:gd name="adj" fmla="val 33333"/>
            </a:avLst>
          </a:prstGeom>
          <a:solidFill>
            <a:schemeClr val="accent1"/>
          </a:solidFill>
          <a:ln/>
        </p:spPr>
      </p:sp>
      <p:sp>
        <p:nvSpPr>
          <p:cNvPr id="21" name="Text 18"/>
          <p:cNvSpPr txBox="1"/>
          <p:nvPr/>
        </p:nvSpPr>
        <p:spPr>
          <a:xfrm>
            <a:off x="4206240" y="2066544"/>
            <a:ext cx="1188720" cy="329184"/>
          </a:xfrm>
          <a:prstGeom prst="rect">
            <a:avLst/>
          </a:prstGeom>
          <a:noFill/>
          <a:ln/>
        </p:spPr>
        <p:txBody>
          <a:bodyPr wrap="square" lIns="0" tIns="0" rIns="0" bIns="0" rtlCol="0" anchor="ctr"/>
          <a:lstStyle/>
          <a:p>
            <a:pPr algn="ctr" indent="0" marL="0">
              <a:buNone/>
            </a:pPr>
            <a:r>
              <a:rPr lang="en-US" sz="1000" b="1" dirty="0">
                <a:solidFill>
                  <a:schemeClr val="bg1"/>
                </a:solidFill>
              </a:rPr>
              <a:t>art. 9.2</a:t>
            </a:r>
            <a:endParaRPr lang="en-US" sz="1000" dirty="0"/>
          </a:p>
        </p:txBody>
      </p:sp>
      <p:sp>
        <p:nvSpPr>
          <p:cNvPr id="22" name="Text 19"/>
          <p:cNvSpPr txBox="1"/>
          <p:nvPr/>
        </p:nvSpPr>
        <p:spPr>
          <a:xfrm>
            <a:off x="685800" y="2542032"/>
            <a:ext cx="3429000" cy="438912"/>
          </a:xfrm>
          <a:prstGeom prst="rect">
            <a:avLst/>
          </a:prstGeom>
          <a:noFill/>
          <a:ln/>
        </p:spPr>
        <p:txBody>
          <a:bodyPr wrap="square" lIns="0" tIns="0" rIns="0" bIns="0" rtlCol="0" anchor="ctr"/>
          <a:lstStyle/>
          <a:p>
            <a:pPr indent="0" marL="0">
              <a:buNone/>
            </a:pPr>
            <a:r>
              <a:rPr lang="en-US" sz="1200" dirty="0">
                <a:solidFill>
                  <a:schemeClr val="tx1"/>
                </a:solidFill>
              </a:rPr>
              <a:t>Recesso: preavviso di 90 giorni</a:t>
            </a:r>
            <a:endParaRPr lang="en-US" sz="1200" dirty="0"/>
          </a:p>
        </p:txBody>
      </p:sp>
      <p:sp>
        <p:nvSpPr>
          <p:cNvPr id="23" name="blocco art. 12.1"/>
          <p:cNvSpPr/>
          <p:nvPr/>
        </p:nvSpPr>
        <p:spPr>
          <a:xfrm>
            <a:off x="4160520" y="2596896"/>
            <a:ext cx="1280160" cy="329184"/>
          </a:xfrm>
          <a:prstGeom prst="roundRect">
            <a:avLst>
              <a:gd name="adj" fmla="val 33333"/>
            </a:avLst>
          </a:prstGeom>
          <a:solidFill>
            <a:schemeClr val="accent1"/>
          </a:solidFill>
          <a:ln/>
        </p:spPr>
      </p:sp>
      <p:sp>
        <p:nvSpPr>
          <p:cNvPr id="24" name="Text 21"/>
          <p:cNvSpPr txBox="1"/>
          <p:nvPr/>
        </p:nvSpPr>
        <p:spPr>
          <a:xfrm>
            <a:off x="4206240" y="2596896"/>
            <a:ext cx="1188720" cy="329184"/>
          </a:xfrm>
          <a:prstGeom prst="rect">
            <a:avLst/>
          </a:prstGeom>
          <a:noFill/>
          <a:ln/>
        </p:spPr>
        <p:txBody>
          <a:bodyPr wrap="square" lIns="0" tIns="0" rIns="0" bIns="0" rtlCol="0" anchor="ctr"/>
          <a:lstStyle/>
          <a:p>
            <a:pPr algn="ctr" indent="0" marL="0">
              <a:buNone/>
            </a:pPr>
            <a:r>
              <a:rPr lang="en-US" sz="1000" b="1" dirty="0">
                <a:solidFill>
                  <a:schemeClr val="bg1"/>
                </a:solidFill>
              </a:rPr>
              <a:t>art. 12.1</a:t>
            </a:r>
            <a:endParaRPr lang="en-US" sz="1000" dirty="0"/>
          </a:p>
        </p:txBody>
      </p:sp>
      <p:sp>
        <p:nvSpPr>
          <p:cNvPr id="25" name="Text 22"/>
          <p:cNvSpPr txBox="1"/>
          <p:nvPr/>
        </p:nvSpPr>
        <p:spPr>
          <a:xfrm>
            <a:off x="685800" y="3072384"/>
            <a:ext cx="3429000" cy="438912"/>
          </a:xfrm>
          <a:prstGeom prst="rect">
            <a:avLst/>
          </a:prstGeom>
          <a:noFill/>
          <a:ln/>
        </p:spPr>
        <p:txBody>
          <a:bodyPr wrap="square" lIns="0" tIns="0" rIns="0" bIns="0" rtlCol="0" anchor="ctr"/>
          <a:lstStyle/>
          <a:p>
            <a:pPr indent="0" marL="0">
              <a:buNone/>
            </a:pPr>
            <a:r>
              <a:rPr lang="en-US" sz="1200" dirty="0">
                <a:solidFill>
                  <a:schemeClr val="tx1"/>
                </a:solidFill>
              </a:rPr>
              <a:t>Esclusiva territoriale per il Nord Italia</a:t>
            </a:r>
            <a:endParaRPr lang="en-US" sz="1200" dirty="0"/>
          </a:p>
        </p:txBody>
      </p:sp>
      <p:sp>
        <p:nvSpPr>
          <p:cNvPr id="26" name="blocco nessun riferimento"/>
          <p:cNvSpPr/>
          <p:nvPr/>
        </p:nvSpPr>
        <p:spPr>
          <a:xfrm>
            <a:off x="4160520" y="3127248"/>
            <a:ext cx="1280160" cy="329184"/>
          </a:xfrm>
          <a:prstGeom prst="roundRect">
            <a:avLst>
              <a:gd name="adj" fmla="val 33333"/>
            </a:avLst>
          </a:prstGeom>
          <a:solidFill>
            <a:schemeClr val="accent5"/>
          </a:solidFill>
          <a:ln/>
        </p:spPr>
      </p:sp>
      <p:sp>
        <p:nvSpPr>
          <p:cNvPr id="27" name="Text 24"/>
          <p:cNvSpPr txBox="1"/>
          <p:nvPr/>
        </p:nvSpPr>
        <p:spPr>
          <a:xfrm>
            <a:off x="4206240" y="3127248"/>
            <a:ext cx="1188720" cy="329184"/>
          </a:xfrm>
          <a:prstGeom prst="rect">
            <a:avLst/>
          </a:prstGeom>
          <a:noFill/>
          <a:ln/>
        </p:spPr>
        <p:txBody>
          <a:bodyPr wrap="square" lIns="0" tIns="0" rIns="0" bIns="0" rtlCol="0" anchor="ctr"/>
          <a:lstStyle/>
          <a:p>
            <a:pPr algn="ctr" indent="0" marL="0">
              <a:buNone/>
            </a:pPr>
            <a:r>
              <a:rPr lang="en-US" sz="1000" b="1" dirty="0">
                <a:solidFill>
                  <a:schemeClr val="bg1"/>
                </a:solidFill>
              </a:rPr>
              <a:t>nessun riferimento</a:t>
            </a:r>
            <a:endParaRPr lang="en-US" sz="1000" dirty="0"/>
          </a:p>
        </p:txBody>
      </p:sp>
      <p:sp>
        <p:nvSpPr>
          <p:cNvPr id="28" name="scheda Perché conta"/>
          <p:cNvSpPr/>
          <p:nvPr/>
        </p:nvSpPr>
        <p:spPr>
          <a:xfrm>
            <a:off x="5806440" y="1051560"/>
            <a:ext cx="2880360" cy="2651760"/>
          </a:xfrm>
          <a:prstGeom prst="roundRect">
            <a:avLst>
              <a:gd name="adj" fmla="val 2759"/>
            </a:avLst>
          </a:prstGeom>
          <a:solidFill>
            <a:schemeClr val="accent6"/>
          </a:solidFill>
          <a:ln/>
        </p:spPr>
      </p:sp>
      <p:sp>
        <p:nvSpPr>
          <p:cNvPr id="29" name="cerchio FiLink"/>
          <p:cNvSpPr/>
          <p:nvPr/>
        </p:nvSpPr>
        <p:spPr>
          <a:xfrm>
            <a:off x="5989320" y="1234440"/>
            <a:ext cx="457200" cy="457200"/>
          </a:xfrm>
          <a:prstGeom prst="ellipse">
            <a:avLst/>
          </a:prstGeom>
          <a:solidFill>
            <a:schemeClr val="accent1"/>
          </a:solidFill>
          <a:ln/>
        </p:spPr>
      </p:sp>
      <p:pic>
        <p:nvPicPr>
          <p:cNvPr id="30" name="Image 0" descr="FiLink">    </p:cNvPr>
          <p:cNvPicPr>
            <a:picLocks noChangeAspect="1"/>
          </p:cNvPicPr>
          <p:nvPr/>
        </p:nvPicPr>
        <p:blipFill>
          <a:blip r:embed="rId1"/>
          <a:stretch>
            <a:fillRect/>
          </a:stretch>
        </p:blipFill>
        <p:spPr>
          <a:xfrm>
            <a:off x="6103620" y="1348740"/>
            <a:ext cx="228600" cy="228600"/>
          </a:xfrm>
          <a:prstGeom prst="rect">
            <a:avLst/>
          </a:prstGeom>
        </p:spPr>
      </p:pic>
      <p:sp>
        <p:nvSpPr>
          <p:cNvPr id="31" name="Text 27"/>
          <p:cNvSpPr txBox="1"/>
          <p:nvPr/>
        </p:nvSpPr>
        <p:spPr>
          <a:xfrm>
            <a:off x="5989320" y="1801368"/>
            <a:ext cx="2514600" cy="347472"/>
          </a:xfrm>
          <a:prstGeom prst="rect">
            <a:avLst/>
          </a:prstGeom>
          <a:noFill/>
          <a:ln/>
        </p:spPr>
        <p:txBody>
          <a:bodyPr wrap="square" lIns="0" tIns="0" rIns="0" bIns="0" rtlCol="0" anchor="t"/>
          <a:lstStyle/>
          <a:p>
            <a:pPr indent="0" marL="0">
              <a:buNone/>
            </a:pPr>
            <a:r>
              <a:rPr lang="en-US" sz="1500" b="1" dirty="0">
                <a:solidFill>
                  <a:schemeClr val="tx1"/>
                </a:solidFill>
              </a:rPr>
              <a:t>Perché conta</a:t>
            </a:r>
            <a:endParaRPr lang="en-US" sz="1500" dirty="0"/>
          </a:p>
        </p:txBody>
      </p:sp>
      <p:sp>
        <p:nvSpPr>
          <p:cNvPr id="32" name="Text 28"/>
          <p:cNvSpPr txBox="1"/>
          <p:nvPr/>
        </p:nvSpPr>
        <p:spPr>
          <a:xfrm>
            <a:off x="5989320" y="2185416"/>
            <a:ext cx="2514600" cy="140817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Verifica in pochi secondi</a:t>
            </a:r>
            <a:endParaRPr lang="en-US" sz="1200" dirty="0"/>
          </a:p>
          <a:p>
            <a:pPr marL="177800" indent="-177800">
              <a:spcAft>
                <a:spcPts val="500"/>
              </a:spcAft>
              <a:buSzPct val="100000"/>
              <a:buChar char="•"/>
            </a:pPr>
            <a:r>
              <a:rPr lang="en-US" sz="1200" dirty="0">
                <a:solidFill>
                  <a:schemeClr val="tx2"/>
                </a:solidFill>
              </a:rPr>
              <a:t>Si vede subito ciò che non ha riferimento</a:t>
            </a:r>
            <a:endParaRPr lang="en-US" sz="1200" dirty="0"/>
          </a:p>
          <a:p>
            <a:pPr marL="177800" indent="-177800">
              <a:spcAft>
                <a:spcPts val="500"/>
              </a:spcAft>
              <a:buSzPct val="100000"/>
              <a:buChar char="•"/>
            </a:pPr>
            <a:r>
              <a:rPr lang="en-US" sz="1200" dirty="0">
                <a:solidFill>
                  <a:schemeClr val="tx2"/>
                </a:solidFill>
              </a:rPr>
              <a:t>Per i punti critici: anche la citazione testuale</a:t>
            </a:r>
            <a:endParaRPr lang="en-US" sz="1200" dirty="0"/>
          </a:p>
        </p:txBody>
      </p:sp>
      <p:sp>
        <p:nvSpPr>
          <p:cNvPr id="33" name="messaggio"/>
          <p:cNvSpPr/>
          <p:nvPr/>
        </p:nvSpPr>
        <p:spPr>
          <a:xfrm>
            <a:off x="457200" y="3886200"/>
            <a:ext cx="8229600" cy="640080"/>
          </a:xfrm>
          <a:prstGeom prst="roundRect">
            <a:avLst>
              <a:gd name="adj" fmla="val 11429"/>
            </a:avLst>
          </a:prstGeom>
          <a:solidFill>
            <a:schemeClr val="tx1"/>
          </a:solidFill>
          <a:ln/>
        </p:spPr>
      </p:sp>
      <p:sp>
        <p:nvSpPr>
          <p:cNvPr id="34" name="Text 30"/>
          <p:cNvSpPr txBox="1"/>
          <p:nvPr/>
        </p:nvSpPr>
        <p:spPr>
          <a:xfrm>
            <a:off x="640080" y="3886200"/>
            <a:ext cx="7863840" cy="640080"/>
          </a:xfrm>
          <a:prstGeom prst="rect">
            <a:avLst/>
          </a:prstGeom>
          <a:noFill/>
          <a:ln/>
        </p:spPr>
        <p:txBody>
          <a:bodyPr wrap="square" lIns="0" tIns="0" rIns="0" bIns="0" rtlCol="0" anchor="ctr"/>
          <a:lstStyle/>
          <a:p>
            <a:pPr indent="0" marL="0">
              <a:buNone/>
            </a:pPr>
            <a:r>
              <a:rPr lang="en-US" sz="1300" dirty="0">
                <a:solidFill>
                  <a:schemeClr val="bg1"/>
                </a:solidFill>
              </a:rPr>
              <a:t>Un punto senza riferimento va trattato con più cautela: può essere un'interpretazione o non essere nel documento.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27</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Demo 2 · Dalla richiesta del cliente alla bozza</a:t>
            </a:r>
            <a:endParaRPr lang="en-US" sz="2600" dirty="0"/>
          </a:p>
        </p:txBody>
      </p:sp>
      <p:sp>
        <p:nvSpPr>
          <p:cNvPr id="4" name="scheda Che cosa facciamo"/>
          <p:cNvSpPr/>
          <p:nvPr/>
        </p:nvSpPr>
        <p:spPr>
          <a:xfrm>
            <a:off x="457200" y="1005840"/>
            <a:ext cx="3977640" cy="2194560"/>
          </a:xfrm>
          <a:prstGeom prst="roundRect">
            <a:avLst>
              <a:gd name="adj" fmla="val 3333"/>
            </a:avLst>
          </a:prstGeom>
          <a:solidFill>
            <a:schemeClr val="bg2"/>
          </a:solidFill>
          <a:ln/>
        </p:spPr>
      </p:sp>
      <p:sp>
        <p:nvSpPr>
          <p:cNvPr id="5" name="cerchio FiPlayCircle"/>
          <p:cNvSpPr/>
          <p:nvPr/>
        </p:nvSpPr>
        <p:spPr>
          <a:xfrm>
            <a:off x="640080" y="1188720"/>
            <a:ext cx="457200" cy="457200"/>
          </a:xfrm>
          <a:prstGeom prst="ellipse">
            <a:avLst/>
          </a:prstGeom>
          <a:solidFill>
            <a:schemeClr val="accent1"/>
          </a:solidFill>
          <a:ln/>
        </p:spPr>
      </p:sp>
      <p:pic>
        <p:nvPicPr>
          <p:cNvPr id="6" name="Image 0" descr="FiPlayCircle">    </p:cNvPr>
          <p:cNvPicPr>
            <a:picLocks noChangeAspect="1"/>
          </p:cNvPicPr>
          <p:nvPr/>
        </p:nvPicPr>
        <p:blipFill>
          <a:blip r:embed="rId1"/>
          <a:stretch>
            <a:fillRect/>
          </a:stretch>
        </p:blipFill>
        <p:spPr>
          <a:xfrm>
            <a:off x="754380" y="1303020"/>
            <a:ext cx="228600" cy="228600"/>
          </a:xfrm>
          <a:prstGeom prst="rect">
            <a:avLst/>
          </a:prstGeom>
        </p:spPr>
      </p:pic>
      <p:sp>
        <p:nvSpPr>
          <p:cNvPr id="7" name="Text 3"/>
          <p:cNvSpPr txBox="1"/>
          <p:nvPr/>
        </p:nvSpPr>
        <p:spPr>
          <a:xfrm>
            <a:off x="1234440" y="118872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Che cosa facciamo</a:t>
            </a:r>
            <a:endParaRPr lang="en-US" sz="1500" dirty="0"/>
          </a:p>
        </p:txBody>
      </p:sp>
      <p:sp>
        <p:nvSpPr>
          <p:cNvPr id="8" name="Text 4"/>
          <p:cNvSpPr txBox="1"/>
          <p:nvPr/>
        </p:nvSpPr>
        <p:spPr>
          <a:xfrm>
            <a:off x="640080" y="1783080"/>
            <a:ext cx="3611880" cy="1307592"/>
          </a:xfrm>
          <a:prstGeom prst="rect">
            <a:avLst/>
          </a:prstGeom>
          <a:noFill/>
          <a:ln/>
        </p:spPr>
        <p:txBody>
          <a:bodyPr wrap="square" lIns="0" tIns="0" rIns="0" bIns="0" rtlCol="0" anchor="t"/>
          <a:lstStyle/>
          <a:p>
            <a:pPr indent="0" marL="0">
              <a:buNone/>
            </a:pPr>
            <a:r>
              <a:rPr lang="en-US" sz="1300" dirty="0">
                <a:solidFill>
                  <a:schemeClr val="tx2"/>
                </a:solidFill>
              </a:rPr>
              <a:t>Una richiesta d'offerta in inglese: estrarre i requisiti, trovare contraddizioni e lacune, preparare una bozza di risposta senza prezzi né tempi.</a:t>
            </a:r>
            <a:endParaRPr lang="en-US" sz="1300" dirty="0"/>
          </a:p>
        </p:txBody>
      </p:sp>
      <p:sp>
        <p:nvSpPr>
          <p:cNvPr id="9" name="scheda Che cosa osservare"/>
          <p:cNvSpPr/>
          <p:nvPr/>
        </p:nvSpPr>
        <p:spPr>
          <a:xfrm>
            <a:off x="4709160" y="1005840"/>
            <a:ext cx="3977640" cy="2194560"/>
          </a:xfrm>
          <a:prstGeom prst="roundRect">
            <a:avLst>
              <a:gd name="adj" fmla="val 3333"/>
            </a:avLst>
          </a:prstGeom>
          <a:solidFill>
            <a:schemeClr val="accent6"/>
          </a:solidFill>
          <a:ln/>
        </p:spPr>
      </p:sp>
      <p:sp>
        <p:nvSpPr>
          <p:cNvPr id="10" name="cerchio FiEye"/>
          <p:cNvSpPr/>
          <p:nvPr/>
        </p:nvSpPr>
        <p:spPr>
          <a:xfrm>
            <a:off x="4892040" y="1188720"/>
            <a:ext cx="457200" cy="457200"/>
          </a:xfrm>
          <a:prstGeom prst="ellipse">
            <a:avLst/>
          </a:prstGeom>
          <a:solidFill>
            <a:schemeClr val="accent1"/>
          </a:solidFill>
          <a:ln/>
        </p:spPr>
      </p:sp>
      <p:pic>
        <p:nvPicPr>
          <p:cNvPr id="11" name="Image 1" descr="FiEye">    </p:cNvPr>
          <p:cNvPicPr>
            <a:picLocks noChangeAspect="1"/>
          </p:cNvPicPr>
          <p:nvPr/>
        </p:nvPicPr>
        <p:blipFill>
          <a:blip r:embed="rId2"/>
          <a:stretch>
            <a:fillRect/>
          </a:stretch>
        </p:blipFill>
        <p:spPr>
          <a:xfrm>
            <a:off x="5006340" y="1303020"/>
            <a:ext cx="228600" cy="228600"/>
          </a:xfrm>
          <a:prstGeom prst="rect">
            <a:avLst/>
          </a:prstGeom>
        </p:spPr>
      </p:pic>
      <p:sp>
        <p:nvSpPr>
          <p:cNvPr id="12" name="Text 7"/>
          <p:cNvSpPr txBox="1"/>
          <p:nvPr/>
        </p:nvSpPr>
        <p:spPr>
          <a:xfrm>
            <a:off x="5486400" y="118872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Che cosa osservare</a:t>
            </a:r>
            <a:endParaRPr lang="en-US" sz="1500" dirty="0"/>
          </a:p>
        </p:txBody>
      </p:sp>
      <p:sp>
        <p:nvSpPr>
          <p:cNvPr id="13" name="Text 8"/>
          <p:cNvSpPr txBox="1"/>
          <p:nvPr/>
        </p:nvSpPr>
        <p:spPr>
          <a:xfrm>
            <a:off x="4892040" y="1783080"/>
            <a:ext cx="3611880" cy="1307592"/>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2"/>
                </a:solidFill>
              </a:rPr>
              <a:t>Trova la contraddizione sulla capacità?</a:t>
            </a:r>
            <a:endParaRPr lang="en-US" sz="1300" dirty="0"/>
          </a:p>
          <a:p>
            <a:pPr marL="177800" indent="-177800">
              <a:spcAft>
                <a:spcPts val="300"/>
              </a:spcAft>
              <a:buSzPct val="100000"/>
              <a:buChar char="•"/>
            </a:pPr>
            <a:r>
              <a:rPr lang="en-US" sz="1300" dirty="0">
                <a:solidFill>
                  <a:schemeClr val="tx2"/>
                </a:solidFill>
              </a:rPr>
              <a:t>Le lacune sono quelle che servono all'ufficio tecnico?</a:t>
            </a:r>
            <a:endParaRPr lang="en-US" sz="1300" dirty="0"/>
          </a:p>
          <a:p>
            <a:pPr marL="177800" indent="-177800">
              <a:spcAft>
                <a:spcPts val="300"/>
              </a:spcAft>
              <a:buSzPct val="100000"/>
              <a:buChar char="•"/>
            </a:pPr>
            <a:r>
              <a:rPr lang="en-US" sz="1300" dirty="0">
                <a:solidFill>
                  <a:schemeClr val="tx2"/>
                </a:solidFill>
              </a:rPr>
              <a:t>Inventa referenze di clienti?</a:t>
            </a:r>
            <a:endParaRPr lang="en-US" sz="1300" dirty="0"/>
          </a:p>
          <a:p>
            <a:pPr marL="177800" indent="-177800">
              <a:spcAft>
                <a:spcPts val="300"/>
              </a:spcAft>
              <a:buSzPct val="100000"/>
              <a:buChar char="•"/>
            </a:pPr>
            <a:r>
              <a:rPr lang="en-US" sz="1300" dirty="0">
                <a:solidFill>
                  <a:schemeClr val="tx2"/>
                </a:solidFill>
              </a:rPr>
              <a:t>La bozza promette tempi o condizioni?</a:t>
            </a:r>
            <a:endParaRPr lang="en-US" sz="1300" dirty="0"/>
          </a:p>
        </p:txBody>
      </p:sp>
      <p:sp>
        <p:nvSpPr>
          <p:cNvPr id="14" name="riquadro I VOSTRI SPRECHI COLLEGATI"/>
          <p:cNvSpPr/>
          <p:nvPr/>
        </p:nvSpPr>
        <p:spPr>
          <a:xfrm>
            <a:off x="457200" y="3337560"/>
            <a:ext cx="8229600" cy="914400"/>
          </a:xfrm>
          <a:prstGeom prst="roundRect">
            <a:avLst>
              <a:gd name="adj" fmla="val 8000"/>
            </a:avLst>
          </a:prstGeom>
          <a:solidFill>
            <a:schemeClr val="bg2"/>
          </a:solidFill>
          <a:ln/>
        </p:spPr>
      </p:sp>
      <p:sp>
        <p:nvSpPr>
          <p:cNvPr id="15" name="barra"/>
          <p:cNvSpPr/>
          <p:nvPr/>
        </p:nvSpPr>
        <p:spPr>
          <a:xfrm>
            <a:off x="457200" y="3447288"/>
            <a:ext cx="54864" cy="694944"/>
          </a:xfrm>
          <a:prstGeom prst="rect">
            <a:avLst/>
          </a:prstGeom>
          <a:solidFill>
            <a:schemeClr val="accent1"/>
          </a:solidFill>
          <a:ln/>
        </p:spPr>
      </p:sp>
      <p:sp>
        <p:nvSpPr>
          <p:cNvPr id="16" name="Text 11"/>
          <p:cNvSpPr txBox="1"/>
          <p:nvPr/>
        </p:nvSpPr>
        <p:spPr>
          <a:xfrm>
            <a:off x="658368" y="342900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I VOSTRI SPRECHI COLLEGATI</a:t>
            </a:r>
            <a:endParaRPr lang="en-US" sz="1100" dirty="0"/>
          </a:p>
        </p:txBody>
      </p:sp>
      <p:sp>
        <p:nvSpPr>
          <p:cNvPr id="17" name="Text 12"/>
          <p:cNvSpPr txBox="1"/>
          <p:nvPr/>
        </p:nvSpPr>
        <p:spPr>
          <a:xfrm>
            <a:off x="658368" y="3721608"/>
            <a:ext cx="7863840" cy="438912"/>
          </a:xfrm>
          <a:prstGeom prst="rect">
            <a:avLst/>
          </a:prstGeom>
          <a:noFill/>
          <a:ln/>
        </p:spPr>
        <p:txBody>
          <a:bodyPr wrap="square" lIns="0" tIns="0" rIns="0" bIns="0" rtlCol="0" anchor="t"/>
          <a:lstStyle/>
          <a:p>
            <a:pPr indent="0" marL="0">
              <a:buNone/>
            </a:pPr>
            <a:r>
              <a:rPr lang="en-US" sz="1200" dirty="0">
                <a:solidFill>
                  <a:schemeClr val="tx1"/>
                </a:solidFill>
              </a:rPr>
              <a:t>B e C · Confronti e offerte: supporto alle offerte e preventivi ripetuti (Direzione), richieste commerciali sui pezzi (Elettrico). D · Estero: traduzioni (Direzione).</a:t>
            </a:r>
            <a:endParaRPr lang="en-US" sz="1200" dirty="0"/>
          </a:p>
        </p:txBody>
      </p:sp>
      <p:sp>
        <p:nvSpPr>
          <p:cNvPr id="18" name="Text 13"/>
          <p:cNvSpPr txBox="1"/>
          <p:nvPr/>
        </p:nvSpPr>
        <p:spPr>
          <a:xfrm>
            <a:off x="457200" y="4343400"/>
            <a:ext cx="8229600" cy="256032"/>
          </a:xfrm>
          <a:prstGeom prst="rect">
            <a:avLst/>
          </a:prstGeom>
          <a:noFill/>
          <a:ln/>
        </p:spPr>
        <p:txBody>
          <a:bodyPr wrap="square" lIns="0" tIns="0" rIns="0" bIns="0" rtlCol="0" anchor="t"/>
          <a:lstStyle/>
          <a:p>
            <a:pPr indent="0" marL="0">
              <a:buNone/>
            </a:pPr>
            <a:r>
              <a:rPr lang="en-US" sz="1000" i="1" dirty="0">
                <a:solidFill>
                  <a:schemeClr val="accent2"/>
                </a:solidFill>
              </a:rPr>
              <a:t>Materiale fittizio: Forni Demo S.r.l., forno TF-900 Demo</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 non strutturato al dato utilizzabile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documento Email del cliente (esempio fittizio)"/>
          <p:cNvSpPr/>
          <p:nvPr/>
        </p:nvSpPr>
        <p:spPr>
          <a:xfrm>
            <a:off x="457200" y="1051560"/>
            <a:ext cx="3749040" cy="2606040"/>
          </a:xfrm>
          <a:prstGeom prst="roundRect">
            <a:avLst>
              <a:gd name="adj" fmla="val 2807"/>
            </a:avLst>
          </a:prstGeom>
          <a:solidFill>
            <a:schemeClr val="bg2"/>
          </a:solidFill>
          <a:ln/>
        </p:spPr>
      </p:sp>
      <p:sp>
        <p:nvSpPr>
          <p:cNvPr id="13" name="barra"/>
          <p:cNvSpPr/>
          <p:nvPr/>
        </p:nvSpPr>
        <p:spPr>
          <a:xfrm>
            <a:off x="457200" y="1161288"/>
            <a:ext cx="54864" cy="2386584"/>
          </a:xfrm>
          <a:prstGeom prst="rect">
            <a:avLst/>
          </a:prstGeom>
          <a:solidFill>
            <a:schemeClr val="accent1"/>
          </a:solidFill>
          <a:ln/>
        </p:spPr>
      </p:sp>
      <p:sp>
        <p:nvSpPr>
          <p:cNvPr id="14" name="Text 11"/>
          <p:cNvSpPr txBox="1"/>
          <p:nvPr/>
        </p:nvSpPr>
        <p:spPr>
          <a:xfrm>
            <a:off x="658368" y="1143000"/>
            <a:ext cx="3383280" cy="256032"/>
          </a:xfrm>
          <a:prstGeom prst="rect">
            <a:avLst/>
          </a:prstGeom>
          <a:noFill/>
          <a:ln/>
        </p:spPr>
        <p:txBody>
          <a:bodyPr wrap="square" lIns="0" tIns="0" rIns="0" bIns="0" rtlCol="0" anchor="t"/>
          <a:lstStyle/>
          <a:p>
            <a:pPr indent="0" marL="0">
              <a:buNone/>
            </a:pPr>
            <a:r>
              <a:rPr lang="en-US" sz="1100" b="1" dirty="0">
                <a:solidFill>
                  <a:schemeClr val="accent1"/>
                </a:solidFill>
              </a:rPr>
              <a:t>Email del cliente (esempio fittizio)</a:t>
            </a:r>
            <a:endParaRPr lang="en-US" sz="1100" dirty="0"/>
          </a:p>
        </p:txBody>
      </p:sp>
      <p:sp>
        <p:nvSpPr>
          <p:cNvPr id="15" name="Text 12"/>
          <p:cNvSpPr txBox="1"/>
          <p:nvPr/>
        </p:nvSpPr>
        <p:spPr>
          <a:xfrm>
            <a:off x="658368" y="1435608"/>
            <a:ext cx="3383280" cy="2130552"/>
          </a:xfrm>
          <a:prstGeom prst="rect">
            <a:avLst/>
          </a:prstGeom>
          <a:noFill/>
          <a:ln/>
        </p:spPr>
        <p:txBody>
          <a:bodyPr wrap="square" lIns="0" tIns="0" rIns="0" bIns="0" rtlCol="0" anchor="t"/>
          <a:lstStyle/>
          <a:p>
            <a:pPr indent="0" marL="0">
              <a:buNone/>
            </a:pPr>
            <a:r>
              <a:rPr lang="en-US" sz="1200" dirty="0">
                <a:solidFill>
                  <a:schemeClr val="tx1"/>
                </a:solidFill>
              </a:rPr>
              <a:t>Buongiorno, vi scrivo per l'ordine 4471 del 12 marzo. Le sedie modello Alfa sono arrivate, ma due su dieci hanno la seduta danneggiata. Avremmo bisogno della sostituzione entro fine mese, perché abbiamo un evento. Grazie, M. Rossi, Studio Bianchi</a:t>
            </a:r>
            <a:endParaRPr lang="en-US" sz="1200" dirty="0"/>
          </a:p>
        </p:txBody>
      </p:sp>
      <p:sp>
        <p:nvSpPr>
          <p:cNvPr id="16" name="freccia"/>
          <p:cNvSpPr/>
          <p:nvPr/>
        </p:nvSpPr>
        <p:spPr>
          <a:xfrm>
            <a:off x="4297680" y="2194560"/>
            <a:ext cx="365760" cy="292608"/>
          </a:xfrm>
          <a:prstGeom prst="rightArrow">
            <a:avLst/>
          </a:prstGeom>
          <a:solidFill>
            <a:schemeClr val="accent2"/>
          </a:solidFill>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754880" y="1051560"/>
          <a:ext cx="3931920" cy="914400"/>
        </p:xfrm>
        <a:graphic>
          <a:graphicData uri="http://schemas.openxmlformats.org/drawingml/2006/table">
            <a:tbl>
              <a:tblPr/>
              <a:tblGrid>
                <a:gridCol w="1463040"/>
                <a:gridCol w="2468880"/>
              </a:tblGrid>
              <a:tr h="365760">
                <a:tc>
                  <a:txBody>
                    <a:bodyPr/>
                    <a:lstStyle/>
                    <a:p>
                      <a:pPr indent="0" marL="0">
                        <a:buNone/>
                      </a:pPr>
                      <a:r>
                        <a:rPr lang="en-US" sz="1200" b="1" dirty="0">
                          <a:solidFill>
                            <a:schemeClr val="bg1"/>
                          </a:solidFill>
                        </a:rPr>
                        <a:t>Campo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Valore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365760">
                <a:tc>
                  <a:txBody>
                    <a:bodyPr/>
                    <a:lstStyle/>
                    <a:p>
                      <a:pPr indent="0" marL="0">
                        <a:buNone/>
                      </a:pPr>
                      <a:r>
                        <a:rPr lang="en-US" sz="1200" b="1" dirty="0">
                          <a:solidFill>
                            <a:schemeClr val="tx1"/>
                          </a:solidFill>
                        </a:rPr>
                        <a:t>Cliente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Studio Bianchi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en-US" sz="1200" b="1" dirty="0">
                          <a:solidFill>
                            <a:schemeClr val="tx1"/>
                          </a:solidFill>
                        </a:rPr>
                        <a:t>Ordine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4471</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en-US" sz="1200" b="1" dirty="0">
                          <a:solidFill>
                            <a:schemeClr val="tx1"/>
                          </a:solidFill>
                        </a:rPr>
                        <a:t>Tipo richiesta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Sostituzione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en-US" sz="1200" b="1" dirty="0">
                          <a:solidFill>
                            <a:schemeClr val="tx1"/>
                          </a:solidFill>
                        </a:rPr>
                        <a:t>Prodotto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Sedia Alfa, 2 pezzi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en-US" sz="1200" b="1" dirty="0">
                          <a:solidFill>
                            <a:schemeClr val="tx1"/>
                          </a:solidFill>
                        </a:rPr>
                        <a:t>Scadenza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Fine mese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en-US" sz="1200" b="1" dirty="0">
                          <a:solidFill>
                            <a:schemeClr val="tx1"/>
                          </a:solidFill>
                        </a:rPr>
                        <a:t>Urgenza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8" name="messaggio"/>
          <p:cNvSpPr/>
          <p:nvPr/>
        </p:nvSpPr>
        <p:spPr>
          <a:xfrm>
            <a:off x="457200" y="3840480"/>
            <a:ext cx="8229600" cy="685800"/>
          </a:xfrm>
          <a:prstGeom prst="roundRect">
            <a:avLst>
              <a:gd name="adj" fmla="val 10667"/>
            </a:avLst>
          </a:prstGeom>
          <a:solidFill>
            <a:schemeClr val="tx1"/>
          </a:solidFill>
          <a:ln/>
        </p:spPr>
      </p:sp>
      <p:sp>
        <p:nvSpPr>
          <p:cNvPr id="19" name="Text 15"/>
          <p:cNvSpPr txBox="1"/>
          <p:nvPr/>
        </p:nvSpPr>
        <p:spPr>
          <a:xfrm>
            <a:off x="640080" y="3840480"/>
            <a:ext cx="7863840" cy="685800"/>
          </a:xfrm>
          <a:prstGeom prst="rect">
            <a:avLst/>
          </a:prstGeom>
          <a:noFill/>
          <a:ln/>
        </p:spPr>
        <p:txBody>
          <a:bodyPr wrap="square" lIns="0" tIns="0" rIns="0" bIns="0" rtlCol="0" anchor="ctr"/>
          <a:lstStyle/>
          <a:p>
            <a:pPr indent="0" marL="0">
              <a:buNone/>
            </a:pPr>
            <a:r>
              <a:rPr lang="en-US" sz="1300" dirty="0">
                <a:solidFill>
                  <a:schemeClr val="bg1"/>
                </a:solidFill>
              </a:rPr>
              <a:t>Da informazione leggibile a dato utilizzabile: ordinare, filtrare, contare, collegare. Purché l'estrazione sia controllata prima dell'uso.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37</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Demo 3 · Dai ticket alla sintesi operativa</a:t>
            </a:r>
            <a:endParaRPr lang="en-US" sz="2600" dirty="0"/>
          </a:p>
        </p:txBody>
      </p:sp>
      <p:sp>
        <p:nvSpPr>
          <p:cNvPr id="4" name="scheda Che cosa facciamo"/>
          <p:cNvSpPr/>
          <p:nvPr/>
        </p:nvSpPr>
        <p:spPr>
          <a:xfrm>
            <a:off x="457200" y="1005840"/>
            <a:ext cx="3977640" cy="2194560"/>
          </a:xfrm>
          <a:prstGeom prst="roundRect">
            <a:avLst>
              <a:gd name="adj" fmla="val 3333"/>
            </a:avLst>
          </a:prstGeom>
          <a:solidFill>
            <a:schemeClr val="bg2"/>
          </a:solidFill>
          <a:ln/>
        </p:spPr>
      </p:sp>
      <p:sp>
        <p:nvSpPr>
          <p:cNvPr id="5" name="cerchio FiPlayCircle"/>
          <p:cNvSpPr/>
          <p:nvPr/>
        </p:nvSpPr>
        <p:spPr>
          <a:xfrm>
            <a:off x="640080" y="1188720"/>
            <a:ext cx="457200" cy="457200"/>
          </a:xfrm>
          <a:prstGeom prst="ellipse">
            <a:avLst/>
          </a:prstGeom>
          <a:solidFill>
            <a:schemeClr val="accent1"/>
          </a:solidFill>
          <a:ln/>
        </p:spPr>
      </p:sp>
      <p:pic>
        <p:nvPicPr>
          <p:cNvPr id="6" name="Image 0" descr="FiPlayCircle">    </p:cNvPr>
          <p:cNvPicPr>
            <a:picLocks noChangeAspect="1"/>
          </p:cNvPicPr>
          <p:nvPr/>
        </p:nvPicPr>
        <p:blipFill>
          <a:blip r:embed="rId1"/>
          <a:stretch>
            <a:fillRect/>
          </a:stretch>
        </p:blipFill>
        <p:spPr>
          <a:xfrm>
            <a:off x="754380" y="1303020"/>
            <a:ext cx="228600" cy="228600"/>
          </a:xfrm>
          <a:prstGeom prst="rect">
            <a:avLst/>
          </a:prstGeom>
        </p:spPr>
      </p:pic>
      <p:sp>
        <p:nvSpPr>
          <p:cNvPr id="7" name="Text 3"/>
          <p:cNvSpPr txBox="1"/>
          <p:nvPr/>
        </p:nvSpPr>
        <p:spPr>
          <a:xfrm>
            <a:off x="1234440" y="118872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Che cosa facciamo</a:t>
            </a:r>
            <a:endParaRPr lang="en-US" sz="1500" dirty="0"/>
          </a:p>
        </p:txBody>
      </p:sp>
      <p:sp>
        <p:nvSpPr>
          <p:cNvPr id="8" name="Text 4"/>
          <p:cNvSpPr txBox="1"/>
          <p:nvPr/>
        </p:nvSpPr>
        <p:spPr>
          <a:xfrm>
            <a:off x="640080" y="1783080"/>
            <a:ext cx="3611880" cy="1307592"/>
          </a:xfrm>
          <a:prstGeom prst="rect">
            <a:avLst/>
          </a:prstGeom>
          <a:noFill/>
          <a:ln/>
        </p:spPr>
        <p:txBody>
          <a:bodyPr wrap="square" lIns="0" tIns="0" rIns="0" bIns="0" rtlCol="0" anchor="t"/>
          <a:lstStyle/>
          <a:p>
            <a:pPr indent="0" marL="0">
              <a:buNone/>
            </a:pPr>
            <a:r>
              <a:rPr lang="en-US" sz="1300" dirty="0">
                <a:solidFill>
                  <a:schemeClr val="tx2"/>
                </a:solidFill>
              </a:rPr>
              <a:t>Una tabella di ticket di assistenza: problemi ricorrenti, ipotesi di causa, ticket di sicurezza, priorità, qualità dei dati.</a:t>
            </a:r>
            <a:endParaRPr lang="en-US" sz="1300" dirty="0"/>
          </a:p>
        </p:txBody>
      </p:sp>
      <p:sp>
        <p:nvSpPr>
          <p:cNvPr id="9" name="scheda Che cosa osservare"/>
          <p:cNvSpPr/>
          <p:nvPr/>
        </p:nvSpPr>
        <p:spPr>
          <a:xfrm>
            <a:off x="4709160" y="1005840"/>
            <a:ext cx="3977640" cy="2194560"/>
          </a:xfrm>
          <a:prstGeom prst="roundRect">
            <a:avLst>
              <a:gd name="adj" fmla="val 3333"/>
            </a:avLst>
          </a:prstGeom>
          <a:solidFill>
            <a:schemeClr val="accent6"/>
          </a:solidFill>
          <a:ln/>
        </p:spPr>
      </p:sp>
      <p:sp>
        <p:nvSpPr>
          <p:cNvPr id="10" name="cerchio FiEye"/>
          <p:cNvSpPr/>
          <p:nvPr/>
        </p:nvSpPr>
        <p:spPr>
          <a:xfrm>
            <a:off x="4892040" y="1188720"/>
            <a:ext cx="457200" cy="457200"/>
          </a:xfrm>
          <a:prstGeom prst="ellipse">
            <a:avLst/>
          </a:prstGeom>
          <a:solidFill>
            <a:schemeClr val="accent1"/>
          </a:solidFill>
          <a:ln/>
        </p:spPr>
      </p:sp>
      <p:pic>
        <p:nvPicPr>
          <p:cNvPr id="11" name="Image 1" descr="FiEye">    </p:cNvPr>
          <p:cNvPicPr>
            <a:picLocks noChangeAspect="1"/>
          </p:cNvPicPr>
          <p:nvPr/>
        </p:nvPicPr>
        <p:blipFill>
          <a:blip r:embed="rId2"/>
          <a:stretch>
            <a:fillRect/>
          </a:stretch>
        </p:blipFill>
        <p:spPr>
          <a:xfrm>
            <a:off x="5006340" y="1303020"/>
            <a:ext cx="228600" cy="228600"/>
          </a:xfrm>
          <a:prstGeom prst="rect">
            <a:avLst/>
          </a:prstGeom>
        </p:spPr>
      </p:pic>
      <p:sp>
        <p:nvSpPr>
          <p:cNvPr id="12" name="Text 7"/>
          <p:cNvSpPr txBox="1"/>
          <p:nvPr/>
        </p:nvSpPr>
        <p:spPr>
          <a:xfrm>
            <a:off x="5486400" y="118872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Che cosa osservare</a:t>
            </a:r>
            <a:endParaRPr lang="en-US" sz="1500" dirty="0"/>
          </a:p>
        </p:txBody>
      </p:sp>
      <p:sp>
        <p:nvSpPr>
          <p:cNvPr id="13" name="Text 8"/>
          <p:cNvSpPr txBox="1"/>
          <p:nvPr/>
        </p:nvSpPr>
        <p:spPr>
          <a:xfrm>
            <a:off x="4892040" y="1783080"/>
            <a:ext cx="3611880" cy="1307592"/>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2"/>
                </a:solidFill>
              </a:rPr>
              <a:t>Le cause sono presentate come ipotesi?</a:t>
            </a:r>
            <a:endParaRPr lang="en-US" sz="1300" dirty="0"/>
          </a:p>
          <a:p>
            <a:pPr marL="177800" indent="-177800">
              <a:spcAft>
                <a:spcPts val="300"/>
              </a:spcAft>
              <a:buSzPct val="100000"/>
              <a:buChar char="•"/>
            </a:pPr>
            <a:r>
              <a:rPr lang="en-US" sz="1300" dirty="0">
                <a:solidFill>
                  <a:schemeClr val="tx2"/>
                </a:solidFill>
              </a:rPr>
              <a:t>I ticket di sicurezza sono in evidenza?</a:t>
            </a:r>
            <a:endParaRPr lang="en-US" sz="1300" dirty="0"/>
          </a:p>
          <a:p>
            <a:pPr marL="177800" indent="-177800">
              <a:spcAft>
                <a:spcPts val="300"/>
              </a:spcAft>
              <a:buSzPct val="100000"/>
              <a:buChar char="•"/>
            </a:pPr>
            <a:r>
              <a:rPr lang="en-US" sz="1300" dirty="0">
                <a:solidFill>
                  <a:schemeClr val="tx2"/>
                </a:solidFill>
              </a:rPr>
              <a:t>Si accorge dei dati duplicati o vuoti?</a:t>
            </a:r>
            <a:endParaRPr lang="en-US" sz="1300" dirty="0"/>
          </a:p>
          <a:p>
            <a:pPr marL="177800" indent="-177800">
              <a:spcAft>
                <a:spcPts val="300"/>
              </a:spcAft>
              <a:buSzPct val="100000"/>
              <a:buChar char="•"/>
            </a:pPr>
            <a:r>
              <a:rPr lang="en-US" sz="1300" dirty="0">
                <a:solidFill>
                  <a:schemeClr val="tx2"/>
                </a:solidFill>
              </a:rPr>
              <a:t>Che cosa ha omesso?</a:t>
            </a:r>
            <a:endParaRPr lang="en-US" sz="1300" dirty="0"/>
          </a:p>
        </p:txBody>
      </p:sp>
      <p:sp>
        <p:nvSpPr>
          <p:cNvPr id="14" name="riquadro I VOSTRI SPRECHI COLLEGATI"/>
          <p:cNvSpPr/>
          <p:nvPr/>
        </p:nvSpPr>
        <p:spPr>
          <a:xfrm>
            <a:off x="457200" y="3337560"/>
            <a:ext cx="8229600" cy="914400"/>
          </a:xfrm>
          <a:prstGeom prst="roundRect">
            <a:avLst>
              <a:gd name="adj" fmla="val 8000"/>
            </a:avLst>
          </a:prstGeom>
          <a:solidFill>
            <a:schemeClr val="bg2"/>
          </a:solidFill>
          <a:ln/>
        </p:spPr>
      </p:sp>
      <p:sp>
        <p:nvSpPr>
          <p:cNvPr id="15" name="barra"/>
          <p:cNvSpPr/>
          <p:nvPr/>
        </p:nvSpPr>
        <p:spPr>
          <a:xfrm>
            <a:off x="457200" y="3447288"/>
            <a:ext cx="54864" cy="694944"/>
          </a:xfrm>
          <a:prstGeom prst="rect">
            <a:avLst/>
          </a:prstGeom>
          <a:solidFill>
            <a:schemeClr val="accent1"/>
          </a:solidFill>
          <a:ln/>
        </p:spPr>
      </p:sp>
      <p:sp>
        <p:nvSpPr>
          <p:cNvPr id="16" name="Text 11"/>
          <p:cNvSpPr txBox="1"/>
          <p:nvPr/>
        </p:nvSpPr>
        <p:spPr>
          <a:xfrm>
            <a:off x="658368" y="342900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I VOSTRI SPRECHI COLLEGATI</a:t>
            </a:r>
            <a:endParaRPr lang="en-US" sz="1100" dirty="0"/>
          </a:p>
        </p:txBody>
      </p:sp>
      <p:sp>
        <p:nvSpPr>
          <p:cNvPr id="17" name="Text 12"/>
          <p:cNvSpPr txBox="1"/>
          <p:nvPr/>
        </p:nvSpPr>
        <p:spPr>
          <a:xfrm>
            <a:off x="658368" y="3721608"/>
            <a:ext cx="7863840" cy="438912"/>
          </a:xfrm>
          <a:prstGeom prst="rect">
            <a:avLst/>
          </a:prstGeom>
          <a:noFill/>
          <a:ln/>
        </p:spPr>
        <p:txBody>
          <a:bodyPr wrap="square" lIns="0" tIns="0" rIns="0" bIns="0" rtlCol="0" anchor="t"/>
          <a:lstStyle/>
          <a:p>
            <a:pPr indent="0" marL="0">
              <a:buNone/>
            </a:pPr>
            <a:r>
              <a:rPr lang="en-US" sz="1200" dirty="0">
                <a:solidFill>
                  <a:schemeClr val="tx1"/>
                </a:solidFill>
              </a:rPr>
              <a:t>A · Informazioni disperse: accesso alle informazioni per le risposte al cliente (Service). Idea dal parcheggio: chatbot per l'assistenza (Service).</a:t>
            </a:r>
            <a:endParaRPr lang="en-US" sz="1200" dirty="0"/>
          </a:p>
        </p:txBody>
      </p:sp>
      <p:sp>
        <p:nvSpPr>
          <p:cNvPr id="18" name="Text 13"/>
          <p:cNvSpPr txBox="1"/>
          <p:nvPr/>
        </p:nvSpPr>
        <p:spPr>
          <a:xfrm>
            <a:off x="457200" y="4343400"/>
            <a:ext cx="8229600" cy="256032"/>
          </a:xfrm>
          <a:prstGeom prst="rect">
            <a:avLst/>
          </a:prstGeom>
          <a:noFill/>
          <a:ln/>
        </p:spPr>
        <p:txBody>
          <a:bodyPr wrap="square" lIns="0" tIns="0" rIns="0" bIns="0" rtlCol="0" anchor="t"/>
          <a:lstStyle/>
          <a:p>
            <a:pPr indent="0" marL="0">
              <a:buNone/>
            </a:pPr>
            <a:r>
              <a:rPr lang="en-US" sz="1000" i="1" dirty="0">
                <a:solidFill>
                  <a:schemeClr val="accent2"/>
                </a:solidFill>
              </a:rPr>
              <a:t>Materiale fittizio: Forni Demo S.r.l., forno TF-900 Demo</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Caricare non significa elaborare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Caricato"/>
          <p:cNvSpPr/>
          <p:nvPr/>
        </p:nvSpPr>
        <p:spPr>
          <a:xfrm>
            <a:off x="457200" y="1097280"/>
            <a:ext cx="1920240" cy="1920240"/>
          </a:xfrm>
          <a:prstGeom prst="roundRect">
            <a:avLst>
              <a:gd name="adj" fmla="val 3810"/>
            </a:avLst>
          </a:prstGeom>
          <a:solidFill>
            <a:schemeClr val="accent6"/>
          </a:solidFill>
          <a:ln/>
        </p:spPr>
      </p:sp>
      <p:sp>
        <p:nvSpPr>
          <p:cNvPr id="13" name="cerchio FiUpload"/>
          <p:cNvSpPr/>
          <p:nvPr/>
        </p:nvSpPr>
        <p:spPr>
          <a:xfrm>
            <a:off x="1115568" y="1207008"/>
            <a:ext cx="594360" cy="594360"/>
          </a:xfrm>
          <a:prstGeom prst="ellipse">
            <a:avLst/>
          </a:prstGeom>
          <a:solidFill>
            <a:schemeClr val="accent1"/>
          </a:solidFill>
          <a:ln/>
        </p:spPr>
      </p:sp>
      <p:pic>
        <p:nvPicPr>
          <p:cNvPr id="14" name="Image 0" descr="FiUpload">    </p:cNvPr>
          <p:cNvPicPr>
            <a:picLocks noChangeAspect="1"/>
          </p:cNvPicPr>
          <p:nvPr/>
        </p:nvPicPr>
        <p:blipFill>
          <a:blip r:embed="rId1"/>
          <a:stretch>
            <a:fillRect/>
          </a:stretch>
        </p:blipFill>
        <p:spPr>
          <a:xfrm>
            <a:off x="1264158" y="1355598"/>
            <a:ext cx="297180" cy="297180"/>
          </a:xfrm>
          <a:prstGeom prst="rect">
            <a:avLst/>
          </a:prstGeom>
        </p:spPr>
      </p:pic>
      <p:sp>
        <p:nvSpPr>
          <p:cNvPr id="15" name="Text 11"/>
          <p:cNvSpPr txBox="1"/>
          <p:nvPr/>
        </p:nvSpPr>
        <p:spPr>
          <a:xfrm>
            <a:off x="548640" y="187452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Caricato</a:t>
            </a:r>
            <a:endParaRPr lang="en-US" sz="1500" dirty="0"/>
          </a:p>
        </p:txBody>
      </p:sp>
      <p:sp>
        <p:nvSpPr>
          <p:cNvPr id="16" name="Text 12"/>
          <p:cNvSpPr txBox="1"/>
          <p:nvPr/>
        </p:nvSpPr>
        <p:spPr>
          <a:xfrm>
            <a:off x="566928" y="2240280"/>
            <a:ext cx="1700784" cy="731520"/>
          </a:xfrm>
          <a:prstGeom prst="rect">
            <a:avLst/>
          </a:prstGeom>
          <a:noFill/>
          <a:ln/>
        </p:spPr>
        <p:txBody>
          <a:bodyPr wrap="square" lIns="0" tIns="0" rIns="0" bIns="0" rtlCol="0" anchor="t"/>
          <a:lstStyle/>
          <a:p>
            <a:pPr algn="ctr" indent="0" marL="0">
              <a:buNone/>
            </a:pPr>
            <a:r>
              <a:rPr lang="en-US" sz="1100" dirty="0">
                <a:solidFill>
                  <a:schemeClr val="tx2"/>
                </a:solidFill>
              </a:rPr>
              <a:t>Il file è stato accettato</a:t>
            </a:r>
            <a:endParaRPr lang="en-US" sz="1100" dirty="0"/>
          </a:p>
        </p:txBody>
      </p:sp>
      <p:sp>
        <p:nvSpPr>
          <p:cNvPr id="17" name="freccia"/>
          <p:cNvSpPr/>
          <p:nvPr/>
        </p:nvSpPr>
        <p:spPr>
          <a:xfrm>
            <a:off x="2386584" y="1828800"/>
            <a:ext cx="155448" cy="292608"/>
          </a:xfrm>
          <a:prstGeom prst="rightArrow">
            <a:avLst/>
          </a:prstGeom>
          <a:solidFill>
            <a:schemeClr val="accent2"/>
          </a:solidFill>
          <a:ln/>
        </p:spPr>
      </p:sp>
      <p:sp>
        <p:nvSpPr>
          <p:cNvPr id="18" name="Convertito"/>
          <p:cNvSpPr/>
          <p:nvPr/>
        </p:nvSpPr>
        <p:spPr>
          <a:xfrm>
            <a:off x="2560320" y="1097280"/>
            <a:ext cx="1920240" cy="1920240"/>
          </a:xfrm>
          <a:prstGeom prst="roundRect">
            <a:avLst>
              <a:gd name="adj" fmla="val 3810"/>
            </a:avLst>
          </a:prstGeom>
          <a:solidFill>
            <a:schemeClr val="bg2"/>
          </a:solidFill>
          <a:ln/>
        </p:spPr>
      </p:sp>
      <p:sp>
        <p:nvSpPr>
          <p:cNvPr id="19" name="cerchio FiFileText"/>
          <p:cNvSpPr/>
          <p:nvPr/>
        </p:nvSpPr>
        <p:spPr>
          <a:xfrm>
            <a:off x="3218688" y="1207008"/>
            <a:ext cx="594360" cy="594360"/>
          </a:xfrm>
          <a:prstGeom prst="ellipse">
            <a:avLst/>
          </a:prstGeom>
          <a:solidFill>
            <a:schemeClr val="accent2"/>
          </a:solidFill>
          <a:ln/>
        </p:spPr>
      </p:sp>
      <p:pic>
        <p:nvPicPr>
          <p:cNvPr id="20" name="Image 1" descr="FiFileText">    </p:cNvPr>
          <p:cNvPicPr>
            <a:picLocks noChangeAspect="1"/>
          </p:cNvPicPr>
          <p:nvPr/>
        </p:nvPicPr>
        <p:blipFill>
          <a:blip r:embed="rId2"/>
          <a:stretch>
            <a:fillRect/>
          </a:stretch>
        </p:blipFill>
        <p:spPr>
          <a:xfrm>
            <a:off x="3367278" y="1355598"/>
            <a:ext cx="297180" cy="297180"/>
          </a:xfrm>
          <a:prstGeom prst="rect">
            <a:avLst/>
          </a:prstGeom>
        </p:spPr>
      </p:pic>
      <p:sp>
        <p:nvSpPr>
          <p:cNvPr id="21" name="Text 16"/>
          <p:cNvSpPr txBox="1"/>
          <p:nvPr/>
        </p:nvSpPr>
        <p:spPr>
          <a:xfrm>
            <a:off x="2651760" y="187452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Convertito</a:t>
            </a:r>
            <a:endParaRPr lang="en-US" sz="1500" dirty="0"/>
          </a:p>
        </p:txBody>
      </p:sp>
      <p:sp>
        <p:nvSpPr>
          <p:cNvPr id="22" name="Text 17"/>
          <p:cNvSpPr txBox="1"/>
          <p:nvPr/>
        </p:nvSpPr>
        <p:spPr>
          <a:xfrm>
            <a:off x="2670048" y="2240280"/>
            <a:ext cx="1700784" cy="731520"/>
          </a:xfrm>
          <a:prstGeom prst="rect">
            <a:avLst/>
          </a:prstGeom>
          <a:noFill/>
          <a:ln/>
        </p:spPr>
        <p:txBody>
          <a:bodyPr wrap="square" lIns="0" tIns="0" rIns="0" bIns="0" rtlCol="0" anchor="t"/>
          <a:lstStyle/>
          <a:p>
            <a:pPr algn="ctr" indent="0" marL="0">
              <a:buNone/>
            </a:pPr>
            <a:r>
              <a:rPr lang="en-US" sz="1100" dirty="0">
                <a:solidFill>
                  <a:schemeClr val="tx2"/>
                </a:solidFill>
              </a:rPr>
              <a:t>Tabelle, immagini, scansioni: tutto letto?</a:t>
            </a:r>
            <a:endParaRPr lang="en-US" sz="1100" dirty="0"/>
          </a:p>
        </p:txBody>
      </p:sp>
      <p:sp>
        <p:nvSpPr>
          <p:cNvPr id="23" name="freccia"/>
          <p:cNvSpPr/>
          <p:nvPr/>
        </p:nvSpPr>
        <p:spPr>
          <a:xfrm>
            <a:off x="4489704" y="1828800"/>
            <a:ext cx="155448" cy="292608"/>
          </a:xfrm>
          <a:prstGeom prst="rightArrow">
            <a:avLst/>
          </a:prstGeom>
          <a:solidFill>
            <a:schemeClr val="accent2"/>
          </a:solidFill>
          <a:ln/>
        </p:spPr>
      </p:sp>
      <p:sp>
        <p:nvSpPr>
          <p:cNvPr id="24" name="Elaborato"/>
          <p:cNvSpPr/>
          <p:nvPr/>
        </p:nvSpPr>
        <p:spPr>
          <a:xfrm>
            <a:off x="4663440" y="1097280"/>
            <a:ext cx="1920240" cy="1920240"/>
          </a:xfrm>
          <a:prstGeom prst="roundRect">
            <a:avLst>
              <a:gd name="adj" fmla="val 3810"/>
            </a:avLst>
          </a:prstGeom>
          <a:solidFill>
            <a:schemeClr val="bg2"/>
          </a:solidFill>
          <a:ln/>
        </p:spPr>
      </p:sp>
      <p:sp>
        <p:nvSpPr>
          <p:cNvPr id="25" name="cerchio FiLayers"/>
          <p:cNvSpPr/>
          <p:nvPr/>
        </p:nvSpPr>
        <p:spPr>
          <a:xfrm>
            <a:off x="5321808" y="1207008"/>
            <a:ext cx="594360" cy="594360"/>
          </a:xfrm>
          <a:prstGeom prst="ellipse">
            <a:avLst/>
          </a:prstGeom>
          <a:solidFill>
            <a:schemeClr val="accent2"/>
          </a:solidFill>
          <a:ln/>
        </p:spPr>
      </p:sp>
      <p:pic>
        <p:nvPicPr>
          <p:cNvPr id="26" name="Image 2" descr="FiLayers">    </p:cNvPr>
          <p:cNvPicPr>
            <a:picLocks noChangeAspect="1"/>
          </p:cNvPicPr>
          <p:nvPr/>
        </p:nvPicPr>
        <p:blipFill>
          <a:blip r:embed="rId3"/>
          <a:stretch>
            <a:fillRect/>
          </a:stretch>
        </p:blipFill>
        <p:spPr>
          <a:xfrm>
            <a:off x="5470398" y="1355598"/>
            <a:ext cx="297180" cy="297180"/>
          </a:xfrm>
          <a:prstGeom prst="rect">
            <a:avLst/>
          </a:prstGeom>
        </p:spPr>
      </p:pic>
      <p:sp>
        <p:nvSpPr>
          <p:cNvPr id="27" name="Text 21"/>
          <p:cNvSpPr txBox="1"/>
          <p:nvPr/>
        </p:nvSpPr>
        <p:spPr>
          <a:xfrm>
            <a:off x="4754880" y="187452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Elaborato</a:t>
            </a:r>
            <a:endParaRPr lang="en-US" sz="1500" dirty="0"/>
          </a:p>
        </p:txBody>
      </p:sp>
      <p:sp>
        <p:nvSpPr>
          <p:cNvPr id="28" name="Text 22"/>
          <p:cNvSpPr txBox="1"/>
          <p:nvPr/>
        </p:nvSpPr>
        <p:spPr>
          <a:xfrm>
            <a:off x="4773168" y="2240280"/>
            <a:ext cx="1700784" cy="731520"/>
          </a:xfrm>
          <a:prstGeom prst="rect">
            <a:avLst/>
          </a:prstGeom>
          <a:noFill/>
          <a:ln/>
        </p:spPr>
        <p:txBody>
          <a:bodyPr wrap="square" lIns="0" tIns="0" rIns="0" bIns="0" rtlCol="0" anchor="t"/>
          <a:lstStyle/>
          <a:p>
            <a:pPr algn="ctr" indent="0" marL="0">
              <a:buNone/>
            </a:pPr>
            <a:r>
              <a:rPr lang="en-US" sz="1100" dirty="0">
                <a:solidFill>
                  <a:schemeClr val="tx2"/>
                </a:solidFill>
              </a:rPr>
              <a:t>Tutte le parti, con la stessa attenzione?</a:t>
            </a:r>
            <a:endParaRPr lang="en-US" sz="1100" dirty="0"/>
          </a:p>
        </p:txBody>
      </p:sp>
      <p:sp>
        <p:nvSpPr>
          <p:cNvPr id="29" name="freccia"/>
          <p:cNvSpPr/>
          <p:nvPr/>
        </p:nvSpPr>
        <p:spPr>
          <a:xfrm>
            <a:off x="6592824" y="1828800"/>
            <a:ext cx="155448" cy="292608"/>
          </a:xfrm>
          <a:prstGeom prst="rightArrow">
            <a:avLst/>
          </a:prstGeom>
          <a:solidFill>
            <a:schemeClr val="accent2"/>
          </a:solidFill>
          <a:ln/>
        </p:spPr>
      </p:sp>
      <p:sp>
        <p:nvSpPr>
          <p:cNvPr id="30" name="Compreso"/>
          <p:cNvSpPr/>
          <p:nvPr/>
        </p:nvSpPr>
        <p:spPr>
          <a:xfrm>
            <a:off x="6766560" y="1097280"/>
            <a:ext cx="1920240" cy="1920240"/>
          </a:xfrm>
          <a:prstGeom prst="roundRect">
            <a:avLst>
              <a:gd name="adj" fmla="val 3810"/>
            </a:avLst>
          </a:prstGeom>
          <a:solidFill>
            <a:schemeClr val="bg2"/>
          </a:solidFill>
          <a:ln/>
        </p:spPr>
      </p:sp>
      <p:sp>
        <p:nvSpPr>
          <p:cNvPr id="31" name="cerchio FiCheckCircle"/>
          <p:cNvSpPr/>
          <p:nvPr/>
        </p:nvSpPr>
        <p:spPr>
          <a:xfrm>
            <a:off x="7424928" y="1207008"/>
            <a:ext cx="594360" cy="594360"/>
          </a:xfrm>
          <a:prstGeom prst="ellipse">
            <a:avLst/>
          </a:prstGeom>
          <a:solidFill>
            <a:schemeClr val="accent2"/>
          </a:solidFill>
          <a:ln/>
        </p:spPr>
      </p:sp>
      <p:pic>
        <p:nvPicPr>
          <p:cNvPr id="32" name="Image 3" descr="FiCheckCircle">    </p:cNvPr>
          <p:cNvPicPr>
            <a:picLocks noChangeAspect="1"/>
          </p:cNvPicPr>
          <p:nvPr/>
        </p:nvPicPr>
        <p:blipFill>
          <a:blip r:embed="rId4"/>
          <a:stretch>
            <a:fillRect/>
          </a:stretch>
        </p:blipFill>
        <p:spPr>
          <a:xfrm>
            <a:off x="7573518" y="1355598"/>
            <a:ext cx="297180" cy="297180"/>
          </a:xfrm>
          <a:prstGeom prst="rect">
            <a:avLst/>
          </a:prstGeom>
        </p:spPr>
      </p:pic>
      <p:sp>
        <p:nvSpPr>
          <p:cNvPr id="33" name="Text 26"/>
          <p:cNvSpPr txBox="1"/>
          <p:nvPr/>
        </p:nvSpPr>
        <p:spPr>
          <a:xfrm>
            <a:off x="6858000" y="187452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Compreso</a:t>
            </a:r>
            <a:endParaRPr lang="en-US" sz="1500" dirty="0"/>
          </a:p>
        </p:txBody>
      </p:sp>
      <p:sp>
        <p:nvSpPr>
          <p:cNvPr id="34" name="Text 27"/>
          <p:cNvSpPr txBox="1"/>
          <p:nvPr/>
        </p:nvSpPr>
        <p:spPr>
          <a:xfrm>
            <a:off x="6876288" y="2240280"/>
            <a:ext cx="1700784" cy="731520"/>
          </a:xfrm>
          <a:prstGeom prst="rect">
            <a:avLst/>
          </a:prstGeom>
          <a:noFill/>
          <a:ln/>
        </p:spPr>
        <p:txBody>
          <a:bodyPr wrap="square" lIns="0" tIns="0" rIns="0" bIns="0" rtlCol="0" anchor="t"/>
          <a:lstStyle/>
          <a:p>
            <a:pPr algn="ctr" indent="0" marL="0">
              <a:buNone/>
            </a:pPr>
            <a:r>
              <a:rPr lang="en-US" sz="1100" dirty="0">
                <a:solidFill>
                  <a:schemeClr val="tx2"/>
                </a:solidFill>
              </a:rPr>
              <a:t>Interpretato correttamente?</a:t>
            </a:r>
            <a:endParaRPr lang="en-US" sz="1100" dirty="0"/>
          </a:p>
        </p:txBody>
      </p:sp>
      <p:sp>
        <p:nvSpPr>
          <p:cNvPr id="35" name="Text 28"/>
          <p:cNvSpPr txBox="1"/>
          <p:nvPr/>
        </p:nvSpPr>
        <p:spPr>
          <a:xfrm>
            <a:off x="457200" y="3154680"/>
            <a:ext cx="8229600" cy="320040"/>
          </a:xfrm>
          <a:prstGeom prst="rect">
            <a:avLst/>
          </a:prstGeom>
          <a:noFill/>
          <a:ln/>
        </p:spPr>
        <p:txBody>
          <a:bodyPr wrap="square" lIns="0" tIns="0" rIns="0" bIns="0" rtlCol="0" anchor="t"/>
          <a:lstStyle/>
          <a:p>
            <a:pPr algn="ctr" indent="0" marL="0">
              <a:buNone/>
            </a:pPr>
            <a:r>
              <a:rPr lang="en-US" sz="1300" b="1" i="1" dirty="0">
                <a:solidFill>
                  <a:schemeClr val="accent5"/>
                </a:solidFill>
              </a:rPr>
              <a:t>Ogni passaggio può fallire in modo invisibile</a:t>
            </a:r>
            <a:endParaRPr lang="en-US" sz="1300" dirty="0"/>
          </a:p>
        </p:txBody>
      </p:sp>
      <p:sp>
        <p:nvSpPr>
          <p:cNvPr id="36" name="messaggio"/>
          <p:cNvSpPr/>
          <p:nvPr/>
        </p:nvSpPr>
        <p:spPr>
          <a:xfrm>
            <a:off x="457200" y="3611880"/>
            <a:ext cx="8229600" cy="822960"/>
          </a:xfrm>
          <a:prstGeom prst="roundRect">
            <a:avLst>
              <a:gd name="adj" fmla="val 8889"/>
            </a:avLst>
          </a:prstGeom>
          <a:solidFill>
            <a:schemeClr val="tx1"/>
          </a:solidFill>
          <a:ln/>
        </p:spPr>
      </p:sp>
      <p:sp>
        <p:nvSpPr>
          <p:cNvPr id="37" name="Text 30"/>
          <p:cNvSpPr txBox="1"/>
          <p:nvPr/>
        </p:nvSpPr>
        <p:spPr>
          <a:xfrm>
            <a:off x="640080" y="3611880"/>
            <a:ext cx="7863840" cy="822960"/>
          </a:xfrm>
          <a:prstGeom prst="rect">
            <a:avLst/>
          </a:prstGeom>
          <a:noFill/>
          <a:ln/>
        </p:spPr>
        <p:txBody>
          <a:bodyPr wrap="square" lIns="0" tIns="0" rIns="0" bIns="0" rtlCol="0" anchor="ctr"/>
          <a:lstStyle/>
          <a:p>
            <a:pPr indent="0" marL="0">
              <a:buNone/>
            </a:pPr>
            <a:r>
              <a:rPr lang="en-US" sz="1300" dirty="0">
                <a:solidFill>
                  <a:schemeClr val="bg1"/>
                </a:solidFill>
              </a:rPr>
              <a:t>La risposta ha sempre lo stesso aspetto, sicuro e completo, sia che il sistema abbia elaborato tutto, sia che ne abbia elaborato una parte.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69</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Chatbot, assistenti, agenti, automazioni</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737360"/>
                <a:gridCol w="3200400"/>
                <a:gridCol w="3291840"/>
              </a:tblGrid>
              <a:tr h="475488">
                <a:tc>
                  <a:txBody>
                    <a:bodyPr/>
                    <a:lstStyle/>
                    <a:p>
                      <a:pPr indent="0" marL="0">
                        <a:buNone/>
                      </a:pPr>
                      <a:r>
                        <a:rPr lang="en-US" sz="1200" b="1" dirty="0">
                          <a:solidFill>
                            <a:schemeClr val="bg1"/>
                          </a:solidFill>
                        </a:rPr>
                        <a:t>Tipologia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Funzione prevalente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Esempio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75488">
                <a:tc>
                  <a:txBody>
                    <a:bodyPr/>
                    <a:lstStyle/>
                    <a:p>
                      <a:pPr indent="0" marL="0">
                        <a:buNone/>
                      </a:pPr>
                      <a:r>
                        <a:rPr lang="en-US" sz="1200" b="1" dirty="0">
                          <a:solidFill>
                            <a:schemeClr val="tx1"/>
                          </a:solidFill>
                        </a:rPr>
                        <a:t>Chatbot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Rispondere e sostenere conversazioni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Spiegare un argomento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tx1"/>
                          </a:solidFill>
                        </a:rPr>
                        <a:t>Assistente AI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Supportare attività con contesto e strumenti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Preparare un riepilogo da documenti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tx1"/>
                          </a:solidFill>
                        </a:rPr>
                        <a:t>Agente AI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Perseguire obiettivi coordinando passaggi e strumenti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Raccogliere informazioni, preparare un report, chiedere approvazione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tx1"/>
                          </a:solidFill>
                        </a:rPr>
                        <a:t>Automazione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Eseguire attività secondo un meccanismo definito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Trasferire dati tra sistemi ogni notte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messaggio"/>
          <p:cNvSpPr/>
          <p:nvPr/>
        </p:nvSpPr>
        <p:spPr>
          <a:xfrm>
            <a:off x="457200" y="3611880"/>
            <a:ext cx="8229600" cy="594360"/>
          </a:xfrm>
          <a:prstGeom prst="roundRect">
            <a:avLst>
              <a:gd name="adj" fmla="val 12308"/>
            </a:avLst>
          </a:prstGeom>
          <a:solidFill>
            <a:schemeClr val="tx1"/>
          </a:solidFill>
          <a:ln/>
        </p:spPr>
      </p:sp>
      <p:sp>
        <p:nvSpPr>
          <p:cNvPr id="6" name="Text 2"/>
          <p:cNvSpPr txBox="1"/>
          <p:nvPr/>
        </p:nvSpPr>
        <p:spPr>
          <a:xfrm>
            <a:off x="640080" y="3611880"/>
            <a:ext cx="7863840" cy="594360"/>
          </a:xfrm>
          <a:prstGeom prst="rect">
            <a:avLst/>
          </a:prstGeom>
          <a:noFill/>
          <a:ln/>
        </p:spPr>
        <p:txBody>
          <a:bodyPr wrap="square" lIns="0" tIns="0" rIns="0" bIns="0" rtlCol="0" anchor="ctr"/>
          <a:lstStyle/>
          <a:p>
            <a:pPr indent="0" marL="0">
              <a:buNone/>
            </a:pPr>
            <a:r>
              <a:rPr lang="en-US" sz="1400" dirty="0">
                <a:solidFill>
                  <a:schemeClr val="bg1"/>
                </a:solidFill>
              </a:rPr>
              <a:t>Le categorie si sovrappongono. Un agente non è soltanto un'automazione più avanzata.</a:t>
            </a:r>
            <a:endParaRPr lang="en-US" sz="1400" dirty="0"/>
          </a:p>
        </p:txBody>
      </p:sp>
      <p:sp>
        <p:nvSpPr>
          <p:cNvPr id="7" name="Text 3"/>
          <p:cNvSpPr txBox="1"/>
          <p:nvPr/>
        </p:nvSpPr>
        <p:spPr>
          <a:xfrm>
            <a:off x="457200" y="4270248"/>
            <a:ext cx="8229600" cy="301752"/>
          </a:xfrm>
          <a:prstGeom prst="rect">
            <a:avLst/>
          </a:prstGeom>
          <a:noFill/>
          <a:ln/>
        </p:spPr>
        <p:txBody>
          <a:bodyPr wrap="square" lIns="0" tIns="0" rIns="0" bIns="0" rtlCol="0" anchor="t"/>
          <a:lstStyle/>
          <a:p>
            <a:pPr indent="0" marL="0">
              <a:buNone/>
            </a:pPr>
            <a:r>
              <a:rPr lang="en-US" sz="1200" i="1" dirty="0">
                <a:solidFill>
                  <a:schemeClr val="tx2"/>
                </a:solidFill>
              </a:rPr>
              <a:t>Distinzione funzionale: le denominazioni commerciali non sono uniformi.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L'accumulo degli errori</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graphicFrame>
        <p:nvGraphicFramePr>
          <p:cNvPr id="12" name="Chart 0" descr=""/>
          <p:cNvGraphicFramePr/>
          <p:nvPr/>
        </p:nvGraphicFramePr>
        <p:xfrm>
          <a:off x="457200" y="1005840"/>
          <a:ext cx="5120640" cy="2926080"/>
        </p:xfrm>
        <a:graphic xmlns:a="http://schemas.openxmlformats.org/drawingml/2006/main">
          <a:graphicData uri="http://schemas.openxmlformats.org/drawingml/2006/chart">
            <c:chart xmlns:c="http://schemas.openxmlformats.org/drawingml/2006/chart" r:id="rId1"/>
          </a:graphicData>
        </a:graphic>
      </p:graphicFrame>
      <p:sp>
        <p:nvSpPr>
          <p:cNvPr id="13" name="10 passaggi al 95%"/>
          <p:cNvSpPr/>
          <p:nvPr/>
        </p:nvSpPr>
        <p:spPr>
          <a:xfrm>
            <a:off x="5806440" y="1051560"/>
            <a:ext cx="2880360" cy="804672"/>
          </a:xfrm>
          <a:prstGeom prst="roundRect">
            <a:avLst>
              <a:gd name="adj" fmla="val 9091"/>
            </a:avLst>
          </a:prstGeom>
          <a:solidFill>
            <a:schemeClr val="bg2"/>
          </a:solidFill>
          <a:ln/>
        </p:spPr>
      </p:sp>
      <p:sp>
        <p:nvSpPr>
          <p:cNvPr id="14" name="Text 10"/>
          <p:cNvSpPr txBox="1"/>
          <p:nvPr/>
        </p:nvSpPr>
        <p:spPr>
          <a:xfrm>
            <a:off x="5943600" y="1106424"/>
            <a:ext cx="2651760" cy="274320"/>
          </a:xfrm>
          <a:prstGeom prst="rect">
            <a:avLst/>
          </a:prstGeom>
          <a:noFill/>
          <a:ln/>
        </p:spPr>
        <p:txBody>
          <a:bodyPr wrap="square" lIns="0" tIns="0" rIns="0" bIns="0" rtlCol="0" anchor="t"/>
          <a:lstStyle/>
          <a:p>
            <a:pPr indent="0" marL="0">
              <a:buNone/>
            </a:pPr>
            <a:r>
              <a:rPr lang="en-US" sz="1200" dirty="0">
                <a:solidFill>
                  <a:schemeClr val="tx2"/>
                </a:solidFill>
              </a:rPr>
              <a:t>10 passaggi al 95%</a:t>
            </a:r>
            <a:endParaRPr lang="en-US" sz="1200" dirty="0"/>
          </a:p>
        </p:txBody>
      </p:sp>
      <p:sp>
        <p:nvSpPr>
          <p:cNvPr id="15" name="Text 11"/>
          <p:cNvSpPr txBox="1"/>
          <p:nvPr/>
        </p:nvSpPr>
        <p:spPr>
          <a:xfrm>
            <a:off x="5943600" y="1380744"/>
            <a:ext cx="2651760" cy="420624"/>
          </a:xfrm>
          <a:prstGeom prst="rect">
            <a:avLst/>
          </a:prstGeom>
          <a:noFill/>
          <a:ln/>
        </p:spPr>
        <p:txBody>
          <a:bodyPr wrap="square" lIns="0" tIns="0" rIns="0" bIns="0" rtlCol="0" anchor="t"/>
          <a:lstStyle/>
          <a:p>
            <a:pPr indent="0" marL="0">
              <a:buNone/>
            </a:pPr>
            <a:r>
              <a:rPr lang="en-US" sz="2200" b="1" dirty="0">
                <a:solidFill>
                  <a:schemeClr val="accent1"/>
                </a:solidFill>
              </a:rPr>
              <a:t>≈ 60%</a:t>
            </a:r>
            <a:endParaRPr lang="en-US" sz="2200" dirty="0"/>
          </a:p>
        </p:txBody>
      </p:sp>
      <p:sp>
        <p:nvSpPr>
          <p:cNvPr id="16" name="20 passaggi al 95%"/>
          <p:cNvSpPr/>
          <p:nvPr/>
        </p:nvSpPr>
        <p:spPr>
          <a:xfrm>
            <a:off x="5806440" y="1947672"/>
            <a:ext cx="2880360" cy="804672"/>
          </a:xfrm>
          <a:prstGeom prst="roundRect">
            <a:avLst>
              <a:gd name="adj" fmla="val 9091"/>
            </a:avLst>
          </a:prstGeom>
          <a:solidFill>
            <a:schemeClr val="accent5"/>
          </a:solidFill>
          <a:ln/>
        </p:spPr>
      </p:sp>
      <p:sp>
        <p:nvSpPr>
          <p:cNvPr id="17" name="Text 13"/>
          <p:cNvSpPr txBox="1"/>
          <p:nvPr/>
        </p:nvSpPr>
        <p:spPr>
          <a:xfrm>
            <a:off x="5943600" y="2002536"/>
            <a:ext cx="2651760" cy="274320"/>
          </a:xfrm>
          <a:prstGeom prst="rect">
            <a:avLst/>
          </a:prstGeom>
          <a:noFill/>
          <a:ln/>
        </p:spPr>
        <p:txBody>
          <a:bodyPr wrap="square" lIns="0" tIns="0" rIns="0" bIns="0" rtlCol="0" anchor="t"/>
          <a:lstStyle/>
          <a:p>
            <a:pPr indent="0" marL="0">
              <a:buNone/>
            </a:pPr>
            <a:r>
              <a:rPr lang="en-US" sz="1200" dirty="0">
                <a:solidFill>
                  <a:schemeClr val="bg1"/>
                </a:solidFill>
              </a:rPr>
              <a:t>20 passaggi al 95%</a:t>
            </a:r>
            <a:endParaRPr lang="en-US" sz="1200" dirty="0"/>
          </a:p>
        </p:txBody>
      </p:sp>
      <p:sp>
        <p:nvSpPr>
          <p:cNvPr id="18" name="Text 14"/>
          <p:cNvSpPr txBox="1"/>
          <p:nvPr/>
        </p:nvSpPr>
        <p:spPr>
          <a:xfrm>
            <a:off x="5943600" y="2276856"/>
            <a:ext cx="2651760" cy="420624"/>
          </a:xfrm>
          <a:prstGeom prst="rect">
            <a:avLst/>
          </a:prstGeom>
          <a:noFill/>
          <a:ln/>
        </p:spPr>
        <p:txBody>
          <a:bodyPr wrap="square" lIns="0" tIns="0" rIns="0" bIns="0" rtlCol="0" anchor="t"/>
          <a:lstStyle/>
          <a:p>
            <a:pPr indent="0" marL="0">
              <a:buNone/>
            </a:pPr>
            <a:r>
              <a:rPr lang="en-US" sz="2200" b="1" dirty="0">
                <a:solidFill>
                  <a:schemeClr val="bg1"/>
                </a:solidFill>
              </a:rPr>
              <a:t>≈ 36%</a:t>
            </a:r>
            <a:endParaRPr lang="en-US" sz="2200" dirty="0"/>
          </a:p>
        </p:txBody>
      </p:sp>
      <p:sp>
        <p:nvSpPr>
          <p:cNvPr id="19" name="20 passaggi al 99%"/>
          <p:cNvSpPr/>
          <p:nvPr/>
        </p:nvSpPr>
        <p:spPr>
          <a:xfrm>
            <a:off x="5806440" y="2843784"/>
            <a:ext cx="2880360" cy="804672"/>
          </a:xfrm>
          <a:prstGeom prst="roundRect">
            <a:avLst>
              <a:gd name="adj" fmla="val 9091"/>
            </a:avLst>
          </a:prstGeom>
          <a:solidFill>
            <a:schemeClr val="bg2"/>
          </a:solidFill>
          <a:ln/>
        </p:spPr>
      </p:sp>
      <p:sp>
        <p:nvSpPr>
          <p:cNvPr id="20" name="Text 16"/>
          <p:cNvSpPr txBox="1"/>
          <p:nvPr/>
        </p:nvSpPr>
        <p:spPr>
          <a:xfrm>
            <a:off x="5943600" y="2898648"/>
            <a:ext cx="2651760" cy="274320"/>
          </a:xfrm>
          <a:prstGeom prst="rect">
            <a:avLst/>
          </a:prstGeom>
          <a:noFill/>
          <a:ln/>
        </p:spPr>
        <p:txBody>
          <a:bodyPr wrap="square" lIns="0" tIns="0" rIns="0" bIns="0" rtlCol="0" anchor="t"/>
          <a:lstStyle/>
          <a:p>
            <a:pPr indent="0" marL="0">
              <a:buNone/>
            </a:pPr>
            <a:r>
              <a:rPr lang="en-US" sz="1200" dirty="0">
                <a:solidFill>
                  <a:schemeClr val="tx2"/>
                </a:solidFill>
              </a:rPr>
              <a:t>20 passaggi al 99%</a:t>
            </a:r>
            <a:endParaRPr lang="en-US" sz="1200" dirty="0"/>
          </a:p>
        </p:txBody>
      </p:sp>
      <p:sp>
        <p:nvSpPr>
          <p:cNvPr id="21" name="Text 17"/>
          <p:cNvSpPr txBox="1"/>
          <p:nvPr/>
        </p:nvSpPr>
        <p:spPr>
          <a:xfrm>
            <a:off x="5943600" y="3172968"/>
            <a:ext cx="2651760" cy="420624"/>
          </a:xfrm>
          <a:prstGeom prst="rect">
            <a:avLst/>
          </a:prstGeom>
          <a:noFill/>
          <a:ln/>
        </p:spPr>
        <p:txBody>
          <a:bodyPr wrap="square" lIns="0" tIns="0" rIns="0" bIns="0" rtlCol="0" anchor="t"/>
          <a:lstStyle/>
          <a:p>
            <a:pPr indent="0" marL="0">
              <a:buNone/>
            </a:pPr>
            <a:r>
              <a:rPr lang="en-US" sz="2200" b="1" dirty="0">
                <a:solidFill>
                  <a:schemeClr val="accent1"/>
                </a:solidFill>
              </a:rPr>
              <a:t>≈ 82%</a:t>
            </a:r>
            <a:endParaRPr lang="en-US" sz="2200" dirty="0"/>
          </a:p>
        </p:txBody>
      </p:sp>
      <p:sp>
        <p:nvSpPr>
          <p:cNvPr id="22" name="messaggio"/>
          <p:cNvSpPr/>
          <p:nvPr/>
        </p:nvSpPr>
        <p:spPr>
          <a:xfrm>
            <a:off x="457200" y="4069080"/>
            <a:ext cx="8229600" cy="502920"/>
          </a:xfrm>
          <a:prstGeom prst="roundRect">
            <a:avLst>
              <a:gd name="adj" fmla="val 14545"/>
            </a:avLst>
          </a:prstGeom>
          <a:solidFill>
            <a:schemeClr val="tx1"/>
          </a:solidFill>
          <a:ln/>
        </p:spPr>
      </p:sp>
      <p:sp>
        <p:nvSpPr>
          <p:cNvPr id="23" name="Text 19"/>
          <p:cNvSpPr txBox="1"/>
          <p:nvPr/>
        </p:nvSpPr>
        <p:spPr>
          <a:xfrm>
            <a:off x="640080" y="4069080"/>
            <a:ext cx="7863840" cy="502920"/>
          </a:xfrm>
          <a:prstGeom prst="rect">
            <a:avLst/>
          </a:prstGeom>
          <a:noFill/>
          <a:ln/>
        </p:spPr>
        <p:txBody>
          <a:bodyPr wrap="square" lIns="0" tIns="0" rIns="0" bIns="0" rtlCol="0" anchor="ctr"/>
          <a:lstStyle/>
          <a:p>
            <a:pPr indent="0" marL="0">
              <a:buNone/>
            </a:pPr>
            <a:r>
              <a:rPr lang="en-US" sz="1200" dirty="0">
                <a:solidFill>
                  <a:schemeClr val="bg1"/>
                </a:solidFill>
              </a:rPr>
              <a:t>Un processo lungo richiede passaggi molto affidabili, o controlli intermedi. Modello semplificato: passaggi indipendenti.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Reversibili e irreversibili</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Text 9"/>
          <p:cNvSpPr txBox="1"/>
          <p:nvPr/>
        </p:nvSpPr>
        <p:spPr>
          <a:xfrm>
            <a:off x="2011680" y="1005840"/>
            <a:ext cx="3200400" cy="274320"/>
          </a:xfrm>
          <a:prstGeom prst="rect">
            <a:avLst/>
          </a:prstGeom>
          <a:noFill/>
          <a:ln/>
        </p:spPr>
        <p:txBody>
          <a:bodyPr wrap="square" lIns="0" tIns="0" rIns="0" bIns="0" rtlCol="0" anchor="t"/>
          <a:lstStyle/>
          <a:p>
            <a:pPr algn="ctr" indent="0" marL="0">
              <a:buNone/>
            </a:pPr>
            <a:r>
              <a:rPr lang="en-US" sz="1100" b="1" dirty="0">
                <a:solidFill>
                  <a:schemeClr val="tx2"/>
                </a:solidFill>
              </a:rPr>
              <a:t>Impatto basso</a:t>
            </a:r>
            <a:endParaRPr lang="en-US" sz="1100" dirty="0"/>
          </a:p>
        </p:txBody>
      </p:sp>
      <p:sp>
        <p:nvSpPr>
          <p:cNvPr id="13" name="Text 10"/>
          <p:cNvSpPr txBox="1"/>
          <p:nvPr/>
        </p:nvSpPr>
        <p:spPr>
          <a:xfrm>
            <a:off x="5349240" y="1005840"/>
            <a:ext cx="3200400" cy="274320"/>
          </a:xfrm>
          <a:prstGeom prst="rect">
            <a:avLst/>
          </a:prstGeom>
          <a:noFill/>
          <a:ln/>
        </p:spPr>
        <p:txBody>
          <a:bodyPr wrap="square" lIns="0" tIns="0" rIns="0" bIns="0" rtlCol="0" anchor="t"/>
          <a:lstStyle/>
          <a:p>
            <a:pPr algn="ctr" indent="0" marL="0">
              <a:buNone/>
            </a:pPr>
            <a:r>
              <a:rPr lang="en-US" sz="1100" b="1" dirty="0">
                <a:solidFill>
                  <a:schemeClr val="tx2"/>
                </a:solidFill>
              </a:rPr>
              <a:t>Impatto alto</a:t>
            </a:r>
            <a:endParaRPr lang="en-US" sz="1100" dirty="0"/>
          </a:p>
        </p:txBody>
      </p:sp>
      <p:sp>
        <p:nvSpPr>
          <p:cNvPr id="14" name="Text 11"/>
          <p:cNvSpPr txBox="1"/>
          <p:nvPr/>
        </p:nvSpPr>
        <p:spPr>
          <a:xfrm>
            <a:off x="457200" y="1325880"/>
            <a:ext cx="1463040" cy="1143000"/>
          </a:xfrm>
          <a:prstGeom prst="rect">
            <a:avLst/>
          </a:prstGeom>
          <a:noFill/>
          <a:ln/>
        </p:spPr>
        <p:txBody>
          <a:bodyPr wrap="square" lIns="0" tIns="0" rIns="0" bIns="0" rtlCol="0" anchor="ctr"/>
          <a:lstStyle/>
          <a:p>
            <a:pPr indent="0" marL="0">
              <a:buNone/>
            </a:pPr>
            <a:r>
              <a:rPr lang="en-US" sz="1200" b="1" dirty="0">
                <a:solidFill>
                  <a:schemeClr val="tx2"/>
                </a:solidFill>
              </a:rPr>
              <a:t>Reversibile</a:t>
            </a:r>
            <a:endParaRPr lang="en-US" sz="1200" dirty="0"/>
          </a:p>
        </p:txBody>
      </p:sp>
      <p:sp>
        <p:nvSpPr>
          <p:cNvPr id="15" name="Text 12"/>
          <p:cNvSpPr txBox="1"/>
          <p:nvPr/>
        </p:nvSpPr>
        <p:spPr>
          <a:xfrm>
            <a:off x="457200" y="2560320"/>
            <a:ext cx="1463040" cy="1143000"/>
          </a:xfrm>
          <a:prstGeom prst="rect">
            <a:avLst/>
          </a:prstGeom>
          <a:noFill/>
          <a:ln/>
        </p:spPr>
        <p:txBody>
          <a:bodyPr wrap="square" lIns="0" tIns="0" rIns="0" bIns="0" rtlCol="0" anchor="ctr"/>
          <a:lstStyle/>
          <a:p>
            <a:pPr indent="0" marL="0">
              <a:buNone/>
            </a:pPr>
            <a:r>
              <a:rPr lang="en-US" sz="1200" b="1" dirty="0">
                <a:solidFill>
                  <a:schemeClr val="tx2"/>
                </a:solidFill>
              </a:rPr>
              <a:t>Irreversibile</a:t>
            </a:r>
            <a:endParaRPr lang="en-US" sz="1200" dirty="0"/>
          </a:p>
        </p:txBody>
      </p:sp>
      <p:sp>
        <p:nvSpPr>
          <p:cNvPr id="16" name="Candidate all'autonomia"/>
          <p:cNvSpPr/>
          <p:nvPr/>
        </p:nvSpPr>
        <p:spPr>
          <a:xfrm>
            <a:off x="2011680" y="1325880"/>
            <a:ext cx="3200400" cy="1143000"/>
          </a:xfrm>
          <a:prstGeom prst="roundRect">
            <a:avLst>
              <a:gd name="adj" fmla="val 6400"/>
            </a:avLst>
          </a:prstGeom>
          <a:solidFill>
            <a:schemeClr val="accent6"/>
          </a:solidFill>
          <a:ln/>
        </p:spPr>
      </p:sp>
      <p:sp>
        <p:nvSpPr>
          <p:cNvPr id="17" name="Text 14"/>
          <p:cNvSpPr txBox="1"/>
          <p:nvPr/>
        </p:nvSpPr>
        <p:spPr>
          <a:xfrm>
            <a:off x="2148840" y="1417320"/>
            <a:ext cx="2926080" cy="365760"/>
          </a:xfrm>
          <a:prstGeom prst="rect">
            <a:avLst/>
          </a:prstGeom>
          <a:noFill/>
          <a:ln/>
        </p:spPr>
        <p:txBody>
          <a:bodyPr wrap="square" lIns="0" tIns="0" rIns="0" bIns="0" rtlCol="0" anchor="t"/>
          <a:lstStyle/>
          <a:p>
            <a:pPr indent="0" marL="0">
              <a:buNone/>
            </a:pPr>
            <a:r>
              <a:rPr lang="en-US" sz="1400" b="1" dirty="0">
                <a:solidFill>
                  <a:schemeClr val="accent1"/>
                </a:solidFill>
              </a:rPr>
              <a:t>Candidate all'autonomia</a:t>
            </a:r>
            <a:endParaRPr lang="en-US" sz="1400" dirty="0"/>
          </a:p>
        </p:txBody>
      </p:sp>
      <p:sp>
        <p:nvSpPr>
          <p:cNvPr id="18" name="Text 15"/>
          <p:cNvSpPr txBox="1"/>
          <p:nvPr/>
        </p:nvSpPr>
        <p:spPr>
          <a:xfrm>
            <a:off x="2148840" y="1828800"/>
            <a:ext cx="2926080" cy="548640"/>
          </a:xfrm>
          <a:prstGeom prst="rect">
            <a:avLst/>
          </a:prstGeom>
          <a:noFill/>
          <a:ln/>
        </p:spPr>
        <p:txBody>
          <a:bodyPr wrap="square" lIns="0" tIns="0" rIns="0" bIns="0" rtlCol="0" anchor="t"/>
          <a:lstStyle/>
          <a:p>
            <a:pPr indent="0" marL="0">
              <a:buNone/>
            </a:pPr>
            <a:r>
              <a:rPr lang="en-US" sz="1200" dirty="0">
                <a:solidFill>
                  <a:schemeClr val="tx1"/>
                </a:solidFill>
              </a:rPr>
              <a:t>Bozze, etichette, nuovi documenti</a:t>
            </a:r>
            <a:endParaRPr lang="en-US" sz="1200" dirty="0"/>
          </a:p>
        </p:txBody>
      </p:sp>
      <p:sp>
        <p:nvSpPr>
          <p:cNvPr id="19" name="Autonomia con monitoraggio"/>
          <p:cNvSpPr/>
          <p:nvPr/>
        </p:nvSpPr>
        <p:spPr>
          <a:xfrm>
            <a:off x="5349240" y="1325880"/>
            <a:ext cx="3200400" cy="1143000"/>
          </a:xfrm>
          <a:prstGeom prst="roundRect">
            <a:avLst>
              <a:gd name="adj" fmla="val 6400"/>
            </a:avLst>
          </a:prstGeom>
          <a:solidFill>
            <a:schemeClr val="bg2"/>
          </a:solidFill>
          <a:ln/>
        </p:spPr>
      </p:sp>
      <p:sp>
        <p:nvSpPr>
          <p:cNvPr id="20" name="Text 17"/>
          <p:cNvSpPr txBox="1"/>
          <p:nvPr/>
        </p:nvSpPr>
        <p:spPr>
          <a:xfrm>
            <a:off x="5486400" y="1417320"/>
            <a:ext cx="2926080" cy="365760"/>
          </a:xfrm>
          <a:prstGeom prst="rect">
            <a:avLst/>
          </a:prstGeom>
          <a:noFill/>
          <a:ln/>
        </p:spPr>
        <p:txBody>
          <a:bodyPr wrap="square" lIns="0" tIns="0" rIns="0" bIns="0" rtlCol="0" anchor="t"/>
          <a:lstStyle/>
          <a:p>
            <a:pPr indent="0" marL="0">
              <a:buNone/>
            </a:pPr>
            <a:r>
              <a:rPr lang="en-US" sz="1400" b="1" dirty="0">
                <a:solidFill>
                  <a:schemeClr val="accent1"/>
                </a:solidFill>
              </a:rPr>
              <a:t>Autonomia con monitoraggio</a:t>
            </a:r>
            <a:endParaRPr lang="en-US" sz="1400" dirty="0"/>
          </a:p>
        </p:txBody>
      </p:sp>
      <p:sp>
        <p:nvSpPr>
          <p:cNvPr id="21" name="Text 18"/>
          <p:cNvSpPr txBox="1"/>
          <p:nvPr/>
        </p:nvSpPr>
        <p:spPr>
          <a:xfrm>
            <a:off x="5486400" y="1828800"/>
            <a:ext cx="2926080" cy="548640"/>
          </a:xfrm>
          <a:prstGeom prst="rect">
            <a:avLst/>
          </a:prstGeom>
          <a:noFill/>
          <a:ln/>
        </p:spPr>
        <p:txBody>
          <a:bodyPr wrap="square" lIns="0" tIns="0" rIns="0" bIns="0" rtlCol="0" anchor="t"/>
          <a:lstStyle/>
          <a:p>
            <a:pPr indent="0" marL="0">
              <a:buNone/>
            </a:pPr>
            <a:r>
              <a:rPr lang="en-US" sz="1200" dirty="0">
                <a:solidFill>
                  <a:schemeClr val="tx1"/>
                </a:solidFill>
              </a:rPr>
              <a:t>Modifiche a dati con versioni</a:t>
            </a:r>
            <a:endParaRPr lang="en-US" sz="1200" dirty="0"/>
          </a:p>
        </p:txBody>
      </p:sp>
      <p:sp>
        <p:nvSpPr>
          <p:cNvPr id="22" name="Approvazione consigliata"/>
          <p:cNvSpPr/>
          <p:nvPr/>
        </p:nvSpPr>
        <p:spPr>
          <a:xfrm>
            <a:off x="2011680" y="2560320"/>
            <a:ext cx="3200400" cy="1143000"/>
          </a:xfrm>
          <a:prstGeom prst="roundRect">
            <a:avLst>
              <a:gd name="adj" fmla="val 6400"/>
            </a:avLst>
          </a:prstGeom>
          <a:solidFill>
            <a:schemeClr val="bg2"/>
          </a:solidFill>
          <a:ln/>
        </p:spPr>
      </p:sp>
      <p:sp>
        <p:nvSpPr>
          <p:cNvPr id="23" name="Text 20"/>
          <p:cNvSpPr txBox="1"/>
          <p:nvPr/>
        </p:nvSpPr>
        <p:spPr>
          <a:xfrm>
            <a:off x="2148840" y="2651760"/>
            <a:ext cx="2926080" cy="365760"/>
          </a:xfrm>
          <a:prstGeom prst="rect">
            <a:avLst/>
          </a:prstGeom>
          <a:noFill/>
          <a:ln/>
        </p:spPr>
        <p:txBody>
          <a:bodyPr wrap="square" lIns="0" tIns="0" rIns="0" bIns="0" rtlCol="0" anchor="t"/>
          <a:lstStyle/>
          <a:p>
            <a:pPr indent="0" marL="0">
              <a:buNone/>
            </a:pPr>
            <a:r>
              <a:rPr lang="en-US" sz="1400" b="1" dirty="0">
                <a:solidFill>
                  <a:schemeClr val="accent1"/>
                </a:solidFill>
              </a:rPr>
              <a:t>Approvazione consigliata</a:t>
            </a:r>
            <a:endParaRPr lang="en-US" sz="1400" dirty="0"/>
          </a:p>
        </p:txBody>
      </p:sp>
      <p:sp>
        <p:nvSpPr>
          <p:cNvPr id="24" name="Text 21"/>
          <p:cNvSpPr txBox="1"/>
          <p:nvPr/>
        </p:nvSpPr>
        <p:spPr>
          <a:xfrm>
            <a:off x="2148840" y="3063240"/>
            <a:ext cx="2926080" cy="548640"/>
          </a:xfrm>
          <a:prstGeom prst="rect">
            <a:avLst/>
          </a:prstGeom>
          <a:noFill/>
          <a:ln/>
        </p:spPr>
        <p:txBody>
          <a:bodyPr wrap="square" lIns="0" tIns="0" rIns="0" bIns="0" rtlCol="0" anchor="t"/>
          <a:lstStyle/>
          <a:p>
            <a:pPr indent="0" marL="0">
              <a:buNone/>
            </a:pPr>
            <a:r>
              <a:rPr lang="en-US" sz="1200" dirty="0">
                <a:solidFill>
                  <a:schemeClr val="tx1"/>
                </a:solidFill>
              </a:rPr>
              <a:t>Email interne, eventi confermati</a:t>
            </a:r>
            <a:endParaRPr lang="en-US" sz="1200" dirty="0"/>
          </a:p>
        </p:txBody>
      </p:sp>
      <p:sp>
        <p:nvSpPr>
          <p:cNvPr id="25" name="Approvazione esplicita"/>
          <p:cNvSpPr/>
          <p:nvPr/>
        </p:nvSpPr>
        <p:spPr>
          <a:xfrm>
            <a:off x="5349240" y="2560320"/>
            <a:ext cx="3200400" cy="1143000"/>
          </a:xfrm>
          <a:prstGeom prst="roundRect">
            <a:avLst>
              <a:gd name="adj" fmla="val 6400"/>
            </a:avLst>
          </a:prstGeom>
          <a:solidFill>
            <a:schemeClr val="tx1"/>
          </a:solidFill>
          <a:ln/>
        </p:spPr>
      </p:sp>
      <p:sp>
        <p:nvSpPr>
          <p:cNvPr id="26" name="Text 23"/>
          <p:cNvSpPr txBox="1"/>
          <p:nvPr/>
        </p:nvSpPr>
        <p:spPr>
          <a:xfrm>
            <a:off x="5486400" y="2651760"/>
            <a:ext cx="2926080" cy="365760"/>
          </a:xfrm>
          <a:prstGeom prst="rect">
            <a:avLst/>
          </a:prstGeom>
          <a:noFill/>
          <a:ln/>
        </p:spPr>
        <p:txBody>
          <a:bodyPr wrap="square" lIns="0" tIns="0" rIns="0" bIns="0" rtlCol="0" anchor="t"/>
          <a:lstStyle/>
          <a:p>
            <a:pPr indent="0" marL="0">
              <a:buNone/>
            </a:pPr>
            <a:r>
              <a:rPr lang="en-US" sz="1400" b="1" dirty="0">
                <a:solidFill>
                  <a:schemeClr val="accent6"/>
                </a:solidFill>
              </a:rPr>
              <a:t>Approvazione esplicita</a:t>
            </a:r>
            <a:endParaRPr lang="en-US" sz="1400" dirty="0"/>
          </a:p>
        </p:txBody>
      </p:sp>
      <p:sp>
        <p:nvSpPr>
          <p:cNvPr id="27" name="Text 24"/>
          <p:cNvSpPr txBox="1"/>
          <p:nvPr/>
        </p:nvSpPr>
        <p:spPr>
          <a:xfrm>
            <a:off x="5486400" y="3063240"/>
            <a:ext cx="2926080" cy="548640"/>
          </a:xfrm>
          <a:prstGeom prst="rect">
            <a:avLst/>
          </a:prstGeom>
          <a:noFill/>
          <a:ln/>
        </p:spPr>
        <p:txBody>
          <a:bodyPr wrap="square" lIns="0" tIns="0" rIns="0" bIns="0" rtlCol="0" anchor="t"/>
          <a:lstStyle/>
          <a:p>
            <a:pPr indent="0" marL="0">
              <a:buNone/>
            </a:pPr>
            <a:r>
              <a:rPr lang="en-US" sz="1200" dirty="0">
                <a:solidFill>
                  <a:schemeClr val="bg1"/>
                </a:solidFill>
              </a:rPr>
              <a:t>Email esterne, pagamenti, pubblicazioni</a:t>
            </a:r>
            <a:endParaRPr lang="en-US" sz="1200" dirty="0"/>
          </a:p>
        </p:txBody>
      </p:sp>
      <p:sp>
        <p:nvSpPr>
          <p:cNvPr id="28" name="messaggio"/>
          <p:cNvSpPr/>
          <p:nvPr/>
        </p:nvSpPr>
        <p:spPr>
          <a:xfrm>
            <a:off x="457200" y="3886200"/>
            <a:ext cx="8229600" cy="640080"/>
          </a:xfrm>
          <a:prstGeom prst="roundRect">
            <a:avLst>
              <a:gd name="adj" fmla="val 11429"/>
            </a:avLst>
          </a:prstGeom>
          <a:solidFill>
            <a:schemeClr val="tx1"/>
          </a:solidFill>
          <a:ln/>
        </p:spPr>
      </p:sp>
      <p:sp>
        <p:nvSpPr>
          <p:cNvPr id="29" name="Text 26"/>
          <p:cNvSpPr txBox="1"/>
          <p:nvPr/>
        </p:nvSpPr>
        <p:spPr>
          <a:xfrm>
            <a:off x="640080" y="3886200"/>
            <a:ext cx="7863840" cy="640080"/>
          </a:xfrm>
          <a:prstGeom prst="rect">
            <a:avLst/>
          </a:prstGeom>
          <a:noFill/>
          <a:ln/>
        </p:spPr>
        <p:txBody>
          <a:bodyPr wrap="square" lIns="0" tIns="0" rIns="0" bIns="0" rtlCol="0" anchor="ctr"/>
          <a:lstStyle/>
          <a:p>
            <a:pPr indent="0" marL="0">
              <a:buNone/>
            </a:pPr>
            <a:r>
              <a:rPr lang="en-US" sz="1300" dirty="0">
                <a:solidFill>
                  <a:schemeClr val="bg1"/>
                </a:solidFill>
              </a:rPr>
              <a:t>Rendere reversibile ciò che non lo è: bozze invece di invii, un ritardo prima dell'invio per poter annullare.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46</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300" b="1" spc="200" kern="0" dirty="0">
                <a:solidFill>
                  <a:schemeClr val="accent1"/>
                </a:solidFill>
              </a:rPr>
              <a:t>AI ADOPTION  ·  LASER SRL  ·  SESSIONE 2 DI 3</a:t>
            </a: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Dagli sprechi ai casi d'uso</a:t>
            </a: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en-US" sz="1600" dirty="0">
                <a:solidFill>
                  <a:schemeClr val="accent3"/>
                </a:solidFill>
              </a:rPr>
              <a:t>Processi, service e macchina</a:t>
            </a:r>
            <a:endParaRPr 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Compito e processo</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sp>
        <p:nvSpPr>
          <p:cNvPr id="12" name="blocco Attività A"/>
          <p:cNvSpPr/>
          <p:nvPr/>
        </p:nvSpPr>
        <p:spPr>
          <a:xfrm>
            <a:off x="457200" y="1097280"/>
            <a:ext cx="1874520" cy="594360"/>
          </a:xfrm>
          <a:prstGeom prst="roundRect">
            <a:avLst>
              <a:gd name="adj" fmla="val 18462"/>
            </a:avLst>
          </a:prstGeom>
          <a:solidFill>
            <a:schemeClr val="bg2"/>
          </a:solidFill>
          <a:ln/>
        </p:spPr>
      </p:sp>
      <p:sp>
        <p:nvSpPr>
          <p:cNvPr id="13" name="Text 10"/>
          <p:cNvSpPr txBox="1"/>
          <p:nvPr/>
        </p:nvSpPr>
        <p:spPr>
          <a:xfrm>
            <a:off x="502920" y="1097280"/>
            <a:ext cx="1783080" cy="594360"/>
          </a:xfrm>
          <a:prstGeom prst="rect">
            <a:avLst/>
          </a:prstGeom>
          <a:noFill/>
          <a:ln/>
        </p:spPr>
        <p:txBody>
          <a:bodyPr wrap="square" lIns="0" tIns="0" rIns="0" bIns="0" rtlCol="0" anchor="ctr"/>
          <a:lstStyle/>
          <a:p>
            <a:pPr algn="ctr" indent="0" marL="0">
              <a:buNone/>
            </a:pPr>
            <a:r>
              <a:rPr lang="en-US" sz="1300" b="1" dirty="0">
                <a:solidFill>
                  <a:schemeClr val="tx1"/>
                </a:solidFill>
              </a:rPr>
              <a:t>Attività A</a:t>
            </a:r>
            <a:endParaRPr lang="en-US" sz="1300" dirty="0"/>
          </a:p>
        </p:txBody>
      </p:sp>
      <p:sp>
        <p:nvSpPr>
          <p:cNvPr id="14" name="freccia"/>
          <p:cNvSpPr/>
          <p:nvPr/>
        </p:nvSpPr>
        <p:spPr>
          <a:xfrm>
            <a:off x="2350008" y="1252728"/>
            <a:ext cx="182880" cy="292608"/>
          </a:xfrm>
          <a:prstGeom prst="rightArrow">
            <a:avLst/>
          </a:prstGeom>
          <a:solidFill>
            <a:schemeClr val="accent2"/>
          </a:solidFill>
          <a:ln/>
        </p:spPr>
      </p:sp>
      <p:sp>
        <p:nvSpPr>
          <p:cNvPr id="15" name="blocco Attività B"/>
          <p:cNvSpPr/>
          <p:nvPr/>
        </p:nvSpPr>
        <p:spPr>
          <a:xfrm>
            <a:off x="2560320" y="1097280"/>
            <a:ext cx="1874520" cy="594360"/>
          </a:xfrm>
          <a:prstGeom prst="roundRect">
            <a:avLst>
              <a:gd name="adj" fmla="val 18462"/>
            </a:avLst>
          </a:prstGeom>
          <a:solidFill>
            <a:schemeClr val="accent1"/>
          </a:solidFill>
          <a:ln/>
        </p:spPr>
      </p:sp>
      <p:sp>
        <p:nvSpPr>
          <p:cNvPr id="16" name="Text 13"/>
          <p:cNvSpPr txBox="1"/>
          <p:nvPr/>
        </p:nvSpPr>
        <p:spPr>
          <a:xfrm>
            <a:off x="2606040" y="1097280"/>
            <a:ext cx="1783080" cy="594360"/>
          </a:xfrm>
          <a:prstGeom prst="rect">
            <a:avLst/>
          </a:prstGeom>
          <a:noFill/>
          <a:ln/>
        </p:spPr>
        <p:txBody>
          <a:bodyPr wrap="square" lIns="0" tIns="0" rIns="0" bIns="0" rtlCol="0" anchor="ctr"/>
          <a:lstStyle/>
          <a:p>
            <a:pPr algn="ctr" indent="0" marL="0">
              <a:buNone/>
            </a:pPr>
            <a:r>
              <a:rPr lang="en-US" sz="1300" b="1" dirty="0">
                <a:solidFill>
                  <a:schemeClr val="bg1"/>
                </a:solidFill>
              </a:rPr>
              <a:t>Attività B</a:t>
            </a:r>
            <a:endParaRPr lang="en-US" sz="1300" dirty="0"/>
          </a:p>
        </p:txBody>
      </p:sp>
      <p:sp>
        <p:nvSpPr>
          <p:cNvPr id="17" name="freccia"/>
          <p:cNvSpPr/>
          <p:nvPr/>
        </p:nvSpPr>
        <p:spPr>
          <a:xfrm>
            <a:off x="4453128" y="1252728"/>
            <a:ext cx="182880" cy="292608"/>
          </a:xfrm>
          <a:prstGeom prst="rightArrow">
            <a:avLst/>
          </a:prstGeom>
          <a:solidFill>
            <a:schemeClr val="accent2"/>
          </a:solidFill>
          <a:ln/>
        </p:spPr>
      </p:sp>
      <p:sp>
        <p:nvSpPr>
          <p:cNvPr id="18" name="blocco Attività C"/>
          <p:cNvSpPr/>
          <p:nvPr/>
        </p:nvSpPr>
        <p:spPr>
          <a:xfrm>
            <a:off x="4663440" y="1097280"/>
            <a:ext cx="1874520" cy="594360"/>
          </a:xfrm>
          <a:prstGeom prst="roundRect">
            <a:avLst>
              <a:gd name="adj" fmla="val 18462"/>
            </a:avLst>
          </a:prstGeom>
          <a:solidFill>
            <a:schemeClr val="bg2"/>
          </a:solidFill>
          <a:ln/>
        </p:spPr>
      </p:sp>
      <p:sp>
        <p:nvSpPr>
          <p:cNvPr id="19" name="Text 16"/>
          <p:cNvSpPr txBox="1"/>
          <p:nvPr/>
        </p:nvSpPr>
        <p:spPr>
          <a:xfrm>
            <a:off x="4709160" y="1097280"/>
            <a:ext cx="1783080" cy="594360"/>
          </a:xfrm>
          <a:prstGeom prst="rect">
            <a:avLst/>
          </a:prstGeom>
          <a:noFill/>
          <a:ln/>
        </p:spPr>
        <p:txBody>
          <a:bodyPr wrap="square" lIns="0" tIns="0" rIns="0" bIns="0" rtlCol="0" anchor="ctr"/>
          <a:lstStyle/>
          <a:p>
            <a:pPr algn="ctr" indent="0" marL="0">
              <a:buNone/>
            </a:pPr>
            <a:r>
              <a:rPr lang="en-US" sz="1300" b="1" dirty="0">
                <a:solidFill>
                  <a:schemeClr val="tx1"/>
                </a:solidFill>
              </a:rPr>
              <a:t>Attività C</a:t>
            </a:r>
            <a:endParaRPr lang="en-US" sz="1300" dirty="0"/>
          </a:p>
        </p:txBody>
      </p:sp>
      <p:sp>
        <p:nvSpPr>
          <p:cNvPr id="20" name="freccia"/>
          <p:cNvSpPr/>
          <p:nvPr/>
        </p:nvSpPr>
        <p:spPr>
          <a:xfrm>
            <a:off x="6556248" y="1252728"/>
            <a:ext cx="182880" cy="292608"/>
          </a:xfrm>
          <a:prstGeom prst="rightArrow">
            <a:avLst/>
          </a:prstGeom>
          <a:solidFill>
            <a:schemeClr val="accent2"/>
          </a:solidFill>
          <a:ln/>
        </p:spPr>
      </p:sp>
      <p:sp>
        <p:nvSpPr>
          <p:cNvPr id="21" name="blocco Risultato"/>
          <p:cNvSpPr/>
          <p:nvPr/>
        </p:nvSpPr>
        <p:spPr>
          <a:xfrm>
            <a:off x="6766560" y="1097280"/>
            <a:ext cx="1874520" cy="594360"/>
          </a:xfrm>
          <a:prstGeom prst="roundRect">
            <a:avLst>
              <a:gd name="adj" fmla="val 18462"/>
            </a:avLst>
          </a:prstGeom>
          <a:solidFill>
            <a:schemeClr val="tx1"/>
          </a:solidFill>
          <a:ln/>
        </p:spPr>
      </p:sp>
      <p:sp>
        <p:nvSpPr>
          <p:cNvPr id="22" name="Text 19"/>
          <p:cNvSpPr txBox="1"/>
          <p:nvPr/>
        </p:nvSpPr>
        <p:spPr>
          <a:xfrm>
            <a:off x="6812280" y="1097280"/>
            <a:ext cx="1783080" cy="594360"/>
          </a:xfrm>
          <a:prstGeom prst="rect">
            <a:avLst/>
          </a:prstGeom>
          <a:noFill/>
          <a:ln/>
        </p:spPr>
        <p:txBody>
          <a:bodyPr wrap="square" lIns="0" tIns="0" rIns="0" bIns="0" rtlCol="0" anchor="ctr"/>
          <a:lstStyle/>
          <a:p>
            <a:pPr algn="ctr" indent="0" marL="0">
              <a:buNone/>
            </a:pPr>
            <a:r>
              <a:rPr lang="en-US" sz="1300" b="1" dirty="0">
                <a:solidFill>
                  <a:schemeClr val="bg1"/>
                </a:solidFill>
              </a:rPr>
              <a:t>Risultato</a:t>
            </a:r>
            <a:endParaRPr lang="en-US" sz="1300" dirty="0"/>
          </a:p>
        </p:txBody>
      </p:sp>
      <p:sp>
        <p:nvSpPr>
          <p:cNvPr id="23" name="Text 20"/>
          <p:cNvSpPr txBox="1"/>
          <p:nvPr/>
        </p:nvSpPr>
        <p:spPr>
          <a:xfrm>
            <a:off x="2560320" y="1737360"/>
            <a:ext cx="1874520" cy="274320"/>
          </a:xfrm>
          <a:prstGeom prst="rect">
            <a:avLst/>
          </a:prstGeom>
          <a:noFill/>
          <a:ln/>
        </p:spPr>
        <p:txBody>
          <a:bodyPr wrap="square" lIns="0" tIns="0" rIns="0" bIns="0" rtlCol="0" anchor="t"/>
          <a:lstStyle/>
          <a:p>
            <a:pPr algn="ctr" indent="0" marL="0">
              <a:buNone/>
            </a:pPr>
            <a:r>
              <a:rPr lang="en-US" sz="1100" b="1" i="1" dirty="0">
                <a:solidFill>
                  <a:schemeClr val="accent1"/>
                </a:solidFill>
              </a:rPr>
              <a:t>AI applicata a B</a:t>
            </a:r>
            <a:endParaRPr lang="en-US" sz="1100" dirty="0"/>
          </a:p>
        </p:txBody>
      </p:sp>
      <p:sp>
        <p:nvSpPr>
          <p:cNvPr id="24" name="Il processo migliora"/>
          <p:cNvSpPr/>
          <p:nvPr/>
        </p:nvSpPr>
        <p:spPr>
          <a:xfrm>
            <a:off x="457200" y="2194560"/>
            <a:ext cx="2615184" cy="1097280"/>
          </a:xfrm>
          <a:prstGeom prst="roundRect">
            <a:avLst>
              <a:gd name="adj" fmla="val 6667"/>
            </a:avLst>
          </a:prstGeom>
          <a:solidFill>
            <a:schemeClr val="accent6"/>
          </a:solidFill>
          <a:ln/>
        </p:spPr>
      </p:sp>
      <p:sp>
        <p:nvSpPr>
          <p:cNvPr id="25" name="Text 22"/>
          <p:cNvSpPr txBox="1"/>
          <p:nvPr/>
        </p:nvSpPr>
        <p:spPr>
          <a:xfrm>
            <a:off x="594360" y="2267712"/>
            <a:ext cx="2340864" cy="365760"/>
          </a:xfrm>
          <a:prstGeom prst="rect">
            <a:avLst/>
          </a:prstGeom>
          <a:noFill/>
          <a:ln/>
        </p:spPr>
        <p:txBody>
          <a:bodyPr wrap="square" lIns="0" tIns="0" rIns="0" bIns="0" rtlCol="0" anchor="t"/>
          <a:lstStyle/>
          <a:p>
            <a:pPr indent="0" marL="0">
              <a:buNone/>
            </a:pPr>
            <a:r>
              <a:rPr lang="en-US" sz="1300" b="1" dirty="0">
                <a:solidFill>
                  <a:schemeClr val="accent1"/>
                </a:solidFill>
              </a:rPr>
              <a:t>Il processo migliora</a:t>
            </a:r>
            <a:endParaRPr lang="en-US" sz="1300" dirty="0"/>
          </a:p>
        </p:txBody>
      </p:sp>
      <p:sp>
        <p:nvSpPr>
          <p:cNvPr id="26" name="Text 23"/>
          <p:cNvSpPr txBox="1"/>
          <p:nvPr/>
        </p:nvSpPr>
        <p:spPr>
          <a:xfrm>
            <a:off x="594360" y="2651760"/>
            <a:ext cx="2340864" cy="594360"/>
          </a:xfrm>
          <a:prstGeom prst="rect">
            <a:avLst/>
          </a:prstGeom>
          <a:noFill/>
          <a:ln/>
        </p:spPr>
        <p:txBody>
          <a:bodyPr wrap="square" lIns="0" tIns="0" rIns="0" bIns="0" rtlCol="0" anchor="t"/>
          <a:lstStyle/>
          <a:p>
            <a:pPr indent="0" marL="0">
              <a:buNone/>
            </a:pPr>
            <a:r>
              <a:rPr lang="en-US" sz="1200" dirty="0">
                <a:solidFill>
                  <a:schemeClr val="tx1"/>
                </a:solidFill>
              </a:rPr>
              <a:t>Il caso migliore</a:t>
            </a:r>
            <a:endParaRPr lang="en-US" sz="1200" dirty="0"/>
          </a:p>
        </p:txBody>
      </p:sp>
      <p:sp>
        <p:nvSpPr>
          <p:cNvPr id="27" name="Il miglioramento resta locale"/>
          <p:cNvSpPr/>
          <p:nvPr/>
        </p:nvSpPr>
        <p:spPr>
          <a:xfrm>
            <a:off x="3264408" y="2194560"/>
            <a:ext cx="2615184" cy="1097280"/>
          </a:xfrm>
          <a:prstGeom prst="roundRect">
            <a:avLst>
              <a:gd name="adj" fmla="val 6667"/>
            </a:avLst>
          </a:prstGeom>
          <a:solidFill>
            <a:schemeClr val="bg2"/>
          </a:solidFill>
          <a:ln/>
        </p:spPr>
      </p:sp>
      <p:sp>
        <p:nvSpPr>
          <p:cNvPr id="28" name="Text 25"/>
          <p:cNvSpPr txBox="1"/>
          <p:nvPr/>
        </p:nvSpPr>
        <p:spPr>
          <a:xfrm>
            <a:off x="3401568" y="2267712"/>
            <a:ext cx="2340864" cy="365760"/>
          </a:xfrm>
          <a:prstGeom prst="rect">
            <a:avLst/>
          </a:prstGeom>
          <a:noFill/>
          <a:ln/>
        </p:spPr>
        <p:txBody>
          <a:bodyPr wrap="square" lIns="0" tIns="0" rIns="0" bIns="0" rtlCol="0" anchor="t"/>
          <a:lstStyle/>
          <a:p>
            <a:pPr indent="0" marL="0">
              <a:buNone/>
            </a:pPr>
            <a:r>
              <a:rPr lang="en-US" sz="1300" b="1" dirty="0">
                <a:solidFill>
                  <a:schemeClr val="accent1"/>
                </a:solidFill>
              </a:rPr>
              <a:t>Il miglioramento resta locale</a:t>
            </a:r>
            <a:endParaRPr lang="en-US" sz="1300" dirty="0"/>
          </a:p>
        </p:txBody>
      </p:sp>
      <p:sp>
        <p:nvSpPr>
          <p:cNvPr id="29" name="Text 26"/>
          <p:cNvSpPr txBox="1"/>
          <p:nvPr/>
        </p:nvSpPr>
        <p:spPr>
          <a:xfrm>
            <a:off x="3401568" y="2651760"/>
            <a:ext cx="2340864" cy="594360"/>
          </a:xfrm>
          <a:prstGeom prst="rect">
            <a:avLst/>
          </a:prstGeom>
          <a:noFill/>
          <a:ln/>
        </p:spPr>
        <p:txBody>
          <a:bodyPr wrap="square" lIns="0" tIns="0" rIns="0" bIns="0" rtlCol="0" anchor="t"/>
          <a:lstStyle/>
          <a:p>
            <a:pPr indent="0" marL="0">
              <a:buNone/>
            </a:pPr>
            <a:r>
              <a:rPr lang="en-US" sz="1200" dirty="0">
                <a:solidFill>
                  <a:schemeClr val="tx1"/>
                </a:solidFill>
              </a:rPr>
              <a:t>Il collo di bottiglia è altrove</a:t>
            </a:r>
            <a:endParaRPr lang="en-US" sz="1200" dirty="0"/>
          </a:p>
        </p:txBody>
      </p:sp>
      <p:sp>
        <p:nvSpPr>
          <p:cNvPr id="30" name="Il processo peggiora"/>
          <p:cNvSpPr/>
          <p:nvPr/>
        </p:nvSpPr>
        <p:spPr>
          <a:xfrm>
            <a:off x="6071616" y="2194560"/>
            <a:ext cx="2615184" cy="1097280"/>
          </a:xfrm>
          <a:prstGeom prst="roundRect">
            <a:avLst>
              <a:gd name="adj" fmla="val 6667"/>
            </a:avLst>
          </a:prstGeom>
          <a:solidFill>
            <a:schemeClr val="bg2"/>
          </a:solidFill>
          <a:ln/>
        </p:spPr>
      </p:sp>
      <p:sp>
        <p:nvSpPr>
          <p:cNvPr id="31" name="Text 28"/>
          <p:cNvSpPr txBox="1"/>
          <p:nvPr/>
        </p:nvSpPr>
        <p:spPr>
          <a:xfrm>
            <a:off x="6208776" y="2267712"/>
            <a:ext cx="2340864" cy="365760"/>
          </a:xfrm>
          <a:prstGeom prst="rect">
            <a:avLst/>
          </a:prstGeom>
          <a:noFill/>
          <a:ln/>
        </p:spPr>
        <p:txBody>
          <a:bodyPr wrap="square" lIns="0" tIns="0" rIns="0" bIns="0" rtlCol="0" anchor="t"/>
          <a:lstStyle/>
          <a:p>
            <a:pPr indent="0" marL="0">
              <a:buNone/>
            </a:pPr>
            <a:r>
              <a:rPr lang="en-US" sz="1300" b="1" dirty="0">
                <a:solidFill>
                  <a:schemeClr val="accent5"/>
                </a:solidFill>
              </a:rPr>
              <a:t>Il processo peggiora</a:t>
            </a:r>
            <a:endParaRPr lang="en-US" sz="1300" dirty="0"/>
          </a:p>
        </p:txBody>
      </p:sp>
      <p:sp>
        <p:nvSpPr>
          <p:cNvPr id="32" name="Text 29"/>
          <p:cNvSpPr txBox="1"/>
          <p:nvPr/>
        </p:nvSpPr>
        <p:spPr>
          <a:xfrm>
            <a:off x="6208776" y="2651760"/>
            <a:ext cx="2340864" cy="594360"/>
          </a:xfrm>
          <a:prstGeom prst="rect">
            <a:avLst/>
          </a:prstGeom>
          <a:noFill/>
          <a:ln/>
        </p:spPr>
        <p:txBody>
          <a:bodyPr wrap="square" lIns="0" tIns="0" rIns="0" bIns="0" rtlCol="0" anchor="t"/>
          <a:lstStyle/>
          <a:p>
            <a:pPr indent="0" marL="0">
              <a:buNone/>
            </a:pPr>
            <a:r>
              <a:rPr lang="en-US" sz="1200" dirty="0">
                <a:solidFill>
                  <a:schemeClr val="tx1"/>
                </a:solidFill>
              </a:rPr>
              <a:t>Code dopo, qualità da correggere, formati incompatibili</a:t>
            </a:r>
            <a:endParaRPr lang="en-US" sz="1200" dirty="0"/>
          </a:p>
        </p:txBody>
      </p:sp>
      <p:sp>
        <p:nvSpPr>
          <p:cNvPr id="33" name="messaggio"/>
          <p:cNvSpPr/>
          <p:nvPr/>
        </p:nvSpPr>
        <p:spPr>
          <a:xfrm>
            <a:off x="457200" y="3520440"/>
            <a:ext cx="8229600" cy="640080"/>
          </a:xfrm>
          <a:prstGeom prst="roundRect">
            <a:avLst>
              <a:gd name="adj" fmla="val 11429"/>
            </a:avLst>
          </a:prstGeom>
          <a:solidFill>
            <a:schemeClr val="tx1"/>
          </a:solidFill>
          <a:ln/>
        </p:spPr>
      </p:sp>
      <p:sp>
        <p:nvSpPr>
          <p:cNvPr id="34" name="Text 31"/>
          <p:cNvSpPr txBox="1"/>
          <p:nvPr/>
        </p:nvSpPr>
        <p:spPr>
          <a:xfrm>
            <a:off x="640080" y="3520440"/>
            <a:ext cx="7863840" cy="640080"/>
          </a:xfrm>
          <a:prstGeom prst="rect">
            <a:avLst/>
          </a:prstGeom>
          <a:noFill/>
          <a:ln/>
        </p:spPr>
        <p:txBody>
          <a:bodyPr wrap="square" lIns="0" tIns="0" rIns="0" bIns="0" rtlCol="0" anchor="ctr"/>
          <a:lstStyle/>
          <a:p>
            <a:pPr indent="0" marL="0">
              <a:buNone/>
            </a:pPr>
            <a:r>
              <a:rPr lang="en-US" sz="1400" dirty="0">
                <a:solidFill>
                  <a:schemeClr val="bg1"/>
                </a:solidFill>
              </a:rPr>
              <a:t>Le interdipendenze sono la chiave: l'output di un'attività è l'input della successiva.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22</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 processo trasformato</a:t>
            </a:r>
            <a:endParaRPr lang="en-US" sz="2600" dirty="0"/>
          </a:p>
        </p:txBody>
      </p:sp>
      <p:sp>
        <p:nvSpPr>
          <p:cNvPr id="4" name="dimensione Attiv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Attività</a:t>
            </a:r>
            <a:endParaRPr lang="en-US" sz="800" dirty="0"/>
          </a:p>
        </p:txBody>
      </p:sp>
      <p:sp>
        <p:nvSpPr>
          <p:cNvPr id="6" name="dimensione Process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Processi</a:t>
            </a:r>
            <a:endParaRPr lang="en-US" sz="800" dirty="0"/>
          </a:p>
        </p:txBody>
      </p:sp>
      <p:sp>
        <p:nvSpPr>
          <p:cNvPr id="8" name="dimensione Pers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Persone</a:t>
            </a:r>
            <a:endParaRPr lang="en-US" sz="800" dirty="0"/>
          </a:p>
        </p:txBody>
      </p:sp>
      <p:sp>
        <p:nvSpPr>
          <p:cNvPr id="10" name="dimensione Rischi"/>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Rischi</a:t>
            </a:r>
            <a:endParaRPr lang="en-US" sz="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645920"/>
                <a:gridCol w="2926080"/>
                <a:gridCol w="3657600"/>
              </a:tblGrid>
              <a:tr h="402336">
                <a:tc>
                  <a:txBody>
                    <a:bodyPr/>
                    <a:lstStyle/>
                    <a:p>
                      <a:pPr indent="0" marL="0">
                        <a:buNone/>
                      </a:pPr>
                      <a:r>
                        <a:rPr lang="en-US" sz="1200" b="1" dirty="0">
                          <a:solidFill>
                            <a:schemeClr val="bg1"/>
                          </a:solidFill>
                        </a:rPr>
                        <a:t>Fase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Modalità tradizionale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Possibile trasformazione con AI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02336">
                <a:tc>
                  <a:txBody>
                    <a:bodyPr/>
                    <a:lstStyle/>
                    <a:p>
                      <a:pPr indent="0" marL="0">
                        <a:buNone/>
                      </a:pPr>
                      <a:r>
                        <a:rPr lang="en-US" sz="1200" b="1" dirty="0">
                          <a:solidFill>
                            <a:schemeClr val="tx1"/>
                          </a:solidFill>
                        </a:rPr>
                        <a:t>Ricezione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Lettura manuale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Classificazione e sintesi assistita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02336">
                <a:tc>
                  <a:txBody>
                    <a:bodyPr/>
                    <a:lstStyle/>
                    <a:p>
                      <a:pPr indent="0" marL="0">
                        <a:buNone/>
                      </a:pPr>
                      <a:r>
                        <a:rPr lang="en-US" sz="1200" b="1" dirty="0">
                          <a:solidFill>
                            <a:schemeClr val="tx1"/>
                          </a:solidFill>
                        </a:rPr>
                        <a:t>Analisi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Ricerca delle informazioni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Recupero guidato di fonti pertinenti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02336">
                <a:tc>
                  <a:txBody>
                    <a:bodyPr/>
                    <a:lstStyle/>
                    <a:p>
                      <a:pPr indent="0" marL="0">
                        <a:buNone/>
                      </a:pPr>
                      <a:r>
                        <a:rPr lang="en-US" sz="1200" b="1" dirty="0">
                          <a:solidFill>
                            <a:schemeClr val="tx1"/>
                          </a:solidFill>
                        </a:rPr>
                        <a:t>Preparazione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Stesura della risposta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Produzione di una bozza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02336">
                <a:tc>
                  <a:txBody>
                    <a:bodyPr/>
                    <a:lstStyle/>
                    <a:p>
                      <a:pPr indent="0" marL="0">
                        <a:buNone/>
                      </a:pPr>
                      <a:r>
                        <a:rPr lang="en-US" sz="1200" b="1" dirty="0">
                          <a:solidFill>
                            <a:schemeClr val="tx1"/>
                          </a:solidFill>
                        </a:rPr>
                        <a:t>Verifica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Controllo manuale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Revisione umana di bozza, fonti, eccezioni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02336">
                <a:tc>
                  <a:txBody>
                    <a:bodyPr/>
                    <a:lstStyle/>
                    <a:p>
                      <a:pPr indent="0" marL="0">
                        <a:buNone/>
                      </a:pPr>
                      <a:r>
                        <a:rPr lang="en-US" sz="1200" b="1" dirty="0">
                          <a:solidFill>
                            <a:schemeClr val="tx1"/>
                          </a:solidFill>
                        </a:rPr>
                        <a:t>Invio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Comunicazione al cliente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Invio umano o dopo approvazione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Text 9"/>
          <p:cNvSpPr txBox="1"/>
          <p:nvPr/>
        </p:nvSpPr>
        <p:spPr>
          <a:xfrm>
            <a:off x="457200" y="3502152"/>
            <a:ext cx="8229600" cy="228600"/>
          </a:xfrm>
          <a:prstGeom prst="rect">
            <a:avLst/>
          </a:prstGeom>
          <a:noFill/>
          <a:ln/>
        </p:spPr>
        <p:txBody>
          <a:bodyPr wrap="square" lIns="0" tIns="0" rIns="0" bIns="0" rtlCol="0" anchor="t"/>
          <a:lstStyle/>
          <a:p>
            <a:pPr indent="0" marL="0">
              <a:buNone/>
            </a:pPr>
            <a:r>
              <a:rPr lang="en-US" sz="1000" i="1" dirty="0">
                <a:solidFill>
                  <a:schemeClr val="accent2"/>
                </a:solidFill>
              </a:rPr>
              <a:t>Esempio fittizio</a:t>
            </a:r>
            <a:endParaRPr lang="en-US" sz="1000" dirty="0"/>
          </a:p>
        </p:txBody>
      </p:sp>
      <p:sp>
        <p:nvSpPr>
          <p:cNvPr id="14" name="messaggio"/>
          <p:cNvSpPr/>
          <p:nvPr/>
        </p:nvSpPr>
        <p:spPr>
          <a:xfrm>
            <a:off x="457200" y="3794760"/>
            <a:ext cx="8229600" cy="685800"/>
          </a:xfrm>
          <a:prstGeom prst="roundRect">
            <a:avLst>
              <a:gd name="adj" fmla="val 10667"/>
            </a:avLst>
          </a:prstGeom>
          <a:solidFill>
            <a:schemeClr val="tx1"/>
          </a:solidFill>
          <a:ln/>
        </p:spPr>
      </p:sp>
      <p:sp>
        <p:nvSpPr>
          <p:cNvPr id="15" name="Text 11"/>
          <p:cNvSpPr txBox="1"/>
          <p:nvPr/>
        </p:nvSpPr>
        <p:spPr>
          <a:xfrm>
            <a:off x="640080" y="3794760"/>
            <a:ext cx="7863840" cy="685800"/>
          </a:xfrm>
          <a:prstGeom prst="rect">
            <a:avLst/>
          </a:prstGeom>
          <a:noFill/>
          <a:ln/>
        </p:spPr>
        <p:txBody>
          <a:bodyPr wrap="square" lIns="0" tIns="0" rIns="0" bIns="0" rtlCol="0" anchor="ctr"/>
          <a:lstStyle/>
          <a:p>
            <a:pPr indent="0" marL="0">
              <a:buNone/>
            </a:pPr>
            <a:r>
              <a:rPr lang="en-US" sz="1300" dirty="0">
                <a:solidFill>
                  <a:schemeClr val="bg1"/>
                </a:solidFill>
              </a:rPr>
              <a:t>Cambiano distribuzione delle attività, controlli e competenze, non solo i tempi. Si valuta sull'intero processo.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23</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Colli di bottiglia</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graphicFrame>
        <p:nvGraphicFramePr>
          <p:cNvPr id="12" name="Chart 0" descr=""/>
          <p:cNvGraphicFramePr/>
          <p:nvPr/>
        </p:nvGraphicFramePr>
        <p:xfrm>
          <a:off x="457200" y="1005840"/>
          <a:ext cx="4754880" cy="2651760"/>
        </p:xfrm>
        <a:graphic xmlns:a="http://schemas.openxmlformats.org/drawingml/2006/main">
          <a:graphicData uri="http://schemas.openxmlformats.org/drawingml/2006/chart">
            <c:chart xmlns:c="http://schemas.openxmlformats.org/drawingml/2006/chart" r:id="rId1"/>
          </a:graphicData>
        </a:graphic>
      </p:graphicFrame>
      <p:sp>
        <p:nvSpPr>
          <p:cNvPr id="13" name="Preparazione"/>
          <p:cNvSpPr/>
          <p:nvPr/>
        </p:nvSpPr>
        <p:spPr>
          <a:xfrm>
            <a:off x="5486400" y="1097280"/>
            <a:ext cx="3200400" cy="1051560"/>
          </a:xfrm>
          <a:prstGeom prst="roundRect">
            <a:avLst>
              <a:gd name="adj" fmla="val 6957"/>
            </a:avLst>
          </a:prstGeom>
          <a:solidFill>
            <a:schemeClr val="bg2"/>
          </a:solidFill>
          <a:ln/>
        </p:spPr>
      </p:sp>
      <p:sp>
        <p:nvSpPr>
          <p:cNvPr id="14" name="Text 10"/>
          <p:cNvSpPr txBox="1"/>
          <p:nvPr/>
        </p:nvSpPr>
        <p:spPr>
          <a:xfrm>
            <a:off x="5669280" y="1188720"/>
            <a:ext cx="2834640" cy="320040"/>
          </a:xfrm>
          <a:prstGeom prst="rect">
            <a:avLst/>
          </a:prstGeom>
          <a:noFill/>
          <a:ln/>
        </p:spPr>
        <p:txBody>
          <a:bodyPr wrap="square" lIns="0" tIns="0" rIns="0" bIns="0" rtlCol="0" anchor="t"/>
          <a:lstStyle/>
          <a:p>
            <a:pPr indent="0" marL="0">
              <a:buNone/>
            </a:pPr>
            <a:r>
              <a:rPr lang="en-US" sz="1300" dirty="0">
                <a:solidFill>
                  <a:schemeClr val="tx1"/>
                </a:solidFill>
              </a:rPr>
              <a:t>Preparazione</a:t>
            </a:r>
            <a:endParaRPr lang="en-US" sz="1300" dirty="0"/>
          </a:p>
        </p:txBody>
      </p:sp>
      <p:sp>
        <p:nvSpPr>
          <p:cNvPr id="15" name="Text 11"/>
          <p:cNvSpPr txBox="1"/>
          <p:nvPr/>
        </p:nvSpPr>
        <p:spPr>
          <a:xfrm>
            <a:off x="5669280" y="1508760"/>
            <a:ext cx="2834640" cy="548640"/>
          </a:xfrm>
          <a:prstGeom prst="rect">
            <a:avLst/>
          </a:prstGeom>
          <a:noFill/>
          <a:ln/>
        </p:spPr>
        <p:txBody>
          <a:bodyPr wrap="square" lIns="0" tIns="0" rIns="0" bIns="0" rtlCol="0" anchor="t"/>
          <a:lstStyle/>
          <a:p>
            <a:pPr indent="0" marL="0">
              <a:buNone/>
            </a:pPr>
            <a:r>
              <a:rPr lang="en-US" sz="2800" b="1" dirty="0">
                <a:solidFill>
                  <a:schemeClr val="accent1"/>
                </a:solidFill>
              </a:rPr>
              <a:t>-67%</a:t>
            </a:r>
            <a:endParaRPr lang="en-US" sz="2800" dirty="0"/>
          </a:p>
        </p:txBody>
      </p:sp>
      <p:sp>
        <p:nvSpPr>
          <p:cNvPr id="16" name="Processo complessivo"/>
          <p:cNvSpPr/>
          <p:nvPr/>
        </p:nvSpPr>
        <p:spPr>
          <a:xfrm>
            <a:off x="5486400" y="2286000"/>
            <a:ext cx="3200400" cy="1051560"/>
          </a:xfrm>
          <a:prstGeom prst="roundRect">
            <a:avLst>
              <a:gd name="adj" fmla="val 6957"/>
            </a:avLst>
          </a:prstGeom>
          <a:solidFill>
            <a:schemeClr val="accent1"/>
          </a:solidFill>
          <a:ln/>
        </p:spPr>
      </p:sp>
      <p:sp>
        <p:nvSpPr>
          <p:cNvPr id="17" name="Text 13"/>
          <p:cNvSpPr txBox="1"/>
          <p:nvPr/>
        </p:nvSpPr>
        <p:spPr>
          <a:xfrm>
            <a:off x="5669280" y="2377440"/>
            <a:ext cx="2834640" cy="320040"/>
          </a:xfrm>
          <a:prstGeom prst="rect">
            <a:avLst/>
          </a:prstGeom>
          <a:noFill/>
          <a:ln/>
        </p:spPr>
        <p:txBody>
          <a:bodyPr wrap="square" lIns="0" tIns="0" rIns="0" bIns="0" rtlCol="0" anchor="t"/>
          <a:lstStyle/>
          <a:p>
            <a:pPr indent="0" marL="0">
              <a:buNone/>
            </a:pPr>
            <a:r>
              <a:rPr lang="en-US" sz="1300" dirty="0">
                <a:solidFill>
                  <a:schemeClr val="bg1"/>
                </a:solidFill>
              </a:rPr>
              <a:t>Processo complessivo</a:t>
            </a:r>
            <a:endParaRPr lang="en-US" sz="1300" dirty="0"/>
          </a:p>
        </p:txBody>
      </p:sp>
      <p:sp>
        <p:nvSpPr>
          <p:cNvPr id="18" name="Text 14"/>
          <p:cNvSpPr txBox="1"/>
          <p:nvPr/>
        </p:nvSpPr>
        <p:spPr>
          <a:xfrm>
            <a:off x="5669280" y="2697480"/>
            <a:ext cx="2834640" cy="548640"/>
          </a:xfrm>
          <a:prstGeom prst="rect">
            <a:avLst/>
          </a:prstGeom>
          <a:noFill/>
          <a:ln/>
        </p:spPr>
        <p:txBody>
          <a:bodyPr wrap="square" lIns="0" tIns="0" rIns="0" bIns="0" rtlCol="0" anchor="t"/>
          <a:lstStyle/>
          <a:p>
            <a:pPr indent="0" marL="0">
              <a:buNone/>
            </a:pPr>
            <a:r>
              <a:rPr lang="en-US" sz="2800" b="1" dirty="0">
                <a:solidFill>
                  <a:schemeClr val="bg1"/>
                </a:solidFill>
              </a:rPr>
              <a:t>-25%</a:t>
            </a:r>
            <a:endParaRPr lang="en-US" sz="2800" dirty="0"/>
          </a:p>
        </p:txBody>
      </p:sp>
      <p:sp>
        <p:nvSpPr>
          <p:cNvPr id="19" name="messaggio"/>
          <p:cNvSpPr/>
          <p:nvPr/>
        </p:nvSpPr>
        <p:spPr>
          <a:xfrm>
            <a:off x="457200" y="3794760"/>
            <a:ext cx="8229600" cy="731520"/>
          </a:xfrm>
          <a:prstGeom prst="roundRect">
            <a:avLst>
              <a:gd name="adj" fmla="val 10000"/>
            </a:avLst>
          </a:prstGeom>
          <a:solidFill>
            <a:schemeClr val="tx1"/>
          </a:solidFill>
          <a:ln/>
        </p:spPr>
      </p:sp>
      <p:sp>
        <p:nvSpPr>
          <p:cNvPr id="20" name="Text 16"/>
          <p:cNvSpPr txBox="1"/>
          <p:nvPr/>
        </p:nvSpPr>
        <p:spPr>
          <a:xfrm>
            <a:off x="640080" y="3794760"/>
            <a:ext cx="7863840" cy="731520"/>
          </a:xfrm>
          <a:prstGeom prst="rect">
            <a:avLst/>
          </a:prstGeom>
          <a:noFill/>
          <a:ln/>
        </p:spPr>
        <p:txBody>
          <a:bodyPr wrap="square" lIns="0" tIns="0" rIns="0" bIns="0" rtlCol="0" anchor="ctr"/>
          <a:lstStyle/>
          <a:p>
            <a:pPr indent="0" marL="0">
              <a:buNone/>
            </a:pPr>
            <a:r>
              <a:rPr lang="en-US" sz="1300" dirty="0">
                <a:solidFill>
                  <a:schemeClr val="bg1"/>
                </a:solidFill>
              </a:rPr>
              <a:t>Se l'approvazione avviene una volta al giorno, il tempo dalla richiesta alla consegna non cambia: il collo di bottiglia è altrove.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26</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Dai vostri sprechi ai casi d'uso</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2103120"/>
                <a:gridCol w="3154680"/>
                <a:gridCol w="1325880"/>
                <a:gridCol w="1645920"/>
              </a:tblGrid>
              <a:tr h="457200">
                <a:tc>
                  <a:txBody>
                    <a:bodyPr/>
                    <a:lstStyle/>
                    <a:p>
                      <a:pPr indent="0" marL="0">
                        <a:buNone/>
                      </a:pPr>
                      <a:r>
                        <a:rPr lang="en-US" sz="1200" b="1" dirty="0">
                          <a:solidFill>
                            <a:schemeClr val="bg1"/>
                          </a:solidFill>
                        </a:rPr>
                        <a:t>Tema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Caso d'uso possibile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Luogo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Prima di tutto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57200">
                <a:tc>
                  <a:txBody>
                    <a:bodyPr/>
                    <a:lstStyle/>
                    <a:p>
                      <a:pPr indent="0" marL="0">
                        <a:buNone/>
                      </a:pPr>
                      <a:r>
                        <a:rPr lang="en-US" sz="1200" b="1" dirty="0">
                          <a:solidFill>
                            <a:schemeClr val="tx1"/>
                          </a:solidFill>
                        </a:rPr>
                        <a:t>A · Informazioni disperse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Assistente che cerca nei documenti e cita la fonte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Ufficio, poi clienti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Fonti ordinate e aggiornate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B · Controlli incrociati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L'AI elenca le differenze, la persona decide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Ufficio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Calcoli con strumenti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C · Offerte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Scheda requisiti e bozza dal capitolato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Ufficio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Niente prezzi dall'AI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D · Estero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Traduzioni con glossario; normative da testi ufficiali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Ufficio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Glossario, fonti ufficiali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E · Disegni ripetitivi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Spesso non è AI: CAD parametrico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Ufficio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Alternativa non AI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F · Pianificazione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Da chiarire con la Produzione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Ufficio, macchina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Capire il problema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100" i="1" dirty="0">
                <a:solidFill>
                  <a:schemeClr val="accent2"/>
                </a:solidFill>
              </a:rPr>
              <a:t>Esempi indicativi, da validare con chi conosce il lavoro.</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AI nel service e nella macchina</a:t>
            </a:r>
            <a:endParaRPr lang="en-US" sz="2600" dirty="0"/>
          </a:p>
        </p:txBody>
      </p:sp>
      <p:sp>
        <p:nvSpPr>
          <p:cNvPr id="4" name="scheda Per i clienti: il service"/>
          <p:cNvSpPr/>
          <p:nvPr/>
        </p:nvSpPr>
        <p:spPr>
          <a:xfrm>
            <a:off x="457200" y="1051560"/>
            <a:ext cx="3977640" cy="2697480"/>
          </a:xfrm>
          <a:prstGeom prst="roundRect">
            <a:avLst>
              <a:gd name="adj" fmla="val 2712"/>
            </a:avLst>
          </a:prstGeom>
          <a:solidFill>
            <a:schemeClr val="bg2"/>
          </a:solidFill>
          <a:ln/>
        </p:spPr>
      </p:sp>
      <p:sp>
        <p:nvSpPr>
          <p:cNvPr id="5" name="cerchio FiTool"/>
          <p:cNvSpPr/>
          <p:nvPr/>
        </p:nvSpPr>
        <p:spPr>
          <a:xfrm>
            <a:off x="640080" y="1234440"/>
            <a:ext cx="457200" cy="457200"/>
          </a:xfrm>
          <a:prstGeom prst="ellipse">
            <a:avLst/>
          </a:prstGeom>
          <a:solidFill>
            <a:schemeClr val="accent1"/>
          </a:solidFill>
          <a:ln/>
        </p:spPr>
      </p:sp>
      <p:pic>
        <p:nvPicPr>
          <p:cNvPr id="6" name="Image 0" descr="FiTool">    </p:cNvPr>
          <p:cNvPicPr>
            <a:picLocks noChangeAspect="1"/>
          </p:cNvPicPr>
          <p:nvPr/>
        </p:nvPicPr>
        <p:blipFill>
          <a:blip r:embed="rId1"/>
          <a:stretch>
            <a:fillRect/>
          </a:stretch>
        </p:blipFill>
        <p:spPr>
          <a:xfrm>
            <a:off x="754380" y="1348740"/>
            <a:ext cx="228600" cy="228600"/>
          </a:xfrm>
          <a:prstGeom prst="rect">
            <a:avLst/>
          </a:prstGeom>
        </p:spPr>
      </p:pic>
      <p:sp>
        <p:nvSpPr>
          <p:cNvPr id="7" name="Text 3"/>
          <p:cNvSpPr txBox="1"/>
          <p:nvPr/>
        </p:nvSpPr>
        <p:spPr>
          <a:xfrm>
            <a:off x="1234440" y="123444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Per i clienti: il service</a:t>
            </a:r>
            <a:endParaRPr lang="en-US" sz="1500" dirty="0"/>
          </a:p>
        </p:txBody>
      </p:sp>
      <p:sp>
        <p:nvSpPr>
          <p:cNvPr id="8" name="Text 4"/>
          <p:cNvSpPr txBox="1"/>
          <p:nvPr/>
        </p:nvSpPr>
        <p:spPr>
          <a:xfrm>
            <a:off x="640080" y="1828800"/>
            <a:ext cx="3611880" cy="1810512"/>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Ricerca guasti con citazione di manuali e ticket</a:t>
            </a:r>
            <a:endParaRPr lang="en-US" sz="1300" dirty="0"/>
          </a:p>
          <a:p>
            <a:pPr marL="177800" indent="-177800">
              <a:spcAft>
                <a:spcPts val="400"/>
              </a:spcAft>
              <a:buSzPct val="100000"/>
              <a:buChar char="•"/>
            </a:pPr>
            <a:r>
              <a:rPr lang="en-US" sz="1300" dirty="0">
                <a:solidFill>
                  <a:schemeClr val="tx2"/>
                </a:solidFill>
              </a:rPr>
              <a:t>Ricambio riconosciuto da foto o descrizione</a:t>
            </a:r>
            <a:endParaRPr lang="en-US" sz="1300" dirty="0"/>
          </a:p>
          <a:p>
            <a:pPr marL="177800" indent="-177800">
              <a:spcAft>
                <a:spcPts val="400"/>
              </a:spcAft>
              <a:buSzPct val="100000"/>
              <a:buChar char="•"/>
            </a:pPr>
            <a:r>
              <a:rPr lang="en-US" sz="1300" dirty="0">
                <a:solidFill>
                  <a:schemeClr val="tx2"/>
                </a:solidFill>
              </a:rPr>
              <a:t>Report d'intervento dettato a voce</a:t>
            </a:r>
            <a:endParaRPr lang="en-US" sz="1300" dirty="0"/>
          </a:p>
          <a:p>
            <a:pPr marL="177800" indent="-177800">
              <a:spcAft>
                <a:spcPts val="400"/>
              </a:spcAft>
              <a:buSzPct val="100000"/>
              <a:buChar char="•"/>
            </a:pPr>
            <a:r>
              <a:rPr lang="en-US" sz="1300" dirty="0">
                <a:solidFill>
                  <a:schemeClr val="tx2"/>
                </a:solidFill>
              </a:rPr>
              <a:t>Supporto multilingua per i clienti esteri</a:t>
            </a:r>
            <a:endParaRPr lang="en-US" sz="1300" dirty="0"/>
          </a:p>
        </p:txBody>
      </p:sp>
      <p:sp>
        <p:nvSpPr>
          <p:cNvPr id="9" name="scheda Nella macchina: il prodotto"/>
          <p:cNvSpPr/>
          <p:nvPr/>
        </p:nvSpPr>
        <p:spPr>
          <a:xfrm>
            <a:off x="4709160" y="1051560"/>
            <a:ext cx="3977640" cy="2697480"/>
          </a:xfrm>
          <a:prstGeom prst="roundRect">
            <a:avLst>
              <a:gd name="adj" fmla="val 2712"/>
            </a:avLst>
          </a:prstGeom>
          <a:solidFill>
            <a:schemeClr val="accent6"/>
          </a:solidFill>
          <a:ln/>
        </p:spPr>
      </p:sp>
      <p:sp>
        <p:nvSpPr>
          <p:cNvPr id="10" name="cerchio FiCpu"/>
          <p:cNvSpPr/>
          <p:nvPr/>
        </p:nvSpPr>
        <p:spPr>
          <a:xfrm>
            <a:off x="4892040" y="1234440"/>
            <a:ext cx="457200" cy="457200"/>
          </a:xfrm>
          <a:prstGeom prst="ellipse">
            <a:avLst/>
          </a:prstGeom>
          <a:solidFill>
            <a:schemeClr val="accent1"/>
          </a:solidFill>
          <a:ln/>
        </p:spPr>
      </p:sp>
      <p:pic>
        <p:nvPicPr>
          <p:cNvPr id="11" name="Image 1" descr="FiCpu">    </p:cNvPr>
          <p:cNvPicPr>
            <a:picLocks noChangeAspect="1"/>
          </p:cNvPicPr>
          <p:nvPr/>
        </p:nvPicPr>
        <p:blipFill>
          <a:blip r:embed="rId2"/>
          <a:stretch>
            <a:fillRect/>
          </a:stretch>
        </p:blipFill>
        <p:spPr>
          <a:xfrm>
            <a:off x="5006340" y="1348740"/>
            <a:ext cx="228600" cy="228600"/>
          </a:xfrm>
          <a:prstGeom prst="rect">
            <a:avLst/>
          </a:prstGeom>
        </p:spPr>
      </p:pic>
      <p:sp>
        <p:nvSpPr>
          <p:cNvPr id="12" name="Text 7"/>
          <p:cNvSpPr txBox="1"/>
          <p:nvPr/>
        </p:nvSpPr>
        <p:spPr>
          <a:xfrm>
            <a:off x="5486400" y="123444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Nella macchina: il prodotto</a:t>
            </a:r>
            <a:endParaRPr lang="en-US" sz="1500" dirty="0"/>
          </a:p>
        </p:txBody>
      </p:sp>
      <p:sp>
        <p:nvSpPr>
          <p:cNvPr id="13" name="Text 8"/>
          <p:cNvSpPr txBox="1"/>
          <p:nvPr/>
        </p:nvSpPr>
        <p:spPr>
          <a:xfrm>
            <a:off x="4892040" y="1828800"/>
            <a:ext cx="3611880" cy="1810512"/>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Controllo qualità visivo all'uscita del forno</a:t>
            </a:r>
            <a:endParaRPr lang="en-US" sz="1300" dirty="0"/>
          </a:p>
          <a:p>
            <a:pPr marL="177800" indent="-177800">
              <a:spcAft>
                <a:spcPts val="400"/>
              </a:spcAft>
              <a:buSzPct val="100000"/>
              <a:buChar char="•"/>
            </a:pPr>
            <a:r>
              <a:rPr lang="en-US" sz="1300" dirty="0">
                <a:solidFill>
                  <a:schemeClr val="tx2"/>
                </a:solidFill>
              </a:rPr>
              <a:t>Anomalie e manutenzione predittiva</a:t>
            </a:r>
            <a:endParaRPr lang="en-US" sz="1300" dirty="0"/>
          </a:p>
          <a:p>
            <a:pPr marL="177800" indent="-177800">
              <a:spcAft>
                <a:spcPts val="400"/>
              </a:spcAft>
              <a:buSzPct val="100000"/>
              <a:buChar char="•"/>
            </a:pPr>
            <a:r>
              <a:rPr lang="en-US" sz="1300" dirty="0">
                <a:solidFill>
                  <a:schemeClr val="tx2"/>
                </a:solidFill>
              </a:rPr>
              <a:t>Ottimizzazione dei consumi energetici</a:t>
            </a:r>
            <a:endParaRPr lang="en-US" sz="1300" dirty="0"/>
          </a:p>
          <a:p>
            <a:pPr marL="177800" indent="-177800">
              <a:spcAft>
                <a:spcPts val="400"/>
              </a:spcAft>
              <a:buSzPct val="100000"/>
              <a:buChar char="•"/>
            </a:pPr>
            <a:r>
              <a:rPr lang="en-US" sz="1300" dirty="0">
                <a:solidFill>
                  <a:schemeClr val="tx2"/>
                </a:solidFill>
              </a:rPr>
              <a:t>Nuovi servizi per chi compra le macchine</a:t>
            </a:r>
            <a:endParaRPr lang="en-US" sz="1300" dirty="0"/>
          </a:p>
        </p:txBody>
      </p:sp>
      <p:sp>
        <p:nvSpPr>
          <p:cNvPr id="14" name="messaggio"/>
          <p:cNvSpPr/>
          <p:nvPr/>
        </p:nvSpPr>
        <p:spPr>
          <a:xfrm>
            <a:off x="457200" y="3931920"/>
            <a:ext cx="8229600" cy="594360"/>
          </a:xfrm>
          <a:prstGeom prst="roundRect">
            <a:avLst>
              <a:gd name="adj" fmla="val 12308"/>
            </a:avLst>
          </a:prstGeom>
          <a:solidFill>
            <a:schemeClr val="tx1"/>
          </a:solidFill>
          <a:ln/>
        </p:spPr>
      </p:sp>
      <p:sp>
        <p:nvSpPr>
          <p:cNvPr id="15" name="Text 10"/>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300" dirty="0">
                <a:solidFill>
                  <a:schemeClr val="bg1"/>
                </a:solidFill>
              </a:rPr>
              <a:t>Si parte dall'ufficio. Service e macchina richiedono dati, investimenti e attenzione normativa (sessione 3).</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Anomalie e scostamenti</a:t>
            </a:r>
            <a:endParaRPr lang="en-US"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Comprendere</a:t>
            </a:r>
            <a:endParaRPr lang="en-US"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Elaborare</a:t>
            </a:r>
            <a:endParaRPr lang="en-US"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Rappresentare</a:t>
            </a:r>
            <a:endParaRPr lang="en-US"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Interpretare</a:t>
            </a:r>
            <a:endParaRPr lang="en-US" sz="800" dirty="0"/>
          </a:p>
        </p:txBody>
      </p:sp>
      <p:graphicFrame>
        <p:nvGraphicFramePr>
          <p:cNvPr id="12" name="Chart 0" descr=""/>
          <p:cNvGraphicFramePr/>
          <p:nvPr/>
        </p:nvGraphicFramePr>
        <p:xfrm>
          <a:off x="457200" y="1005840"/>
          <a:ext cx="5029200" cy="2377440"/>
        </p:xfrm>
        <a:graphic xmlns:a="http://schemas.openxmlformats.org/drawingml/2006/main">
          <a:graphicData uri="http://schemas.openxmlformats.org/drawingml/2006/chart">
            <c:chart xmlns:c="http://schemas.openxmlformats.org/drawingml/2006/chart" r:id="rId1"/>
          </a:graphicData>
        </a:graphic>
      </p:graphicFrame>
      <p:sp>
        <p:nvSpPr>
          <p:cNvPr id="13" name="ipotesi"/>
          <p:cNvSpPr/>
          <p:nvPr/>
        </p:nvSpPr>
        <p:spPr>
          <a:xfrm>
            <a:off x="5715000" y="1051560"/>
            <a:ext cx="2971800" cy="2331720"/>
          </a:xfrm>
          <a:prstGeom prst="roundRect">
            <a:avLst>
              <a:gd name="adj" fmla="val 3137"/>
            </a:avLst>
          </a:prstGeom>
          <a:solidFill>
            <a:schemeClr val="bg2"/>
          </a:solidFill>
          <a:ln/>
        </p:spPr>
      </p:sp>
      <p:sp>
        <p:nvSpPr>
          <p:cNvPr id="14" name="Text 10"/>
          <p:cNvSpPr txBox="1"/>
          <p:nvPr/>
        </p:nvSpPr>
        <p:spPr>
          <a:xfrm>
            <a:off x="5852160" y="1115568"/>
            <a:ext cx="2743200" cy="320040"/>
          </a:xfrm>
          <a:prstGeom prst="rect">
            <a:avLst/>
          </a:prstGeom>
          <a:noFill/>
          <a:ln/>
        </p:spPr>
        <p:txBody>
          <a:bodyPr wrap="square" lIns="0" tIns="0" rIns="0" bIns="0" rtlCol="0" anchor="t"/>
          <a:lstStyle/>
          <a:p>
            <a:pPr indent="0" marL="0">
              <a:buNone/>
            </a:pPr>
            <a:r>
              <a:rPr lang="en-US" sz="1400" b="1" dirty="0">
                <a:solidFill>
                  <a:schemeClr val="accent5"/>
                </a:solidFill>
              </a:rPr>
              <a:t>Settimana 9: perché?</a:t>
            </a:r>
            <a:endParaRPr lang="en-US" sz="1400" dirty="0"/>
          </a:p>
        </p:txBody>
      </p:sp>
      <p:sp>
        <p:nvSpPr>
          <p:cNvPr id="15" name="Text 11"/>
          <p:cNvSpPr txBox="1"/>
          <p:nvPr/>
        </p:nvSpPr>
        <p:spPr>
          <a:xfrm>
            <a:off x="5852160" y="1508760"/>
            <a:ext cx="2743200" cy="173736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Un lotto difettoso</a:t>
            </a:r>
            <a:endParaRPr lang="en-US" sz="1200" dirty="0"/>
          </a:p>
          <a:p>
            <a:pPr marL="177800" indent="-177800">
              <a:spcAft>
                <a:spcPts val="400"/>
              </a:spcAft>
              <a:buSzPct val="100000"/>
              <a:buChar char="•"/>
            </a:pPr>
            <a:r>
              <a:rPr lang="en-US" sz="1200" dirty="0">
                <a:solidFill>
                  <a:schemeClr val="tx1"/>
                </a:solidFill>
              </a:rPr>
              <a:t>Un nuovo fornitore logistico</a:t>
            </a:r>
            <a:endParaRPr lang="en-US" sz="1200" dirty="0"/>
          </a:p>
          <a:p>
            <a:pPr marL="177800" indent="-177800">
              <a:spcAft>
                <a:spcPts val="400"/>
              </a:spcAft>
              <a:buSzPct val="100000"/>
              <a:buChar char="•"/>
            </a:pPr>
            <a:r>
              <a:rPr lang="en-US" sz="1200" dirty="0">
                <a:solidFill>
                  <a:schemeClr val="tx1"/>
                </a:solidFill>
              </a:rPr>
              <a:t>Un modulo online più semplice</a:t>
            </a:r>
            <a:endParaRPr lang="en-US" sz="1200" dirty="0"/>
          </a:p>
          <a:p>
            <a:pPr marL="177800" indent="-177800">
              <a:spcAft>
                <a:spcPts val="400"/>
              </a:spcAft>
              <a:buSzPct val="100000"/>
              <a:buChar char="•"/>
            </a:pPr>
            <a:r>
              <a:rPr lang="en-US" sz="1200" dirty="0">
                <a:solidFill>
                  <a:schemeClr val="tx1"/>
                </a:solidFill>
              </a:rPr>
              <a:t>Segnalazioni duplicate per errore</a:t>
            </a:r>
            <a:endParaRPr lang="en-US" sz="1200" dirty="0"/>
          </a:p>
        </p:txBody>
      </p:sp>
      <p:sp>
        <p:nvSpPr>
          <p:cNvPr id="16" name="blocco Anomalo non significa sbagliato"/>
          <p:cNvSpPr/>
          <p:nvPr/>
        </p:nvSpPr>
        <p:spPr>
          <a:xfrm>
            <a:off x="457200" y="3566160"/>
            <a:ext cx="4023360" cy="502920"/>
          </a:xfrm>
          <a:prstGeom prst="roundRect">
            <a:avLst>
              <a:gd name="adj" fmla="val 21818"/>
            </a:avLst>
          </a:prstGeom>
          <a:solidFill>
            <a:schemeClr val="accent6"/>
          </a:solidFill>
          <a:ln/>
        </p:spPr>
      </p:sp>
      <p:sp>
        <p:nvSpPr>
          <p:cNvPr id="17" name="Text 13"/>
          <p:cNvSpPr txBox="1"/>
          <p:nvPr/>
        </p:nvSpPr>
        <p:spPr>
          <a:xfrm>
            <a:off x="502920" y="3566160"/>
            <a:ext cx="3931920" cy="502920"/>
          </a:xfrm>
          <a:prstGeom prst="rect">
            <a:avLst/>
          </a:prstGeom>
          <a:noFill/>
          <a:ln/>
        </p:spPr>
        <p:txBody>
          <a:bodyPr wrap="square" lIns="0" tIns="0" rIns="0" bIns="0" rtlCol="0" anchor="ctr"/>
          <a:lstStyle/>
          <a:p>
            <a:pPr algn="ctr" indent="0" marL="0">
              <a:buNone/>
            </a:pPr>
            <a:r>
              <a:rPr lang="en-US" sz="1200" b="1" dirty="0">
                <a:solidFill>
                  <a:schemeClr val="tx1"/>
                </a:solidFill>
              </a:rPr>
              <a:t>Anomalo non significa sbagliato</a:t>
            </a:r>
            <a:endParaRPr lang="en-US" sz="1200" dirty="0"/>
          </a:p>
        </p:txBody>
      </p:sp>
      <p:sp>
        <p:nvSpPr>
          <p:cNvPr id="18" name="blocco Non ogni scostamento è un'anomalia"/>
          <p:cNvSpPr/>
          <p:nvPr/>
        </p:nvSpPr>
        <p:spPr>
          <a:xfrm>
            <a:off x="4663440" y="3566160"/>
            <a:ext cx="4023360" cy="502920"/>
          </a:xfrm>
          <a:prstGeom prst="roundRect">
            <a:avLst>
              <a:gd name="adj" fmla="val 21818"/>
            </a:avLst>
          </a:prstGeom>
          <a:solidFill>
            <a:schemeClr val="accent6"/>
          </a:solidFill>
          <a:ln/>
        </p:spPr>
      </p:sp>
      <p:sp>
        <p:nvSpPr>
          <p:cNvPr id="19" name="Text 15"/>
          <p:cNvSpPr txBox="1"/>
          <p:nvPr/>
        </p:nvSpPr>
        <p:spPr>
          <a:xfrm>
            <a:off x="4709160" y="3566160"/>
            <a:ext cx="3931920" cy="502920"/>
          </a:xfrm>
          <a:prstGeom prst="rect">
            <a:avLst/>
          </a:prstGeom>
          <a:noFill/>
          <a:ln/>
        </p:spPr>
        <p:txBody>
          <a:bodyPr wrap="square" lIns="0" tIns="0" rIns="0" bIns="0" rtlCol="0" anchor="ctr"/>
          <a:lstStyle/>
          <a:p>
            <a:pPr algn="ctr" indent="0" marL="0">
              <a:buNone/>
            </a:pPr>
            <a:r>
              <a:rPr lang="en-US" sz="1200" b="1" dirty="0">
                <a:solidFill>
                  <a:schemeClr val="tx1"/>
                </a:solidFill>
              </a:rPr>
              <a:t>Non ogni scostamento è un'anomalia</a:t>
            </a:r>
            <a:endParaRPr lang="en-US" sz="1200" dirty="0"/>
          </a:p>
        </p:txBody>
      </p:sp>
      <p:sp>
        <p:nvSpPr>
          <p:cNvPr id="20" name="Text 16"/>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200" i="1" dirty="0">
                <a:solidFill>
                  <a:schemeClr val="tx2"/>
                </a:solidFill>
              </a:rPr>
              <a:t>L'AI segnala e propone ipotesi; quale sia giusta lo dice il contesto. Chiedere con quale criterio un valore è definito anomalo.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38</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Quattro condizioni distinte</a:t>
            </a:r>
            <a:endParaRPr lang="en-US" sz="2600" dirty="0"/>
          </a:p>
        </p:txBody>
      </p:sp>
      <p:sp>
        <p:nvSpPr>
          <p:cNvPr id="4" name="Disponibilità"/>
          <p:cNvSpPr/>
          <p:nvPr/>
        </p:nvSpPr>
        <p:spPr>
          <a:xfrm>
            <a:off x="457200" y="1051560"/>
            <a:ext cx="1920240" cy="2240280"/>
          </a:xfrm>
          <a:prstGeom prst="roundRect">
            <a:avLst>
              <a:gd name="adj" fmla="val 3810"/>
            </a:avLst>
          </a:prstGeom>
          <a:solidFill>
            <a:schemeClr val="bg2"/>
          </a:solidFill>
          <a:ln/>
        </p:spPr>
      </p:sp>
      <p:sp>
        <p:nvSpPr>
          <p:cNvPr id="5" name="cerchio FiDatabase"/>
          <p:cNvSpPr/>
          <p:nvPr/>
        </p:nvSpPr>
        <p:spPr>
          <a:xfrm>
            <a:off x="1097280" y="1161288"/>
            <a:ext cx="640080" cy="640080"/>
          </a:xfrm>
          <a:prstGeom prst="ellipse">
            <a:avLst/>
          </a:prstGeom>
          <a:solidFill>
            <a:schemeClr val="accent1"/>
          </a:solidFill>
          <a:ln/>
        </p:spPr>
      </p:sp>
      <p:pic>
        <p:nvPicPr>
          <p:cNvPr id="6" name="Image 0" descr="FiDatabase">    </p:cNvPr>
          <p:cNvPicPr>
            <a:picLocks noChangeAspect="1"/>
          </p:cNvPicPr>
          <p:nvPr/>
        </p:nvPicPr>
        <p:blipFill>
          <a:blip r:embed="rId1"/>
          <a:stretch>
            <a:fillRect/>
          </a:stretch>
        </p:blipFill>
        <p:spPr>
          <a:xfrm>
            <a:off x="1257300" y="1321308"/>
            <a:ext cx="320040" cy="320040"/>
          </a:xfrm>
          <a:prstGeom prst="rect">
            <a:avLst/>
          </a:prstGeom>
        </p:spPr>
      </p:pic>
      <p:sp>
        <p:nvSpPr>
          <p:cNvPr id="7" name="Text 3"/>
          <p:cNvSpPr txBox="1"/>
          <p:nvPr/>
        </p:nvSpPr>
        <p:spPr>
          <a:xfrm>
            <a:off x="548640" y="187452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Disponibilità</a:t>
            </a:r>
            <a:endParaRPr lang="en-US" sz="1500" dirty="0"/>
          </a:p>
        </p:txBody>
      </p:sp>
      <p:sp>
        <p:nvSpPr>
          <p:cNvPr id="8" name="Text 4"/>
          <p:cNvSpPr txBox="1"/>
          <p:nvPr/>
        </p:nvSpPr>
        <p:spPr>
          <a:xfrm>
            <a:off x="566928" y="2286000"/>
            <a:ext cx="1700784" cy="822960"/>
          </a:xfrm>
          <a:prstGeom prst="rect">
            <a:avLst/>
          </a:prstGeom>
          <a:noFill/>
          <a:ln/>
        </p:spPr>
        <p:txBody>
          <a:bodyPr wrap="square" lIns="0" tIns="0" rIns="0" bIns="0" rtlCol="0" anchor="t"/>
          <a:lstStyle/>
          <a:p>
            <a:pPr algn="ctr" indent="0" marL="0">
              <a:buNone/>
            </a:pPr>
            <a:r>
              <a:rPr lang="en-US" sz="1200" dirty="0">
                <a:solidFill>
                  <a:schemeClr val="tx2"/>
                </a:solidFill>
              </a:rPr>
              <a:t>Le informazioni esistono</a:t>
            </a:r>
            <a:endParaRPr lang="en-US" sz="1200" dirty="0"/>
          </a:p>
        </p:txBody>
      </p:sp>
      <p:sp>
        <p:nvSpPr>
          <p:cNvPr id="9" name="freccia"/>
          <p:cNvSpPr/>
          <p:nvPr/>
        </p:nvSpPr>
        <p:spPr>
          <a:xfrm>
            <a:off x="2386584" y="2057400"/>
            <a:ext cx="155448" cy="292608"/>
          </a:xfrm>
          <a:prstGeom prst="rightArrow">
            <a:avLst/>
          </a:prstGeom>
          <a:solidFill>
            <a:schemeClr val="accent2"/>
          </a:solidFill>
          <a:ln/>
        </p:spPr>
      </p:sp>
      <p:sp>
        <p:nvSpPr>
          <p:cNvPr id="10" name="Accessibilità"/>
          <p:cNvSpPr/>
          <p:nvPr/>
        </p:nvSpPr>
        <p:spPr>
          <a:xfrm>
            <a:off x="2560320" y="1051560"/>
            <a:ext cx="1920240" cy="2240280"/>
          </a:xfrm>
          <a:prstGeom prst="roundRect">
            <a:avLst>
              <a:gd name="adj" fmla="val 3810"/>
            </a:avLst>
          </a:prstGeom>
          <a:solidFill>
            <a:schemeClr val="bg2"/>
          </a:solidFill>
          <a:ln/>
        </p:spPr>
      </p:sp>
      <p:sp>
        <p:nvSpPr>
          <p:cNvPr id="11" name="cerchio FiKey"/>
          <p:cNvSpPr/>
          <p:nvPr/>
        </p:nvSpPr>
        <p:spPr>
          <a:xfrm>
            <a:off x="3200400" y="1161288"/>
            <a:ext cx="640080" cy="640080"/>
          </a:xfrm>
          <a:prstGeom prst="ellipse">
            <a:avLst/>
          </a:prstGeom>
          <a:solidFill>
            <a:schemeClr val="accent1"/>
          </a:solidFill>
          <a:ln/>
        </p:spPr>
      </p:sp>
      <p:pic>
        <p:nvPicPr>
          <p:cNvPr id="12" name="Image 1" descr="FiKey">    </p:cNvPr>
          <p:cNvPicPr>
            <a:picLocks noChangeAspect="1"/>
          </p:cNvPicPr>
          <p:nvPr/>
        </p:nvPicPr>
        <p:blipFill>
          <a:blip r:embed="rId2"/>
          <a:stretch>
            <a:fillRect/>
          </a:stretch>
        </p:blipFill>
        <p:spPr>
          <a:xfrm>
            <a:off x="3360420" y="1321308"/>
            <a:ext cx="320040" cy="320040"/>
          </a:xfrm>
          <a:prstGeom prst="rect">
            <a:avLst/>
          </a:prstGeom>
        </p:spPr>
      </p:pic>
      <p:sp>
        <p:nvSpPr>
          <p:cNvPr id="13" name="Text 8"/>
          <p:cNvSpPr txBox="1"/>
          <p:nvPr/>
        </p:nvSpPr>
        <p:spPr>
          <a:xfrm>
            <a:off x="2651760" y="187452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Accessibilità</a:t>
            </a:r>
            <a:endParaRPr lang="en-US" sz="1500" dirty="0"/>
          </a:p>
        </p:txBody>
      </p:sp>
      <p:sp>
        <p:nvSpPr>
          <p:cNvPr id="14" name="Text 9"/>
          <p:cNvSpPr txBox="1"/>
          <p:nvPr/>
        </p:nvSpPr>
        <p:spPr>
          <a:xfrm>
            <a:off x="2670048" y="2286000"/>
            <a:ext cx="1700784" cy="822960"/>
          </a:xfrm>
          <a:prstGeom prst="rect">
            <a:avLst/>
          </a:prstGeom>
          <a:noFill/>
          <a:ln/>
        </p:spPr>
        <p:txBody>
          <a:bodyPr wrap="square" lIns="0" tIns="0" rIns="0" bIns="0" rtlCol="0" anchor="t"/>
          <a:lstStyle/>
          <a:p>
            <a:pPr algn="ctr" indent="0" marL="0">
              <a:buNone/>
            </a:pPr>
            <a:r>
              <a:rPr lang="en-US" sz="1200" dirty="0">
                <a:solidFill>
                  <a:schemeClr val="tx2"/>
                </a:solidFill>
              </a:rPr>
              <a:t>Il sistema può accedervi ed è autorizzato</a:t>
            </a:r>
            <a:endParaRPr lang="en-US" sz="1200" dirty="0"/>
          </a:p>
        </p:txBody>
      </p:sp>
      <p:sp>
        <p:nvSpPr>
          <p:cNvPr id="15" name="freccia"/>
          <p:cNvSpPr/>
          <p:nvPr/>
        </p:nvSpPr>
        <p:spPr>
          <a:xfrm>
            <a:off x="4489704" y="2057400"/>
            <a:ext cx="155448" cy="292608"/>
          </a:xfrm>
          <a:prstGeom prst="rightArrow">
            <a:avLst/>
          </a:prstGeom>
          <a:solidFill>
            <a:schemeClr val="accent2"/>
          </a:solidFill>
          <a:ln/>
        </p:spPr>
      </p:sp>
      <p:sp>
        <p:nvSpPr>
          <p:cNvPr id="16" name="Utilizzabilità"/>
          <p:cNvSpPr/>
          <p:nvPr/>
        </p:nvSpPr>
        <p:spPr>
          <a:xfrm>
            <a:off x="4663440" y="1051560"/>
            <a:ext cx="1920240" cy="2240280"/>
          </a:xfrm>
          <a:prstGeom prst="roundRect">
            <a:avLst>
              <a:gd name="adj" fmla="val 3810"/>
            </a:avLst>
          </a:prstGeom>
          <a:solidFill>
            <a:schemeClr val="bg2"/>
          </a:solidFill>
          <a:ln/>
        </p:spPr>
      </p:sp>
      <p:sp>
        <p:nvSpPr>
          <p:cNvPr id="17" name="cerchio FiLayers"/>
          <p:cNvSpPr/>
          <p:nvPr/>
        </p:nvSpPr>
        <p:spPr>
          <a:xfrm>
            <a:off x="5303520" y="1161288"/>
            <a:ext cx="640080" cy="640080"/>
          </a:xfrm>
          <a:prstGeom prst="ellipse">
            <a:avLst/>
          </a:prstGeom>
          <a:solidFill>
            <a:schemeClr val="accent1"/>
          </a:solidFill>
          <a:ln/>
        </p:spPr>
      </p:sp>
      <p:pic>
        <p:nvPicPr>
          <p:cNvPr id="18" name="Image 2" descr="FiLayers">    </p:cNvPr>
          <p:cNvPicPr>
            <a:picLocks noChangeAspect="1"/>
          </p:cNvPicPr>
          <p:nvPr/>
        </p:nvPicPr>
        <p:blipFill>
          <a:blip r:embed="rId3"/>
          <a:stretch>
            <a:fillRect/>
          </a:stretch>
        </p:blipFill>
        <p:spPr>
          <a:xfrm>
            <a:off x="5463540" y="1321308"/>
            <a:ext cx="320040" cy="320040"/>
          </a:xfrm>
          <a:prstGeom prst="rect">
            <a:avLst/>
          </a:prstGeom>
        </p:spPr>
      </p:pic>
      <p:sp>
        <p:nvSpPr>
          <p:cNvPr id="19" name="Text 13"/>
          <p:cNvSpPr txBox="1"/>
          <p:nvPr/>
        </p:nvSpPr>
        <p:spPr>
          <a:xfrm>
            <a:off x="4754880" y="187452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Utilizzabilità</a:t>
            </a:r>
            <a:endParaRPr lang="en-US" sz="1500" dirty="0"/>
          </a:p>
        </p:txBody>
      </p:sp>
      <p:sp>
        <p:nvSpPr>
          <p:cNvPr id="20" name="Text 14"/>
          <p:cNvSpPr txBox="1"/>
          <p:nvPr/>
        </p:nvSpPr>
        <p:spPr>
          <a:xfrm>
            <a:off x="4773168" y="2286000"/>
            <a:ext cx="1700784" cy="822960"/>
          </a:xfrm>
          <a:prstGeom prst="rect">
            <a:avLst/>
          </a:prstGeom>
          <a:noFill/>
          <a:ln/>
        </p:spPr>
        <p:txBody>
          <a:bodyPr wrap="square" lIns="0" tIns="0" rIns="0" bIns="0" rtlCol="0" anchor="t"/>
          <a:lstStyle/>
          <a:p>
            <a:pPr algn="ctr" indent="0" marL="0">
              <a:buNone/>
            </a:pPr>
            <a:r>
              <a:rPr lang="en-US" sz="1200" dirty="0">
                <a:solidFill>
                  <a:schemeClr val="tx2"/>
                </a:solidFill>
              </a:rPr>
              <a:t>Organizzate, pertinenti, interpretabili</a:t>
            </a:r>
            <a:endParaRPr lang="en-US" sz="1200" dirty="0"/>
          </a:p>
        </p:txBody>
      </p:sp>
      <p:sp>
        <p:nvSpPr>
          <p:cNvPr id="21" name="freccia"/>
          <p:cNvSpPr/>
          <p:nvPr/>
        </p:nvSpPr>
        <p:spPr>
          <a:xfrm>
            <a:off x="6592824" y="2057400"/>
            <a:ext cx="155448" cy="292608"/>
          </a:xfrm>
          <a:prstGeom prst="rightArrow">
            <a:avLst/>
          </a:prstGeom>
          <a:solidFill>
            <a:schemeClr val="accent2"/>
          </a:solidFill>
          <a:ln/>
        </p:spPr>
      </p:sp>
      <p:sp>
        <p:nvSpPr>
          <p:cNvPr id="22" name="Affidabilità"/>
          <p:cNvSpPr/>
          <p:nvPr/>
        </p:nvSpPr>
        <p:spPr>
          <a:xfrm>
            <a:off x="6766560" y="1051560"/>
            <a:ext cx="1920240" cy="2240280"/>
          </a:xfrm>
          <a:prstGeom prst="roundRect">
            <a:avLst>
              <a:gd name="adj" fmla="val 3810"/>
            </a:avLst>
          </a:prstGeom>
          <a:solidFill>
            <a:schemeClr val="accent1"/>
          </a:solidFill>
          <a:ln/>
        </p:spPr>
      </p:sp>
      <p:sp>
        <p:nvSpPr>
          <p:cNvPr id="23" name="cerchio FiShield"/>
          <p:cNvSpPr/>
          <p:nvPr/>
        </p:nvSpPr>
        <p:spPr>
          <a:xfrm>
            <a:off x="7406640" y="1161288"/>
            <a:ext cx="640080" cy="640080"/>
          </a:xfrm>
          <a:prstGeom prst="ellipse">
            <a:avLst/>
          </a:prstGeom>
          <a:solidFill>
            <a:schemeClr val="bg1"/>
          </a:solidFill>
          <a:ln/>
        </p:spPr>
      </p:sp>
      <p:pic>
        <p:nvPicPr>
          <p:cNvPr id="24" name="Image 3" descr="FiShield">    </p:cNvPr>
          <p:cNvPicPr>
            <a:picLocks noChangeAspect="1"/>
          </p:cNvPicPr>
          <p:nvPr/>
        </p:nvPicPr>
        <p:blipFill>
          <a:blip r:embed="rId4"/>
          <a:stretch>
            <a:fillRect/>
          </a:stretch>
        </p:blipFill>
        <p:spPr>
          <a:xfrm>
            <a:off x="7566660" y="1321308"/>
            <a:ext cx="320040" cy="320040"/>
          </a:xfrm>
          <a:prstGeom prst="rect">
            <a:avLst/>
          </a:prstGeom>
        </p:spPr>
      </p:pic>
      <p:sp>
        <p:nvSpPr>
          <p:cNvPr id="25" name="Text 18"/>
          <p:cNvSpPr txBox="1"/>
          <p:nvPr/>
        </p:nvSpPr>
        <p:spPr>
          <a:xfrm>
            <a:off x="6858000" y="1874520"/>
            <a:ext cx="1737360" cy="365760"/>
          </a:xfrm>
          <a:prstGeom prst="rect">
            <a:avLst/>
          </a:prstGeom>
          <a:noFill/>
          <a:ln/>
        </p:spPr>
        <p:txBody>
          <a:bodyPr wrap="square" lIns="0" tIns="0" rIns="0" bIns="0" rtlCol="0" anchor="t"/>
          <a:lstStyle/>
          <a:p>
            <a:pPr algn="ctr" indent="0" marL="0">
              <a:buNone/>
            </a:pPr>
            <a:r>
              <a:rPr lang="en-US" sz="1500" b="1" dirty="0">
                <a:solidFill>
                  <a:schemeClr val="bg1"/>
                </a:solidFill>
              </a:rPr>
              <a:t>Affidabilità</a:t>
            </a:r>
            <a:endParaRPr lang="en-US" sz="1500" dirty="0"/>
          </a:p>
        </p:txBody>
      </p:sp>
      <p:sp>
        <p:nvSpPr>
          <p:cNvPr id="26" name="Text 19"/>
          <p:cNvSpPr txBox="1"/>
          <p:nvPr/>
        </p:nvSpPr>
        <p:spPr>
          <a:xfrm>
            <a:off x="6876288" y="2286000"/>
            <a:ext cx="1700784" cy="822960"/>
          </a:xfrm>
          <a:prstGeom prst="rect">
            <a:avLst/>
          </a:prstGeom>
          <a:noFill/>
          <a:ln/>
        </p:spPr>
        <p:txBody>
          <a:bodyPr wrap="square" lIns="0" tIns="0" rIns="0" bIns="0" rtlCol="0" anchor="t"/>
          <a:lstStyle/>
          <a:p>
            <a:pPr algn="ctr" indent="0" marL="0">
              <a:buNone/>
            </a:pPr>
            <a:r>
              <a:rPr lang="en-US" sz="1200" dirty="0">
                <a:solidFill>
                  <a:schemeClr val="bg1"/>
                </a:solidFill>
              </a:rPr>
              <a:t>Corrette e aggiornate per lo scopo</a:t>
            </a:r>
            <a:endParaRPr lang="en-US" sz="1200" dirty="0"/>
          </a:p>
        </p:txBody>
      </p:sp>
      <p:sp>
        <p:nvSpPr>
          <p:cNvPr id="27" name="messaggio"/>
          <p:cNvSpPr/>
          <p:nvPr/>
        </p:nvSpPr>
        <p:spPr>
          <a:xfrm>
            <a:off x="457200" y="3520440"/>
            <a:ext cx="8229600" cy="777240"/>
          </a:xfrm>
          <a:prstGeom prst="roundRect">
            <a:avLst>
              <a:gd name="adj" fmla="val 9412"/>
            </a:avLst>
          </a:prstGeom>
          <a:solidFill>
            <a:schemeClr val="tx1"/>
          </a:solidFill>
          <a:ln/>
        </p:spPr>
      </p:sp>
      <p:sp>
        <p:nvSpPr>
          <p:cNvPr id="28" name="Text 21"/>
          <p:cNvSpPr txBox="1"/>
          <p:nvPr/>
        </p:nvSpPr>
        <p:spPr>
          <a:xfrm>
            <a:off x="640080" y="3520440"/>
            <a:ext cx="7863840" cy="777240"/>
          </a:xfrm>
          <a:prstGeom prst="rect">
            <a:avLst/>
          </a:prstGeom>
          <a:noFill/>
          <a:ln/>
        </p:spPr>
        <p:txBody>
          <a:bodyPr wrap="square" lIns="0" tIns="0" rIns="0" bIns="0" rtlCol="0" anchor="ctr"/>
          <a:lstStyle/>
          <a:p>
            <a:pPr indent="0" marL="0">
              <a:buNone/>
            </a:pPr>
            <a:r>
              <a:rPr lang="en-US" sz="1500" dirty="0">
                <a:solidFill>
                  <a:schemeClr val="bg1"/>
                </a:solidFill>
              </a:rPr>
              <a:t>Quattro condizioni indipendenti. Quando una risposta è sbagliata: quale è mancata?</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Dati abilitanti in Laser</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3291840"/>
                <a:gridCol w="3291840"/>
                <a:gridCol w="1645920"/>
              </a:tblGrid>
              <a:tr h="457200">
                <a:tc>
                  <a:txBody>
                    <a:bodyPr/>
                    <a:lstStyle/>
                    <a:p>
                      <a:pPr indent="0" marL="0">
                        <a:buNone/>
                      </a:pPr>
                      <a:r>
                        <a:rPr lang="en-US" sz="1200" b="1" dirty="0">
                          <a:solidFill>
                            <a:schemeClr val="bg1"/>
                          </a:solidFill>
                        </a:rPr>
                        <a:t>Dato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Serve per</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Oggi in Laser</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57200">
                <a:tc>
                  <a:txBody>
                    <a:bodyPr/>
                    <a:lstStyle/>
                    <a:p>
                      <a:pPr indent="0" marL="0">
                        <a:buNone/>
                      </a:pPr>
                      <a:r>
                        <a:rPr lang="en-US" sz="1200" b="1" dirty="0">
                          <a:solidFill>
                            <a:schemeClr val="tx1"/>
                          </a:solidFill>
                        </a:rPr>
                        <a:t>Manuali e documentazione tecnica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Assistente per tecnici e service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Disegni, distinte, commesse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Ricerca di soluzioni già trovate, confronti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Ticket e report d'intervento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Ricerca guasti, ricorrenze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Catalogo ricambi con codici e immagini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Ricambio da foto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Ordini ed email dei clienti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Inserimento ordini, offerte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Dati delle macchine (allarmi, temperature, consumi)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Anomalie, manutenzione predittiva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5" name="Text 1"/>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200" b="1" dirty="0">
                <a:solidFill>
                  <a:schemeClr val="accent1"/>
                </a:solidFill>
              </a:rPr>
              <a:t>L'ultima colonna si compila insieme: dove stanno oggi, sono in ordine?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Dimostrazione, pilota, estensione</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Dimostrazione"/>
          <p:cNvSpPr/>
          <p:nvPr/>
        </p:nvSpPr>
        <p:spPr>
          <a:xfrm>
            <a:off x="457200" y="1051560"/>
            <a:ext cx="2615184" cy="2240280"/>
          </a:xfrm>
          <a:prstGeom prst="roundRect">
            <a:avLst>
              <a:gd name="adj" fmla="val 3265"/>
            </a:avLst>
          </a:prstGeom>
          <a:solidFill>
            <a:schemeClr val="bg2"/>
          </a:solidFill>
          <a:ln/>
        </p:spPr>
      </p:sp>
      <p:sp>
        <p:nvSpPr>
          <p:cNvPr id="15" name="cerchio FiMonitor"/>
          <p:cNvSpPr/>
          <p:nvPr/>
        </p:nvSpPr>
        <p:spPr>
          <a:xfrm>
            <a:off x="1463040" y="1143000"/>
            <a:ext cx="566928" cy="566928"/>
          </a:xfrm>
          <a:prstGeom prst="ellipse">
            <a:avLst/>
          </a:prstGeom>
          <a:solidFill>
            <a:schemeClr val="accent1"/>
          </a:solidFill>
          <a:ln/>
        </p:spPr>
      </p:sp>
      <p:pic>
        <p:nvPicPr>
          <p:cNvPr id="16" name="Image 0" descr="FiMonitor">    </p:cNvPr>
          <p:cNvPicPr>
            <a:picLocks noChangeAspect="1"/>
          </p:cNvPicPr>
          <p:nvPr/>
        </p:nvPicPr>
        <p:blipFill>
          <a:blip r:embed="rId1"/>
          <a:stretch>
            <a:fillRect/>
          </a:stretch>
        </p:blipFill>
        <p:spPr>
          <a:xfrm>
            <a:off x="1604772" y="1284732"/>
            <a:ext cx="283464" cy="283464"/>
          </a:xfrm>
          <a:prstGeom prst="rect">
            <a:avLst/>
          </a:prstGeom>
        </p:spPr>
      </p:pic>
      <p:sp>
        <p:nvSpPr>
          <p:cNvPr id="17" name="Text 13"/>
          <p:cNvSpPr txBox="1"/>
          <p:nvPr/>
        </p:nvSpPr>
        <p:spPr>
          <a:xfrm>
            <a:off x="594360" y="178308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Dimostrazione</a:t>
            </a:r>
            <a:endParaRPr lang="en-US" sz="1500" dirty="0"/>
          </a:p>
        </p:txBody>
      </p:sp>
      <p:sp>
        <p:nvSpPr>
          <p:cNvPr id="18" name="Text 14"/>
          <p:cNvSpPr txBox="1"/>
          <p:nvPr/>
        </p:nvSpPr>
        <p:spPr>
          <a:xfrm>
            <a:off x="594360" y="2176272"/>
            <a:ext cx="2340864" cy="548640"/>
          </a:xfrm>
          <a:prstGeom prst="rect">
            <a:avLst/>
          </a:prstGeom>
          <a:noFill/>
          <a:ln/>
        </p:spPr>
        <p:txBody>
          <a:bodyPr wrap="square" lIns="0" tIns="0" rIns="0" bIns="0" rtlCol="0" anchor="t"/>
          <a:lstStyle/>
          <a:p>
            <a:pPr algn="ctr" indent="0" marL="0">
              <a:buNone/>
            </a:pPr>
            <a:r>
              <a:rPr lang="en-US" sz="1200" dirty="0">
                <a:solidFill>
                  <a:schemeClr val="tx1"/>
                </a:solidFill>
              </a:rPr>
              <a:t>Far conoscere, suscitare interesse</a:t>
            </a:r>
            <a:endParaRPr lang="en-US" sz="1200" dirty="0"/>
          </a:p>
        </p:txBody>
      </p:sp>
      <p:sp>
        <p:nvSpPr>
          <p:cNvPr id="19" name="Text 15"/>
          <p:cNvSpPr txBox="1"/>
          <p:nvPr/>
        </p:nvSpPr>
        <p:spPr>
          <a:xfrm>
            <a:off x="594360" y="2743200"/>
            <a:ext cx="2340864" cy="457200"/>
          </a:xfrm>
          <a:prstGeom prst="rect">
            <a:avLst/>
          </a:prstGeom>
          <a:noFill/>
          <a:ln/>
        </p:spPr>
        <p:txBody>
          <a:bodyPr wrap="square" lIns="0" tIns="0" rIns="0" bIns="0" rtlCol="0" anchor="t"/>
          <a:lstStyle/>
          <a:p>
            <a:pPr algn="ctr" indent="0" marL="0">
              <a:buNone/>
            </a:pPr>
            <a:r>
              <a:rPr lang="en-US" sz="1200" b="1" dirty="0">
                <a:solidFill>
                  <a:schemeClr val="accent1"/>
                </a:solidFill>
              </a:rPr>
              <a:t>Non è uso</a:t>
            </a:r>
            <a:endParaRPr lang="en-US" sz="1200" dirty="0"/>
          </a:p>
        </p:txBody>
      </p:sp>
      <p:sp>
        <p:nvSpPr>
          <p:cNvPr id="20" name="freccia"/>
          <p:cNvSpPr/>
          <p:nvPr/>
        </p:nvSpPr>
        <p:spPr>
          <a:xfrm>
            <a:off x="3090672" y="2011680"/>
            <a:ext cx="155448" cy="292608"/>
          </a:xfrm>
          <a:prstGeom prst="rightArrow">
            <a:avLst/>
          </a:prstGeom>
          <a:solidFill>
            <a:schemeClr val="accent2"/>
          </a:solidFill>
          <a:ln/>
        </p:spPr>
      </p:sp>
      <p:sp>
        <p:nvSpPr>
          <p:cNvPr id="21" name="Pilota"/>
          <p:cNvSpPr/>
          <p:nvPr/>
        </p:nvSpPr>
        <p:spPr>
          <a:xfrm>
            <a:off x="3264408" y="1051560"/>
            <a:ext cx="2615184" cy="2240280"/>
          </a:xfrm>
          <a:prstGeom prst="roundRect">
            <a:avLst>
              <a:gd name="adj" fmla="val 3265"/>
            </a:avLst>
          </a:prstGeom>
          <a:solidFill>
            <a:schemeClr val="accent6"/>
          </a:solidFill>
          <a:ln/>
        </p:spPr>
      </p:sp>
      <p:sp>
        <p:nvSpPr>
          <p:cNvPr id="22" name="cerchio FiUsers"/>
          <p:cNvSpPr/>
          <p:nvPr/>
        </p:nvSpPr>
        <p:spPr>
          <a:xfrm>
            <a:off x="4270248" y="1143000"/>
            <a:ext cx="566928" cy="566928"/>
          </a:xfrm>
          <a:prstGeom prst="ellipse">
            <a:avLst/>
          </a:prstGeom>
          <a:solidFill>
            <a:schemeClr val="accent1"/>
          </a:solidFill>
          <a:ln/>
        </p:spPr>
      </p:sp>
      <p:pic>
        <p:nvPicPr>
          <p:cNvPr id="23" name="Image 1" descr="FiUsers">    </p:cNvPr>
          <p:cNvPicPr>
            <a:picLocks noChangeAspect="1"/>
          </p:cNvPicPr>
          <p:nvPr/>
        </p:nvPicPr>
        <p:blipFill>
          <a:blip r:embed="rId2"/>
          <a:stretch>
            <a:fillRect/>
          </a:stretch>
        </p:blipFill>
        <p:spPr>
          <a:xfrm>
            <a:off x="4411980" y="1284732"/>
            <a:ext cx="283464" cy="283464"/>
          </a:xfrm>
          <a:prstGeom prst="rect">
            <a:avLst/>
          </a:prstGeom>
        </p:spPr>
      </p:pic>
      <p:sp>
        <p:nvSpPr>
          <p:cNvPr id="24" name="Text 19"/>
          <p:cNvSpPr txBox="1"/>
          <p:nvPr/>
        </p:nvSpPr>
        <p:spPr>
          <a:xfrm>
            <a:off x="3401568" y="178308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Pilota</a:t>
            </a:r>
            <a:endParaRPr lang="en-US" sz="1500" dirty="0"/>
          </a:p>
        </p:txBody>
      </p:sp>
      <p:sp>
        <p:nvSpPr>
          <p:cNvPr id="25" name="Text 20"/>
          <p:cNvSpPr txBox="1"/>
          <p:nvPr/>
        </p:nvSpPr>
        <p:spPr>
          <a:xfrm>
            <a:off x="3401568" y="2176272"/>
            <a:ext cx="2340864" cy="548640"/>
          </a:xfrm>
          <a:prstGeom prst="rect">
            <a:avLst/>
          </a:prstGeom>
          <a:noFill/>
          <a:ln/>
        </p:spPr>
        <p:txBody>
          <a:bodyPr wrap="square" lIns="0" tIns="0" rIns="0" bIns="0" rtlCol="0" anchor="t"/>
          <a:lstStyle/>
          <a:p>
            <a:pPr algn="ctr" indent="0" marL="0">
              <a:buNone/>
            </a:pPr>
            <a:r>
              <a:rPr lang="en-US" sz="1200" dirty="0">
                <a:solidFill>
                  <a:schemeClr val="tx1"/>
                </a:solidFill>
              </a:rPr>
              <a:t>Un gruppo, nel lavoro reale, per un periodo definito</a:t>
            </a:r>
            <a:endParaRPr lang="en-US" sz="1200" dirty="0"/>
          </a:p>
        </p:txBody>
      </p:sp>
      <p:sp>
        <p:nvSpPr>
          <p:cNvPr id="26" name="Text 21"/>
          <p:cNvSpPr txBox="1"/>
          <p:nvPr/>
        </p:nvSpPr>
        <p:spPr>
          <a:xfrm>
            <a:off x="3401568" y="2743200"/>
            <a:ext cx="2340864" cy="457200"/>
          </a:xfrm>
          <a:prstGeom prst="rect">
            <a:avLst/>
          </a:prstGeom>
          <a:noFill/>
          <a:ln/>
        </p:spPr>
        <p:txBody>
          <a:bodyPr wrap="square" lIns="0" tIns="0" rIns="0" bIns="0" rtlCol="0" anchor="t"/>
          <a:lstStyle/>
          <a:p>
            <a:pPr algn="ctr" indent="0" marL="0">
              <a:buNone/>
            </a:pPr>
            <a:r>
              <a:rPr lang="en-US" sz="1200" b="1" dirty="0">
                <a:solidFill>
                  <a:schemeClr val="accent1"/>
                </a:solidFill>
              </a:rPr>
              <a:t>Imparare come si inserisce</a:t>
            </a:r>
            <a:endParaRPr lang="en-US" sz="1200" dirty="0"/>
          </a:p>
        </p:txBody>
      </p:sp>
      <p:sp>
        <p:nvSpPr>
          <p:cNvPr id="27" name="freccia"/>
          <p:cNvSpPr/>
          <p:nvPr/>
        </p:nvSpPr>
        <p:spPr>
          <a:xfrm>
            <a:off x="5897880" y="2011680"/>
            <a:ext cx="155448" cy="292608"/>
          </a:xfrm>
          <a:prstGeom prst="rightArrow">
            <a:avLst/>
          </a:prstGeom>
          <a:solidFill>
            <a:schemeClr val="accent2"/>
          </a:solidFill>
          <a:ln/>
        </p:spPr>
      </p:sp>
      <p:sp>
        <p:nvSpPr>
          <p:cNvPr id="28" name="Adozione estesa"/>
          <p:cNvSpPr/>
          <p:nvPr/>
        </p:nvSpPr>
        <p:spPr>
          <a:xfrm>
            <a:off x="6071616" y="1051560"/>
            <a:ext cx="2615184" cy="2240280"/>
          </a:xfrm>
          <a:prstGeom prst="roundRect">
            <a:avLst>
              <a:gd name="adj" fmla="val 3265"/>
            </a:avLst>
          </a:prstGeom>
          <a:solidFill>
            <a:schemeClr val="bg2"/>
          </a:solidFill>
          <a:ln/>
        </p:spPr>
      </p:sp>
      <p:sp>
        <p:nvSpPr>
          <p:cNvPr id="29" name="cerchio FiShare2"/>
          <p:cNvSpPr/>
          <p:nvPr/>
        </p:nvSpPr>
        <p:spPr>
          <a:xfrm>
            <a:off x="7077456" y="1143000"/>
            <a:ext cx="566928" cy="566928"/>
          </a:xfrm>
          <a:prstGeom prst="ellipse">
            <a:avLst/>
          </a:prstGeom>
          <a:solidFill>
            <a:schemeClr val="accent1"/>
          </a:solidFill>
          <a:ln/>
        </p:spPr>
      </p:sp>
      <p:pic>
        <p:nvPicPr>
          <p:cNvPr id="30" name="Image 2" descr="FiShare2">    </p:cNvPr>
          <p:cNvPicPr>
            <a:picLocks noChangeAspect="1"/>
          </p:cNvPicPr>
          <p:nvPr/>
        </p:nvPicPr>
        <p:blipFill>
          <a:blip r:embed="rId3"/>
          <a:stretch>
            <a:fillRect/>
          </a:stretch>
        </p:blipFill>
        <p:spPr>
          <a:xfrm>
            <a:off x="7219188" y="1284732"/>
            <a:ext cx="283464" cy="283464"/>
          </a:xfrm>
          <a:prstGeom prst="rect">
            <a:avLst/>
          </a:prstGeom>
        </p:spPr>
      </p:pic>
      <p:sp>
        <p:nvSpPr>
          <p:cNvPr id="31" name="Text 25"/>
          <p:cNvSpPr txBox="1"/>
          <p:nvPr/>
        </p:nvSpPr>
        <p:spPr>
          <a:xfrm>
            <a:off x="6208776" y="178308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Adozione estesa</a:t>
            </a:r>
            <a:endParaRPr lang="en-US" sz="1500" dirty="0"/>
          </a:p>
        </p:txBody>
      </p:sp>
      <p:sp>
        <p:nvSpPr>
          <p:cNvPr id="32" name="Text 26"/>
          <p:cNvSpPr txBox="1"/>
          <p:nvPr/>
        </p:nvSpPr>
        <p:spPr>
          <a:xfrm>
            <a:off x="6208776" y="2176272"/>
            <a:ext cx="2340864" cy="548640"/>
          </a:xfrm>
          <a:prstGeom prst="rect">
            <a:avLst/>
          </a:prstGeom>
          <a:noFill/>
          <a:ln/>
        </p:spPr>
        <p:txBody>
          <a:bodyPr wrap="square" lIns="0" tIns="0" rIns="0" bIns="0" rtlCol="0" anchor="t"/>
          <a:lstStyle/>
          <a:p>
            <a:pPr algn="ctr" indent="0" marL="0">
              <a:buNone/>
            </a:pPr>
            <a:r>
              <a:rPr lang="en-US" sz="1200" dirty="0">
                <a:solidFill>
                  <a:schemeClr val="tx1"/>
                </a:solidFill>
              </a:rPr>
              <a:t>Più ampia, con pratiche e supporti del pilota</a:t>
            </a:r>
            <a:endParaRPr lang="en-US" sz="1200" dirty="0"/>
          </a:p>
        </p:txBody>
      </p:sp>
      <p:sp>
        <p:nvSpPr>
          <p:cNvPr id="33" name="Text 27"/>
          <p:cNvSpPr txBox="1"/>
          <p:nvPr/>
        </p:nvSpPr>
        <p:spPr>
          <a:xfrm>
            <a:off x="6208776" y="2743200"/>
            <a:ext cx="2340864" cy="457200"/>
          </a:xfrm>
          <a:prstGeom prst="rect">
            <a:avLst/>
          </a:prstGeom>
          <a:noFill/>
          <a:ln/>
        </p:spPr>
        <p:txBody>
          <a:bodyPr wrap="square" lIns="0" tIns="0" rIns="0" bIns="0" rtlCol="0" anchor="t"/>
          <a:lstStyle/>
          <a:p>
            <a:pPr algn="ctr" indent="0" marL="0">
              <a:buNone/>
            </a:pPr>
            <a:r>
              <a:rPr lang="en-US" sz="1200" b="1" dirty="0">
                <a:solidFill>
                  <a:schemeClr val="accent1"/>
                </a:solidFill>
              </a:rPr>
              <a:t>Dopo ciò che si è imparato</a:t>
            </a:r>
            <a:endParaRPr lang="en-US" sz="1200" dirty="0"/>
          </a:p>
        </p:txBody>
      </p:sp>
      <p:sp>
        <p:nvSpPr>
          <p:cNvPr id="34" name="messaggio"/>
          <p:cNvSpPr/>
          <p:nvPr/>
        </p:nvSpPr>
        <p:spPr>
          <a:xfrm>
            <a:off x="457200" y="3474720"/>
            <a:ext cx="8229600" cy="868680"/>
          </a:xfrm>
          <a:prstGeom prst="roundRect">
            <a:avLst>
              <a:gd name="adj" fmla="val 8421"/>
            </a:avLst>
          </a:prstGeom>
          <a:solidFill>
            <a:schemeClr val="tx1"/>
          </a:solidFill>
          <a:ln/>
        </p:spPr>
      </p:sp>
      <p:sp>
        <p:nvSpPr>
          <p:cNvPr id="35" name="Text 29"/>
          <p:cNvSpPr txBox="1"/>
          <p:nvPr/>
        </p:nvSpPr>
        <p:spPr>
          <a:xfrm>
            <a:off x="640080" y="3474720"/>
            <a:ext cx="7863840" cy="868680"/>
          </a:xfrm>
          <a:prstGeom prst="rect">
            <a:avLst/>
          </a:prstGeom>
          <a:noFill/>
          <a:ln/>
        </p:spPr>
        <p:txBody>
          <a:bodyPr wrap="square" lIns="0" tIns="0" rIns="0" bIns="0" rtlCol="0" anchor="ctr"/>
          <a:lstStyle/>
          <a:p>
            <a:pPr indent="0" marL="0">
              <a:buNone/>
            </a:pPr>
            <a:r>
              <a:rPr lang="en-US" sz="1300" dirty="0">
                <a:solidFill>
                  <a:schemeClr val="bg1"/>
                </a:solidFill>
              </a:rPr>
              <a:t>Il passaggio dipende da ciò che si è imparato, non dal calendario. Contesti circoscritti: utile, disponibili, errori con poche conseguenze.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43</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Che cos'è un caso d'uso</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Chi"/>
          <p:cNvSpPr/>
          <p:nvPr/>
        </p:nvSpPr>
        <p:spPr>
          <a:xfrm>
            <a:off x="457200" y="1051560"/>
            <a:ext cx="1536192" cy="960120"/>
          </a:xfrm>
          <a:prstGeom prst="roundRect">
            <a:avLst>
              <a:gd name="adj" fmla="val 7619"/>
            </a:avLst>
          </a:prstGeom>
          <a:solidFill>
            <a:schemeClr val="bg2"/>
          </a:solidFill>
          <a:ln/>
        </p:spPr>
        <p:txBody>
          <a:bodyPr/>
          <a:lstStyle/>
          <a:p>
            <a:endParaRPr lang="it-IT"/>
          </a:p>
        </p:txBody>
      </p:sp>
      <p:sp>
        <p:nvSpPr>
          <p:cNvPr id="15" name="Text 12"/>
          <p:cNvSpPr txBox="1"/>
          <p:nvPr/>
        </p:nvSpPr>
        <p:spPr>
          <a:xfrm>
            <a:off x="530352" y="1078992"/>
            <a:ext cx="1389888" cy="530352"/>
          </a:xfrm>
          <a:prstGeom prst="rect">
            <a:avLst/>
          </a:prstGeom>
          <a:noFill/>
          <a:ln/>
        </p:spPr>
        <p:txBody>
          <a:bodyPr wrap="square" lIns="0" tIns="0" rIns="0" bIns="0" rtlCol="0" anchor="ctr"/>
          <a:lstStyle/>
          <a:p>
            <a:pPr marL="0" indent="0" algn="ctr">
              <a:buNone/>
            </a:pPr>
            <a:r>
              <a:rPr lang="en-US" sz="1200" b="1" dirty="0">
                <a:solidFill>
                  <a:schemeClr val="accent1"/>
                </a:solidFill>
              </a:rPr>
              <a:t>Chi</a:t>
            </a:r>
            <a:endParaRPr lang="en-US" sz="1200" dirty="0"/>
          </a:p>
        </p:txBody>
      </p:sp>
      <p:sp>
        <p:nvSpPr>
          <p:cNvPr id="16" name="Text 13"/>
          <p:cNvSpPr txBox="1"/>
          <p:nvPr/>
        </p:nvSpPr>
        <p:spPr>
          <a:xfrm>
            <a:off x="530352" y="1645920"/>
            <a:ext cx="1389888" cy="274320"/>
          </a:xfrm>
          <a:prstGeom prst="rect">
            <a:avLst/>
          </a:prstGeom>
          <a:noFill/>
          <a:ln/>
        </p:spPr>
        <p:txBody>
          <a:bodyPr wrap="square" lIns="0" tIns="0" rIns="0" bIns="0" rtlCol="0" anchor="t"/>
          <a:lstStyle/>
          <a:p>
            <a:pPr marL="0" indent="0" algn="ctr">
              <a:buNone/>
            </a:pPr>
            <a:r>
              <a:rPr lang="en-US" sz="1100" dirty="0">
                <a:solidFill>
                  <a:schemeClr val="tx2"/>
                </a:solidFill>
              </a:rPr>
              <a:t>svolge</a:t>
            </a:r>
            <a:endParaRPr lang="en-US" sz="1100" dirty="0"/>
          </a:p>
        </p:txBody>
      </p:sp>
      <p:sp>
        <p:nvSpPr>
          <p:cNvPr id="17" name="Quale attività"/>
          <p:cNvSpPr/>
          <p:nvPr/>
        </p:nvSpPr>
        <p:spPr>
          <a:xfrm>
            <a:off x="2139696" y="1051560"/>
            <a:ext cx="1536192" cy="960120"/>
          </a:xfrm>
          <a:prstGeom prst="roundRect">
            <a:avLst>
              <a:gd name="adj" fmla="val 7619"/>
            </a:avLst>
          </a:prstGeom>
          <a:solidFill>
            <a:schemeClr val="bg2"/>
          </a:solidFill>
          <a:ln/>
        </p:spPr>
        <p:txBody>
          <a:bodyPr/>
          <a:lstStyle/>
          <a:p>
            <a:endParaRPr lang="it-IT"/>
          </a:p>
        </p:txBody>
      </p:sp>
      <p:sp>
        <p:nvSpPr>
          <p:cNvPr id="18" name="Text 15"/>
          <p:cNvSpPr txBox="1"/>
          <p:nvPr/>
        </p:nvSpPr>
        <p:spPr>
          <a:xfrm>
            <a:off x="2212848" y="1078992"/>
            <a:ext cx="1389888" cy="530352"/>
          </a:xfrm>
          <a:prstGeom prst="rect">
            <a:avLst/>
          </a:prstGeom>
          <a:noFill/>
          <a:ln/>
        </p:spPr>
        <p:txBody>
          <a:bodyPr wrap="square" lIns="0" tIns="0" rIns="0" bIns="0" rtlCol="0" anchor="ctr"/>
          <a:lstStyle/>
          <a:p>
            <a:pPr marL="0" indent="0" algn="ctr">
              <a:buNone/>
            </a:pPr>
            <a:r>
              <a:rPr lang="en-US" sz="1200" b="1" dirty="0">
                <a:solidFill>
                  <a:schemeClr val="accent1"/>
                </a:solidFill>
              </a:rPr>
              <a:t>Quale attività</a:t>
            </a:r>
            <a:endParaRPr lang="en-US" sz="1200" dirty="0"/>
          </a:p>
        </p:txBody>
      </p:sp>
      <p:sp>
        <p:nvSpPr>
          <p:cNvPr id="19" name="Text 16"/>
          <p:cNvSpPr txBox="1"/>
          <p:nvPr/>
        </p:nvSpPr>
        <p:spPr>
          <a:xfrm>
            <a:off x="2212848" y="1645920"/>
            <a:ext cx="1389888" cy="274320"/>
          </a:xfrm>
          <a:prstGeom prst="rect">
            <a:avLst/>
          </a:prstGeom>
          <a:noFill/>
          <a:ln/>
        </p:spPr>
        <p:txBody>
          <a:bodyPr wrap="square" lIns="0" tIns="0" rIns="0" bIns="0" rtlCol="0" anchor="t"/>
          <a:lstStyle/>
          <a:p>
            <a:pPr marL="0" indent="0" algn="ctr">
              <a:buNone/>
            </a:pPr>
            <a:r>
              <a:rPr lang="en-US" sz="1100" dirty="0">
                <a:solidFill>
                  <a:schemeClr val="tx2"/>
                </a:solidFill>
              </a:rPr>
              <a:t>o processo</a:t>
            </a:r>
            <a:endParaRPr lang="en-US" sz="1100" dirty="0"/>
          </a:p>
        </p:txBody>
      </p:sp>
      <p:sp>
        <p:nvSpPr>
          <p:cNvPr id="20" name="Su quali informazioni"/>
          <p:cNvSpPr/>
          <p:nvPr/>
        </p:nvSpPr>
        <p:spPr>
          <a:xfrm>
            <a:off x="3822192" y="1051560"/>
            <a:ext cx="1536192" cy="960120"/>
          </a:xfrm>
          <a:prstGeom prst="roundRect">
            <a:avLst>
              <a:gd name="adj" fmla="val 7619"/>
            </a:avLst>
          </a:prstGeom>
          <a:solidFill>
            <a:schemeClr val="bg2"/>
          </a:solidFill>
          <a:ln/>
        </p:spPr>
        <p:txBody>
          <a:bodyPr/>
          <a:lstStyle/>
          <a:p>
            <a:endParaRPr lang="it-IT"/>
          </a:p>
        </p:txBody>
      </p:sp>
      <p:sp>
        <p:nvSpPr>
          <p:cNvPr id="21" name="Text 18"/>
          <p:cNvSpPr txBox="1"/>
          <p:nvPr/>
        </p:nvSpPr>
        <p:spPr>
          <a:xfrm>
            <a:off x="3895344" y="1078992"/>
            <a:ext cx="1389888" cy="530352"/>
          </a:xfrm>
          <a:prstGeom prst="rect">
            <a:avLst/>
          </a:prstGeom>
          <a:noFill/>
          <a:ln/>
        </p:spPr>
        <p:txBody>
          <a:bodyPr wrap="square" lIns="0" tIns="0" rIns="0" bIns="0" rtlCol="0" anchor="ctr"/>
          <a:lstStyle/>
          <a:p>
            <a:pPr marL="0" indent="0" algn="ctr">
              <a:buNone/>
            </a:pPr>
            <a:r>
              <a:rPr lang="en-US" sz="1200" b="1" dirty="0">
                <a:solidFill>
                  <a:schemeClr val="accent1"/>
                </a:solidFill>
              </a:rPr>
              <a:t>Su quali informazioni</a:t>
            </a:r>
            <a:endParaRPr lang="en-US" sz="1200" dirty="0"/>
          </a:p>
        </p:txBody>
      </p:sp>
      <p:sp>
        <p:nvSpPr>
          <p:cNvPr id="22" name="Text 19"/>
          <p:cNvSpPr txBox="1"/>
          <p:nvPr/>
        </p:nvSpPr>
        <p:spPr>
          <a:xfrm>
            <a:off x="3895344" y="1645920"/>
            <a:ext cx="1389888" cy="274320"/>
          </a:xfrm>
          <a:prstGeom prst="rect">
            <a:avLst/>
          </a:prstGeom>
          <a:noFill/>
          <a:ln/>
        </p:spPr>
        <p:txBody>
          <a:bodyPr wrap="square" lIns="0" tIns="0" rIns="0" bIns="0" rtlCol="0" anchor="t"/>
          <a:lstStyle/>
          <a:p>
            <a:pPr marL="0" indent="0" algn="ctr">
              <a:buNone/>
            </a:pPr>
            <a:r>
              <a:rPr lang="en-US" sz="1100" dirty="0">
                <a:solidFill>
                  <a:schemeClr val="tx2"/>
                </a:solidFill>
              </a:rPr>
              <a:t>input</a:t>
            </a:r>
            <a:endParaRPr lang="en-US" sz="1100" dirty="0"/>
          </a:p>
        </p:txBody>
      </p:sp>
      <p:sp>
        <p:nvSpPr>
          <p:cNvPr id="23" name="Con quale contributo"/>
          <p:cNvSpPr/>
          <p:nvPr/>
        </p:nvSpPr>
        <p:spPr>
          <a:xfrm>
            <a:off x="5504688" y="1051560"/>
            <a:ext cx="1536192" cy="960120"/>
          </a:xfrm>
          <a:prstGeom prst="roundRect">
            <a:avLst>
              <a:gd name="adj" fmla="val 7619"/>
            </a:avLst>
          </a:prstGeom>
          <a:solidFill>
            <a:schemeClr val="accent1"/>
          </a:solidFill>
          <a:ln/>
        </p:spPr>
        <p:txBody>
          <a:bodyPr/>
          <a:lstStyle/>
          <a:p>
            <a:endParaRPr lang="it-IT"/>
          </a:p>
        </p:txBody>
      </p:sp>
      <p:sp>
        <p:nvSpPr>
          <p:cNvPr id="24" name="Text 21"/>
          <p:cNvSpPr txBox="1"/>
          <p:nvPr/>
        </p:nvSpPr>
        <p:spPr>
          <a:xfrm>
            <a:off x="5577840" y="1078992"/>
            <a:ext cx="1389888" cy="530352"/>
          </a:xfrm>
          <a:prstGeom prst="rect">
            <a:avLst/>
          </a:prstGeom>
          <a:noFill/>
          <a:ln/>
        </p:spPr>
        <p:txBody>
          <a:bodyPr wrap="square" lIns="0" tIns="0" rIns="0" bIns="0" rtlCol="0" anchor="ctr"/>
          <a:lstStyle/>
          <a:p>
            <a:pPr marL="0" indent="0" algn="ctr">
              <a:buNone/>
            </a:pPr>
            <a:r>
              <a:rPr lang="en-US" sz="1200" b="1" dirty="0">
                <a:solidFill>
                  <a:schemeClr val="bg1"/>
                </a:solidFill>
              </a:rPr>
              <a:t>Con quale contributo</a:t>
            </a:r>
            <a:endParaRPr lang="en-US" sz="1200" dirty="0"/>
          </a:p>
        </p:txBody>
      </p:sp>
      <p:sp>
        <p:nvSpPr>
          <p:cNvPr id="25" name="Text 22"/>
          <p:cNvSpPr txBox="1"/>
          <p:nvPr/>
        </p:nvSpPr>
        <p:spPr>
          <a:xfrm>
            <a:off x="5577840" y="1645920"/>
            <a:ext cx="1389888" cy="274320"/>
          </a:xfrm>
          <a:prstGeom prst="rect">
            <a:avLst/>
          </a:prstGeom>
          <a:noFill/>
          <a:ln/>
        </p:spPr>
        <p:txBody>
          <a:bodyPr wrap="square" lIns="0" tIns="0" rIns="0" bIns="0" rtlCol="0" anchor="t"/>
          <a:lstStyle/>
          <a:p>
            <a:pPr marL="0" indent="0" algn="ctr">
              <a:buNone/>
            </a:pPr>
            <a:r>
              <a:rPr lang="en-US" sz="1100" dirty="0">
                <a:solidFill>
                  <a:schemeClr val="accent6"/>
                </a:solidFill>
              </a:rPr>
              <a:t>dell'AI</a:t>
            </a:r>
            <a:endParaRPr lang="en-US" sz="1100" dirty="0"/>
          </a:p>
        </p:txBody>
      </p:sp>
      <p:sp>
        <p:nvSpPr>
          <p:cNvPr id="26" name="Per quale risultato"/>
          <p:cNvSpPr/>
          <p:nvPr/>
        </p:nvSpPr>
        <p:spPr>
          <a:xfrm>
            <a:off x="7187184" y="1051560"/>
            <a:ext cx="1536192" cy="960120"/>
          </a:xfrm>
          <a:prstGeom prst="roundRect">
            <a:avLst>
              <a:gd name="adj" fmla="val 7619"/>
            </a:avLst>
          </a:prstGeom>
          <a:solidFill>
            <a:schemeClr val="bg2"/>
          </a:solidFill>
          <a:ln/>
        </p:spPr>
        <p:txBody>
          <a:bodyPr/>
          <a:lstStyle/>
          <a:p>
            <a:endParaRPr lang="it-IT"/>
          </a:p>
        </p:txBody>
      </p:sp>
      <p:sp>
        <p:nvSpPr>
          <p:cNvPr id="27" name="Text 24"/>
          <p:cNvSpPr txBox="1"/>
          <p:nvPr/>
        </p:nvSpPr>
        <p:spPr>
          <a:xfrm>
            <a:off x="7260336" y="1078992"/>
            <a:ext cx="1389888" cy="530352"/>
          </a:xfrm>
          <a:prstGeom prst="rect">
            <a:avLst/>
          </a:prstGeom>
          <a:noFill/>
          <a:ln/>
        </p:spPr>
        <p:txBody>
          <a:bodyPr wrap="square" lIns="0" tIns="0" rIns="0" bIns="0" rtlCol="0" anchor="ctr"/>
          <a:lstStyle/>
          <a:p>
            <a:pPr marL="0" indent="0" algn="ctr">
              <a:buNone/>
            </a:pPr>
            <a:r>
              <a:rPr lang="en-US" sz="1200" b="1" dirty="0">
                <a:solidFill>
                  <a:schemeClr val="accent1"/>
                </a:solidFill>
              </a:rPr>
              <a:t>Per quale risultato</a:t>
            </a:r>
            <a:endParaRPr lang="en-US" sz="1200" dirty="0"/>
          </a:p>
        </p:txBody>
      </p:sp>
      <p:sp>
        <p:nvSpPr>
          <p:cNvPr id="28" name="Text 25"/>
          <p:cNvSpPr txBox="1"/>
          <p:nvPr/>
        </p:nvSpPr>
        <p:spPr>
          <a:xfrm>
            <a:off x="7260336" y="1645920"/>
            <a:ext cx="1389888" cy="274320"/>
          </a:xfrm>
          <a:prstGeom prst="rect">
            <a:avLst/>
          </a:prstGeom>
          <a:noFill/>
          <a:ln/>
        </p:spPr>
        <p:txBody>
          <a:bodyPr wrap="square" lIns="0" tIns="0" rIns="0" bIns="0" rtlCol="0" anchor="t"/>
          <a:lstStyle/>
          <a:p>
            <a:pPr marL="0" indent="0" algn="ctr">
              <a:buNone/>
            </a:pPr>
            <a:r>
              <a:rPr lang="en-US" sz="1100" dirty="0">
                <a:solidFill>
                  <a:schemeClr val="tx2"/>
                </a:solidFill>
              </a:rPr>
              <a:t>osservabile</a:t>
            </a:r>
            <a:endParaRPr lang="en-US" sz="1100" dirty="0"/>
          </a:p>
        </p:txBody>
      </p:sp>
      <p:sp>
        <p:nvSpPr>
          <p:cNvPr id="29" name="Un ambito"/>
          <p:cNvSpPr/>
          <p:nvPr/>
        </p:nvSpPr>
        <p:spPr>
          <a:xfrm>
            <a:off x="457200" y="2194560"/>
            <a:ext cx="8229600" cy="411480"/>
          </a:xfrm>
          <a:prstGeom prst="roundRect">
            <a:avLst>
              <a:gd name="adj" fmla="val 17778"/>
            </a:avLst>
          </a:prstGeom>
          <a:solidFill>
            <a:schemeClr val="bg2"/>
          </a:solidFill>
          <a:ln/>
        </p:spPr>
        <p:txBody>
          <a:bodyPr/>
          <a:lstStyle/>
          <a:p>
            <a:endParaRPr lang="it-IT"/>
          </a:p>
        </p:txBody>
      </p:sp>
      <p:sp>
        <p:nvSpPr>
          <p:cNvPr id="30" name="Text 27"/>
          <p:cNvSpPr txBox="1"/>
          <p:nvPr/>
        </p:nvSpPr>
        <p:spPr>
          <a:xfrm>
            <a:off x="594360" y="2194560"/>
            <a:ext cx="1645920" cy="411480"/>
          </a:xfrm>
          <a:prstGeom prst="rect">
            <a:avLst/>
          </a:prstGeom>
          <a:noFill/>
          <a:ln/>
        </p:spPr>
        <p:txBody>
          <a:bodyPr wrap="square" lIns="0" tIns="0" rIns="0" bIns="0" rtlCol="0" anchor="ctr"/>
          <a:lstStyle/>
          <a:p>
            <a:pPr marL="0" indent="0">
              <a:buNone/>
            </a:pPr>
            <a:r>
              <a:rPr lang="en-US" sz="1300" b="1" dirty="0">
                <a:solidFill>
                  <a:schemeClr val="accent1"/>
                </a:solidFill>
              </a:rPr>
              <a:t>Un ambito</a:t>
            </a:r>
            <a:endParaRPr lang="en-US" sz="1300" dirty="0"/>
          </a:p>
        </p:txBody>
      </p:sp>
      <p:sp>
        <p:nvSpPr>
          <p:cNvPr id="31" name="Text 28"/>
          <p:cNvSpPr txBox="1"/>
          <p:nvPr/>
        </p:nvSpPr>
        <p:spPr>
          <a:xfrm>
            <a:off x="2240280" y="2194560"/>
            <a:ext cx="6309360" cy="411480"/>
          </a:xfrm>
          <a:prstGeom prst="rect">
            <a:avLst/>
          </a:prstGeom>
          <a:noFill/>
          <a:ln/>
        </p:spPr>
        <p:txBody>
          <a:bodyPr wrap="square" lIns="0" tIns="0" rIns="0" bIns="0" rtlCol="0" anchor="ctr"/>
          <a:lstStyle/>
          <a:p>
            <a:pPr marL="0" indent="0">
              <a:buNone/>
            </a:pPr>
            <a:r>
              <a:rPr lang="en-US" sz="1200" dirty="0">
                <a:solidFill>
                  <a:schemeClr val="tx1"/>
                </a:solidFill>
              </a:rPr>
              <a:t>'Usare l'AI nel commerciale'</a:t>
            </a:r>
            <a:endParaRPr lang="en-US" sz="1200" dirty="0"/>
          </a:p>
        </p:txBody>
      </p:sp>
      <p:sp>
        <p:nvSpPr>
          <p:cNvPr id="32" name="Una soluzione"/>
          <p:cNvSpPr/>
          <p:nvPr/>
        </p:nvSpPr>
        <p:spPr>
          <a:xfrm>
            <a:off x="457200" y="2679192"/>
            <a:ext cx="8229600" cy="411480"/>
          </a:xfrm>
          <a:prstGeom prst="roundRect">
            <a:avLst>
              <a:gd name="adj" fmla="val 17778"/>
            </a:avLst>
          </a:prstGeom>
          <a:solidFill>
            <a:schemeClr val="bg1"/>
          </a:solidFill>
          <a:ln/>
        </p:spPr>
        <p:txBody>
          <a:bodyPr/>
          <a:lstStyle/>
          <a:p>
            <a:endParaRPr lang="it-IT"/>
          </a:p>
        </p:txBody>
      </p:sp>
      <p:sp>
        <p:nvSpPr>
          <p:cNvPr id="33" name="Text 30"/>
          <p:cNvSpPr txBox="1"/>
          <p:nvPr/>
        </p:nvSpPr>
        <p:spPr>
          <a:xfrm>
            <a:off x="594360" y="2679192"/>
            <a:ext cx="1645920" cy="411480"/>
          </a:xfrm>
          <a:prstGeom prst="rect">
            <a:avLst/>
          </a:prstGeom>
          <a:noFill/>
          <a:ln/>
        </p:spPr>
        <p:txBody>
          <a:bodyPr wrap="square" lIns="0" tIns="0" rIns="0" bIns="0" rtlCol="0" anchor="ctr"/>
          <a:lstStyle/>
          <a:p>
            <a:pPr marL="0" indent="0">
              <a:buNone/>
            </a:pPr>
            <a:r>
              <a:rPr lang="en-US" sz="1300" b="1" dirty="0">
                <a:solidFill>
                  <a:schemeClr val="accent1"/>
                </a:solidFill>
              </a:rPr>
              <a:t>Una soluzione</a:t>
            </a:r>
            <a:endParaRPr lang="en-US" sz="1300" dirty="0"/>
          </a:p>
        </p:txBody>
      </p:sp>
      <p:sp>
        <p:nvSpPr>
          <p:cNvPr id="34" name="Text 31"/>
          <p:cNvSpPr txBox="1"/>
          <p:nvPr/>
        </p:nvSpPr>
        <p:spPr>
          <a:xfrm>
            <a:off x="2240280" y="2679192"/>
            <a:ext cx="6309360" cy="411480"/>
          </a:xfrm>
          <a:prstGeom prst="rect">
            <a:avLst/>
          </a:prstGeom>
          <a:noFill/>
          <a:ln/>
        </p:spPr>
        <p:txBody>
          <a:bodyPr wrap="square" lIns="0" tIns="0" rIns="0" bIns="0" rtlCol="0" anchor="ctr"/>
          <a:lstStyle/>
          <a:p>
            <a:pPr marL="0" indent="0">
              <a:buNone/>
            </a:pPr>
            <a:r>
              <a:rPr lang="en-US" sz="1200" dirty="0">
                <a:solidFill>
                  <a:schemeClr val="tx1"/>
                </a:solidFill>
              </a:rPr>
              <a:t>'Un chatbot per i clienti'</a:t>
            </a:r>
            <a:endParaRPr lang="en-US" sz="1200" dirty="0"/>
          </a:p>
        </p:txBody>
      </p:sp>
      <p:sp>
        <p:nvSpPr>
          <p:cNvPr id="35" name="riquadro Un caso d'uso (esempio fittizio)"/>
          <p:cNvSpPr/>
          <p:nvPr/>
        </p:nvSpPr>
        <p:spPr>
          <a:xfrm>
            <a:off x="457200" y="3200400"/>
            <a:ext cx="8229600" cy="1234440"/>
          </a:xfrm>
          <a:prstGeom prst="roundRect">
            <a:avLst>
              <a:gd name="adj" fmla="val 5926"/>
            </a:avLst>
          </a:prstGeom>
          <a:solidFill>
            <a:schemeClr val="accent6"/>
          </a:solidFill>
          <a:ln/>
        </p:spPr>
        <p:txBody>
          <a:bodyPr/>
          <a:lstStyle/>
          <a:p>
            <a:endParaRPr lang="it-IT"/>
          </a:p>
        </p:txBody>
      </p:sp>
      <p:sp>
        <p:nvSpPr>
          <p:cNvPr id="36" name="barra"/>
          <p:cNvSpPr/>
          <p:nvPr/>
        </p:nvSpPr>
        <p:spPr>
          <a:xfrm>
            <a:off x="457200" y="3310128"/>
            <a:ext cx="54864" cy="1014984"/>
          </a:xfrm>
          <a:prstGeom prst="rect">
            <a:avLst/>
          </a:prstGeom>
          <a:solidFill>
            <a:schemeClr val="accent1"/>
          </a:solidFill>
          <a:ln/>
        </p:spPr>
        <p:txBody>
          <a:bodyPr/>
          <a:lstStyle/>
          <a:p>
            <a:endParaRPr lang="it-IT"/>
          </a:p>
        </p:txBody>
      </p:sp>
      <p:sp>
        <p:nvSpPr>
          <p:cNvPr id="37" name="Text 34"/>
          <p:cNvSpPr txBox="1"/>
          <p:nvPr/>
        </p:nvSpPr>
        <p:spPr>
          <a:xfrm>
            <a:off x="658368" y="3291840"/>
            <a:ext cx="7863840" cy="256032"/>
          </a:xfrm>
          <a:prstGeom prst="rect">
            <a:avLst/>
          </a:prstGeom>
          <a:noFill/>
          <a:ln/>
        </p:spPr>
        <p:txBody>
          <a:bodyPr wrap="square" lIns="0" tIns="0" rIns="0" bIns="0" rtlCol="0" anchor="t"/>
          <a:lstStyle/>
          <a:p>
            <a:pPr marL="0" indent="0">
              <a:buNone/>
            </a:pPr>
            <a:r>
              <a:rPr lang="en-US" sz="1100" b="1" dirty="0">
                <a:solidFill>
                  <a:schemeClr val="accent1"/>
                </a:solidFill>
              </a:rPr>
              <a:t>Un caso d'uso (esempio fittizio)</a:t>
            </a:r>
            <a:endParaRPr lang="en-US" sz="1100" dirty="0"/>
          </a:p>
        </p:txBody>
      </p:sp>
      <p:sp>
        <p:nvSpPr>
          <p:cNvPr id="38" name="Text 35"/>
          <p:cNvSpPr txBox="1"/>
          <p:nvPr/>
        </p:nvSpPr>
        <p:spPr>
          <a:xfrm>
            <a:off x="658368" y="3584448"/>
            <a:ext cx="7863840" cy="758952"/>
          </a:xfrm>
          <a:prstGeom prst="rect">
            <a:avLst/>
          </a:prstGeom>
          <a:noFill/>
          <a:ln/>
        </p:spPr>
        <p:txBody>
          <a:bodyPr wrap="square" lIns="0" tIns="0" rIns="0" bIns="0" rtlCol="0" anchor="t"/>
          <a:lstStyle/>
          <a:p>
            <a:pPr marL="0" indent="0">
              <a:buNone/>
            </a:pPr>
            <a:r>
              <a:rPr lang="en-US" sz="1300" dirty="0">
                <a:solidFill>
                  <a:schemeClr val="tx1"/>
                </a:solidFill>
              </a:rPr>
              <a:t>I commerciali dell'area nord ricevono, per ogni richiesta via email, una sintesi preparata dall'AI con prodotto, quantità, tempi e domande aperte, per ridurre il tempo di lettura e non perdere informazioni.</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17</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Gli elementi della descrizione</a:t>
            </a:r>
            <a:endParaRPr lang="en-US" sz="2600" dirty="0"/>
          </a:p>
        </p:txBody>
      </p:sp>
      <p:sp>
        <p:nvSpPr>
          <p:cNvPr id="4" name="fase Individuar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5" name="Text 2"/>
          <p:cNvSpPr txBox="1"/>
          <p:nvPr/>
        </p:nvSpPr>
        <p:spPr>
          <a:xfrm>
            <a:off x="5577840"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Individuare</a:t>
            </a:r>
            <a:endParaRPr lang="en-US" sz="650" dirty="0"/>
          </a:p>
        </p:txBody>
      </p:sp>
      <p:sp>
        <p:nvSpPr>
          <p:cNvPr id="6" name="fase Descrivere"/>
          <p:cNvSpPr/>
          <p:nvPr/>
        </p:nvSpPr>
        <p:spPr>
          <a:xfrm>
            <a:off x="6199632" y="384048"/>
            <a:ext cx="603504" cy="237744"/>
          </a:xfrm>
          <a:prstGeom prst="roundRect">
            <a:avLst>
              <a:gd name="adj" fmla="val 50000"/>
            </a:avLst>
          </a:prstGeom>
          <a:solidFill>
            <a:schemeClr val="accent1"/>
          </a:solidFill>
          <a:ln w="9525">
            <a:solidFill>
              <a:schemeClr val="accent1"/>
            </a:solidFill>
            <a:prstDash val="solid"/>
          </a:ln>
        </p:spPr>
        <p:txBody>
          <a:bodyPr/>
          <a:lstStyle/>
          <a:p>
            <a:endParaRPr lang="it-IT"/>
          </a:p>
        </p:txBody>
      </p:sp>
      <p:sp>
        <p:nvSpPr>
          <p:cNvPr id="7" name="Text 4"/>
          <p:cNvSpPr txBox="1"/>
          <p:nvPr/>
        </p:nvSpPr>
        <p:spPr>
          <a:xfrm>
            <a:off x="6199632" y="384048"/>
            <a:ext cx="603504" cy="237744"/>
          </a:xfrm>
          <a:prstGeom prst="rect">
            <a:avLst/>
          </a:prstGeom>
          <a:noFill/>
          <a:ln/>
        </p:spPr>
        <p:txBody>
          <a:bodyPr wrap="square" lIns="0" tIns="0" rIns="0" bIns="0" rtlCol="0" anchor="ctr"/>
          <a:lstStyle/>
          <a:p>
            <a:pPr marL="0" indent="0" algn="ctr">
              <a:buNone/>
            </a:pPr>
            <a:r>
              <a:rPr lang="en-US" sz="650" b="1" dirty="0">
                <a:solidFill>
                  <a:schemeClr val="bg1"/>
                </a:solidFill>
              </a:rPr>
              <a:t>Descrivere</a:t>
            </a:r>
            <a:endParaRPr lang="en-US" sz="650" dirty="0"/>
          </a:p>
        </p:txBody>
      </p:sp>
      <p:sp>
        <p:nvSpPr>
          <p:cNvPr id="8" name="fase Valutar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9" name="Text 6"/>
          <p:cNvSpPr txBox="1"/>
          <p:nvPr/>
        </p:nvSpPr>
        <p:spPr>
          <a:xfrm>
            <a:off x="6821424"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Valutare</a:t>
            </a:r>
            <a:endParaRPr lang="en-US" sz="650" dirty="0"/>
          </a:p>
        </p:txBody>
      </p:sp>
      <p:sp>
        <p:nvSpPr>
          <p:cNvPr id="10" name="fase Confrontar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1" name="Text 8"/>
          <p:cNvSpPr txBox="1"/>
          <p:nvPr/>
        </p:nvSpPr>
        <p:spPr>
          <a:xfrm>
            <a:off x="7443216"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Confrontare</a:t>
            </a:r>
            <a:endParaRPr lang="en-US" sz="650" dirty="0"/>
          </a:p>
        </p:txBody>
      </p:sp>
      <p:sp>
        <p:nvSpPr>
          <p:cNvPr id="12" name="fase Verificare"/>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txBody>
          <a:bodyPr/>
          <a:lstStyle/>
          <a:p>
            <a:endParaRPr lang="it-IT"/>
          </a:p>
        </p:txBody>
      </p:sp>
      <p:sp>
        <p:nvSpPr>
          <p:cNvPr id="13" name="Text 10"/>
          <p:cNvSpPr txBox="1"/>
          <p:nvPr/>
        </p:nvSpPr>
        <p:spPr>
          <a:xfrm>
            <a:off x="8065008" y="384048"/>
            <a:ext cx="603504" cy="237744"/>
          </a:xfrm>
          <a:prstGeom prst="rect">
            <a:avLst/>
          </a:prstGeom>
          <a:noFill/>
          <a:ln/>
        </p:spPr>
        <p:txBody>
          <a:bodyPr wrap="square" lIns="0" tIns="0" rIns="0" bIns="0" rtlCol="0" anchor="ctr"/>
          <a:lstStyle/>
          <a:p>
            <a:pPr marL="0" indent="0" algn="ctr">
              <a:buNone/>
            </a:pPr>
            <a:r>
              <a:rPr lang="en-US" sz="650" b="1" dirty="0">
                <a:solidFill>
                  <a:schemeClr val="accent1"/>
                </a:solidFill>
              </a:rPr>
              <a:t>Verificare</a:t>
            </a:r>
            <a:endParaRPr lang="en-US" sz="650" dirty="0"/>
          </a:p>
        </p:txBody>
      </p:sp>
      <p:sp>
        <p:nvSpPr>
          <p:cNvPr id="14" name="Contesto e persone"/>
          <p:cNvSpPr/>
          <p:nvPr/>
        </p:nvSpPr>
        <p:spPr>
          <a:xfrm>
            <a:off x="457200" y="1051560"/>
            <a:ext cx="2651760" cy="804672"/>
          </a:xfrm>
          <a:prstGeom prst="roundRect">
            <a:avLst>
              <a:gd name="adj" fmla="val 9091"/>
            </a:avLst>
          </a:prstGeom>
          <a:solidFill>
            <a:schemeClr val="bg2"/>
          </a:solidFill>
          <a:ln/>
        </p:spPr>
        <p:txBody>
          <a:bodyPr/>
          <a:lstStyle/>
          <a:p>
            <a:endParaRPr lang="it-IT"/>
          </a:p>
        </p:txBody>
      </p:sp>
      <p:sp>
        <p:nvSpPr>
          <p:cNvPr id="15" name="Text 12"/>
          <p:cNvSpPr txBox="1"/>
          <p:nvPr/>
        </p:nvSpPr>
        <p:spPr>
          <a:xfrm>
            <a:off x="594360" y="1106424"/>
            <a:ext cx="2377440" cy="310896"/>
          </a:xfrm>
          <a:prstGeom prst="rect">
            <a:avLst/>
          </a:prstGeom>
          <a:noFill/>
          <a:ln/>
        </p:spPr>
        <p:txBody>
          <a:bodyPr wrap="square" lIns="0" tIns="0" rIns="0" bIns="0" rtlCol="0" anchor="t"/>
          <a:lstStyle/>
          <a:p>
            <a:pPr marL="0" indent="0">
              <a:buNone/>
            </a:pPr>
            <a:r>
              <a:rPr lang="en-US" sz="1300" b="1" dirty="0">
                <a:solidFill>
                  <a:schemeClr val="accent1"/>
                </a:solidFill>
              </a:rPr>
              <a:t>Contesto e persone</a:t>
            </a:r>
            <a:endParaRPr lang="en-US" sz="1300" dirty="0"/>
          </a:p>
        </p:txBody>
      </p:sp>
      <p:sp>
        <p:nvSpPr>
          <p:cNvPr id="16" name="Text 13"/>
          <p:cNvSpPr txBox="1"/>
          <p:nvPr/>
        </p:nvSpPr>
        <p:spPr>
          <a:xfrm>
            <a:off x="594360" y="1435608"/>
            <a:ext cx="2377440" cy="365760"/>
          </a:xfrm>
          <a:prstGeom prst="rect">
            <a:avLst/>
          </a:prstGeom>
          <a:noFill/>
          <a:ln/>
        </p:spPr>
        <p:txBody>
          <a:bodyPr wrap="square" lIns="0" tIns="0" rIns="0" bIns="0" rtlCol="0" anchor="t"/>
          <a:lstStyle/>
          <a:p>
            <a:pPr marL="0" indent="0">
              <a:buNone/>
            </a:pPr>
            <a:r>
              <a:rPr lang="en-US" sz="1100" dirty="0">
                <a:solidFill>
                  <a:schemeClr val="tx1"/>
                </a:solidFill>
              </a:rPr>
              <a:t>Reparto, ruoli, chi usa e chi riceve</a:t>
            </a:r>
            <a:endParaRPr lang="en-US" sz="1100" dirty="0"/>
          </a:p>
        </p:txBody>
      </p:sp>
      <p:sp>
        <p:nvSpPr>
          <p:cNvPr id="17" name="Attività o processo"/>
          <p:cNvSpPr/>
          <p:nvPr/>
        </p:nvSpPr>
        <p:spPr>
          <a:xfrm>
            <a:off x="3264408" y="1051560"/>
            <a:ext cx="2651760" cy="804672"/>
          </a:xfrm>
          <a:prstGeom prst="roundRect">
            <a:avLst>
              <a:gd name="adj" fmla="val 9091"/>
            </a:avLst>
          </a:prstGeom>
          <a:solidFill>
            <a:schemeClr val="bg2"/>
          </a:solidFill>
          <a:ln/>
        </p:spPr>
        <p:txBody>
          <a:bodyPr/>
          <a:lstStyle/>
          <a:p>
            <a:endParaRPr lang="it-IT"/>
          </a:p>
        </p:txBody>
      </p:sp>
      <p:sp>
        <p:nvSpPr>
          <p:cNvPr id="18" name="Text 15"/>
          <p:cNvSpPr txBox="1"/>
          <p:nvPr/>
        </p:nvSpPr>
        <p:spPr>
          <a:xfrm>
            <a:off x="3401568" y="1106424"/>
            <a:ext cx="2377440" cy="310896"/>
          </a:xfrm>
          <a:prstGeom prst="rect">
            <a:avLst/>
          </a:prstGeom>
          <a:noFill/>
          <a:ln/>
        </p:spPr>
        <p:txBody>
          <a:bodyPr wrap="square" lIns="0" tIns="0" rIns="0" bIns="0" rtlCol="0" anchor="t"/>
          <a:lstStyle/>
          <a:p>
            <a:pPr marL="0" indent="0">
              <a:buNone/>
            </a:pPr>
            <a:r>
              <a:rPr lang="en-US" sz="1300" b="1" dirty="0">
                <a:solidFill>
                  <a:schemeClr val="accent1"/>
                </a:solidFill>
              </a:rPr>
              <a:t>Attività o processo</a:t>
            </a:r>
            <a:endParaRPr lang="en-US" sz="1300" dirty="0"/>
          </a:p>
        </p:txBody>
      </p:sp>
      <p:sp>
        <p:nvSpPr>
          <p:cNvPr id="19" name="Text 16"/>
          <p:cNvSpPr txBox="1"/>
          <p:nvPr/>
        </p:nvSpPr>
        <p:spPr>
          <a:xfrm>
            <a:off x="3401568" y="1435608"/>
            <a:ext cx="2377440" cy="365760"/>
          </a:xfrm>
          <a:prstGeom prst="rect">
            <a:avLst/>
          </a:prstGeom>
          <a:noFill/>
          <a:ln/>
        </p:spPr>
        <p:txBody>
          <a:bodyPr wrap="square" lIns="0" tIns="0" rIns="0" bIns="0" rtlCol="0" anchor="t"/>
          <a:lstStyle/>
          <a:p>
            <a:pPr marL="0" indent="0">
              <a:buNone/>
            </a:pPr>
            <a:r>
              <a:rPr lang="en-US" sz="1100" dirty="0">
                <a:solidFill>
                  <a:schemeClr val="tx1"/>
                </a:solidFill>
              </a:rPr>
              <a:t>Quale passaggio cambia</a:t>
            </a:r>
            <a:endParaRPr lang="en-US" sz="1100" dirty="0"/>
          </a:p>
        </p:txBody>
      </p:sp>
      <p:sp>
        <p:nvSpPr>
          <p:cNvPr id="20" name="Problema e obiettivo"/>
          <p:cNvSpPr/>
          <p:nvPr/>
        </p:nvSpPr>
        <p:spPr>
          <a:xfrm>
            <a:off x="6071616" y="1051560"/>
            <a:ext cx="2651760" cy="804672"/>
          </a:xfrm>
          <a:prstGeom prst="roundRect">
            <a:avLst>
              <a:gd name="adj" fmla="val 9091"/>
            </a:avLst>
          </a:prstGeom>
          <a:solidFill>
            <a:schemeClr val="bg2"/>
          </a:solidFill>
          <a:ln/>
        </p:spPr>
        <p:txBody>
          <a:bodyPr/>
          <a:lstStyle/>
          <a:p>
            <a:endParaRPr lang="it-IT"/>
          </a:p>
        </p:txBody>
      </p:sp>
      <p:sp>
        <p:nvSpPr>
          <p:cNvPr id="21" name="Text 18"/>
          <p:cNvSpPr txBox="1"/>
          <p:nvPr/>
        </p:nvSpPr>
        <p:spPr>
          <a:xfrm>
            <a:off x="6208776" y="1106424"/>
            <a:ext cx="2377440" cy="310896"/>
          </a:xfrm>
          <a:prstGeom prst="rect">
            <a:avLst/>
          </a:prstGeom>
          <a:noFill/>
          <a:ln/>
        </p:spPr>
        <p:txBody>
          <a:bodyPr wrap="square" lIns="0" tIns="0" rIns="0" bIns="0" rtlCol="0" anchor="t"/>
          <a:lstStyle/>
          <a:p>
            <a:pPr marL="0" indent="0">
              <a:buNone/>
            </a:pPr>
            <a:r>
              <a:rPr lang="en-US" sz="1300" b="1" dirty="0">
                <a:solidFill>
                  <a:schemeClr val="accent1"/>
                </a:solidFill>
              </a:rPr>
              <a:t>Problema e obiettivo</a:t>
            </a:r>
            <a:endParaRPr lang="en-US" sz="1300" dirty="0"/>
          </a:p>
        </p:txBody>
      </p:sp>
      <p:sp>
        <p:nvSpPr>
          <p:cNvPr id="22" name="Text 19"/>
          <p:cNvSpPr txBox="1"/>
          <p:nvPr/>
        </p:nvSpPr>
        <p:spPr>
          <a:xfrm>
            <a:off x="6208776" y="1435608"/>
            <a:ext cx="2377440" cy="365760"/>
          </a:xfrm>
          <a:prstGeom prst="rect">
            <a:avLst/>
          </a:prstGeom>
          <a:noFill/>
          <a:ln/>
        </p:spPr>
        <p:txBody>
          <a:bodyPr wrap="square" lIns="0" tIns="0" rIns="0" bIns="0" rtlCol="0" anchor="t"/>
          <a:lstStyle/>
          <a:p>
            <a:pPr marL="0" indent="0">
              <a:buNone/>
            </a:pPr>
            <a:r>
              <a:rPr lang="en-US" sz="1100" dirty="0">
                <a:solidFill>
                  <a:schemeClr val="tx1"/>
                </a:solidFill>
              </a:rPr>
              <a:t>Dal 15.1</a:t>
            </a:r>
            <a:endParaRPr lang="en-US" sz="1100" dirty="0"/>
          </a:p>
        </p:txBody>
      </p:sp>
      <p:sp>
        <p:nvSpPr>
          <p:cNvPr id="23" name="Input e informazioni"/>
          <p:cNvSpPr/>
          <p:nvPr/>
        </p:nvSpPr>
        <p:spPr>
          <a:xfrm>
            <a:off x="457200" y="1965960"/>
            <a:ext cx="2651760" cy="804672"/>
          </a:xfrm>
          <a:prstGeom prst="roundRect">
            <a:avLst>
              <a:gd name="adj" fmla="val 9091"/>
            </a:avLst>
          </a:prstGeom>
          <a:solidFill>
            <a:schemeClr val="accent6"/>
          </a:solidFill>
          <a:ln/>
        </p:spPr>
        <p:txBody>
          <a:bodyPr/>
          <a:lstStyle/>
          <a:p>
            <a:endParaRPr lang="it-IT"/>
          </a:p>
        </p:txBody>
      </p:sp>
      <p:sp>
        <p:nvSpPr>
          <p:cNvPr id="24" name="Text 21"/>
          <p:cNvSpPr txBox="1"/>
          <p:nvPr/>
        </p:nvSpPr>
        <p:spPr>
          <a:xfrm>
            <a:off x="594360" y="2020824"/>
            <a:ext cx="2377440" cy="310896"/>
          </a:xfrm>
          <a:prstGeom prst="rect">
            <a:avLst/>
          </a:prstGeom>
          <a:noFill/>
          <a:ln/>
        </p:spPr>
        <p:txBody>
          <a:bodyPr wrap="square" lIns="0" tIns="0" rIns="0" bIns="0" rtlCol="0" anchor="t"/>
          <a:lstStyle/>
          <a:p>
            <a:pPr marL="0" indent="0">
              <a:buNone/>
            </a:pPr>
            <a:r>
              <a:rPr lang="en-US" sz="1300" b="1" dirty="0">
                <a:solidFill>
                  <a:schemeClr val="accent1"/>
                </a:solidFill>
              </a:rPr>
              <a:t>Input e informazioni</a:t>
            </a:r>
            <a:endParaRPr lang="en-US" sz="1300" dirty="0"/>
          </a:p>
        </p:txBody>
      </p:sp>
      <p:sp>
        <p:nvSpPr>
          <p:cNvPr id="25" name="Text 22"/>
          <p:cNvSpPr txBox="1"/>
          <p:nvPr/>
        </p:nvSpPr>
        <p:spPr>
          <a:xfrm>
            <a:off x="594360" y="2350008"/>
            <a:ext cx="2377440" cy="365760"/>
          </a:xfrm>
          <a:prstGeom prst="rect">
            <a:avLst/>
          </a:prstGeom>
          <a:noFill/>
          <a:ln/>
        </p:spPr>
        <p:txBody>
          <a:bodyPr wrap="square" lIns="0" tIns="0" rIns="0" bIns="0" rtlCol="0" anchor="t"/>
          <a:lstStyle/>
          <a:p>
            <a:pPr marL="0" indent="0">
              <a:buNone/>
            </a:pPr>
            <a:r>
              <a:rPr lang="en-US" sz="1100" dirty="0">
                <a:solidFill>
                  <a:schemeClr val="tx1"/>
                </a:solidFill>
              </a:rPr>
              <a:t>Che cosa, da dove, in quale forma</a:t>
            </a:r>
            <a:endParaRPr lang="en-US" sz="1100" dirty="0"/>
          </a:p>
        </p:txBody>
      </p:sp>
      <p:sp>
        <p:nvSpPr>
          <p:cNvPr id="26" name="Risultato atteso"/>
          <p:cNvSpPr/>
          <p:nvPr/>
        </p:nvSpPr>
        <p:spPr>
          <a:xfrm>
            <a:off x="3264408" y="1965960"/>
            <a:ext cx="2651760" cy="804672"/>
          </a:xfrm>
          <a:prstGeom prst="roundRect">
            <a:avLst>
              <a:gd name="adj" fmla="val 9091"/>
            </a:avLst>
          </a:prstGeom>
          <a:solidFill>
            <a:schemeClr val="accent6"/>
          </a:solidFill>
          <a:ln/>
        </p:spPr>
        <p:txBody>
          <a:bodyPr/>
          <a:lstStyle/>
          <a:p>
            <a:endParaRPr lang="it-IT"/>
          </a:p>
        </p:txBody>
      </p:sp>
      <p:sp>
        <p:nvSpPr>
          <p:cNvPr id="27" name="Text 24"/>
          <p:cNvSpPr txBox="1"/>
          <p:nvPr/>
        </p:nvSpPr>
        <p:spPr>
          <a:xfrm>
            <a:off x="3401568" y="2020824"/>
            <a:ext cx="2377440" cy="310896"/>
          </a:xfrm>
          <a:prstGeom prst="rect">
            <a:avLst/>
          </a:prstGeom>
          <a:noFill/>
          <a:ln/>
        </p:spPr>
        <p:txBody>
          <a:bodyPr wrap="square" lIns="0" tIns="0" rIns="0" bIns="0" rtlCol="0" anchor="t"/>
          <a:lstStyle/>
          <a:p>
            <a:pPr marL="0" indent="0">
              <a:buNone/>
            </a:pPr>
            <a:r>
              <a:rPr lang="en-US" sz="1300" b="1" dirty="0">
                <a:solidFill>
                  <a:schemeClr val="accent1"/>
                </a:solidFill>
              </a:rPr>
              <a:t>Risultato atteso</a:t>
            </a:r>
            <a:endParaRPr lang="en-US" sz="1300" dirty="0"/>
          </a:p>
        </p:txBody>
      </p:sp>
      <p:sp>
        <p:nvSpPr>
          <p:cNvPr id="28" name="Text 25"/>
          <p:cNvSpPr txBox="1"/>
          <p:nvPr/>
        </p:nvSpPr>
        <p:spPr>
          <a:xfrm>
            <a:off x="3401568" y="2350008"/>
            <a:ext cx="2377440" cy="365760"/>
          </a:xfrm>
          <a:prstGeom prst="rect">
            <a:avLst/>
          </a:prstGeom>
          <a:noFill/>
          <a:ln/>
        </p:spPr>
        <p:txBody>
          <a:bodyPr wrap="square" lIns="0" tIns="0" rIns="0" bIns="0" rtlCol="0" anchor="t"/>
          <a:lstStyle/>
          <a:p>
            <a:pPr marL="0" indent="0">
              <a:buNone/>
            </a:pPr>
            <a:r>
              <a:rPr lang="en-US" sz="1100" dirty="0">
                <a:solidFill>
                  <a:schemeClr val="tx1"/>
                </a:solidFill>
              </a:rPr>
              <a:t>E come osservarlo</a:t>
            </a:r>
            <a:endParaRPr lang="en-US" sz="1100" dirty="0"/>
          </a:p>
        </p:txBody>
      </p:sp>
      <p:sp>
        <p:nvSpPr>
          <p:cNvPr id="29" name="Ruolo dell'AI"/>
          <p:cNvSpPr/>
          <p:nvPr/>
        </p:nvSpPr>
        <p:spPr>
          <a:xfrm>
            <a:off x="6071616" y="1965960"/>
            <a:ext cx="2651760" cy="804672"/>
          </a:xfrm>
          <a:prstGeom prst="roundRect">
            <a:avLst>
              <a:gd name="adj" fmla="val 9091"/>
            </a:avLst>
          </a:prstGeom>
          <a:solidFill>
            <a:schemeClr val="accent6"/>
          </a:solidFill>
          <a:ln/>
        </p:spPr>
        <p:txBody>
          <a:bodyPr/>
          <a:lstStyle/>
          <a:p>
            <a:endParaRPr lang="it-IT"/>
          </a:p>
        </p:txBody>
      </p:sp>
      <p:sp>
        <p:nvSpPr>
          <p:cNvPr id="30" name="Text 27"/>
          <p:cNvSpPr txBox="1"/>
          <p:nvPr/>
        </p:nvSpPr>
        <p:spPr>
          <a:xfrm>
            <a:off x="6208776" y="2020824"/>
            <a:ext cx="2377440" cy="310896"/>
          </a:xfrm>
          <a:prstGeom prst="rect">
            <a:avLst/>
          </a:prstGeom>
          <a:noFill/>
          <a:ln/>
        </p:spPr>
        <p:txBody>
          <a:bodyPr wrap="square" lIns="0" tIns="0" rIns="0" bIns="0" rtlCol="0" anchor="t"/>
          <a:lstStyle/>
          <a:p>
            <a:pPr marL="0" indent="0">
              <a:buNone/>
            </a:pPr>
            <a:r>
              <a:rPr lang="en-US" sz="1300" b="1" dirty="0">
                <a:solidFill>
                  <a:schemeClr val="accent1"/>
                </a:solidFill>
              </a:rPr>
              <a:t>Ruolo dell'AI</a:t>
            </a:r>
            <a:endParaRPr lang="en-US" sz="1300" dirty="0"/>
          </a:p>
        </p:txBody>
      </p:sp>
      <p:sp>
        <p:nvSpPr>
          <p:cNvPr id="31" name="Text 28"/>
          <p:cNvSpPr txBox="1"/>
          <p:nvPr/>
        </p:nvSpPr>
        <p:spPr>
          <a:xfrm>
            <a:off x="6208776" y="2350008"/>
            <a:ext cx="2377440" cy="365760"/>
          </a:xfrm>
          <a:prstGeom prst="rect">
            <a:avLst/>
          </a:prstGeom>
          <a:noFill/>
          <a:ln/>
        </p:spPr>
        <p:txBody>
          <a:bodyPr wrap="square" lIns="0" tIns="0" rIns="0" bIns="0" rtlCol="0" anchor="t"/>
          <a:lstStyle/>
          <a:p>
            <a:pPr marL="0" indent="0">
              <a:buNone/>
            </a:pPr>
            <a:r>
              <a:rPr lang="en-US" sz="1100" dirty="0">
                <a:solidFill>
                  <a:schemeClr val="tx1"/>
                </a:solidFill>
              </a:rPr>
              <a:t>Supporta, automatizza in parte, trasforma</a:t>
            </a:r>
            <a:endParaRPr lang="en-US" sz="1100" dirty="0"/>
          </a:p>
        </p:txBody>
      </p:sp>
      <p:sp>
        <p:nvSpPr>
          <p:cNvPr id="32" name="Supervisione umana"/>
          <p:cNvSpPr/>
          <p:nvPr/>
        </p:nvSpPr>
        <p:spPr>
          <a:xfrm>
            <a:off x="457200" y="2880360"/>
            <a:ext cx="2651760" cy="804672"/>
          </a:xfrm>
          <a:prstGeom prst="roundRect">
            <a:avLst>
              <a:gd name="adj" fmla="val 9091"/>
            </a:avLst>
          </a:prstGeom>
          <a:solidFill>
            <a:schemeClr val="bg2"/>
          </a:solidFill>
          <a:ln/>
        </p:spPr>
        <p:txBody>
          <a:bodyPr/>
          <a:lstStyle/>
          <a:p>
            <a:endParaRPr lang="it-IT"/>
          </a:p>
        </p:txBody>
      </p:sp>
      <p:sp>
        <p:nvSpPr>
          <p:cNvPr id="33" name="Text 30"/>
          <p:cNvSpPr txBox="1"/>
          <p:nvPr/>
        </p:nvSpPr>
        <p:spPr>
          <a:xfrm>
            <a:off x="594360" y="2935224"/>
            <a:ext cx="2377440" cy="310896"/>
          </a:xfrm>
          <a:prstGeom prst="rect">
            <a:avLst/>
          </a:prstGeom>
          <a:noFill/>
          <a:ln/>
        </p:spPr>
        <p:txBody>
          <a:bodyPr wrap="square" lIns="0" tIns="0" rIns="0" bIns="0" rtlCol="0" anchor="t"/>
          <a:lstStyle/>
          <a:p>
            <a:pPr marL="0" indent="0">
              <a:buNone/>
            </a:pPr>
            <a:r>
              <a:rPr lang="en-US" sz="1300" b="1" dirty="0">
                <a:solidFill>
                  <a:schemeClr val="accent1"/>
                </a:solidFill>
              </a:rPr>
              <a:t>Supervisione umana</a:t>
            </a:r>
            <a:endParaRPr lang="en-US" sz="1300" dirty="0"/>
          </a:p>
        </p:txBody>
      </p:sp>
      <p:sp>
        <p:nvSpPr>
          <p:cNvPr id="34" name="Text 31"/>
          <p:cNvSpPr txBox="1"/>
          <p:nvPr/>
        </p:nvSpPr>
        <p:spPr>
          <a:xfrm>
            <a:off x="594360" y="3264408"/>
            <a:ext cx="2377440" cy="365760"/>
          </a:xfrm>
          <a:prstGeom prst="rect">
            <a:avLst/>
          </a:prstGeom>
          <a:noFill/>
          <a:ln/>
        </p:spPr>
        <p:txBody>
          <a:bodyPr wrap="square" lIns="0" tIns="0" rIns="0" bIns="0" rtlCol="0" anchor="t"/>
          <a:lstStyle/>
          <a:p>
            <a:pPr marL="0" indent="0">
              <a:buNone/>
            </a:pPr>
            <a:r>
              <a:rPr lang="en-US" sz="1100" dirty="0">
                <a:solidFill>
                  <a:schemeClr val="tx1"/>
                </a:solidFill>
              </a:rPr>
              <a:t>Chi controlla, quando, come corregge</a:t>
            </a:r>
            <a:endParaRPr lang="en-US" sz="1100" dirty="0"/>
          </a:p>
        </p:txBody>
      </p:sp>
      <p:sp>
        <p:nvSpPr>
          <p:cNvPr id="35" name="Frequenza e volume"/>
          <p:cNvSpPr/>
          <p:nvPr/>
        </p:nvSpPr>
        <p:spPr>
          <a:xfrm>
            <a:off x="3264408" y="2880360"/>
            <a:ext cx="2651760" cy="804672"/>
          </a:xfrm>
          <a:prstGeom prst="roundRect">
            <a:avLst>
              <a:gd name="adj" fmla="val 9091"/>
            </a:avLst>
          </a:prstGeom>
          <a:solidFill>
            <a:schemeClr val="bg2"/>
          </a:solidFill>
          <a:ln/>
        </p:spPr>
        <p:txBody>
          <a:bodyPr/>
          <a:lstStyle/>
          <a:p>
            <a:endParaRPr lang="it-IT"/>
          </a:p>
        </p:txBody>
      </p:sp>
      <p:sp>
        <p:nvSpPr>
          <p:cNvPr id="36" name="Text 33"/>
          <p:cNvSpPr txBox="1"/>
          <p:nvPr/>
        </p:nvSpPr>
        <p:spPr>
          <a:xfrm>
            <a:off x="3401568" y="2935224"/>
            <a:ext cx="2377440" cy="310896"/>
          </a:xfrm>
          <a:prstGeom prst="rect">
            <a:avLst/>
          </a:prstGeom>
          <a:noFill/>
          <a:ln/>
        </p:spPr>
        <p:txBody>
          <a:bodyPr wrap="square" lIns="0" tIns="0" rIns="0" bIns="0" rtlCol="0" anchor="t"/>
          <a:lstStyle/>
          <a:p>
            <a:pPr marL="0" indent="0">
              <a:buNone/>
            </a:pPr>
            <a:r>
              <a:rPr lang="en-US" sz="1300" b="1" dirty="0">
                <a:solidFill>
                  <a:schemeClr val="accent1"/>
                </a:solidFill>
              </a:rPr>
              <a:t>Frequenza e volume</a:t>
            </a:r>
            <a:endParaRPr lang="en-US" sz="1300" dirty="0"/>
          </a:p>
        </p:txBody>
      </p:sp>
      <p:sp>
        <p:nvSpPr>
          <p:cNvPr id="37" name="Text 34"/>
          <p:cNvSpPr txBox="1"/>
          <p:nvPr/>
        </p:nvSpPr>
        <p:spPr>
          <a:xfrm>
            <a:off x="3401568" y="3264408"/>
            <a:ext cx="2377440" cy="365760"/>
          </a:xfrm>
          <a:prstGeom prst="rect">
            <a:avLst/>
          </a:prstGeom>
          <a:noFill/>
          <a:ln/>
        </p:spPr>
        <p:txBody>
          <a:bodyPr wrap="square" lIns="0" tIns="0" rIns="0" bIns="0" rtlCol="0" anchor="t"/>
          <a:lstStyle/>
          <a:p>
            <a:pPr marL="0" indent="0">
              <a:buNone/>
            </a:pPr>
            <a:r>
              <a:rPr lang="en-US" sz="1100" dirty="0">
                <a:solidFill>
                  <a:schemeClr val="tx1"/>
                </a:solidFill>
              </a:rPr>
              <a:t>Quante volte, quanti casi</a:t>
            </a:r>
            <a:endParaRPr lang="en-US" sz="1100" dirty="0"/>
          </a:p>
        </p:txBody>
      </p:sp>
      <p:sp>
        <p:nvSpPr>
          <p:cNvPr id="38" name="Confini e condizioni"/>
          <p:cNvSpPr/>
          <p:nvPr/>
        </p:nvSpPr>
        <p:spPr>
          <a:xfrm>
            <a:off x="6071616" y="2880360"/>
            <a:ext cx="2651760" cy="804672"/>
          </a:xfrm>
          <a:prstGeom prst="roundRect">
            <a:avLst>
              <a:gd name="adj" fmla="val 9091"/>
            </a:avLst>
          </a:prstGeom>
          <a:solidFill>
            <a:schemeClr val="bg2"/>
          </a:solidFill>
          <a:ln/>
        </p:spPr>
        <p:txBody>
          <a:bodyPr/>
          <a:lstStyle/>
          <a:p>
            <a:endParaRPr lang="it-IT"/>
          </a:p>
        </p:txBody>
      </p:sp>
      <p:sp>
        <p:nvSpPr>
          <p:cNvPr id="39" name="Text 36"/>
          <p:cNvSpPr txBox="1"/>
          <p:nvPr/>
        </p:nvSpPr>
        <p:spPr>
          <a:xfrm>
            <a:off x="6208776" y="2935224"/>
            <a:ext cx="2377440" cy="310896"/>
          </a:xfrm>
          <a:prstGeom prst="rect">
            <a:avLst/>
          </a:prstGeom>
          <a:noFill/>
          <a:ln/>
        </p:spPr>
        <p:txBody>
          <a:bodyPr wrap="square" lIns="0" tIns="0" rIns="0" bIns="0" rtlCol="0" anchor="t"/>
          <a:lstStyle/>
          <a:p>
            <a:pPr marL="0" indent="0">
              <a:buNone/>
            </a:pPr>
            <a:r>
              <a:rPr lang="en-US" sz="1300" b="1" dirty="0">
                <a:solidFill>
                  <a:schemeClr val="accent1"/>
                </a:solidFill>
              </a:rPr>
              <a:t>Confini e condizioni</a:t>
            </a:r>
            <a:endParaRPr lang="en-US" sz="1300" dirty="0"/>
          </a:p>
        </p:txBody>
      </p:sp>
      <p:sp>
        <p:nvSpPr>
          <p:cNvPr id="40" name="Text 37"/>
          <p:cNvSpPr txBox="1"/>
          <p:nvPr/>
        </p:nvSpPr>
        <p:spPr>
          <a:xfrm>
            <a:off x="6208776" y="3264408"/>
            <a:ext cx="2377440" cy="365760"/>
          </a:xfrm>
          <a:prstGeom prst="rect">
            <a:avLst/>
          </a:prstGeom>
          <a:noFill/>
          <a:ln/>
        </p:spPr>
        <p:txBody>
          <a:bodyPr wrap="square" lIns="0" tIns="0" rIns="0" bIns="0" rtlCol="0" anchor="t"/>
          <a:lstStyle/>
          <a:p>
            <a:pPr marL="0" indent="0">
              <a:buNone/>
            </a:pPr>
            <a:r>
              <a:rPr lang="en-US" sz="1100" dirty="0">
                <a:solidFill>
                  <a:schemeClr val="tx1"/>
                </a:solidFill>
              </a:rPr>
              <a:t>Che cosa non fa, eccezioni, quando non si usa</a:t>
            </a:r>
            <a:endParaRPr lang="en-US" sz="1100" dirty="0"/>
          </a:p>
        </p:txBody>
      </p:sp>
      <p:sp>
        <p:nvSpPr>
          <p:cNvPr id="41" name="messaggio"/>
          <p:cNvSpPr/>
          <p:nvPr/>
        </p:nvSpPr>
        <p:spPr>
          <a:xfrm>
            <a:off x="457200" y="3886200"/>
            <a:ext cx="8229600" cy="594360"/>
          </a:xfrm>
          <a:prstGeom prst="roundRect">
            <a:avLst>
              <a:gd name="adj" fmla="val 12308"/>
            </a:avLst>
          </a:prstGeom>
          <a:solidFill>
            <a:schemeClr val="tx1"/>
          </a:solidFill>
          <a:ln/>
        </p:spPr>
        <p:txBody>
          <a:bodyPr/>
          <a:lstStyle/>
          <a:p>
            <a:endParaRPr lang="it-IT"/>
          </a:p>
        </p:txBody>
      </p:sp>
      <p:sp>
        <p:nvSpPr>
          <p:cNvPr id="42" name="Text 39"/>
          <p:cNvSpPr txBox="1"/>
          <p:nvPr/>
        </p:nvSpPr>
        <p:spPr>
          <a:xfrm>
            <a:off x="640080" y="3886200"/>
            <a:ext cx="7863840" cy="594360"/>
          </a:xfrm>
          <a:prstGeom prst="rect">
            <a:avLst/>
          </a:prstGeom>
          <a:noFill/>
          <a:ln/>
        </p:spPr>
        <p:txBody>
          <a:bodyPr wrap="square" lIns="0" tIns="0" rIns="0" bIns="0" rtlCol="0" anchor="ctr"/>
          <a:lstStyle/>
          <a:p>
            <a:pPr marL="0" indent="0">
              <a:buNone/>
            </a:pPr>
            <a:r>
              <a:rPr lang="en-US" sz="1400" dirty="0">
                <a:solidFill>
                  <a:schemeClr val="bg1"/>
                </a:solidFill>
              </a:rPr>
              <a:t>Compilare la scheda fa emergere rapidamente che cosa non si sa ancora.</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18</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Esercizio: dalla mappa alla shortlist</a:t>
            </a:r>
            <a:endParaRPr lang="en-US" sz="2600" dirty="0"/>
          </a:p>
        </p:txBody>
      </p:sp>
      <p:sp>
        <p:nvSpPr>
          <p:cNvPr id="4" name="fase 0"/>
          <p:cNvSpPr/>
          <p:nvPr/>
        </p:nvSpPr>
        <p:spPr>
          <a:xfrm>
            <a:off x="457200" y="1051560"/>
            <a:ext cx="2615184" cy="1143000"/>
          </a:xfrm>
          <a:prstGeom prst="roundRect">
            <a:avLst>
              <a:gd name="adj" fmla="val 6400"/>
            </a:avLst>
          </a:prstGeom>
          <a:solidFill>
            <a:schemeClr val="bg2"/>
          </a:solidFill>
          <a:ln/>
        </p:spPr>
      </p:sp>
      <p:sp>
        <p:nvSpPr>
          <p:cNvPr id="5" name="Text 2"/>
          <p:cNvSpPr txBox="1"/>
          <p:nvPr/>
        </p:nvSpPr>
        <p:spPr>
          <a:xfrm>
            <a:off x="621792" y="1115568"/>
            <a:ext cx="731520" cy="411480"/>
          </a:xfrm>
          <a:prstGeom prst="rect">
            <a:avLst/>
          </a:prstGeom>
          <a:noFill/>
          <a:ln/>
        </p:spPr>
        <p:txBody>
          <a:bodyPr wrap="square" lIns="0" tIns="0" rIns="0" bIns="0" rtlCol="0" anchor="t"/>
          <a:lstStyle/>
          <a:p>
            <a:pPr indent="0" marL="0">
              <a:buNone/>
            </a:pPr>
            <a:r>
              <a:rPr lang="en-US" sz="2000" b="1" dirty="0">
                <a:solidFill>
                  <a:schemeClr val="accent1"/>
                </a:solidFill>
              </a:rPr>
              <a:t>15'</a:t>
            </a:r>
            <a:endParaRPr lang="en-US" sz="2000" dirty="0"/>
          </a:p>
        </p:txBody>
      </p:sp>
      <p:sp>
        <p:nvSpPr>
          <p:cNvPr id="6" name="Text 3"/>
          <p:cNvSpPr txBox="1"/>
          <p:nvPr/>
        </p:nvSpPr>
        <p:spPr>
          <a:xfrm>
            <a:off x="1371600" y="1115568"/>
            <a:ext cx="1600200" cy="411480"/>
          </a:xfrm>
          <a:prstGeom prst="rect">
            <a:avLst/>
          </a:prstGeom>
          <a:noFill/>
          <a:ln/>
        </p:spPr>
        <p:txBody>
          <a:bodyPr wrap="square" lIns="0" tIns="0" rIns="0" bIns="0" rtlCol="0" anchor="ctr"/>
          <a:lstStyle/>
          <a:p>
            <a:pPr indent="0" marL="0">
              <a:buNone/>
            </a:pPr>
            <a:r>
              <a:rPr lang="en-US" sz="1400" b="1" dirty="0">
                <a:solidFill>
                  <a:schemeClr val="tx1"/>
                </a:solidFill>
              </a:rPr>
              <a:t>Gruppi misti</a:t>
            </a:r>
            <a:endParaRPr lang="en-US" sz="1400" dirty="0"/>
          </a:p>
        </p:txBody>
      </p:sp>
      <p:sp>
        <p:nvSpPr>
          <p:cNvPr id="7" name="Text 4"/>
          <p:cNvSpPr txBox="1"/>
          <p:nvPr/>
        </p:nvSpPr>
        <p:spPr>
          <a:xfrm>
            <a:off x="621792" y="1572768"/>
            <a:ext cx="2286000" cy="548640"/>
          </a:xfrm>
          <a:prstGeom prst="rect">
            <a:avLst/>
          </a:prstGeom>
          <a:noFill/>
          <a:ln/>
        </p:spPr>
        <p:txBody>
          <a:bodyPr wrap="square" lIns="0" tIns="0" rIns="0" bIns="0" rtlCol="0" anchor="t"/>
          <a:lstStyle/>
          <a:p>
            <a:pPr indent="0" marL="0">
              <a:buNone/>
            </a:pPr>
            <a:r>
              <a:rPr lang="en-US" sz="1200" dirty="0">
                <a:solidFill>
                  <a:schemeClr val="tx2"/>
                </a:solidFill>
              </a:rPr>
              <a:t>Uno o due temi con più bollini, fino a 3 casi</a:t>
            </a:r>
            <a:endParaRPr lang="en-US" sz="1200" dirty="0"/>
          </a:p>
        </p:txBody>
      </p:sp>
      <p:sp>
        <p:nvSpPr>
          <p:cNvPr id="8" name="fase 1"/>
          <p:cNvSpPr/>
          <p:nvPr/>
        </p:nvSpPr>
        <p:spPr>
          <a:xfrm>
            <a:off x="3264408" y="1051560"/>
            <a:ext cx="2615184" cy="1143000"/>
          </a:xfrm>
          <a:prstGeom prst="roundRect">
            <a:avLst>
              <a:gd name="adj" fmla="val 6400"/>
            </a:avLst>
          </a:prstGeom>
          <a:solidFill>
            <a:schemeClr val="bg2"/>
          </a:solidFill>
          <a:ln/>
        </p:spPr>
      </p:sp>
      <p:sp>
        <p:nvSpPr>
          <p:cNvPr id="9" name="Text 6"/>
          <p:cNvSpPr txBox="1"/>
          <p:nvPr/>
        </p:nvSpPr>
        <p:spPr>
          <a:xfrm>
            <a:off x="3429000" y="1115568"/>
            <a:ext cx="731520" cy="411480"/>
          </a:xfrm>
          <a:prstGeom prst="rect">
            <a:avLst/>
          </a:prstGeom>
          <a:noFill/>
          <a:ln/>
        </p:spPr>
        <p:txBody>
          <a:bodyPr wrap="square" lIns="0" tIns="0" rIns="0" bIns="0" rtlCol="0" anchor="t"/>
          <a:lstStyle/>
          <a:p>
            <a:pPr indent="0" marL="0">
              <a:buNone/>
            </a:pPr>
            <a:r>
              <a:rPr lang="en-US" sz="2000" b="1" dirty="0">
                <a:solidFill>
                  <a:schemeClr val="accent1"/>
                </a:solidFill>
              </a:rPr>
              <a:t>8'</a:t>
            </a:r>
            <a:endParaRPr lang="en-US" sz="2000" dirty="0"/>
          </a:p>
        </p:txBody>
      </p:sp>
      <p:sp>
        <p:nvSpPr>
          <p:cNvPr id="10" name="Text 7"/>
          <p:cNvSpPr txBox="1"/>
          <p:nvPr/>
        </p:nvSpPr>
        <p:spPr>
          <a:xfrm>
            <a:off x="4178808" y="1115568"/>
            <a:ext cx="1600200" cy="411480"/>
          </a:xfrm>
          <a:prstGeom prst="rect">
            <a:avLst/>
          </a:prstGeom>
          <a:noFill/>
          <a:ln/>
        </p:spPr>
        <p:txBody>
          <a:bodyPr wrap="square" lIns="0" tIns="0" rIns="0" bIns="0" rtlCol="0" anchor="ctr"/>
          <a:lstStyle/>
          <a:p>
            <a:pPr indent="0" marL="0">
              <a:buNone/>
            </a:pPr>
            <a:r>
              <a:rPr lang="en-US" sz="1400" b="1" dirty="0">
                <a:solidFill>
                  <a:schemeClr val="tx1"/>
                </a:solidFill>
              </a:rPr>
              <a:t>Presentazione</a:t>
            </a:r>
            <a:endParaRPr lang="en-US" sz="1400" dirty="0"/>
          </a:p>
        </p:txBody>
      </p:sp>
      <p:sp>
        <p:nvSpPr>
          <p:cNvPr id="11" name="Text 8"/>
          <p:cNvSpPr txBox="1"/>
          <p:nvPr/>
        </p:nvSpPr>
        <p:spPr>
          <a:xfrm>
            <a:off x="3429000" y="1572768"/>
            <a:ext cx="2286000" cy="548640"/>
          </a:xfrm>
          <a:prstGeom prst="rect">
            <a:avLst/>
          </a:prstGeom>
          <a:noFill/>
          <a:ln/>
        </p:spPr>
        <p:txBody>
          <a:bodyPr wrap="square" lIns="0" tIns="0" rIns="0" bIns="0" rtlCol="0" anchor="t"/>
          <a:lstStyle/>
          <a:p>
            <a:pPr indent="0" marL="0">
              <a:buNone/>
            </a:pPr>
            <a:r>
              <a:rPr lang="en-US" sz="1200" dirty="0">
                <a:solidFill>
                  <a:schemeClr val="tx2"/>
                </a:solidFill>
              </a:rPr>
              <a:t>Un caso a gruppo, un minuto</a:t>
            </a:r>
            <a:endParaRPr lang="en-US" sz="1200" dirty="0"/>
          </a:p>
        </p:txBody>
      </p:sp>
      <p:sp>
        <p:nvSpPr>
          <p:cNvPr id="12" name="fase 2"/>
          <p:cNvSpPr/>
          <p:nvPr/>
        </p:nvSpPr>
        <p:spPr>
          <a:xfrm>
            <a:off x="6071616" y="1051560"/>
            <a:ext cx="2615184" cy="1143000"/>
          </a:xfrm>
          <a:prstGeom prst="roundRect">
            <a:avLst>
              <a:gd name="adj" fmla="val 6400"/>
            </a:avLst>
          </a:prstGeom>
          <a:solidFill>
            <a:schemeClr val="bg2"/>
          </a:solidFill>
          <a:ln/>
        </p:spPr>
      </p:sp>
      <p:sp>
        <p:nvSpPr>
          <p:cNvPr id="13" name="Text 10"/>
          <p:cNvSpPr txBox="1"/>
          <p:nvPr/>
        </p:nvSpPr>
        <p:spPr>
          <a:xfrm>
            <a:off x="6236208" y="1115568"/>
            <a:ext cx="731520" cy="411480"/>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14" name="Text 11"/>
          <p:cNvSpPr txBox="1"/>
          <p:nvPr/>
        </p:nvSpPr>
        <p:spPr>
          <a:xfrm>
            <a:off x="6986016" y="1115568"/>
            <a:ext cx="1600200" cy="411480"/>
          </a:xfrm>
          <a:prstGeom prst="rect">
            <a:avLst/>
          </a:prstGeom>
          <a:noFill/>
          <a:ln/>
        </p:spPr>
        <p:txBody>
          <a:bodyPr wrap="square" lIns="0" tIns="0" rIns="0" bIns="0" rtlCol="0" anchor="ctr"/>
          <a:lstStyle/>
          <a:p>
            <a:pPr indent="0" marL="0">
              <a:buNone/>
            </a:pPr>
            <a:r>
              <a:rPr lang="en-US" sz="1400" b="1" dirty="0">
                <a:solidFill>
                  <a:schemeClr val="tx1"/>
                </a:solidFill>
              </a:rPr>
              <a:t>Bollino rosso</a:t>
            </a:r>
            <a:endParaRPr lang="en-US" sz="1400" dirty="0"/>
          </a:p>
        </p:txBody>
      </p:sp>
      <p:sp>
        <p:nvSpPr>
          <p:cNvPr id="15" name="Text 12"/>
          <p:cNvSpPr txBox="1"/>
          <p:nvPr/>
        </p:nvSpPr>
        <p:spPr>
          <a:xfrm>
            <a:off x="6236208" y="1572768"/>
            <a:ext cx="2286000" cy="548640"/>
          </a:xfrm>
          <a:prstGeom prst="rect">
            <a:avLst/>
          </a:prstGeom>
          <a:noFill/>
          <a:ln/>
        </p:spPr>
        <p:txBody>
          <a:bodyPr wrap="square" lIns="0" tIns="0" rIns="0" bIns="0" rtlCol="0" anchor="t"/>
          <a:lstStyle/>
          <a:p>
            <a:pPr indent="0" marL="0">
              <a:buNone/>
            </a:pPr>
            <a:r>
              <a:rPr lang="en-US" sz="1200" dirty="0">
                <a:solidFill>
                  <a:schemeClr val="tx2"/>
                </a:solidFill>
              </a:rPr>
              <a:t>Impatto alto e verifica difficile: sessione 3</a:t>
            </a:r>
            <a:endParaRPr lang="en-US" sz="1200" dirty="0"/>
          </a:p>
        </p:txBody>
      </p:sp>
      <p:sp>
        <p:nvSpPr>
          <p:cNvPr id="16" name="Text 13"/>
          <p:cNvSpPr txBox="1"/>
          <p:nvPr/>
        </p:nvSpPr>
        <p:spPr>
          <a:xfrm>
            <a:off x="457200" y="2377440"/>
            <a:ext cx="8229600" cy="320040"/>
          </a:xfrm>
          <a:prstGeom prst="rect">
            <a:avLst/>
          </a:prstGeom>
          <a:noFill/>
          <a:ln/>
        </p:spPr>
        <p:txBody>
          <a:bodyPr wrap="square" lIns="0" tIns="0" rIns="0" bIns="0" rtlCol="0" anchor="t"/>
          <a:lstStyle/>
          <a:p>
            <a:pPr indent="0" marL="0">
              <a:buNone/>
            </a:pPr>
            <a:r>
              <a:rPr lang="en-US" sz="1400" b="1" dirty="0">
                <a:solidFill>
                  <a:schemeClr val="tx1"/>
                </a:solidFill>
              </a:rPr>
              <a:t>La griglia, per ogni caso</a:t>
            </a:r>
            <a:endParaRPr lang="en-US" sz="1400" dirty="0"/>
          </a:p>
        </p:txBody>
      </p:sp>
      <p:sp>
        <p:nvSpPr>
          <p:cNvPr id="17" name="blocco Spreco e frequenza"/>
          <p:cNvSpPr/>
          <p:nvPr/>
        </p:nvSpPr>
        <p:spPr>
          <a:xfrm>
            <a:off x="457200" y="2788920"/>
            <a:ext cx="1975104" cy="457200"/>
          </a:xfrm>
          <a:prstGeom prst="roundRect">
            <a:avLst>
              <a:gd name="adj" fmla="val 24000"/>
            </a:avLst>
          </a:prstGeom>
          <a:solidFill>
            <a:schemeClr val="bg2"/>
          </a:solidFill>
          <a:ln/>
        </p:spPr>
      </p:sp>
      <p:sp>
        <p:nvSpPr>
          <p:cNvPr id="18" name="Text 15"/>
          <p:cNvSpPr txBox="1"/>
          <p:nvPr/>
        </p:nvSpPr>
        <p:spPr>
          <a:xfrm>
            <a:off x="502920" y="2788920"/>
            <a:ext cx="1883664" cy="457200"/>
          </a:xfrm>
          <a:prstGeom prst="rect">
            <a:avLst/>
          </a:prstGeom>
          <a:noFill/>
          <a:ln/>
        </p:spPr>
        <p:txBody>
          <a:bodyPr wrap="square" lIns="0" tIns="0" rIns="0" bIns="0" rtlCol="0" anchor="ctr"/>
          <a:lstStyle/>
          <a:p>
            <a:pPr algn="ctr" indent="0" marL="0">
              <a:buNone/>
            </a:pPr>
            <a:r>
              <a:rPr lang="en-US" sz="1200" b="1" dirty="0">
                <a:solidFill>
                  <a:schemeClr val="tx1"/>
                </a:solidFill>
              </a:rPr>
              <a:t>Spreco e frequenza</a:t>
            </a:r>
            <a:endParaRPr lang="en-US" sz="1200" dirty="0"/>
          </a:p>
        </p:txBody>
      </p:sp>
      <p:sp>
        <p:nvSpPr>
          <p:cNvPr id="19" name="blocco Causa"/>
          <p:cNvSpPr/>
          <p:nvPr/>
        </p:nvSpPr>
        <p:spPr>
          <a:xfrm>
            <a:off x="2542032" y="2788920"/>
            <a:ext cx="1975104" cy="457200"/>
          </a:xfrm>
          <a:prstGeom prst="roundRect">
            <a:avLst>
              <a:gd name="adj" fmla="val 24000"/>
            </a:avLst>
          </a:prstGeom>
          <a:solidFill>
            <a:schemeClr val="bg2"/>
          </a:solidFill>
          <a:ln/>
        </p:spPr>
      </p:sp>
      <p:sp>
        <p:nvSpPr>
          <p:cNvPr id="20" name="Text 17"/>
          <p:cNvSpPr txBox="1"/>
          <p:nvPr/>
        </p:nvSpPr>
        <p:spPr>
          <a:xfrm>
            <a:off x="2587752" y="2788920"/>
            <a:ext cx="1883664" cy="457200"/>
          </a:xfrm>
          <a:prstGeom prst="rect">
            <a:avLst/>
          </a:prstGeom>
          <a:noFill/>
          <a:ln/>
        </p:spPr>
        <p:txBody>
          <a:bodyPr wrap="square" lIns="0" tIns="0" rIns="0" bIns="0" rtlCol="0" anchor="ctr"/>
          <a:lstStyle/>
          <a:p>
            <a:pPr algn="ctr" indent="0" marL="0">
              <a:buNone/>
            </a:pPr>
            <a:r>
              <a:rPr lang="en-US" sz="1200" b="1" dirty="0">
                <a:solidFill>
                  <a:schemeClr val="tx1"/>
                </a:solidFill>
              </a:rPr>
              <a:t>Causa</a:t>
            </a:r>
            <a:endParaRPr lang="en-US" sz="1200" dirty="0"/>
          </a:p>
        </p:txBody>
      </p:sp>
      <p:sp>
        <p:nvSpPr>
          <p:cNvPr id="21" name="blocco Soluzione, anche senza AI"/>
          <p:cNvSpPr/>
          <p:nvPr/>
        </p:nvSpPr>
        <p:spPr>
          <a:xfrm>
            <a:off x="4626864" y="2788920"/>
            <a:ext cx="1975104" cy="457200"/>
          </a:xfrm>
          <a:prstGeom prst="roundRect">
            <a:avLst>
              <a:gd name="adj" fmla="val 24000"/>
            </a:avLst>
          </a:prstGeom>
          <a:solidFill>
            <a:schemeClr val="bg2"/>
          </a:solidFill>
          <a:ln/>
        </p:spPr>
      </p:sp>
      <p:sp>
        <p:nvSpPr>
          <p:cNvPr id="22" name="Text 19"/>
          <p:cNvSpPr txBox="1"/>
          <p:nvPr/>
        </p:nvSpPr>
        <p:spPr>
          <a:xfrm>
            <a:off x="4672584" y="2788920"/>
            <a:ext cx="1883664" cy="457200"/>
          </a:xfrm>
          <a:prstGeom prst="rect">
            <a:avLst/>
          </a:prstGeom>
          <a:noFill/>
          <a:ln/>
        </p:spPr>
        <p:txBody>
          <a:bodyPr wrap="square" lIns="0" tIns="0" rIns="0" bIns="0" rtlCol="0" anchor="ctr"/>
          <a:lstStyle/>
          <a:p>
            <a:pPr algn="ctr" indent="0" marL="0">
              <a:buNone/>
            </a:pPr>
            <a:r>
              <a:rPr lang="en-US" sz="1200" b="1" dirty="0">
                <a:solidFill>
                  <a:schemeClr val="tx1"/>
                </a:solidFill>
              </a:rPr>
              <a:t>Soluzione, anche senza AI</a:t>
            </a:r>
            <a:endParaRPr lang="en-US" sz="1200" dirty="0"/>
          </a:p>
        </p:txBody>
      </p:sp>
      <p:sp>
        <p:nvSpPr>
          <p:cNvPr id="23" name="blocco Ruolo dell'AI"/>
          <p:cNvSpPr/>
          <p:nvPr/>
        </p:nvSpPr>
        <p:spPr>
          <a:xfrm>
            <a:off x="6711696" y="2788920"/>
            <a:ext cx="1975104" cy="457200"/>
          </a:xfrm>
          <a:prstGeom prst="roundRect">
            <a:avLst>
              <a:gd name="adj" fmla="val 24000"/>
            </a:avLst>
          </a:prstGeom>
          <a:solidFill>
            <a:schemeClr val="accent6"/>
          </a:solidFill>
          <a:ln/>
        </p:spPr>
      </p:sp>
      <p:sp>
        <p:nvSpPr>
          <p:cNvPr id="24" name="Text 21"/>
          <p:cNvSpPr txBox="1"/>
          <p:nvPr/>
        </p:nvSpPr>
        <p:spPr>
          <a:xfrm>
            <a:off x="6757416" y="2788920"/>
            <a:ext cx="1883664" cy="457200"/>
          </a:xfrm>
          <a:prstGeom prst="rect">
            <a:avLst/>
          </a:prstGeom>
          <a:noFill/>
          <a:ln/>
        </p:spPr>
        <p:txBody>
          <a:bodyPr wrap="square" lIns="0" tIns="0" rIns="0" bIns="0" rtlCol="0" anchor="ctr"/>
          <a:lstStyle/>
          <a:p>
            <a:pPr algn="ctr" indent="0" marL="0">
              <a:buNone/>
            </a:pPr>
            <a:r>
              <a:rPr lang="en-US" sz="1200" b="1" dirty="0">
                <a:solidFill>
                  <a:schemeClr val="tx1"/>
                </a:solidFill>
              </a:rPr>
              <a:t>Ruolo dell'AI</a:t>
            </a:r>
            <a:endParaRPr lang="en-US" sz="1200" dirty="0"/>
          </a:p>
        </p:txBody>
      </p:sp>
      <p:sp>
        <p:nvSpPr>
          <p:cNvPr id="25" name="blocco Luogo"/>
          <p:cNvSpPr/>
          <p:nvPr/>
        </p:nvSpPr>
        <p:spPr>
          <a:xfrm>
            <a:off x="457200" y="3355848"/>
            <a:ext cx="1975104" cy="457200"/>
          </a:xfrm>
          <a:prstGeom prst="roundRect">
            <a:avLst>
              <a:gd name="adj" fmla="val 24000"/>
            </a:avLst>
          </a:prstGeom>
          <a:solidFill>
            <a:schemeClr val="bg2"/>
          </a:solidFill>
          <a:ln/>
        </p:spPr>
      </p:sp>
      <p:sp>
        <p:nvSpPr>
          <p:cNvPr id="26" name="Text 23"/>
          <p:cNvSpPr txBox="1"/>
          <p:nvPr/>
        </p:nvSpPr>
        <p:spPr>
          <a:xfrm>
            <a:off x="502920" y="3355848"/>
            <a:ext cx="1883664" cy="457200"/>
          </a:xfrm>
          <a:prstGeom prst="rect">
            <a:avLst/>
          </a:prstGeom>
          <a:noFill/>
          <a:ln/>
        </p:spPr>
        <p:txBody>
          <a:bodyPr wrap="square" lIns="0" tIns="0" rIns="0" bIns="0" rtlCol="0" anchor="ctr"/>
          <a:lstStyle/>
          <a:p>
            <a:pPr algn="ctr" indent="0" marL="0">
              <a:buNone/>
            </a:pPr>
            <a:r>
              <a:rPr lang="en-US" sz="1200" b="1" dirty="0">
                <a:solidFill>
                  <a:schemeClr val="tx1"/>
                </a:solidFill>
              </a:rPr>
              <a:t>Luogo</a:t>
            </a:r>
            <a:endParaRPr lang="en-US" sz="1200" dirty="0"/>
          </a:p>
        </p:txBody>
      </p:sp>
      <p:sp>
        <p:nvSpPr>
          <p:cNvPr id="27" name="blocco Rischio di un errore"/>
          <p:cNvSpPr/>
          <p:nvPr/>
        </p:nvSpPr>
        <p:spPr>
          <a:xfrm>
            <a:off x="2542032" y="3355848"/>
            <a:ext cx="1975104" cy="457200"/>
          </a:xfrm>
          <a:prstGeom prst="roundRect">
            <a:avLst>
              <a:gd name="adj" fmla="val 24000"/>
            </a:avLst>
          </a:prstGeom>
          <a:solidFill>
            <a:schemeClr val="bg2"/>
          </a:solidFill>
          <a:ln/>
        </p:spPr>
      </p:sp>
      <p:sp>
        <p:nvSpPr>
          <p:cNvPr id="28" name="Text 25"/>
          <p:cNvSpPr txBox="1"/>
          <p:nvPr/>
        </p:nvSpPr>
        <p:spPr>
          <a:xfrm>
            <a:off x="2587752" y="3355848"/>
            <a:ext cx="1883664" cy="457200"/>
          </a:xfrm>
          <a:prstGeom prst="rect">
            <a:avLst/>
          </a:prstGeom>
          <a:noFill/>
          <a:ln/>
        </p:spPr>
        <p:txBody>
          <a:bodyPr wrap="square" lIns="0" tIns="0" rIns="0" bIns="0" rtlCol="0" anchor="ctr"/>
          <a:lstStyle/>
          <a:p>
            <a:pPr algn="ctr" indent="0" marL="0">
              <a:buNone/>
            </a:pPr>
            <a:r>
              <a:rPr lang="en-US" sz="1200" b="1" dirty="0">
                <a:solidFill>
                  <a:schemeClr val="tx1"/>
                </a:solidFill>
              </a:rPr>
              <a:t>Rischio di un errore</a:t>
            </a:r>
            <a:endParaRPr lang="en-US" sz="1200" dirty="0"/>
          </a:p>
        </p:txBody>
      </p:sp>
      <p:sp>
        <p:nvSpPr>
          <p:cNvPr id="29" name="blocco Chi controlla"/>
          <p:cNvSpPr/>
          <p:nvPr/>
        </p:nvSpPr>
        <p:spPr>
          <a:xfrm>
            <a:off x="4626864" y="3355848"/>
            <a:ext cx="1975104" cy="457200"/>
          </a:xfrm>
          <a:prstGeom prst="roundRect">
            <a:avLst>
              <a:gd name="adj" fmla="val 24000"/>
            </a:avLst>
          </a:prstGeom>
          <a:solidFill>
            <a:schemeClr val="bg2"/>
          </a:solidFill>
          <a:ln/>
        </p:spPr>
      </p:sp>
      <p:sp>
        <p:nvSpPr>
          <p:cNvPr id="30" name="Text 27"/>
          <p:cNvSpPr txBox="1"/>
          <p:nvPr/>
        </p:nvSpPr>
        <p:spPr>
          <a:xfrm>
            <a:off x="4672584" y="3355848"/>
            <a:ext cx="1883664" cy="457200"/>
          </a:xfrm>
          <a:prstGeom prst="rect">
            <a:avLst/>
          </a:prstGeom>
          <a:noFill/>
          <a:ln/>
        </p:spPr>
        <p:txBody>
          <a:bodyPr wrap="square" lIns="0" tIns="0" rIns="0" bIns="0" rtlCol="0" anchor="ctr"/>
          <a:lstStyle/>
          <a:p>
            <a:pPr algn="ctr" indent="0" marL="0">
              <a:buNone/>
            </a:pPr>
            <a:r>
              <a:rPr lang="en-US" sz="1200" b="1" dirty="0">
                <a:solidFill>
                  <a:schemeClr val="tx1"/>
                </a:solidFill>
              </a:rPr>
              <a:t>Chi controlla</a:t>
            </a:r>
            <a:endParaRPr lang="en-US" sz="1200" dirty="0"/>
          </a:p>
        </p:txBody>
      </p:sp>
      <p:sp>
        <p:nvSpPr>
          <p:cNvPr id="31" name="blocco Informazioni necessarie"/>
          <p:cNvSpPr/>
          <p:nvPr/>
        </p:nvSpPr>
        <p:spPr>
          <a:xfrm>
            <a:off x="6711696" y="3355848"/>
            <a:ext cx="1975104" cy="457200"/>
          </a:xfrm>
          <a:prstGeom prst="roundRect">
            <a:avLst>
              <a:gd name="adj" fmla="val 24000"/>
            </a:avLst>
          </a:prstGeom>
          <a:solidFill>
            <a:schemeClr val="bg2"/>
          </a:solidFill>
          <a:ln/>
        </p:spPr>
      </p:sp>
      <p:sp>
        <p:nvSpPr>
          <p:cNvPr id="32" name="Text 29"/>
          <p:cNvSpPr txBox="1"/>
          <p:nvPr/>
        </p:nvSpPr>
        <p:spPr>
          <a:xfrm>
            <a:off x="6757416" y="3355848"/>
            <a:ext cx="1883664" cy="457200"/>
          </a:xfrm>
          <a:prstGeom prst="rect">
            <a:avLst/>
          </a:prstGeom>
          <a:noFill/>
          <a:ln/>
        </p:spPr>
        <p:txBody>
          <a:bodyPr wrap="square" lIns="0" tIns="0" rIns="0" bIns="0" rtlCol="0" anchor="ctr"/>
          <a:lstStyle/>
          <a:p>
            <a:pPr algn="ctr" indent="0" marL="0">
              <a:buNone/>
            </a:pPr>
            <a:r>
              <a:rPr lang="en-US" sz="1200" b="1" dirty="0">
                <a:solidFill>
                  <a:schemeClr val="tx1"/>
                </a:solidFill>
              </a:rPr>
              <a:t>Informazioni necessarie</a:t>
            </a:r>
            <a:endParaRPr lang="en-US" sz="1200" dirty="0"/>
          </a:p>
        </p:txBody>
      </p:sp>
      <p:sp>
        <p:nvSpPr>
          <p:cNvPr id="33" name="Text 30"/>
          <p:cNvSpPr txBox="1"/>
          <p:nvPr/>
        </p:nvSpPr>
        <p:spPr>
          <a:xfrm>
            <a:off x="457200" y="4023360"/>
            <a:ext cx="8229600" cy="320040"/>
          </a:xfrm>
          <a:prstGeom prst="rect">
            <a:avLst/>
          </a:prstGeom>
          <a:noFill/>
          <a:ln/>
        </p:spPr>
        <p:txBody>
          <a:bodyPr wrap="square" lIns="0" tIns="0" rIns="0" bIns="0" rtlCol="0" anchor="t"/>
          <a:lstStyle/>
          <a:p>
            <a:pPr indent="0" marL="0">
              <a:buNone/>
            </a:pPr>
            <a:r>
              <a:rPr lang="en-US" sz="1200" i="1" dirty="0">
                <a:solidFill>
                  <a:schemeClr val="accent2"/>
                </a:solidFill>
              </a:rPr>
              <a:t>Ruolo dell'AI: supporto, supervisione o delega. Luogo: ufficio, clienti, macchina.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portiamo alla sessione 3</a:t>
            </a:r>
            <a:endParaRPr lang="en-US" sz="2600" dirty="0"/>
          </a:p>
        </p:txBody>
      </p:sp>
      <p:sp>
        <p:nvSpPr>
          <p:cNvPr id="4" name="scheda Sbaglia anche con sicurezza"/>
          <p:cNvSpPr/>
          <p:nvPr/>
        </p:nvSpPr>
        <p:spPr>
          <a:xfrm>
            <a:off x="457200" y="1051560"/>
            <a:ext cx="2615184" cy="1965960"/>
          </a:xfrm>
          <a:prstGeom prst="roundRect">
            <a:avLst>
              <a:gd name="adj" fmla="val 3721"/>
            </a:avLst>
          </a:prstGeom>
          <a:solidFill>
            <a:schemeClr val="bg2"/>
          </a:solidFill>
          <a:ln/>
        </p:spPr>
      </p:sp>
      <p:sp>
        <p:nvSpPr>
          <p:cNvPr id="5" name="cerchio FiAlertTriangle"/>
          <p:cNvSpPr/>
          <p:nvPr/>
        </p:nvSpPr>
        <p:spPr>
          <a:xfrm>
            <a:off x="640080" y="1234440"/>
            <a:ext cx="457200" cy="457200"/>
          </a:xfrm>
          <a:prstGeom prst="ellipse">
            <a:avLst/>
          </a:prstGeom>
          <a:solidFill>
            <a:schemeClr val="accent1"/>
          </a:solidFill>
          <a:ln/>
        </p:spPr>
      </p:sp>
      <p:pic>
        <p:nvPicPr>
          <p:cNvPr id="6" name="Image 0" descr="FiAlertTriangle">    </p:cNvPr>
          <p:cNvPicPr>
            <a:picLocks noChangeAspect="1"/>
          </p:cNvPicPr>
          <p:nvPr/>
        </p:nvPicPr>
        <p:blipFill>
          <a:blip r:embed="rId1"/>
          <a:stretch>
            <a:fillRect/>
          </a:stretch>
        </p:blipFill>
        <p:spPr>
          <a:xfrm>
            <a:off x="754380" y="1348740"/>
            <a:ext cx="228600" cy="228600"/>
          </a:xfrm>
          <a:prstGeom prst="rect">
            <a:avLst/>
          </a:prstGeom>
        </p:spPr>
      </p:pic>
      <p:sp>
        <p:nvSpPr>
          <p:cNvPr id="7" name="Text 3"/>
          <p:cNvSpPr txBox="1"/>
          <p:nvPr/>
        </p:nvSpPr>
        <p:spPr>
          <a:xfrm>
            <a:off x="640080" y="1801368"/>
            <a:ext cx="2249424" cy="347472"/>
          </a:xfrm>
          <a:prstGeom prst="rect">
            <a:avLst/>
          </a:prstGeom>
          <a:noFill/>
          <a:ln/>
        </p:spPr>
        <p:txBody>
          <a:bodyPr wrap="square" lIns="0" tIns="0" rIns="0" bIns="0" rtlCol="0" anchor="t"/>
          <a:lstStyle/>
          <a:p>
            <a:pPr indent="0" marL="0">
              <a:buNone/>
            </a:pPr>
            <a:r>
              <a:rPr lang="en-US" sz="1400" b="1" dirty="0">
                <a:solidFill>
                  <a:schemeClr val="tx1"/>
                </a:solidFill>
              </a:rPr>
              <a:t>Sbaglia anche con sicurezza</a:t>
            </a:r>
            <a:endParaRPr lang="en-US" sz="1400" dirty="0"/>
          </a:p>
        </p:txBody>
      </p:sp>
      <p:sp>
        <p:nvSpPr>
          <p:cNvPr id="8" name="Text 4"/>
          <p:cNvSpPr txBox="1"/>
          <p:nvPr/>
        </p:nvSpPr>
        <p:spPr>
          <a:xfrm>
            <a:off x="640080" y="2185416"/>
            <a:ext cx="2249424" cy="722376"/>
          </a:xfrm>
          <a:prstGeom prst="rect">
            <a:avLst/>
          </a:prstGeom>
          <a:noFill/>
          <a:ln/>
        </p:spPr>
        <p:txBody>
          <a:bodyPr wrap="square" lIns="0" tIns="0" rIns="0" bIns="0" rtlCol="0" anchor="t"/>
          <a:lstStyle/>
          <a:p>
            <a:pPr indent="0" marL="0">
              <a:buNone/>
            </a:pPr>
            <a:r>
              <a:rPr lang="en-US" sz="1200" dirty="0">
                <a:solidFill>
                  <a:schemeClr val="tx2"/>
                </a:solidFill>
              </a:rPr>
              <a:t>Allucinazioni e bias: la forma non dimostra la correttezza</a:t>
            </a:r>
            <a:endParaRPr lang="en-US" sz="1200" dirty="0"/>
          </a:p>
        </p:txBody>
      </p:sp>
      <p:sp>
        <p:nvSpPr>
          <p:cNvPr id="9" name="scheda Chiedere bene aiuta"/>
          <p:cNvSpPr/>
          <p:nvPr/>
        </p:nvSpPr>
        <p:spPr>
          <a:xfrm>
            <a:off x="3264408" y="1051560"/>
            <a:ext cx="2615184" cy="1965960"/>
          </a:xfrm>
          <a:prstGeom prst="roundRect">
            <a:avLst>
              <a:gd name="adj" fmla="val 3721"/>
            </a:avLst>
          </a:prstGeom>
          <a:solidFill>
            <a:schemeClr val="bg2"/>
          </a:solidFill>
          <a:ln/>
        </p:spPr>
      </p:sp>
      <p:sp>
        <p:nvSpPr>
          <p:cNvPr id="10" name="cerchio FiEdit3"/>
          <p:cNvSpPr/>
          <p:nvPr/>
        </p:nvSpPr>
        <p:spPr>
          <a:xfrm>
            <a:off x="3447288" y="1234440"/>
            <a:ext cx="457200" cy="457200"/>
          </a:xfrm>
          <a:prstGeom prst="ellipse">
            <a:avLst/>
          </a:prstGeom>
          <a:solidFill>
            <a:schemeClr val="accent1"/>
          </a:solidFill>
          <a:ln/>
        </p:spPr>
      </p:sp>
      <p:pic>
        <p:nvPicPr>
          <p:cNvPr id="11" name="Image 1" descr="FiEdit3">    </p:cNvPr>
          <p:cNvPicPr>
            <a:picLocks noChangeAspect="1"/>
          </p:cNvPicPr>
          <p:nvPr/>
        </p:nvPicPr>
        <p:blipFill>
          <a:blip r:embed="rId2"/>
          <a:stretch>
            <a:fillRect/>
          </a:stretch>
        </p:blipFill>
        <p:spPr>
          <a:xfrm>
            <a:off x="3561588" y="1348740"/>
            <a:ext cx="228600" cy="228600"/>
          </a:xfrm>
          <a:prstGeom prst="rect">
            <a:avLst/>
          </a:prstGeom>
        </p:spPr>
      </p:pic>
      <p:sp>
        <p:nvSpPr>
          <p:cNvPr id="12" name="Text 7"/>
          <p:cNvSpPr txBox="1"/>
          <p:nvPr/>
        </p:nvSpPr>
        <p:spPr>
          <a:xfrm>
            <a:off x="3447288" y="1801368"/>
            <a:ext cx="2249424" cy="347472"/>
          </a:xfrm>
          <a:prstGeom prst="rect">
            <a:avLst/>
          </a:prstGeom>
          <a:noFill/>
          <a:ln/>
        </p:spPr>
        <p:txBody>
          <a:bodyPr wrap="square" lIns="0" tIns="0" rIns="0" bIns="0" rtlCol="0" anchor="t"/>
          <a:lstStyle/>
          <a:p>
            <a:pPr indent="0" marL="0">
              <a:buNone/>
            </a:pPr>
            <a:r>
              <a:rPr lang="en-US" sz="1400" b="1" dirty="0">
                <a:solidFill>
                  <a:schemeClr val="tx1"/>
                </a:solidFill>
              </a:rPr>
              <a:t>Chiedere bene aiuta</a:t>
            </a:r>
            <a:endParaRPr lang="en-US" sz="1400" dirty="0"/>
          </a:p>
        </p:txBody>
      </p:sp>
      <p:sp>
        <p:nvSpPr>
          <p:cNvPr id="13" name="Text 8"/>
          <p:cNvSpPr txBox="1"/>
          <p:nvPr/>
        </p:nvSpPr>
        <p:spPr>
          <a:xfrm>
            <a:off x="3447288" y="2185416"/>
            <a:ext cx="2249424" cy="722376"/>
          </a:xfrm>
          <a:prstGeom prst="rect">
            <a:avLst/>
          </a:prstGeom>
          <a:noFill/>
          <a:ln/>
        </p:spPr>
        <p:txBody>
          <a:bodyPr wrap="square" lIns="0" tIns="0" rIns="0" bIns="0" rtlCol="0" anchor="t"/>
          <a:lstStyle/>
          <a:p>
            <a:pPr indent="0" marL="0">
              <a:buNone/>
            </a:pPr>
            <a:r>
              <a:rPr lang="en-US" sz="1200" dirty="0">
                <a:solidFill>
                  <a:schemeClr val="tx2"/>
                </a:solidFill>
              </a:rPr>
              <a:t>Ruolo, formato, vincoli, e chiedere che cosa manca</a:t>
            </a:r>
            <a:endParaRPr lang="en-US" sz="1200" dirty="0"/>
          </a:p>
        </p:txBody>
      </p:sp>
      <p:sp>
        <p:nvSpPr>
          <p:cNvPr id="14" name="scheda Una prima shortlist"/>
          <p:cNvSpPr/>
          <p:nvPr/>
        </p:nvSpPr>
        <p:spPr>
          <a:xfrm>
            <a:off x="6071616" y="1051560"/>
            <a:ext cx="2615184" cy="1965960"/>
          </a:xfrm>
          <a:prstGeom prst="roundRect">
            <a:avLst>
              <a:gd name="adj" fmla="val 3721"/>
            </a:avLst>
          </a:prstGeom>
          <a:solidFill>
            <a:schemeClr val="bg2"/>
          </a:solidFill>
          <a:ln/>
        </p:spPr>
      </p:sp>
      <p:sp>
        <p:nvSpPr>
          <p:cNvPr id="15" name="cerchio FiList"/>
          <p:cNvSpPr/>
          <p:nvPr/>
        </p:nvSpPr>
        <p:spPr>
          <a:xfrm>
            <a:off x="6254496" y="1234440"/>
            <a:ext cx="457200" cy="457200"/>
          </a:xfrm>
          <a:prstGeom prst="ellipse">
            <a:avLst/>
          </a:prstGeom>
          <a:solidFill>
            <a:schemeClr val="accent1"/>
          </a:solidFill>
          <a:ln/>
        </p:spPr>
      </p:sp>
      <p:pic>
        <p:nvPicPr>
          <p:cNvPr id="16" name="Image 2" descr="FiList">    </p:cNvPr>
          <p:cNvPicPr>
            <a:picLocks noChangeAspect="1"/>
          </p:cNvPicPr>
          <p:nvPr/>
        </p:nvPicPr>
        <p:blipFill>
          <a:blip r:embed="rId3"/>
          <a:stretch>
            <a:fillRect/>
          </a:stretch>
        </p:blipFill>
        <p:spPr>
          <a:xfrm>
            <a:off x="6368796" y="1348740"/>
            <a:ext cx="228600" cy="228600"/>
          </a:xfrm>
          <a:prstGeom prst="rect">
            <a:avLst/>
          </a:prstGeom>
        </p:spPr>
      </p:pic>
      <p:sp>
        <p:nvSpPr>
          <p:cNvPr id="17" name="Text 11"/>
          <p:cNvSpPr txBox="1"/>
          <p:nvPr/>
        </p:nvSpPr>
        <p:spPr>
          <a:xfrm>
            <a:off x="6254496" y="1801368"/>
            <a:ext cx="2249424" cy="347472"/>
          </a:xfrm>
          <a:prstGeom prst="rect">
            <a:avLst/>
          </a:prstGeom>
          <a:noFill/>
          <a:ln/>
        </p:spPr>
        <p:txBody>
          <a:bodyPr wrap="square" lIns="0" tIns="0" rIns="0" bIns="0" rtlCol="0" anchor="t"/>
          <a:lstStyle/>
          <a:p>
            <a:pPr indent="0" marL="0">
              <a:buNone/>
            </a:pPr>
            <a:r>
              <a:rPr lang="en-US" sz="1400" b="1" dirty="0">
                <a:solidFill>
                  <a:schemeClr val="tx1"/>
                </a:solidFill>
              </a:rPr>
              <a:t>Una prima shortlist</a:t>
            </a:r>
            <a:endParaRPr lang="en-US" sz="1400" dirty="0"/>
          </a:p>
        </p:txBody>
      </p:sp>
      <p:sp>
        <p:nvSpPr>
          <p:cNvPr id="18" name="Text 12"/>
          <p:cNvSpPr txBox="1"/>
          <p:nvPr/>
        </p:nvSpPr>
        <p:spPr>
          <a:xfrm>
            <a:off x="6254496" y="2185416"/>
            <a:ext cx="2249424" cy="722376"/>
          </a:xfrm>
          <a:prstGeom prst="rect">
            <a:avLst/>
          </a:prstGeom>
          <a:noFill/>
          <a:ln/>
        </p:spPr>
        <p:txBody>
          <a:bodyPr wrap="square" lIns="0" tIns="0" rIns="0" bIns="0" rtlCol="0" anchor="t"/>
          <a:lstStyle/>
          <a:p>
            <a:pPr indent="0" marL="0">
              <a:buNone/>
            </a:pPr>
            <a:r>
              <a:rPr lang="en-US" sz="1200" dirty="0">
                <a:solidFill>
                  <a:schemeClr val="tx2"/>
                </a:solidFill>
              </a:rPr>
              <a:t>Dai vostri sprechi, con ruolo dell'AI e rischio</a:t>
            </a:r>
            <a:endParaRPr lang="en-US" sz="1200" dirty="0"/>
          </a:p>
        </p:txBody>
      </p:sp>
      <p:sp>
        <p:nvSpPr>
          <p:cNvPr id="19" name="riquadro SESSIONE 3"/>
          <p:cNvSpPr/>
          <p:nvPr/>
        </p:nvSpPr>
        <p:spPr>
          <a:xfrm>
            <a:off x="457200" y="3200400"/>
            <a:ext cx="3977640" cy="1188720"/>
          </a:xfrm>
          <a:prstGeom prst="roundRect">
            <a:avLst>
              <a:gd name="adj" fmla="val 6154"/>
            </a:avLst>
          </a:prstGeom>
          <a:solidFill>
            <a:schemeClr val="bg2"/>
          </a:solidFill>
          <a:ln/>
        </p:spPr>
      </p:sp>
      <p:sp>
        <p:nvSpPr>
          <p:cNvPr id="20" name="barra"/>
          <p:cNvSpPr/>
          <p:nvPr/>
        </p:nvSpPr>
        <p:spPr>
          <a:xfrm>
            <a:off x="457200" y="3310128"/>
            <a:ext cx="54864" cy="969264"/>
          </a:xfrm>
          <a:prstGeom prst="rect">
            <a:avLst/>
          </a:prstGeom>
          <a:solidFill>
            <a:schemeClr val="accent1"/>
          </a:solidFill>
          <a:ln/>
        </p:spPr>
      </p:sp>
      <p:sp>
        <p:nvSpPr>
          <p:cNvPr id="21" name="Text 15"/>
          <p:cNvSpPr txBox="1"/>
          <p:nvPr/>
        </p:nvSpPr>
        <p:spPr>
          <a:xfrm>
            <a:off x="658368" y="329184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SESSIONE 3</a:t>
            </a:r>
            <a:endParaRPr lang="en-US" sz="1100" dirty="0"/>
          </a:p>
        </p:txBody>
      </p:sp>
      <p:sp>
        <p:nvSpPr>
          <p:cNvPr id="22" name="Text 16"/>
          <p:cNvSpPr txBox="1"/>
          <p:nvPr/>
        </p:nvSpPr>
        <p:spPr>
          <a:xfrm>
            <a:off x="658368" y="3584448"/>
            <a:ext cx="3611880" cy="713232"/>
          </a:xfrm>
          <a:prstGeom prst="rect">
            <a:avLst/>
          </a:prstGeom>
          <a:noFill/>
          <a:ln/>
        </p:spPr>
        <p:txBody>
          <a:bodyPr wrap="square" lIns="0" tIns="0" rIns="0" bIns="0" rtlCol="0" anchor="t"/>
          <a:lstStyle/>
          <a:p>
            <a:pPr indent="0" marL="0">
              <a:buNone/>
            </a:pPr>
            <a:r>
              <a:rPr lang="en-US" sz="1200" dirty="0">
                <a:solidFill>
                  <a:schemeClr val="tx1"/>
                </a:solidFill>
              </a:rPr>
              <a:t>Regole e uso sicuro; matrice valore e fattibilità; 2-3 progetti e le loro schede.</a:t>
            </a:r>
            <a:endParaRPr lang="en-US" sz="1200" dirty="0"/>
          </a:p>
        </p:txBody>
      </p:sp>
      <p:sp>
        <p:nvSpPr>
          <p:cNvPr id="23" name="riquadro DA FARE PRIMA"/>
          <p:cNvSpPr/>
          <p:nvPr/>
        </p:nvSpPr>
        <p:spPr>
          <a:xfrm>
            <a:off x="4709160" y="3200400"/>
            <a:ext cx="3977640" cy="1188720"/>
          </a:xfrm>
          <a:prstGeom prst="roundRect">
            <a:avLst>
              <a:gd name="adj" fmla="val 6154"/>
            </a:avLst>
          </a:prstGeom>
          <a:solidFill>
            <a:schemeClr val="accent6"/>
          </a:solidFill>
          <a:ln/>
        </p:spPr>
      </p:sp>
      <p:sp>
        <p:nvSpPr>
          <p:cNvPr id="24" name="barra"/>
          <p:cNvSpPr/>
          <p:nvPr/>
        </p:nvSpPr>
        <p:spPr>
          <a:xfrm>
            <a:off x="4709160" y="3310128"/>
            <a:ext cx="54864" cy="969264"/>
          </a:xfrm>
          <a:prstGeom prst="rect">
            <a:avLst/>
          </a:prstGeom>
          <a:solidFill>
            <a:schemeClr val="accent1"/>
          </a:solidFill>
          <a:ln/>
        </p:spPr>
      </p:sp>
      <p:sp>
        <p:nvSpPr>
          <p:cNvPr id="25" name="Text 19"/>
          <p:cNvSpPr txBox="1"/>
          <p:nvPr/>
        </p:nvSpPr>
        <p:spPr>
          <a:xfrm>
            <a:off x="4910328" y="329184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DA FARE PRIMA</a:t>
            </a:r>
            <a:endParaRPr lang="en-US" sz="1100" dirty="0"/>
          </a:p>
        </p:txBody>
      </p:sp>
      <p:sp>
        <p:nvSpPr>
          <p:cNvPr id="26" name="Text 20"/>
          <p:cNvSpPr txBox="1"/>
          <p:nvPr/>
        </p:nvSpPr>
        <p:spPr>
          <a:xfrm>
            <a:off x="4910328" y="3584448"/>
            <a:ext cx="3611880" cy="713232"/>
          </a:xfrm>
          <a:prstGeom prst="rect">
            <a:avLst/>
          </a:prstGeom>
          <a:noFill/>
          <a:ln/>
        </p:spPr>
        <p:txBody>
          <a:bodyPr wrap="square" lIns="0" tIns="0" rIns="0" bIns="0" rtlCol="0" anchor="t"/>
          <a:lstStyle/>
          <a:p>
            <a:pPr indent="0" marL="0">
              <a:buNone/>
            </a:pPr>
            <a:r>
              <a:rPr lang="en-US" sz="1200" dirty="0">
                <a:solidFill>
                  <a:schemeClr val="tx1"/>
                </a:solidFill>
              </a:rPr>
              <a:t>Per i casi del vostro reparto: quante volte al mese? Quanto tempo ogni volta?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785</TotalTime>
  <Words>24834</Words>
  <Application>Microsoft Macintosh PowerPoint</Application>
  <PresentationFormat>Presentazione su schermo (16:9)</PresentationFormat>
  <Paragraphs>1499</Paragraphs>
  <Slides>101</Slides>
  <Notes>101</Notes>
  <HiddenSlides>9</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101</vt:i4>
      </vt:variant>
    </vt:vector>
  </HeadingPairs>
  <TitlesOfParts>
    <vt:vector size="105" baseType="lpstr">
      <vt:lpstr>Aptos</vt:lpstr>
      <vt:lpstr>Arial</vt:lpstr>
      <vt:lpstr>Calibri</vt:lpstr>
      <vt:lpstr>AI Literacy Neutro</vt:lpstr>
      <vt:lpstr>Percorso Ai – Adoption – Laser Srl</vt:lpstr>
      <vt:lpstr>Il percorso in tre sessioni</vt:lpstr>
      <vt:lpstr>Da dove partiamo</vt:lpstr>
      <vt:lpstr>Vero o falso?</vt:lpstr>
      <vt:lpstr>Affermazioni sull'AI: le risposte</vt:lpstr>
      <vt:lpstr>Il nostro spazio di Lavoro: problemi e opportunità</vt:lpstr>
      <vt:lpstr>Evoluzione e rilevanza dell’intelligenza Artificiale</vt:lpstr>
      <vt:lpstr>Oltre settant'anni di evoluzione</vt:lpstr>
      <vt:lpstr>Cinque fattori che si rafforzano a vicenda</vt:lpstr>
      <vt:lpstr>Investimenti e infrastrutture tecnologiche</vt:lpstr>
      <vt:lpstr>La svolta dell'AI generativa</vt:lpstr>
      <vt:lpstr>Dal classificare e prevedere al generare</vt:lpstr>
      <vt:lpstr>Il linguaggio naturale diventa l'interfaccia</vt:lpstr>
      <vt:lpstr>La diffusione di chatbot e assistenti AI</vt:lpstr>
      <vt:lpstr>Che cosa può generare l'AI</vt:lpstr>
      <vt:lpstr>Dalla digitalizzazione all'Intelligenza Artificiale</vt:lpstr>
      <vt:lpstr>Un esempio: la gestione delle richieste dei clienti</vt:lpstr>
      <vt:lpstr>Sistema deterministico e sistemi probabilistici</vt:lpstr>
      <vt:lpstr>Rilevanza dell'AI per le aziende</vt:lpstr>
      <vt:lpstr>Un'applicazione trasversale alle funzioni aziendali</vt:lpstr>
      <vt:lpstr>L'AI come tecnologia abilitante</vt:lpstr>
      <vt:lpstr>Effetti potenziali: produttività, qualità, innovazione</vt:lpstr>
      <vt:lpstr>Come evolvono il lavoro e le competenze</vt:lpstr>
      <vt:lpstr>Possibili implicazioni competitive</vt:lpstr>
      <vt:lpstr>Dal potenziale tecnologico al valore realizzato</vt:lpstr>
      <vt:lpstr>Fondamenti e funzionamento dell’Ai</vt:lpstr>
      <vt:lpstr>Una definizione operativa</vt:lpstr>
      <vt:lpstr>Comprensione apparente: l'effetto ELIZA</vt:lpstr>
      <vt:lpstr>Le principali categorie di AI</vt:lpstr>
      <vt:lpstr>Quattro criteri di classificazione diversi</vt:lpstr>
      <vt:lpstr>AI simbolica e Machine Learning</vt:lpstr>
      <vt:lpstr>Deep Learning e reti neurali</vt:lpstr>
      <vt:lpstr>AI predittiva, classificativa e generativa</vt:lpstr>
      <vt:lpstr>AI multimodale</vt:lpstr>
      <vt:lpstr>Quale approccio per quale problema</vt:lpstr>
      <vt:lpstr>Come un sistema AI apprende dai dati</vt:lpstr>
      <vt:lpstr>Che cosa significa apprendere dai dati</vt:lpstr>
      <vt:lpstr>Dati di addestramento ed esempi</vt:lpstr>
      <vt:lpstr>I parametri del modello</vt:lpstr>
      <vt:lpstr>Il ciclo di addestramento</vt:lpstr>
      <vt:lpstr>Addestramento e inferenza</vt:lpstr>
      <vt:lpstr>Che cosa sono i Large Language Models</vt:lpstr>
      <vt:lpstr>Un modello linguistico di grandi dimensioni</vt:lpstr>
      <vt:lpstr>I token: come il modello vede il testo</vt:lpstr>
      <vt:lpstr>Rappresentare il significato</vt:lpstr>
      <vt:lpstr>Il Transformer e il meccanismo di attenzione</vt:lpstr>
      <vt:lpstr>Come viene generata una risposta</vt:lpstr>
      <vt:lpstr>Più di un completamento automatico</vt:lpstr>
      <vt:lpstr>Come funziona un'interazione con l'AI</vt:lpstr>
      <vt:lpstr>Input, prompt e output</vt:lpstr>
      <vt:lpstr>La finestra di contesto</vt:lpstr>
      <vt:lpstr>Contesto temporaneo e memoria persistente</vt:lpstr>
      <vt:lpstr>Il modello e l'applicazione</vt:lpstr>
      <vt:lpstr>Conoscenza e fonti informative</vt:lpstr>
      <vt:lpstr>Tre fonti di informazione</vt:lpstr>
      <vt:lpstr>Aggiornamento dei dati e limiti temporali</vt:lpstr>
      <vt:lpstr>Grounding: ancorare le risposte alle fonti</vt:lpstr>
      <vt:lpstr>Introduzione alla Retrieval-Augmented Generation</vt:lpstr>
      <vt:lpstr>Adattare un sistema AI a un contesto specifico</vt:lpstr>
      <vt:lpstr>Tre equivoci frequenti</vt:lpstr>
      <vt:lpstr>Capacità, limiti e affidabilità dell’Intelligenza Artificiale</vt:lpstr>
      <vt:lpstr>Calibrare la fiducia</vt:lpstr>
      <vt:lpstr>Una mappa delle capacità</vt:lpstr>
      <vt:lpstr>Non tutti i sistemi hanno le stesse capacità</vt:lpstr>
      <vt:lpstr>Scomporre, pianificare, valutare alternative</vt:lpstr>
      <vt:lpstr>Generazione di idee e supporto creativo</vt:lpstr>
      <vt:lpstr>Allucinazioni e informazioni false</vt:lpstr>
      <vt:lpstr>Che cos'è un'allucinazione</vt:lpstr>
      <vt:lpstr>Citazioni, riferimenti e fonti inesistenti</vt:lpstr>
      <vt:lpstr>Perché si verificano le allucinazioni</vt:lpstr>
      <vt:lpstr>L'autorevolezza apparente</vt:lpstr>
      <vt:lpstr>Attività che richiedono livelli diversi di verfica</vt:lpstr>
      <vt:lpstr>Bias e distorsioni nei risultati</vt:lpstr>
      <vt:lpstr>Che cosa sono bias e distorsioni</vt:lpstr>
      <vt:lpstr>Da dove nascono le distorsioni</vt:lpstr>
      <vt:lpstr>L'influenza del contesto e delle istruzioni</vt:lpstr>
      <vt:lpstr>Bias di conferma e tendenza ad assecondare</vt:lpstr>
      <vt:lpstr>Accuratezza, affidabilità e consistenza</vt:lpstr>
      <vt:lpstr>Quattro concetti da distinguere</vt:lpstr>
      <vt:lpstr>Prestazioni diverse in base al compito</vt:lpstr>
      <vt:lpstr>Come verificare il valore e l’affidabilità dell’Ai nei casi reali</vt:lpstr>
      <vt:lpstr>Il modello e il sistema completo</vt:lpstr>
      <vt:lpstr>Supervisione umana e verifica proporzionata</vt:lpstr>
      <vt:lpstr>Quando utilizzare o limitare l'AI</vt:lpstr>
      <vt:lpstr>Possibilità tecnica e opportunità di utilizzo</vt:lpstr>
      <vt:lpstr>Le conseguenze di un errore</vt:lpstr>
      <vt:lpstr>Attività a basso e alto impatto</vt:lpstr>
      <vt:lpstr>Supporto, supervisione e delega</vt:lpstr>
      <vt:lpstr>Quando servono maggiori garanzie o strumenti differenti</vt:lpstr>
      <vt:lpstr>La responsabilità resta umana</vt:lpstr>
      <vt:lpstr>Caccia all'allucinazione</vt:lpstr>
      <vt:lpstr>Brainstorming</vt:lpstr>
      <vt:lpstr>L'AI in Laser, reparto per reparto</vt:lpstr>
      <vt:lpstr>Tre luoghi dell'AI</vt:lpstr>
      <vt:lpstr>Sette sprechi informativi</vt:lpstr>
      <vt:lpstr>Esercizio: dove perdiamo tempo?</vt:lpstr>
      <vt:lpstr>Mappa degli sprechi: un esempio</vt:lpstr>
      <vt:lpstr>Dagli sprechi alle opportunità</vt:lpstr>
      <vt:lpstr>Brainstorming Guidato</vt:lpstr>
      <vt:lpstr>Da provare prima della prossima sessione</vt:lpstr>
      <vt:lpstr>Che cosa abbiamo visto oggi</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Laser Srl · AI Adoption · Sessione 1 · Slide nuove</dc:title>
  <dc:subject>Percorso AI Literacy</dc:subject>
  <dc:creator>Percorso AI Literacy</dc:creator>
  <cp:lastModifiedBy>Michele Barchi</cp:lastModifiedBy>
  <cp:revision>33</cp:revision>
  <dcterms:created xsi:type="dcterms:W3CDTF">2026-10-12T14:29:19Z</dcterms:created>
  <dcterms:modified xsi:type="dcterms:W3CDTF">2026-10-14T09:19:19Z</dcterms:modified>
</cp:coreProperties>
</file>